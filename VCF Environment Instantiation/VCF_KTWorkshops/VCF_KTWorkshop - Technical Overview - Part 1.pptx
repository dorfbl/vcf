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95" r:id="rId4"/>
  </p:sldMasterIdLst>
  <p:notesMasterIdLst>
    <p:notesMasterId r:id="rId99"/>
  </p:notesMasterIdLst>
  <p:handoutMasterIdLst>
    <p:handoutMasterId r:id="rId100"/>
  </p:handoutMasterIdLst>
  <p:sldIdLst>
    <p:sldId id="2147483261" r:id="rId5"/>
    <p:sldId id="2147483309" r:id="rId6"/>
    <p:sldId id="323" r:id="rId7"/>
    <p:sldId id="412" r:id="rId8"/>
    <p:sldId id="404" r:id="rId9"/>
    <p:sldId id="411" r:id="rId10"/>
    <p:sldId id="414" r:id="rId11"/>
    <p:sldId id="2147483645" r:id="rId12"/>
    <p:sldId id="318" r:id="rId13"/>
    <p:sldId id="285" r:id="rId14"/>
    <p:sldId id="2147483147" r:id="rId15"/>
    <p:sldId id="291" r:id="rId16"/>
    <p:sldId id="418" r:id="rId17"/>
    <p:sldId id="2147483148" r:id="rId18"/>
    <p:sldId id="268" r:id="rId19"/>
    <p:sldId id="2147483580" r:id="rId20"/>
    <p:sldId id="297" r:id="rId21"/>
    <p:sldId id="298" r:id="rId22"/>
    <p:sldId id="302" r:id="rId23"/>
    <p:sldId id="263" r:id="rId24"/>
    <p:sldId id="300" r:id="rId25"/>
    <p:sldId id="301" r:id="rId26"/>
    <p:sldId id="369" r:id="rId27"/>
    <p:sldId id="269" r:id="rId28"/>
    <p:sldId id="304" r:id="rId29"/>
    <p:sldId id="365" r:id="rId30"/>
    <p:sldId id="2147481330" r:id="rId31"/>
    <p:sldId id="2147483594" r:id="rId32"/>
    <p:sldId id="303" r:id="rId33"/>
    <p:sldId id="271" r:id="rId34"/>
    <p:sldId id="320" r:id="rId35"/>
    <p:sldId id="2147470401" r:id="rId36"/>
    <p:sldId id="2147482906" r:id="rId37"/>
    <p:sldId id="2147482907" r:id="rId38"/>
    <p:sldId id="2147482908" r:id="rId39"/>
    <p:sldId id="2147482909" r:id="rId40"/>
    <p:sldId id="2147482910" r:id="rId41"/>
    <p:sldId id="2147482911" r:id="rId42"/>
    <p:sldId id="2147482913" r:id="rId43"/>
    <p:sldId id="2147470746" r:id="rId44"/>
    <p:sldId id="2147482898" r:id="rId45"/>
    <p:sldId id="256" r:id="rId46"/>
    <p:sldId id="2147483254" r:id="rId47"/>
    <p:sldId id="259" r:id="rId48"/>
    <p:sldId id="275" r:id="rId49"/>
    <p:sldId id="2147483633" r:id="rId50"/>
    <p:sldId id="276" r:id="rId51"/>
    <p:sldId id="277" r:id="rId52"/>
    <p:sldId id="278" r:id="rId53"/>
    <p:sldId id="279" r:id="rId54"/>
    <p:sldId id="280" r:id="rId55"/>
    <p:sldId id="272" r:id="rId56"/>
    <p:sldId id="283" r:id="rId57"/>
    <p:sldId id="284" r:id="rId58"/>
    <p:sldId id="287" r:id="rId59"/>
    <p:sldId id="288" r:id="rId60"/>
    <p:sldId id="289" r:id="rId61"/>
    <p:sldId id="2147483632" r:id="rId62"/>
    <p:sldId id="264" r:id="rId63"/>
    <p:sldId id="281" r:id="rId64"/>
    <p:sldId id="292" r:id="rId65"/>
    <p:sldId id="350" r:id="rId66"/>
    <p:sldId id="351" r:id="rId67"/>
    <p:sldId id="345" r:id="rId68"/>
    <p:sldId id="286" r:id="rId69"/>
    <p:sldId id="349" r:id="rId70"/>
    <p:sldId id="361" r:id="rId71"/>
    <p:sldId id="362" r:id="rId72"/>
    <p:sldId id="363" r:id="rId73"/>
    <p:sldId id="337" r:id="rId74"/>
    <p:sldId id="379" r:id="rId75"/>
    <p:sldId id="401" r:id="rId76"/>
    <p:sldId id="405" r:id="rId77"/>
    <p:sldId id="262" r:id="rId78"/>
    <p:sldId id="293" r:id="rId79"/>
    <p:sldId id="416" r:id="rId80"/>
    <p:sldId id="294" r:id="rId81"/>
    <p:sldId id="366" r:id="rId82"/>
    <p:sldId id="260" r:id="rId83"/>
    <p:sldId id="295" r:id="rId84"/>
    <p:sldId id="422" r:id="rId85"/>
    <p:sldId id="266" r:id="rId86"/>
    <p:sldId id="325" r:id="rId87"/>
    <p:sldId id="309" r:id="rId88"/>
    <p:sldId id="343" r:id="rId89"/>
    <p:sldId id="342" r:id="rId90"/>
    <p:sldId id="367" r:id="rId91"/>
    <p:sldId id="399" r:id="rId92"/>
    <p:sldId id="315" r:id="rId93"/>
    <p:sldId id="346" r:id="rId94"/>
    <p:sldId id="347" r:id="rId95"/>
    <p:sldId id="348" r:id="rId96"/>
    <p:sldId id="393" r:id="rId97"/>
    <p:sldId id="398" r:id="rId98"/>
  </p:sldIdLst>
  <p:sldSz cx="12188825" cy="6858000"/>
  <p:notesSz cx="6858000" cy="9144000"/>
  <p:custDataLst>
    <p:tags r:id="rId10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3499CFF-8D87-E548-B2D6-0DBDF80A0DC0}">
          <p14:sldIdLst>
            <p14:sldId id="2147483261"/>
            <p14:sldId id="2147483309"/>
            <p14:sldId id="323"/>
          </p14:sldIdLst>
        </p14:section>
        <p14:section name="Introduction" id="{72C01AED-51E9-B445-A009-1BECDEBC4E24}">
          <p14:sldIdLst>
            <p14:sldId id="412"/>
            <p14:sldId id="404"/>
            <p14:sldId id="411"/>
            <p14:sldId id="414"/>
          </p14:sldIdLst>
        </p14:section>
        <p14:section name="VCF Use Cases &gt; Modernize Infrastructure" id="{2C2F45FC-941B-0645-B7CA-FB86EE9A4A56}">
          <p14:sldIdLst>
            <p14:sldId id="2147483645"/>
          </p14:sldIdLst>
        </p14:section>
        <p14:section name="Modernize Infrastructure &gt; Architecture &amp; Topologies" id="{B26076CE-FF52-0348-A0A2-CC144AE98A4D}">
          <p14:sldIdLst>
            <p14:sldId id="318"/>
            <p14:sldId id="285"/>
            <p14:sldId id="2147483147"/>
            <p14:sldId id="291"/>
            <p14:sldId id="418"/>
            <p14:sldId id="2147483148"/>
          </p14:sldIdLst>
        </p14:section>
        <p14:section name="Modernize Infrastructure &gt; Deployment &amp; Scale" id="{EDA1235E-B54E-3D47-9787-DD25FDBFA70F}">
          <p14:sldIdLst>
            <p14:sldId id="268"/>
            <p14:sldId id="2147483580"/>
            <p14:sldId id="297"/>
            <p14:sldId id="298"/>
            <p14:sldId id="302"/>
            <p14:sldId id="263"/>
            <p14:sldId id="300"/>
            <p14:sldId id="301"/>
            <p14:sldId id="369"/>
            <p14:sldId id="269"/>
            <p14:sldId id="304"/>
          </p14:sldIdLst>
        </p14:section>
        <p14:section name="Modernize Infrastructure &gt; Compute" id="{F085221E-9D90-354A-9CBF-9A18A5351412}">
          <p14:sldIdLst>
            <p14:sldId id="365"/>
            <p14:sldId id="2147481330"/>
            <p14:sldId id="2147483594"/>
          </p14:sldIdLst>
        </p14:section>
        <p14:section name="Modernize Infrastructure &gt; Storage" id="{0B588120-7495-B140-ADA9-3ADED845612C}">
          <p14:sldIdLst>
            <p14:sldId id="303"/>
            <p14:sldId id="271"/>
            <p14:sldId id="320"/>
            <p14:sldId id="2147470401"/>
            <p14:sldId id="2147482906"/>
            <p14:sldId id="2147482907"/>
            <p14:sldId id="2147482908"/>
            <p14:sldId id="2147482909"/>
            <p14:sldId id="2147482910"/>
            <p14:sldId id="2147482911"/>
            <p14:sldId id="2147482913"/>
            <p14:sldId id="2147470746"/>
            <p14:sldId id="2147482898"/>
          </p14:sldIdLst>
        </p14:section>
        <p14:section name="Modernize Infrastructure &gt; Networking" id="{25870E18-589A-4445-A7CE-FE98E375A305}">
          <p14:sldIdLst>
            <p14:sldId id="256"/>
            <p14:sldId id="2147483254"/>
            <p14:sldId id="259"/>
            <p14:sldId id="275"/>
            <p14:sldId id="2147483633"/>
            <p14:sldId id="276"/>
            <p14:sldId id="277"/>
            <p14:sldId id="278"/>
            <p14:sldId id="279"/>
            <p14:sldId id="280"/>
            <p14:sldId id="272"/>
            <p14:sldId id="283"/>
            <p14:sldId id="284"/>
            <p14:sldId id="287"/>
            <p14:sldId id="288"/>
            <p14:sldId id="289"/>
            <p14:sldId id="2147483632"/>
          </p14:sldIdLst>
        </p14:section>
        <p14:section name="Modernize Infrastructure &gt; Fleet Management" id="{F8D7D87F-1B05-EA44-885B-946B77A054B8}">
          <p14:sldIdLst>
            <p14:sldId id="264"/>
            <p14:sldId id="281"/>
            <p14:sldId id="292"/>
            <p14:sldId id="350"/>
            <p14:sldId id="351"/>
            <p14:sldId id="345"/>
            <p14:sldId id="286"/>
            <p14:sldId id="349"/>
            <p14:sldId id="361"/>
            <p14:sldId id="362"/>
            <p14:sldId id="363"/>
            <p14:sldId id="337"/>
            <p14:sldId id="379"/>
            <p14:sldId id="401"/>
          </p14:sldIdLst>
        </p14:section>
        <p14:section name="Modernize Infrastructure &gt; Lifecycle Management" id="{D687D369-FC47-2645-BD52-69873847860C}">
          <p14:sldIdLst>
            <p14:sldId id="405"/>
            <p14:sldId id="262"/>
            <p14:sldId id="293"/>
            <p14:sldId id="416"/>
            <p14:sldId id="294"/>
            <p14:sldId id="366"/>
            <p14:sldId id="260"/>
            <p14:sldId id="295"/>
            <p14:sldId id="422"/>
            <p14:sldId id="266"/>
          </p14:sldIdLst>
        </p14:section>
        <p14:section name="Modernize Infrastructure &gt; VCF Operations" id="{0F671A44-EFA1-C04F-B76E-0A886401CBF9}">
          <p14:sldIdLst>
            <p14:sldId id="325"/>
            <p14:sldId id="309"/>
            <p14:sldId id="343"/>
            <p14:sldId id="342"/>
            <p14:sldId id="367"/>
            <p14:sldId id="399"/>
            <p14:sldId id="315"/>
            <p14:sldId id="346"/>
            <p14:sldId id="347"/>
            <p14:sldId id="348"/>
            <p14:sldId id="393"/>
            <p14:sldId id="398"/>
          </p14:sldIdLst>
        </p14:section>
        <p14:section name="Modernize infrastructure &gt; Deliver Self-service IaaS" id="{A567B94C-1AA9-DA4F-93CC-FEC1088CF52E}">
          <p14:sldIdLst/>
        </p14:section>
        <p14:section name="Modernize Infrastructure &gt; Migrating to VCF" id="{85E150FD-2966-074B-A07C-C094A58C7F38}">
          <p14:sldIdLst/>
        </p14:section>
        <p14:section name="VCF Use Cases &gt; Deliver a Unified Cloud Experience" id="{6220015C-AEF4-5344-8A0F-C9C650007A7B}">
          <p14:sldIdLst/>
        </p14:section>
        <p14:section name="Deliver a Unified Cloud Experience &gt; Infrastructure for Kubernetes" id="{08A9D011-E16C-6A4B-9189-9EC7AF56E8C8}">
          <p14:sldIdLst/>
        </p14:section>
        <p14:section name="Deliver a Unified Cloud Experience &gt; Private AI" id="{5E1825CB-6159-A84B-97BC-E42525CC312F}">
          <p14:sldIdLst/>
        </p14:section>
        <p14:section name="VCF Use Cases &gt; Secure and Protect" id="{89293919-B8ED-264B-AD18-8C97ECD49320}">
          <p14:sldIdLst/>
        </p14:section>
        <p14:section name="Add-on Services" id="{ADF643D2-DD04-614A-BEE5-DE4EBF2E0A1A}">
          <p14:sldIdLst/>
        </p14:section>
        <p14:section name="Resources" id="{FB49B935-E3DA-5441-8B1E-1251EEE519AA}">
          <p14:sldIdLst/>
        </p14:section>
        <p14:section name="Appendix" id="{F23F4FFE-C622-1C45-A879-2043073A2C7A}">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43" clrIdx="1"/>
  <p:cmAuthor id="3" name="Wendy Ouellette" initials="WO" lastIdx="1" clrIdx="2">
    <p:extLst>
      <p:ext uri="{19B8F6BF-5375-455C-9EA6-DF929625EA0E}">
        <p15:presenceInfo xmlns:p15="http://schemas.microsoft.com/office/powerpoint/2012/main" userId="S::wouellette@vmware.com::1423423b-46e9-448d-b172-f148f3fbf4f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8C28"/>
    <a:srgbClr val="F4F9FB"/>
    <a:srgbClr val="F5F9FB"/>
    <a:srgbClr val="FEEF82"/>
    <a:srgbClr val="FBFDFD"/>
    <a:srgbClr val="EFF4F6"/>
    <a:srgbClr val="050505"/>
    <a:srgbClr val="0B2339"/>
    <a:srgbClr val="92FFF7"/>
    <a:srgbClr val="B6B5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25E649-3F16-4E02-A733-19D2CDBF48F0}">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41" autoAdjust="0"/>
    <p:restoredTop sz="64626" autoAdjust="0"/>
  </p:normalViewPr>
  <p:slideViewPr>
    <p:cSldViewPr snapToGrid="0">
      <p:cViewPr varScale="1">
        <p:scale>
          <a:sx n="80" d="100"/>
          <a:sy n="80" d="100"/>
        </p:scale>
        <p:origin x="2504" y="184"/>
      </p:cViewPr>
      <p:guideLst/>
    </p:cSldViewPr>
  </p:slideViewPr>
  <p:notesTextViewPr>
    <p:cViewPr>
      <p:scale>
        <a:sx n="105" d="100"/>
        <a:sy n="105" d="100"/>
      </p:scale>
      <p:origin x="0" y="0"/>
    </p:cViewPr>
  </p:notesTextViewPr>
  <p:sorterViewPr>
    <p:cViewPr varScale="1">
      <p:scale>
        <a:sx n="100" d="100"/>
        <a:sy n="100" d="100"/>
      </p:scale>
      <p:origin x="0" y="0"/>
    </p:cViewPr>
  </p:sorterViewPr>
  <p:notesViewPr>
    <p:cSldViewPr snapToGrid="0">
      <p:cViewPr varScale="1">
        <p:scale>
          <a:sx n="119" d="100"/>
          <a:sy n="119" d="100"/>
        </p:scale>
        <p:origin x="4136" y="8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commentAuthors" Target="commentAuthor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notesMaster" Target="notesMasters/notesMaster1.xml"/><Relationship Id="rId10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handoutMaster" Target="handoutMasters/handoutMaster1.xml"/><Relationship Id="rId105"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004553-04C5-4BB3-AD4E-8B2EF3CDDAF9}" type="datetimeFigureOut">
              <a:rPr lang="en-US" smtClean="0"/>
              <a:t>5/29/25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E6A881F-0910-47D3-BD01-4F68834EC353}" type="slidenum">
              <a:rPr lang="en-US" smtClean="0"/>
              <a:t>‹#›</a:t>
            </a:fld>
            <a:endParaRPr lang="en-US" dirty="0"/>
          </a:p>
        </p:txBody>
      </p:sp>
    </p:spTree>
    <p:extLst>
      <p:ext uri="{BB962C8B-B14F-4D97-AF65-F5344CB8AC3E}">
        <p14:creationId xmlns:p14="http://schemas.microsoft.com/office/powerpoint/2010/main" val="3268667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mn-lt"/>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mn-lt"/>
              </a:defRPr>
            </a:lvl1pPr>
          </a:lstStyle>
          <a:p>
            <a:fld id="{3CB6F0DB-E055-41D0-9102-627A646E4242}" type="datetimeFigureOut">
              <a:rPr lang="en-US" smtClean="0"/>
              <a:pPr/>
              <a:t>5/29/25</a:t>
            </a:fld>
            <a:endParaRPr lang="en-US" dirty="0"/>
          </a:p>
        </p:txBody>
      </p:sp>
      <p:sp>
        <p:nvSpPr>
          <p:cNvPr id="4" name="Slide Image Placeholder 3"/>
          <p:cNvSpPr>
            <a:spLocks noGrp="1" noRot="1" noChangeAspect="1"/>
          </p:cNvSpPr>
          <p:nvPr>
            <p:ph type="sldImg" idx="2"/>
          </p:nvPr>
        </p:nvSpPr>
        <p:spPr>
          <a:xfrm>
            <a:off x="788988" y="609600"/>
            <a:ext cx="5280025" cy="29718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57200" y="3810000"/>
            <a:ext cx="5943600" cy="48768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mn-lt"/>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mn-lt"/>
              </a:defRPr>
            </a:lvl1pPr>
          </a:lstStyle>
          <a:p>
            <a:fld id="{9F4FBC3A-A12C-40F9-BB8D-BC30C7901396}" type="slidenum">
              <a:rPr lang="en-US" smtClean="0"/>
              <a:pPr/>
              <a:t>‹#›</a:t>
            </a:fld>
            <a:endParaRPr lang="en-US" dirty="0"/>
          </a:p>
        </p:txBody>
      </p:sp>
    </p:spTree>
    <p:extLst>
      <p:ext uri="{BB962C8B-B14F-4D97-AF65-F5344CB8AC3E}">
        <p14:creationId xmlns:p14="http://schemas.microsoft.com/office/powerpoint/2010/main" val="2012909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cs.vmware.com/en/VMware-Cloud-Foundation/index.html"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ocs.vmware.com/en/VMware-Cloud-Foundation/index.html"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configmax.broadcom.com/home"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ocs.vmware.com/en/VMware-Cloud-Foundation/index.html"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vmware.com/docs/vcf-edge-considerations-white-paper"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s://docs.vmware.com/en/VMware-Cloud-Foundation/index.html"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configmax.broadcom.com/home"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configmax.broadcom.com/home"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configmax.broadcom.com/home"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docs.vmware.com/en/VMware-Cloud-Foundation/index.html" TargetMode="External"/><Relationship Id="rId2" Type="http://schemas.openxmlformats.org/officeDocument/2006/relationships/slide" Target="../slides/slide30.xml"/><Relationship Id="rId1" Type="http://schemas.openxmlformats.org/officeDocument/2006/relationships/notesMaster" Target="../notesMasters/notesMaster1.xml"/><Relationship Id="rId5" Type="http://schemas.openxmlformats.org/officeDocument/2006/relationships/hyperlink" Target="https://docs.vmware.com/en/VMware-vSphere/index.html" TargetMode="External"/><Relationship Id="rId4" Type="http://schemas.openxmlformats.org/officeDocument/2006/relationships/hyperlink" Target="https://www.vmware.com/resources/compatibility/search.php" TargetMode="Externa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www.vmware.com/resources/compatibility/search.php"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3" Type="http://schemas.openxmlformats.org/officeDocument/2006/relationships/hyperlink" Target="https://youtu.be/w2vXXz0PkBk?si=OozkReStBta4BqjA" TargetMode="External"/><Relationship Id="rId2" Type="http://schemas.openxmlformats.org/officeDocument/2006/relationships/slide" Target="../slides/slide76.xml"/><Relationship Id="rId1" Type="http://schemas.openxmlformats.org/officeDocument/2006/relationships/notesMaster" Target="../notesMasters/notesMaster1.xml"/><Relationship Id="rId4" Type="http://schemas.openxmlformats.org/officeDocument/2006/relationships/hyperlink" Target="https://www.youtube.com/watch?v=iPqZtgAI7P8" TargetMode="External"/></Relationships>
</file>

<file path=ppt/notesSlides/_rels/notesSlide77.xml.rels><?xml version="1.0" encoding="UTF-8" standalone="yes"?>
<Relationships xmlns="http://schemas.openxmlformats.org/package/2006/relationships"><Relationship Id="rId3" Type="http://schemas.openxmlformats.org/officeDocument/2006/relationships/hyperlink" Target="https://docs.vmware.com/en/VMware-Cloud-Foundation/index.html" TargetMode="External"/><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3" Type="http://schemas.openxmlformats.org/officeDocument/2006/relationships/hyperlink" Target="https://docs.vmware.com/en/VMware-Cloud-Foundation/index.html" TargetMode="External"/><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3" Type="http://schemas.openxmlformats.org/officeDocument/2006/relationships/hyperlink" Target="https://docs.vmware.com/en/VMware-Cloud-Foundation/index.html" TargetMode="External"/><Relationship Id="rId2" Type="http://schemas.openxmlformats.org/officeDocument/2006/relationships/slide" Target="../slides/slide79.xml"/><Relationship Id="rId1" Type="http://schemas.openxmlformats.org/officeDocument/2006/relationships/notesMaster" Target="../notesMasters/notesMaster1.xml"/><Relationship Id="rId4" Type="http://schemas.openxmlformats.org/officeDocument/2006/relationships/hyperlink" Target="https://knowledge.broadcom.com/external/article?legacyId=88287" TargetMode="Externa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C3F71-6D6A-75E6-BD45-6BAABF4908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4B8F8B-8733-B510-8D9C-7AEA488D19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C884BE-E3AC-29E4-06B3-C0AEBE48F3EA}"/>
              </a:ext>
            </a:extLst>
          </p:cNvPr>
          <p:cNvSpPr>
            <a:spLocks noGrp="1"/>
          </p:cNvSpPr>
          <p:nvPr>
            <p:ph type="body" idx="1"/>
          </p:nvPr>
        </p:nvSpPr>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3F3F3F"/>
                </a:solidFill>
                <a:latin typeface="Arial" panose="020B0604020202020204" pitchFamily="34" charset="0"/>
              </a:rPr>
              <a:t>Key Message: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Arial" panose="020B0604020202020204" pitchFamily="34" charset="0"/>
                <a:ea typeface="+mn-ea"/>
                <a:cs typeface="+mn-cs"/>
              </a:rPr>
              <a:t>Understand how to best use this deck.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3F3F3F"/>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3F3F3F"/>
                </a:solidFill>
                <a:latin typeface="Arial" panose="020B0604020202020204" pitchFamily="34" charset="0"/>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latin typeface="Arial" panose="020B0604020202020204" pitchFamily="34" charset="0"/>
              </a:rPr>
              <a:t>This VCF Technical Overview presentation discusses Cloud Foundation Architecture, technical features and configuration detail.  </a:t>
            </a:r>
            <a:endParaRPr lang="en-US" u="sng" dirty="0">
              <a:solidFill>
                <a:schemeClr val="accent2"/>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chemeClr val="tx1"/>
                </a:solidFill>
                <a:latin typeface="Arial" panose="020B0604020202020204" pitchFamily="34" charset="0"/>
              </a:rPr>
              <a:t>Can be delivered partially or in full depending on your timeframe (a</a:t>
            </a:r>
            <a:r>
              <a:rPr lang="en-US" dirty="0">
                <a:solidFill>
                  <a:schemeClr val="tx2"/>
                </a:solidFill>
                <a:latin typeface="Arial" panose="020B0604020202020204" pitchFamily="34" charset="0"/>
              </a:rPr>
              <a:t>llow time for discussion and interaction).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2"/>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Arial" panose="020B0604020202020204" pitchFamily="34" charset="0"/>
                <a:ea typeface="+mn-ea"/>
                <a:cs typeface="+mn-cs"/>
              </a:rPr>
              <a:t>This deck is broken up into several sections, each focused on a particular subject.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Arial" panose="020B0604020202020204" pitchFamily="34" charset="0"/>
                <a:ea typeface="+mn-ea"/>
                <a:cs typeface="+mn-cs"/>
              </a:rPr>
              <a:t>This allows you to present the material that is specific to your audience and avoid topics that may not be relevant or of interest.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Arial" panose="020B0604020202020204" pitchFamily="34" charset="0"/>
                <a:ea typeface="+mn-ea"/>
                <a:cs typeface="+mn-cs"/>
              </a:rPr>
              <a:t>Please refer to the agenda for the complete list of topics.  Each slide in this deck will contain a set of speaker notes to help guide you in presenting the material.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Arial" panose="020B0604020202020204" pitchFamily="34" charset="0"/>
                <a:ea typeface="+mn-ea"/>
                <a:cs typeface="+mn-cs"/>
              </a:rPr>
              <a:t>The talk track is a guide that you can personalize to match your own presentation style.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3F3F3F"/>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3F3F3F"/>
                </a:solidFill>
                <a:latin typeface="Arial" panose="020B0604020202020204" pitchFamily="34" charset="0"/>
              </a:rPr>
              <a:t>For a full VCF Technical Deep Dive with a lot more technical detail please refer to the VCF Master Technical deck as an appendix to this presentation.</a:t>
            </a:r>
            <a:endParaRPr kumimoji="0" lang="en-US" sz="120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latin typeface="Arial" panose="020B0604020202020204" pitchFamily="34" charset="0"/>
              </a:rPr>
              <a:t>This deck is not a replacement for product documentation.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latin typeface="Arial" panose="020B0604020202020204" pitchFamily="34" charset="0"/>
              </a:rPr>
              <a:t>Refer to individual product resources and documentation for product specific technical details.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2"/>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ea typeface="+mn-ea"/>
                <a:cs typeface="+mn-cs"/>
              </a:rPr>
              <a:t>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latin typeface="Arial" panose="020B0604020202020204" pitchFamily="34" charset="0"/>
              </a:rPr>
              <a:t>From time-to-time content contained within this deck is modified and updated so please ensure you download the latest copy from the SRC prior to presenting this content.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Arial" panose="020B0604020202020204" pitchFamily="34" charset="0"/>
              </a:rPr>
              <a:t>For vendor integrated solutions of VMware Cloud Foundation some of this content may not apply.</a:t>
            </a:r>
            <a:r>
              <a:rPr lang="en-US" dirty="0">
                <a:latin typeface="Arial" panose="020B0604020202020204" pitchFamily="34" charset="0"/>
              </a:rPr>
              <a:t> </a:t>
            </a:r>
            <a:r>
              <a:rPr lang="en-US" sz="1200" u="none" strike="noStrike" kern="1200" dirty="0">
                <a:solidFill>
                  <a:schemeClr val="tx1"/>
                </a:solidFill>
                <a:effectLst/>
                <a:latin typeface="Arial" panose="020B0604020202020204" pitchFamily="34" charset="0"/>
              </a:rPr>
              <a:t> Please refer to your vendor.</a:t>
            </a:r>
            <a:r>
              <a:rPr lang="en-US" dirty="0">
                <a:latin typeface="Arial" panose="020B0604020202020204" pitchFamily="34" charset="0"/>
              </a:rPr>
              <a:t> </a:t>
            </a:r>
            <a:endParaRPr lang="en-US" sz="1200" u="none" strike="noStrike" kern="1200" dirty="0">
              <a:solidFill>
                <a:schemeClr val="tx1"/>
              </a:solidFill>
              <a:effectLst/>
              <a:latin typeface="Arial" panose="020B0604020202020204" pitchFamily="34" charset="0"/>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latin typeface="Arial" panose="020B0604020202020204" pitchFamily="34" charset="0"/>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ea typeface="+mn-ea"/>
                <a:cs typeface="+mn-cs"/>
              </a:rPr>
              <a:t>Resources: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latin typeface="Arial" panose="020B0604020202020204" pitchFamily="34" charset="0"/>
              </a:rPr>
              <a:t>For further technical information please refer to the Cloud Foundation Documentation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u="sng" dirty="0">
                <a:solidFill>
                  <a:srgbClr val="0563C1"/>
                </a:solidFill>
                <a:effectLst/>
                <a:latin typeface="Arial" panose="020B0604020202020204" pitchFamily="34" charset="0"/>
                <a:ea typeface="Calibri" panose="020F0502020204030204" pitchFamily="34" charset="0"/>
                <a:cs typeface="Arial" panose="020B0604020202020204" pitchFamily="34" charset="0"/>
                <a:hlinkClick r:id="rId3"/>
              </a:rPr>
              <a:t>https://docs.vmware.com/en/VMware-Cloud-Foundation/index.html</a:t>
            </a:r>
            <a:r>
              <a:rPr lang="en-US" sz="1800" dirty="0">
                <a:effectLst/>
                <a:latin typeface="Arial" panose="020B0604020202020204" pitchFamily="34" charset="0"/>
                <a:ea typeface="Calibri" panose="020F0502020204030204" pitchFamily="34" charset="0"/>
                <a:cs typeface="Arial" panose="020B0604020202020204" pitchFamily="34" charset="0"/>
              </a:rPr>
              <a:t> </a:t>
            </a:r>
            <a:endParaRPr lang="en-US" sz="1200" u="none" strike="noStrike" kern="1200" dirty="0">
              <a:solidFill>
                <a:schemeClr val="tx1"/>
              </a:solidFill>
              <a:effectLst/>
              <a:latin typeface="Arial" panose="020B0604020202020204" pitchFamily="34" charset="0"/>
              <a:ea typeface="+mn-ea"/>
              <a:cs typeface="+mn-cs"/>
            </a:endParaRPr>
          </a:p>
          <a:p>
            <a:endParaRPr lang="en-US" baseline="0" dirty="0">
              <a:latin typeface="Arial" panose="020B0604020202020204" pitchFamily="34" charset="0"/>
            </a:endParaRPr>
          </a:p>
          <a:p>
            <a:endParaRPr lang="en-US" dirty="0">
              <a:latin typeface="Arial" panose="020B0604020202020204" pitchFamily="34" charset="0"/>
            </a:endParaRPr>
          </a:p>
          <a:p>
            <a:endParaRPr lang="en-US" strike="noStrike" baseline="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93CCEDB3-EBDC-D02E-FAE3-9C32CAF79B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37249404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rPr>
              <a:t>Key Message: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Arial" panose="020B0604020202020204" pitchFamily="34" charset="0"/>
              </a:rPr>
              <a:t>Opening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rPr>
              <a:t>Talk Track: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rPr>
              <a:t>Welcome!</a:t>
            </a:r>
            <a:r>
              <a:rPr lang="en-US" dirty="0">
                <a:latin typeface="Arial" panose="020B0604020202020204" pitchFamily="34" charset="0"/>
              </a:rPr>
              <a:t>  </a:t>
            </a:r>
            <a:r>
              <a:rPr lang="en-US" sz="1200" kern="1200" dirty="0">
                <a:solidFill>
                  <a:schemeClr val="tx1"/>
                </a:solidFill>
                <a:effectLst/>
                <a:latin typeface="Arial" panose="020B0604020202020204" pitchFamily="34" charset="0"/>
              </a:rPr>
              <a:t>My name is &lt;name&gt; and I work in the &lt;name or organization&gt; at Broadcom. Today, I want to </a:t>
            </a:r>
            <a:r>
              <a:rPr kumimoji="0" lang="en-US" sz="120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discuss Cloud Foundation architecture, technical features and configuration detail. </a:t>
            </a:r>
            <a:endParaRPr lang="en-US" sz="1200" kern="1200" dirty="0">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rPr>
              <a:t>Notes: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rPr>
              <a:t>Resources: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Arial" panose="020B0604020202020204" pitchFamily="34" charset="0"/>
              </a:rPr>
              <a:t>To gain a greater understanding of VCF features, key concepts and how they are used please refer to the VCF Master Technical (Deep Div)e presentation.</a:t>
            </a:r>
          </a:p>
          <a:p>
            <a:endParaRPr lang="en-US" sz="1200" u="none" strike="noStrike"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Arial" panose="020B0604020202020204" pitchFamily="34" charset="0"/>
              </a:rPr>
              <a:t>VMware Cloud Foundation 9.0 Release Notes: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u="sng" kern="0" dirty="0">
                <a:solidFill>
                  <a:srgbClr val="0563C1"/>
                </a:solidFill>
                <a:effectLst/>
                <a:latin typeface="Arial" panose="020B0604020202020204" pitchFamily="34" charset="0"/>
                <a:ea typeface="Times New Roman" panose="02020603050405020304" pitchFamily="18" charset="0"/>
                <a:hlinkClick r:id="rId3"/>
              </a:rPr>
              <a:t>https://docs.vmware.com/en/VMware-Cloud-Foundation/index.html</a:t>
            </a:r>
            <a:r>
              <a:rPr lang="en-US" sz="1800" kern="0" dirty="0">
                <a:effectLst/>
                <a:latin typeface="Arial" panose="020B0604020202020204" pitchFamily="34" charset="0"/>
                <a:ea typeface="Times New Roman" panose="02020603050405020304" pitchFamily="18" charset="0"/>
              </a:rPr>
              <a:t> </a:t>
            </a:r>
            <a:endParaRPr lang="en-US" strike="noStrike" baseline="0" dirty="0">
              <a:latin typeface="Arial" panose="020B0604020202020204" pitchFamily="34" charset="0"/>
            </a:endParaRPr>
          </a:p>
          <a:p>
            <a:endParaRPr lang="en-US" strike="noStrike" baseline="0" dirty="0">
              <a:latin typeface="Arial" panose="020B0604020202020204" pitchFamily="34" charset="0"/>
            </a:endParaRPr>
          </a:p>
          <a:p>
            <a:endParaRPr lang="en-US" dirty="0">
              <a:latin typeface="Arial" panose="020B0604020202020204" pitchFamily="34" charset="0"/>
            </a:endParaRPr>
          </a:p>
          <a:p>
            <a:endParaRPr 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4626926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9"/>
        <p:cNvGrpSpPr/>
        <p:nvPr/>
      </p:nvGrpSpPr>
      <p:grpSpPr>
        <a:xfrm>
          <a:off x="0" y="0"/>
          <a:ext cx="0" cy="0"/>
          <a:chOff x="0" y="0"/>
          <a:chExt cx="0" cy="0"/>
        </a:xfrm>
      </p:grpSpPr>
      <p:sp>
        <p:nvSpPr>
          <p:cNvPr id="6990" name="Google Shape;6990;g33a8758401b_11_700: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6991" name="Google Shape;6991;g33a8758401b_11_700:notes"/>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rtl="0">
              <a:lnSpc>
                <a:spcPct val="80000"/>
              </a:lnSpc>
              <a:spcBef>
                <a:spcPts val="0"/>
              </a:spcBef>
              <a:spcAft>
                <a:spcPts val="0"/>
              </a:spcAft>
              <a:buClr>
                <a:schemeClr val="dk1"/>
              </a:buClr>
              <a:buSzPts val="1200"/>
              <a:buFont typeface="Arial"/>
              <a:buNone/>
            </a:pPr>
            <a:r>
              <a:rPr lang="en-US" sz="1400" b="1" dirty="0">
                <a:solidFill>
                  <a:schemeClr val="dk1"/>
                </a:solidFill>
                <a:latin typeface="Arial" panose="020B0604020202020204" pitchFamily="34" charset="0"/>
              </a:rPr>
              <a:t>Key Message:</a:t>
            </a:r>
          </a:p>
          <a:p>
            <a:pPr marL="0" marR="0" lvl="0" indent="0" algn="l" rtl="0">
              <a:lnSpc>
                <a:spcPct val="80000"/>
              </a:lnSpc>
              <a:spcBef>
                <a:spcPts val="0"/>
              </a:spcBef>
              <a:spcAft>
                <a:spcPts val="0"/>
              </a:spcAft>
              <a:buClr>
                <a:schemeClr val="dk1"/>
              </a:buClr>
              <a:buSzPts val="1200"/>
              <a:buFont typeface="Arial"/>
              <a:buNone/>
            </a:pPr>
            <a:r>
              <a:rPr lang="en-US" sz="1400" dirty="0">
                <a:solidFill>
                  <a:schemeClr val="dk1"/>
                </a:solidFill>
                <a:latin typeface="Arial" panose="020B0604020202020204" pitchFamily="34" charset="0"/>
              </a:rPr>
              <a:t>Discussion of VCF key business and infrastructure initiatives</a:t>
            </a:r>
            <a:br>
              <a:rPr lang="en-US" sz="1400" dirty="0">
                <a:solidFill>
                  <a:schemeClr val="dk1"/>
                </a:solidFill>
                <a:latin typeface="Arial" panose="020B0604020202020204" pitchFamily="34" charset="0"/>
              </a:rPr>
            </a:br>
            <a:br>
              <a:rPr lang="en-US" sz="1400" dirty="0">
                <a:solidFill>
                  <a:schemeClr val="dk1"/>
                </a:solidFill>
                <a:latin typeface="Arial" panose="020B0604020202020204" pitchFamily="34" charset="0"/>
              </a:rPr>
            </a:br>
            <a:r>
              <a:rPr lang="en-US" sz="1400" b="1" dirty="0">
                <a:solidFill>
                  <a:schemeClr val="dk1"/>
                </a:solidFill>
                <a:latin typeface="Arial" panose="020B0604020202020204" pitchFamily="34" charset="0"/>
              </a:rPr>
              <a:t>Talk Track:</a:t>
            </a:r>
          </a:p>
          <a:p>
            <a:pPr marL="0" marR="0" lvl="0" indent="0" algn="l" rtl="0">
              <a:lnSpc>
                <a:spcPct val="80000"/>
              </a:lnSpc>
              <a:spcBef>
                <a:spcPts val="0"/>
              </a:spcBef>
              <a:spcAft>
                <a:spcPts val="0"/>
              </a:spcAft>
              <a:buClr>
                <a:schemeClr val="dk1"/>
              </a:buClr>
              <a:buSzPts val="1200"/>
              <a:buFont typeface="Arial"/>
              <a:buNone/>
            </a:pPr>
            <a:r>
              <a:rPr lang="en-US" sz="1400" dirty="0">
                <a:solidFill>
                  <a:schemeClr val="dk1"/>
                </a:solidFill>
                <a:latin typeface="Arial" panose="020B0604020202020204" pitchFamily="34" charset="0"/>
              </a:rPr>
              <a:t>The latest release of VMware Cloud Foundation (VCF) 9 marks a significant milestone as the first major update following the Broadcom acquisition. This release underlines VMware's commitment to advancing our flagship product - VCF, with a focus on three key business and infrastructure initiatives: Modernizing Infrastructure, Cloud Experience for Developers, and Strengthening Security and Resilience.</a:t>
            </a:r>
            <a:endParaRPr lang="en-US" sz="1400"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4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400" dirty="0">
                <a:solidFill>
                  <a:schemeClr val="dk1"/>
                </a:solidFill>
                <a:latin typeface="Arial" panose="020B0604020202020204" pitchFamily="34" charset="0"/>
              </a:rPr>
              <a:t>Let’s briefly talk about how Cloud Foundation 9 accelerates these initiatives</a:t>
            </a:r>
            <a:endParaRPr lang="en-US" sz="1400"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4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400" b="1" dirty="0">
                <a:solidFill>
                  <a:schemeClr val="dk1"/>
                </a:solidFill>
                <a:latin typeface="Arial" panose="020B0604020202020204" pitchFamily="34" charset="0"/>
              </a:rPr>
              <a:t>Notes:</a:t>
            </a:r>
          </a:p>
          <a:p>
            <a:pPr marL="0" marR="0" lvl="0" indent="0" algn="l" rtl="0">
              <a:lnSpc>
                <a:spcPct val="80000"/>
              </a:lnSpc>
              <a:spcBef>
                <a:spcPts val="0"/>
              </a:spcBef>
              <a:spcAft>
                <a:spcPts val="0"/>
              </a:spcAft>
              <a:buClr>
                <a:schemeClr val="dk1"/>
              </a:buClr>
              <a:buSzPts val="1200"/>
              <a:buFont typeface="Arial"/>
              <a:buNone/>
            </a:pPr>
            <a:br>
              <a:rPr lang="en-US" sz="1400" b="1" dirty="0">
                <a:solidFill>
                  <a:schemeClr val="dk1"/>
                </a:solidFill>
                <a:latin typeface="Arial" panose="020B0604020202020204" pitchFamily="34" charset="0"/>
              </a:rPr>
            </a:br>
            <a:r>
              <a:rPr lang="en-US" sz="1400" b="1" dirty="0">
                <a:solidFill>
                  <a:schemeClr val="dk1"/>
                </a:solidFill>
                <a:latin typeface="Arial" panose="020B0604020202020204" pitchFamily="34" charset="0"/>
              </a:rPr>
              <a:t>Resources:</a:t>
            </a:r>
          </a:p>
          <a:p>
            <a:pPr marL="158750" lvl="0" indent="0" algn="l" rtl="0">
              <a:lnSpc>
                <a:spcPct val="115000"/>
              </a:lnSpc>
              <a:spcBef>
                <a:spcPts val="0"/>
              </a:spcBef>
              <a:spcAft>
                <a:spcPts val="0"/>
              </a:spcAft>
              <a:buClr>
                <a:schemeClr val="dk1"/>
              </a:buClr>
              <a:buSzPts val="1100"/>
              <a:buFontTx/>
              <a:buNone/>
            </a:pPr>
            <a:endParaRPr lang="en-AU" sz="1400" b="1" dirty="0"/>
          </a:p>
          <a:p>
            <a:pPr marL="457200" lvl="0" indent="-298450" algn="l" rtl="0">
              <a:lnSpc>
                <a:spcPct val="115000"/>
              </a:lnSpc>
              <a:spcBef>
                <a:spcPts val="0"/>
              </a:spcBef>
              <a:spcAft>
                <a:spcPts val="0"/>
              </a:spcAft>
              <a:buClr>
                <a:schemeClr val="dk1"/>
              </a:buClr>
              <a:buSzPts val="1100"/>
              <a:buAutoNum type="arabicPeriod"/>
            </a:pPr>
            <a:endParaRPr lang="en-AU" sz="1400" b="1" dirty="0"/>
          </a:p>
          <a:p>
            <a:pPr marL="457200" lvl="0" indent="-298450" algn="l" rtl="0">
              <a:lnSpc>
                <a:spcPct val="115000"/>
              </a:lnSpc>
              <a:spcBef>
                <a:spcPts val="0"/>
              </a:spcBef>
              <a:spcAft>
                <a:spcPts val="0"/>
              </a:spcAft>
              <a:buClr>
                <a:schemeClr val="dk1"/>
              </a:buClr>
              <a:buSzPts val="1100"/>
              <a:buAutoNum type="arabicPeriod"/>
            </a:pPr>
            <a:endParaRPr lang="en-AU" sz="1400" b="1" dirty="0"/>
          </a:p>
          <a:p>
            <a:pPr marL="457200" lvl="0" indent="-298450" algn="l" rtl="0">
              <a:lnSpc>
                <a:spcPct val="115000"/>
              </a:lnSpc>
              <a:spcBef>
                <a:spcPts val="0"/>
              </a:spcBef>
              <a:spcAft>
                <a:spcPts val="0"/>
              </a:spcAft>
              <a:buClr>
                <a:schemeClr val="dk1"/>
              </a:buClr>
              <a:buSzPts val="1100"/>
              <a:buAutoNum type="arabicPeriod"/>
            </a:pPr>
            <a:endParaRPr lang="en-AU" sz="1400" b="1" dirty="0"/>
          </a:p>
          <a:p>
            <a:pPr marL="457200" lvl="0" indent="-298450" algn="l" rtl="0">
              <a:lnSpc>
                <a:spcPct val="115000"/>
              </a:lnSpc>
              <a:spcBef>
                <a:spcPts val="0"/>
              </a:spcBef>
              <a:spcAft>
                <a:spcPts val="0"/>
              </a:spcAft>
              <a:buClr>
                <a:schemeClr val="dk1"/>
              </a:buClr>
              <a:buSzPts val="1100"/>
              <a:buAutoNum type="arabicPeriod"/>
            </a:pPr>
            <a:endParaRPr lang="en-AU" sz="1400" b="1" dirty="0"/>
          </a:p>
          <a:p>
            <a:pPr marL="457200" lvl="0" indent="-298450" algn="l" rtl="0">
              <a:lnSpc>
                <a:spcPct val="115000"/>
              </a:lnSpc>
              <a:spcBef>
                <a:spcPts val="0"/>
              </a:spcBef>
              <a:spcAft>
                <a:spcPts val="0"/>
              </a:spcAft>
              <a:buClr>
                <a:schemeClr val="dk1"/>
              </a:buClr>
              <a:buSzPts val="1100"/>
              <a:buAutoNum type="arabicPeriod"/>
            </a:pPr>
            <a:endParaRPr lang="en-AU" sz="1400" b="1" dirty="0"/>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4</a:t>
            </a:fld>
            <a:endParaRPr lang="en-US" dirty="0"/>
          </a:p>
        </p:txBody>
      </p:sp>
    </p:spTree>
    <p:extLst>
      <p:ext uri="{BB962C8B-B14F-4D97-AF65-F5344CB8AC3E}">
        <p14:creationId xmlns:p14="http://schemas.microsoft.com/office/powerpoint/2010/main" val="3619816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5"/>
        <p:cNvGrpSpPr/>
        <p:nvPr/>
      </p:nvGrpSpPr>
      <p:grpSpPr>
        <a:xfrm>
          <a:off x="0" y="0"/>
          <a:ext cx="0" cy="0"/>
          <a:chOff x="0" y="0"/>
          <a:chExt cx="0" cy="0"/>
        </a:xfrm>
      </p:grpSpPr>
      <p:sp>
        <p:nvSpPr>
          <p:cNvPr id="1756" name="Google Shape;1756;p5: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b="1" dirty="0">
                <a:solidFill>
                  <a:schemeClr val="dk1"/>
                </a:solidFill>
                <a:latin typeface="Arial" panose="020B0604020202020204" pitchFamily="34" charset="0"/>
              </a:rPr>
              <a:t>Key Message: </a:t>
            </a:r>
          </a:p>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dirty="0">
                <a:solidFill>
                  <a:schemeClr val="dk1"/>
                </a:solidFill>
                <a:latin typeface="Arial" panose="020B0604020202020204" pitchFamily="34" charset="0"/>
              </a:rPr>
              <a:t>VCF 9 has been designed to deliver a modern private cloud infrastructure</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b="1" dirty="0">
                <a:solidFill>
                  <a:schemeClr val="dk1"/>
                </a:solidFill>
                <a:latin typeface="Arial" panose="020B0604020202020204" pitchFamily="34" charset="0"/>
              </a:rPr>
              <a:t>Talk Track:</a:t>
            </a: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VCF 9 has been designed to deliver a next-generation infrastructure that supports scalable, efficient, and agile operations. With enhanced scalability and operational efficiency, VCF provides the ability to bridge with existing VMware environments, enabling customers to leverage their current investments while taking advantage of advanced features and capabilities. These improvements are crafted to meet the demands of modern datacenters and edge locations, providing a robust foundation for IT environments.</a:t>
            </a:r>
            <a:endParaRPr lang="en-US"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The result? Transforming legacy systems for greater efficiency, cost reductions, and faster time to market. Enhanced scalability and performance optimize infrastructure for modern workloads and seamless migrations.</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Notes:</a:t>
            </a:r>
          </a:p>
          <a:p>
            <a:pPr marL="0" marR="0" lvl="0" indent="0" algn="l" rtl="0">
              <a:lnSpc>
                <a:spcPct val="80000"/>
              </a:lnSpc>
              <a:spcBef>
                <a:spcPts val="0"/>
              </a:spcBef>
              <a:spcAft>
                <a:spcPts val="0"/>
              </a:spcAft>
              <a:buClr>
                <a:schemeClr val="dk1"/>
              </a:buClr>
              <a:buSzPts val="1200"/>
              <a:buFont typeface="Arial"/>
              <a:buNone/>
            </a:pPr>
            <a:endParaRPr lang="en-US" b="1"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Resources:</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lvl="0" indent="0" algn="l" rtl="0">
              <a:spcBef>
                <a:spcPts val="0"/>
              </a:spcBef>
              <a:spcAft>
                <a:spcPts val="0"/>
              </a:spcAft>
              <a:buClr>
                <a:schemeClr val="dk1"/>
              </a:buClr>
              <a:buSzPts val="1200"/>
              <a:buFont typeface="Arial"/>
              <a:buNone/>
            </a:pPr>
            <a:endParaRPr lang="en-US" dirty="0">
              <a:latin typeface="Arial" panose="020B0604020202020204" pitchFamily="34" charset="0"/>
            </a:endParaRPr>
          </a:p>
          <a:p>
            <a:pPr marL="0" lvl="0" indent="0" algn="l" rtl="0">
              <a:spcBef>
                <a:spcPts val="0"/>
              </a:spcBef>
              <a:spcAft>
                <a:spcPts val="0"/>
              </a:spcAft>
              <a:buClr>
                <a:schemeClr val="dk1"/>
              </a:buClr>
              <a:buSzPts val="1200"/>
              <a:buFont typeface="Arial"/>
              <a:buNone/>
            </a:pPr>
            <a:endParaRPr dirty="0"/>
          </a:p>
        </p:txBody>
      </p:sp>
      <p:sp>
        <p:nvSpPr>
          <p:cNvPr id="1757" name="Google Shape;175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3"/>
        <p:cNvGrpSpPr/>
        <p:nvPr/>
      </p:nvGrpSpPr>
      <p:grpSpPr>
        <a:xfrm>
          <a:off x="0" y="0"/>
          <a:ext cx="0" cy="0"/>
          <a:chOff x="0" y="0"/>
          <a:chExt cx="0" cy="0"/>
        </a:xfrm>
      </p:grpSpPr>
      <p:sp>
        <p:nvSpPr>
          <p:cNvPr id="3664" name="Google Shape;3664;p14: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b="1" dirty="0">
                <a:solidFill>
                  <a:schemeClr val="dk1"/>
                </a:solidFill>
                <a:latin typeface="Arial" panose="020B0604020202020204" pitchFamily="34" charset="0"/>
              </a:rPr>
              <a:t>Key Message: </a:t>
            </a:r>
          </a:p>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dirty="0">
                <a:solidFill>
                  <a:schemeClr val="dk1"/>
                </a:solidFill>
                <a:latin typeface="Arial" panose="020B0604020202020204" pitchFamily="34" charset="0"/>
              </a:rPr>
              <a:t>Empowering developers with a cloud-native experience is crucial in the era of digital transformation. </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b="1" dirty="0">
                <a:solidFill>
                  <a:schemeClr val="dk1"/>
                </a:solidFill>
                <a:latin typeface="Arial" panose="020B0604020202020204" pitchFamily="34" charset="0"/>
              </a:rPr>
              <a:t>Talk Track:</a:t>
            </a: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Empowering developers with a cloud-native experience is crucial. VCF 9 offers a unified platform for both traditional and modern applications, simplifying deployment, management, and scaling across private and public clouds. New developer-friendly tools and APIs streamline the development process, enabling faster innovation and greater flexibility. Enhanced support for containerized applications and Kubernetes ensures that developers can build and deploy applications efficiently, driving business agility and competitive advantage.</a:t>
            </a:r>
            <a:endParaRPr lang="en-US"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Additionally, VCF 9 simplifies application deployment and management with quick start templates, easy network integration, and advanced performance insights, all helping to drive faster time to market and increased developer productivity.</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Notes:</a:t>
            </a:r>
          </a:p>
          <a:p>
            <a:pPr marL="0" marR="0" lvl="0" indent="0" algn="l" rtl="0">
              <a:lnSpc>
                <a:spcPct val="80000"/>
              </a:lnSpc>
              <a:spcBef>
                <a:spcPts val="0"/>
              </a:spcBef>
              <a:spcAft>
                <a:spcPts val="0"/>
              </a:spcAft>
              <a:buClr>
                <a:schemeClr val="dk1"/>
              </a:buClr>
              <a:buSzPts val="1200"/>
              <a:buFont typeface="Arial"/>
              <a:buNone/>
            </a:pPr>
            <a:endParaRPr lang="en-US" b="1"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Resources:</a:t>
            </a:r>
            <a:endParaRPr lang="en-US" sz="1200" b="1" dirty="0">
              <a:solidFill>
                <a:schemeClr val="dk1"/>
              </a:solidFill>
              <a:latin typeface="Arial" panose="020B0604020202020204" pitchFamily="34" charset="0"/>
            </a:endParaRPr>
          </a:p>
          <a:p>
            <a:pPr marL="0" lvl="0" indent="0" algn="l" rtl="0">
              <a:spcBef>
                <a:spcPts val="0"/>
              </a:spcBef>
              <a:spcAft>
                <a:spcPts val="0"/>
              </a:spcAft>
              <a:buClr>
                <a:schemeClr val="dk1"/>
              </a:buClr>
              <a:buSzPts val="1200"/>
              <a:buFont typeface="Arial"/>
              <a:buNone/>
            </a:pPr>
            <a:endParaRPr lang="en-US" dirty="0">
              <a:latin typeface="Arial" panose="020B0604020202020204" pitchFamily="34" charset="0"/>
            </a:endParaRPr>
          </a:p>
          <a:p>
            <a:pPr marL="0" lvl="0" indent="0" algn="l" rtl="0">
              <a:spcBef>
                <a:spcPts val="0"/>
              </a:spcBef>
              <a:spcAft>
                <a:spcPts val="0"/>
              </a:spcAft>
              <a:buClr>
                <a:schemeClr val="dk1"/>
              </a:buClr>
              <a:buSzPts val="1200"/>
              <a:buFont typeface="Arial"/>
              <a:buNone/>
            </a:pPr>
            <a:endParaRPr dirty="0"/>
          </a:p>
        </p:txBody>
      </p:sp>
      <p:sp>
        <p:nvSpPr>
          <p:cNvPr id="3665" name="Google Shape;366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1"/>
        <p:cNvGrpSpPr/>
        <p:nvPr/>
      </p:nvGrpSpPr>
      <p:grpSpPr>
        <a:xfrm>
          <a:off x="0" y="0"/>
          <a:ext cx="0" cy="0"/>
          <a:chOff x="0" y="0"/>
          <a:chExt cx="0" cy="0"/>
        </a:xfrm>
      </p:grpSpPr>
      <p:sp>
        <p:nvSpPr>
          <p:cNvPr id="5662" name="Google Shape;5662;p22: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b="1" dirty="0">
                <a:solidFill>
                  <a:schemeClr val="dk1"/>
                </a:solidFill>
                <a:latin typeface="Arial" panose="020B0604020202020204" pitchFamily="34" charset="0"/>
              </a:rPr>
              <a:t>Key Message: </a:t>
            </a:r>
          </a:p>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dirty="0">
                <a:solidFill>
                  <a:schemeClr val="dk1"/>
                </a:solidFill>
                <a:latin typeface="Arial" panose="020B0604020202020204" pitchFamily="34" charset="0"/>
              </a:rPr>
              <a:t>VCF 9 provides comprehensive security features and ensures operational resilience</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b="1" dirty="0">
                <a:solidFill>
                  <a:schemeClr val="dk1"/>
                </a:solidFill>
                <a:latin typeface="Arial" panose="020B0604020202020204" pitchFamily="34" charset="0"/>
              </a:rPr>
              <a:t>Talk Track:</a:t>
            </a: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In today’s threat landscape, security and resilience become key to every IT budget and initiative. VCF 9 provides comprehensive security features and ensures operational resilience. Advanced security measures address data privacy and sovereignty concerns while improving threat detection and response capabilities. Unified security management and enhanced data protection safeguard critical information, ensuring compliance with regulatory requirements. The focus on minimizing downtime and maintaining a robust security posture allows organizations to operate confidently in a dynamic environment.</a:t>
            </a:r>
            <a:endParaRPr lang="en-US"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What customers benefit from is the ability to deliver private cloud system integrity with flexible live patching and dual DPU support. Achieving higher availability, optimized network performance, and robust data protection for resilient operations.</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Notes:</a:t>
            </a:r>
          </a:p>
          <a:p>
            <a:pPr marL="0" marR="0" lvl="0" indent="0" algn="l" rtl="0">
              <a:lnSpc>
                <a:spcPct val="80000"/>
              </a:lnSpc>
              <a:spcBef>
                <a:spcPts val="0"/>
              </a:spcBef>
              <a:spcAft>
                <a:spcPts val="0"/>
              </a:spcAft>
              <a:buClr>
                <a:schemeClr val="dk1"/>
              </a:buClr>
              <a:buSzPts val="1200"/>
              <a:buFont typeface="Arial"/>
              <a:buNone/>
            </a:pPr>
            <a:endParaRPr lang="en-US" b="1"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Resources:</a:t>
            </a:r>
            <a:endParaRPr lang="en-US" sz="1200" b="1" dirty="0">
              <a:solidFill>
                <a:schemeClr val="dk1"/>
              </a:solidFill>
              <a:latin typeface="Arial" panose="020B0604020202020204" pitchFamily="34" charset="0"/>
            </a:endParaRPr>
          </a:p>
          <a:p>
            <a:pPr marL="0" lvl="0" indent="0" algn="l" rtl="0">
              <a:spcBef>
                <a:spcPts val="0"/>
              </a:spcBef>
              <a:spcAft>
                <a:spcPts val="0"/>
              </a:spcAft>
              <a:buClr>
                <a:schemeClr val="dk1"/>
              </a:buClr>
              <a:buSzPts val="1200"/>
              <a:buFont typeface="Arial"/>
              <a:buNone/>
            </a:pPr>
            <a:endParaRPr lang="en-US" dirty="0">
              <a:latin typeface="Arial" panose="020B0604020202020204" pitchFamily="34" charset="0"/>
            </a:endParaRPr>
          </a:p>
          <a:p>
            <a:pPr marL="0" lvl="0" indent="0" algn="l" rtl="0">
              <a:spcBef>
                <a:spcPts val="0"/>
              </a:spcBef>
              <a:spcAft>
                <a:spcPts val="0"/>
              </a:spcAft>
              <a:buClr>
                <a:schemeClr val="dk1"/>
              </a:buClr>
              <a:buSzPts val="1200"/>
              <a:buFont typeface="Arial"/>
              <a:buNone/>
            </a:pPr>
            <a:endParaRPr dirty="0"/>
          </a:p>
        </p:txBody>
      </p:sp>
      <p:sp>
        <p:nvSpPr>
          <p:cNvPr id="5663" name="Google Shape;566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3"/>
        <p:cNvGrpSpPr/>
        <p:nvPr/>
      </p:nvGrpSpPr>
      <p:grpSpPr>
        <a:xfrm>
          <a:off x="0" y="0"/>
          <a:ext cx="0" cy="0"/>
          <a:chOff x="0" y="0"/>
          <a:chExt cx="0" cy="0"/>
        </a:xfrm>
      </p:grpSpPr>
      <p:sp>
        <p:nvSpPr>
          <p:cNvPr id="5754" name="Google Shape;5754;p3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55" name="Google Shape;5755;p3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rPr>
              <a:t>Key Message: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rPr>
              <a:t>VMware Cloud Foundation Drives Modernization,  Enhances Developer Productivity and delivers a highly Secure cloud platform.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rPr>
              <a:t>VMware Cloud Foundation Drives Modernization,  Enhances Developer Productivity and delivers a highly Secure cloud platform.  </a:t>
            </a:r>
          </a:p>
          <a:p>
            <a:endParaRPr lang="en-US"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rPr>
              <a:t>As we dive into VCF, we will see how </a:t>
            </a:r>
            <a:r>
              <a:rPr lang="en-US" sz="1200" u="none" strike="noStrike" cap="none" dirty="0">
                <a:solidFill>
                  <a:srgbClr val="3C3C3C"/>
                </a:solidFill>
                <a:latin typeface="Arial" panose="020B0604020202020204" pitchFamily="34" charset="0"/>
                <a:sym typeface="Arial"/>
              </a:rPr>
              <a:t>VCF 9 streamlines infrastructure management and reduce complexity. </a:t>
            </a:r>
            <a:br>
              <a:rPr lang="en-US" sz="1200" u="none" strike="noStrike" cap="none" dirty="0">
                <a:solidFill>
                  <a:srgbClr val="3C3C3C"/>
                </a:solidFill>
                <a:latin typeface="Arial" panose="020B0604020202020204" pitchFamily="34" charset="0"/>
                <a:sym typeface="Arial"/>
              </a:rPr>
            </a:br>
            <a:r>
              <a:rPr lang="en-US" sz="1200" u="none" strike="noStrike" cap="none" dirty="0">
                <a:solidFill>
                  <a:srgbClr val="3C3C3C"/>
                </a:solidFill>
                <a:latin typeface="Arial" panose="020B0604020202020204" pitchFamily="34" charset="0"/>
                <a:sym typeface="Arial"/>
              </a:rPr>
              <a:t>How it speeds up development cycles through infrastructure that is easy to consume and update. How it delivers a Secure Infrastructure that you can continuously count on. And how it delivers faster time to value, by bringing together key stakeholders using a modern private cloud.</a:t>
            </a:r>
            <a:endParaRPr lang="en-US" sz="1200" u="none" strike="noStrike" cap="none" dirty="0">
              <a:solidFill>
                <a:srgbClr val="000001"/>
              </a:solidFill>
              <a:latin typeface="Arial" panose="020B0604020202020204"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cap="none" dirty="0">
              <a:solidFill>
                <a:srgbClr val="000001"/>
              </a:solidFill>
              <a:latin typeface="Arial" panose="020B0604020202020204"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rPr>
              <a:t>Notes: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rPr>
              <a:t>Resources:</a:t>
            </a:r>
          </a:p>
          <a:p>
            <a:pPr marL="177800" lvl="0" indent="-101600" algn="l" rtl="0">
              <a:lnSpc>
                <a:spcPct val="100000"/>
              </a:lnSpc>
              <a:spcBef>
                <a:spcPts val="0"/>
              </a:spcBef>
              <a:spcAft>
                <a:spcPts val="0"/>
              </a:spcAft>
              <a:buClr>
                <a:schemeClr val="dk1"/>
              </a:buClr>
              <a:buSzPts val="1200"/>
              <a:buFont typeface="Arial"/>
              <a:buNone/>
            </a:pPr>
            <a:endParaRPr lang="en-US" sz="1200" u="none" strike="noStrike" dirty="0">
              <a:solidFill>
                <a:schemeClr val="dk1"/>
              </a:solidFill>
              <a:latin typeface="Arial" panose="020B0604020202020204" pitchFamily="34" charset="0"/>
              <a:sym typeface="Arial"/>
            </a:endParaRPr>
          </a:p>
          <a:p>
            <a:pPr marL="0" lvl="0" indent="0" algn="l" rtl="0">
              <a:lnSpc>
                <a:spcPct val="100000"/>
              </a:lnSpc>
              <a:spcBef>
                <a:spcPts val="0"/>
              </a:spcBef>
              <a:spcAft>
                <a:spcPts val="0"/>
              </a:spcAft>
              <a:buClr>
                <a:schemeClr val="dk1"/>
              </a:buClr>
              <a:buSzPts val="1200"/>
              <a:buFont typeface="Arial"/>
              <a:buNone/>
            </a:pPr>
            <a:endParaRPr lang="en-US" dirty="0">
              <a:latin typeface="Arial" panose="020B0604020202020204" pitchFamily="34" charset="0"/>
            </a:endParaRPr>
          </a:p>
          <a:p>
            <a:pPr marL="0" lvl="0" indent="0" algn="l" rtl="0">
              <a:lnSpc>
                <a:spcPct val="100000"/>
              </a:lnSpc>
              <a:spcBef>
                <a:spcPts val="0"/>
              </a:spcBef>
              <a:spcAft>
                <a:spcPts val="0"/>
              </a:spcAft>
              <a:buClr>
                <a:schemeClr val="dk1"/>
              </a:buClr>
              <a:buSzPts val="1200"/>
              <a:buFont typeface="Arial"/>
              <a:buNone/>
            </a:pPr>
            <a:endParaRPr lang="en-US" dirty="0">
              <a:latin typeface="Arial" panose="020B0604020202020204" pitchFamily="34" charset="0"/>
            </a:endParaRPr>
          </a:p>
          <a:p>
            <a:pPr marL="0" lvl="0" indent="0" algn="l" rtl="0">
              <a:spcBef>
                <a:spcPts val="0"/>
              </a:spcBef>
              <a:spcAft>
                <a:spcPts val="0"/>
              </a:spcAft>
              <a:buClr>
                <a:schemeClr val="dk1"/>
              </a:buClr>
              <a:buSzPts val="1200"/>
              <a:buFont typeface="Arial"/>
              <a:buNone/>
            </a:pPr>
            <a:endParaRPr dirty="0"/>
          </a:p>
        </p:txBody>
      </p:sp>
      <p:sp>
        <p:nvSpPr>
          <p:cNvPr id="5756" name="Google Shape;5756;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1">
          <a:extLst>
            <a:ext uri="{FF2B5EF4-FFF2-40B4-BE49-F238E27FC236}">
              <a16:creationId xmlns:a16="http://schemas.microsoft.com/office/drawing/2014/main" id="{1CF25335-053B-A5EC-8049-BEA01DC9EB7C}"/>
            </a:ext>
          </a:extLst>
        </p:cNvPr>
        <p:cNvGrpSpPr/>
        <p:nvPr/>
      </p:nvGrpSpPr>
      <p:grpSpPr>
        <a:xfrm>
          <a:off x="0" y="0"/>
          <a:ext cx="0" cy="0"/>
          <a:chOff x="0" y="0"/>
          <a:chExt cx="0" cy="0"/>
        </a:xfrm>
      </p:grpSpPr>
      <p:sp>
        <p:nvSpPr>
          <p:cNvPr id="2872" name="Google Shape;2872;p39:notes">
            <a:extLst>
              <a:ext uri="{FF2B5EF4-FFF2-40B4-BE49-F238E27FC236}">
                <a16:creationId xmlns:a16="http://schemas.microsoft.com/office/drawing/2014/main" id="{F282F68F-DFE5-88E2-4DD3-A1695C81910B}"/>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3" name="Google Shape;2873;p39:notes">
            <a:extLst>
              <a:ext uri="{FF2B5EF4-FFF2-40B4-BE49-F238E27FC236}">
                <a16:creationId xmlns:a16="http://schemas.microsoft.com/office/drawing/2014/main" id="{86232CD5-258E-2A92-3674-C72EF2FEE14A}"/>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1" u="none" strike="noStrike" dirty="0">
                <a:solidFill>
                  <a:schemeClr val="dk1"/>
                </a:solidFill>
                <a:latin typeface="Arial" panose="020B0604020202020204" pitchFamily="34" charset="0"/>
                <a:sym typeface="Arial"/>
              </a:rPr>
              <a:t>Key Message:</a:t>
            </a:r>
            <a:br>
              <a:rPr lang="en-US" sz="1200" u="none" strike="noStrike" dirty="0">
                <a:solidFill>
                  <a:schemeClr val="dk1"/>
                </a:solidFill>
                <a:latin typeface="Arial" panose="020B0604020202020204" pitchFamily="34" charset="0"/>
                <a:sym typeface="Arial"/>
              </a:rPr>
            </a:br>
            <a:r>
              <a:rPr lang="en-US" dirty="0">
                <a:latin typeface="Arial" panose="020B0604020202020204" pitchFamily="34" charset="0"/>
              </a:rPr>
              <a:t>Workload domains are core to VMware Cloud Foundation architecture.</a:t>
            </a:r>
          </a:p>
          <a:p>
            <a:pPr marL="0" lvl="0" indent="0" algn="l" rtl="0">
              <a:spcBef>
                <a:spcPts val="0"/>
              </a:spcBef>
              <a:spcAft>
                <a:spcPts val="0"/>
              </a:spcAft>
              <a:buNone/>
            </a:pPr>
            <a:br>
              <a:rPr lang="en-US" sz="1200" u="none" strike="noStrike" dirty="0">
                <a:solidFill>
                  <a:schemeClr val="dk1"/>
                </a:solidFill>
                <a:latin typeface="Arial" panose="020B0604020202020204" pitchFamily="34" charset="0"/>
                <a:sym typeface="Arial"/>
              </a:rPr>
            </a:br>
            <a:r>
              <a:rPr lang="en-US" sz="1200" b="1" u="none" strike="noStrike" dirty="0">
                <a:solidFill>
                  <a:schemeClr val="dk1"/>
                </a:solidFill>
                <a:latin typeface="Arial" panose="020B0604020202020204" pitchFamily="34" charset="0"/>
                <a:sym typeface="Arial"/>
              </a:rPr>
              <a:t>Talk Track: </a:t>
            </a:r>
            <a:br>
              <a:rPr lang="en-US" sz="1200" u="none" strike="noStrike" dirty="0">
                <a:solidFill>
                  <a:schemeClr val="dk1"/>
                </a:solidFill>
                <a:latin typeface="Arial" panose="020B0604020202020204" pitchFamily="34" charset="0"/>
                <a:sym typeface="Arial"/>
              </a:rPr>
            </a:br>
            <a:r>
              <a:rPr lang="en-US" dirty="0">
                <a:latin typeface="Arial" panose="020B0604020202020204" pitchFamily="34" charset="0"/>
              </a:rPr>
              <a:t>VMware Cloud Foundation is an integration of SDDC components which come together as a full platform to provide Application-ready infrastructure. Now lets quickly take a look at the architecture.</a:t>
            </a:r>
          </a:p>
          <a:p>
            <a:pPr marL="0" lvl="0" indent="0" algn="l" rtl="0">
              <a:spcBef>
                <a:spcPts val="0"/>
              </a:spcBef>
              <a:spcAft>
                <a:spcPts val="0"/>
              </a:spcAft>
              <a:buNone/>
            </a:pPr>
            <a:endParaRPr lang="en-US" sz="1200"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Notes:</a:t>
            </a:r>
            <a:endParaRPr lang="en-US" b="1" dirty="0">
              <a:latin typeface="Arial" panose="020B0604020202020204" pitchFamily="34" charset="0"/>
            </a:endParaRPr>
          </a:p>
          <a:p>
            <a:pPr marL="0" lvl="0" indent="0" algn="l" rtl="0">
              <a:spcBef>
                <a:spcPts val="0"/>
              </a:spcBef>
              <a:spcAft>
                <a:spcPts val="0"/>
              </a:spcAft>
              <a:buNone/>
            </a:pPr>
            <a:endParaRPr lang="en-US" sz="1200"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References:</a:t>
            </a:r>
          </a:p>
          <a:p>
            <a:pPr marL="0" lvl="0" indent="0" algn="l" rtl="0">
              <a:spcBef>
                <a:spcPts val="0"/>
              </a:spcBef>
              <a:spcAft>
                <a:spcPts val="0"/>
              </a:spcAft>
              <a:buNone/>
            </a:pPr>
            <a:endParaRPr dirty="0">
              <a:latin typeface="Arial" panose="020B0604020202020204" pitchFamily="34" charset="0"/>
            </a:endParaRPr>
          </a:p>
        </p:txBody>
      </p:sp>
      <p:sp>
        <p:nvSpPr>
          <p:cNvPr id="2874" name="Google Shape;2874;p39:notes">
            <a:extLst>
              <a:ext uri="{FF2B5EF4-FFF2-40B4-BE49-F238E27FC236}">
                <a16:creationId xmlns:a16="http://schemas.microsoft.com/office/drawing/2014/main" id="{BBAE5109-76D3-A4EE-145B-C6E3850CDC5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u="none" strike="noStrike" kern="0" cap="none" spc="0" normalizeH="0" baseline="0" noProof="0">
                <a:ln>
                  <a:noFill/>
                </a:ln>
                <a:solidFill>
                  <a:srgbClr val="717074"/>
                </a:solidFill>
                <a:effectLst/>
                <a:uLnTx/>
                <a:uFillTx/>
                <a:latin typeface="Arial" panose="020B0604020202020204" pitchFamily="34" charset="0"/>
                <a:cs typeface="Arial"/>
                <a:sym typeface="Arial"/>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9</a:t>
            </a:fld>
            <a:endParaRPr kumimoji="0" sz="1200" u="none" strike="noStrike" kern="0" cap="none" spc="0" normalizeH="0" baseline="0" noProof="0" dirty="0">
              <a:ln>
                <a:noFill/>
              </a:ln>
              <a:solidFill>
                <a:srgbClr val="717074"/>
              </a:solidFill>
              <a:effectLst/>
              <a:uLnTx/>
              <a:uFillTx/>
              <a:latin typeface="Arial" panose="020B0604020202020204" pitchFamily="34" charset="0"/>
              <a:cs typeface="Arial"/>
              <a:sym typeface="Arial"/>
            </a:endParaRPr>
          </a:p>
        </p:txBody>
      </p:sp>
    </p:spTree>
    <p:extLst>
      <p:ext uri="{BB962C8B-B14F-4D97-AF65-F5344CB8AC3E}">
        <p14:creationId xmlns:p14="http://schemas.microsoft.com/office/powerpoint/2010/main" val="3179914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19045-94F0-CF86-048F-37F84546D7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8848DD-DBB4-BB95-3A34-41B44FB514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E0F2BE-5BFE-748C-4857-9180729A761C}"/>
              </a:ext>
            </a:extLst>
          </p:cNvPr>
          <p:cNvSpPr>
            <a:spLocks noGrp="1"/>
          </p:cNvSpPr>
          <p:nvPr>
            <p:ph type="body" idx="1"/>
          </p:nvPr>
        </p:nvSpPr>
        <p:spPr/>
        <p:txBody>
          <a:bodyPr>
            <a:normAutofit fontScale="92500" lnSpcReduction="1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Arial" panose="020B0604020202020204" pitchFamily="34" charset="0"/>
                <a:ea typeface="+mn-ea"/>
                <a:cs typeface="+mn-cs"/>
              </a:rPr>
              <a:t>Key Message:</a:t>
            </a:r>
            <a:endParaRPr lang="en-US" sz="1200" b="1" dirty="0">
              <a:solidFill>
                <a:schemeClr val="tx1"/>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rPr>
              <a:t>A workload domain is best described as “Application-ready Infrastructure”.  </a:t>
            </a:r>
            <a:r>
              <a:rPr lang="en-US" strike="noStrike" dirty="0">
                <a:latin typeface="Arial" panose="020B0604020202020204" pitchFamily="34" charset="0"/>
              </a:rPr>
              <a:t>Each workload domain can be configured as self-contained capacity for customer application workloads. </a:t>
            </a:r>
            <a:endParaRPr lang="en-US" dirty="0">
              <a:latin typeface="Arial" panose="020B0604020202020204" pitchFamily="34" charset="0"/>
            </a:endParaRPr>
          </a:p>
          <a:p>
            <a:pPr lvl="2">
              <a:spcBef>
                <a:spcPts val="600"/>
              </a:spcBef>
              <a:buFont typeface="Arial" panose="020B0604020202020204" pitchFamily="34" charset="0"/>
              <a:buChar char="•"/>
            </a:pPr>
            <a:endParaRPr lang="en-US" dirty="0">
              <a:solidFill>
                <a:schemeClr val="tx1"/>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strike="noStrike" dirty="0">
                <a:solidFill>
                  <a:schemeClr val="tx1"/>
                </a:solidFill>
                <a:latin typeface="Arial" panose="020B0604020202020204" pitchFamily="34" charset="0"/>
              </a:rPr>
              <a:t>Talk Track:</a:t>
            </a:r>
          </a:p>
          <a:p>
            <a:pPr marL="0" marR="0" indent="0" algn="l" defTabSz="914400" rtl="0" eaLnBrk="1" fontAlgn="auto" latinLnBrk="0" hangingPunct="1">
              <a:lnSpc>
                <a:spcPct val="100000"/>
              </a:lnSpc>
              <a:spcBef>
                <a:spcPts val="0"/>
              </a:spcBef>
              <a:spcAft>
                <a:spcPts val="0"/>
              </a:spcAft>
              <a:buClrTx/>
              <a:buSzTx/>
              <a:buFontTx/>
              <a:buNone/>
              <a:tabLst/>
              <a:defRPr/>
            </a:pPr>
            <a:r>
              <a:rPr lang="en-US" b="0" dirty="0"/>
              <a:t>At the center of cloud foundation architecture is the construct of a workload domain.</a:t>
            </a:r>
            <a:endParaRPr lang="en-US" sz="1200" b="1" strike="noStrike" dirty="0">
              <a:solidFill>
                <a:schemeClr val="tx1"/>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Arial" panose="020B0604020202020204" pitchFamily="34" charset="0"/>
              </a:rPr>
              <a:t>Workload domains are purpose-built units of private cloud capacity. </a:t>
            </a:r>
            <a:r>
              <a:rPr lang="en-US" sz="1200" kern="1200" dirty="0">
                <a:solidFill>
                  <a:schemeClr val="tx1"/>
                </a:solidFill>
                <a:effectLst/>
                <a:latin typeface="Arial" panose="020B0604020202020204" pitchFamily="34" charset="0"/>
                <a:ea typeface="+mn-ea"/>
                <a:cs typeface="+mn-cs"/>
              </a:rPr>
              <a:t>Workload domains utilize standardized repeatable infrastructure, allowing you to move away from provisioning and managing separate silos of custom infrastructure.</a:t>
            </a:r>
            <a:endParaRPr lang="en-US" dirty="0">
              <a:solidFill>
                <a:schemeClr val="tx1"/>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Arial" panose="020B0604020202020204" pitchFamily="34" charset="0"/>
              </a:rPr>
              <a:t>Workload domains are configured with dedicated resources for compute, storage, networking and security using in-built workflows. Once operational, admin staff can easily scale capacity and perform daily operations and lifecycle management of each domain as an independent unit.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panose="020B0604020202020204" pitchFamily="34" charset="0"/>
              </a:rPr>
              <a:t>Notes: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solidFill>
                  <a:schemeClr val="tx1"/>
                </a:solidFill>
                <a:latin typeface="Arial" panose="020B0604020202020204" pitchFamily="34" charset="0"/>
              </a:rPr>
              <a:t>This slide introduces workload domains as a concept.  More detail will come on the following slides.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u="none" strike="noStrike"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ea typeface="+mn-ea"/>
                <a:cs typeface="+mn-cs"/>
              </a:rPr>
              <a:t>Resources:</a:t>
            </a:r>
            <a:br>
              <a:rPr lang="en-US" sz="1200" b="1" u="none" strike="noStrike" kern="1200" dirty="0">
                <a:solidFill>
                  <a:schemeClr val="tx1"/>
                </a:solidFill>
                <a:effectLst/>
                <a:latin typeface="Arial" panose="020B0604020202020204" pitchFamily="34" charset="0"/>
                <a:ea typeface="+mn-ea"/>
                <a:cs typeface="+mn-cs"/>
              </a:rPr>
            </a:br>
            <a:r>
              <a:rPr lang="en-US" sz="1200" b="0" u="none" strike="noStrike" kern="1200" dirty="0">
                <a:solidFill>
                  <a:schemeClr val="tx1"/>
                </a:solidFill>
                <a:effectLst/>
                <a:latin typeface="Arial" panose="020B0604020202020204" pitchFamily="34" charset="0"/>
                <a:ea typeface="+mn-ea"/>
                <a:cs typeface="+mn-cs"/>
              </a:rPr>
              <a:t>Refer to the VMware Cloud Foundation Design Guide for further information on Workload Domains:</a:t>
            </a:r>
            <a:br>
              <a:rPr lang="en-US" sz="1200" b="0" u="none" strike="noStrike" kern="1200" dirty="0">
                <a:solidFill>
                  <a:schemeClr val="tx1"/>
                </a:solidFill>
                <a:effectLst/>
                <a:latin typeface="Arial" panose="020B0604020202020204" pitchFamily="34" charset="0"/>
                <a:ea typeface="+mn-ea"/>
                <a:cs typeface="+mn-cs"/>
              </a:rPr>
            </a:br>
            <a:r>
              <a:rPr lang="en-AU" dirty="0">
                <a:effectLst/>
                <a:latin typeface="Helvetica Neue" panose="02000503000000020004" pitchFamily="2" charset="0"/>
                <a:hlinkClick r:id="rId3"/>
              </a:rPr>
              <a:t>https://techdocs.broadcom.com/us/en/vmware-cis/vcf.html</a:t>
            </a:r>
            <a:r>
              <a:rPr lang="en-AU" dirty="0">
                <a:effectLst/>
                <a:latin typeface="Helvetica Neue" panose="02000503000000020004" pitchFamily="2"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effectLst/>
              <a:latin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Arial" panose="020B0604020202020204" pitchFamily="34" charset="0"/>
                <a:ea typeface="+mn-ea"/>
                <a:cs typeface="+mn-cs"/>
              </a:rPr>
              <a:t>Refer to Getting Started Guide for further information on Getting Started with VMware Cloud Foundation:</a:t>
            </a:r>
            <a:br>
              <a:rPr lang="en-US" sz="1200" b="0" u="none" strike="noStrike" kern="1200" dirty="0">
                <a:solidFill>
                  <a:schemeClr val="tx1"/>
                </a:solidFill>
                <a:effectLst/>
                <a:latin typeface="Arial" panose="020B0604020202020204" pitchFamily="34" charset="0"/>
                <a:ea typeface="+mn-ea"/>
                <a:cs typeface="+mn-cs"/>
              </a:rPr>
            </a:br>
            <a:r>
              <a:rPr lang="en-AU" dirty="0">
                <a:effectLst/>
                <a:latin typeface="Helvetica Neue" panose="02000503000000020004" pitchFamily="2" charset="0"/>
                <a:hlinkClick r:id="rId3"/>
              </a:rPr>
              <a:t>https://techdocs.broadcom.com/us/en/vmware-cis/vcf.html</a:t>
            </a:r>
            <a:r>
              <a:rPr lang="en-AU" dirty="0">
                <a:effectLst/>
                <a:latin typeface="Helvetica Neue" panose="02000503000000020004" pitchFamily="2"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effectLst/>
              <a:latin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effectLst/>
              <a:latin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effectLst/>
              <a:latin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u="none" strike="noStrike"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lang="en-US" sz="1200" b="1" u="none" strike="noStrike" kern="1200" dirty="0">
                <a:solidFill>
                  <a:schemeClr val="tx1"/>
                </a:solidFill>
                <a:effectLst/>
                <a:latin typeface="Arial" panose="020B0604020202020204" pitchFamily="34" charset="0"/>
                <a:ea typeface="+mn-ea"/>
                <a:cs typeface="+mn-cs"/>
              </a:rPr>
            </a:br>
            <a:endParaRPr lang="en-US" sz="1200" b="1" u="none" strike="noStrike" kern="1200" dirty="0">
              <a:solidFill>
                <a:schemeClr val="dk1"/>
              </a:solidFill>
              <a:effectLst/>
              <a:latin typeface="Arial" panose="020B0604020202020204" pitchFamily="34" charset="0"/>
              <a:ea typeface="+mn-ea"/>
              <a:cs typeface="+mn-cs"/>
            </a:endParaRPr>
          </a:p>
        </p:txBody>
      </p:sp>
      <p:sp>
        <p:nvSpPr>
          <p:cNvPr id="4" name="Slide Number Placeholder 3">
            <a:extLst>
              <a:ext uri="{FF2B5EF4-FFF2-40B4-BE49-F238E27FC236}">
                <a16:creationId xmlns:a16="http://schemas.microsoft.com/office/drawing/2014/main" id="{884F6A4E-ED59-03C3-356B-7C023697462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4010353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ea typeface="+mn-ea"/>
                <a:cs typeface="+mn-cs"/>
              </a:rPr>
              <a:t>Presenter note – this slide contains animation.</a:t>
            </a:r>
          </a:p>
          <a:p>
            <a:pPr marL="0" indent="0">
              <a:buNone/>
            </a:pPr>
            <a:endParaRPr lang="en-US" sz="1200" b="1" dirty="0">
              <a:solidFill>
                <a:schemeClr val="tx1"/>
              </a:solidFill>
              <a:latin typeface="Arial" panose="020B0604020202020204" pitchFamily="34" charset="0"/>
            </a:endParaRPr>
          </a:p>
          <a:p>
            <a:pPr marL="0" indent="0">
              <a:buNone/>
            </a:pPr>
            <a:r>
              <a:rPr lang="en-US" sz="1200" b="1" dirty="0">
                <a:solidFill>
                  <a:schemeClr val="tx1"/>
                </a:solidFill>
                <a:latin typeface="Arial" panose="020B0604020202020204" pitchFamily="34" charset="0"/>
              </a:rPr>
              <a:t>Key Message: </a:t>
            </a:r>
          </a:p>
          <a:p>
            <a:pPr marL="0" indent="0">
              <a:buNone/>
            </a:pPr>
            <a:r>
              <a:rPr lang="en-US" sz="1200" dirty="0">
                <a:solidFill>
                  <a:schemeClr val="tx1"/>
                </a:solidFill>
                <a:latin typeface="Arial" panose="020B0604020202020204" pitchFamily="34" charset="0"/>
              </a:rPr>
              <a:t>VCF delivers a scalable private cloud platform that lets datacenter staff manage pools of workload specific capacity in the same way public cloud providers deliver virtual datacenters. Wizard driven workflows simplify the deployment and management of application specific compute, storage and network resources.  </a:t>
            </a:r>
          </a:p>
          <a:p>
            <a:pPr marL="0" indent="0">
              <a:buNone/>
            </a:pPr>
            <a:endParaRPr lang="en-US" sz="1200" dirty="0">
              <a:solidFill>
                <a:schemeClr val="tx1"/>
              </a:solidFill>
              <a:latin typeface="Arial" panose="020B0604020202020204" pitchFamily="34" charset="0"/>
            </a:endParaRPr>
          </a:p>
          <a:p>
            <a:pPr marL="0" indent="0">
              <a:buNone/>
            </a:pPr>
            <a:r>
              <a:rPr lang="en-US" sz="1200" b="1" dirty="0">
                <a:solidFill>
                  <a:schemeClr val="tx1"/>
                </a:solidFill>
                <a:latin typeface="Arial" panose="020B0604020202020204" pitchFamily="34" charset="0"/>
              </a:rPr>
              <a:t>Talk Track: </a:t>
            </a:r>
          </a:p>
          <a:p>
            <a:pPr marL="0" indent="0">
              <a:buNone/>
            </a:pPr>
            <a:r>
              <a:rPr lang="en-US" sz="1200" kern="1200" dirty="0">
                <a:solidFill>
                  <a:schemeClr val="tx1"/>
                </a:solidFill>
                <a:effectLst/>
                <a:latin typeface="Arial" panose="020B0604020202020204" pitchFamily="34" charset="0"/>
                <a:ea typeface="+mn-ea"/>
                <a:cs typeface="+mn-cs"/>
              </a:rPr>
              <a:t>VCF delivers a scalable private cloud platform that lets datacenter staff manage pools of workload specific capacity in the same way public cloud providers deliver virtual datacenters.  </a:t>
            </a:r>
          </a:p>
          <a:p>
            <a:pPr marL="0" indent="0">
              <a:buNone/>
            </a:pPr>
            <a:endParaRPr lang="en-US" sz="1200" kern="1200" dirty="0">
              <a:solidFill>
                <a:schemeClr val="tx1"/>
              </a:solidFill>
              <a:effectLst/>
              <a:latin typeface="Arial" panose="020B0604020202020204" pitchFamily="34" charset="0"/>
              <a:ea typeface="+mn-ea"/>
              <a:cs typeface="+mn-cs"/>
            </a:endParaRPr>
          </a:p>
          <a:p>
            <a:pPr marL="0" indent="0">
              <a:buNone/>
            </a:pPr>
            <a:r>
              <a:rPr lang="en-US" sz="1200" kern="1200" dirty="0">
                <a:solidFill>
                  <a:schemeClr val="tx1"/>
                </a:solidFill>
                <a:effectLst/>
                <a:latin typeface="Arial" panose="020B0604020202020204" pitchFamily="34" charset="0"/>
                <a:ea typeface="+mn-ea"/>
                <a:cs typeface="+mn-cs"/>
              </a:rPr>
              <a:t>For smaller environments, application workloads can be run together with management components in the management domain.</a:t>
            </a:r>
          </a:p>
          <a:p>
            <a:pPr marL="0" indent="0">
              <a:buNone/>
            </a:pPr>
            <a:endParaRPr lang="en-US" sz="1200" kern="1200" dirty="0">
              <a:solidFill>
                <a:schemeClr val="tx1"/>
              </a:solidFill>
              <a:effectLst/>
              <a:latin typeface="Arial" panose="020B0604020202020204" pitchFamily="34" charset="0"/>
              <a:ea typeface="+mn-ea"/>
              <a:cs typeface="+mn-cs"/>
            </a:endParaRPr>
          </a:p>
          <a:p>
            <a:pPr marL="0" indent="0">
              <a:buNone/>
            </a:pPr>
            <a:r>
              <a:rPr lang="en-US" sz="1200" kern="1200" dirty="0">
                <a:solidFill>
                  <a:schemeClr val="tx1"/>
                </a:solidFill>
                <a:effectLst/>
                <a:latin typeface="Arial" panose="020B0604020202020204" pitchFamily="34" charset="0"/>
                <a:ea typeface="+mn-ea"/>
                <a:cs typeface="+mn-cs"/>
              </a:rPr>
              <a:t>&lt;click 1&gt;</a:t>
            </a:r>
          </a:p>
          <a:p>
            <a:pPr marL="0" indent="0">
              <a:buNone/>
            </a:pPr>
            <a:r>
              <a:rPr lang="en-US" sz="1200" kern="1200" dirty="0">
                <a:solidFill>
                  <a:schemeClr val="tx1"/>
                </a:solidFill>
                <a:effectLst/>
                <a:latin typeface="Arial" panose="020B0604020202020204" pitchFamily="34" charset="0"/>
                <a:ea typeface="+mn-ea"/>
                <a:cs typeface="+mn-cs"/>
              </a:rPr>
              <a:t>As your needs grow, you can provision additional workload domains using in-built workflows.  Workload domains can be configured for a variety of different use cases such as traditional apps, Private AI, or modern app development.   </a:t>
            </a:r>
          </a:p>
          <a:p>
            <a:pPr marL="0" indent="0">
              <a:buNone/>
            </a:pPr>
            <a:endParaRPr lang="en-US" sz="1200" kern="1200" dirty="0">
              <a:solidFill>
                <a:schemeClr val="tx1"/>
              </a:solidFill>
              <a:effectLst/>
              <a:latin typeface="Arial" panose="020B0604020202020204" pitchFamily="34" charset="0"/>
              <a:ea typeface="+mn-ea"/>
              <a:cs typeface="+mn-cs"/>
            </a:endParaRPr>
          </a:p>
          <a:p>
            <a:pPr marL="0" indent="0">
              <a:buNone/>
            </a:pPr>
            <a:r>
              <a:rPr lang="en-US" sz="1200" kern="1200" dirty="0">
                <a:solidFill>
                  <a:schemeClr val="tx1"/>
                </a:solidFill>
                <a:effectLst/>
                <a:latin typeface="Arial" panose="020B0604020202020204" pitchFamily="34" charset="0"/>
                <a:ea typeface="+mn-ea"/>
                <a:cs typeface="+mn-cs"/>
              </a:rPr>
              <a:t>&lt;click 2&gt;</a:t>
            </a:r>
          </a:p>
          <a:p>
            <a:pPr marL="0" indent="0">
              <a:buNone/>
            </a:pPr>
            <a:r>
              <a:rPr lang="en-US" sz="1200" kern="1200" dirty="0">
                <a:solidFill>
                  <a:schemeClr val="tx1"/>
                </a:solidFill>
                <a:effectLst/>
                <a:latin typeface="Arial" panose="020B0604020202020204" pitchFamily="34" charset="0"/>
                <a:ea typeface="+mn-ea"/>
                <a:cs typeface="+mn-cs"/>
              </a:rPr>
              <a:t>When application needs grow, scaling is easy.  In this example, we need to provide more capacity for a Private AI deployment.</a:t>
            </a:r>
          </a:p>
          <a:p>
            <a:pPr marL="0" indent="0">
              <a:buNone/>
            </a:pPr>
            <a:endParaRPr lang="en-US" sz="1200" kern="1200" dirty="0">
              <a:solidFill>
                <a:schemeClr val="tx1"/>
              </a:solidFill>
              <a:effectLst/>
              <a:latin typeface="Arial" panose="020B0604020202020204" pitchFamily="34" charset="0"/>
              <a:ea typeface="+mn-ea"/>
              <a:cs typeface="+mn-cs"/>
            </a:endParaRPr>
          </a:p>
          <a:p>
            <a:pPr marL="0" indent="0">
              <a:buNone/>
            </a:pPr>
            <a:r>
              <a:rPr lang="en-US" sz="1200" kern="1200" dirty="0">
                <a:solidFill>
                  <a:schemeClr val="tx1"/>
                </a:solidFill>
                <a:effectLst/>
                <a:latin typeface="Arial" panose="020B0604020202020204" pitchFamily="34" charset="0"/>
                <a:ea typeface="+mn-ea"/>
                <a:cs typeface="+mn-cs"/>
              </a:rPr>
              <a:t>&lt;click 3&gt; </a:t>
            </a:r>
          </a:p>
          <a:p>
            <a:pPr marL="0" indent="0">
              <a:buNone/>
            </a:pPr>
            <a:r>
              <a:rPr lang="en-US" sz="1200" kern="1200" dirty="0">
                <a:solidFill>
                  <a:schemeClr val="tx1"/>
                </a:solidFill>
                <a:effectLst/>
                <a:latin typeface="Arial" panose="020B0604020202020204" pitchFamily="34" charset="0"/>
                <a:ea typeface="+mn-ea"/>
                <a:cs typeface="+mn-cs"/>
              </a:rPr>
              <a:t>The VCF admin first commissions new hosts into the Cloud Foundation inventory. </a:t>
            </a:r>
          </a:p>
          <a:p>
            <a:pPr marL="0" indent="0">
              <a:buNone/>
            </a:pPr>
            <a:endParaRPr lang="en-US" sz="1200" kern="1200" dirty="0">
              <a:solidFill>
                <a:schemeClr val="tx1"/>
              </a:solidFill>
              <a:effectLst/>
              <a:latin typeface="Arial" panose="020B0604020202020204" pitchFamily="34" charset="0"/>
              <a:ea typeface="+mn-ea"/>
              <a:cs typeface="+mn-cs"/>
            </a:endParaRPr>
          </a:p>
          <a:p>
            <a:pPr marL="0" indent="0">
              <a:buNone/>
            </a:pPr>
            <a:r>
              <a:rPr lang="en-US" sz="1200" kern="1200" dirty="0">
                <a:solidFill>
                  <a:schemeClr val="tx1"/>
                </a:solidFill>
                <a:effectLst/>
                <a:latin typeface="Arial" panose="020B0604020202020204" pitchFamily="34" charset="0"/>
                <a:ea typeface="+mn-ea"/>
                <a:cs typeface="+mn-cs"/>
              </a:rPr>
              <a:t>&lt;click 4&gt;</a:t>
            </a:r>
          </a:p>
          <a:p>
            <a:pPr marL="0" indent="0">
              <a:buNone/>
            </a:pPr>
            <a:r>
              <a:rPr lang="en-US" sz="1200" kern="1200" dirty="0">
                <a:solidFill>
                  <a:schemeClr val="tx1"/>
                </a:solidFill>
                <a:effectLst/>
                <a:latin typeface="Arial" panose="020B0604020202020204" pitchFamily="34" charset="0"/>
                <a:ea typeface="+mn-ea"/>
                <a:cs typeface="+mn-cs"/>
              </a:rPr>
              <a:t>The new hosts are then added as capacity into the workload domain configured for Private AI.  The hosts can be used to scale an existing cluster, or they can be added to create an entirely new cluster.</a:t>
            </a:r>
          </a:p>
          <a:p>
            <a:pPr marL="0" indent="0">
              <a:buNone/>
            </a:pPr>
            <a:endParaRPr lang="en-US" sz="1200" kern="1200" dirty="0">
              <a:solidFill>
                <a:schemeClr val="tx1"/>
              </a:solidFill>
              <a:effectLst/>
              <a:latin typeface="Arial" panose="020B0604020202020204" pitchFamily="34" charset="0"/>
              <a:ea typeface="+mn-ea"/>
              <a:cs typeface="+mn-cs"/>
            </a:endParaRPr>
          </a:p>
          <a:p>
            <a:pPr marL="0" indent="0">
              <a:buNone/>
            </a:pPr>
            <a:r>
              <a:rPr lang="en-US" sz="1200" kern="1200" dirty="0">
                <a:solidFill>
                  <a:schemeClr val="tx1"/>
                </a:solidFill>
                <a:effectLst/>
                <a:latin typeface="Arial" panose="020B0604020202020204" pitchFamily="34" charset="0"/>
                <a:ea typeface="+mn-ea"/>
                <a:cs typeface="+mn-cs"/>
              </a:rPr>
              <a:t>&lt;click 5&gt;</a:t>
            </a:r>
          </a:p>
          <a:p>
            <a:pPr marL="0" indent="0">
              <a:buNone/>
            </a:pPr>
            <a:r>
              <a:rPr lang="en-US" sz="1200" kern="1200" dirty="0">
                <a:solidFill>
                  <a:schemeClr val="tx1"/>
                </a:solidFill>
                <a:effectLst/>
                <a:latin typeface="Arial" panose="020B0604020202020204" pitchFamily="34" charset="0"/>
                <a:ea typeface="+mn-ea"/>
                <a:cs typeface="+mn-cs"/>
              </a:rPr>
              <a:t>Workload domains can be deployed in a stretched configuration across two (2) data centers to support active-active availability.  They can also be provisioned</a:t>
            </a:r>
            <a:r>
              <a:rPr lang="en-US" sz="1200" strike="noStrike" kern="1200" dirty="0">
                <a:solidFill>
                  <a:schemeClr val="tx1"/>
                </a:solidFill>
                <a:effectLst/>
                <a:latin typeface="Arial" panose="020B0604020202020204" pitchFamily="34" charset="0"/>
                <a:ea typeface="+mn-ea"/>
                <a:cs typeface="+mn-cs"/>
              </a:rPr>
              <a:t> to</a:t>
            </a:r>
            <a:r>
              <a:rPr lang="en-US" sz="1200" kern="1200" dirty="0">
                <a:solidFill>
                  <a:schemeClr val="tx1"/>
                </a:solidFill>
                <a:effectLst/>
                <a:latin typeface="Arial" panose="020B0604020202020204" pitchFamily="34" charset="0"/>
                <a:ea typeface="+mn-ea"/>
                <a:cs typeface="+mn-cs"/>
              </a:rPr>
              <a:t> support remote edge topologies.</a:t>
            </a:r>
          </a:p>
          <a:p>
            <a:endParaRPr lang="en-US" sz="1200" kern="1200" dirty="0">
              <a:solidFill>
                <a:schemeClr val="tx1"/>
              </a:solidFill>
              <a:effectLst/>
              <a:latin typeface="Arial" panose="020B0604020202020204" pitchFamily="34" charset="0"/>
              <a:ea typeface="+mn-ea"/>
              <a:cs typeface="+mn-cs"/>
            </a:endParaRPr>
          </a:p>
          <a:p>
            <a:pPr marL="0" indent="0">
              <a:buNone/>
            </a:pPr>
            <a:r>
              <a:rPr lang="en-US" sz="1200" b="1" dirty="0">
                <a:solidFill>
                  <a:schemeClr val="tx1"/>
                </a:solidFill>
                <a:latin typeface="Arial" panose="020B0604020202020204" pitchFamily="34" charset="0"/>
              </a:rPr>
              <a:t>Notes:</a:t>
            </a:r>
          </a:p>
          <a:p>
            <a:pPr marL="171450" indent="-171450">
              <a:buFontTx/>
              <a:buChar char="-"/>
            </a:pPr>
            <a:r>
              <a:rPr lang="en-US" sz="1200" kern="1200" dirty="0">
                <a:solidFill>
                  <a:schemeClr val="tx1"/>
                </a:solidFill>
                <a:effectLst/>
                <a:latin typeface="Arial" panose="020B0604020202020204" pitchFamily="34" charset="0"/>
                <a:ea typeface="+mn-ea"/>
                <a:cs typeface="+mn-cs"/>
              </a:rPr>
              <a:t>There are many use cases for creating a separate Workload Domain.</a:t>
            </a:r>
          </a:p>
          <a:p>
            <a:pPr marL="171450" indent="-171450">
              <a:buFontTx/>
              <a:buChar char="-"/>
            </a:pPr>
            <a:r>
              <a:rPr lang="en-US" sz="1200" kern="1200" dirty="0">
                <a:solidFill>
                  <a:schemeClr val="tx1"/>
                </a:solidFill>
                <a:effectLst/>
                <a:latin typeface="Arial" panose="020B0604020202020204" pitchFamily="34" charset="0"/>
                <a:ea typeface="+mn-ea"/>
                <a:cs typeface="+mn-cs"/>
              </a:rPr>
              <a:t>Workload domains can be used as a way of allocating infrastructure for different business functions, separating application types or perhaps separating licensed features.</a:t>
            </a:r>
          </a:p>
          <a:p>
            <a:pPr marL="171450" indent="-171450">
              <a:buFontTx/>
              <a:buChar char="-"/>
            </a:pPr>
            <a:r>
              <a:rPr lang="en-US" sz="1200" kern="1200" dirty="0">
                <a:solidFill>
                  <a:schemeClr val="tx1"/>
                </a:solidFill>
                <a:effectLst/>
                <a:latin typeface="Arial" panose="020B0604020202020204" pitchFamily="34" charset="0"/>
                <a:ea typeface="+mn-ea"/>
                <a:cs typeface="+mn-cs"/>
              </a:rPr>
              <a:t>Workload domains are the primary building blocks of VMware Cloud Foundation.  They can be independently created, scaled, lifecycle managed or deleted.</a:t>
            </a:r>
          </a:p>
          <a:p>
            <a:pPr marL="0" indent="0">
              <a:buNone/>
            </a:pPr>
            <a:endParaRPr lang="en-US" sz="1200" dirty="0">
              <a:solidFill>
                <a:schemeClr val="tx1"/>
              </a:solidFill>
              <a:latin typeface="Arial" panose="020B0604020202020204" pitchFamily="34" charset="0"/>
            </a:endParaRPr>
          </a:p>
          <a:p>
            <a:pPr marL="0" indent="0">
              <a:buNone/>
            </a:pPr>
            <a:r>
              <a:rPr lang="en-US" sz="1200" b="1" u="none" strike="noStrike" kern="1200" dirty="0">
                <a:solidFill>
                  <a:schemeClr val="tx1"/>
                </a:solidFill>
                <a:effectLst/>
                <a:latin typeface="Arial" panose="020B0604020202020204" pitchFamily="34" charset="0"/>
                <a:ea typeface="+mn-ea"/>
                <a:cs typeface="+mn-cs"/>
              </a:rPr>
              <a:t>Resources:</a:t>
            </a:r>
            <a:endParaRPr lang="en-US" sz="1200" b="1" dirty="0">
              <a:solidFill>
                <a:schemeClr val="tx1"/>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Arial" panose="020B0604020202020204" pitchFamily="34" charset="0"/>
              </a:rPr>
              <a:t>Please refer to the VCF </a:t>
            </a:r>
            <a:r>
              <a:rPr lang="en-US" sz="1200" dirty="0" err="1">
                <a:solidFill>
                  <a:schemeClr val="tx1"/>
                </a:solidFill>
                <a:latin typeface="Arial" panose="020B0604020202020204" pitchFamily="34" charset="0"/>
              </a:rPr>
              <a:t>Configmax</a:t>
            </a:r>
            <a:r>
              <a:rPr lang="en-US" sz="1200" dirty="0">
                <a:solidFill>
                  <a:schemeClr val="tx1"/>
                </a:solidFill>
                <a:latin typeface="Arial" panose="020B0604020202020204" pitchFamily="34" charset="0"/>
              </a:rPr>
              <a:t> for the minimum number of hosts required when deploying a new workload domain or cluster.</a:t>
            </a:r>
            <a:br>
              <a:rPr lang="en-US" sz="1200" dirty="0">
                <a:solidFill>
                  <a:schemeClr val="tx1"/>
                </a:solidFill>
                <a:latin typeface="Arial" panose="020B0604020202020204" pitchFamily="34" charset="0"/>
              </a:rPr>
            </a:br>
            <a:r>
              <a:rPr lang="en-AU" dirty="0">
                <a:effectLst/>
                <a:latin typeface="Helvetica Neue" panose="02000503000000020004" pitchFamily="2" charset="0"/>
                <a:hlinkClick r:id="rId3"/>
              </a:rPr>
              <a:t>https://configmax.broadcom.com/home</a:t>
            </a:r>
            <a:r>
              <a:rPr lang="en-AU" dirty="0">
                <a:effectLst/>
                <a:latin typeface="Helvetica Neue" panose="02000503000000020004" pitchFamily="2" charset="0"/>
              </a:rPr>
              <a:t> </a:t>
            </a:r>
          </a:p>
          <a:p>
            <a:pPr marL="0" indent="0">
              <a:buNone/>
            </a:pPr>
            <a:br>
              <a:rPr lang="en-US" sz="1200" dirty="0">
                <a:solidFill>
                  <a:schemeClr val="tx1"/>
                </a:solidFill>
                <a:latin typeface="Arial" panose="020B0604020202020204" pitchFamily="34" charset="0"/>
              </a:rPr>
            </a:br>
            <a:endParaRPr lang="en-US" sz="1200" dirty="0">
              <a:solidFill>
                <a:schemeClr val="tx1"/>
              </a:solidFill>
              <a:latin typeface="Arial" panose="020B0604020202020204" pitchFamily="34" charset="0"/>
            </a:endParaRPr>
          </a:p>
          <a:p>
            <a:pPr marL="0" indent="0">
              <a:buNone/>
            </a:pPr>
            <a:endParaRPr lang="en-US" sz="1200" dirty="0">
              <a:solidFill>
                <a:schemeClr val="tx1"/>
              </a:solidFill>
              <a:latin typeface="Arial" panose="020B0604020202020204" pitchFamily="34" charset="0"/>
            </a:endParaRPr>
          </a:p>
          <a:p>
            <a:pPr marL="0" indent="0">
              <a:buNone/>
            </a:pPr>
            <a:endParaRPr lang="en-US" sz="1200" dirty="0">
              <a:solidFill>
                <a:schemeClr val="tx1"/>
              </a:solidFill>
              <a:latin typeface="Arial" panose="020B0604020202020204" pitchFamily="34" charset="0"/>
            </a:endParaRPr>
          </a:p>
          <a:p>
            <a:pPr marL="0" indent="0">
              <a:buNone/>
            </a:pPr>
            <a:endParaRPr lang="en-US" sz="1200" dirty="0">
              <a:solidFill>
                <a:schemeClr val="tx1"/>
              </a:solidFill>
              <a:latin typeface="Arial" panose="020B0604020202020204" pitchFamily="34" charset="0"/>
            </a:endParaRPr>
          </a:p>
          <a:p>
            <a:endParaRPr lang="en-US" dirty="0">
              <a:latin typeface="Arial" panose="020B0604020202020204" pitchFamily="34" charset="0"/>
            </a:endParaRPr>
          </a:p>
          <a:p>
            <a:pPr marL="0" indent="0">
              <a:buNone/>
            </a:pPr>
            <a:endParaRPr lang="en-US" sz="1200" dirty="0">
              <a:solidFill>
                <a:schemeClr val="tx1"/>
              </a:solidFill>
              <a:latin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4300914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31F3C-4898-9D39-EC06-38D1051658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3304A-84DE-BBC9-48D1-624AD1A643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68C938-09AC-039A-3800-FEE0536C930D}"/>
              </a:ext>
            </a:extLst>
          </p:cNvPr>
          <p:cNvSpPr>
            <a:spLocks noGrp="1"/>
          </p:cNvSpPr>
          <p:nvPr>
            <p:ph type="body" idx="1"/>
          </p:nvPr>
        </p:nvSpPr>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ea typeface="+mn-ea"/>
                <a:cs typeface="+mn-cs"/>
              </a:rPr>
              <a:t>Presenter Note – this slide contains animation.</a:t>
            </a:r>
          </a:p>
          <a:p>
            <a:pPr marL="0" indent="0">
              <a:buNone/>
            </a:pPr>
            <a:endParaRPr lang="en-US" sz="1200" b="1" dirty="0">
              <a:solidFill>
                <a:schemeClr val="tx1"/>
              </a:solidFill>
              <a:latin typeface="Arial" panose="020B0604020202020204" pitchFamily="34" charset="0"/>
            </a:endParaRPr>
          </a:p>
          <a:p>
            <a:r>
              <a:rPr lang="en-US" b="1" dirty="0"/>
              <a:t>Key Message:</a:t>
            </a:r>
            <a:br>
              <a:rPr lang="en-US" dirty="0"/>
            </a:br>
            <a:r>
              <a:rPr lang="en-US" dirty="0"/>
              <a:t>VCF Architecture can be defined following three (3) private cloud constructs.</a:t>
            </a:r>
            <a:br>
              <a:rPr lang="en-US" dirty="0"/>
            </a:br>
            <a:br>
              <a:rPr lang="en-US" dirty="0"/>
            </a:br>
            <a:r>
              <a:rPr lang="en-US" b="1" dirty="0"/>
              <a:t>Talk Track:</a:t>
            </a:r>
            <a:br>
              <a:rPr lang="en-US" dirty="0"/>
            </a:br>
            <a:r>
              <a:rPr lang="en-US" dirty="0"/>
              <a:t>In order to understand the constructs of a VCF Private Cloud, you need to be familiar with VCF Instances and VCF Fleets.</a:t>
            </a:r>
            <a:br>
              <a:rPr lang="en-US" dirty="0"/>
            </a:br>
            <a:br>
              <a:rPr lang="en-US" dirty="0"/>
            </a:br>
            <a:r>
              <a:rPr lang="en-US" dirty="0"/>
              <a:t>The first vSphere cluster of a VCF instance is configured as part of a management domain and is used to host the management components. The SDDC Manager appliance is deployed to the management domain.</a:t>
            </a:r>
          </a:p>
          <a:p>
            <a:endParaRPr lang="en-US" dirty="0"/>
          </a:p>
          <a:p>
            <a:r>
              <a:rPr lang="en-US" dirty="0"/>
              <a:t>&lt;click 1&gt;</a:t>
            </a:r>
          </a:p>
          <a:p>
            <a:r>
              <a:rPr lang="en-US" dirty="0"/>
              <a:t>Additional workload domains can be created to scale a deployment which are each configured with their own vCenter server and a single or shared NSX instance.  </a:t>
            </a:r>
          </a:p>
          <a:p>
            <a:endParaRPr lang="en-US" dirty="0"/>
          </a:p>
          <a:p>
            <a:r>
              <a:rPr lang="en-US" dirty="0"/>
              <a:t>&lt;click 2&gt;</a:t>
            </a:r>
          </a:p>
          <a:p>
            <a:r>
              <a:rPr lang="en-US" dirty="0"/>
              <a:t>A VCF Fleet can be comprised of one of more VCF instances and is managed by a single set of fleet-level management components. Fleet management components comprise of a single instance of VCF Operations and a single instance of VCF Automation.  The VCF Operations and VCF Automation instances can be used across all domains within a VCF instance and across one or more VCF instances.  A VCF Fleet can be deployed across a single region or a dual region deployment.</a:t>
            </a:r>
          </a:p>
          <a:p>
            <a:endParaRPr lang="en-US" dirty="0"/>
          </a:p>
          <a:p>
            <a:r>
              <a:rPr lang="en-US" dirty="0"/>
              <a:t>&lt;click 3&gt;</a:t>
            </a:r>
          </a:p>
          <a:p>
            <a:r>
              <a:rPr lang="en-US" dirty="0"/>
              <a:t>A VCF Private Cloud is the highest level of management and consumption for the underlying software defined data center resources.  A VCF Private Cloud can contain one of more VCF Fleets.</a:t>
            </a:r>
            <a:br>
              <a:rPr lang="en-US" dirty="0"/>
            </a:br>
            <a:br>
              <a:rPr lang="en-US" dirty="0"/>
            </a:br>
            <a:r>
              <a:rPr lang="en-US" b="1" dirty="0"/>
              <a:t>Notes:</a:t>
            </a:r>
          </a:p>
          <a:p>
            <a:endParaRPr lang="en-US" dirty="0"/>
          </a:p>
          <a:p>
            <a:r>
              <a:rPr lang="en-US" b="1" dirty="0"/>
              <a:t>Resources: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Arial" panose="020B0604020202020204" pitchFamily="34" charset="0"/>
                <a:ea typeface="+mn-ea"/>
                <a:cs typeface="+mn-cs"/>
              </a:rPr>
              <a:t>Refer to the VMware Cloud Foundation Design Guide for further information</a:t>
            </a:r>
            <a:br>
              <a:rPr lang="en-US" sz="1200" b="0" u="none" strike="noStrike" kern="1200" dirty="0">
                <a:solidFill>
                  <a:schemeClr val="tx1"/>
                </a:solidFill>
                <a:effectLst/>
                <a:latin typeface="Arial" panose="020B0604020202020204" pitchFamily="34" charset="0"/>
                <a:ea typeface="+mn-ea"/>
                <a:cs typeface="+mn-cs"/>
              </a:rPr>
            </a:br>
            <a:r>
              <a:rPr lang="en-AU" dirty="0">
                <a:effectLst/>
                <a:latin typeface="Helvetica Neue" panose="02000503000000020004" pitchFamily="2" charset="0"/>
                <a:hlinkClick r:id="rId3"/>
              </a:rPr>
              <a:t>https://techdocs.broadcom.com/us/en/vmware-cis/vcf.html</a:t>
            </a:r>
            <a:r>
              <a:rPr lang="en-AU" dirty="0">
                <a:effectLst/>
                <a:latin typeface="Helvetica Neue" panose="02000503000000020004" pitchFamily="2" charset="0"/>
              </a:rPr>
              <a:t> </a:t>
            </a:r>
          </a:p>
          <a:p>
            <a:endParaRPr lang="en-US" b="1" dirty="0"/>
          </a:p>
        </p:txBody>
      </p:sp>
      <p:sp>
        <p:nvSpPr>
          <p:cNvPr id="4" name="Slide Number Placeholder 3">
            <a:extLst>
              <a:ext uri="{FF2B5EF4-FFF2-40B4-BE49-F238E27FC236}">
                <a16:creationId xmlns:a16="http://schemas.microsoft.com/office/drawing/2014/main" id="{FE9301D1-A843-E81E-8475-B4357528A6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20695509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80AA4-5310-6381-1380-7BC06AA54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DB2D7-57BD-8255-4763-283B298E56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15682C-263F-CC60-C55C-258394F73496}"/>
              </a:ext>
            </a:extLst>
          </p:cNvPr>
          <p:cNvSpPr>
            <a:spLocks noGrp="1"/>
          </p:cNvSpPr>
          <p:nvPr>
            <p:ph type="body" idx="1"/>
          </p:nvPr>
        </p:nvSpPr>
        <p:spPr/>
        <p:txBody>
          <a:bodyPr>
            <a:normAutofit fontScale="4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strike="noStrike" kern="1200" baseline="0" dirty="0">
                <a:solidFill>
                  <a:schemeClr val="tx1"/>
                </a:solidFill>
                <a:effectLst/>
                <a:latin typeface="Arial" panose="020B0604020202020204" pitchFamily="34" charset="0"/>
                <a:ea typeface="+mn-ea"/>
                <a:cs typeface="+mn-cs"/>
              </a:rPr>
              <a:t>Key Message: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strike="noStrike" kern="1200" baseline="0" dirty="0">
                <a:solidFill>
                  <a:schemeClr val="tx1"/>
                </a:solidFill>
                <a:effectLst/>
                <a:latin typeface="Arial" panose="020B0604020202020204" pitchFamily="34" charset="0"/>
                <a:ea typeface="+mn-ea"/>
                <a:cs typeface="+mn-cs"/>
              </a:rPr>
              <a:t>Cloud F</a:t>
            </a:r>
            <a:r>
              <a:rPr lang="en-US" sz="1200" u="none" kern="1200" dirty="0" err="1">
                <a:solidFill>
                  <a:schemeClr val="tx1"/>
                </a:solidFill>
                <a:effectLst/>
                <a:latin typeface="Arial" panose="020B0604020202020204" pitchFamily="34" charset="0"/>
                <a:ea typeface="+mn-ea"/>
                <a:cs typeface="+mn-cs"/>
              </a:rPr>
              <a:t>oundation</a:t>
            </a:r>
            <a:r>
              <a:rPr lang="en-US" sz="1200" u="none" kern="1200" dirty="0">
                <a:solidFill>
                  <a:schemeClr val="tx1"/>
                </a:solidFill>
                <a:effectLst/>
                <a:latin typeface="Arial" panose="020B0604020202020204" pitchFamily="34" charset="0"/>
                <a:ea typeface="+mn-ea"/>
                <a:cs typeface="+mn-cs"/>
              </a:rPr>
              <a:t> workload domains and clusters can be deployed and configured in different ways.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kern="1200" dirty="0">
                <a:solidFill>
                  <a:schemeClr val="tx1"/>
                </a:solidFill>
                <a:effectLst/>
                <a:latin typeface="Arial" panose="020B0604020202020204" pitchFamily="34" charset="0"/>
                <a:ea typeface="+mn-ea"/>
                <a:cs typeface="+mn-cs"/>
              </a:rPr>
              <a:t>Talk Track:</a:t>
            </a: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kern="1200" dirty="0">
                <a:solidFill>
                  <a:schemeClr val="tx1"/>
                </a:solidFill>
                <a:effectLst/>
                <a:latin typeface="Arial" panose="020B0604020202020204" pitchFamily="34" charset="0"/>
                <a:ea typeface="+mn-ea"/>
                <a:cs typeface="+mn-cs"/>
              </a:rPr>
              <a:t>Cloud </a:t>
            </a:r>
            <a:r>
              <a:rPr lang="en-US" sz="1200" kern="1200" dirty="0">
                <a:solidFill>
                  <a:schemeClr val="tx1"/>
                </a:solidFill>
                <a:effectLst/>
                <a:latin typeface="Arial" panose="020B0604020202020204" pitchFamily="34" charset="0"/>
                <a:ea typeface="+mn-ea"/>
                <a:cs typeface="+mn-cs"/>
              </a:rPr>
              <a:t>Foundation caters to a mix of different deployment options to support a large variety of customer scenarios.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kern="1200" dirty="0">
                <a:solidFill>
                  <a:schemeClr val="tx1"/>
                </a:solidFill>
                <a:effectLst/>
                <a:latin typeface="Arial" panose="020B0604020202020204" pitchFamily="34" charset="0"/>
                <a:ea typeface="+mn-ea"/>
                <a:cs typeface="+mn-cs"/>
              </a:rPr>
              <a:t>A</a:t>
            </a:r>
            <a:r>
              <a:rPr lang="en-US" sz="1200" kern="1200" dirty="0">
                <a:solidFill>
                  <a:schemeClr val="tx1"/>
                </a:solidFill>
                <a:effectLst/>
                <a:latin typeface="Arial" panose="020B0604020202020204" pitchFamily="34" charset="0"/>
                <a:ea typeface="+mn-ea"/>
                <a:cs typeface="+mn-cs"/>
              </a:rPr>
              <a:t> standardized architecture caters to customers who wish to separate their workloads from management components.  Workload domains are deployed to separate hardware running their own separate vCenter server and NSX Manager instances.  Workload domains are each configured with their own SSO instance.  Once a domain is created vCenter Linking can later be configured from VCF Operations.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&lt;click 1&gt;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Arial" panose="020B0604020202020204" pitchFamily="34" charset="0"/>
                <a:ea typeface="+mn-ea"/>
                <a:cs typeface="+mn-cs"/>
              </a:rPr>
              <a:t>For smaller deployments, VCF c</a:t>
            </a:r>
            <a:r>
              <a:rPr lang="en-US" sz="1200" kern="1200" dirty="0">
                <a:solidFill>
                  <a:schemeClr val="tx1"/>
                </a:solidFill>
                <a:effectLst/>
                <a:latin typeface="Arial" panose="020B0604020202020204" pitchFamily="34" charset="0"/>
                <a:ea typeface="+mn-ea"/>
                <a:cs typeface="+mn-cs"/>
              </a:rPr>
              <a:t>an be deployed with just a single management domain.  A consolidated deployment contains the management components and is also used to run customer workloads which can be configured on separate clusters.  Resource pools are configured to separate host resources for management and customer workloads.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&lt;click 2&gt;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Workload domains can be deployed across one or more racks within an availability zone.  Clusters can be configured as standard clusters within a single rack…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&lt;click 3&gt;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 or across multiple racks when layer 3 networking is in-place between the racks.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&lt;click 4&gt;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vSAN </a:t>
            </a:r>
            <a:r>
              <a:rPr lang="en-AU" sz="1200" kern="1200" dirty="0">
                <a:solidFill>
                  <a:schemeClr val="tx1"/>
                </a:solidFill>
                <a:effectLst/>
                <a:latin typeface="Arial" panose="020B0604020202020204" pitchFamily="34" charset="0"/>
                <a:ea typeface="+mn-ea"/>
                <a:cs typeface="+mn-cs"/>
              </a:rPr>
              <a:t>stretched clusters can be configured across </a:t>
            </a:r>
            <a:r>
              <a:rPr lang="en-AU" dirty="0">
                <a:effectLst/>
                <a:latin typeface="Arial" panose="020B0604020202020204" pitchFamily="34" charset="0"/>
              </a:rPr>
              <a:t>two (2) sites for active-active availability.   </a:t>
            </a:r>
            <a:r>
              <a:rPr lang="en-US" sz="1200" dirty="0">
                <a:solidFill>
                  <a:schemeClr val="dk2"/>
                </a:solidFill>
                <a:latin typeface="Arial" panose="020B0604020202020204" pitchFamily="34" charset="0"/>
              </a:rPr>
              <a:t>Availability Zones are configured as fault domains that protects VMs in a vSphere cluster leveraging vSAN replication.  vSAN Stretched cluster protects VMs against partial host failures within the clusters, within a single data center and can be used to extend to multiple nearby facilities or buildings.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err="1">
                <a:effectLst/>
                <a:latin typeface="Arial" panose="020B0604020202020204" pitchFamily="34" charset="0"/>
              </a:rPr>
              <a:t>vSAN</a:t>
            </a:r>
            <a:r>
              <a:rPr lang="en-AU" dirty="0">
                <a:effectLst/>
                <a:latin typeface="Arial" panose="020B0604020202020204" pitchFamily="34" charset="0"/>
              </a:rPr>
              <a:t> stretched clusters can be useful for: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AU" dirty="0">
                <a:effectLst/>
                <a:latin typeface="Arial" panose="020B0604020202020204" pitchFamily="34" charset="0"/>
              </a:rPr>
              <a:t>Performing planned maintenance on an availability zone without any downtime.  Each availability zone is configured as a fault domain.  Applications can be migrated back after the maintenance is completed.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AU" dirty="0">
                <a:effectLst/>
                <a:latin typeface="Arial" panose="020B0604020202020204" pitchFamily="34" charset="0"/>
              </a:rPr>
              <a:t>Stretching a cluster automatically initiates VM restart and recovery in the case of unplanned failures in either site.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AU" dirty="0">
                <a:effectLst/>
                <a:latin typeface="Arial" panose="020B0604020202020204" pitchFamily="34" charset="0"/>
              </a:rPr>
              <a:t>Disaster avoidance by preventing service outages before an impending disaster.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AU"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effectLst/>
                <a:latin typeface="Arial" panose="020B0604020202020204" pitchFamily="34" charset="0"/>
              </a:rPr>
              <a:t>&lt;click 5&gt;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err="1">
                <a:effectLst/>
                <a:latin typeface="Arial" panose="020B0604020202020204" pitchFamily="34" charset="0"/>
              </a:rPr>
              <a:t>vSAN</a:t>
            </a:r>
            <a:r>
              <a:rPr lang="en-AU" dirty="0">
                <a:effectLst/>
                <a:latin typeface="Arial" panose="020B0604020202020204" pitchFamily="34" charset="0"/>
              </a:rPr>
              <a:t> Storage clusters (formerly </a:t>
            </a:r>
            <a:r>
              <a:rPr lang="en-AU" dirty="0" err="1">
                <a:effectLst/>
                <a:latin typeface="Arial" panose="020B0604020202020204" pitchFamily="34" charset="0"/>
              </a:rPr>
              <a:t>vSAN</a:t>
            </a:r>
            <a:r>
              <a:rPr lang="en-AU" dirty="0">
                <a:effectLst/>
                <a:latin typeface="Arial" panose="020B0604020202020204" pitchFamily="34" charset="0"/>
              </a:rPr>
              <a:t> Max) can also be used to </a:t>
            </a:r>
            <a:r>
              <a:rPr lang="en-AU" b="0" i="0" dirty="0">
                <a:solidFill>
                  <a:srgbClr val="545D7E"/>
                </a:solidFill>
                <a:effectLst/>
                <a:latin typeface="Google Sans"/>
              </a:rPr>
              <a:t>provide highly scalable and flexible disaggregated storage for vSphere clusters, either as primary storage or to augment traditional </a:t>
            </a:r>
            <a:r>
              <a:rPr lang="en-AU" b="0" i="0" dirty="0" err="1">
                <a:solidFill>
                  <a:srgbClr val="545D7E"/>
                </a:solidFill>
                <a:effectLst/>
                <a:latin typeface="Google Sans"/>
              </a:rPr>
              <a:t>vSAN</a:t>
            </a:r>
            <a:r>
              <a:rPr lang="en-AU" b="0" i="0" dirty="0">
                <a:solidFill>
                  <a:srgbClr val="545D7E"/>
                </a:solidFill>
                <a:effectLst/>
                <a:latin typeface="Google Sans"/>
              </a:rPr>
              <a:t> HCI clusters.  </a:t>
            </a:r>
            <a:r>
              <a:rPr lang="en-AU" b="0" i="0" dirty="0" err="1">
                <a:solidFill>
                  <a:srgbClr val="545D7E"/>
                </a:solidFill>
                <a:effectLst/>
                <a:latin typeface="Google Sans"/>
              </a:rPr>
              <a:t>vSAN</a:t>
            </a:r>
            <a:r>
              <a:rPr lang="en-AU" b="0" i="0" dirty="0">
                <a:solidFill>
                  <a:srgbClr val="545D7E"/>
                </a:solidFill>
                <a:effectLst/>
                <a:latin typeface="Google Sans"/>
              </a:rPr>
              <a:t> Compute clusters </a:t>
            </a:r>
            <a:r>
              <a:rPr lang="en-AU" b="0" i="0" dirty="0" err="1">
                <a:solidFill>
                  <a:srgbClr val="545D7E"/>
                </a:solidFill>
                <a:effectLst/>
                <a:latin typeface="Google Sans"/>
              </a:rPr>
              <a:t>caan</a:t>
            </a:r>
            <a:r>
              <a:rPr lang="en-AU" b="0" i="0" dirty="0">
                <a:solidFill>
                  <a:srgbClr val="545D7E"/>
                </a:solidFill>
                <a:effectLst/>
                <a:latin typeface="Google Sans"/>
              </a:rPr>
              <a:t> also be configured to enable vSphere clusters (including non-</a:t>
            </a:r>
            <a:r>
              <a:rPr lang="en-AU" b="0" i="0" dirty="0" err="1">
                <a:solidFill>
                  <a:srgbClr val="545D7E"/>
                </a:solidFill>
                <a:effectLst/>
                <a:latin typeface="Google Sans"/>
              </a:rPr>
              <a:t>vSAN</a:t>
            </a:r>
            <a:r>
              <a:rPr lang="en-AU" b="0" i="0" dirty="0">
                <a:solidFill>
                  <a:srgbClr val="545D7E"/>
                </a:solidFill>
                <a:effectLst/>
                <a:latin typeface="Google Sans"/>
              </a:rPr>
              <a:t> clusters) to consume storage resources from a remote </a:t>
            </a:r>
            <a:r>
              <a:rPr lang="en-AU" b="0" i="0" dirty="0" err="1">
                <a:solidFill>
                  <a:srgbClr val="545D7E"/>
                </a:solidFill>
                <a:effectLst/>
                <a:latin typeface="Google Sans"/>
              </a:rPr>
              <a:t>vSAN</a:t>
            </a:r>
            <a:r>
              <a:rPr lang="en-AU" b="0" i="0" dirty="0">
                <a:solidFill>
                  <a:srgbClr val="545D7E"/>
                </a:solidFill>
                <a:effectLst/>
                <a:latin typeface="Google Sans"/>
              </a:rPr>
              <a:t> cluster.</a:t>
            </a: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Arial" panose="020B0604020202020204" pitchFamily="34" charset="0"/>
                <a:ea typeface="+mn-ea"/>
                <a:cs typeface="+mn-cs"/>
              </a:rPr>
              <a:t>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u="sng" dirty="0">
                <a:effectLst/>
                <a:latin typeface="Arial" panose="020B0604020202020204" pitchFamily="34" charset="0"/>
              </a:rPr>
              <a:t>Additional 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dk2"/>
                </a:solidFill>
                <a:latin typeface="Arial" panose="020B0604020202020204" pitchFamily="34" charset="0"/>
              </a:rPr>
              <a:t>A Multi-Availability Zone Deployment Architecture adds additional layer of protections as hosts can stretch among multiple Availability Zone and which provides workload protection if a single Availability Zone is compromised. At the heart of the Multi Availability Zone Deployment is NSX’s ability to create distributed logical networks that seamlessly extend across AZs. By abstracting network functions from underlying hardware, NSX enables organizations to establish consistent network policies and configurations regardless of the physical infrastructure’s location. This allows for the creation of virtual network segments that span multiple AZs.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kern="1200" dirty="0">
                <a:solidFill>
                  <a:schemeClr val="tx1"/>
                </a:solidFill>
                <a:effectLst/>
                <a:latin typeface="Arial" panose="020B0604020202020204" pitchFamily="34" charset="0"/>
                <a:ea typeface="+mn-ea"/>
                <a:cs typeface="+mn-cs"/>
              </a:rPr>
              <a:t>For further information on vCenter Linking please refer to Identity and Access Management section of this presentation.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vSAN</a:t>
            </a:r>
            <a:r>
              <a:rPr lang="en-US" sz="1200" u="none" kern="1200" dirty="0">
                <a:solidFill>
                  <a:schemeClr val="tx1"/>
                </a:solidFill>
                <a:effectLst/>
                <a:latin typeface="Arial" panose="020B0604020202020204" pitchFamily="34" charset="0"/>
                <a:ea typeface="+mn-ea"/>
                <a:cs typeface="+mn-cs"/>
              </a:rPr>
              <a:t> Stretched Cluster will be discussed in more detail in the Stretched Cluster section of this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kern="1200" dirty="0">
                <a:solidFill>
                  <a:schemeClr val="tx1"/>
                </a:solidFill>
                <a:effectLst/>
                <a:latin typeface="Arial" panose="020B0604020202020204" pitchFamily="34" charset="0"/>
                <a:ea typeface="+mn-ea"/>
                <a:cs typeface="+mn-cs"/>
              </a:rPr>
              <a:t>Resources:</a:t>
            </a:r>
            <a:endParaRPr lang="en-AU" sz="1200" b="1" strike="noStrike" kern="1200" baseline="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strike="noStrike" kern="1200" baseline="0" dirty="0">
                <a:solidFill>
                  <a:schemeClr val="tx1"/>
                </a:solidFill>
                <a:effectLst/>
                <a:latin typeface="Arial" panose="020B0604020202020204" pitchFamily="34" charset="0"/>
                <a:ea typeface="+mn-ea"/>
                <a:cs typeface="+mn-cs"/>
              </a:rPr>
              <a:t>Further detail on Cloud Foundation deployment options is covered in the </a:t>
            </a:r>
            <a:r>
              <a:rPr lang="en-US" sz="1200" baseline="0" dirty="0">
                <a:latin typeface="Arial" panose="020B0604020202020204" pitchFamily="34" charset="0"/>
              </a:rPr>
              <a:t>VMware Cloud Foundation Product Documentation – VMware Cloud Foundation Administration Guide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u="sng" kern="100" dirty="0">
                <a:solidFill>
                  <a:srgbClr val="0563C1"/>
                </a:solidFill>
                <a:effectLst/>
                <a:latin typeface="Arial" panose="020B0604020202020204" pitchFamily="34" charset="0"/>
                <a:ea typeface="Calibri" panose="020F0502020204030204" pitchFamily="34" charset="0"/>
                <a:cs typeface="Arial" panose="020B0604020202020204" pitchFamily="34" charset="0"/>
                <a:hlinkClick r:id="rId3"/>
              </a:rPr>
              <a:t>https://docs.vmware.com/en/VMware-Cloud-Foundation/index.html</a:t>
            </a:r>
            <a:r>
              <a:rPr lang="en-US" sz="1800" kern="100" dirty="0">
                <a:effectLst/>
                <a:latin typeface="Arial" panose="020B0604020202020204" pitchFamily="34" charset="0"/>
                <a:ea typeface="Calibri" panose="020F0502020204030204" pitchFamily="34" charset="0"/>
                <a:cs typeface="Arial" panose="020B0604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00" dirty="0">
              <a:effectLst/>
              <a:latin typeface="Arial" panose="020B0604020202020204" pitchFamily="34" charset="0"/>
              <a:ea typeface="Calibri" panose="020F0502020204030204" pitchFamily="34" charset="0"/>
              <a:cs typeface="Arial" panose="020B0604020202020204" pitchFamily="34" charset="0"/>
            </a:endParaRPr>
          </a:p>
          <a:p>
            <a:pPr marL="0" marR="0" algn="l">
              <a:spcBef>
                <a:spcPts val="0"/>
              </a:spcBef>
              <a:spcAft>
                <a:spcPts val="0"/>
              </a:spcAft>
            </a:pPr>
            <a:r>
              <a:rPr lang="en-AU" sz="1800" u="none" strike="noStrike" dirty="0">
                <a:solidFill>
                  <a:srgbClr val="000000"/>
                </a:solidFill>
                <a:effectLst/>
                <a:latin typeface="Arial" panose="020B0604020202020204" pitchFamily="34" charset="0"/>
              </a:rPr>
              <a:t>For further information on Cloud Foundation Deployment Options please refer to the VCF Design Guide</a:t>
            </a:r>
          </a:p>
          <a:p>
            <a:pPr marL="0" marR="0" algn="l">
              <a:spcBef>
                <a:spcPts val="0"/>
              </a:spcBef>
              <a:spcAft>
                <a:spcPts val="0"/>
              </a:spcAft>
            </a:pPr>
            <a:r>
              <a:rPr lang="en-AU" sz="1800" u="none" strike="noStrike" dirty="0">
                <a:solidFill>
                  <a:srgbClr val="000000"/>
                </a:solidFill>
                <a:effectLst/>
                <a:latin typeface="Arial" panose="020B0604020202020204" pitchFamily="34" charset="0"/>
                <a:ea typeface="Times New Roman" panose="02020603050405020304" pitchFamily="18" charset="0"/>
                <a:hlinkClick r:id="rId3"/>
              </a:rPr>
              <a:t>https://docs.vmware.com/en/VMware-Cloud-Foundation/index.html</a:t>
            </a:r>
            <a:r>
              <a:rPr lang="en-AU" sz="1800" dirty="0">
                <a:solidFill>
                  <a:srgbClr val="000000"/>
                </a:solidFill>
                <a:effectLst/>
                <a:latin typeface="Arial" panose="020B0604020202020204" pitchFamily="34" charset="0"/>
                <a:ea typeface="Times New Roman" panose="02020603050405020304" pitchFamily="18" charset="0"/>
              </a:rPr>
              <a:t> </a:t>
            </a:r>
            <a:endParaRPr lang="en-AU" sz="1800" u="none" strike="noStrike" dirty="0">
              <a:solidFill>
                <a:srgbClr val="000000"/>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kern="100" dirty="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r>
              <a:rPr lang="en-US" sz="1000" kern="1200" dirty="0">
                <a:solidFill>
                  <a:schemeClr val="tx1"/>
                </a:solidFill>
                <a:effectLst/>
                <a:latin typeface="Arial" panose="020B0604020202020204" pitchFamily="34" charset="0"/>
                <a:ea typeface="+mn-ea"/>
                <a:cs typeface="+mn-cs"/>
              </a:rPr>
              <a:t> </a:t>
            </a:r>
            <a:endParaRPr lang="en-US" sz="1000" u="none" kern="1200" dirty="0">
              <a:solidFill>
                <a:schemeClr val="tx1"/>
              </a:solidFill>
              <a:effectLst/>
              <a:latin typeface="Arial" panose="020B0604020202020204" pitchFamily="34" charset="0"/>
              <a:ea typeface="+mn-ea"/>
              <a:cs typeface="+mn-cs"/>
            </a:endParaRPr>
          </a:p>
          <a:p>
            <a:endParaRPr lang="en-US" dirty="0">
              <a:latin typeface="Arial" panose="020B0604020202020204" pitchFamily="34" charset="0"/>
            </a:endParaRPr>
          </a:p>
          <a:p>
            <a:endParaRPr lang="en-US" dirty="0">
              <a:latin typeface="Arial" panose="020B0604020202020204" pitchFamily="34" charset="0"/>
            </a:endParaRPr>
          </a:p>
          <a:p>
            <a:endParaRPr lang="en-US" dirty="0">
              <a:latin typeface="Arial" panose="020B0604020202020204" pitchFamily="34" charset="0"/>
            </a:endParaRPr>
          </a:p>
          <a:p>
            <a:endParaRPr lang="en-US" dirty="0">
              <a:latin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578397B0-332C-DE57-9A1E-48310DDC2A95}"/>
              </a:ext>
            </a:extLst>
          </p:cNvPr>
          <p:cNvSpPr>
            <a:spLocks noGrp="1"/>
          </p:cNvSpPr>
          <p:nvPr>
            <p:ph type="sldNum" sz="quarter" idx="5"/>
          </p:nvPr>
        </p:nvSpPr>
        <p:spPr/>
        <p:txBody>
          <a:bodyPr/>
          <a:lstStyle/>
          <a:p>
            <a:fld id="{9F4FBC3A-A12C-40F9-BB8D-BC30C7901396}" type="slidenum">
              <a:rPr lang="en-US" smtClean="0"/>
              <a:pPr/>
              <a:t>13</a:t>
            </a:fld>
            <a:endParaRPr lang="en-US" dirty="0"/>
          </a:p>
        </p:txBody>
      </p:sp>
    </p:spTree>
    <p:extLst>
      <p:ext uri="{BB962C8B-B14F-4D97-AF65-F5344CB8AC3E}">
        <p14:creationId xmlns:p14="http://schemas.microsoft.com/office/powerpoint/2010/main" val="201450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68E13-0275-4E41-35F8-F22FE16B44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E6E588-7504-0EB9-10F6-BB06693B58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9425B1-4272-616D-FE8F-858925136A3B}"/>
              </a:ext>
            </a:extLst>
          </p:cNvPr>
          <p:cNvSpPr>
            <a:spLocks noGrp="1"/>
          </p:cNvSpPr>
          <p:nvPr>
            <p:ph type="body" idx="1"/>
          </p:nvPr>
        </p:nvSpPr>
        <p:spPr/>
        <p:txBody>
          <a:bodyPr>
            <a:normAutofit fontScale="6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b="1" kern="100" dirty="0">
                <a:effectLst/>
                <a:latin typeface="Arial" panose="020B0604020202020204" pitchFamily="34" charset="0"/>
                <a:ea typeface="Calibri" panose="020F0502020204030204" pitchFamily="34" charset="0"/>
                <a:cs typeface="Arial" panose="020B0604020202020204" pitchFamily="34" charset="0"/>
              </a:rPr>
              <a:t>Key Message: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000" kern="100" dirty="0">
                <a:effectLst/>
                <a:latin typeface="Arial" panose="020B0604020202020204" pitchFamily="34" charset="0"/>
                <a:ea typeface="Calibri" panose="020F0502020204030204" pitchFamily="34" charset="0"/>
                <a:cs typeface="Arial" panose="020B0604020202020204" pitchFamily="34" charset="0"/>
              </a:rPr>
              <a:t>Remote site topologies for VMware Cloud Foundation.</a:t>
            </a:r>
            <a:endParaRPr lang="en-US" sz="1000" u="none" kern="1200" dirty="0">
              <a:solidFill>
                <a:schemeClr val="tx1"/>
              </a:solidFill>
              <a:effectLst/>
              <a:latin typeface="Arial" panose="020B0604020202020204" pitchFamily="34" charset="0"/>
              <a:ea typeface="+mn-ea"/>
              <a:cs typeface="+mn-cs"/>
            </a:endParaRPr>
          </a:p>
          <a:p>
            <a:endParaRPr lang="en-US" sz="1000" b="0" i="0" u="none" strike="noStrike" kern="1200" dirty="0">
              <a:solidFill>
                <a:schemeClr val="tx1"/>
              </a:solidFill>
              <a:effectLst/>
              <a:latin typeface="Metropolis" panose="00000500000000000000" pitchFamily="50" charset="0"/>
              <a:ea typeface="+mn-ea"/>
              <a:cs typeface="+mn-cs"/>
            </a:endParaRPr>
          </a:p>
          <a:p>
            <a:r>
              <a:rPr lang="en-US" sz="1000" b="1" i="0" u="none" strike="noStrike" kern="1200" dirty="0">
                <a:solidFill>
                  <a:schemeClr val="tx1"/>
                </a:solidFill>
                <a:effectLst/>
                <a:latin typeface="Metropolis" panose="00000500000000000000" pitchFamily="50" charset="0"/>
                <a:ea typeface="+mn-ea"/>
                <a:cs typeface="+mn-cs"/>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Cloud Foundation supports the deployment of small workload domains or clusters to remote sites.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This allows customers to </a:t>
            </a:r>
            <a:r>
              <a:rPr kumimoji="0" lang="en-AU" sz="1000" b="0" i="0" u="none" strike="noStrike" kern="1200" cap="none" spc="0" normalizeH="0" baseline="0" noProof="0" dirty="0">
                <a:ln>
                  <a:noFill/>
                </a:ln>
                <a:solidFill>
                  <a:srgbClr val="717074"/>
                </a:solidFill>
                <a:effectLst/>
                <a:uLnTx/>
                <a:uFillTx/>
                <a:latin typeface="Metropolis"/>
                <a:ea typeface="+mn-ea"/>
                <a:cs typeface="+mn-cs"/>
              </a:rPr>
              <a:t>extend their compute processing from their centralized data </a:t>
            </a:r>
            <a:r>
              <a:rPr kumimoji="0" lang="en-AU" sz="1000" b="0" i="0" u="none" strike="noStrike" kern="1200" cap="none" spc="0" normalizeH="0" baseline="0" noProof="0" dirty="0" err="1">
                <a:ln>
                  <a:noFill/>
                </a:ln>
                <a:solidFill>
                  <a:srgbClr val="717074"/>
                </a:solidFill>
                <a:effectLst/>
                <a:uLnTx/>
                <a:uFillTx/>
                <a:latin typeface="Metropolis"/>
                <a:ea typeface="+mn-ea"/>
                <a:cs typeface="+mn-cs"/>
              </a:rPr>
              <a:t>center</a:t>
            </a:r>
            <a:r>
              <a:rPr kumimoji="0" lang="en-AU" sz="1000" b="0" i="0" u="none" strike="noStrike" kern="1200" cap="none" spc="0" normalizeH="0" baseline="0" noProof="0" dirty="0">
                <a:ln>
                  <a:noFill/>
                </a:ln>
                <a:solidFill>
                  <a:srgbClr val="717074"/>
                </a:solidFill>
                <a:effectLst/>
                <a:uLnTx/>
                <a:uFillTx/>
                <a:latin typeface="Metropolis"/>
                <a:ea typeface="+mn-ea"/>
                <a:cs typeface="+mn-cs"/>
              </a:rPr>
              <a:t> to support remote locations/offices.  </a:t>
            </a:r>
            <a:r>
              <a:rPr lang="en-US" sz="1000" dirty="0"/>
              <a:t>The management infrastructure to run these edge sites is shared and runs in the central data center.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Remote sites </a:t>
            </a:r>
            <a:r>
              <a:rPr kumimoji="0" lang="en-AU" sz="1000" b="0" i="0" u="none" strike="noStrike" kern="1200" cap="none" spc="0" normalizeH="0" baseline="0" noProof="0" dirty="0">
                <a:ln>
                  <a:noFill/>
                </a:ln>
                <a:solidFill>
                  <a:srgbClr val="717074"/>
                </a:solidFill>
                <a:effectLst/>
                <a:uLnTx/>
                <a:uFillTx/>
                <a:latin typeface="Metropolis"/>
                <a:ea typeface="+mn-ea"/>
                <a:cs typeface="+mn-cs"/>
              </a:rPr>
              <a:t>provide IT presence through centralized management without extra staffing. </a:t>
            </a:r>
            <a:r>
              <a:rPr kumimoji="0" lang="en-US" sz="1000" b="0" i="0" u="none" strike="noStrike" kern="1200" cap="none" spc="0" normalizeH="0" baseline="0" noProof="0" dirty="0">
                <a:ln>
                  <a:noFill/>
                </a:ln>
                <a:solidFill>
                  <a:srgbClr val="717074"/>
                </a:solidFill>
                <a:effectLst/>
                <a:uLnTx/>
                <a:uFillTx/>
                <a:latin typeface="Metropolis"/>
                <a:ea typeface="+mn-ea"/>
                <a:cs typeface="+mn-cs"/>
              </a:rPr>
              <a:t>Customers can position infrastructure close to remote applications to minimize latency and overheads.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dirty="0">
              <a:solidFill>
                <a:srgbClr val="717074"/>
              </a:solidFill>
              <a:effectLst/>
              <a:latin typeface="Metropoli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With each approach, VCF Operations is used at the central site to perform fleet management operations which includes password &amp; certificate management and lifecycle management/upgrade and patching operations for each remote site.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&lt;click&gt;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sng" noProof="0" dirty="0">
                <a:solidFill>
                  <a:srgbClr val="1B1E35"/>
                </a:solidFill>
                <a:latin typeface="Arial" panose="020B0604020202020204" pitchFamily="34" charset="0"/>
              </a:rPr>
              <a:t>C</a:t>
            </a:r>
            <a:r>
              <a:rPr lang="en-US" sz="1000" b="0" u="sng" dirty="0" err="1">
                <a:solidFill>
                  <a:srgbClr val="1B1E35"/>
                </a:solidFill>
                <a:latin typeface="Arial" panose="020B0604020202020204" pitchFamily="34" charset="0"/>
              </a:rPr>
              <a:t>onfigure</a:t>
            </a:r>
            <a:r>
              <a:rPr lang="en-US" sz="1000" b="0" u="sng" dirty="0">
                <a:solidFill>
                  <a:srgbClr val="1B1E35"/>
                </a:solidFill>
                <a:latin typeface="Arial" panose="020B0604020202020204" pitchFamily="34" charset="0"/>
              </a:rPr>
              <a:t> a Remote Workload Domain:</a:t>
            </a:r>
            <a:endParaRPr lang="en-US" sz="1000" b="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Initially the remote domain is composed with the vCenter Server located at the remote site.  When configuring vCenter Linking the vCenter Server can be managed from the central data center.  This can be handy for organizations which don’t have remote IT resources.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Each remote site is configured with a domain and a single vSphere cluster.</a:t>
            </a:r>
            <a:br>
              <a:rPr lang="en-US" sz="1000" b="0" dirty="0">
                <a:latin typeface="Arial" panose="020B0604020202020204" pitchFamily="34" charset="0"/>
              </a:rPr>
            </a:br>
            <a:r>
              <a:rPr lang="en-US" sz="1000" b="0" dirty="0">
                <a:latin typeface="Arial" panose="020B0604020202020204" pitchFamily="34" charset="0"/>
              </a:rPr>
              <a:t>A separate NSX instance is deployed per domain providing a full SDN solution with overlay networking.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dirty="0">
              <a:solidFill>
                <a:srgbClr val="717074"/>
              </a:solidFill>
              <a:effectLst/>
              <a:latin typeface="Metropoli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&lt;click&gt;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u="sng" kern="1200" cap="none" spc="0" normalizeH="0" baseline="0" noProof="0" dirty="0">
                <a:ln>
                  <a:noFill/>
                </a:ln>
                <a:solidFill>
                  <a:srgbClr val="1B1E35"/>
                </a:solidFill>
                <a:effectLst/>
                <a:uLnTx/>
                <a:uFillTx/>
                <a:latin typeface="Arial" panose="020B0604020202020204" pitchFamily="34" charset="0"/>
              </a:rPr>
              <a:t>Configure at remote Cluster.</a:t>
            </a:r>
            <a:br>
              <a:rPr lang="en-US" sz="1000" b="0" dirty="0">
                <a:latin typeface="Arial" panose="020B0604020202020204" pitchFamily="34" charset="0"/>
              </a:rPr>
            </a:br>
            <a:r>
              <a:rPr lang="en-US" sz="1000" b="0" dirty="0">
                <a:latin typeface="Arial" panose="020B0604020202020204" pitchFamily="34" charset="0"/>
              </a:rPr>
              <a:t>With this approach the vCenter Server is co-located with the cluster at the remote site where it can be managed remotely.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Each domain can be composed with multiple clusters per site and each domain can consist of clusters configured across multiple sites.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When configuring a remote cluster in this way vSphere Networking is used.</a:t>
            </a:r>
            <a:br>
              <a:rPr lang="en-US" sz="1000" b="0" dirty="0">
                <a:latin typeface="Arial" panose="020B0604020202020204" pitchFamily="34" charset="0"/>
              </a:rPr>
            </a:br>
            <a:endParaRPr lang="en-US" sz="1000" b="1" i="0" u="none" strike="noStrike" kern="1200" dirty="0">
              <a:solidFill>
                <a:schemeClr val="tx1"/>
              </a:solidFill>
              <a:effectLst/>
              <a:latin typeface="Metropolis" panose="00000500000000000000" pitchFamily="50" charset="0"/>
              <a:ea typeface="+mn-ea"/>
              <a:cs typeface="+mn-cs"/>
            </a:endParaRPr>
          </a:p>
          <a:p>
            <a:r>
              <a:rPr lang="en-US" sz="1000" b="1" i="0" u="none" strike="noStrike" kern="1200" dirty="0">
                <a:solidFill>
                  <a:schemeClr val="tx1"/>
                </a:solidFill>
                <a:effectLst/>
                <a:latin typeface="Metropolis" panose="00000500000000000000" pitchFamily="50" charset="0"/>
                <a:ea typeface="+mn-ea"/>
                <a:cs typeface="+mn-cs"/>
              </a:rPr>
              <a:t>Additional Information:</a:t>
            </a:r>
          </a:p>
          <a:p>
            <a:r>
              <a:rPr lang="en-US" sz="1000" b="0" i="0" u="none" strike="noStrike" kern="1200" dirty="0">
                <a:solidFill>
                  <a:schemeClr val="tx1"/>
                </a:solidFill>
                <a:effectLst/>
                <a:latin typeface="Metropolis" panose="00000500000000000000" pitchFamily="50" charset="0"/>
                <a:ea typeface="+mn-ea"/>
                <a:cs typeface="+mn-cs"/>
              </a:rPr>
              <a:t>Example use cases:</a:t>
            </a:r>
          </a:p>
          <a:p>
            <a:r>
              <a:rPr lang="en-US" sz="1000" dirty="0"/>
              <a:t>o   Video Surveillance</a:t>
            </a:r>
          </a:p>
          <a:p>
            <a:r>
              <a:rPr lang="en-US" sz="1000" dirty="0"/>
              <a:t>o   Point of Sales Retail</a:t>
            </a:r>
          </a:p>
          <a:p>
            <a:r>
              <a:rPr lang="en-US" sz="1000" dirty="0"/>
              <a:t>o   Federal: mobile battlefield</a:t>
            </a:r>
          </a:p>
          <a:p>
            <a:r>
              <a:rPr lang="en-US" sz="1000" dirty="0"/>
              <a:t>o   SLED: distributed citizen engagement </a:t>
            </a:r>
          </a:p>
          <a:p>
            <a:pPr>
              <a:buNone/>
            </a:pPr>
            <a:r>
              <a:rPr lang="en-US" sz="1000" dirty="0"/>
              <a:t>o   Distributed Healthcare </a:t>
            </a:r>
          </a:p>
          <a:p>
            <a:r>
              <a:rPr lang="en-US" sz="1000" dirty="0"/>
              <a:t>o   Oil and Gas Exploration</a:t>
            </a:r>
          </a:p>
          <a:p>
            <a:r>
              <a:rPr lang="en-US" sz="1000" dirty="0"/>
              <a:t>o   Academic: Distributed Education and Research Computing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u="none"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u="none" kern="1200" dirty="0">
                <a:solidFill>
                  <a:schemeClr val="tx1"/>
                </a:solidFill>
                <a:effectLst/>
                <a:latin typeface="Arial" panose="020B0604020202020204" pitchFamily="34" charset="0"/>
                <a:ea typeface="+mn-ea"/>
                <a:cs typeface="+mn-cs"/>
              </a:rPr>
              <a:t>Notes: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AU" sz="1000" b="0" dirty="0"/>
              <a:t>Remote sites are not initially configured using VCF Operations / SDDC Manager.  Follow the VCF documentation to deploy a remote cluster or workload domain.</a:t>
            </a:r>
            <a:endParaRPr lang="en-US" sz="800" b="0" kern="1200" dirty="0">
              <a:solidFill>
                <a:schemeClr val="tx1"/>
              </a:solidFill>
              <a:effectLst/>
              <a:latin typeface="Arial" panose="020B0604020202020204" pitchFamily="34" charset="0"/>
              <a:ea typeface="+mn-ea"/>
              <a:cs typeface="+mn-cs"/>
            </a:endParaRPr>
          </a:p>
          <a:p>
            <a:pPr marL="171450" indent="-171450">
              <a:buFontTx/>
              <a:buChar char="-"/>
            </a:pPr>
            <a:r>
              <a:rPr lang="en-US" sz="1000" dirty="0">
                <a:latin typeface="Arial" panose="020B0604020202020204" pitchFamily="34" charset="0"/>
              </a:rPr>
              <a:t>VCF remote site topology connectivity requirements:</a:t>
            </a:r>
            <a:br>
              <a:rPr lang="en-US" sz="1000" dirty="0">
                <a:latin typeface="Arial" panose="020B0604020202020204" pitchFamily="34" charset="0"/>
              </a:rPr>
            </a:br>
            <a:r>
              <a:rPr lang="en-US" sz="1000" dirty="0">
                <a:latin typeface="Arial" panose="020B0604020202020204" pitchFamily="34" charset="0"/>
              </a:rPr>
              <a:t>- 10MBps min connectivity between sites</a:t>
            </a:r>
            <a:br>
              <a:rPr lang="en-US" sz="1000" dirty="0">
                <a:latin typeface="Arial" panose="020B0604020202020204" pitchFamily="34" charset="0"/>
              </a:rPr>
            </a:br>
            <a:r>
              <a:rPr lang="en-US" sz="1000" dirty="0">
                <a:latin typeface="Arial" panose="020B0604020202020204" pitchFamily="34" charset="0"/>
              </a:rPr>
              <a:t>- Less than 100ms latency between sites. </a:t>
            </a:r>
            <a:br>
              <a:rPr lang="en-US" sz="1000" dirty="0">
                <a:latin typeface="Arial" panose="020B0604020202020204" pitchFamily="34" charset="0"/>
              </a:rPr>
            </a:br>
            <a:r>
              <a:rPr lang="en-US" sz="1000" dirty="0">
                <a:latin typeface="Arial" panose="020B0604020202020204" pitchFamily="34" charset="0"/>
              </a:rPr>
              <a:t>- Two (2) connections between each site is also recommended.</a:t>
            </a:r>
            <a:endParaRPr lang="en-US" sz="1000" u="none" kern="1200" dirty="0">
              <a:solidFill>
                <a:schemeClr val="tx1"/>
              </a:solidFill>
              <a:effectLst/>
              <a:latin typeface="Arial" panose="020B0604020202020204" pitchFamily="34" charset="0"/>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000" u="none" strike="noStrike" kern="1200" dirty="0">
                <a:solidFill>
                  <a:schemeClr val="tx1"/>
                </a:solidFill>
                <a:effectLst/>
                <a:latin typeface="Arial" panose="020B0604020202020204" pitchFamily="34" charset="0"/>
                <a:ea typeface="+mn-ea"/>
                <a:cs typeface="+mn-cs"/>
              </a:rPr>
              <a:t>- A remote cluster configured with vSAN can be configured using 3 - 16 nodes.</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000" u="none" strike="noStrike" kern="1200" dirty="0">
                <a:solidFill>
                  <a:schemeClr val="tx1"/>
                </a:solidFill>
                <a:effectLst/>
                <a:latin typeface="Arial" panose="020B0604020202020204" pitchFamily="34" charset="0"/>
                <a:ea typeface="+mn-ea"/>
                <a:cs typeface="+mn-cs"/>
              </a:rPr>
              <a:t>- A remote cluster can be configured with NFS or VMFS on FC as Principal storage with 2 - 16 nodes.</a:t>
            </a:r>
            <a:endParaRPr lang="en-US" sz="800" u="none" strike="noStrike" kern="1200" dirty="0">
              <a:solidFill>
                <a:schemeClr val="tx1"/>
              </a:solidFill>
              <a:effectLst/>
              <a:latin typeface="Arial" panose="020B0604020202020204" pitchFamily="34" charset="0"/>
              <a:ea typeface="+mn-ea"/>
              <a:cs typeface="+mn-cs"/>
            </a:endParaRPr>
          </a:p>
          <a:p>
            <a:pPr marL="171450" marR="0" lvl="0" indent="-171450" algn="l" defTabSz="914400" rtl="0" eaLnBrk="1" fontAlgn="base" latinLnBrk="0" hangingPunct="1">
              <a:lnSpc>
                <a:spcPct val="100000"/>
              </a:lnSpc>
              <a:spcBef>
                <a:spcPts val="0"/>
              </a:spcBef>
              <a:spcAft>
                <a:spcPts val="0"/>
              </a:spcAft>
              <a:buClrTx/>
              <a:buSzTx/>
              <a:buFontTx/>
              <a:buChar char="-"/>
              <a:tabLst/>
              <a:defRPr/>
            </a:pPr>
            <a:r>
              <a:rPr lang="en-AU" sz="1000" dirty="0">
                <a:solidFill>
                  <a:srgbClr val="565656"/>
                </a:solidFill>
                <a:effectLst/>
                <a:latin typeface="Arial" panose="020B0604020202020204" pitchFamily="34" charset="0"/>
              </a:rPr>
              <a:t>VMware Kubernetes Service (VKS) can be configured on a cluster deployed at a remote site. </a:t>
            </a:r>
            <a:r>
              <a:rPr lang="en-US" sz="800" u="none" kern="1200" dirty="0">
                <a:solidFill>
                  <a:schemeClr val="tx1"/>
                </a:solidFill>
                <a:effectLst/>
                <a:latin typeface="Arial" panose="020B0604020202020204" pitchFamily="34" charset="0"/>
                <a:ea typeface="+mn-ea"/>
                <a:cs typeface="+mn-cs"/>
              </a:rPr>
              <a:t> </a:t>
            </a:r>
            <a:br>
              <a:rPr lang="en-US" sz="800" u="none" kern="1200" dirty="0">
                <a:solidFill>
                  <a:schemeClr val="tx1"/>
                </a:solidFill>
                <a:effectLst/>
                <a:latin typeface="Arial" panose="020B0604020202020204" pitchFamily="34" charset="0"/>
                <a:ea typeface="+mn-ea"/>
                <a:cs typeface="+mn-cs"/>
              </a:rPr>
            </a:br>
            <a:r>
              <a:rPr lang="en-US" sz="800" u="none" kern="1200" dirty="0">
                <a:solidFill>
                  <a:schemeClr val="tx1"/>
                </a:solidFill>
                <a:effectLst/>
                <a:latin typeface="Arial" panose="020B0604020202020204" pitchFamily="34" charset="0"/>
                <a:ea typeface="+mn-ea"/>
                <a:cs typeface="+mn-cs"/>
              </a:rPr>
              <a:t>- </a:t>
            </a:r>
            <a:r>
              <a:rPr lang="en-US" sz="800" dirty="0">
                <a:latin typeface="Arial" panose="020B0604020202020204" pitchFamily="34" charset="0"/>
              </a:rPr>
              <a:t>vCenter Server is used to perform scaling operations for remote workload domains and remote clusters.</a:t>
            </a:r>
          </a:p>
          <a:p>
            <a:pPr marL="171450" marR="0" lvl="0" indent="-171450" algn="l" defTabSz="914400" rtl="0" eaLnBrk="1" fontAlgn="base" latinLnBrk="0" hangingPunct="1">
              <a:lnSpc>
                <a:spcPct val="100000"/>
              </a:lnSpc>
              <a:spcBef>
                <a:spcPts val="0"/>
              </a:spcBef>
              <a:spcAft>
                <a:spcPts val="0"/>
              </a:spcAft>
              <a:buClrTx/>
              <a:buSzTx/>
              <a:buFontTx/>
              <a:buChar char="-"/>
              <a:tabLst/>
              <a:defRPr/>
            </a:pPr>
            <a:r>
              <a:rPr lang="en-US" sz="800" dirty="0">
                <a:latin typeface="Arial" panose="020B0604020202020204" pitchFamily="34" charset="0"/>
              </a:rPr>
              <a:t>Customers can choose to use </a:t>
            </a:r>
            <a:r>
              <a:rPr lang="en-US" sz="1000" dirty="0"/>
              <a:t>VCF Edge licensing with 10 or more sites.</a:t>
            </a:r>
          </a:p>
          <a:p>
            <a:pPr marL="171450" marR="0" lvl="0" indent="-171450" algn="l" defTabSz="914400" rtl="0" eaLnBrk="1" fontAlgn="base" latinLnBrk="0" hangingPunct="1">
              <a:lnSpc>
                <a:spcPct val="100000"/>
              </a:lnSpc>
              <a:spcBef>
                <a:spcPts val="0"/>
              </a:spcBef>
              <a:spcAft>
                <a:spcPts val="0"/>
              </a:spcAft>
              <a:buClrTx/>
              <a:buSzTx/>
              <a:buFontTx/>
              <a:buChar char="-"/>
              <a:tabLst/>
              <a:defRPr/>
            </a:pPr>
            <a:r>
              <a:rPr lang="en-US" sz="1000" dirty="0"/>
              <a:t>A remote cluster or workload domain is not to be confused with VCF Edge (see appendix)</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000" u="none" kern="1200" dirty="0">
              <a:solidFill>
                <a:schemeClr val="tx1"/>
              </a:solidFill>
              <a:effectLst/>
              <a:latin typeface="Arial" panose="020B0604020202020204" pitchFamily="34" charset="0"/>
              <a:ea typeface="+mn-ea"/>
              <a:cs typeface="+mn-cs"/>
            </a:endParaRPr>
          </a:p>
          <a:p>
            <a:r>
              <a:rPr lang="en-US" sz="1000" b="1" u="none" strike="noStrike" kern="1200" dirty="0">
                <a:solidFill>
                  <a:schemeClr val="tx1"/>
                </a:solidFill>
                <a:effectLst/>
                <a:latin typeface="Arial" panose="020B0604020202020204" pitchFamily="34" charset="0"/>
                <a:ea typeface="+mn-ea"/>
                <a:cs typeface="+mn-cs"/>
              </a:rPr>
              <a:t>Resources:</a:t>
            </a:r>
            <a:endParaRPr lang="en-US" sz="10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sz="1000" strike="noStrike" kern="1200" baseline="0" dirty="0">
                <a:solidFill>
                  <a:schemeClr val="tx1"/>
                </a:solidFill>
                <a:effectLst/>
                <a:latin typeface="Arial" panose="020B0604020202020204" pitchFamily="34" charset="0"/>
                <a:ea typeface="+mn-ea"/>
                <a:cs typeface="+mn-cs"/>
              </a:rPr>
              <a:t>Further detail on VCF deployment topologies and additional deployment scenarios are discussed in this whitepaper:</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DCA10D"/>
                </a:solidFill>
                <a:effectLst/>
                <a:latin typeface="Arial" panose="020B0604020202020204" pitchFamily="34" charset="0"/>
                <a:hlinkClick r:id="rId3"/>
              </a:rPr>
              <a:t>ttps://www.vmware.com/docs/vcf-edge-considerations-white-paper</a:t>
            </a:r>
            <a:r>
              <a:rPr lang="en-AU" sz="1200" dirty="0">
                <a:solidFill>
                  <a:srgbClr val="000000"/>
                </a:solidFill>
                <a:effectLst/>
                <a:latin typeface="Arial" panose="020B0604020202020204" pitchFamily="34" charset="0"/>
              </a:rPr>
              <a:t> </a:t>
            </a:r>
            <a:endParaRPr lang="en-AU" sz="1200" dirty="0">
              <a:solidFill>
                <a:srgbClr val="DCA10D"/>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kern="100" dirty="0">
              <a:effectLst/>
              <a:latin typeface="Arial" panose="020B0604020202020204" pitchFamily="34" charset="0"/>
              <a:ea typeface="Calibri" panose="020F0502020204030204" pitchFamily="34" charset="0"/>
              <a:cs typeface="Arial" panose="020B0604020202020204" pitchFamily="34" charset="0"/>
            </a:endParaRPr>
          </a:p>
          <a:p>
            <a:pPr marL="0" marR="0" algn="l">
              <a:spcBef>
                <a:spcPts val="0"/>
              </a:spcBef>
              <a:spcAft>
                <a:spcPts val="0"/>
              </a:spcAft>
            </a:pPr>
            <a:r>
              <a:rPr lang="en-AU" sz="1000" u="none" strike="noStrike" dirty="0">
                <a:solidFill>
                  <a:srgbClr val="000000"/>
                </a:solidFill>
                <a:effectLst/>
                <a:latin typeface="Arial" panose="020B0604020202020204" pitchFamily="34" charset="0"/>
              </a:rPr>
              <a:t>For further information on Cloud Foundation Deployment Options please refer to the VCF Design Guide</a:t>
            </a:r>
          </a:p>
          <a:p>
            <a:pPr marL="0" marR="0" algn="l">
              <a:spcBef>
                <a:spcPts val="0"/>
              </a:spcBef>
              <a:spcAft>
                <a:spcPts val="0"/>
              </a:spcAft>
            </a:pPr>
            <a:r>
              <a:rPr lang="en-AU" sz="1000" u="none" strike="noStrike" dirty="0">
                <a:solidFill>
                  <a:srgbClr val="000000"/>
                </a:solidFill>
                <a:effectLst/>
                <a:latin typeface="Arial" panose="020B0604020202020204" pitchFamily="34" charset="0"/>
                <a:ea typeface="Times New Roman" panose="02020603050405020304" pitchFamily="18" charset="0"/>
                <a:hlinkClick r:id="rId4"/>
              </a:rPr>
              <a:t>https://docs.vmware.com/en/VMware-Cloud-Foundation/index.html</a:t>
            </a:r>
            <a:r>
              <a:rPr lang="en-AU" sz="1000" dirty="0">
                <a:solidFill>
                  <a:srgbClr val="000000"/>
                </a:solidFill>
                <a:effectLst/>
                <a:latin typeface="Arial" panose="020B0604020202020204" pitchFamily="34" charset="0"/>
                <a:ea typeface="Times New Roman" panose="02020603050405020304" pitchFamily="18" charset="0"/>
              </a:rPr>
              <a:t> </a:t>
            </a:r>
          </a:p>
          <a:p>
            <a:pPr marL="0" marR="0" algn="l">
              <a:spcBef>
                <a:spcPts val="0"/>
              </a:spcBef>
              <a:spcAft>
                <a:spcPts val="0"/>
              </a:spcAft>
            </a:pPr>
            <a:endParaRPr lang="en-AU" sz="1000" u="none" strike="noStrike" dirty="0">
              <a:solidFill>
                <a:srgbClr val="000000"/>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800" strike="noStrike" kern="1200" baseline="0" dirty="0">
                <a:solidFill>
                  <a:schemeClr val="tx1"/>
                </a:solidFill>
                <a:effectLst/>
                <a:latin typeface="Arial" panose="020B0604020202020204" pitchFamily="34" charset="0"/>
                <a:ea typeface="+mn-ea"/>
                <a:cs typeface="+mn-cs"/>
              </a:rPr>
              <a:t>Further detail on Cloud Foundation deployment options is covered in the </a:t>
            </a:r>
            <a:r>
              <a:rPr lang="en-US" sz="1000" baseline="0" dirty="0">
                <a:latin typeface="Arial" panose="020B0604020202020204" pitchFamily="34" charset="0"/>
              </a:rPr>
              <a:t>VMware Cloud Foundation Product Documentation – VMware Cloud Foundation Administration Guide.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u="sng" kern="100" dirty="0">
                <a:solidFill>
                  <a:srgbClr val="0563C1"/>
                </a:solidFill>
                <a:effectLst/>
                <a:latin typeface="Arial" panose="020B0604020202020204" pitchFamily="34" charset="0"/>
                <a:ea typeface="Calibri" panose="020F0502020204030204" pitchFamily="34" charset="0"/>
                <a:cs typeface="Arial" panose="020B0604020202020204" pitchFamily="34" charset="0"/>
                <a:hlinkClick r:id="rId4"/>
              </a:rPr>
              <a:t>https://docs.vmware.com/en/VMware-Cloud-Foundation/index.html</a:t>
            </a:r>
            <a:r>
              <a:rPr lang="en-US" sz="1000" kern="100" dirty="0">
                <a:effectLst/>
                <a:latin typeface="Arial" panose="020B0604020202020204" pitchFamily="34" charset="0"/>
                <a:ea typeface="Calibri" panose="020F0502020204030204" pitchFamily="34" charset="0"/>
                <a:cs typeface="Arial" panose="020B0604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kern="100" dirty="0">
              <a:effectLst/>
              <a:latin typeface="Arial" panose="020B0604020202020204" pitchFamily="34" charset="0"/>
              <a:ea typeface="Calibri" panose="020F0502020204030204" pitchFamily="34" charset="0"/>
              <a:cs typeface="Arial" panose="020B0604020202020204" pitchFamily="34" charset="0"/>
            </a:endParaRPr>
          </a:p>
          <a:p>
            <a:pPr marL="0" marR="0" algn="l">
              <a:spcBef>
                <a:spcPts val="0"/>
              </a:spcBef>
              <a:spcAft>
                <a:spcPts val="0"/>
              </a:spcAft>
            </a:pPr>
            <a:endParaRPr lang="en-AU" sz="1000" u="none" strike="noStrike" dirty="0">
              <a:solidFill>
                <a:srgbClr val="000000"/>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424F8DF9-0A13-8092-A7A0-86729BC5B7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770776E-22B7-5A48-A822-6E197F7DC09D}" type="slidenum">
              <a:rPr kumimoji="0" lang="en-US" sz="1200" u="none" strike="noStrike" kern="1200" cap="none" spc="0" normalizeH="0" baseline="0" noProof="0" smtClean="0">
                <a:ln>
                  <a:noFill/>
                </a:ln>
                <a:solidFill>
                  <a:srgbClr val="717074"/>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648340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1">
          <a:extLst>
            <a:ext uri="{FF2B5EF4-FFF2-40B4-BE49-F238E27FC236}">
              <a16:creationId xmlns:a16="http://schemas.microsoft.com/office/drawing/2014/main" id="{5F786958-052D-E700-1F92-DAD54EDBAF4C}"/>
            </a:ext>
          </a:extLst>
        </p:cNvPr>
        <p:cNvGrpSpPr/>
        <p:nvPr/>
      </p:nvGrpSpPr>
      <p:grpSpPr>
        <a:xfrm>
          <a:off x="0" y="0"/>
          <a:ext cx="0" cy="0"/>
          <a:chOff x="0" y="0"/>
          <a:chExt cx="0" cy="0"/>
        </a:xfrm>
      </p:grpSpPr>
      <p:sp>
        <p:nvSpPr>
          <p:cNvPr id="2872" name="Google Shape;2872;p39:notes">
            <a:extLst>
              <a:ext uri="{FF2B5EF4-FFF2-40B4-BE49-F238E27FC236}">
                <a16:creationId xmlns:a16="http://schemas.microsoft.com/office/drawing/2014/main" id="{4E096001-29DC-98F7-E38C-E4132A09B147}"/>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3" name="Google Shape;2873;p39:notes">
            <a:extLst>
              <a:ext uri="{FF2B5EF4-FFF2-40B4-BE49-F238E27FC236}">
                <a16:creationId xmlns:a16="http://schemas.microsoft.com/office/drawing/2014/main" id="{B0FC8D7C-A796-1889-01AF-CF4254978DD5}"/>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1" u="none" strike="noStrike" dirty="0">
                <a:solidFill>
                  <a:schemeClr val="dk1"/>
                </a:solidFill>
                <a:latin typeface="Arial" panose="020B0604020202020204" pitchFamily="34" charset="0"/>
                <a:sym typeface="Arial"/>
              </a:rPr>
              <a:t>Key Message:</a:t>
            </a:r>
            <a:br>
              <a:rPr lang="en-US" sz="1200" u="none" strike="noStrike" dirty="0">
                <a:solidFill>
                  <a:schemeClr val="dk1"/>
                </a:solidFill>
                <a:latin typeface="Arial" panose="020B0604020202020204" pitchFamily="34" charset="0"/>
                <a:sym typeface="Arial"/>
              </a:rPr>
            </a:br>
            <a:r>
              <a:rPr lang="en-US" dirty="0">
                <a:latin typeface="Arial" panose="020B0604020202020204" pitchFamily="34" charset="0"/>
              </a:rPr>
              <a:t>Workload domains are core to VMware Cloud Foundation architecture.</a:t>
            </a:r>
          </a:p>
          <a:p>
            <a:pPr marL="0" lvl="0" indent="0" algn="l" rtl="0">
              <a:spcBef>
                <a:spcPts val="0"/>
              </a:spcBef>
              <a:spcAft>
                <a:spcPts val="0"/>
              </a:spcAft>
              <a:buNone/>
            </a:pPr>
            <a:br>
              <a:rPr lang="en-US" sz="1200" u="none" strike="noStrike" dirty="0">
                <a:solidFill>
                  <a:schemeClr val="dk1"/>
                </a:solidFill>
                <a:latin typeface="Arial" panose="020B0604020202020204" pitchFamily="34" charset="0"/>
                <a:sym typeface="Arial"/>
              </a:rPr>
            </a:br>
            <a:r>
              <a:rPr lang="en-US" sz="1200" b="1" u="none" strike="noStrike" dirty="0">
                <a:solidFill>
                  <a:schemeClr val="dk1"/>
                </a:solidFill>
                <a:latin typeface="Arial" panose="020B0604020202020204" pitchFamily="34" charset="0"/>
                <a:sym typeface="Arial"/>
              </a:rPr>
              <a:t>Talk Track: </a:t>
            </a:r>
            <a:br>
              <a:rPr lang="en-US" sz="1200" u="none" strike="noStrike" dirty="0">
                <a:solidFill>
                  <a:schemeClr val="dk1"/>
                </a:solidFill>
                <a:latin typeface="Arial" panose="020B0604020202020204" pitchFamily="34" charset="0"/>
                <a:sym typeface="Arial"/>
              </a:rPr>
            </a:br>
            <a:r>
              <a:rPr lang="en-US" dirty="0">
                <a:latin typeface="Arial" panose="020B0604020202020204" pitchFamily="34" charset="0"/>
              </a:rPr>
              <a:t>VMware Cloud Foundation provides many different approaches to modernize your infrastructure.  Let’s take a look at how VCF can be deployed and scaled.</a:t>
            </a:r>
          </a:p>
          <a:p>
            <a:pPr marL="0" lvl="0" indent="0" algn="l" rtl="0">
              <a:spcBef>
                <a:spcPts val="0"/>
              </a:spcBef>
              <a:spcAft>
                <a:spcPts val="0"/>
              </a:spcAft>
              <a:buNone/>
            </a:pPr>
            <a:endParaRPr lang="en-US" sz="1200"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Notes:</a:t>
            </a:r>
            <a:endParaRPr lang="en-US" b="1" dirty="0">
              <a:latin typeface="Arial" panose="020B0604020202020204" pitchFamily="34" charset="0"/>
            </a:endParaRPr>
          </a:p>
          <a:p>
            <a:pPr marL="0" lvl="0" indent="0" algn="l" rtl="0">
              <a:spcBef>
                <a:spcPts val="0"/>
              </a:spcBef>
              <a:spcAft>
                <a:spcPts val="0"/>
              </a:spcAft>
              <a:buNone/>
            </a:pPr>
            <a:endParaRPr lang="en-US" sz="1200"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References:</a:t>
            </a:r>
          </a:p>
          <a:p>
            <a:pPr marL="0" lvl="0" indent="0" algn="l" rtl="0">
              <a:spcBef>
                <a:spcPts val="0"/>
              </a:spcBef>
              <a:spcAft>
                <a:spcPts val="0"/>
              </a:spcAft>
              <a:buNone/>
            </a:pPr>
            <a:endParaRPr dirty="0">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p:txBody>
      </p:sp>
      <p:sp>
        <p:nvSpPr>
          <p:cNvPr id="2874" name="Google Shape;2874;p39:notes">
            <a:extLst>
              <a:ext uri="{FF2B5EF4-FFF2-40B4-BE49-F238E27FC236}">
                <a16:creationId xmlns:a16="http://schemas.microsoft.com/office/drawing/2014/main" id="{B5F87B9E-21C3-EFD7-7A9C-49215CE8E92F}"/>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u="none" strike="noStrike" kern="0" cap="none" spc="0" normalizeH="0" baseline="0" noProof="0">
                <a:ln>
                  <a:noFill/>
                </a:ln>
                <a:solidFill>
                  <a:srgbClr val="717074"/>
                </a:solidFill>
                <a:effectLst/>
                <a:uLnTx/>
                <a:uFillTx/>
                <a:latin typeface="Arial" panose="020B0604020202020204" pitchFamily="34" charset="0"/>
                <a:cs typeface="Arial"/>
                <a:sym typeface="Arial"/>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15</a:t>
            </a:fld>
            <a:endParaRPr kumimoji="0" sz="1200" u="none" strike="noStrike" kern="0" cap="none" spc="0" normalizeH="0" baseline="0" noProof="0" dirty="0">
              <a:ln>
                <a:noFill/>
              </a:ln>
              <a:solidFill>
                <a:srgbClr val="717074"/>
              </a:solidFill>
              <a:effectLst/>
              <a:uLnTx/>
              <a:uFillTx/>
              <a:latin typeface="Arial" panose="020B0604020202020204" pitchFamily="34" charset="0"/>
              <a:cs typeface="Arial"/>
              <a:sym typeface="Arial"/>
            </a:endParaRPr>
          </a:p>
        </p:txBody>
      </p:sp>
    </p:spTree>
    <p:extLst>
      <p:ext uri="{BB962C8B-B14F-4D97-AF65-F5344CB8AC3E}">
        <p14:creationId xmlns:p14="http://schemas.microsoft.com/office/powerpoint/2010/main" val="23504962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F2E66-7968-89B5-402B-D7BB0F98E8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DD040-28AF-5A6D-7296-7F18027558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728C03-7DFA-7A93-8ABB-867ECE701341}"/>
              </a:ext>
            </a:extLst>
          </p:cNvPr>
          <p:cNvSpPr>
            <a:spLocks noGrp="1"/>
          </p:cNvSpPr>
          <p:nvPr>
            <p:ph type="body" idx="1"/>
          </p:nvPr>
        </p:nvSpPr>
        <p:spPr/>
        <p:txBody>
          <a:bodyPr>
            <a:normAutofit fontScale="62500" lnSpcReduction="20000"/>
          </a:bodyPr>
          <a:lstStyle/>
          <a:p>
            <a:pPr marL="0" marR="0" lvl="0" indent="0" algn="l" defTabSz="914400" rtl="0" eaLnBrk="1" fontAlgn="auto" latinLnBrk="0" hangingPunct="1">
              <a:lnSpc>
                <a:spcPct val="80000"/>
              </a:lnSpc>
              <a:spcBef>
                <a:spcPts val="0"/>
              </a:spcBef>
              <a:spcAft>
                <a:spcPts val="0"/>
              </a:spcAft>
              <a:buClrTx/>
              <a:buSzTx/>
              <a:buFontTx/>
              <a:buNone/>
              <a:tabLst/>
              <a:defRPr/>
            </a:pPr>
            <a:r>
              <a:rPr lang="en-US" sz="1200" b="1" dirty="0">
                <a:latin typeface="Metropolis" pitchFamily="2" charset="77"/>
              </a:rPr>
              <a:t>Presenter Note:  This slide contains animation</a:t>
            </a:r>
          </a:p>
          <a:p>
            <a:pPr marL="0" lvl="0" indent="0" algn="l" rtl="0">
              <a:lnSpc>
                <a:spcPct val="80000"/>
              </a:lnSpc>
              <a:spcBef>
                <a:spcPts val="0"/>
              </a:spcBef>
              <a:spcAft>
                <a:spcPts val="0"/>
              </a:spcAft>
              <a:buNone/>
            </a:pPr>
            <a:endParaRPr lang="en-US" sz="800" b="1"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r>
              <a:rPr lang="en-US" sz="800" b="1" u="none" strike="noStrike" dirty="0">
                <a:solidFill>
                  <a:schemeClr val="dk1"/>
                </a:solidFill>
                <a:latin typeface="Metropolis" pitchFamily="2" charset="77"/>
                <a:sym typeface="Arial"/>
              </a:rPr>
              <a:t>Key Message:</a:t>
            </a:r>
            <a:endParaRPr lang="en-US" b="1" dirty="0">
              <a:latin typeface="Metropolis" pitchFamily="2" charset="77"/>
            </a:endParaRPr>
          </a:p>
          <a:p>
            <a:pPr marL="0" lvl="0" indent="0" algn="l" rtl="0">
              <a:lnSpc>
                <a:spcPct val="80000"/>
              </a:lnSpc>
              <a:spcBef>
                <a:spcPts val="0"/>
              </a:spcBef>
              <a:spcAft>
                <a:spcPts val="0"/>
              </a:spcAft>
              <a:buNone/>
            </a:pPr>
            <a:r>
              <a:rPr lang="en-US" sz="800" dirty="0">
                <a:latin typeface="Metropolis" pitchFamily="2" charset="77"/>
              </a:rPr>
              <a:t>Cloud Foundation has a streamlined process to deploy a standardized workload-ready private cloud in a matter of hours.</a:t>
            </a:r>
          </a:p>
          <a:p>
            <a:pPr marL="0" lvl="0" indent="0" algn="l" rtl="0">
              <a:lnSpc>
                <a:spcPct val="80000"/>
              </a:lnSpc>
              <a:spcBef>
                <a:spcPts val="0"/>
              </a:spcBef>
              <a:spcAft>
                <a:spcPts val="0"/>
              </a:spcAft>
              <a:buNone/>
            </a:pPr>
            <a:r>
              <a:rPr lang="en-US" sz="800" dirty="0">
                <a:latin typeface="Metropolis" pitchFamily="2" charset="77"/>
              </a:rPr>
              <a:t>The VCF Installer appliance can be used to deploy VMware Cloud Foundation in a variety of different ways to suit a variety of different customer requirements.</a:t>
            </a:r>
          </a:p>
          <a:p>
            <a:pPr marL="0" lvl="0" indent="0" algn="l" rtl="0">
              <a:lnSpc>
                <a:spcPct val="80000"/>
              </a:lnSpc>
              <a:spcBef>
                <a:spcPts val="0"/>
              </a:spcBef>
              <a:spcAft>
                <a:spcPts val="0"/>
              </a:spcAft>
              <a:buNone/>
            </a:pPr>
            <a:endParaRPr lang="en-US" sz="800" dirty="0">
              <a:latin typeface="Metropolis" pitchFamily="2" charset="77"/>
            </a:endParaRPr>
          </a:p>
          <a:p>
            <a:pPr marL="0" lvl="0" indent="0" algn="l" rtl="0">
              <a:lnSpc>
                <a:spcPct val="80000"/>
              </a:lnSpc>
              <a:spcBef>
                <a:spcPts val="0"/>
              </a:spcBef>
              <a:spcAft>
                <a:spcPts val="0"/>
              </a:spcAft>
              <a:buNone/>
            </a:pPr>
            <a:r>
              <a:rPr lang="en-US" sz="800" b="1" u="none" strike="noStrike" dirty="0">
                <a:solidFill>
                  <a:schemeClr val="dk1"/>
                </a:solidFill>
                <a:latin typeface="Metropolis" pitchFamily="2" charset="77"/>
                <a:sym typeface="Arial"/>
              </a:rPr>
              <a:t>Talk Track:</a:t>
            </a:r>
            <a:endParaRPr lang="en-US" sz="800" b="0" u="none" strike="noStrike" dirty="0">
              <a:solidFill>
                <a:schemeClr val="dk1"/>
              </a:solidFill>
              <a:latin typeface="Metropolis" pitchFamily="2" charset="77"/>
              <a:sym typeface="Arial"/>
            </a:endParaRPr>
          </a:p>
          <a:p>
            <a:pPr marL="0" marR="0" lvl="0" indent="0" algn="l" defTabSz="914400" rtl="0" eaLnBrk="1" fontAlgn="auto" latinLnBrk="0" hangingPunct="1">
              <a:lnSpc>
                <a:spcPct val="80000"/>
              </a:lnSpc>
              <a:spcBef>
                <a:spcPts val="0"/>
              </a:spcBef>
              <a:spcAft>
                <a:spcPts val="0"/>
              </a:spcAft>
              <a:buClrTx/>
              <a:buSzTx/>
              <a:buFontTx/>
              <a:buNone/>
              <a:tabLst/>
              <a:defRPr/>
            </a:pPr>
            <a:r>
              <a:rPr lang="en-US" sz="700" dirty="0">
                <a:latin typeface="Metropolis" pitchFamily="2" charset="77"/>
              </a:rPr>
              <a:t>Cloud Foundation has a streamlined process to deploy a standardized workload-ready private cloud in a matter of hours.</a:t>
            </a:r>
          </a:p>
          <a:p>
            <a:pPr marL="0" lvl="0" indent="0" algn="l" rtl="0">
              <a:lnSpc>
                <a:spcPct val="80000"/>
              </a:lnSpc>
              <a:spcBef>
                <a:spcPts val="0"/>
              </a:spcBef>
              <a:spcAft>
                <a:spcPts val="0"/>
              </a:spcAft>
              <a:buNone/>
            </a:pPr>
            <a:r>
              <a:rPr lang="en-US" sz="700" dirty="0">
                <a:latin typeface="Metropolis" pitchFamily="2" charset="77"/>
              </a:rPr>
              <a:t>Here is a look at the automated deployment process when deploying a </a:t>
            </a:r>
            <a:r>
              <a:rPr lang="en-US" sz="700" u="sng" dirty="0">
                <a:latin typeface="Metropolis" pitchFamily="2" charset="77"/>
              </a:rPr>
              <a:t>new</a:t>
            </a:r>
            <a:r>
              <a:rPr lang="en-US" sz="700" dirty="0">
                <a:latin typeface="Metropolis" pitchFamily="2" charset="77"/>
              </a:rPr>
              <a:t> Cloud Foundation instance to new hardware.</a:t>
            </a:r>
            <a:endParaRPr lang="en-US" sz="800" dirty="0">
              <a:latin typeface="Metropolis" pitchFamily="2" charset="77"/>
            </a:endParaRPr>
          </a:p>
          <a:p>
            <a:pPr marL="0" lvl="0" indent="0" algn="l" rtl="0">
              <a:lnSpc>
                <a:spcPct val="80000"/>
              </a:lnSpc>
              <a:spcBef>
                <a:spcPts val="0"/>
              </a:spcBef>
              <a:spcAft>
                <a:spcPts val="0"/>
              </a:spcAft>
              <a:buNone/>
            </a:pPr>
            <a:endParaRPr lang="en-US" sz="700" dirty="0">
              <a:latin typeface="Metropolis" pitchFamily="2" charset="77"/>
            </a:endParaRPr>
          </a:p>
          <a:p>
            <a:pPr marL="0" lvl="0" indent="0" algn="l" rtl="0">
              <a:lnSpc>
                <a:spcPct val="80000"/>
              </a:lnSpc>
              <a:spcBef>
                <a:spcPts val="0"/>
              </a:spcBef>
              <a:spcAft>
                <a:spcPts val="0"/>
              </a:spcAft>
              <a:buNone/>
            </a:pPr>
            <a:r>
              <a:rPr lang="en-US" sz="700" dirty="0">
                <a:latin typeface="Metropolis" pitchFamily="2" charset="77"/>
              </a:rPr>
              <a:t>&lt;click 1&gt;</a:t>
            </a:r>
            <a:endParaRPr lang="en-US" sz="800" dirty="0">
              <a:latin typeface="Metropolis" pitchFamily="2" charset="77"/>
            </a:endParaRPr>
          </a:p>
          <a:p>
            <a:pPr marL="0" lvl="0" indent="0" algn="l" rtl="0">
              <a:lnSpc>
                <a:spcPct val="80000"/>
              </a:lnSpc>
              <a:spcBef>
                <a:spcPts val="0"/>
              </a:spcBef>
              <a:spcAft>
                <a:spcPts val="0"/>
              </a:spcAft>
              <a:buNone/>
            </a:pPr>
            <a:r>
              <a:rPr lang="en-US" sz="700" dirty="0">
                <a:latin typeface="Metropolis" pitchFamily="2" charset="77"/>
              </a:rPr>
              <a:t>Customers can use their preferred network equipment and topology.</a:t>
            </a:r>
            <a:endParaRPr lang="en-US" sz="800" dirty="0">
              <a:latin typeface="Metropolis" pitchFamily="2" charset="77"/>
            </a:endParaRPr>
          </a:p>
          <a:p>
            <a:pPr marL="0" lvl="0" indent="0" algn="l" rtl="0">
              <a:lnSpc>
                <a:spcPct val="80000"/>
              </a:lnSpc>
              <a:spcBef>
                <a:spcPts val="0"/>
              </a:spcBef>
              <a:spcAft>
                <a:spcPts val="0"/>
              </a:spcAft>
              <a:buNone/>
            </a:pPr>
            <a:r>
              <a:rPr lang="en-US" sz="700" dirty="0">
                <a:latin typeface="Metropolis" pitchFamily="2" charset="77"/>
              </a:rPr>
              <a:t>Just four (4) ESX hosts and a pair of TOR switches are required when deploying a new VCF instance to new hardware.  Broadcom recommend that customers review the pre-deployment checklist to ensure all pre-requisites are in place (networking, customer provided DNS/NTP/DHCP services).</a:t>
            </a:r>
            <a:endParaRPr lang="en-US" sz="800" dirty="0">
              <a:latin typeface="Metropolis" pitchFamily="2" charset="77"/>
            </a:endParaRPr>
          </a:p>
          <a:p>
            <a:pPr marL="0" lvl="0" indent="0" algn="l" rtl="0">
              <a:lnSpc>
                <a:spcPct val="80000"/>
              </a:lnSpc>
              <a:spcBef>
                <a:spcPts val="0"/>
              </a:spcBef>
              <a:spcAft>
                <a:spcPts val="0"/>
              </a:spcAft>
              <a:buNone/>
            </a:pPr>
            <a:endParaRPr lang="en-US" sz="800" dirty="0">
              <a:latin typeface="Metropolis" pitchFamily="2" charset="77"/>
            </a:endParaRPr>
          </a:p>
          <a:p>
            <a:pPr marL="0" lvl="0" indent="0" algn="l" rtl="0">
              <a:lnSpc>
                <a:spcPct val="80000"/>
              </a:lnSpc>
              <a:spcBef>
                <a:spcPts val="0"/>
              </a:spcBef>
              <a:spcAft>
                <a:spcPts val="0"/>
              </a:spcAft>
              <a:buNone/>
            </a:pPr>
            <a:r>
              <a:rPr lang="en-US" sz="700" dirty="0">
                <a:latin typeface="Metropolis" pitchFamily="2" charset="77"/>
              </a:rPr>
              <a:t>The VCF Installer appliance is deployed to the management network of the ESX hosts.  From the VCF Installer the user initiates the download of Cloud Foundation software bundles from the Broadcom support site or their own off-line depot.</a:t>
            </a:r>
          </a:p>
          <a:p>
            <a:pPr marL="0" lvl="0" indent="0" algn="l" rtl="0">
              <a:lnSpc>
                <a:spcPct val="80000"/>
              </a:lnSpc>
              <a:spcBef>
                <a:spcPts val="0"/>
              </a:spcBef>
              <a:spcAft>
                <a:spcPts val="0"/>
              </a:spcAft>
              <a:buNone/>
            </a:pPr>
            <a:endParaRPr lang="en-US" sz="700" dirty="0">
              <a:latin typeface="Metropolis" pitchFamily="2" charset="77"/>
            </a:endParaRPr>
          </a:p>
          <a:p>
            <a:pPr marL="0" lvl="0" indent="0" algn="l" rtl="0">
              <a:lnSpc>
                <a:spcPct val="80000"/>
              </a:lnSpc>
              <a:spcBef>
                <a:spcPts val="0"/>
              </a:spcBef>
              <a:spcAft>
                <a:spcPts val="0"/>
              </a:spcAft>
              <a:buNone/>
            </a:pPr>
            <a:r>
              <a:rPr lang="en-US" sz="800" dirty="0">
                <a:latin typeface="Metropolis" pitchFamily="2" charset="77"/>
              </a:rPr>
              <a:t>Customer-specific inputs can be entered directly into the VCF Installer appliance or a JSON spec can also be used.  Inputs include appliance FQDNs, </a:t>
            </a:r>
            <a:r>
              <a:rPr lang="en-US" sz="700" dirty="0">
                <a:latin typeface="Metropolis" pitchFamily="2" charset="77"/>
              </a:rPr>
              <a:t>account credentials, networking, appliance sizing and HA configuration settings.</a:t>
            </a:r>
            <a:endParaRPr lang="en-US" sz="800" dirty="0">
              <a:latin typeface="Metropolis" pitchFamily="2" charset="77"/>
            </a:endParaRPr>
          </a:p>
          <a:p>
            <a:pPr marL="0" lvl="0" indent="0" algn="l" rtl="0">
              <a:lnSpc>
                <a:spcPct val="80000"/>
              </a:lnSpc>
              <a:spcBef>
                <a:spcPts val="0"/>
              </a:spcBef>
              <a:spcAft>
                <a:spcPts val="0"/>
              </a:spcAft>
              <a:buNone/>
            </a:pPr>
            <a:endParaRPr lang="en-US" sz="700" dirty="0">
              <a:latin typeface="Metropolis" pitchFamily="2" charset="77"/>
            </a:endParaRPr>
          </a:p>
          <a:p>
            <a:pPr marL="0" lvl="0" indent="0" algn="l" rtl="0">
              <a:lnSpc>
                <a:spcPct val="80000"/>
              </a:lnSpc>
              <a:spcBef>
                <a:spcPts val="0"/>
              </a:spcBef>
              <a:spcAft>
                <a:spcPts val="0"/>
              </a:spcAft>
              <a:buNone/>
            </a:pPr>
            <a:r>
              <a:rPr lang="en-US" sz="700" dirty="0">
                <a:latin typeface="Metropolis" pitchFamily="2" charset="77"/>
              </a:rPr>
              <a:t>&lt;click 2&gt;</a:t>
            </a:r>
            <a:endParaRPr lang="en-US" sz="800" dirty="0">
              <a:latin typeface="Metropolis" pitchFamily="2" charset="77"/>
            </a:endParaRPr>
          </a:p>
          <a:p>
            <a:pPr marL="0" lvl="0" indent="0" algn="l" rtl="0">
              <a:lnSpc>
                <a:spcPct val="80000"/>
              </a:lnSpc>
              <a:spcBef>
                <a:spcPts val="0"/>
              </a:spcBef>
              <a:spcAft>
                <a:spcPts val="0"/>
              </a:spcAft>
              <a:buNone/>
            </a:pPr>
            <a:r>
              <a:rPr lang="en-US" sz="700" dirty="0">
                <a:latin typeface="Metropolis" pitchFamily="2" charset="77"/>
              </a:rPr>
              <a:t>The VCF Installer performs a validation to test the inputs and provide recommendations on any changes which may be required before the fully automated private cloud deployment commences.</a:t>
            </a:r>
          </a:p>
          <a:p>
            <a:pPr marL="0" lvl="0" indent="0" algn="l" rtl="0">
              <a:lnSpc>
                <a:spcPct val="80000"/>
              </a:lnSpc>
              <a:spcBef>
                <a:spcPts val="0"/>
              </a:spcBef>
              <a:spcAft>
                <a:spcPts val="0"/>
              </a:spcAft>
              <a:buNone/>
            </a:pPr>
            <a:endParaRPr lang="en-US" sz="800" dirty="0">
              <a:latin typeface="Metropolis" pitchFamily="2" charset="77"/>
            </a:endParaRPr>
          </a:p>
          <a:p>
            <a:pPr marL="0" lvl="0" indent="0" algn="l" rtl="0">
              <a:lnSpc>
                <a:spcPct val="80000"/>
              </a:lnSpc>
              <a:spcBef>
                <a:spcPts val="0"/>
              </a:spcBef>
              <a:spcAft>
                <a:spcPts val="0"/>
              </a:spcAft>
              <a:buNone/>
            </a:pPr>
            <a:r>
              <a:rPr lang="en-US" sz="700" dirty="0">
                <a:latin typeface="Metropolis" pitchFamily="2" charset="77"/>
              </a:rPr>
              <a:t>During the deployment, NSX is deployed and ready to be configured, vSphere best practice configurations are applied, and all of the Management component VMs are deployed, including VCF Operations.</a:t>
            </a:r>
          </a:p>
          <a:p>
            <a:pPr marL="0" lvl="0" indent="0" algn="l" rtl="0">
              <a:lnSpc>
                <a:spcPct val="80000"/>
              </a:lnSpc>
              <a:spcBef>
                <a:spcPts val="0"/>
              </a:spcBef>
              <a:spcAft>
                <a:spcPts val="0"/>
              </a:spcAft>
              <a:buNone/>
            </a:pPr>
            <a:endParaRPr lang="en-US" sz="700" b="0"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r>
              <a:rPr lang="en-US" sz="700" b="0" u="none" strike="noStrike" dirty="0">
                <a:solidFill>
                  <a:schemeClr val="dk1"/>
                </a:solidFill>
                <a:latin typeface="Metropolis" pitchFamily="2" charset="77"/>
                <a:sym typeface="Arial"/>
              </a:rPr>
              <a:t>Over the coming slides we will discuss some additional deployment approaches and configuration options in more detail when deploying VCF 9.</a:t>
            </a:r>
            <a:endParaRPr lang="en-US" sz="800" b="0"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endParaRPr lang="en-US" sz="800" b="0"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r>
              <a:rPr lang="en-US" sz="800" b="1" u="none" strike="noStrike" dirty="0">
                <a:solidFill>
                  <a:schemeClr val="dk1"/>
                </a:solidFill>
                <a:latin typeface="Metropolis" pitchFamily="2" charset="77"/>
                <a:sym typeface="Arial"/>
              </a:rPr>
              <a:t>Notes:</a:t>
            </a:r>
          </a:p>
          <a:p>
            <a:pPr marL="171450" lvl="0" indent="-171450" algn="l" rtl="0">
              <a:lnSpc>
                <a:spcPct val="80000"/>
              </a:lnSpc>
              <a:spcBef>
                <a:spcPts val="0"/>
              </a:spcBef>
              <a:spcAft>
                <a:spcPts val="0"/>
              </a:spcAft>
              <a:buFontTx/>
              <a:buChar char="-"/>
            </a:pPr>
            <a:r>
              <a:rPr lang="en-US" sz="800" b="0" u="none" strike="noStrike" dirty="0">
                <a:solidFill>
                  <a:schemeClr val="dk1"/>
                </a:solidFill>
                <a:latin typeface="Metropolis" pitchFamily="2" charset="77"/>
                <a:sym typeface="Arial"/>
              </a:rPr>
              <a:t>The VCF Installer appliance in VCF 9 replaces the Cloud Builder appliance. </a:t>
            </a:r>
          </a:p>
          <a:p>
            <a:pPr marL="171450" lvl="0" indent="-171450" algn="l" rtl="0">
              <a:lnSpc>
                <a:spcPct val="80000"/>
              </a:lnSpc>
              <a:spcBef>
                <a:spcPts val="0"/>
              </a:spcBef>
              <a:spcAft>
                <a:spcPts val="0"/>
              </a:spcAft>
              <a:buFontTx/>
              <a:buChar char="-"/>
            </a:pPr>
            <a:r>
              <a:rPr lang="en-US" sz="800" b="0" u="none" strike="noStrike" dirty="0">
                <a:solidFill>
                  <a:schemeClr val="dk1"/>
                </a:solidFill>
                <a:latin typeface="Metropolis" pitchFamily="2" charset="77"/>
                <a:sym typeface="Arial"/>
              </a:rPr>
              <a:t>From VCF 9.0 Cloud Foundation can be deployed to vSAN ready nodes (recommended) or other supported storage topologies (NFS or VMFS on FC.</a:t>
            </a:r>
          </a:p>
          <a:p>
            <a:pPr marL="171450" lvl="0" indent="-171450" algn="l" rtl="0">
              <a:lnSpc>
                <a:spcPct val="80000"/>
              </a:lnSpc>
              <a:spcBef>
                <a:spcPts val="0"/>
              </a:spcBef>
              <a:spcAft>
                <a:spcPts val="0"/>
              </a:spcAft>
              <a:buFontTx/>
              <a:buChar char="-"/>
            </a:pPr>
            <a:r>
              <a:rPr lang="en-US" sz="800" b="0" u="none" strike="noStrike" dirty="0">
                <a:solidFill>
                  <a:schemeClr val="dk1"/>
                </a:solidFill>
                <a:latin typeface="Metropolis" pitchFamily="2" charset="77"/>
                <a:sym typeface="Arial"/>
              </a:rPr>
              <a:t>From VCF 9.0 VCF Operations is used to manage one or more VCF instances.  SDDC Manager is also deployed.</a:t>
            </a:r>
          </a:p>
          <a:p>
            <a:pPr marL="171450" lvl="0" indent="-171450" algn="l" rtl="0">
              <a:lnSpc>
                <a:spcPct val="80000"/>
              </a:lnSpc>
              <a:spcBef>
                <a:spcPts val="0"/>
              </a:spcBef>
              <a:spcAft>
                <a:spcPts val="0"/>
              </a:spcAft>
              <a:buFontTx/>
              <a:buChar char="-"/>
            </a:pPr>
            <a:r>
              <a:rPr lang="en-US" sz="800" strike="noStrike" dirty="0">
                <a:latin typeface="Metropolis" pitchFamily="2" charset="77"/>
                <a:ea typeface="Helvetica Neue"/>
                <a:cs typeface="Helvetica Neue"/>
                <a:sym typeface="Helvetica Neue"/>
              </a:rPr>
              <a:t>A new VCF instance is deployed in Evaluation mode.  A VCF environment is required to be licensed using a license file within the first 90 days of a deployment.</a:t>
            </a:r>
            <a:r>
              <a:rPr lang="en-US" sz="800" strike="noStrike" dirty="0">
                <a:latin typeface="Metropolis" pitchFamily="2" charset="77"/>
                <a:ea typeface="+mn-ea"/>
                <a:cs typeface="+mn-cs"/>
                <a:sym typeface="Helvetica Neue"/>
              </a:rPr>
              <a:t>  </a:t>
            </a:r>
            <a:r>
              <a:rPr lang="en-US" sz="800" dirty="0">
                <a:latin typeface="Metropolis" pitchFamily="2" charset="77"/>
                <a:ea typeface="Helvetica Neue"/>
                <a:cs typeface="Helvetica Neue"/>
                <a:sym typeface="Helvetica Neue"/>
              </a:rPr>
              <a:t>VCF is fully functional while the deployment is running in Evaluation mode and allows a user to deploy additional hosts, workload domains and clusters. </a:t>
            </a:r>
            <a:endParaRPr lang="en-US" sz="800" b="0"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endParaRPr lang="en-US" sz="800" b="1"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r>
              <a:rPr lang="en-US" sz="800" b="1" u="none" strike="noStrike" dirty="0">
                <a:solidFill>
                  <a:schemeClr val="dk1"/>
                </a:solidFill>
                <a:latin typeface="Metropolis" pitchFamily="2" charset="77"/>
                <a:sym typeface="Arial"/>
              </a:rPr>
              <a:t>Resources:</a:t>
            </a:r>
          </a:p>
          <a:p>
            <a:pPr marL="0" marR="0" lvl="0" indent="0" algn="l" defTabSz="914400" rtl="0" eaLnBrk="1" fontAlgn="auto" latinLnBrk="0" hangingPunct="1">
              <a:lnSpc>
                <a:spcPct val="80000"/>
              </a:lnSpc>
              <a:spcBef>
                <a:spcPts val="0"/>
              </a:spcBef>
              <a:spcAft>
                <a:spcPts val="0"/>
              </a:spcAft>
              <a:buClrTx/>
              <a:buSzTx/>
              <a:buFontTx/>
              <a:buNone/>
              <a:tabLst/>
              <a:defRPr/>
            </a:pPr>
            <a:r>
              <a:rPr lang="en-US" sz="800" b="0" u="none" strike="noStrike" kern="1200" dirty="0">
                <a:solidFill>
                  <a:schemeClr val="tx1"/>
                </a:solidFill>
                <a:effectLst/>
                <a:latin typeface="Arial" panose="020B0604020202020204" pitchFamily="34" charset="0"/>
                <a:ea typeface="+mn-ea"/>
                <a:cs typeface="+mn-cs"/>
              </a:rPr>
              <a:t>Refer to the VMware Cloud Foundation Deployment Guide for further information</a:t>
            </a:r>
            <a:br>
              <a:rPr lang="en-US" sz="800" b="0" u="none" strike="noStrike" kern="1200" dirty="0">
                <a:solidFill>
                  <a:schemeClr val="tx1"/>
                </a:solidFill>
                <a:effectLst/>
                <a:latin typeface="Arial" panose="020B0604020202020204" pitchFamily="34" charset="0"/>
                <a:ea typeface="+mn-ea"/>
                <a:cs typeface="+mn-cs"/>
              </a:rPr>
            </a:br>
            <a:r>
              <a:rPr lang="en-AU" sz="800" dirty="0">
                <a:effectLst/>
                <a:latin typeface="Helvetica Neue" panose="02000503000000020004" pitchFamily="2" charset="0"/>
                <a:hlinkClick r:id="rId3"/>
              </a:rPr>
              <a:t>https://techdocs.broadcom.com/us/en/vmware-cis/vcf.html</a:t>
            </a:r>
            <a:r>
              <a:rPr lang="en-AU" sz="800" dirty="0">
                <a:effectLst/>
                <a:latin typeface="Helvetica Neue" panose="02000503000000020004" pitchFamily="2" charset="0"/>
              </a:rPr>
              <a:t> </a:t>
            </a:r>
          </a:p>
          <a:p>
            <a:pPr marL="0" lvl="0" indent="0" algn="l" rtl="0">
              <a:lnSpc>
                <a:spcPct val="80000"/>
              </a:lnSpc>
              <a:spcBef>
                <a:spcPts val="0"/>
              </a:spcBef>
              <a:spcAft>
                <a:spcPts val="0"/>
              </a:spcAft>
              <a:buNone/>
            </a:pPr>
            <a:endParaRPr lang="en-US" sz="800" b="0"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endParaRPr lang="en-US" sz="800" b="0"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endParaRPr lang="en-US" sz="800" b="0"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endParaRPr lang="en-US" sz="800" b="0"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endParaRPr lang="en-US" sz="800" b="0"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endParaRPr lang="en-US" sz="800" b="0"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endParaRPr lang="en-US" sz="800" b="0"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endParaRPr lang="en-US" sz="800" b="0"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endParaRPr lang="en-US" sz="800" b="0"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endParaRPr lang="en-US" sz="800" b="0"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r>
              <a:rPr lang="en-US" sz="800" b="0" u="none" strike="noStrike" dirty="0">
                <a:solidFill>
                  <a:schemeClr val="dk1"/>
                </a:solidFill>
                <a:latin typeface="Metropolis" pitchFamily="2" charset="77"/>
                <a:sym typeface="Arial"/>
              </a:rPr>
              <a:t>--------------</a:t>
            </a:r>
          </a:p>
          <a:p>
            <a:pPr marL="0" lvl="0" indent="0" algn="l" rtl="0">
              <a:lnSpc>
                <a:spcPct val="80000"/>
              </a:lnSpc>
              <a:spcBef>
                <a:spcPts val="0"/>
              </a:spcBef>
              <a:spcAft>
                <a:spcPts val="0"/>
              </a:spcAft>
              <a:buNone/>
            </a:pPr>
            <a:r>
              <a:rPr lang="en-US" sz="800" b="0" u="none" strike="noStrike" dirty="0">
                <a:solidFill>
                  <a:schemeClr val="dk1"/>
                </a:solidFill>
                <a:latin typeface="Metropolis" pitchFamily="2" charset="77"/>
                <a:sym typeface="Arial"/>
              </a:rPr>
              <a:t>Original Talk track</a:t>
            </a:r>
          </a:p>
          <a:p>
            <a:pPr marL="0" lvl="0" indent="0" algn="l" rtl="0">
              <a:lnSpc>
                <a:spcPct val="80000"/>
              </a:lnSpc>
              <a:spcBef>
                <a:spcPts val="0"/>
              </a:spcBef>
              <a:spcAft>
                <a:spcPts val="0"/>
              </a:spcAft>
              <a:buNone/>
            </a:pPr>
            <a:endParaRPr lang="en-US" sz="800" b="1"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r>
              <a:rPr lang="en-US" sz="800" dirty="0">
                <a:latin typeface="Metropolis" pitchFamily="2" charset="77"/>
              </a:rPr>
              <a:t>Here is a look at the different approaches which can be used to deploy VMware Cloud Foundation (VCF).</a:t>
            </a:r>
            <a:br>
              <a:rPr lang="en-US" sz="800" dirty="0">
                <a:latin typeface="Metropolis" pitchFamily="2" charset="77"/>
              </a:rPr>
            </a:br>
            <a:endParaRPr lang="en-US" sz="800" dirty="0">
              <a:latin typeface="Metropolis" pitchFamily="2" charset="77"/>
            </a:endParaRPr>
          </a:p>
          <a:p>
            <a:pPr marL="0" lvl="0" indent="0" algn="l" rtl="0">
              <a:lnSpc>
                <a:spcPct val="80000"/>
              </a:lnSpc>
              <a:spcBef>
                <a:spcPts val="0"/>
              </a:spcBef>
              <a:spcAft>
                <a:spcPts val="0"/>
              </a:spcAft>
              <a:buNone/>
            </a:pPr>
            <a:r>
              <a:rPr lang="en-US" sz="800" dirty="0">
                <a:latin typeface="Metropolis" pitchFamily="2" charset="77"/>
              </a:rPr>
              <a:t>&lt;click&gt;</a:t>
            </a:r>
            <a:endParaRPr lang="en-US" dirty="0">
              <a:latin typeface="Metropolis" pitchFamily="2" charset="77"/>
            </a:endParaRPr>
          </a:p>
          <a:p>
            <a:pPr marL="0" lvl="0" indent="0" algn="l" rtl="0">
              <a:lnSpc>
                <a:spcPct val="80000"/>
              </a:lnSpc>
              <a:spcBef>
                <a:spcPts val="0"/>
              </a:spcBef>
              <a:spcAft>
                <a:spcPts val="0"/>
              </a:spcAft>
              <a:buNone/>
            </a:pPr>
            <a:r>
              <a:rPr lang="en-US" sz="800" dirty="0">
                <a:latin typeface="Metropolis" pitchFamily="2" charset="77"/>
              </a:rPr>
              <a:t>Customers can use their preferred network equipment and topology.</a:t>
            </a:r>
            <a:endParaRPr lang="en-US" dirty="0">
              <a:latin typeface="Metropolis" pitchFamily="2" charset="77"/>
            </a:endParaRPr>
          </a:p>
          <a:p>
            <a:pPr marL="0" lvl="0" indent="0" algn="l" rtl="0">
              <a:lnSpc>
                <a:spcPct val="80000"/>
              </a:lnSpc>
              <a:spcBef>
                <a:spcPts val="0"/>
              </a:spcBef>
              <a:spcAft>
                <a:spcPts val="0"/>
              </a:spcAft>
              <a:buNone/>
            </a:pPr>
            <a:r>
              <a:rPr lang="en-US" sz="800" dirty="0">
                <a:latin typeface="Metropolis" pitchFamily="2" charset="77"/>
              </a:rPr>
              <a:t>The Cloud Foundation deployment starts with two (2) or more ESX nodes and a pair of TOR switches.  Customers can review the pre-deployment checklist to ensure all pre-requisites are in place (qualified server hardware, customer networking, customer provided DNS/NTP/DHCP services).</a:t>
            </a:r>
          </a:p>
          <a:p>
            <a:pPr marL="0" lvl="0" indent="0" algn="l" rtl="0">
              <a:lnSpc>
                <a:spcPct val="80000"/>
              </a:lnSpc>
              <a:spcBef>
                <a:spcPts val="0"/>
              </a:spcBef>
              <a:spcAft>
                <a:spcPts val="0"/>
              </a:spcAft>
              <a:buNone/>
            </a:pPr>
            <a:endParaRPr lang="en-US" sz="800" dirty="0">
              <a:latin typeface="Metropolis" pitchFamily="2" charset="77"/>
            </a:endParaRPr>
          </a:p>
          <a:p>
            <a:pPr marL="0" lvl="0" indent="0" algn="l" rtl="0">
              <a:lnSpc>
                <a:spcPct val="80000"/>
              </a:lnSpc>
              <a:spcBef>
                <a:spcPts val="0"/>
              </a:spcBef>
              <a:spcAft>
                <a:spcPts val="0"/>
              </a:spcAft>
              <a:buNone/>
            </a:pPr>
            <a:r>
              <a:rPr lang="en-US" sz="800" dirty="0">
                <a:latin typeface="Metropolis" pitchFamily="2" charset="77"/>
              </a:rPr>
              <a:t>&lt;click&gt;</a:t>
            </a:r>
            <a:endParaRPr lang="en-US" dirty="0">
              <a:latin typeface="Metropolis" pitchFamily="2" charset="77"/>
            </a:endParaRPr>
          </a:p>
          <a:p>
            <a:pPr marL="0" lvl="0" indent="0" algn="l" rtl="0">
              <a:lnSpc>
                <a:spcPct val="80000"/>
              </a:lnSpc>
              <a:spcBef>
                <a:spcPts val="0"/>
              </a:spcBef>
              <a:spcAft>
                <a:spcPts val="0"/>
              </a:spcAft>
              <a:buNone/>
            </a:pPr>
            <a:r>
              <a:rPr lang="en-US" sz="800" dirty="0">
                <a:latin typeface="Metropolis" pitchFamily="2" charset="77"/>
              </a:rPr>
              <a:t>The next step is to deploy the VMware Installation appliance which is new to VCF 9.0.  </a:t>
            </a:r>
          </a:p>
          <a:p>
            <a:pPr marL="0" lvl="0" indent="0" algn="l" rtl="0">
              <a:lnSpc>
                <a:spcPct val="80000"/>
              </a:lnSpc>
              <a:spcBef>
                <a:spcPts val="0"/>
              </a:spcBef>
              <a:spcAft>
                <a:spcPts val="0"/>
              </a:spcAft>
              <a:buNone/>
            </a:pPr>
            <a:r>
              <a:rPr lang="en-US" sz="1200" dirty="0">
                <a:latin typeface="Metropolis" pitchFamily="2" charset="77"/>
              </a:rPr>
              <a:t>The VCF Installer appliance is downloaded from the Broadcom Support Portal and contains all required software to perform a Cloud Foundation deployment.</a:t>
            </a:r>
          </a:p>
          <a:p>
            <a:pPr marL="0" lvl="0" indent="0" algn="l" rtl="0">
              <a:lnSpc>
                <a:spcPct val="80000"/>
              </a:lnSpc>
              <a:spcBef>
                <a:spcPts val="0"/>
              </a:spcBef>
              <a:spcAft>
                <a:spcPts val="0"/>
              </a:spcAft>
              <a:buNone/>
            </a:pPr>
            <a:r>
              <a:rPr lang="en-US" sz="1200" dirty="0">
                <a:latin typeface="Metropolis" pitchFamily="2" charset="77"/>
              </a:rPr>
              <a:t>The VCF Installer is installed on the VM management network and provides the user the option to deploy VMware vSphere Foundation (VVF) of VMware Cloud Foundation (VCF).</a:t>
            </a:r>
          </a:p>
          <a:p>
            <a:pPr marL="0" lvl="0" indent="0" algn="l" rtl="0">
              <a:lnSpc>
                <a:spcPct val="80000"/>
              </a:lnSpc>
              <a:spcBef>
                <a:spcPts val="0"/>
              </a:spcBef>
              <a:spcAft>
                <a:spcPts val="0"/>
              </a:spcAft>
              <a:buNone/>
            </a:pPr>
            <a:r>
              <a:rPr lang="en-US" sz="1200" dirty="0">
                <a:latin typeface="Metropolis" pitchFamily="2" charset="77"/>
              </a:rPr>
              <a:t>VVF or VCF can be deployed qualified hardware as a new Cloud Foundation instance.  Alternatively VVF or VCF can be deployed to an existing vSphere cluster.</a:t>
            </a:r>
            <a:endParaRPr lang="en-US" dirty="0">
              <a:latin typeface="Metropolis" pitchFamily="2" charset="77"/>
            </a:endParaRPr>
          </a:p>
          <a:p>
            <a:pPr marL="0" lvl="0" indent="0" algn="l" rtl="0">
              <a:lnSpc>
                <a:spcPct val="80000"/>
              </a:lnSpc>
              <a:spcBef>
                <a:spcPts val="0"/>
              </a:spcBef>
              <a:spcAft>
                <a:spcPts val="0"/>
              </a:spcAft>
              <a:buNone/>
            </a:pPr>
            <a:endParaRPr lang="en-US" sz="800" dirty="0">
              <a:latin typeface="Metropolis" pitchFamily="2" charset="77"/>
            </a:endParaRPr>
          </a:p>
          <a:p>
            <a:pPr marL="0" lvl="0" indent="0" algn="l" rtl="0">
              <a:lnSpc>
                <a:spcPct val="80000"/>
              </a:lnSpc>
              <a:spcBef>
                <a:spcPts val="0"/>
              </a:spcBef>
              <a:spcAft>
                <a:spcPts val="0"/>
              </a:spcAft>
              <a:buNone/>
            </a:pPr>
            <a:r>
              <a:rPr lang="en-US" sz="800" dirty="0">
                <a:latin typeface="Metropolis" pitchFamily="2" charset="77"/>
              </a:rPr>
              <a:t>&lt;click&gt;</a:t>
            </a:r>
          </a:p>
          <a:p>
            <a:pPr marL="0" lvl="0" indent="0" algn="l" rtl="0">
              <a:lnSpc>
                <a:spcPct val="80000"/>
              </a:lnSpc>
              <a:spcBef>
                <a:spcPts val="0"/>
              </a:spcBef>
              <a:spcAft>
                <a:spcPts val="0"/>
              </a:spcAft>
              <a:buNone/>
            </a:pPr>
            <a:r>
              <a:rPr lang="en-US" sz="800" dirty="0">
                <a:latin typeface="Metropolis" pitchFamily="2" charset="77"/>
              </a:rPr>
              <a:t>When deploying VCF, the user can manually enter their desired configuration inputs for their private cloud by following the in-built VCF Installer workflow.</a:t>
            </a:r>
            <a:endParaRPr lang="en-US" dirty="0">
              <a:latin typeface="Metropolis" pitchFamily="2" charset="77"/>
            </a:endParaRPr>
          </a:p>
          <a:p>
            <a:pPr marL="0" lvl="0" indent="0" algn="l" rtl="0">
              <a:lnSpc>
                <a:spcPct val="80000"/>
              </a:lnSpc>
              <a:spcBef>
                <a:spcPts val="0"/>
              </a:spcBef>
              <a:spcAft>
                <a:spcPts val="0"/>
              </a:spcAft>
              <a:buNone/>
            </a:pPr>
            <a:r>
              <a:rPr lang="en-US" sz="800" dirty="0">
                <a:latin typeface="Metropolis" pitchFamily="2" charset="77"/>
              </a:rPr>
              <a:t>Inputs include networking, naming conventions, account credentials and appliance sizing.</a:t>
            </a:r>
          </a:p>
          <a:p>
            <a:pPr marL="0" lvl="0" indent="0" algn="l" rtl="0">
              <a:lnSpc>
                <a:spcPct val="80000"/>
              </a:lnSpc>
              <a:spcBef>
                <a:spcPts val="0"/>
              </a:spcBef>
              <a:spcAft>
                <a:spcPts val="0"/>
              </a:spcAft>
              <a:buNone/>
            </a:pPr>
            <a:r>
              <a:rPr lang="en-US" sz="800" dirty="0">
                <a:latin typeface="Metropolis" pitchFamily="2" charset="77"/>
              </a:rPr>
              <a:t>Subsequent deployments of VCF can be further streamlined by selecting the option to upload a JSON configuration file which can be easily edited.</a:t>
            </a:r>
            <a:endParaRPr lang="en-US" dirty="0">
              <a:latin typeface="Metropolis" pitchFamily="2" charset="77"/>
            </a:endParaRPr>
          </a:p>
          <a:p>
            <a:pPr marL="0" lvl="0" indent="0" algn="l" rtl="0">
              <a:lnSpc>
                <a:spcPct val="80000"/>
              </a:lnSpc>
              <a:spcBef>
                <a:spcPts val="0"/>
              </a:spcBef>
              <a:spcAft>
                <a:spcPts val="0"/>
              </a:spcAft>
              <a:buNone/>
            </a:pPr>
            <a:endParaRPr lang="en-US" sz="800" dirty="0">
              <a:latin typeface="Metropolis" pitchFamily="2" charset="77"/>
            </a:endParaRPr>
          </a:p>
          <a:p>
            <a:pPr marL="0" lvl="0" indent="0" algn="l" rtl="0">
              <a:lnSpc>
                <a:spcPct val="80000"/>
              </a:lnSpc>
              <a:spcBef>
                <a:spcPts val="0"/>
              </a:spcBef>
              <a:spcAft>
                <a:spcPts val="0"/>
              </a:spcAft>
              <a:buNone/>
            </a:pPr>
            <a:r>
              <a:rPr lang="en-US" sz="800" dirty="0">
                <a:latin typeface="Metropolis" pitchFamily="2" charset="77"/>
              </a:rPr>
              <a:t>&lt;click&gt;</a:t>
            </a:r>
            <a:endParaRPr lang="en-US" dirty="0">
              <a:latin typeface="Metropolis" pitchFamily="2" charset="77"/>
            </a:endParaRPr>
          </a:p>
          <a:p>
            <a:pPr marL="0" lvl="0" indent="0" algn="l" rtl="0">
              <a:lnSpc>
                <a:spcPct val="80000"/>
              </a:lnSpc>
              <a:spcBef>
                <a:spcPts val="0"/>
              </a:spcBef>
              <a:spcAft>
                <a:spcPts val="0"/>
              </a:spcAft>
              <a:buNone/>
            </a:pPr>
            <a:r>
              <a:rPr lang="en-US" sz="800" dirty="0">
                <a:latin typeface="Metropolis" pitchFamily="2" charset="77"/>
              </a:rPr>
              <a:t>Once the VCF Installer workflow is complete, Cloud Foundation performs a validation of the inputs and recommendations which may be required before the fully automated SDDC deployment commences.</a:t>
            </a:r>
          </a:p>
          <a:p>
            <a:pPr marL="0" lvl="0" indent="0" algn="l" rtl="0">
              <a:lnSpc>
                <a:spcPct val="80000"/>
              </a:lnSpc>
              <a:spcBef>
                <a:spcPts val="0"/>
              </a:spcBef>
              <a:spcAft>
                <a:spcPts val="0"/>
              </a:spcAft>
              <a:buNone/>
            </a:pPr>
            <a:endParaRPr lang="en-US" dirty="0">
              <a:latin typeface="Metropolis" pitchFamily="2" charset="77"/>
            </a:endParaRPr>
          </a:p>
          <a:p>
            <a:pPr marL="0" lvl="0" indent="0" algn="l" rtl="0">
              <a:lnSpc>
                <a:spcPct val="80000"/>
              </a:lnSpc>
              <a:spcBef>
                <a:spcPts val="0"/>
              </a:spcBef>
              <a:spcAft>
                <a:spcPts val="0"/>
              </a:spcAft>
              <a:buNone/>
            </a:pPr>
            <a:r>
              <a:rPr lang="en-US" dirty="0">
                <a:latin typeface="Metropolis" pitchFamily="2" charset="77"/>
              </a:rPr>
              <a:t>&lt;click&gt;</a:t>
            </a:r>
          </a:p>
          <a:p>
            <a:pPr marL="0" lvl="0" indent="0" algn="l" rtl="0">
              <a:lnSpc>
                <a:spcPct val="80000"/>
              </a:lnSpc>
              <a:spcBef>
                <a:spcPts val="0"/>
              </a:spcBef>
              <a:spcAft>
                <a:spcPts val="0"/>
              </a:spcAft>
              <a:buNone/>
            </a:pPr>
            <a:r>
              <a:rPr lang="en-US" sz="800" dirty="0">
                <a:latin typeface="Metropolis" pitchFamily="2" charset="77"/>
              </a:rPr>
              <a:t>During the deployment, a cluster is formed, NSX will be deployed and configured for use, best practice configurations are applied, and all management component VMs deployed, including VCF Operations.</a:t>
            </a:r>
            <a:br>
              <a:rPr lang="en-US" sz="800" dirty="0">
                <a:latin typeface="Metropolis" pitchFamily="2" charset="77"/>
              </a:rPr>
            </a:br>
            <a:r>
              <a:rPr lang="en-US" sz="800" dirty="0">
                <a:latin typeface="Metropolis" pitchFamily="2" charset="77"/>
              </a:rPr>
              <a:t>Customers are given the option to also deploy VCF Automation as part of the workflow.</a:t>
            </a:r>
            <a:br>
              <a:rPr lang="en-US" sz="800" dirty="0">
                <a:latin typeface="Metropolis" pitchFamily="2" charset="77"/>
              </a:rPr>
            </a:br>
            <a:endParaRPr lang="en-US" sz="800"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r>
              <a:rPr lang="en-US" sz="800" b="1" u="none" strike="noStrike" dirty="0">
                <a:solidFill>
                  <a:schemeClr val="dk1"/>
                </a:solidFill>
                <a:latin typeface="Metropolis" pitchFamily="2" charset="77"/>
                <a:sym typeface="Arial"/>
              </a:rPr>
              <a:t>Notes:</a:t>
            </a:r>
            <a:endParaRPr lang="en-US" sz="800"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r>
              <a:rPr lang="en-US" sz="800" strike="noStrike" dirty="0">
                <a:latin typeface="Metropolis" pitchFamily="2" charset="77"/>
                <a:ea typeface="Helvetica Neue"/>
                <a:cs typeface="Helvetica Neue"/>
                <a:sym typeface="Helvetica Neue"/>
              </a:rPr>
              <a:t>A new VCF instance is deployed in Evaluation mode – the environment is required to be licensed using a license file within the first 60 days of a deployment.</a:t>
            </a:r>
            <a:endParaRPr lang="en-US" dirty="0">
              <a:latin typeface="Metropolis" pitchFamily="2" charset="77"/>
            </a:endParaRPr>
          </a:p>
          <a:p>
            <a:pPr marL="0" marR="0" lvl="0" indent="0" algn="l" rtl="0">
              <a:lnSpc>
                <a:spcPct val="80000"/>
              </a:lnSpc>
              <a:spcBef>
                <a:spcPts val="0"/>
              </a:spcBef>
              <a:spcAft>
                <a:spcPts val="0"/>
              </a:spcAft>
              <a:buClr>
                <a:schemeClr val="dk1"/>
              </a:buClr>
              <a:buSzPts val="570"/>
              <a:buFont typeface="Helvetica Neue"/>
              <a:buNone/>
            </a:pPr>
            <a:r>
              <a:rPr lang="en-US" sz="800" dirty="0">
                <a:latin typeface="Metropolis" pitchFamily="2" charset="77"/>
                <a:ea typeface="Helvetica Neue"/>
                <a:cs typeface="Helvetica Neue"/>
                <a:sym typeface="Helvetica Neue"/>
              </a:rPr>
              <a:t>VCF is fully functional while the deployment is running in Evaluation mode and allows a user to deploy additional hosts, workload domains and clusters.  </a:t>
            </a:r>
            <a:br>
              <a:rPr lang="en-US" sz="800" dirty="0">
                <a:latin typeface="Metropolis" pitchFamily="2" charset="77"/>
                <a:ea typeface="Helvetica Neue"/>
                <a:cs typeface="Helvetica Neue"/>
                <a:sym typeface="Helvetica Neue"/>
              </a:rPr>
            </a:br>
            <a:r>
              <a:rPr lang="en-US" sz="800" dirty="0">
                <a:latin typeface="Metropolis" pitchFamily="2" charset="77"/>
                <a:ea typeface="Helvetica Neue"/>
                <a:cs typeface="Helvetica Neue"/>
                <a:sym typeface="Helvetica Neue"/>
              </a:rPr>
              <a:t>VCF 9.0 supports a number of different storage topologies</a:t>
            </a:r>
          </a:p>
          <a:p>
            <a:pPr marL="0" lvl="0" indent="0" algn="l" rtl="0">
              <a:lnSpc>
                <a:spcPct val="80000"/>
              </a:lnSpc>
              <a:spcBef>
                <a:spcPts val="0"/>
              </a:spcBef>
              <a:spcAft>
                <a:spcPts val="0"/>
              </a:spcAft>
              <a:buNone/>
            </a:pPr>
            <a:endParaRPr lang="en-US" sz="800" dirty="0">
              <a:latin typeface="Metropolis" pitchFamily="2" charset="77"/>
            </a:endParaRPr>
          </a:p>
          <a:p>
            <a:pPr marL="0" lvl="0" indent="0" algn="l" rtl="0">
              <a:lnSpc>
                <a:spcPct val="80000"/>
              </a:lnSpc>
              <a:spcBef>
                <a:spcPts val="0"/>
              </a:spcBef>
              <a:spcAft>
                <a:spcPts val="0"/>
              </a:spcAft>
              <a:buNone/>
            </a:pPr>
            <a:r>
              <a:rPr lang="en-US" sz="800" b="1" u="none" strike="noStrike" dirty="0">
                <a:solidFill>
                  <a:schemeClr val="dk1"/>
                </a:solidFill>
                <a:latin typeface="Metropolis" pitchFamily="2" charset="77"/>
                <a:sym typeface="Arial"/>
              </a:rPr>
              <a:t>Resources:</a:t>
            </a:r>
            <a:br>
              <a:rPr lang="en-US" sz="800" dirty="0">
                <a:solidFill>
                  <a:srgbClr val="0052CC"/>
                </a:solidFill>
                <a:latin typeface="Metropolis" pitchFamily="2" charset="77"/>
                <a:sym typeface="Arial"/>
              </a:rPr>
            </a:br>
            <a:r>
              <a:rPr lang="en-US" sz="800" dirty="0">
                <a:solidFill>
                  <a:srgbClr val="0052CC"/>
                </a:solidFill>
                <a:latin typeface="Metropolis" pitchFamily="2" charset="77"/>
                <a:sym typeface="Arial"/>
              </a:rPr>
              <a:t>VCF Solution Licensing:</a:t>
            </a:r>
            <a:br>
              <a:rPr lang="en-US" sz="800" dirty="0">
                <a:solidFill>
                  <a:srgbClr val="0052CC"/>
                </a:solidFill>
                <a:latin typeface="Metropolis" pitchFamily="2" charset="77"/>
                <a:sym typeface="Arial"/>
              </a:rPr>
            </a:br>
            <a:r>
              <a:rPr lang="en-US" sz="800" dirty="0">
                <a:solidFill>
                  <a:srgbClr val="0052CC"/>
                </a:solidFill>
                <a:latin typeface="Metropolis" pitchFamily="2" charset="77"/>
                <a:sym typeface="Arial"/>
              </a:rPr>
              <a:t>Please refer to the PnP presentation and FAQ for further information on Solution Licensing</a:t>
            </a:r>
            <a:endParaRPr lang="en-US" dirty="0">
              <a:latin typeface="Metropolis" pitchFamily="2" charset="77"/>
            </a:endParaRPr>
          </a:p>
          <a:p>
            <a:pPr marL="0" marR="0" lvl="0" indent="0" algn="l" rtl="0">
              <a:lnSpc>
                <a:spcPct val="80000"/>
              </a:lnSpc>
              <a:spcBef>
                <a:spcPts val="0"/>
              </a:spcBef>
              <a:spcAft>
                <a:spcPts val="0"/>
              </a:spcAft>
              <a:buClr>
                <a:schemeClr val="dk1"/>
              </a:buClr>
              <a:buSzPts val="570"/>
              <a:buFont typeface="Arial"/>
              <a:buNone/>
            </a:pPr>
            <a:endParaRPr lang="en-US" sz="800" dirty="0">
              <a:latin typeface="Metropolis" pitchFamily="2" charset="77"/>
            </a:endParaRPr>
          </a:p>
          <a:p>
            <a:endParaRPr lang="en-US" dirty="0"/>
          </a:p>
        </p:txBody>
      </p:sp>
      <p:sp>
        <p:nvSpPr>
          <p:cNvPr id="4" name="Slide Number Placeholder 3">
            <a:extLst>
              <a:ext uri="{FF2B5EF4-FFF2-40B4-BE49-F238E27FC236}">
                <a16:creationId xmlns:a16="http://schemas.microsoft.com/office/drawing/2014/main" id="{D7E7B80D-516A-8085-FB1A-74187ECA4C92}"/>
              </a:ext>
            </a:extLst>
          </p:cNvPr>
          <p:cNvSpPr>
            <a:spLocks noGrp="1"/>
          </p:cNvSpPr>
          <p:nvPr>
            <p:ph type="sldNum" sz="quarter" idx="5"/>
          </p:nvPr>
        </p:nvSpPr>
        <p:spPr/>
        <p:txBody>
          <a:bodyPr/>
          <a:lstStyle/>
          <a:p>
            <a:fld id="{9F4FBC3A-A12C-40F9-BB8D-BC30C7901396}" type="slidenum">
              <a:rPr lang="en-US" smtClean="0"/>
              <a:pPr/>
              <a:t>16</a:t>
            </a:fld>
            <a:endParaRPr lang="en-US" dirty="0"/>
          </a:p>
        </p:txBody>
      </p:sp>
    </p:spTree>
    <p:extLst>
      <p:ext uri="{BB962C8B-B14F-4D97-AF65-F5344CB8AC3E}">
        <p14:creationId xmlns:p14="http://schemas.microsoft.com/office/powerpoint/2010/main" val="2361129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AEA81-2303-F89D-59D3-533923C489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1D2F4B-3F9D-27FE-B080-9EF7E509C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6EB2CC-B778-D8BC-B8AC-ACC51C42BD8C}"/>
              </a:ext>
            </a:extLst>
          </p:cNvPr>
          <p:cNvSpPr>
            <a:spLocks noGrp="1"/>
          </p:cNvSpPr>
          <p:nvPr>
            <p:ph type="body" idx="1"/>
          </p:nvPr>
        </p:nvSpPr>
        <p:spPr/>
        <p:txBody>
          <a:bodyPr>
            <a:normAutofit fontScale="32500" lnSpcReduction="20000"/>
          </a:bodyPr>
          <a:lstStyle/>
          <a:p>
            <a:pPr marL="0" marR="0" lvl="0" indent="0" algn="l" defTabSz="914400" rtl="0" eaLnBrk="1" fontAlgn="auto" latinLnBrk="0" hangingPunct="1">
              <a:lnSpc>
                <a:spcPct val="80000"/>
              </a:lnSpc>
              <a:spcBef>
                <a:spcPts val="0"/>
              </a:spcBef>
              <a:spcAft>
                <a:spcPts val="0"/>
              </a:spcAft>
              <a:buClrTx/>
              <a:buSzTx/>
              <a:buFontTx/>
              <a:buNone/>
              <a:tabLst/>
              <a:defRPr/>
            </a:pPr>
            <a:r>
              <a:rPr lang="en-US" sz="4400" b="1" dirty="0">
                <a:latin typeface="Metropolis" pitchFamily="2" charset="77"/>
              </a:rPr>
              <a:t>Presenter Note:  This slide contains animation</a:t>
            </a:r>
          </a:p>
          <a:p>
            <a:pPr marL="0" lvl="0" indent="0" algn="l" rtl="0">
              <a:lnSpc>
                <a:spcPct val="80000"/>
              </a:lnSpc>
              <a:spcBef>
                <a:spcPts val="0"/>
              </a:spcBef>
              <a:spcAft>
                <a:spcPts val="0"/>
              </a:spcAft>
              <a:buNone/>
            </a:pPr>
            <a:endParaRPr lang="en-US" sz="2400" b="1"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r>
              <a:rPr lang="en-US" sz="2400" b="1" u="none" strike="noStrike" dirty="0">
                <a:solidFill>
                  <a:schemeClr val="dk1"/>
                </a:solidFill>
                <a:latin typeface="Metropolis" pitchFamily="2" charset="77"/>
                <a:sym typeface="Arial"/>
              </a:rPr>
              <a:t>Key Message:</a:t>
            </a:r>
          </a:p>
          <a:p>
            <a:pPr marL="0" marR="0" lvl="0" indent="0" algn="l" defTabSz="914400" rtl="0" eaLnBrk="1" fontAlgn="auto" latinLnBrk="0" hangingPunct="1">
              <a:lnSpc>
                <a:spcPct val="80000"/>
              </a:lnSpc>
              <a:spcBef>
                <a:spcPts val="0"/>
              </a:spcBef>
              <a:spcAft>
                <a:spcPts val="0"/>
              </a:spcAft>
              <a:buClrTx/>
              <a:buSzTx/>
              <a:buFontTx/>
              <a:buNone/>
              <a:tabLst/>
              <a:defRPr/>
            </a:pPr>
            <a:r>
              <a:rPr lang="en-US" sz="2400" b="0" u="none" strike="noStrike" dirty="0">
                <a:solidFill>
                  <a:schemeClr val="dk1"/>
                </a:solidFill>
                <a:latin typeface="Metropolis" pitchFamily="2" charset="77"/>
                <a:sym typeface="Arial"/>
              </a:rPr>
              <a:t>VCF 9 can be implemented into a new or existing environment in a number of different ways using user-driven UI workflows.</a:t>
            </a:r>
            <a:br>
              <a:rPr lang="en-US" sz="2400" b="0" u="none" strike="noStrike" dirty="0">
                <a:solidFill>
                  <a:schemeClr val="dk1"/>
                </a:solidFill>
                <a:latin typeface="Metropolis" pitchFamily="2" charset="77"/>
                <a:sym typeface="Arial"/>
              </a:rPr>
            </a:br>
            <a:r>
              <a:rPr lang="en-AU" sz="2400" b="0" dirty="0">
                <a:effectLst/>
                <a:latin typeface="Helvetica Neue" panose="02000503000000020004" pitchFamily="2" charset="0"/>
              </a:rPr>
              <a:t>The VCF Installer appliance provides an easier, quicker and more repeatable set of workflows for our customers to get on the pathway to VCF</a:t>
            </a:r>
          </a:p>
          <a:p>
            <a:pPr marL="0" marR="0" lvl="0" indent="0" algn="l" defTabSz="914400" rtl="0" eaLnBrk="1" fontAlgn="auto" latinLnBrk="0" hangingPunct="1">
              <a:lnSpc>
                <a:spcPct val="80000"/>
              </a:lnSpc>
              <a:spcBef>
                <a:spcPts val="0"/>
              </a:spcBef>
              <a:spcAft>
                <a:spcPts val="0"/>
              </a:spcAft>
              <a:buClrTx/>
              <a:buSzTx/>
              <a:buFontTx/>
              <a:buNone/>
              <a:tabLst/>
              <a:defRPr/>
            </a:pPr>
            <a:endParaRPr lang="en-US" sz="2400" b="1" dirty="0">
              <a:latin typeface="Metropolis" pitchFamily="2" charset="77"/>
            </a:endParaRPr>
          </a:p>
          <a:p>
            <a:pPr marL="0" marR="0" lvl="0" indent="0" algn="l" defTabSz="914400" rtl="0" eaLnBrk="1" fontAlgn="auto" latinLnBrk="0" hangingPunct="1">
              <a:lnSpc>
                <a:spcPct val="80000"/>
              </a:lnSpc>
              <a:spcBef>
                <a:spcPts val="0"/>
              </a:spcBef>
              <a:spcAft>
                <a:spcPts val="0"/>
              </a:spcAft>
              <a:buClrTx/>
              <a:buSzTx/>
              <a:buFontTx/>
              <a:buNone/>
              <a:tabLst/>
              <a:defRPr/>
            </a:pPr>
            <a:r>
              <a:rPr lang="en-US" sz="2400" b="1" dirty="0">
                <a:latin typeface="Metropolis" pitchFamily="2" charset="77"/>
              </a:rPr>
              <a:t>Talk Track:</a:t>
            </a:r>
            <a:br>
              <a:rPr lang="en-US" sz="2400" b="1" dirty="0">
                <a:latin typeface="Metropolis" pitchFamily="2" charset="77"/>
              </a:rPr>
            </a:br>
            <a:r>
              <a:rPr lang="en-AU" sz="1800" b="0" kern="100" dirty="0">
                <a:effectLst/>
                <a:latin typeface="Aptos" panose="020B0004020202020204" pitchFamily="34" charset="0"/>
                <a:ea typeface="Aptos" panose="020B0004020202020204" pitchFamily="34" charset="0"/>
                <a:cs typeface="Times New Roman" panose="02020603050405020304" pitchFamily="18" charset="0"/>
              </a:rPr>
              <a:t>VMware Cloud Foundation 9 is a major release which includes a number of significant new capabilities and a more integrated experience for private cloud administrators.</a:t>
            </a:r>
          </a:p>
          <a:p>
            <a:pPr marL="0" marR="0" lvl="0" indent="0" algn="l" defTabSz="914400" rtl="0" eaLnBrk="1" fontAlgn="auto" latinLnBrk="0" hangingPunct="1">
              <a:lnSpc>
                <a:spcPct val="80000"/>
              </a:lnSpc>
              <a:spcBef>
                <a:spcPts val="0"/>
              </a:spcBef>
              <a:spcAft>
                <a:spcPts val="0"/>
              </a:spcAft>
              <a:buClrTx/>
              <a:buSzTx/>
              <a:buFontTx/>
              <a:buNone/>
              <a:tabLst/>
              <a:defRPr/>
            </a:pPr>
            <a:endParaRPr lang="en-US" sz="2400" b="0" u="none" strike="noStrike" dirty="0">
              <a:solidFill>
                <a:schemeClr val="dk1"/>
              </a:solidFill>
              <a:latin typeface="Metropolis" pitchFamily="2" charset="77"/>
              <a:sym typeface="Arial"/>
            </a:endParaRPr>
          </a:p>
          <a:p>
            <a:pPr marL="0" marR="0" lvl="0" indent="0" algn="l" defTabSz="914400" rtl="0" eaLnBrk="1" fontAlgn="auto" latinLnBrk="0" hangingPunct="1">
              <a:lnSpc>
                <a:spcPct val="80000"/>
              </a:lnSpc>
              <a:spcBef>
                <a:spcPts val="0"/>
              </a:spcBef>
              <a:spcAft>
                <a:spcPts val="0"/>
              </a:spcAft>
              <a:buClrTx/>
              <a:buSzTx/>
              <a:buFontTx/>
              <a:buNone/>
              <a:tabLst/>
              <a:defRPr/>
            </a:pPr>
            <a:r>
              <a:rPr lang="en-US" sz="2400" b="0" u="none" strike="noStrike" dirty="0">
                <a:solidFill>
                  <a:schemeClr val="dk1"/>
                </a:solidFill>
                <a:latin typeface="Metropolis" pitchFamily="2" charset="77"/>
                <a:sym typeface="Arial"/>
              </a:rPr>
              <a:t>The VMware Cloud Foundation Installer appliance (VCF Installer) is new to VCF 9 and introduces a more flexible set of workflows for deploying VMware Cloud Foundation to</a:t>
            </a:r>
            <a:r>
              <a:rPr lang="en-US" sz="2400" b="0" dirty="0">
                <a:latin typeface="Metropolis" pitchFamily="2" charset="77"/>
              </a:rPr>
              <a:t> suit an extended set of use cases and topology types. </a:t>
            </a:r>
          </a:p>
          <a:p>
            <a:pPr marL="0" marR="0" lvl="0" indent="0" algn="l" defTabSz="914400" rtl="0" eaLnBrk="1" fontAlgn="auto" latinLnBrk="0" hangingPunct="1">
              <a:lnSpc>
                <a:spcPct val="80000"/>
              </a:lnSpc>
              <a:spcBef>
                <a:spcPts val="0"/>
              </a:spcBef>
              <a:spcAft>
                <a:spcPts val="0"/>
              </a:spcAft>
              <a:buClrTx/>
              <a:buSzTx/>
              <a:buFontTx/>
              <a:buNone/>
              <a:tabLst/>
              <a:defRPr/>
            </a:pPr>
            <a:endParaRPr lang="en-US" sz="2400" b="0" dirty="0">
              <a:latin typeface="Metropolis" pitchFamily="2" charset="77"/>
            </a:endParaRPr>
          </a:p>
          <a:p>
            <a:pPr marL="0" marR="0" lvl="0" indent="0" algn="l" defTabSz="914400" rtl="0" eaLnBrk="1" fontAlgn="auto" latinLnBrk="0" hangingPunct="1">
              <a:lnSpc>
                <a:spcPct val="80000"/>
              </a:lnSpc>
              <a:spcBef>
                <a:spcPts val="0"/>
              </a:spcBef>
              <a:spcAft>
                <a:spcPts val="0"/>
              </a:spcAft>
              <a:buClrTx/>
              <a:buSzTx/>
              <a:buFontTx/>
              <a:buNone/>
              <a:tabLst/>
              <a:defRPr/>
            </a:pPr>
            <a:r>
              <a:rPr lang="en-US" sz="2400" b="0" dirty="0">
                <a:latin typeface="Metropolis" pitchFamily="2" charset="77"/>
              </a:rPr>
              <a:t>&lt;click 1&gt;</a:t>
            </a:r>
          </a:p>
          <a:p>
            <a:pPr marL="0" indent="0">
              <a:buFontTx/>
              <a:buNone/>
            </a:pPr>
            <a:r>
              <a:rPr lang="en-US" sz="2400" b="0" dirty="0">
                <a:latin typeface="Metropolis" pitchFamily="2" charset="77"/>
              </a:rPr>
              <a:t>The VCF Installer can be used to d</a:t>
            </a:r>
            <a:r>
              <a:rPr lang="en-US" sz="3200" b="0" dirty="0">
                <a:solidFill>
                  <a:schemeClr val="tx1"/>
                </a:solidFill>
              </a:rPr>
              <a:t>eploy a </a:t>
            </a:r>
            <a:r>
              <a:rPr lang="en-US" sz="3200" dirty="0">
                <a:solidFill>
                  <a:schemeClr val="tx1"/>
                </a:solidFill>
              </a:rPr>
              <a:t>new VCF Fleet …or for customers with multiple environments they can choose to deploy another VCF instance into an existing VCF Fleet.  Each VCF instance is deployed using vSphere and vCenter server, NSX, VCF Operations and VCF Automation.  Configuring your VCF environment for vSAN delivers a full SDDC stack.</a:t>
            </a:r>
          </a:p>
          <a:p>
            <a:pPr marL="0" indent="0">
              <a:buFontTx/>
              <a:buNone/>
            </a:pPr>
            <a:endParaRPr lang="en-US" sz="3200" dirty="0">
              <a:solidFill>
                <a:schemeClr val="tx1"/>
              </a:solidFill>
            </a:endParaRPr>
          </a:p>
          <a:p>
            <a:pPr marL="0" indent="0">
              <a:buFontTx/>
              <a:buNone/>
            </a:pPr>
            <a:r>
              <a:rPr lang="en-US" sz="3200" dirty="0">
                <a:solidFill>
                  <a:schemeClr val="tx1"/>
                </a:solidFill>
              </a:rPr>
              <a:t>&lt;click 2&gt;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schemeClr val="tx1"/>
                </a:solidFill>
              </a:rPr>
              <a:t>The VCF Installer appliance also contains inbuilt workflows to </a:t>
            </a:r>
            <a:r>
              <a:rPr lang="en-US" sz="4000" dirty="0">
                <a:solidFill>
                  <a:schemeClr val="tx1"/>
                </a:solidFill>
              </a:rPr>
              <a:t>converge (re-use) an existing vCenter deployment (a non-VCF deployment) to a VCF management cluster.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4000" dirty="0">
              <a:solidFill>
                <a:schemeClr val="tx1"/>
              </a:solidFill>
            </a:endParaRPr>
          </a:p>
          <a:p>
            <a:pPr marL="0" marR="0" lvl="0" indent="0" algn="l" defTabSz="914400" rtl="0" eaLnBrk="1" fontAlgn="auto" latinLnBrk="0" hangingPunct="1">
              <a:lnSpc>
                <a:spcPct val="80000"/>
              </a:lnSpc>
              <a:spcBef>
                <a:spcPts val="0"/>
              </a:spcBef>
              <a:spcAft>
                <a:spcPts val="0"/>
              </a:spcAft>
              <a:buClr>
                <a:schemeClr val="dk1"/>
              </a:buClr>
              <a:buSzPts val="1040"/>
              <a:buFont typeface="Arial"/>
              <a:buNone/>
              <a:tabLst/>
              <a:defRPr/>
            </a:pPr>
            <a:r>
              <a:rPr lang="en-US" sz="4000" b="0" i="0" u="none" strike="noStrike" dirty="0">
                <a:solidFill>
                  <a:srgbClr val="000000"/>
                </a:solidFill>
                <a:latin typeface="Calibri"/>
                <a:ea typeface="Calibri"/>
                <a:cs typeface="Calibri"/>
                <a:sym typeface="Calibri"/>
              </a:rPr>
              <a:t>When performing a conversion, the VCF Installer is to be deployed into the same cluster as the residing vCenter Server appliance. </a:t>
            </a:r>
            <a:r>
              <a:rPr lang="en-US" sz="4000" dirty="0">
                <a:solidFill>
                  <a:schemeClr val="dk1"/>
                </a:solidFill>
              </a:rPr>
              <a:t>We support existing vCenter clusters configured for vSAN or existing clusters configured with external storage.</a:t>
            </a:r>
            <a:endParaRPr lang="en-US" sz="4000" b="0" i="0" u="none" strike="noStrike" dirty="0">
              <a:solidFill>
                <a:srgbClr val="000000"/>
              </a:solidFill>
              <a:latin typeface="Calibri"/>
              <a:ea typeface="Calibri"/>
              <a:cs typeface="Calibri"/>
              <a:sym typeface="Calibri"/>
            </a:endParaRPr>
          </a:p>
          <a:p>
            <a:pPr marL="0" marR="0" lvl="0" indent="0" algn="l" defTabSz="914400" rtl="0" eaLnBrk="1" fontAlgn="auto" latinLnBrk="0" hangingPunct="1">
              <a:lnSpc>
                <a:spcPct val="80000"/>
              </a:lnSpc>
              <a:spcBef>
                <a:spcPts val="0"/>
              </a:spcBef>
              <a:spcAft>
                <a:spcPts val="0"/>
              </a:spcAft>
              <a:buClr>
                <a:schemeClr val="dk1"/>
              </a:buClr>
              <a:buSzPts val="1040"/>
              <a:buFont typeface="Arial"/>
              <a:buNone/>
              <a:tabLst/>
              <a:defRPr/>
            </a:pPr>
            <a:endParaRPr lang="en-US" sz="4000" dirty="0">
              <a:solidFill>
                <a:schemeClr val="dk1"/>
              </a:solidFill>
            </a:endParaRPr>
          </a:p>
          <a:p>
            <a:pPr marL="0" marR="0" lvl="0" indent="0" algn="l" defTabSz="914400" rtl="0" eaLnBrk="1" fontAlgn="auto" latinLnBrk="0" hangingPunct="1">
              <a:lnSpc>
                <a:spcPct val="80000"/>
              </a:lnSpc>
              <a:spcBef>
                <a:spcPts val="0"/>
              </a:spcBef>
              <a:spcAft>
                <a:spcPts val="0"/>
              </a:spcAft>
              <a:buClr>
                <a:schemeClr val="dk1"/>
              </a:buClr>
              <a:buSzPts val="1040"/>
              <a:buFont typeface="Arial"/>
              <a:buNone/>
              <a:tabLst/>
              <a:defRPr/>
            </a:pPr>
            <a:r>
              <a:rPr lang="en-US" sz="4000" dirty="0">
                <a:solidFill>
                  <a:schemeClr val="dk1"/>
                </a:solidFill>
              </a:rPr>
              <a:t>Once converged, the environment then becomes a fully functioning new VCF instance which is then managed, scaled and lifecycle managed as VCF.</a:t>
            </a:r>
            <a:br>
              <a:rPr lang="en-US" sz="4000" dirty="0">
                <a:solidFill>
                  <a:schemeClr val="dk1"/>
                </a:solidFill>
              </a:rPr>
            </a:br>
            <a:br>
              <a:rPr lang="en-US" sz="4000" dirty="0">
                <a:solidFill>
                  <a:schemeClr val="dk1"/>
                </a:solidFill>
              </a:rPr>
            </a:br>
            <a:r>
              <a:rPr lang="en-US" sz="4000" dirty="0">
                <a:solidFill>
                  <a:schemeClr val="dk1"/>
                </a:solidFill>
              </a:rPr>
              <a:t>This isn’t all the VCF Installer can do.  The VCF Installer workflow also provides options to converge an existing VCF Operations instance and/or an existing VCF Automation instance.  </a:t>
            </a:r>
          </a:p>
          <a:p>
            <a:pPr marL="0" marR="0" lvl="0" indent="0" algn="l" defTabSz="914400" rtl="0" eaLnBrk="1" fontAlgn="auto" latinLnBrk="0" hangingPunct="1">
              <a:lnSpc>
                <a:spcPct val="80000"/>
              </a:lnSpc>
              <a:spcBef>
                <a:spcPts val="0"/>
              </a:spcBef>
              <a:spcAft>
                <a:spcPts val="0"/>
              </a:spcAft>
              <a:buClr>
                <a:schemeClr val="dk1"/>
              </a:buClr>
              <a:buSzPts val="1040"/>
              <a:buFont typeface="Arial"/>
              <a:buNone/>
              <a:tabLst/>
              <a:defRPr/>
            </a:pPr>
            <a:endParaRPr lang="en-US" sz="4000" dirty="0">
              <a:solidFill>
                <a:schemeClr val="dk1"/>
              </a:solidFill>
            </a:endParaRPr>
          </a:p>
          <a:p>
            <a:pPr marL="0" marR="0" lvl="0" indent="0" algn="l" defTabSz="914400" rtl="0" eaLnBrk="1" fontAlgn="auto" latinLnBrk="0" hangingPunct="1">
              <a:lnSpc>
                <a:spcPct val="80000"/>
              </a:lnSpc>
              <a:spcBef>
                <a:spcPts val="0"/>
              </a:spcBef>
              <a:spcAft>
                <a:spcPts val="0"/>
              </a:spcAft>
              <a:buClr>
                <a:schemeClr val="dk1"/>
              </a:buClr>
              <a:buSzPts val="1040"/>
              <a:buFont typeface="Arial"/>
              <a:buNone/>
              <a:tabLst/>
              <a:defRPr/>
            </a:pPr>
            <a:r>
              <a:rPr lang="en-AU" sz="4000" b="0" dirty="0">
                <a:effectLst/>
                <a:latin typeface="Helvetica Neue" panose="02000503000000020004" pitchFamily="2" charset="0"/>
              </a:rPr>
              <a:t>The VCF Installer appliance provides an easier, quicker and more repeatable set of workflows for our customers to get on the pathway to VCF</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b="1" dirty="0">
              <a:latin typeface="Metropolis" pitchFamily="2" charset="77"/>
            </a:endParaRPr>
          </a:p>
          <a:p>
            <a:pPr marL="0" marR="0" lvl="0" indent="0" algn="l" defTabSz="914400" rtl="0" eaLnBrk="1" fontAlgn="auto" latinLnBrk="0" hangingPunct="1">
              <a:lnSpc>
                <a:spcPct val="80000"/>
              </a:lnSpc>
              <a:spcBef>
                <a:spcPts val="0"/>
              </a:spcBef>
              <a:spcAft>
                <a:spcPts val="0"/>
              </a:spcAft>
              <a:buClrTx/>
              <a:buSzTx/>
              <a:buFontTx/>
              <a:buNone/>
              <a:tabLst/>
              <a:defRPr/>
            </a:pPr>
            <a:r>
              <a:rPr lang="en-US" sz="2400" b="1" dirty="0">
                <a:latin typeface="Metropolis" pitchFamily="2" charset="77"/>
              </a:rPr>
              <a:t>Notes:</a:t>
            </a:r>
          </a:p>
          <a:p>
            <a:pPr marL="0" marR="0" lvl="0" indent="0" algn="l" defTabSz="914400" rtl="0" eaLnBrk="1" fontAlgn="auto" latinLnBrk="0" hangingPunct="1">
              <a:lnSpc>
                <a:spcPct val="80000"/>
              </a:lnSpc>
              <a:spcBef>
                <a:spcPts val="0"/>
              </a:spcBef>
              <a:spcAft>
                <a:spcPts val="0"/>
              </a:spcAft>
              <a:buClrTx/>
              <a:buSzTx/>
              <a:buFontTx/>
              <a:buNone/>
              <a:tabLst/>
              <a:defRPr/>
            </a:pPr>
            <a:r>
              <a:rPr lang="en-US" sz="2400" b="0" dirty="0">
                <a:latin typeface="Metropolis" pitchFamily="2" charset="77"/>
              </a:rPr>
              <a:t>- Existing vCenter deployments which can be reused (converged) and imported includes vCenter Server clusters configured as VMware vSphere Foundation (VVF).</a:t>
            </a:r>
          </a:p>
          <a:p>
            <a:pPr marL="0" marR="0" lvl="0" indent="0" algn="l" defTabSz="914400" rtl="0" eaLnBrk="1" fontAlgn="auto" latinLnBrk="0" hangingPunct="1">
              <a:lnSpc>
                <a:spcPct val="80000"/>
              </a:lnSpc>
              <a:spcBef>
                <a:spcPts val="0"/>
              </a:spcBef>
              <a:spcAft>
                <a:spcPts val="0"/>
              </a:spcAft>
              <a:buClrTx/>
              <a:buSzTx/>
              <a:buFontTx/>
              <a:buNone/>
              <a:tabLst/>
              <a:defRPr/>
            </a:pPr>
            <a:br>
              <a:rPr lang="en-US" sz="2400" b="1" dirty="0">
                <a:latin typeface="Metropolis" pitchFamily="2" charset="77"/>
              </a:rPr>
            </a:br>
            <a:r>
              <a:rPr lang="en-US" sz="2400" b="0" u="sng" dirty="0">
                <a:latin typeface="Metropolis" pitchFamily="2" charset="77"/>
              </a:rPr>
              <a:t>Re-using/converging an existing vCenter deployment to VCF:</a:t>
            </a:r>
            <a:br>
              <a:rPr lang="en-US" sz="2400" b="1" u="sng" dirty="0">
                <a:latin typeface="Metropolis" pitchFamily="2" charset="77"/>
              </a:rPr>
            </a:br>
            <a:r>
              <a:rPr lang="en-US" sz="2400" b="1" dirty="0">
                <a:latin typeface="Metropolis" pitchFamily="2" charset="77"/>
              </a:rPr>
              <a:t>- </a:t>
            </a:r>
            <a:r>
              <a:rPr lang="en-US" sz="1800" b="0" dirty="0">
                <a:solidFill>
                  <a:schemeClr val="tx1"/>
                </a:solidFill>
              </a:rPr>
              <a:t>The VCF appliance workflows to </a:t>
            </a:r>
            <a:r>
              <a:rPr lang="en-US" sz="2400" b="0" dirty="0">
                <a:solidFill>
                  <a:schemeClr val="tx1"/>
                </a:solidFill>
              </a:rPr>
              <a:t>re-use an existing vCenter deployment will converge the first cluster within the vCenter to a VCF management cluster.  All clusters within the vCenter Server are converged into the VCF management domain.</a:t>
            </a:r>
            <a:br>
              <a:rPr lang="en-US" sz="2400" b="0" dirty="0">
                <a:solidFill>
                  <a:schemeClr val="tx1"/>
                </a:solidFill>
              </a:rPr>
            </a:br>
            <a:r>
              <a:rPr lang="en-US" sz="2400" b="0" dirty="0">
                <a:solidFill>
                  <a:schemeClr val="tx1"/>
                </a:solidFill>
              </a:rPr>
              <a:t>- </a:t>
            </a:r>
            <a:r>
              <a:rPr lang="en-US" sz="2400" b="0" dirty="0">
                <a:solidFill>
                  <a:schemeClr val="tx1"/>
                </a:solidFill>
                <a:latin typeface="Metropolis" pitchFamily="2" charset="77"/>
              </a:rPr>
              <a:t>vSphere clusters configured with/without vSAN can be used when re-using (converging) a vSphere cluster to a VCF management cluster using the VCF Installer.  NSX is deployed as part of the conversion process.</a:t>
            </a:r>
          </a:p>
          <a:p>
            <a:pPr marL="0" marR="0" lvl="0" indent="0" algn="l" defTabSz="914400" rtl="0" eaLnBrk="1" fontAlgn="auto" latinLnBrk="0" hangingPunct="1">
              <a:lnSpc>
                <a:spcPct val="80000"/>
              </a:lnSpc>
              <a:spcBef>
                <a:spcPts val="0"/>
              </a:spcBef>
              <a:spcAft>
                <a:spcPts val="0"/>
              </a:spcAft>
              <a:buClrTx/>
              <a:buSzTx/>
              <a:buFontTx/>
              <a:buNone/>
              <a:tabLst/>
              <a:defRPr/>
            </a:pPr>
            <a:br>
              <a:rPr lang="en-US" sz="2400" b="1" dirty="0">
                <a:latin typeface="Metropolis" pitchFamily="2" charset="77"/>
              </a:rPr>
            </a:br>
            <a:r>
              <a:rPr lang="en-US" sz="2400" b="1" dirty="0">
                <a:latin typeface="Metropolis" pitchFamily="2" charset="77"/>
              </a:rPr>
              <a:t>Resources:</a:t>
            </a:r>
          </a:p>
          <a:p>
            <a:pPr marL="0" marR="0" lvl="0" indent="0" algn="l" defTabSz="914400" rtl="0" eaLnBrk="1" fontAlgn="auto" latinLnBrk="0" hangingPunct="1">
              <a:lnSpc>
                <a:spcPct val="80000"/>
              </a:lnSpc>
              <a:spcBef>
                <a:spcPts val="0"/>
              </a:spcBef>
              <a:spcAft>
                <a:spcPts val="0"/>
              </a:spcAft>
              <a:buClrTx/>
              <a:buSzTx/>
              <a:buFontTx/>
              <a:buNone/>
              <a:tabLst/>
              <a:defRPr/>
            </a:pPr>
            <a:endParaRPr lang="en-US" sz="2400" b="1" dirty="0">
              <a:latin typeface="Metropolis" pitchFamily="2" charset="77"/>
            </a:endParaRPr>
          </a:p>
          <a:p>
            <a:pPr marL="0" marR="0" lvl="0" indent="0" algn="l" defTabSz="914400" rtl="0" eaLnBrk="1" fontAlgn="auto" latinLnBrk="0" hangingPunct="1">
              <a:lnSpc>
                <a:spcPct val="80000"/>
              </a:lnSpc>
              <a:spcBef>
                <a:spcPts val="0"/>
              </a:spcBef>
              <a:spcAft>
                <a:spcPts val="0"/>
              </a:spcAft>
              <a:buClrTx/>
              <a:buSzTx/>
              <a:buFontTx/>
              <a:buNone/>
              <a:tabLst/>
              <a:defRPr/>
            </a:pPr>
            <a:endParaRPr lang="en-US" sz="2400" b="1" dirty="0">
              <a:latin typeface="Metropolis" pitchFamily="2" charset="77"/>
            </a:endParaRPr>
          </a:p>
        </p:txBody>
      </p:sp>
      <p:sp>
        <p:nvSpPr>
          <p:cNvPr id="4" name="Slide Number Placeholder 3">
            <a:extLst>
              <a:ext uri="{FF2B5EF4-FFF2-40B4-BE49-F238E27FC236}">
                <a16:creationId xmlns:a16="http://schemas.microsoft.com/office/drawing/2014/main" id="{E6E2E053-0039-5D1D-D316-B77C2FFCBF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4215887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lvl="0" indent="0" algn="l" rtl="0">
              <a:lnSpc>
                <a:spcPct val="60000"/>
              </a:lnSpc>
              <a:spcBef>
                <a:spcPts val="0"/>
              </a:spcBef>
              <a:spcAft>
                <a:spcPts val="0"/>
              </a:spcAft>
              <a:buClr>
                <a:schemeClr val="dk1"/>
              </a:buClr>
              <a:buSzPts val="2090"/>
              <a:buFont typeface="Arial"/>
              <a:buNone/>
            </a:pPr>
            <a:r>
              <a:rPr lang="en-US" sz="2400" b="1" dirty="0">
                <a:latin typeface="Arial"/>
                <a:ea typeface="Arial"/>
                <a:cs typeface="Arial"/>
                <a:sym typeface="Arial"/>
              </a:rPr>
              <a:t>Presenter Note:  This slide contains animation</a:t>
            </a:r>
            <a:endParaRPr lang="en-US" dirty="0"/>
          </a:p>
          <a:p>
            <a:pPr marL="0" lvl="0" indent="0" algn="l" rtl="0">
              <a:lnSpc>
                <a:spcPct val="60000"/>
              </a:lnSpc>
              <a:spcBef>
                <a:spcPts val="0"/>
              </a:spcBef>
              <a:spcAft>
                <a:spcPts val="0"/>
              </a:spcAft>
              <a:buClr>
                <a:schemeClr val="dk1"/>
              </a:buClr>
              <a:buSzPts val="1140"/>
              <a:buFont typeface="Arial"/>
              <a:buNone/>
            </a:pPr>
            <a:endParaRPr lang="en-US" sz="1200" b="1" u="none" strike="noStrike" dirty="0">
              <a:solidFill>
                <a:schemeClr val="dk1"/>
              </a:solidFill>
              <a:latin typeface="Arial"/>
              <a:ea typeface="Arial"/>
              <a:cs typeface="Arial"/>
              <a:sym typeface="Arial"/>
            </a:endParaRPr>
          </a:p>
          <a:p>
            <a:pPr marL="0" lvl="0" indent="0" algn="l" rtl="0">
              <a:lnSpc>
                <a:spcPct val="60000"/>
              </a:lnSpc>
              <a:spcBef>
                <a:spcPts val="0"/>
              </a:spcBef>
              <a:spcAft>
                <a:spcPts val="0"/>
              </a:spcAft>
              <a:buClr>
                <a:schemeClr val="dk1"/>
              </a:buClr>
              <a:buSzPts val="1140"/>
              <a:buFont typeface="Arial"/>
              <a:buNone/>
            </a:pPr>
            <a:r>
              <a:rPr lang="en-US" sz="1200" b="1" u="none" strike="noStrike" dirty="0">
                <a:solidFill>
                  <a:schemeClr val="dk1"/>
                </a:solidFill>
                <a:latin typeface="Arial"/>
                <a:ea typeface="Arial"/>
                <a:cs typeface="Arial"/>
                <a:sym typeface="Arial"/>
              </a:rPr>
              <a:t>Key Message:</a:t>
            </a:r>
            <a:endParaRPr lang="en-US" sz="1200" b="1" dirty="0">
              <a:latin typeface="Arial"/>
              <a:ea typeface="Arial"/>
              <a:cs typeface="Arial"/>
              <a:sym typeface="Arial"/>
            </a:endParaRPr>
          </a:p>
          <a:p>
            <a:pPr marL="0" lvl="0" indent="0" algn="l" rtl="0">
              <a:lnSpc>
                <a:spcPct val="60000"/>
              </a:lnSpc>
              <a:spcBef>
                <a:spcPts val="0"/>
              </a:spcBef>
              <a:spcAft>
                <a:spcPts val="0"/>
              </a:spcAft>
              <a:buClr>
                <a:schemeClr val="dk1"/>
              </a:buClr>
              <a:buSzPts val="1140"/>
              <a:buFont typeface="Arial"/>
              <a:buNone/>
            </a:pPr>
            <a:r>
              <a:rPr lang="en-US" sz="1200" dirty="0">
                <a:latin typeface="Arial"/>
                <a:ea typeface="Arial"/>
                <a:cs typeface="Arial"/>
                <a:sym typeface="Arial"/>
              </a:rPr>
              <a:t>Cloud Foundation introduces a more flexible process to deploy a standardized workload-ready private cloud in a matter of hours.</a:t>
            </a:r>
            <a:endParaRPr lang="en-US" dirty="0"/>
          </a:p>
          <a:p>
            <a:pPr marL="0" lvl="0" indent="0" algn="l" rtl="0">
              <a:lnSpc>
                <a:spcPct val="60000"/>
              </a:lnSpc>
              <a:spcBef>
                <a:spcPts val="0"/>
              </a:spcBef>
              <a:spcAft>
                <a:spcPts val="0"/>
              </a:spcAft>
              <a:buClr>
                <a:schemeClr val="dk1"/>
              </a:buClr>
              <a:buSzPts val="1140"/>
              <a:buFont typeface="Arial"/>
              <a:buNone/>
            </a:pPr>
            <a:endParaRPr lang="en-US" sz="1200" b="1" u="none" strike="noStrike" dirty="0">
              <a:solidFill>
                <a:schemeClr val="dk1"/>
              </a:solidFill>
              <a:latin typeface="Arial"/>
              <a:ea typeface="Arial"/>
              <a:cs typeface="Arial"/>
              <a:sym typeface="Arial"/>
            </a:endParaRPr>
          </a:p>
          <a:p>
            <a:pPr marL="0" lvl="0" indent="0" algn="l" rtl="0">
              <a:lnSpc>
                <a:spcPct val="60000"/>
              </a:lnSpc>
              <a:spcBef>
                <a:spcPts val="0"/>
              </a:spcBef>
              <a:spcAft>
                <a:spcPts val="0"/>
              </a:spcAft>
              <a:buClr>
                <a:schemeClr val="dk1"/>
              </a:buClr>
              <a:buSzPts val="1140"/>
              <a:buFont typeface="Arial"/>
              <a:buNone/>
            </a:pPr>
            <a:r>
              <a:rPr lang="en-US" sz="1200" b="1" u="none" strike="noStrike" dirty="0">
                <a:solidFill>
                  <a:schemeClr val="dk1"/>
                </a:solidFill>
                <a:latin typeface="Arial"/>
                <a:ea typeface="Arial"/>
                <a:cs typeface="Arial"/>
                <a:sym typeface="Arial"/>
              </a:rPr>
              <a:t>Talk Track:</a:t>
            </a:r>
            <a:br>
              <a:rPr lang="en-US" sz="1200" b="1" u="none" strike="noStrike" dirty="0">
                <a:solidFill>
                  <a:schemeClr val="dk1"/>
                </a:solidFill>
                <a:latin typeface="Arial"/>
                <a:ea typeface="Arial"/>
                <a:cs typeface="Arial"/>
                <a:sym typeface="Arial"/>
              </a:rPr>
            </a:br>
            <a:r>
              <a:rPr lang="en-US" sz="1200" b="0" u="none" strike="noStrike" dirty="0">
                <a:solidFill>
                  <a:schemeClr val="dk1"/>
                </a:solidFill>
                <a:latin typeface="Arial"/>
                <a:ea typeface="Arial"/>
                <a:cs typeface="Arial"/>
                <a:sym typeface="Arial"/>
              </a:rPr>
              <a:t>Let’s take a closer look at the VCF Installer appliance.</a:t>
            </a:r>
            <a:endParaRPr lang="en-US" dirty="0"/>
          </a:p>
          <a:p>
            <a:pPr marL="0" lvl="0" indent="0" algn="l" rtl="0">
              <a:lnSpc>
                <a:spcPct val="60000"/>
              </a:lnSpc>
              <a:spcBef>
                <a:spcPts val="0"/>
              </a:spcBef>
              <a:spcAft>
                <a:spcPts val="0"/>
              </a:spcAft>
              <a:buClr>
                <a:schemeClr val="dk1"/>
              </a:buClr>
              <a:buSzPts val="1140"/>
              <a:buFont typeface="Arial"/>
              <a:buNone/>
            </a:pPr>
            <a:r>
              <a:rPr lang="en-US" sz="1200" b="0" u="none" strike="noStrike" dirty="0">
                <a:solidFill>
                  <a:schemeClr val="dk1"/>
                </a:solidFill>
                <a:latin typeface="Arial"/>
                <a:ea typeface="Arial"/>
                <a:cs typeface="Arial"/>
                <a:sym typeface="Arial"/>
              </a:rPr>
              <a:t>The VCF Installer appliance replaces the Cloud Builder appliance and further streamlines the deployment of VMware Cloud Foundation (VCF) or VMware vSphere Foundation (VVF).</a:t>
            </a:r>
            <a:endParaRPr lang="en-US" dirty="0"/>
          </a:p>
          <a:p>
            <a:pPr marL="0" marR="0" lvl="0" indent="0" algn="l" rtl="0">
              <a:lnSpc>
                <a:spcPct val="60000"/>
              </a:lnSpc>
              <a:spcBef>
                <a:spcPts val="0"/>
              </a:spcBef>
              <a:spcAft>
                <a:spcPts val="0"/>
              </a:spcAft>
              <a:buClr>
                <a:schemeClr val="dk1"/>
              </a:buClr>
              <a:buSzPts val="1140"/>
              <a:buFont typeface="Arial"/>
              <a:buNone/>
            </a:pPr>
            <a:r>
              <a:rPr lang="en-US" sz="1200" b="0" u="none" strike="noStrike" dirty="0">
                <a:solidFill>
                  <a:schemeClr val="dk1"/>
                </a:solidFill>
                <a:latin typeface="Arial"/>
                <a:ea typeface="Arial"/>
                <a:cs typeface="Arial"/>
                <a:sym typeface="Arial"/>
              </a:rPr>
              <a:t>It contains an inbuilt UI-driven workflow and no longer requires the use of the Deployment Parameters Workbook (MS Excel spreadsheet). The VCF Installer also includes </a:t>
            </a:r>
            <a:r>
              <a:rPr lang="en-US" sz="1600" b="0" u="none" strike="noStrike" dirty="0">
                <a:solidFill>
                  <a:schemeClr val="dk1"/>
                </a:solidFill>
                <a:latin typeface="Arial"/>
                <a:ea typeface="Arial"/>
                <a:cs typeface="Arial"/>
                <a:sym typeface="Arial"/>
              </a:rPr>
              <a:t>i</a:t>
            </a:r>
            <a:r>
              <a:rPr lang="en-US" sz="1600" dirty="0">
                <a:solidFill>
                  <a:schemeClr val="dk1"/>
                </a:solidFill>
              </a:rPr>
              <a:t>n-built options to converge and import existing vCenter, VCF Operations and VCF Automation instances without the need for </a:t>
            </a:r>
            <a:r>
              <a:rPr lang="en-US" sz="1200" b="0" u="none" strike="noStrike" dirty="0">
                <a:solidFill>
                  <a:schemeClr val="dk1"/>
                </a:solidFill>
                <a:latin typeface="Arial"/>
                <a:ea typeface="Arial"/>
                <a:cs typeface="Arial"/>
                <a:sym typeface="Arial"/>
              </a:rPr>
              <a:t>VCF Import scripts.</a:t>
            </a:r>
            <a:endParaRPr lang="en-US" dirty="0"/>
          </a:p>
          <a:p>
            <a:pPr marL="0" marR="0" lvl="0" indent="0" algn="l" rtl="0">
              <a:lnSpc>
                <a:spcPct val="80000"/>
              </a:lnSpc>
              <a:spcBef>
                <a:spcPts val="0"/>
              </a:spcBef>
              <a:spcAft>
                <a:spcPts val="0"/>
              </a:spcAft>
              <a:buClr>
                <a:schemeClr val="dk1"/>
              </a:buClr>
              <a:buSzPts val="1140"/>
              <a:buFont typeface="Arial"/>
              <a:buNone/>
            </a:pPr>
            <a:endParaRPr lang="en-US" sz="1200" b="0" i="0" u="none" strike="noStrike" dirty="0">
              <a:solidFill>
                <a:srgbClr val="FF0000"/>
              </a:solidFill>
            </a:endParaRPr>
          </a:p>
          <a:p>
            <a:pPr marL="0" marR="0" lvl="0" indent="0" algn="l" rtl="0">
              <a:lnSpc>
                <a:spcPct val="80000"/>
              </a:lnSpc>
              <a:spcBef>
                <a:spcPts val="0"/>
              </a:spcBef>
              <a:spcAft>
                <a:spcPts val="0"/>
              </a:spcAft>
              <a:buClr>
                <a:schemeClr val="dk1"/>
              </a:buClr>
              <a:buSzPts val="1140"/>
              <a:buFont typeface="Arial"/>
              <a:buNone/>
            </a:pPr>
            <a:r>
              <a:rPr lang="en-US" sz="1200" dirty="0">
                <a:solidFill>
                  <a:schemeClr val="dk1"/>
                </a:solidFill>
              </a:rPr>
              <a:t>Prior releases of Cloud Foundation have required Aria Operations and Aria Automation to be installed and lifecycle managed as separate Day 2 operations.  From VCF 9, the VCF Installer appliance is used to deploy the full VCF stack comprising of compute, storage, networking, operations and self-service automation and VCF Operations is used to lifecycle manage the full stack.</a:t>
            </a:r>
            <a:endParaRPr lang="en-US" dirty="0"/>
          </a:p>
          <a:p>
            <a:pPr marL="0" marR="0" lvl="0" indent="0" algn="l" rtl="0">
              <a:lnSpc>
                <a:spcPct val="80000"/>
              </a:lnSpc>
              <a:spcBef>
                <a:spcPts val="0"/>
              </a:spcBef>
              <a:spcAft>
                <a:spcPts val="0"/>
              </a:spcAft>
              <a:buClr>
                <a:schemeClr val="dk1"/>
              </a:buClr>
              <a:buSzPts val="1140"/>
              <a:buFont typeface="Arial"/>
              <a:buNone/>
            </a:pPr>
            <a:endParaRPr lang="en-US" sz="1200" dirty="0">
              <a:solidFill>
                <a:schemeClr val="dk1"/>
              </a:solidFill>
            </a:endParaRPr>
          </a:p>
          <a:p>
            <a:pPr marL="0" marR="0" lvl="0" indent="0" algn="l" rtl="0">
              <a:lnSpc>
                <a:spcPct val="80000"/>
              </a:lnSpc>
              <a:spcBef>
                <a:spcPts val="0"/>
              </a:spcBef>
              <a:spcAft>
                <a:spcPts val="0"/>
              </a:spcAft>
              <a:buClr>
                <a:schemeClr val="dk1"/>
              </a:buClr>
              <a:buSzPts val="1140"/>
              <a:buFont typeface="Arial"/>
              <a:buNone/>
            </a:pPr>
            <a:r>
              <a:rPr lang="en-US" sz="1200" dirty="0">
                <a:solidFill>
                  <a:schemeClr val="dk1"/>
                </a:solidFill>
              </a:rPr>
              <a:t>Administrators can choose to initially deploy VCF using the in-built workflows.  The VCF Installer can also generate a JSON which can be re-used after uploading, reviewing and validating from the wizard driven UI.</a:t>
            </a:r>
            <a:br>
              <a:rPr lang="en-US" sz="1200" dirty="0">
                <a:solidFill>
                  <a:schemeClr val="dk1"/>
                </a:solidFill>
              </a:rPr>
            </a:br>
            <a:endParaRPr lang="en-US" sz="1200" b="1" dirty="0">
              <a:latin typeface="Arial"/>
              <a:ea typeface="Arial"/>
              <a:cs typeface="Arial"/>
              <a:sym typeface="Arial"/>
            </a:endParaRPr>
          </a:p>
          <a:p>
            <a:pPr marL="0" marR="0" lvl="0" indent="0" algn="l" rtl="0">
              <a:lnSpc>
                <a:spcPct val="60000"/>
              </a:lnSpc>
              <a:spcBef>
                <a:spcPts val="0"/>
              </a:spcBef>
              <a:spcAft>
                <a:spcPts val="0"/>
              </a:spcAft>
              <a:buClr>
                <a:schemeClr val="dk1"/>
              </a:buClr>
              <a:buSzPts val="1140"/>
              <a:buFont typeface="Arial"/>
              <a:buNone/>
            </a:pPr>
            <a:r>
              <a:rPr lang="en-US" sz="1200" b="0" dirty="0">
                <a:latin typeface="Arial"/>
                <a:ea typeface="Arial"/>
                <a:cs typeface="Arial"/>
                <a:sym typeface="Arial"/>
              </a:rPr>
              <a:t>The VCF Installer appliance provides a flexible set of options which help to further simplify the deployment of an end-to-end private cloud environment.</a:t>
            </a:r>
            <a:endParaRPr lang="en-US" dirty="0"/>
          </a:p>
          <a:p>
            <a:pPr marL="0" marR="0" lvl="0" indent="0" algn="l" rtl="0">
              <a:lnSpc>
                <a:spcPct val="60000"/>
              </a:lnSpc>
              <a:spcBef>
                <a:spcPts val="0"/>
              </a:spcBef>
              <a:spcAft>
                <a:spcPts val="0"/>
              </a:spcAft>
              <a:buClr>
                <a:schemeClr val="dk1"/>
              </a:buClr>
              <a:buSzPts val="1140"/>
              <a:buFont typeface="Arial"/>
              <a:buNone/>
            </a:pPr>
            <a:endParaRPr lang="en-US" sz="1200" b="1" dirty="0">
              <a:latin typeface="Arial"/>
              <a:ea typeface="Arial"/>
              <a:cs typeface="Arial"/>
              <a:sym typeface="Arial"/>
            </a:endParaRPr>
          </a:p>
          <a:p>
            <a:pPr marL="0" marR="0" lvl="0" indent="0" algn="l" rtl="0">
              <a:lnSpc>
                <a:spcPct val="60000"/>
              </a:lnSpc>
              <a:spcBef>
                <a:spcPts val="0"/>
              </a:spcBef>
              <a:spcAft>
                <a:spcPts val="0"/>
              </a:spcAft>
              <a:buClr>
                <a:schemeClr val="dk1"/>
              </a:buClr>
              <a:buSzPts val="1140"/>
              <a:buFont typeface="Arial"/>
              <a:buNone/>
            </a:pPr>
            <a:r>
              <a:rPr lang="en-US" sz="1200" b="1" dirty="0">
                <a:latin typeface="Arial"/>
                <a:ea typeface="Arial"/>
                <a:cs typeface="Arial"/>
                <a:sym typeface="Arial"/>
              </a:rPr>
              <a:t>Notes:</a:t>
            </a:r>
            <a:endParaRPr lang="en-US" dirty="0"/>
          </a:p>
          <a:p>
            <a:pPr marL="0" marR="0" lvl="0" indent="0" algn="l" rtl="0">
              <a:lnSpc>
                <a:spcPct val="60000"/>
              </a:lnSpc>
              <a:spcBef>
                <a:spcPts val="0"/>
              </a:spcBef>
              <a:spcAft>
                <a:spcPts val="0"/>
              </a:spcAft>
              <a:buClr>
                <a:schemeClr val="dk1"/>
              </a:buClr>
              <a:buSzPts val="1140"/>
              <a:buFont typeface="Arial"/>
              <a:buNone/>
            </a:pPr>
            <a:r>
              <a:rPr lang="en-US" sz="1200" b="0" dirty="0">
                <a:latin typeface="Arial"/>
                <a:ea typeface="Arial"/>
                <a:cs typeface="Arial"/>
                <a:sym typeface="Arial"/>
              </a:rPr>
              <a:t>The Planning and Preparation Workbook can be useful when planning a VCF 9 deployment and provides detail on the inputs required for the VCF Installer wizard driven workflow.</a:t>
            </a:r>
            <a:br>
              <a:rPr lang="en-US" sz="1200" b="0" dirty="0">
                <a:latin typeface="Arial"/>
                <a:ea typeface="Arial"/>
                <a:cs typeface="Arial"/>
                <a:sym typeface="Arial"/>
              </a:rPr>
            </a:br>
            <a:br>
              <a:rPr lang="en-US" sz="1200" b="1" dirty="0">
                <a:latin typeface="Arial"/>
                <a:ea typeface="Arial"/>
                <a:cs typeface="Arial"/>
                <a:sym typeface="Arial"/>
              </a:rPr>
            </a:br>
            <a:r>
              <a:rPr lang="en-US" sz="1200" b="1" dirty="0">
                <a:latin typeface="Arial"/>
                <a:ea typeface="Arial"/>
                <a:cs typeface="Arial"/>
                <a:sym typeface="Arial"/>
              </a:rPr>
              <a:t>Resources:</a:t>
            </a:r>
          </a:p>
          <a:p>
            <a:pPr marL="0" marR="0" lvl="0" indent="0" algn="l" defTabSz="914400" rtl="0" eaLnBrk="1" fontAlgn="auto" latinLnBrk="0" hangingPunct="1">
              <a:lnSpc>
                <a:spcPct val="60000"/>
              </a:lnSpc>
              <a:spcBef>
                <a:spcPts val="0"/>
              </a:spcBef>
              <a:spcAft>
                <a:spcPts val="0"/>
              </a:spcAft>
              <a:buClr>
                <a:schemeClr val="dk1"/>
              </a:buClr>
              <a:buSzPts val="1140"/>
              <a:buFont typeface="Arial"/>
              <a:buNone/>
              <a:tabLst/>
              <a:defRPr/>
            </a:pPr>
            <a:r>
              <a:rPr lang="en-US" sz="1200" b="0" u="none" strike="noStrike" kern="1200" dirty="0">
                <a:solidFill>
                  <a:schemeClr val="tx1"/>
                </a:solidFill>
                <a:effectLst/>
                <a:latin typeface="Arial" panose="020B0604020202020204" pitchFamily="34" charset="0"/>
                <a:ea typeface="+mn-ea"/>
                <a:cs typeface="+mn-cs"/>
              </a:rPr>
              <a:t>Refer to the VMware Cloud Foundation </a:t>
            </a:r>
            <a:r>
              <a:rPr lang="en-US" sz="1200" b="0" dirty="0">
                <a:latin typeface="Arial"/>
                <a:ea typeface="Arial"/>
                <a:cs typeface="Arial"/>
                <a:sym typeface="Arial"/>
              </a:rPr>
              <a:t>Planning and Preparation Workbook </a:t>
            </a:r>
            <a:r>
              <a:rPr lang="en-US" sz="1200" b="0" u="none" strike="noStrike" kern="1200" dirty="0">
                <a:solidFill>
                  <a:schemeClr val="tx1"/>
                </a:solidFill>
                <a:effectLst/>
                <a:latin typeface="Arial" panose="020B0604020202020204" pitchFamily="34" charset="0"/>
                <a:ea typeface="+mn-ea"/>
                <a:cs typeface="+mn-cs"/>
              </a:rPr>
              <a:t>to help plan your deployment.</a:t>
            </a:r>
            <a:br>
              <a:rPr lang="en-US" sz="1200" b="0" u="none" strike="noStrike" kern="1200" dirty="0">
                <a:solidFill>
                  <a:schemeClr val="tx1"/>
                </a:solidFill>
                <a:effectLst/>
                <a:latin typeface="Arial" panose="020B0604020202020204" pitchFamily="34" charset="0"/>
                <a:ea typeface="+mn-ea"/>
                <a:cs typeface="+mn-cs"/>
              </a:rPr>
            </a:br>
            <a:r>
              <a:rPr lang="en-AU" dirty="0">
                <a:effectLst/>
                <a:latin typeface="Helvetica Neue" panose="02000503000000020004" pitchFamily="2" charset="0"/>
                <a:hlinkClick r:id="rId3"/>
              </a:rPr>
              <a:t>https://techdocs.broadcom.com/us/en/vmware-cis/vcf.html</a:t>
            </a:r>
            <a:r>
              <a:rPr lang="en-AU" dirty="0">
                <a:effectLst/>
                <a:latin typeface="Helvetica Neue" panose="02000503000000020004" pitchFamily="2" charset="0"/>
              </a:rPr>
              <a:t> </a:t>
            </a:r>
            <a:br>
              <a:rPr lang="en-AU" dirty="0">
                <a:effectLst/>
                <a:latin typeface="Helvetica Neue" panose="02000503000000020004" pitchFamily="2" charset="0"/>
              </a:rPr>
            </a:br>
            <a:br>
              <a:rPr lang="en-AU" dirty="0">
                <a:effectLst/>
                <a:latin typeface="Helvetica Neue" panose="02000503000000020004" pitchFamily="2" charset="0"/>
              </a:rPr>
            </a:br>
            <a:r>
              <a:rPr lang="en-US" sz="1200" b="0" u="none" strike="noStrike" kern="1200" dirty="0">
                <a:solidFill>
                  <a:schemeClr val="tx1"/>
                </a:solidFill>
                <a:effectLst/>
                <a:latin typeface="Arial" panose="020B0604020202020204" pitchFamily="34" charset="0"/>
                <a:ea typeface="+mn-ea"/>
                <a:cs typeface="+mn-cs"/>
              </a:rPr>
              <a:t>Refer to the VMware Cloud Foundation Deployment Guide for further information</a:t>
            </a:r>
            <a:br>
              <a:rPr lang="en-US" sz="1200" b="0" u="none" strike="noStrike" kern="1200" dirty="0">
                <a:solidFill>
                  <a:schemeClr val="tx1"/>
                </a:solidFill>
                <a:effectLst/>
                <a:latin typeface="Arial" panose="020B0604020202020204" pitchFamily="34" charset="0"/>
                <a:ea typeface="+mn-ea"/>
                <a:cs typeface="+mn-cs"/>
              </a:rPr>
            </a:br>
            <a:r>
              <a:rPr lang="en-AU" sz="1200" dirty="0">
                <a:effectLst/>
                <a:latin typeface="Helvetica Neue" panose="02000503000000020004" pitchFamily="2" charset="0"/>
                <a:hlinkClick r:id="rId3"/>
              </a:rPr>
              <a:t>https://techdocs.broadcom.com/us/en/vmware-cis/vcf.html</a:t>
            </a:r>
            <a:r>
              <a:rPr lang="en-AU" sz="1200" dirty="0">
                <a:effectLst/>
                <a:latin typeface="Helvetica Neue" panose="02000503000000020004" pitchFamily="2" charset="0"/>
              </a:rPr>
              <a:t> </a:t>
            </a:r>
          </a:p>
          <a:p>
            <a:pPr marL="0" marR="0" lvl="0" indent="0" algn="l" defTabSz="914400" rtl="0" eaLnBrk="1" fontAlgn="auto" latinLnBrk="0" hangingPunct="1">
              <a:lnSpc>
                <a:spcPct val="60000"/>
              </a:lnSpc>
              <a:spcBef>
                <a:spcPts val="0"/>
              </a:spcBef>
              <a:spcAft>
                <a:spcPts val="0"/>
              </a:spcAft>
              <a:buClr>
                <a:schemeClr val="dk1"/>
              </a:buClr>
              <a:buSzPts val="1140"/>
              <a:buFont typeface="Arial"/>
              <a:buNone/>
              <a:tabLst/>
              <a:defRPr/>
            </a:pPr>
            <a:endParaRPr lang="en-AU" dirty="0">
              <a:effectLst/>
              <a:latin typeface="Helvetica Neue" panose="02000503000000020004" pitchFamily="2" charset="0"/>
            </a:endParaRPr>
          </a:p>
          <a:p>
            <a:pPr marL="0" marR="0" lvl="0" indent="0" algn="l" defTabSz="914400" rtl="0" eaLnBrk="1" fontAlgn="auto" latinLnBrk="0" hangingPunct="1">
              <a:lnSpc>
                <a:spcPct val="60000"/>
              </a:lnSpc>
              <a:spcBef>
                <a:spcPts val="0"/>
              </a:spcBef>
              <a:spcAft>
                <a:spcPts val="0"/>
              </a:spcAft>
              <a:buClr>
                <a:schemeClr val="dk1"/>
              </a:buClr>
              <a:buSzPts val="1140"/>
              <a:buFont typeface="Arial"/>
              <a:buNone/>
              <a:tabLst/>
              <a:defRPr/>
            </a:pPr>
            <a:endParaRPr lang="en-AU" dirty="0">
              <a:effectLst/>
              <a:latin typeface="Helvetica Neue" panose="02000503000000020004" pitchFamily="2" charset="0"/>
            </a:endParaRPr>
          </a:p>
          <a:p>
            <a:pPr marL="0" marR="0" lvl="0" indent="0" algn="l" defTabSz="914400" rtl="0" eaLnBrk="1" fontAlgn="auto" latinLnBrk="0" hangingPunct="1">
              <a:lnSpc>
                <a:spcPct val="60000"/>
              </a:lnSpc>
              <a:spcBef>
                <a:spcPts val="0"/>
              </a:spcBef>
              <a:spcAft>
                <a:spcPts val="0"/>
              </a:spcAft>
              <a:buClr>
                <a:schemeClr val="dk1"/>
              </a:buClr>
              <a:buSzPts val="1140"/>
              <a:buFont typeface="Arial"/>
              <a:buNone/>
              <a:tabLst/>
              <a:defRPr/>
            </a:pPr>
            <a:endParaRPr lang="en-AU" dirty="0">
              <a:effectLst/>
              <a:latin typeface="Helvetica Neue" panose="02000503000000020004" pitchFamily="2" charset="0"/>
            </a:endParaRPr>
          </a:p>
          <a:p>
            <a:pPr marL="0" marR="0" lvl="0" indent="0" algn="l" rtl="0">
              <a:lnSpc>
                <a:spcPct val="60000"/>
              </a:lnSpc>
              <a:spcBef>
                <a:spcPts val="0"/>
              </a:spcBef>
              <a:spcAft>
                <a:spcPts val="0"/>
              </a:spcAft>
              <a:buClr>
                <a:schemeClr val="dk1"/>
              </a:buClr>
              <a:buSzPts val="1140"/>
              <a:buFont typeface="Arial"/>
              <a:buNone/>
            </a:pPr>
            <a:endParaRPr lang="en-US" dirty="0"/>
          </a:p>
          <a:p>
            <a:pPr marL="0" marR="0" lvl="0" indent="0" algn="l" rtl="0">
              <a:lnSpc>
                <a:spcPct val="60000"/>
              </a:lnSpc>
              <a:spcBef>
                <a:spcPts val="0"/>
              </a:spcBef>
              <a:spcAft>
                <a:spcPts val="0"/>
              </a:spcAft>
              <a:buClr>
                <a:schemeClr val="dk1"/>
              </a:buClr>
              <a:buSzPts val="1140"/>
              <a:buFont typeface="Arial"/>
              <a:buNone/>
            </a:pPr>
            <a:endParaRPr lang="en-US" sz="1200" b="1" dirty="0">
              <a:latin typeface="Arial"/>
              <a:ea typeface="Arial"/>
              <a:cs typeface="Arial"/>
              <a:sym typeface="Arial"/>
            </a:endParaRP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40959992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C6B79-300C-3D0C-32C8-315B2243B3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AC85D4-0521-97C0-49B8-6B414D46E3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F9577C-1296-9779-7D3A-91F53D7DFF40}"/>
              </a:ext>
            </a:extLst>
          </p:cNvPr>
          <p:cNvSpPr>
            <a:spLocks noGrp="1"/>
          </p:cNvSpPr>
          <p:nvPr>
            <p:ph type="body" idx="1"/>
          </p:nvPr>
        </p:nvSpPr>
        <p:spPr/>
        <p:txBody>
          <a:bodyPr>
            <a:normAutofit fontScale="25000" lnSpcReduction="20000"/>
          </a:bodyPr>
          <a:lstStyle/>
          <a:p>
            <a:pPr marL="0" lvl="0" indent="0" algn="l" rtl="0">
              <a:lnSpc>
                <a:spcPct val="60000"/>
              </a:lnSpc>
              <a:spcBef>
                <a:spcPts val="0"/>
              </a:spcBef>
              <a:spcAft>
                <a:spcPts val="0"/>
              </a:spcAft>
              <a:buClr>
                <a:schemeClr val="dk1"/>
              </a:buClr>
              <a:buSzPts val="930"/>
              <a:buFont typeface="Arial"/>
              <a:buNone/>
            </a:pPr>
            <a:r>
              <a:rPr lang="en-US" sz="3200" b="1" u="none" strike="noStrike" dirty="0">
                <a:solidFill>
                  <a:schemeClr val="dk1"/>
                </a:solidFill>
                <a:latin typeface="Arial"/>
                <a:ea typeface="Arial"/>
                <a:cs typeface="Arial"/>
                <a:sym typeface="Arial"/>
              </a:rPr>
              <a:t>Key Message:</a:t>
            </a:r>
            <a:endParaRPr lang="en-US" sz="3200" b="1" dirty="0">
              <a:latin typeface="Arial"/>
              <a:ea typeface="Arial"/>
              <a:cs typeface="Arial"/>
              <a:sym typeface="Arial"/>
            </a:endParaRPr>
          </a:p>
          <a:p>
            <a:pPr marL="0" lvl="0" indent="0" algn="l" rtl="0">
              <a:lnSpc>
                <a:spcPct val="60000"/>
              </a:lnSpc>
              <a:spcBef>
                <a:spcPts val="0"/>
              </a:spcBef>
              <a:spcAft>
                <a:spcPts val="0"/>
              </a:spcAft>
              <a:buClr>
                <a:schemeClr val="dk1"/>
              </a:buClr>
              <a:buSzPts val="930"/>
              <a:buFont typeface="Arial"/>
              <a:buNone/>
            </a:pPr>
            <a:r>
              <a:rPr lang="en-US" sz="3200" dirty="0">
                <a:latin typeface="Arial"/>
                <a:ea typeface="Arial"/>
                <a:cs typeface="Arial"/>
                <a:sym typeface="Arial"/>
              </a:rPr>
              <a:t>The VCF Installer appliance can be used to deploy VMware Cloud Foundation or VMware vSphere Foundation to suit a variety of customer use cases and deployment topologies.</a:t>
            </a:r>
            <a:endParaRPr lang="en-US" dirty="0"/>
          </a:p>
          <a:p>
            <a:pPr marL="0" lvl="0" indent="0" algn="l" rtl="0">
              <a:lnSpc>
                <a:spcPct val="60000"/>
              </a:lnSpc>
              <a:spcBef>
                <a:spcPts val="0"/>
              </a:spcBef>
              <a:spcAft>
                <a:spcPts val="0"/>
              </a:spcAft>
              <a:buClr>
                <a:schemeClr val="dk1"/>
              </a:buClr>
              <a:buSzPts val="930"/>
              <a:buFont typeface="Arial"/>
              <a:buNone/>
            </a:pPr>
            <a:endParaRPr lang="en-US" sz="3200" dirty="0">
              <a:latin typeface="Arial"/>
              <a:ea typeface="Arial"/>
              <a:cs typeface="Arial"/>
              <a:sym typeface="Arial"/>
            </a:endParaRPr>
          </a:p>
          <a:p>
            <a:pPr marL="0" lvl="0" indent="0" algn="l" rtl="0">
              <a:lnSpc>
                <a:spcPct val="60000"/>
              </a:lnSpc>
              <a:spcBef>
                <a:spcPts val="0"/>
              </a:spcBef>
              <a:spcAft>
                <a:spcPts val="0"/>
              </a:spcAft>
              <a:buClr>
                <a:schemeClr val="dk1"/>
              </a:buClr>
              <a:buSzPts val="930"/>
              <a:buFont typeface="Arial"/>
              <a:buNone/>
            </a:pPr>
            <a:r>
              <a:rPr lang="en-US" sz="3200" b="1" u="none" strike="noStrike" dirty="0">
                <a:solidFill>
                  <a:schemeClr val="dk1"/>
                </a:solidFill>
                <a:latin typeface="Arial"/>
                <a:ea typeface="Arial"/>
                <a:cs typeface="Arial"/>
                <a:sym typeface="Arial"/>
              </a:rPr>
              <a:t>Talk Track:</a:t>
            </a:r>
            <a:endParaRPr lang="en-US" dirty="0"/>
          </a:p>
          <a:p>
            <a:pPr marL="0" lvl="0" indent="0" algn="l" rtl="0">
              <a:lnSpc>
                <a:spcPct val="40000"/>
              </a:lnSpc>
              <a:spcBef>
                <a:spcPts val="0"/>
              </a:spcBef>
              <a:spcAft>
                <a:spcPts val="0"/>
              </a:spcAft>
              <a:buClr>
                <a:schemeClr val="dk1"/>
              </a:buClr>
              <a:buSzPts val="930"/>
              <a:buFont typeface="Arial"/>
              <a:buNone/>
            </a:pPr>
            <a:r>
              <a:rPr lang="en-US" sz="3200" b="0" u="none" strike="noStrike" dirty="0">
                <a:solidFill>
                  <a:schemeClr val="dk1"/>
                </a:solidFill>
                <a:latin typeface="Arial"/>
                <a:ea typeface="Arial"/>
                <a:cs typeface="Arial"/>
                <a:sym typeface="Arial"/>
              </a:rPr>
              <a:t>Inbuilt into this new and very light-weight VCF Installer Appliance are a set of enhanced deployment workflows and many new configuration options.</a:t>
            </a:r>
            <a:endParaRPr lang="en-US" sz="800" dirty="0"/>
          </a:p>
          <a:p>
            <a:pPr marL="0" marR="0" lvl="0" indent="0" algn="l" defTabSz="914400" rtl="0" eaLnBrk="1" fontAlgn="auto" latinLnBrk="0" hangingPunct="1">
              <a:lnSpc>
                <a:spcPct val="60000"/>
              </a:lnSpc>
              <a:spcBef>
                <a:spcPts val="0"/>
              </a:spcBef>
              <a:spcAft>
                <a:spcPts val="0"/>
              </a:spcAft>
              <a:buClr>
                <a:schemeClr val="dk1"/>
              </a:buClr>
              <a:buSzPts val="930"/>
              <a:buFont typeface="Arial"/>
              <a:buNone/>
              <a:tabLst/>
              <a:defRPr/>
            </a:pPr>
            <a:br>
              <a:rPr lang="en-US" sz="3200" b="0" u="none" strike="noStrike" dirty="0">
                <a:solidFill>
                  <a:schemeClr val="dk1"/>
                </a:solidFill>
                <a:latin typeface="Arial"/>
                <a:ea typeface="Arial"/>
                <a:cs typeface="Arial"/>
                <a:sym typeface="Arial"/>
              </a:rPr>
            </a:br>
            <a:r>
              <a:rPr lang="en-US" sz="3200" b="0" u="none" strike="noStrike" dirty="0">
                <a:solidFill>
                  <a:schemeClr val="dk1"/>
                </a:solidFill>
                <a:latin typeface="Arial"/>
                <a:ea typeface="Arial"/>
                <a:cs typeface="Arial"/>
                <a:sym typeface="Arial"/>
              </a:rPr>
              <a:t>Upon connecting to the Broadcom Support Portal, the user downloads the software binaries by connecting to the online depot. </a:t>
            </a:r>
            <a:r>
              <a:rPr lang="en-US" sz="1200" b="0" u="none" strike="noStrike" dirty="0">
                <a:solidFill>
                  <a:schemeClr val="dk1"/>
                </a:solidFill>
                <a:latin typeface="Arial"/>
                <a:ea typeface="Arial"/>
                <a:cs typeface="Arial"/>
                <a:sym typeface="Arial"/>
              </a:rPr>
              <a:t>The software binaries are not included in the VCF Installer appliance.</a:t>
            </a:r>
          </a:p>
          <a:p>
            <a:pPr marL="0" marR="0" lvl="0" indent="0" algn="l" defTabSz="914400" rtl="0" eaLnBrk="1" fontAlgn="auto" latinLnBrk="0" hangingPunct="1">
              <a:lnSpc>
                <a:spcPct val="60000"/>
              </a:lnSpc>
              <a:spcBef>
                <a:spcPts val="0"/>
              </a:spcBef>
              <a:spcAft>
                <a:spcPts val="0"/>
              </a:spcAft>
              <a:buClr>
                <a:schemeClr val="dk1"/>
              </a:buClr>
              <a:buSzPts val="930"/>
              <a:buFont typeface="Arial"/>
              <a:buNone/>
              <a:tabLst/>
              <a:defRPr/>
            </a:pPr>
            <a:endParaRPr lang="en-US" sz="1200" b="0" u="none" strike="noStrike" dirty="0">
              <a:solidFill>
                <a:schemeClr val="dk1"/>
              </a:solidFill>
              <a:latin typeface="Arial"/>
              <a:cs typeface="Arial"/>
              <a:sym typeface="Arial"/>
            </a:endParaRPr>
          </a:p>
          <a:p>
            <a:pPr marL="0" marR="0" lvl="0" indent="0" algn="l" defTabSz="914400" rtl="0" eaLnBrk="1" fontAlgn="auto" latinLnBrk="0" hangingPunct="1">
              <a:lnSpc>
                <a:spcPct val="60000"/>
              </a:lnSpc>
              <a:spcBef>
                <a:spcPts val="0"/>
              </a:spcBef>
              <a:spcAft>
                <a:spcPts val="0"/>
              </a:spcAft>
              <a:buClr>
                <a:schemeClr val="dk1"/>
              </a:buClr>
              <a:buSzPts val="930"/>
              <a:buFont typeface="Arial"/>
              <a:buNone/>
              <a:tabLst/>
              <a:defRPr/>
            </a:pPr>
            <a:r>
              <a:rPr lang="en-US" sz="1200" dirty="0">
                <a:latin typeface="Metropolis" pitchFamily="2" charset="77"/>
              </a:rPr>
              <a:t>Customers also have the option to configure their own private off-line depot which can be used by multiple VCF instances. </a:t>
            </a:r>
            <a:r>
              <a:rPr lang="en-US" sz="1200" dirty="0">
                <a:latin typeface="Arial"/>
                <a:ea typeface="Arial"/>
                <a:cs typeface="Arial"/>
                <a:sym typeface="Arial"/>
              </a:rPr>
              <a:t>With an offline depot, the software binaries only need to be downloaded once which is very handy when managing multiple VCF instances.  </a:t>
            </a:r>
            <a:endParaRPr lang="en-US" sz="1200" dirty="0"/>
          </a:p>
          <a:p>
            <a:pPr marL="0" lvl="0" indent="0" algn="l" rtl="0">
              <a:lnSpc>
                <a:spcPct val="60000"/>
              </a:lnSpc>
              <a:spcBef>
                <a:spcPts val="0"/>
              </a:spcBef>
              <a:spcAft>
                <a:spcPts val="0"/>
              </a:spcAft>
              <a:buClr>
                <a:schemeClr val="dk1"/>
              </a:buClr>
              <a:buSzPts val="930"/>
              <a:buFont typeface="Arial"/>
              <a:buNone/>
            </a:pPr>
            <a:endParaRPr lang="en-US" dirty="0"/>
          </a:p>
          <a:p>
            <a:pPr marL="0" marR="0" lvl="0" indent="0" algn="l" defTabSz="914400" rtl="0" eaLnBrk="1" fontAlgn="auto" latinLnBrk="0" hangingPunct="1">
              <a:lnSpc>
                <a:spcPct val="80000"/>
              </a:lnSpc>
              <a:spcBef>
                <a:spcPts val="0"/>
              </a:spcBef>
              <a:spcAft>
                <a:spcPts val="0"/>
              </a:spcAft>
              <a:buClrTx/>
              <a:buSzTx/>
              <a:buFontTx/>
              <a:buNone/>
              <a:tabLst/>
              <a:defRPr/>
            </a:pPr>
            <a:r>
              <a:rPr lang="en-US" sz="4800" b="0" dirty="0">
                <a:solidFill>
                  <a:schemeClr val="accent2"/>
                </a:solidFill>
              </a:rPr>
              <a:t>Once the software binaries have been downloaded, the appliance can be used to deploy </a:t>
            </a:r>
            <a:r>
              <a:rPr lang="en-US" sz="4800" b="0" dirty="0"/>
              <a:t>VMware Cloud Foundation (VCF) or VMware vSphere Foundation (VVF). </a:t>
            </a:r>
            <a:r>
              <a:rPr lang="en-US" sz="6000" b="0" dirty="0"/>
              <a:t>Deployment can be driven using the inbuild Deployment wizard or the user can g</a:t>
            </a:r>
            <a:r>
              <a:rPr lang="en-US" sz="6000" dirty="0"/>
              <a:t>enerate a re-usable JSON spec which can be uploaded, reviewed and validated from the UI. </a:t>
            </a:r>
            <a:r>
              <a:rPr lang="en-US" sz="6000" dirty="0">
                <a:latin typeface="Arial"/>
                <a:ea typeface="Arial"/>
                <a:cs typeface="Arial"/>
                <a:sym typeface="Arial"/>
              </a:rPr>
              <a:t>A JSON spec can also be uploaded and edited in the wizard.</a:t>
            </a:r>
            <a:endParaRPr lang="en-US" sz="6000" dirty="0"/>
          </a:p>
          <a:p>
            <a:pPr marL="0" lvl="0" indent="0" algn="l" rtl="0">
              <a:lnSpc>
                <a:spcPct val="80000"/>
              </a:lnSpc>
              <a:spcBef>
                <a:spcPts val="0"/>
              </a:spcBef>
              <a:spcAft>
                <a:spcPts val="0"/>
              </a:spcAft>
              <a:buNone/>
            </a:pPr>
            <a:endParaRPr lang="en-US" sz="4800" b="0" dirty="0"/>
          </a:p>
          <a:p>
            <a:pPr marL="0" marR="0" lvl="0" indent="0" algn="l" rtl="0">
              <a:lnSpc>
                <a:spcPct val="80000"/>
              </a:lnSpc>
              <a:spcBef>
                <a:spcPts val="0"/>
              </a:spcBef>
              <a:spcAft>
                <a:spcPts val="0"/>
              </a:spcAft>
              <a:buClr>
                <a:schemeClr val="accent2"/>
              </a:buClr>
              <a:buSzPts val="620"/>
              <a:buFont typeface="Arial"/>
              <a:buNone/>
            </a:pPr>
            <a:r>
              <a:rPr lang="en-US" sz="1200" b="0" dirty="0">
                <a:solidFill>
                  <a:schemeClr val="accent2"/>
                </a:solidFill>
              </a:rPr>
              <a:t>A VCF instance can be deployed as part of a new VCF Fleet or to an existing VCF Fleet.  A VCF Fleet may consist of multiple VCF deployments which can leverage common VCF Operations and VCF Automations instances.</a:t>
            </a:r>
            <a:br>
              <a:rPr lang="en-US" sz="1200" b="0" dirty="0">
                <a:solidFill>
                  <a:schemeClr val="accent2"/>
                </a:solidFill>
              </a:rPr>
            </a:br>
            <a:endParaRPr lang="en-US" sz="800" b="0" dirty="0">
              <a:solidFill>
                <a:schemeClr val="accent2"/>
              </a:solidFill>
            </a:endParaRPr>
          </a:p>
          <a:p>
            <a:pPr marL="0" marR="0" lvl="0" indent="0" algn="l" rtl="0">
              <a:lnSpc>
                <a:spcPct val="80000"/>
              </a:lnSpc>
              <a:spcBef>
                <a:spcPts val="0"/>
              </a:spcBef>
              <a:spcAft>
                <a:spcPts val="0"/>
              </a:spcAft>
              <a:buClr>
                <a:schemeClr val="accent2"/>
              </a:buClr>
              <a:buFont typeface="Arial"/>
              <a:buNone/>
            </a:pPr>
            <a:r>
              <a:rPr lang="en-US" sz="800" b="0" dirty="0">
                <a:solidFill>
                  <a:schemeClr val="accent2"/>
                </a:solidFill>
              </a:rPr>
              <a:t>The VCF Installer is used to initially configure the management cluster which can be deployed in one of two ways:</a:t>
            </a:r>
            <a:br>
              <a:rPr lang="en-US" sz="800" b="0" dirty="0">
                <a:solidFill>
                  <a:schemeClr val="accent2"/>
                </a:solidFill>
              </a:rPr>
            </a:br>
            <a:r>
              <a:rPr lang="en-US" sz="800" b="0" dirty="0">
                <a:solidFill>
                  <a:schemeClr val="accent2"/>
                </a:solidFill>
              </a:rPr>
              <a:t>    - New components can be deployed which include VM appliances for vCenter Server, NSX, VCF Operations and VCF Automation.</a:t>
            </a:r>
            <a:endParaRPr lang="en-US" dirty="0"/>
          </a:p>
          <a:p>
            <a:pPr marL="0" lvl="0" indent="0" algn="l" rtl="0">
              <a:lnSpc>
                <a:spcPct val="80000"/>
              </a:lnSpc>
              <a:spcBef>
                <a:spcPts val="0"/>
              </a:spcBef>
              <a:spcAft>
                <a:spcPts val="0"/>
              </a:spcAft>
              <a:buNone/>
            </a:pPr>
            <a:r>
              <a:rPr lang="en-US" sz="800" b="0" dirty="0">
                <a:solidFill>
                  <a:schemeClr val="accent2"/>
                </a:solidFill>
              </a:rPr>
              <a:t>    - OR…. existing appliances for vCenter Server, VCF Operations and VCF Automation can be used.</a:t>
            </a:r>
            <a:endParaRPr lang="en-US" dirty="0"/>
          </a:p>
          <a:p>
            <a:pPr marL="0" lvl="0" indent="0" algn="l" rtl="0">
              <a:lnSpc>
                <a:spcPct val="80000"/>
              </a:lnSpc>
              <a:spcBef>
                <a:spcPts val="0"/>
              </a:spcBef>
              <a:spcAft>
                <a:spcPts val="0"/>
              </a:spcAft>
              <a:buNone/>
            </a:pPr>
            <a:endParaRPr lang="en-US" sz="800" b="0" dirty="0">
              <a:solidFill>
                <a:schemeClr val="accent2"/>
              </a:solidFill>
            </a:endParaRPr>
          </a:p>
          <a:p>
            <a:pPr marL="0" marR="0" lvl="0" indent="0" algn="l" rtl="0">
              <a:lnSpc>
                <a:spcPct val="80000"/>
              </a:lnSpc>
              <a:spcBef>
                <a:spcPts val="0"/>
              </a:spcBef>
              <a:spcAft>
                <a:spcPts val="0"/>
              </a:spcAft>
              <a:buClr>
                <a:schemeClr val="accent2"/>
              </a:buClr>
              <a:buFont typeface="Arial"/>
              <a:buNone/>
            </a:pPr>
            <a:r>
              <a:rPr lang="en-US" sz="800" b="0" dirty="0">
                <a:solidFill>
                  <a:schemeClr val="accent2"/>
                </a:solidFill>
              </a:rPr>
              <a:t>When choosing to converge (re-use) an existing vCenter Server the VCF Installer will converge an existing vSphere / vSphere with vSAN cluster </a:t>
            </a:r>
            <a:r>
              <a:rPr lang="en-US" sz="800" dirty="0">
                <a:solidFill>
                  <a:schemeClr val="accent2"/>
                </a:solidFill>
              </a:rPr>
              <a:t>to a VCF management cluster.  The VCF Installer will deploy NSX as part of the conversion process.</a:t>
            </a:r>
            <a:endParaRPr lang="en-US" dirty="0"/>
          </a:p>
          <a:p>
            <a:pPr marL="0" marR="0" lvl="0" indent="0" algn="l" rtl="0">
              <a:lnSpc>
                <a:spcPct val="80000"/>
              </a:lnSpc>
              <a:spcBef>
                <a:spcPts val="0"/>
              </a:spcBef>
              <a:spcAft>
                <a:spcPts val="0"/>
              </a:spcAft>
              <a:buClr>
                <a:schemeClr val="dk1"/>
              </a:buClr>
              <a:buFont typeface="Arial"/>
              <a:buNone/>
            </a:pPr>
            <a:endParaRPr lang="en-US" sz="800" b="0" dirty="0">
              <a:solidFill>
                <a:schemeClr val="accent2"/>
              </a:solidFill>
            </a:endParaRPr>
          </a:p>
          <a:p>
            <a:pPr marL="0" lvl="0" indent="0" algn="l" rtl="0">
              <a:lnSpc>
                <a:spcPct val="80000"/>
              </a:lnSpc>
              <a:spcBef>
                <a:spcPts val="0"/>
              </a:spcBef>
              <a:spcAft>
                <a:spcPts val="0"/>
              </a:spcAft>
              <a:buNone/>
            </a:pPr>
            <a:r>
              <a:rPr lang="en-US" sz="800" b="0" strike="noStrike" dirty="0">
                <a:solidFill>
                  <a:schemeClr val="accent2"/>
                </a:solidFill>
              </a:rPr>
              <a:t>If choosing to re-use an existing VCF Operations instance, it ,is recommended to select the vCenter server where it is deployed as the vCenter for first VCF management cluster.</a:t>
            </a:r>
            <a:endParaRPr lang="en-US" dirty="0"/>
          </a:p>
          <a:p>
            <a:pPr marL="0" lvl="0" indent="0" algn="l" rtl="0">
              <a:lnSpc>
                <a:spcPct val="80000"/>
              </a:lnSpc>
              <a:spcBef>
                <a:spcPts val="0"/>
              </a:spcBef>
              <a:spcAft>
                <a:spcPts val="0"/>
              </a:spcAft>
              <a:buNone/>
            </a:pPr>
            <a:endParaRPr lang="en-US" sz="800" strike="sngStrike" dirty="0">
              <a:solidFill>
                <a:schemeClr val="accent2"/>
              </a:solidFill>
            </a:endParaRPr>
          </a:p>
          <a:p>
            <a:pPr marL="0" lvl="0" indent="0" algn="l" rtl="0">
              <a:lnSpc>
                <a:spcPct val="80000"/>
              </a:lnSpc>
              <a:spcBef>
                <a:spcPts val="0"/>
              </a:spcBef>
              <a:spcAft>
                <a:spcPts val="0"/>
              </a:spcAft>
              <a:buNone/>
            </a:pPr>
            <a:r>
              <a:rPr lang="en-US" sz="800" dirty="0"/>
              <a:t>The VM appliances for a new VCF Operations, VCF Automation and NSX instances can be deployed using one of two models:  </a:t>
            </a:r>
            <a:endParaRPr lang="en-US" dirty="0"/>
          </a:p>
          <a:p>
            <a:pPr marL="171450" lvl="0" indent="-171450" algn="l" rtl="0">
              <a:lnSpc>
                <a:spcPct val="80000"/>
              </a:lnSpc>
              <a:spcBef>
                <a:spcPts val="0"/>
              </a:spcBef>
              <a:spcAft>
                <a:spcPts val="0"/>
              </a:spcAft>
              <a:buClr>
                <a:schemeClr val="dk1"/>
              </a:buClr>
              <a:buFont typeface="Arial"/>
              <a:buChar char="-"/>
            </a:pPr>
            <a:r>
              <a:rPr lang="en-US" sz="800" dirty="0"/>
              <a:t>A simple model will deploy a single node appliance for each component that needs to be installed. </a:t>
            </a:r>
            <a:endParaRPr lang="en-US" dirty="0"/>
          </a:p>
          <a:p>
            <a:pPr marL="171450" lvl="0" indent="-171450" algn="l" rtl="0">
              <a:lnSpc>
                <a:spcPct val="80000"/>
              </a:lnSpc>
              <a:spcBef>
                <a:spcPts val="0"/>
              </a:spcBef>
              <a:spcAft>
                <a:spcPts val="0"/>
              </a:spcAft>
              <a:buClr>
                <a:schemeClr val="dk1"/>
              </a:buClr>
              <a:buFont typeface="Arial"/>
              <a:buChar char="-"/>
            </a:pPr>
            <a:r>
              <a:rPr lang="en-US" sz="800" dirty="0"/>
              <a:t>When deployed using the High Availability model 3x NSX Manager nodes, 3x VCF Operations nodes and 3x VCF Automation nodes are deployed.  Additional options are available to configure an NSX load balancer appliances for selected components.</a:t>
            </a:r>
            <a:endParaRPr lang="en-US" dirty="0"/>
          </a:p>
          <a:p>
            <a:pPr marL="0" lvl="0" indent="0" algn="l" rtl="0">
              <a:lnSpc>
                <a:spcPct val="80000"/>
              </a:lnSpc>
              <a:spcBef>
                <a:spcPts val="0"/>
              </a:spcBef>
              <a:spcAft>
                <a:spcPts val="0"/>
              </a:spcAft>
              <a:buNone/>
            </a:pPr>
            <a:endParaRPr lang="en-US" sz="3200" dirty="0">
              <a:solidFill>
                <a:schemeClr val="dk1"/>
              </a:solidFill>
            </a:endParaRPr>
          </a:p>
          <a:p>
            <a:pPr marL="0" lvl="0" indent="0" algn="l" rtl="0">
              <a:lnSpc>
                <a:spcPct val="80000"/>
              </a:lnSpc>
              <a:spcBef>
                <a:spcPts val="0"/>
              </a:spcBef>
              <a:spcAft>
                <a:spcPts val="0"/>
              </a:spcAft>
              <a:buNone/>
            </a:pPr>
            <a:r>
              <a:rPr lang="en-US" sz="3200" b="1" dirty="0">
                <a:solidFill>
                  <a:schemeClr val="dk1"/>
                </a:solidFill>
              </a:rPr>
              <a:t>Extended Talk Track:</a:t>
            </a:r>
          </a:p>
          <a:p>
            <a:pPr marL="0" lvl="0" indent="0" algn="l" rtl="0">
              <a:lnSpc>
                <a:spcPct val="80000"/>
              </a:lnSpc>
              <a:spcBef>
                <a:spcPts val="0"/>
              </a:spcBef>
              <a:spcAft>
                <a:spcPts val="0"/>
              </a:spcAft>
              <a:buNone/>
            </a:pPr>
            <a:r>
              <a:rPr lang="en-US" sz="800" dirty="0"/>
              <a:t>Storage and compute for the management cluster can then be allocated.  The number of hosts required is dependent upon the storage type selected.</a:t>
            </a:r>
            <a:endParaRPr lang="en-US" dirty="0"/>
          </a:p>
          <a:p>
            <a:pPr marL="0" lvl="0" indent="0" algn="l" rtl="0">
              <a:lnSpc>
                <a:spcPct val="80000"/>
              </a:lnSpc>
              <a:spcBef>
                <a:spcPts val="0"/>
              </a:spcBef>
              <a:spcAft>
                <a:spcPts val="0"/>
              </a:spcAft>
              <a:buNone/>
            </a:pPr>
            <a:endParaRPr lang="en-US" sz="800" dirty="0"/>
          </a:p>
          <a:p>
            <a:pPr marL="0" lvl="0" indent="0" algn="l" rtl="0">
              <a:lnSpc>
                <a:spcPct val="80000"/>
              </a:lnSpc>
              <a:spcBef>
                <a:spcPts val="0"/>
              </a:spcBef>
              <a:spcAft>
                <a:spcPts val="0"/>
              </a:spcAft>
              <a:buNone/>
            </a:pPr>
            <a:r>
              <a:rPr lang="en-US" sz="800" dirty="0"/>
              <a:t>NSX is deployed and ready to be configured and consumed for software defined networking. Enhanced Datapath is the default selection; switching configuration is more granular with advanced options for DVPG load balancing and uplink settings.</a:t>
            </a:r>
            <a:endParaRPr lang="en-US" dirty="0"/>
          </a:p>
          <a:p>
            <a:pPr marL="0" lvl="0" indent="0" algn="l" rtl="0">
              <a:lnSpc>
                <a:spcPct val="80000"/>
              </a:lnSpc>
              <a:spcBef>
                <a:spcPts val="0"/>
              </a:spcBef>
              <a:spcAft>
                <a:spcPts val="0"/>
              </a:spcAft>
              <a:buNone/>
            </a:pPr>
            <a:endParaRPr lang="en-US" sz="800" b="1" u="none" strike="noStrike" dirty="0">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542"/>
              <a:buFont typeface="Arial"/>
              <a:buNone/>
            </a:pPr>
            <a:r>
              <a:rPr lang="en-US" sz="1200" dirty="0">
                <a:latin typeface="Arial"/>
                <a:ea typeface="Arial"/>
                <a:cs typeface="Arial"/>
                <a:sym typeface="Arial"/>
              </a:rPr>
              <a:t>Prior to commencing the build, the workflow allows the user to review the deployment parameters and performs a validation to test the inputs.  The VCF Installer will then provide recommendations on any changes which may be required before the fully automated private cloud deployment commences.  Upon a successful deployment, the VCF Installer provides a link to launch VCF Operations which is used for management.</a:t>
            </a:r>
            <a:endParaRPr lang="en-US" dirty="0"/>
          </a:p>
          <a:p>
            <a:pPr marL="0" marR="0" lvl="0" indent="0" algn="l" rtl="0">
              <a:lnSpc>
                <a:spcPct val="80000"/>
              </a:lnSpc>
              <a:spcBef>
                <a:spcPts val="0"/>
              </a:spcBef>
              <a:spcAft>
                <a:spcPts val="0"/>
              </a:spcAft>
              <a:buClr>
                <a:schemeClr val="dk1"/>
              </a:buClr>
              <a:buFont typeface="Arial"/>
              <a:buNone/>
            </a:pPr>
            <a:endParaRPr lang="en-US" sz="800" b="1"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r>
              <a:rPr lang="en-US" sz="3200" b="1" u="none" strike="noStrike" dirty="0">
                <a:solidFill>
                  <a:schemeClr val="dk1"/>
                </a:solidFill>
                <a:latin typeface="Arial"/>
                <a:ea typeface="Arial"/>
                <a:cs typeface="Arial"/>
                <a:sym typeface="Arial"/>
              </a:rPr>
              <a:t>Notes:</a:t>
            </a:r>
            <a:endParaRPr lang="en-US" dirty="0"/>
          </a:p>
          <a:p>
            <a:pPr marL="171450" lvl="0" indent="-171450" algn="l" rtl="0">
              <a:lnSpc>
                <a:spcPct val="60000"/>
              </a:lnSpc>
              <a:spcBef>
                <a:spcPts val="0"/>
              </a:spcBef>
              <a:spcAft>
                <a:spcPts val="0"/>
              </a:spcAft>
              <a:buClr>
                <a:schemeClr val="dk1"/>
              </a:buClr>
              <a:buSzPts val="930"/>
              <a:buFont typeface="Arial"/>
              <a:buChar char="-"/>
            </a:pPr>
            <a:r>
              <a:rPr lang="en-US" sz="3200" b="0" u="none" strike="noStrike" dirty="0">
                <a:solidFill>
                  <a:schemeClr val="dk1"/>
                </a:solidFill>
                <a:latin typeface="Arial"/>
                <a:ea typeface="Arial"/>
                <a:cs typeface="Arial"/>
                <a:sym typeface="Arial"/>
              </a:rPr>
              <a:t>An offline depot is configured at a customer site and is beneficial for VCF deployments which are not internet connected.  An offline depot can also be used to service multiple VCF instances.</a:t>
            </a:r>
          </a:p>
          <a:p>
            <a:pPr marL="171450" lvl="0" indent="-171450" algn="l" rtl="0">
              <a:lnSpc>
                <a:spcPct val="60000"/>
              </a:lnSpc>
              <a:spcBef>
                <a:spcPts val="0"/>
              </a:spcBef>
              <a:spcAft>
                <a:spcPts val="0"/>
              </a:spcAft>
              <a:buClr>
                <a:schemeClr val="dk1"/>
              </a:buClr>
              <a:buSzPts val="930"/>
              <a:buFont typeface="Arial"/>
              <a:buChar char="-"/>
            </a:pPr>
            <a:r>
              <a:rPr lang="en-US" sz="2400" b="0" dirty="0">
                <a:latin typeface="Arial"/>
                <a:ea typeface="Arial"/>
                <a:cs typeface="Arial"/>
                <a:sym typeface="Arial"/>
              </a:rPr>
              <a:t>The Planning and Preparation Workbook can be useful when planning a VCF 9 deployment and provides detail on the inputs required for the VCF Installer wizard driven workflow.</a:t>
            </a:r>
            <a:endParaRPr lang="en-US" dirty="0"/>
          </a:p>
          <a:p>
            <a:pPr marL="171450" marR="0" lvl="0" indent="-171450" algn="l" rtl="0">
              <a:lnSpc>
                <a:spcPct val="60000"/>
              </a:lnSpc>
              <a:spcBef>
                <a:spcPts val="0"/>
              </a:spcBef>
              <a:spcAft>
                <a:spcPts val="0"/>
              </a:spcAft>
              <a:buClr>
                <a:schemeClr val="dk1"/>
              </a:buClr>
              <a:buSzPts val="930"/>
              <a:buFont typeface="Arial"/>
              <a:buChar char="-"/>
            </a:pPr>
            <a:r>
              <a:rPr lang="en-US" sz="3200" b="0" u="none" strike="noStrike" dirty="0">
                <a:solidFill>
                  <a:schemeClr val="dk1"/>
                </a:solidFill>
                <a:latin typeface="Arial"/>
                <a:ea typeface="Arial"/>
                <a:cs typeface="Arial"/>
                <a:sym typeface="Arial"/>
              </a:rPr>
              <a:t>From VCF 9 VCF Operations is used to manage one or more VCF instances.  </a:t>
            </a:r>
            <a:r>
              <a:rPr lang="en-US" sz="3200" b="0" dirty="0">
                <a:latin typeface="Arial"/>
                <a:ea typeface="Arial"/>
                <a:cs typeface="Arial"/>
                <a:sym typeface="Arial"/>
              </a:rPr>
              <a:t>SDDC Manager 9 is installed or upgraded as a component of any VCF 9 instance. SDDC Manager will be deprecated in a future release.</a:t>
            </a:r>
            <a:endParaRPr lang="en-US" sz="3200" b="0" u="none" strike="noStrike" dirty="0">
              <a:solidFill>
                <a:schemeClr val="dk1"/>
              </a:solidFill>
              <a:latin typeface="Arial"/>
              <a:ea typeface="Arial"/>
              <a:cs typeface="Arial"/>
              <a:sym typeface="Arial"/>
            </a:endParaRPr>
          </a:p>
          <a:p>
            <a:pPr marL="171450" lvl="0" indent="-171450" algn="l" rtl="0">
              <a:lnSpc>
                <a:spcPct val="60000"/>
              </a:lnSpc>
              <a:spcBef>
                <a:spcPts val="0"/>
              </a:spcBef>
              <a:spcAft>
                <a:spcPts val="0"/>
              </a:spcAft>
              <a:buClr>
                <a:schemeClr val="dk1"/>
              </a:buClr>
              <a:buSzPts val="930"/>
              <a:buFont typeface="Arial"/>
              <a:buChar char="-"/>
            </a:pPr>
            <a:r>
              <a:rPr lang="en-US" sz="3200" b="0" u="none" strike="noStrike" dirty="0">
                <a:solidFill>
                  <a:schemeClr val="dk1"/>
                </a:solidFill>
                <a:latin typeface="Arial"/>
                <a:ea typeface="Arial"/>
                <a:cs typeface="Arial"/>
                <a:sym typeface="Arial"/>
              </a:rPr>
              <a:t>From VCF 9 the management cluster can be configured using vSAN ready nodes (recommended). Qualified vSphere server hardware can be used to support NFS/VMFS on FC) storage topologies.  Consult the VMware Compatibility Guide for further detail.</a:t>
            </a:r>
            <a:endParaRPr lang="en-US" dirty="0"/>
          </a:p>
          <a:p>
            <a:pPr marL="171450" marR="0" lvl="0" indent="-171450" algn="l" rtl="0">
              <a:lnSpc>
                <a:spcPct val="60000"/>
              </a:lnSpc>
              <a:spcBef>
                <a:spcPts val="0"/>
              </a:spcBef>
              <a:spcAft>
                <a:spcPts val="0"/>
              </a:spcAft>
              <a:buClr>
                <a:schemeClr val="dk1"/>
              </a:buClr>
              <a:buSzPts val="930"/>
              <a:buFont typeface="Arial"/>
              <a:buChar char="-"/>
            </a:pPr>
            <a:r>
              <a:rPr lang="en-US" sz="3200" b="0" u="none" strike="noStrike" dirty="0">
                <a:solidFill>
                  <a:schemeClr val="dk1"/>
                </a:solidFill>
                <a:latin typeface="Arial"/>
                <a:ea typeface="Arial"/>
                <a:cs typeface="Arial"/>
                <a:sym typeface="Arial"/>
              </a:rPr>
              <a:t>A new (greenfield) VCF deployment requires a minimum of 4 hosts for the management cluster which is deployed using vSAN, NFS or VMFS on FC.  </a:t>
            </a:r>
            <a:endParaRPr lang="en-US" dirty="0"/>
          </a:p>
          <a:p>
            <a:pPr marL="171450" marR="0" lvl="0" indent="-171450" algn="l" rtl="0">
              <a:lnSpc>
                <a:spcPct val="60000"/>
              </a:lnSpc>
              <a:spcBef>
                <a:spcPts val="0"/>
              </a:spcBef>
              <a:spcAft>
                <a:spcPts val="0"/>
              </a:spcAft>
              <a:buClr>
                <a:schemeClr val="dk1"/>
              </a:buClr>
              <a:buSzPts val="930"/>
              <a:buFont typeface="Arial"/>
              <a:buChar char="-"/>
            </a:pPr>
            <a:r>
              <a:rPr lang="en-US" sz="3200" b="0" u="none" strike="noStrike" dirty="0">
                <a:solidFill>
                  <a:schemeClr val="dk1"/>
                </a:solidFill>
                <a:latin typeface="Arial"/>
                <a:ea typeface="Arial"/>
                <a:cs typeface="Arial"/>
                <a:sym typeface="Arial"/>
              </a:rPr>
              <a:t>A minimum number of hosts are required when re-using/converging an existing vCenter environment to VCF. (3 vSAN ready nodes or 2 vSphere hosts configured using NFS or VMFS on FC). Refer to the VCF </a:t>
            </a:r>
            <a:r>
              <a:rPr lang="en-US" sz="3200" b="0" u="none" strike="noStrike" dirty="0" err="1">
                <a:solidFill>
                  <a:schemeClr val="dk1"/>
                </a:solidFill>
                <a:latin typeface="Arial"/>
                <a:ea typeface="Arial"/>
                <a:cs typeface="Arial"/>
                <a:sym typeface="Arial"/>
              </a:rPr>
              <a:t>configmax</a:t>
            </a:r>
            <a:r>
              <a:rPr lang="en-US" sz="3200" b="0" u="none" strike="noStrike" dirty="0">
                <a:solidFill>
                  <a:schemeClr val="dk1"/>
                </a:solidFill>
                <a:latin typeface="Arial"/>
                <a:ea typeface="Arial"/>
                <a:cs typeface="Arial"/>
                <a:sym typeface="Arial"/>
              </a:rPr>
              <a:t> site for further detail.</a:t>
            </a:r>
            <a:endParaRPr lang="en-US" dirty="0"/>
          </a:p>
          <a:p>
            <a:pPr marL="171450" marR="0" lvl="0" indent="-171450" algn="l" rtl="0">
              <a:lnSpc>
                <a:spcPct val="60000"/>
              </a:lnSpc>
              <a:spcBef>
                <a:spcPts val="0"/>
              </a:spcBef>
              <a:spcAft>
                <a:spcPts val="0"/>
              </a:spcAft>
              <a:buClr>
                <a:schemeClr val="dk1"/>
              </a:buClr>
              <a:buSzPts val="930"/>
              <a:buFont typeface="Arial"/>
              <a:buChar char="-"/>
            </a:pPr>
            <a:r>
              <a:rPr lang="en-US" sz="3200" b="0" u="none" strike="noStrike" dirty="0">
                <a:solidFill>
                  <a:schemeClr val="dk1"/>
                </a:solidFill>
                <a:latin typeface="Arial"/>
                <a:ea typeface="Arial"/>
                <a:cs typeface="Arial"/>
                <a:sym typeface="Arial"/>
              </a:rPr>
              <a:t>A minimum number of hosts are required when importing existing vCenter environments into VCF as a workload domain. (3 vSAN ready nodes or 2 vSphere hosts configured using NFS or VMFS on FC). Refer to the VCF </a:t>
            </a:r>
            <a:r>
              <a:rPr lang="en-US" sz="3200" b="0" u="none" strike="noStrike" dirty="0" err="1">
                <a:solidFill>
                  <a:schemeClr val="dk1"/>
                </a:solidFill>
                <a:latin typeface="Arial"/>
                <a:ea typeface="Arial"/>
                <a:cs typeface="Arial"/>
                <a:sym typeface="Arial"/>
              </a:rPr>
              <a:t>configmax</a:t>
            </a:r>
            <a:r>
              <a:rPr lang="en-US" sz="3200" b="0" u="none" strike="noStrike" dirty="0">
                <a:solidFill>
                  <a:schemeClr val="dk1"/>
                </a:solidFill>
                <a:latin typeface="Arial"/>
                <a:ea typeface="Arial"/>
                <a:cs typeface="Arial"/>
                <a:sym typeface="Arial"/>
              </a:rPr>
              <a:t> site for further detail.</a:t>
            </a:r>
            <a:endParaRPr lang="en-US" dirty="0"/>
          </a:p>
          <a:p>
            <a:pPr marL="171450" marR="0" lvl="0" indent="-171450" algn="l" rtl="0">
              <a:lnSpc>
                <a:spcPct val="60000"/>
              </a:lnSpc>
              <a:spcBef>
                <a:spcPts val="0"/>
              </a:spcBef>
              <a:spcAft>
                <a:spcPts val="0"/>
              </a:spcAft>
              <a:buClr>
                <a:schemeClr val="dk1"/>
              </a:buClr>
              <a:buSzPts val="930"/>
              <a:buFont typeface="Arial"/>
              <a:buChar char="-"/>
            </a:pPr>
            <a:r>
              <a:rPr lang="en-US" sz="3200" b="0" u="none" strike="noStrike" dirty="0">
                <a:solidFill>
                  <a:schemeClr val="dk1"/>
                </a:solidFill>
                <a:latin typeface="Arial"/>
                <a:ea typeface="Arial"/>
                <a:cs typeface="Arial"/>
                <a:sym typeface="Arial"/>
              </a:rPr>
              <a:t>The management domain of a new (greenfield) VCF instance is configured for NSX.  Each workload domain is also configured for NSX and is ready to be configured for NSX Virtual Networking (SDN).</a:t>
            </a:r>
            <a:endParaRPr lang="en-US" dirty="0"/>
          </a:p>
          <a:p>
            <a:pPr marL="171450" marR="0" lvl="0" indent="-171450" algn="l" rtl="0">
              <a:lnSpc>
                <a:spcPct val="60000"/>
              </a:lnSpc>
              <a:spcBef>
                <a:spcPts val="0"/>
              </a:spcBef>
              <a:spcAft>
                <a:spcPts val="0"/>
              </a:spcAft>
              <a:buClr>
                <a:schemeClr val="dk1"/>
              </a:buClr>
              <a:buSzPts val="930"/>
              <a:buFont typeface="Arial"/>
              <a:buChar char="-"/>
            </a:pPr>
            <a:r>
              <a:rPr lang="en-US" sz="3200" b="0" u="none" strike="noStrike" baseline="30000" dirty="0">
                <a:solidFill>
                  <a:schemeClr val="dk1"/>
                </a:solidFill>
                <a:latin typeface="Arial"/>
                <a:ea typeface="Arial"/>
                <a:cs typeface="Arial"/>
                <a:sym typeface="Arial"/>
              </a:rPr>
              <a:t>1 </a:t>
            </a:r>
            <a:r>
              <a:rPr lang="en-US" sz="3200" b="0" u="none" strike="noStrike" dirty="0">
                <a:solidFill>
                  <a:schemeClr val="dk1"/>
                </a:solidFill>
                <a:latin typeface="Arial"/>
                <a:ea typeface="Arial"/>
                <a:cs typeface="Arial"/>
                <a:sym typeface="Arial"/>
              </a:rPr>
              <a:t>VMware supports converging (re-using) existing vSphere clusters to VCF.  Existing vCenter environments to be converged can be pre-deployed with </a:t>
            </a:r>
            <a:r>
              <a:rPr lang="en-US" sz="3200" b="0" u="sng" strike="noStrike" dirty="0">
                <a:solidFill>
                  <a:schemeClr val="dk1"/>
                </a:solidFill>
                <a:latin typeface="Arial"/>
                <a:ea typeface="Arial"/>
                <a:cs typeface="Arial"/>
                <a:sym typeface="Arial"/>
              </a:rPr>
              <a:t>vSphere</a:t>
            </a:r>
            <a:r>
              <a:rPr lang="en-US" sz="3200" b="0" u="none" strike="noStrike" dirty="0">
                <a:solidFill>
                  <a:schemeClr val="dk1"/>
                </a:solidFill>
                <a:latin typeface="Arial"/>
                <a:ea typeface="Arial"/>
                <a:cs typeface="Arial"/>
                <a:sym typeface="Arial"/>
              </a:rPr>
              <a:t> or </a:t>
            </a:r>
            <a:r>
              <a:rPr lang="en-US" sz="3200" b="0" u="sng" strike="noStrike" dirty="0">
                <a:solidFill>
                  <a:schemeClr val="dk1"/>
                </a:solidFill>
                <a:latin typeface="Arial"/>
                <a:ea typeface="Arial"/>
                <a:cs typeface="Arial"/>
                <a:sym typeface="Arial"/>
              </a:rPr>
              <a:t>vSphere with vSAN</a:t>
            </a:r>
            <a:r>
              <a:rPr lang="en-US" sz="3200" b="0" u="none" strike="noStrike" dirty="0">
                <a:solidFill>
                  <a:schemeClr val="dk1"/>
                </a:solidFill>
                <a:latin typeface="Arial"/>
                <a:ea typeface="Arial"/>
                <a:cs typeface="Arial"/>
                <a:sym typeface="Arial"/>
              </a:rPr>
              <a:t>.  Existing vCenter environments with NSX installed are not initially supported to be converged to a VCF management domain at this time.  </a:t>
            </a:r>
            <a:r>
              <a:rPr lang="en-US" sz="3200" b="0" u="sng" strike="noStrike" dirty="0">
                <a:solidFill>
                  <a:schemeClr val="dk1"/>
                </a:solidFill>
                <a:latin typeface="Arial"/>
                <a:ea typeface="Arial"/>
                <a:cs typeface="Arial"/>
                <a:sym typeface="Arial"/>
              </a:rPr>
              <a:t>A fresh instance of NSX is installed as part of the process.</a:t>
            </a:r>
          </a:p>
          <a:p>
            <a:pPr marL="171450" marR="0" lvl="0" indent="-171450" algn="l" rtl="0">
              <a:lnSpc>
                <a:spcPct val="60000"/>
              </a:lnSpc>
              <a:spcBef>
                <a:spcPts val="0"/>
              </a:spcBef>
              <a:spcAft>
                <a:spcPts val="0"/>
              </a:spcAft>
              <a:buClr>
                <a:schemeClr val="dk1"/>
              </a:buClr>
              <a:buSzPts val="930"/>
              <a:buFont typeface="Arial"/>
              <a:buChar char="-"/>
            </a:pPr>
            <a:r>
              <a:rPr lang="en-US" sz="3200" i="0" dirty="0"/>
              <a:t>Existing vCenter environments with NSX installed can be imported as Workload Domains.</a:t>
            </a:r>
            <a:endParaRPr lang="en-US" sz="3200" i="0" u="sng" dirty="0"/>
          </a:p>
          <a:p>
            <a:pPr marL="171450" marR="0" lvl="0" indent="-171450" algn="l" rtl="0">
              <a:lnSpc>
                <a:spcPct val="60000"/>
              </a:lnSpc>
              <a:spcBef>
                <a:spcPts val="0"/>
              </a:spcBef>
              <a:spcAft>
                <a:spcPts val="0"/>
              </a:spcAft>
              <a:buClr>
                <a:schemeClr val="dk1"/>
              </a:buClr>
              <a:buSzPts val="930"/>
              <a:buFont typeface="Arial"/>
              <a:buChar char="-"/>
            </a:pPr>
            <a:r>
              <a:rPr lang="en-US" sz="3200" strike="noStrike" dirty="0">
                <a:latin typeface="Arial"/>
                <a:ea typeface="Arial"/>
                <a:cs typeface="Arial"/>
                <a:sym typeface="Arial"/>
              </a:rPr>
              <a:t>A new VCF instance is deployed in evaluation mode. </a:t>
            </a:r>
            <a:r>
              <a:rPr lang="en-US" sz="3200" dirty="0">
                <a:latin typeface="Arial"/>
                <a:ea typeface="Arial"/>
                <a:cs typeface="Arial"/>
                <a:sym typeface="Arial"/>
              </a:rPr>
              <a:t>VCF is fully functional while the deployment is running in evaluation mode and allows a user to deploy additional hosts, workload domains and clusters. </a:t>
            </a:r>
            <a:r>
              <a:rPr lang="en-US" sz="3200" strike="noStrike" dirty="0">
                <a:latin typeface="Arial"/>
                <a:ea typeface="Arial"/>
                <a:cs typeface="Arial"/>
                <a:sym typeface="Arial"/>
              </a:rPr>
              <a:t>The VCF 9 instance is required to be licensed within the first 60 days of a deployment using a license file.  VCF Operations directs the user to the Broadcom Business Services Console to complete this process.</a:t>
            </a:r>
            <a:endParaRPr lang="en-US" sz="3200" b="0"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endParaRPr lang="en-US" sz="3200" b="1" u="none" strike="noStrike" dirty="0">
              <a:solidFill>
                <a:schemeClr val="dk1"/>
              </a:solidFill>
              <a:latin typeface="Arial"/>
              <a:ea typeface="Arial"/>
              <a:cs typeface="Arial"/>
              <a:sym typeface="Arial"/>
            </a:endParaRPr>
          </a:p>
          <a:p>
            <a:pPr marL="0" lvl="0" indent="0" algn="l" rtl="0">
              <a:lnSpc>
                <a:spcPct val="60000"/>
              </a:lnSpc>
              <a:spcBef>
                <a:spcPts val="0"/>
              </a:spcBef>
              <a:spcAft>
                <a:spcPts val="0"/>
              </a:spcAft>
              <a:buClr>
                <a:schemeClr val="dk1"/>
              </a:buClr>
              <a:buSzPts val="930"/>
              <a:buFont typeface="Arial"/>
              <a:buNone/>
            </a:pPr>
            <a:r>
              <a:rPr lang="en-US" sz="3200" b="1" u="none" strike="noStrike" dirty="0">
                <a:solidFill>
                  <a:schemeClr val="dk1"/>
                </a:solidFill>
                <a:latin typeface="Arial"/>
                <a:ea typeface="Arial"/>
                <a:cs typeface="Arial"/>
                <a:sym typeface="Arial"/>
              </a:rPr>
              <a:t>Resources:</a:t>
            </a:r>
            <a:endParaRPr lang="en-US" dirty="0"/>
          </a:p>
          <a:p>
            <a:pPr marL="0" marR="0" lvl="0" indent="0" algn="l" defTabSz="914400" rtl="0" eaLnBrk="1" fontAlgn="auto" latinLnBrk="0" hangingPunct="1">
              <a:lnSpc>
                <a:spcPct val="80000"/>
              </a:lnSpc>
              <a:spcBef>
                <a:spcPts val="0"/>
              </a:spcBef>
              <a:spcAft>
                <a:spcPts val="0"/>
              </a:spcAft>
              <a:buClrTx/>
              <a:buSzTx/>
              <a:buFontTx/>
              <a:buNone/>
              <a:tabLst/>
              <a:defRPr/>
            </a:pPr>
            <a:r>
              <a:rPr lang="en-US" sz="3200" b="0" u="none" strike="noStrike" kern="1200" dirty="0">
                <a:solidFill>
                  <a:schemeClr val="tx1"/>
                </a:solidFill>
                <a:effectLst/>
                <a:latin typeface="Arial" panose="020B0604020202020204" pitchFamily="34" charset="0"/>
                <a:ea typeface="+mn-ea"/>
                <a:cs typeface="+mn-cs"/>
              </a:rPr>
              <a:t>Refer to the VMware Cloud Foundation Deployment Guide for further information</a:t>
            </a:r>
            <a:br>
              <a:rPr lang="en-US" sz="3200" b="0" u="none" strike="noStrike" kern="1200" dirty="0">
                <a:solidFill>
                  <a:schemeClr val="tx1"/>
                </a:solidFill>
                <a:effectLst/>
                <a:latin typeface="Arial" panose="020B0604020202020204" pitchFamily="34" charset="0"/>
                <a:ea typeface="+mn-ea"/>
                <a:cs typeface="+mn-cs"/>
              </a:rPr>
            </a:br>
            <a:r>
              <a:rPr lang="en-AU" sz="3200" dirty="0">
                <a:effectLst/>
                <a:latin typeface="Helvetica Neue" panose="02000503000000020004" pitchFamily="2" charset="0"/>
                <a:hlinkClick r:id="rId3"/>
              </a:rPr>
              <a:t>https://techdocs.broadcom.com/us/en/vmware-cis/vcf.html</a:t>
            </a:r>
            <a:r>
              <a:rPr lang="en-AU" sz="3200" dirty="0">
                <a:effectLst/>
                <a:latin typeface="Helvetica Neue" panose="02000503000000020004" pitchFamily="2" charset="0"/>
              </a:rPr>
              <a:t> </a:t>
            </a:r>
          </a:p>
          <a:p>
            <a:pPr marL="0" lvl="0" indent="0" algn="l" rtl="0">
              <a:lnSpc>
                <a:spcPct val="80000"/>
              </a:lnSpc>
              <a:spcBef>
                <a:spcPts val="0"/>
              </a:spcBef>
              <a:spcAft>
                <a:spcPts val="0"/>
              </a:spcAft>
              <a:buNone/>
            </a:pPr>
            <a:endParaRPr lang="en-US" sz="3200" dirty="0"/>
          </a:p>
          <a:p>
            <a:pPr marL="0" lvl="0" indent="0" algn="l" rtl="0">
              <a:lnSpc>
                <a:spcPct val="80000"/>
              </a:lnSpc>
              <a:spcBef>
                <a:spcPts val="0"/>
              </a:spcBef>
              <a:spcAft>
                <a:spcPts val="0"/>
              </a:spcAft>
              <a:buNone/>
            </a:pPr>
            <a:endParaRPr lang="en-US" sz="3200" dirty="0"/>
          </a:p>
          <a:p>
            <a:endParaRPr lang="en-US" dirty="0"/>
          </a:p>
          <a:p>
            <a:endParaRPr lang="en-US" dirty="0"/>
          </a:p>
        </p:txBody>
      </p:sp>
      <p:sp>
        <p:nvSpPr>
          <p:cNvPr id="4" name="Slide Number Placeholder 3">
            <a:extLst>
              <a:ext uri="{FF2B5EF4-FFF2-40B4-BE49-F238E27FC236}">
                <a16:creationId xmlns:a16="http://schemas.microsoft.com/office/drawing/2014/main" id="{D8F7CD54-C749-6596-119D-17950AF814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15829202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96732-A6D1-D21C-E534-5350411E89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F57DA-4A2D-7F6B-6840-7C2B3857E7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DDB34F-4690-E514-2E50-78CEFF372C69}"/>
              </a:ext>
            </a:extLst>
          </p:cNvPr>
          <p:cNvSpPr>
            <a:spLocks noGrp="1"/>
          </p:cNvSpPr>
          <p:nvPr>
            <p:ph type="body" idx="1"/>
          </p:nvPr>
        </p:nvSpPr>
        <p:spPr/>
        <p:txBody>
          <a:bodyPr>
            <a:normAutofit fontScale="92500" lnSpcReduction="20000"/>
          </a:bodyPr>
          <a:lstStyle/>
          <a:p>
            <a:r>
              <a:rPr lang="en-US" b="1" dirty="0"/>
              <a:t>Key Message:</a:t>
            </a:r>
            <a:br>
              <a:rPr lang="en-US" b="1" dirty="0"/>
            </a:br>
            <a:r>
              <a:rPr lang="en-US" dirty="0"/>
              <a:t>VCF 9 provides the option to deploy VCF components using one of two deployment models.</a:t>
            </a:r>
          </a:p>
          <a:p>
            <a:endParaRPr lang="en-US" dirty="0"/>
          </a:p>
          <a:p>
            <a:pPr marL="0" lvl="0" indent="0" algn="l" rtl="0">
              <a:lnSpc>
                <a:spcPct val="80000"/>
              </a:lnSpc>
              <a:spcBef>
                <a:spcPts val="0"/>
              </a:spcBef>
              <a:spcAft>
                <a:spcPts val="0"/>
              </a:spcAft>
              <a:buNone/>
            </a:pPr>
            <a:r>
              <a:rPr lang="en-US" b="1" dirty="0"/>
              <a:t>Talk Track:</a:t>
            </a:r>
          </a:p>
          <a:p>
            <a:pPr marL="0" lvl="0" indent="0" algn="l" rtl="0">
              <a:lnSpc>
                <a:spcPct val="80000"/>
              </a:lnSpc>
              <a:spcBef>
                <a:spcPts val="0"/>
              </a:spcBef>
              <a:spcAft>
                <a:spcPts val="0"/>
              </a:spcAft>
              <a:buNone/>
            </a:pPr>
            <a:r>
              <a:rPr lang="en-US" b="0" dirty="0"/>
              <a:t>Let’s take a closer look at the two appliance models available when deploying a new VCF instance.</a:t>
            </a:r>
          </a:p>
          <a:p>
            <a:pPr marL="0" lvl="0" indent="0" algn="l" rtl="0">
              <a:lnSpc>
                <a:spcPct val="80000"/>
              </a:lnSpc>
              <a:spcBef>
                <a:spcPts val="0"/>
              </a:spcBef>
              <a:spcAft>
                <a:spcPts val="0"/>
              </a:spcAft>
              <a:buNone/>
            </a:pPr>
            <a:endParaRPr lang="en-US" b="0" dirty="0"/>
          </a:p>
          <a:p>
            <a:pPr marL="0" lvl="0" indent="0" algn="l" rtl="0">
              <a:lnSpc>
                <a:spcPct val="80000"/>
              </a:lnSpc>
              <a:spcBef>
                <a:spcPts val="0"/>
              </a:spcBef>
              <a:spcAft>
                <a:spcPts val="0"/>
              </a:spcAft>
              <a:buNone/>
            </a:pPr>
            <a:r>
              <a:rPr lang="en-US" b="0" dirty="0"/>
              <a:t>When choosing a </a:t>
            </a:r>
            <a:r>
              <a:rPr lang="en-US" b="0" u="sng" dirty="0"/>
              <a:t>Simple Model</a:t>
            </a:r>
            <a:r>
              <a:rPr lang="en-US" b="0" dirty="0"/>
              <a:t> a minimum of 7 appliances are required which consists of a single appliance for vCenter server, SDDC Manager and NSX Manager.  VCF Operations comprises of single appliances for VCF Operations Manager, a Fleet Management appliance and a VCF Operations collector.  A single appliance is also deployed for VCF Automation.</a:t>
            </a:r>
            <a:br>
              <a:rPr lang="en-US" b="0" dirty="0"/>
            </a:br>
            <a:r>
              <a:rPr lang="en-US" b="0" dirty="0"/>
              <a:t>A VKS appliance is deployed when the option to deploy the supervisor is selected.  Additional appliances can be deployed after the initial deployment has completed which includes the option to further configure VCF Operations for Logs, configure secure connectivity with a NSX Edge cluster and configure VIDB for Identity and Access.</a:t>
            </a:r>
          </a:p>
          <a:p>
            <a:pPr marL="0" lvl="0" indent="0" algn="l" rtl="0">
              <a:lnSpc>
                <a:spcPct val="80000"/>
              </a:lnSpc>
              <a:spcBef>
                <a:spcPts val="0"/>
              </a:spcBef>
              <a:spcAft>
                <a:spcPts val="0"/>
              </a:spcAft>
              <a:buNone/>
            </a:pPr>
            <a:endParaRPr lang="en-US" b="1" dirty="0"/>
          </a:p>
          <a:p>
            <a:pPr algn="l">
              <a:buNone/>
            </a:pPr>
            <a:r>
              <a:rPr lang="en-AU" b="0" i="0" dirty="0">
                <a:solidFill>
                  <a:srgbClr val="1E1E1E"/>
                </a:solidFill>
                <a:effectLst/>
                <a:latin typeface="ArialMT"/>
              </a:rPr>
              <a:t>A </a:t>
            </a:r>
            <a:r>
              <a:rPr lang="en-AU" b="0" i="0" u="sng" dirty="0">
                <a:solidFill>
                  <a:srgbClr val="1E1E1E"/>
                </a:solidFill>
                <a:effectLst/>
                <a:latin typeface="ArialMT"/>
              </a:rPr>
              <a:t>High Availability Model </a:t>
            </a:r>
            <a:r>
              <a:rPr lang="en-AU" b="0" i="0" dirty="0">
                <a:solidFill>
                  <a:srgbClr val="1E1E1E"/>
                </a:solidFill>
                <a:effectLst/>
                <a:latin typeface="ArialMT"/>
              </a:rPr>
              <a:t>is recommended for production environments.</a:t>
            </a:r>
            <a:r>
              <a:rPr lang="en-US" sz="1200" b="1" i="0" dirty="0">
                <a:solidFill>
                  <a:srgbClr val="1E1E1E"/>
                </a:solidFill>
                <a:effectLst/>
                <a:latin typeface="ArialMT"/>
              </a:rPr>
              <a:t>  </a:t>
            </a:r>
            <a:r>
              <a:rPr lang="en-US" sz="800" dirty="0"/>
              <a:t>When deployed using the High Availability model a minimum, of 13 appliances are deployed comprising of 3x NSX Manager nodes, 3x VCF Operations nodes and 3x VCF Automation nodes.  3 appliances are also configured  for VCF Operations for Logs and VKS. </a:t>
            </a:r>
          </a:p>
          <a:p>
            <a:pPr algn="l">
              <a:buNone/>
            </a:pPr>
            <a:r>
              <a:rPr lang="en-US" sz="800" dirty="0"/>
              <a:t>Having 3 appliances provides high availability in the case of a hardware failure and also helps to minimize disruption and streamline lifecycle management, patching and upgrades</a:t>
            </a:r>
          </a:p>
          <a:p>
            <a:pPr algn="l">
              <a:buNone/>
            </a:pPr>
            <a:r>
              <a:rPr lang="en-US" sz="800" dirty="0"/>
              <a:t>Additional options which are not shown here include the option to configure an NSX load balancer appliances for selected components.</a:t>
            </a:r>
          </a:p>
          <a:p>
            <a:pPr algn="l">
              <a:buNone/>
            </a:pPr>
            <a:endParaRPr lang="en-US" sz="800" dirty="0"/>
          </a:p>
          <a:p>
            <a:pPr algn="l">
              <a:buNone/>
            </a:pPr>
            <a:r>
              <a:rPr lang="en-US" sz="800" dirty="0"/>
              <a:t>At any point in time a customer can choose to scale additional appliances to these components as a post installation operation.  </a:t>
            </a:r>
          </a:p>
          <a:p>
            <a:pPr algn="l">
              <a:buNone/>
            </a:pPr>
            <a:endParaRPr lang="en-US" sz="800" dirty="0"/>
          </a:p>
          <a:p>
            <a:pPr algn="l">
              <a:buNone/>
            </a:pPr>
            <a:r>
              <a:rPr lang="en-US" sz="800" dirty="0"/>
              <a:t>Furthermore, VCF Operations for Networks, HCX and a selection of other VCF Advanced services (Add-ons) can also be configured post deployment.</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b="0" i="0" dirty="0">
                <a:solidFill>
                  <a:srgbClr val="1E1E1E"/>
                </a:solidFill>
                <a:effectLst/>
                <a:latin typeface="ArialMT"/>
              </a:rPr>
              <a:t>It is important to note that the deployment model that you select does not impact existing appliances that you are using in your VCF fleet or VCF instance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Notes:</a:t>
            </a:r>
            <a:br>
              <a:rPr lang="en-US" dirty="0"/>
            </a:br>
            <a:r>
              <a:rPr lang="en-US" sz="1200" i="1" dirty="0"/>
              <a:t>VCF Operations for Networks </a:t>
            </a:r>
            <a:r>
              <a:rPr lang="en-US" sz="1200" dirty="0"/>
              <a:t>and </a:t>
            </a:r>
            <a:r>
              <a:rPr lang="en-US" sz="1200" i="1" dirty="0"/>
              <a:t>HCX</a:t>
            </a:r>
            <a:r>
              <a:rPr lang="en-US" sz="1200" dirty="0"/>
              <a:t> not shown for slide brevity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Resources:</a:t>
            </a:r>
            <a:br>
              <a:rPr lang="en-US" sz="1200" dirty="0"/>
            </a:br>
            <a:r>
              <a:rPr lang="en-US" sz="1200" b="0" u="none" strike="noStrike" kern="1200" dirty="0">
                <a:solidFill>
                  <a:schemeClr val="tx1"/>
                </a:solidFill>
                <a:effectLst/>
                <a:latin typeface="Arial" panose="020B0604020202020204" pitchFamily="34" charset="0"/>
                <a:ea typeface="+mn-ea"/>
                <a:cs typeface="+mn-cs"/>
              </a:rPr>
              <a:t>Refer to the VMware Cloud Foundation Design Guide for further information</a:t>
            </a:r>
            <a:br>
              <a:rPr lang="en-US" sz="1200" b="0" u="none" strike="noStrike" kern="1200" dirty="0">
                <a:solidFill>
                  <a:schemeClr val="tx1"/>
                </a:solidFill>
                <a:effectLst/>
                <a:latin typeface="Arial" panose="020B0604020202020204" pitchFamily="34" charset="0"/>
                <a:ea typeface="+mn-ea"/>
                <a:cs typeface="+mn-cs"/>
              </a:rPr>
            </a:br>
            <a:r>
              <a:rPr lang="en-AU" dirty="0">
                <a:effectLst/>
                <a:latin typeface="Helvetica Neue" panose="02000503000000020004" pitchFamily="2" charset="0"/>
                <a:hlinkClick r:id="rId3"/>
              </a:rPr>
              <a:t>https://techdocs.broadcom.com/us/en/vmware-cis/vcf.html</a:t>
            </a:r>
            <a:r>
              <a:rPr lang="en-AU" dirty="0">
                <a:effectLst/>
                <a:latin typeface="Helvetica Neue" panose="02000503000000020004" pitchFamily="2" charset="0"/>
              </a:rPr>
              <a:t> </a:t>
            </a:r>
            <a:br>
              <a:rPr lang="en-AU" dirty="0">
                <a:effectLst/>
                <a:latin typeface="Helvetica Neue" panose="02000503000000020004" pitchFamily="2" charset="0"/>
              </a:rPr>
            </a:br>
            <a:br>
              <a:rPr lang="en-AU" dirty="0">
                <a:effectLst/>
                <a:latin typeface="Helvetica Neue" panose="02000503000000020004" pitchFamily="2" charset="0"/>
              </a:rPr>
            </a:br>
            <a:r>
              <a:rPr lang="en-US" sz="1200" b="0" u="none" strike="noStrike" kern="1200" dirty="0">
                <a:solidFill>
                  <a:schemeClr val="tx1"/>
                </a:solidFill>
                <a:effectLst/>
                <a:latin typeface="Arial" panose="020B0604020202020204" pitchFamily="34" charset="0"/>
                <a:ea typeface="+mn-ea"/>
                <a:cs typeface="+mn-cs"/>
              </a:rPr>
              <a:t>Refer to the VMware Cloud Foundation Deployment Guide for further information</a:t>
            </a:r>
            <a:br>
              <a:rPr lang="en-US" sz="1200" b="0" u="none" strike="noStrike" kern="1200" dirty="0">
                <a:solidFill>
                  <a:schemeClr val="tx1"/>
                </a:solidFill>
                <a:effectLst/>
                <a:latin typeface="Arial" panose="020B0604020202020204" pitchFamily="34" charset="0"/>
                <a:ea typeface="+mn-ea"/>
                <a:cs typeface="+mn-cs"/>
              </a:rPr>
            </a:br>
            <a:r>
              <a:rPr lang="en-AU" sz="1200" dirty="0">
                <a:effectLst/>
                <a:latin typeface="Helvetica Neue" panose="02000503000000020004" pitchFamily="2" charset="0"/>
                <a:hlinkClick r:id="rId3"/>
              </a:rPr>
              <a:t>https://techdocs.broadcom.com/us/en/vmware-cis/vcf.html</a:t>
            </a:r>
            <a:r>
              <a:rPr lang="en-AU" sz="1200" dirty="0">
                <a:effectLst/>
                <a:latin typeface="Helvetica Neue" panose="02000503000000020004" pitchFamily="2"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effectLst/>
              <a:latin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p:sp>
        <p:nvSpPr>
          <p:cNvPr id="4" name="Slide Number Placeholder 3">
            <a:extLst>
              <a:ext uri="{FF2B5EF4-FFF2-40B4-BE49-F238E27FC236}">
                <a16:creationId xmlns:a16="http://schemas.microsoft.com/office/drawing/2014/main" id="{432F4DBB-309B-AE23-F9FF-3D60D001D44E}"/>
              </a:ext>
            </a:extLst>
          </p:cNvPr>
          <p:cNvSpPr>
            <a:spLocks noGrp="1"/>
          </p:cNvSpPr>
          <p:nvPr>
            <p:ph type="sldNum" sz="quarter" idx="5"/>
          </p:nvPr>
        </p:nvSpPr>
        <p:spPr/>
        <p:txBody>
          <a:bodyPr/>
          <a:lstStyle/>
          <a:p>
            <a:fld id="{9F4FBC3A-A12C-40F9-BB8D-BC30C7901396}" type="slidenum">
              <a:rPr lang="en-US" smtClean="0"/>
              <a:pPr/>
              <a:t>20</a:t>
            </a:fld>
            <a:endParaRPr lang="en-US" dirty="0"/>
          </a:p>
        </p:txBody>
      </p:sp>
    </p:spTree>
    <p:extLst>
      <p:ext uri="{BB962C8B-B14F-4D97-AF65-F5344CB8AC3E}">
        <p14:creationId xmlns:p14="http://schemas.microsoft.com/office/powerpoint/2010/main" val="22680798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588B2-CCD5-5663-7E5D-9E9D88EC2E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6A2ED7-5767-6FC3-129E-A39BEEF6F0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449EC2-37CF-553F-AC85-D8035B40DDB3}"/>
              </a:ext>
            </a:extLst>
          </p:cNvPr>
          <p:cNvSpPr>
            <a:spLocks noGrp="1"/>
          </p:cNvSpPr>
          <p:nvPr>
            <p:ph type="body" idx="1"/>
          </p:nvPr>
        </p:nvSpPr>
        <p:spPr/>
        <p:txBody>
          <a:bodyPr>
            <a:normAutofit fontScale="32500" lnSpcReduction="20000"/>
          </a:bodyPr>
          <a:lstStyle/>
          <a:p>
            <a:pPr marL="0" marR="0" lvl="0" indent="0" algn="l" defTabSz="914400" rtl="0" eaLnBrk="1" fontAlgn="auto" latinLnBrk="0" hangingPunct="1">
              <a:lnSpc>
                <a:spcPct val="80000"/>
              </a:lnSpc>
              <a:spcBef>
                <a:spcPts val="0"/>
              </a:spcBef>
              <a:spcAft>
                <a:spcPts val="0"/>
              </a:spcAft>
              <a:buClrTx/>
              <a:buSzTx/>
              <a:buFontTx/>
              <a:buNone/>
              <a:tabLst/>
              <a:defRPr/>
            </a:pPr>
            <a:r>
              <a:rPr lang="en-US" sz="4400" b="1" dirty="0">
                <a:latin typeface="Metropolis" pitchFamily="2" charset="77"/>
              </a:rPr>
              <a:t>Presenter Note:  This slide contains animation</a:t>
            </a:r>
          </a:p>
          <a:p>
            <a:pPr marL="0" lvl="0" indent="0" algn="l" rtl="0">
              <a:lnSpc>
                <a:spcPct val="80000"/>
              </a:lnSpc>
              <a:spcBef>
                <a:spcPts val="0"/>
              </a:spcBef>
              <a:spcAft>
                <a:spcPts val="0"/>
              </a:spcAft>
              <a:buNone/>
            </a:pPr>
            <a:endParaRPr lang="en-US" sz="2400" b="1"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r>
              <a:rPr lang="en-US" sz="2400" b="1" u="none" strike="noStrike" dirty="0">
                <a:solidFill>
                  <a:schemeClr val="dk1"/>
                </a:solidFill>
                <a:latin typeface="Metropolis" pitchFamily="2" charset="77"/>
                <a:sym typeface="Arial"/>
              </a:rPr>
              <a:t>Key Message:</a:t>
            </a:r>
          </a:p>
          <a:p>
            <a:pPr marL="0" marR="0" lvl="0" indent="0" algn="l" rtl="0">
              <a:lnSpc>
                <a:spcPct val="80000"/>
              </a:lnSpc>
              <a:spcBef>
                <a:spcPts val="0"/>
              </a:spcBef>
              <a:spcAft>
                <a:spcPts val="0"/>
              </a:spcAft>
              <a:buClr>
                <a:schemeClr val="dk1"/>
              </a:buClr>
              <a:buSzPts val="620"/>
              <a:buFont typeface="Arial"/>
              <a:buNone/>
            </a:pPr>
            <a:r>
              <a:rPr lang="en-US" sz="2400" b="0" u="none" dirty="0">
                <a:solidFill>
                  <a:schemeClr val="dk1"/>
                </a:solidFill>
              </a:rPr>
              <a:t>VCF 9 provides an integrated and unified operations experience (discussed in more detail later during this presentation).</a:t>
            </a:r>
          </a:p>
          <a:p>
            <a:pPr marL="0" marR="0" lvl="0" indent="0" algn="l" defTabSz="914400" rtl="0" eaLnBrk="1" fontAlgn="auto" latinLnBrk="0" hangingPunct="1">
              <a:lnSpc>
                <a:spcPct val="80000"/>
              </a:lnSpc>
              <a:spcBef>
                <a:spcPts val="0"/>
              </a:spcBef>
              <a:spcAft>
                <a:spcPts val="0"/>
              </a:spcAft>
              <a:buClrTx/>
              <a:buSzTx/>
              <a:buFontTx/>
              <a:buNone/>
              <a:tabLst/>
              <a:defRPr/>
            </a:pPr>
            <a:r>
              <a:rPr lang="en-US" sz="2400" dirty="0">
                <a:solidFill>
                  <a:schemeClr val="tx1"/>
                </a:solidFill>
              </a:rPr>
              <a:t>VCF Operations can also be used to </a:t>
            </a:r>
            <a:r>
              <a:rPr lang="en-US" sz="2400" b="0" dirty="0">
                <a:solidFill>
                  <a:schemeClr val="tx1"/>
                </a:solidFill>
              </a:rPr>
              <a:t>import pre-</a:t>
            </a:r>
            <a:r>
              <a:rPr lang="en-US" sz="2400" dirty="0">
                <a:solidFill>
                  <a:schemeClr val="tx1"/>
                </a:solidFill>
              </a:rPr>
              <a:t>existing vCenter deployments into an existing VMware Cloud Foundation instance.</a:t>
            </a:r>
          </a:p>
          <a:p>
            <a:pPr marL="0" marR="0" lvl="0" indent="0" algn="l" defTabSz="914400" rtl="0" eaLnBrk="1" fontAlgn="auto" latinLnBrk="0" hangingPunct="1">
              <a:lnSpc>
                <a:spcPct val="80000"/>
              </a:lnSpc>
              <a:spcBef>
                <a:spcPts val="0"/>
              </a:spcBef>
              <a:spcAft>
                <a:spcPts val="0"/>
              </a:spcAft>
              <a:buClrTx/>
              <a:buSzTx/>
              <a:buFontTx/>
              <a:buNone/>
              <a:tabLst/>
              <a:defRPr/>
            </a:pPr>
            <a:r>
              <a:rPr lang="en-US" sz="2400" dirty="0">
                <a:solidFill>
                  <a:schemeClr val="tx1"/>
                </a:solidFill>
              </a:rPr>
              <a:t> </a:t>
            </a:r>
            <a:endParaRPr lang="en-US" sz="2400" b="1" dirty="0">
              <a:latin typeface="Metropolis" pitchFamily="2" charset="77"/>
            </a:endParaRPr>
          </a:p>
          <a:p>
            <a:pPr marL="0" marR="0" lvl="0" indent="0" algn="l" defTabSz="914400" rtl="0" eaLnBrk="1" fontAlgn="auto" latinLnBrk="0" hangingPunct="1">
              <a:lnSpc>
                <a:spcPct val="80000"/>
              </a:lnSpc>
              <a:spcBef>
                <a:spcPts val="0"/>
              </a:spcBef>
              <a:spcAft>
                <a:spcPts val="0"/>
              </a:spcAft>
              <a:buClrTx/>
              <a:buSzTx/>
              <a:buFontTx/>
              <a:buNone/>
              <a:tabLst/>
              <a:defRPr/>
            </a:pPr>
            <a:r>
              <a:rPr lang="en-US" sz="2400" b="1" dirty="0">
                <a:latin typeface="Metropolis" pitchFamily="2" charset="77"/>
              </a:rPr>
              <a:t>Talk Track:</a:t>
            </a:r>
            <a:endParaRPr lang="en-US" sz="4000" dirty="0">
              <a:solidFill>
                <a:schemeClr val="tx1"/>
              </a:solidFill>
            </a:endParaRPr>
          </a:p>
          <a:p>
            <a:pPr marL="0" marR="0" lvl="0" indent="0" algn="l" rtl="0">
              <a:lnSpc>
                <a:spcPct val="80000"/>
              </a:lnSpc>
              <a:spcBef>
                <a:spcPts val="0"/>
              </a:spcBef>
              <a:spcAft>
                <a:spcPts val="0"/>
              </a:spcAft>
              <a:buClr>
                <a:schemeClr val="dk1"/>
              </a:buClr>
              <a:buSzPts val="620"/>
              <a:buFont typeface="Arial"/>
              <a:buNone/>
            </a:pPr>
            <a:r>
              <a:rPr lang="en-US" sz="4000" b="0" u="none" dirty="0">
                <a:solidFill>
                  <a:schemeClr val="dk1"/>
                </a:solidFill>
              </a:rPr>
              <a:t>From VCF 9 private cloud operations and management is performed using the VCF Operations Console (formerly VMware Aria Operations).  </a:t>
            </a:r>
          </a:p>
          <a:p>
            <a:pPr marL="0" marR="0" lvl="0" indent="0" algn="l" rtl="0">
              <a:lnSpc>
                <a:spcPct val="80000"/>
              </a:lnSpc>
              <a:spcBef>
                <a:spcPts val="0"/>
              </a:spcBef>
              <a:spcAft>
                <a:spcPts val="0"/>
              </a:spcAft>
              <a:buClr>
                <a:schemeClr val="dk1"/>
              </a:buClr>
              <a:buSzPts val="620"/>
              <a:buFont typeface="Arial"/>
              <a:buNone/>
            </a:pPr>
            <a:endParaRPr lang="en-US" sz="4000" b="0" u="none" dirty="0">
              <a:solidFill>
                <a:schemeClr val="dk1"/>
              </a:solidFill>
            </a:endParaRPr>
          </a:p>
          <a:p>
            <a:pPr marL="0" marR="0" lvl="0" indent="0" algn="l" rtl="0">
              <a:lnSpc>
                <a:spcPct val="80000"/>
              </a:lnSpc>
              <a:spcBef>
                <a:spcPts val="0"/>
              </a:spcBef>
              <a:spcAft>
                <a:spcPts val="0"/>
              </a:spcAft>
              <a:buClr>
                <a:schemeClr val="dk1"/>
              </a:buClr>
              <a:buSzPts val="620"/>
              <a:buFont typeface="Arial"/>
              <a:buNone/>
            </a:pPr>
            <a:r>
              <a:rPr lang="en-US" sz="4000" b="0" u="none" dirty="0">
                <a:solidFill>
                  <a:schemeClr val="dk1"/>
                </a:solidFill>
              </a:rPr>
              <a:t>VCF Operations provides cloud administrators with a unified and feature rich operations experience which spans compute, storage, networking, fleet management and lifecycle management. </a:t>
            </a:r>
          </a:p>
          <a:p>
            <a:pPr marL="0" marR="0" lvl="0" indent="0" algn="l" rtl="0">
              <a:lnSpc>
                <a:spcPct val="80000"/>
              </a:lnSpc>
              <a:spcBef>
                <a:spcPts val="0"/>
              </a:spcBef>
              <a:spcAft>
                <a:spcPts val="0"/>
              </a:spcAft>
              <a:buClr>
                <a:schemeClr val="dk1"/>
              </a:buClr>
              <a:buSzPts val="620"/>
              <a:buFont typeface="Arial"/>
              <a:buNone/>
            </a:pPr>
            <a:endParaRPr lang="en-US" sz="4000" b="0" u="none" dirty="0">
              <a:solidFill>
                <a:schemeClr val="dk1"/>
              </a:solidFill>
            </a:endParaRPr>
          </a:p>
          <a:p>
            <a:pPr marL="0" marR="0" lvl="0" indent="0" algn="l" rtl="0">
              <a:lnSpc>
                <a:spcPct val="60000"/>
              </a:lnSpc>
              <a:spcBef>
                <a:spcPts val="0"/>
              </a:spcBef>
              <a:spcAft>
                <a:spcPts val="0"/>
              </a:spcAft>
              <a:buClr>
                <a:schemeClr val="dk1"/>
              </a:buClr>
              <a:buSzPts val="620"/>
              <a:buFont typeface="Arial"/>
              <a:buNone/>
            </a:pPr>
            <a:r>
              <a:rPr lang="en-US" sz="4000" b="1" u="none" dirty="0">
                <a:solidFill>
                  <a:schemeClr val="dk1"/>
                </a:solidFill>
              </a:rPr>
              <a:t>VCF Ops for VCF 9 also includes inbuilt workflows supporting an additional two VCF deployment pathways.</a:t>
            </a:r>
          </a:p>
          <a:p>
            <a:pPr marL="0" marR="0" lvl="0" indent="0" algn="l" rtl="0">
              <a:lnSpc>
                <a:spcPct val="60000"/>
              </a:lnSpc>
              <a:spcBef>
                <a:spcPts val="0"/>
              </a:spcBef>
              <a:spcAft>
                <a:spcPts val="0"/>
              </a:spcAft>
              <a:buClr>
                <a:schemeClr val="dk1"/>
              </a:buClr>
              <a:buSzPts val="620"/>
              <a:buFont typeface="Arial"/>
              <a:buNone/>
            </a:pPr>
            <a:endParaRPr lang="en-US" sz="4000" b="0" u="none" dirty="0">
              <a:solidFill>
                <a:schemeClr val="dk1"/>
              </a:solidFill>
            </a:endParaRPr>
          </a:p>
          <a:p>
            <a:pPr marL="0" marR="0" lvl="0" indent="0" algn="l" rtl="0">
              <a:lnSpc>
                <a:spcPct val="60000"/>
              </a:lnSpc>
              <a:spcBef>
                <a:spcPts val="0"/>
              </a:spcBef>
              <a:spcAft>
                <a:spcPts val="0"/>
              </a:spcAft>
              <a:buClr>
                <a:schemeClr val="dk1"/>
              </a:buClr>
              <a:buSzPts val="620"/>
              <a:buFont typeface="Arial"/>
              <a:buNone/>
            </a:pPr>
            <a:r>
              <a:rPr lang="en-US" sz="4000" b="0" u="none" dirty="0">
                <a:solidFill>
                  <a:schemeClr val="dk1"/>
                </a:solidFill>
              </a:rPr>
              <a:t>You can use VCF Operations to create a new workload domain or…</a:t>
            </a:r>
            <a:br>
              <a:rPr lang="en-US" sz="4000" b="0" u="none" dirty="0">
                <a:solidFill>
                  <a:schemeClr val="dk1"/>
                </a:solidFill>
              </a:rPr>
            </a:br>
            <a:endParaRPr lang="en-US" sz="4000" b="0" u="sng" dirty="0">
              <a:solidFill>
                <a:schemeClr val="dk1"/>
              </a:solidFill>
            </a:endParaRPr>
          </a:p>
          <a:p>
            <a:pPr marL="0" marR="0" lvl="0" indent="0" algn="l" defTabSz="914400" rtl="0" eaLnBrk="1" fontAlgn="auto" latinLnBrk="0" hangingPunct="1">
              <a:lnSpc>
                <a:spcPct val="80000"/>
              </a:lnSpc>
              <a:spcBef>
                <a:spcPts val="0"/>
              </a:spcBef>
              <a:spcAft>
                <a:spcPts val="0"/>
              </a:spcAft>
              <a:buClr>
                <a:schemeClr val="dk1"/>
              </a:buClr>
              <a:buSzPts val="620"/>
              <a:buFont typeface="Arial"/>
              <a:buNone/>
              <a:tabLst/>
              <a:defRPr/>
            </a:pPr>
            <a:r>
              <a:rPr lang="en-US" sz="800" dirty="0">
                <a:solidFill>
                  <a:schemeClr val="tx1"/>
                </a:solidFill>
              </a:rPr>
              <a:t>&lt;click 1&gt;</a:t>
            </a:r>
            <a:endParaRPr lang="en-US" sz="800" b="0" u="sng"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chemeClr val="tx1"/>
                </a:solidFill>
              </a:rPr>
              <a:t>VCF Operations can also be used to </a:t>
            </a:r>
            <a:r>
              <a:rPr lang="en-US" sz="4000" b="0" dirty="0">
                <a:solidFill>
                  <a:schemeClr val="tx1"/>
                </a:solidFill>
              </a:rPr>
              <a:t>import </a:t>
            </a:r>
            <a:r>
              <a:rPr lang="en-US" sz="4000" dirty="0">
                <a:solidFill>
                  <a:schemeClr val="tx1"/>
                </a:solidFill>
              </a:rPr>
              <a:t>additional (existing) vCenter deployments into an existing VMware Cloud Foundation instance for centralized management and operations.</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4000" dirty="0">
                <a:solidFill>
                  <a:schemeClr val="tx1"/>
                </a:solidFill>
              </a:rPr>
            </a:br>
            <a:r>
              <a:rPr lang="en-US" sz="4000" dirty="0">
                <a:solidFill>
                  <a:schemeClr val="tx1"/>
                </a:solidFill>
              </a:rPr>
              <a:t>&lt;click 2&gt;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chemeClr val="dk1"/>
                </a:solidFill>
              </a:rPr>
              <a:t>In this instance each vCenter deployment is imported into the VCF Inventory as a workload domain.</a:t>
            </a:r>
            <a:br>
              <a:rPr lang="en-US" sz="4000" dirty="0">
                <a:solidFill>
                  <a:schemeClr val="tx1"/>
                </a:solidFill>
              </a:rPr>
            </a:br>
            <a:endParaRPr lang="en-US" sz="4000" b="1" dirty="0">
              <a:solidFill>
                <a:schemeClr val="tx1"/>
              </a:solidFill>
              <a:latin typeface="Metropolis"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u="none" dirty="0">
                <a:solidFill>
                  <a:schemeClr val="dk1"/>
                </a:solidFill>
              </a:rPr>
              <a:t>VCF Operations will be discussed in more detail later in this presentation.</a:t>
            </a:r>
          </a:p>
          <a:p>
            <a:pPr marL="0" marR="0" lvl="0" indent="0" algn="l" defTabSz="914400" rtl="0" eaLnBrk="1" fontAlgn="auto" latinLnBrk="0" hangingPunct="1">
              <a:lnSpc>
                <a:spcPct val="80000"/>
              </a:lnSpc>
              <a:spcBef>
                <a:spcPts val="0"/>
              </a:spcBef>
              <a:spcAft>
                <a:spcPts val="0"/>
              </a:spcAft>
              <a:buClrTx/>
              <a:buSzTx/>
              <a:buFontTx/>
              <a:buNone/>
              <a:tabLst/>
              <a:defRPr/>
            </a:pPr>
            <a:endParaRPr lang="en-US" sz="2400" b="1" dirty="0">
              <a:latin typeface="Metropolis" pitchFamily="2" charset="77"/>
            </a:endParaRPr>
          </a:p>
          <a:p>
            <a:pPr marL="0" marR="0" lvl="0" indent="0" algn="l" defTabSz="914400" rtl="0" eaLnBrk="1" fontAlgn="auto" latinLnBrk="0" hangingPunct="1">
              <a:lnSpc>
                <a:spcPct val="80000"/>
              </a:lnSpc>
              <a:spcBef>
                <a:spcPts val="0"/>
              </a:spcBef>
              <a:spcAft>
                <a:spcPts val="0"/>
              </a:spcAft>
              <a:buClrTx/>
              <a:buSzTx/>
              <a:buFontTx/>
              <a:buNone/>
              <a:tabLst/>
              <a:defRPr/>
            </a:pPr>
            <a:r>
              <a:rPr lang="en-US" sz="2400" b="1" dirty="0">
                <a:latin typeface="Metropolis" pitchFamily="2" charset="77"/>
              </a:rPr>
              <a:t>Notes:</a:t>
            </a:r>
            <a:br>
              <a:rPr lang="en-US" sz="2400" b="0" dirty="0">
                <a:solidFill>
                  <a:schemeClr val="tx1"/>
                </a:solidFill>
                <a:latin typeface="Metropolis" pitchFamily="2" charset="77"/>
              </a:rPr>
            </a:br>
            <a:r>
              <a:rPr lang="en-US" sz="2400" b="0" u="sng" dirty="0">
                <a:solidFill>
                  <a:schemeClr val="tx1"/>
                </a:solidFill>
                <a:latin typeface="Metropolis" pitchFamily="2" charset="77"/>
              </a:rPr>
              <a:t>Importing additional vCenter deployments into VCF:</a:t>
            </a:r>
          </a:p>
          <a:p>
            <a:pPr marL="0" marR="0" lvl="0" indent="0" algn="l" defTabSz="914400" rtl="0" eaLnBrk="1" fontAlgn="auto" latinLnBrk="0" hangingPunct="1">
              <a:lnSpc>
                <a:spcPct val="80000"/>
              </a:lnSpc>
              <a:spcBef>
                <a:spcPts val="0"/>
              </a:spcBef>
              <a:spcAft>
                <a:spcPts val="0"/>
              </a:spcAft>
              <a:buClrTx/>
              <a:buSzTx/>
              <a:buFontTx/>
              <a:buNone/>
              <a:tabLst/>
              <a:defRPr/>
            </a:pPr>
            <a:r>
              <a:rPr lang="en-US" sz="800" b="0" dirty="0">
                <a:solidFill>
                  <a:schemeClr val="dk1"/>
                </a:solidFill>
                <a:latin typeface="Arial"/>
                <a:ea typeface="Arial"/>
                <a:cs typeface="Arial"/>
                <a:sym typeface="Arial"/>
              </a:rPr>
              <a:t>- When importing a vCenter deployment into a VCF instance all clusters within the vCenter server are imported and configured as part of a workload domain.</a:t>
            </a:r>
            <a:br>
              <a:rPr lang="en-US" sz="800" b="0" dirty="0">
                <a:solidFill>
                  <a:schemeClr val="dk1"/>
                </a:solidFill>
                <a:latin typeface="Arial"/>
                <a:ea typeface="Arial"/>
                <a:cs typeface="Arial"/>
                <a:sym typeface="Arial"/>
              </a:rPr>
            </a:br>
            <a:r>
              <a:rPr lang="en-US" sz="800" b="0" dirty="0">
                <a:solidFill>
                  <a:schemeClr val="dk1"/>
                </a:solidFill>
                <a:latin typeface="Arial"/>
                <a:ea typeface="Arial"/>
                <a:cs typeface="Arial"/>
                <a:sym typeface="Arial"/>
              </a:rPr>
              <a:t>- vSphere clusters configured with/without vSAN, vSphere clusters configured with/without NSX and any combination of the 3 software components can be used when importing a vSphere cluster to an existing VCF instance from VCF Operations. NSX is deployed as part of the process if it is not already present.</a:t>
            </a:r>
            <a:br>
              <a:rPr lang="en-US" sz="800" b="0" dirty="0">
                <a:solidFill>
                  <a:schemeClr val="dk1"/>
                </a:solidFill>
                <a:latin typeface="Arial"/>
                <a:ea typeface="Arial"/>
                <a:cs typeface="Arial"/>
                <a:sym typeface="Arial"/>
              </a:rPr>
            </a:br>
            <a:br>
              <a:rPr lang="en-US" sz="800" b="0" dirty="0">
                <a:solidFill>
                  <a:schemeClr val="dk1"/>
                </a:solidFill>
                <a:latin typeface="Arial"/>
                <a:ea typeface="Arial"/>
                <a:cs typeface="Arial"/>
                <a:sym typeface="Arial"/>
              </a:rPr>
            </a:br>
            <a:r>
              <a:rPr lang="en-US" sz="2400" dirty="0">
                <a:solidFill>
                  <a:schemeClr val="dk1"/>
                </a:solidFill>
              </a:rPr>
              <a:t>The SDDC Manager appliance is still present and can be used with VCF 9.  SDDC Manager will be deprecated in a future release.</a:t>
            </a:r>
            <a:br>
              <a:rPr lang="en-US" sz="2400" b="0" dirty="0">
                <a:solidFill>
                  <a:schemeClr val="tx1"/>
                </a:solidFill>
                <a:latin typeface="Metropolis" pitchFamily="2" charset="77"/>
              </a:rPr>
            </a:br>
            <a:br>
              <a:rPr lang="en-US" sz="2400" b="1" dirty="0">
                <a:latin typeface="Metropolis" pitchFamily="2" charset="77"/>
              </a:rPr>
            </a:br>
            <a:r>
              <a:rPr lang="en-US" sz="2400" b="1" dirty="0">
                <a:latin typeface="Metropolis" pitchFamily="2" charset="77"/>
              </a:rPr>
              <a:t>Resources:</a:t>
            </a:r>
          </a:p>
          <a:p>
            <a:pPr marL="0" marR="0" lvl="0" indent="0" algn="l" defTabSz="914400" rtl="0" eaLnBrk="1" fontAlgn="auto" latinLnBrk="0" hangingPunct="1">
              <a:lnSpc>
                <a:spcPct val="80000"/>
              </a:lnSpc>
              <a:spcBef>
                <a:spcPts val="0"/>
              </a:spcBef>
              <a:spcAft>
                <a:spcPts val="0"/>
              </a:spcAft>
              <a:buClrTx/>
              <a:buSzTx/>
              <a:buFontTx/>
              <a:buNone/>
              <a:tabLst/>
              <a:defRPr/>
            </a:pPr>
            <a:endParaRPr lang="en-US" sz="2400" b="1" dirty="0">
              <a:latin typeface="Metropolis" pitchFamily="2" charset="77"/>
            </a:endParaRPr>
          </a:p>
        </p:txBody>
      </p:sp>
      <p:sp>
        <p:nvSpPr>
          <p:cNvPr id="4" name="Slide Number Placeholder 3">
            <a:extLst>
              <a:ext uri="{FF2B5EF4-FFF2-40B4-BE49-F238E27FC236}">
                <a16:creationId xmlns:a16="http://schemas.microsoft.com/office/drawing/2014/main" id="{111AFF02-9BD9-73FA-9AAB-6DA8F180146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989903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lvl="0" indent="0" algn="l" rtl="0">
              <a:lnSpc>
                <a:spcPct val="60000"/>
              </a:lnSpc>
              <a:spcBef>
                <a:spcPts val="0"/>
              </a:spcBef>
              <a:spcAft>
                <a:spcPts val="0"/>
              </a:spcAft>
              <a:buClr>
                <a:schemeClr val="dk1"/>
              </a:buClr>
              <a:buSzPts val="1140"/>
              <a:buFont typeface="Arial"/>
              <a:buNone/>
            </a:pPr>
            <a:r>
              <a:rPr lang="en-US" sz="1200" b="1" strike="noStrike" dirty="0">
                <a:latin typeface="Arial"/>
                <a:ea typeface="Arial"/>
                <a:cs typeface="Arial"/>
                <a:sym typeface="Arial"/>
              </a:rPr>
              <a:t>Presenter Note:  This slide contains animation</a:t>
            </a:r>
            <a:endParaRPr lang="en-US" dirty="0"/>
          </a:p>
          <a:p>
            <a:pPr marL="0" lvl="0" indent="0" algn="l" rtl="0">
              <a:lnSpc>
                <a:spcPct val="60000"/>
              </a:lnSpc>
              <a:spcBef>
                <a:spcPts val="0"/>
              </a:spcBef>
              <a:spcAft>
                <a:spcPts val="0"/>
              </a:spcAft>
              <a:buClr>
                <a:schemeClr val="dk1"/>
              </a:buClr>
              <a:buSzPts val="1140"/>
              <a:buFont typeface="Arial"/>
              <a:buNone/>
            </a:pPr>
            <a:endParaRPr lang="en-US" sz="1200" b="1" u="none" strike="noStrike" dirty="0">
              <a:solidFill>
                <a:schemeClr val="dk1"/>
              </a:solidFill>
              <a:latin typeface="Arial"/>
              <a:ea typeface="Arial"/>
              <a:cs typeface="Arial"/>
              <a:sym typeface="Arial"/>
            </a:endParaRPr>
          </a:p>
          <a:p>
            <a:pPr marL="0" lvl="0" indent="0" algn="l" rtl="0">
              <a:lnSpc>
                <a:spcPct val="60000"/>
              </a:lnSpc>
              <a:spcBef>
                <a:spcPts val="0"/>
              </a:spcBef>
              <a:spcAft>
                <a:spcPts val="0"/>
              </a:spcAft>
              <a:buClr>
                <a:schemeClr val="dk1"/>
              </a:buClr>
              <a:buSzPts val="1140"/>
              <a:buFont typeface="Arial"/>
              <a:buNone/>
            </a:pPr>
            <a:r>
              <a:rPr lang="en-US" sz="1200" b="1" u="none" strike="noStrike" dirty="0">
                <a:solidFill>
                  <a:schemeClr val="dk1"/>
                </a:solidFill>
                <a:latin typeface="Arial"/>
                <a:ea typeface="Arial"/>
                <a:cs typeface="Arial"/>
                <a:sym typeface="Arial"/>
              </a:rPr>
              <a:t>Key Message:</a:t>
            </a:r>
            <a:endParaRPr lang="en-US" sz="700" b="1" dirty="0">
              <a:latin typeface="Arial"/>
              <a:ea typeface="Arial"/>
              <a:cs typeface="Arial"/>
              <a:sym typeface="Arial"/>
            </a:endParaRPr>
          </a:p>
          <a:p>
            <a:pPr marL="0" lvl="0" indent="0" algn="l" rtl="0">
              <a:lnSpc>
                <a:spcPct val="60000"/>
              </a:lnSpc>
              <a:spcBef>
                <a:spcPts val="0"/>
              </a:spcBef>
              <a:spcAft>
                <a:spcPts val="0"/>
              </a:spcAft>
              <a:buClr>
                <a:schemeClr val="dk1"/>
              </a:buClr>
              <a:buSzPts val="1140"/>
              <a:buFont typeface="Arial"/>
              <a:buNone/>
            </a:pPr>
            <a:r>
              <a:rPr lang="en-US" sz="1200" dirty="0">
                <a:latin typeface="Arial"/>
                <a:ea typeface="Arial"/>
                <a:cs typeface="Arial"/>
                <a:sym typeface="Arial"/>
              </a:rPr>
              <a:t>VCF 9 makes it easy to import existing infrastructure directly into Cloud Foundation. </a:t>
            </a:r>
            <a:endParaRPr lang="en-US" dirty="0"/>
          </a:p>
          <a:p>
            <a:pPr marL="0" lvl="0" indent="0" algn="l" rtl="0">
              <a:lnSpc>
                <a:spcPct val="60000"/>
              </a:lnSpc>
              <a:spcBef>
                <a:spcPts val="0"/>
              </a:spcBef>
              <a:spcAft>
                <a:spcPts val="0"/>
              </a:spcAft>
              <a:buClr>
                <a:schemeClr val="dk1"/>
              </a:buClr>
              <a:buSzPts val="1140"/>
              <a:buFont typeface="Arial"/>
              <a:buNone/>
            </a:pPr>
            <a:endParaRPr lang="en-US" sz="1200" dirty="0">
              <a:latin typeface="Arial"/>
              <a:ea typeface="Arial"/>
              <a:cs typeface="Arial"/>
              <a:sym typeface="Arial"/>
            </a:endParaRPr>
          </a:p>
          <a:p>
            <a:pPr marL="0" lvl="0" indent="0" algn="l" rtl="0">
              <a:lnSpc>
                <a:spcPct val="60000"/>
              </a:lnSpc>
              <a:spcBef>
                <a:spcPts val="0"/>
              </a:spcBef>
              <a:spcAft>
                <a:spcPts val="0"/>
              </a:spcAft>
              <a:buClr>
                <a:schemeClr val="dk1"/>
              </a:buClr>
              <a:buSzPts val="1140"/>
              <a:buFont typeface="Arial"/>
              <a:buNone/>
            </a:pPr>
            <a:r>
              <a:rPr lang="en-US" sz="1200" b="1" u="none" strike="noStrike" dirty="0">
                <a:solidFill>
                  <a:schemeClr val="dk1"/>
                </a:solidFill>
                <a:latin typeface="Arial"/>
                <a:ea typeface="Arial"/>
                <a:cs typeface="Arial"/>
                <a:sym typeface="Arial"/>
              </a:rPr>
              <a:t>Talk Track:</a:t>
            </a:r>
            <a:endParaRPr lang="en-US" dirty="0"/>
          </a:p>
          <a:p>
            <a:pPr marL="0" lvl="0" indent="0" algn="l" rtl="0">
              <a:lnSpc>
                <a:spcPct val="60000"/>
              </a:lnSpc>
              <a:spcBef>
                <a:spcPts val="0"/>
              </a:spcBef>
              <a:spcAft>
                <a:spcPts val="0"/>
              </a:spcAft>
              <a:buClr>
                <a:schemeClr val="dk1"/>
              </a:buClr>
              <a:buSzPts val="1140"/>
              <a:buFont typeface="Arial"/>
              <a:buNone/>
            </a:pPr>
            <a:r>
              <a:rPr lang="en-US" sz="1200" b="0" u="none" strike="noStrike" dirty="0">
                <a:solidFill>
                  <a:schemeClr val="dk1"/>
                </a:solidFill>
                <a:latin typeface="Arial"/>
                <a:ea typeface="Arial"/>
                <a:cs typeface="Arial"/>
                <a:sym typeface="Arial"/>
              </a:rPr>
              <a:t>Let’s take a closer look at the options available within VCF Operations to centralize management of external vCenter deployments.</a:t>
            </a:r>
          </a:p>
          <a:p>
            <a:pPr marL="0" lvl="0" indent="0" algn="l" rtl="0">
              <a:lnSpc>
                <a:spcPct val="60000"/>
              </a:lnSpc>
              <a:spcBef>
                <a:spcPts val="0"/>
              </a:spcBef>
              <a:spcAft>
                <a:spcPts val="0"/>
              </a:spcAft>
              <a:buClr>
                <a:schemeClr val="dk1"/>
              </a:buClr>
              <a:buSzPts val="1140"/>
              <a:buFont typeface="Arial"/>
              <a:buNone/>
            </a:pPr>
            <a:endParaRPr lang="en-US" dirty="0"/>
          </a:p>
          <a:p>
            <a:pPr marL="0" lvl="0" indent="0" algn="l" rtl="0">
              <a:lnSpc>
                <a:spcPct val="60000"/>
              </a:lnSpc>
              <a:spcBef>
                <a:spcPts val="0"/>
              </a:spcBef>
              <a:spcAft>
                <a:spcPts val="0"/>
              </a:spcAft>
              <a:buClr>
                <a:schemeClr val="dk1"/>
              </a:buClr>
              <a:buSzPts val="1140"/>
              <a:buFont typeface="Arial"/>
              <a:buNone/>
            </a:pPr>
            <a:r>
              <a:rPr lang="en-US" sz="1200" b="0" u="none" strike="noStrike" dirty="0">
                <a:solidFill>
                  <a:schemeClr val="dk1"/>
                </a:solidFill>
                <a:latin typeface="Arial"/>
                <a:ea typeface="Arial"/>
                <a:cs typeface="Arial"/>
                <a:sym typeface="Arial"/>
              </a:rPr>
              <a:t>VCF Operations makes it easy to add existing vSphere, vSAN and NSX infrastructure into an existing VCF instance.  VCF Operations provides guided workflows for importing pre-existing vSphere infrastructure into a VCF instance as workload domains. </a:t>
            </a:r>
            <a:endParaRPr lang="en-US" dirty="0"/>
          </a:p>
          <a:p>
            <a:pPr marL="0" lvl="0" indent="0" algn="l" rtl="0">
              <a:lnSpc>
                <a:spcPct val="60000"/>
              </a:lnSpc>
              <a:spcBef>
                <a:spcPts val="0"/>
              </a:spcBef>
              <a:spcAft>
                <a:spcPts val="0"/>
              </a:spcAft>
              <a:buClr>
                <a:schemeClr val="dk1"/>
              </a:buClr>
              <a:buSzPts val="285"/>
              <a:buFont typeface="Arial"/>
              <a:buNone/>
            </a:pPr>
            <a:endParaRPr lang="en-US" sz="400" b="0" u="none" strike="noStrike" dirty="0">
              <a:solidFill>
                <a:schemeClr val="dk1"/>
              </a:solidFill>
              <a:latin typeface="Arial"/>
              <a:ea typeface="Arial"/>
              <a:cs typeface="Arial"/>
              <a:sym typeface="Arial"/>
            </a:endParaRPr>
          </a:p>
          <a:p>
            <a:pPr marL="0" lvl="0" indent="0" algn="l" rtl="0">
              <a:lnSpc>
                <a:spcPct val="60000"/>
              </a:lnSpc>
              <a:spcBef>
                <a:spcPts val="0"/>
              </a:spcBef>
              <a:spcAft>
                <a:spcPts val="0"/>
              </a:spcAft>
              <a:buClr>
                <a:schemeClr val="dk1"/>
              </a:buClr>
              <a:buSzPts val="285"/>
              <a:buFont typeface="Arial"/>
              <a:buNone/>
            </a:pPr>
            <a:r>
              <a:rPr lang="en-US" sz="400" b="0" u="none" strike="noStrike" dirty="0">
                <a:solidFill>
                  <a:schemeClr val="dk1"/>
                </a:solidFill>
                <a:latin typeface="Arial"/>
                <a:ea typeface="Arial"/>
                <a:cs typeface="Arial"/>
                <a:sym typeface="Arial"/>
              </a:rPr>
              <a:t>The ability to import pre-existing infrastructure into VCF expedites the path to VCF by allowing customers to leverage existing investments while simultaneously reducing costs.  In addition, with this capability customers no longer need to be concerned with having to migrate existing workloads from existing infrastructure to VCF.</a:t>
            </a:r>
          </a:p>
          <a:p>
            <a:pPr marL="0" lvl="0" indent="0" algn="l" rtl="0">
              <a:lnSpc>
                <a:spcPct val="60000"/>
              </a:lnSpc>
              <a:spcBef>
                <a:spcPts val="0"/>
              </a:spcBef>
              <a:spcAft>
                <a:spcPts val="0"/>
              </a:spcAft>
              <a:buClr>
                <a:schemeClr val="dk1"/>
              </a:buClr>
              <a:buSzPts val="285"/>
              <a:buFont typeface="Arial"/>
              <a:buNone/>
            </a:pPr>
            <a:endParaRPr lang="en-US" sz="400" b="0" u="none" strike="noStrike" dirty="0">
              <a:solidFill>
                <a:schemeClr val="dk1"/>
              </a:solidFill>
              <a:latin typeface="Arial"/>
              <a:cs typeface="Arial"/>
              <a:sym typeface="Arial"/>
            </a:endParaRPr>
          </a:p>
          <a:p>
            <a:pPr marL="0" lvl="0" indent="0" algn="l" rtl="0">
              <a:lnSpc>
                <a:spcPct val="60000"/>
              </a:lnSpc>
              <a:spcBef>
                <a:spcPts val="0"/>
              </a:spcBef>
              <a:spcAft>
                <a:spcPts val="0"/>
              </a:spcAft>
              <a:buClr>
                <a:schemeClr val="dk1"/>
              </a:buClr>
              <a:buSzPts val="285"/>
              <a:buFont typeface="Arial"/>
              <a:buNone/>
            </a:pPr>
            <a:r>
              <a:rPr lang="en-US" sz="700" b="0" dirty="0">
                <a:solidFill>
                  <a:schemeClr val="dk1"/>
                </a:solidFill>
                <a:latin typeface="Arial"/>
                <a:ea typeface="Arial"/>
                <a:cs typeface="Arial"/>
                <a:sym typeface="Arial"/>
              </a:rPr>
              <a:t>When importing a vCenter deployment into a VCF instance all clusters within the vCenter server are imported and configured as part of a workload domain.</a:t>
            </a:r>
            <a:br>
              <a:rPr lang="en-US" sz="700" b="0" dirty="0">
                <a:solidFill>
                  <a:schemeClr val="dk1"/>
                </a:solidFill>
                <a:latin typeface="Arial"/>
                <a:ea typeface="Arial"/>
                <a:cs typeface="Arial"/>
                <a:sym typeface="Arial"/>
              </a:rPr>
            </a:br>
            <a:r>
              <a:rPr lang="en-US" sz="700" b="0" u="sng" dirty="0">
                <a:solidFill>
                  <a:schemeClr val="dk1"/>
                </a:solidFill>
                <a:latin typeface="Arial"/>
                <a:ea typeface="Arial"/>
                <a:cs typeface="Arial"/>
                <a:sym typeface="Arial"/>
              </a:rPr>
              <a:t>vSphere clusters configured with/without vSAN, vSphere clusters configured with/without NSX and any combination of the 3 software components can be used</a:t>
            </a:r>
            <a:r>
              <a:rPr lang="en-US" sz="700" b="0" dirty="0">
                <a:solidFill>
                  <a:schemeClr val="dk1"/>
                </a:solidFill>
                <a:latin typeface="Arial"/>
                <a:ea typeface="Arial"/>
                <a:cs typeface="Arial"/>
                <a:sym typeface="Arial"/>
              </a:rPr>
              <a:t> when importing a vSphere cluster to an existing VCF instance from VCF Operations. </a:t>
            </a:r>
          </a:p>
          <a:p>
            <a:pPr marL="0" lvl="0" indent="0" algn="l" rtl="0">
              <a:lnSpc>
                <a:spcPct val="60000"/>
              </a:lnSpc>
              <a:spcBef>
                <a:spcPts val="0"/>
              </a:spcBef>
              <a:spcAft>
                <a:spcPts val="0"/>
              </a:spcAft>
              <a:buClr>
                <a:schemeClr val="dk1"/>
              </a:buClr>
              <a:buSzPts val="285"/>
              <a:buFont typeface="Arial"/>
              <a:buNone/>
            </a:pPr>
            <a:r>
              <a:rPr lang="en-US" sz="700" b="0" dirty="0">
                <a:solidFill>
                  <a:schemeClr val="dk1"/>
                </a:solidFill>
                <a:latin typeface="Arial"/>
                <a:ea typeface="Arial"/>
                <a:cs typeface="Arial"/>
                <a:sym typeface="Arial"/>
              </a:rPr>
              <a:t>NSX is deployed as part of the conversion process if it is not already present.</a:t>
            </a:r>
          </a:p>
          <a:p>
            <a:pPr marL="0" lvl="0" indent="0" algn="l" rtl="0">
              <a:lnSpc>
                <a:spcPct val="60000"/>
              </a:lnSpc>
              <a:spcBef>
                <a:spcPts val="0"/>
              </a:spcBef>
              <a:spcAft>
                <a:spcPts val="0"/>
              </a:spcAft>
              <a:buClr>
                <a:schemeClr val="dk1"/>
              </a:buClr>
              <a:buSzPts val="285"/>
              <a:buFont typeface="Arial"/>
              <a:buNone/>
            </a:pPr>
            <a:endParaRPr lang="en-US" sz="400" b="1"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r>
              <a:rPr lang="en-US" sz="1200" b="1" u="none" strike="noStrike" dirty="0">
                <a:solidFill>
                  <a:schemeClr val="dk1"/>
                </a:solidFill>
                <a:latin typeface="Arial"/>
                <a:ea typeface="Arial"/>
                <a:cs typeface="Arial"/>
                <a:sym typeface="Arial"/>
              </a:rPr>
              <a:t>Notes:</a:t>
            </a:r>
            <a:endParaRPr lang="en-US" dirty="0"/>
          </a:p>
          <a:p>
            <a:pPr marL="0" lvl="0" indent="0" algn="l" rtl="0">
              <a:lnSpc>
                <a:spcPct val="80000"/>
              </a:lnSpc>
              <a:spcBef>
                <a:spcPts val="0"/>
              </a:spcBef>
              <a:spcAft>
                <a:spcPts val="0"/>
              </a:spcAft>
              <a:buNone/>
            </a:pPr>
            <a:r>
              <a:rPr lang="en-US" sz="1200" b="0" i="0" u="none" strike="noStrike" dirty="0">
                <a:solidFill>
                  <a:srgbClr val="000000"/>
                </a:solidFill>
                <a:latin typeface="Calibri"/>
                <a:ea typeface="Calibri"/>
                <a:cs typeface="Calibri"/>
                <a:sym typeface="Calibri"/>
              </a:rPr>
              <a:t>The VCF Import Tool was used in VCF 5.2.x to converge an existing vSphere cluster to a VCF management domain.  It was also used to import a vSphere cluster into an existing VCF instance.</a:t>
            </a:r>
            <a:endParaRPr lang="en-US" dirty="0"/>
          </a:p>
          <a:p>
            <a:pPr marL="0" lvl="0" indent="0" algn="l" rtl="0">
              <a:lnSpc>
                <a:spcPct val="80000"/>
              </a:lnSpc>
              <a:spcBef>
                <a:spcPts val="0"/>
              </a:spcBef>
              <a:spcAft>
                <a:spcPts val="0"/>
              </a:spcAft>
              <a:buNone/>
            </a:pPr>
            <a:endParaRPr lang="en-US" sz="1200" b="0" i="0" u="none" strike="noStrike" dirty="0">
              <a:solidFill>
                <a:srgbClr val="000000"/>
              </a:solidFill>
              <a:latin typeface="Calibri"/>
              <a:ea typeface="Calibri"/>
              <a:cs typeface="Calibri"/>
              <a:sym typeface="Calibri"/>
            </a:endParaRPr>
          </a:p>
          <a:p>
            <a:pPr marL="0" lvl="0" indent="0" algn="l" rtl="0">
              <a:lnSpc>
                <a:spcPct val="80000"/>
              </a:lnSpc>
              <a:spcBef>
                <a:spcPts val="0"/>
              </a:spcBef>
              <a:spcAft>
                <a:spcPts val="0"/>
              </a:spcAft>
              <a:buNone/>
            </a:pPr>
            <a:r>
              <a:rPr lang="en-US" sz="1200" b="0" i="0" u="none" strike="noStrike" dirty="0">
                <a:solidFill>
                  <a:srgbClr val="000000"/>
                </a:solidFill>
                <a:latin typeface="Calibri"/>
                <a:ea typeface="Calibri"/>
                <a:cs typeface="Calibri"/>
                <a:sym typeface="Calibri"/>
              </a:rPr>
              <a:t>VCF Operations is used to import an existing vSphere cluster into an existing VCF 9.0 instance</a:t>
            </a:r>
            <a:br>
              <a:rPr lang="en-US" sz="1200" b="0" i="0" u="none" strike="noStrike" dirty="0">
                <a:solidFill>
                  <a:srgbClr val="000000"/>
                </a:solidFill>
                <a:latin typeface="Calibri"/>
                <a:ea typeface="Calibri"/>
                <a:cs typeface="Calibri"/>
                <a:sym typeface="Calibri"/>
              </a:rPr>
            </a:br>
            <a:r>
              <a:rPr lang="en-US" sz="1200" b="0" i="0" u="none" strike="noStrike" dirty="0">
                <a:solidFill>
                  <a:srgbClr val="000000"/>
                </a:solidFill>
                <a:latin typeface="Calibri"/>
                <a:ea typeface="Calibri"/>
                <a:cs typeface="Calibri"/>
                <a:sym typeface="Calibri"/>
              </a:rPr>
              <a:t>From the Inventory Menu &gt; select your VCF instance &gt; Add Workload Domain &gt; Import a vCenter</a:t>
            </a:r>
            <a:endParaRPr lang="en-US" dirty="0"/>
          </a:p>
          <a:p>
            <a:pPr marL="0" lvl="0" indent="0" algn="l" rtl="0">
              <a:lnSpc>
                <a:spcPct val="80000"/>
              </a:lnSpc>
              <a:spcBef>
                <a:spcPts val="0"/>
              </a:spcBef>
              <a:spcAft>
                <a:spcPts val="0"/>
              </a:spcAft>
              <a:buNone/>
            </a:pPr>
            <a:endParaRPr lang="en-US" sz="1200" b="0" i="0" u="none" strike="noStrike" dirty="0">
              <a:solidFill>
                <a:srgbClr val="000000"/>
              </a:solidFill>
              <a:latin typeface="Calibri"/>
              <a:ea typeface="Calibri"/>
              <a:cs typeface="Calibri"/>
              <a:sym typeface="Calibri"/>
            </a:endParaRPr>
          </a:p>
          <a:p>
            <a:pPr marL="0" lvl="0" indent="0" algn="l" rtl="0">
              <a:lnSpc>
                <a:spcPct val="80000"/>
              </a:lnSpc>
              <a:spcBef>
                <a:spcPts val="0"/>
              </a:spcBef>
              <a:spcAft>
                <a:spcPts val="0"/>
              </a:spcAft>
              <a:buNone/>
            </a:pPr>
            <a:r>
              <a:rPr lang="en-US" sz="1200" b="0" i="0" u="none" strike="noStrike" dirty="0">
                <a:solidFill>
                  <a:srgbClr val="000000"/>
                </a:solidFill>
                <a:latin typeface="Calibri"/>
                <a:ea typeface="Calibri"/>
                <a:cs typeface="Calibri"/>
                <a:sym typeface="Calibri"/>
              </a:rPr>
              <a:t>Once complete the admin can then go in to enable VCF Ops Data Collection for the domain.</a:t>
            </a:r>
          </a:p>
          <a:p>
            <a:pPr marL="0" lvl="0" indent="0" algn="l" rtl="0">
              <a:lnSpc>
                <a:spcPct val="80000"/>
              </a:lnSpc>
              <a:spcBef>
                <a:spcPts val="0"/>
              </a:spcBef>
              <a:spcAft>
                <a:spcPts val="0"/>
              </a:spcAft>
              <a:buNone/>
            </a:pPr>
            <a:endParaRPr lang="en-US" sz="1200" b="0" i="0" u="none" strike="noStrike" dirty="0">
              <a:solidFill>
                <a:srgbClr val="000000"/>
              </a:solidFill>
              <a:latin typeface="Calibri"/>
              <a:ea typeface="Arial"/>
              <a:cs typeface="Calibri"/>
              <a:sym typeface="Calibri"/>
            </a:endParaRPr>
          </a:p>
          <a:p>
            <a:r>
              <a:rPr lang="en-US" sz="1200" b="0" i="0" u="sng" strike="noStrike" dirty="0">
                <a:solidFill>
                  <a:srgbClr val="000000"/>
                </a:solidFill>
                <a:latin typeface="Calibri"/>
                <a:ea typeface="Arial"/>
                <a:cs typeface="Calibri"/>
                <a:sym typeface="Calibri"/>
              </a:rPr>
              <a:t>vSAN:</a:t>
            </a:r>
            <a:br>
              <a:rPr lang="en-US" sz="1200" b="0" i="0" u="none" strike="noStrike" dirty="0">
                <a:solidFill>
                  <a:srgbClr val="000000"/>
                </a:solidFill>
                <a:latin typeface="Calibri"/>
                <a:ea typeface="Arial"/>
                <a:cs typeface="Calibri"/>
                <a:sym typeface="Calibri"/>
              </a:rPr>
            </a:br>
            <a:r>
              <a:rPr lang="en-US" b="0" dirty="0"/>
              <a:t>The VCF Operations workflow to “Import a vCenter” in VCF 9 supports multiple vSAN deployment types</a:t>
            </a:r>
          </a:p>
          <a:p>
            <a:pPr lvl="1"/>
            <a:r>
              <a:rPr lang="en-US" dirty="0"/>
              <a:t>Single site cluster</a:t>
            </a:r>
          </a:p>
          <a:p>
            <a:pPr lvl="1"/>
            <a:r>
              <a:rPr lang="en-US" dirty="0"/>
              <a:t>Disaggregated storage clusters</a:t>
            </a:r>
          </a:p>
          <a:p>
            <a:pPr lvl="1"/>
            <a:r>
              <a:rPr lang="en-US" dirty="0"/>
              <a:t>Stretched clusters</a:t>
            </a:r>
          </a:p>
          <a:p>
            <a:pPr lvl="1"/>
            <a:r>
              <a:rPr lang="en-US" dirty="0"/>
              <a:t>2-Node clusters</a:t>
            </a:r>
          </a:p>
          <a:p>
            <a:pPr marL="0" lvl="0" indent="0" algn="l" rtl="0">
              <a:lnSpc>
                <a:spcPct val="80000"/>
              </a:lnSpc>
              <a:spcBef>
                <a:spcPts val="0"/>
              </a:spcBef>
              <a:spcAft>
                <a:spcPts val="0"/>
              </a:spcAft>
              <a:buNone/>
            </a:pPr>
            <a:endParaRPr lang="en-US" sz="1200" b="1" u="none" strike="noStrike" dirty="0">
              <a:solidFill>
                <a:schemeClr val="dk1"/>
              </a:solidFill>
              <a:latin typeface="Arial"/>
              <a:ea typeface="Arial"/>
              <a:cs typeface="Arial"/>
              <a:sym typeface="Arial"/>
            </a:endParaRPr>
          </a:p>
          <a:p>
            <a:pPr marL="0" lvl="0" indent="0" algn="l" rtl="0">
              <a:lnSpc>
                <a:spcPct val="60000"/>
              </a:lnSpc>
              <a:spcBef>
                <a:spcPts val="0"/>
              </a:spcBef>
              <a:spcAft>
                <a:spcPts val="0"/>
              </a:spcAft>
              <a:buClr>
                <a:schemeClr val="dk1"/>
              </a:buClr>
              <a:buSzPts val="1140"/>
              <a:buFont typeface="Arial"/>
              <a:buNone/>
            </a:pPr>
            <a:r>
              <a:rPr lang="en-US" sz="1200" b="1" u="none" strike="noStrike" dirty="0">
                <a:solidFill>
                  <a:schemeClr val="dk1"/>
                </a:solidFill>
                <a:latin typeface="Arial"/>
                <a:ea typeface="Arial"/>
                <a:cs typeface="Arial"/>
                <a:sym typeface="Arial"/>
              </a:rPr>
              <a:t>Resources:</a:t>
            </a:r>
            <a:endParaRPr lang="en-US" dirty="0"/>
          </a:p>
          <a:p>
            <a:pPr marL="0" lvl="0" indent="0" algn="l" rtl="0">
              <a:lnSpc>
                <a:spcPct val="80000"/>
              </a:lnSpc>
              <a:spcBef>
                <a:spcPts val="0"/>
              </a:spcBef>
              <a:spcAft>
                <a:spcPts val="0"/>
              </a:spcAft>
              <a:buNone/>
            </a:pPr>
            <a:endParaRPr lang="en-US" sz="700"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27455739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FB9AC-BF87-2777-6014-4942079D0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8C0B05-E845-7728-0C22-9218F13435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2CCB1C-D23D-48E5-75FE-D8780161D763}"/>
              </a:ext>
            </a:extLst>
          </p:cNvPr>
          <p:cNvSpPr>
            <a:spLocks noGrp="1"/>
          </p:cNvSpPr>
          <p:nvPr>
            <p:ph type="body" idx="1"/>
          </p:nvPr>
        </p:nvSpPr>
        <p:spPr/>
        <p:txBody>
          <a:bodyPr>
            <a:normAutofit/>
          </a:bodyPr>
          <a:lstStyle/>
          <a:p>
            <a:pPr marL="0" lvl="0" indent="0" algn="l" rtl="0">
              <a:lnSpc>
                <a:spcPct val="60000"/>
              </a:lnSpc>
              <a:spcBef>
                <a:spcPts val="0"/>
              </a:spcBef>
              <a:spcAft>
                <a:spcPts val="0"/>
              </a:spcAft>
              <a:buClr>
                <a:schemeClr val="dk1"/>
              </a:buClr>
              <a:buSzPts val="1140"/>
              <a:buFont typeface="Arial"/>
              <a:buNone/>
            </a:pPr>
            <a:r>
              <a:rPr lang="en-US" sz="1200" b="1" u="none" strike="noStrike" dirty="0">
                <a:solidFill>
                  <a:schemeClr val="dk1"/>
                </a:solidFill>
                <a:latin typeface="Arial"/>
                <a:ea typeface="Arial"/>
                <a:cs typeface="Arial"/>
                <a:sym typeface="Arial"/>
              </a:rPr>
              <a:t>Key Message:</a:t>
            </a:r>
            <a:endParaRPr lang="en-US" sz="700" b="1" dirty="0">
              <a:latin typeface="Arial"/>
              <a:ea typeface="Arial"/>
              <a:cs typeface="Arial"/>
              <a:sym typeface="Arial"/>
            </a:endParaRPr>
          </a:p>
          <a:p>
            <a:pPr marL="0" lvl="0" indent="0" algn="l" rtl="0">
              <a:lnSpc>
                <a:spcPct val="60000"/>
              </a:lnSpc>
              <a:spcBef>
                <a:spcPts val="0"/>
              </a:spcBef>
              <a:spcAft>
                <a:spcPts val="0"/>
              </a:spcAft>
              <a:buClr>
                <a:schemeClr val="dk1"/>
              </a:buClr>
              <a:buSzPts val="1140"/>
              <a:buFont typeface="Arial"/>
              <a:buNone/>
            </a:pPr>
            <a:r>
              <a:rPr lang="en-US" sz="1200" dirty="0">
                <a:latin typeface="Arial"/>
                <a:ea typeface="Arial"/>
                <a:cs typeface="Arial"/>
                <a:sym typeface="Arial"/>
              </a:rPr>
              <a:t>VCF 9 supports the import of existing infrastructure into VCF.  </a:t>
            </a:r>
            <a:endParaRPr lang="en-US" dirty="0"/>
          </a:p>
          <a:p>
            <a:pPr marL="0" lvl="0" indent="0" algn="l" rtl="0">
              <a:lnSpc>
                <a:spcPct val="60000"/>
              </a:lnSpc>
              <a:spcBef>
                <a:spcPts val="0"/>
              </a:spcBef>
              <a:spcAft>
                <a:spcPts val="0"/>
              </a:spcAft>
              <a:buClr>
                <a:schemeClr val="dk1"/>
              </a:buClr>
              <a:buSzPts val="1140"/>
              <a:buFont typeface="Arial"/>
              <a:buNone/>
            </a:pPr>
            <a:endParaRPr lang="en-US" sz="1200" dirty="0">
              <a:latin typeface="Arial"/>
              <a:ea typeface="Arial"/>
              <a:cs typeface="Arial"/>
              <a:sym typeface="Arial"/>
            </a:endParaRPr>
          </a:p>
          <a:p>
            <a:pPr marL="0" lvl="0" indent="0" algn="l" rtl="0">
              <a:lnSpc>
                <a:spcPct val="60000"/>
              </a:lnSpc>
              <a:spcBef>
                <a:spcPts val="0"/>
              </a:spcBef>
              <a:spcAft>
                <a:spcPts val="0"/>
              </a:spcAft>
              <a:buClr>
                <a:schemeClr val="dk1"/>
              </a:buClr>
              <a:buSzPts val="1140"/>
              <a:buFont typeface="Arial"/>
              <a:buNone/>
            </a:pPr>
            <a:r>
              <a:rPr lang="en-US" sz="1200" b="1" u="none" strike="noStrike" dirty="0">
                <a:solidFill>
                  <a:schemeClr val="dk1"/>
                </a:solidFill>
                <a:latin typeface="Arial"/>
                <a:ea typeface="Arial"/>
                <a:cs typeface="Arial"/>
                <a:sym typeface="Arial"/>
              </a:rPr>
              <a:t>Talk Track:</a:t>
            </a:r>
            <a:endParaRPr lang="en-US" dirty="0"/>
          </a:p>
          <a:p>
            <a:r>
              <a:rPr lang="en-US" sz="700" b="0" dirty="0">
                <a:solidFill>
                  <a:schemeClr val="dk1"/>
                </a:solidFill>
                <a:latin typeface="Arial"/>
                <a:ea typeface="Arial"/>
                <a:cs typeface="Arial"/>
                <a:sym typeface="Arial"/>
              </a:rPr>
              <a:t>When importing a vCenter deployment into a VCF instance, all clusters within the vCenter server are imported and configured as part of a workload domain.</a:t>
            </a:r>
          </a:p>
          <a:p>
            <a:r>
              <a:rPr lang="en-US" sz="700" b="0" dirty="0">
                <a:solidFill>
                  <a:schemeClr val="dk1"/>
                </a:solidFill>
                <a:latin typeface="Arial"/>
                <a:ea typeface="Arial"/>
                <a:cs typeface="Arial"/>
                <a:sym typeface="Arial"/>
              </a:rPr>
              <a:t>The VCF Operations workflow caters to a broad variety of cluster configurations which typically exist in existing vSphere environments.</a:t>
            </a:r>
            <a:br>
              <a:rPr lang="en-US" sz="700" b="0" dirty="0">
                <a:solidFill>
                  <a:schemeClr val="dk1"/>
                </a:solidFill>
                <a:latin typeface="Arial"/>
                <a:ea typeface="Arial"/>
                <a:cs typeface="Arial"/>
                <a:sym typeface="Arial"/>
              </a:rPr>
            </a:br>
            <a:br>
              <a:rPr lang="en-US" sz="700" b="0" dirty="0">
                <a:solidFill>
                  <a:schemeClr val="dk1"/>
                </a:solidFill>
                <a:latin typeface="Arial"/>
                <a:ea typeface="Arial"/>
                <a:cs typeface="Arial"/>
                <a:sym typeface="Arial"/>
              </a:rPr>
            </a:br>
            <a:r>
              <a:rPr lang="en-US" sz="1600" dirty="0"/>
              <a:t>Host Interoperability </a:t>
            </a:r>
            <a:endParaRPr lang="en-US" sz="800" dirty="0"/>
          </a:p>
          <a:p>
            <a:pPr marL="742950" lvl="1" indent="-285750">
              <a:buFont typeface="Arial" panose="020B0604020202020204" pitchFamily="34" charset="0"/>
              <a:buChar char="•"/>
            </a:pPr>
            <a:r>
              <a:rPr lang="en-US" sz="1400" dirty="0">
                <a:solidFill>
                  <a:schemeClr val="accent2"/>
                </a:solidFill>
              </a:rPr>
              <a:t>hosts configured with single pNICs and clusters configured with LACP enabled</a:t>
            </a:r>
            <a:endParaRPr lang="en-US" sz="800" dirty="0">
              <a:solidFill>
                <a:schemeClr val="accent2"/>
              </a:solidFill>
            </a:endParaRPr>
          </a:p>
          <a:p>
            <a:pPr marL="742950" lvl="1" indent="-285750">
              <a:buFont typeface="Arial" panose="020B0604020202020204" pitchFamily="34" charset="0"/>
              <a:buChar char="•"/>
            </a:pPr>
            <a:r>
              <a:rPr lang="en-US" sz="1400" dirty="0">
                <a:solidFill>
                  <a:schemeClr val="accent2"/>
                </a:solidFill>
              </a:rPr>
              <a:t>single node clusters and standalone hosts</a:t>
            </a:r>
          </a:p>
          <a:p>
            <a:pPr lvl="1"/>
            <a:endParaRPr lang="en-US" sz="800" dirty="0">
              <a:solidFill>
                <a:schemeClr val="accent2"/>
              </a:solidFill>
            </a:endParaRPr>
          </a:p>
          <a:p>
            <a:r>
              <a:rPr lang="en-US" sz="1600" dirty="0"/>
              <a:t>Storage Interoperability:</a:t>
            </a:r>
            <a:endParaRPr lang="en-US" sz="800" dirty="0"/>
          </a:p>
          <a:p>
            <a:pPr marL="742950" lvl="1" indent="-285750">
              <a:buFont typeface="Arial" panose="020B0604020202020204" pitchFamily="34" charset="0"/>
              <a:buChar char="•"/>
            </a:pPr>
            <a:r>
              <a:rPr lang="en-US" sz="1400" dirty="0">
                <a:solidFill>
                  <a:schemeClr val="accent2"/>
                </a:solidFill>
              </a:rPr>
              <a:t>2-node vSAN clusters, HCI mesh, vSAN storage clusters, vSAN stretched clusters can be imported</a:t>
            </a:r>
            <a:endParaRPr lang="en-US" sz="800" dirty="0">
              <a:solidFill>
                <a:schemeClr val="accent2"/>
              </a:solidFill>
            </a:endParaRPr>
          </a:p>
          <a:p>
            <a:pPr marL="742950" lvl="1" indent="-285750">
              <a:buFont typeface="Arial" panose="020B0604020202020204" pitchFamily="34" charset="0"/>
              <a:buChar char="•"/>
            </a:pPr>
            <a:r>
              <a:rPr lang="en-US" sz="1400" dirty="0">
                <a:solidFill>
                  <a:schemeClr val="accent2"/>
                </a:solidFill>
              </a:rPr>
              <a:t>Clusters configured using external storage using NFS, VMFS on FC, iSCSI can also be imported</a:t>
            </a:r>
          </a:p>
          <a:p>
            <a:pPr lvl="1"/>
            <a:endParaRPr lang="en-US" sz="800" dirty="0">
              <a:solidFill>
                <a:schemeClr val="accent2"/>
              </a:solidFill>
            </a:endParaRPr>
          </a:p>
          <a:p>
            <a:r>
              <a:rPr lang="en-US" sz="1600" dirty="0"/>
              <a:t>Networking Interoperability:</a:t>
            </a:r>
            <a:endParaRPr lang="en-US" sz="800" dirty="0"/>
          </a:p>
          <a:p>
            <a:pPr marL="742950" lvl="1" indent="-285750">
              <a:buFont typeface="Arial" panose="020B0604020202020204" pitchFamily="34" charset="0"/>
              <a:buChar char="•"/>
            </a:pPr>
            <a:r>
              <a:rPr lang="en-US" sz="1400" dirty="0">
                <a:solidFill>
                  <a:schemeClr val="accent2"/>
                </a:solidFill>
              </a:rPr>
              <a:t>vCenter Server deployments configured with or without NSX can be imported</a:t>
            </a:r>
          </a:p>
          <a:p>
            <a:pPr marL="0" lvl="0" indent="0" algn="l" rtl="0">
              <a:lnSpc>
                <a:spcPct val="60000"/>
              </a:lnSpc>
              <a:spcBef>
                <a:spcPts val="0"/>
              </a:spcBef>
              <a:spcAft>
                <a:spcPts val="0"/>
              </a:spcAft>
              <a:buClr>
                <a:schemeClr val="dk1"/>
              </a:buClr>
              <a:buSzPts val="1140"/>
              <a:buFont typeface="Arial"/>
              <a:buNone/>
            </a:pPr>
            <a:endParaRPr lang="en-US" sz="400" b="1"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r>
              <a:rPr lang="en-US" sz="1200" b="1" u="none" strike="noStrike" dirty="0">
                <a:solidFill>
                  <a:schemeClr val="dk1"/>
                </a:solidFill>
                <a:latin typeface="Arial"/>
                <a:ea typeface="Arial"/>
                <a:cs typeface="Arial"/>
                <a:sym typeface="Arial"/>
              </a:rPr>
              <a:t>Notes:</a:t>
            </a:r>
            <a:endParaRPr lang="en-US" dirty="0"/>
          </a:p>
          <a:p>
            <a:pPr marL="0" marR="0" lvl="0" indent="0" algn="l" defTabSz="914400" rtl="0" eaLnBrk="1" fontAlgn="auto" latinLnBrk="0" hangingPunct="1">
              <a:lnSpc>
                <a:spcPct val="80000"/>
              </a:lnSpc>
              <a:spcBef>
                <a:spcPts val="0"/>
              </a:spcBef>
              <a:spcAft>
                <a:spcPts val="0"/>
              </a:spcAft>
              <a:buClrTx/>
              <a:buSzTx/>
              <a:buFontTx/>
              <a:buNone/>
              <a:tabLst/>
              <a:defRPr/>
            </a:pPr>
            <a:r>
              <a:rPr lang="en-US" sz="1200" b="0" i="0" u="none" strike="noStrike" dirty="0">
                <a:solidFill>
                  <a:schemeClr val="dk1"/>
                </a:solidFill>
                <a:latin typeface="Arial"/>
                <a:ea typeface="Arial"/>
                <a:cs typeface="Arial"/>
                <a:sym typeface="Arial"/>
              </a:rPr>
              <a:t>Its important to note that t</a:t>
            </a:r>
            <a:r>
              <a:rPr lang="en-US" sz="1200" b="0" i="0" dirty="0"/>
              <a:t>hese configurations apply when using VCF Import only.  These configurations do not apply when deploying new clusters or workload domains.</a:t>
            </a:r>
          </a:p>
          <a:p>
            <a:pPr marL="0" lvl="0" indent="0" algn="l" rtl="0">
              <a:lnSpc>
                <a:spcPct val="80000"/>
              </a:lnSpc>
              <a:spcBef>
                <a:spcPts val="0"/>
              </a:spcBef>
              <a:spcAft>
                <a:spcPts val="0"/>
              </a:spcAft>
              <a:buNone/>
            </a:pPr>
            <a:endParaRPr lang="en-US" sz="1200" b="1" u="none" strike="noStrike" dirty="0">
              <a:solidFill>
                <a:schemeClr val="dk1"/>
              </a:solidFill>
              <a:latin typeface="Arial"/>
              <a:ea typeface="Arial"/>
              <a:cs typeface="Arial"/>
              <a:sym typeface="Arial"/>
            </a:endParaRPr>
          </a:p>
          <a:p>
            <a:pPr marL="0" marR="0" lvl="0" indent="0" algn="l" defTabSz="914400" rtl="0" eaLnBrk="1" fontAlgn="auto" latinLnBrk="0" hangingPunct="1">
              <a:lnSpc>
                <a:spcPct val="60000"/>
              </a:lnSpc>
              <a:spcBef>
                <a:spcPts val="0"/>
              </a:spcBef>
              <a:spcAft>
                <a:spcPts val="0"/>
              </a:spcAft>
              <a:buClr>
                <a:schemeClr val="dk1"/>
              </a:buClr>
              <a:buSzPts val="1140"/>
              <a:buFont typeface="Arial"/>
              <a:buNone/>
              <a:tabLst/>
              <a:defRPr/>
            </a:pPr>
            <a:r>
              <a:rPr lang="en-US" sz="1200" b="1" u="none" strike="noStrike" dirty="0">
                <a:solidFill>
                  <a:schemeClr val="dk1"/>
                </a:solidFill>
                <a:latin typeface="Arial"/>
                <a:ea typeface="Arial"/>
                <a:cs typeface="Arial"/>
                <a:sym typeface="Arial"/>
              </a:rPr>
              <a:t>Resources:</a:t>
            </a:r>
            <a:br>
              <a:rPr lang="en-US" sz="1200" b="1" u="none" strike="noStrike" dirty="0">
                <a:solidFill>
                  <a:schemeClr val="dk1"/>
                </a:solidFill>
                <a:latin typeface="Arial"/>
                <a:ea typeface="Arial"/>
                <a:cs typeface="Arial"/>
                <a:sym typeface="Arial"/>
              </a:rPr>
            </a:br>
            <a:r>
              <a:rPr lang="en-US" sz="1200" b="0" u="none" strike="noStrike" dirty="0">
                <a:solidFill>
                  <a:schemeClr val="dk1"/>
                </a:solidFill>
                <a:latin typeface="Arial"/>
                <a:ea typeface="Arial"/>
                <a:cs typeface="Arial"/>
                <a:sym typeface="Arial"/>
              </a:rPr>
              <a:t>Refer to the VMware Configuration Maximums tool for further detail on supported configurations for compute, storage and networking:</a:t>
            </a:r>
            <a:br>
              <a:rPr lang="en-US" sz="1200" b="0" u="none" strike="noStrike" dirty="0">
                <a:solidFill>
                  <a:schemeClr val="dk1"/>
                </a:solidFill>
                <a:latin typeface="Arial"/>
                <a:ea typeface="Arial"/>
                <a:cs typeface="Arial"/>
                <a:sym typeface="Arial"/>
              </a:rPr>
            </a:br>
            <a:r>
              <a:rPr lang="en-AU" dirty="0">
                <a:effectLst/>
                <a:latin typeface="Helvetica Neue" panose="02000503000000020004" pitchFamily="2" charset="0"/>
                <a:hlinkClick r:id="rId3"/>
              </a:rPr>
              <a:t>https://configmax.broadcom.com/home</a:t>
            </a:r>
            <a:endParaRPr lang="en-AU" dirty="0">
              <a:effectLst/>
              <a:latin typeface="Helvetica Neue" panose="02000503000000020004" pitchFamily="2" charset="0"/>
            </a:endParaRPr>
          </a:p>
          <a:p>
            <a:pPr marL="0" lvl="0" indent="0" algn="l" rtl="0">
              <a:lnSpc>
                <a:spcPct val="60000"/>
              </a:lnSpc>
              <a:spcBef>
                <a:spcPts val="0"/>
              </a:spcBef>
              <a:spcAft>
                <a:spcPts val="0"/>
              </a:spcAft>
              <a:buClr>
                <a:schemeClr val="dk1"/>
              </a:buClr>
              <a:buSzPts val="1140"/>
              <a:buFont typeface="Arial"/>
              <a:buNone/>
            </a:pPr>
            <a:endParaRPr lang="en-US" b="0" dirty="0"/>
          </a:p>
          <a:p>
            <a:pPr marL="0" lvl="0" indent="0" algn="l" rtl="0">
              <a:lnSpc>
                <a:spcPct val="80000"/>
              </a:lnSpc>
              <a:spcBef>
                <a:spcPts val="0"/>
              </a:spcBef>
              <a:spcAft>
                <a:spcPts val="0"/>
              </a:spcAft>
              <a:buNone/>
            </a:pPr>
            <a:endParaRPr lang="en-US" sz="700" dirty="0"/>
          </a:p>
          <a:p>
            <a:endParaRPr lang="en-US" dirty="0"/>
          </a:p>
          <a:p>
            <a:endParaRPr lang="en-US" dirty="0"/>
          </a:p>
        </p:txBody>
      </p:sp>
      <p:sp>
        <p:nvSpPr>
          <p:cNvPr id="4" name="Slide Number Placeholder 3">
            <a:extLst>
              <a:ext uri="{FF2B5EF4-FFF2-40B4-BE49-F238E27FC236}">
                <a16:creationId xmlns:a16="http://schemas.microsoft.com/office/drawing/2014/main" id="{1883AEC1-A028-576D-A9B1-4D16185F7B02}"/>
              </a:ext>
            </a:extLst>
          </p:cNvPr>
          <p:cNvSpPr>
            <a:spLocks noGrp="1"/>
          </p:cNvSpPr>
          <p:nvPr>
            <p:ph type="sldNum" sz="quarter" idx="5"/>
          </p:nvPr>
        </p:nvSpPr>
        <p:spPr/>
        <p:txBody>
          <a:bodyPr/>
          <a:lstStyle/>
          <a:p>
            <a:fld id="{9F4FBC3A-A12C-40F9-BB8D-BC30C7901396}" type="slidenum">
              <a:rPr lang="en-US" smtClean="0"/>
              <a:pPr/>
              <a:t>23</a:t>
            </a:fld>
            <a:endParaRPr lang="en-US" dirty="0"/>
          </a:p>
        </p:txBody>
      </p:sp>
    </p:spTree>
    <p:extLst>
      <p:ext uri="{BB962C8B-B14F-4D97-AF65-F5344CB8AC3E}">
        <p14:creationId xmlns:p14="http://schemas.microsoft.com/office/powerpoint/2010/main" val="23674670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5"/>
        <p:cNvGrpSpPr/>
        <p:nvPr/>
      </p:nvGrpSpPr>
      <p:grpSpPr>
        <a:xfrm>
          <a:off x="0" y="0"/>
          <a:ext cx="0" cy="0"/>
          <a:chOff x="0" y="0"/>
          <a:chExt cx="0" cy="0"/>
        </a:xfrm>
      </p:grpSpPr>
      <p:sp>
        <p:nvSpPr>
          <p:cNvPr id="4276" name="Google Shape;4276;p38: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77" name="Google Shape;4277;p38: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80000"/>
              </a:lnSpc>
              <a:spcBef>
                <a:spcPts val="0"/>
              </a:spcBef>
              <a:spcAft>
                <a:spcPts val="0"/>
              </a:spcAft>
              <a:buClr>
                <a:schemeClr val="dk1"/>
              </a:buClr>
              <a:buSzPts val="1110"/>
              <a:buFont typeface="Arial"/>
              <a:buNone/>
            </a:pPr>
            <a:r>
              <a:rPr lang="en-US" sz="1110" b="1" i="0" u="none" strike="noStrike" dirty="0">
                <a:solidFill>
                  <a:schemeClr val="dk1"/>
                </a:solidFill>
                <a:latin typeface="Arial"/>
                <a:ea typeface="Arial"/>
                <a:cs typeface="Arial"/>
                <a:sym typeface="Arial"/>
              </a:rPr>
              <a:t>Presenter note – this slide contains animation</a:t>
            </a:r>
            <a:endParaRPr dirty="0"/>
          </a:p>
          <a:p>
            <a:pPr marL="0" lvl="0" indent="0" algn="l" rtl="0">
              <a:lnSpc>
                <a:spcPct val="80000"/>
              </a:lnSpc>
              <a:spcBef>
                <a:spcPts val="0"/>
              </a:spcBef>
              <a:spcAft>
                <a:spcPts val="0"/>
              </a:spcAft>
              <a:buSzPts val="1400"/>
              <a:buNone/>
            </a:pPr>
            <a:endParaRPr sz="1110" b="1" i="0"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SzPts val="1400"/>
              <a:buNone/>
            </a:pPr>
            <a:r>
              <a:rPr lang="en-US" sz="1110" b="1" i="0" u="none" strike="noStrike" dirty="0">
                <a:solidFill>
                  <a:schemeClr val="dk1"/>
                </a:solidFill>
                <a:latin typeface="Arial"/>
                <a:ea typeface="Arial"/>
                <a:cs typeface="Arial"/>
                <a:sym typeface="Arial"/>
              </a:rPr>
              <a:t>Key Message:</a:t>
            </a:r>
            <a:endParaRPr dirty="0"/>
          </a:p>
          <a:p>
            <a:pPr marL="0" lvl="0" indent="0" algn="l" rtl="0">
              <a:lnSpc>
                <a:spcPct val="80000"/>
              </a:lnSpc>
              <a:spcBef>
                <a:spcPts val="0"/>
              </a:spcBef>
              <a:spcAft>
                <a:spcPts val="0"/>
              </a:spcAft>
              <a:buSzPts val="1400"/>
              <a:buNone/>
            </a:pPr>
            <a:r>
              <a:rPr lang="en-US" sz="1110" b="0" i="0" u="none" strike="noStrike" dirty="0">
                <a:solidFill>
                  <a:schemeClr val="dk1"/>
                </a:solidFill>
                <a:latin typeface="Arial"/>
                <a:ea typeface="Arial"/>
                <a:cs typeface="Arial"/>
                <a:sym typeface="Arial"/>
              </a:rPr>
              <a:t>Once Bring-up has completed, a VCF instance can be scaled quickly and easily.</a:t>
            </a:r>
            <a:endParaRPr lang="en-US" sz="1100" dirty="0"/>
          </a:p>
          <a:p>
            <a:pPr marL="0" lvl="0" indent="0" algn="l" rtl="0">
              <a:lnSpc>
                <a:spcPct val="80000"/>
              </a:lnSpc>
              <a:spcBef>
                <a:spcPts val="0"/>
              </a:spcBef>
              <a:spcAft>
                <a:spcPts val="0"/>
              </a:spcAft>
              <a:buSzPts val="1400"/>
              <a:buNone/>
            </a:pPr>
            <a:endParaRPr sz="1110" b="0" i="0"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SzPts val="1400"/>
              <a:buNone/>
            </a:pPr>
            <a:r>
              <a:rPr lang="en-US" sz="1110" b="1" i="0" u="none" strike="noStrike" dirty="0">
                <a:solidFill>
                  <a:schemeClr val="dk1"/>
                </a:solidFill>
                <a:latin typeface="Arial"/>
                <a:ea typeface="Arial"/>
                <a:cs typeface="Arial"/>
                <a:sym typeface="Arial"/>
              </a:rPr>
              <a:t>Talk Track:</a:t>
            </a:r>
            <a:endParaRPr sz="1110" b="0" i="0"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SzPts val="1400"/>
              <a:buNone/>
            </a:pPr>
            <a:r>
              <a:rPr lang="en-US" sz="1110" b="0" i="0" u="none" strike="noStrike" dirty="0">
                <a:solidFill>
                  <a:schemeClr val="dk1"/>
                </a:solidFill>
                <a:latin typeface="Arial"/>
                <a:ea typeface="Arial"/>
                <a:cs typeface="Arial"/>
                <a:sym typeface="Arial"/>
              </a:rPr>
              <a:t>Cloud Foundation includes in-built workflows to deploy and scale private cloud infrastructure.</a:t>
            </a:r>
            <a:endParaRPr dirty="0"/>
          </a:p>
          <a:p>
            <a:pPr marL="0" lvl="0" indent="0" algn="l" rtl="0">
              <a:lnSpc>
                <a:spcPct val="80000"/>
              </a:lnSpc>
              <a:spcBef>
                <a:spcPts val="0"/>
              </a:spcBef>
              <a:spcAft>
                <a:spcPts val="0"/>
              </a:spcAft>
              <a:buSzPts val="1400"/>
              <a:buNone/>
            </a:pPr>
            <a:r>
              <a:rPr lang="en-US" sz="1110" b="0" i="0" u="none" strike="noStrike" dirty="0">
                <a:solidFill>
                  <a:schemeClr val="dk1"/>
                </a:solidFill>
                <a:latin typeface="Arial"/>
                <a:ea typeface="Arial"/>
                <a:cs typeface="Arial"/>
                <a:sym typeface="Arial"/>
              </a:rPr>
              <a:t>Once Bring-up has completed, a VCF instance can be scaled quickly and easily.</a:t>
            </a:r>
            <a:endParaRPr dirty="0"/>
          </a:p>
          <a:p>
            <a:pPr marL="0" lvl="0" indent="0" algn="l" rtl="0">
              <a:lnSpc>
                <a:spcPct val="80000"/>
              </a:lnSpc>
              <a:spcBef>
                <a:spcPts val="0"/>
              </a:spcBef>
              <a:spcAft>
                <a:spcPts val="0"/>
              </a:spcAft>
              <a:buSzPts val="1400"/>
              <a:buNone/>
            </a:pPr>
            <a:endParaRPr sz="1110" b="1" i="0"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SzPts val="1400"/>
              <a:buNone/>
            </a:pPr>
            <a:r>
              <a:rPr lang="en-US" sz="1110" b="0" i="0" u="none" strike="noStrike" dirty="0">
                <a:solidFill>
                  <a:schemeClr val="dk1"/>
                </a:solidFill>
                <a:latin typeface="Arial"/>
                <a:ea typeface="Arial"/>
                <a:cs typeface="Arial"/>
                <a:sym typeface="Arial"/>
              </a:rPr>
              <a:t>ESX hosts can be added into the Cloud Foundation inventory by a Cloud Admin from the vSphere client – allowing the VCF deployment to easily scale.  We call this process Host Commissioning.  </a:t>
            </a:r>
            <a:endParaRPr dirty="0"/>
          </a:p>
          <a:p>
            <a:pPr marL="0" lvl="0" indent="0" algn="l" rtl="0">
              <a:lnSpc>
                <a:spcPct val="80000"/>
              </a:lnSpc>
              <a:spcBef>
                <a:spcPts val="0"/>
              </a:spcBef>
              <a:spcAft>
                <a:spcPts val="0"/>
              </a:spcAft>
              <a:buSzPts val="1400"/>
              <a:buNone/>
            </a:pPr>
            <a:r>
              <a:rPr lang="en-US" sz="1110" b="0" i="0" u="none" strike="noStrike" dirty="0">
                <a:solidFill>
                  <a:schemeClr val="dk1"/>
                </a:solidFill>
                <a:latin typeface="Arial"/>
                <a:ea typeface="Arial"/>
                <a:cs typeface="Arial"/>
                <a:sym typeface="Arial"/>
              </a:rPr>
              <a:t>Network Pools need to be configured prior to commissioning a host.  They are used to </a:t>
            </a:r>
            <a:r>
              <a:rPr lang="en-US" sz="1110" dirty="0">
                <a:solidFill>
                  <a:schemeClr val="dk1"/>
                </a:solidFill>
                <a:latin typeface="Arial"/>
                <a:ea typeface="Arial"/>
                <a:cs typeface="Arial"/>
                <a:sym typeface="Arial"/>
              </a:rPr>
              <a:t>store IP addresses that can be used for </a:t>
            </a:r>
            <a:r>
              <a:rPr lang="en-US" sz="1110" dirty="0" err="1">
                <a:solidFill>
                  <a:schemeClr val="dk1"/>
                </a:solidFill>
                <a:latin typeface="Arial"/>
                <a:ea typeface="Arial"/>
                <a:cs typeface="Arial"/>
                <a:sym typeface="Arial"/>
              </a:rPr>
              <a:t>vMotion</a:t>
            </a:r>
            <a:r>
              <a:rPr lang="en-US" sz="1110" dirty="0">
                <a:solidFill>
                  <a:schemeClr val="dk1"/>
                </a:solidFill>
                <a:latin typeface="Arial"/>
                <a:ea typeface="Arial"/>
                <a:cs typeface="Arial"/>
                <a:sym typeface="Arial"/>
              </a:rPr>
              <a:t> and Storage during automation tasks.</a:t>
            </a:r>
            <a:endParaRPr dirty="0"/>
          </a:p>
          <a:p>
            <a:pPr marL="0" lvl="0" indent="0" algn="l" rtl="0">
              <a:lnSpc>
                <a:spcPct val="80000"/>
              </a:lnSpc>
              <a:spcBef>
                <a:spcPts val="0"/>
              </a:spcBef>
              <a:spcAft>
                <a:spcPts val="0"/>
              </a:spcAft>
              <a:buSzPts val="1400"/>
              <a:buNone/>
            </a:pPr>
            <a:endParaRPr sz="1110" dirty="0">
              <a:solidFill>
                <a:schemeClr val="dk1"/>
              </a:solidFill>
              <a:latin typeface="Arial"/>
              <a:ea typeface="Arial"/>
              <a:cs typeface="Arial"/>
              <a:sym typeface="Arial"/>
            </a:endParaRPr>
          </a:p>
          <a:p>
            <a:pPr marL="0" lvl="0" indent="0" algn="l" rtl="0">
              <a:lnSpc>
                <a:spcPct val="80000"/>
              </a:lnSpc>
              <a:spcBef>
                <a:spcPts val="0"/>
              </a:spcBef>
              <a:spcAft>
                <a:spcPts val="0"/>
              </a:spcAft>
              <a:buSzPts val="1400"/>
              <a:buNone/>
            </a:pPr>
            <a:r>
              <a:rPr lang="en-US" sz="1110" dirty="0">
                <a:solidFill>
                  <a:schemeClr val="dk1"/>
                </a:solidFill>
                <a:latin typeface="Arial"/>
                <a:ea typeface="Arial"/>
                <a:cs typeface="Arial"/>
                <a:sym typeface="Arial"/>
              </a:rPr>
              <a:t>Once hosts are commissioned, they can be seen within the Cloud Foundation inventory and can be used to:</a:t>
            </a:r>
            <a:endParaRPr dirty="0"/>
          </a:p>
          <a:p>
            <a:pPr marL="171450" lvl="0" indent="-171450" algn="l" rtl="0">
              <a:lnSpc>
                <a:spcPct val="80000"/>
              </a:lnSpc>
              <a:spcBef>
                <a:spcPts val="0"/>
              </a:spcBef>
              <a:spcAft>
                <a:spcPts val="0"/>
              </a:spcAft>
              <a:buSzPts val="1400"/>
              <a:buFontTx/>
              <a:buChar char="-"/>
            </a:pPr>
            <a:r>
              <a:rPr lang="en-US" sz="1110" dirty="0">
                <a:solidFill>
                  <a:schemeClr val="dk1"/>
                </a:solidFill>
                <a:latin typeface="Arial"/>
                <a:ea typeface="Arial"/>
                <a:cs typeface="Arial"/>
                <a:sym typeface="Arial"/>
              </a:rPr>
              <a:t>Expand an existing cluster,</a:t>
            </a:r>
            <a:endParaRPr lang="en-US" sz="1200" dirty="0">
              <a:solidFill>
                <a:schemeClr val="tx1"/>
              </a:solidFill>
              <a:latin typeface="+mn-lt"/>
              <a:ea typeface="+mn-ea"/>
              <a:cs typeface="+mn-cs"/>
              <a:sym typeface="Arial"/>
            </a:endParaRPr>
          </a:p>
          <a:p>
            <a:pPr marL="171450" lvl="0" indent="-171450" algn="l" rtl="0">
              <a:lnSpc>
                <a:spcPct val="80000"/>
              </a:lnSpc>
              <a:spcBef>
                <a:spcPts val="0"/>
              </a:spcBef>
              <a:spcAft>
                <a:spcPts val="0"/>
              </a:spcAft>
              <a:buSzPts val="1400"/>
              <a:buFontTx/>
              <a:buChar char="-"/>
            </a:pPr>
            <a:r>
              <a:rPr lang="en-US" sz="1110" dirty="0">
                <a:solidFill>
                  <a:schemeClr val="dk1"/>
                </a:solidFill>
                <a:latin typeface="Arial"/>
                <a:ea typeface="Arial"/>
                <a:cs typeface="Arial"/>
                <a:sym typeface="Arial"/>
              </a:rPr>
              <a:t>Or create a new cluster within an existing domain.</a:t>
            </a:r>
          </a:p>
          <a:p>
            <a:pPr marL="0" lvl="0" indent="0" algn="l" rtl="0">
              <a:lnSpc>
                <a:spcPct val="80000"/>
              </a:lnSpc>
              <a:spcBef>
                <a:spcPts val="0"/>
              </a:spcBef>
              <a:spcAft>
                <a:spcPts val="0"/>
              </a:spcAft>
              <a:buSzPts val="1400"/>
              <a:buNone/>
            </a:pPr>
            <a:endParaRPr sz="1110" b="0" i="0"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SzPts val="1400"/>
              <a:buNone/>
            </a:pPr>
            <a:r>
              <a:rPr lang="en-US" sz="1110" b="0" i="0" u="none" strike="noStrike" dirty="0">
                <a:solidFill>
                  <a:schemeClr val="dk1"/>
                </a:solidFill>
                <a:latin typeface="Arial"/>
                <a:ea typeface="Arial"/>
                <a:cs typeface="Arial"/>
                <a:sym typeface="Arial"/>
              </a:rPr>
              <a:t>The vSphere client also contains workflows to set up network connectivity to ensure that your workload is connected and protected and appropriately configured to available networking services.  NSX can be leveraged to activate networking services such as DHCP, NAT, Layer 3 Services, External IP and Network Monitoring and Logging.</a:t>
            </a:r>
          </a:p>
          <a:p>
            <a:pPr marL="0" lvl="0" indent="0" algn="l" rtl="0">
              <a:lnSpc>
                <a:spcPct val="80000"/>
              </a:lnSpc>
              <a:spcBef>
                <a:spcPts val="0"/>
              </a:spcBef>
              <a:spcAft>
                <a:spcPts val="0"/>
              </a:spcAft>
              <a:buSzPts val="1400"/>
              <a:buNone/>
            </a:pPr>
            <a:endParaRPr lang="en-AU" sz="1110" b="1" i="0" u="none" strike="noStrike" dirty="0">
              <a:solidFill>
                <a:schemeClr val="dk1"/>
              </a:solidFill>
              <a:latin typeface="Arial"/>
              <a:ea typeface="Arial"/>
              <a:cs typeface="Arial"/>
              <a:sym typeface="Arial"/>
            </a:endParaRPr>
          </a:p>
          <a:p>
            <a:pPr marL="0" marR="0" lvl="0" indent="0" algn="l" defTabSz="914400" rtl="0" eaLnBrk="1" fontAlgn="auto" latinLnBrk="0" hangingPunct="1">
              <a:lnSpc>
                <a:spcPct val="80000"/>
              </a:lnSpc>
              <a:spcBef>
                <a:spcPts val="0"/>
              </a:spcBef>
              <a:spcAft>
                <a:spcPts val="0"/>
              </a:spcAft>
              <a:buClrTx/>
              <a:buSzPts val="1400"/>
              <a:buFontTx/>
              <a:buNone/>
              <a:tabLst/>
              <a:defRPr/>
            </a:pPr>
            <a:r>
              <a:rPr lang="en-US" sz="1100" dirty="0">
                <a:solidFill>
                  <a:schemeClr val="dk1"/>
                </a:solidFill>
                <a:latin typeface="Arial"/>
                <a:ea typeface="Arial"/>
                <a:cs typeface="Arial"/>
                <a:sym typeface="Arial"/>
              </a:rPr>
              <a:t>VCF Operations contains streamlined workflows to create new workload domains.  Each workload domain can be configured using its own software defined infrastructure which allows them to be individually managed, scaled, lifecycle managed, patched and upgraded independently.  </a:t>
            </a:r>
            <a:endParaRPr lang="en-US" sz="1050" dirty="0"/>
          </a:p>
          <a:p>
            <a:pPr marL="0" lvl="0" indent="0" algn="l" rtl="0">
              <a:lnSpc>
                <a:spcPct val="80000"/>
              </a:lnSpc>
              <a:spcBef>
                <a:spcPts val="0"/>
              </a:spcBef>
              <a:spcAft>
                <a:spcPts val="0"/>
              </a:spcAft>
              <a:buSzPts val="1400"/>
              <a:buNone/>
            </a:pPr>
            <a:endParaRPr sz="1110" b="1" i="0"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SzPts val="1400"/>
              <a:buNone/>
            </a:pPr>
            <a:r>
              <a:rPr lang="en-US" sz="1110" b="1" i="0" u="none" strike="noStrike" dirty="0">
                <a:solidFill>
                  <a:schemeClr val="dk1"/>
                </a:solidFill>
                <a:latin typeface="Arial"/>
                <a:ea typeface="Arial"/>
                <a:cs typeface="Arial"/>
                <a:sym typeface="Arial"/>
              </a:rPr>
              <a:t>Notes:</a:t>
            </a:r>
          </a:p>
          <a:p>
            <a:pPr marL="171450" lvl="0" indent="-171450" algn="l" rtl="0">
              <a:lnSpc>
                <a:spcPct val="80000"/>
              </a:lnSpc>
              <a:spcBef>
                <a:spcPts val="0"/>
              </a:spcBef>
              <a:spcAft>
                <a:spcPts val="0"/>
              </a:spcAft>
              <a:buSzPts val="1400"/>
              <a:buFontTx/>
              <a:buChar char="-"/>
            </a:pPr>
            <a:r>
              <a:rPr lang="en-US" sz="1110" b="0" i="0" u="none" strike="noStrike" dirty="0">
                <a:solidFill>
                  <a:schemeClr val="dk1"/>
                </a:solidFill>
                <a:latin typeface="Arial"/>
                <a:cs typeface="Arial"/>
                <a:sym typeface="Arial"/>
              </a:rPr>
              <a:t>The vSphere client is used to commission new hosts into the VCF inventory, add hosts to an existing cluster or to add a new cluster.  It can also be used to configured centralized network connectivity (using an NSX Edge cluster) or distributed networking connectivity.</a:t>
            </a:r>
          </a:p>
          <a:p>
            <a:pPr marL="171450" lvl="0" indent="-171450" algn="l" rtl="0">
              <a:lnSpc>
                <a:spcPct val="80000"/>
              </a:lnSpc>
              <a:spcBef>
                <a:spcPts val="0"/>
              </a:spcBef>
              <a:spcAft>
                <a:spcPts val="0"/>
              </a:spcAft>
              <a:buSzPts val="1400"/>
              <a:buFontTx/>
              <a:buChar char="-"/>
            </a:pPr>
            <a:r>
              <a:rPr lang="en-US" sz="1110" b="0" i="0" u="none" strike="noStrike" dirty="0">
                <a:solidFill>
                  <a:schemeClr val="dk1"/>
                </a:solidFill>
                <a:latin typeface="Arial"/>
                <a:cs typeface="Arial"/>
                <a:sym typeface="Arial"/>
              </a:rPr>
              <a:t>VCF Operations is used to create new workload domains.</a:t>
            </a:r>
          </a:p>
          <a:p>
            <a:pPr marL="171450" marR="0" lvl="0" indent="-171450" algn="l" defTabSz="914400" rtl="0" eaLnBrk="1" fontAlgn="auto" latinLnBrk="0" hangingPunct="1">
              <a:lnSpc>
                <a:spcPct val="80000"/>
              </a:lnSpc>
              <a:spcBef>
                <a:spcPts val="0"/>
              </a:spcBef>
              <a:spcAft>
                <a:spcPts val="0"/>
              </a:spcAft>
              <a:buClrTx/>
              <a:buSzPts val="1400"/>
              <a:buFontTx/>
              <a:buChar char="-"/>
              <a:tabLst/>
              <a:defRPr/>
            </a:pPr>
            <a:r>
              <a:rPr lang="en-US" sz="1400" dirty="0"/>
              <a:t>Continue using SDDC Manager for Day N workflows.  </a:t>
            </a:r>
            <a:r>
              <a:rPr lang="en-AU" sz="1100" b="0" dirty="0">
                <a:latin typeface="Metropolis"/>
              </a:rPr>
              <a:t>SDDC Manager will be deprecated in a future release.</a:t>
            </a:r>
            <a:endParaRPr lang="en-US" sz="1100" b="0" u="none" strike="noStrike" dirty="0">
              <a:solidFill>
                <a:schemeClr val="dk1"/>
              </a:solidFill>
              <a:latin typeface="Metropolis" pitchFamily="2" charset="77"/>
              <a:sym typeface="Arial"/>
            </a:endParaRPr>
          </a:p>
          <a:p>
            <a:pPr marL="171450" lvl="0" indent="-171450" algn="l" rtl="0">
              <a:lnSpc>
                <a:spcPct val="80000"/>
              </a:lnSpc>
              <a:spcBef>
                <a:spcPts val="0"/>
              </a:spcBef>
              <a:spcAft>
                <a:spcPts val="0"/>
              </a:spcAft>
              <a:buSzPts val="1400"/>
              <a:buFontTx/>
              <a:buChar char="-"/>
            </a:pPr>
            <a:endParaRPr sz="1110" b="1" i="0"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SzPts val="1400"/>
              <a:buNone/>
            </a:pPr>
            <a:r>
              <a:rPr lang="en-US" sz="1110" b="1" i="0" u="none" strike="noStrike" dirty="0">
                <a:solidFill>
                  <a:schemeClr val="dk1"/>
                </a:solidFill>
                <a:latin typeface="Arial"/>
                <a:ea typeface="Arial"/>
                <a:cs typeface="Arial"/>
                <a:sym typeface="Arial"/>
              </a:rPr>
              <a:t>References:</a:t>
            </a:r>
            <a:endParaRPr sz="1110" b="0" i="0" u="none" strike="noStrike" dirty="0">
              <a:solidFill>
                <a:schemeClr val="dk1"/>
              </a:solidFill>
              <a:latin typeface="Arial"/>
              <a:ea typeface="Arial"/>
              <a:cs typeface="Arial"/>
              <a:sym typeface="Arial"/>
            </a:endParaRPr>
          </a:p>
          <a:p>
            <a:pPr marL="0" marR="0" lvl="0" indent="0" algn="l" defTabSz="914400" rtl="0" eaLnBrk="1" fontAlgn="auto" latinLnBrk="0" hangingPunct="1">
              <a:lnSpc>
                <a:spcPct val="80000"/>
              </a:lnSpc>
              <a:spcBef>
                <a:spcPts val="0"/>
              </a:spcBef>
              <a:spcAft>
                <a:spcPts val="0"/>
              </a:spcAft>
              <a:buClrTx/>
              <a:buSzPts val="1400"/>
              <a:buFontTx/>
              <a:buNone/>
              <a:tabLst/>
              <a:defRPr/>
            </a:pPr>
            <a:r>
              <a:rPr lang="en-US" sz="1100" b="0" u="none" strike="noStrike" dirty="0">
                <a:solidFill>
                  <a:schemeClr val="dk1"/>
                </a:solidFill>
                <a:latin typeface="Arial"/>
                <a:ea typeface="Arial"/>
                <a:cs typeface="Arial"/>
                <a:sym typeface="Arial"/>
              </a:rPr>
              <a:t>Refer to the VMware Configuration Maximums tool for further detail on supported configurations for compute, storage and networking:</a:t>
            </a:r>
            <a:br>
              <a:rPr lang="en-US" sz="1100" b="0" u="none" strike="noStrike" dirty="0">
                <a:solidFill>
                  <a:schemeClr val="dk1"/>
                </a:solidFill>
                <a:latin typeface="Arial"/>
                <a:ea typeface="Arial"/>
                <a:cs typeface="Arial"/>
                <a:sym typeface="Arial"/>
              </a:rPr>
            </a:br>
            <a:r>
              <a:rPr lang="en-AU" sz="1100" dirty="0">
                <a:effectLst/>
                <a:latin typeface="Helvetica Neue" panose="02000503000000020004" pitchFamily="2" charset="0"/>
                <a:hlinkClick r:id="rId3"/>
              </a:rPr>
              <a:t>https://configmax.broadcom.com/home</a:t>
            </a:r>
            <a:endParaRPr lang="en-AU" sz="1100" dirty="0">
              <a:effectLst/>
              <a:latin typeface="Helvetica Neue" panose="02000503000000020004" pitchFamily="2" charset="0"/>
            </a:endParaRPr>
          </a:p>
          <a:p>
            <a:pPr marL="0" lvl="0" indent="0" algn="l" rtl="0">
              <a:lnSpc>
                <a:spcPct val="80000"/>
              </a:lnSpc>
              <a:spcBef>
                <a:spcPts val="0"/>
              </a:spcBef>
              <a:spcAft>
                <a:spcPts val="0"/>
              </a:spcAft>
              <a:buSzPts val="1400"/>
              <a:buNone/>
            </a:pPr>
            <a:endParaRPr sz="1110" dirty="0"/>
          </a:p>
          <a:p>
            <a:pPr marL="0" lvl="0" indent="0" algn="l" rtl="0">
              <a:lnSpc>
                <a:spcPct val="80000"/>
              </a:lnSpc>
              <a:spcBef>
                <a:spcPts val="0"/>
              </a:spcBef>
              <a:spcAft>
                <a:spcPts val="0"/>
              </a:spcAft>
              <a:buSzPts val="1400"/>
              <a:buNone/>
            </a:pPr>
            <a:endParaRPr sz="1110" dirty="0"/>
          </a:p>
        </p:txBody>
      </p:sp>
      <p:sp>
        <p:nvSpPr>
          <p:cNvPr id="4278" name="Google Shape;4278;p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2E6CE-2B49-224A-A078-171AFADA54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3FD91A-8427-D686-AE2E-62ADF440E5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175EE5-B7D6-3412-5056-7A9979F335C4}"/>
              </a:ext>
            </a:extLst>
          </p:cNvPr>
          <p:cNvSpPr>
            <a:spLocks noGrp="1"/>
          </p:cNvSpPr>
          <p:nvPr>
            <p:ph type="body" idx="1"/>
          </p:nvPr>
        </p:nvSpPr>
        <p:spPr/>
        <p:txBody>
          <a:bodyPr>
            <a:normAutofit fontScale="70000" lnSpcReduction="20000"/>
          </a:bodyPr>
          <a:lstStyle/>
          <a:p>
            <a:pPr marL="0" marR="0" lvl="0" indent="0" algn="l" rtl="0">
              <a:lnSpc>
                <a:spcPct val="50000"/>
              </a:lnSpc>
              <a:spcBef>
                <a:spcPts val="0"/>
              </a:spcBef>
              <a:spcAft>
                <a:spcPts val="0"/>
              </a:spcAft>
              <a:buClr>
                <a:schemeClr val="dk1"/>
              </a:buClr>
              <a:buSzPts val="1430"/>
              <a:buFont typeface="Arial"/>
              <a:buNone/>
            </a:pPr>
            <a:r>
              <a:rPr lang="en-US" sz="5400" b="1" strike="noStrike" dirty="0">
                <a:latin typeface="Arial"/>
                <a:ea typeface="Arial"/>
                <a:cs typeface="Arial"/>
                <a:sym typeface="Arial"/>
              </a:rPr>
              <a:t>Presenter Note:  This slide contains animation</a:t>
            </a:r>
            <a:endParaRPr lang="en-US" dirty="0"/>
          </a:p>
          <a:p>
            <a:pPr marL="0" lvl="0" indent="0" algn="l" rtl="0">
              <a:lnSpc>
                <a:spcPct val="70000"/>
              </a:lnSpc>
              <a:spcBef>
                <a:spcPts val="0"/>
              </a:spcBef>
              <a:spcAft>
                <a:spcPts val="0"/>
              </a:spcAft>
              <a:buClr>
                <a:schemeClr val="dk1"/>
              </a:buClr>
              <a:buSzPts val="780"/>
              <a:buFont typeface="Arial"/>
              <a:buNone/>
            </a:pPr>
            <a:endParaRPr lang="en-US" sz="1200" b="1" u="none" strike="noStrike" dirty="0">
              <a:solidFill>
                <a:schemeClr val="dk1"/>
              </a:solidFill>
              <a:latin typeface="Arial"/>
              <a:ea typeface="Arial"/>
              <a:cs typeface="Arial"/>
              <a:sym typeface="Arial"/>
            </a:endParaRPr>
          </a:p>
          <a:p>
            <a:pPr marL="0" lvl="0" indent="0" algn="l" rtl="0">
              <a:lnSpc>
                <a:spcPct val="70000"/>
              </a:lnSpc>
              <a:spcBef>
                <a:spcPts val="0"/>
              </a:spcBef>
              <a:spcAft>
                <a:spcPts val="0"/>
              </a:spcAft>
              <a:buClr>
                <a:schemeClr val="dk1"/>
              </a:buClr>
              <a:buSzPts val="780"/>
              <a:buFont typeface="Arial"/>
              <a:buNone/>
            </a:pPr>
            <a:r>
              <a:rPr lang="en-US" sz="1200" b="1" u="none" strike="noStrike" dirty="0">
                <a:solidFill>
                  <a:schemeClr val="dk1"/>
                </a:solidFill>
                <a:latin typeface="Arial"/>
                <a:ea typeface="Arial"/>
                <a:cs typeface="Arial"/>
                <a:sym typeface="Arial"/>
              </a:rPr>
              <a:t>Key Message:</a:t>
            </a:r>
            <a:r>
              <a:rPr lang="en-US" sz="1200" b="1" strike="noStrike" dirty="0">
                <a:solidFill>
                  <a:schemeClr val="dk1"/>
                </a:solidFill>
                <a:latin typeface="Arial"/>
                <a:ea typeface="Arial"/>
                <a:cs typeface="Arial"/>
                <a:sym typeface="Arial"/>
              </a:rPr>
              <a:t>​ </a:t>
            </a:r>
            <a:endParaRPr lang="en-US" dirty="0"/>
          </a:p>
          <a:p>
            <a:pPr marL="0" lvl="0" indent="0" algn="l" rtl="0">
              <a:lnSpc>
                <a:spcPct val="70000"/>
              </a:lnSpc>
              <a:spcBef>
                <a:spcPts val="0"/>
              </a:spcBef>
              <a:spcAft>
                <a:spcPts val="0"/>
              </a:spcAft>
              <a:buClr>
                <a:schemeClr val="dk1"/>
              </a:buClr>
              <a:buSzPts val="780"/>
              <a:buFont typeface="Arial"/>
              <a:buNone/>
            </a:pPr>
            <a:r>
              <a:rPr lang="en-US" sz="1200" b="0" strike="noStrike" dirty="0">
                <a:solidFill>
                  <a:schemeClr val="dk1"/>
                </a:solidFill>
                <a:latin typeface="Arial"/>
                <a:ea typeface="Arial"/>
                <a:cs typeface="Arial"/>
                <a:sym typeface="Arial"/>
              </a:rPr>
              <a:t>The vSphere client is used to commission new hosts, add new clusters and scale clusters.  VCF Operations can be used to deploy new workload domains.</a:t>
            </a:r>
            <a:endParaRPr lang="en-US" dirty="0"/>
          </a:p>
          <a:p>
            <a:pPr marL="0" lvl="0" indent="0" algn="l" rtl="0">
              <a:lnSpc>
                <a:spcPct val="70000"/>
              </a:lnSpc>
              <a:spcBef>
                <a:spcPts val="0"/>
              </a:spcBef>
              <a:spcAft>
                <a:spcPts val="0"/>
              </a:spcAft>
              <a:buClr>
                <a:schemeClr val="dk1"/>
              </a:buClr>
              <a:buSzPts val="780"/>
              <a:buFont typeface="Arial"/>
              <a:buNone/>
            </a:pPr>
            <a:endParaRPr lang="en-US" sz="1200" strike="sngStrike" dirty="0">
              <a:solidFill>
                <a:schemeClr val="dk1"/>
              </a:solidFill>
              <a:latin typeface="Arial"/>
              <a:ea typeface="Arial"/>
              <a:cs typeface="Arial"/>
              <a:sym typeface="Arial"/>
            </a:endParaRPr>
          </a:p>
          <a:p>
            <a:pPr marL="0" lvl="0" indent="0" algn="l" rtl="0">
              <a:lnSpc>
                <a:spcPct val="70000"/>
              </a:lnSpc>
              <a:spcBef>
                <a:spcPts val="0"/>
              </a:spcBef>
              <a:spcAft>
                <a:spcPts val="0"/>
              </a:spcAft>
              <a:buClr>
                <a:schemeClr val="dk1"/>
              </a:buClr>
              <a:buSzPts val="780"/>
              <a:buFont typeface="Arial"/>
              <a:buNone/>
            </a:pPr>
            <a:r>
              <a:rPr lang="en-US" sz="1200" b="1" strike="noStrike" dirty="0">
                <a:solidFill>
                  <a:schemeClr val="dk1"/>
                </a:solidFill>
                <a:latin typeface="Arial"/>
                <a:ea typeface="Arial"/>
                <a:cs typeface="Arial"/>
                <a:sym typeface="Arial"/>
              </a:rPr>
              <a:t>Talk Track:</a:t>
            </a:r>
            <a:endParaRPr lang="en-US" dirty="0"/>
          </a:p>
          <a:p>
            <a:pPr marL="0" lvl="0" indent="0" algn="l" rtl="0">
              <a:lnSpc>
                <a:spcPct val="70000"/>
              </a:lnSpc>
              <a:spcBef>
                <a:spcPts val="0"/>
              </a:spcBef>
              <a:spcAft>
                <a:spcPts val="0"/>
              </a:spcAft>
              <a:buClr>
                <a:schemeClr val="dk1"/>
              </a:buClr>
              <a:buSzPts val="780"/>
              <a:buFont typeface="Arial"/>
              <a:buNone/>
            </a:pPr>
            <a:r>
              <a:rPr lang="en-US" sz="1200" strike="noStrike" dirty="0">
                <a:solidFill>
                  <a:schemeClr val="dk1"/>
                </a:solidFill>
                <a:latin typeface="Arial"/>
                <a:ea typeface="Arial"/>
                <a:cs typeface="Arial"/>
                <a:sym typeface="Arial"/>
              </a:rPr>
              <a:t>Scaling private cloud infrastructure is easy in VCF 9.  </a:t>
            </a:r>
            <a:endParaRPr lang="en-US" dirty="0"/>
          </a:p>
          <a:p>
            <a:pPr marL="0" lvl="0" indent="0" algn="l" rtl="0">
              <a:lnSpc>
                <a:spcPct val="70000"/>
              </a:lnSpc>
              <a:spcBef>
                <a:spcPts val="0"/>
              </a:spcBef>
              <a:spcAft>
                <a:spcPts val="0"/>
              </a:spcAft>
              <a:buClr>
                <a:schemeClr val="dk1"/>
              </a:buClr>
              <a:buSzPts val="780"/>
              <a:buFont typeface="Arial"/>
              <a:buNone/>
            </a:pPr>
            <a:br>
              <a:rPr lang="en-US" sz="1200" strike="noStrike" dirty="0">
                <a:solidFill>
                  <a:schemeClr val="dk1"/>
                </a:solidFill>
                <a:latin typeface="Arial"/>
                <a:ea typeface="Arial"/>
                <a:cs typeface="Arial"/>
                <a:sym typeface="Arial"/>
              </a:rPr>
            </a:br>
            <a:r>
              <a:rPr lang="en-US" sz="1200" strike="noStrike" dirty="0">
                <a:solidFill>
                  <a:schemeClr val="dk1"/>
                </a:solidFill>
                <a:latin typeface="Arial"/>
                <a:ea typeface="Arial"/>
                <a:cs typeface="Arial"/>
                <a:sym typeface="Arial"/>
              </a:rPr>
              <a:t>Utilize familiar workflows within the vSphere client to commission new ESX hosts into the Global inventory.  </a:t>
            </a:r>
            <a:endParaRPr lang="en-US" dirty="0"/>
          </a:p>
          <a:p>
            <a:pPr marL="0" lvl="0" indent="0" algn="l" rtl="0">
              <a:lnSpc>
                <a:spcPct val="70000"/>
              </a:lnSpc>
              <a:spcBef>
                <a:spcPts val="0"/>
              </a:spcBef>
              <a:spcAft>
                <a:spcPts val="0"/>
              </a:spcAft>
              <a:buClr>
                <a:schemeClr val="dk1"/>
              </a:buClr>
              <a:buSzPts val="780"/>
              <a:buFont typeface="Arial"/>
              <a:buNone/>
            </a:pPr>
            <a:endParaRPr lang="en-US" sz="1200" strike="noStrike" dirty="0">
              <a:solidFill>
                <a:schemeClr val="dk1"/>
              </a:solidFill>
              <a:latin typeface="Arial"/>
              <a:ea typeface="Arial"/>
              <a:cs typeface="Arial"/>
              <a:sym typeface="Arial"/>
            </a:endParaRPr>
          </a:p>
          <a:p>
            <a:pPr marL="0" lvl="0" indent="0" algn="l" rtl="0">
              <a:lnSpc>
                <a:spcPct val="70000"/>
              </a:lnSpc>
              <a:spcBef>
                <a:spcPts val="0"/>
              </a:spcBef>
              <a:spcAft>
                <a:spcPts val="0"/>
              </a:spcAft>
              <a:buClr>
                <a:schemeClr val="dk1"/>
              </a:buClr>
              <a:buSzPts val="780"/>
              <a:buFont typeface="Arial"/>
              <a:buNone/>
            </a:pPr>
            <a:r>
              <a:rPr lang="en-US" sz="1200" strike="noStrike" dirty="0">
                <a:solidFill>
                  <a:schemeClr val="dk1"/>
                </a:solidFill>
                <a:latin typeface="Arial"/>
                <a:ea typeface="Arial"/>
                <a:cs typeface="Arial"/>
                <a:sym typeface="Arial"/>
              </a:rPr>
              <a:t>&lt;click 1&gt;</a:t>
            </a:r>
            <a:endParaRPr lang="en-US" dirty="0"/>
          </a:p>
          <a:p>
            <a:pPr marL="0" lvl="0" indent="0" algn="l" rtl="0">
              <a:lnSpc>
                <a:spcPct val="70000"/>
              </a:lnSpc>
              <a:spcBef>
                <a:spcPts val="0"/>
              </a:spcBef>
              <a:spcAft>
                <a:spcPts val="0"/>
              </a:spcAft>
              <a:buClr>
                <a:schemeClr val="dk1"/>
              </a:buClr>
              <a:buSzPts val="780"/>
              <a:buFont typeface="Arial"/>
              <a:buNone/>
            </a:pPr>
            <a:r>
              <a:rPr lang="en-US" sz="1200" strike="noStrike" dirty="0">
                <a:solidFill>
                  <a:schemeClr val="dk1"/>
                </a:solidFill>
                <a:latin typeface="Arial"/>
                <a:ea typeface="Arial"/>
                <a:cs typeface="Arial"/>
                <a:sym typeface="Arial"/>
              </a:rPr>
              <a:t>New hosts can be commissioned individually or in bulk using FQDN.  Hosts can be commissioned into predefined network pools for </a:t>
            </a:r>
            <a:r>
              <a:rPr lang="en-US" sz="1200" strike="noStrike" dirty="0" err="1">
                <a:solidFill>
                  <a:schemeClr val="dk1"/>
                </a:solidFill>
                <a:latin typeface="Arial"/>
                <a:ea typeface="Arial"/>
                <a:cs typeface="Arial"/>
                <a:sym typeface="Arial"/>
              </a:rPr>
              <a:t>vMotion</a:t>
            </a:r>
            <a:r>
              <a:rPr lang="en-US" sz="1200" strike="noStrike" dirty="0">
                <a:solidFill>
                  <a:schemeClr val="dk1"/>
                </a:solidFill>
                <a:latin typeface="Arial"/>
                <a:ea typeface="Arial"/>
                <a:cs typeface="Arial"/>
                <a:sym typeface="Arial"/>
              </a:rPr>
              <a:t> and storage.  Admins can select to commission hosts for a number of different storage types – vSAN, NFS and VMFS on FC.  Each host is validated by confirming their fingerprint.</a:t>
            </a:r>
            <a:endParaRPr lang="en-US" sz="1200" u="none" strike="noStrike" cap="none" dirty="0">
              <a:solidFill>
                <a:srgbClr val="000000"/>
              </a:solidFill>
            </a:endParaRPr>
          </a:p>
          <a:p>
            <a:pPr marL="0" lvl="0" indent="0" algn="l" rtl="0">
              <a:lnSpc>
                <a:spcPct val="70000"/>
              </a:lnSpc>
              <a:spcBef>
                <a:spcPts val="0"/>
              </a:spcBef>
              <a:spcAft>
                <a:spcPts val="0"/>
              </a:spcAft>
              <a:buClr>
                <a:schemeClr val="dk1"/>
              </a:buClr>
              <a:buSzPts val="780"/>
              <a:buFont typeface="Arial"/>
              <a:buNone/>
            </a:pPr>
            <a:endParaRPr lang="en-US" sz="1200" strike="noStrike" dirty="0">
              <a:solidFill>
                <a:schemeClr val="dk1"/>
              </a:solidFill>
              <a:latin typeface="Arial"/>
              <a:ea typeface="Arial"/>
              <a:cs typeface="Arial"/>
              <a:sym typeface="Arial"/>
            </a:endParaRPr>
          </a:p>
          <a:p>
            <a:pPr marL="0" lvl="0" indent="0" algn="l" rtl="0">
              <a:lnSpc>
                <a:spcPct val="70000"/>
              </a:lnSpc>
              <a:spcBef>
                <a:spcPts val="0"/>
              </a:spcBef>
              <a:spcAft>
                <a:spcPts val="0"/>
              </a:spcAft>
              <a:buClr>
                <a:schemeClr val="dk1"/>
              </a:buClr>
              <a:buSzPts val="780"/>
              <a:buFont typeface="Arial"/>
              <a:buNone/>
            </a:pPr>
            <a:r>
              <a:rPr lang="en-US" sz="1200" strike="noStrike" dirty="0">
                <a:solidFill>
                  <a:schemeClr val="dk1"/>
                </a:solidFill>
                <a:latin typeface="Arial"/>
                <a:ea typeface="Arial"/>
                <a:cs typeface="Arial"/>
                <a:sym typeface="Arial"/>
              </a:rPr>
              <a:t>&lt;click 2&gt;</a:t>
            </a:r>
            <a:endParaRPr lang="en-US" dirty="0"/>
          </a:p>
          <a:p>
            <a:pPr marL="0" lvl="0" indent="0" algn="l" rtl="0">
              <a:lnSpc>
                <a:spcPct val="70000"/>
              </a:lnSpc>
              <a:spcBef>
                <a:spcPts val="0"/>
              </a:spcBef>
              <a:spcAft>
                <a:spcPts val="0"/>
              </a:spcAft>
              <a:buClr>
                <a:schemeClr val="dk1"/>
              </a:buClr>
              <a:buSzPts val="780"/>
              <a:buFont typeface="Arial"/>
              <a:buNone/>
            </a:pPr>
            <a:r>
              <a:rPr lang="en-US" sz="1200" strike="noStrike" dirty="0">
                <a:solidFill>
                  <a:schemeClr val="dk1"/>
                </a:solidFill>
                <a:latin typeface="Arial"/>
                <a:ea typeface="Arial"/>
                <a:cs typeface="Arial"/>
                <a:sym typeface="Arial"/>
              </a:rPr>
              <a:t>Commissioned hosts will be visible as unassigned hosts in the global inventory and can be used to create new clusters or scale existing clusters.  Multiple host and cluster deployment and scaling operations can be performed in parallel to save time.  Each cluster is deployed using a vSphere Lifecycle Manager image (</a:t>
            </a:r>
            <a:r>
              <a:rPr lang="en-US" sz="1200" strike="noStrike" dirty="0" err="1">
                <a:solidFill>
                  <a:schemeClr val="dk1"/>
                </a:solidFill>
                <a:latin typeface="Arial"/>
                <a:ea typeface="Arial"/>
                <a:cs typeface="Arial"/>
                <a:sym typeface="Arial"/>
              </a:rPr>
              <a:t>vLCM</a:t>
            </a:r>
            <a:r>
              <a:rPr lang="en-US" sz="1200" strike="noStrike" dirty="0">
                <a:solidFill>
                  <a:schemeClr val="dk1"/>
                </a:solidFill>
                <a:latin typeface="Arial"/>
                <a:ea typeface="Arial"/>
                <a:cs typeface="Arial"/>
                <a:sym typeface="Arial"/>
              </a:rPr>
              <a:t> image).</a:t>
            </a:r>
            <a:endParaRPr lang="en-US" dirty="0"/>
          </a:p>
          <a:p>
            <a:pPr marL="0" lvl="0" indent="0" algn="l" rtl="0">
              <a:lnSpc>
                <a:spcPct val="70000"/>
              </a:lnSpc>
              <a:spcBef>
                <a:spcPts val="0"/>
              </a:spcBef>
              <a:spcAft>
                <a:spcPts val="0"/>
              </a:spcAft>
              <a:buClr>
                <a:schemeClr val="dk1"/>
              </a:buClr>
              <a:buSzPts val="780"/>
              <a:buFont typeface="Arial"/>
              <a:buNone/>
            </a:pPr>
            <a:endParaRPr lang="en-US" sz="1200" strike="noStrike" dirty="0">
              <a:solidFill>
                <a:schemeClr val="dk1"/>
              </a:solidFill>
              <a:latin typeface="Arial"/>
              <a:ea typeface="Arial"/>
              <a:cs typeface="Arial"/>
              <a:sym typeface="Arial"/>
            </a:endParaRPr>
          </a:p>
          <a:p>
            <a:pPr marL="0" marR="0" lvl="0" indent="0" algn="l" rtl="0">
              <a:lnSpc>
                <a:spcPct val="70000"/>
              </a:lnSpc>
              <a:spcBef>
                <a:spcPts val="0"/>
              </a:spcBef>
              <a:spcAft>
                <a:spcPts val="0"/>
              </a:spcAft>
              <a:buClr>
                <a:schemeClr val="dk1"/>
              </a:buClr>
              <a:buSzPts val="780"/>
              <a:buFont typeface="Arial"/>
              <a:buNone/>
            </a:pPr>
            <a:r>
              <a:rPr lang="en-US" sz="1200" strike="noStrike" dirty="0">
                <a:solidFill>
                  <a:schemeClr val="dk1"/>
                </a:solidFill>
                <a:latin typeface="Arial"/>
                <a:ea typeface="Arial"/>
                <a:cs typeface="Arial"/>
                <a:sym typeface="Arial"/>
              </a:rPr>
              <a:t>&lt;click 3&gt;</a:t>
            </a:r>
            <a:br>
              <a:rPr lang="en-US" sz="1200" strike="noStrike" dirty="0">
                <a:solidFill>
                  <a:schemeClr val="dk1"/>
                </a:solidFill>
                <a:latin typeface="Arial"/>
                <a:ea typeface="Arial"/>
                <a:cs typeface="Arial"/>
                <a:sym typeface="Arial"/>
              </a:rPr>
            </a:br>
            <a:r>
              <a:rPr lang="en-US" sz="1200" dirty="0">
                <a:solidFill>
                  <a:schemeClr val="dk1"/>
                </a:solidFill>
                <a:latin typeface="Arial"/>
                <a:ea typeface="Arial"/>
                <a:cs typeface="Arial"/>
                <a:sym typeface="Arial"/>
              </a:rPr>
              <a:t>VCF Operations contains streamlined workflows to create new workload domains.  Each workload domain can be configured using its own software defined infrastructure which allows them to be individually managed, scaled, lifecycle managed, patched and upgraded independently.  </a:t>
            </a:r>
            <a:endParaRPr lang="en-US" dirty="0"/>
          </a:p>
          <a:p>
            <a:pPr marL="0" lvl="0" indent="0" algn="l" rtl="0">
              <a:lnSpc>
                <a:spcPct val="70000"/>
              </a:lnSpc>
              <a:spcBef>
                <a:spcPts val="0"/>
              </a:spcBef>
              <a:spcAft>
                <a:spcPts val="0"/>
              </a:spcAft>
              <a:buClr>
                <a:schemeClr val="dk1"/>
              </a:buClr>
              <a:buSzPts val="780"/>
              <a:buFont typeface="Arial"/>
              <a:buNone/>
            </a:pPr>
            <a:endParaRPr lang="en-US" sz="1200" strike="noStrike" dirty="0">
              <a:solidFill>
                <a:schemeClr val="dk1"/>
              </a:solidFill>
              <a:latin typeface="Arial"/>
              <a:ea typeface="Arial"/>
              <a:cs typeface="Arial"/>
              <a:sym typeface="Arial"/>
            </a:endParaRPr>
          </a:p>
          <a:p>
            <a:pPr marL="0" marR="0" lvl="0" indent="0" algn="l" rtl="0">
              <a:lnSpc>
                <a:spcPct val="70000"/>
              </a:lnSpc>
              <a:spcBef>
                <a:spcPts val="0"/>
              </a:spcBef>
              <a:spcAft>
                <a:spcPts val="0"/>
              </a:spcAft>
              <a:buClr>
                <a:schemeClr val="dk1"/>
              </a:buClr>
              <a:buSzPts val="780"/>
              <a:buFont typeface="Arial"/>
              <a:buNone/>
            </a:pPr>
            <a:r>
              <a:rPr lang="en-US" sz="1200" strike="noStrike" dirty="0">
                <a:solidFill>
                  <a:schemeClr val="dk1"/>
                </a:solidFill>
                <a:latin typeface="Arial"/>
                <a:ea typeface="Arial"/>
                <a:cs typeface="Arial"/>
                <a:sym typeface="Arial"/>
              </a:rPr>
              <a:t>&lt;click 4&gt;</a:t>
            </a:r>
            <a:br>
              <a:rPr lang="en-US" sz="1200" strike="noStrike" dirty="0">
                <a:solidFill>
                  <a:schemeClr val="dk1"/>
                </a:solidFill>
                <a:latin typeface="Arial"/>
                <a:ea typeface="Arial"/>
                <a:cs typeface="Arial"/>
                <a:sym typeface="Arial"/>
              </a:rPr>
            </a:br>
            <a:r>
              <a:rPr lang="en-US" sz="3600" dirty="0">
                <a:solidFill>
                  <a:srgbClr val="000000"/>
                </a:solidFill>
              </a:rPr>
              <a:t>Continue using </a:t>
            </a:r>
            <a:r>
              <a:rPr lang="en-US" sz="3600" b="0" u="sng" dirty="0">
                <a:solidFill>
                  <a:srgbClr val="000000"/>
                </a:solidFill>
              </a:rPr>
              <a:t>SDDC Manager </a:t>
            </a:r>
            <a:r>
              <a:rPr lang="en-US" sz="3600" dirty="0">
                <a:solidFill>
                  <a:srgbClr val="000000"/>
                </a:solidFill>
              </a:rPr>
              <a:t>for Day N workflows.</a:t>
            </a:r>
            <a:endParaRPr lang="en-US" dirty="0"/>
          </a:p>
          <a:p>
            <a:pPr marL="0" lvl="0" indent="0" algn="l" rtl="0">
              <a:lnSpc>
                <a:spcPct val="70000"/>
              </a:lnSpc>
              <a:spcBef>
                <a:spcPts val="0"/>
              </a:spcBef>
              <a:spcAft>
                <a:spcPts val="0"/>
              </a:spcAft>
              <a:buClr>
                <a:schemeClr val="dk1"/>
              </a:buClr>
              <a:buSzPts val="780"/>
              <a:buFont typeface="Arial"/>
              <a:buNone/>
            </a:pPr>
            <a:endParaRPr lang="en-US" sz="1200" strike="noStrike" dirty="0">
              <a:solidFill>
                <a:schemeClr val="dk1"/>
              </a:solidFill>
              <a:latin typeface="Arial"/>
              <a:ea typeface="Arial"/>
              <a:cs typeface="Arial"/>
              <a:sym typeface="Arial"/>
            </a:endParaRPr>
          </a:p>
          <a:p>
            <a:pPr marL="0" marR="0" lvl="0" indent="0" algn="l" rtl="0">
              <a:lnSpc>
                <a:spcPct val="70000"/>
              </a:lnSpc>
              <a:spcBef>
                <a:spcPts val="0"/>
              </a:spcBef>
              <a:spcAft>
                <a:spcPts val="0"/>
              </a:spcAft>
              <a:buClr>
                <a:schemeClr val="dk1"/>
              </a:buClr>
              <a:buSzPts val="780"/>
              <a:buFont typeface="Arial"/>
              <a:buNone/>
            </a:pPr>
            <a:r>
              <a:rPr lang="en-US" sz="1200" b="1" strike="noStrike" dirty="0">
                <a:solidFill>
                  <a:schemeClr val="dk1"/>
                </a:solidFill>
                <a:latin typeface="Arial"/>
                <a:ea typeface="Arial"/>
                <a:cs typeface="Arial"/>
                <a:sym typeface="Arial"/>
              </a:rPr>
              <a:t>Notes:</a:t>
            </a:r>
            <a:br>
              <a:rPr lang="en-US" sz="1200" strike="noStrike" dirty="0">
                <a:solidFill>
                  <a:schemeClr val="dk1"/>
                </a:solidFill>
                <a:latin typeface="Arial"/>
                <a:ea typeface="Arial"/>
                <a:cs typeface="Arial"/>
                <a:sym typeface="Arial"/>
              </a:rPr>
            </a:br>
            <a:r>
              <a:rPr lang="en-US" sz="1200" u="sng" strike="noStrike" dirty="0">
                <a:solidFill>
                  <a:schemeClr val="dk1"/>
                </a:solidFill>
                <a:latin typeface="Arial"/>
                <a:ea typeface="Arial"/>
                <a:cs typeface="Arial"/>
                <a:sym typeface="Arial"/>
              </a:rPr>
              <a:t>vSAN</a:t>
            </a:r>
          </a:p>
          <a:p>
            <a:pPr marL="171450" marR="0" lvl="0" indent="-171450" algn="l" rtl="0">
              <a:lnSpc>
                <a:spcPct val="70000"/>
              </a:lnSpc>
              <a:spcBef>
                <a:spcPts val="0"/>
              </a:spcBef>
              <a:spcAft>
                <a:spcPts val="0"/>
              </a:spcAft>
              <a:buClr>
                <a:schemeClr val="dk1"/>
              </a:buClr>
              <a:buSzPts val="780"/>
              <a:buFontTx/>
              <a:buChar char="-"/>
            </a:pPr>
            <a:r>
              <a:rPr lang="en-US" sz="1200" dirty="0">
                <a:solidFill>
                  <a:schemeClr val="dk1"/>
                </a:solidFill>
                <a:latin typeface="Arial"/>
                <a:ea typeface="Arial"/>
                <a:cs typeface="Arial"/>
                <a:sym typeface="Arial"/>
              </a:rPr>
              <a:t>vSAN is recommended when configuring a new cluster as it is flexible, quick to configure, easy to change and removes the need for manual configuration and potential disruption when storage changes or maintenance needed.  </a:t>
            </a:r>
            <a:endParaRPr lang="en-US" sz="1200" dirty="0">
              <a:solidFill>
                <a:schemeClr val="tx1"/>
              </a:solidFill>
              <a:latin typeface="+mn-lt"/>
              <a:ea typeface="+mn-ea"/>
              <a:cs typeface="+mn-cs"/>
              <a:sym typeface="Arial"/>
            </a:endParaRPr>
          </a:p>
          <a:p>
            <a:pPr marL="171450" marR="0" lvl="0" indent="-171450" algn="l" rtl="0">
              <a:lnSpc>
                <a:spcPct val="70000"/>
              </a:lnSpc>
              <a:spcBef>
                <a:spcPts val="0"/>
              </a:spcBef>
              <a:spcAft>
                <a:spcPts val="0"/>
              </a:spcAft>
              <a:buClr>
                <a:schemeClr val="dk1"/>
              </a:buClr>
              <a:buSzPts val="780"/>
              <a:buFontTx/>
              <a:buChar char="-"/>
            </a:pPr>
            <a:r>
              <a:rPr lang="en-US" sz="1200" dirty="0">
                <a:solidFill>
                  <a:schemeClr val="dk1"/>
                </a:solidFill>
                <a:latin typeface="Arial"/>
                <a:ea typeface="Arial"/>
                <a:cs typeface="Arial"/>
                <a:sym typeface="Arial"/>
              </a:rPr>
              <a:t>vSAN ESA and OSA architectures are supported.</a:t>
            </a:r>
          </a:p>
          <a:p>
            <a:pPr marL="171450" marR="0" lvl="0" indent="-171450" algn="l" rtl="0">
              <a:lnSpc>
                <a:spcPct val="70000"/>
              </a:lnSpc>
              <a:spcBef>
                <a:spcPts val="0"/>
              </a:spcBef>
              <a:spcAft>
                <a:spcPts val="0"/>
              </a:spcAft>
              <a:buClr>
                <a:schemeClr val="dk1"/>
              </a:buClr>
              <a:buSzPts val="780"/>
              <a:buFontTx/>
              <a:buChar char="-"/>
            </a:pPr>
            <a:endParaRPr lang="en-US" sz="1200" dirty="0">
              <a:solidFill>
                <a:schemeClr val="dk1"/>
              </a:solidFill>
              <a:latin typeface="Arial"/>
              <a:ea typeface="Arial"/>
              <a:cs typeface="Arial"/>
              <a:sym typeface="Arial"/>
            </a:endParaRPr>
          </a:p>
          <a:p>
            <a:pPr marL="0" marR="0" lvl="0" indent="0" algn="l" rtl="0">
              <a:lnSpc>
                <a:spcPct val="70000"/>
              </a:lnSpc>
              <a:spcBef>
                <a:spcPts val="0"/>
              </a:spcBef>
              <a:spcAft>
                <a:spcPts val="0"/>
              </a:spcAft>
              <a:buClr>
                <a:schemeClr val="dk1"/>
              </a:buClr>
              <a:buSzPts val="780"/>
              <a:buFontTx/>
              <a:buNone/>
            </a:pPr>
            <a:r>
              <a:rPr lang="en-US" sz="1200" u="sng" dirty="0">
                <a:solidFill>
                  <a:schemeClr val="dk1"/>
                </a:solidFill>
                <a:latin typeface="Arial"/>
                <a:ea typeface="Arial"/>
                <a:cs typeface="Arial"/>
                <a:sym typeface="Arial"/>
              </a:rPr>
              <a:t>ESX:</a:t>
            </a:r>
            <a:br>
              <a:rPr lang="en-US" sz="1200" u="sng" dirty="0">
                <a:solidFill>
                  <a:schemeClr val="dk1"/>
                </a:solidFill>
                <a:latin typeface="Arial"/>
                <a:ea typeface="Arial"/>
                <a:cs typeface="Arial"/>
                <a:sym typeface="Arial"/>
              </a:rPr>
            </a:br>
            <a:r>
              <a:rPr lang="en-US" sz="1200" dirty="0">
                <a:solidFill>
                  <a:schemeClr val="dk1"/>
                </a:solidFill>
                <a:latin typeface="Arial"/>
                <a:ea typeface="Arial"/>
                <a:cs typeface="Arial"/>
                <a:sym typeface="Arial"/>
              </a:rPr>
              <a:t>- A new workload domain is deployed using dedicated ESX hosts configured in one or more clusters managed with it’s own vCenter server.  Clusters can be configured with a choice of supported storage types.  </a:t>
            </a:r>
          </a:p>
          <a:p>
            <a:pPr marL="0" marR="0" lvl="0" indent="0" algn="l" rtl="0">
              <a:lnSpc>
                <a:spcPct val="70000"/>
              </a:lnSpc>
              <a:spcBef>
                <a:spcPts val="0"/>
              </a:spcBef>
              <a:spcAft>
                <a:spcPts val="0"/>
              </a:spcAft>
              <a:buClr>
                <a:schemeClr val="dk1"/>
              </a:buClr>
              <a:buSzPts val="780"/>
              <a:buFontTx/>
              <a:buNone/>
            </a:pPr>
            <a:endParaRPr lang="en-US" sz="1200" dirty="0">
              <a:solidFill>
                <a:schemeClr val="dk1"/>
              </a:solidFill>
              <a:latin typeface="Arial"/>
              <a:ea typeface="Arial"/>
              <a:cs typeface="Arial"/>
              <a:sym typeface="Arial"/>
            </a:endParaRPr>
          </a:p>
          <a:p>
            <a:pPr marL="0" marR="0" lvl="0" indent="0" algn="l" rtl="0">
              <a:lnSpc>
                <a:spcPct val="70000"/>
              </a:lnSpc>
              <a:spcBef>
                <a:spcPts val="0"/>
              </a:spcBef>
              <a:spcAft>
                <a:spcPts val="0"/>
              </a:spcAft>
              <a:buClr>
                <a:schemeClr val="dk1"/>
              </a:buClr>
              <a:buSzPts val="780"/>
              <a:buFontTx/>
              <a:buNone/>
            </a:pPr>
            <a:r>
              <a:rPr lang="en-US" sz="1200" u="sng" dirty="0">
                <a:solidFill>
                  <a:schemeClr val="dk1"/>
                </a:solidFill>
                <a:latin typeface="Arial"/>
                <a:cs typeface="Arial"/>
                <a:sym typeface="Arial"/>
              </a:rPr>
              <a:t>NSX:</a:t>
            </a:r>
            <a:endParaRPr lang="en-US" u="sng" dirty="0"/>
          </a:p>
          <a:p>
            <a:pPr marL="0" lvl="0" indent="0" algn="l" rtl="0">
              <a:lnSpc>
                <a:spcPct val="70000"/>
              </a:lnSpc>
              <a:spcBef>
                <a:spcPts val="0"/>
              </a:spcBef>
              <a:spcAft>
                <a:spcPts val="0"/>
              </a:spcAft>
              <a:buClr>
                <a:schemeClr val="dk1"/>
              </a:buClr>
              <a:buSzPts val="780"/>
              <a:buFont typeface="Arial"/>
              <a:buNone/>
            </a:pPr>
            <a:r>
              <a:rPr lang="en-US" sz="1200" dirty="0">
                <a:solidFill>
                  <a:schemeClr val="dk1"/>
                </a:solidFill>
                <a:latin typeface="Arial"/>
                <a:ea typeface="Arial"/>
                <a:cs typeface="Arial"/>
                <a:sym typeface="Arial"/>
              </a:rPr>
              <a:t> - Each host is deployed for virtual networking using NSX.  Administrators can also configure advanced networking to best suit the needs of their applications by creating switch profiles, </a:t>
            </a:r>
            <a:r>
              <a:rPr lang="en-US" sz="1200" u="none" strike="noStrike" dirty="0">
                <a:solidFill>
                  <a:srgbClr val="172B4D"/>
                </a:solidFill>
                <a:latin typeface="Arial"/>
                <a:ea typeface="Arial"/>
                <a:cs typeface="Arial"/>
                <a:sym typeface="Arial"/>
              </a:rPr>
              <a:t>multiple Virtual Distributed Switches (which are prepared for NSX) and multiple pNICs. </a:t>
            </a:r>
          </a:p>
          <a:p>
            <a:pPr marL="0" lvl="0" indent="0" algn="l" rtl="0">
              <a:lnSpc>
                <a:spcPct val="70000"/>
              </a:lnSpc>
              <a:spcBef>
                <a:spcPts val="0"/>
              </a:spcBef>
              <a:spcAft>
                <a:spcPts val="0"/>
              </a:spcAft>
              <a:buClr>
                <a:schemeClr val="dk1"/>
              </a:buClr>
              <a:buSzPts val="780"/>
              <a:buFont typeface="Arial"/>
              <a:buNone/>
            </a:pPr>
            <a:r>
              <a:rPr lang="en-US" sz="1200" u="none" strike="noStrike" dirty="0">
                <a:solidFill>
                  <a:srgbClr val="172B4D"/>
                </a:solidFill>
                <a:latin typeface="Arial"/>
                <a:ea typeface="Arial"/>
                <a:cs typeface="Arial"/>
                <a:sym typeface="Arial"/>
              </a:rPr>
              <a:t>The first workload domain is configured with a separate NSX instance to the management domain.  Additional workload domains (2</a:t>
            </a:r>
            <a:r>
              <a:rPr lang="en-US" sz="1200" u="none" strike="noStrike" baseline="30000" dirty="0">
                <a:solidFill>
                  <a:srgbClr val="172B4D"/>
                </a:solidFill>
                <a:latin typeface="Arial"/>
                <a:ea typeface="Arial"/>
                <a:cs typeface="Arial"/>
                <a:sym typeface="Arial"/>
              </a:rPr>
              <a:t>nd</a:t>
            </a:r>
            <a:r>
              <a:rPr lang="en-US" sz="1200" u="none" strike="noStrike" dirty="0">
                <a:solidFill>
                  <a:srgbClr val="172B4D"/>
                </a:solidFill>
                <a:latin typeface="Arial"/>
                <a:ea typeface="Arial"/>
                <a:cs typeface="Arial"/>
                <a:sym typeface="Arial"/>
              </a:rPr>
              <a:t> and so on) can be configured to use a new NSX instance or the NSX instance of an existing workload domain.</a:t>
            </a:r>
          </a:p>
          <a:p>
            <a:pPr marL="0" lvl="0" indent="0" algn="l" rtl="0">
              <a:lnSpc>
                <a:spcPct val="70000"/>
              </a:lnSpc>
              <a:spcBef>
                <a:spcPts val="0"/>
              </a:spcBef>
              <a:spcAft>
                <a:spcPts val="0"/>
              </a:spcAft>
              <a:buClr>
                <a:schemeClr val="dk1"/>
              </a:buClr>
              <a:buSzPts val="780"/>
              <a:buFont typeface="Arial"/>
              <a:buNone/>
            </a:pPr>
            <a:endParaRPr lang="en-US" sz="1200" u="none" strike="noStrike" dirty="0">
              <a:solidFill>
                <a:srgbClr val="172B4D"/>
              </a:solidFill>
              <a:latin typeface="Arial"/>
              <a:ea typeface="Arial"/>
              <a:cs typeface="Arial"/>
              <a:sym typeface="Arial"/>
            </a:endParaRPr>
          </a:p>
          <a:p>
            <a:pPr marL="0" lvl="0" indent="0" algn="l" rtl="0">
              <a:lnSpc>
                <a:spcPct val="70000"/>
              </a:lnSpc>
              <a:spcBef>
                <a:spcPts val="0"/>
              </a:spcBef>
              <a:spcAft>
                <a:spcPts val="0"/>
              </a:spcAft>
              <a:buClr>
                <a:schemeClr val="dk1"/>
              </a:buClr>
              <a:buSzPts val="780"/>
              <a:buFont typeface="Arial"/>
              <a:buNone/>
            </a:pPr>
            <a:r>
              <a:rPr lang="en-US" sz="1200" u="sng" strike="noStrike" dirty="0">
                <a:solidFill>
                  <a:srgbClr val="172B4D"/>
                </a:solidFill>
                <a:latin typeface="Arial"/>
                <a:ea typeface="Arial"/>
                <a:cs typeface="Arial"/>
                <a:sym typeface="Arial"/>
              </a:rPr>
              <a:t>Infrastructure Management and Operations:</a:t>
            </a:r>
          </a:p>
          <a:p>
            <a:pPr marL="0" marR="0" lvl="0" indent="0" algn="l" defTabSz="914400" rtl="0" eaLnBrk="1" fontAlgn="auto" latinLnBrk="0" hangingPunct="1">
              <a:lnSpc>
                <a:spcPct val="70000"/>
              </a:lnSpc>
              <a:spcBef>
                <a:spcPts val="0"/>
              </a:spcBef>
              <a:spcAft>
                <a:spcPts val="0"/>
              </a:spcAft>
              <a:buClr>
                <a:schemeClr val="dk1"/>
              </a:buClr>
              <a:buSzPts val="780"/>
              <a:buFont typeface="Arial"/>
              <a:buNone/>
              <a:tabLst/>
              <a:defRPr/>
            </a:pPr>
            <a:r>
              <a:rPr lang="en-US" sz="1200" u="none" strike="noStrike" dirty="0">
                <a:solidFill>
                  <a:srgbClr val="172B4D"/>
                </a:solidFill>
                <a:latin typeface="Arial"/>
                <a:ea typeface="Arial"/>
                <a:cs typeface="Arial"/>
                <a:sym typeface="Arial"/>
              </a:rPr>
              <a:t>- </a:t>
            </a:r>
            <a:r>
              <a:rPr lang="en-AU" b="0" i="0" dirty="0">
                <a:solidFill>
                  <a:srgbClr val="222222"/>
                </a:solidFill>
                <a:effectLst/>
                <a:latin typeface="Arial" panose="020B0604020202020204" pitchFamily="34" charset="0"/>
              </a:rPr>
              <a:t>VCF Operations contains in-built workflows to create new workload domains pre-configured with the vSphere Supervisor to support the configuration of Kubernetes workloads.</a:t>
            </a:r>
            <a:endParaRPr lang="en-US" sz="1200" u="none" strike="noStrike" dirty="0">
              <a:solidFill>
                <a:srgbClr val="172B4D"/>
              </a:solidFill>
              <a:latin typeface="Arial"/>
              <a:ea typeface="Arial"/>
              <a:cs typeface="Arial"/>
              <a:sym typeface="Arial"/>
            </a:endParaRPr>
          </a:p>
          <a:p>
            <a:pPr marL="171450" lvl="0" indent="-171450" algn="l" rtl="0">
              <a:lnSpc>
                <a:spcPct val="70000"/>
              </a:lnSpc>
              <a:spcBef>
                <a:spcPts val="0"/>
              </a:spcBef>
              <a:spcAft>
                <a:spcPts val="0"/>
              </a:spcAft>
              <a:buClr>
                <a:schemeClr val="dk1"/>
              </a:buClr>
              <a:buSzPts val="1400"/>
              <a:buFont typeface="Arial"/>
              <a:buChar char="-"/>
            </a:pPr>
            <a:r>
              <a:rPr lang="en-US" sz="2400" b="0" i="0" u="none" strike="noStrike" dirty="0">
                <a:solidFill>
                  <a:schemeClr val="dk1"/>
                </a:solidFill>
                <a:latin typeface="Arial"/>
                <a:ea typeface="Arial"/>
                <a:cs typeface="Arial"/>
                <a:sym typeface="Arial"/>
              </a:rPr>
              <a:t>The vSphere client is used to commission new hosts into the VCF inventory, add hosts to an existing cluster or to add a new cluster.  It can also be used to configured centralized network connectivity (using an NSX Edge cluster) or distributed networking connectivity.</a:t>
            </a:r>
            <a:endParaRPr lang="en-US" dirty="0"/>
          </a:p>
          <a:p>
            <a:pPr marL="0" lvl="0" indent="0" algn="l" rtl="0">
              <a:lnSpc>
                <a:spcPct val="70000"/>
              </a:lnSpc>
              <a:spcBef>
                <a:spcPts val="0"/>
              </a:spcBef>
              <a:spcAft>
                <a:spcPts val="0"/>
              </a:spcAft>
              <a:buClr>
                <a:srgbClr val="172B4D"/>
              </a:buClr>
              <a:buSzPts val="780"/>
              <a:buFont typeface="Arial"/>
              <a:buNone/>
            </a:pPr>
            <a:r>
              <a:rPr lang="en-US" sz="1200" u="none" strike="noStrike" dirty="0">
                <a:solidFill>
                  <a:srgbClr val="172B4D"/>
                </a:solidFill>
                <a:latin typeface="Arial"/>
                <a:ea typeface="Arial"/>
                <a:cs typeface="Arial"/>
                <a:sym typeface="Arial"/>
              </a:rPr>
              <a:t>- SDDC Manager is deprecated in VCF 9 and will not be available in a future release.</a:t>
            </a:r>
            <a:endParaRPr lang="en-US" sz="1200" u="none" strike="noStrike" dirty="0">
              <a:solidFill>
                <a:schemeClr val="dk1"/>
              </a:solidFill>
              <a:latin typeface="Arial"/>
              <a:ea typeface="Arial"/>
              <a:cs typeface="Arial"/>
              <a:sym typeface="Arial"/>
            </a:endParaRPr>
          </a:p>
          <a:p>
            <a:pPr marL="0" marR="0" lvl="0" indent="0" algn="l" rtl="0">
              <a:lnSpc>
                <a:spcPct val="70000"/>
              </a:lnSpc>
              <a:spcBef>
                <a:spcPts val="0"/>
              </a:spcBef>
              <a:spcAft>
                <a:spcPts val="0"/>
              </a:spcAft>
              <a:buClr>
                <a:schemeClr val="dk1"/>
              </a:buClr>
              <a:buSzPts val="780"/>
              <a:buFont typeface="Arial"/>
              <a:buNone/>
            </a:pPr>
            <a:endParaRPr lang="en-US" sz="1200" dirty="0">
              <a:solidFill>
                <a:schemeClr val="dk1"/>
              </a:solidFill>
              <a:latin typeface="Arial"/>
              <a:ea typeface="Arial"/>
              <a:cs typeface="Arial"/>
              <a:sym typeface="Arial"/>
            </a:endParaRPr>
          </a:p>
          <a:p>
            <a:pPr marL="0" lvl="0" indent="0" algn="l" rtl="0">
              <a:lnSpc>
                <a:spcPct val="70000"/>
              </a:lnSpc>
              <a:spcBef>
                <a:spcPts val="0"/>
              </a:spcBef>
              <a:spcAft>
                <a:spcPts val="0"/>
              </a:spcAft>
              <a:buClr>
                <a:schemeClr val="dk1"/>
              </a:buClr>
              <a:buSzPts val="780"/>
              <a:buFont typeface="Arial"/>
              <a:buNone/>
            </a:pPr>
            <a:r>
              <a:rPr lang="en-US" sz="1200" b="1" strike="noStrike" dirty="0">
                <a:solidFill>
                  <a:schemeClr val="dk1"/>
                </a:solidFill>
                <a:latin typeface="Arial"/>
                <a:ea typeface="Arial"/>
                <a:cs typeface="Arial"/>
                <a:sym typeface="Arial"/>
              </a:rPr>
              <a:t>Resources:</a:t>
            </a:r>
            <a:endParaRPr lang="en-US" sz="1200" strike="sngStrike" dirty="0">
              <a:latin typeface="Arial"/>
              <a:ea typeface="Arial"/>
              <a:cs typeface="Arial"/>
              <a:sym typeface="Arial"/>
            </a:endParaRPr>
          </a:p>
          <a:p>
            <a:pPr marL="0" marR="0" lvl="0" indent="0" algn="l" defTabSz="914400" rtl="0" eaLnBrk="1" fontAlgn="auto" latinLnBrk="0" hangingPunct="1">
              <a:lnSpc>
                <a:spcPct val="60000"/>
              </a:lnSpc>
              <a:spcBef>
                <a:spcPts val="0"/>
              </a:spcBef>
              <a:spcAft>
                <a:spcPts val="0"/>
              </a:spcAft>
              <a:buClr>
                <a:schemeClr val="dk1"/>
              </a:buClr>
              <a:buSzPts val="1140"/>
              <a:buFont typeface="Arial"/>
              <a:buNone/>
              <a:tabLst/>
              <a:defRPr/>
            </a:pPr>
            <a:r>
              <a:rPr lang="en-US" sz="1200" b="0" u="none" strike="noStrike" dirty="0">
                <a:solidFill>
                  <a:schemeClr val="dk1"/>
                </a:solidFill>
                <a:latin typeface="Arial"/>
                <a:ea typeface="Arial"/>
                <a:cs typeface="Arial"/>
                <a:sym typeface="Arial"/>
              </a:rPr>
              <a:t>Refer to the VMware Configuration Maximums tool for further detail on supported configurations for compute, storage and networking:</a:t>
            </a:r>
            <a:br>
              <a:rPr lang="en-US" sz="1200" b="0" u="none" strike="noStrike" dirty="0">
                <a:solidFill>
                  <a:schemeClr val="dk1"/>
                </a:solidFill>
                <a:latin typeface="Arial"/>
                <a:ea typeface="Arial"/>
                <a:cs typeface="Arial"/>
                <a:sym typeface="Arial"/>
              </a:rPr>
            </a:br>
            <a:r>
              <a:rPr lang="en-AU" dirty="0">
                <a:effectLst/>
                <a:latin typeface="Helvetica Neue" panose="02000503000000020004" pitchFamily="2" charset="0"/>
                <a:hlinkClick r:id="rId3"/>
              </a:rPr>
              <a:t>https://configmax.broadcom.com/home</a:t>
            </a:r>
            <a:endParaRPr lang="en-AU" dirty="0">
              <a:effectLst/>
              <a:latin typeface="Helvetica Neue" panose="02000503000000020004" pitchFamily="2" charset="0"/>
            </a:endParaRPr>
          </a:p>
          <a:p>
            <a:pPr marL="0" marR="0" lvl="0" indent="0" algn="l" rtl="0">
              <a:lnSpc>
                <a:spcPct val="70000"/>
              </a:lnSpc>
              <a:spcBef>
                <a:spcPts val="0"/>
              </a:spcBef>
              <a:spcAft>
                <a:spcPts val="0"/>
              </a:spcAft>
              <a:buClr>
                <a:schemeClr val="dk1"/>
              </a:buClr>
              <a:buSzPts val="780"/>
              <a:buFont typeface="Arial"/>
              <a:buNone/>
            </a:pPr>
            <a:br>
              <a:rPr lang="en-US" sz="1200" strike="sngStrike" dirty="0">
                <a:latin typeface="Arial"/>
                <a:ea typeface="Arial"/>
                <a:cs typeface="Arial"/>
                <a:sym typeface="Arial"/>
              </a:rPr>
            </a:br>
            <a:endParaRPr lang="en-US" sz="1200" strike="sngStrike" dirty="0">
              <a:latin typeface="Arial"/>
              <a:ea typeface="Arial"/>
              <a:cs typeface="Arial"/>
              <a:sym typeface="Arial"/>
            </a:endParaRPr>
          </a:p>
          <a:p>
            <a:pPr marL="0" lvl="0" indent="0" algn="l" rtl="0">
              <a:lnSpc>
                <a:spcPct val="70000"/>
              </a:lnSpc>
              <a:spcBef>
                <a:spcPts val="0"/>
              </a:spcBef>
              <a:spcAft>
                <a:spcPts val="0"/>
              </a:spcAft>
              <a:buClr>
                <a:schemeClr val="dk1"/>
              </a:buClr>
              <a:buSzPts val="780"/>
              <a:buFont typeface="Arial"/>
              <a:buNone/>
            </a:pPr>
            <a:endParaRPr lang="en-US" sz="1200" strike="sngStrike" dirty="0">
              <a:solidFill>
                <a:schemeClr val="dk1"/>
              </a:solidFill>
              <a:latin typeface="Arial"/>
              <a:ea typeface="Arial"/>
              <a:cs typeface="Arial"/>
              <a:sym typeface="Arial"/>
            </a:endParaRPr>
          </a:p>
          <a:p>
            <a:pPr marL="0" marR="0" lvl="0" indent="0" algn="l" rtl="0">
              <a:lnSpc>
                <a:spcPct val="50000"/>
              </a:lnSpc>
              <a:spcBef>
                <a:spcPts val="0"/>
              </a:spcBef>
              <a:spcAft>
                <a:spcPts val="0"/>
              </a:spcAft>
              <a:buClr>
                <a:schemeClr val="dk1"/>
              </a:buClr>
              <a:buSzPts val="780"/>
              <a:buFont typeface="Arial"/>
              <a:buNone/>
            </a:pPr>
            <a:endParaRPr lang="en-US" sz="1200" b="1" dirty="0">
              <a:latin typeface="Arial"/>
              <a:ea typeface="Arial"/>
              <a:cs typeface="Arial"/>
              <a:sym typeface="Arial"/>
            </a:endParaRPr>
          </a:p>
          <a:p>
            <a:pPr marL="0" lvl="0" indent="0" algn="l" rtl="0">
              <a:lnSpc>
                <a:spcPct val="90000"/>
              </a:lnSpc>
              <a:spcBef>
                <a:spcPts val="0"/>
              </a:spcBef>
              <a:spcAft>
                <a:spcPts val="0"/>
              </a:spcAft>
              <a:buNone/>
            </a:pPr>
            <a:endParaRPr lang="en-US" dirty="0"/>
          </a:p>
          <a:p>
            <a:endParaRPr lang="en-US" dirty="0"/>
          </a:p>
        </p:txBody>
      </p:sp>
      <p:sp>
        <p:nvSpPr>
          <p:cNvPr id="4" name="Slide Number Placeholder 3">
            <a:extLst>
              <a:ext uri="{FF2B5EF4-FFF2-40B4-BE49-F238E27FC236}">
                <a16:creationId xmlns:a16="http://schemas.microsoft.com/office/drawing/2014/main" id="{200077E6-CB49-DC38-512A-A0347678BA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20563601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8">
          <a:extLst>
            <a:ext uri="{FF2B5EF4-FFF2-40B4-BE49-F238E27FC236}">
              <a16:creationId xmlns:a16="http://schemas.microsoft.com/office/drawing/2014/main" id="{B936AC2F-1720-9762-DED7-EFD237BA7892}"/>
            </a:ext>
          </a:extLst>
        </p:cNvPr>
        <p:cNvGrpSpPr/>
        <p:nvPr/>
      </p:nvGrpSpPr>
      <p:grpSpPr>
        <a:xfrm>
          <a:off x="0" y="0"/>
          <a:ext cx="0" cy="0"/>
          <a:chOff x="0" y="0"/>
          <a:chExt cx="0" cy="0"/>
        </a:xfrm>
      </p:grpSpPr>
      <p:sp>
        <p:nvSpPr>
          <p:cNvPr id="3509" name="Google Shape;3509;p48:notes">
            <a:extLst>
              <a:ext uri="{FF2B5EF4-FFF2-40B4-BE49-F238E27FC236}">
                <a16:creationId xmlns:a16="http://schemas.microsoft.com/office/drawing/2014/main" id="{168E1C11-9FA0-8D0E-EC02-226ED9E05086}"/>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10" name="Google Shape;3510;p48:notes">
            <a:extLst>
              <a:ext uri="{FF2B5EF4-FFF2-40B4-BE49-F238E27FC236}">
                <a16:creationId xmlns:a16="http://schemas.microsoft.com/office/drawing/2014/main" id="{A7628F6D-CCB0-63BD-3BA7-4A1370A9EBFE}"/>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Key Message:</a:t>
            </a:r>
          </a:p>
          <a:p>
            <a:pPr marL="0" lvl="0" indent="0" algn="l" rtl="0">
              <a:spcBef>
                <a:spcPts val="0"/>
              </a:spcBef>
              <a:spcAft>
                <a:spcPts val="0"/>
              </a:spcAft>
              <a:buNone/>
            </a:pPr>
            <a:endParaRPr lang="en-US"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Talk Track: </a:t>
            </a:r>
            <a:endParaRPr b="1" dirty="0">
              <a:latin typeface="Arial" panose="020B0604020202020204" pitchFamily="34" charset="0"/>
            </a:endParaRPr>
          </a:p>
          <a:p>
            <a:endParaRPr lang="en-US" dirty="0"/>
          </a:p>
          <a:p>
            <a:r>
              <a:rPr lang="en-US" dirty="0"/>
              <a:t>Now, we will examine the primary components of VCF that enable a modern private cloud.</a:t>
            </a:r>
          </a:p>
          <a:p>
            <a:pPr marL="0" lvl="0" indent="0" algn="l" rtl="0">
              <a:spcBef>
                <a:spcPts val="0"/>
              </a:spcBef>
              <a:spcAft>
                <a:spcPts val="0"/>
              </a:spcAft>
              <a:buNone/>
            </a:pPr>
            <a:endParaRPr sz="1200"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Notes:</a:t>
            </a:r>
            <a:endParaRPr b="1" dirty="0">
              <a:latin typeface="Arial" panose="020B0604020202020204" pitchFamily="34" charset="0"/>
            </a:endParaRPr>
          </a:p>
          <a:p>
            <a:pPr marL="0" lvl="0" indent="0" algn="l" rtl="0">
              <a:spcBef>
                <a:spcPts val="0"/>
              </a:spcBef>
              <a:spcAft>
                <a:spcPts val="0"/>
              </a:spcAft>
              <a:buNone/>
            </a:pPr>
            <a:endParaRPr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AU" sz="1200" b="1" u="none" strike="noStrike" dirty="0">
                <a:solidFill>
                  <a:schemeClr val="dk1"/>
                </a:solidFill>
                <a:latin typeface="Arial" panose="020B0604020202020204" pitchFamily="34" charset="0"/>
                <a:sym typeface="Arial"/>
              </a:rPr>
              <a:t>Resources:</a:t>
            </a:r>
            <a:endParaRPr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endParaRPr dirty="0">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p:txBody>
      </p:sp>
      <p:sp>
        <p:nvSpPr>
          <p:cNvPr id="3511" name="Google Shape;3511;p48:notes">
            <a:extLst>
              <a:ext uri="{FF2B5EF4-FFF2-40B4-BE49-F238E27FC236}">
                <a16:creationId xmlns:a16="http://schemas.microsoft.com/office/drawing/2014/main" id="{27945FDF-992B-84EE-8B06-D3FA7DC8D274}"/>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u="none" strike="noStrike" cap="none">
                <a:solidFill>
                  <a:srgbClr val="717074"/>
                </a:solidFill>
                <a:sym typeface="Arial"/>
              </a:rPr>
              <a:t>26</a:t>
            </a:fld>
            <a:endParaRPr sz="1200" u="none" strike="noStrike" cap="none" dirty="0">
              <a:solidFill>
                <a:srgbClr val="717074"/>
              </a:solidFill>
              <a:sym typeface="Arial"/>
            </a:endParaRPr>
          </a:p>
        </p:txBody>
      </p:sp>
    </p:spTree>
    <p:extLst>
      <p:ext uri="{BB962C8B-B14F-4D97-AF65-F5344CB8AC3E}">
        <p14:creationId xmlns:p14="http://schemas.microsoft.com/office/powerpoint/2010/main" val="22447652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703DA-DFA9-5FC5-1F16-6C3D73B06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971A91-EBF0-8515-1A45-9913EAA80A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47FFB-4189-F37D-FE04-0C8BB58EE8F9}"/>
              </a:ext>
            </a:extLst>
          </p:cNvPr>
          <p:cNvSpPr>
            <a:spLocks noGrp="1"/>
          </p:cNvSpPr>
          <p:nvPr>
            <p:ph type="body" idx="1"/>
          </p:nvPr>
        </p:nvSpPr>
        <p:spPr/>
        <p:txBody>
          <a:bodyPr>
            <a:normAutofit fontScale="62500" lnSpcReduction="20000"/>
          </a:bodyPr>
          <a:lstStyle/>
          <a:p>
            <a:pPr marL="0" marR="0" lvl="0" indent="0" algn="l" defTabSz="914400" rtl="0" eaLnBrk="1" fontAlgn="auto" latinLnBrk="0" hangingPunct="1">
              <a:lnSpc>
                <a:spcPct val="135000"/>
              </a:lnSpc>
              <a:spcBef>
                <a:spcPts val="0"/>
              </a:spcBef>
              <a:spcAft>
                <a:spcPts val="300"/>
              </a:spcAft>
              <a:buClrTx/>
              <a:buSzTx/>
              <a:buFont typeface="Arial" panose="020B0604020202020204" pitchFamily="34" charset="0"/>
              <a:buNone/>
              <a:tabLst/>
              <a:defRPr/>
            </a:pPr>
            <a:r>
              <a:rPr lang="en-US" sz="1800" b="1" i="0" dirty="0">
                <a:solidFill>
                  <a:srgbClr val="000000"/>
                </a:solidFill>
                <a:effectLst/>
                <a:ea typeface="Metropolis Light" panose="00000400000000000000" pitchFamily="2" charset="0"/>
                <a:cs typeface="Times New Roman" panose="02020603050405020304" pitchFamily="18" charset="0"/>
              </a:rPr>
              <a:t>Presenter Note:  This slide contains animation</a:t>
            </a:r>
          </a:p>
          <a:p>
            <a:pPr marL="0" marR="0" lvl="0" indent="0" algn="l" defTabSz="914400" rtl="0" eaLnBrk="1" fontAlgn="auto" latinLnBrk="0" hangingPunct="1">
              <a:lnSpc>
                <a:spcPct val="135000"/>
              </a:lnSpc>
              <a:spcBef>
                <a:spcPts val="0"/>
              </a:spcBef>
              <a:spcAft>
                <a:spcPts val="300"/>
              </a:spcAft>
              <a:buClrTx/>
              <a:buSzTx/>
              <a:buFont typeface="Arial" panose="020B0604020202020204" pitchFamily="34" charset="0"/>
              <a:buNone/>
              <a:tabLst/>
              <a:defRPr/>
            </a:pPr>
            <a:endParaRPr lang="en-US" sz="1800" dirty="0">
              <a:solidFill>
                <a:srgbClr val="000000"/>
              </a:solidFill>
              <a:effectLst/>
              <a:ea typeface="Metropolis Light" panose="00000400000000000000" pitchFamily="2" charset="0"/>
              <a:cs typeface="Times New Roman" panose="02020603050405020304" pitchFamily="18" charset="0"/>
            </a:endParaRPr>
          </a:p>
          <a:p>
            <a:pPr marL="0" marR="0" lvl="0" indent="0" algn="l" defTabSz="914400" rtl="0" eaLnBrk="1" fontAlgn="auto" latinLnBrk="0" hangingPunct="1">
              <a:lnSpc>
                <a:spcPct val="135000"/>
              </a:lnSpc>
              <a:spcBef>
                <a:spcPts val="0"/>
              </a:spcBef>
              <a:spcAft>
                <a:spcPts val="300"/>
              </a:spcAft>
              <a:buClrTx/>
              <a:buSzTx/>
              <a:buFont typeface="Arial" panose="020B0604020202020204" pitchFamily="34" charset="0"/>
              <a:buNone/>
              <a:tabLst/>
              <a:defRPr/>
            </a:pPr>
            <a:r>
              <a:rPr lang="en-US" sz="1800" b="1" dirty="0">
                <a:solidFill>
                  <a:srgbClr val="000000"/>
                </a:solidFill>
                <a:effectLst/>
                <a:ea typeface="Metropolis Light" panose="00000400000000000000" pitchFamily="2" charset="0"/>
                <a:cs typeface="Times New Roman" panose="02020603050405020304" pitchFamily="18" charset="0"/>
              </a:rPr>
              <a:t>Key Message:</a:t>
            </a:r>
            <a:endParaRPr lang="en-US" sz="1800" dirty="0">
              <a:solidFill>
                <a:srgbClr val="000000"/>
              </a:solidFill>
              <a:effectLst/>
              <a:ea typeface="Metropolis Light" panose="00000400000000000000" pitchFamily="2" charset="0"/>
              <a:cs typeface="Times New Roman" panose="02020603050405020304" pitchFamily="18" charset="0"/>
            </a:endParaRPr>
          </a:p>
          <a:p>
            <a:pPr marL="0" marR="0" lvl="0" indent="0" algn="l" defTabSz="914400" rtl="0" eaLnBrk="1" fontAlgn="auto" latinLnBrk="0" hangingPunct="1">
              <a:lnSpc>
                <a:spcPct val="135000"/>
              </a:lnSpc>
              <a:spcBef>
                <a:spcPts val="0"/>
              </a:spcBef>
              <a:spcAft>
                <a:spcPts val="300"/>
              </a:spcAft>
              <a:buClrTx/>
              <a:buSzTx/>
              <a:buFont typeface="Arial" panose="020B0604020202020204" pitchFamily="34" charset="0"/>
              <a:buNone/>
              <a:tabLst/>
              <a:defRPr/>
            </a:pPr>
            <a:r>
              <a:rPr lang="en-US" sz="1800" dirty="0">
                <a:solidFill>
                  <a:srgbClr val="000000"/>
                </a:solidFill>
                <a:effectLst/>
                <a:ea typeface="Metropolis Light" panose="00000400000000000000" pitchFamily="2" charset="0"/>
                <a:cs typeface="Times New Roman" panose="02020603050405020304" pitchFamily="18" charset="0"/>
              </a:rPr>
              <a:t>VMware vSphere provides the essential, robust, and versatile compute engine for VMware Cloud Foundation, enabling both traditional and containerized workloads while facilitating seamless integration across the entire private cloud platform.</a:t>
            </a:r>
          </a:p>
          <a:p>
            <a:pPr marL="0" marR="0" lvl="0" indent="0" algn="l" defTabSz="914400" rtl="0" eaLnBrk="1" fontAlgn="auto" latinLnBrk="0" hangingPunct="1">
              <a:lnSpc>
                <a:spcPct val="135000"/>
              </a:lnSpc>
              <a:spcBef>
                <a:spcPts val="0"/>
              </a:spcBef>
              <a:spcAft>
                <a:spcPts val="300"/>
              </a:spcAft>
              <a:buClrTx/>
              <a:buSzTx/>
              <a:buFont typeface="Arial" panose="020B0604020202020204" pitchFamily="34" charset="0"/>
              <a:buNone/>
              <a:tabLst/>
              <a:defRPr/>
            </a:pPr>
            <a:endParaRPr lang="en-US" sz="1800" dirty="0">
              <a:solidFill>
                <a:srgbClr val="000000"/>
              </a:solidFill>
              <a:effectLst/>
              <a:ea typeface="Metropolis Light" panose="00000400000000000000" pitchFamily="2" charset="0"/>
              <a:cs typeface="Times New Roman" panose="02020603050405020304" pitchFamily="18" charset="0"/>
            </a:endParaRPr>
          </a:p>
          <a:p>
            <a:pPr marL="0" marR="0" lvl="0" indent="0" algn="l" defTabSz="914400" rtl="0" eaLnBrk="1" fontAlgn="auto" latinLnBrk="0" hangingPunct="1">
              <a:lnSpc>
                <a:spcPct val="135000"/>
              </a:lnSpc>
              <a:spcBef>
                <a:spcPts val="0"/>
              </a:spcBef>
              <a:spcAft>
                <a:spcPts val="300"/>
              </a:spcAft>
              <a:buClrTx/>
              <a:buSzTx/>
              <a:buFont typeface="Arial" panose="020B0604020202020204" pitchFamily="34" charset="0"/>
              <a:buNone/>
              <a:tabLst/>
              <a:defRPr/>
            </a:pPr>
            <a:r>
              <a:rPr lang="en-US" sz="1800" b="1" dirty="0">
                <a:solidFill>
                  <a:srgbClr val="000000"/>
                </a:solidFill>
                <a:effectLst/>
                <a:ea typeface="Metropolis Light" panose="00000400000000000000" pitchFamily="2" charset="0"/>
                <a:cs typeface="Times New Roman" panose="02020603050405020304" pitchFamily="18" charset="0"/>
              </a:rPr>
              <a:t>Talk Track:</a:t>
            </a:r>
            <a:endParaRPr lang="en-US" sz="1800" dirty="0">
              <a:solidFill>
                <a:srgbClr val="000000"/>
              </a:solidFill>
              <a:effectLst/>
              <a:ea typeface="Metropolis Light" panose="00000400000000000000" pitchFamily="2" charset="0"/>
              <a:cs typeface="Times New Roman" panose="02020603050405020304" pitchFamily="18" charset="0"/>
            </a:endParaRPr>
          </a:p>
          <a:p>
            <a:pPr marL="0" marR="0" lvl="0" indent="0" algn="l" defTabSz="914400" rtl="0" eaLnBrk="1" fontAlgn="auto" latinLnBrk="0" hangingPunct="1">
              <a:lnSpc>
                <a:spcPct val="135000"/>
              </a:lnSpc>
              <a:spcBef>
                <a:spcPts val="0"/>
              </a:spcBef>
              <a:spcAft>
                <a:spcPts val="300"/>
              </a:spcAft>
              <a:buClrTx/>
              <a:buSzTx/>
              <a:buFont typeface="Arial" panose="020B0604020202020204" pitchFamily="34" charset="0"/>
              <a:buNone/>
              <a:tabLst/>
              <a:defRPr/>
            </a:pPr>
            <a:r>
              <a:rPr lang="en-US" sz="1800" dirty="0">
                <a:solidFill>
                  <a:srgbClr val="000000"/>
                </a:solidFill>
                <a:effectLst/>
                <a:ea typeface="Metropolis Light" panose="00000400000000000000" pitchFamily="2" charset="0"/>
                <a:cs typeface="Times New Roman" panose="02020603050405020304" pitchFamily="18" charset="0"/>
              </a:rPr>
              <a:t>Think of vSphere as the core engine for compute within VMware Cloud Foundation (VCF). It's the leading technology that takes your physical server resources and pools them together, creating a flexible base for your applications. Within VCF, vSphere provides the essential layer for virtual machines and even modern containerized applications using Kubernetes. It includes the hypervisor that runs directly on servers and vCenter Server for central management, helping VCF efficiently use compute resources for optimal application speed and scalability. Importantly, vSphere works seamlessly with VCF's storage and networking, allowing for automated management of your entire infrastructure. In short, vSphere is the proven, reliable foundation powering VCF's compute, making running your most demanding workloads more straightforward.</a:t>
            </a:r>
          </a:p>
          <a:p>
            <a:pPr marL="0" marR="0" lvl="0" indent="0" algn="l" defTabSz="914400" rtl="0" eaLnBrk="1" fontAlgn="auto" latinLnBrk="0" hangingPunct="1">
              <a:lnSpc>
                <a:spcPct val="135000"/>
              </a:lnSpc>
              <a:spcBef>
                <a:spcPts val="0"/>
              </a:spcBef>
              <a:spcAft>
                <a:spcPts val="300"/>
              </a:spcAft>
              <a:buClrTx/>
              <a:buSzTx/>
              <a:buFont typeface="Arial" panose="020B0604020202020204" pitchFamily="34" charset="0"/>
              <a:buNone/>
              <a:tabLst/>
              <a:defRPr/>
            </a:pPr>
            <a:endParaRPr lang="en-US" sz="1800" dirty="0">
              <a:solidFill>
                <a:srgbClr val="000000"/>
              </a:solidFill>
              <a:effectLst/>
              <a:ea typeface="Metropolis Light" panose="00000400000000000000" pitchFamily="2" charset="0"/>
              <a:cs typeface="Times New Roman" panose="02020603050405020304" pitchFamily="18" charset="0"/>
            </a:endParaRPr>
          </a:p>
          <a:p>
            <a:pPr marL="0" lvl="0" indent="0" algn="l" rtl="0">
              <a:spcBef>
                <a:spcPts val="0"/>
              </a:spcBef>
              <a:spcAft>
                <a:spcPts val="0"/>
              </a:spcAft>
              <a:buNone/>
            </a:pPr>
            <a:r>
              <a:rPr lang="en-US" sz="1800" b="1" u="none" strike="noStrike" dirty="0">
                <a:solidFill>
                  <a:schemeClr val="dk1"/>
                </a:solidFill>
                <a:latin typeface="Arial" panose="020B0604020202020204" pitchFamily="34" charset="0"/>
                <a:sym typeface="Arial"/>
              </a:rPr>
              <a:t>Notes:</a:t>
            </a:r>
            <a:endParaRPr lang="en-US" sz="1800" b="1" dirty="0">
              <a:latin typeface="Arial" panose="020B0604020202020204" pitchFamily="34" charset="0"/>
            </a:endParaRPr>
          </a:p>
          <a:p>
            <a:pPr marL="0" lvl="0" indent="0" algn="l" rtl="0">
              <a:spcBef>
                <a:spcPts val="0"/>
              </a:spcBef>
              <a:spcAft>
                <a:spcPts val="0"/>
              </a:spcAft>
              <a:buNone/>
            </a:pPr>
            <a:endParaRPr lang="en-US" sz="18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800" b="1" u="none" strike="noStrike" dirty="0">
                <a:solidFill>
                  <a:schemeClr val="dk1"/>
                </a:solidFill>
                <a:latin typeface="Arial" panose="020B0604020202020204" pitchFamily="34" charset="0"/>
                <a:sym typeface="Arial"/>
              </a:rPr>
              <a:t>Resources:</a:t>
            </a:r>
          </a:p>
          <a:p>
            <a:pPr marL="0" marR="0" lvl="0" indent="0" algn="l" defTabSz="914400" rtl="0" eaLnBrk="1" fontAlgn="auto" latinLnBrk="0" hangingPunct="1">
              <a:lnSpc>
                <a:spcPct val="135000"/>
              </a:lnSpc>
              <a:spcBef>
                <a:spcPts val="0"/>
              </a:spcBef>
              <a:spcAft>
                <a:spcPts val="300"/>
              </a:spcAft>
              <a:buClrTx/>
              <a:buSzTx/>
              <a:buFont typeface="Arial" panose="020B0604020202020204" pitchFamily="34" charset="0"/>
              <a:buNone/>
              <a:tabLst/>
              <a:defRPr/>
            </a:pPr>
            <a:endParaRPr lang="en-US" sz="1800" dirty="0">
              <a:solidFill>
                <a:srgbClr val="000000"/>
              </a:solidFill>
              <a:effectLst/>
              <a:ea typeface="Metropolis Light" panose="00000400000000000000" pitchFamily="2"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49B6684-275A-206B-1A51-87713064D2D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19414508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b="1" dirty="0">
                <a:solidFill>
                  <a:schemeClr val="tx1"/>
                </a:solidFill>
                <a:latin typeface="+mn-lt"/>
              </a:rPr>
              <a:t>Key Message:</a:t>
            </a:r>
            <a:endParaRPr lang="en-US" dirty="0">
              <a:solidFill>
                <a:schemeClr val="tx1"/>
              </a:solidFill>
              <a:latin typeface="+mn-lt"/>
            </a:endParaRPr>
          </a:p>
          <a:p>
            <a:r>
              <a:rPr lang="en-US" dirty="0">
                <a:solidFill>
                  <a:schemeClr val="tx1"/>
                </a:solidFill>
                <a:latin typeface="+mn-lt"/>
              </a:rPr>
              <a:t>VMware vSphere has evolved from a foundational virtualization platform to the central compute engine within VMware Cloud Foundation with features like automated migration, embedded storage, virtualized networking, robust security, and simplified operations.</a:t>
            </a:r>
          </a:p>
          <a:p>
            <a:endParaRPr lang="en-US" dirty="0">
              <a:solidFill>
                <a:schemeClr val="tx1"/>
              </a:solidFill>
              <a:latin typeface="+mn-lt"/>
            </a:endParaRPr>
          </a:p>
          <a:p>
            <a:r>
              <a:rPr lang="en-US" b="1" dirty="0">
                <a:solidFill>
                  <a:schemeClr val="tx1"/>
                </a:solidFill>
                <a:latin typeface="+mn-lt"/>
              </a:rPr>
              <a:t>Talk Track:</a:t>
            </a:r>
            <a:endParaRPr lang="en-US" dirty="0">
              <a:solidFill>
                <a:schemeClr val="tx1"/>
              </a:solidFill>
              <a:latin typeface="+mn-lt"/>
            </a:endParaRPr>
          </a:p>
          <a:p>
            <a:r>
              <a:rPr lang="en-US" dirty="0">
                <a:solidFill>
                  <a:schemeClr val="tx1"/>
                </a:solidFill>
                <a:latin typeface="+mn-lt"/>
              </a:rPr>
              <a:t>vSphere's evolution is a testament to VMware's commitment to continuous innovation, culminating in its pivotal role within VMware Cloud Foundation. From its foundational beginnings to its current state, vSphere has consistently pushed the boundaries of virtualization, enabling increasingly agile and scalable IT environments.</a:t>
            </a:r>
          </a:p>
          <a:p>
            <a:endParaRPr lang="en-US" dirty="0">
              <a:solidFill>
                <a:schemeClr val="tx1"/>
              </a:solidFill>
              <a:latin typeface="+mn-lt"/>
            </a:endParaRPr>
          </a:p>
          <a:p>
            <a:r>
              <a:rPr lang="en-US" dirty="0">
                <a:solidFill>
                  <a:schemeClr val="tx1"/>
                </a:solidFill>
                <a:latin typeface="+mn-lt"/>
              </a:rPr>
              <a:t>vSphere unifies core virtualization technologies with features like automated live migrations, resource pooling, and high availability, establishing a robust and resilient infrastructure foundation. In 2012, VMware articulated the Software-Defined Data Center vision, aiming to virtualize all data center elements. This vision, championed by Paul Maritz and later by Pat Gelsinger, set the stage for deeper integration and automation.</a:t>
            </a:r>
          </a:p>
          <a:p>
            <a:endParaRPr lang="en-US" dirty="0">
              <a:solidFill>
                <a:schemeClr val="tx1"/>
              </a:solidFill>
              <a:latin typeface="+mn-lt"/>
            </a:endParaRPr>
          </a:p>
          <a:p>
            <a:r>
              <a:rPr lang="en-US" dirty="0">
                <a:solidFill>
                  <a:schemeClr val="tx1"/>
                </a:solidFill>
                <a:latin typeface="+mn-lt"/>
              </a:rPr>
              <a:t>2014 saw significant strides with the introduction of vSAN, which embedded storage into the hypervisor, and the collaboration with EMC on EVO: RAIL, simplifying hyperconverged infrastructure deployments. These advancements further solidified vSphere’s role within integrated infrastructure.</a:t>
            </a:r>
          </a:p>
          <a:p>
            <a:endParaRPr lang="en-US" dirty="0">
              <a:solidFill>
                <a:schemeClr val="tx1"/>
              </a:solidFill>
              <a:latin typeface="+mn-lt"/>
            </a:endParaRPr>
          </a:p>
          <a:p>
            <a:r>
              <a:rPr lang="en-US" dirty="0">
                <a:solidFill>
                  <a:schemeClr val="tx1"/>
                </a:solidFill>
                <a:latin typeface="+mn-lt"/>
              </a:rPr>
              <a:t>The cloud era accelerated in 2017 with VMware Cloud on AWS, seamlessly extending on-premises vSphere environments to the public cloud. Concurrently, VMware Cloud Foundation 2.0 was released, integrating vSphere, vSAN, NSX, and the vRealize Suite to offer a unified experience.</a:t>
            </a:r>
          </a:p>
          <a:p>
            <a:endParaRPr lang="en-US" dirty="0">
              <a:solidFill>
                <a:schemeClr val="tx1"/>
              </a:solidFill>
              <a:latin typeface="+mn-lt"/>
            </a:endParaRPr>
          </a:p>
          <a:p>
            <a:r>
              <a:rPr lang="en-US" dirty="0">
                <a:solidFill>
                  <a:schemeClr val="tx1"/>
                </a:solidFill>
                <a:latin typeface="+mn-lt"/>
              </a:rPr>
              <a:t>Today, with the latest release of VMware Cloud Foundation, vSphere remains the core compute engine within a fully integrated platform that includes networking, storage, management, and security. Notably, importing existing infrastructures into VCF significantly enhances its versatility and simplifies migration. vSphere's evolution reflects VMware's ongoing commitment to delivering a comprehensive, future-proof private cloud.</a:t>
            </a:r>
          </a:p>
          <a:p>
            <a:endParaRPr lang="en-US" dirty="0">
              <a:solidFill>
                <a:schemeClr val="tx1"/>
              </a:solidFill>
              <a:latin typeface="+mn-lt"/>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Notes:</a:t>
            </a:r>
            <a:endParaRPr lang="en-US" sz="1200" b="1" dirty="0">
              <a:latin typeface="Arial" panose="020B0604020202020204" pitchFamily="34" charset="0"/>
            </a:endParaRPr>
          </a:p>
          <a:p>
            <a:pPr marL="0" lvl="0" indent="0" algn="l" rtl="0">
              <a:spcBef>
                <a:spcPts val="0"/>
              </a:spcBef>
              <a:spcAft>
                <a:spcPts val="0"/>
              </a:spcAft>
              <a:buNone/>
            </a:pPr>
            <a:endParaRPr lang="en-US"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Resources:</a:t>
            </a:r>
          </a:p>
          <a:p>
            <a:endParaRPr lang="en-US" dirty="0">
              <a:solidFill>
                <a:schemeClr val="tx1"/>
              </a:solidFill>
              <a:latin typeface="+mn-lt"/>
            </a:endParaRPr>
          </a:p>
        </p:txBody>
      </p:sp>
      <p:sp>
        <p:nvSpPr>
          <p:cNvPr id="4" name="Slide Number Placeholder 3"/>
          <p:cNvSpPr>
            <a:spLocks noGrp="1"/>
          </p:cNvSpPr>
          <p:nvPr>
            <p:ph type="sldNum" sz="quarter" idx="5"/>
          </p:nvPr>
        </p:nvSpPr>
        <p:spPr/>
        <p:txBody>
          <a:bodyPr/>
          <a:lstStyle/>
          <a:p>
            <a:fld id="{CF3052E8-E2C0-AF49-B081-7574F821A970}" type="slidenum">
              <a:rPr lang="en-US" smtClean="0"/>
              <a:t>28</a:t>
            </a:fld>
            <a:endParaRPr lang="en-US"/>
          </a:p>
        </p:txBody>
      </p:sp>
    </p:spTree>
    <p:extLst>
      <p:ext uri="{BB962C8B-B14F-4D97-AF65-F5344CB8AC3E}">
        <p14:creationId xmlns:p14="http://schemas.microsoft.com/office/powerpoint/2010/main" val="14473152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8">
          <a:extLst>
            <a:ext uri="{FF2B5EF4-FFF2-40B4-BE49-F238E27FC236}">
              <a16:creationId xmlns:a16="http://schemas.microsoft.com/office/drawing/2014/main" id="{55E3989C-F6F8-EFF5-F565-915DB7347550}"/>
            </a:ext>
          </a:extLst>
        </p:cNvPr>
        <p:cNvGrpSpPr/>
        <p:nvPr/>
      </p:nvGrpSpPr>
      <p:grpSpPr>
        <a:xfrm>
          <a:off x="0" y="0"/>
          <a:ext cx="0" cy="0"/>
          <a:chOff x="0" y="0"/>
          <a:chExt cx="0" cy="0"/>
        </a:xfrm>
      </p:grpSpPr>
      <p:sp>
        <p:nvSpPr>
          <p:cNvPr id="3509" name="Google Shape;3509;p48:notes">
            <a:extLst>
              <a:ext uri="{FF2B5EF4-FFF2-40B4-BE49-F238E27FC236}">
                <a16:creationId xmlns:a16="http://schemas.microsoft.com/office/drawing/2014/main" id="{E06C79A4-CE6E-D697-4D57-3AD2A1643DA0}"/>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10" name="Google Shape;3510;p48:notes">
            <a:extLst>
              <a:ext uri="{FF2B5EF4-FFF2-40B4-BE49-F238E27FC236}">
                <a16:creationId xmlns:a16="http://schemas.microsoft.com/office/drawing/2014/main" id="{85F679F5-EA86-C573-E2F8-9A970C12BF4A}"/>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Key Message:</a:t>
            </a:r>
          </a:p>
          <a:p>
            <a:pPr marL="0" lvl="0" indent="0" algn="l" rtl="0">
              <a:spcBef>
                <a:spcPts val="0"/>
              </a:spcBef>
              <a:spcAft>
                <a:spcPts val="0"/>
              </a:spcAft>
              <a:buNone/>
            </a:pPr>
            <a:endParaRPr lang="en-US"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Talk Track: </a:t>
            </a:r>
            <a:endParaRPr b="1" dirty="0">
              <a:latin typeface="Arial" panose="020B0604020202020204" pitchFamily="34" charset="0"/>
            </a:endParaRPr>
          </a:p>
          <a:p>
            <a:pPr marL="0" lvl="0" indent="0" algn="l" rtl="0">
              <a:spcBef>
                <a:spcPts val="0"/>
              </a:spcBef>
              <a:spcAft>
                <a:spcPts val="0"/>
              </a:spcAft>
              <a:buNone/>
            </a:pPr>
            <a:br>
              <a:rPr lang="en-US" sz="1200" u="none" strike="noStrike" dirty="0">
                <a:solidFill>
                  <a:schemeClr val="dk1"/>
                </a:solidFill>
                <a:latin typeface="Arial" panose="020B0604020202020204" pitchFamily="34" charset="0"/>
                <a:sym typeface="Arial"/>
              </a:rPr>
            </a:br>
            <a:r>
              <a:rPr lang="en-US" sz="1200" u="none" strike="noStrike" dirty="0">
                <a:solidFill>
                  <a:schemeClr val="dk1"/>
                </a:solidFill>
                <a:latin typeface="Arial" panose="020B0604020202020204" pitchFamily="34" charset="0"/>
                <a:sym typeface="Arial"/>
              </a:rPr>
              <a:t>Now, let’s take a look at </a:t>
            </a:r>
            <a:r>
              <a:rPr lang="en-AU" sz="1200" u="none" strike="noStrike" dirty="0">
                <a:solidFill>
                  <a:schemeClr val="dk1"/>
                </a:solidFill>
                <a:latin typeface="Arial" panose="020B0604020202020204" pitchFamily="34" charset="0"/>
                <a:sym typeface="Arial"/>
              </a:rPr>
              <a:t>how storage is configured and utilized within VMware Cloud Foundation.</a:t>
            </a:r>
            <a:endParaRPr dirty="0">
              <a:latin typeface="Arial" panose="020B0604020202020204" pitchFamily="34" charset="0"/>
            </a:endParaRPr>
          </a:p>
          <a:p>
            <a:pPr marL="0" lvl="0" indent="0" algn="l" rtl="0">
              <a:spcBef>
                <a:spcPts val="0"/>
              </a:spcBef>
              <a:spcAft>
                <a:spcPts val="0"/>
              </a:spcAft>
              <a:buNone/>
            </a:pPr>
            <a:endParaRPr sz="1200"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Notes:</a:t>
            </a:r>
            <a:endParaRPr b="1" dirty="0">
              <a:latin typeface="Arial" panose="020B0604020202020204" pitchFamily="34" charset="0"/>
            </a:endParaRPr>
          </a:p>
          <a:p>
            <a:pPr marL="0" lvl="0" indent="0" algn="l" rtl="0">
              <a:spcBef>
                <a:spcPts val="0"/>
              </a:spcBef>
              <a:spcAft>
                <a:spcPts val="0"/>
              </a:spcAft>
              <a:buNone/>
            </a:pPr>
            <a:endParaRPr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AU" sz="1200" b="1" u="none" strike="noStrike" dirty="0">
                <a:solidFill>
                  <a:schemeClr val="dk1"/>
                </a:solidFill>
                <a:latin typeface="Arial" panose="020B0604020202020204" pitchFamily="34" charset="0"/>
                <a:sym typeface="Arial"/>
              </a:rPr>
              <a:t>Resources:</a:t>
            </a:r>
            <a:endParaRPr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endParaRPr dirty="0">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p:txBody>
      </p:sp>
      <p:sp>
        <p:nvSpPr>
          <p:cNvPr id="3511" name="Google Shape;3511;p48:notes">
            <a:extLst>
              <a:ext uri="{FF2B5EF4-FFF2-40B4-BE49-F238E27FC236}">
                <a16:creationId xmlns:a16="http://schemas.microsoft.com/office/drawing/2014/main" id="{460484F6-0E1A-52A5-2711-682A1F5DE7D5}"/>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u="none" strike="noStrike" cap="none">
                <a:solidFill>
                  <a:srgbClr val="717074"/>
                </a:solidFill>
                <a:sym typeface="Arial"/>
              </a:rPr>
              <a:t>29</a:t>
            </a:fld>
            <a:endParaRPr sz="1200" u="none" strike="noStrike" cap="none" dirty="0">
              <a:solidFill>
                <a:srgbClr val="717074"/>
              </a:solidFill>
              <a:sym typeface="Arial"/>
            </a:endParaRPr>
          </a:p>
        </p:txBody>
      </p:sp>
    </p:spTree>
    <p:extLst>
      <p:ext uri="{BB962C8B-B14F-4D97-AF65-F5344CB8AC3E}">
        <p14:creationId xmlns:p14="http://schemas.microsoft.com/office/powerpoint/2010/main" val="20119700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4">
          <a:extLst>
            <a:ext uri="{FF2B5EF4-FFF2-40B4-BE49-F238E27FC236}">
              <a16:creationId xmlns:a16="http://schemas.microsoft.com/office/drawing/2014/main" id="{35A4C6E9-3F71-AE5A-6ACE-360AD93F2289}"/>
            </a:ext>
          </a:extLst>
        </p:cNvPr>
        <p:cNvGrpSpPr/>
        <p:nvPr/>
      </p:nvGrpSpPr>
      <p:grpSpPr>
        <a:xfrm>
          <a:off x="0" y="0"/>
          <a:ext cx="0" cy="0"/>
          <a:chOff x="0" y="0"/>
          <a:chExt cx="0" cy="0"/>
        </a:xfrm>
      </p:grpSpPr>
      <p:sp>
        <p:nvSpPr>
          <p:cNvPr id="3515" name="Google Shape;3515;p49:notes">
            <a:extLst>
              <a:ext uri="{FF2B5EF4-FFF2-40B4-BE49-F238E27FC236}">
                <a16:creationId xmlns:a16="http://schemas.microsoft.com/office/drawing/2014/main" id="{5F245D28-50CC-4F60-F4BA-6030730A077A}"/>
              </a:ext>
            </a:extLst>
          </p:cNvPr>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16" name="Google Shape;3516;p49:notes">
            <a:extLst>
              <a:ext uri="{FF2B5EF4-FFF2-40B4-BE49-F238E27FC236}">
                <a16:creationId xmlns:a16="http://schemas.microsoft.com/office/drawing/2014/main" id="{61AF3118-D888-AC4A-FE7D-33C55D132D90}"/>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80000"/>
              </a:lnSpc>
              <a:spcBef>
                <a:spcPts val="0"/>
              </a:spcBef>
              <a:spcAft>
                <a:spcPts val="0"/>
              </a:spcAft>
              <a:buClr>
                <a:schemeClr val="dk1"/>
              </a:buClr>
              <a:buSzPts val="480"/>
              <a:buFont typeface="Arial"/>
              <a:buNone/>
            </a:pPr>
            <a:r>
              <a:rPr lang="en-US" sz="480" b="1" u="none" strike="noStrike" dirty="0">
                <a:solidFill>
                  <a:schemeClr val="dk1"/>
                </a:solidFill>
                <a:latin typeface="Arial" panose="020B0604020202020204" pitchFamily="34" charset="0"/>
                <a:sym typeface="Arial"/>
              </a:rPr>
              <a:t>Presenter note – this slide contains animation</a:t>
            </a:r>
            <a:endParaRPr b="1" dirty="0">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endParaRPr sz="480" b="1" dirty="0">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r>
              <a:rPr lang="en-US" sz="480" b="1" dirty="0">
                <a:latin typeface="Arial" panose="020B0604020202020204" pitchFamily="34" charset="0"/>
              </a:rPr>
              <a:t>Key Message:</a:t>
            </a:r>
            <a:endParaRPr b="1" dirty="0">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r>
              <a:rPr lang="en-US" sz="480" dirty="0">
                <a:latin typeface="Arial" panose="020B0604020202020204" pitchFamily="34" charset="0"/>
              </a:rPr>
              <a:t>VMware Cloud Foundation defines two (2) categories of storage - Principal storage and Supplemental storage.</a:t>
            </a:r>
            <a:endParaRPr dirty="0">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endParaRPr sz="480" dirty="0">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r>
              <a:rPr lang="en-US" sz="480" b="1" dirty="0">
                <a:latin typeface="Arial" panose="020B0604020202020204" pitchFamily="34" charset="0"/>
              </a:rPr>
              <a:t>Talk Track:</a:t>
            </a:r>
            <a:endParaRPr b="1" dirty="0">
              <a:latin typeface="Arial" panose="020B0604020202020204" pitchFamily="34" charset="0"/>
            </a:endParaRPr>
          </a:p>
          <a:p>
            <a:pPr marL="0" marR="0" lvl="0" indent="0" algn="l" rtl="0">
              <a:lnSpc>
                <a:spcPct val="80000"/>
              </a:lnSpc>
              <a:spcBef>
                <a:spcPts val="0"/>
              </a:spcBef>
              <a:spcAft>
                <a:spcPts val="0"/>
              </a:spcAft>
              <a:buClr>
                <a:schemeClr val="dk1"/>
              </a:buClr>
              <a:buSzPts val="480"/>
              <a:buFont typeface="Arial"/>
              <a:buNone/>
            </a:pPr>
            <a:r>
              <a:rPr lang="en-US" sz="480" dirty="0">
                <a:solidFill>
                  <a:schemeClr val="dk1"/>
                </a:solidFill>
                <a:latin typeface="Arial" panose="020B0604020202020204" pitchFamily="34" charset="0"/>
                <a:sym typeface="Arial"/>
              </a:rPr>
              <a:t>VMware Cloud Foundation provides flexible storage support for Workload Domains to satisfy a broad range of customer application requirements.</a:t>
            </a:r>
            <a:endParaRPr dirty="0">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r>
              <a:rPr lang="en-US" sz="480" dirty="0">
                <a:solidFill>
                  <a:schemeClr val="dk1"/>
                </a:solidFill>
                <a:latin typeface="Arial" panose="020B0604020202020204" pitchFamily="34" charset="0"/>
                <a:sym typeface="Arial"/>
              </a:rPr>
              <a:t>Cloud Foundation defines two (2) categories of storage. </a:t>
            </a:r>
            <a:endParaRPr dirty="0">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r>
              <a:rPr lang="en-US" sz="480" dirty="0">
                <a:solidFill>
                  <a:schemeClr val="dk1"/>
                </a:solidFill>
                <a:latin typeface="Arial" panose="020B0604020202020204" pitchFamily="34" charset="0"/>
                <a:sym typeface="Arial"/>
              </a:rPr>
              <a:t>Principal storage is the storage type selected when creating a new domain</a:t>
            </a:r>
            <a:endParaRPr dirty="0">
              <a:latin typeface="Arial" panose="020B0604020202020204" pitchFamily="34" charset="0"/>
            </a:endParaRPr>
          </a:p>
          <a:p>
            <a:pPr marL="0" marR="0" lvl="0" indent="0" algn="l" defTabSz="914400" rtl="0" eaLnBrk="1" fontAlgn="auto" latinLnBrk="0" hangingPunct="1">
              <a:lnSpc>
                <a:spcPct val="80000"/>
              </a:lnSpc>
              <a:spcBef>
                <a:spcPts val="0"/>
              </a:spcBef>
              <a:spcAft>
                <a:spcPts val="0"/>
              </a:spcAft>
              <a:buClr>
                <a:schemeClr val="dk1"/>
              </a:buClr>
              <a:buSzPts val="480"/>
              <a:buFont typeface="Arial"/>
              <a:buNone/>
              <a:tabLst/>
              <a:defRPr/>
            </a:pPr>
            <a:r>
              <a:rPr lang="en-US" sz="480" dirty="0">
                <a:solidFill>
                  <a:schemeClr val="dk1"/>
                </a:solidFill>
                <a:latin typeface="Arial" panose="020B0604020202020204" pitchFamily="34" charset="0"/>
                <a:sym typeface="Arial"/>
              </a:rPr>
              <a:t>During the initial deployment of a new Cloud Foundation instance, the management domain is configured using one of three storage types.  vSAN HCI is</a:t>
            </a:r>
            <a:r>
              <a:rPr lang="en-US" sz="480" dirty="0">
                <a:solidFill>
                  <a:schemeClr val="dk1"/>
                </a:solidFill>
                <a:latin typeface="Arial" panose="020B0604020202020204" pitchFamily="34" charset="0"/>
              </a:rPr>
              <a:t> recommended for use in the management domain.  Alternatively NFS or VMFS on FC can be used.</a:t>
            </a:r>
            <a:endParaRPr lang="en-US" sz="800" dirty="0">
              <a:latin typeface="Arial" panose="020B0604020202020204" pitchFamily="34" charset="0"/>
            </a:endParaRPr>
          </a:p>
          <a:p>
            <a:pPr marL="0" marR="0" lvl="0" indent="0" algn="l" rtl="0">
              <a:lnSpc>
                <a:spcPct val="80000"/>
              </a:lnSpc>
              <a:spcBef>
                <a:spcPts val="0"/>
              </a:spcBef>
              <a:spcAft>
                <a:spcPts val="0"/>
              </a:spcAft>
              <a:buClr>
                <a:schemeClr val="dk1"/>
              </a:buClr>
              <a:buSzPts val="480"/>
              <a:buFont typeface="Arial"/>
              <a:buNone/>
            </a:pPr>
            <a:endParaRPr sz="480" dirty="0">
              <a:solidFill>
                <a:schemeClr val="dk1"/>
              </a:solidFill>
              <a:latin typeface="Arial" panose="020B0604020202020204" pitchFamily="34" charset="0"/>
              <a:sym typeface="Arial"/>
            </a:endParaRPr>
          </a:p>
          <a:p>
            <a:pPr marL="0" lvl="0" indent="0" algn="l" rtl="0">
              <a:lnSpc>
                <a:spcPct val="80000"/>
              </a:lnSpc>
              <a:spcBef>
                <a:spcPts val="0"/>
              </a:spcBef>
              <a:spcAft>
                <a:spcPts val="0"/>
              </a:spcAft>
              <a:buClr>
                <a:schemeClr val="dk1"/>
              </a:buClr>
              <a:buSzPts val="480"/>
              <a:buFont typeface="Arial"/>
              <a:buNone/>
            </a:pPr>
            <a:r>
              <a:rPr lang="en-US" sz="480" dirty="0">
                <a:solidFill>
                  <a:schemeClr val="dk1"/>
                </a:solidFill>
                <a:latin typeface="Arial" panose="020B0604020202020204" pitchFamily="34" charset="0"/>
                <a:sym typeface="Arial"/>
              </a:rPr>
              <a:t>&lt;click&gt;</a:t>
            </a:r>
            <a:endParaRPr dirty="0">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r>
              <a:rPr lang="en-US" sz="480" dirty="0">
                <a:solidFill>
                  <a:schemeClr val="dk1"/>
                </a:solidFill>
                <a:latin typeface="Arial" panose="020B0604020202020204" pitchFamily="34" charset="0"/>
                <a:sym typeface="Arial"/>
              </a:rPr>
              <a:t>When an additional workload domain or cluster is created, the customer is given several additional storage options to choose from. Again, vSAN is recommended.  vSAN can be deployed as </a:t>
            </a:r>
            <a:r>
              <a:rPr lang="en-AU" sz="480" dirty="0">
                <a:solidFill>
                  <a:schemeClr val="dk1"/>
                </a:solidFill>
                <a:latin typeface="Arial" panose="020B0604020202020204" pitchFamily="34" charset="0"/>
                <a:sym typeface="Arial"/>
              </a:rPr>
              <a:t>hyperconverged (</a:t>
            </a:r>
            <a:r>
              <a:rPr lang="en-AU" sz="480" dirty="0" err="1">
                <a:solidFill>
                  <a:schemeClr val="dk1"/>
                </a:solidFill>
                <a:latin typeface="Arial" panose="020B0604020202020204" pitchFamily="34" charset="0"/>
                <a:sym typeface="Arial"/>
              </a:rPr>
              <a:t>vSAN</a:t>
            </a:r>
            <a:r>
              <a:rPr lang="en-AU" sz="480" dirty="0">
                <a:solidFill>
                  <a:schemeClr val="dk1"/>
                </a:solidFill>
                <a:latin typeface="Arial" panose="020B0604020202020204" pitchFamily="34" charset="0"/>
                <a:sym typeface="Arial"/>
              </a:rPr>
              <a:t> HCI), disaggregated (using </a:t>
            </a:r>
            <a:r>
              <a:rPr lang="en-AU" sz="480" dirty="0" err="1">
                <a:solidFill>
                  <a:schemeClr val="dk1"/>
                </a:solidFill>
                <a:latin typeface="Arial" panose="020B0604020202020204" pitchFamily="34" charset="0"/>
                <a:sym typeface="Arial"/>
              </a:rPr>
              <a:t>vSAN</a:t>
            </a:r>
            <a:r>
              <a:rPr lang="en-AU" sz="480" dirty="0">
                <a:solidFill>
                  <a:schemeClr val="dk1"/>
                </a:solidFill>
                <a:latin typeface="Arial" panose="020B0604020202020204" pitchFamily="34" charset="0"/>
                <a:sym typeface="Arial"/>
              </a:rPr>
              <a:t> storage clusters) or as remote </a:t>
            </a:r>
            <a:r>
              <a:rPr lang="en-AU" sz="480" dirty="0" err="1">
                <a:solidFill>
                  <a:schemeClr val="dk1"/>
                </a:solidFill>
                <a:latin typeface="Arial" panose="020B0604020202020204" pitchFamily="34" charset="0"/>
                <a:sym typeface="Arial"/>
              </a:rPr>
              <a:t>vSAN</a:t>
            </a:r>
            <a:r>
              <a:rPr lang="en-AU" sz="480" dirty="0">
                <a:solidFill>
                  <a:schemeClr val="dk1"/>
                </a:solidFill>
                <a:latin typeface="Arial" panose="020B0604020202020204" pitchFamily="34" charset="0"/>
                <a:sym typeface="Arial"/>
              </a:rPr>
              <a:t> datastore.</a:t>
            </a:r>
          </a:p>
          <a:p>
            <a:pPr marL="0" lvl="0" indent="0" algn="l" rtl="0">
              <a:lnSpc>
                <a:spcPct val="80000"/>
              </a:lnSpc>
              <a:spcBef>
                <a:spcPts val="0"/>
              </a:spcBef>
              <a:spcAft>
                <a:spcPts val="0"/>
              </a:spcAft>
              <a:buClr>
                <a:schemeClr val="dk1"/>
              </a:buClr>
              <a:buSzPts val="480"/>
              <a:buFont typeface="Arial"/>
              <a:buNone/>
            </a:pPr>
            <a:r>
              <a:rPr lang="en-AU" sz="480" dirty="0">
                <a:solidFill>
                  <a:schemeClr val="dk1"/>
                </a:solidFill>
                <a:latin typeface="Arial" panose="020B0604020202020204" pitchFamily="34" charset="0"/>
                <a:sym typeface="Arial"/>
              </a:rPr>
              <a:t>Workload domains can also configured using NFS or VMFS on FC.</a:t>
            </a:r>
          </a:p>
          <a:p>
            <a:pPr marL="0" lvl="0" indent="0" algn="l" rtl="0">
              <a:lnSpc>
                <a:spcPct val="80000"/>
              </a:lnSpc>
              <a:spcBef>
                <a:spcPts val="0"/>
              </a:spcBef>
              <a:spcAft>
                <a:spcPts val="0"/>
              </a:spcAft>
              <a:buClr>
                <a:schemeClr val="dk1"/>
              </a:buClr>
              <a:buSzPts val="480"/>
              <a:buFont typeface="Arial"/>
              <a:buNone/>
            </a:pPr>
            <a:r>
              <a:rPr lang="en-US" sz="480" dirty="0">
                <a:solidFill>
                  <a:schemeClr val="dk1"/>
                </a:solidFill>
                <a:latin typeface="Arial" panose="020B0604020202020204" pitchFamily="34" charset="0"/>
                <a:sym typeface="Arial"/>
              </a:rPr>
              <a:t>Having the flexibility to choose from a selection of different storage types allows customers to leverage their existing investments in storage hardware while also providing an easy on-ramp to move their workloads and applications to vSAN when they are ready.</a:t>
            </a:r>
            <a:endParaRPr dirty="0">
              <a:latin typeface="Arial" panose="020B0604020202020204" pitchFamily="34" charset="0"/>
            </a:endParaRPr>
          </a:p>
          <a:p>
            <a:pPr marL="0" marR="0" lvl="0" indent="0" algn="l" rtl="0">
              <a:lnSpc>
                <a:spcPct val="80000"/>
              </a:lnSpc>
              <a:spcBef>
                <a:spcPts val="0"/>
              </a:spcBef>
              <a:spcAft>
                <a:spcPts val="0"/>
              </a:spcAft>
              <a:buClr>
                <a:schemeClr val="dk1"/>
              </a:buClr>
              <a:buSzPts val="480"/>
              <a:buFont typeface="Arial"/>
              <a:buNone/>
            </a:pPr>
            <a:endParaRPr sz="480" dirty="0">
              <a:solidFill>
                <a:schemeClr val="dk1"/>
              </a:solidFill>
              <a:latin typeface="Arial" panose="020B0604020202020204" pitchFamily="34" charset="0"/>
              <a:sym typeface="Arial"/>
            </a:endParaRPr>
          </a:p>
          <a:p>
            <a:pPr marL="0" lvl="0" indent="0" algn="l" rtl="0">
              <a:lnSpc>
                <a:spcPct val="80000"/>
              </a:lnSpc>
              <a:spcBef>
                <a:spcPts val="0"/>
              </a:spcBef>
              <a:spcAft>
                <a:spcPts val="0"/>
              </a:spcAft>
              <a:buClr>
                <a:schemeClr val="dk1"/>
              </a:buClr>
              <a:buSzPts val="480"/>
              <a:buFont typeface="Arial"/>
              <a:buNone/>
            </a:pPr>
            <a:r>
              <a:rPr lang="en-US" sz="480" dirty="0">
                <a:solidFill>
                  <a:schemeClr val="dk1"/>
                </a:solidFill>
                <a:latin typeface="Arial" panose="020B0604020202020204" pitchFamily="34" charset="0"/>
                <a:sym typeface="Arial"/>
              </a:rPr>
              <a:t>&lt;click&gt;</a:t>
            </a:r>
            <a:endParaRPr dirty="0">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r>
              <a:rPr lang="en-US" sz="480" dirty="0">
                <a:solidFill>
                  <a:schemeClr val="dk1"/>
                </a:solidFill>
                <a:latin typeface="Arial" panose="020B0604020202020204" pitchFamily="34" charset="0"/>
                <a:sym typeface="Arial"/>
              </a:rPr>
              <a:t>Supplemental storage is the second storage type defined by Cloud Foundation. </a:t>
            </a:r>
            <a:endParaRPr dirty="0">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r>
              <a:rPr lang="en-US" sz="480" dirty="0">
                <a:solidFill>
                  <a:schemeClr val="dk1"/>
                </a:solidFill>
                <a:latin typeface="Arial" panose="020B0604020202020204" pitchFamily="34" charset="0"/>
                <a:sym typeface="Arial"/>
              </a:rPr>
              <a:t>Whilst Principal Storage is used when configuring a workload domain or cluster, Supplemental Storage can be used to add storage capacity to any domain or cluster, including the management domain. </a:t>
            </a:r>
            <a:endParaRPr dirty="0">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endParaRPr sz="480" dirty="0">
              <a:solidFill>
                <a:schemeClr val="dk1"/>
              </a:solidFill>
              <a:latin typeface="Arial" panose="020B0604020202020204" pitchFamily="34" charset="0"/>
              <a:sym typeface="Arial"/>
            </a:endParaRPr>
          </a:p>
          <a:p>
            <a:pPr marL="0" lvl="0" indent="0" algn="l" rtl="0">
              <a:lnSpc>
                <a:spcPct val="80000"/>
              </a:lnSpc>
              <a:spcBef>
                <a:spcPts val="0"/>
              </a:spcBef>
              <a:spcAft>
                <a:spcPts val="0"/>
              </a:spcAft>
              <a:buClr>
                <a:schemeClr val="dk1"/>
              </a:buClr>
              <a:buSzPts val="480"/>
              <a:buFont typeface="Arial"/>
              <a:buNone/>
            </a:pPr>
            <a:r>
              <a:rPr lang="en-US" sz="480" dirty="0">
                <a:solidFill>
                  <a:schemeClr val="dk1"/>
                </a:solidFill>
                <a:latin typeface="Arial" panose="020B0604020202020204" pitchFamily="34" charset="0"/>
                <a:sym typeface="Arial"/>
              </a:rPr>
              <a:t>Supplemental storage options include:</a:t>
            </a:r>
            <a:endParaRPr dirty="0">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r>
              <a:rPr lang="en-US" sz="480" dirty="0">
                <a:solidFill>
                  <a:schemeClr val="dk1"/>
                </a:solidFill>
                <a:latin typeface="Arial" panose="020B0604020202020204" pitchFamily="34" charset="0"/>
                <a:sym typeface="Arial"/>
              </a:rPr>
              <a:t>vSAN Storage Clusters, vSAN remote datastores, NFS options NFSv3 and NFSv4.1 as well as VMFS on FC, VMFS on iSCSI, NVMe/FC, and now NVMe/TCP.</a:t>
            </a:r>
            <a:endParaRPr dirty="0">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endParaRPr sz="480" dirty="0">
              <a:solidFill>
                <a:schemeClr val="dk1"/>
              </a:solidFill>
              <a:latin typeface="Arial" panose="020B0604020202020204" pitchFamily="34" charset="0"/>
              <a:sym typeface="Arial"/>
            </a:endParaRPr>
          </a:p>
          <a:p>
            <a:pPr marL="0" marR="0" lvl="0" indent="0" algn="l" rtl="0">
              <a:lnSpc>
                <a:spcPct val="80000"/>
              </a:lnSpc>
              <a:spcBef>
                <a:spcPts val="0"/>
              </a:spcBef>
              <a:spcAft>
                <a:spcPts val="0"/>
              </a:spcAft>
              <a:buClr>
                <a:schemeClr val="dk1"/>
              </a:buClr>
              <a:buSzPts val="480"/>
              <a:buFont typeface="Arial"/>
              <a:buNone/>
            </a:pPr>
            <a:r>
              <a:rPr lang="en-US" sz="480" dirty="0">
                <a:solidFill>
                  <a:schemeClr val="dk1"/>
                </a:solidFill>
                <a:latin typeface="Arial" panose="020B0604020202020204" pitchFamily="34" charset="0"/>
                <a:sym typeface="Arial"/>
              </a:rPr>
              <a:t>It is important to point out that adding and scaling any storage type other than vSAN is a manual process… just as it would be in a traditional environment using hardware-based storage solutions.   </a:t>
            </a:r>
            <a:endParaRPr dirty="0">
              <a:latin typeface="Arial" panose="020B0604020202020204" pitchFamily="34" charset="0"/>
            </a:endParaRPr>
          </a:p>
          <a:p>
            <a:pPr marL="0" marR="0" lvl="0" indent="0" algn="l" rtl="0">
              <a:lnSpc>
                <a:spcPct val="80000"/>
              </a:lnSpc>
              <a:spcBef>
                <a:spcPts val="0"/>
              </a:spcBef>
              <a:spcAft>
                <a:spcPts val="0"/>
              </a:spcAft>
              <a:buClr>
                <a:schemeClr val="dk1"/>
              </a:buClr>
              <a:buSzPts val="480"/>
              <a:buFont typeface="Arial"/>
              <a:buNone/>
            </a:pPr>
            <a:r>
              <a:rPr lang="en-US" sz="480" dirty="0">
                <a:solidFill>
                  <a:schemeClr val="dk1"/>
                </a:solidFill>
                <a:latin typeface="Arial" panose="020B0604020202020204" pitchFamily="34" charset="0"/>
                <a:sym typeface="Arial"/>
              </a:rPr>
              <a:t>When vSAN is not used, the customer is responsible for maintaining server firmware/drivers and plug-ins in accordance with the VMware Compatibility Guide.  </a:t>
            </a:r>
            <a:r>
              <a:rPr lang="en-US" sz="480" u="none" strike="noStrike" cap="none" dirty="0">
                <a:solidFill>
                  <a:srgbClr val="717074"/>
                </a:solidFill>
                <a:latin typeface="Arial" panose="020B0604020202020204" pitchFamily="34" charset="0"/>
                <a:sym typeface="Arial"/>
              </a:rPr>
              <a:t>If a customer is using VMFS on FC it is important that they also check HCL for FC array &amp; HBA compatibility.</a:t>
            </a:r>
            <a:endParaRPr sz="480" dirty="0">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endParaRPr sz="480" dirty="0">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r>
              <a:rPr lang="en-US" sz="480" b="1" dirty="0">
                <a:latin typeface="Arial" panose="020B0604020202020204" pitchFamily="34" charset="0"/>
              </a:rPr>
              <a:t>Notes:</a:t>
            </a:r>
            <a:endParaRPr b="1" dirty="0">
              <a:latin typeface="Arial" panose="020B0604020202020204" pitchFamily="34" charset="0"/>
            </a:endParaRPr>
          </a:p>
          <a:p>
            <a:pPr marL="0" marR="0" lvl="0" indent="0" algn="l" rtl="0">
              <a:lnSpc>
                <a:spcPct val="80000"/>
              </a:lnSpc>
              <a:spcBef>
                <a:spcPts val="0"/>
              </a:spcBef>
              <a:spcAft>
                <a:spcPts val="0"/>
              </a:spcAft>
              <a:buClr>
                <a:srgbClr val="717074"/>
              </a:buClr>
              <a:buSzPts val="640"/>
              <a:buFont typeface="Arial"/>
              <a:buNone/>
            </a:pPr>
            <a:r>
              <a:rPr lang="en-US" sz="640" u="sng" strike="noStrike" cap="none" dirty="0">
                <a:solidFill>
                  <a:srgbClr val="717074"/>
                </a:solidFill>
                <a:latin typeface="Arial" panose="020B0604020202020204" pitchFamily="34" charset="0"/>
                <a:sym typeface="Arial"/>
              </a:rPr>
              <a:t>Principal Storage:  </a:t>
            </a:r>
            <a:endParaRPr dirty="0">
              <a:latin typeface="Arial" panose="020B0604020202020204" pitchFamily="34" charset="0"/>
            </a:endParaRPr>
          </a:p>
          <a:p>
            <a:pPr marL="742950" marR="0" lvl="1" indent="-285750" algn="l" rtl="0">
              <a:lnSpc>
                <a:spcPct val="80000"/>
              </a:lnSpc>
              <a:spcBef>
                <a:spcPts val="0"/>
              </a:spcBef>
              <a:spcAft>
                <a:spcPts val="0"/>
              </a:spcAft>
              <a:buClr>
                <a:srgbClr val="717074"/>
              </a:buClr>
              <a:buSzPts val="560"/>
              <a:buFont typeface="Arial"/>
              <a:buChar char="•"/>
            </a:pPr>
            <a:r>
              <a:rPr lang="en-US" sz="560" u="none" strike="noStrike" cap="none" dirty="0">
                <a:solidFill>
                  <a:srgbClr val="717074"/>
                </a:solidFill>
                <a:latin typeface="Arial" panose="020B0604020202020204" pitchFamily="34" charset="0"/>
                <a:sym typeface="Arial"/>
              </a:rPr>
              <a:t>Provisioning is automated in VCF Operations when creating Workload Domain(s).</a:t>
            </a:r>
            <a:endParaRPr dirty="0">
              <a:latin typeface="Arial" panose="020B0604020202020204" pitchFamily="34" charset="0"/>
            </a:endParaRPr>
          </a:p>
          <a:p>
            <a:pPr marL="0" marR="0" lvl="0" indent="0" algn="l" rtl="0">
              <a:lnSpc>
                <a:spcPct val="80000"/>
              </a:lnSpc>
              <a:spcBef>
                <a:spcPts val="0"/>
              </a:spcBef>
              <a:spcAft>
                <a:spcPts val="0"/>
              </a:spcAft>
              <a:buClr>
                <a:schemeClr val="dk1"/>
              </a:buClr>
              <a:buSzPts val="640"/>
              <a:buFont typeface="Arial"/>
              <a:buNone/>
            </a:pPr>
            <a:endParaRPr sz="640" u="none" strike="noStrike" cap="none" dirty="0">
              <a:solidFill>
                <a:srgbClr val="717074"/>
              </a:solidFill>
              <a:latin typeface="Arial" panose="020B0604020202020204" pitchFamily="34" charset="0"/>
              <a:sym typeface="Arial"/>
            </a:endParaRPr>
          </a:p>
          <a:p>
            <a:pPr marL="0" marR="0" lvl="0" indent="0" algn="l" rtl="0">
              <a:lnSpc>
                <a:spcPct val="80000"/>
              </a:lnSpc>
              <a:spcBef>
                <a:spcPts val="0"/>
              </a:spcBef>
              <a:spcAft>
                <a:spcPts val="0"/>
              </a:spcAft>
              <a:buClr>
                <a:srgbClr val="717074"/>
              </a:buClr>
              <a:buSzPts val="640"/>
              <a:buFont typeface="Arial"/>
              <a:buNone/>
            </a:pPr>
            <a:r>
              <a:rPr lang="en-US" sz="640" u="sng" strike="noStrike" cap="none" dirty="0">
                <a:solidFill>
                  <a:srgbClr val="717074"/>
                </a:solidFill>
                <a:latin typeface="Arial" panose="020B0604020202020204" pitchFamily="34" charset="0"/>
                <a:sym typeface="Arial"/>
              </a:rPr>
              <a:t>Supplemental Storage:</a:t>
            </a:r>
            <a:endParaRPr dirty="0">
              <a:latin typeface="Arial" panose="020B0604020202020204" pitchFamily="34" charset="0"/>
            </a:endParaRPr>
          </a:p>
          <a:p>
            <a:pPr marL="742950" marR="0" lvl="1" indent="-285750" algn="l" rtl="0">
              <a:lnSpc>
                <a:spcPct val="80000"/>
              </a:lnSpc>
              <a:spcBef>
                <a:spcPts val="0"/>
              </a:spcBef>
              <a:spcAft>
                <a:spcPts val="0"/>
              </a:spcAft>
              <a:buClr>
                <a:srgbClr val="717074"/>
              </a:buClr>
              <a:buSzPts val="560"/>
              <a:buFont typeface="Arial"/>
              <a:buChar char="•"/>
            </a:pPr>
            <a:r>
              <a:rPr lang="en-US" sz="560" u="none" strike="noStrike" cap="none" dirty="0">
                <a:solidFill>
                  <a:srgbClr val="717074"/>
                </a:solidFill>
                <a:latin typeface="Arial" panose="020B0604020202020204" pitchFamily="34" charset="0"/>
                <a:sym typeface="Arial"/>
              </a:rPr>
              <a:t>Targets:</a:t>
            </a:r>
            <a:endParaRPr dirty="0">
              <a:latin typeface="Arial" panose="020B0604020202020204" pitchFamily="34" charset="0"/>
            </a:endParaRPr>
          </a:p>
          <a:p>
            <a:pPr marL="1200150" marR="0" lvl="2" indent="-285750" algn="l" rtl="0">
              <a:lnSpc>
                <a:spcPct val="80000"/>
              </a:lnSpc>
              <a:spcBef>
                <a:spcPts val="0"/>
              </a:spcBef>
              <a:spcAft>
                <a:spcPts val="0"/>
              </a:spcAft>
              <a:buClr>
                <a:srgbClr val="717074"/>
              </a:buClr>
              <a:buSzPts val="480"/>
              <a:buFont typeface="Arial"/>
              <a:buChar char="•"/>
            </a:pPr>
            <a:r>
              <a:rPr lang="en-US" sz="480" u="none" strike="noStrike" cap="none" dirty="0">
                <a:solidFill>
                  <a:srgbClr val="717074"/>
                </a:solidFill>
                <a:latin typeface="Arial" panose="020B0604020202020204" pitchFamily="34" charset="0"/>
                <a:sym typeface="Arial"/>
              </a:rPr>
              <a:t>Data protection (File/Image backups).</a:t>
            </a:r>
            <a:endParaRPr dirty="0">
              <a:latin typeface="Arial" panose="020B0604020202020204" pitchFamily="34" charset="0"/>
            </a:endParaRPr>
          </a:p>
          <a:p>
            <a:pPr marL="1200150" marR="0" lvl="2" indent="-285750" algn="l" rtl="0">
              <a:lnSpc>
                <a:spcPct val="80000"/>
              </a:lnSpc>
              <a:spcBef>
                <a:spcPts val="0"/>
              </a:spcBef>
              <a:spcAft>
                <a:spcPts val="0"/>
              </a:spcAft>
              <a:buClr>
                <a:srgbClr val="717074"/>
              </a:buClr>
              <a:buSzPts val="480"/>
              <a:buFont typeface="Arial"/>
              <a:buChar char="•"/>
            </a:pPr>
            <a:r>
              <a:rPr lang="en-US" sz="480" u="none" strike="noStrike" cap="none" dirty="0">
                <a:solidFill>
                  <a:srgbClr val="717074"/>
                </a:solidFill>
                <a:latin typeface="Arial" panose="020B0604020202020204" pitchFamily="34" charset="0"/>
                <a:sym typeface="Arial"/>
              </a:rPr>
              <a:t>Data at rest (templates, backups, archives).</a:t>
            </a:r>
            <a:endParaRPr dirty="0">
              <a:latin typeface="Arial" panose="020B0604020202020204" pitchFamily="34" charset="0"/>
            </a:endParaRPr>
          </a:p>
          <a:p>
            <a:pPr marL="1200150" marR="0" lvl="2" indent="-285750" algn="l" rtl="0">
              <a:lnSpc>
                <a:spcPct val="80000"/>
              </a:lnSpc>
              <a:spcBef>
                <a:spcPts val="0"/>
              </a:spcBef>
              <a:spcAft>
                <a:spcPts val="0"/>
              </a:spcAft>
              <a:buClr>
                <a:srgbClr val="717074"/>
              </a:buClr>
              <a:buSzPts val="480"/>
              <a:buFont typeface="Arial"/>
              <a:buChar char="•"/>
            </a:pPr>
            <a:r>
              <a:rPr lang="en-US" sz="480" u="none" strike="noStrike" cap="none" dirty="0">
                <a:solidFill>
                  <a:srgbClr val="717074"/>
                </a:solidFill>
                <a:latin typeface="Arial" panose="020B0604020202020204" pitchFamily="34" charset="0"/>
                <a:sym typeface="Arial"/>
              </a:rPr>
              <a:t>Migration to a full SDDC.</a:t>
            </a:r>
            <a:endParaRPr dirty="0">
              <a:latin typeface="Arial" panose="020B0604020202020204" pitchFamily="34" charset="0"/>
            </a:endParaRPr>
          </a:p>
          <a:p>
            <a:pPr marL="742950" marR="0" lvl="1" indent="-285750" algn="l" rtl="0">
              <a:lnSpc>
                <a:spcPct val="80000"/>
              </a:lnSpc>
              <a:spcBef>
                <a:spcPts val="0"/>
              </a:spcBef>
              <a:spcAft>
                <a:spcPts val="0"/>
              </a:spcAft>
              <a:buClr>
                <a:srgbClr val="717074"/>
              </a:buClr>
              <a:buSzPts val="560"/>
              <a:buFont typeface="Arial"/>
              <a:buChar char="•"/>
            </a:pPr>
            <a:r>
              <a:rPr lang="en-US" sz="560" u="none" strike="noStrike" cap="none" dirty="0">
                <a:solidFill>
                  <a:srgbClr val="717074"/>
                </a:solidFill>
                <a:latin typeface="Arial" panose="020B0604020202020204" pitchFamily="34" charset="0"/>
                <a:sym typeface="Arial"/>
              </a:rPr>
              <a:t>Connect/mount:</a:t>
            </a:r>
            <a:endParaRPr dirty="0">
              <a:latin typeface="Arial" panose="020B0604020202020204" pitchFamily="34" charset="0"/>
            </a:endParaRPr>
          </a:p>
          <a:p>
            <a:pPr marL="1200150" marR="0" lvl="2" indent="-285750" algn="l" rtl="0">
              <a:lnSpc>
                <a:spcPct val="80000"/>
              </a:lnSpc>
              <a:spcBef>
                <a:spcPts val="0"/>
              </a:spcBef>
              <a:spcAft>
                <a:spcPts val="0"/>
              </a:spcAft>
              <a:buClr>
                <a:srgbClr val="717074"/>
              </a:buClr>
              <a:buSzPts val="480"/>
              <a:buFont typeface="Arial"/>
              <a:buChar char="•"/>
            </a:pPr>
            <a:r>
              <a:rPr lang="en-US" sz="480" u="none" strike="noStrike" cap="none" dirty="0">
                <a:solidFill>
                  <a:srgbClr val="717074"/>
                </a:solidFill>
                <a:latin typeface="Arial" panose="020B0604020202020204" pitchFamily="34" charset="0"/>
                <a:sym typeface="Arial"/>
              </a:rPr>
              <a:t>Use vSphere web client to connect storage to workload domains.</a:t>
            </a:r>
            <a:endParaRPr dirty="0">
              <a:latin typeface="Arial" panose="020B0604020202020204" pitchFamily="34" charset="0"/>
            </a:endParaRPr>
          </a:p>
          <a:p>
            <a:pPr marL="914400" marR="0" lvl="2" indent="0" algn="l" rtl="0">
              <a:lnSpc>
                <a:spcPct val="80000"/>
              </a:lnSpc>
              <a:spcBef>
                <a:spcPts val="0"/>
              </a:spcBef>
              <a:spcAft>
                <a:spcPts val="0"/>
              </a:spcAft>
              <a:buClr>
                <a:schemeClr val="dk1"/>
              </a:buClr>
              <a:buSzPts val="480"/>
              <a:buFont typeface="Arial"/>
              <a:buNone/>
            </a:pPr>
            <a:endParaRPr sz="480" u="none" strike="noStrike" cap="none" dirty="0">
              <a:solidFill>
                <a:srgbClr val="717074"/>
              </a:solidFill>
              <a:latin typeface="Arial" panose="020B0604020202020204" pitchFamily="34" charset="0"/>
              <a:sym typeface="Arial"/>
            </a:endParaRPr>
          </a:p>
          <a:p>
            <a:pPr marL="0" marR="0" lvl="0" indent="0" algn="l" rtl="0">
              <a:lnSpc>
                <a:spcPct val="80000"/>
              </a:lnSpc>
              <a:spcBef>
                <a:spcPts val="0"/>
              </a:spcBef>
              <a:spcAft>
                <a:spcPts val="0"/>
              </a:spcAft>
              <a:buClr>
                <a:srgbClr val="717074"/>
              </a:buClr>
              <a:buSzPts val="480"/>
              <a:buFont typeface="Arial"/>
              <a:buNone/>
            </a:pPr>
            <a:r>
              <a:rPr lang="en-US" sz="480" u="sng" strike="noStrike" cap="none" dirty="0">
                <a:solidFill>
                  <a:srgbClr val="717074"/>
                </a:solidFill>
                <a:latin typeface="Arial" panose="020B0604020202020204" pitchFamily="34" charset="0"/>
                <a:sym typeface="Arial"/>
              </a:rPr>
              <a:t>vSAN Storage:</a:t>
            </a:r>
            <a:endParaRPr dirty="0">
              <a:latin typeface="Arial" panose="020B0604020202020204" pitchFamily="34" charset="0"/>
            </a:endParaRPr>
          </a:p>
          <a:p>
            <a:pPr marL="0" marR="0" lvl="0" indent="0" algn="l" rtl="0">
              <a:lnSpc>
                <a:spcPct val="80000"/>
              </a:lnSpc>
              <a:spcBef>
                <a:spcPts val="0"/>
              </a:spcBef>
              <a:spcAft>
                <a:spcPts val="0"/>
              </a:spcAft>
              <a:buClr>
                <a:srgbClr val="717074"/>
              </a:buClr>
              <a:buSzPts val="480"/>
              <a:buFont typeface="Arial"/>
              <a:buNone/>
            </a:pPr>
            <a:r>
              <a:rPr lang="en-US" sz="480" u="none" strike="noStrike" cap="none" dirty="0">
                <a:solidFill>
                  <a:srgbClr val="717074"/>
                </a:solidFill>
                <a:latin typeface="Arial" panose="020B0604020202020204" pitchFamily="34" charset="0"/>
                <a:sym typeface="Arial"/>
              </a:rPr>
              <a:t>VCF provides support for clusters configured using vSAN Original Storage Architecture (vSAN OSA) and vSAN Express Storage Architecture (vSAN ESA). </a:t>
            </a:r>
            <a:endParaRPr dirty="0">
              <a:latin typeface="Arial" panose="020B0604020202020204" pitchFamily="34" charset="0"/>
            </a:endParaRPr>
          </a:p>
          <a:p>
            <a:pPr marL="0" marR="0" lvl="0" indent="0" algn="l" rtl="0">
              <a:lnSpc>
                <a:spcPct val="80000"/>
              </a:lnSpc>
              <a:spcBef>
                <a:spcPts val="0"/>
              </a:spcBef>
              <a:spcAft>
                <a:spcPts val="0"/>
              </a:spcAft>
              <a:buClr>
                <a:schemeClr val="dk1"/>
              </a:buClr>
              <a:buSzPts val="480"/>
              <a:buFont typeface="Arial"/>
              <a:buNone/>
            </a:pPr>
            <a:endParaRPr sz="480" u="none" strike="noStrike" cap="none" dirty="0">
              <a:solidFill>
                <a:srgbClr val="717074"/>
              </a:solidFill>
              <a:latin typeface="Arial" panose="020B0604020202020204" pitchFamily="34" charset="0"/>
              <a:sym typeface="Arial"/>
            </a:endParaRPr>
          </a:p>
          <a:p>
            <a:pPr marL="0" marR="0" lvl="0" indent="0" algn="l" rtl="0">
              <a:lnSpc>
                <a:spcPct val="80000"/>
              </a:lnSpc>
              <a:spcBef>
                <a:spcPts val="0"/>
              </a:spcBef>
              <a:spcAft>
                <a:spcPts val="0"/>
              </a:spcAft>
              <a:buClr>
                <a:srgbClr val="717074"/>
              </a:buClr>
              <a:buSzPts val="480"/>
              <a:buFont typeface="Arial"/>
              <a:buNone/>
            </a:pPr>
            <a:r>
              <a:rPr lang="en-US" sz="480" u="none" strike="noStrike" cap="none" dirty="0">
                <a:solidFill>
                  <a:srgbClr val="717074"/>
                </a:solidFill>
                <a:latin typeface="Arial" panose="020B0604020202020204" pitchFamily="34" charset="0"/>
                <a:sym typeface="Arial"/>
              </a:rPr>
              <a:t>vSAN can be configured as local or remote.  vSAN local storage is a principal storage option which leverages local storage from the hosts configured as part of the cluster. </a:t>
            </a:r>
          </a:p>
          <a:p>
            <a:pPr marL="0" marR="0" lvl="0" indent="0" algn="l" rtl="0">
              <a:lnSpc>
                <a:spcPct val="80000"/>
              </a:lnSpc>
              <a:spcBef>
                <a:spcPts val="0"/>
              </a:spcBef>
              <a:spcAft>
                <a:spcPts val="0"/>
              </a:spcAft>
              <a:buClr>
                <a:srgbClr val="717074"/>
              </a:buClr>
              <a:buSzPts val="480"/>
              <a:buFont typeface="Arial"/>
              <a:buNone/>
            </a:pPr>
            <a:r>
              <a:rPr lang="en-US" sz="480" u="none" strike="noStrike" cap="none" dirty="0">
                <a:solidFill>
                  <a:srgbClr val="717074"/>
                </a:solidFill>
                <a:latin typeface="Arial" panose="020B0604020202020204" pitchFamily="34" charset="0"/>
                <a:sym typeface="Arial"/>
              </a:rPr>
              <a:t> </a:t>
            </a:r>
            <a:endParaRPr sz="480" dirty="0">
              <a:solidFill>
                <a:srgbClr val="333333"/>
              </a:solidFill>
              <a:latin typeface="Arial" panose="020B0604020202020204" pitchFamily="34" charset="0"/>
              <a:sym typeface="Arial"/>
            </a:endParaRPr>
          </a:p>
          <a:p>
            <a:pPr marL="0" lvl="0" indent="0" algn="l" rtl="0">
              <a:lnSpc>
                <a:spcPct val="80000"/>
              </a:lnSpc>
              <a:spcBef>
                <a:spcPts val="0"/>
              </a:spcBef>
              <a:spcAft>
                <a:spcPts val="0"/>
              </a:spcAft>
              <a:buClr>
                <a:srgbClr val="333333"/>
              </a:buClr>
              <a:buSzPts val="480"/>
              <a:buFont typeface="Arial"/>
              <a:buNone/>
            </a:pPr>
            <a:r>
              <a:rPr lang="en-US" sz="480" u="sng" dirty="0" err="1">
                <a:solidFill>
                  <a:srgbClr val="333333"/>
                </a:solidFill>
                <a:latin typeface="Arial" panose="020B0604020202020204" pitchFamily="34" charset="0"/>
                <a:sym typeface="Arial"/>
              </a:rPr>
              <a:t>NVMeof</a:t>
            </a:r>
            <a:r>
              <a:rPr lang="en-US" sz="480" u="sng" dirty="0">
                <a:solidFill>
                  <a:srgbClr val="333333"/>
                </a:solidFill>
                <a:latin typeface="Arial" panose="020B0604020202020204" pitchFamily="34" charset="0"/>
                <a:sym typeface="Arial"/>
              </a:rPr>
              <a:t>/TCP:</a:t>
            </a:r>
            <a:endParaRPr dirty="0">
              <a:latin typeface="Arial" panose="020B0604020202020204" pitchFamily="34" charset="0"/>
            </a:endParaRPr>
          </a:p>
          <a:p>
            <a:pPr marL="0" marR="0" lvl="0" indent="0" algn="l" defTabSz="914400" rtl="0" eaLnBrk="1" fontAlgn="auto" latinLnBrk="0" hangingPunct="1">
              <a:lnSpc>
                <a:spcPct val="80000"/>
              </a:lnSpc>
              <a:spcBef>
                <a:spcPts val="0"/>
              </a:spcBef>
              <a:spcAft>
                <a:spcPts val="0"/>
              </a:spcAft>
              <a:buClr>
                <a:schemeClr val="dk1"/>
              </a:buClr>
              <a:buSzPts val="480"/>
              <a:buFont typeface="Arial"/>
              <a:buNone/>
              <a:tabLst/>
              <a:defRPr/>
            </a:pPr>
            <a:r>
              <a:rPr lang="en-US" sz="480" dirty="0">
                <a:latin typeface="Arial" panose="020B0604020202020204" pitchFamily="34" charset="0"/>
              </a:rPr>
              <a:t>VMware Cloud Foundation includes added supplemental storage support for </a:t>
            </a:r>
            <a:r>
              <a:rPr lang="en-US" sz="480" dirty="0">
                <a:solidFill>
                  <a:srgbClr val="0E101A"/>
                </a:solidFill>
                <a:latin typeface="Arial" panose="020B0604020202020204" pitchFamily="34" charset="0"/>
                <a:sym typeface="Arial"/>
              </a:rPr>
              <a:t>NVMe-TCP.   Cloud Administrators can utilize the benefits of using </a:t>
            </a:r>
            <a:r>
              <a:rPr lang="en-US" sz="480" dirty="0" err="1">
                <a:solidFill>
                  <a:srgbClr val="0E101A"/>
                </a:solidFill>
                <a:latin typeface="Arial" panose="020B0604020202020204" pitchFamily="34" charset="0"/>
                <a:sym typeface="Arial"/>
              </a:rPr>
              <a:t>NVMeoF</a:t>
            </a:r>
            <a:r>
              <a:rPr lang="en-US" sz="480" dirty="0">
                <a:solidFill>
                  <a:srgbClr val="0E101A"/>
                </a:solidFill>
                <a:latin typeface="Arial" panose="020B0604020202020204" pitchFamily="34" charset="0"/>
                <a:sym typeface="Arial"/>
              </a:rPr>
              <a:t> storage in a standard ethernet-based networking environment.  The use of </a:t>
            </a:r>
            <a:r>
              <a:rPr lang="en-US" sz="480" dirty="0" err="1">
                <a:solidFill>
                  <a:srgbClr val="0E101A"/>
                </a:solidFill>
                <a:latin typeface="Arial" panose="020B0604020202020204" pitchFamily="34" charset="0"/>
                <a:sym typeface="Arial"/>
              </a:rPr>
              <a:t>NVMe</a:t>
            </a:r>
            <a:r>
              <a:rPr lang="en-US" sz="480" dirty="0">
                <a:solidFill>
                  <a:srgbClr val="0E101A"/>
                </a:solidFill>
                <a:latin typeface="Arial" panose="020B0604020202020204" pitchFamily="34" charset="0"/>
                <a:sym typeface="Arial"/>
              </a:rPr>
              <a:t>/TCP is more cost efficient and negates the need to deploy a </a:t>
            </a:r>
            <a:r>
              <a:rPr lang="en-US" sz="480" dirty="0" err="1">
                <a:solidFill>
                  <a:srgbClr val="0E101A"/>
                </a:solidFill>
                <a:latin typeface="Arial" panose="020B0604020202020204" pitchFamily="34" charset="0"/>
                <a:sym typeface="Arial"/>
              </a:rPr>
              <a:t>fibre</a:t>
            </a:r>
            <a:r>
              <a:rPr lang="en-US" sz="480" dirty="0">
                <a:solidFill>
                  <a:srgbClr val="0E101A"/>
                </a:solidFill>
                <a:latin typeface="Arial" panose="020B0604020202020204" pitchFamily="34" charset="0"/>
                <a:sym typeface="Arial"/>
              </a:rPr>
              <a:t> channel fabric.</a:t>
            </a:r>
            <a:br>
              <a:rPr lang="en-US" sz="480" dirty="0">
                <a:solidFill>
                  <a:srgbClr val="0E101A"/>
                </a:solidFill>
                <a:latin typeface="Arial" panose="020B0604020202020204" pitchFamily="34" charset="0"/>
                <a:sym typeface="Arial"/>
              </a:rPr>
            </a:br>
            <a:r>
              <a:rPr lang="en-US" sz="720" dirty="0" err="1">
                <a:solidFill>
                  <a:srgbClr val="0E101A"/>
                </a:solidFill>
                <a:latin typeface="Arial" panose="020B0604020202020204" pitchFamily="34" charset="0"/>
                <a:sym typeface="Arial"/>
              </a:rPr>
              <a:t>NVMe</a:t>
            </a:r>
            <a:r>
              <a:rPr lang="en-US" sz="720" dirty="0">
                <a:solidFill>
                  <a:srgbClr val="0E101A"/>
                </a:solidFill>
                <a:latin typeface="Arial" panose="020B0604020202020204" pitchFamily="34" charset="0"/>
                <a:sym typeface="Arial"/>
              </a:rPr>
              <a:t> Storage an be added by creating a new VMFS datastore which can be done quickly by following the steps in the </a:t>
            </a:r>
            <a:r>
              <a:rPr lang="en-AU" sz="800" dirty="0">
                <a:solidFill>
                  <a:srgbClr val="000000"/>
                </a:solidFill>
                <a:effectLst/>
                <a:latin typeface="Arial" panose="020B0604020202020204" pitchFamily="34" charset="0"/>
              </a:rPr>
              <a:t>VMware vSphere Product Documentation.</a:t>
            </a:r>
          </a:p>
          <a:p>
            <a:pPr marL="0" marR="0" lvl="0" indent="0" algn="l" defTabSz="914400" rtl="0" eaLnBrk="1" fontAlgn="auto" latinLnBrk="0" hangingPunct="1">
              <a:lnSpc>
                <a:spcPct val="80000"/>
              </a:lnSpc>
              <a:spcBef>
                <a:spcPts val="0"/>
              </a:spcBef>
              <a:spcAft>
                <a:spcPts val="0"/>
              </a:spcAft>
              <a:buClr>
                <a:schemeClr val="dk1"/>
              </a:buClr>
              <a:buSzPts val="480"/>
              <a:buFont typeface="Arial"/>
              <a:buNone/>
              <a:tabLst/>
              <a:defRPr/>
            </a:pPr>
            <a:endParaRPr sz="480" u="none" strike="noStrike" cap="none" dirty="0">
              <a:solidFill>
                <a:srgbClr val="717074"/>
              </a:solidFill>
              <a:latin typeface="Arial" panose="020B0604020202020204" pitchFamily="34" charset="0"/>
              <a:sym typeface="Arial"/>
            </a:endParaRPr>
          </a:p>
          <a:p>
            <a:pPr marL="0" marR="0" lvl="0" indent="0" algn="l" rtl="0">
              <a:lnSpc>
                <a:spcPct val="80000"/>
              </a:lnSpc>
              <a:spcBef>
                <a:spcPts val="0"/>
              </a:spcBef>
              <a:spcAft>
                <a:spcPts val="0"/>
              </a:spcAft>
              <a:buClr>
                <a:srgbClr val="717074"/>
              </a:buClr>
              <a:buSzPts val="480"/>
              <a:buFont typeface="Arial"/>
              <a:buNone/>
            </a:pPr>
            <a:r>
              <a:rPr lang="en-US" sz="480" u="sng" strike="noStrike" cap="none" dirty="0">
                <a:solidFill>
                  <a:srgbClr val="717074"/>
                </a:solidFill>
                <a:latin typeface="Arial" panose="020B0604020202020204" pitchFamily="34" charset="0"/>
                <a:sym typeface="Arial"/>
              </a:rPr>
              <a:t>iSCSI:</a:t>
            </a:r>
            <a:endParaRPr dirty="0">
              <a:latin typeface="Arial" panose="020B0604020202020204" pitchFamily="34" charset="0"/>
            </a:endParaRPr>
          </a:p>
          <a:p>
            <a:pPr marL="0" lvl="0" indent="0" algn="l" rtl="0">
              <a:lnSpc>
                <a:spcPct val="80000"/>
              </a:lnSpc>
              <a:spcBef>
                <a:spcPts val="0"/>
              </a:spcBef>
              <a:spcAft>
                <a:spcPts val="0"/>
              </a:spcAft>
              <a:buClr>
                <a:srgbClr val="7F7F7F"/>
              </a:buClr>
              <a:buSzPts val="720"/>
              <a:buFont typeface="Calibri"/>
              <a:buNone/>
            </a:pPr>
            <a:r>
              <a:rPr lang="en-US" sz="720" u="none" strike="noStrike" dirty="0">
                <a:solidFill>
                  <a:srgbClr val="7F7F7F"/>
                </a:solidFill>
                <a:latin typeface="Arial" panose="020B0604020202020204" pitchFamily="34" charset="0"/>
                <a:ea typeface="Calibri"/>
                <a:cs typeface="Arial" panose="020B0604020202020204" pitchFamily="34" charset="0"/>
                <a:sym typeface="Calibri"/>
              </a:rPr>
              <a:t>VMware Cloud Foundation supports the use of iSCSI when for supplemental storage in any domain.  Admins can register a VASA provider to configure iSCSI using APIs provided by the storage vendor.  For a list of supported VASA providers please check the VMware Compatibility Guide. Once the VASA provider is configured, the user can then create a Network pool from the vSphere client to provide IP addresses for the VASA endpoints.</a:t>
            </a:r>
            <a:endParaRPr sz="720" u="none" strike="noStrike" dirty="0">
              <a:solidFill>
                <a:srgbClr val="000000"/>
              </a:solidFill>
              <a:latin typeface="Arial" panose="020B0604020202020204" pitchFamily="34" charset="0"/>
              <a:ea typeface="Calibri"/>
              <a:cs typeface="Arial" panose="020B0604020202020204" pitchFamily="34" charset="0"/>
              <a:sym typeface="Calibri"/>
            </a:endParaRPr>
          </a:p>
          <a:p>
            <a:pPr marL="0" lvl="0" indent="0" algn="l" rtl="0">
              <a:lnSpc>
                <a:spcPct val="80000"/>
              </a:lnSpc>
              <a:spcBef>
                <a:spcPts val="0"/>
              </a:spcBef>
              <a:spcAft>
                <a:spcPts val="0"/>
              </a:spcAft>
              <a:buClr>
                <a:srgbClr val="7F7F7F"/>
              </a:buClr>
              <a:buSzPts val="720"/>
              <a:buFont typeface="Calibri"/>
              <a:buNone/>
            </a:pPr>
            <a:endParaRPr lang="en-US" sz="720" u="none" strike="noStrike" dirty="0">
              <a:solidFill>
                <a:srgbClr val="7F7F7F"/>
              </a:solidFill>
              <a:latin typeface="Arial" panose="020B0604020202020204" pitchFamily="34" charset="0"/>
              <a:ea typeface="Calibri"/>
              <a:cs typeface="Arial" panose="020B0604020202020204" pitchFamily="34" charset="0"/>
              <a:sym typeface="Calibri"/>
            </a:endParaRPr>
          </a:p>
          <a:p>
            <a:pPr marL="0" lvl="0" indent="0" algn="l" rtl="0">
              <a:lnSpc>
                <a:spcPct val="80000"/>
              </a:lnSpc>
              <a:spcBef>
                <a:spcPts val="0"/>
              </a:spcBef>
              <a:spcAft>
                <a:spcPts val="0"/>
              </a:spcAft>
              <a:buClr>
                <a:srgbClr val="7F7F7F"/>
              </a:buClr>
              <a:buSzPts val="720"/>
              <a:buFont typeface="Calibri"/>
              <a:buNone/>
            </a:pPr>
            <a:r>
              <a:rPr lang="en-US" sz="720" u="sng" strike="noStrike" dirty="0">
                <a:solidFill>
                  <a:srgbClr val="7F7F7F"/>
                </a:solidFill>
                <a:latin typeface="Arial" panose="020B0604020202020204" pitchFamily="34" charset="0"/>
                <a:ea typeface="Calibri"/>
                <a:cs typeface="Arial" panose="020B0604020202020204" pitchFamily="34" charset="0"/>
                <a:sym typeface="Calibri"/>
              </a:rPr>
              <a:t>vSAN Storage Clusters (formerly vSAN Max):</a:t>
            </a:r>
          </a:p>
          <a:p>
            <a:pPr marL="0" lvl="0" indent="0" algn="l" rtl="0">
              <a:lnSpc>
                <a:spcPct val="80000"/>
              </a:lnSpc>
              <a:spcBef>
                <a:spcPts val="0"/>
              </a:spcBef>
              <a:spcAft>
                <a:spcPts val="0"/>
              </a:spcAft>
              <a:buClr>
                <a:srgbClr val="7F7F7F"/>
              </a:buClr>
              <a:buSzPts val="720"/>
              <a:buFont typeface="Calibri"/>
              <a:buNone/>
            </a:pPr>
            <a:r>
              <a:rPr lang="en-US" sz="700" dirty="0">
                <a:latin typeface="Arial" panose="020B0604020202020204" pitchFamily="34" charset="0"/>
              </a:rPr>
              <a:t>vSAN 8 U3 also brings support of vSAN Storage Clusters (formerly known as vSAN Max) as principal storage in VMware Cloud Foundation 5.2. </a:t>
            </a:r>
            <a:r>
              <a:rPr lang="en-US" sz="700" u="none" strike="noStrike" dirty="0">
                <a:solidFill>
                  <a:srgbClr val="000000"/>
                </a:solidFill>
                <a:latin typeface="Arial" panose="020B0604020202020204" pitchFamily="34" charset="0"/>
                <a:ea typeface="Calibri"/>
                <a:cs typeface="Arial" panose="020B0604020202020204" pitchFamily="34" charset="0"/>
                <a:sym typeface="Calibri"/>
              </a:rPr>
              <a:t>vSAN Storage Clusters leverages vSAN ESA architecture providing a </a:t>
            </a:r>
            <a:r>
              <a:rPr lang="en-AU" sz="1050" dirty="0">
                <a:solidFill>
                  <a:srgbClr val="304351"/>
                </a:solidFill>
                <a:effectLst/>
                <a:highlight>
                  <a:srgbClr val="FFFFFF"/>
                </a:highlight>
                <a:latin typeface="Arial" panose="020B0604020202020204" pitchFamily="34" charset="0"/>
              </a:rPr>
              <a:t>disaggregated HCI solution that allows for the independent scaling of storage resources from compute resources. It enables businesses to adapt to changing needs quickly, ensuring storage capabilities align precisely with demand. This adaptability supports dynamic workloads and growth, significantly enhancing IT infrastructure’s flexibility and scalability</a:t>
            </a:r>
          </a:p>
          <a:p>
            <a:pPr marL="0" lvl="0" indent="0" algn="l" rtl="0">
              <a:lnSpc>
                <a:spcPct val="80000"/>
              </a:lnSpc>
              <a:spcBef>
                <a:spcPts val="0"/>
              </a:spcBef>
              <a:spcAft>
                <a:spcPts val="0"/>
              </a:spcAft>
              <a:buClr>
                <a:srgbClr val="7F7F7F"/>
              </a:buClr>
              <a:buSzPts val="720"/>
              <a:buFont typeface="Calibri"/>
              <a:buNone/>
            </a:pPr>
            <a:endParaRPr lang="en-AU" sz="1050" u="none" strike="noStrike" dirty="0">
              <a:solidFill>
                <a:srgbClr val="304351"/>
              </a:solidFill>
              <a:effectLst/>
              <a:highlight>
                <a:srgbClr val="FFFFFF"/>
              </a:highlight>
              <a:latin typeface="Arial" panose="020B0604020202020204" pitchFamily="34" charset="0"/>
              <a:ea typeface="Calibri"/>
              <a:cs typeface="Arial" panose="020B0604020202020204" pitchFamily="34" charset="0"/>
              <a:sym typeface="Calibri"/>
            </a:endParaRPr>
          </a:p>
          <a:p>
            <a:pPr marL="0" lvl="0" indent="0" algn="l" rtl="0">
              <a:lnSpc>
                <a:spcPct val="80000"/>
              </a:lnSpc>
              <a:spcBef>
                <a:spcPts val="0"/>
              </a:spcBef>
              <a:spcAft>
                <a:spcPts val="0"/>
              </a:spcAft>
              <a:buClr>
                <a:srgbClr val="7F7F7F"/>
              </a:buClr>
              <a:buSzPts val="720"/>
              <a:buFont typeface="Calibri"/>
              <a:buNone/>
            </a:pPr>
            <a:r>
              <a:rPr lang="en-AU" sz="1050" u="sng" strike="noStrike" dirty="0">
                <a:solidFill>
                  <a:srgbClr val="304351"/>
                </a:solidFill>
                <a:effectLst/>
                <a:highlight>
                  <a:srgbClr val="FFFFFF"/>
                </a:highlight>
                <a:latin typeface="Arial" panose="020B0604020202020204" pitchFamily="34" charset="0"/>
                <a:ea typeface="Calibri"/>
                <a:cs typeface="Arial" panose="020B0604020202020204" pitchFamily="34" charset="0"/>
                <a:sym typeface="Calibri"/>
              </a:rPr>
              <a:t>VCF Import:</a:t>
            </a:r>
          </a:p>
          <a:p>
            <a:pPr marL="0" lvl="0" indent="0" algn="l" rtl="0">
              <a:lnSpc>
                <a:spcPct val="80000"/>
              </a:lnSpc>
              <a:spcBef>
                <a:spcPts val="0"/>
              </a:spcBef>
              <a:spcAft>
                <a:spcPts val="0"/>
              </a:spcAft>
              <a:buClr>
                <a:srgbClr val="7F7F7F"/>
              </a:buClr>
              <a:buSzPts val="720"/>
              <a:buFont typeface="Calibri"/>
              <a:buNone/>
            </a:pPr>
            <a:r>
              <a:rPr lang="en-AU" sz="800" dirty="0"/>
              <a:t>If you use the VCF Operations to converge an existing vSphere environment to a VCF management domain, that management domain can use VMFS-FC and NFS v3 as principal storage, in addition to </a:t>
            </a:r>
            <a:r>
              <a:rPr lang="en-AU" sz="800" dirty="0" err="1"/>
              <a:t>vSAN</a:t>
            </a:r>
            <a:endParaRPr lang="en-AU" sz="800" dirty="0"/>
          </a:p>
          <a:p>
            <a:pPr marL="0" lvl="0" indent="0" algn="l" rtl="0">
              <a:lnSpc>
                <a:spcPct val="80000"/>
              </a:lnSpc>
              <a:spcBef>
                <a:spcPts val="0"/>
              </a:spcBef>
              <a:spcAft>
                <a:spcPts val="0"/>
              </a:spcAft>
              <a:buClr>
                <a:srgbClr val="7F7F7F"/>
              </a:buClr>
              <a:buSzPts val="720"/>
              <a:buFont typeface="Calibri"/>
              <a:buNone/>
            </a:pPr>
            <a:endParaRPr lang="en-AU" sz="800" u="none" strike="noStrike" dirty="0">
              <a:solidFill>
                <a:srgbClr val="000000"/>
              </a:solidFill>
              <a:latin typeface="Arial" panose="020B0604020202020204" pitchFamily="34" charset="0"/>
              <a:ea typeface="Calibri"/>
              <a:cs typeface="Arial" panose="020B0604020202020204" pitchFamily="34" charset="0"/>
              <a:sym typeface="Calibri"/>
            </a:endParaRPr>
          </a:p>
          <a:p>
            <a:pPr marL="0" lvl="0" indent="0" algn="l" rtl="0">
              <a:lnSpc>
                <a:spcPct val="80000"/>
              </a:lnSpc>
              <a:spcBef>
                <a:spcPts val="0"/>
              </a:spcBef>
              <a:spcAft>
                <a:spcPts val="0"/>
              </a:spcAft>
              <a:buClr>
                <a:srgbClr val="7F7F7F"/>
              </a:buClr>
              <a:buSzPts val="720"/>
              <a:buFont typeface="Calibri"/>
              <a:buNone/>
            </a:pPr>
            <a:r>
              <a:rPr lang="en-AU" sz="800" u="sng" strike="noStrike" dirty="0">
                <a:solidFill>
                  <a:srgbClr val="000000"/>
                </a:solidFill>
                <a:latin typeface="Arial" panose="020B0604020202020204" pitchFamily="34" charset="0"/>
                <a:ea typeface="Calibri"/>
                <a:cs typeface="Arial" panose="020B0604020202020204" pitchFamily="34" charset="0"/>
                <a:sym typeface="Calibri"/>
              </a:rPr>
              <a:t>Virtual Volumes (</a:t>
            </a:r>
            <a:r>
              <a:rPr lang="en-AU" sz="800" u="sng" strike="noStrike" dirty="0" err="1">
                <a:solidFill>
                  <a:srgbClr val="000000"/>
                </a:solidFill>
                <a:latin typeface="Arial" panose="020B0604020202020204" pitchFamily="34" charset="0"/>
                <a:ea typeface="Calibri"/>
                <a:cs typeface="Arial" panose="020B0604020202020204" pitchFamily="34" charset="0"/>
                <a:sym typeface="Calibri"/>
              </a:rPr>
              <a:t>vVols</a:t>
            </a:r>
            <a:r>
              <a:rPr lang="en-AU" sz="800" u="sng" strike="noStrike" dirty="0">
                <a:solidFill>
                  <a:srgbClr val="000000"/>
                </a:solidFill>
                <a:latin typeface="Arial" panose="020B0604020202020204" pitchFamily="34" charset="0"/>
                <a:ea typeface="Calibri"/>
                <a:cs typeface="Arial" panose="020B0604020202020204" pitchFamily="34" charset="0"/>
                <a:sym typeface="Calibri"/>
              </a:rPr>
              <a:t>)</a:t>
            </a:r>
            <a:br>
              <a:rPr lang="en-AU" sz="800" u="none" strike="noStrike" dirty="0">
                <a:solidFill>
                  <a:srgbClr val="000000"/>
                </a:solidFill>
                <a:latin typeface="Arial" panose="020B0604020202020204" pitchFamily="34" charset="0"/>
                <a:ea typeface="Calibri"/>
                <a:cs typeface="Arial" panose="020B0604020202020204" pitchFamily="34" charset="0"/>
                <a:sym typeface="Calibri"/>
              </a:rPr>
            </a:br>
            <a:r>
              <a:rPr lang="en-AU" sz="800" u="none" strike="noStrike" dirty="0" err="1">
                <a:solidFill>
                  <a:srgbClr val="000000"/>
                </a:solidFill>
                <a:latin typeface="Arial" panose="020B0604020202020204" pitchFamily="34" charset="0"/>
                <a:ea typeface="Calibri"/>
                <a:cs typeface="Arial" panose="020B0604020202020204" pitchFamily="34" charset="0"/>
                <a:sym typeface="Calibri"/>
              </a:rPr>
              <a:t>vVols</a:t>
            </a:r>
            <a:r>
              <a:rPr lang="en-AU" sz="800" u="none" strike="noStrike" dirty="0">
                <a:solidFill>
                  <a:srgbClr val="000000"/>
                </a:solidFill>
                <a:latin typeface="Arial" panose="020B0604020202020204" pitchFamily="34" charset="0"/>
                <a:ea typeface="Calibri"/>
                <a:cs typeface="Arial" panose="020B0604020202020204" pitchFamily="34" charset="0"/>
                <a:sym typeface="Calibri"/>
              </a:rPr>
              <a:t> will be deprecated beginning with VVF/VCF 9.0 and will be fully disabled in in an upcoming release of VVF and VCF.</a:t>
            </a:r>
          </a:p>
          <a:p>
            <a:pPr marL="0" lvl="0" indent="0" algn="l" rtl="0">
              <a:lnSpc>
                <a:spcPct val="80000"/>
              </a:lnSpc>
              <a:spcBef>
                <a:spcPts val="0"/>
              </a:spcBef>
              <a:spcAft>
                <a:spcPts val="0"/>
              </a:spcAft>
              <a:buClr>
                <a:srgbClr val="7F7F7F"/>
              </a:buClr>
              <a:buSzPts val="720"/>
              <a:buFont typeface="Calibri"/>
              <a:buNone/>
            </a:pPr>
            <a:r>
              <a:rPr lang="en-AU" sz="800" u="none" strike="noStrike" dirty="0">
                <a:solidFill>
                  <a:srgbClr val="000000"/>
                </a:solidFill>
                <a:latin typeface="Arial" panose="020B0604020202020204" pitchFamily="34" charset="0"/>
                <a:ea typeface="Calibri"/>
                <a:cs typeface="Arial" panose="020B0604020202020204" pitchFamily="34" charset="0"/>
                <a:sym typeface="Calibri"/>
              </a:rPr>
              <a:t>Limited time support for customers in 9.0 may be considered on a case-by-case basis under TQR/RPQ until </a:t>
            </a:r>
            <a:r>
              <a:rPr lang="en-AU" sz="800" u="none" strike="noStrike" dirty="0" err="1">
                <a:solidFill>
                  <a:srgbClr val="000000"/>
                </a:solidFill>
                <a:latin typeface="Arial" panose="020B0604020202020204" pitchFamily="34" charset="0"/>
                <a:ea typeface="Calibri"/>
                <a:cs typeface="Arial" panose="020B0604020202020204" pitchFamily="34" charset="0"/>
                <a:sym typeface="Calibri"/>
              </a:rPr>
              <a:t>vVol</a:t>
            </a:r>
            <a:r>
              <a:rPr lang="en-AU" sz="800" u="none" strike="noStrike" dirty="0">
                <a:solidFill>
                  <a:srgbClr val="000000"/>
                </a:solidFill>
                <a:latin typeface="Arial" panose="020B0604020202020204" pitchFamily="34" charset="0"/>
                <a:ea typeface="Calibri"/>
                <a:cs typeface="Arial" panose="020B0604020202020204" pitchFamily="34" charset="0"/>
                <a:sym typeface="Calibri"/>
              </a:rPr>
              <a:t> capabilities are fully disabled.</a:t>
            </a:r>
          </a:p>
          <a:p>
            <a:pPr marL="0" lvl="0" indent="0" algn="l" rtl="0">
              <a:lnSpc>
                <a:spcPct val="80000"/>
              </a:lnSpc>
              <a:spcBef>
                <a:spcPts val="0"/>
              </a:spcBef>
              <a:spcAft>
                <a:spcPts val="0"/>
              </a:spcAft>
              <a:buClr>
                <a:srgbClr val="7F7F7F"/>
              </a:buClr>
              <a:buSzPts val="720"/>
              <a:buFont typeface="Calibri"/>
              <a:buNone/>
            </a:pPr>
            <a:endParaRPr sz="480" dirty="0">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r>
              <a:rPr lang="en-AU" sz="480" b="1" dirty="0">
                <a:latin typeface="Arial" panose="020B0604020202020204" pitchFamily="34" charset="0"/>
              </a:rPr>
              <a:t>Resources:</a:t>
            </a:r>
            <a:endParaRPr b="1" dirty="0">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r>
              <a:rPr lang="en-US" sz="480" dirty="0">
                <a:latin typeface="Arial" panose="020B0604020202020204" pitchFamily="34" charset="0"/>
              </a:rPr>
              <a:t>For further information on Cloud Foundation storage please consult the Cloud Foundation Operations and Administration Guide.</a:t>
            </a:r>
            <a:endParaRPr lang="en-US" sz="1200" u="none" dirty="0">
              <a:solidFill>
                <a:schemeClr val="dk1"/>
              </a:solidFill>
              <a:effectLst/>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r>
              <a:rPr lang="en-AU" sz="1050" u="sng" dirty="0">
                <a:solidFill>
                  <a:srgbClr val="DCA10D"/>
                </a:solidFill>
                <a:effectLst/>
                <a:latin typeface="Arial" panose="020B0604020202020204" pitchFamily="34" charset="0"/>
                <a:hlinkClick r:id="rId3"/>
              </a:rPr>
              <a:t>https://docs.vmware.com/en/VMware-Cloud-Foundation/index.html</a:t>
            </a:r>
            <a:r>
              <a:rPr lang="en-AU" sz="1050" dirty="0">
                <a:solidFill>
                  <a:srgbClr val="000000"/>
                </a:solidFill>
                <a:effectLst/>
                <a:latin typeface="Arial" panose="020B0604020202020204" pitchFamily="34" charset="0"/>
              </a:rPr>
              <a:t> </a:t>
            </a:r>
          </a:p>
          <a:p>
            <a:pPr marL="0" lvl="0" indent="0" algn="l" rtl="0">
              <a:lnSpc>
                <a:spcPct val="80000"/>
              </a:lnSpc>
              <a:spcBef>
                <a:spcPts val="0"/>
              </a:spcBef>
              <a:spcAft>
                <a:spcPts val="0"/>
              </a:spcAft>
              <a:buClr>
                <a:schemeClr val="dk1"/>
              </a:buClr>
              <a:buSzPts val="480"/>
              <a:buFont typeface="Arial"/>
              <a:buNone/>
            </a:pPr>
            <a:endParaRPr lang="en-AU" sz="1050" dirty="0">
              <a:solidFill>
                <a:srgbClr val="000000"/>
              </a:solidFill>
              <a:effectLst/>
              <a:latin typeface="Arial" panose="020B0604020202020204" pitchFamily="34" charset="0"/>
            </a:endParaRPr>
          </a:p>
          <a:p>
            <a:pPr marL="0" marR="0" lvl="0" indent="0" algn="l" defTabSz="914400" rtl="0" eaLnBrk="1" fontAlgn="auto" latinLnBrk="0" hangingPunct="1">
              <a:lnSpc>
                <a:spcPct val="80000"/>
              </a:lnSpc>
              <a:spcBef>
                <a:spcPts val="0"/>
              </a:spcBef>
              <a:spcAft>
                <a:spcPts val="0"/>
              </a:spcAft>
              <a:buClr>
                <a:schemeClr val="dk1"/>
              </a:buClr>
              <a:buSzPts val="480"/>
              <a:buFont typeface="Arial"/>
              <a:buNone/>
              <a:tabLst/>
              <a:defRPr/>
            </a:pPr>
            <a:r>
              <a:rPr lang="en-AU" sz="1050" dirty="0">
                <a:solidFill>
                  <a:srgbClr val="000000"/>
                </a:solidFill>
                <a:effectLst/>
                <a:latin typeface="Arial" panose="020B0604020202020204" pitchFamily="34" charset="0"/>
              </a:rPr>
              <a:t>VMware Compatibility Guide:</a:t>
            </a:r>
            <a:br>
              <a:rPr lang="en-AU" sz="1050" dirty="0">
                <a:solidFill>
                  <a:srgbClr val="000000"/>
                </a:solidFill>
                <a:effectLst/>
                <a:latin typeface="Arial" panose="020B0604020202020204" pitchFamily="34" charset="0"/>
              </a:rPr>
            </a:br>
            <a:r>
              <a:rPr lang="en-AU" sz="1400" dirty="0">
                <a:solidFill>
                  <a:srgbClr val="DCA10D"/>
                </a:solidFill>
                <a:effectLst/>
                <a:latin typeface="Arial" panose="020B0604020202020204" pitchFamily="34" charset="0"/>
                <a:hlinkClick r:id="rId4"/>
              </a:rPr>
              <a:t>https://www.vmware.com/resources/compatibility/search.php</a:t>
            </a:r>
            <a:r>
              <a:rPr lang="en-AU" sz="1400" dirty="0">
                <a:solidFill>
                  <a:srgbClr val="000000"/>
                </a:solidFill>
                <a:effectLst/>
                <a:latin typeface="Arial" panose="020B0604020202020204" pitchFamily="34" charset="0"/>
              </a:rPr>
              <a:t> </a:t>
            </a:r>
            <a:endParaRPr lang="en-AU" sz="1400" dirty="0">
              <a:solidFill>
                <a:srgbClr val="DCA10D"/>
              </a:solidFill>
              <a:effectLst/>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endParaRPr lang="en-AU" sz="1050" dirty="0">
              <a:solidFill>
                <a:srgbClr val="000000"/>
              </a:solidFill>
              <a:effectLst/>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r>
              <a:rPr lang="en-AU" sz="1050" dirty="0">
                <a:solidFill>
                  <a:srgbClr val="000000"/>
                </a:solidFill>
                <a:effectLst/>
                <a:latin typeface="Arial" panose="020B0604020202020204" pitchFamily="34" charset="0"/>
              </a:rPr>
              <a:t>VMware vSphere Product Documentation:</a:t>
            </a:r>
          </a:p>
          <a:p>
            <a:pPr marL="0" marR="0" lvl="0" indent="0" algn="l" defTabSz="914400" rtl="0" eaLnBrk="1" fontAlgn="auto" latinLnBrk="0" hangingPunct="1">
              <a:lnSpc>
                <a:spcPct val="80000"/>
              </a:lnSpc>
              <a:spcBef>
                <a:spcPts val="0"/>
              </a:spcBef>
              <a:spcAft>
                <a:spcPts val="0"/>
              </a:spcAft>
              <a:buClr>
                <a:schemeClr val="dk1"/>
              </a:buClr>
              <a:buSzPts val="480"/>
              <a:buFont typeface="Arial"/>
              <a:buNone/>
              <a:tabLst/>
              <a:defRPr/>
            </a:pPr>
            <a:r>
              <a:rPr lang="en-AU" sz="1400" dirty="0">
                <a:solidFill>
                  <a:srgbClr val="DCA10D"/>
                </a:solidFill>
                <a:effectLst/>
                <a:latin typeface="Arial" panose="020B0604020202020204" pitchFamily="34" charset="0"/>
                <a:hlinkClick r:id="rId5"/>
              </a:rPr>
              <a:t>https://docs.vmware.com/en/VMware-vSphere/index.html</a:t>
            </a:r>
            <a:r>
              <a:rPr lang="en-AU" sz="1400" dirty="0">
                <a:solidFill>
                  <a:srgbClr val="000000"/>
                </a:solidFill>
                <a:effectLst/>
                <a:latin typeface="Arial" panose="020B0604020202020204" pitchFamily="34" charset="0"/>
              </a:rPr>
              <a:t> </a:t>
            </a:r>
            <a:endParaRPr sz="480" u="none" strike="noStrike" dirty="0">
              <a:solidFill>
                <a:schemeClr val="dk1"/>
              </a:solidFill>
              <a:latin typeface="Arial" panose="020B0604020202020204" pitchFamily="34" charset="0"/>
              <a:sym typeface="Arial"/>
            </a:endParaRPr>
          </a:p>
          <a:p>
            <a:pPr marL="0" lvl="0" indent="0" algn="l" rtl="0">
              <a:lnSpc>
                <a:spcPct val="80000"/>
              </a:lnSpc>
              <a:spcBef>
                <a:spcPts val="0"/>
              </a:spcBef>
              <a:spcAft>
                <a:spcPts val="0"/>
              </a:spcAft>
              <a:buClr>
                <a:schemeClr val="dk1"/>
              </a:buClr>
              <a:buSzPts val="480"/>
              <a:buFont typeface="Arial"/>
              <a:buNone/>
            </a:pPr>
            <a:endParaRPr sz="480" dirty="0">
              <a:latin typeface="Arial" panose="020B0604020202020204" pitchFamily="34" charset="0"/>
            </a:endParaRPr>
          </a:p>
          <a:p>
            <a:pPr marL="0" lvl="0" indent="0" algn="l" rtl="0">
              <a:lnSpc>
                <a:spcPct val="80000"/>
              </a:lnSpc>
              <a:spcBef>
                <a:spcPts val="0"/>
              </a:spcBef>
              <a:spcAft>
                <a:spcPts val="0"/>
              </a:spcAft>
              <a:buClr>
                <a:schemeClr val="dk1"/>
              </a:buClr>
              <a:buSzPts val="480"/>
              <a:buFont typeface="Arial"/>
              <a:buNone/>
            </a:pPr>
            <a:endParaRPr sz="480" dirty="0">
              <a:latin typeface="Arial" panose="020B0604020202020204" pitchFamily="34" charset="0"/>
            </a:endParaRPr>
          </a:p>
        </p:txBody>
      </p:sp>
      <p:sp>
        <p:nvSpPr>
          <p:cNvPr id="3517" name="Google Shape;3517;p49:notes">
            <a:extLst>
              <a:ext uri="{FF2B5EF4-FFF2-40B4-BE49-F238E27FC236}">
                <a16:creationId xmlns:a16="http://schemas.microsoft.com/office/drawing/2014/main" id="{A1AF0F72-C818-700D-789C-BC58A78D88A5}"/>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u="none" strike="noStrike" kern="1200" cap="none" spc="0" normalizeH="0" baseline="0" noProof="0">
                <a:ln>
                  <a:noFill/>
                </a:ln>
                <a:solidFill>
                  <a:srgbClr val="717074"/>
                </a:solidFill>
                <a:effectLst/>
                <a:uLnTx/>
                <a:uFillTx/>
                <a:latin typeface="Arial" panose="020B0604020202020204" pitchFamily="34" charset="0"/>
                <a:ea typeface="+mn-ea"/>
                <a:cs typeface="+mn-cs"/>
                <a:sym typeface="Arial"/>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30</a:t>
            </a:fld>
            <a:endParaRPr kumimoji="0" sz="1200" u="none" strike="noStrike" kern="1200" cap="none" spc="0" normalizeH="0" baseline="0" noProof="0" dirty="0">
              <a:ln>
                <a:noFill/>
              </a:ln>
              <a:solidFill>
                <a:srgbClr val="717074"/>
              </a:solidFill>
              <a:effectLst/>
              <a:uLnTx/>
              <a:uFillTx/>
              <a:latin typeface="Arial" panose="020B0604020202020204" pitchFamily="34" charset="0"/>
              <a:ea typeface="+mn-ea"/>
              <a:cs typeface="+mn-cs"/>
              <a:sym typeface="Arial"/>
            </a:endParaRPr>
          </a:p>
        </p:txBody>
      </p:sp>
    </p:spTree>
    <p:extLst>
      <p:ext uri="{BB962C8B-B14F-4D97-AF65-F5344CB8AC3E}">
        <p14:creationId xmlns:p14="http://schemas.microsoft.com/office/powerpoint/2010/main" val="5297862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049C2-7C7D-4842-07CE-ED285A3881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52334-0F91-FF34-68C6-3AF453052F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98CBB0-FA96-FB22-2E31-5DE536BB4BEC}"/>
              </a:ext>
            </a:extLst>
          </p:cNvPr>
          <p:cNvSpPr>
            <a:spLocks noGrp="1"/>
          </p:cNvSpPr>
          <p:nvPr>
            <p:ph type="body" idx="1"/>
          </p:nvPr>
        </p:nvSpPr>
        <p:spPr/>
        <p:txBody>
          <a:bodyPr>
            <a:normAutofit fontScale="850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rPr>
              <a:t>Key Message: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Arial" panose="020B0604020202020204" pitchFamily="34" charset="0"/>
                <a:ea typeface="+mn-ea"/>
                <a:cs typeface="+mn-cs"/>
              </a:rPr>
              <a:t>Summary of different storage options within VCF and their capabilities.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rPr>
              <a:t>What we can see here are the different storage options available within a VCF deployment</a:t>
            </a:r>
            <a:r>
              <a:rPr lang="en-US" sz="1200" u="none" strike="noStrike" kern="1200" dirty="0">
                <a:solidFill>
                  <a:schemeClr val="tx1"/>
                </a:solidFill>
                <a:effectLst/>
                <a:latin typeface="Arial" panose="020B0604020202020204" pitchFamily="34" charset="0"/>
                <a:ea typeface="+mn-ea"/>
                <a:cs typeface="+mn-cs"/>
              </a:rPr>
              <a:t>…and their capabilities.  </a:t>
            </a:r>
          </a:p>
          <a:p>
            <a:endParaRPr lang="en-US" sz="1200" u="none" strike="noStrike"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Arial" panose="020B0604020202020204" pitchFamily="34" charset="0"/>
              </a:rPr>
              <a:t>Using vSAN provides the customer with a full software defined solution.  It is flexible, it’s quick to configure and easy to manage and change at a per workload-level with storage policy-based management.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Arial" panose="020B0604020202020204" pitchFamily="34" charset="0"/>
              </a:rPr>
              <a:t>vSAN can be configured for aggregated storage (using vSAN HCI) and disaggregated storage using vSAN Storage Clusters (formerly known as vSAN Max).</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Arial" panose="020B0604020202020204" pitchFamily="34" charset="0"/>
              </a:rPr>
              <a:t>Storage Policy-based Management (SPBM) removes the need for manual hardware configuration and potential disruption when inevitable changes are needed later down the track.  vSAN is also very easy to scale, allowing you to add compute and storage together when it is needed without the need to plan up-front for growth capacity.  vSAN is also fully lifecycle managed, patched and upgraded which is completely automated </a:t>
            </a:r>
            <a:r>
              <a:rPr lang="en-US" sz="1200" strike="noStrike" dirty="0">
                <a:solidFill>
                  <a:schemeClr val="tx1"/>
                </a:solidFill>
                <a:latin typeface="Arial" panose="020B0604020202020204" pitchFamily="34" charset="0"/>
              </a:rPr>
              <a:t>when used with Cloud Foundation.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Arial" panose="020B0604020202020204" pitchFamily="34" charset="0"/>
              </a:rPr>
              <a:t>Cloud Foundation supports stretched clusters when using vSAN (both vSAN OSA and vSAN ESA).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Arial" panose="020B0604020202020204" pitchFamily="34" charset="0"/>
              </a:rPr>
              <a:t>Administrators can also configure multiple remote clusters using vSAN, NFS, VMFS on FC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Arial" panose="020B0604020202020204" pitchFamily="34" charset="0"/>
              </a:rPr>
              <a:t>It’s for these reasons why VMware recommends using vSAN with Cloud Foundation.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ea typeface="+mn-ea"/>
                <a:cs typeface="+mn-cs"/>
              </a:rPr>
              <a:t>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   It is important to point out that adding and scaling any storage type other than vSAN is a manual process</a:t>
            </a:r>
            <a:r>
              <a:rPr lang="en-US" sz="1200" strike="noStrike" kern="1200" dirty="0">
                <a:solidFill>
                  <a:schemeClr val="tx1"/>
                </a:solidFill>
                <a:effectLst/>
                <a:latin typeface="Arial" panose="020B0604020202020204" pitchFamily="34" charset="0"/>
                <a:ea typeface="+mn-ea"/>
                <a:cs typeface="+mn-cs"/>
              </a:rPr>
              <a:t>… just as it would be in a traditional environment which uses hardware-based storage solutions.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Arial" panose="020B0604020202020204" pitchFamily="34" charset="0"/>
                <a:ea typeface="+mn-ea"/>
                <a:cs typeface="+mn-cs"/>
              </a:rPr>
              <a:t>-   When vSAN isn’t used, the customer is responsible for maintaining server Firmware/Drivers and plug-ins in accordance with the VMware Compatibility Guide.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200" u="none" strike="noStrike" kern="1200" cap="none" spc="0" normalizeH="0" baseline="0" noProof="0" dirty="0">
                <a:ln>
                  <a:noFill/>
                </a:ln>
                <a:solidFill>
                  <a:srgbClr val="717074"/>
                </a:solidFill>
                <a:effectLst/>
                <a:uLnTx/>
                <a:uFillTx/>
                <a:latin typeface="Arial" panose="020B0604020202020204" pitchFamily="34" charset="0"/>
                <a:ea typeface="+mn-ea"/>
                <a:cs typeface="+mn-cs"/>
              </a:rPr>
              <a:t>If a customer is using VMFS on FC it is important that they also check HCL for FC array &amp; HBA compatibility.</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kumimoji="0" lang="en-US" sz="120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ea typeface="+mn-ea"/>
                <a:cs typeface="+mn-cs"/>
              </a:rPr>
              <a:t>Resources: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rPr>
              <a:t>VMware Compatibility Guide: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u="sng" kern="100" dirty="0">
                <a:solidFill>
                  <a:srgbClr val="0563C1"/>
                </a:solidFill>
                <a:effectLst/>
                <a:latin typeface="Arial" panose="020B0604020202020204" pitchFamily="34" charset="0"/>
                <a:ea typeface="Calibri" panose="020F0502020204030204" pitchFamily="34" charset="0"/>
                <a:cs typeface="Arial" panose="020B0604020202020204" pitchFamily="34" charset="0"/>
                <a:hlinkClick r:id="rId3"/>
              </a:rPr>
              <a:t>https://www.vmware.com/resources/compatibility/search.php</a:t>
            </a:r>
            <a:r>
              <a:rPr lang="en-AU" sz="1800" kern="100" dirty="0">
                <a:effectLst/>
                <a:latin typeface="Arial" panose="020B0604020202020204" pitchFamily="34" charset="0"/>
                <a:ea typeface="Calibri" panose="020F0502020204030204" pitchFamily="34" charset="0"/>
                <a:cs typeface="Arial" panose="020B0604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rPr>
              <a:t>(ESX Host, vSAN, storage compatibility and more)</a:t>
            </a:r>
          </a:p>
          <a:p>
            <a:endParaRPr lang="en-US" dirty="0">
              <a:latin typeface="Arial" panose="020B0604020202020204" pitchFamily="34" charset="0"/>
            </a:endParaRPr>
          </a:p>
          <a:p>
            <a:endParaRPr lang="en-US" dirty="0">
              <a:latin typeface="Arial" panose="020B0604020202020204" pitchFamily="34" charset="0"/>
            </a:endParaRPr>
          </a:p>
          <a:p>
            <a:endParaRPr 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11FA3E18-0BF4-4F5E-8EF3-19C051C05A2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9057932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Key Message/Talk track:</a:t>
            </a:r>
          </a:p>
          <a:p>
            <a:pPr defTabSz="903825">
              <a:defRPr/>
            </a:pPr>
            <a:r>
              <a:rPr lang="en-US" b="0" dirty="0"/>
              <a:t>Traditional three-tier architectures have been powering data centers for many years, but have been hampered by fundamental limitations, including the use of proprietary hardware, and the need for special teams to manage specific aspects of the architecture.  </a:t>
            </a:r>
            <a:r>
              <a:rPr lang="en-US" b="1" dirty="0"/>
              <a:t>A hyper-converged architecture can remove dependencies from hardware feature sets.  </a:t>
            </a:r>
            <a:r>
              <a:rPr lang="en-US" dirty="0"/>
              <a:t>By abstracting these features away from underlying hardware, you can address and apply the RIGHT</a:t>
            </a:r>
            <a:r>
              <a:rPr lang="en-US" baseline="0" dirty="0"/>
              <a:t> settings in the RIGHT way for each workload running in a data center.  As organizations are looking for interoperability with other public or private cloud environments, being able to apply these settings in a granular way, using software, is quickly turning into a requirement.  </a:t>
            </a:r>
            <a:endParaRPr lang="en-US" dirty="0"/>
          </a:p>
          <a:p>
            <a:pPr defTabSz="903825">
              <a:defRPr/>
            </a:pPr>
            <a:r>
              <a:rPr lang="en-US" dirty="0"/>
              <a:t>----------------------------------</a:t>
            </a:r>
          </a:p>
          <a:p>
            <a:r>
              <a:rPr lang="en-US" b="1" dirty="0"/>
              <a:t>Overview:</a:t>
            </a:r>
          </a:p>
          <a:p>
            <a:pPr marL="171450" indent="-171450">
              <a:buFont typeface="Arial" panose="020B0604020202020204" pitchFamily="34" charset="0"/>
              <a:buChar char="•"/>
            </a:pPr>
            <a:r>
              <a:rPr lang="en-US" b="1" dirty="0"/>
              <a:t>Remove dependencies </a:t>
            </a:r>
            <a:r>
              <a:rPr lang="en-US" dirty="0"/>
              <a:t>from hardware feature sets</a:t>
            </a:r>
          </a:p>
          <a:p>
            <a:pPr marL="171450" indent="-171450">
              <a:buFont typeface="Arial" panose="020B0604020202020204" pitchFamily="34" charset="0"/>
              <a:buChar char="•"/>
            </a:pPr>
            <a:r>
              <a:rPr lang="en-US" b="1" dirty="0"/>
              <a:t>Simplified </a:t>
            </a:r>
            <a:r>
              <a:rPr lang="en-US" dirty="0"/>
              <a:t>management drives down TCO, and increases agility</a:t>
            </a:r>
          </a:p>
          <a:p>
            <a:pPr marL="171450" indent="-171450">
              <a:buFont typeface="Arial" panose="020B0604020202020204" pitchFamily="34" charset="0"/>
              <a:buChar char="•"/>
            </a:pPr>
            <a:r>
              <a:rPr lang="en-US" dirty="0"/>
              <a:t>Deliver to apps based on what is actually </a:t>
            </a:r>
            <a:r>
              <a:rPr lang="en-US" b="1" dirty="0"/>
              <a:t>needed</a:t>
            </a:r>
          </a:p>
          <a:p>
            <a:pPr marL="171450" indent="-171450">
              <a:buFont typeface="Arial" panose="020B0604020202020204" pitchFamily="34" charset="0"/>
              <a:buChar char="•"/>
            </a:pPr>
            <a:r>
              <a:rPr lang="en-US" dirty="0"/>
              <a:t>Apply same principles used for compute requirements to storage</a:t>
            </a:r>
          </a:p>
          <a:p>
            <a:pPr marL="171450" indent="-171450">
              <a:buFont typeface="Arial" panose="020B0604020202020204" pitchFamily="34" charset="0"/>
              <a:buChar char="•"/>
            </a:pPr>
            <a:r>
              <a:rPr lang="en-US" dirty="0"/>
              <a:t>A necessity for SDDC!</a:t>
            </a:r>
          </a:p>
          <a:p>
            <a:pPr defTabSz="903825">
              <a:defRPr/>
            </a:pPr>
            <a:r>
              <a:rPr lang="en-US" dirty="0"/>
              <a:t>----------------------------------</a:t>
            </a:r>
          </a:p>
          <a:p>
            <a:r>
              <a:rPr lang="en-US" b="1" dirty="0"/>
              <a:t>Details:</a:t>
            </a:r>
            <a:endParaRPr lang="en-US" dirty="0"/>
          </a:p>
          <a:p>
            <a:r>
              <a:rPr lang="en-US" dirty="0"/>
              <a:t>Traditional architectures are typically associated with the following traits.</a:t>
            </a:r>
          </a:p>
          <a:p>
            <a:pPr marL="171450" indent="-171450">
              <a:buFont typeface="Arial" panose="020B0604020202020204" pitchFamily="34" charset="0"/>
              <a:buChar char="•"/>
            </a:pPr>
            <a:r>
              <a:rPr lang="en-US" dirty="0"/>
              <a:t>Managed in </a:t>
            </a:r>
            <a:r>
              <a:rPr lang="en-US" b="1" dirty="0"/>
              <a:t>silos</a:t>
            </a:r>
          </a:p>
          <a:p>
            <a:pPr marL="171450" indent="-171450">
              <a:buFont typeface="Arial" panose="020B0604020202020204" pitchFamily="34" charset="0"/>
              <a:buChar char="•"/>
            </a:pPr>
            <a:r>
              <a:rPr lang="en-US" dirty="0"/>
              <a:t>New features dependent on hardware vendor’s equipment upgrade cycles</a:t>
            </a:r>
          </a:p>
          <a:p>
            <a:pPr marL="171450" indent="-171450">
              <a:buFont typeface="Arial" panose="020B0604020202020204" pitchFamily="34" charset="0"/>
              <a:buChar char="•"/>
            </a:pPr>
            <a:r>
              <a:rPr lang="en-US" b="1" dirty="0"/>
              <a:t>Difficult</a:t>
            </a:r>
            <a:r>
              <a:rPr lang="en-US" dirty="0"/>
              <a:t> to scale</a:t>
            </a:r>
          </a:p>
          <a:p>
            <a:pPr marL="171450" indent="-171450">
              <a:buFont typeface="Arial" panose="020B0604020202020204" pitchFamily="34" charset="0"/>
              <a:buChar char="•"/>
            </a:pPr>
            <a:r>
              <a:rPr lang="en-US" b="1" dirty="0"/>
              <a:t>Difficult</a:t>
            </a:r>
            <a:r>
              <a:rPr lang="en-US" dirty="0"/>
              <a:t> to accommodate growth</a:t>
            </a:r>
          </a:p>
          <a:p>
            <a:pPr marL="171450" indent="-171450">
              <a:buFont typeface="Arial" panose="020B0604020202020204" pitchFamily="34" charset="0"/>
              <a:buChar char="•"/>
            </a:pPr>
            <a:r>
              <a:rPr lang="en-US" dirty="0"/>
              <a:t>Inability to deliver the right SLA</a:t>
            </a:r>
          </a:p>
          <a:p>
            <a:pPr marL="171450" indent="-171450">
              <a:buFont typeface="Arial" panose="020B0604020202020204" pitchFamily="34" charset="0"/>
              <a:buChar char="•"/>
            </a:pPr>
            <a:r>
              <a:rPr lang="en-US" b="1" dirty="0"/>
              <a:t>“One size fits all” </a:t>
            </a:r>
            <a:r>
              <a:rPr lang="en-US" dirty="0"/>
              <a:t>approach for application requirements</a:t>
            </a:r>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32</a:t>
            </a:fld>
            <a:endParaRPr lang="en-US" dirty="0"/>
          </a:p>
        </p:txBody>
      </p:sp>
    </p:spTree>
    <p:extLst>
      <p:ext uri="{BB962C8B-B14F-4D97-AF65-F5344CB8AC3E}">
        <p14:creationId xmlns:p14="http://schemas.microsoft.com/office/powerpoint/2010/main" val="18721262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A7714-B4A3-398C-8971-DCA4FE984E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B72C08-9E5C-7803-ADB2-65BF33F998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35A048-30C6-9965-E5FC-D35B928CF1DD}"/>
              </a:ext>
            </a:extLst>
          </p:cNvPr>
          <p:cNvSpPr>
            <a:spLocks noGrp="1"/>
          </p:cNvSpPr>
          <p:nvPr>
            <p:ph type="body" idx="1"/>
          </p:nvPr>
        </p:nvSpPr>
        <p:spPr/>
        <p:txBody>
          <a:bodyPr>
            <a:normAutofit fontScale="47500" lnSpcReduction="20000"/>
          </a:bodyPr>
          <a:lstStyle/>
          <a:p>
            <a:r>
              <a:rPr lang="en-US" sz="1200" b="1" dirty="0"/>
              <a:t>Key Message/Talk track:</a:t>
            </a:r>
          </a:p>
          <a:p>
            <a:r>
              <a:rPr lang="en-US" sz="1200" b="0" dirty="0"/>
              <a:t>vSAN 8 introduced the revolutionary Express Storage Architecture (ESA).  This is our next generation storage architecture, written specifically for modern high-performance hardware that not only delivers unprecedented levels of performance and efficiency, but allows us to introduce new capabilities not previously possible.  With vSAN ESA, you can easily choose by one of two deployment options.  Aggregated vSAN HCI clusters, or disaggregated vSAN Storage Clusters.  No matter what you choose,   The vSAN Express Storage Architecture unlocks the capabilities of modern hardware to allow the workloads of today and tomorrow perform as the hardware allows.</a:t>
            </a:r>
            <a:endParaRPr lang="en-US" sz="1200" b="1" dirty="0"/>
          </a:p>
          <a:p>
            <a:r>
              <a:rPr lang="en-US" sz="1200" dirty="0"/>
              <a:t>----------------------------------</a:t>
            </a:r>
          </a:p>
          <a:p>
            <a:r>
              <a:rPr lang="en-US" sz="1200" b="1" dirty="0"/>
              <a:t>Overview:</a:t>
            </a:r>
          </a:p>
          <a:p>
            <a:pPr marL="171450" indent="-171450">
              <a:buFont typeface="Arial" panose="020B0604020202020204" pitchFamily="34" charset="0"/>
              <a:buChar char="•"/>
            </a:pPr>
            <a:r>
              <a:rPr lang="en-US" b="1" dirty="0">
                <a:solidFill>
                  <a:schemeClr val="tx2"/>
                </a:solidFill>
                <a:latin typeface="Arial" panose="020B0604020202020204" pitchFamily="34" charset="0"/>
              </a:rPr>
              <a:t>Next generation </a:t>
            </a:r>
            <a:r>
              <a:rPr lang="en-US" dirty="0"/>
              <a:t>storage architecture for the workloads of today and tomorrow</a:t>
            </a:r>
          </a:p>
          <a:p>
            <a:pPr marL="171450" indent="-171450">
              <a:buFont typeface="Arial" panose="020B0604020202020204" pitchFamily="34" charset="0"/>
              <a:buChar char="•"/>
            </a:pPr>
            <a:r>
              <a:rPr lang="en-US" dirty="0"/>
              <a:t>Optional, </a:t>
            </a:r>
            <a:r>
              <a:rPr lang="en-US" b="1" dirty="0">
                <a:solidFill>
                  <a:schemeClr val="tx2"/>
                </a:solidFill>
                <a:latin typeface="Arial" panose="020B0604020202020204" pitchFamily="34" charset="0"/>
              </a:rPr>
              <a:t>alternative architecture </a:t>
            </a:r>
            <a:r>
              <a:rPr lang="en-US" dirty="0"/>
              <a:t>to the vSAN original storage architecture</a:t>
            </a:r>
          </a:p>
          <a:p>
            <a:pPr marL="171450" indent="-171450">
              <a:buFont typeface="Arial" panose="020B0604020202020204" pitchFamily="34" charset="0"/>
              <a:buChar char="•"/>
            </a:pPr>
            <a:r>
              <a:rPr lang="en-US" dirty="0"/>
              <a:t>Available when running on qualified hardware in ESA </a:t>
            </a:r>
            <a:r>
              <a:rPr lang="en-US" b="1" dirty="0">
                <a:solidFill>
                  <a:schemeClr val="tx2"/>
                </a:solidFill>
                <a:latin typeface="Arial" panose="020B0604020202020204" pitchFamily="34" charset="0"/>
              </a:rPr>
              <a:t>approved vSAN ReadyNodes</a:t>
            </a:r>
          </a:p>
          <a:p>
            <a:pPr marL="171450" indent="-171450">
              <a:buFont typeface="Arial" panose="020B0604020202020204" pitchFamily="34" charset="0"/>
              <a:buChar char="•"/>
            </a:pPr>
            <a:r>
              <a:rPr lang="en-US" dirty="0"/>
              <a:t>Powers aggregated </a:t>
            </a:r>
            <a:r>
              <a:rPr lang="en-US" b="1" dirty="0">
                <a:solidFill>
                  <a:schemeClr val="tx1"/>
                </a:solidFill>
                <a:latin typeface="Arial" panose="020B0604020202020204" pitchFamily="34" charset="0"/>
              </a:rPr>
              <a:t>vSAN HCI Clusters</a:t>
            </a:r>
            <a:r>
              <a:rPr lang="en-US" dirty="0"/>
              <a:t> and disaggregated</a:t>
            </a:r>
            <a:r>
              <a:rPr lang="en-US" dirty="0">
                <a:solidFill>
                  <a:schemeClr val="tx1"/>
                </a:solidFill>
                <a:latin typeface="Arial" panose="020B0604020202020204" pitchFamily="34" charset="0"/>
              </a:rPr>
              <a:t> vSAN Storage Clusters</a:t>
            </a:r>
          </a:p>
          <a:p>
            <a:pPr marL="0" indent="0">
              <a:spcBef>
                <a:spcPts val="1779"/>
              </a:spcBef>
              <a:buFont typeface="Arial" panose="020B0604020202020204" pitchFamily="34" charset="0"/>
              <a:buNone/>
            </a:pPr>
            <a:r>
              <a:rPr lang="en-US" dirty="0"/>
              <a:t>----------------------------------</a:t>
            </a:r>
          </a:p>
          <a:p>
            <a:r>
              <a:rPr lang="en-US" b="1" dirty="0"/>
              <a:t>Details: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N/A</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We want to make it very clear that while this new, optional architecture within vSAN introduces new patented technologies offering unprecedented new capabilities, vSAN was not “rewritten.”  In fact, you’ll find many aspect of vSAN, such as the Distributed Object Manager (DOM), the Cluster Level Object Manager (CLOM) and the Cluster Management and Monitoring Directory Service (CMMDS) in place just like past editions, as it solves many of the great challenges of a distributed storage system.  The new architecture simply helps address our ability to capitalize on the capabilities of this latest generation of high-performance hardware.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The vSAN ESA is not a “replacement” architecture, but an alternative architecture optimized for high performing, modern hardware.  vSAN remains as a single product, but now includes the architectural capability to accommodate for these next generation hardware devices.  It should not be positioned as a “rewrite” or a replacement in any way.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Do not reference the ESA and vSAN’s original storage architecture as “new” and “old”  or any variation of that, as this can have a negative connotation toward previous editions of vSAN.  While the vSAN ESA is the storage architecture where all future development efforts will be focused on, VMware is committing to ongoing support of the original storage architecture for many years to come.  The official naming reference for the original storage architecture should be “Original Storage Architecture” abbreviated to OSA only when absolutely necessary.”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The internal name for our durable log-structured file system is “zDOM.”  This is an engineering-centric name, and not intended as a public reference.  One can refer to it as the “vSAN log-structured file system” or vSAN LFS when necessary.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Note that the references to “log-structured file system” do not refer in any way to a traditional file system such as NTFS, ext4, etc.  It is a common industry reference to a method of how data and metadata are written to a circular log buffer and persisted to the storage subsystem.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cap="none" normalizeH="0" baseline="0" dirty="0">
                <a:ln>
                  <a:noFill/>
                </a:ln>
                <a:solidFill>
                  <a:schemeClr val="tx1"/>
                </a:solidFill>
                <a:effectLst/>
                <a:latin typeface="Arial" charset="0"/>
                <a:cs typeface="Arial" charset="0"/>
              </a:rPr>
              <a:t>Please note:  Specific terms and details not readily available in the UI or KB articles, deemed as intellectual property, or sensitive have been obfuscated.  Even the information here should be treated as sensitive, and should not necessarily be shared with external audiences.  There is generally no need to use the terms CMMDS, CLOM, DOM, and LSOM with customers verbally, in correspondence, or in any published material.  These are internal terms that are provided to help you better understand how vSAN works. Generalized terms such as “vSAN’s object manager…” will suffice in most cases. </a:t>
            </a:r>
            <a:endParaRPr lang="en-US"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The vSAN ESA is not a “replacement” architecture, but an alternative architecture optimized for high performing, modern hardware.  vSAN remains as a single product, but now includes the architectural capability to accommodate for these next generation hardware devices.  It should NOT be positioned as a “rewrite” or a replacement in any way.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Do not reference the ESA and vSAN’s classic architecture as “new” and “old”  or any variation of that, as this can have a negative connotation toward previous editions of vSAN.  While the vSAN ESA is the storage architecture where all future development efforts will be focused on, VMware is committing to ongoing support of the classic architecture for many years to come.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The internal name for our durable log-structured file system is “zDOM.”  This is an engineering-centric name, and not intended as a public reference.  One can refer to it as the “vSAN log-structured file system” or “vSAN LFS” when necessary.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Note that the references to “log-structured file system” do not refer in any way to a traditional file system such as NTFS, ext4, etc.  It is a common industry reference to a method of how data and metadata are written to a circular log buffer and persisted to the storage subsystem.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cap="none" normalizeH="0" baseline="0" dirty="0">
                <a:ln>
                  <a:noFill/>
                </a:ln>
                <a:solidFill>
                  <a:schemeClr val="tx1"/>
                </a:solidFill>
                <a:effectLst/>
                <a:latin typeface="Arial" charset="0"/>
                <a:cs typeface="Arial" charset="0"/>
              </a:rPr>
              <a:t>Please note:  Specific terms and details not readily available in the UI or KB articles, deemed as intellectual property, or sensitive have been obfuscated.  Even the information here should be treated as sensitive, and should not necessarily be shared with external audiences.  There is generally no need to use the terms CMMDS, CLOM, DOM, and LSOM with customers verbally, in correspondence, or in any published material.  These are internal terms that are provided to help you better understand how vSAN works. Generalized terms such as “vSAN’s object manager…” will suffice in most cases. </a:t>
            </a:r>
            <a:endParaRPr lang="en-US" sz="1200" b="0" kern="1200" baseline="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latin typeface="Arial" panose="020B0604020202020204" pitchFamily="34" charset="0"/>
                <a:ea typeface="+mn-ea"/>
                <a:cs typeface="+mn-cs"/>
              </a:rPr>
              <a:t>----------------------------------</a:t>
            </a:r>
          </a:p>
          <a:p>
            <a:r>
              <a:rPr lang="en-US" sz="1200" b="1" kern="1200" baseline="0" dirty="0">
                <a:solidFill>
                  <a:schemeClr val="tx1"/>
                </a:solidFill>
                <a:latin typeface="Arial" panose="020B0604020202020204" pitchFamily="34" charset="0"/>
                <a:ea typeface="+mn-ea"/>
                <a:cs typeface="+mn-cs"/>
              </a:rPr>
              <a:t>Additional Information:</a:t>
            </a:r>
          </a:p>
          <a:p>
            <a:pPr marL="169495" indent="-169495">
              <a:buFont typeface="Arial" panose="020B0604020202020204" pitchFamily="34" charset="0"/>
              <a:buChar char="•"/>
            </a:pPr>
            <a:r>
              <a:rPr lang="en-US" dirty="0"/>
              <a:t>Blog:  https://</a:t>
            </a:r>
            <a:r>
              <a:rPr lang="en-US" dirty="0" err="1"/>
              <a:t>blogs.vmware.com</a:t>
            </a:r>
            <a:r>
              <a:rPr lang="en-US" dirty="0"/>
              <a:t>/cloud-foundation/2022/08/30/an-introduction-to-the-</a:t>
            </a:r>
            <a:r>
              <a:rPr lang="en-US" dirty="0" err="1"/>
              <a:t>vsan</a:t>
            </a:r>
            <a:r>
              <a:rPr lang="en-US" dirty="0"/>
              <a:t>-express-storage-architecture/</a:t>
            </a:r>
          </a:p>
        </p:txBody>
      </p:sp>
      <p:sp>
        <p:nvSpPr>
          <p:cNvPr id="4" name="Slide Number Placeholder 3">
            <a:extLst>
              <a:ext uri="{FF2B5EF4-FFF2-40B4-BE49-F238E27FC236}">
                <a16:creationId xmlns:a16="http://schemas.microsoft.com/office/drawing/2014/main" id="{445BC518-107A-3A4C-7636-6A536E7CAC20}"/>
              </a:ext>
            </a:extLst>
          </p:cNvPr>
          <p:cNvSpPr>
            <a:spLocks noGrp="1"/>
          </p:cNvSpPr>
          <p:nvPr>
            <p:ph type="sldNum" sz="quarter" idx="5"/>
          </p:nvPr>
        </p:nvSpPr>
        <p:spPr/>
        <p:txBody>
          <a:bodyPr/>
          <a:lstStyle/>
          <a:p>
            <a:fld id="{9F4FBC3A-A12C-40F9-BB8D-BC30C7901396}" type="slidenum">
              <a:rPr lang="en-US" smtClean="0"/>
              <a:pPr/>
              <a:t>33</a:t>
            </a:fld>
            <a:endParaRPr lang="en-US"/>
          </a:p>
        </p:txBody>
      </p:sp>
    </p:spTree>
    <p:extLst>
      <p:ext uri="{BB962C8B-B14F-4D97-AF65-F5344CB8AC3E}">
        <p14:creationId xmlns:p14="http://schemas.microsoft.com/office/powerpoint/2010/main" val="39223038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05702-CC13-CF24-AF30-BE7C40F2FE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45B4E6-6FCE-FCAE-734C-13A55C1C3B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642155-D5AD-81AB-5FD8-46DD29B9AB05}"/>
              </a:ext>
            </a:extLst>
          </p:cNvPr>
          <p:cNvSpPr>
            <a:spLocks noGrp="1"/>
          </p:cNvSpPr>
          <p:nvPr>
            <p:ph type="body" idx="1"/>
          </p:nvPr>
        </p:nvSpPr>
        <p:spPr/>
        <p:txBody>
          <a:bodyPr>
            <a:normAutofit fontScale="85000" lnSpcReduction="10000"/>
          </a:bodyPr>
          <a:lstStyle/>
          <a:p>
            <a:r>
              <a:rPr lang="en-US" b="1" dirty="0"/>
              <a:t>Key Message/Talk track:</a:t>
            </a:r>
          </a:p>
          <a:p>
            <a:r>
              <a:rPr lang="en-US" baseline="0" dirty="0"/>
              <a:t>The tremendous efficiency of vSAN means that it can run more VMs per host than other HCI systems not integrated into the hypervisor.  And not only that, but do with much more consistent levels of performance and tighter integration</a:t>
            </a:r>
            <a:r>
              <a:rPr lang="en-US" b="1" baseline="0" dirty="0"/>
              <a:t>.  This ability to scale up and out – often not possible in the same way when using storage arrays - means that users can strategically design their vSAN powered cluster to accommodate growth that best reflects the needs of their organization.</a:t>
            </a:r>
          </a:p>
          <a:p>
            <a:r>
              <a:rPr lang="en-US" baseline="0" dirty="0"/>
              <a:t> </a:t>
            </a:r>
            <a:r>
              <a:rPr lang="en-US" dirty="0"/>
              <a:t>----------------------------------</a:t>
            </a:r>
          </a:p>
          <a:p>
            <a:r>
              <a:rPr lang="en-US" b="1" dirty="0"/>
              <a:t>Overview:</a:t>
            </a:r>
          </a:p>
          <a:p>
            <a:pPr marL="171450" indent="-171450">
              <a:buFont typeface="Arial" panose="020B0604020202020204" pitchFamily="34" charset="0"/>
              <a:buChar char="•"/>
            </a:pPr>
            <a:r>
              <a:rPr lang="en-US" dirty="0"/>
              <a:t>Add capacity the way you want</a:t>
            </a:r>
          </a:p>
          <a:p>
            <a:pPr marL="171450" indent="-171450">
              <a:buFont typeface="Arial" panose="020B0604020202020204" pitchFamily="34" charset="0"/>
              <a:buChar char="•"/>
            </a:pPr>
            <a:r>
              <a:rPr lang="en-US" dirty="0"/>
              <a:t>Scale </a:t>
            </a:r>
            <a:r>
              <a:rPr lang="en-US" b="1" dirty="0"/>
              <a:t>UP</a:t>
            </a:r>
            <a:r>
              <a:rPr lang="en-US" dirty="0"/>
              <a:t> by adding drives</a:t>
            </a:r>
          </a:p>
          <a:p>
            <a:pPr marL="171450" indent="-171450">
              <a:buFont typeface="Arial" panose="020B0604020202020204" pitchFamily="34" charset="0"/>
              <a:buChar char="•"/>
            </a:pPr>
            <a:r>
              <a:rPr lang="en-US" dirty="0"/>
              <a:t>Scale </a:t>
            </a:r>
            <a:r>
              <a:rPr lang="en-US" b="1" dirty="0"/>
              <a:t>OUT</a:t>
            </a:r>
            <a:r>
              <a:rPr lang="en-US" dirty="0"/>
              <a:t> by adding hosts</a:t>
            </a:r>
          </a:p>
          <a:p>
            <a:pPr marL="171450" indent="-171450">
              <a:buFont typeface="Arial" panose="020B0604020202020204" pitchFamily="34" charset="0"/>
              <a:buChar char="•"/>
            </a:pPr>
            <a:r>
              <a:rPr lang="en-US" dirty="0"/>
              <a:t>Agile, cost-effective cluster designs</a:t>
            </a:r>
          </a:p>
          <a:p>
            <a:r>
              <a:rPr lang="en-US" dirty="0"/>
              <a:t>----------------------------------</a:t>
            </a:r>
          </a:p>
          <a:p>
            <a:r>
              <a:rPr lang="en-US" b="1" dirty="0"/>
              <a:t>Details:</a:t>
            </a:r>
          </a:p>
          <a:p>
            <a:pPr marL="171450" indent="-171450">
              <a:buFont typeface="Arial" panose="020B0604020202020204" pitchFamily="34" charset="0"/>
              <a:buChar char="•"/>
            </a:pPr>
            <a:r>
              <a:rPr lang="en-US" dirty="0"/>
              <a:t>The</a:t>
            </a:r>
            <a:r>
              <a:rPr lang="en-US" baseline="0" dirty="0"/>
              <a:t> difference in VM per host density is NOT a trivial amount.  Actual real world environments have suggested competing solutions can only get ½ to 1/3</a:t>
            </a:r>
            <a:r>
              <a:rPr lang="en-US" baseline="30000" dirty="0"/>
              <a:t>rd</a:t>
            </a:r>
            <a:r>
              <a:rPr lang="en-US" baseline="0" dirty="0"/>
              <a:t> the number of VMs per host, and lacking the consistency in performance that an in-kernel solution like vSAN has.</a:t>
            </a:r>
            <a:endParaRPr lang="en-US" dirty="0"/>
          </a:p>
          <a:p>
            <a:pPr marL="169495" indent="-169495">
              <a:buFont typeface="Arial" panose="020B0604020202020204" pitchFamily="34" charset="0"/>
              <a:buChar char="•"/>
            </a:pPr>
            <a:r>
              <a:rPr lang="en-US" b="1" dirty="0"/>
              <a:t>Designing vSAN hosts for future “scale up” expansion is an extremely powerful message that resonates with customers </a:t>
            </a:r>
            <a:r>
              <a:rPr lang="en-US" b="0" dirty="0"/>
              <a:t>(e.g. Add capacity without any new hosts or licensing).  </a:t>
            </a:r>
            <a:r>
              <a:rPr lang="en-US" dirty="0"/>
              <a:t>See “Options in Scalability” that provides details and illustrations on how scale up expansion works.  </a:t>
            </a:r>
            <a:r>
              <a:rPr lang="en-US" dirty="0" err="1"/>
              <a:t>VirtualBlocks</a:t>
            </a:r>
            <a:r>
              <a:rPr lang="en-US" dirty="0"/>
              <a:t> blog post at:  https://</a:t>
            </a:r>
            <a:r>
              <a:rPr lang="en-US" dirty="0" err="1"/>
              <a:t>blogs.vmware.com</a:t>
            </a:r>
            <a:r>
              <a:rPr lang="en-US" dirty="0"/>
              <a:t>/virtualblocks/2016/09/15/options-scalability-virtual-san/ </a:t>
            </a:r>
          </a:p>
          <a:p>
            <a:pPr marL="169495" indent="-169495">
              <a:buFont typeface="Arial" panose="020B0604020202020204" pitchFamily="34" charset="0"/>
              <a:buChar char="•"/>
            </a:pPr>
            <a:r>
              <a:rPr lang="en-US" dirty="0"/>
              <a:t>Some current scaling limits PER cluster are current set to:</a:t>
            </a:r>
          </a:p>
          <a:p>
            <a:pPr marL="626695" lvl="1" indent="-169495">
              <a:buFont typeface="Arial" panose="020B0604020202020204" pitchFamily="34" charset="0"/>
              <a:buChar char="•"/>
            </a:pPr>
            <a:r>
              <a:rPr lang="en-US" dirty="0"/>
              <a:t>Max cluster size:  64 hosts</a:t>
            </a:r>
          </a:p>
          <a:p>
            <a:pPr marL="626695" lvl="1" indent="-169495">
              <a:buFont typeface="Arial" panose="020B0604020202020204" pitchFamily="34" charset="0"/>
              <a:buChar char="•"/>
            </a:pPr>
            <a:r>
              <a:rPr lang="en-US" dirty="0"/>
              <a:t>Max stretched cluster size:  15 hosts + 15 hosts + 1 witness host</a:t>
            </a:r>
          </a:p>
          <a:p>
            <a:pPr marL="626695" lvl="1" indent="-169495">
              <a:buFont typeface="Arial" panose="020B0604020202020204" pitchFamily="34" charset="0"/>
              <a:buChar char="•"/>
            </a:pPr>
            <a:r>
              <a:rPr lang="en-US" dirty="0"/>
              <a:t>Max components:  9,000 per ESX host</a:t>
            </a:r>
          </a:p>
          <a:p>
            <a:pPr marL="626695" lvl="1" indent="-169495">
              <a:buFont typeface="Arial" panose="020B0604020202020204" pitchFamily="34" charset="0"/>
              <a:buChar char="•"/>
            </a:pPr>
            <a:r>
              <a:rPr lang="en-US" dirty="0"/>
              <a:t>Max witness components:  45,000 per ESX host</a:t>
            </a:r>
          </a:p>
          <a:p>
            <a:pPr marL="626695" lvl="1" indent="-169495">
              <a:buFont typeface="Arial" panose="020B0604020202020204" pitchFamily="34" charset="0"/>
              <a:buChar char="•"/>
            </a:pPr>
            <a:r>
              <a:rPr lang="en-US" dirty="0"/>
              <a:t>Max VMDK size:  62TB</a:t>
            </a:r>
          </a:p>
          <a:p>
            <a:pPr marL="626695" lvl="1" indent="-169495">
              <a:buFont typeface="Arial" panose="020B0604020202020204" pitchFamily="34" charset="0"/>
              <a:buChar char="•"/>
            </a:pPr>
            <a:r>
              <a:rPr lang="en-US" dirty="0"/>
              <a:t>6,400 VMs per cluster (limitation of vSphere HA)</a:t>
            </a:r>
          </a:p>
          <a:p>
            <a:pPr marL="169495" indent="-169495">
              <a:buFont typeface="Arial" panose="020B0604020202020204" pitchFamily="34" charset="0"/>
              <a:buChar char="•"/>
            </a:pPr>
            <a:r>
              <a:rPr lang="en-US" dirty="0"/>
              <a:t>A full listing of vSAN Limits and design considerations can be found here:  https://</a:t>
            </a:r>
            <a:r>
              <a:rPr lang="en-US" dirty="0" err="1"/>
              <a:t>storagehub.vmware.com</a:t>
            </a:r>
            <a:r>
              <a:rPr lang="en-US" dirty="0"/>
              <a:t>/t/vmware-vsan/vmware-r-vsan-tm-design-and-sizing-guide/ as well as common FAQs found at:  https://</a:t>
            </a:r>
            <a:r>
              <a:rPr lang="en-US" dirty="0" err="1"/>
              <a:t>storagehub.vmware.com</a:t>
            </a:r>
            <a:r>
              <a:rPr lang="en-US" dirty="0"/>
              <a:t>/t/vmware-vsan/vsan-frequently-asked-questions-faq/architecture/ </a:t>
            </a:r>
          </a:p>
          <a:p>
            <a:pPr marL="0" indent="0">
              <a:buFont typeface="Arial" panose="020B0604020202020204" pitchFamily="34" charset="0"/>
              <a:buNone/>
            </a:pPr>
            <a:r>
              <a:rPr lang="en-US" dirty="0"/>
              <a:t>----------------------------------</a:t>
            </a:r>
          </a:p>
          <a:p>
            <a:r>
              <a:rPr lang="en-US" sz="1200" b="1" kern="1200" baseline="0" dirty="0">
                <a:solidFill>
                  <a:schemeClr val="tx1"/>
                </a:solidFill>
                <a:latin typeface="Arial" panose="020B0604020202020204" pitchFamily="34" charset="0"/>
                <a:ea typeface="+mn-ea"/>
                <a:cs typeface="+mn-cs"/>
              </a:rPr>
              <a:t>Additional 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TBD</a:t>
            </a:r>
          </a:p>
          <a:p>
            <a:endParaRPr lang="en-US" dirty="0"/>
          </a:p>
        </p:txBody>
      </p:sp>
      <p:sp>
        <p:nvSpPr>
          <p:cNvPr id="4" name="Slide Number Placeholder 3">
            <a:extLst>
              <a:ext uri="{FF2B5EF4-FFF2-40B4-BE49-F238E27FC236}">
                <a16:creationId xmlns:a16="http://schemas.microsoft.com/office/drawing/2014/main" id="{71E3452D-7084-7ED9-CC09-2857642F1654}"/>
              </a:ext>
            </a:extLst>
          </p:cNvPr>
          <p:cNvSpPr>
            <a:spLocks noGrp="1"/>
          </p:cNvSpPr>
          <p:nvPr>
            <p:ph type="sldNum" sz="quarter" idx="5"/>
          </p:nvPr>
        </p:nvSpPr>
        <p:spPr/>
        <p:txBody>
          <a:bodyPr/>
          <a:lstStyle/>
          <a:p>
            <a:fld id="{9F4FBC3A-A12C-40F9-BB8D-BC30C7901396}" type="slidenum">
              <a:rPr lang="en-US" smtClean="0"/>
              <a:pPr/>
              <a:t>34</a:t>
            </a:fld>
            <a:endParaRPr lang="en-US" dirty="0"/>
          </a:p>
        </p:txBody>
      </p:sp>
    </p:spTree>
    <p:extLst>
      <p:ext uri="{BB962C8B-B14F-4D97-AF65-F5344CB8AC3E}">
        <p14:creationId xmlns:p14="http://schemas.microsoft.com/office/powerpoint/2010/main" val="149858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0AF0-8B57-5FDE-1060-DF21F32ED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6FBCAA-2AE8-EDFD-9CE2-987E385CAA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2CB906-89CB-A282-70A0-A334060FCD0C}"/>
              </a:ext>
            </a:extLst>
          </p:cNvPr>
          <p:cNvSpPr>
            <a:spLocks noGrp="1"/>
          </p:cNvSpPr>
          <p:nvPr>
            <p:ph type="body" idx="1"/>
          </p:nvPr>
        </p:nvSpPr>
        <p:spPr/>
        <p:txBody>
          <a:bodyPr>
            <a:normAutofit lnSpcReduction="10000"/>
          </a:bodyPr>
          <a:lstStyle/>
          <a:p>
            <a:r>
              <a:rPr lang="en-US" b="1" dirty="0"/>
              <a:t>Key Message/Talk track:</a:t>
            </a:r>
          </a:p>
          <a:p>
            <a:r>
              <a:rPr lang="en-US" dirty="0"/>
              <a:t>vSAN offers a number of data services to help you address your organization’s unique needs.  While vSAN can run hundreds of VMs per host in a vSAN cluster, additional data services are available to extend the functionality of vSAN.  Take for example the vSAN iSCSI target service, where you can create an iSCSI target on vSAN so that a legacy physical server running an application can mount that iSCSI volume.  Or perhaps your organization needs file services.  vSAN File Services offers the ability to create SMB and NFS shares to work with both traditional and cloud native workloads. vSAN also offers native S3 compatible object storage.  This comes through the use of 3</a:t>
            </a:r>
            <a:r>
              <a:rPr lang="en-US" baseline="30000" dirty="0"/>
              <a:t>rd</a:t>
            </a:r>
            <a:r>
              <a:rPr lang="en-US" dirty="0"/>
              <a:t> party certified solutions as a part of the VMware vSAN Data Persistence platform, or DPp.  And finally, vSAN offers the ability to ensure the highest levels of security through data-at-rest encryption and data-in-transit encryption offerings.  All of this adds up to a highly flexible, robust, and secure storage solution. </a:t>
            </a:r>
          </a:p>
          <a:p>
            <a:r>
              <a:rPr lang="en-US" dirty="0"/>
              <a:t>----------------------------------</a:t>
            </a:r>
          </a:p>
          <a:p>
            <a:r>
              <a:rPr lang="en-US" b="1" dirty="0"/>
              <a:t>Overview:</a:t>
            </a:r>
          </a:p>
          <a:p>
            <a:pPr marL="171450" indent="-171450">
              <a:buFont typeface="Arial" panose="020B0604020202020204" pitchFamily="34" charset="0"/>
              <a:buChar char="•"/>
            </a:pPr>
            <a:r>
              <a:rPr lang="en-US" dirty="0"/>
              <a:t>Extend vSAN </a:t>
            </a:r>
            <a:r>
              <a:rPr lang="en-US" b="1" dirty="0"/>
              <a:t>beyond native VM storage</a:t>
            </a:r>
          </a:p>
          <a:p>
            <a:pPr marL="171450" indent="-171450">
              <a:buFont typeface="Arial" panose="020B0604020202020204" pitchFamily="34" charset="0"/>
              <a:buChar char="•"/>
            </a:pPr>
            <a:r>
              <a:rPr lang="en-US" dirty="0"/>
              <a:t>Enable/disable based on </a:t>
            </a:r>
            <a:r>
              <a:rPr lang="en-US" b="1" dirty="0"/>
              <a:t>organizational needs</a:t>
            </a:r>
          </a:p>
          <a:p>
            <a:pPr marL="628650" lvl="1" indent="-171450">
              <a:buFont typeface="Arial" panose="020B0604020202020204" pitchFamily="34" charset="0"/>
              <a:buChar char="•"/>
            </a:pPr>
            <a:r>
              <a:rPr lang="en-US" dirty="0"/>
              <a:t>SMB and NFS file services</a:t>
            </a:r>
          </a:p>
          <a:p>
            <a:pPr marL="628650" lvl="1" indent="-171450">
              <a:buFont typeface="Arial" panose="020B0604020202020204" pitchFamily="34" charset="0"/>
              <a:buChar char="•"/>
            </a:pPr>
            <a:r>
              <a:rPr lang="en-US" dirty="0"/>
              <a:t>iSCSI block access for legacy workloads</a:t>
            </a:r>
          </a:p>
          <a:p>
            <a:pPr marL="628650" lvl="1" indent="-171450">
              <a:buFont typeface="Arial" panose="020B0604020202020204" pitchFamily="34" charset="0"/>
              <a:buChar char="•"/>
            </a:pPr>
            <a:r>
              <a:rPr lang="en-US" dirty="0"/>
              <a:t>S3 compatible object storage*</a:t>
            </a:r>
          </a:p>
          <a:p>
            <a:pPr marL="171450" indent="-171450">
              <a:buFont typeface="Arial" panose="020B0604020202020204" pitchFamily="34" charset="0"/>
              <a:buChar char="•"/>
            </a:pPr>
            <a:r>
              <a:rPr lang="en-US" dirty="0"/>
              <a:t>Provide FIPS validated </a:t>
            </a:r>
            <a:r>
              <a:rPr lang="en-US" b="1" dirty="0"/>
              <a:t>data-at-rest</a:t>
            </a:r>
            <a:r>
              <a:rPr lang="en-US" dirty="0"/>
              <a:t> and </a:t>
            </a:r>
            <a:r>
              <a:rPr lang="en-US" b="1" dirty="0"/>
              <a:t>data-in-transit encryption</a:t>
            </a:r>
          </a:p>
          <a:p>
            <a:r>
              <a:rPr lang="en-US" sz="1200" dirty="0"/>
              <a:t>----------------------------------</a:t>
            </a:r>
          </a:p>
          <a:p>
            <a:r>
              <a:rPr lang="en-US" sz="1200" b="1" dirty="0"/>
              <a:t>Details:</a:t>
            </a:r>
            <a:endParaRPr lang="en-US" sz="1200" dirty="0"/>
          </a:p>
          <a:p>
            <a:pPr marL="171450" lvl="0" indent="-171450">
              <a:buFont typeface="Arial" panose="020B0604020202020204" pitchFamily="34" charset="0"/>
              <a:buChar char="•"/>
            </a:pPr>
            <a:r>
              <a:rPr lang="en-US" sz="1200" kern="1200" dirty="0">
                <a:solidFill>
                  <a:schemeClr val="tx1"/>
                </a:solidFill>
                <a:effectLst/>
                <a:latin typeface="Arial" panose="020B0604020202020204" pitchFamily="34" charset="0"/>
                <a:ea typeface="+mn-ea"/>
                <a:cs typeface="+mn-cs"/>
              </a:rPr>
              <a:t>Some features subject to licensing requirements, and depend on the architecture used.  (OSA versus ESA)</a:t>
            </a:r>
            <a:endParaRPr lang="en-US" sz="2000" b="1" dirty="0"/>
          </a:p>
          <a:p>
            <a:pPr marL="0" indent="0">
              <a:buFont typeface="Arial" panose="020B0604020202020204" pitchFamily="34" charset="0"/>
              <a:buNone/>
            </a:pPr>
            <a:r>
              <a:rPr lang="en-US" dirty="0"/>
              <a:t>----------------------------------</a:t>
            </a:r>
          </a:p>
          <a:p>
            <a:r>
              <a:rPr lang="en-US" sz="1200" b="1" kern="1200" baseline="0" dirty="0">
                <a:solidFill>
                  <a:schemeClr val="tx1"/>
                </a:solidFill>
                <a:latin typeface="Arial" panose="020B0604020202020204" pitchFamily="34" charset="0"/>
                <a:ea typeface="+mn-ea"/>
                <a:cs typeface="+mn-cs"/>
              </a:rPr>
              <a:t>Additional 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TBD</a:t>
            </a:r>
          </a:p>
          <a:p>
            <a:endParaRPr lang="en-US" dirty="0"/>
          </a:p>
        </p:txBody>
      </p:sp>
      <p:sp>
        <p:nvSpPr>
          <p:cNvPr id="4" name="Slide Number Placeholder 3">
            <a:extLst>
              <a:ext uri="{FF2B5EF4-FFF2-40B4-BE49-F238E27FC236}">
                <a16:creationId xmlns:a16="http://schemas.microsoft.com/office/drawing/2014/main" id="{29D287CA-2F79-3342-F9C8-BFD9419DA0D8}"/>
              </a:ext>
            </a:extLst>
          </p:cNvPr>
          <p:cNvSpPr>
            <a:spLocks noGrp="1"/>
          </p:cNvSpPr>
          <p:nvPr>
            <p:ph type="sldNum" sz="quarter" idx="5"/>
          </p:nvPr>
        </p:nvSpPr>
        <p:spPr/>
        <p:txBody>
          <a:bodyPr/>
          <a:lstStyle/>
          <a:p>
            <a:fld id="{9F4FBC3A-A12C-40F9-BB8D-BC30C7901396}" type="slidenum">
              <a:rPr lang="en-US" smtClean="0"/>
              <a:pPr/>
              <a:t>35</a:t>
            </a:fld>
            <a:endParaRPr lang="en-US" dirty="0"/>
          </a:p>
        </p:txBody>
      </p:sp>
    </p:spTree>
    <p:extLst>
      <p:ext uri="{BB962C8B-B14F-4D97-AF65-F5344CB8AC3E}">
        <p14:creationId xmlns:p14="http://schemas.microsoft.com/office/powerpoint/2010/main" val="15622543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78E84-C4DE-AB40-FB7B-E42622EF1A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D2C4F1-3E6E-799C-8D11-B26F4A9F96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8A4850-F3D5-197F-09B4-5B63481CFA60}"/>
              </a:ext>
            </a:extLst>
          </p:cNvPr>
          <p:cNvSpPr>
            <a:spLocks noGrp="1"/>
          </p:cNvSpPr>
          <p:nvPr>
            <p:ph type="body" idx="1"/>
          </p:nvPr>
        </p:nvSpPr>
        <p:spPr/>
        <p:txBody>
          <a:bodyPr>
            <a:normAutofit fontScale="32500" lnSpcReduction="20000"/>
          </a:bodyPr>
          <a:lstStyle/>
          <a:p>
            <a:r>
              <a:rPr lang="en-US" sz="1200" b="1" dirty="0"/>
              <a:t>Key Message/Talk track:</a:t>
            </a:r>
          </a:p>
          <a:p>
            <a:r>
              <a:rPr lang="en-US" sz="1200" b="0" dirty="0"/>
              <a:t>Administrators responsible for the health and well-being of an environment have a lot to think about.   In vSAN 8 U1, VMware has developed an all-new cluster health status and troubleshooting dashboard.  </a:t>
            </a:r>
            <a:r>
              <a:rPr lang="en-US" sz="1200" b="1" dirty="0"/>
              <a:t>It helps answer the basic questions of, “Is my cluster and the workloads it serves in a health state?” and if not, how sever is the condition?  …and should the issue be resolved?  </a:t>
            </a:r>
            <a:r>
              <a:rPr lang="en-US" sz="1200" b="0" dirty="0"/>
              <a:t>It provides that information that traditional health alerts alone cannot. For each vSAN cluster, the Skyline Health for vSAN will provide a quick at-a-glance score of the condition of a cluster so an administrator can easily determine if all is good, and if not, how impactful any identified issues are.  The new mechanism used a sophisticated method of weighing triggered health checks, and aligns them with common pillars of responsibility.  It will then provide the most important, impactful triggered health findings in an order of priority so that an administrator can resolve issues quickly and easily. </a:t>
            </a:r>
          </a:p>
          <a:p>
            <a:r>
              <a:rPr lang="en-US" sz="1200" dirty="0"/>
              <a:t>----------------------------------</a:t>
            </a:r>
          </a:p>
          <a:p>
            <a:r>
              <a:rPr lang="en-US" sz="1200" b="1" dirty="0"/>
              <a:t>Overview:</a:t>
            </a:r>
          </a:p>
          <a:p>
            <a:pPr marL="171450" indent="-171450">
              <a:buFont typeface="Arial" panose="020B0604020202020204" pitchFamily="34" charset="0"/>
              <a:buChar char="•"/>
            </a:pPr>
            <a:r>
              <a:rPr lang="en-US" dirty="0"/>
              <a:t>Provides </a:t>
            </a:r>
            <a:r>
              <a:rPr lang="en-US" b="1" dirty="0"/>
              <a:t>cluster health score </a:t>
            </a:r>
            <a:r>
              <a:rPr lang="en-US" dirty="0"/>
              <a:t>for </a:t>
            </a:r>
            <a:r>
              <a:rPr lang="en-US" b="1" dirty="0"/>
              <a:t>at-a-glance</a:t>
            </a:r>
            <a:r>
              <a:rPr lang="en-US" dirty="0"/>
              <a:t> condition of </a:t>
            </a:r>
            <a:r>
              <a:rPr lang="en-US" b="1" dirty="0"/>
              <a:t>cluster</a:t>
            </a:r>
          </a:p>
          <a:p>
            <a:pPr marL="171450" indent="-171450">
              <a:buFont typeface="Arial" panose="020B0604020202020204" pitchFamily="34" charset="0"/>
              <a:buChar char="•"/>
            </a:pPr>
            <a:r>
              <a:rPr lang="en-US" b="1" dirty="0"/>
              <a:t>Prioritizes </a:t>
            </a:r>
            <a:r>
              <a:rPr lang="en-US" dirty="0"/>
              <a:t>identified issues to </a:t>
            </a:r>
            <a:r>
              <a:rPr lang="en-US" b="1" dirty="0"/>
              <a:t>help address </a:t>
            </a:r>
            <a:r>
              <a:rPr lang="en-US" dirty="0"/>
              <a:t>most important condition </a:t>
            </a:r>
            <a:r>
              <a:rPr lang="en-US" b="1" dirty="0"/>
              <a:t>first</a:t>
            </a:r>
          </a:p>
          <a:p>
            <a:pPr marL="171450" indent="-171450">
              <a:buFont typeface="Arial" panose="020B0604020202020204" pitchFamily="34" charset="0"/>
              <a:buChar char="•"/>
            </a:pPr>
            <a:r>
              <a:rPr lang="en-US" b="1" dirty="0"/>
              <a:t>Weighs issues </a:t>
            </a:r>
            <a:r>
              <a:rPr lang="en-US" dirty="0"/>
              <a:t>using common Administrator </a:t>
            </a:r>
            <a:r>
              <a:rPr lang="en-US" b="1" dirty="0"/>
              <a:t>responsibilities</a:t>
            </a:r>
          </a:p>
          <a:p>
            <a:pPr marL="628650" lvl="1" indent="-171450">
              <a:buFont typeface="Arial" panose="020B0604020202020204" pitchFamily="34" charset="0"/>
              <a:buChar char="•"/>
            </a:pPr>
            <a:r>
              <a:rPr lang="en-US" dirty="0"/>
              <a:t>Data availability</a:t>
            </a:r>
          </a:p>
          <a:p>
            <a:pPr marL="628650" lvl="1" indent="-171450">
              <a:buFont typeface="Arial" panose="020B0604020202020204" pitchFamily="34" charset="0"/>
              <a:buChar char="•"/>
            </a:pPr>
            <a:r>
              <a:rPr lang="en-US" dirty="0"/>
              <a:t>Performance</a:t>
            </a:r>
          </a:p>
          <a:p>
            <a:pPr marL="628650" lvl="1" indent="-171450">
              <a:buFont typeface="Arial" panose="020B0604020202020204" pitchFamily="34" charset="0"/>
              <a:buChar char="•"/>
            </a:pPr>
            <a:r>
              <a:rPr lang="en-US" dirty="0"/>
              <a:t>Capacity utilization</a:t>
            </a:r>
          </a:p>
          <a:p>
            <a:pPr marL="628650" lvl="1" indent="-171450">
              <a:buFont typeface="Arial" panose="020B0604020202020204" pitchFamily="34" charset="0"/>
              <a:buChar char="•"/>
            </a:pPr>
            <a:r>
              <a:rPr lang="en-US" dirty="0"/>
              <a:t>Efficiency &amp; Compliance</a:t>
            </a:r>
          </a:p>
          <a:p>
            <a:pPr marL="171450" indent="-171450">
              <a:buFont typeface="Arial" panose="020B0604020202020204" pitchFamily="34" charset="0"/>
              <a:buChar char="•"/>
            </a:pPr>
            <a:r>
              <a:rPr lang="en-US" b="1" dirty="0"/>
              <a:t>Take action </a:t>
            </a:r>
            <a:r>
              <a:rPr lang="en-US" dirty="0"/>
              <a:t>on the </a:t>
            </a:r>
            <a:r>
              <a:rPr lang="en-US" b="1" dirty="0"/>
              <a:t>most important issue</a:t>
            </a:r>
            <a:r>
              <a:rPr lang="en-US" dirty="0"/>
              <a:t>, first</a:t>
            </a:r>
            <a:endParaRPr lang="en-US" b="1" dirty="0"/>
          </a:p>
          <a:p>
            <a:pPr marL="0" indent="0">
              <a:spcBef>
                <a:spcPts val="1779"/>
              </a:spcBef>
              <a:buFont typeface="Arial" panose="020B0604020202020204" pitchFamily="34" charset="0"/>
              <a:buNone/>
            </a:pPr>
            <a:r>
              <a:rPr lang="en-US" dirty="0"/>
              <a:t>----------------------------------</a:t>
            </a:r>
          </a:p>
          <a:p>
            <a:r>
              <a:rPr lang="en-US" b="1" dirty="0"/>
              <a:t>Details:</a:t>
            </a:r>
            <a:endParaRPr lang="en-US" b="0" u="none" dirty="0"/>
          </a:p>
          <a:p>
            <a:pPr marL="171450" indent="-171450">
              <a:buFont typeface="Arial" panose="020B0604020202020204" pitchFamily="34" charset="0"/>
              <a:buChar char="•"/>
            </a:pPr>
            <a:r>
              <a:rPr lang="en-US" b="0" u="none" dirty="0"/>
              <a:t>The Skyline Health checks for vSAN allows administrators to verify the status of well over a hundred discrete health checks.  While this can be useful, it lacks in its usefulness to administrators in the following ways:</a:t>
            </a:r>
          </a:p>
          <a:p>
            <a:pPr marL="628650" lvl="1" indent="-171450">
              <a:buFont typeface="Arial" panose="020B0604020202020204" pitchFamily="34" charset="0"/>
              <a:buChar char="•"/>
            </a:pPr>
            <a:r>
              <a:rPr lang="en-US" b="0" u="none" dirty="0"/>
              <a:t>Does not convey health condition in a way that is in alignment with common administrative pillars of responsibility (e.g. Availability of data and services, Performance SLAs, etc.)</a:t>
            </a:r>
          </a:p>
          <a:p>
            <a:pPr marL="628650" lvl="1" indent="-171450">
              <a:buFont typeface="Arial" panose="020B0604020202020204" pitchFamily="34" charset="0"/>
              <a:buChar char="•"/>
            </a:pPr>
            <a:r>
              <a:rPr lang="en-US" b="0" u="none" dirty="0"/>
              <a:t>Does not convey health severity</a:t>
            </a:r>
            <a:r>
              <a:rPr lang="en-US" b="1" u="none" dirty="0"/>
              <a:t>.  </a:t>
            </a:r>
            <a:r>
              <a:rPr lang="en-US" b="0" u="none" dirty="0"/>
              <a:t>What type of impact the triggered health check(s) may have on a cluster</a:t>
            </a:r>
          </a:p>
          <a:p>
            <a:pPr marL="628650" lvl="1" indent="-171450">
              <a:buFont typeface="Arial" panose="020B0604020202020204" pitchFamily="34" charset="0"/>
              <a:buChar char="•"/>
            </a:pPr>
            <a:r>
              <a:rPr lang="en-US" b="0" u="none" dirty="0"/>
              <a:t>Does not provide a correlation of triggered health checks and their relationship to one another. (until vSAN 7 U3)</a:t>
            </a:r>
          </a:p>
          <a:p>
            <a:pPr marL="628650" lvl="1" indent="-171450">
              <a:buFont typeface="Arial" panose="020B0604020202020204" pitchFamily="34" charset="0"/>
              <a:buChar char="•"/>
            </a:pPr>
            <a:r>
              <a:rPr lang="en-US" b="0" u="none" dirty="0"/>
              <a:t>It presents triggered health checks in arbitrary form, visually presenting a more benign triggered health check with a more important triggered health check equally – which can be misleading in terms of what to address first.</a:t>
            </a:r>
          </a:p>
          <a:p>
            <a:pPr marL="628650" lvl="1" indent="-171450">
              <a:buFont typeface="Arial" panose="020B0604020202020204" pitchFamily="34" charset="0"/>
              <a:buChar char="•"/>
            </a:pPr>
            <a:r>
              <a:rPr lang="en-US" b="0" u="none" dirty="0"/>
              <a:t>More health checks added to a list exacerbates the problem of which triggered health check to address first.</a:t>
            </a:r>
          </a:p>
          <a:p>
            <a:pPr marL="628650" lvl="1" indent="-171450">
              <a:buFont typeface="Arial" panose="020B0604020202020204" pitchFamily="34" charset="0"/>
              <a:buChar char="•"/>
            </a:pPr>
            <a:r>
              <a:rPr lang="en-US" b="0" u="none" dirty="0"/>
              <a:t>Methods and order of remediation were unclear for many users.</a:t>
            </a:r>
          </a:p>
          <a:p>
            <a:pPr marL="171450" indent="-171450">
              <a:buFont typeface="Arial" panose="020B0604020202020204" pitchFamily="34" charset="0"/>
              <a:buChar char="•"/>
            </a:pPr>
            <a:r>
              <a:rPr lang="en-US" b="0" u="none" dirty="0"/>
              <a:t>vSAN 8 U1 introduces an all-new simplified way understand the health or status of a cluster, and remediate issues in a prioritized way.</a:t>
            </a:r>
          </a:p>
          <a:p>
            <a:pPr marL="628650" lvl="1" indent="-171450">
              <a:buFont typeface="Arial" panose="020B0604020202020204" pitchFamily="34" charset="0"/>
              <a:buChar char="•"/>
            </a:pPr>
            <a:r>
              <a:rPr lang="en-US" b="0" u="none" dirty="0"/>
              <a:t>Quickly identify the status of a cluster (e.g. “Do I need to address an issue now, or is it just a small matter that can wait?”)</a:t>
            </a:r>
          </a:p>
          <a:p>
            <a:pPr marL="628650" lvl="1" indent="-171450">
              <a:buFont typeface="Arial" panose="020B0604020202020204" pitchFamily="34" charset="0"/>
              <a:buChar char="•"/>
            </a:pPr>
            <a:r>
              <a:rPr lang="en-US" b="0" u="none" dirty="0"/>
              <a:t>Provides a summed, weighted value of triggered health checks to indicate severity, and priority.</a:t>
            </a:r>
          </a:p>
          <a:p>
            <a:pPr marL="628650" lvl="1" indent="-171450">
              <a:buFont typeface="Arial" panose="020B0604020202020204" pitchFamily="34" charset="0"/>
              <a:buChar char="•"/>
            </a:pPr>
            <a:r>
              <a:rPr lang="en-US" b="0" u="none" dirty="0"/>
              <a:t>Understand how any triggered health checks are impacting core administrator responsibilities</a:t>
            </a:r>
          </a:p>
          <a:p>
            <a:pPr marL="628650" lvl="1" indent="-171450">
              <a:buFont typeface="Arial" panose="020B0604020202020204" pitchFamily="34" charset="0"/>
              <a:buChar char="•"/>
            </a:pPr>
            <a:r>
              <a:rPr lang="en-US" b="0" u="none" dirty="0"/>
              <a:t>Gives a priority of remediation for triggered health checks.</a:t>
            </a:r>
          </a:p>
          <a:p>
            <a:pPr marL="628650" lvl="1" indent="-171450">
              <a:buFont typeface="Arial" panose="020B0604020202020204" pitchFamily="34" charset="0"/>
              <a:buChar char="•"/>
            </a:pPr>
            <a:r>
              <a:rPr lang="en-US" b="0" u="none" dirty="0"/>
              <a:t>Simplified steps for remediation in UI (manual or automated depending on the circumstances)</a:t>
            </a:r>
          </a:p>
          <a:p>
            <a:pPr marL="628650" lvl="1" indent="-171450">
              <a:buFont typeface="Arial" panose="020B0604020202020204" pitchFamily="34" charset="0"/>
              <a:buChar char="•"/>
            </a:pPr>
            <a:r>
              <a:rPr lang="en-US" b="0" u="none" dirty="0"/>
              <a:t>Provides a historical view of this cluster health score.</a:t>
            </a:r>
          </a:p>
          <a:p>
            <a:pPr marL="171450" lvl="0" indent="-171450">
              <a:buFont typeface="Arial" panose="020B0604020202020204" pitchFamily="34" charset="0"/>
              <a:buChar char="•"/>
            </a:pPr>
            <a:r>
              <a:rPr lang="en-US" b="0" u="none" dirty="0"/>
              <a:t>The new cluster health score and troubleshooting framework in vSAN uses a sophisticated algorithm to determine the score of a cluster so that triggered checks are accounted for with the appropriate level of severity.  It does so through the following ways:</a:t>
            </a:r>
          </a:p>
          <a:p>
            <a:pPr marL="628650" lvl="1" indent="-171450">
              <a:buFont typeface="Arial" panose="020B0604020202020204" pitchFamily="34" charset="0"/>
              <a:buChar char="•"/>
            </a:pPr>
            <a:r>
              <a:rPr lang="en-US" b="1" u="none" dirty="0"/>
              <a:t>Category Factor.  </a:t>
            </a:r>
            <a:r>
              <a:rPr lang="en-US" b="0" u="none" dirty="0"/>
              <a:t>All health checks fall into one of 4 general categories.  They are “</a:t>
            </a:r>
            <a:r>
              <a:rPr lang="en-US" b="1" u="none" dirty="0"/>
              <a:t>Availability</a:t>
            </a:r>
            <a:r>
              <a:rPr lang="en-US" b="0" u="none" dirty="0"/>
              <a:t>,” “</a:t>
            </a:r>
            <a:r>
              <a:rPr lang="en-US" b="1" u="none" dirty="0"/>
              <a:t>Performance</a:t>
            </a:r>
            <a:r>
              <a:rPr lang="en-US" b="0" u="none" dirty="0"/>
              <a:t>,” “</a:t>
            </a:r>
            <a:r>
              <a:rPr lang="en-US" b="1" u="none" dirty="0"/>
              <a:t>Capacity Utilization</a:t>
            </a:r>
            <a:r>
              <a:rPr lang="en-US" b="0" u="none" dirty="0"/>
              <a:t>” and “</a:t>
            </a:r>
            <a:r>
              <a:rPr lang="en-US" b="1" u="none" dirty="0"/>
              <a:t>Efficiency and Compliance</a:t>
            </a:r>
            <a:r>
              <a:rPr lang="en-US" b="0" u="none" dirty="0"/>
              <a:t>.”  These categories are weighted to align with typical administrator pillars of responsibility.  (Example. Efficiency and compliance isn’t important if none of the data is available in the first place).  Some categories like “Availability</a:t>
            </a:r>
            <a:r>
              <a:rPr lang="en-US" b="1" u="none" dirty="0"/>
              <a:t>”</a:t>
            </a:r>
            <a:r>
              <a:rPr lang="en-US" b="0" u="none" dirty="0"/>
              <a:t> have an additional level of distinction between data availability, and infrastructure availability to be more accurate in its scoring.</a:t>
            </a:r>
          </a:p>
          <a:p>
            <a:pPr marL="628650" lvl="1" indent="-171450">
              <a:buFont typeface="Arial" panose="020B0604020202020204" pitchFamily="34" charset="0"/>
              <a:buChar char="•"/>
            </a:pPr>
            <a:r>
              <a:rPr lang="en-US" b="1" u="none" dirty="0"/>
              <a:t>Priority factor.  </a:t>
            </a:r>
            <a:r>
              <a:rPr lang="en-US" b="0" u="none" dirty="0"/>
              <a:t>This helps give a weight to a triggered heath check within a category, aggregating the weight of the triggered health checks.</a:t>
            </a:r>
          </a:p>
          <a:p>
            <a:pPr marL="171450" lvl="0" indent="-171450">
              <a:buFont typeface="Arial" panose="020B0604020202020204" pitchFamily="34" charset="0"/>
              <a:buChar char="•"/>
            </a:pPr>
            <a:r>
              <a:rPr lang="en-US" b="0" u="none" dirty="0"/>
              <a:t>The cluster score ranges from 0-100, with 100 being a perfectly healthy cluster based on the condition of the health checks.</a:t>
            </a:r>
          </a:p>
          <a:p>
            <a:pPr marL="171450" lvl="0" indent="-171450">
              <a:buFont typeface="Arial" panose="020B0604020202020204" pitchFamily="34" charset="0"/>
              <a:buChar char="•"/>
            </a:pPr>
            <a:r>
              <a:rPr lang="en-US" b="0" u="none" dirty="0"/>
              <a:t>Triggered alerts that are silenced will still be deducted from the total score.</a:t>
            </a:r>
          </a:p>
          <a:p>
            <a:pPr marL="171450" lvl="0" indent="-171450">
              <a:buFont typeface="Arial" panose="020B0604020202020204" pitchFamily="34" charset="0"/>
              <a:buChar char="•"/>
            </a:pPr>
            <a:r>
              <a:rPr lang="en-US" b="0" u="none" dirty="0"/>
              <a:t>The cluster score dial has line breaks that denote three general states of the cluster.  This mimics, but in a much more accurate way, a common task administrators perform in quickly opening up vCenter server and randomly checking health checks, but in an arbitrary way.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u="none" dirty="0"/>
              <a:t>81-100</a:t>
            </a:r>
            <a:r>
              <a:rPr lang="en-US" b="0" u="none" dirty="0"/>
              <a:t>.  On Target/Healthy - No attention required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u="none" dirty="0"/>
              <a:t>61-80.   </a:t>
            </a:r>
            <a:r>
              <a:rPr lang="en-US" b="0" u="none" dirty="0"/>
              <a:t>Degraded health - Attention suggested.</a:t>
            </a:r>
          </a:p>
          <a:p>
            <a:pPr marL="628650" lvl="1" indent="-171450">
              <a:buFont typeface="Arial" panose="020B0604020202020204" pitchFamily="34" charset="0"/>
              <a:buChar char="•"/>
            </a:pPr>
            <a:r>
              <a:rPr lang="en-US" b="1" u="none" dirty="0"/>
              <a:t>0-60.  </a:t>
            </a:r>
            <a:r>
              <a:rPr lang="en-US" b="0" u="none" dirty="0"/>
              <a:t>Unhealthy - Attention required</a:t>
            </a:r>
          </a:p>
          <a:p>
            <a:pPr marL="171450" lvl="0" indent="-171450">
              <a:buFont typeface="Arial" panose="020B0604020202020204" pitchFamily="34" charset="0"/>
              <a:buChar char="•"/>
            </a:pPr>
            <a:r>
              <a:rPr lang="en-US" b="0" u="none" dirty="0"/>
              <a:t>Given the defined categories, one will find that if there are any triggered issues regarding “availability” (where data is unavailable, and not just degraded in prescribed resilience) it </a:t>
            </a:r>
            <a:r>
              <a:rPr lang="en-US" b="1" u="none" dirty="0"/>
              <a:t>will always </a:t>
            </a:r>
            <a:r>
              <a:rPr lang="en-US" b="0" u="none" dirty="0"/>
              <a:t>reduce the total cluster health score enough to where the scoring will be in the “Unhealthy – Attention required” range.</a:t>
            </a:r>
          </a:p>
          <a:p>
            <a:pPr marL="171450" lvl="0" indent="-171450">
              <a:buFont typeface="Arial" panose="020B0604020202020204" pitchFamily="34" charset="0"/>
              <a:buChar char="•"/>
            </a:pPr>
            <a:r>
              <a:rPr lang="en-US" b="0" u="none" dirty="0"/>
              <a:t>This capability is designed to prevent false positives from operational tasks, or the designed behavior of vSAN in how the types of conditions of alerts are weighted.  The Skyline health checks for vSAN </a:t>
            </a:r>
            <a:r>
              <a:rPr lang="en-US" b="1" u="none" dirty="0"/>
              <a:t>can distinguish between data unavailability versus data still available but degraded in its level of prescribed resilience.  </a:t>
            </a:r>
            <a:r>
              <a:rPr lang="en-US" b="0" u="none" dirty="0"/>
              <a:t>For example, a triggered health check of “vSAN Object Health” will impact a health score much more so if it is unavailable, than if it is available, but degraded due to a “reduced level of resilience” condition that could have been invoked by a planned EMM event using the “ensure accessibility” option.  It methodology is also applicable to device and host failures.</a:t>
            </a:r>
          </a:p>
          <a:p>
            <a:pPr marL="171450" lvl="0" indent="-171450">
              <a:buFont typeface="Arial" panose="020B0604020202020204" pitchFamily="34" charset="0"/>
              <a:buChar char="•"/>
            </a:pPr>
            <a:r>
              <a:rPr lang="en-US" b="0" u="none" dirty="0"/>
              <a:t>The “Capacity Utilization” and the “Efficiency and Compliance” categories attempt to convey to the administrator if they are utilizing their purchased resources optimally.  Anything that subtracts from the aggregate sum of resources could be deemed a reduction in efficiency because the cost of providing the services was increased relative to the loss of resources.  </a:t>
            </a:r>
          </a:p>
          <a:p>
            <a:pPr marL="171450" lvl="0" indent="-171450">
              <a:buFont typeface="Arial" panose="020B0604020202020204" pitchFamily="34" charset="0"/>
              <a:buChar char="•"/>
            </a:pPr>
            <a:r>
              <a:rPr lang="en-US" b="0" u="none" dirty="0"/>
              <a:t>Rendering a cluster health score sets the stage for the other aspect of this feature:  </a:t>
            </a:r>
            <a:r>
              <a:rPr lang="en-US" b="1" u="none" dirty="0"/>
              <a:t>The prioritized order of remediation of outstanding issues, with improved guidance for the triggered issues.</a:t>
            </a:r>
            <a:r>
              <a:rPr lang="en-US" b="0" u="none" dirty="0"/>
              <a:t> </a:t>
            </a:r>
          </a:p>
          <a:p>
            <a:pPr marL="171450" lvl="0" indent="-171450">
              <a:buFont typeface="Arial" panose="020B0604020202020204" pitchFamily="34" charset="0"/>
              <a:buChar char="•"/>
            </a:pPr>
            <a:r>
              <a:rPr lang="en-US" b="0" u="none" dirty="0"/>
              <a:t>The UX deemphasizes the simple enumeration of green health checks for the reasons described in bullet point #1, and prioritizes triggered health checks in priority of 1.) Level of impact on the cluster, and 2.) the hierarchal relationship that the triggered health checks have to each other.  </a:t>
            </a:r>
          </a:p>
          <a:p>
            <a:pPr marL="171450" lvl="0" indent="-171450">
              <a:buFont typeface="Arial" panose="020B0604020202020204" pitchFamily="34" charset="0"/>
              <a:buChar char="•"/>
            </a:pPr>
            <a:r>
              <a:rPr lang="en-US" b="0" u="none" dirty="0"/>
              <a:t>“Health Findings” will be presented in a list below the cluster health score and score timeline.  It will be sorted by a “recommend” (e.g. “root cause”) order of remediation.</a:t>
            </a:r>
          </a:p>
          <a:p>
            <a:pPr marL="171450" lvl="0" indent="-171450">
              <a:buFont typeface="Arial" panose="020B0604020202020204" pitchFamily="34" charset="0"/>
              <a:buChar char="•"/>
            </a:pPr>
            <a:r>
              <a:rPr lang="en-US" b="0" u="none" dirty="0"/>
              <a:t>The triggered health findings will always be sorted by “root cause” by default.  It can also be sorted by:</a:t>
            </a:r>
          </a:p>
          <a:p>
            <a:pPr marL="628650" lvl="1" indent="-171450">
              <a:buFont typeface="Arial" panose="020B0604020202020204" pitchFamily="34" charset="0"/>
              <a:buChar char="•"/>
            </a:pPr>
            <a:r>
              <a:rPr lang="en-US" b="0" u="none" dirty="0"/>
              <a:t>Occurred on</a:t>
            </a:r>
          </a:p>
          <a:p>
            <a:pPr marL="628650" lvl="1" indent="-171450">
              <a:buFont typeface="Arial" panose="020B0604020202020204" pitchFamily="34" charset="0"/>
              <a:buChar char="•"/>
            </a:pPr>
            <a:r>
              <a:rPr lang="en-US" b="0" u="none" dirty="0"/>
              <a:t>Status</a:t>
            </a:r>
          </a:p>
          <a:p>
            <a:pPr marL="628650" lvl="1" indent="-171450">
              <a:buFont typeface="Arial" panose="020B0604020202020204" pitchFamily="34" charset="0"/>
              <a:buChar char="•"/>
            </a:pPr>
            <a:r>
              <a:rPr lang="en-US" b="0" u="none" dirty="0"/>
              <a:t>Score</a:t>
            </a:r>
          </a:p>
          <a:p>
            <a:pPr marL="628650" lvl="1" indent="-171450">
              <a:buFont typeface="Arial" panose="020B0604020202020204" pitchFamily="34" charset="0"/>
              <a:buChar char="•"/>
            </a:pPr>
            <a:r>
              <a:rPr lang="en-US" b="0" u="none" dirty="0"/>
              <a:t>Category</a:t>
            </a:r>
          </a:p>
          <a:p>
            <a:pPr marL="628650" lvl="1" indent="-171450">
              <a:buFont typeface="Arial" panose="020B0604020202020204" pitchFamily="34" charset="0"/>
              <a:buChar char="•"/>
            </a:pPr>
            <a:r>
              <a:rPr lang="en-US" b="0" u="none" dirty="0"/>
              <a:t>Impact area</a:t>
            </a:r>
          </a:p>
          <a:p>
            <a:pPr marL="171450" lvl="0" indent="-171450">
              <a:buFont typeface="Arial" panose="020B0604020202020204" pitchFamily="34" charset="0"/>
              <a:buChar char="•"/>
            </a:pPr>
            <a:r>
              <a:rPr lang="en-US" b="0" u="none" dirty="0"/>
              <a:t>The remediation will always surface the root cause of the issue.  For example, in the event of a data availability issue, there may be an “object health” warning that is most certainly important, but this in many ways is a symptom-based health check.  There may also be a  “network partition” alert associated with this issue, where it is a symptom of the related issue.  Skyline health will recognize this, and present the “root cause” alert “e.g. “vSAN </a:t>
            </a:r>
            <a:r>
              <a:rPr lang="en-US" b="0" u="none" dirty="0" err="1"/>
              <a:t>vmknic</a:t>
            </a:r>
            <a:r>
              <a:rPr lang="en-US" b="0" u="none" dirty="0"/>
              <a:t> is not configured” as the first order of resolving the issue.  </a:t>
            </a:r>
          </a:p>
          <a:p>
            <a:pPr marL="171450" lvl="0" indent="-171450">
              <a:buFont typeface="Arial" panose="020B0604020202020204" pitchFamily="34" charset="0"/>
              <a:buChar char="•"/>
            </a:pPr>
            <a:r>
              <a:rPr lang="en-US" b="0" u="none" dirty="0"/>
              <a:t>The dashboard deemphasizes an enumerated list of health checks that have passed, as the details of passed health checks have limited relevance.  They are however visible by selecting the “Healthy” tab in the “Health Findings” of the Cluster dashboard.</a:t>
            </a:r>
          </a:p>
          <a:p>
            <a:pPr marL="171450" lvl="0" indent="-171450">
              <a:buFont typeface="Arial" panose="020B0604020202020204" pitchFamily="34" charset="0"/>
              <a:buChar char="•"/>
            </a:pPr>
            <a:r>
              <a:rPr lang="en-US" b="0" u="none" dirty="0"/>
              <a:t>The guidance in many of the triggered health checks have improved.  While we aim to have semi-automated “fix issue” workflows in place, enhancements in the guidance should help customers resolve issues more quickly.</a:t>
            </a:r>
          </a:p>
          <a:p>
            <a:pPr marL="171450" indent="-171450">
              <a:buFont typeface="Arial" panose="020B0604020202020204" pitchFamily="34" charset="0"/>
              <a:buChar char="•"/>
            </a:pPr>
            <a:r>
              <a:rPr lang="en-US" b="0" u="none" dirty="0"/>
              <a:t>This new capability builds off of the Skyline Health Check correlation capability introduced in vSAN 7 U3.  This health check correlation capability introduced the ability for various health checks to understand the relationship of one health check to another for improved levels of troubleshooting.  These relationship mapping of the health checks grows more sophisticated with each release, and plays a critical role in helping the administrator address the root cause of a triggered issue.</a:t>
            </a:r>
          </a:p>
          <a:p>
            <a:pPr marL="171450" indent="-171450">
              <a:buFont typeface="Arial" panose="020B0604020202020204" pitchFamily="34" charset="0"/>
              <a:buChar char="•"/>
            </a:pPr>
            <a:r>
              <a:rPr lang="en-US" b="0" u="none" dirty="0"/>
              <a:t>At this time, the majority of the checks in the vSAN health check engine are focused availability. As a result, the cluster scoring, identification of issues, and direct paths for remediation are the strongest with availability concerns.  As our health check engine continues to add more checks for performance, capacity utilization, and efficiency, it will become more effective and important to the understanding of the conditions of cluster health in those areas, and offer more sophisticated methods for remediation.</a:t>
            </a:r>
          </a:p>
          <a:p>
            <a:pPr marL="171450" indent="-171450">
              <a:buFont typeface="Arial" panose="020B0604020202020204" pitchFamily="34" charset="0"/>
              <a:buChar char="•"/>
            </a:pPr>
            <a:r>
              <a:rPr lang="en-US" b="0" u="none" dirty="0"/>
              <a:t>A cross-BG effort has transitioned the “health Check” terminology across vCenter Server to “Health Findings.”  They mean the same thing, but for all future UI references, you will see the term “health findings” used.</a:t>
            </a:r>
          </a:p>
          <a:p>
            <a:pPr marL="171450" indent="-171450">
              <a:buFont typeface="Arial" panose="020B0604020202020204" pitchFamily="34" charset="0"/>
              <a:buChar char="•"/>
            </a:pPr>
            <a:r>
              <a:rPr lang="en-US" b="0" u="none" dirty="0"/>
              <a:t>Note that for all time based-metrics, the formatting of dates across a time-line can be adjusted to suit a country of origin.  Clicking on the “My Preferences” will provide a time format and language selection that can either be set for the browser default, or to a specific language.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Cluster health scoring mechanism mimics an approach often practiced by seasoned administrators, where issues are identified, weighted, and steps for remediation are prioritized.  However, Skyline Health for vSAN in vSAN 8 U1 is able to achieve these practices in a similar way for all customers, regardless of skillset.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latin typeface="Arial" panose="020B0604020202020204" pitchFamily="34" charset="0"/>
                <a:ea typeface="+mn-ea"/>
                <a:cs typeface="+mn-cs"/>
              </a:rPr>
              <a:t>----------------------------------</a:t>
            </a:r>
          </a:p>
          <a:p>
            <a:r>
              <a:rPr lang="en-US" sz="1200" b="1" kern="1200" baseline="0" dirty="0">
                <a:solidFill>
                  <a:schemeClr val="tx1"/>
                </a:solidFill>
                <a:latin typeface="Arial" panose="020B0604020202020204" pitchFamily="34" charset="0"/>
                <a:ea typeface="+mn-ea"/>
                <a:cs typeface="+mn-cs"/>
              </a:rPr>
              <a:t>Additional Information:</a:t>
            </a:r>
          </a:p>
          <a:p>
            <a:pPr marL="169495" indent="-169495">
              <a:buFont typeface="Arial" panose="020B0604020202020204" pitchFamily="34" charset="0"/>
              <a:buChar char="•"/>
            </a:pPr>
            <a:r>
              <a:rPr lang="en-US" dirty="0"/>
              <a:t>TBD</a:t>
            </a:r>
            <a:endParaRPr lang="en-US" sz="1200" dirty="0">
              <a:solidFill>
                <a:schemeClr val="tx2"/>
              </a:solidFill>
            </a:endParaRPr>
          </a:p>
          <a:p>
            <a:endParaRPr lang="en-US" dirty="0"/>
          </a:p>
        </p:txBody>
      </p:sp>
      <p:sp>
        <p:nvSpPr>
          <p:cNvPr id="4" name="Slide Number Placeholder 3">
            <a:extLst>
              <a:ext uri="{FF2B5EF4-FFF2-40B4-BE49-F238E27FC236}">
                <a16:creationId xmlns:a16="http://schemas.microsoft.com/office/drawing/2014/main" id="{34AD19B9-CE31-48AC-B9CD-240923C4AFC7}"/>
              </a:ext>
            </a:extLst>
          </p:cNvPr>
          <p:cNvSpPr>
            <a:spLocks noGrp="1"/>
          </p:cNvSpPr>
          <p:nvPr>
            <p:ph type="sldNum" sz="quarter" idx="5"/>
          </p:nvPr>
        </p:nvSpPr>
        <p:spPr/>
        <p:txBody>
          <a:bodyPr/>
          <a:lstStyle/>
          <a:p>
            <a:fld id="{9F4FBC3A-A12C-40F9-BB8D-BC30C7901396}" type="slidenum">
              <a:rPr lang="en-US" smtClean="0"/>
              <a:pPr/>
              <a:t>36</a:t>
            </a:fld>
            <a:endParaRPr lang="en-US"/>
          </a:p>
        </p:txBody>
      </p:sp>
    </p:spTree>
    <p:extLst>
      <p:ext uri="{BB962C8B-B14F-4D97-AF65-F5344CB8AC3E}">
        <p14:creationId xmlns:p14="http://schemas.microsoft.com/office/powerpoint/2010/main" val="31653157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3967D-C242-6458-1BFF-AC7D1E0A0D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720026-59BC-88A7-B29D-7771645476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27F794-6342-23D8-4FA9-7CA6078EB622}"/>
              </a:ext>
            </a:extLst>
          </p:cNvPr>
          <p:cNvSpPr>
            <a:spLocks noGrp="1"/>
          </p:cNvSpPr>
          <p:nvPr>
            <p:ph type="body" idx="1"/>
          </p:nvPr>
        </p:nvSpPr>
        <p:spPr/>
        <p:txBody>
          <a:bodyPr>
            <a:normAutofit fontScale="77500" lnSpcReduction="20000"/>
          </a:bodyPr>
          <a:lstStyle/>
          <a:p>
            <a:r>
              <a:rPr lang="en-US" sz="1200" b="1" kern="1200" baseline="0" dirty="0">
                <a:solidFill>
                  <a:schemeClr val="tx1"/>
                </a:solidFill>
                <a:latin typeface="Arial" panose="020B0604020202020204" pitchFamily="34" charset="0"/>
                <a:ea typeface="+mn-ea"/>
                <a:cs typeface="+mn-cs"/>
              </a:rPr>
              <a:t>Key Message/Talk track:</a:t>
            </a:r>
          </a:p>
          <a:p>
            <a:r>
              <a:rPr lang="en-US" sz="1200" b="1" kern="1200" baseline="0" dirty="0">
                <a:solidFill>
                  <a:schemeClr val="tx1"/>
                </a:solidFill>
                <a:latin typeface="Arial" panose="020B0604020202020204" pitchFamily="34" charset="0"/>
                <a:ea typeface="+mn-ea"/>
                <a:cs typeface="+mn-cs"/>
              </a:rPr>
              <a:t>vSAN supports all different types of workloads and topologies. </a:t>
            </a:r>
            <a:r>
              <a:rPr lang="en-US" sz="1200" b="0" kern="1200" baseline="0" dirty="0">
                <a:solidFill>
                  <a:schemeClr val="tx1"/>
                </a:solidFill>
                <a:latin typeface="Arial" panose="020B0604020202020204" pitchFamily="34" charset="0"/>
                <a:ea typeface="+mn-ea"/>
                <a:cs typeface="+mn-cs"/>
              </a:rPr>
              <a:t> Run business critical applications along-side other applications or carve out clusters focused on specific application requirements.  Whether they be VDI workloads, business critical workloads, cloud native applications, or common IT service workloads, not only can you easily meet the needs of the application, but the flexibility of the architecture allows you to deliver those services in many different ways.  House them in a central data center, or perhaps a stretched cluster that spans two physical sites.  Maybe an organization has several branch offices, or perhaps they want the flexibility to expand resources by using the cloud.  vSAN can meet all of these demands, and more, all by using a single management plane: vCenter Server.</a:t>
            </a:r>
          </a:p>
          <a:p>
            <a:r>
              <a:rPr lang="en-US" sz="1200" b="0" kern="1200" baseline="0" dirty="0">
                <a:solidFill>
                  <a:schemeClr val="tx1"/>
                </a:solidFill>
                <a:latin typeface="Arial" panose="020B0604020202020204" pitchFamily="34" charset="0"/>
                <a:ea typeface="+mn-ea"/>
                <a:cs typeface="+mn-cs"/>
              </a:rPr>
              <a:t>----------------------------------</a:t>
            </a:r>
          </a:p>
          <a:p>
            <a:r>
              <a:rPr lang="en-US" sz="1200" b="1" kern="1200" baseline="0" dirty="0">
                <a:solidFill>
                  <a:schemeClr val="tx1"/>
                </a:solidFill>
                <a:latin typeface="Arial" panose="020B0604020202020204" pitchFamily="34" charset="0"/>
                <a:ea typeface="+mn-ea"/>
                <a:cs typeface="+mn-cs"/>
              </a:rPr>
              <a:t>Overview:</a:t>
            </a:r>
          </a:p>
          <a:p>
            <a:pPr marL="171450" indent="-171450">
              <a:buFont typeface="Arial" panose="020B0604020202020204" pitchFamily="34" charset="0"/>
              <a:buChar char="•"/>
            </a:pPr>
            <a:r>
              <a:rPr lang="en-US" dirty="0"/>
              <a:t>Power </a:t>
            </a:r>
            <a:r>
              <a:rPr lang="en-US" b="1" dirty="0"/>
              <a:t>multiple application types </a:t>
            </a:r>
            <a:r>
              <a:rPr lang="en-US" dirty="0"/>
              <a:t>using vSAN</a:t>
            </a:r>
          </a:p>
          <a:p>
            <a:pPr marL="628650" lvl="1" indent="-171450">
              <a:buFont typeface="Arial" panose="020B0604020202020204" pitchFamily="34" charset="0"/>
              <a:buChar char="•"/>
            </a:pPr>
            <a:r>
              <a:rPr lang="en-US" dirty="0"/>
              <a:t>Business Critical Apps (BCA)</a:t>
            </a:r>
          </a:p>
          <a:p>
            <a:pPr marL="628650" lvl="1" indent="-171450">
              <a:buFont typeface="Arial" panose="020B0604020202020204" pitchFamily="34" charset="0"/>
              <a:buChar char="•"/>
            </a:pPr>
            <a:r>
              <a:rPr lang="en-US" dirty="0"/>
              <a:t>Cloud Native Apps (CNA)</a:t>
            </a:r>
          </a:p>
          <a:p>
            <a:pPr marL="628650" lvl="1" indent="-171450">
              <a:buFont typeface="Arial" panose="020B0604020202020204" pitchFamily="34" charset="0"/>
              <a:buChar char="•"/>
            </a:pPr>
            <a:r>
              <a:rPr lang="en-US" dirty="0"/>
              <a:t>IT Core Infrastructure </a:t>
            </a:r>
            <a:r>
              <a:rPr lang="en-US" dirty="0" err="1"/>
              <a:t>svcs</a:t>
            </a:r>
            <a:r>
              <a:rPr lang="en-US" dirty="0"/>
              <a:t>.</a:t>
            </a:r>
          </a:p>
          <a:p>
            <a:pPr marL="628650" lvl="1" indent="-171450">
              <a:buFont typeface="Arial" panose="020B0604020202020204" pitchFamily="34" charset="0"/>
              <a:buChar char="•"/>
            </a:pPr>
            <a:r>
              <a:rPr lang="en-US" dirty="0"/>
              <a:t>Virtual desktops (VDI)</a:t>
            </a:r>
          </a:p>
          <a:p>
            <a:pPr marL="628650" lvl="1" indent="-171450">
              <a:buFont typeface="Arial" panose="020B0604020202020204" pitchFamily="34" charset="0"/>
              <a:buChar char="•"/>
            </a:pPr>
            <a:r>
              <a:rPr lang="en-US" dirty="0"/>
              <a:t>Edge (2-Node Clusters)</a:t>
            </a:r>
          </a:p>
          <a:p>
            <a:pPr marL="171450" indent="-171450">
              <a:buFont typeface="Arial" panose="020B0604020202020204" pitchFamily="34" charset="0"/>
              <a:buChar char="•"/>
            </a:pPr>
            <a:r>
              <a:rPr lang="en-US" b="1" dirty="0"/>
              <a:t>Easily adapt</a:t>
            </a:r>
            <a:r>
              <a:rPr lang="en-US" dirty="0"/>
              <a:t> configuration to evolving needs</a:t>
            </a:r>
          </a:p>
          <a:p>
            <a:pPr marL="171450" indent="-171450">
              <a:buFont typeface="Arial" panose="020B0604020202020204" pitchFamily="34" charset="0"/>
              <a:buChar char="•"/>
            </a:pPr>
            <a:r>
              <a:rPr lang="en-US" dirty="0"/>
              <a:t>Use </a:t>
            </a:r>
            <a:r>
              <a:rPr lang="en-US" b="1" dirty="0"/>
              <a:t>multiple topologies </a:t>
            </a:r>
            <a:r>
              <a:rPr lang="en-US" dirty="0"/>
              <a:t>across environment</a:t>
            </a:r>
          </a:p>
          <a:p>
            <a:pPr marL="171450" indent="-171450">
              <a:buFont typeface="Arial" panose="020B0604020202020204" pitchFamily="34" charset="0"/>
              <a:buChar char="•"/>
            </a:pPr>
            <a:r>
              <a:rPr lang="en-US" dirty="0"/>
              <a:t>Manage through single interface</a:t>
            </a:r>
          </a:p>
          <a:p>
            <a:pPr marL="0" indent="0">
              <a:buFont typeface="Arial" panose="020B0604020202020204" pitchFamily="34" charset="0"/>
              <a:buNone/>
            </a:pPr>
            <a:r>
              <a:rPr lang="en-US" sz="1200" kern="1200" baseline="0" dirty="0">
                <a:solidFill>
                  <a:schemeClr val="tx1"/>
                </a:solidFill>
                <a:latin typeface="Arial" panose="020B0604020202020204" pitchFamily="34" charset="0"/>
                <a:ea typeface="+mn-ea"/>
                <a:cs typeface="+mn-cs"/>
              </a:rPr>
              <a:t>----------------------------------</a:t>
            </a:r>
          </a:p>
          <a:p>
            <a:r>
              <a:rPr lang="en-US" sz="1200" b="1" kern="1200" baseline="0" dirty="0">
                <a:solidFill>
                  <a:schemeClr val="tx1"/>
                </a:solidFill>
                <a:latin typeface="Arial" panose="020B0604020202020204" pitchFamily="34" charset="0"/>
                <a:ea typeface="+mn-ea"/>
                <a:cs typeface="+mn-cs"/>
              </a:rPr>
              <a:t>Details:</a:t>
            </a:r>
          </a:p>
          <a:p>
            <a:pPr marL="171450" indent="-171450">
              <a:buFont typeface="Arial" panose="020B0604020202020204" pitchFamily="34" charset="0"/>
              <a:buChar char="•"/>
            </a:pPr>
            <a:r>
              <a:rPr lang="en-US" dirty="0"/>
              <a:t>Flexibility in topologies could include, but are not limited to:</a:t>
            </a:r>
          </a:p>
          <a:p>
            <a:pPr marL="628650" lvl="1" indent="-171450">
              <a:buFont typeface="Arial" panose="020B0604020202020204" pitchFamily="34" charset="0"/>
              <a:buChar char="•"/>
            </a:pPr>
            <a:r>
              <a:rPr lang="en-US" dirty="0"/>
              <a:t>Standard clusters carved up to meet specific business needs</a:t>
            </a:r>
          </a:p>
          <a:p>
            <a:pPr marL="628650" lvl="1" indent="-171450">
              <a:buFont typeface="Arial" panose="020B0604020202020204" pitchFamily="34" charset="0"/>
              <a:buChar char="•"/>
            </a:pPr>
            <a:r>
              <a:rPr lang="en-US" dirty="0"/>
              <a:t>Standard clusters using explicit fault domains</a:t>
            </a:r>
          </a:p>
          <a:p>
            <a:pPr marL="628650" lvl="1" indent="-171450">
              <a:buFont typeface="Arial" panose="020B0604020202020204" pitchFamily="34" charset="0"/>
              <a:buChar char="•"/>
            </a:pPr>
            <a:r>
              <a:rPr lang="en-US" dirty="0"/>
              <a:t>Standard clusters using HCI-Mesh</a:t>
            </a:r>
          </a:p>
          <a:p>
            <a:pPr marL="628650" lvl="1" indent="-171450">
              <a:buFont typeface="Arial" panose="020B0604020202020204" pitchFamily="34" charset="0"/>
              <a:buChar char="•"/>
            </a:pPr>
            <a:r>
              <a:rPr lang="en-US" dirty="0"/>
              <a:t>Hybrid-cloud configurations using a blend of hardware on premises and in the cloud</a:t>
            </a:r>
          </a:p>
          <a:p>
            <a:pPr marL="628650" lvl="1" indent="-171450">
              <a:buFont typeface="Arial" panose="020B0604020202020204" pitchFamily="34" charset="0"/>
              <a:buChar char="•"/>
            </a:pPr>
            <a:r>
              <a:rPr lang="en-US" dirty="0"/>
              <a:t>Stretched clusters</a:t>
            </a:r>
          </a:p>
          <a:p>
            <a:pPr marL="628650" lvl="1" indent="-171450">
              <a:buFont typeface="Arial" panose="020B0604020202020204" pitchFamily="34" charset="0"/>
              <a:buChar char="•"/>
            </a:pPr>
            <a:r>
              <a:rPr lang="en-US" dirty="0"/>
              <a:t>2-Node clusters</a:t>
            </a:r>
          </a:p>
          <a:p>
            <a:pPr marL="628650" lvl="1" indent="-171450">
              <a:buFont typeface="Arial" panose="020B0604020202020204" pitchFamily="34" charset="0"/>
              <a:buChar char="•"/>
            </a:pPr>
            <a:r>
              <a:rPr lang="en-US" dirty="0"/>
              <a:t>Clusters connected to </a:t>
            </a:r>
            <a:r>
              <a:rPr lang="en-US" dirty="0" err="1"/>
              <a:t>DRaaS</a:t>
            </a:r>
            <a:endParaRPr lang="en-US" dirty="0"/>
          </a:p>
          <a:p>
            <a:pPr marL="171450" lvl="0" indent="-171450">
              <a:buFont typeface="Arial" panose="020B0604020202020204" pitchFamily="34" charset="0"/>
              <a:buChar char="•"/>
            </a:pPr>
            <a:r>
              <a:rPr lang="en-US" dirty="0"/>
              <a:t>The emphasis of this slide is focused on traditional application.  Cloud native apps can be intermingled in this, but it is not shown for clarity.  </a:t>
            </a:r>
          </a:p>
          <a:p>
            <a:pPr marL="0" indent="0">
              <a:buFont typeface="Arial" panose="020B0604020202020204" pitchFamily="34" charset="0"/>
              <a:buNone/>
            </a:pPr>
            <a:r>
              <a:rPr lang="en-US" dirty="0"/>
              <a:t>----------------------------------</a:t>
            </a:r>
          </a:p>
          <a:p>
            <a:r>
              <a:rPr lang="en-US" sz="1200" b="1" kern="1200" baseline="0" dirty="0">
                <a:solidFill>
                  <a:schemeClr val="tx1"/>
                </a:solidFill>
                <a:latin typeface="Arial" panose="020B0604020202020204" pitchFamily="34" charset="0"/>
                <a:ea typeface="+mn-ea"/>
                <a:cs typeface="+mn-cs"/>
              </a:rPr>
              <a:t>Additional Information:</a:t>
            </a:r>
          </a:p>
          <a:p>
            <a:r>
              <a:rPr lang="en-US" dirty="0"/>
              <a:t>Use case:  vSAN in Industrial Environments:  https://</a:t>
            </a:r>
            <a:r>
              <a:rPr lang="en-US" dirty="0" err="1"/>
              <a:t>blogs.vmware.com</a:t>
            </a:r>
            <a:r>
              <a:rPr lang="en-US" dirty="0"/>
              <a:t>/cloud-foundation/2021/03/26/</a:t>
            </a:r>
            <a:r>
              <a:rPr lang="en-US" dirty="0" err="1"/>
              <a:t>vsan</a:t>
            </a:r>
            <a:r>
              <a:rPr lang="en-US" dirty="0"/>
              <a:t>-in-industrial-environments/ </a:t>
            </a:r>
          </a:p>
          <a:p>
            <a:r>
              <a:rPr lang="en-US" dirty="0"/>
              <a:t>Use case:  vSAN in Healthcare:  https://</a:t>
            </a:r>
            <a:r>
              <a:rPr lang="en-US" dirty="0" err="1"/>
              <a:t>blogs.vmware.com</a:t>
            </a:r>
            <a:r>
              <a:rPr lang="en-US" dirty="0"/>
              <a:t>/cloud-foundation/2021/06/16/</a:t>
            </a:r>
            <a:r>
              <a:rPr lang="en-US" dirty="0" err="1"/>
              <a:t>vsan</a:t>
            </a:r>
            <a:r>
              <a:rPr lang="en-US" dirty="0"/>
              <a:t>-in-healthcare/ </a:t>
            </a:r>
          </a:p>
          <a:p>
            <a:r>
              <a:rPr lang="en-US" dirty="0"/>
              <a:t>Use case:  vSAN Powering Biotech:  https://</a:t>
            </a:r>
            <a:r>
              <a:rPr lang="en-US" dirty="0" err="1"/>
              <a:t>blogs.vmware.com</a:t>
            </a:r>
            <a:r>
              <a:rPr lang="en-US" dirty="0"/>
              <a:t>/cloud-foundation/2021/04/07/</a:t>
            </a:r>
            <a:r>
              <a:rPr lang="en-US" dirty="0" err="1"/>
              <a:t>vsan</a:t>
            </a:r>
            <a:r>
              <a:rPr lang="en-US" dirty="0"/>
              <a:t>-powering-biotech/</a:t>
            </a:r>
          </a:p>
          <a:p>
            <a:r>
              <a:rPr lang="en-US" dirty="0"/>
              <a:t>Use case:  Multitenancy in vSAN:  https://</a:t>
            </a:r>
            <a:r>
              <a:rPr lang="en-US" dirty="0" err="1"/>
              <a:t>blogs.vmware.com</a:t>
            </a:r>
            <a:r>
              <a:rPr lang="en-US" dirty="0"/>
              <a:t>/cloud-foundation/2022/09/23/multitenancy-in-</a:t>
            </a:r>
            <a:r>
              <a:rPr lang="en-US" dirty="0" err="1"/>
              <a:t>vsan</a:t>
            </a:r>
            <a:r>
              <a:rPr lang="en-US" dirty="0"/>
              <a:t>/</a:t>
            </a:r>
          </a:p>
          <a:p>
            <a:endParaRPr lang="en-US" dirty="0"/>
          </a:p>
        </p:txBody>
      </p:sp>
      <p:sp>
        <p:nvSpPr>
          <p:cNvPr id="4" name="Slide Number Placeholder 3">
            <a:extLst>
              <a:ext uri="{FF2B5EF4-FFF2-40B4-BE49-F238E27FC236}">
                <a16:creationId xmlns:a16="http://schemas.microsoft.com/office/drawing/2014/main" id="{3C8E4451-3078-1D5E-C55B-80D1569A7325}"/>
              </a:ext>
            </a:extLst>
          </p:cNvPr>
          <p:cNvSpPr>
            <a:spLocks noGrp="1"/>
          </p:cNvSpPr>
          <p:nvPr>
            <p:ph type="sldNum" sz="quarter" idx="5"/>
          </p:nvPr>
        </p:nvSpPr>
        <p:spPr/>
        <p:txBody>
          <a:bodyPr/>
          <a:lstStyle/>
          <a:p>
            <a:fld id="{9F4FBC3A-A12C-40F9-BB8D-BC30C7901396}" type="slidenum">
              <a:rPr lang="en-US" smtClean="0"/>
              <a:pPr/>
              <a:t>37</a:t>
            </a:fld>
            <a:endParaRPr lang="en-US" dirty="0"/>
          </a:p>
        </p:txBody>
      </p:sp>
    </p:spTree>
    <p:extLst>
      <p:ext uri="{BB962C8B-B14F-4D97-AF65-F5344CB8AC3E}">
        <p14:creationId xmlns:p14="http://schemas.microsoft.com/office/powerpoint/2010/main" val="35317035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8E9D4-963D-BA81-BE0F-7EB5527A7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C6B0F6-8E32-9180-4FF2-3933BB564C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43BF4F-73FC-F5C0-0D2D-5AF771D97107}"/>
              </a:ext>
            </a:extLst>
          </p:cNvPr>
          <p:cNvSpPr>
            <a:spLocks noGrp="1"/>
          </p:cNvSpPr>
          <p:nvPr>
            <p:ph type="body" idx="1"/>
          </p:nvPr>
        </p:nvSpPr>
        <p:spPr/>
        <p:txBody>
          <a:bodyPr>
            <a:normAutofit fontScale="70000" lnSpcReduction="20000"/>
          </a:bodyPr>
          <a:lstStyle/>
          <a:p>
            <a:r>
              <a:rPr lang="en-US" sz="1200" b="1" dirty="0"/>
              <a:t>Key Message/Talk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Which one is right for you? </a:t>
            </a:r>
            <a:r>
              <a:rPr lang="en-US" sz="1800" kern="0" dirty="0">
                <a:effectLst/>
                <a:latin typeface="Calibri" panose="020F0502020204030204" pitchFamily="34" charset="0"/>
                <a:ea typeface="Times New Roman" panose="02020603050405020304" pitchFamily="18" charset="0"/>
                <a:cs typeface="Calibri" panose="020F0502020204030204" pitchFamily="34" charset="0"/>
              </a:rPr>
              <a:t>The circumstances or requirements you have in your environment may favor one deployment option over the other, but in most cases, it does not mean that a specific deployment option should be excluded from consideration.  The decision may come down to a unique set of considerations, or personal preference.  Regardless, the vSAN Express Storage Architecture powers all deployment options, giving you the performance, resilience, and scalability that is synonymous with the ESA.  Some of the key considerations come down to overall capacity needs, asymmetry of growth for compute resources versus storage resources, requirements of storage for existing clusters, and topology constraints.  Whatever is chosen, vSAN HCI clusters can happily coexist with vSAN storage clusters, as they are all managed in the very same way, using the very same software.</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r>
              <a:rPr lang="en-US" sz="1200" dirty="0"/>
              <a:t>----------------------------------</a:t>
            </a:r>
          </a:p>
          <a:p>
            <a:r>
              <a:rPr lang="en-US" sz="1200" b="1" dirty="0"/>
              <a:t>Overview:</a:t>
            </a:r>
          </a:p>
          <a:p>
            <a:pPr marL="171450" indent="-171450">
              <a:buFont typeface="Arial" panose="020B0604020202020204" pitchFamily="34" charset="0"/>
              <a:buChar char="•"/>
            </a:pPr>
            <a:r>
              <a:rPr lang="en-US" b="1" dirty="0">
                <a:solidFill>
                  <a:schemeClr val="accent5"/>
                </a:solidFill>
              </a:rPr>
              <a:t>vSAN HCI</a:t>
            </a:r>
          </a:p>
          <a:p>
            <a:pPr marL="628650" lvl="1" indent="-171450">
              <a:spcAft>
                <a:spcPts val="600"/>
              </a:spcAft>
              <a:buFont typeface="Arial" panose="020B0604020202020204" pitchFamily="34" charset="0"/>
              <a:buChar char="•"/>
            </a:pPr>
            <a:r>
              <a:rPr lang="en-US" sz="1200" b="1" dirty="0">
                <a:solidFill>
                  <a:schemeClr val="accent1"/>
                </a:solidFill>
              </a:rPr>
              <a:t>Unified lifecycle management </a:t>
            </a:r>
            <a:r>
              <a:rPr lang="en-US" sz="1200" dirty="0">
                <a:solidFill>
                  <a:schemeClr val="tx2"/>
                </a:solidFill>
              </a:rPr>
              <a:t>of storage and compute resources</a:t>
            </a:r>
          </a:p>
          <a:p>
            <a:pPr marL="628650" lvl="1" indent="-171450">
              <a:spcAft>
                <a:spcPts val="600"/>
              </a:spcAft>
              <a:buFont typeface="Arial" panose="020B0604020202020204" pitchFamily="34" charset="0"/>
              <a:buChar char="•"/>
            </a:pPr>
            <a:r>
              <a:rPr lang="en-US" sz="1200" b="1" dirty="0">
                <a:solidFill>
                  <a:schemeClr val="accent1"/>
                </a:solidFill>
              </a:rPr>
              <a:t>Symmetrical scaling </a:t>
            </a:r>
            <a:r>
              <a:rPr lang="en-US" sz="1200" dirty="0">
                <a:solidFill>
                  <a:schemeClr val="tx2"/>
                </a:solidFill>
              </a:rPr>
              <a:t>of storage and compute resources</a:t>
            </a:r>
          </a:p>
          <a:p>
            <a:pPr marL="628650" lvl="1" indent="-171450">
              <a:spcAft>
                <a:spcPts val="600"/>
              </a:spcAft>
              <a:buFont typeface="Arial" panose="020B0604020202020204" pitchFamily="34" charset="0"/>
              <a:buChar char="•"/>
            </a:pPr>
            <a:r>
              <a:rPr lang="en-US" sz="1200" dirty="0">
                <a:solidFill>
                  <a:schemeClr val="tx2"/>
                </a:solidFill>
              </a:rPr>
              <a:t>Treats storage as a </a:t>
            </a:r>
            <a:r>
              <a:rPr lang="en-US" sz="1200" b="1" dirty="0">
                <a:solidFill>
                  <a:schemeClr val="accent1"/>
                </a:solidFill>
              </a:rPr>
              <a:t>resource of the cluster</a:t>
            </a:r>
            <a:endParaRPr lang="en-US" b="1" dirty="0">
              <a:solidFill>
                <a:schemeClr val="accent5"/>
              </a:solidFill>
            </a:endParaRPr>
          </a:p>
          <a:p>
            <a:pPr marL="171450" indent="-171450">
              <a:buFont typeface="Arial" panose="020B0604020202020204" pitchFamily="34" charset="0"/>
              <a:buChar char="•"/>
            </a:pPr>
            <a:r>
              <a:rPr lang="en-US" b="1" dirty="0">
                <a:solidFill>
                  <a:schemeClr val="accent5"/>
                </a:solidFill>
              </a:rPr>
              <a:t>vSAN Storage Clusters</a:t>
            </a:r>
          </a:p>
          <a:p>
            <a:pPr marL="628650" lvl="1" indent="-171450">
              <a:spcAft>
                <a:spcPts val="600"/>
              </a:spcAft>
              <a:buFont typeface="Arial" panose="020B0604020202020204" pitchFamily="34" charset="0"/>
              <a:buChar char="•"/>
            </a:pPr>
            <a:r>
              <a:rPr lang="en-US" sz="1200" b="1" dirty="0">
                <a:solidFill>
                  <a:schemeClr val="accent1"/>
                </a:solidFill>
              </a:rPr>
              <a:t>Independent lifecycle management </a:t>
            </a:r>
            <a:r>
              <a:rPr lang="en-US" sz="1200" dirty="0">
                <a:solidFill>
                  <a:schemeClr val="tx2"/>
                </a:solidFill>
              </a:rPr>
              <a:t>of storage and compute resources</a:t>
            </a:r>
          </a:p>
          <a:p>
            <a:pPr marL="628650" lvl="1" indent="-171450">
              <a:spcAft>
                <a:spcPts val="600"/>
              </a:spcAft>
              <a:buFont typeface="Arial" panose="020B0604020202020204" pitchFamily="34" charset="0"/>
              <a:buChar char="•"/>
            </a:pPr>
            <a:r>
              <a:rPr lang="en-US" sz="1200" b="1" dirty="0">
                <a:solidFill>
                  <a:schemeClr val="accent1"/>
                </a:solidFill>
              </a:rPr>
              <a:t>Asymmetrical scaling </a:t>
            </a:r>
            <a:r>
              <a:rPr lang="en-US" sz="1200" dirty="0">
                <a:solidFill>
                  <a:schemeClr val="tx2"/>
                </a:solidFill>
              </a:rPr>
              <a:t>of storage and compute resources</a:t>
            </a:r>
          </a:p>
          <a:p>
            <a:pPr marL="628650" lvl="1" indent="-171450">
              <a:spcAft>
                <a:spcPts val="600"/>
              </a:spcAft>
              <a:buFont typeface="Arial" panose="020B0604020202020204" pitchFamily="34" charset="0"/>
              <a:buChar char="•"/>
            </a:pPr>
            <a:r>
              <a:rPr lang="en-US" sz="1200" b="1" dirty="0">
                <a:solidFill>
                  <a:schemeClr val="accent1"/>
                </a:solidFill>
              </a:rPr>
              <a:t>Extreme capacity </a:t>
            </a:r>
            <a:r>
              <a:rPr lang="en-US" sz="1200" dirty="0">
                <a:solidFill>
                  <a:schemeClr val="tx2"/>
                </a:solidFill>
              </a:rPr>
              <a:t>can serve many clusters</a:t>
            </a:r>
          </a:p>
          <a:p>
            <a:pPr marL="628650" lvl="1" indent="-171450">
              <a:spcAft>
                <a:spcPts val="600"/>
              </a:spcAft>
              <a:buFont typeface="Arial" panose="020B0604020202020204" pitchFamily="34" charset="0"/>
              <a:buChar char="•"/>
            </a:pPr>
            <a:r>
              <a:rPr lang="en-US" sz="1200" dirty="0">
                <a:solidFill>
                  <a:schemeClr val="tx2"/>
                </a:solidFill>
              </a:rPr>
              <a:t>Decoupled vSphere clusters can be sized to </a:t>
            </a:r>
            <a:r>
              <a:rPr lang="en-US" sz="1200" b="1" dirty="0">
                <a:solidFill>
                  <a:schemeClr val="accent1"/>
                </a:solidFill>
              </a:rPr>
              <a:t>optimize application licensing</a:t>
            </a:r>
            <a:endParaRPr lang="en-US" dirty="0"/>
          </a:p>
          <a:p>
            <a:pPr marL="0" indent="0">
              <a:spcBef>
                <a:spcPts val="1779"/>
              </a:spcBef>
              <a:buFont typeface="Arial" panose="020B0604020202020204" pitchFamily="34" charset="0"/>
              <a:buNone/>
            </a:pPr>
            <a:r>
              <a:rPr lang="en-US" dirty="0"/>
              <a:t>----------------------------------</a:t>
            </a:r>
          </a:p>
          <a:p>
            <a:r>
              <a:rPr lang="en-US" b="1" dirty="0"/>
              <a:t>Details: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See the document referenced below</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latin typeface="Arial" panose="020B0604020202020204" pitchFamily="34" charset="0"/>
                <a:ea typeface="+mn-ea"/>
                <a:cs typeface="+mn-cs"/>
              </a:rPr>
              <a:t>----------------------------------</a:t>
            </a:r>
          </a:p>
          <a:p>
            <a:r>
              <a:rPr lang="en-US" sz="1200" b="1" kern="1200" baseline="0" dirty="0">
                <a:solidFill>
                  <a:schemeClr val="tx1"/>
                </a:solidFill>
                <a:latin typeface="Arial" panose="020B0604020202020204" pitchFamily="34" charset="0"/>
                <a:ea typeface="+mn-ea"/>
                <a:cs typeface="+mn-cs"/>
              </a:rPr>
              <a:t>Additional Information:</a:t>
            </a:r>
          </a:p>
          <a:p>
            <a:pPr marL="169495" indent="-169495">
              <a:buFont typeface="Arial" panose="020B0604020202020204" pitchFamily="34" charset="0"/>
              <a:buChar char="•"/>
            </a:pPr>
            <a:r>
              <a:rPr lang="en-US" dirty="0"/>
              <a:t>Asset detailing this decision making process:  https://</a:t>
            </a:r>
            <a:r>
              <a:rPr lang="en-US" dirty="0" err="1"/>
              <a:t>blogs.vmware.com</a:t>
            </a:r>
            <a:r>
              <a:rPr lang="en-US" dirty="0"/>
              <a:t>/cloud-foundation/2024/01/22/vsan-hci-or-storage-clusters-which-deployment-option-is-right-for-you/</a:t>
            </a:r>
          </a:p>
          <a:p>
            <a:endParaRPr lang="en-US" dirty="0"/>
          </a:p>
          <a:p>
            <a:endParaRPr lang="en-US" dirty="0"/>
          </a:p>
        </p:txBody>
      </p:sp>
      <p:sp>
        <p:nvSpPr>
          <p:cNvPr id="4" name="Slide Number Placeholder 3">
            <a:extLst>
              <a:ext uri="{FF2B5EF4-FFF2-40B4-BE49-F238E27FC236}">
                <a16:creationId xmlns:a16="http://schemas.microsoft.com/office/drawing/2014/main" id="{1AA4AD72-1E08-DAFB-FCDB-5FA014A6DD03}"/>
              </a:ext>
            </a:extLst>
          </p:cNvPr>
          <p:cNvSpPr>
            <a:spLocks noGrp="1"/>
          </p:cNvSpPr>
          <p:nvPr>
            <p:ph type="sldNum" sz="quarter" idx="5"/>
          </p:nvPr>
        </p:nvSpPr>
        <p:spPr/>
        <p:txBody>
          <a:bodyPr/>
          <a:lstStyle/>
          <a:p>
            <a:fld id="{9F4FBC3A-A12C-40F9-BB8D-BC30C7901396}" type="slidenum">
              <a:rPr lang="en-US" smtClean="0"/>
              <a:pPr/>
              <a:t>38</a:t>
            </a:fld>
            <a:endParaRPr lang="en-US"/>
          </a:p>
        </p:txBody>
      </p:sp>
    </p:spTree>
    <p:extLst>
      <p:ext uri="{BB962C8B-B14F-4D97-AF65-F5344CB8AC3E}">
        <p14:creationId xmlns:p14="http://schemas.microsoft.com/office/powerpoint/2010/main" val="36249767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2735C-964A-E09F-015A-3E3AE142C4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FF480-03FD-E996-DD4C-CC96A564D6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7B1271-1567-81EB-6BE6-91125528B81F}"/>
              </a:ext>
            </a:extLst>
          </p:cNvPr>
          <p:cNvSpPr>
            <a:spLocks noGrp="1"/>
          </p:cNvSpPr>
          <p:nvPr>
            <p:ph type="body" idx="1"/>
          </p:nvPr>
        </p:nvSpPr>
        <p:spPr/>
        <p:txBody>
          <a:bodyPr>
            <a:normAutofit fontScale="85000" lnSpcReduction="20000"/>
          </a:bodyPr>
          <a:lstStyle/>
          <a:p>
            <a:r>
              <a:rPr lang="en-US" sz="1200" b="1" dirty="0"/>
              <a:t>Key Message/Talk track:</a:t>
            </a:r>
          </a:p>
          <a:p>
            <a:r>
              <a:rPr lang="en-US" sz="1200" b="0" dirty="0"/>
              <a:t>What makes the vSAN Express Storage Architecture found in vSAN 8 unique?  We’ll be looking at that in more detail throughout this presentation, but its capabilities are best captured by a quick summary of benefits it provides our customers.  </a:t>
            </a:r>
            <a:r>
              <a:rPr lang="en-US" sz="1200" b="1" dirty="0"/>
              <a:t>The vSAN ESA provides a new way for vSAN to process and store data efficiently.  </a:t>
            </a:r>
            <a:r>
              <a:rPr lang="en-US" sz="1200" b="0" dirty="0"/>
              <a:t>A new fast and efficient data path paired with an efficient and resilient data structure give our users the ability store and access data fast and efficiently.  The Express Storage Architecture also provides an all-new snapshot engine that is meets high levels of performance and scalability while remaining fully compatible for use with our ISV partners who provide backup solutions.  And finally, the vSAN Express Storage Architecture makes administering an environment simpler by improving how devices contribute as a storage resource to the cluster.  </a:t>
            </a:r>
            <a:r>
              <a:rPr lang="en-US" sz="1200" b="1" dirty="0"/>
              <a:t>Does this mean that vSAN was re-written?  No!  As we’ll see in the following slides, VMware was able to introduce some new technologies into this optional architecture, but that optional architecture is built within vSAN – the same software you already know.</a:t>
            </a:r>
          </a:p>
          <a:p>
            <a:r>
              <a:rPr lang="en-US" sz="1200" dirty="0"/>
              <a:t>----------------------------------</a:t>
            </a:r>
          </a:p>
          <a:p>
            <a:r>
              <a:rPr lang="en-US" sz="1200" b="1" dirty="0"/>
              <a:t>Overview:</a:t>
            </a:r>
          </a:p>
          <a:p>
            <a:pPr marL="171450" indent="-171450">
              <a:buFont typeface="Arial" panose="020B0604020202020204" pitchFamily="34" charset="0"/>
              <a:buChar char="•"/>
            </a:pPr>
            <a:r>
              <a:rPr lang="en-US" b="1" dirty="0">
                <a:solidFill>
                  <a:schemeClr val="accent4"/>
                </a:solidFill>
              </a:rPr>
              <a:t>Highly adaptable </a:t>
            </a:r>
            <a:r>
              <a:rPr lang="en-US" dirty="0"/>
              <a:t>to the hardware of today and tomorrow</a:t>
            </a:r>
          </a:p>
          <a:p>
            <a:pPr marL="171450" indent="-171450">
              <a:buFont typeface="Arial" panose="020B0604020202020204" pitchFamily="34" charset="0"/>
              <a:buChar char="•"/>
            </a:pPr>
            <a:r>
              <a:rPr lang="en-US" dirty="0"/>
              <a:t>Stores data </a:t>
            </a:r>
            <a:r>
              <a:rPr lang="en-US" b="1" dirty="0">
                <a:solidFill>
                  <a:schemeClr val="accent4"/>
                </a:solidFill>
              </a:rPr>
              <a:t>efficiently</a:t>
            </a:r>
            <a:r>
              <a:rPr lang="en-US" dirty="0"/>
              <a:t> while meeting </a:t>
            </a:r>
            <a:r>
              <a:rPr lang="en-US" b="1" dirty="0">
                <a:solidFill>
                  <a:schemeClr val="accent4"/>
                </a:solidFill>
              </a:rPr>
              <a:t>performance requirements</a:t>
            </a:r>
          </a:p>
          <a:p>
            <a:pPr marL="171450" indent="-171450">
              <a:buFont typeface="Arial" panose="020B0604020202020204" pitchFamily="34" charset="0"/>
              <a:buChar char="•"/>
            </a:pPr>
            <a:r>
              <a:rPr lang="en-US" dirty="0"/>
              <a:t>Higher </a:t>
            </a:r>
            <a:r>
              <a:rPr lang="en-US" b="1" dirty="0">
                <a:solidFill>
                  <a:schemeClr val="accent4"/>
                </a:solidFill>
              </a:rPr>
              <a:t>levels of resilience </a:t>
            </a:r>
            <a:r>
              <a:rPr lang="en-US" dirty="0"/>
              <a:t>without compromise</a:t>
            </a:r>
            <a:endParaRPr lang="en-US" b="1" dirty="0">
              <a:solidFill>
                <a:schemeClr val="accent4"/>
              </a:solidFill>
            </a:endParaRPr>
          </a:p>
          <a:p>
            <a:pPr marL="171450" indent="-171450">
              <a:buFont typeface="Arial" panose="020B0604020202020204" pitchFamily="34" charset="0"/>
              <a:buChar char="•"/>
            </a:pPr>
            <a:r>
              <a:rPr lang="en-US" dirty="0"/>
              <a:t>Native, scalable </a:t>
            </a:r>
            <a:r>
              <a:rPr lang="en-US" b="1" dirty="0">
                <a:solidFill>
                  <a:schemeClr val="accent4"/>
                </a:solidFill>
              </a:rPr>
              <a:t>snapshots</a:t>
            </a:r>
          </a:p>
          <a:p>
            <a:pPr marL="171450" indent="-171450">
              <a:buFont typeface="Arial" panose="020B0604020202020204" pitchFamily="34" charset="0"/>
              <a:buChar char="•"/>
            </a:pPr>
            <a:r>
              <a:rPr lang="en-US" b="1" dirty="0">
                <a:solidFill>
                  <a:schemeClr val="accent4"/>
                </a:solidFill>
              </a:rPr>
              <a:t>Simplifies</a:t>
            </a:r>
            <a:r>
              <a:rPr lang="en-US" dirty="0"/>
              <a:t> administration and serviceability</a:t>
            </a:r>
          </a:p>
          <a:p>
            <a:pPr marL="0" indent="0">
              <a:spcBef>
                <a:spcPts val="1779"/>
              </a:spcBef>
              <a:buFont typeface="Arial" panose="020B0604020202020204" pitchFamily="34" charset="0"/>
              <a:buNone/>
            </a:pPr>
            <a:r>
              <a:rPr lang="en-US" dirty="0"/>
              <a:t>----------------------------------</a:t>
            </a:r>
          </a:p>
          <a:p>
            <a:r>
              <a:rPr lang="en-US" b="1" dirty="0"/>
              <a:t>Details:</a:t>
            </a:r>
          </a:p>
          <a:p>
            <a:pPr marL="171450" indent="-171450">
              <a:buFont typeface="Arial" panose="020B0604020202020204" pitchFamily="34" charset="0"/>
              <a:buChar char="•"/>
            </a:pPr>
            <a:r>
              <a:rPr lang="en-US" b="0" u="none" dirty="0"/>
              <a:t>Technical details provided in the subsequent slides.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The vSAN ESA is not a “replacement” architecture, but an alternative architecture optimized for high performing, modern hardware.  vSAN remains as a single product, but now includes the architectural capability to accommodate for these next generation hardware devices.  It should NOT be positioned as a “rewrite” or a replacement in any way.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Do not reference the ESA and vSAN’s original storage architecture as “new” and “old”  or any variation of that, as this can have a negative connotation toward previous editions of vSAN.  While the vSAN ESA is the storage architecture where all future development efforts will be focused on, VMware is committing to ongoing support of the original storage architecture for many years to come. The official naming reference for the original storage architecture should be “Original Storage Architecture” abbreviated to OSA only when absolutely necessary.”</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latin typeface="Metropolis" panose="00000500000000000000" pitchFamily="50" charset="0"/>
                <a:ea typeface="+mn-ea"/>
                <a:cs typeface="+mn-cs"/>
              </a:rPr>
              <a:t>----------------------------------</a:t>
            </a:r>
          </a:p>
          <a:p>
            <a:r>
              <a:rPr lang="en-US" sz="1200" b="1" kern="1200" baseline="0" dirty="0">
                <a:solidFill>
                  <a:schemeClr val="tx1"/>
                </a:solidFill>
                <a:latin typeface="Metropolis" panose="00000500000000000000" pitchFamily="50" charset="0"/>
                <a:ea typeface="+mn-ea"/>
                <a:cs typeface="+mn-cs"/>
              </a:rPr>
              <a:t>Additional Information:</a:t>
            </a:r>
          </a:p>
          <a:p>
            <a:pPr marL="169495" indent="-169495">
              <a:buFont typeface="Arial" panose="020B0604020202020204" pitchFamily="34" charset="0"/>
              <a:buChar char="•"/>
            </a:pPr>
            <a:r>
              <a:rPr lang="en-US" sz="1200" dirty="0">
                <a:solidFill>
                  <a:schemeClr val="tx2"/>
                </a:solidFill>
              </a:rPr>
              <a:t>Blog:  https://</a:t>
            </a:r>
            <a:r>
              <a:rPr lang="en-US" sz="1200" dirty="0" err="1">
                <a:solidFill>
                  <a:schemeClr val="tx2"/>
                </a:solidFill>
              </a:rPr>
              <a:t>blogs.vmware.com</a:t>
            </a:r>
            <a:r>
              <a:rPr lang="en-US" sz="1200" dirty="0">
                <a:solidFill>
                  <a:schemeClr val="tx2"/>
                </a:solidFill>
              </a:rPr>
              <a:t>/cloud-foundation/2022/08/30/an-introduction-to-the-</a:t>
            </a:r>
            <a:r>
              <a:rPr lang="en-US" sz="1200" dirty="0" err="1">
                <a:solidFill>
                  <a:schemeClr val="tx2"/>
                </a:solidFill>
              </a:rPr>
              <a:t>vsan</a:t>
            </a:r>
            <a:r>
              <a:rPr lang="en-US" sz="1200" dirty="0">
                <a:solidFill>
                  <a:schemeClr val="tx2"/>
                </a:solidFill>
              </a:rPr>
              <a:t>-express-storage-architecture/</a:t>
            </a:r>
          </a:p>
          <a:p>
            <a:endParaRPr lang="en-US" dirty="0"/>
          </a:p>
        </p:txBody>
      </p:sp>
      <p:sp>
        <p:nvSpPr>
          <p:cNvPr id="4" name="Slide Number Placeholder 3">
            <a:extLst>
              <a:ext uri="{FF2B5EF4-FFF2-40B4-BE49-F238E27FC236}">
                <a16:creationId xmlns:a16="http://schemas.microsoft.com/office/drawing/2014/main" id="{9EA95D04-53DD-F98C-D5A0-3DFFA035D4E6}"/>
              </a:ext>
            </a:extLst>
          </p:cNvPr>
          <p:cNvSpPr>
            <a:spLocks noGrp="1"/>
          </p:cNvSpPr>
          <p:nvPr>
            <p:ph type="sldNum" sz="quarter" idx="5"/>
          </p:nvPr>
        </p:nvSpPr>
        <p:spPr/>
        <p:txBody>
          <a:bodyPr/>
          <a:lstStyle/>
          <a:p>
            <a:fld id="{9F4FBC3A-A12C-40F9-BB8D-BC30C7901396}" type="slidenum">
              <a:rPr lang="en-US" smtClean="0"/>
              <a:pPr/>
              <a:t>39</a:t>
            </a:fld>
            <a:endParaRPr lang="en-US"/>
          </a:p>
        </p:txBody>
      </p:sp>
    </p:spTree>
    <p:extLst>
      <p:ext uri="{BB962C8B-B14F-4D97-AF65-F5344CB8AC3E}">
        <p14:creationId xmlns:p14="http://schemas.microsoft.com/office/powerpoint/2010/main" val="2002055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sz="1200" b="1" dirty="0"/>
              <a:t>Key Message/Talk track:</a:t>
            </a:r>
          </a:p>
          <a:p>
            <a:r>
              <a:rPr lang="en-US" sz="1200" b="1" dirty="0"/>
              <a:t>The Express Storage Architecture allows customers to provide a platform that serves and stores data faster and more efficiently than ever before. </a:t>
            </a:r>
            <a:r>
              <a:rPr lang="en-US" sz="1200" b="0" dirty="0"/>
              <a:t> But of course, it is not just about performance and efficiency.  It is about having a platform that demonstrates the agility needed to support a variety of use cases, while making sure that it is easy, and intuitive to deploy, operate, and optimize.  </a:t>
            </a:r>
            <a:endParaRPr lang="en-US" sz="1200" b="1" dirty="0"/>
          </a:p>
          <a:p>
            <a:r>
              <a:rPr lang="en-US" sz="1200" dirty="0"/>
              <a:t>----------------------------------</a:t>
            </a:r>
          </a:p>
          <a:p>
            <a:r>
              <a:rPr lang="en-US" sz="1200" b="1" dirty="0"/>
              <a:t>Overview:</a:t>
            </a:r>
          </a:p>
          <a:p>
            <a:pPr marL="171450" indent="-171450">
              <a:spcAft>
                <a:spcPts val="1200"/>
              </a:spcAft>
              <a:buFont typeface="Arial" panose="020B0604020202020204" pitchFamily="34" charset="0"/>
              <a:buChar char="•"/>
            </a:pPr>
            <a:r>
              <a:rPr lang="en-US" sz="1200" dirty="0">
                <a:solidFill>
                  <a:schemeClr val="tx2"/>
                </a:solidFill>
              </a:rPr>
              <a:t>Better Performance &amp; Scalability</a:t>
            </a:r>
          </a:p>
          <a:p>
            <a:pPr marL="628650" lvl="1" indent="-171450">
              <a:spcAft>
                <a:spcPts val="1200"/>
              </a:spcAft>
              <a:buFont typeface="Arial" panose="020B0604020202020204" pitchFamily="34" charset="0"/>
              <a:buChar char="•"/>
            </a:pPr>
            <a:r>
              <a:rPr lang="en-US" sz="1200" dirty="0">
                <a:solidFill>
                  <a:schemeClr val="tx2"/>
                </a:solidFill>
              </a:rPr>
              <a:t>Store data using RAID-6 at the </a:t>
            </a:r>
            <a:r>
              <a:rPr lang="en-US" sz="1200" b="1" dirty="0">
                <a:solidFill>
                  <a:schemeClr val="accent4"/>
                </a:solidFill>
              </a:rPr>
              <a:t>performance of RAID-1</a:t>
            </a:r>
          </a:p>
          <a:p>
            <a:pPr marL="628650" lvl="1" indent="-171450">
              <a:spcAft>
                <a:spcPts val="1200"/>
              </a:spcAft>
              <a:buFont typeface="Arial" panose="020B0604020202020204" pitchFamily="34" charset="0"/>
              <a:buChar char="•"/>
            </a:pPr>
            <a:r>
              <a:rPr lang="en-US" sz="1200" dirty="0">
                <a:solidFill>
                  <a:schemeClr val="tx2"/>
                </a:solidFill>
              </a:rPr>
              <a:t>Consistent and scalable performance</a:t>
            </a:r>
          </a:p>
          <a:p>
            <a:pPr marL="628650" lvl="1" indent="-171450">
              <a:spcAft>
                <a:spcPts val="1200"/>
              </a:spcAft>
              <a:buFont typeface="Arial" panose="020B0604020202020204" pitchFamily="34" charset="0"/>
              <a:buChar char="•"/>
            </a:pPr>
            <a:r>
              <a:rPr lang="en-US" sz="1200" dirty="0">
                <a:solidFill>
                  <a:schemeClr val="tx2"/>
                </a:solidFill>
              </a:rPr>
              <a:t>Snapshots with minimal performance impact</a:t>
            </a:r>
          </a:p>
          <a:p>
            <a:pPr marL="628650" lvl="1" indent="-171450">
              <a:spcAft>
                <a:spcPts val="1200"/>
              </a:spcAft>
              <a:buFont typeface="Arial" panose="020B0604020202020204" pitchFamily="34" charset="0"/>
              <a:buChar char="•"/>
            </a:pPr>
            <a:r>
              <a:rPr lang="en-US" sz="1200" dirty="0">
                <a:solidFill>
                  <a:schemeClr val="tx2"/>
                </a:solidFill>
              </a:rPr>
              <a:t>Improved scalability supporting up to 500 VMs per host</a:t>
            </a:r>
          </a:p>
          <a:p>
            <a:pPr marL="628650" lvl="1" indent="-171450">
              <a:spcAft>
                <a:spcPts val="1200"/>
              </a:spcAft>
              <a:buFont typeface="Arial" panose="020B0604020202020204" pitchFamily="34" charset="0"/>
              <a:buChar char="•"/>
            </a:pPr>
            <a:r>
              <a:rPr lang="en-US" sz="1200" dirty="0">
                <a:solidFill>
                  <a:schemeClr val="tx2"/>
                </a:solidFill>
              </a:rPr>
              <a:t>vSAN storage clusters</a:t>
            </a:r>
          </a:p>
          <a:p>
            <a:pPr marL="171450" indent="-171450">
              <a:buFont typeface="Arial" panose="020B0604020202020204" pitchFamily="34" charset="0"/>
              <a:buChar char="•"/>
            </a:pPr>
            <a:r>
              <a:rPr lang="en-US" dirty="0"/>
              <a:t>Supreme Resource &amp; Space Efficiency</a:t>
            </a:r>
          </a:p>
          <a:p>
            <a:pPr marL="628650" lvl="1" indent="-171450">
              <a:spcAft>
                <a:spcPts val="1200"/>
              </a:spcAft>
              <a:buFont typeface="Arial" panose="020B0604020202020204" pitchFamily="34" charset="0"/>
              <a:buChar char="•"/>
            </a:pPr>
            <a:r>
              <a:rPr lang="en-US" sz="1200" dirty="0">
                <a:solidFill>
                  <a:schemeClr val="tx2"/>
                </a:solidFill>
              </a:rPr>
              <a:t>Improved CPU efficiency – </a:t>
            </a:r>
            <a:r>
              <a:rPr lang="en-US" sz="1200" b="1" dirty="0">
                <a:solidFill>
                  <a:schemeClr val="accent3"/>
                </a:solidFill>
              </a:rPr>
              <a:t>lower CPU usage per I/O processed</a:t>
            </a:r>
          </a:p>
          <a:p>
            <a:pPr marL="628650" lvl="1" indent="-171450">
              <a:spcAft>
                <a:spcPts val="1200"/>
              </a:spcAft>
              <a:buFont typeface="Arial" panose="020B0604020202020204" pitchFamily="34" charset="0"/>
              <a:buChar char="•"/>
            </a:pPr>
            <a:r>
              <a:rPr lang="en-US" sz="1200" dirty="0">
                <a:solidFill>
                  <a:schemeClr val="tx2"/>
                </a:solidFill>
              </a:rPr>
              <a:t>Up to 70% more usable capacity</a:t>
            </a:r>
          </a:p>
          <a:p>
            <a:pPr marL="628650" lvl="1" indent="-171450">
              <a:spcAft>
                <a:spcPts val="1200"/>
              </a:spcAft>
              <a:buFont typeface="Arial" panose="020B0604020202020204" pitchFamily="34" charset="0"/>
              <a:buChar char="•"/>
            </a:pPr>
            <a:r>
              <a:rPr lang="en-US" sz="1200" dirty="0">
                <a:solidFill>
                  <a:schemeClr val="tx2"/>
                </a:solidFill>
              </a:rPr>
              <a:t>Adaptive RAID-5 erasure coding </a:t>
            </a:r>
          </a:p>
          <a:p>
            <a:pPr marL="628650" lvl="1" indent="-171450">
              <a:spcAft>
                <a:spcPts val="1200"/>
              </a:spcAft>
              <a:buFont typeface="Arial" panose="020B0604020202020204" pitchFamily="34" charset="0"/>
              <a:buChar char="•"/>
            </a:pPr>
            <a:r>
              <a:rPr lang="en-US" sz="1200" dirty="0">
                <a:solidFill>
                  <a:schemeClr val="tx2"/>
                </a:solidFill>
              </a:rPr>
              <a:t>Non-invasive, more efficient compression</a:t>
            </a:r>
          </a:p>
          <a:p>
            <a:pPr marL="628650" lvl="1" indent="-171450">
              <a:spcAft>
                <a:spcPts val="1200"/>
              </a:spcAft>
              <a:buFont typeface="Arial" panose="020B0604020202020204" pitchFamily="34" charset="0"/>
              <a:buChar char="•"/>
            </a:pPr>
            <a:r>
              <a:rPr lang="en-US" sz="1200" dirty="0">
                <a:solidFill>
                  <a:schemeClr val="tx2"/>
                </a:solidFill>
              </a:rPr>
              <a:t>Combination of efficiencies dramatically reduce TCO</a:t>
            </a:r>
          </a:p>
          <a:p>
            <a:pPr marL="171450" indent="-171450">
              <a:buFont typeface="Arial" panose="020B0604020202020204" pitchFamily="34" charset="0"/>
              <a:buChar char="•"/>
            </a:pPr>
            <a:r>
              <a:rPr lang="en-US" dirty="0"/>
              <a:t>Better Resilience</a:t>
            </a:r>
          </a:p>
          <a:p>
            <a:pPr marL="628650" lvl="1" indent="-171450">
              <a:spcAft>
                <a:spcPts val="1200"/>
              </a:spcAft>
              <a:buFont typeface="Arial" panose="020B0604020202020204" pitchFamily="34" charset="0"/>
              <a:buChar char="•"/>
            </a:pPr>
            <a:r>
              <a:rPr lang="en-US" sz="1200" b="1" dirty="0">
                <a:solidFill>
                  <a:schemeClr val="accent1"/>
                </a:solidFill>
              </a:rPr>
              <a:t>Reduced failure domains </a:t>
            </a:r>
            <a:r>
              <a:rPr lang="en-US" sz="1200" dirty="0">
                <a:solidFill>
                  <a:schemeClr val="tx2"/>
                </a:solidFill>
              </a:rPr>
              <a:t>improve availability upon device failure</a:t>
            </a:r>
          </a:p>
          <a:p>
            <a:pPr marL="628650" lvl="1" indent="-171450">
              <a:spcAft>
                <a:spcPts val="1200"/>
              </a:spcAft>
              <a:buFont typeface="Arial" panose="020B0604020202020204" pitchFamily="34" charset="0"/>
              <a:buChar char="•"/>
            </a:pPr>
            <a:r>
              <a:rPr lang="en-US" sz="1200" dirty="0">
                <a:solidFill>
                  <a:schemeClr val="tx2"/>
                </a:solidFill>
              </a:rPr>
              <a:t>All new native, scalable snapshots</a:t>
            </a:r>
          </a:p>
          <a:p>
            <a:pPr marL="628650" lvl="1" indent="-171450">
              <a:spcAft>
                <a:spcPts val="1200"/>
              </a:spcAft>
              <a:buFont typeface="Arial" panose="020B0604020202020204" pitchFamily="34" charset="0"/>
              <a:buChar char="•"/>
            </a:pPr>
            <a:r>
              <a:rPr lang="en-US" sz="1200" dirty="0">
                <a:solidFill>
                  <a:schemeClr val="tx2"/>
                </a:solidFill>
              </a:rPr>
              <a:t>Durable data during planned and unplanned events</a:t>
            </a:r>
          </a:p>
          <a:p>
            <a:pPr marL="628650" lvl="1" indent="-171450">
              <a:spcAft>
                <a:spcPts val="1200"/>
              </a:spcAft>
              <a:buFont typeface="Arial" panose="020B0604020202020204" pitchFamily="34" charset="0"/>
              <a:buChar char="•"/>
            </a:pPr>
            <a:r>
              <a:rPr lang="en-US" sz="1200" dirty="0">
                <a:solidFill>
                  <a:schemeClr val="tx2"/>
                </a:solidFill>
              </a:rPr>
              <a:t>Unique protection against device errors</a:t>
            </a:r>
          </a:p>
          <a:p>
            <a:pPr marL="171450" indent="-171450">
              <a:buFont typeface="Arial" panose="020B0604020202020204" pitchFamily="34" charset="0"/>
              <a:buChar char="•"/>
            </a:pPr>
            <a:r>
              <a:rPr lang="en-US" dirty="0"/>
              <a:t>Easier to Use</a:t>
            </a:r>
          </a:p>
          <a:p>
            <a:pPr marL="628650" lvl="1" indent="-171450">
              <a:spcAft>
                <a:spcPts val="1200"/>
              </a:spcAft>
              <a:buFont typeface="Arial" panose="020B0604020202020204" pitchFamily="34" charset="0"/>
              <a:buChar char="•"/>
            </a:pPr>
            <a:r>
              <a:rPr lang="en-US" sz="1200" b="1" dirty="0">
                <a:solidFill>
                  <a:schemeClr val="accent5"/>
                </a:solidFill>
              </a:rPr>
              <a:t>Simplified storage device provisioning </a:t>
            </a:r>
            <a:r>
              <a:rPr lang="en-US" sz="1200" dirty="0">
                <a:solidFill>
                  <a:schemeClr val="tx2"/>
                </a:solidFill>
              </a:rPr>
              <a:t>and servicing</a:t>
            </a:r>
          </a:p>
          <a:p>
            <a:pPr marL="628650" lvl="1" indent="-171450">
              <a:spcAft>
                <a:spcPts val="1200"/>
              </a:spcAft>
              <a:buFont typeface="Arial" panose="020B0604020202020204" pitchFamily="34" charset="0"/>
              <a:buChar char="•"/>
            </a:pPr>
            <a:r>
              <a:rPr lang="en-US" sz="1200" dirty="0">
                <a:solidFill>
                  <a:schemeClr val="tx2"/>
                </a:solidFill>
              </a:rPr>
              <a:t>Auto-policy management for set-it-and forget it resilience</a:t>
            </a:r>
          </a:p>
          <a:p>
            <a:pPr marL="628650" lvl="1" indent="-171450">
              <a:spcAft>
                <a:spcPts val="1200"/>
              </a:spcAft>
              <a:buFont typeface="Arial" panose="020B0604020202020204" pitchFamily="34" charset="0"/>
              <a:buChar char="•"/>
            </a:pPr>
            <a:r>
              <a:rPr lang="en-US" sz="1200" dirty="0">
                <a:solidFill>
                  <a:schemeClr val="tx2"/>
                </a:solidFill>
              </a:rPr>
              <a:t>Improved storage policies for simplified operations</a:t>
            </a:r>
          </a:p>
          <a:p>
            <a:pPr marL="628650" lvl="1" indent="-171450">
              <a:spcAft>
                <a:spcPts val="1200"/>
              </a:spcAft>
              <a:buFont typeface="Arial" panose="020B0604020202020204" pitchFamily="34" charset="0"/>
              <a:buChar char="•"/>
            </a:pPr>
            <a:r>
              <a:rPr lang="en-US" sz="1200" dirty="0">
                <a:solidFill>
                  <a:schemeClr val="tx2"/>
                </a:solidFill>
              </a:rPr>
              <a:t>Proactive Insights detects anomalies to prevent potential issues</a:t>
            </a:r>
          </a:p>
          <a:p>
            <a:pPr marL="0" indent="0">
              <a:spcBef>
                <a:spcPts val="1779"/>
              </a:spcBef>
              <a:buFont typeface="Arial" panose="020B0604020202020204" pitchFamily="34" charset="0"/>
              <a:buNone/>
            </a:pPr>
            <a:r>
              <a:rPr lang="en-US" dirty="0"/>
              <a:t>----------------------------------</a:t>
            </a:r>
          </a:p>
          <a:p>
            <a:r>
              <a:rPr lang="en-US" b="1" dirty="0"/>
              <a:t>Details:</a:t>
            </a:r>
          </a:p>
          <a:p>
            <a:pPr marL="171450" indent="-171450">
              <a:buFont typeface="Arial" panose="020B0604020202020204" pitchFamily="34" charset="0"/>
              <a:buChar char="•"/>
            </a:pPr>
            <a:r>
              <a:rPr lang="en-US" b="0" u="none" dirty="0"/>
              <a:t>The performance claims are generalized in this presentation.  Additional material will be provided that will demonstrate referenceable and quantifiable improvements when compared to vSAN using the original storage architecture.  As with any performance and efficiency claims, it is subject to several environmental conditions, such as hardware, workload characteristics, data services used, etc.</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Express Storage Architecture has numerous architectural details that provide several positive benefits to the customer, but many of them (especially performance and efficiency improvements) are implementation details that will be transparent to the administrator.  They are, however, important to the concept of doing more with less to drive down costs.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latin typeface="Arial" panose="020B0604020202020204" pitchFamily="34" charset="0"/>
                <a:ea typeface="+mn-ea"/>
                <a:cs typeface="+mn-cs"/>
              </a:rPr>
              <a:t>----------------------------------</a:t>
            </a:r>
          </a:p>
          <a:p>
            <a:r>
              <a:rPr lang="en-US" sz="1200" b="1" kern="1200" baseline="0" dirty="0">
                <a:solidFill>
                  <a:schemeClr val="tx1"/>
                </a:solidFill>
                <a:latin typeface="Arial" panose="020B0604020202020204" pitchFamily="34" charset="0"/>
                <a:ea typeface="+mn-ea"/>
                <a:cs typeface="+mn-cs"/>
              </a:rPr>
              <a:t>Additional Information:</a:t>
            </a:r>
          </a:p>
          <a:p>
            <a:pPr marL="169495" indent="-169495">
              <a:buFont typeface="Arial" panose="020B0604020202020204" pitchFamily="34" charset="0"/>
              <a:buChar char="•"/>
            </a:pPr>
            <a:r>
              <a:rPr lang="en-US" dirty="0"/>
              <a:t>TBD</a:t>
            </a:r>
            <a:endParaRPr lang="en-US" sz="1200" dirty="0">
              <a:solidFill>
                <a:schemeClr val="tx2"/>
              </a:solidFill>
            </a:endParaRPr>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40</a:t>
            </a:fld>
            <a:endParaRPr lang="en-US"/>
          </a:p>
        </p:txBody>
      </p:sp>
    </p:spTree>
    <p:extLst>
      <p:ext uri="{BB962C8B-B14F-4D97-AF65-F5344CB8AC3E}">
        <p14:creationId xmlns:p14="http://schemas.microsoft.com/office/powerpoint/2010/main" val="23076488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Key Message/Talk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62626"/>
                </a:solidFill>
                <a:effectLst/>
                <a:latin typeface="Metropolis Light" panose="00000400000000000000" pitchFamily="2" charset="0"/>
                <a:ea typeface="Metropolis Light" panose="00000400000000000000" pitchFamily="2" charset="0"/>
                <a:cs typeface="Times New Roman" panose="02020603050405020304" pitchFamily="18" charset="0"/>
              </a:rPr>
              <a:t>There you have it!  With all of the new capabilities and integration into VCF, it is clear that vSAN is the premier storage platform for VMware Cloud Foundation.  Ask yourself the questions:  “</a:t>
            </a:r>
            <a:r>
              <a:rPr lang="en-US" i="1" dirty="0">
                <a:solidFill>
                  <a:schemeClr val="bg1"/>
                </a:solidFill>
                <a:latin typeface="Metropolis Light" panose="00000400000000000000" pitchFamily="2" charset="0"/>
              </a:rPr>
              <a:t>You’ve trusted the hypervisor to manage your workloads.  Why not let it manage your storage?”  “vSAN is a part of the hypervisor and licensing.   Why not use it?  </a:t>
            </a:r>
            <a:r>
              <a:rPr lang="en-US" i="0" dirty="0">
                <a:solidFill>
                  <a:schemeClr val="bg1"/>
                </a:solidFill>
                <a:latin typeface="Metropolis Light" panose="00000400000000000000" pitchFamily="2" charset="0"/>
              </a:rPr>
              <a:t>vSAN allows you to manage and protect your workloads at the VM level for unprecedented levels of control, visibility, and protection.</a:t>
            </a:r>
            <a:endParaRPr lang="en-US" i="1" dirty="0">
              <a:solidFill>
                <a:schemeClr val="bg1"/>
              </a:solidFill>
              <a:latin typeface="Metropolis Light" panose="000004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solidFill>
                <a:schemeClr val="bg1"/>
              </a:solidFill>
              <a:latin typeface="Metropolis Light" panose="000004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262626"/>
              </a:solidFill>
              <a:effectLst/>
              <a:latin typeface="Metropolis Light" panose="00000400000000000000" pitchFamily="2" charset="0"/>
              <a:ea typeface="Metropolis Light" panose="00000400000000000000" pitchFamily="2"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41</a:t>
            </a:fld>
            <a:endParaRPr lang="en-US" dirty="0"/>
          </a:p>
        </p:txBody>
      </p:sp>
    </p:spTree>
    <p:extLst>
      <p:ext uri="{BB962C8B-B14F-4D97-AF65-F5344CB8AC3E}">
        <p14:creationId xmlns:p14="http://schemas.microsoft.com/office/powerpoint/2010/main" val="33138815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8">
          <a:extLst>
            <a:ext uri="{FF2B5EF4-FFF2-40B4-BE49-F238E27FC236}">
              <a16:creationId xmlns:a16="http://schemas.microsoft.com/office/drawing/2014/main" id="{961BA11A-CB7E-DD3B-9B93-FDDA9DF9A9F6}"/>
            </a:ext>
          </a:extLst>
        </p:cNvPr>
        <p:cNvGrpSpPr/>
        <p:nvPr/>
      </p:nvGrpSpPr>
      <p:grpSpPr>
        <a:xfrm>
          <a:off x="0" y="0"/>
          <a:ext cx="0" cy="0"/>
          <a:chOff x="0" y="0"/>
          <a:chExt cx="0" cy="0"/>
        </a:xfrm>
      </p:grpSpPr>
      <p:sp>
        <p:nvSpPr>
          <p:cNvPr id="4819" name="Google Shape;4819;p59:notes">
            <a:extLst>
              <a:ext uri="{FF2B5EF4-FFF2-40B4-BE49-F238E27FC236}">
                <a16:creationId xmlns:a16="http://schemas.microsoft.com/office/drawing/2014/main" id="{CA41BDAB-C977-B017-066A-4BDCB2A2FB6C}"/>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20" name="Google Shape;4820;p59:notes">
            <a:extLst>
              <a:ext uri="{FF2B5EF4-FFF2-40B4-BE49-F238E27FC236}">
                <a16:creationId xmlns:a16="http://schemas.microsoft.com/office/drawing/2014/main" id="{947D5D96-3F9F-8B87-05D4-456A471ADB1A}"/>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dirty="0">
                <a:solidFill>
                  <a:schemeClr val="tx1"/>
                </a:solidFill>
                <a:effectLst/>
                <a:latin typeface="Arial" panose="020B0604020202020204" pitchFamily="34" charset="0"/>
                <a:ea typeface="+mn-ea"/>
                <a:cs typeface="+mn-cs"/>
              </a:rPr>
              <a:t>Key Message: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1"/>
                </a:solidFill>
                <a:effectLst/>
                <a:latin typeface="Arial" panose="020B0604020202020204" pitchFamily="34" charset="0"/>
                <a:ea typeface="+mn-ea"/>
                <a:cs typeface="+mn-cs"/>
              </a:rPr>
              <a:t>Networking is a core component of Cloud Foundation's software defined capabilities.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u="none" strike="noStrike"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ea typeface="+mn-ea"/>
                <a:cs typeface="+mn-cs"/>
              </a:rPr>
              <a:t>Talk Track: (50)</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u="none" kern="1200" dirty="0">
                <a:solidFill>
                  <a:schemeClr val="tx1"/>
                </a:solidFill>
                <a:effectLst/>
                <a:latin typeface="Arial" panose="020B0604020202020204" pitchFamily="34" charset="0"/>
                <a:ea typeface="+mn-ea"/>
                <a:cs typeface="+mn-cs"/>
              </a:rPr>
              <a:t>The public cloud (as we know it) is built upon and heavily leverages  software defined networking.  VMware NSX is an inherent part of Cloud Foundation and allows IT teams to deliver similar cloud-like capabilities into the data </a:t>
            </a:r>
            <a:r>
              <a:rPr lang="en-AU" sz="1200" u="none" kern="1200" dirty="0" err="1">
                <a:solidFill>
                  <a:schemeClr val="tx1"/>
                </a:solidFill>
                <a:effectLst/>
                <a:latin typeface="Arial" panose="020B0604020202020204" pitchFamily="34" charset="0"/>
                <a:ea typeface="+mn-ea"/>
                <a:cs typeface="+mn-cs"/>
              </a:rPr>
              <a:t>center</a:t>
            </a:r>
            <a:r>
              <a:rPr lang="en-AU" sz="1200" u="none" kern="1200" dirty="0">
                <a:solidFill>
                  <a:schemeClr val="tx1"/>
                </a:solidFill>
                <a:effectLst/>
                <a:latin typeface="Arial" panose="020B0604020202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u="none"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1"/>
                </a:solidFill>
                <a:effectLst/>
                <a:latin typeface="Arial" panose="020B0604020202020204" pitchFamily="34" charset="0"/>
                <a:ea typeface="+mn-ea"/>
                <a:cs typeface="+mn-cs"/>
              </a:rPr>
              <a:t>Software Defined Networking and Security with NSX removes the need to individually configure networking and security components manually.  Switched and routed networks can be provisioned and managed with ease to support the changing needs of your applications.  It removes the complexities associated with provisioning and managing traditional networking infrastructure allowing you to build and scale it in software using automation.</a:t>
            </a:r>
          </a:p>
          <a:p>
            <a:pPr lvl="0"/>
            <a:endParaRPr lang="en-AU"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u="none" kern="1200" dirty="0">
                <a:solidFill>
                  <a:schemeClr val="tx1"/>
                </a:solidFill>
                <a:effectLst/>
                <a:latin typeface="Arial" panose="020B0604020202020204" pitchFamily="34" charset="0"/>
                <a:ea typeface="+mn-ea"/>
                <a:cs typeface="+mn-cs"/>
              </a:rPr>
              <a:t>SDDC Manager takes NSX even further adding automation capabilities.  Administrators can</a:t>
            </a:r>
            <a:r>
              <a:rPr lang="en-AU" sz="1200" kern="1200" dirty="0">
                <a:solidFill>
                  <a:schemeClr val="tx1"/>
                </a:solidFill>
                <a:effectLst/>
                <a:latin typeface="Arial" panose="020B0604020202020204" pitchFamily="34" charset="0"/>
                <a:ea typeface="+mn-ea"/>
                <a:cs typeface="+mn-cs"/>
              </a:rPr>
              <a:t> build, scale and lifecycle manage networking and security as part of the full platform stack.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u="none" strike="noStrike"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ea typeface="+mn-ea"/>
                <a:cs typeface="+mn-cs"/>
              </a:rPr>
              <a:t>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1"/>
                </a:solidFill>
                <a:effectLst/>
                <a:latin typeface="Arial" panose="020B0604020202020204" pitchFamily="34" charset="0"/>
                <a:ea typeface="+mn-ea"/>
                <a:cs typeface="+mn-cs"/>
              </a:rPr>
              <a:t>Cloud Foundation delivers a complete SDDC platform where all elements of infrastructure (compute, storage, networking, security and lifecycle management) are virtualized and abstracted from the underlying hardware.  Having these capabilities allows IT Teams to deliver an unprecedented level of flexibility within the data </a:t>
            </a:r>
            <a:r>
              <a:rPr lang="en-AU" sz="1200" kern="1200" dirty="0" err="1">
                <a:solidFill>
                  <a:schemeClr val="tx1"/>
                </a:solidFill>
                <a:effectLst/>
                <a:latin typeface="Arial" panose="020B0604020202020204" pitchFamily="34" charset="0"/>
                <a:ea typeface="+mn-ea"/>
                <a:cs typeface="+mn-cs"/>
              </a:rPr>
              <a:t>center</a:t>
            </a:r>
            <a:r>
              <a:rPr lang="en-AU" sz="1200" kern="1200" dirty="0">
                <a:solidFill>
                  <a:schemeClr val="tx1"/>
                </a:solidFill>
                <a:effectLst/>
                <a:latin typeface="Arial" panose="020B0604020202020204" pitchFamily="34" charset="0"/>
                <a:ea typeface="+mn-ea"/>
                <a:cs typeface="+mn-cs"/>
              </a:rPr>
              <a:t> allowing them to best service the needs of their applications and services without disruption and in less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u="none" strike="noStrike"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ea typeface="+mn-ea"/>
                <a:cs typeface="+mn-cs"/>
              </a:rPr>
              <a:t>References:</a:t>
            </a:r>
          </a:p>
          <a:p>
            <a:pPr marL="0" lvl="0" indent="0" algn="l" rtl="0">
              <a:spcBef>
                <a:spcPts val="0"/>
              </a:spcBef>
              <a:spcAft>
                <a:spcPts val="0"/>
              </a:spcAft>
              <a:buNone/>
            </a:pPr>
            <a:endParaRPr dirty="0">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p:txBody>
      </p:sp>
      <p:sp>
        <p:nvSpPr>
          <p:cNvPr id="4821" name="Google Shape;4821;p59:notes">
            <a:extLst>
              <a:ext uri="{FF2B5EF4-FFF2-40B4-BE49-F238E27FC236}">
                <a16:creationId xmlns:a16="http://schemas.microsoft.com/office/drawing/2014/main" id="{2AF8543D-F0E2-F1AF-B3FA-C4B806250BF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b="0" i="0" u="none" strike="noStrike" kern="1200" cap="none" spc="0" normalizeH="0" baseline="0" noProof="0">
                <a:ln>
                  <a:noFill/>
                </a:ln>
                <a:solidFill>
                  <a:srgbClr val="717074"/>
                </a:solidFill>
                <a:effectLst/>
                <a:uLnTx/>
                <a:uFillTx/>
                <a:latin typeface="Arial"/>
                <a:ea typeface="+mn-ea"/>
                <a:cs typeface="+mn-cs"/>
                <a:sym typeface="Arial"/>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42</a:t>
            </a:fld>
            <a:endParaRPr kumimoji="0" sz="1200" b="0" i="0" u="none" strike="noStrike" kern="1200" cap="none" spc="0" normalizeH="0" baseline="0" noProof="0" dirty="0">
              <a:ln>
                <a:noFill/>
              </a:ln>
              <a:solidFill>
                <a:srgbClr val="717074"/>
              </a:solidFill>
              <a:effectLst/>
              <a:uLnTx/>
              <a:uFillTx/>
              <a:latin typeface="Arial"/>
              <a:ea typeface="+mn-ea"/>
              <a:cs typeface="+mn-cs"/>
              <a:sym typeface="Arial"/>
            </a:endParaRPr>
          </a:p>
        </p:txBody>
      </p:sp>
    </p:spTree>
    <p:extLst>
      <p:ext uri="{BB962C8B-B14F-4D97-AF65-F5344CB8AC3E}">
        <p14:creationId xmlns:p14="http://schemas.microsoft.com/office/powerpoint/2010/main" val="10518794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B0CEE-77C1-1076-0D19-6F8598CF14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157AE1-7AEF-8C39-BD91-34BEB6EE76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AD2857-75BB-A084-6A77-940724428975}"/>
              </a:ext>
            </a:extLst>
          </p:cNvPr>
          <p:cNvSpPr>
            <a:spLocks noGrp="1"/>
          </p:cNvSpPr>
          <p:nvPr>
            <p:ph type="body" idx="1"/>
          </p:nvPr>
        </p:nvSpPr>
        <p:spPr/>
        <p:txBody>
          <a:bodyPr>
            <a:normAutofit fontScale="47500" lnSpcReduction="20000"/>
          </a:bodyPr>
          <a:lstStyle/>
          <a:p>
            <a:pPr marL="0" lvl="0" indent="0" algn="l" rtl="0">
              <a:spcBef>
                <a:spcPts val="0"/>
              </a:spcBef>
              <a:spcAft>
                <a:spcPts val="0"/>
              </a:spcAft>
              <a:buNone/>
            </a:pPr>
            <a:r>
              <a:rPr lang="en-US" sz="1200" b="1" dirty="0">
                <a:solidFill>
                  <a:schemeClr val="dk1"/>
                </a:solidFill>
                <a:latin typeface="Arial"/>
                <a:ea typeface="Arial"/>
                <a:cs typeface="Arial"/>
                <a:sym typeface="Arial"/>
              </a:rPr>
              <a:t>Presenter Note:  </a:t>
            </a:r>
            <a:r>
              <a:rPr lang="en-US" sz="1200" b="1" dirty="0">
                <a:latin typeface="Arial"/>
                <a:ea typeface="Arial"/>
                <a:cs typeface="Arial"/>
                <a:sym typeface="Arial"/>
              </a:rPr>
              <a:t>This slide contains animation.</a:t>
            </a:r>
            <a:endParaRPr lang="en-US" sz="1200" b="1" dirty="0">
              <a:solidFill>
                <a:schemeClr val="dk1"/>
              </a:solidFill>
              <a:latin typeface="Arial"/>
              <a:ea typeface="Arial"/>
              <a:cs typeface="Arial"/>
              <a:sym typeface="Arial"/>
            </a:endParaRPr>
          </a:p>
          <a:p>
            <a:endParaRPr lang="en-US" dirty="0"/>
          </a:p>
          <a:p>
            <a:r>
              <a:rPr lang="en-US" b="1" dirty="0"/>
              <a:t>Key Message:</a:t>
            </a:r>
          </a:p>
          <a:p>
            <a:r>
              <a:rPr lang="en-US" dirty="0"/>
              <a:t>VMware NSX revolutionizes private cloud networking by abstracting network services, enabling seamless container integration, enhancing network visibility, facilitating workload mobility, and bolstering security through vDefend add-on services such as distributed firewalls and advanced threat protection. Thus, it delivers the agility, efficiency, and security essential for modern applications and workloads.</a:t>
            </a:r>
          </a:p>
          <a:p>
            <a:endParaRPr lang="en-US" dirty="0"/>
          </a:p>
          <a:p>
            <a:r>
              <a:rPr lang="en-US" b="1" dirty="0"/>
              <a:t>Talk Track:</a:t>
            </a:r>
          </a:p>
          <a:p>
            <a:r>
              <a:rPr lang="en-US" dirty="0"/>
              <a:t>Traditional physical networks hinder agility and scalability, which are essential for modern private clouds. VMware NSX addresses this by abstracting network services from hardware and creating a software-defined network. This allows provisioning and managing network services such as routing, switching, load balancing, and firewalls through software. This abstraction offers the flexibility and automation needed to adapt to workload demands, transforming network operations within the private cloud.</a:t>
            </a:r>
          </a:p>
          <a:p>
            <a:endParaRPr lang="en-US" dirty="0"/>
          </a:p>
          <a:p>
            <a:r>
              <a:rPr lang="en-US" dirty="0"/>
              <a:t>&lt;click 1&gt;</a:t>
            </a:r>
          </a:p>
          <a:p>
            <a:r>
              <a:rPr lang="en-US" dirty="0"/>
              <a:t>Modern applications utilize container workloads. VMware NSX integrates with container orchestration platforms like Kubernetes, offering networking capabilities for containerized environments. This includes features such as container network interface plugins, which facilitate the provisioning of network resources and security policies for container communication. By extending network virtualization to containers, NSX ensures consistent networking and security policies across virtual machines and containers, simplifying the management of hybrid application architectures.</a:t>
            </a:r>
          </a:p>
          <a:p>
            <a:endParaRPr lang="en-US" dirty="0"/>
          </a:p>
          <a:p>
            <a:r>
              <a:rPr lang="en-US" dirty="0"/>
              <a:t>&lt;click 2&gt;</a:t>
            </a:r>
          </a:p>
          <a:p>
            <a:r>
              <a:rPr lang="en-US" dirty="0"/>
              <a:t>Network visibility is crucial for troubleshooting and optimizing performance. VMware NSX provides insights into network traffic flows, allowing administrators to monitor and analyze network performance in real time. This includes insights into network traffic patterns, micro-segmentation policies, and distributed firewall rules. With NSX, administrators can pinpoint bottlenecks, troubleshoot network issues, and understand network behavior, improving operational efficiency and reducing downtime.</a:t>
            </a:r>
          </a:p>
          <a:p>
            <a:endParaRPr lang="en-US" dirty="0"/>
          </a:p>
          <a:p>
            <a:r>
              <a:rPr lang="en-US" dirty="0"/>
              <a:t>&lt;click 3&gt;</a:t>
            </a:r>
          </a:p>
          <a:p>
            <a:r>
              <a:rPr lang="en-US" dirty="0"/>
              <a:t>Workload mobility is essential for modern private clouds. VMware NSX enables workload mobility across various environments, including on-premises data centers and public clouds. Consistent network and security policies facilitate this process, allowing workloads to migrate without the need for reconfiguration. NSX also simplifies hybrid cloud connectivity, ensuring secure and efficient communication between on-premises and cloud resources. This helps guarantee consistent application performance and security, regardless of the workload's location.</a:t>
            </a:r>
          </a:p>
          <a:p>
            <a:endParaRPr lang="en-US" dirty="0"/>
          </a:p>
          <a:p>
            <a:r>
              <a:rPr lang="en-US" dirty="0"/>
              <a:t>&lt;click 4&gt;</a:t>
            </a:r>
          </a:p>
          <a:p>
            <a:r>
              <a:rPr lang="en-US" dirty="0"/>
              <a:t>Advanced add-on services such as VMware vDefend solutions provide a defense architecture that integrates a distributed firewall, gateway firewall, intrusion detection, sandboxing, and network threat analytics for VMware Cloud Foundation. Utilizing a software-defined distributed architecture with hypervisor integration and AI/ML-powered threat intelligence, vDefend minimizes the attack surface, eliminates blind spots, and offers threat campaign identification and remediation while providing lateral security for applications and data.</a:t>
            </a:r>
          </a:p>
          <a:p>
            <a:endParaRPr lang="en-US" dirty="0"/>
          </a:p>
          <a:p>
            <a:r>
              <a:rPr lang="en-US" b="1" dirty="0"/>
              <a:t>Notes:</a:t>
            </a:r>
          </a:p>
          <a:p>
            <a:r>
              <a:rPr lang="en-US" dirty="0"/>
              <a:t>Advanced Threat Protection (ATP) refers to a collection of security solutions and practices aimed at detecting, preventing, and responding to complex and sophisticated cyber threats—particularly those that traditional tools often overlook, such as zero-day exploits, fileless malware, and advanced persistent threats (APTs).</a:t>
            </a:r>
          </a:p>
          <a:p>
            <a:endParaRPr lang="en-US" dirty="0"/>
          </a:p>
          <a:p>
            <a:r>
              <a:rPr lang="en-US" dirty="0"/>
              <a:t>An Intrusion Detection System (IDS) is a security tool that monitors network or system activity to detect malicious behavior, policy violations, or unauthorized access. It analyzes traffic or logs and raises alerts when it detects suspicious patterns, often based on known threat signatures or behavioral rules.</a:t>
            </a:r>
          </a:p>
          <a:p>
            <a:endParaRPr lang="en-US" dirty="0"/>
          </a:p>
          <a:p>
            <a:r>
              <a:rPr lang="en-US" dirty="0"/>
              <a:t>An Intrusion Prevention System (IPS) is an inline security tool that monitors, detects, and actively blocks malicious or unwanted traffic in real time. It builds on the functionality of an Intrusion Detection System (IDS) by identifying threats and taking immediate action to stop them, such as dropping packets, resetting connections, or blocking IP addresses.</a:t>
            </a:r>
          </a:p>
          <a:p>
            <a:endParaRPr lang="en-US" dirty="0"/>
          </a:p>
          <a:p>
            <a:r>
              <a:rPr lang="en-US" dirty="0"/>
              <a:t>Network Traffic Analysis (NTA) is a cybersecurity technique for monitoring, inspecting, and analyzing network traffic to detect suspicious behavior, threats, or policy violations. It involves collecting and analyzing packet data, flow data (like NetFlow or IPFIX), and metadata to gain visibility into everything happening across the network.</a:t>
            </a:r>
          </a:p>
          <a:p>
            <a:endParaRPr lang="en-US" dirty="0"/>
          </a:p>
          <a:p>
            <a:r>
              <a:rPr lang="en-US" dirty="0"/>
              <a:t>Network Detection and Response (NDR) is a cybersecurity solution that uses advanced analytics, machine learning, and behavioral modeling to detect, investigate, and respond to threats based on network traffic. It’s an evolution of Network Traffic Analysis (NTA), adding automated response and deeper threat intelligence capabilities.</a:t>
            </a:r>
          </a:p>
          <a:p>
            <a:pPr marL="0" lvl="0" indent="0" algn="l" rtl="0">
              <a:spcBef>
                <a:spcPts val="0"/>
              </a:spcBef>
              <a:spcAft>
                <a:spcPts val="0"/>
              </a:spcAft>
              <a:buNone/>
            </a:pPr>
            <a:endParaRPr lang="en-US"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Resources:</a:t>
            </a:r>
          </a:p>
          <a:p>
            <a:endParaRPr lang="en-US" b="1" dirty="0"/>
          </a:p>
        </p:txBody>
      </p:sp>
      <p:sp>
        <p:nvSpPr>
          <p:cNvPr id="4" name="Slide Number Placeholder 3">
            <a:extLst>
              <a:ext uri="{FF2B5EF4-FFF2-40B4-BE49-F238E27FC236}">
                <a16:creationId xmlns:a16="http://schemas.microsoft.com/office/drawing/2014/main" id="{C192C116-6B6C-8BAE-C9FC-660A87584EE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12722689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2">
          <a:extLst>
            <a:ext uri="{FF2B5EF4-FFF2-40B4-BE49-F238E27FC236}">
              <a16:creationId xmlns:a16="http://schemas.microsoft.com/office/drawing/2014/main" id="{01817E05-C5E9-3F8E-4B38-D21DE5916E37}"/>
            </a:ext>
          </a:extLst>
        </p:cNvPr>
        <p:cNvGrpSpPr/>
        <p:nvPr/>
      </p:nvGrpSpPr>
      <p:grpSpPr>
        <a:xfrm>
          <a:off x="0" y="0"/>
          <a:ext cx="0" cy="0"/>
          <a:chOff x="0" y="0"/>
          <a:chExt cx="0" cy="0"/>
        </a:xfrm>
      </p:grpSpPr>
      <p:sp>
        <p:nvSpPr>
          <p:cNvPr id="10293" name="Google Shape;10293;p69:notes">
            <a:extLst>
              <a:ext uri="{FF2B5EF4-FFF2-40B4-BE49-F238E27FC236}">
                <a16:creationId xmlns:a16="http://schemas.microsoft.com/office/drawing/2014/main" id="{9477376B-51AF-4CB0-5399-8407BF493A7E}"/>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94" name="Google Shape;10294;p69:notes">
            <a:extLst>
              <a:ext uri="{FF2B5EF4-FFF2-40B4-BE49-F238E27FC236}">
                <a16:creationId xmlns:a16="http://schemas.microsoft.com/office/drawing/2014/main" id="{6DFE373E-7E8F-C993-748A-F5B5DD4FBC95}"/>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lnSpcReduction="10000"/>
          </a:bodyPr>
          <a:lstStyle/>
          <a:p>
            <a:pPr marL="0" lvl="0" indent="0" algn="l" rtl="0">
              <a:spcBef>
                <a:spcPts val="0"/>
              </a:spcBef>
              <a:spcAft>
                <a:spcPts val="0"/>
              </a:spcAft>
              <a:buNone/>
            </a:pPr>
            <a:r>
              <a:rPr lang="en-US" sz="900" b="1" dirty="0">
                <a:solidFill>
                  <a:schemeClr val="dk1"/>
                </a:solidFill>
                <a:latin typeface="Arial"/>
                <a:ea typeface="Arial"/>
                <a:cs typeface="Arial"/>
                <a:sym typeface="Arial"/>
              </a:rPr>
              <a:t>Presenter Note:  </a:t>
            </a:r>
            <a:r>
              <a:rPr lang="en-US" sz="900" b="1" dirty="0">
                <a:latin typeface="Arial"/>
                <a:ea typeface="Arial"/>
                <a:cs typeface="Arial"/>
                <a:sym typeface="Arial"/>
              </a:rPr>
              <a:t>This slide contains animation.</a:t>
            </a:r>
            <a:endParaRPr lang="en-US" sz="900" b="1"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endParaRPr sz="839"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r>
              <a:rPr lang="en-US" sz="839" b="1" dirty="0">
                <a:solidFill>
                  <a:schemeClr val="dk1"/>
                </a:solidFill>
                <a:latin typeface="Arial"/>
                <a:ea typeface="Arial"/>
                <a:cs typeface="Arial"/>
                <a:sym typeface="Arial"/>
              </a:rPr>
              <a:t>Key Message:</a:t>
            </a:r>
            <a:endParaRPr sz="839"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r>
              <a:rPr lang="en-US" sz="839" dirty="0">
                <a:solidFill>
                  <a:schemeClr val="dk1"/>
                </a:solidFill>
                <a:latin typeface="Arial"/>
                <a:ea typeface="Arial"/>
                <a:cs typeface="Arial"/>
                <a:sym typeface="Arial"/>
              </a:rPr>
              <a:t>Introduce the concept of SDN in VMware Cloud Foundation.</a:t>
            </a:r>
            <a:endParaRPr dirty="0"/>
          </a:p>
          <a:p>
            <a:pPr marL="0" lvl="0" indent="0" algn="l" rtl="0">
              <a:lnSpc>
                <a:spcPct val="80000"/>
              </a:lnSpc>
              <a:spcBef>
                <a:spcPts val="0"/>
              </a:spcBef>
              <a:spcAft>
                <a:spcPts val="0"/>
              </a:spcAft>
              <a:buNone/>
            </a:pPr>
            <a:endParaRPr sz="839"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r>
              <a:rPr lang="en-US" sz="839" b="1" dirty="0">
                <a:solidFill>
                  <a:schemeClr val="dk1"/>
                </a:solidFill>
                <a:latin typeface="Arial"/>
                <a:ea typeface="Arial"/>
                <a:cs typeface="Arial"/>
                <a:sym typeface="Arial"/>
              </a:rPr>
              <a:t>Talk Track:</a:t>
            </a:r>
            <a:endParaRPr sz="839" dirty="0">
              <a:solidFill>
                <a:schemeClr val="dk1"/>
              </a:solidFill>
              <a:latin typeface="Arial"/>
              <a:ea typeface="Arial"/>
              <a:cs typeface="Arial"/>
              <a:sym typeface="Arial"/>
            </a:endParaRPr>
          </a:p>
          <a:p>
            <a:pPr>
              <a:buNone/>
            </a:pPr>
            <a:r>
              <a:rPr lang="en-US" sz="1100" dirty="0"/>
              <a:t>The new era of networking isn’t about hardware configuration anymore—it's centered around the application.</a:t>
            </a:r>
          </a:p>
          <a:p>
            <a:pPr>
              <a:buNone/>
            </a:pPr>
            <a:r>
              <a:rPr lang="en-US" sz="1100" dirty="0"/>
              <a:t>VCF delivers SDN through NSX and its add-ons, allowing you to visualize your application, network, and security topology, apply automated security policy recommendations, and monitor traffic continuously. </a:t>
            </a:r>
          </a:p>
          <a:p>
            <a:pPr>
              <a:buNone/>
            </a:pPr>
            <a:endParaRPr lang="en-US" sz="1100" dirty="0"/>
          </a:p>
          <a:p>
            <a:pPr>
              <a:buNone/>
            </a:pPr>
            <a:r>
              <a:rPr lang="en-US" sz="1100" dirty="0"/>
              <a:t>&lt;click 1&gt; </a:t>
            </a:r>
          </a:p>
          <a:p>
            <a:pPr>
              <a:buNone/>
            </a:pPr>
            <a:r>
              <a:rPr lang="en-US" sz="1100" dirty="0"/>
              <a:t>The core idea of software-defined networking is to build a standardized, repeatable infrastructure by abstracting away the complexity of physical networking. </a:t>
            </a:r>
          </a:p>
          <a:p>
            <a:pPr>
              <a:buNone/>
            </a:pPr>
            <a:r>
              <a:rPr lang="en-US" sz="1100" dirty="0"/>
              <a:t>And because SDN is policy-driven, compliance is easier to maintain and enforce, tailored to each application's requirements. From an operational standpoint, enforcement is centralized and applied at the VM level, instead of relying on multiple touchpoints across the infrastructure. </a:t>
            </a:r>
          </a:p>
          <a:p>
            <a:pPr>
              <a:buNone/>
            </a:pPr>
            <a:endParaRPr lang="en-US" sz="1100" dirty="0"/>
          </a:p>
          <a:p>
            <a:pPr>
              <a:buNone/>
            </a:pPr>
            <a:r>
              <a:rPr lang="en-US" sz="1100" dirty="0"/>
              <a:t>&lt;click 2&gt; </a:t>
            </a:r>
          </a:p>
          <a:p>
            <a:pPr>
              <a:buNone/>
            </a:pPr>
            <a:r>
              <a:rPr lang="en-US" sz="1100" dirty="0"/>
              <a:t>Hardware configuration becomes simpler and more consistent—focused primarily on providing redundancy and high availability. The physical layer remains, but it simply serves as the transport foundation for the software-defined network. </a:t>
            </a:r>
          </a:p>
          <a:p>
            <a:pPr marL="0" lvl="0" indent="0" algn="l" rtl="0">
              <a:lnSpc>
                <a:spcPct val="80000"/>
              </a:lnSpc>
              <a:spcBef>
                <a:spcPts val="0"/>
              </a:spcBef>
              <a:spcAft>
                <a:spcPts val="0"/>
              </a:spcAft>
              <a:buNone/>
            </a:pPr>
            <a:endParaRPr lang="en-US" sz="839" b="1"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r>
              <a:rPr lang="en-US" sz="839" b="1" dirty="0">
                <a:solidFill>
                  <a:schemeClr val="dk1"/>
                </a:solidFill>
                <a:latin typeface="Arial"/>
                <a:ea typeface="Arial"/>
                <a:cs typeface="Arial"/>
                <a:sym typeface="Arial"/>
              </a:rPr>
              <a:t>Notes:</a:t>
            </a:r>
            <a:endParaRPr sz="839" dirty="0">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839"/>
              <a:buFont typeface="Arial"/>
              <a:buNone/>
            </a:pPr>
            <a:r>
              <a:rPr lang="en-US" sz="839" b="0" dirty="0">
                <a:solidFill>
                  <a:schemeClr val="dk1"/>
                </a:solidFill>
                <a:latin typeface="Arial"/>
                <a:ea typeface="Arial"/>
                <a:cs typeface="Arial"/>
                <a:sym typeface="Arial"/>
              </a:rPr>
              <a:t>* Security features are consumed as an add-on NSX license (VMware vDefend).</a:t>
            </a:r>
            <a:endParaRPr dirty="0"/>
          </a:p>
          <a:p>
            <a:pPr marL="0" lvl="0" indent="0" algn="l" rtl="0">
              <a:lnSpc>
                <a:spcPct val="80000"/>
              </a:lnSpc>
              <a:spcBef>
                <a:spcPts val="0"/>
              </a:spcBef>
              <a:spcAft>
                <a:spcPts val="0"/>
              </a:spcAft>
              <a:buNone/>
            </a:pPr>
            <a:endParaRPr sz="839" b="0"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r>
              <a:rPr lang="en-US" sz="839" b="0" dirty="0">
                <a:solidFill>
                  <a:schemeClr val="dk1"/>
                </a:solidFill>
                <a:latin typeface="Arial"/>
                <a:ea typeface="Arial"/>
                <a:cs typeface="Arial"/>
                <a:sym typeface="Arial"/>
              </a:rPr>
              <a:t>Other advantages of software-defined networking as expressed as part of VMware Cloud Foundation:</a:t>
            </a:r>
            <a:endParaRPr dirty="0"/>
          </a:p>
          <a:p>
            <a:pPr marL="0" lvl="0" indent="0" algn="l" rtl="0">
              <a:lnSpc>
                <a:spcPct val="80000"/>
              </a:lnSpc>
              <a:spcBef>
                <a:spcPts val="0"/>
              </a:spcBef>
              <a:spcAft>
                <a:spcPts val="0"/>
              </a:spcAft>
              <a:buNone/>
            </a:pPr>
            <a:endParaRPr sz="839"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r>
              <a:rPr lang="en-US" sz="839" dirty="0">
                <a:solidFill>
                  <a:schemeClr val="dk1"/>
                </a:solidFill>
                <a:latin typeface="Arial"/>
                <a:ea typeface="Arial"/>
                <a:cs typeface="Arial"/>
                <a:sym typeface="Arial"/>
              </a:rPr>
              <a:t>1.) Abstraction through encapsulation – traffic can now simply transit (bypass) over the hardware layer by making use of encapsulation technologies.</a:t>
            </a:r>
            <a:endParaRPr dirty="0"/>
          </a:p>
          <a:p>
            <a:pPr marL="0" lvl="0" indent="0" algn="l" rtl="0">
              <a:lnSpc>
                <a:spcPct val="80000"/>
              </a:lnSpc>
              <a:spcBef>
                <a:spcPts val="0"/>
              </a:spcBef>
              <a:spcAft>
                <a:spcPts val="0"/>
              </a:spcAft>
              <a:buNone/>
            </a:pPr>
            <a:r>
              <a:rPr lang="en-US" sz="839" dirty="0">
                <a:solidFill>
                  <a:schemeClr val="dk1"/>
                </a:solidFill>
                <a:latin typeface="Arial"/>
                <a:ea typeface="Arial"/>
                <a:cs typeface="Arial"/>
                <a:sym typeface="Arial"/>
              </a:rPr>
              <a:t>2.) Integrated networking across application frameworks (this means that routing and switching policies can be applied at application-level and across the entire SDDC)</a:t>
            </a:r>
            <a:endParaRPr dirty="0"/>
          </a:p>
          <a:p>
            <a:pPr marL="0" lvl="0" indent="0" algn="l" rtl="0">
              <a:lnSpc>
                <a:spcPct val="80000"/>
              </a:lnSpc>
              <a:spcBef>
                <a:spcPts val="0"/>
              </a:spcBef>
              <a:spcAft>
                <a:spcPts val="0"/>
              </a:spcAft>
              <a:buNone/>
            </a:pPr>
            <a:r>
              <a:rPr lang="en-US" sz="839" dirty="0">
                <a:solidFill>
                  <a:schemeClr val="dk1"/>
                </a:solidFill>
                <a:latin typeface="Arial"/>
                <a:ea typeface="Arial"/>
                <a:cs typeface="Arial"/>
                <a:sym typeface="Arial"/>
              </a:rPr>
              <a:t>3.) Integrated security throughout the data center by introducing the concept of micro-segmentation (application-focused firewalling)</a:t>
            </a:r>
            <a:endParaRPr dirty="0"/>
          </a:p>
          <a:p>
            <a:pPr marL="0" lvl="0" indent="0" algn="l" rtl="0">
              <a:lnSpc>
                <a:spcPct val="80000"/>
              </a:lnSpc>
              <a:spcBef>
                <a:spcPts val="0"/>
              </a:spcBef>
              <a:spcAft>
                <a:spcPts val="0"/>
              </a:spcAft>
              <a:buNone/>
            </a:pPr>
            <a:r>
              <a:rPr lang="en-US" sz="839" dirty="0">
                <a:solidFill>
                  <a:schemeClr val="dk1"/>
                </a:solidFill>
                <a:latin typeface="Arial"/>
                <a:ea typeface="Arial"/>
                <a:cs typeface="Arial"/>
                <a:sym typeface="Arial"/>
              </a:rPr>
              <a:t>4.) Single pane of glass for troubleshooting</a:t>
            </a:r>
            <a:endParaRPr dirty="0"/>
          </a:p>
          <a:p>
            <a:pPr marL="0" lvl="0" indent="0" algn="l" rtl="0">
              <a:lnSpc>
                <a:spcPct val="80000"/>
              </a:lnSpc>
              <a:spcBef>
                <a:spcPts val="0"/>
              </a:spcBef>
              <a:spcAft>
                <a:spcPts val="0"/>
              </a:spcAft>
              <a:buNone/>
            </a:pPr>
            <a:endParaRPr sz="839"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r>
              <a:rPr lang="en-US" sz="839" b="1" dirty="0"/>
              <a:t>Resources:</a:t>
            </a:r>
            <a:endParaRPr dirty="0"/>
          </a:p>
          <a:p>
            <a:pPr marL="0" marR="0" algn="l">
              <a:spcBef>
                <a:spcPts val="0"/>
              </a:spcBef>
              <a:spcAft>
                <a:spcPts val="0"/>
              </a:spcAft>
            </a:pPr>
            <a:r>
              <a:rPr lang="en-AU" sz="900" b="0" i="0" u="none" strike="noStrike" dirty="0">
                <a:solidFill>
                  <a:srgbClr val="000000"/>
                </a:solidFill>
                <a:effectLst/>
                <a:latin typeface="Calibri" panose="020F0502020204030204" pitchFamily="34" charset="0"/>
              </a:rPr>
              <a:t>For further information on Cloud Foundation networking please refer to the VCF Design Guide</a:t>
            </a:r>
          </a:p>
          <a:p>
            <a:pPr marL="0" lvl="0" indent="0" algn="l" rtl="0">
              <a:lnSpc>
                <a:spcPct val="80000"/>
              </a:lnSpc>
              <a:spcBef>
                <a:spcPts val="0"/>
              </a:spcBef>
              <a:spcAft>
                <a:spcPts val="0"/>
              </a:spcAft>
              <a:buNone/>
            </a:pPr>
            <a:endParaRPr sz="839" dirty="0">
              <a:solidFill>
                <a:schemeClr val="dk1"/>
              </a:solidFill>
              <a:latin typeface="Arial"/>
              <a:ea typeface="Arial"/>
              <a:cs typeface="Arial"/>
              <a:sym typeface="Arial"/>
            </a:endParaRPr>
          </a:p>
        </p:txBody>
      </p:sp>
      <p:sp>
        <p:nvSpPr>
          <p:cNvPr id="10295" name="Google Shape;10295;p69:notes">
            <a:extLst>
              <a:ext uri="{FF2B5EF4-FFF2-40B4-BE49-F238E27FC236}">
                <a16:creationId xmlns:a16="http://schemas.microsoft.com/office/drawing/2014/main" id="{03D06D9D-C497-CB53-FEA2-0ABD48E015B4}"/>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b="0" i="0" u="none" strike="noStrike" kern="1200" cap="none" spc="0" normalizeH="0" baseline="0" noProof="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44</a:t>
            </a:fld>
            <a:endParaRPr kumimoji="0" sz="1200" b="0" i="0" u="none" strike="noStrike" kern="1200" cap="none" spc="0" normalizeH="0" baseline="0" noProof="0">
              <a:ln>
                <a:noFill/>
              </a:ln>
              <a:solidFill>
                <a:srgbClr val="717074"/>
              </a:solidFill>
              <a:effectLst/>
              <a:uLnTx/>
              <a:uFillTx/>
              <a:latin typeface="Arial"/>
              <a:ea typeface="Arial"/>
              <a:cs typeface="Arial"/>
              <a:sym typeface="Arial"/>
            </a:endParaRPr>
          </a:p>
        </p:txBody>
      </p:sp>
    </p:spTree>
    <p:extLst>
      <p:ext uri="{BB962C8B-B14F-4D97-AF65-F5344CB8AC3E}">
        <p14:creationId xmlns:p14="http://schemas.microsoft.com/office/powerpoint/2010/main" val="23158480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F5894-09CB-5BB7-18C0-1BE9210BB9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BCC9C-A52F-7A92-8E3D-5A4171AB43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AD1527-14E6-085F-0AB2-DB7D4A04906C}"/>
              </a:ext>
            </a:extLst>
          </p:cNvPr>
          <p:cNvSpPr>
            <a:spLocks noGrp="1"/>
          </p:cNvSpPr>
          <p:nvPr>
            <p:ph type="body" idx="1"/>
          </p:nvPr>
        </p:nvSpPr>
        <p:spPr/>
        <p:txBody>
          <a:bodyPr>
            <a:normAutofit lnSpcReduction="10000"/>
          </a:bodyPr>
          <a:lstStyle/>
          <a:p>
            <a:pPr marL="0" lvl="0" indent="0" algn="l" rtl="0">
              <a:spcBef>
                <a:spcPts val="0"/>
              </a:spcBef>
              <a:spcAft>
                <a:spcPts val="0"/>
              </a:spcAft>
              <a:buNone/>
            </a:pPr>
            <a:r>
              <a:rPr lang="en-US" sz="1200" b="1" dirty="0">
                <a:solidFill>
                  <a:schemeClr val="dk1"/>
                </a:solidFill>
                <a:latin typeface="Arial"/>
                <a:ea typeface="Arial"/>
                <a:cs typeface="Arial"/>
                <a:sym typeface="Arial"/>
              </a:rPr>
              <a:t>Presenter Note:  </a:t>
            </a:r>
            <a:r>
              <a:rPr lang="en-US" sz="1200" b="1" dirty="0">
                <a:latin typeface="Arial"/>
                <a:ea typeface="Arial"/>
                <a:cs typeface="Arial"/>
                <a:sym typeface="Arial"/>
              </a:rPr>
              <a:t>This slide contains animation.</a:t>
            </a:r>
            <a:endParaRPr lang="en-US" sz="1200" b="1"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endParaRPr lang="en-US" sz="1200"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r>
              <a:rPr lang="en-US" sz="1200" b="1" dirty="0">
                <a:solidFill>
                  <a:schemeClr val="dk1"/>
                </a:solidFill>
                <a:latin typeface="Arial"/>
                <a:ea typeface="Arial"/>
                <a:cs typeface="Arial"/>
                <a:sym typeface="Arial"/>
              </a:rPr>
              <a:t>Key Message:</a:t>
            </a:r>
            <a:endParaRPr lang="en-US" sz="1200" dirty="0">
              <a:solidFill>
                <a:schemeClr val="dk1"/>
              </a:solidFill>
              <a:latin typeface="Arial"/>
              <a:ea typeface="Arial"/>
              <a:cs typeface="Arial"/>
              <a:sym typeface="Arial"/>
            </a:endParaRPr>
          </a:p>
          <a:p>
            <a:r>
              <a:rPr lang="en-US" dirty="0"/>
              <a:t>Using vSphere networking with VCF requires tight coordination with physical infrastructure, creating delays and making full automation complex and often unfeasible.</a:t>
            </a:r>
          </a:p>
          <a:p>
            <a:endParaRPr lang="en-AU" sz="1200" b="1" kern="1200" dirty="0">
              <a:solidFill>
                <a:schemeClr val="tx1"/>
              </a:solidFill>
              <a:effectLst/>
              <a:latin typeface="+mn-lt"/>
              <a:ea typeface="+mn-ea"/>
              <a:cs typeface="+mn-cs"/>
            </a:endParaRPr>
          </a:p>
          <a:p>
            <a:r>
              <a:rPr lang="en-AU" sz="1200" b="1" kern="1200" dirty="0">
                <a:solidFill>
                  <a:schemeClr val="tx1"/>
                </a:solidFill>
                <a:effectLst/>
                <a:latin typeface="+mn-lt"/>
                <a:ea typeface="+mn-ea"/>
                <a:cs typeface="+mn-cs"/>
              </a:rPr>
              <a:t>Talk Track:</a:t>
            </a:r>
          </a:p>
          <a:p>
            <a:r>
              <a:rPr lang="en-US" dirty="0"/>
              <a:t>When VCF uses vSphere networking, coordination with the physical network is essential. </a:t>
            </a:r>
          </a:p>
          <a:p>
            <a:r>
              <a:rPr lang="en-US" dirty="0"/>
              <a:t>For example, deploying a new application involves attaching its VMs or containers to dvportgroups</a:t>
            </a:r>
          </a:p>
          <a:p>
            <a:endParaRPr lang="en-US" dirty="0"/>
          </a:p>
          <a:p>
            <a:r>
              <a:rPr lang="en-US" dirty="0"/>
              <a:t>&lt;click 1&gt;</a:t>
            </a:r>
          </a:p>
          <a:p>
            <a:r>
              <a:rPr lang="en-US" dirty="0"/>
              <a:t>Those dvportgroups must then be mapped to corresponding VLANs in the physical fabric. </a:t>
            </a:r>
          </a:p>
          <a:p>
            <a:r>
              <a:rPr lang="en-US" dirty="0"/>
              <a:t>Even with advanced technologies like EVPN, coordination between application and network teams remains necessary.</a:t>
            </a:r>
          </a:p>
          <a:p>
            <a:endParaRPr lang="en-US" dirty="0"/>
          </a:p>
          <a:p>
            <a:r>
              <a:rPr lang="en-US" dirty="0"/>
              <a:t>&lt;click 2&gt;</a:t>
            </a:r>
          </a:p>
          <a:p>
            <a:r>
              <a:rPr lang="en-US" dirty="0"/>
              <a:t>Beyond Layer 2, deployments may require changes to routing, load balancing, security, and more—often involving multiple teams. </a:t>
            </a:r>
          </a:p>
          <a:p>
            <a:r>
              <a:rPr lang="en-US" dirty="0"/>
              <a:t>In many organizations, these interactions rely on ticketing systems, introducing delays that can span weeks. </a:t>
            </a:r>
          </a:p>
          <a:p>
            <a:r>
              <a:rPr lang="en-US" dirty="0"/>
              <a:t>Furthermore, the sheer number of independent configuration touchpoints makes end-to-end automation extremely difficult, if not impossible.</a:t>
            </a:r>
          </a:p>
          <a:p>
            <a:endParaRPr lang="en-US" dirty="0"/>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Notes:</a:t>
            </a:r>
            <a:endParaRPr lang="en-US" sz="1200" b="1" dirty="0">
              <a:latin typeface="Arial" panose="020B0604020202020204" pitchFamily="34" charset="0"/>
            </a:endParaRPr>
          </a:p>
          <a:p>
            <a:pPr marL="0" lvl="0" indent="0" algn="l" rtl="0">
              <a:spcBef>
                <a:spcPts val="0"/>
              </a:spcBef>
              <a:spcAft>
                <a:spcPts val="0"/>
              </a:spcAft>
              <a:buNone/>
            </a:pPr>
            <a:endParaRPr lang="en-US"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Resources:</a:t>
            </a:r>
          </a:p>
          <a:p>
            <a:endParaRPr lang="en-US" dirty="0"/>
          </a:p>
        </p:txBody>
      </p:sp>
      <p:sp>
        <p:nvSpPr>
          <p:cNvPr id="4" name="Slide Number Placeholder 3">
            <a:extLst>
              <a:ext uri="{FF2B5EF4-FFF2-40B4-BE49-F238E27FC236}">
                <a16:creationId xmlns:a16="http://schemas.microsoft.com/office/drawing/2014/main" id="{835F4CB2-9A7C-2129-A09B-184D0478100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4428812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FD0A7-EBCC-6E1D-D1D8-CA1807E0FA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61B9E9-1FBC-4BEE-4C17-88BE9E0ABA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1E5D4A-FD2D-1B5E-6AD8-DBCC154DB465}"/>
              </a:ext>
            </a:extLst>
          </p:cNvPr>
          <p:cNvSpPr>
            <a:spLocks noGrp="1"/>
          </p:cNvSpPr>
          <p:nvPr>
            <p:ph type="body" idx="1"/>
          </p:nvPr>
        </p:nvSpPr>
        <p:spPr/>
        <p:txBody>
          <a:bodyPr>
            <a:normAutofit fontScale="92500" lnSpcReduction="10000"/>
          </a:bodyPr>
          <a:lstStyle/>
          <a:p>
            <a:pPr marL="0" lvl="0" indent="0" algn="l" rtl="0">
              <a:spcBef>
                <a:spcPts val="0"/>
              </a:spcBef>
              <a:spcAft>
                <a:spcPts val="0"/>
              </a:spcAft>
              <a:buNone/>
            </a:pPr>
            <a:r>
              <a:rPr lang="en-US" sz="1200" b="1" dirty="0">
                <a:solidFill>
                  <a:schemeClr val="dk1"/>
                </a:solidFill>
                <a:latin typeface="Arial"/>
                <a:ea typeface="Arial"/>
                <a:cs typeface="Arial"/>
                <a:sym typeface="Arial"/>
              </a:rPr>
              <a:t>Presenter Note:  </a:t>
            </a:r>
            <a:r>
              <a:rPr lang="en-US" sz="1200" b="1" dirty="0">
                <a:latin typeface="Arial"/>
                <a:ea typeface="Arial"/>
                <a:cs typeface="Arial"/>
                <a:sym typeface="Arial"/>
              </a:rPr>
              <a:t>This slide contains animation.</a:t>
            </a:r>
            <a:endParaRPr lang="en-US" sz="1200" b="1"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endParaRPr lang="en-US" sz="1200"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r>
              <a:rPr lang="en-US" sz="1200" b="1" dirty="0">
                <a:solidFill>
                  <a:schemeClr val="dk1"/>
                </a:solidFill>
                <a:latin typeface="Arial"/>
                <a:ea typeface="Arial"/>
                <a:cs typeface="Arial"/>
                <a:sym typeface="Arial"/>
              </a:rPr>
              <a:t>Key Message:</a:t>
            </a:r>
            <a:endParaRPr lang="en-US" sz="1200" dirty="0">
              <a:solidFill>
                <a:schemeClr val="dk1"/>
              </a:solidFill>
              <a:latin typeface="Arial"/>
              <a:ea typeface="Arial"/>
              <a:cs typeface="Arial"/>
              <a:sym typeface="Arial"/>
            </a:endParaRPr>
          </a:p>
          <a:p>
            <a:r>
              <a:rPr lang="en-US" dirty="0"/>
              <a:t>NSX enables seamless, scalable virtual networking over existing IP infrastructure, with no physical network changes required.</a:t>
            </a:r>
            <a:endParaRPr lang="en-AU" sz="1200" b="1" kern="1200" dirty="0">
              <a:solidFill>
                <a:schemeClr val="tx1"/>
              </a:solidFill>
              <a:effectLst/>
              <a:latin typeface="+mn-lt"/>
              <a:ea typeface="+mn-ea"/>
              <a:cs typeface="+mn-cs"/>
            </a:endParaRPr>
          </a:p>
          <a:p>
            <a:endParaRPr lang="en-AU" sz="1200" b="1" kern="1200" dirty="0">
              <a:solidFill>
                <a:schemeClr val="tx1"/>
              </a:solidFill>
              <a:effectLst/>
              <a:latin typeface="+mn-lt"/>
              <a:ea typeface="+mn-ea"/>
              <a:cs typeface="+mn-cs"/>
            </a:endParaRPr>
          </a:p>
          <a:p>
            <a:r>
              <a:rPr lang="en-AU" sz="1200" b="1" kern="1200" dirty="0">
                <a:solidFill>
                  <a:schemeClr val="tx1"/>
                </a:solidFill>
                <a:effectLst/>
                <a:latin typeface="+mn-lt"/>
                <a:ea typeface="+mn-ea"/>
                <a:cs typeface="+mn-cs"/>
              </a:rPr>
              <a:t>Talk Track:</a:t>
            </a:r>
          </a:p>
          <a:p>
            <a:pPr>
              <a:buNone/>
            </a:pPr>
            <a:r>
              <a:rPr lang="en-US" dirty="0"/>
              <a:t>VCF includes NSX virtual networking.</a:t>
            </a:r>
            <a:br>
              <a:rPr lang="en-US" dirty="0"/>
            </a:br>
            <a:r>
              <a:rPr lang="en-US" dirty="0"/>
              <a:t>With NSX, workloads can be connected to virtual networks that are completely independent of the physical infrastructure.</a:t>
            </a:r>
          </a:p>
          <a:p>
            <a:pPr>
              <a:buNone/>
            </a:pPr>
            <a:endParaRPr lang="en-US" dirty="0"/>
          </a:p>
          <a:p>
            <a:pPr>
              <a:buNone/>
            </a:pPr>
            <a:r>
              <a:rPr lang="en-US" dirty="0"/>
              <a:t>&lt;click 1&gt; </a:t>
            </a:r>
          </a:p>
          <a:p>
            <a:pPr>
              <a:buNone/>
            </a:pPr>
            <a:r>
              <a:rPr lang="en-US" dirty="0"/>
              <a:t>For example, here we create virtual network X using NSX. The VMs attached to this network immediately get Layer 2 connectivity—no additional configuration is needed anywhere else. </a:t>
            </a:r>
          </a:p>
          <a:p>
            <a:pPr>
              <a:buNone/>
            </a:pPr>
            <a:r>
              <a:rPr lang="en-US" dirty="0"/>
              <a:t>How is this achieved? </a:t>
            </a:r>
          </a:p>
          <a:p>
            <a:pPr>
              <a:buNone/>
            </a:pPr>
            <a:endParaRPr lang="en-US" dirty="0"/>
          </a:p>
          <a:p>
            <a:pPr>
              <a:buNone/>
            </a:pPr>
            <a:r>
              <a:rPr lang="en-US" dirty="0"/>
              <a:t>&lt;click 2&gt; </a:t>
            </a:r>
          </a:p>
          <a:p>
            <a:pPr>
              <a:buNone/>
            </a:pPr>
            <a:r>
              <a:rPr lang="en-US" dirty="0"/>
              <a:t>NSX automatically establishes tunnels between the hosts. No user intervention is required. </a:t>
            </a:r>
          </a:p>
          <a:p>
            <a:pPr>
              <a:buNone/>
            </a:pPr>
            <a:endParaRPr lang="en-US" dirty="0"/>
          </a:p>
          <a:p>
            <a:pPr>
              <a:buNone/>
            </a:pPr>
            <a:r>
              <a:rPr lang="en-US" dirty="0"/>
              <a:t>&lt;click 3&gt; </a:t>
            </a:r>
          </a:p>
          <a:p>
            <a:pPr>
              <a:buNone/>
            </a:pPr>
            <a:r>
              <a:rPr lang="en-US" dirty="0"/>
              <a:t>When traffic for a virtual network needs to be carried between hosts, NSX encapsulates it and sends it over the physical infrastructure. </a:t>
            </a:r>
          </a:p>
          <a:p>
            <a:pPr>
              <a:buNone/>
            </a:pPr>
            <a:r>
              <a:rPr lang="en-US" dirty="0"/>
              <a:t>The physical network only sees standard IP traffic between hosts—it’s unaware of the underlying virtual segment, which exists entirely within NSX. </a:t>
            </a:r>
          </a:p>
          <a:p>
            <a:pPr>
              <a:buNone/>
            </a:pPr>
            <a:endParaRPr lang="en-US" dirty="0"/>
          </a:p>
          <a:p>
            <a:pPr>
              <a:buNone/>
            </a:pPr>
            <a:r>
              <a:rPr lang="en-US" dirty="0"/>
              <a:t>&lt;click 4&gt; </a:t>
            </a:r>
          </a:p>
          <a:p>
            <a:pPr>
              <a:buNone/>
            </a:pPr>
            <a:r>
              <a:rPr lang="en-US" dirty="0"/>
              <a:t>This allows NSX to instantiate any number of virtual networks over the same set of tunnels, without requiring any configuration on the physical network side. </a:t>
            </a:r>
          </a:p>
          <a:p>
            <a:pPr>
              <a:buNone/>
            </a:pPr>
            <a:endParaRPr lang="en-US" dirty="0"/>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Notes:</a:t>
            </a:r>
            <a:endParaRPr lang="en-US" sz="1200" b="1" dirty="0">
              <a:latin typeface="Arial" panose="020B0604020202020204" pitchFamily="34" charset="0"/>
            </a:endParaRPr>
          </a:p>
          <a:p>
            <a:pPr marL="0" lvl="0" indent="0" algn="l" rtl="0">
              <a:spcBef>
                <a:spcPts val="0"/>
              </a:spcBef>
              <a:spcAft>
                <a:spcPts val="0"/>
              </a:spcAft>
              <a:buNone/>
            </a:pPr>
            <a:endParaRPr lang="en-US"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Resources:</a:t>
            </a:r>
          </a:p>
          <a:p>
            <a:pPr>
              <a:buNone/>
            </a:pPr>
            <a:endParaRPr lang="en-US" dirty="0"/>
          </a:p>
        </p:txBody>
      </p:sp>
      <p:sp>
        <p:nvSpPr>
          <p:cNvPr id="4" name="Slide Number Placeholder 3">
            <a:extLst>
              <a:ext uri="{FF2B5EF4-FFF2-40B4-BE49-F238E27FC236}">
                <a16:creationId xmlns:a16="http://schemas.microsoft.com/office/drawing/2014/main" id="{EE40A5AC-5583-C1F2-D2B5-54354BE8EF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103005209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1E40F-4E3B-719B-1F27-5BB20818ED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556FBD-915B-88B2-7019-CD46C1F2E1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62F2BA-49BE-A0B6-6A6C-C53B9B1E76F9}"/>
              </a:ext>
            </a:extLst>
          </p:cNvPr>
          <p:cNvSpPr>
            <a:spLocks noGrp="1"/>
          </p:cNvSpPr>
          <p:nvPr>
            <p:ph type="body" idx="1"/>
          </p:nvPr>
        </p:nvSpPr>
        <p:spPr/>
        <p:txBody>
          <a:bodyPr>
            <a:normAutofit lnSpcReduction="10000"/>
          </a:bodyPr>
          <a:lstStyle/>
          <a:p>
            <a:pPr marL="0" lvl="0" indent="0" algn="l" rtl="0">
              <a:spcBef>
                <a:spcPts val="0"/>
              </a:spcBef>
              <a:spcAft>
                <a:spcPts val="0"/>
              </a:spcAft>
              <a:buNone/>
            </a:pPr>
            <a:r>
              <a:rPr lang="en-US" sz="1200" b="1" dirty="0">
                <a:solidFill>
                  <a:schemeClr val="dk1"/>
                </a:solidFill>
                <a:latin typeface="Arial"/>
                <a:ea typeface="Arial"/>
                <a:cs typeface="Arial"/>
                <a:sym typeface="Arial"/>
              </a:rPr>
              <a:t>Presenter Note:  </a:t>
            </a:r>
            <a:r>
              <a:rPr lang="en-US" sz="1200" b="1" dirty="0">
                <a:latin typeface="Arial"/>
                <a:ea typeface="Arial"/>
                <a:cs typeface="Arial"/>
                <a:sym typeface="Arial"/>
              </a:rPr>
              <a:t>This slide contains animation.</a:t>
            </a:r>
            <a:endParaRPr lang="en-US" sz="1200" b="1"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endParaRPr lang="en-US" sz="1200"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r>
              <a:rPr lang="en-US" sz="1200" b="1" dirty="0">
                <a:solidFill>
                  <a:schemeClr val="dk1"/>
                </a:solidFill>
                <a:latin typeface="Arial"/>
                <a:ea typeface="Arial"/>
                <a:cs typeface="Arial"/>
                <a:sym typeface="Arial"/>
              </a:rPr>
              <a:t>Key Message:</a:t>
            </a:r>
            <a:endParaRPr lang="en-US" sz="1200" dirty="0">
              <a:solidFill>
                <a:schemeClr val="dk1"/>
              </a:solidFill>
              <a:latin typeface="Arial"/>
              <a:ea typeface="Arial"/>
              <a:cs typeface="Arial"/>
              <a:sym typeface="Arial"/>
            </a:endParaRPr>
          </a:p>
          <a:p>
            <a:r>
              <a:rPr lang="en-US" dirty="0"/>
              <a:t>NSX delivers a full virtual networking stack with centralized, API-driven control—enabling cloud-like automation and simplicity on a standard IP fabric.</a:t>
            </a:r>
          </a:p>
          <a:p>
            <a:endParaRPr lang="en-AU" sz="1200" b="1" kern="1200" dirty="0">
              <a:solidFill>
                <a:schemeClr val="tx1"/>
              </a:solidFill>
              <a:effectLst/>
              <a:latin typeface="+mn-lt"/>
              <a:ea typeface="+mn-ea"/>
              <a:cs typeface="+mn-cs"/>
            </a:endParaRPr>
          </a:p>
          <a:p>
            <a:r>
              <a:rPr lang="en-AU" sz="1200" b="1" kern="1200" dirty="0">
                <a:solidFill>
                  <a:schemeClr val="tx1"/>
                </a:solidFill>
                <a:effectLst/>
                <a:latin typeface="+mn-lt"/>
                <a:ea typeface="+mn-ea"/>
                <a:cs typeface="+mn-cs"/>
              </a:rPr>
              <a:t>Talk Track:</a:t>
            </a:r>
          </a:p>
          <a:p>
            <a:endParaRPr lang="en-US" dirty="0"/>
          </a:p>
          <a:p>
            <a:pPr>
              <a:buNone/>
            </a:pPr>
            <a:r>
              <a:rPr lang="en-US" dirty="0"/>
              <a:t>Of course, NSX offers much more than just virtual Layer 2 networking.</a:t>
            </a:r>
            <a:br>
              <a:rPr lang="en-US" dirty="0"/>
            </a:br>
            <a:r>
              <a:rPr lang="en-US" dirty="0"/>
              <a:t>In fact, NSX builds a complete virtual networking stack on top of those virtual networks.</a:t>
            </a:r>
          </a:p>
          <a:p>
            <a:pPr>
              <a:buNone/>
            </a:pPr>
            <a:endParaRPr lang="en-US" dirty="0"/>
          </a:p>
          <a:p>
            <a:pPr>
              <a:buNone/>
            </a:pPr>
            <a:r>
              <a:rPr lang="en-US" dirty="0"/>
              <a:t>&lt;click 1&gt; </a:t>
            </a:r>
          </a:p>
          <a:p>
            <a:pPr>
              <a:buNone/>
            </a:pPr>
            <a:r>
              <a:rPr lang="en-US" dirty="0"/>
              <a:t>There’s no need to manage complex, costly service appliances in the physical network. With NSX, all you need is a simple IP fabric. </a:t>
            </a:r>
          </a:p>
          <a:p>
            <a:pPr>
              <a:buNone/>
            </a:pPr>
            <a:r>
              <a:rPr lang="en-US" dirty="0"/>
              <a:t>Application deployment now only involves configuring virtual components. </a:t>
            </a:r>
          </a:p>
          <a:p>
            <a:pPr>
              <a:buNone/>
            </a:pPr>
            <a:endParaRPr lang="en-US" dirty="0"/>
          </a:p>
          <a:p>
            <a:pPr>
              <a:buNone/>
            </a:pPr>
            <a:r>
              <a:rPr lang="en-US" dirty="0"/>
              <a:t>&lt;click 2&gt; </a:t>
            </a:r>
          </a:p>
          <a:p>
            <a:pPr>
              <a:buNone/>
            </a:pPr>
            <a:r>
              <a:rPr lang="en-US" dirty="0"/>
              <a:t>And because all those components are managed by NSX, you can deploy your application through a single configuration point. </a:t>
            </a:r>
          </a:p>
          <a:p>
            <a:pPr>
              <a:buNone/>
            </a:pPr>
            <a:r>
              <a:rPr lang="en-US" dirty="0"/>
              <a:t>Thanks to NSX’s intent-based model, multiple networking features can even be configured in a single REST API call. This architecture also makes automation straightforward. </a:t>
            </a:r>
          </a:p>
          <a:p>
            <a:pPr>
              <a:buNone/>
            </a:pPr>
            <a:r>
              <a:rPr lang="en-US" dirty="0"/>
              <a:t>These benefits are well established in the public cloud—and with VCF, which integrates compute, storage, and virtual networking—you now get that same experience in your private cloud.</a:t>
            </a:r>
          </a:p>
          <a:p>
            <a:pPr>
              <a:buNone/>
            </a:pPr>
            <a:endParaRPr lang="en-US" dirty="0"/>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Notes:</a:t>
            </a:r>
            <a:endParaRPr lang="en-US" sz="1200" b="1" dirty="0">
              <a:latin typeface="Arial" panose="020B0604020202020204" pitchFamily="34" charset="0"/>
            </a:endParaRPr>
          </a:p>
          <a:p>
            <a:pPr marL="0" lvl="0" indent="0" algn="l" rtl="0">
              <a:spcBef>
                <a:spcPts val="0"/>
              </a:spcBef>
              <a:spcAft>
                <a:spcPts val="0"/>
              </a:spcAft>
              <a:buNone/>
            </a:pPr>
            <a:endParaRPr lang="en-US"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Resources:</a:t>
            </a:r>
          </a:p>
          <a:p>
            <a:pPr>
              <a:buNone/>
            </a:pPr>
            <a:endParaRPr lang="en-US" dirty="0"/>
          </a:p>
        </p:txBody>
      </p:sp>
      <p:sp>
        <p:nvSpPr>
          <p:cNvPr id="4" name="Slide Number Placeholder 3">
            <a:extLst>
              <a:ext uri="{FF2B5EF4-FFF2-40B4-BE49-F238E27FC236}">
                <a16:creationId xmlns:a16="http://schemas.microsoft.com/office/drawing/2014/main" id="{31D89A66-0915-967A-BC78-8799BE0E8F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55571160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9B054-0D4F-8848-9A40-39B4220330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6A2164-B7C4-0D90-6039-F49EC94C20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F672E7-AA0A-74B8-8BF4-5DDB9F5BCE44}"/>
              </a:ext>
            </a:extLst>
          </p:cNvPr>
          <p:cNvSpPr>
            <a:spLocks noGrp="1"/>
          </p:cNvSpPr>
          <p:nvPr>
            <p:ph type="body" idx="1"/>
          </p:nvPr>
        </p:nvSpPr>
        <p:spPr/>
        <p:txBody>
          <a:bodyPr>
            <a:normAutofit fontScale="92500" lnSpcReduction="20000"/>
          </a:bodyPr>
          <a:lstStyle/>
          <a:p>
            <a:pPr marL="0" lvl="0" indent="0" algn="l" rtl="0">
              <a:spcBef>
                <a:spcPts val="0"/>
              </a:spcBef>
              <a:spcAft>
                <a:spcPts val="0"/>
              </a:spcAft>
              <a:buNone/>
            </a:pPr>
            <a:r>
              <a:rPr lang="en-US" sz="1200" b="1" dirty="0">
                <a:solidFill>
                  <a:schemeClr val="dk1"/>
                </a:solidFill>
                <a:latin typeface="Arial"/>
                <a:ea typeface="Arial"/>
                <a:cs typeface="Arial"/>
                <a:sym typeface="Arial"/>
              </a:rPr>
              <a:t>Presenter Note:  </a:t>
            </a:r>
            <a:r>
              <a:rPr lang="en-US" sz="1200" b="1" dirty="0">
                <a:latin typeface="Arial"/>
                <a:ea typeface="Arial"/>
                <a:cs typeface="Arial"/>
                <a:sym typeface="Arial"/>
              </a:rPr>
              <a:t>This slide contains animation.</a:t>
            </a:r>
            <a:endParaRPr lang="en-US" sz="1200" b="1"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endParaRPr lang="en-US" sz="1200"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r>
              <a:rPr lang="en-US" sz="1200" b="1" dirty="0">
                <a:solidFill>
                  <a:schemeClr val="dk1"/>
                </a:solidFill>
                <a:latin typeface="Arial"/>
                <a:ea typeface="Arial"/>
                <a:cs typeface="Arial"/>
                <a:sym typeface="Arial"/>
              </a:rPr>
              <a:t>Key Message:</a:t>
            </a:r>
            <a:endParaRPr lang="en-US" sz="1200" dirty="0">
              <a:solidFill>
                <a:schemeClr val="dk1"/>
              </a:solidFill>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kern="1200" dirty="0">
                <a:solidFill>
                  <a:schemeClr val="tx1"/>
                </a:solidFill>
                <a:effectLst/>
                <a:latin typeface="+mn-lt"/>
                <a:ea typeface="+mn-ea"/>
                <a:cs typeface="+mn-cs"/>
              </a:rPr>
              <a:t>NSX enables flexible, location-independent networking that supports workload mobility, simplified disaster recovery, and scalable multi-site deployments—all over standard IP infrastructure.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dirty="0">
                <a:solidFill>
                  <a:schemeClr val="tx1"/>
                </a:solidFill>
                <a:effectLst/>
                <a:latin typeface="+mn-lt"/>
                <a:ea typeface="+mn-ea"/>
                <a:cs typeface="+mn-cs"/>
              </a:rPr>
              <a:t>Talk Track:</a:t>
            </a:r>
            <a:endParaRPr lang="en-US" dirty="0"/>
          </a:p>
          <a:p>
            <a:pPr>
              <a:buNone/>
            </a:pPr>
            <a:r>
              <a:rPr lang="en-US" dirty="0"/>
              <a:t>NSX virtual networking unlocks several additional use cases.</a:t>
            </a:r>
            <a:br>
              <a:rPr lang="en-US" dirty="0"/>
            </a:br>
            <a:r>
              <a:rPr lang="en-US" dirty="0"/>
              <a:t>In traditional data centers using physical appliances, workloads are often tied to specific locations—creating silos and limiting flexibility.</a:t>
            </a:r>
          </a:p>
          <a:p>
            <a:pPr>
              <a:buNone/>
            </a:pPr>
            <a:endParaRPr lang="en-US" dirty="0"/>
          </a:p>
          <a:p>
            <a:pPr>
              <a:buNone/>
            </a:pPr>
            <a:r>
              <a:rPr lang="en-US" dirty="0"/>
              <a:t>&lt;click 1&gt; </a:t>
            </a:r>
          </a:p>
          <a:p>
            <a:pPr>
              <a:buNone/>
            </a:pPr>
            <a:r>
              <a:rPr lang="en-US" dirty="0"/>
              <a:t>With virtualized networking, workloads become mobile. VMs can move freely across the data center, enabling optimal compute utilization and better redundancy. </a:t>
            </a:r>
          </a:p>
          <a:p>
            <a:pPr>
              <a:buNone/>
            </a:pPr>
            <a:endParaRPr lang="en-US" dirty="0"/>
          </a:p>
          <a:p>
            <a:pPr>
              <a:buNone/>
            </a:pPr>
            <a:r>
              <a:rPr lang="en-US" dirty="0"/>
              <a:t>&lt;click 2&gt; </a:t>
            </a:r>
          </a:p>
          <a:p>
            <a:pPr>
              <a:buNone/>
            </a:pPr>
            <a:r>
              <a:rPr lang="en-US" dirty="0"/>
              <a:t>Because NSX virtual networks operate over basic IP connectivity, they can be extended across racks—or even between data centers—without requiring complex overlays deployed throughout the physical infrastructure. </a:t>
            </a:r>
          </a:p>
          <a:p>
            <a:pPr>
              <a:buNone/>
            </a:pPr>
            <a:endParaRPr lang="en-US" dirty="0"/>
          </a:p>
          <a:p>
            <a:pPr>
              <a:buNone/>
            </a:pPr>
            <a:r>
              <a:rPr lang="en-US" dirty="0"/>
              <a:t>&lt;click 3&gt; </a:t>
            </a:r>
          </a:p>
          <a:p>
            <a:pPr>
              <a:buNone/>
            </a:pPr>
            <a:r>
              <a:rPr lang="en-US" dirty="0"/>
              <a:t>This flexibility also forms the foundation for simplified disaster recovery. </a:t>
            </a:r>
          </a:p>
          <a:p>
            <a:pPr>
              <a:buNone/>
            </a:pPr>
            <a:endParaRPr lang="en-US" dirty="0"/>
          </a:p>
          <a:p>
            <a:pPr>
              <a:buNone/>
            </a:pPr>
            <a:r>
              <a:rPr lang="en-US" dirty="0"/>
              <a:t>&lt;click 4&gt; </a:t>
            </a:r>
          </a:p>
          <a:p>
            <a:pPr>
              <a:buNone/>
            </a:pPr>
            <a:r>
              <a:rPr lang="en-US" dirty="0"/>
              <a:t>When a site fails, its networking environment can be instantly re-created at the backup site, supporting redeployed—or even pre-existing—workloads. </a:t>
            </a:r>
          </a:p>
          <a:p>
            <a:pPr>
              <a:buNone/>
            </a:pPr>
            <a:endParaRPr lang="en-US" dirty="0"/>
          </a:p>
          <a:p>
            <a:pPr>
              <a:buNone/>
            </a:pPr>
            <a:r>
              <a:rPr lang="en-US" dirty="0"/>
              <a:t>&lt;click 5&gt; </a:t>
            </a:r>
          </a:p>
          <a:p>
            <a:pPr>
              <a:buNone/>
            </a:pPr>
            <a:r>
              <a:rPr lang="en-US" dirty="0"/>
              <a:t>More advanced multi-site deployments are also possible. NSX allows dynamic extension and instantiation of networking infrastructure, all managed from a central control point.</a:t>
            </a:r>
          </a:p>
          <a:p>
            <a:pPr>
              <a:buNone/>
            </a:pPr>
            <a:endParaRPr lang="en-US" dirty="0"/>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Notes:</a:t>
            </a:r>
            <a:endParaRPr lang="en-US" sz="1200" b="1" dirty="0">
              <a:latin typeface="Arial" panose="020B0604020202020204" pitchFamily="34" charset="0"/>
            </a:endParaRPr>
          </a:p>
          <a:p>
            <a:pPr marL="0" lvl="0" indent="0" algn="l" rtl="0">
              <a:spcBef>
                <a:spcPts val="0"/>
              </a:spcBef>
              <a:spcAft>
                <a:spcPts val="0"/>
              </a:spcAft>
              <a:buNone/>
            </a:pPr>
            <a:endParaRPr lang="en-US"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Resources:</a:t>
            </a:r>
          </a:p>
          <a:p>
            <a:pPr>
              <a:buNone/>
            </a:pPr>
            <a:endParaRPr lang="en-US" dirty="0"/>
          </a:p>
        </p:txBody>
      </p:sp>
      <p:sp>
        <p:nvSpPr>
          <p:cNvPr id="4" name="Slide Number Placeholder 3">
            <a:extLst>
              <a:ext uri="{FF2B5EF4-FFF2-40B4-BE49-F238E27FC236}">
                <a16:creationId xmlns:a16="http://schemas.microsoft.com/office/drawing/2014/main" id="{1F8D4D72-A362-70B4-3091-585689B8A5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233003921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44460-368E-A409-202E-40579A42C0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068164-C9FA-D551-BF00-0F19CD4684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8E7C36-FF63-0A5E-C915-7F1E6E282A9D}"/>
              </a:ext>
            </a:extLst>
          </p:cNvPr>
          <p:cNvSpPr>
            <a:spLocks noGrp="1"/>
          </p:cNvSpPr>
          <p:nvPr>
            <p:ph type="body" idx="1"/>
          </p:nvPr>
        </p:nvSpPr>
        <p:spPr/>
        <p:txBody>
          <a:bodyPr>
            <a:normAutofit fontScale="92500" lnSpcReduction="10000"/>
          </a:bodyPr>
          <a:lstStyle/>
          <a:p>
            <a:pPr marL="0" lvl="0" indent="0" algn="l" rtl="0">
              <a:spcBef>
                <a:spcPts val="0"/>
              </a:spcBef>
              <a:spcAft>
                <a:spcPts val="0"/>
              </a:spcAft>
              <a:buNone/>
            </a:pPr>
            <a:r>
              <a:rPr lang="en-US" sz="1200" b="1" dirty="0">
                <a:solidFill>
                  <a:schemeClr val="dk1"/>
                </a:solidFill>
                <a:latin typeface="Arial"/>
                <a:ea typeface="Arial"/>
                <a:cs typeface="Arial"/>
                <a:sym typeface="Arial"/>
              </a:rPr>
              <a:t>Presenter Note:  </a:t>
            </a:r>
            <a:r>
              <a:rPr lang="en-US" sz="1200" b="1" dirty="0">
                <a:latin typeface="Arial"/>
                <a:ea typeface="Arial"/>
                <a:cs typeface="Arial"/>
                <a:sym typeface="Arial"/>
              </a:rPr>
              <a:t>This slide contains animation.</a:t>
            </a:r>
            <a:endParaRPr lang="en-US" sz="1200" b="1"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endParaRPr lang="en-US" sz="1200"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r>
              <a:rPr lang="en-US" sz="1200" b="1" dirty="0">
                <a:solidFill>
                  <a:schemeClr val="dk1"/>
                </a:solidFill>
                <a:latin typeface="Arial"/>
                <a:ea typeface="Arial"/>
                <a:cs typeface="Arial"/>
                <a:sym typeface="Arial"/>
              </a:rPr>
              <a:t>Key Message:</a:t>
            </a:r>
            <a:endParaRPr lang="en-US" sz="1200" dirty="0">
              <a:solidFill>
                <a:schemeClr val="dk1"/>
              </a:solidFill>
              <a:latin typeface="Arial"/>
              <a:ea typeface="Arial"/>
              <a:cs typeface="Arial"/>
              <a:sym typeface="Arial"/>
            </a:endParaRPr>
          </a:p>
          <a:p>
            <a:r>
              <a:rPr lang="en-AU" sz="1200" b="0" kern="1200" dirty="0">
                <a:solidFill>
                  <a:schemeClr val="tx1"/>
                </a:solidFill>
                <a:effectLst/>
                <a:latin typeface="+mn-lt"/>
                <a:ea typeface="+mn-ea"/>
                <a:cs typeface="+mn-cs"/>
              </a:rPr>
              <a:t>NSX is automatically deployed in VCF, with NSX Manager, host TEPs, and optional edge nodes providing a fully integrated virtual networking stack over a shared IP fabric.</a:t>
            </a:r>
          </a:p>
          <a:p>
            <a:endParaRPr lang="en-AU" sz="1200" b="1" kern="1200" dirty="0">
              <a:solidFill>
                <a:schemeClr val="tx1"/>
              </a:solidFill>
              <a:effectLst/>
              <a:latin typeface="+mn-lt"/>
              <a:ea typeface="+mn-ea"/>
              <a:cs typeface="+mn-cs"/>
            </a:endParaRPr>
          </a:p>
          <a:p>
            <a:r>
              <a:rPr lang="en-AU" sz="1200" b="1" kern="1200" dirty="0">
                <a:solidFill>
                  <a:schemeClr val="tx1"/>
                </a:solidFill>
                <a:effectLst/>
                <a:latin typeface="+mn-lt"/>
                <a:ea typeface="+mn-ea"/>
                <a:cs typeface="+mn-cs"/>
              </a:rPr>
              <a:t>Talk Track:</a:t>
            </a:r>
          </a:p>
          <a:p>
            <a:pPr>
              <a:buNone/>
            </a:pPr>
            <a:r>
              <a:rPr lang="en-US" dirty="0"/>
              <a:t>NSX is integrated into VCF and automatically deployed through VCF operations.</a:t>
            </a:r>
            <a:br>
              <a:rPr lang="en-US" dirty="0"/>
            </a:br>
            <a:r>
              <a:rPr lang="en-US" dirty="0"/>
              <a:t>At the core of NSX is the NSX Manager, which handles both the control and management planes.</a:t>
            </a:r>
            <a:br>
              <a:rPr lang="en-US" dirty="0"/>
            </a:br>
            <a:r>
              <a:rPr lang="en-US" dirty="0"/>
              <a:t>In smaller environments, it can run as a single VM protected by vSphere HA.</a:t>
            </a:r>
            <a:br>
              <a:rPr lang="en-US" dirty="0"/>
            </a:br>
            <a:r>
              <a:rPr lang="en-US" dirty="0"/>
              <a:t>More commonly, it runs as a cluster of three VMs for scale and redundancy.</a:t>
            </a:r>
            <a:br>
              <a:rPr lang="en-US" dirty="0"/>
            </a:br>
            <a:r>
              <a:rPr lang="en-US" dirty="0"/>
              <a:t>NSX Manager is tightly coupled with vCenter, which acts as the compute manager.</a:t>
            </a:r>
            <a:br>
              <a:rPr lang="en-US" dirty="0"/>
            </a:br>
            <a:r>
              <a:rPr lang="en-US" dirty="0"/>
              <a:t>Both components connect to a shared “VM Management Network” within VCF.</a:t>
            </a:r>
          </a:p>
          <a:p>
            <a:pPr>
              <a:buNone/>
            </a:pPr>
            <a:endParaRPr lang="en-US" dirty="0"/>
          </a:p>
          <a:p>
            <a:pPr>
              <a:buNone/>
            </a:pPr>
            <a:r>
              <a:rPr lang="en-US" dirty="0"/>
              <a:t>&lt;click 1&gt; </a:t>
            </a:r>
          </a:p>
          <a:p>
            <a:pPr>
              <a:buNone/>
            </a:pPr>
            <a:r>
              <a:rPr lang="en-US" dirty="0"/>
              <a:t>Each ESX host is automatically configured by VCF with Tunnel Endpoints, or TEPs. These TEPs enable virtual network traffic and act as interfaces on the “NSX Overlay Network.” </a:t>
            </a:r>
          </a:p>
          <a:p>
            <a:pPr>
              <a:buNone/>
            </a:pPr>
            <a:endParaRPr lang="en-US" dirty="0"/>
          </a:p>
          <a:p>
            <a:pPr>
              <a:buNone/>
            </a:pPr>
            <a:r>
              <a:rPr lang="en-US" dirty="0"/>
              <a:t>&lt;click 2&gt; </a:t>
            </a:r>
          </a:p>
          <a:p>
            <a:pPr>
              <a:buNone/>
            </a:pPr>
            <a:r>
              <a:rPr lang="en-US" dirty="0"/>
              <a:t>NSX can also use edge node VMs to provide network services that require centralized processing. Those are optionally deployed from vCenter.</a:t>
            </a:r>
          </a:p>
          <a:p>
            <a:pPr>
              <a:buNone/>
            </a:pPr>
            <a:r>
              <a:rPr lang="en-US" dirty="0"/>
              <a:t>On the top of the “VM Management Network”, these edge VMs have their own TEPs, connected to either the “NSX Overlay Network” or the “Edge Overlay Network.” </a:t>
            </a:r>
          </a:p>
          <a:p>
            <a:pPr>
              <a:buNone/>
            </a:pPr>
            <a:r>
              <a:rPr lang="en-US" dirty="0"/>
              <a:t>Which one is used isn’t critical—what matters is that all TEPs, whether on hosts or edge nodes, have IP connectivity with one another.</a:t>
            </a:r>
          </a:p>
          <a:p>
            <a:pPr>
              <a:buNone/>
            </a:pPr>
            <a:endParaRPr lang="en-US" dirty="0"/>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Notes:</a:t>
            </a:r>
            <a:endParaRPr lang="en-US" sz="1200" b="1" dirty="0">
              <a:latin typeface="Arial" panose="020B0604020202020204" pitchFamily="34" charset="0"/>
            </a:endParaRPr>
          </a:p>
          <a:p>
            <a:pPr marL="0" lvl="0" indent="0" algn="l" rtl="0">
              <a:spcBef>
                <a:spcPts val="0"/>
              </a:spcBef>
              <a:spcAft>
                <a:spcPts val="0"/>
              </a:spcAft>
              <a:buNone/>
            </a:pPr>
            <a:endParaRPr lang="en-US"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Resources:</a:t>
            </a:r>
          </a:p>
          <a:p>
            <a:pPr>
              <a:buNone/>
            </a:pPr>
            <a:endParaRPr lang="en-US" dirty="0"/>
          </a:p>
        </p:txBody>
      </p:sp>
      <p:sp>
        <p:nvSpPr>
          <p:cNvPr id="4" name="Slide Number Placeholder 3">
            <a:extLst>
              <a:ext uri="{FF2B5EF4-FFF2-40B4-BE49-F238E27FC236}">
                <a16:creationId xmlns:a16="http://schemas.microsoft.com/office/drawing/2014/main" id="{2CCC2D5B-7528-D67C-BD6C-84E0F648A94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1810422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B4483-3C96-5A79-68F0-1458A33CDA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669B1E-F271-3C4B-0E2B-12292F999D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548D05-9566-5F36-3E84-94CEA9DFDCD6}"/>
              </a:ext>
            </a:extLst>
          </p:cNvPr>
          <p:cNvSpPr>
            <a:spLocks noGrp="1"/>
          </p:cNvSpPr>
          <p:nvPr>
            <p:ph type="body" idx="1"/>
          </p:nvPr>
        </p:nvSpPr>
        <p:spPr/>
        <p:txBody>
          <a:bodyPr/>
          <a:lstStyle/>
          <a:p>
            <a:pPr marL="0" lvl="0" indent="0" algn="l" rtl="0">
              <a:lnSpc>
                <a:spcPct val="80000"/>
              </a:lnSpc>
              <a:spcBef>
                <a:spcPts val="0"/>
              </a:spcBef>
              <a:spcAft>
                <a:spcPts val="0"/>
              </a:spcAft>
              <a:buNone/>
            </a:pPr>
            <a:r>
              <a:rPr lang="en-US" sz="1200" b="1" dirty="0">
                <a:solidFill>
                  <a:schemeClr val="dk1"/>
                </a:solidFill>
                <a:latin typeface="Arial"/>
                <a:ea typeface="Arial"/>
                <a:cs typeface="Arial"/>
                <a:sym typeface="Arial"/>
              </a:rPr>
              <a:t>Key Message:</a:t>
            </a:r>
            <a:endParaRPr lang="en-US" sz="1200" dirty="0">
              <a:solidFill>
                <a:schemeClr val="dk1"/>
              </a:solidFill>
              <a:latin typeface="Arial"/>
              <a:ea typeface="Arial"/>
              <a:cs typeface="Arial"/>
              <a:sym typeface="Arial"/>
            </a:endParaRPr>
          </a:p>
          <a:p>
            <a:r>
              <a:rPr lang="en-US" dirty="0"/>
              <a:t>The Tier-0 Gateway, deployed from vCenter on NSX edge nodes, enables dynamic BGP routing between NSX and the physical network.</a:t>
            </a:r>
          </a:p>
          <a:p>
            <a:endParaRPr lang="en-US" sz="1200" b="1" kern="1200" dirty="0">
              <a:solidFill>
                <a:schemeClr val="tx1"/>
              </a:solidFill>
              <a:effectLst/>
              <a:latin typeface="+mn-lt"/>
              <a:ea typeface="+mn-ea"/>
              <a:cs typeface="+mn-cs"/>
            </a:endParaRPr>
          </a:p>
          <a:p>
            <a:r>
              <a:rPr lang="en-AU" sz="1200" b="1" kern="1200" dirty="0">
                <a:solidFill>
                  <a:schemeClr val="tx1"/>
                </a:solidFill>
                <a:effectLst/>
                <a:latin typeface="+mn-lt"/>
                <a:ea typeface="+mn-ea"/>
                <a:cs typeface="+mn-cs"/>
              </a:rPr>
              <a:t>Talk Track:</a:t>
            </a:r>
          </a:p>
          <a:p>
            <a:pPr>
              <a:buNone/>
            </a:pPr>
            <a:r>
              <a:rPr lang="en-US" dirty="0"/>
              <a:t>A key service that runs on NSX edge node VMs is the Tier-0 Gateway.</a:t>
            </a:r>
          </a:p>
          <a:p>
            <a:pPr>
              <a:buNone/>
            </a:pPr>
            <a:r>
              <a:rPr lang="en-US" dirty="0"/>
              <a:t>This is a virtual router that connects the NSX environment to the physical network.</a:t>
            </a:r>
          </a:p>
          <a:p>
            <a:pPr>
              <a:buNone/>
            </a:pPr>
            <a:r>
              <a:rPr lang="en-US" dirty="0"/>
              <a:t>Peering with external routers via BGP allows NSX to dynamically advertise newly created networks and receive traffic destined for them.</a:t>
            </a:r>
          </a:p>
          <a:p>
            <a:pPr>
              <a:buNone/>
            </a:pPr>
            <a:r>
              <a:rPr lang="en-US" dirty="0"/>
              <a:t>The deployment of edge node VMs, as well as the creation and basic BGP configuration of the Tier-0 Gateway, can all be done directly from vCenter.</a:t>
            </a:r>
          </a:p>
          <a:p>
            <a:pPr>
              <a:buNone/>
            </a:pPr>
            <a:endParaRPr lang="en-US" sz="1200" b="0" kern="1200" dirty="0">
              <a:solidFill>
                <a:schemeClr val="tx1"/>
              </a:solidFill>
              <a:effectLst/>
              <a:latin typeface="+mn-lt"/>
              <a:ea typeface="+mn-ea"/>
              <a:cs typeface="+mn-cs"/>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Notes:</a:t>
            </a:r>
            <a:endParaRPr lang="en-US" sz="1200" b="1" dirty="0">
              <a:latin typeface="Arial" panose="020B0604020202020204" pitchFamily="34" charset="0"/>
            </a:endParaRPr>
          </a:p>
          <a:p>
            <a:pPr marL="0" lvl="0" indent="0" algn="l" rtl="0">
              <a:spcBef>
                <a:spcPts val="0"/>
              </a:spcBef>
              <a:spcAft>
                <a:spcPts val="0"/>
              </a:spcAft>
              <a:buNone/>
            </a:pPr>
            <a:endParaRPr lang="en-US"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Resources:</a:t>
            </a:r>
          </a:p>
          <a:p>
            <a:pPr>
              <a:buNone/>
            </a:pPr>
            <a:endParaRPr lang="en-AU" sz="1200" b="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BF9CB8D-472D-46B2-D095-65F2AE964E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221992097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80000"/>
              </a:lnSpc>
              <a:spcBef>
                <a:spcPts val="0"/>
              </a:spcBef>
              <a:spcAft>
                <a:spcPts val="0"/>
              </a:spcAft>
              <a:buNone/>
            </a:pPr>
            <a:r>
              <a:rPr lang="en-US" sz="1200" b="1" dirty="0">
                <a:solidFill>
                  <a:schemeClr val="dk1"/>
                </a:solidFill>
                <a:latin typeface="Arial"/>
                <a:ea typeface="Arial"/>
                <a:cs typeface="Arial"/>
                <a:sym typeface="Arial"/>
              </a:rPr>
              <a:t>Key Message:</a:t>
            </a:r>
            <a:endParaRPr lang="en-US" sz="1200" dirty="0">
              <a:solidFill>
                <a:schemeClr val="dk1"/>
              </a:solidFill>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NSX’s virtual networking stack includes centralized services on edge nodes and can be extended with advanced security features.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dk1"/>
              </a:solidFill>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dk1"/>
                </a:solidFill>
                <a:latin typeface="Arial"/>
                <a:ea typeface="Arial"/>
                <a:cs typeface="Arial"/>
                <a:sym typeface="Arial"/>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Here’s a selection of key features offered by the NSX virtual networking stack.</a:t>
            </a:r>
          </a:p>
          <a:p>
            <a:pPr>
              <a:buNone/>
            </a:pPr>
            <a:r>
              <a:rPr lang="en-US" dirty="0"/>
              <a:t>Stateful services typically run on edge nodes, which act as centralized appliances.</a:t>
            </a:r>
          </a:p>
          <a:p>
            <a:r>
              <a:rPr lang="en-US" dirty="0"/>
              <a:t>And while NSX includes core networking capabilities out of the box, advanced security features are available as add-ons.</a:t>
            </a:r>
          </a:p>
          <a:p>
            <a:endParaRPr lang="en-US" dirty="0"/>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Notes:</a:t>
            </a:r>
            <a:endParaRPr lang="en-US" sz="1200" b="1" dirty="0">
              <a:latin typeface="Arial" panose="020B0604020202020204" pitchFamily="34" charset="0"/>
            </a:endParaRPr>
          </a:p>
          <a:p>
            <a:pPr marL="0" lvl="0" indent="0" algn="l" rtl="0">
              <a:spcBef>
                <a:spcPts val="0"/>
              </a:spcBef>
              <a:spcAft>
                <a:spcPts val="0"/>
              </a:spcAft>
              <a:buNone/>
            </a:pPr>
            <a:endParaRPr lang="en-US"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Resources:</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205337042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18436-BF6B-878C-81F0-1D87B55A92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99714D-0702-75F0-E039-69CE78E325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143B3-AAD4-2DED-A6FA-E20DEDFF7432}"/>
              </a:ext>
            </a:extLst>
          </p:cNvPr>
          <p:cNvSpPr>
            <a:spLocks noGrp="1"/>
          </p:cNvSpPr>
          <p:nvPr>
            <p:ph type="body" idx="1"/>
          </p:nvPr>
        </p:nvSpPr>
        <p:spPr/>
        <p:txBody>
          <a:bodyPr>
            <a:normAutofit fontScale="70000" lnSpcReduction="20000"/>
          </a:bodyPr>
          <a:lstStyle/>
          <a:p>
            <a:pPr marL="0" lvl="0" indent="0" algn="l" rtl="0">
              <a:spcBef>
                <a:spcPts val="0"/>
              </a:spcBef>
              <a:spcAft>
                <a:spcPts val="0"/>
              </a:spcAft>
              <a:buNone/>
            </a:pPr>
            <a:r>
              <a:rPr lang="en-US" sz="1200" b="1" dirty="0">
                <a:solidFill>
                  <a:schemeClr val="dk1"/>
                </a:solidFill>
                <a:latin typeface="Arial"/>
                <a:ea typeface="Arial"/>
                <a:cs typeface="Arial"/>
                <a:sym typeface="Arial"/>
              </a:rPr>
              <a:t>Presenter Note:  </a:t>
            </a:r>
            <a:r>
              <a:rPr lang="en-US" sz="1200" b="1" dirty="0">
                <a:latin typeface="Arial"/>
                <a:ea typeface="Arial"/>
                <a:cs typeface="Arial"/>
                <a:sym typeface="Arial"/>
              </a:rPr>
              <a:t>This slide contains animation.</a:t>
            </a:r>
            <a:endParaRPr lang="en-US" sz="1200" b="1" dirty="0">
              <a:solidFill>
                <a:schemeClr val="dk1"/>
              </a:solidFill>
              <a:latin typeface="Arial"/>
              <a:ea typeface="Arial"/>
              <a:cs typeface="Arial"/>
              <a:sym typeface="Arial"/>
            </a:endParaRPr>
          </a:p>
          <a:p>
            <a:pPr marL="0" lvl="0" indent="0" algn="l" rtl="0">
              <a:spcBef>
                <a:spcPts val="0"/>
              </a:spcBef>
              <a:spcAft>
                <a:spcPts val="0"/>
              </a:spcAft>
              <a:buNone/>
            </a:pPr>
            <a:endParaRPr lang="en-US" sz="12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b="1" dirty="0">
                <a:solidFill>
                  <a:schemeClr val="dk1"/>
                </a:solidFill>
                <a:latin typeface="Arial"/>
                <a:ea typeface="Arial"/>
                <a:cs typeface="Arial"/>
                <a:sym typeface="Arial"/>
              </a:rPr>
              <a:t>Key Message:</a:t>
            </a:r>
          </a:p>
          <a:p>
            <a:pPr marL="0" marR="0" lvl="0" indent="0" algn="l" rtl="0">
              <a:lnSpc>
                <a:spcPct val="100000"/>
              </a:lnSpc>
              <a:spcBef>
                <a:spcPts val="0"/>
              </a:spcBef>
              <a:spcAft>
                <a:spcPts val="0"/>
              </a:spcAft>
              <a:buClr>
                <a:schemeClr val="dk1"/>
              </a:buClr>
              <a:buSzPts val="1200"/>
              <a:buFont typeface="Arial"/>
              <a:buNone/>
            </a:pPr>
            <a:r>
              <a:rPr lang="en-US" sz="1200" b="0" dirty="0">
                <a:solidFill>
                  <a:schemeClr val="dk1"/>
                </a:solidFill>
                <a:latin typeface="Arial"/>
                <a:cs typeface="Arial"/>
                <a:sym typeface="Arial"/>
              </a:rPr>
              <a:t>Virtual Private Cloud configuration is split into multiple roles, matching the different responsibilities required in a multi-tenant environment. </a:t>
            </a:r>
          </a:p>
          <a:p>
            <a:pPr marL="0" marR="0" lvl="0" indent="0" algn="l" rtl="0">
              <a:lnSpc>
                <a:spcPct val="100000"/>
              </a:lnSpc>
              <a:spcBef>
                <a:spcPts val="0"/>
              </a:spcBef>
              <a:spcAft>
                <a:spcPts val="0"/>
              </a:spcAft>
              <a:buClr>
                <a:schemeClr val="dk1"/>
              </a:buClr>
              <a:buSzPts val="1200"/>
              <a:buFont typeface="Arial"/>
              <a:buNone/>
            </a:pPr>
            <a:r>
              <a:rPr lang="en-US" sz="1200" b="0" dirty="0">
                <a:solidFill>
                  <a:schemeClr val="dk1"/>
                </a:solidFill>
                <a:latin typeface="Arial"/>
                <a:cs typeface="Arial"/>
                <a:sym typeface="Arial"/>
              </a:rPr>
              <a:t>One of the main benefit of this model is that it shields VPC admin (a VI admin for example) from complex networking configurations that are pre-configured by the upper tiers (enterprise admin/project admin.)</a:t>
            </a:r>
            <a:endParaRPr lang="en-US" b="0" dirty="0"/>
          </a:p>
          <a:p>
            <a:pPr marL="0" lvl="0" indent="0" algn="l" rtl="0">
              <a:spcBef>
                <a:spcPts val="0"/>
              </a:spcBef>
              <a:spcAft>
                <a:spcPts val="0"/>
              </a:spcAft>
              <a:buNone/>
            </a:pPr>
            <a:br>
              <a:rPr lang="en-US" sz="1200" b="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Talk Track:</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A Virtual Private Cloud, or VPC, is a logically isolated, tenant-specific virtual network that provides dedicated routing, switching, and security services.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In VCF 9.0, VPCs are implemented consistently across the entire platform—not just within NSX.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model defines clear roles to support multi-tenancy and enables self-service capabilities for end users.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The first role is the </a:t>
            </a:r>
            <a:r>
              <a:rPr lang="en-US" b="1" dirty="0"/>
              <a:t>Enterprise Admin</a:t>
            </a:r>
            <a:r>
              <a:rPr lang="en-US" dirty="0"/>
              <a:t>, who owns the VCF infrastructure and manages the connection to the physical network.</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&lt;click 1&gt;</a:t>
            </a:r>
          </a:p>
          <a:p>
            <a:pPr marL="0" lvl="0" indent="0" algn="l" rtl="0">
              <a:spcBef>
                <a:spcPts val="0"/>
              </a:spcBef>
              <a:spcAft>
                <a:spcPts val="0"/>
              </a:spcAft>
              <a:buNone/>
            </a:pPr>
            <a:r>
              <a:rPr lang="en-US" dirty="0"/>
              <a:t>The Enterprise Admin is responsible for coordinating with the physical network to ensure proper connectivity.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They also create "projects," which represent the first level of tenancy, and define external IP blocks that allow communication between the virtual and physical networks.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These external IP blocks are then distributed to the individual projects, and quotas can be applied as needed. Importantly, the Enterprise Admin maintains full control over all networking resources.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&lt;click 2&gt;</a:t>
            </a:r>
          </a:p>
          <a:p>
            <a:pPr marL="0" indent="0">
              <a:buFont typeface="Arial" panose="020B0604020202020204" pitchFamily="34" charset="0"/>
              <a:buNone/>
            </a:pPr>
            <a:r>
              <a:rPr lang="en-US" dirty="0"/>
              <a:t>Next, the </a:t>
            </a:r>
            <a:r>
              <a:rPr lang="en-US" b="1" dirty="0"/>
              <a:t>Project Admin </a:t>
            </a:r>
            <a:r>
              <a:rPr lang="en-US" dirty="0"/>
              <a:t>steps in to manage the resources delegated by the Enterprise Admin, but without direct access to the physical infrastructure.</a:t>
            </a:r>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&lt;click 3&gt;</a:t>
            </a:r>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The Project Admin is responsible for creating and managing VPCs, which represent the second level of tenancy.</a:t>
            </a:r>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They also allocate resources, such as IP pools, and apply quotas to individual VPCs.</a:t>
            </a:r>
          </a:p>
          <a:p>
            <a:pPr marL="0" indent="0">
              <a:buFont typeface="Arial" panose="020B0604020202020204" pitchFamily="34" charset="0"/>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&lt;click 4&gt;</a:t>
            </a:r>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Finally, we have the </a:t>
            </a:r>
            <a:r>
              <a:rPr lang="en-US" b="1" dirty="0"/>
              <a:t>VPC Admin</a:t>
            </a:r>
            <a:r>
              <a:rPr lang="en-US" dirty="0"/>
              <a:t>, who acts as the end user in this model.</a:t>
            </a:r>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endParaRPr lang="en-US" dirty="0"/>
          </a:p>
          <a:p>
            <a:pPr marL="0" indent="0">
              <a:buFont typeface="Arial" panose="020B0604020202020204" pitchFamily="34" charset="0"/>
              <a:buNone/>
            </a:pPr>
            <a:r>
              <a:rPr lang="en-US" dirty="0"/>
              <a:t>The VPC Admin can independently create virtual networks—called subnets—</a:t>
            </a:r>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and easily attach workloads to these networks.</a:t>
            </a:r>
          </a:p>
          <a:p>
            <a:pPr marL="0" indent="0">
              <a:buFont typeface="Arial" panose="020B0604020202020204" pitchFamily="34" charset="0"/>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&lt;click 5&gt;</a:t>
            </a:r>
          </a:p>
          <a:p>
            <a:pPr marL="0" indent="0">
              <a:buFont typeface="Arial" panose="020B0604020202020204" pitchFamily="34" charset="0"/>
              <a:buNone/>
            </a:pPr>
            <a:r>
              <a:rPr lang="en-US" dirty="0"/>
              <a:t>A key benefit of this model is that the VPC Admin can fully leverage networking services without requiring in-depth networking expertise. </a:t>
            </a:r>
          </a:p>
          <a:p>
            <a:pPr marL="0" indent="0">
              <a:buFont typeface="Arial" panose="020B0604020202020204" pitchFamily="34" charset="0"/>
              <a:buNone/>
            </a:pPr>
            <a:r>
              <a:rPr lang="en-US" dirty="0"/>
              <a:t>This is possible because the Enterprise and Project Admins pre-configure the underlying network and resource allocations, enabling true self-service with minimal need for additional support.</a:t>
            </a:r>
          </a:p>
          <a:p>
            <a:pPr marL="0" indent="0">
              <a:buFont typeface="Arial" panose="020B0604020202020204" pitchFamily="34" charset="0"/>
              <a:buNone/>
            </a:pPr>
            <a:endParaRPr lang="en-US" dirty="0"/>
          </a:p>
          <a:p>
            <a:pPr marL="0" indent="0">
              <a:buFont typeface="Arial" panose="020B0604020202020204" pitchFamily="34" charset="0"/>
              <a:buNone/>
            </a:pPr>
            <a:r>
              <a:rPr lang="en-US" b="1" dirty="0"/>
              <a:t>Notes:</a:t>
            </a:r>
          </a:p>
          <a:p>
            <a:pPr marL="0" indent="0">
              <a:buFont typeface="Arial" panose="020B0604020202020204" pitchFamily="34" charset="0"/>
              <a:buNone/>
            </a:pPr>
            <a:endParaRPr lang="en-US" b="1" dirty="0"/>
          </a:p>
          <a:p>
            <a:pPr marL="0" indent="0">
              <a:buFont typeface="Arial" panose="020B0604020202020204" pitchFamily="34" charset="0"/>
              <a:buNone/>
            </a:pPr>
            <a:r>
              <a:rPr lang="en-US" b="1" dirty="0"/>
              <a:t>Resources:</a:t>
            </a:r>
          </a:p>
          <a:p>
            <a:endParaRPr lang="en-US" dirty="0"/>
          </a:p>
        </p:txBody>
      </p:sp>
      <p:sp>
        <p:nvSpPr>
          <p:cNvPr id="4" name="Slide Number Placeholder 3">
            <a:extLst>
              <a:ext uri="{FF2B5EF4-FFF2-40B4-BE49-F238E27FC236}">
                <a16:creationId xmlns:a16="http://schemas.microsoft.com/office/drawing/2014/main" id="{50178436-CB6D-1F0D-6F8E-97B4A77A40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7315543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527CC-E2C0-6654-FB3A-C30E9382F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E7B57C-76DD-56F1-BFA8-C54B271851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6CDF4F-D28D-5DCF-0B96-94FA653141B4}"/>
              </a:ext>
            </a:extLst>
          </p:cNvPr>
          <p:cNvSpPr>
            <a:spLocks noGrp="1"/>
          </p:cNvSpPr>
          <p:nvPr>
            <p:ph type="body" idx="1"/>
          </p:nvPr>
        </p:nvSpPr>
        <p:spPr/>
        <p:txBody>
          <a:bodyPr>
            <a:normAutofit lnSpcReduction="10000"/>
          </a:bodyPr>
          <a:lstStyle/>
          <a:p>
            <a:pPr marL="0" lvl="0" indent="0" algn="l" rtl="0">
              <a:spcBef>
                <a:spcPts val="0"/>
              </a:spcBef>
              <a:spcAft>
                <a:spcPts val="0"/>
              </a:spcAft>
              <a:buNone/>
            </a:pPr>
            <a:r>
              <a:rPr lang="en-US" sz="1200" b="1" dirty="0">
                <a:solidFill>
                  <a:schemeClr val="dk1"/>
                </a:solidFill>
                <a:latin typeface="Arial"/>
                <a:ea typeface="Arial"/>
                <a:cs typeface="Arial"/>
                <a:sym typeface="Arial"/>
              </a:rPr>
              <a:t>Presenter Note:  </a:t>
            </a:r>
            <a:r>
              <a:rPr lang="en-US" sz="1200" b="1" dirty="0">
                <a:latin typeface="Arial"/>
                <a:ea typeface="Arial"/>
                <a:cs typeface="Arial"/>
                <a:sym typeface="Arial"/>
              </a:rPr>
              <a:t>This slide contains animation.</a:t>
            </a:r>
            <a:endParaRPr lang="en-US" sz="1200" b="1" dirty="0">
              <a:solidFill>
                <a:schemeClr val="dk1"/>
              </a:solidFill>
              <a:latin typeface="Arial"/>
              <a:ea typeface="Arial"/>
              <a:cs typeface="Arial"/>
              <a:sym typeface="Arial"/>
            </a:endParaRPr>
          </a:p>
          <a:p>
            <a:pPr marL="0" lvl="0" indent="0" algn="l" rtl="0">
              <a:spcBef>
                <a:spcPts val="0"/>
              </a:spcBef>
              <a:spcAft>
                <a:spcPts val="0"/>
              </a:spcAft>
              <a:buNone/>
            </a:pPr>
            <a:endParaRPr lang="en-US" sz="12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b="1" dirty="0">
                <a:solidFill>
                  <a:schemeClr val="dk1"/>
                </a:solidFill>
                <a:latin typeface="Arial"/>
                <a:ea typeface="Arial"/>
                <a:cs typeface="Arial"/>
                <a:sym typeface="Arial"/>
              </a:rPr>
              <a:t>Key Message:</a:t>
            </a:r>
          </a:p>
          <a:p>
            <a:pPr marL="0" marR="0" lvl="0" indent="0" algn="l" rtl="0">
              <a:lnSpc>
                <a:spcPct val="100000"/>
              </a:lnSpc>
              <a:spcBef>
                <a:spcPts val="0"/>
              </a:spcBef>
              <a:spcAft>
                <a:spcPts val="0"/>
              </a:spcAft>
              <a:buClr>
                <a:schemeClr val="dk1"/>
              </a:buClr>
              <a:buSzPts val="1200"/>
              <a:buFont typeface="Arial"/>
              <a:buNone/>
            </a:pPr>
            <a:r>
              <a:rPr lang="en-US" dirty="0"/>
              <a:t>With VCF 9.0, VPCs are fully integrated across the platform, exposed as first-class objects in vCenter where the default project is fully configurable by the vCenter Admin, who can easily connect VMs to subnets or DVPGs directly from the UI.</a:t>
            </a:r>
            <a:endParaRPr lang="en-US" sz="1200" b="0" dirty="0">
              <a:solidFill>
                <a:schemeClr val="dk1"/>
              </a:solidFill>
              <a:latin typeface="Arial"/>
              <a:cs typeface="Arial"/>
              <a:sym typeface="Arial"/>
            </a:endParaRPr>
          </a:p>
          <a:p>
            <a:pPr marL="0" lvl="0" indent="0" algn="l" rtl="0">
              <a:spcBef>
                <a:spcPts val="0"/>
              </a:spcBef>
              <a:spcAft>
                <a:spcPts val="0"/>
              </a:spcAft>
              <a:buNone/>
            </a:pPr>
            <a:br>
              <a:rPr lang="en-US" sz="120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Talk Track:</a:t>
            </a:r>
          </a:p>
          <a:p>
            <a:pPr marL="0" lvl="0" indent="0" algn="l" rtl="0">
              <a:spcBef>
                <a:spcPts val="0"/>
              </a:spcBef>
              <a:spcAft>
                <a:spcPts val="0"/>
              </a:spcAft>
              <a:buNone/>
            </a:pPr>
            <a:r>
              <a:rPr lang="en-US" dirty="0"/>
              <a:t>The VPC concept has long existed within NSX, but with VCF 9.0, it is now fully integrated and consumable across other components of the platform. </a:t>
            </a:r>
          </a:p>
          <a:p>
            <a:pPr marL="0" lvl="0" indent="0" algn="l" rtl="0">
              <a:spcBef>
                <a:spcPts val="0"/>
              </a:spcBef>
              <a:spcAft>
                <a:spcPts val="0"/>
              </a:spcAft>
              <a:buNone/>
            </a:pPr>
            <a:r>
              <a:rPr lang="en-US" dirty="0"/>
              <a:t>VCF automation leverages VPC objects, and VPCs are now exposed as first-class objects directly within vCenter.</a:t>
            </a:r>
          </a:p>
          <a:p>
            <a:pPr marL="0" lvl="0" indent="0" algn="l" rtl="0">
              <a:spcBef>
                <a:spcPts val="0"/>
              </a:spcBef>
              <a:spcAft>
                <a:spcPts val="0"/>
              </a:spcAft>
              <a:buNone/>
            </a:pPr>
            <a:r>
              <a:rPr lang="en-US" dirty="0"/>
              <a:t>By default, NSX creates a default project that is fully configurable by the vCenter Admin, who in this case serves as the Enterprise Admin, Project Admin, and VPC Admin all at once. </a:t>
            </a:r>
          </a:p>
          <a:p>
            <a:pPr marL="0" lvl="0" indent="0" algn="l" rtl="0">
              <a:spcBef>
                <a:spcPts val="0"/>
              </a:spcBef>
              <a:spcAft>
                <a:spcPts val="0"/>
              </a:spcAft>
              <a:buNone/>
            </a:pPr>
            <a:r>
              <a:rPr lang="en-US" dirty="0"/>
              <a:t>Other, non-default projects appear in vCenter as read-only and cannot be modified from there.</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&lt;click 1&gt;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vCenter also displays subnets directly in the UI, allowing you to easily connect a VM to a subnet, similar to how you would attach a VM to a DVPG.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In fact, both options are available side by side in the interface.</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Notes:</a:t>
            </a:r>
            <a:br>
              <a:rPr lang="en-US" dirty="0"/>
            </a:br>
            <a:endParaRPr lang="en-US" dirty="0"/>
          </a:p>
          <a:p>
            <a:pPr marL="0" indent="0">
              <a:buFont typeface="Arial" panose="020B0604020202020204" pitchFamily="34" charset="0"/>
              <a:buNone/>
            </a:pPr>
            <a:r>
              <a:rPr lang="en-US" b="1" dirty="0"/>
              <a:t>Resources:</a:t>
            </a:r>
            <a:br>
              <a:rPr lang="en-US" dirty="0"/>
            </a:br>
            <a:endParaRPr lang="en-US" dirty="0"/>
          </a:p>
        </p:txBody>
      </p:sp>
      <p:sp>
        <p:nvSpPr>
          <p:cNvPr id="4" name="Slide Number Placeholder 3">
            <a:extLst>
              <a:ext uri="{FF2B5EF4-FFF2-40B4-BE49-F238E27FC236}">
                <a16:creationId xmlns:a16="http://schemas.microsoft.com/office/drawing/2014/main" id="{72CF3AC4-CB4E-E391-4EF1-75737ED7C64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16032714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C0D30-A6FD-D92C-C7A1-87391C301B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0DF8BD-11D9-36EF-273A-6112EE68B3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761C83-6D97-3E6D-D1E3-900ECCE985B8}"/>
              </a:ext>
            </a:extLst>
          </p:cNvPr>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US" sz="1200" b="1" dirty="0">
                <a:solidFill>
                  <a:schemeClr val="dk1"/>
                </a:solidFill>
                <a:latin typeface="Arial"/>
                <a:ea typeface="Arial"/>
                <a:cs typeface="Arial"/>
                <a:sym typeface="Arial"/>
              </a:rPr>
              <a:t>Key Message:</a:t>
            </a:r>
          </a:p>
          <a:p>
            <a:pPr marL="0" marR="0" lvl="0" indent="0" algn="l" rtl="0">
              <a:lnSpc>
                <a:spcPct val="100000"/>
              </a:lnSpc>
              <a:spcBef>
                <a:spcPts val="0"/>
              </a:spcBef>
              <a:spcAft>
                <a:spcPts val="0"/>
              </a:spcAft>
              <a:buClr>
                <a:schemeClr val="dk1"/>
              </a:buClr>
              <a:buSzPts val="1200"/>
              <a:buFont typeface="Arial"/>
              <a:buNone/>
            </a:pPr>
            <a:r>
              <a:rPr lang="en-US" dirty="0"/>
              <a:t>The new vCenter-integrated workflow simplifies NSX Edge deployment by guiding users through input, automating vSphere and NSX object mapping, and visually displaying configurations, reducing complexity for non-expert users.</a:t>
            </a:r>
            <a:br>
              <a:rPr lang="en-US" sz="1200" dirty="0">
                <a:solidFill>
                  <a:schemeClr val="dk1"/>
                </a:solidFill>
                <a:latin typeface="Arial"/>
                <a:ea typeface="Arial"/>
                <a:cs typeface="Arial"/>
                <a:sym typeface="Arial"/>
              </a:rPr>
            </a:br>
            <a:endParaRPr lang="en-US" sz="12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b="1" dirty="0">
                <a:solidFill>
                  <a:schemeClr val="dk1"/>
                </a:solidFill>
                <a:latin typeface="Arial"/>
                <a:ea typeface="Arial"/>
                <a:cs typeface="Arial"/>
                <a:sym typeface="Arial"/>
              </a:rPr>
              <a:t>Talk Track:</a:t>
            </a:r>
          </a:p>
          <a:p>
            <a:pPr marL="0" lvl="0" indent="0" algn="l" rtl="0">
              <a:spcBef>
                <a:spcPts val="0"/>
              </a:spcBef>
              <a:spcAft>
                <a:spcPts val="0"/>
              </a:spcAft>
              <a:buNone/>
            </a:pPr>
            <a:r>
              <a:rPr lang="en-US" dirty="0"/>
              <a:t>NSX Edges are essential service appliances within the NSX architecture. </a:t>
            </a:r>
          </a:p>
          <a:p>
            <a:pPr marL="0" lvl="0" indent="0" algn="l" rtl="0">
              <a:spcBef>
                <a:spcPts val="0"/>
              </a:spcBef>
              <a:spcAft>
                <a:spcPts val="0"/>
              </a:spcAft>
              <a:buNone/>
            </a:pPr>
            <a:r>
              <a:rPr lang="en-US" dirty="0"/>
              <a:t>Their deployment requires careful alignment between </a:t>
            </a:r>
            <a:r>
              <a:rPr lang="en-US" dirty="0" err="1"/>
              <a:t>dvPortGroups</a:t>
            </a:r>
            <a:r>
              <a:rPr lang="en-US" dirty="0"/>
              <a:t> and VDS uplinks on ESX hosts and NSX Edge fast-path interfaces—an often complex task for less experienced users. </a:t>
            </a:r>
          </a:p>
          <a:p>
            <a:pPr marL="0" lvl="0" indent="0" algn="l" rtl="0">
              <a:spcBef>
                <a:spcPts val="0"/>
              </a:spcBef>
              <a:spcAft>
                <a:spcPts val="0"/>
              </a:spcAft>
              <a:buNone/>
            </a:pPr>
            <a:r>
              <a:rPr lang="en-US" dirty="0"/>
              <a:t>A new deployment workflow, now integrated into the vCenter UI, simplifies this process by guiding users through the necessary inputs, automatically mapping vSphere and NSX objects, and providing a real-time visual representation of the configuration. </a:t>
            </a:r>
          </a:p>
          <a:p>
            <a:pPr marL="0" lvl="0" indent="0" algn="l" rtl="0">
              <a:spcBef>
                <a:spcPts val="0"/>
              </a:spcBef>
              <a:spcAft>
                <a:spcPts val="0"/>
              </a:spcAft>
              <a:buNone/>
            </a:pPr>
            <a:r>
              <a:rPr lang="en-US" dirty="0"/>
              <a:t>This significantly streamlines the deployment of Edge VMs, a critical component of NSX.</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Notes:</a:t>
            </a:r>
            <a:br>
              <a:rPr lang="en-US" dirty="0"/>
            </a:br>
            <a:endParaRPr lang="en-US" dirty="0"/>
          </a:p>
          <a:p>
            <a:pPr marL="0" indent="0">
              <a:buFont typeface="Arial" panose="020B0604020202020204" pitchFamily="34" charset="0"/>
              <a:buNone/>
            </a:pPr>
            <a:r>
              <a:rPr lang="en-US" b="1" dirty="0"/>
              <a:t>Resources:</a:t>
            </a:r>
            <a:br>
              <a:rPr lang="en-US" dirty="0"/>
            </a:br>
            <a:endParaRPr lang="en-US" dirty="0"/>
          </a:p>
        </p:txBody>
      </p:sp>
      <p:sp>
        <p:nvSpPr>
          <p:cNvPr id="4" name="Slide Number Placeholder 3">
            <a:extLst>
              <a:ext uri="{FF2B5EF4-FFF2-40B4-BE49-F238E27FC236}">
                <a16:creationId xmlns:a16="http://schemas.microsoft.com/office/drawing/2014/main" id="{A23F141E-AB8D-9DE6-BF46-F1104FF4C92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124481198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410C5-E344-20E7-035D-F79738E2D7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01C0AD-BDCF-5019-1CC9-61940D360E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4A3172-6C2A-AD7F-2F29-152755466A35}"/>
              </a:ext>
            </a:extLst>
          </p:cNvPr>
          <p:cNvSpPr>
            <a:spLocks noGrp="1"/>
          </p:cNvSpPr>
          <p:nvPr>
            <p:ph type="body" idx="1"/>
          </p:nvPr>
        </p:nvSpPr>
        <p:spPr/>
        <p:txBody>
          <a:bodyPr>
            <a:normAutofit fontScale="85000" lnSpcReduction="20000"/>
          </a:bodyPr>
          <a:lstStyle/>
          <a:p>
            <a:pPr marL="0" lvl="0" indent="0" algn="l" rtl="0">
              <a:spcBef>
                <a:spcPts val="0"/>
              </a:spcBef>
              <a:spcAft>
                <a:spcPts val="0"/>
              </a:spcAft>
              <a:buNone/>
            </a:pPr>
            <a:r>
              <a:rPr lang="en-US" sz="1200" b="1" dirty="0">
                <a:solidFill>
                  <a:schemeClr val="dk1"/>
                </a:solidFill>
                <a:latin typeface="Arial"/>
                <a:ea typeface="Arial"/>
                <a:cs typeface="Arial"/>
                <a:sym typeface="Arial"/>
              </a:rPr>
              <a:t>Presenter Note:  </a:t>
            </a:r>
            <a:r>
              <a:rPr lang="en-US" sz="1200" b="1" dirty="0">
                <a:latin typeface="Arial"/>
                <a:ea typeface="Arial"/>
                <a:cs typeface="Arial"/>
                <a:sym typeface="Arial"/>
              </a:rPr>
              <a:t>This slide contains animation.</a:t>
            </a:r>
            <a:endParaRPr lang="en-US" sz="1200" b="1" dirty="0">
              <a:solidFill>
                <a:schemeClr val="dk1"/>
              </a:solidFill>
              <a:latin typeface="Arial"/>
              <a:ea typeface="Arial"/>
              <a:cs typeface="Arial"/>
              <a:sym typeface="Arial"/>
            </a:endParaRPr>
          </a:p>
          <a:p>
            <a:pPr marL="0" lvl="0" indent="0" algn="l" rtl="0">
              <a:spcBef>
                <a:spcPts val="0"/>
              </a:spcBef>
              <a:spcAft>
                <a:spcPts val="0"/>
              </a:spcAft>
              <a:buNone/>
            </a:pPr>
            <a:endParaRPr lang="en-US" sz="12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b="1" dirty="0">
                <a:solidFill>
                  <a:schemeClr val="dk1"/>
                </a:solidFill>
                <a:latin typeface="Arial"/>
                <a:ea typeface="Arial"/>
                <a:cs typeface="Arial"/>
                <a:sym typeface="Arial"/>
              </a:rPr>
              <a:t>Key Message:</a:t>
            </a:r>
          </a:p>
          <a:p>
            <a:pPr marL="0" marR="0" lvl="0" indent="0" algn="l" rtl="0">
              <a:lnSpc>
                <a:spcPct val="100000"/>
              </a:lnSpc>
              <a:spcBef>
                <a:spcPts val="0"/>
              </a:spcBef>
              <a:spcAft>
                <a:spcPts val="0"/>
              </a:spcAft>
              <a:buClr>
                <a:schemeClr val="dk1"/>
              </a:buClr>
              <a:buSzPts val="1200"/>
              <a:buFont typeface="Arial"/>
              <a:buNone/>
            </a:pPr>
            <a:r>
              <a:rPr lang="en-US" dirty="0"/>
              <a:t>The multi-tier gateway model enables Enterprise, Project, and VPC Admins to make independent connectivity decisions, with Project Admins using transit gateways to connect projects to external networks, and VPC Admins leveraging VPC gateways to connect subnets within each VPC.</a:t>
            </a:r>
            <a:endParaRPr lang="en-US" sz="12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br>
              <a:rPr lang="en-US" sz="120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Talk Track:</a:t>
            </a:r>
          </a:p>
          <a:p>
            <a:pPr marL="0" lvl="0" indent="0" algn="l" rtl="0">
              <a:spcBef>
                <a:spcPts val="0"/>
              </a:spcBef>
              <a:spcAft>
                <a:spcPts val="0"/>
              </a:spcAft>
              <a:buNone/>
            </a:pPr>
            <a:r>
              <a:rPr lang="en-US" dirty="0"/>
              <a:t>We’ve seen that the VPC model defines three distinct roles, each with clear responsibilities. </a:t>
            </a:r>
          </a:p>
          <a:p>
            <a:pPr marL="0" lvl="0" indent="0" algn="l" rtl="0">
              <a:spcBef>
                <a:spcPts val="0"/>
              </a:spcBef>
              <a:spcAft>
                <a:spcPts val="0"/>
              </a:spcAft>
              <a:buNone/>
            </a:pPr>
            <a:r>
              <a:rPr lang="en-US" dirty="0"/>
              <a:t>Now, let’s look at how these roles work together to establish connectivity, and the key objects involved in making that happen. </a:t>
            </a:r>
          </a:p>
          <a:p>
            <a:pPr marL="0" lvl="0" indent="0" algn="l" rtl="0">
              <a:spcBef>
                <a:spcPts val="0"/>
              </a:spcBef>
              <a:spcAft>
                <a:spcPts val="0"/>
              </a:spcAft>
              <a:buNone/>
            </a:pPr>
            <a:r>
              <a:rPr lang="en-US" dirty="0"/>
              <a:t>The Enterprise Admin manages interactions with the physical network and provides connectivity options to Project Admins by defining "</a:t>
            </a:r>
            <a:r>
              <a:rPr lang="en-US" b="1" dirty="0"/>
              <a:t>external connections</a:t>
            </a:r>
            <a:r>
              <a:rPr lang="en-US" dirty="0"/>
              <a:t>." </a:t>
            </a:r>
          </a:p>
          <a:p>
            <a:pPr marL="0" lvl="0" indent="0" algn="l" rtl="0">
              <a:spcBef>
                <a:spcPts val="0"/>
              </a:spcBef>
              <a:spcAft>
                <a:spcPts val="0"/>
              </a:spcAft>
              <a:buNone/>
            </a:pPr>
            <a:r>
              <a:rPr lang="en-US" dirty="0"/>
              <a:t>These external connections are profiles that describe how access to the physical network is delivered.</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&lt;click 1&gt;</a:t>
            </a:r>
          </a:p>
          <a:p>
            <a:pPr marL="0" indent="0">
              <a:buFont typeface="Arial" panose="020B0604020202020204" pitchFamily="34" charset="0"/>
              <a:buNone/>
            </a:pPr>
            <a:r>
              <a:rPr lang="en-US" dirty="0"/>
              <a:t>An external connection can represent either a connection centralized through a Tier-0 gateway on an edge node or distributed direct access via a VLAN.</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&lt;click 2&gt;</a:t>
            </a:r>
          </a:p>
          <a:p>
            <a:pPr marL="0" indent="0">
              <a:buFont typeface="Arial" panose="020B0604020202020204" pitchFamily="34" charset="0"/>
              <a:buNone/>
            </a:pPr>
            <a:r>
              <a:rPr lang="en-US" dirty="0"/>
              <a:t>The Project Admin, who has no direct access to the physical infrastructure, manages a new type of gateway called the </a:t>
            </a:r>
            <a:r>
              <a:rPr lang="en-US" b="1" dirty="0"/>
              <a:t>transit gateway</a:t>
            </a:r>
            <a:r>
              <a:rPr lang="en-US" dirty="0"/>
              <a:t>. </a:t>
            </a:r>
          </a:p>
          <a:p>
            <a:pPr marL="0" indent="0">
              <a:buFont typeface="Arial" panose="020B0604020202020204" pitchFamily="34" charset="0"/>
              <a:buNone/>
            </a:pPr>
            <a:r>
              <a:rPr lang="en-US" dirty="0"/>
              <a:t>By attaching the transit gateway to an external connection exposed by the Enterprise Admin, the Project Admin defines how the project connects to the external network. </a:t>
            </a:r>
          </a:p>
          <a:p>
            <a:pPr marL="0" indent="0">
              <a:buFont typeface="Arial" panose="020B0604020202020204" pitchFamily="34" charset="0"/>
              <a:buNone/>
            </a:pPr>
            <a:r>
              <a:rPr lang="en-US" dirty="0"/>
              <a:t>The choice of external connection also determines whether the transit gateway will function in a distributed or centralized mode.</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&lt;click 3&gt;</a:t>
            </a:r>
          </a:p>
          <a:p>
            <a:pPr marL="0" indent="0">
              <a:buFont typeface="Arial" panose="020B0604020202020204" pitchFamily="34" charset="0"/>
              <a:buNone/>
            </a:pPr>
            <a:r>
              <a:rPr lang="en-US" dirty="0"/>
              <a:t>Finally, within each VPC, a </a:t>
            </a:r>
            <a:r>
              <a:rPr lang="en-US" b="1" dirty="0"/>
              <a:t>VPC gateway</a:t>
            </a:r>
            <a:r>
              <a:rPr lang="en-US" dirty="0"/>
              <a:t> is deployed. </a:t>
            </a:r>
          </a:p>
          <a:p>
            <a:pPr marL="0" indent="0">
              <a:buFont typeface="Arial" panose="020B0604020202020204" pitchFamily="34" charset="0"/>
              <a:buNone/>
            </a:pPr>
            <a:r>
              <a:rPr lang="en-US" dirty="0"/>
              <a:t>The VPC gateway connects internal subnets and provides external connectivity by routing through the transit gateway.</a:t>
            </a:r>
          </a:p>
          <a:p>
            <a:pPr marL="0" indent="0">
              <a:buFont typeface="Arial" panose="020B0604020202020204" pitchFamily="34" charset="0"/>
              <a:buNone/>
            </a:pPr>
            <a:endParaRPr lang="en-US" dirty="0"/>
          </a:p>
          <a:p>
            <a:pPr marL="0" lvl="0" indent="0" algn="l" rtl="0">
              <a:spcBef>
                <a:spcPts val="0"/>
              </a:spcBef>
              <a:spcAft>
                <a:spcPts val="0"/>
              </a:spcAft>
              <a:buNone/>
            </a:pPr>
            <a:r>
              <a:rPr lang="en-US" b="1" dirty="0"/>
              <a:t>Notes:</a:t>
            </a:r>
            <a:br>
              <a:rPr lang="en-US" dirty="0"/>
            </a:br>
            <a:endParaRPr lang="en-US" dirty="0"/>
          </a:p>
          <a:p>
            <a:pPr marL="0" indent="0">
              <a:buFont typeface="Arial" panose="020B0604020202020204" pitchFamily="34" charset="0"/>
              <a:buNone/>
            </a:pPr>
            <a:r>
              <a:rPr lang="en-US" b="1" dirty="0"/>
              <a:t>Resources:</a:t>
            </a:r>
            <a:br>
              <a:rPr lang="en-US" dirty="0"/>
            </a:b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4495BB99-0CD7-7699-B634-B5216F291A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355655633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6B2CA-8C49-D1E7-4FCC-411269314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CC4B9E-40FE-4611-FF13-86C8AEB276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C1F387-0247-E271-625E-FABFE4451600}"/>
              </a:ext>
            </a:extLst>
          </p:cNvPr>
          <p:cNvSpPr>
            <a:spLocks noGrp="1"/>
          </p:cNvSpPr>
          <p:nvPr>
            <p:ph type="body" idx="1"/>
          </p:nvPr>
        </p:nvSpPr>
        <p:spPr/>
        <p:txBody>
          <a:bodyPr>
            <a:normAutofit fontScale="92500" lnSpcReduction="10000"/>
          </a:bodyPr>
          <a:lstStyle/>
          <a:p>
            <a:pPr marL="0" lvl="0" indent="0" algn="l" rtl="0">
              <a:spcBef>
                <a:spcPts val="0"/>
              </a:spcBef>
              <a:spcAft>
                <a:spcPts val="0"/>
              </a:spcAft>
              <a:buNone/>
            </a:pPr>
            <a:r>
              <a:rPr lang="en-US" sz="1200" b="1" dirty="0">
                <a:solidFill>
                  <a:schemeClr val="dk1"/>
                </a:solidFill>
                <a:latin typeface="Arial"/>
                <a:ea typeface="Arial"/>
                <a:cs typeface="Arial"/>
                <a:sym typeface="Arial"/>
              </a:rPr>
              <a:t>Presenter Note:  </a:t>
            </a:r>
            <a:r>
              <a:rPr lang="en-US" sz="1200" b="1" dirty="0">
                <a:latin typeface="Arial"/>
                <a:ea typeface="Arial"/>
                <a:cs typeface="Arial"/>
                <a:sym typeface="Arial"/>
              </a:rPr>
              <a:t>This slide contains animation.</a:t>
            </a:r>
            <a:endParaRPr lang="en-US" sz="1200" b="1" dirty="0">
              <a:solidFill>
                <a:schemeClr val="dk1"/>
              </a:solidFill>
              <a:latin typeface="Arial"/>
              <a:ea typeface="Arial"/>
              <a:cs typeface="Arial"/>
              <a:sym typeface="Arial"/>
            </a:endParaRPr>
          </a:p>
          <a:p>
            <a:pPr marL="0" lvl="0" indent="0" algn="l" rtl="0">
              <a:spcBef>
                <a:spcPts val="0"/>
              </a:spcBef>
              <a:spcAft>
                <a:spcPts val="0"/>
              </a:spcAft>
              <a:buNone/>
            </a:pPr>
            <a:endParaRPr lang="en-US" sz="12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b="1" dirty="0">
                <a:solidFill>
                  <a:schemeClr val="dk1"/>
                </a:solidFill>
                <a:latin typeface="Arial"/>
                <a:ea typeface="Arial"/>
                <a:cs typeface="Arial"/>
                <a:sym typeface="Arial"/>
              </a:rPr>
              <a:t>Key Message:</a:t>
            </a:r>
            <a:endParaRPr lang="en-US"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When attaching to a centralized external connection, the transit gateway is implemented as a Tier0 VRF. </a:t>
            </a:r>
          </a:p>
          <a:p>
            <a:pPr marL="0" lvl="0" indent="0" algn="l" rtl="0">
              <a:spcBef>
                <a:spcPts val="0"/>
              </a:spcBef>
              <a:spcAft>
                <a:spcPts val="0"/>
              </a:spcAft>
              <a:buNone/>
            </a:pPr>
            <a:r>
              <a:rPr lang="en-US" sz="1200" dirty="0">
                <a:solidFill>
                  <a:schemeClr val="dk1"/>
                </a:solidFill>
                <a:latin typeface="Arial"/>
                <a:ea typeface="Arial"/>
                <a:cs typeface="Arial"/>
                <a:sym typeface="Arial"/>
              </a:rPr>
              <a:t>Based on the Tier0, it can offer stateful services. </a:t>
            </a:r>
          </a:p>
          <a:p>
            <a:pPr marL="0" lvl="0" indent="0" algn="l" rtl="0">
              <a:spcBef>
                <a:spcPts val="0"/>
              </a:spcBef>
              <a:spcAft>
                <a:spcPts val="0"/>
              </a:spcAft>
              <a:buNone/>
            </a:pPr>
            <a:r>
              <a:rPr lang="en-US" sz="1200" dirty="0">
                <a:solidFill>
                  <a:schemeClr val="dk1"/>
                </a:solidFill>
                <a:latin typeface="Arial"/>
                <a:ea typeface="Arial"/>
                <a:cs typeface="Arial"/>
                <a:sym typeface="Arial"/>
              </a:rPr>
              <a:t>This is the most traditional connectivity model offered by NSX. It requires NSX edges.</a:t>
            </a:r>
          </a:p>
          <a:p>
            <a:pPr marL="0" lvl="0" indent="0" algn="l" rtl="0">
              <a:spcBef>
                <a:spcPts val="0"/>
              </a:spcBef>
              <a:spcAft>
                <a:spcPts val="0"/>
              </a:spcAft>
              <a:buNone/>
            </a:pPr>
            <a:br>
              <a:rPr lang="en-US" sz="120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Talk Track:</a:t>
            </a:r>
          </a:p>
          <a:p>
            <a:pPr marL="0" lvl="0" indent="0" algn="l" rtl="0">
              <a:spcBef>
                <a:spcPts val="0"/>
              </a:spcBef>
              <a:spcAft>
                <a:spcPts val="0"/>
              </a:spcAft>
              <a:buNone/>
            </a:pPr>
            <a:r>
              <a:rPr lang="en-US" dirty="0"/>
              <a:t>When attached to a centralized external connection, the transit gateway is associated with a Tier-0 gateway on an Edge node—effectively acting as a VRF of the Tier-0 for those familiar with NSX. </a:t>
            </a:r>
          </a:p>
          <a:p>
            <a:pPr marL="0" lvl="0" indent="0" algn="l" rtl="0">
              <a:spcBef>
                <a:spcPts val="0"/>
              </a:spcBef>
              <a:spcAft>
                <a:spcPts val="0"/>
              </a:spcAft>
              <a:buNone/>
            </a:pPr>
            <a:r>
              <a:rPr lang="en-US" dirty="0"/>
              <a:t>This tight integration means that all north-south traffic through the transit gateway also flows through the Tier-0 gateway and inherits its redundancy model, whether active/active or active/standby. </a:t>
            </a:r>
          </a:p>
          <a:p>
            <a:pPr marL="0" lvl="0" indent="0" algn="l" rtl="0">
              <a:spcBef>
                <a:spcPts val="0"/>
              </a:spcBef>
              <a:spcAft>
                <a:spcPts val="0"/>
              </a:spcAft>
              <a:buNone/>
            </a:pPr>
            <a:r>
              <a:rPr lang="en-US" dirty="0"/>
              <a:t>This has direct implications on the services the transit gateway can deliver: stateful services are not supported when operating in active/active mode.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&lt;click 1&gt; </a:t>
            </a:r>
          </a:p>
          <a:p>
            <a:pPr marL="0" lvl="0" indent="0" algn="l" rtl="0">
              <a:spcBef>
                <a:spcPts val="0"/>
              </a:spcBef>
              <a:spcAft>
                <a:spcPts val="0"/>
              </a:spcAft>
              <a:buNone/>
            </a:pPr>
            <a:r>
              <a:rPr lang="en-US" dirty="0"/>
              <a:t>Similarly, VPC gateways also require a centralized component on an Edge node to run stateful services. </a:t>
            </a:r>
          </a:p>
          <a:p>
            <a:pPr marL="0" lvl="0" indent="0" algn="l" rtl="0">
              <a:spcBef>
                <a:spcPts val="0"/>
              </a:spcBef>
              <a:spcAft>
                <a:spcPts val="0"/>
              </a:spcAft>
              <a:buNone/>
            </a:pPr>
            <a:r>
              <a:rPr lang="en-US" dirty="0"/>
              <a:t>However, VPC gateways can be assigned Edge resources independently of those used by the transit gateway in a centralized external connection setup. </a:t>
            </a:r>
          </a:p>
          <a:p>
            <a:pPr marL="0" lvl="0" indent="0" algn="l" rtl="0">
              <a:spcBef>
                <a:spcPts val="0"/>
              </a:spcBef>
              <a:spcAft>
                <a:spcPts val="0"/>
              </a:spcAft>
              <a:buNone/>
            </a:pPr>
            <a:r>
              <a:rPr lang="en-US" dirty="0"/>
              <a:t>Services such as SNAT/DNAT, DHCP, QoS, Gateway Firewall, Supervisor Cluster integration, and VCF automation with the modern UI all rely on Edge nodes.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lvl="0" indent="0" algn="l" rtl="0">
              <a:spcBef>
                <a:spcPts val="0"/>
              </a:spcBef>
              <a:spcAft>
                <a:spcPts val="0"/>
              </a:spcAft>
              <a:buNone/>
            </a:pPr>
            <a:r>
              <a:rPr lang="en-US" b="1" dirty="0"/>
              <a:t>Notes:</a:t>
            </a:r>
            <a:br>
              <a:rPr lang="en-US" dirty="0"/>
            </a:br>
            <a:endParaRPr lang="en-US" dirty="0"/>
          </a:p>
          <a:p>
            <a:pPr marL="0" indent="0">
              <a:buFont typeface="Arial" panose="020B0604020202020204" pitchFamily="34" charset="0"/>
              <a:buNone/>
            </a:pPr>
            <a:r>
              <a:rPr lang="en-US" b="1" dirty="0"/>
              <a:t>Resources:</a:t>
            </a:r>
            <a:br>
              <a:rPr lang="en-US" dirty="0"/>
            </a:br>
            <a:endParaRPr lang="en-US" dirty="0"/>
          </a:p>
          <a:p>
            <a:endParaRPr lang="en-US" dirty="0"/>
          </a:p>
        </p:txBody>
      </p:sp>
      <p:sp>
        <p:nvSpPr>
          <p:cNvPr id="4" name="Slide Number Placeholder 3">
            <a:extLst>
              <a:ext uri="{FF2B5EF4-FFF2-40B4-BE49-F238E27FC236}">
                <a16:creationId xmlns:a16="http://schemas.microsoft.com/office/drawing/2014/main" id="{F5E1D376-02DA-A781-679A-45DB695F90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135875406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BB908-5A3A-4A34-AC75-1BFB85CED1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1D8B91-0C9D-3D47-741B-88D5E7829A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E320B2-EF4B-20F3-52EB-D2A35587D427}"/>
              </a:ext>
            </a:extLst>
          </p:cNvPr>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US" sz="1200" b="1" dirty="0">
                <a:solidFill>
                  <a:schemeClr val="dk1"/>
                </a:solidFill>
                <a:latin typeface="Arial"/>
                <a:ea typeface="Arial"/>
                <a:cs typeface="Arial"/>
                <a:sym typeface="Arial"/>
              </a:rPr>
              <a:t>Key Message:</a:t>
            </a:r>
            <a:endParaRPr lang="en-US" sz="1200" b="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b="0" dirty="0"/>
              <a:t>VCF 9.0 simplifies VPC deployment by removing the need for NSX Edge appliances, allowing ESX hosts to route external traffic directly via a distributed external connection. </a:t>
            </a:r>
          </a:p>
          <a:p>
            <a:pPr marL="0" marR="0" lvl="0" indent="0" algn="l" rtl="0">
              <a:lnSpc>
                <a:spcPct val="100000"/>
              </a:lnSpc>
              <a:spcBef>
                <a:spcPts val="0"/>
              </a:spcBef>
              <a:spcAft>
                <a:spcPts val="0"/>
              </a:spcAft>
              <a:buClr>
                <a:schemeClr val="dk1"/>
              </a:buClr>
              <a:buSzPts val="1200"/>
              <a:buFont typeface="Arial"/>
              <a:buNone/>
            </a:pPr>
            <a:r>
              <a:rPr lang="en-US" b="0" dirty="0"/>
              <a:t>This reduces complexity but limits services to reflexive NAT and distributed DHCP, while requiring a shared Layer 2 VLAN across all hosts.</a:t>
            </a:r>
          </a:p>
          <a:p>
            <a:pPr marL="0" lvl="0" indent="0" algn="l" rtl="0">
              <a:spcBef>
                <a:spcPts val="0"/>
              </a:spcBef>
              <a:spcAft>
                <a:spcPts val="0"/>
              </a:spcAft>
              <a:buNone/>
            </a:pPr>
            <a:br>
              <a:rPr lang="en-US" sz="1200" b="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Talk Track:</a:t>
            </a:r>
          </a:p>
          <a:p>
            <a:pPr marL="0" lvl="0" indent="0" algn="l" rtl="0">
              <a:spcBef>
                <a:spcPts val="0"/>
              </a:spcBef>
              <a:spcAft>
                <a:spcPts val="0"/>
              </a:spcAft>
              <a:buNone/>
            </a:pPr>
            <a:r>
              <a:rPr lang="en-US" dirty="0"/>
              <a:t>VCF 9.0 introduces the capability to deploy VPCs without requiring NSX Edge appliances, significantly simplifying one of the most complex tasks in NSX. </a:t>
            </a:r>
          </a:p>
          <a:p>
            <a:pPr marL="0" lvl="0" indent="0" algn="l" rtl="0">
              <a:spcBef>
                <a:spcPts val="0"/>
              </a:spcBef>
              <a:spcAft>
                <a:spcPts val="0"/>
              </a:spcAft>
              <a:buNone/>
            </a:pPr>
            <a:r>
              <a:rPr lang="en-US" dirty="0"/>
              <a:t>By attaching a transit gateway to a distributed external connection, each ESX host can independently route VM traffic to external destinations. </a:t>
            </a:r>
          </a:p>
          <a:p>
            <a:pPr marL="0" lvl="0" indent="0" algn="l" rtl="0">
              <a:spcBef>
                <a:spcPts val="0"/>
              </a:spcBef>
              <a:spcAft>
                <a:spcPts val="0"/>
              </a:spcAft>
              <a:buNone/>
            </a:pPr>
            <a:r>
              <a:rPr lang="en-US" dirty="0"/>
              <a:t>However, this model comes with trade-offs: </a:t>
            </a:r>
          </a:p>
          <a:p>
            <a:pPr marL="171450" lvl="0" indent="-171450" algn="l" rtl="0">
              <a:spcBef>
                <a:spcPts val="0"/>
              </a:spcBef>
              <a:spcAft>
                <a:spcPts val="0"/>
              </a:spcAft>
              <a:buFont typeface="Arial" panose="020B0604020202020204" pitchFamily="34" charset="0"/>
              <a:buChar char="•"/>
            </a:pPr>
            <a:r>
              <a:rPr lang="en-US" dirty="0"/>
              <a:t>only basic services like reflexive (1:1) NAT and distributed DHCP are available, </a:t>
            </a:r>
          </a:p>
          <a:p>
            <a:pPr marL="171450" lvl="0" indent="-171450" algn="l" rtl="0">
              <a:spcBef>
                <a:spcPts val="0"/>
              </a:spcBef>
              <a:spcAft>
                <a:spcPts val="0"/>
              </a:spcAft>
              <a:buFont typeface="Arial" panose="020B0604020202020204" pitchFamily="34" charset="0"/>
              <a:buChar char="•"/>
            </a:pPr>
            <a:r>
              <a:rPr lang="en-US" dirty="0"/>
              <a:t>and the physical network must provide a shared Layer 2 domain across all ESX hosts. Unlike traditional NSX overlay networking, this approach requires external VLANs to be extended to each host.</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Notes:</a:t>
            </a:r>
            <a:br>
              <a:rPr lang="en-US" dirty="0"/>
            </a:br>
            <a:endParaRPr lang="en-US" dirty="0"/>
          </a:p>
          <a:p>
            <a:pPr marL="0" indent="0">
              <a:buFont typeface="Arial" panose="020B0604020202020204" pitchFamily="34" charset="0"/>
              <a:buNone/>
            </a:pPr>
            <a:r>
              <a:rPr lang="en-US" b="1" dirty="0"/>
              <a:t>Resources:</a:t>
            </a:r>
            <a:br>
              <a:rPr lang="en-US" dirty="0"/>
            </a:br>
            <a:endParaRPr lang="en-US" dirty="0"/>
          </a:p>
        </p:txBody>
      </p:sp>
      <p:sp>
        <p:nvSpPr>
          <p:cNvPr id="4" name="Slide Number Placeholder 3">
            <a:extLst>
              <a:ext uri="{FF2B5EF4-FFF2-40B4-BE49-F238E27FC236}">
                <a16:creationId xmlns:a16="http://schemas.microsoft.com/office/drawing/2014/main" id="{89ECD487-CC56-C2C7-7705-71D53DF4CF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41823855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3A9D2-7E4C-E73C-8C5C-EB88EA50F4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AFCA68-4799-E298-D1DF-CF12EEDBBC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9402D0-CD8F-412C-DEB8-15758F5C5AA6}"/>
              </a:ext>
            </a:extLst>
          </p:cNvPr>
          <p:cNvSpPr>
            <a:spLocks noGrp="1"/>
          </p:cNvSpPr>
          <p:nvPr>
            <p:ph type="body" idx="1"/>
          </p:nvPr>
        </p:nvSpPr>
        <p:spPr/>
        <p:txBody>
          <a:bodyPr>
            <a:normAutofit fontScale="85000" lnSpcReduction="20000"/>
          </a:bodyPr>
          <a:lstStyle/>
          <a:p>
            <a:pPr marL="0" lvl="0" indent="0" algn="l" rtl="0">
              <a:spcBef>
                <a:spcPts val="0"/>
              </a:spcBef>
              <a:spcAft>
                <a:spcPts val="0"/>
              </a:spcAft>
              <a:buNone/>
            </a:pPr>
            <a:r>
              <a:rPr lang="en-US" sz="1200" b="1" dirty="0">
                <a:solidFill>
                  <a:schemeClr val="dk1"/>
                </a:solidFill>
                <a:latin typeface="Arial"/>
                <a:ea typeface="Arial"/>
                <a:cs typeface="Arial"/>
                <a:sym typeface="Arial"/>
              </a:rPr>
              <a:t>Presenter Note:  </a:t>
            </a:r>
            <a:r>
              <a:rPr lang="en-US" sz="1200" b="1" dirty="0">
                <a:latin typeface="Arial"/>
                <a:ea typeface="Arial"/>
                <a:cs typeface="Arial"/>
                <a:sym typeface="Arial"/>
              </a:rPr>
              <a:t>This slide contains animation.</a:t>
            </a:r>
            <a:endParaRPr lang="en-US" sz="1200" b="1" dirty="0">
              <a:solidFill>
                <a:schemeClr val="dk1"/>
              </a:solidFill>
              <a:latin typeface="Arial"/>
              <a:ea typeface="Arial"/>
              <a:cs typeface="Arial"/>
              <a:sym typeface="Arial"/>
            </a:endParaRPr>
          </a:p>
          <a:p>
            <a:pPr marL="0" lvl="0" indent="0" algn="l" rtl="0">
              <a:spcBef>
                <a:spcPts val="0"/>
              </a:spcBef>
              <a:spcAft>
                <a:spcPts val="0"/>
              </a:spcAft>
              <a:buNone/>
            </a:pPr>
            <a:endParaRPr lang="en-US" sz="12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b="1" dirty="0">
                <a:solidFill>
                  <a:schemeClr val="dk1"/>
                </a:solidFill>
                <a:latin typeface="Arial"/>
                <a:ea typeface="Arial"/>
                <a:cs typeface="Arial"/>
                <a:sym typeface="Arial"/>
              </a:rPr>
              <a:t>Key Message:</a:t>
            </a:r>
          </a:p>
          <a:p>
            <a:pPr marL="0" marR="0" lvl="0" indent="0" algn="l" rtl="0">
              <a:lnSpc>
                <a:spcPct val="100000"/>
              </a:lnSpc>
              <a:spcBef>
                <a:spcPts val="0"/>
              </a:spcBef>
              <a:spcAft>
                <a:spcPts val="0"/>
              </a:spcAft>
              <a:buClr>
                <a:schemeClr val="dk1"/>
              </a:buClr>
              <a:buSzPts val="1200"/>
              <a:buFont typeface="Arial"/>
              <a:buNone/>
            </a:pPr>
            <a:r>
              <a:rPr lang="en-US" sz="1200" b="0" dirty="0">
                <a:solidFill>
                  <a:schemeClr val="dk1"/>
                </a:solidFill>
                <a:latin typeface="Arial"/>
                <a:cs typeface="Arial"/>
                <a:sym typeface="Arial"/>
              </a:rPr>
              <a:t>The enhanced data path VDS is an improvement over the “legacy” VDS in every respect. </a:t>
            </a:r>
          </a:p>
          <a:p>
            <a:pPr marL="0" marR="0" lvl="0" indent="0" algn="l" rtl="0">
              <a:lnSpc>
                <a:spcPct val="100000"/>
              </a:lnSpc>
              <a:spcBef>
                <a:spcPts val="0"/>
              </a:spcBef>
              <a:spcAft>
                <a:spcPts val="0"/>
              </a:spcAft>
              <a:buClr>
                <a:schemeClr val="dk1"/>
              </a:buClr>
              <a:buSzPts val="1200"/>
              <a:buFont typeface="Arial"/>
              <a:buNone/>
            </a:pPr>
            <a:r>
              <a:rPr lang="en-US" sz="1200" b="0" dirty="0">
                <a:solidFill>
                  <a:schemeClr val="dk1"/>
                </a:solidFill>
                <a:latin typeface="Arial"/>
                <a:cs typeface="Arial"/>
                <a:sym typeface="Arial"/>
              </a:rPr>
              <a:t>It’s been available for several years and VCF 9.0 makes it now the default for new VDS deployments. </a:t>
            </a:r>
          </a:p>
          <a:p>
            <a:pPr marL="0" marR="0" lvl="0" indent="0" algn="l" rtl="0">
              <a:lnSpc>
                <a:spcPct val="100000"/>
              </a:lnSpc>
              <a:spcBef>
                <a:spcPts val="0"/>
              </a:spcBef>
              <a:spcAft>
                <a:spcPts val="0"/>
              </a:spcAft>
              <a:buClr>
                <a:schemeClr val="dk1"/>
              </a:buClr>
              <a:buSzPts val="1200"/>
              <a:buFont typeface="Arial"/>
              <a:buNone/>
            </a:pPr>
            <a:r>
              <a:rPr lang="en-US" sz="1200" b="0" dirty="0">
                <a:solidFill>
                  <a:schemeClr val="dk1"/>
                </a:solidFill>
                <a:latin typeface="Arial"/>
                <a:cs typeface="Arial"/>
                <a:sym typeface="Arial"/>
              </a:rPr>
              <a:t>VDS that are imported into VCF 9.0 (via import, convert, upgrade for example) are left unchanged.</a:t>
            </a:r>
            <a:endParaRPr lang="en-US" b="0" dirty="0"/>
          </a:p>
          <a:p>
            <a:pPr marL="0" lvl="0" indent="0" algn="l" rtl="0">
              <a:spcBef>
                <a:spcPts val="0"/>
              </a:spcBef>
              <a:spcAft>
                <a:spcPts val="0"/>
              </a:spcAft>
              <a:buNone/>
            </a:pPr>
            <a:br>
              <a:rPr lang="en-US" sz="120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Talk Track:</a:t>
            </a:r>
            <a:endParaRPr lang="en-US" sz="1200" b="0" dirty="0">
              <a:solidFill>
                <a:schemeClr val="dk1"/>
              </a:solidFill>
              <a:latin typeface="Arial"/>
              <a:ea typeface="Arial"/>
              <a:cs typeface="Arial"/>
              <a:sym typeface="Arial"/>
            </a:endParaRPr>
          </a:p>
          <a:p>
            <a:pPr marL="0" lvl="0" indent="0" algn="l" rtl="0">
              <a:spcBef>
                <a:spcPts val="0"/>
              </a:spcBef>
              <a:spcAft>
                <a:spcPts val="0"/>
              </a:spcAft>
              <a:buNone/>
            </a:pPr>
            <a:r>
              <a:rPr lang="en-US" b="0" u="sng" dirty="0"/>
              <a:t>Enhanced Data Path (EDP) </a:t>
            </a:r>
            <a:r>
              <a:rPr lang="en-US" dirty="0"/>
              <a:t>is a high-performance virtual switch with two modes of operation: </a:t>
            </a:r>
            <a:r>
              <a:rPr lang="en-US" b="0" u="sng" dirty="0"/>
              <a:t>standard</a:t>
            </a:r>
            <a:r>
              <a:rPr lang="en-US" dirty="0"/>
              <a:t> and </a:t>
            </a:r>
            <a:r>
              <a:rPr lang="en-US" b="0" u="sng" dirty="0"/>
              <a:t>dedicated. </a:t>
            </a:r>
          </a:p>
          <a:p>
            <a:pPr marL="0" lvl="0" indent="0" algn="l" rtl="0">
              <a:spcBef>
                <a:spcPts val="0"/>
              </a:spcBef>
              <a:spcAft>
                <a:spcPts val="0"/>
              </a:spcAft>
              <a:buNone/>
            </a:pPr>
            <a:r>
              <a:rPr lang="en-US" dirty="0"/>
              <a:t>By default, new VCF 9.0 deployments run EDP standard mode on the VDS, while upgrading to VCF 9.0 will not change the VDS mode. </a:t>
            </a:r>
          </a:p>
          <a:p>
            <a:pPr marL="0" lvl="0" indent="0" algn="l" rtl="0">
              <a:spcBef>
                <a:spcPts val="0"/>
              </a:spcBef>
              <a:spcAft>
                <a:spcPts val="0"/>
              </a:spcAft>
              <a:buNone/>
            </a:pPr>
            <a:r>
              <a:rPr lang="en-US" dirty="0"/>
              <a:t>Like the legacy VDS, the EDP VDS is interrupt-driven and uses CPU cores on demand. </a:t>
            </a:r>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&lt;click 1&gt;</a:t>
            </a:r>
          </a:p>
          <a:p>
            <a:pPr marL="0" indent="0">
              <a:buFont typeface="Arial" panose="020B0604020202020204" pitchFamily="34" charset="0"/>
              <a:buNone/>
            </a:pPr>
            <a:r>
              <a:rPr lang="en-US" dirty="0"/>
              <a:t>However, with its DPDK-based operations and packet data structure, it offers higher performance across all workloads without tuning. </a:t>
            </a:r>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&lt;click 2&gt;</a:t>
            </a:r>
          </a:p>
          <a:p>
            <a:pPr marL="0" indent="0">
              <a:buFont typeface="Arial" panose="020B0604020202020204" pitchFamily="34" charset="0"/>
              <a:buNone/>
            </a:pPr>
            <a:r>
              <a:rPr lang="en-US" dirty="0"/>
              <a:t>EDP delivers a </a:t>
            </a:r>
            <a:r>
              <a:rPr lang="en-US" b="0" i="1" u="sng" dirty="0"/>
              <a:t>50-70% increase in performance</a:t>
            </a:r>
            <a:r>
              <a:rPr lang="en-US" dirty="0"/>
              <a:t>, improving both bandwidth for large-flow workloads and packets per second for workloads exchanging a high rate of small packets.</a:t>
            </a:r>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&lt;click 3&gt;</a:t>
            </a:r>
          </a:p>
          <a:p>
            <a:pPr marL="0" indent="0">
              <a:buFont typeface="Arial" panose="020B0604020202020204" pitchFamily="34" charset="0"/>
              <a:buNone/>
            </a:pPr>
            <a:r>
              <a:rPr lang="en-US" dirty="0"/>
              <a:t>EDP drivers optimize </a:t>
            </a:r>
            <a:r>
              <a:rPr lang="en-US" dirty="0" err="1"/>
              <a:t>pNIC</a:t>
            </a:r>
            <a:r>
              <a:rPr lang="en-US" dirty="0"/>
              <a:t> performance. </a:t>
            </a:r>
          </a:p>
          <a:p>
            <a:pPr marL="0" indent="0">
              <a:buFont typeface="Arial" panose="020B0604020202020204" pitchFamily="34" charset="0"/>
              <a:buNone/>
            </a:pPr>
            <a:r>
              <a:rPr lang="en-US" dirty="0"/>
              <a:t>Even for older pNICs with limited features will see an improvement compared to legacy standard VDS.</a:t>
            </a:r>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&lt;click 4&gt;</a:t>
            </a:r>
          </a:p>
          <a:p>
            <a:pPr marL="0" indent="0">
              <a:buFont typeface="Arial" panose="020B0604020202020204" pitchFamily="34" charset="0"/>
              <a:buNone/>
            </a:pPr>
            <a:r>
              <a:rPr lang="en-US" dirty="0"/>
              <a:t>The </a:t>
            </a:r>
            <a:r>
              <a:rPr lang="en-US" b="0" u="sng" dirty="0"/>
              <a:t>dedicated mode </a:t>
            </a:r>
            <a:r>
              <a:rPr lang="en-US" dirty="0"/>
              <a:t>assigns specific CPU cores for packet processing, offering even better performance for specialized workloads. </a:t>
            </a:r>
          </a:p>
          <a:p>
            <a:pPr marL="0" indent="0">
              <a:buFont typeface="Arial" panose="020B0604020202020204" pitchFamily="34" charset="0"/>
              <a:buNone/>
            </a:pPr>
            <a:r>
              <a:rPr lang="en-US" dirty="0"/>
              <a:t>It requires tuning based on careful consideration of traffic type and average packet size and is typically used in Telco environments. </a:t>
            </a:r>
          </a:p>
          <a:p>
            <a:pPr marL="0" indent="0">
              <a:buFont typeface="Arial" panose="020B0604020202020204" pitchFamily="34" charset="0"/>
              <a:buNone/>
            </a:pPr>
            <a:r>
              <a:rPr lang="en-US" dirty="0"/>
              <a:t>The legacy standard, non-EDP, VDS mode remains available.</a:t>
            </a:r>
          </a:p>
          <a:p>
            <a:pPr marL="0" indent="0">
              <a:buFont typeface="Arial" panose="020B0604020202020204" pitchFamily="34" charset="0"/>
              <a:buNone/>
            </a:pPr>
            <a:endParaRPr lang="en-US" dirty="0"/>
          </a:p>
          <a:p>
            <a:pPr marL="0" indent="0">
              <a:buFont typeface="Arial" panose="020B0604020202020204" pitchFamily="34" charset="0"/>
              <a:buNone/>
            </a:pPr>
            <a:r>
              <a:rPr lang="en-US" b="1" dirty="0"/>
              <a:t>Notes:</a:t>
            </a:r>
            <a:br>
              <a:rPr lang="en-US" dirty="0"/>
            </a:br>
            <a:r>
              <a:rPr lang="en-US" dirty="0"/>
              <a:t>- In VCF 9 EDP is the default choice when configuring a Virtual Distributed switch.</a:t>
            </a:r>
          </a:p>
          <a:p>
            <a:pPr marL="0" indent="0">
              <a:buFont typeface="Arial" panose="020B0604020202020204" pitchFamily="34" charset="0"/>
              <a:buNone/>
            </a:pPr>
            <a:endParaRPr lang="en-US" dirty="0"/>
          </a:p>
          <a:p>
            <a:pPr marL="0" indent="0">
              <a:buFont typeface="Arial" panose="020B0604020202020204" pitchFamily="34" charset="0"/>
              <a:buNone/>
            </a:pPr>
            <a:r>
              <a:rPr lang="en-US" b="1" dirty="0"/>
              <a:t>Resources:</a:t>
            </a:r>
            <a:br>
              <a:rPr lang="en-US" dirty="0"/>
            </a:br>
            <a:r>
              <a:rPr lang="en-US" dirty="0"/>
              <a:t>For further detail on configuring EDP please refer to :</a:t>
            </a:r>
          </a:p>
          <a:p>
            <a:pPr marL="0" indent="0">
              <a:buFont typeface="Arial" panose="020B0604020202020204" pitchFamily="34" charset="0"/>
              <a:buNone/>
            </a:pPr>
            <a:r>
              <a:rPr lang="en-US" dirty="0"/>
              <a:t>https://</a:t>
            </a:r>
            <a:r>
              <a:rPr lang="en-US" dirty="0" err="1"/>
              <a:t>techdocs.broadcom.com</a:t>
            </a:r>
            <a:r>
              <a:rPr lang="en-US" dirty="0"/>
              <a:t>/us/</a:t>
            </a:r>
            <a:r>
              <a:rPr lang="en-US" dirty="0" err="1"/>
              <a:t>en</a:t>
            </a:r>
            <a:r>
              <a:rPr lang="en-US" dirty="0"/>
              <a:t>/</a:t>
            </a:r>
            <a:r>
              <a:rPr lang="en-US" dirty="0" err="1"/>
              <a:t>vmware</a:t>
            </a:r>
            <a:r>
              <a:rPr lang="en-US" dirty="0"/>
              <a:t>-cis/</a:t>
            </a:r>
            <a:r>
              <a:rPr lang="en-US" dirty="0" err="1"/>
              <a:t>nsx</a:t>
            </a:r>
            <a:r>
              <a:rPr lang="en-US" dirty="0"/>
              <a:t>/</a:t>
            </a:r>
            <a:r>
              <a:rPr lang="en-US" dirty="0" err="1"/>
              <a:t>vmware-nsx</a:t>
            </a:r>
            <a:r>
              <a:rPr lang="en-US" dirty="0"/>
              <a:t>/4-2/installation-guide/transport-zones-and-transport-nodes/enhanced-datapath-1.html</a:t>
            </a:r>
          </a:p>
        </p:txBody>
      </p:sp>
      <p:sp>
        <p:nvSpPr>
          <p:cNvPr id="4" name="Slide Number Placeholder 3">
            <a:extLst>
              <a:ext uri="{FF2B5EF4-FFF2-40B4-BE49-F238E27FC236}">
                <a16:creationId xmlns:a16="http://schemas.microsoft.com/office/drawing/2014/main" id="{3A68F0E4-365F-5E13-804E-8DEDD04877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290091004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3">
          <a:extLst>
            <a:ext uri="{FF2B5EF4-FFF2-40B4-BE49-F238E27FC236}">
              <a16:creationId xmlns:a16="http://schemas.microsoft.com/office/drawing/2014/main" id="{DBBB2DE8-35E0-698E-CE41-995CE0B3591B}"/>
            </a:ext>
          </a:extLst>
        </p:cNvPr>
        <p:cNvGrpSpPr/>
        <p:nvPr/>
      </p:nvGrpSpPr>
      <p:grpSpPr>
        <a:xfrm>
          <a:off x="0" y="0"/>
          <a:ext cx="0" cy="0"/>
          <a:chOff x="0" y="0"/>
          <a:chExt cx="0" cy="0"/>
        </a:xfrm>
      </p:grpSpPr>
      <p:sp>
        <p:nvSpPr>
          <p:cNvPr id="5874" name="Google Shape;5874;p70:notes">
            <a:extLst>
              <a:ext uri="{FF2B5EF4-FFF2-40B4-BE49-F238E27FC236}">
                <a16:creationId xmlns:a16="http://schemas.microsoft.com/office/drawing/2014/main" id="{79EB941D-123C-D437-8BDE-FEB28EBA1D5A}"/>
              </a:ext>
            </a:extLst>
          </p:cNvPr>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75" name="Google Shape;5875;p70:notes">
            <a:extLst>
              <a:ext uri="{FF2B5EF4-FFF2-40B4-BE49-F238E27FC236}">
                <a16:creationId xmlns:a16="http://schemas.microsoft.com/office/drawing/2014/main" id="{5B07F3D1-6086-CCD2-8476-A6F69C7983B3}"/>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Key Message:</a:t>
            </a:r>
            <a:endParaRPr b="1" dirty="0">
              <a:latin typeface="Arial" panose="020B0604020202020204" pitchFamily="34" charset="0"/>
            </a:endParaRPr>
          </a:p>
          <a:p>
            <a:pPr marL="0" lvl="0" indent="0" algn="l" rtl="0">
              <a:spcBef>
                <a:spcPts val="0"/>
              </a:spcBef>
              <a:spcAft>
                <a:spcPts val="0"/>
              </a:spcAft>
              <a:buNone/>
            </a:pPr>
            <a:endParaRPr sz="1200"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Talk Track:</a:t>
            </a:r>
            <a:endParaRPr b="1" dirty="0">
              <a:latin typeface="Arial" panose="020B0604020202020204" pitchFamily="34" charset="0"/>
            </a:endParaRPr>
          </a:p>
          <a:p>
            <a:pPr marL="0" lvl="0" indent="0" algn="l" rtl="0">
              <a:spcBef>
                <a:spcPts val="0"/>
              </a:spcBef>
              <a:spcAft>
                <a:spcPts val="0"/>
              </a:spcAft>
              <a:buNone/>
            </a:pPr>
            <a:r>
              <a:rPr lang="en-US" sz="1200" u="none" strike="noStrike" dirty="0">
                <a:solidFill>
                  <a:schemeClr val="dk1"/>
                </a:solidFill>
                <a:latin typeface="Arial" panose="020B0604020202020204" pitchFamily="34" charset="0"/>
                <a:sym typeface="Arial"/>
              </a:rPr>
              <a:t>Let's take a look at </a:t>
            </a:r>
            <a:r>
              <a:rPr lang="en-AU" sz="1200" u="none" strike="noStrike" dirty="0">
                <a:solidFill>
                  <a:schemeClr val="dk1"/>
                </a:solidFill>
                <a:latin typeface="Arial" panose="020B0604020202020204" pitchFamily="34" charset="0"/>
                <a:sym typeface="Arial"/>
              </a:rPr>
              <a:t>fleet management in VCF Operations.</a:t>
            </a:r>
          </a:p>
          <a:p>
            <a:pPr marL="0" lvl="0" indent="0" algn="l" rtl="0">
              <a:spcBef>
                <a:spcPts val="0"/>
              </a:spcBef>
              <a:spcAft>
                <a:spcPts val="0"/>
              </a:spcAft>
              <a:buNone/>
            </a:pPr>
            <a:endParaRPr lang="en-AU" sz="1200" u="none" strike="noStrike" dirty="0">
              <a:solidFill>
                <a:schemeClr val="dk1"/>
              </a:solidFill>
              <a:latin typeface="Arial" panose="020B0604020202020204" pitchFamily="34" charset="0"/>
              <a:sym typeface="Arial"/>
            </a:endParaRPr>
          </a:p>
          <a:p>
            <a:pPr marL="0" marR="0" lvl="0" indent="0" algn="l" rtl="0">
              <a:lnSpc>
                <a:spcPct val="100000"/>
              </a:lnSpc>
              <a:spcBef>
                <a:spcPts val="0"/>
              </a:spcBef>
              <a:spcAft>
                <a:spcPts val="0"/>
              </a:spcAft>
              <a:buClr>
                <a:srgbClr val="666666"/>
              </a:buClr>
              <a:buSzPts val="1800"/>
              <a:buFontTx/>
              <a:buNone/>
            </a:pPr>
            <a:r>
              <a:rPr lang="en-US" sz="1200" dirty="0">
                <a:solidFill>
                  <a:schemeClr val="dk1"/>
                </a:solidFill>
                <a:latin typeface="Arial"/>
                <a:ea typeface="Arial"/>
                <a:cs typeface="Arial"/>
                <a:sym typeface="Arial"/>
              </a:rPr>
              <a:t>Unified Operations Experience</a:t>
            </a:r>
            <a:endParaRPr lang="en-US" dirty="0"/>
          </a:p>
          <a:p>
            <a:pPr marL="0" marR="0" lvl="0" indent="0" algn="l" rtl="0">
              <a:lnSpc>
                <a:spcPct val="100000"/>
              </a:lnSpc>
              <a:spcBef>
                <a:spcPts val="600"/>
              </a:spcBef>
              <a:spcAft>
                <a:spcPts val="0"/>
              </a:spcAft>
              <a:buClr>
                <a:srgbClr val="666666"/>
              </a:buClr>
              <a:buSzPts val="1800"/>
              <a:buFontTx/>
              <a:buNone/>
            </a:pPr>
            <a:r>
              <a:rPr lang="en-US" sz="1200" dirty="0">
                <a:solidFill>
                  <a:schemeClr val="dk1"/>
                </a:solidFill>
                <a:latin typeface="Arial"/>
                <a:ea typeface="Arial"/>
                <a:cs typeface="Arial"/>
                <a:sym typeface="Arial"/>
              </a:rPr>
              <a:t>Centralized Fleet Lifecycle Management</a:t>
            </a:r>
            <a:endParaRPr lang="en-US" dirty="0"/>
          </a:p>
          <a:p>
            <a:pPr marL="0" marR="0" lvl="0" indent="0" algn="l" rtl="0">
              <a:lnSpc>
                <a:spcPct val="100000"/>
              </a:lnSpc>
              <a:spcBef>
                <a:spcPts val="600"/>
              </a:spcBef>
              <a:spcAft>
                <a:spcPts val="0"/>
              </a:spcAft>
              <a:buClr>
                <a:srgbClr val="666666"/>
              </a:buClr>
              <a:buSzPts val="1800"/>
              <a:buFontTx/>
              <a:buNone/>
            </a:pPr>
            <a:r>
              <a:rPr lang="en-US" sz="1200" dirty="0">
                <a:solidFill>
                  <a:schemeClr val="dk1"/>
                </a:solidFill>
                <a:latin typeface="Arial"/>
                <a:ea typeface="Arial"/>
                <a:cs typeface="Arial"/>
                <a:sym typeface="Arial"/>
              </a:rPr>
              <a:t>Non-disruptive Upgrades </a:t>
            </a:r>
            <a:endParaRPr lang="en-US" dirty="0"/>
          </a:p>
          <a:p>
            <a:pPr marL="0" marR="0" lvl="0" indent="0" algn="l" rtl="0">
              <a:lnSpc>
                <a:spcPct val="100000"/>
              </a:lnSpc>
              <a:spcBef>
                <a:spcPts val="600"/>
              </a:spcBef>
              <a:spcAft>
                <a:spcPts val="0"/>
              </a:spcAft>
              <a:buClr>
                <a:srgbClr val="666666"/>
              </a:buClr>
              <a:buSzPts val="1800"/>
              <a:buFontTx/>
              <a:buNone/>
            </a:pPr>
            <a:r>
              <a:rPr lang="en-US" sz="1200" dirty="0">
                <a:solidFill>
                  <a:schemeClr val="dk1"/>
                </a:solidFill>
                <a:latin typeface="Arial"/>
                <a:ea typeface="Arial"/>
                <a:cs typeface="Arial"/>
                <a:sym typeface="Arial"/>
              </a:rPr>
              <a:t>Single Sign-on for Administrator Access</a:t>
            </a:r>
            <a:endParaRPr lang="en-US" dirty="0"/>
          </a:p>
          <a:p>
            <a:pPr marL="0" marR="0" lvl="0" indent="0" algn="l" rtl="0">
              <a:lnSpc>
                <a:spcPct val="100000"/>
              </a:lnSpc>
              <a:spcBef>
                <a:spcPts val="600"/>
              </a:spcBef>
              <a:spcAft>
                <a:spcPts val="0"/>
              </a:spcAft>
              <a:buClr>
                <a:srgbClr val="666666"/>
              </a:buClr>
              <a:buSzPts val="1800"/>
              <a:buFontTx/>
              <a:buNone/>
            </a:pPr>
            <a:r>
              <a:rPr lang="en-US" sz="1200" dirty="0">
                <a:solidFill>
                  <a:schemeClr val="dk1"/>
                </a:solidFill>
                <a:latin typeface="Arial"/>
                <a:ea typeface="Arial"/>
                <a:cs typeface="Arial"/>
                <a:sym typeface="Arial"/>
              </a:rPr>
              <a:t>Centralized Certificate Management</a:t>
            </a:r>
            <a:endParaRPr lang="en-US" dirty="0"/>
          </a:p>
          <a:p>
            <a:pPr marL="0" marR="0" lvl="0" indent="0" algn="l" rtl="0">
              <a:lnSpc>
                <a:spcPct val="100000"/>
              </a:lnSpc>
              <a:spcBef>
                <a:spcPts val="600"/>
              </a:spcBef>
              <a:spcAft>
                <a:spcPts val="0"/>
              </a:spcAft>
              <a:buClr>
                <a:srgbClr val="666666"/>
              </a:buClr>
              <a:buSzPts val="1800"/>
              <a:buFontTx/>
              <a:buNone/>
            </a:pPr>
            <a:r>
              <a:rPr lang="en-US" sz="1200" dirty="0">
                <a:solidFill>
                  <a:schemeClr val="dk1"/>
                </a:solidFill>
                <a:latin typeface="Arial"/>
                <a:ea typeface="Arial"/>
                <a:cs typeface="Arial"/>
                <a:sym typeface="Arial"/>
              </a:rPr>
              <a:t>Centralized Password Management</a:t>
            </a:r>
            <a:endParaRPr lang="en-US" dirty="0"/>
          </a:p>
          <a:p>
            <a:pPr marL="0" marR="0" lvl="0" indent="0" algn="l" rtl="0">
              <a:lnSpc>
                <a:spcPct val="100000"/>
              </a:lnSpc>
              <a:spcBef>
                <a:spcPts val="600"/>
              </a:spcBef>
              <a:spcAft>
                <a:spcPts val="0"/>
              </a:spcAft>
              <a:buClr>
                <a:srgbClr val="666666"/>
              </a:buClr>
              <a:buSzPts val="1800"/>
              <a:buFontTx/>
              <a:buNone/>
            </a:pPr>
            <a:r>
              <a:rPr lang="en-US" sz="1200" dirty="0">
                <a:solidFill>
                  <a:schemeClr val="dk1"/>
                </a:solidFill>
                <a:latin typeface="Arial"/>
                <a:ea typeface="Arial"/>
                <a:cs typeface="Arial"/>
                <a:sym typeface="Arial"/>
              </a:rPr>
              <a:t>Configuration Drift Management and Assessment</a:t>
            </a:r>
            <a:endParaRPr lang="en-US" dirty="0"/>
          </a:p>
          <a:p>
            <a:pPr marL="0" marR="0" lvl="0" indent="0" algn="l" rtl="0">
              <a:lnSpc>
                <a:spcPct val="100000"/>
              </a:lnSpc>
              <a:spcBef>
                <a:spcPts val="600"/>
              </a:spcBef>
              <a:spcAft>
                <a:spcPts val="0"/>
              </a:spcAft>
              <a:buClr>
                <a:srgbClr val="666666"/>
              </a:buClr>
              <a:buSzPts val="1800"/>
              <a:buFontTx/>
              <a:buNone/>
            </a:pPr>
            <a:r>
              <a:rPr lang="en-US" sz="1200" dirty="0">
                <a:solidFill>
                  <a:schemeClr val="dk1"/>
                </a:solidFill>
                <a:latin typeface="Arial"/>
                <a:ea typeface="Arial"/>
                <a:cs typeface="Arial"/>
                <a:sym typeface="Arial"/>
              </a:rPr>
              <a:t>Unified Tag Management</a:t>
            </a:r>
            <a:endParaRPr lang="en-US" dirty="0"/>
          </a:p>
          <a:p>
            <a:pPr marL="0" marR="0" lvl="0" indent="0" algn="l" rtl="0">
              <a:lnSpc>
                <a:spcPct val="100000"/>
              </a:lnSpc>
              <a:spcBef>
                <a:spcPts val="600"/>
              </a:spcBef>
              <a:spcAft>
                <a:spcPts val="0"/>
              </a:spcAft>
              <a:buClr>
                <a:srgbClr val="666666"/>
              </a:buClr>
              <a:buSzPts val="1800"/>
              <a:buFontTx/>
              <a:buNone/>
            </a:pPr>
            <a:r>
              <a:rPr lang="en-US" sz="1200" dirty="0">
                <a:solidFill>
                  <a:schemeClr val="dk1"/>
                </a:solidFill>
                <a:latin typeface="Arial"/>
                <a:ea typeface="Arial"/>
                <a:cs typeface="Arial"/>
                <a:sym typeface="Arial"/>
              </a:rPr>
              <a:t>VCF Download Tool for Disconnected Sites</a:t>
            </a:r>
            <a:endParaRPr lang="en-US" dirty="0"/>
          </a:p>
          <a:p>
            <a:pPr marL="0" lvl="0" indent="0" algn="l" rtl="0">
              <a:spcBef>
                <a:spcPts val="0"/>
              </a:spcBef>
              <a:spcAft>
                <a:spcPts val="0"/>
              </a:spcAft>
              <a:buNone/>
            </a:pPr>
            <a:endParaRPr sz="1200"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Notes:</a:t>
            </a:r>
            <a:endParaRPr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endParaRPr sz="1200" b="0"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AU" sz="1200" b="1" u="none" strike="noStrike" dirty="0">
                <a:solidFill>
                  <a:schemeClr val="dk1"/>
                </a:solidFill>
                <a:latin typeface="Arial" panose="020B0604020202020204" pitchFamily="34" charset="0"/>
                <a:sym typeface="Arial"/>
              </a:rPr>
              <a:t>Resources:</a:t>
            </a:r>
            <a:endParaRPr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Clr>
                <a:schemeClr val="dk1"/>
              </a:buClr>
              <a:buSzPts val="1200"/>
              <a:buFont typeface="Arial"/>
              <a:buNone/>
            </a:pPr>
            <a:endParaRPr sz="1200" dirty="0">
              <a:solidFill>
                <a:schemeClr val="dk1"/>
              </a:solidFill>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p:txBody>
      </p:sp>
      <p:sp>
        <p:nvSpPr>
          <p:cNvPr id="5876" name="Google Shape;5876;p70:notes">
            <a:extLst>
              <a:ext uri="{FF2B5EF4-FFF2-40B4-BE49-F238E27FC236}">
                <a16:creationId xmlns:a16="http://schemas.microsoft.com/office/drawing/2014/main" id="{9177B6A0-0227-E875-F6CA-7302F3834A73}"/>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b="0" i="0" u="none" strike="noStrike" kern="1200" cap="none" spc="0" normalizeH="0" baseline="0" noProof="0">
                <a:ln>
                  <a:noFill/>
                </a:ln>
                <a:solidFill>
                  <a:srgbClr val="717074"/>
                </a:solidFill>
                <a:effectLst/>
                <a:uLnTx/>
                <a:uFillTx/>
                <a:latin typeface="Arial"/>
                <a:ea typeface="+mn-ea"/>
                <a:cs typeface="+mn-cs"/>
                <a:sym typeface="Arial"/>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59</a:t>
            </a:fld>
            <a:endParaRPr kumimoji="0" sz="1200" b="0" i="0" u="none" strike="noStrike" kern="1200" cap="none" spc="0" normalizeH="0" baseline="0" noProof="0" dirty="0">
              <a:ln>
                <a:noFill/>
              </a:ln>
              <a:solidFill>
                <a:srgbClr val="717074"/>
              </a:solidFill>
              <a:effectLst/>
              <a:uLnTx/>
              <a:uFillTx/>
              <a:latin typeface="Arial"/>
              <a:ea typeface="+mn-ea"/>
              <a:cs typeface="+mn-cs"/>
              <a:sym typeface="Arial"/>
            </a:endParaRPr>
          </a:p>
        </p:txBody>
      </p:sp>
    </p:spTree>
    <p:extLst>
      <p:ext uri="{BB962C8B-B14F-4D97-AF65-F5344CB8AC3E}">
        <p14:creationId xmlns:p14="http://schemas.microsoft.com/office/powerpoint/2010/main" val="321898292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0"/>
        <p:cNvGrpSpPr/>
        <p:nvPr/>
      </p:nvGrpSpPr>
      <p:grpSpPr>
        <a:xfrm>
          <a:off x="0" y="0"/>
          <a:ext cx="0" cy="0"/>
          <a:chOff x="0" y="0"/>
          <a:chExt cx="0" cy="0"/>
        </a:xfrm>
      </p:grpSpPr>
      <p:sp>
        <p:nvSpPr>
          <p:cNvPr id="2851" name="Google Shape;2851;p26:notes"/>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2" name="Google Shape;2852;p26: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fontScale="77500" lnSpcReduction="20000"/>
          </a:bodyPr>
          <a:lstStyle/>
          <a:p>
            <a:pPr marL="0" marR="0" lvl="0" indent="0" algn="l" defTabSz="914400" rtl="0" eaLnBrk="1" fontAlgn="auto" latinLnBrk="0" hangingPunct="1">
              <a:lnSpc>
                <a:spcPct val="80000"/>
              </a:lnSpc>
              <a:spcBef>
                <a:spcPts val="0"/>
              </a:spcBef>
              <a:spcAft>
                <a:spcPts val="0"/>
              </a:spcAft>
              <a:buClr>
                <a:schemeClr val="dk1"/>
              </a:buClr>
              <a:buSzPts val="800"/>
              <a:buFont typeface="Arial"/>
              <a:buNone/>
              <a:tabLst/>
              <a:defRPr/>
            </a:pPr>
            <a:r>
              <a:rPr lang="en-US" sz="1200" b="1" dirty="0">
                <a:solidFill>
                  <a:schemeClr val="dk1"/>
                </a:solidFill>
                <a:latin typeface="Arial"/>
                <a:ea typeface="Arial"/>
                <a:cs typeface="Arial"/>
                <a:sym typeface="Arial"/>
              </a:rPr>
              <a:t>Presenter Note:  </a:t>
            </a:r>
            <a:r>
              <a:rPr lang="en-US" sz="1200" b="1" dirty="0">
                <a:latin typeface="Arial"/>
                <a:ea typeface="Arial"/>
                <a:cs typeface="Arial"/>
                <a:sym typeface="Arial"/>
              </a:rPr>
              <a:t>This slide contains animation</a:t>
            </a:r>
            <a:endParaRPr lang="en-US" sz="1200" b="1" dirty="0">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800"/>
              <a:buFont typeface="Arial"/>
              <a:buNone/>
            </a:pPr>
            <a:endParaRPr lang="en-US" sz="1200" b="1" u="none" strike="noStrike" dirty="0">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Key Message:</a:t>
            </a:r>
            <a:br>
              <a:rPr lang="en-US" sz="1200" b="1" u="none" strike="noStrike" dirty="0">
                <a:solidFill>
                  <a:schemeClr val="dk1"/>
                </a:solidFill>
                <a:latin typeface="Arial"/>
                <a:ea typeface="Arial"/>
                <a:cs typeface="Arial"/>
                <a:sym typeface="Arial"/>
              </a:rPr>
            </a:br>
            <a:r>
              <a:rPr lang="en-US" sz="1200" dirty="0">
                <a:solidFill>
                  <a:schemeClr val="dk1"/>
                </a:solidFill>
              </a:rPr>
              <a:t>From VCF 9 private cloud operations and management is performed using the VCF Operations Console. </a:t>
            </a:r>
            <a:endParaRPr lang="en-US" dirty="0"/>
          </a:p>
          <a:p>
            <a:pPr marL="0" marR="0" lvl="0" indent="0" algn="l" rtl="0">
              <a:lnSpc>
                <a:spcPct val="80000"/>
              </a:lnSpc>
              <a:spcBef>
                <a:spcPts val="0"/>
              </a:spcBef>
              <a:spcAft>
                <a:spcPts val="0"/>
              </a:spcAft>
              <a:buClr>
                <a:schemeClr val="dk1"/>
              </a:buClr>
              <a:buSzPts val="800"/>
              <a:buFont typeface="Arial"/>
              <a:buNone/>
            </a:pPr>
            <a:r>
              <a:rPr lang="en-US" sz="1200" dirty="0">
                <a:solidFill>
                  <a:schemeClr val="dk1"/>
                </a:solidFill>
              </a:rPr>
              <a:t>VCF Operations provides Administrators with a unified and feature rich operations experience for fleet management which spans identity and access management, certificate management, password management, tag management, configuration drift and lifecycle management.</a:t>
            </a:r>
            <a:endParaRPr lang="en-US" dirty="0"/>
          </a:p>
          <a:p>
            <a:pPr marL="0" marR="0" lvl="0" indent="0" algn="l" rtl="0">
              <a:lnSpc>
                <a:spcPct val="80000"/>
              </a:lnSpc>
              <a:spcBef>
                <a:spcPts val="0"/>
              </a:spcBef>
              <a:spcAft>
                <a:spcPts val="0"/>
              </a:spcAft>
              <a:buClr>
                <a:schemeClr val="dk1"/>
              </a:buClr>
              <a:buSzPts val="800"/>
              <a:buFont typeface="Arial"/>
              <a:buNone/>
            </a:pPr>
            <a:endParaRPr lang="en-US" sz="1200" b="1"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Talk Track:</a:t>
            </a:r>
            <a:endParaRPr lang="en-US" sz="1200" u="none" strike="noStrike" dirty="0">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800"/>
              <a:buFont typeface="Arial"/>
              <a:buNone/>
            </a:pPr>
            <a:r>
              <a:rPr lang="en-US" sz="1200" dirty="0">
                <a:latin typeface="Arial"/>
                <a:ea typeface="Arial"/>
                <a:cs typeface="Arial"/>
                <a:sym typeface="Arial"/>
              </a:rPr>
              <a:t>VMware Cloud Foundation provides IT Teams with everything they need to build, deploy and operate a vSphere-based on-premises private cloud infrastructure.</a:t>
            </a:r>
            <a:br>
              <a:rPr lang="en-US" sz="1200" dirty="0">
                <a:latin typeface="Arial"/>
                <a:ea typeface="Arial"/>
                <a:cs typeface="Arial"/>
                <a:sym typeface="Arial"/>
              </a:rPr>
            </a:br>
            <a:br>
              <a:rPr lang="en-US" sz="1200" dirty="0">
                <a:latin typeface="Arial"/>
                <a:ea typeface="Arial"/>
                <a:cs typeface="Arial"/>
                <a:sym typeface="Arial"/>
              </a:rPr>
            </a:br>
            <a:r>
              <a:rPr lang="en-US" sz="1200" dirty="0">
                <a:latin typeface="Arial"/>
                <a:ea typeface="Arial"/>
                <a:cs typeface="Arial"/>
                <a:sym typeface="Arial"/>
              </a:rPr>
              <a:t>&lt;click 1&gt;</a:t>
            </a:r>
            <a:br>
              <a:rPr lang="en-US" sz="1200" b="1" u="none" strike="noStrike" dirty="0">
                <a:solidFill>
                  <a:schemeClr val="dk1"/>
                </a:solidFill>
                <a:latin typeface="Arial"/>
                <a:ea typeface="Arial"/>
                <a:cs typeface="Arial"/>
                <a:sym typeface="Arial"/>
              </a:rPr>
            </a:br>
            <a:r>
              <a:rPr lang="en-US" sz="1200" b="0" u="none" strike="noStrike" dirty="0">
                <a:solidFill>
                  <a:schemeClr val="dk1"/>
                </a:solidFill>
                <a:latin typeface="Arial"/>
                <a:ea typeface="Arial"/>
                <a:cs typeface="Arial"/>
                <a:sym typeface="Arial"/>
              </a:rPr>
              <a:t>VCF Operations</a:t>
            </a:r>
            <a:r>
              <a:rPr lang="en-US" sz="1200" b="0" dirty="0">
                <a:solidFill>
                  <a:schemeClr val="dk1"/>
                </a:solidFill>
              </a:rPr>
              <a:t> provides a</a:t>
            </a:r>
            <a:r>
              <a:rPr lang="en-US" sz="1200" dirty="0">
                <a:solidFill>
                  <a:schemeClr val="dk1"/>
                </a:solidFill>
              </a:rPr>
              <a:t>dmins with a unified and feature rich operations experience which expands upon the familiar capacity management and performance monitoring capabilities included in prior versions of Aria Operations. VCF Health and diagnostics has also been adapted from Skyline and is has now also been integrated.</a:t>
            </a:r>
          </a:p>
          <a:p>
            <a:pPr marL="0" marR="0" lvl="0" indent="0" algn="l" rtl="0">
              <a:lnSpc>
                <a:spcPct val="80000"/>
              </a:lnSpc>
              <a:spcBef>
                <a:spcPts val="0"/>
              </a:spcBef>
              <a:spcAft>
                <a:spcPts val="0"/>
              </a:spcAft>
              <a:buClr>
                <a:schemeClr val="dk1"/>
              </a:buClr>
              <a:buSzPts val="800"/>
              <a:buFont typeface="Arial"/>
              <a:buNone/>
            </a:pPr>
            <a:endParaRPr lang="en-US" sz="1200" dirty="0">
              <a:solidFill>
                <a:schemeClr val="dk1"/>
              </a:solidFill>
            </a:endParaRPr>
          </a:p>
          <a:p>
            <a:pPr marL="0" marR="0" lvl="0" indent="0" algn="l" rtl="0">
              <a:lnSpc>
                <a:spcPct val="80000"/>
              </a:lnSpc>
              <a:spcBef>
                <a:spcPts val="0"/>
              </a:spcBef>
              <a:spcAft>
                <a:spcPts val="0"/>
              </a:spcAft>
              <a:buClr>
                <a:schemeClr val="dk1"/>
              </a:buClr>
              <a:buSzPts val="800"/>
              <a:buFont typeface="Arial"/>
              <a:buNone/>
            </a:pPr>
            <a:r>
              <a:rPr lang="en-US" sz="1200" dirty="0">
                <a:solidFill>
                  <a:schemeClr val="dk1"/>
                </a:solidFill>
              </a:rPr>
              <a:t>&lt;click 2&gt;</a:t>
            </a:r>
            <a:endParaRPr lang="en-US" sz="1200" dirty="0"/>
          </a:p>
          <a:p>
            <a:pPr marL="0" marR="0" lvl="0" indent="0" algn="l" rtl="0">
              <a:lnSpc>
                <a:spcPct val="80000"/>
              </a:lnSpc>
              <a:spcBef>
                <a:spcPts val="0"/>
              </a:spcBef>
              <a:spcAft>
                <a:spcPts val="0"/>
              </a:spcAft>
              <a:buClr>
                <a:schemeClr val="dk1"/>
              </a:buClr>
              <a:buSzPts val="800"/>
              <a:buFont typeface="Arial"/>
              <a:buNone/>
            </a:pPr>
            <a:r>
              <a:rPr lang="en-US" sz="1200" dirty="0">
                <a:solidFill>
                  <a:schemeClr val="dk1"/>
                </a:solidFill>
              </a:rPr>
              <a:t>From VCF 9, private cloud operations and management traditionally serviced from SDDC Manager is now also performed using the VCF Operations Console as part of Fleet Management. </a:t>
            </a:r>
          </a:p>
          <a:p>
            <a:pPr marL="0" marR="0" lvl="0" indent="0" algn="l" rtl="0">
              <a:lnSpc>
                <a:spcPct val="80000"/>
              </a:lnSpc>
              <a:spcBef>
                <a:spcPts val="0"/>
              </a:spcBef>
              <a:spcAft>
                <a:spcPts val="0"/>
              </a:spcAft>
              <a:buClr>
                <a:schemeClr val="dk1"/>
              </a:buClr>
              <a:buSzPts val="800"/>
              <a:buFont typeface="Arial"/>
              <a:buNone/>
            </a:pPr>
            <a:r>
              <a:rPr lang="en-US" sz="1200" dirty="0">
                <a:solidFill>
                  <a:schemeClr val="dk1"/>
                </a:solidFill>
              </a:rPr>
              <a:t>Noting that Host and cluster infrastructure-level configuration is now managed from the vSphere client.</a:t>
            </a:r>
          </a:p>
          <a:p>
            <a:pPr marL="0" marR="0" lvl="0" indent="0" algn="l" rtl="0">
              <a:lnSpc>
                <a:spcPct val="80000"/>
              </a:lnSpc>
              <a:spcBef>
                <a:spcPts val="0"/>
              </a:spcBef>
              <a:spcAft>
                <a:spcPts val="0"/>
              </a:spcAft>
              <a:buClr>
                <a:schemeClr val="dk1"/>
              </a:buClr>
              <a:buSzPts val="800"/>
              <a:buFont typeface="Arial"/>
              <a:buNone/>
            </a:pPr>
            <a:endParaRPr lang="en-US" sz="1200" dirty="0">
              <a:solidFill>
                <a:schemeClr val="dk1"/>
              </a:solidFill>
            </a:endParaRPr>
          </a:p>
          <a:p>
            <a:pPr marL="0" lvl="0" indent="0" algn="l" rtl="0">
              <a:lnSpc>
                <a:spcPct val="80000"/>
              </a:lnSpc>
              <a:spcBef>
                <a:spcPts val="0"/>
              </a:spcBef>
              <a:spcAft>
                <a:spcPts val="0"/>
              </a:spcAft>
              <a:buClr>
                <a:schemeClr val="dk1"/>
              </a:buClr>
              <a:buSzPts val="800"/>
              <a:buFont typeface="Arial"/>
              <a:buNone/>
            </a:pPr>
            <a:r>
              <a:rPr lang="en-US" sz="1200" dirty="0">
                <a:solidFill>
                  <a:schemeClr val="dk1"/>
                </a:solidFill>
              </a:rPr>
              <a:t>VCF Operations Fleet management provides Admins with a unified and feature rich operations experience.  This single console spans workload domain deployment, the ability to perform an import of an existing vCenter environment into VCF, identity and access management, certificate management, password management, tag management, configuration management &amp; drift assessment, licensing and lifecycle management </a:t>
            </a:r>
            <a:r>
              <a:rPr lang="en-US" sz="1200" strike="noStrike" dirty="0">
                <a:solidFill>
                  <a:schemeClr val="dk1"/>
                </a:solidFill>
              </a:rPr>
              <a:t>of the full VCF stack.</a:t>
            </a:r>
          </a:p>
          <a:p>
            <a:pPr marL="0" lvl="0" indent="0" algn="l" rtl="0">
              <a:lnSpc>
                <a:spcPct val="80000"/>
              </a:lnSpc>
              <a:spcBef>
                <a:spcPts val="0"/>
              </a:spcBef>
              <a:spcAft>
                <a:spcPts val="0"/>
              </a:spcAft>
              <a:buClr>
                <a:schemeClr val="dk1"/>
              </a:buClr>
              <a:buSzPts val="800"/>
              <a:buFont typeface="Arial"/>
              <a:buNone/>
            </a:pPr>
            <a:endParaRPr lang="en-US" sz="1200" strike="noStrike" dirty="0">
              <a:solidFill>
                <a:schemeClr val="dk1"/>
              </a:solidFill>
            </a:endParaRPr>
          </a:p>
          <a:p>
            <a:pPr marL="0" lvl="0" indent="0" algn="l" rtl="0">
              <a:lnSpc>
                <a:spcPct val="80000"/>
              </a:lnSpc>
              <a:spcBef>
                <a:spcPts val="0"/>
              </a:spcBef>
              <a:spcAft>
                <a:spcPts val="0"/>
              </a:spcAft>
              <a:buClr>
                <a:schemeClr val="dk1"/>
              </a:buClr>
              <a:buSzPts val="800"/>
              <a:buFont typeface="Arial"/>
              <a:buNone/>
            </a:pPr>
            <a:r>
              <a:rPr lang="en-US" sz="1200" strike="noStrike" dirty="0">
                <a:solidFill>
                  <a:schemeClr val="dk1"/>
                </a:solidFill>
              </a:rPr>
              <a:t>&lt;click 3&gt;</a:t>
            </a:r>
          </a:p>
          <a:p>
            <a:pPr marL="0" marR="0" lvl="0" indent="0" algn="l" defTabSz="914400" rtl="0" eaLnBrk="1" fontAlgn="auto" latinLnBrk="0" hangingPunct="1">
              <a:lnSpc>
                <a:spcPct val="80000"/>
              </a:lnSpc>
              <a:spcBef>
                <a:spcPts val="0"/>
              </a:spcBef>
              <a:spcAft>
                <a:spcPts val="0"/>
              </a:spcAft>
              <a:buClr>
                <a:schemeClr val="dk1"/>
              </a:buClr>
              <a:buSzPts val="800"/>
              <a:buFont typeface="Arial"/>
              <a:buNone/>
              <a:tabLst/>
              <a:defRPr/>
            </a:pPr>
            <a:r>
              <a:rPr lang="en-US" sz="1200" strike="noStrike" dirty="0">
                <a:solidFill>
                  <a:schemeClr val="dk1"/>
                </a:solidFill>
              </a:rPr>
              <a:t>Keeping in mind what we discussed earlier - </a:t>
            </a:r>
            <a:r>
              <a:rPr lang="en-US" sz="2400" b="0" strike="noStrike" dirty="0">
                <a:solidFill>
                  <a:schemeClr val="accent2"/>
                </a:solidFill>
              </a:rPr>
              <a:t>that a</a:t>
            </a:r>
            <a:r>
              <a:rPr lang="en-US" sz="2400" b="0" dirty="0">
                <a:solidFill>
                  <a:schemeClr val="accent2"/>
                </a:solidFill>
              </a:rPr>
              <a:t> VCF Fleet can consist of multiple VCF deployments which can leverage common VCF Operations and VCF Automations instances.</a:t>
            </a:r>
            <a:endParaRPr lang="en-US" sz="2400" b="0"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endParaRPr lang="en-US" sz="1200" strike="noStrike" dirty="0">
              <a:solidFill>
                <a:schemeClr val="dk1"/>
              </a:solidFill>
            </a:endParaRPr>
          </a:p>
          <a:p>
            <a:pPr marL="0" lvl="0" indent="0" algn="l" rtl="0">
              <a:lnSpc>
                <a:spcPct val="80000"/>
              </a:lnSpc>
              <a:spcBef>
                <a:spcPts val="0"/>
              </a:spcBef>
              <a:spcAft>
                <a:spcPts val="0"/>
              </a:spcAft>
              <a:buClr>
                <a:schemeClr val="dk1"/>
              </a:buClr>
              <a:buSzPts val="800"/>
              <a:buFont typeface="Arial"/>
              <a:buNone/>
            </a:pPr>
            <a:r>
              <a:rPr lang="en-US" sz="1200" strike="noStrike" dirty="0">
                <a:solidFill>
                  <a:schemeClr val="dk1"/>
                </a:solidFill>
              </a:rPr>
              <a:t>&lt;click 4&gt;</a:t>
            </a:r>
            <a:br>
              <a:rPr lang="en-US" sz="1200" strike="noStrike" dirty="0">
                <a:solidFill>
                  <a:schemeClr val="dk1"/>
                </a:solidFill>
              </a:rPr>
            </a:br>
            <a:r>
              <a:rPr lang="en-US" sz="1200" strike="noStrike" dirty="0">
                <a:solidFill>
                  <a:schemeClr val="dk1"/>
                </a:solidFill>
              </a:rPr>
              <a:t>Let’s take a closer look at the components of VCF Fleet Management</a:t>
            </a:r>
            <a:endParaRPr lang="en-US" sz="1200" dirty="0"/>
          </a:p>
          <a:p>
            <a:pPr marL="0" lvl="0" indent="0" algn="l" rtl="0">
              <a:lnSpc>
                <a:spcPct val="80000"/>
              </a:lnSpc>
              <a:spcBef>
                <a:spcPts val="0"/>
              </a:spcBef>
              <a:spcAft>
                <a:spcPts val="0"/>
              </a:spcAft>
              <a:buClr>
                <a:schemeClr val="dk1"/>
              </a:buClr>
              <a:buSzPts val="800"/>
              <a:buFont typeface="Arial"/>
              <a:buNone/>
            </a:pPr>
            <a:endParaRPr lang="en-US" sz="1200" b="1"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Notes:</a:t>
            </a:r>
          </a:p>
          <a:p>
            <a:pPr marL="171450" marR="0" lvl="0" indent="-171450" algn="l" rtl="0">
              <a:lnSpc>
                <a:spcPct val="60000"/>
              </a:lnSpc>
              <a:spcBef>
                <a:spcPts val="0"/>
              </a:spcBef>
              <a:spcAft>
                <a:spcPts val="0"/>
              </a:spcAft>
              <a:buClr>
                <a:schemeClr val="dk1"/>
              </a:buClr>
              <a:buSzPts val="930"/>
              <a:buFont typeface="Arial"/>
              <a:buChar char="-"/>
            </a:pPr>
            <a:r>
              <a:rPr lang="en-US" sz="2400" b="0" u="none" strike="noStrike" dirty="0">
                <a:solidFill>
                  <a:schemeClr val="dk1"/>
                </a:solidFill>
                <a:latin typeface="Arial"/>
                <a:ea typeface="Arial"/>
                <a:cs typeface="Arial"/>
                <a:sym typeface="Arial"/>
              </a:rPr>
              <a:t>From VCF 9 VCF Operations is used to manage one or more VCF instances.  </a:t>
            </a:r>
          </a:p>
          <a:p>
            <a:pPr marL="171450" marR="0" lvl="0" indent="-171450" algn="l" rtl="0">
              <a:lnSpc>
                <a:spcPct val="60000"/>
              </a:lnSpc>
              <a:spcBef>
                <a:spcPts val="0"/>
              </a:spcBef>
              <a:spcAft>
                <a:spcPts val="0"/>
              </a:spcAft>
              <a:buClr>
                <a:schemeClr val="dk1"/>
              </a:buClr>
              <a:buSzPts val="930"/>
              <a:buFont typeface="Arial"/>
              <a:buChar char="-"/>
            </a:pPr>
            <a:r>
              <a:rPr lang="en-US" sz="2400" b="0" dirty="0">
                <a:solidFill>
                  <a:schemeClr val="accent2"/>
                </a:solidFill>
              </a:rPr>
              <a:t>A VCF Fleet may consist of multiple VCF deployments which can leverage common VCF Operations and VCF Automations instances.</a:t>
            </a:r>
            <a:endParaRPr lang="en-US" sz="2400" b="0" u="none" strike="noStrike" dirty="0">
              <a:solidFill>
                <a:schemeClr val="dk1"/>
              </a:solidFill>
              <a:latin typeface="Arial"/>
              <a:ea typeface="Arial"/>
              <a:cs typeface="Arial"/>
              <a:sym typeface="Arial"/>
            </a:endParaRPr>
          </a:p>
          <a:p>
            <a:pPr marL="171450" marR="0" lvl="0" indent="-171450" algn="l" rtl="0">
              <a:lnSpc>
                <a:spcPct val="60000"/>
              </a:lnSpc>
              <a:spcBef>
                <a:spcPts val="0"/>
              </a:spcBef>
              <a:spcAft>
                <a:spcPts val="0"/>
              </a:spcAft>
              <a:buClr>
                <a:schemeClr val="dk1"/>
              </a:buClr>
              <a:buSzPts val="930"/>
              <a:buFont typeface="Arial"/>
              <a:buChar char="-"/>
            </a:pPr>
            <a:r>
              <a:rPr lang="en-US" sz="2400" b="0" dirty="0">
                <a:latin typeface="Arial"/>
                <a:ea typeface="Arial"/>
                <a:cs typeface="Arial"/>
                <a:sym typeface="Arial"/>
              </a:rPr>
              <a:t>SDDC Manager 9 is installed or upgraded as a component of any VCF 9 instance. SDDC Manager will be deprecated in a future release.</a:t>
            </a:r>
            <a:endParaRPr lang="en-US" sz="2400" b="0"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endParaRPr lang="en-US" sz="1200" dirty="0">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Resources:</a:t>
            </a:r>
            <a:endParaRPr lang="en-US" dirty="0"/>
          </a:p>
          <a:p>
            <a:pPr marL="0" marR="0" lvl="0" indent="0" algn="l" rtl="0">
              <a:lnSpc>
                <a:spcPct val="80000"/>
              </a:lnSpc>
              <a:spcBef>
                <a:spcPts val="0"/>
              </a:spcBef>
              <a:spcAft>
                <a:spcPts val="0"/>
              </a:spcAft>
              <a:buClr>
                <a:schemeClr val="dk1"/>
              </a:buClr>
              <a:buSzPts val="570"/>
              <a:buFont typeface="Arial"/>
              <a:buNone/>
            </a:pPr>
            <a:endParaRPr lang="en-US" sz="1200" dirty="0">
              <a:latin typeface="Arial"/>
              <a:ea typeface="Arial"/>
              <a:cs typeface="Arial"/>
              <a:sym typeface="Arial"/>
            </a:endParaRPr>
          </a:p>
          <a:p>
            <a:pPr marL="0" lvl="0" indent="0" algn="l" rtl="0">
              <a:spcBef>
                <a:spcPts val="0"/>
              </a:spcBef>
              <a:spcAft>
                <a:spcPts val="0"/>
              </a:spcAft>
              <a:buNone/>
            </a:pPr>
            <a:endParaRPr lang="en-US" dirty="0"/>
          </a:p>
          <a:p>
            <a:pPr marL="0" lvl="0" indent="0" algn="l" rtl="0">
              <a:spcBef>
                <a:spcPts val="0"/>
              </a:spcBef>
              <a:spcAft>
                <a:spcPts val="0"/>
              </a:spcAft>
              <a:buClr>
                <a:schemeClr val="dk1"/>
              </a:buClr>
              <a:buSzPts val="1200"/>
              <a:buFont typeface="Arial"/>
              <a:buNone/>
            </a:pPr>
            <a:endParaRPr dirty="0"/>
          </a:p>
        </p:txBody>
      </p:sp>
      <p:sp>
        <p:nvSpPr>
          <p:cNvPr id="2853" name="Google Shape;2853;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b="0" i="0" u="none" strike="noStrike" kern="1200" cap="none" spc="0" normalizeH="0" baseline="0" noProof="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60</a:t>
            </a:fld>
            <a:endParaRPr kumimoji="0" sz="1200" b="0" i="0" u="none" strike="noStrike" kern="1200" cap="none" spc="0" normalizeH="0" baseline="0" noProof="0">
              <a:ln>
                <a:noFill/>
              </a:ln>
              <a:solidFill>
                <a:srgbClr val="717074"/>
              </a:solidFill>
              <a:effectLst/>
              <a:uLnTx/>
              <a:uFillTx/>
              <a:latin typeface="Arial"/>
              <a:ea typeface="Arial"/>
              <a:cs typeface="Arial"/>
              <a:sym typeface="Aria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FCF53-0212-971A-65DD-856279C6C8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2A11A-9E96-979A-838F-DCACF313A7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401D1E-F27A-3F3E-BF0A-95225C2366FA}"/>
              </a:ext>
            </a:extLst>
          </p:cNvPr>
          <p:cNvSpPr>
            <a:spLocks noGrp="1"/>
          </p:cNvSpPr>
          <p:nvPr>
            <p:ph type="body" idx="1"/>
          </p:nvPr>
        </p:nvSpPr>
        <p:spPr/>
        <p:txBody>
          <a:bodyPr/>
          <a:lstStyle/>
          <a:p>
            <a:pPr marL="0" marR="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Key Message:</a:t>
            </a:r>
          </a:p>
          <a:p>
            <a:pPr marL="0" marR="0" lvl="0" indent="0" algn="l" rtl="0">
              <a:lnSpc>
                <a:spcPct val="80000"/>
              </a:lnSpc>
              <a:spcBef>
                <a:spcPts val="0"/>
              </a:spcBef>
              <a:spcAft>
                <a:spcPts val="0"/>
              </a:spcAft>
              <a:buClr>
                <a:schemeClr val="dk1"/>
              </a:buClr>
              <a:buSzPts val="800"/>
              <a:buFont typeface="Arial"/>
              <a:buNone/>
            </a:pPr>
            <a:r>
              <a:rPr lang="en-US" sz="1200" b="0" u="none" strike="noStrike" dirty="0">
                <a:solidFill>
                  <a:schemeClr val="dk1"/>
                </a:solidFill>
                <a:latin typeface="Arial"/>
                <a:ea typeface="Arial"/>
                <a:cs typeface="Arial"/>
                <a:sym typeface="Arial"/>
              </a:rPr>
              <a:t>VCF 9 adds an entire new section to the VCF Operations interface to consolidate fleet management activities</a:t>
            </a:r>
            <a:br>
              <a:rPr lang="en-US" sz="1200" b="1" u="none" strike="noStrike" dirty="0">
                <a:solidFill>
                  <a:schemeClr val="dk1"/>
                </a:solidFill>
                <a:latin typeface="Arial"/>
                <a:ea typeface="Arial"/>
                <a:cs typeface="Arial"/>
                <a:sym typeface="Arial"/>
              </a:rPr>
            </a:br>
            <a:endParaRPr lang="en-US" sz="1200" b="1"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Talk Track:</a:t>
            </a:r>
            <a:endParaRPr lang="en-US" dirty="0"/>
          </a:p>
          <a:p>
            <a:pPr marL="0" lvl="0" indent="0" algn="l" rtl="0">
              <a:lnSpc>
                <a:spcPct val="80000"/>
              </a:lnSpc>
              <a:spcBef>
                <a:spcPts val="0"/>
              </a:spcBef>
              <a:spcAft>
                <a:spcPts val="0"/>
              </a:spcAft>
              <a:buClr>
                <a:schemeClr val="dk1"/>
              </a:buClr>
              <a:buSzPts val="800"/>
              <a:buFont typeface="Arial"/>
              <a:buNone/>
            </a:pPr>
            <a:r>
              <a:rPr lang="en-US" sz="1200" u="none" strike="noStrike" dirty="0">
                <a:solidFill>
                  <a:schemeClr val="dk1"/>
                </a:solidFill>
                <a:latin typeface="Arial"/>
                <a:ea typeface="Arial"/>
                <a:cs typeface="Arial"/>
                <a:sym typeface="Arial"/>
              </a:rPr>
              <a:t>Now that VCF Operations is the primary administrative console that administrators use to manage the underlying VCF infrastructure and management components, a new section called “Fleet Management” conveniently groups related activities for quick access.</a:t>
            </a:r>
          </a:p>
          <a:p>
            <a:pPr marL="0" lvl="0" indent="0" algn="l" rtl="0">
              <a:lnSpc>
                <a:spcPct val="80000"/>
              </a:lnSpc>
              <a:spcBef>
                <a:spcPts val="0"/>
              </a:spcBef>
              <a:spcAft>
                <a:spcPts val="0"/>
              </a:spcAft>
              <a:buClr>
                <a:schemeClr val="dk1"/>
              </a:buClr>
              <a:buSzPts val="800"/>
              <a:buFont typeface="Arial"/>
              <a:buNone/>
            </a:pPr>
            <a:endParaRPr lang="en-US" sz="1200"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r>
              <a:rPr lang="en-US" sz="1200" u="none" strike="noStrike" dirty="0">
                <a:solidFill>
                  <a:schemeClr val="dk1"/>
                </a:solidFill>
                <a:latin typeface="Arial"/>
                <a:ea typeface="Arial"/>
                <a:cs typeface="Arial"/>
                <a:sym typeface="Arial"/>
              </a:rPr>
              <a:t>In this section, administrators will find important configuration interfaces for essential tasks such as:</a:t>
            </a:r>
          </a:p>
          <a:p>
            <a:pPr marL="171450" lvl="0" indent="-171450" algn="l" rtl="0">
              <a:lnSpc>
                <a:spcPct val="80000"/>
              </a:lnSpc>
              <a:spcBef>
                <a:spcPts val="0"/>
              </a:spcBef>
              <a:spcAft>
                <a:spcPts val="0"/>
              </a:spcAft>
              <a:buClr>
                <a:schemeClr val="dk1"/>
              </a:buClr>
              <a:buSzPts val="800"/>
              <a:buFont typeface="Arial" panose="020B0604020202020204" pitchFamily="34" charset="0"/>
              <a:buChar char="•"/>
            </a:pPr>
            <a:r>
              <a:rPr lang="en-US" sz="1200" u="none" strike="noStrike" dirty="0">
                <a:solidFill>
                  <a:schemeClr val="dk1"/>
                </a:solidFill>
                <a:latin typeface="Arial"/>
                <a:ea typeface="Arial"/>
                <a:cs typeface="Arial"/>
                <a:sym typeface="Arial"/>
              </a:rPr>
              <a:t>Setting up VCF Single Sign-On for seamless access to other admin UIs, such as NSX Manager and VCF Automation</a:t>
            </a:r>
          </a:p>
          <a:p>
            <a:pPr marL="171450" lvl="0" indent="-171450" algn="l" rtl="0">
              <a:lnSpc>
                <a:spcPct val="80000"/>
              </a:lnSpc>
              <a:spcBef>
                <a:spcPts val="0"/>
              </a:spcBef>
              <a:spcAft>
                <a:spcPts val="0"/>
              </a:spcAft>
              <a:buClr>
                <a:schemeClr val="dk1"/>
              </a:buClr>
              <a:buSzPts val="800"/>
              <a:buFont typeface="Arial" panose="020B0604020202020204" pitchFamily="34" charset="0"/>
              <a:buChar char="•"/>
            </a:pPr>
            <a:r>
              <a:rPr lang="en-US" sz="1200" u="none" strike="noStrike" dirty="0">
                <a:solidFill>
                  <a:schemeClr val="dk1"/>
                </a:solidFill>
                <a:latin typeface="Arial"/>
                <a:ea typeface="Arial"/>
                <a:cs typeface="Arial"/>
                <a:sym typeface="Arial"/>
              </a:rPr>
              <a:t>Viewing and updating security certificates for the various appliances and ESX hosts in the environment</a:t>
            </a:r>
          </a:p>
          <a:p>
            <a:pPr marL="171450" lvl="0" indent="-171450" algn="l" rtl="0">
              <a:lnSpc>
                <a:spcPct val="80000"/>
              </a:lnSpc>
              <a:spcBef>
                <a:spcPts val="0"/>
              </a:spcBef>
              <a:spcAft>
                <a:spcPts val="0"/>
              </a:spcAft>
              <a:buClr>
                <a:schemeClr val="dk1"/>
              </a:buClr>
              <a:buSzPts val="800"/>
              <a:buFont typeface="Arial" panose="020B0604020202020204" pitchFamily="34" charset="0"/>
              <a:buChar char="•"/>
            </a:pPr>
            <a:r>
              <a:rPr lang="en-US" sz="1200" u="none" strike="noStrike" dirty="0">
                <a:solidFill>
                  <a:schemeClr val="dk1"/>
                </a:solidFill>
                <a:latin typeface="Arial"/>
                <a:ea typeface="Arial"/>
                <a:cs typeface="Arial"/>
                <a:sym typeface="Arial"/>
              </a:rPr>
              <a:t>Patching and upgrading VCF components, including managing the source for software binary downloads</a:t>
            </a:r>
          </a:p>
          <a:p>
            <a:pPr marL="171450" lvl="0" indent="-171450" algn="l" rtl="0">
              <a:lnSpc>
                <a:spcPct val="80000"/>
              </a:lnSpc>
              <a:spcBef>
                <a:spcPts val="0"/>
              </a:spcBef>
              <a:spcAft>
                <a:spcPts val="0"/>
              </a:spcAft>
              <a:buClr>
                <a:schemeClr val="dk1"/>
              </a:buClr>
              <a:buSzPts val="800"/>
              <a:buFont typeface="Arial" panose="020B0604020202020204" pitchFamily="34" charset="0"/>
              <a:buChar char="•"/>
            </a:pPr>
            <a:r>
              <a:rPr lang="en-US" sz="1200" u="none" strike="noStrike" dirty="0">
                <a:solidFill>
                  <a:schemeClr val="dk1"/>
                </a:solidFill>
                <a:latin typeface="Arial"/>
                <a:ea typeface="Arial"/>
                <a:cs typeface="Arial"/>
                <a:sym typeface="Arial"/>
              </a:rPr>
              <a:t>Managing administrative passwords, vCenter configuration drift, and tags</a:t>
            </a:r>
          </a:p>
          <a:p>
            <a:pPr marL="0" lvl="0" indent="0" algn="l" rtl="0">
              <a:lnSpc>
                <a:spcPct val="80000"/>
              </a:lnSpc>
              <a:spcBef>
                <a:spcPts val="0"/>
              </a:spcBef>
              <a:spcAft>
                <a:spcPts val="0"/>
              </a:spcAft>
              <a:buClr>
                <a:schemeClr val="dk1"/>
              </a:buClr>
              <a:buSzPts val="800"/>
              <a:buFont typeface="Arial"/>
              <a:buNone/>
            </a:pPr>
            <a:endParaRPr lang="en-US" sz="1200"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Notes:</a:t>
            </a:r>
          </a:p>
          <a:p>
            <a:pPr marL="171450" marR="0" lvl="0" indent="-171450" algn="l" rtl="0">
              <a:lnSpc>
                <a:spcPct val="60000"/>
              </a:lnSpc>
              <a:spcBef>
                <a:spcPts val="0"/>
              </a:spcBef>
              <a:spcAft>
                <a:spcPts val="0"/>
              </a:spcAft>
              <a:buClr>
                <a:schemeClr val="dk1"/>
              </a:buClr>
              <a:buSzPts val="930"/>
              <a:buFont typeface="Arial"/>
              <a:buChar char="-"/>
            </a:pPr>
            <a:r>
              <a:rPr lang="en-US" sz="2400" b="0" u="none" strike="noStrike" dirty="0">
                <a:solidFill>
                  <a:schemeClr val="dk1"/>
                </a:solidFill>
                <a:latin typeface="Arial"/>
                <a:ea typeface="Arial"/>
                <a:cs typeface="Arial"/>
                <a:sym typeface="Arial"/>
              </a:rPr>
              <a:t>This is just an intro slide to the concept of the new Fleet Management section</a:t>
            </a:r>
          </a:p>
          <a:p>
            <a:pPr marL="0" lvl="0" indent="0" algn="l" rtl="0">
              <a:lnSpc>
                <a:spcPct val="80000"/>
              </a:lnSpc>
              <a:spcBef>
                <a:spcPts val="0"/>
              </a:spcBef>
              <a:spcAft>
                <a:spcPts val="0"/>
              </a:spcAft>
              <a:buClr>
                <a:schemeClr val="dk1"/>
              </a:buClr>
              <a:buSzPts val="800"/>
              <a:buFont typeface="Arial"/>
              <a:buNone/>
            </a:pPr>
            <a:endParaRPr lang="en-US" sz="1200" dirty="0">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Resources: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Arial" panose="020B0604020202020204" pitchFamily="34" charset="0"/>
                <a:ea typeface="+mn-ea"/>
                <a:cs typeface="+mn-cs"/>
              </a:rPr>
              <a:t>Refer to the VMware Cloud Foundation Operations Guide for further information</a:t>
            </a:r>
            <a:br>
              <a:rPr lang="en-US" sz="1200" b="0" u="none" strike="noStrike" kern="1200" dirty="0">
                <a:solidFill>
                  <a:schemeClr val="tx1"/>
                </a:solidFill>
                <a:effectLst/>
                <a:latin typeface="Arial" panose="020B0604020202020204" pitchFamily="34" charset="0"/>
                <a:ea typeface="+mn-ea"/>
                <a:cs typeface="+mn-cs"/>
              </a:rPr>
            </a:br>
            <a:r>
              <a:rPr lang="en-AU" sz="1200" dirty="0">
                <a:effectLst/>
                <a:latin typeface="Helvetica Neue" panose="02000503000000020004" pitchFamily="2" charset="0"/>
                <a:hlinkClick r:id="rId3"/>
              </a:rPr>
              <a:t>https://techdocs.broadcom.com/us/en/vmware-cis/vcf.html</a:t>
            </a:r>
            <a:r>
              <a:rPr lang="en-AU" sz="1200" dirty="0">
                <a:effectLst/>
                <a:latin typeface="Helvetica Neue" panose="02000503000000020004" pitchFamily="2" charset="0"/>
              </a:rPr>
              <a:t> </a:t>
            </a:r>
          </a:p>
          <a:p>
            <a:endParaRPr lang="en-US" dirty="0"/>
          </a:p>
        </p:txBody>
      </p:sp>
      <p:sp>
        <p:nvSpPr>
          <p:cNvPr id="4" name="Slide Number Placeholder 3">
            <a:extLst>
              <a:ext uri="{FF2B5EF4-FFF2-40B4-BE49-F238E27FC236}">
                <a16:creationId xmlns:a16="http://schemas.microsoft.com/office/drawing/2014/main" id="{C96B1367-1A55-840F-EF89-B62B676CC4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77309169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F6FD4-181F-5A87-7D9E-7C597B55C0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D8A60-9390-3A82-4253-A83E16B37B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451006-5078-1A49-D493-42576E77630A}"/>
              </a:ext>
            </a:extLst>
          </p:cNvPr>
          <p:cNvSpPr>
            <a:spLocks noGrp="1"/>
          </p:cNvSpPr>
          <p:nvPr>
            <p:ph type="body" idx="1"/>
          </p:nvPr>
        </p:nvSpPr>
        <p:spPr/>
        <p:txBody>
          <a:bodyPr/>
          <a:lstStyle/>
          <a:p>
            <a:pPr marL="0" marR="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Key Message:</a:t>
            </a:r>
          </a:p>
          <a:p>
            <a:pPr marL="0" marR="0" lvl="0" indent="0" algn="l" rtl="0">
              <a:lnSpc>
                <a:spcPct val="80000"/>
              </a:lnSpc>
              <a:spcBef>
                <a:spcPts val="0"/>
              </a:spcBef>
              <a:spcAft>
                <a:spcPts val="0"/>
              </a:spcAft>
              <a:buClr>
                <a:schemeClr val="dk1"/>
              </a:buClr>
              <a:buSzPts val="800"/>
              <a:buFont typeface="Arial"/>
              <a:buNone/>
            </a:pPr>
            <a:r>
              <a:rPr lang="en-US" sz="1200" b="0" u="none" strike="noStrike" dirty="0">
                <a:solidFill>
                  <a:schemeClr val="dk1"/>
                </a:solidFill>
                <a:latin typeface="Arial"/>
                <a:ea typeface="Arial"/>
                <a:cs typeface="Arial"/>
                <a:sym typeface="Arial"/>
              </a:rPr>
              <a:t>VCF 9 brings consistency to the software binary management process – supporting an online or offline depot for all components: infrastructure and management </a:t>
            </a:r>
            <a:br>
              <a:rPr lang="en-US" sz="1200" b="1" u="none" strike="noStrike" dirty="0">
                <a:solidFill>
                  <a:schemeClr val="dk1"/>
                </a:solidFill>
                <a:latin typeface="Arial"/>
                <a:ea typeface="Arial"/>
                <a:cs typeface="Arial"/>
                <a:sym typeface="Arial"/>
              </a:rPr>
            </a:br>
            <a:endParaRPr lang="en-US" sz="1200" b="1"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Talk Track:</a:t>
            </a:r>
          </a:p>
          <a:p>
            <a:pPr marL="0" lvl="0" indent="0" algn="l" rtl="0">
              <a:lnSpc>
                <a:spcPct val="80000"/>
              </a:lnSpc>
              <a:spcBef>
                <a:spcPts val="0"/>
              </a:spcBef>
              <a:spcAft>
                <a:spcPts val="0"/>
              </a:spcAft>
              <a:buClr>
                <a:schemeClr val="dk1"/>
              </a:buClr>
              <a:buSzPts val="800"/>
              <a:buFont typeface="Arial"/>
              <a:buNone/>
            </a:pPr>
            <a:r>
              <a:rPr lang="en-US" b="0" dirty="0"/>
              <a:t>In the Fleet Management </a:t>
            </a:r>
            <a:r>
              <a:rPr lang="en-US" b="0" dirty="0">
                <a:sym typeface="Wingdings" pitchFamily="2" charset="2"/>
              </a:rPr>
              <a:t> Lifecycle section of VCF Operations there are now consistent binary management capabilities for both VCF infrastructure and VCF management components. This is a very welcome enhancement that simplifies the process of downloading software binaries for patching and upgrading as well as for new deployments of components and workload domains.</a:t>
            </a:r>
          </a:p>
          <a:p>
            <a:pPr marL="0" lvl="0" indent="0" algn="l" rtl="0">
              <a:lnSpc>
                <a:spcPct val="80000"/>
              </a:lnSpc>
              <a:spcBef>
                <a:spcPts val="0"/>
              </a:spcBef>
              <a:spcAft>
                <a:spcPts val="0"/>
              </a:spcAft>
              <a:buClr>
                <a:schemeClr val="dk1"/>
              </a:buClr>
              <a:buSzPts val="800"/>
              <a:buFont typeface="Arial"/>
              <a:buNone/>
            </a:pPr>
            <a:endParaRPr lang="en-US" b="0" dirty="0">
              <a:sym typeface="Wingdings" pitchFamily="2" charset="2"/>
            </a:endParaRPr>
          </a:p>
          <a:p>
            <a:pPr marL="0" lvl="0" indent="0" algn="l" rtl="0">
              <a:lnSpc>
                <a:spcPct val="80000"/>
              </a:lnSpc>
              <a:spcBef>
                <a:spcPts val="0"/>
              </a:spcBef>
              <a:spcAft>
                <a:spcPts val="0"/>
              </a:spcAft>
              <a:buClr>
                <a:schemeClr val="dk1"/>
              </a:buClr>
              <a:buSzPts val="800"/>
              <a:buFont typeface="Arial"/>
              <a:buNone/>
            </a:pPr>
            <a:r>
              <a:rPr lang="en-US" b="0" dirty="0">
                <a:sym typeface="Wingdings" pitchFamily="2" charset="2"/>
              </a:rPr>
              <a:t>Downloading from the online depot is the fastest and easiest path, but many customers have security policies or architectural requirements that must be accommodated by an offline depot. The VCF Download Tool can be used to create an offline depot for all components and is also desirable for sites that have multiple VCF instances.</a:t>
            </a:r>
          </a:p>
          <a:p>
            <a:pPr marL="0" lvl="0" indent="0" algn="l" rtl="0">
              <a:lnSpc>
                <a:spcPct val="80000"/>
              </a:lnSpc>
              <a:spcBef>
                <a:spcPts val="0"/>
              </a:spcBef>
              <a:spcAft>
                <a:spcPts val="0"/>
              </a:spcAft>
              <a:buClr>
                <a:schemeClr val="dk1"/>
              </a:buClr>
              <a:buSzPts val="800"/>
              <a:buFont typeface="Arial"/>
              <a:buNone/>
            </a:pPr>
            <a:endParaRPr lang="en-US" b="0" dirty="0">
              <a:sym typeface="Wingdings" pitchFamily="2" charset="2"/>
            </a:endParaRPr>
          </a:p>
          <a:p>
            <a:pPr marL="0" lvl="0" indent="0" algn="l" rtl="0">
              <a:lnSpc>
                <a:spcPct val="80000"/>
              </a:lnSpc>
              <a:spcBef>
                <a:spcPts val="0"/>
              </a:spcBef>
              <a:spcAft>
                <a:spcPts val="0"/>
              </a:spcAft>
              <a:buClr>
                <a:schemeClr val="dk1"/>
              </a:buClr>
              <a:buSzPts val="800"/>
              <a:buFont typeface="Arial"/>
              <a:buNone/>
            </a:pPr>
            <a:r>
              <a:rPr lang="en-US" b="0" dirty="0">
                <a:sym typeface="Wingdings" pitchFamily="2" charset="2"/>
              </a:rPr>
              <a:t>For customer environments that require proxy server support, this is available – with and without password authentication.</a:t>
            </a:r>
            <a:endParaRPr lang="en-US" b="0" dirty="0"/>
          </a:p>
          <a:p>
            <a:pPr marL="0" lvl="0" indent="0" algn="l" rtl="0">
              <a:lnSpc>
                <a:spcPct val="80000"/>
              </a:lnSpc>
              <a:spcBef>
                <a:spcPts val="0"/>
              </a:spcBef>
              <a:spcAft>
                <a:spcPts val="0"/>
              </a:spcAft>
              <a:buClr>
                <a:schemeClr val="dk1"/>
              </a:buClr>
              <a:buSzPts val="800"/>
              <a:buFont typeface="Arial"/>
              <a:buNone/>
            </a:pPr>
            <a:endParaRPr lang="en-US" sz="1200"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Notes:</a:t>
            </a:r>
          </a:p>
          <a:p>
            <a:pPr marL="171450" marR="0" lvl="0" indent="-171450" algn="l" rtl="0">
              <a:lnSpc>
                <a:spcPct val="60000"/>
              </a:lnSpc>
              <a:spcBef>
                <a:spcPts val="0"/>
              </a:spcBef>
              <a:spcAft>
                <a:spcPts val="0"/>
              </a:spcAft>
              <a:buClr>
                <a:schemeClr val="dk1"/>
              </a:buClr>
              <a:buSzPts val="930"/>
              <a:buFont typeface="Arial"/>
              <a:buChar char="-"/>
            </a:pPr>
            <a:r>
              <a:rPr lang="en-US" sz="2400" b="0" u="none" strike="noStrike" dirty="0">
                <a:solidFill>
                  <a:schemeClr val="dk1"/>
                </a:solidFill>
                <a:latin typeface="Arial"/>
                <a:ea typeface="Arial"/>
                <a:cs typeface="Arial"/>
                <a:sym typeface="Arial"/>
              </a:rPr>
              <a:t>Be aware of the subtle shift in terminology from “bundles” in VCF 5.x and earlier to component binaries</a:t>
            </a:r>
          </a:p>
          <a:p>
            <a:pPr marL="0" lvl="0" indent="0" algn="l" rtl="0">
              <a:lnSpc>
                <a:spcPct val="80000"/>
              </a:lnSpc>
              <a:spcBef>
                <a:spcPts val="0"/>
              </a:spcBef>
              <a:spcAft>
                <a:spcPts val="0"/>
              </a:spcAft>
              <a:buClr>
                <a:schemeClr val="dk1"/>
              </a:buClr>
              <a:buSzPts val="800"/>
              <a:buFont typeface="Arial"/>
              <a:buNone/>
            </a:pPr>
            <a:endParaRPr lang="en-US" sz="1200" dirty="0">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Resources: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effectLst/>
                <a:latin typeface="Helvetica Neue" panose="02000503000000020004" pitchFamily="2" charset="0"/>
              </a:rPr>
              <a:t>Refer to the VMware Cloud Foundation Deployment Guide for further information</a:t>
            </a:r>
            <a:br>
              <a:rPr lang="en-AU" dirty="0">
                <a:effectLst/>
                <a:latin typeface="Helvetica Neue" panose="02000503000000020004" pitchFamily="2" charset="0"/>
              </a:rPr>
            </a:br>
            <a:r>
              <a:rPr lang="en-AU" u="sng" dirty="0">
                <a:effectLst/>
                <a:latin typeface="Helvetica Neue" panose="02000503000000020004" pitchFamily="2" charset="0"/>
                <a:hlinkClick r:id="rId3"/>
              </a:rPr>
              <a:t>https://techdocs.broadcom.com/us/en/vmware-cis/vcf.html</a:t>
            </a:r>
            <a:r>
              <a:rPr lang="en-AU" dirty="0">
                <a:effectLst/>
                <a:latin typeface="Helvetica Neue" panose="02000503000000020004" pitchFamily="2" charset="0"/>
              </a:rPr>
              <a:t> </a:t>
            </a:r>
          </a:p>
          <a:p>
            <a:endParaRPr lang="en-US" dirty="0"/>
          </a:p>
        </p:txBody>
      </p:sp>
      <p:sp>
        <p:nvSpPr>
          <p:cNvPr id="4" name="Slide Number Placeholder 3">
            <a:extLst>
              <a:ext uri="{FF2B5EF4-FFF2-40B4-BE49-F238E27FC236}">
                <a16:creationId xmlns:a16="http://schemas.microsoft.com/office/drawing/2014/main" id="{A6F60FF7-5D4A-F8DD-04E9-6B3F819D83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370565501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F317D-ED02-1591-104B-515BC3A1FC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D4B221-F2B4-A19D-2AB8-C7E766193B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7333EC-4628-4E42-99DB-8D679216F311}"/>
              </a:ext>
            </a:extLst>
          </p:cNvPr>
          <p:cNvSpPr>
            <a:spLocks noGrp="1"/>
          </p:cNvSpPr>
          <p:nvPr>
            <p:ph type="body" idx="1"/>
          </p:nvPr>
        </p:nvSpPr>
        <p:spPr/>
        <p:txBody>
          <a:bodyP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Key Message:</a:t>
            </a:r>
            <a:br>
              <a:rPr lang="en-US" sz="1200" u="none" strike="noStrike" kern="1200" dirty="0">
                <a:solidFill>
                  <a:schemeClr val="tx1"/>
                </a:solidFill>
                <a:effectLst/>
              </a:rPr>
            </a:br>
            <a:r>
              <a:rPr lang="en-US" b="0" i="0" dirty="0">
                <a:solidFill>
                  <a:srgbClr val="1F1F1F"/>
                </a:solidFill>
                <a:effectLst/>
                <a:latin typeface="Arial" panose="020B0604020202020204" pitchFamily="34" charset="0"/>
              </a:rPr>
              <a:t>VMware Cloud Foundation 9: Simplified Management &amp; Lifecycle Control</a:t>
            </a:r>
          </a:p>
          <a:p>
            <a:endParaRPr lang="en-US" sz="120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Talk Track: </a:t>
            </a:r>
          </a:p>
          <a:p>
            <a:pPr algn="l"/>
            <a:r>
              <a:rPr lang="en-US" b="0" i="0" dirty="0">
                <a:solidFill>
                  <a:srgbClr val="1F1F1F"/>
                </a:solidFill>
                <a:effectLst/>
                <a:latin typeface="Arial" panose="020B0604020202020204" pitchFamily="34" charset="0"/>
              </a:rPr>
              <a:t>With VCF 9, we introduce a streamlined approach to managing your private cloud infrastructure. Let's take a closer look at the key components:</a:t>
            </a:r>
          </a:p>
          <a:p>
            <a:pPr algn="l"/>
            <a:endParaRPr lang="en-US" b="0" i="0" dirty="0">
              <a:solidFill>
                <a:srgbClr val="1F1F1F"/>
              </a:solidFill>
              <a:effectLst/>
              <a:latin typeface="Arial" panose="020B0604020202020204" pitchFamily="34" charset="0"/>
            </a:endParaRPr>
          </a:p>
          <a:p>
            <a:pPr algn="l"/>
            <a:r>
              <a:rPr lang="en-US" b="0" i="0" u="sng" dirty="0">
                <a:solidFill>
                  <a:srgbClr val="1F1F1F"/>
                </a:solidFill>
                <a:effectLst/>
                <a:latin typeface="Arial" panose="020B0604020202020204" pitchFamily="34" charset="0"/>
              </a:rPr>
              <a:t>VCF Instances: </a:t>
            </a:r>
            <a:r>
              <a:rPr lang="en-US" b="0" i="0" dirty="0">
                <a:solidFill>
                  <a:srgbClr val="1F1F1F"/>
                </a:solidFill>
                <a:effectLst/>
                <a:latin typeface="Arial" panose="020B0604020202020204" pitchFamily="34" charset="0"/>
              </a:rPr>
              <a:t>These remain familiar to VCF 5.x users, with a user-friendly interface within the VCF Operations (Ops) console. Here, you'll focus on the foundational infrastructure components like NSX, vCenter, and ESX. VCF Instances lifecycle management also features the well-known pre-check functionality, ensuring your environment is ready for upgrades or updates.</a:t>
            </a:r>
          </a:p>
          <a:p>
            <a:pPr algn="l"/>
            <a:endParaRPr lang="en-US" b="0" i="0" dirty="0">
              <a:solidFill>
                <a:srgbClr val="1F1F1F"/>
              </a:solidFill>
              <a:effectLst/>
              <a:latin typeface="Arial" panose="020B0604020202020204" pitchFamily="34" charset="0"/>
            </a:endParaRPr>
          </a:p>
          <a:p>
            <a:pPr algn="l"/>
            <a:r>
              <a:rPr lang="en-US" b="0" i="0" u="sng" dirty="0">
                <a:solidFill>
                  <a:srgbClr val="1F1F1F"/>
                </a:solidFill>
                <a:effectLst/>
                <a:latin typeface="Arial" panose="020B0604020202020204" pitchFamily="34" charset="0"/>
              </a:rPr>
              <a:t>VCF Management: </a:t>
            </a:r>
            <a:r>
              <a:rPr lang="en-US" b="0" i="0" dirty="0">
                <a:solidFill>
                  <a:srgbClr val="1F1F1F"/>
                </a:solidFill>
                <a:effectLst/>
                <a:latin typeface="Arial" panose="020B0604020202020204" pitchFamily="34" charset="0"/>
              </a:rPr>
              <a:t>This new section acts as a central hub for lifecycle management, with the new Fleet Management appliance replacing the Aria Suite LCM. Here, you can deploy new components like VCF Automation, Identity Broker, Operations for Logs, and more. This empowers you to build and manage your VCF environment in a centralized and efficient way.</a:t>
            </a:r>
          </a:p>
          <a:p>
            <a:pPr algn="l"/>
            <a:endParaRPr lang="en-US" b="0" i="0" dirty="0">
              <a:solidFill>
                <a:srgbClr val="1F1F1F"/>
              </a:solidFill>
              <a:effectLst/>
              <a:latin typeface="Arial" panose="020B0604020202020204" pitchFamily="34" charset="0"/>
            </a:endParaRPr>
          </a:p>
          <a:p>
            <a:pPr algn="l"/>
            <a:r>
              <a:rPr lang="en-US" b="0" i="0" u="sng" dirty="0">
                <a:solidFill>
                  <a:srgbClr val="1F1F1F"/>
                </a:solidFill>
                <a:effectLst/>
                <a:latin typeface="Arial" panose="020B0604020202020204" pitchFamily="34" charset="0"/>
              </a:rPr>
              <a:t>Flexibility and Control: </a:t>
            </a:r>
            <a:r>
              <a:rPr lang="en-US" b="0" i="0" dirty="0">
                <a:solidFill>
                  <a:srgbClr val="1F1F1F"/>
                </a:solidFill>
                <a:effectLst/>
                <a:latin typeface="Arial" panose="020B0604020202020204" pitchFamily="34" charset="0"/>
              </a:rPr>
              <a:t>VCF 9 delivers enhanced control over your deployment and updates. You can leverage online and offline depot support, along with binary downloads and proxy + authentication capabilities. Additionally, you can utilize asynchronous patches to seamlessly apply updates to a released bill of materials (BOM). Thanks to live patching, certain updates can be applied without requiring maintenance mode for minimal impact to your environment. This allows for a flexible and granular approach to managing your VCF infrastructure.</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Notes:</a:t>
            </a:r>
            <a:br>
              <a:rPr lang="en-US" sz="1200" u="none" strike="noStrike" kern="1200" dirty="0">
                <a:solidFill>
                  <a:schemeClr val="tx1"/>
                </a:solidFill>
                <a:effectLst/>
              </a:rPr>
            </a:br>
            <a:r>
              <a:rPr lang="en-US" sz="1200" u="none" strike="noStrike" kern="1200" dirty="0">
                <a:solidFill>
                  <a:schemeClr val="tx1"/>
                </a:solidFill>
                <a:effectLst/>
              </a:rPr>
              <a:t>Aria Suite Lifecycle (formerly </a:t>
            </a:r>
            <a:r>
              <a:rPr lang="en-US" sz="1200" u="none" strike="noStrike" kern="1200" dirty="0" err="1">
                <a:solidFill>
                  <a:schemeClr val="tx1"/>
                </a:solidFill>
                <a:effectLst/>
              </a:rPr>
              <a:t>vRSLCM</a:t>
            </a:r>
            <a:r>
              <a:rPr lang="en-US" sz="1200" u="none" strike="noStrike" kern="1200" dirty="0">
                <a:solidFill>
                  <a:schemeClr val="tx1"/>
                </a:solidFill>
                <a:effectLst/>
              </a:rPr>
              <a:t>) must remain online to manage components such as VIDM that are not directly upgradable to VCF 9.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Resources:</a:t>
            </a:r>
            <a:br>
              <a:rPr lang="en-US" sz="1200" b="1" u="none" strike="noStrike" kern="1200" dirty="0">
                <a:solidFill>
                  <a:schemeClr val="tx1"/>
                </a:solidFill>
                <a:effectLst/>
              </a:rPr>
            </a:br>
            <a:r>
              <a:rPr lang="en-US" sz="1200" b="0" u="none" strike="noStrike" kern="1200" dirty="0">
                <a:solidFill>
                  <a:schemeClr val="tx1"/>
                </a:solidFill>
                <a:effectLst/>
                <a:latin typeface="Arial" panose="020B0604020202020204" pitchFamily="34" charset="0"/>
                <a:ea typeface="+mn-ea"/>
                <a:cs typeface="+mn-cs"/>
              </a:rPr>
              <a:t>Refer to the VMware Cloud Foundation Operations Guide for further information</a:t>
            </a:r>
            <a:br>
              <a:rPr lang="en-US" sz="1200" b="0" u="none" strike="noStrike" kern="1200" dirty="0">
                <a:solidFill>
                  <a:schemeClr val="tx1"/>
                </a:solidFill>
                <a:effectLst/>
                <a:latin typeface="Arial" panose="020B0604020202020204" pitchFamily="34" charset="0"/>
                <a:ea typeface="+mn-ea"/>
                <a:cs typeface="+mn-cs"/>
              </a:rPr>
            </a:br>
            <a:r>
              <a:rPr lang="en-AU" sz="1200" dirty="0">
                <a:effectLst/>
                <a:latin typeface="Helvetica Neue" panose="02000503000000020004" pitchFamily="2" charset="0"/>
                <a:hlinkClick r:id="rId3"/>
              </a:rPr>
              <a:t>https://techdocs.broadcom.com/us/en/vmware-cis/vcf.html</a:t>
            </a:r>
            <a:r>
              <a:rPr lang="en-AU" sz="1200" dirty="0">
                <a:effectLst/>
                <a:latin typeface="Helvetica Neue" panose="02000503000000020004" pitchFamily="2" charset="0"/>
              </a:rPr>
              <a:t> </a:t>
            </a:r>
          </a:p>
          <a:p>
            <a:endParaRPr lang="en-AU" dirty="0">
              <a:solidFill>
                <a:srgbClr val="DCA10D"/>
              </a:solidFill>
              <a:effectLst/>
              <a:latin typeface="Helvetica Neue" panose="02000503000000020004" pitchFamily="2" charset="0"/>
            </a:endParaRPr>
          </a:p>
        </p:txBody>
      </p:sp>
      <p:sp>
        <p:nvSpPr>
          <p:cNvPr id="4" name="Slide Number Placeholder 3">
            <a:extLst>
              <a:ext uri="{FF2B5EF4-FFF2-40B4-BE49-F238E27FC236}">
                <a16:creationId xmlns:a16="http://schemas.microsoft.com/office/drawing/2014/main" id="{A25DCC90-1951-7F5A-39F1-543F40389F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9677119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4137E-A98D-5A9F-D9CD-41ECDE8E62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239A72-4B73-F602-D0D0-9F3DF7FDE7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8A1F13-E09D-B502-1964-B21F891C75F7}"/>
              </a:ext>
            </a:extLst>
          </p:cNvPr>
          <p:cNvSpPr>
            <a:spLocks noGrp="1"/>
          </p:cNvSpPr>
          <p:nvPr>
            <p:ph type="body" idx="1"/>
          </p:nvPr>
        </p:nvSpPr>
        <p:spPr/>
        <p:txBody>
          <a:bodyPr>
            <a:normAutofit fontScale="85000" lnSpcReduction="20000"/>
          </a:bodyPr>
          <a:lstStyle/>
          <a:p>
            <a:pPr marL="0" marR="0" lvl="0" indent="0" algn="l" rtl="0">
              <a:lnSpc>
                <a:spcPct val="80000"/>
              </a:lnSpc>
              <a:spcBef>
                <a:spcPts val="0"/>
              </a:spcBef>
              <a:spcAft>
                <a:spcPts val="0"/>
              </a:spcAft>
              <a:buClr>
                <a:schemeClr val="dk1"/>
              </a:buClr>
              <a:buSzPts val="480"/>
              <a:buFont typeface="Arial"/>
              <a:buNone/>
            </a:pPr>
            <a:r>
              <a:rPr lang="en-US" sz="800" b="1" dirty="0">
                <a:solidFill>
                  <a:schemeClr val="dk1"/>
                </a:solidFill>
                <a:latin typeface="Arial"/>
                <a:ea typeface="Arial"/>
                <a:cs typeface="Arial"/>
                <a:sym typeface="Arial"/>
              </a:rPr>
              <a:t>Presenter Note:  </a:t>
            </a:r>
            <a:r>
              <a:rPr lang="en-US" sz="800" b="1" dirty="0">
                <a:latin typeface="Arial"/>
                <a:ea typeface="Arial"/>
                <a:cs typeface="Arial"/>
                <a:sym typeface="Arial"/>
              </a:rPr>
              <a:t>[This slide contains animation]</a:t>
            </a:r>
            <a:endParaRPr lang="en-US" sz="800" b="1"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endParaRPr lang="en-US" sz="800" dirty="0">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480"/>
              <a:buFont typeface="Arial"/>
              <a:buNone/>
            </a:pPr>
            <a:r>
              <a:rPr lang="en-US" sz="800" b="1" dirty="0">
                <a:solidFill>
                  <a:schemeClr val="dk1"/>
                </a:solidFill>
                <a:latin typeface="Arial"/>
                <a:ea typeface="Arial"/>
                <a:cs typeface="Arial"/>
                <a:sym typeface="Arial"/>
              </a:rPr>
              <a:t>Key Message:</a:t>
            </a:r>
            <a:endParaRPr lang="en-US" dirty="0"/>
          </a:p>
          <a:p>
            <a:pPr marL="0" marR="0" lvl="0" indent="0" algn="l" rtl="0">
              <a:lnSpc>
                <a:spcPct val="80000"/>
              </a:lnSpc>
              <a:spcBef>
                <a:spcPts val="0"/>
              </a:spcBef>
              <a:spcAft>
                <a:spcPts val="0"/>
              </a:spcAft>
              <a:buClr>
                <a:srgbClr val="717074"/>
              </a:buClr>
              <a:buSzPts val="480"/>
              <a:buFont typeface="Arial"/>
              <a:buNone/>
            </a:pPr>
            <a:r>
              <a:rPr lang="en-US" sz="800" u="none" strike="noStrike" dirty="0">
                <a:solidFill>
                  <a:srgbClr val="717074"/>
                </a:solidFill>
                <a:latin typeface="Arial"/>
                <a:ea typeface="Arial"/>
                <a:cs typeface="Arial"/>
                <a:sym typeface="Arial"/>
              </a:rPr>
              <a:t>Live Patch is extended to more of the ESX image, including </a:t>
            </a:r>
            <a:r>
              <a:rPr lang="en-US" sz="800" u="none" strike="noStrike" dirty="0" err="1">
                <a:solidFill>
                  <a:srgbClr val="717074"/>
                </a:solidFill>
                <a:latin typeface="Arial"/>
                <a:ea typeface="Arial"/>
                <a:cs typeface="Arial"/>
                <a:sym typeface="Arial"/>
              </a:rPr>
              <a:t>vmkernel</a:t>
            </a:r>
            <a:r>
              <a:rPr lang="en-US" sz="800" u="none" strike="noStrike" dirty="0">
                <a:solidFill>
                  <a:srgbClr val="717074"/>
                </a:solidFill>
                <a:latin typeface="Arial"/>
                <a:ea typeface="Arial"/>
                <a:cs typeface="Arial"/>
                <a:sym typeface="Arial"/>
              </a:rPr>
              <a:t> and NSX components. Increasing the frequency that patches can leverage live patch.</a:t>
            </a:r>
            <a:endParaRPr lang="en-US" dirty="0"/>
          </a:p>
          <a:p>
            <a:pPr marL="0" marR="0" lvl="0" indent="0" algn="l" rtl="0">
              <a:lnSpc>
                <a:spcPct val="80000"/>
              </a:lnSpc>
              <a:spcBef>
                <a:spcPts val="0"/>
              </a:spcBef>
              <a:spcAft>
                <a:spcPts val="0"/>
              </a:spcAft>
              <a:buClr>
                <a:schemeClr val="dk1"/>
              </a:buClr>
              <a:buSzPts val="480"/>
              <a:buFont typeface="Arial"/>
              <a:buNone/>
            </a:pPr>
            <a:br>
              <a:rPr lang="en-US" sz="800" dirty="0">
                <a:solidFill>
                  <a:schemeClr val="dk1"/>
                </a:solidFill>
                <a:latin typeface="Arial"/>
                <a:ea typeface="Arial"/>
                <a:cs typeface="Arial"/>
                <a:sym typeface="Arial"/>
              </a:rPr>
            </a:br>
            <a:r>
              <a:rPr lang="en-US" sz="800" b="1" dirty="0">
                <a:solidFill>
                  <a:schemeClr val="dk1"/>
                </a:solidFill>
                <a:latin typeface="Arial"/>
                <a:ea typeface="Arial"/>
                <a:cs typeface="Arial"/>
                <a:sym typeface="Arial"/>
              </a:rPr>
              <a:t>Talk Track:</a:t>
            </a:r>
            <a:endParaRPr lang="en-US" dirty="0"/>
          </a:p>
          <a:p>
            <a:pPr marL="0" lvl="0" indent="0" algn="l" rtl="0">
              <a:lnSpc>
                <a:spcPct val="80000"/>
              </a:lnSpc>
              <a:spcBef>
                <a:spcPts val="0"/>
              </a:spcBef>
              <a:spcAft>
                <a:spcPts val="0"/>
              </a:spcAft>
              <a:buNone/>
            </a:pPr>
            <a:r>
              <a:rPr lang="en-US" sz="800" u="none" strike="noStrike" dirty="0">
                <a:solidFill>
                  <a:srgbClr val="717074"/>
                </a:solidFill>
                <a:latin typeface="Arial"/>
                <a:ea typeface="Arial"/>
                <a:cs typeface="Arial"/>
                <a:sym typeface="Arial"/>
              </a:rPr>
              <a:t>Live Patch for ESX was introduced with vSphere 8.0 Update 3 and is has now been extended to more of the ESX image, including </a:t>
            </a:r>
            <a:r>
              <a:rPr lang="en-US" sz="800" u="none" strike="noStrike" dirty="0" err="1">
                <a:solidFill>
                  <a:srgbClr val="717074"/>
                </a:solidFill>
                <a:latin typeface="Arial"/>
                <a:ea typeface="Arial"/>
                <a:cs typeface="Arial"/>
                <a:sym typeface="Arial"/>
              </a:rPr>
              <a:t>vmkernel</a:t>
            </a:r>
            <a:r>
              <a:rPr lang="en-US" sz="800" u="none" strike="noStrike" dirty="0">
                <a:solidFill>
                  <a:srgbClr val="717074"/>
                </a:solidFill>
                <a:latin typeface="Arial"/>
                <a:ea typeface="Arial"/>
                <a:cs typeface="Arial"/>
                <a:sym typeface="Arial"/>
              </a:rPr>
              <a:t> and NSX components. Increasing the frequency that patches can leverage live patch.</a:t>
            </a:r>
            <a:endParaRPr lang="en-US" dirty="0"/>
          </a:p>
          <a:p>
            <a:pPr marL="0" lvl="0" indent="0" algn="l" rtl="0">
              <a:lnSpc>
                <a:spcPct val="80000"/>
              </a:lnSpc>
              <a:spcBef>
                <a:spcPts val="600"/>
              </a:spcBef>
              <a:spcAft>
                <a:spcPts val="0"/>
              </a:spcAft>
              <a:buNone/>
            </a:pPr>
            <a:endParaRPr lang="en-US" sz="2400" dirty="0">
              <a:latin typeface="Arial"/>
              <a:ea typeface="Arial"/>
              <a:cs typeface="Arial"/>
              <a:sym typeface="Arial"/>
            </a:endParaRPr>
          </a:p>
          <a:p>
            <a:pPr marL="0" lvl="0" indent="0" algn="l" rtl="0">
              <a:lnSpc>
                <a:spcPct val="80000"/>
              </a:lnSpc>
              <a:spcBef>
                <a:spcPts val="600"/>
              </a:spcBef>
              <a:spcAft>
                <a:spcPts val="0"/>
              </a:spcAft>
              <a:buNone/>
            </a:pPr>
            <a:r>
              <a:rPr lang="en-US" sz="800" u="none" strike="noStrike" dirty="0">
                <a:solidFill>
                  <a:srgbClr val="717074"/>
                </a:solidFill>
                <a:latin typeface="Arial"/>
                <a:ea typeface="Arial"/>
                <a:cs typeface="Arial"/>
                <a:sym typeface="Arial"/>
              </a:rPr>
              <a:t>NSX components, now part of the base ESX image, can be patched using the live patch process without hosts entering maintenance mode and needing VMs to evacuate the hosts. </a:t>
            </a:r>
            <a:endParaRPr lang="en-US" dirty="0"/>
          </a:p>
          <a:p>
            <a:pPr marL="0" lvl="0" indent="0" algn="l" rtl="0">
              <a:lnSpc>
                <a:spcPct val="80000"/>
              </a:lnSpc>
              <a:spcBef>
                <a:spcPts val="600"/>
              </a:spcBef>
              <a:spcAft>
                <a:spcPts val="0"/>
              </a:spcAft>
              <a:buNone/>
            </a:pPr>
            <a:endParaRPr lang="en-US" sz="2400" dirty="0">
              <a:latin typeface="Arial"/>
              <a:ea typeface="Arial"/>
              <a:cs typeface="Arial"/>
              <a:sym typeface="Arial"/>
            </a:endParaRPr>
          </a:p>
          <a:p>
            <a:pPr marL="0" lvl="0" indent="0" algn="l" rtl="0">
              <a:lnSpc>
                <a:spcPct val="80000"/>
              </a:lnSpc>
              <a:spcBef>
                <a:spcPts val="600"/>
              </a:spcBef>
              <a:spcAft>
                <a:spcPts val="0"/>
              </a:spcAft>
              <a:buNone/>
            </a:pPr>
            <a:r>
              <a:rPr lang="en-US" sz="800" u="none" strike="noStrike" dirty="0" err="1">
                <a:solidFill>
                  <a:srgbClr val="717074"/>
                </a:solidFill>
                <a:latin typeface="Arial"/>
                <a:ea typeface="Arial"/>
                <a:cs typeface="Arial"/>
                <a:sym typeface="Arial"/>
              </a:rPr>
              <a:t>Vmkernel</a:t>
            </a:r>
            <a:r>
              <a:rPr lang="en-US" sz="800" u="none" strike="noStrike" dirty="0">
                <a:solidFill>
                  <a:srgbClr val="717074"/>
                </a:solidFill>
                <a:latin typeface="Arial"/>
                <a:ea typeface="Arial"/>
                <a:cs typeface="Arial"/>
                <a:sym typeface="Arial"/>
              </a:rPr>
              <a:t>, user-space and </a:t>
            </a:r>
            <a:r>
              <a:rPr lang="en-US" sz="800" u="none" strike="noStrike" dirty="0" err="1">
                <a:solidFill>
                  <a:srgbClr val="717074"/>
                </a:solidFill>
                <a:latin typeface="Arial"/>
                <a:ea typeface="Arial"/>
                <a:cs typeface="Arial"/>
                <a:sym typeface="Arial"/>
              </a:rPr>
              <a:t>vmx</a:t>
            </a:r>
            <a:r>
              <a:rPr lang="en-US" sz="800" u="none" strike="noStrike" dirty="0">
                <a:solidFill>
                  <a:srgbClr val="717074"/>
                </a:solidFill>
                <a:latin typeface="Arial"/>
                <a:ea typeface="Arial"/>
                <a:cs typeface="Arial"/>
                <a:sym typeface="Arial"/>
              </a:rPr>
              <a:t> (virtual machine execution) components can also leverage live patch. ESX services (for example </a:t>
            </a:r>
            <a:r>
              <a:rPr lang="en-US" sz="800" u="none" strike="noStrike" dirty="0" err="1">
                <a:solidFill>
                  <a:srgbClr val="717074"/>
                </a:solidFill>
                <a:latin typeface="Arial"/>
                <a:ea typeface="Arial"/>
                <a:cs typeface="Arial"/>
                <a:sym typeface="Arial"/>
              </a:rPr>
              <a:t>hostd</a:t>
            </a:r>
            <a:r>
              <a:rPr lang="en-US" sz="800" u="none" strike="noStrike" dirty="0">
                <a:solidFill>
                  <a:srgbClr val="717074"/>
                </a:solidFill>
                <a:latin typeface="Arial"/>
                <a:ea typeface="Arial"/>
                <a:cs typeface="Arial"/>
                <a:sym typeface="Arial"/>
              </a:rPr>
              <a:t>) might require a restart during a live patch which can cause ESX hosts to briefly disconnect from vCenter. This is expected </a:t>
            </a:r>
            <a:r>
              <a:rPr lang="en-US" sz="800" u="none" strike="noStrike" dirty="0" err="1">
                <a:solidFill>
                  <a:srgbClr val="717074"/>
                </a:solidFill>
                <a:latin typeface="Arial"/>
                <a:ea typeface="Arial"/>
                <a:cs typeface="Arial"/>
                <a:sym typeface="Arial"/>
              </a:rPr>
              <a:t>behaviour</a:t>
            </a:r>
            <a:r>
              <a:rPr lang="en-US" sz="800" u="none" strike="noStrike" dirty="0">
                <a:solidFill>
                  <a:srgbClr val="717074"/>
                </a:solidFill>
                <a:latin typeface="Arial"/>
                <a:ea typeface="Arial"/>
                <a:cs typeface="Arial"/>
                <a:sym typeface="Arial"/>
              </a:rPr>
              <a:t> and does not impact the running virtual machines. vSphere Lifecycle Manager reports what services or daemons will be restarted as part of the live patch remediation.</a:t>
            </a:r>
            <a:endParaRPr lang="en-US" dirty="0"/>
          </a:p>
          <a:p>
            <a:pPr marL="0" lvl="0" indent="0" algn="l" rtl="0">
              <a:lnSpc>
                <a:spcPct val="80000"/>
              </a:lnSpc>
              <a:spcBef>
                <a:spcPts val="600"/>
              </a:spcBef>
              <a:spcAft>
                <a:spcPts val="0"/>
              </a:spcAft>
              <a:buNone/>
            </a:pPr>
            <a:endParaRPr lang="en-US" sz="2400" dirty="0">
              <a:latin typeface="Arial"/>
              <a:ea typeface="Arial"/>
              <a:cs typeface="Arial"/>
              <a:sym typeface="Arial"/>
            </a:endParaRPr>
          </a:p>
          <a:p>
            <a:pPr marL="0" lvl="0" indent="0" algn="l" rtl="0">
              <a:lnSpc>
                <a:spcPct val="80000"/>
              </a:lnSpc>
              <a:spcBef>
                <a:spcPts val="600"/>
              </a:spcBef>
              <a:spcAft>
                <a:spcPts val="0"/>
              </a:spcAft>
              <a:buNone/>
            </a:pPr>
            <a:r>
              <a:rPr lang="en-US" sz="800" u="none" strike="noStrike" dirty="0">
                <a:solidFill>
                  <a:srgbClr val="717074"/>
                </a:solidFill>
                <a:latin typeface="Arial"/>
                <a:ea typeface="Arial"/>
                <a:cs typeface="Arial"/>
                <a:sym typeface="Arial"/>
              </a:rPr>
              <a:t>If the </a:t>
            </a:r>
            <a:r>
              <a:rPr lang="en-US" sz="800" u="none" strike="noStrike" dirty="0" err="1">
                <a:solidFill>
                  <a:srgbClr val="717074"/>
                </a:solidFill>
                <a:latin typeface="Arial"/>
                <a:ea typeface="Arial"/>
                <a:cs typeface="Arial"/>
                <a:sym typeface="Arial"/>
              </a:rPr>
              <a:t>vmx</a:t>
            </a:r>
            <a:r>
              <a:rPr lang="en-US" sz="800" u="none" strike="noStrike" dirty="0">
                <a:solidFill>
                  <a:srgbClr val="717074"/>
                </a:solidFill>
                <a:latin typeface="Arial"/>
                <a:ea typeface="Arial"/>
                <a:cs typeface="Arial"/>
                <a:sym typeface="Arial"/>
              </a:rPr>
              <a:t> (virtual machine execution) environment is being live patches, running VMs will perform a Fast-Suspend-Resume (FSR). Live patch is compatible with vSAN clusters. vSAN witness nodes are not compatible with live patch and will undergo full reboots when patching.</a:t>
            </a:r>
            <a:endParaRPr lang="en-US" dirty="0"/>
          </a:p>
          <a:p>
            <a:pPr marL="0" lvl="0" indent="0" algn="l" rtl="0">
              <a:lnSpc>
                <a:spcPct val="80000"/>
              </a:lnSpc>
              <a:spcBef>
                <a:spcPts val="600"/>
              </a:spcBef>
              <a:spcAft>
                <a:spcPts val="0"/>
              </a:spcAft>
              <a:buNone/>
            </a:pPr>
            <a:endParaRPr lang="en-US" sz="2400" dirty="0">
              <a:latin typeface="Arial"/>
              <a:ea typeface="Arial"/>
              <a:cs typeface="Arial"/>
              <a:sym typeface="Arial"/>
            </a:endParaRPr>
          </a:p>
          <a:p>
            <a:pPr marL="0" lvl="0" indent="0" algn="l" rtl="0">
              <a:lnSpc>
                <a:spcPct val="80000"/>
              </a:lnSpc>
              <a:spcBef>
                <a:spcPts val="600"/>
              </a:spcBef>
              <a:spcAft>
                <a:spcPts val="0"/>
              </a:spcAft>
              <a:buNone/>
            </a:pPr>
            <a:r>
              <a:rPr lang="en-US" sz="800" u="none" strike="noStrike" dirty="0">
                <a:solidFill>
                  <a:srgbClr val="717074"/>
                </a:solidFill>
                <a:latin typeface="Arial"/>
                <a:ea typeface="Arial"/>
                <a:cs typeface="Arial"/>
                <a:sym typeface="Arial"/>
              </a:rPr>
              <a:t>Update releases (for example ESX 9 Update 1) are expected to require a full reboot as the entire ESX system is being updated.</a:t>
            </a:r>
            <a:endParaRPr lang="en-US" sz="2400" dirty="0">
              <a:latin typeface="Arial"/>
              <a:ea typeface="Arial"/>
              <a:cs typeface="Arial"/>
              <a:sym typeface="Arial"/>
            </a:endParaRPr>
          </a:p>
          <a:p>
            <a:pPr marL="0" lvl="0" indent="0" algn="l" rtl="0">
              <a:lnSpc>
                <a:spcPct val="80000"/>
              </a:lnSpc>
              <a:spcBef>
                <a:spcPts val="600"/>
              </a:spcBef>
              <a:spcAft>
                <a:spcPts val="0"/>
              </a:spcAft>
              <a:buNone/>
            </a:pPr>
            <a:r>
              <a:rPr lang="en-US" sz="800" u="none" strike="noStrike" dirty="0">
                <a:solidFill>
                  <a:srgbClr val="717074"/>
                </a:solidFill>
                <a:latin typeface="Arial"/>
                <a:ea typeface="Arial"/>
                <a:cs typeface="Arial"/>
                <a:sym typeface="Arial"/>
              </a:rPr>
              <a:t>Hosts using TPM and/or DPU devices are not compatible with live patching.</a:t>
            </a:r>
            <a:endParaRPr lang="en-US" sz="2400" dirty="0">
              <a:latin typeface="Arial"/>
              <a:ea typeface="Arial"/>
              <a:cs typeface="Arial"/>
              <a:sym typeface="Arial"/>
            </a:endParaRPr>
          </a:p>
          <a:p>
            <a:pPr marL="0" lvl="0" indent="0" algn="l" rtl="0">
              <a:lnSpc>
                <a:spcPct val="80000"/>
              </a:lnSpc>
              <a:spcBef>
                <a:spcPts val="600"/>
              </a:spcBef>
              <a:spcAft>
                <a:spcPts val="0"/>
              </a:spcAft>
              <a:buNone/>
            </a:pPr>
            <a:endParaRPr lang="en-US" sz="800"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r>
              <a:rPr lang="en-US" sz="800" b="1" u="none" strike="noStrike" dirty="0">
                <a:solidFill>
                  <a:schemeClr val="dk1"/>
                </a:solidFill>
                <a:latin typeface="Arial"/>
                <a:ea typeface="Arial"/>
                <a:cs typeface="Arial"/>
                <a:sym typeface="Arial"/>
              </a:rPr>
              <a:t>Notes:</a:t>
            </a:r>
            <a:endParaRPr lang="en-US" dirty="0"/>
          </a:p>
          <a:p>
            <a:pPr marL="0" lvl="0" indent="0" algn="l" rtl="0">
              <a:lnSpc>
                <a:spcPct val="80000"/>
              </a:lnSpc>
              <a:spcBef>
                <a:spcPts val="0"/>
              </a:spcBef>
              <a:spcAft>
                <a:spcPts val="0"/>
              </a:spcAft>
              <a:buNone/>
            </a:pPr>
            <a:r>
              <a:rPr lang="en-US" sz="800" dirty="0">
                <a:solidFill>
                  <a:schemeClr val="dk1"/>
                </a:solidFill>
                <a:latin typeface="Arial"/>
                <a:ea typeface="Arial"/>
                <a:cs typeface="Arial"/>
                <a:sym typeface="Arial"/>
              </a:rPr>
              <a:t>1. Host enters partial maintenance mode</a:t>
            </a:r>
            <a:endParaRPr lang="en-US" dirty="0"/>
          </a:p>
          <a:p>
            <a:pPr marL="0" lvl="0" indent="0" algn="l" rtl="0">
              <a:lnSpc>
                <a:spcPct val="80000"/>
              </a:lnSpc>
              <a:spcBef>
                <a:spcPts val="1800"/>
              </a:spcBef>
              <a:spcAft>
                <a:spcPts val="0"/>
              </a:spcAft>
              <a:buNone/>
            </a:pPr>
            <a:r>
              <a:rPr lang="en-US" sz="800" dirty="0">
                <a:solidFill>
                  <a:schemeClr val="dk1"/>
                </a:solidFill>
                <a:latin typeface="Arial"/>
                <a:ea typeface="Arial"/>
                <a:cs typeface="Arial"/>
                <a:sym typeface="Arial"/>
              </a:rPr>
              <a:t>2. New mount revision loaded</a:t>
            </a:r>
            <a:endParaRPr lang="en-US" dirty="0"/>
          </a:p>
          <a:p>
            <a:pPr marL="0" lvl="0" indent="0" algn="l" rtl="0">
              <a:lnSpc>
                <a:spcPct val="80000"/>
              </a:lnSpc>
              <a:spcBef>
                <a:spcPts val="1800"/>
              </a:spcBef>
              <a:spcAft>
                <a:spcPts val="0"/>
              </a:spcAft>
              <a:buNone/>
            </a:pPr>
            <a:r>
              <a:rPr lang="en-US" sz="800" dirty="0">
                <a:solidFill>
                  <a:schemeClr val="dk1"/>
                </a:solidFill>
                <a:latin typeface="Arial"/>
                <a:ea typeface="Arial"/>
                <a:cs typeface="Arial"/>
                <a:sym typeface="Arial"/>
              </a:rPr>
              <a:t>3. New mount revision patched</a:t>
            </a:r>
            <a:endParaRPr lang="en-US" dirty="0"/>
          </a:p>
          <a:p>
            <a:pPr marL="0" lvl="0" indent="0" algn="l" rtl="0">
              <a:lnSpc>
                <a:spcPct val="80000"/>
              </a:lnSpc>
              <a:spcBef>
                <a:spcPts val="1800"/>
              </a:spcBef>
              <a:spcAft>
                <a:spcPts val="0"/>
              </a:spcAft>
              <a:buNone/>
            </a:pPr>
            <a:r>
              <a:rPr lang="en-US" sz="800" dirty="0">
                <a:solidFill>
                  <a:schemeClr val="dk1"/>
                </a:solidFill>
                <a:latin typeface="Arial"/>
                <a:ea typeface="Arial"/>
                <a:cs typeface="Arial"/>
                <a:sym typeface="Arial"/>
              </a:rPr>
              <a:t>4. VMs fast-suspend-resume to consume patched mount revision</a:t>
            </a:r>
            <a:endParaRPr lang="en-US" dirty="0"/>
          </a:p>
          <a:p>
            <a:pPr marL="0" lvl="0" indent="0" algn="l" rtl="0">
              <a:lnSpc>
                <a:spcPct val="80000"/>
              </a:lnSpc>
              <a:spcBef>
                <a:spcPts val="1800"/>
              </a:spcBef>
              <a:spcAft>
                <a:spcPts val="0"/>
              </a:spcAft>
              <a:buNone/>
            </a:pPr>
            <a:endParaRPr lang="en-US" sz="800"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r>
              <a:rPr lang="en-US" sz="800" u="none" strike="noStrike" dirty="0">
                <a:solidFill>
                  <a:schemeClr val="dk1"/>
                </a:solidFill>
                <a:latin typeface="Arial"/>
                <a:ea typeface="Arial"/>
                <a:cs typeface="Arial"/>
                <a:sym typeface="Arial"/>
              </a:rPr>
              <a:t>Some virtual machines are not compatible with FSR. VMs configured with vSphere Fault Tolerance, VMs using Direct Path I/O and vSphere Pods cannot use FSR and need to be manually remediated. Manual remediation can either be done by migrating the virtual machine or by power cycling the virtual machine.</a:t>
            </a:r>
            <a:br>
              <a:rPr lang="en-US" sz="800" dirty="0">
                <a:solidFill>
                  <a:schemeClr val="dk1"/>
                </a:solidFill>
                <a:latin typeface="Arial"/>
                <a:ea typeface="Arial"/>
                <a:cs typeface="Arial"/>
                <a:sym typeface="Arial"/>
              </a:rPr>
            </a:br>
            <a:endParaRPr lang="en-US" sz="800" dirty="0">
              <a:solidFill>
                <a:schemeClr val="dk1"/>
              </a:solidFill>
              <a:latin typeface="Arial"/>
              <a:ea typeface="Arial"/>
              <a:cs typeface="Arial"/>
              <a:sym typeface="Arial"/>
            </a:endParaRPr>
          </a:p>
          <a:p>
            <a:pPr marL="0" lvl="0" indent="0" algn="l" rtl="0">
              <a:lnSpc>
                <a:spcPct val="80000"/>
              </a:lnSpc>
              <a:spcBef>
                <a:spcPts val="0"/>
              </a:spcBef>
              <a:spcAft>
                <a:spcPts val="0"/>
              </a:spcAft>
              <a:buNone/>
            </a:pPr>
            <a:r>
              <a:rPr lang="en-US" sz="800" dirty="0">
                <a:solidFill>
                  <a:schemeClr val="dk1"/>
                </a:solidFill>
                <a:latin typeface="Arial"/>
                <a:ea typeface="Arial"/>
                <a:cs typeface="Arial"/>
                <a:sym typeface="Arial"/>
              </a:rPr>
              <a:t>Virtual machines that do not support FSR include VMs configured for vSphere Fault Tolerance, VMs configured with VM </a:t>
            </a:r>
            <a:r>
              <a:rPr lang="en-US" sz="800" dirty="0" err="1">
                <a:solidFill>
                  <a:schemeClr val="dk1"/>
                </a:solidFill>
                <a:latin typeface="Arial"/>
                <a:ea typeface="Arial"/>
                <a:cs typeface="Arial"/>
                <a:sym typeface="Arial"/>
              </a:rPr>
              <a:t>DirectPath</a:t>
            </a:r>
            <a:r>
              <a:rPr lang="en-US" sz="800" dirty="0">
                <a:solidFill>
                  <a:schemeClr val="dk1"/>
                </a:solidFill>
                <a:latin typeface="Arial"/>
                <a:ea typeface="Arial"/>
                <a:cs typeface="Arial"/>
                <a:sym typeface="Arial"/>
              </a:rPr>
              <a:t> I/O devices, vSphere Pods (container pods). </a:t>
            </a:r>
            <a:endParaRPr lang="en-US" dirty="0"/>
          </a:p>
          <a:p>
            <a:pPr marL="0" marR="0" lvl="0" indent="0" algn="l" rtl="0">
              <a:lnSpc>
                <a:spcPct val="80000"/>
              </a:lnSpc>
              <a:spcBef>
                <a:spcPts val="0"/>
              </a:spcBef>
              <a:spcAft>
                <a:spcPts val="0"/>
              </a:spcAft>
              <a:buClr>
                <a:schemeClr val="dk1"/>
              </a:buClr>
              <a:buSzPts val="480"/>
              <a:buFont typeface="Arial"/>
              <a:buNone/>
            </a:pPr>
            <a:r>
              <a:rPr lang="en-US" sz="800" dirty="0">
                <a:solidFill>
                  <a:schemeClr val="dk1"/>
                </a:solidFill>
                <a:latin typeface="Arial"/>
                <a:ea typeface="Arial"/>
                <a:cs typeface="Arial"/>
                <a:sym typeface="Arial"/>
              </a:rPr>
              <a:t>These VMs must be manually migrated using vSphere </a:t>
            </a:r>
            <a:r>
              <a:rPr lang="en-US" sz="800" dirty="0" err="1">
                <a:solidFill>
                  <a:schemeClr val="dk1"/>
                </a:solidFill>
                <a:latin typeface="Arial"/>
                <a:ea typeface="Arial"/>
                <a:cs typeface="Arial"/>
                <a:sym typeface="Arial"/>
              </a:rPr>
              <a:t>vMotion</a:t>
            </a:r>
            <a:r>
              <a:rPr lang="en-US" sz="800" dirty="0">
                <a:solidFill>
                  <a:schemeClr val="dk1"/>
                </a:solidFill>
                <a:latin typeface="Arial"/>
                <a:ea typeface="Arial"/>
                <a:cs typeface="Arial"/>
                <a:sym typeface="Arial"/>
              </a:rPr>
              <a:t> or power cycled to pick up a new patched </a:t>
            </a:r>
            <a:r>
              <a:rPr lang="en-US" sz="800" dirty="0" err="1">
                <a:solidFill>
                  <a:schemeClr val="dk1"/>
                </a:solidFill>
                <a:latin typeface="Arial"/>
                <a:ea typeface="Arial"/>
                <a:cs typeface="Arial"/>
                <a:sym typeface="Arial"/>
              </a:rPr>
              <a:t>vmx</a:t>
            </a:r>
            <a:r>
              <a:rPr lang="en-US" sz="800" dirty="0">
                <a:solidFill>
                  <a:schemeClr val="dk1"/>
                </a:solidFill>
                <a:latin typeface="Arial"/>
                <a:ea typeface="Arial"/>
                <a:cs typeface="Arial"/>
                <a:sym typeface="Arial"/>
              </a:rPr>
              <a:t> instance.</a:t>
            </a:r>
            <a:endParaRPr lang="en-US" dirty="0"/>
          </a:p>
          <a:p>
            <a:pPr marL="0" marR="0" lvl="0" indent="0" algn="l" rtl="0">
              <a:lnSpc>
                <a:spcPct val="80000"/>
              </a:lnSpc>
              <a:spcBef>
                <a:spcPts val="0"/>
              </a:spcBef>
              <a:spcAft>
                <a:spcPts val="0"/>
              </a:spcAft>
              <a:buClr>
                <a:schemeClr val="dk1"/>
              </a:buClr>
              <a:buSzPts val="480"/>
              <a:buFont typeface="Arial"/>
              <a:buNone/>
            </a:pPr>
            <a:br>
              <a:rPr lang="en-US" sz="800" dirty="0">
                <a:solidFill>
                  <a:schemeClr val="dk1"/>
                </a:solidFill>
                <a:latin typeface="Arial"/>
                <a:ea typeface="Arial"/>
                <a:cs typeface="Arial"/>
                <a:sym typeface="Arial"/>
              </a:rPr>
            </a:br>
            <a:r>
              <a:rPr lang="en-US" sz="800" b="1" dirty="0">
                <a:solidFill>
                  <a:schemeClr val="dk1"/>
                </a:solidFill>
                <a:latin typeface="Arial"/>
                <a:ea typeface="Arial"/>
                <a:cs typeface="Arial"/>
                <a:sym typeface="Arial"/>
              </a:rPr>
              <a:t>Resources:</a:t>
            </a:r>
            <a:endParaRPr lang="en-US" dirty="0"/>
          </a:p>
          <a:p>
            <a:endParaRPr lang="en-US" dirty="0"/>
          </a:p>
        </p:txBody>
      </p:sp>
      <p:sp>
        <p:nvSpPr>
          <p:cNvPr id="4" name="Slide Number Placeholder 3">
            <a:extLst>
              <a:ext uri="{FF2B5EF4-FFF2-40B4-BE49-F238E27FC236}">
                <a16:creationId xmlns:a16="http://schemas.microsoft.com/office/drawing/2014/main" id="{4247C02D-BC12-EBDE-EDEB-F51DB766B69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411261128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E8C9E-8A49-4BCC-FD85-7BE403DAC7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F1807-670A-1B19-D0E9-C435903628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1A53A-E6BB-3D39-FF6F-12EEEAEF7B0D}"/>
              </a:ext>
            </a:extLst>
          </p:cNvPr>
          <p:cNvSpPr>
            <a:spLocks noGrp="1"/>
          </p:cNvSpPr>
          <p:nvPr>
            <p:ph type="body" idx="1"/>
          </p:nvPr>
        </p:nvSpPr>
        <p:spPr/>
        <p:txBody>
          <a:bodyPr/>
          <a:lstStyle/>
          <a:p>
            <a:pPr marL="0" marR="0" lvl="0" indent="0" algn="l" defTabSz="914400" rtl="0" eaLnBrk="1" fontAlgn="auto" latinLnBrk="0" hangingPunct="1">
              <a:lnSpc>
                <a:spcPct val="40000"/>
              </a:lnSpc>
              <a:spcBef>
                <a:spcPts val="0"/>
              </a:spcBef>
              <a:spcAft>
                <a:spcPts val="0"/>
              </a:spcAft>
              <a:buClr>
                <a:schemeClr val="dk1"/>
              </a:buClr>
              <a:buSzPts val="713"/>
              <a:buFont typeface="Arial"/>
              <a:buNone/>
              <a:tabLst/>
              <a:defRPr/>
            </a:pPr>
            <a:r>
              <a:rPr lang="en-US" sz="700" b="1" dirty="0">
                <a:latin typeface="Metropolis" pitchFamily="2" charset="77"/>
              </a:rPr>
              <a:t>Presenter Note:  This slide contains animation</a:t>
            </a:r>
            <a:endParaRPr lang="en-US" sz="100" b="1" dirty="0">
              <a:latin typeface="Arial"/>
              <a:ea typeface="Arial"/>
              <a:cs typeface="Arial"/>
              <a:sym typeface="Arial"/>
            </a:endParaRPr>
          </a:p>
          <a:p>
            <a:pPr marL="0" lvl="0" indent="0" algn="l" rtl="0">
              <a:lnSpc>
                <a:spcPct val="40000"/>
              </a:lnSpc>
              <a:spcBef>
                <a:spcPts val="0"/>
              </a:spcBef>
              <a:spcAft>
                <a:spcPts val="0"/>
              </a:spcAft>
              <a:buClr>
                <a:schemeClr val="dk1"/>
              </a:buClr>
              <a:buSzPts val="713"/>
              <a:buFont typeface="Arial"/>
              <a:buNone/>
            </a:pPr>
            <a:endParaRPr lang="en-US" sz="100" b="1" dirty="0">
              <a:latin typeface="Arial"/>
              <a:ea typeface="Arial"/>
              <a:cs typeface="Arial"/>
              <a:sym typeface="Arial"/>
            </a:endParaRPr>
          </a:p>
          <a:p>
            <a:pPr marL="0" lvl="0" indent="0" algn="l" rtl="0">
              <a:lnSpc>
                <a:spcPct val="40000"/>
              </a:lnSpc>
              <a:spcBef>
                <a:spcPts val="0"/>
              </a:spcBef>
              <a:spcAft>
                <a:spcPts val="0"/>
              </a:spcAft>
              <a:buClr>
                <a:schemeClr val="dk1"/>
              </a:buClr>
              <a:buSzPts val="713"/>
              <a:buFont typeface="Arial"/>
              <a:buNone/>
            </a:pPr>
            <a:r>
              <a:rPr lang="en-US" sz="100" b="1" dirty="0">
                <a:latin typeface="Arial"/>
                <a:ea typeface="Arial"/>
                <a:cs typeface="Arial"/>
                <a:sym typeface="Arial"/>
              </a:rPr>
              <a:t>Key Message:</a:t>
            </a:r>
            <a:endParaRPr lang="en-US" sz="200" b="1" dirty="0">
              <a:latin typeface="Arial"/>
              <a:ea typeface="Arial"/>
              <a:cs typeface="Arial"/>
              <a:sym typeface="Arial"/>
            </a:endParaRPr>
          </a:p>
          <a:p>
            <a:pPr marL="0" lvl="0" indent="0" algn="l" rtl="0">
              <a:lnSpc>
                <a:spcPct val="40000"/>
              </a:lnSpc>
              <a:spcBef>
                <a:spcPts val="0"/>
              </a:spcBef>
              <a:spcAft>
                <a:spcPts val="0"/>
              </a:spcAft>
              <a:buClr>
                <a:schemeClr val="dk1"/>
              </a:buClr>
              <a:buSzPts val="713"/>
              <a:buFont typeface="Arial"/>
              <a:buNone/>
            </a:pPr>
            <a:r>
              <a:rPr lang="en-US" sz="350" dirty="0"/>
              <a:t>Suite Lifecycle convergence into VCF Operations console through the VCF Ops Fleet management appliance.</a:t>
            </a:r>
            <a:endParaRPr lang="en-US" sz="100" dirty="0">
              <a:latin typeface="Arial"/>
              <a:ea typeface="Arial"/>
              <a:cs typeface="Arial"/>
              <a:sym typeface="Arial"/>
            </a:endParaRPr>
          </a:p>
          <a:p>
            <a:pPr marL="0" lvl="0" indent="0" algn="l" rtl="0">
              <a:lnSpc>
                <a:spcPct val="40000"/>
              </a:lnSpc>
              <a:spcBef>
                <a:spcPts val="0"/>
              </a:spcBef>
              <a:spcAft>
                <a:spcPts val="0"/>
              </a:spcAft>
              <a:buClr>
                <a:schemeClr val="dk1"/>
              </a:buClr>
              <a:buSzPts val="713"/>
              <a:buFont typeface="Arial"/>
              <a:buNone/>
            </a:pPr>
            <a:br>
              <a:rPr lang="en-US" sz="100" dirty="0">
                <a:latin typeface="Arial"/>
                <a:ea typeface="Arial"/>
                <a:cs typeface="Arial"/>
                <a:sym typeface="Arial"/>
              </a:rPr>
            </a:br>
            <a:r>
              <a:rPr lang="en-US" sz="100" b="1" dirty="0">
                <a:latin typeface="Arial"/>
                <a:ea typeface="Arial"/>
                <a:cs typeface="Arial"/>
                <a:sym typeface="Arial"/>
              </a:rPr>
              <a:t>Talk Track:</a:t>
            </a:r>
            <a:br>
              <a:rPr lang="en-US" sz="100" b="1" dirty="0">
                <a:latin typeface="Arial"/>
                <a:ea typeface="Arial"/>
                <a:cs typeface="Arial"/>
                <a:sym typeface="Arial"/>
              </a:rPr>
            </a:br>
            <a:r>
              <a:rPr lang="en-US" sz="448" b="0" i="0" u="none" strike="noStrike" dirty="0">
                <a:solidFill>
                  <a:srgbClr val="000000"/>
                </a:solidFill>
                <a:latin typeface="Arial"/>
                <a:ea typeface="Arial"/>
                <a:cs typeface="Arial"/>
                <a:sym typeface="Arial"/>
              </a:rPr>
              <a:t>The VCF Operations fleet management serves as a lifecycle manager for management components, facilitating Day-2 operations such as upgrades, certificate and password management, patching, scaling (up and out), snapshot management, marketplace integration and Git integration management. </a:t>
            </a:r>
            <a:endParaRPr lang="en-US" dirty="0"/>
          </a:p>
          <a:p>
            <a:pPr marL="0" lvl="0" indent="0" algn="l" rtl="0">
              <a:lnSpc>
                <a:spcPct val="40000"/>
              </a:lnSpc>
              <a:spcBef>
                <a:spcPts val="0"/>
              </a:spcBef>
              <a:spcAft>
                <a:spcPts val="0"/>
              </a:spcAft>
              <a:buClr>
                <a:schemeClr val="dk1"/>
              </a:buClr>
              <a:buSzPts val="713"/>
              <a:buFont typeface="Arial"/>
              <a:buNone/>
            </a:pPr>
            <a:endParaRPr lang="en-US" sz="448" b="0" i="0" u="none" strike="noStrike" dirty="0">
              <a:solidFill>
                <a:srgbClr val="000000"/>
              </a:solidFill>
              <a:latin typeface="Arial"/>
              <a:ea typeface="Arial"/>
              <a:cs typeface="Arial"/>
              <a:sym typeface="Arial"/>
            </a:endParaRPr>
          </a:p>
          <a:p>
            <a:pPr marL="0" lvl="0" indent="0" algn="l" rtl="0">
              <a:lnSpc>
                <a:spcPct val="40000"/>
              </a:lnSpc>
              <a:spcBef>
                <a:spcPts val="0"/>
              </a:spcBef>
              <a:spcAft>
                <a:spcPts val="0"/>
              </a:spcAft>
              <a:buClr>
                <a:schemeClr val="dk1"/>
              </a:buClr>
              <a:buSzPts val="713"/>
              <a:buFont typeface="Arial"/>
              <a:buNone/>
            </a:pPr>
            <a:r>
              <a:rPr lang="en-US" sz="448" b="0" i="0" u="none" strike="noStrike" dirty="0">
                <a:solidFill>
                  <a:srgbClr val="000000"/>
                </a:solidFill>
                <a:latin typeface="Arial"/>
                <a:ea typeface="Arial"/>
                <a:cs typeface="Arial"/>
                <a:sym typeface="Arial"/>
              </a:rPr>
              <a:t>Fleet Management provides lifecycle capabilities for: </a:t>
            </a:r>
            <a:endParaRPr lang="en-US" sz="448" b="0" i="0" u="none" strike="noStrike" dirty="0">
              <a:solidFill>
                <a:srgbClr val="CC092F"/>
              </a:solidFill>
              <a:latin typeface="Arial"/>
              <a:ea typeface="Arial"/>
              <a:cs typeface="Arial"/>
              <a:sym typeface="Arial"/>
            </a:endParaRPr>
          </a:p>
          <a:p>
            <a:pPr marL="742950" lvl="1" indent="-285750" algn="l" rtl="0">
              <a:lnSpc>
                <a:spcPct val="80000"/>
              </a:lnSpc>
              <a:spcBef>
                <a:spcPts val="0"/>
              </a:spcBef>
              <a:spcAft>
                <a:spcPts val="0"/>
              </a:spcAft>
              <a:buClr>
                <a:srgbClr val="000000"/>
              </a:buClr>
              <a:buSzPts val="449"/>
              <a:buFont typeface="Arial"/>
              <a:buChar char="•"/>
            </a:pPr>
            <a:r>
              <a:rPr lang="en-US" sz="448" b="0" i="0" u="none" strike="noStrike" dirty="0">
                <a:solidFill>
                  <a:srgbClr val="000000"/>
                </a:solidFill>
                <a:latin typeface="Arial"/>
                <a:ea typeface="Arial"/>
                <a:cs typeface="Arial"/>
                <a:sym typeface="Arial"/>
              </a:rPr>
              <a:t>Operations</a:t>
            </a:r>
            <a:endParaRPr lang="en-US" sz="448" b="0" i="0" u="none" strike="noStrike" dirty="0">
              <a:solidFill>
                <a:srgbClr val="CC092F"/>
              </a:solidFill>
              <a:latin typeface="Arial"/>
              <a:ea typeface="Arial"/>
              <a:cs typeface="Arial"/>
              <a:sym typeface="Arial"/>
            </a:endParaRPr>
          </a:p>
          <a:p>
            <a:pPr marL="742950" lvl="1" indent="-285750" algn="l" rtl="0">
              <a:lnSpc>
                <a:spcPct val="80000"/>
              </a:lnSpc>
              <a:spcBef>
                <a:spcPts val="0"/>
              </a:spcBef>
              <a:spcAft>
                <a:spcPts val="0"/>
              </a:spcAft>
              <a:buClr>
                <a:srgbClr val="000000"/>
              </a:buClr>
              <a:buSzPts val="449"/>
              <a:buFont typeface="Arial"/>
              <a:buChar char="•"/>
            </a:pPr>
            <a:r>
              <a:rPr lang="en-US" sz="448" b="0" i="0" u="none" strike="noStrike" dirty="0">
                <a:solidFill>
                  <a:srgbClr val="000000"/>
                </a:solidFill>
                <a:latin typeface="Arial"/>
                <a:ea typeface="Arial"/>
                <a:cs typeface="Arial"/>
                <a:sym typeface="Arial"/>
              </a:rPr>
              <a:t>Operations for Networks</a:t>
            </a:r>
            <a:endParaRPr lang="en-US" sz="448" b="0" i="0" u="none" strike="noStrike" dirty="0">
              <a:solidFill>
                <a:srgbClr val="CC092F"/>
              </a:solidFill>
              <a:latin typeface="Arial"/>
              <a:ea typeface="Arial"/>
              <a:cs typeface="Arial"/>
              <a:sym typeface="Arial"/>
            </a:endParaRPr>
          </a:p>
          <a:p>
            <a:pPr marL="742950" lvl="1" indent="-285750" algn="l" rtl="0">
              <a:lnSpc>
                <a:spcPct val="80000"/>
              </a:lnSpc>
              <a:spcBef>
                <a:spcPts val="0"/>
              </a:spcBef>
              <a:spcAft>
                <a:spcPts val="0"/>
              </a:spcAft>
              <a:buClr>
                <a:srgbClr val="000000"/>
              </a:buClr>
              <a:buSzPts val="449"/>
              <a:buFont typeface="Arial"/>
              <a:buChar char="•"/>
            </a:pPr>
            <a:r>
              <a:rPr lang="en-US" sz="448" b="0" i="0" u="none" strike="noStrike" dirty="0">
                <a:solidFill>
                  <a:srgbClr val="000000"/>
                </a:solidFill>
                <a:latin typeface="Arial"/>
                <a:ea typeface="Arial"/>
                <a:cs typeface="Arial"/>
                <a:sym typeface="Arial"/>
              </a:rPr>
              <a:t>Operations for Logs</a:t>
            </a:r>
            <a:endParaRPr lang="en-US" sz="448" b="0" i="0" u="none" strike="noStrike" dirty="0">
              <a:solidFill>
                <a:srgbClr val="CC092F"/>
              </a:solidFill>
              <a:latin typeface="Arial"/>
              <a:ea typeface="Arial"/>
              <a:cs typeface="Arial"/>
              <a:sym typeface="Arial"/>
            </a:endParaRPr>
          </a:p>
          <a:p>
            <a:pPr marL="742950" lvl="1" indent="-285750" algn="l" rtl="0">
              <a:lnSpc>
                <a:spcPct val="80000"/>
              </a:lnSpc>
              <a:spcBef>
                <a:spcPts val="0"/>
              </a:spcBef>
              <a:spcAft>
                <a:spcPts val="0"/>
              </a:spcAft>
              <a:buClr>
                <a:srgbClr val="000000"/>
              </a:buClr>
              <a:buSzPts val="449"/>
              <a:buFont typeface="Arial"/>
              <a:buChar char="•"/>
            </a:pPr>
            <a:r>
              <a:rPr lang="en-US" sz="448" b="0" i="0" u="none" strike="noStrike" dirty="0">
                <a:solidFill>
                  <a:srgbClr val="000000"/>
                </a:solidFill>
                <a:latin typeface="Arial"/>
                <a:ea typeface="Arial"/>
                <a:cs typeface="Arial"/>
                <a:sym typeface="Arial"/>
              </a:rPr>
              <a:t>Automation</a:t>
            </a:r>
            <a:endParaRPr lang="en-US" sz="448" b="0" i="0" u="none" strike="noStrike" dirty="0">
              <a:solidFill>
                <a:srgbClr val="CC092F"/>
              </a:solidFill>
              <a:latin typeface="Arial"/>
              <a:ea typeface="Arial"/>
              <a:cs typeface="Arial"/>
              <a:sym typeface="Arial"/>
            </a:endParaRPr>
          </a:p>
          <a:p>
            <a:pPr marL="742950" lvl="1" indent="-285750" algn="l" rtl="0">
              <a:lnSpc>
                <a:spcPct val="80000"/>
              </a:lnSpc>
              <a:spcBef>
                <a:spcPts val="0"/>
              </a:spcBef>
              <a:spcAft>
                <a:spcPts val="0"/>
              </a:spcAft>
              <a:buClr>
                <a:srgbClr val="000000"/>
              </a:buClr>
              <a:buSzPts val="449"/>
              <a:buFont typeface="Arial"/>
              <a:buChar char="•"/>
            </a:pPr>
            <a:r>
              <a:rPr lang="en-US" sz="448" b="0" i="0" u="none" strike="noStrike" dirty="0">
                <a:solidFill>
                  <a:srgbClr val="000000"/>
                </a:solidFill>
                <a:latin typeface="Arial"/>
                <a:ea typeface="Arial"/>
                <a:cs typeface="Arial"/>
                <a:sym typeface="Arial"/>
              </a:rPr>
              <a:t>Identity Broker</a:t>
            </a:r>
            <a:endParaRPr lang="en-US" dirty="0"/>
          </a:p>
          <a:p>
            <a:pPr marL="742950" lvl="1" indent="-257237" algn="l" rtl="0">
              <a:lnSpc>
                <a:spcPct val="80000"/>
              </a:lnSpc>
              <a:spcBef>
                <a:spcPts val="0"/>
              </a:spcBef>
              <a:spcAft>
                <a:spcPts val="0"/>
              </a:spcAft>
              <a:buClr>
                <a:schemeClr val="dk1"/>
              </a:buClr>
              <a:buSzPts val="449"/>
              <a:buFont typeface="Arial"/>
              <a:buNone/>
            </a:pPr>
            <a:endParaRPr lang="en-US" sz="448" b="0" i="0" u="none" strike="noStrike" dirty="0">
              <a:solidFill>
                <a:srgbClr val="000000"/>
              </a:solidFill>
              <a:latin typeface="Arial"/>
              <a:ea typeface="Arial"/>
              <a:cs typeface="Arial"/>
              <a:sym typeface="Arial"/>
            </a:endParaRPr>
          </a:p>
          <a:p>
            <a:pPr marL="0" lvl="0" indent="0" algn="l" rtl="0">
              <a:lnSpc>
                <a:spcPct val="80000"/>
              </a:lnSpc>
              <a:spcBef>
                <a:spcPts val="1500"/>
              </a:spcBef>
              <a:spcAft>
                <a:spcPts val="0"/>
              </a:spcAft>
              <a:buClr>
                <a:srgbClr val="000000"/>
              </a:buClr>
              <a:buSzPts val="450"/>
              <a:buFont typeface="Arial"/>
              <a:buNone/>
            </a:pPr>
            <a:r>
              <a:rPr lang="en-US" sz="450" b="0" i="0" u="none" strike="noStrike" dirty="0">
                <a:solidFill>
                  <a:srgbClr val="000000"/>
                </a:solidFill>
                <a:latin typeface="Arial"/>
                <a:ea typeface="Arial"/>
                <a:cs typeface="Arial"/>
                <a:sym typeface="Arial"/>
              </a:rPr>
              <a:t>The Overview page provides a single pane view of all the features which are enabled.</a:t>
            </a:r>
            <a:endParaRPr lang="en-US" sz="700" b="0" dirty="0"/>
          </a:p>
          <a:p>
            <a:pPr marL="0" lvl="0" indent="0" algn="l" rtl="0">
              <a:lnSpc>
                <a:spcPct val="80000"/>
              </a:lnSpc>
              <a:spcBef>
                <a:spcPts val="1500"/>
              </a:spcBef>
              <a:spcAft>
                <a:spcPts val="0"/>
              </a:spcAft>
              <a:buClr>
                <a:schemeClr val="dk1"/>
              </a:buClr>
              <a:buSzPts val="700"/>
              <a:buFont typeface="Arial"/>
              <a:buNone/>
            </a:pPr>
            <a:br>
              <a:rPr lang="en-US" sz="700" dirty="0"/>
            </a:br>
            <a:r>
              <a:rPr lang="en-US" sz="448" b="0" i="0" u="none" strike="noStrike" dirty="0">
                <a:solidFill>
                  <a:srgbClr val="000000"/>
                </a:solidFill>
                <a:latin typeface="Arial"/>
                <a:ea typeface="Arial"/>
                <a:cs typeface="Arial"/>
                <a:sym typeface="Arial"/>
              </a:rPr>
              <a:t>&lt;click 1&gt;</a:t>
            </a:r>
          </a:p>
          <a:p>
            <a:pPr marL="0" lvl="0" indent="0" algn="l" rtl="0">
              <a:lnSpc>
                <a:spcPct val="80000"/>
              </a:lnSpc>
              <a:spcBef>
                <a:spcPts val="1200"/>
              </a:spcBef>
              <a:spcAft>
                <a:spcPts val="0"/>
              </a:spcAft>
              <a:buClr>
                <a:srgbClr val="000000"/>
              </a:buClr>
              <a:buSzPts val="325"/>
              <a:buFont typeface="Arial"/>
              <a:buNone/>
            </a:pPr>
            <a:r>
              <a:rPr lang="en-US" sz="325" b="0" i="0" u="none" strike="noStrike" dirty="0">
                <a:solidFill>
                  <a:srgbClr val="000000"/>
                </a:solidFill>
                <a:latin typeface="Arial"/>
                <a:ea typeface="Arial"/>
                <a:cs typeface="Arial"/>
                <a:sym typeface="Arial"/>
              </a:rPr>
              <a:t>There are two types of depot configurations:</a:t>
            </a:r>
            <a:endParaRPr lang="en-US" sz="300" b="0" dirty="0"/>
          </a:p>
          <a:p>
            <a:pPr marL="0" lvl="0" indent="0" algn="l" rtl="0">
              <a:lnSpc>
                <a:spcPct val="80000"/>
              </a:lnSpc>
              <a:spcBef>
                <a:spcPts val="1200"/>
              </a:spcBef>
              <a:spcAft>
                <a:spcPts val="0"/>
              </a:spcAft>
              <a:buClr>
                <a:srgbClr val="000000"/>
              </a:buClr>
              <a:buSzPts val="325"/>
              <a:buFont typeface="Arial"/>
              <a:buNone/>
            </a:pPr>
            <a:r>
              <a:rPr lang="en-US" sz="325" b="0" i="0" u="sng" strike="noStrike" dirty="0">
                <a:solidFill>
                  <a:srgbClr val="000000"/>
                </a:solidFill>
                <a:latin typeface="Arial"/>
                <a:ea typeface="Arial"/>
                <a:cs typeface="Arial"/>
                <a:sym typeface="Arial"/>
              </a:rPr>
              <a:t>Online Depot:</a:t>
            </a:r>
            <a:endParaRPr lang="en-US" sz="300" b="0" u="sng" dirty="0"/>
          </a:p>
          <a:p>
            <a:pPr marL="0" lvl="0" indent="-20637" algn="l" rtl="0">
              <a:lnSpc>
                <a:spcPct val="80000"/>
              </a:lnSpc>
              <a:spcBef>
                <a:spcPts val="1200"/>
              </a:spcBef>
              <a:spcAft>
                <a:spcPts val="0"/>
              </a:spcAft>
              <a:buClr>
                <a:srgbClr val="000000"/>
              </a:buClr>
              <a:buSzPts val="325"/>
              <a:buFont typeface="Arial"/>
              <a:buChar char="•"/>
            </a:pPr>
            <a:r>
              <a:rPr lang="en-US" sz="325" b="0" i="0" u="none" strike="noStrike" dirty="0">
                <a:solidFill>
                  <a:srgbClr val="000000"/>
                </a:solidFill>
                <a:latin typeface="Arial"/>
                <a:ea typeface="Arial"/>
                <a:cs typeface="Arial"/>
                <a:sym typeface="Arial"/>
              </a:rPr>
              <a:t>If fleet management is connected to the internet, then: </a:t>
            </a:r>
            <a:endParaRPr lang="en-US" dirty="0"/>
          </a:p>
          <a:p>
            <a:pPr marL="742950" lvl="1" indent="-285750" algn="l" rtl="0">
              <a:lnSpc>
                <a:spcPct val="80000"/>
              </a:lnSpc>
              <a:spcBef>
                <a:spcPts val="0"/>
              </a:spcBef>
              <a:spcAft>
                <a:spcPts val="0"/>
              </a:spcAft>
              <a:buClr>
                <a:srgbClr val="000000"/>
              </a:buClr>
              <a:buSzPts val="325"/>
              <a:buFont typeface="Arial"/>
              <a:buChar char="•"/>
            </a:pPr>
            <a:r>
              <a:rPr lang="en-US" sz="325" b="0" i="0" u="none" strike="noStrike" dirty="0">
                <a:solidFill>
                  <a:srgbClr val="000000"/>
                </a:solidFill>
                <a:latin typeface="Arial"/>
                <a:ea typeface="Arial"/>
                <a:cs typeface="Arial"/>
                <a:sym typeface="Arial"/>
              </a:rPr>
              <a:t>Generate Unique ID from Broadcom Support Portal</a:t>
            </a:r>
            <a:endParaRPr lang="en-US" dirty="0"/>
          </a:p>
          <a:p>
            <a:pPr marL="742950" lvl="1" indent="-285750" algn="l" rtl="0">
              <a:lnSpc>
                <a:spcPct val="80000"/>
              </a:lnSpc>
              <a:spcBef>
                <a:spcPts val="0"/>
              </a:spcBef>
              <a:spcAft>
                <a:spcPts val="0"/>
              </a:spcAft>
              <a:buClr>
                <a:srgbClr val="000000"/>
              </a:buClr>
              <a:buSzPts val="325"/>
              <a:buFont typeface="Arial"/>
              <a:buChar char="•"/>
            </a:pPr>
            <a:r>
              <a:rPr lang="en-US" sz="325" b="0" i="0" u="none" strike="noStrike" dirty="0">
                <a:solidFill>
                  <a:srgbClr val="000000"/>
                </a:solidFill>
                <a:latin typeface="Arial"/>
                <a:ea typeface="Arial"/>
                <a:cs typeface="Arial"/>
                <a:sym typeface="Arial"/>
              </a:rPr>
              <a:t>Save the configuration after accepting certificate</a:t>
            </a:r>
            <a:endParaRPr lang="en-US" dirty="0"/>
          </a:p>
          <a:p>
            <a:pPr marL="742950" lvl="1" indent="-285750" algn="l" rtl="0">
              <a:lnSpc>
                <a:spcPct val="80000"/>
              </a:lnSpc>
              <a:spcBef>
                <a:spcPts val="0"/>
              </a:spcBef>
              <a:spcAft>
                <a:spcPts val="0"/>
              </a:spcAft>
              <a:buClr>
                <a:srgbClr val="000000"/>
              </a:buClr>
              <a:buSzPts val="325"/>
              <a:buFont typeface="Arial"/>
              <a:buChar char="•"/>
            </a:pPr>
            <a:r>
              <a:rPr lang="en-US" sz="325" b="0" i="0" u="none" strike="noStrike" dirty="0">
                <a:solidFill>
                  <a:srgbClr val="000000"/>
                </a:solidFill>
                <a:latin typeface="Arial"/>
                <a:ea typeface="Arial"/>
                <a:cs typeface="Arial"/>
                <a:sym typeface="Arial"/>
              </a:rPr>
              <a:t>The connection between FL and the depot is established</a:t>
            </a:r>
            <a:endParaRPr lang="en-US" dirty="0"/>
          </a:p>
          <a:p>
            <a:pPr marL="0" lvl="0" indent="-20637" algn="l" rtl="0">
              <a:lnSpc>
                <a:spcPct val="80000"/>
              </a:lnSpc>
              <a:spcBef>
                <a:spcPts val="0"/>
              </a:spcBef>
              <a:spcAft>
                <a:spcPts val="0"/>
              </a:spcAft>
              <a:buClr>
                <a:srgbClr val="000000"/>
              </a:buClr>
              <a:buSzPts val="325"/>
              <a:buFont typeface="Arial"/>
              <a:buChar char="•"/>
            </a:pPr>
            <a:r>
              <a:rPr lang="en-US" sz="325" b="0" i="0" u="none" strike="noStrike" dirty="0">
                <a:solidFill>
                  <a:srgbClr val="000000"/>
                </a:solidFill>
                <a:latin typeface="Arial"/>
                <a:ea typeface="Arial"/>
                <a:cs typeface="Arial"/>
                <a:sym typeface="Arial"/>
              </a:rPr>
              <a:t>Binaries of Install, patch and Upgrade will now be available for downloads</a:t>
            </a:r>
            <a:endParaRPr lang="en-US" dirty="0"/>
          </a:p>
          <a:p>
            <a:pPr marL="0" lvl="0" indent="0" algn="l" rtl="0">
              <a:lnSpc>
                <a:spcPct val="80000"/>
              </a:lnSpc>
              <a:spcBef>
                <a:spcPts val="1200"/>
              </a:spcBef>
              <a:spcAft>
                <a:spcPts val="0"/>
              </a:spcAft>
              <a:buClr>
                <a:schemeClr val="dk1"/>
              </a:buClr>
              <a:buSzPts val="325"/>
              <a:buFont typeface="Arial"/>
              <a:buNone/>
            </a:pPr>
            <a:endParaRPr lang="en-US" sz="325" b="0" i="0" u="none" strike="noStrike" dirty="0">
              <a:solidFill>
                <a:srgbClr val="000000"/>
              </a:solidFill>
              <a:latin typeface="Arial"/>
              <a:ea typeface="Arial"/>
              <a:cs typeface="Arial"/>
              <a:sym typeface="Arial"/>
            </a:endParaRPr>
          </a:p>
          <a:p>
            <a:pPr marL="0" lvl="0" indent="0" algn="l" rtl="0">
              <a:lnSpc>
                <a:spcPct val="80000"/>
              </a:lnSpc>
              <a:spcBef>
                <a:spcPts val="1200"/>
              </a:spcBef>
              <a:spcAft>
                <a:spcPts val="0"/>
              </a:spcAft>
              <a:buClr>
                <a:srgbClr val="000000"/>
              </a:buClr>
              <a:buSzPts val="325"/>
              <a:buFont typeface="Arial"/>
              <a:buNone/>
            </a:pPr>
            <a:r>
              <a:rPr lang="en-US" sz="325" b="0" i="0" u="sng" strike="noStrike" dirty="0">
                <a:solidFill>
                  <a:srgbClr val="000000"/>
                </a:solidFill>
                <a:latin typeface="Arial"/>
                <a:ea typeface="Arial"/>
                <a:cs typeface="Arial"/>
                <a:sym typeface="Arial"/>
              </a:rPr>
              <a:t>Offline Depot:</a:t>
            </a:r>
            <a:endParaRPr lang="en-US" sz="300" b="0" u="sng" dirty="0"/>
          </a:p>
          <a:p>
            <a:pPr marL="0" lvl="0" indent="-20637" algn="l" rtl="0">
              <a:lnSpc>
                <a:spcPct val="80000"/>
              </a:lnSpc>
              <a:spcBef>
                <a:spcPts val="1200"/>
              </a:spcBef>
              <a:spcAft>
                <a:spcPts val="0"/>
              </a:spcAft>
              <a:buClr>
                <a:srgbClr val="000000"/>
              </a:buClr>
              <a:buSzPts val="325"/>
              <a:buFont typeface="Arial"/>
              <a:buChar char="•"/>
            </a:pPr>
            <a:r>
              <a:rPr lang="en-US" sz="325" b="0" i="0" u="none" strike="noStrike" dirty="0">
                <a:solidFill>
                  <a:srgbClr val="000000"/>
                </a:solidFill>
                <a:latin typeface="Arial"/>
                <a:ea typeface="Arial"/>
                <a:cs typeface="Arial"/>
                <a:sym typeface="Arial"/>
              </a:rPr>
              <a:t>Download bundles using OBTU and expose it to fleet management via a web server. This is an air-gapped scenario.</a:t>
            </a:r>
            <a:endParaRPr lang="en-US" dirty="0"/>
          </a:p>
          <a:p>
            <a:pPr marL="0" lvl="0" indent="-20637" algn="l" rtl="0">
              <a:lnSpc>
                <a:spcPct val="80000"/>
              </a:lnSpc>
              <a:spcBef>
                <a:spcPts val="0"/>
              </a:spcBef>
              <a:spcAft>
                <a:spcPts val="0"/>
              </a:spcAft>
              <a:buClr>
                <a:srgbClr val="000000"/>
              </a:buClr>
              <a:buSzPts val="325"/>
              <a:buFont typeface="Arial"/>
              <a:buChar char="•"/>
            </a:pPr>
            <a:r>
              <a:rPr lang="en-US" sz="325" b="0" i="0" u="none" strike="noStrike" dirty="0">
                <a:solidFill>
                  <a:srgbClr val="000000"/>
                </a:solidFill>
                <a:latin typeface="Arial"/>
                <a:ea typeface="Arial"/>
                <a:cs typeface="Arial"/>
                <a:sym typeface="Arial"/>
              </a:rPr>
              <a:t>Download bundles on OBTU &amp; transfer them over to fleet management to map them locally. This is a dark site scenario.</a:t>
            </a:r>
            <a:endParaRPr lang="en-US" dirty="0"/>
          </a:p>
          <a:p>
            <a:pPr marL="0" lvl="0" indent="0" algn="l" rtl="0">
              <a:lnSpc>
                <a:spcPct val="80000"/>
              </a:lnSpc>
              <a:spcBef>
                <a:spcPts val="0"/>
              </a:spcBef>
              <a:spcAft>
                <a:spcPts val="0"/>
              </a:spcAft>
              <a:buClr>
                <a:schemeClr val="dk1"/>
              </a:buClr>
              <a:buSzPts val="449"/>
              <a:buFont typeface="Arial"/>
              <a:buNone/>
            </a:pPr>
            <a:endParaRPr lang="en-US" sz="448" b="0" i="0" u="none" strike="noStrike" dirty="0">
              <a:solidFill>
                <a:srgbClr val="000000"/>
              </a:solidFill>
              <a:latin typeface="Arial"/>
              <a:ea typeface="Arial"/>
              <a:cs typeface="Arial"/>
              <a:sym typeface="Arial"/>
            </a:endParaRPr>
          </a:p>
          <a:p>
            <a:pPr marL="0" lvl="0" indent="0" algn="l" rtl="0">
              <a:lnSpc>
                <a:spcPct val="80000"/>
              </a:lnSpc>
              <a:spcBef>
                <a:spcPts val="1200"/>
              </a:spcBef>
              <a:spcAft>
                <a:spcPts val="0"/>
              </a:spcAft>
              <a:buClr>
                <a:srgbClr val="000000"/>
              </a:buClr>
              <a:buSzPts val="450"/>
              <a:buFont typeface="Arial"/>
              <a:buNone/>
            </a:pPr>
            <a:r>
              <a:rPr lang="en-US" sz="450" b="0" i="0" u="none" strike="noStrike" dirty="0">
                <a:solidFill>
                  <a:srgbClr val="000000"/>
                </a:solidFill>
                <a:latin typeface="Arial"/>
                <a:ea typeface="Arial"/>
                <a:cs typeface="Arial"/>
                <a:sym typeface="Arial"/>
              </a:rPr>
              <a:t>Once the Depot is configured, fleet management will download the manifest as needed and then display all available and applicable binaries for installs, upgrades or patches.</a:t>
            </a:r>
            <a:endParaRPr lang="en-US" sz="448" b="0" i="0" u="none" strike="noStrike" dirty="0">
              <a:solidFill>
                <a:srgbClr val="000000"/>
              </a:solidFill>
              <a:latin typeface="Arial"/>
              <a:ea typeface="Arial"/>
              <a:cs typeface="Arial"/>
              <a:sym typeface="Arial"/>
            </a:endParaRPr>
          </a:p>
          <a:p>
            <a:pPr marL="0" lvl="0" indent="0" algn="l" rtl="0">
              <a:lnSpc>
                <a:spcPct val="80000"/>
              </a:lnSpc>
              <a:spcBef>
                <a:spcPts val="0"/>
              </a:spcBef>
              <a:spcAft>
                <a:spcPts val="0"/>
              </a:spcAft>
              <a:buClr>
                <a:schemeClr val="dk1"/>
              </a:buClr>
              <a:buSzPts val="449"/>
              <a:buFont typeface="Arial"/>
              <a:buNone/>
            </a:pPr>
            <a:endParaRPr lang="en-US" sz="448" b="0" i="0" u="none" strike="noStrike" dirty="0">
              <a:solidFill>
                <a:srgbClr val="000000"/>
              </a:solidFill>
              <a:latin typeface="Arial"/>
              <a:ea typeface="Arial"/>
              <a:cs typeface="Arial"/>
              <a:sym typeface="Arial"/>
            </a:endParaRPr>
          </a:p>
          <a:p>
            <a:pPr marL="0" lvl="0" indent="0" algn="l" rtl="0">
              <a:lnSpc>
                <a:spcPct val="80000"/>
              </a:lnSpc>
              <a:spcBef>
                <a:spcPts val="0"/>
              </a:spcBef>
              <a:spcAft>
                <a:spcPts val="0"/>
              </a:spcAft>
              <a:buClr>
                <a:srgbClr val="000000"/>
              </a:buClr>
              <a:buSzPts val="448"/>
              <a:buFont typeface="Arial"/>
              <a:buNone/>
            </a:pPr>
            <a:r>
              <a:rPr lang="en-US" sz="448" b="0" i="0" u="none" strike="noStrike" dirty="0">
                <a:solidFill>
                  <a:srgbClr val="000000"/>
                </a:solidFill>
                <a:latin typeface="Arial"/>
                <a:ea typeface="Arial"/>
                <a:cs typeface="Arial"/>
                <a:sym typeface="Arial"/>
              </a:rPr>
              <a:t>&lt;click 2&gt;</a:t>
            </a:r>
            <a:endParaRPr lang="en-US" dirty="0"/>
          </a:p>
          <a:p>
            <a:pPr marL="0" lvl="0" indent="0" algn="l" rtl="0">
              <a:lnSpc>
                <a:spcPct val="80000"/>
              </a:lnSpc>
              <a:spcBef>
                <a:spcPts val="1500"/>
              </a:spcBef>
              <a:spcAft>
                <a:spcPts val="0"/>
              </a:spcAft>
              <a:buClr>
                <a:srgbClr val="000000"/>
              </a:buClr>
              <a:buSzPts val="448"/>
              <a:buFont typeface="Arial"/>
              <a:buNone/>
            </a:pPr>
            <a:r>
              <a:rPr lang="en-US" sz="448" b="0" i="0" u="none" strike="noStrike" dirty="0">
                <a:solidFill>
                  <a:srgbClr val="000000"/>
                </a:solidFill>
                <a:latin typeface="Arial"/>
                <a:ea typeface="Arial"/>
                <a:cs typeface="Arial"/>
                <a:sym typeface="Arial"/>
              </a:rPr>
              <a:t>The </a:t>
            </a:r>
            <a:r>
              <a:rPr lang="en-US" sz="448" b="0" i="0" u="sng" strike="noStrike" dirty="0">
                <a:solidFill>
                  <a:srgbClr val="000000"/>
                </a:solidFill>
                <a:latin typeface="Arial"/>
                <a:ea typeface="Arial"/>
                <a:cs typeface="Arial"/>
                <a:sym typeface="Arial"/>
              </a:rPr>
              <a:t>Tasks</a:t>
            </a:r>
            <a:r>
              <a:rPr lang="en-US" sz="448" b="0" i="0" u="none" strike="noStrike" dirty="0">
                <a:solidFill>
                  <a:srgbClr val="000000"/>
                </a:solidFill>
                <a:latin typeface="Arial"/>
                <a:ea typeface="Arial"/>
                <a:cs typeface="Arial"/>
                <a:sym typeface="Arial"/>
              </a:rPr>
              <a:t> tab </a:t>
            </a:r>
            <a:r>
              <a:rPr lang="en-US" sz="450" b="0" i="0" u="none" strike="noStrike" dirty="0">
                <a:solidFill>
                  <a:srgbClr val="000000"/>
                </a:solidFill>
                <a:latin typeface="Arial"/>
                <a:ea typeface="Arial"/>
                <a:cs typeface="Arial"/>
                <a:sym typeface="Arial"/>
              </a:rPr>
              <a:t>displays all tasks executed by fleet management.</a:t>
            </a:r>
            <a:r>
              <a:rPr lang="en-US" sz="700" b="0" i="0" u="none" strike="noStrike" dirty="0">
                <a:solidFill>
                  <a:schemeClr val="dk1"/>
                </a:solidFill>
                <a:latin typeface="Arial"/>
                <a:ea typeface="Arial"/>
                <a:cs typeface="Arial"/>
                <a:sym typeface="Arial"/>
              </a:rPr>
              <a:t> </a:t>
            </a:r>
            <a:r>
              <a:rPr lang="en-US" sz="450" b="0" i="0" u="none" strike="noStrike" dirty="0">
                <a:solidFill>
                  <a:srgbClr val="000000"/>
                </a:solidFill>
                <a:latin typeface="Arial"/>
                <a:ea typeface="Arial"/>
                <a:cs typeface="Arial"/>
                <a:sym typeface="Arial"/>
              </a:rPr>
              <a:t>Each task can have multiple statuses and you can track the progress and manage every deployments from this page. </a:t>
            </a:r>
            <a:br>
              <a:rPr lang="en-US" sz="700" dirty="0"/>
            </a:br>
            <a:endParaRPr lang="en-US" sz="448" b="0" i="0" u="none" strike="noStrike" dirty="0">
              <a:solidFill>
                <a:srgbClr val="000000"/>
              </a:solidFill>
              <a:latin typeface="Arial"/>
              <a:ea typeface="Arial"/>
              <a:cs typeface="Arial"/>
              <a:sym typeface="Arial"/>
            </a:endParaRPr>
          </a:p>
          <a:p>
            <a:pPr marL="0" lvl="0" indent="0" algn="l" rtl="0">
              <a:lnSpc>
                <a:spcPct val="80000"/>
              </a:lnSpc>
              <a:spcBef>
                <a:spcPts val="3000"/>
              </a:spcBef>
              <a:spcAft>
                <a:spcPts val="0"/>
              </a:spcAft>
              <a:buClr>
                <a:srgbClr val="000000"/>
              </a:buClr>
              <a:buSzPts val="448"/>
              <a:buFont typeface="Arial"/>
              <a:buNone/>
            </a:pPr>
            <a:r>
              <a:rPr lang="en-US" sz="448" b="0" i="0" u="none" strike="noStrike" dirty="0">
                <a:solidFill>
                  <a:srgbClr val="000000"/>
                </a:solidFill>
                <a:latin typeface="Arial"/>
                <a:ea typeface="Arial"/>
                <a:cs typeface="Arial"/>
                <a:sym typeface="Arial"/>
              </a:rPr>
              <a:t>It also provides Backup and Restore mechanism for Automation, Identity Broker and Fleet Management itself.</a:t>
            </a:r>
            <a:endParaRPr lang="en-US" sz="448" b="0" i="0" u="none" strike="noStrike" dirty="0">
              <a:solidFill>
                <a:srgbClr val="CC092F"/>
              </a:solidFill>
              <a:latin typeface="Arial"/>
              <a:ea typeface="Arial"/>
              <a:cs typeface="Arial"/>
              <a:sym typeface="Arial"/>
            </a:endParaRPr>
          </a:p>
          <a:p>
            <a:pPr marL="0" lvl="0" indent="0" algn="l" rtl="0">
              <a:lnSpc>
                <a:spcPct val="40000"/>
              </a:lnSpc>
              <a:spcBef>
                <a:spcPts val="0"/>
              </a:spcBef>
              <a:spcAft>
                <a:spcPts val="0"/>
              </a:spcAft>
              <a:buClr>
                <a:schemeClr val="dk1"/>
              </a:buClr>
              <a:buSzPts val="713"/>
              <a:buFont typeface="Arial"/>
              <a:buNone/>
            </a:pPr>
            <a:endParaRPr lang="en-US" sz="208" dirty="0"/>
          </a:p>
          <a:p>
            <a:pPr marL="0" marR="0" lvl="0" indent="0" algn="l" rtl="0">
              <a:lnSpc>
                <a:spcPct val="100000"/>
              </a:lnSpc>
              <a:spcBef>
                <a:spcPts val="0"/>
              </a:spcBef>
              <a:spcAft>
                <a:spcPts val="0"/>
              </a:spcAft>
              <a:buClr>
                <a:schemeClr val="dk1"/>
              </a:buClr>
              <a:buSzPts val="800"/>
              <a:buFont typeface="Arial"/>
              <a:buNone/>
            </a:pPr>
            <a:r>
              <a:rPr lang="en-US" sz="800" b="1" u="none" strike="noStrike" dirty="0">
                <a:solidFill>
                  <a:schemeClr val="dk1"/>
                </a:solidFill>
              </a:rPr>
              <a:t>Notes:</a:t>
            </a:r>
            <a:r>
              <a:rPr lang="en-US" sz="800" u="none" strike="noStrike" dirty="0">
                <a:solidFill>
                  <a:schemeClr val="dk1"/>
                </a:solidFill>
              </a:rPr>
              <a:t> </a:t>
            </a:r>
            <a:endParaRPr lang="en-US" dirty="0"/>
          </a:p>
          <a:p>
            <a:pPr marL="0" marR="0" lvl="0" indent="0" algn="l" rtl="0">
              <a:lnSpc>
                <a:spcPct val="100000"/>
              </a:lnSpc>
              <a:spcBef>
                <a:spcPts val="0"/>
              </a:spcBef>
              <a:spcAft>
                <a:spcPts val="0"/>
              </a:spcAft>
              <a:buClr>
                <a:schemeClr val="dk1"/>
              </a:buClr>
              <a:buSzPts val="800"/>
              <a:buFont typeface="Arial"/>
              <a:buNone/>
            </a:pPr>
            <a:endParaRPr lang="en-US" sz="800" u="none" strike="noStrike" dirty="0">
              <a:solidFill>
                <a:schemeClr val="dk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u="none" strike="noStrike" dirty="0">
                <a:solidFill>
                  <a:schemeClr val="dk1"/>
                </a:solidFill>
              </a:rPr>
              <a:t>Resources:</a:t>
            </a:r>
            <a:br>
              <a:rPr lang="en-US" sz="800" b="1" u="none" strike="noStrike" dirty="0">
                <a:solidFill>
                  <a:schemeClr val="dk1"/>
                </a:solidFill>
              </a:rPr>
            </a:br>
            <a:r>
              <a:rPr lang="en-AU" sz="1050" dirty="0">
                <a:effectLst/>
                <a:latin typeface="Helvetica Neue" panose="02000503000000020004" pitchFamily="2" charset="0"/>
              </a:rPr>
              <a:t>Refer to the VMware Cloud Foundation Operations Guide for further information</a:t>
            </a:r>
            <a:br>
              <a:rPr lang="en-AU" sz="1050" dirty="0">
                <a:effectLst/>
                <a:latin typeface="Helvetica Neue" panose="02000503000000020004" pitchFamily="2" charset="0"/>
              </a:rPr>
            </a:br>
            <a:r>
              <a:rPr lang="en-AU" sz="1050" u="sng" dirty="0">
                <a:effectLst/>
                <a:latin typeface="Helvetica Neue" panose="02000503000000020004" pitchFamily="2" charset="0"/>
                <a:hlinkClick r:id="rId3"/>
              </a:rPr>
              <a:t>https://techdocs.broadcom.com/us/en/vmware-cis/vcf.html</a:t>
            </a:r>
            <a:r>
              <a:rPr lang="en-AU" sz="1050" dirty="0">
                <a:effectLst/>
                <a:latin typeface="Helvetica Neue" panose="02000503000000020004" pitchFamily="2" charset="0"/>
              </a:rPr>
              <a:t> </a:t>
            </a:r>
          </a:p>
          <a:p>
            <a:pPr marL="0" lvl="0" indent="0" algn="l" rtl="0">
              <a:spcBef>
                <a:spcPts val="0"/>
              </a:spcBef>
              <a:spcAft>
                <a:spcPts val="0"/>
              </a:spcAft>
              <a:buNone/>
            </a:pPr>
            <a:endParaRPr lang="en-US" sz="800" dirty="0">
              <a:solidFill>
                <a:srgbClr val="DCA10D"/>
              </a:solidFill>
              <a:latin typeface="Helvetica Neue"/>
              <a:ea typeface="Helvetica Neue"/>
              <a:cs typeface="Helvetica Neue"/>
              <a:sym typeface="Helvetica Neue"/>
            </a:endParaRPr>
          </a:p>
          <a:p>
            <a:pPr marL="0" lvl="0" indent="0" algn="l" rtl="0">
              <a:lnSpc>
                <a:spcPct val="40000"/>
              </a:lnSpc>
              <a:spcBef>
                <a:spcPts val="0"/>
              </a:spcBef>
              <a:spcAft>
                <a:spcPts val="0"/>
              </a:spcAft>
              <a:buClr>
                <a:schemeClr val="dk1"/>
              </a:buClr>
              <a:buSzPts val="713"/>
              <a:buFont typeface="Arial"/>
              <a:buNone/>
            </a:pPr>
            <a:endParaRPr lang="en-US" sz="208" dirty="0"/>
          </a:p>
          <a:p>
            <a:endParaRPr lang="en-US" dirty="0"/>
          </a:p>
        </p:txBody>
      </p:sp>
      <p:sp>
        <p:nvSpPr>
          <p:cNvPr id="4" name="Slide Number Placeholder 3">
            <a:extLst>
              <a:ext uri="{FF2B5EF4-FFF2-40B4-BE49-F238E27FC236}">
                <a16:creationId xmlns:a16="http://schemas.microsoft.com/office/drawing/2014/main" id="{8984693F-35C2-096F-DE26-1441BA5C156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90042309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8DEE4-AA3C-A070-D214-7755A44F2C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D94678-6C9E-A0B3-01EE-4965A3EBDE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1B25A-CA93-0839-B263-A20287A1A433}"/>
              </a:ext>
            </a:extLst>
          </p:cNvPr>
          <p:cNvSpPr>
            <a:spLocks noGrp="1"/>
          </p:cNvSpPr>
          <p:nvPr>
            <p:ph type="body" idx="1"/>
          </p:nvPr>
        </p:nvSpPr>
        <p:spPr/>
        <p:txBody>
          <a:bodyPr>
            <a:normAutofit fontScale="77500" lnSpcReduction="20000"/>
          </a:bodyPr>
          <a:lstStyle/>
          <a:p>
            <a:r>
              <a:rPr lang="en-US" sz="1200" b="1" u="none" strike="noStrike" kern="1200" dirty="0">
                <a:solidFill>
                  <a:schemeClr val="tx1"/>
                </a:solidFill>
                <a:effectLst/>
              </a:rPr>
              <a:t>Key Message:</a:t>
            </a:r>
            <a:br>
              <a:rPr lang="en-US" sz="1200" u="none" strike="noStrike" kern="1200" dirty="0">
                <a:solidFill>
                  <a:schemeClr val="tx1"/>
                </a:solidFill>
                <a:effectLst/>
              </a:rPr>
            </a:br>
            <a:r>
              <a:rPr lang="en-US" dirty="0"/>
              <a:t>VCF Upgrade Journey From 5.x to 9</a:t>
            </a:r>
          </a:p>
          <a:p>
            <a:endParaRPr lang="en-US" sz="120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Talk Track: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rPr>
              <a:t>VCF 5.x can be upgraded to VCF 9 without a </a:t>
            </a:r>
            <a:r>
              <a:rPr lang="en-US" dirty="0"/>
              <a:t>"forklift upgrade". No complex migration or conversion steps are required, so you can move directly to VCF 9 without any additional hardware investments. This allows you to unlock the full potential of VCF 9's new features and capabilities right away. The upgrade process is straightforward and involves a series of well-defined steps: </a:t>
            </a:r>
          </a:p>
          <a:p>
            <a:endParaRPr lang="en-US" dirty="0"/>
          </a:p>
          <a:p>
            <a:r>
              <a:rPr lang="en-US" dirty="0"/>
              <a:t>Step 1: Update Aria Suite Lifecycle: First, update Aria Suite Lifecycle to version 8.18 Patch 2. This version is the key to unlocking the VCF 9 upgrade. </a:t>
            </a:r>
          </a:p>
          <a:p>
            <a:endParaRPr lang="en-US" dirty="0"/>
          </a:p>
          <a:p>
            <a:r>
              <a:rPr lang="en-US" dirty="0"/>
              <a:t>It does two important things: </a:t>
            </a:r>
          </a:p>
          <a:p>
            <a:pPr marL="171450" indent="-171450">
              <a:buFont typeface="Arial" panose="020B0604020202020204" pitchFamily="34" charset="0"/>
              <a:buChar char="•"/>
            </a:pPr>
            <a:r>
              <a:rPr lang="en-US" dirty="0"/>
              <a:t>Enables upgrade of Aria Operations 8.18.x to VCF Operations 9: This smoothly transitions your management layer to the latest version, setting the stage for a more streamlined experience. </a:t>
            </a:r>
          </a:p>
          <a:p>
            <a:pPr marL="171450" indent="-171450">
              <a:buFont typeface="Arial" panose="020B0604020202020204" pitchFamily="34" charset="0"/>
              <a:buChar char="•"/>
            </a:pPr>
            <a:r>
              <a:rPr lang="en-US" dirty="0"/>
              <a:t>Deploys the Fleet Management Appliance: This is a new management appliance for the VCF 9 environment. This appliance manages and orchestrates all your VCF management components. </a:t>
            </a:r>
          </a:p>
          <a:p>
            <a:endParaRPr lang="en-US" dirty="0"/>
          </a:p>
          <a:p>
            <a:r>
              <a:rPr lang="en-US" dirty="0"/>
              <a:t>Step 2: SDDC Manager Upgrade: Once VCF Operations is up to speed, upgrade SDDC Manager from version 5 to 9. This upgrade is completed through the familiar SDDC Manager interface, making it a simple and straightforward process. </a:t>
            </a:r>
          </a:p>
          <a:p>
            <a:endParaRPr lang="en-US" dirty="0"/>
          </a:p>
          <a:p>
            <a:r>
              <a:rPr lang="en-US" dirty="0"/>
              <a:t>Step 3: The VCF Infrastructure Component Update: This final stage involves a slight shift in management approach. In VCF 9, we move from SDDC Manager to the new VCF Ops interface for managing your VCF infrastructure components (vCenter, ESX, and NSX). This modern interface offers a more efficient and streamlined management experience. </a:t>
            </a:r>
          </a:p>
          <a:p>
            <a:endParaRPr lang="en-US" dirty="0"/>
          </a:p>
          <a:p>
            <a:r>
              <a:rPr lang="en-US" dirty="0"/>
              <a:t>This is a smooth, well-defined path to bring VCF up to date with the latest advancements. By taking advantage of this upgrade journey, you can unlock the full potential of VCF 9 and elevate your cloud infrastructure to new heights.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rPr>
              <a:t>Keep in mind that migration at this scale has numerous moving parts, this is a simplified overview to introduce the required workflow.  Certain other elements will be expanded upon in other technical collateral.</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1200" u="none" strike="noStrike" kern="1200" dirty="0">
                <a:solidFill>
                  <a:schemeClr val="tx1"/>
                </a:solidFill>
                <a:effectLst/>
              </a:rPr>
            </a:br>
            <a:r>
              <a:rPr lang="en-US" sz="1200" u="none" strike="noStrike" kern="1200" dirty="0">
                <a:solidFill>
                  <a:schemeClr val="tx1"/>
                </a:solidFill>
                <a:effectLst/>
              </a:rPr>
              <a:t>Aria Suite Lifecycle (or </a:t>
            </a:r>
            <a:r>
              <a:rPr lang="en-US" sz="1200" u="none" strike="noStrike" kern="1200" dirty="0" err="1">
                <a:solidFill>
                  <a:schemeClr val="tx1"/>
                </a:solidFill>
                <a:effectLst/>
              </a:rPr>
              <a:t>vRSLCM</a:t>
            </a:r>
            <a:r>
              <a:rPr lang="en-US" sz="1200" u="none" strike="noStrike" kern="1200" dirty="0">
                <a:solidFill>
                  <a:schemeClr val="tx1"/>
                </a:solidFill>
                <a:effectLst/>
              </a:rPr>
              <a:t>) remains as-is until it is no longer needed. For example, it may be required for managing a VIDM deployment, which is not upgradable to VCF 9.</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rPr>
              <a:t>The new VCF 9 licensing model is all new and must be applied after the upgrade is finished. The deployment will be in evaluation mode after the upgrade.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Resources:</a:t>
            </a:r>
            <a:br>
              <a:rPr lang="en-US" sz="1200" b="1" u="none" strike="noStrike" kern="1200" dirty="0">
                <a:solidFill>
                  <a:schemeClr val="tx1"/>
                </a:solidFill>
                <a:effectLst/>
              </a:rPr>
            </a:br>
            <a:r>
              <a:rPr lang="en-AU" dirty="0">
                <a:effectLst/>
                <a:latin typeface="Helvetica Neue" panose="02000503000000020004" pitchFamily="2" charset="0"/>
              </a:rPr>
              <a:t>Refer to the VMware Cloud Foundation Operations Guide for further information</a:t>
            </a:r>
            <a:br>
              <a:rPr lang="en-AU" dirty="0">
                <a:effectLst/>
                <a:latin typeface="Helvetica Neue" panose="02000503000000020004" pitchFamily="2" charset="0"/>
              </a:rPr>
            </a:br>
            <a:r>
              <a:rPr lang="en-AU" u="sng" dirty="0">
                <a:effectLst/>
                <a:latin typeface="Helvetica Neue" panose="02000503000000020004" pitchFamily="2" charset="0"/>
                <a:hlinkClick r:id="rId3"/>
              </a:rPr>
              <a:t>https://techdocs.broadcom.com/us/en/vmware-cis/vcf.html</a:t>
            </a:r>
            <a:r>
              <a:rPr lang="en-AU" dirty="0">
                <a:effectLst/>
                <a:latin typeface="Helvetica Neue" panose="02000503000000020004" pitchFamily="2" charset="0"/>
              </a:rPr>
              <a:t> </a:t>
            </a:r>
          </a:p>
          <a:p>
            <a:endParaRPr lang="en-US" dirty="0"/>
          </a:p>
          <a:p>
            <a:endParaRPr lang="en-US" dirty="0"/>
          </a:p>
        </p:txBody>
      </p:sp>
      <p:sp>
        <p:nvSpPr>
          <p:cNvPr id="4" name="Slide Number Placeholder 3">
            <a:extLst>
              <a:ext uri="{FF2B5EF4-FFF2-40B4-BE49-F238E27FC236}">
                <a16:creationId xmlns:a16="http://schemas.microsoft.com/office/drawing/2014/main" id="{91CBC8A6-7172-EED2-E70A-3E115EC1397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25727018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0D369-33F9-48D3-132D-EF85652BE0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FD340-B231-EB93-CABA-7474D4A64D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57A39A-4936-C195-43EE-F9D9315F61E3}"/>
              </a:ext>
            </a:extLst>
          </p:cNvPr>
          <p:cNvSpPr>
            <a:spLocks noGrp="1"/>
          </p:cNvSpPr>
          <p:nvPr>
            <p:ph type="body" idx="1"/>
          </p:nvPr>
        </p:nvSpPr>
        <p:spPr/>
        <p:txBody>
          <a:bodyPr>
            <a:normAutofit fontScale="77500" lnSpcReduction="20000"/>
          </a:bodyPr>
          <a:lstStyle/>
          <a:p>
            <a:pPr algn="l"/>
            <a:r>
              <a:rPr lang="en-US" sz="1200" b="1" u="none" strike="noStrike" kern="1200" dirty="0">
                <a:solidFill>
                  <a:schemeClr val="tx1"/>
                </a:solidFill>
                <a:effectLst/>
              </a:rPr>
              <a:t>Key Message:</a:t>
            </a:r>
            <a:br>
              <a:rPr lang="en-US" sz="1200" u="none" strike="noStrike" kern="1200" dirty="0">
                <a:solidFill>
                  <a:schemeClr val="tx1"/>
                </a:solidFill>
                <a:effectLst/>
              </a:rPr>
            </a:br>
            <a:r>
              <a:rPr lang="en-US" b="0" i="0" dirty="0">
                <a:solidFill>
                  <a:srgbClr val="1F1F1F"/>
                </a:solidFill>
                <a:effectLst/>
                <a:latin typeface="Arial" panose="020B0604020202020204" pitchFamily="34" charset="0"/>
              </a:rPr>
              <a:t>VCF 9: Enhanced Identity and Access Management</a:t>
            </a:r>
          </a:p>
          <a:p>
            <a:endParaRPr lang="en-US" sz="120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Talk Track: </a:t>
            </a:r>
          </a:p>
          <a:p>
            <a:pPr algn="l"/>
            <a:r>
              <a:rPr lang="en-US" b="0" i="0" dirty="0">
                <a:solidFill>
                  <a:srgbClr val="1F1F1F"/>
                </a:solidFill>
                <a:effectLst/>
                <a:latin typeface="Arial" panose="020B0604020202020204" pitchFamily="34" charset="0"/>
              </a:rPr>
              <a:t>VCF 9 introduces a significant upgrade to identity and access management, bringing enhanced security and streamlined administration to your private cloud environment.</a:t>
            </a:r>
          </a:p>
          <a:p>
            <a:pPr algn="l"/>
            <a:endParaRPr lang="en-US" b="0" i="0" dirty="0">
              <a:solidFill>
                <a:srgbClr val="1F1F1F"/>
              </a:solidFill>
              <a:effectLst/>
              <a:latin typeface="Arial" panose="020B0604020202020204" pitchFamily="34" charset="0"/>
            </a:endParaRPr>
          </a:p>
          <a:p>
            <a:pPr algn="l"/>
            <a:r>
              <a:rPr lang="en-US" b="0" i="0" dirty="0">
                <a:solidFill>
                  <a:srgbClr val="1F1F1F"/>
                </a:solidFill>
                <a:effectLst/>
                <a:latin typeface="Arial" panose="020B0604020202020204" pitchFamily="34" charset="0"/>
              </a:rPr>
              <a:t>This new VIDB single sign-on service replaces the previous </a:t>
            </a:r>
            <a:r>
              <a:rPr lang="en-US" b="0" i="0" dirty="0" err="1">
                <a:solidFill>
                  <a:srgbClr val="1F1F1F"/>
                </a:solidFill>
                <a:effectLst/>
                <a:latin typeface="Arial" panose="020B0604020202020204" pitchFamily="34" charset="0"/>
              </a:rPr>
              <a:t>vIDM</a:t>
            </a:r>
            <a:r>
              <a:rPr lang="en-US" b="0" i="0" dirty="0">
                <a:solidFill>
                  <a:srgbClr val="1F1F1F"/>
                </a:solidFill>
                <a:effectLst/>
                <a:latin typeface="Arial" panose="020B0604020202020204" pitchFamily="34" charset="0"/>
              </a:rPr>
              <a:t> solution and is built upon modern identity provider technology. VIDB can be deployed in two distinct modes: </a:t>
            </a:r>
          </a:p>
          <a:p>
            <a:pPr algn="l"/>
            <a:endParaRPr lang="en-US" b="0" i="0" dirty="0">
              <a:solidFill>
                <a:srgbClr val="1F1F1F"/>
              </a:solidFill>
              <a:effectLst/>
              <a:latin typeface="Arial" panose="020B0604020202020204" pitchFamily="34" charset="0"/>
            </a:endParaRPr>
          </a:p>
          <a:p>
            <a:pPr algn="l">
              <a:buFont typeface="Arial" panose="020B0604020202020204" pitchFamily="34" charset="0"/>
              <a:buChar char="•"/>
            </a:pPr>
            <a:r>
              <a:rPr lang="en-US" b="0" i="0" dirty="0">
                <a:solidFill>
                  <a:srgbClr val="1F1F1F"/>
                </a:solidFill>
                <a:effectLst/>
                <a:latin typeface="Arial" panose="020B0604020202020204" pitchFamily="34" charset="0"/>
              </a:rPr>
              <a:t> Embedded: Running directly on the management domain vCenter Server, offering out-of-the-box simplicity.</a:t>
            </a:r>
          </a:p>
          <a:p>
            <a:pPr algn="l">
              <a:buFont typeface="Arial" panose="020B0604020202020204" pitchFamily="34" charset="0"/>
              <a:buChar char="•"/>
            </a:pPr>
            <a:r>
              <a:rPr lang="en-US" b="0" i="0" dirty="0">
                <a:solidFill>
                  <a:srgbClr val="1F1F1F"/>
                </a:solidFill>
                <a:effectLst/>
                <a:latin typeface="Arial" panose="020B0604020202020204" pitchFamily="34" charset="0"/>
              </a:rPr>
              <a:t> External Appliance Cluster: Provides scalability and flexibility for larger deployments, where a single VIDB instance can support multiple VCF environments.</a:t>
            </a:r>
          </a:p>
          <a:p>
            <a:pPr algn="l">
              <a:buFont typeface="Arial" panose="020B0604020202020204" pitchFamily="34" charset="0"/>
              <a:buChar char="•"/>
            </a:pPr>
            <a:endParaRPr lang="en-US" b="0" i="0" dirty="0">
              <a:solidFill>
                <a:srgbClr val="1F1F1F"/>
              </a:solidFill>
              <a:effectLst/>
              <a:latin typeface="Arial" panose="020B0604020202020204" pitchFamily="34" charset="0"/>
            </a:endParaRPr>
          </a:p>
          <a:p>
            <a:pPr algn="l"/>
            <a:r>
              <a:rPr lang="en-US" b="0" i="0" dirty="0">
                <a:solidFill>
                  <a:srgbClr val="1F1F1F"/>
                </a:solidFill>
                <a:effectLst/>
                <a:latin typeface="Arial" panose="020B0604020202020204" pitchFamily="34" charset="0"/>
              </a:rPr>
              <a:t>VIDB leverages the intuitive VCF Operations interface for easy setup. For the external appliance mode, deployment is managed through the VCF lifecycle management workflow. Once configured, VIDB seamlessly integrates with key VCF components:</a:t>
            </a:r>
          </a:p>
          <a:p>
            <a:pPr algn="l">
              <a:buFont typeface="Arial" panose="020B0604020202020204" pitchFamily="34" charset="0"/>
              <a:buChar char="•"/>
            </a:pPr>
            <a:r>
              <a:rPr lang="en-US" b="0" i="0" dirty="0">
                <a:solidFill>
                  <a:srgbClr val="1F1F1F"/>
                </a:solidFill>
                <a:effectLst/>
                <a:latin typeface="Arial" panose="020B0604020202020204" pitchFamily="34" charset="0"/>
              </a:rPr>
              <a:t> vCenter Server</a:t>
            </a:r>
          </a:p>
          <a:p>
            <a:pPr algn="l">
              <a:buFont typeface="Arial" panose="020B0604020202020204" pitchFamily="34" charset="0"/>
              <a:buChar char="•"/>
            </a:pPr>
            <a:r>
              <a:rPr lang="en-US" b="0" i="0" dirty="0">
                <a:solidFill>
                  <a:srgbClr val="1F1F1F"/>
                </a:solidFill>
                <a:effectLst/>
                <a:latin typeface="Arial" panose="020B0604020202020204" pitchFamily="34" charset="0"/>
              </a:rPr>
              <a:t> NSX Manager</a:t>
            </a:r>
          </a:p>
          <a:p>
            <a:pPr algn="l">
              <a:buFont typeface="Arial" panose="020B0604020202020204" pitchFamily="34" charset="0"/>
              <a:buChar char="•"/>
            </a:pPr>
            <a:r>
              <a:rPr lang="en-US" b="0" i="0" dirty="0">
                <a:solidFill>
                  <a:srgbClr val="1F1F1F"/>
                </a:solidFill>
                <a:effectLst/>
                <a:latin typeface="Arial" panose="020B0604020202020204" pitchFamily="34" charset="0"/>
              </a:rPr>
              <a:t> VCF Operations</a:t>
            </a:r>
          </a:p>
          <a:p>
            <a:pPr algn="l">
              <a:buFont typeface="Arial" panose="020B0604020202020204" pitchFamily="34" charset="0"/>
              <a:buChar char="•"/>
            </a:pPr>
            <a:r>
              <a:rPr lang="en-US" b="0" i="0" dirty="0">
                <a:solidFill>
                  <a:srgbClr val="1F1F1F"/>
                </a:solidFill>
                <a:effectLst/>
                <a:latin typeface="Arial" panose="020B0604020202020204" pitchFamily="34" charset="0"/>
              </a:rPr>
              <a:t> VCF Automation</a:t>
            </a:r>
          </a:p>
          <a:p>
            <a:pPr algn="l"/>
            <a:endParaRPr lang="en-US" b="0" i="0" dirty="0">
              <a:solidFill>
                <a:srgbClr val="1F1F1F"/>
              </a:solidFill>
              <a:effectLst/>
              <a:latin typeface="Arial" panose="020B0604020202020204" pitchFamily="34" charset="0"/>
            </a:endParaRPr>
          </a:p>
          <a:p>
            <a:pPr algn="l"/>
            <a:r>
              <a:rPr lang="en-US" b="0" i="0" dirty="0">
                <a:solidFill>
                  <a:srgbClr val="1F1F1F"/>
                </a:solidFill>
                <a:effectLst/>
                <a:latin typeface="Arial" panose="020B0604020202020204" pitchFamily="34" charset="0"/>
              </a:rPr>
              <a:t>This enables centralized identity management and automatic single sign-on across your critical cloud infrastructure.</a:t>
            </a:r>
          </a:p>
          <a:p>
            <a:pPr algn="l"/>
            <a:endParaRPr lang="en-US" b="1" i="0" dirty="0">
              <a:solidFill>
                <a:srgbClr val="1F1F1F"/>
              </a:solidFill>
              <a:effectLst/>
              <a:latin typeface="Arial" panose="020B0604020202020204" pitchFamily="34" charset="0"/>
            </a:endParaRPr>
          </a:p>
          <a:p>
            <a:pPr algn="l"/>
            <a:r>
              <a:rPr lang="en-US" b="0" i="0" dirty="0">
                <a:solidFill>
                  <a:srgbClr val="1F1F1F"/>
                </a:solidFill>
                <a:effectLst/>
                <a:latin typeface="Arial" panose="020B0604020202020204" pitchFamily="34" charset="0"/>
              </a:rPr>
              <a:t>VIDB supports a wide range of industry-standard modern identity providers, offering flexibility and compatibility with your existing security solutions:</a:t>
            </a:r>
          </a:p>
          <a:p>
            <a:pPr algn="l">
              <a:buFont typeface="Arial" panose="020B0604020202020204" pitchFamily="34" charset="0"/>
              <a:buChar char="•"/>
            </a:pPr>
            <a:r>
              <a:rPr lang="en-US" b="0" i="0" dirty="0">
                <a:solidFill>
                  <a:srgbClr val="1F1F1F"/>
                </a:solidFill>
                <a:effectLst/>
                <a:latin typeface="Arial" panose="020B0604020202020204" pitchFamily="34" charset="0"/>
              </a:rPr>
              <a:t> SAML 2.0 and OIDC: For modern cloud-based identity providers like Okta, Ping Identity, Microsoft Entra ID, or any SAML 2.0 provider.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solidFill>
                  <a:srgbClr val="1F1F1F"/>
                </a:solidFill>
                <a:effectLst/>
                <a:latin typeface="Arial" panose="020B0604020202020204" pitchFamily="34" charset="0"/>
              </a:rPr>
              <a:t> AD/LDAP: For traditional directory-based authentication.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0" i="0" dirty="0">
              <a:solidFill>
                <a:srgbClr val="1F1F1F"/>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i="0" dirty="0">
                <a:solidFill>
                  <a:srgbClr val="1F1F1F"/>
                </a:solidFill>
                <a:effectLst/>
                <a:latin typeface="Arial" panose="020B0604020202020204" pitchFamily="34" charset="0"/>
              </a:rPr>
              <a:t>This empowers administrators with granular control over user privileges, enabling role-based access for different VCF components based on user or group membership.</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0" i="0" dirty="0">
              <a:solidFill>
                <a:srgbClr val="1F1F1F"/>
              </a:solidFill>
              <a:effectLst/>
              <a:latin typeface="Arial" panose="020B0604020202020204" pitchFamily="34" charset="0"/>
            </a:endParaRPr>
          </a:p>
          <a:p>
            <a:pPr algn="l"/>
            <a:r>
              <a:rPr lang="en-US" b="0" i="0" dirty="0">
                <a:solidFill>
                  <a:srgbClr val="1F1F1F"/>
                </a:solidFill>
                <a:effectLst/>
                <a:latin typeface="Arial" panose="020B0604020202020204" pitchFamily="34" charset="0"/>
              </a:rPr>
              <a:t>VIDB’s simplified architecture no longer requires individual component to be configured separately with an identity provider, streamlining administration and reducing potential vulnerabilities. Plus, it is deployed inside the firewall, enabling direct communication with identity providers and eliminating the need for external connectors.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Notes:</a:t>
            </a:r>
            <a:br>
              <a:rPr lang="en-US" sz="1200" u="none" strike="noStrike" kern="1200" dirty="0">
                <a:solidFill>
                  <a:schemeClr val="tx1"/>
                </a:solidFill>
                <a:effectLst/>
              </a:rPr>
            </a:br>
            <a:r>
              <a:rPr lang="en-US" b="0" i="0" dirty="0" err="1">
                <a:solidFill>
                  <a:srgbClr val="1F1F1F"/>
                </a:solidFill>
                <a:effectLst/>
                <a:latin typeface="Arial" panose="020B0604020202020204" pitchFamily="34" charset="0"/>
              </a:rPr>
              <a:t>vIDM</a:t>
            </a:r>
            <a:r>
              <a:rPr lang="en-US" b="0" i="0" dirty="0">
                <a:solidFill>
                  <a:srgbClr val="1F1F1F"/>
                </a:solidFill>
                <a:effectLst/>
                <a:latin typeface="Arial" panose="020B0604020202020204" pitchFamily="34" charset="0"/>
              </a:rPr>
              <a:t> is not directly upgradeable to VIDB.</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Resources:</a:t>
            </a:r>
            <a:br>
              <a:rPr lang="en-US" sz="1200" b="1" u="none" strike="noStrike" kern="1200" dirty="0">
                <a:solidFill>
                  <a:schemeClr val="tx1"/>
                </a:solidFill>
                <a:effectLst/>
              </a:rPr>
            </a:br>
            <a:r>
              <a:rPr lang="en-AU" dirty="0">
                <a:effectLst/>
                <a:latin typeface="Helvetica Neue" panose="02000503000000020004" pitchFamily="2" charset="0"/>
              </a:rPr>
              <a:t>Refer to the VMware Cloud Foundation Design Guide for further information</a:t>
            </a:r>
            <a:br>
              <a:rPr lang="en-AU" dirty="0">
                <a:effectLst/>
                <a:latin typeface="Helvetica Neue" panose="02000503000000020004" pitchFamily="2" charset="0"/>
              </a:rPr>
            </a:br>
            <a:r>
              <a:rPr lang="en-AU" u="sng" dirty="0">
                <a:effectLst/>
                <a:latin typeface="Helvetica Neue" panose="02000503000000020004" pitchFamily="2" charset="0"/>
                <a:hlinkClick r:id="rId3"/>
              </a:rPr>
              <a:t>https://techdocs.broadcom.com/us/en/vmware-cis/vcf.html</a:t>
            </a:r>
            <a:r>
              <a:rPr lang="en-AU" dirty="0">
                <a:effectLst/>
                <a:latin typeface="Helvetica Neue" panose="02000503000000020004" pitchFamily="2" charset="0"/>
              </a:rPr>
              <a:t> </a:t>
            </a:r>
          </a:p>
          <a:p>
            <a:endParaRPr lang="en-AU" dirty="0">
              <a:solidFill>
                <a:srgbClr val="DCA10D"/>
              </a:solidFill>
              <a:effectLst/>
              <a:latin typeface="Helvetica Neue" panose="02000503000000020004" pitchFamily="2" charset="0"/>
            </a:endParaRPr>
          </a:p>
          <a:p>
            <a:endParaRPr lang="en-US" dirty="0"/>
          </a:p>
        </p:txBody>
      </p:sp>
      <p:sp>
        <p:nvSpPr>
          <p:cNvPr id="4" name="Slide Number Placeholder 3">
            <a:extLst>
              <a:ext uri="{FF2B5EF4-FFF2-40B4-BE49-F238E27FC236}">
                <a16:creationId xmlns:a16="http://schemas.microsoft.com/office/drawing/2014/main" id="{021D41B3-0E81-7518-9F3D-9893E5FC80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137174715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B64A3-E18C-4196-8C52-84545E6723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BC1FB4-77E3-322E-179B-AA174C7068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9E2B04-6874-CFFB-EBE1-11C2C43B9DB4}"/>
              </a:ext>
            </a:extLst>
          </p:cNvPr>
          <p:cNvSpPr>
            <a:spLocks noGrp="1"/>
          </p:cNvSpPr>
          <p:nvPr>
            <p:ph type="body" idx="1"/>
          </p:nvPr>
        </p:nvSpPr>
        <p:spPr/>
        <p:txBody>
          <a:bodyPr/>
          <a:lstStyle/>
          <a:p>
            <a:pPr algn="l"/>
            <a:r>
              <a:rPr lang="en-US" sz="1200" b="1" u="none" strike="noStrike" kern="1200" dirty="0">
                <a:solidFill>
                  <a:schemeClr val="tx1"/>
                </a:solidFill>
                <a:effectLst/>
              </a:rPr>
              <a:t>Key Message:</a:t>
            </a:r>
            <a:br>
              <a:rPr lang="en-US" sz="1200" u="none" strike="noStrike" kern="1200" dirty="0">
                <a:solidFill>
                  <a:schemeClr val="tx1"/>
                </a:solidFill>
                <a:effectLst/>
              </a:rPr>
            </a:br>
            <a:r>
              <a:rPr lang="en-US" b="0" i="0" dirty="0">
                <a:solidFill>
                  <a:srgbClr val="1F1F1F"/>
                </a:solidFill>
                <a:effectLst/>
                <a:latin typeface="Arial" panose="020B0604020202020204" pitchFamily="34" charset="0"/>
              </a:rPr>
              <a:t>VCF 9 features a single pane of glass view for multiple vCenter Server instances</a:t>
            </a:r>
          </a:p>
          <a:p>
            <a:pPr algn="l"/>
            <a:endParaRPr lang="en-US" sz="120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Talk Track: </a:t>
            </a:r>
          </a:p>
          <a:p>
            <a:pPr algn="l"/>
            <a:r>
              <a:rPr lang="en-US" b="0" i="0" dirty="0">
                <a:solidFill>
                  <a:srgbClr val="1F1F1F"/>
                </a:solidFill>
                <a:effectLst/>
                <a:latin typeface="Arial" panose="020B0604020202020204" pitchFamily="34" charset="0"/>
              </a:rPr>
              <a:t>Once VCF Single Sign-On is configured, take the benefit one step further and view multiple vCenter Servers from different workload domains in a single instance of the vSphere Client.</a:t>
            </a:r>
          </a:p>
          <a:p>
            <a:pPr algn="l"/>
            <a:endParaRPr lang="en-US" b="0" i="0" dirty="0">
              <a:solidFill>
                <a:srgbClr val="1F1F1F"/>
              </a:solidFill>
              <a:effectLst/>
              <a:latin typeface="Arial" panose="020B0604020202020204" pitchFamily="34" charset="0"/>
            </a:endParaRPr>
          </a:p>
          <a:p>
            <a:pPr algn="l"/>
            <a:r>
              <a:rPr lang="en-US" b="0" i="0" dirty="0">
                <a:solidFill>
                  <a:srgbClr val="1F1F1F"/>
                </a:solidFill>
                <a:effectLst/>
                <a:latin typeface="Arial" panose="020B0604020202020204" pitchFamily="34" charset="0"/>
              </a:rPr>
              <a:t>Enhanced Linked Mode must be broken and disabled before enabling VCF SSO, so vCenter Linking is the successor to that previous architecture.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Notes:</a:t>
            </a:r>
            <a:endParaRPr lang="en-US" b="0" i="0" dirty="0">
              <a:solidFill>
                <a:srgbClr val="1F1F1F"/>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endParaRPr>
          </a:p>
          <a:p>
            <a:r>
              <a:rPr lang="en-US" sz="1200" b="1" u="none" strike="noStrike" kern="1200" dirty="0">
                <a:solidFill>
                  <a:schemeClr val="tx1"/>
                </a:solidFill>
                <a:effectLst/>
              </a:rPr>
              <a:t>Resources:</a:t>
            </a:r>
            <a:br>
              <a:rPr lang="en-US" sz="1200" b="1" u="none" strike="noStrike" kern="1200" dirty="0">
                <a:solidFill>
                  <a:schemeClr val="tx1"/>
                </a:solidFill>
                <a:effectLst/>
              </a:rPr>
            </a:br>
            <a:endParaRPr lang="en-AU" dirty="0">
              <a:solidFill>
                <a:srgbClr val="DCA10D"/>
              </a:solidFill>
              <a:effectLst/>
              <a:latin typeface="Helvetica Neue" panose="02000503000000020004" pitchFamily="2" charset="0"/>
            </a:endParaRPr>
          </a:p>
          <a:p>
            <a:endParaRPr lang="en-US" dirty="0"/>
          </a:p>
          <a:p>
            <a:endParaRPr lang="en-US" dirty="0"/>
          </a:p>
        </p:txBody>
      </p:sp>
      <p:sp>
        <p:nvSpPr>
          <p:cNvPr id="4" name="Slide Number Placeholder 3">
            <a:extLst>
              <a:ext uri="{FF2B5EF4-FFF2-40B4-BE49-F238E27FC236}">
                <a16:creationId xmlns:a16="http://schemas.microsoft.com/office/drawing/2014/main" id="{A90B1F3B-4AA9-3F79-7134-7ECD4C8EDB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225992214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1332-F670-660E-844E-20D9F30FED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715265-C743-1947-B130-DE35BDFCF8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469CA6-3883-496F-1F19-0B11E5B18C41}"/>
              </a:ext>
            </a:extLst>
          </p:cNvPr>
          <p:cNvSpPr>
            <a:spLocks noGrp="1"/>
          </p:cNvSpPr>
          <p:nvPr>
            <p:ph type="body" idx="1"/>
          </p:nvPr>
        </p:nvSpPr>
        <p:spPr/>
        <p:txBody>
          <a:bodyPr>
            <a:normAutofit fontScale="92500" lnSpcReduction="20000"/>
          </a:bodyPr>
          <a:lstStyle/>
          <a:p>
            <a:r>
              <a:rPr lang="en-US" sz="1200" b="1" u="none" strike="noStrike" kern="1200" dirty="0">
                <a:solidFill>
                  <a:schemeClr val="tx1"/>
                </a:solidFill>
                <a:effectLst/>
              </a:rPr>
              <a:t>Key Message:</a:t>
            </a:r>
            <a:endParaRPr lang="en-US" sz="1200" u="none" strike="noStrike" kern="1200" dirty="0">
              <a:solidFill>
                <a:schemeClr val="tx1"/>
              </a:solidFill>
              <a:effectLst/>
            </a:endParaRPr>
          </a:p>
          <a:p>
            <a:r>
              <a:rPr lang="en-US" dirty="0"/>
              <a:t>VMware Cloud Foundation 9 Delivers A Powerful New Approach to Certificate Management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Talk Track: </a:t>
            </a:r>
            <a:endParaRPr lang="en-US" dirty="0"/>
          </a:p>
          <a:p>
            <a:r>
              <a:rPr lang="en-US" dirty="0"/>
              <a:t>In VMware Cloud Foundation 9, we're excited to introduce a completely revamped certificate management experience, bringing both the infrastructure and management components under one umbrella. Administrators now have greater flexibility in their certificate management approach, with the ability to leverage existing Microsoft Active Directory Certificate Services CAs, utilize the open-source OpenSSL for certificate generation, or even generate certificate requests for use with external CAs.</a:t>
            </a:r>
          </a:p>
          <a:p>
            <a:endParaRPr lang="en-US" dirty="0"/>
          </a:p>
          <a:p>
            <a:r>
              <a:rPr lang="en-US" dirty="0"/>
              <a:t>One of the key enhancements in VCF 9 is the automatic certificate renewal functionality when using integrated CAs. This streamlines the process, ensuring certificates are automatically renewed and replaced for compatible components, eliminating the need for manual intervention. The new certificate management infrastructure also integrates with VCF Operations alerts, providing timely notifications about expiring certificates and upcoming renewals, enabling proactive management and minimizing potential disruptions.</a:t>
            </a:r>
          </a:p>
          <a:p>
            <a:endParaRPr lang="en-US" dirty="0"/>
          </a:p>
          <a:p>
            <a:r>
              <a:rPr lang="en-US" dirty="0"/>
              <a:t>For organizations with high compliance requirements, VCF 9 also introduces the ability to issue signed certificates to VMware ESX hosts. This ensures that your virtualized environment is compliant with the most stringent security standards, further bolstering your overall security posture.</a:t>
            </a:r>
          </a:p>
          <a:p>
            <a:endParaRPr lang="en-US" dirty="0"/>
          </a:p>
          <a:p>
            <a:r>
              <a:rPr lang="en-US" dirty="0"/>
              <a:t>Overall, VCF 9's certificate management capabilities represent a significant step forward in managing and securing your cloud infrastructure. This new approach delivers enhanced flexibility, increased automation, and improved compliance, ultimately making your cloud environment more secure and efficient.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Notes:</a:t>
            </a:r>
            <a:endParaRPr lang="en-US" sz="120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endParaRPr>
          </a:p>
          <a:p>
            <a:r>
              <a:rPr lang="en-US" sz="1200" b="1" u="none" strike="noStrike" kern="1200" dirty="0">
                <a:solidFill>
                  <a:schemeClr val="tx1"/>
                </a:solidFill>
                <a:effectLst/>
              </a:rPr>
              <a:t>Resources:</a:t>
            </a:r>
            <a:endParaRPr lang="en-AU" dirty="0">
              <a:solidFill>
                <a:srgbClr val="DCA10D"/>
              </a:solidFill>
              <a:effectLst/>
              <a:latin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effectLst/>
                <a:latin typeface="Helvetica Neue" panose="02000503000000020004" pitchFamily="2" charset="0"/>
              </a:rPr>
              <a:t>Refer to the VMware Cloud Foundation Operations Guide for further information</a:t>
            </a:r>
            <a:br>
              <a:rPr lang="en-AU" dirty="0">
                <a:effectLst/>
                <a:latin typeface="Helvetica Neue" panose="02000503000000020004" pitchFamily="2" charset="0"/>
              </a:rPr>
            </a:br>
            <a:r>
              <a:rPr lang="en-AU" u="sng" dirty="0">
                <a:effectLst/>
                <a:latin typeface="Helvetica Neue" panose="02000503000000020004" pitchFamily="2" charset="0"/>
                <a:hlinkClick r:id="rId3"/>
              </a:rPr>
              <a:t>https://techdocs.broadcom.com/us/en/vmware-cis/vcf.html</a:t>
            </a:r>
            <a:r>
              <a:rPr lang="en-AU" dirty="0">
                <a:effectLst/>
                <a:latin typeface="Helvetica Neue" panose="02000503000000020004" pitchFamily="2" charset="0"/>
              </a:rPr>
              <a:t> </a:t>
            </a:r>
          </a:p>
          <a:p>
            <a:endParaRPr lang="en-US" dirty="0"/>
          </a:p>
        </p:txBody>
      </p:sp>
      <p:sp>
        <p:nvSpPr>
          <p:cNvPr id="4" name="Slide Number Placeholder 3">
            <a:extLst>
              <a:ext uri="{FF2B5EF4-FFF2-40B4-BE49-F238E27FC236}">
                <a16:creationId xmlns:a16="http://schemas.microsoft.com/office/drawing/2014/main" id="{4847DC14-5257-320E-184B-CA64B05148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134620807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8F9B2-9273-973F-E5C4-ED7FF25B49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2C7258-A1D6-96D7-9A66-E697DDD5A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4D3F5E-6811-F56E-849B-AA234A32A981}"/>
              </a:ext>
            </a:extLst>
          </p:cNvPr>
          <p:cNvSpPr>
            <a:spLocks noGrp="1"/>
          </p:cNvSpPr>
          <p:nvPr>
            <p:ph type="body" idx="1"/>
          </p:nvPr>
        </p:nvSpPr>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Key Message:</a:t>
            </a:r>
            <a:br>
              <a:rPr lang="en-US" sz="1200" u="none" strike="noStrike" kern="1200" dirty="0">
                <a:solidFill>
                  <a:schemeClr val="tx1"/>
                </a:solidFill>
                <a:effectLst/>
              </a:rPr>
            </a:br>
            <a:r>
              <a:rPr lang="en-US" sz="1200" b="0" u="none" strike="noStrike" kern="1200" dirty="0">
                <a:solidFill>
                  <a:schemeClr val="tx1"/>
                </a:solidFill>
                <a:effectLst/>
              </a:rPr>
              <a:t>Streamlined Password Management for Enhanced Security and Efficiency</a:t>
            </a:r>
          </a:p>
          <a:p>
            <a:endParaRPr lang="en-US" sz="120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Talk Track: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rPr>
              <a:t>VMware Cloud Foundation 9 introduces a centralized and unified password management experience, simplifying and securing your VCF environment.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rPr>
              <a:t>The new VCF Operations interface brings centralized control: Manage passwords for both infrastructure and management components from a single location.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rPr>
              <a:t>Eliminate Password Rotations: Service accounts for inter-component communication are automatically provisioned and managed to eliminate the need for manual password management, reducing administrative overhead.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rPr>
              <a:t>The password management user experienced has been simplified to two operations: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u="none" strike="noStrike" kern="1200" dirty="0">
              <a:solidFill>
                <a:schemeClr val="tx1"/>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u="none" strike="noStrike" kern="1200" dirty="0">
                <a:solidFill>
                  <a:schemeClr val="tx1"/>
                </a:solidFill>
                <a:effectLst/>
              </a:rPr>
              <a:t>Update Password: Easily reset forgotten passwords through the user interface.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u="none" strike="noStrike" kern="1200" dirty="0">
                <a:solidFill>
                  <a:schemeClr val="tx1"/>
                </a:solidFill>
                <a:effectLst/>
              </a:rPr>
              <a:t>Remediate Password: Synchronize passwords that were changed outside of VCF, ensuring alignment with current configurations.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rPr>
              <a:t>Integration with VCF Operations also brings another benefit: Administrators will receive timely alerts when passwords are approaching expiration, minimizing security risks and downtime.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Notes:</a:t>
            </a:r>
            <a:endParaRPr lang="en-US" sz="120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endParaRPr>
          </a:p>
          <a:p>
            <a:r>
              <a:rPr lang="en-US" sz="1200" b="1" u="none" strike="noStrike" kern="1200" dirty="0">
                <a:solidFill>
                  <a:schemeClr val="tx1"/>
                </a:solidFill>
                <a:effectLst/>
              </a:rPr>
              <a:t>Resources:</a:t>
            </a:r>
            <a:endParaRPr lang="en-AU" dirty="0">
              <a:solidFill>
                <a:srgbClr val="DCA10D"/>
              </a:solidFill>
              <a:effectLst/>
              <a:latin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effectLst/>
                <a:latin typeface="Helvetica Neue" panose="02000503000000020004" pitchFamily="2" charset="0"/>
              </a:rPr>
              <a:t>Refer to the VMware Cloud Foundation Operations Guide for further information</a:t>
            </a:r>
            <a:br>
              <a:rPr lang="en-AU" dirty="0">
                <a:effectLst/>
                <a:latin typeface="Helvetica Neue" panose="02000503000000020004" pitchFamily="2" charset="0"/>
              </a:rPr>
            </a:br>
            <a:r>
              <a:rPr lang="en-AU" u="sng" dirty="0">
                <a:effectLst/>
                <a:latin typeface="Helvetica Neue" panose="02000503000000020004" pitchFamily="2" charset="0"/>
                <a:hlinkClick r:id="rId3"/>
              </a:rPr>
              <a:t>https://techdocs.broadcom.com/us/en/vmware-cis/vcf.html</a:t>
            </a:r>
            <a:r>
              <a:rPr lang="en-AU" dirty="0">
                <a:effectLst/>
                <a:latin typeface="Helvetica Neue" panose="02000503000000020004" pitchFamily="2" charset="0"/>
              </a:rPr>
              <a:t> </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50CE396-67E7-6B47-9638-F5F99B9714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31284634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47DE5-308F-E52B-AE72-B89547584E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35C4C-B72A-CB9B-F6A9-3B41589B66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326147-61EB-4802-27C2-12EF6CD1F84B}"/>
              </a:ext>
            </a:extLst>
          </p:cNvPr>
          <p:cNvSpPr>
            <a:spLocks noGrp="1"/>
          </p:cNvSpPr>
          <p:nvPr>
            <p:ph type="body" idx="1"/>
          </p:nvPr>
        </p:nvSpPr>
        <p:spPr/>
        <p:txBody>
          <a:bodyPr>
            <a:normAutofit/>
          </a:bodyPr>
          <a:lstStyle/>
          <a:p>
            <a:pPr marL="0" lvl="0" indent="0" algn="l" rtl="0">
              <a:lnSpc>
                <a:spcPct val="50000"/>
              </a:lnSpc>
              <a:spcBef>
                <a:spcPts val="0"/>
              </a:spcBef>
              <a:spcAft>
                <a:spcPts val="0"/>
              </a:spcAft>
              <a:buClr>
                <a:schemeClr val="dk1"/>
              </a:buClr>
              <a:buSzPts val="713"/>
              <a:buFont typeface="Arial"/>
              <a:buNone/>
            </a:pPr>
            <a:r>
              <a:rPr lang="en-US" sz="1200" b="1" dirty="0">
                <a:solidFill>
                  <a:schemeClr val="dk1"/>
                </a:solidFill>
                <a:latin typeface="Arial"/>
                <a:ea typeface="Arial"/>
                <a:cs typeface="Arial"/>
                <a:sym typeface="Arial"/>
              </a:rPr>
              <a:t>Key Message:</a:t>
            </a:r>
            <a:endParaRPr lang="en-US" dirty="0"/>
          </a:p>
          <a:p>
            <a:pPr marL="0" lvl="0" indent="0" algn="l" rtl="0">
              <a:lnSpc>
                <a:spcPct val="50000"/>
              </a:lnSpc>
              <a:spcBef>
                <a:spcPts val="0"/>
              </a:spcBef>
              <a:spcAft>
                <a:spcPts val="0"/>
              </a:spcAft>
              <a:buClr>
                <a:schemeClr val="dk1"/>
              </a:buClr>
              <a:buSzPts val="713"/>
              <a:buFont typeface="Arial"/>
              <a:buNone/>
            </a:pPr>
            <a:r>
              <a:rPr lang="en-US" sz="1200" b="0" dirty="0">
                <a:solidFill>
                  <a:schemeClr val="dk1"/>
                </a:solidFill>
                <a:latin typeface="+mj-lt"/>
                <a:ea typeface="Arial"/>
                <a:cs typeface="Arial"/>
                <a:sym typeface="Arial"/>
              </a:rPr>
              <a:t>VCF allows you to monitor configuration drifts in your environment over time in a central location and allows you to compare those changes a standardized template that you define, based on your company standards. It helps to prevent misconfiguration from going unnoticed, reduces the risk of security breaches, and keeps the environment running smoothly.</a:t>
            </a:r>
            <a:br>
              <a:rPr lang="en-US" sz="1200" b="0" dirty="0">
                <a:solidFill>
                  <a:schemeClr val="dk1"/>
                </a:solidFill>
                <a:latin typeface="Arial"/>
                <a:ea typeface="Arial"/>
                <a:cs typeface="Arial"/>
                <a:sym typeface="Arial"/>
              </a:rPr>
            </a:br>
            <a:endParaRPr lang="en-US" sz="1200" b="0" dirty="0">
              <a:solidFill>
                <a:schemeClr val="dk1"/>
              </a:solidFill>
              <a:latin typeface="Arial"/>
              <a:ea typeface="Arial"/>
              <a:cs typeface="Arial"/>
              <a:sym typeface="Arial"/>
            </a:endParaRPr>
          </a:p>
          <a:p>
            <a:pPr marL="0" lvl="0" indent="0" algn="l" rtl="0">
              <a:lnSpc>
                <a:spcPct val="50000"/>
              </a:lnSpc>
              <a:spcBef>
                <a:spcPts val="0"/>
              </a:spcBef>
              <a:spcAft>
                <a:spcPts val="0"/>
              </a:spcAft>
              <a:buClr>
                <a:schemeClr val="dk1"/>
              </a:buClr>
              <a:buSzPts val="713"/>
              <a:buFont typeface="Arial"/>
              <a:buNone/>
            </a:pPr>
            <a:r>
              <a:rPr lang="en-US" sz="1200" b="1" dirty="0">
                <a:solidFill>
                  <a:schemeClr val="dk1"/>
                </a:solidFill>
                <a:latin typeface="Arial"/>
                <a:ea typeface="Arial"/>
                <a:cs typeface="Arial"/>
                <a:sym typeface="Arial"/>
              </a:rPr>
              <a:t>Talk Track:</a:t>
            </a:r>
            <a:endParaRPr lang="en-US" dirty="0"/>
          </a:p>
          <a:p>
            <a:pPr marL="0" lvl="0" indent="0" algn="l" rtl="0">
              <a:lnSpc>
                <a:spcPct val="50000"/>
              </a:lnSpc>
              <a:spcBef>
                <a:spcPts val="0"/>
              </a:spcBef>
              <a:spcAft>
                <a:spcPts val="0"/>
              </a:spcAft>
              <a:buClr>
                <a:schemeClr val="dk1"/>
              </a:buClr>
              <a:buSzPts val="713"/>
              <a:buFont typeface="Arial"/>
              <a:buNone/>
            </a:pPr>
            <a:r>
              <a:rPr lang="en-US" sz="1200" b="0" dirty="0">
                <a:solidFill>
                  <a:schemeClr val="dk1"/>
                </a:solidFill>
                <a:latin typeface="Arial"/>
                <a:ea typeface="Arial"/>
                <a:cs typeface="Arial"/>
                <a:sym typeface="Arial"/>
              </a:rPr>
              <a:t>When it comes to Configuration Management, Admins face the challenge of enforcing global and regional standards as they struggle to manage configuration drifts across hosts, clusters, VCs, and SDDCs. The process is manual, tedious, prone to error, hard-to-track, and often requires them to use multiple technologies and interfaces. </a:t>
            </a:r>
            <a:endParaRPr lang="en-US" dirty="0"/>
          </a:p>
          <a:p>
            <a:pPr marL="0" lvl="0" indent="0" algn="l" rtl="0">
              <a:lnSpc>
                <a:spcPct val="50000"/>
              </a:lnSpc>
              <a:spcBef>
                <a:spcPts val="0"/>
              </a:spcBef>
              <a:spcAft>
                <a:spcPts val="0"/>
              </a:spcAft>
              <a:buClr>
                <a:schemeClr val="dk1"/>
              </a:buClr>
              <a:buSzPts val="713"/>
              <a:buFont typeface="Arial"/>
              <a:buNone/>
            </a:pPr>
            <a:endParaRPr lang="en-US" sz="1200" b="0" dirty="0">
              <a:solidFill>
                <a:schemeClr val="dk1"/>
              </a:solidFill>
              <a:latin typeface="Arial"/>
              <a:ea typeface="Arial"/>
              <a:cs typeface="Arial"/>
              <a:sym typeface="Arial"/>
            </a:endParaRPr>
          </a:p>
          <a:p>
            <a:pPr marL="0" marR="0" lvl="0" indent="0" algn="l" rtl="0">
              <a:lnSpc>
                <a:spcPct val="50000"/>
              </a:lnSpc>
              <a:spcBef>
                <a:spcPts val="0"/>
              </a:spcBef>
              <a:spcAft>
                <a:spcPts val="0"/>
              </a:spcAft>
              <a:buClr>
                <a:schemeClr val="dk1"/>
              </a:buClr>
              <a:buSzPts val="713"/>
              <a:buFont typeface="Arial"/>
              <a:buNone/>
            </a:pPr>
            <a:r>
              <a:rPr lang="en-US" sz="1200" b="0" dirty="0">
                <a:solidFill>
                  <a:schemeClr val="dk1"/>
                </a:solidFill>
                <a:latin typeface="Arial"/>
                <a:ea typeface="Arial"/>
                <a:cs typeface="Arial"/>
                <a:sym typeface="Arial"/>
              </a:rPr>
              <a:t>Unified Configuration Management within VCF alleviates these challenges by preventing misconfiguration from going unnoticed, reducing the risk of security breaches, and keeping their environment running smoothly with the following enhancements and capabilities:</a:t>
            </a:r>
            <a:endParaRPr lang="en-US" dirty="0"/>
          </a:p>
          <a:p>
            <a:pPr marL="0" marR="0" lvl="0" indent="0" algn="l" rtl="0">
              <a:lnSpc>
                <a:spcPct val="50000"/>
              </a:lnSpc>
              <a:spcBef>
                <a:spcPts val="0"/>
              </a:spcBef>
              <a:spcAft>
                <a:spcPts val="0"/>
              </a:spcAft>
              <a:buClr>
                <a:schemeClr val="dk1"/>
              </a:buClr>
              <a:buSzPts val="713"/>
              <a:buFont typeface="Arial"/>
              <a:buNone/>
            </a:pPr>
            <a:endParaRPr lang="en-US" sz="1200" b="0" dirty="0">
              <a:solidFill>
                <a:schemeClr val="dk1"/>
              </a:solidFill>
              <a:latin typeface="Arial"/>
              <a:ea typeface="Arial"/>
              <a:cs typeface="Arial"/>
              <a:sym typeface="Arial"/>
            </a:endParaRPr>
          </a:p>
          <a:p>
            <a:pPr marL="171450" marR="0" lvl="0" indent="-171450" algn="l" rtl="0">
              <a:lnSpc>
                <a:spcPct val="50000"/>
              </a:lnSpc>
              <a:spcBef>
                <a:spcPts val="0"/>
              </a:spcBef>
              <a:spcAft>
                <a:spcPts val="0"/>
              </a:spcAft>
              <a:buClr>
                <a:schemeClr val="dk1"/>
              </a:buClr>
              <a:buSzPts val="713"/>
              <a:buFont typeface="Arial"/>
              <a:buChar char="•"/>
            </a:pPr>
            <a:r>
              <a:rPr lang="en-US" sz="1200" b="0" dirty="0">
                <a:solidFill>
                  <a:schemeClr val="dk1"/>
                </a:solidFill>
                <a:latin typeface="Arial"/>
                <a:ea typeface="Arial"/>
                <a:cs typeface="Arial"/>
                <a:sym typeface="Arial"/>
              </a:rPr>
              <a:t>Schedule Drift Detection: Ability to use the VCF  Operations console to schedule a Drift Detection job based on the </a:t>
            </a:r>
            <a:r>
              <a:rPr lang="en-US" sz="1200" b="0" dirty="0" err="1">
                <a:solidFill>
                  <a:schemeClr val="dk1"/>
                </a:solidFill>
                <a:latin typeface="Arial"/>
                <a:ea typeface="Arial"/>
                <a:cs typeface="Arial"/>
                <a:sym typeface="Arial"/>
              </a:rPr>
              <a:t>vCenters</a:t>
            </a:r>
            <a:r>
              <a:rPr lang="en-US" sz="1200" b="0" dirty="0">
                <a:solidFill>
                  <a:schemeClr val="dk1"/>
                </a:solidFill>
                <a:latin typeface="Arial"/>
                <a:ea typeface="Arial"/>
                <a:cs typeface="Arial"/>
                <a:sym typeface="Arial"/>
              </a:rPr>
              <a:t> scoped in a Policy with activated Templates. You can perform an on-demand job, schedule a single job in the future, or a repeatable Drift Detection job. You can see a list of active jobs and historical Drift Detection jobs in the Automation/Orchestration service. The drift status of each vCenter will be stored by the VCF Operations console.</a:t>
            </a:r>
            <a:endParaRPr lang="en-US" dirty="0"/>
          </a:p>
          <a:p>
            <a:pPr marL="171450" marR="0" lvl="0" indent="-171450" algn="l" rtl="0">
              <a:lnSpc>
                <a:spcPct val="50000"/>
              </a:lnSpc>
              <a:spcBef>
                <a:spcPts val="0"/>
              </a:spcBef>
              <a:spcAft>
                <a:spcPts val="0"/>
              </a:spcAft>
              <a:buClr>
                <a:schemeClr val="dk1"/>
              </a:buClr>
              <a:buSzPts val="713"/>
              <a:buFont typeface="Arial"/>
              <a:buChar char="•"/>
            </a:pPr>
            <a:r>
              <a:rPr lang="en-US" sz="1200" b="0" dirty="0">
                <a:solidFill>
                  <a:schemeClr val="dk1"/>
                </a:solidFill>
                <a:latin typeface="Arial"/>
                <a:ea typeface="Arial"/>
                <a:cs typeface="Arial"/>
                <a:sym typeface="Arial"/>
              </a:rPr>
              <a:t>Download the Drift Status Report: Ability to select one or more </a:t>
            </a:r>
            <a:r>
              <a:rPr lang="en-US" sz="1200" b="0" dirty="0" err="1">
                <a:solidFill>
                  <a:schemeClr val="dk1"/>
                </a:solidFill>
                <a:latin typeface="Arial"/>
                <a:ea typeface="Arial"/>
                <a:cs typeface="Arial"/>
                <a:sym typeface="Arial"/>
              </a:rPr>
              <a:t>vCenters</a:t>
            </a:r>
            <a:r>
              <a:rPr lang="en-US" sz="1200" b="0" dirty="0">
                <a:solidFill>
                  <a:schemeClr val="dk1"/>
                </a:solidFill>
                <a:latin typeface="Arial"/>
                <a:ea typeface="Arial"/>
                <a:cs typeface="Arial"/>
                <a:sym typeface="Arial"/>
              </a:rPr>
              <a:t> with the associated templates and download a PDF report containing the Template drift status of each vCenter within the Configuration Drift Management retention period.</a:t>
            </a:r>
            <a:endParaRPr lang="en-US" dirty="0"/>
          </a:p>
          <a:p>
            <a:pPr marL="171450" marR="0" lvl="0" indent="-171450" algn="l" rtl="0">
              <a:lnSpc>
                <a:spcPct val="50000"/>
              </a:lnSpc>
              <a:spcBef>
                <a:spcPts val="0"/>
              </a:spcBef>
              <a:spcAft>
                <a:spcPts val="0"/>
              </a:spcAft>
              <a:buClr>
                <a:schemeClr val="dk1"/>
              </a:buClr>
              <a:buSzPts val="713"/>
              <a:buFont typeface="Arial"/>
              <a:buChar char="•"/>
            </a:pPr>
            <a:r>
              <a:rPr lang="en-US" sz="1200" b="0" dirty="0">
                <a:solidFill>
                  <a:schemeClr val="dk1"/>
                </a:solidFill>
                <a:latin typeface="Arial"/>
                <a:ea typeface="Arial"/>
                <a:cs typeface="Arial"/>
                <a:sym typeface="Arial"/>
              </a:rPr>
              <a:t>Git Repo Integration: The VCF Operations console retains, displays, and uses one local copy of a Template. In order to perform advanced Template functions like versioning, you can connect the Configuration Template service with a third-party Git-based repository. On successful connection, the VCF Operations console automatically creates a merge request when a Configuration Template is created or modified in the VCF Operations console. The connected Git repository becomes the primary owner of the Templates when the connection is established. Hence, although Templates can be edited and created in the VCF Operations console, you must pull any merged requests from the Git repository.</a:t>
            </a:r>
            <a:endParaRPr lang="en-US" dirty="0"/>
          </a:p>
          <a:p>
            <a:pPr marL="171450" marR="0" lvl="0" indent="-171450" algn="l" rtl="0">
              <a:lnSpc>
                <a:spcPct val="50000"/>
              </a:lnSpc>
              <a:spcBef>
                <a:spcPts val="0"/>
              </a:spcBef>
              <a:spcAft>
                <a:spcPts val="0"/>
              </a:spcAft>
              <a:buClr>
                <a:schemeClr val="dk1"/>
              </a:buClr>
              <a:buSzPts val="713"/>
              <a:buFont typeface="Arial"/>
              <a:buChar char="•"/>
            </a:pPr>
            <a:r>
              <a:rPr lang="en-US" sz="1200" b="0" dirty="0">
                <a:solidFill>
                  <a:schemeClr val="dk1"/>
                </a:solidFill>
                <a:latin typeface="Arial"/>
                <a:ea typeface="Arial"/>
                <a:cs typeface="Arial"/>
                <a:sym typeface="Arial"/>
              </a:rPr>
              <a:t>vSphere Configuration Profile-Enabled Cluster Status: For clusters activated with vSphere Configuration Profiles (VCP), the Configuration Drifts service lists and displays the VCP Drift status of all activated clusters in an aggregated view based on global VCF instances, specific VCF instances, or specific Workload domains. </a:t>
            </a:r>
            <a:endParaRPr lang="en-US" dirty="0"/>
          </a:p>
          <a:p>
            <a:pPr marL="171450" marR="0" lvl="0" indent="-171450" algn="l" rtl="0">
              <a:lnSpc>
                <a:spcPct val="50000"/>
              </a:lnSpc>
              <a:spcBef>
                <a:spcPts val="0"/>
              </a:spcBef>
              <a:spcAft>
                <a:spcPts val="0"/>
              </a:spcAft>
              <a:buClr>
                <a:schemeClr val="dk1"/>
              </a:buClr>
              <a:buSzPts val="713"/>
              <a:buFont typeface="Arial"/>
              <a:buChar char="•"/>
            </a:pPr>
            <a:r>
              <a:rPr lang="en-US" sz="1200" b="0" dirty="0">
                <a:solidFill>
                  <a:schemeClr val="dk1"/>
                </a:solidFill>
                <a:latin typeface="Arial"/>
                <a:ea typeface="Arial"/>
                <a:cs typeface="Arial"/>
                <a:sym typeface="Arial"/>
              </a:rPr>
              <a:t>Edit Configuration Templates: Ability to edit Configuration templates. The Edit template capability allows you to remove and add vCenter Schema Configuration items to an existing Template. Additionally, you can edit values of existing or new vCenter Schema Configuration items. The VCF Operations console validates the edited values before changes are saved.</a:t>
            </a:r>
            <a:endParaRPr lang="en-US" dirty="0"/>
          </a:p>
          <a:p>
            <a:pPr marL="171450" marR="0" lvl="0" indent="-126174" algn="l" rtl="0">
              <a:lnSpc>
                <a:spcPct val="50000"/>
              </a:lnSpc>
              <a:spcBef>
                <a:spcPts val="0"/>
              </a:spcBef>
              <a:spcAft>
                <a:spcPts val="0"/>
              </a:spcAft>
              <a:buClr>
                <a:schemeClr val="dk1"/>
              </a:buClr>
              <a:buSzPts val="713"/>
              <a:buFont typeface="Arial"/>
              <a:buNone/>
            </a:pPr>
            <a:endParaRPr lang="en-US" sz="1200" b="0" dirty="0">
              <a:solidFill>
                <a:schemeClr val="dk1"/>
              </a:solidFill>
              <a:latin typeface="Arial"/>
              <a:ea typeface="Arial"/>
              <a:cs typeface="Arial"/>
              <a:sym typeface="Arial"/>
            </a:endParaRPr>
          </a:p>
          <a:p>
            <a:pPr marL="0" marR="0" lvl="0" indent="0" algn="l" rtl="0">
              <a:lnSpc>
                <a:spcPct val="90000"/>
              </a:lnSpc>
              <a:spcBef>
                <a:spcPts val="0"/>
              </a:spcBef>
              <a:spcAft>
                <a:spcPts val="0"/>
              </a:spcAft>
              <a:buClr>
                <a:schemeClr val="dk1"/>
              </a:buClr>
              <a:buSzPts val="1110"/>
              <a:buFont typeface="Arial"/>
              <a:buNone/>
            </a:pPr>
            <a:r>
              <a:rPr lang="en-US" sz="1200" b="1" u="none" strike="noStrike" dirty="0">
                <a:solidFill>
                  <a:schemeClr val="dk1"/>
                </a:solidFill>
              </a:rPr>
              <a:t>Notes:</a:t>
            </a:r>
            <a:endParaRPr lang="en-US" dirty="0"/>
          </a:p>
          <a:p>
            <a:pPr marL="0" marR="0" lvl="0" indent="0" algn="l" rtl="0">
              <a:lnSpc>
                <a:spcPct val="90000"/>
              </a:lnSpc>
              <a:spcBef>
                <a:spcPts val="0"/>
              </a:spcBef>
              <a:spcAft>
                <a:spcPts val="0"/>
              </a:spcAft>
              <a:buClr>
                <a:schemeClr val="dk1"/>
              </a:buClr>
              <a:buSzPts val="1110"/>
              <a:buFont typeface="Arial"/>
              <a:buNone/>
            </a:pPr>
            <a:endParaRPr lang="en-US" sz="1200" u="none" strike="noStrike" dirty="0">
              <a:solidFill>
                <a:schemeClr val="dk1"/>
              </a:solidFill>
            </a:endParaRPr>
          </a:p>
          <a:p>
            <a:pPr marL="0" lvl="0" indent="0" algn="l" rtl="0">
              <a:lnSpc>
                <a:spcPct val="90000"/>
              </a:lnSpc>
              <a:spcBef>
                <a:spcPts val="0"/>
              </a:spcBef>
              <a:spcAft>
                <a:spcPts val="0"/>
              </a:spcAft>
              <a:buNone/>
            </a:pPr>
            <a:r>
              <a:rPr lang="en-US" sz="1200" b="1" u="none" strike="noStrike" dirty="0">
                <a:solidFill>
                  <a:schemeClr val="dk1"/>
                </a:solidFill>
              </a:rPr>
              <a:t>Resources:</a:t>
            </a:r>
            <a:endParaRPr lang="en-US" sz="1200" b="0" u="none" strike="noStrike" dirty="0">
              <a:solidFill>
                <a:srgbClr val="DCA10D"/>
              </a:solidFill>
              <a:latin typeface="Helvetica Neue"/>
              <a:ea typeface="Helvetica Neue"/>
              <a:cs typeface="Helvetica Neue"/>
              <a:sym typeface="Helvetica Neue"/>
            </a:endParaRPr>
          </a:p>
          <a:p>
            <a:pPr marL="0" lvl="0" indent="0" algn="l" rtl="0">
              <a:lnSpc>
                <a:spcPct val="90000"/>
              </a:lnSpc>
              <a:spcBef>
                <a:spcPts val="0"/>
              </a:spcBef>
              <a:spcAft>
                <a:spcPts val="0"/>
              </a:spcAft>
              <a:buNone/>
            </a:pPr>
            <a:endParaRPr lang="en-US" sz="1200" b="0" dirty="0">
              <a:solidFill>
                <a:schemeClr val="dk1"/>
              </a:solidFill>
              <a:latin typeface="Arial"/>
              <a:ea typeface="Arial"/>
              <a:cs typeface="Arial"/>
              <a:sym typeface="Arial"/>
            </a:endParaRPr>
          </a:p>
          <a:p>
            <a:pPr marL="0" lvl="0" indent="0" algn="l" rtl="0">
              <a:lnSpc>
                <a:spcPct val="50000"/>
              </a:lnSpc>
              <a:spcBef>
                <a:spcPts val="0"/>
              </a:spcBef>
              <a:spcAft>
                <a:spcPts val="0"/>
              </a:spcAft>
              <a:buClr>
                <a:schemeClr val="dk1"/>
              </a:buClr>
              <a:buSzPts val="713"/>
              <a:buFont typeface="Arial"/>
              <a:buNone/>
            </a:pPr>
            <a:endParaRPr lang="en-US" sz="1200" dirty="0">
              <a:latin typeface="Arial"/>
              <a:ea typeface="Arial"/>
              <a:cs typeface="Arial"/>
              <a:sym typeface="Arial"/>
            </a:endParaRPr>
          </a:p>
          <a:p>
            <a:pPr marL="0" lvl="0" indent="0" algn="l" rtl="0">
              <a:lnSpc>
                <a:spcPct val="70000"/>
              </a:lnSpc>
              <a:spcBef>
                <a:spcPts val="0"/>
              </a:spcBef>
              <a:spcAft>
                <a:spcPts val="0"/>
              </a:spcAft>
              <a:buClr>
                <a:schemeClr val="dk1"/>
              </a:buClr>
              <a:buSzPts val="1295"/>
              <a:buFont typeface="Arial"/>
              <a:buNone/>
            </a:pPr>
            <a:endParaRPr lang="en-US" sz="1400" dirty="0"/>
          </a:p>
          <a:p>
            <a:pPr marL="0" lvl="0" indent="0" algn="l" rtl="0">
              <a:lnSpc>
                <a:spcPct val="90000"/>
              </a:lnSpc>
              <a:spcBef>
                <a:spcPts val="0"/>
              </a:spcBef>
              <a:spcAft>
                <a:spcPts val="0"/>
              </a:spcAft>
              <a:buNone/>
            </a:pPr>
            <a:endParaRPr lang="en-US" sz="1200" dirty="0"/>
          </a:p>
          <a:p>
            <a:endParaRPr lang="en-US" dirty="0"/>
          </a:p>
        </p:txBody>
      </p:sp>
      <p:sp>
        <p:nvSpPr>
          <p:cNvPr id="4" name="Slide Number Placeholder 3">
            <a:extLst>
              <a:ext uri="{FF2B5EF4-FFF2-40B4-BE49-F238E27FC236}">
                <a16:creationId xmlns:a16="http://schemas.microsoft.com/office/drawing/2014/main" id="{D22967D9-FACB-4409-0673-7623B034B2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82717171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019EE-A0F3-1B83-F658-E6AD7F1682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28821-14AB-3CA1-9327-28B4DC48B8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67723E-0332-785C-668F-0A1E0DDE2747}"/>
              </a:ext>
            </a:extLst>
          </p:cNvPr>
          <p:cNvSpPr>
            <a:spLocks noGrp="1"/>
          </p:cNvSpPr>
          <p:nvPr>
            <p:ph type="body" idx="1"/>
          </p:nvPr>
        </p:nvSpPr>
        <p:spPr/>
        <p:txBody>
          <a:bodyPr/>
          <a:lstStyle/>
          <a:p>
            <a:pPr marL="0" lvl="0" indent="0" algn="l" rtl="0">
              <a:lnSpc>
                <a:spcPct val="60000"/>
              </a:lnSpc>
              <a:spcBef>
                <a:spcPts val="0"/>
              </a:spcBef>
              <a:spcAft>
                <a:spcPts val="0"/>
              </a:spcAft>
              <a:buClr>
                <a:schemeClr val="dk1"/>
              </a:buClr>
              <a:buSzPts val="713"/>
              <a:buFont typeface="Arial"/>
              <a:buNone/>
            </a:pPr>
            <a:r>
              <a:rPr lang="en-US" sz="800" b="1" dirty="0">
                <a:latin typeface="Metropolis" panose="00000500000000000000" pitchFamily="2" charset="0"/>
              </a:rPr>
              <a:t>Key Message:</a:t>
            </a:r>
          </a:p>
          <a:p>
            <a:pPr marL="0" lvl="0" indent="0" algn="l" rtl="0">
              <a:lnSpc>
                <a:spcPct val="60000"/>
              </a:lnSpc>
              <a:spcBef>
                <a:spcPts val="0"/>
              </a:spcBef>
              <a:spcAft>
                <a:spcPts val="0"/>
              </a:spcAft>
              <a:buClr>
                <a:schemeClr val="dk1"/>
              </a:buClr>
              <a:buSzPts val="713"/>
              <a:buFont typeface="Arial"/>
              <a:buNone/>
            </a:pPr>
            <a:r>
              <a:rPr lang="en-US" b="0" i="0" dirty="0">
                <a:solidFill>
                  <a:srgbClr val="172B4D"/>
                </a:solidFill>
                <a:effectLst/>
                <a:latin typeface="-apple-system"/>
              </a:rPr>
              <a:t>Customers, the ability to manage tags end to end for all objects, without having to switch consoles.</a:t>
            </a:r>
            <a:endParaRPr lang="en-US" sz="800" b="0" dirty="0">
              <a:latin typeface="Metropolis" panose="00000500000000000000" pitchFamily="2" charset="0"/>
            </a:endParaRPr>
          </a:p>
          <a:p>
            <a:pPr marL="0" lvl="0" indent="0" algn="l" rtl="0">
              <a:lnSpc>
                <a:spcPct val="60000"/>
              </a:lnSpc>
              <a:spcBef>
                <a:spcPts val="0"/>
              </a:spcBef>
              <a:spcAft>
                <a:spcPts val="0"/>
              </a:spcAft>
              <a:buClr>
                <a:schemeClr val="dk1"/>
              </a:buClr>
              <a:buSzPts val="713"/>
              <a:buFont typeface="Arial"/>
              <a:buNone/>
            </a:pPr>
            <a:endParaRPr lang="en-US" sz="800" b="1" dirty="0">
              <a:latin typeface="Metropolis" panose="00000500000000000000" pitchFamily="2" charset="0"/>
            </a:endParaRPr>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r>
              <a:rPr lang="en-US" sz="800" b="1" dirty="0">
                <a:latin typeface="Metropolis" panose="00000500000000000000" pitchFamily="2" charset="0"/>
              </a:rPr>
              <a:t>Talk Track:</a:t>
            </a:r>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r>
              <a:rPr lang="en-US" sz="1000" b="0" i="0" dirty="0">
                <a:solidFill>
                  <a:srgbClr val="172B4D"/>
                </a:solidFill>
                <a:effectLst/>
                <a:latin typeface="-apple-system"/>
              </a:rPr>
              <a:t>Tags can help you manage, identify, organize, search for, and filter resources. </a:t>
            </a:r>
            <a:r>
              <a:rPr lang="en-US" sz="1200" b="0" i="0" dirty="0">
                <a:solidFill>
                  <a:srgbClr val="172B4D"/>
                </a:solidFill>
                <a:effectLst/>
                <a:latin typeface="-apple-system"/>
              </a:rPr>
              <a:t>Prior to VCF 9, there were multiple different tagging/grouping solutions across vSphere, NSX, </a:t>
            </a:r>
            <a:r>
              <a:rPr lang="en-US" sz="1200" b="0" i="0" dirty="0" err="1">
                <a:solidFill>
                  <a:srgbClr val="172B4D"/>
                </a:solidFill>
                <a:effectLst/>
                <a:latin typeface="-apple-system"/>
              </a:rPr>
              <a:t>vROps</a:t>
            </a:r>
            <a:r>
              <a:rPr lang="en-US" sz="1200" b="0" i="0" dirty="0">
                <a:solidFill>
                  <a:srgbClr val="172B4D"/>
                </a:solidFill>
                <a:effectLst/>
                <a:latin typeface="-apple-system"/>
              </a:rPr>
              <a:t>, </a:t>
            </a:r>
            <a:r>
              <a:rPr lang="en-US" sz="1200" b="0" i="0" dirty="0" err="1">
                <a:solidFill>
                  <a:srgbClr val="172B4D"/>
                </a:solidFill>
                <a:effectLst/>
                <a:latin typeface="-apple-system"/>
              </a:rPr>
              <a:t>vRA</a:t>
            </a:r>
            <a:r>
              <a:rPr lang="en-US" sz="1200" b="0" i="0" dirty="0">
                <a:solidFill>
                  <a:srgbClr val="172B4D"/>
                </a:solidFill>
                <a:effectLst/>
                <a:latin typeface="-apple-system"/>
              </a:rPr>
              <a:t> which created some challenges, including Tag Duplication, Tag Loss (if VMs were moved across </a:t>
            </a:r>
            <a:r>
              <a:rPr lang="en-US" sz="1200" b="0" i="0" dirty="0" err="1">
                <a:solidFill>
                  <a:srgbClr val="172B4D"/>
                </a:solidFill>
                <a:effectLst/>
                <a:latin typeface="-apple-system"/>
              </a:rPr>
              <a:t>vCenters</a:t>
            </a:r>
            <a:r>
              <a:rPr lang="en-US" sz="1200" b="0" i="0" dirty="0">
                <a:solidFill>
                  <a:srgbClr val="172B4D"/>
                </a:solidFill>
                <a:effectLst/>
                <a:latin typeface="-apple-system"/>
              </a:rPr>
              <a:t>), </a:t>
            </a:r>
            <a:r>
              <a:rPr lang="en-US" sz="1200" b="0" i="0" u="sng" dirty="0">
                <a:solidFill>
                  <a:srgbClr val="172B4D"/>
                </a:solidFill>
                <a:effectLst/>
                <a:latin typeface="-apple-system"/>
              </a:rPr>
              <a:t> and Tag Inconsistency</a:t>
            </a:r>
            <a:endParaRPr lang="en-US" sz="1200" b="0" i="0" u="sng" dirty="0">
              <a:solidFill>
                <a:srgbClr val="172B4D"/>
              </a:solidFill>
              <a:effectLst/>
              <a:latin typeface="-apple-system"/>
              <a:sym typeface="Arial"/>
            </a:endParaRPr>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endParaRPr lang="en-US" sz="1200" b="0" i="0" u="sng" dirty="0">
              <a:solidFill>
                <a:srgbClr val="172B4D"/>
              </a:solidFill>
              <a:effectLst/>
              <a:latin typeface="-apple-system"/>
              <a:sym typeface="Arial"/>
            </a:endParaRPr>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r>
              <a:rPr lang="en-US" sz="1000" b="0" i="0" dirty="0">
                <a:solidFill>
                  <a:srgbClr val="172B4D"/>
                </a:solidFill>
                <a:effectLst/>
                <a:latin typeface="-apple-system"/>
                <a:sym typeface="Arial"/>
              </a:rPr>
              <a:t>Now that these solutions are now unified as VMware Cloud Foundation (VCF), VCF 9 address these challenges by providing customers a </a:t>
            </a:r>
            <a:r>
              <a:rPr lang="en-US" sz="1200" b="0" i="0" dirty="0">
                <a:solidFill>
                  <a:srgbClr val="172B4D"/>
                </a:solidFill>
                <a:effectLst/>
                <a:latin typeface="-apple-system"/>
              </a:rPr>
              <a:t>Unified E2E workflow to create, manage, assign tags, resolve conflicts without the need for them to manage tags in multiple locations. </a:t>
            </a:r>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endParaRPr lang="en-US" sz="1200" b="0" i="0" dirty="0">
              <a:solidFill>
                <a:srgbClr val="172B4D"/>
              </a:solidFill>
              <a:effectLst/>
              <a:latin typeface="-apple-system"/>
              <a:sym typeface="Arial"/>
            </a:endParaRPr>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r>
              <a:rPr lang="en-US" sz="1200" b="0" i="0" dirty="0">
                <a:solidFill>
                  <a:srgbClr val="172B4D"/>
                </a:solidFill>
                <a:effectLst/>
                <a:latin typeface="-apple-system"/>
                <a:sym typeface="Arial"/>
              </a:rPr>
              <a:t>With VCF 9, customers can:</a:t>
            </a:r>
          </a:p>
          <a:p>
            <a:pPr marL="457200" marR="0" lvl="0" indent="-457200" algn="l" defTabSz="914400" rtl="0" eaLnBrk="1" fontAlgn="auto" latinLnBrk="0" hangingPunct="1">
              <a:lnSpc>
                <a:spcPct val="60000"/>
              </a:lnSpc>
              <a:spcBef>
                <a:spcPts val="0"/>
              </a:spcBef>
              <a:spcAft>
                <a:spcPts val="0"/>
              </a:spcAft>
              <a:buClr>
                <a:schemeClr val="dk1"/>
              </a:buClr>
              <a:buSzPts val="713"/>
              <a:buFont typeface="Arial" panose="020B0604020202020204" pitchFamily="34" charset="0"/>
              <a:buChar char="•"/>
              <a:tabLst/>
              <a:defRPr/>
            </a:pPr>
            <a:r>
              <a:rPr lang="en-US" sz="1100" dirty="0"/>
              <a:t>Create, edit, delete categories and tags from a single pane of glass</a:t>
            </a:r>
          </a:p>
          <a:p>
            <a:pPr marL="457200" marR="0" lvl="0" indent="-457200" algn="l" defTabSz="914400" rtl="0" eaLnBrk="1" fontAlgn="auto" latinLnBrk="0" hangingPunct="1">
              <a:lnSpc>
                <a:spcPct val="60000"/>
              </a:lnSpc>
              <a:spcBef>
                <a:spcPts val="0"/>
              </a:spcBef>
              <a:spcAft>
                <a:spcPts val="0"/>
              </a:spcAft>
              <a:buClr>
                <a:schemeClr val="dk1"/>
              </a:buClr>
              <a:buSzPts val="713"/>
              <a:buFont typeface="Arial" panose="020B0604020202020204" pitchFamily="34" charset="0"/>
              <a:buChar char="•"/>
              <a:tabLst/>
              <a:defRPr/>
            </a:pPr>
            <a:r>
              <a:rPr lang="en-US" sz="1100" dirty="0"/>
              <a:t>Import brownfield categories and tags from </a:t>
            </a:r>
            <a:r>
              <a:rPr lang="en-US" sz="1100" dirty="0" err="1"/>
              <a:t>vCenters</a:t>
            </a:r>
            <a:r>
              <a:rPr lang="en-US" sz="1100" dirty="0"/>
              <a:t> and evaluate conflicts</a:t>
            </a:r>
          </a:p>
          <a:p>
            <a:pPr marL="457200" marR="0" lvl="0" indent="-457200" algn="l" defTabSz="914400" rtl="0" eaLnBrk="1" fontAlgn="auto" latinLnBrk="0" hangingPunct="1">
              <a:lnSpc>
                <a:spcPct val="60000"/>
              </a:lnSpc>
              <a:spcBef>
                <a:spcPts val="0"/>
              </a:spcBef>
              <a:spcAft>
                <a:spcPts val="0"/>
              </a:spcAft>
              <a:buClr>
                <a:schemeClr val="dk1"/>
              </a:buClr>
              <a:buSzPts val="713"/>
              <a:buFont typeface="Arial" panose="020B0604020202020204" pitchFamily="34" charset="0"/>
              <a:buChar char="•"/>
              <a:tabLst/>
              <a:defRPr/>
            </a:pPr>
            <a:r>
              <a:rPr lang="en-US" sz="1100" dirty="0"/>
              <a:t>Push categories and tags to </a:t>
            </a:r>
            <a:r>
              <a:rPr lang="en-US" sz="1100" dirty="0" err="1"/>
              <a:t>vCenters</a:t>
            </a:r>
            <a:endParaRPr lang="en-US" sz="1100" dirty="0">
              <a:solidFill>
                <a:schemeClr val="dk1"/>
              </a:solidFill>
            </a:endParaRPr>
          </a:p>
          <a:p>
            <a:pPr marL="457200" marR="0" lvl="0" indent="-457200" algn="l" defTabSz="914400" rtl="0" eaLnBrk="1" fontAlgn="auto" latinLnBrk="0" hangingPunct="1">
              <a:lnSpc>
                <a:spcPct val="60000"/>
              </a:lnSpc>
              <a:spcBef>
                <a:spcPts val="0"/>
              </a:spcBef>
              <a:spcAft>
                <a:spcPts val="0"/>
              </a:spcAft>
              <a:buClr>
                <a:schemeClr val="dk1"/>
              </a:buClr>
              <a:buSzPts val="713"/>
              <a:buFont typeface="Arial" panose="020B0604020202020204" pitchFamily="34" charset="0"/>
              <a:buChar char="•"/>
              <a:tabLst/>
              <a:defRPr/>
            </a:pPr>
            <a:r>
              <a:rPr lang="en-US" sz="1100" dirty="0"/>
              <a:t>Pushed tags are persisted across </a:t>
            </a:r>
            <a:r>
              <a:rPr lang="en-US" sz="1100" dirty="0" err="1"/>
              <a:t>vCenters</a:t>
            </a:r>
            <a:r>
              <a:rPr lang="en-US" sz="1100" dirty="0"/>
              <a:t> after </a:t>
            </a:r>
            <a:r>
              <a:rPr lang="en-US" sz="1100" dirty="0" err="1"/>
              <a:t>vMotion</a:t>
            </a:r>
            <a:endParaRPr lang="en-US" sz="1100" dirty="0"/>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endParaRPr lang="en-US" sz="1100" dirty="0"/>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r>
              <a:rPr lang="en-US" sz="1100" dirty="0"/>
              <a:t>And, as a result of these new capabilities, customers will be able to</a:t>
            </a:r>
          </a:p>
          <a:p>
            <a:pPr marL="457200" marR="0" lvl="0" indent="-457200" algn="l" defTabSz="914400" rtl="0" eaLnBrk="1" fontAlgn="auto" latinLnBrk="0" hangingPunct="1">
              <a:lnSpc>
                <a:spcPct val="60000"/>
              </a:lnSpc>
              <a:spcBef>
                <a:spcPts val="0"/>
              </a:spcBef>
              <a:spcAft>
                <a:spcPts val="0"/>
              </a:spcAft>
              <a:buClr>
                <a:schemeClr val="dk1"/>
              </a:buClr>
              <a:buSzPts val="713"/>
              <a:buFont typeface="Arial" panose="020B0604020202020204" pitchFamily="34" charset="0"/>
              <a:buChar char="•"/>
              <a:tabLst/>
              <a:defRPr/>
            </a:pPr>
            <a:r>
              <a:rPr lang="en-US" sz="1100" dirty="0"/>
              <a:t>Ensure consistent behavior across services to create and manage tags</a:t>
            </a:r>
          </a:p>
          <a:p>
            <a:pPr marL="457200" marR="0" lvl="0" indent="-457200" algn="l" defTabSz="914400" rtl="0" eaLnBrk="1" fontAlgn="auto" latinLnBrk="0" hangingPunct="1">
              <a:lnSpc>
                <a:spcPct val="60000"/>
              </a:lnSpc>
              <a:spcBef>
                <a:spcPts val="0"/>
              </a:spcBef>
              <a:spcAft>
                <a:spcPts val="0"/>
              </a:spcAft>
              <a:buClr>
                <a:schemeClr val="dk1"/>
              </a:buClr>
              <a:buSzPts val="713"/>
              <a:buFont typeface="Arial" panose="020B0604020202020204" pitchFamily="34" charset="0"/>
              <a:buChar char="•"/>
              <a:tabLst/>
              <a:defRPr/>
            </a:pPr>
            <a:r>
              <a:rPr lang="en-US" sz="1100" dirty="0"/>
              <a:t>Easily identify and eliminate duplicate tags across vCenter server </a:t>
            </a:r>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endParaRPr lang="en-US" sz="1000" b="0" i="0" dirty="0">
              <a:solidFill>
                <a:srgbClr val="172B4D"/>
              </a:solidFill>
              <a:effectLst/>
              <a:latin typeface="-apple-system"/>
              <a:sym typeface="Arial"/>
            </a:endParaRPr>
          </a:p>
          <a:p>
            <a:pPr marL="0" lvl="0" indent="0" algn="l" rtl="0">
              <a:spcBef>
                <a:spcPts val="0"/>
              </a:spcBef>
              <a:spcAft>
                <a:spcPts val="0"/>
              </a:spcAft>
              <a:buNone/>
            </a:pPr>
            <a:r>
              <a:rPr lang="en-US" sz="800" b="1" u="none" strike="noStrike" dirty="0">
                <a:solidFill>
                  <a:schemeClr val="dk1"/>
                </a:solidFill>
                <a:latin typeface="Arial" panose="020B0604020202020204" pitchFamily="34" charset="0"/>
                <a:sym typeface="Arial"/>
              </a:rPr>
              <a:t>Notes:</a:t>
            </a:r>
          </a:p>
          <a:p>
            <a:pPr marL="0" lvl="0" indent="0" algn="l" rtl="0">
              <a:spcBef>
                <a:spcPts val="0"/>
              </a:spcBef>
              <a:spcAft>
                <a:spcPts val="0"/>
              </a:spcAft>
              <a:buNone/>
            </a:pPr>
            <a:endParaRPr lang="en-US" sz="800" b="0"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800" b="1" u="none" strike="noStrike" dirty="0">
                <a:solidFill>
                  <a:schemeClr val="dk1"/>
                </a:solidFill>
                <a:latin typeface="Arial" panose="020B0604020202020204" pitchFamily="34" charset="0"/>
                <a:sym typeface="Arial"/>
              </a:rPr>
              <a:t>Resources:</a:t>
            </a:r>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r>
              <a:rPr lang="en-AU" sz="1050" dirty="0">
                <a:effectLst/>
                <a:latin typeface="Helvetica Neue" panose="02000503000000020004" pitchFamily="2" charset="0"/>
              </a:rPr>
              <a:t>Refer to the VMware Cloud Foundation Operations Guide for further information</a:t>
            </a:r>
            <a:br>
              <a:rPr lang="en-AU" sz="1050" dirty="0">
                <a:effectLst/>
                <a:latin typeface="Helvetica Neue" panose="02000503000000020004" pitchFamily="2" charset="0"/>
              </a:rPr>
            </a:br>
            <a:r>
              <a:rPr lang="en-AU" sz="1050" u="sng" dirty="0">
                <a:effectLst/>
                <a:latin typeface="Helvetica Neue" panose="02000503000000020004" pitchFamily="2" charset="0"/>
                <a:hlinkClick r:id="rId3"/>
              </a:rPr>
              <a:t>https://techdocs.broadcom.com/us/en/vmware-cis/vcf.html</a:t>
            </a:r>
            <a:r>
              <a:rPr lang="en-AU" sz="1050" dirty="0">
                <a:effectLst/>
                <a:latin typeface="Helvetica Neue" panose="02000503000000020004" pitchFamily="2" charset="0"/>
              </a:rPr>
              <a:t> </a:t>
            </a:r>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endParaRPr lang="en-US" sz="800" dirty="0">
              <a:sym typeface="Arial"/>
            </a:endParaRPr>
          </a:p>
          <a:p>
            <a:pPr marL="285750" marR="0" lvl="0" indent="-285750" algn="l" defTabSz="914400" rtl="0" eaLnBrk="1" fontAlgn="auto" latinLnBrk="0" hangingPunct="1">
              <a:lnSpc>
                <a:spcPct val="120000"/>
              </a:lnSpc>
              <a:spcBef>
                <a:spcPts val="0"/>
              </a:spcBef>
              <a:spcAft>
                <a:spcPts val="0"/>
              </a:spcAft>
              <a:buClr>
                <a:srgbClr val="61A00A"/>
              </a:buClr>
              <a:buSzPts val="1200"/>
              <a:buFont typeface="Arial"/>
              <a:buChar char="•"/>
              <a:tabLst/>
              <a:defRPr/>
            </a:pPr>
            <a:endParaRPr kumimoji="0" lang="en-US" sz="800" b="0" i="0" u="none" strike="noStrike" kern="0" cap="none" spc="0" normalizeH="0" baseline="0" noProof="0" dirty="0">
              <a:ln>
                <a:noFill/>
              </a:ln>
              <a:solidFill>
                <a:srgbClr val="000000"/>
              </a:solidFill>
              <a:effectLst/>
              <a:uLnTx/>
              <a:uFillTx/>
              <a:latin typeface="Arial"/>
              <a:cs typeface="Arial"/>
              <a:sym typeface="Arial"/>
            </a:endParaRPr>
          </a:p>
          <a:p>
            <a:pPr marL="0" lvl="0" indent="0" algn="l" rtl="0">
              <a:lnSpc>
                <a:spcPct val="100000"/>
              </a:lnSpc>
              <a:spcBef>
                <a:spcPts val="0"/>
              </a:spcBef>
              <a:spcAft>
                <a:spcPts val="0"/>
              </a:spcAft>
              <a:buClr>
                <a:schemeClr val="dk1"/>
              </a:buClr>
              <a:buSzPts val="1400"/>
              <a:buFont typeface="Arial"/>
              <a:buNone/>
            </a:pPr>
            <a:endParaRPr lang="en-US" dirty="0"/>
          </a:p>
          <a:p>
            <a:endParaRPr lang="en-US" dirty="0"/>
          </a:p>
        </p:txBody>
      </p:sp>
      <p:sp>
        <p:nvSpPr>
          <p:cNvPr id="4" name="Slide Number Placeholder 3">
            <a:extLst>
              <a:ext uri="{FF2B5EF4-FFF2-40B4-BE49-F238E27FC236}">
                <a16:creationId xmlns:a16="http://schemas.microsoft.com/office/drawing/2014/main" id="{36955A30-3141-DCD0-9661-25B8DC51BF0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402209189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3">
          <a:extLst>
            <a:ext uri="{FF2B5EF4-FFF2-40B4-BE49-F238E27FC236}">
              <a16:creationId xmlns:a16="http://schemas.microsoft.com/office/drawing/2014/main" id="{4AC689BE-7FD2-C77F-0B0E-F9B296DAAD49}"/>
            </a:ext>
          </a:extLst>
        </p:cNvPr>
        <p:cNvGrpSpPr/>
        <p:nvPr/>
      </p:nvGrpSpPr>
      <p:grpSpPr>
        <a:xfrm>
          <a:off x="0" y="0"/>
          <a:ext cx="0" cy="0"/>
          <a:chOff x="0" y="0"/>
          <a:chExt cx="0" cy="0"/>
        </a:xfrm>
      </p:grpSpPr>
      <p:sp>
        <p:nvSpPr>
          <p:cNvPr id="5874" name="Google Shape;5874;p70:notes">
            <a:extLst>
              <a:ext uri="{FF2B5EF4-FFF2-40B4-BE49-F238E27FC236}">
                <a16:creationId xmlns:a16="http://schemas.microsoft.com/office/drawing/2014/main" id="{2C7BA8CF-F329-89FD-A66E-7B5EF3AD5B1D}"/>
              </a:ext>
            </a:extLst>
          </p:cNvPr>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75" name="Google Shape;5875;p70:notes">
            <a:extLst>
              <a:ext uri="{FF2B5EF4-FFF2-40B4-BE49-F238E27FC236}">
                <a16:creationId xmlns:a16="http://schemas.microsoft.com/office/drawing/2014/main" id="{EB73999F-A396-2A5A-4904-BD4BD42A8252}"/>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Key Message:</a:t>
            </a:r>
            <a:endParaRPr b="1" dirty="0">
              <a:latin typeface="Arial" panose="020B0604020202020204" pitchFamily="34" charset="0"/>
            </a:endParaRPr>
          </a:p>
          <a:p>
            <a:pPr marL="0" lvl="0" indent="0" algn="l" rtl="0">
              <a:spcBef>
                <a:spcPts val="0"/>
              </a:spcBef>
              <a:spcAft>
                <a:spcPts val="0"/>
              </a:spcAft>
              <a:buNone/>
            </a:pPr>
            <a:endParaRPr sz="1200"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Talk Track:</a:t>
            </a:r>
            <a:endParaRPr b="1" dirty="0">
              <a:latin typeface="Arial" panose="020B0604020202020204" pitchFamily="34" charset="0"/>
            </a:endParaRPr>
          </a:p>
          <a:p>
            <a:pPr marL="0" lvl="0" indent="0" algn="l" rtl="0">
              <a:spcBef>
                <a:spcPts val="0"/>
              </a:spcBef>
              <a:spcAft>
                <a:spcPts val="0"/>
              </a:spcAft>
              <a:buNone/>
            </a:pPr>
            <a:r>
              <a:rPr lang="en-US" sz="1200" u="none" strike="noStrike" dirty="0">
                <a:solidFill>
                  <a:schemeClr val="dk1"/>
                </a:solidFill>
                <a:latin typeface="Arial" panose="020B0604020202020204" pitchFamily="34" charset="0"/>
                <a:sym typeface="Arial"/>
              </a:rPr>
              <a:t>Let's take a look at </a:t>
            </a:r>
            <a:r>
              <a:rPr lang="en-AU" sz="1200" u="none" strike="noStrike" dirty="0">
                <a:solidFill>
                  <a:schemeClr val="dk1"/>
                </a:solidFill>
                <a:latin typeface="Arial" panose="020B0604020202020204" pitchFamily="34" charset="0"/>
                <a:sym typeface="Arial"/>
              </a:rPr>
              <a:t>fleet management in VCF Operations.</a:t>
            </a:r>
          </a:p>
          <a:p>
            <a:pPr marL="0" lvl="0" indent="0" algn="l" rtl="0">
              <a:spcBef>
                <a:spcPts val="0"/>
              </a:spcBef>
              <a:spcAft>
                <a:spcPts val="0"/>
              </a:spcAft>
              <a:buNone/>
            </a:pPr>
            <a:endParaRPr lang="en-AU" sz="1200" u="none" strike="noStrike" dirty="0">
              <a:solidFill>
                <a:schemeClr val="dk1"/>
              </a:solidFill>
              <a:latin typeface="Arial" panose="020B0604020202020204" pitchFamily="34" charset="0"/>
              <a:sym typeface="Arial"/>
            </a:endParaRPr>
          </a:p>
          <a:p>
            <a:pPr marL="0" marR="0" lvl="0" indent="0" algn="l" rtl="0">
              <a:lnSpc>
                <a:spcPct val="100000"/>
              </a:lnSpc>
              <a:spcBef>
                <a:spcPts val="0"/>
              </a:spcBef>
              <a:spcAft>
                <a:spcPts val="0"/>
              </a:spcAft>
              <a:buClr>
                <a:srgbClr val="666666"/>
              </a:buClr>
              <a:buSzPts val="1800"/>
              <a:buFontTx/>
              <a:buNone/>
            </a:pPr>
            <a:r>
              <a:rPr lang="en-US" sz="1200" dirty="0">
                <a:solidFill>
                  <a:schemeClr val="dk1"/>
                </a:solidFill>
                <a:latin typeface="Arial"/>
                <a:ea typeface="Arial"/>
                <a:cs typeface="Arial"/>
                <a:sym typeface="Arial"/>
              </a:rPr>
              <a:t>Unified Operations Experience</a:t>
            </a:r>
            <a:endParaRPr lang="en-US" dirty="0"/>
          </a:p>
          <a:p>
            <a:pPr marL="0" marR="0" lvl="0" indent="0" algn="l" rtl="0">
              <a:lnSpc>
                <a:spcPct val="100000"/>
              </a:lnSpc>
              <a:spcBef>
                <a:spcPts val="600"/>
              </a:spcBef>
              <a:spcAft>
                <a:spcPts val="0"/>
              </a:spcAft>
              <a:buClr>
                <a:srgbClr val="666666"/>
              </a:buClr>
              <a:buSzPts val="1800"/>
              <a:buFontTx/>
              <a:buNone/>
            </a:pPr>
            <a:r>
              <a:rPr lang="en-US" sz="1200" dirty="0">
                <a:solidFill>
                  <a:schemeClr val="dk1"/>
                </a:solidFill>
                <a:latin typeface="Arial"/>
                <a:ea typeface="Arial"/>
                <a:cs typeface="Arial"/>
                <a:sym typeface="Arial"/>
              </a:rPr>
              <a:t>Centralized Fleet Lifecycle Management</a:t>
            </a:r>
            <a:endParaRPr lang="en-US" dirty="0"/>
          </a:p>
          <a:p>
            <a:pPr marL="0" marR="0" lvl="0" indent="0" algn="l" rtl="0">
              <a:lnSpc>
                <a:spcPct val="100000"/>
              </a:lnSpc>
              <a:spcBef>
                <a:spcPts val="600"/>
              </a:spcBef>
              <a:spcAft>
                <a:spcPts val="0"/>
              </a:spcAft>
              <a:buClr>
                <a:srgbClr val="666666"/>
              </a:buClr>
              <a:buSzPts val="1800"/>
              <a:buFontTx/>
              <a:buNone/>
            </a:pPr>
            <a:r>
              <a:rPr lang="en-US" sz="1200" dirty="0">
                <a:solidFill>
                  <a:schemeClr val="dk1"/>
                </a:solidFill>
                <a:latin typeface="Arial"/>
                <a:ea typeface="Arial"/>
                <a:cs typeface="Arial"/>
                <a:sym typeface="Arial"/>
              </a:rPr>
              <a:t>Non-disruptive Upgrades </a:t>
            </a:r>
            <a:endParaRPr lang="en-US" dirty="0"/>
          </a:p>
          <a:p>
            <a:pPr marL="0" marR="0" lvl="0" indent="0" algn="l" rtl="0">
              <a:lnSpc>
                <a:spcPct val="100000"/>
              </a:lnSpc>
              <a:spcBef>
                <a:spcPts val="600"/>
              </a:spcBef>
              <a:spcAft>
                <a:spcPts val="0"/>
              </a:spcAft>
              <a:buClr>
                <a:srgbClr val="666666"/>
              </a:buClr>
              <a:buSzPts val="1800"/>
              <a:buFontTx/>
              <a:buNone/>
            </a:pPr>
            <a:r>
              <a:rPr lang="en-US" sz="1200" dirty="0">
                <a:solidFill>
                  <a:schemeClr val="dk1"/>
                </a:solidFill>
                <a:latin typeface="Arial"/>
                <a:ea typeface="Arial"/>
                <a:cs typeface="Arial"/>
                <a:sym typeface="Arial"/>
              </a:rPr>
              <a:t>Single Sign-on for Administrator Access</a:t>
            </a:r>
            <a:endParaRPr lang="en-US" dirty="0"/>
          </a:p>
          <a:p>
            <a:pPr marL="0" marR="0" lvl="0" indent="0" algn="l" rtl="0">
              <a:lnSpc>
                <a:spcPct val="100000"/>
              </a:lnSpc>
              <a:spcBef>
                <a:spcPts val="600"/>
              </a:spcBef>
              <a:spcAft>
                <a:spcPts val="0"/>
              </a:spcAft>
              <a:buClr>
                <a:srgbClr val="666666"/>
              </a:buClr>
              <a:buSzPts val="1800"/>
              <a:buFontTx/>
              <a:buNone/>
            </a:pPr>
            <a:r>
              <a:rPr lang="en-US" sz="1200" dirty="0">
                <a:solidFill>
                  <a:schemeClr val="dk1"/>
                </a:solidFill>
                <a:latin typeface="Arial"/>
                <a:ea typeface="Arial"/>
                <a:cs typeface="Arial"/>
                <a:sym typeface="Arial"/>
              </a:rPr>
              <a:t>Centralized Certificate Management</a:t>
            </a:r>
            <a:endParaRPr lang="en-US" dirty="0"/>
          </a:p>
          <a:p>
            <a:pPr marL="0" marR="0" lvl="0" indent="0" algn="l" rtl="0">
              <a:lnSpc>
                <a:spcPct val="100000"/>
              </a:lnSpc>
              <a:spcBef>
                <a:spcPts val="600"/>
              </a:spcBef>
              <a:spcAft>
                <a:spcPts val="0"/>
              </a:spcAft>
              <a:buClr>
                <a:srgbClr val="666666"/>
              </a:buClr>
              <a:buSzPts val="1800"/>
              <a:buFontTx/>
              <a:buNone/>
            </a:pPr>
            <a:r>
              <a:rPr lang="en-US" sz="1200" dirty="0">
                <a:solidFill>
                  <a:schemeClr val="dk1"/>
                </a:solidFill>
                <a:latin typeface="Arial"/>
                <a:ea typeface="Arial"/>
                <a:cs typeface="Arial"/>
                <a:sym typeface="Arial"/>
              </a:rPr>
              <a:t>Centralized Password Management</a:t>
            </a:r>
            <a:endParaRPr lang="en-US" dirty="0"/>
          </a:p>
          <a:p>
            <a:pPr marL="0" marR="0" lvl="0" indent="0" algn="l" rtl="0">
              <a:lnSpc>
                <a:spcPct val="100000"/>
              </a:lnSpc>
              <a:spcBef>
                <a:spcPts val="600"/>
              </a:spcBef>
              <a:spcAft>
                <a:spcPts val="0"/>
              </a:spcAft>
              <a:buClr>
                <a:srgbClr val="666666"/>
              </a:buClr>
              <a:buSzPts val="1800"/>
              <a:buFontTx/>
              <a:buNone/>
            </a:pPr>
            <a:r>
              <a:rPr lang="en-US" sz="1200" dirty="0">
                <a:solidFill>
                  <a:schemeClr val="dk1"/>
                </a:solidFill>
                <a:latin typeface="Arial"/>
                <a:ea typeface="Arial"/>
                <a:cs typeface="Arial"/>
                <a:sym typeface="Arial"/>
              </a:rPr>
              <a:t>Configuration Drift Management and Assessment</a:t>
            </a:r>
            <a:endParaRPr lang="en-US" dirty="0"/>
          </a:p>
          <a:p>
            <a:pPr marL="0" marR="0" lvl="0" indent="0" algn="l" rtl="0">
              <a:lnSpc>
                <a:spcPct val="100000"/>
              </a:lnSpc>
              <a:spcBef>
                <a:spcPts val="600"/>
              </a:spcBef>
              <a:spcAft>
                <a:spcPts val="0"/>
              </a:spcAft>
              <a:buClr>
                <a:srgbClr val="666666"/>
              </a:buClr>
              <a:buSzPts val="1800"/>
              <a:buFontTx/>
              <a:buNone/>
            </a:pPr>
            <a:r>
              <a:rPr lang="en-US" sz="1200" dirty="0">
                <a:solidFill>
                  <a:schemeClr val="dk1"/>
                </a:solidFill>
                <a:latin typeface="Arial"/>
                <a:ea typeface="Arial"/>
                <a:cs typeface="Arial"/>
                <a:sym typeface="Arial"/>
              </a:rPr>
              <a:t>Unified Tag Management</a:t>
            </a:r>
            <a:endParaRPr lang="en-US" dirty="0"/>
          </a:p>
          <a:p>
            <a:pPr marL="0" marR="0" lvl="0" indent="0" algn="l" rtl="0">
              <a:lnSpc>
                <a:spcPct val="100000"/>
              </a:lnSpc>
              <a:spcBef>
                <a:spcPts val="600"/>
              </a:spcBef>
              <a:spcAft>
                <a:spcPts val="0"/>
              </a:spcAft>
              <a:buClr>
                <a:srgbClr val="666666"/>
              </a:buClr>
              <a:buSzPts val="1800"/>
              <a:buFontTx/>
              <a:buNone/>
            </a:pPr>
            <a:r>
              <a:rPr lang="en-US" sz="1200" dirty="0">
                <a:solidFill>
                  <a:schemeClr val="dk1"/>
                </a:solidFill>
                <a:latin typeface="Arial"/>
                <a:ea typeface="Arial"/>
                <a:cs typeface="Arial"/>
                <a:sym typeface="Arial"/>
              </a:rPr>
              <a:t>VCF Download Tool for Disconnected Sites</a:t>
            </a:r>
            <a:endParaRPr dirty="0">
              <a:latin typeface="Arial" panose="020B0604020202020204" pitchFamily="34" charset="0"/>
            </a:endParaRPr>
          </a:p>
          <a:p>
            <a:pPr marL="0" lvl="0" indent="0" algn="l" rtl="0">
              <a:spcBef>
                <a:spcPts val="0"/>
              </a:spcBef>
              <a:spcAft>
                <a:spcPts val="0"/>
              </a:spcAft>
              <a:buNone/>
            </a:pPr>
            <a:endParaRPr sz="1200"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Notes:</a:t>
            </a:r>
            <a:endParaRPr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endParaRPr sz="1200" b="0"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References:</a:t>
            </a:r>
            <a:endParaRPr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Clr>
                <a:schemeClr val="dk1"/>
              </a:buClr>
              <a:buSzPts val="1200"/>
              <a:buFont typeface="Arial"/>
              <a:buNone/>
            </a:pPr>
            <a:endParaRPr sz="1200" dirty="0">
              <a:solidFill>
                <a:schemeClr val="dk1"/>
              </a:solidFill>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p:txBody>
      </p:sp>
      <p:sp>
        <p:nvSpPr>
          <p:cNvPr id="5876" name="Google Shape;5876;p70:notes">
            <a:extLst>
              <a:ext uri="{FF2B5EF4-FFF2-40B4-BE49-F238E27FC236}">
                <a16:creationId xmlns:a16="http://schemas.microsoft.com/office/drawing/2014/main" id="{CC8CA32B-3F92-1625-B833-223AC91632C6}"/>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b="0" i="0" u="none" strike="noStrike" kern="1200" cap="none" spc="0" normalizeH="0" baseline="0" noProof="0">
                <a:ln>
                  <a:noFill/>
                </a:ln>
                <a:solidFill>
                  <a:srgbClr val="717074"/>
                </a:solidFill>
                <a:effectLst/>
                <a:uLnTx/>
                <a:uFillTx/>
                <a:latin typeface="Arial"/>
                <a:ea typeface="+mn-ea"/>
                <a:cs typeface="+mn-cs"/>
                <a:sym typeface="Arial"/>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73</a:t>
            </a:fld>
            <a:endParaRPr kumimoji="0" sz="1200" b="0" i="0" u="none" strike="noStrike" kern="1200" cap="none" spc="0" normalizeH="0" baseline="0" noProof="0" dirty="0">
              <a:ln>
                <a:noFill/>
              </a:ln>
              <a:solidFill>
                <a:srgbClr val="717074"/>
              </a:solidFill>
              <a:effectLst/>
              <a:uLnTx/>
              <a:uFillTx/>
              <a:latin typeface="Arial"/>
              <a:ea typeface="+mn-ea"/>
              <a:cs typeface="+mn-cs"/>
              <a:sym typeface="Arial"/>
            </a:endParaRPr>
          </a:p>
        </p:txBody>
      </p:sp>
    </p:spTree>
    <p:extLst>
      <p:ext uri="{BB962C8B-B14F-4D97-AF65-F5344CB8AC3E}">
        <p14:creationId xmlns:p14="http://schemas.microsoft.com/office/powerpoint/2010/main" val="230466820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298FB-D566-B7B7-A040-31D2F312A7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C5E58D-B4BA-DC56-57E4-15B58D3FAB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69B5FF-5C09-A718-3E1B-449C3958531D}"/>
              </a:ext>
            </a:extLst>
          </p:cNvPr>
          <p:cNvSpPr>
            <a:spLocks noGrp="1"/>
          </p:cNvSpPr>
          <p:nvPr>
            <p:ph type="body" idx="1"/>
          </p:nvPr>
        </p:nvSpPr>
        <p:spPr/>
        <p:txBody>
          <a:bodyPr>
            <a:normAutofit/>
          </a:bodyPr>
          <a:lstStyle/>
          <a:p>
            <a:r>
              <a:rPr lang="en-US" sz="1200" b="1" u="none" strike="noStrike" kern="1200" dirty="0">
                <a:solidFill>
                  <a:schemeClr val="tx1"/>
                </a:solidFill>
                <a:effectLst/>
              </a:rPr>
              <a:t>Key Message:</a:t>
            </a:r>
            <a:br>
              <a:rPr lang="en-US" sz="1200" u="none" strike="noStrike" kern="1200" dirty="0">
                <a:solidFill>
                  <a:schemeClr val="tx1"/>
                </a:solidFill>
                <a:effectLst/>
              </a:rPr>
            </a:br>
            <a:r>
              <a:rPr lang="en-US" sz="1200" u="none" strike="noStrike" kern="1200" dirty="0">
                <a:solidFill>
                  <a:schemeClr val="tx1"/>
                </a:solidFill>
                <a:effectLst/>
              </a:rPr>
              <a:t>Going deeper into the management architecture of VCF 9: two appliances perform lifecycle management tasks</a:t>
            </a:r>
          </a:p>
          <a:p>
            <a:endParaRPr lang="en-US" sz="120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Talk Track: </a:t>
            </a:r>
          </a:p>
          <a:p>
            <a:r>
              <a:rPr lang="en-US" dirty="0"/>
              <a:t>VCF Operations 9 brings a new consolidated interface for administrators to perform lifecycle management activities. Infrastructure components, including vSphere and NSX, are found in the new “VCF Instances” section, which communicates behind the scenes to SDDC Manager for orchestrating the patching and upgrades. Similarly, patching and deploying the management components is orchestrated by the new Fleet Management appliance.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Notes:</a:t>
            </a:r>
            <a:br>
              <a:rPr lang="en-US" sz="1200" u="none" strike="noStrike" kern="1200" dirty="0">
                <a:solidFill>
                  <a:schemeClr val="tx1"/>
                </a:solidFill>
                <a:effectLst/>
              </a:rPr>
            </a:br>
            <a:r>
              <a:rPr lang="en-US" sz="1200" u="none" strike="noStrike" kern="1200" dirty="0">
                <a:solidFill>
                  <a:schemeClr val="tx1"/>
                </a:solidFill>
                <a:effectLst/>
              </a:rPr>
              <a:t>Although the SDDC Manager interface is deprecated in VCF 9, the appliance is still very essential to lifecycle management. (I.e., do not shut it down)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endParaRPr>
          </a:p>
          <a:p>
            <a:r>
              <a:rPr lang="en-US" sz="1200" b="1" u="none" strike="noStrike" kern="1200" dirty="0">
                <a:solidFill>
                  <a:schemeClr val="tx1"/>
                </a:solidFill>
                <a:effectLst/>
              </a:rPr>
              <a:t>Resources:</a:t>
            </a:r>
            <a:br>
              <a:rPr lang="en-US" sz="1200" b="1" u="none" strike="noStrike" kern="1200" dirty="0">
                <a:solidFill>
                  <a:schemeClr val="tx1"/>
                </a:solidFill>
                <a:effectLst/>
              </a:rPr>
            </a:br>
            <a:endParaRPr lang="en-AU" dirty="0">
              <a:solidFill>
                <a:srgbClr val="DCA10D"/>
              </a:solidFill>
              <a:effectLst/>
              <a:latin typeface="Helvetica Neue" panose="02000503000000020004" pitchFamily="2" charset="0"/>
            </a:endParaRP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66AC60E5-0F7C-1ED8-1687-95A8FAA3B93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202603826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8">
          <a:extLst>
            <a:ext uri="{FF2B5EF4-FFF2-40B4-BE49-F238E27FC236}">
              <a16:creationId xmlns:a16="http://schemas.microsoft.com/office/drawing/2014/main" id="{F2E0C87D-2DBF-77FB-129A-1F00DA0CC79A}"/>
            </a:ext>
          </a:extLst>
        </p:cNvPr>
        <p:cNvGrpSpPr/>
        <p:nvPr/>
      </p:nvGrpSpPr>
      <p:grpSpPr>
        <a:xfrm>
          <a:off x="0" y="0"/>
          <a:ext cx="0" cy="0"/>
          <a:chOff x="0" y="0"/>
          <a:chExt cx="0" cy="0"/>
        </a:xfrm>
      </p:grpSpPr>
      <p:sp>
        <p:nvSpPr>
          <p:cNvPr id="6649" name="Google Shape;6649;p92:notes">
            <a:extLst>
              <a:ext uri="{FF2B5EF4-FFF2-40B4-BE49-F238E27FC236}">
                <a16:creationId xmlns:a16="http://schemas.microsoft.com/office/drawing/2014/main" id="{7DB850CE-3975-E9A3-FFFD-E810DDAFBA4C}"/>
              </a:ext>
            </a:extLst>
          </p:cNvPr>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50" name="Google Shape;6650;p92:notes">
            <a:extLst>
              <a:ext uri="{FF2B5EF4-FFF2-40B4-BE49-F238E27FC236}">
                <a16:creationId xmlns:a16="http://schemas.microsoft.com/office/drawing/2014/main" id="{7641CA13-6C95-FA38-38E6-1F119970FD89}"/>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None/>
            </a:pPr>
            <a:r>
              <a:rPr lang="en-US" sz="839" b="1" u="none" dirty="0">
                <a:latin typeface="Arial" panose="020B0604020202020204" pitchFamily="34" charset="0"/>
                <a:sym typeface="Arial"/>
              </a:rPr>
              <a:t>Key Message:</a:t>
            </a:r>
            <a:endParaRPr b="1" dirty="0">
              <a:latin typeface="Arial" panose="020B0604020202020204" pitchFamily="34" charset="0"/>
            </a:endParaRPr>
          </a:p>
          <a:p>
            <a:pPr marL="0" marR="0" lvl="0" indent="0" algn="l" rtl="0">
              <a:lnSpc>
                <a:spcPct val="80000"/>
              </a:lnSpc>
              <a:spcBef>
                <a:spcPts val="0"/>
              </a:spcBef>
              <a:spcAft>
                <a:spcPts val="0"/>
              </a:spcAft>
              <a:buClr>
                <a:schemeClr val="dk1"/>
              </a:buClr>
              <a:buSzPts val="839"/>
              <a:buFont typeface="Arial"/>
              <a:buNone/>
            </a:pPr>
            <a:r>
              <a:rPr lang="en-US" sz="839" dirty="0">
                <a:latin typeface="Arial" panose="020B0604020202020204" pitchFamily="34" charset="0"/>
                <a:sym typeface="Arial"/>
              </a:rPr>
              <a:t>Binaries are used to upgrade Cloud Foundation components: Management and Infrastructure</a:t>
            </a:r>
            <a:endParaRPr sz="839" u="none" dirty="0">
              <a:latin typeface="Arial" panose="020B0604020202020204" pitchFamily="34" charset="0"/>
              <a:sym typeface="Arial"/>
            </a:endParaRPr>
          </a:p>
          <a:p>
            <a:pPr marL="0" lvl="0" indent="0" algn="l" rtl="0">
              <a:lnSpc>
                <a:spcPct val="80000"/>
              </a:lnSpc>
              <a:spcBef>
                <a:spcPts val="0"/>
              </a:spcBef>
              <a:spcAft>
                <a:spcPts val="0"/>
              </a:spcAft>
              <a:buNone/>
            </a:pPr>
            <a:endParaRPr sz="839" u="none" dirty="0">
              <a:latin typeface="Arial" panose="020B0604020202020204" pitchFamily="34" charset="0"/>
            </a:endParaRPr>
          </a:p>
          <a:p>
            <a:pPr marL="0" lvl="0" indent="0" algn="l" rtl="0">
              <a:lnSpc>
                <a:spcPct val="80000"/>
              </a:lnSpc>
              <a:spcBef>
                <a:spcPts val="0"/>
              </a:spcBef>
              <a:spcAft>
                <a:spcPts val="0"/>
              </a:spcAft>
              <a:buNone/>
            </a:pPr>
            <a:r>
              <a:rPr lang="en-US" sz="839" b="1" u="none" dirty="0">
                <a:latin typeface="Arial" panose="020B0604020202020204" pitchFamily="34" charset="0"/>
                <a:sym typeface="Arial"/>
              </a:rPr>
              <a:t>Talk Track:</a:t>
            </a:r>
            <a:endParaRPr b="1" dirty="0">
              <a:latin typeface="Arial" panose="020B0604020202020204" pitchFamily="34" charset="0"/>
            </a:endParaRPr>
          </a:p>
          <a:p>
            <a:pPr marL="0" marR="0" lvl="0" indent="0" algn="l" rtl="0">
              <a:lnSpc>
                <a:spcPct val="80000"/>
              </a:lnSpc>
              <a:spcBef>
                <a:spcPts val="0"/>
              </a:spcBef>
              <a:spcAft>
                <a:spcPts val="0"/>
              </a:spcAft>
              <a:buClr>
                <a:schemeClr val="dk1"/>
              </a:buClr>
              <a:buSzPts val="839"/>
              <a:buFont typeface="Arial"/>
              <a:buNone/>
            </a:pPr>
            <a:r>
              <a:rPr lang="en-US" sz="839" dirty="0">
                <a:latin typeface="Arial" panose="020B0604020202020204" pitchFamily="34" charset="0"/>
                <a:sym typeface="Arial"/>
              </a:rPr>
              <a:t>Cloud Foundation automatically downloads required software binaries for updating, patching, and deploying VCF components.</a:t>
            </a:r>
            <a:endParaRPr dirty="0">
              <a:latin typeface="Arial" panose="020B0604020202020204" pitchFamily="34" charset="0"/>
            </a:endParaRPr>
          </a:p>
          <a:p>
            <a:pPr marL="0" marR="0" lvl="0" indent="0" algn="l" rtl="0">
              <a:lnSpc>
                <a:spcPct val="80000"/>
              </a:lnSpc>
              <a:spcBef>
                <a:spcPts val="0"/>
              </a:spcBef>
              <a:spcAft>
                <a:spcPts val="0"/>
              </a:spcAft>
              <a:buClr>
                <a:schemeClr val="dk1"/>
              </a:buClr>
              <a:buSzPts val="840"/>
              <a:buFont typeface="Arial"/>
              <a:buNone/>
            </a:pPr>
            <a:endParaRPr sz="839" dirty="0">
              <a:latin typeface="Arial" panose="020B0604020202020204" pitchFamily="34" charset="0"/>
            </a:endParaRPr>
          </a:p>
          <a:p>
            <a:pPr marL="0" marR="0" lvl="0" indent="0" algn="l" rtl="0">
              <a:lnSpc>
                <a:spcPct val="80000"/>
              </a:lnSpc>
              <a:spcBef>
                <a:spcPts val="0"/>
              </a:spcBef>
              <a:spcAft>
                <a:spcPts val="0"/>
              </a:spcAft>
              <a:buClr>
                <a:schemeClr val="dk1"/>
              </a:buClr>
              <a:buSzPts val="839"/>
              <a:buFont typeface="Arial"/>
              <a:buNone/>
            </a:pPr>
            <a:r>
              <a:rPr lang="en-US" sz="839" u="none" dirty="0">
                <a:solidFill>
                  <a:schemeClr val="dk1"/>
                </a:solidFill>
                <a:latin typeface="Arial" panose="020B0604020202020204" pitchFamily="34" charset="0"/>
                <a:sym typeface="Arial"/>
              </a:rPr>
              <a:t>These bundles align to a specific software bill of materials (BOM) which is validated and tested and then released to the online depot download – giving the confidence and peace of mind in knowing that an upgrade will be predictable.</a:t>
            </a:r>
            <a:endParaRPr dirty="0">
              <a:latin typeface="Arial" panose="020B0604020202020204" pitchFamily="34" charset="0"/>
            </a:endParaRPr>
          </a:p>
          <a:p>
            <a:pPr marL="0" lvl="0" indent="0" algn="l" rtl="0">
              <a:lnSpc>
                <a:spcPct val="80000"/>
              </a:lnSpc>
              <a:spcBef>
                <a:spcPts val="0"/>
              </a:spcBef>
              <a:spcAft>
                <a:spcPts val="0"/>
              </a:spcAft>
              <a:buNone/>
            </a:pPr>
            <a:endParaRPr sz="839" dirty="0">
              <a:latin typeface="Arial" panose="020B0604020202020204" pitchFamily="34" charset="0"/>
            </a:endParaRPr>
          </a:p>
          <a:p>
            <a:pPr marL="0" lvl="0" indent="0" algn="l" rtl="0">
              <a:lnSpc>
                <a:spcPct val="80000"/>
              </a:lnSpc>
              <a:spcBef>
                <a:spcPts val="0"/>
              </a:spcBef>
              <a:spcAft>
                <a:spcPts val="0"/>
              </a:spcAft>
              <a:buNone/>
            </a:pPr>
            <a:r>
              <a:rPr lang="en-US" sz="839" dirty="0">
                <a:latin typeface="Arial" panose="020B0604020202020204" pitchFamily="34" charset="0"/>
                <a:sym typeface="Arial"/>
              </a:rPr>
              <a:t>Components include SDDC Manager (and internal services), vCenter Server, ESX, vSAN and NSX, and VCF management components.</a:t>
            </a:r>
            <a:endParaRPr dirty="0">
              <a:latin typeface="Arial" panose="020B0604020202020204" pitchFamily="34" charset="0"/>
            </a:endParaRPr>
          </a:p>
          <a:p>
            <a:pPr marL="0" lvl="0" indent="0" algn="l" rtl="0">
              <a:lnSpc>
                <a:spcPct val="80000"/>
              </a:lnSpc>
              <a:spcBef>
                <a:spcPts val="0"/>
              </a:spcBef>
              <a:spcAft>
                <a:spcPts val="0"/>
              </a:spcAft>
              <a:buNone/>
            </a:pPr>
            <a:endParaRPr sz="839" dirty="0">
              <a:latin typeface="Arial" panose="020B0604020202020204" pitchFamily="34" charset="0"/>
              <a:sym typeface="Arial"/>
            </a:endParaRPr>
          </a:p>
          <a:p>
            <a:pPr marL="0" lvl="0" indent="0" algn="l" rtl="0">
              <a:lnSpc>
                <a:spcPct val="80000"/>
              </a:lnSpc>
              <a:spcBef>
                <a:spcPts val="0"/>
              </a:spcBef>
              <a:spcAft>
                <a:spcPts val="0"/>
              </a:spcAft>
              <a:buNone/>
            </a:pPr>
            <a:r>
              <a:rPr lang="en-US" sz="839" b="1" u="none" dirty="0">
                <a:latin typeface="Arial" panose="020B0604020202020204" pitchFamily="34" charset="0"/>
                <a:sym typeface="Arial"/>
              </a:rPr>
              <a:t>Notes:</a:t>
            </a:r>
            <a:endParaRPr b="1" dirty="0">
              <a:latin typeface="Arial" panose="020B0604020202020204" pitchFamily="34" charset="0"/>
            </a:endParaRPr>
          </a:p>
          <a:p>
            <a:pPr marL="0" lvl="0" indent="0" algn="l" rtl="0">
              <a:lnSpc>
                <a:spcPct val="80000"/>
              </a:lnSpc>
              <a:spcBef>
                <a:spcPts val="0"/>
              </a:spcBef>
              <a:spcAft>
                <a:spcPts val="0"/>
              </a:spcAft>
              <a:buNone/>
            </a:pPr>
            <a:r>
              <a:rPr lang="en-US" sz="839" u="none" dirty="0">
                <a:latin typeface="Arial" panose="020B0604020202020204" pitchFamily="34" charset="0"/>
              </a:rPr>
              <a:t>VCF 9 now features downloading for both the infrastructure and the management components – this is a nice enhancement.</a:t>
            </a:r>
          </a:p>
          <a:p>
            <a:pPr marL="0" lvl="0" indent="0" algn="l" rtl="0">
              <a:lnSpc>
                <a:spcPct val="80000"/>
              </a:lnSpc>
              <a:spcBef>
                <a:spcPts val="0"/>
              </a:spcBef>
              <a:spcAft>
                <a:spcPts val="0"/>
              </a:spcAft>
              <a:buNone/>
            </a:pPr>
            <a:endParaRPr sz="839" u="none" dirty="0">
              <a:latin typeface="Arial" panose="020B0604020202020204" pitchFamily="34" charset="0"/>
            </a:endParaRPr>
          </a:p>
          <a:p>
            <a:pPr marL="0" lvl="0" indent="0" algn="l" rtl="0">
              <a:lnSpc>
                <a:spcPct val="80000"/>
              </a:lnSpc>
              <a:spcBef>
                <a:spcPts val="0"/>
              </a:spcBef>
              <a:spcAft>
                <a:spcPts val="0"/>
              </a:spcAft>
              <a:buNone/>
            </a:pPr>
            <a:r>
              <a:rPr lang="en-US" sz="839" b="1" u="none" dirty="0">
                <a:latin typeface="Arial" panose="020B0604020202020204" pitchFamily="34" charset="0"/>
                <a:sym typeface="Arial"/>
              </a:rPr>
              <a:t>Resources:</a:t>
            </a:r>
            <a:endParaRPr b="1" dirty="0">
              <a:latin typeface="Arial" panose="020B0604020202020204" pitchFamily="34" charset="0"/>
            </a:endParaRPr>
          </a:p>
          <a:p>
            <a:pPr marL="0" lvl="0" indent="0" algn="l" rtl="0">
              <a:lnSpc>
                <a:spcPct val="80000"/>
              </a:lnSpc>
              <a:spcBef>
                <a:spcPts val="0"/>
              </a:spcBef>
              <a:spcAft>
                <a:spcPts val="0"/>
              </a:spcAft>
              <a:buNone/>
            </a:pPr>
            <a:endParaRPr sz="839" dirty="0">
              <a:latin typeface="Arial" panose="020B0604020202020204" pitchFamily="34" charset="0"/>
            </a:endParaRPr>
          </a:p>
          <a:p>
            <a:pPr marL="0" lvl="0" indent="0" algn="l" rtl="0">
              <a:lnSpc>
                <a:spcPct val="80000"/>
              </a:lnSpc>
              <a:spcBef>
                <a:spcPts val="0"/>
              </a:spcBef>
              <a:spcAft>
                <a:spcPts val="0"/>
              </a:spcAft>
              <a:buNone/>
            </a:pPr>
            <a:endParaRPr sz="839" dirty="0">
              <a:latin typeface="Arial" panose="020B0604020202020204" pitchFamily="34" charset="0"/>
            </a:endParaRPr>
          </a:p>
        </p:txBody>
      </p:sp>
      <p:sp>
        <p:nvSpPr>
          <p:cNvPr id="6651" name="Google Shape;6651;p92:notes">
            <a:extLst>
              <a:ext uri="{FF2B5EF4-FFF2-40B4-BE49-F238E27FC236}">
                <a16:creationId xmlns:a16="http://schemas.microsoft.com/office/drawing/2014/main" id="{0C0EEB95-0655-DBDA-9299-E6B9AA4945F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b="0" i="0" u="none" strike="noStrike" kern="0" cap="none" spc="0" normalizeH="0" baseline="0" noProof="0">
                <a:ln>
                  <a:noFill/>
                </a:ln>
                <a:solidFill>
                  <a:srgbClr val="717074"/>
                </a:solidFill>
                <a:effectLst/>
                <a:uLnTx/>
                <a:uFillTx/>
                <a:latin typeface="Arial" panose="020B0604020202020204" pitchFamily="34" charset="0"/>
                <a:ea typeface="+mn-ea"/>
                <a:cs typeface="Arial"/>
                <a:sym typeface="Arial"/>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75</a:t>
            </a:fld>
            <a:endParaRPr kumimoji="0" sz="1200" b="0" i="0" u="none" strike="noStrike" kern="0" cap="none" spc="0" normalizeH="0" baseline="0" noProof="0" dirty="0">
              <a:ln>
                <a:noFill/>
              </a:ln>
              <a:solidFill>
                <a:srgbClr val="717074"/>
              </a:solidFill>
              <a:effectLst/>
              <a:uLnTx/>
              <a:uFillTx/>
              <a:latin typeface="Arial" panose="020B0604020202020204" pitchFamily="34" charset="0"/>
              <a:ea typeface="+mn-ea"/>
              <a:cs typeface="Arial"/>
              <a:sym typeface="Arial"/>
            </a:endParaRPr>
          </a:p>
        </p:txBody>
      </p:sp>
    </p:spTree>
    <p:extLst>
      <p:ext uri="{BB962C8B-B14F-4D97-AF65-F5344CB8AC3E}">
        <p14:creationId xmlns:p14="http://schemas.microsoft.com/office/powerpoint/2010/main" val="390212088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91710-6481-686D-A914-9AAF340210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D08C9-4163-AD6F-60AD-21DB79E439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E44B43-B00A-931D-B737-0201B28AF144}"/>
              </a:ext>
            </a:extLst>
          </p:cNvPr>
          <p:cNvSpPr>
            <a:spLocks noGrp="1"/>
          </p:cNvSpPr>
          <p:nvPr>
            <p:ph type="body" idx="1"/>
          </p:nvPr>
        </p:nvSpPr>
        <p:spPr/>
        <p:txBody>
          <a:bodyPr>
            <a:normAutofit fontScale="70000" lnSpcReduction="20000"/>
          </a:bodyPr>
          <a:lstStyle/>
          <a:p>
            <a:pPr marL="0" marR="0" lvl="0" indent="0" algn="l" rtl="0">
              <a:lnSpc>
                <a:spcPct val="90000"/>
              </a:lnSpc>
              <a:spcBef>
                <a:spcPts val="0"/>
              </a:spcBef>
              <a:spcAft>
                <a:spcPts val="0"/>
              </a:spcAft>
              <a:buClr>
                <a:schemeClr val="dk1"/>
              </a:buClr>
              <a:buSzPts val="1020"/>
              <a:buFont typeface="Arial"/>
              <a:buNone/>
            </a:pPr>
            <a:r>
              <a:rPr lang="en-US" sz="1200" b="1" dirty="0">
                <a:solidFill>
                  <a:schemeClr val="dk1"/>
                </a:solidFill>
                <a:latin typeface="Arial" panose="020B0604020202020204" pitchFamily="34" charset="0"/>
              </a:rPr>
              <a:t>Presenter Note:  This slide contains animation</a:t>
            </a:r>
          </a:p>
          <a:p>
            <a:pPr marL="0" marR="0" lvl="0" indent="0" algn="l" rtl="0">
              <a:lnSpc>
                <a:spcPct val="90000"/>
              </a:lnSpc>
              <a:spcBef>
                <a:spcPts val="0"/>
              </a:spcBef>
              <a:spcAft>
                <a:spcPts val="0"/>
              </a:spcAft>
              <a:buClr>
                <a:schemeClr val="dk1"/>
              </a:buClr>
              <a:buSzPts val="1020"/>
              <a:buFont typeface="Arial"/>
              <a:buNone/>
            </a:pPr>
            <a:endParaRPr lang="en-US" sz="1200" b="1" dirty="0">
              <a:solidFill>
                <a:schemeClr val="dk1"/>
              </a:solidFill>
              <a:latin typeface="Arial" panose="020B0604020202020204" pitchFamily="34" charset="0"/>
            </a:endParaRPr>
          </a:p>
          <a:p>
            <a:pPr marL="0" marR="0" lvl="0" indent="0" algn="l" rtl="0">
              <a:lnSpc>
                <a:spcPct val="90000"/>
              </a:lnSpc>
              <a:spcBef>
                <a:spcPts val="0"/>
              </a:spcBef>
              <a:spcAft>
                <a:spcPts val="0"/>
              </a:spcAft>
              <a:buClr>
                <a:schemeClr val="dk1"/>
              </a:buClr>
              <a:buSzPts val="1020"/>
              <a:buFont typeface="Arial"/>
              <a:buNone/>
            </a:pPr>
            <a:r>
              <a:rPr lang="en-US" sz="1200" b="1" dirty="0">
                <a:solidFill>
                  <a:schemeClr val="dk1"/>
                </a:solidFill>
                <a:latin typeface="Arial" panose="020B0604020202020204" pitchFamily="34" charset="0"/>
              </a:rPr>
              <a:t>Key Message:</a:t>
            </a:r>
            <a:endParaRPr lang="en-US" b="1" dirty="0">
              <a:latin typeface="Arial" panose="020B0604020202020204" pitchFamily="34" charset="0"/>
            </a:endParaRPr>
          </a:p>
          <a:p>
            <a:pPr marL="0" marR="0" lvl="0" indent="0" algn="l" rtl="0">
              <a:lnSpc>
                <a:spcPct val="90000"/>
              </a:lnSpc>
              <a:spcBef>
                <a:spcPts val="0"/>
              </a:spcBef>
              <a:spcAft>
                <a:spcPts val="0"/>
              </a:spcAft>
              <a:buClr>
                <a:schemeClr val="dk1"/>
              </a:buClr>
              <a:buSzPts val="1020"/>
              <a:buFont typeface="Arial"/>
              <a:buNone/>
            </a:pPr>
            <a:r>
              <a:rPr lang="en-US" sz="1200" dirty="0">
                <a:solidFill>
                  <a:schemeClr val="dk1"/>
                </a:solidFill>
                <a:latin typeface="Arial" panose="020B0604020202020204" pitchFamily="34" charset="0"/>
              </a:rPr>
              <a:t>VCF lifecycle management operations require software binaries that are normally downloaded from the online depot.</a:t>
            </a:r>
            <a:endParaRPr lang="en-US" dirty="0">
              <a:latin typeface="Arial" panose="020B0604020202020204" pitchFamily="34" charset="0"/>
            </a:endParaRPr>
          </a:p>
          <a:p>
            <a:pPr marL="0" marR="0" lvl="0" indent="0" algn="l" defTabSz="914400" rtl="0" eaLnBrk="1" fontAlgn="auto" latinLnBrk="0" hangingPunct="1">
              <a:lnSpc>
                <a:spcPct val="90000"/>
              </a:lnSpc>
              <a:spcBef>
                <a:spcPts val="0"/>
              </a:spcBef>
              <a:spcAft>
                <a:spcPts val="0"/>
              </a:spcAft>
              <a:buClr>
                <a:schemeClr val="dk1"/>
              </a:buClr>
              <a:buSzPts val="1020"/>
              <a:buFont typeface="Arial"/>
              <a:buNone/>
              <a:tabLst/>
              <a:defRPr/>
            </a:pPr>
            <a:r>
              <a:rPr lang="en-US" sz="1200" dirty="0">
                <a:solidFill>
                  <a:schemeClr val="dk1"/>
                </a:solidFill>
                <a:latin typeface="Arial" panose="020B0604020202020204" pitchFamily="34" charset="0"/>
              </a:rPr>
              <a:t>Some sites do not allow direct connection to the online depot.  In these instances, an administrator has another two (2) options to choose from.</a:t>
            </a:r>
          </a:p>
          <a:p>
            <a:pPr marL="0" marR="0" lvl="0" indent="0" algn="l" defTabSz="914400" rtl="0" eaLnBrk="1" fontAlgn="auto" latinLnBrk="0" hangingPunct="1">
              <a:lnSpc>
                <a:spcPct val="90000"/>
              </a:lnSpc>
              <a:spcBef>
                <a:spcPts val="0"/>
              </a:spcBef>
              <a:spcAft>
                <a:spcPts val="0"/>
              </a:spcAft>
              <a:buClr>
                <a:schemeClr val="dk1"/>
              </a:buClr>
              <a:buSzPts val="1020"/>
              <a:buFont typeface="Arial"/>
              <a:buNone/>
              <a:tabLst/>
              <a:defRPr/>
            </a:pPr>
            <a:endParaRPr lang="en-US" sz="1200" dirty="0">
              <a:solidFill>
                <a:schemeClr val="dk1"/>
              </a:solidFill>
              <a:latin typeface="Arial" panose="020B0604020202020204" pitchFamily="34" charset="0"/>
            </a:endParaRPr>
          </a:p>
          <a:p>
            <a:pPr marL="0" marR="0" lvl="0" indent="0" algn="l" rtl="0">
              <a:lnSpc>
                <a:spcPct val="90000"/>
              </a:lnSpc>
              <a:spcBef>
                <a:spcPts val="0"/>
              </a:spcBef>
              <a:spcAft>
                <a:spcPts val="0"/>
              </a:spcAft>
              <a:buClr>
                <a:schemeClr val="dk1"/>
              </a:buClr>
              <a:buSzPts val="1020"/>
              <a:buFont typeface="Arial"/>
              <a:buNone/>
            </a:pPr>
            <a:r>
              <a:rPr lang="en-US" sz="1200" b="1" dirty="0">
                <a:solidFill>
                  <a:schemeClr val="dk1"/>
                </a:solidFill>
                <a:latin typeface="Arial" panose="020B0604020202020204" pitchFamily="34" charset="0"/>
              </a:rPr>
              <a:t>Talk Track:</a:t>
            </a:r>
            <a:endParaRPr lang="en-US" b="1" dirty="0">
              <a:latin typeface="Arial" panose="020B0604020202020204" pitchFamily="34" charset="0"/>
            </a:endParaRPr>
          </a:p>
          <a:p>
            <a:pPr marL="0" marR="0" lvl="0" indent="0" algn="l" rtl="0">
              <a:lnSpc>
                <a:spcPct val="90000"/>
              </a:lnSpc>
              <a:spcBef>
                <a:spcPts val="0"/>
              </a:spcBef>
              <a:spcAft>
                <a:spcPts val="0"/>
              </a:spcAft>
              <a:buClr>
                <a:schemeClr val="dk1"/>
              </a:buClr>
              <a:buSzPts val="1020"/>
              <a:buFont typeface="Arial"/>
              <a:buNone/>
            </a:pPr>
            <a:r>
              <a:rPr lang="en-US" sz="1200" dirty="0">
                <a:solidFill>
                  <a:schemeClr val="dk1"/>
                </a:solidFill>
                <a:latin typeface="Arial" panose="020B0604020202020204" pitchFamily="34" charset="0"/>
              </a:rPr>
              <a:t>In order to update VCF infrastructure, or deploy new workload domains, software binaries are required.  Many admins configure their VCF deployments to download software from the online depot by connecting to the Broadcom Support Portal.</a:t>
            </a:r>
            <a:endParaRPr lang="en-US" dirty="0">
              <a:latin typeface="Arial" panose="020B0604020202020204" pitchFamily="34" charset="0"/>
            </a:endParaRPr>
          </a:p>
          <a:p>
            <a:pPr marL="0" marR="0" lvl="0" indent="0" algn="l" rtl="0">
              <a:lnSpc>
                <a:spcPct val="90000"/>
              </a:lnSpc>
              <a:spcBef>
                <a:spcPts val="0"/>
              </a:spcBef>
              <a:spcAft>
                <a:spcPts val="0"/>
              </a:spcAft>
              <a:buClr>
                <a:schemeClr val="dk1"/>
              </a:buClr>
              <a:buSzPts val="1020"/>
              <a:buFont typeface="Arial"/>
              <a:buNone/>
            </a:pPr>
            <a:endParaRPr lang="en-US" sz="1200" dirty="0">
              <a:solidFill>
                <a:schemeClr val="dk1"/>
              </a:solidFill>
              <a:latin typeface="Arial" panose="020B0604020202020204" pitchFamily="34" charset="0"/>
            </a:endParaRPr>
          </a:p>
          <a:p>
            <a:pPr marL="0" lvl="0" indent="0" algn="l" rtl="0">
              <a:lnSpc>
                <a:spcPct val="100000"/>
              </a:lnSpc>
              <a:spcBef>
                <a:spcPts val="0"/>
              </a:spcBef>
              <a:spcAft>
                <a:spcPts val="0"/>
              </a:spcAft>
              <a:buClr>
                <a:schemeClr val="dk1"/>
              </a:buClr>
              <a:buSzPts val="1400"/>
              <a:buFont typeface="Arial"/>
              <a:buNone/>
            </a:pPr>
            <a:r>
              <a:rPr lang="en-US" sz="1200" dirty="0"/>
              <a:t>There are VCF deployments that cannot access the online depot on the Internet for technical or policy reasons. This prevents VCF from downloading new software binaries that are needed for updates and new deployments of infrastructure. </a:t>
            </a:r>
          </a:p>
          <a:p>
            <a:pPr marL="0" lvl="0" indent="0" algn="l" rtl="0">
              <a:lnSpc>
                <a:spcPct val="100000"/>
              </a:lnSpc>
              <a:spcBef>
                <a:spcPts val="0"/>
              </a:spcBef>
              <a:spcAft>
                <a:spcPts val="0"/>
              </a:spcAft>
              <a:buClr>
                <a:schemeClr val="dk1"/>
              </a:buClr>
              <a:buSzPts val="1400"/>
              <a:buFont typeface="Arial"/>
              <a:buNone/>
            </a:pPr>
            <a:endParaRPr lang="en-US" sz="1200" dirty="0"/>
          </a:p>
          <a:p>
            <a:pPr marL="0" lvl="0" indent="0" algn="l" rtl="0">
              <a:lnSpc>
                <a:spcPct val="100000"/>
              </a:lnSpc>
              <a:spcBef>
                <a:spcPts val="0"/>
              </a:spcBef>
              <a:spcAft>
                <a:spcPts val="0"/>
              </a:spcAft>
              <a:buClr>
                <a:schemeClr val="dk1"/>
              </a:buClr>
              <a:buSzPts val="1400"/>
              <a:buFont typeface="Arial"/>
              <a:buNone/>
            </a:pPr>
            <a:r>
              <a:rPr lang="en-US" sz="1200" b="0" dirty="0"/>
              <a:t>New in VCF 9 is the VCF Download Tool (VCFDT), successor to the </a:t>
            </a:r>
            <a:r>
              <a:rPr lang="en-US" sz="1200" dirty="0"/>
              <a:t>Offline Bundle Transfer Utility (OBTU) CLI. </a:t>
            </a:r>
            <a:r>
              <a:rPr lang="en-US" sz="1200" b="0" dirty="0"/>
              <a:t>SDDC Manager has a configuration option that enables downloading from a local web server instead of the online depot.  A customer managed Windows or Linux server with adequate storage can be configured as an </a:t>
            </a:r>
            <a:r>
              <a:rPr lang="en-US" sz="1200" dirty="0"/>
              <a:t>“offline depot” and is comprised of a customer-managed web server (for example Apache) that acts as a local mirror of the online depot. </a:t>
            </a:r>
          </a:p>
          <a:p>
            <a:pPr marL="0" lvl="0" indent="0" algn="l" rtl="0">
              <a:lnSpc>
                <a:spcPct val="100000"/>
              </a:lnSpc>
              <a:spcBef>
                <a:spcPts val="0"/>
              </a:spcBef>
              <a:spcAft>
                <a:spcPts val="0"/>
              </a:spcAft>
              <a:buClr>
                <a:schemeClr val="dk1"/>
              </a:buClr>
              <a:buSzPts val="1400"/>
              <a:buFont typeface="Arial"/>
              <a:buNone/>
            </a:pPr>
            <a:endParaRPr lang="en-US" sz="1200" dirty="0"/>
          </a:p>
          <a:p>
            <a:pPr marL="0" lvl="0" indent="0" algn="l" rtl="0">
              <a:lnSpc>
                <a:spcPct val="100000"/>
              </a:lnSpc>
              <a:spcBef>
                <a:spcPts val="0"/>
              </a:spcBef>
              <a:spcAft>
                <a:spcPts val="0"/>
              </a:spcAft>
              <a:buClr>
                <a:schemeClr val="dk1"/>
              </a:buClr>
              <a:buSzPts val="1400"/>
              <a:buFont typeface="Arial"/>
              <a:buNone/>
            </a:pPr>
            <a:r>
              <a:rPr lang="en-US" sz="1200" dirty="0"/>
              <a:t>Another use case for this new capability is to improve scalability when there are multiple instances of VCF deployed. Binaries can be downloaded from the depot just once, saving bandwidth.</a:t>
            </a:r>
          </a:p>
          <a:p>
            <a:pPr marL="0" marR="0" lvl="0" indent="0" algn="l" rtl="0">
              <a:lnSpc>
                <a:spcPct val="90000"/>
              </a:lnSpc>
              <a:spcBef>
                <a:spcPts val="0"/>
              </a:spcBef>
              <a:spcAft>
                <a:spcPts val="0"/>
              </a:spcAft>
              <a:buClr>
                <a:schemeClr val="dk1"/>
              </a:buClr>
              <a:buSzPts val="1020"/>
              <a:buFont typeface="Arial"/>
              <a:buNone/>
            </a:pPr>
            <a:br>
              <a:rPr lang="en-US" sz="1200" dirty="0">
                <a:solidFill>
                  <a:schemeClr val="dk1"/>
                </a:solidFill>
                <a:latin typeface="Arial" panose="020B0604020202020204" pitchFamily="34" charset="0"/>
              </a:rPr>
            </a:br>
            <a:r>
              <a:rPr lang="en-US" sz="1200" dirty="0">
                <a:solidFill>
                  <a:schemeClr val="dk1"/>
                </a:solidFill>
                <a:latin typeface="Arial" panose="020B0604020202020204" pitchFamily="34" charset="0"/>
              </a:rPr>
              <a:t>Here is how it works:</a:t>
            </a:r>
          </a:p>
          <a:p>
            <a:pPr marL="0" marR="0" lvl="0" indent="0" algn="l" rtl="0">
              <a:lnSpc>
                <a:spcPct val="90000"/>
              </a:lnSpc>
              <a:spcBef>
                <a:spcPts val="0"/>
              </a:spcBef>
              <a:spcAft>
                <a:spcPts val="0"/>
              </a:spcAft>
              <a:buClr>
                <a:schemeClr val="dk1"/>
              </a:buClr>
              <a:buSzPts val="1020"/>
              <a:buFont typeface="Arial"/>
              <a:buNone/>
            </a:pPr>
            <a:endParaRPr lang="en-US" sz="1200" dirty="0">
              <a:solidFill>
                <a:schemeClr val="dk1"/>
              </a:solidFill>
              <a:latin typeface="Arial" panose="020B0604020202020204" pitchFamily="34" charset="0"/>
            </a:endParaRPr>
          </a:p>
          <a:p>
            <a:pPr marL="0" marR="0" lvl="0" indent="0" algn="l" rtl="0">
              <a:lnSpc>
                <a:spcPct val="90000"/>
              </a:lnSpc>
              <a:spcBef>
                <a:spcPts val="0"/>
              </a:spcBef>
              <a:spcAft>
                <a:spcPts val="0"/>
              </a:spcAft>
              <a:buClr>
                <a:schemeClr val="dk1"/>
              </a:buClr>
              <a:buSzPts val="1020"/>
              <a:buFont typeface="Arial"/>
              <a:buNone/>
            </a:pPr>
            <a:r>
              <a:rPr lang="en-US" sz="1200" dirty="0">
                <a:solidFill>
                  <a:schemeClr val="dk1"/>
                </a:solidFill>
                <a:latin typeface="Arial" panose="020B0604020202020204" pitchFamily="34" charset="0"/>
              </a:rPr>
              <a:t>&lt;click&gt;</a:t>
            </a:r>
            <a:endParaRPr lang="en-US" dirty="0">
              <a:latin typeface="Arial" panose="020B0604020202020204" pitchFamily="34" charset="0"/>
            </a:endParaRPr>
          </a:p>
          <a:p>
            <a:pPr marL="0" marR="0" lvl="0" indent="0" algn="l" rtl="0">
              <a:lnSpc>
                <a:spcPct val="90000"/>
              </a:lnSpc>
              <a:spcBef>
                <a:spcPts val="0"/>
              </a:spcBef>
              <a:spcAft>
                <a:spcPts val="0"/>
              </a:spcAft>
              <a:buClr>
                <a:schemeClr val="dk1"/>
              </a:buClr>
              <a:buSzPts val="1020"/>
              <a:buFont typeface="Arial"/>
              <a:buNone/>
            </a:pPr>
            <a:r>
              <a:rPr lang="en-US" sz="1200" dirty="0">
                <a:solidFill>
                  <a:schemeClr val="dk1"/>
                </a:solidFill>
                <a:latin typeface="Arial" panose="020B0604020202020204" pitchFamily="34" charset="0"/>
              </a:rPr>
              <a:t>To use the online depot, admins simply enter their Broadcom Support Portal download token in SDDC Manager and click to download desired binaries.</a:t>
            </a:r>
            <a:endParaRPr lang="en-US" dirty="0">
              <a:latin typeface="Arial" panose="020B0604020202020204" pitchFamily="34" charset="0"/>
            </a:endParaRPr>
          </a:p>
          <a:p>
            <a:pPr marL="0" marR="0" lvl="0" indent="0" algn="l" rtl="0">
              <a:lnSpc>
                <a:spcPct val="90000"/>
              </a:lnSpc>
              <a:spcBef>
                <a:spcPts val="0"/>
              </a:spcBef>
              <a:spcAft>
                <a:spcPts val="0"/>
              </a:spcAft>
              <a:buClr>
                <a:schemeClr val="dk1"/>
              </a:buClr>
              <a:buSzPts val="1020"/>
              <a:buFont typeface="Arial"/>
              <a:buNone/>
            </a:pPr>
            <a:endParaRPr lang="en-US" sz="1200" dirty="0">
              <a:solidFill>
                <a:schemeClr val="dk1"/>
              </a:solidFill>
              <a:latin typeface="Arial" panose="020B0604020202020204" pitchFamily="34" charset="0"/>
            </a:endParaRPr>
          </a:p>
          <a:p>
            <a:pPr marL="0" marR="0" lvl="0" indent="0" algn="l" rtl="0">
              <a:lnSpc>
                <a:spcPct val="90000"/>
              </a:lnSpc>
              <a:spcBef>
                <a:spcPts val="0"/>
              </a:spcBef>
              <a:spcAft>
                <a:spcPts val="0"/>
              </a:spcAft>
              <a:buClr>
                <a:schemeClr val="dk1"/>
              </a:buClr>
              <a:buSzPts val="1020"/>
              <a:buFont typeface="Arial"/>
              <a:buNone/>
            </a:pPr>
            <a:r>
              <a:rPr lang="en-US" sz="1200" dirty="0">
                <a:solidFill>
                  <a:schemeClr val="dk1"/>
                </a:solidFill>
                <a:latin typeface="Arial" panose="020B0604020202020204" pitchFamily="34" charset="0"/>
              </a:rPr>
              <a:t>&lt;click&gt;</a:t>
            </a:r>
            <a:endParaRPr lang="en-US" dirty="0">
              <a:latin typeface="Arial" panose="020B0604020202020204" pitchFamily="34" charset="0"/>
            </a:endParaRPr>
          </a:p>
          <a:p>
            <a:pPr marL="0" marR="0" lvl="0" indent="0" algn="l" rtl="0">
              <a:lnSpc>
                <a:spcPct val="90000"/>
              </a:lnSpc>
              <a:spcBef>
                <a:spcPts val="0"/>
              </a:spcBef>
              <a:spcAft>
                <a:spcPts val="0"/>
              </a:spcAft>
              <a:buClr>
                <a:schemeClr val="dk1"/>
              </a:buClr>
              <a:buSzPts val="1020"/>
              <a:buFont typeface="Arial"/>
              <a:buNone/>
            </a:pPr>
            <a:r>
              <a:rPr lang="en-US" sz="1200" dirty="0">
                <a:solidFill>
                  <a:schemeClr val="dk1"/>
                </a:solidFill>
                <a:latin typeface="Arial" panose="020B0604020202020204" pitchFamily="34" charset="0"/>
              </a:rPr>
              <a:t>The VCF Download Tool requires a server or portable system that can download bundles and then connect to the internal network. From there, they can sync the binaries to SDDC Manager and import them.</a:t>
            </a:r>
            <a:endParaRPr lang="en-US" dirty="0">
              <a:latin typeface="Arial" panose="020B0604020202020204" pitchFamily="34" charset="0"/>
            </a:endParaRPr>
          </a:p>
          <a:p>
            <a:pPr marL="0" marR="0" lvl="0" indent="0" algn="l" rtl="0">
              <a:lnSpc>
                <a:spcPct val="90000"/>
              </a:lnSpc>
              <a:spcBef>
                <a:spcPts val="0"/>
              </a:spcBef>
              <a:spcAft>
                <a:spcPts val="0"/>
              </a:spcAft>
              <a:buClr>
                <a:schemeClr val="dk1"/>
              </a:buClr>
              <a:buSzPts val="1020"/>
              <a:buFont typeface="Arial"/>
              <a:buNone/>
            </a:pPr>
            <a:endParaRPr lang="en-US" sz="1200" dirty="0">
              <a:solidFill>
                <a:schemeClr val="dk1"/>
              </a:solidFill>
              <a:latin typeface="Arial" panose="020B0604020202020204" pitchFamily="34" charset="0"/>
            </a:endParaRPr>
          </a:p>
          <a:p>
            <a:pPr marL="0" marR="0" lvl="0" indent="0" algn="l" rtl="0">
              <a:lnSpc>
                <a:spcPct val="90000"/>
              </a:lnSpc>
              <a:spcBef>
                <a:spcPts val="0"/>
              </a:spcBef>
              <a:spcAft>
                <a:spcPts val="0"/>
              </a:spcAft>
              <a:buClr>
                <a:schemeClr val="dk1"/>
              </a:buClr>
              <a:buSzPts val="1020"/>
              <a:buFont typeface="Arial"/>
              <a:buNone/>
            </a:pPr>
            <a:r>
              <a:rPr lang="en-US" sz="1200" dirty="0">
                <a:solidFill>
                  <a:schemeClr val="dk1"/>
                </a:solidFill>
                <a:latin typeface="Arial" panose="020B0604020202020204" pitchFamily="34" charset="0"/>
              </a:rPr>
              <a:t>&lt;click&gt;</a:t>
            </a:r>
            <a:endParaRPr lang="en-US" dirty="0">
              <a:latin typeface="Arial" panose="020B0604020202020204" pitchFamily="34" charset="0"/>
            </a:endParaRPr>
          </a:p>
          <a:p>
            <a:pPr marL="0" marR="0" lvl="0" indent="0" algn="l" rtl="0">
              <a:lnSpc>
                <a:spcPct val="90000"/>
              </a:lnSpc>
              <a:spcBef>
                <a:spcPts val="0"/>
              </a:spcBef>
              <a:spcAft>
                <a:spcPts val="0"/>
              </a:spcAft>
              <a:buClr>
                <a:schemeClr val="dk1"/>
              </a:buClr>
              <a:buSzPts val="1020"/>
              <a:buFont typeface="Arial"/>
              <a:buNone/>
            </a:pPr>
            <a:r>
              <a:rPr lang="en-US" sz="1200" dirty="0">
                <a:solidFill>
                  <a:schemeClr val="dk1"/>
                </a:solidFill>
                <a:latin typeface="Arial" panose="020B0604020202020204" pitchFamily="34" charset="0"/>
              </a:rPr>
              <a:t>An offline depot combines those two approaches and creates a local mirror of the online depot that SDDC Manager can connect to on the internal network. This permits use of the GUI, just click to download.</a:t>
            </a:r>
            <a:endParaRPr lang="en-US" dirty="0">
              <a:latin typeface="Arial" panose="020B0604020202020204" pitchFamily="34" charset="0"/>
            </a:endParaRPr>
          </a:p>
          <a:p>
            <a:pPr marL="0" marR="0" lvl="0" indent="0" algn="l" rtl="0">
              <a:lnSpc>
                <a:spcPct val="90000"/>
              </a:lnSpc>
              <a:spcBef>
                <a:spcPts val="0"/>
              </a:spcBef>
              <a:spcAft>
                <a:spcPts val="0"/>
              </a:spcAft>
              <a:buClr>
                <a:schemeClr val="dk1"/>
              </a:buClr>
              <a:buSzPts val="1020"/>
              <a:buFont typeface="Arial"/>
              <a:buNone/>
            </a:pPr>
            <a:endParaRPr lang="en-US" sz="1200" dirty="0">
              <a:solidFill>
                <a:schemeClr val="dk1"/>
              </a:solidFill>
              <a:latin typeface="Arial" panose="020B0604020202020204" pitchFamily="34" charset="0"/>
            </a:endParaRPr>
          </a:p>
          <a:p>
            <a:pPr marL="0" lvl="0" indent="0" algn="l" rtl="0">
              <a:lnSpc>
                <a:spcPct val="90000"/>
              </a:lnSpc>
              <a:spcBef>
                <a:spcPts val="0"/>
              </a:spcBef>
              <a:spcAft>
                <a:spcPts val="0"/>
              </a:spcAft>
              <a:buClr>
                <a:schemeClr val="dk1"/>
              </a:buClr>
              <a:buSzPts val="1020"/>
              <a:buFont typeface="Arial"/>
              <a:buNone/>
            </a:pPr>
            <a:r>
              <a:rPr lang="en-US" sz="1200" b="1" dirty="0">
                <a:solidFill>
                  <a:schemeClr val="dk1"/>
                </a:solidFill>
                <a:latin typeface="Arial" panose="020B0604020202020204" pitchFamily="34" charset="0"/>
              </a:rPr>
              <a:t>Notes:</a:t>
            </a:r>
            <a:endParaRPr lang="en-US" b="1" dirty="0">
              <a:latin typeface="Arial" panose="020B0604020202020204" pitchFamily="34" charset="0"/>
            </a:endParaRPr>
          </a:p>
          <a:p>
            <a:pPr marL="0" lvl="0" indent="0" algn="l" rtl="0">
              <a:lnSpc>
                <a:spcPct val="90000"/>
              </a:lnSpc>
              <a:spcBef>
                <a:spcPts val="0"/>
              </a:spcBef>
              <a:spcAft>
                <a:spcPts val="0"/>
              </a:spcAft>
              <a:buClr>
                <a:schemeClr val="dk1"/>
              </a:buClr>
              <a:buSzPts val="1020"/>
              <a:buFont typeface="Arial"/>
              <a:buNone/>
            </a:pPr>
            <a:r>
              <a:rPr lang="en-US" sz="1200" dirty="0">
                <a:solidFill>
                  <a:schemeClr val="dk1"/>
                </a:solidFill>
                <a:latin typeface="Arial" panose="020B0604020202020204" pitchFamily="34" charset="0"/>
              </a:rPr>
              <a:t>The VCFDT is downloaded as a </a:t>
            </a:r>
            <a:r>
              <a:rPr lang="en-US" sz="1200" dirty="0" err="1">
                <a:solidFill>
                  <a:schemeClr val="dk1"/>
                </a:solidFill>
                <a:latin typeface="Arial" panose="020B0604020202020204" pitchFamily="34" charset="0"/>
              </a:rPr>
              <a:t>tar.gz</a:t>
            </a:r>
            <a:r>
              <a:rPr lang="en-US" sz="1200" dirty="0">
                <a:solidFill>
                  <a:schemeClr val="dk1"/>
                </a:solidFill>
                <a:latin typeface="Arial" panose="020B0604020202020204" pitchFamily="34" charset="0"/>
              </a:rPr>
              <a:t> file from Broadcom Support Portal. The same file also includes the older Offline Bundle Transfer Utility (OBTU) for use with older 5.x environments.</a:t>
            </a:r>
            <a:endParaRPr lang="en-US" dirty="0">
              <a:latin typeface="Arial" panose="020B0604020202020204" pitchFamily="34" charset="0"/>
            </a:endParaRPr>
          </a:p>
          <a:p>
            <a:pPr marL="0" lvl="0" indent="0" algn="l" rtl="0">
              <a:lnSpc>
                <a:spcPct val="90000"/>
              </a:lnSpc>
              <a:spcBef>
                <a:spcPts val="0"/>
              </a:spcBef>
              <a:spcAft>
                <a:spcPts val="0"/>
              </a:spcAft>
              <a:buClr>
                <a:schemeClr val="dk1"/>
              </a:buClr>
              <a:buSzPts val="1020"/>
              <a:buFont typeface="Arial"/>
              <a:buNone/>
            </a:pPr>
            <a:endParaRPr lang="en-US" sz="1200" dirty="0">
              <a:solidFill>
                <a:schemeClr val="dk1"/>
              </a:solidFill>
              <a:latin typeface="Arial" panose="020B0604020202020204" pitchFamily="34" charset="0"/>
            </a:endParaRPr>
          </a:p>
          <a:p>
            <a:pPr marL="0" lvl="0" indent="0" algn="l" rtl="0">
              <a:lnSpc>
                <a:spcPct val="90000"/>
              </a:lnSpc>
              <a:spcBef>
                <a:spcPts val="0"/>
              </a:spcBef>
              <a:spcAft>
                <a:spcPts val="0"/>
              </a:spcAft>
              <a:buClr>
                <a:schemeClr val="dk1"/>
              </a:buClr>
              <a:buSzPts val="1020"/>
              <a:buFont typeface="Arial"/>
              <a:buNone/>
            </a:pPr>
            <a:r>
              <a:rPr lang="en-US" sz="1200" b="1" u="none" strike="noStrike" dirty="0">
                <a:solidFill>
                  <a:schemeClr val="dk1"/>
                </a:solidFill>
                <a:latin typeface="Arial" panose="020B0604020202020204" pitchFamily="34" charset="0"/>
                <a:sym typeface="Arial"/>
              </a:rPr>
              <a:t>Resources:</a:t>
            </a:r>
          </a:p>
          <a:p>
            <a:pPr marL="0" lvl="0" indent="0" algn="l" rtl="0">
              <a:lnSpc>
                <a:spcPct val="90000"/>
              </a:lnSpc>
              <a:spcBef>
                <a:spcPts val="0"/>
              </a:spcBef>
              <a:spcAft>
                <a:spcPts val="0"/>
              </a:spcAft>
              <a:buClr>
                <a:schemeClr val="dk1"/>
              </a:buClr>
              <a:buSzPts val="1020"/>
              <a:buFont typeface="Arial"/>
              <a:buNone/>
            </a:pPr>
            <a:r>
              <a:rPr lang="en-US" sz="1200" u="none" strike="noStrike" dirty="0">
                <a:solidFill>
                  <a:schemeClr val="dk1"/>
                </a:solidFill>
                <a:latin typeface="Arial" panose="020B0604020202020204" pitchFamily="34" charset="0"/>
                <a:sym typeface="Arial"/>
              </a:rPr>
              <a:t>KB article on download tokens:</a:t>
            </a:r>
          </a:p>
          <a:p>
            <a:pPr marL="0" lvl="0" indent="0" algn="l" rtl="0">
              <a:lnSpc>
                <a:spcPct val="90000"/>
              </a:lnSpc>
              <a:spcBef>
                <a:spcPts val="0"/>
              </a:spcBef>
              <a:spcAft>
                <a:spcPts val="0"/>
              </a:spcAft>
              <a:buClr>
                <a:schemeClr val="dk1"/>
              </a:buClr>
              <a:buSzPts val="1020"/>
              <a:buFont typeface="Arial"/>
              <a:buNone/>
            </a:pPr>
            <a:r>
              <a:rPr lang="en-US" dirty="0">
                <a:latin typeface="Arial" panose="020B0604020202020204" pitchFamily="34" charset="0"/>
              </a:rPr>
              <a:t>https://</a:t>
            </a:r>
            <a:r>
              <a:rPr lang="en-US" dirty="0" err="1">
                <a:latin typeface="Arial" panose="020B0604020202020204" pitchFamily="34" charset="0"/>
              </a:rPr>
              <a:t>knowledge.broadcom.com</a:t>
            </a:r>
            <a:r>
              <a:rPr lang="en-US" dirty="0">
                <a:latin typeface="Arial" panose="020B0604020202020204" pitchFamily="34" charset="0"/>
              </a:rPr>
              <a:t>/external/article/390098</a:t>
            </a:r>
            <a:endParaRPr lang="en-US" sz="1200" u="none" strike="noStrike" dirty="0">
              <a:solidFill>
                <a:schemeClr val="dk1"/>
              </a:solidFill>
              <a:latin typeface="Arial" panose="020B0604020202020204" pitchFamily="34" charset="0"/>
              <a:sym typeface="Arial"/>
            </a:endParaRPr>
          </a:p>
          <a:p>
            <a:pPr marL="0" lvl="0" indent="0" algn="l" rtl="0">
              <a:lnSpc>
                <a:spcPct val="90000"/>
              </a:lnSpc>
              <a:spcBef>
                <a:spcPts val="0"/>
              </a:spcBef>
              <a:spcAft>
                <a:spcPts val="0"/>
              </a:spcAft>
              <a:buClr>
                <a:schemeClr val="dk1"/>
              </a:buClr>
              <a:buSzPts val="1020"/>
              <a:buFont typeface="Arial"/>
              <a:buNone/>
            </a:pPr>
            <a:endParaRPr lang="en-US" dirty="0">
              <a:latin typeface="Arial" panose="020B0604020202020204" pitchFamily="34" charset="0"/>
            </a:endParaRPr>
          </a:p>
          <a:p>
            <a:pPr marL="0" lvl="0" indent="0" algn="l" rtl="0">
              <a:lnSpc>
                <a:spcPct val="90000"/>
              </a:lnSpc>
              <a:spcBef>
                <a:spcPts val="0"/>
              </a:spcBef>
              <a:spcAft>
                <a:spcPts val="0"/>
              </a:spcAft>
              <a:buNone/>
            </a:pPr>
            <a:r>
              <a:rPr lang="en-US" sz="1200" dirty="0">
                <a:latin typeface="Arial" panose="020B0604020202020204" pitchFamily="34" charset="0"/>
              </a:rPr>
              <a:t>For a demo of the OBTU:</a:t>
            </a:r>
            <a:endParaRPr lang="en-US" sz="1200" dirty="0">
              <a:solidFill>
                <a:schemeClr val="dk1"/>
              </a:solidFill>
              <a:effectLst/>
              <a:latin typeface="Arial" panose="020B0604020202020204" pitchFamily="34" charset="0"/>
            </a:endParaRPr>
          </a:p>
          <a:p>
            <a:pPr marL="0" lvl="0" indent="0" algn="l" rtl="0">
              <a:lnSpc>
                <a:spcPct val="90000"/>
              </a:lnSpc>
              <a:spcBef>
                <a:spcPts val="0"/>
              </a:spcBef>
              <a:spcAft>
                <a:spcPts val="0"/>
              </a:spcAft>
              <a:buNone/>
            </a:pPr>
            <a:r>
              <a:rPr lang="en-AU" dirty="0">
                <a:solidFill>
                  <a:srgbClr val="DCA10D"/>
                </a:solidFill>
                <a:effectLst/>
                <a:latin typeface="Arial" panose="020B0604020202020204" pitchFamily="34" charset="0"/>
                <a:hlinkClick r:id="rId3"/>
              </a:rPr>
              <a:t>https://youtu.be/w2vXXz0PkBk?si=OozkReStBta4BqjA</a:t>
            </a:r>
            <a:r>
              <a:rPr lang="en-AU" dirty="0">
                <a:solidFill>
                  <a:srgbClr val="000000"/>
                </a:solidFill>
                <a:effectLst/>
                <a:latin typeface="Arial" panose="020B0604020202020204" pitchFamily="34" charset="0"/>
              </a:rPr>
              <a:t> </a:t>
            </a:r>
          </a:p>
          <a:p>
            <a:pPr marL="0" lvl="0" indent="0" algn="l" rtl="0">
              <a:lnSpc>
                <a:spcPct val="90000"/>
              </a:lnSpc>
              <a:spcBef>
                <a:spcPts val="0"/>
              </a:spcBef>
              <a:spcAft>
                <a:spcPts val="0"/>
              </a:spcAft>
              <a:buNone/>
            </a:pPr>
            <a:endParaRPr lang="en-AU" dirty="0">
              <a:solidFill>
                <a:srgbClr val="000000"/>
              </a:solidFill>
              <a:effectLst/>
              <a:latin typeface="Arial" panose="020B0604020202020204" pitchFamily="34" charset="0"/>
            </a:endParaRPr>
          </a:p>
          <a:p>
            <a:pPr marL="0" lvl="0" indent="0" algn="l" rtl="0">
              <a:lnSpc>
                <a:spcPct val="90000"/>
              </a:lnSpc>
              <a:spcBef>
                <a:spcPts val="0"/>
              </a:spcBef>
              <a:spcAft>
                <a:spcPts val="0"/>
              </a:spcAft>
              <a:buNone/>
            </a:pPr>
            <a:r>
              <a:rPr lang="en-AU" dirty="0">
                <a:solidFill>
                  <a:srgbClr val="000000"/>
                </a:solidFill>
                <a:effectLst/>
                <a:latin typeface="Arial" panose="020B0604020202020204" pitchFamily="34" charset="0"/>
              </a:rPr>
              <a:t>For further detail on how to configure an Offline depot for VCF:</a:t>
            </a:r>
          </a:p>
          <a:p>
            <a:pPr marL="0" marR="0" lvl="0" indent="0" algn="l" defTabSz="914400" rtl="0" eaLnBrk="1" fontAlgn="auto" latinLnBrk="0" hangingPunct="1">
              <a:lnSpc>
                <a:spcPct val="90000"/>
              </a:lnSpc>
              <a:spcBef>
                <a:spcPts val="0"/>
              </a:spcBef>
              <a:spcAft>
                <a:spcPts val="0"/>
              </a:spcAft>
              <a:buClrTx/>
              <a:buSzTx/>
              <a:buFontTx/>
              <a:buNone/>
              <a:tabLst/>
              <a:defRPr/>
            </a:pPr>
            <a:r>
              <a:rPr lang="en-AU" dirty="0">
                <a:solidFill>
                  <a:srgbClr val="DCA10D"/>
                </a:solidFill>
                <a:effectLst/>
                <a:latin typeface="Arial" panose="020B0604020202020204" pitchFamily="34" charset="0"/>
                <a:hlinkClick r:id="rId4"/>
              </a:rPr>
              <a:t>https://www.youtube.com/watch?v=iPqZtgAI7P8</a:t>
            </a:r>
            <a:r>
              <a:rPr lang="en-AU" dirty="0">
                <a:solidFill>
                  <a:srgbClr val="000000"/>
                </a:solidFill>
                <a:effectLst/>
                <a:latin typeface="Arial" panose="020B0604020202020204" pitchFamily="34" charset="0"/>
              </a:rPr>
              <a:t>  </a:t>
            </a:r>
            <a:br>
              <a:rPr lang="en-AU" dirty="0">
                <a:solidFill>
                  <a:srgbClr val="000000"/>
                </a:solidFill>
                <a:effectLst/>
                <a:latin typeface="Arial" panose="020B0604020202020204" pitchFamily="34" charset="0"/>
              </a:rPr>
            </a:br>
            <a:endParaRPr lang="en-AU" dirty="0">
              <a:solidFill>
                <a:srgbClr val="DCA10D"/>
              </a:solidFill>
              <a:effectLst/>
              <a:latin typeface="Arial" panose="020B0604020202020204" pitchFamily="34" charset="0"/>
            </a:endParaRPr>
          </a:p>
          <a:p>
            <a:pPr marL="0" lvl="0" indent="0" algn="l" rtl="0">
              <a:lnSpc>
                <a:spcPct val="90000"/>
              </a:lnSpc>
              <a:spcBef>
                <a:spcPts val="0"/>
              </a:spcBef>
              <a:spcAft>
                <a:spcPts val="0"/>
              </a:spcAft>
              <a:buNone/>
            </a:pPr>
            <a:br>
              <a:rPr lang="en-AU" dirty="0">
                <a:solidFill>
                  <a:srgbClr val="000000"/>
                </a:solidFill>
                <a:effectLst/>
                <a:latin typeface="Arial" panose="020B0604020202020204" pitchFamily="34" charset="0"/>
              </a:rPr>
            </a:br>
            <a:br>
              <a:rPr lang="en-AU" dirty="0">
                <a:solidFill>
                  <a:srgbClr val="000000"/>
                </a:solidFill>
                <a:effectLst/>
                <a:latin typeface="Arial" panose="020B0604020202020204" pitchFamily="34" charset="0"/>
              </a:rPr>
            </a:br>
            <a:endParaRPr lang="en-AU" dirty="0">
              <a:solidFill>
                <a:srgbClr val="DCA10D"/>
              </a:solidFill>
              <a:effectLst/>
              <a:latin typeface="Arial" panose="020B0604020202020204" pitchFamily="34" charset="0"/>
            </a:endParaRPr>
          </a:p>
          <a:p>
            <a:pPr marL="0" lvl="0" indent="0" algn="l" rtl="0">
              <a:lnSpc>
                <a:spcPct val="90000"/>
              </a:lnSpc>
              <a:spcBef>
                <a:spcPts val="0"/>
              </a:spcBef>
              <a:spcAft>
                <a:spcPts val="0"/>
              </a:spcAft>
              <a:buNone/>
            </a:pPr>
            <a:endParaRPr lang="en-US" sz="1200" dirty="0">
              <a:latin typeface="Arial" panose="020B0604020202020204" pitchFamily="34" charset="0"/>
            </a:endParaRPr>
          </a:p>
          <a:p>
            <a:pPr marL="0" lvl="0" indent="0" algn="l" rtl="0">
              <a:lnSpc>
                <a:spcPct val="90000"/>
              </a:lnSpc>
              <a:spcBef>
                <a:spcPts val="0"/>
              </a:spcBef>
              <a:spcAft>
                <a:spcPts val="0"/>
              </a:spcAft>
              <a:buNone/>
            </a:pPr>
            <a:endParaRPr lang="en-US" sz="1200" dirty="0">
              <a:latin typeface="Arial" panose="020B0604020202020204" pitchFamily="34" charset="0"/>
            </a:endParaRPr>
          </a:p>
          <a:p>
            <a:endParaRPr 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38012BDE-2DE4-BA5B-DE4E-6CC1521D7FD9}"/>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smtClean="0">
                <a:ln>
                  <a:noFill/>
                </a:ln>
                <a:solidFill>
                  <a:srgbClr val="717074"/>
                </a:solidFill>
                <a:effectLst/>
                <a:uLnTx/>
                <a:uFillTx/>
                <a:latin typeface="Arial" panose="020B0604020202020204" pitchFamily="34" charset="0"/>
                <a:ea typeface="+mn-ea"/>
                <a:cs typeface="+mn-cs"/>
                <a:sym typeface="Arial"/>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US" sz="12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sym typeface="Arial"/>
            </a:endParaRPr>
          </a:p>
        </p:txBody>
      </p:sp>
    </p:spTree>
    <p:extLst>
      <p:ext uri="{BB962C8B-B14F-4D97-AF65-F5344CB8AC3E}">
        <p14:creationId xmlns:p14="http://schemas.microsoft.com/office/powerpoint/2010/main" val="199252388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6">
          <a:extLst>
            <a:ext uri="{FF2B5EF4-FFF2-40B4-BE49-F238E27FC236}">
              <a16:creationId xmlns:a16="http://schemas.microsoft.com/office/drawing/2014/main" id="{13F4D736-C53E-81BC-7EEE-D1747836ACD3}"/>
            </a:ext>
          </a:extLst>
        </p:cNvPr>
        <p:cNvGrpSpPr/>
        <p:nvPr/>
      </p:nvGrpSpPr>
      <p:grpSpPr>
        <a:xfrm>
          <a:off x="0" y="0"/>
          <a:ext cx="0" cy="0"/>
          <a:chOff x="0" y="0"/>
          <a:chExt cx="0" cy="0"/>
        </a:xfrm>
      </p:grpSpPr>
      <p:sp>
        <p:nvSpPr>
          <p:cNvPr id="6727" name="Google Shape;6727;p94:notes">
            <a:extLst>
              <a:ext uri="{FF2B5EF4-FFF2-40B4-BE49-F238E27FC236}">
                <a16:creationId xmlns:a16="http://schemas.microsoft.com/office/drawing/2014/main" id="{3DD5538D-90C3-B593-C3E0-F2357A8ACD1B}"/>
              </a:ext>
            </a:extLst>
          </p:cNvPr>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28" name="Google Shape;6728;p94:notes">
            <a:extLst>
              <a:ext uri="{FF2B5EF4-FFF2-40B4-BE49-F238E27FC236}">
                <a16:creationId xmlns:a16="http://schemas.microsoft.com/office/drawing/2014/main" id="{20C4D9E5-7765-003C-8441-0C432BFC87B7}"/>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80000"/>
              </a:lnSpc>
              <a:spcBef>
                <a:spcPts val="0"/>
              </a:spcBef>
              <a:spcAft>
                <a:spcPts val="0"/>
              </a:spcAft>
              <a:buClr>
                <a:schemeClr val="accent1"/>
              </a:buClr>
              <a:buSzPts val="930"/>
              <a:buFont typeface="Arial"/>
              <a:buNone/>
            </a:pPr>
            <a:r>
              <a:rPr lang="en-US" sz="930" b="1" dirty="0">
                <a:latin typeface="Arial" panose="020B0604020202020204" pitchFamily="34" charset="0"/>
              </a:rPr>
              <a:t>Key Message:</a:t>
            </a:r>
          </a:p>
          <a:p>
            <a:pPr marL="0" marR="0" lvl="0" indent="0" algn="l" rtl="0">
              <a:lnSpc>
                <a:spcPct val="80000"/>
              </a:lnSpc>
              <a:spcBef>
                <a:spcPts val="0"/>
              </a:spcBef>
              <a:spcAft>
                <a:spcPts val="0"/>
              </a:spcAft>
              <a:buClr>
                <a:schemeClr val="accent1"/>
              </a:buClr>
              <a:buSzPts val="930"/>
              <a:buFont typeface="Arial"/>
              <a:buNone/>
            </a:pPr>
            <a:r>
              <a:rPr lang="en-US" sz="930" dirty="0">
                <a:latin typeface="Arial" panose="020B0604020202020204" pitchFamily="34" charset="0"/>
              </a:rPr>
              <a:t>Prechecks for VCF Instances are now accessed in the new VCF Operations interface</a:t>
            </a:r>
            <a:endParaRPr dirty="0">
              <a:latin typeface="Arial" panose="020B0604020202020204" pitchFamily="34" charset="0"/>
            </a:endParaRPr>
          </a:p>
          <a:p>
            <a:pPr marL="0" marR="0" lvl="0" indent="0" algn="l" rtl="0">
              <a:lnSpc>
                <a:spcPct val="80000"/>
              </a:lnSpc>
              <a:spcBef>
                <a:spcPts val="0"/>
              </a:spcBef>
              <a:spcAft>
                <a:spcPts val="0"/>
              </a:spcAft>
              <a:buClr>
                <a:schemeClr val="accent1"/>
              </a:buClr>
              <a:buSzPts val="930"/>
              <a:buFont typeface="Arial"/>
              <a:buNone/>
            </a:pPr>
            <a:r>
              <a:rPr lang="en-US" sz="930" strike="noStrike" dirty="0">
                <a:solidFill>
                  <a:schemeClr val="dk2"/>
                </a:solidFill>
                <a:latin typeface="Arial" panose="020B0604020202020204" pitchFamily="34" charset="0"/>
              </a:rPr>
              <a:t>Update Prechecks can be run for a Target Version of a VMware Cloud Foundation release.</a:t>
            </a:r>
            <a:endParaRPr dirty="0">
              <a:latin typeface="Arial" panose="020B0604020202020204" pitchFamily="34" charset="0"/>
            </a:endParaRPr>
          </a:p>
          <a:p>
            <a:pPr marL="0" marR="0" lvl="0" indent="0" algn="l" rtl="0">
              <a:lnSpc>
                <a:spcPct val="80000"/>
              </a:lnSpc>
              <a:spcBef>
                <a:spcPts val="0"/>
              </a:spcBef>
              <a:spcAft>
                <a:spcPts val="0"/>
              </a:spcAft>
              <a:buClr>
                <a:schemeClr val="accent1"/>
              </a:buClr>
              <a:buSzPts val="930"/>
              <a:buFont typeface="Arial"/>
              <a:buNone/>
            </a:pPr>
            <a:r>
              <a:rPr lang="en-US" sz="930" strike="noStrike" dirty="0">
                <a:latin typeface="Arial" panose="020B0604020202020204" pitchFamily="34" charset="0"/>
              </a:rPr>
              <a:t>A General Update Readiness precheck can be run at anytime without the need to complete the update.</a:t>
            </a:r>
            <a:endParaRPr dirty="0">
              <a:latin typeface="Arial" panose="020B0604020202020204" pitchFamily="34" charset="0"/>
            </a:endParaRPr>
          </a:p>
          <a:p>
            <a:pPr marL="0" marR="0" lvl="0" indent="0" algn="l" rtl="0">
              <a:lnSpc>
                <a:spcPct val="80000"/>
              </a:lnSpc>
              <a:spcBef>
                <a:spcPts val="0"/>
              </a:spcBef>
              <a:spcAft>
                <a:spcPts val="0"/>
              </a:spcAft>
              <a:buClr>
                <a:schemeClr val="accent1"/>
              </a:buClr>
              <a:buSzPts val="930"/>
              <a:buFont typeface="Arial"/>
              <a:buNone/>
            </a:pPr>
            <a:endParaRPr sz="930" dirty="0">
              <a:latin typeface="Arial" panose="020B0604020202020204" pitchFamily="34" charset="0"/>
            </a:endParaRPr>
          </a:p>
          <a:p>
            <a:pPr marL="0" marR="0" lvl="0" indent="0" algn="l" rtl="0">
              <a:lnSpc>
                <a:spcPct val="80000"/>
              </a:lnSpc>
              <a:spcBef>
                <a:spcPts val="0"/>
              </a:spcBef>
              <a:spcAft>
                <a:spcPts val="0"/>
              </a:spcAft>
              <a:buClr>
                <a:schemeClr val="accent1"/>
              </a:buClr>
              <a:buSzPts val="930"/>
              <a:buFont typeface="Arial"/>
              <a:buNone/>
            </a:pPr>
            <a:r>
              <a:rPr lang="en-US" sz="930" b="1" dirty="0">
                <a:latin typeface="Arial" panose="020B0604020202020204" pitchFamily="34" charset="0"/>
              </a:rPr>
              <a:t>Talk Track:</a:t>
            </a:r>
            <a:endParaRPr b="1" dirty="0">
              <a:latin typeface="Arial" panose="020B0604020202020204" pitchFamily="34" charset="0"/>
            </a:endParaRPr>
          </a:p>
          <a:p>
            <a:pPr marL="0" marR="0" lvl="0" indent="0" algn="l" rtl="0">
              <a:lnSpc>
                <a:spcPct val="80000"/>
              </a:lnSpc>
              <a:spcBef>
                <a:spcPts val="0"/>
              </a:spcBef>
              <a:spcAft>
                <a:spcPts val="0"/>
              </a:spcAft>
              <a:buClr>
                <a:schemeClr val="accent1"/>
              </a:buClr>
              <a:buSzPts val="930"/>
              <a:buFont typeface="Arial"/>
              <a:buNone/>
            </a:pPr>
            <a:r>
              <a:rPr lang="en-US" sz="930" dirty="0">
                <a:latin typeface="Arial" panose="020B0604020202020204" pitchFamily="34" charset="0"/>
              </a:rPr>
              <a:t>The inbuilt workflows within VCF Operations uses SDDC Manager behind the scenes to perform lifecycle management operations. The updates are </a:t>
            </a:r>
            <a:r>
              <a:rPr lang="en-US" sz="930" dirty="0" err="1">
                <a:latin typeface="Arial" panose="020B0604020202020204" pitchFamily="34" charset="0"/>
              </a:rPr>
              <a:t>thoroughy</a:t>
            </a:r>
            <a:r>
              <a:rPr lang="en-US" sz="930" dirty="0">
                <a:latin typeface="Arial" panose="020B0604020202020204" pitchFamily="34" charset="0"/>
              </a:rPr>
              <a:t> tested to ensure a deployment is updated to the desired VMware Cloud Foundation version in the correct order, starting with the management domain components.</a:t>
            </a:r>
            <a:endParaRPr dirty="0">
              <a:latin typeface="Arial" panose="020B0604020202020204" pitchFamily="34" charset="0"/>
            </a:endParaRPr>
          </a:p>
          <a:p>
            <a:pPr marL="0" marR="0" lvl="0" indent="0" algn="l" rtl="0">
              <a:lnSpc>
                <a:spcPct val="80000"/>
              </a:lnSpc>
              <a:spcBef>
                <a:spcPts val="0"/>
              </a:spcBef>
              <a:spcAft>
                <a:spcPts val="0"/>
              </a:spcAft>
              <a:buClr>
                <a:schemeClr val="accent1"/>
              </a:buClr>
              <a:buSzPts val="930"/>
              <a:buFont typeface="Arial"/>
              <a:buNone/>
            </a:pPr>
            <a:endParaRPr sz="930" dirty="0">
              <a:latin typeface="Arial" panose="020B0604020202020204" pitchFamily="34" charset="0"/>
            </a:endParaRPr>
          </a:p>
          <a:p>
            <a:pPr marL="0" marR="0" lvl="0" indent="0" algn="l" rtl="0">
              <a:lnSpc>
                <a:spcPct val="80000"/>
              </a:lnSpc>
              <a:spcBef>
                <a:spcPts val="0"/>
              </a:spcBef>
              <a:spcAft>
                <a:spcPts val="0"/>
              </a:spcAft>
              <a:buClr>
                <a:schemeClr val="dk1"/>
              </a:buClr>
              <a:buSzPts val="930"/>
              <a:buFont typeface="Arial"/>
              <a:buNone/>
            </a:pPr>
            <a:r>
              <a:rPr lang="en-US" sz="930" dirty="0">
                <a:latin typeface="Arial" panose="020B0604020202020204" pitchFamily="34" charset="0"/>
              </a:rPr>
              <a:t>Administrators can choose to run a precheck against a specific VCF release or they can run a “General Update Readiness” precheck. </a:t>
            </a:r>
            <a:endParaRPr sz="930" strike="sngStrike" dirty="0">
              <a:latin typeface="Arial" panose="020B0604020202020204" pitchFamily="34" charset="0"/>
            </a:endParaRPr>
          </a:p>
          <a:p>
            <a:pPr marL="0" marR="0" lvl="0" indent="0" algn="l" rtl="0">
              <a:lnSpc>
                <a:spcPct val="80000"/>
              </a:lnSpc>
              <a:spcBef>
                <a:spcPts val="0"/>
              </a:spcBef>
              <a:spcAft>
                <a:spcPts val="0"/>
              </a:spcAft>
              <a:buClr>
                <a:schemeClr val="dk1"/>
              </a:buClr>
              <a:buSzPts val="930"/>
              <a:buFont typeface="Arial"/>
              <a:buNone/>
            </a:pPr>
            <a:endParaRPr sz="930" dirty="0">
              <a:latin typeface="Arial" panose="020B0604020202020204" pitchFamily="34" charset="0"/>
            </a:endParaRPr>
          </a:p>
          <a:p>
            <a:pPr marL="0" marR="0" lvl="0" indent="0" algn="l" rtl="0">
              <a:lnSpc>
                <a:spcPct val="80000"/>
              </a:lnSpc>
              <a:spcBef>
                <a:spcPts val="0"/>
              </a:spcBef>
              <a:spcAft>
                <a:spcPts val="0"/>
              </a:spcAft>
              <a:buClr>
                <a:schemeClr val="dk1"/>
              </a:buClr>
              <a:buSzPts val="930"/>
              <a:buFont typeface="Arial"/>
              <a:buNone/>
            </a:pPr>
            <a:r>
              <a:rPr lang="en-US" sz="930" b="1" dirty="0">
                <a:latin typeface="Arial" panose="020B0604020202020204" pitchFamily="34" charset="0"/>
              </a:rPr>
              <a:t>Notes:  </a:t>
            </a:r>
            <a:endParaRPr sz="930" b="1" dirty="0">
              <a:latin typeface="Arial" panose="020B0604020202020204" pitchFamily="34" charset="0"/>
            </a:endParaRPr>
          </a:p>
          <a:p>
            <a:pPr marL="171450" marR="0" lvl="0" indent="-171450" algn="l" rtl="0">
              <a:lnSpc>
                <a:spcPct val="80000"/>
              </a:lnSpc>
              <a:spcBef>
                <a:spcPts val="0"/>
              </a:spcBef>
              <a:spcAft>
                <a:spcPts val="0"/>
              </a:spcAft>
              <a:buClr>
                <a:schemeClr val="dk1"/>
              </a:buClr>
              <a:buSzPts val="930"/>
              <a:buFont typeface="Arial"/>
              <a:buChar char="•"/>
            </a:pPr>
            <a:r>
              <a:rPr lang="en-US" sz="930" dirty="0">
                <a:latin typeface="Arial" panose="020B0604020202020204" pitchFamily="34" charset="0"/>
              </a:rPr>
              <a:t>Prechecks for a specific “Target Version” will run prechecks related to the components between the source and target VMware Cloud Foundation releases.  Administrators select to run a precheck against the desired target version they wish to update to.  This reduces the risk of running into issues during the actual update.</a:t>
            </a:r>
            <a:endParaRPr dirty="0">
              <a:latin typeface="Arial" panose="020B0604020202020204" pitchFamily="34" charset="0"/>
            </a:endParaRPr>
          </a:p>
          <a:p>
            <a:pPr marL="171450" marR="0" lvl="0" indent="-112395" algn="l" rtl="0">
              <a:lnSpc>
                <a:spcPct val="80000"/>
              </a:lnSpc>
              <a:spcBef>
                <a:spcPts val="0"/>
              </a:spcBef>
              <a:spcAft>
                <a:spcPts val="0"/>
              </a:spcAft>
              <a:buClr>
                <a:schemeClr val="dk1"/>
              </a:buClr>
              <a:buSzPts val="930"/>
              <a:buFont typeface="Arial"/>
              <a:buNone/>
            </a:pPr>
            <a:endParaRPr sz="930" dirty="0">
              <a:latin typeface="Arial" panose="020B0604020202020204" pitchFamily="34" charset="0"/>
            </a:endParaRPr>
          </a:p>
          <a:p>
            <a:pPr marL="171450" marR="0" lvl="0" indent="-171450" algn="l" rtl="0">
              <a:lnSpc>
                <a:spcPct val="80000"/>
              </a:lnSpc>
              <a:spcBef>
                <a:spcPts val="0"/>
              </a:spcBef>
              <a:spcAft>
                <a:spcPts val="0"/>
              </a:spcAft>
              <a:buClr>
                <a:schemeClr val="dk1"/>
              </a:buClr>
              <a:buSzPts val="930"/>
              <a:buFont typeface="Arial"/>
              <a:buChar char="•"/>
            </a:pPr>
            <a:r>
              <a:rPr lang="en-US" sz="930" dirty="0">
                <a:latin typeface="Arial" panose="020B0604020202020204" pitchFamily="34" charset="0"/>
              </a:rPr>
              <a:t>A “General Update Readiness” precheck can be run by an Administrator at any time allowing them to plan and assess upgrade readiness without the need to trigger an upgrade.  A General Update Readiness precheck can be run against an entire workload domain or the custom option can be chosen.</a:t>
            </a:r>
            <a:endParaRPr dirty="0">
              <a:latin typeface="Arial" panose="020B0604020202020204" pitchFamily="34" charset="0"/>
            </a:endParaRPr>
          </a:p>
          <a:p>
            <a:pPr marL="628650" marR="0" lvl="1" indent="-171450" algn="l" rtl="0">
              <a:lnSpc>
                <a:spcPct val="80000"/>
              </a:lnSpc>
              <a:spcBef>
                <a:spcPts val="0"/>
              </a:spcBef>
              <a:spcAft>
                <a:spcPts val="0"/>
              </a:spcAft>
              <a:buClr>
                <a:schemeClr val="dk1"/>
              </a:buClr>
              <a:buSzPts val="930"/>
              <a:buFont typeface="Arial"/>
              <a:buChar char="•"/>
            </a:pPr>
            <a:r>
              <a:rPr lang="en-US" sz="930" dirty="0">
                <a:latin typeface="Arial" panose="020B0604020202020204" pitchFamily="34" charset="0"/>
              </a:rPr>
              <a:t>Selecting the “Entire Workload Domain” option will run prechecks against all installed BOM components, clusters and edges configured.</a:t>
            </a:r>
            <a:endParaRPr dirty="0">
              <a:latin typeface="Arial" panose="020B0604020202020204" pitchFamily="34" charset="0"/>
            </a:endParaRPr>
          </a:p>
          <a:p>
            <a:pPr marL="628650" marR="0" lvl="1" indent="-171450" algn="l" rtl="0">
              <a:lnSpc>
                <a:spcPct val="80000"/>
              </a:lnSpc>
              <a:spcBef>
                <a:spcPts val="0"/>
              </a:spcBef>
              <a:spcAft>
                <a:spcPts val="0"/>
              </a:spcAft>
              <a:buClr>
                <a:schemeClr val="dk1"/>
              </a:buClr>
              <a:buSzPts val="930"/>
              <a:buFont typeface="Arial"/>
              <a:buChar char="•"/>
            </a:pPr>
            <a:r>
              <a:rPr lang="en-US" sz="930" dirty="0">
                <a:latin typeface="Arial" panose="020B0604020202020204" pitchFamily="34" charset="0"/>
              </a:rPr>
              <a:t>Selecting the “Custom selection” option allows Administrators to run a precheck for a specific component.  </a:t>
            </a:r>
            <a:endParaRPr dirty="0">
              <a:latin typeface="Arial" panose="020B0604020202020204" pitchFamily="34" charset="0"/>
            </a:endParaRPr>
          </a:p>
          <a:p>
            <a:pPr marL="914400" marR="0" lvl="2" indent="0" algn="l" rtl="0">
              <a:lnSpc>
                <a:spcPct val="80000"/>
              </a:lnSpc>
              <a:spcBef>
                <a:spcPts val="0"/>
              </a:spcBef>
              <a:spcAft>
                <a:spcPts val="0"/>
              </a:spcAft>
              <a:buClr>
                <a:schemeClr val="dk1"/>
              </a:buClr>
              <a:buSzPts val="930"/>
              <a:buFont typeface="Arial"/>
              <a:buNone/>
            </a:pPr>
            <a:r>
              <a:rPr lang="en-US" sz="930" dirty="0">
                <a:latin typeface="Arial" panose="020B0604020202020204" pitchFamily="34" charset="0"/>
              </a:rPr>
              <a:t>For example: A precheck can be run at a per cluster-level.  This is useful for large workload domains configured with multiple clusters.  It allows administrators to reduce planned maintenance windows by updating components of domain separately.</a:t>
            </a:r>
            <a:endParaRPr dirty="0">
              <a:latin typeface="Arial" panose="020B0604020202020204" pitchFamily="34" charset="0"/>
            </a:endParaRPr>
          </a:p>
          <a:p>
            <a:pPr marL="628650" marR="0" lvl="1" indent="-171450" algn="l" rtl="0">
              <a:lnSpc>
                <a:spcPct val="80000"/>
              </a:lnSpc>
              <a:spcBef>
                <a:spcPts val="0"/>
              </a:spcBef>
              <a:spcAft>
                <a:spcPts val="0"/>
              </a:spcAft>
              <a:buClr>
                <a:schemeClr val="dk1"/>
              </a:buClr>
              <a:buSzPts val="930"/>
              <a:buFont typeface="Arial"/>
              <a:buChar char="•"/>
            </a:pPr>
            <a:r>
              <a:rPr lang="en-US" sz="930" dirty="0">
                <a:latin typeface="Arial" panose="020B0604020202020204" pitchFamily="34" charset="0"/>
              </a:rPr>
              <a:t>A General Update Readiness precheck can be run as a health check on a given SDDC component on a periodic basis.</a:t>
            </a:r>
            <a:endParaRPr dirty="0">
              <a:latin typeface="Arial" panose="020B0604020202020204" pitchFamily="34" charset="0"/>
            </a:endParaRPr>
          </a:p>
          <a:p>
            <a:pPr marL="0" lvl="0" indent="0" algn="l" rtl="0">
              <a:lnSpc>
                <a:spcPct val="80000"/>
              </a:lnSpc>
              <a:spcBef>
                <a:spcPts val="0"/>
              </a:spcBef>
              <a:spcAft>
                <a:spcPts val="0"/>
              </a:spcAft>
              <a:buNone/>
            </a:pPr>
            <a:endParaRPr sz="930" dirty="0">
              <a:latin typeface="Arial" panose="020B0604020202020204" pitchFamily="34" charset="0"/>
            </a:endParaRPr>
          </a:p>
          <a:p>
            <a:pPr marL="0" lvl="0" indent="0" algn="l" rtl="0">
              <a:lnSpc>
                <a:spcPct val="80000"/>
              </a:lnSpc>
              <a:spcBef>
                <a:spcPts val="0"/>
              </a:spcBef>
              <a:spcAft>
                <a:spcPts val="0"/>
              </a:spcAft>
              <a:buNone/>
            </a:pPr>
            <a:endParaRPr sz="930" dirty="0">
              <a:latin typeface="Arial" panose="020B0604020202020204" pitchFamily="34" charset="0"/>
            </a:endParaRPr>
          </a:p>
          <a:p>
            <a:pPr marL="0" lvl="0" indent="0" algn="l" rtl="0">
              <a:lnSpc>
                <a:spcPct val="80000"/>
              </a:lnSpc>
              <a:spcBef>
                <a:spcPts val="0"/>
              </a:spcBef>
              <a:spcAft>
                <a:spcPts val="0"/>
              </a:spcAft>
              <a:buNone/>
            </a:pPr>
            <a:r>
              <a:rPr lang="en-US" sz="930" b="1" dirty="0">
                <a:latin typeface="Arial" panose="020B0604020202020204" pitchFamily="34" charset="0"/>
              </a:rPr>
              <a:t>Resources:</a:t>
            </a:r>
            <a:endParaRPr b="1" dirty="0">
              <a:latin typeface="Arial" panose="020B0604020202020204" pitchFamily="34" charset="0"/>
            </a:endParaRPr>
          </a:p>
          <a:p>
            <a:pPr marL="0" lvl="0" indent="0" algn="l" rtl="0">
              <a:lnSpc>
                <a:spcPct val="80000"/>
              </a:lnSpc>
              <a:spcBef>
                <a:spcPts val="0"/>
              </a:spcBef>
              <a:spcAft>
                <a:spcPts val="0"/>
              </a:spcAft>
              <a:buNone/>
            </a:pPr>
            <a:r>
              <a:rPr lang="en-US" sz="930" dirty="0">
                <a:latin typeface="Arial" panose="020B0604020202020204" pitchFamily="34" charset="0"/>
              </a:rPr>
              <a:t>For further information on Lifecycle Management Prechecks please download the VMware Cloud Foundation Lifecycle Management Documentation</a:t>
            </a:r>
          </a:p>
          <a:p>
            <a:pPr marL="0" marR="0" lvl="0" indent="0" algn="l" defTabSz="914400" rtl="0" eaLnBrk="1" fontAlgn="auto" latinLnBrk="0" hangingPunct="1">
              <a:lnSpc>
                <a:spcPct val="80000"/>
              </a:lnSpc>
              <a:spcBef>
                <a:spcPts val="0"/>
              </a:spcBef>
              <a:spcAft>
                <a:spcPts val="0"/>
              </a:spcAft>
              <a:buClr>
                <a:srgbClr val="000000"/>
              </a:buClr>
              <a:buSzPts val="1400"/>
              <a:buFont typeface="Arial"/>
              <a:buNone/>
              <a:tabLst/>
              <a:defRPr/>
            </a:pPr>
            <a:r>
              <a:rPr lang="en-AU" u="sng" dirty="0">
                <a:solidFill>
                  <a:srgbClr val="DCA10D"/>
                </a:solidFill>
                <a:effectLst/>
                <a:latin typeface="Arial" panose="020B0604020202020204" pitchFamily="34" charset="0"/>
                <a:hlinkClick r:id="rId3"/>
              </a:rPr>
              <a:t>https://docs.vmware.com/en/VMware-Cloud-Foundation/index.html</a:t>
            </a:r>
            <a:r>
              <a:rPr lang="en-AU" dirty="0">
                <a:solidFill>
                  <a:srgbClr val="000000"/>
                </a:solidFill>
                <a:effectLst/>
                <a:latin typeface="Arial" panose="020B0604020202020204" pitchFamily="34" charset="0"/>
              </a:rPr>
              <a:t> </a:t>
            </a:r>
            <a:endParaRPr lang="en-AU" dirty="0">
              <a:solidFill>
                <a:srgbClr val="DCA10D"/>
              </a:solidFill>
              <a:effectLst/>
              <a:latin typeface="Arial" panose="020B0604020202020204" pitchFamily="34" charset="0"/>
            </a:endParaRPr>
          </a:p>
          <a:p>
            <a:pPr marL="0" lvl="0" indent="0" algn="l" rtl="0">
              <a:lnSpc>
                <a:spcPct val="80000"/>
              </a:lnSpc>
              <a:spcBef>
                <a:spcPts val="0"/>
              </a:spcBef>
              <a:spcAft>
                <a:spcPts val="0"/>
              </a:spcAft>
              <a:buNone/>
            </a:pPr>
            <a:endParaRPr dirty="0">
              <a:latin typeface="Arial" panose="020B0604020202020204" pitchFamily="34" charset="0"/>
            </a:endParaRPr>
          </a:p>
        </p:txBody>
      </p:sp>
      <p:sp>
        <p:nvSpPr>
          <p:cNvPr id="6729" name="Google Shape;6729;p94:notes">
            <a:extLst>
              <a:ext uri="{FF2B5EF4-FFF2-40B4-BE49-F238E27FC236}">
                <a16:creationId xmlns:a16="http://schemas.microsoft.com/office/drawing/2014/main" id="{CE363116-69E3-E2D9-3D3E-3CE7A54AF1A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371659183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270DE-B9A8-2C75-60CF-09D3887AC0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3BFDBB-00EE-1356-F1E8-761DEB73D2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158AE1-8403-40B8-5D97-4AD9FD817A6A}"/>
              </a:ext>
            </a:extLst>
          </p:cNvPr>
          <p:cNvSpPr>
            <a:spLocks noGrp="1"/>
          </p:cNvSpPr>
          <p:nvPr>
            <p:ph type="body" idx="1"/>
          </p:nvPr>
        </p:nvSpPr>
        <p:spPr/>
        <p:txBody>
          <a:bodyPr/>
          <a:lstStyle/>
          <a:p>
            <a:pPr marL="0" lvl="0" indent="0" algn="l" rtl="0">
              <a:lnSpc>
                <a:spcPct val="100000"/>
              </a:lnSpc>
              <a:spcBef>
                <a:spcPts val="0"/>
              </a:spcBef>
              <a:spcAft>
                <a:spcPts val="0"/>
              </a:spcAft>
              <a:buClr>
                <a:schemeClr val="dk1"/>
              </a:buClr>
              <a:buSzPts val="1400"/>
              <a:buFont typeface="Arial"/>
              <a:buNone/>
            </a:pPr>
            <a:r>
              <a:rPr lang="en-US" sz="1200" b="1" dirty="0">
                <a:latin typeface="Arial" panose="020B0604020202020204" pitchFamily="34" charset="0"/>
              </a:rPr>
              <a:t>Key Message:</a:t>
            </a:r>
            <a:endParaRPr lang="en-US" b="1" dirty="0">
              <a:latin typeface="Arial" panose="020B0604020202020204" pitchFamily="34" charset="0"/>
            </a:endParaRPr>
          </a:p>
          <a:p>
            <a:pPr marL="0" lvl="0" indent="0" algn="l" rtl="0">
              <a:lnSpc>
                <a:spcPct val="100000"/>
              </a:lnSpc>
              <a:spcBef>
                <a:spcPts val="0"/>
              </a:spcBef>
              <a:spcAft>
                <a:spcPts val="0"/>
              </a:spcAft>
              <a:buClr>
                <a:schemeClr val="dk1"/>
              </a:buClr>
              <a:buSzPts val="1400"/>
              <a:buFont typeface="Arial"/>
              <a:buNone/>
            </a:pPr>
            <a:r>
              <a:rPr lang="en-US" sz="1200" dirty="0">
                <a:latin typeface="Arial" panose="020B0604020202020204" pitchFamily="34" charset="0"/>
              </a:rPr>
              <a:t>VCF 9 uses VCF Operations UI with graphical workflows for upgrades and async patches.</a:t>
            </a:r>
            <a:endParaRPr lang="en-US" dirty="0">
              <a:latin typeface="Arial" panose="020B0604020202020204" pitchFamily="34" charset="0"/>
            </a:endParaRPr>
          </a:p>
          <a:p>
            <a:pPr marL="0" lvl="0" indent="0" algn="l" rtl="0">
              <a:lnSpc>
                <a:spcPct val="100000"/>
              </a:lnSpc>
              <a:spcBef>
                <a:spcPts val="0"/>
              </a:spcBef>
              <a:spcAft>
                <a:spcPts val="0"/>
              </a:spcAft>
              <a:buClr>
                <a:schemeClr val="dk1"/>
              </a:buClr>
              <a:buSzPts val="1400"/>
              <a:buFont typeface="Arial"/>
              <a:buNone/>
            </a:pPr>
            <a:endParaRPr lang="en-US" sz="1200" dirty="0">
              <a:latin typeface="Arial" panose="020B0604020202020204" pitchFamily="34" charset="0"/>
            </a:endParaRPr>
          </a:p>
          <a:p>
            <a:pPr marL="0" lvl="0" indent="0" algn="l" rtl="0">
              <a:lnSpc>
                <a:spcPct val="100000"/>
              </a:lnSpc>
              <a:spcBef>
                <a:spcPts val="0"/>
              </a:spcBef>
              <a:spcAft>
                <a:spcPts val="0"/>
              </a:spcAft>
              <a:buClr>
                <a:schemeClr val="dk1"/>
              </a:buClr>
              <a:buSzPts val="1400"/>
              <a:buFont typeface="Arial"/>
              <a:buNone/>
            </a:pPr>
            <a:r>
              <a:rPr lang="en-US" sz="1200" b="1" dirty="0">
                <a:latin typeface="Arial" panose="020B0604020202020204" pitchFamily="34" charset="0"/>
              </a:rPr>
              <a:t>Talk Track:</a:t>
            </a:r>
            <a:endParaRPr lang="en-US" b="1" dirty="0">
              <a:latin typeface="Arial" panose="020B0604020202020204" pitchFamily="34" charset="0"/>
            </a:endParaRPr>
          </a:p>
          <a:p>
            <a:pPr marL="0" lvl="0" indent="0" algn="l" rtl="0">
              <a:lnSpc>
                <a:spcPct val="100000"/>
              </a:lnSpc>
              <a:spcBef>
                <a:spcPts val="0"/>
              </a:spcBef>
              <a:spcAft>
                <a:spcPts val="0"/>
              </a:spcAft>
              <a:buClr>
                <a:schemeClr val="dk1"/>
              </a:buClr>
              <a:buSzPts val="1400"/>
              <a:buFont typeface="Arial"/>
              <a:buNone/>
            </a:pPr>
            <a:r>
              <a:rPr lang="en-US" sz="1200" dirty="0">
                <a:latin typeface="Arial" panose="020B0604020202020204" pitchFamily="34" charset="0"/>
              </a:rPr>
              <a:t>VCF Operations is the centralized graphical interface that accommodates all types of VCF infrastructure updates, including patches.  Administrators can apply a patch to one or more components of a workload domain, and these patches are downloaded from the online depot just like other install and upgrade patches. When a new BOM is released, an upgrade can be applied which also applies patches at the same time (if a newer async patch has been been released for that target BOM). This saves time by eliminating the need to go through a second time to apply patches after upgrading. </a:t>
            </a:r>
            <a:endParaRPr lang="en-US" dirty="0">
              <a:latin typeface="Arial" panose="020B0604020202020204" pitchFamily="34" charset="0"/>
            </a:endParaRPr>
          </a:p>
          <a:p>
            <a:pPr marL="0" lvl="0" indent="0" algn="l" rtl="0">
              <a:lnSpc>
                <a:spcPct val="100000"/>
              </a:lnSpc>
              <a:spcBef>
                <a:spcPts val="0"/>
              </a:spcBef>
              <a:spcAft>
                <a:spcPts val="0"/>
              </a:spcAft>
              <a:buClr>
                <a:schemeClr val="dk1"/>
              </a:buClr>
              <a:buSzPts val="1400"/>
              <a:buFont typeface="Arial"/>
              <a:buNone/>
            </a:pPr>
            <a:endParaRPr lang="en-US" sz="1200" dirty="0">
              <a:latin typeface="Arial" panose="020B0604020202020204" pitchFamily="34" charset="0"/>
            </a:endParaRPr>
          </a:p>
          <a:p>
            <a:pPr marL="0" lvl="0" indent="0" algn="l" rtl="0">
              <a:lnSpc>
                <a:spcPct val="100000"/>
              </a:lnSpc>
              <a:spcBef>
                <a:spcPts val="0"/>
              </a:spcBef>
              <a:spcAft>
                <a:spcPts val="0"/>
              </a:spcAft>
              <a:buClr>
                <a:schemeClr val="dk1"/>
              </a:buClr>
              <a:buSzPts val="1400"/>
              <a:buFont typeface="Arial"/>
              <a:buNone/>
            </a:pPr>
            <a:r>
              <a:rPr lang="en-US" sz="1200" b="1" dirty="0">
                <a:latin typeface="Arial" panose="020B0604020202020204" pitchFamily="34" charset="0"/>
              </a:rPr>
              <a:t>Notes:</a:t>
            </a:r>
            <a:endParaRPr lang="en-US" b="1"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schemeClr val="dk1"/>
              </a:buClr>
              <a:buSzPts val="1400"/>
              <a:buFont typeface="Arial"/>
              <a:buNone/>
              <a:tabLst/>
              <a:defRPr/>
            </a:pPr>
            <a:r>
              <a:rPr lang="en-US" sz="1200" dirty="0">
                <a:latin typeface="Arial" panose="020B0604020202020204" pitchFamily="34" charset="0"/>
              </a:rPr>
              <a:t>Prior to VCF 5.2, customers would use SDDC Manager to upgrade workload domains to higher releases of a VCF BOM, but they had to use a CLI tool to apply patches to components that needed updating. </a:t>
            </a:r>
          </a:p>
          <a:p>
            <a:pPr marL="0" lvl="0" indent="0" algn="l" rtl="0">
              <a:lnSpc>
                <a:spcPct val="100000"/>
              </a:lnSpc>
              <a:spcBef>
                <a:spcPts val="0"/>
              </a:spcBef>
              <a:spcAft>
                <a:spcPts val="0"/>
              </a:spcAft>
              <a:buClr>
                <a:schemeClr val="dk1"/>
              </a:buClr>
              <a:buSzPts val="1400"/>
              <a:buFont typeface="Arial"/>
              <a:buNone/>
            </a:pPr>
            <a:endParaRPr lang="en-US" sz="1200" dirty="0">
              <a:latin typeface="Arial" panose="020B0604020202020204" pitchFamily="34" charset="0"/>
            </a:endParaRPr>
          </a:p>
          <a:p>
            <a:pPr marL="0" lvl="0" indent="0" algn="l" rtl="0">
              <a:lnSpc>
                <a:spcPct val="100000"/>
              </a:lnSpc>
              <a:spcBef>
                <a:spcPts val="0"/>
              </a:spcBef>
              <a:spcAft>
                <a:spcPts val="0"/>
              </a:spcAft>
              <a:buClr>
                <a:schemeClr val="dk1"/>
              </a:buClr>
              <a:buSzPts val="1400"/>
              <a:buFont typeface="Arial"/>
              <a:buNone/>
            </a:pPr>
            <a:r>
              <a:rPr lang="en-US" sz="1200" dirty="0">
                <a:latin typeface="Arial" panose="020B0604020202020204" pitchFamily="34" charset="0"/>
              </a:rPr>
              <a:t>In certain cases, the difference between Plan Upgrade and Plan Patching may be nuanced – be aware that there is some potential redundancy in the interfaces. See the following slides for more details on these two.</a:t>
            </a:r>
            <a:endParaRPr lang="en-US" dirty="0">
              <a:latin typeface="Arial" panose="020B0604020202020204" pitchFamily="34" charset="0"/>
            </a:endParaRPr>
          </a:p>
          <a:p>
            <a:pPr marL="0" lvl="0" indent="0" algn="l" rtl="0">
              <a:lnSpc>
                <a:spcPct val="100000"/>
              </a:lnSpc>
              <a:spcBef>
                <a:spcPts val="0"/>
              </a:spcBef>
              <a:spcAft>
                <a:spcPts val="0"/>
              </a:spcAft>
              <a:buClr>
                <a:schemeClr val="dk1"/>
              </a:buClr>
              <a:buSzPts val="1400"/>
              <a:buFont typeface="Arial"/>
              <a:buNone/>
            </a:pPr>
            <a:endParaRPr lang="en-US" sz="1200" dirty="0">
              <a:latin typeface="Arial" panose="020B0604020202020204" pitchFamily="34" charset="0"/>
            </a:endParaRPr>
          </a:p>
          <a:p>
            <a:pPr marL="0" lvl="0" indent="0" algn="l" rtl="0">
              <a:spcBef>
                <a:spcPts val="0"/>
              </a:spcBef>
              <a:spcAft>
                <a:spcPts val="0"/>
              </a:spcAft>
              <a:buNone/>
            </a:pPr>
            <a:r>
              <a:rPr lang="en-US" sz="1200" b="1" dirty="0">
                <a:latin typeface="Arial" panose="020B0604020202020204" pitchFamily="34" charset="0"/>
              </a:rPr>
              <a:t>Resources:</a:t>
            </a:r>
            <a:br>
              <a:rPr lang="en-US" sz="1200" dirty="0">
                <a:latin typeface="Arial" panose="020B0604020202020204" pitchFamily="34" charset="0"/>
              </a:rPr>
            </a:br>
            <a:r>
              <a:rPr lang="en-US" dirty="0">
                <a:latin typeface="Arial" panose="020B0604020202020204" pitchFamily="34" charset="0"/>
              </a:rPr>
              <a:t>For further information on updating and patching workload domains in SDDC Manager please download the VMware Cloud Foundation Lifecycle Management Documentation:</a:t>
            </a:r>
          </a:p>
          <a:p>
            <a:pPr marL="0" marR="0" lvl="0" indent="0" algn="l" defTabSz="914400" rtl="0" eaLnBrk="1" fontAlgn="auto" latinLnBrk="0" hangingPunct="1">
              <a:lnSpc>
                <a:spcPct val="100000"/>
              </a:lnSpc>
              <a:spcBef>
                <a:spcPts val="0"/>
              </a:spcBef>
              <a:spcAft>
                <a:spcPts val="0"/>
              </a:spcAft>
              <a:buClr>
                <a:schemeClr val="dk1"/>
              </a:buClr>
              <a:buSzPts val="1400"/>
              <a:buFont typeface="Arial"/>
              <a:buNone/>
              <a:tabLst/>
              <a:defRPr/>
            </a:pPr>
            <a:r>
              <a:rPr lang="en-US" u="sng" dirty="0">
                <a:solidFill>
                  <a:srgbClr val="DCA10D"/>
                </a:solidFill>
                <a:effectLst/>
                <a:latin typeface="Arial" panose="020B0604020202020204" pitchFamily="34" charset="0"/>
                <a:hlinkClick r:id="rId3"/>
              </a:rPr>
              <a:t>https://docs.vmware.com/en/VMware-Cloud-Foundation/index.html</a:t>
            </a:r>
            <a:r>
              <a:rPr lang="en-US" dirty="0">
                <a:solidFill>
                  <a:srgbClr val="000000"/>
                </a:solidFill>
                <a:effectLst/>
                <a:latin typeface="Arial" panose="020B0604020202020204" pitchFamily="34" charset="0"/>
              </a:rPr>
              <a:t> </a:t>
            </a:r>
            <a:endParaRPr lang="en-US" dirty="0">
              <a:solidFill>
                <a:srgbClr val="DCA10D"/>
              </a:solidFill>
              <a:effectLst/>
              <a:latin typeface="Arial" panose="020B0604020202020204" pitchFamily="34" charset="0"/>
            </a:endParaRPr>
          </a:p>
          <a:p>
            <a:pPr marL="0" lvl="0" indent="0" algn="l" rtl="0">
              <a:lnSpc>
                <a:spcPct val="100000"/>
              </a:lnSpc>
              <a:spcBef>
                <a:spcPts val="0"/>
              </a:spcBef>
              <a:spcAft>
                <a:spcPts val="0"/>
              </a:spcAft>
              <a:buClr>
                <a:schemeClr val="dk1"/>
              </a:buClr>
              <a:buSzPts val="1400"/>
              <a:buFont typeface="Arial"/>
              <a:buNone/>
            </a:pPr>
            <a:endParaRPr lang="en-US" sz="1200" dirty="0">
              <a:latin typeface="Arial" panose="020B0604020202020204" pitchFamily="34" charset="0"/>
            </a:endParaRPr>
          </a:p>
          <a:p>
            <a:pPr marL="0" lvl="0" indent="0" algn="l" rtl="0">
              <a:spcBef>
                <a:spcPts val="0"/>
              </a:spcBef>
              <a:spcAft>
                <a:spcPts val="0"/>
              </a:spcAft>
              <a:buNone/>
            </a:pPr>
            <a:endParaRPr lang="en-US" dirty="0">
              <a:latin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0EEDD608-7E77-2696-212D-5BA27984E3E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359955328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6">
          <a:extLst>
            <a:ext uri="{FF2B5EF4-FFF2-40B4-BE49-F238E27FC236}">
              <a16:creationId xmlns:a16="http://schemas.microsoft.com/office/drawing/2014/main" id="{2A1B3330-B396-CB31-799E-283EE764D945}"/>
            </a:ext>
          </a:extLst>
        </p:cNvPr>
        <p:cNvGrpSpPr/>
        <p:nvPr/>
      </p:nvGrpSpPr>
      <p:grpSpPr>
        <a:xfrm>
          <a:off x="0" y="0"/>
          <a:ext cx="0" cy="0"/>
          <a:chOff x="0" y="0"/>
          <a:chExt cx="0" cy="0"/>
        </a:xfrm>
      </p:grpSpPr>
      <p:sp>
        <p:nvSpPr>
          <p:cNvPr id="6747" name="Google Shape;6747;p96:notes">
            <a:extLst>
              <a:ext uri="{FF2B5EF4-FFF2-40B4-BE49-F238E27FC236}">
                <a16:creationId xmlns:a16="http://schemas.microsoft.com/office/drawing/2014/main" id="{AD55CCBA-3036-7B31-266E-3B63ACD9F3CE}"/>
              </a:ext>
            </a:extLst>
          </p:cNvPr>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48" name="Google Shape;6748;p96:notes">
            <a:extLst>
              <a:ext uri="{FF2B5EF4-FFF2-40B4-BE49-F238E27FC236}">
                <a16:creationId xmlns:a16="http://schemas.microsoft.com/office/drawing/2014/main" id="{C5320F90-4C5B-F059-2252-3268C7F888C2}"/>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chemeClr val="dk1"/>
              </a:buClr>
              <a:buSzPts val="1400"/>
              <a:buFont typeface="Arial"/>
              <a:buNone/>
            </a:pPr>
            <a:r>
              <a:rPr lang="en-US" sz="1200" b="1" dirty="0">
                <a:latin typeface="Arial" panose="020B0604020202020204" pitchFamily="34" charset="0"/>
              </a:rPr>
              <a:t>Key Message:</a:t>
            </a:r>
            <a:endParaRPr lang="en-US" b="1" dirty="0">
              <a:latin typeface="Arial" panose="020B0604020202020204" pitchFamily="34" charset="0"/>
            </a:endParaRPr>
          </a:p>
          <a:p>
            <a:pPr marL="0" lvl="0" indent="0" algn="l" rtl="0">
              <a:lnSpc>
                <a:spcPct val="90000"/>
              </a:lnSpc>
              <a:spcBef>
                <a:spcPts val="0"/>
              </a:spcBef>
              <a:spcAft>
                <a:spcPts val="0"/>
              </a:spcAft>
              <a:buClr>
                <a:schemeClr val="dk1"/>
              </a:buClr>
              <a:buSzPts val="1400"/>
              <a:buFont typeface="Arial"/>
              <a:buNone/>
            </a:pPr>
            <a:r>
              <a:rPr lang="en-US" sz="1200" dirty="0">
                <a:latin typeface="Arial" panose="020B0604020202020204" pitchFamily="34" charset="0"/>
              </a:rPr>
              <a:t>VCF Operations Lifecycle handles patching and updating – the Async Patch Tool CLI is no longer needed.</a:t>
            </a:r>
            <a:endParaRPr lang="en-US" dirty="0">
              <a:latin typeface="Arial" panose="020B0604020202020204" pitchFamily="34" charset="0"/>
            </a:endParaRPr>
          </a:p>
          <a:p>
            <a:pPr marL="0" lvl="0" indent="0" algn="l" rtl="0">
              <a:lnSpc>
                <a:spcPct val="90000"/>
              </a:lnSpc>
              <a:spcBef>
                <a:spcPts val="0"/>
              </a:spcBef>
              <a:spcAft>
                <a:spcPts val="0"/>
              </a:spcAft>
              <a:buClr>
                <a:schemeClr val="dk1"/>
              </a:buClr>
              <a:buSzPts val="1400"/>
              <a:buFont typeface="Arial"/>
              <a:buNone/>
            </a:pPr>
            <a:endParaRPr lang="en-US" sz="1200" dirty="0">
              <a:latin typeface="Arial" panose="020B0604020202020204" pitchFamily="34" charset="0"/>
            </a:endParaRPr>
          </a:p>
          <a:p>
            <a:pPr marL="0" lvl="0" indent="0" algn="l" rtl="0">
              <a:lnSpc>
                <a:spcPct val="90000"/>
              </a:lnSpc>
              <a:spcBef>
                <a:spcPts val="0"/>
              </a:spcBef>
              <a:spcAft>
                <a:spcPts val="0"/>
              </a:spcAft>
              <a:buClr>
                <a:schemeClr val="dk1"/>
              </a:buClr>
              <a:buSzPts val="1400"/>
              <a:buFont typeface="Arial"/>
              <a:buNone/>
            </a:pPr>
            <a:r>
              <a:rPr lang="en-US" sz="1200" b="1" dirty="0">
                <a:latin typeface="Arial" panose="020B0604020202020204" pitchFamily="34" charset="0"/>
              </a:rPr>
              <a:t>Talk Track:</a:t>
            </a:r>
            <a:endParaRPr lang="en-US" b="1" dirty="0">
              <a:latin typeface="Arial" panose="020B0604020202020204" pitchFamily="34" charset="0"/>
            </a:endParaRPr>
          </a:p>
          <a:p>
            <a:pPr marL="0" lvl="0" indent="0" algn="l" rtl="0">
              <a:lnSpc>
                <a:spcPct val="90000"/>
              </a:lnSpc>
              <a:spcBef>
                <a:spcPts val="0"/>
              </a:spcBef>
              <a:spcAft>
                <a:spcPts val="0"/>
              </a:spcAft>
              <a:buClr>
                <a:schemeClr val="dk1"/>
              </a:buClr>
              <a:buSzPts val="1400"/>
              <a:buFont typeface="Arial"/>
              <a:buNone/>
            </a:pPr>
            <a:r>
              <a:rPr lang="en-US" sz="1200" dirty="0">
                <a:latin typeface="Arial" panose="020B0604020202020204" pitchFamily="34" charset="0"/>
              </a:rPr>
              <a:t>Between major VCF BOM releases, it may be necessary to update one or more of the individual components to address reliability or security issues. These updates are known as “async patches” because they are delivered separately from the BOM. Previously, customers desiring to update their workload domains would need to use the Async Patch Tool, which is a CLI utility.</a:t>
            </a:r>
          </a:p>
          <a:p>
            <a:pPr marL="0" lvl="0" indent="0" algn="l" rtl="0">
              <a:lnSpc>
                <a:spcPct val="90000"/>
              </a:lnSpc>
              <a:spcBef>
                <a:spcPts val="0"/>
              </a:spcBef>
              <a:spcAft>
                <a:spcPts val="0"/>
              </a:spcAft>
              <a:buClr>
                <a:schemeClr val="dk1"/>
              </a:buClr>
              <a:buSzPts val="1400"/>
              <a:buFont typeface="Arial"/>
              <a:buNone/>
            </a:pPr>
            <a:endParaRPr lang="en-US" dirty="0">
              <a:latin typeface="Arial" panose="020B0604020202020204" pitchFamily="34" charset="0"/>
            </a:endParaRPr>
          </a:p>
          <a:p>
            <a:pPr marL="0" lvl="0" indent="0" algn="l" rtl="0">
              <a:lnSpc>
                <a:spcPct val="90000"/>
              </a:lnSpc>
              <a:spcBef>
                <a:spcPts val="0"/>
              </a:spcBef>
              <a:spcAft>
                <a:spcPts val="0"/>
              </a:spcAft>
              <a:buClr>
                <a:schemeClr val="dk1"/>
              </a:buClr>
              <a:buSzPts val="1400"/>
              <a:buFont typeface="Arial"/>
              <a:buNone/>
            </a:pPr>
            <a:r>
              <a:rPr lang="en-US" sz="1200" dirty="0">
                <a:latin typeface="Arial" panose="020B0604020202020204" pitchFamily="34" charset="0"/>
              </a:rPr>
              <a:t>Starting with VCF 5.2, and continuing in VCF 9, async patches can be deployed directly inside of the familiar graphical environment. Customers can select available patches in a drop-down menu, which is automatically updated when VCF receives updated bundle data, either through the online depot or through offline equivalents. </a:t>
            </a:r>
            <a:endParaRPr lang="en-US" dirty="0">
              <a:latin typeface="Arial" panose="020B0604020202020204" pitchFamily="34" charset="0"/>
            </a:endParaRPr>
          </a:p>
          <a:p>
            <a:pPr marL="0" lvl="0" indent="0" algn="l" rtl="0">
              <a:lnSpc>
                <a:spcPct val="90000"/>
              </a:lnSpc>
              <a:spcBef>
                <a:spcPts val="0"/>
              </a:spcBef>
              <a:spcAft>
                <a:spcPts val="0"/>
              </a:spcAft>
              <a:buClr>
                <a:schemeClr val="dk1"/>
              </a:buClr>
              <a:buSzPts val="1400"/>
              <a:buFont typeface="Arial"/>
              <a:buNone/>
            </a:pPr>
            <a:endParaRPr lang="en-US" sz="1200" dirty="0">
              <a:latin typeface="Arial" panose="020B0604020202020204" pitchFamily="34" charset="0"/>
            </a:endParaRPr>
          </a:p>
          <a:p>
            <a:pPr marL="0" lvl="0" indent="0" algn="l" rtl="0">
              <a:lnSpc>
                <a:spcPct val="90000"/>
              </a:lnSpc>
              <a:spcBef>
                <a:spcPts val="0"/>
              </a:spcBef>
              <a:spcAft>
                <a:spcPts val="0"/>
              </a:spcAft>
              <a:buClr>
                <a:schemeClr val="dk1"/>
              </a:buClr>
              <a:buSzPts val="1400"/>
              <a:buFont typeface="Arial"/>
              <a:buNone/>
            </a:pPr>
            <a:r>
              <a:rPr lang="en-US" sz="1200" b="1" dirty="0">
                <a:latin typeface="Arial" panose="020B0604020202020204" pitchFamily="34" charset="0"/>
              </a:rPr>
              <a:t>Notes:</a:t>
            </a:r>
            <a:endParaRPr lang="en-US" b="1" dirty="0">
              <a:latin typeface="Arial" panose="020B0604020202020204" pitchFamily="34" charset="0"/>
            </a:endParaRPr>
          </a:p>
          <a:p>
            <a:pPr marL="0" marR="0" lvl="0" indent="0" algn="l" rtl="0">
              <a:lnSpc>
                <a:spcPct val="90000"/>
              </a:lnSpc>
              <a:spcBef>
                <a:spcPts val="0"/>
              </a:spcBef>
              <a:spcAft>
                <a:spcPts val="0"/>
              </a:spcAft>
              <a:buClr>
                <a:schemeClr val="dk1"/>
              </a:buClr>
              <a:buSzPts val="1400"/>
              <a:buFont typeface="Arial"/>
              <a:buNone/>
            </a:pPr>
            <a:r>
              <a:rPr lang="en-US" sz="1200" dirty="0">
                <a:latin typeface="Arial" panose="020B0604020202020204" pitchFamily="34" charset="0"/>
              </a:rPr>
              <a:t>The Async Patch Tool CLI could only apply a single async patch at a time.  These graphical workflows within SDDC Manager allow Administrators to patch their VCF deployments in much less time.</a:t>
            </a:r>
            <a:endParaRPr lang="en-US" dirty="0">
              <a:latin typeface="Arial" panose="020B0604020202020204" pitchFamily="34" charset="0"/>
            </a:endParaRPr>
          </a:p>
          <a:p>
            <a:pPr marL="0" lvl="0" indent="0" algn="l" rtl="0">
              <a:lnSpc>
                <a:spcPct val="90000"/>
              </a:lnSpc>
              <a:spcBef>
                <a:spcPts val="0"/>
              </a:spcBef>
              <a:spcAft>
                <a:spcPts val="0"/>
              </a:spcAft>
              <a:buClr>
                <a:schemeClr val="dk1"/>
              </a:buClr>
              <a:buSzPts val="1400"/>
              <a:buFont typeface="Arial"/>
              <a:buNone/>
            </a:pPr>
            <a:endParaRPr lang="en-US" sz="1200" dirty="0">
              <a:latin typeface="Arial" panose="020B0604020202020204" pitchFamily="34" charset="0"/>
            </a:endParaRPr>
          </a:p>
          <a:p>
            <a:pPr marL="0" lvl="0" indent="0" algn="l" rtl="0">
              <a:lnSpc>
                <a:spcPct val="90000"/>
              </a:lnSpc>
              <a:spcBef>
                <a:spcPts val="0"/>
              </a:spcBef>
              <a:spcAft>
                <a:spcPts val="0"/>
              </a:spcAft>
              <a:buClr>
                <a:schemeClr val="dk1"/>
              </a:buClr>
              <a:buSzPts val="1400"/>
              <a:buFont typeface="Arial"/>
              <a:buNone/>
            </a:pPr>
            <a:r>
              <a:rPr lang="en-US" sz="1200" b="1" dirty="0">
                <a:latin typeface="Arial" panose="020B0604020202020204" pitchFamily="34" charset="0"/>
              </a:rPr>
              <a:t>Resources:</a:t>
            </a:r>
            <a:endParaRPr lang="en-US" b="1" dirty="0">
              <a:latin typeface="Arial" panose="020B0604020202020204" pitchFamily="34" charset="0"/>
            </a:endParaRPr>
          </a:p>
          <a:p>
            <a:pPr marL="0" lvl="0" indent="0" algn="l" rtl="0">
              <a:lnSpc>
                <a:spcPct val="90000"/>
              </a:lnSpc>
              <a:spcBef>
                <a:spcPts val="0"/>
              </a:spcBef>
              <a:spcAft>
                <a:spcPts val="0"/>
              </a:spcAft>
              <a:buNone/>
            </a:pPr>
            <a:r>
              <a:rPr lang="en-US" dirty="0">
                <a:latin typeface="Arial" panose="020B0604020202020204" pitchFamily="34" charset="0"/>
              </a:rPr>
              <a:t>For further information on updating and patching a VCF instance please download the VMware Cloud Foundation Lifecycle Management Documentation:</a:t>
            </a:r>
          </a:p>
          <a:p>
            <a:pPr marL="0" marR="0" lvl="0" indent="0" algn="l" defTabSz="914400" rtl="0" eaLnBrk="1" fontAlgn="auto" latinLnBrk="0" hangingPunct="1">
              <a:lnSpc>
                <a:spcPct val="90000"/>
              </a:lnSpc>
              <a:spcBef>
                <a:spcPts val="0"/>
              </a:spcBef>
              <a:spcAft>
                <a:spcPts val="0"/>
              </a:spcAft>
              <a:buClr>
                <a:schemeClr val="dk1"/>
              </a:buClr>
              <a:buSzPts val="1400"/>
              <a:buFont typeface="Arial"/>
              <a:buNone/>
              <a:tabLst/>
              <a:defRPr/>
            </a:pPr>
            <a:r>
              <a:rPr lang="en-US" u="sng" dirty="0">
                <a:solidFill>
                  <a:srgbClr val="DCA10D"/>
                </a:solidFill>
                <a:effectLst/>
                <a:latin typeface="Arial" panose="020B0604020202020204" pitchFamily="34" charset="0"/>
                <a:hlinkClick r:id="rId3"/>
              </a:rPr>
              <a:t>https://docs.vmware.com/en/VMware-Cloud-Foundation/index.html</a:t>
            </a:r>
            <a:r>
              <a:rPr lang="en-US" dirty="0">
                <a:solidFill>
                  <a:srgbClr val="000000"/>
                </a:solidFill>
                <a:effectLst/>
                <a:latin typeface="Arial" panose="020B0604020202020204" pitchFamily="34" charset="0"/>
              </a:rPr>
              <a:t> </a:t>
            </a:r>
            <a:endParaRPr lang="en-US" dirty="0">
              <a:solidFill>
                <a:srgbClr val="DCA10D"/>
              </a:solidFill>
              <a:effectLst/>
              <a:latin typeface="Arial" panose="020B0604020202020204" pitchFamily="34" charset="0"/>
            </a:endParaRPr>
          </a:p>
          <a:p>
            <a:pPr marL="0" lvl="0" indent="0" algn="l" rtl="0">
              <a:lnSpc>
                <a:spcPct val="90000"/>
              </a:lnSpc>
              <a:spcBef>
                <a:spcPts val="0"/>
              </a:spcBef>
              <a:spcAft>
                <a:spcPts val="0"/>
              </a:spcAft>
              <a:buClr>
                <a:schemeClr val="dk1"/>
              </a:buClr>
              <a:buSzPts val="1400"/>
              <a:buFont typeface="Arial"/>
              <a:buNone/>
            </a:pPr>
            <a:br>
              <a:rPr lang="en-US" sz="1200" dirty="0">
                <a:latin typeface="Arial" panose="020B0604020202020204" pitchFamily="34" charset="0"/>
              </a:rPr>
            </a:br>
            <a:r>
              <a:rPr lang="en-US" sz="1200" dirty="0">
                <a:latin typeface="Arial" panose="020B0604020202020204" pitchFamily="34" charset="0"/>
              </a:rPr>
              <a:t>KB of available async patches:</a:t>
            </a:r>
            <a:endParaRPr lang="en-US" dirty="0">
              <a:latin typeface="Arial" panose="020B0604020202020204" pitchFamily="34" charset="0"/>
            </a:endParaRPr>
          </a:p>
          <a:p>
            <a:pPr marL="0" marR="0" lvl="0" indent="0" algn="l" defTabSz="914400" rtl="0" eaLnBrk="1" fontAlgn="auto" latinLnBrk="0" hangingPunct="1">
              <a:lnSpc>
                <a:spcPct val="90000"/>
              </a:lnSpc>
              <a:spcBef>
                <a:spcPts val="0"/>
              </a:spcBef>
              <a:spcAft>
                <a:spcPts val="0"/>
              </a:spcAft>
              <a:buClr>
                <a:schemeClr val="dk1"/>
              </a:buClr>
              <a:buSzPts val="1400"/>
              <a:buFont typeface="Arial"/>
              <a:buNone/>
              <a:tabLst/>
              <a:defRPr/>
            </a:pPr>
            <a:r>
              <a:rPr lang="en-US" u="sng" dirty="0">
                <a:solidFill>
                  <a:srgbClr val="DCA10D"/>
                </a:solidFill>
                <a:effectLst/>
                <a:latin typeface="Arial" panose="020B0604020202020204" pitchFamily="34" charset="0"/>
                <a:hlinkClick r:id="rId4"/>
              </a:rPr>
              <a:t>https://knowledge.broadcom.com/external/article?legacyId=88287</a:t>
            </a:r>
            <a:r>
              <a:rPr lang="en-US" dirty="0">
                <a:solidFill>
                  <a:srgbClr val="000000"/>
                </a:solidFill>
                <a:effectLst/>
                <a:latin typeface="Arial" panose="020B0604020202020204" pitchFamily="34" charset="0"/>
              </a:rPr>
              <a:t> </a:t>
            </a:r>
            <a:endParaRPr lang="en-US" dirty="0">
              <a:solidFill>
                <a:srgbClr val="DCA10D"/>
              </a:solidFill>
              <a:effectLst/>
              <a:latin typeface="Arial" panose="020B0604020202020204" pitchFamily="34" charset="0"/>
            </a:endParaRPr>
          </a:p>
          <a:p>
            <a:pPr marL="0" lvl="0" indent="0" algn="l" rtl="0">
              <a:lnSpc>
                <a:spcPct val="90000"/>
              </a:lnSpc>
              <a:spcBef>
                <a:spcPts val="0"/>
              </a:spcBef>
              <a:spcAft>
                <a:spcPts val="0"/>
              </a:spcAft>
              <a:buClr>
                <a:schemeClr val="dk1"/>
              </a:buClr>
              <a:buSzPts val="1400"/>
              <a:buFont typeface="Arial"/>
              <a:buNone/>
            </a:pPr>
            <a:endParaRPr lang="en-US" sz="1200" dirty="0">
              <a:latin typeface="Arial" panose="020B0604020202020204" pitchFamily="34" charset="0"/>
            </a:endParaRPr>
          </a:p>
        </p:txBody>
      </p:sp>
      <p:sp>
        <p:nvSpPr>
          <p:cNvPr id="6749" name="Google Shape;6749;p96:notes">
            <a:extLst>
              <a:ext uri="{FF2B5EF4-FFF2-40B4-BE49-F238E27FC236}">
                <a16:creationId xmlns:a16="http://schemas.microsoft.com/office/drawing/2014/main" id="{D2065EF1-5ACC-382E-2BDD-C4C2770A603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b="0" i="0" u="none" strike="noStrike" kern="1200" cap="none" spc="0" normalizeH="0" baseline="0" noProof="0">
                <a:ln>
                  <a:noFill/>
                </a:ln>
                <a:solidFill>
                  <a:srgbClr val="717074"/>
                </a:solidFill>
                <a:effectLst/>
                <a:uLnTx/>
                <a:uFillTx/>
                <a:latin typeface="Arial"/>
                <a:ea typeface="+mn-ea"/>
                <a:cs typeface="+mn-cs"/>
                <a:sym typeface="Arial"/>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79</a:t>
            </a:fld>
            <a:endParaRPr kumimoji="0" sz="1200" b="0" i="0" u="none" strike="noStrike" kern="1200" cap="none" spc="0" normalizeH="0" baseline="0" noProof="0" dirty="0">
              <a:ln>
                <a:noFill/>
              </a:ln>
              <a:solidFill>
                <a:srgbClr val="717074"/>
              </a:solidFill>
              <a:effectLst/>
              <a:uLnTx/>
              <a:uFillTx/>
              <a:latin typeface="Arial"/>
              <a:ea typeface="+mn-ea"/>
              <a:cs typeface="+mn-cs"/>
              <a:sym typeface="Arial"/>
            </a:endParaRPr>
          </a:p>
        </p:txBody>
      </p:sp>
    </p:spTree>
    <p:extLst>
      <p:ext uri="{BB962C8B-B14F-4D97-AF65-F5344CB8AC3E}">
        <p14:creationId xmlns:p14="http://schemas.microsoft.com/office/powerpoint/2010/main" val="408925884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D09BF-8C10-0ABA-8A39-C28342A235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BD2257-40CC-FD69-096C-85A6D77336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305750-E4BE-6880-ACD2-A95088EA8882}"/>
              </a:ext>
            </a:extLst>
          </p:cNvPr>
          <p:cNvSpPr>
            <a:spLocks noGrp="1"/>
          </p:cNvSpPr>
          <p:nvPr>
            <p:ph type="body" idx="1"/>
          </p:nvPr>
        </p:nvSpPr>
        <p:spPr/>
        <p:txBody>
          <a:bodyPr/>
          <a:lstStyle/>
          <a:p>
            <a:r>
              <a:rPr lang="en-US" sz="1200" b="1" u="none" strike="noStrike" kern="1200" dirty="0">
                <a:solidFill>
                  <a:schemeClr val="tx1"/>
                </a:solidFill>
                <a:effectLst/>
              </a:rPr>
              <a:t>Key Message:</a:t>
            </a:r>
            <a:br>
              <a:rPr lang="en-US" sz="1200" u="none" strike="noStrike" kern="1200" dirty="0">
                <a:solidFill>
                  <a:schemeClr val="tx1"/>
                </a:solidFill>
                <a:effectLst/>
              </a:rPr>
            </a:br>
            <a:r>
              <a:rPr lang="en-US" sz="1200" u="none" strike="noStrike" kern="1200" dirty="0">
                <a:solidFill>
                  <a:schemeClr val="tx1"/>
                </a:solidFill>
                <a:effectLst/>
              </a:rPr>
              <a:t>The legacy “Update Manager” baselines have been deprecated and will not be supported in VCF 9</a:t>
            </a:r>
          </a:p>
          <a:p>
            <a:endParaRPr lang="en-US" sz="120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Talk Track: </a:t>
            </a:r>
          </a:p>
          <a:p>
            <a:r>
              <a:rPr lang="en-US" dirty="0"/>
              <a:t>Managing ESXi host software as a single image applied at the cluster level is much more efficient than the previous Update Manager baseline approach. VCF has supported vLCM images for the past several releases and baselines have been deprecated and are no longer available in VCF 9.</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Notes:</a:t>
            </a:r>
            <a:br>
              <a:rPr lang="en-US" sz="1200" u="none" strike="noStrike" kern="1200" dirty="0">
                <a:solidFill>
                  <a:schemeClr val="tx1"/>
                </a:solidFill>
                <a:effectLst/>
              </a:rPr>
            </a:br>
            <a:r>
              <a:rPr lang="en-US" sz="1200" u="none" strike="noStrike" kern="1200" dirty="0">
                <a:solidFill>
                  <a:schemeClr val="tx1"/>
                </a:solidFill>
                <a:effectLst/>
              </a:rPr>
              <a:t>This requires administrators to use a PowerCLI script available for download from KB article xx.</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endParaRPr>
          </a:p>
          <a:p>
            <a:r>
              <a:rPr lang="en-US" sz="1200" b="1" u="none" strike="noStrike" kern="1200" dirty="0">
                <a:solidFill>
                  <a:schemeClr val="tx1"/>
                </a:solidFill>
                <a:effectLst/>
              </a:rPr>
              <a:t>Resources:</a:t>
            </a:r>
            <a:endParaRPr lang="en-AU" dirty="0">
              <a:solidFill>
                <a:srgbClr val="DCA10D"/>
              </a:solidFill>
              <a:effectLst/>
              <a:latin typeface="Helvetica Neue" panose="02000503000000020004" pitchFamily="2" charset="0"/>
            </a:endParaRPr>
          </a:p>
          <a:p>
            <a:endParaRPr lang="en-US" dirty="0"/>
          </a:p>
        </p:txBody>
      </p:sp>
      <p:sp>
        <p:nvSpPr>
          <p:cNvPr id="4" name="Slide Number Placeholder 3">
            <a:extLst>
              <a:ext uri="{FF2B5EF4-FFF2-40B4-BE49-F238E27FC236}">
                <a16:creationId xmlns:a16="http://schemas.microsoft.com/office/drawing/2014/main" id="{0733481E-0725-7F57-AD91-B7CADBDA1B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179134154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3">
          <a:extLst>
            <a:ext uri="{FF2B5EF4-FFF2-40B4-BE49-F238E27FC236}">
              <a16:creationId xmlns:a16="http://schemas.microsoft.com/office/drawing/2014/main" id="{1380D273-3D67-CF9A-6219-142DE0391C9B}"/>
            </a:ext>
          </a:extLst>
        </p:cNvPr>
        <p:cNvGrpSpPr/>
        <p:nvPr/>
      </p:nvGrpSpPr>
      <p:grpSpPr>
        <a:xfrm>
          <a:off x="0" y="0"/>
          <a:ext cx="0" cy="0"/>
          <a:chOff x="0" y="0"/>
          <a:chExt cx="0" cy="0"/>
        </a:xfrm>
      </p:grpSpPr>
      <p:sp>
        <p:nvSpPr>
          <p:cNvPr id="7004" name="Google Shape;7004;p99:notes">
            <a:extLst>
              <a:ext uri="{FF2B5EF4-FFF2-40B4-BE49-F238E27FC236}">
                <a16:creationId xmlns:a16="http://schemas.microsoft.com/office/drawing/2014/main" id="{148857FD-9D74-B624-D496-AC271E799D87}"/>
              </a:ext>
            </a:extLst>
          </p:cNvPr>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05" name="Google Shape;7005;p99:notes">
            <a:extLst>
              <a:ext uri="{FF2B5EF4-FFF2-40B4-BE49-F238E27FC236}">
                <a16:creationId xmlns:a16="http://schemas.microsoft.com/office/drawing/2014/main" id="{5BCBC896-0737-B32F-A349-07E4B9FA5A77}"/>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fontScale="77500" lnSpcReduction="20000"/>
          </a:bodyPr>
          <a:lstStyle/>
          <a:p>
            <a:pPr marL="0" marR="0" lvl="0" indent="0" algn="l" rtl="0">
              <a:lnSpc>
                <a:spcPct val="80000"/>
              </a:lnSpc>
              <a:spcBef>
                <a:spcPts val="0"/>
              </a:spcBef>
              <a:spcAft>
                <a:spcPts val="0"/>
              </a:spcAft>
              <a:buClr>
                <a:schemeClr val="dk1"/>
              </a:buClr>
              <a:buSzPts val="1020"/>
              <a:buFont typeface="Arial"/>
              <a:buNone/>
            </a:pPr>
            <a:r>
              <a:rPr lang="en-US" sz="1020" b="1" u="none" strike="noStrike" dirty="0">
                <a:solidFill>
                  <a:schemeClr val="dk1"/>
                </a:solidFill>
                <a:latin typeface="Arial" panose="020B0604020202020204" pitchFamily="34" charset="0"/>
                <a:sym typeface="Arial"/>
              </a:rPr>
              <a:t>Presenter note – this slide contains animation</a:t>
            </a:r>
            <a:endParaRPr b="1" dirty="0">
              <a:latin typeface="Arial" panose="020B0604020202020204" pitchFamily="34" charset="0"/>
            </a:endParaRPr>
          </a:p>
          <a:p>
            <a:pPr marL="0" lvl="0" indent="0" algn="l" rtl="0">
              <a:lnSpc>
                <a:spcPct val="80000"/>
              </a:lnSpc>
              <a:spcBef>
                <a:spcPts val="0"/>
              </a:spcBef>
              <a:spcAft>
                <a:spcPts val="0"/>
              </a:spcAft>
              <a:buNone/>
            </a:pPr>
            <a:endParaRPr sz="1020" b="1" u="none" strike="noStrike" dirty="0">
              <a:solidFill>
                <a:schemeClr val="dk1"/>
              </a:solidFill>
              <a:latin typeface="Arial" panose="020B0604020202020204" pitchFamily="34" charset="0"/>
              <a:sym typeface="Arial"/>
            </a:endParaRPr>
          </a:p>
          <a:p>
            <a:pPr marL="0" lvl="0" indent="0" algn="l" rtl="0">
              <a:lnSpc>
                <a:spcPct val="80000"/>
              </a:lnSpc>
              <a:spcBef>
                <a:spcPts val="0"/>
              </a:spcBef>
              <a:spcAft>
                <a:spcPts val="0"/>
              </a:spcAft>
              <a:buNone/>
            </a:pPr>
            <a:r>
              <a:rPr lang="en-US" sz="1020" b="1" u="none" strike="noStrike" dirty="0">
                <a:solidFill>
                  <a:schemeClr val="dk1"/>
                </a:solidFill>
                <a:latin typeface="Arial" panose="020B0604020202020204" pitchFamily="34" charset="0"/>
                <a:sym typeface="Arial"/>
              </a:rPr>
              <a:t>Key Message:</a:t>
            </a:r>
            <a:endParaRPr b="1" dirty="0">
              <a:latin typeface="Arial" panose="020B0604020202020204" pitchFamily="34" charset="0"/>
            </a:endParaRPr>
          </a:p>
          <a:p>
            <a:pPr marL="0" lvl="0" indent="0" algn="l" rtl="0">
              <a:lnSpc>
                <a:spcPct val="80000"/>
              </a:lnSpc>
              <a:spcBef>
                <a:spcPts val="0"/>
              </a:spcBef>
              <a:spcAft>
                <a:spcPts val="0"/>
              </a:spcAft>
              <a:buNone/>
            </a:pPr>
            <a:r>
              <a:rPr lang="en-US" sz="1020" u="none" strike="noStrike" dirty="0">
                <a:solidFill>
                  <a:schemeClr val="dk1"/>
                </a:solidFill>
                <a:latin typeface="Arial" panose="020B0604020202020204" pitchFamily="34" charset="0"/>
                <a:sym typeface="Arial"/>
              </a:rPr>
              <a:t>Leverage a single tool to update Hardware and Software, when using qualified hardware.</a:t>
            </a:r>
            <a:endParaRPr dirty="0">
              <a:latin typeface="Arial" panose="020B0604020202020204" pitchFamily="34" charset="0"/>
            </a:endParaRPr>
          </a:p>
          <a:p>
            <a:pPr marL="0" lvl="0" indent="0" algn="l" rtl="0">
              <a:lnSpc>
                <a:spcPct val="80000"/>
              </a:lnSpc>
              <a:spcBef>
                <a:spcPts val="0"/>
              </a:spcBef>
              <a:spcAft>
                <a:spcPts val="0"/>
              </a:spcAft>
              <a:buNone/>
            </a:pPr>
            <a:endParaRPr sz="1020" u="none" strike="noStrike" dirty="0">
              <a:solidFill>
                <a:schemeClr val="dk1"/>
              </a:solidFill>
              <a:latin typeface="Arial" panose="020B0604020202020204" pitchFamily="34" charset="0"/>
              <a:sym typeface="Arial"/>
            </a:endParaRPr>
          </a:p>
          <a:p>
            <a:pPr marL="0" lvl="0" indent="0" algn="l" rtl="0">
              <a:lnSpc>
                <a:spcPct val="80000"/>
              </a:lnSpc>
              <a:spcBef>
                <a:spcPts val="0"/>
              </a:spcBef>
              <a:spcAft>
                <a:spcPts val="0"/>
              </a:spcAft>
              <a:buNone/>
            </a:pPr>
            <a:r>
              <a:rPr lang="en-US" sz="1020" b="1" u="none" strike="noStrike" dirty="0">
                <a:solidFill>
                  <a:schemeClr val="dk1"/>
                </a:solidFill>
                <a:latin typeface="Arial" panose="020B0604020202020204" pitchFamily="34" charset="0"/>
                <a:sym typeface="Arial"/>
              </a:rPr>
              <a:t>Talk Track:</a:t>
            </a:r>
            <a:endParaRPr sz="1020" b="1" u="none" strike="noStrike" dirty="0">
              <a:solidFill>
                <a:schemeClr val="dk1"/>
              </a:solidFill>
              <a:latin typeface="Arial" panose="020B0604020202020204" pitchFamily="34" charset="0"/>
              <a:sym typeface="Arial"/>
            </a:endParaRPr>
          </a:p>
          <a:p>
            <a:pPr marL="0" marR="0" lvl="0" indent="0" algn="l" rtl="0">
              <a:lnSpc>
                <a:spcPct val="80000"/>
              </a:lnSpc>
              <a:spcBef>
                <a:spcPts val="0"/>
              </a:spcBef>
              <a:spcAft>
                <a:spcPts val="0"/>
              </a:spcAft>
              <a:buClr>
                <a:schemeClr val="dk1"/>
              </a:buClr>
              <a:buSzPts val="1020"/>
              <a:buFont typeface="Arial"/>
              <a:buNone/>
            </a:pPr>
            <a:r>
              <a:rPr lang="en-US" sz="1020" u="none" strike="noStrike" dirty="0">
                <a:solidFill>
                  <a:schemeClr val="dk1"/>
                </a:solidFill>
                <a:latin typeface="Arial" panose="020B0604020202020204" pitchFamily="34" charset="0"/>
                <a:sym typeface="Arial"/>
              </a:rPr>
              <a:t>As of VCF 9, all domains must use vLCM Images</a:t>
            </a:r>
          </a:p>
          <a:p>
            <a:pPr marL="0" marR="0" lvl="0" indent="0" algn="l" rtl="0">
              <a:lnSpc>
                <a:spcPct val="80000"/>
              </a:lnSpc>
              <a:spcBef>
                <a:spcPts val="0"/>
              </a:spcBef>
              <a:spcAft>
                <a:spcPts val="0"/>
              </a:spcAft>
              <a:buClr>
                <a:schemeClr val="dk1"/>
              </a:buClr>
              <a:buSzPts val="1020"/>
              <a:buFont typeface="Arial"/>
              <a:buNone/>
            </a:pPr>
            <a:endParaRPr lang="en-US" sz="1020" u="none" strike="noStrike" dirty="0">
              <a:solidFill>
                <a:schemeClr val="dk1"/>
              </a:solidFill>
              <a:latin typeface="Arial" panose="020B0604020202020204" pitchFamily="34" charset="0"/>
              <a:sym typeface="Arial"/>
            </a:endParaRPr>
          </a:p>
          <a:p>
            <a:pPr marL="0" marR="0" lvl="0" indent="0" algn="l" rtl="0">
              <a:lnSpc>
                <a:spcPct val="80000"/>
              </a:lnSpc>
              <a:spcBef>
                <a:spcPts val="0"/>
              </a:spcBef>
              <a:spcAft>
                <a:spcPts val="0"/>
              </a:spcAft>
              <a:buClr>
                <a:schemeClr val="dk1"/>
              </a:buClr>
              <a:buSzPts val="1020"/>
              <a:buFont typeface="Arial"/>
              <a:buNone/>
            </a:pPr>
            <a:r>
              <a:rPr lang="en-US" sz="1020" u="none" strike="noStrike" dirty="0">
                <a:solidFill>
                  <a:schemeClr val="dk1"/>
                </a:solidFill>
                <a:latin typeface="Arial" panose="020B0604020202020204" pitchFamily="34" charset="0"/>
                <a:sym typeface="Arial"/>
              </a:rPr>
              <a:t>Using vSphere Lifecycle Manager Images allows for customers to configure their hosts for desired state software updates. </a:t>
            </a:r>
            <a:endParaRPr dirty="0">
              <a:latin typeface="Arial" panose="020B0604020202020204" pitchFamily="34" charset="0"/>
            </a:endParaRPr>
          </a:p>
          <a:p>
            <a:pPr marL="0" lvl="0" indent="0" algn="l" rtl="0">
              <a:lnSpc>
                <a:spcPct val="80000"/>
              </a:lnSpc>
              <a:spcBef>
                <a:spcPts val="0"/>
              </a:spcBef>
              <a:spcAft>
                <a:spcPts val="0"/>
              </a:spcAft>
              <a:buNone/>
            </a:pPr>
            <a:endParaRPr sz="1020" u="none" strike="noStrike" dirty="0">
              <a:solidFill>
                <a:schemeClr val="dk1"/>
              </a:solidFill>
              <a:latin typeface="Arial" panose="020B0604020202020204" pitchFamily="34" charset="0"/>
              <a:sym typeface="Arial"/>
            </a:endParaRPr>
          </a:p>
          <a:p>
            <a:pPr marL="0" lvl="0" indent="0" algn="l" rtl="0">
              <a:lnSpc>
                <a:spcPct val="80000"/>
              </a:lnSpc>
              <a:spcBef>
                <a:spcPts val="0"/>
              </a:spcBef>
              <a:spcAft>
                <a:spcPts val="0"/>
              </a:spcAft>
              <a:buNone/>
            </a:pPr>
            <a:r>
              <a:rPr lang="en-US" sz="1020" u="none" strike="noStrike" dirty="0">
                <a:solidFill>
                  <a:schemeClr val="dk1"/>
                </a:solidFill>
                <a:latin typeface="Arial" panose="020B0604020202020204" pitchFamily="34" charset="0"/>
                <a:sym typeface="Arial"/>
              </a:rPr>
              <a:t>When using qualified hardware and a Hardware Management System, </a:t>
            </a:r>
            <a:r>
              <a:rPr lang="en-US" sz="1020" u="none" strike="noStrike" dirty="0" err="1">
                <a:solidFill>
                  <a:schemeClr val="dk1"/>
                </a:solidFill>
                <a:latin typeface="Arial" panose="020B0604020202020204" pitchFamily="34" charset="0"/>
                <a:sym typeface="Arial"/>
              </a:rPr>
              <a:t>vLCM</a:t>
            </a:r>
            <a:r>
              <a:rPr lang="en-US" sz="1020" u="none" strike="noStrike" dirty="0">
                <a:solidFill>
                  <a:schemeClr val="dk1"/>
                </a:solidFill>
                <a:latin typeface="Arial" panose="020B0604020202020204" pitchFamily="34" charset="0"/>
                <a:sym typeface="Arial"/>
              </a:rPr>
              <a:t> Images has the ability to unify not only your ESX Image, but also your BIOS/Firmware/Drivers through a single update process.  </a:t>
            </a:r>
            <a:r>
              <a:rPr lang="en-US" sz="1020" u="none" strike="noStrike" dirty="0" err="1">
                <a:solidFill>
                  <a:schemeClr val="dk1"/>
                </a:solidFill>
                <a:latin typeface="Arial" panose="020B0604020202020204" pitchFamily="34" charset="0"/>
                <a:sym typeface="Arial"/>
              </a:rPr>
              <a:t>vLCM</a:t>
            </a:r>
            <a:r>
              <a:rPr lang="en-US" sz="1020" u="none" strike="noStrike" dirty="0">
                <a:solidFill>
                  <a:schemeClr val="dk1"/>
                </a:solidFill>
                <a:latin typeface="Arial" panose="020B0604020202020204" pitchFamily="34" charset="0"/>
                <a:sym typeface="Arial"/>
              </a:rPr>
              <a:t> Images reduce the overall overhead of system maintenance within a HCI environment.  </a:t>
            </a:r>
            <a:endParaRPr dirty="0">
              <a:latin typeface="Arial" panose="020B0604020202020204" pitchFamily="34" charset="0"/>
            </a:endParaRPr>
          </a:p>
          <a:p>
            <a:pPr marL="0" lvl="0" indent="0" algn="l" rtl="0">
              <a:lnSpc>
                <a:spcPct val="80000"/>
              </a:lnSpc>
              <a:spcBef>
                <a:spcPts val="0"/>
              </a:spcBef>
              <a:spcAft>
                <a:spcPts val="0"/>
              </a:spcAft>
              <a:buNone/>
            </a:pPr>
            <a:endParaRPr sz="1020" u="none" strike="noStrike" dirty="0">
              <a:solidFill>
                <a:schemeClr val="dk1"/>
              </a:solidFill>
              <a:latin typeface="Arial" panose="020B0604020202020204" pitchFamily="34" charset="0"/>
              <a:sym typeface="Arial"/>
            </a:endParaRPr>
          </a:p>
          <a:p>
            <a:pPr marL="0" lvl="0" indent="0" algn="l" rtl="0">
              <a:lnSpc>
                <a:spcPct val="80000"/>
              </a:lnSpc>
              <a:spcBef>
                <a:spcPts val="0"/>
              </a:spcBef>
              <a:spcAft>
                <a:spcPts val="0"/>
              </a:spcAft>
              <a:buNone/>
            </a:pPr>
            <a:r>
              <a:rPr lang="en-US" sz="1020" u="none" strike="noStrike" dirty="0">
                <a:solidFill>
                  <a:schemeClr val="dk1"/>
                </a:solidFill>
                <a:latin typeface="Arial" panose="020B0604020202020204" pitchFamily="34" charset="0"/>
                <a:sym typeface="Arial"/>
              </a:rPr>
              <a:t>All clusters configured with </a:t>
            </a:r>
            <a:r>
              <a:rPr lang="en-US" sz="1020" u="none" strike="noStrike" dirty="0" err="1">
                <a:solidFill>
                  <a:schemeClr val="dk1"/>
                </a:solidFill>
                <a:latin typeface="Arial" panose="020B0604020202020204" pitchFamily="34" charset="0"/>
                <a:sym typeface="Arial"/>
              </a:rPr>
              <a:t>vLCM</a:t>
            </a:r>
            <a:r>
              <a:rPr lang="en-US" sz="1020" u="none" strike="noStrike" dirty="0">
                <a:solidFill>
                  <a:schemeClr val="dk1"/>
                </a:solidFill>
                <a:latin typeface="Arial" panose="020B0604020202020204" pitchFamily="34" charset="0"/>
                <a:sym typeface="Arial"/>
              </a:rPr>
              <a:t> Images under that workload domain need be running on qualified hardware, however you can use different vendors on a per cluster basis.  The image itself is assigned at the cluster level.  </a:t>
            </a:r>
            <a:endParaRPr dirty="0">
              <a:latin typeface="Arial" panose="020B0604020202020204" pitchFamily="34" charset="0"/>
            </a:endParaRPr>
          </a:p>
          <a:p>
            <a:pPr marL="0" lvl="0" indent="0" algn="l" rtl="0">
              <a:lnSpc>
                <a:spcPct val="80000"/>
              </a:lnSpc>
              <a:spcBef>
                <a:spcPts val="0"/>
              </a:spcBef>
              <a:spcAft>
                <a:spcPts val="0"/>
              </a:spcAft>
              <a:buNone/>
            </a:pPr>
            <a:endParaRPr sz="1020" u="none" strike="noStrike" dirty="0">
              <a:solidFill>
                <a:schemeClr val="dk1"/>
              </a:solidFill>
              <a:latin typeface="Arial" panose="020B0604020202020204" pitchFamily="34" charset="0"/>
              <a:sym typeface="Arial"/>
            </a:endParaRPr>
          </a:p>
          <a:p>
            <a:pPr marL="0" lvl="0" indent="0" algn="l" rtl="0">
              <a:lnSpc>
                <a:spcPct val="80000"/>
              </a:lnSpc>
              <a:spcBef>
                <a:spcPts val="0"/>
              </a:spcBef>
              <a:spcAft>
                <a:spcPts val="0"/>
              </a:spcAft>
              <a:buNone/>
            </a:pPr>
            <a:r>
              <a:rPr lang="en-US" sz="1020" u="none" strike="noStrike" dirty="0">
                <a:solidFill>
                  <a:schemeClr val="dk1"/>
                </a:solidFill>
                <a:latin typeface="Arial" panose="020B0604020202020204" pitchFamily="34" charset="0"/>
                <a:sym typeface="Arial"/>
              </a:rPr>
              <a:t>To begin configuration, a cluster image is first created using your chosen vendor plugins and then imported to SDDC Manager.  Once the workload domain has been created a vendor Hardware Management System can be registered.   </a:t>
            </a:r>
            <a:endParaRPr dirty="0">
              <a:latin typeface="Arial" panose="020B0604020202020204" pitchFamily="34" charset="0"/>
            </a:endParaRPr>
          </a:p>
          <a:p>
            <a:pPr marL="0" lvl="0" indent="0" algn="l" rtl="0">
              <a:lnSpc>
                <a:spcPct val="80000"/>
              </a:lnSpc>
              <a:spcBef>
                <a:spcPts val="0"/>
              </a:spcBef>
              <a:spcAft>
                <a:spcPts val="0"/>
              </a:spcAft>
              <a:buNone/>
            </a:pPr>
            <a:endParaRPr lang="en-AU" sz="1020" u="none" strike="noStrike" dirty="0">
              <a:solidFill>
                <a:schemeClr val="dk1"/>
              </a:solidFill>
              <a:latin typeface="Arial" panose="020B0604020202020204" pitchFamily="34" charset="0"/>
              <a:sym typeface="Arial"/>
            </a:endParaRPr>
          </a:p>
          <a:p>
            <a:pPr marL="0" lvl="0" indent="0" algn="l" rtl="0">
              <a:lnSpc>
                <a:spcPct val="80000"/>
              </a:lnSpc>
              <a:spcBef>
                <a:spcPts val="0"/>
              </a:spcBef>
              <a:spcAft>
                <a:spcPts val="0"/>
              </a:spcAft>
              <a:buNone/>
            </a:pPr>
            <a:r>
              <a:rPr lang="en-AU" sz="1020" u="none" strike="noStrike" dirty="0">
                <a:solidFill>
                  <a:schemeClr val="dk1"/>
                </a:solidFill>
                <a:latin typeface="Arial" panose="020B0604020202020204" pitchFamily="34" charset="0"/>
                <a:sym typeface="Arial"/>
              </a:rPr>
              <a:t>&lt;click 1&gt;</a:t>
            </a:r>
            <a:endParaRPr sz="1020" u="none" strike="noStrike" dirty="0">
              <a:solidFill>
                <a:schemeClr val="dk1"/>
              </a:solidFill>
              <a:latin typeface="Arial" panose="020B0604020202020204" pitchFamily="34" charset="0"/>
              <a:sym typeface="Arial"/>
            </a:endParaRPr>
          </a:p>
          <a:p>
            <a:pPr marL="0" lvl="0" indent="0" algn="l" rtl="0">
              <a:lnSpc>
                <a:spcPct val="80000"/>
              </a:lnSpc>
              <a:spcBef>
                <a:spcPts val="0"/>
              </a:spcBef>
              <a:spcAft>
                <a:spcPts val="0"/>
              </a:spcAft>
              <a:buNone/>
            </a:pPr>
            <a:r>
              <a:rPr lang="en-US" sz="1020" u="none" strike="noStrike" dirty="0">
                <a:solidFill>
                  <a:schemeClr val="dk1"/>
                </a:solidFill>
                <a:latin typeface="Arial" panose="020B0604020202020204" pitchFamily="34" charset="0"/>
                <a:sym typeface="Arial"/>
              </a:rPr>
              <a:t>A compliance check is then run which identifies any drift in the environment from the desired state.  The drift is then scheduled for remediation to patch your hardware and software to match your desired state. </a:t>
            </a:r>
            <a:endParaRPr dirty="0">
              <a:latin typeface="Arial" panose="020B0604020202020204" pitchFamily="34" charset="0"/>
            </a:endParaRPr>
          </a:p>
          <a:p>
            <a:pPr marL="0" lvl="0" indent="0" algn="l" rtl="0">
              <a:lnSpc>
                <a:spcPct val="80000"/>
              </a:lnSpc>
              <a:spcBef>
                <a:spcPts val="0"/>
              </a:spcBef>
              <a:spcAft>
                <a:spcPts val="0"/>
              </a:spcAft>
              <a:buNone/>
            </a:pPr>
            <a:endParaRPr sz="1020" u="none" strike="noStrike" dirty="0">
              <a:solidFill>
                <a:schemeClr val="dk1"/>
              </a:solidFill>
              <a:latin typeface="Arial" panose="020B0604020202020204" pitchFamily="34" charset="0"/>
              <a:sym typeface="Arial"/>
            </a:endParaRPr>
          </a:p>
          <a:p>
            <a:pPr marL="0" lvl="0" indent="0" algn="l" rtl="0">
              <a:lnSpc>
                <a:spcPct val="80000"/>
              </a:lnSpc>
              <a:spcBef>
                <a:spcPts val="0"/>
              </a:spcBef>
              <a:spcAft>
                <a:spcPts val="0"/>
              </a:spcAft>
              <a:buNone/>
            </a:pPr>
            <a:r>
              <a:rPr lang="en-US" sz="1020" b="1" u="none" strike="noStrike" dirty="0">
                <a:solidFill>
                  <a:schemeClr val="dk1"/>
                </a:solidFill>
                <a:latin typeface="Arial" panose="020B0604020202020204" pitchFamily="34" charset="0"/>
                <a:sym typeface="Arial"/>
              </a:rPr>
              <a:t>Notes:</a:t>
            </a:r>
            <a:endParaRPr lang="en-US" sz="1200" b="1" u="none" strike="noStrike" dirty="0">
              <a:solidFill>
                <a:schemeClr val="dk1"/>
              </a:solidFill>
              <a:latin typeface="Arial" panose="020B0604020202020204" pitchFamily="34" charset="0"/>
              <a:sym typeface="Arial"/>
            </a:endParaRPr>
          </a:p>
          <a:p>
            <a:pPr marL="0" lvl="0" indent="0" algn="l" rtl="0">
              <a:lnSpc>
                <a:spcPct val="80000"/>
              </a:lnSpc>
              <a:spcBef>
                <a:spcPts val="0"/>
              </a:spcBef>
              <a:spcAft>
                <a:spcPts val="0"/>
              </a:spcAft>
              <a:buNone/>
            </a:pPr>
            <a:r>
              <a:rPr lang="en-US" sz="1200" dirty="0">
                <a:solidFill>
                  <a:schemeClr val="tx2"/>
                </a:solidFill>
              </a:rPr>
              <a:t>- Desired state Images are created natively using any WLD vCenter or external vCenter. Images will be based on downloaded ESX bundles.</a:t>
            </a:r>
          </a:p>
          <a:p>
            <a:pPr marL="0" marR="0" lvl="0" indent="0" algn="l" defTabSz="914400" rtl="0" eaLnBrk="1" fontAlgn="auto" latinLnBrk="0" hangingPunct="1">
              <a:lnSpc>
                <a:spcPct val="110000"/>
              </a:lnSpc>
              <a:spcBef>
                <a:spcPts val="600"/>
              </a:spcBef>
              <a:spcAft>
                <a:spcPts val="600"/>
              </a:spcAft>
              <a:buClrTx/>
              <a:buSzTx/>
              <a:buFontTx/>
              <a:buNone/>
              <a:tabLst/>
              <a:defRPr/>
            </a:pPr>
            <a:r>
              <a:rPr lang="en-US" sz="1200" u="none" strike="noStrike" dirty="0">
                <a:solidFill>
                  <a:schemeClr val="dk1"/>
                </a:solidFill>
                <a:latin typeface="Arial" panose="020B0604020202020204" pitchFamily="34" charset="0"/>
                <a:sym typeface="Arial"/>
              </a:rPr>
              <a:t>- An empty cluster can be used in the management domain to create the image. SDDC Manager then allows you to query empty clusters in the management domain that have </a:t>
            </a:r>
            <a:r>
              <a:rPr lang="en-US" sz="1200" u="none" strike="noStrike" dirty="0" err="1">
                <a:solidFill>
                  <a:schemeClr val="dk1"/>
                </a:solidFill>
                <a:latin typeface="Arial" panose="020B0604020202020204" pitchFamily="34" charset="0"/>
                <a:sym typeface="Arial"/>
              </a:rPr>
              <a:t>vLCM</a:t>
            </a:r>
            <a:r>
              <a:rPr lang="en-US" sz="1200" u="none" strike="noStrike" dirty="0">
                <a:solidFill>
                  <a:schemeClr val="dk1"/>
                </a:solidFill>
                <a:latin typeface="Arial" panose="020B0604020202020204" pitchFamily="34" charset="0"/>
                <a:sym typeface="Arial"/>
              </a:rPr>
              <a:t> Images to allow</a:t>
            </a:r>
            <a:r>
              <a:rPr lang="en-US" sz="1200" u="none" strike="sngStrike" dirty="0">
                <a:solidFill>
                  <a:schemeClr val="dk1"/>
                </a:solidFill>
                <a:latin typeface="Arial" panose="020B0604020202020204" pitchFamily="34" charset="0"/>
                <a:sym typeface="Arial"/>
              </a:rPr>
              <a:t>s</a:t>
            </a:r>
            <a:r>
              <a:rPr lang="en-US" sz="1200" u="none" strike="noStrike" dirty="0">
                <a:solidFill>
                  <a:schemeClr val="dk1"/>
                </a:solidFill>
                <a:latin typeface="Arial" panose="020B0604020202020204" pitchFamily="34" charset="0"/>
                <a:sym typeface="Arial"/>
              </a:rPr>
              <a:t> you to import them easily.</a:t>
            </a:r>
            <a:endParaRPr lang="en-US" sz="1200" dirty="0">
              <a:solidFill>
                <a:schemeClr val="tx2"/>
              </a:solidFill>
            </a:endParaRPr>
          </a:p>
          <a:p>
            <a:pPr marL="0" marR="0" lvl="0" indent="0" algn="l" defTabSz="914400" rtl="0" eaLnBrk="1" fontAlgn="auto" latinLnBrk="0" hangingPunct="1">
              <a:lnSpc>
                <a:spcPct val="110000"/>
              </a:lnSpc>
              <a:spcBef>
                <a:spcPts val="600"/>
              </a:spcBef>
              <a:spcAft>
                <a:spcPts val="600"/>
              </a:spcAft>
              <a:buClrTx/>
              <a:buSzTx/>
              <a:buFontTx/>
              <a:buNone/>
              <a:tabLst/>
              <a:defRPr/>
            </a:pPr>
            <a:endParaRPr lang="en-AU" sz="1200" dirty="0">
              <a:effectLst/>
            </a:endParaRPr>
          </a:p>
          <a:p>
            <a:pPr marL="171450" marR="0" lvl="0" indent="-171450" algn="l" defTabSz="914400" rtl="0" eaLnBrk="1" fontAlgn="auto" latinLnBrk="0" hangingPunct="1">
              <a:lnSpc>
                <a:spcPct val="110000"/>
              </a:lnSpc>
              <a:spcBef>
                <a:spcPts val="600"/>
              </a:spcBef>
              <a:spcAft>
                <a:spcPts val="600"/>
              </a:spcAft>
              <a:buClrTx/>
              <a:buSzTx/>
              <a:buFontTx/>
              <a:buChar char="-"/>
              <a:tabLst/>
              <a:defRPr/>
            </a:pPr>
            <a:r>
              <a:rPr lang="en-AU" sz="1200" dirty="0" err="1">
                <a:effectLst/>
              </a:rPr>
              <a:t>vLCM</a:t>
            </a:r>
            <a:r>
              <a:rPr lang="en-AU" sz="1200" dirty="0">
                <a:effectLst/>
              </a:rPr>
              <a:t> Desired State Images contain base images, vendor add-ons, firmware and drivers.  </a:t>
            </a:r>
            <a:endParaRPr lang="en-US" sz="1200" b="0" dirty="0">
              <a:solidFill>
                <a:schemeClr val="tx2"/>
              </a:solidFill>
              <a:effectLst/>
            </a:endParaRPr>
          </a:p>
          <a:p>
            <a:pPr marL="171450" marR="0" lvl="0" indent="-171450" algn="l" defTabSz="914400" rtl="0" eaLnBrk="1" fontAlgn="auto" latinLnBrk="0" hangingPunct="1">
              <a:lnSpc>
                <a:spcPct val="110000"/>
              </a:lnSpc>
              <a:spcBef>
                <a:spcPts val="600"/>
              </a:spcBef>
              <a:spcAft>
                <a:spcPts val="600"/>
              </a:spcAft>
              <a:buClrTx/>
              <a:buSzTx/>
              <a:buFontTx/>
              <a:buChar char="-"/>
              <a:tabLst/>
              <a:defRPr/>
            </a:pPr>
            <a:r>
              <a:rPr lang="en-US" sz="1200" b="0" dirty="0">
                <a:solidFill>
                  <a:schemeClr val="tx2"/>
                </a:solidFill>
              </a:rPr>
              <a:t>Once created, images can </a:t>
            </a:r>
            <a:r>
              <a:rPr lang="en-US" sz="1200" dirty="0">
                <a:solidFill>
                  <a:schemeClr val="tx2"/>
                </a:solidFill>
              </a:rPr>
              <a:t>be applied to any cluster in a </a:t>
            </a:r>
            <a:r>
              <a:rPr lang="en-US" sz="1200" dirty="0" err="1">
                <a:solidFill>
                  <a:schemeClr val="tx2"/>
                </a:solidFill>
              </a:rPr>
              <a:t>vLCM</a:t>
            </a:r>
            <a:r>
              <a:rPr lang="en-US" sz="1200" dirty="0">
                <a:solidFill>
                  <a:schemeClr val="tx2"/>
                </a:solidFill>
              </a:rPr>
              <a:t> based WLD at the time of cluster creation or at the time of an upgrade. (</a:t>
            </a:r>
            <a:r>
              <a:rPr lang="en-AU" sz="1200" dirty="0">
                <a:solidFill>
                  <a:schemeClr val="tx2"/>
                </a:solidFill>
              </a:rPr>
              <a:t>H</a:t>
            </a:r>
            <a:r>
              <a:rPr lang="en-AU" dirty="0"/>
              <a:t>osts are updated at the cluster-level and NOT at a host-level).</a:t>
            </a:r>
            <a:endParaRPr lang="en-US" sz="1200" dirty="0">
              <a:solidFill>
                <a:schemeClr val="tx2"/>
              </a:solidFill>
            </a:endParaRPr>
          </a:p>
          <a:p>
            <a:pPr marL="171450" marR="0" lvl="0" indent="-171450" algn="l" defTabSz="914400" rtl="0" eaLnBrk="1" fontAlgn="auto" latinLnBrk="0" hangingPunct="1">
              <a:lnSpc>
                <a:spcPct val="110000"/>
              </a:lnSpc>
              <a:spcBef>
                <a:spcPts val="600"/>
              </a:spcBef>
              <a:spcAft>
                <a:spcPts val="600"/>
              </a:spcAft>
              <a:buClrTx/>
              <a:buSzTx/>
              <a:buFontTx/>
              <a:buChar char="-"/>
              <a:tabLst/>
              <a:defRPr/>
            </a:pPr>
            <a:r>
              <a:rPr lang="en-US" sz="1200" dirty="0">
                <a:solidFill>
                  <a:schemeClr val="tx2"/>
                </a:solidFill>
              </a:rPr>
              <a:t>A key benefit to using </a:t>
            </a:r>
            <a:r>
              <a:rPr lang="en-US" sz="1200" dirty="0" err="1">
                <a:solidFill>
                  <a:schemeClr val="tx2"/>
                </a:solidFill>
              </a:rPr>
              <a:t>vLCM</a:t>
            </a:r>
            <a:r>
              <a:rPr lang="en-US" sz="1200" dirty="0">
                <a:solidFill>
                  <a:schemeClr val="tx2"/>
                </a:solidFill>
              </a:rPr>
              <a:t> Images is that VCF does </a:t>
            </a:r>
            <a:r>
              <a:rPr lang="en-US" sz="1200" b="1" dirty="0">
                <a:solidFill>
                  <a:schemeClr val="tx2"/>
                </a:solidFill>
              </a:rPr>
              <a:t>compatibility checks </a:t>
            </a:r>
            <a:r>
              <a:rPr lang="en-US" sz="1200" dirty="0">
                <a:solidFill>
                  <a:schemeClr val="tx2"/>
                </a:solidFill>
              </a:rPr>
              <a:t>before applying an image.</a:t>
            </a:r>
          </a:p>
          <a:p>
            <a:pPr marL="171450" marR="0" lvl="0" indent="-171450" algn="l" defTabSz="914400" rtl="0" eaLnBrk="1" fontAlgn="auto" latinLnBrk="0" hangingPunct="1">
              <a:lnSpc>
                <a:spcPct val="110000"/>
              </a:lnSpc>
              <a:spcBef>
                <a:spcPts val="600"/>
              </a:spcBef>
              <a:spcAft>
                <a:spcPts val="600"/>
              </a:spcAft>
              <a:buClrTx/>
              <a:buSzTx/>
              <a:buFontTx/>
              <a:buChar char="-"/>
              <a:tabLst/>
              <a:defRPr/>
            </a:pPr>
            <a:r>
              <a:rPr lang="en-US" sz="1200" dirty="0">
                <a:solidFill>
                  <a:schemeClr val="tx2"/>
                </a:solidFill>
              </a:rPr>
              <a:t>Hardware must be homogenous per cluster, however WLDs can have multiple clusters of different hardware.</a:t>
            </a:r>
          </a:p>
          <a:p>
            <a:pPr marL="171450" marR="0" lvl="0" indent="-171450" algn="l" defTabSz="914400" rtl="0" eaLnBrk="1" fontAlgn="auto" latinLnBrk="0" hangingPunct="1">
              <a:lnSpc>
                <a:spcPct val="110000"/>
              </a:lnSpc>
              <a:spcBef>
                <a:spcPts val="600"/>
              </a:spcBef>
              <a:spcAft>
                <a:spcPts val="600"/>
              </a:spcAft>
              <a:buClrTx/>
              <a:buSzTx/>
              <a:buFontTx/>
              <a:buChar char="-"/>
              <a:tabLst/>
              <a:defRPr/>
            </a:pPr>
            <a:r>
              <a:rPr lang="en-US" sz="1200" dirty="0">
                <a:solidFill>
                  <a:schemeClr val="tx2"/>
                </a:solidFill>
              </a:rPr>
              <a:t>During creation or upgrade of a cluster, the user must select the image that needs to be applied to that cluster.</a:t>
            </a:r>
          </a:p>
          <a:p>
            <a:pPr marL="0" lvl="0" indent="0" algn="l" rtl="0">
              <a:lnSpc>
                <a:spcPct val="80000"/>
              </a:lnSpc>
              <a:spcBef>
                <a:spcPts val="0"/>
              </a:spcBef>
              <a:spcAft>
                <a:spcPts val="0"/>
              </a:spcAft>
              <a:buNone/>
            </a:pPr>
            <a:endParaRPr sz="1020" u="none" strike="noStrike" dirty="0">
              <a:solidFill>
                <a:schemeClr val="dk1"/>
              </a:solidFill>
              <a:latin typeface="Arial" panose="020B0604020202020204" pitchFamily="34" charset="0"/>
              <a:sym typeface="Arial"/>
            </a:endParaRPr>
          </a:p>
          <a:p>
            <a:pPr marL="0" lvl="0" indent="0" algn="l" rtl="0">
              <a:lnSpc>
                <a:spcPct val="80000"/>
              </a:lnSpc>
              <a:spcBef>
                <a:spcPts val="0"/>
              </a:spcBef>
              <a:spcAft>
                <a:spcPts val="0"/>
              </a:spcAft>
              <a:buNone/>
            </a:pPr>
            <a:r>
              <a:rPr lang="en-AU" sz="1020" b="1" u="none" strike="noStrike" dirty="0">
                <a:solidFill>
                  <a:schemeClr val="dk1"/>
                </a:solidFill>
                <a:latin typeface="Arial" panose="020B0604020202020204" pitchFamily="34" charset="0"/>
                <a:sym typeface="Arial"/>
              </a:rPr>
              <a:t>Resources:</a:t>
            </a:r>
            <a:endParaRPr lang="en-AU" sz="1200" b="1" u="none" strike="noStrike" dirty="0">
              <a:solidFill>
                <a:schemeClr val="dk1"/>
              </a:solidFill>
              <a:latin typeface="Arial" panose="020B0604020202020204" pitchFamily="34" charset="0"/>
              <a:sym typeface="Arial"/>
            </a:endParaRPr>
          </a:p>
          <a:p>
            <a:pPr marL="0" lvl="0" indent="0" algn="l" rtl="0">
              <a:lnSpc>
                <a:spcPct val="80000"/>
              </a:lnSpc>
              <a:spcBef>
                <a:spcPts val="0"/>
              </a:spcBef>
              <a:spcAft>
                <a:spcPts val="0"/>
              </a:spcAft>
              <a:buNone/>
            </a:pPr>
            <a:r>
              <a:rPr lang="en-US" sz="1020" dirty="0">
                <a:latin typeface="Arial" panose="020B0604020202020204" pitchFamily="34" charset="0"/>
              </a:rPr>
              <a:t>https://</a:t>
            </a:r>
            <a:r>
              <a:rPr lang="en-US" sz="1020" dirty="0" err="1">
                <a:latin typeface="Arial" panose="020B0604020202020204" pitchFamily="34" charset="0"/>
              </a:rPr>
              <a:t>techdocs.broadcom.com</a:t>
            </a:r>
            <a:r>
              <a:rPr lang="en-US" sz="1020" dirty="0">
                <a:latin typeface="Arial" panose="020B0604020202020204" pitchFamily="34" charset="0"/>
              </a:rPr>
              <a:t>/us/</a:t>
            </a:r>
            <a:r>
              <a:rPr lang="en-US" sz="1020" dirty="0" err="1">
                <a:latin typeface="Arial" panose="020B0604020202020204" pitchFamily="34" charset="0"/>
              </a:rPr>
              <a:t>en</a:t>
            </a:r>
            <a:r>
              <a:rPr lang="en-US" sz="1020" dirty="0">
                <a:latin typeface="Arial" panose="020B0604020202020204" pitchFamily="34" charset="0"/>
              </a:rPr>
              <a:t>/</a:t>
            </a:r>
            <a:r>
              <a:rPr lang="en-US" sz="1020" dirty="0" err="1">
                <a:latin typeface="Arial" panose="020B0604020202020204" pitchFamily="34" charset="0"/>
              </a:rPr>
              <a:t>vmware</a:t>
            </a:r>
            <a:r>
              <a:rPr lang="en-US" sz="1020" dirty="0">
                <a:latin typeface="Arial" panose="020B0604020202020204" pitchFamily="34" charset="0"/>
              </a:rPr>
              <a:t>-cis/</a:t>
            </a:r>
            <a:r>
              <a:rPr lang="en-US" sz="1020" dirty="0" err="1">
                <a:latin typeface="Arial" panose="020B0604020202020204" pitchFamily="34" charset="0"/>
              </a:rPr>
              <a:t>vsphere</a:t>
            </a:r>
            <a:r>
              <a:rPr lang="en-US" sz="1020" dirty="0">
                <a:latin typeface="Arial" panose="020B0604020202020204" pitchFamily="34" charset="0"/>
              </a:rPr>
              <a:t>/</a:t>
            </a:r>
            <a:r>
              <a:rPr lang="en-US" sz="1020" dirty="0" err="1">
                <a:latin typeface="Arial" panose="020B0604020202020204" pitchFamily="34" charset="0"/>
              </a:rPr>
              <a:t>vsphere</a:t>
            </a:r>
            <a:r>
              <a:rPr lang="en-US" sz="1020" dirty="0">
                <a:latin typeface="Arial" panose="020B0604020202020204" pitchFamily="34" charset="0"/>
              </a:rPr>
              <a:t>/8-0/managing-host-and-cluster-lifecycle-8-0.html </a:t>
            </a:r>
          </a:p>
          <a:p>
            <a:pPr marL="0" lvl="0" indent="0" algn="l" rtl="0">
              <a:lnSpc>
                <a:spcPct val="80000"/>
              </a:lnSpc>
              <a:spcBef>
                <a:spcPts val="0"/>
              </a:spcBef>
              <a:spcAft>
                <a:spcPts val="0"/>
              </a:spcAft>
              <a:buNone/>
            </a:pPr>
            <a:endParaRPr sz="1020" dirty="0">
              <a:latin typeface="Arial" panose="020B0604020202020204" pitchFamily="34" charset="0"/>
            </a:endParaRPr>
          </a:p>
          <a:p>
            <a:pPr marL="0" lvl="0" indent="0" algn="l" rtl="0">
              <a:lnSpc>
                <a:spcPct val="80000"/>
              </a:lnSpc>
              <a:spcBef>
                <a:spcPts val="0"/>
              </a:spcBef>
              <a:spcAft>
                <a:spcPts val="0"/>
              </a:spcAft>
              <a:buNone/>
            </a:pPr>
            <a:endParaRPr sz="1020" dirty="0">
              <a:latin typeface="Arial" panose="020B0604020202020204" pitchFamily="34" charset="0"/>
            </a:endParaRPr>
          </a:p>
        </p:txBody>
      </p:sp>
      <p:sp>
        <p:nvSpPr>
          <p:cNvPr id="7006" name="Google Shape;7006;p99:notes">
            <a:extLst>
              <a:ext uri="{FF2B5EF4-FFF2-40B4-BE49-F238E27FC236}">
                <a16:creationId xmlns:a16="http://schemas.microsoft.com/office/drawing/2014/main" id="{83DB3C64-FE8B-3B9A-6DDA-184A3A1C4BFA}"/>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b="0" i="0" u="none" strike="noStrike" kern="0" cap="none" spc="0" normalizeH="0" baseline="0" noProof="0">
                <a:ln>
                  <a:noFill/>
                </a:ln>
                <a:solidFill>
                  <a:srgbClr val="717074"/>
                </a:solidFill>
                <a:effectLst/>
                <a:uLnTx/>
                <a:uFillTx/>
                <a:latin typeface="Arial" panose="020B0604020202020204" pitchFamily="34" charset="0"/>
                <a:ea typeface="+mn-ea"/>
                <a:cs typeface="Arial"/>
                <a:sym typeface="Arial"/>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81</a:t>
            </a:fld>
            <a:endParaRPr kumimoji="0" sz="1200" b="0" i="0" u="none" strike="noStrike" kern="0" cap="none" spc="0" normalizeH="0" baseline="0" noProof="0" dirty="0">
              <a:ln>
                <a:noFill/>
              </a:ln>
              <a:solidFill>
                <a:srgbClr val="717074"/>
              </a:solidFill>
              <a:effectLst/>
              <a:uLnTx/>
              <a:uFillTx/>
              <a:latin typeface="Arial" panose="020B0604020202020204" pitchFamily="34" charset="0"/>
              <a:ea typeface="+mn-ea"/>
              <a:cs typeface="Arial"/>
              <a:sym typeface="Arial"/>
            </a:endParaRPr>
          </a:p>
        </p:txBody>
      </p:sp>
    </p:spTree>
    <p:extLst>
      <p:ext uri="{BB962C8B-B14F-4D97-AF65-F5344CB8AC3E}">
        <p14:creationId xmlns:p14="http://schemas.microsoft.com/office/powerpoint/2010/main" val="407119231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83A2F-4A14-E057-3409-63358E7B4C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687D1-10D0-4273-DF1C-07DAC4AA0B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FB6C06-98B9-9EA2-E9D7-C711387F49E2}"/>
              </a:ext>
            </a:extLst>
          </p:cNvPr>
          <p:cNvSpPr>
            <a:spLocks noGrp="1"/>
          </p:cNvSpPr>
          <p:nvPr>
            <p:ph type="body" idx="1"/>
          </p:nvPr>
        </p:nvSpPr>
        <p:spPr/>
        <p:txBody>
          <a:bodyPr/>
          <a:lstStyle/>
          <a:p>
            <a:r>
              <a:rPr lang="en-US" sz="1200" b="1" u="none" strike="noStrike" kern="1200" dirty="0">
                <a:solidFill>
                  <a:schemeClr val="tx1"/>
                </a:solidFill>
                <a:effectLst/>
              </a:rPr>
              <a:t>Key Message:</a:t>
            </a:r>
            <a:br>
              <a:rPr lang="en-US" sz="1200" u="none" strike="noStrike" kern="1200" dirty="0">
                <a:solidFill>
                  <a:schemeClr val="tx1"/>
                </a:solidFill>
                <a:effectLst/>
              </a:rPr>
            </a:br>
            <a:r>
              <a:rPr lang="en-US" sz="1200" u="none" strike="noStrike" kern="1200" dirty="0">
                <a:solidFill>
                  <a:schemeClr val="tx1"/>
                </a:solidFill>
                <a:effectLst/>
              </a:rPr>
              <a:t>New VMware Cloud Foundation Download Tool (VDT) supports disconnected sites</a:t>
            </a:r>
          </a:p>
          <a:p>
            <a:endParaRPr lang="en-US" sz="120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Talk Track: </a:t>
            </a:r>
          </a:p>
          <a:p>
            <a:r>
              <a:rPr lang="en-US" dirty="0"/>
              <a:t>There are many customers that are not willing or able to allow VCF to directly connect to the Broadcom software depot in order to download software binaries for install, upgrade, and patching.</a:t>
            </a:r>
          </a:p>
          <a:p>
            <a:endParaRPr lang="en-US" dirty="0"/>
          </a:p>
          <a:p>
            <a:r>
              <a:rPr lang="en-US" dirty="0"/>
              <a:t>In these scenarios, admins of disconnected sites can create their own private offline depot with the new VDT. This tool is the successor to the Offline Bundle Transfer Utility (OBTU), and the two tools will coexist, with VDT being for VCF 9+ and OBTU for VCF 5.x and below. Offline depots help provide control and consistency as well as scale to environments with many instances of VCF deployed.</a:t>
            </a:r>
          </a:p>
          <a:p>
            <a:endParaRPr lang="en-US" dirty="0"/>
          </a:p>
          <a:p>
            <a:r>
              <a:rPr lang="en-US" dirty="0"/>
              <a:t>In addition to generating a mirror of the online depot, VDT can also be used to import bundles directly into SDDC Manager, without the need to create an additional internal web server to host the offline depot.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Notes:</a:t>
            </a:r>
            <a:endParaRPr lang="en-US" sz="120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endParaRPr>
          </a:p>
          <a:p>
            <a:r>
              <a:rPr lang="en-US" sz="1200" b="1" u="none" strike="noStrike" kern="1200" dirty="0">
                <a:solidFill>
                  <a:schemeClr val="tx1"/>
                </a:solidFill>
                <a:effectLst/>
              </a:rPr>
              <a:t>Resources:</a:t>
            </a:r>
            <a:endParaRPr lang="en-AU" dirty="0">
              <a:solidFill>
                <a:srgbClr val="DCA10D"/>
              </a:solidFill>
              <a:effectLst/>
              <a:latin typeface="Helvetica Neue" panose="02000503000000020004" pitchFamily="2" charset="0"/>
            </a:endParaRPr>
          </a:p>
          <a:p>
            <a:endParaRPr lang="en-US" dirty="0"/>
          </a:p>
        </p:txBody>
      </p:sp>
      <p:sp>
        <p:nvSpPr>
          <p:cNvPr id="4" name="Slide Number Placeholder 3">
            <a:extLst>
              <a:ext uri="{FF2B5EF4-FFF2-40B4-BE49-F238E27FC236}">
                <a16:creationId xmlns:a16="http://schemas.microsoft.com/office/drawing/2014/main" id="{C097DD97-236E-6948-DCA6-6A2527B2FD1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280039663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3"/>
        <p:cNvGrpSpPr/>
        <p:nvPr/>
      </p:nvGrpSpPr>
      <p:grpSpPr>
        <a:xfrm>
          <a:off x="0" y="0"/>
          <a:ext cx="0" cy="0"/>
          <a:chOff x="0" y="0"/>
          <a:chExt cx="0" cy="0"/>
        </a:xfrm>
      </p:grpSpPr>
      <p:sp>
        <p:nvSpPr>
          <p:cNvPr id="5874" name="Google Shape;5874;p7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75" name="Google Shape;5875;p70: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Key Message:</a:t>
            </a:r>
            <a:endParaRPr b="1" dirty="0">
              <a:latin typeface="Arial" panose="020B0604020202020204" pitchFamily="34" charset="0"/>
            </a:endParaRPr>
          </a:p>
          <a:p>
            <a:pPr marL="0" lvl="0" indent="0" algn="l" rtl="0">
              <a:spcBef>
                <a:spcPts val="0"/>
              </a:spcBef>
              <a:spcAft>
                <a:spcPts val="0"/>
              </a:spcAft>
              <a:buNone/>
            </a:pPr>
            <a:endParaRPr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Talk Track:</a:t>
            </a:r>
            <a:endParaRPr b="1" dirty="0">
              <a:latin typeface="Arial" panose="020B0604020202020204" pitchFamily="34" charset="0"/>
            </a:endParaRPr>
          </a:p>
          <a:p>
            <a:pPr marL="0" lvl="0" indent="0" algn="l" rtl="0">
              <a:spcBef>
                <a:spcPts val="0"/>
              </a:spcBef>
              <a:spcAft>
                <a:spcPts val="0"/>
              </a:spcAft>
              <a:buNone/>
            </a:pPr>
            <a:endParaRPr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Notes:</a:t>
            </a:r>
            <a:endParaRPr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endParaRPr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AU" sz="1200" b="1" u="none" strike="noStrike" dirty="0">
                <a:solidFill>
                  <a:schemeClr val="dk1"/>
                </a:solidFill>
                <a:latin typeface="Arial" panose="020B0604020202020204" pitchFamily="34" charset="0"/>
                <a:sym typeface="Arial"/>
              </a:rPr>
              <a:t>Resources:</a:t>
            </a:r>
            <a:endParaRPr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Clr>
                <a:schemeClr val="dk1"/>
              </a:buClr>
              <a:buSzPts val="1200"/>
              <a:buFont typeface="Arial"/>
              <a:buNone/>
            </a:pPr>
            <a:endParaRPr sz="1200" dirty="0">
              <a:solidFill>
                <a:schemeClr val="dk1"/>
              </a:solidFill>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p:txBody>
      </p:sp>
      <p:sp>
        <p:nvSpPr>
          <p:cNvPr id="5876" name="Google Shape;5876;p7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u="none" strike="noStrike" cap="none">
                <a:solidFill>
                  <a:srgbClr val="717074"/>
                </a:solidFill>
                <a:sym typeface="Arial"/>
              </a:rPr>
              <a:t>83</a:t>
            </a:fld>
            <a:endParaRPr sz="1200" u="none" strike="noStrike" cap="none" dirty="0">
              <a:solidFill>
                <a:srgbClr val="717074"/>
              </a:solidFill>
              <a:sym typeface="Arial"/>
            </a:endParaRPr>
          </a:p>
        </p:txBody>
      </p:sp>
    </p:spTree>
    <p:extLst>
      <p:ext uri="{BB962C8B-B14F-4D97-AF65-F5344CB8AC3E}">
        <p14:creationId xmlns:p14="http://schemas.microsoft.com/office/powerpoint/2010/main" val="12845052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0">
          <a:extLst>
            <a:ext uri="{FF2B5EF4-FFF2-40B4-BE49-F238E27FC236}">
              <a16:creationId xmlns:a16="http://schemas.microsoft.com/office/drawing/2014/main" id="{83C8DC69-4C08-D16A-E3C5-9EE46BA247BF}"/>
            </a:ext>
          </a:extLst>
        </p:cNvPr>
        <p:cNvGrpSpPr/>
        <p:nvPr/>
      </p:nvGrpSpPr>
      <p:grpSpPr>
        <a:xfrm>
          <a:off x="0" y="0"/>
          <a:ext cx="0" cy="0"/>
          <a:chOff x="0" y="0"/>
          <a:chExt cx="0" cy="0"/>
        </a:xfrm>
      </p:grpSpPr>
      <p:sp>
        <p:nvSpPr>
          <p:cNvPr id="2851" name="Google Shape;2851;p26:notes">
            <a:extLst>
              <a:ext uri="{FF2B5EF4-FFF2-40B4-BE49-F238E27FC236}">
                <a16:creationId xmlns:a16="http://schemas.microsoft.com/office/drawing/2014/main" id="{708EA4F5-6F70-745E-740C-1816A5BAF4C6}"/>
              </a:ext>
            </a:extLst>
          </p:cNvPr>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2" name="Google Shape;2852;p26:notes">
            <a:extLst>
              <a:ext uri="{FF2B5EF4-FFF2-40B4-BE49-F238E27FC236}">
                <a16:creationId xmlns:a16="http://schemas.microsoft.com/office/drawing/2014/main" id="{6F9E1A18-12EF-D02B-CA07-2481FF4C955F}"/>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defTabSz="914400" rtl="0" eaLnBrk="1" fontAlgn="auto" latinLnBrk="0" hangingPunct="1">
              <a:lnSpc>
                <a:spcPct val="80000"/>
              </a:lnSpc>
              <a:spcBef>
                <a:spcPts val="0"/>
              </a:spcBef>
              <a:spcAft>
                <a:spcPts val="0"/>
              </a:spcAft>
              <a:buClr>
                <a:schemeClr val="dk1"/>
              </a:buClr>
              <a:buSzPts val="800"/>
              <a:buFont typeface="Arial"/>
              <a:buNone/>
              <a:tabLst/>
              <a:defRPr/>
            </a:pPr>
            <a:r>
              <a:rPr lang="en-US" sz="1200" b="1" dirty="0">
                <a:solidFill>
                  <a:schemeClr val="dk1"/>
                </a:solidFill>
                <a:latin typeface="Arial"/>
                <a:ea typeface="Arial"/>
                <a:cs typeface="Arial"/>
                <a:sym typeface="Arial"/>
              </a:rPr>
              <a:t>Presenter Note:  </a:t>
            </a:r>
            <a:r>
              <a:rPr lang="en-US" sz="1200" b="1" dirty="0">
                <a:latin typeface="Arial"/>
                <a:ea typeface="Arial"/>
                <a:cs typeface="Arial"/>
                <a:sym typeface="Arial"/>
              </a:rPr>
              <a:t>This slide contains animation</a:t>
            </a:r>
            <a:endParaRPr lang="en-US" sz="1200" b="1" dirty="0">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800"/>
              <a:buFont typeface="Arial"/>
              <a:buNone/>
            </a:pPr>
            <a:endParaRPr lang="en-US" sz="1200" b="1" u="none" strike="noStrike" dirty="0">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Key Message:</a:t>
            </a:r>
            <a:br>
              <a:rPr lang="en-US" sz="1200" b="1" u="none" strike="noStrike" dirty="0">
                <a:solidFill>
                  <a:schemeClr val="dk1"/>
                </a:solidFill>
                <a:latin typeface="Arial"/>
                <a:ea typeface="Arial"/>
                <a:cs typeface="Arial"/>
                <a:sym typeface="Arial"/>
              </a:rPr>
            </a:br>
            <a:r>
              <a:rPr lang="en-US" sz="1200" dirty="0">
                <a:solidFill>
                  <a:schemeClr val="dk1"/>
                </a:solidFill>
              </a:rPr>
              <a:t>From VCF 9 private cloud operations and management is performed using the VCF Operations Console. </a:t>
            </a:r>
            <a:endParaRPr lang="en-US" dirty="0"/>
          </a:p>
          <a:p>
            <a:pPr marL="0" marR="0" lvl="0" indent="0" algn="l" rtl="0">
              <a:lnSpc>
                <a:spcPct val="80000"/>
              </a:lnSpc>
              <a:spcBef>
                <a:spcPts val="0"/>
              </a:spcBef>
              <a:spcAft>
                <a:spcPts val="0"/>
              </a:spcAft>
              <a:buClr>
                <a:schemeClr val="dk1"/>
              </a:buClr>
              <a:buSzPts val="800"/>
              <a:buFont typeface="Arial"/>
              <a:buNone/>
            </a:pPr>
            <a:r>
              <a:rPr lang="en-US" sz="1200" dirty="0">
                <a:solidFill>
                  <a:schemeClr val="dk1"/>
                </a:solidFill>
              </a:rPr>
              <a:t>VCF Operations provides Administrators with a unified and feature rich operations experience for fleet management which spans identity and access management, certificate management, password management, tag management, configuration drift and lifecycle management.</a:t>
            </a:r>
            <a:endParaRPr lang="en-US" dirty="0"/>
          </a:p>
          <a:p>
            <a:pPr marL="0" marR="0" lvl="0" indent="0" algn="l" rtl="0">
              <a:lnSpc>
                <a:spcPct val="80000"/>
              </a:lnSpc>
              <a:spcBef>
                <a:spcPts val="0"/>
              </a:spcBef>
              <a:spcAft>
                <a:spcPts val="0"/>
              </a:spcAft>
              <a:buClr>
                <a:schemeClr val="dk1"/>
              </a:buClr>
              <a:buSzPts val="800"/>
              <a:buFont typeface="Arial"/>
              <a:buNone/>
            </a:pPr>
            <a:endParaRPr lang="en-US" sz="1200" b="1"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Talk Track:</a:t>
            </a:r>
          </a:p>
          <a:p>
            <a:pPr marL="0" lvl="0" indent="0" algn="l" rtl="0">
              <a:lnSpc>
                <a:spcPct val="80000"/>
              </a:lnSpc>
              <a:spcBef>
                <a:spcPts val="0"/>
              </a:spcBef>
              <a:spcAft>
                <a:spcPts val="0"/>
              </a:spcAft>
              <a:buClr>
                <a:schemeClr val="dk1"/>
              </a:buClr>
              <a:buSzPts val="800"/>
              <a:buFont typeface="Arial"/>
              <a:buNone/>
            </a:pPr>
            <a:r>
              <a:rPr lang="en-US" sz="1200" b="0" u="none" strike="noStrike" dirty="0">
                <a:solidFill>
                  <a:schemeClr val="dk1"/>
                </a:solidFill>
                <a:latin typeface="Arial"/>
                <a:cs typeface="Arial"/>
                <a:sym typeface="Arial"/>
              </a:rPr>
              <a:t>Lets now take a closer look at closer look VCF Operations, formerly known as VMware Aria Operations.</a:t>
            </a:r>
            <a:endParaRPr lang="en-US" b="0" dirty="0"/>
          </a:p>
          <a:p>
            <a:pPr marL="0" lvl="0" indent="0" algn="l" rtl="0">
              <a:lnSpc>
                <a:spcPct val="80000"/>
              </a:lnSpc>
              <a:spcBef>
                <a:spcPts val="0"/>
              </a:spcBef>
              <a:spcAft>
                <a:spcPts val="0"/>
              </a:spcAft>
              <a:buClr>
                <a:schemeClr val="dk1"/>
              </a:buClr>
              <a:buSzPts val="800"/>
              <a:buFont typeface="Arial"/>
              <a:buNone/>
            </a:pPr>
            <a:endParaRPr lang="en-US" sz="1200"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Notes:</a:t>
            </a:r>
          </a:p>
          <a:p>
            <a:pPr marL="0" lvl="0" indent="0" algn="l" rtl="0">
              <a:lnSpc>
                <a:spcPct val="80000"/>
              </a:lnSpc>
              <a:spcBef>
                <a:spcPts val="0"/>
              </a:spcBef>
              <a:spcAft>
                <a:spcPts val="0"/>
              </a:spcAft>
              <a:buClr>
                <a:schemeClr val="dk1"/>
              </a:buClr>
              <a:buSzPts val="800"/>
              <a:buFont typeface="Arial"/>
              <a:buNone/>
            </a:pPr>
            <a:endParaRPr lang="en-US" sz="1200" dirty="0">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Resources:</a:t>
            </a:r>
            <a:endParaRPr lang="en-US" dirty="0"/>
          </a:p>
          <a:p>
            <a:pPr marL="0" lvl="0" indent="0" algn="l" rtl="0">
              <a:spcBef>
                <a:spcPts val="0"/>
              </a:spcBef>
              <a:spcAft>
                <a:spcPts val="0"/>
              </a:spcAft>
              <a:buClr>
                <a:schemeClr val="dk1"/>
              </a:buClr>
              <a:buSzPts val="1200"/>
              <a:buFont typeface="Arial"/>
              <a:buNone/>
            </a:pPr>
            <a:endParaRPr dirty="0"/>
          </a:p>
        </p:txBody>
      </p:sp>
      <p:sp>
        <p:nvSpPr>
          <p:cNvPr id="2853" name="Google Shape;2853;p26:notes">
            <a:extLst>
              <a:ext uri="{FF2B5EF4-FFF2-40B4-BE49-F238E27FC236}">
                <a16:creationId xmlns:a16="http://schemas.microsoft.com/office/drawing/2014/main" id="{8EB3B3C8-34EC-D096-8A9A-32C886BBF515}"/>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b="0" i="0" u="none" strike="noStrike" kern="1200" cap="none" spc="0" normalizeH="0" baseline="0" noProof="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84</a:t>
            </a:fld>
            <a:endParaRPr kumimoji="0" sz="1200" b="0" i="0" u="none" strike="noStrike" kern="1200" cap="none" spc="0" normalizeH="0" baseline="0" noProof="0">
              <a:ln>
                <a:noFill/>
              </a:ln>
              <a:solidFill>
                <a:srgbClr val="717074"/>
              </a:solidFill>
              <a:effectLst/>
              <a:uLnTx/>
              <a:uFillTx/>
              <a:latin typeface="Arial"/>
              <a:ea typeface="Arial"/>
              <a:cs typeface="Arial"/>
              <a:sym typeface="Arial"/>
            </a:endParaRPr>
          </a:p>
        </p:txBody>
      </p:sp>
    </p:spTree>
    <p:extLst>
      <p:ext uri="{BB962C8B-B14F-4D97-AF65-F5344CB8AC3E}">
        <p14:creationId xmlns:p14="http://schemas.microsoft.com/office/powerpoint/2010/main" val="322480502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12700" lvl="0" indent="0" algn="l" rtl="0">
              <a:lnSpc>
                <a:spcPct val="80000"/>
              </a:lnSpc>
              <a:spcBef>
                <a:spcPts val="0"/>
              </a:spcBef>
              <a:spcAft>
                <a:spcPts val="0"/>
              </a:spcAft>
              <a:buClr>
                <a:schemeClr val="dk1"/>
              </a:buClr>
              <a:buSzPts val="1200"/>
              <a:buNone/>
            </a:pPr>
            <a:r>
              <a:rPr lang="en-US" sz="1200" b="1" i="0" u="none" strike="noStrike" dirty="0">
                <a:latin typeface="+mn-lt"/>
              </a:rPr>
              <a:t>Key Message:</a:t>
            </a:r>
            <a:endParaRPr lang="en-US" sz="1200" dirty="0">
              <a:latin typeface="+mn-lt"/>
            </a:endParaRPr>
          </a:p>
          <a:p>
            <a:pPr marL="19050" lvl="0" indent="0" algn="l" rtl="0">
              <a:lnSpc>
                <a:spcPct val="80000"/>
              </a:lnSpc>
              <a:spcBef>
                <a:spcPts val="0"/>
              </a:spcBef>
              <a:spcAft>
                <a:spcPts val="0"/>
              </a:spcAft>
              <a:buClr>
                <a:schemeClr val="dk1"/>
              </a:buClr>
              <a:buSzPts val="1100"/>
              <a:buFontTx/>
              <a:buNone/>
            </a:pPr>
            <a:r>
              <a:rPr lang="en-US" sz="1200" b="0" i="0" u="none" strike="noStrike" dirty="0">
                <a:latin typeface="+mn-lt"/>
                <a:ea typeface="Arial"/>
                <a:cs typeface="Arial"/>
                <a:sym typeface="Arial"/>
              </a:rPr>
              <a:t>Continuous Performance monitoring is all about </a:t>
            </a:r>
            <a:r>
              <a:rPr lang="en-US" sz="1200" b="0" i="0" u="none" strike="noStrike" cap="none" dirty="0">
                <a:latin typeface="+mn-lt"/>
                <a:ea typeface="Arial"/>
                <a:cs typeface="Arial"/>
                <a:sym typeface="Arial"/>
              </a:rPr>
              <a:t>ensuring your VCF objects have access to the resources they need to run properly across their lifecycle.​  </a:t>
            </a:r>
          </a:p>
          <a:p>
            <a:pPr marL="19050" lvl="0" indent="0" algn="l" rtl="0">
              <a:lnSpc>
                <a:spcPct val="80000"/>
              </a:lnSpc>
              <a:spcBef>
                <a:spcPts val="0"/>
              </a:spcBef>
              <a:spcAft>
                <a:spcPts val="0"/>
              </a:spcAft>
              <a:buClr>
                <a:schemeClr val="dk1"/>
              </a:buClr>
              <a:buSzPts val="1100"/>
              <a:buFontTx/>
              <a:buNone/>
            </a:pPr>
            <a:r>
              <a:rPr lang="en-US" sz="1200" b="0" i="0" u="none" strike="noStrike" cap="none" dirty="0">
                <a:latin typeface="+mn-lt"/>
                <a:ea typeface="Arial"/>
                <a:cs typeface="Arial"/>
                <a:sym typeface="Arial"/>
              </a:rPr>
              <a:t>Achieve </a:t>
            </a:r>
            <a:r>
              <a:rPr lang="en-US" sz="1200" b="0" i="0" u="none" strike="noStrike" dirty="0">
                <a:latin typeface="+mn-lt"/>
                <a:ea typeface="Arial"/>
                <a:cs typeface="Arial"/>
                <a:sym typeface="Arial"/>
              </a:rPr>
              <a:t>faster time to resolution of issues to realize better performance at lower costs with AI-driven troubleshooting and remediation.</a:t>
            </a:r>
            <a:endParaRPr lang="en-US" sz="1200" dirty="0">
              <a:latin typeface="+mn-lt"/>
            </a:endParaRPr>
          </a:p>
          <a:p>
            <a:pPr marL="12700" lvl="0" indent="0" algn="l" rtl="0">
              <a:lnSpc>
                <a:spcPct val="80000"/>
              </a:lnSpc>
              <a:spcBef>
                <a:spcPts val="0"/>
              </a:spcBef>
              <a:spcAft>
                <a:spcPts val="0"/>
              </a:spcAft>
              <a:buClr>
                <a:schemeClr val="dk1"/>
              </a:buClr>
              <a:buSzPts val="1200"/>
              <a:buNone/>
            </a:pPr>
            <a:endParaRPr lang="en-US" sz="1200" i="0" u="none" strike="noStrike" dirty="0">
              <a:latin typeface="+mn-lt"/>
            </a:endParaRPr>
          </a:p>
          <a:p>
            <a:pPr marL="12700" lvl="0" indent="0" algn="l" rtl="0">
              <a:lnSpc>
                <a:spcPct val="80000"/>
              </a:lnSpc>
              <a:spcBef>
                <a:spcPts val="0"/>
              </a:spcBef>
              <a:spcAft>
                <a:spcPts val="0"/>
              </a:spcAft>
              <a:buClr>
                <a:schemeClr val="dk1"/>
              </a:buClr>
              <a:buSzPts val="1200"/>
              <a:buNone/>
            </a:pPr>
            <a:r>
              <a:rPr lang="en-US" sz="1200" b="1" i="0" u="none" strike="noStrike" dirty="0">
                <a:latin typeface="+mn-lt"/>
              </a:rPr>
              <a:t>Talk Track:</a:t>
            </a:r>
            <a:endParaRPr lang="en-US" sz="1200" dirty="0">
              <a:latin typeface="+mn-lt"/>
            </a:endParaRPr>
          </a:p>
          <a:p>
            <a:pPr marL="44450" marR="0" lvl="0" indent="0" algn="l" rtl="0">
              <a:lnSpc>
                <a:spcPct val="90000"/>
              </a:lnSpc>
              <a:spcBef>
                <a:spcPts val="0"/>
              </a:spcBef>
              <a:spcAft>
                <a:spcPts val="0"/>
              </a:spcAft>
              <a:buClr>
                <a:schemeClr val="dk1"/>
              </a:buClr>
              <a:buSzPts val="1100"/>
              <a:buFontTx/>
              <a:buNone/>
            </a:pPr>
            <a:r>
              <a:rPr lang="en-US" sz="1200" b="0" i="0" u="none" strike="noStrike" dirty="0">
                <a:latin typeface="+mn-lt"/>
                <a:ea typeface="Arial"/>
                <a:cs typeface="Arial"/>
                <a:sym typeface="Arial"/>
              </a:rPr>
              <a:t>The </a:t>
            </a:r>
            <a:r>
              <a:rPr lang="en-US" sz="1200" b="0" i="0" u="none" strike="noStrike" cap="none" dirty="0">
                <a:latin typeface="+mn-lt"/>
                <a:ea typeface="Arial"/>
                <a:cs typeface="Arial"/>
                <a:sym typeface="Arial"/>
              </a:rPr>
              <a:t>ability to troubleshoot and remediate issues lies at the heart of infrastructure and application performance management of your VCF environment.​</a:t>
            </a:r>
            <a:endParaRPr lang="en-US" sz="1200" dirty="0">
              <a:latin typeface="+mn-lt"/>
            </a:endParaRPr>
          </a:p>
          <a:p>
            <a:pPr marL="44450" marR="0" lvl="0" indent="0" algn="l" rtl="0">
              <a:lnSpc>
                <a:spcPct val="90000"/>
              </a:lnSpc>
              <a:spcBef>
                <a:spcPts val="0"/>
              </a:spcBef>
              <a:spcAft>
                <a:spcPts val="0"/>
              </a:spcAft>
              <a:buClr>
                <a:schemeClr val="dk1"/>
              </a:buClr>
              <a:buSzPts val="1100"/>
              <a:buFontTx/>
              <a:buNone/>
            </a:pPr>
            <a:r>
              <a:rPr lang="en-US" sz="1200" b="0" i="0" u="none" strike="noStrike" cap="none" dirty="0">
                <a:latin typeface="+mn-lt"/>
                <a:ea typeface="Arial"/>
                <a:cs typeface="Arial"/>
                <a:sym typeface="Arial"/>
              </a:rPr>
              <a:t>When an alert is triggered on an object, you can use VCF Operations’ Troubleshooting Workbench and its AI-based analytics to perform advanced troubleshooting tasks. ​</a:t>
            </a:r>
          </a:p>
          <a:p>
            <a:pPr marL="44450" marR="0" lvl="0" indent="0" algn="l" rtl="0">
              <a:lnSpc>
                <a:spcPct val="90000"/>
              </a:lnSpc>
              <a:spcBef>
                <a:spcPts val="0"/>
              </a:spcBef>
              <a:spcAft>
                <a:spcPts val="0"/>
              </a:spcAft>
              <a:buClr>
                <a:schemeClr val="dk1"/>
              </a:buClr>
              <a:buSzPts val="1100"/>
              <a:buFontTx/>
              <a:buNone/>
            </a:pPr>
            <a:endParaRPr lang="en-US" sz="1200" dirty="0">
              <a:latin typeface="+mn-lt"/>
            </a:endParaRPr>
          </a:p>
          <a:p>
            <a:pPr marL="44450" marR="0" lvl="0" indent="0" algn="l" rtl="0">
              <a:lnSpc>
                <a:spcPct val="90000"/>
              </a:lnSpc>
              <a:spcBef>
                <a:spcPts val="0"/>
              </a:spcBef>
              <a:spcAft>
                <a:spcPts val="0"/>
              </a:spcAft>
              <a:buClr>
                <a:schemeClr val="dk1"/>
              </a:buClr>
              <a:buSzPts val="1100"/>
              <a:buFontTx/>
              <a:buNone/>
            </a:pPr>
            <a:r>
              <a:rPr lang="en-US" sz="1200" b="0" i="0" u="none" strike="noStrike" cap="none" dirty="0">
                <a:latin typeface="+mn-lt"/>
                <a:ea typeface="Arial"/>
                <a:cs typeface="Arial"/>
                <a:sym typeface="Arial"/>
              </a:rPr>
              <a:t>VCF Operations narrows down the potential sources of an issue by correlating similar metrics or objects to check for trends or patterns.​</a:t>
            </a:r>
            <a:r>
              <a:rPr lang="en-US" sz="1200" b="0" i="0" u="none" strike="noStrike" cap="none" dirty="0">
                <a:latin typeface="+mn-lt"/>
                <a:ea typeface="+mn-ea"/>
                <a:cs typeface="+mn-cs"/>
                <a:sym typeface="Arial"/>
              </a:rPr>
              <a:t>  </a:t>
            </a:r>
            <a:r>
              <a:rPr lang="en-US" sz="1200" b="0" i="0" u="none" strike="noStrike" cap="none" dirty="0">
                <a:latin typeface="+mn-lt"/>
                <a:ea typeface="Arial"/>
                <a:cs typeface="Arial"/>
                <a:sym typeface="Arial"/>
              </a:rPr>
              <a:t>It looks for potential evidence of a problem such as events for metrics that have breached usual behavior parameters, major configuration changes, or metrics that have shown a drastic change within a selected scope and time.​</a:t>
            </a:r>
          </a:p>
          <a:p>
            <a:pPr marL="44450" marR="0" lvl="0" indent="0" algn="l" rtl="0">
              <a:lnSpc>
                <a:spcPct val="90000"/>
              </a:lnSpc>
              <a:spcBef>
                <a:spcPts val="0"/>
              </a:spcBef>
              <a:spcAft>
                <a:spcPts val="0"/>
              </a:spcAft>
              <a:buClr>
                <a:schemeClr val="dk1"/>
              </a:buClr>
              <a:buSzPts val="1100"/>
              <a:buFontTx/>
              <a:buNone/>
            </a:pPr>
            <a:endParaRPr lang="en-US" sz="1200" dirty="0">
              <a:latin typeface="+mn-lt"/>
            </a:endParaRPr>
          </a:p>
          <a:p>
            <a:pPr marL="44450" marR="0" lvl="0" indent="0" algn="l" rtl="0">
              <a:lnSpc>
                <a:spcPct val="90000"/>
              </a:lnSpc>
              <a:spcBef>
                <a:spcPts val="0"/>
              </a:spcBef>
              <a:spcAft>
                <a:spcPts val="0"/>
              </a:spcAft>
              <a:buClr>
                <a:schemeClr val="dk1"/>
              </a:buClr>
              <a:buSzPts val="1100"/>
              <a:buFontTx/>
              <a:buNone/>
            </a:pPr>
            <a:r>
              <a:rPr lang="en-US" sz="1200" b="0" i="0" u="none" strike="noStrike" cap="none" dirty="0">
                <a:latin typeface="+mn-lt"/>
                <a:ea typeface="Arial"/>
                <a:cs typeface="Arial"/>
                <a:sym typeface="Arial"/>
              </a:rPr>
              <a:t>It then ties into VCF Operations for Logs, VMware’s log management solution, for “last mile” root cause analysis to determine the specific source.​</a:t>
            </a:r>
            <a:r>
              <a:rPr lang="en-US" sz="1200" b="0" i="0" u="none" strike="noStrike" cap="none" dirty="0">
                <a:latin typeface="+mn-lt"/>
                <a:ea typeface="+mn-ea"/>
                <a:cs typeface="+mn-cs"/>
                <a:sym typeface="Arial"/>
              </a:rPr>
              <a:t>  </a:t>
            </a:r>
            <a:r>
              <a:rPr lang="en-US" sz="1200" b="0" i="0" u="none" strike="noStrike" cap="none" dirty="0">
                <a:latin typeface="+mn-lt"/>
                <a:ea typeface="Arial"/>
                <a:cs typeface="Arial"/>
                <a:sym typeface="Arial"/>
              </a:rPr>
              <a:t>At that point, VCF Operations provides guided recommendations on how to fix the issue.​</a:t>
            </a:r>
            <a:r>
              <a:rPr lang="en-US" sz="1200" b="0" i="0" u="none" strike="noStrike" cap="none" dirty="0">
                <a:latin typeface="+mn-lt"/>
                <a:ea typeface="+mn-ea"/>
                <a:cs typeface="+mn-cs"/>
                <a:sym typeface="Arial"/>
              </a:rPr>
              <a:t>  It </a:t>
            </a:r>
            <a:r>
              <a:rPr lang="en-US" sz="1200" b="0" i="0" u="none" strike="noStrike" cap="none" dirty="0">
                <a:latin typeface="+mn-lt"/>
                <a:ea typeface="Arial"/>
                <a:cs typeface="Arial"/>
                <a:sym typeface="Arial"/>
              </a:rPr>
              <a:t>also provides you the option to have the system automatically apply the recommended fix should a similar issue reoccur in the future.​</a:t>
            </a:r>
          </a:p>
          <a:p>
            <a:pPr marL="44450" marR="0" lvl="0" indent="0" algn="l" rtl="0">
              <a:lnSpc>
                <a:spcPct val="90000"/>
              </a:lnSpc>
              <a:spcBef>
                <a:spcPts val="0"/>
              </a:spcBef>
              <a:spcAft>
                <a:spcPts val="0"/>
              </a:spcAft>
              <a:buClr>
                <a:schemeClr val="dk1"/>
              </a:buClr>
              <a:buSzPts val="1100"/>
              <a:buFontTx/>
              <a:buNone/>
            </a:pPr>
            <a:endParaRPr lang="en-US" sz="1200" dirty="0">
              <a:latin typeface="+mn-lt"/>
            </a:endParaRPr>
          </a:p>
          <a:p>
            <a:pPr marL="44450" marR="0" lvl="0" indent="0" algn="l" rtl="0">
              <a:lnSpc>
                <a:spcPct val="90000"/>
              </a:lnSpc>
              <a:spcBef>
                <a:spcPts val="0"/>
              </a:spcBef>
              <a:spcAft>
                <a:spcPts val="0"/>
              </a:spcAft>
              <a:buClr>
                <a:schemeClr val="dk1"/>
              </a:buClr>
              <a:buSzPts val="1100"/>
              <a:buFontTx/>
              <a:buNone/>
            </a:pPr>
            <a:r>
              <a:rPr lang="en-US" sz="1200" b="0" i="0" u="none" strike="noStrike" cap="none" dirty="0">
                <a:latin typeface="+mn-lt"/>
                <a:ea typeface="Arial"/>
                <a:cs typeface="Arial"/>
                <a:sym typeface="Arial"/>
              </a:rPr>
              <a:t>With VCF Operations issues can be resolved faster, reducing the MTTR, ensuring your SLAs with the business are met.​</a:t>
            </a:r>
            <a:endParaRPr lang="en-US" sz="1200" dirty="0">
              <a:latin typeface="+mn-lt"/>
            </a:endParaRPr>
          </a:p>
          <a:p>
            <a:pPr marL="44450" marR="0" lvl="0" indent="0" algn="l" rtl="0">
              <a:lnSpc>
                <a:spcPct val="90000"/>
              </a:lnSpc>
              <a:spcBef>
                <a:spcPts val="0"/>
              </a:spcBef>
              <a:spcAft>
                <a:spcPts val="0"/>
              </a:spcAft>
              <a:buClr>
                <a:schemeClr val="dk1"/>
              </a:buClr>
              <a:buSzPts val="1100"/>
              <a:buFontTx/>
              <a:buNone/>
            </a:pPr>
            <a:r>
              <a:rPr lang="en-US" sz="1200" b="0" i="0" u="none" strike="noStrike" cap="none" dirty="0">
                <a:latin typeface="+mn-lt"/>
                <a:ea typeface="Arial"/>
                <a:cs typeface="Arial"/>
                <a:sym typeface="Arial"/>
              </a:rPr>
              <a:t>Plus, since transparency and communication are critical to IT’s relationship with the business, VCF Operations can notify important stakeholders via alert notifications and reports of any issues that pop up.​</a:t>
            </a:r>
            <a:endParaRPr lang="en-US" sz="1200" dirty="0">
              <a:latin typeface="+mn-lt"/>
            </a:endParaRPr>
          </a:p>
          <a:p>
            <a:endParaRPr lang="en-US" dirty="0"/>
          </a:p>
          <a:p>
            <a:r>
              <a:rPr lang="en-US" b="1" dirty="0"/>
              <a:t>Notes:</a:t>
            </a:r>
            <a:br>
              <a:rPr lang="en-US" b="1" dirty="0"/>
            </a:br>
            <a:br>
              <a:rPr lang="en-US" b="1" dirty="0"/>
            </a:br>
            <a:r>
              <a:rPr lang="en-US" b="1" dirty="0"/>
              <a:t>Resources:</a:t>
            </a:r>
          </a:p>
        </p:txBody>
      </p:sp>
      <p:sp>
        <p:nvSpPr>
          <p:cNvPr id="4" name="Slide Number Placeholder 3"/>
          <p:cNvSpPr>
            <a:spLocks noGrp="1"/>
          </p:cNvSpPr>
          <p:nvPr>
            <p:ph type="sldNum" sz="quarter" idx="5"/>
          </p:nvPr>
        </p:nvSpPr>
        <p:spPr/>
        <p:txBody>
          <a:bodyPr/>
          <a:lstStyle/>
          <a:p>
            <a:fld id="{9F4FBC3A-A12C-40F9-BB8D-BC30C7901396}" type="slidenum">
              <a:rPr lang="en-US" smtClean="0"/>
              <a:pPr/>
              <a:t>85</a:t>
            </a:fld>
            <a:endParaRPr lang="en-US" dirty="0"/>
          </a:p>
        </p:txBody>
      </p:sp>
    </p:spTree>
    <p:extLst>
      <p:ext uri="{BB962C8B-B14F-4D97-AF65-F5344CB8AC3E}">
        <p14:creationId xmlns:p14="http://schemas.microsoft.com/office/powerpoint/2010/main" val="247353250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25"/>
        <p:cNvGrpSpPr/>
        <p:nvPr/>
      </p:nvGrpSpPr>
      <p:grpSpPr>
        <a:xfrm>
          <a:off x="0" y="0"/>
          <a:ext cx="0" cy="0"/>
          <a:chOff x="0" y="0"/>
          <a:chExt cx="0" cy="0"/>
        </a:xfrm>
      </p:grpSpPr>
      <p:sp>
        <p:nvSpPr>
          <p:cNvPr id="12326" name="Google Shape;12326;p87: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27" name="Google Shape;12327;p87: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rgbClr val="222222"/>
              </a:buClr>
              <a:buSzPts val="1400"/>
              <a:buFont typeface="Arial"/>
              <a:buNone/>
            </a:pPr>
            <a:r>
              <a:rPr lang="en-US" sz="1110" b="1" i="0" dirty="0">
                <a:solidFill>
                  <a:srgbClr val="222222"/>
                </a:solidFill>
                <a:latin typeface="Arial"/>
                <a:ea typeface="Arial"/>
                <a:cs typeface="Arial"/>
                <a:sym typeface="Arial"/>
              </a:rPr>
              <a:t>Key Message:</a:t>
            </a:r>
            <a:endParaRPr dirty="0"/>
          </a:p>
          <a:p>
            <a:pPr marL="0" marR="0" lvl="0" indent="0" algn="l" rtl="0">
              <a:lnSpc>
                <a:spcPct val="80000"/>
              </a:lnSpc>
              <a:spcBef>
                <a:spcPts val="0"/>
              </a:spcBef>
              <a:spcAft>
                <a:spcPts val="0"/>
              </a:spcAft>
              <a:buClr>
                <a:srgbClr val="000000"/>
              </a:buClr>
              <a:buSzPts val="1400"/>
              <a:buFont typeface="Arial"/>
              <a:buNone/>
            </a:pPr>
            <a:r>
              <a:rPr lang="en-US" sz="1110" b="0" i="0" dirty="0">
                <a:solidFill>
                  <a:srgbClr val="222222"/>
                </a:solidFill>
                <a:latin typeface="Arial"/>
                <a:ea typeface="Arial"/>
                <a:cs typeface="Arial"/>
                <a:sym typeface="Arial"/>
              </a:rPr>
              <a:t>VCF Capacity Management tools help ensure that your organization's infrastructure has sufficient resources (such as computing power, storage, and memory capacity) to meet current and future demands. </a:t>
            </a:r>
            <a:endParaRPr dirty="0"/>
          </a:p>
          <a:p>
            <a:pPr marL="0" lvl="0" indent="0" algn="l" rtl="0">
              <a:lnSpc>
                <a:spcPct val="80000"/>
              </a:lnSpc>
              <a:spcBef>
                <a:spcPts val="0"/>
              </a:spcBef>
              <a:spcAft>
                <a:spcPts val="0"/>
              </a:spcAft>
              <a:buClr>
                <a:schemeClr val="dk1"/>
              </a:buClr>
              <a:buSzPts val="1400"/>
              <a:buFont typeface="Arial"/>
              <a:buNone/>
            </a:pPr>
            <a:endParaRPr sz="1110" b="0" i="0" dirty="0">
              <a:solidFill>
                <a:srgbClr val="222222"/>
              </a:solidFill>
              <a:latin typeface="Arial"/>
              <a:ea typeface="Arial"/>
              <a:cs typeface="Arial"/>
              <a:sym typeface="Arial"/>
            </a:endParaRPr>
          </a:p>
          <a:p>
            <a:pPr marL="0" lvl="0" indent="0" algn="l" rtl="0">
              <a:lnSpc>
                <a:spcPct val="80000"/>
              </a:lnSpc>
              <a:spcBef>
                <a:spcPts val="0"/>
              </a:spcBef>
              <a:spcAft>
                <a:spcPts val="0"/>
              </a:spcAft>
              <a:buClr>
                <a:srgbClr val="222222"/>
              </a:buClr>
              <a:buSzPts val="1400"/>
              <a:buFont typeface="Arial"/>
              <a:buNone/>
            </a:pPr>
            <a:r>
              <a:rPr lang="en-US" sz="1110" b="1" i="0" dirty="0">
                <a:solidFill>
                  <a:srgbClr val="222222"/>
                </a:solidFill>
                <a:latin typeface="Arial"/>
                <a:ea typeface="Arial"/>
                <a:cs typeface="Arial"/>
                <a:sym typeface="Arial"/>
              </a:rPr>
              <a:t>Talk Track:</a:t>
            </a:r>
            <a:endParaRPr dirty="0"/>
          </a:p>
          <a:p>
            <a:pPr marL="0" lvl="0" indent="0" algn="l" rtl="0">
              <a:lnSpc>
                <a:spcPct val="80000"/>
              </a:lnSpc>
              <a:spcBef>
                <a:spcPts val="0"/>
              </a:spcBef>
              <a:spcAft>
                <a:spcPts val="0"/>
              </a:spcAft>
              <a:buClr>
                <a:srgbClr val="222222"/>
              </a:buClr>
              <a:buSzPts val="1400"/>
              <a:buFont typeface="Arial"/>
              <a:buNone/>
            </a:pPr>
            <a:r>
              <a:rPr lang="en-US" sz="1110" b="0" i="0" dirty="0">
                <a:solidFill>
                  <a:srgbClr val="222222"/>
                </a:solidFill>
                <a:latin typeface="Arial"/>
                <a:ea typeface="Arial"/>
                <a:cs typeface="Arial"/>
                <a:sym typeface="Arial"/>
              </a:rPr>
              <a:t>Capacity management in IT involves ensuring that an organization's infrastructure has sufficient resources (such as computing power, storage, and memory capacity) to meet current and future demands.  And to effectively perform Capacity Management, you need a combination of accurate data analysis, strategic planning, and  automation tools to help you monitor and adjust capacity in real-time.</a:t>
            </a:r>
            <a:endParaRPr sz="1110" b="0" i="0" dirty="0">
              <a:solidFill>
                <a:srgbClr val="565656"/>
              </a:solidFill>
              <a:latin typeface="Arial"/>
              <a:ea typeface="Arial"/>
              <a:cs typeface="Arial"/>
              <a:sym typeface="Arial"/>
            </a:endParaRPr>
          </a:p>
          <a:p>
            <a:pPr marL="0" lvl="0" indent="0" algn="l" rtl="0">
              <a:lnSpc>
                <a:spcPct val="80000"/>
              </a:lnSpc>
              <a:spcBef>
                <a:spcPts val="0"/>
              </a:spcBef>
              <a:spcAft>
                <a:spcPts val="0"/>
              </a:spcAft>
              <a:buClr>
                <a:schemeClr val="dk1"/>
              </a:buClr>
              <a:buSzPts val="1400"/>
              <a:buFont typeface="Arial"/>
              <a:buNone/>
            </a:pPr>
            <a:endParaRPr sz="1110" b="0" i="0" dirty="0">
              <a:solidFill>
                <a:srgbClr val="222222"/>
              </a:solidFill>
              <a:latin typeface="Arial"/>
              <a:ea typeface="Arial"/>
              <a:cs typeface="Arial"/>
              <a:sym typeface="Arial"/>
            </a:endParaRPr>
          </a:p>
          <a:p>
            <a:pPr marL="0" lvl="0" indent="0" algn="l" rtl="0">
              <a:lnSpc>
                <a:spcPct val="80000"/>
              </a:lnSpc>
              <a:spcBef>
                <a:spcPts val="0"/>
              </a:spcBef>
              <a:spcAft>
                <a:spcPts val="0"/>
              </a:spcAft>
              <a:buClr>
                <a:srgbClr val="222222"/>
              </a:buClr>
              <a:buSzPts val="1400"/>
              <a:buFont typeface="Arial"/>
              <a:buNone/>
            </a:pPr>
            <a:r>
              <a:rPr lang="en-US" sz="1110" b="0" i="0" dirty="0">
                <a:solidFill>
                  <a:srgbClr val="222222"/>
                </a:solidFill>
                <a:latin typeface="Arial"/>
                <a:ea typeface="Arial"/>
                <a:cs typeface="Arial"/>
                <a:sym typeface="Arial"/>
              </a:rPr>
              <a:t>And this is where VCF shines. With it, you can:</a:t>
            </a:r>
            <a:endParaRPr dirty="0"/>
          </a:p>
          <a:p>
            <a:pPr marL="0" lvl="0" indent="0" algn="l" rtl="0">
              <a:lnSpc>
                <a:spcPct val="80000"/>
              </a:lnSpc>
              <a:spcBef>
                <a:spcPts val="0"/>
              </a:spcBef>
              <a:spcAft>
                <a:spcPts val="0"/>
              </a:spcAft>
              <a:buClr>
                <a:srgbClr val="565656"/>
              </a:buClr>
              <a:buSzPts val="1400"/>
              <a:buFont typeface="Arial"/>
              <a:buNone/>
            </a:pPr>
            <a:r>
              <a:rPr lang="en-US" sz="1110" b="0" i="0" dirty="0">
                <a:solidFill>
                  <a:srgbClr val="565656"/>
                </a:solidFill>
                <a:latin typeface="Arial"/>
                <a:ea typeface="Arial"/>
                <a:cs typeface="Arial"/>
                <a:sym typeface="Arial"/>
              </a:rPr>
              <a:t>- Set capacity thresholds and risk levels</a:t>
            </a:r>
            <a:endParaRPr dirty="0"/>
          </a:p>
          <a:p>
            <a:pPr marL="0" lvl="0" indent="0" algn="l" rtl="0">
              <a:lnSpc>
                <a:spcPct val="80000"/>
              </a:lnSpc>
              <a:spcBef>
                <a:spcPts val="0"/>
              </a:spcBef>
              <a:spcAft>
                <a:spcPts val="0"/>
              </a:spcAft>
              <a:buClr>
                <a:srgbClr val="565656"/>
              </a:buClr>
              <a:buSzPts val="1400"/>
              <a:buFont typeface="Arial"/>
              <a:buNone/>
            </a:pPr>
            <a:r>
              <a:rPr lang="en-US" sz="1110" b="0" i="0" dirty="0">
                <a:solidFill>
                  <a:srgbClr val="565656"/>
                </a:solidFill>
                <a:latin typeface="Arial"/>
                <a:ea typeface="Arial"/>
                <a:cs typeface="Arial"/>
                <a:sym typeface="Arial"/>
              </a:rPr>
              <a:t>- Assess the current state of your environment’s current capacity and predict shortfalls in the future.</a:t>
            </a:r>
            <a:endParaRPr dirty="0"/>
          </a:p>
          <a:p>
            <a:pPr marL="0" lvl="0" indent="0" algn="l" rtl="0">
              <a:lnSpc>
                <a:spcPct val="80000"/>
              </a:lnSpc>
              <a:spcBef>
                <a:spcPts val="0"/>
              </a:spcBef>
              <a:spcAft>
                <a:spcPts val="0"/>
              </a:spcAft>
              <a:buClr>
                <a:srgbClr val="565656"/>
              </a:buClr>
              <a:buSzPts val="1400"/>
              <a:buFont typeface="Arial"/>
              <a:buNone/>
            </a:pPr>
            <a:r>
              <a:rPr lang="en-US" sz="1110" b="0" i="0" dirty="0">
                <a:solidFill>
                  <a:srgbClr val="565656"/>
                </a:solidFill>
                <a:latin typeface="Arial"/>
                <a:ea typeface="Arial"/>
                <a:cs typeface="Arial"/>
                <a:sym typeface="Arial"/>
              </a:rPr>
              <a:t>- See most constrained resources</a:t>
            </a:r>
            <a:endParaRPr sz="1110" dirty="0">
              <a:latin typeface="Arial"/>
              <a:ea typeface="Arial"/>
              <a:cs typeface="Arial"/>
              <a:sym typeface="Arial"/>
            </a:endParaRPr>
          </a:p>
          <a:p>
            <a:pPr marL="0" lvl="0" indent="0" algn="l" rtl="0">
              <a:lnSpc>
                <a:spcPct val="80000"/>
              </a:lnSpc>
              <a:spcBef>
                <a:spcPts val="0"/>
              </a:spcBef>
              <a:spcAft>
                <a:spcPts val="0"/>
              </a:spcAft>
              <a:buClr>
                <a:srgbClr val="565656"/>
              </a:buClr>
              <a:buSzPts val="1400"/>
              <a:buFont typeface="Arial"/>
              <a:buNone/>
            </a:pPr>
            <a:r>
              <a:rPr lang="en-US" sz="1110" b="0" i="0" dirty="0">
                <a:solidFill>
                  <a:srgbClr val="565656"/>
                </a:solidFill>
                <a:latin typeface="Arial"/>
                <a:ea typeface="Arial"/>
                <a:cs typeface="Arial"/>
                <a:sym typeface="Arial"/>
              </a:rPr>
              <a:t>- Identify resources that can be reclaimed and rightsized</a:t>
            </a:r>
            <a:endParaRPr sz="1110" dirty="0">
              <a:latin typeface="Arial"/>
              <a:ea typeface="Arial"/>
              <a:cs typeface="Arial"/>
              <a:sym typeface="Arial"/>
            </a:endParaRPr>
          </a:p>
          <a:p>
            <a:pPr marL="0" lvl="0" indent="0" algn="l" rtl="0">
              <a:lnSpc>
                <a:spcPct val="80000"/>
              </a:lnSpc>
              <a:spcBef>
                <a:spcPts val="0"/>
              </a:spcBef>
              <a:spcAft>
                <a:spcPts val="0"/>
              </a:spcAft>
              <a:buClr>
                <a:srgbClr val="565656"/>
              </a:buClr>
              <a:buSzPts val="1400"/>
              <a:buFont typeface="Arial"/>
              <a:buNone/>
            </a:pPr>
            <a:r>
              <a:rPr lang="en-US" sz="1110" b="0" i="0" dirty="0">
                <a:solidFill>
                  <a:srgbClr val="565656"/>
                </a:solidFill>
                <a:latin typeface="Arial"/>
                <a:ea typeface="Arial"/>
                <a:cs typeface="Arial"/>
                <a:sym typeface="Arial"/>
              </a:rPr>
              <a:t>- Forecast the performance (and financial) impact of adding and removing workloads or infrastructure (e.g., new servers) to and from you’re your environment with What-If Scenario/Workload Planning Tools.</a:t>
            </a:r>
            <a:endParaRPr dirty="0"/>
          </a:p>
          <a:p>
            <a:pPr marL="171450" lvl="0" indent="-82550" algn="l" rtl="0">
              <a:lnSpc>
                <a:spcPct val="80000"/>
              </a:lnSpc>
              <a:spcBef>
                <a:spcPts val="0"/>
              </a:spcBef>
              <a:spcAft>
                <a:spcPts val="0"/>
              </a:spcAft>
              <a:buClr>
                <a:schemeClr val="dk1"/>
              </a:buClr>
              <a:buSzPts val="1400"/>
              <a:buFont typeface="Arial"/>
              <a:buNone/>
            </a:pPr>
            <a:endParaRPr sz="1110" b="0" i="0" dirty="0">
              <a:solidFill>
                <a:srgbClr val="565656"/>
              </a:solidFill>
              <a:latin typeface="Arial"/>
              <a:ea typeface="Arial"/>
              <a:cs typeface="Arial"/>
              <a:sym typeface="Arial"/>
            </a:endParaRPr>
          </a:p>
          <a:p>
            <a:pPr marL="0" lvl="0" indent="0" algn="l" rtl="0">
              <a:lnSpc>
                <a:spcPct val="80000"/>
              </a:lnSpc>
              <a:spcBef>
                <a:spcPts val="0"/>
              </a:spcBef>
              <a:spcAft>
                <a:spcPts val="0"/>
              </a:spcAft>
              <a:buClr>
                <a:srgbClr val="565656"/>
              </a:buClr>
              <a:buSzPts val="1400"/>
              <a:buFont typeface="Arial"/>
              <a:buNone/>
            </a:pPr>
            <a:r>
              <a:rPr lang="en-US" sz="1110" b="0" i="0" dirty="0">
                <a:solidFill>
                  <a:srgbClr val="565656"/>
                </a:solidFill>
                <a:latin typeface="Arial"/>
                <a:ea typeface="Arial"/>
                <a:cs typeface="Arial"/>
                <a:sym typeface="Arial"/>
              </a:rPr>
              <a:t>These capabilities provide the following benefits:</a:t>
            </a:r>
            <a:endParaRPr dirty="0"/>
          </a:p>
          <a:p>
            <a:pPr marL="0" lvl="0" indent="0" algn="l" rtl="0">
              <a:lnSpc>
                <a:spcPct val="80000"/>
              </a:lnSpc>
              <a:spcBef>
                <a:spcPts val="0"/>
              </a:spcBef>
              <a:spcAft>
                <a:spcPts val="0"/>
              </a:spcAft>
              <a:buClr>
                <a:schemeClr val="dk1"/>
              </a:buClr>
              <a:buSzPts val="1400"/>
              <a:buFont typeface="Arial"/>
              <a:buNone/>
            </a:pPr>
            <a:r>
              <a:rPr lang="en-US" sz="1110" dirty="0">
                <a:latin typeface="Arial"/>
                <a:ea typeface="Arial"/>
                <a:cs typeface="Arial"/>
                <a:sym typeface="Arial"/>
              </a:rPr>
              <a:t>- Ensures that hardware, software, and infrastructure are used efficiently, reduce waste and avoid over-provisioning</a:t>
            </a:r>
            <a:endParaRPr dirty="0"/>
          </a:p>
          <a:p>
            <a:pPr marL="0" lvl="0" indent="0" algn="l" rtl="0">
              <a:lnSpc>
                <a:spcPct val="80000"/>
              </a:lnSpc>
              <a:spcBef>
                <a:spcPts val="0"/>
              </a:spcBef>
              <a:spcAft>
                <a:spcPts val="0"/>
              </a:spcAft>
              <a:buClr>
                <a:schemeClr val="dk1"/>
              </a:buClr>
              <a:buSzPts val="1400"/>
              <a:buFont typeface="Arial"/>
              <a:buNone/>
            </a:pPr>
            <a:r>
              <a:rPr lang="en-US" sz="1110" dirty="0">
                <a:latin typeface="Arial"/>
                <a:ea typeface="Arial"/>
                <a:cs typeface="Arial"/>
                <a:sym typeface="Arial"/>
              </a:rPr>
              <a:t>- Prevent unnecessary spending on IT resources by aligning capacity with actual demand and identifying opportunities for consolidation or decommissioning.</a:t>
            </a:r>
            <a:endParaRPr dirty="0"/>
          </a:p>
          <a:p>
            <a:pPr marL="0" lvl="0" indent="0" algn="l" rtl="0">
              <a:lnSpc>
                <a:spcPct val="80000"/>
              </a:lnSpc>
              <a:spcBef>
                <a:spcPts val="0"/>
              </a:spcBef>
              <a:spcAft>
                <a:spcPts val="0"/>
              </a:spcAft>
              <a:buClr>
                <a:schemeClr val="dk1"/>
              </a:buClr>
              <a:buSzPts val="1400"/>
              <a:buFont typeface="Arial"/>
              <a:buNone/>
            </a:pPr>
            <a:r>
              <a:rPr lang="en-US" sz="1110" dirty="0">
                <a:latin typeface="Arial"/>
                <a:ea typeface="Arial"/>
                <a:cs typeface="Arial"/>
                <a:sym typeface="Arial"/>
              </a:rPr>
              <a:t>- Help maintain system performance and availability by proactively addressing capacity constraints before they impact users.</a:t>
            </a:r>
            <a:endParaRPr dirty="0"/>
          </a:p>
          <a:p>
            <a:pPr marL="0" lvl="0" indent="0" algn="l" rtl="0">
              <a:lnSpc>
                <a:spcPct val="80000"/>
              </a:lnSpc>
              <a:spcBef>
                <a:spcPts val="0"/>
              </a:spcBef>
              <a:spcAft>
                <a:spcPts val="0"/>
              </a:spcAft>
              <a:buClr>
                <a:schemeClr val="dk1"/>
              </a:buClr>
              <a:buSzPts val="1400"/>
              <a:buFont typeface="Arial"/>
              <a:buNone/>
            </a:pPr>
            <a:r>
              <a:rPr lang="en-US" sz="1110" dirty="0">
                <a:latin typeface="Arial"/>
                <a:ea typeface="Arial"/>
                <a:cs typeface="Arial"/>
                <a:sym typeface="Arial"/>
              </a:rPr>
              <a:t>- Forecast future capacity needs, making it easier to scale services up or down as demand changes.</a:t>
            </a:r>
            <a:endParaRPr dirty="0"/>
          </a:p>
          <a:p>
            <a:pPr marL="0" lvl="0" indent="0" algn="l" rtl="0">
              <a:lnSpc>
                <a:spcPct val="80000"/>
              </a:lnSpc>
              <a:spcBef>
                <a:spcPts val="0"/>
              </a:spcBef>
              <a:spcAft>
                <a:spcPts val="0"/>
              </a:spcAft>
              <a:buNone/>
            </a:pPr>
            <a:endParaRPr sz="1110" dirty="0"/>
          </a:p>
          <a:p>
            <a:pPr marL="0" lvl="0" indent="0" algn="l" rtl="0">
              <a:lnSpc>
                <a:spcPct val="80000"/>
              </a:lnSpc>
              <a:spcBef>
                <a:spcPts val="0"/>
              </a:spcBef>
              <a:spcAft>
                <a:spcPts val="0"/>
              </a:spcAft>
              <a:buNone/>
            </a:pPr>
            <a:r>
              <a:rPr lang="en-US" sz="1110" b="1" dirty="0"/>
              <a:t>Notes:</a:t>
            </a:r>
            <a:br>
              <a:rPr lang="en-US" sz="1110" b="1" dirty="0"/>
            </a:br>
            <a:br>
              <a:rPr lang="en-US" sz="1110" b="1" dirty="0"/>
            </a:br>
            <a:r>
              <a:rPr lang="en-US" sz="1110" b="1" dirty="0"/>
              <a:t>Resources:</a:t>
            </a:r>
            <a:endParaRPr dirty="0"/>
          </a:p>
        </p:txBody>
      </p:sp>
      <p:sp>
        <p:nvSpPr>
          <p:cNvPr id="12328" name="Google Shape;12328;p8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b="0" i="0" u="none" strike="noStrike" kern="0" cap="none" spc="0" normalizeH="0" baseline="0" noProof="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86</a:t>
            </a:fld>
            <a:endParaRPr kumimoji="0" sz="1200" b="0" i="0" u="none" strike="noStrike" kern="0" cap="none" spc="0" normalizeH="0" baseline="0" noProof="0">
              <a:ln>
                <a:noFill/>
              </a:ln>
              <a:solidFill>
                <a:srgbClr val="717074"/>
              </a:solidFill>
              <a:effectLst/>
              <a:uLnTx/>
              <a:uFillTx/>
              <a:latin typeface="Arial"/>
              <a:ea typeface="Arial"/>
              <a:cs typeface="Arial"/>
              <a:sym typeface="Arial"/>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222222"/>
                </a:solidFill>
                <a:effectLst/>
                <a:highlight>
                  <a:srgbClr val="FFFFFF"/>
                </a:highlight>
                <a:latin typeface="+mn-lt"/>
              </a:rPr>
              <a:t>Key Message:</a:t>
            </a:r>
          </a:p>
          <a:p>
            <a:r>
              <a:rPr lang="en-US" b="0" i="0" dirty="0">
                <a:solidFill>
                  <a:srgbClr val="222222"/>
                </a:solidFill>
                <a:effectLst/>
                <a:highlight>
                  <a:srgbClr val="FFFFFF"/>
                </a:highlight>
                <a:latin typeface="+mn-lt"/>
              </a:rPr>
              <a:t>The FinOps capabilities within VCF integrates financial management with operational processes. With it, Organizations can track, forecast, and optimize their spending on IT resources and services efficiently and effectively. </a:t>
            </a:r>
          </a:p>
          <a:p>
            <a:endParaRPr lang="en-US" dirty="0">
              <a:latin typeface="+mn-lt"/>
            </a:endParaRPr>
          </a:p>
          <a:p>
            <a:r>
              <a:rPr lang="en-US" b="1" i="0" dirty="0">
                <a:solidFill>
                  <a:srgbClr val="222222"/>
                </a:solidFill>
                <a:effectLst/>
                <a:highlight>
                  <a:srgbClr val="FFFFFF"/>
                </a:highlight>
                <a:latin typeface="+mn-lt"/>
              </a:rPr>
              <a:t>Talk Track:</a:t>
            </a:r>
          </a:p>
          <a:p>
            <a:r>
              <a:rPr lang="en-US" b="0" i="0" dirty="0">
                <a:solidFill>
                  <a:srgbClr val="222222"/>
                </a:solidFill>
                <a:effectLst/>
                <a:highlight>
                  <a:srgbClr val="FFFFFF"/>
                </a:highlight>
                <a:latin typeface="+mn-lt"/>
              </a:rPr>
              <a:t>The FinOps capabilities within VCF integrates financial management with operational processes. With it, Organizations can track, forecast, and optimize their spending on IT resources and services efficiently and effectively with a variety of tools including:</a:t>
            </a:r>
            <a:endParaRPr lang="en-US" sz="1200" b="1" i="0" u="none" dirty="0">
              <a:solidFill>
                <a:srgbClr val="222222"/>
              </a:solidFill>
              <a:effectLst/>
              <a:highlight>
                <a:srgbClr val="FFFFFF"/>
              </a:highlight>
              <a:latin typeface="+mn-lt"/>
            </a:endParaRPr>
          </a:p>
          <a:p>
            <a:pPr marL="171450" indent="-171450">
              <a:buFontTx/>
              <a:buChar char="-"/>
            </a:pPr>
            <a:r>
              <a:rPr lang="en-US" sz="1200" b="0" u="sng" dirty="0">
                <a:latin typeface="+mn-lt"/>
              </a:rPr>
              <a:t>VCF’s C</a:t>
            </a:r>
            <a:r>
              <a:rPr lang="en-US" b="0" u="sng" dirty="0">
                <a:latin typeface="+mn-lt"/>
              </a:rPr>
              <a:t>ost Overview page (shown here</a:t>
            </a:r>
            <a:r>
              <a:rPr lang="en-US" b="1" dirty="0">
                <a:latin typeface="+mn-lt"/>
              </a:rPr>
              <a:t>) </a:t>
            </a:r>
            <a:r>
              <a:rPr lang="en-US" b="0" dirty="0">
                <a:latin typeface="+mn-lt"/>
              </a:rPr>
              <a:t>allows you to see the total cost of ownership, potential savings, and realized savings for your environment in a single location.</a:t>
            </a:r>
          </a:p>
          <a:p>
            <a:pPr marL="171450" indent="-171450">
              <a:buFontTx/>
              <a:buChar char="-"/>
            </a:pPr>
            <a:r>
              <a:rPr lang="en-US" b="0" dirty="0">
                <a:latin typeface="+mn-lt"/>
              </a:rPr>
              <a:t>Highly customizable </a:t>
            </a:r>
            <a:r>
              <a:rPr lang="en-US" b="0" u="sng" dirty="0">
                <a:latin typeface="+mn-lt"/>
              </a:rPr>
              <a:t>OOTB costing and pricing dashboards </a:t>
            </a:r>
            <a:r>
              <a:rPr lang="en-US" b="0" dirty="0">
                <a:latin typeface="+mn-lt"/>
              </a:rPr>
              <a:t>with interactive widgets that allow you to drill down into more financial detail  for reporting purposes.</a:t>
            </a:r>
          </a:p>
          <a:p>
            <a:pPr marL="171450" indent="-171450">
              <a:buFontTx/>
              <a:buChar char="-"/>
            </a:pPr>
            <a:r>
              <a:rPr lang="en-US" b="0" dirty="0" err="1">
                <a:latin typeface="+mn-lt"/>
              </a:rPr>
              <a:t>Showback</a:t>
            </a:r>
            <a:r>
              <a:rPr lang="en-US" b="0" dirty="0">
                <a:latin typeface="+mn-lt"/>
              </a:rPr>
              <a:t> and </a:t>
            </a:r>
            <a:r>
              <a:rPr lang="en-US" b="0" u="sng" dirty="0">
                <a:latin typeface="+mn-lt"/>
              </a:rPr>
              <a:t>Chargeback Tools </a:t>
            </a:r>
            <a:r>
              <a:rPr lang="en-US" b="0" dirty="0">
                <a:latin typeface="+mn-lt"/>
              </a:rPr>
              <a:t>that allow you to see what your spending vs what you’re charging your tenants. </a:t>
            </a:r>
          </a:p>
          <a:p>
            <a:pPr marL="171450" indent="-171450">
              <a:buFontTx/>
              <a:buChar char="-"/>
            </a:pPr>
            <a:r>
              <a:rPr lang="en-US" b="0" dirty="0">
                <a:latin typeface="+mn-lt"/>
              </a:rPr>
              <a:t>And planning tools that allow you to perform </a:t>
            </a:r>
            <a:r>
              <a:rPr lang="en-US" b="0" u="sng" dirty="0">
                <a:latin typeface="+mn-lt"/>
              </a:rPr>
              <a:t>What-If Analysis </a:t>
            </a:r>
            <a:r>
              <a:rPr lang="en-US" b="0" dirty="0">
                <a:latin typeface="+mn-lt"/>
              </a:rPr>
              <a:t>to see the financial impact of scaling your infrastructure (such as additional VMs or Clusters), before making a final decision.</a:t>
            </a:r>
          </a:p>
          <a:p>
            <a:endParaRPr lang="en-US" dirty="0"/>
          </a:p>
          <a:p>
            <a:r>
              <a:rPr lang="en-US" b="1" dirty="0"/>
              <a:t>Notes:</a:t>
            </a:r>
            <a:br>
              <a:rPr lang="en-US" b="1" dirty="0"/>
            </a:br>
            <a:br>
              <a:rPr lang="en-US" b="1" dirty="0"/>
            </a:br>
            <a:r>
              <a:rPr lang="en-US" b="1" dirty="0"/>
              <a:t>Resources:</a:t>
            </a:r>
          </a:p>
        </p:txBody>
      </p:sp>
      <p:sp>
        <p:nvSpPr>
          <p:cNvPr id="4" name="Slide Number Placeholder 3"/>
          <p:cNvSpPr>
            <a:spLocks noGrp="1"/>
          </p:cNvSpPr>
          <p:nvPr>
            <p:ph type="sldNum" sz="quarter" idx="5"/>
          </p:nvPr>
        </p:nvSpPr>
        <p:spPr/>
        <p:txBody>
          <a:bodyPr/>
          <a:lstStyle/>
          <a:p>
            <a:fld id="{9F4FBC3A-A12C-40F9-BB8D-BC30C7901396}" type="slidenum">
              <a:rPr lang="en-US" smtClean="0"/>
              <a:pPr/>
              <a:t>87</a:t>
            </a:fld>
            <a:endParaRPr lang="en-US" dirty="0"/>
          </a:p>
        </p:txBody>
      </p:sp>
    </p:spTree>
    <p:extLst>
      <p:ext uri="{BB962C8B-B14F-4D97-AF65-F5344CB8AC3E}">
        <p14:creationId xmlns:p14="http://schemas.microsoft.com/office/powerpoint/2010/main" val="419379484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None/>
            </a:pPr>
            <a:r>
              <a:rPr lang="en-US" sz="1200" b="1" dirty="0"/>
              <a:t>Key Message:</a:t>
            </a:r>
          </a:p>
          <a:p>
            <a:r>
              <a:rPr lang="en-US" sz="1200" dirty="0"/>
              <a:t>VCF Operations Console now provides integrated network operations, giving a complete network view with real-time health monitoring, traffic analysis, and application insights.</a:t>
            </a:r>
          </a:p>
          <a:p>
            <a:endParaRPr lang="en-US" sz="1200" dirty="0"/>
          </a:p>
          <a:p>
            <a:pPr>
              <a:buNone/>
            </a:pPr>
            <a:r>
              <a:rPr lang="en-US" sz="1200" b="1" dirty="0"/>
              <a:t>Talk Track:</a:t>
            </a:r>
          </a:p>
          <a:p>
            <a:pPr>
              <a:buNone/>
            </a:pPr>
            <a:r>
              <a:rPr lang="en-US" sz="1200" dirty="0"/>
              <a:t>This slide shows how Integrated Network Operations enhances visibility across your VCF environment.</a:t>
            </a:r>
          </a:p>
          <a:p>
            <a:pPr>
              <a:buNone/>
            </a:pPr>
            <a:r>
              <a:rPr lang="en-US" sz="1200" dirty="0"/>
              <a:t>With the new capabilities, you get a complete overview of your network inventory, helping you monitor the health of your components in real time.</a:t>
            </a:r>
          </a:p>
          <a:p>
            <a:pPr>
              <a:buNone/>
            </a:pPr>
            <a:r>
              <a:rPr lang="en-US" sz="1200" dirty="0"/>
              <a:t>You also gain quick access to a traffic summary and flow analysis, making it easier to detect and troubleshoot issues.</a:t>
            </a:r>
          </a:p>
          <a:p>
            <a:pPr>
              <a:buNone/>
            </a:pPr>
            <a:r>
              <a:rPr lang="en-US" sz="1200" dirty="0"/>
              <a:t>Additionally, application insights allow you to understand how network health impacts workloads.</a:t>
            </a:r>
          </a:p>
          <a:p>
            <a:r>
              <a:rPr lang="en-US" sz="1200" dirty="0"/>
              <a:t>The dashboard centralizes all this information, providing a one-stop view that makes troubleshooting faster and network management more effective.”</a:t>
            </a:r>
          </a:p>
          <a:p>
            <a:endParaRPr lang="en-US" sz="1200" dirty="0"/>
          </a:p>
          <a:p>
            <a:pPr>
              <a:buNone/>
            </a:pPr>
            <a:r>
              <a:rPr lang="en-US" sz="1200" b="1" dirty="0"/>
              <a:t>Key Benefits:</a:t>
            </a:r>
            <a:endParaRPr lang="en-US" sz="1200" dirty="0"/>
          </a:p>
          <a:p>
            <a:pPr>
              <a:buFontTx/>
              <a:buNone/>
            </a:pPr>
            <a:r>
              <a:rPr lang="en-US" sz="1200" b="0" u="sng" dirty="0"/>
              <a:t>Comprehensive visibility: </a:t>
            </a:r>
            <a:r>
              <a:rPr lang="en-US" sz="1200" dirty="0"/>
              <a:t>Get a full view of the entire VCF network from a single dashboard.</a:t>
            </a:r>
          </a:p>
          <a:p>
            <a:pPr>
              <a:buFontTx/>
              <a:buNone/>
            </a:pPr>
            <a:r>
              <a:rPr lang="en-US" sz="1200" b="0" u="sng" dirty="0"/>
              <a:t>Proactive troubleshooting: </a:t>
            </a:r>
            <a:r>
              <a:rPr lang="en-US" sz="1200" dirty="0"/>
              <a:t>Quickly identify and resolve traffic and health issues with real-time flow insights.</a:t>
            </a:r>
          </a:p>
          <a:p>
            <a:pPr>
              <a:buFontTx/>
              <a:buNone/>
            </a:pPr>
            <a:r>
              <a:rPr lang="en-US" sz="1200" b="0" u="sng" dirty="0"/>
              <a:t>Operational efficiency: </a:t>
            </a:r>
            <a:r>
              <a:rPr lang="en-US" sz="1200" dirty="0"/>
              <a:t>Reduce the time needed to monitor, analyze, and maintain network health.</a:t>
            </a:r>
          </a:p>
          <a:p>
            <a:pPr>
              <a:buFontTx/>
              <a:buNone/>
            </a:pPr>
            <a:endParaRPr lang="en-US" sz="1200" dirty="0"/>
          </a:p>
          <a:p>
            <a:pPr>
              <a:buFontTx/>
              <a:buNone/>
            </a:pPr>
            <a:r>
              <a:rPr lang="en-US" sz="1200" b="1" dirty="0"/>
              <a:t>Notes:</a:t>
            </a:r>
            <a:br>
              <a:rPr lang="en-US" sz="1200" b="1" dirty="0"/>
            </a:br>
            <a:br>
              <a:rPr lang="en-US" sz="1200" b="1" dirty="0"/>
            </a:br>
            <a:r>
              <a:rPr lang="en-US" sz="1200" b="1" dirty="0"/>
              <a:t>Resources:</a:t>
            </a:r>
          </a:p>
          <a:p>
            <a:pPr>
              <a:buFontTx/>
              <a:buNone/>
            </a:pPr>
            <a:endParaRPr lang="en-US" sz="1200" b="1"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88</a:t>
            </a:fld>
            <a:endParaRPr lang="en-US" dirty="0"/>
          </a:p>
        </p:txBody>
      </p:sp>
    </p:spTree>
    <p:extLst>
      <p:ext uri="{BB962C8B-B14F-4D97-AF65-F5344CB8AC3E}">
        <p14:creationId xmlns:p14="http://schemas.microsoft.com/office/powerpoint/2010/main" val="391781736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b="1" dirty="0"/>
              <a:t>Key Message:</a:t>
            </a:r>
            <a:endParaRPr lang="en-US" dirty="0"/>
          </a:p>
          <a:p>
            <a:r>
              <a:rPr lang="en-US" dirty="0"/>
              <a:t>VMware Cloud Foundation Operations streamlines storage management by consolidating key insights into a unified view, enabling proactive optimization, efficient resource allocation, and minimized downtime.</a:t>
            </a:r>
          </a:p>
          <a:p>
            <a:endParaRPr lang="en-US" dirty="0"/>
          </a:p>
          <a:p>
            <a:r>
              <a:rPr lang="en-US" b="1" dirty="0"/>
              <a:t>Talk Track:</a:t>
            </a:r>
            <a:endParaRPr lang="en-US" dirty="0"/>
          </a:p>
          <a:p>
            <a:r>
              <a:rPr lang="en-US" dirty="0"/>
              <a:t>VMware Cloud Foundation Operations centralizes storage management, providing a unified view of your entire storage environment. With a centralized storage inventory, you gain complete visibility, simplify capacity planning, and ensure efficient resource allocation. This eliminates the need to navigate multiple tools, streamlining operations and saving time.</a:t>
            </a:r>
          </a:p>
          <a:p>
            <a:endParaRPr lang="en-US" dirty="0"/>
          </a:p>
          <a:p>
            <a:r>
              <a:rPr lang="en-US" dirty="0"/>
              <a:t>Understanding storage usage is crucial, and VCF Operations excels at utilization trend analysis. By tracking consumption patterns, you can proactively optimize resource allocation, prevent bottlenecks, ensure consistent performance, and avoid potential disruptions. Additionally, vSAN Cluster Health monitoring offers real-time insights, enabling you to quickly address issues and maintain optimal storage availability, minimizing downtime and maximizing uptime.</a:t>
            </a:r>
          </a:p>
          <a:p>
            <a:endParaRPr lang="en-US" dirty="0"/>
          </a:p>
          <a:p>
            <a:r>
              <a:rPr lang="en-US" dirty="0"/>
              <a:t>Storage Distribution insights reveal how storage is allocated across clusters and workloads. This detailed view empowers you to manage resources efficiently and troubleshoot issues, ensuring optimal performance and resource utilization. Finally, Alert Trends allows you to analyze storage-related alert trends, facilitating proactive issue resolution and minimizing potential downtime. By consolidating these storage insights, VCF Operations simplifies management, optimizes performance, and ensures the continuous availability of your critical data.</a:t>
            </a:r>
          </a:p>
          <a:p>
            <a:endParaRPr lang="en-US" sz="1200" dirty="0">
              <a:effectLst/>
              <a:latin typeface="Segoe UI" panose="020B0502040204020203" pitchFamily="34" charset="0"/>
              <a:ea typeface="Aptos" panose="020B0004020202020204" pitchFamily="34" charset="0"/>
            </a:endParaRPr>
          </a:p>
          <a:p>
            <a:r>
              <a:rPr lang="en-GB" sz="1200" dirty="0">
                <a:effectLst/>
                <a:latin typeface="Segoe UI" panose="020B0502040204020203" pitchFamily="34" charset="0"/>
                <a:ea typeface="Aptos" panose="020B0004020202020204" pitchFamily="34" charset="0"/>
              </a:rPr>
              <a:t>VCF Operations also provides a new </a:t>
            </a:r>
            <a:r>
              <a:rPr lang="en-GB" sz="1200" dirty="0" err="1">
                <a:effectLst/>
                <a:latin typeface="Segoe UI" panose="020B0502040204020203" pitchFamily="34" charset="0"/>
                <a:ea typeface="Aptos" panose="020B0004020202020204" pitchFamily="34" charset="0"/>
              </a:rPr>
              <a:t>vSAN</a:t>
            </a:r>
            <a:r>
              <a:rPr lang="en-GB" sz="1200" dirty="0">
                <a:effectLst/>
                <a:latin typeface="Segoe UI" panose="020B0502040204020203" pitchFamily="34" charset="0"/>
                <a:ea typeface="Aptos" panose="020B0004020202020204" pitchFamily="34" charset="0"/>
              </a:rPr>
              <a:t> Diagnostic check option, which enables users to run live diagnostics on </a:t>
            </a:r>
            <a:r>
              <a:rPr lang="en-GB" sz="1200" dirty="0" err="1">
                <a:effectLst/>
                <a:latin typeface="Segoe UI" panose="020B0502040204020203" pitchFamily="34" charset="0"/>
                <a:ea typeface="Aptos" panose="020B0004020202020204" pitchFamily="34" charset="0"/>
              </a:rPr>
              <a:t>vSAN</a:t>
            </a:r>
            <a:r>
              <a:rPr lang="en-GB" sz="1200" dirty="0">
                <a:effectLst/>
                <a:latin typeface="Segoe UI" panose="020B0502040204020203" pitchFamily="34" charset="0"/>
                <a:ea typeface="Aptos" panose="020B0004020202020204" pitchFamily="34" charset="0"/>
              </a:rPr>
              <a:t> clusters. Admins can now run diagnostics checks on clusters facing performance issues and Ops provides insights and recommendations to improve storage performance</a:t>
            </a:r>
          </a:p>
          <a:p>
            <a:endParaRPr lang="en-US" dirty="0"/>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Notes:</a:t>
            </a:r>
          </a:p>
          <a:p>
            <a:pPr marL="0" lvl="0" indent="0" algn="l" rtl="0">
              <a:spcBef>
                <a:spcPts val="0"/>
              </a:spcBef>
              <a:spcAft>
                <a:spcPts val="0"/>
              </a:spcAft>
              <a:buNone/>
            </a:pPr>
            <a:endParaRPr lang="en-US"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Resources:</a:t>
            </a:r>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89</a:t>
            </a:fld>
            <a:endParaRPr lang="en-US" dirty="0"/>
          </a:p>
        </p:txBody>
      </p:sp>
    </p:spTree>
    <p:extLst>
      <p:ext uri="{BB962C8B-B14F-4D97-AF65-F5344CB8AC3E}">
        <p14:creationId xmlns:p14="http://schemas.microsoft.com/office/powerpoint/2010/main" val="292953818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71"/>
        <p:cNvGrpSpPr/>
        <p:nvPr/>
      </p:nvGrpSpPr>
      <p:grpSpPr>
        <a:xfrm>
          <a:off x="0" y="0"/>
          <a:ext cx="0" cy="0"/>
          <a:chOff x="0" y="0"/>
          <a:chExt cx="0" cy="0"/>
        </a:xfrm>
      </p:grpSpPr>
      <p:sp>
        <p:nvSpPr>
          <p:cNvPr id="12372" name="Google Shape;12372;p9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73" name="Google Shape;12373;p9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chemeClr val="dk1"/>
              </a:buClr>
              <a:buSzPts val="1200"/>
              <a:buFont typeface="Arial"/>
              <a:buNone/>
            </a:pPr>
            <a:r>
              <a:rPr lang="en-US" sz="1200" b="1"/>
              <a:t>Key Message:</a:t>
            </a:r>
            <a:br>
              <a:rPr lang="en-US" sz="1200"/>
            </a:br>
            <a:r>
              <a:rPr lang="en-US" sz="1200"/>
              <a:t>Integrated Log Operations simplifies the collection, forwarding, and analysis of logs across all VCF components, accelerating troubleshooting while improving consistency and control.</a:t>
            </a:r>
            <a:endParaRPr/>
          </a:p>
          <a:p>
            <a:pPr marL="0" lvl="0" indent="0" algn="l" rtl="0">
              <a:lnSpc>
                <a:spcPct val="90000"/>
              </a:lnSpc>
              <a:spcBef>
                <a:spcPts val="0"/>
              </a:spcBef>
              <a:spcAft>
                <a:spcPts val="0"/>
              </a:spcAft>
              <a:buClr>
                <a:schemeClr val="dk1"/>
              </a:buClr>
              <a:buSzPts val="1200"/>
              <a:buFont typeface="Arial"/>
              <a:buNone/>
            </a:pPr>
            <a:br>
              <a:rPr lang="en-US" sz="1200"/>
            </a:br>
            <a:r>
              <a:rPr lang="en-US" sz="1200" b="1"/>
              <a:t>Talk Track:</a:t>
            </a:r>
            <a:br>
              <a:rPr lang="en-US" sz="1200"/>
            </a:br>
            <a:r>
              <a:rPr lang="en-US" sz="1200"/>
              <a:t>Log collection is now unified across all VCF components, making it easier to detect and resolve issues quickly.</a:t>
            </a:r>
            <a:br>
              <a:rPr lang="en-US" sz="1200"/>
            </a:br>
            <a:r>
              <a:rPr lang="en-US" sz="1200"/>
              <a:t>Admins can use a simplified workflow to configure log collection using common protocols like TCP, UDP, or SSL.</a:t>
            </a:r>
            <a:br>
              <a:rPr lang="en-US" sz="1200"/>
            </a:br>
            <a:r>
              <a:rPr lang="en-US" sz="1200"/>
              <a:t>You also gain granular control to start or stop log collection per component.</a:t>
            </a:r>
            <a:endParaRPr/>
          </a:p>
          <a:p>
            <a:pPr marL="0" lvl="0" indent="0" algn="l" rtl="0">
              <a:lnSpc>
                <a:spcPct val="90000"/>
              </a:lnSpc>
              <a:spcBef>
                <a:spcPts val="0"/>
              </a:spcBef>
              <a:spcAft>
                <a:spcPts val="0"/>
              </a:spcAft>
              <a:buClr>
                <a:schemeClr val="dk1"/>
              </a:buClr>
              <a:buSzPts val="1200"/>
              <a:buFont typeface="Arial"/>
              <a:buNone/>
            </a:pPr>
            <a:br>
              <a:rPr lang="en-US" sz="1200"/>
            </a:br>
            <a:r>
              <a:rPr lang="en-US" sz="1200"/>
              <a:t>Logs can be compared side by side, enabling streamlined analysis of issues across different time periods or services.</a:t>
            </a:r>
            <a:br>
              <a:rPr lang="en-US" sz="1200"/>
            </a:br>
            <a:r>
              <a:rPr lang="en-US" sz="1200"/>
              <a:t>Plus, log widgets and alerts are built into the VCF Operations framework, offering a consistent and centralized experience.</a:t>
            </a:r>
            <a:br>
              <a:rPr lang="en-US" sz="1200"/>
            </a:br>
            <a:r>
              <a:rPr lang="en-US" sz="1200"/>
              <a:t>All of this is powered by a unified cloud proxy that supports both metrics and logs, reducing complexity and improving reliability.”</a:t>
            </a:r>
            <a:br>
              <a:rPr lang="en-US" sz="1200"/>
            </a:br>
            <a:endParaRPr sz="1200"/>
          </a:p>
          <a:p>
            <a:pPr marL="0" lvl="0" indent="0" algn="l" rtl="0">
              <a:lnSpc>
                <a:spcPct val="90000"/>
              </a:lnSpc>
              <a:spcBef>
                <a:spcPts val="0"/>
              </a:spcBef>
              <a:spcAft>
                <a:spcPts val="0"/>
              </a:spcAft>
              <a:buClr>
                <a:schemeClr val="dk1"/>
              </a:buClr>
              <a:buSzPts val="1200"/>
              <a:buFont typeface="Arial"/>
              <a:buNone/>
            </a:pPr>
            <a:r>
              <a:rPr lang="en-US" sz="1200" b="1"/>
              <a:t>Key Benefits:</a:t>
            </a:r>
            <a:endParaRPr sz="1200"/>
          </a:p>
          <a:p>
            <a:pPr marL="0" lvl="0" indent="0" algn="l" rtl="0">
              <a:lnSpc>
                <a:spcPct val="90000"/>
              </a:lnSpc>
              <a:spcBef>
                <a:spcPts val="0"/>
              </a:spcBef>
              <a:spcAft>
                <a:spcPts val="0"/>
              </a:spcAft>
              <a:buClr>
                <a:schemeClr val="dk1"/>
              </a:buClr>
              <a:buSzPts val="1200"/>
              <a:buFont typeface="Arial"/>
              <a:buNone/>
            </a:pPr>
            <a:r>
              <a:rPr lang="en-US" sz="1200" b="0" u="sng"/>
              <a:t>Faster issue detection and resolution </a:t>
            </a:r>
            <a:r>
              <a:rPr lang="en-US" sz="1200"/>
              <a:t>with centralized log access.</a:t>
            </a:r>
            <a:endParaRPr/>
          </a:p>
          <a:p>
            <a:pPr marL="0" lvl="0" indent="0" algn="l" rtl="0">
              <a:lnSpc>
                <a:spcPct val="90000"/>
              </a:lnSpc>
              <a:spcBef>
                <a:spcPts val="0"/>
              </a:spcBef>
              <a:spcAft>
                <a:spcPts val="0"/>
              </a:spcAft>
              <a:buClr>
                <a:schemeClr val="dk1"/>
              </a:buClr>
              <a:buSzPts val="1200"/>
              <a:buFont typeface="Arial"/>
              <a:buNone/>
            </a:pPr>
            <a:r>
              <a:rPr lang="en-US" sz="1200" b="0" u="sng"/>
              <a:t>Improved efficiency </a:t>
            </a:r>
            <a:r>
              <a:rPr lang="en-US" sz="1200"/>
              <a:t>through a simplified and automated logging workflow.</a:t>
            </a:r>
            <a:endParaRPr/>
          </a:p>
          <a:p>
            <a:pPr marL="0" lvl="0" indent="0" algn="l" rtl="0">
              <a:lnSpc>
                <a:spcPct val="90000"/>
              </a:lnSpc>
              <a:spcBef>
                <a:spcPts val="0"/>
              </a:spcBef>
              <a:spcAft>
                <a:spcPts val="0"/>
              </a:spcAft>
              <a:buClr>
                <a:schemeClr val="dk1"/>
              </a:buClr>
              <a:buSzPts val="1200"/>
              <a:buFont typeface="Arial"/>
              <a:buNone/>
            </a:pPr>
            <a:r>
              <a:rPr lang="en-US" sz="1200" b="0" u="sng"/>
              <a:t>Reduced human error </a:t>
            </a:r>
            <a:r>
              <a:rPr lang="en-US" sz="1200"/>
              <a:t>via consistent log collection and configuration.</a:t>
            </a:r>
            <a:endParaRPr/>
          </a:p>
          <a:p>
            <a:pPr marL="0" lvl="0" indent="0" algn="l" rtl="0">
              <a:lnSpc>
                <a:spcPct val="90000"/>
              </a:lnSpc>
              <a:spcBef>
                <a:spcPts val="0"/>
              </a:spcBef>
              <a:spcAft>
                <a:spcPts val="0"/>
              </a:spcAft>
              <a:buClr>
                <a:schemeClr val="dk1"/>
              </a:buClr>
              <a:buSzPts val="1200"/>
              <a:buFont typeface="Arial"/>
              <a:buNone/>
            </a:pPr>
            <a:r>
              <a:rPr lang="en-US" sz="1200" b="0" u="sng"/>
              <a:t>Comprehensive control and flexibility </a:t>
            </a:r>
            <a:r>
              <a:rPr lang="en-US" sz="1200"/>
              <a:t>with protocol and component-specific log settings.</a:t>
            </a:r>
            <a:endParaRPr/>
          </a:p>
          <a:p>
            <a:pPr marL="0" lvl="0" indent="0" algn="l" rtl="0">
              <a:lnSpc>
                <a:spcPct val="90000"/>
              </a:lnSpc>
              <a:spcBef>
                <a:spcPts val="0"/>
              </a:spcBef>
              <a:spcAft>
                <a:spcPts val="0"/>
              </a:spcAft>
              <a:buClr>
                <a:schemeClr val="dk1"/>
              </a:buClr>
              <a:buSzPts val="1200"/>
              <a:buFont typeface="Arial"/>
              <a:buNone/>
            </a:pPr>
            <a:endParaRPr sz="1200" b="0" u="none"/>
          </a:p>
          <a:p>
            <a:pPr marL="0" lvl="0" indent="0" algn="l" rtl="0">
              <a:lnSpc>
                <a:spcPct val="90000"/>
              </a:lnSpc>
              <a:spcBef>
                <a:spcPts val="0"/>
              </a:spcBef>
              <a:spcAft>
                <a:spcPts val="0"/>
              </a:spcAft>
              <a:buClr>
                <a:schemeClr val="dk1"/>
              </a:buClr>
              <a:buSzPts val="1200"/>
              <a:buFont typeface="Arial"/>
              <a:buNone/>
            </a:pPr>
            <a:r>
              <a:rPr lang="en-US" sz="1200" b="1" u="none"/>
              <a:t>Notes:</a:t>
            </a:r>
            <a:br>
              <a:rPr lang="en-US" sz="1200" b="1" u="none"/>
            </a:br>
            <a:br>
              <a:rPr lang="en-US" sz="1200" b="1" u="none"/>
            </a:br>
            <a:r>
              <a:rPr lang="en-US" sz="1200" b="1" u="none"/>
              <a:t>Resources:</a:t>
            </a:r>
            <a:endParaRPr/>
          </a:p>
          <a:p>
            <a:pPr marL="0" lvl="0" indent="0" algn="l" rtl="0">
              <a:lnSpc>
                <a:spcPct val="90000"/>
              </a:lnSpc>
              <a:spcBef>
                <a:spcPts val="0"/>
              </a:spcBef>
              <a:spcAft>
                <a:spcPts val="0"/>
              </a:spcAft>
              <a:buClr>
                <a:schemeClr val="dk1"/>
              </a:buClr>
              <a:buSzPts val="1000"/>
              <a:buFont typeface="Arial"/>
              <a:buNone/>
            </a:pPr>
            <a:endParaRPr sz="1000" b="0" u="none"/>
          </a:p>
          <a:p>
            <a:pPr marL="0" lvl="0" indent="0" algn="l" rtl="0">
              <a:lnSpc>
                <a:spcPct val="90000"/>
              </a:lnSpc>
              <a:spcBef>
                <a:spcPts val="0"/>
              </a:spcBef>
              <a:spcAft>
                <a:spcPts val="0"/>
              </a:spcAft>
              <a:buNone/>
            </a:pPr>
            <a:endParaRPr/>
          </a:p>
          <a:p>
            <a:pPr marL="0" lvl="0" indent="0" algn="l" rtl="0">
              <a:lnSpc>
                <a:spcPct val="90000"/>
              </a:lnSpc>
              <a:spcBef>
                <a:spcPts val="0"/>
              </a:spcBef>
              <a:spcAft>
                <a:spcPts val="0"/>
              </a:spcAft>
              <a:buNone/>
            </a:pPr>
            <a:endParaRPr/>
          </a:p>
        </p:txBody>
      </p:sp>
      <p:sp>
        <p:nvSpPr>
          <p:cNvPr id="12374" name="Google Shape;12374;p9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b="0" i="0" u="none" strike="noStrike" kern="0" cap="none" spc="0" normalizeH="0" baseline="0" noProof="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90</a:t>
            </a:fld>
            <a:endParaRPr kumimoji="0" sz="1200" b="0" i="0" u="none" strike="noStrike" kern="0" cap="none" spc="0" normalizeH="0" baseline="0" noProof="0">
              <a:ln>
                <a:noFill/>
              </a:ln>
              <a:solidFill>
                <a:srgbClr val="717074"/>
              </a:solidFill>
              <a:effectLst/>
              <a:uLnTx/>
              <a:uFillTx/>
              <a:latin typeface="Arial"/>
              <a:ea typeface="Arial"/>
              <a:cs typeface="Arial"/>
              <a:sym typeface="Arial"/>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83"/>
        <p:cNvGrpSpPr/>
        <p:nvPr/>
      </p:nvGrpSpPr>
      <p:grpSpPr>
        <a:xfrm>
          <a:off x="0" y="0"/>
          <a:ext cx="0" cy="0"/>
          <a:chOff x="0" y="0"/>
          <a:chExt cx="0" cy="0"/>
        </a:xfrm>
      </p:grpSpPr>
      <p:sp>
        <p:nvSpPr>
          <p:cNvPr id="12384" name="Google Shape;12384;p9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85" name="Google Shape;12385;p92: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None/>
            </a:pPr>
            <a:r>
              <a:rPr lang="en-US" b="1" i="0" dirty="0">
                <a:solidFill>
                  <a:srgbClr val="21333B"/>
                </a:solidFill>
                <a:latin typeface="Arial"/>
                <a:ea typeface="Arial"/>
                <a:cs typeface="Arial"/>
                <a:sym typeface="Arial"/>
              </a:rPr>
              <a:t>Key Message:</a:t>
            </a:r>
            <a:endParaRPr dirty="0"/>
          </a:p>
          <a:p>
            <a:pPr marL="0" lvl="0" indent="0" algn="l" rtl="0">
              <a:lnSpc>
                <a:spcPct val="90000"/>
              </a:lnSpc>
              <a:spcBef>
                <a:spcPts val="0"/>
              </a:spcBef>
              <a:spcAft>
                <a:spcPts val="0"/>
              </a:spcAft>
              <a:buNone/>
            </a:pPr>
            <a:r>
              <a:rPr lang="en-US" dirty="0"/>
              <a:t>VCF’s Diagnostic Findings and VCF Health provides a </a:t>
            </a:r>
            <a:r>
              <a:rPr lang="en-US" sz="1200" dirty="0">
                <a:latin typeface="Calibri"/>
                <a:ea typeface="Calibri"/>
                <a:cs typeface="Calibri"/>
                <a:sym typeface="Calibri"/>
              </a:rPr>
              <a:t>single-pane-of-glass to correlate issues across your infrastructure.</a:t>
            </a:r>
            <a:endParaRPr dirty="0"/>
          </a:p>
          <a:p>
            <a:pPr marL="0" lvl="0" indent="0" algn="l" rtl="0">
              <a:lnSpc>
                <a:spcPct val="90000"/>
              </a:lnSpc>
              <a:spcBef>
                <a:spcPts val="0"/>
              </a:spcBef>
              <a:spcAft>
                <a:spcPts val="0"/>
              </a:spcAft>
              <a:buNone/>
            </a:pPr>
            <a:endParaRPr b="1" i="0" dirty="0">
              <a:solidFill>
                <a:srgbClr val="21333B"/>
              </a:solidFill>
              <a:latin typeface="Arial"/>
              <a:ea typeface="Arial"/>
              <a:cs typeface="Arial"/>
              <a:sym typeface="Arial"/>
            </a:endParaRPr>
          </a:p>
          <a:p>
            <a:pPr marL="0" lvl="0" indent="0" algn="l" rtl="0">
              <a:lnSpc>
                <a:spcPct val="90000"/>
              </a:lnSpc>
              <a:spcBef>
                <a:spcPts val="0"/>
              </a:spcBef>
              <a:spcAft>
                <a:spcPts val="0"/>
              </a:spcAft>
              <a:buNone/>
            </a:pPr>
            <a:r>
              <a:rPr lang="en-US" b="1" i="0" dirty="0">
                <a:solidFill>
                  <a:srgbClr val="21333B"/>
                </a:solidFill>
                <a:latin typeface="Arial"/>
                <a:ea typeface="Arial"/>
                <a:cs typeface="Arial"/>
                <a:sym typeface="Arial"/>
              </a:rPr>
              <a:t>Talk Track:</a:t>
            </a:r>
            <a:endParaRPr dirty="0"/>
          </a:p>
          <a:p>
            <a:pPr marL="0" lvl="0" indent="0" algn="l" rtl="0">
              <a:lnSpc>
                <a:spcPct val="90000"/>
              </a:lnSpc>
              <a:spcBef>
                <a:spcPts val="0"/>
              </a:spcBef>
              <a:spcAft>
                <a:spcPts val="0"/>
              </a:spcAft>
              <a:buNone/>
            </a:pPr>
            <a:r>
              <a:rPr lang="en-US" dirty="0"/>
              <a:t>VCF’s Diagnostic Findings and VCF Health provides a </a:t>
            </a:r>
            <a:r>
              <a:rPr lang="en-US" sz="1200" dirty="0">
                <a:latin typeface="Calibri"/>
                <a:ea typeface="Calibri"/>
                <a:cs typeface="Calibri"/>
                <a:sym typeface="Calibri"/>
              </a:rPr>
              <a:t>single-pane-of-glass to correlate issues across your infrastructure. </a:t>
            </a:r>
            <a:br>
              <a:rPr lang="en-US" dirty="0"/>
            </a:br>
            <a:endParaRPr b="0" i="0" dirty="0">
              <a:solidFill>
                <a:srgbClr val="21333B"/>
              </a:solidFill>
              <a:latin typeface="Arial"/>
              <a:ea typeface="Arial"/>
              <a:cs typeface="Arial"/>
              <a:sym typeface="Arial"/>
            </a:endParaRPr>
          </a:p>
          <a:p>
            <a:pPr marL="0" lvl="0" indent="0" algn="l" rtl="0">
              <a:lnSpc>
                <a:spcPct val="90000"/>
              </a:lnSpc>
              <a:spcBef>
                <a:spcPts val="0"/>
              </a:spcBef>
              <a:spcAft>
                <a:spcPts val="0"/>
              </a:spcAft>
              <a:buNone/>
            </a:pPr>
            <a:r>
              <a:rPr lang="en-US" sz="1200" dirty="0">
                <a:latin typeface="Calibri"/>
                <a:ea typeface="Calibri"/>
                <a:cs typeface="Calibri"/>
                <a:sym typeface="Calibri"/>
              </a:rPr>
              <a:t>With these tools, you can m</a:t>
            </a:r>
            <a:r>
              <a:rPr lang="en-US" b="0" i="0" dirty="0">
                <a:solidFill>
                  <a:srgbClr val="F1F6F8"/>
                </a:solidFill>
                <a:latin typeface="Arial"/>
                <a:ea typeface="Arial"/>
                <a:cs typeface="Arial"/>
                <a:sym typeface="Arial"/>
              </a:rPr>
              <a:t>onitor the operational state of critical components, such as VCF Instances, ESX hosts, vCenters, vSAN Clusters, and NSX Instances, to ensure everything is functioning correctly, ranging from issues related to </a:t>
            </a:r>
            <a:r>
              <a:rPr lang="en-US" b="0" i="0" dirty="0" err="1">
                <a:solidFill>
                  <a:srgbClr val="F1F6F8"/>
                </a:solidFill>
                <a:latin typeface="Arial"/>
                <a:ea typeface="Arial"/>
                <a:cs typeface="Arial"/>
                <a:sym typeface="Arial"/>
              </a:rPr>
              <a:t>vMotion</a:t>
            </a:r>
            <a:r>
              <a:rPr lang="en-US" b="0" i="0" dirty="0">
                <a:solidFill>
                  <a:srgbClr val="F1F6F8"/>
                </a:solidFill>
                <a:latin typeface="Arial"/>
                <a:ea typeface="Arial"/>
                <a:cs typeface="Arial"/>
                <a:sym typeface="Arial"/>
              </a:rPr>
              <a:t>, Snapshots, NTP, DNS… the list goes on and on. </a:t>
            </a:r>
            <a:endParaRPr dirty="0"/>
          </a:p>
          <a:p>
            <a:pPr marL="0" lvl="0" indent="0" algn="l" rtl="0">
              <a:lnSpc>
                <a:spcPct val="90000"/>
              </a:lnSpc>
              <a:spcBef>
                <a:spcPts val="0"/>
              </a:spcBef>
              <a:spcAft>
                <a:spcPts val="0"/>
              </a:spcAft>
              <a:buNone/>
            </a:pPr>
            <a:endParaRPr b="0" i="0" dirty="0">
              <a:solidFill>
                <a:srgbClr val="F1F6F8"/>
              </a:solidFill>
              <a:latin typeface="Arial"/>
              <a:ea typeface="Arial"/>
              <a:cs typeface="Arial"/>
              <a:sym typeface="Arial"/>
            </a:endParaRPr>
          </a:p>
          <a:p>
            <a:pPr marL="0" lvl="0" indent="0" algn="l" rtl="0">
              <a:lnSpc>
                <a:spcPct val="90000"/>
              </a:lnSpc>
              <a:spcBef>
                <a:spcPts val="0"/>
              </a:spcBef>
              <a:spcAft>
                <a:spcPts val="0"/>
              </a:spcAft>
              <a:buNone/>
            </a:pPr>
            <a:r>
              <a:rPr lang="en-US" b="0" i="0" dirty="0">
                <a:solidFill>
                  <a:srgbClr val="F1F6F8"/>
                </a:solidFill>
                <a:latin typeface="Arial"/>
                <a:ea typeface="Arial"/>
                <a:cs typeface="Arial"/>
                <a:sym typeface="Arial"/>
              </a:rPr>
              <a:t>And if an issue, such as a Security Advisory Finding that requires immediate attention is identified, you can see impacted objects and get recommendations on how to remediate the issue yourself. </a:t>
            </a:r>
            <a:endParaRPr dirty="0"/>
          </a:p>
          <a:p>
            <a:pPr marL="0" lvl="0" indent="0" algn="l" rtl="0">
              <a:lnSpc>
                <a:spcPct val="90000"/>
              </a:lnSpc>
              <a:spcBef>
                <a:spcPts val="0"/>
              </a:spcBef>
              <a:spcAft>
                <a:spcPts val="0"/>
              </a:spcAft>
              <a:buNone/>
            </a:pPr>
            <a:endParaRPr b="0" i="0" dirty="0">
              <a:solidFill>
                <a:srgbClr val="F1F6F8"/>
              </a:solidFill>
              <a:latin typeface="Arial"/>
              <a:ea typeface="Arial"/>
              <a:cs typeface="Arial"/>
              <a:sym typeface="Arial"/>
            </a:endParaRPr>
          </a:p>
          <a:p>
            <a:pPr marL="0" lvl="0" indent="0" algn="l" rtl="0">
              <a:lnSpc>
                <a:spcPct val="90000"/>
              </a:lnSpc>
              <a:spcBef>
                <a:spcPts val="0"/>
              </a:spcBef>
              <a:spcAft>
                <a:spcPts val="0"/>
              </a:spcAft>
              <a:buNone/>
            </a:pPr>
            <a:r>
              <a:rPr lang="en-US" b="0" i="0" dirty="0">
                <a:solidFill>
                  <a:srgbClr val="F1F6F8"/>
                </a:solidFill>
                <a:latin typeface="Arial"/>
                <a:ea typeface="Arial"/>
                <a:cs typeface="Arial"/>
                <a:sym typeface="Arial"/>
              </a:rPr>
              <a:t>And, in addition to self-service remediation, you can even send Log Bundles to our support team, via VCF’s Log Assist tool, to speed discovery and drive faster resolution for issues that you can’t resolve on your own. </a:t>
            </a:r>
            <a:endParaRPr b="0" i="0" dirty="0">
              <a:solidFill>
                <a:srgbClr val="21333B"/>
              </a:solidFill>
              <a:latin typeface="Arial"/>
              <a:ea typeface="Arial"/>
              <a:cs typeface="Arial"/>
              <a:sym typeface="Arial"/>
            </a:endParaRPr>
          </a:p>
          <a:p>
            <a:pPr marL="0" lvl="0" indent="0" algn="l" rtl="0">
              <a:lnSpc>
                <a:spcPct val="90000"/>
              </a:lnSpc>
              <a:spcBef>
                <a:spcPts val="0"/>
              </a:spcBef>
              <a:spcAft>
                <a:spcPts val="0"/>
              </a:spcAft>
              <a:buNone/>
            </a:pPr>
            <a:endParaRPr b="0" i="0" dirty="0">
              <a:solidFill>
                <a:srgbClr val="21333B"/>
              </a:solidFill>
              <a:latin typeface="Arial"/>
              <a:ea typeface="Arial"/>
              <a:cs typeface="Arial"/>
              <a:sym typeface="Arial"/>
            </a:endParaRPr>
          </a:p>
          <a:p>
            <a:pPr marL="0" lvl="0" indent="0" algn="l" rtl="0">
              <a:lnSpc>
                <a:spcPct val="90000"/>
              </a:lnSpc>
              <a:spcBef>
                <a:spcPts val="0"/>
              </a:spcBef>
              <a:spcAft>
                <a:spcPts val="0"/>
              </a:spcAft>
              <a:buNone/>
            </a:pPr>
            <a:r>
              <a:rPr lang="en-US" b="0" i="0" dirty="0">
                <a:solidFill>
                  <a:srgbClr val="21333B"/>
                </a:solidFill>
                <a:latin typeface="Arial"/>
                <a:ea typeface="Arial"/>
                <a:cs typeface="Arial"/>
                <a:sym typeface="Arial"/>
              </a:rPr>
              <a:t>All in All, VCF Diagnostics and Health helps you to: </a:t>
            </a:r>
            <a:endParaRPr dirty="0"/>
          </a:p>
          <a:p>
            <a:pPr marL="0" lvl="0" indent="0" algn="l" rtl="0">
              <a:lnSpc>
                <a:spcPct val="90000"/>
              </a:lnSpc>
              <a:spcBef>
                <a:spcPts val="0"/>
              </a:spcBef>
              <a:spcAft>
                <a:spcPts val="0"/>
              </a:spcAft>
              <a:buNone/>
            </a:pPr>
            <a:r>
              <a:rPr lang="en-US" dirty="0"/>
              <a:t>- Increase visibility &amp; speeds discovery</a:t>
            </a:r>
            <a:endParaRPr dirty="0"/>
          </a:p>
          <a:p>
            <a:pPr marL="0" lvl="0" indent="0" algn="l" rtl="0">
              <a:lnSpc>
                <a:spcPct val="90000"/>
              </a:lnSpc>
              <a:spcBef>
                <a:spcPts val="0"/>
              </a:spcBef>
              <a:spcAft>
                <a:spcPts val="0"/>
              </a:spcAft>
              <a:buNone/>
            </a:pPr>
            <a:r>
              <a:rPr lang="en-US" dirty="0"/>
              <a:t>- Drive faster resolution</a:t>
            </a:r>
            <a:endParaRPr dirty="0"/>
          </a:p>
          <a:p>
            <a:pPr marL="0" lvl="0" indent="0" algn="l" rtl="0">
              <a:lnSpc>
                <a:spcPct val="90000"/>
              </a:lnSpc>
              <a:spcBef>
                <a:spcPts val="0"/>
              </a:spcBef>
              <a:spcAft>
                <a:spcPts val="0"/>
              </a:spcAft>
              <a:buNone/>
            </a:pPr>
            <a:r>
              <a:rPr lang="en-US" dirty="0"/>
              <a:t>- Improve environment stability and resiliency. </a:t>
            </a:r>
            <a:endParaRPr dirty="0"/>
          </a:p>
          <a:p>
            <a:pPr marL="0" lvl="0" indent="0" algn="l" rtl="0">
              <a:lnSpc>
                <a:spcPct val="90000"/>
              </a:lnSpc>
              <a:spcBef>
                <a:spcPts val="0"/>
              </a:spcBef>
              <a:spcAft>
                <a:spcPts val="0"/>
              </a:spcAft>
              <a:buNone/>
            </a:pPr>
            <a:endParaRPr dirty="0"/>
          </a:p>
          <a:p>
            <a:pPr marL="0" lvl="0" indent="0" algn="l" rtl="0">
              <a:lnSpc>
                <a:spcPct val="90000"/>
              </a:lnSpc>
              <a:spcBef>
                <a:spcPts val="0"/>
              </a:spcBef>
              <a:spcAft>
                <a:spcPts val="0"/>
              </a:spcAft>
              <a:buNone/>
            </a:pPr>
            <a:r>
              <a:rPr lang="en-US" b="1" dirty="0"/>
              <a:t>Notes</a:t>
            </a:r>
            <a:br>
              <a:rPr lang="en-US" b="1" dirty="0"/>
            </a:br>
            <a:br>
              <a:rPr lang="en-US" b="1" dirty="0"/>
            </a:br>
            <a:r>
              <a:rPr lang="en-US" b="1" dirty="0"/>
              <a:t>Resources:</a:t>
            </a:r>
            <a:endParaRPr dirty="0"/>
          </a:p>
          <a:p>
            <a:pPr marL="0" lvl="0" indent="0" algn="l" rtl="0">
              <a:lnSpc>
                <a:spcPct val="90000"/>
              </a:lnSpc>
              <a:spcBef>
                <a:spcPts val="0"/>
              </a:spcBef>
              <a:spcAft>
                <a:spcPts val="0"/>
              </a:spcAft>
              <a:buNone/>
            </a:pPr>
            <a:endParaRPr dirty="0"/>
          </a:p>
          <a:p>
            <a:pPr marL="0" lvl="0" indent="0" algn="l" rtl="0">
              <a:lnSpc>
                <a:spcPct val="90000"/>
              </a:lnSpc>
              <a:spcBef>
                <a:spcPts val="0"/>
              </a:spcBef>
              <a:spcAft>
                <a:spcPts val="0"/>
              </a:spcAft>
              <a:buNone/>
            </a:pPr>
            <a:endParaRPr dirty="0"/>
          </a:p>
          <a:p>
            <a:pPr marL="0" lvl="0" indent="0" algn="l" rtl="0">
              <a:lnSpc>
                <a:spcPct val="90000"/>
              </a:lnSpc>
              <a:spcBef>
                <a:spcPts val="0"/>
              </a:spcBef>
              <a:spcAft>
                <a:spcPts val="0"/>
              </a:spcAft>
              <a:buNone/>
            </a:pPr>
            <a:endParaRPr dirty="0"/>
          </a:p>
          <a:p>
            <a:pPr marL="0" lvl="0" indent="0" algn="l" rtl="0">
              <a:lnSpc>
                <a:spcPct val="90000"/>
              </a:lnSpc>
              <a:spcBef>
                <a:spcPts val="0"/>
              </a:spcBef>
              <a:spcAft>
                <a:spcPts val="0"/>
              </a:spcAft>
              <a:buNone/>
            </a:pPr>
            <a:endParaRPr dirty="0"/>
          </a:p>
        </p:txBody>
      </p:sp>
      <p:sp>
        <p:nvSpPr>
          <p:cNvPr id="12386" name="Google Shape;12386;p9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b="0" i="0" u="none" strike="noStrike" kern="0" cap="none" spc="0" normalizeH="0" baseline="0" noProof="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91</a:t>
            </a:fld>
            <a:endParaRPr kumimoji="0" sz="1200" b="0" i="0" u="none" strike="noStrike" kern="0" cap="none" spc="0" normalizeH="0" baseline="0" noProof="0">
              <a:ln>
                <a:noFill/>
              </a:ln>
              <a:solidFill>
                <a:srgbClr val="717074"/>
              </a:solidFill>
              <a:effectLst/>
              <a:uLnTx/>
              <a:uFillTx/>
              <a:latin typeface="Arial"/>
              <a:ea typeface="Arial"/>
              <a:cs typeface="Arial"/>
              <a:sym typeface="Arial"/>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95"/>
        <p:cNvGrpSpPr/>
        <p:nvPr/>
      </p:nvGrpSpPr>
      <p:grpSpPr>
        <a:xfrm>
          <a:off x="0" y="0"/>
          <a:ext cx="0" cy="0"/>
          <a:chOff x="0" y="0"/>
          <a:chExt cx="0" cy="0"/>
        </a:xfrm>
      </p:grpSpPr>
      <p:sp>
        <p:nvSpPr>
          <p:cNvPr id="12396" name="Google Shape;12396;p9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97" name="Google Shape;12397;p9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12700" lvl="0" indent="0" algn="l" rtl="0">
              <a:lnSpc>
                <a:spcPct val="50000"/>
              </a:lnSpc>
              <a:spcBef>
                <a:spcPts val="0"/>
              </a:spcBef>
              <a:spcAft>
                <a:spcPts val="0"/>
              </a:spcAft>
              <a:buClr>
                <a:schemeClr val="dk1"/>
              </a:buClr>
              <a:buSzPts val="1200"/>
              <a:buFont typeface="Arial"/>
              <a:buNone/>
            </a:pPr>
            <a:r>
              <a:rPr lang="en-US" sz="1110" b="1" i="0" u="none" strike="noStrike" dirty="0"/>
              <a:t>Key Message:</a:t>
            </a:r>
            <a:endParaRPr sz="1110" dirty="0"/>
          </a:p>
          <a:p>
            <a:pPr marL="19050" lvl="0" indent="0" algn="l" rtl="0">
              <a:lnSpc>
                <a:spcPct val="50000"/>
              </a:lnSpc>
              <a:spcBef>
                <a:spcPts val="0"/>
              </a:spcBef>
              <a:spcAft>
                <a:spcPts val="0"/>
              </a:spcAft>
              <a:buClr>
                <a:schemeClr val="dk1"/>
              </a:buClr>
              <a:buSzPts val="1100"/>
              <a:buFont typeface="Arial"/>
              <a:buNone/>
            </a:pPr>
            <a:r>
              <a:rPr lang="en-US" sz="1110" b="0" i="0" u="none" strike="noStrike" dirty="0">
                <a:latin typeface="Arial"/>
                <a:ea typeface="Arial"/>
                <a:cs typeface="Arial"/>
                <a:sym typeface="Arial"/>
              </a:rPr>
              <a:t>Continuous Performance monitoring is all about </a:t>
            </a:r>
            <a:r>
              <a:rPr lang="en-US" sz="1110" b="0" i="0" u="none" strike="noStrike" cap="none" dirty="0">
                <a:latin typeface="Arial"/>
                <a:ea typeface="Arial"/>
                <a:cs typeface="Arial"/>
                <a:sym typeface="Arial"/>
              </a:rPr>
              <a:t>ensuring your VCF objects have access to the resources they need to run properly across their lifecycle.​ </a:t>
            </a:r>
            <a:endParaRPr sz="1110" b="0" i="0" u="none" strike="noStrike" cap="none" dirty="0">
              <a:latin typeface="Arial"/>
              <a:ea typeface="Arial"/>
              <a:cs typeface="Arial"/>
              <a:sym typeface="Arial"/>
            </a:endParaRPr>
          </a:p>
          <a:p>
            <a:pPr marL="19050" lvl="0" indent="0" algn="l" rtl="0">
              <a:lnSpc>
                <a:spcPct val="50000"/>
              </a:lnSpc>
              <a:spcBef>
                <a:spcPts val="0"/>
              </a:spcBef>
              <a:spcAft>
                <a:spcPts val="0"/>
              </a:spcAft>
              <a:buClr>
                <a:schemeClr val="dk1"/>
              </a:buClr>
              <a:buSzPts val="1100"/>
              <a:buFont typeface="Arial"/>
              <a:buNone/>
            </a:pPr>
            <a:r>
              <a:rPr lang="en-US" sz="1110" b="0" i="0" u="none" strike="noStrike" cap="none" dirty="0">
                <a:latin typeface="Arial"/>
                <a:ea typeface="Arial"/>
                <a:cs typeface="Arial"/>
                <a:sym typeface="Arial"/>
              </a:rPr>
              <a:t>Ensure critical applications are running properly by monitoring their performance, availability and end-user experience.​</a:t>
            </a:r>
            <a:endParaRPr sz="1110" dirty="0"/>
          </a:p>
          <a:p>
            <a:pPr marL="12700" lvl="0" indent="0" algn="l" rtl="0">
              <a:lnSpc>
                <a:spcPct val="50000"/>
              </a:lnSpc>
              <a:spcBef>
                <a:spcPts val="0"/>
              </a:spcBef>
              <a:spcAft>
                <a:spcPts val="0"/>
              </a:spcAft>
              <a:buClr>
                <a:schemeClr val="dk1"/>
              </a:buClr>
              <a:buSzPts val="1200"/>
              <a:buFont typeface="Arial"/>
              <a:buNone/>
            </a:pPr>
            <a:endParaRPr sz="1110" b="1" i="0" u="none" strike="noStrike" dirty="0"/>
          </a:p>
          <a:p>
            <a:pPr marL="12700" lvl="0" indent="0" algn="l" rtl="0">
              <a:lnSpc>
                <a:spcPct val="50000"/>
              </a:lnSpc>
              <a:spcBef>
                <a:spcPts val="0"/>
              </a:spcBef>
              <a:spcAft>
                <a:spcPts val="0"/>
              </a:spcAft>
              <a:buClr>
                <a:schemeClr val="dk1"/>
              </a:buClr>
              <a:buSzPts val="1200"/>
              <a:buFont typeface="Arial"/>
              <a:buNone/>
            </a:pPr>
            <a:r>
              <a:rPr lang="en-US" sz="1110" b="1" i="0" u="none" strike="noStrike" dirty="0"/>
              <a:t>Talk Track:</a:t>
            </a:r>
            <a:endParaRPr sz="1110" dirty="0"/>
          </a:p>
          <a:p>
            <a:pPr marL="44450" marR="0" lvl="0" indent="0" algn="l" rtl="0">
              <a:lnSpc>
                <a:spcPct val="70000"/>
              </a:lnSpc>
              <a:spcBef>
                <a:spcPts val="0"/>
              </a:spcBef>
              <a:spcAft>
                <a:spcPts val="0"/>
              </a:spcAft>
              <a:buClr>
                <a:schemeClr val="dk1"/>
              </a:buClr>
              <a:buSzPts val="1100"/>
              <a:buFont typeface="Arial"/>
              <a:buNone/>
            </a:pPr>
            <a:r>
              <a:rPr lang="en-US" sz="1110" b="0" i="0" u="none" strike="noStrike" dirty="0">
                <a:latin typeface="Arial"/>
                <a:ea typeface="Arial"/>
                <a:cs typeface="Arial"/>
                <a:sym typeface="Arial"/>
              </a:rPr>
              <a:t>The purpose of </a:t>
            </a:r>
            <a:r>
              <a:rPr lang="en-US" sz="1110" b="0" i="0" u="none" strike="noStrike" cap="none" dirty="0">
                <a:latin typeface="Arial"/>
                <a:ea typeface="Arial"/>
                <a:cs typeface="Arial"/>
                <a:sym typeface="Arial"/>
              </a:rPr>
              <a:t>infrastructure is to serve the needs of your applications (native or containerized) which in turn serve the needs of your business.​</a:t>
            </a:r>
            <a:endParaRPr sz="1110" dirty="0"/>
          </a:p>
          <a:p>
            <a:pPr marL="44450" marR="0" lvl="0" indent="0" algn="l" rtl="0">
              <a:lnSpc>
                <a:spcPct val="70000"/>
              </a:lnSpc>
              <a:spcBef>
                <a:spcPts val="0"/>
              </a:spcBef>
              <a:spcAft>
                <a:spcPts val="0"/>
              </a:spcAft>
              <a:buClr>
                <a:schemeClr val="dk1"/>
              </a:buClr>
              <a:buSzPts val="1100"/>
              <a:buFont typeface="Arial"/>
              <a:buNone/>
            </a:pPr>
            <a:r>
              <a:rPr lang="en-US" sz="1110" b="0" i="0" u="none" strike="noStrike" cap="none" dirty="0">
                <a:latin typeface="Arial"/>
                <a:ea typeface="Arial"/>
                <a:cs typeface="Arial"/>
                <a:sym typeface="Arial"/>
              </a:rPr>
              <a:t>Hence, understanding and ensuring the health and performance of your applications running on VCF – not just the infrastructure on which they run – is critical.​</a:t>
            </a:r>
            <a:endParaRPr dirty="0"/>
          </a:p>
          <a:p>
            <a:pPr marL="44450" marR="0" lvl="0" indent="0" algn="l" rtl="0">
              <a:lnSpc>
                <a:spcPct val="70000"/>
              </a:lnSpc>
              <a:spcBef>
                <a:spcPts val="0"/>
              </a:spcBef>
              <a:spcAft>
                <a:spcPts val="0"/>
              </a:spcAft>
              <a:buClr>
                <a:schemeClr val="dk1"/>
              </a:buClr>
              <a:buSzPts val="1100"/>
              <a:buFont typeface="Arial"/>
              <a:buNone/>
            </a:pPr>
            <a:endParaRPr sz="1110" dirty="0"/>
          </a:p>
          <a:p>
            <a:pPr marL="44450" marR="0" lvl="0" indent="0" algn="l" rtl="0">
              <a:lnSpc>
                <a:spcPct val="70000"/>
              </a:lnSpc>
              <a:spcBef>
                <a:spcPts val="0"/>
              </a:spcBef>
              <a:spcAft>
                <a:spcPts val="0"/>
              </a:spcAft>
              <a:buClr>
                <a:schemeClr val="dk1"/>
              </a:buClr>
              <a:buSzPts val="1100"/>
              <a:buFont typeface="Arial"/>
              <a:buNone/>
            </a:pPr>
            <a:r>
              <a:rPr lang="en-US" sz="1110" b="0" i="0" u="none" strike="noStrike" cap="none" dirty="0">
                <a:latin typeface="Arial"/>
                <a:ea typeface="Arial"/>
                <a:cs typeface="Arial"/>
                <a:sym typeface="Arial"/>
              </a:rPr>
              <a:t>VCF Operations monitors popular and mission-critical application services like Java application, PostgreSQL, Nginx, etc.​</a:t>
            </a:r>
            <a:endParaRPr dirty="0"/>
          </a:p>
          <a:p>
            <a:pPr marL="44450" marR="0" lvl="0" indent="0" algn="l" rtl="0">
              <a:lnSpc>
                <a:spcPct val="70000"/>
              </a:lnSpc>
              <a:spcBef>
                <a:spcPts val="0"/>
              </a:spcBef>
              <a:spcAft>
                <a:spcPts val="0"/>
              </a:spcAft>
              <a:buClr>
                <a:schemeClr val="dk1"/>
              </a:buClr>
              <a:buSzPts val="1100"/>
              <a:buFont typeface="Arial"/>
              <a:buNone/>
            </a:pPr>
            <a:endParaRPr sz="1110" dirty="0"/>
          </a:p>
          <a:p>
            <a:pPr marL="44450" marR="0" lvl="0" indent="0" algn="l" rtl="0">
              <a:lnSpc>
                <a:spcPct val="70000"/>
              </a:lnSpc>
              <a:spcBef>
                <a:spcPts val="0"/>
              </a:spcBef>
              <a:spcAft>
                <a:spcPts val="0"/>
              </a:spcAft>
              <a:buClr>
                <a:schemeClr val="dk1"/>
              </a:buClr>
              <a:buSzPts val="1100"/>
              <a:buFont typeface="Arial"/>
              <a:buNone/>
            </a:pPr>
            <a:r>
              <a:rPr lang="en-US" sz="1110" b="0" i="0" u="none" strike="noStrike" cap="none" dirty="0">
                <a:latin typeface="Arial"/>
                <a:ea typeface="Arial"/>
                <a:cs typeface="Arial"/>
                <a:sym typeface="Arial"/>
              </a:rPr>
              <a:t>The first step for understanding infrastructure is to use application discovery which uses machine learning and traffic flows to map out which VMs are part of an application. This helps with defining what the application boundaries are so that users know how much traffic bandwidth is used as well as where applications are communicating with other applications.​</a:t>
            </a:r>
            <a:endParaRPr sz="1110" dirty="0"/>
          </a:p>
          <a:p>
            <a:pPr marL="44450" marR="0" lvl="0" indent="0" algn="l" rtl="0">
              <a:lnSpc>
                <a:spcPct val="70000"/>
              </a:lnSpc>
              <a:spcBef>
                <a:spcPts val="0"/>
              </a:spcBef>
              <a:spcAft>
                <a:spcPts val="0"/>
              </a:spcAft>
              <a:buClr>
                <a:schemeClr val="dk1"/>
              </a:buClr>
              <a:buSzPts val="1100"/>
              <a:buFont typeface="Arial"/>
              <a:buNone/>
            </a:pPr>
            <a:r>
              <a:rPr lang="en-US" sz="1110" b="0" i="0" u="none" strike="noStrike" cap="none" dirty="0">
                <a:latin typeface="Arial"/>
                <a:ea typeface="Arial"/>
                <a:cs typeface="Arial"/>
                <a:sym typeface="Arial"/>
              </a:rPr>
              <a:t>Native K8s and numerous applications management packs provide monitoring of Kubernetes containerized applications including the nodes, namespaces, deployments, individual containers, etc. while application management packs monitor common apps like (MSSQL, </a:t>
            </a:r>
            <a:r>
              <a:rPr lang="en-US" sz="1110" b="0" i="0" u="none" strike="noStrike" cap="none" dirty="0" err="1">
                <a:latin typeface="Arial"/>
                <a:ea typeface="Arial"/>
                <a:cs typeface="Arial"/>
                <a:sym typeface="Arial"/>
              </a:rPr>
              <a:t>Netapp</a:t>
            </a:r>
            <a:r>
              <a:rPr lang="en-US" sz="1110" b="0" i="0" u="none" strike="noStrike" cap="none" dirty="0">
                <a:latin typeface="Arial"/>
                <a:ea typeface="Arial"/>
                <a:cs typeface="Arial"/>
                <a:sym typeface="Arial"/>
              </a:rPr>
              <a:t>, Cisco UCS)​.</a:t>
            </a:r>
            <a:endParaRPr sz="1110" dirty="0"/>
          </a:p>
          <a:p>
            <a:pPr marL="44450" marR="0" lvl="0" indent="0" algn="l" rtl="0">
              <a:lnSpc>
                <a:spcPct val="70000"/>
              </a:lnSpc>
              <a:spcBef>
                <a:spcPts val="0"/>
              </a:spcBef>
              <a:spcAft>
                <a:spcPts val="0"/>
              </a:spcAft>
              <a:buClr>
                <a:schemeClr val="dk1"/>
              </a:buClr>
              <a:buSzPts val="1100"/>
              <a:buFont typeface="Arial"/>
              <a:buNone/>
            </a:pPr>
            <a:r>
              <a:rPr lang="en-US" sz="1110" b="0" i="0" u="none" strike="noStrike" cap="none" dirty="0" err="1">
                <a:latin typeface="Arial"/>
                <a:ea typeface="Arial"/>
                <a:cs typeface="Arial"/>
                <a:sym typeface="Arial"/>
              </a:rPr>
              <a:t>Telegraf</a:t>
            </a:r>
            <a:r>
              <a:rPr lang="en-US" sz="1110" b="0" i="0" u="none" strike="noStrike" cap="none" dirty="0">
                <a:latin typeface="Arial"/>
                <a:ea typeface="Arial"/>
                <a:cs typeface="Arial"/>
                <a:sym typeface="Arial"/>
              </a:rPr>
              <a:t> provides in depth agent-based application monitoring with OOB 200+ apps supported with the open source </a:t>
            </a:r>
            <a:r>
              <a:rPr lang="en-US" sz="1110" b="0" i="0" u="none" strike="noStrike" cap="none" dirty="0" err="1">
                <a:latin typeface="Arial"/>
                <a:ea typeface="Arial"/>
                <a:cs typeface="Arial"/>
                <a:sym typeface="Arial"/>
              </a:rPr>
              <a:t>telegraf</a:t>
            </a:r>
            <a:r>
              <a:rPr lang="en-US" sz="1110" b="0" i="0" u="none" strike="noStrike" cap="none" dirty="0">
                <a:latin typeface="Arial"/>
                <a:ea typeface="Arial"/>
                <a:cs typeface="Arial"/>
                <a:sym typeface="Arial"/>
              </a:rPr>
              <a:t> agent​.</a:t>
            </a:r>
            <a:endParaRPr sz="1110" dirty="0"/>
          </a:p>
          <a:p>
            <a:pPr marL="44450" marR="0" lvl="0" indent="0" algn="l" rtl="0">
              <a:lnSpc>
                <a:spcPct val="70000"/>
              </a:lnSpc>
              <a:spcBef>
                <a:spcPts val="0"/>
              </a:spcBef>
              <a:spcAft>
                <a:spcPts val="0"/>
              </a:spcAft>
              <a:buClr>
                <a:schemeClr val="dk1"/>
              </a:buClr>
              <a:buSzPts val="1100"/>
              <a:buFont typeface="Arial"/>
              <a:buNone/>
            </a:pPr>
            <a:r>
              <a:rPr lang="en-US" sz="1110" b="0" i="0" u="none" strike="noStrike" cap="none" dirty="0">
                <a:latin typeface="Arial"/>
                <a:ea typeface="Arial"/>
                <a:cs typeface="Arial"/>
                <a:sym typeface="Arial"/>
              </a:rPr>
              <a:t>Our synthetic monitoring capability mimics the paths users might take when interacting with an application, thus helping identify issues from different end user perspectives.​</a:t>
            </a:r>
            <a:endParaRPr dirty="0"/>
          </a:p>
          <a:p>
            <a:pPr marL="44450" marR="0" lvl="0" indent="0" algn="l" rtl="0">
              <a:lnSpc>
                <a:spcPct val="70000"/>
              </a:lnSpc>
              <a:spcBef>
                <a:spcPts val="0"/>
              </a:spcBef>
              <a:spcAft>
                <a:spcPts val="0"/>
              </a:spcAft>
              <a:buClr>
                <a:schemeClr val="dk1"/>
              </a:buClr>
              <a:buSzPts val="1100"/>
              <a:buFont typeface="Arial"/>
              <a:buNone/>
            </a:pPr>
            <a:endParaRPr sz="1110" dirty="0"/>
          </a:p>
          <a:p>
            <a:pPr marL="44450" marR="0" lvl="0" indent="0" algn="l" rtl="0">
              <a:lnSpc>
                <a:spcPct val="70000"/>
              </a:lnSpc>
              <a:spcBef>
                <a:spcPts val="0"/>
              </a:spcBef>
              <a:spcAft>
                <a:spcPts val="0"/>
              </a:spcAft>
              <a:buClr>
                <a:schemeClr val="dk1"/>
              </a:buClr>
              <a:buSzPts val="1100"/>
              <a:buFont typeface="Arial"/>
              <a:buNone/>
            </a:pPr>
            <a:r>
              <a:rPr lang="en-US" sz="1110" b="0" i="0" u="none" strike="noStrike" cap="none" dirty="0">
                <a:latin typeface="Arial"/>
                <a:ea typeface="Arial"/>
                <a:cs typeface="Arial"/>
                <a:sym typeface="Arial"/>
              </a:rPr>
              <a:t>VCF Operations helps eliminate customer-impacting issues by leveraging flexible tracing and analytics using logs and metrics.​ Our ability to correlate between issues makes it much easier to identify where a problem lies – in the infrastructure or the application layer -- thus creating a more collaborative and proactive problem-solving environment among teams.​</a:t>
            </a:r>
            <a:endParaRPr dirty="0"/>
          </a:p>
          <a:p>
            <a:pPr marL="44450" marR="0" lvl="0" indent="0" algn="l" rtl="0">
              <a:lnSpc>
                <a:spcPct val="70000"/>
              </a:lnSpc>
              <a:spcBef>
                <a:spcPts val="0"/>
              </a:spcBef>
              <a:spcAft>
                <a:spcPts val="0"/>
              </a:spcAft>
              <a:buClr>
                <a:schemeClr val="dk1"/>
              </a:buClr>
              <a:buSzPts val="1100"/>
              <a:buFont typeface="Arial"/>
              <a:buNone/>
            </a:pPr>
            <a:endParaRPr sz="1110" dirty="0"/>
          </a:p>
          <a:p>
            <a:pPr marL="44450" marR="0" lvl="0" indent="0" algn="l" rtl="0">
              <a:lnSpc>
                <a:spcPct val="70000"/>
              </a:lnSpc>
              <a:spcBef>
                <a:spcPts val="0"/>
              </a:spcBef>
              <a:spcAft>
                <a:spcPts val="0"/>
              </a:spcAft>
              <a:buClr>
                <a:schemeClr val="dk1"/>
              </a:buClr>
              <a:buSzPts val="1100"/>
              <a:buFont typeface="Arial"/>
              <a:buNone/>
            </a:pPr>
            <a:r>
              <a:rPr lang="en-US" sz="1110" b="0" i="0" u="none" strike="noStrike" cap="none" dirty="0">
                <a:latin typeface="Arial"/>
                <a:ea typeface="Arial"/>
                <a:cs typeface="Arial"/>
                <a:sym typeface="Arial"/>
              </a:rPr>
              <a:t>With VMware application </a:t>
            </a:r>
            <a:r>
              <a:rPr lang="en-US" sz="1110" b="0" i="0" u="none" strike="noStrike" dirty="0">
                <a:latin typeface="Arial"/>
                <a:ea typeface="Arial"/>
                <a:cs typeface="Arial"/>
                <a:sym typeface="Arial"/>
              </a:rPr>
              <a:t>monitoring, you can deliver significantly faster mean time to resolution (MTTR), helping you meet and exceed your SLAs.</a:t>
            </a:r>
            <a:r>
              <a:rPr lang="en-US" sz="1110" b="0" i="0" dirty="0">
                <a:latin typeface="Arial"/>
                <a:ea typeface="Arial"/>
                <a:cs typeface="Arial"/>
                <a:sym typeface="Arial"/>
              </a:rPr>
              <a:t>​</a:t>
            </a:r>
            <a:endParaRPr dirty="0"/>
          </a:p>
          <a:p>
            <a:pPr marL="44450" marR="0" lvl="0" indent="0" algn="l" rtl="0">
              <a:lnSpc>
                <a:spcPct val="70000"/>
              </a:lnSpc>
              <a:spcBef>
                <a:spcPts val="0"/>
              </a:spcBef>
              <a:spcAft>
                <a:spcPts val="0"/>
              </a:spcAft>
              <a:buClr>
                <a:schemeClr val="dk1"/>
              </a:buClr>
              <a:buSzPts val="1100"/>
              <a:buFont typeface="Arial"/>
              <a:buNone/>
            </a:pPr>
            <a:endParaRPr sz="1110" b="0" i="0" dirty="0">
              <a:latin typeface="Arial"/>
              <a:ea typeface="Arial"/>
              <a:cs typeface="Arial"/>
              <a:sym typeface="Arial"/>
            </a:endParaRPr>
          </a:p>
          <a:p>
            <a:pPr marL="44450" marR="0" lvl="0" indent="0" algn="l" rtl="0">
              <a:lnSpc>
                <a:spcPct val="70000"/>
              </a:lnSpc>
              <a:spcBef>
                <a:spcPts val="0"/>
              </a:spcBef>
              <a:spcAft>
                <a:spcPts val="0"/>
              </a:spcAft>
              <a:buClr>
                <a:schemeClr val="dk1"/>
              </a:buClr>
              <a:buSzPts val="1100"/>
              <a:buFont typeface="Arial"/>
              <a:buNone/>
            </a:pPr>
            <a:r>
              <a:rPr lang="en-US" sz="1110" b="1" i="0" dirty="0">
                <a:latin typeface="Arial"/>
                <a:ea typeface="Arial"/>
                <a:cs typeface="Arial"/>
                <a:sym typeface="Arial"/>
              </a:rPr>
              <a:t>Notes:</a:t>
            </a:r>
            <a:br>
              <a:rPr lang="en-US" sz="1110" b="1" i="0" dirty="0">
                <a:latin typeface="Arial"/>
                <a:ea typeface="Arial"/>
                <a:cs typeface="Arial"/>
                <a:sym typeface="Arial"/>
              </a:rPr>
            </a:br>
            <a:br>
              <a:rPr lang="en-US" sz="1110" b="1" i="0" dirty="0">
                <a:latin typeface="Arial"/>
                <a:ea typeface="Arial"/>
                <a:cs typeface="Arial"/>
                <a:sym typeface="Arial"/>
              </a:rPr>
            </a:br>
            <a:r>
              <a:rPr lang="en-US" sz="1110" b="1" i="0" dirty="0">
                <a:latin typeface="Arial"/>
                <a:ea typeface="Arial"/>
                <a:cs typeface="Arial"/>
                <a:sym typeface="Arial"/>
              </a:rPr>
              <a:t>Resources:</a:t>
            </a:r>
            <a:endParaRPr dirty="0"/>
          </a:p>
          <a:p>
            <a:pPr marL="0" lvl="0" indent="0" algn="l" rtl="0">
              <a:lnSpc>
                <a:spcPct val="80000"/>
              </a:lnSpc>
              <a:spcBef>
                <a:spcPts val="0"/>
              </a:spcBef>
              <a:spcAft>
                <a:spcPts val="0"/>
              </a:spcAft>
              <a:buNone/>
            </a:pPr>
            <a:endParaRPr sz="1110" dirty="0"/>
          </a:p>
          <a:p>
            <a:pPr marL="0" lvl="0" indent="0" algn="l" rtl="0">
              <a:lnSpc>
                <a:spcPct val="80000"/>
              </a:lnSpc>
              <a:spcBef>
                <a:spcPts val="0"/>
              </a:spcBef>
              <a:spcAft>
                <a:spcPts val="0"/>
              </a:spcAft>
              <a:buNone/>
            </a:pPr>
            <a:endParaRPr sz="1110" dirty="0"/>
          </a:p>
        </p:txBody>
      </p:sp>
      <p:sp>
        <p:nvSpPr>
          <p:cNvPr id="12398" name="Google Shape;12398;p9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b="0" i="0" u="none" strike="noStrike" kern="0" cap="none" spc="0" normalizeH="0" baseline="0" noProof="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92</a:t>
            </a:fld>
            <a:endParaRPr kumimoji="0" sz="1200" b="0" i="0" u="none" strike="noStrike" kern="0" cap="none" spc="0" normalizeH="0" baseline="0" noProof="0">
              <a:ln>
                <a:noFill/>
              </a:ln>
              <a:solidFill>
                <a:srgbClr val="717074"/>
              </a:solidFill>
              <a:effectLst/>
              <a:uLnTx/>
              <a:uFillTx/>
              <a:latin typeface="Arial"/>
              <a:ea typeface="Arial"/>
              <a:cs typeface="Arial"/>
              <a:sym typeface="Arial"/>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b="1" dirty="0">
                <a:latin typeface="+mn-lt"/>
              </a:rPr>
              <a:t>Key Message: </a:t>
            </a:r>
            <a:r>
              <a:rPr lang="en-US" dirty="0">
                <a:solidFill>
                  <a:srgbClr val="005C8A"/>
                </a:solidFill>
                <a:latin typeface="+mn-lt"/>
                <a:cs typeface="Arial" panose="020B0604020202020204" pitchFamily="34" charset="0"/>
              </a:rPr>
              <a:t>Native Integration for Supervisor, VKS and Kubernetes objects</a:t>
            </a:r>
          </a:p>
          <a:p>
            <a:endParaRPr lang="en-US" b="1" dirty="0">
              <a:solidFill>
                <a:srgbClr val="005C8A"/>
              </a:solidFill>
              <a:latin typeface="+mn-lt"/>
              <a:cs typeface="Arial" panose="020B0604020202020204" pitchFamily="34" charset="0"/>
            </a:endParaRPr>
          </a:p>
          <a:p>
            <a:r>
              <a:rPr lang="en-US" b="1" dirty="0">
                <a:latin typeface="+mn-lt"/>
              </a:rPr>
              <a:t>Talk Track:</a:t>
            </a:r>
          </a:p>
          <a:p>
            <a:pPr>
              <a:buNone/>
            </a:pPr>
            <a:r>
              <a:rPr lang="en-US" sz="1200" dirty="0">
                <a:solidFill>
                  <a:srgbClr val="000000"/>
                </a:solidFill>
                <a:effectLst/>
                <a:latin typeface="+mn-lt"/>
                <a:ea typeface="Times New Roman" panose="02020603050405020304" pitchFamily="18" charset="0"/>
              </a:rPr>
              <a:t>So, what is this native integration? For those who are familiar with k8s management pack, you can consider this a spinoff of the MP. This is tailored only to monitor the supervisor and VKS, and one of the things we wanted to do is to make sure that admins don’t have to spend a lot of time setting up monitoring. </a:t>
            </a:r>
          </a:p>
          <a:p>
            <a:pPr>
              <a:buNone/>
            </a:pPr>
            <a:endParaRPr lang="en-IN" sz="1200" dirty="0">
              <a:effectLst/>
              <a:latin typeface="+mn-lt"/>
              <a:ea typeface="Times New Roman" panose="02020603050405020304" pitchFamily="18" charset="0"/>
            </a:endParaRPr>
          </a:p>
          <a:p>
            <a:r>
              <a:rPr lang="en-US" sz="1200" dirty="0">
                <a:solidFill>
                  <a:srgbClr val="000000"/>
                </a:solidFill>
                <a:effectLst/>
                <a:latin typeface="+mn-lt"/>
                <a:ea typeface="Times New Roman" panose="02020603050405020304" pitchFamily="18" charset="0"/>
              </a:rPr>
              <a:t>So previously in the Kubernetes management plane, for every supervisor that you wanted to monitor, you had to create this new adapter instance, feed in the credentials of the supervisor with its control pane and all these details so we are trying to reduce that learning curve for admins by </a:t>
            </a:r>
            <a:r>
              <a:rPr lang="en-US" sz="1200" b="0" u="sng" dirty="0">
                <a:solidFill>
                  <a:srgbClr val="000000"/>
                </a:solidFill>
                <a:effectLst/>
                <a:latin typeface="+mn-lt"/>
                <a:ea typeface="Times New Roman" panose="02020603050405020304" pitchFamily="18" charset="0"/>
              </a:rPr>
              <a:t>ENABLING </a:t>
            </a:r>
            <a:r>
              <a:rPr lang="en-US" sz="1200" dirty="0">
                <a:solidFill>
                  <a:srgbClr val="000000"/>
                </a:solidFill>
                <a:effectLst/>
                <a:latin typeface="+mn-lt"/>
                <a:ea typeface="Times New Roman" panose="02020603050405020304" pitchFamily="18" charset="0"/>
              </a:rPr>
              <a:t>the collection for supervisors by default. </a:t>
            </a:r>
          </a:p>
          <a:p>
            <a:pPr marL="0" indent="0">
              <a:lnSpc>
                <a:spcPct val="95000"/>
              </a:lnSpc>
              <a:spcBef>
                <a:spcPts val="1200"/>
              </a:spcBef>
            </a:pPr>
            <a:endParaRPr lang="en-US" b="0" u="none" dirty="0">
              <a:solidFill>
                <a:srgbClr val="156082"/>
              </a:solidFill>
              <a:latin typeface="+mn-lt"/>
            </a:endParaRPr>
          </a:p>
          <a:p>
            <a:pPr marL="0" marR="0" lvl="0" indent="0" algn="l" defTabSz="914400" rtl="0" eaLnBrk="1" fontAlgn="auto" latinLnBrk="0" hangingPunct="1">
              <a:lnSpc>
                <a:spcPct val="95000"/>
              </a:lnSpc>
              <a:spcBef>
                <a:spcPts val="1200"/>
              </a:spcBef>
              <a:spcAft>
                <a:spcPts val="0"/>
              </a:spcAft>
              <a:buClr>
                <a:srgbClr val="000000"/>
              </a:buClr>
              <a:buSzPts val="1400"/>
              <a:buFont typeface="Arial"/>
              <a:buNone/>
              <a:tabLst/>
              <a:defRPr/>
            </a:pPr>
            <a:r>
              <a:rPr lang="en-US" sz="1200" dirty="0">
                <a:solidFill>
                  <a:srgbClr val="000000"/>
                </a:solidFill>
                <a:effectLst/>
                <a:latin typeface="+mn-lt"/>
                <a:ea typeface="Times New Roman" panose="02020603050405020304" pitchFamily="18" charset="0"/>
              </a:rPr>
              <a:t>Once you do that, every time a Supervisor is created in vCenter, it will start reporting into VCF Ops, so you don’t have to do any installation or download anything from the marketplace to set this up. </a:t>
            </a:r>
          </a:p>
          <a:p>
            <a:pPr marL="0" marR="0" lvl="0" indent="0" algn="l" defTabSz="914400" rtl="0" eaLnBrk="1" fontAlgn="auto" latinLnBrk="0" hangingPunct="1">
              <a:lnSpc>
                <a:spcPct val="95000"/>
              </a:lnSpc>
              <a:spcBef>
                <a:spcPts val="1200"/>
              </a:spcBef>
              <a:spcAft>
                <a:spcPts val="0"/>
              </a:spcAft>
              <a:buClr>
                <a:srgbClr val="000000"/>
              </a:buClr>
              <a:buSzPts val="1400"/>
              <a:buFont typeface="Arial"/>
              <a:buNone/>
              <a:tabLst/>
              <a:defRPr/>
            </a:pPr>
            <a:endParaRPr lang="en-US" sz="1200" dirty="0">
              <a:solidFill>
                <a:srgbClr val="000000"/>
              </a:solidFill>
              <a:effectLst/>
              <a:latin typeface="+mn-lt"/>
              <a:ea typeface="Times New Roman" panose="02020603050405020304" pitchFamily="18" charset="0"/>
            </a:endParaRPr>
          </a:p>
          <a:p>
            <a:pPr marL="0" marR="0" lvl="0" indent="0" algn="l" defTabSz="914400" rtl="0" eaLnBrk="1" fontAlgn="auto" latinLnBrk="0" hangingPunct="1">
              <a:lnSpc>
                <a:spcPct val="95000"/>
              </a:lnSpc>
              <a:spcBef>
                <a:spcPts val="1200"/>
              </a:spcBef>
              <a:spcAft>
                <a:spcPts val="0"/>
              </a:spcAft>
              <a:buClr>
                <a:srgbClr val="000000"/>
              </a:buClr>
              <a:buSzPts val="1400"/>
              <a:buFont typeface="Arial"/>
              <a:buNone/>
              <a:tabLst/>
              <a:defRPr/>
            </a:pPr>
            <a:r>
              <a:rPr lang="en-US" sz="1200" dirty="0">
                <a:solidFill>
                  <a:srgbClr val="000000"/>
                </a:solidFill>
                <a:effectLst/>
                <a:latin typeface="+mn-lt"/>
                <a:ea typeface="Times New Roman" panose="02020603050405020304" pitchFamily="18" charset="0"/>
              </a:rPr>
              <a:t>So, you will see the whole Kubernetes constructs of the supervisor, the overall topology showing the Kubernetes constructs like the Namespaces, deployments, the nodes, pods and containers. and then you see the vCenter constructs because you are creating the supervisor on the VC which is a collection of vSphere clusters and it will have namespaces on top of that and then the workloads in them so all those topology mapping will be built for you.</a:t>
            </a:r>
          </a:p>
          <a:p>
            <a:pPr marL="0" marR="0" lvl="0" indent="0" algn="l" defTabSz="914400" rtl="0" eaLnBrk="1" fontAlgn="auto" latinLnBrk="0" hangingPunct="1">
              <a:lnSpc>
                <a:spcPct val="95000"/>
              </a:lnSpc>
              <a:spcBef>
                <a:spcPts val="1200"/>
              </a:spcBef>
              <a:spcAft>
                <a:spcPts val="0"/>
              </a:spcAft>
              <a:buClr>
                <a:srgbClr val="000000"/>
              </a:buClr>
              <a:buSzPts val="1400"/>
              <a:buFont typeface="Arial"/>
              <a:buNone/>
              <a:tabLst/>
              <a:defRPr/>
            </a:pPr>
            <a:endParaRPr lang="en-US" sz="1200" dirty="0">
              <a:solidFill>
                <a:srgbClr val="000000"/>
              </a:solidFill>
              <a:effectLst/>
              <a:latin typeface="+mn-lt"/>
              <a:ea typeface="Times New Roman" panose="02020603050405020304" pitchFamily="18" charset="0"/>
            </a:endParaRPr>
          </a:p>
          <a:p>
            <a:pPr marL="0" marR="0" lvl="0" indent="0" algn="l" defTabSz="914400" rtl="0" eaLnBrk="1" fontAlgn="auto" latinLnBrk="0" hangingPunct="1">
              <a:lnSpc>
                <a:spcPct val="95000"/>
              </a:lnSpc>
              <a:spcBef>
                <a:spcPts val="1200"/>
              </a:spcBef>
              <a:spcAft>
                <a:spcPts val="0"/>
              </a:spcAft>
              <a:buClr>
                <a:srgbClr val="000000"/>
              </a:buClr>
              <a:buSzPts val="1400"/>
              <a:buFont typeface="Arial"/>
              <a:buNone/>
              <a:tabLst/>
              <a:defRPr/>
            </a:pPr>
            <a:r>
              <a:rPr lang="en-US" sz="1200" dirty="0">
                <a:solidFill>
                  <a:srgbClr val="000000"/>
                </a:solidFill>
                <a:effectLst/>
                <a:latin typeface="+mn-lt"/>
                <a:ea typeface="Times New Roman" panose="02020603050405020304" pitchFamily="18" charset="0"/>
              </a:rPr>
              <a:t>Also, different performance KPI metrics for the supervisor like the CPU ,memory, disk, the nodes, pods and the container level metrics.</a:t>
            </a:r>
            <a:endParaRPr lang="en-IN" sz="1200" dirty="0">
              <a:effectLst/>
              <a:latin typeface="+mn-lt"/>
              <a:ea typeface="Times New Roman" panose="02020603050405020304" pitchFamily="18" charset="0"/>
            </a:endParaRPr>
          </a:p>
          <a:p>
            <a:pPr marL="0" marR="0" lvl="0" indent="0" algn="l" defTabSz="914400" rtl="0" eaLnBrk="1" fontAlgn="auto" latinLnBrk="0" hangingPunct="1">
              <a:lnSpc>
                <a:spcPct val="95000"/>
              </a:lnSpc>
              <a:spcBef>
                <a:spcPts val="1200"/>
              </a:spcBef>
              <a:spcAft>
                <a:spcPts val="0"/>
              </a:spcAft>
              <a:buClr>
                <a:srgbClr val="000000"/>
              </a:buClr>
              <a:buSzPts val="1400"/>
              <a:buFont typeface="Arial"/>
              <a:buNone/>
              <a:tabLst/>
              <a:defRPr/>
            </a:pPr>
            <a:endParaRPr lang="en-US" sz="1200" dirty="0">
              <a:solidFill>
                <a:srgbClr val="000000"/>
              </a:solidFill>
              <a:effectLst/>
              <a:latin typeface="+mn-lt"/>
              <a:ea typeface="Times New Roman" panose="02020603050405020304" pitchFamily="18" charset="0"/>
            </a:endParaRPr>
          </a:p>
          <a:p>
            <a:pPr marL="0" marR="0" lvl="0" indent="0" algn="l" defTabSz="914400" rtl="0" eaLnBrk="1" fontAlgn="auto" latinLnBrk="0" hangingPunct="1">
              <a:lnSpc>
                <a:spcPct val="95000"/>
              </a:lnSpc>
              <a:spcBef>
                <a:spcPts val="1200"/>
              </a:spcBef>
              <a:spcAft>
                <a:spcPts val="0"/>
              </a:spcAft>
              <a:buClr>
                <a:srgbClr val="000000"/>
              </a:buClr>
              <a:buSzPts val="1400"/>
              <a:buFont typeface="Arial"/>
              <a:buNone/>
              <a:tabLst/>
              <a:defRPr/>
            </a:pPr>
            <a:r>
              <a:rPr lang="en-US" sz="1200" dirty="0">
                <a:solidFill>
                  <a:srgbClr val="000000"/>
                </a:solidFill>
                <a:effectLst/>
                <a:latin typeface="+mn-lt"/>
                <a:ea typeface="Times New Roman" panose="02020603050405020304" pitchFamily="18" charset="0"/>
              </a:rPr>
              <a:t>We are pushing some OOTB content for the supervisor; Additionally, new control pane metrics have been included in these dashboards as control pane forms a very important component for supervisor and VKS clusters. Some of the issues we notice where the control pane components are misbehaving and because of it the applications run into degraded state within k8s so we want to provide some insights for these critical components, they at least know, we point them in this direction that this is where things would be going wrong and continue to DEBUG further. So these dashboards provides pointers in that direction for troubleshooting issues. </a:t>
            </a:r>
            <a:endParaRPr lang="en-IN" sz="1200" dirty="0">
              <a:effectLst/>
              <a:latin typeface="+mn-lt"/>
              <a:ea typeface="Times New Roman" panose="02020603050405020304" pitchFamily="18" charset="0"/>
            </a:endParaRPr>
          </a:p>
          <a:p>
            <a:endParaRPr lang="en-US" dirty="0"/>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Notes:</a:t>
            </a:r>
          </a:p>
          <a:p>
            <a:pPr marL="0" lvl="0" indent="0" algn="l" rtl="0">
              <a:spcBef>
                <a:spcPts val="0"/>
              </a:spcBef>
              <a:spcAft>
                <a:spcPts val="0"/>
              </a:spcAft>
              <a:buNone/>
            </a:pPr>
            <a:endParaRPr lang="en-US"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Resources:</a:t>
            </a:r>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93</a:t>
            </a:fld>
            <a:endParaRPr lang="en-US" dirty="0"/>
          </a:p>
        </p:txBody>
      </p:sp>
    </p:spTree>
    <p:extLst>
      <p:ext uri="{BB962C8B-B14F-4D97-AF65-F5344CB8AC3E}">
        <p14:creationId xmlns:p14="http://schemas.microsoft.com/office/powerpoint/2010/main" val="75425450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b="1" dirty="0">
                <a:latin typeface="+mn-lt"/>
              </a:rPr>
              <a:t>Key Message:</a:t>
            </a:r>
            <a:br>
              <a:rPr lang="en-US" dirty="0">
                <a:latin typeface="+mn-lt"/>
              </a:rPr>
            </a:br>
            <a:r>
              <a:rPr lang="en-US" dirty="0">
                <a:latin typeface="+mn-lt"/>
              </a:rPr>
              <a:t>The latest update in VCF Operations for networks (version 9.0) introduces enhanced Migration Planning capabilities, allowing for a more streamlined and informed approach to migrating workloads to VCF.</a:t>
            </a:r>
          </a:p>
          <a:p>
            <a:endParaRPr lang="en-US" b="1" dirty="0">
              <a:latin typeface="+mn-lt"/>
            </a:endParaRPr>
          </a:p>
          <a:p>
            <a:r>
              <a:rPr lang="en-US" b="1" dirty="0">
                <a:latin typeface="+mn-lt"/>
              </a:rPr>
              <a:t>Talk Track:</a:t>
            </a:r>
            <a:endParaRPr lang="en-US" dirty="0">
              <a:latin typeface="+mn-lt"/>
            </a:endParaRPr>
          </a:p>
          <a:p>
            <a:r>
              <a:rPr lang="en-US" dirty="0">
                <a:solidFill>
                  <a:srgbClr val="0E0E0E"/>
                </a:solidFill>
                <a:effectLst/>
                <a:latin typeface="+mn-lt"/>
              </a:rPr>
              <a:t>Let’s start by taking a look at some of the key features of the Migration Planning in this release. One of the most powerful aspects of this feature is how it allows users to define the scope of migration, either using specific applications or members of those applications. This flexibility makes it much easier to identify and manage the applications that are critical for migration while also uncovering the necessary application and network dependencies.</a:t>
            </a:r>
          </a:p>
          <a:p>
            <a:br>
              <a:rPr lang="en-US" dirty="0">
                <a:solidFill>
                  <a:srgbClr val="0E0E0E"/>
                </a:solidFill>
                <a:effectLst/>
                <a:latin typeface="+mn-lt"/>
              </a:rPr>
            </a:br>
            <a:r>
              <a:rPr lang="en-US" dirty="0">
                <a:solidFill>
                  <a:srgbClr val="0E0E0E"/>
                </a:solidFill>
                <a:effectLst/>
                <a:latin typeface="+mn-lt"/>
              </a:rPr>
              <a:t>Another important aspect to highlight is the creation of migration waves. This concept breaks down the overall migration process into more manageable steps, enabling you to focus on smaller, defined groups of resources at a time. With migration waves, you can better plan and execute your strategy in a phased approach, minimizing risk and complexity.</a:t>
            </a:r>
          </a:p>
          <a:p>
            <a:endParaRPr lang="en-US" dirty="0">
              <a:solidFill>
                <a:srgbClr val="0E0E0E"/>
              </a:solidFill>
              <a:effectLst/>
              <a:latin typeface="+mn-lt"/>
            </a:endParaRPr>
          </a:p>
          <a:p>
            <a:r>
              <a:rPr lang="en-US" dirty="0">
                <a:solidFill>
                  <a:srgbClr val="0E0E0E"/>
                </a:solidFill>
                <a:effectLst/>
                <a:latin typeface="+mn-lt"/>
              </a:rPr>
              <a:t>Next, we have an overview of resource consumption. This feature provides insight into the usage of memory, cores, and storage, helping you to effectively plan for any resource limitations that could affect your migration. Having this data at hand ensures you’re not only making informed decisions but also optimizing resource allocation as you move through the migration.</a:t>
            </a:r>
          </a:p>
          <a:p>
            <a:endParaRPr lang="en-US" dirty="0">
              <a:solidFill>
                <a:srgbClr val="0E0E0E"/>
              </a:solidFill>
              <a:effectLst/>
              <a:latin typeface="+mn-lt"/>
            </a:endParaRPr>
          </a:p>
          <a:p>
            <a:r>
              <a:rPr lang="en-US" dirty="0">
                <a:solidFill>
                  <a:srgbClr val="0E0E0E"/>
                </a:solidFill>
                <a:effectLst/>
                <a:latin typeface="+mn-lt"/>
              </a:rPr>
              <a:t>Lastly, I want to emphasize the Commit feature. This is a key tool for creating mobility groups, which can then be committed to HCX. This capability facilitates smooth, seamless migrations by allowing users to prepare these groups in advance, ensuring they are ready for HCX at the right time.</a:t>
            </a:r>
          </a:p>
          <a:p>
            <a:endParaRPr lang="en-US" b="1" dirty="0">
              <a:latin typeface="+mn-lt"/>
            </a:endParaRPr>
          </a:p>
          <a:p>
            <a:r>
              <a:rPr lang="en-US" b="1" dirty="0">
                <a:latin typeface="+mn-lt"/>
              </a:rPr>
              <a:t>Key Benefits:</a:t>
            </a:r>
            <a:endParaRPr lang="en-US" dirty="0">
              <a:latin typeface="+mn-lt"/>
            </a:endParaRPr>
          </a:p>
          <a:p>
            <a:pPr>
              <a:buFont typeface="Arial" panose="020B0604020202020204" pitchFamily="34" charset="0"/>
              <a:buChar char="•"/>
            </a:pPr>
            <a:r>
              <a:rPr lang="en-US" i="1" dirty="0">
                <a:latin typeface="+mn-lt"/>
              </a:rPr>
              <a:t>Efficient Migration Planning</a:t>
            </a:r>
            <a:r>
              <a:rPr lang="en-US" dirty="0">
                <a:latin typeface="+mn-lt"/>
              </a:rPr>
              <a:t>: Users can easily define the migration scope based on applications and understand dependencies, ensuring no critical elements are overlooked.</a:t>
            </a:r>
          </a:p>
          <a:p>
            <a:pPr>
              <a:buFont typeface="Arial" panose="020B0604020202020204" pitchFamily="34" charset="0"/>
              <a:buChar char="•"/>
            </a:pPr>
            <a:r>
              <a:rPr lang="en-US" i="1" dirty="0">
                <a:latin typeface="+mn-lt"/>
              </a:rPr>
              <a:t>Informed Decision-Making</a:t>
            </a:r>
            <a:r>
              <a:rPr lang="en-US" dirty="0">
                <a:latin typeface="+mn-lt"/>
              </a:rPr>
              <a:t>: The discovery of application and network dependencies reduces the risk of errors during migration, enhancing reliability.</a:t>
            </a:r>
          </a:p>
          <a:p>
            <a:pPr>
              <a:buFont typeface="Arial" panose="020B0604020202020204" pitchFamily="34" charset="0"/>
              <a:buChar char="•"/>
            </a:pPr>
            <a:r>
              <a:rPr lang="en-US" i="1" dirty="0">
                <a:latin typeface="+mn-lt"/>
              </a:rPr>
              <a:t>Resource Awareness</a:t>
            </a:r>
            <a:r>
              <a:rPr lang="en-US" dirty="0">
                <a:latin typeface="+mn-lt"/>
              </a:rPr>
              <a:t>: The detailed overview of resource consumption ensures that users are fully aware of the infrastructure requirements before starting the migration process.</a:t>
            </a:r>
          </a:p>
          <a:p>
            <a:pPr>
              <a:buFont typeface="Arial" panose="020B0604020202020204" pitchFamily="34" charset="0"/>
              <a:buChar char="•"/>
            </a:pPr>
            <a:r>
              <a:rPr lang="en-US" i="1" dirty="0">
                <a:latin typeface="+mn-lt"/>
              </a:rPr>
              <a:t>Flexibility with Migration Waves</a:t>
            </a:r>
            <a:r>
              <a:rPr lang="en-US" dirty="0">
                <a:latin typeface="+mn-lt"/>
              </a:rPr>
              <a:t>: Breaking down the migration into waves allows for phased implementation, reducing potential downtime and disruptions.</a:t>
            </a:r>
          </a:p>
          <a:p>
            <a:endParaRPr lang="en-US" b="1" dirty="0">
              <a:latin typeface="+mn-lt"/>
            </a:endParaRPr>
          </a:p>
          <a:p>
            <a:r>
              <a:rPr lang="en-US" b="1" dirty="0">
                <a:latin typeface="+mn-lt"/>
              </a:rPr>
              <a:t>Customer Outcomes:</a:t>
            </a:r>
            <a:endParaRPr lang="en-US" dirty="0">
              <a:latin typeface="+mn-lt"/>
            </a:endParaRPr>
          </a:p>
          <a:p>
            <a:pPr>
              <a:buFont typeface="Arial" panose="020B0604020202020204" pitchFamily="34" charset="0"/>
              <a:buChar char="•"/>
            </a:pPr>
            <a:r>
              <a:rPr lang="en-US" dirty="0">
                <a:latin typeface="+mn-lt"/>
              </a:rPr>
              <a:t>Customers will experience smoother, more efficient migration to VCF with a clear understanding of resource needs and dependencies.</a:t>
            </a:r>
          </a:p>
          <a:p>
            <a:pPr>
              <a:buFont typeface="Arial" panose="020B0604020202020204" pitchFamily="34" charset="0"/>
              <a:buChar char="•"/>
            </a:pPr>
            <a:r>
              <a:rPr lang="en-US" dirty="0">
                <a:latin typeface="+mn-lt"/>
              </a:rPr>
              <a:t>By using migration waves, they can minimize operational risk and downtime during migrations.</a:t>
            </a:r>
          </a:p>
          <a:p>
            <a:pPr>
              <a:buFont typeface="Arial" panose="020B0604020202020204" pitchFamily="34" charset="0"/>
              <a:buChar char="•"/>
            </a:pPr>
            <a:r>
              <a:rPr lang="en-US" dirty="0">
                <a:latin typeface="+mn-lt"/>
              </a:rPr>
              <a:t>The ability to commit mobility groups for HCX ensures a seamless handoff, making the process more flexible and adaptable to different infrastructure environments.</a:t>
            </a:r>
          </a:p>
          <a:p>
            <a:pPr marL="0" indent="0">
              <a:lnSpc>
                <a:spcPct val="114999"/>
              </a:lnSpc>
              <a:buSzPts val="1100"/>
            </a:pPr>
            <a:endParaRPr lang="en-US" dirty="0"/>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Notes:</a:t>
            </a:r>
          </a:p>
          <a:p>
            <a:pPr marL="0" lvl="0" indent="0" algn="l" rtl="0">
              <a:spcBef>
                <a:spcPts val="0"/>
              </a:spcBef>
              <a:spcAft>
                <a:spcPts val="0"/>
              </a:spcAft>
              <a:buNone/>
            </a:pPr>
            <a:endParaRPr lang="en-US"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Resources:</a:t>
            </a:r>
          </a:p>
          <a:p>
            <a:pPr marL="0" indent="0">
              <a:lnSpc>
                <a:spcPct val="114999"/>
              </a:lnSpc>
              <a:buSzPts val="1100"/>
            </a:pPr>
            <a:endParaRPr lang="en-US" dirty="0"/>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94</a:t>
            </a:fld>
            <a:endParaRPr lang="en-US" dirty="0"/>
          </a:p>
        </p:txBody>
      </p:sp>
    </p:spTree>
    <p:extLst>
      <p:ext uri="{BB962C8B-B14F-4D97-AF65-F5344CB8AC3E}">
        <p14:creationId xmlns:p14="http://schemas.microsoft.com/office/powerpoint/2010/main" val="1164384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Leaf">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814E578-7DFB-C273-472E-4EAD46D26ACD}"/>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3" name="Freeform: Shape 3">
            <a:extLst>
              <a:ext uri="{FF2B5EF4-FFF2-40B4-BE49-F238E27FC236}">
                <a16:creationId xmlns:a16="http://schemas.microsoft.com/office/drawing/2014/main" id="{6814E578-7DFB-C273-472E-4EAD46D26ACD}"/>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34" name="Freeform: Shape 4">
            <a:extLst>
              <a:ext uri="{FF2B5EF4-FFF2-40B4-BE49-F238E27FC236}">
                <a16:creationId xmlns:a16="http://schemas.microsoft.com/office/drawing/2014/main" id="{03689AEB-304C-881F-44CE-28E14E31AD6E}"/>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a:effectLst/>
        </p:spPr>
        <p:txBody>
          <a:bodyPr rtlCol="0" anchor="ctr"/>
          <a:lstStyle/>
          <a:p>
            <a:endParaRPr lang="en-US" dirty="0"/>
          </a:p>
        </p:txBody>
      </p:sp>
      <p:grpSp>
        <p:nvGrpSpPr>
          <p:cNvPr id="37"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 name="TextBox 5">
            <a:extLst>
              <a:ext uri="{FF2B5EF4-FFF2-40B4-BE49-F238E27FC236}">
                <a16:creationId xmlns:a16="http://schemas.microsoft.com/office/drawing/2014/main" id="{E6F05D4E-954E-5EA3-A012-EBA68A5DEAED}"/>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4230081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Aqu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07DB4E-DF1B-4B7A-6FC4-46981281D8D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12" name="Freeform: Shape 11">
            <a:extLst>
              <a:ext uri="{FF2B5EF4-FFF2-40B4-BE49-F238E27FC236}">
                <a16:creationId xmlns:a16="http://schemas.microsoft.com/office/drawing/2014/main" id="{A93B8B11-A691-8250-9E87-65BB5A241D07}"/>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16000">
                <a:schemeClr val="accent2"/>
              </a:gs>
              <a:gs pos="90000">
                <a:schemeClr val="accent3"/>
              </a:gs>
            </a:gsLst>
            <a:lin ang="19200000" scaled="0"/>
            <a:tileRect/>
          </a:grad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F3963894-AB1A-DA1F-BF82-7542D160FA67}"/>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3" name="Click to edit Speaker Name ">
            <a:extLst>
              <a:ext uri="{FF2B5EF4-FFF2-40B4-BE49-F238E27FC236}">
                <a16:creationId xmlns:a16="http://schemas.microsoft.com/office/drawing/2014/main" id="{BE8CF301-A89D-F446-8E25-48C52B357C1E}"/>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4" name="Click to edit role">
            <a:extLst>
              <a:ext uri="{FF2B5EF4-FFF2-40B4-BE49-F238E27FC236}">
                <a16:creationId xmlns:a16="http://schemas.microsoft.com/office/drawing/2014/main" id="{A6793BDF-BE4B-0441-BDFD-DE9B2F59D3D0}"/>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DF9375A3-70DB-2E43-AFE1-9357176168C4}"/>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D1A5F4CE-EB72-C266-1B3B-9C54BD2303E1}"/>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3D2AD2AB-2D36-6FA3-D90D-BBA20ECE200F}"/>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Blue Theme</a:t>
            </a:r>
          </a:p>
        </p:txBody>
      </p:sp>
      <p:sp>
        <p:nvSpPr>
          <p:cNvPr id="4" name="Subtitle click to edit">
            <a:extLst>
              <a:ext uri="{FF2B5EF4-FFF2-40B4-BE49-F238E27FC236}">
                <a16:creationId xmlns:a16="http://schemas.microsoft.com/office/drawing/2014/main" id="{CC0EBB9D-D839-7841-ED94-78F86A22AB93}"/>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35" name="Freeform: Shape 14">
            <a:extLst>
              <a:ext uri="{FF2B5EF4-FFF2-40B4-BE49-F238E27FC236}">
                <a16:creationId xmlns:a16="http://schemas.microsoft.com/office/drawing/2014/main" id="{F3963894-AB1A-DA1F-BF82-7542D160FA67}"/>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grpSp>
        <p:nvGrpSpPr>
          <p:cNvPr id="38" name="Graphic 8">
            <a:extLst>
              <a:ext uri="{FF2B5EF4-FFF2-40B4-BE49-F238E27FC236}">
                <a16:creationId xmlns:a16="http://schemas.microsoft.com/office/drawing/2014/main" id="{D1A5F4CE-EB72-C266-1B3B-9C54BD2303E1}"/>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DAC4568A-0320-BB95-EB37-40F255DCBF74}"/>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66460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Plum">
    <p:spTree>
      <p:nvGrpSpPr>
        <p:cNvPr id="1" name=""/>
        <p:cNvGrpSpPr/>
        <p:nvPr/>
      </p:nvGrpSpPr>
      <p:grpSpPr>
        <a:xfrm>
          <a:off x="0" y="0"/>
          <a:ext cx="0" cy="0"/>
          <a:chOff x="0" y="0"/>
          <a:chExt cx="0" cy="0"/>
        </a:xfrm>
      </p:grpSpPr>
      <p:pic>
        <p:nvPicPr>
          <p:cNvPr id="56" name="Graphic 55">
            <a:extLst>
              <a:ext uri="{FF2B5EF4-FFF2-40B4-BE49-F238E27FC236}">
                <a16:creationId xmlns:a16="http://schemas.microsoft.com/office/drawing/2014/main" id="{CC06A3C2-D9D3-F0BE-4283-65EFB0C4036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2" name="Freeform: Shape 41">
            <a:extLst>
              <a:ext uri="{FF2B5EF4-FFF2-40B4-BE49-F238E27FC236}">
                <a16:creationId xmlns:a16="http://schemas.microsoft.com/office/drawing/2014/main" id="{044BC68A-DC70-D408-944E-73F6554FC359}"/>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45000">
                <a:srgbClr val="4764A1"/>
              </a:gs>
              <a:gs pos="16000">
                <a:schemeClr val="accent5"/>
              </a:gs>
              <a:gs pos="90000">
                <a:schemeClr val="accent3"/>
              </a:gs>
            </a:gsLst>
            <a:lin ang="19200000" scaled="0"/>
            <a:tileRect/>
          </a:gradFill>
          <a:ln w="0" cap="flat">
            <a:noFill/>
            <a:prstDash val="solid"/>
            <a:miter/>
          </a:ln>
        </p:spPr>
        <p:txBody>
          <a:bodyPr rtlCol="0" anchor="ctr"/>
          <a:lstStyle/>
          <a:p>
            <a:endParaRPr lang="en-US" dirty="0"/>
          </a:p>
        </p:txBody>
      </p:sp>
      <p:sp>
        <p:nvSpPr>
          <p:cNvPr id="14" name="Click to edit Speaker Name ">
            <a:extLst>
              <a:ext uri="{FF2B5EF4-FFF2-40B4-BE49-F238E27FC236}">
                <a16:creationId xmlns:a16="http://schemas.microsoft.com/office/drawing/2014/main" id="{179DB1F6-DFFE-5E43-994F-B7DBFB112CAC}"/>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5" name="Click to edit role">
            <a:extLst>
              <a:ext uri="{FF2B5EF4-FFF2-40B4-BE49-F238E27FC236}">
                <a16:creationId xmlns:a16="http://schemas.microsoft.com/office/drawing/2014/main" id="{6C710D35-A62F-6545-8876-C6793E801C8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B7F8A130-4773-4943-B490-D62738C5089B}"/>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4F10736E-6ED5-0C6E-6075-508D9F639A18}"/>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7692B9CF-CBD9-8BB1-F230-4EB7B6F8F864}"/>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Purple Theme</a:t>
            </a:r>
          </a:p>
        </p:txBody>
      </p:sp>
      <p:sp>
        <p:nvSpPr>
          <p:cNvPr id="4" name="Subtitle click to edit">
            <a:extLst>
              <a:ext uri="{FF2B5EF4-FFF2-40B4-BE49-F238E27FC236}">
                <a16:creationId xmlns:a16="http://schemas.microsoft.com/office/drawing/2014/main" id="{5D44BD56-856D-6181-240D-ED5454B98CF0}"/>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68" name="Freeform: Shape 67">
            <a:extLst>
              <a:ext uri="{FF2B5EF4-FFF2-40B4-BE49-F238E27FC236}">
                <a16:creationId xmlns:a16="http://schemas.microsoft.com/office/drawing/2014/main" id="{0D16AAF9-608F-69E5-7209-741EB708452B}"/>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4F10736E-6ED5-0C6E-6075-508D9F639A18}"/>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9" name="Freeform: Shape 67">
            <a:extLst>
              <a:ext uri="{FF2B5EF4-FFF2-40B4-BE49-F238E27FC236}">
                <a16:creationId xmlns:a16="http://schemas.microsoft.com/office/drawing/2014/main" id="{0D16AAF9-608F-69E5-7209-741EB708452B}"/>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sp>
        <p:nvSpPr>
          <p:cNvPr id="2" name="TextBox 1">
            <a:extLst>
              <a:ext uri="{FF2B5EF4-FFF2-40B4-BE49-F238E27FC236}">
                <a16:creationId xmlns:a16="http://schemas.microsoft.com/office/drawing/2014/main" id="{FA76E0D8-08E5-5C29-F0C2-9A437B893DA8}"/>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3374951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Text Placeholder 3">
            <a:extLst>
              <a:ext uri="{FF2B5EF4-FFF2-40B4-BE49-F238E27FC236}">
                <a16:creationId xmlns:a16="http://schemas.microsoft.com/office/drawing/2014/main" id="{B6CCD82C-92EF-52E3-6D43-409D112BB960}"/>
              </a:ext>
            </a:extLst>
          </p:cNvPr>
          <p:cNvSpPr>
            <a:spLocks noGrp="1"/>
          </p:cNvSpPr>
          <p:nvPr>
            <p:ph type="body" sz="quarter" idx="24"/>
          </p:nvPr>
        </p:nvSpPr>
        <p:spPr>
          <a:xfrm>
            <a:off x="609600" y="1267608"/>
            <a:ext cx="1939925" cy="1969770"/>
          </a:xfrm>
        </p:spPr>
        <p:txBody>
          <a:bodyPr>
            <a:spAutoFit/>
          </a:bodyPr>
          <a:lstStyle>
            <a:lvl1pPr>
              <a:defRPr sz="3200">
                <a:solidFill>
                  <a:schemeClr val="accent2"/>
                </a:solidFill>
                <a:latin typeface="+mj-lt"/>
              </a:defRPr>
            </a:lvl1pPr>
          </a:lstStyle>
          <a:p>
            <a:pPr lvl="0"/>
            <a:r>
              <a:rPr lang="en-GB"/>
              <a:t>Click to edit Master text styles</a:t>
            </a:r>
          </a:p>
        </p:txBody>
      </p:sp>
      <p:sp>
        <p:nvSpPr>
          <p:cNvPr id="7" name="Text Placeholder 6">
            <a:extLst>
              <a:ext uri="{FF2B5EF4-FFF2-40B4-BE49-F238E27FC236}">
                <a16:creationId xmlns:a16="http://schemas.microsoft.com/office/drawing/2014/main" id="{E948148D-4A41-A447-0432-B69E69A94358}"/>
              </a:ext>
            </a:extLst>
          </p:cNvPr>
          <p:cNvSpPr>
            <a:spLocks noGrp="1"/>
          </p:cNvSpPr>
          <p:nvPr>
            <p:ph type="body" sz="quarter" idx="25"/>
          </p:nvPr>
        </p:nvSpPr>
        <p:spPr>
          <a:xfrm>
            <a:off x="2894013" y="1267608"/>
            <a:ext cx="7335837" cy="4337050"/>
          </a:xfrm>
        </p:spPr>
        <p:txBody>
          <a:bodyPr/>
          <a:lstStyle>
            <a:lvl1pPr marL="342900" indent="-342900">
              <a:buClr>
                <a:schemeClr val="accent2"/>
              </a:buClr>
              <a:buFont typeface="Arial" panose="020B0604020202020204" pitchFamily="34" charset="0"/>
              <a:buChar char="•"/>
              <a:defRPr sz="2800"/>
            </a:lvl1pPr>
            <a:lvl2pPr marL="804863" indent="-347663">
              <a:buClr>
                <a:schemeClr val="accent2"/>
              </a:buClr>
              <a:defRPr sz="2400"/>
            </a:lvl2pPr>
            <a:lvl3pPr marL="1033463" indent="-346075">
              <a:buClr>
                <a:schemeClr val="accent2"/>
              </a:buClr>
              <a:defRPr sz="2000"/>
            </a:lvl3pPr>
            <a:lvl4pPr marL="1262063" indent="-342900">
              <a:buClr>
                <a:schemeClr val="accent2"/>
              </a:buClr>
              <a:defRPr sz="1800"/>
            </a:lvl4pPr>
            <a:lvl5pPr marL="1490663" indent="-347663">
              <a:buClr>
                <a:schemeClr val="accent2"/>
              </a:buCl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688014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 Lea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Section Title Option 1</a:t>
            </a:r>
            <a:br>
              <a:rPr lang="en-US"/>
            </a:br>
            <a:r>
              <a:rPr lang="en-US"/>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4"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Freeform: Shape 10">
            <a:extLst>
              <a:ext uri="{FF2B5EF4-FFF2-40B4-BE49-F238E27FC236}">
                <a16:creationId xmlns:a16="http://schemas.microsoft.com/office/drawing/2014/main" id="{4D880B34-1E61-BED8-9D19-CC47E69A1FF0}"/>
              </a:ext>
            </a:extLst>
          </p:cNvPr>
          <p:cNvSpPr/>
          <p:nvPr userDrawn="1"/>
        </p:nvSpPr>
        <p:spPr>
          <a:xfrm>
            <a:off x="6525510" y="666685"/>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0A83C12-6BEB-4E4C-9FB0-AA1FB4C661B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6725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 Aqu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a:t>Section Title Option 2</a:t>
            </a:r>
            <a:br>
              <a:rPr lang="en-US"/>
            </a:br>
            <a:r>
              <a:rPr lang="en-US"/>
              <a:t>Blue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BBDEC133-91F8-98FE-DF2D-3917EC311D68}"/>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2"/>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24626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eader –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55971" cy="1229360"/>
          </a:xfrm>
        </p:spPr>
        <p:txBody>
          <a:bodyPr wrap="square" anchor="b"/>
          <a:lstStyle>
            <a:lvl1pPr algn="l">
              <a:defRPr sz="3600" b="0" cap="none" baseline="0">
                <a:solidFill>
                  <a:schemeClr val="accent2"/>
                </a:solidFill>
              </a:defRPr>
            </a:lvl1pPr>
          </a:lstStyle>
          <a:p>
            <a:r>
              <a:rPr lang="en-US"/>
              <a:t>Section Title Option 3 </a:t>
            </a:r>
            <a:br>
              <a:rPr lang="en-US"/>
            </a:br>
            <a:r>
              <a:rPr lang="en-US"/>
              <a:t>Purple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4211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D43FD454-1DEA-D13A-0DE1-B9CABA1ED1FE}"/>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8424C6A4-7F55-9842-969F-317F913DCB9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21980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Quote – Leaf">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green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0CA8A2D-22C2-3546-ACA3-B76C2A2C9541}"/>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C621A2F7-988C-ED6D-1AAA-CEAF06253999}"/>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48" name="Freeform: Shape 47">
            <a:extLst>
              <a:ext uri="{FF2B5EF4-FFF2-40B4-BE49-F238E27FC236}">
                <a16:creationId xmlns:a16="http://schemas.microsoft.com/office/drawing/2014/main" id="{659E5035-F2CA-5C90-AD93-9207A8ED2F62}"/>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4" name="page number">
            <a:extLst>
              <a:ext uri="{FF2B5EF4-FFF2-40B4-BE49-F238E27FC236}">
                <a16:creationId xmlns:a16="http://schemas.microsoft.com/office/drawing/2014/main" id="{81F6B6E3-D446-FF48-A968-0E6ED9485D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7" name="Graphic 8">
            <a:extLst>
              <a:ext uri="{FF2B5EF4-FFF2-40B4-BE49-F238E27FC236}">
                <a16:creationId xmlns:a16="http://schemas.microsoft.com/office/drawing/2014/main" id="{C621A2F7-988C-ED6D-1AAA-CEAF0625399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49" name="Freeform 48">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A9A8E157-0B0B-6FF1-18E9-97BC0A1FEDB9}"/>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729920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Quote – Aqua">
    <p:spTree>
      <p:nvGrpSpPr>
        <p:cNvPr id="1" name=""/>
        <p:cNvGrpSpPr/>
        <p:nvPr/>
      </p:nvGrpSpPr>
      <p:grpSpPr>
        <a:xfrm>
          <a:off x="0" y="0"/>
          <a:ext cx="0" cy="0"/>
          <a:chOff x="0" y="0"/>
          <a:chExt cx="0" cy="0"/>
        </a:xfrm>
      </p:grpSpPr>
      <p:sp>
        <p:nvSpPr>
          <p:cNvPr id="33" name="Freeform: Shape 1">
            <a:extLst>
              <a:ext uri="{FF2B5EF4-FFF2-40B4-BE49-F238E27FC236}">
                <a16:creationId xmlns:a16="http://schemas.microsoft.com/office/drawing/2014/main" id="{A2B10396-5330-52E9-6CAB-81B94A8222ED}"/>
              </a:ext>
            </a:extLst>
          </p:cNvPr>
          <p:cNvSpPr/>
          <p:nvPr userDrawn="1"/>
        </p:nvSpPr>
        <p:spPr>
          <a:xfrm>
            <a:off x="0" y="0"/>
            <a:ext cx="12188825" cy="6033051"/>
          </a:xfrm>
          <a:custGeom>
            <a:avLst/>
            <a:gdLst>
              <a:gd name="connsiteX0" fmla="*/ 0 w 12197292"/>
              <a:gd name="connsiteY0" fmla="*/ 0 h 6041519"/>
              <a:gd name="connsiteX1" fmla="*/ 12197292 w 12197292"/>
              <a:gd name="connsiteY1" fmla="*/ 0 h 6041519"/>
              <a:gd name="connsiteX2" fmla="*/ 12197292 w 12197292"/>
              <a:gd name="connsiteY2" fmla="*/ 1911192 h 6041519"/>
              <a:gd name="connsiteX3" fmla="*/ 11193762 w 12197292"/>
              <a:gd name="connsiteY3" fmla="*/ 1911192 h 6041519"/>
              <a:gd name="connsiteX4" fmla="*/ 10074486 w 12197292"/>
              <a:gd name="connsiteY4" fmla="*/ 2374782 h 6041519"/>
              <a:gd name="connsiteX5" fmla="*/ 6871338 w 12197292"/>
              <a:gd name="connsiteY5" fmla="*/ 5577930 h 6041519"/>
              <a:gd name="connsiteX6" fmla="*/ 5752064 w 12197292"/>
              <a:gd name="connsiteY6" fmla="*/ 6041519 h 6041519"/>
              <a:gd name="connsiteX7" fmla="*/ 0 w 12197292"/>
              <a:gd name="connsiteY7" fmla="*/ 6041519 h 6041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7292" h="6041519">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bg1"/>
          </a:solidFill>
          <a:ln w="0" cap="flat">
            <a:noFill/>
            <a:prstDash val="solid"/>
            <a:miter/>
          </a:ln>
          <a:effectLst/>
        </p:spPr>
        <p:txBody>
          <a:bodyPr rtlCol="0" anchor="ctr"/>
          <a:lstStyle/>
          <a:p>
            <a:pPr lvl="0"/>
            <a:endParaRPr lang="en-US" dirty="0"/>
          </a:p>
        </p:txBody>
      </p:sp>
      <p:sp>
        <p:nvSpPr>
          <p:cNvPr id="15" name="Freeform: Shape 14">
            <a:extLst>
              <a:ext uri="{FF2B5EF4-FFF2-40B4-BE49-F238E27FC236}">
                <a16:creationId xmlns:a16="http://schemas.microsoft.com/office/drawing/2014/main" id="{61B00066-9E85-96DD-B59A-251D959E616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blue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A92ABA6C-6064-9743-BF58-8AB21015448D}"/>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B4758132-41E7-3AF2-6888-E57AAB57C2D4}"/>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page number">
            <a:extLst>
              <a:ext uri="{FF2B5EF4-FFF2-40B4-BE49-F238E27FC236}">
                <a16:creationId xmlns:a16="http://schemas.microsoft.com/office/drawing/2014/main" id="{DBC60254-9AEC-2A49-ABD6-870EE5B97F6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8" name="Graphic 8">
            <a:extLst>
              <a:ext uri="{FF2B5EF4-FFF2-40B4-BE49-F238E27FC236}">
                <a16:creationId xmlns:a16="http://schemas.microsoft.com/office/drawing/2014/main" id="{B4758132-41E7-3AF2-6888-E57AAB57C2D4}"/>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F067D46B-3BAF-FC5E-6BBB-503B5B6BCA1C}"/>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396944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Quote – Plum">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791E300-9585-C59E-EED2-EB5190E58F2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6215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purple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53CF3A7-833E-B042-A405-AB46430C4476}"/>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7" name="Graphic 8">
            <a:extLst>
              <a:ext uri="{FF2B5EF4-FFF2-40B4-BE49-F238E27FC236}">
                <a16:creationId xmlns:a16="http://schemas.microsoft.com/office/drawing/2014/main" id="{47818FA4-8AE2-A4B0-1EE8-9FE4A6BDD41B}"/>
              </a:ext>
            </a:extLst>
          </p:cNvPr>
          <p:cNvGrpSpPr/>
          <p:nvPr/>
        </p:nvGrpSpPr>
        <p:grpSpPr>
          <a:xfrm>
            <a:off x="265625" y="6323271"/>
            <a:ext cx="1249223" cy="369648"/>
            <a:chOff x="265625" y="6323271"/>
            <a:chExt cx="1249223" cy="369648"/>
          </a:xfrm>
          <a:solidFill>
            <a:srgbClr val="000000"/>
          </a:solidFill>
        </p:grpSpPr>
        <p:grpSp>
          <p:nvGrpSpPr>
            <p:cNvPr id="8"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25" name="Freeform 24">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9"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10" name="Freeform 9">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6" name="Freeform: Shape 2">
            <a:extLst>
              <a:ext uri="{FF2B5EF4-FFF2-40B4-BE49-F238E27FC236}">
                <a16:creationId xmlns:a16="http://schemas.microsoft.com/office/drawing/2014/main" id="{5791E300-9585-C59E-EED2-EB5190E58F2C}"/>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37" name="page number">
            <a:extLst>
              <a:ext uri="{FF2B5EF4-FFF2-40B4-BE49-F238E27FC236}">
                <a16:creationId xmlns:a16="http://schemas.microsoft.com/office/drawing/2014/main" id="{D03B3F1E-BEE4-0C40-B954-F58A7FCE9AE3}"/>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40" name="Graphic 8">
            <a:extLst>
              <a:ext uri="{FF2B5EF4-FFF2-40B4-BE49-F238E27FC236}">
                <a16:creationId xmlns:a16="http://schemas.microsoft.com/office/drawing/2014/main" id="{47818FA4-8AE2-A4B0-1EE8-9FE4A6BDD41B}"/>
              </a:ext>
            </a:extLst>
          </p:cNvPr>
          <p:cNvGrpSpPr/>
          <p:nvPr userDrawn="1"/>
        </p:nvGrpSpPr>
        <p:grpSpPr>
          <a:xfrm>
            <a:off x="265625" y="6323271"/>
            <a:ext cx="1249223" cy="369648"/>
            <a:chOff x="265625" y="6323271"/>
            <a:chExt cx="1249223" cy="369648"/>
          </a:xfrm>
          <a:solidFill>
            <a:srgbClr val="000000"/>
          </a:solidFill>
        </p:grpSpPr>
        <p:grpSp>
          <p:nvGrpSpPr>
            <p:cNvPr id="41"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2"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43" name="Freeform 42">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ADDD0B23-63DE-6951-34B4-9D6FD0B6A5F1}"/>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033441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993477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84025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2"/>
                </a:solidFill>
              </a:defRPr>
            </a:lvl1pPr>
          </a:lstStyle>
          <a:p>
            <a:r>
              <a:rPr lang="en-US"/>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0"/>
              </a:spcBef>
              <a:defRPr>
                <a:solidFill>
                  <a:schemeClr val="tx1"/>
                </a:solidFill>
              </a:defRPr>
            </a:lvl1pPr>
            <a:lvl2pPr>
              <a:spcBef>
                <a:spcPts val="0"/>
              </a:spcBef>
              <a:buClr>
                <a:schemeClr val="bg2">
                  <a:lumMod val="25000"/>
                </a:schemeClr>
              </a:buClr>
              <a:defRPr>
                <a:solidFill>
                  <a:schemeClr val="tx1"/>
                </a:solidFill>
              </a:defRPr>
            </a:lvl2pPr>
            <a:lvl3pPr>
              <a:spcBef>
                <a:spcPts val="0"/>
              </a:spcBef>
              <a:buClr>
                <a:schemeClr val="bg2">
                  <a:lumMod val="25000"/>
                </a:schemeClr>
              </a:buClr>
              <a:defRPr>
                <a:solidFill>
                  <a:schemeClr val="tx1"/>
                </a:solidFill>
              </a:defRPr>
            </a:lvl3pPr>
            <a:lvl4pPr>
              <a:spcBef>
                <a:spcPts val="0"/>
              </a:spcBef>
              <a:buClr>
                <a:schemeClr val="bg2">
                  <a:lumMod val="25000"/>
                </a:schemeClr>
              </a:buClr>
              <a:defRPr>
                <a:solidFill>
                  <a:schemeClr val="tx1"/>
                </a:solidFill>
              </a:defRPr>
            </a:lvl4pPr>
            <a:lvl5pPr>
              <a:spcBef>
                <a:spcPts val="0"/>
              </a:spcBef>
              <a:buClr>
                <a:schemeClr val="bg2">
                  <a:lumMod val="25000"/>
                </a:schemeClr>
              </a:buClr>
              <a:defRPr>
                <a:solidFill>
                  <a:schemeClr val="tx1"/>
                </a:solidFill>
              </a:defRPr>
            </a:lvl5pPr>
            <a:lvl6pPr>
              <a:buClr>
                <a:schemeClr val="bg2">
                  <a:lumMod val="25000"/>
                </a:schemeClr>
              </a:buClr>
              <a:defRPr>
                <a:solidFill>
                  <a:schemeClr val="bg2">
                    <a:lumMod val="25000"/>
                  </a:schemeClr>
                </a:solidFill>
              </a:defRPr>
            </a:lvl6pPr>
            <a:lvl7pPr>
              <a:defRPr/>
            </a:lvl7pPr>
            <a:lvl8pPr>
              <a:defRPr/>
            </a:lvl8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175B5FDB-839C-A941-B264-01387F31F00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038780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608013"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321287"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page number">
            <a:extLst>
              <a:ext uri="{FF2B5EF4-FFF2-40B4-BE49-F238E27FC236}">
                <a16:creationId xmlns:a16="http://schemas.microsoft.com/office/drawing/2014/main" id="{306FFEC8-099C-484D-841A-7FCB225B189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704919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rgbClr val="F4F8FA"/>
          </a:solid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CC3C30A-44C0-E837-19B2-6A2DFD1C7D7F}"/>
              </a:ext>
            </a:extLst>
          </p:cNvPr>
          <p:cNvSpPr>
            <a:spLocks noGrp="1"/>
          </p:cNvSpPr>
          <p:nvPr>
            <p:ph sz="quarter" idx="17" hasCustomPrompt="1"/>
          </p:nvPr>
        </p:nvSpPr>
        <p:spPr bwMode="ltGray">
          <a:xfrm>
            <a:off x="0" y="1600201"/>
            <a:ext cx="5893593" cy="4572000"/>
          </a:xfrm>
          <a:no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page number">
            <a:extLst>
              <a:ext uri="{FF2B5EF4-FFF2-40B4-BE49-F238E27FC236}">
                <a16:creationId xmlns:a16="http://schemas.microsoft.com/office/drawing/2014/main" id="{1727F760-24DE-9A42-B7E9-356D8DC2BDA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27359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7F87D5F-EABF-6E97-FCBB-22D4040C1B63}"/>
              </a:ext>
            </a:extLst>
          </p:cNvPr>
          <p:cNvSpPr>
            <a:spLocks noGrp="1"/>
          </p:cNvSpPr>
          <p:nvPr>
            <p:ph sz="quarter" idx="16" hasCustomPrompt="1"/>
          </p:nvPr>
        </p:nvSpPr>
        <p:spPr bwMode="ltGray">
          <a:xfrm>
            <a:off x="6323381" y="1600201"/>
            <a:ext cx="5865445" cy="4572000"/>
          </a:xfrm>
          <a:no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4" name="Content Placeholder 17">
            <a:extLst>
              <a:ext uri="{FF2B5EF4-FFF2-40B4-BE49-F238E27FC236}">
                <a16:creationId xmlns:a16="http://schemas.microsoft.com/office/drawing/2014/main" id="{CA8AC63D-F94C-D60E-8AB3-9211BDCC455C}"/>
              </a:ext>
            </a:extLst>
          </p:cNvPr>
          <p:cNvSpPr>
            <a:spLocks noGrp="1"/>
          </p:cNvSpPr>
          <p:nvPr>
            <p:ph sz="quarter" idx="17" hasCustomPrompt="1"/>
          </p:nvPr>
        </p:nvSpPr>
        <p:spPr bwMode="ltGray">
          <a:xfrm>
            <a:off x="0" y="1600201"/>
            <a:ext cx="5893593" cy="4572000"/>
          </a:xfrm>
          <a:solidFill>
            <a:srgbClr val="F4F8FA"/>
          </a:solid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4FD1F5D3-21E9-5341-B48A-48F1E4CF33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22712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accent2"/>
                </a:solidFill>
              </a:defRPr>
            </a:lvl1pPr>
          </a:lstStyle>
          <a:p>
            <a:r>
              <a:rPr lang="en-US"/>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287234" cy="875370"/>
          </a:xfrm>
          <a:noFill/>
        </p:spPr>
        <p:txBody>
          <a:bodyPr vert="horz" lIns="0" tIns="91440" rIns="457200" bIns="91440" rtlCol="0" anchor="b">
            <a:noAutofit/>
          </a:bodyPr>
          <a:lstStyle>
            <a:lvl1pPr>
              <a:defRPr lang="en-US" dirty="0">
                <a:solidFill>
                  <a:schemeClr val="accent2"/>
                </a:solidFill>
              </a:defRPr>
            </a:lvl1pPr>
          </a:lstStyle>
          <a:p>
            <a:pPr lvl="0"/>
            <a:r>
              <a:rPr lang="en-US"/>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92865" y="2621020"/>
            <a:ext cx="5315794"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308726" y="1600202"/>
            <a:ext cx="5287234" cy="875370"/>
          </a:xfrm>
          <a:noFill/>
        </p:spPr>
        <p:txBody>
          <a:bodyPr vert="horz" lIns="0" tIns="91440" rIns="457200" bIns="91440" rtlCol="0" anchor="b">
            <a:noAutofit/>
          </a:bodyPr>
          <a:lstStyle>
            <a:lvl1pPr>
              <a:defRPr lang="en-US" sz="2000">
                <a:solidFill>
                  <a:schemeClr val="accent4"/>
                </a:solidFill>
              </a:defRPr>
            </a:lvl1pPr>
          </a:lstStyle>
          <a:p>
            <a:pPr lvl="0"/>
            <a:r>
              <a:rPr lang="en-US"/>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308143" y="2621280"/>
            <a:ext cx="5287234" cy="3575124"/>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7" name="Rectangle 16">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userDrawn="1"/>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8" name="Rectangle 17">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userDrawn="1"/>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9" name="page number">
            <a:extLst>
              <a:ext uri="{FF2B5EF4-FFF2-40B4-BE49-F238E27FC236}">
                <a16:creationId xmlns:a16="http://schemas.microsoft.com/office/drawing/2014/main" id="{3E816477-50B7-9248-BE5F-B9062610CEE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84458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accent2"/>
                </a:solidFill>
              </a:defRPr>
            </a:lvl1pPr>
          </a:lstStyle>
          <a:p>
            <a:r>
              <a:rPr lang="en-US"/>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600200"/>
            <a:ext cx="3593592" cy="914400"/>
          </a:xfrm>
          <a:noFill/>
        </p:spPr>
        <p:txBody>
          <a:bodyPr lIns="0" tIns="91440" rIns="182880" bIns="91440" anchor="b"/>
          <a:lstStyle>
            <a:lvl1pPr>
              <a:defRPr sz="1800">
                <a:solidFill>
                  <a:schemeClr val="accent2"/>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297616" y="1600200"/>
            <a:ext cx="3593592" cy="914400"/>
          </a:xfrm>
          <a:noFill/>
        </p:spPr>
        <p:txBody>
          <a:bodyPr lIns="0" tIns="91440" rIns="182880" bIns="91440" anchor="b"/>
          <a:lstStyle>
            <a:lvl1pPr>
              <a:defRPr sz="1800">
                <a:solidFill>
                  <a:schemeClr val="accent3"/>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001859" y="1600200"/>
            <a:ext cx="3593592" cy="914400"/>
          </a:xfrm>
          <a:noFill/>
        </p:spPr>
        <p:txBody>
          <a:bodyPr lIns="0" tIns="91440" rIns="182880" bIns="91440" anchor="b"/>
          <a:lstStyle>
            <a:lvl1pPr>
              <a:defRPr sz="1800">
                <a:solidFill>
                  <a:schemeClr val="accent4"/>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Text Placeholder 6">
            <a:extLst>
              <a:ext uri="{FF2B5EF4-FFF2-40B4-BE49-F238E27FC236}">
                <a16:creationId xmlns:a16="http://schemas.microsoft.com/office/drawing/2014/main" id="{34AF0ECF-E71C-8AC9-36B9-29CB570B16D7}"/>
              </a:ext>
            </a:extLst>
          </p:cNvPr>
          <p:cNvSpPr>
            <a:spLocks noGrp="1"/>
          </p:cNvSpPr>
          <p:nvPr>
            <p:ph type="body" sz="quarter" idx="29"/>
          </p:nvPr>
        </p:nvSpPr>
        <p:spPr>
          <a:xfrm>
            <a:off x="59286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Text Placeholder 6">
            <a:extLst>
              <a:ext uri="{FF2B5EF4-FFF2-40B4-BE49-F238E27FC236}">
                <a16:creationId xmlns:a16="http://schemas.microsoft.com/office/drawing/2014/main" id="{D43B6B0E-4AB9-6144-29E4-820FC763DE97}"/>
              </a:ext>
            </a:extLst>
          </p:cNvPr>
          <p:cNvSpPr>
            <a:spLocks noGrp="1"/>
          </p:cNvSpPr>
          <p:nvPr>
            <p:ph type="body" sz="quarter" idx="30"/>
          </p:nvPr>
        </p:nvSpPr>
        <p:spPr>
          <a:xfrm>
            <a:off x="429761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6">
            <a:extLst>
              <a:ext uri="{FF2B5EF4-FFF2-40B4-BE49-F238E27FC236}">
                <a16:creationId xmlns:a16="http://schemas.microsoft.com/office/drawing/2014/main" id="{FEE5625D-A2F8-6592-7C13-07EAF5CBBC33}"/>
              </a:ext>
            </a:extLst>
          </p:cNvPr>
          <p:cNvSpPr>
            <a:spLocks noGrp="1"/>
          </p:cNvSpPr>
          <p:nvPr>
            <p:ph type="body" sz="quarter" idx="31"/>
          </p:nvPr>
        </p:nvSpPr>
        <p:spPr>
          <a:xfrm>
            <a:off x="8001859"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13">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userDrawn="1"/>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6" name="Rectangle 15">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userDrawn="1"/>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7" name="page number">
            <a:extLst>
              <a:ext uri="{FF2B5EF4-FFF2-40B4-BE49-F238E27FC236}">
                <a16:creationId xmlns:a16="http://schemas.microsoft.com/office/drawing/2014/main" id="{7788490C-B63E-8E46-A9C1-9CF865F7FA57}"/>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Rectangle 17">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userDrawn="1"/>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1880597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 Content Dynamic –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9531"/>
            <a:ext cx="8229600" cy="4572000"/>
          </a:xfrm>
        </p:spPr>
        <p:txBody>
          <a:bodyPr vert="horz" lIns="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Rectangle 8">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userDrawn="1"/>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1A93E906-C928-C345-B032-1F5C677FAED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64695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CEB93DEE-AB9E-C81E-DF9C-D1BE09F22E09}"/>
              </a:ext>
            </a:extLst>
          </p:cNvPr>
          <p:cNvSpPr>
            <a:spLocks noGrp="1"/>
          </p:cNvSpPr>
          <p:nvPr>
            <p:ph type="body" sz="quarter" idx="20" hasCustomPrompt="1"/>
          </p:nvPr>
        </p:nvSpPr>
        <p:spPr>
          <a:xfrm>
            <a:off x="9294812"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10">
            <a:extLst>
              <a:ext uri="{FF2B5EF4-FFF2-40B4-BE49-F238E27FC236}">
                <a16:creationId xmlns:a16="http://schemas.microsoft.com/office/drawing/2014/main" id="{DC18C6BC-2416-B51C-F45A-9BCC874B47ED}"/>
              </a:ext>
            </a:extLst>
          </p:cNvPr>
          <p:cNvSpPr>
            <a:spLocks noGrp="1"/>
          </p:cNvSpPr>
          <p:nvPr>
            <p:ph sz="quarter" idx="19" hasCustomPrompt="1"/>
          </p:nvPr>
        </p:nvSpPr>
        <p:spPr>
          <a:xfrm>
            <a:off x="0" y="1609531"/>
            <a:ext cx="8229600" cy="4572000"/>
          </a:xfrm>
        </p:spPr>
        <p:txBody>
          <a:bodyPr vert="horz" lIns="59436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EA3FFB13-8625-D245-BD64-AAC7CCCB5B6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0" name="Rectangle 9">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userDrawn="1"/>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213626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2"/>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defRPr sz="1600">
                <a:solidFill>
                  <a:schemeClr val="accent2"/>
                </a:solidFill>
              </a:defRPr>
            </a:lvl1pPr>
            <a:lvl2pPr>
              <a:buClr>
                <a:schemeClr val="accent2"/>
              </a:buClr>
              <a:defRPr sz="1400">
                <a:solidFill>
                  <a:schemeClr val="accent2"/>
                </a:solidFill>
              </a:defRPr>
            </a:lvl2pPr>
            <a:lvl3pPr>
              <a:buClr>
                <a:schemeClr val="accent2"/>
              </a:buClr>
              <a:defRPr sz="1200">
                <a:solidFill>
                  <a:schemeClr val="accent2"/>
                </a:solidFill>
              </a:defRPr>
            </a:lvl3pPr>
            <a:lvl4pPr>
              <a:buClr>
                <a:schemeClr val="accent2"/>
              </a:buClr>
              <a:defRPr sz="1100">
                <a:solidFill>
                  <a:schemeClr val="accent2"/>
                </a:solidFill>
              </a:defRPr>
            </a:lvl4pPr>
            <a:lvl5pPr>
              <a:buClr>
                <a:schemeClr val="accent2"/>
              </a:buClr>
              <a:defRPr sz="1100">
                <a:solidFill>
                  <a:schemeClr val="accent2"/>
                </a:solidFill>
              </a:defRPr>
            </a:lvl5pPr>
            <a:lvl6pPr>
              <a:buClr>
                <a:schemeClr val="accent2"/>
              </a:buClr>
              <a:defRPr sz="1100">
                <a:solidFill>
                  <a:schemeClr val="accent2"/>
                </a:solidFill>
              </a:defRPr>
            </a:lvl6pPr>
            <a:lvl7pPr>
              <a:buClr>
                <a:schemeClr val="accent2"/>
              </a:buClr>
              <a:defRPr sz="1100">
                <a:solidFill>
                  <a:schemeClr val="accent2"/>
                </a:solidFill>
              </a:defRPr>
            </a:lvl7pPr>
            <a:lvl8pPr>
              <a:buClr>
                <a:schemeClr val="accent2"/>
              </a:buClr>
              <a:defRPr sz="1100">
                <a:solidFill>
                  <a:schemeClr val="accent2"/>
                </a:solidFill>
              </a:defRPr>
            </a:lvl8pPr>
            <a:lvl9pPr>
              <a:buClr>
                <a:schemeClr val="accent2"/>
              </a:buClr>
              <a:defRPr sz="1100">
                <a:solidFill>
                  <a:schemeClr val="accent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C05F02B7-B99F-8424-E971-B7478FAB40DE}"/>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dirty="0"/>
              <a:t>NOTE: This is intended for a diagram only.</a:t>
            </a:r>
            <a:br>
              <a:rPr lang="en-US" dirty="0"/>
            </a:br>
            <a:r>
              <a:rPr lang="en-US" dirty="0"/>
              <a:t>Not recommended to add text here, as it’s not formatted for it. </a:t>
            </a:r>
          </a:p>
        </p:txBody>
      </p:sp>
      <p:sp>
        <p:nvSpPr>
          <p:cNvPr id="8" name="Rectangle 7">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0D34A4A0-0C07-994F-9539-A07F4B06F18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18767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accent2"/>
                </a:solidFill>
              </a:defRPr>
            </a:lvl1pPr>
          </a:lstStyle>
          <a:p>
            <a:r>
              <a:rPr lang="en-US"/>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3200400" cy="298450"/>
          </a:xfrm>
        </p:spPr>
        <p:txBody>
          <a:bodyPr anchor="b"/>
          <a:lstStyle>
            <a:lvl1pPr>
              <a:defRPr sz="1800">
                <a:solidFill>
                  <a:schemeClr val="accent2"/>
                </a:solidFill>
              </a:defRPr>
            </a:lvl1pPr>
            <a:lvl5pPr>
              <a:defRPr/>
            </a:lvl5pPr>
          </a:lstStyle>
          <a:p>
            <a:pPr lvl="0"/>
            <a:r>
              <a:rPr lang="en-US"/>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3200400" cy="298450"/>
          </a:xfrm>
        </p:spPr>
        <p:txBody>
          <a:bodyPr anchor="b"/>
          <a:lstStyle>
            <a:lvl1pPr>
              <a:defRPr sz="1800">
                <a:solidFill>
                  <a:schemeClr val="accent4"/>
                </a:solidFill>
              </a:defRPr>
            </a:lvl1pPr>
            <a:lvl5pPr>
              <a:defRPr/>
            </a:lvl5pPr>
          </a:lstStyle>
          <a:p>
            <a:pPr lvl="0"/>
            <a:r>
              <a:rPr lang="en-US"/>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a:t>Click to add text</a:t>
            </a:r>
          </a:p>
          <a:p>
            <a:pPr lvl="1"/>
            <a:r>
              <a:rPr lang="en-US"/>
              <a:t>Second level</a:t>
            </a:r>
          </a:p>
          <a:p>
            <a:pPr lvl="2"/>
            <a:r>
              <a:rPr lang="en-US"/>
              <a:t>Third level</a:t>
            </a:r>
          </a:p>
        </p:txBody>
      </p:sp>
      <p:sp>
        <p:nvSpPr>
          <p:cNvPr id="13"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81258617-CE72-E542-2E67-9B2874ED90B7}"/>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NOTE: This is intended for a diagram only.</a:t>
            </a:r>
            <a:br>
              <a:rPr lang="en-US"/>
            </a:br>
            <a:r>
              <a:rPr lang="en-US"/>
              <a:t>Not recommended to add text here, as it’s not formatted for it. </a:t>
            </a:r>
          </a:p>
        </p:txBody>
      </p:sp>
      <p:cxnSp>
        <p:nvCxnSpPr>
          <p:cNvPr id="12" name="Straight Connector 11">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userDrawn="1"/>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userDrawn="1"/>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page number">
            <a:extLst>
              <a:ext uri="{FF2B5EF4-FFF2-40B4-BE49-F238E27FC236}">
                <a16:creationId xmlns:a16="http://schemas.microsoft.com/office/drawing/2014/main" id="{2520CB7B-27A1-0749-95BA-681D8A0535D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45080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accent2"/>
                </a:solidFill>
              </a:defRPr>
            </a:lvl1pPr>
          </a:lstStyle>
          <a:p>
            <a:r>
              <a:rPr lang="en-US"/>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73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93624"/>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59911"/>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Three</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93624"/>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59911"/>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tx1"/>
                </a:solidFill>
              </a:defRPr>
            </a:lvl1pPr>
          </a:lstStyle>
          <a:p>
            <a:r>
              <a:rPr lang="en-US" dirty="0"/>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tx1"/>
                </a:solidFill>
              </a:defRPr>
            </a:lvl1pPr>
          </a:lstStyle>
          <a:p>
            <a:r>
              <a:rPr lang="en-GB"/>
              <a:t>Click icon to add picture</a:t>
            </a:r>
            <a:endParaRPr lang="en-US" dirty="0"/>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tx1"/>
                </a:solidFill>
              </a:defRPr>
            </a:lvl1pPr>
            <a:lvl2pPr marL="0" indent="0" algn="ctr">
              <a:lnSpc>
                <a:spcPct val="100000"/>
              </a:lnSpc>
              <a:spcBef>
                <a:spcPts val="0"/>
              </a:spcBef>
              <a:buFont typeface="Open Sans" panose="020B0606030504020204" pitchFamily="34" charset="0"/>
              <a:buChar char="​"/>
              <a:defRPr sz="1200">
                <a:solidFill>
                  <a:schemeClr val="tx1"/>
                </a:solidFill>
              </a:defRPr>
            </a:lvl2pPr>
            <a:lvl3pPr marL="0" indent="0" algn="ctr">
              <a:buFont typeface="Open Sans" panose="020B0606030504020204" pitchFamily="34" charset="0"/>
              <a:buNone/>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Click to add text</a:t>
            </a:r>
          </a:p>
          <a:p>
            <a:pPr lvl="1"/>
            <a:r>
              <a:rPr lang="en-US"/>
              <a:t>Second level</a:t>
            </a:r>
          </a:p>
        </p:txBody>
      </p:sp>
      <p:sp>
        <p:nvSpPr>
          <p:cNvPr id="33"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 name="Straight Connector 1">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2906119E-8D41-BF4A-7D53-2FBB71F653C6}"/>
              </a:ext>
            </a:extLst>
          </p:cNvPr>
          <p:cNvSpPr>
            <a:spLocks noGrp="1"/>
          </p:cNvSpPr>
          <p:nvPr>
            <p:ph type="body" sz="quarter" idx="41" hasCustomPrompt="1"/>
          </p:nvPr>
        </p:nvSpPr>
        <p:spPr>
          <a:xfrm>
            <a:off x="608013" y="1552575"/>
            <a:ext cx="3201987" cy="219075"/>
          </a:xfrm>
        </p:spPr>
        <p:txBody>
          <a:bodyPr anchor="b" anchorCtr="0"/>
          <a:lstStyle>
            <a:lvl1pPr>
              <a:defRPr sz="1200" cap="all" baseline="0">
                <a:solidFill>
                  <a:schemeClr val="accent2"/>
                </a:solidFill>
              </a:defRPr>
            </a:lvl1pPr>
          </a:lstStyle>
          <a:p>
            <a:pPr lvl="0"/>
            <a:r>
              <a:rPr lang="en-US" dirty="0"/>
              <a:t>About</a:t>
            </a:r>
          </a:p>
        </p:txBody>
      </p:sp>
      <p:sp>
        <p:nvSpPr>
          <p:cNvPr id="18" name="Text Placeholder 17">
            <a:extLst>
              <a:ext uri="{FF2B5EF4-FFF2-40B4-BE49-F238E27FC236}">
                <a16:creationId xmlns:a16="http://schemas.microsoft.com/office/drawing/2014/main" id="{D52D6E64-9DD1-43CD-C247-B83E374482F5}"/>
              </a:ext>
            </a:extLst>
          </p:cNvPr>
          <p:cNvSpPr>
            <a:spLocks noGrp="1"/>
          </p:cNvSpPr>
          <p:nvPr>
            <p:ph type="body" sz="quarter" idx="42" hasCustomPrompt="1"/>
          </p:nvPr>
        </p:nvSpPr>
        <p:spPr>
          <a:xfrm>
            <a:off x="4411663" y="1552575"/>
            <a:ext cx="3201987" cy="219075"/>
          </a:xfrm>
        </p:spPr>
        <p:txBody>
          <a:bodyPr anchor="b" anchorCtr="0"/>
          <a:lstStyle>
            <a:lvl1pPr>
              <a:defRPr sz="1200" cap="all" baseline="0">
                <a:solidFill>
                  <a:schemeClr val="accent2"/>
                </a:solidFill>
              </a:defRPr>
            </a:lvl1pPr>
          </a:lstStyle>
          <a:p>
            <a:pPr lvl="0"/>
            <a:r>
              <a:rPr lang="en-US" dirty="0"/>
              <a:t>solution</a:t>
            </a:r>
          </a:p>
        </p:txBody>
      </p:sp>
      <p:sp>
        <p:nvSpPr>
          <p:cNvPr id="20" name="Text Placeholder 19">
            <a:extLst>
              <a:ext uri="{FF2B5EF4-FFF2-40B4-BE49-F238E27FC236}">
                <a16:creationId xmlns:a16="http://schemas.microsoft.com/office/drawing/2014/main" id="{D02A9C0F-4D4C-0EEC-0E20-65368D11774B}"/>
              </a:ext>
            </a:extLst>
          </p:cNvPr>
          <p:cNvSpPr>
            <a:spLocks noGrp="1"/>
          </p:cNvSpPr>
          <p:nvPr>
            <p:ph type="body" sz="quarter" idx="43" hasCustomPrompt="1"/>
          </p:nvPr>
        </p:nvSpPr>
        <p:spPr>
          <a:xfrm>
            <a:off x="608013" y="3338514"/>
            <a:ext cx="3201987" cy="219075"/>
          </a:xfrm>
        </p:spPr>
        <p:txBody>
          <a:bodyPr anchor="b" anchorCtr="0"/>
          <a:lstStyle>
            <a:lvl1pPr>
              <a:defRPr sz="1200" cap="all" baseline="0">
                <a:solidFill>
                  <a:schemeClr val="accent3"/>
                </a:solidFill>
              </a:defRPr>
            </a:lvl1pPr>
          </a:lstStyle>
          <a:p>
            <a:pPr lvl="0"/>
            <a:r>
              <a:rPr lang="en-US" dirty="0"/>
              <a:t>challenges</a:t>
            </a:r>
          </a:p>
        </p:txBody>
      </p:sp>
      <p:sp>
        <p:nvSpPr>
          <p:cNvPr id="22" name="Text Placeholder 21">
            <a:extLst>
              <a:ext uri="{FF2B5EF4-FFF2-40B4-BE49-F238E27FC236}">
                <a16:creationId xmlns:a16="http://schemas.microsoft.com/office/drawing/2014/main" id="{1DEF5052-BBAD-A22B-0D68-BBBFD706375E}"/>
              </a:ext>
            </a:extLst>
          </p:cNvPr>
          <p:cNvSpPr>
            <a:spLocks noGrp="1"/>
          </p:cNvSpPr>
          <p:nvPr>
            <p:ph type="body" sz="quarter" idx="44" hasCustomPrompt="1"/>
          </p:nvPr>
        </p:nvSpPr>
        <p:spPr>
          <a:xfrm>
            <a:off x="4427538" y="3338514"/>
            <a:ext cx="3201987" cy="219075"/>
          </a:xfrm>
        </p:spPr>
        <p:txBody>
          <a:bodyPr anchor="b" anchorCtr="0"/>
          <a:lstStyle>
            <a:lvl1pPr>
              <a:defRPr sz="1200" cap="all" baseline="0">
                <a:solidFill>
                  <a:schemeClr val="accent3"/>
                </a:solidFill>
              </a:defRPr>
            </a:lvl1pPr>
          </a:lstStyle>
          <a:p>
            <a:pPr lvl="0"/>
            <a:r>
              <a:rPr lang="en-US"/>
              <a:t>impact</a:t>
            </a:r>
          </a:p>
        </p:txBody>
      </p:sp>
      <p:sp>
        <p:nvSpPr>
          <p:cNvPr id="24" name="Text Placeholder 23">
            <a:extLst>
              <a:ext uri="{FF2B5EF4-FFF2-40B4-BE49-F238E27FC236}">
                <a16:creationId xmlns:a16="http://schemas.microsoft.com/office/drawing/2014/main" id="{9FFF9CD2-0893-33FB-480A-506C7095C2FA}"/>
              </a:ext>
            </a:extLst>
          </p:cNvPr>
          <p:cNvSpPr>
            <a:spLocks noGrp="1"/>
          </p:cNvSpPr>
          <p:nvPr>
            <p:ph type="body" sz="quarter" idx="45" hasCustomPrompt="1"/>
          </p:nvPr>
        </p:nvSpPr>
        <p:spPr>
          <a:xfrm>
            <a:off x="608013" y="5022850"/>
            <a:ext cx="3200400" cy="227013"/>
          </a:xfrm>
        </p:spPr>
        <p:txBody>
          <a:bodyPr anchor="b" anchorCtr="0"/>
          <a:lstStyle>
            <a:lvl1pPr>
              <a:defRPr sz="1200" cap="all" baseline="0">
                <a:solidFill>
                  <a:schemeClr val="accent4"/>
                </a:solidFill>
              </a:defRPr>
            </a:lvl1pPr>
          </a:lstStyle>
          <a:p>
            <a:pPr lvl="0"/>
            <a:r>
              <a:rPr lang="en-US"/>
              <a:t>products</a:t>
            </a:r>
          </a:p>
        </p:txBody>
      </p:sp>
      <p:sp>
        <p:nvSpPr>
          <p:cNvPr id="26" name="Text Placeholder 25">
            <a:extLst>
              <a:ext uri="{FF2B5EF4-FFF2-40B4-BE49-F238E27FC236}">
                <a16:creationId xmlns:a16="http://schemas.microsoft.com/office/drawing/2014/main" id="{F2B49FE0-BA78-9DF9-AB7D-9F52651E93AD}"/>
              </a:ext>
            </a:extLst>
          </p:cNvPr>
          <p:cNvSpPr>
            <a:spLocks noGrp="1"/>
          </p:cNvSpPr>
          <p:nvPr>
            <p:ph type="body" sz="quarter" idx="46" hasCustomPrompt="1"/>
          </p:nvPr>
        </p:nvSpPr>
        <p:spPr>
          <a:xfrm>
            <a:off x="4427538" y="5022850"/>
            <a:ext cx="3200400" cy="227013"/>
          </a:xfrm>
        </p:spPr>
        <p:txBody>
          <a:bodyPr anchor="b" anchorCtr="0"/>
          <a:lstStyle>
            <a:lvl1pPr>
              <a:defRPr sz="1200" cap="all" baseline="0">
                <a:solidFill>
                  <a:schemeClr val="accent4"/>
                </a:solidFill>
              </a:defRPr>
            </a:lvl1pPr>
          </a:lstStyle>
          <a:p>
            <a:pPr lvl="0"/>
            <a:r>
              <a:rPr lang="en-US"/>
              <a:t>Strategic priorities</a:t>
            </a:r>
          </a:p>
        </p:txBody>
      </p:sp>
      <p:cxnSp>
        <p:nvCxnSpPr>
          <p:cNvPr id="32" name="Straight Connector 31">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userDrawn="1"/>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userDrawn="1"/>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userDrawn="1"/>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userDrawn="1"/>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userDrawn="1"/>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page number">
            <a:extLst>
              <a:ext uri="{FF2B5EF4-FFF2-40B4-BE49-F238E27FC236}">
                <a16:creationId xmlns:a16="http://schemas.microsoft.com/office/drawing/2014/main" id="{CB20449E-0760-3743-8E7C-7D6BA7165F7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49" name="Straight Connector 48">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userDrawn="1"/>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721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Open Sans" panose="020B0606030504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Oval 17">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0" name="Oval 19">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4" name="Oval 23">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63020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9" name="Oval 18">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4" name="Oval 23">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5" name="Oval 24">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6" name="Oval 25">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98995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dirty="0">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2">
                    <a:lumMod val="25000"/>
                  </a:schemeClr>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6" name="Oval 25">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31" name="Oval 30">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noFill/>
          <a:ln w="38100">
            <a:solidFill>
              <a:schemeClr val="accent3"/>
            </a:solidFill>
          </a:ln>
          <a:effectLst/>
        </p:spPr>
        <p:txBody>
          <a:bodyPr vert="horz" wrap="square" lIns="91440" tIns="45720" rIns="91440" bIns="45720" numCol="1" anchor="ctr" anchorCtr="0" compatLnSpc="1">
            <a:prstTxWarp prst="textNoShape">
              <a:avLst/>
            </a:prstTxWarp>
          </a:bodyPr>
          <a:lstStyle/>
          <a:p>
            <a:pPr lvl="0" algn="ctr"/>
            <a:endParaRPr lang="en-US" dirty="0">
              <a:solidFill>
                <a:schemeClr val="bg1"/>
              </a:solidFill>
            </a:endParaRPr>
          </a:p>
        </p:txBody>
      </p:sp>
      <p:sp>
        <p:nvSpPr>
          <p:cNvPr id="33" name="Oval 32">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34" name="Oval 33">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35" name="Oval 34">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36"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83593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ive Numbered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5" name="Rectangle 4">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6" name="Rectangle 5">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Rectangle 6">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Rectangle 1">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5" name="Straight Connector 14">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1" y="2529075"/>
            <a:ext cx="1828800" cy="2871263"/>
          </a:xfrm>
          <a:noFill/>
          <a:ln>
            <a:noFill/>
          </a:ln>
        </p:spPr>
        <p:txBody>
          <a:bodyPr lIns="182880" tIns="548640" rIns="182880" bIns="182880"/>
          <a:lstStyle>
            <a:lvl1pPr algn="ctr">
              <a:lnSpc>
                <a:spcPct val="90000"/>
              </a:lnSpc>
              <a:spcBef>
                <a:spcPts val="600"/>
              </a:spcBef>
              <a:buNone/>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cxnSp>
        <p:nvCxnSpPr>
          <p:cNvPr id="19" name="Straight Connector 18">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2529075"/>
            <a:ext cx="1828800" cy="2871263"/>
          </a:xfrm>
          <a:noFill/>
          <a:ln>
            <a:noFill/>
          </a:ln>
        </p:spPr>
        <p:txBody>
          <a:bodyPr lIns="182880" tIns="548640" rIns="182880" bIns="182880"/>
          <a:lstStyle>
            <a:lvl1pPr algn="ctr">
              <a:lnSpc>
                <a:spcPct val="9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18" name="Straight Connector 17">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2529075"/>
            <a:ext cx="1828800" cy="2871263"/>
          </a:xfrm>
          <a:noFill/>
          <a:ln>
            <a:noFill/>
          </a:ln>
        </p:spPr>
        <p:txBody>
          <a:bodyPr lIns="182880" tIns="548640" rIns="182880" bIns="182880"/>
          <a:lstStyle>
            <a:lvl1pPr algn="ctr">
              <a:lnSpc>
                <a:spcPct val="90000"/>
              </a:lnSpc>
              <a:spcBef>
                <a:spcPts val="600"/>
              </a:spcBef>
              <a:buNone/>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0" name="Straight Connector 19">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2529075"/>
            <a:ext cx="1828800" cy="2871263"/>
          </a:xfrm>
          <a:noFill/>
          <a:ln>
            <a:noFill/>
          </a:ln>
        </p:spPr>
        <p:txBody>
          <a:bodyPr lIns="182880" tIns="548640" rIns="182880" bIns="182880"/>
          <a:lstStyle>
            <a:lvl1pPr algn="ctr">
              <a:lnSpc>
                <a:spcPct val="90000"/>
              </a:lnSpc>
              <a:spcBef>
                <a:spcPts val="600"/>
              </a:spcBef>
              <a:buNone/>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1" name="Straight Connector 20">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2529075"/>
            <a:ext cx="1828800" cy="2871263"/>
          </a:xfrm>
          <a:noFill/>
          <a:ln>
            <a:noFill/>
          </a:ln>
        </p:spPr>
        <p:txBody>
          <a:bodyPr lIns="182880" tIns="548640" rIns="182880" bIns="182880"/>
          <a:lstStyle>
            <a:lvl1pPr algn="ctr">
              <a:lnSpc>
                <a:spcPct val="90000"/>
              </a:lnSpc>
              <a:spcBef>
                <a:spcPts val="600"/>
              </a:spcBef>
              <a:buNone/>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dirty="0">
                <a:solidFill>
                  <a:schemeClr val="accent3"/>
                </a:solidFill>
              </a:rPr>
              <a:t>2</a:t>
            </a:r>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
        <p:nvSpPr>
          <p:cNvPr id="25" name="Rectangle 24">
            <a:extLst>
              <a:ext uri="{FF2B5EF4-FFF2-40B4-BE49-F238E27FC236}">
                <a16:creationId xmlns:a16="http://schemas.microsoft.com/office/drawing/2014/main" id="{C52EE46A-2B6A-D0CE-D67A-E39C4516F8BB}"/>
              </a:ext>
            </a:extLst>
          </p:cNvPr>
          <p:cNvSpPr/>
          <p:nvPr userDrawn="1"/>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Rectangle 25">
            <a:extLst>
              <a:ext uri="{FF2B5EF4-FFF2-40B4-BE49-F238E27FC236}">
                <a16:creationId xmlns:a16="http://schemas.microsoft.com/office/drawing/2014/main" id="{1DC9EA80-9EA8-343E-F517-1CAD885879D6}"/>
              </a:ext>
            </a:extLst>
          </p:cNvPr>
          <p:cNvSpPr/>
          <p:nvPr userDrawn="1"/>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7" name="Rectangle 26">
            <a:extLst>
              <a:ext uri="{FF2B5EF4-FFF2-40B4-BE49-F238E27FC236}">
                <a16:creationId xmlns:a16="http://schemas.microsoft.com/office/drawing/2014/main" id="{A8D23D95-E4CC-0B03-48A9-0EC81B2368E5}"/>
              </a:ext>
            </a:extLst>
          </p:cNvPr>
          <p:cNvSpPr/>
          <p:nvPr userDrawn="1"/>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1" name="Rectangle 30">
            <a:extLst>
              <a:ext uri="{FF2B5EF4-FFF2-40B4-BE49-F238E27FC236}">
                <a16:creationId xmlns:a16="http://schemas.microsoft.com/office/drawing/2014/main" id="{3737E5D6-04BF-01BC-A221-0F1D603C51D8}"/>
              </a:ext>
            </a:extLst>
          </p:cNvPr>
          <p:cNvSpPr/>
          <p:nvPr userDrawn="1"/>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3" name="Rectangle 32">
            <a:extLst>
              <a:ext uri="{FF2B5EF4-FFF2-40B4-BE49-F238E27FC236}">
                <a16:creationId xmlns:a16="http://schemas.microsoft.com/office/drawing/2014/main" id="{65142366-F01F-D56A-11BB-7D669E9AD2B4}"/>
              </a:ext>
            </a:extLst>
          </p:cNvPr>
          <p:cNvSpPr/>
          <p:nvPr userDrawn="1"/>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cxnSp>
        <p:nvCxnSpPr>
          <p:cNvPr id="34" name="Straight Connector 33">
            <a:extLst>
              <a:ext uri="{FF2B5EF4-FFF2-40B4-BE49-F238E27FC236}">
                <a16:creationId xmlns:a16="http://schemas.microsoft.com/office/drawing/2014/main" id="{182EA033-41AE-6148-A260-889FF59E41C9}"/>
              </a:ext>
            </a:extLst>
          </p:cNvPr>
          <p:cNvCxnSpPr/>
          <p:nvPr userDrawn="1"/>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2FF207-1B75-1940-91E1-2692254C727F}"/>
              </a:ext>
            </a:extLst>
          </p:cNvPr>
          <p:cNvCxnSpPr/>
          <p:nvPr userDrawn="1"/>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03341DC-DE80-5E4C-A4C9-C984D7074760}"/>
              </a:ext>
            </a:extLst>
          </p:cNvPr>
          <p:cNvCxnSpPr/>
          <p:nvPr userDrawn="1"/>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8E238A-DE09-DD4F-A6F3-2F244E7301C3}"/>
              </a:ext>
            </a:extLst>
          </p:cNvPr>
          <p:cNvCxnSpPr/>
          <p:nvPr userDrawn="1"/>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B64954-CA3A-494E-B70D-3405C9F592D8}"/>
              </a:ext>
            </a:extLst>
          </p:cNvPr>
          <p:cNvCxnSpPr/>
          <p:nvPr userDrawn="1"/>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page number">
            <a:extLst>
              <a:ext uri="{FF2B5EF4-FFF2-40B4-BE49-F238E27FC236}">
                <a16:creationId xmlns:a16="http://schemas.microsoft.com/office/drawing/2014/main" id="{778B9E91-325F-BB46-BB33-20219DF70C9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5" name="Oval 44">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userDrawn="1"/>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46" name="Oval 45">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userDrawn="1"/>
        </p:nvSpPr>
        <p:spPr bwMode="gray">
          <a:xfrm>
            <a:off x="3414170" y="2118221"/>
            <a:ext cx="788487" cy="788487"/>
          </a:xfrm>
          <a:prstGeom prst="ellipse">
            <a:avLst/>
          </a:prstGeom>
          <a:solidFill>
            <a:schemeClr val="bg1"/>
          </a:solidFill>
          <a:ln w="25400">
            <a:solidFill>
              <a:schemeClr val="accent3"/>
            </a:solidFill>
          </a:ln>
          <a:effectLst/>
        </p:spPr>
        <p:txBody>
          <a:bodyPr vert="horz" wrap="square" lIns="91440" tIns="45720" rIns="91440" bIns="45720" numCol="1" anchor="ctr" anchorCtr="0" compatLnSpc="1">
            <a:prstTxWarp prst="textNoShape">
              <a:avLst/>
            </a:prstTxWarp>
          </a:bodyPr>
          <a:lstStyle/>
          <a:p>
            <a:pPr lvl="0" algn="ctr"/>
            <a:r>
              <a:rPr lang="en-US" dirty="0">
                <a:solidFill>
                  <a:schemeClr val="accent3"/>
                </a:solidFill>
              </a:rPr>
              <a:t>2</a:t>
            </a:r>
          </a:p>
        </p:txBody>
      </p:sp>
      <p:sp>
        <p:nvSpPr>
          <p:cNvPr id="47" name="Oval 46">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userDrawn="1"/>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8" name="Oval 47">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userDrawn="1"/>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9" name="Oval 48">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userDrawn="1"/>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Tree>
    <p:extLst>
      <p:ext uri="{BB962C8B-B14F-4D97-AF65-F5344CB8AC3E}">
        <p14:creationId xmlns:p14="http://schemas.microsoft.com/office/powerpoint/2010/main" val="545820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solidFill>
            <a:srgbClr val="F4F8FA"/>
          </a:solidFill>
          <a:ln w="12700">
            <a:solidFill>
              <a:schemeClr val="accent3">
                <a:alpha val="25000"/>
              </a:schemeClr>
            </a:solidFill>
          </a:ln>
        </p:spPr>
        <p:txBody>
          <a:bodyPr tIns="91440"/>
          <a:lstStyle>
            <a:lvl1pPr algn="ctr">
              <a:lnSpc>
                <a:spcPct val="100000"/>
              </a:lnSpc>
              <a:spcBef>
                <a:spcPts val="600"/>
              </a:spcBef>
              <a:buNone/>
              <a:defRPr sz="16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59421" cy="1949198"/>
          </a:xfrm>
          <a:noFill/>
          <a:ln w="15875">
            <a:noFill/>
          </a:ln>
        </p:spPr>
        <p:txBody>
          <a:bodyPr tIns="365760"/>
          <a:lstStyle>
            <a:lvl1pPr algn="ctr">
              <a:lnSpc>
                <a:spcPct val="100000"/>
              </a:lnSpc>
              <a:spcBef>
                <a:spcPts val="600"/>
              </a:spcBef>
              <a:buNone/>
              <a:defRPr sz="1800">
                <a:solidFill>
                  <a:schemeClr val="accent4"/>
                </a:solidFill>
              </a:defRPr>
            </a:lvl1pPr>
            <a:lvl2pPr marL="0" indent="0" algn="ctr">
              <a:lnSpc>
                <a:spcPct val="100000"/>
              </a:lnSpc>
              <a:spcBef>
                <a:spcPts val="600"/>
              </a:spcBef>
              <a:buFont typeface="Open Sans" panose="020B0606030504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3816081" y="2699834"/>
            <a:ext cx="2459421" cy="1949198"/>
          </a:xfrm>
          <a:noFill/>
          <a:ln w="15875">
            <a:noFill/>
          </a:ln>
        </p:spPr>
        <p:txBody>
          <a:bodyPr tIns="365760"/>
          <a:lstStyle>
            <a:lvl1pPr algn="ctr">
              <a:lnSpc>
                <a:spcPct val="100000"/>
              </a:lnSpc>
              <a:spcBef>
                <a:spcPts val="600"/>
              </a:spcBef>
              <a:defRPr sz="1800">
                <a:solidFill>
                  <a:schemeClr val="accent3"/>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6529755" y="2699834"/>
            <a:ext cx="2459421" cy="1949198"/>
          </a:xfrm>
          <a:noFill/>
          <a:ln w="15875">
            <a:noFill/>
          </a:ln>
        </p:spPr>
        <p:txBody>
          <a:bodyPr tIns="365760"/>
          <a:lstStyle>
            <a:lvl1pPr algn="ctr">
              <a:lnSpc>
                <a:spcPct val="100000"/>
              </a:lnSpc>
              <a:spcBef>
                <a:spcPts val="600"/>
              </a:spcBef>
              <a:buNone/>
              <a:defRPr sz="1800">
                <a:solidFill>
                  <a:schemeClr val="accent2"/>
                </a:solidFill>
              </a:defRPr>
            </a:lvl1pPr>
            <a:lvl2pPr marL="285750" indent="-285750" algn="ctr">
              <a:lnSpc>
                <a:spcPct val="100000"/>
              </a:lnSpc>
              <a:spcBef>
                <a:spcPts val="600"/>
              </a:spcBef>
              <a:buFont typeface="Open Sans" panose="020B0606030504020204" pitchFamily="34" charset="0"/>
              <a:buChar char="​"/>
              <a:defRPr lang="en-US" sz="1400" kern="120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9421" cy="1949198"/>
          </a:xfrm>
          <a:noFill/>
          <a:ln w="15875">
            <a:noFill/>
          </a:ln>
        </p:spPr>
        <p:txBody>
          <a:bodyPr tIns="365760"/>
          <a:lstStyle>
            <a:lvl1pPr algn="ctr">
              <a:lnSpc>
                <a:spcPct val="100000"/>
              </a:lnSpc>
              <a:spcBef>
                <a:spcPts val="600"/>
              </a:spcBef>
              <a:buNone/>
              <a:defRPr sz="1800">
                <a:solidFill>
                  <a:schemeClr val="accent5"/>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4"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3" name="Straight Connector 22">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userDrawn="1"/>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userDrawn="1"/>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userDrawn="1"/>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userDrawn="1"/>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page number">
            <a:extLst>
              <a:ext uri="{FF2B5EF4-FFF2-40B4-BE49-F238E27FC236}">
                <a16:creationId xmlns:a16="http://schemas.microsoft.com/office/drawing/2014/main" id="{D09494D0-773E-A04D-BC5F-65AA87B8246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742928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ig Statement - Leaf">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AE796DBB-7792-6B1A-4BD6-1B6B3F4B736A}"/>
              </a:ext>
            </a:extLst>
          </p:cNvPr>
          <p:cNvGrpSpPr/>
          <p:nvPr/>
        </p:nvGrpSpPr>
        <p:grpSpPr>
          <a:xfrm>
            <a:off x="5111737" y="1408637"/>
            <a:ext cx="7077088" cy="4553747"/>
            <a:chOff x="5111737" y="1408637"/>
            <a:chExt cx="7077088" cy="4553747"/>
          </a:xfrm>
        </p:grpSpPr>
        <p:sp>
          <p:nvSpPr>
            <p:cNvPr id="33" name="Freeform: Shape 32">
              <a:extLst>
                <a:ext uri="{FF2B5EF4-FFF2-40B4-BE49-F238E27FC236}">
                  <a16:creationId xmlns:a16="http://schemas.microsoft.com/office/drawing/2014/main" id="{E4086297-1AF3-2A2B-2613-14EDF97D3E23}"/>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30" name="Freeform: Shape 29">
              <a:extLst>
                <a:ext uri="{FF2B5EF4-FFF2-40B4-BE49-F238E27FC236}">
                  <a16:creationId xmlns:a16="http://schemas.microsoft.com/office/drawing/2014/main" id="{6E43FCC5-AD89-BD2E-37A1-C8E7D4E39967}"/>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65A5776C-9EB9-F84B-B0C4-411FA1106F62}"/>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4"/>
                </a:solidFill>
              </a:defRPr>
            </a:lvl1pPr>
            <a:lvl2pPr marL="273050" indent="0">
              <a:buNone/>
              <a:defRPr/>
            </a:lvl2pPr>
          </a:lstStyle>
          <a:p>
            <a:pPr lvl="0"/>
            <a:r>
              <a:rPr lang="en-US" dirty="0"/>
              <a:t>Slide with large text placeholder, green theme.</a:t>
            </a:r>
          </a:p>
        </p:txBody>
      </p:sp>
      <p:sp>
        <p:nvSpPr>
          <p:cNvPr id="15"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55FF2E89-7A98-C14C-B802-9BBF588108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270682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Big Statement - Aqua">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AE981AE-FE9F-186D-50E0-7F14F9BF53B6}"/>
              </a:ext>
            </a:extLst>
          </p:cNvPr>
          <p:cNvGrpSpPr/>
          <p:nvPr/>
        </p:nvGrpSpPr>
        <p:grpSpPr>
          <a:xfrm>
            <a:off x="5111737" y="1408637"/>
            <a:ext cx="7077088" cy="4553747"/>
            <a:chOff x="5111737" y="1408637"/>
            <a:chExt cx="7077088" cy="4553747"/>
          </a:xfrm>
        </p:grpSpPr>
        <p:sp>
          <p:nvSpPr>
            <p:cNvPr id="3" name="Freeform: Shape 2">
              <a:extLst>
                <a:ext uri="{FF2B5EF4-FFF2-40B4-BE49-F238E27FC236}">
                  <a16:creationId xmlns:a16="http://schemas.microsoft.com/office/drawing/2014/main" id="{4C6C08E0-382E-E034-0786-953B81FE7655}"/>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3" name="Freeform: Shape 12">
              <a:extLst>
                <a:ext uri="{FF2B5EF4-FFF2-40B4-BE49-F238E27FC236}">
                  <a16:creationId xmlns:a16="http://schemas.microsoft.com/office/drawing/2014/main" id="{E200D762-9980-0F2F-A4D2-E7F64294A756}"/>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113BEA88-710C-A54D-A13C-5E36B6B878B7}"/>
              </a:ext>
            </a:extLst>
          </p:cNvPr>
          <p:cNvSpPr>
            <a:spLocks noGrp="1"/>
          </p:cNvSpPr>
          <p:nvPr>
            <p:ph type="body" sz="quarter" idx="12" hasCustomPrompt="1"/>
          </p:nvPr>
        </p:nvSpPr>
        <p:spPr>
          <a:xfrm>
            <a:off x="580171" y="2233670"/>
            <a:ext cx="6525709" cy="22859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blue theme.</a:t>
            </a:r>
          </a:p>
        </p:txBody>
      </p:sp>
      <p:sp>
        <p:nvSpPr>
          <p:cNvPr id="16"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A15EC20-3B57-4E4E-872C-A34852CBEF1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763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Big Statement - Plum">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76AE21A-751A-3AAB-6E34-CE624563FF91}"/>
              </a:ext>
            </a:extLst>
          </p:cNvPr>
          <p:cNvGrpSpPr/>
          <p:nvPr/>
        </p:nvGrpSpPr>
        <p:grpSpPr>
          <a:xfrm>
            <a:off x="5111737" y="1408637"/>
            <a:ext cx="7077088" cy="4553747"/>
            <a:chOff x="5111737" y="1408637"/>
            <a:chExt cx="7077088" cy="4553747"/>
          </a:xfrm>
        </p:grpSpPr>
        <p:sp>
          <p:nvSpPr>
            <p:cNvPr id="13" name="Freeform: Shape 12">
              <a:extLst>
                <a:ext uri="{FF2B5EF4-FFF2-40B4-BE49-F238E27FC236}">
                  <a16:creationId xmlns:a16="http://schemas.microsoft.com/office/drawing/2014/main" id="{FCFA1240-3D0D-AB66-BC3F-80EED354648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4" name="Freeform: Shape 13">
              <a:extLst>
                <a:ext uri="{FF2B5EF4-FFF2-40B4-BE49-F238E27FC236}">
                  <a16:creationId xmlns:a16="http://schemas.microsoft.com/office/drawing/2014/main" id="{A884ED15-B8BE-771F-D78D-1BE6D9F66CCF}"/>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10" name="Text Placeholder 862">
            <a:extLst>
              <a:ext uri="{FF2B5EF4-FFF2-40B4-BE49-F238E27FC236}">
                <a16:creationId xmlns:a16="http://schemas.microsoft.com/office/drawing/2014/main" id="{BB1BA4EC-6D18-954E-81DD-4678CFBE6FFB}"/>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purple theme.</a:t>
            </a:r>
          </a:p>
        </p:txBody>
      </p:sp>
      <p:sp>
        <p:nvSpPr>
          <p:cNvPr id="16"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12DD3E6-E621-1B4F-9197-621CC0C346A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28199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ig Statement 2 - Leaf ">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552AB5D8-753F-CA24-2C8A-45BC9791756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1A0A18CC-E157-AD15-E51D-50F3DC99465B}"/>
              </a:ext>
            </a:extLst>
          </p:cNvPr>
          <p:cNvSpPr/>
          <p:nvPr userDrawn="1"/>
        </p:nvSpPr>
        <p:spPr>
          <a:xfrm>
            <a:off x="6457030" y="355921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dirty="0"/>
          </a:p>
        </p:txBody>
      </p:sp>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 </a:t>
            </a:r>
            <a:br>
              <a:rPr lang="en-US"/>
            </a:br>
            <a:r>
              <a:rPr lang="en-US"/>
              <a:t>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34703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Statement 2 - Aqua">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C43BE5DC-D92A-9A5C-C8AE-7A979F11542A}"/>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2"/>
              </a:gs>
              <a:gs pos="83000">
                <a:srgbClr val="0095C4"/>
              </a:gs>
            </a:gsLst>
            <a:lin ang="18900033" scaled="1"/>
          </a:gradFill>
          <a:ln w="0" cap="flat">
            <a:noFill/>
            <a:prstDash val="solid"/>
            <a:miter/>
          </a:ln>
        </p:spPr>
        <p:txBody>
          <a:bodyPr rtlCol="0" anchor="ctr"/>
          <a:lstStyle/>
          <a:p>
            <a:endParaRPr lang="en-US" dirty="0"/>
          </a:p>
        </p:txBody>
      </p:sp>
      <p:sp>
        <p:nvSpPr>
          <p:cNvPr id="8"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a:t>
            </a:r>
            <a:br>
              <a:rPr lang="en-US"/>
            </a:br>
            <a:r>
              <a:rPr lang="en-US"/>
              <a:t>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0" name="Freeform: Shape 5">
            <a:extLst>
              <a:ext uri="{FF2B5EF4-FFF2-40B4-BE49-F238E27FC236}">
                <a16:creationId xmlns:a16="http://schemas.microsoft.com/office/drawing/2014/main" id="{DC6694C6-6A30-F4F5-68A3-ABC8048E7AE9}"/>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2"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2022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Statement 2 - Plum">
    <p:spTree>
      <p:nvGrpSpPr>
        <p:cNvPr id="1" name=""/>
        <p:cNvGrpSpPr/>
        <p:nvPr/>
      </p:nvGrpSpPr>
      <p:grpSpPr>
        <a:xfrm>
          <a:off x="0" y="0"/>
          <a:ext cx="0" cy="0"/>
          <a:chOff x="0" y="0"/>
          <a:chExt cx="0" cy="0"/>
        </a:xfrm>
      </p:grpSpPr>
      <p:sp>
        <p:nvSpPr>
          <p:cNvPr id="32"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C2AE01D1-6E35-D230-30F3-0D3E2F8A5364}"/>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dirty="0"/>
          </a:p>
        </p:txBody>
      </p:sp>
      <p:sp>
        <p:nvSpPr>
          <p:cNvPr id="7"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Big Statement – </a:t>
            </a:r>
            <a:br>
              <a:rPr lang="en-US" dirty="0"/>
            </a:br>
            <a:r>
              <a:rPr lang="en-US" dirty="0"/>
              <a:t>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9" name="Freeform: Shape 31">
            <a:extLst>
              <a:ext uri="{FF2B5EF4-FFF2-40B4-BE49-F238E27FC236}">
                <a16:creationId xmlns:a16="http://schemas.microsoft.com/office/drawing/2014/main" id="{23AA4DDC-2936-0AB6-8344-5481913C661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11" name="page number">
            <a:extLst>
              <a:ext uri="{FF2B5EF4-FFF2-40B4-BE49-F238E27FC236}">
                <a16:creationId xmlns:a16="http://schemas.microsoft.com/office/drawing/2014/main" id="{2A1148C9-BE55-F64C-8A6E-A5239BDB408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13995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69850"/>
            <a:ext cx="5403138" cy="6788150"/>
          </a:xfrm>
        </p:spPr>
        <p:txBody>
          <a:bodyPr lIns="640080" tIns="0" rIns="640080" anchor="ctr"/>
          <a:lstStyle>
            <a:lvl1pPr algn="ctr">
              <a:defRPr>
                <a:solidFill>
                  <a:schemeClr val="tx1"/>
                </a:solidFill>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1AAC44A2-B8BC-4B45-BE44-C4C65AFCB66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856434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ig Statist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B88A46-F304-51F6-1AAF-726E7309052D}"/>
              </a:ext>
            </a:extLst>
          </p:cNvPr>
          <p:cNvSpPr/>
          <p:nvPr/>
        </p:nvSpPr>
        <p:spPr>
          <a:xfrm>
            <a:off x="0" y="4332288"/>
            <a:ext cx="12188825" cy="2525712"/>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Oval 2">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Text Placeholder 14" descr="Doughnut chart label 3">
            <a:extLst>
              <a:ext uri="{FF2B5EF4-FFF2-40B4-BE49-F238E27FC236}">
                <a16:creationId xmlns:a16="http://schemas.microsoft.com/office/drawing/2014/main" id="{E4BDA96F-134D-4855-8751-F1043ABF3B47}"/>
              </a:ext>
            </a:extLst>
          </p:cNvPr>
          <p:cNvSpPr>
            <a:spLocks noGrp="1"/>
          </p:cNvSpPr>
          <p:nvPr>
            <p:ph type="body" sz="quarter" idx="11" hasCustomPrompt="1"/>
          </p:nvPr>
        </p:nvSpPr>
        <p:spPr>
          <a:xfrm>
            <a:off x="6096000" y="2514599"/>
            <a:ext cx="5027613" cy="1371601"/>
          </a:xfrm>
        </p:spPr>
        <p:txBody>
          <a:bodyPr anchor="ctr"/>
          <a:lstStyle>
            <a:lvl1pPr>
              <a:spcBef>
                <a:spcPts val="0"/>
              </a:spcBef>
              <a:defRPr sz="3600">
                <a:solidFill>
                  <a:schemeClr val="accent2"/>
                </a:solidFill>
              </a:defRPr>
            </a:lvl1pPr>
          </a:lstStyle>
          <a:p>
            <a:pPr lvl="0"/>
            <a:r>
              <a:rPr lang="en-US" dirty="0"/>
              <a:t>Doughnut Chart slide, click to add text here</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1"/>
                </a:solidFill>
              </a:defRPr>
            </a:lvl1pPr>
          </a:lstStyle>
          <a:p>
            <a:pPr lvl="0"/>
            <a:r>
              <a:rPr lang="en-GB"/>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1"/>
                </a:solidFill>
              </a:defRPr>
            </a:lvl1pPr>
          </a:lstStyle>
          <a:p>
            <a:pPr lvl="0"/>
            <a:r>
              <a:rPr lang="en-GB"/>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1"/>
                </a:solidFill>
              </a:defRPr>
            </a:lvl1pPr>
          </a:lstStyle>
          <a:p>
            <a:pPr lvl="0"/>
            <a:r>
              <a:rPr lang="en-GB"/>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1"/>
                </a:solidFill>
              </a:defRPr>
            </a:lvl1pPr>
          </a:lstStyle>
          <a:p>
            <a:pPr lvl="0"/>
            <a:r>
              <a:rPr lang="en-GB"/>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1"/>
                </a:solidFill>
              </a:defRPr>
            </a:lvl1pPr>
          </a:lstStyle>
          <a:p>
            <a:pPr lvl="0"/>
            <a:r>
              <a:rPr lang="en-GB"/>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9" name="Graphic 8">
            <a:extLst>
              <a:ext uri="{FF2B5EF4-FFF2-40B4-BE49-F238E27FC236}">
                <a16:creationId xmlns:a16="http://schemas.microsoft.com/office/drawing/2014/main" id="{51D71EBD-582E-1FCD-4FB5-19DB293014E0}"/>
              </a:ext>
            </a:extLst>
          </p:cNvPr>
          <p:cNvGrpSpPr/>
          <p:nvPr/>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22"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4"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7"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8"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9"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1"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Oval 34">
            <a:extLst>
              <a:ext uri="{FF2B5EF4-FFF2-40B4-BE49-F238E27FC236}">
                <a16:creationId xmlns:a16="http://schemas.microsoft.com/office/drawing/2014/main" id="{24AFE851-C873-10C5-E165-301FDB834692}"/>
              </a:ext>
            </a:extLst>
          </p:cNvPr>
          <p:cNvSpPr/>
          <p:nvPr userDrawn="1"/>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6" name="page number">
            <a:extLst>
              <a:ext uri="{FF2B5EF4-FFF2-40B4-BE49-F238E27FC236}">
                <a16:creationId xmlns:a16="http://schemas.microsoft.com/office/drawing/2014/main" id="{5FED840F-E343-734C-96BA-0EFF5AE5DAD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9" name="Graphic 8">
            <a:extLst>
              <a:ext uri="{FF2B5EF4-FFF2-40B4-BE49-F238E27FC236}">
                <a16:creationId xmlns:a16="http://schemas.microsoft.com/office/drawing/2014/main" id="{51D71EBD-582E-1FCD-4FB5-19DB293014E0}"/>
              </a:ext>
            </a:extLst>
          </p:cNvPr>
          <p:cNvGrpSpPr/>
          <p:nvPr userDrawn="1"/>
        </p:nvGrpSpPr>
        <p:grpSpPr>
          <a:xfrm>
            <a:off x="265625" y="6323271"/>
            <a:ext cx="1249223" cy="369648"/>
            <a:chOff x="265625" y="6323271"/>
            <a:chExt cx="1249223" cy="369648"/>
          </a:xfrm>
          <a:solidFill>
            <a:srgbClr val="000000"/>
          </a:solidFill>
        </p:grpSpPr>
        <p:grpSp>
          <p:nvGrpSpPr>
            <p:cNvPr id="4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49"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4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3"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4"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5"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6"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7"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8"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bwMode="gray">
          <a:xfrm>
            <a:off x="662672" y="722997"/>
            <a:ext cx="4480256" cy="4480256"/>
          </a:xfrm>
        </p:spPr>
        <p:txBody>
          <a:bodyPr anchor="ctr"/>
          <a:lstStyle>
            <a:lvl1pPr algn="ctr">
              <a:defRPr>
                <a:solidFill>
                  <a:schemeClr val="tx1"/>
                </a:solidFill>
              </a:defRPr>
            </a:lvl1pPr>
          </a:lstStyle>
          <a:p>
            <a:r>
              <a:rPr lang="en-US" dirty="0"/>
              <a:t>Click to insert a </a:t>
            </a:r>
            <a:br>
              <a:rPr lang="en-US" dirty="0"/>
            </a:br>
            <a:r>
              <a:rPr lang="en-US" dirty="0"/>
              <a:t>Doughnut chart</a:t>
            </a:r>
          </a:p>
        </p:txBody>
      </p:sp>
      <p:sp>
        <p:nvSpPr>
          <p:cNvPr id="5" name="TextBox 4">
            <a:extLst>
              <a:ext uri="{FF2B5EF4-FFF2-40B4-BE49-F238E27FC236}">
                <a16:creationId xmlns:a16="http://schemas.microsoft.com/office/drawing/2014/main" id="{9EE7E0D9-D41D-881D-F813-4A2FF0C435F7}"/>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996566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58493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Thank You / Closing - Leaf">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56DE6961-EE11-6DE7-194F-886ED937142D}"/>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rgbClr val="61A30E"/>
              </a:gs>
              <a:gs pos="85000">
                <a:srgbClr val="0095C4"/>
              </a:gs>
            </a:gsLst>
            <a:lin ang="18899976" scaled="1"/>
          </a:gradFill>
          <a:ln w="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F8F365AF-9910-BF20-6CFB-24D4C0928B4D}"/>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10" name="TextBox 9">
            <a:extLst>
              <a:ext uri="{FF2B5EF4-FFF2-40B4-BE49-F238E27FC236}">
                <a16:creationId xmlns:a16="http://schemas.microsoft.com/office/drawing/2014/main" id="{01F07DE2-A4BE-3B43-A385-D616B948566C}"/>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11" name="Graphic 8">
            <a:extLst>
              <a:ext uri="{FF2B5EF4-FFF2-40B4-BE49-F238E27FC236}">
                <a16:creationId xmlns:a16="http://schemas.microsoft.com/office/drawing/2014/main" id="{6CCAFF07-C864-65F7-E8B7-2C5633311999}"/>
              </a:ext>
            </a:extLst>
          </p:cNvPr>
          <p:cNvGrpSpPr/>
          <p:nvPr/>
        </p:nvGrpSpPr>
        <p:grpSpPr>
          <a:xfrm>
            <a:off x="265625" y="6323271"/>
            <a:ext cx="1249223" cy="369648"/>
            <a:chOff x="265625" y="6323271"/>
            <a:chExt cx="1249223" cy="369648"/>
          </a:xfrm>
          <a:solidFill>
            <a:srgbClr val="000000"/>
          </a:solidFill>
        </p:grpSpPr>
        <p:grpSp>
          <p:nvGrpSpPr>
            <p:cNvPr id="12" name="Graphic 8">
              <a:extLst>
                <a:ext uri="{FF2B5EF4-FFF2-40B4-BE49-F238E27FC236}">
                  <a16:creationId xmlns:a16="http://schemas.microsoft.com/office/drawing/2014/main" id="{AE286926-0755-5C11-7A0A-71094C615B03}"/>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1302BC0-EF33-69DC-5657-3D7BE117EB0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BEAD69D2-73E4-A144-E3E4-00652D470A7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D44DE0F-E65D-8F5E-DDB1-448E05AF8B4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00A7CEA-47C8-F052-0ABC-CC3EB17C99C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263CA39-11CD-CCFC-8658-51B68E806B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4151A7-9F9E-00A6-12C4-7BF08E75C91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1677C85A-569D-FF5C-4327-E5F7B4ABB32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E88D3A2E-3EBA-D825-F133-2DE36CA58E5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3803B19A-69EA-855A-98FD-BD1186959E3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EBFA825D-97CB-A8C0-AFB9-8046277D843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5" name="Graphic 8">
              <a:extLst>
                <a:ext uri="{FF2B5EF4-FFF2-40B4-BE49-F238E27FC236}">
                  <a16:creationId xmlns:a16="http://schemas.microsoft.com/office/drawing/2014/main" id="{3A2519BE-9221-F0E4-149B-1E0F287B15F2}"/>
                </a:ext>
              </a:extLst>
            </p:cNvPr>
            <p:cNvGrpSpPr/>
            <p:nvPr/>
          </p:nvGrpSpPr>
          <p:grpSpPr>
            <a:xfrm>
              <a:off x="265625" y="6323271"/>
              <a:ext cx="1249223" cy="190348"/>
              <a:chOff x="265625" y="6323271"/>
              <a:chExt cx="1249223" cy="190348"/>
            </a:xfrm>
            <a:solidFill>
              <a:srgbClr val="000000"/>
            </a:solidFill>
          </p:grpSpPr>
          <p:sp>
            <p:nvSpPr>
              <p:cNvPr id="16" name="Freeform 15">
                <a:extLst>
                  <a:ext uri="{FF2B5EF4-FFF2-40B4-BE49-F238E27FC236}">
                    <a16:creationId xmlns:a16="http://schemas.microsoft.com/office/drawing/2014/main" id="{E24DA16D-AFE1-058B-85D1-9EA36D66A8E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55335D38-CD27-91AC-1D9C-2ECBE6EA600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93057BCE-C1E5-5093-0F75-68335E992A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7CA24CC9-729F-DCB8-F923-0F15F8C9188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BAE7E7AF-181B-E7F5-FE78-4DDD4C4C35B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5473C35A-2B1B-B305-B605-0C9EA6533E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150F0538-4DA7-4B39-5875-633FB664361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 name="Freeform: Shape 1">
            <a:extLst>
              <a:ext uri="{FF2B5EF4-FFF2-40B4-BE49-F238E27FC236}">
                <a16:creationId xmlns:a16="http://schemas.microsoft.com/office/drawing/2014/main" id="{1C5EE576-7D35-4E9E-7E82-8116BB430A44}"/>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4" name="Freeform: Shape 1">
            <a:extLst>
              <a:ext uri="{FF2B5EF4-FFF2-40B4-BE49-F238E27FC236}">
                <a16:creationId xmlns:a16="http://schemas.microsoft.com/office/drawing/2014/main" id="{1C5EE576-7D35-4E9E-7E82-8116BB430A44}"/>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73C0D969-A405-CD2A-A392-B917B8B613B7}"/>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100038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Thank You / Closing - Aqua">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11BDF268-11B0-0052-054F-E2A7324524A8}"/>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2"/>
              </a:gs>
              <a:gs pos="85000">
                <a:srgbClr val="0095C4"/>
              </a:gs>
            </a:gsLst>
            <a:lin ang="18899976" scaled="1"/>
          </a:gradFill>
          <a:ln w="0"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FFB6A110-E961-EB34-6F92-35210D5B70F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13" name="TextBox 12">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6870951A-A1C2-4343-3CAE-6020736681CC}"/>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26F24270-F144-4E34-E75B-7BF480C1A43F}"/>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51193D83-E1DC-D884-497D-C36876692E8C}"/>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7" name="Freeform 6">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8" name="Freeform 7">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2" name="Freeform: Shape 14">
            <a:extLst>
              <a:ext uri="{FF2B5EF4-FFF2-40B4-BE49-F238E27FC236}">
                <a16:creationId xmlns:a16="http://schemas.microsoft.com/office/drawing/2014/main" id="{CD863588-1EDA-72EC-6D61-3E8A0E7CB273}"/>
              </a:ext>
            </a:extLst>
          </p:cNvPr>
          <p:cNvSpPr/>
          <p:nvPr userDrawn="1"/>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3" name="Freeform: Shape 29">
            <a:extLst>
              <a:ext uri="{FF2B5EF4-FFF2-40B4-BE49-F238E27FC236}">
                <a16:creationId xmlns:a16="http://schemas.microsoft.com/office/drawing/2014/main" id="{FFB6A110-E961-EB34-6F92-35210D5B70F6}"/>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34" name="TextBox 33">
            <a:extLst>
              <a:ext uri="{FF2B5EF4-FFF2-40B4-BE49-F238E27FC236}">
                <a16:creationId xmlns:a16="http://schemas.microsoft.com/office/drawing/2014/main" id="{1BD12A38-34FF-DD48-95F6-31F5ED4772C8}"/>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7" name="Graphic 8">
            <a:extLst>
              <a:ext uri="{FF2B5EF4-FFF2-40B4-BE49-F238E27FC236}">
                <a16:creationId xmlns:a16="http://schemas.microsoft.com/office/drawing/2014/main" id="{51193D83-E1DC-D884-497D-C36876692E8C}"/>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0" name="TextBox 9">
            <a:extLst>
              <a:ext uri="{FF2B5EF4-FFF2-40B4-BE49-F238E27FC236}">
                <a16:creationId xmlns:a16="http://schemas.microsoft.com/office/drawing/2014/main" id="{39FCD237-E611-CAC8-3736-F49AF3DA231A}"/>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853787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Thank You / Closing - Plum">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ED7BA03-D917-7BF7-506D-6901DD40B1DF}"/>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5"/>
              </a:gs>
              <a:gs pos="85000">
                <a:srgbClr val="0095C4"/>
              </a:gs>
            </a:gsLst>
            <a:lin ang="18899976" scaled="1"/>
          </a:gradFill>
          <a:ln w="0" cap="flat">
            <a:noFill/>
            <a:prstDash val="solid"/>
            <a:miter/>
          </a:ln>
        </p:spPr>
        <p:txBody>
          <a:bodyPr rtlCol="0" anchor="ctr"/>
          <a:lstStyle/>
          <a:p>
            <a:endParaRPr lang="en-US" dirty="0"/>
          </a:p>
        </p:txBody>
      </p:sp>
      <p:sp>
        <p:nvSpPr>
          <p:cNvPr id="10" name="TextBox 9">
            <a:extLst>
              <a:ext uri="{FF2B5EF4-FFF2-40B4-BE49-F238E27FC236}">
                <a16:creationId xmlns:a16="http://schemas.microsoft.com/office/drawing/2014/main" id="{53EB9DBD-7EC8-8749-8D2B-52C66972D46E}"/>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9DB548BE-0CE3-CE23-414D-C93C2FDD312A}"/>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BD199895-20CD-709C-3907-26845A30404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8112DCCF-A410-8E64-BF5C-1AED8279B1FF}"/>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5" name="Freeform 14">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3" name="Freeform: Shape 12">
            <a:extLst>
              <a:ext uri="{FF2B5EF4-FFF2-40B4-BE49-F238E27FC236}">
                <a16:creationId xmlns:a16="http://schemas.microsoft.com/office/drawing/2014/main" id="{C039270F-3B2C-5A52-9E64-757A7B13656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31" name="Freeform: Shape 7">
            <a:extLst>
              <a:ext uri="{FF2B5EF4-FFF2-40B4-BE49-F238E27FC236}">
                <a16:creationId xmlns:a16="http://schemas.microsoft.com/office/drawing/2014/main" id="{6317424D-DA75-A15F-0C19-096E89461340}"/>
              </a:ext>
            </a:extLst>
          </p:cNvPr>
          <p:cNvSpPr/>
          <p:nvPr userDrawn="1"/>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2" name="TextBox 31">
            <a:extLst>
              <a:ext uri="{FF2B5EF4-FFF2-40B4-BE49-F238E27FC236}">
                <a16:creationId xmlns:a16="http://schemas.microsoft.com/office/drawing/2014/main" id="{53EB9DBD-7EC8-8749-8D2B-52C66972D46E}"/>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5" name="Graphic 8">
            <a:extLst>
              <a:ext uri="{FF2B5EF4-FFF2-40B4-BE49-F238E27FC236}">
                <a16:creationId xmlns:a16="http://schemas.microsoft.com/office/drawing/2014/main" id="{8112DCCF-A410-8E64-BF5C-1AED8279B1FF}"/>
              </a:ext>
            </a:extLst>
          </p:cNvPr>
          <p:cNvGrpSpPr/>
          <p:nvPr userDrawn="1"/>
        </p:nvGrpSpPr>
        <p:grpSpPr>
          <a:xfrm>
            <a:off x="265625" y="6323271"/>
            <a:ext cx="1249223" cy="369648"/>
            <a:chOff x="265625" y="6323271"/>
            <a:chExt cx="1249223" cy="369648"/>
          </a:xfrm>
          <a:solidFill>
            <a:srgbClr val="000000"/>
          </a:solidFill>
        </p:grpSpPr>
        <p:grpSp>
          <p:nvGrpSpPr>
            <p:cNvPr id="36"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45" name="Freeform 44">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7"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38" name="Freeform 37">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39" name="Freeform 38">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0" name="Freeform 39">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5" name="Freeform: Shape 12">
            <a:extLst>
              <a:ext uri="{FF2B5EF4-FFF2-40B4-BE49-F238E27FC236}">
                <a16:creationId xmlns:a16="http://schemas.microsoft.com/office/drawing/2014/main" id="{C039270F-3B2C-5A52-9E64-757A7B136566}"/>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9" name="TextBox 8">
            <a:extLst>
              <a:ext uri="{FF2B5EF4-FFF2-40B4-BE49-F238E27FC236}">
                <a16:creationId xmlns:a16="http://schemas.microsoft.com/office/drawing/2014/main" id="{6B6C42D0-DC6D-DA1A-9109-B30DDBCA1FD2}"/>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213449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Subtitle">
  <p:cSld name="1_Title and Subtitle">
    <p:spTree>
      <p:nvGrpSpPr>
        <p:cNvPr id="1" name="Shape 103"/>
        <p:cNvGrpSpPr/>
        <p:nvPr/>
      </p:nvGrpSpPr>
      <p:grpSpPr>
        <a:xfrm>
          <a:off x="0" y="0"/>
          <a:ext cx="0" cy="0"/>
          <a:chOff x="0" y="0"/>
          <a:chExt cx="0" cy="0"/>
        </a:xfrm>
      </p:grpSpPr>
      <p:sp>
        <p:nvSpPr>
          <p:cNvPr id="104" name="Google Shape;104;p6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05" name="Google Shape;105;p63"/>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b="0" i="0">
                <a:solidFill>
                  <a:schemeClr val="dk1"/>
                </a:solidFill>
                <a:latin typeface="Arial" panose="020B0604020202020204" pitchFamily="34" charset="0"/>
                <a:ea typeface="Arial" panose="020B0604020202020204" pitchFamily="34" charset="0"/>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dirty="0"/>
          </a:p>
        </p:txBody>
      </p:sp>
      <p:sp>
        <p:nvSpPr>
          <p:cNvPr id="106" name="Google Shape;106;p6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b="0" i="0">
                <a:solidFill>
                  <a:schemeClr val="dk2"/>
                </a:solidFill>
                <a:latin typeface="Arial" panose="020B0604020202020204" pitchFamily="34" charset="0"/>
                <a:ea typeface="Arial"/>
                <a:cs typeface="Arial"/>
                <a:sym typeface="Arial"/>
              </a:rPr>
              <a:t>‹#›</a:t>
            </a:fld>
            <a:endParaRPr sz="800" b="0" i="0" dirty="0">
              <a:solidFill>
                <a:schemeClr val="dk2"/>
              </a:solidFill>
              <a:latin typeface="Arial" panose="020B0604020202020204" pitchFamily="34" charset="0"/>
              <a:ea typeface="Arial"/>
              <a:cs typeface="Arial"/>
              <a:sym typeface="Arial"/>
            </a:endParaRPr>
          </a:p>
        </p:txBody>
      </p:sp>
    </p:spTree>
    <p:extLst>
      <p:ext uri="{BB962C8B-B14F-4D97-AF65-F5344CB8AC3E}">
        <p14:creationId xmlns:p14="http://schemas.microsoft.com/office/powerpoint/2010/main" val="347517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Title with Subtitle">
    <p:spTree>
      <p:nvGrpSpPr>
        <p:cNvPr id="1" name=""/>
        <p:cNvGrpSpPr/>
        <p:nvPr/>
      </p:nvGrpSpPr>
      <p:grpSpPr>
        <a:xfrm>
          <a:off x="0" y="0"/>
          <a:ext cx="0" cy="0"/>
          <a:chOff x="0" y="0"/>
          <a:chExt cx="0" cy="0"/>
        </a:xfrm>
      </p:grpSpPr>
      <p:sp>
        <p:nvSpPr>
          <p:cNvPr id="6" name="Title 5"/>
          <p:cNvSpPr>
            <a:spLocks noGrp="1"/>
          </p:cNvSpPr>
          <p:nvPr>
            <p:ph type="title"/>
          </p:nvPr>
        </p:nvSpPr>
        <p:spPr>
          <a:xfrm>
            <a:off x="412897" y="457200"/>
            <a:ext cx="11363032" cy="366254"/>
          </a:xfrm>
        </p:spPr>
        <p:txBody>
          <a:bodyPr/>
          <a:lstStyle/>
          <a:p>
            <a:r>
              <a:rPr lang="en-US" dirty="0"/>
              <a:t>Click to edit Master title style</a:t>
            </a:r>
          </a:p>
        </p:txBody>
      </p:sp>
      <p:sp>
        <p:nvSpPr>
          <p:cNvPr id="4" name="Subtitle"/>
          <p:cNvSpPr>
            <a:spLocks noGrp="1"/>
          </p:cNvSpPr>
          <p:nvPr>
            <p:ph type="body" sz="quarter" idx="12"/>
          </p:nvPr>
        </p:nvSpPr>
        <p:spPr>
          <a:xfrm>
            <a:off x="412897" y="914401"/>
            <a:ext cx="11363032" cy="332399"/>
          </a:xfrm>
        </p:spPr>
        <p:txBody>
          <a:bodyPr lIns="0" tIns="0" rIns="0" bIns="0"/>
          <a:lstStyle>
            <a:lvl1pPr marL="0" marR="0" indent="0">
              <a:spcBef>
                <a:spcPts val="0"/>
              </a:spcBef>
              <a:spcAft>
                <a:spcPts val="0"/>
              </a:spcAft>
              <a:buNone/>
              <a:defRPr sz="2399" b="0">
                <a:solidFill>
                  <a:schemeClr val="bg2"/>
                </a:solidFill>
                <a:latin typeface="+mj-lt"/>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Tree>
    <p:custDataLst>
      <p:tags r:id="rId1"/>
    </p:custDataLst>
    <p:extLst>
      <p:ext uri="{BB962C8B-B14F-4D97-AF65-F5344CB8AC3E}">
        <p14:creationId xmlns:p14="http://schemas.microsoft.com/office/powerpoint/2010/main" val="1685181984"/>
      </p:ext>
    </p:extLst>
  </p:cSld>
  <p:clrMapOvr>
    <a:masterClrMapping/>
  </p:clrMapOvr>
  <p:transition spd="med">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with Subtitle">
  <p:cSld name="1_Title with Subtitle">
    <p:spTree>
      <p:nvGrpSpPr>
        <p:cNvPr id="1" name="Shape 1146"/>
        <p:cNvGrpSpPr/>
        <p:nvPr/>
      </p:nvGrpSpPr>
      <p:grpSpPr>
        <a:xfrm>
          <a:off x="0" y="0"/>
          <a:ext cx="0" cy="0"/>
          <a:chOff x="0" y="0"/>
          <a:chExt cx="0" cy="0"/>
        </a:xfrm>
      </p:grpSpPr>
      <p:sp>
        <p:nvSpPr>
          <p:cNvPr id="1147" name="Google Shape;1147;p52"/>
          <p:cNvSpPr txBox="1">
            <a:spLocks noGrp="1"/>
          </p:cNvSpPr>
          <p:nvPr>
            <p:ph type="title"/>
          </p:nvPr>
        </p:nvSpPr>
        <p:spPr>
          <a:xfrm>
            <a:off x="412897" y="457200"/>
            <a:ext cx="11363032" cy="366254"/>
          </a:xfrm>
          <a:prstGeom prst="rect">
            <a:avLst/>
          </a:prstGeom>
          <a:noFill/>
          <a:ln>
            <a:noFill/>
          </a:ln>
        </p:spPr>
        <p:txBody>
          <a:bodyPr spcFirstLastPara="1" wrap="square" lIns="0" tIns="0" rIns="0" bIns="0" anchor="ctr" anchorCtr="0">
            <a:spAutoFit/>
          </a:bodyPr>
          <a:lstStyle>
            <a:lvl1pPr lvl="0" algn="l">
              <a:lnSpc>
                <a:spcPct val="85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148" name="Google Shape;1148;p52"/>
          <p:cNvSpPr txBox="1">
            <a:spLocks noGrp="1"/>
          </p:cNvSpPr>
          <p:nvPr>
            <p:ph type="body" idx="1"/>
          </p:nvPr>
        </p:nvSpPr>
        <p:spPr>
          <a:xfrm>
            <a:off x="412897" y="914401"/>
            <a:ext cx="11363032" cy="332399"/>
          </a:xfrm>
          <a:prstGeom prst="rect">
            <a:avLst/>
          </a:prstGeom>
          <a:noFill/>
          <a:ln>
            <a:noFill/>
          </a:ln>
        </p:spPr>
        <p:txBody>
          <a:bodyPr spcFirstLastPara="1" wrap="square" lIns="0" tIns="0" rIns="0" bIns="0" anchor="t" anchorCtr="0">
            <a:spAutoFit/>
          </a:bodyPr>
          <a:lstStyle>
            <a:lvl1pPr marL="457063" marR="0" lvl="0" indent="-228531" algn="l">
              <a:lnSpc>
                <a:spcPct val="90000"/>
              </a:lnSpc>
              <a:spcBef>
                <a:spcPts val="0"/>
              </a:spcBef>
              <a:spcAft>
                <a:spcPts val="0"/>
              </a:spcAft>
              <a:buSzPts val="2399"/>
              <a:buNone/>
              <a:defRPr sz="2398" b="0">
                <a:solidFill>
                  <a:schemeClr val="lt2"/>
                </a:solidFill>
                <a:latin typeface="Arial"/>
                <a:ea typeface="Arial"/>
                <a:cs typeface="Arial"/>
                <a:sym typeface="Arial"/>
              </a:defRPr>
            </a:lvl1pPr>
            <a:lvl2pPr marL="914126" lvl="1" indent="-228531" algn="l">
              <a:lnSpc>
                <a:spcPct val="90000"/>
              </a:lnSpc>
              <a:spcBef>
                <a:spcPts val="400"/>
              </a:spcBef>
              <a:spcAft>
                <a:spcPts val="0"/>
              </a:spcAft>
              <a:buSzPts val="1999"/>
              <a:buNone/>
              <a:defRPr/>
            </a:lvl2pPr>
            <a:lvl3pPr marL="1371189" lvl="2" indent="-228531" algn="l">
              <a:lnSpc>
                <a:spcPct val="90000"/>
              </a:lnSpc>
              <a:spcBef>
                <a:spcPts val="400"/>
              </a:spcBef>
              <a:spcAft>
                <a:spcPts val="0"/>
              </a:spcAft>
              <a:buSzPts val="1600"/>
              <a:buNone/>
              <a:defRPr/>
            </a:lvl3pPr>
            <a:lvl4pPr marL="1828251" lvl="3" indent="-228531" algn="l">
              <a:lnSpc>
                <a:spcPct val="90000"/>
              </a:lnSpc>
              <a:spcBef>
                <a:spcPts val="400"/>
              </a:spcBef>
              <a:spcAft>
                <a:spcPts val="0"/>
              </a:spcAft>
              <a:buSzPts val="1600"/>
              <a:buNone/>
              <a:defRPr/>
            </a:lvl4pPr>
            <a:lvl5pPr marL="2285314" lvl="4" indent="-228531" algn="l">
              <a:lnSpc>
                <a:spcPct val="90000"/>
              </a:lnSpc>
              <a:spcBef>
                <a:spcPts val="400"/>
              </a:spcBef>
              <a:spcAft>
                <a:spcPts val="0"/>
              </a:spcAft>
              <a:buSzPts val="1600"/>
              <a:buNone/>
              <a:defRPr/>
            </a:lvl5pPr>
            <a:lvl6pPr marL="2742377" lvl="5" indent="-342797" algn="l">
              <a:lnSpc>
                <a:spcPct val="100000"/>
              </a:lnSpc>
              <a:spcBef>
                <a:spcPts val="360"/>
              </a:spcBef>
              <a:spcAft>
                <a:spcPts val="0"/>
              </a:spcAft>
              <a:buClr>
                <a:schemeClr val="dk1"/>
              </a:buClr>
              <a:buSzPts val="1800"/>
              <a:buChar char="•"/>
              <a:defRPr/>
            </a:lvl6pPr>
            <a:lvl7pPr marL="3199440" lvl="6" indent="-342797" algn="l">
              <a:lnSpc>
                <a:spcPct val="100000"/>
              </a:lnSpc>
              <a:spcBef>
                <a:spcPts val="360"/>
              </a:spcBef>
              <a:spcAft>
                <a:spcPts val="0"/>
              </a:spcAft>
              <a:buClr>
                <a:schemeClr val="dk1"/>
              </a:buClr>
              <a:buSzPts val="1800"/>
              <a:buChar char="•"/>
              <a:defRPr/>
            </a:lvl7pPr>
            <a:lvl8pPr marL="3656503" lvl="7" indent="-342797" algn="l">
              <a:lnSpc>
                <a:spcPct val="100000"/>
              </a:lnSpc>
              <a:spcBef>
                <a:spcPts val="360"/>
              </a:spcBef>
              <a:spcAft>
                <a:spcPts val="0"/>
              </a:spcAft>
              <a:buClr>
                <a:schemeClr val="dk1"/>
              </a:buClr>
              <a:buSzPts val="1800"/>
              <a:buChar char="•"/>
              <a:defRPr/>
            </a:lvl8pPr>
            <a:lvl9pPr marL="4113566" lvl="8" indent="-342797"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6483658"/>
      </p:ext>
    </p:extLst>
  </p:cSld>
  <p:clrMapOvr>
    <a:masterClrMapping/>
  </p:clrMapOvr>
  <p:transition spd="med">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ONTENT | Blank">
  <p:cSld name="CONTENT | Blank">
    <p:spTree>
      <p:nvGrpSpPr>
        <p:cNvPr id="1" name="Shape 114"/>
        <p:cNvGrpSpPr/>
        <p:nvPr/>
      </p:nvGrpSpPr>
      <p:grpSpPr>
        <a:xfrm>
          <a:off x="0" y="0"/>
          <a:ext cx="0" cy="0"/>
          <a:chOff x="0" y="0"/>
          <a:chExt cx="0" cy="0"/>
        </a:xfrm>
      </p:grpSpPr>
    </p:spTree>
    <p:extLst>
      <p:ext uri="{BB962C8B-B14F-4D97-AF65-F5344CB8AC3E}">
        <p14:creationId xmlns:p14="http://schemas.microsoft.com/office/powerpoint/2010/main" val="2824964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wo-Content Balanced">
  <p:cSld name="1_Two-Content Balanced">
    <p:spTree>
      <p:nvGrpSpPr>
        <p:cNvPr id="1" name="Shape 2139"/>
        <p:cNvGrpSpPr/>
        <p:nvPr/>
      </p:nvGrpSpPr>
      <p:grpSpPr>
        <a:xfrm>
          <a:off x="0" y="0"/>
          <a:ext cx="0" cy="0"/>
          <a:chOff x="0" y="0"/>
          <a:chExt cx="0" cy="0"/>
        </a:xfrm>
      </p:grpSpPr>
      <p:sp>
        <p:nvSpPr>
          <p:cNvPr id="2140" name="Google Shape;2140;p111"/>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41" name="Google Shape;2141;p111"/>
          <p:cNvSpPr txBox="1">
            <a:spLocks noGrp="1"/>
          </p:cNvSpPr>
          <p:nvPr>
            <p:ph type="subTitle" idx="1"/>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6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2142" name="Google Shape;2142;p111"/>
          <p:cNvSpPr txBox="1">
            <a:spLocks noGrp="1"/>
          </p:cNvSpPr>
          <p:nvPr>
            <p:ph type="body" idx="2"/>
          </p:nvPr>
        </p:nvSpPr>
        <p:spPr>
          <a:xfrm>
            <a:off x="608013" y="1600200"/>
            <a:ext cx="5313900" cy="457200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6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297179" algn="l">
              <a:lnSpc>
                <a:spcPct val="100000"/>
              </a:lnSpc>
              <a:spcBef>
                <a:spcPts val="1200"/>
              </a:spcBef>
              <a:spcAft>
                <a:spcPts val="0"/>
              </a:spcAft>
              <a:buSzPts val="1080"/>
              <a:buChar char="•"/>
              <a:defRPr sz="1200">
                <a:solidFill>
                  <a:schemeClr val="dk1"/>
                </a:solidFill>
              </a:defRPr>
            </a:lvl6pPr>
            <a:lvl7pPr marL="3200400" lvl="6" indent="-297179" algn="l">
              <a:lnSpc>
                <a:spcPct val="100000"/>
              </a:lnSpc>
              <a:spcBef>
                <a:spcPts val="1200"/>
              </a:spcBef>
              <a:spcAft>
                <a:spcPts val="0"/>
              </a:spcAft>
              <a:buSzPts val="1080"/>
              <a:buChar char="-"/>
              <a:defRPr sz="1200">
                <a:solidFill>
                  <a:schemeClr val="dk1"/>
                </a:solidFill>
              </a:defRPr>
            </a:lvl7pPr>
            <a:lvl8pPr marL="3657600" lvl="7" indent="-297179" algn="l">
              <a:lnSpc>
                <a:spcPct val="100000"/>
              </a:lnSpc>
              <a:spcBef>
                <a:spcPts val="1200"/>
              </a:spcBef>
              <a:spcAft>
                <a:spcPts val="0"/>
              </a:spcAft>
              <a:buSzPts val="1080"/>
              <a:buChar char="•"/>
              <a:defRPr sz="1200">
                <a:solidFill>
                  <a:schemeClr val="dk1"/>
                </a:solidFill>
              </a:defRPr>
            </a:lvl8pPr>
            <a:lvl9pPr marL="4114800" lvl="8" indent="-297179" algn="l">
              <a:lnSpc>
                <a:spcPct val="100000"/>
              </a:lnSpc>
              <a:spcBef>
                <a:spcPts val="1200"/>
              </a:spcBef>
              <a:spcAft>
                <a:spcPts val="1200"/>
              </a:spcAft>
              <a:buSzPts val="1080"/>
              <a:buChar char="-"/>
              <a:defRPr sz="1200">
                <a:solidFill>
                  <a:schemeClr val="dk1"/>
                </a:solidFill>
              </a:defRPr>
            </a:lvl9pPr>
          </a:lstStyle>
          <a:p>
            <a:endParaRPr/>
          </a:p>
        </p:txBody>
      </p:sp>
      <p:sp>
        <p:nvSpPr>
          <p:cNvPr id="2143" name="Google Shape;2143;p111"/>
          <p:cNvSpPr txBox="1">
            <a:spLocks noGrp="1"/>
          </p:cNvSpPr>
          <p:nvPr>
            <p:ph type="body" idx="3"/>
          </p:nvPr>
        </p:nvSpPr>
        <p:spPr>
          <a:xfrm>
            <a:off x="6321287" y="1600200"/>
            <a:ext cx="5313900" cy="457200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6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297179" algn="l">
              <a:lnSpc>
                <a:spcPct val="100000"/>
              </a:lnSpc>
              <a:spcBef>
                <a:spcPts val="1200"/>
              </a:spcBef>
              <a:spcAft>
                <a:spcPts val="0"/>
              </a:spcAft>
              <a:buSzPts val="1080"/>
              <a:buChar char="•"/>
              <a:defRPr sz="1200">
                <a:solidFill>
                  <a:schemeClr val="dk1"/>
                </a:solidFill>
              </a:defRPr>
            </a:lvl6pPr>
            <a:lvl7pPr marL="3200400" lvl="6" indent="-297179" algn="l">
              <a:lnSpc>
                <a:spcPct val="100000"/>
              </a:lnSpc>
              <a:spcBef>
                <a:spcPts val="1200"/>
              </a:spcBef>
              <a:spcAft>
                <a:spcPts val="0"/>
              </a:spcAft>
              <a:buSzPts val="1080"/>
              <a:buChar char="-"/>
              <a:defRPr sz="1200">
                <a:solidFill>
                  <a:schemeClr val="dk1"/>
                </a:solidFill>
              </a:defRPr>
            </a:lvl7pPr>
            <a:lvl8pPr marL="3657600" lvl="7" indent="-297179" algn="l">
              <a:lnSpc>
                <a:spcPct val="100000"/>
              </a:lnSpc>
              <a:spcBef>
                <a:spcPts val="1200"/>
              </a:spcBef>
              <a:spcAft>
                <a:spcPts val="0"/>
              </a:spcAft>
              <a:buSzPts val="1080"/>
              <a:buChar char="•"/>
              <a:defRPr sz="1200">
                <a:solidFill>
                  <a:schemeClr val="dk1"/>
                </a:solidFill>
              </a:defRPr>
            </a:lvl8pPr>
            <a:lvl9pPr marL="4114800" lvl="8" indent="-297179" algn="l">
              <a:lnSpc>
                <a:spcPct val="100000"/>
              </a:lnSpc>
              <a:spcBef>
                <a:spcPts val="1200"/>
              </a:spcBef>
              <a:spcAft>
                <a:spcPts val="1200"/>
              </a:spcAft>
              <a:buSzPts val="1080"/>
              <a:buChar char="-"/>
              <a:defRPr sz="1200">
                <a:solidFill>
                  <a:schemeClr val="dk1"/>
                </a:solidFill>
              </a:defRPr>
            </a:lvl9pPr>
          </a:lstStyle>
          <a:p>
            <a:endParaRPr/>
          </a:p>
        </p:txBody>
      </p:sp>
      <p:sp>
        <p:nvSpPr>
          <p:cNvPr id="2144" name="Google Shape;2144;p111"/>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extLst>
      <p:ext uri="{BB962C8B-B14F-4D97-AF65-F5344CB8AC3E}">
        <p14:creationId xmlns:p14="http://schemas.microsoft.com/office/powerpoint/2010/main" val="976477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wo-Content Balanced Color on Left">
  <p:cSld name="1_Two-Content Balanced Color on Left">
    <p:spTree>
      <p:nvGrpSpPr>
        <p:cNvPr id="1" name="Shape 176"/>
        <p:cNvGrpSpPr/>
        <p:nvPr/>
      </p:nvGrpSpPr>
      <p:grpSpPr>
        <a:xfrm>
          <a:off x="0" y="0"/>
          <a:ext cx="0" cy="0"/>
          <a:chOff x="0" y="0"/>
          <a:chExt cx="0" cy="0"/>
        </a:xfrm>
      </p:grpSpPr>
      <p:sp>
        <p:nvSpPr>
          <p:cNvPr id="177" name="Google Shape;177;p175"/>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8" name="Google Shape;178;p175"/>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80" name="Google Shape;180;p175"/>
          <p:cNvSpPr txBox="1">
            <a:spLocks noGrp="1"/>
          </p:cNvSpPr>
          <p:nvPr>
            <p:ph type="body" idx="2"/>
          </p:nvPr>
        </p:nvSpPr>
        <p:spPr>
          <a:xfrm>
            <a:off x="6323381" y="1600201"/>
            <a:ext cx="5865445" cy="4572000"/>
          </a:xfrm>
          <a:prstGeom prst="rect">
            <a:avLst/>
          </a:prstGeom>
          <a:noFill/>
          <a:ln>
            <a:noFill/>
          </a:ln>
        </p:spPr>
        <p:txBody>
          <a:bodyPr spcFirstLastPara="1" wrap="square" lIns="45720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08609" algn="l">
              <a:lnSpc>
                <a:spcPct val="100000"/>
              </a:lnSpc>
              <a:spcBef>
                <a:spcPts val="1200"/>
              </a:spcBef>
              <a:spcAft>
                <a:spcPts val="1200"/>
              </a:spcAft>
              <a:buSzPts val="1260"/>
              <a:buChar char="-"/>
              <a:defRPr>
                <a:solidFill>
                  <a:schemeClr val="dk1"/>
                </a:solidFill>
              </a:defRPr>
            </a:lvl9pPr>
          </a:lstStyle>
          <a:p>
            <a:endParaRPr/>
          </a:p>
        </p:txBody>
      </p:sp>
      <p:sp>
        <p:nvSpPr>
          <p:cNvPr id="181" name="Google Shape;181;p175"/>
          <p:cNvSpPr txBox="1">
            <a:spLocks noGrp="1"/>
          </p:cNvSpPr>
          <p:nvPr>
            <p:ph type="body" idx="3"/>
          </p:nvPr>
        </p:nvSpPr>
        <p:spPr>
          <a:xfrm>
            <a:off x="0" y="1600201"/>
            <a:ext cx="5893593" cy="4572000"/>
          </a:xfrm>
          <a:prstGeom prst="rect">
            <a:avLst/>
          </a:prstGeom>
          <a:solidFill>
            <a:srgbClr val="F4F8FA"/>
          </a:solidFill>
          <a:ln>
            <a:noFill/>
          </a:ln>
        </p:spPr>
        <p:txBody>
          <a:bodyPr spcFirstLastPara="1" wrap="square" lIns="59435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08609" algn="l">
              <a:lnSpc>
                <a:spcPct val="100000"/>
              </a:lnSpc>
              <a:spcBef>
                <a:spcPts val="1200"/>
              </a:spcBef>
              <a:spcAft>
                <a:spcPts val="1200"/>
              </a:spcAft>
              <a:buSzPts val="1260"/>
              <a:buChar char="-"/>
              <a:defRPr>
                <a:solidFill>
                  <a:schemeClr val="dk1"/>
                </a:solidFill>
              </a:defRPr>
            </a:lvl9pPr>
          </a:lstStyle>
          <a:p>
            <a:endParaRPr/>
          </a:p>
        </p:txBody>
      </p:sp>
    </p:spTree>
    <p:extLst>
      <p:ext uri="{BB962C8B-B14F-4D97-AF65-F5344CB8AC3E}">
        <p14:creationId xmlns:p14="http://schemas.microsoft.com/office/powerpoint/2010/main" val="489039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Diagram with Content on Right">
  <p:cSld name="1_Diagram with Content on Right">
    <p:spTree>
      <p:nvGrpSpPr>
        <p:cNvPr id="1" name="Shape 162"/>
        <p:cNvGrpSpPr/>
        <p:nvPr/>
      </p:nvGrpSpPr>
      <p:grpSpPr>
        <a:xfrm>
          <a:off x="0" y="0"/>
          <a:ext cx="0" cy="0"/>
          <a:chOff x="0" y="0"/>
          <a:chExt cx="0" cy="0"/>
        </a:xfrm>
      </p:grpSpPr>
      <p:sp>
        <p:nvSpPr>
          <p:cNvPr id="163" name="Google Shape;163;p17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4" name="Google Shape;164;p173"/>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66" name="Google Shape;166;p173"/>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lvl1pPr marL="457200" lvl="0" indent="-320040" algn="l">
              <a:lnSpc>
                <a:spcPct val="100000"/>
              </a:lnSpc>
              <a:spcBef>
                <a:spcPts val="0"/>
              </a:spcBef>
              <a:spcAft>
                <a:spcPts val="0"/>
              </a:spcAft>
              <a:buSzPts val="1440"/>
              <a:buChar char="​"/>
              <a:defRPr sz="1600">
                <a:solidFill>
                  <a:schemeClr val="accent2"/>
                </a:solidFill>
              </a:defRPr>
            </a:lvl1pPr>
            <a:lvl2pPr marL="914400" lvl="1" indent="-308610" algn="l">
              <a:lnSpc>
                <a:spcPct val="100000"/>
              </a:lnSpc>
              <a:spcBef>
                <a:spcPts val="1200"/>
              </a:spcBef>
              <a:spcAft>
                <a:spcPts val="0"/>
              </a:spcAft>
              <a:buClr>
                <a:schemeClr val="accent2"/>
              </a:buClr>
              <a:buSzPts val="1260"/>
              <a:buChar char="•"/>
              <a:defRPr sz="1400">
                <a:solidFill>
                  <a:schemeClr val="accent2"/>
                </a:solidFill>
              </a:defRPr>
            </a:lvl2pPr>
            <a:lvl3pPr marL="1371600" lvl="2" indent="-297180" algn="l">
              <a:lnSpc>
                <a:spcPct val="100000"/>
              </a:lnSpc>
              <a:spcBef>
                <a:spcPts val="1200"/>
              </a:spcBef>
              <a:spcAft>
                <a:spcPts val="0"/>
              </a:spcAft>
              <a:buClr>
                <a:schemeClr val="accent2"/>
              </a:buClr>
              <a:buSzPts val="1080"/>
              <a:buChar char="–"/>
              <a:defRPr sz="1200">
                <a:solidFill>
                  <a:schemeClr val="accent2"/>
                </a:solidFill>
              </a:defRPr>
            </a:lvl3pPr>
            <a:lvl4pPr marL="1828800" lvl="3" indent="-291464" algn="l">
              <a:lnSpc>
                <a:spcPct val="100000"/>
              </a:lnSpc>
              <a:spcBef>
                <a:spcPts val="1200"/>
              </a:spcBef>
              <a:spcAft>
                <a:spcPts val="0"/>
              </a:spcAft>
              <a:buClr>
                <a:schemeClr val="accent2"/>
              </a:buClr>
              <a:buSzPts val="990"/>
              <a:buChar char="•"/>
              <a:defRPr sz="1100">
                <a:solidFill>
                  <a:schemeClr val="accent2"/>
                </a:solidFill>
              </a:defRPr>
            </a:lvl4pPr>
            <a:lvl5pPr marL="2286000" lvl="4" indent="-291464" algn="l">
              <a:lnSpc>
                <a:spcPct val="100000"/>
              </a:lnSpc>
              <a:spcBef>
                <a:spcPts val="1200"/>
              </a:spcBef>
              <a:spcAft>
                <a:spcPts val="0"/>
              </a:spcAft>
              <a:buClr>
                <a:schemeClr val="accent2"/>
              </a:buClr>
              <a:buSzPts val="990"/>
              <a:buChar char="–"/>
              <a:defRPr sz="1100">
                <a:solidFill>
                  <a:schemeClr val="accent2"/>
                </a:solidFill>
              </a:defRPr>
            </a:lvl5pPr>
            <a:lvl6pPr marL="2743200" lvl="5" indent="-291464" algn="l">
              <a:lnSpc>
                <a:spcPct val="100000"/>
              </a:lnSpc>
              <a:spcBef>
                <a:spcPts val="1200"/>
              </a:spcBef>
              <a:spcAft>
                <a:spcPts val="0"/>
              </a:spcAft>
              <a:buClr>
                <a:schemeClr val="accent2"/>
              </a:buClr>
              <a:buSzPts val="990"/>
              <a:buChar char="•"/>
              <a:defRPr sz="1100">
                <a:solidFill>
                  <a:schemeClr val="accent2"/>
                </a:solidFill>
              </a:defRPr>
            </a:lvl6pPr>
            <a:lvl7pPr marL="3200400" lvl="6" indent="-291464" algn="l">
              <a:lnSpc>
                <a:spcPct val="100000"/>
              </a:lnSpc>
              <a:spcBef>
                <a:spcPts val="1200"/>
              </a:spcBef>
              <a:spcAft>
                <a:spcPts val="0"/>
              </a:spcAft>
              <a:buClr>
                <a:schemeClr val="accent2"/>
              </a:buClr>
              <a:buSzPts val="990"/>
              <a:buChar char="-"/>
              <a:defRPr sz="1100">
                <a:solidFill>
                  <a:schemeClr val="accent2"/>
                </a:solidFill>
              </a:defRPr>
            </a:lvl7pPr>
            <a:lvl8pPr marL="3657600" lvl="7" indent="-291465" algn="l">
              <a:lnSpc>
                <a:spcPct val="100000"/>
              </a:lnSpc>
              <a:spcBef>
                <a:spcPts val="1200"/>
              </a:spcBef>
              <a:spcAft>
                <a:spcPts val="0"/>
              </a:spcAft>
              <a:buClr>
                <a:schemeClr val="accent2"/>
              </a:buClr>
              <a:buSzPts val="990"/>
              <a:buChar char="•"/>
              <a:defRPr sz="1100">
                <a:solidFill>
                  <a:schemeClr val="accent2"/>
                </a:solidFill>
              </a:defRPr>
            </a:lvl8pPr>
            <a:lvl9pPr marL="4114800" lvl="8" indent="-291465" algn="l">
              <a:lnSpc>
                <a:spcPct val="100000"/>
              </a:lnSpc>
              <a:spcBef>
                <a:spcPts val="1200"/>
              </a:spcBef>
              <a:spcAft>
                <a:spcPts val="1200"/>
              </a:spcAft>
              <a:buClr>
                <a:schemeClr val="accent2"/>
              </a:buClr>
              <a:buSzPts val="990"/>
              <a:buChar char="-"/>
              <a:defRPr sz="1100">
                <a:solidFill>
                  <a:schemeClr val="accent2"/>
                </a:solidFill>
              </a:defRPr>
            </a:lvl9pPr>
          </a:lstStyle>
          <a:p>
            <a:endParaRPr/>
          </a:p>
        </p:txBody>
      </p:sp>
      <p:sp>
        <p:nvSpPr>
          <p:cNvPr id="168" name="Google Shape;168;p173"/>
          <p:cNvSpPr txBox="1">
            <a:spLocks noGrp="1"/>
          </p:cNvSpPr>
          <p:nvPr>
            <p:ph type="body" idx="3"/>
          </p:nvPr>
        </p:nvSpPr>
        <p:spPr>
          <a:xfrm>
            <a:off x="608012" y="1600201"/>
            <a:ext cx="7398303" cy="4572000"/>
          </a:xfrm>
          <a:prstGeom prst="rect">
            <a:avLst/>
          </a:prstGeom>
          <a:noFill/>
          <a:ln>
            <a:noFill/>
          </a:ln>
        </p:spPr>
        <p:txBody>
          <a:bodyPr spcFirstLastPara="1" wrap="square" lIns="594350" tIns="1371600" rIns="457200" bIns="457200" anchor="t" anchorCtr="0">
            <a:noAutofit/>
          </a:bodyPr>
          <a:lstStyle>
            <a:lvl1pPr marL="457200" lvl="0" indent="-291465" algn="ctr">
              <a:lnSpc>
                <a:spcPct val="100000"/>
              </a:lnSpc>
              <a:spcBef>
                <a:spcPts val="1200"/>
              </a:spcBef>
              <a:spcAft>
                <a:spcPts val="0"/>
              </a:spcAft>
              <a:buSzPts val="990"/>
              <a:buChar char="​"/>
              <a:defRPr sz="1100">
                <a:solidFill>
                  <a:schemeClr val="dk1"/>
                </a:solidFill>
              </a:defRPr>
            </a:lvl1pPr>
            <a:lvl2pPr marL="914400" lvl="1" indent="-320040" algn="l">
              <a:lnSpc>
                <a:spcPct val="100000"/>
              </a:lnSpc>
              <a:spcBef>
                <a:spcPts val="1200"/>
              </a:spcBef>
              <a:spcAft>
                <a:spcPts val="0"/>
              </a:spcAft>
              <a:buClr>
                <a:schemeClr val="lt1"/>
              </a:buClr>
              <a:buSzPts val="1440"/>
              <a:buChar char="•"/>
              <a:defRPr sz="1600">
                <a:solidFill>
                  <a:schemeClr val="lt1"/>
                </a:solidFill>
              </a:defRPr>
            </a:lvl2pPr>
            <a:lvl3pPr marL="1371600" lvl="2" indent="-308610" algn="l">
              <a:lnSpc>
                <a:spcPct val="100000"/>
              </a:lnSpc>
              <a:spcBef>
                <a:spcPts val="1200"/>
              </a:spcBef>
              <a:spcAft>
                <a:spcPts val="0"/>
              </a:spcAft>
              <a:buClr>
                <a:schemeClr val="lt1"/>
              </a:buClr>
              <a:buSzPts val="1260"/>
              <a:buChar char="–"/>
              <a:defRPr sz="1400">
                <a:solidFill>
                  <a:schemeClr val="lt1"/>
                </a:solidFill>
              </a:defRPr>
            </a:lvl3pPr>
            <a:lvl4pPr marL="1828800" lvl="3" indent="-297180" algn="l">
              <a:lnSpc>
                <a:spcPct val="100000"/>
              </a:lnSpc>
              <a:spcBef>
                <a:spcPts val="1200"/>
              </a:spcBef>
              <a:spcAft>
                <a:spcPts val="0"/>
              </a:spcAft>
              <a:buClr>
                <a:schemeClr val="lt1"/>
              </a:buClr>
              <a:buSzPts val="1080"/>
              <a:buChar char="•"/>
              <a:defRPr sz="1200">
                <a:solidFill>
                  <a:schemeClr val="lt1"/>
                </a:solidFill>
              </a:defRPr>
            </a:lvl4pPr>
            <a:lvl5pPr marL="2286000" lvl="4" indent="-297179" algn="l">
              <a:lnSpc>
                <a:spcPct val="100000"/>
              </a:lnSpc>
              <a:spcBef>
                <a:spcPts val="1200"/>
              </a:spcBef>
              <a:spcAft>
                <a:spcPts val="0"/>
              </a:spcAft>
              <a:buClr>
                <a:schemeClr val="lt1"/>
              </a:buClr>
              <a:buSzPts val="1080"/>
              <a:buChar char="–"/>
              <a:defRPr sz="1200">
                <a:solidFill>
                  <a:schemeClr val="lt1"/>
                </a:solidFill>
              </a:defRPr>
            </a:lvl5pPr>
            <a:lvl6pPr marL="2743200" lvl="5" indent="-331470" algn="l">
              <a:lnSpc>
                <a:spcPct val="100000"/>
              </a:lnSpc>
              <a:spcBef>
                <a:spcPts val="1200"/>
              </a:spcBef>
              <a:spcAft>
                <a:spcPts val="0"/>
              </a:spcAft>
              <a:buClr>
                <a:schemeClr val="lt1"/>
              </a:buClr>
              <a:buSzPts val="1620"/>
              <a:buChar char="•"/>
              <a:defRPr sz="1800">
                <a:solidFill>
                  <a:schemeClr val="lt1"/>
                </a:solidFill>
              </a:defRPr>
            </a:lvl6pPr>
            <a:lvl7pPr marL="3200400" lvl="6" indent="-308610" algn="l">
              <a:lnSpc>
                <a:spcPct val="100000"/>
              </a:lnSpc>
              <a:spcBef>
                <a:spcPts val="1200"/>
              </a:spcBef>
              <a:spcAft>
                <a:spcPts val="0"/>
              </a:spcAft>
              <a:buClr>
                <a:schemeClr val="lt1"/>
              </a:buClr>
              <a:buSzPts val="1260"/>
              <a:buChar char="-"/>
              <a:defRPr sz="1400">
                <a:solidFill>
                  <a:schemeClr val="lt1"/>
                </a:solidFill>
              </a:defRPr>
            </a:lvl7pPr>
            <a:lvl8pPr marL="3657600" lvl="7" indent="-297179" algn="l">
              <a:lnSpc>
                <a:spcPct val="100000"/>
              </a:lnSpc>
              <a:spcBef>
                <a:spcPts val="1200"/>
              </a:spcBef>
              <a:spcAft>
                <a:spcPts val="0"/>
              </a:spcAft>
              <a:buClr>
                <a:schemeClr val="lt1"/>
              </a:buClr>
              <a:buSzPts val="1080"/>
              <a:buChar char="•"/>
              <a:defRPr sz="1200">
                <a:solidFill>
                  <a:schemeClr val="lt1"/>
                </a:solidFill>
              </a:defRPr>
            </a:lvl8pPr>
            <a:lvl9pPr marL="4114800" lvl="8" indent="-331470" algn="l">
              <a:lnSpc>
                <a:spcPct val="100000"/>
              </a:lnSpc>
              <a:spcBef>
                <a:spcPts val="1200"/>
              </a:spcBef>
              <a:spcAft>
                <a:spcPts val="1200"/>
              </a:spcAft>
              <a:buClr>
                <a:schemeClr val="lt1"/>
              </a:buClr>
              <a:buSzPts val="1620"/>
              <a:buChar char="-"/>
              <a:defRPr sz="1800">
                <a:solidFill>
                  <a:schemeClr val="lt1"/>
                </a:solidFill>
              </a:defRPr>
            </a:lvl9pPr>
          </a:lstStyle>
          <a:p>
            <a:endParaRPr/>
          </a:p>
        </p:txBody>
      </p:sp>
    </p:spTree>
    <p:extLst>
      <p:ext uri="{BB962C8B-B14F-4D97-AF65-F5344CB8AC3E}">
        <p14:creationId xmlns:p14="http://schemas.microsoft.com/office/powerpoint/2010/main" val="3808185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Diagram with Outcome, Benefit">
  <p:cSld name="1_Diagram with Outcome, Benefit">
    <p:spTree>
      <p:nvGrpSpPr>
        <p:cNvPr id="1" name="Shape 84"/>
        <p:cNvGrpSpPr/>
        <p:nvPr/>
      </p:nvGrpSpPr>
      <p:grpSpPr>
        <a:xfrm>
          <a:off x="0" y="0"/>
          <a:ext cx="0" cy="0"/>
          <a:chOff x="0" y="0"/>
          <a:chExt cx="0" cy="0"/>
        </a:xfrm>
      </p:grpSpPr>
      <p:sp>
        <p:nvSpPr>
          <p:cNvPr id="85" name="Google Shape;85;p10"/>
          <p:cNvSpPr txBox="1">
            <a:spLocks noGrp="1"/>
          </p:cNvSpPr>
          <p:nvPr>
            <p:ph type="title"/>
          </p:nvPr>
        </p:nvSpPr>
        <p:spPr>
          <a:xfrm>
            <a:off x="579809" y="412751"/>
            <a:ext cx="1100113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2800"/>
              <a:buFont typeface="Arial"/>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0"/>
          <p:cNvSpPr txBox="1">
            <a:spLocks noGrp="1"/>
          </p:cNvSpPr>
          <p:nvPr>
            <p:ph type="subTitle" idx="1"/>
          </p:nvPr>
        </p:nvSpPr>
        <p:spPr>
          <a:xfrm>
            <a:off x="592867" y="811831"/>
            <a:ext cx="10962744"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1998">
                <a:solidFill>
                  <a:schemeClr val="accent5"/>
                </a:solidFill>
                <a:latin typeface="Arial"/>
                <a:ea typeface="Arial"/>
                <a:cs typeface="Arial"/>
                <a:sym typeface="Arial"/>
              </a:defRPr>
            </a:lvl1pPr>
            <a:lvl2pPr lvl="1" algn="ctr">
              <a:lnSpc>
                <a:spcPct val="100000"/>
              </a:lnSpc>
              <a:spcBef>
                <a:spcPts val="1200"/>
              </a:spcBef>
              <a:spcAft>
                <a:spcPts val="0"/>
              </a:spcAft>
              <a:buSzPts val="1800"/>
              <a:buNone/>
              <a:defRPr sz="1998"/>
            </a:lvl2pPr>
            <a:lvl3pPr lvl="2" algn="ctr">
              <a:lnSpc>
                <a:spcPct val="100000"/>
              </a:lnSpc>
              <a:spcBef>
                <a:spcPts val="1200"/>
              </a:spcBef>
              <a:spcAft>
                <a:spcPts val="0"/>
              </a:spcAft>
              <a:buSzPts val="1620"/>
              <a:buNone/>
              <a:defRPr sz="1798"/>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0"/>
              </a:spcAft>
              <a:buSzPts val="1440"/>
              <a:buNone/>
              <a:defRPr sz="1600"/>
            </a:lvl9pPr>
          </a:lstStyle>
          <a:p>
            <a:endParaRPr/>
          </a:p>
        </p:txBody>
      </p:sp>
      <p:sp>
        <p:nvSpPr>
          <p:cNvPr id="87" name="Google Shape;87;p10"/>
          <p:cNvSpPr txBox="1">
            <a:spLocks noGrp="1"/>
          </p:cNvSpPr>
          <p:nvPr>
            <p:ph type="body" idx="2"/>
          </p:nvPr>
        </p:nvSpPr>
        <p:spPr>
          <a:xfrm>
            <a:off x="595424" y="1600201"/>
            <a:ext cx="7410770" cy="4572000"/>
          </a:xfrm>
          <a:prstGeom prst="rect">
            <a:avLst/>
          </a:prstGeom>
          <a:noFill/>
          <a:ln>
            <a:noFill/>
          </a:ln>
        </p:spPr>
        <p:txBody>
          <a:bodyPr spcFirstLastPara="1" wrap="square" lIns="594350" tIns="457200" rIns="457200" bIns="457200" anchor="t" anchorCtr="0">
            <a:noAutofit/>
          </a:bodyPr>
          <a:lstStyle>
            <a:lvl1pPr marL="456926" lvl="0" indent="-331272" algn="l">
              <a:lnSpc>
                <a:spcPct val="100000"/>
              </a:lnSpc>
              <a:spcBef>
                <a:spcPts val="1200"/>
              </a:spcBef>
              <a:spcAft>
                <a:spcPts val="0"/>
              </a:spcAft>
              <a:buSzPts val="1620"/>
              <a:buChar char="​"/>
              <a:defRPr sz="1798">
                <a:solidFill>
                  <a:srgbClr val="F4F8FA"/>
                </a:solidFill>
              </a:defRPr>
            </a:lvl1pPr>
            <a:lvl2pPr marL="913852" lvl="1" indent="-319848" algn="l">
              <a:lnSpc>
                <a:spcPct val="100000"/>
              </a:lnSpc>
              <a:spcBef>
                <a:spcPts val="1200"/>
              </a:spcBef>
              <a:spcAft>
                <a:spcPts val="0"/>
              </a:spcAft>
              <a:buClr>
                <a:schemeClr val="lt1"/>
              </a:buClr>
              <a:buSzPts val="1440"/>
              <a:buChar char="•"/>
              <a:defRPr sz="1600">
                <a:solidFill>
                  <a:schemeClr val="lt1"/>
                </a:solidFill>
              </a:defRPr>
            </a:lvl2pPr>
            <a:lvl3pPr marL="1370778" lvl="2" indent="-308424" algn="l">
              <a:lnSpc>
                <a:spcPct val="100000"/>
              </a:lnSpc>
              <a:spcBef>
                <a:spcPts val="1200"/>
              </a:spcBef>
              <a:spcAft>
                <a:spcPts val="0"/>
              </a:spcAft>
              <a:buClr>
                <a:schemeClr val="lt1"/>
              </a:buClr>
              <a:buSzPts val="1260"/>
              <a:buChar char="–"/>
              <a:defRPr sz="1400">
                <a:solidFill>
                  <a:schemeClr val="lt1"/>
                </a:solidFill>
              </a:defRPr>
            </a:lvl3pPr>
            <a:lvl4pPr marL="1827703" lvl="3" indent="-297002" algn="l">
              <a:lnSpc>
                <a:spcPct val="100000"/>
              </a:lnSpc>
              <a:spcBef>
                <a:spcPts val="1200"/>
              </a:spcBef>
              <a:spcAft>
                <a:spcPts val="0"/>
              </a:spcAft>
              <a:buClr>
                <a:schemeClr val="lt1"/>
              </a:buClr>
              <a:buSzPts val="1080"/>
              <a:buChar char="•"/>
              <a:defRPr sz="1200">
                <a:solidFill>
                  <a:schemeClr val="lt1"/>
                </a:solidFill>
              </a:defRPr>
            </a:lvl4pPr>
            <a:lvl5pPr marL="2284628" lvl="4" indent="-297001" algn="l">
              <a:lnSpc>
                <a:spcPct val="100000"/>
              </a:lnSpc>
              <a:spcBef>
                <a:spcPts val="1200"/>
              </a:spcBef>
              <a:spcAft>
                <a:spcPts val="0"/>
              </a:spcAft>
              <a:buClr>
                <a:schemeClr val="lt1"/>
              </a:buClr>
              <a:buSzPts val="1080"/>
              <a:buChar char="–"/>
              <a:defRPr sz="1200">
                <a:solidFill>
                  <a:schemeClr val="lt1"/>
                </a:solidFill>
              </a:defRPr>
            </a:lvl5pPr>
            <a:lvl6pPr marL="2741554" lvl="5" indent="-331272" algn="l">
              <a:lnSpc>
                <a:spcPct val="100000"/>
              </a:lnSpc>
              <a:spcBef>
                <a:spcPts val="1200"/>
              </a:spcBef>
              <a:spcAft>
                <a:spcPts val="0"/>
              </a:spcAft>
              <a:buClr>
                <a:schemeClr val="lt1"/>
              </a:buClr>
              <a:buSzPts val="1620"/>
              <a:buChar char="•"/>
              <a:defRPr sz="1798">
                <a:solidFill>
                  <a:schemeClr val="lt1"/>
                </a:solidFill>
              </a:defRPr>
            </a:lvl6pPr>
            <a:lvl7pPr marL="3198480" lvl="6" indent="-308424" algn="l">
              <a:lnSpc>
                <a:spcPct val="100000"/>
              </a:lnSpc>
              <a:spcBef>
                <a:spcPts val="1200"/>
              </a:spcBef>
              <a:spcAft>
                <a:spcPts val="0"/>
              </a:spcAft>
              <a:buClr>
                <a:schemeClr val="lt1"/>
              </a:buClr>
              <a:buSzPts val="1260"/>
              <a:buChar char="-"/>
              <a:defRPr sz="1400">
                <a:solidFill>
                  <a:schemeClr val="lt1"/>
                </a:solidFill>
              </a:defRPr>
            </a:lvl7pPr>
            <a:lvl8pPr marL="3655406" lvl="7" indent="-297001" algn="l">
              <a:lnSpc>
                <a:spcPct val="100000"/>
              </a:lnSpc>
              <a:spcBef>
                <a:spcPts val="1200"/>
              </a:spcBef>
              <a:spcAft>
                <a:spcPts val="0"/>
              </a:spcAft>
              <a:buClr>
                <a:schemeClr val="lt1"/>
              </a:buClr>
              <a:buSzPts val="1080"/>
              <a:buChar char="•"/>
              <a:defRPr sz="1200">
                <a:solidFill>
                  <a:schemeClr val="lt1"/>
                </a:solidFill>
              </a:defRPr>
            </a:lvl8pPr>
            <a:lvl9pPr marL="4112332" lvl="8" indent="-331272" algn="l">
              <a:lnSpc>
                <a:spcPct val="100000"/>
              </a:lnSpc>
              <a:spcBef>
                <a:spcPts val="1200"/>
              </a:spcBef>
              <a:spcAft>
                <a:spcPts val="0"/>
              </a:spcAft>
              <a:buClr>
                <a:schemeClr val="lt1"/>
              </a:buClr>
              <a:buSzPts val="1620"/>
              <a:buChar char="-"/>
              <a:defRPr sz="1798">
                <a:solidFill>
                  <a:schemeClr val="lt1"/>
                </a:solidFill>
              </a:defRPr>
            </a:lvl9pPr>
          </a:lstStyle>
          <a:p>
            <a:endParaRPr/>
          </a:p>
        </p:txBody>
      </p:sp>
      <p:sp>
        <p:nvSpPr>
          <p:cNvPr id="89" name="Google Shape;89;p10"/>
          <p:cNvSpPr txBox="1">
            <a:spLocks noGrp="1"/>
          </p:cNvSpPr>
          <p:nvPr>
            <p:ph type="body" idx="3"/>
          </p:nvPr>
        </p:nvSpPr>
        <p:spPr>
          <a:xfrm>
            <a:off x="8380413" y="1699688"/>
            <a:ext cx="3681445" cy="286362"/>
          </a:xfrm>
          <a:prstGeom prst="rect">
            <a:avLst/>
          </a:prstGeom>
          <a:noFill/>
          <a:ln>
            <a:noFill/>
          </a:ln>
        </p:spPr>
        <p:txBody>
          <a:bodyPr spcFirstLastPara="1" wrap="square" lIns="0" tIns="0" rIns="0" bIns="0" anchor="b" anchorCtr="0">
            <a:noAutofit/>
          </a:bodyPr>
          <a:lstStyle>
            <a:lvl1pPr marL="456926" lvl="0" indent="-331272" algn="l">
              <a:lnSpc>
                <a:spcPct val="100000"/>
              </a:lnSpc>
              <a:spcBef>
                <a:spcPts val="1200"/>
              </a:spcBef>
              <a:spcAft>
                <a:spcPts val="0"/>
              </a:spcAft>
              <a:buSzPts val="1620"/>
              <a:buChar char="​"/>
              <a:defRPr sz="1798">
                <a:solidFill>
                  <a:schemeClr val="accent1"/>
                </a:solidFill>
              </a:defRPr>
            </a:lvl1pPr>
            <a:lvl2pPr marL="913852" lvl="1" indent="-331271" algn="l">
              <a:lnSpc>
                <a:spcPct val="100000"/>
              </a:lnSpc>
              <a:spcBef>
                <a:spcPts val="1200"/>
              </a:spcBef>
              <a:spcAft>
                <a:spcPts val="0"/>
              </a:spcAft>
              <a:buSzPts val="1620"/>
              <a:buChar char="•"/>
              <a:defRPr/>
            </a:lvl2pPr>
            <a:lvl3pPr marL="1370778" lvl="2" indent="-331271" algn="l">
              <a:lnSpc>
                <a:spcPct val="100000"/>
              </a:lnSpc>
              <a:spcBef>
                <a:spcPts val="1200"/>
              </a:spcBef>
              <a:spcAft>
                <a:spcPts val="0"/>
              </a:spcAft>
              <a:buSzPts val="1620"/>
              <a:buChar char="–"/>
              <a:defRPr/>
            </a:lvl3pPr>
            <a:lvl4pPr marL="1827703" lvl="3" indent="-331271" algn="l">
              <a:lnSpc>
                <a:spcPct val="100000"/>
              </a:lnSpc>
              <a:spcBef>
                <a:spcPts val="1200"/>
              </a:spcBef>
              <a:spcAft>
                <a:spcPts val="0"/>
              </a:spcAft>
              <a:buSzPts val="1620"/>
              <a:buChar char="•"/>
              <a:defRPr/>
            </a:lvl4pPr>
            <a:lvl5pPr marL="2284628" lvl="4" indent="-308424" algn="l">
              <a:lnSpc>
                <a:spcPct val="100000"/>
              </a:lnSpc>
              <a:spcBef>
                <a:spcPts val="1200"/>
              </a:spcBef>
              <a:spcAft>
                <a:spcPts val="0"/>
              </a:spcAft>
              <a:buSzPts val="1260"/>
              <a:buChar char="–"/>
              <a:defRPr/>
            </a:lvl5pPr>
            <a:lvl6pPr marL="2741554" lvl="5" indent="-331272" algn="l">
              <a:lnSpc>
                <a:spcPct val="100000"/>
              </a:lnSpc>
              <a:spcBef>
                <a:spcPts val="1200"/>
              </a:spcBef>
              <a:spcAft>
                <a:spcPts val="0"/>
              </a:spcAft>
              <a:buSzPts val="1620"/>
              <a:buChar char="•"/>
              <a:defRPr/>
            </a:lvl6pPr>
            <a:lvl7pPr marL="3198480" lvl="6" indent="-331272" algn="l">
              <a:lnSpc>
                <a:spcPct val="100000"/>
              </a:lnSpc>
              <a:spcBef>
                <a:spcPts val="1200"/>
              </a:spcBef>
              <a:spcAft>
                <a:spcPts val="0"/>
              </a:spcAft>
              <a:buSzPts val="1620"/>
              <a:buChar char="-"/>
              <a:defRPr/>
            </a:lvl7pPr>
            <a:lvl8pPr marL="3655406" lvl="7" indent="-331272" algn="l">
              <a:lnSpc>
                <a:spcPct val="100000"/>
              </a:lnSpc>
              <a:spcBef>
                <a:spcPts val="1200"/>
              </a:spcBef>
              <a:spcAft>
                <a:spcPts val="0"/>
              </a:spcAft>
              <a:buSzPts val="1620"/>
              <a:buChar char="•"/>
              <a:defRPr/>
            </a:lvl8pPr>
            <a:lvl9pPr marL="4112332" lvl="8" indent="-331272" algn="l">
              <a:lnSpc>
                <a:spcPct val="100000"/>
              </a:lnSpc>
              <a:spcBef>
                <a:spcPts val="1200"/>
              </a:spcBef>
              <a:spcAft>
                <a:spcPts val="0"/>
              </a:spcAft>
              <a:buSzPts val="1620"/>
              <a:buChar char="-"/>
              <a:defRPr/>
            </a:lvl9pPr>
          </a:lstStyle>
          <a:p>
            <a:endParaRPr/>
          </a:p>
        </p:txBody>
      </p:sp>
      <p:sp>
        <p:nvSpPr>
          <p:cNvPr id="90" name="Google Shape;90;p10"/>
          <p:cNvSpPr txBox="1">
            <a:spLocks noGrp="1"/>
          </p:cNvSpPr>
          <p:nvPr>
            <p:ph type="body" idx="4"/>
          </p:nvPr>
        </p:nvSpPr>
        <p:spPr>
          <a:xfrm>
            <a:off x="8378825" y="2063048"/>
            <a:ext cx="3683033" cy="1600200"/>
          </a:xfrm>
          <a:prstGeom prst="rect">
            <a:avLst/>
          </a:prstGeom>
          <a:noFill/>
          <a:ln>
            <a:noFill/>
          </a:ln>
        </p:spPr>
        <p:txBody>
          <a:bodyPr spcFirstLastPara="1" wrap="square" lIns="0" tIns="0" rIns="0" bIns="0" anchor="t" anchorCtr="0">
            <a:noAutofit/>
          </a:bodyPr>
          <a:lstStyle>
            <a:lvl1pPr marL="456926" lvl="0" indent="-319848" algn="l">
              <a:lnSpc>
                <a:spcPct val="100000"/>
              </a:lnSpc>
              <a:spcBef>
                <a:spcPts val="1200"/>
              </a:spcBef>
              <a:spcAft>
                <a:spcPts val="0"/>
              </a:spcAft>
              <a:buSzPts val="1440"/>
              <a:buChar char="​"/>
              <a:defRPr sz="1600">
                <a:solidFill>
                  <a:srgbClr val="3C3C3C"/>
                </a:solidFill>
              </a:defRPr>
            </a:lvl1pPr>
            <a:lvl2pPr marL="913852" lvl="1" indent="-308424" algn="l">
              <a:lnSpc>
                <a:spcPct val="100000"/>
              </a:lnSpc>
              <a:spcBef>
                <a:spcPts val="1200"/>
              </a:spcBef>
              <a:spcAft>
                <a:spcPts val="0"/>
              </a:spcAft>
              <a:buSzPts val="1260"/>
              <a:buChar char="•"/>
              <a:defRPr sz="1400">
                <a:solidFill>
                  <a:srgbClr val="3C3C3C"/>
                </a:solidFill>
              </a:defRPr>
            </a:lvl2pPr>
            <a:lvl3pPr marL="1370778" lvl="2" indent="-308424" algn="l">
              <a:lnSpc>
                <a:spcPct val="100000"/>
              </a:lnSpc>
              <a:spcBef>
                <a:spcPts val="1200"/>
              </a:spcBef>
              <a:spcAft>
                <a:spcPts val="0"/>
              </a:spcAft>
              <a:buSzPts val="1260"/>
              <a:buChar char="–"/>
              <a:defRPr sz="1400">
                <a:solidFill>
                  <a:srgbClr val="3C3C3C"/>
                </a:solidFill>
              </a:defRPr>
            </a:lvl3pPr>
            <a:lvl4pPr marL="1827703" lvl="3" indent="-331271" algn="l">
              <a:lnSpc>
                <a:spcPct val="100000"/>
              </a:lnSpc>
              <a:spcBef>
                <a:spcPts val="1200"/>
              </a:spcBef>
              <a:spcAft>
                <a:spcPts val="0"/>
              </a:spcAft>
              <a:buSzPts val="1620"/>
              <a:buChar char="•"/>
              <a:defRPr/>
            </a:lvl4pPr>
            <a:lvl5pPr marL="2284628" lvl="4" indent="-331272" algn="l">
              <a:lnSpc>
                <a:spcPct val="100000"/>
              </a:lnSpc>
              <a:spcBef>
                <a:spcPts val="1200"/>
              </a:spcBef>
              <a:spcAft>
                <a:spcPts val="0"/>
              </a:spcAft>
              <a:buSzPts val="1620"/>
              <a:buChar char="–"/>
              <a:defRPr/>
            </a:lvl5pPr>
            <a:lvl6pPr marL="2741554" lvl="5" indent="-331272" algn="l">
              <a:lnSpc>
                <a:spcPct val="100000"/>
              </a:lnSpc>
              <a:spcBef>
                <a:spcPts val="1200"/>
              </a:spcBef>
              <a:spcAft>
                <a:spcPts val="0"/>
              </a:spcAft>
              <a:buSzPts val="1620"/>
              <a:buChar char="•"/>
              <a:defRPr/>
            </a:lvl6pPr>
            <a:lvl7pPr marL="3198480" lvl="6" indent="-331272" algn="l">
              <a:lnSpc>
                <a:spcPct val="100000"/>
              </a:lnSpc>
              <a:spcBef>
                <a:spcPts val="1200"/>
              </a:spcBef>
              <a:spcAft>
                <a:spcPts val="0"/>
              </a:spcAft>
              <a:buSzPts val="1620"/>
              <a:buChar char="-"/>
              <a:defRPr/>
            </a:lvl7pPr>
            <a:lvl8pPr marL="3655406" lvl="7" indent="-331272" algn="l">
              <a:lnSpc>
                <a:spcPct val="100000"/>
              </a:lnSpc>
              <a:spcBef>
                <a:spcPts val="1200"/>
              </a:spcBef>
              <a:spcAft>
                <a:spcPts val="0"/>
              </a:spcAft>
              <a:buSzPts val="1620"/>
              <a:buChar char="•"/>
              <a:defRPr/>
            </a:lvl8pPr>
            <a:lvl9pPr marL="4112332" lvl="8" indent="-331272" algn="l">
              <a:lnSpc>
                <a:spcPct val="100000"/>
              </a:lnSpc>
              <a:spcBef>
                <a:spcPts val="1200"/>
              </a:spcBef>
              <a:spcAft>
                <a:spcPts val="0"/>
              </a:spcAft>
              <a:buSzPts val="1620"/>
              <a:buChar char="-"/>
              <a:defRPr/>
            </a:lvl9pPr>
          </a:lstStyle>
          <a:p>
            <a:endParaRPr/>
          </a:p>
        </p:txBody>
      </p:sp>
      <p:sp>
        <p:nvSpPr>
          <p:cNvPr id="92" name="Google Shape;92;p10"/>
          <p:cNvSpPr txBox="1">
            <a:spLocks noGrp="1"/>
          </p:cNvSpPr>
          <p:nvPr>
            <p:ph type="body" idx="5"/>
          </p:nvPr>
        </p:nvSpPr>
        <p:spPr>
          <a:xfrm>
            <a:off x="8380413" y="3972472"/>
            <a:ext cx="3681445" cy="277353"/>
          </a:xfrm>
          <a:prstGeom prst="rect">
            <a:avLst/>
          </a:prstGeom>
          <a:noFill/>
          <a:ln>
            <a:noFill/>
          </a:ln>
        </p:spPr>
        <p:txBody>
          <a:bodyPr spcFirstLastPara="1" wrap="square" lIns="0" tIns="0" rIns="0" bIns="0" anchor="b" anchorCtr="0">
            <a:noAutofit/>
          </a:bodyPr>
          <a:lstStyle>
            <a:lvl1pPr marL="456926" lvl="0" indent="-331272" algn="l">
              <a:lnSpc>
                <a:spcPct val="100000"/>
              </a:lnSpc>
              <a:spcBef>
                <a:spcPts val="1200"/>
              </a:spcBef>
              <a:spcAft>
                <a:spcPts val="0"/>
              </a:spcAft>
              <a:buSzPts val="1620"/>
              <a:buChar char="​"/>
              <a:defRPr sz="1798">
                <a:solidFill>
                  <a:schemeClr val="accent5"/>
                </a:solidFill>
              </a:defRPr>
            </a:lvl1pPr>
            <a:lvl2pPr marL="913852" lvl="1" indent="-331271" algn="l">
              <a:lnSpc>
                <a:spcPct val="100000"/>
              </a:lnSpc>
              <a:spcBef>
                <a:spcPts val="1200"/>
              </a:spcBef>
              <a:spcAft>
                <a:spcPts val="0"/>
              </a:spcAft>
              <a:buSzPts val="1620"/>
              <a:buChar char="•"/>
              <a:defRPr/>
            </a:lvl2pPr>
            <a:lvl3pPr marL="1370778" lvl="2" indent="-331271" algn="l">
              <a:lnSpc>
                <a:spcPct val="100000"/>
              </a:lnSpc>
              <a:spcBef>
                <a:spcPts val="1200"/>
              </a:spcBef>
              <a:spcAft>
                <a:spcPts val="0"/>
              </a:spcAft>
              <a:buSzPts val="1620"/>
              <a:buChar char="–"/>
              <a:defRPr/>
            </a:lvl3pPr>
            <a:lvl4pPr marL="1827703" lvl="3" indent="-331271" algn="l">
              <a:lnSpc>
                <a:spcPct val="100000"/>
              </a:lnSpc>
              <a:spcBef>
                <a:spcPts val="1200"/>
              </a:spcBef>
              <a:spcAft>
                <a:spcPts val="0"/>
              </a:spcAft>
              <a:buSzPts val="1620"/>
              <a:buChar char="•"/>
              <a:defRPr/>
            </a:lvl4pPr>
            <a:lvl5pPr marL="2284628" lvl="4" indent="-308424" algn="l">
              <a:lnSpc>
                <a:spcPct val="100000"/>
              </a:lnSpc>
              <a:spcBef>
                <a:spcPts val="1200"/>
              </a:spcBef>
              <a:spcAft>
                <a:spcPts val="0"/>
              </a:spcAft>
              <a:buSzPts val="1260"/>
              <a:buChar char="–"/>
              <a:defRPr/>
            </a:lvl5pPr>
            <a:lvl6pPr marL="2741554" lvl="5" indent="-331272" algn="l">
              <a:lnSpc>
                <a:spcPct val="100000"/>
              </a:lnSpc>
              <a:spcBef>
                <a:spcPts val="1200"/>
              </a:spcBef>
              <a:spcAft>
                <a:spcPts val="0"/>
              </a:spcAft>
              <a:buSzPts val="1620"/>
              <a:buChar char="•"/>
              <a:defRPr/>
            </a:lvl6pPr>
            <a:lvl7pPr marL="3198480" lvl="6" indent="-331272" algn="l">
              <a:lnSpc>
                <a:spcPct val="100000"/>
              </a:lnSpc>
              <a:spcBef>
                <a:spcPts val="1200"/>
              </a:spcBef>
              <a:spcAft>
                <a:spcPts val="0"/>
              </a:spcAft>
              <a:buSzPts val="1620"/>
              <a:buChar char="-"/>
              <a:defRPr/>
            </a:lvl7pPr>
            <a:lvl8pPr marL="3655406" lvl="7" indent="-331272" algn="l">
              <a:lnSpc>
                <a:spcPct val="100000"/>
              </a:lnSpc>
              <a:spcBef>
                <a:spcPts val="1200"/>
              </a:spcBef>
              <a:spcAft>
                <a:spcPts val="0"/>
              </a:spcAft>
              <a:buSzPts val="1620"/>
              <a:buChar char="•"/>
              <a:defRPr/>
            </a:lvl8pPr>
            <a:lvl9pPr marL="4112332" lvl="8" indent="-331272" algn="l">
              <a:lnSpc>
                <a:spcPct val="100000"/>
              </a:lnSpc>
              <a:spcBef>
                <a:spcPts val="1200"/>
              </a:spcBef>
              <a:spcAft>
                <a:spcPts val="0"/>
              </a:spcAft>
              <a:buSzPts val="1620"/>
              <a:buChar char="-"/>
              <a:defRPr/>
            </a:lvl9pPr>
          </a:lstStyle>
          <a:p>
            <a:endParaRPr/>
          </a:p>
        </p:txBody>
      </p:sp>
      <p:sp>
        <p:nvSpPr>
          <p:cNvPr id="93" name="Google Shape;93;p10"/>
          <p:cNvSpPr txBox="1">
            <a:spLocks noGrp="1"/>
          </p:cNvSpPr>
          <p:nvPr>
            <p:ph type="body" idx="6"/>
          </p:nvPr>
        </p:nvSpPr>
        <p:spPr>
          <a:xfrm>
            <a:off x="8378825" y="4347904"/>
            <a:ext cx="3683033" cy="1600200"/>
          </a:xfrm>
          <a:prstGeom prst="rect">
            <a:avLst/>
          </a:prstGeom>
          <a:noFill/>
          <a:ln>
            <a:noFill/>
          </a:ln>
        </p:spPr>
        <p:txBody>
          <a:bodyPr spcFirstLastPara="1" wrap="square" lIns="0" tIns="0" rIns="0" bIns="0" anchor="t" anchorCtr="0">
            <a:noAutofit/>
          </a:bodyPr>
          <a:lstStyle>
            <a:lvl1pPr marL="456926" lvl="0" indent="-319848" algn="l">
              <a:lnSpc>
                <a:spcPct val="100000"/>
              </a:lnSpc>
              <a:spcBef>
                <a:spcPts val="1200"/>
              </a:spcBef>
              <a:spcAft>
                <a:spcPts val="0"/>
              </a:spcAft>
              <a:buSzPts val="1440"/>
              <a:buChar char="​"/>
              <a:defRPr sz="1600">
                <a:solidFill>
                  <a:srgbClr val="3C3C3C"/>
                </a:solidFill>
              </a:defRPr>
            </a:lvl1pPr>
            <a:lvl2pPr marL="913852" lvl="1" indent="-308424" algn="l">
              <a:lnSpc>
                <a:spcPct val="100000"/>
              </a:lnSpc>
              <a:spcBef>
                <a:spcPts val="1200"/>
              </a:spcBef>
              <a:spcAft>
                <a:spcPts val="0"/>
              </a:spcAft>
              <a:buSzPts val="1260"/>
              <a:buChar char="•"/>
              <a:defRPr sz="1400">
                <a:solidFill>
                  <a:srgbClr val="3C3C3C"/>
                </a:solidFill>
              </a:defRPr>
            </a:lvl2pPr>
            <a:lvl3pPr marL="1370778" lvl="2" indent="-308424" algn="l">
              <a:lnSpc>
                <a:spcPct val="100000"/>
              </a:lnSpc>
              <a:spcBef>
                <a:spcPts val="1200"/>
              </a:spcBef>
              <a:spcAft>
                <a:spcPts val="0"/>
              </a:spcAft>
              <a:buSzPts val="1260"/>
              <a:buChar char="–"/>
              <a:defRPr sz="1400">
                <a:solidFill>
                  <a:srgbClr val="3C3C3C"/>
                </a:solidFill>
              </a:defRPr>
            </a:lvl3pPr>
            <a:lvl4pPr marL="1827703" lvl="3" indent="-331271" algn="l">
              <a:lnSpc>
                <a:spcPct val="100000"/>
              </a:lnSpc>
              <a:spcBef>
                <a:spcPts val="1200"/>
              </a:spcBef>
              <a:spcAft>
                <a:spcPts val="0"/>
              </a:spcAft>
              <a:buSzPts val="1620"/>
              <a:buChar char="•"/>
              <a:defRPr/>
            </a:lvl4pPr>
            <a:lvl5pPr marL="2284628" lvl="4" indent="-331272" algn="l">
              <a:lnSpc>
                <a:spcPct val="100000"/>
              </a:lnSpc>
              <a:spcBef>
                <a:spcPts val="1200"/>
              </a:spcBef>
              <a:spcAft>
                <a:spcPts val="0"/>
              </a:spcAft>
              <a:buSzPts val="1620"/>
              <a:buChar char="–"/>
              <a:defRPr/>
            </a:lvl5pPr>
            <a:lvl6pPr marL="2741554" lvl="5" indent="-331272" algn="l">
              <a:lnSpc>
                <a:spcPct val="100000"/>
              </a:lnSpc>
              <a:spcBef>
                <a:spcPts val="1200"/>
              </a:spcBef>
              <a:spcAft>
                <a:spcPts val="0"/>
              </a:spcAft>
              <a:buSzPts val="1620"/>
              <a:buChar char="•"/>
              <a:defRPr/>
            </a:lvl6pPr>
            <a:lvl7pPr marL="3198480" lvl="6" indent="-331272" algn="l">
              <a:lnSpc>
                <a:spcPct val="100000"/>
              </a:lnSpc>
              <a:spcBef>
                <a:spcPts val="1200"/>
              </a:spcBef>
              <a:spcAft>
                <a:spcPts val="0"/>
              </a:spcAft>
              <a:buSzPts val="1620"/>
              <a:buChar char="-"/>
              <a:defRPr/>
            </a:lvl7pPr>
            <a:lvl8pPr marL="3655406" lvl="7" indent="-331272" algn="l">
              <a:lnSpc>
                <a:spcPct val="100000"/>
              </a:lnSpc>
              <a:spcBef>
                <a:spcPts val="1200"/>
              </a:spcBef>
              <a:spcAft>
                <a:spcPts val="0"/>
              </a:spcAft>
              <a:buSzPts val="1620"/>
              <a:buChar char="•"/>
              <a:defRPr/>
            </a:lvl8pPr>
            <a:lvl9pPr marL="4112332" lvl="8" indent="-331272" algn="l">
              <a:lnSpc>
                <a:spcPct val="100000"/>
              </a:lnSpc>
              <a:spcBef>
                <a:spcPts val="1200"/>
              </a:spcBef>
              <a:spcAft>
                <a:spcPts val="0"/>
              </a:spcAft>
              <a:buSzPts val="1620"/>
              <a:buChar char="-"/>
              <a:defRPr/>
            </a:lvl9pPr>
          </a:lstStyle>
          <a:p>
            <a:endParaRPr/>
          </a:p>
        </p:txBody>
      </p:sp>
    </p:spTree>
    <p:extLst>
      <p:ext uri="{BB962C8B-B14F-4D97-AF65-F5344CB8AC3E}">
        <p14:creationId xmlns:p14="http://schemas.microsoft.com/office/powerpoint/2010/main" val="3080264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rgbClr val="000000"/>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solidFill>
              <a:srgbClr val="000000"/>
            </a:solid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9" name="Graphic 7">
            <a:extLst>
              <a:ext uri="{FF2B5EF4-FFF2-40B4-BE49-F238E27FC236}">
                <a16:creationId xmlns:a16="http://schemas.microsoft.com/office/drawing/2014/main" id="{4347DF9D-10B3-D013-C54B-0CEA1344F18E}"/>
              </a:ext>
            </a:extLst>
          </p:cNvPr>
          <p:cNvSpPr/>
          <p:nvPr/>
        </p:nvSpPr>
        <p:spPr>
          <a:xfrm>
            <a:off x="0" y="0"/>
            <a:ext cx="12188825" cy="74871"/>
          </a:xfrm>
          <a:custGeom>
            <a:avLst/>
            <a:gdLst>
              <a:gd name="connsiteX0" fmla="*/ 0 w 12185715"/>
              <a:gd name="connsiteY0" fmla="*/ 0 h 74871"/>
              <a:gd name="connsiteX1" fmla="*/ 12185716 w 12185715"/>
              <a:gd name="connsiteY1" fmla="*/ 0 h 74871"/>
              <a:gd name="connsiteX2" fmla="*/ 12185716 w 12185715"/>
              <a:gd name="connsiteY2" fmla="*/ 74871 h 74871"/>
              <a:gd name="connsiteX3" fmla="*/ 0 w 12185715"/>
              <a:gd name="connsiteY3" fmla="*/ 74871 h 74871"/>
            </a:gdLst>
            <a:ahLst/>
            <a:cxnLst>
              <a:cxn ang="0">
                <a:pos x="connsiteX0" y="connsiteY0"/>
              </a:cxn>
              <a:cxn ang="0">
                <a:pos x="connsiteX1" y="connsiteY1"/>
              </a:cxn>
              <a:cxn ang="0">
                <a:pos x="connsiteX2" y="connsiteY2"/>
              </a:cxn>
              <a:cxn ang="0">
                <a:pos x="connsiteX3" y="connsiteY3"/>
              </a:cxn>
            </a:cxnLst>
            <a:rect l="l" t="t" r="r" b="b"/>
            <a:pathLst>
              <a:path w="12185715" h="74871">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1"/>
          </a:gradFill>
          <a:ln w="0" cap="flat">
            <a:noFill/>
            <a:prstDash val="solid"/>
            <a:miter/>
          </a:ln>
        </p:spPr>
        <p:txBody>
          <a:bodyPr rtlCol="0" anchor="ctr"/>
          <a:lstStyle/>
          <a:p>
            <a:endParaRPr lang="en-US" dirty="0"/>
          </a:p>
        </p:txBody>
      </p:sp>
      <p:sp>
        <p:nvSpPr>
          <p:cNvPr id="6" name="TextBox 5">
            <a:extLst>
              <a:ext uri="{FF2B5EF4-FFF2-40B4-BE49-F238E27FC236}">
                <a16:creationId xmlns:a16="http://schemas.microsoft.com/office/drawing/2014/main" id="{67497138-A018-1FCE-9C69-099B94E017A6}"/>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398740080"/>
      </p:ext>
    </p:extLst>
  </p:cSld>
  <p:clrMap bg1="lt1" tx1="dk1" bg2="lt2" tx2="dk2" accent1="accent1" accent2="accent2" accent3="accent3" accent4="accent4" accent5="accent5" accent6="accent6" hlink="hlink" folHlink="folHlink"/>
  <p:sldLayoutIdLst>
    <p:sldLayoutId id="2147484196" r:id="rId1"/>
    <p:sldLayoutId id="2147484197" r:id="rId2"/>
    <p:sldLayoutId id="2147484198" r:id="rId3"/>
    <p:sldLayoutId id="2147484199" r:id="rId4"/>
    <p:sldLayoutId id="2147484200" r:id="rId5"/>
    <p:sldLayoutId id="2147484201" r:id="rId6"/>
    <p:sldLayoutId id="2147484202" r:id="rId7"/>
    <p:sldLayoutId id="2147484204" r:id="rId8"/>
    <p:sldLayoutId id="2147484205" r:id="rId9"/>
    <p:sldLayoutId id="2147484206" r:id="rId10"/>
    <p:sldLayoutId id="2147484208" r:id="rId11"/>
    <p:sldLayoutId id="2147484209" r:id="rId12"/>
    <p:sldLayoutId id="2147484210" r:id="rId13"/>
    <p:sldLayoutId id="2147484211" r:id="rId14"/>
    <p:sldLayoutId id="2147484212" r:id="rId15"/>
    <p:sldLayoutId id="2147484213" r:id="rId16"/>
    <p:sldLayoutId id="2147484214" r:id="rId17"/>
    <p:sldLayoutId id="2147484215" r:id="rId18"/>
    <p:sldLayoutId id="2147484216" r:id="rId19"/>
    <p:sldLayoutId id="2147484217" r:id="rId20"/>
    <p:sldLayoutId id="2147484218" r:id="rId21"/>
    <p:sldLayoutId id="2147484219" r:id="rId22"/>
    <p:sldLayoutId id="2147484220" r:id="rId23"/>
    <p:sldLayoutId id="2147484221" r:id="rId24"/>
    <p:sldLayoutId id="2147484222" r:id="rId25"/>
    <p:sldLayoutId id="2147484223" r:id="rId26"/>
    <p:sldLayoutId id="2147484224" r:id="rId27"/>
    <p:sldLayoutId id="2147484225" r:id="rId28"/>
    <p:sldLayoutId id="2147484226" r:id="rId29"/>
    <p:sldLayoutId id="2147484227" r:id="rId30"/>
    <p:sldLayoutId id="2147484228" r:id="rId31"/>
    <p:sldLayoutId id="2147484229" r:id="rId32"/>
    <p:sldLayoutId id="2147484230" r:id="rId33"/>
    <p:sldLayoutId id="2147484231" r:id="rId34"/>
    <p:sldLayoutId id="2147484232" r:id="rId35"/>
    <p:sldLayoutId id="2147484233" r:id="rId36"/>
    <p:sldLayoutId id="2147484234" r:id="rId37"/>
    <p:sldLayoutId id="2147484235" r:id="rId38"/>
    <p:sldLayoutId id="2147484236" r:id="rId39"/>
    <p:sldLayoutId id="2147484237" r:id="rId40"/>
    <p:sldLayoutId id="2147484240" r:id="rId41"/>
    <p:sldLayoutId id="2147484241" r:id="rId42"/>
    <p:sldLayoutId id="2147484243" r:id="rId43"/>
    <p:sldLayoutId id="2147484252" r:id="rId44"/>
    <p:sldLayoutId id="2147484259" r:id="rId45"/>
    <p:sldLayoutId id="2147484522" r:id="rId46"/>
    <p:sldLayoutId id="2147484523" r:id="rId47"/>
    <p:sldLayoutId id="2147484524" r:id="rId4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 TargetMode="External"/><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hyperlink" Target="https://sales-resources.broadcom.com/group/vcf/vsphere-technical"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2.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42.xml"/><Relationship Id="rId6" Type="http://schemas.openxmlformats.org/officeDocument/2006/relationships/image" Target="../media/image16.svg"/><Relationship Id="rId11" Type="http://schemas.openxmlformats.org/officeDocument/2006/relationships/image" Target="../media/image20.svg"/><Relationship Id="rId5" Type="http://schemas.openxmlformats.org/officeDocument/2006/relationships/image" Target="../media/image15.png"/><Relationship Id="rId10" Type="http://schemas.openxmlformats.org/officeDocument/2006/relationships/image" Target="../media/image19.png"/><Relationship Id="rId4" Type="http://schemas.openxmlformats.org/officeDocument/2006/relationships/image" Target="../media/image14.svg"/><Relationship Id="rId9"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1.png"/><Relationship Id="rId7"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26.svg"/><Relationship Id="rId5" Type="http://schemas.openxmlformats.org/officeDocument/2006/relationships/image" Target="../media/image11.svg"/><Relationship Id="rId10"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24.sv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1.xml"/><Relationship Id="rId6" Type="http://schemas.openxmlformats.org/officeDocument/2006/relationships/image" Target="../media/image22.png"/><Relationship Id="rId5" Type="http://schemas.openxmlformats.org/officeDocument/2006/relationships/image" Target="../media/image3.png"/><Relationship Id="rId4" Type="http://schemas.openxmlformats.org/officeDocument/2006/relationships/image" Target="../media/image28.svg"/></Relationships>
</file>

<file path=ppt/slides/_rels/slide1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1.xml"/><Relationship Id="rId6" Type="http://schemas.openxmlformats.org/officeDocument/2006/relationships/image" Target="../media/image33.png"/><Relationship Id="rId11" Type="http://schemas.openxmlformats.org/officeDocument/2006/relationships/image" Target="../media/image37.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31.png"/><Relationship Id="rId9"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27.png"/><Relationship Id="rId7"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21.xml"/><Relationship Id="rId6" Type="http://schemas.openxmlformats.org/officeDocument/2006/relationships/image" Target="../media/image29.png"/><Relationship Id="rId11" Type="http://schemas.openxmlformats.org/officeDocument/2006/relationships/image" Target="../media/image42.png"/><Relationship Id="rId5" Type="http://schemas.openxmlformats.org/officeDocument/2006/relationships/image" Target="../media/image3.png"/><Relationship Id="rId10" Type="http://schemas.openxmlformats.org/officeDocument/2006/relationships/image" Target="../media/image41.png"/><Relationship Id="rId4" Type="http://schemas.openxmlformats.org/officeDocument/2006/relationships/image" Target="../media/image28.svg"/><Relationship Id="rId9"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16.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8.svg"/><Relationship Id="rId2" Type="http://schemas.openxmlformats.org/officeDocument/2006/relationships/notesSlide" Target="../notesSlides/notesSlide23.xml"/><Relationship Id="rId1" Type="http://schemas.openxmlformats.org/officeDocument/2006/relationships/slideLayout" Target="../slideLayouts/slideLayout21.xml"/><Relationship Id="rId6" Type="http://schemas.openxmlformats.org/officeDocument/2006/relationships/image" Target="../media/image27.png"/><Relationship Id="rId5" Type="http://schemas.openxmlformats.org/officeDocument/2006/relationships/image" Target="../media/image3.png"/><Relationship Id="rId4" Type="http://schemas.openxmlformats.org/officeDocument/2006/relationships/image" Target="../media/image11.sv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41.xml"/></Relationships>
</file>

<file path=ppt/slides/_rels/slide2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3.png"/><Relationship Id="rId7"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2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8.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2.xml"/></Relationships>
</file>

<file path=ppt/slides/_rels/slide32.xml.rels><?xml version="1.0" encoding="UTF-8" standalone="yes"?>
<Relationships xmlns="http://schemas.openxmlformats.org/package/2006/relationships"><Relationship Id="rId8" Type="http://schemas.openxmlformats.org/officeDocument/2006/relationships/image" Target="../media/image53.svg"/><Relationship Id="rId13" Type="http://schemas.openxmlformats.org/officeDocument/2006/relationships/image" Target="../media/image58.png"/><Relationship Id="rId3" Type="http://schemas.openxmlformats.org/officeDocument/2006/relationships/image" Target="../media/image48.png"/><Relationship Id="rId7" Type="http://schemas.openxmlformats.org/officeDocument/2006/relationships/image" Target="../media/image52.png"/><Relationship Id="rId12" Type="http://schemas.openxmlformats.org/officeDocument/2006/relationships/image" Target="../media/image57.sv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51.svg"/><Relationship Id="rId11" Type="http://schemas.openxmlformats.org/officeDocument/2006/relationships/image" Target="../media/image56.png"/><Relationship Id="rId5" Type="http://schemas.openxmlformats.org/officeDocument/2006/relationships/image" Target="../media/image50.png"/><Relationship Id="rId10" Type="http://schemas.openxmlformats.org/officeDocument/2006/relationships/image" Target="../media/image55.svg"/><Relationship Id="rId4" Type="http://schemas.openxmlformats.org/officeDocument/2006/relationships/image" Target="../media/image49.svg"/><Relationship Id="rId9" Type="http://schemas.openxmlformats.org/officeDocument/2006/relationships/image" Target="../media/image54.png"/><Relationship Id="rId14" Type="http://schemas.openxmlformats.org/officeDocument/2006/relationships/image" Target="../media/image59.svg"/></Relationships>
</file>

<file path=ppt/slides/_rels/slide33.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69.svg"/><Relationship Id="rId2" Type="http://schemas.openxmlformats.org/officeDocument/2006/relationships/notesSlide" Target="../notesSlides/notesSlide33.xml"/><Relationship Id="rId1" Type="http://schemas.openxmlformats.org/officeDocument/2006/relationships/slideLayout" Target="../slideLayouts/slideLayout21.xml"/><Relationship Id="rId6" Type="http://schemas.openxmlformats.org/officeDocument/2006/relationships/image" Target="../media/image63.svg"/><Relationship Id="rId11" Type="http://schemas.openxmlformats.org/officeDocument/2006/relationships/image" Target="../media/image68.png"/><Relationship Id="rId5" Type="http://schemas.openxmlformats.org/officeDocument/2006/relationships/image" Target="../media/image62.png"/><Relationship Id="rId10" Type="http://schemas.openxmlformats.org/officeDocument/2006/relationships/image" Target="../media/image67.svg"/><Relationship Id="rId4" Type="http://schemas.openxmlformats.org/officeDocument/2006/relationships/image" Target="../media/image61.svg"/><Relationship Id="rId9" Type="http://schemas.openxmlformats.org/officeDocument/2006/relationships/image" Target="../media/image66.png"/></Relationships>
</file>

<file path=ppt/slides/_rels/slide3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4.xml"/><Relationship Id="rId1" Type="http://schemas.openxmlformats.org/officeDocument/2006/relationships/slideLayout" Target="../slideLayouts/slideLayout21.xml"/><Relationship Id="rId6" Type="http://schemas.openxmlformats.org/officeDocument/2006/relationships/image" Target="../media/image73.svg"/><Relationship Id="rId5" Type="http://schemas.openxmlformats.org/officeDocument/2006/relationships/image" Target="../media/image72.png"/><Relationship Id="rId4" Type="http://schemas.openxmlformats.org/officeDocument/2006/relationships/image" Target="../media/image71.svg"/></Relationships>
</file>

<file path=ppt/slides/_rels/slide35.xml.rels><?xml version="1.0" encoding="UTF-8" standalone="yes"?>
<Relationships xmlns="http://schemas.openxmlformats.org/package/2006/relationships"><Relationship Id="rId8" Type="http://schemas.openxmlformats.org/officeDocument/2006/relationships/image" Target="../media/image79.svg"/><Relationship Id="rId13" Type="http://schemas.openxmlformats.org/officeDocument/2006/relationships/image" Target="../media/image84.svg"/><Relationship Id="rId18" Type="http://schemas.openxmlformats.org/officeDocument/2006/relationships/image" Target="../media/image87.png"/><Relationship Id="rId3" Type="http://schemas.openxmlformats.org/officeDocument/2006/relationships/image" Target="../media/image74.png"/><Relationship Id="rId21" Type="http://schemas.openxmlformats.org/officeDocument/2006/relationships/image" Target="../media/image90.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6.svg"/><Relationship Id="rId2" Type="http://schemas.openxmlformats.org/officeDocument/2006/relationships/notesSlide" Target="../notesSlides/notesSlide35.xml"/><Relationship Id="rId16" Type="http://schemas.openxmlformats.org/officeDocument/2006/relationships/image" Target="../media/image85.png"/><Relationship Id="rId20" Type="http://schemas.openxmlformats.org/officeDocument/2006/relationships/image" Target="../media/image89.svg"/><Relationship Id="rId1" Type="http://schemas.openxmlformats.org/officeDocument/2006/relationships/slideLayout" Target="../slideLayouts/slideLayout21.xml"/><Relationship Id="rId6" Type="http://schemas.openxmlformats.org/officeDocument/2006/relationships/image" Target="../media/image77.svg"/><Relationship Id="rId11" Type="http://schemas.openxmlformats.org/officeDocument/2006/relationships/image" Target="../media/image82.svg"/><Relationship Id="rId5" Type="http://schemas.openxmlformats.org/officeDocument/2006/relationships/image" Target="../media/image76.png"/><Relationship Id="rId15" Type="http://schemas.openxmlformats.org/officeDocument/2006/relationships/image" Target="../media/image55.svg"/><Relationship Id="rId10" Type="http://schemas.openxmlformats.org/officeDocument/2006/relationships/image" Target="../media/image81.svg"/><Relationship Id="rId19" Type="http://schemas.openxmlformats.org/officeDocument/2006/relationships/image" Target="../media/image88.svg"/><Relationship Id="rId4" Type="http://schemas.openxmlformats.org/officeDocument/2006/relationships/image" Target="../media/image75.svg"/><Relationship Id="rId9" Type="http://schemas.openxmlformats.org/officeDocument/2006/relationships/image" Target="../media/image80.png"/><Relationship Id="rId14" Type="http://schemas.openxmlformats.org/officeDocument/2006/relationships/image" Target="../media/image54.png"/><Relationship Id="rId22" Type="http://schemas.openxmlformats.org/officeDocument/2006/relationships/image" Target="../media/image91.svg"/></Relationships>
</file>

<file path=ppt/slides/_rels/slide3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6.xml"/><Relationship Id="rId1" Type="http://schemas.openxmlformats.org/officeDocument/2006/relationships/slideLayout" Target="../slideLayouts/slideLayout21.xml"/><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image" Target="../media/image93.svg"/></Relationships>
</file>

<file path=ppt/slides/_rels/slide37.xml.rels><?xml version="1.0" encoding="UTF-8" standalone="yes"?>
<Relationships xmlns="http://schemas.openxmlformats.org/package/2006/relationships"><Relationship Id="rId8" Type="http://schemas.openxmlformats.org/officeDocument/2006/relationships/image" Target="../media/image99.svg"/><Relationship Id="rId13" Type="http://schemas.openxmlformats.org/officeDocument/2006/relationships/image" Target="../media/image104.png"/><Relationship Id="rId18" Type="http://schemas.openxmlformats.org/officeDocument/2006/relationships/image" Target="../media/image109.svg"/><Relationship Id="rId26" Type="http://schemas.openxmlformats.org/officeDocument/2006/relationships/image" Target="../media/image117.svg"/><Relationship Id="rId3" Type="http://schemas.openxmlformats.org/officeDocument/2006/relationships/image" Target="../media/image96.png"/><Relationship Id="rId21" Type="http://schemas.openxmlformats.org/officeDocument/2006/relationships/image" Target="../media/image112.png"/><Relationship Id="rId7" Type="http://schemas.openxmlformats.org/officeDocument/2006/relationships/image" Target="../media/image98.png"/><Relationship Id="rId12" Type="http://schemas.openxmlformats.org/officeDocument/2006/relationships/image" Target="../media/image103.svg"/><Relationship Id="rId17" Type="http://schemas.openxmlformats.org/officeDocument/2006/relationships/image" Target="../media/image108.png"/><Relationship Id="rId25" Type="http://schemas.openxmlformats.org/officeDocument/2006/relationships/image" Target="../media/image116.png"/><Relationship Id="rId2" Type="http://schemas.openxmlformats.org/officeDocument/2006/relationships/notesSlide" Target="../notesSlides/notesSlide37.xml"/><Relationship Id="rId16" Type="http://schemas.openxmlformats.org/officeDocument/2006/relationships/image" Target="../media/image107.svg"/><Relationship Id="rId20" Type="http://schemas.openxmlformats.org/officeDocument/2006/relationships/image" Target="../media/image111.svg"/><Relationship Id="rId1" Type="http://schemas.openxmlformats.org/officeDocument/2006/relationships/slideLayout" Target="../slideLayouts/slideLayout21.xml"/><Relationship Id="rId6" Type="http://schemas.openxmlformats.org/officeDocument/2006/relationships/image" Target="../media/image89.svg"/><Relationship Id="rId11" Type="http://schemas.openxmlformats.org/officeDocument/2006/relationships/image" Target="../media/image102.png"/><Relationship Id="rId24" Type="http://schemas.openxmlformats.org/officeDocument/2006/relationships/image" Target="../media/image115.svg"/><Relationship Id="rId5" Type="http://schemas.openxmlformats.org/officeDocument/2006/relationships/image" Target="../media/image83.png"/><Relationship Id="rId15" Type="http://schemas.openxmlformats.org/officeDocument/2006/relationships/image" Target="../media/image106.png"/><Relationship Id="rId23" Type="http://schemas.openxmlformats.org/officeDocument/2006/relationships/image" Target="../media/image114.png"/><Relationship Id="rId28" Type="http://schemas.openxmlformats.org/officeDocument/2006/relationships/image" Target="../media/image119.svg"/><Relationship Id="rId10" Type="http://schemas.openxmlformats.org/officeDocument/2006/relationships/image" Target="../media/image101.svg"/><Relationship Id="rId19" Type="http://schemas.openxmlformats.org/officeDocument/2006/relationships/image" Target="../media/image110.png"/><Relationship Id="rId4" Type="http://schemas.openxmlformats.org/officeDocument/2006/relationships/image" Target="../media/image97.svg"/><Relationship Id="rId9" Type="http://schemas.openxmlformats.org/officeDocument/2006/relationships/image" Target="../media/image100.png"/><Relationship Id="rId14" Type="http://schemas.openxmlformats.org/officeDocument/2006/relationships/image" Target="../media/image105.svg"/><Relationship Id="rId22" Type="http://schemas.openxmlformats.org/officeDocument/2006/relationships/image" Target="../media/image113.svg"/><Relationship Id="rId27" Type="http://schemas.openxmlformats.org/officeDocument/2006/relationships/image" Target="../media/image118.png"/></Relationships>
</file>

<file path=ppt/slides/_rels/slide38.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52.png"/><Relationship Id="rId7" Type="http://schemas.openxmlformats.org/officeDocument/2006/relationships/image" Target="../media/image50.png"/><Relationship Id="rId2" Type="http://schemas.openxmlformats.org/officeDocument/2006/relationships/notesSlide" Target="../notesSlides/notesSlide38.xml"/><Relationship Id="rId1" Type="http://schemas.openxmlformats.org/officeDocument/2006/relationships/slideLayout" Target="../slideLayouts/slideLayout13.xml"/><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57.svg"/><Relationship Id="rId4" Type="http://schemas.openxmlformats.org/officeDocument/2006/relationships/image" Target="../media/image53.svg"/><Relationship Id="rId9" Type="http://schemas.openxmlformats.org/officeDocument/2006/relationships/image" Target="../media/image56.png"/></Relationships>
</file>

<file path=ppt/slides/_rels/slide3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9.xml"/><Relationship Id="rId1" Type="http://schemas.openxmlformats.org/officeDocument/2006/relationships/slideLayout" Target="../slideLayouts/slideLayout13.xml"/><Relationship Id="rId4" Type="http://schemas.openxmlformats.org/officeDocument/2006/relationships/image" Target="../media/image65.svg"/></Relationships>
</file>

<file path=ppt/slides/_rels/slide4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0.xml"/><Relationship Id="rId1" Type="http://schemas.openxmlformats.org/officeDocument/2006/relationships/slideLayout" Target="../slideLayouts/slideLayout12.xml"/><Relationship Id="rId4" Type="http://schemas.openxmlformats.org/officeDocument/2006/relationships/image" Target="../media/image121.svg"/></Relationships>
</file>

<file path=ppt/slides/_rels/slide4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41.xml"/><Relationship Id="rId1" Type="http://schemas.openxmlformats.org/officeDocument/2006/relationships/slideLayout" Target="../slideLayouts/slideLayout37.xml"/><Relationship Id="rId4" Type="http://schemas.openxmlformats.org/officeDocument/2006/relationships/image" Target="../media/image123.sv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125.png"/></Relationships>
</file>

<file path=ppt/slides/_rels/slide44.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129.svg"/><Relationship Id="rId5" Type="http://schemas.openxmlformats.org/officeDocument/2006/relationships/image" Target="../media/image128.png"/><Relationship Id="rId4" Type="http://schemas.openxmlformats.org/officeDocument/2006/relationships/image" Target="../media/image127.svg"/></Relationships>
</file>

<file path=ppt/slides/_rels/slide4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52.xml"/><Relationship Id="rId1" Type="http://schemas.openxmlformats.org/officeDocument/2006/relationships/slideLayout" Target="../slideLayouts/slideLayout12.xml"/><Relationship Id="rId5" Type="http://schemas.openxmlformats.org/officeDocument/2006/relationships/image" Target="../media/image134.svg"/><Relationship Id="rId4" Type="http://schemas.openxmlformats.org/officeDocument/2006/relationships/image" Target="../media/image133.png"/></Relationships>
</file>

<file path=ppt/slides/_rels/slide53.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53.xml"/><Relationship Id="rId1" Type="http://schemas.openxmlformats.org/officeDocument/2006/relationships/slideLayout" Target="../slideLayouts/slideLayout12.xml"/><Relationship Id="rId5" Type="http://schemas.openxmlformats.org/officeDocument/2006/relationships/image" Target="../media/image137.png"/><Relationship Id="rId4" Type="http://schemas.openxmlformats.org/officeDocument/2006/relationships/image" Target="../media/image136.png"/></Relationships>
</file>

<file path=ppt/slides/_rels/slide54.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54.xml"/><Relationship Id="rId1" Type="http://schemas.openxmlformats.org/officeDocument/2006/relationships/slideLayout" Target="../slideLayouts/slideLayout12.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55.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55.xml"/><Relationship Id="rId1" Type="http://schemas.openxmlformats.org/officeDocument/2006/relationships/slideLayout" Target="../slideLayouts/slideLayout12.xml"/><Relationship Id="rId4" Type="http://schemas.openxmlformats.org/officeDocument/2006/relationships/image" Target="../media/image134.svg"/></Relationships>
</file>

<file path=ppt/slides/_rels/slide56.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42.png"/><Relationship Id="rId7" Type="http://schemas.openxmlformats.org/officeDocument/2006/relationships/image" Target="../media/image146.svg"/><Relationship Id="rId2" Type="http://schemas.openxmlformats.org/officeDocument/2006/relationships/notesSlide" Target="../notesSlides/notesSlide58.xml"/><Relationship Id="rId1" Type="http://schemas.openxmlformats.org/officeDocument/2006/relationships/slideLayout" Target="../slideLayouts/slideLayout12.xml"/><Relationship Id="rId6" Type="http://schemas.openxmlformats.org/officeDocument/2006/relationships/image" Target="../media/image145.png"/><Relationship Id="rId5" Type="http://schemas.openxmlformats.org/officeDocument/2006/relationships/image" Target="../media/image144.svg"/><Relationship Id="rId4" Type="http://schemas.openxmlformats.org/officeDocument/2006/relationships/image" Target="../media/image143.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8" Type="http://schemas.openxmlformats.org/officeDocument/2006/relationships/image" Target="../media/image151.png"/><Relationship Id="rId13" Type="http://schemas.openxmlformats.org/officeDocument/2006/relationships/image" Target="../media/image156.png"/><Relationship Id="rId3" Type="http://schemas.openxmlformats.org/officeDocument/2006/relationships/image" Target="../media/image3.png"/><Relationship Id="rId7" Type="http://schemas.openxmlformats.org/officeDocument/2006/relationships/image" Target="../media/image150.png"/><Relationship Id="rId12" Type="http://schemas.openxmlformats.org/officeDocument/2006/relationships/image" Target="../media/image155.png"/><Relationship Id="rId2" Type="http://schemas.openxmlformats.org/officeDocument/2006/relationships/notesSlide" Target="../notesSlides/notesSlide60.xml"/><Relationship Id="rId1" Type="http://schemas.openxmlformats.org/officeDocument/2006/relationships/slideLayout" Target="../slideLayouts/slideLayout41.xml"/><Relationship Id="rId6" Type="http://schemas.openxmlformats.org/officeDocument/2006/relationships/image" Target="../media/image149.png"/><Relationship Id="rId11" Type="http://schemas.openxmlformats.org/officeDocument/2006/relationships/image" Target="../media/image154.png"/><Relationship Id="rId5" Type="http://schemas.openxmlformats.org/officeDocument/2006/relationships/image" Target="../media/image148.png"/><Relationship Id="rId10" Type="http://schemas.openxmlformats.org/officeDocument/2006/relationships/image" Target="../media/image153.png"/><Relationship Id="rId4" Type="http://schemas.openxmlformats.org/officeDocument/2006/relationships/image" Target="../media/image147.png"/><Relationship Id="rId9" Type="http://schemas.openxmlformats.org/officeDocument/2006/relationships/image" Target="../media/image152.png"/><Relationship Id="rId14" Type="http://schemas.openxmlformats.org/officeDocument/2006/relationships/image" Target="../media/image157.png"/></Relationships>
</file>

<file path=ppt/slides/_rels/slide61.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61.xml"/><Relationship Id="rId1" Type="http://schemas.openxmlformats.org/officeDocument/2006/relationships/slideLayout" Target="../slideLayouts/slideLayout21.xml"/></Relationships>
</file>

<file path=ppt/slides/_rels/slide62.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62.xml"/><Relationship Id="rId1" Type="http://schemas.openxmlformats.org/officeDocument/2006/relationships/slideLayout" Target="../slideLayouts/slideLayout21.xml"/></Relationships>
</file>

<file path=ppt/slides/_rels/slide63.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63.xml"/><Relationship Id="rId1" Type="http://schemas.openxmlformats.org/officeDocument/2006/relationships/slideLayout" Target="../slideLayouts/slideLayout21.xml"/></Relationships>
</file>

<file path=ppt/slides/_rels/slide64.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64.xml"/><Relationship Id="rId1" Type="http://schemas.openxmlformats.org/officeDocument/2006/relationships/slideLayout" Target="../slideLayouts/slideLayout20.xml"/><Relationship Id="rId4" Type="http://schemas.openxmlformats.org/officeDocument/2006/relationships/image" Target="../media/image162.png"/></Relationships>
</file>

<file path=ppt/slides/_rels/slide65.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65.xml"/><Relationship Id="rId1" Type="http://schemas.openxmlformats.org/officeDocument/2006/relationships/slideLayout" Target="../slideLayouts/slideLayout21.xml"/><Relationship Id="rId6" Type="http://schemas.openxmlformats.org/officeDocument/2006/relationships/image" Target="../media/image166.png"/><Relationship Id="rId5" Type="http://schemas.openxmlformats.org/officeDocument/2006/relationships/image" Target="../media/image165.png"/><Relationship Id="rId4" Type="http://schemas.openxmlformats.org/officeDocument/2006/relationships/image" Target="../media/image164.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8.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7.xml"/><Relationship Id="rId1" Type="http://schemas.openxmlformats.org/officeDocument/2006/relationships/slideLayout" Target="../slideLayouts/slideLayout21.xml"/></Relationships>
</file>

<file path=ppt/slides/_rels/slide68.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68.xml"/><Relationship Id="rId1" Type="http://schemas.openxmlformats.org/officeDocument/2006/relationships/slideLayout" Target="../slideLayouts/slideLayout21.xml"/><Relationship Id="rId4" Type="http://schemas.openxmlformats.org/officeDocument/2006/relationships/image" Target="../media/image168.png"/></Relationships>
</file>

<file path=ppt/slides/_rels/slide69.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69.xml"/><Relationship Id="rId1" Type="http://schemas.openxmlformats.org/officeDocument/2006/relationships/slideLayout" Target="../slideLayouts/slideLayout21.xml"/><Relationship Id="rId4" Type="http://schemas.openxmlformats.org/officeDocument/2006/relationships/image" Target="../media/image170.png"/></Relationships>
</file>

<file path=ppt/slides/_rels/slide70.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70.xml"/><Relationship Id="rId1" Type="http://schemas.openxmlformats.org/officeDocument/2006/relationships/slideLayout" Target="../slideLayouts/slideLayout21.xml"/></Relationships>
</file>

<file path=ppt/slides/_rels/slide71.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71.xml"/><Relationship Id="rId1" Type="http://schemas.openxmlformats.org/officeDocument/2006/relationships/slideLayout" Target="../slideLayouts/slideLayout21.xml"/><Relationship Id="rId4" Type="http://schemas.openxmlformats.org/officeDocument/2006/relationships/image" Target="../media/image173.png"/></Relationships>
</file>

<file path=ppt/slides/_rels/slide72.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72.xml"/><Relationship Id="rId1" Type="http://schemas.openxmlformats.org/officeDocument/2006/relationships/slideLayout" Target="../slideLayouts/slideLayout2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48.xml"/></Relationships>
</file>

<file path=ppt/slides/_rels/slide75.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75.xml"/><Relationship Id="rId1" Type="http://schemas.openxmlformats.org/officeDocument/2006/relationships/slideLayout" Target="../slideLayouts/slideLayout2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77.xml"/><Relationship Id="rId1" Type="http://schemas.openxmlformats.org/officeDocument/2006/relationships/slideLayout" Target="../slideLayouts/slideLayout21.xml"/></Relationships>
</file>

<file path=ppt/slides/_rels/slide78.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78.xml"/><Relationship Id="rId1" Type="http://schemas.openxmlformats.org/officeDocument/2006/relationships/slideLayout" Target="../slideLayouts/slideLayout19.xml"/></Relationships>
</file>

<file path=ppt/slides/_rels/slide7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79.xml"/><Relationship Id="rId1" Type="http://schemas.openxmlformats.org/officeDocument/2006/relationships/slideLayout" Target="../slideLayouts/slideLayout21.xml"/></Relationships>
</file>

<file path=ppt/slides/_rels/slide80.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80.xml"/><Relationship Id="rId1" Type="http://schemas.openxmlformats.org/officeDocument/2006/relationships/slideLayout" Target="../slideLayouts/slideLayout21.xml"/></Relationships>
</file>

<file path=ppt/slides/_rels/slide81.xml.rels><?xml version="1.0" encoding="UTF-8" standalone="yes"?>
<Relationships xmlns="http://schemas.openxmlformats.org/package/2006/relationships"><Relationship Id="rId8" Type="http://schemas.openxmlformats.org/officeDocument/2006/relationships/image" Target="../media/image184.png"/><Relationship Id="rId3" Type="http://schemas.openxmlformats.org/officeDocument/2006/relationships/image" Target="../media/image179.png"/><Relationship Id="rId7" Type="http://schemas.openxmlformats.org/officeDocument/2006/relationships/image" Target="../media/image183.png"/><Relationship Id="rId2" Type="http://schemas.openxmlformats.org/officeDocument/2006/relationships/notesSlide" Target="../notesSlides/notesSlide81.xml"/><Relationship Id="rId1" Type="http://schemas.openxmlformats.org/officeDocument/2006/relationships/slideLayout" Target="../slideLayouts/slideLayout19.xml"/><Relationship Id="rId6" Type="http://schemas.openxmlformats.org/officeDocument/2006/relationships/image" Target="../media/image182.png"/><Relationship Id="rId5" Type="http://schemas.openxmlformats.org/officeDocument/2006/relationships/image" Target="../media/image181.png"/><Relationship Id="rId10" Type="http://schemas.openxmlformats.org/officeDocument/2006/relationships/image" Target="../media/image186.png"/><Relationship Id="rId4" Type="http://schemas.openxmlformats.org/officeDocument/2006/relationships/image" Target="../media/image180.png"/><Relationship Id="rId9" Type="http://schemas.openxmlformats.org/officeDocument/2006/relationships/image" Target="../media/image185.png"/></Relationships>
</file>

<file path=ppt/slides/_rels/slide82.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notesSlide" Target="../notesSlides/notesSlide82.xml"/><Relationship Id="rId1" Type="http://schemas.openxmlformats.org/officeDocument/2006/relationships/slideLayout" Target="../slideLayouts/slideLayout2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8" Type="http://schemas.openxmlformats.org/officeDocument/2006/relationships/image" Target="../media/image151.png"/><Relationship Id="rId13" Type="http://schemas.openxmlformats.org/officeDocument/2006/relationships/image" Target="../media/image156.png"/><Relationship Id="rId3" Type="http://schemas.openxmlformats.org/officeDocument/2006/relationships/image" Target="../media/image3.png"/><Relationship Id="rId7" Type="http://schemas.openxmlformats.org/officeDocument/2006/relationships/image" Target="../media/image150.png"/><Relationship Id="rId12" Type="http://schemas.openxmlformats.org/officeDocument/2006/relationships/image" Target="../media/image155.png"/><Relationship Id="rId2" Type="http://schemas.openxmlformats.org/officeDocument/2006/relationships/notesSlide" Target="../notesSlides/notesSlide84.xml"/><Relationship Id="rId1" Type="http://schemas.openxmlformats.org/officeDocument/2006/relationships/slideLayout" Target="../slideLayouts/slideLayout41.xml"/><Relationship Id="rId6" Type="http://schemas.openxmlformats.org/officeDocument/2006/relationships/image" Target="../media/image149.png"/><Relationship Id="rId11" Type="http://schemas.openxmlformats.org/officeDocument/2006/relationships/image" Target="../media/image154.png"/><Relationship Id="rId5" Type="http://schemas.openxmlformats.org/officeDocument/2006/relationships/image" Target="../media/image148.png"/><Relationship Id="rId10" Type="http://schemas.openxmlformats.org/officeDocument/2006/relationships/image" Target="../media/image153.png"/><Relationship Id="rId4" Type="http://schemas.openxmlformats.org/officeDocument/2006/relationships/image" Target="../media/image147.png"/><Relationship Id="rId9" Type="http://schemas.openxmlformats.org/officeDocument/2006/relationships/image" Target="../media/image152.png"/><Relationship Id="rId14" Type="http://schemas.openxmlformats.org/officeDocument/2006/relationships/image" Target="../media/image157.png"/></Relationships>
</file>

<file path=ppt/slides/_rels/slide85.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85.xml"/><Relationship Id="rId1" Type="http://schemas.openxmlformats.org/officeDocument/2006/relationships/slideLayout" Target="../slideLayouts/slideLayout21.xml"/></Relationships>
</file>

<file path=ppt/slides/_rels/slide86.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86.xml"/><Relationship Id="rId1" Type="http://schemas.openxmlformats.org/officeDocument/2006/relationships/slideLayout" Target="../slideLayouts/slideLayout46.xml"/><Relationship Id="rId4" Type="http://schemas.openxmlformats.org/officeDocument/2006/relationships/image" Target="../media/image190.png"/></Relationships>
</file>

<file path=ppt/slides/_rels/slide87.xml.rels><?xml version="1.0" encoding="UTF-8" standalone="yes"?>
<Relationships xmlns="http://schemas.openxmlformats.org/package/2006/relationships"><Relationship Id="rId3" Type="http://schemas.openxmlformats.org/officeDocument/2006/relationships/image" Target="../media/image191.tmp"/><Relationship Id="rId2" Type="http://schemas.openxmlformats.org/officeDocument/2006/relationships/notesSlide" Target="../notesSlides/notesSlide87.xml"/><Relationship Id="rId1" Type="http://schemas.openxmlformats.org/officeDocument/2006/relationships/slideLayout" Target="../slideLayouts/slideLayout15.xml"/><Relationship Id="rId5" Type="http://schemas.openxmlformats.org/officeDocument/2006/relationships/image" Target="../media/image193.tmp"/><Relationship Id="rId4" Type="http://schemas.openxmlformats.org/officeDocument/2006/relationships/image" Target="../media/image192.tmp"/></Relationships>
</file>

<file path=ppt/slides/_rels/slide88.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88.xml"/><Relationship Id="rId1" Type="http://schemas.openxmlformats.org/officeDocument/2006/relationships/slideLayout" Target="../slideLayouts/slideLayout15.xml"/></Relationships>
</file>

<file path=ppt/slides/_rels/slide89.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notesSlide" Target="../notesSlides/notesSlide89.xml"/><Relationship Id="rId1" Type="http://schemas.openxmlformats.org/officeDocument/2006/relationships/slideLayout" Target="../slideLayouts/slideLayout21.xml"/></Relationships>
</file>

<file path=ppt/slides/_rels/slide90.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90.xml"/><Relationship Id="rId1" Type="http://schemas.openxmlformats.org/officeDocument/2006/relationships/slideLayout" Target="../slideLayouts/slideLayout46.xml"/><Relationship Id="rId4" Type="http://schemas.openxmlformats.org/officeDocument/2006/relationships/image" Target="../media/image190.png"/></Relationships>
</file>

<file path=ppt/slides/_rels/slide91.xml.rels><?xml version="1.0" encoding="UTF-8" standalone="yes"?>
<Relationships xmlns="http://schemas.openxmlformats.org/package/2006/relationships"><Relationship Id="rId3" Type="http://schemas.openxmlformats.org/officeDocument/2006/relationships/image" Target="../media/image197.png"/><Relationship Id="rId2" Type="http://schemas.openxmlformats.org/officeDocument/2006/relationships/notesSlide" Target="../notesSlides/notesSlide91.xml"/><Relationship Id="rId1" Type="http://schemas.openxmlformats.org/officeDocument/2006/relationships/slideLayout" Target="../slideLayouts/slideLayout47.xml"/><Relationship Id="rId4" Type="http://schemas.openxmlformats.org/officeDocument/2006/relationships/image" Target="../media/image190.png"/></Relationships>
</file>

<file path=ppt/slides/_rels/slide92.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notesSlide" Target="../notesSlides/notesSlide92.xml"/><Relationship Id="rId1" Type="http://schemas.openxmlformats.org/officeDocument/2006/relationships/slideLayout" Target="../slideLayouts/slideLayout46.xml"/><Relationship Id="rId5" Type="http://schemas.openxmlformats.org/officeDocument/2006/relationships/image" Target="../media/image190.png"/><Relationship Id="rId4" Type="http://schemas.openxmlformats.org/officeDocument/2006/relationships/image" Target="../media/image199.png"/></Relationships>
</file>

<file path=ppt/slides/_rels/slide93.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93.xml"/><Relationship Id="rId1" Type="http://schemas.openxmlformats.org/officeDocument/2006/relationships/slideLayout" Target="../slideLayouts/slideLayout21.xml"/></Relationships>
</file>

<file path=ppt/slides/_rels/slide94.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94.xml"/><Relationship Id="rId1" Type="http://schemas.openxmlformats.org/officeDocument/2006/relationships/slideLayout" Target="../slideLayouts/slideLayout15.xml"/><Relationship Id="rId4" Type="http://schemas.openxmlformats.org/officeDocument/2006/relationships/image" Target="../media/image202.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F66F534-A799-66E7-3EBC-E79CE94D40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EEFF8-96EA-62A4-70C2-34C891F83CBF}"/>
              </a:ext>
            </a:extLst>
          </p:cNvPr>
          <p:cNvSpPr>
            <a:spLocks noGrp="1"/>
          </p:cNvSpPr>
          <p:nvPr>
            <p:ph type="title"/>
          </p:nvPr>
        </p:nvSpPr>
        <p:spPr>
          <a:xfrm>
            <a:off x="579809" y="412751"/>
            <a:ext cx="11001004" cy="381000"/>
          </a:xfrm>
        </p:spPr>
        <p:txBody>
          <a:bodyPr/>
          <a:lstStyle/>
          <a:p>
            <a:r>
              <a:rPr lang="en-US" dirty="0"/>
              <a:t>About This Presentation</a:t>
            </a:r>
          </a:p>
        </p:txBody>
      </p:sp>
      <p:graphicFrame>
        <p:nvGraphicFramePr>
          <p:cNvPr id="3" name="Content Placeholder 5">
            <a:extLst>
              <a:ext uri="{FF2B5EF4-FFF2-40B4-BE49-F238E27FC236}">
                <a16:creationId xmlns:a16="http://schemas.microsoft.com/office/drawing/2014/main" id="{52C71395-6772-F3CE-86F4-3F1E1DD614FC}"/>
              </a:ext>
            </a:extLst>
          </p:cNvPr>
          <p:cNvGraphicFramePr>
            <a:graphicFrameLocks/>
          </p:cNvGraphicFramePr>
          <p:nvPr>
            <p:extLst>
              <p:ext uri="{D42A27DB-BD31-4B8C-83A1-F6EECF244321}">
                <p14:modId xmlns:p14="http://schemas.microsoft.com/office/powerpoint/2010/main" val="1889525768"/>
              </p:ext>
            </p:extLst>
          </p:nvPr>
        </p:nvGraphicFramePr>
        <p:xfrm>
          <a:off x="540589" y="1073385"/>
          <a:ext cx="11107647" cy="4474079"/>
        </p:xfrm>
        <a:graphic>
          <a:graphicData uri="http://schemas.openxmlformats.org/drawingml/2006/table">
            <a:tbl>
              <a:tblPr firstRow="1" bandRow="1"/>
              <a:tblGrid>
                <a:gridCol w="1992749">
                  <a:extLst>
                    <a:ext uri="{9D8B030D-6E8A-4147-A177-3AD203B41FA5}">
                      <a16:colId xmlns:a16="http://schemas.microsoft.com/office/drawing/2014/main" val="2214284477"/>
                    </a:ext>
                  </a:extLst>
                </a:gridCol>
                <a:gridCol w="9114898">
                  <a:extLst>
                    <a:ext uri="{9D8B030D-6E8A-4147-A177-3AD203B41FA5}">
                      <a16:colId xmlns:a16="http://schemas.microsoft.com/office/drawing/2014/main" val="1951745682"/>
                    </a:ext>
                  </a:extLst>
                </a:gridCol>
              </a:tblGrid>
              <a:tr h="294383">
                <a:tc>
                  <a:txBody>
                    <a:bodyPr/>
                    <a:lstStyle/>
                    <a:p>
                      <a:r>
                        <a:rPr lang="en-US" sz="1100" b="0" i="0" dirty="0">
                          <a:solidFill>
                            <a:schemeClr val="bg2">
                              <a:lumMod val="25000"/>
                            </a:schemeClr>
                          </a:solidFill>
                          <a:latin typeface="Arial" panose="020B0604020202020204" pitchFamily="34" charset="0"/>
                        </a:rPr>
                        <a:t>Author(s)</a:t>
                      </a:r>
                    </a:p>
                  </a:txBody>
                  <a:tcPr marL="182832" marR="182832" marT="109699" marB="100558">
                    <a:solidFill>
                      <a:srgbClr val="F4F8F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Arial" panose="020B0604020202020204" pitchFamily="34" charset="0"/>
                        </a:rPr>
                        <a:t>VCF Technical Marketing | VMware by Broadcom</a:t>
                      </a:r>
                      <a:endParaRPr kumimoji="0" lang="en-US" sz="1100" b="0" i="0" u="none" strike="noStrike" cap="none" normalizeH="0" baseline="0" dirty="0">
                        <a:ln>
                          <a:noFill/>
                        </a:ln>
                        <a:solidFill>
                          <a:schemeClr val="tx1"/>
                        </a:solidFill>
                        <a:effectLst/>
                        <a:latin typeface="Arial" panose="020B0604020202020204" pitchFamily="34" charset="0"/>
                        <a:cs typeface="Arial" charset="0"/>
                      </a:endParaRPr>
                    </a:p>
                  </a:txBody>
                  <a:tcPr marL="182832" marR="182832" marT="109699" marB="100558">
                    <a:solidFill>
                      <a:srgbClr val="F4F8FB"/>
                    </a:solidFill>
                  </a:tcPr>
                </a:tc>
                <a:extLst>
                  <a:ext uri="{0D108BD9-81ED-4DB2-BD59-A6C34878D82A}">
                    <a16:rowId xmlns:a16="http://schemas.microsoft.com/office/drawing/2014/main" val="304829189"/>
                  </a:ext>
                </a:extLst>
              </a:tr>
              <a:tr h="80488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bg2">
                              <a:lumMod val="25000"/>
                            </a:schemeClr>
                          </a:solidFill>
                          <a:effectLst/>
                          <a:latin typeface="Arial" panose="020B0604020202020204" pitchFamily="34" charset="0"/>
                          <a:cs typeface="Arial"/>
                        </a:rPr>
                        <a:t>How to use this deck</a:t>
                      </a:r>
                    </a:p>
                  </a:txBody>
                  <a:tcPr marL="182832" marR="182832" marT="109699" marB="100558"/>
                </a:tc>
                <a:tc>
                  <a:txBody>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This VCF Technical Overview presentation discusses Cloud Foundation architecture, technical features and configuration detail.  </a:t>
                      </a:r>
                      <a:r>
                        <a:rPr lang="en-US" sz="1100" b="0" i="0" dirty="0">
                          <a:solidFill>
                            <a:schemeClr val="tx1"/>
                          </a:solidFill>
                          <a:latin typeface="Arial" panose="020B0604020202020204" pitchFamily="34" charset="0"/>
                        </a:rPr>
                        <a:t>Use the</a:t>
                      </a:r>
                      <a:r>
                        <a:rPr lang="en-US" sz="1100" b="0" i="0" dirty="0">
                          <a:solidFill>
                            <a:schemeClr val="bg2">
                              <a:lumMod val="25000"/>
                            </a:schemeClr>
                          </a:solidFill>
                          <a:latin typeface="Arial" panose="020B0604020202020204" pitchFamily="34" charset="0"/>
                        </a:rPr>
                        <a:t> </a:t>
                      </a:r>
                      <a:r>
                        <a:rPr lang="en-US" sz="1100" b="0" i="0" dirty="0">
                          <a:solidFill>
                            <a:schemeClr val="bg2">
                              <a:lumMod val="25000"/>
                            </a:schemeClr>
                          </a:solidFill>
                          <a:latin typeface="Arial" panose="020B0604020202020204" pitchFamily="34" charset="0"/>
                          <a:hlinkClick r:id="rId3"/>
                        </a:rPr>
                        <a:t>Master Technical </a:t>
                      </a:r>
                      <a:r>
                        <a:rPr lang="en-US" sz="1100" b="0" i="0" dirty="0">
                          <a:solidFill>
                            <a:schemeClr val="tx1"/>
                          </a:solidFill>
                          <a:latin typeface="Arial" panose="020B0604020202020204" pitchFamily="34" charset="0"/>
                        </a:rPr>
                        <a:t>presentation as an appendix to the Technical Overview.  </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100" b="0" i="0" u="none" strike="noStrike" cap="none" normalizeH="0" baseline="0" dirty="0">
                          <a:ln>
                            <a:noFill/>
                          </a:ln>
                          <a:solidFill>
                            <a:srgbClr val="FF0000"/>
                          </a:solidFill>
                          <a:effectLst/>
                          <a:latin typeface="Arial" panose="020B0604020202020204" pitchFamily="34" charset="0"/>
                        </a:rPr>
                        <a:t>This deck may be updated frequently - ensure you are using the most recent revision.</a:t>
                      </a:r>
                    </a:p>
                  </a:txBody>
                  <a:tcPr marL="182832" marR="182832" marT="109699" marB="100558"/>
                </a:tc>
                <a:extLst>
                  <a:ext uri="{0D108BD9-81ED-4DB2-BD59-A6C34878D82A}">
                    <a16:rowId xmlns:a16="http://schemas.microsoft.com/office/drawing/2014/main" val="2647163392"/>
                  </a:ext>
                </a:extLst>
              </a:tr>
              <a:tr h="133912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bg2">
                              <a:lumMod val="25000"/>
                            </a:schemeClr>
                          </a:solidFill>
                          <a:effectLst/>
                          <a:latin typeface="Arial" panose="020B0604020202020204" pitchFamily="34" charset="0"/>
                        </a:rPr>
                        <a:t>Distribution and </a:t>
                      </a:r>
                      <a:br>
                        <a:rPr kumimoji="0" lang="en-US" sz="1100" b="0" i="0" u="none" strike="noStrike" cap="none" normalizeH="0" baseline="0" dirty="0">
                          <a:ln>
                            <a:noFill/>
                          </a:ln>
                          <a:solidFill>
                            <a:schemeClr val="bg2">
                              <a:lumMod val="25000"/>
                            </a:schemeClr>
                          </a:solidFill>
                          <a:effectLst/>
                          <a:latin typeface="Arial" panose="020B0604020202020204" pitchFamily="34" charset="0"/>
                        </a:rPr>
                      </a:br>
                      <a:r>
                        <a:rPr kumimoji="0" lang="en-US" sz="1100" b="0" i="0" u="none" strike="noStrike" cap="none" normalizeH="0" baseline="0" dirty="0">
                          <a:ln>
                            <a:noFill/>
                          </a:ln>
                          <a:solidFill>
                            <a:schemeClr val="bg2">
                              <a:lumMod val="25000"/>
                            </a:schemeClr>
                          </a:solidFill>
                          <a:effectLst/>
                          <a:latin typeface="Arial" panose="020B0604020202020204" pitchFamily="34" charset="0"/>
                        </a:rPr>
                        <a:t>Audience type</a:t>
                      </a:r>
                      <a:endParaRPr kumimoji="0" lang="en-US" sz="1100" b="0" i="0" u="none" strike="noStrike" cap="none" normalizeH="0" baseline="0" dirty="0">
                        <a:ln>
                          <a:noFill/>
                        </a:ln>
                        <a:solidFill>
                          <a:schemeClr val="bg2">
                            <a:lumMod val="25000"/>
                          </a:schemeClr>
                        </a:solidFill>
                        <a:effectLst/>
                        <a:latin typeface="Arial" panose="020B0604020202020204" pitchFamily="34" charset="0"/>
                        <a:cs typeface="Arial"/>
                      </a:endParaRPr>
                    </a:p>
                  </a:txBody>
                  <a:tcPr marL="182832" marR="182832" marT="109699" marB="100558">
                    <a:solidFill>
                      <a:srgbClr val="F4F8FB"/>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Internal, External, Partner, Customer.  </a:t>
                      </a:r>
                    </a:p>
                    <a:p>
                      <a:pPr marL="0" marR="0" lvl="0" indent="0" algn="l" rtl="0" eaLnBrk="1" fontAlgn="base" latinLnBrk="0" hangingPunct="1">
                        <a:lnSpc>
                          <a:spcPct val="100000"/>
                        </a:lnSpc>
                        <a:spcBef>
                          <a:spcPct val="0"/>
                        </a:spcBef>
                        <a:spcAft>
                          <a:spcPct val="0"/>
                        </a:spcAft>
                        <a:buClrTx/>
                        <a:buSzTx/>
                        <a:buFontTx/>
                        <a:buNone/>
                      </a:pPr>
                      <a:endParaRPr kumimoji="0" lang="en-US" sz="1100" b="0" i="0" u="none" strike="noStrike" cap="none" normalizeH="0" baseline="0" dirty="0">
                        <a:ln>
                          <a:noFill/>
                        </a:ln>
                        <a:solidFill>
                          <a:schemeClr val="tx1"/>
                        </a:solidFill>
                        <a:effectLst/>
                        <a:latin typeface="Arial" panose="020B0604020202020204" pitchFamily="34" charset="0"/>
                        <a:cs typeface="Arial"/>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Arial" panose="020B0604020202020204" pitchFamily="34" charset="0"/>
                        </a:rPr>
                        <a:t>These slides are not to be redistributed outside of Broadcom. </a:t>
                      </a:r>
                      <a:r>
                        <a:rPr kumimoji="0" lang="en-US" sz="1100" b="0" i="0" u="none" strike="noStrike" kern="1200" cap="none" normalizeH="0" baseline="0" dirty="0">
                          <a:ln>
                            <a:noFill/>
                          </a:ln>
                          <a:solidFill>
                            <a:schemeClr val="tx1"/>
                          </a:solidFill>
                          <a:effectLst/>
                          <a:latin typeface="Arial" panose="020B0604020202020204" pitchFamily="34" charset="0"/>
                          <a:ea typeface="+mn-ea"/>
                          <a:cs typeface="+mn-cs"/>
                        </a:rPr>
                        <a:t>Do not send them to or include them in slide decks provided directly to customers, partners, VMUGs, etc. nor submit any part of this content to VMUGs, Explore, WWKO, etc. without the explicit permission of the author or authoring team. Check the URL below for a PDF version that may be left with customers if needed.</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100" b="0" i="0" u="none" strike="noStrike" kern="1200" cap="none" normalizeH="0" baseline="0" dirty="0">
                        <a:ln>
                          <a:noFill/>
                        </a:ln>
                        <a:solidFill>
                          <a:schemeClr val="tx1"/>
                        </a:solidFill>
                        <a:effectLst/>
                        <a:latin typeface="Arial" panose="020B0604020202020204" pitchFamily="34" charset="0"/>
                        <a:ea typeface="+mn-ea"/>
                        <a:cs typeface="+mn-cs"/>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100" b="0" i="0" u="none" strike="noStrike" kern="1200" cap="none" normalizeH="0" baseline="0" dirty="0">
                          <a:ln>
                            <a:noFill/>
                          </a:ln>
                          <a:solidFill>
                            <a:schemeClr val="tx1"/>
                          </a:solidFill>
                          <a:effectLst/>
                          <a:latin typeface="Arial" panose="020B0604020202020204" pitchFamily="34" charset="0"/>
                          <a:ea typeface="+mn-ea"/>
                          <a:cs typeface="+mn-cs"/>
                        </a:rPr>
                        <a:t>The speaker notes are the property of Broadcom and may not be distributed in any manner. Read the speaker notes carefully before presenting this material. All content in speaker notes is provided for educational purposes only and is not intended to be disseminated widely to non-Broadcom employees. Check the documentation for the final “how to” for any feature.</a:t>
                      </a:r>
                    </a:p>
                  </a:txBody>
                  <a:tcPr marL="182832" marR="182832" marT="109699" marB="100558">
                    <a:solidFill>
                      <a:srgbClr val="F4F8FB"/>
                    </a:solidFill>
                  </a:tcPr>
                </a:tc>
                <a:extLst>
                  <a:ext uri="{0D108BD9-81ED-4DB2-BD59-A6C34878D82A}">
                    <a16:rowId xmlns:a16="http://schemas.microsoft.com/office/drawing/2014/main" val="2398955000"/>
                  </a:ext>
                </a:extLst>
              </a:tr>
              <a:tr h="29438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bg2">
                              <a:lumMod val="25000"/>
                            </a:schemeClr>
                          </a:solidFill>
                          <a:effectLst/>
                          <a:latin typeface="Arial" panose="020B0604020202020204" pitchFamily="34" charset="0"/>
                        </a:rPr>
                        <a:t>Content Type</a:t>
                      </a:r>
                      <a:endParaRPr kumimoji="0" lang="en-US" sz="1100" b="0" i="0" u="none" strike="noStrike" cap="none" normalizeH="0" baseline="0" dirty="0">
                        <a:ln>
                          <a:noFill/>
                        </a:ln>
                        <a:solidFill>
                          <a:schemeClr val="bg2">
                            <a:lumMod val="25000"/>
                          </a:schemeClr>
                        </a:solidFill>
                        <a:effectLst/>
                        <a:latin typeface="Arial" panose="020B0604020202020204" pitchFamily="34" charset="0"/>
                        <a:cs typeface="Arial"/>
                      </a:endParaRPr>
                    </a:p>
                  </a:txBody>
                  <a:tcPr marL="182832" marR="182832" marT="109699" marB="100558" anchor="ct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kern="1200" cap="none" normalizeH="0" baseline="0" dirty="0">
                          <a:ln>
                            <a:noFill/>
                          </a:ln>
                          <a:solidFill>
                            <a:schemeClr val="tx1"/>
                          </a:solidFill>
                          <a:effectLst/>
                          <a:latin typeface="Arial" panose="020B0604020202020204" pitchFamily="34" charset="0"/>
                        </a:rPr>
                        <a:t>Intermediate 200-300 Level.  Suitable for Infrastructure Architects, Cloud Architects, Virtualization, Storage and Networking teams</a:t>
                      </a:r>
                      <a:endParaRPr kumimoji="0" lang="en-US" sz="1100" b="0" i="0" u="none" strike="noStrike" kern="1200" cap="none" normalizeH="0" baseline="0" dirty="0">
                        <a:ln>
                          <a:noFill/>
                        </a:ln>
                        <a:solidFill>
                          <a:schemeClr val="tx1"/>
                        </a:solidFill>
                        <a:effectLst/>
                        <a:latin typeface="Arial" panose="020B0604020202020204" pitchFamily="34" charset="0"/>
                        <a:ea typeface="+mn-ea"/>
                        <a:cs typeface="Arial"/>
                      </a:endParaRPr>
                    </a:p>
                  </a:txBody>
                  <a:tcPr marL="91416" marR="91416" marT="45713" marB="45713" anchor="ctr" horzOverflow="overflow"/>
                </a:tc>
                <a:extLst>
                  <a:ext uri="{0D108BD9-81ED-4DB2-BD59-A6C34878D82A}">
                    <a16:rowId xmlns:a16="http://schemas.microsoft.com/office/drawing/2014/main" val="1648026749"/>
                  </a:ext>
                </a:extLst>
              </a:tr>
              <a:tr h="29438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bg2">
                              <a:lumMod val="25000"/>
                            </a:schemeClr>
                          </a:solidFill>
                          <a:effectLst/>
                          <a:latin typeface="Arial" panose="020B0604020202020204" pitchFamily="34" charset="0"/>
                        </a:rPr>
                        <a:t>Time To Present</a:t>
                      </a:r>
                      <a:endParaRPr kumimoji="0" lang="en-US" sz="1100" b="0" i="0" u="none" strike="noStrike" cap="none" normalizeH="0" baseline="0" dirty="0">
                        <a:ln>
                          <a:noFill/>
                        </a:ln>
                        <a:solidFill>
                          <a:schemeClr val="bg2">
                            <a:lumMod val="25000"/>
                          </a:schemeClr>
                        </a:solidFill>
                        <a:effectLst/>
                        <a:latin typeface="Arial" panose="020B0604020202020204" pitchFamily="34" charset="0"/>
                        <a:cs typeface="Arial"/>
                      </a:endParaRPr>
                    </a:p>
                  </a:txBody>
                  <a:tcPr marL="182832" marR="182832" marT="109699" marB="100558" anchor="ctr">
                    <a:solidFill>
                      <a:srgbClr val="F4F8FB"/>
                    </a:solidFill>
                  </a:tcPr>
                </a:tc>
                <a:tc>
                  <a:txBody>
                    <a:bodyPr/>
                    <a:lstStyle/>
                    <a:p>
                      <a:pPr algn="l">
                        <a:spcAft>
                          <a:spcPts val="1200"/>
                        </a:spcAft>
                      </a:pPr>
                      <a:r>
                        <a:rPr lang="en-US" sz="1100" b="0" i="0" dirty="0">
                          <a:solidFill>
                            <a:schemeClr val="tx1"/>
                          </a:solidFill>
                          <a:latin typeface="Arial" panose="020B0604020202020204" pitchFamily="34" charset="0"/>
                        </a:rPr>
                        <a:t>Can be delivered partially or in full depending on your timeframe</a:t>
                      </a:r>
                    </a:p>
                  </a:txBody>
                  <a:tcPr marL="91416" marR="91416" marT="45713" marB="45713" anchor="ctr" horzOverflow="overflow">
                    <a:solidFill>
                      <a:srgbClr val="F4F8FB"/>
                    </a:solidFill>
                  </a:tcPr>
                </a:tc>
                <a:extLst>
                  <a:ext uri="{0D108BD9-81ED-4DB2-BD59-A6C34878D82A}">
                    <a16:rowId xmlns:a16="http://schemas.microsoft.com/office/drawing/2014/main" val="2796239076"/>
                  </a:ext>
                </a:extLst>
              </a:tr>
              <a:tr h="29438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bg2">
                              <a:lumMod val="25000"/>
                            </a:schemeClr>
                          </a:solidFill>
                          <a:effectLst/>
                          <a:latin typeface="Arial" panose="020B0604020202020204" pitchFamily="34" charset="0"/>
                        </a:rPr>
                        <a:t>Last updated</a:t>
                      </a:r>
                      <a:endParaRPr kumimoji="0" lang="en-US" sz="1100" b="0" i="0" u="none" strike="noStrike" cap="none" normalizeH="0" baseline="0" dirty="0">
                        <a:ln>
                          <a:noFill/>
                        </a:ln>
                        <a:solidFill>
                          <a:schemeClr val="bg2">
                            <a:lumMod val="25000"/>
                          </a:schemeClr>
                        </a:solidFill>
                        <a:effectLst/>
                        <a:latin typeface="Arial" panose="020B0604020202020204" pitchFamily="34" charset="0"/>
                        <a:cs typeface="Arial"/>
                      </a:endParaRPr>
                    </a:p>
                  </a:txBody>
                  <a:tcPr marL="182832" marR="182832" marT="109699" marB="100558" anchor="ct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kern="1200" cap="none" normalizeH="0" baseline="0" dirty="0">
                          <a:ln>
                            <a:noFill/>
                          </a:ln>
                          <a:solidFill>
                            <a:schemeClr val="tx1"/>
                          </a:solidFill>
                          <a:effectLst/>
                          <a:latin typeface="Arial" panose="020B0604020202020204" pitchFamily="34" charset="0"/>
                          <a:ea typeface="+mn-ea"/>
                          <a:cs typeface="Arial" charset="0"/>
                        </a:rPr>
                        <a:t>First Published May, 2025</a:t>
                      </a:r>
                    </a:p>
                  </a:txBody>
                  <a:tcPr marL="91416" marR="91416" marT="45713" marB="45713" anchor="ctr" horzOverflow="overflow"/>
                </a:tc>
                <a:extLst>
                  <a:ext uri="{0D108BD9-81ED-4DB2-BD59-A6C34878D82A}">
                    <a16:rowId xmlns:a16="http://schemas.microsoft.com/office/drawing/2014/main" val="2988282776"/>
                  </a:ext>
                </a:extLst>
              </a:tr>
              <a:tr h="33240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bg2">
                              <a:lumMod val="25000"/>
                            </a:schemeClr>
                          </a:solidFill>
                          <a:effectLst/>
                          <a:latin typeface="Arial" panose="020B0604020202020204" pitchFamily="34" charset="0"/>
                          <a:cs typeface="Arial"/>
                        </a:rPr>
                        <a:t>Primary Copy (PDF)</a:t>
                      </a:r>
                    </a:p>
                  </a:txBody>
                  <a:tcPr marL="182832" marR="182832" marT="109699" marB="100558" anchor="ctr">
                    <a:solidFill>
                      <a:srgbClr val="F4F8F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normalizeH="0" baseline="0" dirty="0">
                          <a:ln>
                            <a:noFill/>
                          </a:ln>
                          <a:solidFill>
                            <a:sysClr val="windowText" lastClr="000000"/>
                          </a:solidFill>
                          <a:effectLst/>
                          <a:latin typeface="Arial" panose="020B0604020202020204" pitchFamily="34" charset="0"/>
                          <a:ea typeface="+mn-ea"/>
                          <a:cs typeface="+mn-cs"/>
                          <a:hlinkClick r:id="rId4"/>
                        </a:rPr>
                        <a:t>https://sales-resources.broadcom.com/group/vcf/vsphere-technical</a:t>
                      </a:r>
                      <a:endParaRPr kumimoji="0" lang="en-US" sz="1100" b="0" i="0" u="none" strike="noStrike" kern="1200" cap="none" normalizeH="0" baseline="0" dirty="0">
                        <a:ln>
                          <a:noFill/>
                        </a:ln>
                        <a:solidFill>
                          <a:sysClr val="windowText" lastClr="000000"/>
                        </a:solidFill>
                        <a:effectLst/>
                        <a:latin typeface="Arial" panose="020B0604020202020204" pitchFamily="34" charset="0"/>
                        <a:ea typeface="+mn-ea"/>
                        <a:cs typeface="+mn-cs"/>
                      </a:endParaRPr>
                    </a:p>
                  </a:txBody>
                  <a:tcPr marL="91416" marR="91416" marT="45713" marB="45713" anchor="ctr" horzOverflow="overflow">
                    <a:solidFill>
                      <a:srgbClr val="F4F8FB"/>
                    </a:solidFill>
                  </a:tcPr>
                </a:tc>
                <a:extLst>
                  <a:ext uri="{0D108BD9-81ED-4DB2-BD59-A6C34878D82A}">
                    <a16:rowId xmlns:a16="http://schemas.microsoft.com/office/drawing/2014/main" val="2007040852"/>
                  </a:ext>
                </a:extLst>
              </a:tr>
            </a:tbl>
          </a:graphicData>
        </a:graphic>
      </p:graphicFrame>
      <p:sp>
        <p:nvSpPr>
          <p:cNvPr id="4" name="Trapezoid 54" descr="Ocean flag with white text">
            <a:extLst>
              <a:ext uri="{FF2B5EF4-FFF2-40B4-BE49-F238E27FC236}">
                <a16:creationId xmlns:a16="http://schemas.microsoft.com/office/drawing/2014/main" id="{6F45E9ED-7870-8893-4138-026D541518E7}"/>
              </a:ext>
            </a:extLst>
          </p:cNvPr>
          <p:cNvSpPr/>
          <p:nvPr/>
        </p:nvSpPr>
        <p:spPr bwMode="gray">
          <a:xfrm flipH="1">
            <a:off x="5057785" y="14063"/>
            <a:ext cx="7606516" cy="427553"/>
          </a:xfrm>
          <a:prstGeom prst="trapezoid">
            <a:avLst>
              <a:gd name="adj" fmla="val 100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274320" tIns="45720" rIns="548640" bIns="91440" numCol="1" spcCol="0" rtlCol="0" fromWordArt="0" anchor="ctr" anchorCtr="0" forceAA="0" compatLnSpc="1">
            <a:prstTxWarp prst="textNoShape">
              <a:avLst/>
            </a:prstTxWarp>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FFFFFF"/>
                </a:solidFill>
                <a:effectLst/>
                <a:uLnTx/>
                <a:uFillTx/>
                <a:latin typeface="Arial" panose="020B0604020202020204" pitchFamily="34" charset="0"/>
                <a:ea typeface="+mn-ea"/>
                <a:cs typeface="+mn-cs"/>
              </a:rPr>
              <a:t>READ THE SLIDE NOTES FOR PRESENTATION DETAIL </a:t>
            </a:r>
          </a:p>
        </p:txBody>
      </p:sp>
      <p:sp>
        <p:nvSpPr>
          <p:cNvPr id="5" name="TextBox 4">
            <a:extLst>
              <a:ext uri="{FF2B5EF4-FFF2-40B4-BE49-F238E27FC236}">
                <a16:creationId xmlns:a16="http://schemas.microsoft.com/office/drawing/2014/main" id="{AED4E244-E898-B397-F9C0-E9E158238025}"/>
              </a:ext>
            </a:extLst>
          </p:cNvPr>
          <p:cNvSpPr txBox="1"/>
          <p:nvPr/>
        </p:nvSpPr>
        <p:spPr>
          <a:xfrm>
            <a:off x="1" y="5728817"/>
            <a:ext cx="12188824" cy="276999"/>
          </a:xfrm>
          <a:prstGeom prst="rect">
            <a:avLst/>
          </a:prstGeom>
          <a:solidFill>
            <a:schemeClr val="accent6"/>
          </a:solidFill>
        </p:spPr>
        <p:txBody>
          <a:bodyPr wrap="square" lIns="0" tIns="0" rIns="0" bIns="0" rtlCol="0" anchor="ctr">
            <a:spAutoFit/>
          </a:bodyPr>
          <a:lstStyle/>
          <a:p>
            <a:pPr algn="ctr"/>
            <a:r>
              <a:rPr lang="en-US" b="1" baseline="0" dirty="0">
                <a:solidFill>
                  <a:schemeClr val="bg1"/>
                </a:solidFill>
                <a:latin typeface="Arial" panose="020B0604020202020204" pitchFamily="34" charset="0"/>
              </a:rPr>
              <a:t>CONTENT UPDATED REGULARLY: Please download the latest copy from the SRC prior to presenting</a:t>
            </a:r>
          </a:p>
        </p:txBody>
      </p:sp>
    </p:spTree>
    <p:extLst>
      <p:ext uri="{BB962C8B-B14F-4D97-AF65-F5344CB8AC3E}">
        <p14:creationId xmlns:p14="http://schemas.microsoft.com/office/powerpoint/2010/main" val="3134032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E2FCC-B833-2F39-3396-7958C2D83CA5}"/>
              </a:ext>
            </a:extLst>
          </p:cNvPr>
          <p:cNvSpPr>
            <a:spLocks noGrp="1"/>
          </p:cNvSpPr>
          <p:nvPr>
            <p:ph type="title"/>
          </p:nvPr>
        </p:nvSpPr>
        <p:spPr/>
        <p:txBody>
          <a:bodyPr/>
          <a:lstStyle/>
          <a:p>
            <a:r>
              <a:rPr lang="en-US" dirty="0"/>
              <a:t>VMware Cloud Foundation 9</a:t>
            </a:r>
          </a:p>
        </p:txBody>
      </p:sp>
      <p:sp>
        <p:nvSpPr>
          <p:cNvPr id="3" name="Subtitle 2">
            <a:extLst>
              <a:ext uri="{FF2B5EF4-FFF2-40B4-BE49-F238E27FC236}">
                <a16:creationId xmlns:a16="http://schemas.microsoft.com/office/drawing/2014/main" id="{58D5B6AB-811C-F4AD-B368-CFD2BF52E585}"/>
              </a:ext>
            </a:extLst>
          </p:cNvPr>
          <p:cNvSpPr>
            <a:spLocks noGrp="1"/>
          </p:cNvSpPr>
          <p:nvPr>
            <p:ph type="subTitle" idx="10"/>
          </p:nvPr>
        </p:nvSpPr>
        <p:spPr/>
        <p:txBody>
          <a:bodyPr/>
          <a:lstStyle/>
          <a:p>
            <a:r>
              <a:rPr lang="en-US" dirty="0"/>
              <a:t>Technical Overview – Part 1</a:t>
            </a:r>
          </a:p>
        </p:txBody>
      </p:sp>
      <p:sp>
        <p:nvSpPr>
          <p:cNvPr id="6" name="Oval 5">
            <a:extLst>
              <a:ext uri="{FF2B5EF4-FFF2-40B4-BE49-F238E27FC236}">
                <a16:creationId xmlns:a16="http://schemas.microsoft.com/office/drawing/2014/main" id="{53804FA2-C911-0836-017F-48D2C0DDCAC0}"/>
              </a:ext>
            </a:extLst>
          </p:cNvPr>
          <p:cNvSpPr>
            <a:spLocks noChangeAspect="1"/>
          </p:cNvSpPr>
          <p:nvPr/>
        </p:nvSpPr>
        <p:spPr bwMode="gray">
          <a:xfrm>
            <a:off x="1945691" y="1618131"/>
            <a:ext cx="3621737" cy="3621737"/>
          </a:xfrm>
          <a:prstGeom prst="ellipse">
            <a:avLst/>
          </a:prstGeom>
          <a:solidFill>
            <a:schemeClr val="bg1"/>
          </a:solidFill>
          <a:ln w="60325">
            <a:gradFill>
              <a:gsLst>
                <a:gs pos="0">
                  <a:schemeClr val="accent5"/>
                </a:gs>
                <a:gs pos="74000">
                  <a:schemeClr val="accent3"/>
                </a:gs>
                <a:gs pos="83000">
                  <a:schemeClr val="accent3"/>
                </a:gs>
                <a:gs pos="100000">
                  <a:schemeClr val="accent2"/>
                </a:gs>
              </a:gsLst>
              <a:lin ang="5400000" scaled="1"/>
            </a:gra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00" dirty="0">
              <a:solidFill>
                <a:schemeClr val="tx1">
                  <a:lumMod val="50000"/>
                </a:schemeClr>
              </a:solidFill>
            </a:endParaRPr>
          </a:p>
        </p:txBody>
      </p:sp>
      <p:pic>
        <p:nvPicPr>
          <p:cNvPr id="8" name="Graphic 7">
            <a:extLst>
              <a:ext uri="{FF2B5EF4-FFF2-40B4-BE49-F238E27FC236}">
                <a16:creationId xmlns:a16="http://schemas.microsoft.com/office/drawing/2014/main" id="{E3C3C92D-1628-377D-8110-567FB0CE9C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67840" y="2214230"/>
            <a:ext cx="2377440" cy="2377440"/>
          </a:xfrm>
          <a:prstGeom prst="rect">
            <a:avLst/>
          </a:prstGeom>
        </p:spPr>
      </p:pic>
      <p:sp>
        <p:nvSpPr>
          <p:cNvPr id="10" name="Text Placeholder 9">
            <a:extLst>
              <a:ext uri="{FF2B5EF4-FFF2-40B4-BE49-F238E27FC236}">
                <a16:creationId xmlns:a16="http://schemas.microsoft.com/office/drawing/2014/main" id="{657B6334-8CC7-E0F8-E9DB-1E2A81455009}"/>
              </a:ext>
            </a:extLst>
          </p:cNvPr>
          <p:cNvSpPr>
            <a:spLocks noGrp="1"/>
          </p:cNvSpPr>
          <p:nvPr>
            <p:ph type="body" sz="quarter" idx="11"/>
          </p:nvPr>
        </p:nvSpPr>
        <p:spPr/>
        <p:txBody>
          <a:bodyPr/>
          <a:lstStyle/>
          <a:p>
            <a:endParaRPr lang="en-US"/>
          </a:p>
        </p:txBody>
      </p:sp>
      <p:sp>
        <p:nvSpPr>
          <p:cNvPr id="12" name="Text Placeholder 11">
            <a:extLst>
              <a:ext uri="{FF2B5EF4-FFF2-40B4-BE49-F238E27FC236}">
                <a16:creationId xmlns:a16="http://schemas.microsoft.com/office/drawing/2014/main" id="{1451D28D-7AFD-0C60-B94E-2E6EAF023DEC}"/>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2559831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92"/>
        <p:cNvGrpSpPr/>
        <p:nvPr/>
      </p:nvGrpSpPr>
      <p:grpSpPr>
        <a:xfrm>
          <a:off x="0" y="0"/>
          <a:ext cx="0" cy="0"/>
          <a:chOff x="0" y="0"/>
          <a:chExt cx="0" cy="0"/>
        </a:xfrm>
      </p:grpSpPr>
      <p:sp>
        <p:nvSpPr>
          <p:cNvPr id="100" name="Google Shape;8864;p45">
            <a:extLst>
              <a:ext uri="{FF2B5EF4-FFF2-40B4-BE49-F238E27FC236}">
                <a16:creationId xmlns:a16="http://schemas.microsoft.com/office/drawing/2014/main" id="{43D2EBBE-A1C6-9D54-2CAC-8D1FBA5F896D}"/>
              </a:ext>
            </a:extLst>
          </p:cNvPr>
          <p:cNvSpPr/>
          <p:nvPr/>
        </p:nvSpPr>
        <p:spPr>
          <a:xfrm>
            <a:off x="177768" y="2831024"/>
            <a:ext cx="2517395" cy="775381"/>
          </a:xfrm>
          <a:prstGeom prst="rect">
            <a:avLst/>
          </a:prstGeom>
          <a:solidFill>
            <a:srgbClr val="F4F8FA">
              <a:alpha val="39074"/>
            </a:srgbClr>
          </a:solidFill>
          <a:ln>
            <a:noFill/>
          </a:ln>
        </p:spPr>
        <p:txBody>
          <a:bodyPr spcFirstLastPara="1" wrap="square" lIns="91378" tIns="45676" rIns="91378" bIns="45676" anchor="ctr" anchorCtr="0">
            <a:noAutofit/>
          </a:bodyPr>
          <a:lstStyle/>
          <a:p>
            <a:pPr algn="ctr" defTabSz="1218529"/>
            <a:endParaRPr sz="1200">
              <a:solidFill>
                <a:srgbClr val="FFFFFF"/>
              </a:solidFill>
              <a:latin typeface="Arial" panose="020B0604020202020204"/>
            </a:endParaRPr>
          </a:p>
        </p:txBody>
      </p:sp>
      <p:grpSp>
        <p:nvGrpSpPr>
          <p:cNvPr id="131" name="Group 130">
            <a:extLst>
              <a:ext uri="{FF2B5EF4-FFF2-40B4-BE49-F238E27FC236}">
                <a16:creationId xmlns:a16="http://schemas.microsoft.com/office/drawing/2014/main" id="{15A1D1CB-89E4-B42F-8E45-9DB9B0BC5944}"/>
              </a:ext>
            </a:extLst>
          </p:cNvPr>
          <p:cNvGrpSpPr/>
          <p:nvPr/>
        </p:nvGrpSpPr>
        <p:grpSpPr>
          <a:xfrm>
            <a:off x="1589" y="3041309"/>
            <a:ext cx="2538528" cy="775384"/>
            <a:chOff x="1" y="1817532"/>
            <a:chExt cx="1904888" cy="581841"/>
          </a:xfrm>
        </p:grpSpPr>
        <p:sp>
          <p:nvSpPr>
            <p:cNvPr id="25" name="Google Shape;926;g3015cfa3cac_0_4068">
              <a:extLst>
                <a:ext uri="{FF2B5EF4-FFF2-40B4-BE49-F238E27FC236}">
                  <a16:creationId xmlns:a16="http://schemas.microsoft.com/office/drawing/2014/main" id="{B3EA672C-C4DE-2186-660A-731351D6DF90}"/>
                </a:ext>
              </a:extLst>
            </p:cNvPr>
            <p:cNvSpPr/>
            <p:nvPr/>
          </p:nvSpPr>
          <p:spPr>
            <a:xfrm>
              <a:off x="178565" y="1817532"/>
              <a:ext cx="1726324" cy="581840"/>
            </a:xfrm>
            <a:prstGeom prst="homePlate">
              <a:avLst>
                <a:gd name="adj" fmla="val 50000"/>
              </a:avLst>
            </a:prstGeom>
            <a:solidFill>
              <a:schemeClr val="accent5">
                <a:alpha val="25000"/>
              </a:schemeClr>
            </a:solidFill>
            <a:ln w="9525" cap="flat" cmpd="sng">
              <a:noFill/>
              <a:prstDash val="solid"/>
              <a:round/>
              <a:headEnd type="none" w="sm" len="sm"/>
              <a:tailEnd type="none" w="sm" len="sm"/>
            </a:ln>
          </p:spPr>
          <p:txBody>
            <a:bodyPr spcFirstLastPara="1" wrap="square" lIns="365570" tIns="0" rIns="121803" bIns="60901" anchor="ctr" anchorCtr="0">
              <a:noAutofit/>
            </a:bodyPr>
            <a:lstStyle/>
            <a:p>
              <a:pPr defTabSz="1218529">
                <a:buSzPts val="900"/>
              </a:pPr>
              <a:endParaRPr sz="7996" dirty="0">
                <a:solidFill>
                  <a:srgbClr val="FFFFFF"/>
                </a:solidFill>
                <a:latin typeface="Arial" panose="020B0604020202020204"/>
              </a:endParaRPr>
            </a:p>
          </p:txBody>
        </p:sp>
        <p:sp>
          <p:nvSpPr>
            <p:cNvPr id="33" name="Google Shape;926;g3015cfa3cac_0_4068">
              <a:extLst>
                <a:ext uri="{FF2B5EF4-FFF2-40B4-BE49-F238E27FC236}">
                  <a16:creationId xmlns:a16="http://schemas.microsoft.com/office/drawing/2014/main" id="{BC3F48AA-29FB-4DD2-8473-C00833A2C05F}"/>
                </a:ext>
              </a:extLst>
            </p:cNvPr>
            <p:cNvSpPr/>
            <p:nvPr/>
          </p:nvSpPr>
          <p:spPr>
            <a:xfrm>
              <a:off x="1" y="1817533"/>
              <a:ext cx="1726324" cy="581840"/>
            </a:xfrm>
            <a:prstGeom prst="homePlate">
              <a:avLst>
                <a:gd name="adj" fmla="val 50000"/>
              </a:avLst>
            </a:prstGeom>
            <a:gradFill>
              <a:gsLst>
                <a:gs pos="0">
                  <a:schemeClr val="accent2"/>
                </a:gs>
                <a:gs pos="100000">
                  <a:schemeClr val="accent5"/>
                </a:gs>
              </a:gsLst>
              <a:lin ang="0" scaled="1"/>
            </a:gradFill>
            <a:ln w="9525" cap="flat" cmpd="sng">
              <a:noFill/>
              <a:prstDash val="solid"/>
              <a:round/>
              <a:headEnd type="none" w="sm" len="sm"/>
              <a:tailEnd type="none" w="sm" len="sm"/>
            </a:ln>
          </p:spPr>
          <p:txBody>
            <a:bodyPr spcFirstLastPara="1" wrap="square" lIns="365570" tIns="0" rIns="121803" bIns="121856" anchor="ctr" anchorCtr="0">
              <a:noAutofit/>
            </a:bodyPr>
            <a:lstStyle/>
            <a:p>
              <a:pPr defTabSz="1218529">
                <a:buSzPts val="900"/>
              </a:pPr>
              <a:r>
                <a:rPr lang="en-US" sz="3332" dirty="0">
                  <a:solidFill>
                    <a:srgbClr val="FFFFFF"/>
                  </a:solidFill>
                  <a:latin typeface="Arial" panose="020B0604020202020204"/>
                </a:rPr>
                <a:t>Agenda</a:t>
              </a:r>
              <a:endParaRPr sz="3332" dirty="0">
                <a:solidFill>
                  <a:srgbClr val="FFFFFF"/>
                </a:solidFill>
                <a:latin typeface="Arial" panose="020B0604020202020204"/>
              </a:endParaRPr>
            </a:p>
          </p:txBody>
        </p:sp>
      </p:grpSp>
      <p:grpSp>
        <p:nvGrpSpPr>
          <p:cNvPr id="5" name="Group 4">
            <a:extLst>
              <a:ext uri="{FF2B5EF4-FFF2-40B4-BE49-F238E27FC236}">
                <a16:creationId xmlns:a16="http://schemas.microsoft.com/office/drawing/2014/main" id="{A88EB7B6-74F8-7F8D-0EC8-8782C2824315}"/>
              </a:ext>
            </a:extLst>
          </p:cNvPr>
          <p:cNvGrpSpPr/>
          <p:nvPr/>
        </p:nvGrpSpPr>
        <p:grpSpPr>
          <a:xfrm>
            <a:off x="3492862" y="1355122"/>
            <a:ext cx="8694375" cy="4147759"/>
            <a:chOff x="3492184" y="476709"/>
            <a:chExt cx="8696640" cy="4148839"/>
          </a:xfrm>
        </p:grpSpPr>
        <p:grpSp>
          <p:nvGrpSpPr>
            <p:cNvPr id="7" name="Group 6">
              <a:extLst>
                <a:ext uri="{FF2B5EF4-FFF2-40B4-BE49-F238E27FC236}">
                  <a16:creationId xmlns:a16="http://schemas.microsoft.com/office/drawing/2014/main" id="{1A77A649-C021-C231-4703-8CB4AB90A06C}"/>
                </a:ext>
              </a:extLst>
            </p:cNvPr>
            <p:cNvGrpSpPr/>
            <p:nvPr/>
          </p:nvGrpSpPr>
          <p:grpSpPr>
            <a:xfrm>
              <a:off x="3492184" y="476709"/>
              <a:ext cx="8696640" cy="476861"/>
              <a:chOff x="2728063" y="472316"/>
              <a:chExt cx="6524179" cy="357739"/>
            </a:xfrm>
          </p:grpSpPr>
          <p:sp>
            <p:nvSpPr>
              <p:cNvPr id="32" name="Rounded Rectangle 31">
                <a:extLst>
                  <a:ext uri="{FF2B5EF4-FFF2-40B4-BE49-F238E27FC236}">
                    <a16:creationId xmlns:a16="http://schemas.microsoft.com/office/drawing/2014/main" id="{69BC7240-C6A7-336D-2569-4EB84B2A6300}"/>
                  </a:ext>
                </a:extLst>
              </p:cNvPr>
              <p:cNvSpPr/>
              <p:nvPr/>
            </p:nvSpPr>
            <p:spPr>
              <a:xfrm>
                <a:off x="2906301" y="473569"/>
                <a:ext cx="6345941" cy="356486"/>
              </a:xfrm>
              <a:prstGeom prst="roundRect">
                <a:avLst>
                  <a:gd name="adj" fmla="val 0"/>
                </a:avLst>
              </a:prstGeom>
              <a:solidFill>
                <a:schemeClr val="accent5">
                  <a:lumMod val="75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5570" tIns="182784" rIns="182784" rtlCol="0" anchor="ctr"/>
              <a:lstStyle/>
              <a:p>
                <a:pPr defTabSz="1218529"/>
                <a:br>
                  <a:rPr lang="en-US" sz="1600" dirty="0">
                    <a:solidFill>
                      <a:srgbClr val="FFFFFF"/>
                    </a:solidFill>
                    <a:latin typeface="Arial"/>
                  </a:rPr>
                </a:br>
                <a:endParaRPr lang="en-US" sz="1050" dirty="0">
                  <a:solidFill>
                    <a:srgbClr val="FFFFFF"/>
                  </a:solidFill>
                  <a:latin typeface="Arial"/>
                </a:endParaRPr>
              </a:p>
            </p:txBody>
          </p:sp>
          <p:grpSp>
            <p:nvGrpSpPr>
              <p:cNvPr id="4" name="Group 3">
                <a:extLst>
                  <a:ext uri="{FF2B5EF4-FFF2-40B4-BE49-F238E27FC236}">
                    <a16:creationId xmlns:a16="http://schemas.microsoft.com/office/drawing/2014/main" id="{C762B973-1177-DFD3-9259-14F25F160566}"/>
                  </a:ext>
                </a:extLst>
              </p:cNvPr>
              <p:cNvGrpSpPr/>
              <p:nvPr/>
            </p:nvGrpSpPr>
            <p:grpSpPr>
              <a:xfrm>
                <a:off x="2728063" y="472316"/>
                <a:ext cx="675921" cy="356486"/>
                <a:chOff x="2950906" y="957906"/>
                <a:chExt cx="945927" cy="480496"/>
              </a:xfrm>
            </p:grpSpPr>
            <p:sp>
              <p:nvSpPr>
                <p:cNvPr id="2" name="Google Shape;926;g3015cfa3cac_0_4068">
                  <a:extLst>
                    <a:ext uri="{FF2B5EF4-FFF2-40B4-BE49-F238E27FC236}">
                      <a16:creationId xmlns:a16="http://schemas.microsoft.com/office/drawing/2014/main" id="{04EDDDEA-9829-9DBC-CDD3-151C177BD2FC}"/>
                    </a:ext>
                  </a:extLst>
                </p:cNvPr>
                <p:cNvSpPr/>
                <p:nvPr/>
              </p:nvSpPr>
              <p:spPr>
                <a:xfrm>
                  <a:off x="3084829" y="957906"/>
                  <a:ext cx="812004" cy="480496"/>
                </a:xfrm>
                <a:prstGeom prst="homePlate">
                  <a:avLst>
                    <a:gd name="adj" fmla="val 50000"/>
                  </a:avLst>
                </a:prstGeom>
                <a:solidFill>
                  <a:schemeClr val="accent5">
                    <a:alpha val="10000"/>
                  </a:schemeClr>
                </a:solidFill>
                <a:ln w="9525" cap="flat" cmpd="sng">
                  <a:noFill/>
                  <a:prstDash val="solid"/>
                  <a:round/>
                  <a:headEnd type="none" w="sm" len="sm"/>
                  <a:tailEnd type="none" w="sm" len="sm"/>
                </a:ln>
              </p:spPr>
              <p:txBody>
                <a:bodyPr spcFirstLastPara="1" wrap="square" lIns="274178" tIns="0" rIns="91352" bIns="45676" anchor="ctr" anchorCtr="0">
                  <a:noAutofit/>
                </a:bodyPr>
                <a:lstStyle/>
                <a:p>
                  <a:pPr defTabSz="1218529">
                    <a:buSzPts val="900"/>
                  </a:pPr>
                  <a:endParaRPr sz="5997" dirty="0">
                    <a:solidFill>
                      <a:srgbClr val="FFFFFF"/>
                    </a:solidFill>
                    <a:latin typeface="Arial" panose="020B0604020202020204"/>
                  </a:endParaRPr>
                </a:p>
              </p:txBody>
            </p:sp>
            <p:sp>
              <p:nvSpPr>
                <p:cNvPr id="3" name="Google Shape;926;g3015cfa3cac_0_4068">
                  <a:extLst>
                    <a:ext uri="{FF2B5EF4-FFF2-40B4-BE49-F238E27FC236}">
                      <a16:creationId xmlns:a16="http://schemas.microsoft.com/office/drawing/2014/main" id="{55897293-40D9-ED6D-46B5-E0E005FB42CA}"/>
                    </a:ext>
                  </a:extLst>
                </p:cNvPr>
                <p:cNvSpPr/>
                <p:nvPr/>
              </p:nvSpPr>
              <p:spPr>
                <a:xfrm>
                  <a:off x="2950906" y="957906"/>
                  <a:ext cx="812004" cy="480496"/>
                </a:xfrm>
                <a:prstGeom prst="homePlate">
                  <a:avLst>
                    <a:gd name="adj" fmla="val 50000"/>
                  </a:avLst>
                </a:prstGeom>
                <a:solidFill>
                  <a:schemeClr val="accent5"/>
                </a:solidFill>
                <a:ln w="9525" cap="flat" cmpd="sng">
                  <a:noFill/>
                  <a:prstDash val="solid"/>
                  <a:round/>
                  <a:headEnd type="none" w="sm" len="sm"/>
                  <a:tailEnd type="none" w="sm" len="sm"/>
                </a:ln>
              </p:spPr>
              <p:txBody>
                <a:bodyPr spcFirstLastPara="1" wrap="square" lIns="274178" tIns="0" rIns="91352" bIns="91392" anchor="ctr" anchorCtr="0">
                  <a:noAutofit/>
                </a:bodyPr>
                <a:lstStyle/>
                <a:p>
                  <a:pPr defTabSz="1218529">
                    <a:buSzPts val="900"/>
                  </a:pPr>
                  <a:r>
                    <a:rPr lang="en-US" sz="1333" dirty="0">
                      <a:solidFill>
                        <a:srgbClr val="FFFFFF"/>
                      </a:solidFill>
                      <a:latin typeface="Arial" panose="020B0604020202020204"/>
                    </a:rPr>
                    <a:t>01</a:t>
                  </a:r>
                  <a:endParaRPr sz="1333" dirty="0">
                    <a:solidFill>
                      <a:srgbClr val="FFFFFF"/>
                    </a:solidFill>
                    <a:latin typeface="Arial" panose="020B0604020202020204"/>
                  </a:endParaRPr>
                </a:p>
              </p:txBody>
            </p:sp>
          </p:grpSp>
          <p:sp>
            <p:nvSpPr>
              <p:cNvPr id="6" name="TextBox 5">
                <a:extLst>
                  <a:ext uri="{FF2B5EF4-FFF2-40B4-BE49-F238E27FC236}">
                    <a16:creationId xmlns:a16="http://schemas.microsoft.com/office/drawing/2014/main" id="{2715ADF7-6DFA-1CC6-6C50-9CAC1373D5F2}"/>
                  </a:ext>
                </a:extLst>
              </p:cNvPr>
              <p:cNvSpPr txBox="1"/>
              <p:nvPr/>
            </p:nvSpPr>
            <p:spPr>
              <a:xfrm>
                <a:off x="3403984" y="527448"/>
                <a:ext cx="4572000" cy="253982"/>
              </a:xfrm>
              <a:prstGeom prst="rect">
                <a:avLst/>
              </a:prstGeom>
              <a:noFill/>
            </p:spPr>
            <p:txBody>
              <a:bodyPr wrap="square">
                <a:spAutoFit/>
              </a:bodyPr>
              <a:lstStyle/>
              <a:p>
                <a:pPr defTabSz="1218529">
                  <a:spcBef>
                    <a:spcPts val="1865"/>
                  </a:spcBef>
                </a:pPr>
                <a:r>
                  <a:rPr lang="en-US" sz="1600" dirty="0">
                    <a:solidFill>
                      <a:srgbClr val="000000"/>
                    </a:solidFill>
                    <a:latin typeface="Arial" panose="020B0604020202020204" pitchFamily="34" charset="0"/>
                  </a:rPr>
                  <a:t>Introducing VMware Cloud Foundation</a:t>
                </a:r>
                <a:endParaRPr lang="en-US" sz="1600" dirty="0">
                  <a:solidFill>
                    <a:srgbClr val="000000"/>
                  </a:solidFill>
                  <a:latin typeface="Arial" panose="020B0604020202020204"/>
                </a:endParaRPr>
              </a:p>
            </p:txBody>
          </p:sp>
        </p:grpSp>
        <p:grpSp>
          <p:nvGrpSpPr>
            <p:cNvPr id="35" name="Group 34">
              <a:extLst>
                <a:ext uri="{FF2B5EF4-FFF2-40B4-BE49-F238E27FC236}">
                  <a16:creationId xmlns:a16="http://schemas.microsoft.com/office/drawing/2014/main" id="{065DEB1B-34D0-9D93-A1D2-CB39AB36A7B3}"/>
                </a:ext>
              </a:extLst>
            </p:cNvPr>
            <p:cNvGrpSpPr/>
            <p:nvPr/>
          </p:nvGrpSpPr>
          <p:grpSpPr>
            <a:xfrm>
              <a:off x="3492184" y="1211105"/>
              <a:ext cx="8696640" cy="476861"/>
              <a:chOff x="2728063" y="472316"/>
              <a:chExt cx="6524179" cy="357739"/>
            </a:xfrm>
          </p:grpSpPr>
          <p:sp>
            <p:nvSpPr>
              <p:cNvPr id="36" name="Rounded Rectangle 35">
                <a:extLst>
                  <a:ext uri="{FF2B5EF4-FFF2-40B4-BE49-F238E27FC236}">
                    <a16:creationId xmlns:a16="http://schemas.microsoft.com/office/drawing/2014/main" id="{FB6A370B-DBC4-65DC-28A2-9A9C1A5AFF72}"/>
                  </a:ext>
                </a:extLst>
              </p:cNvPr>
              <p:cNvSpPr/>
              <p:nvPr/>
            </p:nvSpPr>
            <p:spPr>
              <a:xfrm>
                <a:off x="2906301" y="473569"/>
                <a:ext cx="6345941" cy="356486"/>
              </a:xfrm>
              <a:prstGeom prst="roundRect">
                <a:avLst>
                  <a:gd name="adj" fmla="val 0"/>
                </a:avLst>
              </a:prstGeom>
              <a:solidFill>
                <a:schemeClr val="accent5">
                  <a:lumMod val="75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5570" tIns="182784" rIns="182784" rtlCol="0" anchor="ctr"/>
              <a:lstStyle/>
              <a:p>
                <a:pPr defTabSz="1218529"/>
                <a:br>
                  <a:rPr lang="en-US" sz="1600" dirty="0">
                    <a:solidFill>
                      <a:srgbClr val="FFFFFF"/>
                    </a:solidFill>
                    <a:latin typeface="Arial"/>
                  </a:rPr>
                </a:br>
                <a:endParaRPr lang="en-US" sz="1050" dirty="0">
                  <a:solidFill>
                    <a:srgbClr val="FFFFFF"/>
                  </a:solidFill>
                  <a:latin typeface="Arial"/>
                </a:endParaRPr>
              </a:p>
            </p:txBody>
          </p:sp>
          <p:grpSp>
            <p:nvGrpSpPr>
              <p:cNvPr id="40" name="Group 39">
                <a:extLst>
                  <a:ext uri="{FF2B5EF4-FFF2-40B4-BE49-F238E27FC236}">
                    <a16:creationId xmlns:a16="http://schemas.microsoft.com/office/drawing/2014/main" id="{6C42B5A1-ECFA-561A-38F8-40958DF08E36}"/>
                  </a:ext>
                </a:extLst>
              </p:cNvPr>
              <p:cNvGrpSpPr/>
              <p:nvPr/>
            </p:nvGrpSpPr>
            <p:grpSpPr>
              <a:xfrm>
                <a:off x="2728063" y="472316"/>
                <a:ext cx="675921" cy="356486"/>
                <a:chOff x="2950906" y="957906"/>
                <a:chExt cx="945927" cy="480496"/>
              </a:xfrm>
            </p:grpSpPr>
            <p:sp>
              <p:nvSpPr>
                <p:cNvPr id="44" name="Google Shape;926;g3015cfa3cac_0_4068">
                  <a:extLst>
                    <a:ext uri="{FF2B5EF4-FFF2-40B4-BE49-F238E27FC236}">
                      <a16:creationId xmlns:a16="http://schemas.microsoft.com/office/drawing/2014/main" id="{105FC085-F6C7-8E32-C8D4-5ED11807D1DA}"/>
                    </a:ext>
                  </a:extLst>
                </p:cNvPr>
                <p:cNvSpPr/>
                <p:nvPr/>
              </p:nvSpPr>
              <p:spPr>
                <a:xfrm>
                  <a:off x="3084829" y="957906"/>
                  <a:ext cx="812004" cy="480496"/>
                </a:xfrm>
                <a:prstGeom prst="homePlate">
                  <a:avLst>
                    <a:gd name="adj" fmla="val 50000"/>
                  </a:avLst>
                </a:prstGeom>
                <a:solidFill>
                  <a:schemeClr val="accent5">
                    <a:alpha val="10000"/>
                  </a:schemeClr>
                </a:solidFill>
                <a:ln w="9525" cap="flat" cmpd="sng">
                  <a:noFill/>
                  <a:prstDash val="solid"/>
                  <a:round/>
                  <a:headEnd type="none" w="sm" len="sm"/>
                  <a:tailEnd type="none" w="sm" len="sm"/>
                </a:ln>
              </p:spPr>
              <p:txBody>
                <a:bodyPr spcFirstLastPara="1" wrap="square" lIns="274178" tIns="0" rIns="91352" bIns="45676" anchor="ctr" anchorCtr="0">
                  <a:noAutofit/>
                </a:bodyPr>
                <a:lstStyle/>
                <a:p>
                  <a:pPr defTabSz="1218529">
                    <a:buSzPts val="900"/>
                  </a:pPr>
                  <a:endParaRPr sz="5997" dirty="0">
                    <a:solidFill>
                      <a:srgbClr val="FFFFFF"/>
                    </a:solidFill>
                    <a:latin typeface="Arial" panose="020B0604020202020204"/>
                  </a:endParaRPr>
                </a:p>
              </p:txBody>
            </p:sp>
            <p:sp>
              <p:nvSpPr>
                <p:cNvPr id="47" name="Google Shape;926;g3015cfa3cac_0_4068">
                  <a:extLst>
                    <a:ext uri="{FF2B5EF4-FFF2-40B4-BE49-F238E27FC236}">
                      <a16:creationId xmlns:a16="http://schemas.microsoft.com/office/drawing/2014/main" id="{242B2A83-1A59-5A56-0919-D69519D772FE}"/>
                    </a:ext>
                  </a:extLst>
                </p:cNvPr>
                <p:cNvSpPr/>
                <p:nvPr/>
              </p:nvSpPr>
              <p:spPr>
                <a:xfrm>
                  <a:off x="2950906" y="957906"/>
                  <a:ext cx="812004" cy="480496"/>
                </a:xfrm>
                <a:prstGeom prst="homePlate">
                  <a:avLst>
                    <a:gd name="adj" fmla="val 50000"/>
                  </a:avLst>
                </a:prstGeom>
                <a:solidFill>
                  <a:schemeClr val="accent5"/>
                </a:solidFill>
                <a:ln w="9525" cap="flat" cmpd="sng">
                  <a:noFill/>
                  <a:prstDash val="solid"/>
                  <a:round/>
                  <a:headEnd type="none" w="sm" len="sm"/>
                  <a:tailEnd type="none" w="sm" len="sm"/>
                </a:ln>
              </p:spPr>
              <p:txBody>
                <a:bodyPr spcFirstLastPara="1" wrap="square" lIns="274178" tIns="0" rIns="91352" bIns="91392" anchor="ctr" anchorCtr="0">
                  <a:noAutofit/>
                </a:bodyPr>
                <a:lstStyle/>
                <a:p>
                  <a:pPr defTabSz="1218529">
                    <a:buSzPts val="900"/>
                  </a:pPr>
                  <a:r>
                    <a:rPr lang="en-US" sz="1333" dirty="0">
                      <a:solidFill>
                        <a:srgbClr val="FFFFFF"/>
                      </a:solidFill>
                      <a:latin typeface="Arial" panose="020B0604020202020204"/>
                    </a:rPr>
                    <a:t>02</a:t>
                  </a:r>
                  <a:endParaRPr sz="1333" dirty="0">
                    <a:solidFill>
                      <a:srgbClr val="FFFFFF"/>
                    </a:solidFill>
                    <a:latin typeface="Arial" panose="020B0604020202020204"/>
                  </a:endParaRPr>
                </a:p>
              </p:txBody>
            </p:sp>
          </p:grpSp>
          <p:sp>
            <p:nvSpPr>
              <p:cNvPr id="41" name="TextBox 40">
                <a:extLst>
                  <a:ext uri="{FF2B5EF4-FFF2-40B4-BE49-F238E27FC236}">
                    <a16:creationId xmlns:a16="http://schemas.microsoft.com/office/drawing/2014/main" id="{14D9FB2C-2CC1-7EDC-7F14-43A52BB19DD9}"/>
                  </a:ext>
                </a:extLst>
              </p:cNvPr>
              <p:cNvSpPr txBox="1"/>
              <p:nvPr/>
            </p:nvSpPr>
            <p:spPr>
              <a:xfrm>
                <a:off x="3403984" y="527448"/>
                <a:ext cx="4572000" cy="253982"/>
              </a:xfrm>
              <a:prstGeom prst="rect">
                <a:avLst/>
              </a:prstGeom>
              <a:noFill/>
            </p:spPr>
            <p:txBody>
              <a:bodyPr wrap="square">
                <a:spAutoFit/>
              </a:bodyPr>
              <a:lstStyle/>
              <a:p>
                <a:pPr defTabSz="1218529"/>
                <a:r>
                  <a:rPr lang="en-US" sz="1600" dirty="0">
                    <a:solidFill>
                      <a:srgbClr val="000000"/>
                    </a:solidFill>
                    <a:latin typeface="Arial" panose="020B0604020202020204" pitchFamily="34" charset="0"/>
                  </a:rPr>
                  <a:t>Modernize Your Infrastructure</a:t>
                </a:r>
              </a:p>
            </p:txBody>
          </p:sp>
        </p:grpSp>
        <p:grpSp>
          <p:nvGrpSpPr>
            <p:cNvPr id="74" name="Group 73">
              <a:extLst>
                <a:ext uri="{FF2B5EF4-FFF2-40B4-BE49-F238E27FC236}">
                  <a16:creationId xmlns:a16="http://schemas.microsoft.com/office/drawing/2014/main" id="{4CA2A5A9-4FDD-F047-E827-9507E92BD432}"/>
                </a:ext>
              </a:extLst>
            </p:cNvPr>
            <p:cNvGrpSpPr/>
            <p:nvPr/>
          </p:nvGrpSpPr>
          <p:grpSpPr>
            <a:xfrm>
              <a:off x="3492184" y="1945500"/>
              <a:ext cx="8696640" cy="476861"/>
              <a:chOff x="2728063" y="472316"/>
              <a:chExt cx="6524179" cy="357739"/>
            </a:xfrm>
          </p:grpSpPr>
          <p:sp>
            <p:nvSpPr>
              <p:cNvPr id="75" name="Rounded Rectangle 74">
                <a:extLst>
                  <a:ext uri="{FF2B5EF4-FFF2-40B4-BE49-F238E27FC236}">
                    <a16:creationId xmlns:a16="http://schemas.microsoft.com/office/drawing/2014/main" id="{FD1AF2A7-A7DF-A489-9549-B60DF05BDC21}"/>
                  </a:ext>
                </a:extLst>
              </p:cNvPr>
              <p:cNvSpPr/>
              <p:nvPr/>
            </p:nvSpPr>
            <p:spPr>
              <a:xfrm>
                <a:off x="2906301" y="473569"/>
                <a:ext cx="6345941" cy="356486"/>
              </a:xfrm>
              <a:prstGeom prst="roundRect">
                <a:avLst>
                  <a:gd name="adj" fmla="val 0"/>
                </a:avLst>
              </a:prstGeom>
              <a:solidFill>
                <a:schemeClr val="accent5">
                  <a:lumMod val="75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5570" tIns="182784" rIns="182784" rtlCol="0" anchor="ctr"/>
              <a:lstStyle/>
              <a:p>
                <a:pPr defTabSz="1218529"/>
                <a:br>
                  <a:rPr lang="en-US" sz="1600" dirty="0">
                    <a:solidFill>
                      <a:srgbClr val="FFFFFF"/>
                    </a:solidFill>
                    <a:latin typeface="Arial"/>
                  </a:rPr>
                </a:br>
                <a:endParaRPr lang="en-US" sz="1050" dirty="0">
                  <a:solidFill>
                    <a:srgbClr val="FFFFFF"/>
                  </a:solidFill>
                  <a:latin typeface="Arial"/>
                </a:endParaRPr>
              </a:p>
            </p:txBody>
          </p:sp>
          <p:grpSp>
            <p:nvGrpSpPr>
              <p:cNvPr id="76" name="Group 75">
                <a:extLst>
                  <a:ext uri="{FF2B5EF4-FFF2-40B4-BE49-F238E27FC236}">
                    <a16:creationId xmlns:a16="http://schemas.microsoft.com/office/drawing/2014/main" id="{5DA0E9A1-9F59-7B90-AF3D-EA04796F1789}"/>
                  </a:ext>
                </a:extLst>
              </p:cNvPr>
              <p:cNvGrpSpPr/>
              <p:nvPr/>
            </p:nvGrpSpPr>
            <p:grpSpPr>
              <a:xfrm>
                <a:off x="2728063" y="472316"/>
                <a:ext cx="675921" cy="356486"/>
                <a:chOff x="2950906" y="957906"/>
                <a:chExt cx="945927" cy="480496"/>
              </a:xfrm>
            </p:grpSpPr>
            <p:sp>
              <p:nvSpPr>
                <p:cNvPr id="78" name="Google Shape;926;g3015cfa3cac_0_4068">
                  <a:extLst>
                    <a:ext uri="{FF2B5EF4-FFF2-40B4-BE49-F238E27FC236}">
                      <a16:creationId xmlns:a16="http://schemas.microsoft.com/office/drawing/2014/main" id="{381088C7-4C6D-E459-E9CB-13C5F4BB28C5}"/>
                    </a:ext>
                  </a:extLst>
                </p:cNvPr>
                <p:cNvSpPr/>
                <p:nvPr/>
              </p:nvSpPr>
              <p:spPr>
                <a:xfrm>
                  <a:off x="3084829" y="957906"/>
                  <a:ext cx="812004" cy="480496"/>
                </a:xfrm>
                <a:prstGeom prst="homePlate">
                  <a:avLst>
                    <a:gd name="adj" fmla="val 50000"/>
                  </a:avLst>
                </a:prstGeom>
                <a:solidFill>
                  <a:schemeClr val="accent5">
                    <a:alpha val="10000"/>
                  </a:schemeClr>
                </a:solidFill>
                <a:ln w="9525" cap="flat" cmpd="sng">
                  <a:noFill/>
                  <a:prstDash val="solid"/>
                  <a:round/>
                  <a:headEnd type="none" w="sm" len="sm"/>
                  <a:tailEnd type="none" w="sm" len="sm"/>
                </a:ln>
              </p:spPr>
              <p:txBody>
                <a:bodyPr spcFirstLastPara="1" wrap="square" lIns="274178" tIns="0" rIns="91352" bIns="45676" anchor="ctr" anchorCtr="0">
                  <a:noAutofit/>
                </a:bodyPr>
                <a:lstStyle/>
                <a:p>
                  <a:pPr defTabSz="1218529">
                    <a:buSzPts val="900"/>
                  </a:pPr>
                  <a:endParaRPr sz="5997" dirty="0">
                    <a:solidFill>
                      <a:srgbClr val="FFFFFF"/>
                    </a:solidFill>
                    <a:latin typeface="Arial" panose="020B0604020202020204"/>
                  </a:endParaRPr>
                </a:p>
              </p:txBody>
            </p:sp>
            <p:sp>
              <p:nvSpPr>
                <p:cNvPr id="79" name="Google Shape;926;g3015cfa3cac_0_4068">
                  <a:extLst>
                    <a:ext uri="{FF2B5EF4-FFF2-40B4-BE49-F238E27FC236}">
                      <a16:creationId xmlns:a16="http://schemas.microsoft.com/office/drawing/2014/main" id="{CB6D2045-ADB0-0DCC-F2EC-AE0883CE1446}"/>
                    </a:ext>
                  </a:extLst>
                </p:cNvPr>
                <p:cNvSpPr/>
                <p:nvPr/>
              </p:nvSpPr>
              <p:spPr>
                <a:xfrm>
                  <a:off x="2950906" y="957906"/>
                  <a:ext cx="812004" cy="480496"/>
                </a:xfrm>
                <a:prstGeom prst="homePlate">
                  <a:avLst>
                    <a:gd name="adj" fmla="val 50000"/>
                  </a:avLst>
                </a:prstGeom>
                <a:solidFill>
                  <a:schemeClr val="accent5"/>
                </a:solidFill>
                <a:ln w="9525" cap="flat" cmpd="sng">
                  <a:noFill/>
                  <a:prstDash val="solid"/>
                  <a:round/>
                  <a:headEnd type="none" w="sm" len="sm"/>
                  <a:tailEnd type="none" w="sm" len="sm"/>
                </a:ln>
              </p:spPr>
              <p:txBody>
                <a:bodyPr spcFirstLastPara="1" wrap="square" lIns="274178" tIns="0" rIns="91352" bIns="91392" anchor="ctr" anchorCtr="0">
                  <a:noAutofit/>
                </a:bodyPr>
                <a:lstStyle/>
                <a:p>
                  <a:pPr defTabSz="1218529">
                    <a:buSzPts val="900"/>
                  </a:pPr>
                  <a:r>
                    <a:rPr lang="en-US" sz="1333" dirty="0">
                      <a:solidFill>
                        <a:srgbClr val="FFFFFF"/>
                      </a:solidFill>
                      <a:latin typeface="Arial" panose="020B0604020202020204"/>
                    </a:rPr>
                    <a:t>03</a:t>
                  </a:r>
                  <a:endParaRPr sz="1333" dirty="0">
                    <a:solidFill>
                      <a:srgbClr val="FFFFFF"/>
                    </a:solidFill>
                    <a:latin typeface="Arial" panose="020B0604020202020204"/>
                  </a:endParaRPr>
                </a:p>
              </p:txBody>
            </p:sp>
          </p:grpSp>
          <p:sp>
            <p:nvSpPr>
              <p:cNvPr id="77" name="TextBox 76">
                <a:extLst>
                  <a:ext uri="{FF2B5EF4-FFF2-40B4-BE49-F238E27FC236}">
                    <a16:creationId xmlns:a16="http://schemas.microsoft.com/office/drawing/2014/main" id="{30B75809-0670-DD5F-5D72-EA90ECC7AA66}"/>
                  </a:ext>
                </a:extLst>
              </p:cNvPr>
              <p:cNvSpPr txBox="1"/>
              <p:nvPr/>
            </p:nvSpPr>
            <p:spPr>
              <a:xfrm>
                <a:off x="3403984" y="527448"/>
                <a:ext cx="4572000" cy="253982"/>
              </a:xfrm>
              <a:prstGeom prst="rect">
                <a:avLst/>
              </a:prstGeom>
              <a:noFill/>
            </p:spPr>
            <p:txBody>
              <a:bodyPr wrap="square">
                <a:spAutoFit/>
              </a:bodyPr>
              <a:lstStyle/>
              <a:p>
                <a:pPr defTabSz="1218529">
                  <a:spcBef>
                    <a:spcPts val="1865"/>
                  </a:spcBef>
                </a:pPr>
                <a:r>
                  <a:rPr lang="en-US" sz="1600" dirty="0">
                    <a:solidFill>
                      <a:srgbClr val="000000"/>
                    </a:solidFill>
                    <a:latin typeface="Arial" panose="020B0604020202020204" pitchFamily="34" charset="0"/>
                  </a:rPr>
                  <a:t>Deliver a Unified Cloud Experience</a:t>
                </a:r>
                <a:endParaRPr lang="en-US" sz="1600" dirty="0">
                  <a:solidFill>
                    <a:srgbClr val="000000"/>
                  </a:solidFill>
                  <a:latin typeface="Arial" panose="020B0604020202020204"/>
                </a:endParaRPr>
              </a:p>
            </p:txBody>
          </p:sp>
        </p:grpSp>
        <p:grpSp>
          <p:nvGrpSpPr>
            <p:cNvPr id="86" name="Group 85">
              <a:extLst>
                <a:ext uri="{FF2B5EF4-FFF2-40B4-BE49-F238E27FC236}">
                  <a16:creationId xmlns:a16="http://schemas.microsoft.com/office/drawing/2014/main" id="{5C1E27E0-F8DA-B89B-1802-D8344C0300B5}"/>
                </a:ext>
              </a:extLst>
            </p:cNvPr>
            <p:cNvGrpSpPr/>
            <p:nvPr/>
          </p:nvGrpSpPr>
          <p:grpSpPr>
            <a:xfrm>
              <a:off x="3492184" y="2679895"/>
              <a:ext cx="8696640" cy="476861"/>
              <a:chOff x="2728063" y="472316"/>
              <a:chExt cx="6524179" cy="357739"/>
            </a:xfrm>
          </p:grpSpPr>
          <p:sp>
            <p:nvSpPr>
              <p:cNvPr id="87" name="Rounded Rectangle 86">
                <a:extLst>
                  <a:ext uri="{FF2B5EF4-FFF2-40B4-BE49-F238E27FC236}">
                    <a16:creationId xmlns:a16="http://schemas.microsoft.com/office/drawing/2014/main" id="{6A14AC01-9AED-A343-9D9E-DD99948F9A9D}"/>
                  </a:ext>
                </a:extLst>
              </p:cNvPr>
              <p:cNvSpPr/>
              <p:nvPr/>
            </p:nvSpPr>
            <p:spPr>
              <a:xfrm>
                <a:off x="2906301" y="473569"/>
                <a:ext cx="6345941" cy="356486"/>
              </a:xfrm>
              <a:prstGeom prst="roundRect">
                <a:avLst>
                  <a:gd name="adj" fmla="val 0"/>
                </a:avLst>
              </a:prstGeom>
              <a:solidFill>
                <a:schemeClr val="accent5">
                  <a:lumMod val="75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5570" tIns="182784" rIns="182784" rtlCol="0" anchor="ctr"/>
              <a:lstStyle/>
              <a:p>
                <a:pPr defTabSz="1218529"/>
                <a:br>
                  <a:rPr lang="en-US" sz="1600" dirty="0">
                    <a:solidFill>
                      <a:srgbClr val="FFFFFF"/>
                    </a:solidFill>
                    <a:latin typeface="Arial"/>
                  </a:rPr>
                </a:br>
                <a:endParaRPr lang="en-US" sz="1050" dirty="0">
                  <a:solidFill>
                    <a:srgbClr val="FFFFFF"/>
                  </a:solidFill>
                  <a:latin typeface="Arial"/>
                </a:endParaRPr>
              </a:p>
            </p:txBody>
          </p:sp>
          <p:grpSp>
            <p:nvGrpSpPr>
              <p:cNvPr id="88" name="Group 87">
                <a:extLst>
                  <a:ext uri="{FF2B5EF4-FFF2-40B4-BE49-F238E27FC236}">
                    <a16:creationId xmlns:a16="http://schemas.microsoft.com/office/drawing/2014/main" id="{3385907D-B699-6CEE-1A2D-EF4C14B527E0}"/>
                  </a:ext>
                </a:extLst>
              </p:cNvPr>
              <p:cNvGrpSpPr/>
              <p:nvPr/>
            </p:nvGrpSpPr>
            <p:grpSpPr>
              <a:xfrm>
                <a:off x="2728063" y="472316"/>
                <a:ext cx="675921" cy="356486"/>
                <a:chOff x="2950906" y="957906"/>
                <a:chExt cx="945927" cy="480496"/>
              </a:xfrm>
            </p:grpSpPr>
            <p:sp>
              <p:nvSpPr>
                <p:cNvPr id="90" name="Google Shape;926;g3015cfa3cac_0_4068">
                  <a:extLst>
                    <a:ext uri="{FF2B5EF4-FFF2-40B4-BE49-F238E27FC236}">
                      <a16:creationId xmlns:a16="http://schemas.microsoft.com/office/drawing/2014/main" id="{C3DFD8C9-958B-69BA-7893-0791528D7F87}"/>
                    </a:ext>
                  </a:extLst>
                </p:cNvPr>
                <p:cNvSpPr/>
                <p:nvPr/>
              </p:nvSpPr>
              <p:spPr>
                <a:xfrm>
                  <a:off x="3084829" y="957906"/>
                  <a:ext cx="812004" cy="480496"/>
                </a:xfrm>
                <a:prstGeom prst="homePlate">
                  <a:avLst>
                    <a:gd name="adj" fmla="val 50000"/>
                  </a:avLst>
                </a:prstGeom>
                <a:solidFill>
                  <a:schemeClr val="accent5">
                    <a:alpha val="10000"/>
                  </a:schemeClr>
                </a:solidFill>
                <a:ln w="9525" cap="flat" cmpd="sng">
                  <a:noFill/>
                  <a:prstDash val="solid"/>
                  <a:round/>
                  <a:headEnd type="none" w="sm" len="sm"/>
                  <a:tailEnd type="none" w="sm" len="sm"/>
                </a:ln>
              </p:spPr>
              <p:txBody>
                <a:bodyPr spcFirstLastPara="1" wrap="square" lIns="274178" tIns="0" rIns="91352" bIns="45676" anchor="ctr" anchorCtr="0">
                  <a:noAutofit/>
                </a:bodyPr>
                <a:lstStyle/>
                <a:p>
                  <a:pPr defTabSz="1218529">
                    <a:buSzPts val="900"/>
                  </a:pPr>
                  <a:endParaRPr sz="5997" dirty="0">
                    <a:solidFill>
                      <a:srgbClr val="FFFFFF"/>
                    </a:solidFill>
                    <a:latin typeface="Arial" panose="020B0604020202020204"/>
                  </a:endParaRPr>
                </a:p>
              </p:txBody>
            </p:sp>
            <p:sp>
              <p:nvSpPr>
                <p:cNvPr id="91" name="Google Shape;926;g3015cfa3cac_0_4068">
                  <a:extLst>
                    <a:ext uri="{FF2B5EF4-FFF2-40B4-BE49-F238E27FC236}">
                      <a16:creationId xmlns:a16="http://schemas.microsoft.com/office/drawing/2014/main" id="{63BCAC10-BACA-BAA9-25D9-A823BFACE3BF}"/>
                    </a:ext>
                  </a:extLst>
                </p:cNvPr>
                <p:cNvSpPr/>
                <p:nvPr/>
              </p:nvSpPr>
              <p:spPr>
                <a:xfrm>
                  <a:off x="2950906" y="957906"/>
                  <a:ext cx="812004" cy="480496"/>
                </a:xfrm>
                <a:prstGeom prst="homePlate">
                  <a:avLst>
                    <a:gd name="adj" fmla="val 50000"/>
                  </a:avLst>
                </a:prstGeom>
                <a:solidFill>
                  <a:schemeClr val="accent5"/>
                </a:solidFill>
                <a:ln w="9525" cap="flat" cmpd="sng">
                  <a:noFill/>
                  <a:prstDash val="solid"/>
                  <a:round/>
                  <a:headEnd type="none" w="sm" len="sm"/>
                  <a:tailEnd type="none" w="sm" len="sm"/>
                </a:ln>
              </p:spPr>
              <p:txBody>
                <a:bodyPr spcFirstLastPara="1" wrap="square" lIns="274178" tIns="0" rIns="91352" bIns="91392" anchor="ctr" anchorCtr="0">
                  <a:noAutofit/>
                </a:bodyPr>
                <a:lstStyle/>
                <a:p>
                  <a:pPr defTabSz="1218529">
                    <a:buSzPts val="900"/>
                  </a:pPr>
                  <a:r>
                    <a:rPr lang="en-US" sz="1333" dirty="0">
                      <a:solidFill>
                        <a:srgbClr val="FFFFFF"/>
                      </a:solidFill>
                      <a:latin typeface="Arial" panose="020B0604020202020204"/>
                    </a:rPr>
                    <a:t>04</a:t>
                  </a:r>
                  <a:endParaRPr sz="1333" dirty="0">
                    <a:solidFill>
                      <a:srgbClr val="FFFFFF"/>
                    </a:solidFill>
                    <a:latin typeface="Arial" panose="020B0604020202020204"/>
                  </a:endParaRPr>
                </a:p>
              </p:txBody>
            </p:sp>
          </p:grpSp>
          <p:sp>
            <p:nvSpPr>
              <p:cNvPr id="89" name="TextBox 88">
                <a:extLst>
                  <a:ext uri="{FF2B5EF4-FFF2-40B4-BE49-F238E27FC236}">
                    <a16:creationId xmlns:a16="http://schemas.microsoft.com/office/drawing/2014/main" id="{BB90C8E4-C373-0966-4304-DDDB0C1123F4}"/>
                  </a:ext>
                </a:extLst>
              </p:cNvPr>
              <p:cNvSpPr txBox="1"/>
              <p:nvPr/>
            </p:nvSpPr>
            <p:spPr>
              <a:xfrm>
                <a:off x="3403984" y="527448"/>
                <a:ext cx="4572000" cy="253982"/>
              </a:xfrm>
              <a:prstGeom prst="rect">
                <a:avLst/>
              </a:prstGeom>
              <a:noFill/>
            </p:spPr>
            <p:txBody>
              <a:bodyPr wrap="square">
                <a:spAutoFit/>
              </a:bodyPr>
              <a:lstStyle/>
              <a:p>
                <a:pPr defTabSz="1218529">
                  <a:spcBef>
                    <a:spcPts val="1865"/>
                  </a:spcBef>
                </a:pPr>
                <a:r>
                  <a:rPr lang="en-US" sz="1600" dirty="0">
                    <a:solidFill>
                      <a:srgbClr val="000000"/>
                    </a:solidFill>
                    <a:latin typeface="Arial" panose="020B0604020202020204" pitchFamily="34" charset="0"/>
                  </a:rPr>
                  <a:t>Secure and Protect your Private Cloud</a:t>
                </a:r>
                <a:endParaRPr lang="en-US" sz="1600" dirty="0">
                  <a:solidFill>
                    <a:srgbClr val="000000"/>
                  </a:solidFill>
                  <a:latin typeface="Arial" panose="020B0604020202020204"/>
                </a:endParaRPr>
              </a:p>
            </p:txBody>
          </p:sp>
        </p:grpSp>
        <p:grpSp>
          <p:nvGrpSpPr>
            <p:cNvPr id="92" name="Group 91">
              <a:extLst>
                <a:ext uri="{FF2B5EF4-FFF2-40B4-BE49-F238E27FC236}">
                  <a16:creationId xmlns:a16="http://schemas.microsoft.com/office/drawing/2014/main" id="{958D8786-AE86-2072-030B-6F920312B9CA}"/>
                </a:ext>
              </a:extLst>
            </p:cNvPr>
            <p:cNvGrpSpPr/>
            <p:nvPr/>
          </p:nvGrpSpPr>
          <p:grpSpPr>
            <a:xfrm>
              <a:off x="3492184" y="3414290"/>
              <a:ext cx="8696640" cy="476862"/>
              <a:chOff x="2728063" y="472316"/>
              <a:chExt cx="6524179" cy="357739"/>
            </a:xfrm>
          </p:grpSpPr>
          <p:sp>
            <p:nvSpPr>
              <p:cNvPr id="93" name="Rounded Rectangle 92">
                <a:extLst>
                  <a:ext uri="{FF2B5EF4-FFF2-40B4-BE49-F238E27FC236}">
                    <a16:creationId xmlns:a16="http://schemas.microsoft.com/office/drawing/2014/main" id="{992DF595-E729-981D-958B-A636740997AB}"/>
                  </a:ext>
                </a:extLst>
              </p:cNvPr>
              <p:cNvSpPr/>
              <p:nvPr/>
            </p:nvSpPr>
            <p:spPr>
              <a:xfrm>
                <a:off x="2906301" y="473569"/>
                <a:ext cx="6345941" cy="356486"/>
              </a:xfrm>
              <a:prstGeom prst="roundRect">
                <a:avLst>
                  <a:gd name="adj" fmla="val 0"/>
                </a:avLst>
              </a:prstGeom>
              <a:solidFill>
                <a:schemeClr val="accent5">
                  <a:lumMod val="75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5570" tIns="182784" rIns="182784" rtlCol="0" anchor="ctr"/>
              <a:lstStyle/>
              <a:p>
                <a:pPr defTabSz="1218529"/>
                <a:br>
                  <a:rPr lang="en-US" sz="1600" dirty="0">
                    <a:solidFill>
                      <a:srgbClr val="FFFFFF"/>
                    </a:solidFill>
                    <a:latin typeface="Arial"/>
                  </a:rPr>
                </a:br>
                <a:endParaRPr lang="en-US" sz="1050" dirty="0">
                  <a:solidFill>
                    <a:srgbClr val="FFFFFF"/>
                  </a:solidFill>
                  <a:latin typeface="Arial"/>
                </a:endParaRPr>
              </a:p>
            </p:txBody>
          </p:sp>
          <p:grpSp>
            <p:nvGrpSpPr>
              <p:cNvPr id="94" name="Group 93">
                <a:extLst>
                  <a:ext uri="{FF2B5EF4-FFF2-40B4-BE49-F238E27FC236}">
                    <a16:creationId xmlns:a16="http://schemas.microsoft.com/office/drawing/2014/main" id="{1C93E84D-E8F9-D28D-8B32-4AA900AF2A29}"/>
                  </a:ext>
                </a:extLst>
              </p:cNvPr>
              <p:cNvGrpSpPr/>
              <p:nvPr/>
            </p:nvGrpSpPr>
            <p:grpSpPr>
              <a:xfrm>
                <a:off x="2728063" y="472316"/>
                <a:ext cx="675921" cy="356486"/>
                <a:chOff x="2950906" y="957906"/>
                <a:chExt cx="945927" cy="480496"/>
              </a:xfrm>
            </p:grpSpPr>
            <p:sp>
              <p:nvSpPr>
                <p:cNvPr id="96" name="Google Shape;926;g3015cfa3cac_0_4068">
                  <a:extLst>
                    <a:ext uri="{FF2B5EF4-FFF2-40B4-BE49-F238E27FC236}">
                      <a16:creationId xmlns:a16="http://schemas.microsoft.com/office/drawing/2014/main" id="{00B26B9A-848E-6365-19B5-964D89E1F46F}"/>
                    </a:ext>
                  </a:extLst>
                </p:cNvPr>
                <p:cNvSpPr/>
                <p:nvPr/>
              </p:nvSpPr>
              <p:spPr>
                <a:xfrm>
                  <a:off x="3084829" y="957906"/>
                  <a:ext cx="812004" cy="480496"/>
                </a:xfrm>
                <a:prstGeom prst="homePlate">
                  <a:avLst>
                    <a:gd name="adj" fmla="val 50000"/>
                  </a:avLst>
                </a:prstGeom>
                <a:solidFill>
                  <a:schemeClr val="accent5">
                    <a:alpha val="10000"/>
                  </a:schemeClr>
                </a:solidFill>
                <a:ln w="9525" cap="flat" cmpd="sng">
                  <a:noFill/>
                  <a:prstDash val="solid"/>
                  <a:round/>
                  <a:headEnd type="none" w="sm" len="sm"/>
                  <a:tailEnd type="none" w="sm" len="sm"/>
                </a:ln>
              </p:spPr>
              <p:txBody>
                <a:bodyPr spcFirstLastPara="1" wrap="square" lIns="274178" tIns="0" rIns="91352" bIns="45676" anchor="ctr" anchorCtr="0">
                  <a:noAutofit/>
                </a:bodyPr>
                <a:lstStyle/>
                <a:p>
                  <a:pPr defTabSz="1218529">
                    <a:buSzPts val="900"/>
                  </a:pPr>
                  <a:endParaRPr sz="5997" dirty="0">
                    <a:solidFill>
                      <a:srgbClr val="FFFFFF"/>
                    </a:solidFill>
                    <a:latin typeface="Arial" panose="020B0604020202020204"/>
                  </a:endParaRPr>
                </a:p>
              </p:txBody>
            </p:sp>
            <p:sp>
              <p:nvSpPr>
                <p:cNvPr id="99" name="Google Shape;926;g3015cfa3cac_0_4068">
                  <a:extLst>
                    <a:ext uri="{FF2B5EF4-FFF2-40B4-BE49-F238E27FC236}">
                      <a16:creationId xmlns:a16="http://schemas.microsoft.com/office/drawing/2014/main" id="{762E3E08-ED51-2B69-0517-B6ED653709C9}"/>
                    </a:ext>
                  </a:extLst>
                </p:cNvPr>
                <p:cNvSpPr/>
                <p:nvPr/>
              </p:nvSpPr>
              <p:spPr>
                <a:xfrm>
                  <a:off x="2950906" y="957906"/>
                  <a:ext cx="812004" cy="480496"/>
                </a:xfrm>
                <a:prstGeom prst="homePlate">
                  <a:avLst>
                    <a:gd name="adj" fmla="val 50000"/>
                  </a:avLst>
                </a:prstGeom>
                <a:solidFill>
                  <a:schemeClr val="accent5"/>
                </a:solidFill>
                <a:ln w="9525" cap="flat" cmpd="sng">
                  <a:noFill/>
                  <a:prstDash val="solid"/>
                  <a:round/>
                  <a:headEnd type="none" w="sm" len="sm"/>
                  <a:tailEnd type="none" w="sm" len="sm"/>
                </a:ln>
              </p:spPr>
              <p:txBody>
                <a:bodyPr spcFirstLastPara="1" wrap="square" lIns="274178" tIns="0" rIns="91352" bIns="91392" anchor="ctr" anchorCtr="0">
                  <a:noAutofit/>
                </a:bodyPr>
                <a:lstStyle/>
                <a:p>
                  <a:pPr defTabSz="1218529">
                    <a:buSzPts val="900"/>
                  </a:pPr>
                  <a:r>
                    <a:rPr lang="en-US" sz="1333" dirty="0">
                      <a:solidFill>
                        <a:srgbClr val="FFFFFF"/>
                      </a:solidFill>
                      <a:latin typeface="Arial" panose="020B0604020202020204"/>
                    </a:rPr>
                    <a:t>05</a:t>
                  </a:r>
                  <a:endParaRPr sz="1333" dirty="0">
                    <a:solidFill>
                      <a:srgbClr val="FFFFFF"/>
                    </a:solidFill>
                    <a:latin typeface="Arial" panose="020B0604020202020204"/>
                  </a:endParaRPr>
                </a:p>
              </p:txBody>
            </p:sp>
          </p:grpSp>
          <p:sp>
            <p:nvSpPr>
              <p:cNvPr id="95" name="TextBox 94">
                <a:extLst>
                  <a:ext uri="{FF2B5EF4-FFF2-40B4-BE49-F238E27FC236}">
                    <a16:creationId xmlns:a16="http://schemas.microsoft.com/office/drawing/2014/main" id="{BD636AC8-07D3-EE66-EA73-059F8E1D1621}"/>
                  </a:ext>
                </a:extLst>
              </p:cNvPr>
              <p:cNvSpPr txBox="1"/>
              <p:nvPr/>
            </p:nvSpPr>
            <p:spPr>
              <a:xfrm>
                <a:off x="3403984" y="527448"/>
                <a:ext cx="4572000" cy="253981"/>
              </a:xfrm>
              <a:prstGeom prst="rect">
                <a:avLst/>
              </a:prstGeom>
              <a:noFill/>
            </p:spPr>
            <p:txBody>
              <a:bodyPr wrap="square">
                <a:spAutoFit/>
              </a:bodyPr>
              <a:lstStyle/>
              <a:p>
                <a:pPr defTabSz="1218529">
                  <a:spcBef>
                    <a:spcPts val="1865"/>
                  </a:spcBef>
                </a:pPr>
                <a:r>
                  <a:rPr lang="en-US" sz="1600" dirty="0">
                    <a:solidFill>
                      <a:srgbClr val="000000"/>
                    </a:solidFill>
                    <a:latin typeface="Arial" panose="020B0604020202020204" pitchFamily="34" charset="0"/>
                  </a:rPr>
                  <a:t>Add-on Services</a:t>
                </a:r>
                <a:endParaRPr lang="en-US" sz="1600" dirty="0">
                  <a:solidFill>
                    <a:srgbClr val="000000"/>
                  </a:solidFill>
                  <a:latin typeface="Arial" panose="020B0604020202020204"/>
                </a:endParaRPr>
              </a:p>
            </p:txBody>
          </p:sp>
        </p:grpSp>
        <p:grpSp>
          <p:nvGrpSpPr>
            <p:cNvPr id="107" name="Group 106">
              <a:extLst>
                <a:ext uri="{FF2B5EF4-FFF2-40B4-BE49-F238E27FC236}">
                  <a16:creationId xmlns:a16="http://schemas.microsoft.com/office/drawing/2014/main" id="{9EAD3182-0958-E3BB-DD22-8B96D52676AA}"/>
                </a:ext>
              </a:extLst>
            </p:cNvPr>
            <p:cNvGrpSpPr/>
            <p:nvPr/>
          </p:nvGrpSpPr>
          <p:grpSpPr>
            <a:xfrm>
              <a:off x="3492184" y="4148686"/>
              <a:ext cx="8696640" cy="476862"/>
              <a:chOff x="2728063" y="472316"/>
              <a:chExt cx="6524179" cy="357739"/>
            </a:xfrm>
          </p:grpSpPr>
          <p:sp>
            <p:nvSpPr>
              <p:cNvPr id="108" name="Rounded Rectangle 107">
                <a:extLst>
                  <a:ext uri="{FF2B5EF4-FFF2-40B4-BE49-F238E27FC236}">
                    <a16:creationId xmlns:a16="http://schemas.microsoft.com/office/drawing/2014/main" id="{0CC81F2F-3ED5-AE12-DD7E-8AD2A1121C79}"/>
                  </a:ext>
                </a:extLst>
              </p:cNvPr>
              <p:cNvSpPr/>
              <p:nvPr/>
            </p:nvSpPr>
            <p:spPr>
              <a:xfrm>
                <a:off x="2906301" y="473569"/>
                <a:ext cx="6345941" cy="356486"/>
              </a:xfrm>
              <a:prstGeom prst="roundRect">
                <a:avLst>
                  <a:gd name="adj" fmla="val 0"/>
                </a:avLst>
              </a:prstGeom>
              <a:solidFill>
                <a:schemeClr val="accent5">
                  <a:lumMod val="75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5570" tIns="182784" rIns="182784" rtlCol="0" anchor="ctr"/>
              <a:lstStyle/>
              <a:p>
                <a:pPr defTabSz="1218529"/>
                <a:br>
                  <a:rPr lang="en-US" sz="1600" dirty="0">
                    <a:solidFill>
                      <a:srgbClr val="FFFFFF"/>
                    </a:solidFill>
                    <a:latin typeface="Arial"/>
                  </a:rPr>
                </a:br>
                <a:endParaRPr lang="en-US" sz="1050" dirty="0">
                  <a:solidFill>
                    <a:srgbClr val="FFFFFF"/>
                  </a:solidFill>
                  <a:latin typeface="Arial"/>
                </a:endParaRPr>
              </a:p>
            </p:txBody>
          </p:sp>
          <p:grpSp>
            <p:nvGrpSpPr>
              <p:cNvPr id="109" name="Group 108">
                <a:extLst>
                  <a:ext uri="{FF2B5EF4-FFF2-40B4-BE49-F238E27FC236}">
                    <a16:creationId xmlns:a16="http://schemas.microsoft.com/office/drawing/2014/main" id="{07770C8A-69C8-C5C7-A875-F932EB553324}"/>
                  </a:ext>
                </a:extLst>
              </p:cNvPr>
              <p:cNvGrpSpPr/>
              <p:nvPr/>
            </p:nvGrpSpPr>
            <p:grpSpPr>
              <a:xfrm>
                <a:off x="2728063" y="472316"/>
                <a:ext cx="675921" cy="356486"/>
                <a:chOff x="2950906" y="957906"/>
                <a:chExt cx="945927" cy="480496"/>
              </a:xfrm>
            </p:grpSpPr>
            <p:sp>
              <p:nvSpPr>
                <p:cNvPr id="111" name="Google Shape;926;g3015cfa3cac_0_4068">
                  <a:extLst>
                    <a:ext uri="{FF2B5EF4-FFF2-40B4-BE49-F238E27FC236}">
                      <a16:creationId xmlns:a16="http://schemas.microsoft.com/office/drawing/2014/main" id="{C39AEC35-D146-FD40-A66B-572B7248ACD8}"/>
                    </a:ext>
                  </a:extLst>
                </p:cNvPr>
                <p:cNvSpPr/>
                <p:nvPr/>
              </p:nvSpPr>
              <p:spPr>
                <a:xfrm>
                  <a:off x="3084829" y="957906"/>
                  <a:ext cx="812004" cy="480496"/>
                </a:xfrm>
                <a:prstGeom prst="homePlate">
                  <a:avLst>
                    <a:gd name="adj" fmla="val 50000"/>
                  </a:avLst>
                </a:prstGeom>
                <a:solidFill>
                  <a:schemeClr val="accent5">
                    <a:alpha val="10000"/>
                  </a:schemeClr>
                </a:solidFill>
                <a:ln w="9525" cap="flat" cmpd="sng">
                  <a:noFill/>
                  <a:prstDash val="solid"/>
                  <a:round/>
                  <a:headEnd type="none" w="sm" len="sm"/>
                  <a:tailEnd type="none" w="sm" len="sm"/>
                </a:ln>
              </p:spPr>
              <p:txBody>
                <a:bodyPr spcFirstLastPara="1" wrap="square" lIns="274178" tIns="0" rIns="91352" bIns="45676" anchor="ctr" anchorCtr="0">
                  <a:noAutofit/>
                </a:bodyPr>
                <a:lstStyle/>
                <a:p>
                  <a:pPr defTabSz="1218529">
                    <a:buSzPts val="900"/>
                  </a:pPr>
                  <a:endParaRPr sz="5997" dirty="0">
                    <a:solidFill>
                      <a:srgbClr val="FFFFFF"/>
                    </a:solidFill>
                    <a:latin typeface="Arial" panose="020B0604020202020204"/>
                  </a:endParaRPr>
                </a:p>
              </p:txBody>
            </p:sp>
            <p:sp>
              <p:nvSpPr>
                <p:cNvPr id="112" name="Google Shape;926;g3015cfa3cac_0_4068">
                  <a:extLst>
                    <a:ext uri="{FF2B5EF4-FFF2-40B4-BE49-F238E27FC236}">
                      <a16:creationId xmlns:a16="http://schemas.microsoft.com/office/drawing/2014/main" id="{5C2E6880-215B-FE24-0312-B00CBB370005}"/>
                    </a:ext>
                  </a:extLst>
                </p:cNvPr>
                <p:cNvSpPr/>
                <p:nvPr/>
              </p:nvSpPr>
              <p:spPr>
                <a:xfrm>
                  <a:off x="2950906" y="957906"/>
                  <a:ext cx="812004" cy="480496"/>
                </a:xfrm>
                <a:prstGeom prst="homePlate">
                  <a:avLst>
                    <a:gd name="adj" fmla="val 50000"/>
                  </a:avLst>
                </a:prstGeom>
                <a:solidFill>
                  <a:schemeClr val="accent5"/>
                </a:solidFill>
                <a:ln w="9525" cap="flat" cmpd="sng">
                  <a:noFill/>
                  <a:prstDash val="solid"/>
                  <a:round/>
                  <a:headEnd type="none" w="sm" len="sm"/>
                  <a:tailEnd type="none" w="sm" len="sm"/>
                </a:ln>
              </p:spPr>
              <p:txBody>
                <a:bodyPr spcFirstLastPara="1" wrap="square" lIns="274178" tIns="0" rIns="91352" bIns="91392" anchor="ctr" anchorCtr="0">
                  <a:noAutofit/>
                </a:bodyPr>
                <a:lstStyle/>
                <a:p>
                  <a:pPr defTabSz="1218529">
                    <a:buSzPts val="900"/>
                  </a:pPr>
                  <a:r>
                    <a:rPr lang="en-US" sz="1333" dirty="0">
                      <a:solidFill>
                        <a:srgbClr val="FFFFFF"/>
                      </a:solidFill>
                      <a:latin typeface="Arial" panose="020B0604020202020204"/>
                    </a:rPr>
                    <a:t>06</a:t>
                  </a:r>
                  <a:endParaRPr sz="1333" dirty="0">
                    <a:solidFill>
                      <a:srgbClr val="FFFFFF"/>
                    </a:solidFill>
                    <a:latin typeface="Arial" panose="020B0604020202020204"/>
                  </a:endParaRPr>
                </a:p>
              </p:txBody>
            </p:sp>
          </p:grpSp>
          <p:sp>
            <p:nvSpPr>
              <p:cNvPr id="110" name="TextBox 109">
                <a:extLst>
                  <a:ext uri="{FF2B5EF4-FFF2-40B4-BE49-F238E27FC236}">
                    <a16:creationId xmlns:a16="http://schemas.microsoft.com/office/drawing/2014/main" id="{DE0B400E-75AB-F371-CEBE-5505605B39A1}"/>
                  </a:ext>
                </a:extLst>
              </p:cNvPr>
              <p:cNvSpPr txBox="1"/>
              <p:nvPr/>
            </p:nvSpPr>
            <p:spPr>
              <a:xfrm>
                <a:off x="3403984" y="527448"/>
                <a:ext cx="4572000" cy="253981"/>
              </a:xfrm>
              <a:prstGeom prst="rect">
                <a:avLst/>
              </a:prstGeom>
              <a:noFill/>
            </p:spPr>
            <p:txBody>
              <a:bodyPr wrap="square">
                <a:spAutoFit/>
              </a:bodyPr>
              <a:lstStyle/>
              <a:p>
                <a:pPr defTabSz="1218529">
                  <a:spcBef>
                    <a:spcPts val="1865"/>
                  </a:spcBef>
                </a:pPr>
                <a:r>
                  <a:rPr lang="en-US" sz="1600" dirty="0">
                    <a:solidFill>
                      <a:srgbClr val="000000"/>
                    </a:solidFill>
                    <a:latin typeface="Arial" panose="020B0604020202020204" pitchFamily="34" charset="0"/>
                  </a:rPr>
                  <a:t>Resources</a:t>
                </a: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023;p123">
            <a:extLst>
              <a:ext uri="{FF2B5EF4-FFF2-40B4-BE49-F238E27FC236}">
                <a16:creationId xmlns:a16="http://schemas.microsoft.com/office/drawing/2014/main" id="{2BBA8540-C1AB-D78D-59A9-60BBDFB39BC3}"/>
              </a:ext>
            </a:extLst>
          </p:cNvPr>
          <p:cNvSpPr/>
          <p:nvPr/>
        </p:nvSpPr>
        <p:spPr>
          <a:xfrm>
            <a:off x="8860278" y="1143595"/>
            <a:ext cx="2640112" cy="5145860"/>
          </a:xfrm>
          <a:prstGeom prst="roundRect">
            <a:avLst>
              <a:gd name="adj" fmla="val 3135"/>
            </a:avLst>
          </a:prstGeom>
          <a:gradFill>
            <a:gsLst>
              <a:gs pos="0">
                <a:schemeClr val="accent1"/>
              </a:gs>
              <a:gs pos="51000">
                <a:schemeClr val="accent1"/>
              </a:gs>
              <a:gs pos="100000">
                <a:schemeClr val="accent4"/>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 name="Google Shape;2024;p123">
            <a:extLst>
              <a:ext uri="{FF2B5EF4-FFF2-40B4-BE49-F238E27FC236}">
                <a16:creationId xmlns:a16="http://schemas.microsoft.com/office/drawing/2014/main" id="{F1A5F241-3DFF-E6EB-E93C-0B808E1C383F}"/>
              </a:ext>
            </a:extLst>
          </p:cNvPr>
          <p:cNvSpPr/>
          <p:nvPr/>
        </p:nvSpPr>
        <p:spPr>
          <a:xfrm>
            <a:off x="5588755" y="1143595"/>
            <a:ext cx="2640112" cy="5145860"/>
          </a:xfrm>
          <a:prstGeom prst="roundRect">
            <a:avLst>
              <a:gd name="adj" fmla="val 3135"/>
            </a:avLst>
          </a:prstGeom>
          <a:gradFill>
            <a:gsLst>
              <a:gs pos="0">
                <a:schemeClr val="accent2"/>
              </a:gs>
              <a:gs pos="100000">
                <a:schemeClr val="accent3"/>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 name="Google Shape;2025;p123">
            <a:extLst>
              <a:ext uri="{FF2B5EF4-FFF2-40B4-BE49-F238E27FC236}">
                <a16:creationId xmlns:a16="http://schemas.microsoft.com/office/drawing/2014/main" id="{BA993D11-517E-3368-8C7B-B1F9B7316D17}"/>
              </a:ext>
            </a:extLst>
          </p:cNvPr>
          <p:cNvSpPr/>
          <p:nvPr/>
        </p:nvSpPr>
        <p:spPr>
          <a:xfrm>
            <a:off x="2387647" y="1143594"/>
            <a:ext cx="2499349" cy="5145860"/>
          </a:xfrm>
          <a:prstGeom prst="roundRect">
            <a:avLst>
              <a:gd name="adj" fmla="val 3467"/>
            </a:avLst>
          </a:prstGeom>
          <a:gradFill>
            <a:gsLst>
              <a:gs pos="0">
                <a:schemeClr val="accent2"/>
              </a:gs>
              <a:gs pos="85000">
                <a:schemeClr val="accent5"/>
              </a:gs>
              <a:gs pos="100000">
                <a:schemeClr val="accent5"/>
              </a:gs>
            </a:gsLst>
            <a:lin ang="18900044"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sp>
        <p:nvSpPr>
          <p:cNvPr id="5" name="Google Shape;2026;p123">
            <a:extLst>
              <a:ext uri="{FF2B5EF4-FFF2-40B4-BE49-F238E27FC236}">
                <a16:creationId xmlns:a16="http://schemas.microsoft.com/office/drawing/2014/main" id="{6035DFE9-0C56-58BA-EE09-D11B4E6A3BA9}"/>
              </a:ext>
            </a:extLst>
          </p:cNvPr>
          <p:cNvSpPr/>
          <p:nvPr/>
        </p:nvSpPr>
        <p:spPr>
          <a:xfrm>
            <a:off x="2044699" y="3379802"/>
            <a:ext cx="3185170" cy="873772"/>
          </a:xfrm>
          <a:prstGeom prst="roundRect">
            <a:avLst>
              <a:gd name="adj" fmla="val 50000"/>
            </a:avLst>
          </a:prstGeom>
          <a:solidFill>
            <a:srgbClr val="F2F2F2"/>
          </a:solidFill>
          <a:ln w="25400" cap="flat" cmpd="sng">
            <a:solidFill>
              <a:schemeClr val="accent5"/>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6" name="Google Shape;2027;p123">
            <a:extLst>
              <a:ext uri="{FF2B5EF4-FFF2-40B4-BE49-F238E27FC236}">
                <a16:creationId xmlns:a16="http://schemas.microsoft.com/office/drawing/2014/main" id="{96DD3ADD-912B-4699-0469-E48157110865}"/>
              </a:ext>
            </a:extLst>
          </p:cNvPr>
          <p:cNvSpPr txBox="1">
            <a:spLocks/>
          </p:cNvSpPr>
          <p:nvPr/>
        </p:nvSpPr>
        <p:spPr>
          <a:xfrm>
            <a:off x="579809" y="410188"/>
            <a:ext cx="11001134" cy="387798"/>
          </a:xfrm>
          <a:prstGeom prst="rect">
            <a:avLst/>
          </a:prstGeom>
          <a:noFill/>
          <a:ln>
            <a:noFill/>
          </a:ln>
        </p:spPr>
        <p:txBody>
          <a:bodyPr spcFirstLastPara="1" vert="horz" wrap="square" lIns="0" tIns="0" rIns="0" bIns="0" rtlCol="0" anchor="ctr" anchorCtr="0">
            <a:spAutoFit/>
          </a:bodyP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pPr algn="ctr">
              <a:buSzPts val="2100"/>
            </a:pPr>
            <a:r>
              <a:rPr lang="en-AU" dirty="0">
                <a:solidFill>
                  <a:schemeClr val="accent2"/>
                </a:solidFill>
              </a:rPr>
              <a:t>VMware Cloud Foundation Platform for your Private Cloud</a:t>
            </a:r>
          </a:p>
        </p:txBody>
      </p:sp>
      <p:sp>
        <p:nvSpPr>
          <p:cNvPr id="7" name="Google Shape;2028;p123">
            <a:extLst>
              <a:ext uri="{FF2B5EF4-FFF2-40B4-BE49-F238E27FC236}">
                <a16:creationId xmlns:a16="http://schemas.microsoft.com/office/drawing/2014/main" id="{7C8C4C99-80AE-EE53-37A2-F543B8C928C9}"/>
              </a:ext>
            </a:extLst>
          </p:cNvPr>
          <p:cNvSpPr txBox="1"/>
          <p:nvPr/>
        </p:nvSpPr>
        <p:spPr>
          <a:xfrm>
            <a:off x="2351979" y="2751163"/>
            <a:ext cx="2570530" cy="443198"/>
          </a:xfrm>
          <a:prstGeom prst="rect">
            <a:avLst/>
          </a:prstGeom>
          <a:noFill/>
          <a:ln>
            <a:noFill/>
          </a:ln>
        </p:spPr>
        <p:txBody>
          <a:bodyPr spcFirstLastPara="1" wrap="square" lIns="0" tIns="0" rIns="0" bIns="0" anchor="t" anchorCtr="0">
            <a:spAutoFit/>
          </a:bodyPr>
          <a:lstStyle/>
          <a:p>
            <a:pPr algn="ctr">
              <a:lnSpc>
                <a:spcPct val="90000"/>
              </a:lnSpc>
              <a:buClr>
                <a:srgbClr val="000000"/>
              </a:buClr>
              <a:buSzPts val="1200"/>
            </a:pPr>
            <a:r>
              <a:rPr lang="en" sz="1600">
                <a:solidFill>
                  <a:schemeClr val="lt1"/>
                </a:solidFill>
                <a:latin typeface="Arial"/>
                <a:ea typeface="Arial"/>
                <a:cs typeface="Arial"/>
                <a:sym typeface="Arial"/>
              </a:rPr>
              <a:t>Modern</a:t>
            </a:r>
            <a:br>
              <a:rPr lang="en" sz="1600">
                <a:solidFill>
                  <a:schemeClr val="lt1"/>
                </a:solidFill>
                <a:latin typeface="Arial"/>
                <a:ea typeface="Arial"/>
                <a:cs typeface="Arial"/>
                <a:sym typeface="Arial"/>
              </a:rPr>
            </a:br>
            <a:r>
              <a:rPr lang="en" sz="1600">
                <a:solidFill>
                  <a:schemeClr val="lt1"/>
                </a:solidFill>
                <a:latin typeface="Arial"/>
                <a:ea typeface="Arial"/>
                <a:cs typeface="Arial"/>
                <a:sym typeface="Arial"/>
              </a:rPr>
              <a:t>Infrastructure</a:t>
            </a:r>
            <a:endParaRPr sz="1466">
              <a:solidFill>
                <a:srgbClr val="000000"/>
              </a:solidFill>
              <a:latin typeface="Arial"/>
              <a:ea typeface="Arial"/>
              <a:cs typeface="Arial"/>
              <a:sym typeface="Arial"/>
            </a:endParaRPr>
          </a:p>
        </p:txBody>
      </p:sp>
      <p:sp>
        <p:nvSpPr>
          <p:cNvPr id="8" name="Google Shape;2029;p123">
            <a:extLst>
              <a:ext uri="{FF2B5EF4-FFF2-40B4-BE49-F238E27FC236}">
                <a16:creationId xmlns:a16="http://schemas.microsoft.com/office/drawing/2014/main" id="{17B01EFD-55C5-9806-4FE6-34FF3F75A548}"/>
              </a:ext>
            </a:extLst>
          </p:cNvPr>
          <p:cNvSpPr txBox="1"/>
          <p:nvPr/>
        </p:nvSpPr>
        <p:spPr>
          <a:xfrm>
            <a:off x="592865" y="2730501"/>
            <a:ext cx="1548397" cy="492058"/>
          </a:xfrm>
          <a:prstGeom prst="rect">
            <a:avLst/>
          </a:prstGeom>
          <a:noFill/>
          <a:ln>
            <a:noFill/>
          </a:ln>
        </p:spPr>
        <p:txBody>
          <a:bodyPr spcFirstLastPara="1" wrap="square" lIns="0" tIns="0" rIns="0" bIns="0" anchor="ctr" anchorCtr="0">
            <a:spAutoFit/>
          </a:bodyPr>
          <a:lstStyle/>
          <a:p>
            <a:pPr>
              <a:buClr>
                <a:srgbClr val="000000"/>
              </a:buClr>
              <a:buSzPts val="800"/>
            </a:pPr>
            <a:r>
              <a:rPr lang="en" sz="1066">
                <a:solidFill>
                  <a:schemeClr val="dk2"/>
                </a:solidFill>
                <a:latin typeface="Arial"/>
                <a:ea typeface="Arial"/>
                <a:cs typeface="Arial"/>
                <a:sym typeface="Arial"/>
              </a:rPr>
              <a:t>BUSINESS INFRASTRUCTURE INITIATIVES</a:t>
            </a:r>
            <a:endParaRPr sz="1466">
              <a:solidFill>
                <a:srgbClr val="000000"/>
              </a:solidFill>
              <a:latin typeface="Arial"/>
              <a:ea typeface="Arial"/>
              <a:cs typeface="Arial"/>
              <a:sym typeface="Arial"/>
            </a:endParaRPr>
          </a:p>
        </p:txBody>
      </p:sp>
      <p:sp>
        <p:nvSpPr>
          <p:cNvPr id="9" name="Google Shape;2030;p123">
            <a:extLst>
              <a:ext uri="{FF2B5EF4-FFF2-40B4-BE49-F238E27FC236}">
                <a16:creationId xmlns:a16="http://schemas.microsoft.com/office/drawing/2014/main" id="{2DC1CCCC-9048-C7D7-69BF-191BB9E29C16}"/>
              </a:ext>
            </a:extLst>
          </p:cNvPr>
          <p:cNvSpPr txBox="1"/>
          <p:nvPr/>
        </p:nvSpPr>
        <p:spPr>
          <a:xfrm>
            <a:off x="592865" y="4600086"/>
            <a:ext cx="1548397" cy="328039"/>
          </a:xfrm>
          <a:prstGeom prst="rect">
            <a:avLst/>
          </a:prstGeom>
          <a:noFill/>
          <a:ln>
            <a:noFill/>
          </a:ln>
        </p:spPr>
        <p:txBody>
          <a:bodyPr spcFirstLastPara="1" wrap="square" lIns="0" tIns="0" rIns="0" bIns="0" anchor="ctr" anchorCtr="0">
            <a:spAutoFit/>
          </a:bodyPr>
          <a:lstStyle/>
          <a:p>
            <a:pPr>
              <a:buClr>
                <a:srgbClr val="000000"/>
              </a:buClr>
              <a:buSzPts val="800"/>
            </a:pPr>
            <a:r>
              <a:rPr lang="en" sz="1066">
                <a:solidFill>
                  <a:schemeClr val="dk2"/>
                </a:solidFill>
                <a:latin typeface="Arial"/>
                <a:ea typeface="Arial"/>
                <a:cs typeface="Arial"/>
                <a:sym typeface="Arial"/>
              </a:rPr>
              <a:t>PRIMARY </a:t>
            </a:r>
            <a:br>
              <a:rPr lang="en" sz="1066">
                <a:solidFill>
                  <a:schemeClr val="dk2"/>
                </a:solidFill>
                <a:latin typeface="Arial"/>
                <a:ea typeface="Arial"/>
                <a:cs typeface="Arial"/>
                <a:sym typeface="Arial"/>
              </a:rPr>
            </a:br>
            <a:r>
              <a:rPr lang="en" sz="1066">
                <a:solidFill>
                  <a:schemeClr val="dk2"/>
                </a:solidFill>
                <a:latin typeface="Arial"/>
                <a:ea typeface="Arial"/>
                <a:cs typeface="Arial"/>
                <a:sym typeface="Arial"/>
              </a:rPr>
              <a:t>USE CASES</a:t>
            </a:r>
            <a:endParaRPr sz="1466">
              <a:solidFill>
                <a:srgbClr val="000000"/>
              </a:solidFill>
              <a:latin typeface="Arial"/>
              <a:ea typeface="Arial"/>
              <a:cs typeface="Arial"/>
              <a:sym typeface="Arial"/>
            </a:endParaRPr>
          </a:p>
        </p:txBody>
      </p:sp>
      <p:grpSp>
        <p:nvGrpSpPr>
          <p:cNvPr id="10" name="Google Shape;2031;p123">
            <a:extLst>
              <a:ext uri="{FF2B5EF4-FFF2-40B4-BE49-F238E27FC236}">
                <a16:creationId xmlns:a16="http://schemas.microsoft.com/office/drawing/2014/main" id="{E89AEF18-DE77-A34B-2F3C-BCD429016DA6}"/>
              </a:ext>
            </a:extLst>
          </p:cNvPr>
          <p:cNvGrpSpPr/>
          <p:nvPr/>
        </p:nvGrpSpPr>
        <p:grpSpPr>
          <a:xfrm>
            <a:off x="2899556" y="1335829"/>
            <a:ext cx="1673277" cy="1242756"/>
            <a:chOff x="2802326" y="1263025"/>
            <a:chExt cx="2650516" cy="1968975"/>
          </a:xfrm>
        </p:grpSpPr>
        <p:pic>
          <p:nvPicPr>
            <p:cNvPr id="11" name="Google Shape;2032;p123">
              <a:extLst>
                <a:ext uri="{FF2B5EF4-FFF2-40B4-BE49-F238E27FC236}">
                  <a16:creationId xmlns:a16="http://schemas.microsoft.com/office/drawing/2014/main" id="{99843913-0FB5-E94B-A8D0-979446F69888}"/>
                </a:ext>
              </a:extLst>
            </p:cNvPr>
            <p:cNvPicPr preferRelativeResize="0"/>
            <p:nvPr/>
          </p:nvPicPr>
          <p:blipFill rotWithShape="1">
            <a:blip r:embed="rId3">
              <a:alphaModFix/>
            </a:blip>
            <a:srcRect/>
            <a:stretch/>
          </p:blipFill>
          <p:spPr>
            <a:xfrm>
              <a:off x="3738424" y="1263025"/>
              <a:ext cx="1714418" cy="672550"/>
            </a:xfrm>
            <a:prstGeom prst="rect">
              <a:avLst/>
            </a:prstGeom>
            <a:noFill/>
            <a:ln>
              <a:noFill/>
            </a:ln>
          </p:spPr>
        </p:pic>
        <p:grpSp>
          <p:nvGrpSpPr>
            <p:cNvPr id="12" name="Google Shape;2033;p123">
              <a:extLst>
                <a:ext uri="{FF2B5EF4-FFF2-40B4-BE49-F238E27FC236}">
                  <a16:creationId xmlns:a16="http://schemas.microsoft.com/office/drawing/2014/main" id="{691C74E1-0474-D450-B111-A950451B2553}"/>
                </a:ext>
              </a:extLst>
            </p:cNvPr>
            <p:cNvGrpSpPr/>
            <p:nvPr/>
          </p:nvGrpSpPr>
          <p:grpSpPr>
            <a:xfrm>
              <a:off x="2852626" y="1797187"/>
              <a:ext cx="460558" cy="460558"/>
              <a:chOff x="-396256" y="3115798"/>
              <a:chExt cx="601800" cy="601800"/>
            </a:xfrm>
          </p:grpSpPr>
          <p:sp>
            <p:nvSpPr>
              <p:cNvPr id="69" name="Google Shape;2034;p123">
                <a:extLst>
                  <a:ext uri="{FF2B5EF4-FFF2-40B4-BE49-F238E27FC236}">
                    <a16:creationId xmlns:a16="http://schemas.microsoft.com/office/drawing/2014/main" id="{5F72190C-A97A-34E6-B191-7E06EF409592}"/>
                  </a:ext>
                </a:extLst>
              </p:cNvPr>
              <p:cNvSpPr/>
              <p:nvPr/>
            </p:nvSpPr>
            <p:spPr>
              <a:xfrm>
                <a:off x="-396256" y="3115798"/>
                <a:ext cx="601800" cy="601800"/>
              </a:xfrm>
              <a:prstGeom prst="roundRect">
                <a:avLst>
                  <a:gd name="adj" fmla="val 9912"/>
                </a:avLst>
              </a:prstGeom>
              <a:gradFill>
                <a:gsLst>
                  <a:gs pos="0">
                    <a:schemeClr val="accent6"/>
                  </a:gs>
                  <a:gs pos="100000">
                    <a:srgbClr val="D58B3F"/>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70" name="Google Shape;2035;p123">
                <a:extLst>
                  <a:ext uri="{FF2B5EF4-FFF2-40B4-BE49-F238E27FC236}">
                    <a16:creationId xmlns:a16="http://schemas.microsoft.com/office/drawing/2014/main" id="{26AC5B3E-B909-D0C7-D2FD-152A5D079CBF}"/>
                  </a:ext>
                </a:extLst>
              </p:cNvPr>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470"/>
                    </a:srgbClr>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3" name="Google Shape;2036;p123">
              <a:extLst>
                <a:ext uri="{FF2B5EF4-FFF2-40B4-BE49-F238E27FC236}">
                  <a16:creationId xmlns:a16="http://schemas.microsoft.com/office/drawing/2014/main" id="{0E71DCA9-143F-8ADE-CBE0-20C3EECE912F}"/>
                </a:ext>
              </a:extLst>
            </p:cNvPr>
            <p:cNvGrpSpPr/>
            <p:nvPr/>
          </p:nvGrpSpPr>
          <p:grpSpPr>
            <a:xfrm>
              <a:off x="3355852" y="1371970"/>
              <a:ext cx="340023" cy="340023"/>
              <a:chOff x="42069" y="2560177"/>
              <a:chExt cx="444300" cy="444300"/>
            </a:xfrm>
          </p:grpSpPr>
          <p:sp>
            <p:nvSpPr>
              <p:cNvPr id="67" name="Google Shape;2037;p123">
                <a:extLst>
                  <a:ext uri="{FF2B5EF4-FFF2-40B4-BE49-F238E27FC236}">
                    <a16:creationId xmlns:a16="http://schemas.microsoft.com/office/drawing/2014/main" id="{D935FE0D-7AF9-C29C-97CA-6B4D0E0F0497}"/>
                  </a:ext>
                </a:extLst>
              </p:cNvPr>
              <p:cNvSpPr/>
              <p:nvPr/>
            </p:nvSpPr>
            <p:spPr>
              <a:xfrm>
                <a:off x="42069" y="2560177"/>
                <a:ext cx="444300" cy="444300"/>
              </a:xfrm>
              <a:prstGeom prst="roundRect">
                <a:avLst>
                  <a:gd name="adj" fmla="val 9912"/>
                </a:avLst>
              </a:prstGeom>
              <a:gradFill>
                <a:gsLst>
                  <a:gs pos="0">
                    <a:schemeClr val="accent6"/>
                  </a:gs>
                  <a:gs pos="100000">
                    <a:srgbClr val="D58B3F"/>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68" name="Google Shape;2038;p123">
                <a:extLst>
                  <a:ext uri="{FF2B5EF4-FFF2-40B4-BE49-F238E27FC236}">
                    <a16:creationId xmlns:a16="http://schemas.microsoft.com/office/drawing/2014/main" id="{C9599E6F-5BD3-42DB-26BE-CEA33A704DA6}"/>
                  </a:ext>
                </a:extLst>
              </p:cNvPr>
              <p:cNvSpPr/>
              <p:nvPr/>
            </p:nvSpPr>
            <p:spPr>
              <a:xfrm>
                <a:off x="42069" y="2560178"/>
                <a:ext cx="345904" cy="345904"/>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470"/>
                    </a:srgbClr>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4" name="Google Shape;2039;p123">
              <a:extLst>
                <a:ext uri="{FF2B5EF4-FFF2-40B4-BE49-F238E27FC236}">
                  <a16:creationId xmlns:a16="http://schemas.microsoft.com/office/drawing/2014/main" id="{3FE2BE3C-66E1-D105-8456-10075AFEA02A}"/>
                </a:ext>
              </a:extLst>
            </p:cNvPr>
            <p:cNvGrpSpPr/>
            <p:nvPr/>
          </p:nvGrpSpPr>
          <p:grpSpPr>
            <a:xfrm>
              <a:off x="2802326" y="2501593"/>
              <a:ext cx="2213016" cy="730407"/>
              <a:chOff x="2640720" y="2490804"/>
              <a:chExt cx="2213016" cy="730407"/>
            </a:xfrm>
          </p:grpSpPr>
          <p:grpSp>
            <p:nvGrpSpPr>
              <p:cNvPr id="46" name="Google Shape;2040;p123">
                <a:extLst>
                  <a:ext uri="{FF2B5EF4-FFF2-40B4-BE49-F238E27FC236}">
                    <a16:creationId xmlns:a16="http://schemas.microsoft.com/office/drawing/2014/main" id="{F2090B65-D2B9-4323-9B5E-31A6DF5DCD54}"/>
                  </a:ext>
                </a:extLst>
              </p:cNvPr>
              <p:cNvGrpSpPr/>
              <p:nvPr/>
            </p:nvGrpSpPr>
            <p:grpSpPr>
              <a:xfrm>
                <a:off x="4144490" y="2490804"/>
                <a:ext cx="709246" cy="730407"/>
                <a:chOff x="5822219" y="4130892"/>
                <a:chExt cx="1634585" cy="1683353"/>
              </a:xfrm>
            </p:grpSpPr>
            <p:sp>
              <p:nvSpPr>
                <p:cNvPr id="61" name="Google Shape;2041;p123">
                  <a:extLst>
                    <a:ext uri="{FF2B5EF4-FFF2-40B4-BE49-F238E27FC236}">
                      <a16:creationId xmlns:a16="http://schemas.microsoft.com/office/drawing/2014/main" id="{1AA59103-2BAC-392E-7772-34D862C1FDE2}"/>
                    </a:ext>
                  </a:extLst>
                </p:cNvPr>
                <p:cNvSpPr/>
                <p:nvPr/>
              </p:nvSpPr>
              <p:spPr>
                <a:xfrm>
                  <a:off x="5866320"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62" name="Google Shape;2042;p123">
                  <a:extLst>
                    <a:ext uri="{FF2B5EF4-FFF2-40B4-BE49-F238E27FC236}">
                      <a16:creationId xmlns:a16="http://schemas.microsoft.com/office/drawing/2014/main" id="{68CC6B1A-D159-4940-151B-3A95473ADE72}"/>
                    </a:ext>
                  </a:extLst>
                </p:cNvPr>
                <p:cNvSpPr/>
                <p:nvPr/>
              </p:nvSpPr>
              <p:spPr>
                <a:xfrm>
                  <a:off x="5822219"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63" name="Google Shape;2043;p123">
                  <a:extLst>
                    <a:ext uri="{FF2B5EF4-FFF2-40B4-BE49-F238E27FC236}">
                      <a16:creationId xmlns:a16="http://schemas.microsoft.com/office/drawing/2014/main" id="{124514DD-0984-0691-F98B-0DBB0581071E}"/>
                    </a:ext>
                  </a:extLst>
                </p:cNvPr>
                <p:cNvGrpSpPr/>
                <p:nvPr/>
              </p:nvGrpSpPr>
              <p:grpSpPr>
                <a:xfrm>
                  <a:off x="6073965" y="4130892"/>
                  <a:ext cx="201358" cy="1683352"/>
                  <a:chOff x="6073965" y="4130892"/>
                  <a:chExt cx="201358" cy="1683352"/>
                </a:xfrm>
              </p:grpSpPr>
              <p:sp>
                <p:nvSpPr>
                  <p:cNvPr id="64" name="Google Shape;2044;p123">
                    <a:extLst>
                      <a:ext uri="{FF2B5EF4-FFF2-40B4-BE49-F238E27FC236}">
                        <a16:creationId xmlns:a16="http://schemas.microsoft.com/office/drawing/2014/main" id="{3583BCA0-F9B7-EA4D-2AF6-CF202BC7C527}"/>
                      </a:ext>
                    </a:extLst>
                  </p:cNvPr>
                  <p:cNvSpPr/>
                  <p:nvPr/>
                </p:nvSpPr>
                <p:spPr>
                  <a:xfrm>
                    <a:off x="6073965"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65" name="Google Shape;2045;p123">
                    <a:extLst>
                      <a:ext uri="{FF2B5EF4-FFF2-40B4-BE49-F238E27FC236}">
                        <a16:creationId xmlns:a16="http://schemas.microsoft.com/office/drawing/2014/main" id="{57108320-CD50-78A3-ACF3-D22007230AB0}"/>
                      </a:ext>
                    </a:extLst>
                  </p:cNvPr>
                  <p:cNvSpPr/>
                  <p:nvPr/>
                </p:nvSpPr>
                <p:spPr>
                  <a:xfrm>
                    <a:off x="6073965"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66" name="Google Shape;2046;p123">
                    <a:extLst>
                      <a:ext uri="{FF2B5EF4-FFF2-40B4-BE49-F238E27FC236}">
                        <a16:creationId xmlns:a16="http://schemas.microsoft.com/office/drawing/2014/main" id="{09982026-3A1D-C45A-31DB-223987FB45AE}"/>
                      </a:ext>
                    </a:extLst>
                  </p:cNvPr>
                  <p:cNvSpPr/>
                  <p:nvPr/>
                </p:nvSpPr>
                <p:spPr>
                  <a:xfrm>
                    <a:off x="6073965"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47" name="Google Shape;2047;p123">
                <a:extLst>
                  <a:ext uri="{FF2B5EF4-FFF2-40B4-BE49-F238E27FC236}">
                    <a16:creationId xmlns:a16="http://schemas.microsoft.com/office/drawing/2014/main" id="{D723948A-C20E-FDBF-6B4F-5C0389C01681}"/>
                  </a:ext>
                </a:extLst>
              </p:cNvPr>
              <p:cNvGrpSpPr/>
              <p:nvPr/>
            </p:nvGrpSpPr>
            <p:grpSpPr>
              <a:xfrm>
                <a:off x="3392605" y="2490804"/>
                <a:ext cx="709246" cy="730407"/>
                <a:chOff x="5822219" y="4130892"/>
                <a:chExt cx="1634585" cy="1683353"/>
              </a:xfrm>
            </p:grpSpPr>
            <p:sp>
              <p:nvSpPr>
                <p:cNvPr id="55" name="Google Shape;2048;p123">
                  <a:extLst>
                    <a:ext uri="{FF2B5EF4-FFF2-40B4-BE49-F238E27FC236}">
                      <a16:creationId xmlns:a16="http://schemas.microsoft.com/office/drawing/2014/main" id="{C88FBD10-7993-B418-0D18-CE12C6AD6314}"/>
                    </a:ext>
                  </a:extLst>
                </p:cNvPr>
                <p:cNvSpPr/>
                <p:nvPr/>
              </p:nvSpPr>
              <p:spPr>
                <a:xfrm>
                  <a:off x="5866320"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56" name="Google Shape;2049;p123">
                  <a:extLst>
                    <a:ext uri="{FF2B5EF4-FFF2-40B4-BE49-F238E27FC236}">
                      <a16:creationId xmlns:a16="http://schemas.microsoft.com/office/drawing/2014/main" id="{3E7C1154-4439-8D6E-1D38-662B09FB8F76}"/>
                    </a:ext>
                  </a:extLst>
                </p:cNvPr>
                <p:cNvSpPr/>
                <p:nvPr/>
              </p:nvSpPr>
              <p:spPr>
                <a:xfrm>
                  <a:off x="5822219"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57" name="Google Shape;2050;p123">
                  <a:extLst>
                    <a:ext uri="{FF2B5EF4-FFF2-40B4-BE49-F238E27FC236}">
                      <a16:creationId xmlns:a16="http://schemas.microsoft.com/office/drawing/2014/main" id="{ADE8EEAB-799E-45B4-D2DA-8016398923D1}"/>
                    </a:ext>
                  </a:extLst>
                </p:cNvPr>
                <p:cNvGrpSpPr/>
                <p:nvPr/>
              </p:nvGrpSpPr>
              <p:grpSpPr>
                <a:xfrm>
                  <a:off x="6073965" y="4130892"/>
                  <a:ext cx="201358" cy="1683352"/>
                  <a:chOff x="6073965" y="4130892"/>
                  <a:chExt cx="201358" cy="1683352"/>
                </a:xfrm>
              </p:grpSpPr>
              <p:sp>
                <p:nvSpPr>
                  <p:cNvPr id="58" name="Google Shape;2051;p123">
                    <a:extLst>
                      <a:ext uri="{FF2B5EF4-FFF2-40B4-BE49-F238E27FC236}">
                        <a16:creationId xmlns:a16="http://schemas.microsoft.com/office/drawing/2014/main" id="{396E189D-AE3D-ADCC-2ED3-D7DC426E71AA}"/>
                      </a:ext>
                    </a:extLst>
                  </p:cNvPr>
                  <p:cNvSpPr/>
                  <p:nvPr/>
                </p:nvSpPr>
                <p:spPr>
                  <a:xfrm>
                    <a:off x="6073965"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59" name="Google Shape;2052;p123">
                    <a:extLst>
                      <a:ext uri="{FF2B5EF4-FFF2-40B4-BE49-F238E27FC236}">
                        <a16:creationId xmlns:a16="http://schemas.microsoft.com/office/drawing/2014/main" id="{883C73E7-52E4-7DCC-B619-5AD80E96A7AA}"/>
                      </a:ext>
                    </a:extLst>
                  </p:cNvPr>
                  <p:cNvSpPr/>
                  <p:nvPr/>
                </p:nvSpPr>
                <p:spPr>
                  <a:xfrm>
                    <a:off x="6073965"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60" name="Google Shape;2053;p123">
                    <a:extLst>
                      <a:ext uri="{FF2B5EF4-FFF2-40B4-BE49-F238E27FC236}">
                        <a16:creationId xmlns:a16="http://schemas.microsoft.com/office/drawing/2014/main" id="{B9788D95-1A61-E1CB-6B49-1459AB1510DF}"/>
                      </a:ext>
                    </a:extLst>
                  </p:cNvPr>
                  <p:cNvSpPr/>
                  <p:nvPr/>
                </p:nvSpPr>
                <p:spPr>
                  <a:xfrm>
                    <a:off x="6073965"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48" name="Google Shape;2054;p123">
                <a:extLst>
                  <a:ext uri="{FF2B5EF4-FFF2-40B4-BE49-F238E27FC236}">
                    <a16:creationId xmlns:a16="http://schemas.microsoft.com/office/drawing/2014/main" id="{572D09F4-EA82-E0B9-AC0C-88225C0D87DC}"/>
                  </a:ext>
                </a:extLst>
              </p:cNvPr>
              <p:cNvGrpSpPr/>
              <p:nvPr/>
            </p:nvGrpSpPr>
            <p:grpSpPr>
              <a:xfrm>
                <a:off x="2640720" y="2490804"/>
                <a:ext cx="709246" cy="730407"/>
                <a:chOff x="5822219" y="4130892"/>
                <a:chExt cx="1634585" cy="1683353"/>
              </a:xfrm>
            </p:grpSpPr>
            <p:sp>
              <p:nvSpPr>
                <p:cNvPr id="49" name="Google Shape;2055;p123">
                  <a:extLst>
                    <a:ext uri="{FF2B5EF4-FFF2-40B4-BE49-F238E27FC236}">
                      <a16:creationId xmlns:a16="http://schemas.microsoft.com/office/drawing/2014/main" id="{0C89ED32-2D98-AF65-BF59-A849F0A2E1F4}"/>
                    </a:ext>
                  </a:extLst>
                </p:cNvPr>
                <p:cNvSpPr/>
                <p:nvPr/>
              </p:nvSpPr>
              <p:spPr>
                <a:xfrm>
                  <a:off x="5866320"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50" name="Google Shape;2056;p123">
                  <a:extLst>
                    <a:ext uri="{FF2B5EF4-FFF2-40B4-BE49-F238E27FC236}">
                      <a16:creationId xmlns:a16="http://schemas.microsoft.com/office/drawing/2014/main" id="{CD5FFD02-E588-177F-B193-FBF7DE253DF8}"/>
                    </a:ext>
                  </a:extLst>
                </p:cNvPr>
                <p:cNvSpPr/>
                <p:nvPr/>
              </p:nvSpPr>
              <p:spPr>
                <a:xfrm>
                  <a:off x="5822219"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51" name="Google Shape;2057;p123">
                  <a:extLst>
                    <a:ext uri="{FF2B5EF4-FFF2-40B4-BE49-F238E27FC236}">
                      <a16:creationId xmlns:a16="http://schemas.microsoft.com/office/drawing/2014/main" id="{D828D19C-01DF-21BB-A01E-B69C803C2628}"/>
                    </a:ext>
                  </a:extLst>
                </p:cNvPr>
                <p:cNvGrpSpPr/>
                <p:nvPr/>
              </p:nvGrpSpPr>
              <p:grpSpPr>
                <a:xfrm>
                  <a:off x="6073965" y="4130892"/>
                  <a:ext cx="201358" cy="1683352"/>
                  <a:chOff x="6073965" y="4130892"/>
                  <a:chExt cx="201358" cy="1683352"/>
                </a:xfrm>
              </p:grpSpPr>
              <p:sp>
                <p:nvSpPr>
                  <p:cNvPr id="52" name="Google Shape;2058;p123">
                    <a:extLst>
                      <a:ext uri="{FF2B5EF4-FFF2-40B4-BE49-F238E27FC236}">
                        <a16:creationId xmlns:a16="http://schemas.microsoft.com/office/drawing/2014/main" id="{A7F456E1-CAD1-51D5-212A-E7455174D2C7}"/>
                      </a:ext>
                    </a:extLst>
                  </p:cNvPr>
                  <p:cNvSpPr/>
                  <p:nvPr/>
                </p:nvSpPr>
                <p:spPr>
                  <a:xfrm>
                    <a:off x="6073965"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53" name="Google Shape;2059;p123">
                    <a:extLst>
                      <a:ext uri="{FF2B5EF4-FFF2-40B4-BE49-F238E27FC236}">
                        <a16:creationId xmlns:a16="http://schemas.microsoft.com/office/drawing/2014/main" id="{D71CB6DB-538A-8062-076F-96B6E33B65AC}"/>
                      </a:ext>
                    </a:extLst>
                  </p:cNvPr>
                  <p:cNvSpPr/>
                  <p:nvPr/>
                </p:nvSpPr>
                <p:spPr>
                  <a:xfrm>
                    <a:off x="6073965"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54" name="Google Shape;2060;p123">
                    <a:extLst>
                      <a:ext uri="{FF2B5EF4-FFF2-40B4-BE49-F238E27FC236}">
                        <a16:creationId xmlns:a16="http://schemas.microsoft.com/office/drawing/2014/main" id="{0B6EC1C5-6DFE-7A6B-615E-CF04C422DFB3}"/>
                      </a:ext>
                    </a:extLst>
                  </p:cNvPr>
                  <p:cNvSpPr/>
                  <p:nvPr/>
                </p:nvSpPr>
                <p:spPr>
                  <a:xfrm>
                    <a:off x="6073965"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grpSp>
          <p:nvGrpSpPr>
            <p:cNvPr id="15" name="Google Shape;2061;p123">
              <a:extLst>
                <a:ext uri="{FF2B5EF4-FFF2-40B4-BE49-F238E27FC236}">
                  <a16:creationId xmlns:a16="http://schemas.microsoft.com/office/drawing/2014/main" id="{B02383B1-8E98-A16C-F669-3205CC6B96F2}"/>
                </a:ext>
              </a:extLst>
            </p:cNvPr>
            <p:cNvGrpSpPr/>
            <p:nvPr/>
          </p:nvGrpSpPr>
          <p:grpSpPr>
            <a:xfrm>
              <a:off x="3995803" y="1979191"/>
              <a:ext cx="732871" cy="715243"/>
              <a:chOff x="3040750" y="2725962"/>
              <a:chExt cx="1090095" cy="1063875"/>
            </a:xfrm>
          </p:grpSpPr>
          <p:sp>
            <p:nvSpPr>
              <p:cNvPr id="31" name="Google Shape;2062;p123">
                <a:extLst>
                  <a:ext uri="{FF2B5EF4-FFF2-40B4-BE49-F238E27FC236}">
                    <a16:creationId xmlns:a16="http://schemas.microsoft.com/office/drawing/2014/main" id="{0D0CE2C9-7DD9-4737-4F49-9267C7A5DF87}"/>
                  </a:ext>
                </a:extLst>
              </p:cNvPr>
              <p:cNvSpPr/>
              <p:nvPr/>
            </p:nvSpPr>
            <p:spPr>
              <a:xfrm>
                <a:off x="3067033" y="3718815"/>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2" name="Google Shape;2063;p123">
                <a:extLst>
                  <a:ext uri="{FF2B5EF4-FFF2-40B4-BE49-F238E27FC236}">
                    <a16:creationId xmlns:a16="http://schemas.microsoft.com/office/drawing/2014/main" id="{5FF3EFD5-2386-F11E-52A2-06885CB83BE9}"/>
                  </a:ext>
                </a:extLst>
              </p:cNvPr>
              <p:cNvSpPr/>
              <p:nvPr/>
            </p:nvSpPr>
            <p:spPr>
              <a:xfrm>
                <a:off x="3040750" y="357543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3" name="Google Shape;2064;p123">
                <a:extLst>
                  <a:ext uri="{FF2B5EF4-FFF2-40B4-BE49-F238E27FC236}">
                    <a16:creationId xmlns:a16="http://schemas.microsoft.com/office/drawing/2014/main" id="{9CFA0ED6-9E37-902E-BF2B-E69CF362C1BF}"/>
                  </a:ext>
                </a:extLst>
              </p:cNvPr>
              <p:cNvSpPr/>
              <p:nvPr/>
            </p:nvSpPr>
            <p:spPr>
              <a:xfrm>
                <a:off x="3177322" y="360846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4" name="Google Shape;2065;p123">
                <a:extLst>
                  <a:ext uri="{FF2B5EF4-FFF2-40B4-BE49-F238E27FC236}">
                    <a16:creationId xmlns:a16="http://schemas.microsoft.com/office/drawing/2014/main" id="{EA0A4CE5-C3D1-046B-7EEF-72C4615CFAE2}"/>
                  </a:ext>
                </a:extLst>
              </p:cNvPr>
              <p:cNvSpPr/>
              <p:nvPr/>
            </p:nvSpPr>
            <p:spPr>
              <a:xfrm>
                <a:off x="3287611" y="349817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5" name="Google Shape;2066;p123">
                <a:extLst>
                  <a:ext uri="{FF2B5EF4-FFF2-40B4-BE49-F238E27FC236}">
                    <a16:creationId xmlns:a16="http://schemas.microsoft.com/office/drawing/2014/main" id="{275F0C6F-C287-C705-707F-F0EE55E8BE56}"/>
                  </a:ext>
                </a:extLst>
              </p:cNvPr>
              <p:cNvSpPr/>
              <p:nvPr/>
            </p:nvSpPr>
            <p:spPr>
              <a:xfrm>
                <a:off x="3431184" y="3515866"/>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6" name="Google Shape;2067;p123">
                <a:extLst>
                  <a:ext uri="{FF2B5EF4-FFF2-40B4-BE49-F238E27FC236}">
                    <a16:creationId xmlns:a16="http://schemas.microsoft.com/office/drawing/2014/main" id="{DBAF3350-07ED-44A5-705E-0C88C2DA6156}"/>
                  </a:ext>
                </a:extLst>
              </p:cNvPr>
              <p:cNvSpPr/>
              <p:nvPr/>
            </p:nvSpPr>
            <p:spPr>
              <a:xfrm>
                <a:off x="3397963" y="3387885"/>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7" name="Google Shape;2068;p123">
                <a:extLst>
                  <a:ext uri="{FF2B5EF4-FFF2-40B4-BE49-F238E27FC236}">
                    <a16:creationId xmlns:a16="http://schemas.microsoft.com/office/drawing/2014/main" id="{1A8CA11D-0A27-9F20-A9A8-B824AD337717}"/>
                  </a:ext>
                </a:extLst>
              </p:cNvPr>
              <p:cNvSpPr/>
              <p:nvPr/>
            </p:nvSpPr>
            <p:spPr>
              <a:xfrm>
                <a:off x="3508252" y="327753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8" name="Google Shape;2069;p123">
                <a:extLst>
                  <a:ext uri="{FF2B5EF4-FFF2-40B4-BE49-F238E27FC236}">
                    <a16:creationId xmlns:a16="http://schemas.microsoft.com/office/drawing/2014/main" id="{BF731B7A-CBB6-2E24-C896-E5D93AE21A06}"/>
                  </a:ext>
                </a:extLst>
              </p:cNvPr>
              <p:cNvSpPr/>
              <p:nvPr/>
            </p:nvSpPr>
            <p:spPr>
              <a:xfrm>
                <a:off x="3618604" y="316724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9" name="Google Shape;2070;p123">
                <a:extLst>
                  <a:ext uri="{FF2B5EF4-FFF2-40B4-BE49-F238E27FC236}">
                    <a16:creationId xmlns:a16="http://schemas.microsoft.com/office/drawing/2014/main" id="{0E3BF62E-AF51-7F56-6F8E-18ACA592095E}"/>
                  </a:ext>
                </a:extLst>
              </p:cNvPr>
              <p:cNvSpPr/>
              <p:nvPr/>
            </p:nvSpPr>
            <p:spPr>
              <a:xfrm>
                <a:off x="3460013" y="314293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0" name="Google Shape;2071;p123">
                <a:extLst>
                  <a:ext uri="{FF2B5EF4-FFF2-40B4-BE49-F238E27FC236}">
                    <a16:creationId xmlns:a16="http://schemas.microsoft.com/office/drawing/2014/main" id="{61750C0A-EA96-AC7A-F4AC-EB084BD1F0D1}"/>
                  </a:ext>
                </a:extLst>
              </p:cNvPr>
              <p:cNvSpPr/>
              <p:nvPr/>
            </p:nvSpPr>
            <p:spPr>
              <a:xfrm>
                <a:off x="3728893" y="305689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1" name="Google Shape;2072;p123">
                <a:extLst>
                  <a:ext uri="{FF2B5EF4-FFF2-40B4-BE49-F238E27FC236}">
                    <a16:creationId xmlns:a16="http://schemas.microsoft.com/office/drawing/2014/main" id="{743B2422-95CC-9D28-6BE2-444571EB36FA}"/>
                  </a:ext>
                </a:extLst>
              </p:cNvPr>
              <p:cNvSpPr/>
              <p:nvPr/>
            </p:nvSpPr>
            <p:spPr>
              <a:xfrm>
                <a:off x="3839182" y="294660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2" name="Google Shape;2073;p123">
                <a:extLst>
                  <a:ext uri="{FF2B5EF4-FFF2-40B4-BE49-F238E27FC236}">
                    <a16:creationId xmlns:a16="http://schemas.microsoft.com/office/drawing/2014/main" id="{FBA954DC-1CD2-5154-0359-2C97FBC128BF}"/>
                  </a:ext>
                </a:extLst>
              </p:cNvPr>
              <p:cNvSpPr/>
              <p:nvPr/>
            </p:nvSpPr>
            <p:spPr>
              <a:xfrm>
                <a:off x="3857065" y="307674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3" name="Google Shape;2074;p123">
                <a:extLst>
                  <a:ext uri="{FF2B5EF4-FFF2-40B4-BE49-F238E27FC236}">
                    <a16:creationId xmlns:a16="http://schemas.microsoft.com/office/drawing/2014/main" id="{440FA9F9-388A-993F-AB43-D3A1B72372C1}"/>
                  </a:ext>
                </a:extLst>
              </p:cNvPr>
              <p:cNvSpPr/>
              <p:nvPr/>
            </p:nvSpPr>
            <p:spPr>
              <a:xfrm>
                <a:off x="3949534" y="283631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4" name="Google Shape;2075;p123">
                <a:extLst>
                  <a:ext uri="{FF2B5EF4-FFF2-40B4-BE49-F238E27FC236}">
                    <a16:creationId xmlns:a16="http://schemas.microsoft.com/office/drawing/2014/main" id="{51DDEFA1-337B-12B8-94E7-148254A9FA5D}"/>
                  </a:ext>
                </a:extLst>
              </p:cNvPr>
              <p:cNvSpPr/>
              <p:nvPr/>
            </p:nvSpPr>
            <p:spPr>
              <a:xfrm>
                <a:off x="3969517" y="295105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5" name="Google Shape;2076;p123">
                <a:extLst>
                  <a:ext uri="{FF2B5EF4-FFF2-40B4-BE49-F238E27FC236}">
                    <a16:creationId xmlns:a16="http://schemas.microsoft.com/office/drawing/2014/main" id="{AD9BDE29-8032-166A-7F8C-D0C8691DEF42}"/>
                  </a:ext>
                </a:extLst>
              </p:cNvPr>
              <p:cNvSpPr/>
              <p:nvPr/>
            </p:nvSpPr>
            <p:spPr>
              <a:xfrm>
                <a:off x="4059823" y="272596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6" name="Google Shape;2077;p123">
              <a:extLst>
                <a:ext uri="{FF2B5EF4-FFF2-40B4-BE49-F238E27FC236}">
                  <a16:creationId xmlns:a16="http://schemas.microsoft.com/office/drawing/2014/main" id="{87F20B83-840F-1309-2472-32DAC501E620}"/>
                </a:ext>
              </a:extLst>
            </p:cNvPr>
            <p:cNvGrpSpPr/>
            <p:nvPr/>
          </p:nvGrpSpPr>
          <p:grpSpPr>
            <a:xfrm>
              <a:off x="3427687" y="1978768"/>
              <a:ext cx="646059" cy="652776"/>
              <a:chOff x="2251864" y="2357930"/>
              <a:chExt cx="960969" cy="970960"/>
            </a:xfrm>
          </p:grpSpPr>
          <p:sp>
            <p:nvSpPr>
              <p:cNvPr id="17" name="Google Shape;2078;p123">
                <a:extLst>
                  <a:ext uri="{FF2B5EF4-FFF2-40B4-BE49-F238E27FC236}">
                    <a16:creationId xmlns:a16="http://schemas.microsoft.com/office/drawing/2014/main" id="{095BE938-8258-5587-6190-C99144014924}"/>
                  </a:ext>
                </a:extLst>
              </p:cNvPr>
              <p:cNvSpPr/>
              <p:nvPr/>
            </p:nvSpPr>
            <p:spPr>
              <a:xfrm>
                <a:off x="2251864" y="325786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8" name="Google Shape;2079;p123">
                <a:extLst>
                  <a:ext uri="{FF2B5EF4-FFF2-40B4-BE49-F238E27FC236}">
                    <a16:creationId xmlns:a16="http://schemas.microsoft.com/office/drawing/2014/main" id="{FBEAAC24-3D81-413D-5885-D62B625ED185}"/>
                  </a:ext>
                </a:extLst>
              </p:cNvPr>
              <p:cNvSpPr/>
              <p:nvPr/>
            </p:nvSpPr>
            <p:spPr>
              <a:xfrm>
                <a:off x="2363108" y="314662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 name="Google Shape;2080;p123">
                <a:extLst>
                  <a:ext uri="{FF2B5EF4-FFF2-40B4-BE49-F238E27FC236}">
                    <a16:creationId xmlns:a16="http://schemas.microsoft.com/office/drawing/2014/main" id="{CE98ACCD-D9CD-84F2-F7A0-45F4ED63056D}"/>
                  </a:ext>
                </a:extLst>
              </p:cNvPr>
              <p:cNvSpPr/>
              <p:nvPr/>
            </p:nvSpPr>
            <p:spPr>
              <a:xfrm>
                <a:off x="2504771" y="3165144"/>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0" name="Google Shape;2081;p123">
                <a:extLst>
                  <a:ext uri="{FF2B5EF4-FFF2-40B4-BE49-F238E27FC236}">
                    <a16:creationId xmlns:a16="http://schemas.microsoft.com/office/drawing/2014/main" id="{15B38AB8-7D86-2846-3F53-83A4509DA171}"/>
                  </a:ext>
                </a:extLst>
              </p:cNvPr>
              <p:cNvSpPr/>
              <p:nvPr/>
            </p:nvSpPr>
            <p:spPr>
              <a:xfrm>
                <a:off x="2474351" y="3035381"/>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 name="Google Shape;2082;p123">
                <a:extLst>
                  <a:ext uri="{FF2B5EF4-FFF2-40B4-BE49-F238E27FC236}">
                    <a16:creationId xmlns:a16="http://schemas.microsoft.com/office/drawing/2014/main" id="{66F5D839-8432-1635-42D3-0852389D28FD}"/>
                  </a:ext>
                </a:extLst>
              </p:cNvPr>
              <p:cNvSpPr/>
              <p:nvPr/>
            </p:nvSpPr>
            <p:spPr>
              <a:xfrm>
                <a:off x="2585594" y="292413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 name="Google Shape;2083;p123">
                <a:extLst>
                  <a:ext uri="{FF2B5EF4-FFF2-40B4-BE49-F238E27FC236}">
                    <a16:creationId xmlns:a16="http://schemas.microsoft.com/office/drawing/2014/main" id="{40362BE2-2CE5-BE72-D5CE-1CA032D62313}"/>
                  </a:ext>
                </a:extLst>
              </p:cNvPr>
              <p:cNvSpPr/>
              <p:nvPr/>
            </p:nvSpPr>
            <p:spPr>
              <a:xfrm>
                <a:off x="2618687" y="3043209"/>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 name="Google Shape;2084;p123">
                <a:extLst>
                  <a:ext uri="{FF2B5EF4-FFF2-40B4-BE49-F238E27FC236}">
                    <a16:creationId xmlns:a16="http://schemas.microsoft.com/office/drawing/2014/main" id="{EABCEAA5-B3BD-A683-5C2A-DCD7E7B28C90}"/>
                  </a:ext>
                </a:extLst>
              </p:cNvPr>
              <p:cNvSpPr/>
              <p:nvPr/>
            </p:nvSpPr>
            <p:spPr>
              <a:xfrm>
                <a:off x="2696838" y="281289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4" name="Google Shape;2085;p123">
                <a:extLst>
                  <a:ext uri="{FF2B5EF4-FFF2-40B4-BE49-F238E27FC236}">
                    <a16:creationId xmlns:a16="http://schemas.microsoft.com/office/drawing/2014/main" id="{BBE51CAF-A38B-5030-FF4F-1EB99A94274C}"/>
                  </a:ext>
                </a:extLst>
              </p:cNvPr>
              <p:cNvSpPr/>
              <p:nvPr/>
            </p:nvSpPr>
            <p:spPr>
              <a:xfrm>
                <a:off x="2670236" y="268211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5" name="Google Shape;2086;p123">
                <a:extLst>
                  <a:ext uri="{FF2B5EF4-FFF2-40B4-BE49-F238E27FC236}">
                    <a16:creationId xmlns:a16="http://schemas.microsoft.com/office/drawing/2014/main" id="{1F4D99DD-1219-3FBE-CD8B-4466BFDCE37D}"/>
                  </a:ext>
                </a:extLst>
              </p:cNvPr>
              <p:cNvSpPr/>
              <p:nvPr/>
            </p:nvSpPr>
            <p:spPr>
              <a:xfrm>
                <a:off x="2808081" y="270165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6" name="Google Shape;2087;p123">
                <a:extLst>
                  <a:ext uri="{FF2B5EF4-FFF2-40B4-BE49-F238E27FC236}">
                    <a16:creationId xmlns:a16="http://schemas.microsoft.com/office/drawing/2014/main" id="{3D6554AA-5B8C-B561-5935-7E08FE2AD780}"/>
                  </a:ext>
                </a:extLst>
              </p:cNvPr>
              <p:cNvSpPr/>
              <p:nvPr/>
            </p:nvSpPr>
            <p:spPr>
              <a:xfrm>
                <a:off x="2919324" y="259040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7" name="Google Shape;2088;p123">
                <a:extLst>
                  <a:ext uri="{FF2B5EF4-FFF2-40B4-BE49-F238E27FC236}">
                    <a16:creationId xmlns:a16="http://schemas.microsoft.com/office/drawing/2014/main" id="{F7159033-E66B-361B-BA55-2AA073435A3F}"/>
                  </a:ext>
                </a:extLst>
              </p:cNvPr>
              <p:cNvSpPr/>
              <p:nvPr/>
            </p:nvSpPr>
            <p:spPr>
              <a:xfrm>
                <a:off x="3030568" y="247916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8" name="Google Shape;2089;p123">
                <a:extLst>
                  <a:ext uri="{FF2B5EF4-FFF2-40B4-BE49-F238E27FC236}">
                    <a16:creationId xmlns:a16="http://schemas.microsoft.com/office/drawing/2014/main" id="{659E05D4-1D55-D80F-03AE-D2767B375F2C}"/>
                  </a:ext>
                </a:extLst>
              </p:cNvPr>
              <p:cNvSpPr/>
              <p:nvPr/>
            </p:nvSpPr>
            <p:spPr>
              <a:xfrm>
                <a:off x="3063024" y="260695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9" name="Google Shape;2090;p123">
                <a:extLst>
                  <a:ext uri="{FF2B5EF4-FFF2-40B4-BE49-F238E27FC236}">
                    <a16:creationId xmlns:a16="http://schemas.microsoft.com/office/drawing/2014/main" id="{6741F972-1123-7A82-0FD5-D18D10BE0CC7}"/>
                  </a:ext>
                </a:extLst>
              </p:cNvPr>
              <p:cNvSpPr/>
              <p:nvPr/>
            </p:nvSpPr>
            <p:spPr>
              <a:xfrm>
                <a:off x="3141811" y="236792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0" name="Google Shape;2091;p123">
                <a:extLst>
                  <a:ext uri="{FF2B5EF4-FFF2-40B4-BE49-F238E27FC236}">
                    <a16:creationId xmlns:a16="http://schemas.microsoft.com/office/drawing/2014/main" id="{134010DE-6B1E-8AA7-A7A8-AF41CD8D65F1}"/>
                  </a:ext>
                </a:extLst>
              </p:cNvPr>
              <p:cNvSpPr/>
              <p:nvPr/>
            </p:nvSpPr>
            <p:spPr>
              <a:xfrm>
                <a:off x="2996838" y="2357930"/>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sp>
        <p:nvSpPr>
          <p:cNvPr id="71" name="Google Shape;2092;p123">
            <a:extLst>
              <a:ext uri="{FF2B5EF4-FFF2-40B4-BE49-F238E27FC236}">
                <a16:creationId xmlns:a16="http://schemas.microsoft.com/office/drawing/2014/main" id="{394147E4-30D2-8F12-B6DF-8C5302AB1175}"/>
              </a:ext>
            </a:extLst>
          </p:cNvPr>
          <p:cNvSpPr txBox="1"/>
          <p:nvPr/>
        </p:nvSpPr>
        <p:spPr>
          <a:xfrm>
            <a:off x="2874701" y="3531192"/>
            <a:ext cx="2269409" cy="609206"/>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dirty="0"/>
              <a:t>Build and Operate</a:t>
            </a:r>
            <a:r>
              <a:rPr lang="en" sz="1733" dirty="0"/>
              <a:t> </a:t>
            </a:r>
            <a:r>
              <a:rPr lang="en" sz="1333" dirty="0">
                <a:solidFill>
                  <a:schemeClr val="dk1"/>
                </a:solidFill>
                <a:latin typeface="Arial"/>
                <a:ea typeface="Arial"/>
                <a:cs typeface="Arial"/>
                <a:sym typeface="Arial"/>
              </a:rPr>
              <a:t>private cloud infrastructure on-premises or at the edge</a:t>
            </a:r>
            <a:endParaRPr sz="1333" dirty="0">
              <a:solidFill>
                <a:schemeClr val="dk1"/>
              </a:solidFill>
              <a:latin typeface="Arial"/>
              <a:ea typeface="Arial"/>
              <a:cs typeface="Arial"/>
              <a:sym typeface="Arial"/>
            </a:endParaRPr>
          </a:p>
        </p:txBody>
      </p:sp>
      <p:sp>
        <p:nvSpPr>
          <p:cNvPr id="72" name="Google Shape;2093;p123">
            <a:extLst>
              <a:ext uri="{FF2B5EF4-FFF2-40B4-BE49-F238E27FC236}">
                <a16:creationId xmlns:a16="http://schemas.microsoft.com/office/drawing/2014/main" id="{15599DF6-4DA4-3D40-8F27-EA60DBA3BFB6}"/>
              </a:ext>
            </a:extLst>
          </p:cNvPr>
          <p:cNvSpPr/>
          <p:nvPr/>
        </p:nvSpPr>
        <p:spPr>
          <a:xfrm>
            <a:off x="1958764" y="4316516"/>
            <a:ext cx="3185170" cy="873772"/>
          </a:xfrm>
          <a:prstGeom prst="roundRect">
            <a:avLst>
              <a:gd name="adj" fmla="val 50000"/>
            </a:avLst>
          </a:prstGeom>
          <a:solidFill>
            <a:srgbClr val="F2F2F2"/>
          </a:solidFill>
          <a:ln w="25400" cap="flat" cmpd="sng">
            <a:solidFill>
              <a:schemeClr val="accent5"/>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73" name="Google Shape;2094;p123">
            <a:extLst>
              <a:ext uri="{FF2B5EF4-FFF2-40B4-BE49-F238E27FC236}">
                <a16:creationId xmlns:a16="http://schemas.microsoft.com/office/drawing/2014/main" id="{B4EBE7FE-C22E-7E63-D5DB-EFA8D247EA23}"/>
              </a:ext>
            </a:extLst>
          </p:cNvPr>
          <p:cNvSpPr/>
          <p:nvPr/>
        </p:nvSpPr>
        <p:spPr>
          <a:xfrm>
            <a:off x="2044699" y="5269583"/>
            <a:ext cx="3185170" cy="873772"/>
          </a:xfrm>
          <a:prstGeom prst="roundRect">
            <a:avLst>
              <a:gd name="adj" fmla="val 50000"/>
            </a:avLst>
          </a:prstGeom>
          <a:solidFill>
            <a:srgbClr val="F2F2F2"/>
          </a:solidFill>
          <a:ln w="25400" cap="flat" cmpd="sng">
            <a:solidFill>
              <a:schemeClr val="accent5"/>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74" name="Google Shape;2095;p123">
            <a:extLst>
              <a:ext uri="{FF2B5EF4-FFF2-40B4-BE49-F238E27FC236}">
                <a16:creationId xmlns:a16="http://schemas.microsoft.com/office/drawing/2014/main" id="{2648248F-C999-DB7D-759B-9781C728ACE8}"/>
              </a:ext>
            </a:extLst>
          </p:cNvPr>
          <p:cNvSpPr txBox="1"/>
          <p:nvPr/>
        </p:nvSpPr>
        <p:spPr>
          <a:xfrm>
            <a:off x="2874711" y="4491497"/>
            <a:ext cx="1980684" cy="553806"/>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dirty="0">
                <a:solidFill>
                  <a:schemeClr val="dk2"/>
                </a:solidFill>
              </a:rPr>
              <a:t>Implement a</a:t>
            </a:r>
            <a:r>
              <a:rPr lang="en" sz="1333" dirty="0">
                <a:solidFill>
                  <a:schemeClr val="dk2"/>
                </a:solidFill>
                <a:latin typeface="Arial"/>
                <a:ea typeface="Arial"/>
                <a:cs typeface="Arial"/>
                <a:sym typeface="Arial"/>
              </a:rPr>
              <a:t>utomat</a:t>
            </a:r>
            <a:r>
              <a:rPr lang="en" sz="1333" dirty="0">
                <a:solidFill>
                  <a:schemeClr val="dk2"/>
                </a:solidFill>
              </a:rPr>
              <a:t>ed</a:t>
            </a:r>
            <a:r>
              <a:rPr lang="en" sz="1333" dirty="0">
                <a:solidFill>
                  <a:schemeClr val="dk2"/>
                </a:solidFill>
                <a:latin typeface="Arial"/>
                <a:ea typeface="Arial"/>
                <a:cs typeface="Arial"/>
                <a:sym typeface="Arial"/>
              </a:rPr>
              <a:t> </a:t>
            </a:r>
            <a:r>
              <a:rPr lang="en" sz="1333" dirty="0">
                <a:solidFill>
                  <a:schemeClr val="dk2"/>
                </a:solidFill>
              </a:rPr>
              <a:t>i</a:t>
            </a:r>
            <a:r>
              <a:rPr lang="en" sz="1333" dirty="0">
                <a:solidFill>
                  <a:schemeClr val="dk2"/>
                </a:solidFill>
                <a:latin typeface="Arial"/>
                <a:ea typeface="Arial"/>
                <a:cs typeface="Arial"/>
                <a:sym typeface="Arial"/>
              </a:rPr>
              <a:t>nfrastructure to </a:t>
            </a:r>
            <a:r>
              <a:rPr lang="en" sz="1333" dirty="0">
                <a:solidFill>
                  <a:schemeClr val="dk2"/>
                </a:solidFill>
              </a:rPr>
              <a:t>deliver</a:t>
            </a:r>
            <a:r>
              <a:rPr lang="en" sz="1333" dirty="0">
                <a:solidFill>
                  <a:schemeClr val="dk2"/>
                </a:solidFill>
                <a:latin typeface="Arial"/>
                <a:ea typeface="Arial"/>
                <a:cs typeface="Arial"/>
                <a:sym typeface="Arial"/>
              </a:rPr>
              <a:t> IaaS </a:t>
            </a:r>
            <a:endParaRPr sz="1333" dirty="0">
              <a:solidFill>
                <a:srgbClr val="000000"/>
              </a:solidFill>
              <a:latin typeface="Arial"/>
              <a:ea typeface="Arial"/>
              <a:cs typeface="Arial"/>
              <a:sym typeface="Arial"/>
            </a:endParaRPr>
          </a:p>
        </p:txBody>
      </p:sp>
      <p:sp>
        <p:nvSpPr>
          <p:cNvPr id="75" name="Google Shape;2096;p123">
            <a:extLst>
              <a:ext uri="{FF2B5EF4-FFF2-40B4-BE49-F238E27FC236}">
                <a16:creationId xmlns:a16="http://schemas.microsoft.com/office/drawing/2014/main" id="{47BA719A-7CF7-DC17-2FD9-2F5D43EF512B}"/>
              </a:ext>
            </a:extLst>
          </p:cNvPr>
          <p:cNvSpPr txBox="1"/>
          <p:nvPr/>
        </p:nvSpPr>
        <p:spPr>
          <a:xfrm>
            <a:off x="2902742" y="5512679"/>
            <a:ext cx="1913502" cy="369204"/>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dirty="0">
                <a:solidFill>
                  <a:schemeClr val="dk2"/>
                </a:solidFill>
                <a:latin typeface="Arial"/>
                <a:ea typeface="Arial"/>
                <a:cs typeface="Arial"/>
                <a:sym typeface="Arial"/>
              </a:rPr>
              <a:t>Extend data center to the cloud</a:t>
            </a:r>
            <a:endParaRPr sz="1333" dirty="0">
              <a:solidFill>
                <a:srgbClr val="000000"/>
              </a:solidFill>
              <a:latin typeface="Arial"/>
              <a:ea typeface="Arial"/>
              <a:cs typeface="Arial"/>
              <a:sym typeface="Arial"/>
            </a:endParaRPr>
          </a:p>
        </p:txBody>
      </p:sp>
      <p:sp>
        <p:nvSpPr>
          <p:cNvPr id="76" name="Google Shape;2097;p123">
            <a:extLst>
              <a:ext uri="{FF2B5EF4-FFF2-40B4-BE49-F238E27FC236}">
                <a16:creationId xmlns:a16="http://schemas.microsoft.com/office/drawing/2014/main" id="{416F97EF-33FA-69F0-B2C0-11E77C10BA39}"/>
              </a:ext>
            </a:extLst>
          </p:cNvPr>
          <p:cNvSpPr/>
          <p:nvPr/>
        </p:nvSpPr>
        <p:spPr>
          <a:xfrm>
            <a:off x="5316224" y="3379802"/>
            <a:ext cx="3185170" cy="873772"/>
          </a:xfrm>
          <a:prstGeom prst="roundRect">
            <a:avLst>
              <a:gd name="adj" fmla="val 50000"/>
            </a:avLst>
          </a:prstGeom>
          <a:solidFill>
            <a:srgbClr val="F2F2F2"/>
          </a:solidFill>
          <a:ln w="25400" cap="flat" cmpd="sng">
            <a:solidFill>
              <a:schemeClr val="accent3"/>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77" name="Google Shape;2098;p123">
            <a:extLst>
              <a:ext uri="{FF2B5EF4-FFF2-40B4-BE49-F238E27FC236}">
                <a16:creationId xmlns:a16="http://schemas.microsoft.com/office/drawing/2014/main" id="{4CBDED23-FF24-CF52-7D30-839B0330806A}"/>
              </a:ext>
            </a:extLst>
          </p:cNvPr>
          <p:cNvSpPr/>
          <p:nvPr/>
        </p:nvSpPr>
        <p:spPr>
          <a:xfrm>
            <a:off x="5316224" y="4324694"/>
            <a:ext cx="3185170" cy="873772"/>
          </a:xfrm>
          <a:prstGeom prst="roundRect">
            <a:avLst>
              <a:gd name="adj" fmla="val 50000"/>
            </a:avLst>
          </a:prstGeom>
          <a:solidFill>
            <a:srgbClr val="F2F2F2"/>
          </a:solidFill>
          <a:ln w="25400" cap="flat" cmpd="sng">
            <a:solidFill>
              <a:schemeClr val="accent3"/>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78" name="Google Shape;2099;p123">
            <a:extLst>
              <a:ext uri="{FF2B5EF4-FFF2-40B4-BE49-F238E27FC236}">
                <a16:creationId xmlns:a16="http://schemas.microsoft.com/office/drawing/2014/main" id="{6202FD03-F2FC-6150-7C97-1AF36BE1E140}"/>
              </a:ext>
            </a:extLst>
          </p:cNvPr>
          <p:cNvSpPr/>
          <p:nvPr/>
        </p:nvSpPr>
        <p:spPr>
          <a:xfrm>
            <a:off x="5316224" y="5269583"/>
            <a:ext cx="3185170" cy="873772"/>
          </a:xfrm>
          <a:prstGeom prst="roundRect">
            <a:avLst>
              <a:gd name="adj" fmla="val 50000"/>
            </a:avLst>
          </a:prstGeom>
          <a:solidFill>
            <a:srgbClr val="F2F2F2"/>
          </a:solidFill>
          <a:ln w="25400" cap="flat" cmpd="sng">
            <a:solidFill>
              <a:schemeClr val="accent3"/>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79" name="Google Shape;2100;p123">
            <a:extLst>
              <a:ext uri="{FF2B5EF4-FFF2-40B4-BE49-F238E27FC236}">
                <a16:creationId xmlns:a16="http://schemas.microsoft.com/office/drawing/2014/main" id="{2259F1DC-9C8B-7D1B-1A33-3D0344384974}"/>
              </a:ext>
            </a:extLst>
          </p:cNvPr>
          <p:cNvSpPr/>
          <p:nvPr/>
        </p:nvSpPr>
        <p:spPr>
          <a:xfrm>
            <a:off x="8587748" y="3379802"/>
            <a:ext cx="3185170" cy="873772"/>
          </a:xfrm>
          <a:prstGeom prst="roundRect">
            <a:avLst>
              <a:gd name="adj" fmla="val 50000"/>
            </a:avLst>
          </a:prstGeom>
          <a:solidFill>
            <a:srgbClr val="F2F2F2"/>
          </a:solidFill>
          <a:ln w="25400" cap="flat" cmpd="sng">
            <a:solidFill>
              <a:schemeClr val="accent4"/>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80" name="Google Shape;2101;p123">
            <a:extLst>
              <a:ext uri="{FF2B5EF4-FFF2-40B4-BE49-F238E27FC236}">
                <a16:creationId xmlns:a16="http://schemas.microsoft.com/office/drawing/2014/main" id="{D3216254-DB34-62B9-CF63-419AA08FE568}"/>
              </a:ext>
            </a:extLst>
          </p:cNvPr>
          <p:cNvSpPr/>
          <p:nvPr/>
        </p:nvSpPr>
        <p:spPr>
          <a:xfrm>
            <a:off x="8587748" y="4324694"/>
            <a:ext cx="3185170" cy="873772"/>
          </a:xfrm>
          <a:prstGeom prst="roundRect">
            <a:avLst>
              <a:gd name="adj" fmla="val 50000"/>
            </a:avLst>
          </a:prstGeom>
          <a:solidFill>
            <a:srgbClr val="F2F2F2"/>
          </a:solidFill>
          <a:ln w="25400" cap="flat" cmpd="sng">
            <a:solidFill>
              <a:schemeClr val="accent4"/>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81" name="Google Shape;2102;p123">
            <a:extLst>
              <a:ext uri="{FF2B5EF4-FFF2-40B4-BE49-F238E27FC236}">
                <a16:creationId xmlns:a16="http://schemas.microsoft.com/office/drawing/2014/main" id="{1F7EB9AD-6E1C-E406-322C-6EB45E9CBC13}"/>
              </a:ext>
            </a:extLst>
          </p:cNvPr>
          <p:cNvSpPr/>
          <p:nvPr/>
        </p:nvSpPr>
        <p:spPr>
          <a:xfrm>
            <a:off x="8587748" y="5269583"/>
            <a:ext cx="3185170" cy="873772"/>
          </a:xfrm>
          <a:prstGeom prst="roundRect">
            <a:avLst>
              <a:gd name="adj" fmla="val 50000"/>
            </a:avLst>
          </a:prstGeom>
          <a:solidFill>
            <a:srgbClr val="F2F2F2"/>
          </a:solidFill>
          <a:ln w="25400" cap="flat" cmpd="sng">
            <a:solidFill>
              <a:schemeClr val="accent4"/>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82" name="Google Shape;2103;p123">
            <a:extLst>
              <a:ext uri="{FF2B5EF4-FFF2-40B4-BE49-F238E27FC236}">
                <a16:creationId xmlns:a16="http://schemas.microsoft.com/office/drawing/2014/main" id="{DA835872-6213-8D7A-142A-BE1FFC1C9B16}"/>
              </a:ext>
            </a:extLst>
          </p:cNvPr>
          <p:cNvSpPr txBox="1"/>
          <p:nvPr/>
        </p:nvSpPr>
        <p:spPr>
          <a:xfrm>
            <a:off x="5993485" y="2751163"/>
            <a:ext cx="1830723" cy="443198"/>
          </a:xfrm>
          <a:prstGeom prst="rect">
            <a:avLst/>
          </a:prstGeom>
          <a:noFill/>
          <a:ln>
            <a:noFill/>
          </a:ln>
        </p:spPr>
        <p:txBody>
          <a:bodyPr spcFirstLastPara="1" wrap="square" lIns="0" tIns="0" rIns="0" bIns="0" anchor="t" anchorCtr="0">
            <a:spAutoFit/>
          </a:bodyPr>
          <a:lstStyle/>
          <a:p>
            <a:pPr algn="ctr">
              <a:lnSpc>
                <a:spcPct val="90000"/>
              </a:lnSpc>
              <a:buClr>
                <a:srgbClr val="000000"/>
              </a:buClr>
              <a:buSzPts val="1200"/>
            </a:pPr>
            <a:r>
              <a:rPr lang="en" sz="1600">
                <a:solidFill>
                  <a:schemeClr val="lt1"/>
                </a:solidFill>
                <a:latin typeface="Arial"/>
                <a:ea typeface="Arial"/>
                <a:cs typeface="Arial"/>
                <a:sym typeface="Arial"/>
              </a:rPr>
              <a:t>Unified Cloud Experience</a:t>
            </a:r>
            <a:endParaRPr sz="1466">
              <a:solidFill>
                <a:srgbClr val="000000"/>
              </a:solidFill>
              <a:latin typeface="Arial"/>
              <a:ea typeface="Arial"/>
              <a:cs typeface="Arial"/>
              <a:sym typeface="Arial"/>
            </a:endParaRPr>
          </a:p>
        </p:txBody>
      </p:sp>
      <p:sp>
        <p:nvSpPr>
          <p:cNvPr id="83" name="Google Shape;2104;p123">
            <a:extLst>
              <a:ext uri="{FF2B5EF4-FFF2-40B4-BE49-F238E27FC236}">
                <a16:creationId xmlns:a16="http://schemas.microsoft.com/office/drawing/2014/main" id="{EB03F1B6-989A-9AF0-B3A6-F4FFD07BFBC2}"/>
              </a:ext>
            </a:extLst>
          </p:cNvPr>
          <p:cNvSpPr txBox="1"/>
          <p:nvPr/>
        </p:nvSpPr>
        <p:spPr>
          <a:xfrm>
            <a:off x="6120531" y="3565691"/>
            <a:ext cx="2110650" cy="553806"/>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dirty="0">
                <a:solidFill>
                  <a:schemeClr val="dk1"/>
                </a:solidFill>
              </a:rPr>
              <a:t>Build, run and manage Kubernetes and other modern workloads</a:t>
            </a:r>
            <a:endParaRPr sz="1333" dirty="0">
              <a:solidFill>
                <a:schemeClr val="dk1"/>
              </a:solidFill>
              <a:latin typeface="Arial"/>
              <a:ea typeface="Arial"/>
              <a:cs typeface="Arial"/>
              <a:sym typeface="Arial"/>
            </a:endParaRPr>
          </a:p>
        </p:txBody>
      </p:sp>
      <p:sp>
        <p:nvSpPr>
          <p:cNvPr id="84" name="Google Shape;2105;p123">
            <a:extLst>
              <a:ext uri="{FF2B5EF4-FFF2-40B4-BE49-F238E27FC236}">
                <a16:creationId xmlns:a16="http://schemas.microsoft.com/office/drawing/2014/main" id="{53ADEB95-C5A8-8E71-E280-FE84D36AD5D8}"/>
              </a:ext>
            </a:extLst>
          </p:cNvPr>
          <p:cNvSpPr txBox="1"/>
          <p:nvPr/>
        </p:nvSpPr>
        <p:spPr>
          <a:xfrm>
            <a:off x="6142529" y="4567788"/>
            <a:ext cx="2110650" cy="369204"/>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dirty="0">
                <a:solidFill>
                  <a:schemeClr val="dk1"/>
                </a:solidFill>
                <a:latin typeface="Arial"/>
                <a:ea typeface="Arial"/>
                <a:cs typeface="Arial"/>
                <a:sym typeface="Arial"/>
              </a:rPr>
              <a:t>Bui</a:t>
            </a:r>
            <a:r>
              <a:rPr lang="en" sz="1333" dirty="0">
                <a:solidFill>
                  <a:schemeClr val="dk1"/>
                </a:solidFill>
              </a:rPr>
              <a:t>ld, run and manage </a:t>
            </a:r>
            <a:r>
              <a:rPr lang="en" sz="1333" dirty="0">
                <a:solidFill>
                  <a:schemeClr val="dk1"/>
                </a:solidFill>
                <a:latin typeface="Arial"/>
                <a:ea typeface="Arial"/>
                <a:cs typeface="Arial"/>
                <a:sym typeface="Arial"/>
              </a:rPr>
              <a:t>Private AI</a:t>
            </a:r>
            <a:endParaRPr sz="1333" dirty="0">
              <a:solidFill>
                <a:schemeClr val="dk1"/>
              </a:solidFill>
              <a:latin typeface="Arial"/>
              <a:ea typeface="Arial"/>
              <a:cs typeface="Arial"/>
              <a:sym typeface="Arial"/>
            </a:endParaRPr>
          </a:p>
        </p:txBody>
      </p:sp>
      <p:sp>
        <p:nvSpPr>
          <p:cNvPr id="85" name="Google Shape;2106;p123">
            <a:extLst>
              <a:ext uri="{FF2B5EF4-FFF2-40B4-BE49-F238E27FC236}">
                <a16:creationId xmlns:a16="http://schemas.microsoft.com/office/drawing/2014/main" id="{222A24A6-2977-D61E-70FA-7544EA1C0324}"/>
              </a:ext>
            </a:extLst>
          </p:cNvPr>
          <p:cNvSpPr txBox="1"/>
          <p:nvPr/>
        </p:nvSpPr>
        <p:spPr>
          <a:xfrm>
            <a:off x="6110483" y="5396214"/>
            <a:ext cx="2191429" cy="553806"/>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a:solidFill>
                  <a:schemeClr val="dk1"/>
                </a:solidFill>
                <a:latin typeface="Arial"/>
                <a:ea typeface="Arial"/>
                <a:cs typeface="Arial"/>
                <a:sym typeface="Arial"/>
              </a:rPr>
              <a:t>Run and manage traditional workloads (e.g. ERP, Database, </a:t>
            </a:r>
            <a:r>
              <a:rPr lang="en" sz="1333">
                <a:solidFill>
                  <a:schemeClr val="dk1"/>
                </a:solidFill>
              </a:rPr>
              <a:t>VDI)</a:t>
            </a:r>
            <a:r>
              <a:rPr lang="en" sz="1333">
                <a:solidFill>
                  <a:schemeClr val="dk1"/>
                </a:solidFill>
                <a:latin typeface="Arial"/>
                <a:ea typeface="Arial"/>
                <a:cs typeface="Arial"/>
                <a:sym typeface="Arial"/>
              </a:rPr>
              <a:t> </a:t>
            </a:r>
            <a:endParaRPr sz="1333" strike="sngStrike">
              <a:solidFill>
                <a:schemeClr val="dk1"/>
              </a:solidFill>
              <a:latin typeface="Arial"/>
              <a:ea typeface="Arial"/>
              <a:cs typeface="Arial"/>
              <a:sym typeface="Arial"/>
            </a:endParaRPr>
          </a:p>
        </p:txBody>
      </p:sp>
      <p:grpSp>
        <p:nvGrpSpPr>
          <p:cNvPr id="86" name="Google Shape;2107;p123">
            <a:extLst>
              <a:ext uri="{FF2B5EF4-FFF2-40B4-BE49-F238E27FC236}">
                <a16:creationId xmlns:a16="http://schemas.microsoft.com/office/drawing/2014/main" id="{E8C6A138-5DBF-C7F4-6804-A701D9D15EF2}"/>
              </a:ext>
            </a:extLst>
          </p:cNvPr>
          <p:cNvGrpSpPr/>
          <p:nvPr/>
        </p:nvGrpSpPr>
        <p:grpSpPr>
          <a:xfrm>
            <a:off x="6257054" y="1291313"/>
            <a:ext cx="1406188" cy="1301756"/>
            <a:chOff x="6219191" y="1265694"/>
            <a:chExt cx="1556382" cy="1441220"/>
          </a:xfrm>
        </p:grpSpPr>
        <p:pic>
          <p:nvPicPr>
            <p:cNvPr id="87" name="Google Shape;2108;p123">
              <a:extLst>
                <a:ext uri="{FF2B5EF4-FFF2-40B4-BE49-F238E27FC236}">
                  <a16:creationId xmlns:a16="http://schemas.microsoft.com/office/drawing/2014/main" id="{7FDBCBCA-8E68-23D7-16F9-1637C0ACA4A1}"/>
                </a:ext>
              </a:extLst>
            </p:cNvPr>
            <p:cNvPicPr preferRelativeResize="0"/>
            <p:nvPr/>
          </p:nvPicPr>
          <p:blipFill rotWithShape="1">
            <a:blip r:embed="rId3">
              <a:alphaModFix/>
            </a:blip>
            <a:srcRect/>
            <a:stretch/>
          </p:blipFill>
          <p:spPr>
            <a:xfrm>
              <a:off x="6552482" y="1265694"/>
              <a:ext cx="1223091" cy="479807"/>
            </a:xfrm>
            <a:prstGeom prst="rect">
              <a:avLst/>
            </a:prstGeom>
            <a:noFill/>
            <a:ln>
              <a:noFill/>
            </a:ln>
          </p:spPr>
        </p:pic>
        <p:grpSp>
          <p:nvGrpSpPr>
            <p:cNvPr id="88" name="Google Shape;2109;p123">
              <a:extLst>
                <a:ext uri="{FF2B5EF4-FFF2-40B4-BE49-F238E27FC236}">
                  <a16:creationId xmlns:a16="http://schemas.microsoft.com/office/drawing/2014/main" id="{8507425D-9A33-C2EB-86FD-FA9D47ED9F70}"/>
                </a:ext>
              </a:extLst>
            </p:cNvPr>
            <p:cNvGrpSpPr/>
            <p:nvPr/>
          </p:nvGrpSpPr>
          <p:grpSpPr>
            <a:xfrm>
              <a:off x="6219191" y="1637543"/>
              <a:ext cx="1367596" cy="1069371"/>
              <a:chOff x="6191527" y="1819194"/>
              <a:chExt cx="1806600" cy="1412643"/>
            </a:xfrm>
          </p:grpSpPr>
          <p:grpSp>
            <p:nvGrpSpPr>
              <p:cNvPr id="89" name="Google Shape;2110;p123">
                <a:extLst>
                  <a:ext uri="{FF2B5EF4-FFF2-40B4-BE49-F238E27FC236}">
                    <a16:creationId xmlns:a16="http://schemas.microsoft.com/office/drawing/2014/main" id="{F1133CE3-76FE-6568-DB71-32B75314CE03}"/>
                  </a:ext>
                </a:extLst>
              </p:cNvPr>
              <p:cNvGrpSpPr/>
              <p:nvPr/>
            </p:nvGrpSpPr>
            <p:grpSpPr>
              <a:xfrm>
                <a:off x="6588984" y="3055960"/>
                <a:ext cx="1008766" cy="175877"/>
                <a:chOff x="5493826" y="4735334"/>
                <a:chExt cx="1401453" cy="244341"/>
              </a:xfrm>
            </p:grpSpPr>
            <p:sp>
              <p:nvSpPr>
                <p:cNvPr id="134" name="Google Shape;2111;p123">
                  <a:extLst>
                    <a:ext uri="{FF2B5EF4-FFF2-40B4-BE49-F238E27FC236}">
                      <a16:creationId xmlns:a16="http://schemas.microsoft.com/office/drawing/2014/main" id="{1861B1FC-DEB8-A877-0DC7-035DA0F1A956}"/>
                    </a:ext>
                  </a:extLst>
                </p:cNvPr>
                <p:cNvSpPr/>
                <p:nvPr/>
              </p:nvSpPr>
              <p:spPr>
                <a:xfrm>
                  <a:off x="6008728" y="4735334"/>
                  <a:ext cx="375746" cy="225876"/>
                </a:xfrm>
                <a:custGeom>
                  <a:avLst/>
                  <a:gdLst/>
                  <a:ahLst/>
                  <a:cxnLst/>
                  <a:rect l="l" t="t" r="r" b="b"/>
                  <a:pathLst>
                    <a:path w="375746" h="225876" extrusionOk="0">
                      <a:moveTo>
                        <a:pt x="0" y="0"/>
                      </a:moveTo>
                      <a:lnTo>
                        <a:pt x="375746" y="0"/>
                      </a:lnTo>
                      <a:lnTo>
                        <a:pt x="375746" y="225876"/>
                      </a:lnTo>
                      <a:lnTo>
                        <a:pt x="0" y="225876"/>
                      </a:lnTo>
                      <a:close/>
                    </a:path>
                  </a:pathLst>
                </a:custGeom>
                <a:gradFill>
                  <a:gsLst>
                    <a:gs pos="0">
                      <a:schemeClr val="accent2"/>
                    </a:gs>
                    <a:gs pos="22000">
                      <a:schemeClr val="accent2"/>
                    </a:gs>
                    <a:gs pos="100000">
                      <a:schemeClr val="dk2"/>
                    </a:gs>
                  </a:gsLst>
                  <a:lin ang="16200038"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sp>
              <p:nvSpPr>
                <p:cNvPr id="135" name="Google Shape;2112;p123">
                  <a:extLst>
                    <a:ext uri="{FF2B5EF4-FFF2-40B4-BE49-F238E27FC236}">
                      <a16:creationId xmlns:a16="http://schemas.microsoft.com/office/drawing/2014/main" id="{AA1F4D7E-9038-D0F6-97EF-2A75EAA08A66}"/>
                    </a:ext>
                  </a:extLst>
                </p:cNvPr>
                <p:cNvSpPr/>
                <p:nvPr/>
              </p:nvSpPr>
              <p:spPr>
                <a:xfrm>
                  <a:off x="5493826" y="4904867"/>
                  <a:ext cx="1401453" cy="74808"/>
                </a:xfrm>
                <a:custGeom>
                  <a:avLst/>
                  <a:gdLst/>
                  <a:ahLst/>
                  <a:cxnLst/>
                  <a:rect l="l" t="t" r="r" b="b"/>
                  <a:pathLst>
                    <a:path w="1401453" h="74808" extrusionOk="0">
                      <a:moveTo>
                        <a:pt x="1401454" y="10273"/>
                      </a:moveTo>
                      <a:lnTo>
                        <a:pt x="696095" y="0"/>
                      </a:lnTo>
                      <a:lnTo>
                        <a:pt x="0" y="10273"/>
                      </a:lnTo>
                      <a:lnTo>
                        <a:pt x="0" y="74809"/>
                      </a:lnTo>
                      <a:lnTo>
                        <a:pt x="1401454" y="74809"/>
                      </a:lnTo>
                      <a:lnTo>
                        <a:pt x="1401454" y="10273"/>
                      </a:lnTo>
                      <a:close/>
                    </a:path>
                  </a:pathLst>
                </a:custGeom>
                <a:gradFill>
                  <a:gsLst>
                    <a:gs pos="0">
                      <a:schemeClr val="accent2"/>
                    </a:gs>
                    <a:gs pos="22000">
                      <a:schemeClr val="accent2"/>
                    </a:gs>
                    <a:gs pos="100000">
                      <a:schemeClr val="dk2"/>
                    </a:gs>
                  </a:gsLst>
                  <a:lin ang="8100019"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grpSp>
          <p:sp>
            <p:nvSpPr>
              <p:cNvPr id="90" name="Google Shape;2113;p123">
                <a:extLst>
                  <a:ext uri="{FF2B5EF4-FFF2-40B4-BE49-F238E27FC236}">
                    <a16:creationId xmlns:a16="http://schemas.microsoft.com/office/drawing/2014/main" id="{D5DAA849-CF9F-D50B-BED7-3BBB6A53E8CC}"/>
                  </a:ext>
                </a:extLst>
              </p:cNvPr>
              <p:cNvSpPr/>
              <p:nvPr/>
            </p:nvSpPr>
            <p:spPr>
              <a:xfrm>
                <a:off x="6191527" y="1819194"/>
                <a:ext cx="1806600" cy="1242600"/>
              </a:xfrm>
              <a:prstGeom prst="roundRect">
                <a:avLst>
                  <a:gd name="adj" fmla="val 2649"/>
                </a:avLst>
              </a:prstGeom>
              <a:gradFill>
                <a:gsLst>
                  <a:gs pos="0">
                    <a:schemeClr val="accent1"/>
                  </a:gs>
                  <a:gs pos="15000">
                    <a:schemeClr val="accent1"/>
                  </a:gs>
                  <a:gs pos="100000">
                    <a:schemeClr val="accent2"/>
                  </a:gs>
                </a:gsLst>
                <a:lin ang="8100019"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91" name="Google Shape;2114;p123">
                <a:extLst>
                  <a:ext uri="{FF2B5EF4-FFF2-40B4-BE49-F238E27FC236}">
                    <a16:creationId xmlns:a16="http://schemas.microsoft.com/office/drawing/2014/main" id="{EDD41A53-2D99-0484-7CCD-ECA47DCE0A7E}"/>
                  </a:ext>
                </a:extLst>
              </p:cNvPr>
              <p:cNvSpPr/>
              <p:nvPr/>
            </p:nvSpPr>
            <p:spPr>
              <a:xfrm>
                <a:off x="7218750" y="1871764"/>
                <a:ext cx="729600" cy="706800"/>
              </a:xfrm>
              <a:prstGeom prst="roundRect">
                <a:avLst>
                  <a:gd name="adj" fmla="val 4797"/>
                </a:avLst>
              </a:prstGeom>
              <a:solidFill>
                <a:schemeClr val="dk2">
                  <a:alpha val="4941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92" name="Google Shape;2115;p123">
                <a:extLst>
                  <a:ext uri="{FF2B5EF4-FFF2-40B4-BE49-F238E27FC236}">
                    <a16:creationId xmlns:a16="http://schemas.microsoft.com/office/drawing/2014/main" id="{56A20353-00DD-A7E9-A46E-7652D34BB619}"/>
                  </a:ext>
                </a:extLst>
              </p:cNvPr>
              <p:cNvSpPr/>
              <p:nvPr/>
            </p:nvSpPr>
            <p:spPr>
              <a:xfrm>
                <a:off x="7218751" y="2608359"/>
                <a:ext cx="729600" cy="389700"/>
              </a:xfrm>
              <a:prstGeom prst="roundRect">
                <a:avLst>
                  <a:gd name="adj" fmla="val 8447"/>
                </a:avLst>
              </a:prstGeom>
              <a:solidFill>
                <a:schemeClr val="dk2">
                  <a:alpha val="4941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93" name="Google Shape;2116;p123">
                <a:extLst>
                  <a:ext uri="{FF2B5EF4-FFF2-40B4-BE49-F238E27FC236}">
                    <a16:creationId xmlns:a16="http://schemas.microsoft.com/office/drawing/2014/main" id="{DFC63DA9-5196-0659-D22B-CB770E66F36A}"/>
                  </a:ext>
                </a:extLst>
              </p:cNvPr>
              <p:cNvSpPr/>
              <p:nvPr/>
            </p:nvSpPr>
            <p:spPr>
              <a:xfrm>
                <a:off x="6241299" y="1871764"/>
                <a:ext cx="945900" cy="1126200"/>
              </a:xfrm>
              <a:prstGeom prst="roundRect">
                <a:avLst>
                  <a:gd name="adj" fmla="val 3526"/>
                </a:avLst>
              </a:prstGeom>
              <a:solidFill>
                <a:schemeClr val="dk2">
                  <a:alpha val="4941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94" name="Google Shape;2117;p123">
                <a:extLst>
                  <a:ext uri="{FF2B5EF4-FFF2-40B4-BE49-F238E27FC236}">
                    <a16:creationId xmlns:a16="http://schemas.microsoft.com/office/drawing/2014/main" id="{E94BD857-DA05-4EF1-CCD8-D34C06120367}"/>
                  </a:ext>
                </a:extLst>
              </p:cNvPr>
              <p:cNvGrpSpPr/>
              <p:nvPr/>
            </p:nvGrpSpPr>
            <p:grpSpPr>
              <a:xfrm>
                <a:off x="7365166" y="1999102"/>
                <a:ext cx="438715" cy="438715"/>
                <a:chOff x="4033444" y="588588"/>
                <a:chExt cx="960200" cy="960200"/>
              </a:xfrm>
            </p:grpSpPr>
            <p:grpSp>
              <p:nvGrpSpPr>
                <p:cNvPr id="113" name="Google Shape;2118;p123">
                  <a:extLst>
                    <a:ext uri="{FF2B5EF4-FFF2-40B4-BE49-F238E27FC236}">
                      <a16:creationId xmlns:a16="http://schemas.microsoft.com/office/drawing/2014/main" id="{F4A30824-2CF8-05B6-5CF5-52917CC0ABC7}"/>
                    </a:ext>
                  </a:extLst>
                </p:cNvPr>
                <p:cNvGrpSpPr/>
                <p:nvPr/>
              </p:nvGrpSpPr>
              <p:grpSpPr>
                <a:xfrm>
                  <a:off x="4033444" y="588588"/>
                  <a:ext cx="960200" cy="960200"/>
                  <a:chOff x="4033444" y="588588"/>
                  <a:chExt cx="960200" cy="960200"/>
                </a:xfrm>
              </p:grpSpPr>
              <p:sp>
                <p:nvSpPr>
                  <p:cNvPr id="115" name="Google Shape;2119;p123">
                    <a:extLst>
                      <a:ext uri="{FF2B5EF4-FFF2-40B4-BE49-F238E27FC236}">
                        <a16:creationId xmlns:a16="http://schemas.microsoft.com/office/drawing/2014/main" id="{BD2AAC58-352E-84D9-D054-0DA273B4C695}"/>
                      </a:ext>
                    </a:extLst>
                  </p:cNvPr>
                  <p:cNvSpPr/>
                  <p:nvPr/>
                </p:nvSpPr>
                <p:spPr>
                  <a:xfrm>
                    <a:off x="4033444" y="588588"/>
                    <a:ext cx="960200" cy="960200"/>
                  </a:xfrm>
                  <a:custGeom>
                    <a:avLst/>
                    <a:gdLst/>
                    <a:ahLst/>
                    <a:cxnLst/>
                    <a:rect l="l" t="t" r="r" b="b"/>
                    <a:pathLst>
                      <a:path w="960200" h="960200" extrusionOk="0">
                        <a:moveTo>
                          <a:pt x="960200" y="480100"/>
                        </a:moveTo>
                        <a:cubicBezTo>
                          <a:pt x="960200" y="745252"/>
                          <a:pt x="745252" y="960200"/>
                          <a:pt x="480100" y="960200"/>
                        </a:cubicBezTo>
                        <a:cubicBezTo>
                          <a:pt x="214948" y="960200"/>
                          <a:pt x="0" y="745252"/>
                          <a:pt x="0" y="480100"/>
                        </a:cubicBezTo>
                        <a:cubicBezTo>
                          <a:pt x="0" y="214948"/>
                          <a:pt x="214948" y="0"/>
                          <a:pt x="480100" y="0"/>
                        </a:cubicBezTo>
                        <a:cubicBezTo>
                          <a:pt x="745252" y="0"/>
                          <a:pt x="960200" y="214948"/>
                          <a:pt x="960200" y="480100"/>
                        </a:cubicBezTo>
                        <a:close/>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16" name="Google Shape;2120;p123">
                    <a:extLst>
                      <a:ext uri="{FF2B5EF4-FFF2-40B4-BE49-F238E27FC236}">
                        <a16:creationId xmlns:a16="http://schemas.microsoft.com/office/drawing/2014/main" id="{95307EE0-FC30-7044-3838-D51C10E31A4B}"/>
                      </a:ext>
                    </a:extLst>
                  </p:cNvPr>
                  <p:cNvSpPr/>
                  <p:nvPr/>
                </p:nvSpPr>
                <p:spPr>
                  <a:xfrm>
                    <a:off x="4513544" y="588682"/>
                    <a:ext cx="9434" cy="94623"/>
                  </a:xfrm>
                  <a:custGeom>
                    <a:avLst/>
                    <a:gdLst/>
                    <a:ahLst/>
                    <a:cxnLst/>
                    <a:rect l="l" t="t" r="r" b="b"/>
                    <a:pathLst>
                      <a:path w="9434" h="94623" extrusionOk="0">
                        <a:moveTo>
                          <a:pt x="0" y="0"/>
                        </a:moveTo>
                        <a:lnTo>
                          <a:pt x="0" y="94624"/>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17" name="Google Shape;2121;p123">
                    <a:extLst>
                      <a:ext uri="{FF2B5EF4-FFF2-40B4-BE49-F238E27FC236}">
                        <a16:creationId xmlns:a16="http://schemas.microsoft.com/office/drawing/2014/main" id="{B2600DF3-2235-B0B2-ACC2-C2E5B8A7753C}"/>
                      </a:ext>
                    </a:extLst>
                  </p:cNvPr>
                  <p:cNvSpPr/>
                  <p:nvPr/>
                </p:nvSpPr>
                <p:spPr>
                  <a:xfrm>
                    <a:off x="4349580" y="617550"/>
                    <a:ext cx="32358" cy="88963"/>
                  </a:xfrm>
                  <a:custGeom>
                    <a:avLst/>
                    <a:gdLst/>
                    <a:ahLst/>
                    <a:cxnLst/>
                    <a:rect l="l" t="t" r="r" b="b"/>
                    <a:pathLst>
                      <a:path w="32358" h="88963" extrusionOk="0">
                        <a:moveTo>
                          <a:pt x="0" y="0"/>
                        </a:moveTo>
                        <a:lnTo>
                          <a:pt x="32359" y="88963"/>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18" name="Google Shape;2122;p123">
                    <a:extLst>
                      <a:ext uri="{FF2B5EF4-FFF2-40B4-BE49-F238E27FC236}">
                        <a16:creationId xmlns:a16="http://schemas.microsoft.com/office/drawing/2014/main" id="{B2784948-6B72-08EA-950C-8FCB11B7DBC2}"/>
                      </a:ext>
                    </a:extLst>
                  </p:cNvPr>
                  <p:cNvSpPr/>
                  <p:nvPr/>
                </p:nvSpPr>
                <p:spPr>
                  <a:xfrm>
                    <a:off x="4205333" y="700853"/>
                    <a:ext cx="60849" cy="72453"/>
                  </a:xfrm>
                  <a:custGeom>
                    <a:avLst/>
                    <a:gdLst/>
                    <a:ahLst/>
                    <a:cxnLst/>
                    <a:rect l="l" t="t" r="r" b="b"/>
                    <a:pathLst>
                      <a:path w="60849" h="72453" extrusionOk="0">
                        <a:moveTo>
                          <a:pt x="0" y="0"/>
                        </a:moveTo>
                        <a:lnTo>
                          <a:pt x="60850" y="72454"/>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119" name="Google Shape;2123;p123">
                    <a:extLst>
                      <a:ext uri="{FF2B5EF4-FFF2-40B4-BE49-F238E27FC236}">
                        <a16:creationId xmlns:a16="http://schemas.microsoft.com/office/drawing/2014/main" id="{D3AC6E4C-0C32-5680-E104-74D7EB14DF6B}"/>
                      </a:ext>
                    </a:extLst>
                  </p:cNvPr>
                  <p:cNvGrpSpPr/>
                  <p:nvPr/>
                </p:nvGrpSpPr>
                <p:grpSpPr>
                  <a:xfrm>
                    <a:off x="4098256" y="828402"/>
                    <a:ext cx="830576" cy="479439"/>
                    <a:chOff x="4098256" y="828402"/>
                    <a:chExt cx="830576" cy="479439"/>
                  </a:xfrm>
                </p:grpSpPr>
                <p:sp>
                  <p:nvSpPr>
                    <p:cNvPr id="132" name="Google Shape;2124;p123">
                      <a:extLst>
                        <a:ext uri="{FF2B5EF4-FFF2-40B4-BE49-F238E27FC236}">
                          <a16:creationId xmlns:a16="http://schemas.microsoft.com/office/drawing/2014/main" id="{677E5051-7C19-352F-95EF-3BE7FAE90521}"/>
                        </a:ext>
                      </a:extLst>
                    </p:cNvPr>
                    <p:cNvSpPr/>
                    <p:nvPr/>
                  </p:nvSpPr>
                  <p:spPr>
                    <a:xfrm>
                      <a:off x="4098256" y="828402"/>
                      <a:ext cx="81982" cy="47359"/>
                    </a:xfrm>
                    <a:custGeom>
                      <a:avLst/>
                      <a:gdLst/>
                      <a:ahLst/>
                      <a:cxnLst/>
                      <a:rect l="l" t="t" r="r" b="b"/>
                      <a:pathLst>
                        <a:path w="81982" h="47359" extrusionOk="0">
                          <a:moveTo>
                            <a:pt x="0" y="0"/>
                          </a:moveTo>
                          <a:lnTo>
                            <a:pt x="81982" y="47359"/>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33" name="Google Shape;2125;p123">
                      <a:extLst>
                        <a:ext uri="{FF2B5EF4-FFF2-40B4-BE49-F238E27FC236}">
                          <a16:creationId xmlns:a16="http://schemas.microsoft.com/office/drawing/2014/main" id="{3B502E5C-C4C7-FA34-837B-D844525A8C36}"/>
                        </a:ext>
                      </a:extLst>
                    </p:cNvPr>
                    <p:cNvSpPr/>
                    <p:nvPr/>
                  </p:nvSpPr>
                  <p:spPr>
                    <a:xfrm>
                      <a:off x="4846850" y="1260577"/>
                      <a:ext cx="81982" cy="47264"/>
                    </a:xfrm>
                    <a:custGeom>
                      <a:avLst/>
                      <a:gdLst/>
                      <a:ahLst/>
                      <a:cxnLst/>
                      <a:rect l="l" t="t" r="r" b="b"/>
                      <a:pathLst>
                        <a:path w="81982" h="47264" extrusionOk="0">
                          <a:moveTo>
                            <a:pt x="0" y="0"/>
                          </a:moveTo>
                          <a:lnTo>
                            <a:pt x="81982" y="47265"/>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20" name="Google Shape;2126;p123">
                    <a:extLst>
                      <a:ext uri="{FF2B5EF4-FFF2-40B4-BE49-F238E27FC236}">
                        <a16:creationId xmlns:a16="http://schemas.microsoft.com/office/drawing/2014/main" id="{5D48999B-43E4-0696-BA3A-75B8DD730462}"/>
                      </a:ext>
                    </a:extLst>
                  </p:cNvPr>
                  <p:cNvGrpSpPr/>
                  <p:nvPr/>
                </p:nvGrpSpPr>
                <p:grpSpPr>
                  <a:xfrm>
                    <a:off x="4041369" y="984913"/>
                    <a:ext cx="944350" cy="166511"/>
                    <a:chOff x="4041369" y="984913"/>
                    <a:chExt cx="944350" cy="166511"/>
                  </a:xfrm>
                </p:grpSpPr>
                <p:sp>
                  <p:nvSpPr>
                    <p:cNvPr id="130" name="Google Shape;2127;p123">
                      <a:extLst>
                        <a:ext uri="{FF2B5EF4-FFF2-40B4-BE49-F238E27FC236}">
                          <a16:creationId xmlns:a16="http://schemas.microsoft.com/office/drawing/2014/main" id="{BF954CD9-1327-2407-B175-4A3C2CBF13D8}"/>
                        </a:ext>
                      </a:extLst>
                    </p:cNvPr>
                    <p:cNvSpPr/>
                    <p:nvPr/>
                  </p:nvSpPr>
                  <p:spPr>
                    <a:xfrm>
                      <a:off x="4041369" y="984913"/>
                      <a:ext cx="93208" cy="16415"/>
                    </a:xfrm>
                    <a:custGeom>
                      <a:avLst/>
                      <a:gdLst/>
                      <a:ahLst/>
                      <a:cxnLst/>
                      <a:rect l="l" t="t" r="r" b="b"/>
                      <a:pathLst>
                        <a:path w="93208" h="16415" extrusionOk="0">
                          <a:moveTo>
                            <a:pt x="0" y="0"/>
                          </a:moveTo>
                          <a:lnTo>
                            <a:pt x="93209" y="16415"/>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31" name="Google Shape;2128;p123">
                      <a:extLst>
                        <a:ext uri="{FF2B5EF4-FFF2-40B4-BE49-F238E27FC236}">
                          <a16:creationId xmlns:a16="http://schemas.microsoft.com/office/drawing/2014/main" id="{861B5A2A-89DA-E043-5003-7FFB4A83E65F}"/>
                        </a:ext>
                      </a:extLst>
                    </p:cNvPr>
                    <p:cNvSpPr/>
                    <p:nvPr/>
                  </p:nvSpPr>
                  <p:spPr>
                    <a:xfrm>
                      <a:off x="4892511" y="1135009"/>
                      <a:ext cx="93208" cy="16415"/>
                    </a:xfrm>
                    <a:custGeom>
                      <a:avLst/>
                      <a:gdLst/>
                      <a:ahLst/>
                      <a:cxnLst/>
                      <a:rect l="l" t="t" r="r" b="b"/>
                      <a:pathLst>
                        <a:path w="93208" h="16415" extrusionOk="0">
                          <a:moveTo>
                            <a:pt x="0" y="0"/>
                          </a:moveTo>
                          <a:lnTo>
                            <a:pt x="93208" y="16415"/>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21" name="Google Shape;2129;p123">
                    <a:extLst>
                      <a:ext uri="{FF2B5EF4-FFF2-40B4-BE49-F238E27FC236}">
                        <a16:creationId xmlns:a16="http://schemas.microsoft.com/office/drawing/2014/main" id="{4DBB959A-E630-EC6D-3FBF-52F67D198AB7}"/>
                      </a:ext>
                    </a:extLst>
                  </p:cNvPr>
                  <p:cNvGrpSpPr/>
                  <p:nvPr/>
                </p:nvGrpSpPr>
                <p:grpSpPr>
                  <a:xfrm>
                    <a:off x="4041369" y="984913"/>
                    <a:ext cx="944350" cy="166511"/>
                    <a:chOff x="4041369" y="984913"/>
                    <a:chExt cx="944350" cy="166511"/>
                  </a:xfrm>
                </p:grpSpPr>
                <p:sp>
                  <p:nvSpPr>
                    <p:cNvPr id="128" name="Google Shape;2130;p123">
                      <a:extLst>
                        <a:ext uri="{FF2B5EF4-FFF2-40B4-BE49-F238E27FC236}">
                          <a16:creationId xmlns:a16="http://schemas.microsoft.com/office/drawing/2014/main" id="{2131ADE1-FCC8-E2A8-687D-B2D30825B492}"/>
                        </a:ext>
                      </a:extLst>
                    </p:cNvPr>
                    <p:cNvSpPr/>
                    <p:nvPr/>
                  </p:nvSpPr>
                  <p:spPr>
                    <a:xfrm>
                      <a:off x="4041369" y="1135009"/>
                      <a:ext cx="93208" cy="16415"/>
                    </a:xfrm>
                    <a:custGeom>
                      <a:avLst/>
                      <a:gdLst/>
                      <a:ahLst/>
                      <a:cxnLst/>
                      <a:rect l="l" t="t" r="r" b="b"/>
                      <a:pathLst>
                        <a:path w="93208" h="16415" extrusionOk="0">
                          <a:moveTo>
                            <a:pt x="0" y="16415"/>
                          </a:moveTo>
                          <a:lnTo>
                            <a:pt x="93209"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29" name="Google Shape;2131;p123">
                      <a:extLst>
                        <a:ext uri="{FF2B5EF4-FFF2-40B4-BE49-F238E27FC236}">
                          <a16:creationId xmlns:a16="http://schemas.microsoft.com/office/drawing/2014/main" id="{0F5FFA63-1952-1D1D-C00E-46181775EB16}"/>
                        </a:ext>
                      </a:extLst>
                    </p:cNvPr>
                    <p:cNvSpPr/>
                    <p:nvPr/>
                  </p:nvSpPr>
                  <p:spPr>
                    <a:xfrm>
                      <a:off x="4892511" y="984913"/>
                      <a:ext cx="93208" cy="16415"/>
                    </a:xfrm>
                    <a:custGeom>
                      <a:avLst/>
                      <a:gdLst/>
                      <a:ahLst/>
                      <a:cxnLst/>
                      <a:rect l="l" t="t" r="r" b="b"/>
                      <a:pathLst>
                        <a:path w="93208" h="16415" extrusionOk="0">
                          <a:moveTo>
                            <a:pt x="0" y="16415"/>
                          </a:moveTo>
                          <a:lnTo>
                            <a:pt x="93208"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22" name="Google Shape;2132;p123">
                    <a:extLst>
                      <a:ext uri="{FF2B5EF4-FFF2-40B4-BE49-F238E27FC236}">
                        <a16:creationId xmlns:a16="http://schemas.microsoft.com/office/drawing/2014/main" id="{B3B49AFB-69F7-0078-5975-79B0E4D83E3C}"/>
                      </a:ext>
                    </a:extLst>
                  </p:cNvPr>
                  <p:cNvGrpSpPr/>
                  <p:nvPr/>
                </p:nvGrpSpPr>
                <p:grpSpPr>
                  <a:xfrm>
                    <a:off x="4098256" y="828402"/>
                    <a:ext cx="830576" cy="479439"/>
                    <a:chOff x="4098256" y="828402"/>
                    <a:chExt cx="830576" cy="479439"/>
                  </a:xfrm>
                </p:grpSpPr>
                <p:sp>
                  <p:nvSpPr>
                    <p:cNvPr id="126" name="Google Shape;2133;p123">
                      <a:extLst>
                        <a:ext uri="{FF2B5EF4-FFF2-40B4-BE49-F238E27FC236}">
                          <a16:creationId xmlns:a16="http://schemas.microsoft.com/office/drawing/2014/main" id="{3C4E1EFE-6FCC-E268-9DC3-BE3825926FA9}"/>
                        </a:ext>
                      </a:extLst>
                    </p:cNvPr>
                    <p:cNvSpPr/>
                    <p:nvPr/>
                  </p:nvSpPr>
                  <p:spPr>
                    <a:xfrm>
                      <a:off x="4098256" y="1260577"/>
                      <a:ext cx="81982" cy="47264"/>
                    </a:xfrm>
                    <a:custGeom>
                      <a:avLst/>
                      <a:gdLst/>
                      <a:ahLst/>
                      <a:cxnLst/>
                      <a:rect l="l" t="t" r="r" b="b"/>
                      <a:pathLst>
                        <a:path w="81982" h="47264" extrusionOk="0">
                          <a:moveTo>
                            <a:pt x="0" y="47265"/>
                          </a:moveTo>
                          <a:lnTo>
                            <a:pt x="81982"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27" name="Google Shape;2134;p123">
                      <a:extLst>
                        <a:ext uri="{FF2B5EF4-FFF2-40B4-BE49-F238E27FC236}">
                          <a16:creationId xmlns:a16="http://schemas.microsoft.com/office/drawing/2014/main" id="{8A4FEA47-6014-5E13-7D8D-0D01A306C922}"/>
                        </a:ext>
                      </a:extLst>
                    </p:cNvPr>
                    <p:cNvSpPr/>
                    <p:nvPr/>
                  </p:nvSpPr>
                  <p:spPr>
                    <a:xfrm>
                      <a:off x="4846850" y="828402"/>
                      <a:ext cx="81982" cy="47359"/>
                    </a:xfrm>
                    <a:custGeom>
                      <a:avLst/>
                      <a:gdLst/>
                      <a:ahLst/>
                      <a:cxnLst/>
                      <a:rect l="l" t="t" r="r" b="b"/>
                      <a:pathLst>
                        <a:path w="81982" h="47359" extrusionOk="0">
                          <a:moveTo>
                            <a:pt x="0" y="47359"/>
                          </a:moveTo>
                          <a:lnTo>
                            <a:pt x="81982"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sp>
                <p:nvSpPr>
                  <p:cNvPr id="123" name="Google Shape;2135;p123">
                    <a:extLst>
                      <a:ext uri="{FF2B5EF4-FFF2-40B4-BE49-F238E27FC236}">
                        <a16:creationId xmlns:a16="http://schemas.microsoft.com/office/drawing/2014/main" id="{FB5E9B28-A4C3-BDDA-8E67-B0DA6831C1D8}"/>
                      </a:ext>
                    </a:extLst>
                  </p:cNvPr>
                  <p:cNvSpPr/>
                  <p:nvPr/>
                </p:nvSpPr>
                <p:spPr>
                  <a:xfrm>
                    <a:off x="4760905" y="700853"/>
                    <a:ext cx="60849" cy="72453"/>
                  </a:xfrm>
                  <a:custGeom>
                    <a:avLst/>
                    <a:gdLst/>
                    <a:ahLst/>
                    <a:cxnLst/>
                    <a:rect l="l" t="t" r="r" b="b"/>
                    <a:pathLst>
                      <a:path w="60849" h="72453" extrusionOk="0">
                        <a:moveTo>
                          <a:pt x="0" y="72454"/>
                        </a:moveTo>
                        <a:lnTo>
                          <a:pt x="60850"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24" name="Google Shape;2136;p123">
                    <a:extLst>
                      <a:ext uri="{FF2B5EF4-FFF2-40B4-BE49-F238E27FC236}">
                        <a16:creationId xmlns:a16="http://schemas.microsoft.com/office/drawing/2014/main" id="{DC836119-B4EC-9917-367B-881DECB73B74}"/>
                      </a:ext>
                    </a:extLst>
                  </p:cNvPr>
                  <p:cNvSpPr/>
                  <p:nvPr/>
                </p:nvSpPr>
                <p:spPr>
                  <a:xfrm>
                    <a:off x="4645149" y="617550"/>
                    <a:ext cx="32358" cy="88963"/>
                  </a:xfrm>
                  <a:custGeom>
                    <a:avLst/>
                    <a:gdLst/>
                    <a:ahLst/>
                    <a:cxnLst/>
                    <a:rect l="l" t="t" r="r" b="b"/>
                    <a:pathLst>
                      <a:path w="32358" h="88963" extrusionOk="0">
                        <a:moveTo>
                          <a:pt x="0" y="88963"/>
                        </a:moveTo>
                        <a:lnTo>
                          <a:pt x="32359"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25" name="Google Shape;2137;p123">
                    <a:extLst>
                      <a:ext uri="{FF2B5EF4-FFF2-40B4-BE49-F238E27FC236}">
                        <a16:creationId xmlns:a16="http://schemas.microsoft.com/office/drawing/2014/main" id="{6DC06EA8-38E1-9782-05C7-E0C8083CA298}"/>
                      </a:ext>
                    </a:extLst>
                  </p:cNvPr>
                  <p:cNvSpPr/>
                  <p:nvPr/>
                </p:nvSpPr>
                <p:spPr>
                  <a:xfrm>
                    <a:off x="4454298" y="1009442"/>
                    <a:ext cx="118491" cy="118491"/>
                  </a:xfrm>
                  <a:custGeom>
                    <a:avLst/>
                    <a:gdLst/>
                    <a:ahLst/>
                    <a:cxnLst/>
                    <a:rect l="l" t="t" r="r" b="b"/>
                    <a:pathLst>
                      <a:path w="118491" h="118491" extrusionOk="0">
                        <a:moveTo>
                          <a:pt x="118492" y="59246"/>
                        </a:moveTo>
                        <a:cubicBezTo>
                          <a:pt x="118492" y="91967"/>
                          <a:pt x="91967" y="118492"/>
                          <a:pt x="59246" y="118492"/>
                        </a:cubicBezTo>
                        <a:cubicBezTo>
                          <a:pt x="26525" y="118492"/>
                          <a:pt x="0" y="91967"/>
                          <a:pt x="0" y="59246"/>
                        </a:cubicBezTo>
                        <a:cubicBezTo>
                          <a:pt x="0" y="26525"/>
                          <a:pt x="26525" y="0"/>
                          <a:pt x="59246" y="0"/>
                        </a:cubicBezTo>
                        <a:cubicBezTo>
                          <a:pt x="91967" y="0"/>
                          <a:pt x="118492" y="26525"/>
                          <a:pt x="118492" y="59246"/>
                        </a:cubicBezTo>
                        <a:close/>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sp>
              <p:nvSpPr>
                <p:cNvPr id="114" name="Google Shape;2138;p123">
                  <a:extLst>
                    <a:ext uri="{FF2B5EF4-FFF2-40B4-BE49-F238E27FC236}">
                      <a16:creationId xmlns:a16="http://schemas.microsoft.com/office/drawing/2014/main" id="{3C6517EA-C9CE-E494-6D4A-2E1494130BE9}"/>
                    </a:ext>
                  </a:extLst>
                </p:cNvPr>
                <p:cNvSpPr/>
                <p:nvPr/>
              </p:nvSpPr>
              <p:spPr>
                <a:xfrm>
                  <a:off x="4554771" y="858119"/>
                  <a:ext cx="168115" cy="168115"/>
                </a:xfrm>
                <a:custGeom>
                  <a:avLst/>
                  <a:gdLst/>
                  <a:ahLst/>
                  <a:cxnLst/>
                  <a:rect l="l" t="t" r="r" b="b"/>
                  <a:pathLst>
                    <a:path w="168115" h="168115" extrusionOk="0">
                      <a:moveTo>
                        <a:pt x="0" y="168115"/>
                      </a:moveTo>
                      <a:lnTo>
                        <a:pt x="168115"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sp>
            <p:nvSpPr>
              <p:cNvPr id="95" name="Google Shape;2139;p123">
                <a:extLst>
                  <a:ext uri="{FF2B5EF4-FFF2-40B4-BE49-F238E27FC236}">
                    <a16:creationId xmlns:a16="http://schemas.microsoft.com/office/drawing/2014/main" id="{C0F7D1EB-8AA4-04E4-1832-7D8DFCC285F5}"/>
                  </a:ext>
                </a:extLst>
              </p:cNvPr>
              <p:cNvSpPr/>
              <p:nvPr/>
            </p:nvSpPr>
            <p:spPr>
              <a:xfrm>
                <a:off x="7324971" y="2681743"/>
                <a:ext cx="481646" cy="225275"/>
              </a:xfrm>
              <a:custGeom>
                <a:avLst/>
                <a:gdLst/>
                <a:ahLst/>
                <a:cxnLst/>
                <a:rect l="l" t="t" r="r" b="b"/>
                <a:pathLst>
                  <a:path w="603945" h="282476" extrusionOk="0">
                    <a:moveTo>
                      <a:pt x="0" y="263129"/>
                    </a:moveTo>
                    <a:lnTo>
                      <a:pt x="177553" y="263129"/>
                    </a:lnTo>
                    <a:lnTo>
                      <a:pt x="177553" y="282476"/>
                    </a:lnTo>
                    <a:lnTo>
                      <a:pt x="0" y="282476"/>
                    </a:lnTo>
                    <a:close/>
                    <a:moveTo>
                      <a:pt x="459433" y="40482"/>
                    </a:moveTo>
                    <a:lnTo>
                      <a:pt x="603945" y="101501"/>
                    </a:lnTo>
                    <a:lnTo>
                      <a:pt x="603945" y="126504"/>
                    </a:lnTo>
                    <a:lnTo>
                      <a:pt x="459433" y="188268"/>
                    </a:lnTo>
                    <a:lnTo>
                      <a:pt x="459433" y="161628"/>
                    </a:lnTo>
                    <a:lnTo>
                      <a:pt x="573882" y="114152"/>
                    </a:lnTo>
                    <a:lnTo>
                      <a:pt x="459433" y="67122"/>
                    </a:lnTo>
                    <a:close/>
                    <a:moveTo>
                      <a:pt x="337245" y="40482"/>
                    </a:moveTo>
                    <a:lnTo>
                      <a:pt x="337245" y="67122"/>
                    </a:lnTo>
                    <a:lnTo>
                      <a:pt x="222647" y="114152"/>
                    </a:lnTo>
                    <a:lnTo>
                      <a:pt x="337245" y="161628"/>
                    </a:lnTo>
                    <a:lnTo>
                      <a:pt x="337245" y="188268"/>
                    </a:lnTo>
                    <a:lnTo>
                      <a:pt x="192733" y="126504"/>
                    </a:lnTo>
                    <a:lnTo>
                      <a:pt x="192733" y="101501"/>
                    </a:lnTo>
                    <a:close/>
                    <a:moveTo>
                      <a:pt x="420291" y="0"/>
                    </a:moveTo>
                    <a:lnTo>
                      <a:pt x="441722" y="0"/>
                    </a:lnTo>
                    <a:lnTo>
                      <a:pt x="378619" y="225624"/>
                    </a:lnTo>
                    <a:lnTo>
                      <a:pt x="357039" y="225624"/>
                    </a:lnTo>
                    <a:close/>
                  </a:path>
                </a:pathLst>
              </a:custGeom>
              <a:solidFill>
                <a:schemeClr val="accent6"/>
              </a:solidFill>
              <a:ln>
                <a:noFill/>
              </a:ln>
            </p:spPr>
            <p:txBody>
              <a:bodyPr spcFirstLastPara="1" wrap="square" lIns="91410" tIns="45688" rIns="91410" bIns="45688" anchor="t" anchorCtr="0">
                <a:noAutofit/>
              </a:bodyPr>
              <a:lstStyle/>
              <a:p>
                <a:pPr>
                  <a:lnSpc>
                    <a:spcPct val="130000"/>
                  </a:lnSpc>
                  <a:buClr>
                    <a:srgbClr val="000000"/>
                  </a:buClr>
                  <a:buSzPts val="1800"/>
                </a:pPr>
                <a:endParaRPr sz="2399">
                  <a:solidFill>
                    <a:schemeClr val="accent6"/>
                  </a:solidFill>
                  <a:latin typeface="Arial"/>
                  <a:ea typeface="Arial"/>
                  <a:cs typeface="Arial"/>
                  <a:sym typeface="Arial"/>
                </a:endParaRPr>
              </a:p>
            </p:txBody>
          </p:sp>
          <p:grpSp>
            <p:nvGrpSpPr>
              <p:cNvPr id="96" name="Google Shape;2140;p123">
                <a:extLst>
                  <a:ext uri="{FF2B5EF4-FFF2-40B4-BE49-F238E27FC236}">
                    <a16:creationId xmlns:a16="http://schemas.microsoft.com/office/drawing/2014/main" id="{9880EA23-D17D-8A5C-CBF2-9817C77CDC77}"/>
                  </a:ext>
                </a:extLst>
              </p:cNvPr>
              <p:cNvGrpSpPr/>
              <p:nvPr/>
            </p:nvGrpSpPr>
            <p:grpSpPr>
              <a:xfrm>
                <a:off x="6405726" y="1950840"/>
                <a:ext cx="632557" cy="632557"/>
                <a:chOff x="6443825" y="2047449"/>
                <a:chExt cx="566655" cy="566655"/>
              </a:xfrm>
            </p:grpSpPr>
            <p:grpSp>
              <p:nvGrpSpPr>
                <p:cNvPr id="102" name="Google Shape;2141;p123">
                  <a:extLst>
                    <a:ext uri="{FF2B5EF4-FFF2-40B4-BE49-F238E27FC236}">
                      <a16:creationId xmlns:a16="http://schemas.microsoft.com/office/drawing/2014/main" id="{69A50FD4-1925-6127-AD36-5C7FCF91B42D}"/>
                    </a:ext>
                  </a:extLst>
                </p:cNvPr>
                <p:cNvGrpSpPr/>
                <p:nvPr/>
              </p:nvGrpSpPr>
              <p:grpSpPr>
                <a:xfrm>
                  <a:off x="6443825" y="2047449"/>
                  <a:ext cx="566655" cy="566655"/>
                  <a:chOff x="-396256" y="3115798"/>
                  <a:chExt cx="601800" cy="601800"/>
                </a:xfrm>
              </p:grpSpPr>
              <p:sp>
                <p:nvSpPr>
                  <p:cNvPr id="111" name="Google Shape;2142;p123">
                    <a:extLst>
                      <a:ext uri="{FF2B5EF4-FFF2-40B4-BE49-F238E27FC236}">
                        <a16:creationId xmlns:a16="http://schemas.microsoft.com/office/drawing/2014/main" id="{84109FA4-84B6-880E-BE13-EBB6DB6B1EC2}"/>
                      </a:ext>
                    </a:extLst>
                  </p:cNvPr>
                  <p:cNvSpPr/>
                  <p:nvPr/>
                </p:nvSpPr>
                <p:spPr>
                  <a:xfrm>
                    <a:off x="-396256" y="3115798"/>
                    <a:ext cx="601800" cy="601800"/>
                  </a:xfrm>
                  <a:prstGeom prst="roundRect">
                    <a:avLst>
                      <a:gd name="adj" fmla="val 9912"/>
                    </a:avLst>
                  </a:prstGeom>
                  <a:gradFill>
                    <a:gsLst>
                      <a:gs pos="0">
                        <a:schemeClr val="accent6"/>
                      </a:gs>
                      <a:gs pos="100000">
                        <a:srgbClr val="D58B3F"/>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12" name="Google Shape;2143;p123">
                    <a:extLst>
                      <a:ext uri="{FF2B5EF4-FFF2-40B4-BE49-F238E27FC236}">
                        <a16:creationId xmlns:a16="http://schemas.microsoft.com/office/drawing/2014/main" id="{9B6F0B03-418C-A71A-01DB-B03B3F22FDA8}"/>
                      </a:ext>
                    </a:extLst>
                  </p:cNvPr>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470"/>
                        </a:srgbClr>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03" name="Google Shape;2144;p123">
                  <a:extLst>
                    <a:ext uri="{FF2B5EF4-FFF2-40B4-BE49-F238E27FC236}">
                      <a16:creationId xmlns:a16="http://schemas.microsoft.com/office/drawing/2014/main" id="{0FE9F95D-63A6-04F3-BFF5-2CCF4F144034}"/>
                    </a:ext>
                  </a:extLst>
                </p:cNvPr>
                <p:cNvGrpSpPr/>
                <p:nvPr/>
              </p:nvGrpSpPr>
              <p:grpSpPr>
                <a:xfrm>
                  <a:off x="6551401" y="2142234"/>
                  <a:ext cx="351502" cy="377122"/>
                  <a:chOff x="7986227" y="2894842"/>
                  <a:chExt cx="960388" cy="1030389"/>
                </a:xfrm>
              </p:grpSpPr>
              <p:grpSp>
                <p:nvGrpSpPr>
                  <p:cNvPr id="104" name="Google Shape;2145;p123">
                    <a:extLst>
                      <a:ext uri="{FF2B5EF4-FFF2-40B4-BE49-F238E27FC236}">
                        <a16:creationId xmlns:a16="http://schemas.microsoft.com/office/drawing/2014/main" id="{ED5CFDED-099B-7846-1C41-E64BA1A3F1C8}"/>
                      </a:ext>
                    </a:extLst>
                  </p:cNvPr>
                  <p:cNvGrpSpPr/>
                  <p:nvPr/>
                </p:nvGrpSpPr>
                <p:grpSpPr>
                  <a:xfrm>
                    <a:off x="7986227" y="2894842"/>
                    <a:ext cx="498307" cy="1030389"/>
                    <a:chOff x="7986227" y="2894842"/>
                    <a:chExt cx="498307" cy="1030389"/>
                  </a:xfrm>
                </p:grpSpPr>
                <p:sp>
                  <p:nvSpPr>
                    <p:cNvPr id="106" name="Google Shape;2146;p123">
                      <a:extLst>
                        <a:ext uri="{FF2B5EF4-FFF2-40B4-BE49-F238E27FC236}">
                          <a16:creationId xmlns:a16="http://schemas.microsoft.com/office/drawing/2014/main" id="{55188AC5-2BEB-EE82-06E6-BF3C56C0D2F3}"/>
                        </a:ext>
                      </a:extLst>
                    </p:cNvPr>
                    <p:cNvSpPr/>
                    <p:nvPr/>
                  </p:nvSpPr>
                  <p:spPr>
                    <a:xfrm>
                      <a:off x="8063020" y="2894842"/>
                      <a:ext cx="421514" cy="1030389"/>
                    </a:xfrm>
                    <a:custGeom>
                      <a:avLst/>
                      <a:gdLst/>
                      <a:ahLst/>
                      <a:cxnLst/>
                      <a:rect l="l" t="t" r="r" b="b"/>
                      <a:pathLst>
                        <a:path w="421514" h="1030389" extrusionOk="0">
                          <a:moveTo>
                            <a:pt x="25378" y="366042"/>
                          </a:moveTo>
                          <a:cubicBezTo>
                            <a:pt x="9340" y="342363"/>
                            <a:pt x="0" y="313683"/>
                            <a:pt x="0" y="282928"/>
                          </a:cubicBezTo>
                          <a:cubicBezTo>
                            <a:pt x="0" y="200852"/>
                            <a:pt x="66510" y="134247"/>
                            <a:pt x="148681" y="134247"/>
                          </a:cubicBezTo>
                          <a:cubicBezTo>
                            <a:pt x="155002" y="134247"/>
                            <a:pt x="161323" y="134624"/>
                            <a:pt x="167455" y="135379"/>
                          </a:cubicBezTo>
                          <a:cubicBezTo>
                            <a:pt x="174153" y="59529"/>
                            <a:pt x="237928" y="0"/>
                            <a:pt x="315476" y="0"/>
                          </a:cubicBezTo>
                          <a:cubicBezTo>
                            <a:pt x="356986" y="0"/>
                            <a:pt x="394533" y="17076"/>
                            <a:pt x="421514" y="44529"/>
                          </a:cubicBezTo>
                          <a:lnTo>
                            <a:pt x="421514" y="959540"/>
                          </a:lnTo>
                          <a:cubicBezTo>
                            <a:pt x="396420" y="1001993"/>
                            <a:pt x="350193" y="1030390"/>
                            <a:pt x="297268" y="1030390"/>
                          </a:cubicBezTo>
                          <a:cubicBezTo>
                            <a:pt x="217550" y="1030390"/>
                            <a:pt x="153021" y="965766"/>
                            <a:pt x="153021" y="886143"/>
                          </a:cubicBezTo>
                          <a:cubicBezTo>
                            <a:pt x="153021" y="806425"/>
                            <a:pt x="217644" y="741896"/>
                            <a:pt x="297268" y="741896"/>
                          </a:cubicBez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07" name="Google Shape;2147;p123">
                      <a:extLst>
                        <a:ext uri="{FF2B5EF4-FFF2-40B4-BE49-F238E27FC236}">
                          <a16:creationId xmlns:a16="http://schemas.microsoft.com/office/drawing/2014/main" id="{79623EF4-5B1D-85B0-35FC-68ECEDD7C411}"/>
                        </a:ext>
                      </a:extLst>
                    </p:cNvPr>
                    <p:cNvSpPr/>
                    <p:nvPr/>
                  </p:nvSpPr>
                  <p:spPr>
                    <a:xfrm>
                      <a:off x="8304627" y="3102391"/>
                      <a:ext cx="179719" cy="63585"/>
                    </a:xfrm>
                    <a:custGeom>
                      <a:avLst/>
                      <a:gdLst/>
                      <a:ahLst/>
                      <a:cxnLst/>
                      <a:rect l="l" t="t" r="r" b="b"/>
                      <a:pathLst>
                        <a:path w="179719" h="63585" extrusionOk="0">
                          <a:moveTo>
                            <a:pt x="0" y="0"/>
                          </a:moveTo>
                          <a:cubicBezTo>
                            <a:pt x="23962" y="38208"/>
                            <a:pt x="66510" y="63586"/>
                            <a:pt x="115001" y="63586"/>
                          </a:cubicBezTo>
                          <a:cubicBezTo>
                            <a:pt x="138398" y="63586"/>
                            <a:pt x="160473" y="57642"/>
                            <a:pt x="179719" y="47170"/>
                          </a:cubicBez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08" name="Google Shape;2148;p123">
                      <a:extLst>
                        <a:ext uri="{FF2B5EF4-FFF2-40B4-BE49-F238E27FC236}">
                          <a16:creationId xmlns:a16="http://schemas.microsoft.com/office/drawing/2014/main" id="{85F2B55A-1DFA-4F4B-E5BB-E67B1CF8D77F}"/>
                        </a:ext>
                      </a:extLst>
                    </p:cNvPr>
                    <p:cNvSpPr/>
                    <p:nvPr/>
                  </p:nvSpPr>
                  <p:spPr>
                    <a:xfrm>
                      <a:off x="8206513" y="3331262"/>
                      <a:ext cx="153775" cy="70189"/>
                    </a:xfrm>
                    <a:custGeom>
                      <a:avLst/>
                      <a:gdLst/>
                      <a:ahLst/>
                      <a:cxnLst/>
                      <a:rect l="l" t="t" r="r" b="b"/>
                      <a:pathLst>
                        <a:path w="153775" h="70189" extrusionOk="0">
                          <a:moveTo>
                            <a:pt x="153775" y="189"/>
                          </a:moveTo>
                          <a:cubicBezTo>
                            <a:pt x="150945" y="94"/>
                            <a:pt x="148210" y="0"/>
                            <a:pt x="145379" y="0"/>
                          </a:cubicBezTo>
                          <a:cubicBezTo>
                            <a:pt x="86510" y="0"/>
                            <a:pt x="33962" y="27453"/>
                            <a:pt x="0" y="70189"/>
                          </a:cubicBez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09" name="Google Shape;2149;p123">
                      <a:extLst>
                        <a:ext uri="{FF2B5EF4-FFF2-40B4-BE49-F238E27FC236}">
                          <a16:creationId xmlns:a16="http://schemas.microsoft.com/office/drawing/2014/main" id="{CECEFBC6-67D3-3FA9-43C9-8B10A14AC8C4}"/>
                        </a:ext>
                      </a:extLst>
                    </p:cNvPr>
                    <p:cNvSpPr/>
                    <p:nvPr/>
                  </p:nvSpPr>
                  <p:spPr>
                    <a:xfrm>
                      <a:off x="7986227" y="3251544"/>
                      <a:ext cx="297078" cy="529628"/>
                    </a:xfrm>
                    <a:custGeom>
                      <a:avLst/>
                      <a:gdLst/>
                      <a:ahLst/>
                      <a:cxnLst/>
                      <a:rect l="l" t="t" r="r" b="b"/>
                      <a:pathLst>
                        <a:path w="297078" h="529628" extrusionOk="0">
                          <a:moveTo>
                            <a:pt x="297079" y="94435"/>
                          </a:moveTo>
                          <a:cubicBezTo>
                            <a:pt x="273588" y="38963"/>
                            <a:pt x="218682" y="0"/>
                            <a:pt x="154624" y="0"/>
                          </a:cubicBezTo>
                          <a:cubicBezTo>
                            <a:pt x="69246" y="0"/>
                            <a:pt x="0" y="69246"/>
                            <a:pt x="0" y="154624"/>
                          </a:cubicBezTo>
                          <a:cubicBezTo>
                            <a:pt x="0" y="218587"/>
                            <a:pt x="38868" y="273588"/>
                            <a:pt x="94341" y="297079"/>
                          </a:cubicBezTo>
                          <a:cubicBezTo>
                            <a:pt x="78019" y="320947"/>
                            <a:pt x="68491" y="349815"/>
                            <a:pt x="68491" y="380948"/>
                          </a:cubicBezTo>
                          <a:cubicBezTo>
                            <a:pt x="68491" y="463024"/>
                            <a:pt x="135002" y="529629"/>
                            <a:pt x="217172" y="529629"/>
                          </a:cubicBezTo>
                          <a:cubicBezTo>
                            <a:pt x="221417" y="529629"/>
                            <a:pt x="225757" y="529440"/>
                            <a:pt x="229908" y="529063"/>
                          </a:cubicBez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10" name="Google Shape;2150;p123">
                      <a:extLst>
                        <a:ext uri="{FF2B5EF4-FFF2-40B4-BE49-F238E27FC236}">
                          <a16:creationId xmlns:a16="http://schemas.microsoft.com/office/drawing/2014/main" id="{5ADFB753-2EE0-8406-B924-D2482FA00484}"/>
                        </a:ext>
                      </a:extLst>
                    </p:cNvPr>
                    <p:cNvSpPr/>
                    <p:nvPr/>
                  </p:nvSpPr>
                  <p:spPr>
                    <a:xfrm>
                      <a:off x="8271042" y="3561737"/>
                      <a:ext cx="15523" cy="105850"/>
                    </a:xfrm>
                    <a:custGeom>
                      <a:avLst/>
                      <a:gdLst/>
                      <a:ahLst/>
                      <a:cxnLst/>
                      <a:rect l="l" t="t" r="r" b="b"/>
                      <a:pathLst>
                        <a:path w="15523" h="105850" extrusionOk="0">
                          <a:moveTo>
                            <a:pt x="0" y="105850"/>
                          </a:moveTo>
                          <a:cubicBezTo>
                            <a:pt x="18585" y="72548"/>
                            <a:pt x="20095" y="33585"/>
                            <a:pt x="6604" y="0"/>
                          </a:cubicBez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sp>
                <p:nvSpPr>
                  <p:cNvPr id="105" name="Google Shape;2151;p123">
                    <a:extLst>
                      <a:ext uri="{FF2B5EF4-FFF2-40B4-BE49-F238E27FC236}">
                        <a16:creationId xmlns:a16="http://schemas.microsoft.com/office/drawing/2014/main" id="{526CF0FF-79EE-67ED-001C-8E4E25A3AF56}"/>
                      </a:ext>
                    </a:extLst>
                  </p:cNvPr>
                  <p:cNvSpPr/>
                  <p:nvPr/>
                </p:nvSpPr>
                <p:spPr>
                  <a:xfrm>
                    <a:off x="8484346" y="2905596"/>
                    <a:ext cx="462269" cy="1008974"/>
                  </a:xfrm>
                  <a:custGeom>
                    <a:avLst/>
                    <a:gdLst/>
                    <a:ahLst/>
                    <a:cxnLst/>
                    <a:rect l="l" t="t" r="r" b="b"/>
                    <a:pathLst>
                      <a:path w="462269" h="1008974" extrusionOk="0">
                        <a:moveTo>
                          <a:pt x="462270" y="504534"/>
                        </a:moveTo>
                        <a:cubicBezTo>
                          <a:pt x="462270" y="535290"/>
                          <a:pt x="437364" y="560195"/>
                          <a:pt x="406608" y="560195"/>
                        </a:cubicBezTo>
                        <a:cubicBezTo>
                          <a:pt x="375853" y="560195"/>
                          <a:pt x="350948" y="535290"/>
                          <a:pt x="350948" y="504534"/>
                        </a:cubicBezTo>
                        <a:cubicBezTo>
                          <a:pt x="350948" y="473779"/>
                          <a:pt x="375853" y="448873"/>
                          <a:pt x="406608" y="448873"/>
                        </a:cubicBezTo>
                        <a:cubicBezTo>
                          <a:pt x="437364" y="448873"/>
                          <a:pt x="462270" y="473779"/>
                          <a:pt x="462270" y="504534"/>
                        </a:cubicBezTo>
                        <a:close/>
                        <a:moveTo>
                          <a:pt x="351042" y="504534"/>
                        </a:moveTo>
                        <a:lnTo>
                          <a:pt x="0" y="504534"/>
                        </a:lnTo>
                        <a:moveTo>
                          <a:pt x="180285" y="55661"/>
                        </a:moveTo>
                        <a:cubicBezTo>
                          <a:pt x="180285" y="86416"/>
                          <a:pt x="155379" y="111322"/>
                          <a:pt x="124624" y="111322"/>
                        </a:cubicBezTo>
                        <a:cubicBezTo>
                          <a:pt x="93869" y="111322"/>
                          <a:pt x="68963" y="86416"/>
                          <a:pt x="68963" y="55661"/>
                        </a:cubicBezTo>
                        <a:cubicBezTo>
                          <a:pt x="68963" y="24906"/>
                          <a:pt x="93869" y="0"/>
                          <a:pt x="124624" y="0"/>
                        </a:cubicBezTo>
                        <a:cubicBezTo>
                          <a:pt x="155379" y="0"/>
                          <a:pt x="180285" y="24906"/>
                          <a:pt x="180285" y="55661"/>
                        </a:cubicBezTo>
                        <a:close/>
                        <a:moveTo>
                          <a:pt x="359815" y="185568"/>
                        </a:moveTo>
                        <a:cubicBezTo>
                          <a:pt x="381514" y="207267"/>
                          <a:pt x="381514" y="242456"/>
                          <a:pt x="359815" y="264249"/>
                        </a:cubicBezTo>
                        <a:cubicBezTo>
                          <a:pt x="338117" y="285947"/>
                          <a:pt x="302928" y="285947"/>
                          <a:pt x="281135" y="264249"/>
                        </a:cubicBezTo>
                        <a:cubicBezTo>
                          <a:pt x="259437" y="242550"/>
                          <a:pt x="259437" y="207361"/>
                          <a:pt x="281135" y="185568"/>
                        </a:cubicBezTo>
                        <a:cubicBezTo>
                          <a:pt x="302834" y="163870"/>
                          <a:pt x="338023" y="163870"/>
                          <a:pt x="359815" y="185568"/>
                        </a:cubicBezTo>
                        <a:close/>
                        <a:moveTo>
                          <a:pt x="281135" y="264154"/>
                        </a:moveTo>
                        <a:lnTo>
                          <a:pt x="193776" y="351514"/>
                        </a:lnTo>
                        <a:lnTo>
                          <a:pt x="283" y="351514"/>
                        </a:lnTo>
                        <a:moveTo>
                          <a:pt x="124624" y="1008974"/>
                        </a:moveTo>
                        <a:cubicBezTo>
                          <a:pt x="93869" y="1008974"/>
                          <a:pt x="68963" y="984068"/>
                          <a:pt x="68963" y="953313"/>
                        </a:cubicBezTo>
                        <a:cubicBezTo>
                          <a:pt x="68963" y="922558"/>
                          <a:pt x="93869" y="897653"/>
                          <a:pt x="124624" y="897653"/>
                        </a:cubicBezTo>
                        <a:cubicBezTo>
                          <a:pt x="155379" y="897653"/>
                          <a:pt x="180285" y="922558"/>
                          <a:pt x="180285" y="953313"/>
                        </a:cubicBezTo>
                        <a:cubicBezTo>
                          <a:pt x="180285" y="984068"/>
                          <a:pt x="155379" y="1008974"/>
                          <a:pt x="124624" y="1008974"/>
                        </a:cubicBezTo>
                        <a:close/>
                        <a:moveTo>
                          <a:pt x="281135" y="823501"/>
                        </a:moveTo>
                        <a:cubicBezTo>
                          <a:pt x="259437" y="801802"/>
                          <a:pt x="259437" y="766613"/>
                          <a:pt x="281135" y="744820"/>
                        </a:cubicBezTo>
                        <a:cubicBezTo>
                          <a:pt x="302834" y="723122"/>
                          <a:pt x="338023" y="723122"/>
                          <a:pt x="359815" y="744820"/>
                        </a:cubicBezTo>
                        <a:cubicBezTo>
                          <a:pt x="381608" y="766519"/>
                          <a:pt x="381514" y="801708"/>
                          <a:pt x="359815" y="823501"/>
                        </a:cubicBezTo>
                        <a:cubicBezTo>
                          <a:pt x="338117" y="845199"/>
                          <a:pt x="302928" y="845199"/>
                          <a:pt x="281135" y="823501"/>
                        </a:cubicBezTo>
                        <a:close/>
                        <a:moveTo>
                          <a:pt x="188" y="657461"/>
                        </a:moveTo>
                        <a:lnTo>
                          <a:pt x="193681" y="657461"/>
                        </a:lnTo>
                        <a:lnTo>
                          <a:pt x="281041" y="744820"/>
                        </a:lnTo>
                        <a:moveTo>
                          <a:pt x="124624" y="111228"/>
                        </a:moveTo>
                        <a:lnTo>
                          <a:pt x="124624" y="351514"/>
                        </a:lnTo>
                        <a:moveTo>
                          <a:pt x="124624" y="897747"/>
                        </a:moveTo>
                        <a:lnTo>
                          <a:pt x="124624" y="657461"/>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97" name="Google Shape;2152;p123">
                <a:extLst>
                  <a:ext uri="{FF2B5EF4-FFF2-40B4-BE49-F238E27FC236}">
                    <a16:creationId xmlns:a16="http://schemas.microsoft.com/office/drawing/2014/main" id="{C1F83EB3-D092-D46F-E4E6-489443D2F06D}"/>
                  </a:ext>
                </a:extLst>
              </p:cNvPr>
              <p:cNvGrpSpPr/>
              <p:nvPr/>
            </p:nvGrpSpPr>
            <p:grpSpPr>
              <a:xfrm>
                <a:off x="6405707" y="2681743"/>
                <a:ext cx="632226" cy="199475"/>
                <a:chOff x="7320983" y="2710198"/>
                <a:chExt cx="482431" cy="199475"/>
              </a:xfrm>
            </p:grpSpPr>
            <p:sp>
              <p:nvSpPr>
                <p:cNvPr id="98" name="Google Shape;2153;p123">
                  <a:extLst>
                    <a:ext uri="{FF2B5EF4-FFF2-40B4-BE49-F238E27FC236}">
                      <a16:creationId xmlns:a16="http://schemas.microsoft.com/office/drawing/2014/main" id="{AD2A774D-C501-5938-A628-13020273CDBF}"/>
                    </a:ext>
                  </a:extLst>
                </p:cNvPr>
                <p:cNvSpPr/>
                <p:nvPr/>
              </p:nvSpPr>
              <p:spPr>
                <a:xfrm>
                  <a:off x="7320983" y="2710198"/>
                  <a:ext cx="431061" cy="27725"/>
                </a:xfrm>
                <a:custGeom>
                  <a:avLst/>
                  <a:gdLst/>
                  <a:ahLst/>
                  <a:cxnLst/>
                  <a:rect l="l" t="t" r="r" b="b"/>
                  <a:pathLst>
                    <a:path w="602882" h="38507" extrusionOk="0">
                      <a:moveTo>
                        <a:pt x="0" y="0"/>
                      </a:moveTo>
                      <a:lnTo>
                        <a:pt x="602883" y="0"/>
                      </a:lnTo>
                      <a:lnTo>
                        <a:pt x="602883" y="38507"/>
                      </a:lnTo>
                      <a:lnTo>
                        <a:pt x="0" y="385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99" name="Google Shape;2154;p123">
                  <a:extLst>
                    <a:ext uri="{FF2B5EF4-FFF2-40B4-BE49-F238E27FC236}">
                      <a16:creationId xmlns:a16="http://schemas.microsoft.com/office/drawing/2014/main" id="{5F57D9F7-DB00-8F39-E7C6-2D9A04D29A54}"/>
                    </a:ext>
                  </a:extLst>
                </p:cNvPr>
                <p:cNvSpPr/>
                <p:nvPr/>
              </p:nvSpPr>
              <p:spPr>
                <a:xfrm>
                  <a:off x="7320983" y="2767448"/>
                  <a:ext cx="482431" cy="27725"/>
                </a:xfrm>
                <a:custGeom>
                  <a:avLst/>
                  <a:gdLst/>
                  <a:ahLst/>
                  <a:cxnLst/>
                  <a:rect l="l" t="t" r="r" b="b"/>
                  <a:pathLst>
                    <a:path w="674729" h="38507" extrusionOk="0">
                      <a:moveTo>
                        <a:pt x="0" y="0"/>
                      </a:moveTo>
                      <a:lnTo>
                        <a:pt x="674730" y="0"/>
                      </a:lnTo>
                      <a:lnTo>
                        <a:pt x="674730" y="38507"/>
                      </a:lnTo>
                      <a:lnTo>
                        <a:pt x="0" y="385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00" name="Google Shape;2155;p123">
                  <a:extLst>
                    <a:ext uri="{FF2B5EF4-FFF2-40B4-BE49-F238E27FC236}">
                      <a16:creationId xmlns:a16="http://schemas.microsoft.com/office/drawing/2014/main" id="{0AD2D1AB-5653-0053-562F-79C58ECBA0A1}"/>
                    </a:ext>
                  </a:extLst>
                </p:cNvPr>
                <p:cNvSpPr/>
                <p:nvPr/>
              </p:nvSpPr>
              <p:spPr>
                <a:xfrm>
                  <a:off x="7320983" y="2824698"/>
                  <a:ext cx="359232" cy="27725"/>
                </a:xfrm>
                <a:custGeom>
                  <a:avLst/>
                  <a:gdLst/>
                  <a:ahLst/>
                  <a:cxnLst/>
                  <a:rect l="l" t="t" r="r" b="b"/>
                  <a:pathLst>
                    <a:path w="502423" h="38507" extrusionOk="0">
                      <a:moveTo>
                        <a:pt x="0" y="0"/>
                      </a:moveTo>
                      <a:lnTo>
                        <a:pt x="502423" y="0"/>
                      </a:lnTo>
                      <a:lnTo>
                        <a:pt x="502423" y="38507"/>
                      </a:lnTo>
                      <a:lnTo>
                        <a:pt x="0" y="385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01" name="Google Shape;2156;p123">
                  <a:extLst>
                    <a:ext uri="{FF2B5EF4-FFF2-40B4-BE49-F238E27FC236}">
                      <a16:creationId xmlns:a16="http://schemas.microsoft.com/office/drawing/2014/main" id="{FFA1F827-DDF2-385A-6C59-2FF0CD553696}"/>
                    </a:ext>
                  </a:extLst>
                </p:cNvPr>
                <p:cNvSpPr/>
                <p:nvPr/>
              </p:nvSpPr>
              <p:spPr>
                <a:xfrm>
                  <a:off x="7320983" y="2881948"/>
                  <a:ext cx="426239" cy="27725"/>
                </a:xfrm>
                <a:custGeom>
                  <a:avLst/>
                  <a:gdLst/>
                  <a:ahLst/>
                  <a:cxnLst/>
                  <a:rect l="l" t="t" r="r" b="b"/>
                  <a:pathLst>
                    <a:path w="596139" h="38507" extrusionOk="0">
                      <a:moveTo>
                        <a:pt x="0" y="0"/>
                      </a:moveTo>
                      <a:lnTo>
                        <a:pt x="596140" y="0"/>
                      </a:lnTo>
                      <a:lnTo>
                        <a:pt x="596140" y="38507"/>
                      </a:lnTo>
                      <a:lnTo>
                        <a:pt x="0" y="385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sp>
        <p:nvSpPr>
          <p:cNvPr id="136" name="Google Shape;2157;p123">
            <a:extLst>
              <a:ext uri="{FF2B5EF4-FFF2-40B4-BE49-F238E27FC236}">
                <a16:creationId xmlns:a16="http://schemas.microsoft.com/office/drawing/2014/main" id="{BAAD0A21-1472-BD2D-BA22-D108316FC84E}"/>
              </a:ext>
            </a:extLst>
          </p:cNvPr>
          <p:cNvSpPr txBox="1"/>
          <p:nvPr/>
        </p:nvSpPr>
        <p:spPr>
          <a:xfrm>
            <a:off x="9454061" y="3622898"/>
            <a:ext cx="2054665" cy="369204"/>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a:solidFill>
                  <a:schemeClr val="dk2"/>
                </a:solidFill>
                <a:latin typeface="Arial"/>
                <a:ea typeface="Arial"/>
                <a:cs typeface="Arial"/>
                <a:sym typeface="Arial"/>
              </a:rPr>
              <a:t>Implement Ransomware protection and recovery</a:t>
            </a:r>
            <a:endParaRPr sz="1333">
              <a:solidFill>
                <a:srgbClr val="000000"/>
              </a:solidFill>
              <a:latin typeface="Arial"/>
              <a:ea typeface="Arial"/>
              <a:cs typeface="Arial"/>
              <a:sym typeface="Arial"/>
            </a:endParaRPr>
          </a:p>
        </p:txBody>
      </p:sp>
      <p:sp>
        <p:nvSpPr>
          <p:cNvPr id="137" name="Google Shape;2158;p123">
            <a:extLst>
              <a:ext uri="{FF2B5EF4-FFF2-40B4-BE49-F238E27FC236}">
                <a16:creationId xmlns:a16="http://schemas.microsoft.com/office/drawing/2014/main" id="{75CD3E4C-F51C-2A45-6FAF-45D47B7C8438}"/>
              </a:ext>
            </a:extLst>
          </p:cNvPr>
          <p:cNvSpPr txBox="1"/>
          <p:nvPr/>
        </p:nvSpPr>
        <p:spPr>
          <a:xfrm>
            <a:off x="9454061" y="4567788"/>
            <a:ext cx="2110650" cy="369204"/>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a:solidFill>
                  <a:schemeClr val="dk2"/>
                </a:solidFill>
                <a:latin typeface="Arial"/>
                <a:ea typeface="Arial"/>
                <a:cs typeface="Arial"/>
                <a:sym typeface="Arial"/>
              </a:rPr>
              <a:t>Implement disaster </a:t>
            </a:r>
            <a:br>
              <a:rPr lang="en" sz="1333">
                <a:solidFill>
                  <a:schemeClr val="dk2"/>
                </a:solidFill>
                <a:latin typeface="Arial"/>
                <a:ea typeface="Arial"/>
                <a:cs typeface="Arial"/>
                <a:sym typeface="Arial"/>
              </a:rPr>
            </a:br>
            <a:r>
              <a:rPr lang="en" sz="1333">
                <a:solidFill>
                  <a:schemeClr val="dk2"/>
                </a:solidFill>
                <a:latin typeface="Arial"/>
                <a:ea typeface="Arial"/>
                <a:cs typeface="Arial"/>
                <a:sym typeface="Arial"/>
              </a:rPr>
              <a:t>recovery</a:t>
            </a:r>
            <a:endParaRPr sz="1333">
              <a:solidFill>
                <a:srgbClr val="000000"/>
              </a:solidFill>
              <a:latin typeface="Arial"/>
              <a:ea typeface="Arial"/>
              <a:cs typeface="Arial"/>
              <a:sym typeface="Arial"/>
            </a:endParaRPr>
          </a:p>
        </p:txBody>
      </p:sp>
      <p:sp>
        <p:nvSpPr>
          <p:cNvPr id="138" name="Google Shape;2159;p123">
            <a:extLst>
              <a:ext uri="{FF2B5EF4-FFF2-40B4-BE49-F238E27FC236}">
                <a16:creationId xmlns:a16="http://schemas.microsoft.com/office/drawing/2014/main" id="{E4728E6C-7766-20E4-4B65-CF6BEF2DCD64}"/>
              </a:ext>
            </a:extLst>
          </p:cNvPr>
          <p:cNvSpPr txBox="1"/>
          <p:nvPr/>
        </p:nvSpPr>
        <p:spPr>
          <a:xfrm>
            <a:off x="9454061" y="5415755"/>
            <a:ext cx="2046267" cy="369204"/>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a:solidFill>
                  <a:schemeClr val="dk2"/>
                </a:solidFill>
                <a:latin typeface="Arial"/>
                <a:ea typeface="Arial"/>
                <a:cs typeface="Arial"/>
                <a:sym typeface="Arial"/>
              </a:rPr>
              <a:t>Integrate security, compliance, and resilience</a:t>
            </a:r>
            <a:endParaRPr sz="1333">
              <a:solidFill>
                <a:srgbClr val="000000"/>
              </a:solidFill>
              <a:latin typeface="Arial"/>
              <a:ea typeface="Arial"/>
              <a:cs typeface="Arial"/>
              <a:sym typeface="Arial"/>
            </a:endParaRPr>
          </a:p>
        </p:txBody>
      </p:sp>
      <p:pic>
        <p:nvPicPr>
          <p:cNvPr id="139" name="Google Shape;2160;p123">
            <a:extLst>
              <a:ext uri="{FF2B5EF4-FFF2-40B4-BE49-F238E27FC236}">
                <a16:creationId xmlns:a16="http://schemas.microsoft.com/office/drawing/2014/main" id="{00A557AE-BD11-2874-98AA-367F1FE4A0E5}"/>
              </a:ext>
            </a:extLst>
          </p:cNvPr>
          <p:cNvPicPr preferRelativeResize="0"/>
          <p:nvPr/>
        </p:nvPicPr>
        <p:blipFill rotWithShape="1">
          <a:blip r:embed="rId3">
            <a:alphaModFix/>
          </a:blip>
          <a:srcRect/>
          <a:stretch/>
        </p:blipFill>
        <p:spPr>
          <a:xfrm>
            <a:off x="10377398" y="1938590"/>
            <a:ext cx="1369301" cy="537164"/>
          </a:xfrm>
          <a:prstGeom prst="rect">
            <a:avLst/>
          </a:prstGeom>
          <a:noFill/>
          <a:ln>
            <a:noFill/>
          </a:ln>
        </p:spPr>
      </p:pic>
      <p:grpSp>
        <p:nvGrpSpPr>
          <p:cNvPr id="140" name="Google Shape;2161;p123">
            <a:extLst>
              <a:ext uri="{FF2B5EF4-FFF2-40B4-BE49-F238E27FC236}">
                <a16:creationId xmlns:a16="http://schemas.microsoft.com/office/drawing/2014/main" id="{1713F101-FA02-6DAA-1C72-1882A4DCCF5B}"/>
              </a:ext>
            </a:extLst>
          </p:cNvPr>
          <p:cNvGrpSpPr/>
          <p:nvPr/>
        </p:nvGrpSpPr>
        <p:grpSpPr>
          <a:xfrm>
            <a:off x="9758662" y="1568880"/>
            <a:ext cx="917941" cy="1002194"/>
            <a:chOff x="5578956" y="7634764"/>
            <a:chExt cx="1956906" cy="2137126"/>
          </a:xfrm>
        </p:grpSpPr>
        <p:sp>
          <p:nvSpPr>
            <p:cNvPr id="141" name="Google Shape;2162;p123">
              <a:extLst>
                <a:ext uri="{FF2B5EF4-FFF2-40B4-BE49-F238E27FC236}">
                  <a16:creationId xmlns:a16="http://schemas.microsoft.com/office/drawing/2014/main" id="{B3D77E18-239F-437D-DAA5-4AA84EBE666E}"/>
                </a:ext>
              </a:extLst>
            </p:cNvPr>
            <p:cNvSpPr/>
            <p:nvPr/>
          </p:nvSpPr>
          <p:spPr>
            <a:xfrm>
              <a:off x="5578956" y="7634764"/>
              <a:ext cx="1956906" cy="2137126"/>
            </a:xfrm>
            <a:custGeom>
              <a:avLst/>
              <a:gdLst/>
              <a:ahLst/>
              <a:cxnLst/>
              <a:rect l="l" t="t" r="r" b="b"/>
              <a:pathLst>
                <a:path w="1956906" h="2137126" extrusionOk="0">
                  <a:moveTo>
                    <a:pt x="1956906" y="0"/>
                  </a:moveTo>
                  <a:lnTo>
                    <a:pt x="1956906" y="798735"/>
                  </a:lnTo>
                  <a:cubicBezTo>
                    <a:pt x="1956906" y="1425837"/>
                    <a:pt x="1545817" y="1956781"/>
                    <a:pt x="978453" y="2137126"/>
                  </a:cubicBezTo>
                  <a:cubicBezTo>
                    <a:pt x="411089" y="1956843"/>
                    <a:pt x="0" y="1425837"/>
                    <a:pt x="0" y="798735"/>
                  </a:cubicBezTo>
                  <a:lnTo>
                    <a:pt x="0" y="0"/>
                  </a:lnTo>
                  <a:cubicBezTo>
                    <a:pt x="0" y="0"/>
                    <a:pt x="1956906" y="0"/>
                    <a:pt x="1956906" y="0"/>
                  </a:cubicBezTo>
                  <a:close/>
                </a:path>
              </a:pathLst>
            </a:custGeom>
            <a:gradFill>
              <a:gsLst>
                <a:gs pos="0">
                  <a:schemeClr val="accent3"/>
                </a:gs>
                <a:gs pos="20000">
                  <a:schemeClr val="accent3"/>
                </a:gs>
                <a:gs pos="86000">
                  <a:schemeClr val="accent4"/>
                </a:gs>
                <a:gs pos="100000">
                  <a:schemeClr val="accent4"/>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42" name="Google Shape;2163;p123">
              <a:extLst>
                <a:ext uri="{FF2B5EF4-FFF2-40B4-BE49-F238E27FC236}">
                  <a16:creationId xmlns:a16="http://schemas.microsoft.com/office/drawing/2014/main" id="{0A227F26-D776-1C19-83F7-FE1A5323C144}"/>
                </a:ext>
              </a:extLst>
            </p:cNvPr>
            <p:cNvSpPr/>
            <p:nvPr/>
          </p:nvSpPr>
          <p:spPr>
            <a:xfrm>
              <a:off x="6557409" y="7634764"/>
              <a:ext cx="978453" cy="2137126"/>
            </a:xfrm>
            <a:custGeom>
              <a:avLst/>
              <a:gdLst/>
              <a:ahLst/>
              <a:cxnLst/>
              <a:rect l="l" t="t" r="r" b="b"/>
              <a:pathLst>
                <a:path w="978453" h="2137126" extrusionOk="0">
                  <a:moveTo>
                    <a:pt x="0" y="0"/>
                  </a:moveTo>
                  <a:lnTo>
                    <a:pt x="978453" y="0"/>
                  </a:lnTo>
                  <a:cubicBezTo>
                    <a:pt x="978453" y="0"/>
                    <a:pt x="978453" y="798735"/>
                    <a:pt x="978453" y="798735"/>
                  </a:cubicBezTo>
                  <a:cubicBezTo>
                    <a:pt x="978453" y="1425837"/>
                    <a:pt x="567364" y="1956781"/>
                    <a:pt x="0" y="2137126"/>
                  </a:cubicBezTo>
                  <a:cubicBezTo>
                    <a:pt x="0" y="2137126"/>
                    <a:pt x="0" y="2137126"/>
                    <a:pt x="0" y="2137126"/>
                  </a:cubicBezTo>
                  <a:lnTo>
                    <a:pt x="0" y="0"/>
                  </a:lnTo>
                  <a:close/>
                </a:path>
              </a:pathLst>
            </a:custGeom>
            <a:solidFill>
              <a:schemeClr val="lt2">
                <a:alpha val="2431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43" name="Google Shape;2164;p123">
            <a:extLst>
              <a:ext uri="{FF2B5EF4-FFF2-40B4-BE49-F238E27FC236}">
                <a16:creationId xmlns:a16="http://schemas.microsoft.com/office/drawing/2014/main" id="{65C12983-F980-65DB-DE43-800CA5CCB0EC}"/>
              </a:ext>
            </a:extLst>
          </p:cNvPr>
          <p:cNvGrpSpPr/>
          <p:nvPr/>
        </p:nvGrpSpPr>
        <p:grpSpPr>
          <a:xfrm>
            <a:off x="9994178" y="1755550"/>
            <a:ext cx="447587" cy="445959"/>
            <a:chOff x="1847259" y="4474380"/>
            <a:chExt cx="603050" cy="600962"/>
          </a:xfrm>
        </p:grpSpPr>
        <p:sp>
          <p:nvSpPr>
            <p:cNvPr id="144" name="Google Shape;2165;p123">
              <a:extLst>
                <a:ext uri="{FF2B5EF4-FFF2-40B4-BE49-F238E27FC236}">
                  <a16:creationId xmlns:a16="http://schemas.microsoft.com/office/drawing/2014/main" id="{9DC3F485-4BD4-87F2-031D-E7092DDFA6CE}"/>
                </a:ext>
              </a:extLst>
            </p:cNvPr>
            <p:cNvSpPr/>
            <p:nvPr/>
          </p:nvSpPr>
          <p:spPr>
            <a:xfrm>
              <a:off x="1946176" y="4474380"/>
              <a:ext cx="504133" cy="553149"/>
            </a:xfrm>
            <a:custGeom>
              <a:avLst/>
              <a:gdLst/>
              <a:ahLst/>
              <a:cxnLst/>
              <a:rect l="l" t="t" r="r" b="b"/>
              <a:pathLst>
                <a:path w="504133" h="553149" extrusionOk="0">
                  <a:moveTo>
                    <a:pt x="482441" y="501920"/>
                  </a:moveTo>
                  <a:lnTo>
                    <a:pt x="482441" y="0"/>
                  </a:lnTo>
                  <a:lnTo>
                    <a:pt x="0" y="0"/>
                  </a:lnTo>
                  <a:lnTo>
                    <a:pt x="0" y="15812"/>
                  </a:lnTo>
                  <a:lnTo>
                    <a:pt x="466629" y="15812"/>
                  </a:lnTo>
                  <a:lnTo>
                    <a:pt x="466629" y="501920"/>
                  </a:lnTo>
                  <a:lnTo>
                    <a:pt x="444999" y="501920"/>
                  </a:lnTo>
                  <a:lnTo>
                    <a:pt x="474535" y="553150"/>
                  </a:lnTo>
                  <a:lnTo>
                    <a:pt x="504134" y="501920"/>
                  </a:lnTo>
                  <a:lnTo>
                    <a:pt x="482441" y="501920"/>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45" name="Google Shape;2166;p123">
              <a:extLst>
                <a:ext uri="{FF2B5EF4-FFF2-40B4-BE49-F238E27FC236}">
                  <a16:creationId xmlns:a16="http://schemas.microsoft.com/office/drawing/2014/main" id="{99A642EF-6E3F-95FB-17BD-D4A47C9D8CC7}"/>
                </a:ext>
              </a:extLst>
            </p:cNvPr>
            <p:cNvSpPr/>
            <p:nvPr/>
          </p:nvSpPr>
          <p:spPr>
            <a:xfrm>
              <a:off x="1847259" y="4489179"/>
              <a:ext cx="522285" cy="586163"/>
            </a:xfrm>
            <a:custGeom>
              <a:avLst/>
              <a:gdLst/>
              <a:ahLst/>
              <a:cxnLst/>
              <a:rect l="l" t="t" r="r" b="b"/>
              <a:pathLst>
                <a:path w="522285" h="586163" extrusionOk="0">
                  <a:moveTo>
                    <a:pt x="37442" y="570352"/>
                  </a:moveTo>
                  <a:lnTo>
                    <a:pt x="37442" y="51166"/>
                  </a:lnTo>
                  <a:lnTo>
                    <a:pt x="59135" y="51166"/>
                  </a:lnTo>
                  <a:lnTo>
                    <a:pt x="29536" y="0"/>
                  </a:lnTo>
                  <a:lnTo>
                    <a:pt x="0" y="51166"/>
                  </a:lnTo>
                  <a:lnTo>
                    <a:pt x="21630" y="51166"/>
                  </a:lnTo>
                  <a:lnTo>
                    <a:pt x="21630" y="586164"/>
                  </a:lnTo>
                  <a:lnTo>
                    <a:pt x="522285" y="586164"/>
                  </a:lnTo>
                  <a:lnTo>
                    <a:pt x="522285" y="570352"/>
                  </a:lnTo>
                  <a:lnTo>
                    <a:pt x="37442" y="570352"/>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46" name="Google Shape;2167;p123">
              <a:extLst>
                <a:ext uri="{FF2B5EF4-FFF2-40B4-BE49-F238E27FC236}">
                  <a16:creationId xmlns:a16="http://schemas.microsoft.com/office/drawing/2014/main" id="{8FC0919C-8112-28F3-6D99-E42FF9273A66}"/>
                </a:ext>
              </a:extLst>
            </p:cNvPr>
            <p:cNvSpPr/>
            <p:nvPr/>
          </p:nvSpPr>
          <p:spPr>
            <a:xfrm>
              <a:off x="2063877" y="4601125"/>
              <a:ext cx="182022" cy="357719"/>
            </a:xfrm>
            <a:custGeom>
              <a:avLst/>
              <a:gdLst/>
              <a:ahLst/>
              <a:cxnLst/>
              <a:rect l="l" t="t" r="r" b="b"/>
              <a:pathLst>
                <a:path w="182022" h="357719" extrusionOk="0">
                  <a:moveTo>
                    <a:pt x="164819" y="0"/>
                  </a:moveTo>
                  <a:lnTo>
                    <a:pt x="2720" y="150336"/>
                  </a:lnTo>
                  <a:lnTo>
                    <a:pt x="101510" y="187714"/>
                  </a:lnTo>
                  <a:lnTo>
                    <a:pt x="0" y="357719"/>
                  </a:lnTo>
                  <a:lnTo>
                    <a:pt x="182022" y="166843"/>
                  </a:lnTo>
                  <a:lnTo>
                    <a:pt x="86900" y="132564"/>
                  </a:lnTo>
                  <a:lnTo>
                    <a:pt x="164819" y="0"/>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47" name="Google Shape;2168;p123">
            <a:extLst>
              <a:ext uri="{FF2B5EF4-FFF2-40B4-BE49-F238E27FC236}">
                <a16:creationId xmlns:a16="http://schemas.microsoft.com/office/drawing/2014/main" id="{63E06952-FA82-5CDD-760D-AC87BA8D7297}"/>
              </a:ext>
            </a:extLst>
          </p:cNvPr>
          <p:cNvGrpSpPr/>
          <p:nvPr/>
        </p:nvGrpSpPr>
        <p:grpSpPr>
          <a:xfrm>
            <a:off x="10783705" y="1367461"/>
            <a:ext cx="313018" cy="312966"/>
            <a:chOff x="10848307" y="1427688"/>
            <a:chExt cx="391832" cy="391832"/>
          </a:xfrm>
        </p:grpSpPr>
        <p:grpSp>
          <p:nvGrpSpPr>
            <p:cNvPr id="148" name="Google Shape;2169;p123">
              <a:extLst>
                <a:ext uri="{FF2B5EF4-FFF2-40B4-BE49-F238E27FC236}">
                  <a16:creationId xmlns:a16="http://schemas.microsoft.com/office/drawing/2014/main" id="{AC122F0A-F924-C09E-9F19-5EC5517BC720}"/>
                </a:ext>
              </a:extLst>
            </p:cNvPr>
            <p:cNvGrpSpPr/>
            <p:nvPr/>
          </p:nvGrpSpPr>
          <p:grpSpPr>
            <a:xfrm>
              <a:off x="10848307" y="1427688"/>
              <a:ext cx="391832" cy="391832"/>
              <a:chOff x="-396256" y="3115798"/>
              <a:chExt cx="601800" cy="601800"/>
            </a:xfrm>
          </p:grpSpPr>
          <p:sp>
            <p:nvSpPr>
              <p:cNvPr id="152" name="Google Shape;2170;p123">
                <a:extLst>
                  <a:ext uri="{FF2B5EF4-FFF2-40B4-BE49-F238E27FC236}">
                    <a16:creationId xmlns:a16="http://schemas.microsoft.com/office/drawing/2014/main" id="{4BA40BD8-3997-BBC5-3C6B-634625E576DC}"/>
                  </a:ext>
                </a:extLst>
              </p:cNvPr>
              <p:cNvSpPr/>
              <p:nvPr/>
            </p:nvSpPr>
            <p:spPr>
              <a:xfrm>
                <a:off x="-396256" y="3115798"/>
                <a:ext cx="601800" cy="601800"/>
              </a:xfrm>
              <a:prstGeom prst="roundRect">
                <a:avLst>
                  <a:gd name="adj" fmla="val 9912"/>
                </a:avLst>
              </a:prstGeom>
              <a:gradFill>
                <a:gsLst>
                  <a:gs pos="0">
                    <a:schemeClr val="accent6"/>
                  </a:gs>
                  <a:gs pos="100000">
                    <a:srgbClr val="D58B3F"/>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53" name="Google Shape;2171;p123">
                <a:extLst>
                  <a:ext uri="{FF2B5EF4-FFF2-40B4-BE49-F238E27FC236}">
                    <a16:creationId xmlns:a16="http://schemas.microsoft.com/office/drawing/2014/main" id="{C13EC27B-7E28-DA60-26FF-0A457E43EE8C}"/>
                  </a:ext>
                </a:extLst>
              </p:cNvPr>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470"/>
                    </a:srgbClr>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49" name="Google Shape;2172;p123">
              <a:extLst>
                <a:ext uri="{FF2B5EF4-FFF2-40B4-BE49-F238E27FC236}">
                  <a16:creationId xmlns:a16="http://schemas.microsoft.com/office/drawing/2014/main" id="{7CB05755-1468-EED0-67FB-EA8A90155E34}"/>
                </a:ext>
              </a:extLst>
            </p:cNvPr>
            <p:cNvGrpSpPr/>
            <p:nvPr/>
          </p:nvGrpSpPr>
          <p:grpSpPr>
            <a:xfrm>
              <a:off x="10951893" y="1486404"/>
              <a:ext cx="184697" cy="274487"/>
              <a:chOff x="911902" y="3187004"/>
              <a:chExt cx="184697" cy="274487"/>
            </a:xfrm>
          </p:grpSpPr>
          <p:sp>
            <p:nvSpPr>
              <p:cNvPr id="150" name="Google Shape;2173;p123">
                <a:extLst>
                  <a:ext uri="{FF2B5EF4-FFF2-40B4-BE49-F238E27FC236}">
                    <a16:creationId xmlns:a16="http://schemas.microsoft.com/office/drawing/2014/main" id="{FF06B9C3-0A11-FA3A-075E-EF004142A23D}"/>
                  </a:ext>
                </a:extLst>
              </p:cNvPr>
              <p:cNvSpPr/>
              <p:nvPr/>
            </p:nvSpPr>
            <p:spPr>
              <a:xfrm>
                <a:off x="911902" y="3187004"/>
                <a:ext cx="184697" cy="274487"/>
              </a:xfrm>
              <a:custGeom>
                <a:avLst/>
                <a:gdLst/>
                <a:ahLst/>
                <a:cxnLst/>
                <a:rect l="l" t="t" r="r" b="b"/>
                <a:pathLst>
                  <a:path w="184697" h="274487" extrusionOk="0">
                    <a:moveTo>
                      <a:pt x="146731" y="107518"/>
                    </a:moveTo>
                    <a:lnTo>
                      <a:pt x="146731" y="55024"/>
                    </a:lnTo>
                    <a:cubicBezTo>
                      <a:pt x="146731" y="24666"/>
                      <a:pt x="124595" y="0"/>
                      <a:pt x="96766" y="0"/>
                    </a:cubicBezTo>
                    <a:lnTo>
                      <a:pt x="88544" y="0"/>
                    </a:lnTo>
                    <a:cubicBezTo>
                      <a:pt x="61349" y="0"/>
                      <a:pt x="38580" y="24666"/>
                      <a:pt x="38580" y="55024"/>
                    </a:cubicBezTo>
                    <a:lnTo>
                      <a:pt x="38580" y="107518"/>
                    </a:lnTo>
                    <a:cubicBezTo>
                      <a:pt x="15179" y="124595"/>
                      <a:pt x="0" y="151790"/>
                      <a:pt x="0" y="182148"/>
                    </a:cubicBezTo>
                    <a:cubicBezTo>
                      <a:pt x="0" y="233378"/>
                      <a:pt x="41110" y="274488"/>
                      <a:pt x="92339" y="274488"/>
                    </a:cubicBezTo>
                    <a:cubicBezTo>
                      <a:pt x="143568" y="274488"/>
                      <a:pt x="184678" y="233378"/>
                      <a:pt x="184678" y="182148"/>
                    </a:cubicBezTo>
                    <a:cubicBezTo>
                      <a:pt x="185311" y="151790"/>
                      <a:pt x="170132" y="124595"/>
                      <a:pt x="146731" y="107518"/>
                    </a:cubicBezTo>
                    <a:close/>
                    <a:moveTo>
                      <a:pt x="54392" y="55656"/>
                    </a:moveTo>
                    <a:cubicBezTo>
                      <a:pt x="54392" y="34153"/>
                      <a:pt x="69571" y="16444"/>
                      <a:pt x="88544" y="16444"/>
                    </a:cubicBezTo>
                    <a:lnTo>
                      <a:pt x="96766" y="16444"/>
                    </a:lnTo>
                    <a:cubicBezTo>
                      <a:pt x="115740" y="16444"/>
                      <a:pt x="130919" y="34153"/>
                      <a:pt x="130919" y="55656"/>
                    </a:cubicBezTo>
                    <a:lnTo>
                      <a:pt x="130919" y="98664"/>
                    </a:lnTo>
                    <a:cubicBezTo>
                      <a:pt x="119535" y="93604"/>
                      <a:pt x="106253" y="90442"/>
                      <a:pt x="92339" y="90442"/>
                    </a:cubicBezTo>
                    <a:cubicBezTo>
                      <a:pt x="78425" y="90442"/>
                      <a:pt x="65776" y="93604"/>
                      <a:pt x="53759" y="98664"/>
                    </a:cubicBezTo>
                    <a:lnTo>
                      <a:pt x="53759" y="55656"/>
                    </a:lnTo>
                    <a:close/>
                    <a:moveTo>
                      <a:pt x="92972" y="259309"/>
                    </a:moveTo>
                    <a:cubicBezTo>
                      <a:pt x="50597" y="259309"/>
                      <a:pt x="16444" y="225156"/>
                      <a:pt x="16444" y="182781"/>
                    </a:cubicBezTo>
                    <a:cubicBezTo>
                      <a:pt x="16444" y="140406"/>
                      <a:pt x="50597" y="106253"/>
                      <a:pt x="92972" y="106253"/>
                    </a:cubicBezTo>
                    <a:cubicBezTo>
                      <a:pt x="135346" y="106253"/>
                      <a:pt x="169499" y="140406"/>
                      <a:pt x="169499" y="182781"/>
                    </a:cubicBezTo>
                    <a:cubicBezTo>
                      <a:pt x="169499" y="224523"/>
                      <a:pt x="134714" y="259309"/>
                      <a:pt x="92972" y="259309"/>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51" name="Google Shape;2174;p123">
                <a:extLst>
                  <a:ext uri="{FF2B5EF4-FFF2-40B4-BE49-F238E27FC236}">
                    <a16:creationId xmlns:a16="http://schemas.microsoft.com/office/drawing/2014/main" id="{F4756B0F-1610-44C6-D9F8-71AE3E6426FF}"/>
                  </a:ext>
                </a:extLst>
              </p:cNvPr>
              <p:cNvSpPr/>
              <p:nvPr/>
            </p:nvSpPr>
            <p:spPr>
              <a:xfrm>
                <a:off x="989695" y="3345119"/>
                <a:ext cx="29765" cy="48066"/>
              </a:xfrm>
              <a:custGeom>
                <a:avLst/>
                <a:gdLst/>
                <a:ahLst/>
                <a:cxnLst/>
                <a:rect l="l" t="t" r="r" b="b"/>
                <a:pathLst>
                  <a:path w="29765" h="48066" extrusionOk="0">
                    <a:moveTo>
                      <a:pt x="15179" y="0"/>
                    </a:moveTo>
                    <a:cubicBezTo>
                      <a:pt x="6957" y="0"/>
                      <a:pt x="0" y="6957"/>
                      <a:pt x="0" y="15179"/>
                    </a:cubicBezTo>
                    <a:cubicBezTo>
                      <a:pt x="0" y="20871"/>
                      <a:pt x="3162" y="25931"/>
                      <a:pt x="7590" y="28461"/>
                    </a:cubicBezTo>
                    <a:lnTo>
                      <a:pt x="7590" y="44272"/>
                    </a:lnTo>
                    <a:cubicBezTo>
                      <a:pt x="7590" y="46802"/>
                      <a:pt x="9487" y="48067"/>
                      <a:pt x="11384" y="48067"/>
                    </a:cubicBezTo>
                    <a:lnTo>
                      <a:pt x="18341" y="48067"/>
                    </a:lnTo>
                    <a:cubicBezTo>
                      <a:pt x="20871" y="48067"/>
                      <a:pt x="22136" y="46170"/>
                      <a:pt x="22136" y="44272"/>
                    </a:cubicBezTo>
                    <a:lnTo>
                      <a:pt x="22136" y="28461"/>
                    </a:lnTo>
                    <a:cubicBezTo>
                      <a:pt x="26563" y="25931"/>
                      <a:pt x="29726" y="20871"/>
                      <a:pt x="29726" y="15179"/>
                    </a:cubicBezTo>
                    <a:cubicBezTo>
                      <a:pt x="30358" y="6957"/>
                      <a:pt x="23401" y="0"/>
                      <a:pt x="15179" y="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154" name="Google Shape;2175;p123">
            <a:extLst>
              <a:ext uri="{FF2B5EF4-FFF2-40B4-BE49-F238E27FC236}">
                <a16:creationId xmlns:a16="http://schemas.microsoft.com/office/drawing/2014/main" id="{D95437CB-3025-596A-6664-DE096DE0E2CD}"/>
              </a:ext>
            </a:extLst>
          </p:cNvPr>
          <p:cNvGrpSpPr/>
          <p:nvPr/>
        </p:nvGrpSpPr>
        <p:grpSpPr>
          <a:xfrm>
            <a:off x="9106820" y="2271510"/>
            <a:ext cx="313018" cy="312966"/>
            <a:chOff x="10848307" y="1427688"/>
            <a:chExt cx="391832" cy="391832"/>
          </a:xfrm>
        </p:grpSpPr>
        <p:grpSp>
          <p:nvGrpSpPr>
            <p:cNvPr id="155" name="Google Shape;2176;p123">
              <a:extLst>
                <a:ext uri="{FF2B5EF4-FFF2-40B4-BE49-F238E27FC236}">
                  <a16:creationId xmlns:a16="http://schemas.microsoft.com/office/drawing/2014/main" id="{039CBD69-7114-D1E9-443D-2390369BA0F9}"/>
                </a:ext>
              </a:extLst>
            </p:cNvPr>
            <p:cNvGrpSpPr/>
            <p:nvPr/>
          </p:nvGrpSpPr>
          <p:grpSpPr>
            <a:xfrm>
              <a:off x="10848307" y="1427688"/>
              <a:ext cx="391832" cy="391832"/>
              <a:chOff x="-396256" y="3115798"/>
              <a:chExt cx="601800" cy="601800"/>
            </a:xfrm>
          </p:grpSpPr>
          <p:sp>
            <p:nvSpPr>
              <p:cNvPr id="159" name="Google Shape;2177;p123">
                <a:extLst>
                  <a:ext uri="{FF2B5EF4-FFF2-40B4-BE49-F238E27FC236}">
                    <a16:creationId xmlns:a16="http://schemas.microsoft.com/office/drawing/2014/main" id="{2EDA0518-BFFF-F566-1F1B-2D9E11D2758F}"/>
                  </a:ext>
                </a:extLst>
              </p:cNvPr>
              <p:cNvSpPr/>
              <p:nvPr/>
            </p:nvSpPr>
            <p:spPr>
              <a:xfrm>
                <a:off x="-396256" y="3115798"/>
                <a:ext cx="601800" cy="601800"/>
              </a:xfrm>
              <a:prstGeom prst="roundRect">
                <a:avLst>
                  <a:gd name="adj" fmla="val 9912"/>
                </a:avLst>
              </a:prstGeom>
              <a:gradFill>
                <a:gsLst>
                  <a:gs pos="0">
                    <a:schemeClr val="accent6"/>
                  </a:gs>
                  <a:gs pos="100000">
                    <a:srgbClr val="D58B3F"/>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60" name="Google Shape;2178;p123">
                <a:extLst>
                  <a:ext uri="{FF2B5EF4-FFF2-40B4-BE49-F238E27FC236}">
                    <a16:creationId xmlns:a16="http://schemas.microsoft.com/office/drawing/2014/main" id="{519DA85D-D548-C896-1371-CAE042314928}"/>
                  </a:ext>
                </a:extLst>
              </p:cNvPr>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470"/>
                    </a:srgbClr>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56" name="Google Shape;2179;p123">
              <a:extLst>
                <a:ext uri="{FF2B5EF4-FFF2-40B4-BE49-F238E27FC236}">
                  <a16:creationId xmlns:a16="http://schemas.microsoft.com/office/drawing/2014/main" id="{75DD68D3-E226-6673-E684-E1294F01D90E}"/>
                </a:ext>
              </a:extLst>
            </p:cNvPr>
            <p:cNvGrpSpPr/>
            <p:nvPr/>
          </p:nvGrpSpPr>
          <p:grpSpPr>
            <a:xfrm>
              <a:off x="10951893" y="1486404"/>
              <a:ext cx="184697" cy="274487"/>
              <a:chOff x="911902" y="3187004"/>
              <a:chExt cx="184697" cy="274487"/>
            </a:xfrm>
          </p:grpSpPr>
          <p:sp>
            <p:nvSpPr>
              <p:cNvPr id="157" name="Google Shape;2180;p123">
                <a:extLst>
                  <a:ext uri="{FF2B5EF4-FFF2-40B4-BE49-F238E27FC236}">
                    <a16:creationId xmlns:a16="http://schemas.microsoft.com/office/drawing/2014/main" id="{72BC8C42-020D-BE8B-B754-F7439A1BB392}"/>
                  </a:ext>
                </a:extLst>
              </p:cNvPr>
              <p:cNvSpPr/>
              <p:nvPr/>
            </p:nvSpPr>
            <p:spPr>
              <a:xfrm>
                <a:off x="911902" y="3187004"/>
                <a:ext cx="184697" cy="274487"/>
              </a:xfrm>
              <a:custGeom>
                <a:avLst/>
                <a:gdLst/>
                <a:ahLst/>
                <a:cxnLst/>
                <a:rect l="l" t="t" r="r" b="b"/>
                <a:pathLst>
                  <a:path w="184697" h="274487" extrusionOk="0">
                    <a:moveTo>
                      <a:pt x="146731" y="107518"/>
                    </a:moveTo>
                    <a:lnTo>
                      <a:pt x="146731" y="55024"/>
                    </a:lnTo>
                    <a:cubicBezTo>
                      <a:pt x="146731" y="24666"/>
                      <a:pt x="124595" y="0"/>
                      <a:pt x="96766" y="0"/>
                    </a:cubicBezTo>
                    <a:lnTo>
                      <a:pt x="88544" y="0"/>
                    </a:lnTo>
                    <a:cubicBezTo>
                      <a:pt x="61349" y="0"/>
                      <a:pt x="38580" y="24666"/>
                      <a:pt x="38580" y="55024"/>
                    </a:cubicBezTo>
                    <a:lnTo>
                      <a:pt x="38580" y="107518"/>
                    </a:lnTo>
                    <a:cubicBezTo>
                      <a:pt x="15179" y="124595"/>
                      <a:pt x="0" y="151790"/>
                      <a:pt x="0" y="182148"/>
                    </a:cubicBezTo>
                    <a:cubicBezTo>
                      <a:pt x="0" y="233378"/>
                      <a:pt x="41110" y="274488"/>
                      <a:pt x="92339" y="274488"/>
                    </a:cubicBezTo>
                    <a:cubicBezTo>
                      <a:pt x="143568" y="274488"/>
                      <a:pt x="184678" y="233378"/>
                      <a:pt x="184678" y="182148"/>
                    </a:cubicBezTo>
                    <a:cubicBezTo>
                      <a:pt x="185311" y="151790"/>
                      <a:pt x="170132" y="124595"/>
                      <a:pt x="146731" y="107518"/>
                    </a:cubicBezTo>
                    <a:close/>
                    <a:moveTo>
                      <a:pt x="54392" y="55656"/>
                    </a:moveTo>
                    <a:cubicBezTo>
                      <a:pt x="54392" y="34153"/>
                      <a:pt x="69571" y="16444"/>
                      <a:pt x="88544" y="16444"/>
                    </a:cubicBezTo>
                    <a:lnTo>
                      <a:pt x="96766" y="16444"/>
                    </a:lnTo>
                    <a:cubicBezTo>
                      <a:pt x="115740" y="16444"/>
                      <a:pt x="130919" y="34153"/>
                      <a:pt x="130919" y="55656"/>
                    </a:cubicBezTo>
                    <a:lnTo>
                      <a:pt x="130919" y="98664"/>
                    </a:lnTo>
                    <a:cubicBezTo>
                      <a:pt x="119535" y="93604"/>
                      <a:pt x="106253" y="90442"/>
                      <a:pt x="92339" y="90442"/>
                    </a:cubicBezTo>
                    <a:cubicBezTo>
                      <a:pt x="78425" y="90442"/>
                      <a:pt x="65776" y="93604"/>
                      <a:pt x="53759" y="98664"/>
                    </a:cubicBezTo>
                    <a:lnTo>
                      <a:pt x="53759" y="55656"/>
                    </a:lnTo>
                    <a:close/>
                    <a:moveTo>
                      <a:pt x="92972" y="259309"/>
                    </a:moveTo>
                    <a:cubicBezTo>
                      <a:pt x="50597" y="259309"/>
                      <a:pt x="16444" y="225156"/>
                      <a:pt x="16444" y="182781"/>
                    </a:cubicBezTo>
                    <a:cubicBezTo>
                      <a:pt x="16444" y="140406"/>
                      <a:pt x="50597" y="106253"/>
                      <a:pt x="92972" y="106253"/>
                    </a:cubicBezTo>
                    <a:cubicBezTo>
                      <a:pt x="135346" y="106253"/>
                      <a:pt x="169499" y="140406"/>
                      <a:pt x="169499" y="182781"/>
                    </a:cubicBezTo>
                    <a:cubicBezTo>
                      <a:pt x="169499" y="224523"/>
                      <a:pt x="134714" y="259309"/>
                      <a:pt x="92972" y="259309"/>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58" name="Google Shape;2181;p123">
                <a:extLst>
                  <a:ext uri="{FF2B5EF4-FFF2-40B4-BE49-F238E27FC236}">
                    <a16:creationId xmlns:a16="http://schemas.microsoft.com/office/drawing/2014/main" id="{A18024FD-B4A2-6A9E-2B32-41ACF41DE7E6}"/>
                  </a:ext>
                </a:extLst>
              </p:cNvPr>
              <p:cNvSpPr/>
              <p:nvPr/>
            </p:nvSpPr>
            <p:spPr>
              <a:xfrm>
                <a:off x="989695" y="3345119"/>
                <a:ext cx="29765" cy="48066"/>
              </a:xfrm>
              <a:custGeom>
                <a:avLst/>
                <a:gdLst/>
                <a:ahLst/>
                <a:cxnLst/>
                <a:rect l="l" t="t" r="r" b="b"/>
                <a:pathLst>
                  <a:path w="29765" h="48066" extrusionOk="0">
                    <a:moveTo>
                      <a:pt x="15179" y="0"/>
                    </a:moveTo>
                    <a:cubicBezTo>
                      <a:pt x="6957" y="0"/>
                      <a:pt x="0" y="6957"/>
                      <a:pt x="0" y="15179"/>
                    </a:cubicBezTo>
                    <a:cubicBezTo>
                      <a:pt x="0" y="20871"/>
                      <a:pt x="3162" y="25931"/>
                      <a:pt x="7590" y="28461"/>
                    </a:cubicBezTo>
                    <a:lnTo>
                      <a:pt x="7590" y="44272"/>
                    </a:lnTo>
                    <a:cubicBezTo>
                      <a:pt x="7590" y="46802"/>
                      <a:pt x="9487" y="48067"/>
                      <a:pt x="11384" y="48067"/>
                    </a:cubicBezTo>
                    <a:lnTo>
                      <a:pt x="18341" y="48067"/>
                    </a:lnTo>
                    <a:cubicBezTo>
                      <a:pt x="20871" y="48067"/>
                      <a:pt x="22136" y="46170"/>
                      <a:pt x="22136" y="44272"/>
                    </a:cubicBezTo>
                    <a:lnTo>
                      <a:pt x="22136" y="28461"/>
                    </a:lnTo>
                    <a:cubicBezTo>
                      <a:pt x="26563" y="25931"/>
                      <a:pt x="29726" y="20871"/>
                      <a:pt x="29726" y="15179"/>
                    </a:cubicBezTo>
                    <a:cubicBezTo>
                      <a:pt x="30358" y="6957"/>
                      <a:pt x="23401" y="0"/>
                      <a:pt x="15179" y="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sp>
        <p:nvSpPr>
          <p:cNvPr id="161" name="Google Shape;2182;p123">
            <a:extLst>
              <a:ext uri="{FF2B5EF4-FFF2-40B4-BE49-F238E27FC236}">
                <a16:creationId xmlns:a16="http://schemas.microsoft.com/office/drawing/2014/main" id="{0A358E16-855B-4F0C-771E-2BA8DE3D9868}"/>
              </a:ext>
            </a:extLst>
          </p:cNvPr>
          <p:cNvSpPr/>
          <p:nvPr/>
        </p:nvSpPr>
        <p:spPr>
          <a:xfrm>
            <a:off x="9347995" y="1966150"/>
            <a:ext cx="165957" cy="165957"/>
          </a:xfrm>
          <a:prstGeom prst="roundRect">
            <a:avLst>
              <a:gd name="adj" fmla="val 10574"/>
            </a:avLst>
          </a:prstGeom>
          <a:noFill/>
          <a:ln w="19050" cap="flat" cmpd="sng">
            <a:solidFill>
              <a:schemeClr val="accent6"/>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162" name="Google Shape;2183;p123">
            <a:extLst>
              <a:ext uri="{FF2B5EF4-FFF2-40B4-BE49-F238E27FC236}">
                <a16:creationId xmlns:a16="http://schemas.microsoft.com/office/drawing/2014/main" id="{2A1EDFAA-9513-452A-2ECE-A8796C56EA9C}"/>
              </a:ext>
            </a:extLst>
          </p:cNvPr>
          <p:cNvSpPr/>
          <p:nvPr/>
        </p:nvSpPr>
        <p:spPr>
          <a:xfrm>
            <a:off x="9498673" y="1676874"/>
            <a:ext cx="165957" cy="165957"/>
          </a:xfrm>
          <a:prstGeom prst="roundRect">
            <a:avLst>
              <a:gd name="adj" fmla="val 10574"/>
            </a:avLst>
          </a:prstGeom>
          <a:noFill/>
          <a:ln w="19050" cap="flat" cmpd="sng">
            <a:solidFill>
              <a:schemeClr val="accent6"/>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163" name="Google Shape;2184;p123">
            <a:extLst>
              <a:ext uri="{FF2B5EF4-FFF2-40B4-BE49-F238E27FC236}">
                <a16:creationId xmlns:a16="http://schemas.microsoft.com/office/drawing/2014/main" id="{BE216D9D-5CFA-44A6-D599-018C67EE6638}"/>
              </a:ext>
            </a:extLst>
          </p:cNvPr>
          <p:cNvSpPr/>
          <p:nvPr/>
        </p:nvSpPr>
        <p:spPr>
          <a:xfrm>
            <a:off x="11227846" y="1592335"/>
            <a:ext cx="118369" cy="118369"/>
          </a:xfrm>
          <a:prstGeom prst="roundRect">
            <a:avLst>
              <a:gd name="adj" fmla="val 10574"/>
            </a:avLst>
          </a:prstGeom>
          <a:noFill/>
          <a:ln w="19050" cap="flat" cmpd="sng">
            <a:solidFill>
              <a:schemeClr val="accent6"/>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164" name="Google Shape;2185;p123">
            <a:extLst>
              <a:ext uri="{FF2B5EF4-FFF2-40B4-BE49-F238E27FC236}">
                <a16:creationId xmlns:a16="http://schemas.microsoft.com/office/drawing/2014/main" id="{95BFE170-848F-7996-9477-9E5768BD4888}"/>
              </a:ext>
            </a:extLst>
          </p:cNvPr>
          <p:cNvSpPr/>
          <p:nvPr/>
        </p:nvSpPr>
        <p:spPr>
          <a:xfrm>
            <a:off x="9565549" y="2270310"/>
            <a:ext cx="118369" cy="118369"/>
          </a:xfrm>
          <a:prstGeom prst="roundRect">
            <a:avLst>
              <a:gd name="adj" fmla="val 10574"/>
            </a:avLst>
          </a:prstGeom>
          <a:noFill/>
          <a:ln w="19050" cap="flat" cmpd="sng">
            <a:solidFill>
              <a:schemeClr val="accent6"/>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165" name="Google Shape;2186;p123">
            <a:extLst>
              <a:ext uri="{FF2B5EF4-FFF2-40B4-BE49-F238E27FC236}">
                <a16:creationId xmlns:a16="http://schemas.microsoft.com/office/drawing/2014/main" id="{F1220E7C-5A6E-5C1E-F56D-3F7E76EE417E}"/>
              </a:ext>
            </a:extLst>
          </p:cNvPr>
          <p:cNvSpPr txBox="1"/>
          <p:nvPr/>
        </p:nvSpPr>
        <p:spPr>
          <a:xfrm>
            <a:off x="9550344" y="2751164"/>
            <a:ext cx="1677563" cy="443198"/>
          </a:xfrm>
          <a:prstGeom prst="rect">
            <a:avLst/>
          </a:prstGeom>
          <a:noFill/>
          <a:ln>
            <a:noFill/>
          </a:ln>
        </p:spPr>
        <p:txBody>
          <a:bodyPr spcFirstLastPara="1" wrap="square" lIns="0" tIns="0" rIns="0" bIns="0" anchor="t" anchorCtr="0">
            <a:spAutoFit/>
          </a:bodyPr>
          <a:lstStyle/>
          <a:p>
            <a:pPr algn="ctr">
              <a:lnSpc>
                <a:spcPct val="90000"/>
              </a:lnSpc>
              <a:buClr>
                <a:srgbClr val="000000"/>
              </a:buClr>
              <a:buSzPts val="1200"/>
            </a:pPr>
            <a:r>
              <a:rPr lang="en" sz="1600">
                <a:solidFill>
                  <a:schemeClr val="lt1"/>
                </a:solidFill>
                <a:latin typeface="Arial"/>
                <a:ea typeface="Arial"/>
                <a:cs typeface="Arial"/>
                <a:sym typeface="Arial"/>
              </a:rPr>
              <a:t>Secure and</a:t>
            </a:r>
            <a:br>
              <a:rPr lang="en" sz="1600">
                <a:solidFill>
                  <a:schemeClr val="lt1"/>
                </a:solidFill>
                <a:latin typeface="Arial"/>
                <a:ea typeface="Arial"/>
                <a:cs typeface="Arial"/>
                <a:sym typeface="Arial"/>
              </a:rPr>
            </a:br>
            <a:r>
              <a:rPr lang="en" sz="1600">
                <a:solidFill>
                  <a:schemeClr val="lt1"/>
                </a:solidFill>
                <a:latin typeface="Arial"/>
                <a:ea typeface="Arial"/>
                <a:cs typeface="Arial"/>
                <a:sym typeface="Arial"/>
              </a:rPr>
              <a:t>Resilient Platform</a:t>
            </a:r>
            <a:endParaRPr sz="1466">
              <a:solidFill>
                <a:srgbClr val="000000"/>
              </a:solidFill>
              <a:latin typeface="Arial"/>
              <a:ea typeface="Arial"/>
              <a:cs typeface="Arial"/>
              <a:sym typeface="Arial"/>
            </a:endParaRPr>
          </a:p>
        </p:txBody>
      </p:sp>
      <p:grpSp>
        <p:nvGrpSpPr>
          <p:cNvPr id="166" name="Google Shape;2187;p123">
            <a:extLst>
              <a:ext uri="{FF2B5EF4-FFF2-40B4-BE49-F238E27FC236}">
                <a16:creationId xmlns:a16="http://schemas.microsoft.com/office/drawing/2014/main" id="{C34C8BB1-6AB2-7A50-D462-A672B5218DAD}"/>
              </a:ext>
            </a:extLst>
          </p:cNvPr>
          <p:cNvGrpSpPr/>
          <p:nvPr/>
        </p:nvGrpSpPr>
        <p:grpSpPr>
          <a:xfrm>
            <a:off x="2188423" y="4482862"/>
            <a:ext cx="568089" cy="567845"/>
            <a:chOff x="579815" y="2820551"/>
            <a:chExt cx="912000" cy="912000"/>
          </a:xfrm>
        </p:grpSpPr>
        <p:sp>
          <p:nvSpPr>
            <p:cNvPr id="167" name="Google Shape;2188;p123">
              <a:extLst>
                <a:ext uri="{FF2B5EF4-FFF2-40B4-BE49-F238E27FC236}">
                  <a16:creationId xmlns:a16="http://schemas.microsoft.com/office/drawing/2014/main" id="{B0A52631-AB3D-9B4B-5CBD-434705402F0E}"/>
                </a:ext>
              </a:extLst>
            </p:cNvPr>
            <p:cNvSpPr/>
            <p:nvPr/>
          </p:nvSpPr>
          <p:spPr>
            <a:xfrm>
              <a:off x="579815" y="2820551"/>
              <a:ext cx="912000" cy="9120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sp>
          <p:nvSpPr>
            <p:cNvPr id="168" name="Google Shape;2189;p123" descr="Integrate Automate&#10;">
              <a:extLst>
                <a:ext uri="{FF2B5EF4-FFF2-40B4-BE49-F238E27FC236}">
                  <a16:creationId xmlns:a16="http://schemas.microsoft.com/office/drawing/2014/main" id="{FC905574-7DED-E0E0-08B9-A781A5D62499}"/>
                </a:ext>
              </a:extLst>
            </p:cNvPr>
            <p:cNvSpPr/>
            <p:nvPr/>
          </p:nvSpPr>
          <p:spPr>
            <a:xfrm>
              <a:off x="750942" y="2992309"/>
              <a:ext cx="569846" cy="568581"/>
            </a:xfrm>
            <a:custGeom>
              <a:avLst/>
              <a:gdLst/>
              <a:ahLst/>
              <a:cxnLst/>
              <a:rect l="l" t="t" r="r" b="b"/>
              <a:pathLst>
                <a:path w="569846" h="568581" extrusionOk="0">
                  <a:moveTo>
                    <a:pt x="15812" y="284607"/>
                  </a:moveTo>
                  <a:cubicBezTo>
                    <a:pt x="15812" y="136611"/>
                    <a:pt x="136611" y="15811"/>
                    <a:pt x="284607" y="15811"/>
                  </a:cubicBezTo>
                  <a:cubicBezTo>
                    <a:pt x="380741" y="15811"/>
                    <a:pt x="468653" y="66408"/>
                    <a:pt x="516720" y="149261"/>
                  </a:cubicBezTo>
                  <a:lnTo>
                    <a:pt x="471183" y="141039"/>
                  </a:lnTo>
                  <a:lnTo>
                    <a:pt x="468653" y="156850"/>
                  </a:lnTo>
                  <a:lnTo>
                    <a:pt x="538856" y="169499"/>
                  </a:lnTo>
                  <a:lnTo>
                    <a:pt x="553403" y="99929"/>
                  </a:lnTo>
                  <a:lnTo>
                    <a:pt x="537591" y="96134"/>
                  </a:lnTo>
                  <a:lnTo>
                    <a:pt x="528737" y="137876"/>
                  </a:lnTo>
                  <a:cubicBezTo>
                    <a:pt x="477507" y="52494"/>
                    <a:pt x="385801" y="0"/>
                    <a:pt x="284607" y="0"/>
                  </a:cubicBezTo>
                  <a:cubicBezTo>
                    <a:pt x="127757" y="0"/>
                    <a:pt x="0" y="127757"/>
                    <a:pt x="0" y="284607"/>
                  </a:cubicBezTo>
                  <a:cubicBezTo>
                    <a:pt x="0" y="340896"/>
                    <a:pt x="16444" y="395920"/>
                    <a:pt x="48067" y="442722"/>
                  </a:cubicBezTo>
                  <a:lnTo>
                    <a:pt x="61349" y="433868"/>
                  </a:lnTo>
                  <a:cubicBezTo>
                    <a:pt x="31623" y="389595"/>
                    <a:pt x="15812" y="337734"/>
                    <a:pt x="15812" y="284607"/>
                  </a:cubicBezTo>
                  <a:close/>
                  <a:moveTo>
                    <a:pt x="551505" y="185311"/>
                  </a:moveTo>
                  <a:lnTo>
                    <a:pt x="536959" y="191003"/>
                  </a:lnTo>
                  <a:cubicBezTo>
                    <a:pt x="548343" y="220729"/>
                    <a:pt x="554035" y="252352"/>
                    <a:pt x="554035" y="284607"/>
                  </a:cubicBezTo>
                  <a:cubicBezTo>
                    <a:pt x="554035" y="432603"/>
                    <a:pt x="433235" y="553403"/>
                    <a:pt x="285239" y="553403"/>
                  </a:cubicBezTo>
                  <a:cubicBezTo>
                    <a:pt x="213139" y="553403"/>
                    <a:pt x="144201" y="524309"/>
                    <a:pt x="94237" y="473080"/>
                  </a:cubicBezTo>
                  <a:lnTo>
                    <a:pt x="141039" y="481302"/>
                  </a:lnTo>
                  <a:lnTo>
                    <a:pt x="143568" y="465491"/>
                  </a:lnTo>
                  <a:lnTo>
                    <a:pt x="73365" y="452841"/>
                  </a:lnTo>
                  <a:lnTo>
                    <a:pt x="58819" y="522412"/>
                  </a:lnTo>
                  <a:lnTo>
                    <a:pt x="73998" y="525574"/>
                  </a:lnTo>
                  <a:lnTo>
                    <a:pt x="82852" y="483832"/>
                  </a:lnTo>
                  <a:cubicBezTo>
                    <a:pt x="135979" y="537591"/>
                    <a:pt x="208712" y="568582"/>
                    <a:pt x="285239" y="568582"/>
                  </a:cubicBezTo>
                  <a:cubicBezTo>
                    <a:pt x="442090" y="568582"/>
                    <a:pt x="569846" y="440825"/>
                    <a:pt x="569846" y="283975"/>
                  </a:cubicBezTo>
                  <a:cubicBezTo>
                    <a:pt x="569214" y="250454"/>
                    <a:pt x="563522" y="216934"/>
                    <a:pt x="551505" y="185311"/>
                  </a:cubicBezTo>
                  <a:close/>
                  <a:moveTo>
                    <a:pt x="287769" y="174559"/>
                  </a:moveTo>
                  <a:cubicBezTo>
                    <a:pt x="226421" y="174559"/>
                    <a:pt x="176456" y="224523"/>
                    <a:pt x="176456" y="285872"/>
                  </a:cubicBezTo>
                  <a:cubicBezTo>
                    <a:pt x="176456" y="290299"/>
                    <a:pt x="180251" y="293461"/>
                    <a:pt x="184046" y="293461"/>
                  </a:cubicBezTo>
                  <a:cubicBezTo>
                    <a:pt x="187841" y="293461"/>
                    <a:pt x="191635" y="289667"/>
                    <a:pt x="191635" y="285872"/>
                  </a:cubicBezTo>
                  <a:cubicBezTo>
                    <a:pt x="191635" y="233378"/>
                    <a:pt x="234643" y="190370"/>
                    <a:pt x="287137" y="190370"/>
                  </a:cubicBezTo>
                  <a:cubicBezTo>
                    <a:pt x="339631" y="190370"/>
                    <a:pt x="382638" y="233378"/>
                    <a:pt x="382638" y="285872"/>
                  </a:cubicBezTo>
                  <a:cubicBezTo>
                    <a:pt x="382638" y="338366"/>
                    <a:pt x="340264" y="381373"/>
                    <a:pt x="287769" y="381373"/>
                  </a:cubicBezTo>
                  <a:cubicBezTo>
                    <a:pt x="283342" y="381373"/>
                    <a:pt x="280180" y="385168"/>
                    <a:pt x="280180" y="388963"/>
                  </a:cubicBezTo>
                  <a:cubicBezTo>
                    <a:pt x="280180" y="392758"/>
                    <a:pt x="283975" y="396552"/>
                    <a:pt x="287769" y="396552"/>
                  </a:cubicBezTo>
                  <a:cubicBezTo>
                    <a:pt x="349118" y="396552"/>
                    <a:pt x="399082" y="346588"/>
                    <a:pt x="399082" y="285239"/>
                  </a:cubicBezTo>
                  <a:cubicBezTo>
                    <a:pt x="399082" y="223891"/>
                    <a:pt x="349118" y="174559"/>
                    <a:pt x="287769" y="174559"/>
                  </a:cubicBezTo>
                  <a:close/>
                  <a:moveTo>
                    <a:pt x="439560" y="331409"/>
                  </a:moveTo>
                  <a:cubicBezTo>
                    <a:pt x="443987" y="330777"/>
                    <a:pt x="449047" y="329512"/>
                    <a:pt x="454739" y="327614"/>
                  </a:cubicBezTo>
                  <a:cubicBezTo>
                    <a:pt x="465491" y="324452"/>
                    <a:pt x="469918" y="323187"/>
                    <a:pt x="471815" y="323187"/>
                  </a:cubicBezTo>
                  <a:lnTo>
                    <a:pt x="478140" y="321922"/>
                  </a:lnTo>
                  <a:lnTo>
                    <a:pt x="478140" y="251719"/>
                  </a:lnTo>
                  <a:lnTo>
                    <a:pt x="471815" y="250454"/>
                  </a:lnTo>
                  <a:cubicBezTo>
                    <a:pt x="468653" y="249822"/>
                    <a:pt x="462961" y="248557"/>
                    <a:pt x="454739" y="246027"/>
                  </a:cubicBezTo>
                  <a:cubicBezTo>
                    <a:pt x="449047" y="244130"/>
                    <a:pt x="443354" y="242865"/>
                    <a:pt x="438927" y="242232"/>
                  </a:cubicBezTo>
                  <a:cubicBezTo>
                    <a:pt x="437662" y="237805"/>
                    <a:pt x="434500" y="229583"/>
                    <a:pt x="428175" y="212507"/>
                  </a:cubicBezTo>
                  <a:cubicBezTo>
                    <a:pt x="432603" y="205550"/>
                    <a:pt x="438295" y="195430"/>
                    <a:pt x="445884" y="182148"/>
                  </a:cubicBezTo>
                  <a:lnTo>
                    <a:pt x="449047" y="176456"/>
                  </a:lnTo>
                  <a:lnTo>
                    <a:pt x="443987" y="172029"/>
                  </a:lnTo>
                  <a:cubicBezTo>
                    <a:pt x="440192" y="168867"/>
                    <a:pt x="433235" y="162542"/>
                    <a:pt x="424381" y="153055"/>
                  </a:cubicBezTo>
                  <a:cubicBezTo>
                    <a:pt x="415526" y="143568"/>
                    <a:pt x="407937" y="137244"/>
                    <a:pt x="400980" y="132817"/>
                  </a:cubicBezTo>
                  <a:lnTo>
                    <a:pt x="397817" y="130919"/>
                  </a:lnTo>
                  <a:lnTo>
                    <a:pt x="394023" y="132184"/>
                  </a:lnTo>
                  <a:cubicBezTo>
                    <a:pt x="390228" y="133449"/>
                    <a:pt x="384536" y="136611"/>
                    <a:pt x="376314" y="142304"/>
                  </a:cubicBezTo>
                  <a:cubicBezTo>
                    <a:pt x="371887" y="144833"/>
                    <a:pt x="368092" y="147363"/>
                    <a:pt x="364929" y="148628"/>
                  </a:cubicBezTo>
                  <a:cubicBezTo>
                    <a:pt x="361135" y="146098"/>
                    <a:pt x="356075" y="143568"/>
                    <a:pt x="349750" y="141671"/>
                  </a:cubicBezTo>
                  <a:cubicBezTo>
                    <a:pt x="342793" y="139141"/>
                    <a:pt x="338366" y="137244"/>
                    <a:pt x="335204" y="135979"/>
                  </a:cubicBezTo>
                  <a:cubicBezTo>
                    <a:pt x="330777" y="118270"/>
                    <a:pt x="326982" y="106886"/>
                    <a:pt x="325084" y="101826"/>
                  </a:cubicBezTo>
                  <a:lnTo>
                    <a:pt x="321922" y="96134"/>
                  </a:lnTo>
                  <a:lnTo>
                    <a:pt x="254881" y="96134"/>
                  </a:lnTo>
                  <a:lnTo>
                    <a:pt x="252984" y="101826"/>
                  </a:lnTo>
                  <a:cubicBezTo>
                    <a:pt x="251719" y="106886"/>
                    <a:pt x="249822" y="113210"/>
                    <a:pt x="247292" y="121432"/>
                  </a:cubicBezTo>
                  <a:cubicBezTo>
                    <a:pt x="245394" y="127757"/>
                    <a:pt x="244130" y="132817"/>
                    <a:pt x="243497" y="136611"/>
                  </a:cubicBezTo>
                  <a:cubicBezTo>
                    <a:pt x="238437" y="137876"/>
                    <a:pt x="230215" y="141039"/>
                    <a:pt x="213771" y="147996"/>
                  </a:cubicBezTo>
                  <a:cubicBezTo>
                    <a:pt x="206182" y="142936"/>
                    <a:pt x="195430" y="136611"/>
                    <a:pt x="182781" y="130919"/>
                  </a:cubicBezTo>
                  <a:lnTo>
                    <a:pt x="178354" y="127757"/>
                  </a:lnTo>
                  <a:lnTo>
                    <a:pt x="174559" y="131552"/>
                  </a:lnTo>
                  <a:cubicBezTo>
                    <a:pt x="142304" y="163175"/>
                    <a:pt x="135346" y="171397"/>
                    <a:pt x="132817" y="174559"/>
                  </a:cubicBezTo>
                  <a:lnTo>
                    <a:pt x="129022" y="179619"/>
                  </a:lnTo>
                  <a:lnTo>
                    <a:pt x="133449" y="184046"/>
                  </a:lnTo>
                  <a:cubicBezTo>
                    <a:pt x="135979" y="186576"/>
                    <a:pt x="140406" y="193533"/>
                    <a:pt x="149261" y="209977"/>
                  </a:cubicBezTo>
                  <a:cubicBezTo>
                    <a:pt x="146731" y="213771"/>
                    <a:pt x="144833" y="218831"/>
                    <a:pt x="141671" y="225156"/>
                  </a:cubicBezTo>
                  <a:cubicBezTo>
                    <a:pt x="139141" y="231480"/>
                    <a:pt x="136611" y="236540"/>
                    <a:pt x="135346" y="239702"/>
                  </a:cubicBezTo>
                  <a:cubicBezTo>
                    <a:pt x="130919" y="240335"/>
                    <a:pt x="125860" y="241600"/>
                    <a:pt x="120800" y="243497"/>
                  </a:cubicBezTo>
                  <a:cubicBezTo>
                    <a:pt x="112578" y="246027"/>
                    <a:pt x="106886" y="247292"/>
                    <a:pt x="103723" y="247924"/>
                  </a:cubicBezTo>
                  <a:lnTo>
                    <a:pt x="97399" y="249189"/>
                  </a:lnTo>
                  <a:lnTo>
                    <a:pt x="97399" y="319392"/>
                  </a:lnTo>
                  <a:lnTo>
                    <a:pt x="103723" y="320657"/>
                  </a:lnTo>
                  <a:cubicBezTo>
                    <a:pt x="106886" y="321290"/>
                    <a:pt x="112578" y="322555"/>
                    <a:pt x="121432" y="325084"/>
                  </a:cubicBezTo>
                  <a:cubicBezTo>
                    <a:pt x="126492" y="326349"/>
                    <a:pt x="131552" y="327614"/>
                    <a:pt x="135346" y="328247"/>
                  </a:cubicBezTo>
                  <a:cubicBezTo>
                    <a:pt x="136611" y="333306"/>
                    <a:pt x="138509" y="338999"/>
                    <a:pt x="141039" y="344691"/>
                  </a:cubicBezTo>
                  <a:cubicBezTo>
                    <a:pt x="144201" y="352280"/>
                    <a:pt x="146098" y="356707"/>
                    <a:pt x="147363" y="359237"/>
                  </a:cubicBezTo>
                  <a:cubicBezTo>
                    <a:pt x="134082" y="382006"/>
                    <a:pt x="131552" y="388330"/>
                    <a:pt x="130919" y="390860"/>
                  </a:cubicBezTo>
                  <a:lnTo>
                    <a:pt x="129654" y="395288"/>
                  </a:lnTo>
                  <a:lnTo>
                    <a:pt x="132817" y="398450"/>
                  </a:lnTo>
                  <a:cubicBezTo>
                    <a:pt x="163175" y="429440"/>
                    <a:pt x="171397" y="435765"/>
                    <a:pt x="174559" y="438295"/>
                  </a:cubicBezTo>
                  <a:lnTo>
                    <a:pt x="178354" y="440825"/>
                  </a:lnTo>
                  <a:lnTo>
                    <a:pt x="182148" y="438927"/>
                  </a:lnTo>
                  <a:cubicBezTo>
                    <a:pt x="185311" y="437662"/>
                    <a:pt x="191003" y="434500"/>
                    <a:pt x="199225" y="429440"/>
                  </a:cubicBezTo>
                  <a:cubicBezTo>
                    <a:pt x="204285" y="426278"/>
                    <a:pt x="208079" y="424381"/>
                    <a:pt x="211874" y="423116"/>
                  </a:cubicBezTo>
                  <a:cubicBezTo>
                    <a:pt x="215669" y="425013"/>
                    <a:pt x="223891" y="428808"/>
                    <a:pt x="240967" y="436397"/>
                  </a:cubicBezTo>
                  <a:cubicBezTo>
                    <a:pt x="241600" y="438927"/>
                    <a:pt x="242865" y="443987"/>
                    <a:pt x="244762" y="450944"/>
                  </a:cubicBezTo>
                  <a:cubicBezTo>
                    <a:pt x="246659" y="459798"/>
                    <a:pt x="248557" y="466123"/>
                    <a:pt x="251087" y="471183"/>
                  </a:cubicBezTo>
                  <a:lnTo>
                    <a:pt x="252984" y="475610"/>
                  </a:lnTo>
                  <a:lnTo>
                    <a:pt x="318760" y="475610"/>
                  </a:lnTo>
                  <a:lnTo>
                    <a:pt x="320657" y="471183"/>
                  </a:lnTo>
                  <a:cubicBezTo>
                    <a:pt x="322555" y="467388"/>
                    <a:pt x="324452" y="460431"/>
                    <a:pt x="326982" y="449679"/>
                  </a:cubicBezTo>
                  <a:cubicBezTo>
                    <a:pt x="328247" y="442722"/>
                    <a:pt x="330144" y="438295"/>
                    <a:pt x="331409" y="435765"/>
                  </a:cubicBezTo>
                  <a:cubicBezTo>
                    <a:pt x="340896" y="433868"/>
                    <a:pt x="351015" y="429440"/>
                    <a:pt x="361135" y="424381"/>
                  </a:cubicBezTo>
                  <a:cubicBezTo>
                    <a:pt x="371254" y="430705"/>
                    <a:pt x="381373" y="436397"/>
                    <a:pt x="391493" y="441457"/>
                  </a:cubicBezTo>
                  <a:lnTo>
                    <a:pt x="396552" y="443987"/>
                  </a:lnTo>
                  <a:lnTo>
                    <a:pt x="400347" y="440192"/>
                  </a:lnTo>
                  <a:cubicBezTo>
                    <a:pt x="432603" y="408569"/>
                    <a:pt x="438927" y="400347"/>
                    <a:pt x="441457" y="397185"/>
                  </a:cubicBezTo>
                  <a:lnTo>
                    <a:pt x="444619" y="392125"/>
                  </a:lnTo>
                  <a:lnTo>
                    <a:pt x="440825" y="387698"/>
                  </a:lnTo>
                  <a:cubicBezTo>
                    <a:pt x="438295" y="384536"/>
                    <a:pt x="435133" y="379476"/>
                    <a:pt x="431338" y="373151"/>
                  </a:cubicBezTo>
                  <a:cubicBezTo>
                    <a:pt x="428808" y="368092"/>
                    <a:pt x="426278" y="364297"/>
                    <a:pt x="424381" y="361135"/>
                  </a:cubicBezTo>
                  <a:cubicBezTo>
                    <a:pt x="426911" y="357340"/>
                    <a:pt x="429440" y="352280"/>
                    <a:pt x="431970" y="345323"/>
                  </a:cubicBezTo>
                  <a:cubicBezTo>
                    <a:pt x="436397" y="338366"/>
                    <a:pt x="438295" y="333939"/>
                    <a:pt x="439560" y="331409"/>
                  </a:cubicBezTo>
                  <a:close/>
                  <a:moveTo>
                    <a:pt x="429440" y="316862"/>
                  </a:moveTo>
                  <a:lnTo>
                    <a:pt x="427543" y="320025"/>
                  </a:lnTo>
                  <a:cubicBezTo>
                    <a:pt x="425646" y="323820"/>
                    <a:pt x="422483" y="330144"/>
                    <a:pt x="418689" y="340263"/>
                  </a:cubicBezTo>
                  <a:cubicBezTo>
                    <a:pt x="415526" y="349750"/>
                    <a:pt x="412364" y="353545"/>
                    <a:pt x="411099" y="355443"/>
                  </a:cubicBezTo>
                  <a:lnTo>
                    <a:pt x="406672" y="359870"/>
                  </a:lnTo>
                  <a:lnTo>
                    <a:pt x="409834" y="364929"/>
                  </a:lnTo>
                  <a:cubicBezTo>
                    <a:pt x="410467" y="366194"/>
                    <a:pt x="412364" y="369357"/>
                    <a:pt x="419321" y="380741"/>
                  </a:cubicBezTo>
                  <a:cubicBezTo>
                    <a:pt x="421851" y="385168"/>
                    <a:pt x="423748" y="388963"/>
                    <a:pt x="426278" y="392125"/>
                  </a:cubicBezTo>
                  <a:cubicBezTo>
                    <a:pt x="421851" y="397185"/>
                    <a:pt x="412996" y="406672"/>
                    <a:pt x="394655" y="425013"/>
                  </a:cubicBezTo>
                  <a:cubicBezTo>
                    <a:pt x="385168" y="420586"/>
                    <a:pt x="376314" y="414894"/>
                    <a:pt x="367459" y="408569"/>
                  </a:cubicBezTo>
                  <a:lnTo>
                    <a:pt x="363032" y="406039"/>
                  </a:lnTo>
                  <a:lnTo>
                    <a:pt x="358605" y="408569"/>
                  </a:lnTo>
                  <a:cubicBezTo>
                    <a:pt x="347221" y="415526"/>
                    <a:pt x="335836" y="419953"/>
                    <a:pt x="325717" y="421851"/>
                  </a:cubicBezTo>
                  <a:lnTo>
                    <a:pt x="322555" y="422483"/>
                  </a:lnTo>
                  <a:lnTo>
                    <a:pt x="320657" y="425013"/>
                  </a:lnTo>
                  <a:cubicBezTo>
                    <a:pt x="317495" y="429440"/>
                    <a:pt x="315598" y="436397"/>
                    <a:pt x="313068" y="446517"/>
                  </a:cubicBezTo>
                  <a:cubicBezTo>
                    <a:pt x="311803" y="452841"/>
                    <a:pt x="310538" y="457269"/>
                    <a:pt x="309273" y="459798"/>
                  </a:cubicBezTo>
                  <a:lnTo>
                    <a:pt x="263736" y="459798"/>
                  </a:lnTo>
                  <a:cubicBezTo>
                    <a:pt x="263103" y="457269"/>
                    <a:pt x="261838" y="452841"/>
                    <a:pt x="260574" y="447782"/>
                  </a:cubicBezTo>
                  <a:cubicBezTo>
                    <a:pt x="258676" y="438295"/>
                    <a:pt x="256779" y="431970"/>
                    <a:pt x="254881" y="428175"/>
                  </a:cubicBezTo>
                  <a:lnTo>
                    <a:pt x="254249" y="425013"/>
                  </a:lnTo>
                  <a:lnTo>
                    <a:pt x="251087" y="423748"/>
                  </a:lnTo>
                  <a:cubicBezTo>
                    <a:pt x="223891" y="411731"/>
                    <a:pt x="218199" y="409202"/>
                    <a:pt x="217566" y="408569"/>
                  </a:cubicBezTo>
                  <a:lnTo>
                    <a:pt x="214404" y="406672"/>
                  </a:lnTo>
                  <a:lnTo>
                    <a:pt x="210609" y="407937"/>
                  </a:lnTo>
                  <a:cubicBezTo>
                    <a:pt x="204917" y="409834"/>
                    <a:pt x="198592" y="412364"/>
                    <a:pt x="191635" y="417424"/>
                  </a:cubicBezTo>
                  <a:cubicBezTo>
                    <a:pt x="186576" y="420586"/>
                    <a:pt x="182781" y="422483"/>
                    <a:pt x="180884" y="423748"/>
                  </a:cubicBezTo>
                  <a:cubicBezTo>
                    <a:pt x="176456" y="419953"/>
                    <a:pt x="166969" y="411099"/>
                    <a:pt x="148628" y="392758"/>
                  </a:cubicBezTo>
                  <a:cubicBezTo>
                    <a:pt x="150525" y="388963"/>
                    <a:pt x="154953" y="380741"/>
                    <a:pt x="163807" y="365562"/>
                  </a:cubicBezTo>
                  <a:lnTo>
                    <a:pt x="165705" y="362400"/>
                  </a:lnTo>
                  <a:lnTo>
                    <a:pt x="164440" y="359237"/>
                  </a:lnTo>
                  <a:cubicBezTo>
                    <a:pt x="163807" y="357340"/>
                    <a:pt x="162542" y="354178"/>
                    <a:pt x="156218" y="340263"/>
                  </a:cubicBezTo>
                  <a:cubicBezTo>
                    <a:pt x="153055" y="333306"/>
                    <a:pt x="151158" y="327614"/>
                    <a:pt x="150525" y="322555"/>
                  </a:cubicBezTo>
                  <a:lnTo>
                    <a:pt x="149893" y="316862"/>
                  </a:lnTo>
                  <a:lnTo>
                    <a:pt x="144201" y="316230"/>
                  </a:lnTo>
                  <a:cubicBezTo>
                    <a:pt x="139774" y="315598"/>
                    <a:pt x="133449" y="314333"/>
                    <a:pt x="126492" y="312435"/>
                  </a:cubicBezTo>
                  <a:cubicBezTo>
                    <a:pt x="121432" y="311170"/>
                    <a:pt x="117638" y="309905"/>
                    <a:pt x="113843" y="309273"/>
                  </a:cubicBezTo>
                  <a:lnTo>
                    <a:pt x="113843" y="264368"/>
                  </a:lnTo>
                  <a:cubicBezTo>
                    <a:pt x="117005" y="263736"/>
                    <a:pt x="120800" y="262471"/>
                    <a:pt x="125227" y="261206"/>
                  </a:cubicBezTo>
                  <a:cubicBezTo>
                    <a:pt x="131552" y="259309"/>
                    <a:pt x="137244" y="258044"/>
                    <a:pt x="141671" y="257411"/>
                  </a:cubicBezTo>
                  <a:lnTo>
                    <a:pt x="145466" y="256779"/>
                  </a:lnTo>
                  <a:lnTo>
                    <a:pt x="147363" y="253616"/>
                  </a:lnTo>
                  <a:cubicBezTo>
                    <a:pt x="149261" y="250454"/>
                    <a:pt x="151790" y="244130"/>
                    <a:pt x="156218" y="234010"/>
                  </a:cubicBezTo>
                  <a:cubicBezTo>
                    <a:pt x="159380" y="226421"/>
                    <a:pt x="161910" y="220729"/>
                    <a:pt x="164440" y="217566"/>
                  </a:cubicBezTo>
                  <a:lnTo>
                    <a:pt x="166969" y="213771"/>
                  </a:lnTo>
                  <a:lnTo>
                    <a:pt x="164440" y="209344"/>
                  </a:lnTo>
                  <a:cubicBezTo>
                    <a:pt x="157483" y="196695"/>
                    <a:pt x="152423" y="187841"/>
                    <a:pt x="147996" y="181516"/>
                  </a:cubicBezTo>
                  <a:cubicBezTo>
                    <a:pt x="152423" y="176456"/>
                    <a:pt x="161277" y="166969"/>
                    <a:pt x="180251" y="149261"/>
                  </a:cubicBezTo>
                  <a:cubicBezTo>
                    <a:pt x="191635" y="154953"/>
                    <a:pt x="201122" y="160645"/>
                    <a:pt x="207447" y="165072"/>
                  </a:cubicBezTo>
                  <a:lnTo>
                    <a:pt x="211874" y="165705"/>
                  </a:lnTo>
                  <a:lnTo>
                    <a:pt x="216301" y="163807"/>
                  </a:lnTo>
                  <a:cubicBezTo>
                    <a:pt x="243497" y="151790"/>
                    <a:pt x="249189" y="150525"/>
                    <a:pt x="250454" y="150525"/>
                  </a:cubicBezTo>
                  <a:lnTo>
                    <a:pt x="256146" y="150525"/>
                  </a:lnTo>
                  <a:lnTo>
                    <a:pt x="258044" y="145466"/>
                  </a:lnTo>
                  <a:cubicBezTo>
                    <a:pt x="258676" y="142936"/>
                    <a:pt x="260574" y="136611"/>
                    <a:pt x="263736" y="125860"/>
                  </a:cubicBezTo>
                  <a:cubicBezTo>
                    <a:pt x="265001" y="120800"/>
                    <a:pt x="266266" y="116373"/>
                    <a:pt x="267531" y="112578"/>
                  </a:cubicBezTo>
                  <a:lnTo>
                    <a:pt x="311803" y="112578"/>
                  </a:lnTo>
                  <a:cubicBezTo>
                    <a:pt x="313700" y="118902"/>
                    <a:pt x="316862" y="129022"/>
                    <a:pt x="320657" y="143568"/>
                  </a:cubicBezTo>
                  <a:lnTo>
                    <a:pt x="321290" y="147363"/>
                  </a:lnTo>
                  <a:lnTo>
                    <a:pt x="324452" y="148628"/>
                  </a:lnTo>
                  <a:cubicBezTo>
                    <a:pt x="326982" y="149893"/>
                    <a:pt x="332674" y="152423"/>
                    <a:pt x="342793" y="156218"/>
                  </a:cubicBezTo>
                  <a:cubicBezTo>
                    <a:pt x="351648" y="159380"/>
                    <a:pt x="355443" y="161910"/>
                    <a:pt x="357972" y="163807"/>
                  </a:cubicBezTo>
                  <a:lnTo>
                    <a:pt x="361135" y="166337"/>
                  </a:lnTo>
                  <a:lnTo>
                    <a:pt x="364929" y="165072"/>
                  </a:lnTo>
                  <a:cubicBezTo>
                    <a:pt x="370622" y="163175"/>
                    <a:pt x="376946" y="160645"/>
                    <a:pt x="383903" y="155585"/>
                  </a:cubicBezTo>
                  <a:cubicBezTo>
                    <a:pt x="388963" y="152423"/>
                    <a:pt x="392758" y="149893"/>
                    <a:pt x="395288" y="148628"/>
                  </a:cubicBezTo>
                  <a:cubicBezTo>
                    <a:pt x="399715" y="151790"/>
                    <a:pt x="405407" y="156850"/>
                    <a:pt x="411731" y="163807"/>
                  </a:cubicBezTo>
                  <a:cubicBezTo>
                    <a:pt x="418689" y="170764"/>
                    <a:pt x="423748" y="175824"/>
                    <a:pt x="428175" y="179619"/>
                  </a:cubicBezTo>
                  <a:cubicBezTo>
                    <a:pt x="421218" y="191635"/>
                    <a:pt x="416159" y="201122"/>
                    <a:pt x="412364" y="206814"/>
                  </a:cubicBezTo>
                  <a:lnTo>
                    <a:pt x="409834" y="209977"/>
                  </a:lnTo>
                  <a:lnTo>
                    <a:pt x="411099" y="213771"/>
                  </a:lnTo>
                  <a:cubicBezTo>
                    <a:pt x="426278" y="258044"/>
                    <a:pt x="426911" y="259309"/>
                    <a:pt x="433868" y="257411"/>
                  </a:cubicBezTo>
                  <a:cubicBezTo>
                    <a:pt x="438295" y="258044"/>
                    <a:pt x="443354" y="259309"/>
                    <a:pt x="449047" y="261206"/>
                  </a:cubicBezTo>
                  <a:cubicBezTo>
                    <a:pt x="454106" y="262471"/>
                    <a:pt x="457901" y="263736"/>
                    <a:pt x="461696" y="264368"/>
                  </a:cubicBezTo>
                  <a:lnTo>
                    <a:pt x="461696" y="309905"/>
                  </a:lnTo>
                  <a:cubicBezTo>
                    <a:pt x="458534" y="310538"/>
                    <a:pt x="454739" y="311803"/>
                    <a:pt x="450312" y="313068"/>
                  </a:cubicBezTo>
                  <a:cubicBezTo>
                    <a:pt x="443987" y="314965"/>
                    <a:pt x="438295" y="316230"/>
                    <a:pt x="433868" y="316862"/>
                  </a:cubicBezTo>
                  <a:lnTo>
                    <a:pt x="429440" y="316862"/>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69" name="Google Shape;2190;p123">
            <a:extLst>
              <a:ext uri="{FF2B5EF4-FFF2-40B4-BE49-F238E27FC236}">
                <a16:creationId xmlns:a16="http://schemas.microsoft.com/office/drawing/2014/main" id="{35ED72A7-67E0-91A7-A144-78B6E5CA714F}"/>
              </a:ext>
            </a:extLst>
          </p:cNvPr>
          <p:cNvGrpSpPr/>
          <p:nvPr/>
        </p:nvGrpSpPr>
        <p:grpSpPr>
          <a:xfrm>
            <a:off x="2188423" y="5427792"/>
            <a:ext cx="568089" cy="567845"/>
            <a:chOff x="579815" y="4022405"/>
            <a:chExt cx="912000" cy="912000"/>
          </a:xfrm>
        </p:grpSpPr>
        <p:sp>
          <p:nvSpPr>
            <p:cNvPr id="170" name="Google Shape;2191;p123">
              <a:extLst>
                <a:ext uri="{FF2B5EF4-FFF2-40B4-BE49-F238E27FC236}">
                  <a16:creationId xmlns:a16="http://schemas.microsoft.com/office/drawing/2014/main" id="{363CA294-65B8-498E-2E33-FBD5E8621E51}"/>
                </a:ext>
              </a:extLst>
            </p:cNvPr>
            <p:cNvSpPr/>
            <p:nvPr/>
          </p:nvSpPr>
          <p:spPr>
            <a:xfrm>
              <a:off x="579815" y="4022405"/>
              <a:ext cx="912000" cy="9120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grpSp>
          <p:nvGrpSpPr>
            <p:cNvPr id="171" name="Google Shape;2192;p123">
              <a:extLst>
                <a:ext uri="{FF2B5EF4-FFF2-40B4-BE49-F238E27FC236}">
                  <a16:creationId xmlns:a16="http://schemas.microsoft.com/office/drawing/2014/main" id="{C10C7642-E9F6-07B4-9280-8CB4E943D2EC}"/>
                </a:ext>
              </a:extLst>
            </p:cNvPr>
            <p:cNvGrpSpPr/>
            <p:nvPr/>
          </p:nvGrpSpPr>
          <p:grpSpPr>
            <a:xfrm>
              <a:off x="797018" y="4287848"/>
              <a:ext cx="534422" cy="408163"/>
              <a:chOff x="1838171" y="5616069"/>
              <a:chExt cx="652849" cy="498611"/>
            </a:xfrm>
          </p:grpSpPr>
          <p:sp>
            <p:nvSpPr>
              <p:cNvPr id="172" name="Google Shape;2193;p123">
                <a:extLst>
                  <a:ext uri="{FF2B5EF4-FFF2-40B4-BE49-F238E27FC236}">
                    <a16:creationId xmlns:a16="http://schemas.microsoft.com/office/drawing/2014/main" id="{D87A82DB-1749-C137-3DF3-0AD66B48594D}"/>
                  </a:ext>
                </a:extLst>
              </p:cNvPr>
              <p:cNvSpPr/>
              <p:nvPr/>
            </p:nvSpPr>
            <p:spPr>
              <a:xfrm>
                <a:off x="1838171" y="5625544"/>
                <a:ext cx="246435" cy="336419"/>
              </a:xfrm>
              <a:custGeom>
                <a:avLst/>
                <a:gdLst/>
                <a:ahLst/>
                <a:cxnLst/>
                <a:rect l="l" t="t" r="r" b="b"/>
                <a:pathLst>
                  <a:path w="246435" h="336419" extrusionOk="0">
                    <a:moveTo>
                      <a:pt x="17291" y="61280"/>
                    </a:moveTo>
                    <a:lnTo>
                      <a:pt x="57130" y="61280"/>
                    </a:lnTo>
                    <a:lnTo>
                      <a:pt x="57130" y="315808"/>
                    </a:lnTo>
                    <a:lnTo>
                      <a:pt x="74422" y="315808"/>
                    </a:lnTo>
                    <a:lnTo>
                      <a:pt x="74422" y="17291"/>
                    </a:lnTo>
                    <a:lnTo>
                      <a:pt x="229144" y="17291"/>
                    </a:lnTo>
                    <a:lnTo>
                      <a:pt x="229144" y="222158"/>
                    </a:lnTo>
                    <a:lnTo>
                      <a:pt x="246435" y="222158"/>
                    </a:lnTo>
                    <a:lnTo>
                      <a:pt x="246435" y="0"/>
                    </a:lnTo>
                    <a:lnTo>
                      <a:pt x="57130" y="0"/>
                    </a:lnTo>
                    <a:lnTo>
                      <a:pt x="57130" y="43989"/>
                    </a:lnTo>
                    <a:lnTo>
                      <a:pt x="0" y="43989"/>
                    </a:lnTo>
                    <a:lnTo>
                      <a:pt x="0" y="336419"/>
                    </a:lnTo>
                    <a:lnTo>
                      <a:pt x="17291" y="336419"/>
                    </a:lnTo>
                    <a:lnTo>
                      <a:pt x="17291" y="61280"/>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3" name="Google Shape;2194;p123">
                <a:extLst>
                  <a:ext uri="{FF2B5EF4-FFF2-40B4-BE49-F238E27FC236}">
                    <a16:creationId xmlns:a16="http://schemas.microsoft.com/office/drawing/2014/main" id="{A765183F-329C-3183-6E79-C43B90339727}"/>
                  </a:ext>
                </a:extLst>
              </p:cNvPr>
              <p:cNvSpPr/>
              <p:nvPr/>
            </p:nvSpPr>
            <p:spPr>
              <a:xfrm>
                <a:off x="195167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4" name="Google Shape;2195;p123">
                <a:extLst>
                  <a:ext uri="{FF2B5EF4-FFF2-40B4-BE49-F238E27FC236}">
                    <a16:creationId xmlns:a16="http://schemas.microsoft.com/office/drawing/2014/main" id="{650CDA7C-0244-B268-5C25-AD1E4A0DD606}"/>
                  </a:ext>
                </a:extLst>
              </p:cNvPr>
              <p:cNvSpPr/>
              <p:nvPr/>
            </p:nvSpPr>
            <p:spPr>
              <a:xfrm>
                <a:off x="195167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5" name="Google Shape;2196;p123">
                <a:extLst>
                  <a:ext uri="{FF2B5EF4-FFF2-40B4-BE49-F238E27FC236}">
                    <a16:creationId xmlns:a16="http://schemas.microsoft.com/office/drawing/2014/main" id="{1FD6577F-FC9A-BA06-CC47-DE6B9083A83C}"/>
                  </a:ext>
                </a:extLst>
              </p:cNvPr>
              <p:cNvSpPr/>
              <p:nvPr/>
            </p:nvSpPr>
            <p:spPr>
              <a:xfrm>
                <a:off x="195167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6" name="Google Shape;2197;p123">
                <a:extLst>
                  <a:ext uri="{FF2B5EF4-FFF2-40B4-BE49-F238E27FC236}">
                    <a16:creationId xmlns:a16="http://schemas.microsoft.com/office/drawing/2014/main" id="{40A5E963-84E5-6C42-FA42-55E47AB759BF}"/>
                  </a:ext>
                </a:extLst>
              </p:cNvPr>
              <p:cNvSpPr/>
              <p:nvPr/>
            </p:nvSpPr>
            <p:spPr>
              <a:xfrm>
                <a:off x="200638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7" name="Google Shape;2198;p123">
                <a:extLst>
                  <a:ext uri="{FF2B5EF4-FFF2-40B4-BE49-F238E27FC236}">
                    <a16:creationId xmlns:a16="http://schemas.microsoft.com/office/drawing/2014/main" id="{48A25E7A-53D1-3FA7-8974-DD5F375FFCA0}"/>
                  </a:ext>
                </a:extLst>
              </p:cNvPr>
              <p:cNvSpPr/>
              <p:nvPr/>
            </p:nvSpPr>
            <p:spPr>
              <a:xfrm>
                <a:off x="200638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8" name="Google Shape;2199;p123">
                <a:extLst>
                  <a:ext uri="{FF2B5EF4-FFF2-40B4-BE49-F238E27FC236}">
                    <a16:creationId xmlns:a16="http://schemas.microsoft.com/office/drawing/2014/main" id="{BBD306EE-1EA1-8C4B-FB38-5AE5B8E19454}"/>
                  </a:ext>
                </a:extLst>
              </p:cNvPr>
              <p:cNvSpPr/>
              <p:nvPr/>
            </p:nvSpPr>
            <p:spPr>
              <a:xfrm>
                <a:off x="200638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9" name="Google Shape;2200;p123">
                <a:extLst>
                  <a:ext uri="{FF2B5EF4-FFF2-40B4-BE49-F238E27FC236}">
                    <a16:creationId xmlns:a16="http://schemas.microsoft.com/office/drawing/2014/main" id="{B6DBDB86-A17D-370C-E88E-8C152B50EC87}"/>
                  </a:ext>
                </a:extLst>
              </p:cNvPr>
              <p:cNvSpPr/>
              <p:nvPr/>
            </p:nvSpPr>
            <p:spPr>
              <a:xfrm>
                <a:off x="1847627" y="5830135"/>
                <a:ext cx="497694" cy="284545"/>
              </a:xfrm>
              <a:custGeom>
                <a:avLst/>
                <a:gdLst/>
                <a:ahLst/>
                <a:cxnLst/>
                <a:rect l="l" t="t" r="r" b="b"/>
                <a:pathLst>
                  <a:path w="497694" h="284545" extrusionOk="0">
                    <a:moveTo>
                      <a:pt x="428635" y="106653"/>
                    </a:moveTo>
                    <a:cubicBezTo>
                      <a:pt x="423309" y="47793"/>
                      <a:pt x="378974" y="1383"/>
                      <a:pt x="323919" y="0"/>
                    </a:cubicBezTo>
                    <a:cubicBezTo>
                      <a:pt x="323020" y="0"/>
                      <a:pt x="322121" y="0"/>
                      <a:pt x="321291" y="0"/>
                    </a:cubicBezTo>
                    <a:cubicBezTo>
                      <a:pt x="276748" y="0"/>
                      <a:pt x="238292" y="29879"/>
                      <a:pt x="221693" y="72693"/>
                    </a:cubicBezTo>
                    <a:cubicBezTo>
                      <a:pt x="210350" y="67229"/>
                      <a:pt x="197831" y="64185"/>
                      <a:pt x="184551" y="63770"/>
                    </a:cubicBezTo>
                    <a:cubicBezTo>
                      <a:pt x="183790" y="63770"/>
                      <a:pt x="183030" y="63770"/>
                      <a:pt x="182269" y="63770"/>
                    </a:cubicBezTo>
                    <a:cubicBezTo>
                      <a:pt x="138487" y="63770"/>
                      <a:pt x="101691" y="94895"/>
                      <a:pt x="92700" y="136947"/>
                    </a:cubicBezTo>
                    <a:cubicBezTo>
                      <a:pt x="86959" y="135356"/>
                      <a:pt x="80873" y="134526"/>
                      <a:pt x="74717" y="134388"/>
                    </a:cubicBezTo>
                    <a:cubicBezTo>
                      <a:pt x="74094" y="134388"/>
                      <a:pt x="73541" y="134388"/>
                      <a:pt x="72919" y="134388"/>
                    </a:cubicBezTo>
                    <a:cubicBezTo>
                      <a:pt x="33425" y="134388"/>
                      <a:pt x="918" y="166065"/>
                      <a:pt x="19" y="205974"/>
                    </a:cubicBezTo>
                    <a:cubicBezTo>
                      <a:pt x="-950" y="246435"/>
                      <a:pt x="35915" y="283439"/>
                      <a:pt x="76169" y="284545"/>
                    </a:cubicBezTo>
                    <a:cubicBezTo>
                      <a:pt x="77207" y="284545"/>
                      <a:pt x="80112" y="284545"/>
                      <a:pt x="84746" y="284545"/>
                    </a:cubicBezTo>
                    <a:cubicBezTo>
                      <a:pt x="133162" y="284545"/>
                      <a:pt x="363620" y="283577"/>
                      <a:pt x="411551" y="283577"/>
                    </a:cubicBezTo>
                    <a:cubicBezTo>
                      <a:pt x="416116" y="283577"/>
                      <a:pt x="419021" y="283577"/>
                      <a:pt x="419989" y="283577"/>
                    </a:cubicBezTo>
                    <a:cubicBezTo>
                      <a:pt x="420543" y="283577"/>
                      <a:pt x="421165" y="283577"/>
                      <a:pt x="421718" y="283577"/>
                    </a:cubicBezTo>
                    <a:cubicBezTo>
                      <a:pt x="462664" y="283577"/>
                      <a:pt x="496624" y="244983"/>
                      <a:pt x="497662" y="196913"/>
                    </a:cubicBezTo>
                    <a:cubicBezTo>
                      <a:pt x="498837" y="149604"/>
                      <a:pt x="468266" y="110526"/>
                      <a:pt x="428704" y="106722"/>
                    </a:cubicBezTo>
                    <a:close/>
                    <a:moveTo>
                      <a:pt x="421649" y="266217"/>
                    </a:moveTo>
                    <a:lnTo>
                      <a:pt x="420266" y="266217"/>
                    </a:lnTo>
                    <a:cubicBezTo>
                      <a:pt x="419298" y="266217"/>
                      <a:pt x="416254" y="266217"/>
                      <a:pt x="411482" y="266217"/>
                    </a:cubicBezTo>
                    <a:cubicBezTo>
                      <a:pt x="387551" y="266217"/>
                      <a:pt x="316933" y="266493"/>
                      <a:pt x="248736" y="266701"/>
                    </a:cubicBezTo>
                    <a:cubicBezTo>
                      <a:pt x="179986" y="266977"/>
                      <a:pt x="108954" y="267185"/>
                      <a:pt x="84677" y="267185"/>
                    </a:cubicBezTo>
                    <a:cubicBezTo>
                      <a:pt x="80250" y="267185"/>
                      <a:pt x="77414" y="267185"/>
                      <a:pt x="76584" y="267185"/>
                    </a:cubicBezTo>
                    <a:cubicBezTo>
                      <a:pt x="45322" y="266355"/>
                      <a:pt x="16480" y="236752"/>
                      <a:pt x="17241" y="206320"/>
                    </a:cubicBezTo>
                    <a:cubicBezTo>
                      <a:pt x="17932" y="176164"/>
                      <a:pt x="42901" y="151679"/>
                      <a:pt x="72850" y="151679"/>
                    </a:cubicBezTo>
                    <a:lnTo>
                      <a:pt x="74302" y="151679"/>
                    </a:lnTo>
                    <a:cubicBezTo>
                      <a:pt x="79144" y="151817"/>
                      <a:pt x="83708" y="152440"/>
                      <a:pt x="87997" y="153616"/>
                    </a:cubicBezTo>
                    <a:lnTo>
                      <a:pt x="105703" y="158526"/>
                    </a:lnTo>
                    <a:lnTo>
                      <a:pt x="109576" y="140613"/>
                    </a:lnTo>
                    <a:cubicBezTo>
                      <a:pt x="116977" y="106168"/>
                      <a:pt x="147548" y="81131"/>
                      <a:pt x="182269" y="81131"/>
                    </a:cubicBezTo>
                    <a:cubicBezTo>
                      <a:pt x="182891" y="81131"/>
                      <a:pt x="183514" y="81131"/>
                      <a:pt x="184067" y="81131"/>
                    </a:cubicBezTo>
                    <a:cubicBezTo>
                      <a:pt x="194857" y="81407"/>
                      <a:pt x="204955" y="83828"/>
                      <a:pt x="214154" y="88324"/>
                    </a:cubicBezTo>
                    <a:lnTo>
                      <a:pt x="231030" y="96485"/>
                    </a:lnTo>
                    <a:lnTo>
                      <a:pt x="237808" y="78987"/>
                    </a:lnTo>
                    <a:cubicBezTo>
                      <a:pt x="252333" y="41568"/>
                      <a:pt x="285048" y="17360"/>
                      <a:pt x="321221" y="17360"/>
                    </a:cubicBezTo>
                    <a:cubicBezTo>
                      <a:pt x="321982" y="17360"/>
                      <a:pt x="322674" y="17360"/>
                      <a:pt x="323435" y="17360"/>
                    </a:cubicBezTo>
                    <a:cubicBezTo>
                      <a:pt x="368945" y="18467"/>
                      <a:pt x="406779" y="57545"/>
                      <a:pt x="411344" y="108243"/>
                    </a:cubicBezTo>
                    <a:lnTo>
                      <a:pt x="412658" y="122491"/>
                    </a:lnTo>
                    <a:lnTo>
                      <a:pt x="426906" y="123875"/>
                    </a:lnTo>
                    <a:cubicBezTo>
                      <a:pt x="457753" y="126849"/>
                      <a:pt x="481200" y="158665"/>
                      <a:pt x="480232" y="196429"/>
                    </a:cubicBezTo>
                    <a:cubicBezTo>
                      <a:pt x="479402" y="234885"/>
                      <a:pt x="453050" y="266217"/>
                      <a:pt x="421580" y="266217"/>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80" name="Google Shape;2201;p123">
                <a:extLst>
                  <a:ext uri="{FF2B5EF4-FFF2-40B4-BE49-F238E27FC236}">
                    <a16:creationId xmlns:a16="http://schemas.microsoft.com/office/drawing/2014/main" id="{FA2B648B-7305-6520-BC07-4A42BCF13E39}"/>
                  </a:ext>
                </a:extLst>
              </p:cNvPr>
              <p:cNvSpPr/>
              <p:nvPr/>
            </p:nvSpPr>
            <p:spPr>
              <a:xfrm>
                <a:off x="2257934" y="5625959"/>
                <a:ext cx="233086" cy="231080"/>
              </a:xfrm>
              <a:custGeom>
                <a:avLst/>
                <a:gdLst/>
                <a:ahLst/>
                <a:cxnLst/>
                <a:rect l="l" t="t" r="r" b="b"/>
                <a:pathLst>
                  <a:path w="233086" h="231080" extrusionOk="0">
                    <a:moveTo>
                      <a:pt x="179760" y="14041"/>
                    </a:moveTo>
                    <a:lnTo>
                      <a:pt x="194285" y="28704"/>
                    </a:lnTo>
                    <a:lnTo>
                      <a:pt x="0" y="221259"/>
                    </a:lnTo>
                    <a:lnTo>
                      <a:pt x="9683" y="231081"/>
                    </a:lnTo>
                    <a:lnTo>
                      <a:pt x="204037" y="38525"/>
                    </a:lnTo>
                    <a:lnTo>
                      <a:pt x="218562" y="53257"/>
                    </a:lnTo>
                    <a:lnTo>
                      <a:pt x="233086" y="0"/>
                    </a:lnTo>
                    <a:lnTo>
                      <a:pt x="179760" y="14041"/>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81" name="Google Shape;2202;p123">
                <a:extLst>
                  <a:ext uri="{FF2B5EF4-FFF2-40B4-BE49-F238E27FC236}">
                    <a16:creationId xmlns:a16="http://schemas.microsoft.com/office/drawing/2014/main" id="{1006594E-DDAD-5A6D-47DE-1DE2569FF1B9}"/>
                  </a:ext>
                </a:extLst>
              </p:cNvPr>
              <p:cNvSpPr/>
              <p:nvPr/>
            </p:nvSpPr>
            <p:spPr>
              <a:xfrm>
                <a:off x="2115177" y="5616069"/>
                <a:ext cx="203068" cy="201339"/>
              </a:xfrm>
              <a:custGeom>
                <a:avLst/>
                <a:gdLst/>
                <a:ahLst/>
                <a:cxnLst/>
                <a:rect l="l" t="t" r="r" b="b"/>
                <a:pathLst>
                  <a:path w="203068" h="201339" extrusionOk="0">
                    <a:moveTo>
                      <a:pt x="9752" y="201340"/>
                    </a:moveTo>
                    <a:lnTo>
                      <a:pt x="174019" y="38525"/>
                    </a:lnTo>
                    <a:lnTo>
                      <a:pt x="188544" y="53257"/>
                    </a:lnTo>
                    <a:lnTo>
                      <a:pt x="203069" y="0"/>
                    </a:lnTo>
                    <a:lnTo>
                      <a:pt x="149742" y="14041"/>
                    </a:lnTo>
                    <a:lnTo>
                      <a:pt x="164267" y="28704"/>
                    </a:lnTo>
                    <a:lnTo>
                      <a:pt x="0" y="191518"/>
                    </a:lnTo>
                    <a:lnTo>
                      <a:pt x="9752" y="201340"/>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182" name="Google Shape;2203;p123">
            <a:extLst>
              <a:ext uri="{FF2B5EF4-FFF2-40B4-BE49-F238E27FC236}">
                <a16:creationId xmlns:a16="http://schemas.microsoft.com/office/drawing/2014/main" id="{FEAF0074-D15B-A021-8C1A-516FD2AEFFDD}"/>
              </a:ext>
            </a:extLst>
          </p:cNvPr>
          <p:cNvGrpSpPr/>
          <p:nvPr/>
        </p:nvGrpSpPr>
        <p:grpSpPr>
          <a:xfrm>
            <a:off x="2188423" y="3537931"/>
            <a:ext cx="568089" cy="567845"/>
            <a:chOff x="579815" y="1618697"/>
            <a:chExt cx="912000" cy="912000"/>
          </a:xfrm>
        </p:grpSpPr>
        <p:sp>
          <p:nvSpPr>
            <p:cNvPr id="183" name="Google Shape;2204;p123">
              <a:extLst>
                <a:ext uri="{FF2B5EF4-FFF2-40B4-BE49-F238E27FC236}">
                  <a16:creationId xmlns:a16="http://schemas.microsoft.com/office/drawing/2014/main" id="{DBCDB3EB-ED06-0B47-495E-0A7190239128}"/>
                </a:ext>
              </a:extLst>
            </p:cNvPr>
            <p:cNvSpPr/>
            <p:nvPr/>
          </p:nvSpPr>
          <p:spPr>
            <a:xfrm>
              <a:off x="579815" y="1618697"/>
              <a:ext cx="912000" cy="9120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grpSp>
          <p:nvGrpSpPr>
            <p:cNvPr id="184" name="Google Shape;2205;p123">
              <a:extLst>
                <a:ext uri="{FF2B5EF4-FFF2-40B4-BE49-F238E27FC236}">
                  <a16:creationId xmlns:a16="http://schemas.microsoft.com/office/drawing/2014/main" id="{232748CF-BFB4-0F16-0882-C3024CFFC56A}"/>
                </a:ext>
              </a:extLst>
            </p:cNvPr>
            <p:cNvGrpSpPr/>
            <p:nvPr/>
          </p:nvGrpSpPr>
          <p:grpSpPr>
            <a:xfrm>
              <a:off x="776394" y="1817566"/>
              <a:ext cx="517956" cy="513901"/>
              <a:chOff x="9761462" y="4416832"/>
              <a:chExt cx="607146" cy="602392"/>
            </a:xfrm>
          </p:grpSpPr>
          <p:sp>
            <p:nvSpPr>
              <p:cNvPr id="185" name="Google Shape;2206;p123">
                <a:extLst>
                  <a:ext uri="{FF2B5EF4-FFF2-40B4-BE49-F238E27FC236}">
                    <a16:creationId xmlns:a16="http://schemas.microsoft.com/office/drawing/2014/main" id="{C9E91EEA-1E18-BC44-29BD-598D00D94345}"/>
                  </a:ext>
                </a:extLst>
              </p:cNvPr>
              <p:cNvSpPr/>
              <p:nvPr/>
            </p:nvSpPr>
            <p:spPr>
              <a:xfrm>
                <a:off x="10208505" y="4860134"/>
                <a:ext cx="90315" cy="91771"/>
              </a:xfrm>
              <a:custGeom>
                <a:avLst/>
                <a:gdLst/>
                <a:ahLst/>
                <a:cxnLst/>
                <a:rect l="l" t="t" r="r" b="b"/>
                <a:pathLst>
                  <a:path w="90315" h="91771" extrusionOk="0">
                    <a:moveTo>
                      <a:pt x="90315" y="45886"/>
                    </a:moveTo>
                    <a:cubicBezTo>
                      <a:pt x="90315" y="71227"/>
                      <a:pt x="70098" y="91771"/>
                      <a:pt x="45158" y="91771"/>
                    </a:cubicBezTo>
                    <a:cubicBezTo>
                      <a:pt x="20218" y="91771"/>
                      <a:pt x="0" y="71227"/>
                      <a:pt x="0" y="45886"/>
                    </a:cubicBezTo>
                    <a:cubicBezTo>
                      <a:pt x="0" y="20544"/>
                      <a:pt x="20218" y="0"/>
                      <a:pt x="45158" y="0"/>
                    </a:cubicBezTo>
                    <a:cubicBezTo>
                      <a:pt x="70098" y="0"/>
                      <a:pt x="90315" y="20544"/>
                      <a:pt x="90315" y="45886"/>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86" name="Google Shape;2207;p123">
                <a:extLst>
                  <a:ext uri="{FF2B5EF4-FFF2-40B4-BE49-F238E27FC236}">
                    <a16:creationId xmlns:a16="http://schemas.microsoft.com/office/drawing/2014/main" id="{C00A9699-A287-775B-8552-F2A14947B975}"/>
                  </a:ext>
                </a:extLst>
              </p:cNvPr>
              <p:cNvSpPr/>
              <p:nvPr/>
            </p:nvSpPr>
            <p:spPr>
              <a:xfrm>
                <a:off x="9761462" y="4416832"/>
                <a:ext cx="607146" cy="602392"/>
              </a:xfrm>
              <a:custGeom>
                <a:avLst/>
                <a:gdLst/>
                <a:ahLst/>
                <a:cxnLst/>
                <a:rect l="l" t="t" r="r" b="b"/>
                <a:pathLst>
                  <a:path w="607146" h="602392" extrusionOk="0">
                    <a:moveTo>
                      <a:pt x="492643" y="586536"/>
                    </a:moveTo>
                    <a:cubicBezTo>
                      <a:pt x="438998" y="587391"/>
                      <a:pt x="394819" y="544502"/>
                      <a:pt x="393967" y="490744"/>
                    </a:cubicBezTo>
                    <a:cubicBezTo>
                      <a:pt x="393116" y="436987"/>
                      <a:pt x="435914" y="392717"/>
                      <a:pt x="489559" y="391864"/>
                    </a:cubicBezTo>
                    <a:cubicBezTo>
                      <a:pt x="536467" y="391117"/>
                      <a:pt x="577203" y="424069"/>
                      <a:pt x="586374" y="470174"/>
                    </a:cubicBezTo>
                    <a:lnTo>
                      <a:pt x="602312" y="470174"/>
                    </a:lnTo>
                    <a:cubicBezTo>
                      <a:pt x="594033" y="419208"/>
                      <a:pt x="552104" y="380489"/>
                      <a:pt x="500739" y="376375"/>
                    </a:cubicBezTo>
                    <a:lnTo>
                      <a:pt x="500739" y="226233"/>
                    </a:lnTo>
                    <a:cubicBezTo>
                      <a:pt x="562954" y="222677"/>
                      <a:pt x="610508" y="169256"/>
                      <a:pt x="606960" y="106912"/>
                    </a:cubicBezTo>
                    <a:cubicBezTo>
                      <a:pt x="603412" y="44569"/>
                      <a:pt x="550104" y="-3088"/>
                      <a:pt x="487891" y="468"/>
                    </a:cubicBezTo>
                    <a:cubicBezTo>
                      <a:pt x="431580" y="3685"/>
                      <a:pt x="386291" y="48078"/>
                      <a:pt x="381836" y="104420"/>
                    </a:cubicBezTo>
                    <a:lnTo>
                      <a:pt x="158451" y="104420"/>
                    </a:lnTo>
                    <a:cubicBezTo>
                      <a:pt x="153487" y="79571"/>
                      <a:pt x="129361" y="63460"/>
                      <a:pt x="104564" y="68434"/>
                    </a:cubicBezTo>
                    <a:cubicBezTo>
                      <a:pt x="79767" y="73408"/>
                      <a:pt x="63689" y="97585"/>
                      <a:pt x="68653" y="122434"/>
                    </a:cubicBezTo>
                    <a:cubicBezTo>
                      <a:pt x="73616" y="147283"/>
                      <a:pt x="97743" y="163394"/>
                      <a:pt x="122540" y="158420"/>
                    </a:cubicBezTo>
                    <a:cubicBezTo>
                      <a:pt x="141447" y="154627"/>
                      <a:pt x="155957" y="139371"/>
                      <a:pt x="158831" y="120265"/>
                    </a:cubicBezTo>
                    <a:lnTo>
                      <a:pt x="381520" y="120265"/>
                    </a:lnTo>
                    <a:cubicBezTo>
                      <a:pt x="384524" y="176534"/>
                      <a:pt x="428674" y="221861"/>
                      <a:pt x="484737" y="226233"/>
                    </a:cubicBezTo>
                    <a:lnTo>
                      <a:pt x="484737" y="376438"/>
                    </a:lnTo>
                    <a:cubicBezTo>
                      <a:pt x="428810" y="380765"/>
                      <a:pt x="384713" y="425903"/>
                      <a:pt x="381583" y="482026"/>
                    </a:cubicBezTo>
                    <a:lnTo>
                      <a:pt x="225429" y="482026"/>
                    </a:lnTo>
                    <a:cubicBezTo>
                      <a:pt x="222299" y="425903"/>
                      <a:pt x="178202" y="380765"/>
                      <a:pt x="122275" y="376438"/>
                    </a:cubicBezTo>
                    <a:lnTo>
                      <a:pt x="122275" y="226296"/>
                    </a:lnTo>
                    <a:cubicBezTo>
                      <a:pt x="171430" y="222469"/>
                      <a:pt x="212308" y="186884"/>
                      <a:pt x="222962" y="138645"/>
                    </a:cubicBezTo>
                    <a:lnTo>
                      <a:pt x="206645" y="138645"/>
                    </a:lnTo>
                    <a:cubicBezTo>
                      <a:pt x="192044" y="189615"/>
                      <a:pt x="138974" y="219074"/>
                      <a:pt x="88109" y="204443"/>
                    </a:cubicBezTo>
                    <a:cubicBezTo>
                      <a:pt x="37245" y="189811"/>
                      <a:pt x="7847" y="136631"/>
                      <a:pt x="22448" y="85660"/>
                    </a:cubicBezTo>
                    <a:cubicBezTo>
                      <a:pt x="34221" y="44560"/>
                      <a:pt x="71698" y="16214"/>
                      <a:pt x="114369" y="16135"/>
                    </a:cubicBezTo>
                    <a:cubicBezTo>
                      <a:pt x="157866" y="16434"/>
                      <a:pt x="195728" y="46001"/>
                      <a:pt x="206645" y="88196"/>
                    </a:cubicBezTo>
                    <a:lnTo>
                      <a:pt x="222899" y="88196"/>
                    </a:lnTo>
                    <a:cubicBezTo>
                      <a:pt x="210088" y="28015"/>
                      <a:pt x="151017" y="-10363"/>
                      <a:pt x="90962" y="2475"/>
                    </a:cubicBezTo>
                    <a:cubicBezTo>
                      <a:pt x="38878" y="13609"/>
                      <a:pt x="1986" y="60189"/>
                      <a:pt x="2993" y="113547"/>
                    </a:cubicBezTo>
                    <a:cubicBezTo>
                      <a:pt x="2682" y="172477"/>
                      <a:pt x="47832" y="221649"/>
                      <a:pt x="106463" y="226233"/>
                    </a:cubicBezTo>
                    <a:lnTo>
                      <a:pt x="106463" y="376438"/>
                    </a:lnTo>
                    <a:cubicBezTo>
                      <a:pt x="44248" y="379964"/>
                      <a:pt x="-3335" y="433363"/>
                      <a:pt x="183" y="495708"/>
                    </a:cubicBezTo>
                    <a:cubicBezTo>
                      <a:pt x="3702" y="558053"/>
                      <a:pt x="56989" y="605733"/>
                      <a:pt x="119205" y="602209"/>
                    </a:cubicBezTo>
                    <a:cubicBezTo>
                      <a:pt x="175803" y="599002"/>
                      <a:pt x="221239" y="554210"/>
                      <a:pt x="225366" y="497553"/>
                    </a:cubicBezTo>
                    <a:lnTo>
                      <a:pt x="381646" y="497553"/>
                    </a:lnTo>
                    <a:cubicBezTo>
                      <a:pt x="385360" y="558941"/>
                      <a:pt x="438031" y="605688"/>
                      <a:pt x="499290" y="601968"/>
                    </a:cubicBezTo>
                    <a:cubicBezTo>
                      <a:pt x="551933" y="598768"/>
                      <a:pt x="595083" y="558928"/>
                      <a:pt x="602565" y="506616"/>
                    </a:cubicBezTo>
                    <a:lnTo>
                      <a:pt x="586563" y="506616"/>
                    </a:lnTo>
                    <a:cubicBezTo>
                      <a:pt x="578670" y="552515"/>
                      <a:pt x="539120" y="586168"/>
                      <a:pt x="492643" y="586536"/>
                    </a:cubicBezTo>
                    <a:close/>
                    <a:moveTo>
                      <a:pt x="397015" y="113484"/>
                    </a:moveTo>
                    <a:cubicBezTo>
                      <a:pt x="397818" y="60566"/>
                      <a:pt x="441279" y="18320"/>
                      <a:pt x="494086" y="19125"/>
                    </a:cubicBezTo>
                    <a:cubicBezTo>
                      <a:pt x="546894" y="19930"/>
                      <a:pt x="589055" y="63481"/>
                      <a:pt x="588252" y="116399"/>
                    </a:cubicBezTo>
                    <a:cubicBezTo>
                      <a:pt x="587455" y="168744"/>
                      <a:pt x="544886" y="210762"/>
                      <a:pt x="492643" y="210768"/>
                    </a:cubicBezTo>
                    <a:cubicBezTo>
                      <a:pt x="439464" y="210280"/>
                      <a:pt x="396700" y="166775"/>
                      <a:pt x="397015" y="113484"/>
                    </a:cubicBezTo>
                    <a:close/>
                    <a:moveTo>
                      <a:pt x="114369" y="586536"/>
                    </a:moveTo>
                    <a:cubicBezTo>
                      <a:pt x="60725" y="587480"/>
                      <a:pt x="16473" y="544670"/>
                      <a:pt x="15530" y="490914"/>
                    </a:cubicBezTo>
                    <a:cubicBezTo>
                      <a:pt x="14587" y="437158"/>
                      <a:pt x="57310" y="392814"/>
                      <a:pt x="110954" y="391869"/>
                    </a:cubicBezTo>
                    <a:cubicBezTo>
                      <a:pt x="164598" y="390924"/>
                      <a:pt x="208849" y="433735"/>
                      <a:pt x="209792" y="487491"/>
                    </a:cubicBezTo>
                    <a:cubicBezTo>
                      <a:pt x="209802" y="488057"/>
                      <a:pt x="209807" y="488622"/>
                      <a:pt x="209807" y="489187"/>
                    </a:cubicBezTo>
                    <a:cubicBezTo>
                      <a:pt x="210193" y="542444"/>
                      <a:pt x="167513" y="585978"/>
                      <a:pt x="114369" y="586536"/>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187" name="Google Shape;2208;p123">
            <a:extLst>
              <a:ext uri="{FF2B5EF4-FFF2-40B4-BE49-F238E27FC236}">
                <a16:creationId xmlns:a16="http://schemas.microsoft.com/office/drawing/2014/main" id="{CBA7AA78-461D-68DA-D065-DD831848E46F}"/>
              </a:ext>
            </a:extLst>
          </p:cNvPr>
          <p:cNvGrpSpPr/>
          <p:nvPr/>
        </p:nvGrpSpPr>
        <p:grpSpPr>
          <a:xfrm>
            <a:off x="1465284" y="3527545"/>
            <a:ext cx="534113" cy="2467757"/>
            <a:chOff x="1465274" y="3561607"/>
            <a:chExt cx="534109" cy="2468400"/>
          </a:xfrm>
        </p:grpSpPr>
        <p:sp>
          <p:nvSpPr>
            <p:cNvPr id="188" name="Google Shape;2209;p123">
              <a:extLst>
                <a:ext uri="{FF2B5EF4-FFF2-40B4-BE49-F238E27FC236}">
                  <a16:creationId xmlns:a16="http://schemas.microsoft.com/office/drawing/2014/main" id="{8FA4A598-F29F-64ED-EC7C-0E58B1A37B60}"/>
                </a:ext>
              </a:extLst>
            </p:cNvPr>
            <p:cNvSpPr/>
            <p:nvPr/>
          </p:nvSpPr>
          <p:spPr>
            <a:xfrm>
              <a:off x="1679583" y="3561607"/>
              <a:ext cx="319800" cy="2468400"/>
            </a:xfrm>
            <a:prstGeom prst="leftBracket">
              <a:avLst>
                <a:gd name="adj" fmla="val 0"/>
              </a:avLst>
            </a:prstGeom>
            <a:noFill/>
            <a:ln w="15875" cap="flat" cmpd="sng">
              <a:solidFill>
                <a:srgbClr val="53565A">
                  <a:alpha val="49410"/>
                </a:srgbClr>
              </a:solidFill>
              <a:prstDash val="dot"/>
              <a:miter lim="800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cxnSp>
          <p:nvCxnSpPr>
            <p:cNvPr id="189" name="Google Shape;2210;p123">
              <a:extLst>
                <a:ext uri="{FF2B5EF4-FFF2-40B4-BE49-F238E27FC236}">
                  <a16:creationId xmlns:a16="http://schemas.microsoft.com/office/drawing/2014/main" id="{16461A85-538D-9482-45D2-DB1E17A8FEA1}"/>
                </a:ext>
              </a:extLst>
            </p:cNvPr>
            <p:cNvCxnSpPr/>
            <p:nvPr/>
          </p:nvCxnSpPr>
          <p:spPr>
            <a:xfrm rot="10800000">
              <a:off x="1465274" y="4800636"/>
              <a:ext cx="429600" cy="0"/>
            </a:xfrm>
            <a:prstGeom prst="straightConnector1">
              <a:avLst/>
            </a:prstGeom>
            <a:noFill/>
            <a:ln w="15875" cap="flat" cmpd="sng">
              <a:solidFill>
                <a:srgbClr val="53565A">
                  <a:alpha val="49410"/>
                </a:srgbClr>
              </a:solidFill>
              <a:prstDash val="dot"/>
              <a:miter lim="800000"/>
              <a:headEnd type="none" w="sm" len="sm"/>
              <a:tailEnd type="none" w="sm" len="sm"/>
            </a:ln>
          </p:spPr>
        </p:cxnSp>
      </p:grpSp>
      <p:grpSp>
        <p:nvGrpSpPr>
          <p:cNvPr id="190" name="Google Shape;2211;p123">
            <a:extLst>
              <a:ext uri="{FF2B5EF4-FFF2-40B4-BE49-F238E27FC236}">
                <a16:creationId xmlns:a16="http://schemas.microsoft.com/office/drawing/2014/main" id="{41F0A7C7-7FE7-07C8-B4AF-C32CFFBE3109}"/>
              </a:ext>
            </a:extLst>
          </p:cNvPr>
          <p:cNvGrpSpPr/>
          <p:nvPr/>
        </p:nvGrpSpPr>
        <p:grpSpPr>
          <a:xfrm>
            <a:off x="5479284" y="3537878"/>
            <a:ext cx="567904" cy="567752"/>
            <a:chOff x="5479250" y="3537905"/>
            <a:chExt cx="567900" cy="567900"/>
          </a:xfrm>
        </p:grpSpPr>
        <p:sp>
          <p:nvSpPr>
            <p:cNvPr id="191" name="Google Shape;2212;p123">
              <a:extLst>
                <a:ext uri="{FF2B5EF4-FFF2-40B4-BE49-F238E27FC236}">
                  <a16:creationId xmlns:a16="http://schemas.microsoft.com/office/drawing/2014/main" id="{94F79974-5A62-4DF3-F48E-FE9E3972A2E9}"/>
                </a:ext>
              </a:extLst>
            </p:cNvPr>
            <p:cNvSpPr/>
            <p:nvPr/>
          </p:nvSpPr>
          <p:spPr>
            <a:xfrm>
              <a:off x="5479250" y="3537905"/>
              <a:ext cx="567900" cy="567900"/>
            </a:xfrm>
            <a:prstGeom prst="ellipse">
              <a:avLst/>
            </a:prstGeom>
            <a:gradFill>
              <a:gsLst>
                <a:gs pos="0">
                  <a:schemeClr val="accent2"/>
                </a:gs>
                <a:gs pos="100000">
                  <a:schemeClr val="accent3"/>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192" name="Google Shape;2213;p123">
              <a:extLst>
                <a:ext uri="{FF2B5EF4-FFF2-40B4-BE49-F238E27FC236}">
                  <a16:creationId xmlns:a16="http://schemas.microsoft.com/office/drawing/2014/main" id="{8DE048F4-BC5D-0E6E-E283-17AC684B4F2C}"/>
                </a:ext>
              </a:extLst>
            </p:cNvPr>
            <p:cNvGrpSpPr/>
            <p:nvPr/>
          </p:nvGrpSpPr>
          <p:grpSpPr>
            <a:xfrm>
              <a:off x="5606811" y="3675658"/>
              <a:ext cx="313108" cy="292038"/>
              <a:chOff x="1854219" y="4375174"/>
              <a:chExt cx="543307" cy="506834"/>
            </a:xfrm>
          </p:grpSpPr>
          <p:sp>
            <p:nvSpPr>
              <p:cNvPr id="193" name="Google Shape;2214;p123">
                <a:extLst>
                  <a:ext uri="{FF2B5EF4-FFF2-40B4-BE49-F238E27FC236}">
                    <a16:creationId xmlns:a16="http://schemas.microsoft.com/office/drawing/2014/main" id="{832C494F-E6C9-A520-41FF-5E3AB9C37B2A}"/>
                  </a:ext>
                </a:extLst>
              </p:cNvPr>
              <p:cNvSpPr/>
              <p:nvPr/>
            </p:nvSpPr>
            <p:spPr>
              <a:xfrm>
                <a:off x="1854219" y="4375174"/>
                <a:ext cx="283524" cy="352456"/>
              </a:xfrm>
              <a:custGeom>
                <a:avLst/>
                <a:gdLst/>
                <a:ahLst/>
                <a:cxnLst/>
                <a:rect l="l" t="t" r="r" b="b"/>
                <a:pathLst>
                  <a:path w="283524" h="352456" extrusionOk="0">
                    <a:moveTo>
                      <a:pt x="276356" y="338120"/>
                    </a:moveTo>
                    <a:lnTo>
                      <a:pt x="65491" y="338120"/>
                    </a:lnTo>
                    <a:lnTo>
                      <a:pt x="65491" y="116128"/>
                    </a:lnTo>
                    <a:cubicBezTo>
                      <a:pt x="94279" y="112573"/>
                      <a:pt x="116644" y="88028"/>
                      <a:pt x="116644" y="58322"/>
                    </a:cubicBezTo>
                    <a:cubicBezTo>
                      <a:pt x="116644" y="26150"/>
                      <a:pt x="90494" y="0"/>
                      <a:pt x="58322" y="0"/>
                    </a:cubicBezTo>
                    <a:cubicBezTo>
                      <a:pt x="26150" y="0"/>
                      <a:pt x="0" y="26150"/>
                      <a:pt x="0" y="58322"/>
                    </a:cubicBezTo>
                    <a:cubicBezTo>
                      <a:pt x="0" y="88028"/>
                      <a:pt x="22365" y="112573"/>
                      <a:pt x="51154" y="116128"/>
                    </a:cubicBezTo>
                    <a:lnTo>
                      <a:pt x="51154" y="345288"/>
                    </a:lnTo>
                    <a:cubicBezTo>
                      <a:pt x="51154" y="349245"/>
                      <a:pt x="54365" y="352456"/>
                      <a:pt x="58322" y="352456"/>
                    </a:cubicBezTo>
                    <a:lnTo>
                      <a:pt x="276356" y="352456"/>
                    </a:lnTo>
                    <a:cubicBezTo>
                      <a:pt x="280313" y="352456"/>
                      <a:pt x="283525" y="349245"/>
                      <a:pt x="283525" y="345288"/>
                    </a:cubicBezTo>
                    <a:cubicBezTo>
                      <a:pt x="283525" y="341331"/>
                      <a:pt x="280313" y="338120"/>
                      <a:pt x="276356" y="338120"/>
                    </a:cubicBezTo>
                    <a:close/>
                    <a:moveTo>
                      <a:pt x="14337" y="58322"/>
                    </a:moveTo>
                    <a:cubicBezTo>
                      <a:pt x="14337" y="34064"/>
                      <a:pt x="34064" y="14337"/>
                      <a:pt x="58322" y="14337"/>
                    </a:cubicBezTo>
                    <a:cubicBezTo>
                      <a:pt x="82580" y="14337"/>
                      <a:pt x="102308" y="34064"/>
                      <a:pt x="102308" y="58322"/>
                    </a:cubicBezTo>
                    <a:cubicBezTo>
                      <a:pt x="102308" y="82580"/>
                      <a:pt x="82580" y="102308"/>
                      <a:pt x="58322" y="102308"/>
                    </a:cubicBezTo>
                    <a:cubicBezTo>
                      <a:pt x="34064" y="102308"/>
                      <a:pt x="14337" y="82580"/>
                      <a:pt x="14337" y="58322"/>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4" name="Google Shape;2215;p123">
                <a:extLst>
                  <a:ext uri="{FF2B5EF4-FFF2-40B4-BE49-F238E27FC236}">
                    <a16:creationId xmlns:a16="http://schemas.microsoft.com/office/drawing/2014/main" id="{6E3FE144-155C-DC08-8912-BE79E322BCAA}"/>
                  </a:ext>
                </a:extLst>
              </p:cNvPr>
              <p:cNvSpPr/>
              <p:nvPr/>
            </p:nvSpPr>
            <p:spPr>
              <a:xfrm>
                <a:off x="2148873" y="4639319"/>
                <a:ext cx="115837" cy="170087"/>
              </a:xfrm>
              <a:custGeom>
                <a:avLst/>
                <a:gdLst/>
                <a:ahLst/>
                <a:cxnLst/>
                <a:rect l="l" t="t" r="r" b="b"/>
                <a:pathLst>
                  <a:path w="115837" h="170087" extrusionOk="0">
                    <a:moveTo>
                      <a:pt x="113027" y="79364"/>
                    </a:moveTo>
                    <a:lnTo>
                      <a:pt x="11522" y="1487"/>
                    </a:lnTo>
                    <a:cubicBezTo>
                      <a:pt x="8368" y="-922"/>
                      <a:pt x="3895" y="-348"/>
                      <a:pt x="1487" y="2806"/>
                    </a:cubicBezTo>
                    <a:cubicBezTo>
                      <a:pt x="-922" y="5960"/>
                      <a:pt x="-348" y="10433"/>
                      <a:pt x="2806" y="12841"/>
                    </a:cubicBezTo>
                    <a:lnTo>
                      <a:pt x="96855" y="85042"/>
                    </a:lnTo>
                    <a:lnTo>
                      <a:pt x="2806" y="157242"/>
                    </a:lnTo>
                    <a:cubicBezTo>
                      <a:pt x="-348" y="159650"/>
                      <a:pt x="-922" y="164181"/>
                      <a:pt x="1487" y="167278"/>
                    </a:cubicBezTo>
                    <a:cubicBezTo>
                      <a:pt x="2920" y="169113"/>
                      <a:pt x="5042" y="170088"/>
                      <a:pt x="7164" y="170088"/>
                    </a:cubicBezTo>
                    <a:cubicBezTo>
                      <a:pt x="8712" y="170088"/>
                      <a:pt x="10203" y="169629"/>
                      <a:pt x="11522" y="168597"/>
                    </a:cubicBezTo>
                    <a:lnTo>
                      <a:pt x="113027" y="90719"/>
                    </a:lnTo>
                    <a:cubicBezTo>
                      <a:pt x="114805" y="89343"/>
                      <a:pt x="115837" y="87278"/>
                      <a:pt x="115837" y="85042"/>
                    </a:cubicBezTo>
                    <a:cubicBezTo>
                      <a:pt x="115837" y="82805"/>
                      <a:pt x="114805" y="80741"/>
                      <a:pt x="113027" y="79364"/>
                    </a:cubicBezTo>
                    <a:lnTo>
                      <a:pt x="113027" y="79364"/>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5" name="Google Shape;2216;p123">
                <a:extLst>
                  <a:ext uri="{FF2B5EF4-FFF2-40B4-BE49-F238E27FC236}">
                    <a16:creationId xmlns:a16="http://schemas.microsoft.com/office/drawing/2014/main" id="{51C3C425-AB2D-51DC-F3A4-AC0C9E7C6A5C}"/>
                  </a:ext>
                </a:extLst>
              </p:cNvPr>
              <p:cNvSpPr/>
              <p:nvPr/>
            </p:nvSpPr>
            <p:spPr>
              <a:xfrm>
                <a:off x="2114002" y="4529552"/>
                <a:ext cx="283524" cy="352456"/>
              </a:xfrm>
              <a:custGeom>
                <a:avLst/>
                <a:gdLst/>
                <a:ahLst/>
                <a:cxnLst/>
                <a:rect l="l" t="t" r="r" b="b"/>
                <a:pathLst>
                  <a:path w="283524" h="352456" extrusionOk="0">
                    <a:moveTo>
                      <a:pt x="232371" y="236328"/>
                    </a:moveTo>
                    <a:lnTo>
                      <a:pt x="232371" y="7168"/>
                    </a:lnTo>
                    <a:cubicBezTo>
                      <a:pt x="232371" y="3211"/>
                      <a:pt x="229160" y="0"/>
                      <a:pt x="225203" y="0"/>
                    </a:cubicBezTo>
                    <a:lnTo>
                      <a:pt x="7168" y="0"/>
                    </a:lnTo>
                    <a:cubicBezTo>
                      <a:pt x="3211" y="0"/>
                      <a:pt x="0" y="3211"/>
                      <a:pt x="0" y="7168"/>
                    </a:cubicBezTo>
                    <a:cubicBezTo>
                      <a:pt x="0" y="11125"/>
                      <a:pt x="3211" y="14337"/>
                      <a:pt x="7168" y="14337"/>
                    </a:cubicBezTo>
                    <a:lnTo>
                      <a:pt x="218034" y="14337"/>
                    </a:lnTo>
                    <a:lnTo>
                      <a:pt x="218034" y="236328"/>
                    </a:lnTo>
                    <a:cubicBezTo>
                      <a:pt x="189246" y="239884"/>
                      <a:pt x="166881" y="264428"/>
                      <a:pt x="166881" y="294134"/>
                    </a:cubicBezTo>
                    <a:cubicBezTo>
                      <a:pt x="166881" y="326306"/>
                      <a:pt x="193031" y="352456"/>
                      <a:pt x="225203" y="352456"/>
                    </a:cubicBezTo>
                    <a:cubicBezTo>
                      <a:pt x="257375" y="352456"/>
                      <a:pt x="283525" y="326306"/>
                      <a:pt x="283525" y="294134"/>
                    </a:cubicBezTo>
                    <a:cubicBezTo>
                      <a:pt x="283525" y="264428"/>
                      <a:pt x="261159" y="239884"/>
                      <a:pt x="232371" y="236328"/>
                    </a:cubicBezTo>
                    <a:close/>
                    <a:moveTo>
                      <a:pt x="225203" y="338120"/>
                    </a:moveTo>
                    <a:cubicBezTo>
                      <a:pt x="200945" y="338120"/>
                      <a:pt x="181217" y="318392"/>
                      <a:pt x="181217" y="294134"/>
                    </a:cubicBezTo>
                    <a:cubicBezTo>
                      <a:pt x="181217" y="269876"/>
                      <a:pt x="200945" y="250149"/>
                      <a:pt x="225203" y="250149"/>
                    </a:cubicBezTo>
                    <a:cubicBezTo>
                      <a:pt x="249461" y="250149"/>
                      <a:pt x="269188" y="269876"/>
                      <a:pt x="269188" y="294134"/>
                    </a:cubicBezTo>
                    <a:cubicBezTo>
                      <a:pt x="269188" y="318392"/>
                      <a:pt x="249461" y="338120"/>
                      <a:pt x="225203" y="33812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6" name="Google Shape;2217;p123">
                <a:extLst>
                  <a:ext uri="{FF2B5EF4-FFF2-40B4-BE49-F238E27FC236}">
                    <a16:creationId xmlns:a16="http://schemas.microsoft.com/office/drawing/2014/main" id="{A69A890F-53FD-A578-B9AF-4C4BF8BF0C96}"/>
                  </a:ext>
                </a:extLst>
              </p:cNvPr>
              <p:cNvSpPr/>
              <p:nvPr/>
            </p:nvSpPr>
            <p:spPr>
              <a:xfrm>
                <a:off x="1986920" y="4447722"/>
                <a:ext cx="115894" cy="170087"/>
              </a:xfrm>
              <a:custGeom>
                <a:avLst/>
                <a:gdLst/>
                <a:ahLst/>
                <a:cxnLst/>
                <a:rect l="l" t="t" r="r" b="b"/>
                <a:pathLst>
                  <a:path w="115894" h="170087" extrusionOk="0">
                    <a:moveTo>
                      <a:pt x="2867" y="90719"/>
                    </a:moveTo>
                    <a:lnTo>
                      <a:pt x="104372" y="168597"/>
                    </a:lnTo>
                    <a:cubicBezTo>
                      <a:pt x="105691" y="169571"/>
                      <a:pt x="107182" y="170088"/>
                      <a:pt x="108730" y="170088"/>
                    </a:cubicBezTo>
                    <a:cubicBezTo>
                      <a:pt x="110910" y="170088"/>
                      <a:pt x="113031" y="169113"/>
                      <a:pt x="114408" y="167278"/>
                    </a:cubicBezTo>
                    <a:cubicBezTo>
                      <a:pt x="116816" y="164124"/>
                      <a:pt x="116243" y="159650"/>
                      <a:pt x="113089" y="157242"/>
                    </a:cubicBezTo>
                    <a:lnTo>
                      <a:pt x="18982" y="85042"/>
                    </a:lnTo>
                    <a:lnTo>
                      <a:pt x="113031" y="12841"/>
                    </a:lnTo>
                    <a:cubicBezTo>
                      <a:pt x="116186" y="10433"/>
                      <a:pt x="116759" y="5960"/>
                      <a:pt x="114350" y="2806"/>
                    </a:cubicBezTo>
                    <a:cubicBezTo>
                      <a:pt x="111942" y="-348"/>
                      <a:pt x="107411" y="-922"/>
                      <a:pt x="104315" y="1487"/>
                    </a:cubicBezTo>
                    <a:lnTo>
                      <a:pt x="2810" y="79364"/>
                    </a:lnTo>
                    <a:cubicBezTo>
                      <a:pt x="1032" y="80741"/>
                      <a:pt x="0" y="82805"/>
                      <a:pt x="0" y="85042"/>
                    </a:cubicBezTo>
                    <a:cubicBezTo>
                      <a:pt x="0" y="87278"/>
                      <a:pt x="1032" y="89400"/>
                      <a:pt x="2810" y="90719"/>
                    </a:cubicBezTo>
                    <a:lnTo>
                      <a:pt x="2810" y="90719"/>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7" name="Google Shape;2218;p123">
                <a:extLst>
                  <a:ext uri="{FF2B5EF4-FFF2-40B4-BE49-F238E27FC236}">
                    <a16:creationId xmlns:a16="http://schemas.microsoft.com/office/drawing/2014/main" id="{F7D6D6E3-F925-4DF3-A121-BED4F3021861}"/>
                  </a:ext>
                </a:extLst>
              </p:cNvPr>
              <p:cNvSpPr/>
              <p:nvPr/>
            </p:nvSpPr>
            <p:spPr>
              <a:xfrm>
                <a:off x="1854219" y="476536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8" name="Google Shape;2219;p123">
                <a:extLst>
                  <a:ext uri="{FF2B5EF4-FFF2-40B4-BE49-F238E27FC236}">
                    <a16:creationId xmlns:a16="http://schemas.microsoft.com/office/drawing/2014/main" id="{423D65F6-B948-A9E9-8524-F03EF841E668}"/>
                  </a:ext>
                </a:extLst>
              </p:cNvPr>
              <p:cNvSpPr/>
              <p:nvPr/>
            </p:nvSpPr>
            <p:spPr>
              <a:xfrm>
                <a:off x="2280882" y="437517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199" name="Google Shape;2220;p123">
            <a:extLst>
              <a:ext uri="{FF2B5EF4-FFF2-40B4-BE49-F238E27FC236}">
                <a16:creationId xmlns:a16="http://schemas.microsoft.com/office/drawing/2014/main" id="{71E1250E-E15C-CC45-EB79-B1015A38B36F}"/>
              </a:ext>
            </a:extLst>
          </p:cNvPr>
          <p:cNvGrpSpPr/>
          <p:nvPr/>
        </p:nvGrpSpPr>
        <p:grpSpPr>
          <a:xfrm>
            <a:off x="5479284" y="4477550"/>
            <a:ext cx="567904" cy="567752"/>
            <a:chOff x="5479250" y="4477822"/>
            <a:chExt cx="567900" cy="567900"/>
          </a:xfrm>
        </p:grpSpPr>
        <p:sp>
          <p:nvSpPr>
            <p:cNvPr id="200" name="Google Shape;2221;p123">
              <a:extLst>
                <a:ext uri="{FF2B5EF4-FFF2-40B4-BE49-F238E27FC236}">
                  <a16:creationId xmlns:a16="http://schemas.microsoft.com/office/drawing/2014/main" id="{B7CCE162-27BE-0985-C320-C51C80101849}"/>
                </a:ext>
              </a:extLst>
            </p:cNvPr>
            <p:cNvSpPr/>
            <p:nvPr/>
          </p:nvSpPr>
          <p:spPr>
            <a:xfrm>
              <a:off x="5479250" y="4477822"/>
              <a:ext cx="567900" cy="567900"/>
            </a:xfrm>
            <a:prstGeom prst="ellipse">
              <a:avLst/>
            </a:prstGeom>
            <a:gradFill>
              <a:gsLst>
                <a:gs pos="0">
                  <a:schemeClr val="accent2"/>
                </a:gs>
                <a:gs pos="100000">
                  <a:schemeClr val="accent3"/>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pic>
          <p:nvPicPr>
            <p:cNvPr id="201" name="Google Shape;2222;p123">
              <a:extLst>
                <a:ext uri="{FF2B5EF4-FFF2-40B4-BE49-F238E27FC236}">
                  <a16:creationId xmlns:a16="http://schemas.microsoft.com/office/drawing/2014/main" id="{B7D29335-5DC8-35F4-CF1D-E09CE1AB1C69}"/>
                </a:ext>
              </a:extLst>
            </p:cNvPr>
            <p:cNvPicPr preferRelativeResize="0"/>
            <p:nvPr/>
          </p:nvPicPr>
          <p:blipFill rotWithShape="1">
            <a:blip r:embed="rId4">
              <a:alphaModFix/>
            </a:blip>
            <a:srcRect/>
            <a:stretch/>
          </p:blipFill>
          <p:spPr>
            <a:xfrm>
              <a:off x="5572130" y="4565862"/>
              <a:ext cx="382264" cy="391942"/>
            </a:xfrm>
            <a:prstGeom prst="rect">
              <a:avLst/>
            </a:prstGeom>
            <a:noFill/>
            <a:ln>
              <a:noFill/>
            </a:ln>
          </p:spPr>
        </p:pic>
      </p:grpSp>
      <p:grpSp>
        <p:nvGrpSpPr>
          <p:cNvPr id="202" name="Google Shape;2223;p123">
            <a:extLst>
              <a:ext uri="{FF2B5EF4-FFF2-40B4-BE49-F238E27FC236}">
                <a16:creationId xmlns:a16="http://schemas.microsoft.com/office/drawing/2014/main" id="{EF779639-E926-5E7C-B70B-BBFDF6AFD606}"/>
              </a:ext>
            </a:extLst>
          </p:cNvPr>
          <p:cNvGrpSpPr/>
          <p:nvPr/>
        </p:nvGrpSpPr>
        <p:grpSpPr>
          <a:xfrm>
            <a:off x="5479284" y="5427659"/>
            <a:ext cx="567904" cy="567752"/>
            <a:chOff x="5479250" y="5428179"/>
            <a:chExt cx="567900" cy="567900"/>
          </a:xfrm>
        </p:grpSpPr>
        <p:sp>
          <p:nvSpPr>
            <p:cNvPr id="203" name="Google Shape;2224;p123">
              <a:extLst>
                <a:ext uri="{FF2B5EF4-FFF2-40B4-BE49-F238E27FC236}">
                  <a16:creationId xmlns:a16="http://schemas.microsoft.com/office/drawing/2014/main" id="{7BB3963C-EF6C-9BD2-CFE7-96DD955C33AE}"/>
                </a:ext>
              </a:extLst>
            </p:cNvPr>
            <p:cNvSpPr/>
            <p:nvPr/>
          </p:nvSpPr>
          <p:spPr>
            <a:xfrm>
              <a:off x="5479250" y="5428179"/>
              <a:ext cx="567900" cy="567900"/>
            </a:xfrm>
            <a:prstGeom prst="ellipse">
              <a:avLst/>
            </a:prstGeom>
            <a:gradFill>
              <a:gsLst>
                <a:gs pos="0">
                  <a:schemeClr val="accent2"/>
                </a:gs>
                <a:gs pos="100000">
                  <a:schemeClr val="accent3"/>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204" name="Google Shape;2225;p123">
              <a:extLst>
                <a:ext uri="{FF2B5EF4-FFF2-40B4-BE49-F238E27FC236}">
                  <a16:creationId xmlns:a16="http://schemas.microsoft.com/office/drawing/2014/main" id="{0220EAB7-0022-1EF6-FC9E-9D080DC8B8E9}"/>
                </a:ext>
              </a:extLst>
            </p:cNvPr>
            <p:cNvGrpSpPr/>
            <p:nvPr/>
          </p:nvGrpSpPr>
          <p:grpSpPr>
            <a:xfrm>
              <a:off x="5553328" y="5502846"/>
              <a:ext cx="419380" cy="418627"/>
              <a:chOff x="7127525" y="722042"/>
              <a:chExt cx="598687" cy="597612"/>
            </a:xfrm>
          </p:grpSpPr>
          <p:sp>
            <p:nvSpPr>
              <p:cNvPr id="205" name="Google Shape;2226;p123">
                <a:extLst>
                  <a:ext uri="{FF2B5EF4-FFF2-40B4-BE49-F238E27FC236}">
                    <a16:creationId xmlns:a16="http://schemas.microsoft.com/office/drawing/2014/main" id="{FD82E7F3-1B10-7464-AF25-AE09A6A17829}"/>
                  </a:ext>
                </a:extLst>
              </p:cNvPr>
              <p:cNvSpPr/>
              <p:nvPr/>
            </p:nvSpPr>
            <p:spPr>
              <a:xfrm>
                <a:off x="7205318" y="799708"/>
                <a:ext cx="63246" cy="63245"/>
              </a:xfrm>
              <a:custGeom>
                <a:avLst/>
                <a:gdLst/>
                <a:ahLst/>
                <a:cxnLst/>
                <a:rect l="l" t="t" r="r" b="b"/>
                <a:pathLst>
                  <a:path w="63246" h="63245"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06" name="Google Shape;2227;p123">
                <a:extLst>
                  <a:ext uri="{FF2B5EF4-FFF2-40B4-BE49-F238E27FC236}">
                    <a16:creationId xmlns:a16="http://schemas.microsoft.com/office/drawing/2014/main" id="{BD1D4B55-1550-16ED-EEF5-60896114C3B2}"/>
                  </a:ext>
                </a:extLst>
              </p:cNvPr>
              <p:cNvSpPr/>
              <p:nvPr/>
            </p:nvSpPr>
            <p:spPr>
              <a:xfrm>
                <a:off x="7585173" y="1178931"/>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07" name="Google Shape;2228;p123">
                <a:extLst>
                  <a:ext uri="{FF2B5EF4-FFF2-40B4-BE49-F238E27FC236}">
                    <a16:creationId xmlns:a16="http://schemas.microsoft.com/office/drawing/2014/main" id="{BB212C6C-70CA-4F7E-0034-AE615A369C6A}"/>
                  </a:ext>
                </a:extLst>
              </p:cNvPr>
              <p:cNvSpPr/>
              <p:nvPr/>
            </p:nvSpPr>
            <p:spPr>
              <a:xfrm>
                <a:off x="7205318" y="1178931"/>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08" name="Google Shape;2229;p123">
                <a:extLst>
                  <a:ext uri="{FF2B5EF4-FFF2-40B4-BE49-F238E27FC236}">
                    <a16:creationId xmlns:a16="http://schemas.microsoft.com/office/drawing/2014/main" id="{3FA65522-B502-2554-9481-9FB97B19E611}"/>
                  </a:ext>
                </a:extLst>
              </p:cNvPr>
              <p:cNvSpPr/>
              <p:nvPr/>
            </p:nvSpPr>
            <p:spPr>
              <a:xfrm>
                <a:off x="7585173" y="799708"/>
                <a:ext cx="63246" cy="63245"/>
              </a:xfrm>
              <a:custGeom>
                <a:avLst/>
                <a:gdLst/>
                <a:ahLst/>
                <a:cxnLst/>
                <a:rect l="l" t="t" r="r" b="b"/>
                <a:pathLst>
                  <a:path w="63246" h="63245"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09" name="Google Shape;2230;p123">
                <a:extLst>
                  <a:ext uri="{FF2B5EF4-FFF2-40B4-BE49-F238E27FC236}">
                    <a16:creationId xmlns:a16="http://schemas.microsoft.com/office/drawing/2014/main" id="{ED36C83B-CA77-FB1D-831C-AA22ACEAC1F0}"/>
                  </a:ext>
                </a:extLst>
              </p:cNvPr>
              <p:cNvSpPr/>
              <p:nvPr/>
            </p:nvSpPr>
            <p:spPr>
              <a:xfrm>
                <a:off x="7127525" y="989636"/>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0" name="Google Shape;2231;p123">
                <a:extLst>
                  <a:ext uri="{FF2B5EF4-FFF2-40B4-BE49-F238E27FC236}">
                    <a16:creationId xmlns:a16="http://schemas.microsoft.com/office/drawing/2014/main" id="{4AA9F0FE-699C-3883-45FD-70B5DB98D648}"/>
                  </a:ext>
                </a:extLst>
              </p:cNvPr>
              <p:cNvSpPr/>
              <p:nvPr/>
            </p:nvSpPr>
            <p:spPr>
              <a:xfrm>
                <a:off x="7662966" y="989636"/>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1" name="Google Shape;2232;p123">
                <a:extLst>
                  <a:ext uri="{FF2B5EF4-FFF2-40B4-BE49-F238E27FC236}">
                    <a16:creationId xmlns:a16="http://schemas.microsoft.com/office/drawing/2014/main" id="{47D11205-43D0-18C6-D994-C2E8D61841DA}"/>
                  </a:ext>
                </a:extLst>
              </p:cNvPr>
              <p:cNvSpPr/>
              <p:nvPr/>
            </p:nvSpPr>
            <p:spPr>
              <a:xfrm>
                <a:off x="7394929" y="1256408"/>
                <a:ext cx="63245" cy="63246"/>
              </a:xfrm>
              <a:custGeom>
                <a:avLst/>
                <a:gdLst/>
                <a:ahLst/>
                <a:cxnLst/>
                <a:rect l="l" t="t" r="r" b="b"/>
                <a:pathLst>
                  <a:path w="63245"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2" name="Google Shape;2233;p123">
                <a:extLst>
                  <a:ext uri="{FF2B5EF4-FFF2-40B4-BE49-F238E27FC236}">
                    <a16:creationId xmlns:a16="http://schemas.microsoft.com/office/drawing/2014/main" id="{6B59BC66-7D1E-9C31-4E93-54ACB13BBE5A}"/>
                  </a:ext>
                </a:extLst>
              </p:cNvPr>
              <p:cNvSpPr/>
              <p:nvPr/>
            </p:nvSpPr>
            <p:spPr>
              <a:xfrm>
                <a:off x="7394929" y="722042"/>
                <a:ext cx="63245" cy="63246"/>
              </a:xfrm>
              <a:custGeom>
                <a:avLst/>
                <a:gdLst/>
                <a:ahLst/>
                <a:cxnLst/>
                <a:rect l="l" t="t" r="r" b="b"/>
                <a:pathLst>
                  <a:path w="63245"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3" name="Google Shape;2234;p123">
                <a:extLst>
                  <a:ext uri="{FF2B5EF4-FFF2-40B4-BE49-F238E27FC236}">
                    <a16:creationId xmlns:a16="http://schemas.microsoft.com/office/drawing/2014/main" id="{E4F79F14-CF79-F3F4-24F2-D915EF043A53}"/>
                  </a:ext>
                </a:extLst>
              </p:cNvPr>
              <p:cNvSpPr/>
              <p:nvPr/>
            </p:nvSpPr>
            <p:spPr>
              <a:xfrm>
                <a:off x="7268690" y="750187"/>
                <a:ext cx="112135" cy="58312"/>
              </a:xfrm>
              <a:custGeom>
                <a:avLst/>
                <a:gdLst/>
                <a:ahLst/>
                <a:cxnLst/>
                <a:rect l="l" t="t" r="r" b="b"/>
                <a:pathLst>
                  <a:path w="112135" h="58312" extrusionOk="0">
                    <a:moveTo>
                      <a:pt x="0" y="46043"/>
                    </a:moveTo>
                    <a:lnTo>
                      <a:pt x="2530" y="48320"/>
                    </a:lnTo>
                    <a:cubicBezTo>
                      <a:pt x="5487" y="51289"/>
                      <a:pt x="8019" y="54652"/>
                      <a:pt x="10056" y="58313"/>
                    </a:cubicBezTo>
                    <a:cubicBezTo>
                      <a:pt x="40607" y="36953"/>
                      <a:pt x="75439" y="22493"/>
                      <a:pt x="112135" y="15938"/>
                    </a:cubicBezTo>
                    <a:cubicBezTo>
                      <a:pt x="111002" y="11817"/>
                      <a:pt x="110428" y="7562"/>
                      <a:pt x="110428" y="3289"/>
                    </a:cubicBezTo>
                    <a:cubicBezTo>
                      <a:pt x="110363" y="2193"/>
                      <a:pt x="110363" y="1095"/>
                      <a:pt x="110428" y="0"/>
                    </a:cubicBezTo>
                    <a:cubicBezTo>
                      <a:pt x="70670" y="7005"/>
                      <a:pt x="32957" y="22729"/>
                      <a:pt x="0" y="4604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4" name="Google Shape;2235;p123">
                <a:extLst>
                  <a:ext uri="{FF2B5EF4-FFF2-40B4-BE49-F238E27FC236}">
                    <a16:creationId xmlns:a16="http://schemas.microsoft.com/office/drawing/2014/main" id="{08094081-6B3B-8283-7C66-CBB2CE7BED69}"/>
                  </a:ext>
                </a:extLst>
              </p:cNvPr>
              <p:cNvSpPr/>
              <p:nvPr/>
            </p:nvSpPr>
            <p:spPr>
              <a:xfrm>
                <a:off x="7211643" y="849926"/>
                <a:ext cx="12649" cy="10372"/>
              </a:xfrm>
              <a:custGeom>
                <a:avLst/>
                <a:gdLst/>
                <a:ahLst/>
                <a:cxnLst/>
                <a:rect l="l" t="t" r="r" b="b"/>
                <a:pathLst>
                  <a:path w="12649" h="10372" extrusionOk="0">
                    <a:moveTo>
                      <a:pt x="12270" y="10372"/>
                    </a:moveTo>
                    <a:lnTo>
                      <a:pt x="12649" y="9866"/>
                    </a:lnTo>
                    <a:lnTo>
                      <a:pt x="0" y="0"/>
                    </a:lnTo>
                    <a:lnTo>
                      <a:pt x="0" y="0"/>
                    </a:lnTo>
                    <a:cubicBezTo>
                      <a:pt x="1080" y="1589"/>
                      <a:pt x="2308" y="3071"/>
                      <a:pt x="3668" y="4427"/>
                    </a:cubicBezTo>
                    <a:cubicBezTo>
                      <a:pt x="6185" y="6872"/>
                      <a:pt x="9092" y="8882"/>
                      <a:pt x="12270" y="10372"/>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5" name="Google Shape;2236;p123">
                <a:extLst>
                  <a:ext uri="{FF2B5EF4-FFF2-40B4-BE49-F238E27FC236}">
                    <a16:creationId xmlns:a16="http://schemas.microsoft.com/office/drawing/2014/main" id="{B19C9FB3-F06F-877A-56B5-0334CFF8DA99}"/>
                  </a:ext>
                </a:extLst>
              </p:cNvPr>
              <p:cNvSpPr/>
              <p:nvPr/>
            </p:nvSpPr>
            <p:spPr>
              <a:xfrm>
                <a:off x="7256800" y="1222445"/>
                <a:ext cx="10625" cy="13344"/>
              </a:xfrm>
              <a:custGeom>
                <a:avLst/>
                <a:gdLst/>
                <a:ahLst/>
                <a:cxnLst/>
                <a:rect l="l" t="t" r="r" b="b"/>
                <a:pathLst>
                  <a:path w="10625" h="13344" extrusionOk="0">
                    <a:moveTo>
                      <a:pt x="9803" y="0"/>
                    </a:moveTo>
                    <a:lnTo>
                      <a:pt x="0" y="12649"/>
                    </a:lnTo>
                    <a:cubicBezTo>
                      <a:pt x="0" y="12649"/>
                      <a:pt x="632" y="13092"/>
                      <a:pt x="949" y="13345"/>
                    </a:cubicBezTo>
                    <a:cubicBezTo>
                      <a:pt x="2124" y="12490"/>
                      <a:pt x="3244" y="11561"/>
                      <a:pt x="4301" y="10562"/>
                    </a:cubicBezTo>
                    <a:cubicBezTo>
                      <a:pt x="6979" y="7772"/>
                      <a:pt x="9123" y="4513"/>
                      <a:pt x="10625" y="949"/>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6" name="Google Shape;2237;p123">
                <a:extLst>
                  <a:ext uri="{FF2B5EF4-FFF2-40B4-BE49-F238E27FC236}">
                    <a16:creationId xmlns:a16="http://schemas.microsoft.com/office/drawing/2014/main" id="{2859D663-A089-52D8-C9DB-69FA52E260F2}"/>
                  </a:ext>
                </a:extLst>
              </p:cNvPr>
              <p:cNvSpPr/>
              <p:nvPr/>
            </p:nvSpPr>
            <p:spPr>
              <a:xfrm>
                <a:off x="7156492" y="863144"/>
                <a:ext cx="57680" cy="112261"/>
              </a:xfrm>
              <a:custGeom>
                <a:avLst/>
                <a:gdLst/>
                <a:ahLst/>
                <a:cxnLst/>
                <a:rect l="l" t="t" r="r" b="b"/>
                <a:pathLst>
                  <a:path w="57680" h="112261" extrusionOk="0">
                    <a:moveTo>
                      <a:pt x="3099" y="110491"/>
                    </a:moveTo>
                    <a:cubicBezTo>
                      <a:pt x="7377" y="110498"/>
                      <a:pt x="11633" y="111094"/>
                      <a:pt x="15748" y="112262"/>
                    </a:cubicBezTo>
                    <a:cubicBezTo>
                      <a:pt x="22172" y="75562"/>
                      <a:pt x="36478" y="40692"/>
                      <a:pt x="57680" y="10056"/>
                    </a:cubicBezTo>
                    <a:cubicBezTo>
                      <a:pt x="54008" y="7982"/>
                      <a:pt x="50627" y="5430"/>
                      <a:pt x="47624" y="2467"/>
                    </a:cubicBezTo>
                    <a:cubicBezTo>
                      <a:pt x="46865" y="1708"/>
                      <a:pt x="46170" y="822"/>
                      <a:pt x="45411" y="0"/>
                    </a:cubicBezTo>
                    <a:cubicBezTo>
                      <a:pt x="22310" y="33077"/>
                      <a:pt x="6804" y="70850"/>
                      <a:pt x="0" y="110617"/>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7" name="Google Shape;2238;p123">
                <a:extLst>
                  <a:ext uri="{FF2B5EF4-FFF2-40B4-BE49-F238E27FC236}">
                    <a16:creationId xmlns:a16="http://schemas.microsoft.com/office/drawing/2014/main" id="{51FAFA5A-6E66-31A5-7863-EF5EC9F0F531}"/>
                  </a:ext>
                </a:extLst>
              </p:cNvPr>
              <p:cNvSpPr/>
              <p:nvPr/>
            </p:nvSpPr>
            <p:spPr>
              <a:xfrm>
                <a:off x="7456721" y="752021"/>
                <a:ext cx="1224" cy="10309"/>
              </a:xfrm>
              <a:custGeom>
                <a:avLst/>
                <a:gdLst/>
                <a:ahLst/>
                <a:cxnLst/>
                <a:rect l="l" t="t" r="r" b="b"/>
                <a:pathLst>
                  <a:path w="1224" h="10309" extrusionOk="0">
                    <a:moveTo>
                      <a:pt x="1202" y="1644"/>
                    </a:moveTo>
                    <a:cubicBezTo>
                      <a:pt x="1233" y="1097"/>
                      <a:pt x="1233" y="548"/>
                      <a:pt x="1202" y="0"/>
                    </a:cubicBezTo>
                    <a:lnTo>
                      <a:pt x="0" y="10309"/>
                    </a:lnTo>
                    <a:cubicBezTo>
                      <a:pt x="813" y="7493"/>
                      <a:pt x="1217" y="4575"/>
                      <a:pt x="1202" y="1644"/>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8" name="Google Shape;2239;p123">
                <a:extLst>
                  <a:ext uri="{FF2B5EF4-FFF2-40B4-BE49-F238E27FC236}">
                    <a16:creationId xmlns:a16="http://schemas.microsoft.com/office/drawing/2014/main" id="{128DEBE5-08C6-BCCC-69D2-7C21759EF7B5}"/>
                  </a:ext>
                </a:extLst>
              </p:cNvPr>
              <p:cNvSpPr/>
              <p:nvPr/>
            </p:nvSpPr>
            <p:spPr>
              <a:xfrm>
                <a:off x="7154342" y="1049720"/>
                <a:ext cx="15811" cy="3162"/>
              </a:xfrm>
              <a:custGeom>
                <a:avLst/>
                <a:gdLst/>
                <a:ahLst/>
                <a:cxnLst/>
                <a:rect l="l" t="t" r="r" b="b"/>
                <a:pathLst>
                  <a:path w="15811" h="3162" extrusionOk="0">
                    <a:moveTo>
                      <a:pt x="15812" y="1012"/>
                    </a:moveTo>
                    <a:lnTo>
                      <a:pt x="15812" y="0"/>
                    </a:lnTo>
                    <a:lnTo>
                      <a:pt x="0" y="1961"/>
                    </a:lnTo>
                    <a:cubicBezTo>
                      <a:pt x="0" y="1961"/>
                      <a:pt x="0" y="2403"/>
                      <a:pt x="0" y="2656"/>
                    </a:cubicBezTo>
                    <a:cubicBezTo>
                      <a:pt x="1735" y="2956"/>
                      <a:pt x="3489" y="3126"/>
                      <a:pt x="5249" y="3162"/>
                    </a:cubicBezTo>
                    <a:cubicBezTo>
                      <a:pt x="8869" y="3068"/>
                      <a:pt x="12444" y="2340"/>
                      <a:pt x="15812" y="1012"/>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9" name="Google Shape;2240;p123">
                <a:extLst>
                  <a:ext uri="{FF2B5EF4-FFF2-40B4-BE49-F238E27FC236}">
                    <a16:creationId xmlns:a16="http://schemas.microsoft.com/office/drawing/2014/main" id="{A3483145-CD13-49F1-B8C7-E9EAA2C7708F}"/>
                  </a:ext>
                </a:extLst>
              </p:cNvPr>
              <p:cNvSpPr/>
              <p:nvPr/>
            </p:nvSpPr>
            <p:spPr>
              <a:xfrm>
                <a:off x="7629256" y="851444"/>
                <a:ext cx="10625" cy="8664"/>
              </a:xfrm>
              <a:custGeom>
                <a:avLst/>
                <a:gdLst/>
                <a:ahLst/>
                <a:cxnLst/>
                <a:rect l="l" t="t" r="r" b="b"/>
                <a:pathLst>
                  <a:path w="10625" h="8664" extrusionOk="0">
                    <a:moveTo>
                      <a:pt x="0" y="8665"/>
                    </a:moveTo>
                    <a:cubicBezTo>
                      <a:pt x="3227" y="7065"/>
                      <a:pt x="6158" y="4926"/>
                      <a:pt x="8665" y="2340"/>
                    </a:cubicBezTo>
                    <a:cubicBezTo>
                      <a:pt x="9360" y="1581"/>
                      <a:pt x="9930" y="759"/>
                      <a:pt x="10625" y="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0" name="Google Shape;2241;p123">
                <a:extLst>
                  <a:ext uri="{FF2B5EF4-FFF2-40B4-BE49-F238E27FC236}">
                    <a16:creationId xmlns:a16="http://schemas.microsoft.com/office/drawing/2014/main" id="{D9E7D22E-1CC4-D216-3FFC-0AB685D45798}"/>
                  </a:ext>
                </a:extLst>
              </p:cNvPr>
              <p:cNvSpPr/>
              <p:nvPr/>
            </p:nvSpPr>
            <p:spPr>
              <a:xfrm>
                <a:off x="7472216" y="750566"/>
                <a:ext cx="111818" cy="58249"/>
              </a:xfrm>
              <a:custGeom>
                <a:avLst/>
                <a:gdLst/>
                <a:ahLst/>
                <a:cxnLst/>
                <a:rect l="l" t="t" r="r" b="b"/>
                <a:pathLst>
                  <a:path w="111818" h="58249" extrusionOk="0">
                    <a:moveTo>
                      <a:pt x="1771" y="3099"/>
                    </a:moveTo>
                    <a:cubicBezTo>
                      <a:pt x="1775" y="7378"/>
                      <a:pt x="1179" y="11635"/>
                      <a:pt x="0" y="15748"/>
                    </a:cubicBezTo>
                    <a:cubicBezTo>
                      <a:pt x="36649" y="22339"/>
                      <a:pt x="71421" y="36843"/>
                      <a:pt x="101889" y="58250"/>
                    </a:cubicBezTo>
                    <a:cubicBezTo>
                      <a:pt x="104049" y="54416"/>
                      <a:pt x="106707" y="50885"/>
                      <a:pt x="109795" y="47751"/>
                    </a:cubicBezTo>
                    <a:lnTo>
                      <a:pt x="111819" y="45917"/>
                    </a:lnTo>
                    <a:cubicBezTo>
                      <a:pt x="78910" y="22668"/>
                      <a:pt x="41264" y="6987"/>
                      <a:pt x="1581" y="0"/>
                    </a:cubicBezTo>
                    <a:cubicBezTo>
                      <a:pt x="1644" y="949"/>
                      <a:pt x="1771" y="2024"/>
                      <a:pt x="1771" y="3099"/>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1" name="Google Shape;2242;p123">
                <a:extLst>
                  <a:ext uri="{FF2B5EF4-FFF2-40B4-BE49-F238E27FC236}">
                    <a16:creationId xmlns:a16="http://schemas.microsoft.com/office/drawing/2014/main" id="{CB48B359-6A83-5A69-BDBA-0838D500557A}"/>
                  </a:ext>
                </a:extLst>
              </p:cNvPr>
              <p:cNvSpPr/>
              <p:nvPr/>
            </p:nvSpPr>
            <p:spPr>
              <a:xfrm>
                <a:off x="7638427" y="863397"/>
                <a:ext cx="57553" cy="111818"/>
              </a:xfrm>
              <a:custGeom>
                <a:avLst/>
                <a:gdLst/>
                <a:ahLst/>
                <a:cxnLst/>
                <a:rect l="l" t="t" r="r" b="b"/>
                <a:pathLst>
                  <a:path w="57553" h="111818" extrusionOk="0">
                    <a:moveTo>
                      <a:pt x="10689" y="1897"/>
                    </a:moveTo>
                    <a:cubicBezTo>
                      <a:pt x="7506" y="5029"/>
                      <a:pt x="3910" y="7710"/>
                      <a:pt x="0" y="9866"/>
                    </a:cubicBezTo>
                    <a:cubicBezTo>
                      <a:pt x="21168" y="40421"/>
                      <a:pt x="35453" y="75206"/>
                      <a:pt x="41869" y="111819"/>
                    </a:cubicBezTo>
                    <a:cubicBezTo>
                      <a:pt x="46296" y="110466"/>
                      <a:pt x="50900" y="109784"/>
                      <a:pt x="55530" y="109795"/>
                    </a:cubicBezTo>
                    <a:lnTo>
                      <a:pt x="57554" y="109795"/>
                    </a:lnTo>
                    <a:cubicBezTo>
                      <a:pt x="50749" y="70325"/>
                      <a:pt x="35329" y="32838"/>
                      <a:pt x="12396" y="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2" name="Google Shape;2243;p123">
                <a:extLst>
                  <a:ext uri="{FF2B5EF4-FFF2-40B4-BE49-F238E27FC236}">
                    <a16:creationId xmlns:a16="http://schemas.microsoft.com/office/drawing/2014/main" id="{1C8D58C9-B817-832D-A5C9-78FFA754DB6C}"/>
                  </a:ext>
                </a:extLst>
              </p:cNvPr>
              <p:cNvSpPr/>
              <p:nvPr/>
            </p:nvSpPr>
            <p:spPr>
              <a:xfrm>
                <a:off x="7156808" y="1066670"/>
                <a:ext cx="58755" cy="112451"/>
              </a:xfrm>
              <a:custGeom>
                <a:avLst/>
                <a:gdLst/>
                <a:ahLst/>
                <a:cxnLst/>
                <a:rect l="l" t="t" r="r" b="b"/>
                <a:pathLst>
                  <a:path w="58755" h="112451" extrusionOk="0">
                    <a:moveTo>
                      <a:pt x="48130" y="110428"/>
                    </a:moveTo>
                    <a:cubicBezTo>
                      <a:pt x="51295" y="107303"/>
                      <a:pt x="54870" y="104622"/>
                      <a:pt x="58756" y="102459"/>
                    </a:cubicBezTo>
                    <a:cubicBezTo>
                      <a:pt x="37017" y="71873"/>
                      <a:pt x="22231" y="36903"/>
                      <a:pt x="15432" y="0"/>
                    </a:cubicBezTo>
                    <a:cubicBezTo>
                      <a:pt x="11316" y="1170"/>
                      <a:pt x="7062" y="1787"/>
                      <a:pt x="2783" y="1834"/>
                    </a:cubicBezTo>
                    <a:lnTo>
                      <a:pt x="0" y="1834"/>
                    </a:lnTo>
                    <a:cubicBezTo>
                      <a:pt x="7107" y="41728"/>
                      <a:pt x="23056" y="79525"/>
                      <a:pt x="46676" y="112451"/>
                    </a:cubicBezTo>
                    <a:cubicBezTo>
                      <a:pt x="47245" y="111503"/>
                      <a:pt x="47751" y="111060"/>
                      <a:pt x="48130" y="110428"/>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3" name="Google Shape;2244;p123">
                <a:extLst>
                  <a:ext uri="{FF2B5EF4-FFF2-40B4-BE49-F238E27FC236}">
                    <a16:creationId xmlns:a16="http://schemas.microsoft.com/office/drawing/2014/main" id="{18D8F269-7BEA-7C9A-9A5D-ED2DEBE2D70C}"/>
                  </a:ext>
                </a:extLst>
              </p:cNvPr>
              <p:cNvSpPr/>
              <p:nvPr/>
            </p:nvSpPr>
            <p:spPr>
              <a:xfrm>
                <a:off x="7682509" y="1049910"/>
                <a:ext cx="15748" cy="2340"/>
              </a:xfrm>
              <a:custGeom>
                <a:avLst/>
                <a:gdLst/>
                <a:ahLst/>
                <a:cxnLst/>
                <a:rect l="l" t="t" r="r" b="b"/>
                <a:pathLst>
                  <a:path w="15748" h="2340" extrusionOk="0">
                    <a:moveTo>
                      <a:pt x="63" y="126"/>
                    </a:moveTo>
                    <a:cubicBezTo>
                      <a:pt x="3687" y="1575"/>
                      <a:pt x="7545" y="2327"/>
                      <a:pt x="11448" y="2340"/>
                    </a:cubicBezTo>
                    <a:cubicBezTo>
                      <a:pt x="12889" y="2248"/>
                      <a:pt x="14332" y="2058"/>
                      <a:pt x="15748" y="1771"/>
                    </a:cubicBezTo>
                    <a:cubicBezTo>
                      <a:pt x="15748" y="1771"/>
                      <a:pt x="15748" y="1771"/>
                      <a:pt x="15748" y="1771"/>
                    </a:cubicBezTo>
                    <a:lnTo>
                      <a:pt x="0" y="0"/>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4" name="Google Shape;2245;p123">
                <a:extLst>
                  <a:ext uri="{FF2B5EF4-FFF2-40B4-BE49-F238E27FC236}">
                    <a16:creationId xmlns:a16="http://schemas.microsoft.com/office/drawing/2014/main" id="{68BC5E6F-8BBD-7420-5E85-5FACEEA7AF0B}"/>
                  </a:ext>
                </a:extLst>
              </p:cNvPr>
              <p:cNvSpPr/>
              <p:nvPr/>
            </p:nvSpPr>
            <p:spPr>
              <a:xfrm>
                <a:off x="7587767" y="1223836"/>
                <a:ext cx="7905" cy="9929"/>
              </a:xfrm>
              <a:custGeom>
                <a:avLst/>
                <a:gdLst/>
                <a:ahLst/>
                <a:cxnLst/>
                <a:rect l="l" t="t" r="r" b="b"/>
                <a:pathLst>
                  <a:path w="7905" h="9929" extrusionOk="0">
                    <a:moveTo>
                      <a:pt x="5755" y="8159"/>
                    </a:moveTo>
                    <a:cubicBezTo>
                      <a:pt x="6388" y="8791"/>
                      <a:pt x="7147" y="9297"/>
                      <a:pt x="7906" y="9930"/>
                    </a:cubicBezTo>
                    <a:lnTo>
                      <a:pt x="0" y="0"/>
                    </a:lnTo>
                    <a:cubicBezTo>
                      <a:pt x="1486" y="3000"/>
                      <a:pt x="3427" y="5752"/>
                      <a:pt x="5755" y="8159"/>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5" name="Google Shape;2246;p123">
                <a:extLst>
                  <a:ext uri="{FF2B5EF4-FFF2-40B4-BE49-F238E27FC236}">
                    <a16:creationId xmlns:a16="http://schemas.microsoft.com/office/drawing/2014/main" id="{30BEBAF8-4711-27A3-7EEB-49DEE6C5663B}"/>
                  </a:ext>
                </a:extLst>
              </p:cNvPr>
              <p:cNvSpPr/>
              <p:nvPr/>
            </p:nvSpPr>
            <p:spPr>
              <a:xfrm>
                <a:off x="7637857" y="1065974"/>
                <a:ext cx="57996" cy="111249"/>
              </a:xfrm>
              <a:custGeom>
                <a:avLst/>
                <a:gdLst/>
                <a:ahLst/>
                <a:cxnLst/>
                <a:rect l="l" t="t" r="r" b="b"/>
                <a:pathLst>
                  <a:path w="57996" h="111249" extrusionOk="0">
                    <a:moveTo>
                      <a:pt x="56099" y="2087"/>
                    </a:moveTo>
                    <a:cubicBezTo>
                      <a:pt x="51425" y="2077"/>
                      <a:pt x="46777" y="1374"/>
                      <a:pt x="42312" y="0"/>
                    </a:cubicBezTo>
                    <a:cubicBezTo>
                      <a:pt x="35731" y="36542"/>
                      <a:pt x="21295" y="71220"/>
                      <a:pt x="0" y="101636"/>
                    </a:cubicBezTo>
                    <a:cubicBezTo>
                      <a:pt x="4269" y="103852"/>
                      <a:pt x="8173" y="106711"/>
                      <a:pt x="11574" y="110111"/>
                    </a:cubicBezTo>
                    <a:lnTo>
                      <a:pt x="12586" y="111250"/>
                    </a:lnTo>
                    <a:cubicBezTo>
                      <a:pt x="35529" y="78577"/>
                      <a:pt x="51033" y="41272"/>
                      <a:pt x="57997" y="1961"/>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6" name="Google Shape;2247;p123">
                <a:extLst>
                  <a:ext uri="{FF2B5EF4-FFF2-40B4-BE49-F238E27FC236}">
                    <a16:creationId xmlns:a16="http://schemas.microsoft.com/office/drawing/2014/main" id="{163A4910-6BD8-B645-BDF8-162370531D9A}"/>
                  </a:ext>
                </a:extLst>
              </p:cNvPr>
              <p:cNvSpPr/>
              <p:nvPr/>
            </p:nvSpPr>
            <p:spPr>
              <a:xfrm>
                <a:off x="7271157" y="1233007"/>
                <a:ext cx="110996" cy="56731"/>
              </a:xfrm>
              <a:custGeom>
                <a:avLst/>
                <a:gdLst/>
                <a:ahLst/>
                <a:cxnLst/>
                <a:rect l="l" t="t" r="r" b="b"/>
                <a:pathLst>
                  <a:path w="110996" h="56731" extrusionOk="0">
                    <a:moveTo>
                      <a:pt x="108846" y="55467"/>
                    </a:moveTo>
                    <a:cubicBezTo>
                      <a:pt x="108841" y="50622"/>
                      <a:pt x="109566" y="45803"/>
                      <a:pt x="110997" y="41173"/>
                    </a:cubicBezTo>
                    <a:cubicBezTo>
                      <a:pt x="74663" y="34871"/>
                      <a:pt x="40108" y="20829"/>
                      <a:pt x="9677" y="0"/>
                    </a:cubicBezTo>
                    <a:cubicBezTo>
                      <a:pt x="7483" y="4137"/>
                      <a:pt x="4668" y="7913"/>
                      <a:pt x="1328" y="11195"/>
                    </a:cubicBezTo>
                    <a:lnTo>
                      <a:pt x="0" y="12459"/>
                    </a:lnTo>
                    <a:cubicBezTo>
                      <a:pt x="32732" y="34986"/>
                      <a:pt x="69987" y="50097"/>
                      <a:pt x="109163" y="56732"/>
                    </a:cubicBezTo>
                    <a:cubicBezTo>
                      <a:pt x="109032" y="56314"/>
                      <a:pt x="108926" y="55897"/>
                      <a:pt x="108846" y="55467"/>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7" name="Google Shape;2248;p123">
                <a:extLst>
                  <a:ext uri="{FF2B5EF4-FFF2-40B4-BE49-F238E27FC236}">
                    <a16:creationId xmlns:a16="http://schemas.microsoft.com/office/drawing/2014/main" id="{0E0DEC18-1FB3-C2FE-E102-99BCDB941D03}"/>
                  </a:ext>
                </a:extLst>
              </p:cNvPr>
              <p:cNvSpPr/>
              <p:nvPr/>
            </p:nvSpPr>
            <p:spPr>
              <a:xfrm>
                <a:off x="7472659" y="1231615"/>
                <a:ext cx="110806" cy="57870"/>
              </a:xfrm>
              <a:custGeom>
                <a:avLst/>
                <a:gdLst/>
                <a:ahLst/>
                <a:cxnLst/>
                <a:rect l="l" t="t" r="r" b="b"/>
                <a:pathLst>
                  <a:path w="110806" h="57870" extrusionOk="0">
                    <a:moveTo>
                      <a:pt x="110807" y="12586"/>
                    </a:moveTo>
                    <a:lnTo>
                      <a:pt x="109669" y="11574"/>
                    </a:lnTo>
                    <a:cubicBezTo>
                      <a:pt x="106277" y="8165"/>
                      <a:pt x="103420" y="4263"/>
                      <a:pt x="101194" y="0"/>
                    </a:cubicBezTo>
                    <a:cubicBezTo>
                      <a:pt x="70911" y="21228"/>
                      <a:pt x="36387" y="35642"/>
                      <a:pt x="0" y="42248"/>
                    </a:cubicBezTo>
                    <a:cubicBezTo>
                      <a:pt x="1524" y="46966"/>
                      <a:pt x="2314" y="51900"/>
                      <a:pt x="2340" y="56858"/>
                    </a:cubicBezTo>
                    <a:cubicBezTo>
                      <a:pt x="2340" y="56858"/>
                      <a:pt x="2340" y="57554"/>
                      <a:pt x="2340" y="57870"/>
                    </a:cubicBezTo>
                    <a:cubicBezTo>
                      <a:pt x="41360" y="50850"/>
                      <a:pt x="78378" y="35394"/>
                      <a:pt x="110807" y="12586"/>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8" name="Google Shape;2249;p123">
                <a:extLst>
                  <a:ext uri="{FF2B5EF4-FFF2-40B4-BE49-F238E27FC236}">
                    <a16:creationId xmlns:a16="http://schemas.microsoft.com/office/drawing/2014/main" id="{978C4450-CFEF-9CB3-FF18-03BA9233BAF0}"/>
                  </a:ext>
                </a:extLst>
              </p:cNvPr>
              <p:cNvSpPr/>
              <p:nvPr/>
            </p:nvSpPr>
            <p:spPr>
              <a:xfrm>
                <a:off x="7456658" y="1276520"/>
                <a:ext cx="2156" cy="15495"/>
              </a:xfrm>
              <a:custGeom>
                <a:avLst/>
                <a:gdLst/>
                <a:ahLst/>
                <a:cxnLst/>
                <a:rect l="l" t="t" r="r" b="b"/>
                <a:pathLst>
                  <a:path w="2156" h="15495" extrusionOk="0">
                    <a:moveTo>
                      <a:pt x="0" y="0"/>
                    </a:moveTo>
                    <a:lnTo>
                      <a:pt x="1771" y="15495"/>
                    </a:lnTo>
                    <a:lnTo>
                      <a:pt x="1771" y="15495"/>
                    </a:lnTo>
                    <a:cubicBezTo>
                      <a:pt x="1963" y="14344"/>
                      <a:pt x="2090" y="13180"/>
                      <a:pt x="2150" y="12017"/>
                    </a:cubicBezTo>
                    <a:cubicBezTo>
                      <a:pt x="2231" y="7906"/>
                      <a:pt x="1500" y="3826"/>
                      <a:pt x="0" y="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9" name="Google Shape;2250;p123">
                <a:extLst>
                  <a:ext uri="{FF2B5EF4-FFF2-40B4-BE49-F238E27FC236}">
                    <a16:creationId xmlns:a16="http://schemas.microsoft.com/office/drawing/2014/main" id="{258EEFEB-399A-977C-5664-72E64A46B53F}"/>
                  </a:ext>
                </a:extLst>
              </p:cNvPr>
              <p:cNvSpPr/>
              <p:nvPr/>
            </p:nvSpPr>
            <p:spPr>
              <a:xfrm>
                <a:off x="7418647" y="804831"/>
                <a:ext cx="15811" cy="5426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0" name="Google Shape;2251;p123">
                <a:extLst>
                  <a:ext uri="{FF2B5EF4-FFF2-40B4-BE49-F238E27FC236}">
                    <a16:creationId xmlns:a16="http://schemas.microsoft.com/office/drawing/2014/main" id="{A52950E0-147F-C031-5A74-079605CDAA83}"/>
                  </a:ext>
                </a:extLst>
              </p:cNvPr>
              <p:cNvSpPr/>
              <p:nvPr/>
            </p:nvSpPr>
            <p:spPr>
              <a:xfrm>
                <a:off x="7418647" y="1180892"/>
                <a:ext cx="15811" cy="5426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1" name="Google Shape;2252;p123">
                <a:extLst>
                  <a:ext uri="{FF2B5EF4-FFF2-40B4-BE49-F238E27FC236}">
                    <a16:creationId xmlns:a16="http://schemas.microsoft.com/office/drawing/2014/main" id="{B72F0442-965A-A232-560E-E57BD17A674B}"/>
                  </a:ext>
                </a:extLst>
              </p:cNvPr>
              <p:cNvSpPr/>
              <p:nvPr/>
            </p:nvSpPr>
            <p:spPr>
              <a:xfrm>
                <a:off x="7582391" y="1013353"/>
                <a:ext cx="54265" cy="15811"/>
              </a:xfrm>
              <a:custGeom>
                <a:avLst/>
                <a:gdLst/>
                <a:ahLst/>
                <a:cxnLst/>
                <a:rect l="l" t="t" r="r" b="b"/>
                <a:pathLst>
                  <a:path w="54265" h="15811" extrusionOk="0">
                    <a:moveTo>
                      <a:pt x="0" y="0"/>
                    </a:moveTo>
                    <a:lnTo>
                      <a:pt x="54265" y="0"/>
                    </a:lnTo>
                    <a:lnTo>
                      <a:pt x="54265" y="15811"/>
                    </a:lnTo>
                    <a:lnTo>
                      <a:pt x="0" y="15811"/>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2" name="Google Shape;2253;p123">
                <a:extLst>
                  <a:ext uri="{FF2B5EF4-FFF2-40B4-BE49-F238E27FC236}">
                    <a16:creationId xmlns:a16="http://schemas.microsoft.com/office/drawing/2014/main" id="{1BC8EAA6-024F-CBF8-F257-92C17E1D5EE7}"/>
                  </a:ext>
                </a:extLst>
              </p:cNvPr>
              <p:cNvSpPr/>
              <p:nvPr/>
            </p:nvSpPr>
            <p:spPr>
              <a:xfrm>
                <a:off x="7215943" y="1013353"/>
                <a:ext cx="54265" cy="15811"/>
              </a:xfrm>
              <a:custGeom>
                <a:avLst/>
                <a:gdLst/>
                <a:ahLst/>
                <a:cxnLst/>
                <a:rect l="l" t="t" r="r" b="b"/>
                <a:pathLst>
                  <a:path w="54265" h="15811" extrusionOk="0">
                    <a:moveTo>
                      <a:pt x="0" y="0"/>
                    </a:moveTo>
                    <a:lnTo>
                      <a:pt x="54265" y="0"/>
                    </a:lnTo>
                    <a:lnTo>
                      <a:pt x="54265" y="15811"/>
                    </a:lnTo>
                    <a:lnTo>
                      <a:pt x="0" y="15811"/>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3" name="Google Shape;2254;p123">
                <a:extLst>
                  <a:ext uri="{FF2B5EF4-FFF2-40B4-BE49-F238E27FC236}">
                    <a16:creationId xmlns:a16="http://schemas.microsoft.com/office/drawing/2014/main" id="{BBB59B92-CD84-0ACA-A61F-0F8F2220F976}"/>
                  </a:ext>
                </a:extLst>
              </p:cNvPr>
              <p:cNvSpPr/>
              <p:nvPr/>
            </p:nvSpPr>
            <p:spPr>
              <a:xfrm rot="-2700000">
                <a:off x="7532082" y="879109"/>
                <a:ext cx="54295" cy="15820"/>
              </a:xfrm>
              <a:custGeom>
                <a:avLst/>
                <a:gdLst/>
                <a:ahLst/>
                <a:cxnLst/>
                <a:rect l="l" t="t" r="r" b="b"/>
                <a:pathLst>
                  <a:path w="54265" h="15811" extrusionOk="0">
                    <a:moveTo>
                      <a:pt x="0" y="0"/>
                    </a:moveTo>
                    <a:lnTo>
                      <a:pt x="54265" y="0"/>
                    </a:lnTo>
                    <a:lnTo>
                      <a:pt x="54265" y="15812"/>
                    </a:lnTo>
                    <a:lnTo>
                      <a:pt x="0" y="15812"/>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4" name="Google Shape;2255;p123">
                <a:extLst>
                  <a:ext uri="{FF2B5EF4-FFF2-40B4-BE49-F238E27FC236}">
                    <a16:creationId xmlns:a16="http://schemas.microsoft.com/office/drawing/2014/main" id="{86E1ABB5-1CE4-32CA-5160-FF932A4B828B}"/>
                  </a:ext>
                </a:extLst>
              </p:cNvPr>
              <p:cNvSpPr/>
              <p:nvPr/>
            </p:nvSpPr>
            <p:spPr>
              <a:xfrm rot="-2700000">
                <a:off x="7266196" y="1145018"/>
                <a:ext cx="54295" cy="15820"/>
              </a:xfrm>
              <a:custGeom>
                <a:avLst/>
                <a:gdLst/>
                <a:ahLst/>
                <a:cxnLst/>
                <a:rect l="l" t="t" r="r" b="b"/>
                <a:pathLst>
                  <a:path w="54265" h="15811" extrusionOk="0">
                    <a:moveTo>
                      <a:pt x="0" y="0"/>
                    </a:moveTo>
                    <a:lnTo>
                      <a:pt x="54265" y="0"/>
                    </a:lnTo>
                    <a:lnTo>
                      <a:pt x="54265" y="15812"/>
                    </a:lnTo>
                    <a:lnTo>
                      <a:pt x="0" y="15812"/>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5" name="Google Shape;2256;p123">
                <a:extLst>
                  <a:ext uri="{FF2B5EF4-FFF2-40B4-BE49-F238E27FC236}">
                    <a16:creationId xmlns:a16="http://schemas.microsoft.com/office/drawing/2014/main" id="{29FA5D53-DEE9-2184-85C6-B5B8765E90F8}"/>
                  </a:ext>
                </a:extLst>
              </p:cNvPr>
              <p:cNvSpPr/>
              <p:nvPr/>
            </p:nvSpPr>
            <p:spPr>
              <a:xfrm rot="-2700000">
                <a:off x="7546874" y="1123567"/>
                <a:ext cx="15820" cy="54295"/>
              </a:xfrm>
              <a:custGeom>
                <a:avLst/>
                <a:gdLst/>
                <a:ahLst/>
                <a:cxnLst/>
                <a:rect l="l" t="t" r="r" b="b"/>
                <a:pathLst>
                  <a:path w="15811" h="54265" extrusionOk="0">
                    <a:moveTo>
                      <a:pt x="0" y="0"/>
                    </a:moveTo>
                    <a:lnTo>
                      <a:pt x="15811" y="0"/>
                    </a:lnTo>
                    <a:lnTo>
                      <a:pt x="15811" y="54265"/>
                    </a:lnTo>
                    <a:lnTo>
                      <a:pt x="0" y="5426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6" name="Google Shape;2257;p123">
                <a:extLst>
                  <a:ext uri="{FF2B5EF4-FFF2-40B4-BE49-F238E27FC236}">
                    <a16:creationId xmlns:a16="http://schemas.microsoft.com/office/drawing/2014/main" id="{D05D4670-D3D5-CC55-28C5-9BB7E45E1876}"/>
                  </a:ext>
                </a:extLst>
              </p:cNvPr>
              <p:cNvSpPr/>
              <p:nvPr/>
            </p:nvSpPr>
            <p:spPr>
              <a:xfrm rot="-2700000">
                <a:off x="7287709" y="864340"/>
                <a:ext cx="15820" cy="5429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7" name="Google Shape;2258;p123">
                <a:extLst>
                  <a:ext uri="{FF2B5EF4-FFF2-40B4-BE49-F238E27FC236}">
                    <a16:creationId xmlns:a16="http://schemas.microsoft.com/office/drawing/2014/main" id="{495CF1EE-824E-FA5A-2FED-5970FF319D41}"/>
                  </a:ext>
                </a:extLst>
              </p:cNvPr>
              <p:cNvSpPr/>
              <p:nvPr/>
            </p:nvSpPr>
            <p:spPr>
              <a:xfrm>
                <a:off x="7360207" y="991154"/>
                <a:ext cx="45031" cy="43449"/>
              </a:xfrm>
              <a:custGeom>
                <a:avLst/>
                <a:gdLst/>
                <a:ahLst/>
                <a:cxnLst/>
                <a:rect l="l" t="t" r="r" b="b"/>
                <a:pathLst>
                  <a:path w="45031" h="43449" extrusionOk="0">
                    <a:moveTo>
                      <a:pt x="33520" y="34596"/>
                    </a:moveTo>
                    <a:lnTo>
                      <a:pt x="10878" y="34596"/>
                    </a:lnTo>
                    <a:lnTo>
                      <a:pt x="7084" y="43450"/>
                    </a:lnTo>
                    <a:lnTo>
                      <a:pt x="0" y="43450"/>
                    </a:lnTo>
                    <a:lnTo>
                      <a:pt x="18974" y="0"/>
                    </a:lnTo>
                    <a:lnTo>
                      <a:pt x="26057" y="0"/>
                    </a:lnTo>
                    <a:lnTo>
                      <a:pt x="45031" y="43450"/>
                    </a:lnTo>
                    <a:lnTo>
                      <a:pt x="37315" y="43450"/>
                    </a:lnTo>
                    <a:close/>
                    <a:moveTo>
                      <a:pt x="31054" y="28903"/>
                    </a:moveTo>
                    <a:lnTo>
                      <a:pt x="22199" y="8285"/>
                    </a:lnTo>
                    <a:lnTo>
                      <a:pt x="13345" y="28903"/>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8" name="Google Shape;2259;p123">
                <a:extLst>
                  <a:ext uri="{FF2B5EF4-FFF2-40B4-BE49-F238E27FC236}">
                    <a16:creationId xmlns:a16="http://schemas.microsoft.com/office/drawing/2014/main" id="{71DF5D39-0BA0-3F07-D503-1796F6E4DB8B}"/>
                  </a:ext>
                </a:extLst>
              </p:cNvPr>
              <p:cNvSpPr/>
              <p:nvPr/>
            </p:nvSpPr>
            <p:spPr>
              <a:xfrm>
                <a:off x="7412891" y="991026"/>
                <a:ext cx="34470" cy="43578"/>
              </a:xfrm>
              <a:custGeom>
                <a:avLst/>
                <a:gdLst/>
                <a:ahLst/>
                <a:cxnLst/>
                <a:rect l="l" t="t" r="r" b="b"/>
                <a:pathLst>
                  <a:path w="34470" h="43578" extrusionOk="0">
                    <a:moveTo>
                      <a:pt x="0" y="128"/>
                    </a:moveTo>
                    <a:lnTo>
                      <a:pt x="18278" y="128"/>
                    </a:lnTo>
                    <a:cubicBezTo>
                      <a:pt x="26102" y="-920"/>
                      <a:pt x="33295" y="4574"/>
                      <a:pt x="34343" y="12398"/>
                    </a:cubicBezTo>
                    <a:cubicBezTo>
                      <a:pt x="35391" y="20222"/>
                      <a:pt x="29897" y="27414"/>
                      <a:pt x="22073" y="28462"/>
                    </a:cubicBezTo>
                    <a:cubicBezTo>
                      <a:pt x="20814" y="28631"/>
                      <a:pt x="19537" y="28631"/>
                      <a:pt x="18278" y="28462"/>
                    </a:cubicBezTo>
                    <a:lnTo>
                      <a:pt x="6388" y="28462"/>
                    </a:lnTo>
                    <a:lnTo>
                      <a:pt x="6388" y="43578"/>
                    </a:lnTo>
                    <a:lnTo>
                      <a:pt x="63" y="43578"/>
                    </a:lnTo>
                    <a:close/>
                    <a:moveTo>
                      <a:pt x="17393" y="22707"/>
                    </a:moveTo>
                    <a:cubicBezTo>
                      <a:pt x="23717" y="22707"/>
                      <a:pt x="27891" y="19608"/>
                      <a:pt x="27891" y="14485"/>
                    </a:cubicBezTo>
                    <a:cubicBezTo>
                      <a:pt x="27891" y="9362"/>
                      <a:pt x="23654" y="6263"/>
                      <a:pt x="17393" y="6263"/>
                    </a:cubicBezTo>
                    <a:lnTo>
                      <a:pt x="6388" y="6263"/>
                    </a:lnTo>
                    <a:lnTo>
                      <a:pt x="6388" y="227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9" name="Google Shape;2260;p123">
                <a:extLst>
                  <a:ext uri="{FF2B5EF4-FFF2-40B4-BE49-F238E27FC236}">
                    <a16:creationId xmlns:a16="http://schemas.microsoft.com/office/drawing/2014/main" id="{E83BE11A-3EE8-5841-331F-35A3D7CF7CF8}"/>
                  </a:ext>
                </a:extLst>
              </p:cNvPr>
              <p:cNvSpPr/>
              <p:nvPr/>
            </p:nvSpPr>
            <p:spPr>
              <a:xfrm>
                <a:off x="7455835" y="991026"/>
                <a:ext cx="34470" cy="43578"/>
              </a:xfrm>
              <a:custGeom>
                <a:avLst/>
                <a:gdLst/>
                <a:ahLst/>
                <a:cxnLst/>
                <a:rect l="l" t="t" r="r" b="b"/>
                <a:pathLst>
                  <a:path w="34470" h="43578" extrusionOk="0">
                    <a:moveTo>
                      <a:pt x="0" y="128"/>
                    </a:moveTo>
                    <a:lnTo>
                      <a:pt x="18278" y="128"/>
                    </a:lnTo>
                    <a:cubicBezTo>
                      <a:pt x="26102" y="-920"/>
                      <a:pt x="33295" y="4574"/>
                      <a:pt x="34343" y="12398"/>
                    </a:cubicBezTo>
                    <a:cubicBezTo>
                      <a:pt x="35391" y="20222"/>
                      <a:pt x="29897" y="27414"/>
                      <a:pt x="22073" y="28462"/>
                    </a:cubicBezTo>
                    <a:cubicBezTo>
                      <a:pt x="20814" y="28631"/>
                      <a:pt x="19537" y="28631"/>
                      <a:pt x="18278" y="28462"/>
                    </a:cubicBezTo>
                    <a:lnTo>
                      <a:pt x="6388" y="28462"/>
                    </a:lnTo>
                    <a:lnTo>
                      <a:pt x="6388" y="43578"/>
                    </a:lnTo>
                    <a:lnTo>
                      <a:pt x="63" y="43578"/>
                    </a:lnTo>
                    <a:close/>
                    <a:moveTo>
                      <a:pt x="17393" y="22707"/>
                    </a:moveTo>
                    <a:cubicBezTo>
                      <a:pt x="23717" y="22707"/>
                      <a:pt x="27892" y="19608"/>
                      <a:pt x="27892" y="14485"/>
                    </a:cubicBezTo>
                    <a:cubicBezTo>
                      <a:pt x="27892" y="9362"/>
                      <a:pt x="23654" y="6263"/>
                      <a:pt x="17393" y="6263"/>
                    </a:cubicBezTo>
                    <a:lnTo>
                      <a:pt x="6388" y="6263"/>
                    </a:lnTo>
                    <a:lnTo>
                      <a:pt x="6388" y="227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40" name="Google Shape;2261;p123">
                <a:extLst>
                  <a:ext uri="{FF2B5EF4-FFF2-40B4-BE49-F238E27FC236}">
                    <a16:creationId xmlns:a16="http://schemas.microsoft.com/office/drawing/2014/main" id="{36DCC7E6-798F-F874-698A-DD8A45E55E4C}"/>
                  </a:ext>
                </a:extLst>
              </p:cNvPr>
              <p:cNvSpPr/>
              <p:nvPr/>
            </p:nvSpPr>
            <p:spPr>
              <a:xfrm>
                <a:off x="7331431" y="921900"/>
                <a:ext cx="189738" cy="189738"/>
              </a:xfrm>
              <a:custGeom>
                <a:avLst/>
                <a:gdLst/>
                <a:ahLst/>
                <a:cxnLst/>
                <a:rect l="l" t="t" r="r" b="b"/>
                <a:pathLst>
                  <a:path w="189738" h="189738" extrusionOk="0">
                    <a:moveTo>
                      <a:pt x="168551" y="189738"/>
                    </a:moveTo>
                    <a:lnTo>
                      <a:pt x="21187" y="189738"/>
                    </a:lnTo>
                    <a:cubicBezTo>
                      <a:pt x="9486" y="189738"/>
                      <a:pt x="0" y="180252"/>
                      <a:pt x="0" y="168551"/>
                    </a:cubicBezTo>
                    <a:lnTo>
                      <a:pt x="0" y="21187"/>
                    </a:lnTo>
                    <a:cubicBezTo>
                      <a:pt x="0" y="9486"/>
                      <a:pt x="9486" y="0"/>
                      <a:pt x="21187" y="0"/>
                    </a:cubicBezTo>
                    <a:lnTo>
                      <a:pt x="168551" y="0"/>
                    </a:lnTo>
                    <a:cubicBezTo>
                      <a:pt x="180252" y="0"/>
                      <a:pt x="189738" y="9486"/>
                      <a:pt x="189738" y="21187"/>
                    </a:cubicBezTo>
                    <a:lnTo>
                      <a:pt x="189738" y="168551"/>
                    </a:lnTo>
                    <a:cubicBezTo>
                      <a:pt x="189738" y="180252"/>
                      <a:pt x="180252" y="189738"/>
                      <a:pt x="168551" y="189738"/>
                    </a:cubicBezTo>
                    <a:close/>
                    <a:moveTo>
                      <a:pt x="21187" y="15938"/>
                    </a:moveTo>
                    <a:cubicBezTo>
                      <a:pt x="18219" y="15938"/>
                      <a:pt x="15812" y="18345"/>
                      <a:pt x="15812" y="21314"/>
                    </a:cubicBezTo>
                    <a:lnTo>
                      <a:pt x="15812" y="168677"/>
                    </a:lnTo>
                    <a:cubicBezTo>
                      <a:pt x="15812" y="171646"/>
                      <a:pt x="18219" y="174053"/>
                      <a:pt x="21187" y="174053"/>
                    </a:cubicBezTo>
                    <a:lnTo>
                      <a:pt x="168551" y="174053"/>
                    </a:lnTo>
                    <a:cubicBezTo>
                      <a:pt x="171519" y="174053"/>
                      <a:pt x="173927" y="171646"/>
                      <a:pt x="173927" y="168677"/>
                    </a:cubicBezTo>
                    <a:lnTo>
                      <a:pt x="173927" y="21187"/>
                    </a:lnTo>
                    <a:cubicBezTo>
                      <a:pt x="173927" y="18219"/>
                      <a:pt x="171519" y="15812"/>
                      <a:pt x="168551" y="15812"/>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241" name="Google Shape;2262;p123">
            <a:extLst>
              <a:ext uri="{FF2B5EF4-FFF2-40B4-BE49-F238E27FC236}">
                <a16:creationId xmlns:a16="http://schemas.microsoft.com/office/drawing/2014/main" id="{D5423B9C-23F0-3C4C-FF61-5959237D6DFE}"/>
              </a:ext>
            </a:extLst>
          </p:cNvPr>
          <p:cNvGrpSpPr/>
          <p:nvPr/>
        </p:nvGrpSpPr>
        <p:grpSpPr>
          <a:xfrm>
            <a:off x="8740330" y="4477550"/>
            <a:ext cx="567904" cy="567752"/>
            <a:chOff x="8740276" y="4477822"/>
            <a:chExt cx="567900" cy="567900"/>
          </a:xfrm>
        </p:grpSpPr>
        <p:sp>
          <p:nvSpPr>
            <p:cNvPr id="242" name="Google Shape;2263;p123">
              <a:extLst>
                <a:ext uri="{FF2B5EF4-FFF2-40B4-BE49-F238E27FC236}">
                  <a16:creationId xmlns:a16="http://schemas.microsoft.com/office/drawing/2014/main" id="{308DDB22-D0FE-C227-C85F-90051C80D618}"/>
                </a:ext>
              </a:extLst>
            </p:cNvPr>
            <p:cNvSpPr/>
            <p:nvPr/>
          </p:nvSpPr>
          <p:spPr>
            <a:xfrm>
              <a:off x="8740276" y="4477822"/>
              <a:ext cx="567900" cy="567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243" name="Google Shape;2264;p123">
              <a:extLst>
                <a:ext uri="{FF2B5EF4-FFF2-40B4-BE49-F238E27FC236}">
                  <a16:creationId xmlns:a16="http://schemas.microsoft.com/office/drawing/2014/main" id="{28164BFD-88F8-E700-9350-83D19838EFDE}"/>
                </a:ext>
              </a:extLst>
            </p:cNvPr>
            <p:cNvGrpSpPr/>
            <p:nvPr/>
          </p:nvGrpSpPr>
          <p:grpSpPr>
            <a:xfrm>
              <a:off x="8882400" y="4620405"/>
              <a:ext cx="283735" cy="282753"/>
              <a:chOff x="1847259" y="4474380"/>
              <a:chExt cx="603050" cy="600962"/>
            </a:xfrm>
          </p:grpSpPr>
          <p:sp>
            <p:nvSpPr>
              <p:cNvPr id="244" name="Google Shape;2265;p123">
                <a:extLst>
                  <a:ext uri="{FF2B5EF4-FFF2-40B4-BE49-F238E27FC236}">
                    <a16:creationId xmlns:a16="http://schemas.microsoft.com/office/drawing/2014/main" id="{D51E3FAC-F4C2-729D-678F-AF33BDAFDBB5}"/>
                  </a:ext>
                </a:extLst>
              </p:cNvPr>
              <p:cNvSpPr/>
              <p:nvPr/>
            </p:nvSpPr>
            <p:spPr>
              <a:xfrm>
                <a:off x="1946176" y="4474380"/>
                <a:ext cx="504133" cy="553149"/>
              </a:xfrm>
              <a:custGeom>
                <a:avLst/>
                <a:gdLst/>
                <a:ahLst/>
                <a:cxnLst/>
                <a:rect l="l" t="t" r="r" b="b"/>
                <a:pathLst>
                  <a:path w="504133" h="553149" extrusionOk="0">
                    <a:moveTo>
                      <a:pt x="482441" y="501920"/>
                    </a:moveTo>
                    <a:lnTo>
                      <a:pt x="482441" y="0"/>
                    </a:lnTo>
                    <a:lnTo>
                      <a:pt x="0" y="0"/>
                    </a:lnTo>
                    <a:lnTo>
                      <a:pt x="0" y="15812"/>
                    </a:lnTo>
                    <a:lnTo>
                      <a:pt x="466629" y="15812"/>
                    </a:lnTo>
                    <a:lnTo>
                      <a:pt x="466629" y="501920"/>
                    </a:lnTo>
                    <a:lnTo>
                      <a:pt x="444999" y="501920"/>
                    </a:lnTo>
                    <a:lnTo>
                      <a:pt x="474535" y="553150"/>
                    </a:lnTo>
                    <a:lnTo>
                      <a:pt x="504134" y="501920"/>
                    </a:lnTo>
                    <a:lnTo>
                      <a:pt x="482441" y="501920"/>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45" name="Google Shape;2266;p123">
                <a:extLst>
                  <a:ext uri="{FF2B5EF4-FFF2-40B4-BE49-F238E27FC236}">
                    <a16:creationId xmlns:a16="http://schemas.microsoft.com/office/drawing/2014/main" id="{A8423544-9349-C439-B16D-23F5A28EE60E}"/>
                  </a:ext>
                </a:extLst>
              </p:cNvPr>
              <p:cNvSpPr/>
              <p:nvPr/>
            </p:nvSpPr>
            <p:spPr>
              <a:xfrm>
                <a:off x="1847259" y="4489179"/>
                <a:ext cx="522285" cy="586163"/>
              </a:xfrm>
              <a:custGeom>
                <a:avLst/>
                <a:gdLst/>
                <a:ahLst/>
                <a:cxnLst/>
                <a:rect l="l" t="t" r="r" b="b"/>
                <a:pathLst>
                  <a:path w="522285" h="586163" extrusionOk="0">
                    <a:moveTo>
                      <a:pt x="37442" y="570352"/>
                    </a:moveTo>
                    <a:lnTo>
                      <a:pt x="37442" y="51166"/>
                    </a:lnTo>
                    <a:lnTo>
                      <a:pt x="59135" y="51166"/>
                    </a:lnTo>
                    <a:lnTo>
                      <a:pt x="29536" y="0"/>
                    </a:lnTo>
                    <a:lnTo>
                      <a:pt x="0" y="51166"/>
                    </a:lnTo>
                    <a:lnTo>
                      <a:pt x="21630" y="51166"/>
                    </a:lnTo>
                    <a:lnTo>
                      <a:pt x="21630" y="586164"/>
                    </a:lnTo>
                    <a:lnTo>
                      <a:pt x="522285" y="586164"/>
                    </a:lnTo>
                    <a:lnTo>
                      <a:pt x="522285" y="570352"/>
                    </a:lnTo>
                    <a:lnTo>
                      <a:pt x="37442" y="570352"/>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46" name="Google Shape;2267;p123">
                <a:extLst>
                  <a:ext uri="{FF2B5EF4-FFF2-40B4-BE49-F238E27FC236}">
                    <a16:creationId xmlns:a16="http://schemas.microsoft.com/office/drawing/2014/main" id="{7115CCE9-2D0B-C6B1-3E93-FBCE9910A102}"/>
                  </a:ext>
                </a:extLst>
              </p:cNvPr>
              <p:cNvSpPr/>
              <p:nvPr/>
            </p:nvSpPr>
            <p:spPr>
              <a:xfrm>
                <a:off x="2063877" y="4601125"/>
                <a:ext cx="182022" cy="357719"/>
              </a:xfrm>
              <a:custGeom>
                <a:avLst/>
                <a:gdLst/>
                <a:ahLst/>
                <a:cxnLst/>
                <a:rect l="l" t="t" r="r" b="b"/>
                <a:pathLst>
                  <a:path w="182022" h="357719" extrusionOk="0">
                    <a:moveTo>
                      <a:pt x="164819" y="0"/>
                    </a:moveTo>
                    <a:lnTo>
                      <a:pt x="2720" y="150336"/>
                    </a:lnTo>
                    <a:lnTo>
                      <a:pt x="101510" y="187714"/>
                    </a:lnTo>
                    <a:lnTo>
                      <a:pt x="0" y="357719"/>
                    </a:lnTo>
                    <a:lnTo>
                      <a:pt x="182022" y="166843"/>
                    </a:lnTo>
                    <a:lnTo>
                      <a:pt x="86900" y="132564"/>
                    </a:lnTo>
                    <a:lnTo>
                      <a:pt x="164819" y="0"/>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247" name="Google Shape;2268;p123">
            <a:extLst>
              <a:ext uri="{FF2B5EF4-FFF2-40B4-BE49-F238E27FC236}">
                <a16:creationId xmlns:a16="http://schemas.microsoft.com/office/drawing/2014/main" id="{520A4FBD-6E1C-0307-75F8-A510738D37DB}"/>
              </a:ext>
            </a:extLst>
          </p:cNvPr>
          <p:cNvGrpSpPr/>
          <p:nvPr/>
        </p:nvGrpSpPr>
        <p:grpSpPr>
          <a:xfrm>
            <a:off x="8740330" y="3537878"/>
            <a:ext cx="567904" cy="567752"/>
            <a:chOff x="8740276" y="3537905"/>
            <a:chExt cx="567900" cy="567900"/>
          </a:xfrm>
        </p:grpSpPr>
        <p:sp>
          <p:nvSpPr>
            <p:cNvPr id="248" name="Google Shape;2269;p123">
              <a:extLst>
                <a:ext uri="{FF2B5EF4-FFF2-40B4-BE49-F238E27FC236}">
                  <a16:creationId xmlns:a16="http://schemas.microsoft.com/office/drawing/2014/main" id="{EB930D79-5C8C-DCD2-A764-05D64584EAB1}"/>
                </a:ext>
              </a:extLst>
            </p:cNvPr>
            <p:cNvSpPr/>
            <p:nvPr/>
          </p:nvSpPr>
          <p:spPr>
            <a:xfrm>
              <a:off x="8740276" y="3537905"/>
              <a:ext cx="567900" cy="567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249" name="Google Shape;2270;p123">
              <a:extLst>
                <a:ext uri="{FF2B5EF4-FFF2-40B4-BE49-F238E27FC236}">
                  <a16:creationId xmlns:a16="http://schemas.microsoft.com/office/drawing/2014/main" id="{25E0EA2B-EF22-CF6E-930C-5BFD6BA60E39}"/>
                </a:ext>
              </a:extLst>
            </p:cNvPr>
            <p:cNvGrpSpPr/>
            <p:nvPr/>
          </p:nvGrpSpPr>
          <p:grpSpPr>
            <a:xfrm>
              <a:off x="8868547" y="3645159"/>
              <a:ext cx="311443" cy="365859"/>
              <a:chOff x="1893239" y="713314"/>
              <a:chExt cx="510395" cy="599572"/>
            </a:xfrm>
          </p:grpSpPr>
          <p:sp>
            <p:nvSpPr>
              <p:cNvPr id="250" name="Google Shape;2271;p123">
                <a:extLst>
                  <a:ext uri="{FF2B5EF4-FFF2-40B4-BE49-F238E27FC236}">
                    <a16:creationId xmlns:a16="http://schemas.microsoft.com/office/drawing/2014/main" id="{2F119381-0DDB-F1D2-C1CB-B89DDF5A01F3}"/>
                  </a:ext>
                </a:extLst>
              </p:cNvPr>
              <p:cNvSpPr/>
              <p:nvPr/>
            </p:nvSpPr>
            <p:spPr>
              <a:xfrm>
                <a:off x="1893239" y="713314"/>
                <a:ext cx="510395" cy="599572"/>
              </a:xfrm>
              <a:custGeom>
                <a:avLst/>
                <a:gdLst/>
                <a:ahLst/>
                <a:cxnLst/>
                <a:rect l="l" t="t" r="r" b="b"/>
                <a:pathLst>
                  <a:path w="510395" h="599572" extrusionOk="0">
                    <a:moveTo>
                      <a:pt x="254881" y="18974"/>
                    </a:moveTo>
                    <a:lnTo>
                      <a:pt x="259941" y="22136"/>
                    </a:lnTo>
                    <a:cubicBezTo>
                      <a:pt x="294726" y="43640"/>
                      <a:pt x="330777" y="63246"/>
                      <a:pt x="368092" y="79058"/>
                    </a:cubicBezTo>
                    <a:cubicBezTo>
                      <a:pt x="406039" y="96134"/>
                      <a:pt x="445884" y="110048"/>
                      <a:pt x="486362" y="120800"/>
                    </a:cubicBezTo>
                    <a:lnTo>
                      <a:pt x="493319" y="122697"/>
                    </a:lnTo>
                    <a:lnTo>
                      <a:pt x="493319" y="263736"/>
                    </a:lnTo>
                    <a:cubicBezTo>
                      <a:pt x="493319" y="356707"/>
                      <a:pt x="456636" y="436397"/>
                      <a:pt x="385168" y="501541"/>
                    </a:cubicBezTo>
                    <a:cubicBezTo>
                      <a:pt x="323820" y="557197"/>
                      <a:pt x="259941" y="579966"/>
                      <a:pt x="257411" y="581231"/>
                    </a:cubicBezTo>
                    <a:lnTo>
                      <a:pt x="253616" y="582496"/>
                    </a:lnTo>
                    <a:lnTo>
                      <a:pt x="251087" y="581863"/>
                    </a:lnTo>
                    <a:cubicBezTo>
                      <a:pt x="239702" y="577436"/>
                      <a:pt x="15179" y="488892"/>
                      <a:pt x="15179" y="263736"/>
                    </a:cubicBezTo>
                    <a:lnTo>
                      <a:pt x="15179" y="122697"/>
                    </a:lnTo>
                    <a:lnTo>
                      <a:pt x="22769" y="120800"/>
                    </a:lnTo>
                    <a:cubicBezTo>
                      <a:pt x="63246" y="110048"/>
                      <a:pt x="102459" y="96134"/>
                      <a:pt x="140406" y="79058"/>
                    </a:cubicBezTo>
                    <a:cubicBezTo>
                      <a:pt x="177721" y="62614"/>
                      <a:pt x="214404" y="43640"/>
                      <a:pt x="249189" y="21504"/>
                    </a:cubicBezTo>
                    <a:lnTo>
                      <a:pt x="254881" y="18974"/>
                    </a:lnTo>
                    <a:moveTo>
                      <a:pt x="254881" y="0"/>
                    </a:moveTo>
                    <a:lnTo>
                      <a:pt x="240967" y="8854"/>
                    </a:lnTo>
                    <a:cubicBezTo>
                      <a:pt x="207447" y="30358"/>
                      <a:pt x="171397" y="49332"/>
                      <a:pt x="134714" y="65143"/>
                    </a:cubicBezTo>
                    <a:cubicBezTo>
                      <a:pt x="97399" y="81587"/>
                      <a:pt x="58186" y="95501"/>
                      <a:pt x="18974" y="106253"/>
                    </a:cubicBezTo>
                    <a:lnTo>
                      <a:pt x="0" y="110681"/>
                    </a:lnTo>
                    <a:lnTo>
                      <a:pt x="0" y="263736"/>
                    </a:lnTo>
                    <a:cubicBezTo>
                      <a:pt x="0" y="500908"/>
                      <a:pt x="235908" y="592615"/>
                      <a:pt x="246027" y="596410"/>
                    </a:cubicBezTo>
                    <a:lnTo>
                      <a:pt x="254881" y="599572"/>
                    </a:lnTo>
                    <a:lnTo>
                      <a:pt x="263736" y="596410"/>
                    </a:lnTo>
                    <a:lnTo>
                      <a:pt x="263736" y="595777"/>
                    </a:lnTo>
                    <a:cubicBezTo>
                      <a:pt x="289667" y="586290"/>
                      <a:pt x="510395" y="495216"/>
                      <a:pt x="510395" y="263103"/>
                    </a:cubicBezTo>
                    <a:lnTo>
                      <a:pt x="510395" y="110681"/>
                    </a:lnTo>
                    <a:lnTo>
                      <a:pt x="491421" y="105621"/>
                    </a:lnTo>
                    <a:cubicBezTo>
                      <a:pt x="452209" y="94869"/>
                      <a:pt x="412996" y="81587"/>
                      <a:pt x="375681" y="64511"/>
                    </a:cubicBezTo>
                    <a:cubicBezTo>
                      <a:pt x="338999" y="48699"/>
                      <a:pt x="303581" y="29726"/>
                      <a:pt x="269428" y="8222"/>
                    </a:cubicBezTo>
                    <a:lnTo>
                      <a:pt x="254881" y="0"/>
                    </a:lnTo>
                    <a:lnTo>
                      <a:pt x="254881" y="0"/>
                    </a:lnTo>
                    <a:close/>
                  </a:path>
                </a:pathLst>
              </a:custGeom>
              <a:solidFill>
                <a:schemeClr val="lt1"/>
              </a:solidFill>
              <a:ln>
                <a:noFill/>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51" name="Google Shape;2272;p123">
                <a:extLst>
                  <a:ext uri="{FF2B5EF4-FFF2-40B4-BE49-F238E27FC236}">
                    <a16:creationId xmlns:a16="http://schemas.microsoft.com/office/drawing/2014/main" id="{4F76C8CE-7FC5-9968-AC7D-D87B4F120FCE}"/>
                  </a:ext>
                </a:extLst>
              </p:cNvPr>
              <p:cNvSpPr/>
              <p:nvPr/>
            </p:nvSpPr>
            <p:spPr>
              <a:xfrm>
                <a:off x="2030483" y="933410"/>
                <a:ext cx="244129" cy="178986"/>
              </a:xfrm>
              <a:custGeom>
                <a:avLst/>
                <a:gdLst/>
                <a:ahLst/>
                <a:cxnLst/>
                <a:rect l="l" t="t" r="r" b="b"/>
                <a:pathLst>
                  <a:path w="244129" h="178986" extrusionOk="0">
                    <a:moveTo>
                      <a:pt x="75895" y="178986"/>
                    </a:moveTo>
                    <a:lnTo>
                      <a:pt x="0" y="103091"/>
                    </a:lnTo>
                    <a:lnTo>
                      <a:pt x="11384" y="92339"/>
                    </a:lnTo>
                    <a:lnTo>
                      <a:pt x="75895" y="156850"/>
                    </a:lnTo>
                    <a:lnTo>
                      <a:pt x="232745" y="0"/>
                    </a:lnTo>
                    <a:lnTo>
                      <a:pt x="244130" y="10752"/>
                    </a:lnTo>
                    <a:close/>
                  </a:path>
                </a:pathLst>
              </a:custGeom>
              <a:solidFill>
                <a:schemeClr val="lt1"/>
              </a:solidFill>
              <a:ln>
                <a:noFill/>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252" name="Google Shape;2273;p123">
            <a:extLst>
              <a:ext uri="{FF2B5EF4-FFF2-40B4-BE49-F238E27FC236}">
                <a16:creationId xmlns:a16="http://schemas.microsoft.com/office/drawing/2014/main" id="{A36459C2-987A-F10E-F77A-9C78E1804D6F}"/>
              </a:ext>
            </a:extLst>
          </p:cNvPr>
          <p:cNvGrpSpPr/>
          <p:nvPr/>
        </p:nvGrpSpPr>
        <p:grpSpPr>
          <a:xfrm>
            <a:off x="8740330" y="5427659"/>
            <a:ext cx="567904" cy="567752"/>
            <a:chOff x="8740276" y="5428179"/>
            <a:chExt cx="567900" cy="567900"/>
          </a:xfrm>
        </p:grpSpPr>
        <p:sp>
          <p:nvSpPr>
            <p:cNvPr id="253" name="Google Shape;2274;p123">
              <a:extLst>
                <a:ext uri="{FF2B5EF4-FFF2-40B4-BE49-F238E27FC236}">
                  <a16:creationId xmlns:a16="http://schemas.microsoft.com/office/drawing/2014/main" id="{661C504C-A614-3E80-5197-D7E699458217}"/>
                </a:ext>
              </a:extLst>
            </p:cNvPr>
            <p:cNvSpPr/>
            <p:nvPr/>
          </p:nvSpPr>
          <p:spPr>
            <a:xfrm>
              <a:off x="8740276" y="5428179"/>
              <a:ext cx="567900" cy="567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254" name="Google Shape;2275;p123">
              <a:extLst>
                <a:ext uri="{FF2B5EF4-FFF2-40B4-BE49-F238E27FC236}">
                  <a16:creationId xmlns:a16="http://schemas.microsoft.com/office/drawing/2014/main" id="{8DACE74C-0D06-BBE2-3F8B-44CF14EA0EB1}"/>
                </a:ext>
              </a:extLst>
            </p:cNvPr>
            <p:cNvGrpSpPr/>
            <p:nvPr/>
          </p:nvGrpSpPr>
          <p:grpSpPr>
            <a:xfrm>
              <a:off x="8898803" y="5516183"/>
              <a:ext cx="250852" cy="365473"/>
              <a:chOff x="5912431" y="1949843"/>
              <a:chExt cx="411098" cy="598939"/>
            </a:xfrm>
          </p:grpSpPr>
          <p:sp>
            <p:nvSpPr>
              <p:cNvPr id="255" name="Google Shape;2276;p123">
                <a:extLst>
                  <a:ext uri="{FF2B5EF4-FFF2-40B4-BE49-F238E27FC236}">
                    <a16:creationId xmlns:a16="http://schemas.microsoft.com/office/drawing/2014/main" id="{697F2FA6-0EE8-BCB4-74BE-58489B918268}"/>
                  </a:ext>
                </a:extLst>
              </p:cNvPr>
              <p:cNvSpPr/>
              <p:nvPr/>
            </p:nvSpPr>
            <p:spPr>
              <a:xfrm>
                <a:off x="5958601" y="2179426"/>
                <a:ext cx="166336" cy="166336"/>
              </a:xfrm>
              <a:custGeom>
                <a:avLst/>
                <a:gdLst/>
                <a:ahLst/>
                <a:cxnLst/>
                <a:rect l="l" t="t" r="r" b="b"/>
                <a:pathLst>
                  <a:path w="166336" h="166336" extrusionOk="0">
                    <a:moveTo>
                      <a:pt x="7590" y="166337"/>
                    </a:moveTo>
                    <a:cubicBezTo>
                      <a:pt x="3162" y="166337"/>
                      <a:pt x="0" y="162542"/>
                      <a:pt x="0" y="158747"/>
                    </a:cubicBezTo>
                    <a:cubicBezTo>
                      <a:pt x="0" y="71468"/>
                      <a:pt x="71468" y="0"/>
                      <a:pt x="158747" y="0"/>
                    </a:cubicBezTo>
                    <a:cubicBezTo>
                      <a:pt x="163175" y="0"/>
                      <a:pt x="166337" y="3795"/>
                      <a:pt x="166337" y="7590"/>
                    </a:cubicBezTo>
                    <a:cubicBezTo>
                      <a:pt x="166337" y="11384"/>
                      <a:pt x="162542" y="15179"/>
                      <a:pt x="158747" y="15179"/>
                    </a:cubicBezTo>
                    <a:cubicBezTo>
                      <a:pt x="79690" y="15179"/>
                      <a:pt x="15812" y="79058"/>
                      <a:pt x="15812" y="158115"/>
                    </a:cubicBezTo>
                    <a:cubicBezTo>
                      <a:pt x="15179" y="162542"/>
                      <a:pt x="12017" y="166337"/>
                      <a:pt x="7590" y="166337"/>
                    </a:cubicBezTo>
                    <a:close/>
                  </a:path>
                </a:pathLst>
              </a:custGeom>
              <a:solidFill>
                <a:schemeClr val="lt1"/>
              </a:solidFill>
              <a:ln>
                <a:noFill/>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256" name="Google Shape;2277;p123">
                <a:extLst>
                  <a:ext uri="{FF2B5EF4-FFF2-40B4-BE49-F238E27FC236}">
                    <a16:creationId xmlns:a16="http://schemas.microsoft.com/office/drawing/2014/main" id="{4C4A3BF5-DE43-5FD6-1912-4E637A3AFB1E}"/>
                  </a:ext>
                </a:extLst>
              </p:cNvPr>
              <p:cNvGrpSpPr/>
              <p:nvPr/>
            </p:nvGrpSpPr>
            <p:grpSpPr>
              <a:xfrm>
                <a:off x="5912431" y="1949843"/>
                <a:ext cx="411098" cy="598939"/>
                <a:chOff x="5912431" y="1949843"/>
                <a:chExt cx="411098" cy="598939"/>
              </a:xfrm>
            </p:grpSpPr>
            <p:sp>
              <p:nvSpPr>
                <p:cNvPr id="257" name="Google Shape;2278;p123">
                  <a:extLst>
                    <a:ext uri="{FF2B5EF4-FFF2-40B4-BE49-F238E27FC236}">
                      <a16:creationId xmlns:a16="http://schemas.microsoft.com/office/drawing/2014/main" id="{770000B5-D72D-3D94-69CC-12D27AEC43A3}"/>
                    </a:ext>
                  </a:extLst>
                </p:cNvPr>
                <p:cNvSpPr/>
                <p:nvPr/>
              </p:nvSpPr>
              <p:spPr>
                <a:xfrm>
                  <a:off x="5912431" y="1949843"/>
                  <a:ext cx="411098" cy="598939"/>
                </a:xfrm>
                <a:custGeom>
                  <a:avLst/>
                  <a:gdLst/>
                  <a:ahLst/>
                  <a:cxnLst/>
                  <a:rect l="l" t="t" r="r" b="b"/>
                  <a:pathLst>
                    <a:path w="411098" h="598939" extrusionOk="0">
                      <a:moveTo>
                        <a:pt x="316230" y="220096"/>
                      </a:moveTo>
                      <a:lnTo>
                        <a:pt x="316230" y="104988"/>
                      </a:lnTo>
                      <a:cubicBezTo>
                        <a:pt x="316230" y="47435"/>
                        <a:pt x="270693" y="0"/>
                        <a:pt x="215036" y="0"/>
                      </a:cubicBezTo>
                      <a:lnTo>
                        <a:pt x="196063" y="0"/>
                      </a:lnTo>
                      <a:cubicBezTo>
                        <a:pt x="140406" y="0"/>
                        <a:pt x="94869" y="46802"/>
                        <a:pt x="94869" y="104988"/>
                      </a:cubicBezTo>
                      <a:lnTo>
                        <a:pt x="94869" y="220096"/>
                      </a:lnTo>
                      <a:cubicBezTo>
                        <a:pt x="37948" y="256779"/>
                        <a:pt x="0" y="320657"/>
                        <a:pt x="0" y="393390"/>
                      </a:cubicBezTo>
                      <a:cubicBezTo>
                        <a:pt x="0" y="506600"/>
                        <a:pt x="92339" y="598940"/>
                        <a:pt x="205549" y="598940"/>
                      </a:cubicBezTo>
                      <a:cubicBezTo>
                        <a:pt x="318760" y="598940"/>
                        <a:pt x="411099" y="506600"/>
                        <a:pt x="411099" y="393390"/>
                      </a:cubicBezTo>
                      <a:cubicBezTo>
                        <a:pt x="411099" y="320025"/>
                        <a:pt x="373151" y="256146"/>
                        <a:pt x="316230" y="220096"/>
                      </a:cubicBezTo>
                      <a:close/>
                      <a:moveTo>
                        <a:pt x="110680" y="104988"/>
                      </a:moveTo>
                      <a:cubicBezTo>
                        <a:pt x="110680" y="55656"/>
                        <a:pt x="149261" y="15812"/>
                        <a:pt x="196063" y="15812"/>
                      </a:cubicBezTo>
                      <a:lnTo>
                        <a:pt x="215036" y="15812"/>
                      </a:lnTo>
                      <a:cubicBezTo>
                        <a:pt x="262471" y="15812"/>
                        <a:pt x="300419" y="55656"/>
                        <a:pt x="300419" y="104988"/>
                      </a:cubicBezTo>
                      <a:lnTo>
                        <a:pt x="300419" y="211242"/>
                      </a:lnTo>
                      <a:cubicBezTo>
                        <a:pt x="271958" y="196695"/>
                        <a:pt x="239702" y="187841"/>
                        <a:pt x="205549" y="187841"/>
                      </a:cubicBezTo>
                      <a:cubicBezTo>
                        <a:pt x="171397" y="187841"/>
                        <a:pt x="139141" y="196063"/>
                        <a:pt x="110680" y="211242"/>
                      </a:cubicBezTo>
                      <a:lnTo>
                        <a:pt x="110680" y="104988"/>
                      </a:lnTo>
                      <a:close/>
                      <a:moveTo>
                        <a:pt x="205549" y="583128"/>
                      </a:moveTo>
                      <a:cubicBezTo>
                        <a:pt x="101194" y="583128"/>
                        <a:pt x="15812" y="497746"/>
                        <a:pt x="15812" y="393390"/>
                      </a:cubicBezTo>
                      <a:cubicBezTo>
                        <a:pt x="15812" y="289034"/>
                        <a:pt x="101194" y="203652"/>
                        <a:pt x="205549" y="203652"/>
                      </a:cubicBezTo>
                      <a:cubicBezTo>
                        <a:pt x="309905" y="203652"/>
                        <a:pt x="395288" y="289034"/>
                        <a:pt x="395288" y="393390"/>
                      </a:cubicBezTo>
                      <a:cubicBezTo>
                        <a:pt x="395288" y="497746"/>
                        <a:pt x="309905" y="583128"/>
                        <a:pt x="205549" y="583128"/>
                      </a:cubicBezTo>
                      <a:close/>
                    </a:path>
                  </a:pathLst>
                </a:custGeom>
                <a:solidFill>
                  <a:schemeClr val="lt1"/>
                </a:solidFill>
                <a:ln>
                  <a:noFill/>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58" name="Google Shape;2279;p123">
                  <a:extLst>
                    <a:ext uri="{FF2B5EF4-FFF2-40B4-BE49-F238E27FC236}">
                      <a16:creationId xmlns:a16="http://schemas.microsoft.com/office/drawing/2014/main" id="{BD215586-5D38-535A-FC3B-8EDF53FFA1C1}"/>
                    </a:ext>
                  </a:extLst>
                </p:cNvPr>
                <p:cNvSpPr/>
                <p:nvPr/>
              </p:nvSpPr>
              <p:spPr>
                <a:xfrm>
                  <a:off x="6084460" y="2289474"/>
                  <a:ext cx="67673" cy="106253"/>
                </a:xfrm>
                <a:custGeom>
                  <a:avLst/>
                  <a:gdLst/>
                  <a:ahLst/>
                  <a:cxnLst/>
                  <a:rect l="l" t="t" r="r" b="b"/>
                  <a:pathLst>
                    <a:path w="67673" h="106253" extrusionOk="0">
                      <a:moveTo>
                        <a:pt x="33520" y="0"/>
                      </a:moveTo>
                      <a:cubicBezTo>
                        <a:pt x="15179" y="0"/>
                        <a:pt x="0" y="15179"/>
                        <a:pt x="0" y="33520"/>
                      </a:cubicBezTo>
                      <a:cubicBezTo>
                        <a:pt x="0" y="46170"/>
                        <a:pt x="6957" y="56921"/>
                        <a:pt x="17076" y="62614"/>
                      </a:cubicBezTo>
                      <a:lnTo>
                        <a:pt x="17076" y="97399"/>
                      </a:lnTo>
                      <a:cubicBezTo>
                        <a:pt x="17076" y="102459"/>
                        <a:pt x="20871" y="106253"/>
                        <a:pt x="25931" y="106253"/>
                      </a:cubicBezTo>
                      <a:lnTo>
                        <a:pt x="41742" y="106253"/>
                      </a:lnTo>
                      <a:cubicBezTo>
                        <a:pt x="46802" y="106253"/>
                        <a:pt x="50597" y="102459"/>
                        <a:pt x="50597" y="97399"/>
                      </a:cubicBezTo>
                      <a:lnTo>
                        <a:pt x="50597" y="62614"/>
                      </a:lnTo>
                      <a:cubicBezTo>
                        <a:pt x="60716" y="56921"/>
                        <a:pt x="67673" y="46170"/>
                        <a:pt x="67673" y="33520"/>
                      </a:cubicBezTo>
                      <a:cubicBezTo>
                        <a:pt x="67041" y="15179"/>
                        <a:pt x="51862" y="0"/>
                        <a:pt x="33520" y="0"/>
                      </a:cubicBezTo>
                      <a:close/>
                    </a:path>
                  </a:pathLst>
                </a:custGeom>
                <a:solidFill>
                  <a:schemeClr val="lt1"/>
                </a:solidFill>
                <a:ln>
                  <a:noFill/>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spTree>
    <p:extLst>
      <p:ext uri="{BB962C8B-B14F-4D97-AF65-F5344CB8AC3E}">
        <p14:creationId xmlns:p14="http://schemas.microsoft.com/office/powerpoint/2010/main" val="1200643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58"/>
        <p:cNvGrpSpPr/>
        <p:nvPr/>
      </p:nvGrpSpPr>
      <p:grpSpPr>
        <a:xfrm>
          <a:off x="0" y="0"/>
          <a:ext cx="0" cy="0"/>
          <a:chOff x="0" y="0"/>
          <a:chExt cx="0" cy="0"/>
        </a:xfrm>
      </p:grpSpPr>
      <p:sp>
        <p:nvSpPr>
          <p:cNvPr id="1759" name="Google Shape;1759;p5"/>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Clr>
                <a:schemeClr val="accent2"/>
              </a:buClr>
              <a:buSzPts val="2800"/>
              <a:buFont typeface="Arial"/>
              <a:buNone/>
            </a:pPr>
            <a:r>
              <a:rPr lang="en-US"/>
              <a:t>Modernize Infrastructure</a:t>
            </a:r>
            <a:endParaRPr/>
          </a:p>
        </p:txBody>
      </p:sp>
      <p:sp>
        <p:nvSpPr>
          <p:cNvPr id="1760" name="Google Shape;1760;p5"/>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800"/>
              <a:buNone/>
            </a:pPr>
            <a:r>
              <a:rPr lang="en-US"/>
              <a:t>Infrastructure transformation and modernization</a:t>
            </a:r>
            <a:endParaRPr/>
          </a:p>
          <a:p>
            <a:pPr marL="0" lvl="0" indent="0" algn="l" rtl="0">
              <a:lnSpc>
                <a:spcPct val="100000"/>
              </a:lnSpc>
              <a:spcBef>
                <a:spcPts val="600"/>
              </a:spcBef>
              <a:spcAft>
                <a:spcPts val="600"/>
              </a:spcAft>
              <a:buSzPts val="1800"/>
              <a:buNone/>
            </a:pPr>
            <a:endParaRPr/>
          </a:p>
        </p:txBody>
      </p:sp>
      <p:sp>
        <p:nvSpPr>
          <p:cNvPr id="1761" name="Google Shape;1761;p5"/>
          <p:cNvSpPr txBox="1"/>
          <p:nvPr/>
        </p:nvSpPr>
        <p:spPr>
          <a:xfrm>
            <a:off x="1726438" y="1797746"/>
            <a:ext cx="3507509"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accent5"/>
                </a:solidFill>
                <a:latin typeface="Arial"/>
                <a:ea typeface="Arial"/>
                <a:cs typeface="Arial"/>
                <a:sym typeface="Arial"/>
              </a:rPr>
              <a:t>Build</a:t>
            </a:r>
            <a:r>
              <a:rPr lang="en-US" sz="2000">
                <a:solidFill>
                  <a:schemeClr val="dk1"/>
                </a:solidFill>
                <a:latin typeface="Arial"/>
                <a:ea typeface="Arial"/>
                <a:cs typeface="Arial"/>
                <a:sym typeface="Arial"/>
              </a:rPr>
              <a:t> or </a:t>
            </a:r>
            <a:r>
              <a:rPr lang="en-US" sz="2000">
                <a:solidFill>
                  <a:schemeClr val="accent5"/>
                </a:solidFill>
                <a:latin typeface="Arial"/>
                <a:ea typeface="Arial"/>
                <a:cs typeface="Arial"/>
                <a:sym typeface="Arial"/>
              </a:rPr>
              <a:t>modernize</a:t>
            </a:r>
            <a:r>
              <a:rPr lang="en-US" sz="2000">
                <a:solidFill>
                  <a:schemeClr val="dk1"/>
                </a:solidFill>
                <a:latin typeface="Arial"/>
                <a:ea typeface="Arial"/>
                <a:cs typeface="Arial"/>
                <a:sym typeface="Arial"/>
              </a:rPr>
              <a:t> a </a:t>
            </a:r>
            <a:br>
              <a:rPr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private cloud infrastructure</a:t>
            </a:r>
            <a:endParaRPr/>
          </a:p>
        </p:txBody>
      </p:sp>
      <p:sp>
        <p:nvSpPr>
          <p:cNvPr id="1762" name="Google Shape;1762;p5"/>
          <p:cNvSpPr txBox="1"/>
          <p:nvPr/>
        </p:nvSpPr>
        <p:spPr>
          <a:xfrm>
            <a:off x="1726439" y="2999600"/>
            <a:ext cx="3464463"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dirty="0">
                <a:solidFill>
                  <a:schemeClr val="accent5"/>
                </a:solidFill>
                <a:latin typeface="Arial"/>
                <a:ea typeface="Arial"/>
                <a:cs typeface="Arial"/>
                <a:sym typeface="Arial"/>
              </a:rPr>
              <a:t>Automate</a:t>
            </a:r>
            <a:r>
              <a:rPr lang="en-US" sz="2000" dirty="0">
                <a:solidFill>
                  <a:schemeClr val="dk1"/>
                </a:solidFill>
                <a:latin typeface="Arial"/>
                <a:ea typeface="Arial"/>
                <a:cs typeface="Arial"/>
                <a:sym typeface="Arial"/>
              </a:rPr>
              <a:t> to provide </a:t>
            </a:r>
            <a:r>
              <a:rPr lang="en-US" sz="2000" dirty="0">
                <a:solidFill>
                  <a:schemeClr val="accent5"/>
                </a:solidFill>
                <a:latin typeface="Arial"/>
                <a:ea typeface="Arial"/>
                <a:cs typeface="Arial"/>
                <a:sym typeface="Arial"/>
              </a:rPr>
              <a:t>IaaS</a:t>
            </a:r>
            <a:r>
              <a:rPr lang="en-US" sz="2000" dirty="0">
                <a:solidFill>
                  <a:schemeClr val="dk1"/>
                </a:solidFill>
                <a:latin typeface="Arial"/>
                <a:ea typeface="Arial"/>
                <a:cs typeface="Arial"/>
                <a:sym typeface="Arial"/>
              </a:rPr>
              <a:t> via a self-service catalog</a:t>
            </a:r>
            <a:endParaRPr dirty="0"/>
          </a:p>
        </p:txBody>
      </p:sp>
      <p:sp>
        <p:nvSpPr>
          <p:cNvPr id="1763" name="Google Shape;1763;p5"/>
          <p:cNvSpPr txBox="1"/>
          <p:nvPr/>
        </p:nvSpPr>
        <p:spPr>
          <a:xfrm>
            <a:off x="1726439" y="4201454"/>
            <a:ext cx="3080315"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accent5"/>
                </a:solidFill>
                <a:latin typeface="Arial"/>
                <a:ea typeface="Arial"/>
                <a:cs typeface="Arial"/>
                <a:sym typeface="Arial"/>
              </a:rPr>
              <a:t>Extend</a:t>
            </a:r>
            <a:r>
              <a:rPr lang="en-US" sz="2000">
                <a:solidFill>
                  <a:schemeClr val="dk1"/>
                </a:solidFill>
                <a:latin typeface="Arial"/>
                <a:ea typeface="Arial"/>
                <a:cs typeface="Arial"/>
                <a:sym typeface="Arial"/>
              </a:rPr>
              <a:t> your data center into the cloud</a:t>
            </a:r>
            <a:endParaRPr/>
          </a:p>
        </p:txBody>
      </p:sp>
      <p:sp>
        <p:nvSpPr>
          <p:cNvPr id="1764" name="Google Shape;1764;p5"/>
          <p:cNvSpPr/>
          <p:nvPr/>
        </p:nvSpPr>
        <p:spPr>
          <a:xfrm>
            <a:off x="0" y="0"/>
            <a:ext cx="12188825" cy="152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1765" name="Google Shape;1765;p5"/>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3"/>
              </a:gs>
              <a:gs pos="49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66" name="Google Shape;1766;p5"/>
          <p:cNvSpPr/>
          <p:nvPr/>
        </p:nvSpPr>
        <p:spPr>
          <a:xfrm>
            <a:off x="4930707" y="2107512"/>
            <a:ext cx="7067668" cy="3932939"/>
          </a:xfrm>
          <a:custGeom>
            <a:avLst/>
            <a:gdLst/>
            <a:ahLst/>
            <a:cxnLst/>
            <a:rect l="l" t="t" r="r" b="b"/>
            <a:pathLst>
              <a:path w="8698270" h="4840319" extrusionOk="0">
                <a:moveTo>
                  <a:pt x="3467882" y="4840320"/>
                </a:moveTo>
                <a:lnTo>
                  <a:pt x="143181" y="4840320"/>
                </a:lnTo>
                <a:cubicBezTo>
                  <a:pt x="15927" y="4840320"/>
                  <a:pt x="-47891" y="4686396"/>
                  <a:pt x="42121" y="4596384"/>
                </a:cubicBezTo>
                <a:lnTo>
                  <a:pt x="4220071" y="418433"/>
                </a:lnTo>
                <a:cubicBezTo>
                  <a:pt x="4488010" y="150495"/>
                  <a:pt x="4851388" y="0"/>
                  <a:pt x="5230388" y="0"/>
                </a:cubicBezTo>
                <a:lnTo>
                  <a:pt x="8555089" y="0"/>
                </a:lnTo>
                <a:cubicBezTo>
                  <a:pt x="8682344" y="0"/>
                  <a:pt x="8746161" y="153924"/>
                  <a:pt x="8656150" y="243935"/>
                </a:cubicBezTo>
                <a:lnTo>
                  <a:pt x="4478199" y="4421791"/>
                </a:lnTo>
                <a:cubicBezTo>
                  <a:pt x="4210261" y="4689729"/>
                  <a:pt x="3846882" y="4840224"/>
                  <a:pt x="3467882" y="4840224"/>
                </a:cubicBezTo>
                <a:close/>
              </a:path>
            </a:pathLst>
          </a:custGeom>
          <a:gradFill>
            <a:gsLst>
              <a:gs pos="0">
                <a:schemeClr val="accent5"/>
              </a:gs>
              <a:gs pos="52999">
                <a:schemeClr val="accent5"/>
              </a:gs>
              <a:gs pos="100000">
                <a:schemeClr val="accent2"/>
              </a:gs>
            </a:gsLst>
            <a:lin ang="189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pic>
        <p:nvPicPr>
          <p:cNvPr id="1767" name="Google Shape;1767;p5"/>
          <p:cNvPicPr preferRelativeResize="0"/>
          <p:nvPr/>
        </p:nvPicPr>
        <p:blipFill rotWithShape="1">
          <a:blip r:embed="rId3">
            <a:alphaModFix/>
          </a:blip>
          <a:srcRect/>
          <a:stretch/>
        </p:blipFill>
        <p:spPr>
          <a:xfrm>
            <a:off x="8616820" y="2853120"/>
            <a:ext cx="2892032" cy="1134516"/>
          </a:xfrm>
          <a:prstGeom prst="rect">
            <a:avLst/>
          </a:prstGeom>
          <a:noFill/>
          <a:ln>
            <a:noFill/>
          </a:ln>
        </p:spPr>
      </p:pic>
      <p:grpSp>
        <p:nvGrpSpPr>
          <p:cNvPr id="1768" name="Google Shape;1768;p5"/>
          <p:cNvGrpSpPr/>
          <p:nvPr/>
        </p:nvGrpSpPr>
        <p:grpSpPr>
          <a:xfrm>
            <a:off x="5966224" y="4557571"/>
            <a:ext cx="4591363" cy="1482880"/>
            <a:chOff x="2244725" y="4130892"/>
            <a:chExt cx="5212079" cy="1683353"/>
          </a:xfrm>
        </p:grpSpPr>
        <p:grpSp>
          <p:nvGrpSpPr>
            <p:cNvPr id="1769" name="Google Shape;1769;p5"/>
            <p:cNvGrpSpPr/>
            <p:nvPr/>
          </p:nvGrpSpPr>
          <p:grpSpPr>
            <a:xfrm>
              <a:off x="2244725" y="4130892"/>
              <a:ext cx="1634585" cy="1683353"/>
              <a:chOff x="2244725" y="4130892"/>
              <a:chExt cx="1634585" cy="1683353"/>
            </a:xfrm>
          </p:grpSpPr>
          <p:sp>
            <p:nvSpPr>
              <p:cNvPr id="1770" name="Google Shape;1770;p5"/>
              <p:cNvSpPr/>
              <p:nvPr/>
            </p:nvSpPr>
            <p:spPr>
              <a:xfrm>
                <a:off x="2288825"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71" name="Google Shape;1771;p5"/>
              <p:cNvSpPr/>
              <p:nvPr/>
            </p:nvSpPr>
            <p:spPr>
              <a:xfrm>
                <a:off x="2244725"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772" name="Google Shape;1772;p5"/>
              <p:cNvGrpSpPr/>
              <p:nvPr/>
            </p:nvGrpSpPr>
            <p:grpSpPr>
              <a:xfrm>
                <a:off x="2496375" y="4130892"/>
                <a:ext cx="201358" cy="1683352"/>
                <a:chOff x="2496375" y="4130892"/>
                <a:chExt cx="201358" cy="1683352"/>
              </a:xfrm>
            </p:grpSpPr>
            <p:sp>
              <p:nvSpPr>
                <p:cNvPr id="1773" name="Google Shape;1773;p5"/>
                <p:cNvSpPr/>
                <p:nvPr/>
              </p:nvSpPr>
              <p:spPr>
                <a:xfrm>
                  <a:off x="2496375"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74" name="Google Shape;1774;p5"/>
                <p:cNvSpPr/>
                <p:nvPr/>
              </p:nvSpPr>
              <p:spPr>
                <a:xfrm>
                  <a:off x="2496375"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75" name="Google Shape;1775;p5"/>
                <p:cNvSpPr/>
                <p:nvPr/>
              </p:nvSpPr>
              <p:spPr>
                <a:xfrm>
                  <a:off x="2496375"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1776" name="Google Shape;1776;p5"/>
            <p:cNvGrpSpPr/>
            <p:nvPr/>
          </p:nvGrpSpPr>
          <p:grpSpPr>
            <a:xfrm>
              <a:off x="4033520" y="4130892"/>
              <a:ext cx="1634585" cy="1683353"/>
              <a:chOff x="4033520" y="4130892"/>
              <a:chExt cx="1634585" cy="1683353"/>
            </a:xfrm>
          </p:grpSpPr>
          <p:sp>
            <p:nvSpPr>
              <p:cNvPr id="1777" name="Google Shape;1777;p5"/>
              <p:cNvSpPr/>
              <p:nvPr/>
            </p:nvSpPr>
            <p:spPr>
              <a:xfrm>
                <a:off x="4077620"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78" name="Google Shape;1778;p5"/>
              <p:cNvSpPr/>
              <p:nvPr/>
            </p:nvSpPr>
            <p:spPr>
              <a:xfrm>
                <a:off x="4033520"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779" name="Google Shape;1779;p5"/>
              <p:cNvGrpSpPr/>
              <p:nvPr/>
            </p:nvGrpSpPr>
            <p:grpSpPr>
              <a:xfrm>
                <a:off x="4285170" y="4130892"/>
                <a:ext cx="201358" cy="1683352"/>
                <a:chOff x="4285170" y="4130892"/>
                <a:chExt cx="201358" cy="1683352"/>
              </a:xfrm>
            </p:grpSpPr>
            <p:sp>
              <p:nvSpPr>
                <p:cNvPr id="1780" name="Google Shape;1780;p5"/>
                <p:cNvSpPr/>
                <p:nvPr/>
              </p:nvSpPr>
              <p:spPr>
                <a:xfrm>
                  <a:off x="4285170"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1" name="Google Shape;1781;p5"/>
                <p:cNvSpPr/>
                <p:nvPr/>
              </p:nvSpPr>
              <p:spPr>
                <a:xfrm>
                  <a:off x="4285170"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2" name="Google Shape;1782;p5"/>
                <p:cNvSpPr/>
                <p:nvPr/>
              </p:nvSpPr>
              <p:spPr>
                <a:xfrm>
                  <a:off x="4285170"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1783" name="Google Shape;1783;p5"/>
            <p:cNvGrpSpPr/>
            <p:nvPr/>
          </p:nvGrpSpPr>
          <p:grpSpPr>
            <a:xfrm>
              <a:off x="5822219" y="4130892"/>
              <a:ext cx="1634585" cy="1683353"/>
              <a:chOff x="5822219" y="4130892"/>
              <a:chExt cx="1634585" cy="1683353"/>
            </a:xfrm>
          </p:grpSpPr>
          <p:sp>
            <p:nvSpPr>
              <p:cNvPr id="1784" name="Google Shape;1784;p5"/>
              <p:cNvSpPr/>
              <p:nvPr/>
            </p:nvSpPr>
            <p:spPr>
              <a:xfrm>
                <a:off x="5866320"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5" name="Google Shape;1785;p5"/>
              <p:cNvSpPr/>
              <p:nvPr/>
            </p:nvSpPr>
            <p:spPr>
              <a:xfrm>
                <a:off x="5822219"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786" name="Google Shape;1786;p5"/>
              <p:cNvGrpSpPr/>
              <p:nvPr/>
            </p:nvGrpSpPr>
            <p:grpSpPr>
              <a:xfrm>
                <a:off x="6073965" y="4130892"/>
                <a:ext cx="201358" cy="1683352"/>
                <a:chOff x="6073965" y="4130892"/>
                <a:chExt cx="201358" cy="1683352"/>
              </a:xfrm>
            </p:grpSpPr>
            <p:sp>
              <p:nvSpPr>
                <p:cNvPr id="1787" name="Google Shape;1787;p5"/>
                <p:cNvSpPr/>
                <p:nvPr/>
              </p:nvSpPr>
              <p:spPr>
                <a:xfrm>
                  <a:off x="6073965"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8" name="Google Shape;1788;p5"/>
                <p:cNvSpPr/>
                <p:nvPr/>
              </p:nvSpPr>
              <p:spPr>
                <a:xfrm>
                  <a:off x="6073965"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9" name="Google Shape;1789;p5"/>
                <p:cNvSpPr/>
                <p:nvPr/>
              </p:nvSpPr>
              <p:spPr>
                <a:xfrm>
                  <a:off x="6073965"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pic>
        <p:nvPicPr>
          <p:cNvPr id="1790" name="Google Shape;1790;p5"/>
          <p:cNvPicPr preferRelativeResize="0"/>
          <p:nvPr/>
        </p:nvPicPr>
        <p:blipFill rotWithShape="1">
          <a:blip r:embed="rId4">
            <a:alphaModFix/>
          </a:blip>
          <a:srcRect/>
          <a:stretch/>
        </p:blipFill>
        <p:spPr>
          <a:xfrm>
            <a:off x="5233948" y="5392722"/>
            <a:ext cx="1627562" cy="665821"/>
          </a:xfrm>
          <a:prstGeom prst="rect">
            <a:avLst/>
          </a:prstGeom>
          <a:noFill/>
          <a:ln>
            <a:noFill/>
          </a:ln>
        </p:spPr>
      </p:pic>
      <p:grpSp>
        <p:nvGrpSpPr>
          <p:cNvPr id="1791" name="Google Shape;1791;p5"/>
          <p:cNvGrpSpPr/>
          <p:nvPr/>
        </p:nvGrpSpPr>
        <p:grpSpPr>
          <a:xfrm>
            <a:off x="8925770" y="2315331"/>
            <a:ext cx="1447097" cy="557185"/>
            <a:chOff x="3640242" y="1177275"/>
            <a:chExt cx="2915109" cy="1122424"/>
          </a:xfrm>
        </p:grpSpPr>
        <p:sp>
          <p:nvSpPr>
            <p:cNvPr id="1792" name="Google Shape;1792;p5"/>
            <p:cNvSpPr/>
            <p:nvPr/>
          </p:nvSpPr>
          <p:spPr>
            <a:xfrm>
              <a:off x="4764703" y="1177275"/>
              <a:ext cx="1790648" cy="633985"/>
            </a:xfrm>
            <a:custGeom>
              <a:avLst/>
              <a:gdLst/>
              <a:ahLst/>
              <a:cxnLst/>
              <a:rect l="l" t="t" r="r" b="b"/>
              <a:pathLst>
                <a:path w="1790648" h="633985" extrusionOk="0">
                  <a:moveTo>
                    <a:pt x="1390669" y="295609"/>
                  </a:moveTo>
                  <a:cubicBezTo>
                    <a:pt x="1320856" y="295609"/>
                    <a:pt x="1255179" y="313238"/>
                    <a:pt x="1197839" y="344294"/>
                  </a:cubicBezTo>
                  <a:cubicBezTo>
                    <a:pt x="1092641" y="139881"/>
                    <a:pt x="879701" y="0"/>
                    <a:pt x="633985" y="0"/>
                  </a:cubicBezTo>
                  <a:cubicBezTo>
                    <a:pt x="283836" y="0"/>
                    <a:pt x="0" y="283836"/>
                    <a:pt x="0" y="633985"/>
                  </a:cubicBezTo>
                  <a:lnTo>
                    <a:pt x="1790648" y="633985"/>
                  </a:lnTo>
                  <a:cubicBezTo>
                    <a:pt x="1758574" y="441982"/>
                    <a:pt x="1591772" y="295609"/>
                    <a:pt x="1390669" y="295609"/>
                  </a:cubicBezTo>
                  <a:close/>
                </a:path>
              </a:pathLst>
            </a:custGeom>
            <a:no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3" name="Google Shape;1793;p5"/>
            <p:cNvSpPr/>
            <p:nvPr/>
          </p:nvSpPr>
          <p:spPr>
            <a:xfrm>
              <a:off x="5302464" y="2047556"/>
              <a:ext cx="114807" cy="114807"/>
            </a:xfrm>
            <a:custGeom>
              <a:avLst/>
              <a:gdLst/>
              <a:ahLst/>
              <a:cxnLst/>
              <a:rect l="l" t="t" r="r" b="b"/>
              <a:pathLst>
                <a:path w="114807" h="114807" extrusionOk="0">
                  <a:moveTo>
                    <a:pt x="114807" y="57404"/>
                  </a:moveTo>
                  <a:cubicBezTo>
                    <a:pt x="114807" y="89107"/>
                    <a:pt x="89107" y="114807"/>
                    <a:pt x="57404" y="114807"/>
                  </a:cubicBezTo>
                  <a:cubicBezTo>
                    <a:pt x="25700" y="114807"/>
                    <a:pt x="0" y="89107"/>
                    <a:pt x="0" y="57404"/>
                  </a:cubicBezTo>
                  <a:cubicBezTo>
                    <a:pt x="0" y="25700"/>
                    <a:pt x="25700" y="0"/>
                    <a:pt x="57404" y="0"/>
                  </a:cubicBezTo>
                  <a:cubicBezTo>
                    <a:pt x="89107" y="0"/>
                    <a:pt x="114807" y="25700"/>
                    <a:pt x="114807" y="57404"/>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4" name="Google Shape;1794;p5"/>
            <p:cNvSpPr/>
            <p:nvPr/>
          </p:nvSpPr>
          <p:spPr>
            <a:xfrm>
              <a:off x="3949756" y="1376594"/>
              <a:ext cx="114807" cy="114807"/>
            </a:xfrm>
            <a:custGeom>
              <a:avLst/>
              <a:gdLst/>
              <a:ahLst/>
              <a:cxnLst/>
              <a:rect l="l" t="t" r="r" b="b"/>
              <a:pathLst>
                <a:path w="114807" h="114807" extrusionOk="0">
                  <a:moveTo>
                    <a:pt x="114807" y="57404"/>
                  </a:moveTo>
                  <a:cubicBezTo>
                    <a:pt x="114807" y="89107"/>
                    <a:pt x="89107" y="114807"/>
                    <a:pt x="57404" y="114807"/>
                  </a:cubicBezTo>
                  <a:cubicBezTo>
                    <a:pt x="25701" y="114807"/>
                    <a:pt x="0" y="89107"/>
                    <a:pt x="0" y="57404"/>
                  </a:cubicBezTo>
                  <a:cubicBezTo>
                    <a:pt x="0" y="25700"/>
                    <a:pt x="25701" y="0"/>
                    <a:pt x="57404" y="0"/>
                  </a:cubicBezTo>
                  <a:cubicBezTo>
                    <a:pt x="89107" y="0"/>
                    <a:pt x="114807" y="25700"/>
                    <a:pt x="114807" y="57404"/>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795" name="Google Shape;1795;p5"/>
            <p:cNvGrpSpPr/>
            <p:nvPr/>
          </p:nvGrpSpPr>
          <p:grpSpPr>
            <a:xfrm>
              <a:off x="3640242" y="1369787"/>
              <a:ext cx="1583244" cy="929912"/>
              <a:chOff x="3640242" y="1369787"/>
              <a:chExt cx="1583244" cy="929912"/>
            </a:xfrm>
          </p:grpSpPr>
          <p:sp>
            <p:nvSpPr>
              <p:cNvPr id="1796" name="Google Shape;1796;p5"/>
              <p:cNvSpPr/>
              <p:nvPr/>
            </p:nvSpPr>
            <p:spPr>
              <a:xfrm>
                <a:off x="3640242" y="2047556"/>
                <a:ext cx="252143" cy="252143"/>
              </a:xfrm>
              <a:custGeom>
                <a:avLst/>
                <a:gdLst/>
                <a:ahLst/>
                <a:cxnLst/>
                <a:rect l="l" t="t" r="r" b="b"/>
                <a:pathLst>
                  <a:path w="252143" h="252143" extrusionOk="0">
                    <a:moveTo>
                      <a:pt x="252143" y="126071"/>
                    </a:moveTo>
                    <a:cubicBezTo>
                      <a:pt x="252143" y="195699"/>
                      <a:pt x="195699" y="252143"/>
                      <a:pt x="126072" y="252143"/>
                    </a:cubicBezTo>
                    <a:cubicBezTo>
                      <a:pt x="56444" y="252143"/>
                      <a:pt x="0" y="195699"/>
                      <a:pt x="0" y="126071"/>
                    </a:cubicBezTo>
                    <a:cubicBezTo>
                      <a:pt x="0" y="56444"/>
                      <a:pt x="56444" y="0"/>
                      <a:pt x="126072" y="0"/>
                    </a:cubicBezTo>
                    <a:cubicBezTo>
                      <a:pt x="195699" y="0"/>
                      <a:pt x="252143" y="56444"/>
                      <a:pt x="252143" y="12607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7" name="Google Shape;1797;p5"/>
              <p:cNvSpPr/>
              <p:nvPr/>
            </p:nvSpPr>
            <p:spPr>
              <a:xfrm>
                <a:off x="4288674" y="1369787"/>
                <a:ext cx="305982" cy="305982"/>
              </a:xfrm>
              <a:custGeom>
                <a:avLst/>
                <a:gdLst/>
                <a:ahLst/>
                <a:cxnLst/>
                <a:rect l="l" t="t" r="r" b="b"/>
                <a:pathLst>
                  <a:path w="305982" h="305982" extrusionOk="0">
                    <a:moveTo>
                      <a:pt x="305983" y="152991"/>
                    </a:moveTo>
                    <a:cubicBezTo>
                      <a:pt x="305983" y="237486"/>
                      <a:pt x="237486" y="305983"/>
                      <a:pt x="152991" y="305983"/>
                    </a:cubicBezTo>
                    <a:cubicBezTo>
                      <a:pt x="68497" y="305983"/>
                      <a:pt x="0" y="237486"/>
                      <a:pt x="0" y="152991"/>
                    </a:cubicBezTo>
                    <a:cubicBezTo>
                      <a:pt x="0" y="68497"/>
                      <a:pt x="68496" y="0"/>
                      <a:pt x="152991" y="0"/>
                    </a:cubicBezTo>
                    <a:cubicBezTo>
                      <a:pt x="237486" y="0"/>
                      <a:pt x="305983" y="68497"/>
                      <a:pt x="305983" y="15299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8" name="Google Shape;1798;p5"/>
              <p:cNvSpPr/>
              <p:nvPr/>
            </p:nvSpPr>
            <p:spPr>
              <a:xfrm>
                <a:off x="4596820" y="1522778"/>
                <a:ext cx="432054" cy="6364"/>
              </a:xfrm>
              <a:custGeom>
                <a:avLst/>
                <a:gdLst/>
                <a:ahLst/>
                <a:cxnLst/>
                <a:rect l="l" t="t" r="r" b="b"/>
                <a:pathLst>
                  <a:path w="432054" h="6364" extrusionOk="0">
                    <a:moveTo>
                      <a:pt x="432054" y="0"/>
                    </a:moveTo>
                    <a:lnTo>
                      <a:pt x="0" y="0"/>
                    </a:lnTo>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9" name="Google Shape;1799;p5"/>
              <p:cNvSpPr/>
              <p:nvPr/>
            </p:nvSpPr>
            <p:spPr>
              <a:xfrm>
                <a:off x="5028874" y="1425472"/>
                <a:ext cx="194612" cy="194612"/>
              </a:xfrm>
              <a:custGeom>
                <a:avLst/>
                <a:gdLst/>
                <a:ahLst/>
                <a:cxnLst/>
                <a:rect l="l" t="t" r="r" b="b"/>
                <a:pathLst>
                  <a:path w="194612" h="194612" extrusionOk="0">
                    <a:moveTo>
                      <a:pt x="194612" y="97306"/>
                    </a:moveTo>
                    <a:cubicBezTo>
                      <a:pt x="194612" y="151047"/>
                      <a:pt x="151047" y="194612"/>
                      <a:pt x="97306" y="194612"/>
                    </a:cubicBezTo>
                    <a:cubicBezTo>
                      <a:pt x="43565" y="194612"/>
                      <a:pt x="0" y="151047"/>
                      <a:pt x="0" y="97306"/>
                    </a:cubicBezTo>
                    <a:cubicBezTo>
                      <a:pt x="0" y="43565"/>
                      <a:pt x="43566" y="0"/>
                      <a:pt x="97306" y="0"/>
                    </a:cubicBezTo>
                    <a:cubicBezTo>
                      <a:pt x="151047" y="0"/>
                      <a:pt x="194612" y="43565"/>
                      <a:pt x="194612" y="97306"/>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0" name="Google Shape;1800;p5"/>
              <p:cNvSpPr/>
              <p:nvPr/>
            </p:nvSpPr>
            <p:spPr>
              <a:xfrm>
                <a:off x="3857319" y="1620020"/>
                <a:ext cx="466356" cy="466356"/>
              </a:xfrm>
              <a:custGeom>
                <a:avLst/>
                <a:gdLst/>
                <a:ahLst/>
                <a:cxnLst/>
                <a:rect l="l" t="t" r="r" b="b"/>
                <a:pathLst>
                  <a:path w="466356" h="466356" extrusionOk="0">
                    <a:moveTo>
                      <a:pt x="466356" y="0"/>
                    </a:moveTo>
                    <a:lnTo>
                      <a:pt x="0" y="466356"/>
                    </a:lnTo>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1801" name="Google Shape;1801;p5"/>
          <p:cNvGrpSpPr/>
          <p:nvPr/>
        </p:nvGrpSpPr>
        <p:grpSpPr>
          <a:xfrm>
            <a:off x="8128703" y="3559168"/>
            <a:ext cx="1437234" cy="1402664"/>
            <a:chOff x="3040750" y="2725962"/>
            <a:chExt cx="1090095" cy="1063875"/>
          </a:xfrm>
        </p:grpSpPr>
        <p:sp>
          <p:nvSpPr>
            <p:cNvPr id="1802" name="Google Shape;1802;p5"/>
            <p:cNvSpPr/>
            <p:nvPr/>
          </p:nvSpPr>
          <p:spPr>
            <a:xfrm>
              <a:off x="3067033" y="3718815"/>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3" name="Google Shape;1803;p5"/>
            <p:cNvSpPr/>
            <p:nvPr/>
          </p:nvSpPr>
          <p:spPr>
            <a:xfrm>
              <a:off x="3040750" y="357543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4" name="Google Shape;1804;p5"/>
            <p:cNvSpPr/>
            <p:nvPr/>
          </p:nvSpPr>
          <p:spPr>
            <a:xfrm>
              <a:off x="3177322" y="360846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5" name="Google Shape;1805;p5"/>
            <p:cNvSpPr/>
            <p:nvPr/>
          </p:nvSpPr>
          <p:spPr>
            <a:xfrm>
              <a:off x="3287611" y="349817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6" name="Google Shape;1806;p5"/>
            <p:cNvSpPr/>
            <p:nvPr/>
          </p:nvSpPr>
          <p:spPr>
            <a:xfrm>
              <a:off x="3431184" y="3515866"/>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7" name="Google Shape;1807;p5"/>
            <p:cNvSpPr/>
            <p:nvPr/>
          </p:nvSpPr>
          <p:spPr>
            <a:xfrm>
              <a:off x="3397963" y="3387885"/>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8" name="Google Shape;1808;p5"/>
            <p:cNvSpPr/>
            <p:nvPr/>
          </p:nvSpPr>
          <p:spPr>
            <a:xfrm>
              <a:off x="3508252" y="327753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9" name="Google Shape;1809;p5"/>
            <p:cNvSpPr/>
            <p:nvPr/>
          </p:nvSpPr>
          <p:spPr>
            <a:xfrm>
              <a:off x="3618604" y="316724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0" name="Google Shape;1810;p5"/>
            <p:cNvSpPr/>
            <p:nvPr/>
          </p:nvSpPr>
          <p:spPr>
            <a:xfrm>
              <a:off x="3460013" y="314293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1" name="Google Shape;1811;p5"/>
            <p:cNvSpPr/>
            <p:nvPr/>
          </p:nvSpPr>
          <p:spPr>
            <a:xfrm>
              <a:off x="3728893" y="305689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2" name="Google Shape;1812;p5"/>
            <p:cNvSpPr/>
            <p:nvPr/>
          </p:nvSpPr>
          <p:spPr>
            <a:xfrm>
              <a:off x="3839182" y="294660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3" name="Google Shape;1813;p5"/>
            <p:cNvSpPr/>
            <p:nvPr/>
          </p:nvSpPr>
          <p:spPr>
            <a:xfrm>
              <a:off x="3857065" y="307674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4" name="Google Shape;1814;p5"/>
            <p:cNvSpPr/>
            <p:nvPr/>
          </p:nvSpPr>
          <p:spPr>
            <a:xfrm>
              <a:off x="3949534" y="283631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5" name="Google Shape;1815;p5"/>
            <p:cNvSpPr/>
            <p:nvPr/>
          </p:nvSpPr>
          <p:spPr>
            <a:xfrm>
              <a:off x="3969517" y="295105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6" name="Google Shape;1816;p5"/>
            <p:cNvSpPr/>
            <p:nvPr/>
          </p:nvSpPr>
          <p:spPr>
            <a:xfrm>
              <a:off x="4059823" y="272596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17" name="Google Shape;1817;p5"/>
          <p:cNvGrpSpPr/>
          <p:nvPr/>
        </p:nvGrpSpPr>
        <p:grpSpPr>
          <a:xfrm>
            <a:off x="7407915" y="2996837"/>
            <a:ext cx="1266988" cy="1280160"/>
            <a:chOff x="2251864" y="2357930"/>
            <a:chExt cx="960969" cy="970960"/>
          </a:xfrm>
        </p:grpSpPr>
        <p:sp>
          <p:nvSpPr>
            <p:cNvPr id="1818" name="Google Shape;1818;p5"/>
            <p:cNvSpPr/>
            <p:nvPr/>
          </p:nvSpPr>
          <p:spPr>
            <a:xfrm>
              <a:off x="2251864" y="325786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9" name="Google Shape;1819;p5"/>
            <p:cNvSpPr/>
            <p:nvPr/>
          </p:nvSpPr>
          <p:spPr>
            <a:xfrm>
              <a:off x="2363108" y="314662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0" name="Google Shape;1820;p5"/>
            <p:cNvSpPr/>
            <p:nvPr/>
          </p:nvSpPr>
          <p:spPr>
            <a:xfrm>
              <a:off x="2504771" y="3165144"/>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1" name="Google Shape;1821;p5"/>
            <p:cNvSpPr/>
            <p:nvPr/>
          </p:nvSpPr>
          <p:spPr>
            <a:xfrm>
              <a:off x="2474351" y="3035381"/>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2" name="Google Shape;1822;p5"/>
            <p:cNvSpPr/>
            <p:nvPr/>
          </p:nvSpPr>
          <p:spPr>
            <a:xfrm>
              <a:off x="2585594" y="292413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3" name="Google Shape;1823;p5"/>
            <p:cNvSpPr/>
            <p:nvPr/>
          </p:nvSpPr>
          <p:spPr>
            <a:xfrm>
              <a:off x="2618687" y="3043209"/>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4" name="Google Shape;1824;p5"/>
            <p:cNvSpPr/>
            <p:nvPr/>
          </p:nvSpPr>
          <p:spPr>
            <a:xfrm>
              <a:off x="2696838" y="281289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5" name="Google Shape;1825;p5"/>
            <p:cNvSpPr/>
            <p:nvPr/>
          </p:nvSpPr>
          <p:spPr>
            <a:xfrm>
              <a:off x="2670236" y="268211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6" name="Google Shape;1826;p5"/>
            <p:cNvSpPr/>
            <p:nvPr/>
          </p:nvSpPr>
          <p:spPr>
            <a:xfrm>
              <a:off x="2808081" y="270165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7" name="Google Shape;1827;p5"/>
            <p:cNvSpPr/>
            <p:nvPr/>
          </p:nvSpPr>
          <p:spPr>
            <a:xfrm>
              <a:off x="2919324" y="259040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8" name="Google Shape;1828;p5"/>
            <p:cNvSpPr/>
            <p:nvPr/>
          </p:nvSpPr>
          <p:spPr>
            <a:xfrm>
              <a:off x="3030568" y="247916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9" name="Google Shape;1829;p5"/>
            <p:cNvSpPr/>
            <p:nvPr/>
          </p:nvSpPr>
          <p:spPr>
            <a:xfrm>
              <a:off x="3063024" y="260695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0" name="Google Shape;1830;p5"/>
            <p:cNvSpPr/>
            <p:nvPr/>
          </p:nvSpPr>
          <p:spPr>
            <a:xfrm>
              <a:off x="3141811" y="236792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1" name="Google Shape;1831;p5"/>
            <p:cNvSpPr/>
            <p:nvPr/>
          </p:nvSpPr>
          <p:spPr>
            <a:xfrm>
              <a:off x="2996838" y="2357930"/>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32" name="Google Shape;1832;p5"/>
          <p:cNvGrpSpPr/>
          <p:nvPr/>
        </p:nvGrpSpPr>
        <p:grpSpPr>
          <a:xfrm>
            <a:off x="10602605" y="1870925"/>
            <a:ext cx="659869" cy="659869"/>
            <a:chOff x="-396256" y="3115798"/>
            <a:chExt cx="601858" cy="601858"/>
          </a:xfrm>
        </p:grpSpPr>
        <p:sp>
          <p:nvSpPr>
            <p:cNvPr id="1833" name="Google Shape;1833;p5"/>
            <p:cNvSpPr/>
            <p:nvPr/>
          </p:nvSpPr>
          <p:spPr>
            <a:xfrm>
              <a:off x="-396256" y="3115798"/>
              <a:ext cx="601858" cy="601858"/>
            </a:xfrm>
            <a:prstGeom prst="roundRect">
              <a:avLst>
                <a:gd name="adj" fmla="val 9912"/>
              </a:avLst>
            </a:prstGeom>
            <a:gradFill>
              <a:gsLst>
                <a:gs pos="0">
                  <a:schemeClr val="accent6"/>
                </a:gs>
                <a:gs pos="100000">
                  <a:srgbClr val="D58B3F"/>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4" name="Google Shape;1834;p5"/>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862"/>
                  </a:srgbClr>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35" name="Google Shape;1835;p5"/>
          <p:cNvGrpSpPr/>
          <p:nvPr/>
        </p:nvGrpSpPr>
        <p:grpSpPr>
          <a:xfrm>
            <a:off x="11083178" y="1261750"/>
            <a:ext cx="487024" cy="487024"/>
            <a:chOff x="42069" y="2560177"/>
            <a:chExt cx="444208" cy="444208"/>
          </a:xfrm>
        </p:grpSpPr>
        <p:sp>
          <p:nvSpPr>
            <p:cNvPr id="1836" name="Google Shape;1836;p5"/>
            <p:cNvSpPr/>
            <p:nvPr/>
          </p:nvSpPr>
          <p:spPr>
            <a:xfrm>
              <a:off x="42069" y="2560177"/>
              <a:ext cx="444208" cy="444208"/>
            </a:xfrm>
            <a:prstGeom prst="roundRect">
              <a:avLst>
                <a:gd name="adj" fmla="val 9912"/>
              </a:avLst>
            </a:prstGeom>
            <a:gradFill>
              <a:gsLst>
                <a:gs pos="0">
                  <a:schemeClr val="accent6"/>
                </a:gs>
                <a:gs pos="100000">
                  <a:srgbClr val="D58B3F"/>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7" name="Google Shape;1837;p5"/>
            <p:cNvSpPr/>
            <p:nvPr/>
          </p:nvSpPr>
          <p:spPr>
            <a:xfrm>
              <a:off x="42069" y="2560178"/>
              <a:ext cx="345644" cy="345644"/>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862"/>
                  </a:srgbClr>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38" name="Google Shape;1838;p5"/>
          <p:cNvGrpSpPr/>
          <p:nvPr/>
        </p:nvGrpSpPr>
        <p:grpSpPr>
          <a:xfrm>
            <a:off x="579815" y="2820551"/>
            <a:ext cx="912101" cy="912097"/>
            <a:chOff x="579815" y="2820551"/>
            <a:chExt cx="912101" cy="912097"/>
          </a:xfrm>
        </p:grpSpPr>
        <p:sp>
          <p:nvSpPr>
            <p:cNvPr id="1839" name="Google Shape;1839;p5"/>
            <p:cNvSpPr/>
            <p:nvPr/>
          </p:nvSpPr>
          <p:spPr>
            <a:xfrm>
              <a:off x="579815" y="2820551"/>
              <a:ext cx="912101" cy="912097"/>
            </a:xfrm>
            <a:prstGeom prst="ellipse">
              <a:avLst/>
            </a:prstGeom>
            <a:gradFill>
              <a:gsLst>
                <a:gs pos="0">
                  <a:schemeClr val="accent5"/>
                </a:gs>
                <a:gs pos="29000">
                  <a:schemeClr val="accent5"/>
                </a:gs>
                <a:gs pos="100000">
                  <a:schemeClr val="accent2"/>
                </a:gs>
              </a:gsLst>
              <a:lin ang="81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1840" name="Google Shape;1840;p5" descr="Integrate Automate&#10;"/>
            <p:cNvSpPr/>
            <p:nvPr/>
          </p:nvSpPr>
          <p:spPr>
            <a:xfrm>
              <a:off x="750942" y="2992309"/>
              <a:ext cx="569846" cy="568581"/>
            </a:xfrm>
            <a:custGeom>
              <a:avLst/>
              <a:gdLst/>
              <a:ahLst/>
              <a:cxnLst/>
              <a:rect l="l" t="t" r="r" b="b"/>
              <a:pathLst>
                <a:path w="569846" h="568581" extrusionOk="0">
                  <a:moveTo>
                    <a:pt x="15812" y="284607"/>
                  </a:moveTo>
                  <a:cubicBezTo>
                    <a:pt x="15812" y="136611"/>
                    <a:pt x="136611" y="15811"/>
                    <a:pt x="284607" y="15811"/>
                  </a:cubicBezTo>
                  <a:cubicBezTo>
                    <a:pt x="380741" y="15811"/>
                    <a:pt x="468653" y="66408"/>
                    <a:pt x="516720" y="149261"/>
                  </a:cubicBezTo>
                  <a:lnTo>
                    <a:pt x="471183" y="141039"/>
                  </a:lnTo>
                  <a:lnTo>
                    <a:pt x="468653" y="156850"/>
                  </a:lnTo>
                  <a:lnTo>
                    <a:pt x="538856" y="169499"/>
                  </a:lnTo>
                  <a:lnTo>
                    <a:pt x="553403" y="99929"/>
                  </a:lnTo>
                  <a:lnTo>
                    <a:pt x="537591" y="96134"/>
                  </a:lnTo>
                  <a:lnTo>
                    <a:pt x="528737" y="137876"/>
                  </a:lnTo>
                  <a:cubicBezTo>
                    <a:pt x="477507" y="52494"/>
                    <a:pt x="385801" y="0"/>
                    <a:pt x="284607" y="0"/>
                  </a:cubicBezTo>
                  <a:cubicBezTo>
                    <a:pt x="127757" y="0"/>
                    <a:pt x="0" y="127757"/>
                    <a:pt x="0" y="284607"/>
                  </a:cubicBezTo>
                  <a:cubicBezTo>
                    <a:pt x="0" y="340896"/>
                    <a:pt x="16444" y="395920"/>
                    <a:pt x="48067" y="442722"/>
                  </a:cubicBezTo>
                  <a:lnTo>
                    <a:pt x="61349" y="433868"/>
                  </a:lnTo>
                  <a:cubicBezTo>
                    <a:pt x="31623" y="389595"/>
                    <a:pt x="15812" y="337734"/>
                    <a:pt x="15812" y="284607"/>
                  </a:cubicBezTo>
                  <a:close/>
                  <a:moveTo>
                    <a:pt x="551505" y="185311"/>
                  </a:moveTo>
                  <a:lnTo>
                    <a:pt x="536959" y="191003"/>
                  </a:lnTo>
                  <a:cubicBezTo>
                    <a:pt x="548343" y="220729"/>
                    <a:pt x="554035" y="252352"/>
                    <a:pt x="554035" y="284607"/>
                  </a:cubicBezTo>
                  <a:cubicBezTo>
                    <a:pt x="554035" y="432603"/>
                    <a:pt x="433235" y="553403"/>
                    <a:pt x="285239" y="553403"/>
                  </a:cubicBezTo>
                  <a:cubicBezTo>
                    <a:pt x="213139" y="553403"/>
                    <a:pt x="144201" y="524309"/>
                    <a:pt x="94237" y="473080"/>
                  </a:cubicBezTo>
                  <a:lnTo>
                    <a:pt x="141039" y="481302"/>
                  </a:lnTo>
                  <a:lnTo>
                    <a:pt x="143568" y="465491"/>
                  </a:lnTo>
                  <a:lnTo>
                    <a:pt x="73365" y="452841"/>
                  </a:lnTo>
                  <a:lnTo>
                    <a:pt x="58819" y="522412"/>
                  </a:lnTo>
                  <a:lnTo>
                    <a:pt x="73998" y="525574"/>
                  </a:lnTo>
                  <a:lnTo>
                    <a:pt x="82852" y="483832"/>
                  </a:lnTo>
                  <a:cubicBezTo>
                    <a:pt x="135979" y="537591"/>
                    <a:pt x="208712" y="568582"/>
                    <a:pt x="285239" y="568582"/>
                  </a:cubicBezTo>
                  <a:cubicBezTo>
                    <a:pt x="442090" y="568582"/>
                    <a:pt x="569846" y="440825"/>
                    <a:pt x="569846" y="283975"/>
                  </a:cubicBezTo>
                  <a:cubicBezTo>
                    <a:pt x="569214" y="250454"/>
                    <a:pt x="563522" y="216934"/>
                    <a:pt x="551505" y="185311"/>
                  </a:cubicBezTo>
                  <a:close/>
                  <a:moveTo>
                    <a:pt x="287769" y="174559"/>
                  </a:moveTo>
                  <a:cubicBezTo>
                    <a:pt x="226421" y="174559"/>
                    <a:pt x="176456" y="224523"/>
                    <a:pt x="176456" y="285872"/>
                  </a:cubicBezTo>
                  <a:cubicBezTo>
                    <a:pt x="176456" y="290299"/>
                    <a:pt x="180251" y="293461"/>
                    <a:pt x="184046" y="293461"/>
                  </a:cubicBezTo>
                  <a:cubicBezTo>
                    <a:pt x="187841" y="293461"/>
                    <a:pt x="191635" y="289667"/>
                    <a:pt x="191635" y="285872"/>
                  </a:cubicBezTo>
                  <a:cubicBezTo>
                    <a:pt x="191635" y="233378"/>
                    <a:pt x="234643" y="190370"/>
                    <a:pt x="287137" y="190370"/>
                  </a:cubicBezTo>
                  <a:cubicBezTo>
                    <a:pt x="339631" y="190370"/>
                    <a:pt x="382638" y="233378"/>
                    <a:pt x="382638" y="285872"/>
                  </a:cubicBezTo>
                  <a:cubicBezTo>
                    <a:pt x="382638" y="338366"/>
                    <a:pt x="340264" y="381373"/>
                    <a:pt x="287769" y="381373"/>
                  </a:cubicBezTo>
                  <a:cubicBezTo>
                    <a:pt x="283342" y="381373"/>
                    <a:pt x="280180" y="385168"/>
                    <a:pt x="280180" y="388963"/>
                  </a:cubicBezTo>
                  <a:cubicBezTo>
                    <a:pt x="280180" y="392758"/>
                    <a:pt x="283975" y="396552"/>
                    <a:pt x="287769" y="396552"/>
                  </a:cubicBezTo>
                  <a:cubicBezTo>
                    <a:pt x="349118" y="396552"/>
                    <a:pt x="399082" y="346588"/>
                    <a:pt x="399082" y="285239"/>
                  </a:cubicBezTo>
                  <a:cubicBezTo>
                    <a:pt x="399082" y="223891"/>
                    <a:pt x="349118" y="174559"/>
                    <a:pt x="287769" y="174559"/>
                  </a:cubicBezTo>
                  <a:close/>
                  <a:moveTo>
                    <a:pt x="439560" y="331409"/>
                  </a:moveTo>
                  <a:cubicBezTo>
                    <a:pt x="443987" y="330777"/>
                    <a:pt x="449047" y="329512"/>
                    <a:pt x="454739" y="327614"/>
                  </a:cubicBezTo>
                  <a:cubicBezTo>
                    <a:pt x="465491" y="324452"/>
                    <a:pt x="469918" y="323187"/>
                    <a:pt x="471815" y="323187"/>
                  </a:cubicBezTo>
                  <a:lnTo>
                    <a:pt x="478140" y="321922"/>
                  </a:lnTo>
                  <a:lnTo>
                    <a:pt x="478140" y="251719"/>
                  </a:lnTo>
                  <a:lnTo>
                    <a:pt x="471815" y="250454"/>
                  </a:lnTo>
                  <a:cubicBezTo>
                    <a:pt x="468653" y="249822"/>
                    <a:pt x="462961" y="248557"/>
                    <a:pt x="454739" y="246027"/>
                  </a:cubicBezTo>
                  <a:cubicBezTo>
                    <a:pt x="449047" y="244130"/>
                    <a:pt x="443354" y="242865"/>
                    <a:pt x="438927" y="242232"/>
                  </a:cubicBezTo>
                  <a:cubicBezTo>
                    <a:pt x="437662" y="237805"/>
                    <a:pt x="434500" y="229583"/>
                    <a:pt x="428175" y="212507"/>
                  </a:cubicBezTo>
                  <a:cubicBezTo>
                    <a:pt x="432603" y="205550"/>
                    <a:pt x="438295" y="195430"/>
                    <a:pt x="445884" y="182148"/>
                  </a:cubicBezTo>
                  <a:lnTo>
                    <a:pt x="449047" y="176456"/>
                  </a:lnTo>
                  <a:lnTo>
                    <a:pt x="443987" y="172029"/>
                  </a:lnTo>
                  <a:cubicBezTo>
                    <a:pt x="440192" y="168867"/>
                    <a:pt x="433235" y="162542"/>
                    <a:pt x="424381" y="153055"/>
                  </a:cubicBezTo>
                  <a:cubicBezTo>
                    <a:pt x="415526" y="143568"/>
                    <a:pt x="407937" y="137244"/>
                    <a:pt x="400980" y="132817"/>
                  </a:cubicBezTo>
                  <a:lnTo>
                    <a:pt x="397817" y="130919"/>
                  </a:lnTo>
                  <a:lnTo>
                    <a:pt x="394023" y="132184"/>
                  </a:lnTo>
                  <a:cubicBezTo>
                    <a:pt x="390228" y="133449"/>
                    <a:pt x="384536" y="136611"/>
                    <a:pt x="376314" y="142304"/>
                  </a:cubicBezTo>
                  <a:cubicBezTo>
                    <a:pt x="371887" y="144833"/>
                    <a:pt x="368092" y="147363"/>
                    <a:pt x="364929" y="148628"/>
                  </a:cubicBezTo>
                  <a:cubicBezTo>
                    <a:pt x="361135" y="146098"/>
                    <a:pt x="356075" y="143568"/>
                    <a:pt x="349750" y="141671"/>
                  </a:cubicBezTo>
                  <a:cubicBezTo>
                    <a:pt x="342793" y="139141"/>
                    <a:pt x="338366" y="137244"/>
                    <a:pt x="335204" y="135979"/>
                  </a:cubicBezTo>
                  <a:cubicBezTo>
                    <a:pt x="330777" y="118270"/>
                    <a:pt x="326982" y="106886"/>
                    <a:pt x="325084" y="101826"/>
                  </a:cubicBezTo>
                  <a:lnTo>
                    <a:pt x="321922" y="96134"/>
                  </a:lnTo>
                  <a:lnTo>
                    <a:pt x="254881" y="96134"/>
                  </a:lnTo>
                  <a:lnTo>
                    <a:pt x="252984" y="101826"/>
                  </a:lnTo>
                  <a:cubicBezTo>
                    <a:pt x="251719" y="106886"/>
                    <a:pt x="249822" y="113210"/>
                    <a:pt x="247292" y="121432"/>
                  </a:cubicBezTo>
                  <a:cubicBezTo>
                    <a:pt x="245394" y="127757"/>
                    <a:pt x="244130" y="132817"/>
                    <a:pt x="243497" y="136611"/>
                  </a:cubicBezTo>
                  <a:cubicBezTo>
                    <a:pt x="238437" y="137876"/>
                    <a:pt x="230215" y="141039"/>
                    <a:pt x="213771" y="147996"/>
                  </a:cubicBezTo>
                  <a:cubicBezTo>
                    <a:pt x="206182" y="142936"/>
                    <a:pt x="195430" y="136611"/>
                    <a:pt x="182781" y="130919"/>
                  </a:cubicBezTo>
                  <a:lnTo>
                    <a:pt x="178354" y="127757"/>
                  </a:lnTo>
                  <a:lnTo>
                    <a:pt x="174559" y="131552"/>
                  </a:lnTo>
                  <a:cubicBezTo>
                    <a:pt x="142304" y="163175"/>
                    <a:pt x="135346" y="171397"/>
                    <a:pt x="132817" y="174559"/>
                  </a:cubicBezTo>
                  <a:lnTo>
                    <a:pt x="129022" y="179619"/>
                  </a:lnTo>
                  <a:lnTo>
                    <a:pt x="133449" y="184046"/>
                  </a:lnTo>
                  <a:cubicBezTo>
                    <a:pt x="135979" y="186576"/>
                    <a:pt x="140406" y="193533"/>
                    <a:pt x="149261" y="209977"/>
                  </a:cubicBezTo>
                  <a:cubicBezTo>
                    <a:pt x="146731" y="213771"/>
                    <a:pt x="144833" y="218831"/>
                    <a:pt x="141671" y="225156"/>
                  </a:cubicBezTo>
                  <a:cubicBezTo>
                    <a:pt x="139141" y="231480"/>
                    <a:pt x="136611" y="236540"/>
                    <a:pt x="135346" y="239702"/>
                  </a:cubicBezTo>
                  <a:cubicBezTo>
                    <a:pt x="130919" y="240335"/>
                    <a:pt x="125860" y="241600"/>
                    <a:pt x="120800" y="243497"/>
                  </a:cubicBezTo>
                  <a:cubicBezTo>
                    <a:pt x="112578" y="246027"/>
                    <a:pt x="106886" y="247292"/>
                    <a:pt x="103723" y="247924"/>
                  </a:cubicBezTo>
                  <a:lnTo>
                    <a:pt x="97399" y="249189"/>
                  </a:lnTo>
                  <a:lnTo>
                    <a:pt x="97399" y="319392"/>
                  </a:lnTo>
                  <a:lnTo>
                    <a:pt x="103723" y="320657"/>
                  </a:lnTo>
                  <a:cubicBezTo>
                    <a:pt x="106886" y="321290"/>
                    <a:pt x="112578" y="322555"/>
                    <a:pt x="121432" y="325084"/>
                  </a:cubicBezTo>
                  <a:cubicBezTo>
                    <a:pt x="126492" y="326349"/>
                    <a:pt x="131552" y="327614"/>
                    <a:pt x="135346" y="328247"/>
                  </a:cubicBezTo>
                  <a:cubicBezTo>
                    <a:pt x="136611" y="333306"/>
                    <a:pt x="138509" y="338999"/>
                    <a:pt x="141039" y="344691"/>
                  </a:cubicBezTo>
                  <a:cubicBezTo>
                    <a:pt x="144201" y="352280"/>
                    <a:pt x="146098" y="356707"/>
                    <a:pt x="147363" y="359237"/>
                  </a:cubicBezTo>
                  <a:cubicBezTo>
                    <a:pt x="134082" y="382006"/>
                    <a:pt x="131552" y="388330"/>
                    <a:pt x="130919" y="390860"/>
                  </a:cubicBezTo>
                  <a:lnTo>
                    <a:pt x="129654" y="395288"/>
                  </a:lnTo>
                  <a:lnTo>
                    <a:pt x="132817" y="398450"/>
                  </a:lnTo>
                  <a:cubicBezTo>
                    <a:pt x="163175" y="429440"/>
                    <a:pt x="171397" y="435765"/>
                    <a:pt x="174559" y="438295"/>
                  </a:cubicBezTo>
                  <a:lnTo>
                    <a:pt x="178354" y="440825"/>
                  </a:lnTo>
                  <a:lnTo>
                    <a:pt x="182148" y="438927"/>
                  </a:lnTo>
                  <a:cubicBezTo>
                    <a:pt x="185311" y="437662"/>
                    <a:pt x="191003" y="434500"/>
                    <a:pt x="199225" y="429440"/>
                  </a:cubicBezTo>
                  <a:cubicBezTo>
                    <a:pt x="204285" y="426278"/>
                    <a:pt x="208079" y="424381"/>
                    <a:pt x="211874" y="423116"/>
                  </a:cubicBezTo>
                  <a:cubicBezTo>
                    <a:pt x="215669" y="425013"/>
                    <a:pt x="223891" y="428808"/>
                    <a:pt x="240967" y="436397"/>
                  </a:cubicBezTo>
                  <a:cubicBezTo>
                    <a:pt x="241600" y="438927"/>
                    <a:pt x="242865" y="443987"/>
                    <a:pt x="244762" y="450944"/>
                  </a:cubicBezTo>
                  <a:cubicBezTo>
                    <a:pt x="246659" y="459798"/>
                    <a:pt x="248557" y="466123"/>
                    <a:pt x="251087" y="471183"/>
                  </a:cubicBezTo>
                  <a:lnTo>
                    <a:pt x="252984" y="475610"/>
                  </a:lnTo>
                  <a:lnTo>
                    <a:pt x="318760" y="475610"/>
                  </a:lnTo>
                  <a:lnTo>
                    <a:pt x="320657" y="471183"/>
                  </a:lnTo>
                  <a:cubicBezTo>
                    <a:pt x="322555" y="467388"/>
                    <a:pt x="324452" y="460431"/>
                    <a:pt x="326982" y="449679"/>
                  </a:cubicBezTo>
                  <a:cubicBezTo>
                    <a:pt x="328247" y="442722"/>
                    <a:pt x="330144" y="438295"/>
                    <a:pt x="331409" y="435765"/>
                  </a:cubicBezTo>
                  <a:cubicBezTo>
                    <a:pt x="340896" y="433868"/>
                    <a:pt x="351015" y="429440"/>
                    <a:pt x="361135" y="424381"/>
                  </a:cubicBezTo>
                  <a:cubicBezTo>
                    <a:pt x="371254" y="430705"/>
                    <a:pt x="381373" y="436397"/>
                    <a:pt x="391493" y="441457"/>
                  </a:cubicBezTo>
                  <a:lnTo>
                    <a:pt x="396552" y="443987"/>
                  </a:lnTo>
                  <a:lnTo>
                    <a:pt x="400347" y="440192"/>
                  </a:lnTo>
                  <a:cubicBezTo>
                    <a:pt x="432603" y="408569"/>
                    <a:pt x="438927" y="400347"/>
                    <a:pt x="441457" y="397185"/>
                  </a:cubicBezTo>
                  <a:lnTo>
                    <a:pt x="444619" y="392125"/>
                  </a:lnTo>
                  <a:lnTo>
                    <a:pt x="440825" y="387698"/>
                  </a:lnTo>
                  <a:cubicBezTo>
                    <a:pt x="438295" y="384536"/>
                    <a:pt x="435133" y="379476"/>
                    <a:pt x="431338" y="373151"/>
                  </a:cubicBezTo>
                  <a:cubicBezTo>
                    <a:pt x="428808" y="368092"/>
                    <a:pt x="426278" y="364297"/>
                    <a:pt x="424381" y="361135"/>
                  </a:cubicBezTo>
                  <a:cubicBezTo>
                    <a:pt x="426911" y="357340"/>
                    <a:pt x="429440" y="352280"/>
                    <a:pt x="431970" y="345323"/>
                  </a:cubicBezTo>
                  <a:cubicBezTo>
                    <a:pt x="436397" y="338366"/>
                    <a:pt x="438295" y="333939"/>
                    <a:pt x="439560" y="331409"/>
                  </a:cubicBezTo>
                  <a:close/>
                  <a:moveTo>
                    <a:pt x="429440" y="316862"/>
                  </a:moveTo>
                  <a:lnTo>
                    <a:pt x="427543" y="320025"/>
                  </a:lnTo>
                  <a:cubicBezTo>
                    <a:pt x="425646" y="323820"/>
                    <a:pt x="422483" y="330144"/>
                    <a:pt x="418689" y="340263"/>
                  </a:cubicBezTo>
                  <a:cubicBezTo>
                    <a:pt x="415526" y="349750"/>
                    <a:pt x="412364" y="353545"/>
                    <a:pt x="411099" y="355443"/>
                  </a:cubicBezTo>
                  <a:lnTo>
                    <a:pt x="406672" y="359870"/>
                  </a:lnTo>
                  <a:lnTo>
                    <a:pt x="409834" y="364929"/>
                  </a:lnTo>
                  <a:cubicBezTo>
                    <a:pt x="410467" y="366194"/>
                    <a:pt x="412364" y="369357"/>
                    <a:pt x="419321" y="380741"/>
                  </a:cubicBezTo>
                  <a:cubicBezTo>
                    <a:pt x="421851" y="385168"/>
                    <a:pt x="423748" y="388963"/>
                    <a:pt x="426278" y="392125"/>
                  </a:cubicBezTo>
                  <a:cubicBezTo>
                    <a:pt x="421851" y="397185"/>
                    <a:pt x="412996" y="406672"/>
                    <a:pt x="394655" y="425013"/>
                  </a:cubicBezTo>
                  <a:cubicBezTo>
                    <a:pt x="385168" y="420586"/>
                    <a:pt x="376314" y="414894"/>
                    <a:pt x="367459" y="408569"/>
                  </a:cubicBezTo>
                  <a:lnTo>
                    <a:pt x="363032" y="406039"/>
                  </a:lnTo>
                  <a:lnTo>
                    <a:pt x="358605" y="408569"/>
                  </a:lnTo>
                  <a:cubicBezTo>
                    <a:pt x="347221" y="415526"/>
                    <a:pt x="335836" y="419953"/>
                    <a:pt x="325717" y="421851"/>
                  </a:cubicBezTo>
                  <a:lnTo>
                    <a:pt x="322555" y="422483"/>
                  </a:lnTo>
                  <a:lnTo>
                    <a:pt x="320657" y="425013"/>
                  </a:lnTo>
                  <a:cubicBezTo>
                    <a:pt x="317495" y="429440"/>
                    <a:pt x="315598" y="436397"/>
                    <a:pt x="313068" y="446517"/>
                  </a:cubicBezTo>
                  <a:cubicBezTo>
                    <a:pt x="311803" y="452841"/>
                    <a:pt x="310538" y="457269"/>
                    <a:pt x="309273" y="459798"/>
                  </a:cubicBezTo>
                  <a:lnTo>
                    <a:pt x="263736" y="459798"/>
                  </a:lnTo>
                  <a:cubicBezTo>
                    <a:pt x="263103" y="457269"/>
                    <a:pt x="261838" y="452841"/>
                    <a:pt x="260574" y="447782"/>
                  </a:cubicBezTo>
                  <a:cubicBezTo>
                    <a:pt x="258676" y="438295"/>
                    <a:pt x="256779" y="431970"/>
                    <a:pt x="254881" y="428175"/>
                  </a:cubicBezTo>
                  <a:lnTo>
                    <a:pt x="254249" y="425013"/>
                  </a:lnTo>
                  <a:lnTo>
                    <a:pt x="251087" y="423748"/>
                  </a:lnTo>
                  <a:cubicBezTo>
                    <a:pt x="223891" y="411731"/>
                    <a:pt x="218199" y="409202"/>
                    <a:pt x="217566" y="408569"/>
                  </a:cubicBezTo>
                  <a:lnTo>
                    <a:pt x="214404" y="406672"/>
                  </a:lnTo>
                  <a:lnTo>
                    <a:pt x="210609" y="407937"/>
                  </a:lnTo>
                  <a:cubicBezTo>
                    <a:pt x="204917" y="409834"/>
                    <a:pt x="198592" y="412364"/>
                    <a:pt x="191635" y="417424"/>
                  </a:cubicBezTo>
                  <a:cubicBezTo>
                    <a:pt x="186576" y="420586"/>
                    <a:pt x="182781" y="422483"/>
                    <a:pt x="180884" y="423748"/>
                  </a:cubicBezTo>
                  <a:cubicBezTo>
                    <a:pt x="176456" y="419953"/>
                    <a:pt x="166969" y="411099"/>
                    <a:pt x="148628" y="392758"/>
                  </a:cubicBezTo>
                  <a:cubicBezTo>
                    <a:pt x="150525" y="388963"/>
                    <a:pt x="154953" y="380741"/>
                    <a:pt x="163807" y="365562"/>
                  </a:cubicBezTo>
                  <a:lnTo>
                    <a:pt x="165705" y="362400"/>
                  </a:lnTo>
                  <a:lnTo>
                    <a:pt x="164440" y="359237"/>
                  </a:lnTo>
                  <a:cubicBezTo>
                    <a:pt x="163807" y="357340"/>
                    <a:pt x="162542" y="354178"/>
                    <a:pt x="156218" y="340263"/>
                  </a:cubicBezTo>
                  <a:cubicBezTo>
                    <a:pt x="153055" y="333306"/>
                    <a:pt x="151158" y="327614"/>
                    <a:pt x="150525" y="322555"/>
                  </a:cubicBezTo>
                  <a:lnTo>
                    <a:pt x="149893" y="316862"/>
                  </a:lnTo>
                  <a:lnTo>
                    <a:pt x="144201" y="316230"/>
                  </a:lnTo>
                  <a:cubicBezTo>
                    <a:pt x="139774" y="315598"/>
                    <a:pt x="133449" y="314333"/>
                    <a:pt x="126492" y="312435"/>
                  </a:cubicBezTo>
                  <a:cubicBezTo>
                    <a:pt x="121432" y="311170"/>
                    <a:pt x="117638" y="309905"/>
                    <a:pt x="113843" y="309273"/>
                  </a:cubicBezTo>
                  <a:lnTo>
                    <a:pt x="113843" y="264368"/>
                  </a:lnTo>
                  <a:cubicBezTo>
                    <a:pt x="117005" y="263736"/>
                    <a:pt x="120800" y="262471"/>
                    <a:pt x="125227" y="261206"/>
                  </a:cubicBezTo>
                  <a:cubicBezTo>
                    <a:pt x="131552" y="259309"/>
                    <a:pt x="137244" y="258044"/>
                    <a:pt x="141671" y="257411"/>
                  </a:cubicBezTo>
                  <a:lnTo>
                    <a:pt x="145466" y="256779"/>
                  </a:lnTo>
                  <a:lnTo>
                    <a:pt x="147363" y="253616"/>
                  </a:lnTo>
                  <a:cubicBezTo>
                    <a:pt x="149261" y="250454"/>
                    <a:pt x="151790" y="244130"/>
                    <a:pt x="156218" y="234010"/>
                  </a:cubicBezTo>
                  <a:cubicBezTo>
                    <a:pt x="159380" y="226421"/>
                    <a:pt x="161910" y="220729"/>
                    <a:pt x="164440" y="217566"/>
                  </a:cubicBezTo>
                  <a:lnTo>
                    <a:pt x="166969" y="213771"/>
                  </a:lnTo>
                  <a:lnTo>
                    <a:pt x="164440" y="209344"/>
                  </a:lnTo>
                  <a:cubicBezTo>
                    <a:pt x="157483" y="196695"/>
                    <a:pt x="152423" y="187841"/>
                    <a:pt x="147996" y="181516"/>
                  </a:cubicBezTo>
                  <a:cubicBezTo>
                    <a:pt x="152423" y="176456"/>
                    <a:pt x="161277" y="166969"/>
                    <a:pt x="180251" y="149261"/>
                  </a:cubicBezTo>
                  <a:cubicBezTo>
                    <a:pt x="191635" y="154953"/>
                    <a:pt x="201122" y="160645"/>
                    <a:pt x="207447" y="165072"/>
                  </a:cubicBezTo>
                  <a:lnTo>
                    <a:pt x="211874" y="165705"/>
                  </a:lnTo>
                  <a:lnTo>
                    <a:pt x="216301" y="163807"/>
                  </a:lnTo>
                  <a:cubicBezTo>
                    <a:pt x="243497" y="151790"/>
                    <a:pt x="249189" y="150525"/>
                    <a:pt x="250454" y="150525"/>
                  </a:cubicBezTo>
                  <a:lnTo>
                    <a:pt x="256146" y="150525"/>
                  </a:lnTo>
                  <a:lnTo>
                    <a:pt x="258044" y="145466"/>
                  </a:lnTo>
                  <a:cubicBezTo>
                    <a:pt x="258676" y="142936"/>
                    <a:pt x="260574" y="136611"/>
                    <a:pt x="263736" y="125860"/>
                  </a:cubicBezTo>
                  <a:cubicBezTo>
                    <a:pt x="265001" y="120800"/>
                    <a:pt x="266266" y="116373"/>
                    <a:pt x="267531" y="112578"/>
                  </a:cubicBezTo>
                  <a:lnTo>
                    <a:pt x="311803" y="112578"/>
                  </a:lnTo>
                  <a:cubicBezTo>
                    <a:pt x="313700" y="118902"/>
                    <a:pt x="316862" y="129022"/>
                    <a:pt x="320657" y="143568"/>
                  </a:cubicBezTo>
                  <a:lnTo>
                    <a:pt x="321290" y="147363"/>
                  </a:lnTo>
                  <a:lnTo>
                    <a:pt x="324452" y="148628"/>
                  </a:lnTo>
                  <a:cubicBezTo>
                    <a:pt x="326982" y="149893"/>
                    <a:pt x="332674" y="152423"/>
                    <a:pt x="342793" y="156218"/>
                  </a:cubicBezTo>
                  <a:cubicBezTo>
                    <a:pt x="351648" y="159380"/>
                    <a:pt x="355443" y="161910"/>
                    <a:pt x="357972" y="163807"/>
                  </a:cubicBezTo>
                  <a:lnTo>
                    <a:pt x="361135" y="166337"/>
                  </a:lnTo>
                  <a:lnTo>
                    <a:pt x="364929" y="165072"/>
                  </a:lnTo>
                  <a:cubicBezTo>
                    <a:pt x="370622" y="163175"/>
                    <a:pt x="376946" y="160645"/>
                    <a:pt x="383903" y="155585"/>
                  </a:cubicBezTo>
                  <a:cubicBezTo>
                    <a:pt x="388963" y="152423"/>
                    <a:pt x="392758" y="149893"/>
                    <a:pt x="395288" y="148628"/>
                  </a:cubicBezTo>
                  <a:cubicBezTo>
                    <a:pt x="399715" y="151790"/>
                    <a:pt x="405407" y="156850"/>
                    <a:pt x="411731" y="163807"/>
                  </a:cubicBezTo>
                  <a:cubicBezTo>
                    <a:pt x="418689" y="170764"/>
                    <a:pt x="423748" y="175824"/>
                    <a:pt x="428175" y="179619"/>
                  </a:cubicBezTo>
                  <a:cubicBezTo>
                    <a:pt x="421218" y="191635"/>
                    <a:pt x="416159" y="201122"/>
                    <a:pt x="412364" y="206814"/>
                  </a:cubicBezTo>
                  <a:lnTo>
                    <a:pt x="409834" y="209977"/>
                  </a:lnTo>
                  <a:lnTo>
                    <a:pt x="411099" y="213771"/>
                  </a:lnTo>
                  <a:cubicBezTo>
                    <a:pt x="426278" y="258044"/>
                    <a:pt x="426911" y="259309"/>
                    <a:pt x="433868" y="257411"/>
                  </a:cubicBezTo>
                  <a:cubicBezTo>
                    <a:pt x="438295" y="258044"/>
                    <a:pt x="443354" y="259309"/>
                    <a:pt x="449047" y="261206"/>
                  </a:cubicBezTo>
                  <a:cubicBezTo>
                    <a:pt x="454106" y="262471"/>
                    <a:pt x="457901" y="263736"/>
                    <a:pt x="461696" y="264368"/>
                  </a:cubicBezTo>
                  <a:lnTo>
                    <a:pt x="461696" y="309905"/>
                  </a:lnTo>
                  <a:cubicBezTo>
                    <a:pt x="458534" y="310538"/>
                    <a:pt x="454739" y="311803"/>
                    <a:pt x="450312" y="313068"/>
                  </a:cubicBezTo>
                  <a:cubicBezTo>
                    <a:pt x="443987" y="314965"/>
                    <a:pt x="438295" y="316230"/>
                    <a:pt x="433868" y="316862"/>
                  </a:cubicBezTo>
                  <a:lnTo>
                    <a:pt x="429440" y="3168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41" name="Google Shape;1841;p5"/>
          <p:cNvGrpSpPr/>
          <p:nvPr/>
        </p:nvGrpSpPr>
        <p:grpSpPr>
          <a:xfrm>
            <a:off x="579815" y="4022405"/>
            <a:ext cx="912101" cy="912097"/>
            <a:chOff x="579815" y="4022405"/>
            <a:chExt cx="912101" cy="912097"/>
          </a:xfrm>
        </p:grpSpPr>
        <p:sp>
          <p:nvSpPr>
            <p:cNvPr id="1842" name="Google Shape;1842;p5"/>
            <p:cNvSpPr/>
            <p:nvPr/>
          </p:nvSpPr>
          <p:spPr>
            <a:xfrm>
              <a:off x="579815" y="4022405"/>
              <a:ext cx="912101" cy="912097"/>
            </a:xfrm>
            <a:prstGeom prst="ellipse">
              <a:avLst/>
            </a:prstGeom>
            <a:gradFill>
              <a:gsLst>
                <a:gs pos="0">
                  <a:schemeClr val="accent5"/>
                </a:gs>
                <a:gs pos="29000">
                  <a:schemeClr val="accent5"/>
                </a:gs>
                <a:gs pos="100000">
                  <a:schemeClr val="accent2"/>
                </a:gs>
              </a:gsLst>
              <a:lin ang="81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grpSp>
          <p:nvGrpSpPr>
            <p:cNvPr id="1843" name="Google Shape;1843;p5"/>
            <p:cNvGrpSpPr/>
            <p:nvPr/>
          </p:nvGrpSpPr>
          <p:grpSpPr>
            <a:xfrm>
              <a:off x="796959" y="4287668"/>
              <a:ext cx="534401" cy="408147"/>
              <a:chOff x="1838171" y="5616069"/>
              <a:chExt cx="652849" cy="498611"/>
            </a:xfrm>
          </p:grpSpPr>
          <p:sp>
            <p:nvSpPr>
              <p:cNvPr id="1844" name="Google Shape;1844;p5"/>
              <p:cNvSpPr/>
              <p:nvPr/>
            </p:nvSpPr>
            <p:spPr>
              <a:xfrm>
                <a:off x="1838171" y="5625544"/>
                <a:ext cx="246435" cy="336419"/>
              </a:xfrm>
              <a:custGeom>
                <a:avLst/>
                <a:gdLst/>
                <a:ahLst/>
                <a:cxnLst/>
                <a:rect l="l" t="t" r="r" b="b"/>
                <a:pathLst>
                  <a:path w="246435" h="336419" extrusionOk="0">
                    <a:moveTo>
                      <a:pt x="17291" y="61280"/>
                    </a:moveTo>
                    <a:lnTo>
                      <a:pt x="57130" y="61280"/>
                    </a:lnTo>
                    <a:lnTo>
                      <a:pt x="57130" y="315808"/>
                    </a:lnTo>
                    <a:lnTo>
                      <a:pt x="74422" y="315808"/>
                    </a:lnTo>
                    <a:lnTo>
                      <a:pt x="74422" y="17291"/>
                    </a:lnTo>
                    <a:lnTo>
                      <a:pt x="229144" y="17291"/>
                    </a:lnTo>
                    <a:lnTo>
                      <a:pt x="229144" y="222158"/>
                    </a:lnTo>
                    <a:lnTo>
                      <a:pt x="246435" y="222158"/>
                    </a:lnTo>
                    <a:lnTo>
                      <a:pt x="246435" y="0"/>
                    </a:lnTo>
                    <a:lnTo>
                      <a:pt x="57130" y="0"/>
                    </a:lnTo>
                    <a:lnTo>
                      <a:pt x="57130" y="43989"/>
                    </a:lnTo>
                    <a:lnTo>
                      <a:pt x="0" y="43989"/>
                    </a:lnTo>
                    <a:lnTo>
                      <a:pt x="0" y="336419"/>
                    </a:lnTo>
                    <a:lnTo>
                      <a:pt x="17291" y="336419"/>
                    </a:lnTo>
                    <a:lnTo>
                      <a:pt x="17291" y="612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5" name="Google Shape;1845;p5"/>
              <p:cNvSpPr/>
              <p:nvPr/>
            </p:nvSpPr>
            <p:spPr>
              <a:xfrm>
                <a:off x="195167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6" name="Google Shape;1846;p5"/>
              <p:cNvSpPr/>
              <p:nvPr/>
            </p:nvSpPr>
            <p:spPr>
              <a:xfrm>
                <a:off x="195167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7" name="Google Shape;1847;p5"/>
              <p:cNvSpPr/>
              <p:nvPr/>
            </p:nvSpPr>
            <p:spPr>
              <a:xfrm>
                <a:off x="195167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8" name="Google Shape;1848;p5"/>
              <p:cNvSpPr/>
              <p:nvPr/>
            </p:nvSpPr>
            <p:spPr>
              <a:xfrm>
                <a:off x="200638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9" name="Google Shape;1849;p5"/>
              <p:cNvSpPr/>
              <p:nvPr/>
            </p:nvSpPr>
            <p:spPr>
              <a:xfrm>
                <a:off x="200638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0" name="Google Shape;1850;p5"/>
              <p:cNvSpPr/>
              <p:nvPr/>
            </p:nvSpPr>
            <p:spPr>
              <a:xfrm>
                <a:off x="200638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1" name="Google Shape;1851;p5"/>
              <p:cNvSpPr/>
              <p:nvPr/>
            </p:nvSpPr>
            <p:spPr>
              <a:xfrm>
                <a:off x="1847627" y="5830135"/>
                <a:ext cx="497694" cy="284545"/>
              </a:xfrm>
              <a:custGeom>
                <a:avLst/>
                <a:gdLst/>
                <a:ahLst/>
                <a:cxnLst/>
                <a:rect l="l" t="t" r="r" b="b"/>
                <a:pathLst>
                  <a:path w="497694" h="284545" extrusionOk="0">
                    <a:moveTo>
                      <a:pt x="428635" y="106653"/>
                    </a:moveTo>
                    <a:cubicBezTo>
                      <a:pt x="423309" y="47793"/>
                      <a:pt x="378974" y="1383"/>
                      <a:pt x="323919" y="0"/>
                    </a:cubicBezTo>
                    <a:cubicBezTo>
                      <a:pt x="323020" y="0"/>
                      <a:pt x="322121" y="0"/>
                      <a:pt x="321291" y="0"/>
                    </a:cubicBezTo>
                    <a:cubicBezTo>
                      <a:pt x="276748" y="0"/>
                      <a:pt x="238292" y="29879"/>
                      <a:pt x="221693" y="72693"/>
                    </a:cubicBezTo>
                    <a:cubicBezTo>
                      <a:pt x="210350" y="67229"/>
                      <a:pt x="197831" y="64185"/>
                      <a:pt x="184551" y="63770"/>
                    </a:cubicBezTo>
                    <a:cubicBezTo>
                      <a:pt x="183790" y="63770"/>
                      <a:pt x="183030" y="63770"/>
                      <a:pt x="182269" y="63770"/>
                    </a:cubicBezTo>
                    <a:cubicBezTo>
                      <a:pt x="138487" y="63770"/>
                      <a:pt x="101691" y="94895"/>
                      <a:pt x="92700" y="136947"/>
                    </a:cubicBezTo>
                    <a:cubicBezTo>
                      <a:pt x="86959" y="135356"/>
                      <a:pt x="80873" y="134526"/>
                      <a:pt x="74717" y="134388"/>
                    </a:cubicBezTo>
                    <a:cubicBezTo>
                      <a:pt x="74094" y="134388"/>
                      <a:pt x="73541" y="134388"/>
                      <a:pt x="72919" y="134388"/>
                    </a:cubicBezTo>
                    <a:cubicBezTo>
                      <a:pt x="33425" y="134388"/>
                      <a:pt x="918" y="166065"/>
                      <a:pt x="19" y="205974"/>
                    </a:cubicBezTo>
                    <a:cubicBezTo>
                      <a:pt x="-950" y="246435"/>
                      <a:pt x="35915" y="283439"/>
                      <a:pt x="76169" y="284545"/>
                    </a:cubicBezTo>
                    <a:cubicBezTo>
                      <a:pt x="77207" y="284545"/>
                      <a:pt x="80112" y="284545"/>
                      <a:pt x="84746" y="284545"/>
                    </a:cubicBezTo>
                    <a:cubicBezTo>
                      <a:pt x="133162" y="284545"/>
                      <a:pt x="363620" y="283577"/>
                      <a:pt x="411551" y="283577"/>
                    </a:cubicBezTo>
                    <a:cubicBezTo>
                      <a:pt x="416116" y="283577"/>
                      <a:pt x="419021" y="283577"/>
                      <a:pt x="419989" y="283577"/>
                    </a:cubicBezTo>
                    <a:cubicBezTo>
                      <a:pt x="420543" y="283577"/>
                      <a:pt x="421165" y="283577"/>
                      <a:pt x="421718" y="283577"/>
                    </a:cubicBezTo>
                    <a:cubicBezTo>
                      <a:pt x="462664" y="283577"/>
                      <a:pt x="496624" y="244983"/>
                      <a:pt x="497662" y="196913"/>
                    </a:cubicBezTo>
                    <a:cubicBezTo>
                      <a:pt x="498837" y="149604"/>
                      <a:pt x="468266" y="110526"/>
                      <a:pt x="428704" y="106722"/>
                    </a:cubicBezTo>
                    <a:close/>
                    <a:moveTo>
                      <a:pt x="421649" y="266217"/>
                    </a:moveTo>
                    <a:lnTo>
                      <a:pt x="420266" y="266217"/>
                    </a:lnTo>
                    <a:cubicBezTo>
                      <a:pt x="419298" y="266217"/>
                      <a:pt x="416254" y="266217"/>
                      <a:pt x="411482" y="266217"/>
                    </a:cubicBezTo>
                    <a:cubicBezTo>
                      <a:pt x="387551" y="266217"/>
                      <a:pt x="316933" y="266493"/>
                      <a:pt x="248736" y="266701"/>
                    </a:cubicBezTo>
                    <a:cubicBezTo>
                      <a:pt x="179986" y="266977"/>
                      <a:pt x="108954" y="267185"/>
                      <a:pt x="84677" y="267185"/>
                    </a:cubicBezTo>
                    <a:cubicBezTo>
                      <a:pt x="80250" y="267185"/>
                      <a:pt x="77414" y="267185"/>
                      <a:pt x="76584" y="267185"/>
                    </a:cubicBezTo>
                    <a:cubicBezTo>
                      <a:pt x="45322" y="266355"/>
                      <a:pt x="16480" y="236752"/>
                      <a:pt x="17241" y="206320"/>
                    </a:cubicBezTo>
                    <a:cubicBezTo>
                      <a:pt x="17932" y="176164"/>
                      <a:pt x="42901" y="151679"/>
                      <a:pt x="72850" y="151679"/>
                    </a:cubicBezTo>
                    <a:lnTo>
                      <a:pt x="74302" y="151679"/>
                    </a:lnTo>
                    <a:cubicBezTo>
                      <a:pt x="79144" y="151817"/>
                      <a:pt x="83708" y="152440"/>
                      <a:pt x="87997" y="153616"/>
                    </a:cubicBezTo>
                    <a:lnTo>
                      <a:pt x="105703" y="158526"/>
                    </a:lnTo>
                    <a:lnTo>
                      <a:pt x="109576" y="140613"/>
                    </a:lnTo>
                    <a:cubicBezTo>
                      <a:pt x="116977" y="106168"/>
                      <a:pt x="147548" y="81131"/>
                      <a:pt x="182269" y="81131"/>
                    </a:cubicBezTo>
                    <a:cubicBezTo>
                      <a:pt x="182891" y="81131"/>
                      <a:pt x="183514" y="81131"/>
                      <a:pt x="184067" y="81131"/>
                    </a:cubicBezTo>
                    <a:cubicBezTo>
                      <a:pt x="194857" y="81407"/>
                      <a:pt x="204955" y="83828"/>
                      <a:pt x="214154" y="88324"/>
                    </a:cubicBezTo>
                    <a:lnTo>
                      <a:pt x="231030" y="96485"/>
                    </a:lnTo>
                    <a:lnTo>
                      <a:pt x="237808" y="78987"/>
                    </a:lnTo>
                    <a:cubicBezTo>
                      <a:pt x="252333" y="41568"/>
                      <a:pt x="285048" y="17360"/>
                      <a:pt x="321221" y="17360"/>
                    </a:cubicBezTo>
                    <a:cubicBezTo>
                      <a:pt x="321982" y="17360"/>
                      <a:pt x="322674" y="17360"/>
                      <a:pt x="323435" y="17360"/>
                    </a:cubicBezTo>
                    <a:cubicBezTo>
                      <a:pt x="368945" y="18467"/>
                      <a:pt x="406779" y="57545"/>
                      <a:pt x="411344" y="108243"/>
                    </a:cubicBezTo>
                    <a:lnTo>
                      <a:pt x="412658" y="122491"/>
                    </a:lnTo>
                    <a:lnTo>
                      <a:pt x="426906" y="123875"/>
                    </a:lnTo>
                    <a:cubicBezTo>
                      <a:pt x="457753" y="126849"/>
                      <a:pt x="481200" y="158665"/>
                      <a:pt x="480232" y="196429"/>
                    </a:cubicBezTo>
                    <a:cubicBezTo>
                      <a:pt x="479402" y="234885"/>
                      <a:pt x="453050" y="266217"/>
                      <a:pt x="421580" y="2662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2" name="Google Shape;1852;p5"/>
              <p:cNvSpPr/>
              <p:nvPr/>
            </p:nvSpPr>
            <p:spPr>
              <a:xfrm>
                <a:off x="2257934" y="5625959"/>
                <a:ext cx="233086" cy="231080"/>
              </a:xfrm>
              <a:custGeom>
                <a:avLst/>
                <a:gdLst/>
                <a:ahLst/>
                <a:cxnLst/>
                <a:rect l="l" t="t" r="r" b="b"/>
                <a:pathLst>
                  <a:path w="233086" h="231080" extrusionOk="0">
                    <a:moveTo>
                      <a:pt x="179760" y="14041"/>
                    </a:moveTo>
                    <a:lnTo>
                      <a:pt x="194285" y="28704"/>
                    </a:lnTo>
                    <a:lnTo>
                      <a:pt x="0" y="221259"/>
                    </a:lnTo>
                    <a:lnTo>
                      <a:pt x="9683" y="231081"/>
                    </a:lnTo>
                    <a:lnTo>
                      <a:pt x="204037" y="38525"/>
                    </a:lnTo>
                    <a:lnTo>
                      <a:pt x="218562" y="53257"/>
                    </a:lnTo>
                    <a:lnTo>
                      <a:pt x="233086" y="0"/>
                    </a:lnTo>
                    <a:lnTo>
                      <a:pt x="179760" y="1404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3" name="Google Shape;1853;p5"/>
              <p:cNvSpPr/>
              <p:nvPr/>
            </p:nvSpPr>
            <p:spPr>
              <a:xfrm>
                <a:off x="2115177" y="5616069"/>
                <a:ext cx="203068" cy="201339"/>
              </a:xfrm>
              <a:custGeom>
                <a:avLst/>
                <a:gdLst/>
                <a:ahLst/>
                <a:cxnLst/>
                <a:rect l="l" t="t" r="r" b="b"/>
                <a:pathLst>
                  <a:path w="203068" h="201339" extrusionOk="0">
                    <a:moveTo>
                      <a:pt x="9752" y="201340"/>
                    </a:moveTo>
                    <a:lnTo>
                      <a:pt x="174019" y="38525"/>
                    </a:lnTo>
                    <a:lnTo>
                      <a:pt x="188544" y="53257"/>
                    </a:lnTo>
                    <a:lnTo>
                      <a:pt x="203069" y="0"/>
                    </a:lnTo>
                    <a:lnTo>
                      <a:pt x="149742" y="14041"/>
                    </a:lnTo>
                    <a:lnTo>
                      <a:pt x="164267" y="28704"/>
                    </a:lnTo>
                    <a:lnTo>
                      <a:pt x="0" y="191518"/>
                    </a:lnTo>
                    <a:lnTo>
                      <a:pt x="9752" y="20134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1854" name="Google Shape;1854;p5"/>
          <p:cNvGrpSpPr/>
          <p:nvPr/>
        </p:nvGrpSpPr>
        <p:grpSpPr>
          <a:xfrm>
            <a:off x="579815" y="1618697"/>
            <a:ext cx="912101" cy="912097"/>
            <a:chOff x="579815" y="1618697"/>
            <a:chExt cx="912101" cy="912097"/>
          </a:xfrm>
        </p:grpSpPr>
        <p:sp>
          <p:nvSpPr>
            <p:cNvPr id="1855" name="Google Shape;1855;p5"/>
            <p:cNvSpPr/>
            <p:nvPr/>
          </p:nvSpPr>
          <p:spPr>
            <a:xfrm>
              <a:off x="579815" y="1618697"/>
              <a:ext cx="912101" cy="912097"/>
            </a:xfrm>
            <a:prstGeom prst="ellipse">
              <a:avLst/>
            </a:prstGeom>
            <a:gradFill>
              <a:gsLst>
                <a:gs pos="0">
                  <a:schemeClr val="accent5"/>
                </a:gs>
                <a:gs pos="29000">
                  <a:schemeClr val="accent5"/>
                </a:gs>
                <a:gs pos="100000">
                  <a:schemeClr val="accent2"/>
                </a:gs>
              </a:gsLst>
              <a:lin ang="81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grpSp>
          <p:nvGrpSpPr>
            <p:cNvPr id="1856" name="Google Shape;1856;p5"/>
            <p:cNvGrpSpPr/>
            <p:nvPr/>
          </p:nvGrpSpPr>
          <p:grpSpPr>
            <a:xfrm>
              <a:off x="776872" y="1817781"/>
              <a:ext cx="517986" cy="513930"/>
              <a:chOff x="9761462" y="4416832"/>
              <a:chExt cx="607146" cy="602392"/>
            </a:xfrm>
          </p:grpSpPr>
          <p:sp>
            <p:nvSpPr>
              <p:cNvPr id="1857" name="Google Shape;1857;p5"/>
              <p:cNvSpPr/>
              <p:nvPr/>
            </p:nvSpPr>
            <p:spPr>
              <a:xfrm>
                <a:off x="10208505" y="4860134"/>
                <a:ext cx="90315" cy="91771"/>
              </a:xfrm>
              <a:custGeom>
                <a:avLst/>
                <a:gdLst/>
                <a:ahLst/>
                <a:cxnLst/>
                <a:rect l="l" t="t" r="r" b="b"/>
                <a:pathLst>
                  <a:path w="90315" h="91771" extrusionOk="0">
                    <a:moveTo>
                      <a:pt x="90315" y="45886"/>
                    </a:moveTo>
                    <a:cubicBezTo>
                      <a:pt x="90315" y="71227"/>
                      <a:pt x="70098" y="91771"/>
                      <a:pt x="45158" y="91771"/>
                    </a:cubicBezTo>
                    <a:cubicBezTo>
                      <a:pt x="20218" y="91771"/>
                      <a:pt x="0" y="71227"/>
                      <a:pt x="0" y="45886"/>
                    </a:cubicBezTo>
                    <a:cubicBezTo>
                      <a:pt x="0" y="20544"/>
                      <a:pt x="20218" y="0"/>
                      <a:pt x="45158" y="0"/>
                    </a:cubicBezTo>
                    <a:cubicBezTo>
                      <a:pt x="70098" y="0"/>
                      <a:pt x="90315" y="20544"/>
                      <a:pt x="90315" y="458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8" name="Google Shape;1858;p5"/>
              <p:cNvSpPr/>
              <p:nvPr/>
            </p:nvSpPr>
            <p:spPr>
              <a:xfrm>
                <a:off x="9761462" y="4416832"/>
                <a:ext cx="607146" cy="602392"/>
              </a:xfrm>
              <a:custGeom>
                <a:avLst/>
                <a:gdLst/>
                <a:ahLst/>
                <a:cxnLst/>
                <a:rect l="l" t="t" r="r" b="b"/>
                <a:pathLst>
                  <a:path w="607146" h="602392" extrusionOk="0">
                    <a:moveTo>
                      <a:pt x="492643" y="586536"/>
                    </a:moveTo>
                    <a:cubicBezTo>
                      <a:pt x="438998" y="587391"/>
                      <a:pt x="394819" y="544502"/>
                      <a:pt x="393967" y="490744"/>
                    </a:cubicBezTo>
                    <a:cubicBezTo>
                      <a:pt x="393116" y="436987"/>
                      <a:pt x="435914" y="392717"/>
                      <a:pt x="489559" y="391864"/>
                    </a:cubicBezTo>
                    <a:cubicBezTo>
                      <a:pt x="536467" y="391117"/>
                      <a:pt x="577203" y="424069"/>
                      <a:pt x="586374" y="470174"/>
                    </a:cubicBezTo>
                    <a:lnTo>
                      <a:pt x="602312" y="470174"/>
                    </a:lnTo>
                    <a:cubicBezTo>
                      <a:pt x="594033" y="419208"/>
                      <a:pt x="552104" y="380489"/>
                      <a:pt x="500739" y="376375"/>
                    </a:cubicBezTo>
                    <a:lnTo>
                      <a:pt x="500739" y="226233"/>
                    </a:lnTo>
                    <a:cubicBezTo>
                      <a:pt x="562954" y="222677"/>
                      <a:pt x="610508" y="169256"/>
                      <a:pt x="606960" y="106912"/>
                    </a:cubicBezTo>
                    <a:cubicBezTo>
                      <a:pt x="603412" y="44569"/>
                      <a:pt x="550104" y="-3088"/>
                      <a:pt x="487891" y="468"/>
                    </a:cubicBezTo>
                    <a:cubicBezTo>
                      <a:pt x="431580" y="3685"/>
                      <a:pt x="386291" y="48078"/>
                      <a:pt x="381836" y="104420"/>
                    </a:cubicBezTo>
                    <a:lnTo>
                      <a:pt x="158451" y="104420"/>
                    </a:lnTo>
                    <a:cubicBezTo>
                      <a:pt x="153487" y="79571"/>
                      <a:pt x="129361" y="63460"/>
                      <a:pt x="104564" y="68434"/>
                    </a:cubicBezTo>
                    <a:cubicBezTo>
                      <a:pt x="79767" y="73408"/>
                      <a:pt x="63689" y="97585"/>
                      <a:pt x="68653" y="122434"/>
                    </a:cubicBezTo>
                    <a:cubicBezTo>
                      <a:pt x="73616" y="147283"/>
                      <a:pt x="97743" y="163394"/>
                      <a:pt x="122540" y="158420"/>
                    </a:cubicBezTo>
                    <a:cubicBezTo>
                      <a:pt x="141447" y="154627"/>
                      <a:pt x="155957" y="139371"/>
                      <a:pt x="158831" y="120265"/>
                    </a:cubicBezTo>
                    <a:lnTo>
                      <a:pt x="381520" y="120265"/>
                    </a:lnTo>
                    <a:cubicBezTo>
                      <a:pt x="384524" y="176534"/>
                      <a:pt x="428674" y="221861"/>
                      <a:pt x="484737" y="226233"/>
                    </a:cubicBezTo>
                    <a:lnTo>
                      <a:pt x="484737" y="376438"/>
                    </a:lnTo>
                    <a:cubicBezTo>
                      <a:pt x="428810" y="380765"/>
                      <a:pt x="384713" y="425903"/>
                      <a:pt x="381583" y="482026"/>
                    </a:cubicBezTo>
                    <a:lnTo>
                      <a:pt x="225429" y="482026"/>
                    </a:lnTo>
                    <a:cubicBezTo>
                      <a:pt x="222299" y="425903"/>
                      <a:pt x="178202" y="380765"/>
                      <a:pt x="122275" y="376438"/>
                    </a:cubicBezTo>
                    <a:lnTo>
                      <a:pt x="122275" y="226296"/>
                    </a:lnTo>
                    <a:cubicBezTo>
                      <a:pt x="171430" y="222469"/>
                      <a:pt x="212308" y="186884"/>
                      <a:pt x="222962" y="138645"/>
                    </a:cubicBezTo>
                    <a:lnTo>
                      <a:pt x="206645" y="138645"/>
                    </a:lnTo>
                    <a:cubicBezTo>
                      <a:pt x="192044" y="189615"/>
                      <a:pt x="138974" y="219074"/>
                      <a:pt x="88109" y="204443"/>
                    </a:cubicBezTo>
                    <a:cubicBezTo>
                      <a:pt x="37245" y="189811"/>
                      <a:pt x="7847" y="136631"/>
                      <a:pt x="22448" y="85660"/>
                    </a:cubicBezTo>
                    <a:cubicBezTo>
                      <a:pt x="34221" y="44560"/>
                      <a:pt x="71698" y="16214"/>
                      <a:pt x="114369" y="16135"/>
                    </a:cubicBezTo>
                    <a:cubicBezTo>
                      <a:pt x="157866" y="16434"/>
                      <a:pt x="195728" y="46001"/>
                      <a:pt x="206645" y="88196"/>
                    </a:cubicBezTo>
                    <a:lnTo>
                      <a:pt x="222899" y="88196"/>
                    </a:lnTo>
                    <a:cubicBezTo>
                      <a:pt x="210088" y="28015"/>
                      <a:pt x="151017" y="-10363"/>
                      <a:pt x="90962" y="2475"/>
                    </a:cubicBezTo>
                    <a:cubicBezTo>
                      <a:pt x="38878" y="13609"/>
                      <a:pt x="1986" y="60189"/>
                      <a:pt x="2993" y="113547"/>
                    </a:cubicBezTo>
                    <a:cubicBezTo>
                      <a:pt x="2682" y="172477"/>
                      <a:pt x="47832" y="221649"/>
                      <a:pt x="106463" y="226233"/>
                    </a:cubicBezTo>
                    <a:lnTo>
                      <a:pt x="106463" y="376438"/>
                    </a:lnTo>
                    <a:cubicBezTo>
                      <a:pt x="44248" y="379964"/>
                      <a:pt x="-3335" y="433363"/>
                      <a:pt x="183" y="495708"/>
                    </a:cubicBezTo>
                    <a:cubicBezTo>
                      <a:pt x="3702" y="558053"/>
                      <a:pt x="56989" y="605733"/>
                      <a:pt x="119205" y="602209"/>
                    </a:cubicBezTo>
                    <a:cubicBezTo>
                      <a:pt x="175803" y="599002"/>
                      <a:pt x="221239" y="554210"/>
                      <a:pt x="225366" y="497553"/>
                    </a:cubicBezTo>
                    <a:lnTo>
                      <a:pt x="381646" y="497553"/>
                    </a:lnTo>
                    <a:cubicBezTo>
                      <a:pt x="385360" y="558941"/>
                      <a:pt x="438031" y="605688"/>
                      <a:pt x="499290" y="601968"/>
                    </a:cubicBezTo>
                    <a:cubicBezTo>
                      <a:pt x="551933" y="598768"/>
                      <a:pt x="595083" y="558928"/>
                      <a:pt x="602565" y="506616"/>
                    </a:cubicBezTo>
                    <a:lnTo>
                      <a:pt x="586563" y="506616"/>
                    </a:lnTo>
                    <a:cubicBezTo>
                      <a:pt x="578670" y="552515"/>
                      <a:pt x="539120" y="586168"/>
                      <a:pt x="492643" y="586536"/>
                    </a:cubicBezTo>
                    <a:close/>
                    <a:moveTo>
                      <a:pt x="397015" y="113484"/>
                    </a:moveTo>
                    <a:cubicBezTo>
                      <a:pt x="397818" y="60566"/>
                      <a:pt x="441279" y="18320"/>
                      <a:pt x="494086" y="19125"/>
                    </a:cubicBezTo>
                    <a:cubicBezTo>
                      <a:pt x="546894" y="19930"/>
                      <a:pt x="589055" y="63481"/>
                      <a:pt x="588252" y="116399"/>
                    </a:cubicBezTo>
                    <a:cubicBezTo>
                      <a:pt x="587455" y="168744"/>
                      <a:pt x="544886" y="210762"/>
                      <a:pt x="492643" y="210768"/>
                    </a:cubicBezTo>
                    <a:cubicBezTo>
                      <a:pt x="439464" y="210280"/>
                      <a:pt x="396700" y="166775"/>
                      <a:pt x="397015" y="113484"/>
                    </a:cubicBezTo>
                    <a:close/>
                    <a:moveTo>
                      <a:pt x="114369" y="586536"/>
                    </a:moveTo>
                    <a:cubicBezTo>
                      <a:pt x="60725" y="587480"/>
                      <a:pt x="16473" y="544670"/>
                      <a:pt x="15530" y="490914"/>
                    </a:cubicBezTo>
                    <a:cubicBezTo>
                      <a:pt x="14587" y="437158"/>
                      <a:pt x="57310" y="392814"/>
                      <a:pt x="110954" y="391869"/>
                    </a:cubicBezTo>
                    <a:cubicBezTo>
                      <a:pt x="164598" y="390924"/>
                      <a:pt x="208849" y="433735"/>
                      <a:pt x="209792" y="487491"/>
                    </a:cubicBezTo>
                    <a:cubicBezTo>
                      <a:pt x="209802" y="488057"/>
                      <a:pt x="209807" y="488622"/>
                      <a:pt x="209807" y="489187"/>
                    </a:cubicBezTo>
                    <a:cubicBezTo>
                      <a:pt x="210193" y="542444"/>
                      <a:pt x="167513" y="585978"/>
                      <a:pt x="114369" y="58653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1859" name="Google Shape;1859;p5"/>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3"/>
              </a:gs>
              <a:gs pos="49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0" name="Google Shape;1860;p5"/>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2024 Broadcom.  </a:t>
            </a:r>
            <a:endParaRPr/>
          </a:p>
        </p:txBody>
      </p:sp>
      <p:sp>
        <p:nvSpPr>
          <p:cNvPr id="1861" name="Google Shape;1861;p5"/>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All Rights Reserved. The term “Broadcom” refers to Broadcom Inc. and/or its subsidiaries.</a:t>
            </a:r>
            <a:endParaRPr/>
          </a:p>
        </p:txBody>
      </p:sp>
      <p:grpSp>
        <p:nvGrpSpPr>
          <p:cNvPr id="1862" name="Google Shape;1862;p5"/>
          <p:cNvGrpSpPr/>
          <p:nvPr/>
        </p:nvGrpSpPr>
        <p:grpSpPr>
          <a:xfrm>
            <a:off x="265625" y="6323271"/>
            <a:ext cx="1249222" cy="369649"/>
            <a:chOff x="265625" y="6323271"/>
            <a:chExt cx="1249222" cy="369649"/>
          </a:xfrm>
        </p:grpSpPr>
        <p:grpSp>
          <p:nvGrpSpPr>
            <p:cNvPr id="1863" name="Google Shape;1863;p5"/>
            <p:cNvGrpSpPr/>
            <p:nvPr/>
          </p:nvGrpSpPr>
          <p:grpSpPr>
            <a:xfrm>
              <a:off x="745455" y="6594444"/>
              <a:ext cx="722663" cy="98476"/>
              <a:chOff x="745455" y="6594444"/>
              <a:chExt cx="722663" cy="98476"/>
            </a:xfrm>
          </p:grpSpPr>
          <p:sp>
            <p:nvSpPr>
              <p:cNvPr id="1864" name="Google Shape;1864;p5"/>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5" name="Google Shape;1865;p5"/>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6" name="Google Shape;1866;p5"/>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7" name="Google Shape;1867;p5"/>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8" name="Google Shape;1868;p5"/>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9" name="Google Shape;1869;p5"/>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0" name="Google Shape;1870;p5"/>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1" name="Google Shape;1871;p5"/>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2" name="Google Shape;1872;p5"/>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3" name="Google Shape;1873;p5"/>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74" name="Google Shape;1874;p5"/>
            <p:cNvGrpSpPr/>
            <p:nvPr/>
          </p:nvGrpSpPr>
          <p:grpSpPr>
            <a:xfrm>
              <a:off x="265625" y="6323271"/>
              <a:ext cx="1249222" cy="190348"/>
              <a:chOff x="265625" y="6323271"/>
              <a:chExt cx="1249222" cy="190348"/>
            </a:xfrm>
          </p:grpSpPr>
          <p:sp>
            <p:nvSpPr>
              <p:cNvPr id="1875" name="Google Shape;1875;p5"/>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6" name="Google Shape;1876;p5"/>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7" name="Google Shape;1877;p5"/>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8" name="Google Shape;1878;p5"/>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9" name="Google Shape;1879;p5"/>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80" name="Google Shape;1880;p5"/>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81" name="Google Shape;1881;p5"/>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1882" name="Google Shape;1882;p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5</a:t>
            </a:fld>
            <a:endParaRPr sz="800">
              <a:solidFill>
                <a:schemeClr val="dk2"/>
              </a:solidFill>
              <a:latin typeface="Arial"/>
              <a:ea typeface="Arial"/>
              <a:cs typeface="Arial"/>
              <a:sym typeface="Arial"/>
            </a:endParaRPr>
          </a:p>
        </p:txBody>
      </p:sp>
      <p:grpSp>
        <p:nvGrpSpPr>
          <p:cNvPr id="6" name="Google Shape;1856;p5">
            <a:extLst>
              <a:ext uri="{FF2B5EF4-FFF2-40B4-BE49-F238E27FC236}">
                <a16:creationId xmlns:a16="http://schemas.microsoft.com/office/drawing/2014/main" id="{A62C6669-A1A7-C611-8F48-B7B07FAF69C2}"/>
              </a:ext>
            </a:extLst>
          </p:cNvPr>
          <p:cNvGrpSpPr/>
          <p:nvPr/>
        </p:nvGrpSpPr>
        <p:grpSpPr>
          <a:xfrm>
            <a:off x="-164384" y="678736"/>
            <a:ext cx="517986" cy="513930"/>
            <a:chOff x="9761462" y="4416832"/>
            <a:chExt cx="607146" cy="602392"/>
          </a:xfrm>
        </p:grpSpPr>
        <p:sp>
          <p:nvSpPr>
            <p:cNvPr id="7" name="Google Shape;1857;p5">
              <a:extLst>
                <a:ext uri="{FF2B5EF4-FFF2-40B4-BE49-F238E27FC236}">
                  <a16:creationId xmlns:a16="http://schemas.microsoft.com/office/drawing/2014/main" id="{C51CA19B-62D9-F963-E3C7-716501C47A1E}"/>
                </a:ext>
              </a:extLst>
            </p:cNvPr>
            <p:cNvSpPr/>
            <p:nvPr/>
          </p:nvSpPr>
          <p:spPr>
            <a:xfrm>
              <a:off x="10208505" y="4860134"/>
              <a:ext cx="90315" cy="91771"/>
            </a:xfrm>
            <a:custGeom>
              <a:avLst/>
              <a:gdLst/>
              <a:ahLst/>
              <a:cxnLst/>
              <a:rect l="l" t="t" r="r" b="b"/>
              <a:pathLst>
                <a:path w="90315" h="91771" extrusionOk="0">
                  <a:moveTo>
                    <a:pt x="90315" y="45886"/>
                  </a:moveTo>
                  <a:cubicBezTo>
                    <a:pt x="90315" y="71227"/>
                    <a:pt x="70098" y="91771"/>
                    <a:pt x="45158" y="91771"/>
                  </a:cubicBezTo>
                  <a:cubicBezTo>
                    <a:pt x="20218" y="91771"/>
                    <a:pt x="0" y="71227"/>
                    <a:pt x="0" y="45886"/>
                  </a:cubicBezTo>
                  <a:cubicBezTo>
                    <a:pt x="0" y="20544"/>
                    <a:pt x="20218" y="0"/>
                    <a:pt x="45158" y="0"/>
                  </a:cubicBezTo>
                  <a:cubicBezTo>
                    <a:pt x="70098" y="0"/>
                    <a:pt x="90315" y="20544"/>
                    <a:pt x="90315" y="458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 name="Google Shape;1858;p5">
              <a:extLst>
                <a:ext uri="{FF2B5EF4-FFF2-40B4-BE49-F238E27FC236}">
                  <a16:creationId xmlns:a16="http://schemas.microsoft.com/office/drawing/2014/main" id="{B512FD93-1587-5508-5581-9A7A22BE4150}"/>
                </a:ext>
              </a:extLst>
            </p:cNvPr>
            <p:cNvSpPr/>
            <p:nvPr/>
          </p:nvSpPr>
          <p:spPr>
            <a:xfrm>
              <a:off x="9761462" y="4416832"/>
              <a:ext cx="607146" cy="602392"/>
            </a:xfrm>
            <a:custGeom>
              <a:avLst/>
              <a:gdLst/>
              <a:ahLst/>
              <a:cxnLst/>
              <a:rect l="l" t="t" r="r" b="b"/>
              <a:pathLst>
                <a:path w="607146" h="602392" extrusionOk="0">
                  <a:moveTo>
                    <a:pt x="492643" y="586536"/>
                  </a:moveTo>
                  <a:cubicBezTo>
                    <a:pt x="438998" y="587391"/>
                    <a:pt x="394819" y="544502"/>
                    <a:pt x="393967" y="490744"/>
                  </a:cubicBezTo>
                  <a:cubicBezTo>
                    <a:pt x="393116" y="436987"/>
                    <a:pt x="435914" y="392717"/>
                    <a:pt x="489559" y="391864"/>
                  </a:cubicBezTo>
                  <a:cubicBezTo>
                    <a:pt x="536467" y="391117"/>
                    <a:pt x="577203" y="424069"/>
                    <a:pt x="586374" y="470174"/>
                  </a:cubicBezTo>
                  <a:lnTo>
                    <a:pt x="602312" y="470174"/>
                  </a:lnTo>
                  <a:cubicBezTo>
                    <a:pt x="594033" y="419208"/>
                    <a:pt x="552104" y="380489"/>
                    <a:pt x="500739" y="376375"/>
                  </a:cubicBezTo>
                  <a:lnTo>
                    <a:pt x="500739" y="226233"/>
                  </a:lnTo>
                  <a:cubicBezTo>
                    <a:pt x="562954" y="222677"/>
                    <a:pt x="610508" y="169256"/>
                    <a:pt x="606960" y="106912"/>
                  </a:cubicBezTo>
                  <a:cubicBezTo>
                    <a:pt x="603412" y="44569"/>
                    <a:pt x="550104" y="-3088"/>
                    <a:pt x="487891" y="468"/>
                  </a:cubicBezTo>
                  <a:cubicBezTo>
                    <a:pt x="431580" y="3685"/>
                    <a:pt x="386291" y="48078"/>
                    <a:pt x="381836" y="104420"/>
                  </a:cubicBezTo>
                  <a:lnTo>
                    <a:pt x="158451" y="104420"/>
                  </a:lnTo>
                  <a:cubicBezTo>
                    <a:pt x="153487" y="79571"/>
                    <a:pt x="129361" y="63460"/>
                    <a:pt x="104564" y="68434"/>
                  </a:cubicBezTo>
                  <a:cubicBezTo>
                    <a:pt x="79767" y="73408"/>
                    <a:pt x="63689" y="97585"/>
                    <a:pt x="68653" y="122434"/>
                  </a:cubicBezTo>
                  <a:cubicBezTo>
                    <a:pt x="73616" y="147283"/>
                    <a:pt x="97743" y="163394"/>
                    <a:pt x="122540" y="158420"/>
                  </a:cubicBezTo>
                  <a:cubicBezTo>
                    <a:pt x="141447" y="154627"/>
                    <a:pt x="155957" y="139371"/>
                    <a:pt x="158831" y="120265"/>
                  </a:cubicBezTo>
                  <a:lnTo>
                    <a:pt x="381520" y="120265"/>
                  </a:lnTo>
                  <a:cubicBezTo>
                    <a:pt x="384524" y="176534"/>
                    <a:pt x="428674" y="221861"/>
                    <a:pt x="484737" y="226233"/>
                  </a:cubicBezTo>
                  <a:lnTo>
                    <a:pt x="484737" y="376438"/>
                  </a:lnTo>
                  <a:cubicBezTo>
                    <a:pt x="428810" y="380765"/>
                    <a:pt x="384713" y="425903"/>
                    <a:pt x="381583" y="482026"/>
                  </a:cubicBezTo>
                  <a:lnTo>
                    <a:pt x="225429" y="482026"/>
                  </a:lnTo>
                  <a:cubicBezTo>
                    <a:pt x="222299" y="425903"/>
                    <a:pt x="178202" y="380765"/>
                    <a:pt x="122275" y="376438"/>
                  </a:cubicBezTo>
                  <a:lnTo>
                    <a:pt x="122275" y="226296"/>
                  </a:lnTo>
                  <a:cubicBezTo>
                    <a:pt x="171430" y="222469"/>
                    <a:pt x="212308" y="186884"/>
                    <a:pt x="222962" y="138645"/>
                  </a:cubicBezTo>
                  <a:lnTo>
                    <a:pt x="206645" y="138645"/>
                  </a:lnTo>
                  <a:cubicBezTo>
                    <a:pt x="192044" y="189615"/>
                    <a:pt x="138974" y="219074"/>
                    <a:pt x="88109" y="204443"/>
                  </a:cubicBezTo>
                  <a:cubicBezTo>
                    <a:pt x="37245" y="189811"/>
                    <a:pt x="7847" y="136631"/>
                    <a:pt x="22448" y="85660"/>
                  </a:cubicBezTo>
                  <a:cubicBezTo>
                    <a:pt x="34221" y="44560"/>
                    <a:pt x="71698" y="16214"/>
                    <a:pt x="114369" y="16135"/>
                  </a:cubicBezTo>
                  <a:cubicBezTo>
                    <a:pt x="157866" y="16434"/>
                    <a:pt x="195728" y="46001"/>
                    <a:pt x="206645" y="88196"/>
                  </a:cubicBezTo>
                  <a:lnTo>
                    <a:pt x="222899" y="88196"/>
                  </a:lnTo>
                  <a:cubicBezTo>
                    <a:pt x="210088" y="28015"/>
                    <a:pt x="151017" y="-10363"/>
                    <a:pt x="90962" y="2475"/>
                  </a:cubicBezTo>
                  <a:cubicBezTo>
                    <a:pt x="38878" y="13609"/>
                    <a:pt x="1986" y="60189"/>
                    <a:pt x="2993" y="113547"/>
                  </a:cubicBezTo>
                  <a:cubicBezTo>
                    <a:pt x="2682" y="172477"/>
                    <a:pt x="47832" y="221649"/>
                    <a:pt x="106463" y="226233"/>
                  </a:cubicBezTo>
                  <a:lnTo>
                    <a:pt x="106463" y="376438"/>
                  </a:lnTo>
                  <a:cubicBezTo>
                    <a:pt x="44248" y="379964"/>
                    <a:pt x="-3335" y="433363"/>
                    <a:pt x="183" y="495708"/>
                  </a:cubicBezTo>
                  <a:cubicBezTo>
                    <a:pt x="3702" y="558053"/>
                    <a:pt x="56989" y="605733"/>
                    <a:pt x="119205" y="602209"/>
                  </a:cubicBezTo>
                  <a:cubicBezTo>
                    <a:pt x="175803" y="599002"/>
                    <a:pt x="221239" y="554210"/>
                    <a:pt x="225366" y="497553"/>
                  </a:cubicBezTo>
                  <a:lnTo>
                    <a:pt x="381646" y="497553"/>
                  </a:lnTo>
                  <a:cubicBezTo>
                    <a:pt x="385360" y="558941"/>
                    <a:pt x="438031" y="605688"/>
                    <a:pt x="499290" y="601968"/>
                  </a:cubicBezTo>
                  <a:cubicBezTo>
                    <a:pt x="551933" y="598768"/>
                    <a:pt x="595083" y="558928"/>
                    <a:pt x="602565" y="506616"/>
                  </a:cubicBezTo>
                  <a:lnTo>
                    <a:pt x="586563" y="506616"/>
                  </a:lnTo>
                  <a:cubicBezTo>
                    <a:pt x="578670" y="552515"/>
                    <a:pt x="539120" y="586168"/>
                    <a:pt x="492643" y="586536"/>
                  </a:cubicBezTo>
                  <a:close/>
                  <a:moveTo>
                    <a:pt x="397015" y="113484"/>
                  </a:moveTo>
                  <a:cubicBezTo>
                    <a:pt x="397818" y="60566"/>
                    <a:pt x="441279" y="18320"/>
                    <a:pt x="494086" y="19125"/>
                  </a:cubicBezTo>
                  <a:cubicBezTo>
                    <a:pt x="546894" y="19930"/>
                    <a:pt x="589055" y="63481"/>
                    <a:pt x="588252" y="116399"/>
                  </a:cubicBezTo>
                  <a:cubicBezTo>
                    <a:pt x="587455" y="168744"/>
                    <a:pt x="544886" y="210762"/>
                    <a:pt x="492643" y="210768"/>
                  </a:cubicBezTo>
                  <a:cubicBezTo>
                    <a:pt x="439464" y="210280"/>
                    <a:pt x="396700" y="166775"/>
                    <a:pt x="397015" y="113484"/>
                  </a:cubicBezTo>
                  <a:close/>
                  <a:moveTo>
                    <a:pt x="114369" y="586536"/>
                  </a:moveTo>
                  <a:cubicBezTo>
                    <a:pt x="60725" y="587480"/>
                    <a:pt x="16473" y="544670"/>
                    <a:pt x="15530" y="490914"/>
                  </a:cubicBezTo>
                  <a:cubicBezTo>
                    <a:pt x="14587" y="437158"/>
                    <a:pt x="57310" y="392814"/>
                    <a:pt x="110954" y="391869"/>
                  </a:cubicBezTo>
                  <a:cubicBezTo>
                    <a:pt x="164598" y="390924"/>
                    <a:pt x="208849" y="433735"/>
                    <a:pt x="209792" y="487491"/>
                  </a:cubicBezTo>
                  <a:cubicBezTo>
                    <a:pt x="209802" y="488057"/>
                    <a:pt x="209807" y="488622"/>
                    <a:pt x="209807" y="489187"/>
                  </a:cubicBezTo>
                  <a:cubicBezTo>
                    <a:pt x="210193" y="542444"/>
                    <a:pt x="167513" y="585978"/>
                    <a:pt x="114369" y="58653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66"/>
                                        </p:tgtEl>
                                        <p:attrNameLst>
                                          <p:attrName>style.visibility</p:attrName>
                                        </p:attrNameLst>
                                      </p:cBhvr>
                                      <p:to>
                                        <p:strVal val="visible"/>
                                      </p:to>
                                    </p:set>
                                    <p:animEffect transition="in" filter="fade">
                                      <p:cBhvr>
                                        <p:cTn id="7" dur="250"/>
                                        <p:tgtEl>
                                          <p:spTgt spid="1766"/>
                                        </p:tgtEl>
                                      </p:cBhvr>
                                    </p:animEffect>
                                  </p:childTnLst>
                                </p:cTn>
                              </p:par>
                              <p:par>
                                <p:cTn id="8" presetID="10" presetClass="entr" presetSubtype="0" fill="hold" nodeType="withEffect">
                                  <p:stCondLst>
                                    <p:cond delay="250"/>
                                  </p:stCondLst>
                                  <p:childTnLst>
                                    <p:set>
                                      <p:cBhvr>
                                        <p:cTn id="9" dur="1" fill="hold">
                                          <p:stCondLst>
                                            <p:cond delay="0"/>
                                          </p:stCondLst>
                                        </p:cTn>
                                        <p:tgtEl>
                                          <p:spTgt spid="1768"/>
                                        </p:tgtEl>
                                        <p:attrNameLst>
                                          <p:attrName>style.visibility</p:attrName>
                                        </p:attrNameLst>
                                      </p:cBhvr>
                                      <p:to>
                                        <p:strVal val="visible"/>
                                      </p:to>
                                    </p:set>
                                    <p:animEffect transition="in" filter="fade">
                                      <p:cBhvr>
                                        <p:cTn id="10" dur="250"/>
                                        <p:tgtEl>
                                          <p:spTgt spid="1768"/>
                                        </p:tgtEl>
                                      </p:cBhvr>
                                    </p:animEffect>
                                  </p:childTnLst>
                                </p:cTn>
                              </p:par>
                            </p:childTnLst>
                          </p:cTn>
                        </p:par>
                        <p:par>
                          <p:cTn id="11" fill="hold">
                            <p:stCondLst>
                              <p:cond delay="250"/>
                            </p:stCondLst>
                            <p:childTnLst>
                              <p:par>
                                <p:cTn id="12" presetID="10" presetClass="entr" presetSubtype="0" fill="hold" nodeType="afterEffect">
                                  <p:stCondLst>
                                    <p:cond delay="500"/>
                                  </p:stCondLst>
                                  <p:childTnLst>
                                    <p:set>
                                      <p:cBhvr>
                                        <p:cTn id="13" dur="1" fill="hold">
                                          <p:stCondLst>
                                            <p:cond delay="0"/>
                                          </p:stCondLst>
                                        </p:cTn>
                                        <p:tgtEl>
                                          <p:spTgt spid="1817"/>
                                        </p:tgtEl>
                                        <p:attrNameLst>
                                          <p:attrName>style.visibility</p:attrName>
                                        </p:attrNameLst>
                                      </p:cBhvr>
                                      <p:to>
                                        <p:strVal val="visible"/>
                                      </p:to>
                                    </p:set>
                                    <p:animEffect transition="in" filter="fade">
                                      <p:cBhvr>
                                        <p:cTn id="14" dur="500"/>
                                        <p:tgtEl>
                                          <p:spTgt spid="1817"/>
                                        </p:tgtEl>
                                      </p:cBhvr>
                                    </p:animEffect>
                                  </p:childTnLst>
                                </p:cTn>
                              </p:par>
                              <p:par>
                                <p:cTn id="15" presetID="10" presetClass="entr" presetSubtype="0" fill="hold" nodeType="withEffect">
                                  <p:stCondLst>
                                    <p:cond delay="250"/>
                                  </p:stCondLst>
                                  <p:childTnLst>
                                    <p:set>
                                      <p:cBhvr>
                                        <p:cTn id="16" dur="1" fill="hold">
                                          <p:stCondLst>
                                            <p:cond delay="0"/>
                                          </p:stCondLst>
                                        </p:cTn>
                                        <p:tgtEl>
                                          <p:spTgt spid="1801"/>
                                        </p:tgtEl>
                                        <p:attrNameLst>
                                          <p:attrName>style.visibility</p:attrName>
                                        </p:attrNameLst>
                                      </p:cBhvr>
                                      <p:to>
                                        <p:strVal val="visible"/>
                                      </p:to>
                                    </p:set>
                                    <p:animEffect transition="in" filter="fade">
                                      <p:cBhvr>
                                        <p:cTn id="17" dur="500"/>
                                        <p:tgtEl>
                                          <p:spTgt spid="1801"/>
                                        </p:tgtEl>
                                      </p:cBhvr>
                                    </p:animEffect>
                                  </p:childTnLst>
                                </p:cTn>
                              </p:par>
                              <p:par>
                                <p:cTn id="18" presetID="10" presetClass="entr" presetSubtype="0" fill="hold" nodeType="withEffect">
                                  <p:stCondLst>
                                    <p:cond delay="0"/>
                                  </p:stCondLst>
                                  <p:childTnLst>
                                    <p:set>
                                      <p:cBhvr>
                                        <p:cTn id="19" dur="1" fill="hold">
                                          <p:stCondLst>
                                            <p:cond delay="0"/>
                                          </p:stCondLst>
                                        </p:cTn>
                                        <p:tgtEl>
                                          <p:spTgt spid="1767"/>
                                        </p:tgtEl>
                                        <p:attrNameLst>
                                          <p:attrName>style.visibility</p:attrName>
                                        </p:attrNameLst>
                                      </p:cBhvr>
                                      <p:to>
                                        <p:strVal val="visible"/>
                                      </p:to>
                                    </p:set>
                                    <p:animEffect transition="in" filter="fade">
                                      <p:cBhvr>
                                        <p:cTn id="20" dur="250"/>
                                        <p:tgtEl>
                                          <p:spTgt spid="1767"/>
                                        </p:tgtEl>
                                      </p:cBhvr>
                                    </p:animEffect>
                                  </p:childTnLst>
                                </p:cTn>
                              </p:par>
                              <p:par>
                                <p:cTn id="21" presetID="10" presetClass="entr" presetSubtype="0" fill="hold" nodeType="withEffect">
                                  <p:stCondLst>
                                    <p:cond delay="100"/>
                                  </p:stCondLst>
                                  <p:childTnLst>
                                    <p:set>
                                      <p:cBhvr>
                                        <p:cTn id="22" dur="1" fill="hold">
                                          <p:stCondLst>
                                            <p:cond delay="0"/>
                                          </p:stCondLst>
                                        </p:cTn>
                                        <p:tgtEl>
                                          <p:spTgt spid="1832"/>
                                        </p:tgtEl>
                                        <p:attrNameLst>
                                          <p:attrName>style.visibility</p:attrName>
                                        </p:attrNameLst>
                                      </p:cBhvr>
                                      <p:to>
                                        <p:strVal val="visible"/>
                                      </p:to>
                                    </p:set>
                                    <p:animEffect transition="in" filter="fade">
                                      <p:cBhvr>
                                        <p:cTn id="23" dur="250"/>
                                        <p:tgtEl>
                                          <p:spTgt spid="1832"/>
                                        </p:tgtEl>
                                      </p:cBhvr>
                                    </p:animEffect>
                                  </p:childTnLst>
                                </p:cTn>
                              </p:par>
                            </p:childTnLst>
                          </p:cTn>
                        </p:par>
                        <p:par>
                          <p:cTn id="24" fill="hold">
                            <p:stCondLst>
                              <p:cond delay="750"/>
                            </p:stCondLst>
                            <p:childTnLst>
                              <p:par>
                                <p:cTn id="25" presetID="10" presetClass="entr" presetSubtype="0" fill="hold" nodeType="afterEffect">
                                  <p:stCondLst>
                                    <p:cond delay="250"/>
                                  </p:stCondLst>
                                  <p:childTnLst>
                                    <p:set>
                                      <p:cBhvr>
                                        <p:cTn id="26" dur="1" fill="hold">
                                          <p:stCondLst>
                                            <p:cond delay="0"/>
                                          </p:stCondLst>
                                        </p:cTn>
                                        <p:tgtEl>
                                          <p:spTgt spid="1835"/>
                                        </p:tgtEl>
                                        <p:attrNameLst>
                                          <p:attrName>style.visibility</p:attrName>
                                        </p:attrNameLst>
                                      </p:cBhvr>
                                      <p:to>
                                        <p:strVal val="visible"/>
                                      </p:to>
                                    </p:set>
                                    <p:animEffect transition="in" filter="fade">
                                      <p:cBhvr>
                                        <p:cTn id="27" dur="250"/>
                                        <p:tgtEl>
                                          <p:spTgt spid="1835"/>
                                        </p:tgtEl>
                                      </p:cBhvr>
                                    </p:animEffect>
                                  </p:childTnLst>
                                </p:cTn>
                              </p:par>
                            </p:childTnLst>
                          </p:cTn>
                        </p:par>
                        <p:par>
                          <p:cTn id="28" fill="hold">
                            <p:stCondLst>
                              <p:cond delay="1000"/>
                            </p:stCondLst>
                            <p:childTnLst>
                              <p:par>
                                <p:cTn id="29" presetID="10" presetClass="entr" presetSubtype="0" fill="hold" nodeType="afterEffect">
                                  <p:stCondLst>
                                    <p:cond delay="0"/>
                                  </p:stCondLst>
                                  <p:childTnLst>
                                    <p:set>
                                      <p:cBhvr>
                                        <p:cTn id="30" dur="1" fill="hold">
                                          <p:stCondLst>
                                            <p:cond delay="0"/>
                                          </p:stCondLst>
                                        </p:cTn>
                                        <p:tgtEl>
                                          <p:spTgt spid="1791"/>
                                        </p:tgtEl>
                                        <p:attrNameLst>
                                          <p:attrName>style.visibility</p:attrName>
                                        </p:attrNameLst>
                                      </p:cBhvr>
                                      <p:to>
                                        <p:strVal val="visible"/>
                                      </p:to>
                                    </p:set>
                                    <p:animEffect transition="in" filter="fade">
                                      <p:cBhvr>
                                        <p:cTn id="31" dur="250"/>
                                        <p:tgtEl>
                                          <p:spTgt spid="1791"/>
                                        </p:tgtEl>
                                      </p:cBhvr>
                                    </p:animEffect>
                                  </p:childTnLst>
                                </p:cTn>
                              </p:par>
                              <p:par>
                                <p:cTn id="32" presetID="10" presetClass="entr" presetSubtype="0" fill="hold" nodeType="withEffect">
                                  <p:stCondLst>
                                    <p:cond delay="250"/>
                                  </p:stCondLst>
                                  <p:childTnLst>
                                    <p:set>
                                      <p:cBhvr>
                                        <p:cTn id="33" dur="1" fill="hold">
                                          <p:stCondLst>
                                            <p:cond delay="0"/>
                                          </p:stCondLst>
                                        </p:cTn>
                                        <p:tgtEl>
                                          <p:spTgt spid="1790"/>
                                        </p:tgtEl>
                                        <p:attrNameLst>
                                          <p:attrName>style.visibility</p:attrName>
                                        </p:attrNameLst>
                                      </p:cBhvr>
                                      <p:to>
                                        <p:strVal val="visible"/>
                                      </p:to>
                                    </p:set>
                                    <p:animEffect transition="in" filter="fade">
                                      <p:cBhvr>
                                        <p:cTn id="34" dur="250"/>
                                        <p:tgtEl>
                                          <p:spTgt spid="1790"/>
                                        </p:tgtEl>
                                      </p:cBhvr>
                                    </p:animEffect>
                                  </p:childTnLst>
                                </p:cTn>
                              </p:par>
                            </p:childTnLst>
                          </p:cTn>
                        </p:par>
                        <p:par>
                          <p:cTn id="35" fill="hold">
                            <p:stCondLst>
                              <p:cond delay="1250"/>
                            </p:stCondLst>
                            <p:childTnLst>
                              <p:par>
                                <p:cTn id="36" presetID="10" presetClass="entr" presetSubtype="0" fill="hold" nodeType="afterEffect">
                                  <p:stCondLst>
                                    <p:cond delay="100"/>
                                  </p:stCondLst>
                                  <p:childTnLst>
                                    <p:set>
                                      <p:cBhvr>
                                        <p:cTn id="37" dur="1" fill="hold">
                                          <p:stCondLst>
                                            <p:cond delay="0"/>
                                          </p:stCondLst>
                                        </p:cTn>
                                        <p:tgtEl>
                                          <p:spTgt spid="1854"/>
                                        </p:tgtEl>
                                        <p:attrNameLst>
                                          <p:attrName>style.visibility</p:attrName>
                                        </p:attrNameLst>
                                      </p:cBhvr>
                                      <p:to>
                                        <p:strVal val="visible"/>
                                      </p:to>
                                    </p:set>
                                    <p:animEffect transition="in" filter="fade">
                                      <p:cBhvr>
                                        <p:cTn id="38" dur="750"/>
                                        <p:tgtEl>
                                          <p:spTgt spid="1854"/>
                                        </p:tgtEl>
                                      </p:cBhvr>
                                    </p:animEffect>
                                  </p:childTnLst>
                                </p:cTn>
                              </p:par>
                              <p:par>
                                <p:cTn id="39" presetID="10" presetClass="entr" presetSubtype="0" fill="hold" nodeType="withEffect">
                                  <p:stCondLst>
                                    <p:cond delay="200"/>
                                  </p:stCondLst>
                                  <p:childTnLst>
                                    <p:set>
                                      <p:cBhvr>
                                        <p:cTn id="40" dur="1" fill="hold">
                                          <p:stCondLst>
                                            <p:cond delay="0"/>
                                          </p:stCondLst>
                                        </p:cTn>
                                        <p:tgtEl>
                                          <p:spTgt spid="1838"/>
                                        </p:tgtEl>
                                        <p:attrNameLst>
                                          <p:attrName>style.visibility</p:attrName>
                                        </p:attrNameLst>
                                      </p:cBhvr>
                                      <p:to>
                                        <p:strVal val="visible"/>
                                      </p:to>
                                    </p:set>
                                    <p:animEffect transition="in" filter="fade">
                                      <p:cBhvr>
                                        <p:cTn id="41" dur="750"/>
                                        <p:tgtEl>
                                          <p:spTgt spid="1838"/>
                                        </p:tgtEl>
                                      </p:cBhvr>
                                    </p:animEffect>
                                  </p:childTnLst>
                                </p:cTn>
                              </p:par>
                              <p:par>
                                <p:cTn id="42" presetID="10" presetClass="entr" presetSubtype="0" fill="hold" nodeType="withEffect">
                                  <p:stCondLst>
                                    <p:cond delay="300"/>
                                  </p:stCondLst>
                                  <p:childTnLst>
                                    <p:set>
                                      <p:cBhvr>
                                        <p:cTn id="43" dur="1" fill="hold">
                                          <p:stCondLst>
                                            <p:cond delay="0"/>
                                          </p:stCondLst>
                                        </p:cTn>
                                        <p:tgtEl>
                                          <p:spTgt spid="1841"/>
                                        </p:tgtEl>
                                        <p:attrNameLst>
                                          <p:attrName>style.visibility</p:attrName>
                                        </p:attrNameLst>
                                      </p:cBhvr>
                                      <p:to>
                                        <p:strVal val="visible"/>
                                      </p:to>
                                    </p:set>
                                    <p:animEffect transition="in" filter="fade">
                                      <p:cBhvr>
                                        <p:cTn id="44" dur="750"/>
                                        <p:tgtEl>
                                          <p:spTgt spid="1841"/>
                                        </p:tgtEl>
                                      </p:cBhvr>
                                    </p:animEffect>
                                  </p:childTnLst>
                                </p:cTn>
                              </p:par>
                              <p:par>
                                <p:cTn id="45" presetID="10" presetClass="entr" presetSubtype="0" fill="hold" nodeType="withEffect">
                                  <p:stCondLst>
                                    <p:cond delay="100"/>
                                  </p:stCondLst>
                                  <p:childTnLst>
                                    <p:set>
                                      <p:cBhvr>
                                        <p:cTn id="46" dur="1" fill="hold">
                                          <p:stCondLst>
                                            <p:cond delay="0"/>
                                          </p:stCondLst>
                                        </p:cTn>
                                        <p:tgtEl>
                                          <p:spTgt spid="1761"/>
                                        </p:tgtEl>
                                        <p:attrNameLst>
                                          <p:attrName>style.visibility</p:attrName>
                                        </p:attrNameLst>
                                      </p:cBhvr>
                                      <p:to>
                                        <p:strVal val="visible"/>
                                      </p:to>
                                    </p:set>
                                    <p:animEffect transition="in" filter="fade">
                                      <p:cBhvr>
                                        <p:cTn id="47" dur="250"/>
                                        <p:tgtEl>
                                          <p:spTgt spid="1761"/>
                                        </p:tgtEl>
                                      </p:cBhvr>
                                    </p:animEffect>
                                  </p:childTnLst>
                                </p:cTn>
                              </p:par>
                            </p:childTnLst>
                          </p:cTn>
                        </p:par>
                        <p:par>
                          <p:cTn id="48" fill="hold">
                            <p:stCondLst>
                              <p:cond delay="2000"/>
                            </p:stCondLst>
                            <p:childTnLst>
                              <p:par>
                                <p:cTn id="49" presetID="10" presetClass="entr" presetSubtype="0" fill="hold" nodeType="afterEffect">
                                  <p:stCondLst>
                                    <p:cond delay="200"/>
                                  </p:stCondLst>
                                  <p:childTnLst>
                                    <p:set>
                                      <p:cBhvr>
                                        <p:cTn id="50" dur="1" fill="hold">
                                          <p:stCondLst>
                                            <p:cond delay="0"/>
                                          </p:stCondLst>
                                        </p:cTn>
                                        <p:tgtEl>
                                          <p:spTgt spid="1762"/>
                                        </p:tgtEl>
                                        <p:attrNameLst>
                                          <p:attrName>style.visibility</p:attrName>
                                        </p:attrNameLst>
                                      </p:cBhvr>
                                      <p:to>
                                        <p:strVal val="visible"/>
                                      </p:to>
                                    </p:set>
                                    <p:animEffect transition="in" filter="fade">
                                      <p:cBhvr>
                                        <p:cTn id="51" dur="250"/>
                                        <p:tgtEl>
                                          <p:spTgt spid="1762"/>
                                        </p:tgtEl>
                                      </p:cBhvr>
                                    </p:animEffect>
                                  </p:childTnLst>
                                </p:cTn>
                              </p:par>
                            </p:childTnLst>
                          </p:cTn>
                        </p:par>
                        <p:par>
                          <p:cTn id="52" fill="hold">
                            <p:stCondLst>
                              <p:cond delay="2250"/>
                            </p:stCondLst>
                            <p:childTnLst>
                              <p:par>
                                <p:cTn id="53" presetID="10" presetClass="entr" presetSubtype="0" fill="hold" nodeType="afterEffect">
                                  <p:stCondLst>
                                    <p:cond delay="300"/>
                                  </p:stCondLst>
                                  <p:childTnLst>
                                    <p:set>
                                      <p:cBhvr>
                                        <p:cTn id="54" dur="1" fill="hold">
                                          <p:stCondLst>
                                            <p:cond delay="0"/>
                                          </p:stCondLst>
                                        </p:cTn>
                                        <p:tgtEl>
                                          <p:spTgt spid="1763"/>
                                        </p:tgtEl>
                                        <p:attrNameLst>
                                          <p:attrName>style.visibility</p:attrName>
                                        </p:attrNameLst>
                                      </p:cBhvr>
                                      <p:to>
                                        <p:strVal val="visible"/>
                                      </p:to>
                                    </p:set>
                                    <p:animEffect transition="in" filter="fade">
                                      <p:cBhvr>
                                        <p:cTn id="55" dur="250"/>
                                        <p:tgtEl>
                                          <p:spTgt spid="1763"/>
                                        </p:tgtEl>
                                      </p:cBhvr>
                                    </p:animEffect>
                                  </p:childTnLst>
                                </p:cTn>
                              </p:par>
                            </p:childTnLst>
                          </p:cTn>
                        </p:par>
                        <p:par>
                          <p:cTn id="56" fill="hold">
                            <p:stCondLst>
                              <p:cond delay="2500"/>
                            </p:stCondLst>
                            <p:childTnLst>
                              <p:par>
                                <p:cTn id="57" presetID="10" presetClass="entr" presetSubtype="0" fill="hold" nodeType="afterEffect">
                                  <p:stCondLst>
                                    <p:cond delay="300"/>
                                  </p:stCondLst>
                                  <p:childTnLst>
                                    <p:set>
                                      <p:cBhvr>
                                        <p:cTn id="58" dur="1" fill="hold">
                                          <p:stCondLst>
                                            <p:cond delay="0"/>
                                          </p:stCondLst>
                                        </p:cTn>
                                        <p:tgtEl>
                                          <p:spTgt spid="1859"/>
                                        </p:tgtEl>
                                        <p:attrNameLst>
                                          <p:attrName>style.visibility</p:attrName>
                                        </p:attrNameLst>
                                      </p:cBhvr>
                                      <p:to>
                                        <p:strVal val="visible"/>
                                      </p:to>
                                    </p:set>
                                    <p:animEffect transition="in" filter="fade">
                                      <p:cBhvr>
                                        <p:cTn id="59" dur="500"/>
                                        <p:tgtEl>
                                          <p:spTgt spid="1859"/>
                                        </p:tgtEl>
                                      </p:cBhvr>
                                    </p:animEffect>
                                  </p:childTnLst>
                                </p:cTn>
                              </p:par>
                              <p:par>
                                <p:cTn id="60" presetID="10" presetClass="entr" presetSubtype="0" fill="hold" nodeType="withEffect">
                                  <p:stCondLst>
                                    <p:cond delay="750"/>
                                  </p:stCondLst>
                                  <p:childTnLst>
                                    <p:set>
                                      <p:cBhvr>
                                        <p:cTn id="61" dur="1" fill="hold">
                                          <p:stCondLst>
                                            <p:cond delay="0"/>
                                          </p:stCondLst>
                                        </p:cTn>
                                        <p:tgtEl>
                                          <p:spTgt spid="1765"/>
                                        </p:tgtEl>
                                        <p:attrNameLst>
                                          <p:attrName>style.visibility</p:attrName>
                                        </p:attrNameLst>
                                      </p:cBhvr>
                                      <p:to>
                                        <p:strVal val="visible"/>
                                      </p:to>
                                    </p:set>
                                    <p:animEffect transition="in" filter="fade">
                                      <p:cBhvr>
                                        <p:cTn id="62" dur="600"/>
                                        <p:tgtEl>
                                          <p:spTgt spid="1765"/>
                                        </p:tgtEl>
                                      </p:cBhvr>
                                    </p:animEffect>
                                  </p:childTnLst>
                                </p:cTn>
                              </p:par>
                              <p:par>
                                <p:cTn id="63" presetID="10" presetClass="exit" presetSubtype="0" fill="hold" nodeType="withEffect">
                                  <p:stCondLst>
                                    <p:cond delay="1250"/>
                                  </p:stCondLst>
                                  <p:childTnLst>
                                    <p:animEffect transition="out" filter="fade">
                                      <p:cBhvr>
                                        <p:cTn id="64" dur="500"/>
                                        <p:tgtEl>
                                          <p:spTgt spid="1765"/>
                                        </p:tgtEl>
                                      </p:cBhvr>
                                    </p:animEffect>
                                    <p:set>
                                      <p:cBhvr>
                                        <p:cTn id="65" dur="1" fill="hold">
                                          <p:stCondLst>
                                            <p:cond delay="500"/>
                                          </p:stCondLst>
                                        </p:cTn>
                                        <p:tgtEl>
                                          <p:spTgt spid="176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66"/>
        <p:cNvGrpSpPr/>
        <p:nvPr/>
      </p:nvGrpSpPr>
      <p:grpSpPr>
        <a:xfrm>
          <a:off x="0" y="0"/>
          <a:ext cx="0" cy="0"/>
          <a:chOff x="0" y="0"/>
          <a:chExt cx="0" cy="0"/>
        </a:xfrm>
      </p:grpSpPr>
      <p:sp>
        <p:nvSpPr>
          <p:cNvPr id="3667" name="Google Shape;3667;p14"/>
          <p:cNvSpPr/>
          <p:nvPr/>
        </p:nvSpPr>
        <p:spPr>
          <a:xfrm>
            <a:off x="4930706" y="2107512"/>
            <a:ext cx="7067668" cy="3932939"/>
          </a:xfrm>
          <a:custGeom>
            <a:avLst/>
            <a:gdLst/>
            <a:ahLst/>
            <a:cxnLst/>
            <a:rect l="l" t="t" r="r" b="b"/>
            <a:pathLst>
              <a:path w="8698270" h="4840319" extrusionOk="0">
                <a:moveTo>
                  <a:pt x="3467882" y="4840320"/>
                </a:moveTo>
                <a:lnTo>
                  <a:pt x="143181" y="4840320"/>
                </a:lnTo>
                <a:cubicBezTo>
                  <a:pt x="15927" y="4840320"/>
                  <a:pt x="-47891" y="4686396"/>
                  <a:pt x="42121" y="4596384"/>
                </a:cubicBezTo>
                <a:lnTo>
                  <a:pt x="4220071" y="418433"/>
                </a:lnTo>
                <a:cubicBezTo>
                  <a:pt x="4488010" y="150495"/>
                  <a:pt x="4851388" y="0"/>
                  <a:pt x="5230388" y="0"/>
                </a:cubicBezTo>
                <a:lnTo>
                  <a:pt x="8555089" y="0"/>
                </a:lnTo>
                <a:cubicBezTo>
                  <a:pt x="8682344" y="0"/>
                  <a:pt x="8746161" y="153924"/>
                  <a:pt x="8656150" y="243935"/>
                </a:cubicBezTo>
                <a:lnTo>
                  <a:pt x="4478199" y="4421791"/>
                </a:lnTo>
                <a:cubicBezTo>
                  <a:pt x="4210261" y="4689729"/>
                  <a:pt x="3846882" y="4840224"/>
                  <a:pt x="3467882" y="4840224"/>
                </a:cubicBezTo>
                <a:close/>
              </a:path>
            </a:pathLst>
          </a:custGeom>
          <a:gradFill>
            <a:gsLst>
              <a:gs pos="0">
                <a:schemeClr val="accent3"/>
              </a:gs>
              <a:gs pos="70000">
                <a:schemeClr val="accent3"/>
              </a:gs>
              <a:gs pos="100000">
                <a:schemeClr val="accent2"/>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68" name="Google Shape;3668;p14"/>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Clr>
                <a:schemeClr val="accent2"/>
              </a:buClr>
              <a:buSzPts val="2800"/>
              <a:buFont typeface="Arial"/>
              <a:buNone/>
            </a:pPr>
            <a:r>
              <a:rPr lang="en-US"/>
              <a:t>Cloud Experience for Developers</a:t>
            </a:r>
            <a:endParaRPr/>
          </a:p>
        </p:txBody>
      </p:sp>
      <p:sp>
        <p:nvSpPr>
          <p:cNvPr id="3669" name="Google Shape;3669;p14"/>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800"/>
              <a:buNone/>
            </a:pPr>
            <a:r>
              <a:rPr lang="en-US"/>
              <a:t>Modern application support and Private AI</a:t>
            </a:r>
            <a:endParaRPr/>
          </a:p>
          <a:p>
            <a:pPr marL="0" lvl="0" indent="0" algn="l" rtl="0">
              <a:lnSpc>
                <a:spcPct val="100000"/>
              </a:lnSpc>
              <a:spcBef>
                <a:spcPts val="600"/>
              </a:spcBef>
              <a:spcAft>
                <a:spcPts val="600"/>
              </a:spcAft>
              <a:buSzPts val="1800"/>
              <a:buNone/>
            </a:pPr>
            <a:endParaRPr/>
          </a:p>
        </p:txBody>
      </p:sp>
      <p:sp>
        <p:nvSpPr>
          <p:cNvPr id="3670" name="Google Shape;3670;p14"/>
          <p:cNvSpPr txBox="1"/>
          <p:nvPr/>
        </p:nvSpPr>
        <p:spPr>
          <a:xfrm>
            <a:off x="1726438" y="1797746"/>
            <a:ext cx="2749659"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dirty="0">
                <a:solidFill>
                  <a:schemeClr val="dk1"/>
                </a:solidFill>
                <a:latin typeface="Arial"/>
                <a:ea typeface="Arial"/>
                <a:cs typeface="Arial"/>
                <a:sym typeface="Arial"/>
              </a:rPr>
              <a:t>Deliver </a:t>
            </a:r>
            <a:r>
              <a:rPr lang="en-US" sz="2000" dirty="0">
                <a:solidFill>
                  <a:schemeClr val="accent3"/>
                </a:solidFill>
                <a:latin typeface="Arial"/>
                <a:ea typeface="Arial"/>
                <a:cs typeface="Arial"/>
                <a:sym typeface="Arial"/>
              </a:rPr>
              <a:t>Infrastructure-as-Code</a:t>
            </a:r>
            <a:endParaRPr dirty="0"/>
          </a:p>
        </p:txBody>
      </p:sp>
      <p:sp>
        <p:nvSpPr>
          <p:cNvPr id="3671" name="Google Shape;3671;p14"/>
          <p:cNvSpPr txBox="1"/>
          <p:nvPr/>
        </p:nvSpPr>
        <p:spPr>
          <a:xfrm>
            <a:off x="1726439" y="2861100"/>
            <a:ext cx="3464463" cy="830997"/>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dk1"/>
                </a:solidFill>
                <a:latin typeface="Arial"/>
                <a:ea typeface="Arial"/>
                <a:cs typeface="Arial"/>
                <a:sym typeface="Arial"/>
              </a:rPr>
              <a:t>Run business critical and </a:t>
            </a:r>
            <a:r>
              <a:rPr lang="en-US" sz="2000">
                <a:solidFill>
                  <a:schemeClr val="accent3"/>
                </a:solidFill>
                <a:latin typeface="Arial"/>
                <a:ea typeface="Arial"/>
                <a:cs typeface="Arial"/>
                <a:sym typeface="Arial"/>
              </a:rPr>
              <a:t>modern workloads </a:t>
            </a:r>
            <a:r>
              <a:rPr lang="en-US" sz="2000">
                <a:solidFill>
                  <a:schemeClr val="dk1"/>
                </a:solidFill>
                <a:latin typeface="Arial"/>
                <a:ea typeface="Arial"/>
                <a:cs typeface="Arial"/>
                <a:sym typeface="Arial"/>
              </a:rPr>
              <a:t>in production</a:t>
            </a:r>
            <a:endParaRPr/>
          </a:p>
        </p:txBody>
      </p:sp>
      <p:sp>
        <p:nvSpPr>
          <p:cNvPr id="3672" name="Google Shape;3672;p14"/>
          <p:cNvSpPr txBox="1"/>
          <p:nvPr/>
        </p:nvSpPr>
        <p:spPr>
          <a:xfrm>
            <a:off x="1726439" y="4062954"/>
            <a:ext cx="3380798" cy="830997"/>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dk1"/>
                </a:solidFill>
                <a:latin typeface="Arial"/>
                <a:ea typeface="Arial"/>
                <a:cs typeface="Arial"/>
                <a:sym typeface="Arial"/>
              </a:rPr>
              <a:t>Implement </a:t>
            </a:r>
            <a:r>
              <a:rPr lang="en-US" sz="2000">
                <a:solidFill>
                  <a:schemeClr val="accent3"/>
                </a:solidFill>
                <a:latin typeface="Arial"/>
                <a:ea typeface="Arial"/>
                <a:cs typeface="Arial"/>
                <a:sym typeface="Arial"/>
              </a:rPr>
              <a:t>Private AI </a:t>
            </a:r>
            <a:br>
              <a:rPr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with NVIDIA (Private AI Foundation with NVIDIA)</a:t>
            </a:r>
            <a:endParaRPr/>
          </a:p>
        </p:txBody>
      </p:sp>
      <p:sp>
        <p:nvSpPr>
          <p:cNvPr id="3673" name="Google Shape;3673;p14"/>
          <p:cNvSpPr/>
          <p:nvPr/>
        </p:nvSpPr>
        <p:spPr>
          <a:xfrm>
            <a:off x="0" y="0"/>
            <a:ext cx="12188825" cy="152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pic>
        <p:nvPicPr>
          <p:cNvPr id="3674" name="Google Shape;3674;p14"/>
          <p:cNvPicPr preferRelativeResize="0"/>
          <p:nvPr/>
        </p:nvPicPr>
        <p:blipFill rotWithShape="1">
          <a:blip r:embed="rId3">
            <a:alphaModFix/>
          </a:blip>
          <a:srcRect/>
          <a:stretch/>
        </p:blipFill>
        <p:spPr>
          <a:xfrm>
            <a:off x="8824463" y="2369183"/>
            <a:ext cx="3042236" cy="1193440"/>
          </a:xfrm>
          <a:prstGeom prst="rect">
            <a:avLst/>
          </a:prstGeom>
          <a:noFill/>
          <a:ln>
            <a:noFill/>
          </a:ln>
        </p:spPr>
      </p:pic>
      <p:grpSp>
        <p:nvGrpSpPr>
          <p:cNvPr id="3675" name="Google Shape;3675;p14"/>
          <p:cNvGrpSpPr/>
          <p:nvPr/>
        </p:nvGrpSpPr>
        <p:grpSpPr>
          <a:xfrm>
            <a:off x="6022889" y="4458329"/>
            <a:ext cx="1266988" cy="1280160"/>
            <a:chOff x="2251864" y="2357930"/>
            <a:chExt cx="960969" cy="970960"/>
          </a:xfrm>
        </p:grpSpPr>
        <p:sp>
          <p:nvSpPr>
            <p:cNvPr id="3676" name="Google Shape;3676;p14"/>
            <p:cNvSpPr/>
            <p:nvPr/>
          </p:nvSpPr>
          <p:spPr>
            <a:xfrm>
              <a:off x="2251864" y="325786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77" name="Google Shape;3677;p14"/>
            <p:cNvSpPr/>
            <p:nvPr/>
          </p:nvSpPr>
          <p:spPr>
            <a:xfrm>
              <a:off x="2363108" y="314662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78" name="Google Shape;3678;p14"/>
            <p:cNvSpPr/>
            <p:nvPr/>
          </p:nvSpPr>
          <p:spPr>
            <a:xfrm>
              <a:off x="2504771" y="3165144"/>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79" name="Google Shape;3679;p14"/>
            <p:cNvSpPr/>
            <p:nvPr/>
          </p:nvSpPr>
          <p:spPr>
            <a:xfrm>
              <a:off x="2474351" y="3035381"/>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0" name="Google Shape;3680;p14"/>
            <p:cNvSpPr/>
            <p:nvPr/>
          </p:nvSpPr>
          <p:spPr>
            <a:xfrm>
              <a:off x="2585594" y="292413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1" name="Google Shape;3681;p14"/>
            <p:cNvSpPr/>
            <p:nvPr/>
          </p:nvSpPr>
          <p:spPr>
            <a:xfrm>
              <a:off x="2618687" y="3043209"/>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2" name="Google Shape;3682;p14"/>
            <p:cNvSpPr/>
            <p:nvPr/>
          </p:nvSpPr>
          <p:spPr>
            <a:xfrm>
              <a:off x="2696838" y="281289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3" name="Google Shape;3683;p14"/>
            <p:cNvSpPr/>
            <p:nvPr/>
          </p:nvSpPr>
          <p:spPr>
            <a:xfrm>
              <a:off x="2670236" y="268211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4" name="Google Shape;3684;p14"/>
            <p:cNvSpPr/>
            <p:nvPr/>
          </p:nvSpPr>
          <p:spPr>
            <a:xfrm>
              <a:off x="2808081" y="270165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5" name="Google Shape;3685;p14"/>
            <p:cNvSpPr/>
            <p:nvPr/>
          </p:nvSpPr>
          <p:spPr>
            <a:xfrm>
              <a:off x="2919324" y="259040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6" name="Google Shape;3686;p14"/>
            <p:cNvSpPr/>
            <p:nvPr/>
          </p:nvSpPr>
          <p:spPr>
            <a:xfrm>
              <a:off x="3030568" y="247916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7" name="Google Shape;3687;p14"/>
            <p:cNvSpPr/>
            <p:nvPr/>
          </p:nvSpPr>
          <p:spPr>
            <a:xfrm>
              <a:off x="3063024" y="260695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8" name="Google Shape;3688;p14"/>
            <p:cNvSpPr/>
            <p:nvPr/>
          </p:nvSpPr>
          <p:spPr>
            <a:xfrm>
              <a:off x="3141811" y="236792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9" name="Google Shape;3689;p14"/>
            <p:cNvSpPr/>
            <p:nvPr/>
          </p:nvSpPr>
          <p:spPr>
            <a:xfrm>
              <a:off x="2996838" y="2357930"/>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690" name="Google Shape;3690;p14"/>
          <p:cNvGrpSpPr/>
          <p:nvPr/>
        </p:nvGrpSpPr>
        <p:grpSpPr>
          <a:xfrm>
            <a:off x="7099794" y="3439249"/>
            <a:ext cx="3327833" cy="2602031"/>
            <a:chOff x="7099794" y="3439249"/>
            <a:chExt cx="3327833" cy="2602031"/>
          </a:xfrm>
        </p:grpSpPr>
        <p:grpSp>
          <p:nvGrpSpPr>
            <p:cNvPr id="3691" name="Google Shape;3691;p14"/>
            <p:cNvGrpSpPr/>
            <p:nvPr/>
          </p:nvGrpSpPr>
          <p:grpSpPr>
            <a:xfrm>
              <a:off x="7831949" y="5717323"/>
              <a:ext cx="1858111" cy="323957"/>
              <a:chOff x="5493826" y="4735334"/>
              <a:chExt cx="1401453" cy="244341"/>
            </a:xfrm>
          </p:grpSpPr>
          <p:sp>
            <p:nvSpPr>
              <p:cNvPr id="3692" name="Google Shape;3692;p14"/>
              <p:cNvSpPr/>
              <p:nvPr/>
            </p:nvSpPr>
            <p:spPr>
              <a:xfrm>
                <a:off x="6008728" y="4735334"/>
                <a:ext cx="375746" cy="225876"/>
              </a:xfrm>
              <a:custGeom>
                <a:avLst/>
                <a:gdLst/>
                <a:ahLst/>
                <a:cxnLst/>
                <a:rect l="l" t="t" r="r" b="b"/>
                <a:pathLst>
                  <a:path w="375746" h="225876" extrusionOk="0">
                    <a:moveTo>
                      <a:pt x="0" y="0"/>
                    </a:moveTo>
                    <a:lnTo>
                      <a:pt x="375746" y="0"/>
                    </a:lnTo>
                    <a:lnTo>
                      <a:pt x="375746" y="225876"/>
                    </a:lnTo>
                    <a:lnTo>
                      <a:pt x="0" y="225876"/>
                    </a:lnTo>
                    <a:close/>
                  </a:path>
                </a:pathLst>
              </a:custGeom>
              <a:gradFill>
                <a:gsLst>
                  <a:gs pos="0">
                    <a:schemeClr val="accent2"/>
                  </a:gs>
                  <a:gs pos="22000">
                    <a:schemeClr val="accent2"/>
                  </a:gs>
                  <a:gs pos="100000">
                    <a:schemeClr val="dk2"/>
                  </a:gs>
                </a:gsLst>
                <a:lin ang="162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3693" name="Google Shape;3693;p14"/>
              <p:cNvSpPr/>
              <p:nvPr/>
            </p:nvSpPr>
            <p:spPr>
              <a:xfrm>
                <a:off x="5493826" y="4904867"/>
                <a:ext cx="1401453" cy="74808"/>
              </a:xfrm>
              <a:custGeom>
                <a:avLst/>
                <a:gdLst/>
                <a:ahLst/>
                <a:cxnLst/>
                <a:rect l="l" t="t" r="r" b="b"/>
                <a:pathLst>
                  <a:path w="1401453" h="74808" extrusionOk="0">
                    <a:moveTo>
                      <a:pt x="1401454" y="10273"/>
                    </a:moveTo>
                    <a:lnTo>
                      <a:pt x="696095" y="0"/>
                    </a:lnTo>
                    <a:lnTo>
                      <a:pt x="0" y="10273"/>
                    </a:lnTo>
                    <a:lnTo>
                      <a:pt x="0" y="74809"/>
                    </a:lnTo>
                    <a:lnTo>
                      <a:pt x="1401454" y="74809"/>
                    </a:lnTo>
                    <a:lnTo>
                      <a:pt x="1401454" y="10273"/>
                    </a:lnTo>
                    <a:close/>
                  </a:path>
                </a:pathLst>
              </a:custGeom>
              <a:gradFill>
                <a:gsLst>
                  <a:gs pos="0">
                    <a:schemeClr val="accent2"/>
                  </a:gs>
                  <a:gs pos="22000">
                    <a:schemeClr val="accent2"/>
                  </a:gs>
                  <a:gs pos="100000">
                    <a:schemeClr val="dk2"/>
                  </a:gs>
                </a:gsLst>
                <a:lin ang="81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grpSp>
        <p:sp>
          <p:nvSpPr>
            <p:cNvPr id="3694" name="Google Shape;3694;p14"/>
            <p:cNvSpPr/>
            <p:nvPr/>
          </p:nvSpPr>
          <p:spPr>
            <a:xfrm>
              <a:off x="7099794" y="3439249"/>
              <a:ext cx="3327833" cy="2288688"/>
            </a:xfrm>
            <a:prstGeom prst="roundRect">
              <a:avLst>
                <a:gd name="adj" fmla="val 2649"/>
              </a:avLst>
            </a:prstGeom>
            <a:gradFill>
              <a:gsLst>
                <a:gs pos="0">
                  <a:schemeClr val="accent1"/>
                </a:gs>
                <a:gs pos="15000">
                  <a:schemeClr val="accent1"/>
                </a:gs>
                <a:gs pos="100000">
                  <a:schemeClr val="accent2"/>
                </a:gs>
              </a:gsLst>
              <a:lin ang="81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95" name="Google Shape;3695;p14"/>
            <p:cNvSpPr/>
            <p:nvPr/>
          </p:nvSpPr>
          <p:spPr>
            <a:xfrm>
              <a:off x="8991888" y="3536080"/>
              <a:ext cx="1344062" cy="1301771"/>
            </a:xfrm>
            <a:prstGeom prst="roundRect">
              <a:avLst>
                <a:gd name="adj" fmla="val 4797"/>
              </a:avLst>
            </a:prstGeom>
            <a:solidFill>
              <a:schemeClr val="dk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96" name="Google Shape;3696;p14"/>
            <p:cNvSpPr/>
            <p:nvPr/>
          </p:nvSpPr>
          <p:spPr>
            <a:xfrm>
              <a:off x="8991889" y="4892852"/>
              <a:ext cx="1343962" cy="717604"/>
            </a:xfrm>
            <a:prstGeom prst="roundRect">
              <a:avLst>
                <a:gd name="adj" fmla="val 8447"/>
              </a:avLst>
            </a:prstGeom>
            <a:solidFill>
              <a:schemeClr val="dk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97" name="Google Shape;3697;p14"/>
            <p:cNvSpPr/>
            <p:nvPr/>
          </p:nvSpPr>
          <p:spPr>
            <a:xfrm>
              <a:off x="7191472" y="3536080"/>
              <a:ext cx="1742258" cy="2074375"/>
            </a:xfrm>
            <a:prstGeom prst="roundRect">
              <a:avLst>
                <a:gd name="adj" fmla="val 3526"/>
              </a:avLst>
            </a:prstGeom>
            <a:solidFill>
              <a:schemeClr val="dk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698" name="Google Shape;3698;p14"/>
          <p:cNvGrpSpPr/>
          <p:nvPr/>
        </p:nvGrpSpPr>
        <p:grpSpPr>
          <a:xfrm>
            <a:off x="9261335" y="3770594"/>
            <a:ext cx="808034" cy="808030"/>
            <a:chOff x="9261335" y="3770594"/>
            <a:chExt cx="808034" cy="808030"/>
          </a:xfrm>
        </p:grpSpPr>
        <p:sp>
          <p:nvSpPr>
            <p:cNvPr id="3699" name="Google Shape;3699;p14"/>
            <p:cNvSpPr/>
            <p:nvPr/>
          </p:nvSpPr>
          <p:spPr>
            <a:xfrm>
              <a:off x="9261335" y="3770594"/>
              <a:ext cx="808034" cy="808030"/>
            </a:xfrm>
            <a:custGeom>
              <a:avLst/>
              <a:gdLst/>
              <a:ahLst/>
              <a:cxnLst/>
              <a:rect l="l" t="t" r="r" b="b"/>
              <a:pathLst>
                <a:path w="960200" h="960200" extrusionOk="0">
                  <a:moveTo>
                    <a:pt x="960200" y="480100"/>
                  </a:moveTo>
                  <a:cubicBezTo>
                    <a:pt x="960200" y="745252"/>
                    <a:pt x="745252" y="960200"/>
                    <a:pt x="480100" y="960200"/>
                  </a:cubicBezTo>
                  <a:cubicBezTo>
                    <a:pt x="214948" y="960200"/>
                    <a:pt x="0" y="745252"/>
                    <a:pt x="0" y="480100"/>
                  </a:cubicBezTo>
                  <a:cubicBezTo>
                    <a:pt x="0" y="214948"/>
                    <a:pt x="214948" y="0"/>
                    <a:pt x="480100" y="0"/>
                  </a:cubicBezTo>
                  <a:cubicBezTo>
                    <a:pt x="745252" y="0"/>
                    <a:pt x="960200" y="214948"/>
                    <a:pt x="960200" y="480100"/>
                  </a:cubicBezTo>
                  <a:close/>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00" name="Google Shape;3700;p14"/>
            <p:cNvSpPr/>
            <p:nvPr/>
          </p:nvSpPr>
          <p:spPr>
            <a:xfrm>
              <a:off x="9665352" y="3770673"/>
              <a:ext cx="7939" cy="79627"/>
            </a:xfrm>
            <a:custGeom>
              <a:avLst/>
              <a:gdLst/>
              <a:ahLst/>
              <a:cxnLst/>
              <a:rect l="l" t="t" r="r" b="b"/>
              <a:pathLst>
                <a:path w="9434" h="94623" extrusionOk="0">
                  <a:moveTo>
                    <a:pt x="0" y="0"/>
                  </a:moveTo>
                  <a:lnTo>
                    <a:pt x="0" y="94624"/>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01" name="Google Shape;3701;p14"/>
            <p:cNvSpPr/>
            <p:nvPr/>
          </p:nvSpPr>
          <p:spPr>
            <a:xfrm>
              <a:off x="9527372" y="3794966"/>
              <a:ext cx="27230" cy="74864"/>
            </a:xfrm>
            <a:custGeom>
              <a:avLst/>
              <a:gdLst/>
              <a:ahLst/>
              <a:cxnLst/>
              <a:rect l="l" t="t" r="r" b="b"/>
              <a:pathLst>
                <a:path w="32358" h="88963" extrusionOk="0">
                  <a:moveTo>
                    <a:pt x="0" y="0"/>
                  </a:moveTo>
                  <a:lnTo>
                    <a:pt x="32359" y="88963"/>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02" name="Google Shape;3702;p14"/>
            <p:cNvSpPr/>
            <p:nvPr/>
          </p:nvSpPr>
          <p:spPr>
            <a:xfrm>
              <a:off x="9405984" y="3865068"/>
              <a:ext cx="51206" cy="60971"/>
            </a:xfrm>
            <a:custGeom>
              <a:avLst/>
              <a:gdLst/>
              <a:ahLst/>
              <a:cxnLst/>
              <a:rect l="l" t="t" r="r" b="b"/>
              <a:pathLst>
                <a:path w="60849" h="72453" extrusionOk="0">
                  <a:moveTo>
                    <a:pt x="0" y="0"/>
                  </a:moveTo>
                  <a:lnTo>
                    <a:pt x="60850" y="72454"/>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3703" name="Google Shape;3703;p14"/>
            <p:cNvGrpSpPr/>
            <p:nvPr/>
          </p:nvGrpSpPr>
          <p:grpSpPr>
            <a:xfrm>
              <a:off x="9315876" y="3972403"/>
              <a:ext cx="698952" cy="403459"/>
              <a:chOff x="4098256" y="828402"/>
              <a:chExt cx="830576" cy="479439"/>
            </a:xfrm>
          </p:grpSpPr>
          <p:sp>
            <p:nvSpPr>
              <p:cNvPr id="3704" name="Google Shape;3704;p14"/>
              <p:cNvSpPr/>
              <p:nvPr/>
            </p:nvSpPr>
            <p:spPr>
              <a:xfrm>
                <a:off x="4098256" y="828402"/>
                <a:ext cx="81982" cy="47359"/>
              </a:xfrm>
              <a:custGeom>
                <a:avLst/>
                <a:gdLst/>
                <a:ahLst/>
                <a:cxnLst/>
                <a:rect l="l" t="t" r="r" b="b"/>
                <a:pathLst>
                  <a:path w="81982" h="47359" extrusionOk="0">
                    <a:moveTo>
                      <a:pt x="0" y="0"/>
                    </a:moveTo>
                    <a:lnTo>
                      <a:pt x="81982" y="47359"/>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05" name="Google Shape;3705;p14"/>
              <p:cNvSpPr/>
              <p:nvPr/>
            </p:nvSpPr>
            <p:spPr>
              <a:xfrm>
                <a:off x="4846850" y="1260577"/>
                <a:ext cx="81982" cy="47264"/>
              </a:xfrm>
              <a:custGeom>
                <a:avLst/>
                <a:gdLst/>
                <a:ahLst/>
                <a:cxnLst/>
                <a:rect l="l" t="t" r="r" b="b"/>
                <a:pathLst>
                  <a:path w="81982" h="47264" extrusionOk="0">
                    <a:moveTo>
                      <a:pt x="0" y="0"/>
                    </a:moveTo>
                    <a:lnTo>
                      <a:pt x="81982" y="47265"/>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06" name="Google Shape;3706;p14"/>
            <p:cNvGrpSpPr/>
            <p:nvPr/>
          </p:nvGrpSpPr>
          <p:grpSpPr>
            <a:xfrm>
              <a:off x="9268004" y="4104110"/>
              <a:ext cx="794696" cy="140123"/>
              <a:chOff x="4041369" y="984913"/>
              <a:chExt cx="944350" cy="166511"/>
            </a:xfrm>
          </p:grpSpPr>
          <p:sp>
            <p:nvSpPr>
              <p:cNvPr id="3707" name="Google Shape;3707;p14"/>
              <p:cNvSpPr/>
              <p:nvPr/>
            </p:nvSpPr>
            <p:spPr>
              <a:xfrm>
                <a:off x="4041369" y="984913"/>
                <a:ext cx="93208" cy="16415"/>
              </a:xfrm>
              <a:custGeom>
                <a:avLst/>
                <a:gdLst/>
                <a:ahLst/>
                <a:cxnLst/>
                <a:rect l="l" t="t" r="r" b="b"/>
                <a:pathLst>
                  <a:path w="93208" h="16415" extrusionOk="0">
                    <a:moveTo>
                      <a:pt x="0" y="0"/>
                    </a:moveTo>
                    <a:lnTo>
                      <a:pt x="93209" y="16415"/>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08" name="Google Shape;3708;p14"/>
              <p:cNvSpPr/>
              <p:nvPr/>
            </p:nvSpPr>
            <p:spPr>
              <a:xfrm>
                <a:off x="4892511" y="1135009"/>
                <a:ext cx="93208" cy="16415"/>
              </a:xfrm>
              <a:custGeom>
                <a:avLst/>
                <a:gdLst/>
                <a:ahLst/>
                <a:cxnLst/>
                <a:rect l="l" t="t" r="r" b="b"/>
                <a:pathLst>
                  <a:path w="93208" h="16415" extrusionOk="0">
                    <a:moveTo>
                      <a:pt x="0" y="0"/>
                    </a:moveTo>
                    <a:lnTo>
                      <a:pt x="93208" y="16415"/>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09" name="Google Shape;3709;p14"/>
            <p:cNvGrpSpPr/>
            <p:nvPr/>
          </p:nvGrpSpPr>
          <p:grpSpPr>
            <a:xfrm>
              <a:off x="9268004" y="4104110"/>
              <a:ext cx="794696" cy="140123"/>
              <a:chOff x="4041369" y="984913"/>
              <a:chExt cx="944350" cy="166511"/>
            </a:xfrm>
          </p:grpSpPr>
          <p:sp>
            <p:nvSpPr>
              <p:cNvPr id="3710" name="Google Shape;3710;p14"/>
              <p:cNvSpPr/>
              <p:nvPr/>
            </p:nvSpPr>
            <p:spPr>
              <a:xfrm>
                <a:off x="4041369" y="1135009"/>
                <a:ext cx="93208" cy="16415"/>
              </a:xfrm>
              <a:custGeom>
                <a:avLst/>
                <a:gdLst/>
                <a:ahLst/>
                <a:cxnLst/>
                <a:rect l="l" t="t" r="r" b="b"/>
                <a:pathLst>
                  <a:path w="93208" h="16415" extrusionOk="0">
                    <a:moveTo>
                      <a:pt x="0" y="16415"/>
                    </a:moveTo>
                    <a:lnTo>
                      <a:pt x="93209"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11" name="Google Shape;3711;p14"/>
              <p:cNvSpPr/>
              <p:nvPr/>
            </p:nvSpPr>
            <p:spPr>
              <a:xfrm>
                <a:off x="4892511" y="984913"/>
                <a:ext cx="93208" cy="16415"/>
              </a:xfrm>
              <a:custGeom>
                <a:avLst/>
                <a:gdLst/>
                <a:ahLst/>
                <a:cxnLst/>
                <a:rect l="l" t="t" r="r" b="b"/>
                <a:pathLst>
                  <a:path w="93208" h="16415" extrusionOk="0">
                    <a:moveTo>
                      <a:pt x="0" y="16415"/>
                    </a:moveTo>
                    <a:lnTo>
                      <a:pt x="93208"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12" name="Google Shape;3712;p14"/>
            <p:cNvGrpSpPr/>
            <p:nvPr/>
          </p:nvGrpSpPr>
          <p:grpSpPr>
            <a:xfrm>
              <a:off x="9315876" y="3972403"/>
              <a:ext cx="698952" cy="403459"/>
              <a:chOff x="4098256" y="828402"/>
              <a:chExt cx="830576" cy="479439"/>
            </a:xfrm>
          </p:grpSpPr>
          <p:sp>
            <p:nvSpPr>
              <p:cNvPr id="3713" name="Google Shape;3713;p14"/>
              <p:cNvSpPr/>
              <p:nvPr/>
            </p:nvSpPr>
            <p:spPr>
              <a:xfrm>
                <a:off x="4098256" y="1260577"/>
                <a:ext cx="81982" cy="47264"/>
              </a:xfrm>
              <a:custGeom>
                <a:avLst/>
                <a:gdLst/>
                <a:ahLst/>
                <a:cxnLst/>
                <a:rect l="l" t="t" r="r" b="b"/>
                <a:pathLst>
                  <a:path w="81982" h="47264" extrusionOk="0">
                    <a:moveTo>
                      <a:pt x="0" y="47265"/>
                    </a:moveTo>
                    <a:lnTo>
                      <a:pt x="81982"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14" name="Google Shape;3714;p14"/>
              <p:cNvSpPr/>
              <p:nvPr/>
            </p:nvSpPr>
            <p:spPr>
              <a:xfrm>
                <a:off x="4846850" y="828402"/>
                <a:ext cx="81982" cy="47359"/>
              </a:xfrm>
              <a:custGeom>
                <a:avLst/>
                <a:gdLst/>
                <a:ahLst/>
                <a:cxnLst/>
                <a:rect l="l" t="t" r="r" b="b"/>
                <a:pathLst>
                  <a:path w="81982" h="47359" extrusionOk="0">
                    <a:moveTo>
                      <a:pt x="0" y="47359"/>
                    </a:moveTo>
                    <a:lnTo>
                      <a:pt x="81982"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715" name="Google Shape;3715;p14"/>
            <p:cNvSpPr/>
            <p:nvPr/>
          </p:nvSpPr>
          <p:spPr>
            <a:xfrm>
              <a:off x="9873513" y="3865068"/>
              <a:ext cx="51206" cy="60971"/>
            </a:xfrm>
            <a:custGeom>
              <a:avLst/>
              <a:gdLst/>
              <a:ahLst/>
              <a:cxnLst/>
              <a:rect l="l" t="t" r="r" b="b"/>
              <a:pathLst>
                <a:path w="60849" h="72453" extrusionOk="0">
                  <a:moveTo>
                    <a:pt x="0" y="72454"/>
                  </a:moveTo>
                  <a:lnTo>
                    <a:pt x="60850"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16" name="Google Shape;3716;p14"/>
            <p:cNvSpPr/>
            <p:nvPr/>
          </p:nvSpPr>
          <p:spPr>
            <a:xfrm>
              <a:off x="9776101" y="3794966"/>
              <a:ext cx="27230" cy="74864"/>
            </a:xfrm>
            <a:custGeom>
              <a:avLst/>
              <a:gdLst/>
              <a:ahLst/>
              <a:cxnLst/>
              <a:rect l="l" t="t" r="r" b="b"/>
              <a:pathLst>
                <a:path w="32358" h="88963" extrusionOk="0">
                  <a:moveTo>
                    <a:pt x="0" y="88963"/>
                  </a:moveTo>
                  <a:lnTo>
                    <a:pt x="32359"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717" name="Google Shape;3717;p14"/>
          <p:cNvSpPr/>
          <p:nvPr/>
        </p:nvSpPr>
        <p:spPr>
          <a:xfrm>
            <a:off x="9187541" y="5028021"/>
            <a:ext cx="887010" cy="414870"/>
          </a:xfrm>
          <a:custGeom>
            <a:avLst/>
            <a:gdLst/>
            <a:ahLst/>
            <a:cxnLst/>
            <a:rect l="l" t="t" r="r" b="b"/>
            <a:pathLst>
              <a:path w="603945" h="282476" extrusionOk="0">
                <a:moveTo>
                  <a:pt x="0" y="263129"/>
                </a:moveTo>
                <a:lnTo>
                  <a:pt x="177553" y="263129"/>
                </a:lnTo>
                <a:lnTo>
                  <a:pt x="177553" y="282476"/>
                </a:lnTo>
                <a:lnTo>
                  <a:pt x="0" y="282476"/>
                </a:lnTo>
                <a:close/>
                <a:moveTo>
                  <a:pt x="459433" y="40482"/>
                </a:moveTo>
                <a:lnTo>
                  <a:pt x="603945" y="101501"/>
                </a:lnTo>
                <a:lnTo>
                  <a:pt x="603945" y="126504"/>
                </a:lnTo>
                <a:lnTo>
                  <a:pt x="459433" y="188268"/>
                </a:lnTo>
                <a:lnTo>
                  <a:pt x="459433" y="161628"/>
                </a:lnTo>
                <a:lnTo>
                  <a:pt x="573882" y="114152"/>
                </a:lnTo>
                <a:lnTo>
                  <a:pt x="459433" y="67122"/>
                </a:lnTo>
                <a:close/>
                <a:moveTo>
                  <a:pt x="337245" y="40482"/>
                </a:moveTo>
                <a:lnTo>
                  <a:pt x="337245" y="67122"/>
                </a:lnTo>
                <a:lnTo>
                  <a:pt x="222647" y="114152"/>
                </a:lnTo>
                <a:lnTo>
                  <a:pt x="337245" y="161628"/>
                </a:lnTo>
                <a:lnTo>
                  <a:pt x="337245" y="188268"/>
                </a:lnTo>
                <a:lnTo>
                  <a:pt x="192733" y="126504"/>
                </a:lnTo>
                <a:lnTo>
                  <a:pt x="192733" y="101501"/>
                </a:lnTo>
                <a:close/>
                <a:moveTo>
                  <a:pt x="420291" y="0"/>
                </a:moveTo>
                <a:lnTo>
                  <a:pt x="441722" y="0"/>
                </a:lnTo>
                <a:lnTo>
                  <a:pt x="378619" y="225624"/>
                </a:lnTo>
                <a:lnTo>
                  <a:pt x="357039" y="225624"/>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None/>
            </a:pPr>
            <a:endParaRPr sz="2400">
              <a:solidFill>
                <a:schemeClr val="accent6"/>
              </a:solidFill>
              <a:latin typeface="Arial"/>
              <a:ea typeface="Arial"/>
              <a:cs typeface="Arial"/>
              <a:sym typeface="Arial"/>
            </a:endParaRPr>
          </a:p>
        </p:txBody>
      </p:sp>
      <p:grpSp>
        <p:nvGrpSpPr>
          <p:cNvPr id="3718" name="Google Shape;3718;p14"/>
          <p:cNvGrpSpPr/>
          <p:nvPr/>
        </p:nvGrpSpPr>
        <p:grpSpPr>
          <a:xfrm>
            <a:off x="7494699" y="3681858"/>
            <a:ext cx="1165288" cy="1165284"/>
            <a:chOff x="6443823" y="2047452"/>
            <a:chExt cx="566712" cy="566710"/>
          </a:xfrm>
        </p:grpSpPr>
        <p:grpSp>
          <p:nvGrpSpPr>
            <p:cNvPr id="3719" name="Google Shape;3719;p14"/>
            <p:cNvGrpSpPr/>
            <p:nvPr/>
          </p:nvGrpSpPr>
          <p:grpSpPr>
            <a:xfrm>
              <a:off x="6443823" y="2047452"/>
              <a:ext cx="566712" cy="566710"/>
              <a:chOff x="-396256" y="3115798"/>
              <a:chExt cx="601858" cy="601858"/>
            </a:xfrm>
          </p:grpSpPr>
          <p:sp>
            <p:nvSpPr>
              <p:cNvPr id="3720" name="Google Shape;3720;p14"/>
              <p:cNvSpPr/>
              <p:nvPr/>
            </p:nvSpPr>
            <p:spPr>
              <a:xfrm>
                <a:off x="-396256" y="3115798"/>
                <a:ext cx="601858" cy="601858"/>
              </a:xfrm>
              <a:prstGeom prst="roundRect">
                <a:avLst>
                  <a:gd name="adj" fmla="val 9912"/>
                </a:avLst>
              </a:prstGeom>
              <a:gradFill>
                <a:gsLst>
                  <a:gs pos="0">
                    <a:schemeClr val="accent6"/>
                  </a:gs>
                  <a:gs pos="100000">
                    <a:srgbClr val="D58B3F"/>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1" name="Google Shape;3721;p14"/>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862"/>
                    </a:srgbClr>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22" name="Google Shape;3722;p14"/>
            <p:cNvGrpSpPr/>
            <p:nvPr/>
          </p:nvGrpSpPr>
          <p:grpSpPr>
            <a:xfrm>
              <a:off x="6551426" y="2142244"/>
              <a:ext cx="351505" cy="377126"/>
              <a:chOff x="7986227" y="2894842"/>
              <a:chExt cx="960388" cy="1030389"/>
            </a:xfrm>
          </p:grpSpPr>
          <p:grpSp>
            <p:nvGrpSpPr>
              <p:cNvPr id="3723" name="Google Shape;3723;p14"/>
              <p:cNvGrpSpPr/>
              <p:nvPr/>
            </p:nvGrpSpPr>
            <p:grpSpPr>
              <a:xfrm>
                <a:off x="7986227" y="2894842"/>
                <a:ext cx="498307" cy="1030389"/>
                <a:chOff x="7986227" y="2894842"/>
                <a:chExt cx="498307" cy="1030389"/>
              </a:xfrm>
            </p:grpSpPr>
            <p:sp>
              <p:nvSpPr>
                <p:cNvPr id="3724" name="Google Shape;3724;p14"/>
                <p:cNvSpPr/>
                <p:nvPr/>
              </p:nvSpPr>
              <p:spPr>
                <a:xfrm>
                  <a:off x="8063020" y="2894842"/>
                  <a:ext cx="421514" cy="1030389"/>
                </a:xfrm>
                <a:custGeom>
                  <a:avLst/>
                  <a:gdLst/>
                  <a:ahLst/>
                  <a:cxnLst/>
                  <a:rect l="l" t="t" r="r" b="b"/>
                  <a:pathLst>
                    <a:path w="421514" h="1030389" extrusionOk="0">
                      <a:moveTo>
                        <a:pt x="25378" y="366042"/>
                      </a:moveTo>
                      <a:cubicBezTo>
                        <a:pt x="9340" y="342363"/>
                        <a:pt x="0" y="313683"/>
                        <a:pt x="0" y="282928"/>
                      </a:cubicBezTo>
                      <a:cubicBezTo>
                        <a:pt x="0" y="200852"/>
                        <a:pt x="66510" y="134247"/>
                        <a:pt x="148681" y="134247"/>
                      </a:cubicBezTo>
                      <a:cubicBezTo>
                        <a:pt x="155002" y="134247"/>
                        <a:pt x="161323" y="134624"/>
                        <a:pt x="167455" y="135379"/>
                      </a:cubicBezTo>
                      <a:cubicBezTo>
                        <a:pt x="174153" y="59529"/>
                        <a:pt x="237928" y="0"/>
                        <a:pt x="315476" y="0"/>
                      </a:cubicBezTo>
                      <a:cubicBezTo>
                        <a:pt x="356986" y="0"/>
                        <a:pt x="394533" y="17076"/>
                        <a:pt x="421514" y="44529"/>
                      </a:cubicBezTo>
                      <a:lnTo>
                        <a:pt x="421514" y="959540"/>
                      </a:lnTo>
                      <a:cubicBezTo>
                        <a:pt x="396420" y="1001993"/>
                        <a:pt x="350193" y="1030390"/>
                        <a:pt x="297268" y="1030390"/>
                      </a:cubicBezTo>
                      <a:cubicBezTo>
                        <a:pt x="217550" y="1030390"/>
                        <a:pt x="153021" y="965766"/>
                        <a:pt x="153021" y="886143"/>
                      </a:cubicBezTo>
                      <a:cubicBezTo>
                        <a:pt x="153021" y="806425"/>
                        <a:pt x="217644" y="741896"/>
                        <a:pt x="297268" y="741896"/>
                      </a:cubicBez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5" name="Google Shape;3725;p14"/>
                <p:cNvSpPr/>
                <p:nvPr/>
              </p:nvSpPr>
              <p:spPr>
                <a:xfrm>
                  <a:off x="8304627" y="3102391"/>
                  <a:ext cx="179719" cy="63585"/>
                </a:xfrm>
                <a:custGeom>
                  <a:avLst/>
                  <a:gdLst/>
                  <a:ahLst/>
                  <a:cxnLst/>
                  <a:rect l="l" t="t" r="r" b="b"/>
                  <a:pathLst>
                    <a:path w="179719" h="63585" extrusionOk="0">
                      <a:moveTo>
                        <a:pt x="0" y="0"/>
                      </a:moveTo>
                      <a:cubicBezTo>
                        <a:pt x="23962" y="38208"/>
                        <a:pt x="66510" y="63586"/>
                        <a:pt x="115001" y="63586"/>
                      </a:cubicBezTo>
                      <a:cubicBezTo>
                        <a:pt x="138398" y="63586"/>
                        <a:pt x="160473" y="57642"/>
                        <a:pt x="179719" y="47170"/>
                      </a:cubicBez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6" name="Google Shape;3726;p14"/>
                <p:cNvSpPr/>
                <p:nvPr/>
              </p:nvSpPr>
              <p:spPr>
                <a:xfrm>
                  <a:off x="8206513" y="3331262"/>
                  <a:ext cx="153775" cy="70189"/>
                </a:xfrm>
                <a:custGeom>
                  <a:avLst/>
                  <a:gdLst/>
                  <a:ahLst/>
                  <a:cxnLst/>
                  <a:rect l="l" t="t" r="r" b="b"/>
                  <a:pathLst>
                    <a:path w="153775" h="70189" extrusionOk="0">
                      <a:moveTo>
                        <a:pt x="153775" y="189"/>
                      </a:moveTo>
                      <a:cubicBezTo>
                        <a:pt x="150945" y="94"/>
                        <a:pt x="148210" y="0"/>
                        <a:pt x="145379" y="0"/>
                      </a:cubicBezTo>
                      <a:cubicBezTo>
                        <a:pt x="86510" y="0"/>
                        <a:pt x="33962" y="27453"/>
                        <a:pt x="0" y="70189"/>
                      </a:cubicBez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7" name="Google Shape;3727;p14"/>
                <p:cNvSpPr/>
                <p:nvPr/>
              </p:nvSpPr>
              <p:spPr>
                <a:xfrm>
                  <a:off x="7986227" y="3251544"/>
                  <a:ext cx="297078" cy="529628"/>
                </a:xfrm>
                <a:custGeom>
                  <a:avLst/>
                  <a:gdLst/>
                  <a:ahLst/>
                  <a:cxnLst/>
                  <a:rect l="l" t="t" r="r" b="b"/>
                  <a:pathLst>
                    <a:path w="297078" h="529628" extrusionOk="0">
                      <a:moveTo>
                        <a:pt x="297079" y="94435"/>
                      </a:moveTo>
                      <a:cubicBezTo>
                        <a:pt x="273588" y="38963"/>
                        <a:pt x="218682" y="0"/>
                        <a:pt x="154624" y="0"/>
                      </a:cubicBezTo>
                      <a:cubicBezTo>
                        <a:pt x="69246" y="0"/>
                        <a:pt x="0" y="69246"/>
                        <a:pt x="0" y="154624"/>
                      </a:cubicBezTo>
                      <a:cubicBezTo>
                        <a:pt x="0" y="218587"/>
                        <a:pt x="38868" y="273588"/>
                        <a:pt x="94341" y="297079"/>
                      </a:cubicBezTo>
                      <a:cubicBezTo>
                        <a:pt x="78019" y="320947"/>
                        <a:pt x="68491" y="349815"/>
                        <a:pt x="68491" y="380948"/>
                      </a:cubicBezTo>
                      <a:cubicBezTo>
                        <a:pt x="68491" y="463024"/>
                        <a:pt x="135002" y="529629"/>
                        <a:pt x="217172" y="529629"/>
                      </a:cubicBezTo>
                      <a:cubicBezTo>
                        <a:pt x="221417" y="529629"/>
                        <a:pt x="225757" y="529440"/>
                        <a:pt x="229908" y="529063"/>
                      </a:cubicBez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8" name="Google Shape;3728;p14"/>
                <p:cNvSpPr/>
                <p:nvPr/>
              </p:nvSpPr>
              <p:spPr>
                <a:xfrm>
                  <a:off x="8271042" y="3561737"/>
                  <a:ext cx="15523" cy="105850"/>
                </a:xfrm>
                <a:custGeom>
                  <a:avLst/>
                  <a:gdLst/>
                  <a:ahLst/>
                  <a:cxnLst/>
                  <a:rect l="l" t="t" r="r" b="b"/>
                  <a:pathLst>
                    <a:path w="15523" h="105850" extrusionOk="0">
                      <a:moveTo>
                        <a:pt x="0" y="105850"/>
                      </a:moveTo>
                      <a:cubicBezTo>
                        <a:pt x="18585" y="72548"/>
                        <a:pt x="20095" y="33585"/>
                        <a:pt x="6604" y="0"/>
                      </a:cubicBez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729" name="Google Shape;3729;p14"/>
              <p:cNvSpPr/>
              <p:nvPr/>
            </p:nvSpPr>
            <p:spPr>
              <a:xfrm>
                <a:off x="8484346" y="2905596"/>
                <a:ext cx="462269" cy="1008974"/>
              </a:xfrm>
              <a:custGeom>
                <a:avLst/>
                <a:gdLst/>
                <a:ahLst/>
                <a:cxnLst/>
                <a:rect l="l" t="t" r="r" b="b"/>
                <a:pathLst>
                  <a:path w="462269" h="1008974" extrusionOk="0">
                    <a:moveTo>
                      <a:pt x="462270" y="504534"/>
                    </a:moveTo>
                    <a:cubicBezTo>
                      <a:pt x="462270" y="535290"/>
                      <a:pt x="437364" y="560195"/>
                      <a:pt x="406608" y="560195"/>
                    </a:cubicBezTo>
                    <a:cubicBezTo>
                      <a:pt x="375853" y="560195"/>
                      <a:pt x="350948" y="535290"/>
                      <a:pt x="350948" y="504534"/>
                    </a:cubicBezTo>
                    <a:cubicBezTo>
                      <a:pt x="350948" y="473779"/>
                      <a:pt x="375853" y="448873"/>
                      <a:pt x="406608" y="448873"/>
                    </a:cubicBezTo>
                    <a:cubicBezTo>
                      <a:pt x="437364" y="448873"/>
                      <a:pt x="462270" y="473779"/>
                      <a:pt x="462270" y="504534"/>
                    </a:cubicBezTo>
                    <a:close/>
                    <a:moveTo>
                      <a:pt x="351042" y="504534"/>
                    </a:moveTo>
                    <a:lnTo>
                      <a:pt x="0" y="504534"/>
                    </a:lnTo>
                    <a:moveTo>
                      <a:pt x="180285" y="55661"/>
                    </a:moveTo>
                    <a:cubicBezTo>
                      <a:pt x="180285" y="86416"/>
                      <a:pt x="155379" y="111322"/>
                      <a:pt x="124624" y="111322"/>
                    </a:cubicBezTo>
                    <a:cubicBezTo>
                      <a:pt x="93869" y="111322"/>
                      <a:pt x="68963" y="86416"/>
                      <a:pt x="68963" y="55661"/>
                    </a:cubicBezTo>
                    <a:cubicBezTo>
                      <a:pt x="68963" y="24906"/>
                      <a:pt x="93869" y="0"/>
                      <a:pt x="124624" y="0"/>
                    </a:cubicBezTo>
                    <a:cubicBezTo>
                      <a:pt x="155379" y="0"/>
                      <a:pt x="180285" y="24906"/>
                      <a:pt x="180285" y="55661"/>
                    </a:cubicBezTo>
                    <a:close/>
                    <a:moveTo>
                      <a:pt x="359815" y="185568"/>
                    </a:moveTo>
                    <a:cubicBezTo>
                      <a:pt x="381514" y="207267"/>
                      <a:pt x="381514" y="242456"/>
                      <a:pt x="359815" y="264249"/>
                    </a:cubicBezTo>
                    <a:cubicBezTo>
                      <a:pt x="338117" y="285947"/>
                      <a:pt x="302928" y="285947"/>
                      <a:pt x="281135" y="264249"/>
                    </a:cubicBezTo>
                    <a:cubicBezTo>
                      <a:pt x="259437" y="242550"/>
                      <a:pt x="259437" y="207361"/>
                      <a:pt x="281135" y="185568"/>
                    </a:cubicBezTo>
                    <a:cubicBezTo>
                      <a:pt x="302834" y="163870"/>
                      <a:pt x="338023" y="163870"/>
                      <a:pt x="359815" y="185568"/>
                    </a:cubicBezTo>
                    <a:close/>
                    <a:moveTo>
                      <a:pt x="281135" y="264154"/>
                    </a:moveTo>
                    <a:lnTo>
                      <a:pt x="193776" y="351514"/>
                    </a:lnTo>
                    <a:lnTo>
                      <a:pt x="283" y="351514"/>
                    </a:lnTo>
                    <a:moveTo>
                      <a:pt x="124624" y="1008974"/>
                    </a:moveTo>
                    <a:cubicBezTo>
                      <a:pt x="93869" y="1008974"/>
                      <a:pt x="68963" y="984068"/>
                      <a:pt x="68963" y="953313"/>
                    </a:cubicBezTo>
                    <a:cubicBezTo>
                      <a:pt x="68963" y="922558"/>
                      <a:pt x="93869" y="897653"/>
                      <a:pt x="124624" y="897653"/>
                    </a:cubicBezTo>
                    <a:cubicBezTo>
                      <a:pt x="155379" y="897653"/>
                      <a:pt x="180285" y="922558"/>
                      <a:pt x="180285" y="953313"/>
                    </a:cubicBezTo>
                    <a:cubicBezTo>
                      <a:pt x="180285" y="984068"/>
                      <a:pt x="155379" y="1008974"/>
                      <a:pt x="124624" y="1008974"/>
                    </a:cubicBezTo>
                    <a:close/>
                    <a:moveTo>
                      <a:pt x="281135" y="823501"/>
                    </a:moveTo>
                    <a:cubicBezTo>
                      <a:pt x="259437" y="801802"/>
                      <a:pt x="259437" y="766613"/>
                      <a:pt x="281135" y="744820"/>
                    </a:cubicBezTo>
                    <a:cubicBezTo>
                      <a:pt x="302834" y="723122"/>
                      <a:pt x="338023" y="723122"/>
                      <a:pt x="359815" y="744820"/>
                    </a:cubicBezTo>
                    <a:cubicBezTo>
                      <a:pt x="381608" y="766519"/>
                      <a:pt x="381514" y="801708"/>
                      <a:pt x="359815" y="823501"/>
                    </a:cubicBezTo>
                    <a:cubicBezTo>
                      <a:pt x="338117" y="845199"/>
                      <a:pt x="302928" y="845199"/>
                      <a:pt x="281135" y="823501"/>
                    </a:cubicBezTo>
                    <a:close/>
                    <a:moveTo>
                      <a:pt x="188" y="657461"/>
                    </a:moveTo>
                    <a:lnTo>
                      <a:pt x="193681" y="657461"/>
                    </a:lnTo>
                    <a:lnTo>
                      <a:pt x="281041" y="744820"/>
                    </a:lnTo>
                    <a:moveTo>
                      <a:pt x="124624" y="111228"/>
                    </a:moveTo>
                    <a:lnTo>
                      <a:pt x="124624" y="351514"/>
                    </a:lnTo>
                    <a:moveTo>
                      <a:pt x="124624" y="897747"/>
                    </a:moveTo>
                    <a:lnTo>
                      <a:pt x="124624" y="657461"/>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3730" name="Google Shape;3730;p14"/>
          <p:cNvGrpSpPr/>
          <p:nvPr/>
        </p:nvGrpSpPr>
        <p:grpSpPr>
          <a:xfrm>
            <a:off x="7494697" y="5028021"/>
            <a:ext cx="1165286" cy="367410"/>
            <a:chOff x="7320983" y="2710198"/>
            <a:chExt cx="482734" cy="199468"/>
          </a:xfrm>
        </p:grpSpPr>
        <p:sp>
          <p:nvSpPr>
            <p:cNvPr id="3731" name="Google Shape;3731;p14"/>
            <p:cNvSpPr/>
            <p:nvPr/>
          </p:nvSpPr>
          <p:spPr>
            <a:xfrm>
              <a:off x="7320983" y="2710198"/>
              <a:ext cx="431331" cy="27718"/>
            </a:xfrm>
            <a:custGeom>
              <a:avLst/>
              <a:gdLst/>
              <a:ahLst/>
              <a:cxnLst/>
              <a:rect l="l" t="t" r="r" b="b"/>
              <a:pathLst>
                <a:path w="602882" h="38507" extrusionOk="0">
                  <a:moveTo>
                    <a:pt x="0" y="0"/>
                  </a:moveTo>
                  <a:lnTo>
                    <a:pt x="602883" y="0"/>
                  </a:lnTo>
                  <a:lnTo>
                    <a:pt x="602883" y="38507"/>
                  </a:lnTo>
                  <a:lnTo>
                    <a:pt x="0" y="385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32" name="Google Shape;3732;p14"/>
            <p:cNvSpPr/>
            <p:nvPr/>
          </p:nvSpPr>
          <p:spPr>
            <a:xfrm>
              <a:off x="7320983" y="2767448"/>
              <a:ext cx="482734" cy="27718"/>
            </a:xfrm>
            <a:custGeom>
              <a:avLst/>
              <a:gdLst/>
              <a:ahLst/>
              <a:cxnLst/>
              <a:rect l="l" t="t" r="r" b="b"/>
              <a:pathLst>
                <a:path w="674729" h="38507" extrusionOk="0">
                  <a:moveTo>
                    <a:pt x="0" y="0"/>
                  </a:moveTo>
                  <a:lnTo>
                    <a:pt x="674730" y="0"/>
                  </a:lnTo>
                  <a:lnTo>
                    <a:pt x="674730" y="38507"/>
                  </a:lnTo>
                  <a:lnTo>
                    <a:pt x="0" y="385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33" name="Google Shape;3733;p14"/>
            <p:cNvSpPr/>
            <p:nvPr/>
          </p:nvSpPr>
          <p:spPr>
            <a:xfrm>
              <a:off x="7320983" y="2824698"/>
              <a:ext cx="359458" cy="27718"/>
            </a:xfrm>
            <a:custGeom>
              <a:avLst/>
              <a:gdLst/>
              <a:ahLst/>
              <a:cxnLst/>
              <a:rect l="l" t="t" r="r" b="b"/>
              <a:pathLst>
                <a:path w="502423" h="38507" extrusionOk="0">
                  <a:moveTo>
                    <a:pt x="0" y="0"/>
                  </a:moveTo>
                  <a:lnTo>
                    <a:pt x="502423" y="0"/>
                  </a:lnTo>
                  <a:lnTo>
                    <a:pt x="502423" y="38507"/>
                  </a:lnTo>
                  <a:lnTo>
                    <a:pt x="0" y="385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34" name="Google Shape;3734;p14"/>
            <p:cNvSpPr/>
            <p:nvPr/>
          </p:nvSpPr>
          <p:spPr>
            <a:xfrm>
              <a:off x="7320983" y="2881948"/>
              <a:ext cx="426507" cy="27718"/>
            </a:xfrm>
            <a:custGeom>
              <a:avLst/>
              <a:gdLst/>
              <a:ahLst/>
              <a:cxnLst/>
              <a:rect l="l" t="t" r="r" b="b"/>
              <a:pathLst>
                <a:path w="596139" h="38507" extrusionOk="0">
                  <a:moveTo>
                    <a:pt x="0" y="0"/>
                  </a:moveTo>
                  <a:lnTo>
                    <a:pt x="596140" y="0"/>
                  </a:lnTo>
                  <a:lnTo>
                    <a:pt x="596140" y="38507"/>
                  </a:lnTo>
                  <a:lnTo>
                    <a:pt x="0" y="385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35" name="Google Shape;3735;p14"/>
          <p:cNvGrpSpPr/>
          <p:nvPr/>
        </p:nvGrpSpPr>
        <p:grpSpPr>
          <a:xfrm>
            <a:off x="9410941" y="3921680"/>
            <a:ext cx="505858" cy="505858"/>
            <a:chOff x="9410941" y="3921680"/>
            <a:chExt cx="505858" cy="505858"/>
          </a:xfrm>
        </p:grpSpPr>
        <p:sp>
          <p:nvSpPr>
            <p:cNvPr id="3736" name="Google Shape;3736;p14"/>
            <p:cNvSpPr/>
            <p:nvPr/>
          </p:nvSpPr>
          <p:spPr>
            <a:xfrm>
              <a:off x="9410941" y="3921680"/>
              <a:ext cx="505858" cy="505858"/>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nvGrpSpPr>
            <p:cNvPr id="3737" name="Google Shape;3737;p14"/>
            <p:cNvGrpSpPr/>
            <p:nvPr/>
          </p:nvGrpSpPr>
          <p:grpSpPr>
            <a:xfrm>
              <a:off x="9614013" y="3997410"/>
              <a:ext cx="227506" cy="227055"/>
              <a:chOff x="9614013" y="3997410"/>
              <a:chExt cx="227506" cy="227055"/>
            </a:xfrm>
          </p:grpSpPr>
          <p:sp>
            <p:nvSpPr>
              <p:cNvPr id="3738" name="Google Shape;3738;p14"/>
              <p:cNvSpPr/>
              <p:nvPr/>
            </p:nvSpPr>
            <p:spPr>
              <a:xfrm>
                <a:off x="9614013" y="4124752"/>
                <a:ext cx="99713" cy="99713"/>
              </a:xfrm>
              <a:custGeom>
                <a:avLst/>
                <a:gdLst/>
                <a:ahLst/>
                <a:cxnLst/>
                <a:rect l="l" t="t" r="r" b="b"/>
                <a:pathLst>
                  <a:path w="118491" h="118491" extrusionOk="0">
                    <a:moveTo>
                      <a:pt x="118492" y="59246"/>
                    </a:moveTo>
                    <a:cubicBezTo>
                      <a:pt x="118492" y="91967"/>
                      <a:pt x="91967" y="118492"/>
                      <a:pt x="59246" y="118492"/>
                    </a:cubicBezTo>
                    <a:cubicBezTo>
                      <a:pt x="26525" y="118492"/>
                      <a:pt x="0" y="91967"/>
                      <a:pt x="0" y="59246"/>
                    </a:cubicBezTo>
                    <a:cubicBezTo>
                      <a:pt x="0" y="26525"/>
                      <a:pt x="26525" y="0"/>
                      <a:pt x="59246" y="0"/>
                    </a:cubicBezTo>
                    <a:cubicBezTo>
                      <a:pt x="91967" y="0"/>
                      <a:pt x="118492" y="26525"/>
                      <a:pt x="118492" y="59246"/>
                    </a:cubicBezTo>
                    <a:close/>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39" name="Google Shape;3739;p14"/>
              <p:cNvSpPr/>
              <p:nvPr/>
            </p:nvSpPr>
            <p:spPr>
              <a:xfrm>
                <a:off x="9700046" y="3997410"/>
                <a:ext cx="141473" cy="141473"/>
              </a:xfrm>
              <a:custGeom>
                <a:avLst/>
                <a:gdLst/>
                <a:ahLst/>
                <a:cxnLst/>
                <a:rect l="l" t="t" r="r" b="b"/>
                <a:pathLst>
                  <a:path w="168115" h="168115" extrusionOk="0">
                    <a:moveTo>
                      <a:pt x="0" y="168115"/>
                    </a:moveTo>
                    <a:lnTo>
                      <a:pt x="168115"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3740" name="Google Shape;3740;p14"/>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3"/>
              </a:gs>
              <a:gs pos="49000">
                <a:schemeClr val="accent3"/>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1" name="Google Shape;3741;p14"/>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2"/>
              </a:gs>
              <a:gs pos="32000">
                <a:schemeClr val="accent3"/>
              </a:gs>
              <a:gs pos="100000">
                <a:schemeClr val="accent3"/>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3742" name="Google Shape;3742;p14"/>
          <p:cNvGrpSpPr/>
          <p:nvPr/>
        </p:nvGrpSpPr>
        <p:grpSpPr>
          <a:xfrm>
            <a:off x="579815" y="1618697"/>
            <a:ext cx="912101" cy="912097"/>
            <a:chOff x="579815" y="1618697"/>
            <a:chExt cx="912101" cy="912097"/>
          </a:xfrm>
        </p:grpSpPr>
        <p:sp>
          <p:nvSpPr>
            <p:cNvPr id="3743" name="Google Shape;3743;p14"/>
            <p:cNvSpPr/>
            <p:nvPr/>
          </p:nvSpPr>
          <p:spPr>
            <a:xfrm>
              <a:off x="579815" y="1618697"/>
              <a:ext cx="912101" cy="912097"/>
            </a:xfrm>
            <a:prstGeom prst="ellipse">
              <a:avLst/>
            </a:prstGeom>
            <a:gradFill>
              <a:gsLst>
                <a:gs pos="0">
                  <a:schemeClr val="accent2"/>
                </a:gs>
                <a:gs pos="70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nvGrpSpPr>
            <p:cNvPr id="3744" name="Google Shape;3744;p14"/>
            <p:cNvGrpSpPr/>
            <p:nvPr/>
          </p:nvGrpSpPr>
          <p:grpSpPr>
            <a:xfrm>
              <a:off x="799900" y="1854621"/>
              <a:ext cx="471930" cy="440248"/>
              <a:chOff x="1854219" y="4375174"/>
              <a:chExt cx="543307" cy="506834"/>
            </a:xfrm>
          </p:grpSpPr>
          <p:sp>
            <p:nvSpPr>
              <p:cNvPr id="3745" name="Google Shape;3745;p14"/>
              <p:cNvSpPr/>
              <p:nvPr/>
            </p:nvSpPr>
            <p:spPr>
              <a:xfrm>
                <a:off x="1854219" y="4375174"/>
                <a:ext cx="283524" cy="352456"/>
              </a:xfrm>
              <a:custGeom>
                <a:avLst/>
                <a:gdLst/>
                <a:ahLst/>
                <a:cxnLst/>
                <a:rect l="l" t="t" r="r" b="b"/>
                <a:pathLst>
                  <a:path w="283524" h="352456" extrusionOk="0">
                    <a:moveTo>
                      <a:pt x="276356" y="338120"/>
                    </a:moveTo>
                    <a:lnTo>
                      <a:pt x="65491" y="338120"/>
                    </a:lnTo>
                    <a:lnTo>
                      <a:pt x="65491" y="116128"/>
                    </a:lnTo>
                    <a:cubicBezTo>
                      <a:pt x="94279" y="112573"/>
                      <a:pt x="116644" y="88028"/>
                      <a:pt x="116644" y="58322"/>
                    </a:cubicBezTo>
                    <a:cubicBezTo>
                      <a:pt x="116644" y="26150"/>
                      <a:pt x="90494" y="0"/>
                      <a:pt x="58322" y="0"/>
                    </a:cubicBezTo>
                    <a:cubicBezTo>
                      <a:pt x="26150" y="0"/>
                      <a:pt x="0" y="26150"/>
                      <a:pt x="0" y="58322"/>
                    </a:cubicBezTo>
                    <a:cubicBezTo>
                      <a:pt x="0" y="88028"/>
                      <a:pt x="22365" y="112573"/>
                      <a:pt x="51154" y="116128"/>
                    </a:cubicBezTo>
                    <a:lnTo>
                      <a:pt x="51154" y="345288"/>
                    </a:lnTo>
                    <a:cubicBezTo>
                      <a:pt x="51154" y="349245"/>
                      <a:pt x="54365" y="352456"/>
                      <a:pt x="58322" y="352456"/>
                    </a:cubicBezTo>
                    <a:lnTo>
                      <a:pt x="276356" y="352456"/>
                    </a:lnTo>
                    <a:cubicBezTo>
                      <a:pt x="280313" y="352456"/>
                      <a:pt x="283525" y="349245"/>
                      <a:pt x="283525" y="345288"/>
                    </a:cubicBezTo>
                    <a:cubicBezTo>
                      <a:pt x="283525" y="341331"/>
                      <a:pt x="280313" y="338120"/>
                      <a:pt x="276356" y="338120"/>
                    </a:cubicBezTo>
                    <a:close/>
                    <a:moveTo>
                      <a:pt x="14337" y="58322"/>
                    </a:moveTo>
                    <a:cubicBezTo>
                      <a:pt x="14337" y="34064"/>
                      <a:pt x="34064" y="14337"/>
                      <a:pt x="58322" y="14337"/>
                    </a:cubicBezTo>
                    <a:cubicBezTo>
                      <a:pt x="82580" y="14337"/>
                      <a:pt x="102308" y="34064"/>
                      <a:pt x="102308" y="58322"/>
                    </a:cubicBezTo>
                    <a:cubicBezTo>
                      <a:pt x="102308" y="82580"/>
                      <a:pt x="82580" y="102308"/>
                      <a:pt x="58322" y="102308"/>
                    </a:cubicBezTo>
                    <a:cubicBezTo>
                      <a:pt x="34064" y="102308"/>
                      <a:pt x="14337" y="82580"/>
                      <a:pt x="14337" y="583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6" name="Google Shape;3746;p14"/>
              <p:cNvSpPr/>
              <p:nvPr/>
            </p:nvSpPr>
            <p:spPr>
              <a:xfrm>
                <a:off x="2148873" y="4639319"/>
                <a:ext cx="115837" cy="170087"/>
              </a:xfrm>
              <a:custGeom>
                <a:avLst/>
                <a:gdLst/>
                <a:ahLst/>
                <a:cxnLst/>
                <a:rect l="l" t="t" r="r" b="b"/>
                <a:pathLst>
                  <a:path w="115837" h="170087" extrusionOk="0">
                    <a:moveTo>
                      <a:pt x="113027" y="79364"/>
                    </a:moveTo>
                    <a:lnTo>
                      <a:pt x="11522" y="1487"/>
                    </a:lnTo>
                    <a:cubicBezTo>
                      <a:pt x="8368" y="-922"/>
                      <a:pt x="3895" y="-348"/>
                      <a:pt x="1487" y="2806"/>
                    </a:cubicBezTo>
                    <a:cubicBezTo>
                      <a:pt x="-922" y="5960"/>
                      <a:pt x="-348" y="10433"/>
                      <a:pt x="2806" y="12841"/>
                    </a:cubicBezTo>
                    <a:lnTo>
                      <a:pt x="96855" y="85042"/>
                    </a:lnTo>
                    <a:lnTo>
                      <a:pt x="2806" y="157242"/>
                    </a:lnTo>
                    <a:cubicBezTo>
                      <a:pt x="-348" y="159650"/>
                      <a:pt x="-922" y="164181"/>
                      <a:pt x="1487" y="167278"/>
                    </a:cubicBezTo>
                    <a:cubicBezTo>
                      <a:pt x="2920" y="169113"/>
                      <a:pt x="5042" y="170088"/>
                      <a:pt x="7164" y="170088"/>
                    </a:cubicBezTo>
                    <a:cubicBezTo>
                      <a:pt x="8712" y="170088"/>
                      <a:pt x="10203" y="169629"/>
                      <a:pt x="11522" y="168597"/>
                    </a:cubicBezTo>
                    <a:lnTo>
                      <a:pt x="113027" y="90719"/>
                    </a:lnTo>
                    <a:cubicBezTo>
                      <a:pt x="114805" y="89343"/>
                      <a:pt x="115837" y="87278"/>
                      <a:pt x="115837" y="85042"/>
                    </a:cubicBezTo>
                    <a:cubicBezTo>
                      <a:pt x="115837" y="82805"/>
                      <a:pt x="114805" y="80741"/>
                      <a:pt x="113027" y="79364"/>
                    </a:cubicBezTo>
                    <a:lnTo>
                      <a:pt x="113027" y="7936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7" name="Google Shape;3747;p14"/>
              <p:cNvSpPr/>
              <p:nvPr/>
            </p:nvSpPr>
            <p:spPr>
              <a:xfrm>
                <a:off x="2114002" y="4529552"/>
                <a:ext cx="283524" cy="352456"/>
              </a:xfrm>
              <a:custGeom>
                <a:avLst/>
                <a:gdLst/>
                <a:ahLst/>
                <a:cxnLst/>
                <a:rect l="l" t="t" r="r" b="b"/>
                <a:pathLst>
                  <a:path w="283524" h="352456" extrusionOk="0">
                    <a:moveTo>
                      <a:pt x="232371" y="236328"/>
                    </a:moveTo>
                    <a:lnTo>
                      <a:pt x="232371" y="7168"/>
                    </a:lnTo>
                    <a:cubicBezTo>
                      <a:pt x="232371" y="3211"/>
                      <a:pt x="229160" y="0"/>
                      <a:pt x="225203" y="0"/>
                    </a:cubicBezTo>
                    <a:lnTo>
                      <a:pt x="7168" y="0"/>
                    </a:lnTo>
                    <a:cubicBezTo>
                      <a:pt x="3211" y="0"/>
                      <a:pt x="0" y="3211"/>
                      <a:pt x="0" y="7168"/>
                    </a:cubicBezTo>
                    <a:cubicBezTo>
                      <a:pt x="0" y="11125"/>
                      <a:pt x="3211" y="14337"/>
                      <a:pt x="7168" y="14337"/>
                    </a:cubicBezTo>
                    <a:lnTo>
                      <a:pt x="218034" y="14337"/>
                    </a:lnTo>
                    <a:lnTo>
                      <a:pt x="218034" y="236328"/>
                    </a:lnTo>
                    <a:cubicBezTo>
                      <a:pt x="189246" y="239884"/>
                      <a:pt x="166881" y="264428"/>
                      <a:pt x="166881" y="294134"/>
                    </a:cubicBezTo>
                    <a:cubicBezTo>
                      <a:pt x="166881" y="326306"/>
                      <a:pt x="193031" y="352456"/>
                      <a:pt x="225203" y="352456"/>
                    </a:cubicBezTo>
                    <a:cubicBezTo>
                      <a:pt x="257375" y="352456"/>
                      <a:pt x="283525" y="326306"/>
                      <a:pt x="283525" y="294134"/>
                    </a:cubicBezTo>
                    <a:cubicBezTo>
                      <a:pt x="283525" y="264428"/>
                      <a:pt x="261159" y="239884"/>
                      <a:pt x="232371" y="236328"/>
                    </a:cubicBezTo>
                    <a:close/>
                    <a:moveTo>
                      <a:pt x="225203" y="338120"/>
                    </a:moveTo>
                    <a:cubicBezTo>
                      <a:pt x="200945" y="338120"/>
                      <a:pt x="181217" y="318392"/>
                      <a:pt x="181217" y="294134"/>
                    </a:cubicBezTo>
                    <a:cubicBezTo>
                      <a:pt x="181217" y="269876"/>
                      <a:pt x="200945" y="250149"/>
                      <a:pt x="225203" y="250149"/>
                    </a:cubicBezTo>
                    <a:cubicBezTo>
                      <a:pt x="249461" y="250149"/>
                      <a:pt x="269188" y="269876"/>
                      <a:pt x="269188" y="294134"/>
                    </a:cubicBezTo>
                    <a:cubicBezTo>
                      <a:pt x="269188" y="318392"/>
                      <a:pt x="249461" y="338120"/>
                      <a:pt x="225203" y="33812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8" name="Google Shape;3748;p14"/>
              <p:cNvSpPr/>
              <p:nvPr/>
            </p:nvSpPr>
            <p:spPr>
              <a:xfrm>
                <a:off x="1986920" y="4447722"/>
                <a:ext cx="115894" cy="170087"/>
              </a:xfrm>
              <a:custGeom>
                <a:avLst/>
                <a:gdLst/>
                <a:ahLst/>
                <a:cxnLst/>
                <a:rect l="l" t="t" r="r" b="b"/>
                <a:pathLst>
                  <a:path w="115894" h="170087" extrusionOk="0">
                    <a:moveTo>
                      <a:pt x="2867" y="90719"/>
                    </a:moveTo>
                    <a:lnTo>
                      <a:pt x="104372" y="168597"/>
                    </a:lnTo>
                    <a:cubicBezTo>
                      <a:pt x="105691" y="169571"/>
                      <a:pt x="107182" y="170088"/>
                      <a:pt x="108730" y="170088"/>
                    </a:cubicBezTo>
                    <a:cubicBezTo>
                      <a:pt x="110910" y="170088"/>
                      <a:pt x="113031" y="169113"/>
                      <a:pt x="114408" y="167278"/>
                    </a:cubicBezTo>
                    <a:cubicBezTo>
                      <a:pt x="116816" y="164124"/>
                      <a:pt x="116243" y="159650"/>
                      <a:pt x="113089" y="157242"/>
                    </a:cubicBezTo>
                    <a:lnTo>
                      <a:pt x="18982" y="85042"/>
                    </a:lnTo>
                    <a:lnTo>
                      <a:pt x="113031" y="12841"/>
                    </a:lnTo>
                    <a:cubicBezTo>
                      <a:pt x="116186" y="10433"/>
                      <a:pt x="116759" y="5960"/>
                      <a:pt x="114350" y="2806"/>
                    </a:cubicBezTo>
                    <a:cubicBezTo>
                      <a:pt x="111942" y="-348"/>
                      <a:pt x="107411" y="-922"/>
                      <a:pt x="104315" y="1487"/>
                    </a:cubicBezTo>
                    <a:lnTo>
                      <a:pt x="2810" y="79364"/>
                    </a:lnTo>
                    <a:cubicBezTo>
                      <a:pt x="1032" y="80741"/>
                      <a:pt x="0" y="82805"/>
                      <a:pt x="0" y="85042"/>
                    </a:cubicBezTo>
                    <a:cubicBezTo>
                      <a:pt x="0" y="87278"/>
                      <a:pt x="1032" y="89400"/>
                      <a:pt x="2810" y="90719"/>
                    </a:cubicBezTo>
                    <a:lnTo>
                      <a:pt x="2810" y="9071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9" name="Google Shape;3749;p14"/>
              <p:cNvSpPr/>
              <p:nvPr/>
            </p:nvSpPr>
            <p:spPr>
              <a:xfrm>
                <a:off x="1854219" y="476536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0" name="Google Shape;3750;p14"/>
              <p:cNvSpPr/>
              <p:nvPr/>
            </p:nvSpPr>
            <p:spPr>
              <a:xfrm>
                <a:off x="2280882" y="437517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3751" name="Google Shape;3751;p14"/>
          <p:cNvGrpSpPr/>
          <p:nvPr/>
        </p:nvGrpSpPr>
        <p:grpSpPr>
          <a:xfrm>
            <a:off x="579815" y="2820551"/>
            <a:ext cx="912101" cy="912097"/>
            <a:chOff x="579815" y="2820551"/>
            <a:chExt cx="912101" cy="912097"/>
          </a:xfrm>
        </p:grpSpPr>
        <p:sp>
          <p:nvSpPr>
            <p:cNvPr id="3752" name="Google Shape;3752;p14"/>
            <p:cNvSpPr/>
            <p:nvPr/>
          </p:nvSpPr>
          <p:spPr>
            <a:xfrm>
              <a:off x="579815" y="2820551"/>
              <a:ext cx="912101" cy="912097"/>
            </a:xfrm>
            <a:prstGeom prst="ellipse">
              <a:avLst/>
            </a:prstGeom>
            <a:gradFill>
              <a:gsLst>
                <a:gs pos="0">
                  <a:schemeClr val="accent2"/>
                </a:gs>
                <a:gs pos="70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3753" name="Google Shape;3753;p14"/>
            <p:cNvGrpSpPr/>
            <p:nvPr/>
          </p:nvGrpSpPr>
          <p:grpSpPr>
            <a:xfrm>
              <a:off x="732457" y="2973737"/>
              <a:ext cx="606818" cy="605726"/>
              <a:chOff x="7127525" y="722042"/>
              <a:chExt cx="598687" cy="597612"/>
            </a:xfrm>
          </p:grpSpPr>
          <p:sp>
            <p:nvSpPr>
              <p:cNvPr id="3754" name="Google Shape;3754;p14"/>
              <p:cNvSpPr/>
              <p:nvPr/>
            </p:nvSpPr>
            <p:spPr>
              <a:xfrm>
                <a:off x="7205318" y="799708"/>
                <a:ext cx="63246" cy="63245"/>
              </a:xfrm>
              <a:custGeom>
                <a:avLst/>
                <a:gdLst/>
                <a:ahLst/>
                <a:cxnLst/>
                <a:rect l="l" t="t" r="r" b="b"/>
                <a:pathLst>
                  <a:path w="63246" h="63245"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5" name="Google Shape;3755;p14"/>
              <p:cNvSpPr/>
              <p:nvPr/>
            </p:nvSpPr>
            <p:spPr>
              <a:xfrm>
                <a:off x="7585173" y="1178931"/>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6" name="Google Shape;3756;p14"/>
              <p:cNvSpPr/>
              <p:nvPr/>
            </p:nvSpPr>
            <p:spPr>
              <a:xfrm>
                <a:off x="7205318" y="1178931"/>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7" name="Google Shape;3757;p14"/>
              <p:cNvSpPr/>
              <p:nvPr/>
            </p:nvSpPr>
            <p:spPr>
              <a:xfrm>
                <a:off x="7585173" y="799708"/>
                <a:ext cx="63246" cy="63245"/>
              </a:xfrm>
              <a:custGeom>
                <a:avLst/>
                <a:gdLst/>
                <a:ahLst/>
                <a:cxnLst/>
                <a:rect l="l" t="t" r="r" b="b"/>
                <a:pathLst>
                  <a:path w="63246" h="63245"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8" name="Google Shape;3758;p14"/>
              <p:cNvSpPr/>
              <p:nvPr/>
            </p:nvSpPr>
            <p:spPr>
              <a:xfrm>
                <a:off x="7127525" y="989636"/>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9" name="Google Shape;3759;p14"/>
              <p:cNvSpPr/>
              <p:nvPr/>
            </p:nvSpPr>
            <p:spPr>
              <a:xfrm>
                <a:off x="7662966" y="989636"/>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0" name="Google Shape;3760;p14"/>
              <p:cNvSpPr/>
              <p:nvPr/>
            </p:nvSpPr>
            <p:spPr>
              <a:xfrm>
                <a:off x="7394929" y="1256408"/>
                <a:ext cx="63245" cy="63246"/>
              </a:xfrm>
              <a:custGeom>
                <a:avLst/>
                <a:gdLst/>
                <a:ahLst/>
                <a:cxnLst/>
                <a:rect l="l" t="t" r="r" b="b"/>
                <a:pathLst>
                  <a:path w="63245"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1" name="Google Shape;3761;p14"/>
              <p:cNvSpPr/>
              <p:nvPr/>
            </p:nvSpPr>
            <p:spPr>
              <a:xfrm>
                <a:off x="7394929" y="722042"/>
                <a:ext cx="63245" cy="63246"/>
              </a:xfrm>
              <a:custGeom>
                <a:avLst/>
                <a:gdLst/>
                <a:ahLst/>
                <a:cxnLst/>
                <a:rect l="l" t="t" r="r" b="b"/>
                <a:pathLst>
                  <a:path w="63245"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2" name="Google Shape;3762;p14"/>
              <p:cNvSpPr/>
              <p:nvPr/>
            </p:nvSpPr>
            <p:spPr>
              <a:xfrm>
                <a:off x="7268690" y="750187"/>
                <a:ext cx="112135" cy="58312"/>
              </a:xfrm>
              <a:custGeom>
                <a:avLst/>
                <a:gdLst/>
                <a:ahLst/>
                <a:cxnLst/>
                <a:rect l="l" t="t" r="r" b="b"/>
                <a:pathLst>
                  <a:path w="112135" h="58312" extrusionOk="0">
                    <a:moveTo>
                      <a:pt x="0" y="46043"/>
                    </a:moveTo>
                    <a:lnTo>
                      <a:pt x="2530" y="48320"/>
                    </a:lnTo>
                    <a:cubicBezTo>
                      <a:pt x="5487" y="51289"/>
                      <a:pt x="8019" y="54652"/>
                      <a:pt x="10056" y="58313"/>
                    </a:cubicBezTo>
                    <a:cubicBezTo>
                      <a:pt x="40607" y="36953"/>
                      <a:pt x="75439" y="22493"/>
                      <a:pt x="112135" y="15938"/>
                    </a:cubicBezTo>
                    <a:cubicBezTo>
                      <a:pt x="111002" y="11817"/>
                      <a:pt x="110428" y="7562"/>
                      <a:pt x="110428" y="3289"/>
                    </a:cubicBezTo>
                    <a:cubicBezTo>
                      <a:pt x="110363" y="2193"/>
                      <a:pt x="110363" y="1095"/>
                      <a:pt x="110428" y="0"/>
                    </a:cubicBezTo>
                    <a:cubicBezTo>
                      <a:pt x="70670" y="7005"/>
                      <a:pt x="32957" y="22729"/>
                      <a:pt x="0" y="4604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3" name="Google Shape;3763;p14"/>
              <p:cNvSpPr/>
              <p:nvPr/>
            </p:nvSpPr>
            <p:spPr>
              <a:xfrm>
                <a:off x="7211643" y="849926"/>
                <a:ext cx="12649" cy="10372"/>
              </a:xfrm>
              <a:custGeom>
                <a:avLst/>
                <a:gdLst/>
                <a:ahLst/>
                <a:cxnLst/>
                <a:rect l="l" t="t" r="r" b="b"/>
                <a:pathLst>
                  <a:path w="12649" h="10372" extrusionOk="0">
                    <a:moveTo>
                      <a:pt x="12270" y="10372"/>
                    </a:moveTo>
                    <a:lnTo>
                      <a:pt x="12649" y="9866"/>
                    </a:lnTo>
                    <a:lnTo>
                      <a:pt x="0" y="0"/>
                    </a:lnTo>
                    <a:lnTo>
                      <a:pt x="0" y="0"/>
                    </a:lnTo>
                    <a:cubicBezTo>
                      <a:pt x="1080" y="1589"/>
                      <a:pt x="2308" y="3071"/>
                      <a:pt x="3668" y="4427"/>
                    </a:cubicBezTo>
                    <a:cubicBezTo>
                      <a:pt x="6185" y="6872"/>
                      <a:pt x="9092" y="8882"/>
                      <a:pt x="12270" y="1037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4" name="Google Shape;3764;p14"/>
              <p:cNvSpPr/>
              <p:nvPr/>
            </p:nvSpPr>
            <p:spPr>
              <a:xfrm>
                <a:off x="7256800" y="1222445"/>
                <a:ext cx="10625" cy="13344"/>
              </a:xfrm>
              <a:custGeom>
                <a:avLst/>
                <a:gdLst/>
                <a:ahLst/>
                <a:cxnLst/>
                <a:rect l="l" t="t" r="r" b="b"/>
                <a:pathLst>
                  <a:path w="10625" h="13344" extrusionOk="0">
                    <a:moveTo>
                      <a:pt x="9803" y="0"/>
                    </a:moveTo>
                    <a:lnTo>
                      <a:pt x="0" y="12649"/>
                    </a:lnTo>
                    <a:cubicBezTo>
                      <a:pt x="0" y="12649"/>
                      <a:pt x="632" y="13092"/>
                      <a:pt x="949" y="13345"/>
                    </a:cubicBezTo>
                    <a:cubicBezTo>
                      <a:pt x="2124" y="12490"/>
                      <a:pt x="3244" y="11561"/>
                      <a:pt x="4301" y="10562"/>
                    </a:cubicBezTo>
                    <a:cubicBezTo>
                      <a:pt x="6979" y="7772"/>
                      <a:pt x="9123" y="4513"/>
                      <a:pt x="10625" y="9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5" name="Google Shape;3765;p14"/>
              <p:cNvSpPr/>
              <p:nvPr/>
            </p:nvSpPr>
            <p:spPr>
              <a:xfrm>
                <a:off x="7156492" y="863144"/>
                <a:ext cx="57680" cy="112261"/>
              </a:xfrm>
              <a:custGeom>
                <a:avLst/>
                <a:gdLst/>
                <a:ahLst/>
                <a:cxnLst/>
                <a:rect l="l" t="t" r="r" b="b"/>
                <a:pathLst>
                  <a:path w="57680" h="112261" extrusionOk="0">
                    <a:moveTo>
                      <a:pt x="3099" y="110491"/>
                    </a:moveTo>
                    <a:cubicBezTo>
                      <a:pt x="7377" y="110498"/>
                      <a:pt x="11633" y="111094"/>
                      <a:pt x="15748" y="112262"/>
                    </a:cubicBezTo>
                    <a:cubicBezTo>
                      <a:pt x="22172" y="75562"/>
                      <a:pt x="36478" y="40692"/>
                      <a:pt x="57680" y="10056"/>
                    </a:cubicBezTo>
                    <a:cubicBezTo>
                      <a:pt x="54008" y="7982"/>
                      <a:pt x="50627" y="5430"/>
                      <a:pt x="47624" y="2467"/>
                    </a:cubicBezTo>
                    <a:cubicBezTo>
                      <a:pt x="46865" y="1708"/>
                      <a:pt x="46170" y="822"/>
                      <a:pt x="45411" y="0"/>
                    </a:cubicBezTo>
                    <a:cubicBezTo>
                      <a:pt x="22310" y="33077"/>
                      <a:pt x="6804" y="70850"/>
                      <a:pt x="0" y="1106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6" name="Google Shape;3766;p14"/>
              <p:cNvSpPr/>
              <p:nvPr/>
            </p:nvSpPr>
            <p:spPr>
              <a:xfrm>
                <a:off x="7456721" y="752021"/>
                <a:ext cx="1224" cy="10309"/>
              </a:xfrm>
              <a:custGeom>
                <a:avLst/>
                <a:gdLst/>
                <a:ahLst/>
                <a:cxnLst/>
                <a:rect l="l" t="t" r="r" b="b"/>
                <a:pathLst>
                  <a:path w="1224" h="10309" extrusionOk="0">
                    <a:moveTo>
                      <a:pt x="1202" y="1644"/>
                    </a:moveTo>
                    <a:cubicBezTo>
                      <a:pt x="1233" y="1097"/>
                      <a:pt x="1233" y="548"/>
                      <a:pt x="1202" y="0"/>
                    </a:cubicBezTo>
                    <a:lnTo>
                      <a:pt x="0" y="10309"/>
                    </a:lnTo>
                    <a:cubicBezTo>
                      <a:pt x="813" y="7493"/>
                      <a:pt x="1217" y="4575"/>
                      <a:pt x="1202" y="164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7" name="Google Shape;3767;p14"/>
              <p:cNvSpPr/>
              <p:nvPr/>
            </p:nvSpPr>
            <p:spPr>
              <a:xfrm>
                <a:off x="7154342" y="1049720"/>
                <a:ext cx="15811" cy="3162"/>
              </a:xfrm>
              <a:custGeom>
                <a:avLst/>
                <a:gdLst/>
                <a:ahLst/>
                <a:cxnLst/>
                <a:rect l="l" t="t" r="r" b="b"/>
                <a:pathLst>
                  <a:path w="15811" h="3162" extrusionOk="0">
                    <a:moveTo>
                      <a:pt x="15812" y="1012"/>
                    </a:moveTo>
                    <a:lnTo>
                      <a:pt x="15812" y="0"/>
                    </a:lnTo>
                    <a:lnTo>
                      <a:pt x="0" y="1961"/>
                    </a:lnTo>
                    <a:cubicBezTo>
                      <a:pt x="0" y="1961"/>
                      <a:pt x="0" y="2403"/>
                      <a:pt x="0" y="2656"/>
                    </a:cubicBezTo>
                    <a:cubicBezTo>
                      <a:pt x="1735" y="2956"/>
                      <a:pt x="3489" y="3126"/>
                      <a:pt x="5249" y="3162"/>
                    </a:cubicBezTo>
                    <a:cubicBezTo>
                      <a:pt x="8869" y="3068"/>
                      <a:pt x="12444" y="2340"/>
                      <a:pt x="15812" y="101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8" name="Google Shape;3768;p14"/>
              <p:cNvSpPr/>
              <p:nvPr/>
            </p:nvSpPr>
            <p:spPr>
              <a:xfrm>
                <a:off x="7629256" y="851444"/>
                <a:ext cx="10625" cy="8664"/>
              </a:xfrm>
              <a:custGeom>
                <a:avLst/>
                <a:gdLst/>
                <a:ahLst/>
                <a:cxnLst/>
                <a:rect l="l" t="t" r="r" b="b"/>
                <a:pathLst>
                  <a:path w="10625" h="8664" extrusionOk="0">
                    <a:moveTo>
                      <a:pt x="0" y="8665"/>
                    </a:moveTo>
                    <a:cubicBezTo>
                      <a:pt x="3227" y="7065"/>
                      <a:pt x="6158" y="4926"/>
                      <a:pt x="8665" y="2340"/>
                    </a:cubicBezTo>
                    <a:cubicBezTo>
                      <a:pt x="9360" y="1581"/>
                      <a:pt x="9930" y="759"/>
                      <a:pt x="1062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9" name="Google Shape;3769;p14"/>
              <p:cNvSpPr/>
              <p:nvPr/>
            </p:nvSpPr>
            <p:spPr>
              <a:xfrm>
                <a:off x="7472216" y="750566"/>
                <a:ext cx="111818" cy="58249"/>
              </a:xfrm>
              <a:custGeom>
                <a:avLst/>
                <a:gdLst/>
                <a:ahLst/>
                <a:cxnLst/>
                <a:rect l="l" t="t" r="r" b="b"/>
                <a:pathLst>
                  <a:path w="111818" h="58249" extrusionOk="0">
                    <a:moveTo>
                      <a:pt x="1771" y="3099"/>
                    </a:moveTo>
                    <a:cubicBezTo>
                      <a:pt x="1775" y="7378"/>
                      <a:pt x="1179" y="11635"/>
                      <a:pt x="0" y="15748"/>
                    </a:cubicBezTo>
                    <a:cubicBezTo>
                      <a:pt x="36649" y="22339"/>
                      <a:pt x="71421" y="36843"/>
                      <a:pt x="101889" y="58250"/>
                    </a:cubicBezTo>
                    <a:cubicBezTo>
                      <a:pt x="104049" y="54416"/>
                      <a:pt x="106707" y="50885"/>
                      <a:pt x="109795" y="47751"/>
                    </a:cubicBezTo>
                    <a:lnTo>
                      <a:pt x="111819" y="45917"/>
                    </a:lnTo>
                    <a:cubicBezTo>
                      <a:pt x="78910" y="22668"/>
                      <a:pt x="41264" y="6987"/>
                      <a:pt x="1581" y="0"/>
                    </a:cubicBezTo>
                    <a:cubicBezTo>
                      <a:pt x="1644" y="949"/>
                      <a:pt x="1771" y="2024"/>
                      <a:pt x="1771" y="30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0" name="Google Shape;3770;p14"/>
              <p:cNvSpPr/>
              <p:nvPr/>
            </p:nvSpPr>
            <p:spPr>
              <a:xfrm>
                <a:off x="7638427" y="863397"/>
                <a:ext cx="57553" cy="111818"/>
              </a:xfrm>
              <a:custGeom>
                <a:avLst/>
                <a:gdLst/>
                <a:ahLst/>
                <a:cxnLst/>
                <a:rect l="l" t="t" r="r" b="b"/>
                <a:pathLst>
                  <a:path w="57553" h="111818" extrusionOk="0">
                    <a:moveTo>
                      <a:pt x="10689" y="1897"/>
                    </a:moveTo>
                    <a:cubicBezTo>
                      <a:pt x="7506" y="5029"/>
                      <a:pt x="3910" y="7710"/>
                      <a:pt x="0" y="9866"/>
                    </a:cubicBezTo>
                    <a:cubicBezTo>
                      <a:pt x="21168" y="40421"/>
                      <a:pt x="35453" y="75206"/>
                      <a:pt x="41869" y="111819"/>
                    </a:cubicBezTo>
                    <a:cubicBezTo>
                      <a:pt x="46296" y="110466"/>
                      <a:pt x="50900" y="109784"/>
                      <a:pt x="55530" y="109795"/>
                    </a:cubicBezTo>
                    <a:lnTo>
                      <a:pt x="57554" y="109795"/>
                    </a:lnTo>
                    <a:cubicBezTo>
                      <a:pt x="50749" y="70325"/>
                      <a:pt x="35329" y="32838"/>
                      <a:pt x="12396"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1" name="Google Shape;3771;p14"/>
              <p:cNvSpPr/>
              <p:nvPr/>
            </p:nvSpPr>
            <p:spPr>
              <a:xfrm>
                <a:off x="7156808" y="1066670"/>
                <a:ext cx="58755" cy="112451"/>
              </a:xfrm>
              <a:custGeom>
                <a:avLst/>
                <a:gdLst/>
                <a:ahLst/>
                <a:cxnLst/>
                <a:rect l="l" t="t" r="r" b="b"/>
                <a:pathLst>
                  <a:path w="58755" h="112451" extrusionOk="0">
                    <a:moveTo>
                      <a:pt x="48130" y="110428"/>
                    </a:moveTo>
                    <a:cubicBezTo>
                      <a:pt x="51295" y="107303"/>
                      <a:pt x="54870" y="104622"/>
                      <a:pt x="58756" y="102459"/>
                    </a:cubicBezTo>
                    <a:cubicBezTo>
                      <a:pt x="37017" y="71873"/>
                      <a:pt x="22231" y="36903"/>
                      <a:pt x="15432" y="0"/>
                    </a:cubicBezTo>
                    <a:cubicBezTo>
                      <a:pt x="11316" y="1170"/>
                      <a:pt x="7062" y="1787"/>
                      <a:pt x="2783" y="1834"/>
                    </a:cubicBezTo>
                    <a:lnTo>
                      <a:pt x="0" y="1834"/>
                    </a:lnTo>
                    <a:cubicBezTo>
                      <a:pt x="7107" y="41728"/>
                      <a:pt x="23056" y="79525"/>
                      <a:pt x="46676" y="112451"/>
                    </a:cubicBezTo>
                    <a:cubicBezTo>
                      <a:pt x="47245" y="111503"/>
                      <a:pt x="47751" y="111060"/>
                      <a:pt x="48130" y="11042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2" name="Google Shape;3772;p14"/>
              <p:cNvSpPr/>
              <p:nvPr/>
            </p:nvSpPr>
            <p:spPr>
              <a:xfrm>
                <a:off x="7682509" y="1049910"/>
                <a:ext cx="15748" cy="2340"/>
              </a:xfrm>
              <a:custGeom>
                <a:avLst/>
                <a:gdLst/>
                <a:ahLst/>
                <a:cxnLst/>
                <a:rect l="l" t="t" r="r" b="b"/>
                <a:pathLst>
                  <a:path w="15748" h="2340" extrusionOk="0">
                    <a:moveTo>
                      <a:pt x="63" y="126"/>
                    </a:moveTo>
                    <a:cubicBezTo>
                      <a:pt x="3687" y="1575"/>
                      <a:pt x="7545" y="2327"/>
                      <a:pt x="11448" y="2340"/>
                    </a:cubicBezTo>
                    <a:cubicBezTo>
                      <a:pt x="12889" y="2248"/>
                      <a:pt x="14332" y="2058"/>
                      <a:pt x="15748" y="1771"/>
                    </a:cubicBezTo>
                    <a:cubicBezTo>
                      <a:pt x="15748" y="1771"/>
                      <a:pt x="15748" y="1771"/>
                      <a:pt x="15748" y="1771"/>
                    </a:cubicBez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3" name="Google Shape;3773;p14"/>
              <p:cNvSpPr/>
              <p:nvPr/>
            </p:nvSpPr>
            <p:spPr>
              <a:xfrm>
                <a:off x="7587767" y="1223836"/>
                <a:ext cx="7905" cy="9929"/>
              </a:xfrm>
              <a:custGeom>
                <a:avLst/>
                <a:gdLst/>
                <a:ahLst/>
                <a:cxnLst/>
                <a:rect l="l" t="t" r="r" b="b"/>
                <a:pathLst>
                  <a:path w="7905" h="9929" extrusionOk="0">
                    <a:moveTo>
                      <a:pt x="5755" y="8159"/>
                    </a:moveTo>
                    <a:cubicBezTo>
                      <a:pt x="6388" y="8791"/>
                      <a:pt x="7147" y="9297"/>
                      <a:pt x="7906" y="9930"/>
                    </a:cubicBezTo>
                    <a:lnTo>
                      <a:pt x="0" y="0"/>
                    </a:lnTo>
                    <a:cubicBezTo>
                      <a:pt x="1486" y="3000"/>
                      <a:pt x="3427" y="5752"/>
                      <a:pt x="5755" y="81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4" name="Google Shape;3774;p14"/>
              <p:cNvSpPr/>
              <p:nvPr/>
            </p:nvSpPr>
            <p:spPr>
              <a:xfrm>
                <a:off x="7637857" y="1065974"/>
                <a:ext cx="57996" cy="111249"/>
              </a:xfrm>
              <a:custGeom>
                <a:avLst/>
                <a:gdLst/>
                <a:ahLst/>
                <a:cxnLst/>
                <a:rect l="l" t="t" r="r" b="b"/>
                <a:pathLst>
                  <a:path w="57996" h="111249" extrusionOk="0">
                    <a:moveTo>
                      <a:pt x="56099" y="2087"/>
                    </a:moveTo>
                    <a:cubicBezTo>
                      <a:pt x="51425" y="2077"/>
                      <a:pt x="46777" y="1374"/>
                      <a:pt x="42312" y="0"/>
                    </a:cubicBezTo>
                    <a:cubicBezTo>
                      <a:pt x="35731" y="36542"/>
                      <a:pt x="21295" y="71220"/>
                      <a:pt x="0" y="101636"/>
                    </a:cubicBezTo>
                    <a:cubicBezTo>
                      <a:pt x="4269" y="103852"/>
                      <a:pt x="8173" y="106711"/>
                      <a:pt x="11574" y="110111"/>
                    </a:cubicBezTo>
                    <a:lnTo>
                      <a:pt x="12586" y="111250"/>
                    </a:lnTo>
                    <a:cubicBezTo>
                      <a:pt x="35529" y="78577"/>
                      <a:pt x="51033" y="41272"/>
                      <a:pt x="57997" y="196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5" name="Google Shape;3775;p14"/>
              <p:cNvSpPr/>
              <p:nvPr/>
            </p:nvSpPr>
            <p:spPr>
              <a:xfrm>
                <a:off x="7271157" y="1233007"/>
                <a:ext cx="110996" cy="56731"/>
              </a:xfrm>
              <a:custGeom>
                <a:avLst/>
                <a:gdLst/>
                <a:ahLst/>
                <a:cxnLst/>
                <a:rect l="l" t="t" r="r" b="b"/>
                <a:pathLst>
                  <a:path w="110996" h="56731" extrusionOk="0">
                    <a:moveTo>
                      <a:pt x="108846" y="55467"/>
                    </a:moveTo>
                    <a:cubicBezTo>
                      <a:pt x="108841" y="50622"/>
                      <a:pt x="109566" y="45803"/>
                      <a:pt x="110997" y="41173"/>
                    </a:cubicBezTo>
                    <a:cubicBezTo>
                      <a:pt x="74663" y="34871"/>
                      <a:pt x="40108" y="20829"/>
                      <a:pt x="9677" y="0"/>
                    </a:cubicBezTo>
                    <a:cubicBezTo>
                      <a:pt x="7483" y="4137"/>
                      <a:pt x="4668" y="7913"/>
                      <a:pt x="1328" y="11195"/>
                    </a:cubicBezTo>
                    <a:lnTo>
                      <a:pt x="0" y="12459"/>
                    </a:lnTo>
                    <a:cubicBezTo>
                      <a:pt x="32732" y="34986"/>
                      <a:pt x="69987" y="50097"/>
                      <a:pt x="109163" y="56732"/>
                    </a:cubicBezTo>
                    <a:cubicBezTo>
                      <a:pt x="109032" y="56314"/>
                      <a:pt x="108926" y="55897"/>
                      <a:pt x="108846" y="5546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6" name="Google Shape;3776;p14"/>
              <p:cNvSpPr/>
              <p:nvPr/>
            </p:nvSpPr>
            <p:spPr>
              <a:xfrm>
                <a:off x="7472659" y="1231615"/>
                <a:ext cx="110806" cy="57870"/>
              </a:xfrm>
              <a:custGeom>
                <a:avLst/>
                <a:gdLst/>
                <a:ahLst/>
                <a:cxnLst/>
                <a:rect l="l" t="t" r="r" b="b"/>
                <a:pathLst>
                  <a:path w="110806" h="57870" extrusionOk="0">
                    <a:moveTo>
                      <a:pt x="110807" y="12586"/>
                    </a:moveTo>
                    <a:lnTo>
                      <a:pt x="109669" y="11574"/>
                    </a:lnTo>
                    <a:cubicBezTo>
                      <a:pt x="106277" y="8165"/>
                      <a:pt x="103420" y="4263"/>
                      <a:pt x="101194" y="0"/>
                    </a:cubicBezTo>
                    <a:cubicBezTo>
                      <a:pt x="70911" y="21228"/>
                      <a:pt x="36387" y="35642"/>
                      <a:pt x="0" y="42248"/>
                    </a:cubicBezTo>
                    <a:cubicBezTo>
                      <a:pt x="1524" y="46966"/>
                      <a:pt x="2314" y="51900"/>
                      <a:pt x="2340" y="56858"/>
                    </a:cubicBezTo>
                    <a:cubicBezTo>
                      <a:pt x="2340" y="56858"/>
                      <a:pt x="2340" y="57554"/>
                      <a:pt x="2340" y="57870"/>
                    </a:cubicBezTo>
                    <a:cubicBezTo>
                      <a:pt x="41360" y="50850"/>
                      <a:pt x="78378" y="35394"/>
                      <a:pt x="110807" y="125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7" name="Google Shape;3777;p14"/>
              <p:cNvSpPr/>
              <p:nvPr/>
            </p:nvSpPr>
            <p:spPr>
              <a:xfrm>
                <a:off x="7456658" y="1276520"/>
                <a:ext cx="2156" cy="15495"/>
              </a:xfrm>
              <a:custGeom>
                <a:avLst/>
                <a:gdLst/>
                <a:ahLst/>
                <a:cxnLst/>
                <a:rect l="l" t="t" r="r" b="b"/>
                <a:pathLst>
                  <a:path w="2156" h="15495" extrusionOk="0">
                    <a:moveTo>
                      <a:pt x="0" y="0"/>
                    </a:moveTo>
                    <a:lnTo>
                      <a:pt x="1771" y="15495"/>
                    </a:lnTo>
                    <a:lnTo>
                      <a:pt x="1771" y="15495"/>
                    </a:lnTo>
                    <a:cubicBezTo>
                      <a:pt x="1963" y="14344"/>
                      <a:pt x="2090" y="13180"/>
                      <a:pt x="2150" y="12017"/>
                    </a:cubicBezTo>
                    <a:cubicBezTo>
                      <a:pt x="2231" y="7906"/>
                      <a:pt x="1500" y="3826"/>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8" name="Google Shape;3778;p14"/>
              <p:cNvSpPr/>
              <p:nvPr/>
            </p:nvSpPr>
            <p:spPr>
              <a:xfrm>
                <a:off x="7418647" y="804831"/>
                <a:ext cx="15811" cy="5426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9" name="Google Shape;3779;p14"/>
              <p:cNvSpPr/>
              <p:nvPr/>
            </p:nvSpPr>
            <p:spPr>
              <a:xfrm>
                <a:off x="7418647" y="1180892"/>
                <a:ext cx="15811" cy="5426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0" name="Google Shape;3780;p14"/>
              <p:cNvSpPr/>
              <p:nvPr/>
            </p:nvSpPr>
            <p:spPr>
              <a:xfrm>
                <a:off x="7582391" y="1013353"/>
                <a:ext cx="54265" cy="15811"/>
              </a:xfrm>
              <a:custGeom>
                <a:avLst/>
                <a:gdLst/>
                <a:ahLst/>
                <a:cxnLst/>
                <a:rect l="l" t="t" r="r" b="b"/>
                <a:pathLst>
                  <a:path w="54265" h="15811" extrusionOk="0">
                    <a:moveTo>
                      <a:pt x="0" y="0"/>
                    </a:moveTo>
                    <a:lnTo>
                      <a:pt x="54265" y="0"/>
                    </a:lnTo>
                    <a:lnTo>
                      <a:pt x="54265" y="15811"/>
                    </a:lnTo>
                    <a:lnTo>
                      <a:pt x="0" y="1581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1" name="Google Shape;3781;p14"/>
              <p:cNvSpPr/>
              <p:nvPr/>
            </p:nvSpPr>
            <p:spPr>
              <a:xfrm>
                <a:off x="7215943" y="1013353"/>
                <a:ext cx="54265" cy="15811"/>
              </a:xfrm>
              <a:custGeom>
                <a:avLst/>
                <a:gdLst/>
                <a:ahLst/>
                <a:cxnLst/>
                <a:rect l="l" t="t" r="r" b="b"/>
                <a:pathLst>
                  <a:path w="54265" h="15811" extrusionOk="0">
                    <a:moveTo>
                      <a:pt x="0" y="0"/>
                    </a:moveTo>
                    <a:lnTo>
                      <a:pt x="54265" y="0"/>
                    </a:lnTo>
                    <a:lnTo>
                      <a:pt x="54265" y="15811"/>
                    </a:lnTo>
                    <a:lnTo>
                      <a:pt x="0" y="1581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2" name="Google Shape;3782;p14"/>
              <p:cNvSpPr/>
              <p:nvPr/>
            </p:nvSpPr>
            <p:spPr>
              <a:xfrm rot="-2700000">
                <a:off x="7532083" y="879121"/>
                <a:ext cx="54265" cy="15811"/>
              </a:xfrm>
              <a:custGeom>
                <a:avLst/>
                <a:gdLst/>
                <a:ahLst/>
                <a:cxnLst/>
                <a:rect l="l" t="t" r="r" b="b"/>
                <a:pathLst>
                  <a:path w="54265" h="15811" extrusionOk="0">
                    <a:moveTo>
                      <a:pt x="0" y="0"/>
                    </a:moveTo>
                    <a:lnTo>
                      <a:pt x="54265" y="0"/>
                    </a:lnTo>
                    <a:lnTo>
                      <a:pt x="54265" y="15812"/>
                    </a:lnTo>
                    <a:lnTo>
                      <a:pt x="0" y="1581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3" name="Google Shape;3783;p14"/>
              <p:cNvSpPr/>
              <p:nvPr/>
            </p:nvSpPr>
            <p:spPr>
              <a:xfrm rot="-2700000">
                <a:off x="7266197" y="1145030"/>
                <a:ext cx="54265" cy="15811"/>
              </a:xfrm>
              <a:custGeom>
                <a:avLst/>
                <a:gdLst/>
                <a:ahLst/>
                <a:cxnLst/>
                <a:rect l="l" t="t" r="r" b="b"/>
                <a:pathLst>
                  <a:path w="54265" h="15811" extrusionOk="0">
                    <a:moveTo>
                      <a:pt x="0" y="0"/>
                    </a:moveTo>
                    <a:lnTo>
                      <a:pt x="54265" y="0"/>
                    </a:lnTo>
                    <a:lnTo>
                      <a:pt x="54265" y="15812"/>
                    </a:lnTo>
                    <a:lnTo>
                      <a:pt x="0" y="1581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4" name="Google Shape;3784;p14"/>
              <p:cNvSpPr/>
              <p:nvPr/>
            </p:nvSpPr>
            <p:spPr>
              <a:xfrm rot="-2700000">
                <a:off x="7546865" y="1123575"/>
                <a:ext cx="15811" cy="54265"/>
              </a:xfrm>
              <a:custGeom>
                <a:avLst/>
                <a:gdLst/>
                <a:ahLst/>
                <a:cxnLst/>
                <a:rect l="l" t="t" r="r" b="b"/>
                <a:pathLst>
                  <a:path w="15811" h="54265" extrusionOk="0">
                    <a:moveTo>
                      <a:pt x="0" y="0"/>
                    </a:moveTo>
                    <a:lnTo>
                      <a:pt x="15811" y="0"/>
                    </a:lnTo>
                    <a:lnTo>
                      <a:pt x="15811" y="54265"/>
                    </a:lnTo>
                    <a:lnTo>
                      <a:pt x="0" y="542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5" name="Google Shape;3785;p14"/>
              <p:cNvSpPr/>
              <p:nvPr/>
            </p:nvSpPr>
            <p:spPr>
              <a:xfrm rot="-2700000">
                <a:off x="7287700" y="864348"/>
                <a:ext cx="15811" cy="5426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6" name="Google Shape;3786;p14"/>
              <p:cNvSpPr/>
              <p:nvPr/>
            </p:nvSpPr>
            <p:spPr>
              <a:xfrm>
                <a:off x="7360207" y="991154"/>
                <a:ext cx="45031" cy="43449"/>
              </a:xfrm>
              <a:custGeom>
                <a:avLst/>
                <a:gdLst/>
                <a:ahLst/>
                <a:cxnLst/>
                <a:rect l="l" t="t" r="r" b="b"/>
                <a:pathLst>
                  <a:path w="45031" h="43449" extrusionOk="0">
                    <a:moveTo>
                      <a:pt x="33520" y="34596"/>
                    </a:moveTo>
                    <a:lnTo>
                      <a:pt x="10878" y="34596"/>
                    </a:lnTo>
                    <a:lnTo>
                      <a:pt x="7084" y="43450"/>
                    </a:lnTo>
                    <a:lnTo>
                      <a:pt x="0" y="43450"/>
                    </a:lnTo>
                    <a:lnTo>
                      <a:pt x="18974" y="0"/>
                    </a:lnTo>
                    <a:lnTo>
                      <a:pt x="26057" y="0"/>
                    </a:lnTo>
                    <a:lnTo>
                      <a:pt x="45031" y="43450"/>
                    </a:lnTo>
                    <a:lnTo>
                      <a:pt x="37315" y="43450"/>
                    </a:lnTo>
                    <a:close/>
                    <a:moveTo>
                      <a:pt x="31054" y="28903"/>
                    </a:moveTo>
                    <a:lnTo>
                      <a:pt x="22199" y="8285"/>
                    </a:lnTo>
                    <a:lnTo>
                      <a:pt x="13345" y="2890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7" name="Google Shape;3787;p14"/>
              <p:cNvSpPr/>
              <p:nvPr/>
            </p:nvSpPr>
            <p:spPr>
              <a:xfrm>
                <a:off x="7412891" y="991026"/>
                <a:ext cx="34470" cy="43578"/>
              </a:xfrm>
              <a:custGeom>
                <a:avLst/>
                <a:gdLst/>
                <a:ahLst/>
                <a:cxnLst/>
                <a:rect l="l" t="t" r="r" b="b"/>
                <a:pathLst>
                  <a:path w="34470" h="43578" extrusionOk="0">
                    <a:moveTo>
                      <a:pt x="0" y="128"/>
                    </a:moveTo>
                    <a:lnTo>
                      <a:pt x="18278" y="128"/>
                    </a:lnTo>
                    <a:cubicBezTo>
                      <a:pt x="26102" y="-920"/>
                      <a:pt x="33295" y="4574"/>
                      <a:pt x="34343" y="12398"/>
                    </a:cubicBezTo>
                    <a:cubicBezTo>
                      <a:pt x="35391" y="20222"/>
                      <a:pt x="29897" y="27414"/>
                      <a:pt x="22073" y="28462"/>
                    </a:cubicBezTo>
                    <a:cubicBezTo>
                      <a:pt x="20814" y="28631"/>
                      <a:pt x="19537" y="28631"/>
                      <a:pt x="18278" y="28462"/>
                    </a:cubicBezTo>
                    <a:lnTo>
                      <a:pt x="6388" y="28462"/>
                    </a:lnTo>
                    <a:lnTo>
                      <a:pt x="6388" y="43578"/>
                    </a:lnTo>
                    <a:lnTo>
                      <a:pt x="63" y="43578"/>
                    </a:lnTo>
                    <a:close/>
                    <a:moveTo>
                      <a:pt x="17393" y="22707"/>
                    </a:moveTo>
                    <a:cubicBezTo>
                      <a:pt x="23717" y="22707"/>
                      <a:pt x="27891" y="19608"/>
                      <a:pt x="27891" y="14485"/>
                    </a:cubicBezTo>
                    <a:cubicBezTo>
                      <a:pt x="27891" y="9362"/>
                      <a:pt x="23654" y="6263"/>
                      <a:pt x="17393" y="6263"/>
                    </a:cubicBezTo>
                    <a:lnTo>
                      <a:pt x="6388" y="6263"/>
                    </a:lnTo>
                    <a:lnTo>
                      <a:pt x="6388" y="227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8" name="Google Shape;3788;p14"/>
              <p:cNvSpPr/>
              <p:nvPr/>
            </p:nvSpPr>
            <p:spPr>
              <a:xfrm>
                <a:off x="7455835" y="991026"/>
                <a:ext cx="34470" cy="43578"/>
              </a:xfrm>
              <a:custGeom>
                <a:avLst/>
                <a:gdLst/>
                <a:ahLst/>
                <a:cxnLst/>
                <a:rect l="l" t="t" r="r" b="b"/>
                <a:pathLst>
                  <a:path w="34470" h="43578" extrusionOk="0">
                    <a:moveTo>
                      <a:pt x="0" y="128"/>
                    </a:moveTo>
                    <a:lnTo>
                      <a:pt x="18278" y="128"/>
                    </a:lnTo>
                    <a:cubicBezTo>
                      <a:pt x="26102" y="-920"/>
                      <a:pt x="33295" y="4574"/>
                      <a:pt x="34343" y="12398"/>
                    </a:cubicBezTo>
                    <a:cubicBezTo>
                      <a:pt x="35391" y="20222"/>
                      <a:pt x="29897" y="27414"/>
                      <a:pt x="22073" y="28462"/>
                    </a:cubicBezTo>
                    <a:cubicBezTo>
                      <a:pt x="20814" y="28631"/>
                      <a:pt x="19537" y="28631"/>
                      <a:pt x="18278" y="28462"/>
                    </a:cubicBezTo>
                    <a:lnTo>
                      <a:pt x="6388" y="28462"/>
                    </a:lnTo>
                    <a:lnTo>
                      <a:pt x="6388" y="43578"/>
                    </a:lnTo>
                    <a:lnTo>
                      <a:pt x="63" y="43578"/>
                    </a:lnTo>
                    <a:close/>
                    <a:moveTo>
                      <a:pt x="17393" y="22707"/>
                    </a:moveTo>
                    <a:cubicBezTo>
                      <a:pt x="23717" y="22707"/>
                      <a:pt x="27892" y="19608"/>
                      <a:pt x="27892" y="14485"/>
                    </a:cubicBezTo>
                    <a:cubicBezTo>
                      <a:pt x="27892" y="9362"/>
                      <a:pt x="23654" y="6263"/>
                      <a:pt x="17393" y="6263"/>
                    </a:cubicBezTo>
                    <a:lnTo>
                      <a:pt x="6388" y="6263"/>
                    </a:lnTo>
                    <a:lnTo>
                      <a:pt x="6388" y="227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9" name="Google Shape;3789;p14"/>
              <p:cNvSpPr/>
              <p:nvPr/>
            </p:nvSpPr>
            <p:spPr>
              <a:xfrm>
                <a:off x="7331431" y="921900"/>
                <a:ext cx="189738" cy="189738"/>
              </a:xfrm>
              <a:custGeom>
                <a:avLst/>
                <a:gdLst/>
                <a:ahLst/>
                <a:cxnLst/>
                <a:rect l="l" t="t" r="r" b="b"/>
                <a:pathLst>
                  <a:path w="189738" h="189738" extrusionOk="0">
                    <a:moveTo>
                      <a:pt x="168551" y="189738"/>
                    </a:moveTo>
                    <a:lnTo>
                      <a:pt x="21187" y="189738"/>
                    </a:lnTo>
                    <a:cubicBezTo>
                      <a:pt x="9486" y="189738"/>
                      <a:pt x="0" y="180252"/>
                      <a:pt x="0" y="168551"/>
                    </a:cubicBezTo>
                    <a:lnTo>
                      <a:pt x="0" y="21187"/>
                    </a:lnTo>
                    <a:cubicBezTo>
                      <a:pt x="0" y="9486"/>
                      <a:pt x="9486" y="0"/>
                      <a:pt x="21187" y="0"/>
                    </a:cubicBezTo>
                    <a:lnTo>
                      <a:pt x="168551" y="0"/>
                    </a:lnTo>
                    <a:cubicBezTo>
                      <a:pt x="180252" y="0"/>
                      <a:pt x="189738" y="9486"/>
                      <a:pt x="189738" y="21187"/>
                    </a:cubicBezTo>
                    <a:lnTo>
                      <a:pt x="189738" y="168551"/>
                    </a:lnTo>
                    <a:cubicBezTo>
                      <a:pt x="189738" y="180252"/>
                      <a:pt x="180252" y="189738"/>
                      <a:pt x="168551" y="189738"/>
                    </a:cubicBezTo>
                    <a:close/>
                    <a:moveTo>
                      <a:pt x="21187" y="15938"/>
                    </a:moveTo>
                    <a:cubicBezTo>
                      <a:pt x="18219" y="15938"/>
                      <a:pt x="15812" y="18345"/>
                      <a:pt x="15812" y="21314"/>
                    </a:cubicBezTo>
                    <a:lnTo>
                      <a:pt x="15812" y="168677"/>
                    </a:lnTo>
                    <a:cubicBezTo>
                      <a:pt x="15812" y="171646"/>
                      <a:pt x="18219" y="174053"/>
                      <a:pt x="21187" y="174053"/>
                    </a:cubicBezTo>
                    <a:lnTo>
                      <a:pt x="168551" y="174053"/>
                    </a:lnTo>
                    <a:cubicBezTo>
                      <a:pt x="171519" y="174053"/>
                      <a:pt x="173927" y="171646"/>
                      <a:pt x="173927" y="168677"/>
                    </a:cubicBezTo>
                    <a:lnTo>
                      <a:pt x="173927" y="21187"/>
                    </a:lnTo>
                    <a:cubicBezTo>
                      <a:pt x="173927" y="18219"/>
                      <a:pt x="171519" y="15812"/>
                      <a:pt x="168551" y="1581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3790" name="Google Shape;3790;p14"/>
          <p:cNvGrpSpPr/>
          <p:nvPr/>
        </p:nvGrpSpPr>
        <p:grpSpPr>
          <a:xfrm>
            <a:off x="579815" y="4022405"/>
            <a:ext cx="912101" cy="912097"/>
            <a:chOff x="579815" y="4022405"/>
            <a:chExt cx="912101" cy="912097"/>
          </a:xfrm>
        </p:grpSpPr>
        <p:sp>
          <p:nvSpPr>
            <p:cNvPr id="3791" name="Google Shape;3791;p14"/>
            <p:cNvSpPr/>
            <p:nvPr/>
          </p:nvSpPr>
          <p:spPr>
            <a:xfrm>
              <a:off x="579815" y="4022405"/>
              <a:ext cx="912101" cy="912097"/>
            </a:xfrm>
            <a:prstGeom prst="ellipse">
              <a:avLst/>
            </a:prstGeom>
            <a:gradFill>
              <a:gsLst>
                <a:gs pos="0">
                  <a:schemeClr val="accent2"/>
                </a:gs>
                <a:gs pos="70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3792" name="Google Shape;3792;p14"/>
            <p:cNvPicPr preferRelativeResize="0"/>
            <p:nvPr/>
          </p:nvPicPr>
          <p:blipFill rotWithShape="1">
            <a:blip r:embed="rId4">
              <a:alphaModFix/>
            </a:blip>
            <a:srcRect/>
            <a:stretch/>
          </p:blipFill>
          <p:spPr>
            <a:xfrm>
              <a:off x="775202" y="4211191"/>
              <a:ext cx="521327" cy="534525"/>
            </a:xfrm>
            <a:prstGeom prst="rect">
              <a:avLst/>
            </a:prstGeom>
            <a:noFill/>
            <a:ln>
              <a:noFill/>
            </a:ln>
          </p:spPr>
        </p:pic>
      </p:grpSp>
      <p:sp>
        <p:nvSpPr>
          <p:cNvPr id="3793" name="Google Shape;3793;p14"/>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2024 Broadcom.  </a:t>
            </a:r>
            <a:endParaRPr/>
          </a:p>
        </p:txBody>
      </p:sp>
      <p:sp>
        <p:nvSpPr>
          <p:cNvPr id="3794" name="Google Shape;3794;p14"/>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All Rights Reserved. The term “Broadcom” refers to Broadcom Inc. and/or its subsidiaries.</a:t>
            </a:r>
            <a:endParaRPr/>
          </a:p>
        </p:txBody>
      </p:sp>
      <p:grpSp>
        <p:nvGrpSpPr>
          <p:cNvPr id="3795" name="Google Shape;3795;p14"/>
          <p:cNvGrpSpPr/>
          <p:nvPr/>
        </p:nvGrpSpPr>
        <p:grpSpPr>
          <a:xfrm>
            <a:off x="265625" y="6323271"/>
            <a:ext cx="1249222" cy="369649"/>
            <a:chOff x="265625" y="6323271"/>
            <a:chExt cx="1249222" cy="369649"/>
          </a:xfrm>
        </p:grpSpPr>
        <p:grpSp>
          <p:nvGrpSpPr>
            <p:cNvPr id="3796" name="Google Shape;3796;p14"/>
            <p:cNvGrpSpPr/>
            <p:nvPr/>
          </p:nvGrpSpPr>
          <p:grpSpPr>
            <a:xfrm>
              <a:off x="745455" y="6594444"/>
              <a:ext cx="722663" cy="98476"/>
              <a:chOff x="745455" y="6594444"/>
              <a:chExt cx="722663" cy="98476"/>
            </a:xfrm>
          </p:grpSpPr>
          <p:sp>
            <p:nvSpPr>
              <p:cNvPr id="3797" name="Google Shape;3797;p14"/>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98" name="Google Shape;3798;p14"/>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99" name="Google Shape;3799;p14"/>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0" name="Google Shape;3800;p14"/>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1" name="Google Shape;3801;p14"/>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2" name="Google Shape;3802;p14"/>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3" name="Google Shape;3803;p14"/>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4" name="Google Shape;3804;p14"/>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5" name="Google Shape;3805;p14"/>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6" name="Google Shape;3806;p14"/>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807" name="Google Shape;3807;p14"/>
            <p:cNvGrpSpPr/>
            <p:nvPr/>
          </p:nvGrpSpPr>
          <p:grpSpPr>
            <a:xfrm>
              <a:off x="265625" y="6323271"/>
              <a:ext cx="1249222" cy="190348"/>
              <a:chOff x="265625" y="6323271"/>
              <a:chExt cx="1249222" cy="190348"/>
            </a:xfrm>
          </p:grpSpPr>
          <p:sp>
            <p:nvSpPr>
              <p:cNvPr id="3808" name="Google Shape;3808;p14"/>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9" name="Google Shape;3809;p14"/>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0" name="Google Shape;3810;p14"/>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1" name="Google Shape;3811;p14"/>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2" name="Google Shape;3812;p14"/>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3" name="Google Shape;3813;p14"/>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4" name="Google Shape;3814;p14"/>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3815" name="Google Shape;3815;p1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6</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67"/>
                                        </p:tgtEl>
                                        <p:attrNameLst>
                                          <p:attrName>style.visibility</p:attrName>
                                        </p:attrNameLst>
                                      </p:cBhvr>
                                      <p:to>
                                        <p:strVal val="visible"/>
                                      </p:to>
                                    </p:set>
                                    <p:animEffect transition="in" filter="fade">
                                      <p:cBhvr>
                                        <p:cTn id="7" dur="250"/>
                                        <p:tgtEl>
                                          <p:spTgt spid="3667"/>
                                        </p:tgtEl>
                                      </p:cBhvr>
                                    </p:animEffect>
                                  </p:childTnLst>
                                </p:cTn>
                              </p:par>
                              <p:par>
                                <p:cTn id="8" presetID="10" presetClass="entr" presetSubtype="0" fill="hold" nodeType="withEffect">
                                  <p:stCondLst>
                                    <p:cond delay="250"/>
                                  </p:stCondLst>
                                  <p:childTnLst>
                                    <p:set>
                                      <p:cBhvr>
                                        <p:cTn id="9" dur="1" fill="hold">
                                          <p:stCondLst>
                                            <p:cond delay="0"/>
                                          </p:stCondLst>
                                        </p:cTn>
                                        <p:tgtEl>
                                          <p:spTgt spid="3674"/>
                                        </p:tgtEl>
                                        <p:attrNameLst>
                                          <p:attrName>style.visibility</p:attrName>
                                        </p:attrNameLst>
                                      </p:cBhvr>
                                      <p:to>
                                        <p:strVal val="visible"/>
                                      </p:to>
                                    </p:set>
                                    <p:animEffect transition="in" filter="fade">
                                      <p:cBhvr>
                                        <p:cTn id="10" dur="250"/>
                                        <p:tgtEl>
                                          <p:spTgt spid="3674"/>
                                        </p:tgtEl>
                                      </p:cBhvr>
                                    </p:animEffect>
                                  </p:childTnLst>
                                </p:cTn>
                              </p:par>
                            </p:childTnLst>
                          </p:cTn>
                        </p:par>
                        <p:par>
                          <p:cTn id="11" fill="hold">
                            <p:stCondLst>
                              <p:cond delay="250"/>
                            </p:stCondLst>
                            <p:childTnLst>
                              <p:par>
                                <p:cTn id="12" presetID="10" presetClass="entr" presetSubtype="0" fill="hold" nodeType="afterEffect">
                                  <p:stCondLst>
                                    <p:cond delay="250"/>
                                  </p:stCondLst>
                                  <p:childTnLst>
                                    <p:set>
                                      <p:cBhvr>
                                        <p:cTn id="13" dur="1" fill="hold">
                                          <p:stCondLst>
                                            <p:cond delay="0"/>
                                          </p:stCondLst>
                                        </p:cTn>
                                        <p:tgtEl>
                                          <p:spTgt spid="3690"/>
                                        </p:tgtEl>
                                        <p:attrNameLst>
                                          <p:attrName>style.visibility</p:attrName>
                                        </p:attrNameLst>
                                      </p:cBhvr>
                                      <p:to>
                                        <p:strVal val="visible"/>
                                      </p:to>
                                    </p:set>
                                    <p:animEffect transition="in" filter="fade">
                                      <p:cBhvr>
                                        <p:cTn id="14" dur="500"/>
                                        <p:tgtEl>
                                          <p:spTgt spid="3690"/>
                                        </p:tgtEl>
                                      </p:cBhvr>
                                    </p:animEffect>
                                  </p:childTnLst>
                                </p:cTn>
                              </p:par>
                              <p:par>
                                <p:cTn id="15" presetID="10" presetClass="entr" presetSubtype="0" fill="hold" nodeType="withEffect">
                                  <p:stCondLst>
                                    <p:cond delay="500"/>
                                  </p:stCondLst>
                                  <p:childTnLst>
                                    <p:set>
                                      <p:cBhvr>
                                        <p:cTn id="16" dur="1" fill="hold">
                                          <p:stCondLst>
                                            <p:cond delay="0"/>
                                          </p:stCondLst>
                                        </p:cTn>
                                        <p:tgtEl>
                                          <p:spTgt spid="3717"/>
                                        </p:tgtEl>
                                        <p:attrNameLst>
                                          <p:attrName>style.visibility</p:attrName>
                                        </p:attrNameLst>
                                      </p:cBhvr>
                                      <p:to>
                                        <p:strVal val="visible"/>
                                      </p:to>
                                    </p:set>
                                    <p:animEffect transition="in" filter="fade">
                                      <p:cBhvr>
                                        <p:cTn id="17" dur="500"/>
                                        <p:tgtEl>
                                          <p:spTgt spid="3717"/>
                                        </p:tgtEl>
                                      </p:cBhvr>
                                    </p:animEffect>
                                  </p:childTnLst>
                                </p:cTn>
                              </p:par>
                              <p:par>
                                <p:cTn id="18" presetID="10" presetClass="entr" presetSubtype="0" fill="hold" nodeType="withEffect">
                                  <p:stCondLst>
                                    <p:cond delay="250"/>
                                  </p:stCondLst>
                                  <p:childTnLst>
                                    <p:set>
                                      <p:cBhvr>
                                        <p:cTn id="19" dur="1" fill="hold">
                                          <p:stCondLst>
                                            <p:cond delay="0"/>
                                          </p:stCondLst>
                                        </p:cTn>
                                        <p:tgtEl>
                                          <p:spTgt spid="3730"/>
                                        </p:tgtEl>
                                        <p:attrNameLst>
                                          <p:attrName>style.visibility</p:attrName>
                                        </p:attrNameLst>
                                      </p:cBhvr>
                                      <p:to>
                                        <p:strVal val="visible"/>
                                      </p:to>
                                    </p:set>
                                    <p:animEffect transition="in" filter="fade">
                                      <p:cBhvr>
                                        <p:cTn id="20" dur="500"/>
                                        <p:tgtEl>
                                          <p:spTgt spid="3730"/>
                                        </p:tgtEl>
                                      </p:cBhvr>
                                    </p:animEffect>
                                  </p:childTnLst>
                                </p:cTn>
                              </p:par>
                              <p:par>
                                <p:cTn id="21" presetID="10" presetClass="entr" presetSubtype="0" fill="hold" nodeType="withEffect">
                                  <p:stCondLst>
                                    <p:cond delay="250"/>
                                  </p:stCondLst>
                                  <p:childTnLst>
                                    <p:set>
                                      <p:cBhvr>
                                        <p:cTn id="22" dur="1" fill="hold">
                                          <p:stCondLst>
                                            <p:cond delay="0"/>
                                          </p:stCondLst>
                                        </p:cTn>
                                        <p:tgtEl>
                                          <p:spTgt spid="3718"/>
                                        </p:tgtEl>
                                        <p:attrNameLst>
                                          <p:attrName>style.visibility</p:attrName>
                                        </p:attrNameLst>
                                      </p:cBhvr>
                                      <p:to>
                                        <p:strVal val="visible"/>
                                      </p:to>
                                    </p:set>
                                    <p:animEffect transition="in" filter="fade">
                                      <p:cBhvr>
                                        <p:cTn id="23" dur="750"/>
                                        <p:tgtEl>
                                          <p:spTgt spid="3718"/>
                                        </p:tgtEl>
                                      </p:cBhvr>
                                    </p:animEffect>
                                  </p:childTnLst>
                                </p:cTn>
                              </p:par>
                              <p:par>
                                <p:cTn id="24" presetID="10" presetClass="entr" presetSubtype="0" fill="hold" nodeType="withEffect">
                                  <p:stCondLst>
                                    <p:cond delay="500"/>
                                  </p:stCondLst>
                                  <p:childTnLst>
                                    <p:set>
                                      <p:cBhvr>
                                        <p:cTn id="25" dur="1" fill="hold">
                                          <p:stCondLst>
                                            <p:cond delay="0"/>
                                          </p:stCondLst>
                                        </p:cTn>
                                        <p:tgtEl>
                                          <p:spTgt spid="3698"/>
                                        </p:tgtEl>
                                        <p:attrNameLst>
                                          <p:attrName>style.visibility</p:attrName>
                                        </p:attrNameLst>
                                      </p:cBhvr>
                                      <p:to>
                                        <p:strVal val="visible"/>
                                      </p:to>
                                    </p:set>
                                    <p:animEffect transition="in" filter="fade">
                                      <p:cBhvr>
                                        <p:cTn id="26" dur="500"/>
                                        <p:tgtEl>
                                          <p:spTgt spid="3698"/>
                                        </p:tgtEl>
                                      </p:cBhvr>
                                    </p:animEffect>
                                  </p:childTnLst>
                                </p:cTn>
                              </p:par>
                              <p:par>
                                <p:cTn id="27" presetID="10" presetClass="entr" presetSubtype="0" fill="hold" nodeType="withEffect">
                                  <p:stCondLst>
                                    <p:cond delay="500"/>
                                  </p:stCondLst>
                                  <p:childTnLst>
                                    <p:set>
                                      <p:cBhvr>
                                        <p:cTn id="28" dur="1" fill="hold">
                                          <p:stCondLst>
                                            <p:cond delay="0"/>
                                          </p:stCondLst>
                                        </p:cTn>
                                        <p:tgtEl>
                                          <p:spTgt spid="3735"/>
                                        </p:tgtEl>
                                        <p:attrNameLst>
                                          <p:attrName>style.visibility</p:attrName>
                                        </p:attrNameLst>
                                      </p:cBhvr>
                                      <p:to>
                                        <p:strVal val="visible"/>
                                      </p:to>
                                    </p:set>
                                    <p:animEffect transition="in" filter="fade">
                                      <p:cBhvr>
                                        <p:cTn id="29" dur="500"/>
                                        <p:tgtEl>
                                          <p:spTgt spid="3735"/>
                                        </p:tgtEl>
                                      </p:cBhvr>
                                    </p:animEffect>
                                  </p:childTnLst>
                                </p:cTn>
                              </p:par>
                              <p:par>
                                <p:cTn id="30" presetID="8" presetClass="emph" presetSubtype="0" fill="hold" nodeType="withEffect">
                                  <p:stCondLst>
                                    <p:cond delay="500"/>
                                  </p:stCondLst>
                                  <p:childTnLst>
                                    <p:animRot by="-21600000">
                                      <p:cBhvr>
                                        <p:cTn id="31" dur="750" fill="hold"/>
                                        <p:tgtEl>
                                          <p:spTgt spid="3735"/>
                                        </p:tgtEl>
                                        <p:attrNameLst>
                                          <p:attrName>r</p:attrName>
                                        </p:attrNameLst>
                                      </p:cBhvr>
                                    </p:animRot>
                                  </p:childTnLst>
                                </p:cTn>
                              </p:par>
                              <p:par>
                                <p:cTn id="32" presetID="10" presetClass="entr" presetSubtype="0" fill="hold" nodeType="withEffect">
                                  <p:stCondLst>
                                    <p:cond delay="750"/>
                                  </p:stCondLst>
                                  <p:childTnLst>
                                    <p:set>
                                      <p:cBhvr>
                                        <p:cTn id="33" dur="1" fill="hold">
                                          <p:stCondLst>
                                            <p:cond delay="0"/>
                                          </p:stCondLst>
                                        </p:cTn>
                                        <p:tgtEl>
                                          <p:spTgt spid="3675"/>
                                        </p:tgtEl>
                                        <p:attrNameLst>
                                          <p:attrName>style.visibility</p:attrName>
                                        </p:attrNameLst>
                                      </p:cBhvr>
                                      <p:to>
                                        <p:strVal val="visible"/>
                                      </p:to>
                                    </p:set>
                                    <p:animEffect transition="in" filter="fade">
                                      <p:cBhvr>
                                        <p:cTn id="34" dur="500"/>
                                        <p:tgtEl>
                                          <p:spTgt spid="3675"/>
                                        </p:tgtEl>
                                      </p:cBhvr>
                                    </p:animEffect>
                                  </p:childTnLst>
                                </p:cTn>
                              </p:par>
                              <p:par>
                                <p:cTn id="35" presetID="10" presetClass="entr" presetSubtype="0" fill="hold" nodeType="withEffect">
                                  <p:stCondLst>
                                    <p:cond delay="100"/>
                                  </p:stCondLst>
                                  <p:childTnLst>
                                    <p:set>
                                      <p:cBhvr>
                                        <p:cTn id="36" dur="1" fill="hold">
                                          <p:stCondLst>
                                            <p:cond delay="0"/>
                                          </p:stCondLst>
                                        </p:cTn>
                                        <p:tgtEl>
                                          <p:spTgt spid="3742"/>
                                        </p:tgtEl>
                                        <p:attrNameLst>
                                          <p:attrName>style.visibility</p:attrName>
                                        </p:attrNameLst>
                                      </p:cBhvr>
                                      <p:to>
                                        <p:strVal val="visible"/>
                                      </p:to>
                                    </p:set>
                                    <p:animEffect transition="in" filter="fade">
                                      <p:cBhvr>
                                        <p:cTn id="37" dur="750"/>
                                        <p:tgtEl>
                                          <p:spTgt spid="3742"/>
                                        </p:tgtEl>
                                      </p:cBhvr>
                                    </p:animEffect>
                                  </p:childTnLst>
                                </p:cTn>
                              </p:par>
                              <p:par>
                                <p:cTn id="38" presetID="10" presetClass="entr" presetSubtype="0" fill="hold" nodeType="withEffect">
                                  <p:stCondLst>
                                    <p:cond delay="200"/>
                                  </p:stCondLst>
                                  <p:childTnLst>
                                    <p:set>
                                      <p:cBhvr>
                                        <p:cTn id="39" dur="1" fill="hold">
                                          <p:stCondLst>
                                            <p:cond delay="0"/>
                                          </p:stCondLst>
                                        </p:cTn>
                                        <p:tgtEl>
                                          <p:spTgt spid="3751"/>
                                        </p:tgtEl>
                                        <p:attrNameLst>
                                          <p:attrName>style.visibility</p:attrName>
                                        </p:attrNameLst>
                                      </p:cBhvr>
                                      <p:to>
                                        <p:strVal val="visible"/>
                                      </p:to>
                                    </p:set>
                                    <p:animEffect transition="in" filter="fade">
                                      <p:cBhvr>
                                        <p:cTn id="40" dur="750"/>
                                        <p:tgtEl>
                                          <p:spTgt spid="3751"/>
                                        </p:tgtEl>
                                      </p:cBhvr>
                                    </p:animEffect>
                                  </p:childTnLst>
                                </p:cTn>
                              </p:par>
                              <p:par>
                                <p:cTn id="41" presetID="10" presetClass="entr" presetSubtype="0" fill="hold" nodeType="withEffect">
                                  <p:stCondLst>
                                    <p:cond delay="300"/>
                                  </p:stCondLst>
                                  <p:childTnLst>
                                    <p:set>
                                      <p:cBhvr>
                                        <p:cTn id="42" dur="1" fill="hold">
                                          <p:stCondLst>
                                            <p:cond delay="0"/>
                                          </p:stCondLst>
                                        </p:cTn>
                                        <p:tgtEl>
                                          <p:spTgt spid="3790"/>
                                        </p:tgtEl>
                                        <p:attrNameLst>
                                          <p:attrName>style.visibility</p:attrName>
                                        </p:attrNameLst>
                                      </p:cBhvr>
                                      <p:to>
                                        <p:strVal val="visible"/>
                                      </p:to>
                                    </p:set>
                                    <p:animEffect transition="in" filter="fade">
                                      <p:cBhvr>
                                        <p:cTn id="43" dur="750"/>
                                        <p:tgtEl>
                                          <p:spTgt spid="3790"/>
                                        </p:tgtEl>
                                      </p:cBhvr>
                                    </p:animEffect>
                                  </p:childTnLst>
                                </p:cTn>
                              </p:par>
                              <p:par>
                                <p:cTn id="44" presetID="10" presetClass="entr" presetSubtype="0" fill="hold" nodeType="withEffect">
                                  <p:stCondLst>
                                    <p:cond delay="100"/>
                                  </p:stCondLst>
                                  <p:childTnLst>
                                    <p:set>
                                      <p:cBhvr>
                                        <p:cTn id="45" dur="1" fill="hold">
                                          <p:stCondLst>
                                            <p:cond delay="0"/>
                                          </p:stCondLst>
                                        </p:cTn>
                                        <p:tgtEl>
                                          <p:spTgt spid="3670"/>
                                        </p:tgtEl>
                                        <p:attrNameLst>
                                          <p:attrName>style.visibility</p:attrName>
                                        </p:attrNameLst>
                                      </p:cBhvr>
                                      <p:to>
                                        <p:strVal val="visible"/>
                                      </p:to>
                                    </p:set>
                                    <p:animEffect transition="in" filter="fade">
                                      <p:cBhvr>
                                        <p:cTn id="46" dur="250"/>
                                        <p:tgtEl>
                                          <p:spTgt spid="3670"/>
                                        </p:tgtEl>
                                      </p:cBhvr>
                                    </p:animEffect>
                                  </p:childTnLst>
                                </p:cTn>
                              </p:par>
                            </p:childTnLst>
                          </p:cTn>
                        </p:par>
                        <p:par>
                          <p:cTn id="47" fill="hold">
                            <p:stCondLst>
                              <p:cond delay="1000"/>
                            </p:stCondLst>
                            <p:childTnLst>
                              <p:par>
                                <p:cTn id="48" presetID="10" presetClass="entr" presetSubtype="0" fill="hold" nodeType="afterEffect">
                                  <p:stCondLst>
                                    <p:cond delay="200"/>
                                  </p:stCondLst>
                                  <p:childTnLst>
                                    <p:set>
                                      <p:cBhvr>
                                        <p:cTn id="49" dur="1" fill="hold">
                                          <p:stCondLst>
                                            <p:cond delay="0"/>
                                          </p:stCondLst>
                                        </p:cTn>
                                        <p:tgtEl>
                                          <p:spTgt spid="3671"/>
                                        </p:tgtEl>
                                        <p:attrNameLst>
                                          <p:attrName>style.visibility</p:attrName>
                                        </p:attrNameLst>
                                      </p:cBhvr>
                                      <p:to>
                                        <p:strVal val="visible"/>
                                      </p:to>
                                    </p:set>
                                    <p:animEffect transition="in" filter="fade">
                                      <p:cBhvr>
                                        <p:cTn id="50" dur="250"/>
                                        <p:tgtEl>
                                          <p:spTgt spid="3671"/>
                                        </p:tgtEl>
                                      </p:cBhvr>
                                    </p:animEffect>
                                  </p:childTnLst>
                                </p:cTn>
                              </p:par>
                            </p:childTnLst>
                          </p:cTn>
                        </p:par>
                        <p:par>
                          <p:cTn id="51" fill="hold">
                            <p:stCondLst>
                              <p:cond delay="1250"/>
                            </p:stCondLst>
                            <p:childTnLst>
                              <p:par>
                                <p:cTn id="52" presetID="10" presetClass="entr" presetSubtype="0" fill="hold" nodeType="afterEffect">
                                  <p:stCondLst>
                                    <p:cond delay="300"/>
                                  </p:stCondLst>
                                  <p:childTnLst>
                                    <p:set>
                                      <p:cBhvr>
                                        <p:cTn id="53" dur="1" fill="hold">
                                          <p:stCondLst>
                                            <p:cond delay="0"/>
                                          </p:stCondLst>
                                        </p:cTn>
                                        <p:tgtEl>
                                          <p:spTgt spid="3672"/>
                                        </p:tgtEl>
                                        <p:attrNameLst>
                                          <p:attrName>style.visibility</p:attrName>
                                        </p:attrNameLst>
                                      </p:cBhvr>
                                      <p:to>
                                        <p:strVal val="visible"/>
                                      </p:to>
                                    </p:set>
                                    <p:animEffect transition="in" filter="fade">
                                      <p:cBhvr>
                                        <p:cTn id="54" dur="250"/>
                                        <p:tgtEl>
                                          <p:spTgt spid="3672"/>
                                        </p:tgtEl>
                                      </p:cBhvr>
                                    </p:animEffect>
                                  </p:childTnLst>
                                </p:cTn>
                              </p:par>
                            </p:childTnLst>
                          </p:cTn>
                        </p:par>
                        <p:par>
                          <p:cTn id="55" fill="hold">
                            <p:stCondLst>
                              <p:cond delay="1500"/>
                            </p:stCondLst>
                            <p:childTnLst>
                              <p:par>
                                <p:cTn id="56" presetID="10" presetClass="entr" presetSubtype="0" fill="hold" nodeType="afterEffect">
                                  <p:stCondLst>
                                    <p:cond delay="300"/>
                                  </p:stCondLst>
                                  <p:childTnLst>
                                    <p:set>
                                      <p:cBhvr>
                                        <p:cTn id="57" dur="1" fill="hold">
                                          <p:stCondLst>
                                            <p:cond delay="0"/>
                                          </p:stCondLst>
                                        </p:cTn>
                                        <p:tgtEl>
                                          <p:spTgt spid="3741"/>
                                        </p:tgtEl>
                                        <p:attrNameLst>
                                          <p:attrName>style.visibility</p:attrName>
                                        </p:attrNameLst>
                                      </p:cBhvr>
                                      <p:to>
                                        <p:strVal val="visible"/>
                                      </p:to>
                                    </p:set>
                                    <p:animEffect transition="in" filter="fade">
                                      <p:cBhvr>
                                        <p:cTn id="58" dur="500"/>
                                        <p:tgtEl>
                                          <p:spTgt spid="3741"/>
                                        </p:tgtEl>
                                      </p:cBhvr>
                                    </p:animEffect>
                                  </p:childTnLst>
                                </p:cTn>
                              </p:par>
                              <p:par>
                                <p:cTn id="59" presetID="10" presetClass="entr" presetSubtype="0" fill="hold" nodeType="withEffect">
                                  <p:stCondLst>
                                    <p:cond delay="750"/>
                                  </p:stCondLst>
                                  <p:childTnLst>
                                    <p:set>
                                      <p:cBhvr>
                                        <p:cTn id="60" dur="1" fill="hold">
                                          <p:stCondLst>
                                            <p:cond delay="0"/>
                                          </p:stCondLst>
                                        </p:cTn>
                                        <p:tgtEl>
                                          <p:spTgt spid="3740"/>
                                        </p:tgtEl>
                                        <p:attrNameLst>
                                          <p:attrName>style.visibility</p:attrName>
                                        </p:attrNameLst>
                                      </p:cBhvr>
                                      <p:to>
                                        <p:strVal val="visible"/>
                                      </p:to>
                                    </p:set>
                                    <p:animEffect transition="in" filter="fade">
                                      <p:cBhvr>
                                        <p:cTn id="61" dur="600"/>
                                        <p:tgtEl>
                                          <p:spTgt spid="3740"/>
                                        </p:tgtEl>
                                      </p:cBhvr>
                                    </p:animEffect>
                                  </p:childTnLst>
                                </p:cTn>
                              </p:par>
                              <p:par>
                                <p:cTn id="62" presetID="10" presetClass="exit" presetSubtype="0" fill="hold" nodeType="withEffect">
                                  <p:stCondLst>
                                    <p:cond delay="1250"/>
                                  </p:stCondLst>
                                  <p:childTnLst>
                                    <p:animEffect transition="out" filter="fade">
                                      <p:cBhvr>
                                        <p:cTn id="63" dur="500"/>
                                        <p:tgtEl>
                                          <p:spTgt spid="3740"/>
                                        </p:tgtEl>
                                      </p:cBhvr>
                                    </p:animEffect>
                                    <p:set>
                                      <p:cBhvr>
                                        <p:cTn id="64" dur="1" fill="hold">
                                          <p:stCondLst>
                                            <p:cond delay="500"/>
                                          </p:stCondLst>
                                        </p:cTn>
                                        <p:tgtEl>
                                          <p:spTgt spid="37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664"/>
        <p:cNvGrpSpPr/>
        <p:nvPr/>
      </p:nvGrpSpPr>
      <p:grpSpPr>
        <a:xfrm>
          <a:off x="0" y="0"/>
          <a:ext cx="0" cy="0"/>
          <a:chOff x="0" y="0"/>
          <a:chExt cx="0" cy="0"/>
        </a:xfrm>
      </p:grpSpPr>
      <p:sp>
        <p:nvSpPr>
          <p:cNvPr id="5665" name="Google Shape;5665;p22"/>
          <p:cNvSpPr/>
          <p:nvPr/>
        </p:nvSpPr>
        <p:spPr>
          <a:xfrm>
            <a:off x="0" y="0"/>
            <a:ext cx="12188825" cy="152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666" name="Google Shape;5666;p22"/>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1"/>
              </a:gs>
              <a:gs pos="49000">
                <a:schemeClr val="accent4"/>
              </a:gs>
              <a:gs pos="100000">
                <a:schemeClr val="accent4"/>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67" name="Google Shape;5667;p22"/>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1"/>
              </a:gs>
              <a:gs pos="30000">
                <a:schemeClr val="accent1"/>
              </a:gs>
              <a:gs pos="100000">
                <a:schemeClr val="accent4"/>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68" name="Google Shape;5668;p22"/>
          <p:cNvSpPr/>
          <p:nvPr/>
        </p:nvSpPr>
        <p:spPr>
          <a:xfrm>
            <a:off x="4930706" y="2107512"/>
            <a:ext cx="7067668" cy="3932939"/>
          </a:xfrm>
          <a:custGeom>
            <a:avLst/>
            <a:gdLst/>
            <a:ahLst/>
            <a:cxnLst/>
            <a:rect l="l" t="t" r="r" b="b"/>
            <a:pathLst>
              <a:path w="8698270" h="4840319" extrusionOk="0">
                <a:moveTo>
                  <a:pt x="3467882" y="4840320"/>
                </a:moveTo>
                <a:lnTo>
                  <a:pt x="143181" y="4840320"/>
                </a:lnTo>
                <a:cubicBezTo>
                  <a:pt x="15927" y="4840320"/>
                  <a:pt x="-47891" y="4686396"/>
                  <a:pt x="42121" y="4596384"/>
                </a:cubicBezTo>
                <a:lnTo>
                  <a:pt x="4220071" y="418433"/>
                </a:lnTo>
                <a:cubicBezTo>
                  <a:pt x="4488010" y="150495"/>
                  <a:pt x="4851388" y="0"/>
                  <a:pt x="5230388" y="0"/>
                </a:cubicBezTo>
                <a:lnTo>
                  <a:pt x="8555089" y="0"/>
                </a:lnTo>
                <a:cubicBezTo>
                  <a:pt x="8682344" y="0"/>
                  <a:pt x="8746161" y="153924"/>
                  <a:pt x="8656150" y="243935"/>
                </a:cubicBezTo>
                <a:lnTo>
                  <a:pt x="4478199" y="4421791"/>
                </a:lnTo>
                <a:cubicBezTo>
                  <a:pt x="4210261" y="4689729"/>
                  <a:pt x="3846882" y="4840224"/>
                  <a:pt x="3467882" y="4840224"/>
                </a:cubicBezTo>
                <a:close/>
              </a:path>
            </a:pathLst>
          </a:custGeom>
          <a:gradFill>
            <a:gsLst>
              <a:gs pos="0">
                <a:schemeClr val="accent4"/>
              </a:gs>
              <a:gs pos="100000">
                <a:schemeClr val="accent1"/>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5669" name="Google Shape;5669;p22"/>
          <p:cNvPicPr preferRelativeResize="0"/>
          <p:nvPr/>
        </p:nvPicPr>
        <p:blipFill rotWithShape="1">
          <a:blip r:embed="rId3">
            <a:alphaModFix/>
          </a:blip>
          <a:srcRect/>
          <a:stretch/>
        </p:blipFill>
        <p:spPr>
          <a:xfrm>
            <a:off x="8361542" y="2504068"/>
            <a:ext cx="3042429" cy="1193516"/>
          </a:xfrm>
          <a:prstGeom prst="rect">
            <a:avLst/>
          </a:prstGeom>
          <a:noFill/>
          <a:ln>
            <a:noFill/>
          </a:ln>
        </p:spPr>
      </p:pic>
      <p:grpSp>
        <p:nvGrpSpPr>
          <p:cNvPr id="5670" name="Google Shape;5670;p22"/>
          <p:cNvGrpSpPr/>
          <p:nvPr/>
        </p:nvGrpSpPr>
        <p:grpSpPr>
          <a:xfrm>
            <a:off x="6496643" y="3401716"/>
            <a:ext cx="2604938" cy="2844838"/>
            <a:chOff x="5578956" y="7805643"/>
            <a:chExt cx="1956906" cy="2137126"/>
          </a:xfrm>
        </p:grpSpPr>
        <p:sp>
          <p:nvSpPr>
            <p:cNvPr id="5671" name="Google Shape;5671;p22"/>
            <p:cNvSpPr/>
            <p:nvPr/>
          </p:nvSpPr>
          <p:spPr>
            <a:xfrm>
              <a:off x="5578956" y="7805643"/>
              <a:ext cx="1956906" cy="2137126"/>
            </a:xfrm>
            <a:custGeom>
              <a:avLst/>
              <a:gdLst/>
              <a:ahLst/>
              <a:cxnLst/>
              <a:rect l="l" t="t" r="r" b="b"/>
              <a:pathLst>
                <a:path w="1956906" h="2137126" extrusionOk="0">
                  <a:moveTo>
                    <a:pt x="1956906" y="0"/>
                  </a:moveTo>
                  <a:lnTo>
                    <a:pt x="1956906" y="798735"/>
                  </a:lnTo>
                  <a:cubicBezTo>
                    <a:pt x="1956906" y="1425837"/>
                    <a:pt x="1545817" y="1956781"/>
                    <a:pt x="978453" y="2137126"/>
                  </a:cubicBezTo>
                  <a:cubicBezTo>
                    <a:pt x="411089" y="1956843"/>
                    <a:pt x="0" y="1425837"/>
                    <a:pt x="0" y="798735"/>
                  </a:cubicBezTo>
                  <a:lnTo>
                    <a:pt x="0" y="0"/>
                  </a:lnTo>
                  <a:cubicBezTo>
                    <a:pt x="0" y="0"/>
                    <a:pt x="1956906" y="0"/>
                    <a:pt x="1956906" y="0"/>
                  </a:cubicBezTo>
                  <a:close/>
                </a:path>
              </a:pathLst>
            </a:custGeom>
            <a:gradFill>
              <a:gsLst>
                <a:gs pos="0">
                  <a:schemeClr val="accent3"/>
                </a:gs>
                <a:gs pos="20000">
                  <a:schemeClr val="accent3"/>
                </a:gs>
                <a:gs pos="86000">
                  <a:schemeClr val="accent4"/>
                </a:gs>
                <a:gs pos="100000">
                  <a:schemeClr val="accent4"/>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72" name="Google Shape;5672;p22"/>
            <p:cNvSpPr/>
            <p:nvPr/>
          </p:nvSpPr>
          <p:spPr>
            <a:xfrm>
              <a:off x="6557409" y="7805643"/>
              <a:ext cx="978453" cy="2137126"/>
            </a:xfrm>
            <a:custGeom>
              <a:avLst/>
              <a:gdLst/>
              <a:ahLst/>
              <a:cxnLst/>
              <a:rect l="l" t="t" r="r" b="b"/>
              <a:pathLst>
                <a:path w="978453" h="2137126" extrusionOk="0">
                  <a:moveTo>
                    <a:pt x="0" y="0"/>
                  </a:moveTo>
                  <a:lnTo>
                    <a:pt x="978453" y="0"/>
                  </a:lnTo>
                  <a:cubicBezTo>
                    <a:pt x="978453" y="0"/>
                    <a:pt x="978453" y="798735"/>
                    <a:pt x="978453" y="798735"/>
                  </a:cubicBezTo>
                  <a:cubicBezTo>
                    <a:pt x="978453" y="1425837"/>
                    <a:pt x="567364" y="1956781"/>
                    <a:pt x="0" y="2137126"/>
                  </a:cubicBezTo>
                  <a:cubicBezTo>
                    <a:pt x="0" y="2137126"/>
                    <a:pt x="0" y="2137126"/>
                    <a:pt x="0" y="2137126"/>
                  </a:cubicBezTo>
                  <a:lnTo>
                    <a:pt x="0" y="0"/>
                  </a:lnTo>
                  <a:close/>
                </a:path>
              </a:pathLst>
            </a:custGeom>
            <a:solidFill>
              <a:schemeClr val="lt2">
                <a:alpha val="24705"/>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673" name="Google Shape;5673;p22"/>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Clr>
                <a:schemeClr val="accent2"/>
              </a:buClr>
              <a:buSzPts val="2800"/>
              <a:buFont typeface="Arial"/>
              <a:buNone/>
            </a:pPr>
            <a:r>
              <a:rPr lang="en-US"/>
              <a:t>Security and Resilience</a:t>
            </a:r>
            <a:endParaRPr/>
          </a:p>
        </p:txBody>
      </p:sp>
      <p:sp>
        <p:nvSpPr>
          <p:cNvPr id="5674" name="Google Shape;5674;p22"/>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800"/>
              <a:buNone/>
            </a:pPr>
            <a:r>
              <a:rPr lang="en-US"/>
              <a:t>Build, protect, and recover systems and data</a:t>
            </a:r>
            <a:endParaRPr/>
          </a:p>
          <a:p>
            <a:pPr marL="0" lvl="0" indent="0" algn="l" rtl="0">
              <a:lnSpc>
                <a:spcPct val="100000"/>
              </a:lnSpc>
              <a:spcBef>
                <a:spcPts val="600"/>
              </a:spcBef>
              <a:spcAft>
                <a:spcPts val="600"/>
              </a:spcAft>
              <a:buSzPts val="1800"/>
              <a:buNone/>
            </a:pPr>
            <a:endParaRPr/>
          </a:p>
        </p:txBody>
      </p:sp>
      <p:sp>
        <p:nvSpPr>
          <p:cNvPr id="5675" name="Google Shape;5675;p22"/>
          <p:cNvSpPr txBox="1"/>
          <p:nvPr/>
        </p:nvSpPr>
        <p:spPr>
          <a:xfrm>
            <a:off x="1726438" y="1797746"/>
            <a:ext cx="3507509"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accent4"/>
                </a:solidFill>
                <a:latin typeface="Arial"/>
                <a:ea typeface="Arial"/>
                <a:cs typeface="Arial"/>
                <a:sym typeface="Arial"/>
              </a:rPr>
              <a:t>Protect</a:t>
            </a:r>
            <a:r>
              <a:rPr lang="en-US" sz="2000">
                <a:solidFill>
                  <a:schemeClr val="dk1"/>
                </a:solidFill>
                <a:latin typeface="Arial"/>
                <a:ea typeface="Arial"/>
                <a:cs typeface="Arial"/>
                <a:sym typeface="Arial"/>
              </a:rPr>
              <a:t> and </a:t>
            </a:r>
            <a:r>
              <a:rPr lang="en-US" sz="2000">
                <a:solidFill>
                  <a:schemeClr val="accent4"/>
                </a:solidFill>
                <a:latin typeface="Arial"/>
                <a:ea typeface="Arial"/>
                <a:cs typeface="Arial"/>
                <a:sym typeface="Arial"/>
              </a:rPr>
              <a:t>recover</a:t>
            </a:r>
            <a:br>
              <a:rPr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from ransomware</a:t>
            </a:r>
            <a:endParaRPr/>
          </a:p>
        </p:txBody>
      </p:sp>
      <p:sp>
        <p:nvSpPr>
          <p:cNvPr id="5676" name="Google Shape;5676;p22"/>
          <p:cNvSpPr txBox="1"/>
          <p:nvPr/>
        </p:nvSpPr>
        <p:spPr>
          <a:xfrm>
            <a:off x="1726439" y="2999599"/>
            <a:ext cx="4245341"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dk1"/>
                </a:solidFill>
                <a:latin typeface="Arial"/>
                <a:ea typeface="Arial"/>
                <a:cs typeface="Arial"/>
                <a:sym typeface="Arial"/>
              </a:rPr>
              <a:t>Design and implement a </a:t>
            </a:r>
            <a:r>
              <a:rPr lang="en-US" sz="2000">
                <a:solidFill>
                  <a:schemeClr val="accent4"/>
                </a:solidFill>
                <a:latin typeface="Arial"/>
                <a:ea typeface="Arial"/>
                <a:cs typeface="Arial"/>
                <a:sym typeface="Arial"/>
              </a:rPr>
              <a:t>disaster recovery-ready</a:t>
            </a:r>
            <a:r>
              <a:rPr lang="en-US" sz="2000">
                <a:solidFill>
                  <a:schemeClr val="dk1"/>
                </a:solidFill>
                <a:latin typeface="Arial"/>
                <a:ea typeface="Arial"/>
                <a:cs typeface="Arial"/>
                <a:sym typeface="Arial"/>
              </a:rPr>
              <a:t> infrastructure</a:t>
            </a:r>
            <a:endParaRPr/>
          </a:p>
        </p:txBody>
      </p:sp>
      <p:sp>
        <p:nvSpPr>
          <p:cNvPr id="5677" name="Google Shape;5677;p22"/>
          <p:cNvSpPr txBox="1"/>
          <p:nvPr/>
        </p:nvSpPr>
        <p:spPr>
          <a:xfrm>
            <a:off x="1726440" y="4062954"/>
            <a:ext cx="2969744" cy="830997"/>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dk1"/>
                </a:solidFill>
                <a:latin typeface="Arial"/>
                <a:ea typeface="Arial"/>
                <a:cs typeface="Arial"/>
                <a:sym typeface="Arial"/>
              </a:rPr>
              <a:t>Build and integrate </a:t>
            </a:r>
            <a:r>
              <a:rPr lang="en-US" sz="2000">
                <a:solidFill>
                  <a:schemeClr val="accent4"/>
                </a:solidFill>
                <a:latin typeface="Arial"/>
                <a:ea typeface="Arial"/>
                <a:cs typeface="Arial"/>
                <a:sym typeface="Arial"/>
              </a:rPr>
              <a:t>security, compliance and resilience </a:t>
            </a:r>
            <a:r>
              <a:rPr lang="en-US" sz="2000">
                <a:solidFill>
                  <a:schemeClr val="dk1"/>
                </a:solidFill>
                <a:latin typeface="Arial"/>
                <a:ea typeface="Arial"/>
                <a:cs typeface="Arial"/>
                <a:sym typeface="Arial"/>
              </a:rPr>
              <a:t>into IT*</a:t>
            </a:r>
            <a:endParaRPr/>
          </a:p>
        </p:txBody>
      </p:sp>
      <p:grpSp>
        <p:nvGrpSpPr>
          <p:cNvPr id="5678" name="Google Shape;5678;p22"/>
          <p:cNvGrpSpPr/>
          <p:nvPr/>
        </p:nvGrpSpPr>
        <p:grpSpPr>
          <a:xfrm>
            <a:off x="5595481" y="4444337"/>
            <a:ext cx="1517163" cy="1491477"/>
            <a:chOff x="6991323" y="3563643"/>
            <a:chExt cx="1469292" cy="1444418"/>
          </a:xfrm>
        </p:grpSpPr>
        <p:sp>
          <p:nvSpPr>
            <p:cNvPr id="5679" name="Google Shape;5679;p22"/>
            <p:cNvSpPr/>
            <p:nvPr/>
          </p:nvSpPr>
          <p:spPr>
            <a:xfrm>
              <a:off x="7481702" y="4503136"/>
              <a:ext cx="133577" cy="273323"/>
            </a:xfrm>
            <a:custGeom>
              <a:avLst/>
              <a:gdLst/>
              <a:ahLst/>
              <a:cxnLst/>
              <a:rect l="l" t="t" r="r" b="b"/>
              <a:pathLst>
                <a:path w="190061" h="388898" extrusionOk="0">
                  <a:moveTo>
                    <a:pt x="189936" y="94968"/>
                  </a:moveTo>
                  <a:cubicBezTo>
                    <a:pt x="189936" y="42751"/>
                    <a:pt x="147185" y="0"/>
                    <a:pt x="94968" y="0"/>
                  </a:cubicBezTo>
                  <a:cubicBezTo>
                    <a:pt x="42751" y="0"/>
                    <a:pt x="0" y="42751"/>
                    <a:pt x="0" y="94968"/>
                  </a:cubicBezTo>
                  <a:cubicBezTo>
                    <a:pt x="0" y="129508"/>
                    <a:pt x="18743" y="159847"/>
                    <a:pt x="46575" y="176459"/>
                  </a:cubicBezTo>
                  <a:lnTo>
                    <a:pt x="46575" y="340443"/>
                  </a:lnTo>
                  <a:cubicBezTo>
                    <a:pt x="46575" y="367084"/>
                    <a:pt x="68389" y="388899"/>
                    <a:pt x="95031" y="388899"/>
                  </a:cubicBezTo>
                  <a:cubicBezTo>
                    <a:pt x="121672" y="388899"/>
                    <a:pt x="143486" y="367084"/>
                    <a:pt x="143486" y="340443"/>
                  </a:cubicBezTo>
                  <a:lnTo>
                    <a:pt x="143486" y="176459"/>
                  </a:lnTo>
                  <a:cubicBezTo>
                    <a:pt x="171256" y="159847"/>
                    <a:pt x="190062" y="129508"/>
                    <a:pt x="190062" y="94968"/>
                  </a:cubicBezTo>
                  <a:close/>
                </a:path>
              </a:pathLst>
            </a:custGeom>
            <a:solidFill>
              <a:schemeClr val="lt1"/>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680" name="Google Shape;5680;p22"/>
            <p:cNvGrpSpPr/>
            <p:nvPr/>
          </p:nvGrpSpPr>
          <p:grpSpPr>
            <a:xfrm>
              <a:off x="6991323" y="3563643"/>
              <a:ext cx="1469292" cy="1444418"/>
              <a:chOff x="4533526" y="8289698"/>
              <a:chExt cx="1469292" cy="1444418"/>
            </a:xfrm>
          </p:grpSpPr>
          <p:sp>
            <p:nvSpPr>
              <p:cNvPr id="5681" name="Google Shape;5681;p22"/>
              <p:cNvSpPr/>
              <p:nvPr/>
            </p:nvSpPr>
            <p:spPr>
              <a:xfrm>
                <a:off x="4533526" y="9599891"/>
                <a:ext cx="64850" cy="64850"/>
              </a:xfrm>
              <a:custGeom>
                <a:avLst/>
                <a:gdLst/>
                <a:ahLst/>
                <a:cxnLst/>
                <a:rect l="l" t="t" r="r" b="b"/>
                <a:pathLst>
                  <a:path w="92272" h="92272" extrusionOk="0">
                    <a:moveTo>
                      <a:pt x="92272" y="46136"/>
                    </a:moveTo>
                    <a:cubicBezTo>
                      <a:pt x="92272" y="71587"/>
                      <a:pt x="71649" y="92273"/>
                      <a:pt x="46136" y="92273"/>
                    </a:cubicBezTo>
                    <a:cubicBezTo>
                      <a:pt x="20686" y="92273"/>
                      <a:pt x="0" y="71649"/>
                      <a:pt x="0" y="46136"/>
                    </a:cubicBezTo>
                    <a:cubicBezTo>
                      <a:pt x="0" y="20686"/>
                      <a:pt x="20623" y="0"/>
                      <a:pt x="46136" y="0"/>
                    </a:cubicBezTo>
                    <a:cubicBezTo>
                      <a:pt x="71586" y="0"/>
                      <a:pt x="92272" y="20623"/>
                      <a:pt x="92272" y="46136"/>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2" name="Google Shape;5682;p22"/>
              <p:cNvSpPr/>
              <p:nvPr/>
            </p:nvSpPr>
            <p:spPr>
              <a:xfrm>
                <a:off x="4897949" y="8741624"/>
                <a:ext cx="378925" cy="312224"/>
              </a:xfrm>
              <a:custGeom>
                <a:avLst/>
                <a:gdLst/>
                <a:ahLst/>
                <a:cxnLst/>
                <a:rect l="l" t="t" r="r" b="b"/>
                <a:pathLst>
                  <a:path w="539155" h="444249" extrusionOk="0">
                    <a:moveTo>
                      <a:pt x="0" y="444250"/>
                    </a:moveTo>
                    <a:lnTo>
                      <a:pt x="0" y="244911"/>
                    </a:lnTo>
                    <a:cubicBezTo>
                      <a:pt x="0" y="110201"/>
                      <a:pt x="110201" y="0"/>
                      <a:pt x="244911" y="0"/>
                    </a:cubicBezTo>
                    <a:lnTo>
                      <a:pt x="294244" y="0"/>
                    </a:lnTo>
                    <a:cubicBezTo>
                      <a:pt x="428955" y="0"/>
                      <a:pt x="539155" y="110201"/>
                      <a:pt x="539155" y="244911"/>
                    </a:cubicBezTo>
                    <a:lnTo>
                      <a:pt x="539155" y="444250"/>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3" name="Google Shape;5683;p22"/>
              <p:cNvSpPr/>
              <p:nvPr/>
            </p:nvSpPr>
            <p:spPr>
              <a:xfrm>
                <a:off x="4985267" y="8824097"/>
                <a:ext cx="204331" cy="188163"/>
              </a:xfrm>
              <a:custGeom>
                <a:avLst/>
                <a:gdLst/>
                <a:ahLst/>
                <a:cxnLst/>
                <a:rect l="l" t="t" r="r" b="b"/>
                <a:pathLst>
                  <a:path w="290733" h="267728" extrusionOk="0">
                    <a:moveTo>
                      <a:pt x="0" y="267728"/>
                    </a:moveTo>
                    <a:lnTo>
                      <a:pt x="0" y="145367"/>
                    </a:lnTo>
                    <a:cubicBezTo>
                      <a:pt x="0" y="65443"/>
                      <a:pt x="65443" y="0"/>
                      <a:pt x="145367" y="0"/>
                    </a:cubicBezTo>
                    <a:lnTo>
                      <a:pt x="145367" y="0"/>
                    </a:lnTo>
                    <a:cubicBezTo>
                      <a:pt x="225291" y="0"/>
                      <a:pt x="290734" y="65443"/>
                      <a:pt x="290734" y="145367"/>
                    </a:cubicBezTo>
                    <a:lnTo>
                      <a:pt x="290734" y="267728"/>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4" name="Google Shape;5684;p22"/>
              <p:cNvSpPr/>
              <p:nvPr/>
            </p:nvSpPr>
            <p:spPr>
              <a:xfrm>
                <a:off x="4722385" y="8997589"/>
                <a:ext cx="736527" cy="736527"/>
              </a:xfrm>
              <a:custGeom>
                <a:avLst/>
                <a:gdLst/>
                <a:ahLst/>
                <a:cxnLst/>
                <a:rect l="l" t="t" r="r" b="b"/>
                <a:pathLst>
                  <a:path w="1047970" h="1047970" extrusionOk="0">
                    <a:moveTo>
                      <a:pt x="1047971" y="523985"/>
                    </a:moveTo>
                    <a:cubicBezTo>
                      <a:pt x="1047971" y="813375"/>
                      <a:pt x="813375" y="1047971"/>
                      <a:pt x="523985" y="1047971"/>
                    </a:cubicBezTo>
                    <a:cubicBezTo>
                      <a:pt x="234596" y="1047971"/>
                      <a:pt x="0" y="813375"/>
                      <a:pt x="0" y="523985"/>
                    </a:cubicBezTo>
                    <a:cubicBezTo>
                      <a:pt x="0" y="234596"/>
                      <a:pt x="234596" y="0"/>
                      <a:pt x="523985" y="0"/>
                    </a:cubicBezTo>
                    <a:cubicBezTo>
                      <a:pt x="813374" y="0"/>
                      <a:pt x="1047971" y="234596"/>
                      <a:pt x="1047971" y="523985"/>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5" name="Google Shape;5685;p22"/>
              <p:cNvSpPr/>
              <p:nvPr/>
            </p:nvSpPr>
            <p:spPr>
              <a:xfrm>
                <a:off x="5705925" y="9197073"/>
                <a:ext cx="171510" cy="317026"/>
              </a:xfrm>
              <a:custGeom>
                <a:avLst/>
                <a:gdLst/>
                <a:ahLst/>
                <a:cxnLst/>
                <a:rect l="l" t="t" r="r" b="b"/>
                <a:pathLst>
                  <a:path w="244033" h="451082" extrusionOk="0">
                    <a:moveTo>
                      <a:pt x="207049" y="451083"/>
                    </a:moveTo>
                    <a:lnTo>
                      <a:pt x="0" y="244033"/>
                    </a:lnTo>
                    <a:lnTo>
                      <a:pt x="244033" y="0"/>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6" name="Google Shape;5686;p22"/>
              <p:cNvSpPr/>
              <p:nvPr/>
            </p:nvSpPr>
            <p:spPr>
              <a:xfrm>
                <a:off x="5829952" y="8768630"/>
                <a:ext cx="133049" cy="133049"/>
              </a:xfrm>
              <a:custGeom>
                <a:avLst/>
                <a:gdLst/>
                <a:ahLst/>
                <a:cxnLst/>
                <a:rect l="l" t="t" r="r" b="b"/>
                <a:pathLst>
                  <a:path w="189309" h="189309" extrusionOk="0">
                    <a:moveTo>
                      <a:pt x="189309" y="94655"/>
                    </a:moveTo>
                    <a:cubicBezTo>
                      <a:pt x="189309" y="146931"/>
                      <a:pt x="146931" y="189309"/>
                      <a:pt x="94655" y="189309"/>
                    </a:cubicBezTo>
                    <a:cubicBezTo>
                      <a:pt x="42378" y="189309"/>
                      <a:pt x="0" y="146931"/>
                      <a:pt x="0" y="94655"/>
                    </a:cubicBezTo>
                    <a:cubicBezTo>
                      <a:pt x="0" y="42378"/>
                      <a:pt x="42378" y="0"/>
                      <a:pt x="94655" y="0"/>
                    </a:cubicBezTo>
                    <a:cubicBezTo>
                      <a:pt x="146931" y="0"/>
                      <a:pt x="189309" y="42378"/>
                      <a:pt x="189309" y="94655"/>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7" name="Google Shape;5687;p22"/>
              <p:cNvSpPr/>
              <p:nvPr/>
            </p:nvSpPr>
            <p:spPr>
              <a:xfrm>
                <a:off x="5737258" y="8289698"/>
                <a:ext cx="133049" cy="133049"/>
              </a:xfrm>
              <a:custGeom>
                <a:avLst/>
                <a:gdLst/>
                <a:ahLst/>
                <a:cxnLst/>
                <a:rect l="l" t="t" r="r" b="b"/>
                <a:pathLst>
                  <a:path w="189309" h="189309" extrusionOk="0">
                    <a:moveTo>
                      <a:pt x="189309" y="94655"/>
                    </a:moveTo>
                    <a:cubicBezTo>
                      <a:pt x="189309" y="146931"/>
                      <a:pt x="146931" y="189309"/>
                      <a:pt x="94655" y="189309"/>
                    </a:cubicBezTo>
                    <a:cubicBezTo>
                      <a:pt x="42379" y="189309"/>
                      <a:pt x="0" y="146931"/>
                      <a:pt x="0" y="94655"/>
                    </a:cubicBezTo>
                    <a:cubicBezTo>
                      <a:pt x="0" y="42378"/>
                      <a:pt x="42379" y="0"/>
                      <a:pt x="94655" y="0"/>
                    </a:cubicBezTo>
                    <a:cubicBezTo>
                      <a:pt x="146931" y="0"/>
                      <a:pt x="189309" y="42378"/>
                      <a:pt x="189309" y="94655"/>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8" name="Google Shape;5688;p22"/>
              <p:cNvSpPr/>
              <p:nvPr/>
            </p:nvSpPr>
            <p:spPr>
              <a:xfrm>
                <a:off x="5869769" y="9071690"/>
                <a:ext cx="133049" cy="133049"/>
              </a:xfrm>
              <a:custGeom>
                <a:avLst/>
                <a:gdLst/>
                <a:ahLst/>
                <a:cxnLst/>
                <a:rect l="l" t="t" r="r" b="b"/>
                <a:pathLst>
                  <a:path w="189309" h="189309" extrusionOk="0">
                    <a:moveTo>
                      <a:pt x="189309" y="94655"/>
                    </a:moveTo>
                    <a:cubicBezTo>
                      <a:pt x="189309" y="146931"/>
                      <a:pt x="146931" y="189309"/>
                      <a:pt x="94655" y="189309"/>
                    </a:cubicBezTo>
                    <a:cubicBezTo>
                      <a:pt x="42379" y="189309"/>
                      <a:pt x="0" y="146931"/>
                      <a:pt x="0" y="94655"/>
                    </a:cubicBezTo>
                    <a:cubicBezTo>
                      <a:pt x="0" y="42378"/>
                      <a:pt x="42379" y="0"/>
                      <a:pt x="94655" y="0"/>
                    </a:cubicBezTo>
                    <a:cubicBezTo>
                      <a:pt x="146931" y="0"/>
                      <a:pt x="189309" y="42378"/>
                      <a:pt x="189309" y="94655"/>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9" name="Google Shape;5689;p22"/>
              <p:cNvSpPr/>
              <p:nvPr/>
            </p:nvSpPr>
            <p:spPr>
              <a:xfrm>
                <a:off x="5841223" y="9503879"/>
                <a:ext cx="69872" cy="69872"/>
              </a:xfrm>
              <a:custGeom>
                <a:avLst/>
                <a:gdLst/>
                <a:ahLst/>
                <a:cxnLst/>
                <a:rect l="l" t="t" r="r" b="b"/>
                <a:pathLst>
                  <a:path w="99418" h="99418" extrusionOk="0">
                    <a:moveTo>
                      <a:pt x="99419" y="49709"/>
                    </a:moveTo>
                    <a:cubicBezTo>
                      <a:pt x="99419" y="77163"/>
                      <a:pt x="77163" y="99419"/>
                      <a:pt x="49709" y="99419"/>
                    </a:cubicBezTo>
                    <a:cubicBezTo>
                      <a:pt x="22256" y="99419"/>
                      <a:pt x="0" y="77163"/>
                      <a:pt x="0" y="49709"/>
                    </a:cubicBezTo>
                    <a:cubicBezTo>
                      <a:pt x="0" y="22256"/>
                      <a:pt x="22256" y="0"/>
                      <a:pt x="49709" y="0"/>
                    </a:cubicBezTo>
                    <a:cubicBezTo>
                      <a:pt x="77163" y="0"/>
                      <a:pt x="99419" y="22256"/>
                      <a:pt x="99419" y="49709"/>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90" name="Google Shape;5690;p22"/>
              <p:cNvSpPr/>
              <p:nvPr/>
            </p:nvSpPr>
            <p:spPr>
              <a:xfrm>
                <a:off x="5447898" y="8885907"/>
                <a:ext cx="409015" cy="404874"/>
              </a:xfrm>
              <a:custGeom>
                <a:avLst/>
                <a:gdLst/>
                <a:ahLst/>
                <a:cxnLst/>
                <a:rect l="l" t="t" r="r" b="b"/>
                <a:pathLst>
                  <a:path w="581969" h="576076" extrusionOk="0">
                    <a:moveTo>
                      <a:pt x="0" y="576077"/>
                    </a:moveTo>
                    <a:lnTo>
                      <a:pt x="581969" y="0"/>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91" name="Google Shape;5691;p22"/>
              <p:cNvSpPr/>
              <p:nvPr/>
            </p:nvSpPr>
            <p:spPr>
              <a:xfrm>
                <a:off x="5335688" y="8403142"/>
                <a:ext cx="601584" cy="687845"/>
              </a:xfrm>
              <a:custGeom>
                <a:avLst/>
                <a:gdLst/>
                <a:ahLst/>
                <a:cxnLst/>
                <a:rect l="l" t="t" r="r" b="b"/>
                <a:pathLst>
                  <a:path w="855966" h="978703" extrusionOk="0">
                    <a:moveTo>
                      <a:pt x="0" y="978704"/>
                    </a:moveTo>
                    <a:lnTo>
                      <a:pt x="855966" y="122800"/>
                    </a:lnTo>
                    <a:lnTo>
                      <a:pt x="733103" y="0"/>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5692" name="Google Shape;5692;p22"/>
          <p:cNvSpPr/>
          <p:nvPr/>
        </p:nvSpPr>
        <p:spPr>
          <a:xfrm>
            <a:off x="8051549" y="4012438"/>
            <a:ext cx="393698" cy="393698"/>
          </a:xfrm>
          <a:prstGeom prst="ellipse">
            <a:avLst/>
          </a:pr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693" name="Google Shape;5693;p22"/>
          <p:cNvGrpSpPr/>
          <p:nvPr/>
        </p:nvGrpSpPr>
        <p:grpSpPr>
          <a:xfrm>
            <a:off x="8142936" y="4012423"/>
            <a:ext cx="346524" cy="266954"/>
            <a:chOff x="9364411" y="3768417"/>
            <a:chExt cx="298461" cy="229928"/>
          </a:xfrm>
        </p:grpSpPr>
        <p:cxnSp>
          <p:nvCxnSpPr>
            <p:cNvPr id="5694" name="Google Shape;5694;p22"/>
            <p:cNvCxnSpPr/>
            <p:nvPr/>
          </p:nvCxnSpPr>
          <p:spPr>
            <a:xfrm>
              <a:off x="9364411" y="3909775"/>
              <a:ext cx="77305" cy="88570"/>
            </a:xfrm>
            <a:prstGeom prst="straightConnector1">
              <a:avLst/>
            </a:prstGeom>
            <a:noFill/>
            <a:ln w="19050" cap="flat" cmpd="sng">
              <a:solidFill>
                <a:schemeClr val="lt1"/>
              </a:solidFill>
              <a:prstDash val="solid"/>
              <a:miter lim="8000"/>
              <a:headEnd type="none" w="sm" len="sm"/>
              <a:tailEnd type="none" w="sm" len="sm"/>
            </a:ln>
          </p:spPr>
        </p:cxnSp>
        <p:cxnSp>
          <p:nvCxnSpPr>
            <p:cNvPr id="5695" name="Google Shape;5695;p22"/>
            <p:cNvCxnSpPr/>
            <p:nvPr/>
          </p:nvCxnSpPr>
          <p:spPr>
            <a:xfrm rot="10800000" flipH="1">
              <a:off x="9434844" y="3768417"/>
              <a:ext cx="228028" cy="229928"/>
            </a:xfrm>
            <a:prstGeom prst="straightConnector1">
              <a:avLst/>
            </a:prstGeom>
            <a:noFill/>
            <a:ln w="19050" cap="flat" cmpd="sng">
              <a:solidFill>
                <a:schemeClr val="lt1"/>
              </a:solidFill>
              <a:prstDash val="solid"/>
              <a:miter lim="8000"/>
              <a:headEnd type="none" w="sm" len="sm"/>
              <a:tailEnd type="none" w="sm" len="sm"/>
            </a:ln>
          </p:spPr>
        </p:cxnSp>
      </p:grpSp>
      <p:sp>
        <p:nvSpPr>
          <p:cNvPr id="5696" name="Google Shape;5696;p22"/>
          <p:cNvSpPr/>
          <p:nvPr/>
        </p:nvSpPr>
        <p:spPr>
          <a:xfrm>
            <a:off x="8051549" y="4533800"/>
            <a:ext cx="393698" cy="393698"/>
          </a:xfrm>
          <a:prstGeom prst="ellipse">
            <a:avLst/>
          </a:pr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5697" name="Google Shape;5697;p22"/>
          <p:cNvCxnSpPr/>
          <p:nvPr/>
        </p:nvCxnSpPr>
        <p:spPr>
          <a:xfrm>
            <a:off x="8544039" y="4667004"/>
            <a:ext cx="868131" cy="0"/>
          </a:xfrm>
          <a:prstGeom prst="straightConnector1">
            <a:avLst/>
          </a:prstGeom>
          <a:noFill/>
          <a:ln w="19050" cap="flat" cmpd="sng">
            <a:solidFill>
              <a:schemeClr val="lt1"/>
            </a:solidFill>
            <a:prstDash val="solid"/>
            <a:miter lim="8000"/>
            <a:headEnd type="none" w="sm" len="sm"/>
            <a:tailEnd type="none" w="sm" len="sm"/>
          </a:ln>
        </p:spPr>
      </p:cxnSp>
      <p:cxnSp>
        <p:nvCxnSpPr>
          <p:cNvPr id="5698" name="Google Shape;5698;p22"/>
          <p:cNvCxnSpPr/>
          <p:nvPr/>
        </p:nvCxnSpPr>
        <p:spPr>
          <a:xfrm>
            <a:off x="8544039" y="4775485"/>
            <a:ext cx="707915" cy="0"/>
          </a:xfrm>
          <a:prstGeom prst="straightConnector1">
            <a:avLst/>
          </a:prstGeom>
          <a:noFill/>
          <a:ln w="19050" cap="flat" cmpd="sng">
            <a:solidFill>
              <a:schemeClr val="lt1"/>
            </a:solidFill>
            <a:prstDash val="solid"/>
            <a:miter lim="8000"/>
            <a:headEnd type="none" w="sm" len="sm"/>
            <a:tailEnd type="none" w="sm" len="sm"/>
          </a:ln>
        </p:spPr>
      </p:cxnSp>
      <p:sp>
        <p:nvSpPr>
          <p:cNvPr id="5699" name="Google Shape;5699;p22"/>
          <p:cNvSpPr/>
          <p:nvPr/>
        </p:nvSpPr>
        <p:spPr>
          <a:xfrm>
            <a:off x="9060688" y="3893165"/>
            <a:ext cx="81124" cy="81124"/>
          </a:xfrm>
          <a:custGeom>
            <a:avLst/>
            <a:gdLst/>
            <a:ahLst/>
            <a:cxnLst/>
            <a:rect l="l" t="t" r="r" b="b"/>
            <a:pathLst>
              <a:path w="99418" h="99418" extrusionOk="0">
                <a:moveTo>
                  <a:pt x="99419" y="49709"/>
                </a:moveTo>
                <a:cubicBezTo>
                  <a:pt x="99419" y="77163"/>
                  <a:pt x="77163" y="99419"/>
                  <a:pt x="49709" y="99419"/>
                </a:cubicBezTo>
                <a:cubicBezTo>
                  <a:pt x="22256" y="99419"/>
                  <a:pt x="0" y="77163"/>
                  <a:pt x="0" y="49709"/>
                </a:cubicBezTo>
                <a:cubicBezTo>
                  <a:pt x="0" y="22256"/>
                  <a:pt x="22256" y="0"/>
                  <a:pt x="49709" y="0"/>
                </a:cubicBezTo>
                <a:cubicBezTo>
                  <a:pt x="77163" y="0"/>
                  <a:pt x="99419" y="22256"/>
                  <a:pt x="99419" y="49709"/>
                </a:cubicBezTo>
                <a:close/>
              </a:path>
            </a:pathLst>
          </a:custGeom>
          <a:noFill/>
          <a:ln w="15875"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00" name="Google Shape;5700;p22"/>
          <p:cNvSpPr/>
          <p:nvPr/>
        </p:nvSpPr>
        <p:spPr>
          <a:xfrm>
            <a:off x="8439363" y="5351667"/>
            <a:ext cx="81124" cy="81124"/>
          </a:xfrm>
          <a:custGeom>
            <a:avLst/>
            <a:gdLst/>
            <a:ahLst/>
            <a:cxnLst/>
            <a:rect l="l" t="t" r="r" b="b"/>
            <a:pathLst>
              <a:path w="99418" h="99418" extrusionOk="0">
                <a:moveTo>
                  <a:pt x="99419" y="49709"/>
                </a:moveTo>
                <a:cubicBezTo>
                  <a:pt x="99419" y="77163"/>
                  <a:pt x="77163" y="99419"/>
                  <a:pt x="49709" y="99419"/>
                </a:cubicBezTo>
                <a:cubicBezTo>
                  <a:pt x="22256" y="99419"/>
                  <a:pt x="0" y="77163"/>
                  <a:pt x="0" y="49709"/>
                </a:cubicBezTo>
                <a:cubicBezTo>
                  <a:pt x="0" y="22256"/>
                  <a:pt x="22256" y="0"/>
                  <a:pt x="49709" y="0"/>
                </a:cubicBezTo>
                <a:cubicBezTo>
                  <a:pt x="77163" y="0"/>
                  <a:pt x="99419" y="22256"/>
                  <a:pt x="99419" y="49709"/>
                </a:cubicBezTo>
                <a:close/>
              </a:path>
            </a:pathLst>
          </a:custGeom>
          <a:noFill/>
          <a:ln w="15875"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5701" name="Google Shape;5701;p22"/>
          <p:cNvCxnSpPr/>
          <p:nvPr/>
        </p:nvCxnSpPr>
        <p:spPr>
          <a:xfrm rot="10800000" flipH="1">
            <a:off x="8544039" y="4155462"/>
            <a:ext cx="1285124" cy="3889"/>
          </a:xfrm>
          <a:prstGeom prst="straightConnector1">
            <a:avLst/>
          </a:prstGeom>
          <a:noFill/>
          <a:ln w="19050" cap="flat" cmpd="sng">
            <a:solidFill>
              <a:schemeClr val="lt1"/>
            </a:solidFill>
            <a:prstDash val="solid"/>
            <a:miter lim="8000"/>
            <a:headEnd type="none" w="sm" len="sm"/>
            <a:tailEnd type="none" w="sm" len="sm"/>
          </a:ln>
        </p:spPr>
      </p:cxnSp>
      <p:cxnSp>
        <p:nvCxnSpPr>
          <p:cNvPr id="5702" name="Google Shape;5702;p22"/>
          <p:cNvCxnSpPr/>
          <p:nvPr/>
        </p:nvCxnSpPr>
        <p:spPr>
          <a:xfrm rot="10800000" flipH="1">
            <a:off x="8544039" y="4263943"/>
            <a:ext cx="1285124" cy="3889"/>
          </a:xfrm>
          <a:prstGeom prst="straightConnector1">
            <a:avLst/>
          </a:prstGeom>
          <a:noFill/>
          <a:ln w="19050" cap="flat" cmpd="sng">
            <a:solidFill>
              <a:schemeClr val="lt1"/>
            </a:solidFill>
            <a:prstDash val="solid"/>
            <a:miter lim="8000"/>
            <a:headEnd type="none" w="sm" len="sm"/>
            <a:tailEnd type="none" w="sm" len="sm"/>
          </a:ln>
        </p:spPr>
      </p:cxnSp>
      <p:sp>
        <p:nvSpPr>
          <p:cNvPr id="5703" name="Google Shape;5703;p22"/>
          <p:cNvSpPr/>
          <p:nvPr/>
        </p:nvSpPr>
        <p:spPr>
          <a:xfrm>
            <a:off x="8739015" y="2474881"/>
            <a:ext cx="92128" cy="92128"/>
          </a:xfrm>
          <a:custGeom>
            <a:avLst/>
            <a:gdLst/>
            <a:ahLst/>
            <a:cxnLst/>
            <a:rect l="l" t="t" r="r" b="b"/>
            <a:pathLst>
              <a:path w="99418" h="99418" extrusionOk="0">
                <a:moveTo>
                  <a:pt x="99419" y="49709"/>
                </a:moveTo>
                <a:cubicBezTo>
                  <a:pt x="99419" y="77163"/>
                  <a:pt x="77163" y="99419"/>
                  <a:pt x="49709" y="99419"/>
                </a:cubicBezTo>
                <a:cubicBezTo>
                  <a:pt x="22256" y="99419"/>
                  <a:pt x="0" y="77163"/>
                  <a:pt x="0" y="49709"/>
                </a:cubicBezTo>
                <a:cubicBezTo>
                  <a:pt x="0" y="22256"/>
                  <a:pt x="22256" y="0"/>
                  <a:pt x="49709" y="0"/>
                </a:cubicBezTo>
                <a:cubicBezTo>
                  <a:pt x="77163" y="0"/>
                  <a:pt x="99419" y="22256"/>
                  <a:pt x="99419" y="49709"/>
                </a:cubicBezTo>
                <a:close/>
              </a:path>
            </a:pathLst>
          </a:custGeom>
          <a:noFill/>
          <a:ln w="15875"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704" name="Google Shape;5704;p22"/>
          <p:cNvGrpSpPr/>
          <p:nvPr/>
        </p:nvGrpSpPr>
        <p:grpSpPr>
          <a:xfrm>
            <a:off x="9406091" y="1523565"/>
            <a:ext cx="806773" cy="806773"/>
            <a:chOff x="-396256" y="3115798"/>
            <a:chExt cx="601858" cy="601858"/>
          </a:xfrm>
        </p:grpSpPr>
        <p:sp>
          <p:nvSpPr>
            <p:cNvPr id="5705" name="Google Shape;5705;p22"/>
            <p:cNvSpPr/>
            <p:nvPr/>
          </p:nvSpPr>
          <p:spPr>
            <a:xfrm>
              <a:off x="-396256" y="3115798"/>
              <a:ext cx="601858" cy="601858"/>
            </a:xfrm>
            <a:prstGeom prst="roundRect">
              <a:avLst>
                <a:gd name="adj" fmla="val 9912"/>
              </a:avLst>
            </a:prstGeom>
            <a:gradFill>
              <a:gsLst>
                <a:gs pos="0">
                  <a:schemeClr val="accent6"/>
                </a:gs>
                <a:gs pos="100000">
                  <a:srgbClr val="D58B3F"/>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06" name="Google Shape;5706;p22"/>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862"/>
                  </a:srgbClr>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707" name="Google Shape;5707;p22"/>
          <p:cNvGrpSpPr/>
          <p:nvPr/>
        </p:nvGrpSpPr>
        <p:grpSpPr>
          <a:xfrm>
            <a:off x="9195135" y="2467454"/>
            <a:ext cx="595449" cy="595448"/>
            <a:chOff x="-553631" y="3819946"/>
            <a:chExt cx="444209" cy="444208"/>
          </a:xfrm>
        </p:grpSpPr>
        <p:sp>
          <p:nvSpPr>
            <p:cNvPr id="5708" name="Google Shape;5708;p22"/>
            <p:cNvSpPr/>
            <p:nvPr/>
          </p:nvSpPr>
          <p:spPr>
            <a:xfrm>
              <a:off x="-553630" y="3819946"/>
              <a:ext cx="444208" cy="444208"/>
            </a:xfrm>
            <a:prstGeom prst="roundRect">
              <a:avLst>
                <a:gd name="adj" fmla="val 9912"/>
              </a:avLst>
            </a:prstGeom>
            <a:gradFill>
              <a:gsLst>
                <a:gs pos="0">
                  <a:schemeClr val="accent6"/>
                </a:gs>
                <a:gs pos="100000">
                  <a:srgbClr val="D58B3F"/>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09" name="Google Shape;5709;p22"/>
            <p:cNvSpPr/>
            <p:nvPr/>
          </p:nvSpPr>
          <p:spPr>
            <a:xfrm>
              <a:off x="-553631" y="3819950"/>
              <a:ext cx="345643" cy="345644"/>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862"/>
                  </a:srgbClr>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710" name="Google Shape;5710;p22"/>
          <p:cNvSpPr txBox="1"/>
          <p:nvPr/>
        </p:nvSpPr>
        <p:spPr>
          <a:xfrm>
            <a:off x="581848" y="5432791"/>
            <a:ext cx="3358434"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 Presales use case only, no discrete deliverable.  Outcome leads back to cloud infrastructure capabilities relevant to security, compliance and resilience, also needs external mapping to ANS for any non-VCF Division security considerations (microseg, DFW, etc.)</a:t>
            </a:r>
            <a:endParaRPr/>
          </a:p>
        </p:txBody>
      </p:sp>
      <p:grpSp>
        <p:nvGrpSpPr>
          <p:cNvPr id="5711" name="Google Shape;5711;p22"/>
          <p:cNvGrpSpPr/>
          <p:nvPr/>
        </p:nvGrpSpPr>
        <p:grpSpPr>
          <a:xfrm>
            <a:off x="579815" y="1618697"/>
            <a:ext cx="912101" cy="912097"/>
            <a:chOff x="579815" y="1618697"/>
            <a:chExt cx="912101" cy="912097"/>
          </a:xfrm>
        </p:grpSpPr>
        <p:sp>
          <p:nvSpPr>
            <p:cNvPr id="5712" name="Google Shape;5712;p22"/>
            <p:cNvSpPr/>
            <p:nvPr/>
          </p:nvSpPr>
          <p:spPr>
            <a:xfrm>
              <a:off x="579815" y="1618697"/>
              <a:ext cx="912101" cy="912097"/>
            </a:xfrm>
            <a:prstGeom prst="ellipse">
              <a:avLst/>
            </a:prstGeom>
            <a:gradFill>
              <a:gsLst>
                <a:gs pos="0">
                  <a:schemeClr val="accent1"/>
                </a:gs>
                <a:gs pos="30000">
                  <a:schemeClr val="accent1"/>
                </a:gs>
                <a:gs pos="100000">
                  <a:schemeClr val="accent4"/>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713" name="Google Shape;5713;p22"/>
            <p:cNvGrpSpPr/>
            <p:nvPr/>
          </p:nvGrpSpPr>
          <p:grpSpPr>
            <a:xfrm>
              <a:off x="798135" y="1795479"/>
              <a:ext cx="475460" cy="558533"/>
              <a:chOff x="1893239" y="713314"/>
              <a:chExt cx="510395" cy="599572"/>
            </a:xfrm>
          </p:grpSpPr>
          <p:sp>
            <p:nvSpPr>
              <p:cNvPr id="5714" name="Google Shape;5714;p22"/>
              <p:cNvSpPr/>
              <p:nvPr/>
            </p:nvSpPr>
            <p:spPr>
              <a:xfrm>
                <a:off x="1893239" y="713314"/>
                <a:ext cx="510395" cy="599572"/>
              </a:xfrm>
              <a:custGeom>
                <a:avLst/>
                <a:gdLst/>
                <a:ahLst/>
                <a:cxnLst/>
                <a:rect l="l" t="t" r="r" b="b"/>
                <a:pathLst>
                  <a:path w="510395" h="599572" extrusionOk="0">
                    <a:moveTo>
                      <a:pt x="254881" y="18974"/>
                    </a:moveTo>
                    <a:lnTo>
                      <a:pt x="259941" y="22136"/>
                    </a:lnTo>
                    <a:cubicBezTo>
                      <a:pt x="294726" y="43640"/>
                      <a:pt x="330777" y="63246"/>
                      <a:pt x="368092" y="79058"/>
                    </a:cubicBezTo>
                    <a:cubicBezTo>
                      <a:pt x="406039" y="96134"/>
                      <a:pt x="445884" y="110048"/>
                      <a:pt x="486362" y="120800"/>
                    </a:cubicBezTo>
                    <a:lnTo>
                      <a:pt x="493319" y="122697"/>
                    </a:lnTo>
                    <a:lnTo>
                      <a:pt x="493319" y="263736"/>
                    </a:lnTo>
                    <a:cubicBezTo>
                      <a:pt x="493319" y="356707"/>
                      <a:pt x="456636" y="436397"/>
                      <a:pt x="385168" y="501541"/>
                    </a:cubicBezTo>
                    <a:cubicBezTo>
                      <a:pt x="323820" y="557197"/>
                      <a:pt x="259941" y="579966"/>
                      <a:pt x="257411" y="581231"/>
                    </a:cubicBezTo>
                    <a:lnTo>
                      <a:pt x="253616" y="582496"/>
                    </a:lnTo>
                    <a:lnTo>
                      <a:pt x="251087" y="581863"/>
                    </a:lnTo>
                    <a:cubicBezTo>
                      <a:pt x="239702" y="577436"/>
                      <a:pt x="15179" y="488892"/>
                      <a:pt x="15179" y="263736"/>
                    </a:cubicBezTo>
                    <a:lnTo>
                      <a:pt x="15179" y="122697"/>
                    </a:lnTo>
                    <a:lnTo>
                      <a:pt x="22769" y="120800"/>
                    </a:lnTo>
                    <a:cubicBezTo>
                      <a:pt x="63246" y="110048"/>
                      <a:pt x="102459" y="96134"/>
                      <a:pt x="140406" y="79058"/>
                    </a:cubicBezTo>
                    <a:cubicBezTo>
                      <a:pt x="177721" y="62614"/>
                      <a:pt x="214404" y="43640"/>
                      <a:pt x="249189" y="21504"/>
                    </a:cubicBezTo>
                    <a:lnTo>
                      <a:pt x="254881" y="18974"/>
                    </a:lnTo>
                    <a:moveTo>
                      <a:pt x="254881" y="0"/>
                    </a:moveTo>
                    <a:lnTo>
                      <a:pt x="240967" y="8854"/>
                    </a:lnTo>
                    <a:cubicBezTo>
                      <a:pt x="207447" y="30358"/>
                      <a:pt x="171397" y="49332"/>
                      <a:pt x="134714" y="65143"/>
                    </a:cubicBezTo>
                    <a:cubicBezTo>
                      <a:pt x="97399" y="81587"/>
                      <a:pt x="58186" y="95501"/>
                      <a:pt x="18974" y="106253"/>
                    </a:cubicBezTo>
                    <a:lnTo>
                      <a:pt x="0" y="110681"/>
                    </a:lnTo>
                    <a:lnTo>
                      <a:pt x="0" y="263736"/>
                    </a:lnTo>
                    <a:cubicBezTo>
                      <a:pt x="0" y="500908"/>
                      <a:pt x="235908" y="592615"/>
                      <a:pt x="246027" y="596410"/>
                    </a:cubicBezTo>
                    <a:lnTo>
                      <a:pt x="254881" y="599572"/>
                    </a:lnTo>
                    <a:lnTo>
                      <a:pt x="263736" y="596410"/>
                    </a:lnTo>
                    <a:lnTo>
                      <a:pt x="263736" y="595777"/>
                    </a:lnTo>
                    <a:cubicBezTo>
                      <a:pt x="289667" y="586290"/>
                      <a:pt x="510395" y="495216"/>
                      <a:pt x="510395" y="263103"/>
                    </a:cubicBezTo>
                    <a:lnTo>
                      <a:pt x="510395" y="110681"/>
                    </a:lnTo>
                    <a:lnTo>
                      <a:pt x="491421" y="105621"/>
                    </a:lnTo>
                    <a:cubicBezTo>
                      <a:pt x="452209" y="94869"/>
                      <a:pt x="412996" y="81587"/>
                      <a:pt x="375681" y="64511"/>
                    </a:cubicBezTo>
                    <a:cubicBezTo>
                      <a:pt x="338999" y="48699"/>
                      <a:pt x="303581" y="29726"/>
                      <a:pt x="269428" y="8222"/>
                    </a:cubicBezTo>
                    <a:lnTo>
                      <a:pt x="254881" y="0"/>
                    </a:lnTo>
                    <a:lnTo>
                      <a:pt x="254881"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15" name="Google Shape;5715;p22"/>
              <p:cNvSpPr/>
              <p:nvPr/>
            </p:nvSpPr>
            <p:spPr>
              <a:xfrm>
                <a:off x="2030483" y="933410"/>
                <a:ext cx="244129" cy="178986"/>
              </a:xfrm>
              <a:custGeom>
                <a:avLst/>
                <a:gdLst/>
                <a:ahLst/>
                <a:cxnLst/>
                <a:rect l="l" t="t" r="r" b="b"/>
                <a:pathLst>
                  <a:path w="244129" h="178986" extrusionOk="0">
                    <a:moveTo>
                      <a:pt x="75895" y="178986"/>
                    </a:moveTo>
                    <a:lnTo>
                      <a:pt x="0" y="103091"/>
                    </a:lnTo>
                    <a:lnTo>
                      <a:pt x="11384" y="92339"/>
                    </a:lnTo>
                    <a:lnTo>
                      <a:pt x="75895" y="156850"/>
                    </a:lnTo>
                    <a:lnTo>
                      <a:pt x="232745" y="0"/>
                    </a:lnTo>
                    <a:lnTo>
                      <a:pt x="244130" y="1075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5716" name="Google Shape;5716;p22"/>
          <p:cNvGrpSpPr/>
          <p:nvPr/>
        </p:nvGrpSpPr>
        <p:grpSpPr>
          <a:xfrm>
            <a:off x="579815" y="2820551"/>
            <a:ext cx="912101" cy="912097"/>
            <a:chOff x="579815" y="2820551"/>
            <a:chExt cx="912101" cy="912097"/>
          </a:xfrm>
        </p:grpSpPr>
        <p:sp>
          <p:nvSpPr>
            <p:cNvPr id="5717" name="Google Shape;5717;p22"/>
            <p:cNvSpPr/>
            <p:nvPr/>
          </p:nvSpPr>
          <p:spPr>
            <a:xfrm>
              <a:off x="579815" y="2820551"/>
              <a:ext cx="912101" cy="912097"/>
            </a:xfrm>
            <a:prstGeom prst="ellipse">
              <a:avLst/>
            </a:prstGeom>
            <a:gradFill>
              <a:gsLst>
                <a:gs pos="0">
                  <a:schemeClr val="accent1"/>
                </a:gs>
                <a:gs pos="30000">
                  <a:schemeClr val="accent1"/>
                </a:gs>
                <a:gs pos="100000">
                  <a:schemeClr val="accent4"/>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718" name="Google Shape;5718;p22"/>
            <p:cNvGrpSpPr/>
            <p:nvPr/>
          </p:nvGrpSpPr>
          <p:grpSpPr>
            <a:xfrm>
              <a:off x="789590" y="3031177"/>
              <a:ext cx="492550" cy="490845"/>
              <a:chOff x="1847259" y="4474380"/>
              <a:chExt cx="603050" cy="600962"/>
            </a:xfrm>
          </p:grpSpPr>
          <p:sp>
            <p:nvSpPr>
              <p:cNvPr id="5719" name="Google Shape;5719;p22"/>
              <p:cNvSpPr/>
              <p:nvPr/>
            </p:nvSpPr>
            <p:spPr>
              <a:xfrm>
                <a:off x="1946176" y="4474380"/>
                <a:ext cx="504133" cy="553149"/>
              </a:xfrm>
              <a:custGeom>
                <a:avLst/>
                <a:gdLst/>
                <a:ahLst/>
                <a:cxnLst/>
                <a:rect l="l" t="t" r="r" b="b"/>
                <a:pathLst>
                  <a:path w="504133" h="553149" extrusionOk="0">
                    <a:moveTo>
                      <a:pt x="482441" y="501920"/>
                    </a:moveTo>
                    <a:lnTo>
                      <a:pt x="482441" y="0"/>
                    </a:lnTo>
                    <a:lnTo>
                      <a:pt x="0" y="0"/>
                    </a:lnTo>
                    <a:lnTo>
                      <a:pt x="0" y="15812"/>
                    </a:lnTo>
                    <a:lnTo>
                      <a:pt x="466629" y="15812"/>
                    </a:lnTo>
                    <a:lnTo>
                      <a:pt x="466629" y="501920"/>
                    </a:lnTo>
                    <a:lnTo>
                      <a:pt x="444999" y="501920"/>
                    </a:lnTo>
                    <a:lnTo>
                      <a:pt x="474535" y="553150"/>
                    </a:lnTo>
                    <a:lnTo>
                      <a:pt x="504134" y="501920"/>
                    </a:lnTo>
                    <a:lnTo>
                      <a:pt x="482441" y="50192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0" name="Google Shape;5720;p22"/>
              <p:cNvSpPr/>
              <p:nvPr/>
            </p:nvSpPr>
            <p:spPr>
              <a:xfrm>
                <a:off x="1847259" y="4489179"/>
                <a:ext cx="522285" cy="586163"/>
              </a:xfrm>
              <a:custGeom>
                <a:avLst/>
                <a:gdLst/>
                <a:ahLst/>
                <a:cxnLst/>
                <a:rect l="l" t="t" r="r" b="b"/>
                <a:pathLst>
                  <a:path w="522285" h="586163" extrusionOk="0">
                    <a:moveTo>
                      <a:pt x="37442" y="570352"/>
                    </a:moveTo>
                    <a:lnTo>
                      <a:pt x="37442" y="51166"/>
                    </a:lnTo>
                    <a:lnTo>
                      <a:pt x="59135" y="51166"/>
                    </a:lnTo>
                    <a:lnTo>
                      <a:pt x="29536" y="0"/>
                    </a:lnTo>
                    <a:lnTo>
                      <a:pt x="0" y="51166"/>
                    </a:lnTo>
                    <a:lnTo>
                      <a:pt x="21630" y="51166"/>
                    </a:lnTo>
                    <a:lnTo>
                      <a:pt x="21630" y="586164"/>
                    </a:lnTo>
                    <a:lnTo>
                      <a:pt x="522285" y="586164"/>
                    </a:lnTo>
                    <a:lnTo>
                      <a:pt x="522285" y="570352"/>
                    </a:lnTo>
                    <a:lnTo>
                      <a:pt x="37442" y="57035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1" name="Google Shape;5721;p22"/>
              <p:cNvSpPr/>
              <p:nvPr/>
            </p:nvSpPr>
            <p:spPr>
              <a:xfrm>
                <a:off x="2063877" y="4601125"/>
                <a:ext cx="182022" cy="357719"/>
              </a:xfrm>
              <a:custGeom>
                <a:avLst/>
                <a:gdLst/>
                <a:ahLst/>
                <a:cxnLst/>
                <a:rect l="l" t="t" r="r" b="b"/>
                <a:pathLst>
                  <a:path w="182022" h="357719" extrusionOk="0">
                    <a:moveTo>
                      <a:pt x="164819" y="0"/>
                    </a:moveTo>
                    <a:lnTo>
                      <a:pt x="2720" y="150336"/>
                    </a:lnTo>
                    <a:lnTo>
                      <a:pt x="101510" y="187714"/>
                    </a:lnTo>
                    <a:lnTo>
                      <a:pt x="0" y="357719"/>
                    </a:lnTo>
                    <a:lnTo>
                      <a:pt x="182022" y="166843"/>
                    </a:lnTo>
                    <a:lnTo>
                      <a:pt x="86900" y="132564"/>
                    </a:lnTo>
                    <a:lnTo>
                      <a:pt x="164819"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5722" name="Google Shape;5722;p22"/>
          <p:cNvGrpSpPr/>
          <p:nvPr/>
        </p:nvGrpSpPr>
        <p:grpSpPr>
          <a:xfrm>
            <a:off x="10628594" y="2312549"/>
            <a:ext cx="613485" cy="416791"/>
            <a:chOff x="533691" y="5814442"/>
            <a:chExt cx="613485" cy="416791"/>
          </a:xfrm>
        </p:grpSpPr>
        <p:sp>
          <p:nvSpPr>
            <p:cNvPr id="5723" name="Google Shape;5723;p22"/>
            <p:cNvSpPr/>
            <p:nvPr/>
          </p:nvSpPr>
          <p:spPr>
            <a:xfrm>
              <a:off x="677259" y="5947259"/>
              <a:ext cx="241599" cy="234010"/>
            </a:xfrm>
            <a:custGeom>
              <a:avLst/>
              <a:gdLst/>
              <a:ahLst/>
              <a:cxnLst/>
              <a:rect l="l" t="t" r="r" b="b"/>
              <a:pathLst>
                <a:path w="241599" h="234010" extrusionOk="0">
                  <a:moveTo>
                    <a:pt x="0" y="117005"/>
                  </a:moveTo>
                  <a:cubicBezTo>
                    <a:pt x="0" y="181516"/>
                    <a:pt x="54392" y="234010"/>
                    <a:pt x="120800" y="234010"/>
                  </a:cubicBezTo>
                  <a:cubicBezTo>
                    <a:pt x="187208" y="234010"/>
                    <a:pt x="241600" y="181516"/>
                    <a:pt x="241600" y="117005"/>
                  </a:cubicBezTo>
                  <a:cubicBezTo>
                    <a:pt x="241600" y="52494"/>
                    <a:pt x="187208" y="0"/>
                    <a:pt x="120800" y="0"/>
                  </a:cubicBezTo>
                  <a:cubicBezTo>
                    <a:pt x="54392" y="0"/>
                    <a:pt x="0" y="52494"/>
                    <a:pt x="0" y="117005"/>
                  </a:cubicBezTo>
                  <a:close/>
                  <a:moveTo>
                    <a:pt x="226421" y="117005"/>
                  </a:moveTo>
                  <a:cubicBezTo>
                    <a:pt x="226421" y="172662"/>
                    <a:pt x="178986" y="218199"/>
                    <a:pt x="121432" y="218199"/>
                  </a:cubicBezTo>
                  <a:cubicBezTo>
                    <a:pt x="63878" y="218199"/>
                    <a:pt x="16444" y="172662"/>
                    <a:pt x="16444" y="117005"/>
                  </a:cubicBezTo>
                  <a:cubicBezTo>
                    <a:pt x="16444" y="61349"/>
                    <a:pt x="63878" y="15812"/>
                    <a:pt x="121432" y="15812"/>
                  </a:cubicBezTo>
                  <a:cubicBezTo>
                    <a:pt x="178986" y="15812"/>
                    <a:pt x="226421" y="61349"/>
                    <a:pt x="226421" y="11700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4" name="Google Shape;5724;p22"/>
            <p:cNvSpPr/>
            <p:nvPr/>
          </p:nvSpPr>
          <p:spPr>
            <a:xfrm>
              <a:off x="736711" y="6003548"/>
              <a:ext cx="122697" cy="118902"/>
            </a:xfrm>
            <a:custGeom>
              <a:avLst/>
              <a:gdLst/>
              <a:ahLst/>
              <a:cxnLst/>
              <a:rect l="l" t="t" r="r" b="b"/>
              <a:pathLst>
                <a:path w="122697" h="118902" extrusionOk="0">
                  <a:moveTo>
                    <a:pt x="0" y="60084"/>
                  </a:moveTo>
                  <a:lnTo>
                    <a:pt x="15812" y="60084"/>
                  </a:lnTo>
                  <a:cubicBezTo>
                    <a:pt x="15812" y="36050"/>
                    <a:pt x="36683" y="16444"/>
                    <a:pt x="61349" y="16444"/>
                  </a:cubicBezTo>
                  <a:cubicBezTo>
                    <a:pt x="86647" y="16444"/>
                    <a:pt x="106886" y="36050"/>
                    <a:pt x="106886" y="60084"/>
                  </a:cubicBezTo>
                  <a:cubicBezTo>
                    <a:pt x="106886" y="84117"/>
                    <a:pt x="86647" y="103723"/>
                    <a:pt x="61349" y="103723"/>
                  </a:cubicBezTo>
                  <a:cubicBezTo>
                    <a:pt x="59451" y="103723"/>
                    <a:pt x="56921" y="103723"/>
                    <a:pt x="55024" y="103091"/>
                  </a:cubicBezTo>
                  <a:lnTo>
                    <a:pt x="55024" y="118902"/>
                  </a:lnTo>
                  <a:cubicBezTo>
                    <a:pt x="56921" y="118902"/>
                    <a:pt x="59451" y="118902"/>
                    <a:pt x="61349" y="118902"/>
                  </a:cubicBezTo>
                  <a:cubicBezTo>
                    <a:pt x="95501" y="118902"/>
                    <a:pt x="122697" y="92339"/>
                    <a:pt x="122697" y="59451"/>
                  </a:cubicBezTo>
                  <a:cubicBezTo>
                    <a:pt x="122697" y="26563"/>
                    <a:pt x="94869" y="0"/>
                    <a:pt x="61349" y="0"/>
                  </a:cubicBezTo>
                  <a:cubicBezTo>
                    <a:pt x="27828" y="1265"/>
                    <a:pt x="0" y="27828"/>
                    <a:pt x="0" y="6008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5" name="Google Shape;5725;p22"/>
            <p:cNvSpPr/>
            <p:nvPr/>
          </p:nvSpPr>
          <p:spPr>
            <a:xfrm>
              <a:off x="533691" y="5897927"/>
              <a:ext cx="533163" cy="333306"/>
            </a:xfrm>
            <a:custGeom>
              <a:avLst/>
              <a:gdLst/>
              <a:ahLst/>
              <a:cxnLst/>
              <a:rect l="l" t="t" r="r" b="b"/>
              <a:pathLst>
                <a:path w="533163" h="333306" extrusionOk="0">
                  <a:moveTo>
                    <a:pt x="524309" y="126492"/>
                  </a:moveTo>
                  <a:cubicBezTo>
                    <a:pt x="521780" y="126492"/>
                    <a:pt x="519250" y="126492"/>
                    <a:pt x="516720" y="125860"/>
                  </a:cubicBezTo>
                  <a:lnTo>
                    <a:pt x="516720" y="317495"/>
                  </a:lnTo>
                  <a:lnTo>
                    <a:pt x="15812" y="317495"/>
                  </a:lnTo>
                  <a:lnTo>
                    <a:pt x="15812" y="15812"/>
                  </a:lnTo>
                  <a:lnTo>
                    <a:pt x="404774" y="15812"/>
                  </a:lnTo>
                  <a:cubicBezTo>
                    <a:pt x="404774" y="12649"/>
                    <a:pt x="404142" y="9487"/>
                    <a:pt x="404142" y="5692"/>
                  </a:cubicBezTo>
                  <a:cubicBezTo>
                    <a:pt x="404142" y="3795"/>
                    <a:pt x="404142" y="1897"/>
                    <a:pt x="404142" y="0"/>
                  </a:cubicBezTo>
                  <a:lnTo>
                    <a:pt x="10119" y="0"/>
                  </a:lnTo>
                  <a:cubicBezTo>
                    <a:pt x="4427" y="0"/>
                    <a:pt x="0" y="4427"/>
                    <a:pt x="0" y="10119"/>
                  </a:cubicBezTo>
                  <a:lnTo>
                    <a:pt x="0" y="323187"/>
                  </a:lnTo>
                  <a:cubicBezTo>
                    <a:pt x="0" y="328879"/>
                    <a:pt x="4427" y="333306"/>
                    <a:pt x="10119" y="333306"/>
                  </a:cubicBezTo>
                  <a:lnTo>
                    <a:pt x="523044" y="333306"/>
                  </a:lnTo>
                  <a:cubicBezTo>
                    <a:pt x="528737" y="333306"/>
                    <a:pt x="533164" y="328879"/>
                    <a:pt x="533164" y="323187"/>
                  </a:cubicBezTo>
                  <a:lnTo>
                    <a:pt x="533164" y="125860"/>
                  </a:lnTo>
                  <a:cubicBezTo>
                    <a:pt x="530002" y="126492"/>
                    <a:pt x="527472" y="126492"/>
                    <a:pt x="524309" y="12649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6" name="Google Shape;5726;p22"/>
            <p:cNvSpPr/>
            <p:nvPr/>
          </p:nvSpPr>
          <p:spPr>
            <a:xfrm>
              <a:off x="968823" y="5814442"/>
              <a:ext cx="178353" cy="178353"/>
            </a:xfrm>
            <a:custGeom>
              <a:avLst/>
              <a:gdLst/>
              <a:ahLst/>
              <a:cxnLst/>
              <a:rect l="l" t="t" r="r" b="b"/>
              <a:pathLst>
                <a:path w="178353" h="178353" extrusionOk="0">
                  <a:moveTo>
                    <a:pt x="89177" y="15812"/>
                  </a:moveTo>
                  <a:cubicBezTo>
                    <a:pt x="129654" y="15812"/>
                    <a:pt x="162542" y="48699"/>
                    <a:pt x="162542" y="89177"/>
                  </a:cubicBezTo>
                  <a:cubicBezTo>
                    <a:pt x="162542" y="129654"/>
                    <a:pt x="129654" y="162542"/>
                    <a:pt x="89177" y="162542"/>
                  </a:cubicBezTo>
                  <a:cubicBezTo>
                    <a:pt x="48699" y="162542"/>
                    <a:pt x="15812" y="129654"/>
                    <a:pt x="15812" y="89177"/>
                  </a:cubicBezTo>
                  <a:cubicBezTo>
                    <a:pt x="15812" y="48699"/>
                    <a:pt x="48699" y="15812"/>
                    <a:pt x="89177" y="15812"/>
                  </a:cubicBezTo>
                  <a:moveTo>
                    <a:pt x="89177" y="0"/>
                  </a:moveTo>
                  <a:cubicBezTo>
                    <a:pt x="39845" y="0"/>
                    <a:pt x="0" y="39845"/>
                    <a:pt x="0" y="89177"/>
                  </a:cubicBezTo>
                  <a:cubicBezTo>
                    <a:pt x="0" y="138509"/>
                    <a:pt x="40477" y="178354"/>
                    <a:pt x="89177" y="178354"/>
                  </a:cubicBezTo>
                  <a:cubicBezTo>
                    <a:pt x="138509" y="178354"/>
                    <a:pt x="178354" y="138509"/>
                    <a:pt x="178354" y="89177"/>
                  </a:cubicBezTo>
                  <a:cubicBezTo>
                    <a:pt x="178354" y="39845"/>
                    <a:pt x="138509" y="0"/>
                    <a:pt x="89177" y="0"/>
                  </a:cubicBezTo>
                  <a:lnTo>
                    <a:pt x="89177"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7" name="Google Shape;5727;p22"/>
            <p:cNvSpPr/>
            <p:nvPr/>
          </p:nvSpPr>
          <p:spPr>
            <a:xfrm>
              <a:off x="1050411" y="5854287"/>
              <a:ext cx="39844" cy="59451"/>
            </a:xfrm>
            <a:custGeom>
              <a:avLst/>
              <a:gdLst/>
              <a:ahLst/>
              <a:cxnLst/>
              <a:rect l="l" t="t" r="r" b="b"/>
              <a:pathLst>
                <a:path w="39844" h="59451" extrusionOk="0">
                  <a:moveTo>
                    <a:pt x="32888" y="59451"/>
                  </a:moveTo>
                  <a:lnTo>
                    <a:pt x="0" y="59451"/>
                  </a:lnTo>
                  <a:lnTo>
                    <a:pt x="0" y="7590"/>
                  </a:lnTo>
                  <a:cubicBezTo>
                    <a:pt x="0" y="3162"/>
                    <a:pt x="3795" y="0"/>
                    <a:pt x="7590" y="0"/>
                  </a:cubicBezTo>
                  <a:cubicBezTo>
                    <a:pt x="11384" y="0"/>
                    <a:pt x="15179" y="3795"/>
                    <a:pt x="15179" y="7590"/>
                  </a:cubicBezTo>
                  <a:lnTo>
                    <a:pt x="15179" y="43640"/>
                  </a:lnTo>
                  <a:lnTo>
                    <a:pt x="32255" y="43640"/>
                  </a:lnTo>
                  <a:cubicBezTo>
                    <a:pt x="36683" y="43640"/>
                    <a:pt x="39845" y="47435"/>
                    <a:pt x="39845" y="51229"/>
                  </a:cubicBezTo>
                  <a:cubicBezTo>
                    <a:pt x="39845" y="55024"/>
                    <a:pt x="37315" y="59451"/>
                    <a:pt x="32888" y="5945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728" name="Google Shape;5728;p22"/>
          <p:cNvGrpSpPr/>
          <p:nvPr/>
        </p:nvGrpSpPr>
        <p:grpSpPr>
          <a:xfrm>
            <a:off x="579815" y="4022405"/>
            <a:ext cx="912101" cy="912097"/>
            <a:chOff x="579815" y="4022405"/>
            <a:chExt cx="912101" cy="912097"/>
          </a:xfrm>
        </p:grpSpPr>
        <p:sp>
          <p:nvSpPr>
            <p:cNvPr id="5729" name="Google Shape;5729;p22"/>
            <p:cNvSpPr/>
            <p:nvPr/>
          </p:nvSpPr>
          <p:spPr>
            <a:xfrm>
              <a:off x="579815" y="4022405"/>
              <a:ext cx="912101" cy="912097"/>
            </a:xfrm>
            <a:prstGeom prst="ellipse">
              <a:avLst/>
            </a:prstGeom>
            <a:gradFill>
              <a:gsLst>
                <a:gs pos="0">
                  <a:schemeClr val="accent1"/>
                </a:gs>
                <a:gs pos="30000">
                  <a:schemeClr val="accent1"/>
                </a:gs>
                <a:gs pos="100000">
                  <a:schemeClr val="accent4"/>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730" name="Google Shape;5730;p22"/>
            <p:cNvGrpSpPr/>
            <p:nvPr/>
          </p:nvGrpSpPr>
          <p:grpSpPr>
            <a:xfrm>
              <a:off x="831990" y="4181422"/>
              <a:ext cx="407752" cy="594064"/>
              <a:chOff x="5912431" y="1949843"/>
              <a:chExt cx="411098" cy="598939"/>
            </a:xfrm>
          </p:grpSpPr>
          <p:sp>
            <p:nvSpPr>
              <p:cNvPr id="5731" name="Google Shape;5731;p22"/>
              <p:cNvSpPr/>
              <p:nvPr/>
            </p:nvSpPr>
            <p:spPr>
              <a:xfrm>
                <a:off x="5958601" y="2179426"/>
                <a:ext cx="166336" cy="166336"/>
              </a:xfrm>
              <a:custGeom>
                <a:avLst/>
                <a:gdLst/>
                <a:ahLst/>
                <a:cxnLst/>
                <a:rect l="l" t="t" r="r" b="b"/>
                <a:pathLst>
                  <a:path w="166336" h="166336" extrusionOk="0">
                    <a:moveTo>
                      <a:pt x="7590" y="166337"/>
                    </a:moveTo>
                    <a:cubicBezTo>
                      <a:pt x="3162" y="166337"/>
                      <a:pt x="0" y="162542"/>
                      <a:pt x="0" y="158747"/>
                    </a:cubicBezTo>
                    <a:cubicBezTo>
                      <a:pt x="0" y="71468"/>
                      <a:pt x="71468" y="0"/>
                      <a:pt x="158747" y="0"/>
                    </a:cubicBezTo>
                    <a:cubicBezTo>
                      <a:pt x="163175" y="0"/>
                      <a:pt x="166337" y="3795"/>
                      <a:pt x="166337" y="7590"/>
                    </a:cubicBezTo>
                    <a:cubicBezTo>
                      <a:pt x="166337" y="11384"/>
                      <a:pt x="162542" y="15179"/>
                      <a:pt x="158747" y="15179"/>
                    </a:cubicBezTo>
                    <a:cubicBezTo>
                      <a:pt x="79690" y="15179"/>
                      <a:pt x="15812" y="79058"/>
                      <a:pt x="15812" y="158115"/>
                    </a:cubicBezTo>
                    <a:cubicBezTo>
                      <a:pt x="15179" y="162542"/>
                      <a:pt x="12017" y="166337"/>
                      <a:pt x="7590" y="166337"/>
                    </a:cubicBezTo>
                    <a:close/>
                  </a:path>
                </a:pathLst>
              </a:custGeom>
              <a:solidFill>
                <a:schemeClr val="lt1"/>
              </a:solidFill>
              <a:ln>
                <a:noFill/>
              </a:ln>
            </p:spPr>
            <p:txBody>
              <a:bodyPr spcFirstLastPara="1" wrap="square" lIns="86850" tIns="43425" rIns="86850" bIns="43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732" name="Google Shape;5732;p22"/>
              <p:cNvGrpSpPr/>
              <p:nvPr/>
            </p:nvGrpSpPr>
            <p:grpSpPr>
              <a:xfrm>
                <a:off x="5912431" y="1949843"/>
                <a:ext cx="411098" cy="598939"/>
                <a:chOff x="5912431" y="1949843"/>
                <a:chExt cx="411098" cy="598939"/>
              </a:xfrm>
            </p:grpSpPr>
            <p:sp>
              <p:nvSpPr>
                <p:cNvPr id="5733" name="Google Shape;5733;p22"/>
                <p:cNvSpPr/>
                <p:nvPr/>
              </p:nvSpPr>
              <p:spPr>
                <a:xfrm>
                  <a:off x="5912431" y="1949843"/>
                  <a:ext cx="411098" cy="598939"/>
                </a:xfrm>
                <a:custGeom>
                  <a:avLst/>
                  <a:gdLst/>
                  <a:ahLst/>
                  <a:cxnLst/>
                  <a:rect l="l" t="t" r="r" b="b"/>
                  <a:pathLst>
                    <a:path w="411098" h="598939" extrusionOk="0">
                      <a:moveTo>
                        <a:pt x="316230" y="220096"/>
                      </a:moveTo>
                      <a:lnTo>
                        <a:pt x="316230" y="104988"/>
                      </a:lnTo>
                      <a:cubicBezTo>
                        <a:pt x="316230" y="47435"/>
                        <a:pt x="270693" y="0"/>
                        <a:pt x="215036" y="0"/>
                      </a:cubicBezTo>
                      <a:lnTo>
                        <a:pt x="196063" y="0"/>
                      </a:lnTo>
                      <a:cubicBezTo>
                        <a:pt x="140406" y="0"/>
                        <a:pt x="94869" y="46802"/>
                        <a:pt x="94869" y="104988"/>
                      </a:cubicBezTo>
                      <a:lnTo>
                        <a:pt x="94869" y="220096"/>
                      </a:lnTo>
                      <a:cubicBezTo>
                        <a:pt x="37948" y="256779"/>
                        <a:pt x="0" y="320657"/>
                        <a:pt x="0" y="393390"/>
                      </a:cubicBezTo>
                      <a:cubicBezTo>
                        <a:pt x="0" y="506600"/>
                        <a:pt x="92339" y="598940"/>
                        <a:pt x="205549" y="598940"/>
                      </a:cubicBezTo>
                      <a:cubicBezTo>
                        <a:pt x="318760" y="598940"/>
                        <a:pt x="411099" y="506600"/>
                        <a:pt x="411099" y="393390"/>
                      </a:cubicBezTo>
                      <a:cubicBezTo>
                        <a:pt x="411099" y="320025"/>
                        <a:pt x="373151" y="256146"/>
                        <a:pt x="316230" y="220096"/>
                      </a:cubicBezTo>
                      <a:close/>
                      <a:moveTo>
                        <a:pt x="110680" y="104988"/>
                      </a:moveTo>
                      <a:cubicBezTo>
                        <a:pt x="110680" y="55656"/>
                        <a:pt x="149261" y="15812"/>
                        <a:pt x="196063" y="15812"/>
                      </a:cubicBezTo>
                      <a:lnTo>
                        <a:pt x="215036" y="15812"/>
                      </a:lnTo>
                      <a:cubicBezTo>
                        <a:pt x="262471" y="15812"/>
                        <a:pt x="300419" y="55656"/>
                        <a:pt x="300419" y="104988"/>
                      </a:cubicBezTo>
                      <a:lnTo>
                        <a:pt x="300419" y="211242"/>
                      </a:lnTo>
                      <a:cubicBezTo>
                        <a:pt x="271958" y="196695"/>
                        <a:pt x="239702" y="187841"/>
                        <a:pt x="205549" y="187841"/>
                      </a:cubicBezTo>
                      <a:cubicBezTo>
                        <a:pt x="171397" y="187841"/>
                        <a:pt x="139141" y="196063"/>
                        <a:pt x="110680" y="211242"/>
                      </a:cubicBezTo>
                      <a:lnTo>
                        <a:pt x="110680" y="104988"/>
                      </a:lnTo>
                      <a:close/>
                      <a:moveTo>
                        <a:pt x="205549" y="583128"/>
                      </a:moveTo>
                      <a:cubicBezTo>
                        <a:pt x="101194" y="583128"/>
                        <a:pt x="15812" y="497746"/>
                        <a:pt x="15812" y="393390"/>
                      </a:cubicBezTo>
                      <a:cubicBezTo>
                        <a:pt x="15812" y="289034"/>
                        <a:pt x="101194" y="203652"/>
                        <a:pt x="205549" y="203652"/>
                      </a:cubicBezTo>
                      <a:cubicBezTo>
                        <a:pt x="309905" y="203652"/>
                        <a:pt x="395288" y="289034"/>
                        <a:pt x="395288" y="393390"/>
                      </a:cubicBezTo>
                      <a:cubicBezTo>
                        <a:pt x="395288" y="497746"/>
                        <a:pt x="309905" y="583128"/>
                        <a:pt x="205549" y="583128"/>
                      </a:cubicBezTo>
                      <a:close/>
                    </a:path>
                  </a:pathLst>
                </a:custGeom>
                <a:solidFill>
                  <a:schemeClr val="lt1"/>
                </a:solidFill>
                <a:ln>
                  <a:noFill/>
                </a:ln>
              </p:spPr>
              <p:txBody>
                <a:bodyPr spcFirstLastPara="1" wrap="square" lIns="86850" tIns="43425" rIns="86850" bIns="43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34" name="Google Shape;5734;p22"/>
                <p:cNvSpPr/>
                <p:nvPr/>
              </p:nvSpPr>
              <p:spPr>
                <a:xfrm>
                  <a:off x="6084460" y="2289474"/>
                  <a:ext cx="67673" cy="106253"/>
                </a:xfrm>
                <a:custGeom>
                  <a:avLst/>
                  <a:gdLst/>
                  <a:ahLst/>
                  <a:cxnLst/>
                  <a:rect l="l" t="t" r="r" b="b"/>
                  <a:pathLst>
                    <a:path w="67673" h="106253" extrusionOk="0">
                      <a:moveTo>
                        <a:pt x="33520" y="0"/>
                      </a:moveTo>
                      <a:cubicBezTo>
                        <a:pt x="15179" y="0"/>
                        <a:pt x="0" y="15179"/>
                        <a:pt x="0" y="33520"/>
                      </a:cubicBezTo>
                      <a:cubicBezTo>
                        <a:pt x="0" y="46170"/>
                        <a:pt x="6957" y="56921"/>
                        <a:pt x="17076" y="62614"/>
                      </a:cubicBezTo>
                      <a:lnTo>
                        <a:pt x="17076" y="97399"/>
                      </a:lnTo>
                      <a:cubicBezTo>
                        <a:pt x="17076" y="102459"/>
                        <a:pt x="20871" y="106253"/>
                        <a:pt x="25931" y="106253"/>
                      </a:cubicBezTo>
                      <a:lnTo>
                        <a:pt x="41742" y="106253"/>
                      </a:lnTo>
                      <a:cubicBezTo>
                        <a:pt x="46802" y="106253"/>
                        <a:pt x="50597" y="102459"/>
                        <a:pt x="50597" y="97399"/>
                      </a:cubicBezTo>
                      <a:lnTo>
                        <a:pt x="50597" y="62614"/>
                      </a:lnTo>
                      <a:cubicBezTo>
                        <a:pt x="60716" y="56921"/>
                        <a:pt x="67673" y="46170"/>
                        <a:pt x="67673" y="33520"/>
                      </a:cubicBezTo>
                      <a:cubicBezTo>
                        <a:pt x="67041" y="15179"/>
                        <a:pt x="51862" y="0"/>
                        <a:pt x="33520" y="0"/>
                      </a:cubicBezTo>
                      <a:close/>
                    </a:path>
                  </a:pathLst>
                </a:custGeom>
                <a:solidFill>
                  <a:schemeClr val="lt1"/>
                </a:solidFill>
                <a:ln>
                  <a:noFill/>
                </a:ln>
              </p:spPr>
              <p:txBody>
                <a:bodyPr spcFirstLastPara="1" wrap="square" lIns="86850" tIns="43425" rIns="86850" bIns="43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sp>
        <p:nvSpPr>
          <p:cNvPr id="5735" name="Google Shape;5735;p2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7</a:t>
            </a:fld>
            <a:endParaRPr sz="800">
              <a:solidFill>
                <a:schemeClr val="dk2"/>
              </a:solidFill>
              <a:latin typeface="Arial"/>
              <a:ea typeface="Arial"/>
              <a:cs typeface="Arial"/>
              <a:sym typeface="Arial"/>
            </a:endParaRPr>
          </a:p>
        </p:txBody>
      </p:sp>
      <p:sp>
        <p:nvSpPr>
          <p:cNvPr id="5736" name="Google Shape;5736;p22"/>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2024 Broadcom.  </a:t>
            </a:r>
            <a:endParaRPr/>
          </a:p>
        </p:txBody>
      </p:sp>
      <p:sp>
        <p:nvSpPr>
          <p:cNvPr id="5737" name="Google Shape;5737;p22"/>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All Rights Reserved. The term “Broadcom” refers to Broadcom Inc. and/or its subsidiaries.</a:t>
            </a:r>
            <a:endParaRPr/>
          </a:p>
        </p:txBody>
      </p:sp>
      <p:grpSp>
        <p:nvGrpSpPr>
          <p:cNvPr id="5738" name="Google Shape;5738;p22"/>
          <p:cNvGrpSpPr/>
          <p:nvPr/>
        </p:nvGrpSpPr>
        <p:grpSpPr>
          <a:xfrm>
            <a:off x="265625" y="6323271"/>
            <a:ext cx="1249222" cy="369649"/>
            <a:chOff x="265625" y="6323271"/>
            <a:chExt cx="1249222" cy="369649"/>
          </a:xfrm>
        </p:grpSpPr>
        <p:grpSp>
          <p:nvGrpSpPr>
            <p:cNvPr id="5739" name="Google Shape;5739;p22"/>
            <p:cNvGrpSpPr/>
            <p:nvPr/>
          </p:nvGrpSpPr>
          <p:grpSpPr>
            <a:xfrm>
              <a:off x="745455" y="6594444"/>
              <a:ext cx="722663" cy="98476"/>
              <a:chOff x="745455" y="6594444"/>
              <a:chExt cx="722663" cy="98476"/>
            </a:xfrm>
          </p:grpSpPr>
          <p:sp>
            <p:nvSpPr>
              <p:cNvPr id="5740" name="Google Shape;5740;p22"/>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1" name="Google Shape;5741;p22"/>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2" name="Google Shape;5742;p22"/>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3" name="Google Shape;5743;p22"/>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4" name="Google Shape;5744;p22"/>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5" name="Google Shape;5745;p22"/>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6" name="Google Shape;5746;p22"/>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7" name="Google Shape;5747;p22"/>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8" name="Google Shape;5748;p22"/>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9" name="Google Shape;5749;p22"/>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750" name="Google Shape;5750;p22"/>
            <p:cNvGrpSpPr/>
            <p:nvPr/>
          </p:nvGrpSpPr>
          <p:grpSpPr>
            <a:xfrm>
              <a:off x="265625" y="6323271"/>
              <a:ext cx="1249222" cy="190348"/>
              <a:chOff x="265625" y="6323271"/>
              <a:chExt cx="1249222" cy="190348"/>
            </a:xfrm>
          </p:grpSpPr>
          <p:sp>
            <p:nvSpPr>
              <p:cNvPr id="5751" name="Google Shape;5751;p22"/>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2" name="Google Shape;5752;p22"/>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3" name="Google Shape;5753;p22"/>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4" name="Google Shape;5754;p22"/>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5" name="Google Shape;5755;p22"/>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6" name="Google Shape;5756;p22"/>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7" name="Google Shape;5757;p22"/>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668"/>
                                        </p:tgtEl>
                                        <p:attrNameLst>
                                          <p:attrName>style.visibility</p:attrName>
                                        </p:attrNameLst>
                                      </p:cBhvr>
                                      <p:to>
                                        <p:strVal val="visible"/>
                                      </p:to>
                                    </p:set>
                                    <p:animEffect transition="in" filter="fade">
                                      <p:cBhvr>
                                        <p:cTn id="7" dur="250"/>
                                        <p:tgtEl>
                                          <p:spTgt spid="5668"/>
                                        </p:tgtEl>
                                      </p:cBhvr>
                                    </p:animEffect>
                                  </p:childTnLst>
                                </p:cTn>
                              </p:par>
                              <p:par>
                                <p:cTn id="8" presetID="10" presetClass="entr" presetSubtype="0" fill="hold" nodeType="withEffect">
                                  <p:stCondLst>
                                    <p:cond delay="250"/>
                                  </p:stCondLst>
                                  <p:childTnLst>
                                    <p:set>
                                      <p:cBhvr>
                                        <p:cTn id="9" dur="1" fill="hold">
                                          <p:stCondLst>
                                            <p:cond delay="0"/>
                                          </p:stCondLst>
                                        </p:cTn>
                                        <p:tgtEl>
                                          <p:spTgt spid="5670"/>
                                        </p:tgtEl>
                                        <p:attrNameLst>
                                          <p:attrName>style.visibility</p:attrName>
                                        </p:attrNameLst>
                                      </p:cBhvr>
                                      <p:to>
                                        <p:strVal val="visible"/>
                                      </p:to>
                                    </p:set>
                                    <p:animEffect transition="in" filter="fade">
                                      <p:cBhvr>
                                        <p:cTn id="10" dur="250"/>
                                        <p:tgtEl>
                                          <p:spTgt spid="5670"/>
                                        </p:tgtEl>
                                      </p:cBhvr>
                                    </p:animEffect>
                                  </p:childTnLst>
                                </p:cTn>
                              </p:par>
                            </p:childTnLst>
                          </p:cTn>
                        </p:par>
                        <p:par>
                          <p:cTn id="11" fill="hold">
                            <p:stCondLst>
                              <p:cond delay="250"/>
                            </p:stCondLst>
                            <p:childTnLst>
                              <p:par>
                                <p:cTn id="12" presetID="10" presetClass="entr" presetSubtype="0" fill="hold" nodeType="afterEffect">
                                  <p:stCondLst>
                                    <p:cond delay="500"/>
                                  </p:stCondLst>
                                  <p:childTnLst>
                                    <p:set>
                                      <p:cBhvr>
                                        <p:cTn id="13" dur="1" fill="hold">
                                          <p:stCondLst>
                                            <p:cond delay="0"/>
                                          </p:stCondLst>
                                        </p:cTn>
                                        <p:tgtEl>
                                          <p:spTgt spid="5669"/>
                                        </p:tgtEl>
                                        <p:attrNameLst>
                                          <p:attrName>style.visibility</p:attrName>
                                        </p:attrNameLst>
                                      </p:cBhvr>
                                      <p:to>
                                        <p:strVal val="visible"/>
                                      </p:to>
                                    </p:set>
                                    <p:animEffect transition="in" filter="fade">
                                      <p:cBhvr>
                                        <p:cTn id="14" dur="250"/>
                                        <p:tgtEl>
                                          <p:spTgt spid="5669"/>
                                        </p:tgtEl>
                                      </p:cBhvr>
                                    </p:animEffect>
                                  </p:childTnLst>
                                </p:cTn>
                              </p:par>
                            </p:childTnLst>
                          </p:cTn>
                        </p:par>
                        <p:par>
                          <p:cTn id="15" fill="hold">
                            <p:stCondLst>
                              <p:cond delay="500"/>
                            </p:stCondLst>
                            <p:childTnLst>
                              <p:par>
                                <p:cTn id="16" presetID="10" presetClass="entr" presetSubtype="0" fill="hold" nodeType="afterEffect">
                                  <p:stCondLst>
                                    <p:cond delay="500"/>
                                  </p:stCondLst>
                                  <p:childTnLst>
                                    <p:set>
                                      <p:cBhvr>
                                        <p:cTn id="17" dur="1" fill="hold">
                                          <p:stCondLst>
                                            <p:cond delay="0"/>
                                          </p:stCondLst>
                                        </p:cTn>
                                        <p:tgtEl>
                                          <p:spTgt spid="5704"/>
                                        </p:tgtEl>
                                        <p:attrNameLst>
                                          <p:attrName>style.visibility</p:attrName>
                                        </p:attrNameLst>
                                      </p:cBhvr>
                                      <p:to>
                                        <p:strVal val="visible"/>
                                      </p:to>
                                    </p:set>
                                    <p:animEffect transition="in" filter="fade">
                                      <p:cBhvr>
                                        <p:cTn id="18" dur="250"/>
                                        <p:tgtEl>
                                          <p:spTgt spid="5704"/>
                                        </p:tgtEl>
                                      </p:cBhvr>
                                    </p:animEffect>
                                  </p:childTnLst>
                                </p:cTn>
                              </p:par>
                            </p:childTnLst>
                          </p:cTn>
                        </p:par>
                        <p:par>
                          <p:cTn id="19" fill="hold">
                            <p:stCondLst>
                              <p:cond delay="750"/>
                            </p:stCondLst>
                            <p:childTnLst>
                              <p:par>
                                <p:cTn id="20" presetID="10" presetClass="entr" presetSubtype="0" fill="hold" nodeType="afterEffect">
                                  <p:stCondLst>
                                    <p:cond delay="250"/>
                                  </p:stCondLst>
                                  <p:childTnLst>
                                    <p:set>
                                      <p:cBhvr>
                                        <p:cTn id="21" dur="1" fill="hold">
                                          <p:stCondLst>
                                            <p:cond delay="0"/>
                                          </p:stCondLst>
                                        </p:cTn>
                                        <p:tgtEl>
                                          <p:spTgt spid="5707"/>
                                        </p:tgtEl>
                                        <p:attrNameLst>
                                          <p:attrName>style.visibility</p:attrName>
                                        </p:attrNameLst>
                                      </p:cBhvr>
                                      <p:to>
                                        <p:strVal val="visible"/>
                                      </p:to>
                                    </p:set>
                                    <p:animEffect transition="in" filter="fade">
                                      <p:cBhvr>
                                        <p:cTn id="22" dur="250"/>
                                        <p:tgtEl>
                                          <p:spTgt spid="5707"/>
                                        </p:tgtEl>
                                      </p:cBhvr>
                                    </p:animEffect>
                                  </p:childTnLst>
                                </p:cTn>
                              </p:par>
                            </p:childTnLst>
                          </p:cTn>
                        </p:par>
                        <p:par>
                          <p:cTn id="23" fill="hold">
                            <p:stCondLst>
                              <p:cond delay="1000"/>
                            </p:stCondLst>
                            <p:childTnLst>
                              <p:par>
                                <p:cTn id="24" presetID="10" presetClass="entr" presetSubtype="0" fill="hold" nodeType="afterEffect">
                                  <p:stCondLst>
                                    <p:cond delay="250"/>
                                  </p:stCondLst>
                                  <p:childTnLst>
                                    <p:set>
                                      <p:cBhvr>
                                        <p:cTn id="25" dur="1" fill="hold">
                                          <p:stCondLst>
                                            <p:cond delay="0"/>
                                          </p:stCondLst>
                                        </p:cTn>
                                        <p:tgtEl>
                                          <p:spTgt spid="5678"/>
                                        </p:tgtEl>
                                        <p:attrNameLst>
                                          <p:attrName>style.visibility</p:attrName>
                                        </p:attrNameLst>
                                      </p:cBhvr>
                                      <p:to>
                                        <p:strVal val="visible"/>
                                      </p:to>
                                    </p:set>
                                    <p:animEffect transition="in" filter="fade">
                                      <p:cBhvr>
                                        <p:cTn id="26" dur="500"/>
                                        <p:tgtEl>
                                          <p:spTgt spid="5678"/>
                                        </p:tgtEl>
                                      </p:cBhvr>
                                    </p:animEffect>
                                  </p:childTnLst>
                                </p:cTn>
                              </p:par>
                              <p:par>
                                <p:cTn id="27" presetID="10" presetClass="entr" presetSubtype="0" fill="hold" nodeType="withEffect">
                                  <p:stCondLst>
                                    <p:cond delay="250"/>
                                  </p:stCondLst>
                                  <p:childTnLst>
                                    <p:set>
                                      <p:cBhvr>
                                        <p:cTn id="28" dur="1" fill="hold">
                                          <p:stCondLst>
                                            <p:cond delay="0"/>
                                          </p:stCondLst>
                                        </p:cTn>
                                        <p:tgtEl>
                                          <p:spTgt spid="5722"/>
                                        </p:tgtEl>
                                        <p:attrNameLst>
                                          <p:attrName>style.visibility</p:attrName>
                                        </p:attrNameLst>
                                      </p:cBhvr>
                                      <p:to>
                                        <p:strVal val="visible"/>
                                      </p:to>
                                    </p:set>
                                    <p:animEffect transition="in" filter="fade">
                                      <p:cBhvr>
                                        <p:cTn id="29" dur="500"/>
                                        <p:tgtEl>
                                          <p:spTgt spid="5722"/>
                                        </p:tgtEl>
                                      </p:cBhvr>
                                    </p:animEffect>
                                  </p:childTnLst>
                                </p:cTn>
                              </p:par>
                              <p:par>
                                <p:cTn id="30" presetID="10" presetClass="entr" presetSubtype="0" fill="hold" nodeType="withEffect">
                                  <p:stCondLst>
                                    <p:cond delay="500"/>
                                  </p:stCondLst>
                                  <p:childTnLst>
                                    <p:set>
                                      <p:cBhvr>
                                        <p:cTn id="31" dur="1" fill="hold">
                                          <p:stCondLst>
                                            <p:cond delay="0"/>
                                          </p:stCondLst>
                                        </p:cTn>
                                        <p:tgtEl>
                                          <p:spTgt spid="5692"/>
                                        </p:tgtEl>
                                        <p:attrNameLst>
                                          <p:attrName>style.visibility</p:attrName>
                                        </p:attrNameLst>
                                      </p:cBhvr>
                                      <p:to>
                                        <p:strVal val="visible"/>
                                      </p:to>
                                    </p:set>
                                    <p:animEffect transition="in" filter="fade">
                                      <p:cBhvr>
                                        <p:cTn id="32" dur="500"/>
                                        <p:tgtEl>
                                          <p:spTgt spid="5692"/>
                                        </p:tgtEl>
                                      </p:cBhvr>
                                    </p:animEffect>
                                  </p:childTnLst>
                                </p:cTn>
                              </p:par>
                              <p:par>
                                <p:cTn id="33" presetID="10" presetClass="entr" presetSubtype="0" fill="hold" nodeType="withEffect">
                                  <p:stCondLst>
                                    <p:cond delay="500"/>
                                  </p:stCondLst>
                                  <p:childTnLst>
                                    <p:set>
                                      <p:cBhvr>
                                        <p:cTn id="34" dur="1" fill="hold">
                                          <p:stCondLst>
                                            <p:cond delay="0"/>
                                          </p:stCondLst>
                                        </p:cTn>
                                        <p:tgtEl>
                                          <p:spTgt spid="5696"/>
                                        </p:tgtEl>
                                        <p:attrNameLst>
                                          <p:attrName>style.visibility</p:attrName>
                                        </p:attrNameLst>
                                      </p:cBhvr>
                                      <p:to>
                                        <p:strVal val="visible"/>
                                      </p:to>
                                    </p:set>
                                    <p:animEffect transition="in" filter="fade">
                                      <p:cBhvr>
                                        <p:cTn id="35" dur="500"/>
                                        <p:tgtEl>
                                          <p:spTgt spid="5696"/>
                                        </p:tgtEl>
                                      </p:cBhvr>
                                    </p:animEffect>
                                  </p:childTnLst>
                                </p:cTn>
                              </p:par>
                              <p:par>
                                <p:cTn id="36" presetID="10" presetClass="entr" presetSubtype="0" fill="hold" nodeType="withEffect">
                                  <p:stCondLst>
                                    <p:cond delay="750"/>
                                  </p:stCondLst>
                                  <p:childTnLst>
                                    <p:set>
                                      <p:cBhvr>
                                        <p:cTn id="37" dur="1" fill="hold">
                                          <p:stCondLst>
                                            <p:cond delay="0"/>
                                          </p:stCondLst>
                                        </p:cTn>
                                        <p:tgtEl>
                                          <p:spTgt spid="5701"/>
                                        </p:tgtEl>
                                        <p:attrNameLst>
                                          <p:attrName>style.visibility</p:attrName>
                                        </p:attrNameLst>
                                      </p:cBhvr>
                                      <p:to>
                                        <p:strVal val="visible"/>
                                      </p:to>
                                    </p:set>
                                    <p:animEffect transition="in" filter="fade">
                                      <p:cBhvr>
                                        <p:cTn id="38" dur="500"/>
                                        <p:tgtEl>
                                          <p:spTgt spid="5701"/>
                                        </p:tgtEl>
                                      </p:cBhvr>
                                    </p:animEffect>
                                  </p:childTnLst>
                                </p:cTn>
                              </p:par>
                              <p:par>
                                <p:cTn id="39" presetID="10" presetClass="entr" presetSubtype="0" fill="hold" nodeType="withEffect">
                                  <p:stCondLst>
                                    <p:cond delay="1000"/>
                                  </p:stCondLst>
                                  <p:childTnLst>
                                    <p:set>
                                      <p:cBhvr>
                                        <p:cTn id="40" dur="1" fill="hold">
                                          <p:stCondLst>
                                            <p:cond delay="0"/>
                                          </p:stCondLst>
                                        </p:cTn>
                                        <p:tgtEl>
                                          <p:spTgt spid="5702"/>
                                        </p:tgtEl>
                                        <p:attrNameLst>
                                          <p:attrName>style.visibility</p:attrName>
                                        </p:attrNameLst>
                                      </p:cBhvr>
                                      <p:to>
                                        <p:strVal val="visible"/>
                                      </p:to>
                                    </p:set>
                                    <p:animEffect transition="in" filter="fade">
                                      <p:cBhvr>
                                        <p:cTn id="41" dur="500"/>
                                        <p:tgtEl>
                                          <p:spTgt spid="5702"/>
                                        </p:tgtEl>
                                      </p:cBhvr>
                                    </p:animEffect>
                                  </p:childTnLst>
                                </p:cTn>
                              </p:par>
                              <p:par>
                                <p:cTn id="42" presetID="10" presetClass="entr" presetSubtype="0" fill="hold" nodeType="withEffect">
                                  <p:stCondLst>
                                    <p:cond delay="1250"/>
                                  </p:stCondLst>
                                  <p:childTnLst>
                                    <p:set>
                                      <p:cBhvr>
                                        <p:cTn id="43" dur="1" fill="hold">
                                          <p:stCondLst>
                                            <p:cond delay="0"/>
                                          </p:stCondLst>
                                        </p:cTn>
                                        <p:tgtEl>
                                          <p:spTgt spid="5697"/>
                                        </p:tgtEl>
                                        <p:attrNameLst>
                                          <p:attrName>style.visibility</p:attrName>
                                        </p:attrNameLst>
                                      </p:cBhvr>
                                      <p:to>
                                        <p:strVal val="visible"/>
                                      </p:to>
                                    </p:set>
                                    <p:animEffect transition="in" filter="fade">
                                      <p:cBhvr>
                                        <p:cTn id="44" dur="500"/>
                                        <p:tgtEl>
                                          <p:spTgt spid="5697"/>
                                        </p:tgtEl>
                                      </p:cBhvr>
                                    </p:animEffect>
                                  </p:childTnLst>
                                </p:cTn>
                              </p:par>
                              <p:par>
                                <p:cTn id="45" presetID="10" presetClass="entr" presetSubtype="0" fill="hold" nodeType="withEffect">
                                  <p:stCondLst>
                                    <p:cond delay="1500"/>
                                  </p:stCondLst>
                                  <p:childTnLst>
                                    <p:set>
                                      <p:cBhvr>
                                        <p:cTn id="46" dur="1" fill="hold">
                                          <p:stCondLst>
                                            <p:cond delay="0"/>
                                          </p:stCondLst>
                                        </p:cTn>
                                        <p:tgtEl>
                                          <p:spTgt spid="5698"/>
                                        </p:tgtEl>
                                        <p:attrNameLst>
                                          <p:attrName>style.visibility</p:attrName>
                                        </p:attrNameLst>
                                      </p:cBhvr>
                                      <p:to>
                                        <p:strVal val="visible"/>
                                      </p:to>
                                    </p:set>
                                    <p:animEffect transition="in" filter="fade">
                                      <p:cBhvr>
                                        <p:cTn id="47" dur="500"/>
                                        <p:tgtEl>
                                          <p:spTgt spid="5698"/>
                                        </p:tgtEl>
                                      </p:cBhvr>
                                    </p:animEffect>
                                  </p:childTnLst>
                                </p:cTn>
                              </p:par>
                              <p:par>
                                <p:cTn id="48" presetID="10" presetClass="entr" presetSubtype="0" fill="hold" nodeType="withEffect">
                                  <p:stCondLst>
                                    <p:cond delay="1000"/>
                                  </p:stCondLst>
                                  <p:childTnLst>
                                    <p:set>
                                      <p:cBhvr>
                                        <p:cTn id="49" dur="1" fill="hold">
                                          <p:stCondLst>
                                            <p:cond delay="0"/>
                                          </p:stCondLst>
                                        </p:cTn>
                                        <p:tgtEl>
                                          <p:spTgt spid="5693"/>
                                        </p:tgtEl>
                                        <p:attrNameLst>
                                          <p:attrName>style.visibility</p:attrName>
                                        </p:attrNameLst>
                                      </p:cBhvr>
                                      <p:to>
                                        <p:strVal val="visible"/>
                                      </p:to>
                                    </p:set>
                                    <p:animEffect transition="in" filter="fade">
                                      <p:cBhvr>
                                        <p:cTn id="50" dur="750"/>
                                        <p:tgtEl>
                                          <p:spTgt spid="5693"/>
                                        </p:tgtEl>
                                      </p:cBhvr>
                                    </p:animEffect>
                                  </p:childTnLst>
                                </p:cTn>
                              </p:par>
                              <p:par>
                                <p:cTn id="51" presetID="10" presetClass="entr" presetSubtype="0" fill="hold" nodeType="withEffect">
                                  <p:stCondLst>
                                    <p:cond delay="750"/>
                                  </p:stCondLst>
                                  <p:childTnLst>
                                    <p:set>
                                      <p:cBhvr>
                                        <p:cTn id="52" dur="1" fill="hold">
                                          <p:stCondLst>
                                            <p:cond delay="0"/>
                                          </p:stCondLst>
                                        </p:cTn>
                                        <p:tgtEl>
                                          <p:spTgt spid="5699"/>
                                        </p:tgtEl>
                                        <p:attrNameLst>
                                          <p:attrName>style.visibility</p:attrName>
                                        </p:attrNameLst>
                                      </p:cBhvr>
                                      <p:to>
                                        <p:strVal val="visible"/>
                                      </p:to>
                                    </p:set>
                                    <p:animEffect transition="in" filter="fade">
                                      <p:cBhvr>
                                        <p:cTn id="53" dur="500"/>
                                        <p:tgtEl>
                                          <p:spTgt spid="5699"/>
                                        </p:tgtEl>
                                      </p:cBhvr>
                                    </p:animEffect>
                                  </p:childTnLst>
                                </p:cTn>
                              </p:par>
                              <p:par>
                                <p:cTn id="54" presetID="10" presetClass="entr" presetSubtype="0" fill="hold" nodeType="withEffect">
                                  <p:stCondLst>
                                    <p:cond delay="750"/>
                                  </p:stCondLst>
                                  <p:childTnLst>
                                    <p:set>
                                      <p:cBhvr>
                                        <p:cTn id="55" dur="1" fill="hold">
                                          <p:stCondLst>
                                            <p:cond delay="0"/>
                                          </p:stCondLst>
                                        </p:cTn>
                                        <p:tgtEl>
                                          <p:spTgt spid="5703"/>
                                        </p:tgtEl>
                                        <p:attrNameLst>
                                          <p:attrName>style.visibility</p:attrName>
                                        </p:attrNameLst>
                                      </p:cBhvr>
                                      <p:to>
                                        <p:strVal val="visible"/>
                                      </p:to>
                                    </p:set>
                                    <p:animEffect transition="in" filter="fade">
                                      <p:cBhvr>
                                        <p:cTn id="56" dur="500"/>
                                        <p:tgtEl>
                                          <p:spTgt spid="5703"/>
                                        </p:tgtEl>
                                      </p:cBhvr>
                                    </p:animEffect>
                                  </p:childTnLst>
                                </p:cTn>
                              </p:par>
                              <p:par>
                                <p:cTn id="57" presetID="10" presetClass="entr" presetSubtype="0" fill="hold" nodeType="withEffect">
                                  <p:stCondLst>
                                    <p:cond delay="750"/>
                                  </p:stCondLst>
                                  <p:childTnLst>
                                    <p:set>
                                      <p:cBhvr>
                                        <p:cTn id="58" dur="1" fill="hold">
                                          <p:stCondLst>
                                            <p:cond delay="0"/>
                                          </p:stCondLst>
                                        </p:cTn>
                                        <p:tgtEl>
                                          <p:spTgt spid="5700"/>
                                        </p:tgtEl>
                                        <p:attrNameLst>
                                          <p:attrName>style.visibility</p:attrName>
                                        </p:attrNameLst>
                                      </p:cBhvr>
                                      <p:to>
                                        <p:strVal val="visible"/>
                                      </p:to>
                                    </p:set>
                                    <p:animEffect transition="in" filter="fade">
                                      <p:cBhvr>
                                        <p:cTn id="59" dur="500"/>
                                        <p:tgtEl>
                                          <p:spTgt spid="5700"/>
                                        </p:tgtEl>
                                      </p:cBhvr>
                                    </p:animEffect>
                                  </p:childTnLst>
                                </p:cTn>
                              </p:par>
                              <p:par>
                                <p:cTn id="60" presetID="10" presetClass="entr" presetSubtype="0" fill="hold" nodeType="withEffect">
                                  <p:stCondLst>
                                    <p:cond delay="100"/>
                                  </p:stCondLst>
                                  <p:childTnLst>
                                    <p:set>
                                      <p:cBhvr>
                                        <p:cTn id="61" dur="1" fill="hold">
                                          <p:stCondLst>
                                            <p:cond delay="0"/>
                                          </p:stCondLst>
                                        </p:cTn>
                                        <p:tgtEl>
                                          <p:spTgt spid="5711"/>
                                        </p:tgtEl>
                                        <p:attrNameLst>
                                          <p:attrName>style.visibility</p:attrName>
                                        </p:attrNameLst>
                                      </p:cBhvr>
                                      <p:to>
                                        <p:strVal val="visible"/>
                                      </p:to>
                                    </p:set>
                                    <p:animEffect transition="in" filter="fade">
                                      <p:cBhvr>
                                        <p:cTn id="62" dur="750"/>
                                        <p:tgtEl>
                                          <p:spTgt spid="5711"/>
                                        </p:tgtEl>
                                      </p:cBhvr>
                                    </p:animEffect>
                                  </p:childTnLst>
                                </p:cTn>
                              </p:par>
                              <p:par>
                                <p:cTn id="63" presetID="10" presetClass="entr" presetSubtype="0" fill="hold" nodeType="withEffect">
                                  <p:stCondLst>
                                    <p:cond delay="200"/>
                                  </p:stCondLst>
                                  <p:childTnLst>
                                    <p:set>
                                      <p:cBhvr>
                                        <p:cTn id="64" dur="1" fill="hold">
                                          <p:stCondLst>
                                            <p:cond delay="0"/>
                                          </p:stCondLst>
                                        </p:cTn>
                                        <p:tgtEl>
                                          <p:spTgt spid="5716"/>
                                        </p:tgtEl>
                                        <p:attrNameLst>
                                          <p:attrName>style.visibility</p:attrName>
                                        </p:attrNameLst>
                                      </p:cBhvr>
                                      <p:to>
                                        <p:strVal val="visible"/>
                                      </p:to>
                                    </p:set>
                                    <p:animEffect transition="in" filter="fade">
                                      <p:cBhvr>
                                        <p:cTn id="65" dur="750"/>
                                        <p:tgtEl>
                                          <p:spTgt spid="5716"/>
                                        </p:tgtEl>
                                      </p:cBhvr>
                                    </p:animEffect>
                                  </p:childTnLst>
                                </p:cTn>
                              </p:par>
                              <p:par>
                                <p:cTn id="66" presetID="10" presetClass="entr" presetSubtype="0" fill="hold" nodeType="withEffect">
                                  <p:stCondLst>
                                    <p:cond delay="300"/>
                                  </p:stCondLst>
                                  <p:childTnLst>
                                    <p:set>
                                      <p:cBhvr>
                                        <p:cTn id="67" dur="1" fill="hold">
                                          <p:stCondLst>
                                            <p:cond delay="0"/>
                                          </p:stCondLst>
                                        </p:cTn>
                                        <p:tgtEl>
                                          <p:spTgt spid="5728"/>
                                        </p:tgtEl>
                                        <p:attrNameLst>
                                          <p:attrName>style.visibility</p:attrName>
                                        </p:attrNameLst>
                                      </p:cBhvr>
                                      <p:to>
                                        <p:strVal val="visible"/>
                                      </p:to>
                                    </p:set>
                                    <p:animEffect transition="in" filter="fade">
                                      <p:cBhvr>
                                        <p:cTn id="68" dur="750"/>
                                        <p:tgtEl>
                                          <p:spTgt spid="5728"/>
                                        </p:tgtEl>
                                      </p:cBhvr>
                                    </p:animEffect>
                                  </p:childTnLst>
                                </p:cTn>
                              </p:par>
                              <p:par>
                                <p:cTn id="69" presetID="10" presetClass="entr" presetSubtype="0" fill="hold" nodeType="withEffect">
                                  <p:stCondLst>
                                    <p:cond delay="100"/>
                                  </p:stCondLst>
                                  <p:childTnLst>
                                    <p:set>
                                      <p:cBhvr>
                                        <p:cTn id="70" dur="1" fill="hold">
                                          <p:stCondLst>
                                            <p:cond delay="0"/>
                                          </p:stCondLst>
                                        </p:cTn>
                                        <p:tgtEl>
                                          <p:spTgt spid="5675"/>
                                        </p:tgtEl>
                                        <p:attrNameLst>
                                          <p:attrName>style.visibility</p:attrName>
                                        </p:attrNameLst>
                                      </p:cBhvr>
                                      <p:to>
                                        <p:strVal val="visible"/>
                                      </p:to>
                                    </p:set>
                                    <p:animEffect transition="in" filter="fade">
                                      <p:cBhvr>
                                        <p:cTn id="71" dur="250"/>
                                        <p:tgtEl>
                                          <p:spTgt spid="5675"/>
                                        </p:tgtEl>
                                      </p:cBhvr>
                                    </p:animEffect>
                                  </p:childTnLst>
                                </p:cTn>
                              </p:par>
                            </p:childTnLst>
                          </p:cTn>
                        </p:par>
                        <p:par>
                          <p:cTn id="72" fill="hold">
                            <p:stCondLst>
                              <p:cond delay="1750"/>
                            </p:stCondLst>
                            <p:childTnLst>
                              <p:par>
                                <p:cTn id="73" presetID="10" presetClass="entr" presetSubtype="0" fill="hold" nodeType="afterEffect">
                                  <p:stCondLst>
                                    <p:cond delay="200"/>
                                  </p:stCondLst>
                                  <p:childTnLst>
                                    <p:set>
                                      <p:cBhvr>
                                        <p:cTn id="74" dur="1" fill="hold">
                                          <p:stCondLst>
                                            <p:cond delay="0"/>
                                          </p:stCondLst>
                                        </p:cTn>
                                        <p:tgtEl>
                                          <p:spTgt spid="5676"/>
                                        </p:tgtEl>
                                        <p:attrNameLst>
                                          <p:attrName>style.visibility</p:attrName>
                                        </p:attrNameLst>
                                      </p:cBhvr>
                                      <p:to>
                                        <p:strVal val="visible"/>
                                      </p:to>
                                    </p:set>
                                    <p:animEffect transition="in" filter="fade">
                                      <p:cBhvr>
                                        <p:cTn id="75" dur="250"/>
                                        <p:tgtEl>
                                          <p:spTgt spid="5676"/>
                                        </p:tgtEl>
                                      </p:cBhvr>
                                    </p:animEffect>
                                  </p:childTnLst>
                                </p:cTn>
                              </p:par>
                            </p:childTnLst>
                          </p:cTn>
                        </p:par>
                        <p:par>
                          <p:cTn id="76" fill="hold">
                            <p:stCondLst>
                              <p:cond delay="2000"/>
                            </p:stCondLst>
                            <p:childTnLst>
                              <p:par>
                                <p:cTn id="77" presetID="10" presetClass="entr" presetSubtype="0" fill="hold" nodeType="afterEffect">
                                  <p:stCondLst>
                                    <p:cond delay="300"/>
                                  </p:stCondLst>
                                  <p:childTnLst>
                                    <p:set>
                                      <p:cBhvr>
                                        <p:cTn id="78" dur="1" fill="hold">
                                          <p:stCondLst>
                                            <p:cond delay="0"/>
                                          </p:stCondLst>
                                        </p:cTn>
                                        <p:tgtEl>
                                          <p:spTgt spid="5677"/>
                                        </p:tgtEl>
                                        <p:attrNameLst>
                                          <p:attrName>style.visibility</p:attrName>
                                        </p:attrNameLst>
                                      </p:cBhvr>
                                      <p:to>
                                        <p:strVal val="visible"/>
                                      </p:to>
                                    </p:set>
                                    <p:animEffect transition="in" filter="fade">
                                      <p:cBhvr>
                                        <p:cTn id="79" dur="250"/>
                                        <p:tgtEl>
                                          <p:spTgt spid="5677"/>
                                        </p:tgtEl>
                                      </p:cBhvr>
                                    </p:animEffect>
                                  </p:childTnLst>
                                </p:cTn>
                              </p:par>
                            </p:childTnLst>
                          </p:cTn>
                        </p:par>
                        <p:par>
                          <p:cTn id="80" fill="hold">
                            <p:stCondLst>
                              <p:cond delay="2250"/>
                            </p:stCondLst>
                            <p:childTnLst>
                              <p:par>
                                <p:cTn id="81" presetID="10" presetClass="entr" presetSubtype="0" fill="hold" nodeType="afterEffect">
                                  <p:stCondLst>
                                    <p:cond delay="500"/>
                                  </p:stCondLst>
                                  <p:childTnLst>
                                    <p:set>
                                      <p:cBhvr>
                                        <p:cTn id="82" dur="1" fill="hold">
                                          <p:stCondLst>
                                            <p:cond delay="0"/>
                                          </p:stCondLst>
                                        </p:cTn>
                                        <p:tgtEl>
                                          <p:spTgt spid="5710"/>
                                        </p:tgtEl>
                                        <p:attrNameLst>
                                          <p:attrName>style.visibility</p:attrName>
                                        </p:attrNameLst>
                                      </p:cBhvr>
                                      <p:to>
                                        <p:strVal val="visible"/>
                                      </p:to>
                                    </p:set>
                                    <p:animEffect transition="in" filter="fade">
                                      <p:cBhvr>
                                        <p:cTn id="83" dur="500"/>
                                        <p:tgtEl>
                                          <p:spTgt spid="5710"/>
                                        </p:tgtEl>
                                      </p:cBhvr>
                                    </p:animEffect>
                                  </p:childTnLst>
                                </p:cTn>
                              </p:par>
                              <p:par>
                                <p:cTn id="84" presetID="10" presetClass="entr" presetSubtype="0" fill="hold" nodeType="withEffect">
                                  <p:stCondLst>
                                    <p:cond delay="300"/>
                                  </p:stCondLst>
                                  <p:childTnLst>
                                    <p:set>
                                      <p:cBhvr>
                                        <p:cTn id="85" dur="1" fill="hold">
                                          <p:stCondLst>
                                            <p:cond delay="0"/>
                                          </p:stCondLst>
                                        </p:cTn>
                                        <p:tgtEl>
                                          <p:spTgt spid="5667"/>
                                        </p:tgtEl>
                                        <p:attrNameLst>
                                          <p:attrName>style.visibility</p:attrName>
                                        </p:attrNameLst>
                                      </p:cBhvr>
                                      <p:to>
                                        <p:strVal val="visible"/>
                                      </p:to>
                                    </p:set>
                                    <p:animEffect transition="in" filter="fade">
                                      <p:cBhvr>
                                        <p:cTn id="86" dur="500"/>
                                        <p:tgtEl>
                                          <p:spTgt spid="5667"/>
                                        </p:tgtEl>
                                      </p:cBhvr>
                                    </p:animEffect>
                                  </p:childTnLst>
                                </p:cTn>
                              </p:par>
                              <p:par>
                                <p:cTn id="87" presetID="10" presetClass="entr" presetSubtype="0" fill="hold" nodeType="withEffect">
                                  <p:stCondLst>
                                    <p:cond delay="750"/>
                                  </p:stCondLst>
                                  <p:childTnLst>
                                    <p:set>
                                      <p:cBhvr>
                                        <p:cTn id="88" dur="1" fill="hold">
                                          <p:stCondLst>
                                            <p:cond delay="0"/>
                                          </p:stCondLst>
                                        </p:cTn>
                                        <p:tgtEl>
                                          <p:spTgt spid="5666"/>
                                        </p:tgtEl>
                                        <p:attrNameLst>
                                          <p:attrName>style.visibility</p:attrName>
                                        </p:attrNameLst>
                                      </p:cBhvr>
                                      <p:to>
                                        <p:strVal val="visible"/>
                                      </p:to>
                                    </p:set>
                                    <p:animEffect transition="in" filter="fade">
                                      <p:cBhvr>
                                        <p:cTn id="89" dur="600"/>
                                        <p:tgtEl>
                                          <p:spTgt spid="5666"/>
                                        </p:tgtEl>
                                      </p:cBhvr>
                                    </p:animEffect>
                                  </p:childTnLst>
                                </p:cTn>
                              </p:par>
                              <p:par>
                                <p:cTn id="90" presetID="10" presetClass="exit" presetSubtype="0" fill="hold" nodeType="withEffect">
                                  <p:stCondLst>
                                    <p:cond delay="1250"/>
                                  </p:stCondLst>
                                  <p:childTnLst>
                                    <p:animEffect transition="out" filter="fade">
                                      <p:cBhvr>
                                        <p:cTn id="91" dur="500"/>
                                        <p:tgtEl>
                                          <p:spTgt spid="5666"/>
                                        </p:tgtEl>
                                      </p:cBhvr>
                                    </p:animEffect>
                                    <p:set>
                                      <p:cBhvr>
                                        <p:cTn id="92" dur="1" fill="hold">
                                          <p:stCondLst>
                                            <p:cond delay="500"/>
                                          </p:stCondLst>
                                        </p:cTn>
                                        <p:tgtEl>
                                          <p:spTgt spid="56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757"/>
        <p:cNvGrpSpPr/>
        <p:nvPr/>
      </p:nvGrpSpPr>
      <p:grpSpPr>
        <a:xfrm>
          <a:off x="0" y="0"/>
          <a:ext cx="0" cy="0"/>
          <a:chOff x="0" y="0"/>
          <a:chExt cx="0" cy="0"/>
        </a:xfrm>
      </p:grpSpPr>
      <p:sp>
        <p:nvSpPr>
          <p:cNvPr id="5758" name="Google Shape;5758;p31"/>
          <p:cNvSpPr/>
          <p:nvPr/>
        </p:nvSpPr>
        <p:spPr>
          <a:xfrm>
            <a:off x="-4094420" y="2585073"/>
            <a:ext cx="19784686" cy="14200291"/>
          </a:xfrm>
          <a:prstGeom prst="arc">
            <a:avLst>
              <a:gd name="adj1" fmla="val 13713559"/>
              <a:gd name="adj2" fmla="val 18374095"/>
            </a:avLst>
          </a:prstGeom>
          <a:noFill/>
          <a:ln w="50800" cap="flat" cmpd="sng">
            <a:gradFill>
              <a:gsLst>
                <a:gs pos="21000">
                  <a:schemeClr val="accent2"/>
                </a:gs>
                <a:gs pos="67000">
                  <a:schemeClr val="accent3"/>
                </a:gs>
                <a:gs pos="33000">
                  <a:schemeClr val="accent5"/>
                </a:gs>
                <a:gs pos="43000">
                  <a:schemeClr val="accent3"/>
                </a:gs>
                <a:gs pos="96000">
                  <a:schemeClr val="accent4"/>
                </a:gs>
                <a:gs pos="83000">
                  <a:schemeClr val="accent1"/>
                </a:gs>
              </a:gsLst>
              <a:lin ang="0" scaled="0"/>
            </a:gra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717074"/>
              </a:solidFill>
              <a:latin typeface="Arial"/>
              <a:ea typeface="Arial"/>
              <a:cs typeface="Arial"/>
              <a:sym typeface="Arial"/>
            </a:endParaRPr>
          </a:p>
        </p:txBody>
      </p:sp>
      <p:pic>
        <p:nvPicPr>
          <p:cNvPr id="5759" name="Google Shape;5759;p31"/>
          <p:cNvPicPr preferRelativeResize="0"/>
          <p:nvPr/>
        </p:nvPicPr>
        <p:blipFill rotWithShape="1">
          <a:blip r:embed="rId3">
            <a:alphaModFix/>
          </a:blip>
          <a:srcRect/>
          <a:stretch/>
        </p:blipFill>
        <p:spPr>
          <a:xfrm>
            <a:off x="4947404" y="3058462"/>
            <a:ext cx="758754" cy="758754"/>
          </a:xfrm>
          <a:prstGeom prst="rect">
            <a:avLst/>
          </a:prstGeom>
          <a:noFill/>
          <a:ln>
            <a:noFill/>
          </a:ln>
        </p:spPr>
      </p:pic>
      <p:pic>
        <p:nvPicPr>
          <p:cNvPr id="5760" name="Google Shape;5760;p31"/>
          <p:cNvPicPr preferRelativeResize="0"/>
          <p:nvPr/>
        </p:nvPicPr>
        <p:blipFill rotWithShape="1">
          <a:blip r:embed="rId3">
            <a:alphaModFix/>
          </a:blip>
          <a:srcRect/>
          <a:stretch/>
        </p:blipFill>
        <p:spPr>
          <a:xfrm>
            <a:off x="6062938" y="3446414"/>
            <a:ext cx="391969" cy="391969"/>
          </a:xfrm>
          <a:prstGeom prst="rect">
            <a:avLst/>
          </a:prstGeom>
          <a:noFill/>
          <a:ln>
            <a:noFill/>
          </a:ln>
        </p:spPr>
      </p:pic>
      <p:pic>
        <p:nvPicPr>
          <p:cNvPr id="5761" name="Google Shape;5761;p31"/>
          <p:cNvPicPr preferRelativeResize="0"/>
          <p:nvPr/>
        </p:nvPicPr>
        <p:blipFill rotWithShape="1">
          <a:blip r:embed="rId3">
            <a:alphaModFix/>
          </a:blip>
          <a:srcRect/>
          <a:stretch/>
        </p:blipFill>
        <p:spPr>
          <a:xfrm>
            <a:off x="7421523" y="3292949"/>
            <a:ext cx="573372" cy="573372"/>
          </a:xfrm>
          <a:prstGeom prst="rect">
            <a:avLst/>
          </a:prstGeom>
          <a:noFill/>
          <a:ln>
            <a:noFill/>
          </a:ln>
        </p:spPr>
      </p:pic>
      <p:pic>
        <p:nvPicPr>
          <p:cNvPr id="5762" name="Google Shape;5762;p31"/>
          <p:cNvPicPr preferRelativeResize="0"/>
          <p:nvPr/>
        </p:nvPicPr>
        <p:blipFill rotWithShape="1">
          <a:blip r:embed="rId3">
            <a:alphaModFix/>
          </a:blip>
          <a:srcRect/>
          <a:stretch/>
        </p:blipFill>
        <p:spPr>
          <a:xfrm>
            <a:off x="9695493" y="3751575"/>
            <a:ext cx="391969" cy="391969"/>
          </a:xfrm>
          <a:prstGeom prst="rect">
            <a:avLst/>
          </a:prstGeom>
          <a:noFill/>
          <a:ln>
            <a:noFill/>
          </a:ln>
        </p:spPr>
      </p:pic>
      <p:pic>
        <p:nvPicPr>
          <p:cNvPr id="5763" name="Google Shape;5763;p31"/>
          <p:cNvPicPr preferRelativeResize="0"/>
          <p:nvPr/>
        </p:nvPicPr>
        <p:blipFill rotWithShape="1">
          <a:blip r:embed="rId4">
            <a:alphaModFix/>
          </a:blip>
          <a:srcRect/>
          <a:stretch/>
        </p:blipFill>
        <p:spPr>
          <a:xfrm>
            <a:off x="7316240" y="3862040"/>
            <a:ext cx="391969" cy="391969"/>
          </a:xfrm>
          <a:prstGeom prst="rect">
            <a:avLst/>
          </a:prstGeom>
          <a:noFill/>
          <a:ln>
            <a:noFill/>
          </a:ln>
        </p:spPr>
      </p:pic>
      <p:pic>
        <p:nvPicPr>
          <p:cNvPr id="5764" name="Google Shape;5764;p31"/>
          <p:cNvPicPr preferRelativeResize="0"/>
          <p:nvPr/>
        </p:nvPicPr>
        <p:blipFill rotWithShape="1">
          <a:blip r:embed="rId4">
            <a:alphaModFix/>
          </a:blip>
          <a:srcRect/>
          <a:stretch/>
        </p:blipFill>
        <p:spPr>
          <a:xfrm>
            <a:off x="6607681" y="3182484"/>
            <a:ext cx="573372" cy="573372"/>
          </a:xfrm>
          <a:prstGeom prst="rect">
            <a:avLst/>
          </a:prstGeom>
          <a:noFill/>
          <a:ln>
            <a:noFill/>
          </a:ln>
        </p:spPr>
      </p:pic>
      <p:pic>
        <p:nvPicPr>
          <p:cNvPr id="5765" name="Google Shape;5765;p31"/>
          <p:cNvPicPr preferRelativeResize="0"/>
          <p:nvPr/>
        </p:nvPicPr>
        <p:blipFill rotWithShape="1">
          <a:blip r:embed="rId4">
            <a:alphaModFix/>
          </a:blip>
          <a:srcRect/>
          <a:stretch/>
        </p:blipFill>
        <p:spPr>
          <a:xfrm>
            <a:off x="8002244" y="3496765"/>
            <a:ext cx="391969" cy="391969"/>
          </a:xfrm>
          <a:prstGeom prst="rect">
            <a:avLst/>
          </a:prstGeom>
          <a:noFill/>
          <a:ln>
            <a:noFill/>
          </a:ln>
        </p:spPr>
      </p:pic>
      <p:pic>
        <p:nvPicPr>
          <p:cNvPr id="5766" name="Google Shape;5766;p31"/>
          <p:cNvPicPr preferRelativeResize="0"/>
          <p:nvPr/>
        </p:nvPicPr>
        <p:blipFill rotWithShape="1">
          <a:blip r:embed="rId4">
            <a:alphaModFix/>
          </a:blip>
          <a:srcRect/>
          <a:stretch/>
        </p:blipFill>
        <p:spPr>
          <a:xfrm>
            <a:off x="4469663" y="3464618"/>
            <a:ext cx="562737" cy="562737"/>
          </a:xfrm>
          <a:prstGeom prst="rect">
            <a:avLst/>
          </a:prstGeom>
          <a:noFill/>
          <a:ln>
            <a:noFill/>
          </a:ln>
        </p:spPr>
      </p:pic>
      <p:pic>
        <p:nvPicPr>
          <p:cNvPr id="5768" name="Google Shape;5768;p31"/>
          <p:cNvPicPr preferRelativeResize="0"/>
          <p:nvPr/>
        </p:nvPicPr>
        <p:blipFill rotWithShape="1">
          <a:blip r:embed="rId3">
            <a:alphaModFix/>
          </a:blip>
          <a:srcRect/>
          <a:stretch/>
        </p:blipFill>
        <p:spPr>
          <a:xfrm>
            <a:off x="10136826" y="3641995"/>
            <a:ext cx="391969" cy="391969"/>
          </a:xfrm>
          <a:prstGeom prst="rect">
            <a:avLst/>
          </a:prstGeom>
          <a:noFill/>
          <a:ln>
            <a:noFill/>
          </a:ln>
        </p:spPr>
      </p:pic>
      <p:sp>
        <p:nvSpPr>
          <p:cNvPr id="5769" name="Google Shape;5769;p31"/>
          <p:cNvSpPr/>
          <p:nvPr/>
        </p:nvSpPr>
        <p:spPr>
          <a:xfrm>
            <a:off x="317500" y="3095576"/>
            <a:ext cx="914400" cy="100200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pic>
        <p:nvPicPr>
          <p:cNvPr id="5770" name="Google Shape;5770;p31"/>
          <p:cNvPicPr preferRelativeResize="0"/>
          <p:nvPr/>
        </p:nvPicPr>
        <p:blipFill rotWithShape="1">
          <a:blip r:embed="rId3">
            <a:alphaModFix/>
          </a:blip>
          <a:srcRect/>
          <a:stretch/>
        </p:blipFill>
        <p:spPr>
          <a:xfrm>
            <a:off x="3929905" y="3533393"/>
            <a:ext cx="391969" cy="391969"/>
          </a:xfrm>
          <a:prstGeom prst="rect">
            <a:avLst/>
          </a:prstGeom>
          <a:noFill/>
          <a:ln>
            <a:noFill/>
          </a:ln>
        </p:spPr>
      </p:pic>
      <p:grpSp>
        <p:nvGrpSpPr>
          <p:cNvPr id="5771" name="Google Shape;5771;p31"/>
          <p:cNvGrpSpPr/>
          <p:nvPr/>
        </p:nvGrpSpPr>
        <p:grpSpPr>
          <a:xfrm>
            <a:off x="1174313" y="1541237"/>
            <a:ext cx="3022880" cy="4005572"/>
            <a:chOff x="781204" y="1541237"/>
            <a:chExt cx="3022880" cy="4005572"/>
          </a:xfrm>
        </p:grpSpPr>
        <p:sp>
          <p:nvSpPr>
            <p:cNvPr id="5772" name="Google Shape;5772;p31"/>
            <p:cNvSpPr txBox="1"/>
            <p:nvPr/>
          </p:nvSpPr>
          <p:spPr>
            <a:xfrm>
              <a:off x="781204" y="3950407"/>
              <a:ext cx="3022880" cy="159640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Architecture &amp; Topologies</a:t>
              </a:r>
              <a:endParaRPr lang="en-US" sz="1800" dirty="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Deployment &amp; Scale</a:t>
              </a:r>
              <a:endParaRPr lang="en-US" sz="1800" dirty="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Compute, Storage &amp; Networking</a:t>
              </a:r>
            </a:p>
            <a:p>
              <a:pPr marL="342900" marR="0" lvl="0" indent="-342900" algn="l" rtl="0">
                <a:lnSpc>
                  <a:spcPct val="100000"/>
                </a:lnSpc>
                <a:spcBef>
                  <a:spcPts val="60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Private Cloud Operations</a:t>
              </a:r>
            </a:p>
            <a:p>
              <a:pPr marL="342900" indent="-342900">
                <a:spcBef>
                  <a:spcPts val="600"/>
                </a:spcBef>
                <a:buClr>
                  <a:srgbClr val="666666"/>
                </a:buClr>
                <a:buSzPts val="1170"/>
                <a:buFont typeface="Arial"/>
                <a:buChar char="•"/>
              </a:pPr>
              <a:r>
                <a:rPr lang="en-US" sz="1300" dirty="0">
                  <a:solidFill>
                    <a:schemeClr val="dk1"/>
                  </a:solidFill>
                  <a:latin typeface="Arial"/>
                  <a:ea typeface="Arial"/>
                  <a:cs typeface="Arial"/>
                  <a:sym typeface="Arial"/>
                </a:rPr>
                <a:t>Deliver Self-service IaaS</a:t>
              </a:r>
            </a:p>
            <a:p>
              <a:pPr marL="342900" marR="0" lvl="0" indent="-342900" algn="l" rtl="0">
                <a:lnSpc>
                  <a:spcPct val="100000"/>
                </a:lnSpc>
                <a:spcBef>
                  <a:spcPts val="60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Migrating to VCF</a:t>
              </a:r>
            </a:p>
            <a:p>
              <a:pPr marL="342900" marR="0" lvl="0" indent="-342900" algn="l" rtl="0">
                <a:lnSpc>
                  <a:spcPct val="100000"/>
                </a:lnSpc>
                <a:spcBef>
                  <a:spcPts val="600"/>
                </a:spcBef>
                <a:spcAft>
                  <a:spcPts val="0"/>
                </a:spcAft>
                <a:buClr>
                  <a:srgbClr val="666666"/>
                </a:buClr>
                <a:buSzPts val="1170"/>
                <a:buFont typeface="Arial"/>
                <a:buChar char="•"/>
              </a:pPr>
              <a:endParaRPr lang="en-US" sz="1300" dirty="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endParaRPr lang="en-US" sz="1800" dirty="0">
                <a:solidFill>
                  <a:schemeClr val="dk1"/>
                </a:solidFill>
                <a:latin typeface="Arial"/>
                <a:ea typeface="Arial"/>
                <a:cs typeface="Arial"/>
                <a:sym typeface="Arial"/>
              </a:endParaRPr>
            </a:p>
            <a:p>
              <a:pPr marL="342900" marR="0" lvl="0" indent="-228600" algn="l" rtl="0">
                <a:lnSpc>
                  <a:spcPct val="100000"/>
                </a:lnSpc>
                <a:spcBef>
                  <a:spcPts val="600"/>
                </a:spcBef>
                <a:spcAft>
                  <a:spcPts val="0"/>
                </a:spcAft>
                <a:buClr>
                  <a:srgbClr val="666666"/>
                </a:buClr>
                <a:buSzPts val="1800"/>
                <a:buFont typeface="Arial"/>
                <a:buNone/>
              </a:pPr>
              <a:endParaRPr lang="en-US" sz="2000" dirty="0">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666666"/>
                </a:buClr>
                <a:buSzPts val="1800"/>
                <a:buFont typeface="Arial"/>
                <a:buNone/>
              </a:pPr>
              <a:endParaRPr sz="2000" dirty="0">
                <a:solidFill>
                  <a:schemeClr val="dk1"/>
                </a:solidFill>
                <a:latin typeface="Arial"/>
                <a:ea typeface="Arial"/>
                <a:cs typeface="Arial"/>
                <a:sym typeface="Arial"/>
              </a:endParaRPr>
            </a:p>
          </p:txBody>
        </p:sp>
        <p:grpSp>
          <p:nvGrpSpPr>
            <p:cNvPr id="5773" name="Google Shape;5773;p31"/>
            <p:cNvGrpSpPr/>
            <p:nvPr/>
          </p:nvGrpSpPr>
          <p:grpSpPr>
            <a:xfrm>
              <a:off x="1121726" y="2294053"/>
              <a:ext cx="1975340" cy="846680"/>
              <a:chOff x="12476192" y="3025185"/>
              <a:chExt cx="665958" cy="285446"/>
            </a:xfrm>
          </p:grpSpPr>
          <p:sp>
            <p:nvSpPr>
              <p:cNvPr id="5774" name="Google Shape;5774;p31"/>
              <p:cNvSpPr/>
              <p:nvPr/>
            </p:nvSpPr>
            <p:spPr>
              <a:xfrm>
                <a:off x="12476192" y="3025185"/>
                <a:ext cx="583653" cy="238296"/>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26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5775" name="Google Shape;5775;p31"/>
              <p:cNvSpPr/>
              <p:nvPr/>
            </p:nvSpPr>
            <p:spPr>
              <a:xfrm>
                <a:off x="12778089" y="3134512"/>
                <a:ext cx="364061" cy="144900"/>
              </a:xfrm>
              <a:custGeom>
                <a:avLst/>
                <a:gdLst/>
                <a:ahLst/>
                <a:cxnLst/>
                <a:rect l="l" t="t" r="r" b="b"/>
                <a:pathLst>
                  <a:path w="565884" h="225229" extrusionOk="0">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0">
                    <a:schemeClr val="lt1"/>
                  </a:gs>
                  <a:gs pos="34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5776" name="Google Shape;5776;p31"/>
              <p:cNvSpPr/>
              <p:nvPr/>
            </p:nvSpPr>
            <p:spPr>
              <a:xfrm>
                <a:off x="12554829" y="3185661"/>
                <a:ext cx="306086" cy="124970"/>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34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sp>
          <p:nvSpPr>
            <p:cNvPr id="5777" name="Google Shape;5777;p31"/>
            <p:cNvSpPr txBox="1"/>
            <p:nvPr/>
          </p:nvSpPr>
          <p:spPr>
            <a:xfrm>
              <a:off x="1102974" y="1541237"/>
              <a:ext cx="1992527"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B050"/>
                </a:buClr>
                <a:buSzPts val="2800"/>
                <a:buFont typeface="Arial"/>
                <a:buNone/>
              </a:pPr>
              <a:r>
                <a:rPr lang="en-US" sz="2800" dirty="0">
                  <a:solidFill>
                    <a:schemeClr val="accent5"/>
                  </a:solidFill>
                  <a:latin typeface="Arial"/>
                  <a:ea typeface="Arial"/>
                  <a:cs typeface="Arial"/>
                  <a:sym typeface="Arial"/>
                </a:rPr>
                <a:t>Modernize</a:t>
              </a:r>
              <a:endParaRPr sz="1400" b="0" i="0" u="none" strike="noStrike" cap="none" dirty="0">
                <a:solidFill>
                  <a:schemeClr val="accent5"/>
                </a:solidFill>
                <a:latin typeface="Arial"/>
                <a:ea typeface="Arial"/>
                <a:cs typeface="Arial"/>
                <a:sym typeface="Arial"/>
              </a:endParaRPr>
            </a:p>
            <a:p>
              <a:pPr marL="0" marR="0" lvl="0" indent="0" algn="ctr" rtl="0">
                <a:lnSpc>
                  <a:spcPct val="100000"/>
                </a:lnSpc>
                <a:spcBef>
                  <a:spcPts val="0"/>
                </a:spcBef>
                <a:spcAft>
                  <a:spcPts val="0"/>
                </a:spcAft>
                <a:buClr>
                  <a:srgbClr val="3F3F3F"/>
                </a:buClr>
                <a:buSzPts val="1600"/>
                <a:buFont typeface="Arial"/>
                <a:buNone/>
              </a:pPr>
              <a:r>
                <a:rPr lang="en-US" sz="1600" b="0" i="0" u="none" strike="noStrike" cap="none" dirty="0">
                  <a:solidFill>
                    <a:srgbClr val="3F3F3F"/>
                  </a:solidFill>
                  <a:latin typeface="Arial"/>
                  <a:ea typeface="Arial"/>
                  <a:cs typeface="Arial"/>
                  <a:sym typeface="Arial"/>
                </a:rPr>
                <a:t> </a:t>
              </a:r>
              <a:r>
                <a:rPr lang="en-US" sz="1600" dirty="0">
                  <a:solidFill>
                    <a:srgbClr val="3F3F3F"/>
                  </a:solidFill>
                  <a:latin typeface="Arial"/>
                  <a:ea typeface="Arial"/>
                  <a:cs typeface="Arial"/>
                  <a:sym typeface="Arial"/>
                </a:rPr>
                <a:t>Infrastructure</a:t>
              </a:r>
              <a:endParaRPr sz="1400" b="0" i="0" u="none" strike="noStrike" cap="none" dirty="0">
                <a:solidFill>
                  <a:srgbClr val="000000"/>
                </a:solidFill>
                <a:latin typeface="Arial"/>
                <a:ea typeface="Arial"/>
                <a:cs typeface="Arial"/>
                <a:sym typeface="Arial"/>
              </a:endParaRPr>
            </a:p>
          </p:txBody>
        </p:sp>
        <p:sp>
          <p:nvSpPr>
            <p:cNvPr id="5782" name="Google Shape;5782;p31"/>
            <p:cNvSpPr/>
            <p:nvPr/>
          </p:nvSpPr>
          <p:spPr>
            <a:xfrm>
              <a:off x="1963596" y="3013435"/>
              <a:ext cx="392029" cy="392223"/>
            </a:xfrm>
            <a:custGeom>
              <a:avLst/>
              <a:gdLst/>
              <a:ahLst/>
              <a:cxnLst/>
              <a:rect l="l" t="t" r="r" b="b"/>
              <a:pathLst>
                <a:path w="597674" h="597674" extrusionOk="0">
                  <a:moveTo>
                    <a:pt x="298521" y="597675"/>
                  </a:moveTo>
                  <a:cubicBezTo>
                    <a:pt x="133449" y="597675"/>
                    <a:pt x="0" y="463593"/>
                    <a:pt x="0" y="298521"/>
                  </a:cubicBezTo>
                  <a:cubicBezTo>
                    <a:pt x="0" y="133449"/>
                    <a:pt x="134082" y="0"/>
                    <a:pt x="298521" y="0"/>
                  </a:cubicBezTo>
                  <a:cubicBezTo>
                    <a:pt x="462961" y="0"/>
                    <a:pt x="597675" y="134082"/>
                    <a:pt x="597675" y="298521"/>
                  </a:cubicBezTo>
                  <a:cubicBezTo>
                    <a:pt x="597675" y="462961"/>
                    <a:pt x="462961" y="597675"/>
                    <a:pt x="298521" y="597675"/>
                  </a:cubicBezTo>
                  <a:close/>
                  <a:moveTo>
                    <a:pt x="298521" y="15811"/>
                  </a:moveTo>
                  <a:cubicBezTo>
                    <a:pt x="142304" y="15811"/>
                    <a:pt x="15179" y="142936"/>
                    <a:pt x="15179" y="299154"/>
                  </a:cubicBezTo>
                  <a:cubicBezTo>
                    <a:pt x="15179" y="455371"/>
                    <a:pt x="142304" y="582496"/>
                    <a:pt x="298521" y="582496"/>
                  </a:cubicBezTo>
                  <a:cubicBezTo>
                    <a:pt x="454739" y="582496"/>
                    <a:pt x="581863" y="455371"/>
                    <a:pt x="581863" y="299154"/>
                  </a:cubicBezTo>
                  <a:cubicBezTo>
                    <a:pt x="581863" y="142936"/>
                    <a:pt x="454106" y="15811"/>
                    <a:pt x="298521" y="1581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sp>
        <p:nvSpPr>
          <p:cNvPr id="5808" name="Google Shape;5808;p31"/>
          <p:cNvSpPr/>
          <p:nvPr/>
        </p:nvSpPr>
        <p:spPr>
          <a:xfrm>
            <a:off x="637309" y="279131"/>
            <a:ext cx="11134628" cy="1144761"/>
          </a:xfrm>
          <a:prstGeom prst="rect">
            <a:avLst/>
          </a:prstGeom>
          <a:solidFill>
            <a:schemeClr val="lt1">
              <a:alpha val="7176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grpSp>
        <p:nvGrpSpPr>
          <p:cNvPr id="5809" name="Google Shape;5809;p31"/>
          <p:cNvGrpSpPr/>
          <p:nvPr/>
        </p:nvGrpSpPr>
        <p:grpSpPr>
          <a:xfrm>
            <a:off x="4558521" y="842850"/>
            <a:ext cx="3286068" cy="4699969"/>
            <a:chOff x="3139918" y="919759"/>
            <a:chExt cx="3286068" cy="4699969"/>
          </a:xfrm>
        </p:grpSpPr>
        <p:grpSp>
          <p:nvGrpSpPr>
            <p:cNvPr id="5810" name="Google Shape;5810;p31"/>
            <p:cNvGrpSpPr/>
            <p:nvPr/>
          </p:nvGrpSpPr>
          <p:grpSpPr>
            <a:xfrm>
              <a:off x="3376052" y="919759"/>
              <a:ext cx="2362742" cy="2117144"/>
              <a:chOff x="3376052" y="-58141"/>
              <a:chExt cx="2362742" cy="2117144"/>
            </a:xfrm>
          </p:grpSpPr>
          <p:grpSp>
            <p:nvGrpSpPr>
              <p:cNvPr id="5811" name="Google Shape;5811;p31"/>
              <p:cNvGrpSpPr/>
              <p:nvPr/>
            </p:nvGrpSpPr>
            <p:grpSpPr>
              <a:xfrm>
                <a:off x="3548416" y="1081279"/>
                <a:ext cx="2021076" cy="977724"/>
                <a:chOff x="12464666" y="3025185"/>
                <a:chExt cx="681377" cy="329628"/>
              </a:xfrm>
            </p:grpSpPr>
            <p:sp>
              <p:nvSpPr>
                <p:cNvPr id="5812" name="Google Shape;5812;p31"/>
                <p:cNvSpPr/>
                <p:nvPr/>
              </p:nvSpPr>
              <p:spPr>
                <a:xfrm>
                  <a:off x="12464666" y="3041125"/>
                  <a:ext cx="306086" cy="124970"/>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25000">
                      <a:schemeClr val="lt1"/>
                    </a:gs>
                    <a:gs pos="62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5813" name="Google Shape;5813;p31"/>
                <p:cNvSpPr/>
                <p:nvPr/>
              </p:nvSpPr>
              <p:spPr>
                <a:xfrm>
                  <a:off x="12517750" y="3025185"/>
                  <a:ext cx="583653" cy="238296"/>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26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5814" name="Google Shape;5814;p31"/>
                <p:cNvSpPr/>
                <p:nvPr/>
              </p:nvSpPr>
              <p:spPr>
                <a:xfrm>
                  <a:off x="12781982" y="3209913"/>
                  <a:ext cx="364061" cy="144900"/>
                </a:xfrm>
                <a:custGeom>
                  <a:avLst/>
                  <a:gdLst/>
                  <a:ahLst/>
                  <a:cxnLst/>
                  <a:rect l="l" t="t" r="r" b="b"/>
                  <a:pathLst>
                    <a:path w="565884" h="225229" extrusionOk="0">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0">
                      <a:srgbClr val="FFFFFF"/>
                    </a:gs>
                    <a:gs pos="29000">
                      <a:srgbClr val="FFFFFF"/>
                    </a:gs>
                    <a:gs pos="48000">
                      <a:srgbClr val="F8FBFE"/>
                    </a:gs>
                    <a:gs pos="69000">
                      <a:srgbClr val="E7F3FB"/>
                    </a:gs>
                    <a:gs pos="100000">
                      <a:srgbClr val="CEE6F7"/>
                    </a:gs>
                  </a:gsLst>
                  <a:lin ang="2700000"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717074"/>
                    </a:solidFill>
                    <a:latin typeface="Arial"/>
                    <a:ea typeface="Arial"/>
                    <a:cs typeface="Arial"/>
                    <a:sym typeface="Arial"/>
                  </a:endParaRPr>
                </a:p>
              </p:txBody>
            </p:sp>
          </p:grpSp>
          <p:sp>
            <p:nvSpPr>
              <p:cNvPr id="5815" name="Google Shape;5815;p31"/>
              <p:cNvSpPr txBox="1"/>
              <p:nvPr/>
            </p:nvSpPr>
            <p:spPr>
              <a:xfrm>
                <a:off x="3376052" y="-58141"/>
                <a:ext cx="2362742"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F3F3F"/>
                  </a:buClr>
                  <a:buSzPts val="1600"/>
                  <a:buFont typeface="Arial"/>
                  <a:buNone/>
                </a:pPr>
                <a:r>
                  <a:rPr lang="en-US" sz="1600" dirty="0">
                    <a:solidFill>
                      <a:srgbClr val="3F3F3F"/>
                    </a:solidFill>
                    <a:latin typeface="Arial"/>
                    <a:ea typeface="Arial"/>
                    <a:cs typeface="Arial"/>
                    <a:sym typeface="Arial"/>
                  </a:rPr>
                  <a:t>Deliver a Unified</a:t>
                </a:r>
                <a:r>
                  <a:rPr lang="en-US" sz="1600" b="0" i="0" u="none" strike="noStrike" cap="none" dirty="0">
                    <a:solidFill>
                      <a:srgbClr val="3F3F3F"/>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B0F0"/>
                  </a:buClr>
                  <a:buSzPts val="2800"/>
                  <a:buFont typeface="Arial"/>
                  <a:buNone/>
                </a:pPr>
                <a:r>
                  <a:rPr lang="en-US" sz="2800" dirty="0">
                    <a:solidFill>
                      <a:schemeClr val="accent3"/>
                    </a:solidFill>
                    <a:latin typeface="Arial"/>
                    <a:ea typeface="Arial"/>
                    <a:cs typeface="Arial"/>
                    <a:sym typeface="Arial"/>
                  </a:rPr>
                  <a:t>Cloud</a:t>
                </a:r>
                <a:r>
                  <a:rPr lang="en-US" sz="2800" b="0" i="0" u="none" strike="noStrike" cap="none" dirty="0">
                    <a:solidFill>
                      <a:srgbClr val="3F3F3F"/>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3F3F3F"/>
                  </a:buClr>
                  <a:buSzPts val="1600"/>
                  <a:buFont typeface="Arial"/>
                  <a:buNone/>
                </a:pPr>
                <a:r>
                  <a:rPr lang="en-US" sz="1600" dirty="0">
                    <a:solidFill>
                      <a:srgbClr val="3F3F3F"/>
                    </a:solidFill>
                    <a:latin typeface="Arial"/>
                    <a:ea typeface="Arial"/>
                    <a:cs typeface="Arial"/>
                    <a:sym typeface="Arial"/>
                  </a:rPr>
                  <a:t>Experience</a:t>
                </a:r>
                <a:endParaRPr sz="1600" b="0" i="0" u="none" strike="noStrike" cap="none" dirty="0">
                  <a:solidFill>
                    <a:srgbClr val="3F3F3F"/>
                  </a:solidFill>
                  <a:latin typeface="Arial"/>
                  <a:ea typeface="Arial"/>
                  <a:cs typeface="Arial"/>
                  <a:sym typeface="Arial"/>
                </a:endParaRPr>
              </a:p>
            </p:txBody>
          </p:sp>
          <p:grpSp>
            <p:nvGrpSpPr>
              <p:cNvPr id="5818" name="Google Shape;5818;p31" descr="Solution Developer&#10;"/>
              <p:cNvGrpSpPr/>
              <p:nvPr/>
            </p:nvGrpSpPr>
            <p:grpSpPr>
              <a:xfrm>
                <a:off x="4344065" y="1676675"/>
                <a:ext cx="388710" cy="344209"/>
                <a:chOff x="8450011" y="775576"/>
                <a:chExt cx="592615" cy="524768"/>
              </a:xfrm>
            </p:grpSpPr>
            <p:sp>
              <p:nvSpPr>
                <p:cNvPr id="5819" name="Google Shape;5819;p31"/>
                <p:cNvSpPr/>
                <p:nvPr/>
              </p:nvSpPr>
              <p:spPr>
                <a:xfrm>
                  <a:off x="8704260" y="775576"/>
                  <a:ext cx="338366" cy="419561"/>
                </a:xfrm>
                <a:custGeom>
                  <a:avLst/>
                  <a:gdLst/>
                  <a:ahLst/>
                  <a:cxnLst/>
                  <a:rect l="l" t="t" r="r" b="b"/>
                  <a:pathLst>
                    <a:path w="338366" h="419561" extrusionOk="0">
                      <a:moveTo>
                        <a:pt x="0" y="0"/>
                      </a:moveTo>
                      <a:lnTo>
                        <a:pt x="0" y="39928"/>
                      </a:lnTo>
                      <a:lnTo>
                        <a:pt x="15812" y="39928"/>
                      </a:lnTo>
                      <a:lnTo>
                        <a:pt x="15812" y="15844"/>
                      </a:lnTo>
                      <a:lnTo>
                        <a:pt x="322555" y="15844"/>
                      </a:lnTo>
                      <a:lnTo>
                        <a:pt x="322555" y="403717"/>
                      </a:lnTo>
                      <a:lnTo>
                        <a:pt x="187208" y="403717"/>
                      </a:lnTo>
                      <a:lnTo>
                        <a:pt x="187208" y="419561"/>
                      </a:lnTo>
                      <a:lnTo>
                        <a:pt x="338366" y="419561"/>
                      </a:lnTo>
                      <a:lnTo>
                        <a:pt x="338366"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nvGrpSpPr>
                <p:cNvPr id="5820" name="Google Shape;5820;p31"/>
                <p:cNvGrpSpPr/>
                <p:nvPr/>
              </p:nvGrpSpPr>
              <p:grpSpPr>
                <a:xfrm>
                  <a:off x="8450011" y="834518"/>
                  <a:ext cx="418056" cy="465826"/>
                  <a:chOff x="8450011" y="834518"/>
                  <a:chExt cx="418056" cy="465826"/>
                </a:xfrm>
              </p:grpSpPr>
              <p:sp>
                <p:nvSpPr>
                  <p:cNvPr id="5821" name="Google Shape;5821;p31"/>
                  <p:cNvSpPr/>
                  <p:nvPr/>
                </p:nvSpPr>
                <p:spPr>
                  <a:xfrm>
                    <a:off x="8450011" y="1084860"/>
                    <a:ext cx="418056" cy="215484"/>
                  </a:xfrm>
                  <a:custGeom>
                    <a:avLst/>
                    <a:gdLst/>
                    <a:ahLst/>
                    <a:cxnLst/>
                    <a:rect l="l" t="t" r="r" b="b"/>
                    <a:pathLst>
                      <a:path w="418056" h="215484" extrusionOk="0">
                        <a:moveTo>
                          <a:pt x="209344" y="15844"/>
                        </a:moveTo>
                        <a:cubicBezTo>
                          <a:pt x="277650" y="15844"/>
                          <a:pt x="344058" y="48167"/>
                          <a:pt x="396552" y="106475"/>
                        </a:cubicBezTo>
                        <a:cubicBezTo>
                          <a:pt x="399715" y="110277"/>
                          <a:pt x="401612" y="115348"/>
                          <a:pt x="401612" y="120418"/>
                        </a:cubicBezTo>
                        <a:lnTo>
                          <a:pt x="401612" y="179993"/>
                        </a:lnTo>
                        <a:cubicBezTo>
                          <a:pt x="401612" y="190767"/>
                          <a:pt x="393390" y="199640"/>
                          <a:pt x="383271" y="199640"/>
                        </a:cubicBezTo>
                        <a:lnTo>
                          <a:pt x="34153" y="199640"/>
                        </a:lnTo>
                        <a:cubicBezTo>
                          <a:pt x="24033" y="199640"/>
                          <a:pt x="15812" y="190767"/>
                          <a:pt x="15812" y="179993"/>
                        </a:cubicBezTo>
                        <a:lnTo>
                          <a:pt x="15812" y="120418"/>
                        </a:lnTo>
                        <a:cubicBezTo>
                          <a:pt x="15812" y="115348"/>
                          <a:pt x="17709" y="110277"/>
                          <a:pt x="20871" y="106475"/>
                        </a:cubicBezTo>
                        <a:cubicBezTo>
                          <a:pt x="24033" y="102672"/>
                          <a:pt x="27828" y="98869"/>
                          <a:pt x="31623" y="95067"/>
                        </a:cubicBezTo>
                        <a:cubicBezTo>
                          <a:pt x="84117" y="43097"/>
                          <a:pt x="145466" y="15844"/>
                          <a:pt x="209344" y="15844"/>
                        </a:cubicBezTo>
                        <a:moveTo>
                          <a:pt x="209344" y="0"/>
                        </a:moveTo>
                        <a:cubicBezTo>
                          <a:pt x="142936" y="0"/>
                          <a:pt x="76528" y="27886"/>
                          <a:pt x="20239" y="83659"/>
                        </a:cubicBezTo>
                        <a:cubicBezTo>
                          <a:pt x="16444" y="87461"/>
                          <a:pt x="12649" y="91264"/>
                          <a:pt x="8854" y="95701"/>
                        </a:cubicBezTo>
                        <a:cubicBezTo>
                          <a:pt x="3162" y="102038"/>
                          <a:pt x="0" y="110911"/>
                          <a:pt x="0" y="120418"/>
                        </a:cubicBezTo>
                        <a:lnTo>
                          <a:pt x="0" y="179993"/>
                        </a:lnTo>
                        <a:cubicBezTo>
                          <a:pt x="0" y="199640"/>
                          <a:pt x="15179" y="215485"/>
                          <a:pt x="34153" y="215485"/>
                        </a:cubicBezTo>
                        <a:lnTo>
                          <a:pt x="383903" y="215485"/>
                        </a:lnTo>
                        <a:cubicBezTo>
                          <a:pt x="402877" y="215485"/>
                          <a:pt x="418056" y="199640"/>
                          <a:pt x="418056" y="179993"/>
                        </a:cubicBezTo>
                        <a:lnTo>
                          <a:pt x="418056" y="120418"/>
                        </a:lnTo>
                        <a:cubicBezTo>
                          <a:pt x="418056" y="111545"/>
                          <a:pt x="414894" y="102672"/>
                          <a:pt x="409202" y="95701"/>
                        </a:cubicBezTo>
                        <a:cubicBezTo>
                          <a:pt x="351648" y="32323"/>
                          <a:pt x="280812" y="0"/>
                          <a:pt x="209344" y="0"/>
                        </a:cubicBezTo>
                        <a:lnTo>
                          <a:pt x="209344"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5822" name="Google Shape;5822;p31"/>
                  <p:cNvSpPr/>
                  <p:nvPr/>
                </p:nvSpPr>
                <p:spPr>
                  <a:xfrm>
                    <a:off x="8539820" y="834518"/>
                    <a:ext cx="237804" cy="238300"/>
                  </a:xfrm>
                  <a:custGeom>
                    <a:avLst/>
                    <a:gdLst/>
                    <a:ahLst/>
                    <a:cxnLst/>
                    <a:rect l="l" t="t" r="r" b="b"/>
                    <a:pathLst>
                      <a:path w="237804" h="238300" extrusionOk="0">
                        <a:moveTo>
                          <a:pt x="118902" y="15844"/>
                        </a:moveTo>
                        <a:cubicBezTo>
                          <a:pt x="175824" y="15844"/>
                          <a:pt x="221993" y="62110"/>
                          <a:pt x="221993" y="119150"/>
                        </a:cubicBezTo>
                        <a:cubicBezTo>
                          <a:pt x="221993" y="176190"/>
                          <a:pt x="175824" y="222456"/>
                          <a:pt x="118902" y="222456"/>
                        </a:cubicBezTo>
                        <a:cubicBezTo>
                          <a:pt x="61981" y="222456"/>
                          <a:pt x="15812" y="176190"/>
                          <a:pt x="15812" y="119150"/>
                        </a:cubicBezTo>
                        <a:cubicBezTo>
                          <a:pt x="15812" y="62110"/>
                          <a:pt x="62614" y="15844"/>
                          <a:pt x="118902" y="15844"/>
                        </a:cubicBezTo>
                        <a:moveTo>
                          <a:pt x="118902" y="0"/>
                        </a:moveTo>
                        <a:cubicBezTo>
                          <a:pt x="53127" y="0"/>
                          <a:pt x="0" y="53237"/>
                          <a:pt x="0" y="119150"/>
                        </a:cubicBezTo>
                        <a:cubicBezTo>
                          <a:pt x="0" y="185063"/>
                          <a:pt x="53127" y="238301"/>
                          <a:pt x="118902" y="238301"/>
                        </a:cubicBezTo>
                        <a:cubicBezTo>
                          <a:pt x="184678" y="238301"/>
                          <a:pt x="237805" y="185063"/>
                          <a:pt x="237805" y="119150"/>
                        </a:cubicBezTo>
                        <a:cubicBezTo>
                          <a:pt x="237805" y="53237"/>
                          <a:pt x="184678" y="0"/>
                          <a:pt x="118902" y="0"/>
                        </a:cubicBezTo>
                        <a:lnTo>
                          <a:pt x="118902"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grpSp>
              <p:nvGrpSpPr>
                <p:cNvPr id="5823" name="Google Shape;5823;p31"/>
                <p:cNvGrpSpPr/>
                <p:nvPr/>
              </p:nvGrpSpPr>
              <p:grpSpPr>
                <a:xfrm>
                  <a:off x="8791540" y="899163"/>
                  <a:ext cx="209976" cy="139431"/>
                  <a:chOff x="8791540" y="899163"/>
                  <a:chExt cx="209976" cy="139431"/>
                </a:xfrm>
              </p:grpSpPr>
              <p:sp>
                <p:nvSpPr>
                  <p:cNvPr id="5824" name="Google Shape;5824;p31"/>
                  <p:cNvSpPr/>
                  <p:nvPr/>
                </p:nvSpPr>
                <p:spPr>
                  <a:xfrm>
                    <a:off x="8791540" y="923247"/>
                    <a:ext cx="63878" cy="88095"/>
                  </a:xfrm>
                  <a:custGeom>
                    <a:avLst/>
                    <a:gdLst/>
                    <a:ahLst/>
                    <a:cxnLst/>
                    <a:rect l="l" t="t" r="r" b="b"/>
                    <a:pathLst>
                      <a:path w="63878" h="88095" extrusionOk="0">
                        <a:moveTo>
                          <a:pt x="0" y="52604"/>
                        </a:moveTo>
                        <a:lnTo>
                          <a:pt x="0" y="36125"/>
                        </a:lnTo>
                        <a:lnTo>
                          <a:pt x="63878" y="0"/>
                        </a:lnTo>
                        <a:lnTo>
                          <a:pt x="63878" y="17112"/>
                        </a:lnTo>
                        <a:lnTo>
                          <a:pt x="13914" y="43731"/>
                        </a:lnTo>
                        <a:lnTo>
                          <a:pt x="63878" y="70349"/>
                        </a:lnTo>
                        <a:lnTo>
                          <a:pt x="63878" y="88095"/>
                        </a:lnTo>
                        <a:lnTo>
                          <a:pt x="0" y="5260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5825" name="Google Shape;5825;p31"/>
                  <p:cNvSpPr/>
                  <p:nvPr/>
                </p:nvSpPr>
                <p:spPr>
                  <a:xfrm>
                    <a:off x="8866802" y="899163"/>
                    <a:ext cx="59451" cy="139431"/>
                  </a:xfrm>
                  <a:custGeom>
                    <a:avLst/>
                    <a:gdLst/>
                    <a:ahLst/>
                    <a:cxnLst/>
                    <a:rect l="l" t="t" r="r" b="b"/>
                    <a:pathLst>
                      <a:path w="59451" h="139431" extrusionOk="0">
                        <a:moveTo>
                          <a:pt x="43007" y="0"/>
                        </a:moveTo>
                        <a:lnTo>
                          <a:pt x="59451" y="0"/>
                        </a:lnTo>
                        <a:lnTo>
                          <a:pt x="16444" y="139431"/>
                        </a:lnTo>
                        <a:lnTo>
                          <a:pt x="0" y="139431"/>
                        </a:lnTo>
                        <a:lnTo>
                          <a:pt x="43007"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5826" name="Google Shape;5826;p31"/>
                  <p:cNvSpPr/>
                  <p:nvPr/>
                </p:nvSpPr>
                <p:spPr>
                  <a:xfrm>
                    <a:off x="8937638" y="923880"/>
                    <a:ext cx="63878" cy="88728"/>
                  </a:xfrm>
                  <a:custGeom>
                    <a:avLst/>
                    <a:gdLst/>
                    <a:ahLst/>
                    <a:cxnLst/>
                    <a:rect l="l" t="t" r="r" b="b"/>
                    <a:pathLst>
                      <a:path w="63878" h="88728" extrusionOk="0">
                        <a:moveTo>
                          <a:pt x="0" y="70349"/>
                        </a:moveTo>
                        <a:lnTo>
                          <a:pt x="49964" y="43731"/>
                        </a:lnTo>
                        <a:lnTo>
                          <a:pt x="0" y="17112"/>
                        </a:lnTo>
                        <a:lnTo>
                          <a:pt x="0" y="0"/>
                        </a:lnTo>
                        <a:lnTo>
                          <a:pt x="63878" y="36125"/>
                        </a:lnTo>
                        <a:lnTo>
                          <a:pt x="63878" y="52604"/>
                        </a:lnTo>
                        <a:lnTo>
                          <a:pt x="0" y="88729"/>
                        </a:lnTo>
                        <a:lnTo>
                          <a:pt x="0" y="7034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grpSp>
        </p:grpSp>
        <p:sp>
          <p:nvSpPr>
            <p:cNvPr id="5827" name="Google Shape;5827;p31"/>
            <p:cNvSpPr txBox="1"/>
            <p:nvPr/>
          </p:nvSpPr>
          <p:spPr>
            <a:xfrm>
              <a:off x="3139918" y="4023326"/>
              <a:ext cx="3286068" cy="159640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Infrastructure for Kubernetes</a:t>
              </a:r>
              <a:endParaRPr sz="1800" dirty="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Private AI</a:t>
              </a:r>
            </a:p>
            <a:p>
              <a:pPr marL="342900" marR="0" lvl="0" indent="-342900" algn="l" rtl="0">
                <a:lnSpc>
                  <a:spcPct val="100000"/>
                </a:lnSpc>
                <a:spcBef>
                  <a:spcPts val="600"/>
                </a:spcBef>
                <a:spcAft>
                  <a:spcPts val="0"/>
                </a:spcAft>
                <a:buClr>
                  <a:srgbClr val="666666"/>
                </a:buClr>
                <a:buSzPts val="1170"/>
                <a:buFont typeface="Arial"/>
                <a:buChar char="•"/>
              </a:pPr>
              <a:endParaRPr sz="1800" dirty="0">
                <a:solidFill>
                  <a:schemeClr val="dk1"/>
                </a:solidFill>
                <a:latin typeface="Arial"/>
                <a:ea typeface="Arial"/>
                <a:cs typeface="Arial"/>
                <a:sym typeface="Arial"/>
              </a:endParaRPr>
            </a:p>
            <a:p>
              <a:pPr marL="342900" marR="0" lvl="0" indent="-268605" algn="l" rtl="0">
                <a:lnSpc>
                  <a:spcPct val="100000"/>
                </a:lnSpc>
                <a:spcBef>
                  <a:spcPts val="600"/>
                </a:spcBef>
                <a:spcAft>
                  <a:spcPts val="0"/>
                </a:spcAft>
                <a:buClr>
                  <a:srgbClr val="666666"/>
                </a:buClr>
                <a:buSzPts val="1170"/>
                <a:buFont typeface="Arial"/>
                <a:buNone/>
              </a:pPr>
              <a:endParaRPr sz="1800" dirty="0">
                <a:solidFill>
                  <a:schemeClr val="dk1"/>
                </a:solidFill>
                <a:latin typeface="Arial"/>
                <a:ea typeface="Arial"/>
                <a:cs typeface="Arial"/>
                <a:sym typeface="Arial"/>
              </a:endParaRPr>
            </a:p>
            <a:p>
              <a:pPr marL="342900" marR="0" lvl="0" indent="-228600" algn="l" rtl="0">
                <a:lnSpc>
                  <a:spcPct val="100000"/>
                </a:lnSpc>
                <a:spcBef>
                  <a:spcPts val="600"/>
                </a:spcBef>
                <a:spcAft>
                  <a:spcPts val="0"/>
                </a:spcAft>
                <a:buClr>
                  <a:srgbClr val="666666"/>
                </a:buClr>
                <a:buSzPts val="1800"/>
                <a:buFont typeface="Arial"/>
                <a:buNone/>
              </a:pPr>
              <a:endParaRPr sz="2000" dirty="0">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666666"/>
                </a:buClr>
                <a:buSzPts val="1800"/>
                <a:buFont typeface="Arial"/>
                <a:buNone/>
              </a:pPr>
              <a:endParaRPr sz="2000" dirty="0">
                <a:solidFill>
                  <a:schemeClr val="dk1"/>
                </a:solidFill>
                <a:latin typeface="Arial"/>
                <a:ea typeface="Arial"/>
                <a:cs typeface="Arial"/>
                <a:sym typeface="Arial"/>
              </a:endParaRPr>
            </a:p>
          </p:txBody>
        </p:sp>
      </p:grpSp>
      <p:grpSp>
        <p:nvGrpSpPr>
          <p:cNvPr id="7" name="Group 6">
            <a:extLst>
              <a:ext uri="{FF2B5EF4-FFF2-40B4-BE49-F238E27FC236}">
                <a16:creationId xmlns:a16="http://schemas.microsoft.com/office/drawing/2014/main" id="{6A4DC45C-D4CB-A0DB-0EC8-FB393E243E7E}"/>
              </a:ext>
            </a:extLst>
          </p:cNvPr>
          <p:cNvGrpSpPr/>
          <p:nvPr/>
        </p:nvGrpSpPr>
        <p:grpSpPr>
          <a:xfrm>
            <a:off x="8437023" y="1284487"/>
            <a:ext cx="1862290" cy="2301029"/>
            <a:chOff x="9189059" y="1284487"/>
            <a:chExt cx="1862290" cy="2301029"/>
          </a:xfrm>
        </p:grpSpPr>
        <p:grpSp>
          <p:nvGrpSpPr>
            <p:cNvPr id="5784" name="Google Shape;5784;p31"/>
            <p:cNvGrpSpPr/>
            <p:nvPr/>
          </p:nvGrpSpPr>
          <p:grpSpPr>
            <a:xfrm>
              <a:off x="9189059" y="1284487"/>
              <a:ext cx="1862290" cy="2301029"/>
              <a:chOff x="9189059" y="1284487"/>
              <a:chExt cx="1862290" cy="2301029"/>
            </a:xfrm>
          </p:grpSpPr>
          <p:grpSp>
            <p:nvGrpSpPr>
              <p:cNvPr id="5785" name="Google Shape;5785;p31"/>
              <p:cNvGrpSpPr/>
              <p:nvPr/>
            </p:nvGrpSpPr>
            <p:grpSpPr>
              <a:xfrm>
                <a:off x="9199277" y="2334636"/>
                <a:ext cx="1852072" cy="706825"/>
                <a:chOff x="12517750" y="3071895"/>
                <a:chExt cx="624400" cy="238296"/>
              </a:xfrm>
            </p:grpSpPr>
            <p:sp>
              <p:nvSpPr>
                <p:cNvPr id="5786" name="Google Shape;5786;p31"/>
                <p:cNvSpPr/>
                <p:nvPr/>
              </p:nvSpPr>
              <p:spPr>
                <a:xfrm>
                  <a:off x="12517750" y="3071895"/>
                  <a:ext cx="583653" cy="238296"/>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28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5787" name="Google Shape;5787;p31"/>
                <p:cNvSpPr/>
                <p:nvPr/>
              </p:nvSpPr>
              <p:spPr>
                <a:xfrm>
                  <a:off x="12778089" y="3112492"/>
                  <a:ext cx="364061" cy="144900"/>
                </a:xfrm>
                <a:custGeom>
                  <a:avLst/>
                  <a:gdLst/>
                  <a:ahLst/>
                  <a:cxnLst/>
                  <a:rect l="l" t="t" r="r" b="b"/>
                  <a:pathLst>
                    <a:path w="565884" h="225229" extrusionOk="0">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0">
                      <a:schemeClr val="lt1"/>
                    </a:gs>
                    <a:gs pos="34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5788" name="Google Shape;5788;p31"/>
                <p:cNvSpPr/>
                <p:nvPr/>
              </p:nvSpPr>
              <p:spPr>
                <a:xfrm>
                  <a:off x="12588940" y="3180461"/>
                  <a:ext cx="306086" cy="124970"/>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34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sp>
            <p:nvSpPr>
              <p:cNvPr id="5789" name="Google Shape;5789;p31"/>
              <p:cNvSpPr txBox="1"/>
              <p:nvPr/>
            </p:nvSpPr>
            <p:spPr>
              <a:xfrm>
                <a:off x="9189059" y="1284487"/>
                <a:ext cx="1731210"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B666FD"/>
                  </a:buClr>
                  <a:buSzPts val="2800"/>
                  <a:buFont typeface="Arial"/>
                  <a:buNone/>
                </a:pPr>
                <a:r>
                  <a:rPr lang="en-US" sz="2800" dirty="0">
                    <a:solidFill>
                      <a:schemeClr val="accent4"/>
                    </a:solidFill>
                    <a:latin typeface="Arial"/>
                    <a:ea typeface="Arial"/>
                    <a:cs typeface="Arial"/>
                    <a:sym typeface="Arial"/>
                  </a:rPr>
                  <a:t>Secure</a:t>
                </a:r>
                <a:r>
                  <a:rPr lang="en-US" sz="1600" b="0" i="0" u="none" strike="noStrike" cap="none" dirty="0">
                    <a:solidFill>
                      <a:srgbClr val="3F3F3F"/>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3F3F3F"/>
                  </a:buClr>
                  <a:buSzPts val="1600"/>
                  <a:buFont typeface="Arial"/>
                  <a:buNone/>
                </a:pPr>
                <a:r>
                  <a:rPr lang="en-US" sz="1600" dirty="0">
                    <a:solidFill>
                      <a:srgbClr val="3F3F3F"/>
                    </a:solidFill>
                    <a:latin typeface="Arial"/>
                    <a:ea typeface="Arial"/>
                    <a:cs typeface="Arial"/>
                    <a:sym typeface="Arial"/>
                  </a:rPr>
                  <a:t>and Protect y</a:t>
                </a:r>
                <a:r>
                  <a:rPr lang="en-US" sz="1600" b="0" i="0" u="none" strike="noStrike" cap="none" dirty="0">
                    <a:solidFill>
                      <a:srgbClr val="3F3F3F"/>
                    </a:solidFill>
                    <a:latin typeface="Arial"/>
                    <a:ea typeface="Arial"/>
                    <a:cs typeface="Arial"/>
                    <a:sym typeface="Arial"/>
                  </a:rPr>
                  <a:t>our Private Cloud</a:t>
                </a:r>
                <a:endParaRPr sz="1400" b="0" i="0" u="none" strike="noStrike" cap="none" dirty="0">
                  <a:solidFill>
                    <a:srgbClr val="000000"/>
                  </a:solidFill>
                  <a:latin typeface="Arial"/>
                  <a:ea typeface="Arial"/>
                  <a:cs typeface="Arial"/>
                  <a:sym typeface="Arial"/>
                </a:endParaRPr>
              </a:p>
            </p:txBody>
          </p:sp>
          <p:sp>
            <p:nvSpPr>
              <p:cNvPr id="5791" name="Google Shape;5791;p31"/>
              <p:cNvSpPr/>
              <p:nvPr/>
            </p:nvSpPr>
            <p:spPr>
              <a:xfrm>
                <a:off x="9709737" y="2853996"/>
                <a:ext cx="731616" cy="731520"/>
              </a:xfrm>
              <a:prstGeom prst="ellipse">
                <a:avLst/>
              </a:prstGeom>
              <a:solidFill>
                <a:schemeClr val="accent4"/>
              </a:solidFill>
              <a:ln w="25400" cap="flat" cmpd="sng">
                <a:solidFill>
                  <a:schemeClr val="lt1"/>
                </a:solidFill>
                <a:prstDash val="solid"/>
                <a:round/>
                <a:headEnd type="none" w="sm" len="sm"/>
                <a:tailEnd type="none" w="sm" len="sm"/>
              </a:ln>
            </p:spPr>
            <p:txBody>
              <a:bodyPr spcFirstLastPara="1" wrap="square" lIns="60900" tIns="30450" rIns="60900" bIns="30450"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3F3F3F"/>
                  </a:solidFill>
                  <a:latin typeface="Arial"/>
                  <a:ea typeface="Arial"/>
                  <a:cs typeface="Arial"/>
                  <a:sym typeface="Arial"/>
                </a:endParaRPr>
              </a:p>
            </p:txBody>
          </p:sp>
        </p:grpSp>
        <p:sp>
          <p:nvSpPr>
            <p:cNvPr id="4" name="Google Shape;5804;p31">
              <a:extLst>
                <a:ext uri="{FF2B5EF4-FFF2-40B4-BE49-F238E27FC236}">
                  <a16:creationId xmlns:a16="http://schemas.microsoft.com/office/drawing/2014/main" id="{12054FE1-1E19-31A7-7F81-98304A922054}"/>
                </a:ext>
              </a:extLst>
            </p:cNvPr>
            <p:cNvSpPr/>
            <p:nvPr/>
          </p:nvSpPr>
          <p:spPr>
            <a:xfrm>
              <a:off x="9904196" y="3026289"/>
              <a:ext cx="366532" cy="373491"/>
            </a:xfrm>
            <a:custGeom>
              <a:avLst/>
              <a:gdLst/>
              <a:ahLst/>
              <a:cxnLst/>
              <a:rect l="l" t="t" r="r" b="b"/>
              <a:pathLst>
                <a:path w="579532" h="576685" extrusionOk="0">
                  <a:moveTo>
                    <a:pt x="130350" y="576685"/>
                  </a:moveTo>
                  <a:lnTo>
                    <a:pt x="0" y="576685"/>
                  </a:lnTo>
                  <a:lnTo>
                    <a:pt x="0" y="452407"/>
                  </a:lnTo>
                  <a:lnTo>
                    <a:pt x="2277" y="450130"/>
                  </a:lnTo>
                  <a:cubicBezTo>
                    <a:pt x="2277" y="450130"/>
                    <a:pt x="2277" y="450130"/>
                    <a:pt x="206119" y="250968"/>
                  </a:cubicBezTo>
                  <a:lnTo>
                    <a:pt x="143821" y="188671"/>
                  </a:lnTo>
                  <a:cubicBezTo>
                    <a:pt x="124078" y="168914"/>
                    <a:pt x="124078" y="136896"/>
                    <a:pt x="143821" y="117140"/>
                  </a:cubicBezTo>
                  <a:lnTo>
                    <a:pt x="246153" y="14808"/>
                  </a:lnTo>
                  <a:cubicBezTo>
                    <a:pt x="265910" y="-4936"/>
                    <a:pt x="297928" y="-4936"/>
                    <a:pt x="317685" y="14808"/>
                  </a:cubicBezTo>
                  <a:lnTo>
                    <a:pt x="564724" y="261847"/>
                  </a:lnTo>
                  <a:cubicBezTo>
                    <a:pt x="584469" y="281603"/>
                    <a:pt x="584469" y="313621"/>
                    <a:pt x="564724" y="333378"/>
                  </a:cubicBezTo>
                  <a:lnTo>
                    <a:pt x="462392" y="435773"/>
                  </a:lnTo>
                  <a:cubicBezTo>
                    <a:pt x="442657" y="455391"/>
                    <a:pt x="410785" y="455391"/>
                    <a:pt x="391050" y="435773"/>
                  </a:cubicBezTo>
                  <a:lnTo>
                    <a:pt x="329701" y="374424"/>
                  </a:lnTo>
                  <a:lnTo>
                    <a:pt x="285998" y="417685"/>
                  </a:lnTo>
                  <a:lnTo>
                    <a:pt x="231101" y="417685"/>
                  </a:lnTo>
                  <a:lnTo>
                    <a:pt x="231101" y="472266"/>
                  </a:lnTo>
                  <a:lnTo>
                    <a:pt x="189295" y="513755"/>
                  </a:lnTo>
                  <a:lnTo>
                    <a:pt x="130350" y="513755"/>
                  </a:lnTo>
                  <a:close/>
                  <a:moveTo>
                    <a:pt x="15812" y="560874"/>
                  </a:moveTo>
                  <a:lnTo>
                    <a:pt x="114539" y="560874"/>
                  </a:lnTo>
                  <a:lnTo>
                    <a:pt x="114539" y="497628"/>
                  </a:lnTo>
                  <a:lnTo>
                    <a:pt x="182781" y="497628"/>
                  </a:lnTo>
                  <a:lnTo>
                    <a:pt x="215289" y="465309"/>
                  </a:lnTo>
                  <a:lnTo>
                    <a:pt x="215289" y="401810"/>
                  </a:lnTo>
                  <a:lnTo>
                    <a:pt x="279294" y="401810"/>
                  </a:lnTo>
                  <a:lnTo>
                    <a:pt x="329891" y="352035"/>
                  </a:lnTo>
                  <a:lnTo>
                    <a:pt x="402055" y="424515"/>
                  </a:lnTo>
                  <a:cubicBezTo>
                    <a:pt x="415604" y="438085"/>
                    <a:pt x="437589" y="438102"/>
                    <a:pt x="451159" y="424553"/>
                  </a:cubicBezTo>
                  <a:cubicBezTo>
                    <a:pt x="451172" y="424541"/>
                    <a:pt x="451184" y="424528"/>
                    <a:pt x="451197" y="424515"/>
                  </a:cubicBezTo>
                  <a:lnTo>
                    <a:pt x="553529" y="321930"/>
                  </a:lnTo>
                  <a:cubicBezTo>
                    <a:pt x="567102" y="308381"/>
                    <a:pt x="567114" y="286396"/>
                    <a:pt x="553567" y="272826"/>
                  </a:cubicBezTo>
                  <a:cubicBezTo>
                    <a:pt x="553554" y="272813"/>
                    <a:pt x="553542" y="272801"/>
                    <a:pt x="553529" y="272788"/>
                  </a:cubicBezTo>
                  <a:lnTo>
                    <a:pt x="306870" y="25749"/>
                  </a:lnTo>
                  <a:cubicBezTo>
                    <a:pt x="293241" y="12261"/>
                    <a:pt x="271293" y="12261"/>
                    <a:pt x="257664" y="25749"/>
                  </a:cubicBezTo>
                  <a:lnTo>
                    <a:pt x="155016" y="128334"/>
                  </a:lnTo>
                  <a:cubicBezTo>
                    <a:pt x="141527" y="141963"/>
                    <a:pt x="141527" y="163911"/>
                    <a:pt x="155016" y="177540"/>
                  </a:cubicBezTo>
                  <a:lnTo>
                    <a:pt x="228571" y="251095"/>
                  </a:lnTo>
                  <a:lnTo>
                    <a:pt x="222879" y="256660"/>
                  </a:lnTo>
                  <a:lnTo>
                    <a:pt x="15812" y="45904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5" name="Google Shape;5805;p31">
              <a:extLst>
                <a:ext uri="{FF2B5EF4-FFF2-40B4-BE49-F238E27FC236}">
                  <a16:creationId xmlns:a16="http://schemas.microsoft.com/office/drawing/2014/main" id="{DA9B45A9-1735-EF80-30B1-01997F6D92B6}"/>
                </a:ext>
              </a:extLst>
            </p:cNvPr>
            <p:cNvSpPr/>
            <p:nvPr/>
          </p:nvSpPr>
          <p:spPr>
            <a:xfrm rot="18900000">
              <a:off x="9926012" y="3278047"/>
              <a:ext cx="166283" cy="10240"/>
            </a:xfrm>
            <a:custGeom>
              <a:avLst/>
              <a:gdLst/>
              <a:ahLst/>
              <a:cxnLst/>
              <a:rect l="l" t="t" r="r" b="b"/>
              <a:pathLst>
                <a:path w="262913" h="15811" extrusionOk="0">
                  <a:moveTo>
                    <a:pt x="0" y="0"/>
                  </a:moveTo>
                  <a:lnTo>
                    <a:pt x="262914" y="0"/>
                  </a:lnTo>
                  <a:lnTo>
                    <a:pt x="262914" y="15812"/>
                  </a:lnTo>
                  <a:lnTo>
                    <a:pt x="0" y="1581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6" name="Google Shape;5806;p31">
              <a:extLst>
                <a:ext uri="{FF2B5EF4-FFF2-40B4-BE49-F238E27FC236}">
                  <a16:creationId xmlns:a16="http://schemas.microsoft.com/office/drawing/2014/main" id="{C976E74F-EF7E-9F23-700D-8C826551B415}"/>
                </a:ext>
              </a:extLst>
            </p:cNvPr>
            <p:cNvSpPr/>
            <p:nvPr/>
          </p:nvSpPr>
          <p:spPr>
            <a:xfrm>
              <a:off x="10102118" y="3141523"/>
              <a:ext cx="80001" cy="81923"/>
            </a:xfrm>
            <a:custGeom>
              <a:avLst/>
              <a:gdLst/>
              <a:ahLst/>
              <a:cxnLst/>
              <a:rect l="l" t="t" r="r" b="b"/>
              <a:pathLst>
                <a:path w="126492" h="126492" extrusionOk="0">
                  <a:moveTo>
                    <a:pt x="63246" y="126366"/>
                  </a:moveTo>
                  <a:cubicBezTo>
                    <a:pt x="58915" y="125814"/>
                    <a:pt x="55851" y="121856"/>
                    <a:pt x="56402" y="117525"/>
                  </a:cubicBezTo>
                  <a:cubicBezTo>
                    <a:pt x="56856" y="113950"/>
                    <a:pt x="59671" y="111135"/>
                    <a:pt x="63246" y="110681"/>
                  </a:cubicBezTo>
                  <a:cubicBezTo>
                    <a:pt x="89443" y="110681"/>
                    <a:pt x="110681" y="89443"/>
                    <a:pt x="110681" y="63246"/>
                  </a:cubicBezTo>
                  <a:cubicBezTo>
                    <a:pt x="110681" y="37049"/>
                    <a:pt x="89443" y="15812"/>
                    <a:pt x="63246" y="15812"/>
                  </a:cubicBezTo>
                  <a:cubicBezTo>
                    <a:pt x="37049" y="15812"/>
                    <a:pt x="15812" y="37049"/>
                    <a:pt x="15812" y="63246"/>
                  </a:cubicBezTo>
                  <a:cubicBezTo>
                    <a:pt x="15812" y="67613"/>
                    <a:pt x="12272" y="71152"/>
                    <a:pt x="7906" y="71152"/>
                  </a:cubicBezTo>
                  <a:cubicBezTo>
                    <a:pt x="3539" y="71152"/>
                    <a:pt x="0" y="67613"/>
                    <a:pt x="0" y="63246"/>
                  </a:cubicBezTo>
                  <a:cubicBezTo>
                    <a:pt x="0" y="28316"/>
                    <a:pt x="28316" y="0"/>
                    <a:pt x="63246" y="0"/>
                  </a:cubicBezTo>
                  <a:cubicBezTo>
                    <a:pt x="98176" y="0"/>
                    <a:pt x="126492" y="28316"/>
                    <a:pt x="126492" y="63246"/>
                  </a:cubicBezTo>
                  <a:cubicBezTo>
                    <a:pt x="126492" y="98176"/>
                    <a:pt x="98176" y="126492"/>
                    <a:pt x="63246" y="12649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sp>
        <p:nvSpPr>
          <p:cNvPr id="35" name="Google Shape;1375;p16">
            <a:extLst>
              <a:ext uri="{FF2B5EF4-FFF2-40B4-BE49-F238E27FC236}">
                <a16:creationId xmlns:a16="http://schemas.microsoft.com/office/drawing/2014/main" id="{20421701-9CEC-F7F8-E712-7520AE2A1E77}"/>
              </a:ext>
            </a:extLst>
          </p:cNvPr>
          <p:cNvSpPr/>
          <p:nvPr/>
        </p:nvSpPr>
        <p:spPr>
          <a:xfrm>
            <a:off x="1905745" y="2369475"/>
            <a:ext cx="1287766" cy="1290645"/>
          </a:xfrm>
          <a:prstGeom prst="ellipse">
            <a:avLst/>
          </a:prstGeom>
          <a:solidFill>
            <a:srgbClr val="F2F2F2">
              <a:alpha val="49019"/>
            </a:srgbClr>
          </a:solidFill>
          <a:ln>
            <a:noFill/>
          </a:ln>
        </p:spPr>
        <p:txBody>
          <a:bodyPr spcFirstLastPara="1" wrap="square" lIns="91350" tIns="45675" rIns="9135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u="none" strike="noStrike" kern="1200" cap="none" spc="0" normalizeH="0" baseline="0" noProof="0" dirty="0">
              <a:ln>
                <a:noFill/>
              </a:ln>
              <a:solidFill>
                <a:srgbClr val="FFFFFF"/>
              </a:solidFill>
              <a:effectLst/>
              <a:uLnTx/>
              <a:uFillTx/>
              <a:latin typeface="Arial" panose="020B0604020202020204" pitchFamily="34" charset="0"/>
              <a:sym typeface="Arial"/>
            </a:endParaRPr>
          </a:p>
        </p:txBody>
      </p:sp>
      <p:grpSp>
        <p:nvGrpSpPr>
          <p:cNvPr id="36" name="Google Shape;1376;p16">
            <a:extLst>
              <a:ext uri="{FF2B5EF4-FFF2-40B4-BE49-F238E27FC236}">
                <a16:creationId xmlns:a16="http://schemas.microsoft.com/office/drawing/2014/main" id="{DAB0A36E-20F0-BA70-E612-C4DF9E44D54F}"/>
              </a:ext>
            </a:extLst>
          </p:cNvPr>
          <p:cNvGrpSpPr/>
          <p:nvPr/>
        </p:nvGrpSpPr>
        <p:grpSpPr>
          <a:xfrm>
            <a:off x="1976514" y="2440403"/>
            <a:ext cx="1146226" cy="1148790"/>
            <a:chOff x="4907426" y="1918730"/>
            <a:chExt cx="983346" cy="985545"/>
          </a:xfrm>
        </p:grpSpPr>
        <p:sp>
          <p:nvSpPr>
            <p:cNvPr id="37" name="Google Shape;1377;p16">
              <a:extLst>
                <a:ext uri="{FF2B5EF4-FFF2-40B4-BE49-F238E27FC236}">
                  <a16:creationId xmlns:a16="http://schemas.microsoft.com/office/drawing/2014/main" id="{BC1102C9-A580-1F0F-1879-0E240094EE67}"/>
                </a:ext>
              </a:extLst>
            </p:cNvPr>
            <p:cNvSpPr/>
            <p:nvPr/>
          </p:nvSpPr>
          <p:spPr>
            <a:xfrm>
              <a:off x="4907426" y="1918730"/>
              <a:ext cx="983346" cy="985545"/>
            </a:xfrm>
            <a:prstGeom prst="ellipse">
              <a:avLst/>
            </a:prstGeom>
            <a:gradFill>
              <a:gsLst>
                <a:gs pos="0">
                  <a:schemeClr val="accent5"/>
                </a:gs>
                <a:gs pos="29000">
                  <a:schemeClr val="accent5"/>
                </a:gs>
                <a:gs pos="100000">
                  <a:schemeClr val="accent2"/>
                </a:gs>
              </a:gsLst>
              <a:lin ang="8100000" scaled="0"/>
            </a:gradFill>
            <a:ln>
              <a:noFill/>
            </a:ln>
          </p:spPr>
          <p:txBody>
            <a:bodyPr spcFirstLastPara="1" wrap="square" lIns="91350" tIns="45675" rIns="9135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u="none" strike="noStrike" kern="1200" cap="none" spc="0" normalizeH="0" baseline="0" noProof="0" dirty="0">
                <a:ln>
                  <a:noFill/>
                </a:ln>
                <a:solidFill>
                  <a:srgbClr val="FFFFFF"/>
                </a:solidFill>
                <a:effectLst/>
                <a:uLnTx/>
                <a:uFillTx/>
                <a:latin typeface="Arial" panose="020B0604020202020204" pitchFamily="34" charset="0"/>
                <a:sym typeface="Arial"/>
              </a:endParaRPr>
            </a:p>
          </p:txBody>
        </p:sp>
        <p:grpSp>
          <p:nvGrpSpPr>
            <p:cNvPr id="38" name="Google Shape;1378;p16">
              <a:extLst>
                <a:ext uri="{FF2B5EF4-FFF2-40B4-BE49-F238E27FC236}">
                  <a16:creationId xmlns:a16="http://schemas.microsoft.com/office/drawing/2014/main" id="{25A31A78-E7DA-5C03-10AE-A13195A51F50}"/>
                </a:ext>
              </a:extLst>
            </p:cNvPr>
            <p:cNvGrpSpPr/>
            <p:nvPr/>
          </p:nvGrpSpPr>
          <p:grpSpPr>
            <a:xfrm>
              <a:off x="5101312" y="2167085"/>
              <a:ext cx="640019" cy="488811"/>
              <a:chOff x="1838171" y="5616069"/>
              <a:chExt cx="652849" cy="498611"/>
            </a:xfrm>
          </p:grpSpPr>
          <p:sp>
            <p:nvSpPr>
              <p:cNvPr id="39" name="Google Shape;1379;p16">
                <a:extLst>
                  <a:ext uri="{FF2B5EF4-FFF2-40B4-BE49-F238E27FC236}">
                    <a16:creationId xmlns:a16="http://schemas.microsoft.com/office/drawing/2014/main" id="{9B6956FA-4AA2-D5B3-8A11-43667D9FE992}"/>
                  </a:ext>
                </a:extLst>
              </p:cNvPr>
              <p:cNvSpPr/>
              <p:nvPr/>
            </p:nvSpPr>
            <p:spPr>
              <a:xfrm>
                <a:off x="1838171" y="5625544"/>
                <a:ext cx="246435" cy="336419"/>
              </a:xfrm>
              <a:custGeom>
                <a:avLst/>
                <a:gdLst/>
                <a:ahLst/>
                <a:cxnLst/>
                <a:rect l="l" t="t" r="r" b="b"/>
                <a:pathLst>
                  <a:path w="246435" h="336419" extrusionOk="0">
                    <a:moveTo>
                      <a:pt x="17291" y="61280"/>
                    </a:moveTo>
                    <a:lnTo>
                      <a:pt x="57130" y="61280"/>
                    </a:lnTo>
                    <a:lnTo>
                      <a:pt x="57130" y="315808"/>
                    </a:lnTo>
                    <a:lnTo>
                      <a:pt x="74422" y="315808"/>
                    </a:lnTo>
                    <a:lnTo>
                      <a:pt x="74422" y="17291"/>
                    </a:lnTo>
                    <a:lnTo>
                      <a:pt x="229144" y="17291"/>
                    </a:lnTo>
                    <a:lnTo>
                      <a:pt x="229144" y="222158"/>
                    </a:lnTo>
                    <a:lnTo>
                      <a:pt x="246435" y="222158"/>
                    </a:lnTo>
                    <a:lnTo>
                      <a:pt x="246435" y="0"/>
                    </a:lnTo>
                    <a:lnTo>
                      <a:pt x="57130" y="0"/>
                    </a:lnTo>
                    <a:lnTo>
                      <a:pt x="57130" y="43989"/>
                    </a:lnTo>
                    <a:lnTo>
                      <a:pt x="0" y="43989"/>
                    </a:lnTo>
                    <a:lnTo>
                      <a:pt x="0" y="336419"/>
                    </a:lnTo>
                    <a:lnTo>
                      <a:pt x="17291" y="336419"/>
                    </a:lnTo>
                    <a:lnTo>
                      <a:pt x="17291" y="61280"/>
                    </a:lnTo>
                    <a:close/>
                  </a:path>
                </a:pathLst>
              </a:custGeom>
              <a:solidFill>
                <a:schemeClr val="lt1"/>
              </a:solidFill>
              <a:ln>
                <a:noFill/>
              </a:ln>
            </p:spPr>
            <p:txBody>
              <a:bodyPr spcFirstLastPara="1" wrap="square" lIns="91325" tIns="45650" rIns="9132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40" name="Google Shape;1380;p16">
                <a:extLst>
                  <a:ext uri="{FF2B5EF4-FFF2-40B4-BE49-F238E27FC236}">
                    <a16:creationId xmlns:a16="http://schemas.microsoft.com/office/drawing/2014/main" id="{92A04B2F-0F60-21E1-A7CD-E52349153410}"/>
                  </a:ext>
                </a:extLst>
              </p:cNvPr>
              <p:cNvSpPr/>
              <p:nvPr/>
            </p:nvSpPr>
            <p:spPr>
              <a:xfrm>
                <a:off x="195167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41" name="Google Shape;1381;p16">
                <a:extLst>
                  <a:ext uri="{FF2B5EF4-FFF2-40B4-BE49-F238E27FC236}">
                    <a16:creationId xmlns:a16="http://schemas.microsoft.com/office/drawing/2014/main" id="{5A23CE0B-AC40-7813-175D-430623BB90E9}"/>
                  </a:ext>
                </a:extLst>
              </p:cNvPr>
              <p:cNvSpPr/>
              <p:nvPr/>
            </p:nvSpPr>
            <p:spPr>
              <a:xfrm>
                <a:off x="195167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42" name="Google Shape;1382;p16">
                <a:extLst>
                  <a:ext uri="{FF2B5EF4-FFF2-40B4-BE49-F238E27FC236}">
                    <a16:creationId xmlns:a16="http://schemas.microsoft.com/office/drawing/2014/main" id="{048FC450-D422-A6A7-1E85-0260FD61E72E}"/>
                  </a:ext>
                </a:extLst>
              </p:cNvPr>
              <p:cNvSpPr/>
              <p:nvPr/>
            </p:nvSpPr>
            <p:spPr>
              <a:xfrm>
                <a:off x="195167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43" name="Google Shape;1383;p16">
                <a:extLst>
                  <a:ext uri="{FF2B5EF4-FFF2-40B4-BE49-F238E27FC236}">
                    <a16:creationId xmlns:a16="http://schemas.microsoft.com/office/drawing/2014/main" id="{0FEF3338-1E86-79C6-7F6C-D12F6611AE58}"/>
                  </a:ext>
                </a:extLst>
              </p:cNvPr>
              <p:cNvSpPr/>
              <p:nvPr/>
            </p:nvSpPr>
            <p:spPr>
              <a:xfrm>
                <a:off x="200638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44" name="Google Shape;1384;p16">
                <a:extLst>
                  <a:ext uri="{FF2B5EF4-FFF2-40B4-BE49-F238E27FC236}">
                    <a16:creationId xmlns:a16="http://schemas.microsoft.com/office/drawing/2014/main" id="{9B309597-895B-325A-967B-4B77CC8FA112}"/>
                  </a:ext>
                </a:extLst>
              </p:cNvPr>
              <p:cNvSpPr/>
              <p:nvPr/>
            </p:nvSpPr>
            <p:spPr>
              <a:xfrm>
                <a:off x="200638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45" name="Google Shape;1385;p16">
                <a:extLst>
                  <a:ext uri="{FF2B5EF4-FFF2-40B4-BE49-F238E27FC236}">
                    <a16:creationId xmlns:a16="http://schemas.microsoft.com/office/drawing/2014/main" id="{78156F78-81BE-E5A5-6921-14B219BDBACF}"/>
                  </a:ext>
                </a:extLst>
              </p:cNvPr>
              <p:cNvSpPr/>
              <p:nvPr/>
            </p:nvSpPr>
            <p:spPr>
              <a:xfrm>
                <a:off x="200638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46" name="Google Shape;1386;p16">
                <a:extLst>
                  <a:ext uri="{FF2B5EF4-FFF2-40B4-BE49-F238E27FC236}">
                    <a16:creationId xmlns:a16="http://schemas.microsoft.com/office/drawing/2014/main" id="{E0884843-D6D8-9DBE-B7AD-96031E7E691E}"/>
                  </a:ext>
                </a:extLst>
              </p:cNvPr>
              <p:cNvSpPr/>
              <p:nvPr/>
            </p:nvSpPr>
            <p:spPr>
              <a:xfrm>
                <a:off x="1847627" y="5830135"/>
                <a:ext cx="497694" cy="284545"/>
              </a:xfrm>
              <a:custGeom>
                <a:avLst/>
                <a:gdLst/>
                <a:ahLst/>
                <a:cxnLst/>
                <a:rect l="l" t="t" r="r" b="b"/>
                <a:pathLst>
                  <a:path w="497694" h="284545" extrusionOk="0">
                    <a:moveTo>
                      <a:pt x="428635" y="106653"/>
                    </a:moveTo>
                    <a:cubicBezTo>
                      <a:pt x="423309" y="47793"/>
                      <a:pt x="378974" y="1383"/>
                      <a:pt x="323919" y="0"/>
                    </a:cubicBezTo>
                    <a:cubicBezTo>
                      <a:pt x="323020" y="0"/>
                      <a:pt x="322121" y="0"/>
                      <a:pt x="321291" y="0"/>
                    </a:cubicBezTo>
                    <a:cubicBezTo>
                      <a:pt x="276748" y="0"/>
                      <a:pt x="238292" y="29879"/>
                      <a:pt x="221693" y="72693"/>
                    </a:cubicBezTo>
                    <a:cubicBezTo>
                      <a:pt x="210350" y="67229"/>
                      <a:pt x="197831" y="64185"/>
                      <a:pt x="184551" y="63770"/>
                    </a:cubicBezTo>
                    <a:cubicBezTo>
                      <a:pt x="183790" y="63770"/>
                      <a:pt x="183030" y="63770"/>
                      <a:pt x="182269" y="63770"/>
                    </a:cubicBezTo>
                    <a:cubicBezTo>
                      <a:pt x="138487" y="63770"/>
                      <a:pt x="101691" y="94895"/>
                      <a:pt x="92700" y="136947"/>
                    </a:cubicBezTo>
                    <a:cubicBezTo>
                      <a:pt x="86959" y="135356"/>
                      <a:pt x="80873" y="134526"/>
                      <a:pt x="74717" y="134388"/>
                    </a:cubicBezTo>
                    <a:cubicBezTo>
                      <a:pt x="74094" y="134388"/>
                      <a:pt x="73541" y="134388"/>
                      <a:pt x="72919" y="134388"/>
                    </a:cubicBezTo>
                    <a:cubicBezTo>
                      <a:pt x="33425" y="134388"/>
                      <a:pt x="918" y="166065"/>
                      <a:pt x="19" y="205974"/>
                    </a:cubicBezTo>
                    <a:cubicBezTo>
                      <a:pt x="-950" y="246435"/>
                      <a:pt x="35915" y="283439"/>
                      <a:pt x="76169" y="284545"/>
                    </a:cubicBezTo>
                    <a:cubicBezTo>
                      <a:pt x="77207" y="284545"/>
                      <a:pt x="80112" y="284545"/>
                      <a:pt x="84746" y="284545"/>
                    </a:cubicBezTo>
                    <a:cubicBezTo>
                      <a:pt x="133162" y="284545"/>
                      <a:pt x="363620" y="283577"/>
                      <a:pt x="411551" y="283577"/>
                    </a:cubicBezTo>
                    <a:cubicBezTo>
                      <a:pt x="416116" y="283577"/>
                      <a:pt x="419021" y="283577"/>
                      <a:pt x="419989" y="283577"/>
                    </a:cubicBezTo>
                    <a:cubicBezTo>
                      <a:pt x="420543" y="283577"/>
                      <a:pt x="421165" y="283577"/>
                      <a:pt x="421718" y="283577"/>
                    </a:cubicBezTo>
                    <a:cubicBezTo>
                      <a:pt x="462664" y="283577"/>
                      <a:pt x="496624" y="244983"/>
                      <a:pt x="497662" y="196913"/>
                    </a:cubicBezTo>
                    <a:cubicBezTo>
                      <a:pt x="498837" y="149604"/>
                      <a:pt x="468266" y="110526"/>
                      <a:pt x="428704" y="106722"/>
                    </a:cubicBezTo>
                    <a:close/>
                    <a:moveTo>
                      <a:pt x="421649" y="266217"/>
                    </a:moveTo>
                    <a:lnTo>
                      <a:pt x="420266" y="266217"/>
                    </a:lnTo>
                    <a:cubicBezTo>
                      <a:pt x="419298" y="266217"/>
                      <a:pt x="416254" y="266217"/>
                      <a:pt x="411482" y="266217"/>
                    </a:cubicBezTo>
                    <a:cubicBezTo>
                      <a:pt x="387551" y="266217"/>
                      <a:pt x="316933" y="266493"/>
                      <a:pt x="248736" y="266701"/>
                    </a:cubicBezTo>
                    <a:cubicBezTo>
                      <a:pt x="179986" y="266977"/>
                      <a:pt x="108954" y="267185"/>
                      <a:pt x="84677" y="267185"/>
                    </a:cubicBezTo>
                    <a:cubicBezTo>
                      <a:pt x="80250" y="267185"/>
                      <a:pt x="77414" y="267185"/>
                      <a:pt x="76584" y="267185"/>
                    </a:cubicBezTo>
                    <a:cubicBezTo>
                      <a:pt x="45322" y="266355"/>
                      <a:pt x="16480" y="236752"/>
                      <a:pt x="17241" y="206320"/>
                    </a:cubicBezTo>
                    <a:cubicBezTo>
                      <a:pt x="17932" y="176164"/>
                      <a:pt x="42901" y="151679"/>
                      <a:pt x="72850" y="151679"/>
                    </a:cubicBezTo>
                    <a:lnTo>
                      <a:pt x="74302" y="151679"/>
                    </a:lnTo>
                    <a:cubicBezTo>
                      <a:pt x="79144" y="151817"/>
                      <a:pt x="83708" y="152440"/>
                      <a:pt x="87997" y="153616"/>
                    </a:cubicBezTo>
                    <a:lnTo>
                      <a:pt x="105703" y="158526"/>
                    </a:lnTo>
                    <a:lnTo>
                      <a:pt x="109576" y="140613"/>
                    </a:lnTo>
                    <a:cubicBezTo>
                      <a:pt x="116977" y="106168"/>
                      <a:pt x="147548" y="81131"/>
                      <a:pt x="182269" y="81131"/>
                    </a:cubicBezTo>
                    <a:cubicBezTo>
                      <a:pt x="182891" y="81131"/>
                      <a:pt x="183514" y="81131"/>
                      <a:pt x="184067" y="81131"/>
                    </a:cubicBezTo>
                    <a:cubicBezTo>
                      <a:pt x="194857" y="81407"/>
                      <a:pt x="204955" y="83828"/>
                      <a:pt x="214154" y="88324"/>
                    </a:cubicBezTo>
                    <a:lnTo>
                      <a:pt x="231030" y="96485"/>
                    </a:lnTo>
                    <a:lnTo>
                      <a:pt x="237808" y="78987"/>
                    </a:lnTo>
                    <a:cubicBezTo>
                      <a:pt x="252333" y="41568"/>
                      <a:pt x="285048" y="17360"/>
                      <a:pt x="321221" y="17360"/>
                    </a:cubicBezTo>
                    <a:cubicBezTo>
                      <a:pt x="321982" y="17360"/>
                      <a:pt x="322674" y="17360"/>
                      <a:pt x="323435" y="17360"/>
                    </a:cubicBezTo>
                    <a:cubicBezTo>
                      <a:pt x="368945" y="18467"/>
                      <a:pt x="406779" y="57545"/>
                      <a:pt x="411344" y="108243"/>
                    </a:cubicBezTo>
                    <a:lnTo>
                      <a:pt x="412658" y="122491"/>
                    </a:lnTo>
                    <a:lnTo>
                      <a:pt x="426906" y="123875"/>
                    </a:lnTo>
                    <a:cubicBezTo>
                      <a:pt x="457753" y="126849"/>
                      <a:pt x="481200" y="158665"/>
                      <a:pt x="480232" y="196429"/>
                    </a:cubicBezTo>
                    <a:cubicBezTo>
                      <a:pt x="479402" y="234885"/>
                      <a:pt x="453050" y="266217"/>
                      <a:pt x="421580" y="266217"/>
                    </a:cubicBezTo>
                    <a:close/>
                  </a:path>
                </a:pathLst>
              </a:custGeom>
              <a:solidFill>
                <a:schemeClr val="lt1"/>
              </a:solidFill>
              <a:ln>
                <a:noFill/>
              </a:ln>
            </p:spPr>
            <p:txBody>
              <a:bodyPr spcFirstLastPara="1" wrap="square" lIns="91325" tIns="45650" rIns="9132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47" name="Google Shape;1387;p16">
                <a:extLst>
                  <a:ext uri="{FF2B5EF4-FFF2-40B4-BE49-F238E27FC236}">
                    <a16:creationId xmlns:a16="http://schemas.microsoft.com/office/drawing/2014/main" id="{FFCDF56B-FB33-46AC-D310-3237F6DC5F2B}"/>
                  </a:ext>
                </a:extLst>
              </p:cNvPr>
              <p:cNvSpPr/>
              <p:nvPr/>
            </p:nvSpPr>
            <p:spPr>
              <a:xfrm>
                <a:off x="2257934" y="5625959"/>
                <a:ext cx="233086" cy="231080"/>
              </a:xfrm>
              <a:custGeom>
                <a:avLst/>
                <a:gdLst/>
                <a:ahLst/>
                <a:cxnLst/>
                <a:rect l="l" t="t" r="r" b="b"/>
                <a:pathLst>
                  <a:path w="233086" h="231080" extrusionOk="0">
                    <a:moveTo>
                      <a:pt x="179760" y="14041"/>
                    </a:moveTo>
                    <a:lnTo>
                      <a:pt x="194285" y="28704"/>
                    </a:lnTo>
                    <a:lnTo>
                      <a:pt x="0" y="221259"/>
                    </a:lnTo>
                    <a:lnTo>
                      <a:pt x="9683" y="231081"/>
                    </a:lnTo>
                    <a:lnTo>
                      <a:pt x="204037" y="38525"/>
                    </a:lnTo>
                    <a:lnTo>
                      <a:pt x="218562" y="53257"/>
                    </a:lnTo>
                    <a:lnTo>
                      <a:pt x="233086" y="0"/>
                    </a:lnTo>
                    <a:lnTo>
                      <a:pt x="179760" y="14041"/>
                    </a:lnTo>
                    <a:close/>
                  </a:path>
                </a:pathLst>
              </a:custGeom>
              <a:solidFill>
                <a:schemeClr val="lt1"/>
              </a:solidFill>
              <a:ln>
                <a:noFill/>
              </a:ln>
            </p:spPr>
            <p:txBody>
              <a:bodyPr spcFirstLastPara="1" wrap="square" lIns="91325" tIns="45650" rIns="9132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48" name="Google Shape;1388;p16">
                <a:extLst>
                  <a:ext uri="{FF2B5EF4-FFF2-40B4-BE49-F238E27FC236}">
                    <a16:creationId xmlns:a16="http://schemas.microsoft.com/office/drawing/2014/main" id="{17ABE345-4DA6-EC12-C86E-2C6F3D5234C6}"/>
                  </a:ext>
                </a:extLst>
              </p:cNvPr>
              <p:cNvSpPr/>
              <p:nvPr/>
            </p:nvSpPr>
            <p:spPr>
              <a:xfrm>
                <a:off x="2115177" y="5616069"/>
                <a:ext cx="203068" cy="201339"/>
              </a:xfrm>
              <a:custGeom>
                <a:avLst/>
                <a:gdLst/>
                <a:ahLst/>
                <a:cxnLst/>
                <a:rect l="l" t="t" r="r" b="b"/>
                <a:pathLst>
                  <a:path w="203068" h="201339" extrusionOk="0">
                    <a:moveTo>
                      <a:pt x="9752" y="201340"/>
                    </a:moveTo>
                    <a:lnTo>
                      <a:pt x="174019" y="38525"/>
                    </a:lnTo>
                    <a:lnTo>
                      <a:pt x="188544" y="53257"/>
                    </a:lnTo>
                    <a:lnTo>
                      <a:pt x="203069" y="0"/>
                    </a:lnTo>
                    <a:lnTo>
                      <a:pt x="149742" y="14041"/>
                    </a:lnTo>
                    <a:lnTo>
                      <a:pt x="164267" y="28704"/>
                    </a:lnTo>
                    <a:lnTo>
                      <a:pt x="0" y="191518"/>
                    </a:lnTo>
                    <a:lnTo>
                      <a:pt x="9752" y="201340"/>
                    </a:lnTo>
                    <a:close/>
                  </a:path>
                </a:pathLst>
              </a:custGeom>
              <a:solidFill>
                <a:schemeClr val="lt1"/>
              </a:solidFill>
              <a:ln>
                <a:noFill/>
              </a:ln>
            </p:spPr>
            <p:txBody>
              <a:bodyPr spcFirstLastPara="1" wrap="square" lIns="91325" tIns="45650" rIns="9132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grpSp>
      </p:grpSp>
      <p:grpSp>
        <p:nvGrpSpPr>
          <p:cNvPr id="60" name="Google Shape;1428;p16">
            <a:extLst>
              <a:ext uri="{FF2B5EF4-FFF2-40B4-BE49-F238E27FC236}">
                <a16:creationId xmlns:a16="http://schemas.microsoft.com/office/drawing/2014/main" id="{6014F3FF-74B6-8194-CA9C-EDE7D91EE116}"/>
              </a:ext>
            </a:extLst>
          </p:cNvPr>
          <p:cNvGrpSpPr/>
          <p:nvPr/>
        </p:nvGrpSpPr>
        <p:grpSpPr>
          <a:xfrm>
            <a:off x="5336894" y="1898295"/>
            <a:ext cx="1287766" cy="1290645"/>
            <a:chOff x="8608478" y="1596058"/>
            <a:chExt cx="1288152" cy="1291032"/>
          </a:xfrm>
        </p:grpSpPr>
        <p:sp>
          <p:nvSpPr>
            <p:cNvPr id="61" name="Google Shape;1429;p16">
              <a:extLst>
                <a:ext uri="{FF2B5EF4-FFF2-40B4-BE49-F238E27FC236}">
                  <a16:creationId xmlns:a16="http://schemas.microsoft.com/office/drawing/2014/main" id="{9BE6D08B-44C9-D750-A836-61BA491C81B4}"/>
                </a:ext>
              </a:extLst>
            </p:cNvPr>
            <p:cNvSpPr/>
            <p:nvPr/>
          </p:nvSpPr>
          <p:spPr>
            <a:xfrm>
              <a:off x="8608478" y="1596058"/>
              <a:ext cx="1288152" cy="1291032"/>
            </a:xfrm>
            <a:prstGeom prst="ellipse">
              <a:avLst/>
            </a:prstGeom>
            <a:solidFill>
              <a:srgbClr val="F2F2F2">
                <a:alpha val="49019"/>
              </a:srgbClr>
            </a:solidFill>
            <a:ln>
              <a:noFill/>
            </a:ln>
          </p:spPr>
          <p:txBody>
            <a:bodyPr spcFirstLastPara="1" wrap="square" lIns="91350" tIns="45675" rIns="9135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u="none" strike="noStrike" kern="1200" cap="none" spc="0" normalizeH="0" baseline="0" noProof="0" dirty="0">
                <a:ln>
                  <a:noFill/>
                </a:ln>
                <a:solidFill>
                  <a:srgbClr val="FFFFFF"/>
                </a:solidFill>
                <a:effectLst/>
                <a:uLnTx/>
                <a:uFillTx/>
                <a:latin typeface="Arial" panose="020B0604020202020204" pitchFamily="34" charset="0"/>
                <a:sym typeface="Arial"/>
              </a:endParaRPr>
            </a:p>
          </p:txBody>
        </p:sp>
        <p:grpSp>
          <p:nvGrpSpPr>
            <p:cNvPr id="62" name="Google Shape;1430;p16">
              <a:extLst>
                <a:ext uri="{FF2B5EF4-FFF2-40B4-BE49-F238E27FC236}">
                  <a16:creationId xmlns:a16="http://schemas.microsoft.com/office/drawing/2014/main" id="{54E90AAF-8E82-793C-D63D-FA1093C504FE}"/>
                </a:ext>
              </a:extLst>
            </p:cNvPr>
            <p:cNvGrpSpPr/>
            <p:nvPr/>
          </p:nvGrpSpPr>
          <p:grpSpPr>
            <a:xfrm>
              <a:off x="8679268" y="1667007"/>
              <a:ext cx="1146570" cy="1149134"/>
              <a:chOff x="8679268" y="1667007"/>
              <a:chExt cx="1146570" cy="1149134"/>
            </a:xfrm>
          </p:grpSpPr>
          <p:sp>
            <p:nvSpPr>
              <p:cNvPr id="63" name="Google Shape;1431;p16">
                <a:extLst>
                  <a:ext uri="{FF2B5EF4-FFF2-40B4-BE49-F238E27FC236}">
                    <a16:creationId xmlns:a16="http://schemas.microsoft.com/office/drawing/2014/main" id="{82F52339-936E-6FF3-D210-045C2E8D7CF2}"/>
                  </a:ext>
                </a:extLst>
              </p:cNvPr>
              <p:cNvSpPr/>
              <p:nvPr/>
            </p:nvSpPr>
            <p:spPr>
              <a:xfrm>
                <a:off x="8679268" y="1667007"/>
                <a:ext cx="1146570" cy="1149134"/>
              </a:xfrm>
              <a:prstGeom prst="ellipse">
                <a:avLst/>
              </a:prstGeom>
              <a:gradFill>
                <a:gsLst>
                  <a:gs pos="0">
                    <a:schemeClr val="accent2"/>
                  </a:gs>
                  <a:gs pos="71000">
                    <a:schemeClr val="accent3"/>
                  </a:gs>
                  <a:gs pos="100000">
                    <a:schemeClr val="accent3"/>
                  </a:gs>
                </a:gsLst>
                <a:lin ang="18900000" scaled="0"/>
              </a:gradFill>
              <a:ln>
                <a:noFill/>
              </a:ln>
            </p:spPr>
            <p:txBody>
              <a:bodyPr spcFirstLastPara="1" wrap="square" lIns="91350" tIns="45675" rIns="9135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u="none" strike="noStrike" kern="1200" cap="none" spc="0" normalizeH="0" baseline="0" noProof="0" dirty="0">
                  <a:ln>
                    <a:noFill/>
                  </a:ln>
                  <a:solidFill>
                    <a:srgbClr val="FFFFFF"/>
                  </a:solidFill>
                  <a:effectLst/>
                  <a:uLnTx/>
                  <a:uFillTx/>
                  <a:latin typeface="Arial" panose="020B0604020202020204" pitchFamily="34" charset="0"/>
                  <a:sym typeface="Arial"/>
                </a:endParaRPr>
              </a:p>
            </p:txBody>
          </p:sp>
          <p:grpSp>
            <p:nvGrpSpPr>
              <p:cNvPr id="5829" name="Google Shape;1432;p16">
                <a:extLst>
                  <a:ext uri="{FF2B5EF4-FFF2-40B4-BE49-F238E27FC236}">
                    <a16:creationId xmlns:a16="http://schemas.microsoft.com/office/drawing/2014/main" id="{69575D7A-CDD3-3DA1-C2B7-214B36D541AF}"/>
                  </a:ext>
                </a:extLst>
              </p:cNvPr>
              <p:cNvGrpSpPr/>
              <p:nvPr/>
            </p:nvGrpSpPr>
            <p:grpSpPr>
              <a:xfrm>
                <a:off x="8942231" y="1952085"/>
                <a:ext cx="620645" cy="578979"/>
                <a:chOff x="1854219" y="4375174"/>
                <a:chExt cx="543307" cy="506834"/>
              </a:xfrm>
            </p:grpSpPr>
            <p:sp>
              <p:nvSpPr>
                <p:cNvPr id="5830" name="Google Shape;1433;p16">
                  <a:extLst>
                    <a:ext uri="{FF2B5EF4-FFF2-40B4-BE49-F238E27FC236}">
                      <a16:creationId xmlns:a16="http://schemas.microsoft.com/office/drawing/2014/main" id="{042C711E-B2AA-7E08-674D-D56D73E132D9}"/>
                    </a:ext>
                  </a:extLst>
                </p:cNvPr>
                <p:cNvSpPr/>
                <p:nvPr/>
              </p:nvSpPr>
              <p:spPr>
                <a:xfrm>
                  <a:off x="1854219" y="4375174"/>
                  <a:ext cx="283524" cy="352456"/>
                </a:xfrm>
                <a:custGeom>
                  <a:avLst/>
                  <a:gdLst/>
                  <a:ahLst/>
                  <a:cxnLst/>
                  <a:rect l="l" t="t" r="r" b="b"/>
                  <a:pathLst>
                    <a:path w="283524" h="352456" extrusionOk="0">
                      <a:moveTo>
                        <a:pt x="276356" y="338120"/>
                      </a:moveTo>
                      <a:lnTo>
                        <a:pt x="65491" y="338120"/>
                      </a:lnTo>
                      <a:lnTo>
                        <a:pt x="65491" y="116128"/>
                      </a:lnTo>
                      <a:cubicBezTo>
                        <a:pt x="94279" y="112573"/>
                        <a:pt x="116644" y="88028"/>
                        <a:pt x="116644" y="58322"/>
                      </a:cubicBezTo>
                      <a:cubicBezTo>
                        <a:pt x="116644" y="26150"/>
                        <a:pt x="90494" y="0"/>
                        <a:pt x="58322" y="0"/>
                      </a:cubicBezTo>
                      <a:cubicBezTo>
                        <a:pt x="26150" y="0"/>
                        <a:pt x="0" y="26150"/>
                        <a:pt x="0" y="58322"/>
                      </a:cubicBezTo>
                      <a:cubicBezTo>
                        <a:pt x="0" y="88028"/>
                        <a:pt x="22365" y="112573"/>
                        <a:pt x="51154" y="116128"/>
                      </a:cubicBezTo>
                      <a:lnTo>
                        <a:pt x="51154" y="345288"/>
                      </a:lnTo>
                      <a:cubicBezTo>
                        <a:pt x="51154" y="349245"/>
                        <a:pt x="54365" y="352456"/>
                        <a:pt x="58322" y="352456"/>
                      </a:cubicBezTo>
                      <a:lnTo>
                        <a:pt x="276356" y="352456"/>
                      </a:lnTo>
                      <a:cubicBezTo>
                        <a:pt x="280313" y="352456"/>
                        <a:pt x="283525" y="349245"/>
                        <a:pt x="283525" y="345288"/>
                      </a:cubicBezTo>
                      <a:cubicBezTo>
                        <a:pt x="283525" y="341331"/>
                        <a:pt x="280313" y="338120"/>
                        <a:pt x="276356" y="338120"/>
                      </a:cubicBezTo>
                      <a:close/>
                      <a:moveTo>
                        <a:pt x="14337" y="58322"/>
                      </a:moveTo>
                      <a:cubicBezTo>
                        <a:pt x="14337" y="34064"/>
                        <a:pt x="34064" y="14337"/>
                        <a:pt x="58322" y="14337"/>
                      </a:cubicBezTo>
                      <a:cubicBezTo>
                        <a:pt x="82580" y="14337"/>
                        <a:pt x="102308" y="34064"/>
                        <a:pt x="102308" y="58322"/>
                      </a:cubicBezTo>
                      <a:cubicBezTo>
                        <a:pt x="102308" y="82580"/>
                        <a:pt x="82580" y="102308"/>
                        <a:pt x="58322" y="102308"/>
                      </a:cubicBezTo>
                      <a:cubicBezTo>
                        <a:pt x="34064" y="102308"/>
                        <a:pt x="14337" y="82580"/>
                        <a:pt x="14337" y="583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5831" name="Google Shape;1434;p16">
                  <a:extLst>
                    <a:ext uri="{FF2B5EF4-FFF2-40B4-BE49-F238E27FC236}">
                      <a16:creationId xmlns:a16="http://schemas.microsoft.com/office/drawing/2014/main" id="{D140580E-E1FF-3EFB-224B-EF7F0EDDF09A}"/>
                    </a:ext>
                  </a:extLst>
                </p:cNvPr>
                <p:cNvSpPr/>
                <p:nvPr/>
              </p:nvSpPr>
              <p:spPr>
                <a:xfrm>
                  <a:off x="2148873" y="4639319"/>
                  <a:ext cx="115837" cy="170087"/>
                </a:xfrm>
                <a:custGeom>
                  <a:avLst/>
                  <a:gdLst/>
                  <a:ahLst/>
                  <a:cxnLst/>
                  <a:rect l="l" t="t" r="r" b="b"/>
                  <a:pathLst>
                    <a:path w="115837" h="170087" extrusionOk="0">
                      <a:moveTo>
                        <a:pt x="113027" y="79364"/>
                      </a:moveTo>
                      <a:lnTo>
                        <a:pt x="11522" y="1487"/>
                      </a:lnTo>
                      <a:cubicBezTo>
                        <a:pt x="8368" y="-922"/>
                        <a:pt x="3895" y="-348"/>
                        <a:pt x="1487" y="2806"/>
                      </a:cubicBezTo>
                      <a:cubicBezTo>
                        <a:pt x="-922" y="5960"/>
                        <a:pt x="-348" y="10433"/>
                        <a:pt x="2806" y="12841"/>
                      </a:cubicBezTo>
                      <a:lnTo>
                        <a:pt x="96855" y="85042"/>
                      </a:lnTo>
                      <a:lnTo>
                        <a:pt x="2806" y="157242"/>
                      </a:lnTo>
                      <a:cubicBezTo>
                        <a:pt x="-348" y="159650"/>
                        <a:pt x="-922" y="164181"/>
                        <a:pt x="1487" y="167278"/>
                      </a:cubicBezTo>
                      <a:cubicBezTo>
                        <a:pt x="2920" y="169113"/>
                        <a:pt x="5042" y="170088"/>
                        <a:pt x="7164" y="170088"/>
                      </a:cubicBezTo>
                      <a:cubicBezTo>
                        <a:pt x="8712" y="170088"/>
                        <a:pt x="10203" y="169629"/>
                        <a:pt x="11522" y="168597"/>
                      </a:cubicBezTo>
                      <a:lnTo>
                        <a:pt x="113027" y="90719"/>
                      </a:lnTo>
                      <a:cubicBezTo>
                        <a:pt x="114805" y="89343"/>
                        <a:pt x="115837" y="87278"/>
                        <a:pt x="115837" y="85042"/>
                      </a:cubicBezTo>
                      <a:cubicBezTo>
                        <a:pt x="115837" y="82805"/>
                        <a:pt x="114805" y="80741"/>
                        <a:pt x="113027" y="79364"/>
                      </a:cubicBezTo>
                      <a:lnTo>
                        <a:pt x="113027" y="79364"/>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5832" name="Google Shape;1435;p16">
                  <a:extLst>
                    <a:ext uri="{FF2B5EF4-FFF2-40B4-BE49-F238E27FC236}">
                      <a16:creationId xmlns:a16="http://schemas.microsoft.com/office/drawing/2014/main" id="{48A5CCB7-5101-EAB8-C920-6301657464F7}"/>
                    </a:ext>
                  </a:extLst>
                </p:cNvPr>
                <p:cNvSpPr/>
                <p:nvPr/>
              </p:nvSpPr>
              <p:spPr>
                <a:xfrm>
                  <a:off x="2114002" y="4529552"/>
                  <a:ext cx="283524" cy="352456"/>
                </a:xfrm>
                <a:custGeom>
                  <a:avLst/>
                  <a:gdLst/>
                  <a:ahLst/>
                  <a:cxnLst/>
                  <a:rect l="l" t="t" r="r" b="b"/>
                  <a:pathLst>
                    <a:path w="283524" h="352456" extrusionOk="0">
                      <a:moveTo>
                        <a:pt x="232371" y="236328"/>
                      </a:moveTo>
                      <a:lnTo>
                        <a:pt x="232371" y="7168"/>
                      </a:lnTo>
                      <a:cubicBezTo>
                        <a:pt x="232371" y="3211"/>
                        <a:pt x="229160" y="0"/>
                        <a:pt x="225203" y="0"/>
                      </a:cubicBezTo>
                      <a:lnTo>
                        <a:pt x="7168" y="0"/>
                      </a:lnTo>
                      <a:cubicBezTo>
                        <a:pt x="3211" y="0"/>
                        <a:pt x="0" y="3211"/>
                        <a:pt x="0" y="7168"/>
                      </a:cubicBezTo>
                      <a:cubicBezTo>
                        <a:pt x="0" y="11125"/>
                        <a:pt x="3211" y="14337"/>
                        <a:pt x="7168" y="14337"/>
                      </a:cubicBezTo>
                      <a:lnTo>
                        <a:pt x="218034" y="14337"/>
                      </a:lnTo>
                      <a:lnTo>
                        <a:pt x="218034" y="236328"/>
                      </a:lnTo>
                      <a:cubicBezTo>
                        <a:pt x="189246" y="239884"/>
                        <a:pt x="166881" y="264428"/>
                        <a:pt x="166881" y="294134"/>
                      </a:cubicBezTo>
                      <a:cubicBezTo>
                        <a:pt x="166881" y="326306"/>
                        <a:pt x="193031" y="352456"/>
                        <a:pt x="225203" y="352456"/>
                      </a:cubicBezTo>
                      <a:cubicBezTo>
                        <a:pt x="257375" y="352456"/>
                        <a:pt x="283525" y="326306"/>
                        <a:pt x="283525" y="294134"/>
                      </a:cubicBezTo>
                      <a:cubicBezTo>
                        <a:pt x="283525" y="264428"/>
                        <a:pt x="261159" y="239884"/>
                        <a:pt x="232371" y="236328"/>
                      </a:cubicBezTo>
                      <a:close/>
                      <a:moveTo>
                        <a:pt x="225203" y="338120"/>
                      </a:moveTo>
                      <a:cubicBezTo>
                        <a:pt x="200945" y="338120"/>
                        <a:pt x="181217" y="318392"/>
                        <a:pt x="181217" y="294134"/>
                      </a:cubicBezTo>
                      <a:cubicBezTo>
                        <a:pt x="181217" y="269876"/>
                        <a:pt x="200945" y="250149"/>
                        <a:pt x="225203" y="250149"/>
                      </a:cubicBezTo>
                      <a:cubicBezTo>
                        <a:pt x="249461" y="250149"/>
                        <a:pt x="269188" y="269876"/>
                        <a:pt x="269188" y="294134"/>
                      </a:cubicBezTo>
                      <a:cubicBezTo>
                        <a:pt x="269188" y="318392"/>
                        <a:pt x="249461" y="338120"/>
                        <a:pt x="225203" y="33812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5833" name="Google Shape;1436;p16">
                  <a:extLst>
                    <a:ext uri="{FF2B5EF4-FFF2-40B4-BE49-F238E27FC236}">
                      <a16:creationId xmlns:a16="http://schemas.microsoft.com/office/drawing/2014/main" id="{DDB640CF-EB92-5A11-766D-EF1C782A7F42}"/>
                    </a:ext>
                  </a:extLst>
                </p:cNvPr>
                <p:cNvSpPr/>
                <p:nvPr/>
              </p:nvSpPr>
              <p:spPr>
                <a:xfrm>
                  <a:off x="1986920" y="4447722"/>
                  <a:ext cx="115894" cy="170087"/>
                </a:xfrm>
                <a:custGeom>
                  <a:avLst/>
                  <a:gdLst/>
                  <a:ahLst/>
                  <a:cxnLst/>
                  <a:rect l="l" t="t" r="r" b="b"/>
                  <a:pathLst>
                    <a:path w="115894" h="170087" extrusionOk="0">
                      <a:moveTo>
                        <a:pt x="2867" y="90719"/>
                      </a:moveTo>
                      <a:lnTo>
                        <a:pt x="104372" y="168597"/>
                      </a:lnTo>
                      <a:cubicBezTo>
                        <a:pt x="105691" y="169571"/>
                        <a:pt x="107182" y="170088"/>
                        <a:pt x="108730" y="170088"/>
                      </a:cubicBezTo>
                      <a:cubicBezTo>
                        <a:pt x="110910" y="170088"/>
                        <a:pt x="113031" y="169113"/>
                        <a:pt x="114408" y="167278"/>
                      </a:cubicBezTo>
                      <a:cubicBezTo>
                        <a:pt x="116816" y="164124"/>
                        <a:pt x="116243" y="159650"/>
                        <a:pt x="113089" y="157242"/>
                      </a:cubicBezTo>
                      <a:lnTo>
                        <a:pt x="18982" y="85042"/>
                      </a:lnTo>
                      <a:lnTo>
                        <a:pt x="113031" y="12841"/>
                      </a:lnTo>
                      <a:cubicBezTo>
                        <a:pt x="116186" y="10433"/>
                        <a:pt x="116759" y="5960"/>
                        <a:pt x="114350" y="2806"/>
                      </a:cubicBezTo>
                      <a:cubicBezTo>
                        <a:pt x="111942" y="-348"/>
                        <a:pt x="107411" y="-922"/>
                        <a:pt x="104315" y="1487"/>
                      </a:cubicBezTo>
                      <a:lnTo>
                        <a:pt x="2810" y="79364"/>
                      </a:lnTo>
                      <a:cubicBezTo>
                        <a:pt x="1032" y="80741"/>
                        <a:pt x="0" y="82805"/>
                        <a:pt x="0" y="85042"/>
                      </a:cubicBezTo>
                      <a:cubicBezTo>
                        <a:pt x="0" y="87278"/>
                        <a:pt x="1032" y="89400"/>
                        <a:pt x="2810" y="90719"/>
                      </a:cubicBezTo>
                      <a:lnTo>
                        <a:pt x="2810" y="90719"/>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5834" name="Google Shape;1437;p16">
                  <a:extLst>
                    <a:ext uri="{FF2B5EF4-FFF2-40B4-BE49-F238E27FC236}">
                      <a16:creationId xmlns:a16="http://schemas.microsoft.com/office/drawing/2014/main" id="{FAA5096A-5B53-940F-861A-9D12250FD78B}"/>
                    </a:ext>
                  </a:extLst>
                </p:cNvPr>
                <p:cNvSpPr/>
                <p:nvPr/>
              </p:nvSpPr>
              <p:spPr>
                <a:xfrm>
                  <a:off x="1854219" y="476536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5835" name="Google Shape;1438;p16">
                  <a:extLst>
                    <a:ext uri="{FF2B5EF4-FFF2-40B4-BE49-F238E27FC236}">
                      <a16:creationId xmlns:a16="http://schemas.microsoft.com/office/drawing/2014/main" id="{5D8DE740-CCCB-473D-E026-C99E0ABC6DDE}"/>
                    </a:ext>
                  </a:extLst>
                </p:cNvPr>
                <p:cNvSpPr/>
                <p:nvPr/>
              </p:nvSpPr>
              <p:spPr>
                <a:xfrm>
                  <a:off x="2280882" y="437517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grpSp>
        </p:grpSp>
      </p:grpSp>
      <p:grpSp>
        <p:nvGrpSpPr>
          <p:cNvPr id="5836" name="Google Shape;1439;p16">
            <a:extLst>
              <a:ext uri="{FF2B5EF4-FFF2-40B4-BE49-F238E27FC236}">
                <a16:creationId xmlns:a16="http://schemas.microsoft.com/office/drawing/2014/main" id="{153D192F-61F5-C277-FA19-B920250DCE9B}"/>
              </a:ext>
            </a:extLst>
          </p:cNvPr>
          <p:cNvGrpSpPr/>
          <p:nvPr/>
        </p:nvGrpSpPr>
        <p:grpSpPr>
          <a:xfrm>
            <a:off x="8694466" y="2392503"/>
            <a:ext cx="1287817" cy="1290696"/>
            <a:chOff x="5942869" y="4312444"/>
            <a:chExt cx="1288152" cy="1291032"/>
          </a:xfrm>
        </p:grpSpPr>
        <p:sp>
          <p:nvSpPr>
            <p:cNvPr id="5837" name="Google Shape;1440;p16">
              <a:extLst>
                <a:ext uri="{FF2B5EF4-FFF2-40B4-BE49-F238E27FC236}">
                  <a16:creationId xmlns:a16="http://schemas.microsoft.com/office/drawing/2014/main" id="{9071793C-B9DE-ECDA-3FB7-DF5A6B4732DD}"/>
                </a:ext>
              </a:extLst>
            </p:cNvPr>
            <p:cNvSpPr/>
            <p:nvPr/>
          </p:nvSpPr>
          <p:spPr>
            <a:xfrm>
              <a:off x="5942869" y="4312444"/>
              <a:ext cx="1288152" cy="1291032"/>
            </a:xfrm>
            <a:prstGeom prst="ellipse">
              <a:avLst/>
            </a:prstGeom>
            <a:solidFill>
              <a:srgbClr val="F2F2F2">
                <a:alpha val="49019"/>
              </a:srgbClr>
            </a:solidFill>
            <a:ln>
              <a:noFill/>
            </a:ln>
          </p:spPr>
          <p:txBody>
            <a:bodyPr spcFirstLastPara="1" wrap="square" lIns="91350" tIns="45675" rIns="9135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u="none" strike="noStrike" kern="1200" cap="none" spc="0" normalizeH="0" baseline="0" noProof="0" dirty="0">
                <a:ln>
                  <a:noFill/>
                </a:ln>
                <a:solidFill>
                  <a:srgbClr val="FFFFFF"/>
                </a:solidFill>
                <a:effectLst/>
                <a:uLnTx/>
                <a:uFillTx/>
                <a:latin typeface="Arial" panose="020B0604020202020204" pitchFamily="34" charset="0"/>
                <a:sym typeface="Arial"/>
              </a:endParaRPr>
            </a:p>
          </p:txBody>
        </p:sp>
        <p:grpSp>
          <p:nvGrpSpPr>
            <p:cNvPr id="5838" name="Google Shape;1441;p16">
              <a:extLst>
                <a:ext uri="{FF2B5EF4-FFF2-40B4-BE49-F238E27FC236}">
                  <a16:creationId xmlns:a16="http://schemas.microsoft.com/office/drawing/2014/main" id="{FFB46F07-B588-C3BA-BF35-830AA404A135}"/>
                </a:ext>
              </a:extLst>
            </p:cNvPr>
            <p:cNvGrpSpPr/>
            <p:nvPr/>
          </p:nvGrpSpPr>
          <p:grpSpPr>
            <a:xfrm>
              <a:off x="6013661" y="4383395"/>
              <a:ext cx="1146570" cy="1149135"/>
              <a:chOff x="6013661" y="4383395"/>
              <a:chExt cx="1146570" cy="1149135"/>
            </a:xfrm>
          </p:grpSpPr>
          <p:sp>
            <p:nvSpPr>
              <p:cNvPr id="5839" name="Google Shape;1442;p16">
                <a:extLst>
                  <a:ext uri="{FF2B5EF4-FFF2-40B4-BE49-F238E27FC236}">
                    <a16:creationId xmlns:a16="http://schemas.microsoft.com/office/drawing/2014/main" id="{6058A795-5C43-D63F-5236-EFFAF252A0C5}"/>
                  </a:ext>
                </a:extLst>
              </p:cNvPr>
              <p:cNvSpPr/>
              <p:nvPr/>
            </p:nvSpPr>
            <p:spPr>
              <a:xfrm>
                <a:off x="6013661" y="4383395"/>
                <a:ext cx="1146570" cy="1149135"/>
              </a:xfrm>
              <a:prstGeom prst="ellipse">
                <a:avLst/>
              </a:prstGeom>
              <a:gradFill>
                <a:gsLst>
                  <a:gs pos="0">
                    <a:schemeClr val="accent1"/>
                  </a:gs>
                  <a:gs pos="30000">
                    <a:schemeClr val="accent1"/>
                  </a:gs>
                  <a:gs pos="100000">
                    <a:schemeClr val="accent4"/>
                  </a:gs>
                </a:gsLst>
                <a:lin ang="18900000" scaled="0"/>
              </a:gradFill>
              <a:ln>
                <a:noFill/>
              </a:ln>
            </p:spPr>
            <p:txBody>
              <a:bodyPr spcFirstLastPara="1" wrap="square" lIns="91350" tIns="45675" rIns="9135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u="none" strike="noStrike" kern="1200" cap="none" spc="0" normalizeH="0" baseline="0" noProof="0" dirty="0">
                  <a:ln>
                    <a:noFill/>
                  </a:ln>
                  <a:solidFill>
                    <a:srgbClr val="FFFFFF"/>
                  </a:solidFill>
                  <a:effectLst/>
                  <a:uLnTx/>
                  <a:uFillTx/>
                  <a:latin typeface="Arial" panose="020B0604020202020204" pitchFamily="34" charset="0"/>
                  <a:sym typeface="Arial"/>
                </a:endParaRPr>
              </a:p>
            </p:txBody>
          </p:sp>
          <p:grpSp>
            <p:nvGrpSpPr>
              <p:cNvPr id="5840" name="Google Shape;1443;p16">
                <a:extLst>
                  <a:ext uri="{FF2B5EF4-FFF2-40B4-BE49-F238E27FC236}">
                    <a16:creationId xmlns:a16="http://schemas.microsoft.com/office/drawing/2014/main" id="{DBC6512E-95DD-42C3-62A4-BC639364334C}"/>
                  </a:ext>
                </a:extLst>
              </p:cNvPr>
              <p:cNvGrpSpPr/>
              <p:nvPr/>
            </p:nvGrpSpPr>
            <p:grpSpPr>
              <a:xfrm>
                <a:off x="6281660" y="4599336"/>
                <a:ext cx="610572" cy="717253"/>
                <a:chOff x="1893239" y="713314"/>
                <a:chExt cx="510395" cy="599572"/>
              </a:xfrm>
            </p:grpSpPr>
            <p:sp>
              <p:nvSpPr>
                <p:cNvPr id="5841" name="Google Shape;1444;p16">
                  <a:extLst>
                    <a:ext uri="{FF2B5EF4-FFF2-40B4-BE49-F238E27FC236}">
                      <a16:creationId xmlns:a16="http://schemas.microsoft.com/office/drawing/2014/main" id="{1C85DACE-1D89-4A0C-F300-4BB0250337F6}"/>
                    </a:ext>
                  </a:extLst>
                </p:cNvPr>
                <p:cNvSpPr/>
                <p:nvPr/>
              </p:nvSpPr>
              <p:spPr>
                <a:xfrm>
                  <a:off x="1893239" y="713314"/>
                  <a:ext cx="510395" cy="599572"/>
                </a:xfrm>
                <a:custGeom>
                  <a:avLst/>
                  <a:gdLst/>
                  <a:ahLst/>
                  <a:cxnLst/>
                  <a:rect l="l" t="t" r="r" b="b"/>
                  <a:pathLst>
                    <a:path w="510395" h="599572" extrusionOk="0">
                      <a:moveTo>
                        <a:pt x="254881" y="18974"/>
                      </a:moveTo>
                      <a:lnTo>
                        <a:pt x="259941" y="22136"/>
                      </a:lnTo>
                      <a:cubicBezTo>
                        <a:pt x="294726" y="43640"/>
                        <a:pt x="330777" y="63246"/>
                        <a:pt x="368092" y="79058"/>
                      </a:cubicBezTo>
                      <a:cubicBezTo>
                        <a:pt x="406039" y="96134"/>
                        <a:pt x="445884" y="110048"/>
                        <a:pt x="486362" y="120800"/>
                      </a:cubicBezTo>
                      <a:lnTo>
                        <a:pt x="493319" y="122697"/>
                      </a:lnTo>
                      <a:lnTo>
                        <a:pt x="493319" y="263736"/>
                      </a:lnTo>
                      <a:cubicBezTo>
                        <a:pt x="493319" y="356707"/>
                        <a:pt x="456636" y="436397"/>
                        <a:pt x="385168" y="501541"/>
                      </a:cubicBezTo>
                      <a:cubicBezTo>
                        <a:pt x="323820" y="557197"/>
                        <a:pt x="259941" y="579966"/>
                        <a:pt x="257411" y="581231"/>
                      </a:cubicBezTo>
                      <a:lnTo>
                        <a:pt x="253616" y="582496"/>
                      </a:lnTo>
                      <a:lnTo>
                        <a:pt x="251087" y="581863"/>
                      </a:lnTo>
                      <a:cubicBezTo>
                        <a:pt x="239702" y="577436"/>
                        <a:pt x="15179" y="488892"/>
                        <a:pt x="15179" y="263736"/>
                      </a:cubicBezTo>
                      <a:lnTo>
                        <a:pt x="15179" y="122697"/>
                      </a:lnTo>
                      <a:lnTo>
                        <a:pt x="22769" y="120800"/>
                      </a:lnTo>
                      <a:cubicBezTo>
                        <a:pt x="63246" y="110048"/>
                        <a:pt x="102459" y="96134"/>
                        <a:pt x="140406" y="79058"/>
                      </a:cubicBezTo>
                      <a:cubicBezTo>
                        <a:pt x="177721" y="62614"/>
                        <a:pt x="214404" y="43640"/>
                        <a:pt x="249189" y="21504"/>
                      </a:cubicBezTo>
                      <a:lnTo>
                        <a:pt x="254881" y="18974"/>
                      </a:lnTo>
                      <a:moveTo>
                        <a:pt x="254881" y="0"/>
                      </a:moveTo>
                      <a:lnTo>
                        <a:pt x="240967" y="8854"/>
                      </a:lnTo>
                      <a:cubicBezTo>
                        <a:pt x="207447" y="30358"/>
                        <a:pt x="171397" y="49332"/>
                        <a:pt x="134714" y="65143"/>
                      </a:cubicBezTo>
                      <a:cubicBezTo>
                        <a:pt x="97399" y="81587"/>
                        <a:pt x="58186" y="95501"/>
                        <a:pt x="18974" y="106253"/>
                      </a:cubicBezTo>
                      <a:lnTo>
                        <a:pt x="0" y="110681"/>
                      </a:lnTo>
                      <a:lnTo>
                        <a:pt x="0" y="263736"/>
                      </a:lnTo>
                      <a:cubicBezTo>
                        <a:pt x="0" y="500908"/>
                        <a:pt x="235908" y="592615"/>
                        <a:pt x="246027" y="596410"/>
                      </a:cubicBezTo>
                      <a:lnTo>
                        <a:pt x="254881" y="599572"/>
                      </a:lnTo>
                      <a:lnTo>
                        <a:pt x="263736" y="596410"/>
                      </a:lnTo>
                      <a:lnTo>
                        <a:pt x="263736" y="595777"/>
                      </a:lnTo>
                      <a:cubicBezTo>
                        <a:pt x="289667" y="586290"/>
                        <a:pt x="510395" y="495216"/>
                        <a:pt x="510395" y="263103"/>
                      </a:cubicBezTo>
                      <a:lnTo>
                        <a:pt x="510395" y="110681"/>
                      </a:lnTo>
                      <a:lnTo>
                        <a:pt x="491421" y="105621"/>
                      </a:lnTo>
                      <a:cubicBezTo>
                        <a:pt x="452209" y="94869"/>
                        <a:pt x="412996" y="81587"/>
                        <a:pt x="375681" y="64511"/>
                      </a:cubicBezTo>
                      <a:cubicBezTo>
                        <a:pt x="338999" y="48699"/>
                        <a:pt x="303581" y="29726"/>
                        <a:pt x="269428" y="8222"/>
                      </a:cubicBezTo>
                      <a:lnTo>
                        <a:pt x="254881" y="0"/>
                      </a:lnTo>
                      <a:lnTo>
                        <a:pt x="254881" y="0"/>
                      </a:lnTo>
                      <a:close/>
                    </a:path>
                  </a:pathLst>
                </a:custGeom>
                <a:solidFill>
                  <a:schemeClr val="lt1"/>
                </a:solidFill>
                <a:ln>
                  <a:noFill/>
                </a:ln>
              </p:spPr>
              <p:txBody>
                <a:bodyPr spcFirstLastPara="1" wrap="square" lIns="86825" tIns="43400" rIns="86825"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5842" name="Google Shape;1445;p16">
                  <a:extLst>
                    <a:ext uri="{FF2B5EF4-FFF2-40B4-BE49-F238E27FC236}">
                      <a16:creationId xmlns:a16="http://schemas.microsoft.com/office/drawing/2014/main" id="{42FB0232-6D4F-D014-8D51-5B19132D2A23}"/>
                    </a:ext>
                  </a:extLst>
                </p:cNvPr>
                <p:cNvSpPr/>
                <p:nvPr/>
              </p:nvSpPr>
              <p:spPr>
                <a:xfrm>
                  <a:off x="2030483" y="933410"/>
                  <a:ext cx="244129" cy="178986"/>
                </a:xfrm>
                <a:custGeom>
                  <a:avLst/>
                  <a:gdLst/>
                  <a:ahLst/>
                  <a:cxnLst/>
                  <a:rect l="l" t="t" r="r" b="b"/>
                  <a:pathLst>
                    <a:path w="244129" h="178986" extrusionOk="0">
                      <a:moveTo>
                        <a:pt x="75895" y="178986"/>
                      </a:moveTo>
                      <a:lnTo>
                        <a:pt x="0" y="103091"/>
                      </a:lnTo>
                      <a:lnTo>
                        <a:pt x="11384" y="92339"/>
                      </a:lnTo>
                      <a:lnTo>
                        <a:pt x="75895" y="156850"/>
                      </a:lnTo>
                      <a:lnTo>
                        <a:pt x="232745" y="0"/>
                      </a:lnTo>
                      <a:lnTo>
                        <a:pt x="244130" y="10752"/>
                      </a:lnTo>
                      <a:close/>
                    </a:path>
                  </a:pathLst>
                </a:custGeom>
                <a:solidFill>
                  <a:schemeClr val="lt1"/>
                </a:solidFill>
                <a:ln>
                  <a:noFill/>
                </a:ln>
              </p:spPr>
              <p:txBody>
                <a:bodyPr spcFirstLastPara="1" wrap="square" lIns="86825" tIns="43400" rIns="86825"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grpSp>
        </p:grpSp>
      </p:grpSp>
      <p:pic>
        <p:nvPicPr>
          <p:cNvPr id="5845" name="Google Shape;5763;p31">
            <a:extLst>
              <a:ext uri="{FF2B5EF4-FFF2-40B4-BE49-F238E27FC236}">
                <a16:creationId xmlns:a16="http://schemas.microsoft.com/office/drawing/2014/main" id="{5E176ECA-4FBD-49C3-B44D-0ABC9ACA09AE}"/>
              </a:ext>
            </a:extLst>
          </p:cNvPr>
          <p:cNvPicPr preferRelativeResize="0">
            <a:picLocks noChangeAspect="1"/>
          </p:cNvPicPr>
          <p:nvPr/>
        </p:nvPicPr>
        <p:blipFill rotWithShape="1">
          <a:blip r:embed="rId4">
            <a:alphaModFix/>
          </a:blip>
          <a:srcRect/>
          <a:stretch/>
        </p:blipFill>
        <p:spPr>
          <a:xfrm>
            <a:off x="1821468" y="3585547"/>
            <a:ext cx="293977" cy="293977"/>
          </a:xfrm>
          <a:prstGeom prst="rect">
            <a:avLst/>
          </a:prstGeom>
          <a:noFill/>
          <a:ln>
            <a:noFill/>
          </a:ln>
        </p:spPr>
      </p:pic>
      <p:pic>
        <p:nvPicPr>
          <p:cNvPr id="5846" name="Google Shape;5770;p31">
            <a:extLst>
              <a:ext uri="{FF2B5EF4-FFF2-40B4-BE49-F238E27FC236}">
                <a16:creationId xmlns:a16="http://schemas.microsoft.com/office/drawing/2014/main" id="{B9159A92-7A24-F515-F62E-F5211EFCE3AA}"/>
              </a:ext>
            </a:extLst>
          </p:cNvPr>
          <p:cNvPicPr preferRelativeResize="0"/>
          <p:nvPr/>
        </p:nvPicPr>
        <p:blipFill rotWithShape="1">
          <a:blip r:embed="rId3">
            <a:alphaModFix/>
          </a:blip>
          <a:srcRect/>
          <a:stretch/>
        </p:blipFill>
        <p:spPr>
          <a:xfrm>
            <a:off x="2191322" y="3627058"/>
            <a:ext cx="391969" cy="391969"/>
          </a:xfrm>
          <a:prstGeom prst="rect">
            <a:avLst/>
          </a:prstGeom>
          <a:noFill/>
          <a:ln>
            <a:noFill/>
          </a:ln>
        </p:spPr>
      </p:pic>
      <p:pic>
        <p:nvPicPr>
          <p:cNvPr id="5851" name="Google Shape;5763;p31">
            <a:extLst>
              <a:ext uri="{FF2B5EF4-FFF2-40B4-BE49-F238E27FC236}">
                <a16:creationId xmlns:a16="http://schemas.microsoft.com/office/drawing/2014/main" id="{D22C1F5C-2F88-F519-5A0A-1846D09DD088}"/>
              </a:ext>
            </a:extLst>
          </p:cNvPr>
          <p:cNvPicPr preferRelativeResize="0"/>
          <p:nvPr/>
        </p:nvPicPr>
        <p:blipFill rotWithShape="1">
          <a:blip r:embed="rId4">
            <a:alphaModFix/>
          </a:blip>
          <a:srcRect/>
          <a:stretch/>
        </p:blipFill>
        <p:spPr>
          <a:xfrm>
            <a:off x="3175113" y="3630680"/>
            <a:ext cx="391969" cy="391969"/>
          </a:xfrm>
          <a:prstGeom prst="rect">
            <a:avLst/>
          </a:prstGeom>
          <a:noFill/>
          <a:ln>
            <a:noFill/>
          </a:ln>
        </p:spPr>
      </p:pic>
      <p:pic>
        <p:nvPicPr>
          <p:cNvPr id="5852" name="Google Shape;5763;p31">
            <a:extLst>
              <a:ext uri="{FF2B5EF4-FFF2-40B4-BE49-F238E27FC236}">
                <a16:creationId xmlns:a16="http://schemas.microsoft.com/office/drawing/2014/main" id="{F9121C08-1F41-09E3-4B76-16FD404FF937}"/>
              </a:ext>
            </a:extLst>
          </p:cNvPr>
          <p:cNvPicPr preferRelativeResize="0">
            <a:picLocks noChangeAspect="1"/>
          </p:cNvPicPr>
          <p:nvPr/>
        </p:nvPicPr>
        <p:blipFill rotWithShape="1">
          <a:blip r:embed="rId4">
            <a:alphaModFix/>
          </a:blip>
          <a:srcRect/>
          <a:stretch/>
        </p:blipFill>
        <p:spPr>
          <a:xfrm>
            <a:off x="9542808" y="4251020"/>
            <a:ext cx="293977" cy="293977"/>
          </a:xfrm>
          <a:prstGeom prst="rect">
            <a:avLst/>
          </a:prstGeom>
          <a:noFill/>
          <a:ln>
            <a:noFill/>
          </a:ln>
        </p:spPr>
      </p:pic>
      <p:sp>
        <p:nvSpPr>
          <p:cNvPr id="22" name="Google Shape;5793;p31">
            <a:extLst>
              <a:ext uri="{FF2B5EF4-FFF2-40B4-BE49-F238E27FC236}">
                <a16:creationId xmlns:a16="http://schemas.microsoft.com/office/drawing/2014/main" id="{DC556C40-8799-90B3-82C3-942B6595BB0F}"/>
              </a:ext>
            </a:extLst>
          </p:cNvPr>
          <p:cNvSpPr txBox="1"/>
          <p:nvPr/>
        </p:nvSpPr>
        <p:spPr>
          <a:xfrm>
            <a:off x="8277195" y="3951243"/>
            <a:ext cx="3166775" cy="159640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Operations</a:t>
            </a:r>
            <a:endParaRPr sz="1800" dirty="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Infrastructure</a:t>
            </a:r>
            <a:endParaRPr sz="1800" dirty="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Resiliency</a:t>
            </a:r>
          </a:p>
          <a:p>
            <a:pPr marL="342900" marR="0" lvl="0" indent="-342900" algn="l" rtl="0">
              <a:lnSpc>
                <a:spcPct val="100000"/>
              </a:lnSpc>
              <a:spcBef>
                <a:spcPts val="60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Security</a:t>
            </a:r>
            <a:endParaRPr sz="1800" dirty="0">
              <a:solidFill>
                <a:schemeClr val="dk1"/>
              </a:solidFill>
              <a:latin typeface="Arial"/>
              <a:ea typeface="Arial"/>
              <a:cs typeface="Arial"/>
              <a:sym typeface="Arial"/>
            </a:endParaRPr>
          </a:p>
          <a:p>
            <a:pPr marR="0" lvl="0" algn="l" rtl="0">
              <a:lnSpc>
                <a:spcPct val="100000"/>
              </a:lnSpc>
              <a:spcBef>
                <a:spcPts val="0"/>
              </a:spcBef>
              <a:spcAft>
                <a:spcPts val="0"/>
              </a:spcAft>
              <a:buClr>
                <a:srgbClr val="666666"/>
              </a:buClr>
              <a:buSzPts val="1170"/>
            </a:pPr>
            <a:endParaRPr sz="1800" dirty="0">
              <a:solidFill>
                <a:schemeClr val="dk1"/>
              </a:solidFill>
              <a:latin typeface="Arial"/>
              <a:ea typeface="Arial"/>
              <a:cs typeface="Arial"/>
              <a:sym typeface="Arial"/>
            </a:endParaRPr>
          </a:p>
          <a:p>
            <a:pPr marL="342900" marR="0" lvl="0" indent="-228600" algn="l" rtl="0">
              <a:lnSpc>
                <a:spcPct val="100000"/>
              </a:lnSpc>
              <a:spcBef>
                <a:spcPts val="600"/>
              </a:spcBef>
              <a:spcAft>
                <a:spcPts val="0"/>
              </a:spcAft>
              <a:buClr>
                <a:srgbClr val="666666"/>
              </a:buClr>
              <a:buSzPts val="1800"/>
              <a:buFont typeface="Arial"/>
              <a:buNone/>
            </a:pPr>
            <a:endParaRPr sz="2000" dirty="0">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666666"/>
              </a:buClr>
              <a:buSzPts val="1800"/>
              <a:buFont typeface="Arial"/>
              <a:buNone/>
            </a:pPr>
            <a:endParaRPr sz="2000" dirty="0">
              <a:solidFill>
                <a:schemeClr val="dk1"/>
              </a:solidFill>
              <a:latin typeface="Arial"/>
              <a:ea typeface="Arial"/>
              <a:cs typeface="Arial"/>
              <a:sym typeface="Arial"/>
            </a:endParaRPr>
          </a:p>
        </p:txBody>
      </p:sp>
      <p:pic>
        <p:nvPicPr>
          <p:cNvPr id="2" name="Google Shape;5763;p31">
            <a:extLst>
              <a:ext uri="{FF2B5EF4-FFF2-40B4-BE49-F238E27FC236}">
                <a16:creationId xmlns:a16="http://schemas.microsoft.com/office/drawing/2014/main" id="{EA007C31-AB59-7E77-F356-248FA27673DA}"/>
              </a:ext>
            </a:extLst>
          </p:cNvPr>
          <p:cNvPicPr preferRelativeResize="0">
            <a:picLocks noChangeAspect="1"/>
          </p:cNvPicPr>
          <p:nvPr/>
        </p:nvPicPr>
        <p:blipFill rotWithShape="1">
          <a:blip r:embed="rId4">
            <a:alphaModFix/>
          </a:blip>
          <a:srcRect/>
          <a:stretch/>
        </p:blipFill>
        <p:spPr>
          <a:xfrm>
            <a:off x="3733397" y="4001186"/>
            <a:ext cx="293977" cy="29397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75">
          <a:extLst>
            <a:ext uri="{FF2B5EF4-FFF2-40B4-BE49-F238E27FC236}">
              <a16:creationId xmlns:a16="http://schemas.microsoft.com/office/drawing/2014/main" id="{9A41DFF5-CCBF-7921-4DA1-5D1E43FA9875}"/>
            </a:ext>
          </a:extLst>
        </p:cNvPr>
        <p:cNvGrpSpPr/>
        <p:nvPr/>
      </p:nvGrpSpPr>
      <p:grpSpPr>
        <a:xfrm>
          <a:off x="0" y="0"/>
          <a:ext cx="0" cy="0"/>
          <a:chOff x="0" y="0"/>
          <a:chExt cx="0" cy="0"/>
        </a:xfrm>
      </p:grpSpPr>
      <p:sp>
        <p:nvSpPr>
          <p:cNvPr id="2876" name="Google Shape;2876;p39">
            <a:extLst>
              <a:ext uri="{FF2B5EF4-FFF2-40B4-BE49-F238E27FC236}">
                <a16:creationId xmlns:a16="http://schemas.microsoft.com/office/drawing/2014/main" id="{25CF291B-1808-3257-8A40-0C5998155E9C}"/>
              </a:ext>
            </a:extLst>
          </p:cNvPr>
          <p:cNvSpPr txBox="1">
            <a:spLocks noGrp="1"/>
          </p:cNvSpPr>
          <p:nvPr>
            <p:ph type="title"/>
          </p:nvPr>
        </p:nvSpPr>
        <p:spPr>
          <a:xfrm>
            <a:off x="589107" y="938794"/>
            <a:ext cx="6555971" cy="1229360"/>
          </a:xfrm>
        </p:spPr>
        <p:txBody>
          <a:bodyPr spcFirstLastPara="1" wrap="square" lIns="0" tIns="0" rIns="0" bIns="0" anchor="b" anchorCtr="0">
            <a:normAutofit/>
          </a:bodyPr>
          <a:lstStyle/>
          <a:p>
            <a:pPr marL="0" lvl="0" indent="0" rtl="0">
              <a:spcBef>
                <a:spcPts val="0"/>
              </a:spcBef>
              <a:spcAft>
                <a:spcPts val="0"/>
              </a:spcAft>
              <a:buClr>
                <a:schemeClr val="accent2"/>
              </a:buClr>
              <a:buSzPts val="3600"/>
              <a:buFont typeface="Arial"/>
              <a:buNone/>
            </a:pPr>
            <a:r>
              <a:rPr lang="en-US" dirty="0"/>
              <a:t>Modernize infrastructure</a:t>
            </a:r>
            <a:endParaRPr lang="en-AU" dirty="0"/>
          </a:p>
        </p:txBody>
      </p:sp>
      <p:sp>
        <p:nvSpPr>
          <p:cNvPr id="2877" name="Google Shape;2877;p39">
            <a:extLst>
              <a:ext uri="{FF2B5EF4-FFF2-40B4-BE49-F238E27FC236}">
                <a16:creationId xmlns:a16="http://schemas.microsoft.com/office/drawing/2014/main" id="{EC77ED7E-1112-25FC-FDB2-3A1E7C5443E3}"/>
              </a:ext>
            </a:extLst>
          </p:cNvPr>
          <p:cNvSpPr txBox="1">
            <a:spLocks noGrp="1"/>
          </p:cNvSpPr>
          <p:nvPr>
            <p:ph type="subTitle" idx="10"/>
          </p:nvPr>
        </p:nvSpPr>
        <p:spPr>
          <a:xfrm>
            <a:off x="602966" y="2267712"/>
            <a:ext cx="6542112" cy="700882"/>
          </a:xfrm>
        </p:spPr>
        <p:txBody>
          <a:bodyPr spcFirstLastPara="1" lIns="0" tIns="0" rIns="0" bIns="0" anchorCtr="0">
            <a:normAutofit/>
          </a:bodyPr>
          <a:lstStyle/>
          <a:p>
            <a:pPr marL="0" lvl="0" indent="0" rtl="0">
              <a:spcBef>
                <a:spcPts val="0"/>
              </a:spcBef>
              <a:spcAft>
                <a:spcPts val="600"/>
              </a:spcAft>
              <a:buSzPts val="2160"/>
              <a:buNone/>
            </a:pPr>
            <a:r>
              <a:rPr lang="en-US" dirty="0"/>
              <a:t>VCF Architecture &amp; Topologies</a:t>
            </a:r>
          </a:p>
        </p:txBody>
      </p:sp>
    </p:spTree>
    <p:extLst>
      <p:ext uri="{BB962C8B-B14F-4D97-AF65-F5344CB8AC3E}">
        <p14:creationId xmlns:p14="http://schemas.microsoft.com/office/powerpoint/2010/main" val="2204431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C0DAA-4328-EB57-DE3E-A1E8DF776401}"/>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A9832DE6-E15A-86F2-2937-97DE12766331}"/>
              </a:ext>
            </a:extLst>
          </p:cNvPr>
          <p:cNvSpPr>
            <a:spLocks noGrp="1"/>
          </p:cNvSpPr>
          <p:nvPr>
            <p:ph type="title"/>
          </p:nvPr>
        </p:nvSpPr>
        <p:spPr/>
        <p:txBody>
          <a:bodyPr/>
          <a:lstStyle/>
          <a:p>
            <a:r>
              <a:rPr lang="en-US" dirty="0">
                <a:solidFill>
                  <a:schemeClr val="accent2"/>
                </a:solidFill>
                <a:latin typeface="Arial" panose="020B0604020202020204" pitchFamily="34" charset="0"/>
              </a:rPr>
              <a:t>Private Cloud Building Blocks</a:t>
            </a:r>
          </a:p>
        </p:txBody>
      </p:sp>
      <p:sp>
        <p:nvSpPr>
          <p:cNvPr id="2" name="Text Placeholder 1">
            <a:extLst>
              <a:ext uri="{FF2B5EF4-FFF2-40B4-BE49-F238E27FC236}">
                <a16:creationId xmlns:a16="http://schemas.microsoft.com/office/drawing/2014/main" id="{BAAA14F8-61B6-7F73-E372-9ED8EC51861B}"/>
              </a:ext>
            </a:extLst>
          </p:cNvPr>
          <p:cNvSpPr>
            <a:spLocks noGrp="1"/>
          </p:cNvSpPr>
          <p:nvPr>
            <p:ph type="body" sz="quarter" idx="12"/>
          </p:nvPr>
        </p:nvSpPr>
        <p:spPr/>
        <p:txBody>
          <a:bodyPr/>
          <a:lstStyle/>
          <a:p>
            <a:r>
              <a:rPr lang="en-US" sz="2000" dirty="0">
                <a:solidFill>
                  <a:schemeClr val="tx1"/>
                </a:solidFill>
                <a:latin typeface="Arial" panose="020B0604020202020204" pitchFamily="34" charset="0"/>
              </a:rPr>
              <a:t>Workload Domains</a:t>
            </a:r>
          </a:p>
        </p:txBody>
      </p:sp>
      <p:sp>
        <p:nvSpPr>
          <p:cNvPr id="242" name="Isosceles Triangle 241">
            <a:extLst>
              <a:ext uri="{FF2B5EF4-FFF2-40B4-BE49-F238E27FC236}">
                <a16:creationId xmlns:a16="http://schemas.microsoft.com/office/drawing/2014/main" id="{DBCEF8C9-DAE0-0B52-7F51-18129CD8659C}"/>
              </a:ext>
              <a:ext uri="{C183D7F6-B498-43B3-948B-1728B52AA6E4}">
                <adec:decorative xmlns:adec="http://schemas.microsoft.com/office/drawing/2017/decorative" val="1"/>
              </a:ext>
            </a:extLst>
          </p:cNvPr>
          <p:cNvSpPr/>
          <p:nvPr/>
        </p:nvSpPr>
        <p:spPr>
          <a:xfrm rot="16200000">
            <a:off x="2550456" y="2841791"/>
            <a:ext cx="4282556" cy="1777077"/>
          </a:xfrm>
          <a:prstGeom prst="triangle">
            <a:avLst>
              <a:gd name="adj" fmla="val 50000"/>
            </a:avLst>
          </a:prstGeom>
          <a:gradFill flip="none" rotWithShape="1">
            <a:gsLst>
              <a:gs pos="0">
                <a:schemeClr val="accent2">
                  <a:alpha val="49000"/>
                </a:schemeClr>
              </a:gs>
              <a:gs pos="100000">
                <a:srgbClr val="F4F8FA">
                  <a:alpha val="0"/>
                </a:srgbClr>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92" tIns="45696" rIns="91392" bIns="4569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35" name="Google Shape;6678;g2d30ebb658d_0_19789">
            <a:extLst>
              <a:ext uri="{FF2B5EF4-FFF2-40B4-BE49-F238E27FC236}">
                <a16:creationId xmlns:a16="http://schemas.microsoft.com/office/drawing/2014/main" id="{2F4B0D97-B31E-7FF7-6F00-55A623C2BCD0}"/>
              </a:ext>
            </a:extLst>
          </p:cNvPr>
          <p:cNvSpPr/>
          <p:nvPr/>
        </p:nvSpPr>
        <p:spPr>
          <a:xfrm>
            <a:off x="5309244" y="1585347"/>
            <a:ext cx="4478177" cy="4286261"/>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36" name="Google Shape;6705;g2d30ebb658d_0_19789">
            <a:extLst>
              <a:ext uri="{FF2B5EF4-FFF2-40B4-BE49-F238E27FC236}">
                <a16:creationId xmlns:a16="http://schemas.microsoft.com/office/drawing/2014/main" id="{5032EC8B-1990-3420-0FFB-7A136FEBEE12}"/>
              </a:ext>
            </a:extLst>
          </p:cNvPr>
          <p:cNvSpPr/>
          <p:nvPr/>
        </p:nvSpPr>
        <p:spPr>
          <a:xfrm>
            <a:off x="5437040" y="4102628"/>
            <a:ext cx="4203185" cy="1558915"/>
          </a:xfrm>
          <a:prstGeom prst="roundRect">
            <a:avLst>
              <a:gd name="adj" fmla="val 6349"/>
            </a:avLst>
          </a:prstGeom>
          <a:gradFill>
            <a:gsLst>
              <a:gs pos="0">
                <a:schemeClr val="accent2"/>
              </a:gs>
              <a:gs pos="99000">
                <a:schemeClr val="accent5"/>
              </a:gs>
              <a:gs pos="100000">
                <a:schemeClr val="accent5"/>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rgbClr val="FFFFFF"/>
              </a:solidFill>
              <a:latin typeface="Arial"/>
              <a:ea typeface="Arial"/>
              <a:cs typeface="Arial"/>
              <a:sym typeface="Arial"/>
            </a:endParaRPr>
          </a:p>
        </p:txBody>
      </p:sp>
      <p:grpSp>
        <p:nvGrpSpPr>
          <p:cNvPr id="37" name="Google Shape;6707;g2d30ebb658d_0_19789">
            <a:extLst>
              <a:ext uri="{FF2B5EF4-FFF2-40B4-BE49-F238E27FC236}">
                <a16:creationId xmlns:a16="http://schemas.microsoft.com/office/drawing/2014/main" id="{5159C5F8-494D-8A30-051B-27C4C8962F8F}"/>
              </a:ext>
            </a:extLst>
          </p:cNvPr>
          <p:cNvGrpSpPr/>
          <p:nvPr/>
        </p:nvGrpSpPr>
        <p:grpSpPr>
          <a:xfrm>
            <a:off x="8526140" y="4304835"/>
            <a:ext cx="975279" cy="975280"/>
            <a:chOff x="10656543" y="2484407"/>
            <a:chExt cx="903000" cy="903000"/>
          </a:xfrm>
        </p:grpSpPr>
        <p:sp>
          <p:nvSpPr>
            <p:cNvPr id="60" name="Google Shape;6708;g2d30ebb658d_0_19789">
              <a:extLst>
                <a:ext uri="{FF2B5EF4-FFF2-40B4-BE49-F238E27FC236}">
                  <a16:creationId xmlns:a16="http://schemas.microsoft.com/office/drawing/2014/main" id="{62B06B29-3AF0-7BA8-ED9C-2E9B816E18F6}"/>
                </a:ext>
              </a:extLst>
            </p:cNvPr>
            <p:cNvSpPr/>
            <p:nvPr/>
          </p:nvSpPr>
          <p:spPr>
            <a:xfrm>
              <a:off x="10656543" y="2484407"/>
              <a:ext cx="903000" cy="903000"/>
            </a:xfrm>
            <a:prstGeom prst="ellipse">
              <a:avLst/>
            </a:prstGeom>
            <a:solidFill>
              <a:schemeClr val="dk2">
                <a:alpha val="498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61" name="Google Shape;6709;g2d30ebb658d_0_19789">
              <a:extLst>
                <a:ext uri="{FF2B5EF4-FFF2-40B4-BE49-F238E27FC236}">
                  <a16:creationId xmlns:a16="http://schemas.microsoft.com/office/drawing/2014/main" id="{61E109CB-DC56-D7E1-E0EC-0B69653A1D98}"/>
                </a:ext>
              </a:extLst>
            </p:cNvPr>
            <p:cNvSpPr/>
            <p:nvPr/>
          </p:nvSpPr>
          <p:spPr>
            <a:xfrm>
              <a:off x="10810509" y="2635103"/>
              <a:ext cx="595789" cy="595789"/>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8" name="Google Shape;6710;g2d30ebb658d_0_19789">
            <a:extLst>
              <a:ext uri="{FF2B5EF4-FFF2-40B4-BE49-F238E27FC236}">
                <a16:creationId xmlns:a16="http://schemas.microsoft.com/office/drawing/2014/main" id="{0C96B312-715D-22B9-4E49-29CE783306D3}"/>
              </a:ext>
            </a:extLst>
          </p:cNvPr>
          <p:cNvGrpSpPr/>
          <p:nvPr/>
        </p:nvGrpSpPr>
        <p:grpSpPr>
          <a:xfrm>
            <a:off x="5628975" y="4304534"/>
            <a:ext cx="975279" cy="975280"/>
            <a:chOff x="506872" y="5229970"/>
            <a:chExt cx="903000" cy="903000"/>
          </a:xfrm>
        </p:grpSpPr>
        <p:sp>
          <p:nvSpPr>
            <p:cNvPr id="58" name="Google Shape;6711;g2d30ebb658d_0_19789">
              <a:extLst>
                <a:ext uri="{FF2B5EF4-FFF2-40B4-BE49-F238E27FC236}">
                  <a16:creationId xmlns:a16="http://schemas.microsoft.com/office/drawing/2014/main" id="{6DAB14C1-567C-0F5F-C6B5-A51FDE69327A}"/>
                </a:ext>
              </a:extLst>
            </p:cNvPr>
            <p:cNvSpPr/>
            <p:nvPr/>
          </p:nvSpPr>
          <p:spPr>
            <a:xfrm>
              <a:off x="506872" y="5229970"/>
              <a:ext cx="903000" cy="903000"/>
            </a:xfrm>
            <a:prstGeom prst="ellipse">
              <a:avLst/>
            </a:prstGeom>
            <a:solidFill>
              <a:schemeClr val="dk2">
                <a:alpha val="498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59" name="Google Shape;6712;g2d30ebb658d_0_19789">
              <a:extLst>
                <a:ext uri="{FF2B5EF4-FFF2-40B4-BE49-F238E27FC236}">
                  <a16:creationId xmlns:a16="http://schemas.microsoft.com/office/drawing/2014/main" id="{8CFF1503-5369-002F-8E57-6DF70ABEF1F4}"/>
                </a:ext>
              </a:extLst>
            </p:cNvPr>
            <p:cNvSpPr/>
            <p:nvPr/>
          </p:nvSpPr>
          <p:spPr>
            <a:xfrm>
              <a:off x="677425" y="5425363"/>
              <a:ext cx="562432" cy="512692"/>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9" name="Google Shape;6713;g2d30ebb658d_0_19789">
            <a:extLst>
              <a:ext uri="{FF2B5EF4-FFF2-40B4-BE49-F238E27FC236}">
                <a16:creationId xmlns:a16="http://schemas.microsoft.com/office/drawing/2014/main" id="{DB4C0103-F60B-70D0-4063-F17FD6DF67B2}"/>
              </a:ext>
            </a:extLst>
          </p:cNvPr>
          <p:cNvGrpSpPr/>
          <p:nvPr/>
        </p:nvGrpSpPr>
        <p:grpSpPr>
          <a:xfrm>
            <a:off x="7067204" y="4304537"/>
            <a:ext cx="975279" cy="975280"/>
            <a:chOff x="9206590" y="5229970"/>
            <a:chExt cx="903000" cy="903000"/>
          </a:xfrm>
        </p:grpSpPr>
        <p:sp>
          <p:nvSpPr>
            <p:cNvPr id="56" name="Google Shape;6714;g2d30ebb658d_0_19789">
              <a:extLst>
                <a:ext uri="{FF2B5EF4-FFF2-40B4-BE49-F238E27FC236}">
                  <a16:creationId xmlns:a16="http://schemas.microsoft.com/office/drawing/2014/main" id="{194ABA09-0094-0629-3F8C-991B8919A119}"/>
                </a:ext>
              </a:extLst>
            </p:cNvPr>
            <p:cNvSpPr/>
            <p:nvPr/>
          </p:nvSpPr>
          <p:spPr>
            <a:xfrm>
              <a:off x="9206590" y="5229970"/>
              <a:ext cx="903000" cy="903000"/>
            </a:xfrm>
            <a:prstGeom prst="ellipse">
              <a:avLst/>
            </a:prstGeom>
            <a:solidFill>
              <a:schemeClr val="dk2">
                <a:alpha val="498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57" name="Google Shape;6715;g2d30ebb658d_0_19789">
              <a:extLst>
                <a:ext uri="{FF2B5EF4-FFF2-40B4-BE49-F238E27FC236}">
                  <a16:creationId xmlns:a16="http://schemas.microsoft.com/office/drawing/2014/main" id="{0CA64DDD-7B41-AB85-A485-808B95CF1B2A}"/>
                </a:ext>
              </a:extLst>
            </p:cNvPr>
            <p:cNvSpPr/>
            <p:nvPr/>
          </p:nvSpPr>
          <p:spPr>
            <a:xfrm>
              <a:off x="9414720" y="5397931"/>
              <a:ext cx="487267" cy="567716"/>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0" name="Group 39">
            <a:extLst>
              <a:ext uri="{FF2B5EF4-FFF2-40B4-BE49-F238E27FC236}">
                <a16:creationId xmlns:a16="http://schemas.microsoft.com/office/drawing/2014/main" id="{7C2F06DE-C9F4-1FBC-90D3-22B97C57221A}"/>
              </a:ext>
            </a:extLst>
          </p:cNvPr>
          <p:cNvGrpSpPr/>
          <p:nvPr/>
        </p:nvGrpSpPr>
        <p:grpSpPr>
          <a:xfrm>
            <a:off x="7003078" y="2599149"/>
            <a:ext cx="947471" cy="947469"/>
            <a:chOff x="4332370" y="2485235"/>
            <a:chExt cx="664292" cy="664290"/>
          </a:xfrm>
        </p:grpSpPr>
        <p:sp>
          <p:nvSpPr>
            <p:cNvPr id="52" name="Google Shape;6760;g2d30ebb658d_0_19789">
              <a:extLst>
                <a:ext uri="{FF2B5EF4-FFF2-40B4-BE49-F238E27FC236}">
                  <a16:creationId xmlns:a16="http://schemas.microsoft.com/office/drawing/2014/main" id="{19C713FB-A978-2872-FA8B-2D49B6AF16A8}"/>
                </a:ext>
              </a:extLst>
            </p:cNvPr>
            <p:cNvSpPr/>
            <p:nvPr/>
          </p:nvSpPr>
          <p:spPr>
            <a:xfrm>
              <a:off x="4332370" y="2485235"/>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gradFill>
              <a:gsLst>
                <a:gs pos="0">
                  <a:schemeClr val="accent2"/>
                </a:gs>
                <a:gs pos="99000">
                  <a:schemeClr val="accent5"/>
                </a:gs>
                <a:gs pos="100000">
                  <a:schemeClr val="accent5"/>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53" name="Google Shape;6773;g2d30ebb658d_0_19789">
              <a:extLst>
                <a:ext uri="{FF2B5EF4-FFF2-40B4-BE49-F238E27FC236}">
                  <a16:creationId xmlns:a16="http://schemas.microsoft.com/office/drawing/2014/main" id="{CDCF407D-FE71-CED0-84A5-5F1303BEE5C9}"/>
                </a:ext>
              </a:extLst>
            </p:cNvPr>
            <p:cNvSpPr/>
            <p:nvPr/>
          </p:nvSpPr>
          <p:spPr>
            <a:xfrm>
              <a:off x="4479093" y="2627406"/>
              <a:ext cx="220023" cy="227159"/>
            </a:xfrm>
            <a:custGeom>
              <a:avLst/>
              <a:gdLst/>
              <a:ahLst/>
              <a:cxnLst/>
              <a:rect l="l" t="t" r="r" b="b"/>
              <a:pathLst>
                <a:path w="349947" h="361296" extrusionOk="0">
                  <a:moveTo>
                    <a:pt x="315611" y="167464"/>
                  </a:moveTo>
                  <a:lnTo>
                    <a:pt x="349858" y="143737"/>
                  </a:lnTo>
                  <a:lnTo>
                    <a:pt x="349366" y="141544"/>
                  </a:lnTo>
                  <a:cubicBezTo>
                    <a:pt x="348112" y="135858"/>
                    <a:pt x="346590" y="130262"/>
                    <a:pt x="344889" y="124845"/>
                  </a:cubicBezTo>
                  <a:cubicBezTo>
                    <a:pt x="343143" y="119429"/>
                    <a:pt x="341129" y="114012"/>
                    <a:pt x="338801" y="108684"/>
                  </a:cubicBezTo>
                  <a:lnTo>
                    <a:pt x="337950" y="106625"/>
                  </a:lnTo>
                  <a:lnTo>
                    <a:pt x="296451" y="107789"/>
                  </a:lnTo>
                  <a:cubicBezTo>
                    <a:pt x="292063" y="100268"/>
                    <a:pt x="286870" y="93105"/>
                    <a:pt x="281095" y="86435"/>
                  </a:cubicBezTo>
                  <a:lnTo>
                    <a:pt x="295063" y="46860"/>
                  </a:lnTo>
                  <a:lnTo>
                    <a:pt x="293406" y="45383"/>
                  </a:lnTo>
                  <a:cubicBezTo>
                    <a:pt x="284856" y="37773"/>
                    <a:pt x="275544" y="30923"/>
                    <a:pt x="265740" y="25103"/>
                  </a:cubicBezTo>
                  <a:lnTo>
                    <a:pt x="263815" y="23984"/>
                  </a:lnTo>
                  <a:lnTo>
                    <a:pt x="230911" y="49546"/>
                  </a:lnTo>
                  <a:cubicBezTo>
                    <a:pt x="222987" y="46099"/>
                    <a:pt x="214660" y="43369"/>
                    <a:pt x="206110" y="41399"/>
                  </a:cubicBezTo>
                  <a:lnTo>
                    <a:pt x="194381" y="1063"/>
                  </a:lnTo>
                  <a:lnTo>
                    <a:pt x="192142" y="839"/>
                  </a:lnTo>
                  <a:cubicBezTo>
                    <a:pt x="180816" y="-280"/>
                    <a:pt x="169311" y="-280"/>
                    <a:pt x="157940" y="839"/>
                  </a:cubicBezTo>
                  <a:lnTo>
                    <a:pt x="155746" y="1063"/>
                  </a:lnTo>
                  <a:lnTo>
                    <a:pt x="143972" y="41354"/>
                  </a:lnTo>
                  <a:cubicBezTo>
                    <a:pt x="139675" y="42339"/>
                    <a:pt x="135467" y="43503"/>
                    <a:pt x="131348" y="44846"/>
                  </a:cubicBezTo>
                  <a:cubicBezTo>
                    <a:pt x="127274" y="46189"/>
                    <a:pt x="123155" y="47756"/>
                    <a:pt x="119126" y="49502"/>
                  </a:cubicBezTo>
                  <a:lnTo>
                    <a:pt x="86178" y="23850"/>
                  </a:lnTo>
                  <a:lnTo>
                    <a:pt x="84253" y="25014"/>
                  </a:lnTo>
                  <a:cubicBezTo>
                    <a:pt x="74448" y="30834"/>
                    <a:pt x="65137" y="37638"/>
                    <a:pt x="56586" y="45294"/>
                  </a:cubicBezTo>
                  <a:lnTo>
                    <a:pt x="54930" y="46771"/>
                  </a:lnTo>
                  <a:lnTo>
                    <a:pt x="68852" y="86390"/>
                  </a:lnTo>
                  <a:cubicBezTo>
                    <a:pt x="63077" y="93061"/>
                    <a:pt x="57929" y="100223"/>
                    <a:pt x="53497" y="107744"/>
                  </a:cubicBezTo>
                  <a:lnTo>
                    <a:pt x="11998" y="106580"/>
                  </a:lnTo>
                  <a:lnTo>
                    <a:pt x="11102" y="108640"/>
                  </a:lnTo>
                  <a:cubicBezTo>
                    <a:pt x="6536" y="119205"/>
                    <a:pt x="2999" y="130262"/>
                    <a:pt x="492" y="141499"/>
                  </a:cubicBezTo>
                  <a:lnTo>
                    <a:pt x="0" y="143693"/>
                  </a:lnTo>
                  <a:lnTo>
                    <a:pt x="34292" y="167464"/>
                  </a:lnTo>
                  <a:cubicBezTo>
                    <a:pt x="33486" y="176283"/>
                    <a:pt x="33486" y="185147"/>
                    <a:pt x="34292" y="193832"/>
                  </a:cubicBezTo>
                  <a:lnTo>
                    <a:pt x="0" y="217559"/>
                  </a:lnTo>
                  <a:lnTo>
                    <a:pt x="492" y="219753"/>
                  </a:lnTo>
                  <a:cubicBezTo>
                    <a:pt x="1746" y="225393"/>
                    <a:pt x="3268" y="230989"/>
                    <a:pt x="5014" y="236451"/>
                  </a:cubicBezTo>
                  <a:cubicBezTo>
                    <a:pt x="6760" y="241868"/>
                    <a:pt x="8774" y="247285"/>
                    <a:pt x="11058" y="252612"/>
                  </a:cubicBezTo>
                  <a:lnTo>
                    <a:pt x="11953" y="254671"/>
                  </a:lnTo>
                  <a:lnTo>
                    <a:pt x="53452" y="253507"/>
                  </a:lnTo>
                  <a:cubicBezTo>
                    <a:pt x="57884" y="261028"/>
                    <a:pt x="63033" y="268236"/>
                    <a:pt x="68808" y="274861"/>
                  </a:cubicBezTo>
                  <a:lnTo>
                    <a:pt x="54840" y="314436"/>
                  </a:lnTo>
                  <a:lnTo>
                    <a:pt x="56497" y="315958"/>
                  </a:lnTo>
                  <a:cubicBezTo>
                    <a:pt x="65002" y="323569"/>
                    <a:pt x="74359" y="330373"/>
                    <a:pt x="84163" y="336238"/>
                  </a:cubicBezTo>
                  <a:lnTo>
                    <a:pt x="86088" y="337357"/>
                  </a:lnTo>
                  <a:lnTo>
                    <a:pt x="118992" y="311750"/>
                  </a:lnTo>
                  <a:cubicBezTo>
                    <a:pt x="126916" y="315197"/>
                    <a:pt x="135287" y="317928"/>
                    <a:pt x="143838" y="319898"/>
                  </a:cubicBezTo>
                  <a:lnTo>
                    <a:pt x="155612" y="360233"/>
                  </a:lnTo>
                  <a:lnTo>
                    <a:pt x="157850" y="360457"/>
                  </a:lnTo>
                  <a:cubicBezTo>
                    <a:pt x="169177" y="361576"/>
                    <a:pt x="180682" y="361576"/>
                    <a:pt x="192008" y="360457"/>
                  </a:cubicBezTo>
                  <a:lnTo>
                    <a:pt x="194202" y="360233"/>
                  </a:lnTo>
                  <a:lnTo>
                    <a:pt x="205975" y="319942"/>
                  </a:lnTo>
                  <a:cubicBezTo>
                    <a:pt x="210273" y="318958"/>
                    <a:pt x="214481" y="317794"/>
                    <a:pt x="218600" y="316451"/>
                  </a:cubicBezTo>
                  <a:cubicBezTo>
                    <a:pt x="222718" y="315108"/>
                    <a:pt x="226792" y="313541"/>
                    <a:pt x="230821" y="311795"/>
                  </a:cubicBezTo>
                  <a:lnTo>
                    <a:pt x="263770" y="337402"/>
                  </a:lnTo>
                  <a:lnTo>
                    <a:pt x="265695" y="336283"/>
                  </a:lnTo>
                  <a:cubicBezTo>
                    <a:pt x="275499" y="330463"/>
                    <a:pt x="284811" y="323613"/>
                    <a:pt x="293362" y="316003"/>
                  </a:cubicBezTo>
                  <a:lnTo>
                    <a:pt x="295018" y="314481"/>
                  </a:lnTo>
                  <a:lnTo>
                    <a:pt x="281095" y="274861"/>
                  </a:lnTo>
                  <a:cubicBezTo>
                    <a:pt x="286915" y="268191"/>
                    <a:pt x="292019" y="261028"/>
                    <a:pt x="296451" y="253507"/>
                  </a:cubicBezTo>
                  <a:lnTo>
                    <a:pt x="337950" y="254671"/>
                  </a:lnTo>
                  <a:lnTo>
                    <a:pt x="338845" y="252612"/>
                  </a:lnTo>
                  <a:cubicBezTo>
                    <a:pt x="343412" y="242047"/>
                    <a:pt x="346948" y="230989"/>
                    <a:pt x="349455" y="219753"/>
                  </a:cubicBezTo>
                  <a:lnTo>
                    <a:pt x="349948" y="217559"/>
                  </a:lnTo>
                  <a:lnTo>
                    <a:pt x="315656" y="193832"/>
                  </a:lnTo>
                  <a:cubicBezTo>
                    <a:pt x="316462" y="185013"/>
                    <a:pt x="316506" y="176149"/>
                    <a:pt x="315656" y="167419"/>
                  </a:cubicBezTo>
                  <a:close/>
                  <a:moveTo>
                    <a:pt x="174907" y="282472"/>
                  </a:moveTo>
                  <a:cubicBezTo>
                    <a:pt x="119261" y="282472"/>
                    <a:pt x="74135" y="236899"/>
                    <a:pt x="74135" y="180626"/>
                  </a:cubicBezTo>
                  <a:cubicBezTo>
                    <a:pt x="74135" y="124353"/>
                    <a:pt x="119261" y="78824"/>
                    <a:pt x="174907" y="78824"/>
                  </a:cubicBezTo>
                  <a:cubicBezTo>
                    <a:pt x="230553" y="78824"/>
                    <a:pt x="275679" y="124398"/>
                    <a:pt x="275679" y="180626"/>
                  </a:cubicBezTo>
                  <a:cubicBezTo>
                    <a:pt x="275679" y="236854"/>
                    <a:pt x="230553" y="282472"/>
                    <a:pt x="174907" y="28247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 name="Google Shape;6774;g2d30ebb658d_0_19789">
              <a:extLst>
                <a:ext uri="{FF2B5EF4-FFF2-40B4-BE49-F238E27FC236}">
                  <a16:creationId xmlns:a16="http://schemas.microsoft.com/office/drawing/2014/main" id="{ED407092-6559-F8C9-494A-78CD8E531D66}"/>
                </a:ext>
              </a:extLst>
            </p:cNvPr>
            <p:cNvSpPr/>
            <p:nvPr/>
          </p:nvSpPr>
          <p:spPr>
            <a:xfrm>
              <a:off x="4699246" y="2715696"/>
              <a:ext cx="176493" cy="175692"/>
            </a:xfrm>
            <a:custGeom>
              <a:avLst/>
              <a:gdLst/>
              <a:ahLst/>
              <a:cxnLst/>
              <a:rect l="l" t="t" r="r" b="b"/>
              <a:pathLst>
                <a:path w="280712" h="279438" extrusionOk="0">
                  <a:moveTo>
                    <a:pt x="239570" y="90341"/>
                  </a:moveTo>
                  <a:lnTo>
                    <a:pt x="257924" y="63301"/>
                  </a:lnTo>
                  <a:lnTo>
                    <a:pt x="256940" y="61824"/>
                  </a:lnTo>
                  <a:cubicBezTo>
                    <a:pt x="254433" y="58019"/>
                    <a:pt x="251746" y="54348"/>
                    <a:pt x="248926" y="50901"/>
                  </a:cubicBezTo>
                  <a:cubicBezTo>
                    <a:pt x="246106" y="47454"/>
                    <a:pt x="243106" y="44006"/>
                    <a:pt x="239928" y="40783"/>
                  </a:cubicBezTo>
                  <a:lnTo>
                    <a:pt x="238719" y="39530"/>
                  </a:lnTo>
                  <a:lnTo>
                    <a:pt x="208680" y="52109"/>
                  </a:lnTo>
                  <a:cubicBezTo>
                    <a:pt x="203308" y="47857"/>
                    <a:pt x="197533" y="44051"/>
                    <a:pt x="191400" y="40828"/>
                  </a:cubicBezTo>
                  <a:lnTo>
                    <a:pt x="190415" y="7924"/>
                  </a:lnTo>
                  <a:lnTo>
                    <a:pt x="188759" y="7297"/>
                  </a:lnTo>
                  <a:cubicBezTo>
                    <a:pt x="180342" y="4119"/>
                    <a:pt x="171613" y="1791"/>
                    <a:pt x="162793" y="269"/>
                  </a:cubicBezTo>
                  <a:lnTo>
                    <a:pt x="161047" y="0"/>
                  </a:lnTo>
                  <a:lnTo>
                    <a:pt x="144215" y="28024"/>
                  </a:lnTo>
                  <a:cubicBezTo>
                    <a:pt x="137455" y="27756"/>
                    <a:pt x="130561" y="28114"/>
                    <a:pt x="123756" y="29099"/>
                  </a:cubicBezTo>
                  <a:lnTo>
                    <a:pt x="103790" y="2910"/>
                  </a:lnTo>
                  <a:lnTo>
                    <a:pt x="102089" y="3358"/>
                  </a:lnTo>
                  <a:cubicBezTo>
                    <a:pt x="93493" y="5775"/>
                    <a:pt x="85077" y="8998"/>
                    <a:pt x="77064" y="13027"/>
                  </a:cubicBezTo>
                  <a:lnTo>
                    <a:pt x="75497" y="13788"/>
                  </a:lnTo>
                  <a:lnTo>
                    <a:pt x="78272" y="46603"/>
                  </a:lnTo>
                  <a:cubicBezTo>
                    <a:pt x="75407" y="48528"/>
                    <a:pt x="72632" y="50587"/>
                    <a:pt x="70035" y="52691"/>
                  </a:cubicBezTo>
                  <a:cubicBezTo>
                    <a:pt x="67439" y="54840"/>
                    <a:pt x="64842" y="57123"/>
                    <a:pt x="62425" y="59541"/>
                  </a:cubicBezTo>
                  <a:lnTo>
                    <a:pt x="31087" y="50095"/>
                  </a:lnTo>
                  <a:lnTo>
                    <a:pt x="30013" y="51483"/>
                  </a:lnTo>
                  <a:cubicBezTo>
                    <a:pt x="24462" y="58511"/>
                    <a:pt x="19582" y="66122"/>
                    <a:pt x="15508" y="74135"/>
                  </a:cubicBezTo>
                  <a:lnTo>
                    <a:pt x="14702" y="75702"/>
                  </a:lnTo>
                  <a:lnTo>
                    <a:pt x="36101" y="100727"/>
                  </a:lnTo>
                  <a:cubicBezTo>
                    <a:pt x="33729" y="107218"/>
                    <a:pt x="32027" y="113933"/>
                    <a:pt x="30908" y="120693"/>
                  </a:cubicBezTo>
                  <a:lnTo>
                    <a:pt x="198" y="131572"/>
                  </a:lnTo>
                  <a:lnTo>
                    <a:pt x="108" y="133318"/>
                  </a:lnTo>
                  <a:cubicBezTo>
                    <a:pt x="-250" y="142316"/>
                    <a:pt x="287" y="151449"/>
                    <a:pt x="1630" y="160357"/>
                  </a:cubicBezTo>
                  <a:lnTo>
                    <a:pt x="1899" y="162103"/>
                  </a:lnTo>
                  <a:lnTo>
                    <a:pt x="33684" y="169803"/>
                  </a:lnTo>
                  <a:cubicBezTo>
                    <a:pt x="35564" y="176474"/>
                    <a:pt x="38071" y="182965"/>
                    <a:pt x="41115" y="189098"/>
                  </a:cubicBezTo>
                  <a:lnTo>
                    <a:pt x="22761" y="216138"/>
                  </a:lnTo>
                  <a:lnTo>
                    <a:pt x="23745" y="217615"/>
                  </a:lnTo>
                  <a:cubicBezTo>
                    <a:pt x="26252" y="221420"/>
                    <a:pt x="28938" y="225046"/>
                    <a:pt x="31759" y="228538"/>
                  </a:cubicBezTo>
                  <a:cubicBezTo>
                    <a:pt x="34579" y="231985"/>
                    <a:pt x="37579" y="235432"/>
                    <a:pt x="40757" y="238656"/>
                  </a:cubicBezTo>
                  <a:lnTo>
                    <a:pt x="42011" y="239909"/>
                  </a:lnTo>
                  <a:lnTo>
                    <a:pt x="72050" y="227330"/>
                  </a:lnTo>
                  <a:cubicBezTo>
                    <a:pt x="77422" y="231582"/>
                    <a:pt x="83197" y="235388"/>
                    <a:pt x="89330" y="238611"/>
                  </a:cubicBezTo>
                  <a:lnTo>
                    <a:pt x="90315" y="271515"/>
                  </a:lnTo>
                  <a:lnTo>
                    <a:pt x="91971" y="272142"/>
                  </a:lnTo>
                  <a:cubicBezTo>
                    <a:pt x="100343" y="275276"/>
                    <a:pt x="109117" y="277648"/>
                    <a:pt x="117936" y="279170"/>
                  </a:cubicBezTo>
                  <a:lnTo>
                    <a:pt x="119682" y="279439"/>
                  </a:lnTo>
                  <a:lnTo>
                    <a:pt x="136515" y="251414"/>
                  </a:lnTo>
                  <a:cubicBezTo>
                    <a:pt x="143320" y="251683"/>
                    <a:pt x="150169" y="251325"/>
                    <a:pt x="156974" y="250340"/>
                  </a:cubicBezTo>
                  <a:lnTo>
                    <a:pt x="176985" y="276529"/>
                  </a:lnTo>
                  <a:lnTo>
                    <a:pt x="178686" y="276037"/>
                  </a:lnTo>
                  <a:cubicBezTo>
                    <a:pt x="187281" y="273619"/>
                    <a:pt x="195698" y="270396"/>
                    <a:pt x="203666" y="266367"/>
                  </a:cubicBezTo>
                  <a:lnTo>
                    <a:pt x="205233" y="265606"/>
                  </a:lnTo>
                  <a:lnTo>
                    <a:pt x="202457" y="232791"/>
                  </a:lnTo>
                  <a:cubicBezTo>
                    <a:pt x="205323" y="230866"/>
                    <a:pt x="208098" y="228807"/>
                    <a:pt x="210695" y="226703"/>
                  </a:cubicBezTo>
                  <a:cubicBezTo>
                    <a:pt x="213291" y="224554"/>
                    <a:pt x="215888" y="222271"/>
                    <a:pt x="218350" y="219853"/>
                  </a:cubicBezTo>
                  <a:lnTo>
                    <a:pt x="249687" y="229299"/>
                  </a:lnTo>
                  <a:lnTo>
                    <a:pt x="250762" y="227912"/>
                  </a:lnTo>
                  <a:cubicBezTo>
                    <a:pt x="256313" y="220883"/>
                    <a:pt x="261192" y="213228"/>
                    <a:pt x="265266" y="205259"/>
                  </a:cubicBezTo>
                  <a:lnTo>
                    <a:pt x="266072" y="203692"/>
                  </a:lnTo>
                  <a:lnTo>
                    <a:pt x="244673" y="178667"/>
                  </a:lnTo>
                  <a:cubicBezTo>
                    <a:pt x="247046" y="172131"/>
                    <a:pt x="248747" y="165461"/>
                    <a:pt x="249866" y="158701"/>
                  </a:cubicBezTo>
                  <a:lnTo>
                    <a:pt x="280577" y="147822"/>
                  </a:lnTo>
                  <a:lnTo>
                    <a:pt x="280577" y="146076"/>
                  </a:lnTo>
                  <a:cubicBezTo>
                    <a:pt x="280980" y="137078"/>
                    <a:pt x="280487" y="127990"/>
                    <a:pt x="279099" y="119037"/>
                  </a:cubicBezTo>
                  <a:lnTo>
                    <a:pt x="278831" y="117291"/>
                  </a:lnTo>
                  <a:lnTo>
                    <a:pt x="247046" y="109636"/>
                  </a:lnTo>
                  <a:cubicBezTo>
                    <a:pt x="245166" y="102921"/>
                    <a:pt x="242659" y="96429"/>
                    <a:pt x="239615" y="90296"/>
                  </a:cubicBezTo>
                  <a:close/>
                  <a:moveTo>
                    <a:pt x="169106" y="214213"/>
                  </a:moveTo>
                  <a:cubicBezTo>
                    <a:pt x="128412" y="229926"/>
                    <a:pt x="82525" y="209333"/>
                    <a:pt x="66633" y="168192"/>
                  </a:cubicBezTo>
                  <a:cubicBezTo>
                    <a:pt x="50740" y="127050"/>
                    <a:pt x="70886" y="80984"/>
                    <a:pt x="111579" y="65226"/>
                  </a:cubicBezTo>
                  <a:cubicBezTo>
                    <a:pt x="152273" y="49513"/>
                    <a:pt x="198160" y="70106"/>
                    <a:pt x="214052" y="111247"/>
                  </a:cubicBezTo>
                  <a:cubicBezTo>
                    <a:pt x="229945" y="152389"/>
                    <a:pt x="209799" y="198499"/>
                    <a:pt x="169106" y="21421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 name="Google Shape;6775;g2d30ebb658d_0_19789">
              <a:extLst>
                <a:ext uri="{FF2B5EF4-FFF2-40B4-BE49-F238E27FC236}">
                  <a16:creationId xmlns:a16="http://schemas.microsoft.com/office/drawing/2014/main" id="{99E03190-9844-B8B7-DFB1-D6F37669E956}"/>
                </a:ext>
              </a:extLst>
            </p:cNvPr>
            <p:cNvSpPr/>
            <p:nvPr/>
          </p:nvSpPr>
          <p:spPr>
            <a:xfrm>
              <a:off x="4601540" y="2855726"/>
              <a:ext cx="146600" cy="145857"/>
            </a:xfrm>
            <a:custGeom>
              <a:avLst/>
              <a:gdLst/>
              <a:ahLst/>
              <a:cxnLst/>
              <a:rect l="l" t="t" r="r" b="b"/>
              <a:pathLst>
                <a:path w="233167" h="231985" extrusionOk="0">
                  <a:moveTo>
                    <a:pt x="199023" y="74986"/>
                  </a:moveTo>
                  <a:lnTo>
                    <a:pt x="214289" y="52557"/>
                  </a:lnTo>
                  <a:lnTo>
                    <a:pt x="213483" y="51348"/>
                  </a:lnTo>
                  <a:cubicBezTo>
                    <a:pt x="211379" y="48215"/>
                    <a:pt x="209141" y="45126"/>
                    <a:pt x="206813" y="42261"/>
                  </a:cubicBezTo>
                  <a:cubicBezTo>
                    <a:pt x="204485" y="39395"/>
                    <a:pt x="201978" y="36530"/>
                    <a:pt x="199336" y="33844"/>
                  </a:cubicBezTo>
                  <a:lnTo>
                    <a:pt x="198307" y="32770"/>
                  </a:lnTo>
                  <a:lnTo>
                    <a:pt x="173371" y="43201"/>
                  </a:lnTo>
                  <a:cubicBezTo>
                    <a:pt x="168939" y="39664"/>
                    <a:pt x="164104" y="36530"/>
                    <a:pt x="159001" y="33844"/>
                  </a:cubicBezTo>
                  <a:lnTo>
                    <a:pt x="158195" y="6536"/>
                  </a:lnTo>
                  <a:lnTo>
                    <a:pt x="156807" y="6044"/>
                  </a:lnTo>
                  <a:cubicBezTo>
                    <a:pt x="149824" y="3402"/>
                    <a:pt x="142571" y="1433"/>
                    <a:pt x="135229" y="224"/>
                  </a:cubicBezTo>
                  <a:lnTo>
                    <a:pt x="133797" y="0"/>
                  </a:lnTo>
                  <a:lnTo>
                    <a:pt x="119785" y="23279"/>
                  </a:lnTo>
                  <a:cubicBezTo>
                    <a:pt x="114144" y="23055"/>
                    <a:pt x="108458" y="23324"/>
                    <a:pt x="102773" y="24174"/>
                  </a:cubicBezTo>
                  <a:lnTo>
                    <a:pt x="86164" y="2417"/>
                  </a:lnTo>
                  <a:lnTo>
                    <a:pt x="84776" y="2776"/>
                  </a:lnTo>
                  <a:cubicBezTo>
                    <a:pt x="77613" y="4745"/>
                    <a:pt x="70630" y="7476"/>
                    <a:pt x="64004" y="10834"/>
                  </a:cubicBezTo>
                  <a:lnTo>
                    <a:pt x="62706" y="11460"/>
                  </a:lnTo>
                  <a:lnTo>
                    <a:pt x="65034" y="38724"/>
                  </a:lnTo>
                  <a:cubicBezTo>
                    <a:pt x="62661" y="40336"/>
                    <a:pt x="60333" y="42037"/>
                    <a:pt x="58184" y="43783"/>
                  </a:cubicBezTo>
                  <a:cubicBezTo>
                    <a:pt x="56036" y="45573"/>
                    <a:pt x="53887" y="47454"/>
                    <a:pt x="51827" y="49468"/>
                  </a:cubicBezTo>
                  <a:lnTo>
                    <a:pt x="25817" y="41634"/>
                  </a:lnTo>
                  <a:lnTo>
                    <a:pt x="24922" y="42798"/>
                  </a:lnTo>
                  <a:cubicBezTo>
                    <a:pt x="20311" y="48618"/>
                    <a:pt x="16282" y="54975"/>
                    <a:pt x="12880" y="61600"/>
                  </a:cubicBezTo>
                  <a:lnTo>
                    <a:pt x="12208" y="62898"/>
                  </a:lnTo>
                  <a:lnTo>
                    <a:pt x="29981" y="83671"/>
                  </a:lnTo>
                  <a:cubicBezTo>
                    <a:pt x="28011" y="89087"/>
                    <a:pt x="26579" y="94639"/>
                    <a:pt x="25638" y="100235"/>
                  </a:cubicBezTo>
                  <a:lnTo>
                    <a:pt x="121" y="109278"/>
                  </a:lnTo>
                  <a:lnTo>
                    <a:pt x="121" y="110710"/>
                  </a:lnTo>
                  <a:cubicBezTo>
                    <a:pt x="-237" y="118186"/>
                    <a:pt x="210" y="125752"/>
                    <a:pt x="1330" y="133139"/>
                  </a:cubicBezTo>
                  <a:lnTo>
                    <a:pt x="1553" y="134571"/>
                  </a:lnTo>
                  <a:lnTo>
                    <a:pt x="27966" y="140973"/>
                  </a:lnTo>
                  <a:cubicBezTo>
                    <a:pt x="29533" y="146524"/>
                    <a:pt x="31637" y="151896"/>
                    <a:pt x="34144" y="157000"/>
                  </a:cubicBezTo>
                  <a:lnTo>
                    <a:pt x="18878" y="179428"/>
                  </a:lnTo>
                  <a:lnTo>
                    <a:pt x="19684" y="180637"/>
                  </a:lnTo>
                  <a:cubicBezTo>
                    <a:pt x="21744" y="183771"/>
                    <a:pt x="23982" y="186815"/>
                    <a:pt x="26355" y="189725"/>
                  </a:cubicBezTo>
                  <a:cubicBezTo>
                    <a:pt x="28683" y="192590"/>
                    <a:pt x="31190" y="195455"/>
                    <a:pt x="33831" y="198141"/>
                  </a:cubicBezTo>
                  <a:lnTo>
                    <a:pt x="34860" y="199216"/>
                  </a:lnTo>
                  <a:lnTo>
                    <a:pt x="59796" y="188740"/>
                  </a:lnTo>
                  <a:cubicBezTo>
                    <a:pt x="64228" y="192277"/>
                    <a:pt x="69063" y="195455"/>
                    <a:pt x="74166" y="198096"/>
                  </a:cubicBezTo>
                  <a:lnTo>
                    <a:pt x="74972" y="225405"/>
                  </a:lnTo>
                  <a:lnTo>
                    <a:pt x="76360" y="225942"/>
                  </a:lnTo>
                  <a:cubicBezTo>
                    <a:pt x="83344" y="228583"/>
                    <a:pt x="90596" y="230508"/>
                    <a:pt x="97938" y="231762"/>
                  </a:cubicBezTo>
                  <a:lnTo>
                    <a:pt x="99371" y="231985"/>
                  </a:lnTo>
                  <a:lnTo>
                    <a:pt x="113383" y="208706"/>
                  </a:lnTo>
                  <a:cubicBezTo>
                    <a:pt x="119023" y="208930"/>
                    <a:pt x="124709" y="208661"/>
                    <a:pt x="130394" y="207811"/>
                  </a:cubicBezTo>
                  <a:lnTo>
                    <a:pt x="147003" y="229568"/>
                  </a:lnTo>
                  <a:lnTo>
                    <a:pt x="148391" y="229165"/>
                  </a:lnTo>
                  <a:cubicBezTo>
                    <a:pt x="155554" y="227195"/>
                    <a:pt x="162538" y="224464"/>
                    <a:pt x="169163" y="221152"/>
                  </a:cubicBezTo>
                  <a:lnTo>
                    <a:pt x="170461" y="220525"/>
                  </a:lnTo>
                  <a:lnTo>
                    <a:pt x="168133" y="193261"/>
                  </a:lnTo>
                  <a:cubicBezTo>
                    <a:pt x="170506" y="191650"/>
                    <a:pt x="172789" y="189949"/>
                    <a:pt x="174983" y="188203"/>
                  </a:cubicBezTo>
                  <a:cubicBezTo>
                    <a:pt x="177177" y="186412"/>
                    <a:pt x="179281" y="184487"/>
                    <a:pt x="181340" y="182517"/>
                  </a:cubicBezTo>
                  <a:lnTo>
                    <a:pt x="207350" y="190352"/>
                  </a:lnTo>
                  <a:lnTo>
                    <a:pt x="208245" y="189232"/>
                  </a:lnTo>
                  <a:cubicBezTo>
                    <a:pt x="212856" y="183368"/>
                    <a:pt x="216885" y="177056"/>
                    <a:pt x="220288" y="170430"/>
                  </a:cubicBezTo>
                  <a:lnTo>
                    <a:pt x="220959" y="169132"/>
                  </a:lnTo>
                  <a:lnTo>
                    <a:pt x="203186" y="148360"/>
                  </a:lnTo>
                  <a:cubicBezTo>
                    <a:pt x="205156" y="142943"/>
                    <a:pt x="206589" y="137392"/>
                    <a:pt x="207529" y="131796"/>
                  </a:cubicBezTo>
                  <a:lnTo>
                    <a:pt x="233046" y="122753"/>
                  </a:lnTo>
                  <a:lnTo>
                    <a:pt x="233046" y="121275"/>
                  </a:lnTo>
                  <a:cubicBezTo>
                    <a:pt x="233405" y="113799"/>
                    <a:pt x="232957" y="106233"/>
                    <a:pt x="231838" y="98847"/>
                  </a:cubicBezTo>
                  <a:lnTo>
                    <a:pt x="231614" y="97369"/>
                  </a:lnTo>
                  <a:lnTo>
                    <a:pt x="205201" y="91012"/>
                  </a:lnTo>
                  <a:cubicBezTo>
                    <a:pt x="203634" y="85461"/>
                    <a:pt x="201530" y="80044"/>
                    <a:pt x="199023" y="74941"/>
                  </a:cubicBezTo>
                  <a:close/>
                  <a:moveTo>
                    <a:pt x="140512" y="177906"/>
                  </a:moveTo>
                  <a:cubicBezTo>
                    <a:pt x="106712" y="190978"/>
                    <a:pt x="68615" y="173832"/>
                    <a:pt x="55409" y="139675"/>
                  </a:cubicBezTo>
                  <a:cubicBezTo>
                    <a:pt x="42202" y="105517"/>
                    <a:pt x="58945" y="67241"/>
                    <a:pt x="92745" y="54169"/>
                  </a:cubicBezTo>
                  <a:cubicBezTo>
                    <a:pt x="126544" y="41097"/>
                    <a:pt x="164686" y="58198"/>
                    <a:pt x="177848" y="92400"/>
                  </a:cubicBezTo>
                  <a:cubicBezTo>
                    <a:pt x="191054" y="126558"/>
                    <a:pt x="174356" y="164834"/>
                    <a:pt x="140512" y="1779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41" name="Group 40">
            <a:extLst>
              <a:ext uri="{FF2B5EF4-FFF2-40B4-BE49-F238E27FC236}">
                <a16:creationId xmlns:a16="http://schemas.microsoft.com/office/drawing/2014/main" id="{BB343491-8F96-88E0-6E0D-60D09AA0ABC8}"/>
              </a:ext>
            </a:extLst>
          </p:cNvPr>
          <p:cNvGrpSpPr/>
          <p:nvPr/>
        </p:nvGrpSpPr>
        <p:grpSpPr>
          <a:xfrm>
            <a:off x="7802268" y="2600406"/>
            <a:ext cx="2052807" cy="1352221"/>
            <a:chOff x="4288508" y="2396540"/>
            <a:chExt cx="1439267" cy="948070"/>
          </a:xfrm>
        </p:grpSpPr>
        <p:sp>
          <p:nvSpPr>
            <p:cNvPr id="49" name="Google Shape;6760;g2d30ebb658d_0_19789">
              <a:extLst>
                <a:ext uri="{FF2B5EF4-FFF2-40B4-BE49-F238E27FC236}">
                  <a16:creationId xmlns:a16="http://schemas.microsoft.com/office/drawing/2014/main" id="{B870B53D-E62E-018B-4B74-187B05FC8BF1}"/>
                </a:ext>
              </a:extLst>
            </p:cNvPr>
            <p:cNvSpPr/>
            <p:nvPr/>
          </p:nvSpPr>
          <p:spPr>
            <a:xfrm>
              <a:off x="4662354" y="2396540"/>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gradFill>
              <a:gsLst>
                <a:gs pos="0">
                  <a:schemeClr val="accent5"/>
                </a:gs>
                <a:gs pos="99000">
                  <a:schemeClr val="accent5"/>
                </a:gs>
                <a:gs pos="100000">
                  <a:schemeClr val="accent5"/>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50" name="Graphic 49">
              <a:extLst>
                <a:ext uri="{FF2B5EF4-FFF2-40B4-BE49-F238E27FC236}">
                  <a16:creationId xmlns:a16="http://schemas.microsoft.com/office/drawing/2014/main" id="{CBCC0A0E-818F-522C-6A44-470F5548540C}"/>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745580" y="2478551"/>
              <a:ext cx="497840" cy="497840"/>
            </a:xfrm>
            <a:prstGeom prst="rect">
              <a:avLst/>
            </a:prstGeom>
          </p:spPr>
        </p:pic>
        <p:sp>
          <p:nvSpPr>
            <p:cNvPr id="51" name="Google Shape;6769;g2d30ebb658d_0_19789">
              <a:extLst>
                <a:ext uri="{FF2B5EF4-FFF2-40B4-BE49-F238E27FC236}">
                  <a16:creationId xmlns:a16="http://schemas.microsoft.com/office/drawing/2014/main" id="{62ACA4A7-56DE-CD96-40FA-9E26490D992F}"/>
                </a:ext>
              </a:extLst>
            </p:cNvPr>
            <p:cNvSpPr txBox="1"/>
            <p:nvPr/>
          </p:nvSpPr>
          <p:spPr>
            <a:xfrm>
              <a:off x="4288508" y="3166728"/>
              <a:ext cx="1439267" cy="177882"/>
            </a:xfrm>
            <a:prstGeom prst="rect">
              <a:avLst/>
            </a:prstGeom>
            <a:noFill/>
            <a:ln>
              <a:noFill/>
            </a:ln>
          </p:spPr>
          <p:txBody>
            <a:bodyPr spcFirstLastPara="1" wrap="square" lIns="0" tIns="0" rIns="0" bIns="0" anchor="t" anchorCtr="0">
              <a:spAutoFit/>
            </a:bodyPr>
            <a:lstStyle/>
            <a:p>
              <a:pPr marL="0" marR="0" lvl="0" indent="0" algn="ctr" rtl="0">
                <a:lnSpc>
                  <a:spcPct val="95000"/>
                </a:lnSpc>
                <a:spcBef>
                  <a:spcPts val="0"/>
                </a:spcBef>
                <a:spcAft>
                  <a:spcPts val="0"/>
                </a:spcAft>
                <a:buClr>
                  <a:srgbClr val="000000"/>
                </a:buClr>
                <a:buSzPts val="900"/>
                <a:buFont typeface="Arial"/>
                <a:buNone/>
              </a:pPr>
              <a:r>
                <a:rPr lang="en-US" sz="1200" dirty="0">
                  <a:solidFill>
                    <a:srgbClr val="1B1E35"/>
                  </a:solidFill>
                </a:rPr>
                <a:t>Lifecycle</a:t>
              </a:r>
              <a:endParaRPr sz="1200" dirty="0"/>
            </a:p>
          </p:txBody>
        </p:sp>
      </p:grpSp>
      <p:grpSp>
        <p:nvGrpSpPr>
          <p:cNvPr id="42" name="Group 41">
            <a:extLst>
              <a:ext uri="{FF2B5EF4-FFF2-40B4-BE49-F238E27FC236}">
                <a16:creationId xmlns:a16="http://schemas.microsoft.com/office/drawing/2014/main" id="{FA321194-A9E6-F16F-915B-84E944D35AF7}"/>
              </a:ext>
            </a:extLst>
          </p:cNvPr>
          <p:cNvGrpSpPr/>
          <p:nvPr/>
        </p:nvGrpSpPr>
        <p:grpSpPr>
          <a:xfrm>
            <a:off x="5151443" y="2602927"/>
            <a:ext cx="2052807" cy="1349162"/>
            <a:chOff x="971112" y="2398308"/>
            <a:chExt cx="1439267" cy="945925"/>
          </a:xfrm>
        </p:grpSpPr>
        <p:sp>
          <p:nvSpPr>
            <p:cNvPr id="46" name="Google Shape;6760;g2d30ebb658d_0_19789">
              <a:extLst>
                <a:ext uri="{FF2B5EF4-FFF2-40B4-BE49-F238E27FC236}">
                  <a16:creationId xmlns:a16="http://schemas.microsoft.com/office/drawing/2014/main" id="{9D6BA01E-D130-1527-F319-6E66DBF19181}"/>
                </a:ext>
              </a:extLst>
            </p:cNvPr>
            <p:cNvSpPr/>
            <p:nvPr/>
          </p:nvSpPr>
          <p:spPr>
            <a:xfrm>
              <a:off x="1358600" y="2398308"/>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gradFill>
              <a:gsLst>
                <a:gs pos="0">
                  <a:schemeClr val="accent2"/>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7" name="Google Shape;6767;g2d30ebb658d_0_19789">
              <a:extLst>
                <a:ext uri="{FF2B5EF4-FFF2-40B4-BE49-F238E27FC236}">
                  <a16:creationId xmlns:a16="http://schemas.microsoft.com/office/drawing/2014/main" id="{0E1E39DE-D25E-E25E-D192-27E518B202D6}"/>
                </a:ext>
              </a:extLst>
            </p:cNvPr>
            <p:cNvSpPr/>
            <p:nvPr/>
          </p:nvSpPr>
          <p:spPr>
            <a:xfrm>
              <a:off x="1503581" y="2537002"/>
              <a:ext cx="379742" cy="380966"/>
            </a:xfrm>
            <a:custGeom>
              <a:avLst/>
              <a:gdLst/>
              <a:ahLst/>
              <a:cxnLst/>
              <a:rect l="l" t="t" r="r" b="b"/>
              <a:pathLst>
                <a:path w="651268" h="653368" extrusionOk="0">
                  <a:moveTo>
                    <a:pt x="587701" y="131477"/>
                  </a:moveTo>
                  <a:cubicBezTo>
                    <a:pt x="546722" y="75983"/>
                    <a:pt x="487355" y="34911"/>
                    <a:pt x="421826" y="14375"/>
                  </a:cubicBezTo>
                  <a:cubicBezTo>
                    <a:pt x="391116" y="4107"/>
                    <a:pt x="358352" y="0"/>
                    <a:pt x="325588" y="0"/>
                  </a:cubicBezTo>
                  <a:cubicBezTo>
                    <a:pt x="292824" y="0"/>
                    <a:pt x="260059" y="4107"/>
                    <a:pt x="229349" y="14375"/>
                  </a:cubicBezTo>
                  <a:lnTo>
                    <a:pt x="249838" y="80137"/>
                  </a:lnTo>
                  <a:cubicBezTo>
                    <a:pt x="274435" y="71922"/>
                    <a:pt x="298984" y="67815"/>
                    <a:pt x="325634" y="67815"/>
                  </a:cubicBezTo>
                  <a:cubicBezTo>
                    <a:pt x="352284" y="67815"/>
                    <a:pt x="376834" y="71922"/>
                    <a:pt x="401430" y="80137"/>
                  </a:cubicBezTo>
                  <a:cubicBezTo>
                    <a:pt x="452630" y="94512"/>
                    <a:pt x="499723" y="127416"/>
                    <a:pt x="532487" y="172595"/>
                  </a:cubicBezTo>
                  <a:cubicBezTo>
                    <a:pt x="565251" y="215767"/>
                    <a:pt x="583687" y="271214"/>
                    <a:pt x="583687" y="326708"/>
                  </a:cubicBezTo>
                  <a:cubicBezTo>
                    <a:pt x="583687" y="468499"/>
                    <a:pt x="466959" y="585600"/>
                    <a:pt x="325634" y="585600"/>
                  </a:cubicBezTo>
                  <a:cubicBezTo>
                    <a:pt x="184310" y="585600"/>
                    <a:pt x="67582" y="468499"/>
                    <a:pt x="67582" y="326708"/>
                  </a:cubicBezTo>
                  <a:cubicBezTo>
                    <a:pt x="67582" y="273268"/>
                    <a:pt x="83964" y="219874"/>
                    <a:pt x="116728" y="176702"/>
                  </a:cubicBezTo>
                  <a:lnTo>
                    <a:pt x="159713" y="195185"/>
                  </a:lnTo>
                  <a:lnTo>
                    <a:pt x="139224" y="32857"/>
                  </a:lnTo>
                  <a:lnTo>
                    <a:pt x="12275" y="131477"/>
                  </a:lnTo>
                  <a:lnTo>
                    <a:pt x="51200" y="147905"/>
                  </a:lnTo>
                  <a:cubicBezTo>
                    <a:pt x="18436" y="201345"/>
                    <a:pt x="0" y="262953"/>
                    <a:pt x="0" y="326661"/>
                  </a:cubicBezTo>
                  <a:cubicBezTo>
                    <a:pt x="0" y="507470"/>
                    <a:pt x="145385" y="653369"/>
                    <a:pt x="325634" y="653369"/>
                  </a:cubicBezTo>
                  <a:cubicBezTo>
                    <a:pt x="505884" y="653369"/>
                    <a:pt x="651269" y="507470"/>
                    <a:pt x="651269" y="326661"/>
                  </a:cubicBezTo>
                  <a:cubicBezTo>
                    <a:pt x="651269" y="254739"/>
                    <a:pt x="628726" y="186924"/>
                    <a:pt x="587794" y="131477"/>
                  </a:cubicBezTo>
                  <a:lnTo>
                    <a:pt x="587794" y="13147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 name="Google Shape;6769;g2d30ebb658d_0_19789">
              <a:extLst>
                <a:ext uri="{FF2B5EF4-FFF2-40B4-BE49-F238E27FC236}">
                  <a16:creationId xmlns:a16="http://schemas.microsoft.com/office/drawing/2014/main" id="{A5DB7DC3-63D7-069C-A1FB-3C14783CEFB3}"/>
                </a:ext>
              </a:extLst>
            </p:cNvPr>
            <p:cNvSpPr txBox="1"/>
            <p:nvPr/>
          </p:nvSpPr>
          <p:spPr>
            <a:xfrm>
              <a:off x="971112" y="3166351"/>
              <a:ext cx="1439267" cy="177882"/>
            </a:xfrm>
            <a:prstGeom prst="rect">
              <a:avLst/>
            </a:prstGeom>
            <a:noFill/>
            <a:ln>
              <a:noFill/>
            </a:ln>
          </p:spPr>
          <p:txBody>
            <a:bodyPr spcFirstLastPara="1" wrap="square" lIns="0" tIns="0" rIns="0" bIns="0" anchor="t" anchorCtr="0">
              <a:spAutoFit/>
            </a:bodyPr>
            <a:lstStyle/>
            <a:p>
              <a:pPr marL="0" marR="0" lvl="0" indent="0" algn="ctr" rtl="0">
                <a:lnSpc>
                  <a:spcPct val="95000"/>
                </a:lnSpc>
                <a:spcBef>
                  <a:spcPts val="0"/>
                </a:spcBef>
                <a:spcAft>
                  <a:spcPts val="0"/>
                </a:spcAft>
                <a:buClr>
                  <a:srgbClr val="000000"/>
                </a:buClr>
                <a:buSzPts val="900"/>
                <a:buFont typeface="Arial"/>
                <a:buNone/>
              </a:pPr>
              <a:r>
                <a:rPr lang="en-US" sz="1200" dirty="0">
                  <a:solidFill>
                    <a:srgbClr val="1B1E35"/>
                  </a:solidFill>
                </a:rPr>
                <a:t>Automation</a:t>
              </a:r>
              <a:endParaRPr sz="1200" dirty="0"/>
            </a:p>
          </p:txBody>
        </p:sp>
      </p:grpSp>
      <p:sp>
        <p:nvSpPr>
          <p:cNvPr id="43" name="Google Shape;6769;g2d30ebb658d_0_19789">
            <a:extLst>
              <a:ext uri="{FF2B5EF4-FFF2-40B4-BE49-F238E27FC236}">
                <a16:creationId xmlns:a16="http://schemas.microsoft.com/office/drawing/2014/main" id="{111ED636-4ED9-985E-D8D5-7A6B3181C5FF}"/>
              </a:ext>
            </a:extLst>
          </p:cNvPr>
          <p:cNvSpPr txBox="1"/>
          <p:nvPr/>
        </p:nvSpPr>
        <p:spPr>
          <a:xfrm>
            <a:off x="6476493" y="3695292"/>
            <a:ext cx="2052807" cy="253711"/>
          </a:xfrm>
          <a:prstGeom prst="rect">
            <a:avLst/>
          </a:prstGeom>
          <a:noFill/>
          <a:ln>
            <a:noFill/>
          </a:ln>
        </p:spPr>
        <p:txBody>
          <a:bodyPr spcFirstLastPara="1" wrap="square" lIns="0" tIns="0" rIns="0" bIns="0" anchor="t" anchorCtr="0">
            <a:spAutoFit/>
          </a:bodyPr>
          <a:lstStyle/>
          <a:p>
            <a:pPr marL="0" marR="0" lvl="0" indent="0" algn="ctr" rtl="0">
              <a:lnSpc>
                <a:spcPct val="95000"/>
              </a:lnSpc>
              <a:spcBef>
                <a:spcPts val="0"/>
              </a:spcBef>
              <a:spcAft>
                <a:spcPts val="0"/>
              </a:spcAft>
              <a:buClr>
                <a:srgbClr val="000000"/>
              </a:buClr>
              <a:buSzPts val="900"/>
              <a:buFont typeface="Arial"/>
              <a:buNone/>
            </a:pPr>
            <a:r>
              <a:rPr lang="en-US" sz="1200" dirty="0">
                <a:solidFill>
                  <a:srgbClr val="1B1E35"/>
                </a:solidFill>
              </a:rPr>
              <a:t>Operations</a:t>
            </a:r>
            <a:endParaRPr sz="1200" dirty="0"/>
          </a:p>
        </p:txBody>
      </p:sp>
      <p:sp>
        <p:nvSpPr>
          <p:cNvPr id="44" name="Google Shape;6704;g2d30ebb658d_0_19789">
            <a:extLst>
              <a:ext uri="{FF2B5EF4-FFF2-40B4-BE49-F238E27FC236}">
                <a16:creationId xmlns:a16="http://schemas.microsoft.com/office/drawing/2014/main" id="{3A456C06-E4DB-32A3-C006-68BC0200BB7F}"/>
              </a:ext>
            </a:extLst>
          </p:cNvPr>
          <p:cNvSpPr/>
          <p:nvPr/>
        </p:nvSpPr>
        <p:spPr>
          <a:xfrm>
            <a:off x="5708414" y="1802893"/>
            <a:ext cx="3574535" cy="536688"/>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5400000" scaled="1"/>
            </a:grad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dirty="0">
                <a:solidFill>
                  <a:schemeClr val="tx1"/>
                </a:solidFill>
              </a:rPr>
              <a:t>            VMware Cloud Foundation</a:t>
            </a:r>
            <a:endParaRPr sz="1400" dirty="0">
              <a:solidFill>
                <a:schemeClr val="tx1"/>
              </a:solidFill>
            </a:endParaRPr>
          </a:p>
        </p:txBody>
      </p:sp>
      <p:pic>
        <p:nvPicPr>
          <p:cNvPr id="45" name="Google Shape;6699;p92">
            <a:extLst>
              <a:ext uri="{FF2B5EF4-FFF2-40B4-BE49-F238E27FC236}">
                <a16:creationId xmlns:a16="http://schemas.microsoft.com/office/drawing/2014/main" id="{A2B18405-2F55-4FBB-A59A-A317945B224E}"/>
              </a:ext>
            </a:extLst>
          </p:cNvPr>
          <p:cNvPicPr preferRelativeResize="0">
            <a:picLocks noChangeAspect="1"/>
          </p:cNvPicPr>
          <p:nvPr/>
        </p:nvPicPr>
        <p:blipFill rotWithShape="1">
          <a:blip r:embed="rId5">
            <a:alphaModFix/>
          </a:blip>
          <a:srcRect/>
          <a:stretch/>
        </p:blipFill>
        <p:spPr>
          <a:xfrm>
            <a:off x="6089224" y="1821575"/>
            <a:ext cx="487008" cy="487009"/>
          </a:xfrm>
          <a:prstGeom prst="rect">
            <a:avLst/>
          </a:prstGeom>
          <a:noFill/>
          <a:ln>
            <a:noFill/>
          </a:ln>
        </p:spPr>
      </p:pic>
      <p:sp>
        <p:nvSpPr>
          <p:cNvPr id="62" name="Google Shape;6769;g2d30ebb658d_0_19789">
            <a:extLst>
              <a:ext uri="{FF2B5EF4-FFF2-40B4-BE49-F238E27FC236}">
                <a16:creationId xmlns:a16="http://schemas.microsoft.com/office/drawing/2014/main" id="{6255AFA2-86C5-B6CE-E431-AB13BB69C2CB}"/>
              </a:ext>
            </a:extLst>
          </p:cNvPr>
          <p:cNvSpPr txBox="1"/>
          <p:nvPr/>
        </p:nvSpPr>
        <p:spPr>
          <a:xfrm>
            <a:off x="6528439" y="5393633"/>
            <a:ext cx="2052807" cy="175433"/>
          </a:xfrm>
          <a:prstGeom prst="rect">
            <a:avLst/>
          </a:prstGeom>
          <a:noFill/>
          <a:ln>
            <a:noFill/>
          </a:ln>
        </p:spPr>
        <p:txBody>
          <a:bodyPr spcFirstLastPara="1" wrap="square" lIns="0" tIns="0" rIns="0" bIns="0" anchor="t" anchorCtr="0">
            <a:spAutoFit/>
          </a:bodyPr>
          <a:lstStyle/>
          <a:p>
            <a:pPr marL="0" marR="0" lvl="0" indent="0" algn="ctr" rtl="0">
              <a:lnSpc>
                <a:spcPct val="95000"/>
              </a:lnSpc>
              <a:spcBef>
                <a:spcPts val="0"/>
              </a:spcBef>
              <a:spcAft>
                <a:spcPts val="0"/>
              </a:spcAft>
              <a:buClr>
                <a:srgbClr val="000000"/>
              </a:buClr>
              <a:buSzPts val="900"/>
              <a:buFont typeface="Arial"/>
              <a:buNone/>
            </a:pPr>
            <a:r>
              <a:rPr lang="en-US" sz="1200" dirty="0">
                <a:solidFill>
                  <a:schemeClr val="bg1"/>
                </a:solidFill>
              </a:rPr>
              <a:t>Storage</a:t>
            </a:r>
            <a:endParaRPr sz="1200" dirty="0">
              <a:solidFill>
                <a:schemeClr val="bg1"/>
              </a:solidFill>
            </a:endParaRPr>
          </a:p>
        </p:txBody>
      </p:sp>
      <p:sp>
        <p:nvSpPr>
          <p:cNvPr id="63" name="Google Shape;6769;g2d30ebb658d_0_19789">
            <a:extLst>
              <a:ext uri="{FF2B5EF4-FFF2-40B4-BE49-F238E27FC236}">
                <a16:creationId xmlns:a16="http://schemas.microsoft.com/office/drawing/2014/main" id="{9257097E-F924-EDB7-6BD6-A4D3210E4106}"/>
              </a:ext>
            </a:extLst>
          </p:cNvPr>
          <p:cNvSpPr txBox="1"/>
          <p:nvPr/>
        </p:nvSpPr>
        <p:spPr>
          <a:xfrm>
            <a:off x="5090210" y="5393633"/>
            <a:ext cx="2052807" cy="175433"/>
          </a:xfrm>
          <a:prstGeom prst="rect">
            <a:avLst/>
          </a:prstGeom>
          <a:noFill/>
          <a:ln>
            <a:noFill/>
          </a:ln>
        </p:spPr>
        <p:txBody>
          <a:bodyPr spcFirstLastPara="1" wrap="square" lIns="0" tIns="0" rIns="0" bIns="0" anchor="t" anchorCtr="0">
            <a:spAutoFit/>
          </a:bodyPr>
          <a:lstStyle/>
          <a:p>
            <a:pPr marL="0" marR="0" lvl="0" indent="0" algn="ctr" rtl="0">
              <a:lnSpc>
                <a:spcPct val="95000"/>
              </a:lnSpc>
              <a:spcBef>
                <a:spcPts val="0"/>
              </a:spcBef>
              <a:spcAft>
                <a:spcPts val="0"/>
              </a:spcAft>
              <a:buClr>
                <a:srgbClr val="000000"/>
              </a:buClr>
              <a:buSzPts val="900"/>
              <a:buFont typeface="Arial"/>
              <a:buNone/>
            </a:pPr>
            <a:r>
              <a:rPr lang="en-US" sz="1200" dirty="0">
                <a:solidFill>
                  <a:schemeClr val="bg1"/>
                </a:solidFill>
              </a:rPr>
              <a:t>Compute</a:t>
            </a:r>
            <a:endParaRPr sz="1200" dirty="0">
              <a:solidFill>
                <a:schemeClr val="bg1"/>
              </a:solidFill>
            </a:endParaRPr>
          </a:p>
        </p:txBody>
      </p:sp>
      <p:sp>
        <p:nvSpPr>
          <p:cNvPr id="192" name="Google Shape;6769;g2d30ebb658d_0_19789">
            <a:extLst>
              <a:ext uri="{FF2B5EF4-FFF2-40B4-BE49-F238E27FC236}">
                <a16:creationId xmlns:a16="http://schemas.microsoft.com/office/drawing/2014/main" id="{F142FA9D-B0A6-9F07-0704-96F48A551729}"/>
              </a:ext>
            </a:extLst>
          </p:cNvPr>
          <p:cNvSpPr txBox="1"/>
          <p:nvPr/>
        </p:nvSpPr>
        <p:spPr>
          <a:xfrm>
            <a:off x="7987375" y="5393633"/>
            <a:ext cx="2052807" cy="175433"/>
          </a:xfrm>
          <a:prstGeom prst="rect">
            <a:avLst/>
          </a:prstGeom>
          <a:noFill/>
          <a:ln>
            <a:noFill/>
          </a:ln>
        </p:spPr>
        <p:txBody>
          <a:bodyPr spcFirstLastPara="1" wrap="square" lIns="0" tIns="0" rIns="0" bIns="0" anchor="t" anchorCtr="0">
            <a:spAutoFit/>
          </a:bodyPr>
          <a:lstStyle/>
          <a:p>
            <a:pPr marL="0" marR="0" lvl="0" indent="0" algn="ctr" rtl="0">
              <a:lnSpc>
                <a:spcPct val="95000"/>
              </a:lnSpc>
              <a:spcBef>
                <a:spcPts val="0"/>
              </a:spcBef>
              <a:spcAft>
                <a:spcPts val="0"/>
              </a:spcAft>
              <a:buClr>
                <a:srgbClr val="000000"/>
              </a:buClr>
              <a:buSzPts val="900"/>
              <a:buFont typeface="Arial"/>
              <a:buNone/>
            </a:pPr>
            <a:r>
              <a:rPr lang="en-US" sz="1200" dirty="0">
                <a:solidFill>
                  <a:schemeClr val="bg1"/>
                </a:solidFill>
              </a:rPr>
              <a:t>Networking</a:t>
            </a:r>
            <a:endParaRPr sz="1200" dirty="0">
              <a:solidFill>
                <a:schemeClr val="bg1"/>
              </a:solidFill>
            </a:endParaRPr>
          </a:p>
        </p:txBody>
      </p:sp>
      <p:grpSp>
        <p:nvGrpSpPr>
          <p:cNvPr id="210" name="Google Shape;2501;p82">
            <a:extLst>
              <a:ext uri="{FF2B5EF4-FFF2-40B4-BE49-F238E27FC236}">
                <a16:creationId xmlns:a16="http://schemas.microsoft.com/office/drawing/2014/main" id="{ED860A71-5565-4826-04D2-4A871E2ACAB2}"/>
              </a:ext>
            </a:extLst>
          </p:cNvPr>
          <p:cNvGrpSpPr/>
          <p:nvPr/>
        </p:nvGrpSpPr>
        <p:grpSpPr>
          <a:xfrm>
            <a:off x="1349920" y="2465492"/>
            <a:ext cx="2910783" cy="2138046"/>
            <a:chOff x="515811" y="1296099"/>
            <a:chExt cx="2578053" cy="1893648"/>
          </a:xfrm>
        </p:grpSpPr>
        <p:grpSp>
          <p:nvGrpSpPr>
            <p:cNvPr id="211" name="Google Shape;2502;p82">
              <a:extLst>
                <a:ext uri="{FF2B5EF4-FFF2-40B4-BE49-F238E27FC236}">
                  <a16:creationId xmlns:a16="http://schemas.microsoft.com/office/drawing/2014/main" id="{6B8FAAE6-91DA-C2A6-3AC1-30F5AF0F1B83}"/>
                </a:ext>
              </a:extLst>
            </p:cNvPr>
            <p:cNvGrpSpPr/>
            <p:nvPr/>
          </p:nvGrpSpPr>
          <p:grpSpPr>
            <a:xfrm>
              <a:off x="515811" y="1296099"/>
              <a:ext cx="2578053" cy="1178566"/>
              <a:chOff x="12517750" y="3025185"/>
              <a:chExt cx="624400" cy="285446"/>
            </a:xfrm>
          </p:grpSpPr>
          <p:sp>
            <p:nvSpPr>
              <p:cNvPr id="228" name="Google Shape;2503;p82">
                <a:extLst>
                  <a:ext uri="{FF2B5EF4-FFF2-40B4-BE49-F238E27FC236}">
                    <a16:creationId xmlns:a16="http://schemas.microsoft.com/office/drawing/2014/main" id="{8C37AE1E-7BF0-47CE-3C14-8A6C8B64DDCC}"/>
                  </a:ext>
                </a:extLst>
              </p:cNvPr>
              <p:cNvSpPr/>
              <p:nvPr/>
            </p:nvSpPr>
            <p:spPr>
              <a:xfrm>
                <a:off x="12517750" y="3025185"/>
                <a:ext cx="583653" cy="238296"/>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rgbClr val="F4F8FA"/>
                  </a:gs>
                  <a:gs pos="34000">
                    <a:srgbClr val="F4F8FA"/>
                  </a:gs>
                  <a:gs pos="41000">
                    <a:srgbClr val="E0EFF9"/>
                  </a:gs>
                  <a:gs pos="54000">
                    <a:srgbClr val="CBE6F7"/>
                  </a:gs>
                  <a:gs pos="70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229" name="Google Shape;2504;p82">
                <a:extLst>
                  <a:ext uri="{FF2B5EF4-FFF2-40B4-BE49-F238E27FC236}">
                    <a16:creationId xmlns:a16="http://schemas.microsoft.com/office/drawing/2014/main" id="{4BA05942-9C5F-9A70-BEE3-BFC0F5D77203}"/>
                  </a:ext>
                </a:extLst>
              </p:cNvPr>
              <p:cNvSpPr/>
              <p:nvPr/>
            </p:nvSpPr>
            <p:spPr>
              <a:xfrm>
                <a:off x="12778089" y="3134512"/>
                <a:ext cx="364061" cy="144900"/>
              </a:xfrm>
              <a:custGeom>
                <a:avLst/>
                <a:gdLst/>
                <a:ahLst/>
                <a:cxnLst/>
                <a:rect l="l" t="t" r="r" b="b"/>
                <a:pathLst>
                  <a:path w="565884" h="225229" extrusionOk="0">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0">
                    <a:srgbClr val="FFFFFF"/>
                  </a:gs>
                  <a:gs pos="29000">
                    <a:srgbClr val="FFFFFF"/>
                  </a:gs>
                  <a:gs pos="48000">
                    <a:srgbClr val="F8FBFE"/>
                  </a:gs>
                  <a:gs pos="73000">
                    <a:srgbClr val="E7F3FB"/>
                  </a:gs>
                  <a:gs pos="100000">
                    <a:srgbClr val="CEE6F7"/>
                  </a:gs>
                </a:gsLst>
                <a:lin ang="2700000"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230" name="Google Shape;2505;p82">
                <a:extLst>
                  <a:ext uri="{FF2B5EF4-FFF2-40B4-BE49-F238E27FC236}">
                    <a16:creationId xmlns:a16="http://schemas.microsoft.com/office/drawing/2014/main" id="{1396E30E-3D97-E3E4-AFB8-983E37A83D74}"/>
                  </a:ext>
                </a:extLst>
              </p:cNvPr>
              <p:cNvSpPr/>
              <p:nvPr/>
            </p:nvSpPr>
            <p:spPr>
              <a:xfrm>
                <a:off x="12625046" y="3185661"/>
                <a:ext cx="306086" cy="124970"/>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32000">
                    <a:schemeClr val="lt1"/>
                  </a:gs>
                  <a:gs pos="37000">
                    <a:srgbClr val="F8FCFE"/>
                  </a:gs>
                  <a:gs pos="45000">
                    <a:srgbClr val="E7F4FB"/>
                  </a:gs>
                  <a:gs pos="52999">
                    <a:srgbClr val="CBE6F7"/>
                  </a:gs>
                  <a:gs pos="63000">
                    <a:srgbClr val="A4D4F1"/>
                  </a:gs>
                  <a:gs pos="64000">
                    <a:srgbClr val="A0D2F1"/>
                  </a:gs>
                  <a:gs pos="100000">
                    <a:srgbClr val="A0D2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grpSp>
          <p:nvGrpSpPr>
            <p:cNvPr id="212" name="Google Shape;2506;p82">
              <a:extLst>
                <a:ext uri="{FF2B5EF4-FFF2-40B4-BE49-F238E27FC236}">
                  <a16:creationId xmlns:a16="http://schemas.microsoft.com/office/drawing/2014/main" id="{62E26E32-CF58-C809-554A-C2D0C51DA496}"/>
                </a:ext>
              </a:extLst>
            </p:cNvPr>
            <p:cNvGrpSpPr/>
            <p:nvPr/>
          </p:nvGrpSpPr>
          <p:grpSpPr>
            <a:xfrm>
              <a:off x="834518" y="1951351"/>
              <a:ext cx="2204659" cy="1238396"/>
              <a:chOff x="2045726" y="-3162642"/>
              <a:chExt cx="3362383" cy="1888710"/>
            </a:xfrm>
          </p:grpSpPr>
          <p:grpSp>
            <p:nvGrpSpPr>
              <p:cNvPr id="213" name="Google Shape;2507;p82">
                <a:extLst>
                  <a:ext uri="{FF2B5EF4-FFF2-40B4-BE49-F238E27FC236}">
                    <a16:creationId xmlns:a16="http://schemas.microsoft.com/office/drawing/2014/main" id="{1F32935F-69D2-0990-D169-E582A2DAFE17}"/>
                  </a:ext>
                </a:extLst>
              </p:cNvPr>
              <p:cNvGrpSpPr/>
              <p:nvPr/>
            </p:nvGrpSpPr>
            <p:grpSpPr>
              <a:xfrm>
                <a:off x="2045726" y="-2770367"/>
                <a:ext cx="3362383" cy="1313767"/>
                <a:chOff x="1975167" y="3670020"/>
                <a:chExt cx="3836692" cy="1499090"/>
              </a:xfrm>
            </p:grpSpPr>
            <p:sp>
              <p:nvSpPr>
                <p:cNvPr id="217" name="Google Shape;2508;p82">
                  <a:extLst>
                    <a:ext uri="{FF2B5EF4-FFF2-40B4-BE49-F238E27FC236}">
                      <a16:creationId xmlns:a16="http://schemas.microsoft.com/office/drawing/2014/main" id="{F567A91B-ED2D-7329-91C4-62ACE5B5F79A}"/>
                    </a:ext>
                  </a:extLst>
                </p:cNvPr>
                <p:cNvSpPr/>
                <p:nvPr/>
              </p:nvSpPr>
              <p:spPr>
                <a:xfrm>
                  <a:off x="2776315" y="3670020"/>
                  <a:ext cx="603863" cy="921603"/>
                </a:xfrm>
                <a:custGeom>
                  <a:avLst/>
                  <a:gdLst/>
                  <a:ahLst/>
                  <a:cxnLst/>
                  <a:rect l="l" t="t" r="r" b="b"/>
                  <a:pathLst>
                    <a:path w="603863" h="921603" extrusionOk="0">
                      <a:moveTo>
                        <a:pt x="414942" y="921603"/>
                      </a:moveTo>
                      <a:lnTo>
                        <a:pt x="138521" y="921603"/>
                      </a:lnTo>
                      <a:cubicBezTo>
                        <a:pt x="58263" y="921603"/>
                        <a:pt x="29638" y="831453"/>
                        <a:pt x="29638" y="796564"/>
                      </a:cubicBezTo>
                      <a:cubicBezTo>
                        <a:pt x="29638" y="761675"/>
                        <a:pt x="75825" y="688033"/>
                        <a:pt x="54927" y="601161"/>
                      </a:cubicBezTo>
                      <a:cubicBezTo>
                        <a:pt x="34028" y="514289"/>
                        <a:pt x="-29428" y="392820"/>
                        <a:pt x="16057" y="294650"/>
                      </a:cubicBezTo>
                      <a:cubicBezTo>
                        <a:pt x="61542" y="196480"/>
                        <a:pt x="131028" y="183660"/>
                        <a:pt x="148706" y="180031"/>
                      </a:cubicBezTo>
                      <a:cubicBezTo>
                        <a:pt x="166327" y="176460"/>
                        <a:pt x="237569" y="155503"/>
                        <a:pt x="251267" y="95149"/>
                      </a:cubicBezTo>
                      <a:cubicBezTo>
                        <a:pt x="264965" y="34795"/>
                        <a:pt x="347563" y="-28193"/>
                        <a:pt x="432913" y="13428"/>
                      </a:cubicBezTo>
                      <a:cubicBezTo>
                        <a:pt x="506029" y="49079"/>
                        <a:pt x="505385" y="108554"/>
                        <a:pt x="505385" y="142624"/>
                      </a:cubicBezTo>
                      <a:cubicBezTo>
                        <a:pt x="505385" y="176694"/>
                        <a:pt x="451529" y="290728"/>
                        <a:pt x="551396" y="390537"/>
                      </a:cubicBezTo>
                      <a:cubicBezTo>
                        <a:pt x="641078" y="480160"/>
                        <a:pt x="591613" y="598936"/>
                        <a:pt x="577798" y="619835"/>
                      </a:cubicBezTo>
                      <a:cubicBezTo>
                        <a:pt x="564041" y="640733"/>
                        <a:pt x="512585" y="686569"/>
                        <a:pt x="533718" y="757870"/>
                      </a:cubicBezTo>
                      <a:cubicBezTo>
                        <a:pt x="553094" y="823258"/>
                        <a:pt x="518732" y="921486"/>
                        <a:pt x="414883" y="921486"/>
                      </a:cubicBezTo>
                      <a:close/>
                    </a:path>
                  </a:pathLst>
                </a:custGeom>
                <a:solidFill>
                  <a:srgbClr val="84C341"/>
                </a:solidFill>
                <a:ln w="9525" cap="flat" cmpd="sng">
                  <a:solidFill>
                    <a:srgbClr val="78BE2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218" name="Google Shape;2509;p82">
                  <a:extLst>
                    <a:ext uri="{FF2B5EF4-FFF2-40B4-BE49-F238E27FC236}">
                      <a16:creationId xmlns:a16="http://schemas.microsoft.com/office/drawing/2014/main" id="{0E24F50F-F1A4-8365-1189-EF7AC757D3D3}"/>
                    </a:ext>
                  </a:extLst>
                </p:cNvPr>
                <p:cNvSpPr/>
                <p:nvPr/>
              </p:nvSpPr>
              <p:spPr>
                <a:xfrm>
                  <a:off x="3056676" y="3957177"/>
                  <a:ext cx="34069" cy="998032"/>
                </a:xfrm>
                <a:custGeom>
                  <a:avLst/>
                  <a:gdLst/>
                  <a:ahLst/>
                  <a:cxnLst/>
                  <a:rect l="l" t="t" r="r" b="b"/>
                  <a:pathLst>
                    <a:path w="34069" h="998032" extrusionOk="0">
                      <a:moveTo>
                        <a:pt x="34070" y="998032"/>
                      </a:moveTo>
                      <a:lnTo>
                        <a:pt x="0" y="998032"/>
                      </a:lnTo>
                      <a:lnTo>
                        <a:pt x="9308" y="0"/>
                      </a:lnTo>
                      <a:lnTo>
                        <a:pt x="24821" y="0"/>
                      </a:lnTo>
                      <a:lnTo>
                        <a:pt x="34070" y="998032"/>
                      </a:lnTo>
                      <a:close/>
                    </a:path>
                  </a:pathLst>
                </a:custGeom>
                <a:solidFill>
                  <a:srgbClr val="4D4D4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219" name="Google Shape;2510;p82">
                  <a:extLst>
                    <a:ext uri="{FF2B5EF4-FFF2-40B4-BE49-F238E27FC236}">
                      <a16:creationId xmlns:a16="http://schemas.microsoft.com/office/drawing/2014/main" id="{97C7B91B-E9E2-4793-7F76-7F349235717C}"/>
                    </a:ext>
                  </a:extLst>
                </p:cNvPr>
                <p:cNvSpPr/>
                <p:nvPr/>
              </p:nvSpPr>
              <p:spPr>
                <a:xfrm>
                  <a:off x="3073710" y="4403537"/>
                  <a:ext cx="106658" cy="106599"/>
                </a:xfrm>
                <a:custGeom>
                  <a:avLst/>
                  <a:gdLst/>
                  <a:ahLst/>
                  <a:cxnLst/>
                  <a:rect l="l" t="t" r="r" b="b"/>
                  <a:pathLst>
                    <a:path w="106658" h="106599" extrusionOk="0">
                      <a:moveTo>
                        <a:pt x="106658" y="0"/>
                      </a:moveTo>
                      <a:lnTo>
                        <a:pt x="0" y="106600"/>
                      </a:lnTo>
                    </a:path>
                  </a:pathLst>
                </a:custGeom>
                <a:noFill/>
                <a:ln w="12400" cap="flat" cmpd="sng">
                  <a:solidFill>
                    <a:srgbClr val="4D4D4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220" name="Google Shape;2511;p82">
                  <a:extLst>
                    <a:ext uri="{FF2B5EF4-FFF2-40B4-BE49-F238E27FC236}">
                      <a16:creationId xmlns:a16="http://schemas.microsoft.com/office/drawing/2014/main" id="{B5E65F07-F1BE-9384-3945-ABAB59D3379E}"/>
                    </a:ext>
                  </a:extLst>
                </p:cNvPr>
                <p:cNvSpPr/>
                <p:nvPr/>
              </p:nvSpPr>
              <p:spPr>
                <a:xfrm>
                  <a:off x="2929236" y="4425782"/>
                  <a:ext cx="144767" cy="144767"/>
                </a:xfrm>
                <a:custGeom>
                  <a:avLst/>
                  <a:gdLst/>
                  <a:ahLst/>
                  <a:cxnLst/>
                  <a:rect l="l" t="t" r="r" b="b"/>
                  <a:pathLst>
                    <a:path w="144767" h="144767" extrusionOk="0">
                      <a:moveTo>
                        <a:pt x="0" y="0"/>
                      </a:moveTo>
                      <a:lnTo>
                        <a:pt x="144767" y="144767"/>
                      </a:lnTo>
                    </a:path>
                  </a:pathLst>
                </a:custGeom>
                <a:noFill/>
                <a:ln w="12400" cap="flat" cmpd="sng">
                  <a:solidFill>
                    <a:srgbClr val="4D4D4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221" name="Google Shape;2512;p82">
                  <a:extLst>
                    <a:ext uri="{FF2B5EF4-FFF2-40B4-BE49-F238E27FC236}">
                      <a16:creationId xmlns:a16="http://schemas.microsoft.com/office/drawing/2014/main" id="{510E4692-113B-CC32-14E3-B7D0B96AC7D1}"/>
                    </a:ext>
                  </a:extLst>
                </p:cNvPr>
                <p:cNvSpPr/>
                <p:nvPr/>
              </p:nvSpPr>
              <p:spPr>
                <a:xfrm>
                  <a:off x="3193623" y="4012972"/>
                  <a:ext cx="470157" cy="740511"/>
                </a:xfrm>
                <a:custGeom>
                  <a:avLst/>
                  <a:gdLst/>
                  <a:ahLst/>
                  <a:cxnLst/>
                  <a:rect l="l" t="t" r="r" b="b"/>
                  <a:pathLst>
                    <a:path w="470157" h="740511" extrusionOk="0">
                      <a:moveTo>
                        <a:pt x="323052" y="740395"/>
                      </a:moveTo>
                      <a:lnTo>
                        <a:pt x="155514" y="740395"/>
                      </a:lnTo>
                      <a:cubicBezTo>
                        <a:pt x="92994" y="740395"/>
                        <a:pt x="41304" y="678577"/>
                        <a:pt x="37382" y="614477"/>
                      </a:cubicBezTo>
                      <a:cubicBezTo>
                        <a:pt x="35684" y="587432"/>
                        <a:pt x="59041" y="558572"/>
                        <a:pt x="42767" y="490960"/>
                      </a:cubicBezTo>
                      <a:cubicBezTo>
                        <a:pt x="26494" y="423288"/>
                        <a:pt x="-22913" y="328748"/>
                        <a:pt x="12503" y="252296"/>
                      </a:cubicBezTo>
                      <a:cubicBezTo>
                        <a:pt x="47919" y="175844"/>
                        <a:pt x="78184" y="165834"/>
                        <a:pt x="91940" y="163082"/>
                      </a:cubicBezTo>
                      <a:cubicBezTo>
                        <a:pt x="105697" y="160272"/>
                        <a:pt x="124254" y="-19852"/>
                        <a:pt x="289744" y="1807"/>
                      </a:cubicBezTo>
                      <a:cubicBezTo>
                        <a:pt x="372518" y="12637"/>
                        <a:pt x="393475" y="107470"/>
                        <a:pt x="393475" y="133988"/>
                      </a:cubicBezTo>
                      <a:cubicBezTo>
                        <a:pt x="393475" y="160507"/>
                        <a:pt x="351502" y="201601"/>
                        <a:pt x="429301" y="279341"/>
                      </a:cubicBezTo>
                      <a:cubicBezTo>
                        <a:pt x="499138" y="349120"/>
                        <a:pt x="460619" y="441611"/>
                        <a:pt x="449848" y="457885"/>
                      </a:cubicBezTo>
                      <a:cubicBezTo>
                        <a:pt x="439135" y="474159"/>
                        <a:pt x="399036" y="533693"/>
                        <a:pt x="415486" y="589247"/>
                      </a:cubicBezTo>
                      <a:cubicBezTo>
                        <a:pt x="430589" y="640176"/>
                        <a:pt x="403836" y="740512"/>
                        <a:pt x="322935" y="740512"/>
                      </a:cubicBezTo>
                      <a:close/>
                    </a:path>
                  </a:pathLst>
                </a:custGeom>
                <a:solidFill>
                  <a:srgbClr val="84C341"/>
                </a:solidFill>
                <a:ln w="9525" cap="flat" cmpd="sng">
                  <a:solidFill>
                    <a:srgbClr val="78BE2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222" name="Google Shape;2513;p82">
                  <a:extLst>
                    <a:ext uri="{FF2B5EF4-FFF2-40B4-BE49-F238E27FC236}">
                      <a16:creationId xmlns:a16="http://schemas.microsoft.com/office/drawing/2014/main" id="{17FC29EB-0F2F-69EC-0D8B-41BE420B6913}"/>
                    </a:ext>
                  </a:extLst>
                </p:cNvPr>
                <p:cNvSpPr/>
                <p:nvPr/>
              </p:nvSpPr>
              <p:spPr>
                <a:xfrm>
                  <a:off x="3411891" y="4259414"/>
                  <a:ext cx="26576" cy="777106"/>
                </a:xfrm>
                <a:custGeom>
                  <a:avLst/>
                  <a:gdLst/>
                  <a:ahLst/>
                  <a:cxnLst/>
                  <a:rect l="l" t="t" r="r" b="b"/>
                  <a:pathLst>
                    <a:path w="26576" h="777106" extrusionOk="0">
                      <a:moveTo>
                        <a:pt x="26577" y="777106"/>
                      </a:moveTo>
                      <a:lnTo>
                        <a:pt x="0" y="777106"/>
                      </a:lnTo>
                      <a:lnTo>
                        <a:pt x="7259" y="0"/>
                      </a:lnTo>
                      <a:lnTo>
                        <a:pt x="19318" y="0"/>
                      </a:lnTo>
                      <a:lnTo>
                        <a:pt x="26577" y="777106"/>
                      </a:lnTo>
                      <a:close/>
                    </a:path>
                  </a:pathLst>
                </a:custGeom>
                <a:solidFill>
                  <a:srgbClr val="4D4D4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223" name="Google Shape;2514;p82">
                  <a:extLst>
                    <a:ext uri="{FF2B5EF4-FFF2-40B4-BE49-F238E27FC236}">
                      <a16:creationId xmlns:a16="http://schemas.microsoft.com/office/drawing/2014/main" id="{2BA1E568-61E2-CF39-BB92-04C6992A786C}"/>
                    </a:ext>
                  </a:extLst>
                </p:cNvPr>
                <p:cNvSpPr/>
                <p:nvPr/>
              </p:nvSpPr>
              <p:spPr>
                <a:xfrm>
                  <a:off x="3425179" y="4606960"/>
                  <a:ext cx="83008" cy="83008"/>
                </a:xfrm>
                <a:custGeom>
                  <a:avLst/>
                  <a:gdLst/>
                  <a:ahLst/>
                  <a:cxnLst/>
                  <a:rect l="l" t="t" r="r" b="b"/>
                  <a:pathLst>
                    <a:path w="83008" h="83008" extrusionOk="0">
                      <a:moveTo>
                        <a:pt x="83008" y="0"/>
                      </a:moveTo>
                      <a:lnTo>
                        <a:pt x="0" y="83008"/>
                      </a:lnTo>
                    </a:path>
                  </a:pathLst>
                </a:custGeom>
                <a:noFill/>
                <a:ln w="9650" cap="flat" cmpd="sng">
                  <a:solidFill>
                    <a:srgbClr val="4D4D4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224" name="Google Shape;2515;p82">
                  <a:extLst>
                    <a:ext uri="{FF2B5EF4-FFF2-40B4-BE49-F238E27FC236}">
                      <a16:creationId xmlns:a16="http://schemas.microsoft.com/office/drawing/2014/main" id="{D8020854-2B39-C861-F030-18C15FFA1A17}"/>
                    </a:ext>
                  </a:extLst>
                </p:cNvPr>
                <p:cNvSpPr/>
                <p:nvPr/>
              </p:nvSpPr>
              <p:spPr>
                <a:xfrm>
                  <a:off x="3312667" y="4624288"/>
                  <a:ext cx="112746" cy="112746"/>
                </a:xfrm>
                <a:custGeom>
                  <a:avLst/>
                  <a:gdLst/>
                  <a:ahLst/>
                  <a:cxnLst/>
                  <a:rect l="l" t="t" r="r" b="b"/>
                  <a:pathLst>
                    <a:path w="112746" h="112746" extrusionOk="0">
                      <a:moveTo>
                        <a:pt x="0" y="0"/>
                      </a:moveTo>
                      <a:lnTo>
                        <a:pt x="112746" y="112746"/>
                      </a:lnTo>
                    </a:path>
                  </a:pathLst>
                </a:custGeom>
                <a:noFill/>
                <a:ln w="9650" cap="flat" cmpd="sng">
                  <a:solidFill>
                    <a:srgbClr val="4D4D4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225" name="Google Shape;2516;p82">
                  <a:extLst>
                    <a:ext uri="{FF2B5EF4-FFF2-40B4-BE49-F238E27FC236}">
                      <a16:creationId xmlns:a16="http://schemas.microsoft.com/office/drawing/2014/main" id="{344AA9B6-89EF-B0E4-4A48-7DE9B89B2A01}"/>
                    </a:ext>
                  </a:extLst>
                </p:cNvPr>
                <p:cNvSpPr/>
                <p:nvPr/>
              </p:nvSpPr>
              <p:spPr>
                <a:xfrm>
                  <a:off x="2048297" y="4980206"/>
                  <a:ext cx="1414187" cy="188904"/>
                </a:xfrm>
                <a:custGeom>
                  <a:avLst/>
                  <a:gdLst/>
                  <a:ahLst/>
                  <a:cxnLst/>
                  <a:rect l="l" t="t" r="r" b="b"/>
                  <a:pathLst>
                    <a:path w="1414186" h="188905" extrusionOk="0">
                      <a:moveTo>
                        <a:pt x="0" y="188906"/>
                      </a:moveTo>
                      <a:lnTo>
                        <a:pt x="1414187" y="188906"/>
                      </a:lnTo>
                      <a:cubicBezTo>
                        <a:pt x="1256834" y="74579"/>
                        <a:pt x="998793" y="0"/>
                        <a:pt x="707093" y="0"/>
                      </a:cubicBezTo>
                      <a:cubicBezTo>
                        <a:pt x="415393" y="0"/>
                        <a:pt x="157353" y="74579"/>
                        <a:pt x="0" y="188906"/>
                      </a:cubicBezTo>
                      <a:close/>
                    </a:path>
                  </a:pathLst>
                </a:custGeom>
                <a:solidFill>
                  <a:srgbClr val="AACF3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226" name="Google Shape;2517;p82">
                  <a:extLst>
                    <a:ext uri="{FF2B5EF4-FFF2-40B4-BE49-F238E27FC236}">
                      <a16:creationId xmlns:a16="http://schemas.microsoft.com/office/drawing/2014/main" id="{8F5CD49E-B059-585B-E7B9-D901502CA5FB}"/>
                    </a:ext>
                  </a:extLst>
                </p:cNvPr>
                <p:cNvSpPr/>
                <p:nvPr/>
              </p:nvSpPr>
              <p:spPr>
                <a:xfrm flipH="1">
                  <a:off x="1975167" y="4869098"/>
                  <a:ext cx="2352918" cy="300012"/>
                </a:xfrm>
                <a:custGeom>
                  <a:avLst/>
                  <a:gdLst/>
                  <a:ahLst/>
                  <a:cxnLst/>
                  <a:rect l="l" t="t" r="r" b="b"/>
                  <a:pathLst>
                    <a:path w="2352918" h="300012" extrusionOk="0">
                      <a:moveTo>
                        <a:pt x="0" y="300013"/>
                      </a:moveTo>
                      <a:lnTo>
                        <a:pt x="2352919" y="300013"/>
                      </a:lnTo>
                      <a:cubicBezTo>
                        <a:pt x="1555383" y="282334"/>
                        <a:pt x="1423377" y="0"/>
                        <a:pt x="938030" y="0"/>
                      </a:cubicBezTo>
                      <a:cubicBezTo>
                        <a:pt x="452683" y="0"/>
                        <a:pt x="261787" y="109761"/>
                        <a:pt x="0" y="300013"/>
                      </a:cubicBezTo>
                      <a:close/>
                    </a:path>
                  </a:pathLst>
                </a:custGeom>
                <a:solidFill>
                  <a:srgbClr val="84C34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227" name="Google Shape;2518;p82">
                  <a:extLst>
                    <a:ext uri="{FF2B5EF4-FFF2-40B4-BE49-F238E27FC236}">
                      <a16:creationId xmlns:a16="http://schemas.microsoft.com/office/drawing/2014/main" id="{95D2494B-022F-E36D-5578-16516081CCBD}"/>
                    </a:ext>
                  </a:extLst>
                </p:cNvPr>
                <p:cNvSpPr/>
                <p:nvPr/>
              </p:nvSpPr>
              <p:spPr>
                <a:xfrm>
                  <a:off x="4397672" y="4980206"/>
                  <a:ext cx="1414187" cy="188904"/>
                </a:xfrm>
                <a:custGeom>
                  <a:avLst/>
                  <a:gdLst/>
                  <a:ahLst/>
                  <a:cxnLst/>
                  <a:rect l="l" t="t" r="r" b="b"/>
                  <a:pathLst>
                    <a:path w="1414186" h="188905" extrusionOk="0">
                      <a:moveTo>
                        <a:pt x="0" y="188906"/>
                      </a:moveTo>
                      <a:lnTo>
                        <a:pt x="1414187" y="188906"/>
                      </a:lnTo>
                      <a:cubicBezTo>
                        <a:pt x="1256834" y="74579"/>
                        <a:pt x="998793" y="0"/>
                        <a:pt x="707093" y="0"/>
                      </a:cubicBezTo>
                      <a:cubicBezTo>
                        <a:pt x="415393" y="0"/>
                        <a:pt x="157353" y="74579"/>
                        <a:pt x="0" y="188906"/>
                      </a:cubicBezTo>
                      <a:close/>
                    </a:path>
                  </a:pathLst>
                </a:custGeom>
                <a:solidFill>
                  <a:srgbClr val="AACF3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grpSp>
            <p:nvGrpSpPr>
              <p:cNvPr id="214" name="Google Shape;2519;p82" descr="On Prem">
                <a:extLst>
                  <a:ext uri="{FF2B5EF4-FFF2-40B4-BE49-F238E27FC236}">
                    <a16:creationId xmlns:a16="http://schemas.microsoft.com/office/drawing/2014/main" id="{64E27B6A-D134-5597-78C3-8A0C00915997}"/>
                  </a:ext>
                </a:extLst>
              </p:cNvPr>
              <p:cNvGrpSpPr/>
              <p:nvPr/>
            </p:nvGrpSpPr>
            <p:grpSpPr>
              <a:xfrm>
                <a:off x="3245524" y="-3162642"/>
                <a:ext cx="1888708" cy="1888710"/>
                <a:chOff x="5103197" y="3655132"/>
                <a:chExt cx="1946038" cy="1946038"/>
              </a:xfrm>
            </p:grpSpPr>
            <p:sp>
              <p:nvSpPr>
                <p:cNvPr id="215" name="Google Shape;2520;p82">
                  <a:extLst>
                    <a:ext uri="{FF2B5EF4-FFF2-40B4-BE49-F238E27FC236}">
                      <a16:creationId xmlns:a16="http://schemas.microsoft.com/office/drawing/2014/main" id="{14E3F73F-D220-CA6E-6333-79CD12F294ED}"/>
                    </a:ext>
                  </a:extLst>
                </p:cNvPr>
                <p:cNvSpPr/>
                <p:nvPr/>
              </p:nvSpPr>
              <p:spPr>
                <a:xfrm>
                  <a:off x="5492186" y="3906456"/>
                  <a:ext cx="1180618" cy="1504710"/>
                </a:xfrm>
                <a:custGeom>
                  <a:avLst/>
                  <a:gdLst/>
                  <a:ahLst/>
                  <a:cxnLst/>
                  <a:rect l="l" t="t" r="r" b="b"/>
                  <a:pathLst>
                    <a:path w="1180618" h="1504710" extrusionOk="0">
                      <a:moveTo>
                        <a:pt x="0" y="0"/>
                      </a:moveTo>
                      <a:lnTo>
                        <a:pt x="602225" y="0"/>
                      </a:lnTo>
                      <a:lnTo>
                        <a:pt x="602225" y="625034"/>
                      </a:lnTo>
                      <a:lnTo>
                        <a:pt x="1180618" y="625034"/>
                      </a:lnTo>
                      <a:lnTo>
                        <a:pt x="1180618" y="1504710"/>
                      </a:lnTo>
                      <a:lnTo>
                        <a:pt x="0" y="1504710"/>
                      </a:lnTo>
                      <a:lnTo>
                        <a:pt x="0" y="821804"/>
                      </a:lnTo>
                      <a:lnTo>
                        <a:pt x="0" y="625034"/>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216" name="Google Shape;2521;p82">
                  <a:extLst>
                    <a:ext uri="{FF2B5EF4-FFF2-40B4-BE49-F238E27FC236}">
                      <a16:creationId xmlns:a16="http://schemas.microsoft.com/office/drawing/2014/main" id="{4DC874CD-2239-67A9-5F3D-12B5E2CE56D9}"/>
                    </a:ext>
                  </a:extLst>
                </p:cNvPr>
                <p:cNvPicPr preferRelativeResize="0"/>
                <p:nvPr/>
              </p:nvPicPr>
              <p:blipFill rotWithShape="1">
                <a:blip r:embed="rId6">
                  <a:alphaModFix/>
                </a:blip>
                <a:srcRect/>
                <a:stretch/>
              </p:blipFill>
              <p:spPr>
                <a:xfrm>
                  <a:off x="5103197" y="3655132"/>
                  <a:ext cx="1946038" cy="1946038"/>
                </a:xfrm>
                <a:prstGeom prst="rect">
                  <a:avLst/>
                </a:prstGeom>
                <a:noFill/>
                <a:ln>
                  <a:noFill/>
                </a:ln>
              </p:spPr>
            </p:pic>
          </p:grpSp>
        </p:grpSp>
      </p:grpSp>
    </p:spTree>
    <p:extLst>
      <p:ext uri="{BB962C8B-B14F-4D97-AF65-F5344CB8AC3E}">
        <p14:creationId xmlns:p14="http://schemas.microsoft.com/office/powerpoint/2010/main" val="1783006293"/>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6A9FA84F-CC1D-AFA0-9083-55ECA87EAFF8}"/>
              </a:ext>
            </a:extLst>
          </p:cNvPr>
          <p:cNvSpPr/>
          <p:nvPr/>
        </p:nvSpPr>
        <p:spPr>
          <a:xfrm>
            <a:off x="1644216" y="2118994"/>
            <a:ext cx="8763685" cy="1717833"/>
          </a:xfrm>
          <a:prstGeom prst="roundRect">
            <a:avLst>
              <a:gd name="adj" fmla="val 5867"/>
            </a:avLst>
          </a:prstGeom>
          <a:noFill/>
          <a:ln w="25400">
            <a:gradFill>
              <a:gsLst>
                <a:gs pos="0">
                  <a:schemeClr val="accent1">
                    <a:lumMod val="5000"/>
                    <a:lumOff val="95000"/>
                  </a:schemeClr>
                </a:gs>
                <a:gs pos="0">
                  <a:schemeClr val="accent2"/>
                </a:gs>
                <a:gs pos="100000">
                  <a:schemeClr val="accent5"/>
                </a:gs>
                <a:gs pos="100000">
                  <a:schemeClr val="accent1">
                    <a:lumMod val="30000"/>
                    <a:lumOff val="70000"/>
                  </a:schemeClr>
                </a:gs>
              </a:gsLst>
              <a:lin ang="5400000" scaled="1"/>
            </a:gra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0" name="Oval 9">
            <a:extLst>
              <a:ext uri="{FF2B5EF4-FFF2-40B4-BE49-F238E27FC236}">
                <a16:creationId xmlns:a16="http://schemas.microsoft.com/office/drawing/2014/main" id="{E370EB2B-B693-7EB8-B629-0F55FB0979F4}"/>
              </a:ext>
            </a:extLst>
          </p:cNvPr>
          <p:cNvSpPr/>
          <p:nvPr/>
        </p:nvSpPr>
        <p:spPr>
          <a:xfrm>
            <a:off x="1205868" y="2514473"/>
            <a:ext cx="914400" cy="914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9" name="Title 8">
            <a:extLst>
              <a:ext uri="{FF2B5EF4-FFF2-40B4-BE49-F238E27FC236}">
                <a16:creationId xmlns:a16="http://schemas.microsoft.com/office/drawing/2014/main" id="{AE5C862D-5A0A-89B2-D0F3-3CCD8133E370}"/>
              </a:ext>
            </a:extLst>
          </p:cNvPr>
          <p:cNvSpPr>
            <a:spLocks noGrp="1"/>
          </p:cNvSpPr>
          <p:nvPr>
            <p:ph type="title"/>
          </p:nvPr>
        </p:nvSpPr>
        <p:spPr/>
        <p:txBody>
          <a:bodyPr/>
          <a:lstStyle/>
          <a:p>
            <a:r>
              <a:rPr lang="en-US" dirty="0">
                <a:solidFill>
                  <a:schemeClr val="accent2"/>
                </a:solidFill>
                <a:latin typeface="Arial" panose="020B0604020202020204" pitchFamily="34" charset="0"/>
              </a:rPr>
              <a:t>Deliver a Scalable Private Cloud</a:t>
            </a:r>
          </a:p>
        </p:txBody>
      </p:sp>
      <p:sp>
        <p:nvSpPr>
          <p:cNvPr id="3" name="Text Placeholder 2">
            <a:extLst>
              <a:ext uri="{FF2B5EF4-FFF2-40B4-BE49-F238E27FC236}">
                <a16:creationId xmlns:a16="http://schemas.microsoft.com/office/drawing/2014/main" id="{71E2265B-EAFA-A6D8-EA09-201FB6B09CBF}"/>
              </a:ext>
            </a:extLst>
          </p:cNvPr>
          <p:cNvSpPr>
            <a:spLocks noGrp="1"/>
          </p:cNvSpPr>
          <p:nvPr>
            <p:ph type="body" sz="quarter" idx="12"/>
          </p:nvPr>
        </p:nvSpPr>
        <p:spPr/>
        <p:txBody>
          <a:bodyPr/>
          <a:lstStyle/>
          <a:p>
            <a:r>
              <a:rPr lang="en-US" sz="2000" dirty="0">
                <a:solidFill>
                  <a:schemeClr val="tx1"/>
                </a:solidFill>
                <a:latin typeface="Arial" panose="020B0604020202020204" pitchFamily="34" charset="0"/>
              </a:rPr>
              <a:t>Workload Domains</a:t>
            </a:r>
          </a:p>
        </p:txBody>
      </p:sp>
      <p:sp>
        <p:nvSpPr>
          <p:cNvPr id="4" name="Rectangle 3">
            <a:extLst>
              <a:ext uri="{FF2B5EF4-FFF2-40B4-BE49-F238E27FC236}">
                <a16:creationId xmlns:a16="http://schemas.microsoft.com/office/drawing/2014/main" id="{3F20F27A-7B09-B84C-9E0D-8D2878865B15}"/>
              </a:ext>
              <a:ext uri="{C183D7F6-B498-43B3-948B-1728B52AA6E4}">
                <adec:decorative xmlns:adec="http://schemas.microsoft.com/office/drawing/2017/decorative" val="1"/>
              </a:ext>
            </a:extLst>
          </p:cNvPr>
          <p:cNvSpPr/>
          <p:nvPr/>
        </p:nvSpPr>
        <p:spPr>
          <a:xfrm>
            <a:off x="5352189" y="4930384"/>
            <a:ext cx="1889686" cy="1402985"/>
          </a:xfrm>
          <a:prstGeom prst="rect">
            <a:avLst/>
          </a:prstGeom>
          <a:solidFill>
            <a:schemeClr val="bg1"/>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nvGrpSpPr>
          <p:cNvPr id="2" name="Group 1">
            <a:extLst>
              <a:ext uri="{FF2B5EF4-FFF2-40B4-BE49-F238E27FC236}">
                <a16:creationId xmlns:a16="http://schemas.microsoft.com/office/drawing/2014/main" id="{5A6E294F-4549-E14F-BCE5-5DEF90F280D5}"/>
              </a:ext>
              <a:ext uri="{C183D7F6-B498-43B3-948B-1728B52AA6E4}">
                <adec:decorative xmlns:adec="http://schemas.microsoft.com/office/drawing/2017/decorative" val="1"/>
              </a:ext>
            </a:extLst>
          </p:cNvPr>
          <p:cNvGrpSpPr/>
          <p:nvPr/>
        </p:nvGrpSpPr>
        <p:grpSpPr>
          <a:xfrm>
            <a:off x="5222263" y="4894868"/>
            <a:ext cx="1788571" cy="960529"/>
            <a:chOff x="5222034" y="4873023"/>
            <a:chExt cx="1789037" cy="960779"/>
          </a:xfrm>
        </p:grpSpPr>
        <p:pic>
          <p:nvPicPr>
            <p:cNvPr id="311" name="Graphic 310">
              <a:extLst>
                <a:ext uri="{FF2B5EF4-FFF2-40B4-BE49-F238E27FC236}">
                  <a16:creationId xmlns:a16="http://schemas.microsoft.com/office/drawing/2014/main" id="{B15C2929-E0EB-EC4E-B314-47653EA1BC6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22081" y="4873023"/>
              <a:ext cx="788940" cy="451732"/>
            </a:xfrm>
            <a:prstGeom prst="rect">
              <a:avLst/>
            </a:prstGeom>
          </p:spPr>
        </p:pic>
        <p:sp>
          <p:nvSpPr>
            <p:cNvPr id="351" name="TextBox 350">
              <a:extLst>
                <a:ext uri="{FF2B5EF4-FFF2-40B4-BE49-F238E27FC236}">
                  <a16:creationId xmlns:a16="http://schemas.microsoft.com/office/drawing/2014/main" id="{59254A59-02BF-0540-BD40-BFD70818A910}"/>
                </a:ext>
              </a:extLst>
            </p:cNvPr>
            <p:cNvSpPr txBox="1"/>
            <p:nvPr/>
          </p:nvSpPr>
          <p:spPr>
            <a:xfrm>
              <a:off x="5222034" y="5556803"/>
              <a:ext cx="1789037" cy="276999"/>
            </a:xfrm>
            <a:prstGeom prst="rect">
              <a:avLst/>
            </a:prstGeom>
            <a:noFill/>
          </p:spPr>
          <p:txBody>
            <a:bodyPr wrap="square" rtlCol="0" anchor="b">
              <a:sp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effectLst/>
                  <a:uLnTx/>
                  <a:uFillTx/>
                  <a:latin typeface="Arial" panose="020B0604020202020204" pitchFamily="34" charset="0"/>
                  <a:ea typeface="+mn-ea"/>
                  <a:cs typeface="+mn-cs"/>
                </a:rPr>
                <a:t>Data Center</a:t>
              </a:r>
            </a:p>
          </p:txBody>
        </p:sp>
      </p:grpSp>
      <p:sp>
        <p:nvSpPr>
          <p:cNvPr id="42" name="Isosceles Triangle 130">
            <a:extLst>
              <a:ext uri="{FF2B5EF4-FFF2-40B4-BE49-F238E27FC236}">
                <a16:creationId xmlns:a16="http://schemas.microsoft.com/office/drawing/2014/main" id="{79A1E098-77CE-664A-91EB-A576DB5C49A0}"/>
              </a:ext>
              <a:ext uri="{C183D7F6-B498-43B3-948B-1728B52AA6E4}">
                <adec:decorative xmlns:adec="http://schemas.microsoft.com/office/drawing/2017/decorative" val="1"/>
              </a:ext>
            </a:extLst>
          </p:cNvPr>
          <p:cNvSpPr/>
          <p:nvPr/>
        </p:nvSpPr>
        <p:spPr>
          <a:xfrm>
            <a:off x="4727370" y="4360831"/>
            <a:ext cx="2713023" cy="836073"/>
          </a:xfrm>
          <a:prstGeom prst="triangle">
            <a:avLst>
              <a:gd name="adj" fmla="val 49967"/>
            </a:avLst>
          </a:prstGeom>
          <a:gradFill flip="none" rotWithShape="1">
            <a:gsLst>
              <a:gs pos="0">
                <a:schemeClr val="accent2">
                  <a:alpha val="31000"/>
                </a:schemeClr>
              </a:gs>
              <a:gs pos="100000">
                <a:srgbClr val="F4F8FA">
                  <a:alpha val="0"/>
                </a:srgb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92" tIns="45696" rIns="91392" bIns="45696"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44" name="Rectangle 43">
            <a:extLst>
              <a:ext uri="{FF2B5EF4-FFF2-40B4-BE49-F238E27FC236}">
                <a16:creationId xmlns:a16="http://schemas.microsoft.com/office/drawing/2014/main" id="{50A4CBCF-9278-F047-8D53-F8FFCFF0892A}"/>
              </a:ext>
              <a:ext uri="{C183D7F6-B498-43B3-948B-1728B52AA6E4}">
                <adec:decorative xmlns:adec="http://schemas.microsoft.com/office/drawing/2017/decorative" val="1"/>
              </a:ext>
            </a:extLst>
          </p:cNvPr>
          <p:cNvSpPr/>
          <p:nvPr/>
        </p:nvSpPr>
        <p:spPr>
          <a:xfrm>
            <a:off x="2538605" y="3958739"/>
            <a:ext cx="894476" cy="184666"/>
          </a:xfrm>
          <a:prstGeom prst="rect">
            <a:avLst/>
          </a:prstGeom>
        </p:spPr>
        <p:txBody>
          <a:bodyPr wrap="none" lIns="0" tIns="0" rIns="0" bIns="0">
            <a:sp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rgbClr val="000000"/>
                </a:solidFill>
                <a:effectLst/>
                <a:uLnTx/>
                <a:uFillTx/>
                <a:latin typeface="Arial" panose="020B0604020202020204" pitchFamily="34" charset="0"/>
                <a:ea typeface="+mn-ea"/>
                <a:cs typeface="+mn-cs"/>
              </a:rPr>
              <a:t>Management</a:t>
            </a:r>
          </a:p>
        </p:txBody>
      </p:sp>
      <p:sp>
        <p:nvSpPr>
          <p:cNvPr id="52" name="Rectangle 51">
            <a:extLst>
              <a:ext uri="{FF2B5EF4-FFF2-40B4-BE49-F238E27FC236}">
                <a16:creationId xmlns:a16="http://schemas.microsoft.com/office/drawing/2014/main" id="{1BB4CAF1-EEB6-5D47-8625-76E83675D9E1}"/>
              </a:ext>
              <a:ext uri="{C183D7F6-B498-43B3-948B-1728B52AA6E4}">
                <adec:decorative xmlns:adec="http://schemas.microsoft.com/office/drawing/2017/decorative" val="1"/>
              </a:ext>
            </a:extLst>
          </p:cNvPr>
          <p:cNvSpPr/>
          <p:nvPr/>
        </p:nvSpPr>
        <p:spPr>
          <a:xfrm>
            <a:off x="4685468" y="3958715"/>
            <a:ext cx="732573" cy="184666"/>
          </a:xfrm>
          <a:prstGeom prst="rect">
            <a:avLst/>
          </a:prstGeom>
        </p:spPr>
        <p:txBody>
          <a:bodyPr wrap="none" lIns="0" tIns="0" rIns="0" bIns="0">
            <a:sp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rgbClr val="000000"/>
                </a:solidFill>
                <a:effectLst/>
                <a:uLnTx/>
                <a:uFillTx/>
                <a:latin typeface="Arial" panose="020B0604020202020204" pitchFamily="34" charset="0"/>
                <a:ea typeface="+mn-ea"/>
                <a:cs typeface="+mn-cs"/>
              </a:rPr>
              <a:t>Production</a:t>
            </a:r>
          </a:p>
        </p:txBody>
      </p:sp>
      <p:sp>
        <p:nvSpPr>
          <p:cNvPr id="53" name="Rectangle 52">
            <a:extLst>
              <a:ext uri="{FF2B5EF4-FFF2-40B4-BE49-F238E27FC236}">
                <a16:creationId xmlns:a16="http://schemas.microsoft.com/office/drawing/2014/main" id="{9597D640-C046-7D4B-97C4-51B349D22577}"/>
              </a:ext>
              <a:ext uri="{C183D7F6-B498-43B3-948B-1728B52AA6E4}">
                <adec:decorative xmlns:adec="http://schemas.microsoft.com/office/drawing/2017/decorative" val="1"/>
              </a:ext>
            </a:extLst>
          </p:cNvPr>
          <p:cNvSpPr/>
          <p:nvPr/>
        </p:nvSpPr>
        <p:spPr>
          <a:xfrm>
            <a:off x="6787720" y="3958715"/>
            <a:ext cx="658385" cy="184666"/>
          </a:xfrm>
          <a:prstGeom prst="rect">
            <a:avLst/>
          </a:prstGeom>
        </p:spPr>
        <p:txBody>
          <a:bodyPr wrap="none" lIns="0" tIns="0" rIns="0" bIns="0">
            <a:sp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rgbClr val="000000"/>
                </a:solidFill>
                <a:effectLst/>
                <a:uLnTx/>
                <a:uFillTx/>
                <a:latin typeface="Arial" panose="020B0604020202020204" pitchFamily="34" charset="0"/>
                <a:ea typeface="+mn-ea"/>
                <a:cs typeface="+mn-cs"/>
              </a:rPr>
              <a:t>Private AI</a:t>
            </a:r>
          </a:p>
        </p:txBody>
      </p:sp>
      <p:sp>
        <p:nvSpPr>
          <p:cNvPr id="54" name="Rectangle 53">
            <a:extLst>
              <a:ext uri="{FF2B5EF4-FFF2-40B4-BE49-F238E27FC236}">
                <a16:creationId xmlns:a16="http://schemas.microsoft.com/office/drawing/2014/main" id="{EE29B55D-893A-FF4D-9A7B-18503A9AA07B}"/>
              </a:ext>
              <a:ext uri="{C183D7F6-B498-43B3-948B-1728B52AA6E4}">
                <adec:decorative xmlns:adec="http://schemas.microsoft.com/office/drawing/2017/decorative" val="1"/>
              </a:ext>
            </a:extLst>
          </p:cNvPr>
          <p:cNvSpPr/>
          <p:nvPr/>
        </p:nvSpPr>
        <p:spPr>
          <a:xfrm>
            <a:off x="8790128" y="3958715"/>
            <a:ext cx="783868" cy="184666"/>
          </a:xfrm>
          <a:prstGeom prst="rect">
            <a:avLst/>
          </a:prstGeom>
        </p:spPr>
        <p:txBody>
          <a:bodyPr wrap="none" lIns="0" tIns="0" rIns="0" bIns="0">
            <a:sp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rgbClr val="000000"/>
                </a:solidFill>
                <a:effectLst/>
                <a:uLnTx/>
                <a:uFillTx/>
                <a:latin typeface="Arial" panose="020B0604020202020204" pitchFamily="34" charset="0"/>
                <a:ea typeface="+mn-ea"/>
                <a:cs typeface="+mn-cs"/>
              </a:rPr>
              <a:t>Kubernetes</a:t>
            </a:r>
          </a:p>
        </p:txBody>
      </p:sp>
      <p:sp>
        <p:nvSpPr>
          <p:cNvPr id="56" name="Left Bracket 55">
            <a:extLst>
              <a:ext uri="{FF2B5EF4-FFF2-40B4-BE49-F238E27FC236}">
                <a16:creationId xmlns:a16="http://schemas.microsoft.com/office/drawing/2014/main" id="{3647EB22-74DB-F148-98AE-E2B9ACF670C2}"/>
              </a:ext>
              <a:ext uri="{C183D7F6-B498-43B3-948B-1728B52AA6E4}">
                <adec:decorative xmlns:adec="http://schemas.microsoft.com/office/drawing/2017/decorative" val="1"/>
              </a:ext>
            </a:extLst>
          </p:cNvPr>
          <p:cNvSpPr/>
          <p:nvPr/>
        </p:nvSpPr>
        <p:spPr>
          <a:xfrm rot="16200000">
            <a:off x="6060421" y="3066690"/>
            <a:ext cx="164916" cy="4854112"/>
          </a:xfrm>
          <a:prstGeom prst="leftBracket">
            <a:avLst>
              <a:gd name="adj" fmla="val 0"/>
            </a:avLst>
          </a:prstGeom>
          <a:ln w="22225" cap="sq">
            <a:gradFill>
              <a:gsLst>
                <a:gs pos="0">
                  <a:schemeClr val="accent1">
                    <a:lumMod val="5000"/>
                    <a:lumOff val="95000"/>
                  </a:schemeClr>
                </a:gs>
                <a:gs pos="0">
                  <a:schemeClr val="accent2"/>
                </a:gs>
                <a:gs pos="100000">
                  <a:schemeClr val="accent5"/>
                </a:gs>
                <a:gs pos="100000">
                  <a:schemeClr val="accent1">
                    <a:lumMod val="30000"/>
                    <a:lumOff val="70000"/>
                  </a:schemeClr>
                </a:gs>
              </a:gsLst>
              <a:lin ang="5400000" scaled="1"/>
            </a:gradFill>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795" u="none" strike="noStrike" kern="1200" cap="none" spc="0" normalizeH="0" baseline="0" noProof="0" dirty="0">
              <a:ln>
                <a:noFill/>
              </a:ln>
              <a:solidFill>
                <a:srgbClr val="F2F2F2"/>
              </a:solidFill>
              <a:effectLst/>
              <a:uLnTx/>
              <a:uFillTx/>
              <a:latin typeface="Arial" panose="020B0604020202020204" pitchFamily="34" charset="0"/>
              <a:ea typeface="+mn-ea"/>
              <a:cs typeface="+mn-cs"/>
            </a:endParaRPr>
          </a:p>
        </p:txBody>
      </p:sp>
      <p:pic>
        <p:nvPicPr>
          <p:cNvPr id="58" name="Graphic 57">
            <a:extLst>
              <a:ext uri="{FF2B5EF4-FFF2-40B4-BE49-F238E27FC236}">
                <a16:creationId xmlns:a16="http://schemas.microsoft.com/office/drawing/2014/main" id="{A974FCFF-855C-8C4F-A0DC-9C130984B77C}"/>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81426" y="4653767"/>
            <a:ext cx="773609" cy="686266"/>
          </a:xfrm>
          <a:prstGeom prst="rect">
            <a:avLst/>
          </a:prstGeom>
        </p:spPr>
      </p:pic>
      <p:sp>
        <p:nvSpPr>
          <p:cNvPr id="59" name="TextBox 58">
            <a:extLst>
              <a:ext uri="{FF2B5EF4-FFF2-40B4-BE49-F238E27FC236}">
                <a16:creationId xmlns:a16="http://schemas.microsoft.com/office/drawing/2014/main" id="{8B1EB381-AF01-BB49-AEDA-D3641D3D7223}"/>
              </a:ext>
              <a:ext uri="{C183D7F6-B498-43B3-948B-1728B52AA6E4}">
                <adec:decorative xmlns:adec="http://schemas.microsoft.com/office/drawing/2017/decorative" val="1"/>
              </a:ext>
            </a:extLst>
          </p:cNvPr>
          <p:cNvSpPr txBox="1"/>
          <p:nvPr/>
        </p:nvSpPr>
        <p:spPr>
          <a:xfrm>
            <a:off x="2822588" y="5590990"/>
            <a:ext cx="1788571" cy="276927"/>
          </a:xfrm>
          <a:prstGeom prst="rect">
            <a:avLst/>
          </a:prstGeom>
          <a:noFill/>
        </p:spPr>
        <p:txBody>
          <a:bodyPr wrap="square" rtlCol="0" anchor="b">
            <a:sp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rgbClr val="000000"/>
                </a:solidFill>
                <a:effectLst/>
                <a:uLnTx/>
                <a:uFillTx/>
                <a:latin typeface="Arial" panose="020B0604020202020204" pitchFamily="34" charset="0"/>
                <a:ea typeface="+mn-ea"/>
                <a:cs typeface="+mn-cs"/>
              </a:rPr>
              <a:t>Stretched</a:t>
            </a:r>
          </a:p>
        </p:txBody>
      </p:sp>
      <p:sp>
        <p:nvSpPr>
          <p:cNvPr id="60" name="TextBox 59">
            <a:extLst>
              <a:ext uri="{FF2B5EF4-FFF2-40B4-BE49-F238E27FC236}">
                <a16:creationId xmlns:a16="http://schemas.microsoft.com/office/drawing/2014/main" id="{26BC5FC4-6B53-E34B-85C3-4B76A81358A3}"/>
              </a:ext>
              <a:ext uri="{C183D7F6-B498-43B3-948B-1728B52AA6E4}">
                <adec:decorative xmlns:adec="http://schemas.microsoft.com/office/drawing/2017/decorative" val="1"/>
              </a:ext>
            </a:extLst>
          </p:cNvPr>
          <p:cNvSpPr txBox="1"/>
          <p:nvPr/>
        </p:nvSpPr>
        <p:spPr>
          <a:xfrm>
            <a:off x="7673945" y="5572174"/>
            <a:ext cx="1788571" cy="276927"/>
          </a:xfrm>
          <a:prstGeom prst="rect">
            <a:avLst/>
          </a:prstGeom>
          <a:noFill/>
        </p:spPr>
        <p:txBody>
          <a:bodyPr wrap="square" rtlCol="0" anchor="b">
            <a:sp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Arial" panose="020B0604020202020204" pitchFamily="34" charset="0"/>
              </a:rPr>
              <a:t>Edge</a:t>
            </a:r>
            <a:endParaRPr kumimoji="0" lang="en-US" sz="120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grpSp>
        <p:nvGrpSpPr>
          <p:cNvPr id="61" name="Graphic 5">
            <a:extLst>
              <a:ext uri="{FF2B5EF4-FFF2-40B4-BE49-F238E27FC236}">
                <a16:creationId xmlns:a16="http://schemas.microsoft.com/office/drawing/2014/main" id="{6DC23720-2F7E-3E48-86D0-92D8C7D8EF37}"/>
              </a:ext>
              <a:ext uri="{C183D7F6-B498-43B3-948B-1728B52AA6E4}">
                <adec:decorative xmlns:adec="http://schemas.microsoft.com/office/drawing/2017/decorative" val="1"/>
              </a:ext>
            </a:extLst>
          </p:cNvPr>
          <p:cNvGrpSpPr/>
          <p:nvPr/>
        </p:nvGrpSpPr>
        <p:grpSpPr>
          <a:xfrm>
            <a:off x="2681363" y="2870774"/>
            <a:ext cx="638349" cy="766989"/>
            <a:chOff x="4841874" y="1924050"/>
            <a:chExt cx="2505075" cy="3009900"/>
          </a:xfrm>
          <a:solidFill>
            <a:schemeClr val="accent2"/>
          </a:solidFill>
        </p:grpSpPr>
        <p:grpSp>
          <p:nvGrpSpPr>
            <p:cNvPr id="62" name="Graphic 5">
              <a:extLst>
                <a:ext uri="{FF2B5EF4-FFF2-40B4-BE49-F238E27FC236}">
                  <a16:creationId xmlns:a16="http://schemas.microsoft.com/office/drawing/2014/main" id="{D360A9D5-3E8E-DA47-A6A7-124588F062E2}"/>
                </a:ext>
              </a:extLst>
            </p:cNvPr>
            <p:cNvGrpSpPr/>
            <p:nvPr/>
          </p:nvGrpSpPr>
          <p:grpSpPr>
            <a:xfrm>
              <a:off x="4841874" y="1924050"/>
              <a:ext cx="2506980" cy="638175"/>
              <a:chOff x="4841874" y="1924050"/>
              <a:chExt cx="2506980" cy="638175"/>
            </a:xfrm>
            <a:grpFill/>
          </p:grpSpPr>
          <p:grpSp>
            <p:nvGrpSpPr>
              <p:cNvPr id="109" name="Graphic 5">
                <a:extLst>
                  <a:ext uri="{FF2B5EF4-FFF2-40B4-BE49-F238E27FC236}">
                    <a16:creationId xmlns:a16="http://schemas.microsoft.com/office/drawing/2014/main" id="{12F458F9-8AE2-A643-ACF3-3FA7E5DC4C1E}"/>
                  </a:ext>
                </a:extLst>
              </p:cNvPr>
              <p:cNvGrpSpPr/>
              <p:nvPr/>
            </p:nvGrpSpPr>
            <p:grpSpPr>
              <a:xfrm>
                <a:off x="4841874" y="1924050"/>
                <a:ext cx="2506980" cy="638175"/>
                <a:chOff x="4841874" y="1924050"/>
                <a:chExt cx="2506980" cy="638175"/>
              </a:xfrm>
              <a:grpFill/>
            </p:grpSpPr>
            <p:sp>
              <p:nvSpPr>
                <p:cNvPr id="119" name="Freeform: Shape 397">
                  <a:extLst>
                    <a:ext uri="{FF2B5EF4-FFF2-40B4-BE49-F238E27FC236}">
                      <a16:creationId xmlns:a16="http://schemas.microsoft.com/office/drawing/2014/main" id="{6CAC405D-4AB2-9D49-B610-0E593BF5E96C}"/>
                    </a:ext>
                  </a:extLst>
                </p:cNvPr>
                <p:cNvSpPr/>
                <p:nvPr/>
              </p:nvSpPr>
              <p:spPr>
                <a:xfrm>
                  <a:off x="4841874" y="1924050"/>
                  <a:ext cx="2506980" cy="638175"/>
                </a:xfrm>
                <a:custGeom>
                  <a:avLst/>
                  <a:gdLst>
                    <a:gd name="connsiteX0" fmla="*/ 2427923 w 2506980"/>
                    <a:gd name="connsiteY0" fmla="*/ 80010 h 638175"/>
                    <a:gd name="connsiteX1" fmla="*/ 2427923 w 2506980"/>
                    <a:gd name="connsiteY1" fmla="*/ 558165 h 638175"/>
                    <a:gd name="connsiteX2" fmla="*/ 80010 w 2506980"/>
                    <a:gd name="connsiteY2" fmla="*/ 558165 h 638175"/>
                    <a:gd name="connsiteX3" fmla="*/ 80010 w 2506980"/>
                    <a:gd name="connsiteY3" fmla="*/ 80010 h 638175"/>
                    <a:gd name="connsiteX4" fmla="*/ 2427923 w 2506980"/>
                    <a:gd name="connsiteY4" fmla="*/ 80010 h 638175"/>
                    <a:gd name="connsiteX5" fmla="*/ 2506980 w 2506980"/>
                    <a:gd name="connsiteY5" fmla="*/ 0 h 638175"/>
                    <a:gd name="connsiteX6" fmla="*/ 0 w 2506980"/>
                    <a:gd name="connsiteY6" fmla="*/ 0 h 638175"/>
                    <a:gd name="connsiteX7" fmla="*/ 0 w 2506980"/>
                    <a:gd name="connsiteY7" fmla="*/ 638175 h 638175"/>
                    <a:gd name="connsiteX8" fmla="*/ 2506980 w 2506980"/>
                    <a:gd name="connsiteY8" fmla="*/ 638175 h 638175"/>
                    <a:gd name="connsiteX9" fmla="*/ 2506980 w 2506980"/>
                    <a:gd name="connsiteY9" fmla="*/ 0 h 638175"/>
                    <a:gd name="connsiteX10" fmla="*/ 2506980 w 2506980"/>
                    <a:gd name="connsiteY10" fmla="*/ 0 h 6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6980" h="638175">
                      <a:moveTo>
                        <a:pt x="2427923" y="80010"/>
                      </a:moveTo>
                      <a:lnTo>
                        <a:pt x="2427923" y="558165"/>
                      </a:lnTo>
                      <a:lnTo>
                        <a:pt x="80010" y="558165"/>
                      </a:lnTo>
                      <a:lnTo>
                        <a:pt x="80010" y="80010"/>
                      </a:lnTo>
                      <a:lnTo>
                        <a:pt x="2427923" y="80010"/>
                      </a:lnTo>
                      <a:moveTo>
                        <a:pt x="2506980" y="0"/>
                      </a:moveTo>
                      <a:lnTo>
                        <a:pt x="0" y="0"/>
                      </a:lnTo>
                      <a:lnTo>
                        <a:pt x="0" y="638175"/>
                      </a:lnTo>
                      <a:lnTo>
                        <a:pt x="2506980" y="638175"/>
                      </a:lnTo>
                      <a:lnTo>
                        <a:pt x="2506980" y="0"/>
                      </a:lnTo>
                      <a:lnTo>
                        <a:pt x="2506980" y="0"/>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120" name="Graphic 5">
                  <a:extLst>
                    <a:ext uri="{FF2B5EF4-FFF2-40B4-BE49-F238E27FC236}">
                      <a16:creationId xmlns:a16="http://schemas.microsoft.com/office/drawing/2014/main" id="{B3384DDF-3869-5A46-8E4A-FBAABCB68F43}"/>
                    </a:ext>
                  </a:extLst>
                </p:cNvPr>
                <p:cNvGrpSpPr/>
                <p:nvPr/>
              </p:nvGrpSpPr>
              <p:grpSpPr>
                <a:xfrm>
                  <a:off x="5084761" y="2124075"/>
                  <a:ext cx="1200150" cy="238125"/>
                  <a:chOff x="5084761" y="2124075"/>
                  <a:chExt cx="1200150" cy="238125"/>
                </a:xfrm>
                <a:grpFill/>
              </p:grpSpPr>
              <p:sp>
                <p:nvSpPr>
                  <p:cNvPr id="121" name="Freeform: Shape 399">
                    <a:extLst>
                      <a:ext uri="{FF2B5EF4-FFF2-40B4-BE49-F238E27FC236}">
                        <a16:creationId xmlns:a16="http://schemas.microsoft.com/office/drawing/2014/main" id="{F3F29D88-5160-874E-B698-A49CFA1DD6F8}"/>
                      </a:ext>
                    </a:extLst>
                  </p:cNvPr>
                  <p:cNvSpPr/>
                  <p:nvPr/>
                </p:nvSpPr>
                <p:spPr>
                  <a:xfrm>
                    <a:off x="5084761" y="2124075"/>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8" name="Freeform: Shape 400">
                    <a:extLst>
                      <a:ext uri="{FF2B5EF4-FFF2-40B4-BE49-F238E27FC236}">
                        <a16:creationId xmlns:a16="http://schemas.microsoft.com/office/drawing/2014/main" id="{25A61B45-F570-2E41-BB20-9EE3E5C662D3}"/>
                      </a:ext>
                    </a:extLst>
                  </p:cNvPr>
                  <p:cNvSpPr/>
                  <p:nvPr/>
                </p:nvSpPr>
                <p:spPr>
                  <a:xfrm>
                    <a:off x="5244781" y="2124075"/>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0" name="Freeform: Shape 401">
                    <a:extLst>
                      <a:ext uri="{FF2B5EF4-FFF2-40B4-BE49-F238E27FC236}">
                        <a16:creationId xmlns:a16="http://schemas.microsoft.com/office/drawing/2014/main" id="{A5BFCF69-4645-C442-9471-3AEAA94DE840}"/>
                      </a:ext>
                    </a:extLst>
                  </p:cNvPr>
                  <p:cNvSpPr/>
                  <p:nvPr/>
                </p:nvSpPr>
                <p:spPr>
                  <a:xfrm>
                    <a:off x="5404801" y="2124075"/>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2" name="Freeform: Shape 402">
                    <a:extLst>
                      <a:ext uri="{FF2B5EF4-FFF2-40B4-BE49-F238E27FC236}">
                        <a16:creationId xmlns:a16="http://schemas.microsoft.com/office/drawing/2014/main" id="{F0ADB4BB-368D-684E-B18D-6B4EA91AF18E}"/>
                      </a:ext>
                    </a:extLst>
                  </p:cNvPr>
                  <p:cNvSpPr/>
                  <p:nvPr/>
                </p:nvSpPr>
                <p:spPr>
                  <a:xfrm>
                    <a:off x="5564821" y="2124075"/>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3" name="Freeform: Shape 403">
                    <a:extLst>
                      <a:ext uri="{FF2B5EF4-FFF2-40B4-BE49-F238E27FC236}">
                        <a16:creationId xmlns:a16="http://schemas.microsoft.com/office/drawing/2014/main" id="{123C3332-A48E-EE4D-998C-11039645EF2D}"/>
                      </a:ext>
                    </a:extLst>
                  </p:cNvPr>
                  <p:cNvSpPr/>
                  <p:nvPr/>
                </p:nvSpPr>
                <p:spPr>
                  <a:xfrm>
                    <a:off x="5724841" y="2124075"/>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4" name="Freeform: Shape 404">
                    <a:extLst>
                      <a:ext uri="{FF2B5EF4-FFF2-40B4-BE49-F238E27FC236}">
                        <a16:creationId xmlns:a16="http://schemas.microsoft.com/office/drawing/2014/main" id="{74043F97-54EA-3740-8D4C-786F54D5D03D}"/>
                      </a:ext>
                    </a:extLst>
                  </p:cNvPr>
                  <p:cNvSpPr/>
                  <p:nvPr/>
                </p:nvSpPr>
                <p:spPr>
                  <a:xfrm>
                    <a:off x="5884861" y="2124075"/>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6" name="Freeform: Shape 405">
                    <a:extLst>
                      <a:ext uri="{FF2B5EF4-FFF2-40B4-BE49-F238E27FC236}">
                        <a16:creationId xmlns:a16="http://schemas.microsoft.com/office/drawing/2014/main" id="{705BC6D2-BAE0-2B4C-9839-3F3943BCFB6A}"/>
                      </a:ext>
                    </a:extLst>
                  </p:cNvPr>
                  <p:cNvSpPr/>
                  <p:nvPr/>
                </p:nvSpPr>
                <p:spPr>
                  <a:xfrm>
                    <a:off x="6044881" y="2124075"/>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7" name="Freeform: Shape 406">
                    <a:extLst>
                      <a:ext uri="{FF2B5EF4-FFF2-40B4-BE49-F238E27FC236}">
                        <a16:creationId xmlns:a16="http://schemas.microsoft.com/office/drawing/2014/main" id="{56422111-6EA3-2C4B-9EB3-779576D0868F}"/>
                      </a:ext>
                    </a:extLst>
                  </p:cNvPr>
                  <p:cNvSpPr/>
                  <p:nvPr/>
                </p:nvSpPr>
                <p:spPr>
                  <a:xfrm>
                    <a:off x="6204901" y="2124075"/>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114" name="Freeform: Shape 396">
                <a:extLst>
                  <a:ext uri="{FF2B5EF4-FFF2-40B4-BE49-F238E27FC236}">
                    <a16:creationId xmlns:a16="http://schemas.microsoft.com/office/drawing/2014/main" id="{501222E3-61D5-DC45-98A4-C36F3A3DA4D6}"/>
                  </a:ext>
                </a:extLst>
              </p:cNvPr>
              <p:cNvSpPr/>
              <p:nvPr/>
            </p:nvSpPr>
            <p:spPr>
              <a:xfrm>
                <a:off x="6935469" y="2165032"/>
                <a:ext cx="160020" cy="160019"/>
              </a:xfrm>
              <a:custGeom>
                <a:avLst/>
                <a:gdLst>
                  <a:gd name="connsiteX0" fmla="*/ 160020 w 160020"/>
                  <a:gd name="connsiteY0" fmla="*/ 80010 h 160019"/>
                  <a:gd name="connsiteX1" fmla="*/ 80010 w 160020"/>
                  <a:gd name="connsiteY1" fmla="*/ 160020 h 160019"/>
                  <a:gd name="connsiteX2" fmla="*/ 0 w 160020"/>
                  <a:gd name="connsiteY2" fmla="*/ 80010 h 160019"/>
                  <a:gd name="connsiteX3" fmla="*/ 80010 w 160020"/>
                  <a:gd name="connsiteY3" fmla="*/ 0 h 160019"/>
                  <a:gd name="connsiteX4" fmla="*/ 160020 w 160020"/>
                  <a:gd name="connsiteY4" fmla="*/ 80010 h 1600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020" h="160019">
                    <a:moveTo>
                      <a:pt x="160020" y="80010"/>
                    </a:moveTo>
                    <a:cubicBezTo>
                      <a:pt x="160020" y="124198"/>
                      <a:pt x="124198" y="160020"/>
                      <a:pt x="80010" y="160020"/>
                    </a:cubicBezTo>
                    <a:cubicBezTo>
                      <a:pt x="35822" y="160020"/>
                      <a:pt x="0" y="124198"/>
                      <a:pt x="0" y="80010"/>
                    </a:cubicBezTo>
                    <a:cubicBezTo>
                      <a:pt x="0" y="35822"/>
                      <a:pt x="35822" y="0"/>
                      <a:pt x="80010" y="0"/>
                    </a:cubicBezTo>
                    <a:cubicBezTo>
                      <a:pt x="124198" y="0"/>
                      <a:pt x="160020" y="35822"/>
                      <a:pt x="160020" y="80010"/>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63" name="Graphic 5">
              <a:extLst>
                <a:ext uri="{FF2B5EF4-FFF2-40B4-BE49-F238E27FC236}">
                  <a16:creationId xmlns:a16="http://schemas.microsoft.com/office/drawing/2014/main" id="{24FC0675-79D9-F442-93F1-C60AF6BEC3A3}"/>
                </a:ext>
              </a:extLst>
            </p:cNvPr>
            <p:cNvGrpSpPr/>
            <p:nvPr/>
          </p:nvGrpSpPr>
          <p:grpSpPr>
            <a:xfrm>
              <a:off x="4841874" y="2717482"/>
              <a:ext cx="2506980" cy="638175"/>
              <a:chOff x="4841874" y="2717482"/>
              <a:chExt cx="2506980" cy="638175"/>
            </a:xfrm>
            <a:grpFill/>
          </p:grpSpPr>
          <p:grpSp>
            <p:nvGrpSpPr>
              <p:cNvPr id="90" name="Graphic 5">
                <a:extLst>
                  <a:ext uri="{FF2B5EF4-FFF2-40B4-BE49-F238E27FC236}">
                    <a16:creationId xmlns:a16="http://schemas.microsoft.com/office/drawing/2014/main" id="{2CEB9D1B-1D2A-DF44-B051-9E62AC1975A5}"/>
                  </a:ext>
                </a:extLst>
              </p:cNvPr>
              <p:cNvGrpSpPr/>
              <p:nvPr/>
            </p:nvGrpSpPr>
            <p:grpSpPr>
              <a:xfrm>
                <a:off x="4841874" y="2717482"/>
                <a:ext cx="2506980" cy="638175"/>
                <a:chOff x="4841874" y="2717482"/>
                <a:chExt cx="2506980" cy="638175"/>
              </a:xfrm>
              <a:grpFill/>
            </p:grpSpPr>
            <p:sp>
              <p:nvSpPr>
                <p:cNvPr id="97" name="Freeform: Shape 385">
                  <a:extLst>
                    <a:ext uri="{FF2B5EF4-FFF2-40B4-BE49-F238E27FC236}">
                      <a16:creationId xmlns:a16="http://schemas.microsoft.com/office/drawing/2014/main" id="{30F0E224-8AC2-0043-A266-79DAF682D2FD}"/>
                    </a:ext>
                  </a:extLst>
                </p:cNvPr>
                <p:cNvSpPr/>
                <p:nvPr/>
              </p:nvSpPr>
              <p:spPr>
                <a:xfrm>
                  <a:off x="4841874" y="2717482"/>
                  <a:ext cx="2506980" cy="638175"/>
                </a:xfrm>
                <a:custGeom>
                  <a:avLst/>
                  <a:gdLst>
                    <a:gd name="connsiteX0" fmla="*/ 2427923 w 2506980"/>
                    <a:gd name="connsiteY0" fmla="*/ 80010 h 638175"/>
                    <a:gd name="connsiteX1" fmla="*/ 2427923 w 2506980"/>
                    <a:gd name="connsiteY1" fmla="*/ 559118 h 638175"/>
                    <a:gd name="connsiteX2" fmla="*/ 80010 w 2506980"/>
                    <a:gd name="connsiteY2" fmla="*/ 559118 h 638175"/>
                    <a:gd name="connsiteX3" fmla="*/ 80010 w 2506980"/>
                    <a:gd name="connsiteY3" fmla="*/ 80010 h 638175"/>
                    <a:gd name="connsiteX4" fmla="*/ 2427923 w 2506980"/>
                    <a:gd name="connsiteY4" fmla="*/ 80010 h 638175"/>
                    <a:gd name="connsiteX5" fmla="*/ 2506980 w 2506980"/>
                    <a:gd name="connsiteY5" fmla="*/ 0 h 638175"/>
                    <a:gd name="connsiteX6" fmla="*/ 0 w 2506980"/>
                    <a:gd name="connsiteY6" fmla="*/ 0 h 638175"/>
                    <a:gd name="connsiteX7" fmla="*/ 0 w 2506980"/>
                    <a:gd name="connsiteY7" fmla="*/ 638175 h 638175"/>
                    <a:gd name="connsiteX8" fmla="*/ 2506980 w 2506980"/>
                    <a:gd name="connsiteY8" fmla="*/ 638175 h 638175"/>
                    <a:gd name="connsiteX9" fmla="*/ 2506980 w 2506980"/>
                    <a:gd name="connsiteY9" fmla="*/ 0 h 638175"/>
                    <a:gd name="connsiteX10" fmla="*/ 2506980 w 2506980"/>
                    <a:gd name="connsiteY10" fmla="*/ 0 h 6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6980" h="638175">
                      <a:moveTo>
                        <a:pt x="2427923" y="80010"/>
                      </a:moveTo>
                      <a:lnTo>
                        <a:pt x="2427923" y="559118"/>
                      </a:lnTo>
                      <a:lnTo>
                        <a:pt x="80010" y="559118"/>
                      </a:lnTo>
                      <a:lnTo>
                        <a:pt x="80010" y="80010"/>
                      </a:lnTo>
                      <a:lnTo>
                        <a:pt x="2427923" y="80010"/>
                      </a:lnTo>
                      <a:moveTo>
                        <a:pt x="2506980" y="0"/>
                      </a:moveTo>
                      <a:lnTo>
                        <a:pt x="0" y="0"/>
                      </a:lnTo>
                      <a:lnTo>
                        <a:pt x="0" y="638175"/>
                      </a:lnTo>
                      <a:lnTo>
                        <a:pt x="2506980" y="638175"/>
                      </a:lnTo>
                      <a:lnTo>
                        <a:pt x="2506980" y="0"/>
                      </a:lnTo>
                      <a:lnTo>
                        <a:pt x="2506980" y="0"/>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98" name="Graphic 5">
                  <a:extLst>
                    <a:ext uri="{FF2B5EF4-FFF2-40B4-BE49-F238E27FC236}">
                      <a16:creationId xmlns:a16="http://schemas.microsoft.com/office/drawing/2014/main" id="{39644323-5DA3-6D41-9466-B87D4656C540}"/>
                    </a:ext>
                  </a:extLst>
                </p:cNvPr>
                <p:cNvGrpSpPr/>
                <p:nvPr/>
              </p:nvGrpSpPr>
              <p:grpSpPr>
                <a:xfrm>
                  <a:off x="5084761" y="2917507"/>
                  <a:ext cx="1200150" cy="238125"/>
                  <a:chOff x="5084761" y="2917507"/>
                  <a:chExt cx="1200150" cy="238125"/>
                </a:xfrm>
                <a:grpFill/>
              </p:grpSpPr>
              <p:sp>
                <p:nvSpPr>
                  <p:cNvPr id="99" name="Freeform: Shape 387">
                    <a:extLst>
                      <a:ext uri="{FF2B5EF4-FFF2-40B4-BE49-F238E27FC236}">
                        <a16:creationId xmlns:a16="http://schemas.microsoft.com/office/drawing/2014/main" id="{13B6C50D-7F56-E04C-9384-C2CFC68048C8}"/>
                      </a:ext>
                    </a:extLst>
                  </p:cNvPr>
                  <p:cNvSpPr/>
                  <p:nvPr/>
                </p:nvSpPr>
                <p:spPr>
                  <a:xfrm>
                    <a:off x="5084761" y="291750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00" name="Freeform: Shape 388">
                    <a:extLst>
                      <a:ext uri="{FF2B5EF4-FFF2-40B4-BE49-F238E27FC236}">
                        <a16:creationId xmlns:a16="http://schemas.microsoft.com/office/drawing/2014/main" id="{85DC7011-17C4-EE48-BC62-D470D918894E}"/>
                      </a:ext>
                    </a:extLst>
                  </p:cNvPr>
                  <p:cNvSpPr/>
                  <p:nvPr/>
                </p:nvSpPr>
                <p:spPr>
                  <a:xfrm>
                    <a:off x="5244781" y="291750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01" name="Freeform: Shape 389">
                    <a:extLst>
                      <a:ext uri="{FF2B5EF4-FFF2-40B4-BE49-F238E27FC236}">
                        <a16:creationId xmlns:a16="http://schemas.microsoft.com/office/drawing/2014/main" id="{9D7C3A88-4C91-6942-B8B8-E77EDC4B8178}"/>
                      </a:ext>
                    </a:extLst>
                  </p:cNvPr>
                  <p:cNvSpPr/>
                  <p:nvPr/>
                </p:nvSpPr>
                <p:spPr>
                  <a:xfrm>
                    <a:off x="5404801" y="291750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02" name="Freeform: Shape 390">
                    <a:extLst>
                      <a:ext uri="{FF2B5EF4-FFF2-40B4-BE49-F238E27FC236}">
                        <a16:creationId xmlns:a16="http://schemas.microsoft.com/office/drawing/2014/main" id="{B7420F45-EA74-E749-8083-70C160291AA3}"/>
                      </a:ext>
                    </a:extLst>
                  </p:cNvPr>
                  <p:cNvSpPr/>
                  <p:nvPr/>
                </p:nvSpPr>
                <p:spPr>
                  <a:xfrm>
                    <a:off x="5564821" y="291750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03" name="Freeform: Shape 391">
                    <a:extLst>
                      <a:ext uri="{FF2B5EF4-FFF2-40B4-BE49-F238E27FC236}">
                        <a16:creationId xmlns:a16="http://schemas.microsoft.com/office/drawing/2014/main" id="{E64526DC-B2B3-7043-A8CD-B0C95E912CC5}"/>
                      </a:ext>
                    </a:extLst>
                  </p:cNvPr>
                  <p:cNvSpPr/>
                  <p:nvPr/>
                </p:nvSpPr>
                <p:spPr>
                  <a:xfrm>
                    <a:off x="5724841" y="291750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05" name="Freeform: Shape 392">
                    <a:extLst>
                      <a:ext uri="{FF2B5EF4-FFF2-40B4-BE49-F238E27FC236}">
                        <a16:creationId xmlns:a16="http://schemas.microsoft.com/office/drawing/2014/main" id="{F8157764-7BA4-064D-B77E-BBFD47CF4996}"/>
                      </a:ext>
                    </a:extLst>
                  </p:cNvPr>
                  <p:cNvSpPr/>
                  <p:nvPr/>
                </p:nvSpPr>
                <p:spPr>
                  <a:xfrm>
                    <a:off x="5884861" y="291750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06" name="Freeform: Shape 393">
                    <a:extLst>
                      <a:ext uri="{FF2B5EF4-FFF2-40B4-BE49-F238E27FC236}">
                        <a16:creationId xmlns:a16="http://schemas.microsoft.com/office/drawing/2014/main" id="{71AF39C9-23F0-9E46-A8E5-983B170F04D2}"/>
                      </a:ext>
                    </a:extLst>
                  </p:cNvPr>
                  <p:cNvSpPr/>
                  <p:nvPr/>
                </p:nvSpPr>
                <p:spPr>
                  <a:xfrm>
                    <a:off x="6044881" y="291750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07" name="Freeform: Shape 394">
                    <a:extLst>
                      <a:ext uri="{FF2B5EF4-FFF2-40B4-BE49-F238E27FC236}">
                        <a16:creationId xmlns:a16="http://schemas.microsoft.com/office/drawing/2014/main" id="{B5839B45-3232-974A-8BF6-9B61B42EFE24}"/>
                      </a:ext>
                    </a:extLst>
                  </p:cNvPr>
                  <p:cNvSpPr/>
                  <p:nvPr/>
                </p:nvSpPr>
                <p:spPr>
                  <a:xfrm>
                    <a:off x="6204901" y="291750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96" name="Freeform: Shape 384">
                <a:extLst>
                  <a:ext uri="{FF2B5EF4-FFF2-40B4-BE49-F238E27FC236}">
                    <a16:creationId xmlns:a16="http://schemas.microsoft.com/office/drawing/2014/main" id="{7963C1BC-8BC1-BB46-A8F0-5F41B1B48519}"/>
                  </a:ext>
                </a:extLst>
              </p:cNvPr>
              <p:cNvSpPr/>
              <p:nvPr/>
            </p:nvSpPr>
            <p:spPr>
              <a:xfrm>
                <a:off x="6935469" y="2957512"/>
                <a:ext cx="160020" cy="158114"/>
              </a:xfrm>
              <a:custGeom>
                <a:avLst/>
                <a:gdLst>
                  <a:gd name="connsiteX0" fmla="*/ 160020 w 160020"/>
                  <a:gd name="connsiteY0" fmla="*/ 79058 h 158114"/>
                  <a:gd name="connsiteX1" fmla="*/ 80010 w 160020"/>
                  <a:gd name="connsiteY1" fmla="*/ 158115 h 158114"/>
                  <a:gd name="connsiteX2" fmla="*/ 0 w 160020"/>
                  <a:gd name="connsiteY2" fmla="*/ 79058 h 158114"/>
                  <a:gd name="connsiteX3" fmla="*/ 80010 w 160020"/>
                  <a:gd name="connsiteY3" fmla="*/ 0 h 158114"/>
                  <a:gd name="connsiteX4" fmla="*/ 160020 w 160020"/>
                  <a:gd name="connsiteY4" fmla="*/ 79058 h 158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020" h="158114">
                    <a:moveTo>
                      <a:pt x="160020" y="79058"/>
                    </a:moveTo>
                    <a:cubicBezTo>
                      <a:pt x="160020" y="122720"/>
                      <a:pt x="124198" y="158115"/>
                      <a:pt x="80010" y="158115"/>
                    </a:cubicBezTo>
                    <a:cubicBezTo>
                      <a:pt x="35822" y="158115"/>
                      <a:pt x="0" y="122720"/>
                      <a:pt x="0" y="79058"/>
                    </a:cubicBezTo>
                    <a:cubicBezTo>
                      <a:pt x="0" y="35395"/>
                      <a:pt x="35822" y="0"/>
                      <a:pt x="80010" y="0"/>
                    </a:cubicBezTo>
                    <a:cubicBezTo>
                      <a:pt x="124198" y="0"/>
                      <a:pt x="160020" y="35395"/>
                      <a:pt x="160020" y="79058"/>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64" name="Graphic 5">
              <a:extLst>
                <a:ext uri="{FF2B5EF4-FFF2-40B4-BE49-F238E27FC236}">
                  <a16:creationId xmlns:a16="http://schemas.microsoft.com/office/drawing/2014/main" id="{46DCA66E-9CAF-9348-AF8C-D17E174F8F35}"/>
                </a:ext>
              </a:extLst>
            </p:cNvPr>
            <p:cNvGrpSpPr/>
            <p:nvPr/>
          </p:nvGrpSpPr>
          <p:grpSpPr>
            <a:xfrm>
              <a:off x="4841874" y="3505200"/>
              <a:ext cx="2506980" cy="638175"/>
              <a:chOff x="4841874" y="3505200"/>
              <a:chExt cx="2506980" cy="638175"/>
            </a:xfrm>
            <a:grpFill/>
          </p:grpSpPr>
          <p:grpSp>
            <p:nvGrpSpPr>
              <p:cNvPr id="78" name="Graphic 5">
                <a:extLst>
                  <a:ext uri="{FF2B5EF4-FFF2-40B4-BE49-F238E27FC236}">
                    <a16:creationId xmlns:a16="http://schemas.microsoft.com/office/drawing/2014/main" id="{089437E7-6884-0B4E-932A-1B3F3BFC6950}"/>
                  </a:ext>
                </a:extLst>
              </p:cNvPr>
              <p:cNvGrpSpPr/>
              <p:nvPr/>
            </p:nvGrpSpPr>
            <p:grpSpPr>
              <a:xfrm>
                <a:off x="4841874" y="3505200"/>
                <a:ext cx="2506980" cy="638175"/>
                <a:chOff x="4841874" y="3505200"/>
                <a:chExt cx="2506980" cy="638175"/>
              </a:xfrm>
              <a:grpFill/>
            </p:grpSpPr>
            <p:sp>
              <p:nvSpPr>
                <p:cNvPr id="80" name="Freeform: Shape 373">
                  <a:extLst>
                    <a:ext uri="{FF2B5EF4-FFF2-40B4-BE49-F238E27FC236}">
                      <a16:creationId xmlns:a16="http://schemas.microsoft.com/office/drawing/2014/main" id="{679FEE66-ADDA-CE4D-B6D6-60E48C0E27E1}"/>
                    </a:ext>
                  </a:extLst>
                </p:cNvPr>
                <p:cNvSpPr/>
                <p:nvPr/>
              </p:nvSpPr>
              <p:spPr>
                <a:xfrm>
                  <a:off x="4841874" y="3505200"/>
                  <a:ext cx="2506980" cy="638175"/>
                </a:xfrm>
                <a:custGeom>
                  <a:avLst/>
                  <a:gdLst>
                    <a:gd name="connsiteX0" fmla="*/ 2427923 w 2506980"/>
                    <a:gd name="connsiteY0" fmla="*/ 79058 h 638175"/>
                    <a:gd name="connsiteX1" fmla="*/ 2427923 w 2506980"/>
                    <a:gd name="connsiteY1" fmla="*/ 557213 h 638175"/>
                    <a:gd name="connsiteX2" fmla="*/ 80010 w 2506980"/>
                    <a:gd name="connsiteY2" fmla="*/ 557213 h 638175"/>
                    <a:gd name="connsiteX3" fmla="*/ 80010 w 2506980"/>
                    <a:gd name="connsiteY3" fmla="*/ 79058 h 638175"/>
                    <a:gd name="connsiteX4" fmla="*/ 2427923 w 2506980"/>
                    <a:gd name="connsiteY4" fmla="*/ 79058 h 638175"/>
                    <a:gd name="connsiteX5" fmla="*/ 2506980 w 2506980"/>
                    <a:gd name="connsiteY5" fmla="*/ 0 h 638175"/>
                    <a:gd name="connsiteX6" fmla="*/ 0 w 2506980"/>
                    <a:gd name="connsiteY6" fmla="*/ 0 h 638175"/>
                    <a:gd name="connsiteX7" fmla="*/ 0 w 2506980"/>
                    <a:gd name="connsiteY7" fmla="*/ 638175 h 638175"/>
                    <a:gd name="connsiteX8" fmla="*/ 2506980 w 2506980"/>
                    <a:gd name="connsiteY8" fmla="*/ 638175 h 638175"/>
                    <a:gd name="connsiteX9" fmla="*/ 2506980 w 2506980"/>
                    <a:gd name="connsiteY9" fmla="*/ 0 h 638175"/>
                    <a:gd name="connsiteX10" fmla="*/ 2506980 w 2506980"/>
                    <a:gd name="connsiteY10" fmla="*/ 0 h 6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6980" h="638175">
                      <a:moveTo>
                        <a:pt x="2427923" y="79058"/>
                      </a:moveTo>
                      <a:lnTo>
                        <a:pt x="2427923" y="557213"/>
                      </a:lnTo>
                      <a:lnTo>
                        <a:pt x="80010" y="557213"/>
                      </a:lnTo>
                      <a:lnTo>
                        <a:pt x="80010" y="79058"/>
                      </a:lnTo>
                      <a:lnTo>
                        <a:pt x="2427923" y="79058"/>
                      </a:lnTo>
                      <a:moveTo>
                        <a:pt x="2506980" y="0"/>
                      </a:moveTo>
                      <a:lnTo>
                        <a:pt x="0" y="0"/>
                      </a:lnTo>
                      <a:lnTo>
                        <a:pt x="0" y="638175"/>
                      </a:lnTo>
                      <a:lnTo>
                        <a:pt x="2506980" y="638175"/>
                      </a:lnTo>
                      <a:lnTo>
                        <a:pt x="2506980" y="0"/>
                      </a:lnTo>
                      <a:lnTo>
                        <a:pt x="2506980" y="0"/>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81" name="Graphic 5">
                  <a:extLst>
                    <a:ext uri="{FF2B5EF4-FFF2-40B4-BE49-F238E27FC236}">
                      <a16:creationId xmlns:a16="http://schemas.microsoft.com/office/drawing/2014/main" id="{603F2CAB-4807-1341-9290-9251CA27029A}"/>
                    </a:ext>
                  </a:extLst>
                </p:cNvPr>
                <p:cNvGrpSpPr/>
                <p:nvPr/>
              </p:nvGrpSpPr>
              <p:grpSpPr>
                <a:xfrm>
                  <a:off x="5084761" y="3704272"/>
                  <a:ext cx="1200150" cy="238125"/>
                  <a:chOff x="5084761" y="3704272"/>
                  <a:chExt cx="1200150" cy="238125"/>
                </a:xfrm>
                <a:grpFill/>
              </p:grpSpPr>
              <p:sp>
                <p:nvSpPr>
                  <p:cNvPr id="82" name="Freeform: Shape 375">
                    <a:extLst>
                      <a:ext uri="{FF2B5EF4-FFF2-40B4-BE49-F238E27FC236}">
                        <a16:creationId xmlns:a16="http://schemas.microsoft.com/office/drawing/2014/main" id="{DBE26D24-C3D3-0344-A3D6-478C45B24D1B}"/>
                      </a:ext>
                    </a:extLst>
                  </p:cNvPr>
                  <p:cNvSpPr/>
                  <p:nvPr/>
                </p:nvSpPr>
                <p:spPr>
                  <a:xfrm>
                    <a:off x="508476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83" name="Freeform: Shape 376">
                    <a:extLst>
                      <a:ext uri="{FF2B5EF4-FFF2-40B4-BE49-F238E27FC236}">
                        <a16:creationId xmlns:a16="http://schemas.microsoft.com/office/drawing/2014/main" id="{5965531D-DEEB-E846-8F71-3FDD6B96B9AF}"/>
                      </a:ext>
                    </a:extLst>
                  </p:cNvPr>
                  <p:cNvSpPr/>
                  <p:nvPr/>
                </p:nvSpPr>
                <p:spPr>
                  <a:xfrm>
                    <a:off x="524478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84" name="Freeform: Shape 377">
                    <a:extLst>
                      <a:ext uri="{FF2B5EF4-FFF2-40B4-BE49-F238E27FC236}">
                        <a16:creationId xmlns:a16="http://schemas.microsoft.com/office/drawing/2014/main" id="{0EC41139-1C2A-644A-BDB8-BACB25717105}"/>
                      </a:ext>
                    </a:extLst>
                  </p:cNvPr>
                  <p:cNvSpPr/>
                  <p:nvPr/>
                </p:nvSpPr>
                <p:spPr>
                  <a:xfrm>
                    <a:off x="540480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85" name="Freeform: Shape 378">
                    <a:extLst>
                      <a:ext uri="{FF2B5EF4-FFF2-40B4-BE49-F238E27FC236}">
                        <a16:creationId xmlns:a16="http://schemas.microsoft.com/office/drawing/2014/main" id="{EAF835A5-9FF2-BF4C-86FB-330F62E05459}"/>
                      </a:ext>
                    </a:extLst>
                  </p:cNvPr>
                  <p:cNvSpPr/>
                  <p:nvPr/>
                </p:nvSpPr>
                <p:spPr>
                  <a:xfrm>
                    <a:off x="556482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86" name="Freeform: Shape 379">
                    <a:extLst>
                      <a:ext uri="{FF2B5EF4-FFF2-40B4-BE49-F238E27FC236}">
                        <a16:creationId xmlns:a16="http://schemas.microsoft.com/office/drawing/2014/main" id="{5B2400B3-81AA-F347-AF0F-FB8E6DB1FF6A}"/>
                      </a:ext>
                    </a:extLst>
                  </p:cNvPr>
                  <p:cNvSpPr/>
                  <p:nvPr/>
                </p:nvSpPr>
                <p:spPr>
                  <a:xfrm>
                    <a:off x="572484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87" name="Freeform: Shape 380">
                    <a:extLst>
                      <a:ext uri="{FF2B5EF4-FFF2-40B4-BE49-F238E27FC236}">
                        <a16:creationId xmlns:a16="http://schemas.microsoft.com/office/drawing/2014/main" id="{44A1501D-E803-5842-9EA9-F498D9994288}"/>
                      </a:ext>
                    </a:extLst>
                  </p:cNvPr>
                  <p:cNvSpPr/>
                  <p:nvPr/>
                </p:nvSpPr>
                <p:spPr>
                  <a:xfrm>
                    <a:off x="588486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88" name="Freeform: Shape 381">
                    <a:extLst>
                      <a:ext uri="{FF2B5EF4-FFF2-40B4-BE49-F238E27FC236}">
                        <a16:creationId xmlns:a16="http://schemas.microsoft.com/office/drawing/2014/main" id="{7F808C30-C12A-7044-A18B-741F472E1E0C}"/>
                      </a:ext>
                    </a:extLst>
                  </p:cNvPr>
                  <p:cNvSpPr/>
                  <p:nvPr/>
                </p:nvSpPr>
                <p:spPr>
                  <a:xfrm>
                    <a:off x="604488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89" name="Freeform: Shape 382">
                    <a:extLst>
                      <a:ext uri="{FF2B5EF4-FFF2-40B4-BE49-F238E27FC236}">
                        <a16:creationId xmlns:a16="http://schemas.microsoft.com/office/drawing/2014/main" id="{09AA2F35-F26F-9E4C-9EA4-EC81F6277C04}"/>
                      </a:ext>
                    </a:extLst>
                  </p:cNvPr>
                  <p:cNvSpPr/>
                  <p:nvPr/>
                </p:nvSpPr>
                <p:spPr>
                  <a:xfrm>
                    <a:off x="620490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79" name="Freeform: Shape 372">
                <a:extLst>
                  <a:ext uri="{FF2B5EF4-FFF2-40B4-BE49-F238E27FC236}">
                    <a16:creationId xmlns:a16="http://schemas.microsoft.com/office/drawing/2014/main" id="{86C79F95-3D79-A545-A28A-93D2B69C0E01}"/>
                  </a:ext>
                </a:extLst>
              </p:cNvPr>
              <p:cNvSpPr/>
              <p:nvPr/>
            </p:nvSpPr>
            <p:spPr>
              <a:xfrm>
                <a:off x="6935469" y="3744277"/>
                <a:ext cx="160020" cy="158115"/>
              </a:xfrm>
              <a:custGeom>
                <a:avLst/>
                <a:gdLst>
                  <a:gd name="connsiteX0" fmla="*/ 160020 w 160020"/>
                  <a:gd name="connsiteY0" fmla="*/ 79057 h 158115"/>
                  <a:gd name="connsiteX1" fmla="*/ 80010 w 160020"/>
                  <a:gd name="connsiteY1" fmla="*/ 158115 h 158115"/>
                  <a:gd name="connsiteX2" fmla="*/ 0 w 160020"/>
                  <a:gd name="connsiteY2" fmla="*/ 79057 h 158115"/>
                  <a:gd name="connsiteX3" fmla="*/ 80010 w 160020"/>
                  <a:gd name="connsiteY3" fmla="*/ 0 h 158115"/>
                  <a:gd name="connsiteX4" fmla="*/ 160020 w 160020"/>
                  <a:gd name="connsiteY4" fmla="*/ 79057 h 158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020" h="158115">
                    <a:moveTo>
                      <a:pt x="160020" y="79057"/>
                    </a:moveTo>
                    <a:cubicBezTo>
                      <a:pt x="160020" y="122720"/>
                      <a:pt x="124198" y="158115"/>
                      <a:pt x="80010" y="158115"/>
                    </a:cubicBezTo>
                    <a:cubicBezTo>
                      <a:pt x="35822" y="158115"/>
                      <a:pt x="0" y="122720"/>
                      <a:pt x="0" y="79057"/>
                    </a:cubicBezTo>
                    <a:cubicBezTo>
                      <a:pt x="0" y="35395"/>
                      <a:pt x="35822" y="0"/>
                      <a:pt x="80010" y="0"/>
                    </a:cubicBezTo>
                    <a:cubicBezTo>
                      <a:pt x="124198" y="0"/>
                      <a:pt x="160020" y="35395"/>
                      <a:pt x="160020" y="79057"/>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65" name="Graphic 5">
              <a:extLst>
                <a:ext uri="{FF2B5EF4-FFF2-40B4-BE49-F238E27FC236}">
                  <a16:creationId xmlns:a16="http://schemas.microsoft.com/office/drawing/2014/main" id="{4C965235-A16D-6647-8A60-4499367AA2D0}"/>
                </a:ext>
              </a:extLst>
            </p:cNvPr>
            <p:cNvGrpSpPr/>
            <p:nvPr/>
          </p:nvGrpSpPr>
          <p:grpSpPr>
            <a:xfrm>
              <a:off x="4841874" y="4298632"/>
              <a:ext cx="2506980" cy="639127"/>
              <a:chOff x="4841874" y="4298632"/>
              <a:chExt cx="2506980" cy="639127"/>
            </a:xfrm>
            <a:grpFill/>
          </p:grpSpPr>
          <p:grpSp>
            <p:nvGrpSpPr>
              <p:cNvPr id="66" name="Graphic 5">
                <a:extLst>
                  <a:ext uri="{FF2B5EF4-FFF2-40B4-BE49-F238E27FC236}">
                    <a16:creationId xmlns:a16="http://schemas.microsoft.com/office/drawing/2014/main" id="{B89BFDFA-AC13-3F4D-8AB9-16F7917CEE76}"/>
                  </a:ext>
                </a:extLst>
              </p:cNvPr>
              <p:cNvGrpSpPr/>
              <p:nvPr/>
            </p:nvGrpSpPr>
            <p:grpSpPr>
              <a:xfrm>
                <a:off x="4841874" y="4298632"/>
                <a:ext cx="2506980" cy="639127"/>
                <a:chOff x="4841874" y="4298632"/>
                <a:chExt cx="2506980" cy="639127"/>
              </a:xfrm>
              <a:grpFill/>
            </p:grpSpPr>
            <p:sp>
              <p:nvSpPr>
                <p:cNvPr id="68" name="Freeform: Shape 361">
                  <a:extLst>
                    <a:ext uri="{FF2B5EF4-FFF2-40B4-BE49-F238E27FC236}">
                      <a16:creationId xmlns:a16="http://schemas.microsoft.com/office/drawing/2014/main" id="{B30078D4-84BC-3242-A7C1-4151B38A7EDC}"/>
                    </a:ext>
                  </a:extLst>
                </p:cNvPr>
                <p:cNvSpPr/>
                <p:nvPr/>
              </p:nvSpPr>
              <p:spPr>
                <a:xfrm>
                  <a:off x="4841874" y="4298632"/>
                  <a:ext cx="2506980" cy="639127"/>
                </a:xfrm>
                <a:custGeom>
                  <a:avLst/>
                  <a:gdLst>
                    <a:gd name="connsiteX0" fmla="*/ 2427923 w 2506980"/>
                    <a:gd name="connsiteY0" fmla="*/ 80010 h 639127"/>
                    <a:gd name="connsiteX1" fmla="*/ 2427923 w 2506980"/>
                    <a:gd name="connsiteY1" fmla="*/ 559118 h 639127"/>
                    <a:gd name="connsiteX2" fmla="*/ 80010 w 2506980"/>
                    <a:gd name="connsiteY2" fmla="*/ 559118 h 639127"/>
                    <a:gd name="connsiteX3" fmla="*/ 80010 w 2506980"/>
                    <a:gd name="connsiteY3" fmla="*/ 80010 h 639127"/>
                    <a:gd name="connsiteX4" fmla="*/ 2427923 w 2506980"/>
                    <a:gd name="connsiteY4" fmla="*/ 80010 h 639127"/>
                    <a:gd name="connsiteX5" fmla="*/ 2506980 w 2506980"/>
                    <a:gd name="connsiteY5" fmla="*/ 0 h 639127"/>
                    <a:gd name="connsiteX6" fmla="*/ 0 w 2506980"/>
                    <a:gd name="connsiteY6" fmla="*/ 0 h 639127"/>
                    <a:gd name="connsiteX7" fmla="*/ 0 w 2506980"/>
                    <a:gd name="connsiteY7" fmla="*/ 639127 h 639127"/>
                    <a:gd name="connsiteX8" fmla="*/ 2506980 w 2506980"/>
                    <a:gd name="connsiteY8" fmla="*/ 639127 h 639127"/>
                    <a:gd name="connsiteX9" fmla="*/ 2506980 w 2506980"/>
                    <a:gd name="connsiteY9" fmla="*/ 0 h 639127"/>
                    <a:gd name="connsiteX10" fmla="*/ 2506980 w 2506980"/>
                    <a:gd name="connsiteY10" fmla="*/ 0 h 63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6980" h="639127">
                      <a:moveTo>
                        <a:pt x="2427923" y="80010"/>
                      </a:moveTo>
                      <a:lnTo>
                        <a:pt x="2427923" y="559118"/>
                      </a:lnTo>
                      <a:lnTo>
                        <a:pt x="80010" y="559118"/>
                      </a:lnTo>
                      <a:lnTo>
                        <a:pt x="80010" y="80010"/>
                      </a:lnTo>
                      <a:lnTo>
                        <a:pt x="2427923" y="80010"/>
                      </a:lnTo>
                      <a:moveTo>
                        <a:pt x="2506980" y="0"/>
                      </a:moveTo>
                      <a:lnTo>
                        <a:pt x="0" y="0"/>
                      </a:lnTo>
                      <a:lnTo>
                        <a:pt x="0" y="639127"/>
                      </a:lnTo>
                      <a:lnTo>
                        <a:pt x="2506980" y="639127"/>
                      </a:lnTo>
                      <a:lnTo>
                        <a:pt x="2506980" y="0"/>
                      </a:lnTo>
                      <a:lnTo>
                        <a:pt x="2506980" y="0"/>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69" name="Graphic 5">
                  <a:extLst>
                    <a:ext uri="{FF2B5EF4-FFF2-40B4-BE49-F238E27FC236}">
                      <a16:creationId xmlns:a16="http://schemas.microsoft.com/office/drawing/2014/main" id="{50448A42-4B70-6444-9528-92E9965D050E}"/>
                    </a:ext>
                  </a:extLst>
                </p:cNvPr>
                <p:cNvGrpSpPr/>
                <p:nvPr/>
              </p:nvGrpSpPr>
              <p:grpSpPr>
                <a:xfrm>
                  <a:off x="5084761" y="4498657"/>
                  <a:ext cx="1200150" cy="238125"/>
                  <a:chOff x="5084761" y="4498657"/>
                  <a:chExt cx="1200150" cy="238125"/>
                </a:xfrm>
                <a:grpFill/>
              </p:grpSpPr>
              <p:sp>
                <p:nvSpPr>
                  <p:cNvPr id="70" name="Freeform: Shape 363">
                    <a:extLst>
                      <a:ext uri="{FF2B5EF4-FFF2-40B4-BE49-F238E27FC236}">
                        <a16:creationId xmlns:a16="http://schemas.microsoft.com/office/drawing/2014/main" id="{AFC46CE5-FA79-CA4E-9751-A2C62BA2691C}"/>
                      </a:ext>
                    </a:extLst>
                  </p:cNvPr>
                  <p:cNvSpPr/>
                  <p:nvPr/>
                </p:nvSpPr>
                <p:spPr>
                  <a:xfrm>
                    <a:off x="508476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71" name="Freeform: Shape 364">
                    <a:extLst>
                      <a:ext uri="{FF2B5EF4-FFF2-40B4-BE49-F238E27FC236}">
                        <a16:creationId xmlns:a16="http://schemas.microsoft.com/office/drawing/2014/main" id="{4D46117F-1EA4-8E4B-B09E-7075146D1C32}"/>
                      </a:ext>
                    </a:extLst>
                  </p:cNvPr>
                  <p:cNvSpPr/>
                  <p:nvPr/>
                </p:nvSpPr>
                <p:spPr>
                  <a:xfrm>
                    <a:off x="524478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72" name="Freeform: Shape 365">
                    <a:extLst>
                      <a:ext uri="{FF2B5EF4-FFF2-40B4-BE49-F238E27FC236}">
                        <a16:creationId xmlns:a16="http://schemas.microsoft.com/office/drawing/2014/main" id="{83FDAC89-B637-4C4D-93E6-D78138142257}"/>
                      </a:ext>
                    </a:extLst>
                  </p:cNvPr>
                  <p:cNvSpPr/>
                  <p:nvPr/>
                </p:nvSpPr>
                <p:spPr>
                  <a:xfrm>
                    <a:off x="540480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73" name="Freeform: Shape 366">
                    <a:extLst>
                      <a:ext uri="{FF2B5EF4-FFF2-40B4-BE49-F238E27FC236}">
                        <a16:creationId xmlns:a16="http://schemas.microsoft.com/office/drawing/2014/main" id="{D6B6FDDA-9A5B-E041-9BB2-CB80AB1874A0}"/>
                      </a:ext>
                    </a:extLst>
                  </p:cNvPr>
                  <p:cNvSpPr/>
                  <p:nvPr/>
                </p:nvSpPr>
                <p:spPr>
                  <a:xfrm>
                    <a:off x="556482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74" name="Freeform: Shape 367">
                    <a:extLst>
                      <a:ext uri="{FF2B5EF4-FFF2-40B4-BE49-F238E27FC236}">
                        <a16:creationId xmlns:a16="http://schemas.microsoft.com/office/drawing/2014/main" id="{BCFBDBC9-70A5-B24E-B693-11A52C650896}"/>
                      </a:ext>
                    </a:extLst>
                  </p:cNvPr>
                  <p:cNvSpPr/>
                  <p:nvPr/>
                </p:nvSpPr>
                <p:spPr>
                  <a:xfrm>
                    <a:off x="572484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75" name="Freeform: Shape 368">
                    <a:extLst>
                      <a:ext uri="{FF2B5EF4-FFF2-40B4-BE49-F238E27FC236}">
                        <a16:creationId xmlns:a16="http://schemas.microsoft.com/office/drawing/2014/main" id="{340A802E-4D93-FB47-BA8D-1956F1FE0F13}"/>
                      </a:ext>
                    </a:extLst>
                  </p:cNvPr>
                  <p:cNvSpPr/>
                  <p:nvPr/>
                </p:nvSpPr>
                <p:spPr>
                  <a:xfrm>
                    <a:off x="588486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76" name="Freeform: Shape 369">
                    <a:extLst>
                      <a:ext uri="{FF2B5EF4-FFF2-40B4-BE49-F238E27FC236}">
                        <a16:creationId xmlns:a16="http://schemas.microsoft.com/office/drawing/2014/main" id="{A9EAAD95-A7C1-9A4B-8A88-9831DC889499}"/>
                      </a:ext>
                    </a:extLst>
                  </p:cNvPr>
                  <p:cNvSpPr/>
                  <p:nvPr/>
                </p:nvSpPr>
                <p:spPr>
                  <a:xfrm>
                    <a:off x="604488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77" name="Freeform: Shape 370">
                    <a:extLst>
                      <a:ext uri="{FF2B5EF4-FFF2-40B4-BE49-F238E27FC236}">
                        <a16:creationId xmlns:a16="http://schemas.microsoft.com/office/drawing/2014/main" id="{3390C039-A17C-DE43-B8E9-5431C0C3B17B}"/>
                      </a:ext>
                    </a:extLst>
                  </p:cNvPr>
                  <p:cNvSpPr/>
                  <p:nvPr/>
                </p:nvSpPr>
                <p:spPr>
                  <a:xfrm>
                    <a:off x="620490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67" name="Freeform: Shape 360">
                <a:extLst>
                  <a:ext uri="{FF2B5EF4-FFF2-40B4-BE49-F238E27FC236}">
                    <a16:creationId xmlns:a16="http://schemas.microsoft.com/office/drawing/2014/main" id="{75322C2D-06AF-6144-BBD7-4F609A3EF35B}"/>
                  </a:ext>
                </a:extLst>
              </p:cNvPr>
              <p:cNvSpPr/>
              <p:nvPr/>
            </p:nvSpPr>
            <p:spPr>
              <a:xfrm>
                <a:off x="6935469" y="4538662"/>
                <a:ext cx="160020" cy="158115"/>
              </a:xfrm>
              <a:custGeom>
                <a:avLst/>
                <a:gdLst>
                  <a:gd name="connsiteX0" fmla="*/ 160020 w 160020"/>
                  <a:gd name="connsiteY0" fmla="*/ 79057 h 158115"/>
                  <a:gd name="connsiteX1" fmla="*/ 80010 w 160020"/>
                  <a:gd name="connsiteY1" fmla="*/ 158115 h 158115"/>
                  <a:gd name="connsiteX2" fmla="*/ 0 w 160020"/>
                  <a:gd name="connsiteY2" fmla="*/ 79057 h 158115"/>
                  <a:gd name="connsiteX3" fmla="*/ 80010 w 160020"/>
                  <a:gd name="connsiteY3" fmla="*/ 0 h 158115"/>
                  <a:gd name="connsiteX4" fmla="*/ 160020 w 160020"/>
                  <a:gd name="connsiteY4" fmla="*/ 79057 h 158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020" h="158115">
                    <a:moveTo>
                      <a:pt x="160020" y="79057"/>
                    </a:moveTo>
                    <a:cubicBezTo>
                      <a:pt x="160020" y="122720"/>
                      <a:pt x="124198" y="158115"/>
                      <a:pt x="80010" y="158115"/>
                    </a:cubicBezTo>
                    <a:cubicBezTo>
                      <a:pt x="35822" y="158115"/>
                      <a:pt x="0" y="122720"/>
                      <a:pt x="0" y="79057"/>
                    </a:cubicBezTo>
                    <a:cubicBezTo>
                      <a:pt x="0" y="35395"/>
                      <a:pt x="35822" y="0"/>
                      <a:pt x="80010" y="0"/>
                    </a:cubicBezTo>
                    <a:cubicBezTo>
                      <a:pt x="124198" y="0"/>
                      <a:pt x="160020" y="35395"/>
                      <a:pt x="160020" y="79057"/>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grpSp>
        <p:nvGrpSpPr>
          <p:cNvPr id="138" name="Graphic 5">
            <a:extLst>
              <a:ext uri="{FF2B5EF4-FFF2-40B4-BE49-F238E27FC236}">
                <a16:creationId xmlns:a16="http://schemas.microsoft.com/office/drawing/2014/main" id="{420538DC-5798-5343-9BEC-1962FF1DF615}"/>
              </a:ext>
              <a:ext uri="{C183D7F6-B498-43B3-948B-1728B52AA6E4}">
                <adec:decorative xmlns:adec="http://schemas.microsoft.com/office/drawing/2017/decorative" val="1"/>
              </a:ext>
            </a:extLst>
          </p:cNvPr>
          <p:cNvGrpSpPr/>
          <p:nvPr/>
        </p:nvGrpSpPr>
        <p:grpSpPr>
          <a:xfrm>
            <a:off x="4732579" y="2874620"/>
            <a:ext cx="638349" cy="766989"/>
            <a:chOff x="4841874" y="1924050"/>
            <a:chExt cx="2505075" cy="3009900"/>
          </a:xfrm>
          <a:solidFill>
            <a:srgbClr val="0091DA"/>
          </a:solidFill>
        </p:grpSpPr>
        <p:grpSp>
          <p:nvGrpSpPr>
            <p:cNvPr id="139" name="Graphic 5">
              <a:extLst>
                <a:ext uri="{FF2B5EF4-FFF2-40B4-BE49-F238E27FC236}">
                  <a16:creationId xmlns:a16="http://schemas.microsoft.com/office/drawing/2014/main" id="{91190D02-6BB9-9546-9E75-3985A8FFD0DE}"/>
                </a:ext>
              </a:extLst>
            </p:cNvPr>
            <p:cNvGrpSpPr/>
            <p:nvPr/>
          </p:nvGrpSpPr>
          <p:grpSpPr>
            <a:xfrm>
              <a:off x="4841874" y="1924050"/>
              <a:ext cx="2506980" cy="638175"/>
              <a:chOff x="4841874" y="1924050"/>
              <a:chExt cx="2506980" cy="638175"/>
            </a:xfrm>
            <a:grpFill/>
          </p:grpSpPr>
          <p:grpSp>
            <p:nvGrpSpPr>
              <p:cNvPr id="179" name="Graphic 5">
                <a:extLst>
                  <a:ext uri="{FF2B5EF4-FFF2-40B4-BE49-F238E27FC236}">
                    <a16:creationId xmlns:a16="http://schemas.microsoft.com/office/drawing/2014/main" id="{04D8C009-29EB-CE43-886E-E76450CBDCFF}"/>
                  </a:ext>
                </a:extLst>
              </p:cNvPr>
              <p:cNvGrpSpPr/>
              <p:nvPr/>
            </p:nvGrpSpPr>
            <p:grpSpPr>
              <a:xfrm>
                <a:off x="4841874" y="1924050"/>
                <a:ext cx="2506980" cy="638175"/>
                <a:chOff x="4841874" y="1924050"/>
                <a:chExt cx="2506980" cy="638175"/>
              </a:xfrm>
              <a:grpFill/>
            </p:grpSpPr>
            <p:sp>
              <p:nvSpPr>
                <p:cNvPr id="181" name="Freeform: Shape 490">
                  <a:extLst>
                    <a:ext uri="{FF2B5EF4-FFF2-40B4-BE49-F238E27FC236}">
                      <a16:creationId xmlns:a16="http://schemas.microsoft.com/office/drawing/2014/main" id="{C378C2F7-CCE5-484D-B073-40B86AC1BD62}"/>
                    </a:ext>
                  </a:extLst>
                </p:cNvPr>
                <p:cNvSpPr/>
                <p:nvPr/>
              </p:nvSpPr>
              <p:spPr>
                <a:xfrm>
                  <a:off x="4841874" y="1924050"/>
                  <a:ext cx="2506980" cy="638175"/>
                </a:xfrm>
                <a:custGeom>
                  <a:avLst/>
                  <a:gdLst>
                    <a:gd name="connsiteX0" fmla="*/ 2427923 w 2506980"/>
                    <a:gd name="connsiteY0" fmla="*/ 80010 h 638175"/>
                    <a:gd name="connsiteX1" fmla="*/ 2427923 w 2506980"/>
                    <a:gd name="connsiteY1" fmla="*/ 558165 h 638175"/>
                    <a:gd name="connsiteX2" fmla="*/ 80010 w 2506980"/>
                    <a:gd name="connsiteY2" fmla="*/ 558165 h 638175"/>
                    <a:gd name="connsiteX3" fmla="*/ 80010 w 2506980"/>
                    <a:gd name="connsiteY3" fmla="*/ 80010 h 638175"/>
                    <a:gd name="connsiteX4" fmla="*/ 2427923 w 2506980"/>
                    <a:gd name="connsiteY4" fmla="*/ 80010 h 638175"/>
                    <a:gd name="connsiteX5" fmla="*/ 2506980 w 2506980"/>
                    <a:gd name="connsiteY5" fmla="*/ 0 h 638175"/>
                    <a:gd name="connsiteX6" fmla="*/ 0 w 2506980"/>
                    <a:gd name="connsiteY6" fmla="*/ 0 h 638175"/>
                    <a:gd name="connsiteX7" fmla="*/ 0 w 2506980"/>
                    <a:gd name="connsiteY7" fmla="*/ 638175 h 638175"/>
                    <a:gd name="connsiteX8" fmla="*/ 2506980 w 2506980"/>
                    <a:gd name="connsiteY8" fmla="*/ 638175 h 638175"/>
                    <a:gd name="connsiteX9" fmla="*/ 2506980 w 2506980"/>
                    <a:gd name="connsiteY9" fmla="*/ 0 h 638175"/>
                    <a:gd name="connsiteX10" fmla="*/ 2506980 w 2506980"/>
                    <a:gd name="connsiteY10" fmla="*/ 0 h 6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6980" h="638175">
                      <a:moveTo>
                        <a:pt x="2427923" y="80010"/>
                      </a:moveTo>
                      <a:lnTo>
                        <a:pt x="2427923" y="558165"/>
                      </a:lnTo>
                      <a:lnTo>
                        <a:pt x="80010" y="558165"/>
                      </a:lnTo>
                      <a:lnTo>
                        <a:pt x="80010" y="80010"/>
                      </a:lnTo>
                      <a:lnTo>
                        <a:pt x="2427923" y="80010"/>
                      </a:lnTo>
                      <a:moveTo>
                        <a:pt x="2506980" y="0"/>
                      </a:moveTo>
                      <a:lnTo>
                        <a:pt x="0" y="0"/>
                      </a:lnTo>
                      <a:lnTo>
                        <a:pt x="0" y="638175"/>
                      </a:lnTo>
                      <a:lnTo>
                        <a:pt x="2506980" y="638175"/>
                      </a:lnTo>
                      <a:lnTo>
                        <a:pt x="2506980" y="0"/>
                      </a:lnTo>
                      <a:lnTo>
                        <a:pt x="2506980" y="0"/>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182" name="Graphic 5">
                  <a:extLst>
                    <a:ext uri="{FF2B5EF4-FFF2-40B4-BE49-F238E27FC236}">
                      <a16:creationId xmlns:a16="http://schemas.microsoft.com/office/drawing/2014/main" id="{DCAA452A-B0C1-6A47-8BEE-C754C2A4CF28}"/>
                    </a:ext>
                  </a:extLst>
                </p:cNvPr>
                <p:cNvGrpSpPr/>
                <p:nvPr/>
              </p:nvGrpSpPr>
              <p:grpSpPr>
                <a:xfrm>
                  <a:off x="5084761" y="2124075"/>
                  <a:ext cx="1200150" cy="238125"/>
                  <a:chOff x="5084761" y="2124075"/>
                  <a:chExt cx="1200150" cy="238125"/>
                </a:xfrm>
                <a:grpFill/>
              </p:grpSpPr>
              <p:sp>
                <p:nvSpPr>
                  <p:cNvPr id="183" name="Freeform: Shape 492">
                    <a:extLst>
                      <a:ext uri="{FF2B5EF4-FFF2-40B4-BE49-F238E27FC236}">
                        <a16:creationId xmlns:a16="http://schemas.microsoft.com/office/drawing/2014/main" id="{1880A7BC-657B-C844-BC85-2507E4BD4041}"/>
                      </a:ext>
                    </a:extLst>
                  </p:cNvPr>
                  <p:cNvSpPr/>
                  <p:nvPr/>
                </p:nvSpPr>
                <p:spPr>
                  <a:xfrm>
                    <a:off x="5084761" y="2124075"/>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4" name="Freeform: Shape 493">
                    <a:extLst>
                      <a:ext uri="{FF2B5EF4-FFF2-40B4-BE49-F238E27FC236}">
                        <a16:creationId xmlns:a16="http://schemas.microsoft.com/office/drawing/2014/main" id="{D172C2EB-CEE8-614B-A8B5-98B9771787AF}"/>
                      </a:ext>
                    </a:extLst>
                  </p:cNvPr>
                  <p:cNvSpPr/>
                  <p:nvPr/>
                </p:nvSpPr>
                <p:spPr>
                  <a:xfrm>
                    <a:off x="5244781" y="2124075"/>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5" name="Freeform: Shape 494">
                    <a:extLst>
                      <a:ext uri="{FF2B5EF4-FFF2-40B4-BE49-F238E27FC236}">
                        <a16:creationId xmlns:a16="http://schemas.microsoft.com/office/drawing/2014/main" id="{950E2407-E327-7949-8C37-E761916F3B2E}"/>
                      </a:ext>
                    </a:extLst>
                  </p:cNvPr>
                  <p:cNvSpPr/>
                  <p:nvPr/>
                </p:nvSpPr>
                <p:spPr>
                  <a:xfrm>
                    <a:off x="5404801" y="2124075"/>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6" name="Freeform: Shape 495">
                    <a:extLst>
                      <a:ext uri="{FF2B5EF4-FFF2-40B4-BE49-F238E27FC236}">
                        <a16:creationId xmlns:a16="http://schemas.microsoft.com/office/drawing/2014/main" id="{49E6ED5E-2318-6947-8D25-8F10B47A115E}"/>
                      </a:ext>
                    </a:extLst>
                  </p:cNvPr>
                  <p:cNvSpPr/>
                  <p:nvPr/>
                </p:nvSpPr>
                <p:spPr>
                  <a:xfrm>
                    <a:off x="5564821" y="2124075"/>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7" name="Freeform: Shape 496">
                    <a:extLst>
                      <a:ext uri="{FF2B5EF4-FFF2-40B4-BE49-F238E27FC236}">
                        <a16:creationId xmlns:a16="http://schemas.microsoft.com/office/drawing/2014/main" id="{C231F62F-FC13-A048-8114-B8E87FDFF0DD}"/>
                      </a:ext>
                    </a:extLst>
                  </p:cNvPr>
                  <p:cNvSpPr/>
                  <p:nvPr/>
                </p:nvSpPr>
                <p:spPr>
                  <a:xfrm>
                    <a:off x="5724841" y="2124075"/>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8" name="Freeform: Shape 497">
                    <a:extLst>
                      <a:ext uri="{FF2B5EF4-FFF2-40B4-BE49-F238E27FC236}">
                        <a16:creationId xmlns:a16="http://schemas.microsoft.com/office/drawing/2014/main" id="{3EAC5EA9-DA4B-9F4D-A685-91099BE14A94}"/>
                      </a:ext>
                    </a:extLst>
                  </p:cNvPr>
                  <p:cNvSpPr/>
                  <p:nvPr/>
                </p:nvSpPr>
                <p:spPr>
                  <a:xfrm>
                    <a:off x="5884861" y="2124075"/>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9" name="Freeform: Shape 498">
                    <a:extLst>
                      <a:ext uri="{FF2B5EF4-FFF2-40B4-BE49-F238E27FC236}">
                        <a16:creationId xmlns:a16="http://schemas.microsoft.com/office/drawing/2014/main" id="{63F34083-8C1B-D04B-AEED-8F73E895E53F}"/>
                      </a:ext>
                    </a:extLst>
                  </p:cNvPr>
                  <p:cNvSpPr/>
                  <p:nvPr/>
                </p:nvSpPr>
                <p:spPr>
                  <a:xfrm>
                    <a:off x="6044881" y="2124075"/>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0" name="Freeform: Shape 499">
                    <a:extLst>
                      <a:ext uri="{FF2B5EF4-FFF2-40B4-BE49-F238E27FC236}">
                        <a16:creationId xmlns:a16="http://schemas.microsoft.com/office/drawing/2014/main" id="{FE7A9EEC-61C3-634B-A339-CCEA1B0CCE96}"/>
                      </a:ext>
                    </a:extLst>
                  </p:cNvPr>
                  <p:cNvSpPr/>
                  <p:nvPr/>
                </p:nvSpPr>
                <p:spPr>
                  <a:xfrm>
                    <a:off x="6204901" y="2124075"/>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180" name="Freeform: Shape 489">
                <a:extLst>
                  <a:ext uri="{FF2B5EF4-FFF2-40B4-BE49-F238E27FC236}">
                    <a16:creationId xmlns:a16="http://schemas.microsoft.com/office/drawing/2014/main" id="{4817EBB6-736E-2346-B617-B7FAE2C7D256}"/>
                  </a:ext>
                </a:extLst>
              </p:cNvPr>
              <p:cNvSpPr/>
              <p:nvPr/>
            </p:nvSpPr>
            <p:spPr>
              <a:xfrm>
                <a:off x="6935469" y="2165032"/>
                <a:ext cx="160020" cy="160019"/>
              </a:xfrm>
              <a:custGeom>
                <a:avLst/>
                <a:gdLst>
                  <a:gd name="connsiteX0" fmla="*/ 160020 w 160020"/>
                  <a:gd name="connsiteY0" fmla="*/ 80010 h 160019"/>
                  <a:gd name="connsiteX1" fmla="*/ 80010 w 160020"/>
                  <a:gd name="connsiteY1" fmla="*/ 160020 h 160019"/>
                  <a:gd name="connsiteX2" fmla="*/ 0 w 160020"/>
                  <a:gd name="connsiteY2" fmla="*/ 80010 h 160019"/>
                  <a:gd name="connsiteX3" fmla="*/ 80010 w 160020"/>
                  <a:gd name="connsiteY3" fmla="*/ 0 h 160019"/>
                  <a:gd name="connsiteX4" fmla="*/ 160020 w 160020"/>
                  <a:gd name="connsiteY4" fmla="*/ 80010 h 1600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020" h="160019">
                    <a:moveTo>
                      <a:pt x="160020" y="80010"/>
                    </a:moveTo>
                    <a:cubicBezTo>
                      <a:pt x="160020" y="124198"/>
                      <a:pt x="124198" y="160020"/>
                      <a:pt x="80010" y="160020"/>
                    </a:cubicBezTo>
                    <a:cubicBezTo>
                      <a:pt x="35822" y="160020"/>
                      <a:pt x="0" y="124198"/>
                      <a:pt x="0" y="80010"/>
                    </a:cubicBezTo>
                    <a:cubicBezTo>
                      <a:pt x="0" y="35822"/>
                      <a:pt x="35822" y="0"/>
                      <a:pt x="80010" y="0"/>
                    </a:cubicBezTo>
                    <a:cubicBezTo>
                      <a:pt x="124198" y="0"/>
                      <a:pt x="160020" y="35822"/>
                      <a:pt x="160020" y="80010"/>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40" name="Graphic 5">
              <a:extLst>
                <a:ext uri="{FF2B5EF4-FFF2-40B4-BE49-F238E27FC236}">
                  <a16:creationId xmlns:a16="http://schemas.microsoft.com/office/drawing/2014/main" id="{6BFA3711-A8E4-CC4B-A73E-82E28A3A3273}"/>
                </a:ext>
              </a:extLst>
            </p:cNvPr>
            <p:cNvGrpSpPr/>
            <p:nvPr/>
          </p:nvGrpSpPr>
          <p:grpSpPr>
            <a:xfrm>
              <a:off x="4841874" y="2717482"/>
              <a:ext cx="2506980" cy="638175"/>
              <a:chOff x="4841874" y="2717482"/>
              <a:chExt cx="2506980" cy="638175"/>
            </a:xfrm>
            <a:grpFill/>
          </p:grpSpPr>
          <p:grpSp>
            <p:nvGrpSpPr>
              <p:cNvPr id="167" name="Graphic 5">
                <a:extLst>
                  <a:ext uri="{FF2B5EF4-FFF2-40B4-BE49-F238E27FC236}">
                    <a16:creationId xmlns:a16="http://schemas.microsoft.com/office/drawing/2014/main" id="{DBECCB82-DE6A-3340-A5E2-842FBACCEA3B}"/>
                  </a:ext>
                </a:extLst>
              </p:cNvPr>
              <p:cNvGrpSpPr/>
              <p:nvPr/>
            </p:nvGrpSpPr>
            <p:grpSpPr>
              <a:xfrm>
                <a:off x="4841874" y="2717482"/>
                <a:ext cx="2506980" cy="638175"/>
                <a:chOff x="4841874" y="2717482"/>
                <a:chExt cx="2506980" cy="638175"/>
              </a:xfrm>
              <a:grpFill/>
            </p:grpSpPr>
            <p:sp>
              <p:nvSpPr>
                <p:cNvPr id="169" name="Freeform: Shape 478">
                  <a:extLst>
                    <a:ext uri="{FF2B5EF4-FFF2-40B4-BE49-F238E27FC236}">
                      <a16:creationId xmlns:a16="http://schemas.microsoft.com/office/drawing/2014/main" id="{0CCF2274-E6B6-4849-9F7E-667050C02C89}"/>
                    </a:ext>
                  </a:extLst>
                </p:cNvPr>
                <p:cNvSpPr/>
                <p:nvPr/>
              </p:nvSpPr>
              <p:spPr>
                <a:xfrm>
                  <a:off x="4841874" y="2717482"/>
                  <a:ext cx="2506980" cy="638175"/>
                </a:xfrm>
                <a:custGeom>
                  <a:avLst/>
                  <a:gdLst>
                    <a:gd name="connsiteX0" fmla="*/ 2427923 w 2506980"/>
                    <a:gd name="connsiteY0" fmla="*/ 80010 h 638175"/>
                    <a:gd name="connsiteX1" fmla="*/ 2427923 w 2506980"/>
                    <a:gd name="connsiteY1" fmla="*/ 559118 h 638175"/>
                    <a:gd name="connsiteX2" fmla="*/ 80010 w 2506980"/>
                    <a:gd name="connsiteY2" fmla="*/ 559118 h 638175"/>
                    <a:gd name="connsiteX3" fmla="*/ 80010 w 2506980"/>
                    <a:gd name="connsiteY3" fmla="*/ 80010 h 638175"/>
                    <a:gd name="connsiteX4" fmla="*/ 2427923 w 2506980"/>
                    <a:gd name="connsiteY4" fmla="*/ 80010 h 638175"/>
                    <a:gd name="connsiteX5" fmla="*/ 2506980 w 2506980"/>
                    <a:gd name="connsiteY5" fmla="*/ 0 h 638175"/>
                    <a:gd name="connsiteX6" fmla="*/ 0 w 2506980"/>
                    <a:gd name="connsiteY6" fmla="*/ 0 h 638175"/>
                    <a:gd name="connsiteX7" fmla="*/ 0 w 2506980"/>
                    <a:gd name="connsiteY7" fmla="*/ 638175 h 638175"/>
                    <a:gd name="connsiteX8" fmla="*/ 2506980 w 2506980"/>
                    <a:gd name="connsiteY8" fmla="*/ 638175 h 638175"/>
                    <a:gd name="connsiteX9" fmla="*/ 2506980 w 2506980"/>
                    <a:gd name="connsiteY9" fmla="*/ 0 h 638175"/>
                    <a:gd name="connsiteX10" fmla="*/ 2506980 w 2506980"/>
                    <a:gd name="connsiteY10" fmla="*/ 0 h 6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6980" h="638175">
                      <a:moveTo>
                        <a:pt x="2427923" y="80010"/>
                      </a:moveTo>
                      <a:lnTo>
                        <a:pt x="2427923" y="559118"/>
                      </a:lnTo>
                      <a:lnTo>
                        <a:pt x="80010" y="559118"/>
                      </a:lnTo>
                      <a:lnTo>
                        <a:pt x="80010" y="80010"/>
                      </a:lnTo>
                      <a:lnTo>
                        <a:pt x="2427923" y="80010"/>
                      </a:lnTo>
                      <a:moveTo>
                        <a:pt x="2506980" y="0"/>
                      </a:moveTo>
                      <a:lnTo>
                        <a:pt x="0" y="0"/>
                      </a:lnTo>
                      <a:lnTo>
                        <a:pt x="0" y="638175"/>
                      </a:lnTo>
                      <a:lnTo>
                        <a:pt x="2506980" y="638175"/>
                      </a:lnTo>
                      <a:lnTo>
                        <a:pt x="2506980" y="0"/>
                      </a:lnTo>
                      <a:lnTo>
                        <a:pt x="2506980" y="0"/>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170" name="Graphic 5">
                  <a:extLst>
                    <a:ext uri="{FF2B5EF4-FFF2-40B4-BE49-F238E27FC236}">
                      <a16:creationId xmlns:a16="http://schemas.microsoft.com/office/drawing/2014/main" id="{D2C2B786-4168-564B-9644-8B7944A3F46C}"/>
                    </a:ext>
                  </a:extLst>
                </p:cNvPr>
                <p:cNvGrpSpPr/>
                <p:nvPr/>
              </p:nvGrpSpPr>
              <p:grpSpPr>
                <a:xfrm>
                  <a:off x="5084761" y="2917507"/>
                  <a:ext cx="1200150" cy="238125"/>
                  <a:chOff x="5084761" y="2917507"/>
                  <a:chExt cx="1200150" cy="238125"/>
                </a:xfrm>
                <a:grpFill/>
              </p:grpSpPr>
              <p:sp>
                <p:nvSpPr>
                  <p:cNvPr id="171" name="Freeform: Shape 480">
                    <a:extLst>
                      <a:ext uri="{FF2B5EF4-FFF2-40B4-BE49-F238E27FC236}">
                        <a16:creationId xmlns:a16="http://schemas.microsoft.com/office/drawing/2014/main" id="{75063316-2705-094D-9539-D63E1F1C7E39}"/>
                      </a:ext>
                    </a:extLst>
                  </p:cNvPr>
                  <p:cNvSpPr/>
                  <p:nvPr/>
                </p:nvSpPr>
                <p:spPr>
                  <a:xfrm>
                    <a:off x="5084761" y="291750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2" name="Freeform: Shape 481">
                    <a:extLst>
                      <a:ext uri="{FF2B5EF4-FFF2-40B4-BE49-F238E27FC236}">
                        <a16:creationId xmlns:a16="http://schemas.microsoft.com/office/drawing/2014/main" id="{6103B529-A489-5543-87EF-8D3C3EE35DEA}"/>
                      </a:ext>
                    </a:extLst>
                  </p:cNvPr>
                  <p:cNvSpPr/>
                  <p:nvPr/>
                </p:nvSpPr>
                <p:spPr>
                  <a:xfrm>
                    <a:off x="5244781" y="291750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3" name="Freeform: Shape 482">
                    <a:extLst>
                      <a:ext uri="{FF2B5EF4-FFF2-40B4-BE49-F238E27FC236}">
                        <a16:creationId xmlns:a16="http://schemas.microsoft.com/office/drawing/2014/main" id="{BE9DCFF1-8C79-4649-A2EF-E0102677E428}"/>
                      </a:ext>
                    </a:extLst>
                  </p:cNvPr>
                  <p:cNvSpPr/>
                  <p:nvPr/>
                </p:nvSpPr>
                <p:spPr>
                  <a:xfrm>
                    <a:off x="5404801" y="291750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4" name="Freeform: Shape 483">
                    <a:extLst>
                      <a:ext uri="{FF2B5EF4-FFF2-40B4-BE49-F238E27FC236}">
                        <a16:creationId xmlns:a16="http://schemas.microsoft.com/office/drawing/2014/main" id="{73688B37-6F69-9F46-8348-96D70C9BDE38}"/>
                      </a:ext>
                    </a:extLst>
                  </p:cNvPr>
                  <p:cNvSpPr/>
                  <p:nvPr/>
                </p:nvSpPr>
                <p:spPr>
                  <a:xfrm>
                    <a:off x="5564821" y="291750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5" name="Freeform: Shape 484">
                    <a:extLst>
                      <a:ext uri="{FF2B5EF4-FFF2-40B4-BE49-F238E27FC236}">
                        <a16:creationId xmlns:a16="http://schemas.microsoft.com/office/drawing/2014/main" id="{1BA11651-8CE0-4745-BAA3-A7F5B96C46A6}"/>
                      </a:ext>
                    </a:extLst>
                  </p:cNvPr>
                  <p:cNvSpPr/>
                  <p:nvPr/>
                </p:nvSpPr>
                <p:spPr>
                  <a:xfrm>
                    <a:off x="5724841" y="291750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6" name="Freeform: Shape 485">
                    <a:extLst>
                      <a:ext uri="{FF2B5EF4-FFF2-40B4-BE49-F238E27FC236}">
                        <a16:creationId xmlns:a16="http://schemas.microsoft.com/office/drawing/2014/main" id="{9B29BA33-1D94-FC41-8921-EFECC0A746D4}"/>
                      </a:ext>
                    </a:extLst>
                  </p:cNvPr>
                  <p:cNvSpPr/>
                  <p:nvPr/>
                </p:nvSpPr>
                <p:spPr>
                  <a:xfrm>
                    <a:off x="5884861" y="291750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7" name="Freeform: Shape 486">
                    <a:extLst>
                      <a:ext uri="{FF2B5EF4-FFF2-40B4-BE49-F238E27FC236}">
                        <a16:creationId xmlns:a16="http://schemas.microsoft.com/office/drawing/2014/main" id="{C2E90EC5-1E2A-2E42-BC7A-88C7D16BCE0E}"/>
                      </a:ext>
                    </a:extLst>
                  </p:cNvPr>
                  <p:cNvSpPr/>
                  <p:nvPr/>
                </p:nvSpPr>
                <p:spPr>
                  <a:xfrm>
                    <a:off x="6044881" y="291750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8" name="Freeform: Shape 487">
                    <a:extLst>
                      <a:ext uri="{FF2B5EF4-FFF2-40B4-BE49-F238E27FC236}">
                        <a16:creationId xmlns:a16="http://schemas.microsoft.com/office/drawing/2014/main" id="{A494B6DF-8501-A749-A9FF-A9A9FCDB49E2}"/>
                      </a:ext>
                    </a:extLst>
                  </p:cNvPr>
                  <p:cNvSpPr/>
                  <p:nvPr/>
                </p:nvSpPr>
                <p:spPr>
                  <a:xfrm>
                    <a:off x="6204901" y="291750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168" name="Freeform: Shape 477">
                <a:extLst>
                  <a:ext uri="{FF2B5EF4-FFF2-40B4-BE49-F238E27FC236}">
                    <a16:creationId xmlns:a16="http://schemas.microsoft.com/office/drawing/2014/main" id="{6A1AECBD-8284-5243-81AA-E67D690DD967}"/>
                  </a:ext>
                </a:extLst>
              </p:cNvPr>
              <p:cNvSpPr/>
              <p:nvPr/>
            </p:nvSpPr>
            <p:spPr>
              <a:xfrm>
                <a:off x="6935469" y="2957512"/>
                <a:ext cx="160020" cy="158114"/>
              </a:xfrm>
              <a:custGeom>
                <a:avLst/>
                <a:gdLst>
                  <a:gd name="connsiteX0" fmla="*/ 160020 w 160020"/>
                  <a:gd name="connsiteY0" fmla="*/ 79058 h 158114"/>
                  <a:gd name="connsiteX1" fmla="*/ 80010 w 160020"/>
                  <a:gd name="connsiteY1" fmla="*/ 158115 h 158114"/>
                  <a:gd name="connsiteX2" fmla="*/ 0 w 160020"/>
                  <a:gd name="connsiteY2" fmla="*/ 79058 h 158114"/>
                  <a:gd name="connsiteX3" fmla="*/ 80010 w 160020"/>
                  <a:gd name="connsiteY3" fmla="*/ 0 h 158114"/>
                  <a:gd name="connsiteX4" fmla="*/ 160020 w 160020"/>
                  <a:gd name="connsiteY4" fmla="*/ 79058 h 158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020" h="158114">
                    <a:moveTo>
                      <a:pt x="160020" y="79058"/>
                    </a:moveTo>
                    <a:cubicBezTo>
                      <a:pt x="160020" y="122720"/>
                      <a:pt x="124198" y="158115"/>
                      <a:pt x="80010" y="158115"/>
                    </a:cubicBezTo>
                    <a:cubicBezTo>
                      <a:pt x="35822" y="158115"/>
                      <a:pt x="0" y="122720"/>
                      <a:pt x="0" y="79058"/>
                    </a:cubicBezTo>
                    <a:cubicBezTo>
                      <a:pt x="0" y="35395"/>
                      <a:pt x="35822" y="0"/>
                      <a:pt x="80010" y="0"/>
                    </a:cubicBezTo>
                    <a:cubicBezTo>
                      <a:pt x="124198" y="0"/>
                      <a:pt x="160020" y="35395"/>
                      <a:pt x="160020" y="79058"/>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41" name="Graphic 5">
              <a:extLst>
                <a:ext uri="{FF2B5EF4-FFF2-40B4-BE49-F238E27FC236}">
                  <a16:creationId xmlns:a16="http://schemas.microsoft.com/office/drawing/2014/main" id="{2A949A8D-B24E-B040-B87F-28EF371F1E28}"/>
                </a:ext>
              </a:extLst>
            </p:cNvPr>
            <p:cNvGrpSpPr/>
            <p:nvPr/>
          </p:nvGrpSpPr>
          <p:grpSpPr>
            <a:xfrm>
              <a:off x="4841874" y="3505200"/>
              <a:ext cx="2506980" cy="638175"/>
              <a:chOff x="4841874" y="3505200"/>
              <a:chExt cx="2506980" cy="638175"/>
            </a:xfrm>
            <a:grpFill/>
          </p:grpSpPr>
          <p:grpSp>
            <p:nvGrpSpPr>
              <p:cNvPr id="155" name="Graphic 5">
                <a:extLst>
                  <a:ext uri="{FF2B5EF4-FFF2-40B4-BE49-F238E27FC236}">
                    <a16:creationId xmlns:a16="http://schemas.microsoft.com/office/drawing/2014/main" id="{40B5BF1F-009A-3D48-A1D7-AC2D634A54D0}"/>
                  </a:ext>
                </a:extLst>
              </p:cNvPr>
              <p:cNvGrpSpPr/>
              <p:nvPr/>
            </p:nvGrpSpPr>
            <p:grpSpPr>
              <a:xfrm>
                <a:off x="4841874" y="3505200"/>
                <a:ext cx="2506980" cy="638175"/>
                <a:chOff x="4841874" y="3505200"/>
                <a:chExt cx="2506980" cy="638175"/>
              </a:xfrm>
              <a:grpFill/>
            </p:grpSpPr>
            <p:sp>
              <p:nvSpPr>
                <p:cNvPr id="157" name="Freeform: Shape 466">
                  <a:extLst>
                    <a:ext uri="{FF2B5EF4-FFF2-40B4-BE49-F238E27FC236}">
                      <a16:creationId xmlns:a16="http://schemas.microsoft.com/office/drawing/2014/main" id="{D3C12252-C415-7748-9083-E7CDDD49FC5C}"/>
                    </a:ext>
                  </a:extLst>
                </p:cNvPr>
                <p:cNvSpPr/>
                <p:nvPr/>
              </p:nvSpPr>
              <p:spPr>
                <a:xfrm>
                  <a:off x="4841874" y="3505200"/>
                  <a:ext cx="2506980" cy="638175"/>
                </a:xfrm>
                <a:custGeom>
                  <a:avLst/>
                  <a:gdLst>
                    <a:gd name="connsiteX0" fmla="*/ 2427923 w 2506980"/>
                    <a:gd name="connsiteY0" fmla="*/ 79058 h 638175"/>
                    <a:gd name="connsiteX1" fmla="*/ 2427923 w 2506980"/>
                    <a:gd name="connsiteY1" fmla="*/ 557213 h 638175"/>
                    <a:gd name="connsiteX2" fmla="*/ 80010 w 2506980"/>
                    <a:gd name="connsiteY2" fmla="*/ 557213 h 638175"/>
                    <a:gd name="connsiteX3" fmla="*/ 80010 w 2506980"/>
                    <a:gd name="connsiteY3" fmla="*/ 79058 h 638175"/>
                    <a:gd name="connsiteX4" fmla="*/ 2427923 w 2506980"/>
                    <a:gd name="connsiteY4" fmla="*/ 79058 h 638175"/>
                    <a:gd name="connsiteX5" fmla="*/ 2506980 w 2506980"/>
                    <a:gd name="connsiteY5" fmla="*/ 0 h 638175"/>
                    <a:gd name="connsiteX6" fmla="*/ 0 w 2506980"/>
                    <a:gd name="connsiteY6" fmla="*/ 0 h 638175"/>
                    <a:gd name="connsiteX7" fmla="*/ 0 w 2506980"/>
                    <a:gd name="connsiteY7" fmla="*/ 638175 h 638175"/>
                    <a:gd name="connsiteX8" fmla="*/ 2506980 w 2506980"/>
                    <a:gd name="connsiteY8" fmla="*/ 638175 h 638175"/>
                    <a:gd name="connsiteX9" fmla="*/ 2506980 w 2506980"/>
                    <a:gd name="connsiteY9" fmla="*/ 0 h 638175"/>
                    <a:gd name="connsiteX10" fmla="*/ 2506980 w 2506980"/>
                    <a:gd name="connsiteY10" fmla="*/ 0 h 6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6980" h="638175">
                      <a:moveTo>
                        <a:pt x="2427923" y="79058"/>
                      </a:moveTo>
                      <a:lnTo>
                        <a:pt x="2427923" y="557213"/>
                      </a:lnTo>
                      <a:lnTo>
                        <a:pt x="80010" y="557213"/>
                      </a:lnTo>
                      <a:lnTo>
                        <a:pt x="80010" y="79058"/>
                      </a:lnTo>
                      <a:lnTo>
                        <a:pt x="2427923" y="79058"/>
                      </a:lnTo>
                      <a:moveTo>
                        <a:pt x="2506980" y="0"/>
                      </a:moveTo>
                      <a:lnTo>
                        <a:pt x="0" y="0"/>
                      </a:lnTo>
                      <a:lnTo>
                        <a:pt x="0" y="638175"/>
                      </a:lnTo>
                      <a:lnTo>
                        <a:pt x="2506980" y="638175"/>
                      </a:lnTo>
                      <a:lnTo>
                        <a:pt x="2506980" y="0"/>
                      </a:lnTo>
                      <a:lnTo>
                        <a:pt x="2506980" y="0"/>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158" name="Graphic 5">
                  <a:extLst>
                    <a:ext uri="{FF2B5EF4-FFF2-40B4-BE49-F238E27FC236}">
                      <a16:creationId xmlns:a16="http://schemas.microsoft.com/office/drawing/2014/main" id="{7901053A-3725-2445-A207-46E326934F3E}"/>
                    </a:ext>
                  </a:extLst>
                </p:cNvPr>
                <p:cNvGrpSpPr/>
                <p:nvPr/>
              </p:nvGrpSpPr>
              <p:grpSpPr>
                <a:xfrm>
                  <a:off x="5084761" y="3704272"/>
                  <a:ext cx="1200150" cy="238125"/>
                  <a:chOff x="5084761" y="3704272"/>
                  <a:chExt cx="1200150" cy="238125"/>
                </a:xfrm>
                <a:grpFill/>
              </p:grpSpPr>
              <p:sp>
                <p:nvSpPr>
                  <p:cNvPr id="159" name="Freeform: Shape 468">
                    <a:extLst>
                      <a:ext uri="{FF2B5EF4-FFF2-40B4-BE49-F238E27FC236}">
                        <a16:creationId xmlns:a16="http://schemas.microsoft.com/office/drawing/2014/main" id="{29F56949-12F4-F848-8564-40C413B99D00}"/>
                      </a:ext>
                    </a:extLst>
                  </p:cNvPr>
                  <p:cNvSpPr/>
                  <p:nvPr/>
                </p:nvSpPr>
                <p:spPr>
                  <a:xfrm>
                    <a:off x="508476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60" name="Freeform: Shape 469">
                    <a:extLst>
                      <a:ext uri="{FF2B5EF4-FFF2-40B4-BE49-F238E27FC236}">
                        <a16:creationId xmlns:a16="http://schemas.microsoft.com/office/drawing/2014/main" id="{FF580704-C2EC-6040-B43D-8D7DEAD33E4C}"/>
                      </a:ext>
                    </a:extLst>
                  </p:cNvPr>
                  <p:cNvSpPr/>
                  <p:nvPr/>
                </p:nvSpPr>
                <p:spPr>
                  <a:xfrm>
                    <a:off x="524478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61" name="Freeform: Shape 470">
                    <a:extLst>
                      <a:ext uri="{FF2B5EF4-FFF2-40B4-BE49-F238E27FC236}">
                        <a16:creationId xmlns:a16="http://schemas.microsoft.com/office/drawing/2014/main" id="{6FF17472-949B-F84A-AFC2-6CC38CDAE3B8}"/>
                      </a:ext>
                    </a:extLst>
                  </p:cNvPr>
                  <p:cNvSpPr/>
                  <p:nvPr/>
                </p:nvSpPr>
                <p:spPr>
                  <a:xfrm>
                    <a:off x="540480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62" name="Freeform: Shape 471">
                    <a:extLst>
                      <a:ext uri="{FF2B5EF4-FFF2-40B4-BE49-F238E27FC236}">
                        <a16:creationId xmlns:a16="http://schemas.microsoft.com/office/drawing/2014/main" id="{F17462BD-7C68-4043-9E4D-5C8D6A26516F}"/>
                      </a:ext>
                    </a:extLst>
                  </p:cNvPr>
                  <p:cNvSpPr/>
                  <p:nvPr/>
                </p:nvSpPr>
                <p:spPr>
                  <a:xfrm>
                    <a:off x="556482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63" name="Freeform: Shape 472">
                    <a:extLst>
                      <a:ext uri="{FF2B5EF4-FFF2-40B4-BE49-F238E27FC236}">
                        <a16:creationId xmlns:a16="http://schemas.microsoft.com/office/drawing/2014/main" id="{92F8A389-27B5-C94E-BB3F-B8341D915B26}"/>
                      </a:ext>
                    </a:extLst>
                  </p:cNvPr>
                  <p:cNvSpPr/>
                  <p:nvPr/>
                </p:nvSpPr>
                <p:spPr>
                  <a:xfrm>
                    <a:off x="572484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64" name="Freeform: Shape 473">
                    <a:extLst>
                      <a:ext uri="{FF2B5EF4-FFF2-40B4-BE49-F238E27FC236}">
                        <a16:creationId xmlns:a16="http://schemas.microsoft.com/office/drawing/2014/main" id="{503202BC-E7DD-914D-B86F-6C36BE786CBF}"/>
                      </a:ext>
                    </a:extLst>
                  </p:cNvPr>
                  <p:cNvSpPr/>
                  <p:nvPr/>
                </p:nvSpPr>
                <p:spPr>
                  <a:xfrm>
                    <a:off x="588486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65" name="Freeform: Shape 474">
                    <a:extLst>
                      <a:ext uri="{FF2B5EF4-FFF2-40B4-BE49-F238E27FC236}">
                        <a16:creationId xmlns:a16="http://schemas.microsoft.com/office/drawing/2014/main" id="{D5947E98-02A5-6545-917F-C8BB86B264FD}"/>
                      </a:ext>
                    </a:extLst>
                  </p:cNvPr>
                  <p:cNvSpPr/>
                  <p:nvPr/>
                </p:nvSpPr>
                <p:spPr>
                  <a:xfrm>
                    <a:off x="604488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66" name="Freeform: Shape 475">
                    <a:extLst>
                      <a:ext uri="{FF2B5EF4-FFF2-40B4-BE49-F238E27FC236}">
                        <a16:creationId xmlns:a16="http://schemas.microsoft.com/office/drawing/2014/main" id="{EF139306-1EE9-0D48-9A40-E024559D6759}"/>
                      </a:ext>
                    </a:extLst>
                  </p:cNvPr>
                  <p:cNvSpPr/>
                  <p:nvPr/>
                </p:nvSpPr>
                <p:spPr>
                  <a:xfrm>
                    <a:off x="620490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156" name="Freeform: Shape 465">
                <a:extLst>
                  <a:ext uri="{FF2B5EF4-FFF2-40B4-BE49-F238E27FC236}">
                    <a16:creationId xmlns:a16="http://schemas.microsoft.com/office/drawing/2014/main" id="{BE32EBE0-9B85-4247-8133-176F7E9D4147}"/>
                  </a:ext>
                </a:extLst>
              </p:cNvPr>
              <p:cNvSpPr/>
              <p:nvPr/>
            </p:nvSpPr>
            <p:spPr>
              <a:xfrm>
                <a:off x="6935469" y="3744277"/>
                <a:ext cx="160020" cy="158115"/>
              </a:xfrm>
              <a:custGeom>
                <a:avLst/>
                <a:gdLst>
                  <a:gd name="connsiteX0" fmla="*/ 160020 w 160020"/>
                  <a:gd name="connsiteY0" fmla="*/ 79057 h 158115"/>
                  <a:gd name="connsiteX1" fmla="*/ 80010 w 160020"/>
                  <a:gd name="connsiteY1" fmla="*/ 158115 h 158115"/>
                  <a:gd name="connsiteX2" fmla="*/ 0 w 160020"/>
                  <a:gd name="connsiteY2" fmla="*/ 79057 h 158115"/>
                  <a:gd name="connsiteX3" fmla="*/ 80010 w 160020"/>
                  <a:gd name="connsiteY3" fmla="*/ 0 h 158115"/>
                  <a:gd name="connsiteX4" fmla="*/ 160020 w 160020"/>
                  <a:gd name="connsiteY4" fmla="*/ 79057 h 158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020" h="158115">
                    <a:moveTo>
                      <a:pt x="160020" y="79057"/>
                    </a:moveTo>
                    <a:cubicBezTo>
                      <a:pt x="160020" y="122720"/>
                      <a:pt x="124198" y="158115"/>
                      <a:pt x="80010" y="158115"/>
                    </a:cubicBezTo>
                    <a:cubicBezTo>
                      <a:pt x="35822" y="158115"/>
                      <a:pt x="0" y="122720"/>
                      <a:pt x="0" y="79057"/>
                    </a:cubicBezTo>
                    <a:cubicBezTo>
                      <a:pt x="0" y="35395"/>
                      <a:pt x="35822" y="0"/>
                      <a:pt x="80010" y="0"/>
                    </a:cubicBezTo>
                    <a:cubicBezTo>
                      <a:pt x="124198" y="0"/>
                      <a:pt x="160020" y="35395"/>
                      <a:pt x="160020" y="79057"/>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42" name="Graphic 5">
              <a:extLst>
                <a:ext uri="{FF2B5EF4-FFF2-40B4-BE49-F238E27FC236}">
                  <a16:creationId xmlns:a16="http://schemas.microsoft.com/office/drawing/2014/main" id="{79FA56C1-4FC3-2246-ADBD-F562E40189B2}"/>
                </a:ext>
              </a:extLst>
            </p:cNvPr>
            <p:cNvGrpSpPr/>
            <p:nvPr/>
          </p:nvGrpSpPr>
          <p:grpSpPr>
            <a:xfrm>
              <a:off x="4841874" y="4298632"/>
              <a:ext cx="2506980" cy="639127"/>
              <a:chOff x="4841874" y="4298632"/>
              <a:chExt cx="2506980" cy="639127"/>
            </a:xfrm>
            <a:grpFill/>
          </p:grpSpPr>
          <p:grpSp>
            <p:nvGrpSpPr>
              <p:cNvPr id="143" name="Graphic 5">
                <a:extLst>
                  <a:ext uri="{FF2B5EF4-FFF2-40B4-BE49-F238E27FC236}">
                    <a16:creationId xmlns:a16="http://schemas.microsoft.com/office/drawing/2014/main" id="{3ED3E817-E2A6-8E4B-B1A6-6B49034052DA}"/>
                  </a:ext>
                </a:extLst>
              </p:cNvPr>
              <p:cNvGrpSpPr/>
              <p:nvPr/>
            </p:nvGrpSpPr>
            <p:grpSpPr>
              <a:xfrm>
                <a:off x="4841874" y="4298632"/>
                <a:ext cx="2506980" cy="639127"/>
                <a:chOff x="4841874" y="4298632"/>
                <a:chExt cx="2506980" cy="639127"/>
              </a:xfrm>
              <a:grpFill/>
            </p:grpSpPr>
            <p:sp>
              <p:nvSpPr>
                <p:cNvPr id="145" name="Freeform: Shape 454">
                  <a:extLst>
                    <a:ext uri="{FF2B5EF4-FFF2-40B4-BE49-F238E27FC236}">
                      <a16:creationId xmlns:a16="http://schemas.microsoft.com/office/drawing/2014/main" id="{28CCC961-ADBF-9043-B72A-1E6C6F406ADC}"/>
                    </a:ext>
                  </a:extLst>
                </p:cNvPr>
                <p:cNvSpPr/>
                <p:nvPr/>
              </p:nvSpPr>
              <p:spPr>
                <a:xfrm>
                  <a:off x="4841874" y="4298632"/>
                  <a:ext cx="2506980" cy="639127"/>
                </a:xfrm>
                <a:custGeom>
                  <a:avLst/>
                  <a:gdLst>
                    <a:gd name="connsiteX0" fmla="*/ 2427923 w 2506980"/>
                    <a:gd name="connsiteY0" fmla="*/ 80010 h 639127"/>
                    <a:gd name="connsiteX1" fmla="*/ 2427923 w 2506980"/>
                    <a:gd name="connsiteY1" fmla="*/ 559118 h 639127"/>
                    <a:gd name="connsiteX2" fmla="*/ 80010 w 2506980"/>
                    <a:gd name="connsiteY2" fmla="*/ 559118 h 639127"/>
                    <a:gd name="connsiteX3" fmla="*/ 80010 w 2506980"/>
                    <a:gd name="connsiteY3" fmla="*/ 80010 h 639127"/>
                    <a:gd name="connsiteX4" fmla="*/ 2427923 w 2506980"/>
                    <a:gd name="connsiteY4" fmla="*/ 80010 h 639127"/>
                    <a:gd name="connsiteX5" fmla="*/ 2506980 w 2506980"/>
                    <a:gd name="connsiteY5" fmla="*/ 0 h 639127"/>
                    <a:gd name="connsiteX6" fmla="*/ 0 w 2506980"/>
                    <a:gd name="connsiteY6" fmla="*/ 0 h 639127"/>
                    <a:gd name="connsiteX7" fmla="*/ 0 w 2506980"/>
                    <a:gd name="connsiteY7" fmla="*/ 639127 h 639127"/>
                    <a:gd name="connsiteX8" fmla="*/ 2506980 w 2506980"/>
                    <a:gd name="connsiteY8" fmla="*/ 639127 h 639127"/>
                    <a:gd name="connsiteX9" fmla="*/ 2506980 w 2506980"/>
                    <a:gd name="connsiteY9" fmla="*/ 0 h 639127"/>
                    <a:gd name="connsiteX10" fmla="*/ 2506980 w 2506980"/>
                    <a:gd name="connsiteY10" fmla="*/ 0 h 63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6980" h="639127">
                      <a:moveTo>
                        <a:pt x="2427923" y="80010"/>
                      </a:moveTo>
                      <a:lnTo>
                        <a:pt x="2427923" y="559118"/>
                      </a:lnTo>
                      <a:lnTo>
                        <a:pt x="80010" y="559118"/>
                      </a:lnTo>
                      <a:lnTo>
                        <a:pt x="80010" y="80010"/>
                      </a:lnTo>
                      <a:lnTo>
                        <a:pt x="2427923" y="80010"/>
                      </a:lnTo>
                      <a:moveTo>
                        <a:pt x="2506980" y="0"/>
                      </a:moveTo>
                      <a:lnTo>
                        <a:pt x="0" y="0"/>
                      </a:lnTo>
                      <a:lnTo>
                        <a:pt x="0" y="639127"/>
                      </a:lnTo>
                      <a:lnTo>
                        <a:pt x="2506980" y="639127"/>
                      </a:lnTo>
                      <a:lnTo>
                        <a:pt x="2506980" y="0"/>
                      </a:lnTo>
                      <a:lnTo>
                        <a:pt x="2506980" y="0"/>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146" name="Graphic 5">
                  <a:extLst>
                    <a:ext uri="{FF2B5EF4-FFF2-40B4-BE49-F238E27FC236}">
                      <a16:creationId xmlns:a16="http://schemas.microsoft.com/office/drawing/2014/main" id="{C836184D-E48E-084E-8EB2-7E140E932885}"/>
                    </a:ext>
                  </a:extLst>
                </p:cNvPr>
                <p:cNvGrpSpPr/>
                <p:nvPr/>
              </p:nvGrpSpPr>
              <p:grpSpPr>
                <a:xfrm>
                  <a:off x="5084761" y="4498657"/>
                  <a:ext cx="1200150" cy="238125"/>
                  <a:chOff x="5084761" y="4498657"/>
                  <a:chExt cx="1200150" cy="238125"/>
                </a:xfrm>
                <a:grpFill/>
              </p:grpSpPr>
              <p:sp>
                <p:nvSpPr>
                  <p:cNvPr id="147" name="Freeform: Shape 456">
                    <a:extLst>
                      <a:ext uri="{FF2B5EF4-FFF2-40B4-BE49-F238E27FC236}">
                        <a16:creationId xmlns:a16="http://schemas.microsoft.com/office/drawing/2014/main" id="{5AF3AEDE-68D4-484B-926C-D10539029B1E}"/>
                      </a:ext>
                    </a:extLst>
                  </p:cNvPr>
                  <p:cNvSpPr/>
                  <p:nvPr/>
                </p:nvSpPr>
                <p:spPr>
                  <a:xfrm>
                    <a:off x="508476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8" name="Freeform: Shape 457">
                    <a:extLst>
                      <a:ext uri="{FF2B5EF4-FFF2-40B4-BE49-F238E27FC236}">
                        <a16:creationId xmlns:a16="http://schemas.microsoft.com/office/drawing/2014/main" id="{B0E36C63-1402-5B48-A1A2-5C956E69A73D}"/>
                      </a:ext>
                    </a:extLst>
                  </p:cNvPr>
                  <p:cNvSpPr/>
                  <p:nvPr/>
                </p:nvSpPr>
                <p:spPr>
                  <a:xfrm>
                    <a:off x="524478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9" name="Freeform: Shape 458">
                    <a:extLst>
                      <a:ext uri="{FF2B5EF4-FFF2-40B4-BE49-F238E27FC236}">
                        <a16:creationId xmlns:a16="http://schemas.microsoft.com/office/drawing/2014/main" id="{0895706B-5AF9-5C42-98DE-57FC7165DF52}"/>
                      </a:ext>
                    </a:extLst>
                  </p:cNvPr>
                  <p:cNvSpPr/>
                  <p:nvPr/>
                </p:nvSpPr>
                <p:spPr>
                  <a:xfrm>
                    <a:off x="540480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0" name="Freeform: Shape 459">
                    <a:extLst>
                      <a:ext uri="{FF2B5EF4-FFF2-40B4-BE49-F238E27FC236}">
                        <a16:creationId xmlns:a16="http://schemas.microsoft.com/office/drawing/2014/main" id="{754B516A-0D09-CC41-A7CB-EB4EE8B5B657}"/>
                      </a:ext>
                    </a:extLst>
                  </p:cNvPr>
                  <p:cNvSpPr/>
                  <p:nvPr/>
                </p:nvSpPr>
                <p:spPr>
                  <a:xfrm>
                    <a:off x="556482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1" name="Freeform: Shape 460">
                    <a:extLst>
                      <a:ext uri="{FF2B5EF4-FFF2-40B4-BE49-F238E27FC236}">
                        <a16:creationId xmlns:a16="http://schemas.microsoft.com/office/drawing/2014/main" id="{33C2D3B7-CA22-3D4D-A4A3-7A842A2D9200}"/>
                      </a:ext>
                    </a:extLst>
                  </p:cNvPr>
                  <p:cNvSpPr/>
                  <p:nvPr/>
                </p:nvSpPr>
                <p:spPr>
                  <a:xfrm>
                    <a:off x="572484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2" name="Freeform: Shape 461">
                    <a:extLst>
                      <a:ext uri="{FF2B5EF4-FFF2-40B4-BE49-F238E27FC236}">
                        <a16:creationId xmlns:a16="http://schemas.microsoft.com/office/drawing/2014/main" id="{A55CC357-CF61-054D-B721-915B32AA3C2F}"/>
                      </a:ext>
                    </a:extLst>
                  </p:cNvPr>
                  <p:cNvSpPr/>
                  <p:nvPr/>
                </p:nvSpPr>
                <p:spPr>
                  <a:xfrm>
                    <a:off x="588486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3" name="Freeform: Shape 462">
                    <a:extLst>
                      <a:ext uri="{FF2B5EF4-FFF2-40B4-BE49-F238E27FC236}">
                        <a16:creationId xmlns:a16="http://schemas.microsoft.com/office/drawing/2014/main" id="{DA60569A-E18A-C94A-B899-460C13F41DCF}"/>
                      </a:ext>
                    </a:extLst>
                  </p:cNvPr>
                  <p:cNvSpPr/>
                  <p:nvPr/>
                </p:nvSpPr>
                <p:spPr>
                  <a:xfrm>
                    <a:off x="604488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4" name="Freeform: Shape 463">
                    <a:extLst>
                      <a:ext uri="{FF2B5EF4-FFF2-40B4-BE49-F238E27FC236}">
                        <a16:creationId xmlns:a16="http://schemas.microsoft.com/office/drawing/2014/main" id="{61DF5C42-287E-BE43-90DB-60E0D7B93C78}"/>
                      </a:ext>
                    </a:extLst>
                  </p:cNvPr>
                  <p:cNvSpPr/>
                  <p:nvPr/>
                </p:nvSpPr>
                <p:spPr>
                  <a:xfrm>
                    <a:off x="620490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144" name="Freeform: Shape 453">
                <a:extLst>
                  <a:ext uri="{FF2B5EF4-FFF2-40B4-BE49-F238E27FC236}">
                    <a16:creationId xmlns:a16="http://schemas.microsoft.com/office/drawing/2014/main" id="{55DDD092-C071-4A4D-8444-B80CD0F005EA}"/>
                  </a:ext>
                </a:extLst>
              </p:cNvPr>
              <p:cNvSpPr/>
              <p:nvPr/>
            </p:nvSpPr>
            <p:spPr>
              <a:xfrm>
                <a:off x="6935469" y="4538662"/>
                <a:ext cx="160020" cy="158115"/>
              </a:xfrm>
              <a:custGeom>
                <a:avLst/>
                <a:gdLst>
                  <a:gd name="connsiteX0" fmla="*/ 160020 w 160020"/>
                  <a:gd name="connsiteY0" fmla="*/ 79057 h 158115"/>
                  <a:gd name="connsiteX1" fmla="*/ 80010 w 160020"/>
                  <a:gd name="connsiteY1" fmla="*/ 158115 h 158115"/>
                  <a:gd name="connsiteX2" fmla="*/ 0 w 160020"/>
                  <a:gd name="connsiteY2" fmla="*/ 79057 h 158115"/>
                  <a:gd name="connsiteX3" fmla="*/ 80010 w 160020"/>
                  <a:gd name="connsiteY3" fmla="*/ 0 h 158115"/>
                  <a:gd name="connsiteX4" fmla="*/ 160020 w 160020"/>
                  <a:gd name="connsiteY4" fmla="*/ 79057 h 158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020" h="158115">
                    <a:moveTo>
                      <a:pt x="160020" y="79057"/>
                    </a:moveTo>
                    <a:cubicBezTo>
                      <a:pt x="160020" y="122720"/>
                      <a:pt x="124198" y="158115"/>
                      <a:pt x="80010" y="158115"/>
                    </a:cubicBezTo>
                    <a:cubicBezTo>
                      <a:pt x="35822" y="158115"/>
                      <a:pt x="0" y="122720"/>
                      <a:pt x="0" y="79057"/>
                    </a:cubicBezTo>
                    <a:cubicBezTo>
                      <a:pt x="0" y="35395"/>
                      <a:pt x="35822" y="0"/>
                      <a:pt x="80010" y="0"/>
                    </a:cubicBezTo>
                    <a:cubicBezTo>
                      <a:pt x="124198" y="0"/>
                      <a:pt x="160020" y="35395"/>
                      <a:pt x="160020" y="79057"/>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grpSp>
        <p:nvGrpSpPr>
          <p:cNvPr id="191" name="Graphic 5">
            <a:extLst>
              <a:ext uri="{FF2B5EF4-FFF2-40B4-BE49-F238E27FC236}">
                <a16:creationId xmlns:a16="http://schemas.microsoft.com/office/drawing/2014/main" id="{7586651A-8AE3-6E40-A553-84CE2BB3CD7E}"/>
              </a:ext>
              <a:ext uri="{C183D7F6-B498-43B3-948B-1728B52AA6E4}">
                <adec:decorative xmlns:adec="http://schemas.microsoft.com/office/drawing/2017/decorative" val="1"/>
              </a:ext>
            </a:extLst>
          </p:cNvPr>
          <p:cNvGrpSpPr/>
          <p:nvPr/>
        </p:nvGrpSpPr>
        <p:grpSpPr>
          <a:xfrm>
            <a:off x="6465815" y="3277532"/>
            <a:ext cx="638835" cy="365048"/>
            <a:chOff x="4841874" y="3505200"/>
            <a:chExt cx="2506980" cy="1432559"/>
          </a:xfrm>
          <a:solidFill>
            <a:schemeClr val="accent4"/>
          </a:solidFill>
        </p:grpSpPr>
        <p:grpSp>
          <p:nvGrpSpPr>
            <p:cNvPr id="192" name="Graphic 5">
              <a:extLst>
                <a:ext uri="{FF2B5EF4-FFF2-40B4-BE49-F238E27FC236}">
                  <a16:creationId xmlns:a16="http://schemas.microsoft.com/office/drawing/2014/main" id="{58D54E9B-7E31-A948-8D60-1AF68E1688AE}"/>
                </a:ext>
              </a:extLst>
            </p:cNvPr>
            <p:cNvGrpSpPr/>
            <p:nvPr/>
          </p:nvGrpSpPr>
          <p:grpSpPr>
            <a:xfrm>
              <a:off x="4841874" y="3505200"/>
              <a:ext cx="2506980" cy="638175"/>
              <a:chOff x="4841874" y="3505200"/>
              <a:chExt cx="2506980" cy="638175"/>
            </a:xfrm>
            <a:grpFill/>
          </p:grpSpPr>
          <p:grpSp>
            <p:nvGrpSpPr>
              <p:cNvPr id="206" name="Graphic 5">
                <a:extLst>
                  <a:ext uri="{FF2B5EF4-FFF2-40B4-BE49-F238E27FC236}">
                    <a16:creationId xmlns:a16="http://schemas.microsoft.com/office/drawing/2014/main" id="{8796F288-E810-0D44-A646-5B40C0D39343}"/>
                  </a:ext>
                </a:extLst>
              </p:cNvPr>
              <p:cNvGrpSpPr/>
              <p:nvPr/>
            </p:nvGrpSpPr>
            <p:grpSpPr>
              <a:xfrm>
                <a:off x="4841874" y="3505200"/>
                <a:ext cx="2506980" cy="638175"/>
                <a:chOff x="4841874" y="3505200"/>
                <a:chExt cx="2506980" cy="638175"/>
              </a:xfrm>
              <a:grpFill/>
            </p:grpSpPr>
            <p:sp>
              <p:nvSpPr>
                <p:cNvPr id="208" name="Freeform: Shape 519">
                  <a:extLst>
                    <a:ext uri="{FF2B5EF4-FFF2-40B4-BE49-F238E27FC236}">
                      <a16:creationId xmlns:a16="http://schemas.microsoft.com/office/drawing/2014/main" id="{7233D0FB-C752-6B48-8BBD-CD398E3FF72C}"/>
                    </a:ext>
                  </a:extLst>
                </p:cNvPr>
                <p:cNvSpPr/>
                <p:nvPr/>
              </p:nvSpPr>
              <p:spPr>
                <a:xfrm>
                  <a:off x="4841874" y="3505200"/>
                  <a:ext cx="2506980" cy="638175"/>
                </a:xfrm>
                <a:custGeom>
                  <a:avLst/>
                  <a:gdLst>
                    <a:gd name="connsiteX0" fmla="*/ 2427923 w 2506980"/>
                    <a:gd name="connsiteY0" fmla="*/ 79058 h 638175"/>
                    <a:gd name="connsiteX1" fmla="*/ 2427923 w 2506980"/>
                    <a:gd name="connsiteY1" fmla="*/ 557213 h 638175"/>
                    <a:gd name="connsiteX2" fmla="*/ 80010 w 2506980"/>
                    <a:gd name="connsiteY2" fmla="*/ 557213 h 638175"/>
                    <a:gd name="connsiteX3" fmla="*/ 80010 w 2506980"/>
                    <a:gd name="connsiteY3" fmla="*/ 79058 h 638175"/>
                    <a:gd name="connsiteX4" fmla="*/ 2427923 w 2506980"/>
                    <a:gd name="connsiteY4" fmla="*/ 79058 h 638175"/>
                    <a:gd name="connsiteX5" fmla="*/ 2506980 w 2506980"/>
                    <a:gd name="connsiteY5" fmla="*/ 0 h 638175"/>
                    <a:gd name="connsiteX6" fmla="*/ 0 w 2506980"/>
                    <a:gd name="connsiteY6" fmla="*/ 0 h 638175"/>
                    <a:gd name="connsiteX7" fmla="*/ 0 w 2506980"/>
                    <a:gd name="connsiteY7" fmla="*/ 638175 h 638175"/>
                    <a:gd name="connsiteX8" fmla="*/ 2506980 w 2506980"/>
                    <a:gd name="connsiteY8" fmla="*/ 638175 h 638175"/>
                    <a:gd name="connsiteX9" fmla="*/ 2506980 w 2506980"/>
                    <a:gd name="connsiteY9" fmla="*/ 0 h 638175"/>
                    <a:gd name="connsiteX10" fmla="*/ 2506980 w 2506980"/>
                    <a:gd name="connsiteY10" fmla="*/ 0 h 6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6980" h="638175">
                      <a:moveTo>
                        <a:pt x="2427923" y="79058"/>
                      </a:moveTo>
                      <a:lnTo>
                        <a:pt x="2427923" y="557213"/>
                      </a:lnTo>
                      <a:lnTo>
                        <a:pt x="80010" y="557213"/>
                      </a:lnTo>
                      <a:lnTo>
                        <a:pt x="80010" y="79058"/>
                      </a:lnTo>
                      <a:lnTo>
                        <a:pt x="2427923" y="79058"/>
                      </a:lnTo>
                      <a:moveTo>
                        <a:pt x="2506980" y="0"/>
                      </a:moveTo>
                      <a:lnTo>
                        <a:pt x="0" y="0"/>
                      </a:lnTo>
                      <a:lnTo>
                        <a:pt x="0" y="638175"/>
                      </a:lnTo>
                      <a:lnTo>
                        <a:pt x="2506980" y="638175"/>
                      </a:lnTo>
                      <a:lnTo>
                        <a:pt x="2506980" y="0"/>
                      </a:lnTo>
                      <a:lnTo>
                        <a:pt x="2506980" y="0"/>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09" name="Graphic 5">
                  <a:extLst>
                    <a:ext uri="{FF2B5EF4-FFF2-40B4-BE49-F238E27FC236}">
                      <a16:creationId xmlns:a16="http://schemas.microsoft.com/office/drawing/2014/main" id="{70B4C88E-1FB7-9E4A-A3C5-1EECCF496735}"/>
                    </a:ext>
                  </a:extLst>
                </p:cNvPr>
                <p:cNvGrpSpPr/>
                <p:nvPr/>
              </p:nvGrpSpPr>
              <p:grpSpPr>
                <a:xfrm>
                  <a:off x="5084761" y="3704272"/>
                  <a:ext cx="1200150" cy="238125"/>
                  <a:chOff x="5084761" y="3704272"/>
                  <a:chExt cx="1200150" cy="238125"/>
                </a:xfrm>
                <a:grpFill/>
              </p:grpSpPr>
              <p:sp>
                <p:nvSpPr>
                  <p:cNvPr id="210" name="Freeform: Shape 521">
                    <a:extLst>
                      <a:ext uri="{FF2B5EF4-FFF2-40B4-BE49-F238E27FC236}">
                        <a16:creationId xmlns:a16="http://schemas.microsoft.com/office/drawing/2014/main" id="{FE1376AA-6092-0345-8911-21F3778A04F2}"/>
                      </a:ext>
                    </a:extLst>
                  </p:cNvPr>
                  <p:cNvSpPr/>
                  <p:nvPr/>
                </p:nvSpPr>
                <p:spPr>
                  <a:xfrm>
                    <a:off x="508476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11" name="Freeform: Shape 522">
                    <a:extLst>
                      <a:ext uri="{FF2B5EF4-FFF2-40B4-BE49-F238E27FC236}">
                        <a16:creationId xmlns:a16="http://schemas.microsoft.com/office/drawing/2014/main" id="{C3E63190-564A-4D46-8F4F-132E1FAFD72E}"/>
                      </a:ext>
                    </a:extLst>
                  </p:cNvPr>
                  <p:cNvSpPr/>
                  <p:nvPr/>
                </p:nvSpPr>
                <p:spPr>
                  <a:xfrm>
                    <a:off x="524478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12" name="Freeform: Shape 523">
                    <a:extLst>
                      <a:ext uri="{FF2B5EF4-FFF2-40B4-BE49-F238E27FC236}">
                        <a16:creationId xmlns:a16="http://schemas.microsoft.com/office/drawing/2014/main" id="{DE41DE20-593A-654B-9343-F52A298FED5B}"/>
                      </a:ext>
                    </a:extLst>
                  </p:cNvPr>
                  <p:cNvSpPr/>
                  <p:nvPr/>
                </p:nvSpPr>
                <p:spPr>
                  <a:xfrm>
                    <a:off x="540480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13" name="Freeform: Shape 524">
                    <a:extLst>
                      <a:ext uri="{FF2B5EF4-FFF2-40B4-BE49-F238E27FC236}">
                        <a16:creationId xmlns:a16="http://schemas.microsoft.com/office/drawing/2014/main" id="{FDFF110F-FF3C-3B42-A395-F4553B1C4C5A}"/>
                      </a:ext>
                    </a:extLst>
                  </p:cNvPr>
                  <p:cNvSpPr/>
                  <p:nvPr/>
                </p:nvSpPr>
                <p:spPr>
                  <a:xfrm>
                    <a:off x="556482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14" name="Freeform: Shape 525">
                    <a:extLst>
                      <a:ext uri="{FF2B5EF4-FFF2-40B4-BE49-F238E27FC236}">
                        <a16:creationId xmlns:a16="http://schemas.microsoft.com/office/drawing/2014/main" id="{3EE34CAD-90E5-CA48-8490-2C75257470E9}"/>
                      </a:ext>
                    </a:extLst>
                  </p:cNvPr>
                  <p:cNvSpPr/>
                  <p:nvPr/>
                </p:nvSpPr>
                <p:spPr>
                  <a:xfrm>
                    <a:off x="572484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15" name="Freeform: Shape 526">
                    <a:extLst>
                      <a:ext uri="{FF2B5EF4-FFF2-40B4-BE49-F238E27FC236}">
                        <a16:creationId xmlns:a16="http://schemas.microsoft.com/office/drawing/2014/main" id="{9275396F-2EBE-3E4C-8BC9-789915DC0AC5}"/>
                      </a:ext>
                    </a:extLst>
                  </p:cNvPr>
                  <p:cNvSpPr/>
                  <p:nvPr/>
                </p:nvSpPr>
                <p:spPr>
                  <a:xfrm>
                    <a:off x="588486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16" name="Freeform: Shape 527">
                    <a:extLst>
                      <a:ext uri="{FF2B5EF4-FFF2-40B4-BE49-F238E27FC236}">
                        <a16:creationId xmlns:a16="http://schemas.microsoft.com/office/drawing/2014/main" id="{CDE5A048-26ED-7041-B813-D4B54C7656E3}"/>
                      </a:ext>
                    </a:extLst>
                  </p:cNvPr>
                  <p:cNvSpPr/>
                  <p:nvPr/>
                </p:nvSpPr>
                <p:spPr>
                  <a:xfrm>
                    <a:off x="604488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17" name="Freeform: Shape 528">
                    <a:extLst>
                      <a:ext uri="{FF2B5EF4-FFF2-40B4-BE49-F238E27FC236}">
                        <a16:creationId xmlns:a16="http://schemas.microsoft.com/office/drawing/2014/main" id="{F7B8745D-7385-1443-A930-BD8C80ABB4B2}"/>
                      </a:ext>
                    </a:extLst>
                  </p:cNvPr>
                  <p:cNvSpPr/>
                  <p:nvPr/>
                </p:nvSpPr>
                <p:spPr>
                  <a:xfrm>
                    <a:off x="620490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207" name="Freeform: Shape 518">
                <a:extLst>
                  <a:ext uri="{FF2B5EF4-FFF2-40B4-BE49-F238E27FC236}">
                    <a16:creationId xmlns:a16="http://schemas.microsoft.com/office/drawing/2014/main" id="{09878BC0-9309-9B49-8016-B3F44B692849}"/>
                  </a:ext>
                </a:extLst>
              </p:cNvPr>
              <p:cNvSpPr/>
              <p:nvPr/>
            </p:nvSpPr>
            <p:spPr>
              <a:xfrm>
                <a:off x="6935469" y="3744277"/>
                <a:ext cx="160020" cy="158115"/>
              </a:xfrm>
              <a:custGeom>
                <a:avLst/>
                <a:gdLst>
                  <a:gd name="connsiteX0" fmla="*/ 160020 w 160020"/>
                  <a:gd name="connsiteY0" fmla="*/ 79057 h 158115"/>
                  <a:gd name="connsiteX1" fmla="*/ 80010 w 160020"/>
                  <a:gd name="connsiteY1" fmla="*/ 158115 h 158115"/>
                  <a:gd name="connsiteX2" fmla="*/ 0 w 160020"/>
                  <a:gd name="connsiteY2" fmla="*/ 79057 h 158115"/>
                  <a:gd name="connsiteX3" fmla="*/ 80010 w 160020"/>
                  <a:gd name="connsiteY3" fmla="*/ 0 h 158115"/>
                  <a:gd name="connsiteX4" fmla="*/ 160020 w 160020"/>
                  <a:gd name="connsiteY4" fmla="*/ 79057 h 158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020" h="158115">
                    <a:moveTo>
                      <a:pt x="160020" y="79057"/>
                    </a:moveTo>
                    <a:cubicBezTo>
                      <a:pt x="160020" y="122720"/>
                      <a:pt x="124198" y="158115"/>
                      <a:pt x="80010" y="158115"/>
                    </a:cubicBezTo>
                    <a:cubicBezTo>
                      <a:pt x="35822" y="158115"/>
                      <a:pt x="0" y="122720"/>
                      <a:pt x="0" y="79057"/>
                    </a:cubicBezTo>
                    <a:cubicBezTo>
                      <a:pt x="0" y="35395"/>
                      <a:pt x="35822" y="0"/>
                      <a:pt x="80010" y="0"/>
                    </a:cubicBezTo>
                    <a:cubicBezTo>
                      <a:pt x="124198" y="0"/>
                      <a:pt x="160020" y="35395"/>
                      <a:pt x="160020" y="79057"/>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93" name="Graphic 5">
              <a:extLst>
                <a:ext uri="{FF2B5EF4-FFF2-40B4-BE49-F238E27FC236}">
                  <a16:creationId xmlns:a16="http://schemas.microsoft.com/office/drawing/2014/main" id="{342FF561-9126-1142-8CBD-9FF077A72333}"/>
                </a:ext>
              </a:extLst>
            </p:cNvPr>
            <p:cNvGrpSpPr/>
            <p:nvPr/>
          </p:nvGrpSpPr>
          <p:grpSpPr>
            <a:xfrm>
              <a:off x="4841874" y="4298632"/>
              <a:ext cx="2506980" cy="639127"/>
              <a:chOff x="4841874" y="4298632"/>
              <a:chExt cx="2506980" cy="639127"/>
            </a:xfrm>
            <a:grpFill/>
          </p:grpSpPr>
          <p:grpSp>
            <p:nvGrpSpPr>
              <p:cNvPr id="194" name="Graphic 5">
                <a:extLst>
                  <a:ext uri="{FF2B5EF4-FFF2-40B4-BE49-F238E27FC236}">
                    <a16:creationId xmlns:a16="http://schemas.microsoft.com/office/drawing/2014/main" id="{E35D2C8A-A032-E843-959E-C1169A06B640}"/>
                  </a:ext>
                </a:extLst>
              </p:cNvPr>
              <p:cNvGrpSpPr/>
              <p:nvPr/>
            </p:nvGrpSpPr>
            <p:grpSpPr>
              <a:xfrm>
                <a:off x="4841874" y="4298632"/>
                <a:ext cx="2506980" cy="639127"/>
                <a:chOff x="4841874" y="4298632"/>
                <a:chExt cx="2506980" cy="639127"/>
              </a:xfrm>
              <a:grpFill/>
            </p:grpSpPr>
            <p:sp>
              <p:nvSpPr>
                <p:cNvPr id="196" name="Freeform: Shape 507">
                  <a:extLst>
                    <a:ext uri="{FF2B5EF4-FFF2-40B4-BE49-F238E27FC236}">
                      <a16:creationId xmlns:a16="http://schemas.microsoft.com/office/drawing/2014/main" id="{26A75759-2A82-D24D-86F6-9186AB3CB9EC}"/>
                    </a:ext>
                  </a:extLst>
                </p:cNvPr>
                <p:cNvSpPr/>
                <p:nvPr/>
              </p:nvSpPr>
              <p:spPr>
                <a:xfrm>
                  <a:off x="4841874" y="4298632"/>
                  <a:ext cx="2506980" cy="639127"/>
                </a:xfrm>
                <a:custGeom>
                  <a:avLst/>
                  <a:gdLst>
                    <a:gd name="connsiteX0" fmla="*/ 2427923 w 2506980"/>
                    <a:gd name="connsiteY0" fmla="*/ 80010 h 639127"/>
                    <a:gd name="connsiteX1" fmla="*/ 2427923 w 2506980"/>
                    <a:gd name="connsiteY1" fmla="*/ 559118 h 639127"/>
                    <a:gd name="connsiteX2" fmla="*/ 80010 w 2506980"/>
                    <a:gd name="connsiteY2" fmla="*/ 559118 h 639127"/>
                    <a:gd name="connsiteX3" fmla="*/ 80010 w 2506980"/>
                    <a:gd name="connsiteY3" fmla="*/ 80010 h 639127"/>
                    <a:gd name="connsiteX4" fmla="*/ 2427923 w 2506980"/>
                    <a:gd name="connsiteY4" fmla="*/ 80010 h 639127"/>
                    <a:gd name="connsiteX5" fmla="*/ 2506980 w 2506980"/>
                    <a:gd name="connsiteY5" fmla="*/ 0 h 639127"/>
                    <a:gd name="connsiteX6" fmla="*/ 0 w 2506980"/>
                    <a:gd name="connsiteY6" fmla="*/ 0 h 639127"/>
                    <a:gd name="connsiteX7" fmla="*/ 0 w 2506980"/>
                    <a:gd name="connsiteY7" fmla="*/ 639127 h 639127"/>
                    <a:gd name="connsiteX8" fmla="*/ 2506980 w 2506980"/>
                    <a:gd name="connsiteY8" fmla="*/ 639127 h 639127"/>
                    <a:gd name="connsiteX9" fmla="*/ 2506980 w 2506980"/>
                    <a:gd name="connsiteY9" fmla="*/ 0 h 639127"/>
                    <a:gd name="connsiteX10" fmla="*/ 2506980 w 2506980"/>
                    <a:gd name="connsiteY10" fmla="*/ 0 h 63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6980" h="639127">
                      <a:moveTo>
                        <a:pt x="2427923" y="80010"/>
                      </a:moveTo>
                      <a:lnTo>
                        <a:pt x="2427923" y="559118"/>
                      </a:lnTo>
                      <a:lnTo>
                        <a:pt x="80010" y="559118"/>
                      </a:lnTo>
                      <a:lnTo>
                        <a:pt x="80010" y="80010"/>
                      </a:lnTo>
                      <a:lnTo>
                        <a:pt x="2427923" y="80010"/>
                      </a:lnTo>
                      <a:moveTo>
                        <a:pt x="2506980" y="0"/>
                      </a:moveTo>
                      <a:lnTo>
                        <a:pt x="0" y="0"/>
                      </a:lnTo>
                      <a:lnTo>
                        <a:pt x="0" y="639127"/>
                      </a:lnTo>
                      <a:lnTo>
                        <a:pt x="2506980" y="639127"/>
                      </a:lnTo>
                      <a:lnTo>
                        <a:pt x="2506980" y="0"/>
                      </a:lnTo>
                      <a:lnTo>
                        <a:pt x="2506980" y="0"/>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197" name="Graphic 5">
                  <a:extLst>
                    <a:ext uri="{FF2B5EF4-FFF2-40B4-BE49-F238E27FC236}">
                      <a16:creationId xmlns:a16="http://schemas.microsoft.com/office/drawing/2014/main" id="{D84FD0CD-D5BF-AE43-9F60-E8D1D84C1A3C}"/>
                    </a:ext>
                  </a:extLst>
                </p:cNvPr>
                <p:cNvGrpSpPr/>
                <p:nvPr/>
              </p:nvGrpSpPr>
              <p:grpSpPr>
                <a:xfrm>
                  <a:off x="5084761" y="4498657"/>
                  <a:ext cx="1200150" cy="238125"/>
                  <a:chOff x="5084761" y="4498657"/>
                  <a:chExt cx="1200150" cy="238125"/>
                </a:xfrm>
                <a:grpFill/>
              </p:grpSpPr>
              <p:sp>
                <p:nvSpPr>
                  <p:cNvPr id="198" name="Freeform: Shape 509">
                    <a:extLst>
                      <a:ext uri="{FF2B5EF4-FFF2-40B4-BE49-F238E27FC236}">
                        <a16:creationId xmlns:a16="http://schemas.microsoft.com/office/drawing/2014/main" id="{1D5AFBE1-D838-5546-990A-C86D6B1621F0}"/>
                      </a:ext>
                    </a:extLst>
                  </p:cNvPr>
                  <p:cNvSpPr/>
                  <p:nvPr/>
                </p:nvSpPr>
                <p:spPr>
                  <a:xfrm>
                    <a:off x="508476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9" name="Freeform: Shape 510">
                    <a:extLst>
                      <a:ext uri="{FF2B5EF4-FFF2-40B4-BE49-F238E27FC236}">
                        <a16:creationId xmlns:a16="http://schemas.microsoft.com/office/drawing/2014/main" id="{4B96D01B-4E39-5F4D-9985-7C87AC3A6056}"/>
                      </a:ext>
                    </a:extLst>
                  </p:cNvPr>
                  <p:cNvSpPr/>
                  <p:nvPr/>
                </p:nvSpPr>
                <p:spPr>
                  <a:xfrm>
                    <a:off x="524478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00" name="Freeform: Shape 511">
                    <a:extLst>
                      <a:ext uri="{FF2B5EF4-FFF2-40B4-BE49-F238E27FC236}">
                        <a16:creationId xmlns:a16="http://schemas.microsoft.com/office/drawing/2014/main" id="{42CA31C9-0FF7-E140-883A-6938FCB6A784}"/>
                      </a:ext>
                    </a:extLst>
                  </p:cNvPr>
                  <p:cNvSpPr/>
                  <p:nvPr/>
                </p:nvSpPr>
                <p:spPr>
                  <a:xfrm>
                    <a:off x="540480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01" name="Freeform: Shape 512">
                    <a:extLst>
                      <a:ext uri="{FF2B5EF4-FFF2-40B4-BE49-F238E27FC236}">
                        <a16:creationId xmlns:a16="http://schemas.microsoft.com/office/drawing/2014/main" id="{EE1D9C15-6569-6D40-8E4F-CEE7552ADF01}"/>
                      </a:ext>
                    </a:extLst>
                  </p:cNvPr>
                  <p:cNvSpPr/>
                  <p:nvPr/>
                </p:nvSpPr>
                <p:spPr>
                  <a:xfrm>
                    <a:off x="556482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02" name="Freeform: Shape 513">
                    <a:extLst>
                      <a:ext uri="{FF2B5EF4-FFF2-40B4-BE49-F238E27FC236}">
                        <a16:creationId xmlns:a16="http://schemas.microsoft.com/office/drawing/2014/main" id="{FCE31CAC-1F11-0E4A-8451-04522FAF71FA}"/>
                      </a:ext>
                    </a:extLst>
                  </p:cNvPr>
                  <p:cNvSpPr/>
                  <p:nvPr/>
                </p:nvSpPr>
                <p:spPr>
                  <a:xfrm>
                    <a:off x="572484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03" name="Freeform: Shape 514">
                    <a:extLst>
                      <a:ext uri="{FF2B5EF4-FFF2-40B4-BE49-F238E27FC236}">
                        <a16:creationId xmlns:a16="http://schemas.microsoft.com/office/drawing/2014/main" id="{481F2C1E-D4E6-AC47-997B-DC17A8BBB744}"/>
                      </a:ext>
                    </a:extLst>
                  </p:cNvPr>
                  <p:cNvSpPr/>
                  <p:nvPr/>
                </p:nvSpPr>
                <p:spPr>
                  <a:xfrm>
                    <a:off x="588486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04" name="Freeform: Shape 515">
                    <a:extLst>
                      <a:ext uri="{FF2B5EF4-FFF2-40B4-BE49-F238E27FC236}">
                        <a16:creationId xmlns:a16="http://schemas.microsoft.com/office/drawing/2014/main" id="{7321971D-C337-514F-8F82-A61B5C7B5ED8}"/>
                      </a:ext>
                    </a:extLst>
                  </p:cNvPr>
                  <p:cNvSpPr/>
                  <p:nvPr/>
                </p:nvSpPr>
                <p:spPr>
                  <a:xfrm>
                    <a:off x="604488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05" name="Freeform: Shape 516">
                    <a:extLst>
                      <a:ext uri="{FF2B5EF4-FFF2-40B4-BE49-F238E27FC236}">
                        <a16:creationId xmlns:a16="http://schemas.microsoft.com/office/drawing/2014/main" id="{E20153BE-9E86-0341-AC8C-F429311BB30A}"/>
                      </a:ext>
                    </a:extLst>
                  </p:cNvPr>
                  <p:cNvSpPr/>
                  <p:nvPr/>
                </p:nvSpPr>
                <p:spPr>
                  <a:xfrm>
                    <a:off x="620490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195" name="Freeform: Shape 506">
                <a:extLst>
                  <a:ext uri="{FF2B5EF4-FFF2-40B4-BE49-F238E27FC236}">
                    <a16:creationId xmlns:a16="http://schemas.microsoft.com/office/drawing/2014/main" id="{41A158D7-5F13-8245-962F-DAEE5E546F80}"/>
                  </a:ext>
                </a:extLst>
              </p:cNvPr>
              <p:cNvSpPr/>
              <p:nvPr/>
            </p:nvSpPr>
            <p:spPr>
              <a:xfrm>
                <a:off x="6935469" y="4538662"/>
                <a:ext cx="160020" cy="158115"/>
              </a:xfrm>
              <a:custGeom>
                <a:avLst/>
                <a:gdLst>
                  <a:gd name="connsiteX0" fmla="*/ 160020 w 160020"/>
                  <a:gd name="connsiteY0" fmla="*/ 79057 h 158115"/>
                  <a:gd name="connsiteX1" fmla="*/ 80010 w 160020"/>
                  <a:gd name="connsiteY1" fmla="*/ 158115 h 158115"/>
                  <a:gd name="connsiteX2" fmla="*/ 0 w 160020"/>
                  <a:gd name="connsiteY2" fmla="*/ 79057 h 158115"/>
                  <a:gd name="connsiteX3" fmla="*/ 80010 w 160020"/>
                  <a:gd name="connsiteY3" fmla="*/ 0 h 158115"/>
                  <a:gd name="connsiteX4" fmla="*/ 160020 w 160020"/>
                  <a:gd name="connsiteY4" fmla="*/ 79057 h 158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020" h="158115">
                    <a:moveTo>
                      <a:pt x="160020" y="79057"/>
                    </a:moveTo>
                    <a:cubicBezTo>
                      <a:pt x="160020" y="122720"/>
                      <a:pt x="124198" y="158115"/>
                      <a:pt x="80010" y="158115"/>
                    </a:cubicBezTo>
                    <a:cubicBezTo>
                      <a:pt x="35822" y="158115"/>
                      <a:pt x="0" y="122720"/>
                      <a:pt x="0" y="79057"/>
                    </a:cubicBezTo>
                    <a:cubicBezTo>
                      <a:pt x="0" y="35395"/>
                      <a:pt x="35822" y="0"/>
                      <a:pt x="80010" y="0"/>
                    </a:cubicBezTo>
                    <a:cubicBezTo>
                      <a:pt x="124198" y="0"/>
                      <a:pt x="160020" y="35395"/>
                      <a:pt x="160020" y="79057"/>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grpSp>
        <p:nvGrpSpPr>
          <p:cNvPr id="218" name="Group 217">
            <a:extLst>
              <a:ext uri="{FF2B5EF4-FFF2-40B4-BE49-F238E27FC236}">
                <a16:creationId xmlns:a16="http://schemas.microsoft.com/office/drawing/2014/main" id="{8CFDA061-D89B-224C-9626-0D5BCE4986A7}"/>
              </a:ext>
              <a:ext uri="{C183D7F6-B498-43B3-948B-1728B52AA6E4}">
                <adec:decorative xmlns:adec="http://schemas.microsoft.com/office/drawing/2017/decorative" val="1"/>
              </a:ext>
            </a:extLst>
          </p:cNvPr>
          <p:cNvGrpSpPr/>
          <p:nvPr/>
        </p:nvGrpSpPr>
        <p:grpSpPr>
          <a:xfrm>
            <a:off x="7140899" y="2874620"/>
            <a:ext cx="638835" cy="767961"/>
            <a:chOff x="7175731" y="4398040"/>
            <a:chExt cx="639167" cy="768361"/>
          </a:xfrm>
          <a:solidFill>
            <a:schemeClr val="accent4"/>
          </a:solidFill>
        </p:grpSpPr>
        <p:grpSp>
          <p:nvGrpSpPr>
            <p:cNvPr id="219" name="Graphic 5">
              <a:extLst>
                <a:ext uri="{FF2B5EF4-FFF2-40B4-BE49-F238E27FC236}">
                  <a16:creationId xmlns:a16="http://schemas.microsoft.com/office/drawing/2014/main" id="{F47E2564-2B46-C648-A663-4B6CE53BA90D}"/>
                </a:ext>
              </a:extLst>
            </p:cNvPr>
            <p:cNvGrpSpPr/>
            <p:nvPr/>
          </p:nvGrpSpPr>
          <p:grpSpPr>
            <a:xfrm>
              <a:off x="7175731" y="4398040"/>
              <a:ext cx="639167" cy="162706"/>
              <a:chOff x="4841874" y="1924050"/>
              <a:chExt cx="2506980" cy="638175"/>
            </a:xfrm>
            <a:grpFill/>
          </p:grpSpPr>
          <p:grpSp>
            <p:nvGrpSpPr>
              <p:cNvPr id="259" name="Graphic 5">
                <a:extLst>
                  <a:ext uri="{FF2B5EF4-FFF2-40B4-BE49-F238E27FC236}">
                    <a16:creationId xmlns:a16="http://schemas.microsoft.com/office/drawing/2014/main" id="{5CD1BCD4-7428-634F-86C0-D6B3DC27EAA5}"/>
                  </a:ext>
                </a:extLst>
              </p:cNvPr>
              <p:cNvGrpSpPr/>
              <p:nvPr/>
            </p:nvGrpSpPr>
            <p:grpSpPr>
              <a:xfrm>
                <a:off x="4841874" y="1924050"/>
                <a:ext cx="2506980" cy="638175"/>
                <a:chOff x="4841874" y="1924050"/>
                <a:chExt cx="2506980" cy="638175"/>
              </a:xfrm>
              <a:grpFill/>
            </p:grpSpPr>
            <p:sp>
              <p:nvSpPr>
                <p:cNvPr id="261" name="Freeform: Shape 596">
                  <a:extLst>
                    <a:ext uri="{FF2B5EF4-FFF2-40B4-BE49-F238E27FC236}">
                      <a16:creationId xmlns:a16="http://schemas.microsoft.com/office/drawing/2014/main" id="{3683E7A4-B767-7243-8F8C-1ACEC8C46A43}"/>
                    </a:ext>
                  </a:extLst>
                </p:cNvPr>
                <p:cNvSpPr/>
                <p:nvPr/>
              </p:nvSpPr>
              <p:spPr>
                <a:xfrm>
                  <a:off x="4841874" y="1924050"/>
                  <a:ext cx="2506980" cy="638175"/>
                </a:xfrm>
                <a:custGeom>
                  <a:avLst/>
                  <a:gdLst>
                    <a:gd name="connsiteX0" fmla="*/ 2427923 w 2506980"/>
                    <a:gd name="connsiteY0" fmla="*/ 80010 h 638175"/>
                    <a:gd name="connsiteX1" fmla="*/ 2427923 w 2506980"/>
                    <a:gd name="connsiteY1" fmla="*/ 558165 h 638175"/>
                    <a:gd name="connsiteX2" fmla="*/ 80010 w 2506980"/>
                    <a:gd name="connsiteY2" fmla="*/ 558165 h 638175"/>
                    <a:gd name="connsiteX3" fmla="*/ 80010 w 2506980"/>
                    <a:gd name="connsiteY3" fmla="*/ 80010 h 638175"/>
                    <a:gd name="connsiteX4" fmla="*/ 2427923 w 2506980"/>
                    <a:gd name="connsiteY4" fmla="*/ 80010 h 638175"/>
                    <a:gd name="connsiteX5" fmla="*/ 2506980 w 2506980"/>
                    <a:gd name="connsiteY5" fmla="*/ 0 h 638175"/>
                    <a:gd name="connsiteX6" fmla="*/ 0 w 2506980"/>
                    <a:gd name="connsiteY6" fmla="*/ 0 h 638175"/>
                    <a:gd name="connsiteX7" fmla="*/ 0 w 2506980"/>
                    <a:gd name="connsiteY7" fmla="*/ 638175 h 638175"/>
                    <a:gd name="connsiteX8" fmla="*/ 2506980 w 2506980"/>
                    <a:gd name="connsiteY8" fmla="*/ 638175 h 638175"/>
                    <a:gd name="connsiteX9" fmla="*/ 2506980 w 2506980"/>
                    <a:gd name="connsiteY9" fmla="*/ 0 h 638175"/>
                    <a:gd name="connsiteX10" fmla="*/ 2506980 w 2506980"/>
                    <a:gd name="connsiteY10" fmla="*/ 0 h 6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6980" h="638175">
                      <a:moveTo>
                        <a:pt x="2427923" y="80010"/>
                      </a:moveTo>
                      <a:lnTo>
                        <a:pt x="2427923" y="558165"/>
                      </a:lnTo>
                      <a:lnTo>
                        <a:pt x="80010" y="558165"/>
                      </a:lnTo>
                      <a:lnTo>
                        <a:pt x="80010" y="80010"/>
                      </a:lnTo>
                      <a:lnTo>
                        <a:pt x="2427923" y="80010"/>
                      </a:lnTo>
                      <a:moveTo>
                        <a:pt x="2506980" y="0"/>
                      </a:moveTo>
                      <a:lnTo>
                        <a:pt x="0" y="0"/>
                      </a:lnTo>
                      <a:lnTo>
                        <a:pt x="0" y="638175"/>
                      </a:lnTo>
                      <a:lnTo>
                        <a:pt x="2506980" y="638175"/>
                      </a:lnTo>
                      <a:lnTo>
                        <a:pt x="2506980" y="0"/>
                      </a:lnTo>
                      <a:lnTo>
                        <a:pt x="2506980" y="0"/>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62" name="Graphic 5">
                  <a:extLst>
                    <a:ext uri="{FF2B5EF4-FFF2-40B4-BE49-F238E27FC236}">
                      <a16:creationId xmlns:a16="http://schemas.microsoft.com/office/drawing/2014/main" id="{9B73A5E7-B8DA-1E42-AF85-44B0E5920FD3}"/>
                    </a:ext>
                  </a:extLst>
                </p:cNvPr>
                <p:cNvGrpSpPr/>
                <p:nvPr/>
              </p:nvGrpSpPr>
              <p:grpSpPr>
                <a:xfrm>
                  <a:off x="5084761" y="2124075"/>
                  <a:ext cx="1200150" cy="238125"/>
                  <a:chOff x="5084761" y="2124075"/>
                  <a:chExt cx="1200150" cy="238125"/>
                </a:xfrm>
                <a:grpFill/>
              </p:grpSpPr>
              <p:sp>
                <p:nvSpPr>
                  <p:cNvPr id="263" name="Freeform: Shape 598">
                    <a:extLst>
                      <a:ext uri="{FF2B5EF4-FFF2-40B4-BE49-F238E27FC236}">
                        <a16:creationId xmlns:a16="http://schemas.microsoft.com/office/drawing/2014/main" id="{3B56828A-7407-504F-8BE1-23F202E6BAB9}"/>
                      </a:ext>
                    </a:extLst>
                  </p:cNvPr>
                  <p:cNvSpPr/>
                  <p:nvPr/>
                </p:nvSpPr>
                <p:spPr>
                  <a:xfrm>
                    <a:off x="5084761" y="2124075"/>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64" name="Freeform: Shape 599">
                    <a:extLst>
                      <a:ext uri="{FF2B5EF4-FFF2-40B4-BE49-F238E27FC236}">
                        <a16:creationId xmlns:a16="http://schemas.microsoft.com/office/drawing/2014/main" id="{03A5AFCE-F0D4-3E46-BD36-FA077385EF8C}"/>
                      </a:ext>
                    </a:extLst>
                  </p:cNvPr>
                  <p:cNvSpPr/>
                  <p:nvPr/>
                </p:nvSpPr>
                <p:spPr>
                  <a:xfrm>
                    <a:off x="5244781" y="2124075"/>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65" name="Freeform: Shape 600">
                    <a:extLst>
                      <a:ext uri="{FF2B5EF4-FFF2-40B4-BE49-F238E27FC236}">
                        <a16:creationId xmlns:a16="http://schemas.microsoft.com/office/drawing/2014/main" id="{DCEE45E1-7614-D04F-9BCA-02CEF8D9CCC8}"/>
                      </a:ext>
                    </a:extLst>
                  </p:cNvPr>
                  <p:cNvSpPr/>
                  <p:nvPr/>
                </p:nvSpPr>
                <p:spPr>
                  <a:xfrm>
                    <a:off x="5404801" y="2124075"/>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66" name="Freeform: Shape 601">
                    <a:extLst>
                      <a:ext uri="{FF2B5EF4-FFF2-40B4-BE49-F238E27FC236}">
                        <a16:creationId xmlns:a16="http://schemas.microsoft.com/office/drawing/2014/main" id="{A51C6028-E77E-FB47-918D-7F725089B241}"/>
                      </a:ext>
                    </a:extLst>
                  </p:cNvPr>
                  <p:cNvSpPr/>
                  <p:nvPr/>
                </p:nvSpPr>
                <p:spPr>
                  <a:xfrm>
                    <a:off x="5564821" y="2124075"/>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67" name="Freeform: Shape 602">
                    <a:extLst>
                      <a:ext uri="{FF2B5EF4-FFF2-40B4-BE49-F238E27FC236}">
                        <a16:creationId xmlns:a16="http://schemas.microsoft.com/office/drawing/2014/main" id="{511D4F81-87EE-8C41-86C5-1E171AE807BD}"/>
                      </a:ext>
                    </a:extLst>
                  </p:cNvPr>
                  <p:cNvSpPr/>
                  <p:nvPr/>
                </p:nvSpPr>
                <p:spPr>
                  <a:xfrm>
                    <a:off x="5724841" y="2124075"/>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68" name="Freeform: Shape 603">
                    <a:extLst>
                      <a:ext uri="{FF2B5EF4-FFF2-40B4-BE49-F238E27FC236}">
                        <a16:creationId xmlns:a16="http://schemas.microsoft.com/office/drawing/2014/main" id="{6E4B34C8-4C3D-1949-B0FB-9B9E5BF5095C}"/>
                      </a:ext>
                    </a:extLst>
                  </p:cNvPr>
                  <p:cNvSpPr/>
                  <p:nvPr/>
                </p:nvSpPr>
                <p:spPr>
                  <a:xfrm>
                    <a:off x="5884861" y="2124075"/>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69" name="Freeform: Shape 604">
                    <a:extLst>
                      <a:ext uri="{FF2B5EF4-FFF2-40B4-BE49-F238E27FC236}">
                        <a16:creationId xmlns:a16="http://schemas.microsoft.com/office/drawing/2014/main" id="{35142489-F794-C740-BFD2-E59D65578960}"/>
                      </a:ext>
                    </a:extLst>
                  </p:cNvPr>
                  <p:cNvSpPr/>
                  <p:nvPr/>
                </p:nvSpPr>
                <p:spPr>
                  <a:xfrm>
                    <a:off x="6044881" y="2124075"/>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70" name="Freeform: Shape 605">
                    <a:extLst>
                      <a:ext uri="{FF2B5EF4-FFF2-40B4-BE49-F238E27FC236}">
                        <a16:creationId xmlns:a16="http://schemas.microsoft.com/office/drawing/2014/main" id="{085A3FCF-A447-E547-B8AB-5D4EE7FA02BD}"/>
                      </a:ext>
                    </a:extLst>
                  </p:cNvPr>
                  <p:cNvSpPr/>
                  <p:nvPr/>
                </p:nvSpPr>
                <p:spPr>
                  <a:xfrm>
                    <a:off x="6204901" y="2124075"/>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260" name="Freeform: Shape 595">
                <a:extLst>
                  <a:ext uri="{FF2B5EF4-FFF2-40B4-BE49-F238E27FC236}">
                    <a16:creationId xmlns:a16="http://schemas.microsoft.com/office/drawing/2014/main" id="{E15C1003-4A6F-3E4C-A451-F4F653D0216E}"/>
                  </a:ext>
                </a:extLst>
              </p:cNvPr>
              <p:cNvSpPr/>
              <p:nvPr/>
            </p:nvSpPr>
            <p:spPr>
              <a:xfrm>
                <a:off x="6935469" y="2165032"/>
                <a:ext cx="160020" cy="160019"/>
              </a:xfrm>
              <a:custGeom>
                <a:avLst/>
                <a:gdLst>
                  <a:gd name="connsiteX0" fmla="*/ 160020 w 160020"/>
                  <a:gd name="connsiteY0" fmla="*/ 80010 h 160019"/>
                  <a:gd name="connsiteX1" fmla="*/ 80010 w 160020"/>
                  <a:gd name="connsiteY1" fmla="*/ 160020 h 160019"/>
                  <a:gd name="connsiteX2" fmla="*/ 0 w 160020"/>
                  <a:gd name="connsiteY2" fmla="*/ 80010 h 160019"/>
                  <a:gd name="connsiteX3" fmla="*/ 80010 w 160020"/>
                  <a:gd name="connsiteY3" fmla="*/ 0 h 160019"/>
                  <a:gd name="connsiteX4" fmla="*/ 160020 w 160020"/>
                  <a:gd name="connsiteY4" fmla="*/ 80010 h 1600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020" h="160019">
                    <a:moveTo>
                      <a:pt x="160020" y="80010"/>
                    </a:moveTo>
                    <a:cubicBezTo>
                      <a:pt x="160020" y="124198"/>
                      <a:pt x="124198" y="160020"/>
                      <a:pt x="80010" y="160020"/>
                    </a:cubicBezTo>
                    <a:cubicBezTo>
                      <a:pt x="35822" y="160020"/>
                      <a:pt x="0" y="124198"/>
                      <a:pt x="0" y="80010"/>
                    </a:cubicBezTo>
                    <a:cubicBezTo>
                      <a:pt x="0" y="35822"/>
                      <a:pt x="35822" y="0"/>
                      <a:pt x="80010" y="0"/>
                    </a:cubicBezTo>
                    <a:cubicBezTo>
                      <a:pt x="124198" y="0"/>
                      <a:pt x="160020" y="35822"/>
                      <a:pt x="160020" y="80010"/>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220" name="Graphic 5">
              <a:extLst>
                <a:ext uri="{FF2B5EF4-FFF2-40B4-BE49-F238E27FC236}">
                  <a16:creationId xmlns:a16="http://schemas.microsoft.com/office/drawing/2014/main" id="{386A5B4D-EC84-564D-987E-661435B3EBF0}"/>
                </a:ext>
              </a:extLst>
            </p:cNvPr>
            <p:cNvGrpSpPr/>
            <p:nvPr/>
          </p:nvGrpSpPr>
          <p:grpSpPr>
            <a:xfrm>
              <a:off x="7175731" y="4600329"/>
              <a:ext cx="639167" cy="162706"/>
              <a:chOff x="4841874" y="2717482"/>
              <a:chExt cx="2506980" cy="638175"/>
            </a:xfrm>
            <a:grpFill/>
          </p:grpSpPr>
          <p:grpSp>
            <p:nvGrpSpPr>
              <p:cNvPr id="247" name="Graphic 5">
                <a:extLst>
                  <a:ext uri="{FF2B5EF4-FFF2-40B4-BE49-F238E27FC236}">
                    <a16:creationId xmlns:a16="http://schemas.microsoft.com/office/drawing/2014/main" id="{C1885828-CF24-204A-9651-F79DB7343717}"/>
                  </a:ext>
                </a:extLst>
              </p:cNvPr>
              <p:cNvGrpSpPr/>
              <p:nvPr/>
            </p:nvGrpSpPr>
            <p:grpSpPr>
              <a:xfrm>
                <a:off x="4841874" y="2717482"/>
                <a:ext cx="2506980" cy="638175"/>
                <a:chOff x="4841874" y="2717482"/>
                <a:chExt cx="2506980" cy="638175"/>
              </a:xfrm>
              <a:grpFill/>
            </p:grpSpPr>
            <p:sp>
              <p:nvSpPr>
                <p:cNvPr id="249" name="Freeform: Shape 584">
                  <a:extLst>
                    <a:ext uri="{FF2B5EF4-FFF2-40B4-BE49-F238E27FC236}">
                      <a16:creationId xmlns:a16="http://schemas.microsoft.com/office/drawing/2014/main" id="{E2BE7B3B-8B4A-FB48-BEBE-C7B5100C6EB3}"/>
                    </a:ext>
                  </a:extLst>
                </p:cNvPr>
                <p:cNvSpPr/>
                <p:nvPr/>
              </p:nvSpPr>
              <p:spPr>
                <a:xfrm>
                  <a:off x="4841874" y="2717482"/>
                  <a:ext cx="2506980" cy="638175"/>
                </a:xfrm>
                <a:custGeom>
                  <a:avLst/>
                  <a:gdLst>
                    <a:gd name="connsiteX0" fmla="*/ 2427923 w 2506980"/>
                    <a:gd name="connsiteY0" fmla="*/ 80010 h 638175"/>
                    <a:gd name="connsiteX1" fmla="*/ 2427923 w 2506980"/>
                    <a:gd name="connsiteY1" fmla="*/ 559118 h 638175"/>
                    <a:gd name="connsiteX2" fmla="*/ 80010 w 2506980"/>
                    <a:gd name="connsiteY2" fmla="*/ 559118 h 638175"/>
                    <a:gd name="connsiteX3" fmla="*/ 80010 w 2506980"/>
                    <a:gd name="connsiteY3" fmla="*/ 80010 h 638175"/>
                    <a:gd name="connsiteX4" fmla="*/ 2427923 w 2506980"/>
                    <a:gd name="connsiteY4" fmla="*/ 80010 h 638175"/>
                    <a:gd name="connsiteX5" fmla="*/ 2506980 w 2506980"/>
                    <a:gd name="connsiteY5" fmla="*/ 0 h 638175"/>
                    <a:gd name="connsiteX6" fmla="*/ 0 w 2506980"/>
                    <a:gd name="connsiteY6" fmla="*/ 0 h 638175"/>
                    <a:gd name="connsiteX7" fmla="*/ 0 w 2506980"/>
                    <a:gd name="connsiteY7" fmla="*/ 638175 h 638175"/>
                    <a:gd name="connsiteX8" fmla="*/ 2506980 w 2506980"/>
                    <a:gd name="connsiteY8" fmla="*/ 638175 h 638175"/>
                    <a:gd name="connsiteX9" fmla="*/ 2506980 w 2506980"/>
                    <a:gd name="connsiteY9" fmla="*/ 0 h 638175"/>
                    <a:gd name="connsiteX10" fmla="*/ 2506980 w 2506980"/>
                    <a:gd name="connsiteY10" fmla="*/ 0 h 6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6980" h="638175">
                      <a:moveTo>
                        <a:pt x="2427923" y="80010"/>
                      </a:moveTo>
                      <a:lnTo>
                        <a:pt x="2427923" y="559118"/>
                      </a:lnTo>
                      <a:lnTo>
                        <a:pt x="80010" y="559118"/>
                      </a:lnTo>
                      <a:lnTo>
                        <a:pt x="80010" y="80010"/>
                      </a:lnTo>
                      <a:lnTo>
                        <a:pt x="2427923" y="80010"/>
                      </a:lnTo>
                      <a:moveTo>
                        <a:pt x="2506980" y="0"/>
                      </a:moveTo>
                      <a:lnTo>
                        <a:pt x="0" y="0"/>
                      </a:lnTo>
                      <a:lnTo>
                        <a:pt x="0" y="638175"/>
                      </a:lnTo>
                      <a:lnTo>
                        <a:pt x="2506980" y="638175"/>
                      </a:lnTo>
                      <a:lnTo>
                        <a:pt x="2506980" y="0"/>
                      </a:lnTo>
                      <a:lnTo>
                        <a:pt x="2506980" y="0"/>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50" name="Graphic 5">
                  <a:extLst>
                    <a:ext uri="{FF2B5EF4-FFF2-40B4-BE49-F238E27FC236}">
                      <a16:creationId xmlns:a16="http://schemas.microsoft.com/office/drawing/2014/main" id="{1DEEACB1-9304-C249-B6F8-9AFB80EC6900}"/>
                    </a:ext>
                  </a:extLst>
                </p:cNvPr>
                <p:cNvGrpSpPr/>
                <p:nvPr/>
              </p:nvGrpSpPr>
              <p:grpSpPr>
                <a:xfrm>
                  <a:off x="5084761" y="2917507"/>
                  <a:ext cx="1200150" cy="238125"/>
                  <a:chOff x="5084761" y="2917507"/>
                  <a:chExt cx="1200150" cy="238125"/>
                </a:xfrm>
                <a:grpFill/>
              </p:grpSpPr>
              <p:sp>
                <p:nvSpPr>
                  <p:cNvPr id="251" name="Freeform: Shape 586">
                    <a:extLst>
                      <a:ext uri="{FF2B5EF4-FFF2-40B4-BE49-F238E27FC236}">
                        <a16:creationId xmlns:a16="http://schemas.microsoft.com/office/drawing/2014/main" id="{ACFCD032-9BF7-9940-A597-6D584257A269}"/>
                      </a:ext>
                    </a:extLst>
                  </p:cNvPr>
                  <p:cNvSpPr/>
                  <p:nvPr/>
                </p:nvSpPr>
                <p:spPr>
                  <a:xfrm>
                    <a:off x="5084761" y="291750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2" name="Freeform: Shape 587">
                    <a:extLst>
                      <a:ext uri="{FF2B5EF4-FFF2-40B4-BE49-F238E27FC236}">
                        <a16:creationId xmlns:a16="http://schemas.microsoft.com/office/drawing/2014/main" id="{E3A0E001-B7DD-8346-9050-6878CDDCAA08}"/>
                      </a:ext>
                    </a:extLst>
                  </p:cNvPr>
                  <p:cNvSpPr/>
                  <p:nvPr/>
                </p:nvSpPr>
                <p:spPr>
                  <a:xfrm>
                    <a:off x="5244781" y="291750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3" name="Freeform: Shape 588">
                    <a:extLst>
                      <a:ext uri="{FF2B5EF4-FFF2-40B4-BE49-F238E27FC236}">
                        <a16:creationId xmlns:a16="http://schemas.microsoft.com/office/drawing/2014/main" id="{B70D16DF-2078-7541-A29D-C98F5FA5BC51}"/>
                      </a:ext>
                    </a:extLst>
                  </p:cNvPr>
                  <p:cNvSpPr/>
                  <p:nvPr/>
                </p:nvSpPr>
                <p:spPr>
                  <a:xfrm>
                    <a:off x="5404801" y="291750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4" name="Freeform: Shape 589">
                    <a:extLst>
                      <a:ext uri="{FF2B5EF4-FFF2-40B4-BE49-F238E27FC236}">
                        <a16:creationId xmlns:a16="http://schemas.microsoft.com/office/drawing/2014/main" id="{6BDB31FA-343E-8442-83AF-C3EB1979BB56}"/>
                      </a:ext>
                    </a:extLst>
                  </p:cNvPr>
                  <p:cNvSpPr/>
                  <p:nvPr/>
                </p:nvSpPr>
                <p:spPr>
                  <a:xfrm>
                    <a:off x="5564821" y="291750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5" name="Freeform: Shape 590">
                    <a:extLst>
                      <a:ext uri="{FF2B5EF4-FFF2-40B4-BE49-F238E27FC236}">
                        <a16:creationId xmlns:a16="http://schemas.microsoft.com/office/drawing/2014/main" id="{A509D951-0FD2-6040-BFDC-AB25CD581987}"/>
                      </a:ext>
                    </a:extLst>
                  </p:cNvPr>
                  <p:cNvSpPr/>
                  <p:nvPr/>
                </p:nvSpPr>
                <p:spPr>
                  <a:xfrm>
                    <a:off x="5724841" y="291750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6" name="Freeform: Shape 591">
                    <a:extLst>
                      <a:ext uri="{FF2B5EF4-FFF2-40B4-BE49-F238E27FC236}">
                        <a16:creationId xmlns:a16="http://schemas.microsoft.com/office/drawing/2014/main" id="{D6561BD9-AE97-E849-B1F9-3B0F76854AC4}"/>
                      </a:ext>
                    </a:extLst>
                  </p:cNvPr>
                  <p:cNvSpPr/>
                  <p:nvPr/>
                </p:nvSpPr>
                <p:spPr>
                  <a:xfrm>
                    <a:off x="5884861" y="291750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7" name="Freeform: Shape 592">
                    <a:extLst>
                      <a:ext uri="{FF2B5EF4-FFF2-40B4-BE49-F238E27FC236}">
                        <a16:creationId xmlns:a16="http://schemas.microsoft.com/office/drawing/2014/main" id="{A12269C3-1583-7D4D-B206-ED4A35B8A3B2}"/>
                      </a:ext>
                    </a:extLst>
                  </p:cNvPr>
                  <p:cNvSpPr/>
                  <p:nvPr/>
                </p:nvSpPr>
                <p:spPr>
                  <a:xfrm>
                    <a:off x="6044881" y="291750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8" name="Freeform: Shape 593">
                    <a:extLst>
                      <a:ext uri="{FF2B5EF4-FFF2-40B4-BE49-F238E27FC236}">
                        <a16:creationId xmlns:a16="http://schemas.microsoft.com/office/drawing/2014/main" id="{8DA39BA3-98B0-4049-80E0-BBEF7FD86D81}"/>
                      </a:ext>
                    </a:extLst>
                  </p:cNvPr>
                  <p:cNvSpPr/>
                  <p:nvPr/>
                </p:nvSpPr>
                <p:spPr>
                  <a:xfrm>
                    <a:off x="6204901" y="291750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248" name="Freeform: Shape 583">
                <a:extLst>
                  <a:ext uri="{FF2B5EF4-FFF2-40B4-BE49-F238E27FC236}">
                    <a16:creationId xmlns:a16="http://schemas.microsoft.com/office/drawing/2014/main" id="{B0FB1AAA-38BF-6E48-8F4D-88A006244527}"/>
                  </a:ext>
                </a:extLst>
              </p:cNvPr>
              <p:cNvSpPr/>
              <p:nvPr/>
            </p:nvSpPr>
            <p:spPr>
              <a:xfrm>
                <a:off x="6935469" y="2957512"/>
                <a:ext cx="160020" cy="158114"/>
              </a:xfrm>
              <a:custGeom>
                <a:avLst/>
                <a:gdLst>
                  <a:gd name="connsiteX0" fmla="*/ 160020 w 160020"/>
                  <a:gd name="connsiteY0" fmla="*/ 79058 h 158114"/>
                  <a:gd name="connsiteX1" fmla="*/ 80010 w 160020"/>
                  <a:gd name="connsiteY1" fmla="*/ 158115 h 158114"/>
                  <a:gd name="connsiteX2" fmla="*/ 0 w 160020"/>
                  <a:gd name="connsiteY2" fmla="*/ 79058 h 158114"/>
                  <a:gd name="connsiteX3" fmla="*/ 80010 w 160020"/>
                  <a:gd name="connsiteY3" fmla="*/ 0 h 158114"/>
                  <a:gd name="connsiteX4" fmla="*/ 160020 w 160020"/>
                  <a:gd name="connsiteY4" fmla="*/ 79058 h 158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020" h="158114">
                    <a:moveTo>
                      <a:pt x="160020" y="79058"/>
                    </a:moveTo>
                    <a:cubicBezTo>
                      <a:pt x="160020" y="122720"/>
                      <a:pt x="124198" y="158115"/>
                      <a:pt x="80010" y="158115"/>
                    </a:cubicBezTo>
                    <a:cubicBezTo>
                      <a:pt x="35822" y="158115"/>
                      <a:pt x="0" y="122720"/>
                      <a:pt x="0" y="79058"/>
                    </a:cubicBezTo>
                    <a:cubicBezTo>
                      <a:pt x="0" y="35395"/>
                      <a:pt x="35822" y="0"/>
                      <a:pt x="80010" y="0"/>
                    </a:cubicBezTo>
                    <a:cubicBezTo>
                      <a:pt x="124198" y="0"/>
                      <a:pt x="160020" y="35395"/>
                      <a:pt x="160020" y="79058"/>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221" name="Graphic 5">
              <a:extLst>
                <a:ext uri="{FF2B5EF4-FFF2-40B4-BE49-F238E27FC236}">
                  <a16:creationId xmlns:a16="http://schemas.microsoft.com/office/drawing/2014/main" id="{590251D8-EDB1-064F-A36F-4DF39254B088}"/>
                </a:ext>
              </a:extLst>
            </p:cNvPr>
            <p:cNvGrpSpPr/>
            <p:nvPr/>
          </p:nvGrpSpPr>
          <p:grpSpPr>
            <a:xfrm>
              <a:off x="7175731" y="4801162"/>
              <a:ext cx="639167" cy="162706"/>
              <a:chOff x="4841874" y="3505200"/>
              <a:chExt cx="2506980" cy="638175"/>
            </a:xfrm>
            <a:grpFill/>
          </p:grpSpPr>
          <p:grpSp>
            <p:nvGrpSpPr>
              <p:cNvPr id="235" name="Graphic 5">
                <a:extLst>
                  <a:ext uri="{FF2B5EF4-FFF2-40B4-BE49-F238E27FC236}">
                    <a16:creationId xmlns:a16="http://schemas.microsoft.com/office/drawing/2014/main" id="{5AB49F77-CA45-3349-AFAA-E19EACAEC634}"/>
                  </a:ext>
                </a:extLst>
              </p:cNvPr>
              <p:cNvGrpSpPr/>
              <p:nvPr/>
            </p:nvGrpSpPr>
            <p:grpSpPr>
              <a:xfrm>
                <a:off x="4841874" y="3505200"/>
                <a:ext cx="2506980" cy="638175"/>
                <a:chOff x="4841874" y="3505200"/>
                <a:chExt cx="2506980" cy="638175"/>
              </a:xfrm>
              <a:grpFill/>
            </p:grpSpPr>
            <p:sp>
              <p:nvSpPr>
                <p:cNvPr id="237" name="Freeform: Shape 572">
                  <a:extLst>
                    <a:ext uri="{FF2B5EF4-FFF2-40B4-BE49-F238E27FC236}">
                      <a16:creationId xmlns:a16="http://schemas.microsoft.com/office/drawing/2014/main" id="{DFBB70B4-234A-AF4B-9DD3-07CB426F9475}"/>
                    </a:ext>
                  </a:extLst>
                </p:cNvPr>
                <p:cNvSpPr/>
                <p:nvPr/>
              </p:nvSpPr>
              <p:spPr>
                <a:xfrm>
                  <a:off x="4841874" y="3505200"/>
                  <a:ext cx="2506980" cy="638175"/>
                </a:xfrm>
                <a:custGeom>
                  <a:avLst/>
                  <a:gdLst>
                    <a:gd name="connsiteX0" fmla="*/ 2427923 w 2506980"/>
                    <a:gd name="connsiteY0" fmla="*/ 79058 h 638175"/>
                    <a:gd name="connsiteX1" fmla="*/ 2427923 w 2506980"/>
                    <a:gd name="connsiteY1" fmla="*/ 557213 h 638175"/>
                    <a:gd name="connsiteX2" fmla="*/ 80010 w 2506980"/>
                    <a:gd name="connsiteY2" fmla="*/ 557213 h 638175"/>
                    <a:gd name="connsiteX3" fmla="*/ 80010 w 2506980"/>
                    <a:gd name="connsiteY3" fmla="*/ 79058 h 638175"/>
                    <a:gd name="connsiteX4" fmla="*/ 2427923 w 2506980"/>
                    <a:gd name="connsiteY4" fmla="*/ 79058 h 638175"/>
                    <a:gd name="connsiteX5" fmla="*/ 2506980 w 2506980"/>
                    <a:gd name="connsiteY5" fmla="*/ 0 h 638175"/>
                    <a:gd name="connsiteX6" fmla="*/ 0 w 2506980"/>
                    <a:gd name="connsiteY6" fmla="*/ 0 h 638175"/>
                    <a:gd name="connsiteX7" fmla="*/ 0 w 2506980"/>
                    <a:gd name="connsiteY7" fmla="*/ 638175 h 638175"/>
                    <a:gd name="connsiteX8" fmla="*/ 2506980 w 2506980"/>
                    <a:gd name="connsiteY8" fmla="*/ 638175 h 638175"/>
                    <a:gd name="connsiteX9" fmla="*/ 2506980 w 2506980"/>
                    <a:gd name="connsiteY9" fmla="*/ 0 h 638175"/>
                    <a:gd name="connsiteX10" fmla="*/ 2506980 w 2506980"/>
                    <a:gd name="connsiteY10" fmla="*/ 0 h 6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6980" h="638175">
                      <a:moveTo>
                        <a:pt x="2427923" y="79058"/>
                      </a:moveTo>
                      <a:lnTo>
                        <a:pt x="2427923" y="557213"/>
                      </a:lnTo>
                      <a:lnTo>
                        <a:pt x="80010" y="557213"/>
                      </a:lnTo>
                      <a:lnTo>
                        <a:pt x="80010" y="79058"/>
                      </a:lnTo>
                      <a:lnTo>
                        <a:pt x="2427923" y="79058"/>
                      </a:lnTo>
                      <a:moveTo>
                        <a:pt x="2506980" y="0"/>
                      </a:moveTo>
                      <a:lnTo>
                        <a:pt x="0" y="0"/>
                      </a:lnTo>
                      <a:lnTo>
                        <a:pt x="0" y="638175"/>
                      </a:lnTo>
                      <a:lnTo>
                        <a:pt x="2506980" y="638175"/>
                      </a:lnTo>
                      <a:lnTo>
                        <a:pt x="2506980" y="0"/>
                      </a:lnTo>
                      <a:lnTo>
                        <a:pt x="2506980" y="0"/>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38" name="Graphic 5">
                  <a:extLst>
                    <a:ext uri="{FF2B5EF4-FFF2-40B4-BE49-F238E27FC236}">
                      <a16:creationId xmlns:a16="http://schemas.microsoft.com/office/drawing/2014/main" id="{123BB733-F3EC-6546-AB9A-9EA2406B442E}"/>
                    </a:ext>
                  </a:extLst>
                </p:cNvPr>
                <p:cNvGrpSpPr/>
                <p:nvPr/>
              </p:nvGrpSpPr>
              <p:grpSpPr>
                <a:xfrm>
                  <a:off x="5084761" y="3704272"/>
                  <a:ext cx="1200150" cy="238125"/>
                  <a:chOff x="5084761" y="3704272"/>
                  <a:chExt cx="1200150" cy="238125"/>
                </a:xfrm>
                <a:grpFill/>
              </p:grpSpPr>
              <p:sp>
                <p:nvSpPr>
                  <p:cNvPr id="239" name="Freeform: Shape 574">
                    <a:extLst>
                      <a:ext uri="{FF2B5EF4-FFF2-40B4-BE49-F238E27FC236}">
                        <a16:creationId xmlns:a16="http://schemas.microsoft.com/office/drawing/2014/main" id="{F200B867-F14C-A14E-BF1F-41040850F666}"/>
                      </a:ext>
                    </a:extLst>
                  </p:cNvPr>
                  <p:cNvSpPr/>
                  <p:nvPr/>
                </p:nvSpPr>
                <p:spPr>
                  <a:xfrm>
                    <a:off x="508476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0" name="Freeform: Shape 575">
                    <a:extLst>
                      <a:ext uri="{FF2B5EF4-FFF2-40B4-BE49-F238E27FC236}">
                        <a16:creationId xmlns:a16="http://schemas.microsoft.com/office/drawing/2014/main" id="{94B49489-D2DA-EA44-804F-4E9929B96022}"/>
                      </a:ext>
                    </a:extLst>
                  </p:cNvPr>
                  <p:cNvSpPr/>
                  <p:nvPr/>
                </p:nvSpPr>
                <p:spPr>
                  <a:xfrm>
                    <a:off x="524478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1" name="Freeform: Shape 576">
                    <a:extLst>
                      <a:ext uri="{FF2B5EF4-FFF2-40B4-BE49-F238E27FC236}">
                        <a16:creationId xmlns:a16="http://schemas.microsoft.com/office/drawing/2014/main" id="{EF5C00A9-7253-1F48-AF6D-97174E7A5AA7}"/>
                      </a:ext>
                    </a:extLst>
                  </p:cNvPr>
                  <p:cNvSpPr/>
                  <p:nvPr/>
                </p:nvSpPr>
                <p:spPr>
                  <a:xfrm>
                    <a:off x="540480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2" name="Freeform: Shape 577">
                    <a:extLst>
                      <a:ext uri="{FF2B5EF4-FFF2-40B4-BE49-F238E27FC236}">
                        <a16:creationId xmlns:a16="http://schemas.microsoft.com/office/drawing/2014/main" id="{7E8303EA-5EF2-E342-9673-C4667E2A4687}"/>
                      </a:ext>
                    </a:extLst>
                  </p:cNvPr>
                  <p:cNvSpPr/>
                  <p:nvPr/>
                </p:nvSpPr>
                <p:spPr>
                  <a:xfrm>
                    <a:off x="556482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3" name="Freeform: Shape 578">
                    <a:extLst>
                      <a:ext uri="{FF2B5EF4-FFF2-40B4-BE49-F238E27FC236}">
                        <a16:creationId xmlns:a16="http://schemas.microsoft.com/office/drawing/2014/main" id="{E078689B-D458-444F-8AD7-3237ED38F469}"/>
                      </a:ext>
                    </a:extLst>
                  </p:cNvPr>
                  <p:cNvSpPr/>
                  <p:nvPr/>
                </p:nvSpPr>
                <p:spPr>
                  <a:xfrm>
                    <a:off x="572484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4" name="Freeform: Shape 579">
                    <a:extLst>
                      <a:ext uri="{FF2B5EF4-FFF2-40B4-BE49-F238E27FC236}">
                        <a16:creationId xmlns:a16="http://schemas.microsoft.com/office/drawing/2014/main" id="{6335E426-0118-7B4A-BE49-522BD153FDBF}"/>
                      </a:ext>
                    </a:extLst>
                  </p:cNvPr>
                  <p:cNvSpPr/>
                  <p:nvPr/>
                </p:nvSpPr>
                <p:spPr>
                  <a:xfrm>
                    <a:off x="588486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5" name="Freeform: Shape 580">
                    <a:extLst>
                      <a:ext uri="{FF2B5EF4-FFF2-40B4-BE49-F238E27FC236}">
                        <a16:creationId xmlns:a16="http://schemas.microsoft.com/office/drawing/2014/main" id="{F29D311D-DA5C-EA4E-8611-D35C80A42E81}"/>
                      </a:ext>
                    </a:extLst>
                  </p:cNvPr>
                  <p:cNvSpPr/>
                  <p:nvPr/>
                </p:nvSpPr>
                <p:spPr>
                  <a:xfrm>
                    <a:off x="604488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6" name="Freeform: Shape 581">
                    <a:extLst>
                      <a:ext uri="{FF2B5EF4-FFF2-40B4-BE49-F238E27FC236}">
                        <a16:creationId xmlns:a16="http://schemas.microsoft.com/office/drawing/2014/main" id="{C2136CF1-C0C8-2D4C-9451-E83D2DBAB26D}"/>
                      </a:ext>
                    </a:extLst>
                  </p:cNvPr>
                  <p:cNvSpPr/>
                  <p:nvPr/>
                </p:nvSpPr>
                <p:spPr>
                  <a:xfrm>
                    <a:off x="620490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236" name="Freeform: Shape 571">
                <a:extLst>
                  <a:ext uri="{FF2B5EF4-FFF2-40B4-BE49-F238E27FC236}">
                    <a16:creationId xmlns:a16="http://schemas.microsoft.com/office/drawing/2014/main" id="{155B61F7-EC14-5845-880B-08D2F3ACBA31}"/>
                  </a:ext>
                </a:extLst>
              </p:cNvPr>
              <p:cNvSpPr/>
              <p:nvPr/>
            </p:nvSpPr>
            <p:spPr>
              <a:xfrm>
                <a:off x="6935469" y="3744277"/>
                <a:ext cx="160020" cy="158115"/>
              </a:xfrm>
              <a:custGeom>
                <a:avLst/>
                <a:gdLst>
                  <a:gd name="connsiteX0" fmla="*/ 160020 w 160020"/>
                  <a:gd name="connsiteY0" fmla="*/ 79057 h 158115"/>
                  <a:gd name="connsiteX1" fmla="*/ 80010 w 160020"/>
                  <a:gd name="connsiteY1" fmla="*/ 158115 h 158115"/>
                  <a:gd name="connsiteX2" fmla="*/ 0 w 160020"/>
                  <a:gd name="connsiteY2" fmla="*/ 79057 h 158115"/>
                  <a:gd name="connsiteX3" fmla="*/ 80010 w 160020"/>
                  <a:gd name="connsiteY3" fmla="*/ 0 h 158115"/>
                  <a:gd name="connsiteX4" fmla="*/ 160020 w 160020"/>
                  <a:gd name="connsiteY4" fmla="*/ 79057 h 158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020" h="158115">
                    <a:moveTo>
                      <a:pt x="160020" y="79057"/>
                    </a:moveTo>
                    <a:cubicBezTo>
                      <a:pt x="160020" y="122720"/>
                      <a:pt x="124198" y="158115"/>
                      <a:pt x="80010" y="158115"/>
                    </a:cubicBezTo>
                    <a:cubicBezTo>
                      <a:pt x="35822" y="158115"/>
                      <a:pt x="0" y="122720"/>
                      <a:pt x="0" y="79057"/>
                    </a:cubicBezTo>
                    <a:cubicBezTo>
                      <a:pt x="0" y="35395"/>
                      <a:pt x="35822" y="0"/>
                      <a:pt x="80010" y="0"/>
                    </a:cubicBezTo>
                    <a:cubicBezTo>
                      <a:pt x="124198" y="0"/>
                      <a:pt x="160020" y="35395"/>
                      <a:pt x="160020" y="79057"/>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222" name="Graphic 5">
              <a:extLst>
                <a:ext uri="{FF2B5EF4-FFF2-40B4-BE49-F238E27FC236}">
                  <a16:creationId xmlns:a16="http://schemas.microsoft.com/office/drawing/2014/main" id="{594B3CA5-CF83-E146-9E56-53763B5EFF75}"/>
                </a:ext>
              </a:extLst>
            </p:cNvPr>
            <p:cNvGrpSpPr/>
            <p:nvPr/>
          </p:nvGrpSpPr>
          <p:grpSpPr>
            <a:xfrm>
              <a:off x="7175731" y="5003452"/>
              <a:ext cx="639167" cy="162949"/>
              <a:chOff x="4841874" y="4298632"/>
              <a:chExt cx="2506980" cy="639127"/>
            </a:xfrm>
            <a:grpFill/>
          </p:grpSpPr>
          <p:grpSp>
            <p:nvGrpSpPr>
              <p:cNvPr id="223" name="Graphic 5">
                <a:extLst>
                  <a:ext uri="{FF2B5EF4-FFF2-40B4-BE49-F238E27FC236}">
                    <a16:creationId xmlns:a16="http://schemas.microsoft.com/office/drawing/2014/main" id="{BA0DE988-100C-DD48-9D15-3DC93BCD4349}"/>
                  </a:ext>
                </a:extLst>
              </p:cNvPr>
              <p:cNvGrpSpPr/>
              <p:nvPr/>
            </p:nvGrpSpPr>
            <p:grpSpPr>
              <a:xfrm>
                <a:off x="4841874" y="4298632"/>
                <a:ext cx="2506980" cy="639127"/>
                <a:chOff x="4841874" y="4298632"/>
                <a:chExt cx="2506980" cy="639127"/>
              </a:xfrm>
              <a:grpFill/>
            </p:grpSpPr>
            <p:sp>
              <p:nvSpPr>
                <p:cNvPr id="225" name="Freeform: Shape 560">
                  <a:extLst>
                    <a:ext uri="{FF2B5EF4-FFF2-40B4-BE49-F238E27FC236}">
                      <a16:creationId xmlns:a16="http://schemas.microsoft.com/office/drawing/2014/main" id="{8B014FE2-3E8B-2045-A637-7854EB26914A}"/>
                    </a:ext>
                  </a:extLst>
                </p:cNvPr>
                <p:cNvSpPr/>
                <p:nvPr/>
              </p:nvSpPr>
              <p:spPr>
                <a:xfrm>
                  <a:off x="4841874" y="4298632"/>
                  <a:ext cx="2506980" cy="639127"/>
                </a:xfrm>
                <a:custGeom>
                  <a:avLst/>
                  <a:gdLst>
                    <a:gd name="connsiteX0" fmla="*/ 2427923 w 2506980"/>
                    <a:gd name="connsiteY0" fmla="*/ 80010 h 639127"/>
                    <a:gd name="connsiteX1" fmla="*/ 2427923 w 2506980"/>
                    <a:gd name="connsiteY1" fmla="*/ 559118 h 639127"/>
                    <a:gd name="connsiteX2" fmla="*/ 80010 w 2506980"/>
                    <a:gd name="connsiteY2" fmla="*/ 559118 h 639127"/>
                    <a:gd name="connsiteX3" fmla="*/ 80010 w 2506980"/>
                    <a:gd name="connsiteY3" fmla="*/ 80010 h 639127"/>
                    <a:gd name="connsiteX4" fmla="*/ 2427923 w 2506980"/>
                    <a:gd name="connsiteY4" fmla="*/ 80010 h 639127"/>
                    <a:gd name="connsiteX5" fmla="*/ 2506980 w 2506980"/>
                    <a:gd name="connsiteY5" fmla="*/ 0 h 639127"/>
                    <a:gd name="connsiteX6" fmla="*/ 0 w 2506980"/>
                    <a:gd name="connsiteY6" fmla="*/ 0 h 639127"/>
                    <a:gd name="connsiteX7" fmla="*/ 0 w 2506980"/>
                    <a:gd name="connsiteY7" fmla="*/ 639127 h 639127"/>
                    <a:gd name="connsiteX8" fmla="*/ 2506980 w 2506980"/>
                    <a:gd name="connsiteY8" fmla="*/ 639127 h 639127"/>
                    <a:gd name="connsiteX9" fmla="*/ 2506980 w 2506980"/>
                    <a:gd name="connsiteY9" fmla="*/ 0 h 639127"/>
                    <a:gd name="connsiteX10" fmla="*/ 2506980 w 2506980"/>
                    <a:gd name="connsiteY10" fmla="*/ 0 h 63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6980" h="639127">
                      <a:moveTo>
                        <a:pt x="2427923" y="80010"/>
                      </a:moveTo>
                      <a:lnTo>
                        <a:pt x="2427923" y="559118"/>
                      </a:lnTo>
                      <a:lnTo>
                        <a:pt x="80010" y="559118"/>
                      </a:lnTo>
                      <a:lnTo>
                        <a:pt x="80010" y="80010"/>
                      </a:lnTo>
                      <a:lnTo>
                        <a:pt x="2427923" y="80010"/>
                      </a:lnTo>
                      <a:moveTo>
                        <a:pt x="2506980" y="0"/>
                      </a:moveTo>
                      <a:lnTo>
                        <a:pt x="0" y="0"/>
                      </a:lnTo>
                      <a:lnTo>
                        <a:pt x="0" y="639127"/>
                      </a:lnTo>
                      <a:lnTo>
                        <a:pt x="2506980" y="639127"/>
                      </a:lnTo>
                      <a:lnTo>
                        <a:pt x="2506980" y="0"/>
                      </a:lnTo>
                      <a:lnTo>
                        <a:pt x="2506980" y="0"/>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26" name="Graphic 5">
                  <a:extLst>
                    <a:ext uri="{FF2B5EF4-FFF2-40B4-BE49-F238E27FC236}">
                      <a16:creationId xmlns:a16="http://schemas.microsoft.com/office/drawing/2014/main" id="{6A6BABB9-97BF-0842-87CB-62A6998D7C90}"/>
                    </a:ext>
                  </a:extLst>
                </p:cNvPr>
                <p:cNvGrpSpPr/>
                <p:nvPr/>
              </p:nvGrpSpPr>
              <p:grpSpPr>
                <a:xfrm>
                  <a:off x="5084761" y="4498657"/>
                  <a:ext cx="1200150" cy="238125"/>
                  <a:chOff x="5084761" y="4498657"/>
                  <a:chExt cx="1200150" cy="238125"/>
                </a:xfrm>
                <a:grpFill/>
              </p:grpSpPr>
              <p:sp>
                <p:nvSpPr>
                  <p:cNvPr id="227" name="Freeform: Shape 562">
                    <a:extLst>
                      <a:ext uri="{FF2B5EF4-FFF2-40B4-BE49-F238E27FC236}">
                        <a16:creationId xmlns:a16="http://schemas.microsoft.com/office/drawing/2014/main" id="{4DADD01E-4D94-4149-9EFC-22FCB1D5B511}"/>
                      </a:ext>
                    </a:extLst>
                  </p:cNvPr>
                  <p:cNvSpPr/>
                  <p:nvPr/>
                </p:nvSpPr>
                <p:spPr>
                  <a:xfrm>
                    <a:off x="508476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8" name="Freeform: Shape 563">
                    <a:extLst>
                      <a:ext uri="{FF2B5EF4-FFF2-40B4-BE49-F238E27FC236}">
                        <a16:creationId xmlns:a16="http://schemas.microsoft.com/office/drawing/2014/main" id="{37616396-1D40-5D4B-891D-AAF8F69E3016}"/>
                      </a:ext>
                    </a:extLst>
                  </p:cNvPr>
                  <p:cNvSpPr/>
                  <p:nvPr/>
                </p:nvSpPr>
                <p:spPr>
                  <a:xfrm>
                    <a:off x="524478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9" name="Freeform: Shape 564">
                    <a:extLst>
                      <a:ext uri="{FF2B5EF4-FFF2-40B4-BE49-F238E27FC236}">
                        <a16:creationId xmlns:a16="http://schemas.microsoft.com/office/drawing/2014/main" id="{CF99F3F0-299F-CE40-A9DF-962CBC4E8330}"/>
                      </a:ext>
                    </a:extLst>
                  </p:cNvPr>
                  <p:cNvSpPr/>
                  <p:nvPr/>
                </p:nvSpPr>
                <p:spPr>
                  <a:xfrm>
                    <a:off x="540480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0" name="Freeform: Shape 565">
                    <a:extLst>
                      <a:ext uri="{FF2B5EF4-FFF2-40B4-BE49-F238E27FC236}">
                        <a16:creationId xmlns:a16="http://schemas.microsoft.com/office/drawing/2014/main" id="{70B6E9D7-E9F1-564A-B7BB-EADF7DF72BBB}"/>
                      </a:ext>
                    </a:extLst>
                  </p:cNvPr>
                  <p:cNvSpPr/>
                  <p:nvPr/>
                </p:nvSpPr>
                <p:spPr>
                  <a:xfrm>
                    <a:off x="556482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1" name="Freeform: Shape 566">
                    <a:extLst>
                      <a:ext uri="{FF2B5EF4-FFF2-40B4-BE49-F238E27FC236}">
                        <a16:creationId xmlns:a16="http://schemas.microsoft.com/office/drawing/2014/main" id="{96AF4019-868C-ED46-B8EF-CB71AE227657}"/>
                      </a:ext>
                    </a:extLst>
                  </p:cNvPr>
                  <p:cNvSpPr/>
                  <p:nvPr/>
                </p:nvSpPr>
                <p:spPr>
                  <a:xfrm>
                    <a:off x="572484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2" name="Freeform: Shape 567">
                    <a:extLst>
                      <a:ext uri="{FF2B5EF4-FFF2-40B4-BE49-F238E27FC236}">
                        <a16:creationId xmlns:a16="http://schemas.microsoft.com/office/drawing/2014/main" id="{8846168F-FCE1-544D-87C1-DCFC4123D4A0}"/>
                      </a:ext>
                    </a:extLst>
                  </p:cNvPr>
                  <p:cNvSpPr/>
                  <p:nvPr/>
                </p:nvSpPr>
                <p:spPr>
                  <a:xfrm>
                    <a:off x="588486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3" name="Freeform: Shape 568">
                    <a:extLst>
                      <a:ext uri="{FF2B5EF4-FFF2-40B4-BE49-F238E27FC236}">
                        <a16:creationId xmlns:a16="http://schemas.microsoft.com/office/drawing/2014/main" id="{A278B027-07E1-4E46-9066-F34CF8BF07B4}"/>
                      </a:ext>
                    </a:extLst>
                  </p:cNvPr>
                  <p:cNvSpPr/>
                  <p:nvPr/>
                </p:nvSpPr>
                <p:spPr>
                  <a:xfrm>
                    <a:off x="604488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4" name="Freeform: Shape 569">
                    <a:extLst>
                      <a:ext uri="{FF2B5EF4-FFF2-40B4-BE49-F238E27FC236}">
                        <a16:creationId xmlns:a16="http://schemas.microsoft.com/office/drawing/2014/main" id="{7F322CDF-4ACD-7D45-AE26-F0650DE34684}"/>
                      </a:ext>
                    </a:extLst>
                  </p:cNvPr>
                  <p:cNvSpPr/>
                  <p:nvPr/>
                </p:nvSpPr>
                <p:spPr>
                  <a:xfrm>
                    <a:off x="620490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224" name="Freeform: Shape 559">
                <a:extLst>
                  <a:ext uri="{FF2B5EF4-FFF2-40B4-BE49-F238E27FC236}">
                    <a16:creationId xmlns:a16="http://schemas.microsoft.com/office/drawing/2014/main" id="{1BF443EF-CF8E-2746-8CDF-922FE9AA841F}"/>
                  </a:ext>
                </a:extLst>
              </p:cNvPr>
              <p:cNvSpPr/>
              <p:nvPr/>
            </p:nvSpPr>
            <p:spPr>
              <a:xfrm>
                <a:off x="6935469" y="4538662"/>
                <a:ext cx="160020" cy="158115"/>
              </a:xfrm>
              <a:custGeom>
                <a:avLst/>
                <a:gdLst>
                  <a:gd name="connsiteX0" fmla="*/ 160020 w 160020"/>
                  <a:gd name="connsiteY0" fmla="*/ 79057 h 158115"/>
                  <a:gd name="connsiteX1" fmla="*/ 80010 w 160020"/>
                  <a:gd name="connsiteY1" fmla="*/ 158115 h 158115"/>
                  <a:gd name="connsiteX2" fmla="*/ 0 w 160020"/>
                  <a:gd name="connsiteY2" fmla="*/ 79057 h 158115"/>
                  <a:gd name="connsiteX3" fmla="*/ 80010 w 160020"/>
                  <a:gd name="connsiteY3" fmla="*/ 0 h 158115"/>
                  <a:gd name="connsiteX4" fmla="*/ 160020 w 160020"/>
                  <a:gd name="connsiteY4" fmla="*/ 79057 h 158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020" h="158115">
                    <a:moveTo>
                      <a:pt x="160020" y="79057"/>
                    </a:moveTo>
                    <a:cubicBezTo>
                      <a:pt x="160020" y="122720"/>
                      <a:pt x="124198" y="158115"/>
                      <a:pt x="80010" y="158115"/>
                    </a:cubicBezTo>
                    <a:cubicBezTo>
                      <a:pt x="35822" y="158115"/>
                      <a:pt x="0" y="122720"/>
                      <a:pt x="0" y="79057"/>
                    </a:cubicBezTo>
                    <a:cubicBezTo>
                      <a:pt x="0" y="35395"/>
                      <a:pt x="35822" y="0"/>
                      <a:pt x="80010" y="0"/>
                    </a:cubicBezTo>
                    <a:cubicBezTo>
                      <a:pt x="124198" y="0"/>
                      <a:pt x="160020" y="35395"/>
                      <a:pt x="160020" y="79057"/>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grpSp>
        <p:nvGrpSpPr>
          <p:cNvPr id="271" name="Group 270">
            <a:extLst>
              <a:ext uri="{FF2B5EF4-FFF2-40B4-BE49-F238E27FC236}">
                <a16:creationId xmlns:a16="http://schemas.microsoft.com/office/drawing/2014/main" id="{225AADE8-7642-A142-ACA8-8A5F4B56C4FC}"/>
              </a:ext>
              <a:ext uri="{C183D7F6-B498-43B3-948B-1728B52AA6E4}">
                <adec:decorative xmlns:adec="http://schemas.microsoft.com/office/drawing/2017/decorative" val="1"/>
              </a:ext>
            </a:extLst>
          </p:cNvPr>
          <p:cNvGrpSpPr/>
          <p:nvPr/>
        </p:nvGrpSpPr>
        <p:grpSpPr>
          <a:xfrm>
            <a:off x="8862642" y="3088234"/>
            <a:ext cx="638835" cy="565778"/>
            <a:chOff x="8660342" y="4600329"/>
            <a:chExt cx="639167" cy="566072"/>
          </a:xfrm>
          <a:solidFill>
            <a:schemeClr val="accent1"/>
          </a:solidFill>
        </p:grpSpPr>
        <p:grpSp>
          <p:nvGrpSpPr>
            <p:cNvPr id="272" name="Graphic 5">
              <a:extLst>
                <a:ext uri="{FF2B5EF4-FFF2-40B4-BE49-F238E27FC236}">
                  <a16:creationId xmlns:a16="http://schemas.microsoft.com/office/drawing/2014/main" id="{9F937465-83CB-C646-9C02-07788620BFCB}"/>
                </a:ext>
              </a:extLst>
            </p:cNvPr>
            <p:cNvGrpSpPr/>
            <p:nvPr/>
          </p:nvGrpSpPr>
          <p:grpSpPr>
            <a:xfrm>
              <a:off x="8660342" y="4600329"/>
              <a:ext cx="639167" cy="162706"/>
              <a:chOff x="4841874" y="2717482"/>
              <a:chExt cx="2506980" cy="638175"/>
            </a:xfrm>
            <a:grpFill/>
          </p:grpSpPr>
          <p:grpSp>
            <p:nvGrpSpPr>
              <p:cNvPr id="299" name="Graphic 5">
                <a:extLst>
                  <a:ext uri="{FF2B5EF4-FFF2-40B4-BE49-F238E27FC236}">
                    <a16:creationId xmlns:a16="http://schemas.microsoft.com/office/drawing/2014/main" id="{81D004EE-6DA9-164E-9A6C-815954C3EC19}"/>
                  </a:ext>
                </a:extLst>
              </p:cNvPr>
              <p:cNvGrpSpPr/>
              <p:nvPr/>
            </p:nvGrpSpPr>
            <p:grpSpPr>
              <a:xfrm>
                <a:off x="4841874" y="2717482"/>
                <a:ext cx="2506980" cy="638175"/>
                <a:chOff x="4841874" y="2717482"/>
                <a:chExt cx="2506980" cy="638175"/>
              </a:xfrm>
              <a:grpFill/>
            </p:grpSpPr>
            <p:sp>
              <p:nvSpPr>
                <p:cNvPr id="301" name="Freeform: Shape 637">
                  <a:extLst>
                    <a:ext uri="{FF2B5EF4-FFF2-40B4-BE49-F238E27FC236}">
                      <a16:creationId xmlns:a16="http://schemas.microsoft.com/office/drawing/2014/main" id="{7427184E-4790-E64D-8F03-822DA1DB840D}"/>
                    </a:ext>
                  </a:extLst>
                </p:cNvPr>
                <p:cNvSpPr/>
                <p:nvPr/>
              </p:nvSpPr>
              <p:spPr>
                <a:xfrm>
                  <a:off x="4841874" y="2717482"/>
                  <a:ext cx="2506980" cy="638175"/>
                </a:xfrm>
                <a:custGeom>
                  <a:avLst/>
                  <a:gdLst>
                    <a:gd name="connsiteX0" fmla="*/ 2427923 w 2506980"/>
                    <a:gd name="connsiteY0" fmla="*/ 80010 h 638175"/>
                    <a:gd name="connsiteX1" fmla="*/ 2427923 w 2506980"/>
                    <a:gd name="connsiteY1" fmla="*/ 559118 h 638175"/>
                    <a:gd name="connsiteX2" fmla="*/ 80010 w 2506980"/>
                    <a:gd name="connsiteY2" fmla="*/ 559118 h 638175"/>
                    <a:gd name="connsiteX3" fmla="*/ 80010 w 2506980"/>
                    <a:gd name="connsiteY3" fmla="*/ 80010 h 638175"/>
                    <a:gd name="connsiteX4" fmla="*/ 2427923 w 2506980"/>
                    <a:gd name="connsiteY4" fmla="*/ 80010 h 638175"/>
                    <a:gd name="connsiteX5" fmla="*/ 2506980 w 2506980"/>
                    <a:gd name="connsiteY5" fmla="*/ 0 h 638175"/>
                    <a:gd name="connsiteX6" fmla="*/ 0 w 2506980"/>
                    <a:gd name="connsiteY6" fmla="*/ 0 h 638175"/>
                    <a:gd name="connsiteX7" fmla="*/ 0 w 2506980"/>
                    <a:gd name="connsiteY7" fmla="*/ 638175 h 638175"/>
                    <a:gd name="connsiteX8" fmla="*/ 2506980 w 2506980"/>
                    <a:gd name="connsiteY8" fmla="*/ 638175 h 638175"/>
                    <a:gd name="connsiteX9" fmla="*/ 2506980 w 2506980"/>
                    <a:gd name="connsiteY9" fmla="*/ 0 h 638175"/>
                    <a:gd name="connsiteX10" fmla="*/ 2506980 w 2506980"/>
                    <a:gd name="connsiteY10" fmla="*/ 0 h 6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6980" h="638175">
                      <a:moveTo>
                        <a:pt x="2427923" y="80010"/>
                      </a:moveTo>
                      <a:lnTo>
                        <a:pt x="2427923" y="559118"/>
                      </a:lnTo>
                      <a:lnTo>
                        <a:pt x="80010" y="559118"/>
                      </a:lnTo>
                      <a:lnTo>
                        <a:pt x="80010" y="80010"/>
                      </a:lnTo>
                      <a:lnTo>
                        <a:pt x="2427923" y="80010"/>
                      </a:lnTo>
                      <a:moveTo>
                        <a:pt x="2506980" y="0"/>
                      </a:moveTo>
                      <a:lnTo>
                        <a:pt x="0" y="0"/>
                      </a:lnTo>
                      <a:lnTo>
                        <a:pt x="0" y="638175"/>
                      </a:lnTo>
                      <a:lnTo>
                        <a:pt x="2506980" y="638175"/>
                      </a:lnTo>
                      <a:lnTo>
                        <a:pt x="2506980" y="0"/>
                      </a:lnTo>
                      <a:lnTo>
                        <a:pt x="2506980" y="0"/>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02" name="Graphic 5">
                  <a:extLst>
                    <a:ext uri="{FF2B5EF4-FFF2-40B4-BE49-F238E27FC236}">
                      <a16:creationId xmlns:a16="http://schemas.microsoft.com/office/drawing/2014/main" id="{AC15B960-2155-B04A-9770-86CD094E711B}"/>
                    </a:ext>
                  </a:extLst>
                </p:cNvPr>
                <p:cNvGrpSpPr/>
                <p:nvPr/>
              </p:nvGrpSpPr>
              <p:grpSpPr>
                <a:xfrm>
                  <a:off x="5084761" y="2917507"/>
                  <a:ext cx="1200150" cy="238125"/>
                  <a:chOff x="5084761" y="2917507"/>
                  <a:chExt cx="1200150" cy="238125"/>
                </a:xfrm>
                <a:grpFill/>
              </p:grpSpPr>
              <p:sp>
                <p:nvSpPr>
                  <p:cNvPr id="303" name="Freeform: Shape 639">
                    <a:extLst>
                      <a:ext uri="{FF2B5EF4-FFF2-40B4-BE49-F238E27FC236}">
                        <a16:creationId xmlns:a16="http://schemas.microsoft.com/office/drawing/2014/main" id="{FB08B5EF-3B11-D145-B8A1-82DCFF7E08C1}"/>
                      </a:ext>
                    </a:extLst>
                  </p:cNvPr>
                  <p:cNvSpPr/>
                  <p:nvPr/>
                </p:nvSpPr>
                <p:spPr>
                  <a:xfrm>
                    <a:off x="5084761" y="291750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04" name="Freeform: Shape 640">
                    <a:extLst>
                      <a:ext uri="{FF2B5EF4-FFF2-40B4-BE49-F238E27FC236}">
                        <a16:creationId xmlns:a16="http://schemas.microsoft.com/office/drawing/2014/main" id="{14FD597A-AC65-3D43-80C2-0874D2E0994D}"/>
                      </a:ext>
                    </a:extLst>
                  </p:cNvPr>
                  <p:cNvSpPr/>
                  <p:nvPr/>
                </p:nvSpPr>
                <p:spPr>
                  <a:xfrm>
                    <a:off x="5244781" y="291750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05" name="Freeform: Shape 641">
                    <a:extLst>
                      <a:ext uri="{FF2B5EF4-FFF2-40B4-BE49-F238E27FC236}">
                        <a16:creationId xmlns:a16="http://schemas.microsoft.com/office/drawing/2014/main" id="{1858661C-3995-344B-83C9-8C340F320CDC}"/>
                      </a:ext>
                    </a:extLst>
                  </p:cNvPr>
                  <p:cNvSpPr/>
                  <p:nvPr/>
                </p:nvSpPr>
                <p:spPr>
                  <a:xfrm>
                    <a:off x="5404801" y="291750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06" name="Freeform: Shape 642">
                    <a:extLst>
                      <a:ext uri="{FF2B5EF4-FFF2-40B4-BE49-F238E27FC236}">
                        <a16:creationId xmlns:a16="http://schemas.microsoft.com/office/drawing/2014/main" id="{E8742FC5-A907-4A40-8A57-2628B52193A5}"/>
                      </a:ext>
                    </a:extLst>
                  </p:cNvPr>
                  <p:cNvSpPr/>
                  <p:nvPr/>
                </p:nvSpPr>
                <p:spPr>
                  <a:xfrm>
                    <a:off x="5564821" y="291750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07" name="Freeform: Shape 643">
                    <a:extLst>
                      <a:ext uri="{FF2B5EF4-FFF2-40B4-BE49-F238E27FC236}">
                        <a16:creationId xmlns:a16="http://schemas.microsoft.com/office/drawing/2014/main" id="{6CEE4998-65A1-F346-ADA5-6F0D1FB49096}"/>
                      </a:ext>
                    </a:extLst>
                  </p:cNvPr>
                  <p:cNvSpPr/>
                  <p:nvPr/>
                </p:nvSpPr>
                <p:spPr>
                  <a:xfrm>
                    <a:off x="5724841" y="291750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08" name="Freeform: Shape 644">
                    <a:extLst>
                      <a:ext uri="{FF2B5EF4-FFF2-40B4-BE49-F238E27FC236}">
                        <a16:creationId xmlns:a16="http://schemas.microsoft.com/office/drawing/2014/main" id="{060C607A-0BE5-E64F-8AFA-4AE0BC0EFD8A}"/>
                      </a:ext>
                    </a:extLst>
                  </p:cNvPr>
                  <p:cNvSpPr/>
                  <p:nvPr/>
                </p:nvSpPr>
                <p:spPr>
                  <a:xfrm>
                    <a:off x="5884861" y="291750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09" name="Freeform: Shape 645">
                    <a:extLst>
                      <a:ext uri="{FF2B5EF4-FFF2-40B4-BE49-F238E27FC236}">
                        <a16:creationId xmlns:a16="http://schemas.microsoft.com/office/drawing/2014/main" id="{D72C6688-E9C7-E440-AE62-F149DA41E742}"/>
                      </a:ext>
                    </a:extLst>
                  </p:cNvPr>
                  <p:cNvSpPr/>
                  <p:nvPr/>
                </p:nvSpPr>
                <p:spPr>
                  <a:xfrm>
                    <a:off x="6044881" y="291750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10" name="Freeform: Shape 646">
                    <a:extLst>
                      <a:ext uri="{FF2B5EF4-FFF2-40B4-BE49-F238E27FC236}">
                        <a16:creationId xmlns:a16="http://schemas.microsoft.com/office/drawing/2014/main" id="{4B45D1C7-BB8D-8949-A7C2-C5A75C0ED8DD}"/>
                      </a:ext>
                    </a:extLst>
                  </p:cNvPr>
                  <p:cNvSpPr/>
                  <p:nvPr/>
                </p:nvSpPr>
                <p:spPr>
                  <a:xfrm>
                    <a:off x="6204901" y="291750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300" name="Freeform: Shape 636">
                <a:extLst>
                  <a:ext uri="{FF2B5EF4-FFF2-40B4-BE49-F238E27FC236}">
                    <a16:creationId xmlns:a16="http://schemas.microsoft.com/office/drawing/2014/main" id="{71BE73D0-B03D-7B43-9BF0-98BE2C0D592F}"/>
                  </a:ext>
                </a:extLst>
              </p:cNvPr>
              <p:cNvSpPr/>
              <p:nvPr/>
            </p:nvSpPr>
            <p:spPr>
              <a:xfrm>
                <a:off x="6935469" y="2957512"/>
                <a:ext cx="160020" cy="158114"/>
              </a:xfrm>
              <a:custGeom>
                <a:avLst/>
                <a:gdLst>
                  <a:gd name="connsiteX0" fmla="*/ 160020 w 160020"/>
                  <a:gd name="connsiteY0" fmla="*/ 79058 h 158114"/>
                  <a:gd name="connsiteX1" fmla="*/ 80010 w 160020"/>
                  <a:gd name="connsiteY1" fmla="*/ 158115 h 158114"/>
                  <a:gd name="connsiteX2" fmla="*/ 0 w 160020"/>
                  <a:gd name="connsiteY2" fmla="*/ 79058 h 158114"/>
                  <a:gd name="connsiteX3" fmla="*/ 80010 w 160020"/>
                  <a:gd name="connsiteY3" fmla="*/ 0 h 158114"/>
                  <a:gd name="connsiteX4" fmla="*/ 160020 w 160020"/>
                  <a:gd name="connsiteY4" fmla="*/ 79058 h 158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020" h="158114">
                    <a:moveTo>
                      <a:pt x="160020" y="79058"/>
                    </a:moveTo>
                    <a:cubicBezTo>
                      <a:pt x="160020" y="122720"/>
                      <a:pt x="124198" y="158115"/>
                      <a:pt x="80010" y="158115"/>
                    </a:cubicBezTo>
                    <a:cubicBezTo>
                      <a:pt x="35822" y="158115"/>
                      <a:pt x="0" y="122720"/>
                      <a:pt x="0" y="79058"/>
                    </a:cubicBezTo>
                    <a:cubicBezTo>
                      <a:pt x="0" y="35395"/>
                      <a:pt x="35822" y="0"/>
                      <a:pt x="80010" y="0"/>
                    </a:cubicBezTo>
                    <a:cubicBezTo>
                      <a:pt x="124198" y="0"/>
                      <a:pt x="160020" y="35395"/>
                      <a:pt x="160020" y="79058"/>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273" name="Graphic 5">
              <a:extLst>
                <a:ext uri="{FF2B5EF4-FFF2-40B4-BE49-F238E27FC236}">
                  <a16:creationId xmlns:a16="http://schemas.microsoft.com/office/drawing/2014/main" id="{C024E547-EF4C-D54B-A20C-6405AC0F7300}"/>
                </a:ext>
              </a:extLst>
            </p:cNvPr>
            <p:cNvGrpSpPr/>
            <p:nvPr/>
          </p:nvGrpSpPr>
          <p:grpSpPr>
            <a:xfrm>
              <a:off x="8660342" y="4801162"/>
              <a:ext cx="639167" cy="162706"/>
              <a:chOff x="4841874" y="3505200"/>
              <a:chExt cx="2506980" cy="638175"/>
            </a:xfrm>
            <a:grpFill/>
          </p:grpSpPr>
          <p:grpSp>
            <p:nvGrpSpPr>
              <p:cNvPr id="287" name="Graphic 5">
                <a:extLst>
                  <a:ext uri="{FF2B5EF4-FFF2-40B4-BE49-F238E27FC236}">
                    <a16:creationId xmlns:a16="http://schemas.microsoft.com/office/drawing/2014/main" id="{832237AD-45E7-A545-930C-058E64E323F6}"/>
                  </a:ext>
                </a:extLst>
              </p:cNvPr>
              <p:cNvGrpSpPr/>
              <p:nvPr/>
            </p:nvGrpSpPr>
            <p:grpSpPr>
              <a:xfrm>
                <a:off x="4841874" y="3505200"/>
                <a:ext cx="2506980" cy="638175"/>
                <a:chOff x="4841874" y="3505200"/>
                <a:chExt cx="2506980" cy="638175"/>
              </a:xfrm>
              <a:grpFill/>
            </p:grpSpPr>
            <p:sp>
              <p:nvSpPr>
                <p:cNvPr id="289" name="Freeform: Shape 625">
                  <a:extLst>
                    <a:ext uri="{FF2B5EF4-FFF2-40B4-BE49-F238E27FC236}">
                      <a16:creationId xmlns:a16="http://schemas.microsoft.com/office/drawing/2014/main" id="{53377E24-6E99-DC46-8751-1C714B6EA9E5}"/>
                    </a:ext>
                  </a:extLst>
                </p:cNvPr>
                <p:cNvSpPr/>
                <p:nvPr/>
              </p:nvSpPr>
              <p:spPr>
                <a:xfrm>
                  <a:off x="4841874" y="3505200"/>
                  <a:ext cx="2506980" cy="638175"/>
                </a:xfrm>
                <a:custGeom>
                  <a:avLst/>
                  <a:gdLst>
                    <a:gd name="connsiteX0" fmla="*/ 2427923 w 2506980"/>
                    <a:gd name="connsiteY0" fmla="*/ 79058 h 638175"/>
                    <a:gd name="connsiteX1" fmla="*/ 2427923 w 2506980"/>
                    <a:gd name="connsiteY1" fmla="*/ 557213 h 638175"/>
                    <a:gd name="connsiteX2" fmla="*/ 80010 w 2506980"/>
                    <a:gd name="connsiteY2" fmla="*/ 557213 h 638175"/>
                    <a:gd name="connsiteX3" fmla="*/ 80010 w 2506980"/>
                    <a:gd name="connsiteY3" fmla="*/ 79058 h 638175"/>
                    <a:gd name="connsiteX4" fmla="*/ 2427923 w 2506980"/>
                    <a:gd name="connsiteY4" fmla="*/ 79058 h 638175"/>
                    <a:gd name="connsiteX5" fmla="*/ 2506980 w 2506980"/>
                    <a:gd name="connsiteY5" fmla="*/ 0 h 638175"/>
                    <a:gd name="connsiteX6" fmla="*/ 0 w 2506980"/>
                    <a:gd name="connsiteY6" fmla="*/ 0 h 638175"/>
                    <a:gd name="connsiteX7" fmla="*/ 0 w 2506980"/>
                    <a:gd name="connsiteY7" fmla="*/ 638175 h 638175"/>
                    <a:gd name="connsiteX8" fmla="*/ 2506980 w 2506980"/>
                    <a:gd name="connsiteY8" fmla="*/ 638175 h 638175"/>
                    <a:gd name="connsiteX9" fmla="*/ 2506980 w 2506980"/>
                    <a:gd name="connsiteY9" fmla="*/ 0 h 638175"/>
                    <a:gd name="connsiteX10" fmla="*/ 2506980 w 2506980"/>
                    <a:gd name="connsiteY10" fmla="*/ 0 h 6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6980" h="638175">
                      <a:moveTo>
                        <a:pt x="2427923" y="79058"/>
                      </a:moveTo>
                      <a:lnTo>
                        <a:pt x="2427923" y="557213"/>
                      </a:lnTo>
                      <a:lnTo>
                        <a:pt x="80010" y="557213"/>
                      </a:lnTo>
                      <a:lnTo>
                        <a:pt x="80010" y="79058"/>
                      </a:lnTo>
                      <a:lnTo>
                        <a:pt x="2427923" y="79058"/>
                      </a:lnTo>
                      <a:moveTo>
                        <a:pt x="2506980" y="0"/>
                      </a:moveTo>
                      <a:lnTo>
                        <a:pt x="0" y="0"/>
                      </a:lnTo>
                      <a:lnTo>
                        <a:pt x="0" y="638175"/>
                      </a:lnTo>
                      <a:lnTo>
                        <a:pt x="2506980" y="638175"/>
                      </a:lnTo>
                      <a:lnTo>
                        <a:pt x="2506980" y="0"/>
                      </a:lnTo>
                      <a:lnTo>
                        <a:pt x="2506980" y="0"/>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90" name="Graphic 5">
                  <a:extLst>
                    <a:ext uri="{FF2B5EF4-FFF2-40B4-BE49-F238E27FC236}">
                      <a16:creationId xmlns:a16="http://schemas.microsoft.com/office/drawing/2014/main" id="{7D37F89D-2CC2-C24F-AF44-AF833E2D4925}"/>
                    </a:ext>
                  </a:extLst>
                </p:cNvPr>
                <p:cNvGrpSpPr/>
                <p:nvPr/>
              </p:nvGrpSpPr>
              <p:grpSpPr>
                <a:xfrm>
                  <a:off x="5084761" y="3704272"/>
                  <a:ext cx="1200150" cy="238125"/>
                  <a:chOff x="5084761" y="3704272"/>
                  <a:chExt cx="1200150" cy="238125"/>
                </a:xfrm>
                <a:grpFill/>
              </p:grpSpPr>
              <p:sp>
                <p:nvSpPr>
                  <p:cNvPr id="291" name="Freeform: Shape 627">
                    <a:extLst>
                      <a:ext uri="{FF2B5EF4-FFF2-40B4-BE49-F238E27FC236}">
                        <a16:creationId xmlns:a16="http://schemas.microsoft.com/office/drawing/2014/main" id="{BDAE96FE-87B4-6E4E-8428-128C810914BE}"/>
                      </a:ext>
                    </a:extLst>
                  </p:cNvPr>
                  <p:cNvSpPr/>
                  <p:nvPr/>
                </p:nvSpPr>
                <p:spPr>
                  <a:xfrm>
                    <a:off x="508476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92" name="Freeform: Shape 628">
                    <a:extLst>
                      <a:ext uri="{FF2B5EF4-FFF2-40B4-BE49-F238E27FC236}">
                        <a16:creationId xmlns:a16="http://schemas.microsoft.com/office/drawing/2014/main" id="{78818B58-9128-3A4D-9ADC-15CC97C8523A}"/>
                      </a:ext>
                    </a:extLst>
                  </p:cNvPr>
                  <p:cNvSpPr/>
                  <p:nvPr/>
                </p:nvSpPr>
                <p:spPr>
                  <a:xfrm>
                    <a:off x="524478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93" name="Freeform: Shape 629">
                    <a:extLst>
                      <a:ext uri="{FF2B5EF4-FFF2-40B4-BE49-F238E27FC236}">
                        <a16:creationId xmlns:a16="http://schemas.microsoft.com/office/drawing/2014/main" id="{D48398AF-5648-5F4E-9E2D-81393D1A41F7}"/>
                      </a:ext>
                    </a:extLst>
                  </p:cNvPr>
                  <p:cNvSpPr/>
                  <p:nvPr/>
                </p:nvSpPr>
                <p:spPr>
                  <a:xfrm>
                    <a:off x="540480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94" name="Freeform: Shape 630">
                    <a:extLst>
                      <a:ext uri="{FF2B5EF4-FFF2-40B4-BE49-F238E27FC236}">
                        <a16:creationId xmlns:a16="http://schemas.microsoft.com/office/drawing/2014/main" id="{233FF2D4-131D-E84D-80AF-BF39FA5630E8}"/>
                      </a:ext>
                    </a:extLst>
                  </p:cNvPr>
                  <p:cNvSpPr/>
                  <p:nvPr/>
                </p:nvSpPr>
                <p:spPr>
                  <a:xfrm>
                    <a:off x="556482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95" name="Freeform: Shape 631">
                    <a:extLst>
                      <a:ext uri="{FF2B5EF4-FFF2-40B4-BE49-F238E27FC236}">
                        <a16:creationId xmlns:a16="http://schemas.microsoft.com/office/drawing/2014/main" id="{11CAD3F0-A1D8-7449-9CD7-EFDBFEB8FBDF}"/>
                      </a:ext>
                    </a:extLst>
                  </p:cNvPr>
                  <p:cNvSpPr/>
                  <p:nvPr/>
                </p:nvSpPr>
                <p:spPr>
                  <a:xfrm>
                    <a:off x="572484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96" name="Freeform: Shape 632">
                    <a:extLst>
                      <a:ext uri="{FF2B5EF4-FFF2-40B4-BE49-F238E27FC236}">
                        <a16:creationId xmlns:a16="http://schemas.microsoft.com/office/drawing/2014/main" id="{7480FF3C-48B1-D547-B55F-B1E8CC4148F3}"/>
                      </a:ext>
                    </a:extLst>
                  </p:cNvPr>
                  <p:cNvSpPr/>
                  <p:nvPr/>
                </p:nvSpPr>
                <p:spPr>
                  <a:xfrm>
                    <a:off x="588486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97" name="Freeform: Shape 633">
                    <a:extLst>
                      <a:ext uri="{FF2B5EF4-FFF2-40B4-BE49-F238E27FC236}">
                        <a16:creationId xmlns:a16="http://schemas.microsoft.com/office/drawing/2014/main" id="{B9ACE347-1034-F849-A52E-29E6AC991269}"/>
                      </a:ext>
                    </a:extLst>
                  </p:cNvPr>
                  <p:cNvSpPr/>
                  <p:nvPr/>
                </p:nvSpPr>
                <p:spPr>
                  <a:xfrm>
                    <a:off x="604488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98" name="Freeform: Shape 634">
                    <a:extLst>
                      <a:ext uri="{FF2B5EF4-FFF2-40B4-BE49-F238E27FC236}">
                        <a16:creationId xmlns:a16="http://schemas.microsoft.com/office/drawing/2014/main" id="{DEA57C16-B966-C847-88AB-51F6B977E2FF}"/>
                      </a:ext>
                    </a:extLst>
                  </p:cNvPr>
                  <p:cNvSpPr/>
                  <p:nvPr/>
                </p:nvSpPr>
                <p:spPr>
                  <a:xfrm>
                    <a:off x="620490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288" name="Freeform: Shape 624">
                <a:extLst>
                  <a:ext uri="{FF2B5EF4-FFF2-40B4-BE49-F238E27FC236}">
                    <a16:creationId xmlns:a16="http://schemas.microsoft.com/office/drawing/2014/main" id="{93E41C88-A742-954D-A870-2425678D505B}"/>
                  </a:ext>
                </a:extLst>
              </p:cNvPr>
              <p:cNvSpPr/>
              <p:nvPr/>
            </p:nvSpPr>
            <p:spPr>
              <a:xfrm>
                <a:off x="6935469" y="3744277"/>
                <a:ext cx="160020" cy="158115"/>
              </a:xfrm>
              <a:custGeom>
                <a:avLst/>
                <a:gdLst>
                  <a:gd name="connsiteX0" fmla="*/ 160020 w 160020"/>
                  <a:gd name="connsiteY0" fmla="*/ 79057 h 158115"/>
                  <a:gd name="connsiteX1" fmla="*/ 80010 w 160020"/>
                  <a:gd name="connsiteY1" fmla="*/ 158115 h 158115"/>
                  <a:gd name="connsiteX2" fmla="*/ 0 w 160020"/>
                  <a:gd name="connsiteY2" fmla="*/ 79057 h 158115"/>
                  <a:gd name="connsiteX3" fmla="*/ 80010 w 160020"/>
                  <a:gd name="connsiteY3" fmla="*/ 0 h 158115"/>
                  <a:gd name="connsiteX4" fmla="*/ 160020 w 160020"/>
                  <a:gd name="connsiteY4" fmla="*/ 79057 h 158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020" h="158115">
                    <a:moveTo>
                      <a:pt x="160020" y="79057"/>
                    </a:moveTo>
                    <a:cubicBezTo>
                      <a:pt x="160020" y="122720"/>
                      <a:pt x="124198" y="158115"/>
                      <a:pt x="80010" y="158115"/>
                    </a:cubicBezTo>
                    <a:cubicBezTo>
                      <a:pt x="35822" y="158115"/>
                      <a:pt x="0" y="122720"/>
                      <a:pt x="0" y="79057"/>
                    </a:cubicBezTo>
                    <a:cubicBezTo>
                      <a:pt x="0" y="35395"/>
                      <a:pt x="35822" y="0"/>
                      <a:pt x="80010" y="0"/>
                    </a:cubicBezTo>
                    <a:cubicBezTo>
                      <a:pt x="124198" y="0"/>
                      <a:pt x="160020" y="35395"/>
                      <a:pt x="160020" y="79057"/>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274" name="Graphic 5">
              <a:extLst>
                <a:ext uri="{FF2B5EF4-FFF2-40B4-BE49-F238E27FC236}">
                  <a16:creationId xmlns:a16="http://schemas.microsoft.com/office/drawing/2014/main" id="{B39B2599-DA6F-7245-9D13-48BC3642CB7C}"/>
                </a:ext>
              </a:extLst>
            </p:cNvPr>
            <p:cNvGrpSpPr/>
            <p:nvPr/>
          </p:nvGrpSpPr>
          <p:grpSpPr>
            <a:xfrm>
              <a:off x="8660342" y="5003452"/>
              <a:ext cx="639167" cy="162949"/>
              <a:chOff x="4841874" y="4298632"/>
              <a:chExt cx="2506980" cy="639127"/>
            </a:xfrm>
            <a:grpFill/>
          </p:grpSpPr>
          <p:grpSp>
            <p:nvGrpSpPr>
              <p:cNvPr id="275" name="Graphic 5">
                <a:extLst>
                  <a:ext uri="{FF2B5EF4-FFF2-40B4-BE49-F238E27FC236}">
                    <a16:creationId xmlns:a16="http://schemas.microsoft.com/office/drawing/2014/main" id="{F73FAF43-9EA0-A541-8A9B-C1AE15057DE0}"/>
                  </a:ext>
                </a:extLst>
              </p:cNvPr>
              <p:cNvGrpSpPr/>
              <p:nvPr/>
            </p:nvGrpSpPr>
            <p:grpSpPr>
              <a:xfrm>
                <a:off x="4841874" y="4298632"/>
                <a:ext cx="2506980" cy="639127"/>
                <a:chOff x="4841874" y="4298632"/>
                <a:chExt cx="2506980" cy="639127"/>
              </a:xfrm>
              <a:grpFill/>
            </p:grpSpPr>
            <p:sp>
              <p:nvSpPr>
                <p:cNvPr id="277" name="Freeform: Shape 613">
                  <a:extLst>
                    <a:ext uri="{FF2B5EF4-FFF2-40B4-BE49-F238E27FC236}">
                      <a16:creationId xmlns:a16="http://schemas.microsoft.com/office/drawing/2014/main" id="{54793DBC-85DC-344B-B3F2-112B8D67EF0F}"/>
                    </a:ext>
                  </a:extLst>
                </p:cNvPr>
                <p:cNvSpPr/>
                <p:nvPr/>
              </p:nvSpPr>
              <p:spPr>
                <a:xfrm>
                  <a:off x="4841874" y="4298632"/>
                  <a:ext cx="2506980" cy="639127"/>
                </a:xfrm>
                <a:custGeom>
                  <a:avLst/>
                  <a:gdLst>
                    <a:gd name="connsiteX0" fmla="*/ 2427923 w 2506980"/>
                    <a:gd name="connsiteY0" fmla="*/ 80010 h 639127"/>
                    <a:gd name="connsiteX1" fmla="*/ 2427923 w 2506980"/>
                    <a:gd name="connsiteY1" fmla="*/ 559118 h 639127"/>
                    <a:gd name="connsiteX2" fmla="*/ 80010 w 2506980"/>
                    <a:gd name="connsiteY2" fmla="*/ 559118 h 639127"/>
                    <a:gd name="connsiteX3" fmla="*/ 80010 w 2506980"/>
                    <a:gd name="connsiteY3" fmla="*/ 80010 h 639127"/>
                    <a:gd name="connsiteX4" fmla="*/ 2427923 w 2506980"/>
                    <a:gd name="connsiteY4" fmla="*/ 80010 h 639127"/>
                    <a:gd name="connsiteX5" fmla="*/ 2506980 w 2506980"/>
                    <a:gd name="connsiteY5" fmla="*/ 0 h 639127"/>
                    <a:gd name="connsiteX6" fmla="*/ 0 w 2506980"/>
                    <a:gd name="connsiteY6" fmla="*/ 0 h 639127"/>
                    <a:gd name="connsiteX7" fmla="*/ 0 w 2506980"/>
                    <a:gd name="connsiteY7" fmla="*/ 639127 h 639127"/>
                    <a:gd name="connsiteX8" fmla="*/ 2506980 w 2506980"/>
                    <a:gd name="connsiteY8" fmla="*/ 639127 h 639127"/>
                    <a:gd name="connsiteX9" fmla="*/ 2506980 w 2506980"/>
                    <a:gd name="connsiteY9" fmla="*/ 0 h 639127"/>
                    <a:gd name="connsiteX10" fmla="*/ 2506980 w 2506980"/>
                    <a:gd name="connsiteY10" fmla="*/ 0 h 63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6980" h="639127">
                      <a:moveTo>
                        <a:pt x="2427923" y="80010"/>
                      </a:moveTo>
                      <a:lnTo>
                        <a:pt x="2427923" y="559118"/>
                      </a:lnTo>
                      <a:lnTo>
                        <a:pt x="80010" y="559118"/>
                      </a:lnTo>
                      <a:lnTo>
                        <a:pt x="80010" y="80010"/>
                      </a:lnTo>
                      <a:lnTo>
                        <a:pt x="2427923" y="80010"/>
                      </a:lnTo>
                      <a:moveTo>
                        <a:pt x="2506980" y="0"/>
                      </a:moveTo>
                      <a:lnTo>
                        <a:pt x="0" y="0"/>
                      </a:lnTo>
                      <a:lnTo>
                        <a:pt x="0" y="639127"/>
                      </a:lnTo>
                      <a:lnTo>
                        <a:pt x="2506980" y="639127"/>
                      </a:lnTo>
                      <a:lnTo>
                        <a:pt x="2506980" y="0"/>
                      </a:lnTo>
                      <a:lnTo>
                        <a:pt x="2506980" y="0"/>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78" name="Graphic 5">
                  <a:extLst>
                    <a:ext uri="{FF2B5EF4-FFF2-40B4-BE49-F238E27FC236}">
                      <a16:creationId xmlns:a16="http://schemas.microsoft.com/office/drawing/2014/main" id="{DD86781B-CD71-1E4B-A122-60FE2E548E3C}"/>
                    </a:ext>
                  </a:extLst>
                </p:cNvPr>
                <p:cNvGrpSpPr/>
                <p:nvPr/>
              </p:nvGrpSpPr>
              <p:grpSpPr>
                <a:xfrm>
                  <a:off x="5084761" y="4498657"/>
                  <a:ext cx="1200150" cy="238125"/>
                  <a:chOff x="5084761" y="4498657"/>
                  <a:chExt cx="1200150" cy="238125"/>
                </a:xfrm>
                <a:grpFill/>
              </p:grpSpPr>
              <p:sp>
                <p:nvSpPr>
                  <p:cNvPr id="279" name="Freeform: Shape 615">
                    <a:extLst>
                      <a:ext uri="{FF2B5EF4-FFF2-40B4-BE49-F238E27FC236}">
                        <a16:creationId xmlns:a16="http://schemas.microsoft.com/office/drawing/2014/main" id="{2198F1F8-E24B-7940-8D1D-D428EC701010}"/>
                      </a:ext>
                    </a:extLst>
                  </p:cNvPr>
                  <p:cNvSpPr/>
                  <p:nvPr/>
                </p:nvSpPr>
                <p:spPr>
                  <a:xfrm>
                    <a:off x="508476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80" name="Freeform: Shape 616">
                    <a:extLst>
                      <a:ext uri="{FF2B5EF4-FFF2-40B4-BE49-F238E27FC236}">
                        <a16:creationId xmlns:a16="http://schemas.microsoft.com/office/drawing/2014/main" id="{CC46A3C4-752C-7241-8570-AEBBEDC91960}"/>
                      </a:ext>
                    </a:extLst>
                  </p:cNvPr>
                  <p:cNvSpPr/>
                  <p:nvPr/>
                </p:nvSpPr>
                <p:spPr>
                  <a:xfrm>
                    <a:off x="524478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81" name="Freeform: Shape 617">
                    <a:extLst>
                      <a:ext uri="{FF2B5EF4-FFF2-40B4-BE49-F238E27FC236}">
                        <a16:creationId xmlns:a16="http://schemas.microsoft.com/office/drawing/2014/main" id="{B6DE4852-C3DC-B946-898A-D31F9D98A7DA}"/>
                      </a:ext>
                    </a:extLst>
                  </p:cNvPr>
                  <p:cNvSpPr/>
                  <p:nvPr/>
                </p:nvSpPr>
                <p:spPr>
                  <a:xfrm>
                    <a:off x="540480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82" name="Freeform: Shape 618">
                    <a:extLst>
                      <a:ext uri="{FF2B5EF4-FFF2-40B4-BE49-F238E27FC236}">
                        <a16:creationId xmlns:a16="http://schemas.microsoft.com/office/drawing/2014/main" id="{7AD02947-2A46-5B45-A4AF-F917034D6F7D}"/>
                      </a:ext>
                    </a:extLst>
                  </p:cNvPr>
                  <p:cNvSpPr/>
                  <p:nvPr/>
                </p:nvSpPr>
                <p:spPr>
                  <a:xfrm>
                    <a:off x="556482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83" name="Freeform: Shape 619">
                    <a:extLst>
                      <a:ext uri="{FF2B5EF4-FFF2-40B4-BE49-F238E27FC236}">
                        <a16:creationId xmlns:a16="http://schemas.microsoft.com/office/drawing/2014/main" id="{FDBC1220-7C91-1448-9C8B-B8C278530048}"/>
                      </a:ext>
                    </a:extLst>
                  </p:cNvPr>
                  <p:cNvSpPr/>
                  <p:nvPr/>
                </p:nvSpPr>
                <p:spPr>
                  <a:xfrm>
                    <a:off x="572484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84" name="Freeform: Shape 620">
                    <a:extLst>
                      <a:ext uri="{FF2B5EF4-FFF2-40B4-BE49-F238E27FC236}">
                        <a16:creationId xmlns:a16="http://schemas.microsoft.com/office/drawing/2014/main" id="{24B887EE-BDDC-B549-80BA-81026C93CA95}"/>
                      </a:ext>
                    </a:extLst>
                  </p:cNvPr>
                  <p:cNvSpPr/>
                  <p:nvPr/>
                </p:nvSpPr>
                <p:spPr>
                  <a:xfrm>
                    <a:off x="588486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85" name="Freeform: Shape 621">
                    <a:extLst>
                      <a:ext uri="{FF2B5EF4-FFF2-40B4-BE49-F238E27FC236}">
                        <a16:creationId xmlns:a16="http://schemas.microsoft.com/office/drawing/2014/main" id="{111AB654-2D17-B84F-BB98-73EDF567FDA7}"/>
                      </a:ext>
                    </a:extLst>
                  </p:cNvPr>
                  <p:cNvSpPr/>
                  <p:nvPr/>
                </p:nvSpPr>
                <p:spPr>
                  <a:xfrm>
                    <a:off x="604488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86" name="Freeform: Shape 622">
                    <a:extLst>
                      <a:ext uri="{FF2B5EF4-FFF2-40B4-BE49-F238E27FC236}">
                        <a16:creationId xmlns:a16="http://schemas.microsoft.com/office/drawing/2014/main" id="{733A703B-A61B-C543-8E24-B232DB1288A7}"/>
                      </a:ext>
                    </a:extLst>
                  </p:cNvPr>
                  <p:cNvSpPr/>
                  <p:nvPr/>
                </p:nvSpPr>
                <p:spPr>
                  <a:xfrm>
                    <a:off x="620490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276" name="Freeform: Shape 612">
                <a:extLst>
                  <a:ext uri="{FF2B5EF4-FFF2-40B4-BE49-F238E27FC236}">
                    <a16:creationId xmlns:a16="http://schemas.microsoft.com/office/drawing/2014/main" id="{969342B5-7A65-FB4A-9837-8801544E7200}"/>
                  </a:ext>
                </a:extLst>
              </p:cNvPr>
              <p:cNvSpPr/>
              <p:nvPr/>
            </p:nvSpPr>
            <p:spPr>
              <a:xfrm>
                <a:off x="6935469" y="4538662"/>
                <a:ext cx="160020" cy="158115"/>
              </a:xfrm>
              <a:custGeom>
                <a:avLst/>
                <a:gdLst>
                  <a:gd name="connsiteX0" fmla="*/ 160020 w 160020"/>
                  <a:gd name="connsiteY0" fmla="*/ 79057 h 158115"/>
                  <a:gd name="connsiteX1" fmla="*/ 80010 w 160020"/>
                  <a:gd name="connsiteY1" fmla="*/ 158115 h 158115"/>
                  <a:gd name="connsiteX2" fmla="*/ 0 w 160020"/>
                  <a:gd name="connsiteY2" fmla="*/ 79057 h 158115"/>
                  <a:gd name="connsiteX3" fmla="*/ 80010 w 160020"/>
                  <a:gd name="connsiteY3" fmla="*/ 0 h 158115"/>
                  <a:gd name="connsiteX4" fmla="*/ 160020 w 160020"/>
                  <a:gd name="connsiteY4" fmla="*/ 79057 h 158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020" h="158115">
                    <a:moveTo>
                      <a:pt x="160020" y="79057"/>
                    </a:moveTo>
                    <a:cubicBezTo>
                      <a:pt x="160020" y="122720"/>
                      <a:pt x="124198" y="158115"/>
                      <a:pt x="80010" y="158115"/>
                    </a:cubicBezTo>
                    <a:cubicBezTo>
                      <a:pt x="35822" y="158115"/>
                      <a:pt x="0" y="122720"/>
                      <a:pt x="0" y="79057"/>
                    </a:cubicBezTo>
                    <a:cubicBezTo>
                      <a:pt x="0" y="35395"/>
                      <a:pt x="35822" y="0"/>
                      <a:pt x="80010" y="0"/>
                    </a:cubicBezTo>
                    <a:cubicBezTo>
                      <a:pt x="124198" y="0"/>
                      <a:pt x="160020" y="35395"/>
                      <a:pt x="160020" y="79057"/>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314" name="Rectangle: Rounded Corners 285">
            <a:extLst>
              <a:ext uri="{FF2B5EF4-FFF2-40B4-BE49-F238E27FC236}">
                <a16:creationId xmlns:a16="http://schemas.microsoft.com/office/drawing/2014/main" id="{60E71626-E2DD-EE42-933D-B2FE817A3AE5}"/>
              </a:ext>
              <a:ext uri="{C183D7F6-B498-43B3-948B-1728B52AA6E4}">
                <adec:decorative xmlns:adec="http://schemas.microsoft.com/office/drawing/2017/decorative" val="1"/>
              </a:ext>
            </a:extLst>
          </p:cNvPr>
          <p:cNvSpPr/>
          <p:nvPr/>
        </p:nvSpPr>
        <p:spPr>
          <a:xfrm>
            <a:off x="4775205" y="4891155"/>
            <a:ext cx="2713023" cy="884151"/>
          </a:xfrm>
          <a:prstGeom prst="roundRect">
            <a:avLst>
              <a:gd name="adj" fmla="val 6105"/>
            </a:avLst>
          </a:prstGeom>
          <a:gradFill>
            <a:gsLst>
              <a:gs pos="0">
                <a:schemeClr val="accent1">
                  <a:lumMod val="5000"/>
                  <a:lumOff val="95000"/>
                </a:schemeClr>
              </a:gs>
              <a:gs pos="0">
                <a:schemeClr val="accent2"/>
              </a:gs>
              <a:gs pos="100000">
                <a:schemeClr val="accent5"/>
              </a:gs>
              <a:gs pos="100000">
                <a:schemeClr val="accent1">
                  <a:lumMod val="30000"/>
                  <a:lumOff val="70000"/>
                </a:schemeClr>
              </a:gs>
            </a:gsLst>
            <a:lin ang="21594000" scaled="0"/>
          </a:gradFill>
          <a:ln w="15875" cap="flat" cmpd="sng" algn="ctr">
            <a:noFill/>
            <a:prstDash val="solid"/>
          </a:ln>
          <a:effectLst/>
          <a:scene3d>
            <a:camera prst="orthographicFront"/>
            <a:lightRig rig="soft" dir="t"/>
          </a:scene3d>
          <a:sp3d prstMaterial="softEdge">
            <a:bevelT w="0" h="25400"/>
            <a:contourClr>
              <a:srgbClr val="717074"/>
            </a:contourClr>
          </a:sp3d>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90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315" name="Graphic 17">
            <a:extLst>
              <a:ext uri="{FF2B5EF4-FFF2-40B4-BE49-F238E27FC236}">
                <a16:creationId xmlns:a16="http://schemas.microsoft.com/office/drawing/2014/main" id="{837BCF31-D3C2-7349-AA0E-43680B1DFBC4}"/>
              </a:ext>
              <a:ext uri="{C183D7F6-B498-43B3-948B-1728B52AA6E4}">
                <adec:decorative xmlns:adec="http://schemas.microsoft.com/office/drawing/2017/decorative" val="1"/>
              </a:ext>
            </a:extLst>
          </p:cNvPr>
          <p:cNvSpPr/>
          <p:nvPr/>
        </p:nvSpPr>
        <p:spPr>
          <a:xfrm>
            <a:off x="5013722" y="5062142"/>
            <a:ext cx="579114" cy="575739"/>
          </a:xfrm>
          <a:custGeom>
            <a:avLst/>
            <a:gdLst>
              <a:gd name="connsiteX0" fmla="*/ 1034850 w 1062819"/>
              <a:gd name="connsiteY0" fmla="*/ 27969 h 1056622"/>
              <a:gd name="connsiteX1" fmla="*/ 1034850 w 1062819"/>
              <a:gd name="connsiteY1" fmla="*/ 195782 h 1056622"/>
              <a:gd name="connsiteX2" fmla="*/ 27969 w 1062819"/>
              <a:gd name="connsiteY2" fmla="*/ 195782 h 1056622"/>
              <a:gd name="connsiteX3" fmla="*/ 27969 w 1062819"/>
              <a:gd name="connsiteY3" fmla="*/ 27969 h 1056622"/>
              <a:gd name="connsiteX4" fmla="*/ 1034850 w 1062819"/>
              <a:gd name="connsiteY4" fmla="*/ 27969 h 1056622"/>
              <a:gd name="connsiteX5" fmla="*/ 1062819 w 1062819"/>
              <a:gd name="connsiteY5" fmla="*/ 0 h 1056622"/>
              <a:gd name="connsiteX6" fmla="*/ 0 w 1062819"/>
              <a:gd name="connsiteY6" fmla="*/ 0 h 1056622"/>
              <a:gd name="connsiteX7" fmla="*/ 0 w 1062819"/>
              <a:gd name="connsiteY7" fmla="*/ 223751 h 1056622"/>
              <a:gd name="connsiteX8" fmla="*/ 1062819 w 1062819"/>
              <a:gd name="connsiteY8" fmla="*/ 223751 h 1056622"/>
              <a:gd name="connsiteX9" fmla="*/ 1062819 w 1062819"/>
              <a:gd name="connsiteY9" fmla="*/ 0 h 1056622"/>
              <a:gd name="connsiteX10" fmla="*/ 1062819 w 1062819"/>
              <a:gd name="connsiteY10" fmla="*/ 0 h 1056622"/>
              <a:gd name="connsiteX11" fmla="*/ 113253 w 1062819"/>
              <a:gd name="connsiteY11" fmla="*/ 70137 h 1056622"/>
              <a:gd name="connsiteX12" fmla="*/ 85284 w 1062819"/>
              <a:gd name="connsiteY12" fmla="*/ 70137 h 1056622"/>
              <a:gd name="connsiteX13" fmla="*/ 85284 w 1062819"/>
              <a:gd name="connsiteY13" fmla="*/ 153614 h 1056622"/>
              <a:gd name="connsiteX14" fmla="*/ 113253 w 1062819"/>
              <a:gd name="connsiteY14" fmla="*/ 153614 h 1056622"/>
              <a:gd name="connsiteX15" fmla="*/ 113253 w 1062819"/>
              <a:gd name="connsiteY15" fmla="*/ 70137 h 1056622"/>
              <a:gd name="connsiteX16" fmla="*/ 169363 w 1062819"/>
              <a:gd name="connsiteY16" fmla="*/ 70137 h 1056622"/>
              <a:gd name="connsiteX17" fmla="*/ 141394 w 1062819"/>
              <a:gd name="connsiteY17" fmla="*/ 70137 h 1056622"/>
              <a:gd name="connsiteX18" fmla="*/ 141394 w 1062819"/>
              <a:gd name="connsiteY18" fmla="*/ 153614 h 1056622"/>
              <a:gd name="connsiteX19" fmla="*/ 169363 w 1062819"/>
              <a:gd name="connsiteY19" fmla="*/ 153614 h 1056622"/>
              <a:gd name="connsiteX20" fmla="*/ 169363 w 1062819"/>
              <a:gd name="connsiteY20" fmla="*/ 70137 h 1056622"/>
              <a:gd name="connsiteX21" fmla="*/ 225473 w 1062819"/>
              <a:gd name="connsiteY21" fmla="*/ 70137 h 1056622"/>
              <a:gd name="connsiteX22" fmla="*/ 197504 w 1062819"/>
              <a:gd name="connsiteY22" fmla="*/ 70137 h 1056622"/>
              <a:gd name="connsiteX23" fmla="*/ 197504 w 1062819"/>
              <a:gd name="connsiteY23" fmla="*/ 153614 h 1056622"/>
              <a:gd name="connsiteX24" fmla="*/ 225473 w 1062819"/>
              <a:gd name="connsiteY24" fmla="*/ 153614 h 1056622"/>
              <a:gd name="connsiteX25" fmla="*/ 225473 w 1062819"/>
              <a:gd name="connsiteY25" fmla="*/ 70137 h 1056622"/>
              <a:gd name="connsiteX26" fmla="*/ 281583 w 1062819"/>
              <a:gd name="connsiteY26" fmla="*/ 70137 h 1056622"/>
              <a:gd name="connsiteX27" fmla="*/ 253614 w 1062819"/>
              <a:gd name="connsiteY27" fmla="*/ 70137 h 1056622"/>
              <a:gd name="connsiteX28" fmla="*/ 253614 w 1062819"/>
              <a:gd name="connsiteY28" fmla="*/ 153614 h 1056622"/>
              <a:gd name="connsiteX29" fmla="*/ 281583 w 1062819"/>
              <a:gd name="connsiteY29" fmla="*/ 153614 h 1056622"/>
              <a:gd name="connsiteX30" fmla="*/ 281583 w 1062819"/>
              <a:gd name="connsiteY30" fmla="*/ 70137 h 1056622"/>
              <a:gd name="connsiteX31" fmla="*/ 337693 w 1062819"/>
              <a:gd name="connsiteY31" fmla="*/ 70137 h 1056622"/>
              <a:gd name="connsiteX32" fmla="*/ 309724 w 1062819"/>
              <a:gd name="connsiteY32" fmla="*/ 70137 h 1056622"/>
              <a:gd name="connsiteX33" fmla="*/ 309724 w 1062819"/>
              <a:gd name="connsiteY33" fmla="*/ 153614 h 1056622"/>
              <a:gd name="connsiteX34" fmla="*/ 337693 w 1062819"/>
              <a:gd name="connsiteY34" fmla="*/ 153614 h 1056622"/>
              <a:gd name="connsiteX35" fmla="*/ 337693 w 1062819"/>
              <a:gd name="connsiteY35" fmla="*/ 70137 h 1056622"/>
              <a:gd name="connsiteX36" fmla="*/ 393802 w 1062819"/>
              <a:gd name="connsiteY36" fmla="*/ 70137 h 1056622"/>
              <a:gd name="connsiteX37" fmla="*/ 365834 w 1062819"/>
              <a:gd name="connsiteY37" fmla="*/ 70137 h 1056622"/>
              <a:gd name="connsiteX38" fmla="*/ 365834 w 1062819"/>
              <a:gd name="connsiteY38" fmla="*/ 153614 h 1056622"/>
              <a:gd name="connsiteX39" fmla="*/ 393802 w 1062819"/>
              <a:gd name="connsiteY39" fmla="*/ 153614 h 1056622"/>
              <a:gd name="connsiteX40" fmla="*/ 393802 w 1062819"/>
              <a:gd name="connsiteY40" fmla="*/ 70137 h 1056622"/>
              <a:gd name="connsiteX41" fmla="*/ 449912 w 1062819"/>
              <a:gd name="connsiteY41" fmla="*/ 70137 h 1056622"/>
              <a:gd name="connsiteX42" fmla="*/ 421943 w 1062819"/>
              <a:gd name="connsiteY42" fmla="*/ 70137 h 1056622"/>
              <a:gd name="connsiteX43" fmla="*/ 421943 w 1062819"/>
              <a:gd name="connsiteY43" fmla="*/ 153614 h 1056622"/>
              <a:gd name="connsiteX44" fmla="*/ 449912 w 1062819"/>
              <a:gd name="connsiteY44" fmla="*/ 153614 h 1056622"/>
              <a:gd name="connsiteX45" fmla="*/ 449912 w 1062819"/>
              <a:gd name="connsiteY45" fmla="*/ 70137 h 1056622"/>
              <a:gd name="connsiteX46" fmla="*/ 506022 w 1062819"/>
              <a:gd name="connsiteY46" fmla="*/ 70137 h 1056622"/>
              <a:gd name="connsiteX47" fmla="*/ 478053 w 1062819"/>
              <a:gd name="connsiteY47" fmla="*/ 70137 h 1056622"/>
              <a:gd name="connsiteX48" fmla="*/ 478053 w 1062819"/>
              <a:gd name="connsiteY48" fmla="*/ 153614 h 1056622"/>
              <a:gd name="connsiteX49" fmla="*/ 506022 w 1062819"/>
              <a:gd name="connsiteY49" fmla="*/ 153614 h 1056622"/>
              <a:gd name="connsiteX50" fmla="*/ 506022 w 1062819"/>
              <a:gd name="connsiteY50" fmla="*/ 70137 h 1056622"/>
              <a:gd name="connsiteX51" fmla="*/ 945866 w 1062819"/>
              <a:gd name="connsiteY51" fmla="*/ 84423 h 1056622"/>
              <a:gd name="connsiteX52" fmla="*/ 917897 w 1062819"/>
              <a:gd name="connsiteY52" fmla="*/ 112392 h 1056622"/>
              <a:gd name="connsiteX53" fmla="*/ 945866 w 1062819"/>
              <a:gd name="connsiteY53" fmla="*/ 140361 h 1056622"/>
              <a:gd name="connsiteX54" fmla="*/ 973835 w 1062819"/>
              <a:gd name="connsiteY54" fmla="*/ 112392 h 1056622"/>
              <a:gd name="connsiteX55" fmla="*/ 945866 w 1062819"/>
              <a:gd name="connsiteY55" fmla="*/ 84423 h 1056622"/>
              <a:gd name="connsiteX56" fmla="*/ 1034850 w 1062819"/>
              <a:gd name="connsiteY56" fmla="*/ 306281 h 1056622"/>
              <a:gd name="connsiteX57" fmla="*/ 1034850 w 1062819"/>
              <a:gd name="connsiteY57" fmla="*/ 474095 h 1056622"/>
              <a:gd name="connsiteX58" fmla="*/ 27969 w 1062819"/>
              <a:gd name="connsiteY58" fmla="*/ 474095 h 1056622"/>
              <a:gd name="connsiteX59" fmla="*/ 27969 w 1062819"/>
              <a:gd name="connsiteY59" fmla="*/ 306281 h 1056622"/>
              <a:gd name="connsiteX60" fmla="*/ 1034850 w 1062819"/>
              <a:gd name="connsiteY60" fmla="*/ 306281 h 1056622"/>
              <a:gd name="connsiteX61" fmla="*/ 1062819 w 1062819"/>
              <a:gd name="connsiteY61" fmla="*/ 278312 h 1056622"/>
              <a:gd name="connsiteX62" fmla="*/ 0 w 1062819"/>
              <a:gd name="connsiteY62" fmla="*/ 278312 h 1056622"/>
              <a:gd name="connsiteX63" fmla="*/ 0 w 1062819"/>
              <a:gd name="connsiteY63" fmla="*/ 502064 h 1056622"/>
              <a:gd name="connsiteX64" fmla="*/ 1062819 w 1062819"/>
              <a:gd name="connsiteY64" fmla="*/ 502064 h 1056622"/>
              <a:gd name="connsiteX65" fmla="*/ 1062819 w 1062819"/>
              <a:gd name="connsiteY65" fmla="*/ 278312 h 1056622"/>
              <a:gd name="connsiteX66" fmla="*/ 1062819 w 1062819"/>
              <a:gd name="connsiteY66" fmla="*/ 278312 h 1056622"/>
              <a:gd name="connsiteX67" fmla="*/ 113253 w 1062819"/>
              <a:gd name="connsiteY67" fmla="*/ 348450 h 1056622"/>
              <a:gd name="connsiteX68" fmla="*/ 85284 w 1062819"/>
              <a:gd name="connsiteY68" fmla="*/ 348450 h 1056622"/>
              <a:gd name="connsiteX69" fmla="*/ 85284 w 1062819"/>
              <a:gd name="connsiteY69" fmla="*/ 431926 h 1056622"/>
              <a:gd name="connsiteX70" fmla="*/ 113253 w 1062819"/>
              <a:gd name="connsiteY70" fmla="*/ 431926 h 1056622"/>
              <a:gd name="connsiteX71" fmla="*/ 113253 w 1062819"/>
              <a:gd name="connsiteY71" fmla="*/ 348450 h 1056622"/>
              <a:gd name="connsiteX72" fmla="*/ 169363 w 1062819"/>
              <a:gd name="connsiteY72" fmla="*/ 348450 h 1056622"/>
              <a:gd name="connsiteX73" fmla="*/ 141394 w 1062819"/>
              <a:gd name="connsiteY73" fmla="*/ 348450 h 1056622"/>
              <a:gd name="connsiteX74" fmla="*/ 141394 w 1062819"/>
              <a:gd name="connsiteY74" fmla="*/ 431926 h 1056622"/>
              <a:gd name="connsiteX75" fmla="*/ 169363 w 1062819"/>
              <a:gd name="connsiteY75" fmla="*/ 431926 h 1056622"/>
              <a:gd name="connsiteX76" fmla="*/ 169363 w 1062819"/>
              <a:gd name="connsiteY76" fmla="*/ 348450 h 1056622"/>
              <a:gd name="connsiteX77" fmla="*/ 225473 w 1062819"/>
              <a:gd name="connsiteY77" fmla="*/ 348450 h 1056622"/>
              <a:gd name="connsiteX78" fmla="*/ 197504 w 1062819"/>
              <a:gd name="connsiteY78" fmla="*/ 348450 h 1056622"/>
              <a:gd name="connsiteX79" fmla="*/ 197504 w 1062819"/>
              <a:gd name="connsiteY79" fmla="*/ 431926 h 1056622"/>
              <a:gd name="connsiteX80" fmla="*/ 225473 w 1062819"/>
              <a:gd name="connsiteY80" fmla="*/ 431926 h 1056622"/>
              <a:gd name="connsiteX81" fmla="*/ 225473 w 1062819"/>
              <a:gd name="connsiteY81" fmla="*/ 348450 h 1056622"/>
              <a:gd name="connsiteX82" fmla="*/ 281583 w 1062819"/>
              <a:gd name="connsiteY82" fmla="*/ 348450 h 1056622"/>
              <a:gd name="connsiteX83" fmla="*/ 253614 w 1062819"/>
              <a:gd name="connsiteY83" fmla="*/ 348450 h 1056622"/>
              <a:gd name="connsiteX84" fmla="*/ 253614 w 1062819"/>
              <a:gd name="connsiteY84" fmla="*/ 431926 h 1056622"/>
              <a:gd name="connsiteX85" fmla="*/ 281583 w 1062819"/>
              <a:gd name="connsiteY85" fmla="*/ 431926 h 1056622"/>
              <a:gd name="connsiteX86" fmla="*/ 281583 w 1062819"/>
              <a:gd name="connsiteY86" fmla="*/ 348450 h 1056622"/>
              <a:gd name="connsiteX87" fmla="*/ 337693 w 1062819"/>
              <a:gd name="connsiteY87" fmla="*/ 348450 h 1056622"/>
              <a:gd name="connsiteX88" fmla="*/ 309724 w 1062819"/>
              <a:gd name="connsiteY88" fmla="*/ 348450 h 1056622"/>
              <a:gd name="connsiteX89" fmla="*/ 309724 w 1062819"/>
              <a:gd name="connsiteY89" fmla="*/ 431926 h 1056622"/>
              <a:gd name="connsiteX90" fmla="*/ 337693 w 1062819"/>
              <a:gd name="connsiteY90" fmla="*/ 431926 h 1056622"/>
              <a:gd name="connsiteX91" fmla="*/ 337693 w 1062819"/>
              <a:gd name="connsiteY91" fmla="*/ 348450 h 1056622"/>
              <a:gd name="connsiteX92" fmla="*/ 393802 w 1062819"/>
              <a:gd name="connsiteY92" fmla="*/ 348450 h 1056622"/>
              <a:gd name="connsiteX93" fmla="*/ 365834 w 1062819"/>
              <a:gd name="connsiteY93" fmla="*/ 348450 h 1056622"/>
              <a:gd name="connsiteX94" fmla="*/ 365834 w 1062819"/>
              <a:gd name="connsiteY94" fmla="*/ 431926 h 1056622"/>
              <a:gd name="connsiteX95" fmla="*/ 393802 w 1062819"/>
              <a:gd name="connsiteY95" fmla="*/ 431926 h 1056622"/>
              <a:gd name="connsiteX96" fmla="*/ 393802 w 1062819"/>
              <a:gd name="connsiteY96" fmla="*/ 348450 h 1056622"/>
              <a:gd name="connsiteX97" fmla="*/ 449912 w 1062819"/>
              <a:gd name="connsiteY97" fmla="*/ 348450 h 1056622"/>
              <a:gd name="connsiteX98" fmla="*/ 421943 w 1062819"/>
              <a:gd name="connsiteY98" fmla="*/ 348450 h 1056622"/>
              <a:gd name="connsiteX99" fmla="*/ 421943 w 1062819"/>
              <a:gd name="connsiteY99" fmla="*/ 431926 h 1056622"/>
              <a:gd name="connsiteX100" fmla="*/ 449912 w 1062819"/>
              <a:gd name="connsiteY100" fmla="*/ 431926 h 1056622"/>
              <a:gd name="connsiteX101" fmla="*/ 449912 w 1062819"/>
              <a:gd name="connsiteY101" fmla="*/ 348450 h 1056622"/>
              <a:gd name="connsiteX102" fmla="*/ 506022 w 1062819"/>
              <a:gd name="connsiteY102" fmla="*/ 348450 h 1056622"/>
              <a:gd name="connsiteX103" fmla="*/ 478053 w 1062819"/>
              <a:gd name="connsiteY103" fmla="*/ 348450 h 1056622"/>
              <a:gd name="connsiteX104" fmla="*/ 478053 w 1062819"/>
              <a:gd name="connsiteY104" fmla="*/ 431926 h 1056622"/>
              <a:gd name="connsiteX105" fmla="*/ 506022 w 1062819"/>
              <a:gd name="connsiteY105" fmla="*/ 431926 h 1056622"/>
              <a:gd name="connsiteX106" fmla="*/ 506022 w 1062819"/>
              <a:gd name="connsiteY106" fmla="*/ 348450 h 1056622"/>
              <a:gd name="connsiteX107" fmla="*/ 945866 w 1062819"/>
              <a:gd name="connsiteY107" fmla="*/ 362391 h 1056622"/>
              <a:gd name="connsiteX108" fmla="*/ 917897 w 1062819"/>
              <a:gd name="connsiteY108" fmla="*/ 390188 h 1056622"/>
              <a:gd name="connsiteX109" fmla="*/ 945866 w 1062819"/>
              <a:gd name="connsiteY109" fmla="*/ 417985 h 1056622"/>
              <a:gd name="connsiteX110" fmla="*/ 973835 w 1062819"/>
              <a:gd name="connsiteY110" fmla="*/ 390188 h 1056622"/>
              <a:gd name="connsiteX111" fmla="*/ 945866 w 1062819"/>
              <a:gd name="connsiteY111" fmla="*/ 362391 h 1056622"/>
              <a:gd name="connsiteX112" fmla="*/ 1034850 w 1062819"/>
              <a:gd name="connsiteY112" fmla="*/ 582184 h 1056622"/>
              <a:gd name="connsiteX113" fmla="*/ 1034850 w 1062819"/>
              <a:gd name="connsiteY113" fmla="*/ 749997 h 1056622"/>
              <a:gd name="connsiteX114" fmla="*/ 27969 w 1062819"/>
              <a:gd name="connsiteY114" fmla="*/ 749997 h 1056622"/>
              <a:gd name="connsiteX115" fmla="*/ 27969 w 1062819"/>
              <a:gd name="connsiteY115" fmla="*/ 582184 h 1056622"/>
              <a:gd name="connsiteX116" fmla="*/ 1034850 w 1062819"/>
              <a:gd name="connsiteY116" fmla="*/ 582184 h 1056622"/>
              <a:gd name="connsiteX117" fmla="*/ 1062819 w 1062819"/>
              <a:gd name="connsiteY117" fmla="*/ 554215 h 1056622"/>
              <a:gd name="connsiteX118" fmla="*/ 0 w 1062819"/>
              <a:gd name="connsiteY118" fmla="*/ 554215 h 1056622"/>
              <a:gd name="connsiteX119" fmla="*/ 0 w 1062819"/>
              <a:gd name="connsiteY119" fmla="*/ 777966 h 1056622"/>
              <a:gd name="connsiteX120" fmla="*/ 1062819 w 1062819"/>
              <a:gd name="connsiteY120" fmla="*/ 777966 h 1056622"/>
              <a:gd name="connsiteX121" fmla="*/ 1062819 w 1062819"/>
              <a:gd name="connsiteY121" fmla="*/ 554215 h 1056622"/>
              <a:gd name="connsiteX122" fmla="*/ 1062819 w 1062819"/>
              <a:gd name="connsiteY122" fmla="*/ 554215 h 1056622"/>
              <a:gd name="connsiteX123" fmla="*/ 113253 w 1062819"/>
              <a:gd name="connsiteY123" fmla="*/ 624352 h 1056622"/>
              <a:gd name="connsiteX124" fmla="*/ 85284 w 1062819"/>
              <a:gd name="connsiteY124" fmla="*/ 624352 h 1056622"/>
              <a:gd name="connsiteX125" fmla="*/ 85284 w 1062819"/>
              <a:gd name="connsiteY125" fmla="*/ 707829 h 1056622"/>
              <a:gd name="connsiteX126" fmla="*/ 113253 w 1062819"/>
              <a:gd name="connsiteY126" fmla="*/ 707829 h 1056622"/>
              <a:gd name="connsiteX127" fmla="*/ 113253 w 1062819"/>
              <a:gd name="connsiteY127" fmla="*/ 624352 h 1056622"/>
              <a:gd name="connsiteX128" fmla="*/ 169363 w 1062819"/>
              <a:gd name="connsiteY128" fmla="*/ 624352 h 1056622"/>
              <a:gd name="connsiteX129" fmla="*/ 141394 w 1062819"/>
              <a:gd name="connsiteY129" fmla="*/ 624352 h 1056622"/>
              <a:gd name="connsiteX130" fmla="*/ 141394 w 1062819"/>
              <a:gd name="connsiteY130" fmla="*/ 707829 h 1056622"/>
              <a:gd name="connsiteX131" fmla="*/ 169363 w 1062819"/>
              <a:gd name="connsiteY131" fmla="*/ 707829 h 1056622"/>
              <a:gd name="connsiteX132" fmla="*/ 169363 w 1062819"/>
              <a:gd name="connsiteY132" fmla="*/ 624352 h 1056622"/>
              <a:gd name="connsiteX133" fmla="*/ 225473 w 1062819"/>
              <a:gd name="connsiteY133" fmla="*/ 624352 h 1056622"/>
              <a:gd name="connsiteX134" fmla="*/ 197504 w 1062819"/>
              <a:gd name="connsiteY134" fmla="*/ 624352 h 1056622"/>
              <a:gd name="connsiteX135" fmla="*/ 197504 w 1062819"/>
              <a:gd name="connsiteY135" fmla="*/ 707829 h 1056622"/>
              <a:gd name="connsiteX136" fmla="*/ 225473 w 1062819"/>
              <a:gd name="connsiteY136" fmla="*/ 707829 h 1056622"/>
              <a:gd name="connsiteX137" fmla="*/ 225473 w 1062819"/>
              <a:gd name="connsiteY137" fmla="*/ 624352 h 1056622"/>
              <a:gd name="connsiteX138" fmla="*/ 281583 w 1062819"/>
              <a:gd name="connsiteY138" fmla="*/ 624352 h 1056622"/>
              <a:gd name="connsiteX139" fmla="*/ 253614 w 1062819"/>
              <a:gd name="connsiteY139" fmla="*/ 624352 h 1056622"/>
              <a:gd name="connsiteX140" fmla="*/ 253614 w 1062819"/>
              <a:gd name="connsiteY140" fmla="*/ 707829 h 1056622"/>
              <a:gd name="connsiteX141" fmla="*/ 281583 w 1062819"/>
              <a:gd name="connsiteY141" fmla="*/ 707829 h 1056622"/>
              <a:gd name="connsiteX142" fmla="*/ 281583 w 1062819"/>
              <a:gd name="connsiteY142" fmla="*/ 624352 h 1056622"/>
              <a:gd name="connsiteX143" fmla="*/ 337693 w 1062819"/>
              <a:gd name="connsiteY143" fmla="*/ 624352 h 1056622"/>
              <a:gd name="connsiteX144" fmla="*/ 309724 w 1062819"/>
              <a:gd name="connsiteY144" fmla="*/ 624352 h 1056622"/>
              <a:gd name="connsiteX145" fmla="*/ 309724 w 1062819"/>
              <a:gd name="connsiteY145" fmla="*/ 707829 h 1056622"/>
              <a:gd name="connsiteX146" fmla="*/ 337693 w 1062819"/>
              <a:gd name="connsiteY146" fmla="*/ 707829 h 1056622"/>
              <a:gd name="connsiteX147" fmla="*/ 337693 w 1062819"/>
              <a:gd name="connsiteY147" fmla="*/ 624352 h 1056622"/>
              <a:gd name="connsiteX148" fmla="*/ 393802 w 1062819"/>
              <a:gd name="connsiteY148" fmla="*/ 624352 h 1056622"/>
              <a:gd name="connsiteX149" fmla="*/ 365834 w 1062819"/>
              <a:gd name="connsiteY149" fmla="*/ 624352 h 1056622"/>
              <a:gd name="connsiteX150" fmla="*/ 365834 w 1062819"/>
              <a:gd name="connsiteY150" fmla="*/ 707829 h 1056622"/>
              <a:gd name="connsiteX151" fmla="*/ 393802 w 1062819"/>
              <a:gd name="connsiteY151" fmla="*/ 707829 h 1056622"/>
              <a:gd name="connsiteX152" fmla="*/ 393802 w 1062819"/>
              <a:gd name="connsiteY152" fmla="*/ 624352 h 1056622"/>
              <a:gd name="connsiteX153" fmla="*/ 449912 w 1062819"/>
              <a:gd name="connsiteY153" fmla="*/ 624352 h 1056622"/>
              <a:gd name="connsiteX154" fmla="*/ 421943 w 1062819"/>
              <a:gd name="connsiteY154" fmla="*/ 624352 h 1056622"/>
              <a:gd name="connsiteX155" fmla="*/ 421943 w 1062819"/>
              <a:gd name="connsiteY155" fmla="*/ 707829 h 1056622"/>
              <a:gd name="connsiteX156" fmla="*/ 449912 w 1062819"/>
              <a:gd name="connsiteY156" fmla="*/ 707829 h 1056622"/>
              <a:gd name="connsiteX157" fmla="*/ 449912 w 1062819"/>
              <a:gd name="connsiteY157" fmla="*/ 624352 h 1056622"/>
              <a:gd name="connsiteX158" fmla="*/ 506022 w 1062819"/>
              <a:gd name="connsiteY158" fmla="*/ 624352 h 1056622"/>
              <a:gd name="connsiteX159" fmla="*/ 478053 w 1062819"/>
              <a:gd name="connsiteY159" fmla="*/ 624352 h 1056622"/>
              <a:gd name="connsiteX160" fmla="*/ 478053 w 1062819"/>
              <a:gd name="connsiteY160" fmla="*/ 707829 h 1056622"/>
              <a:gd name="connsiteX161" fmla="*/ 506022 w 1062819"/>
              <a:gd name="connsiteY161" fmla="*/ 707829 h 1056622"/>
              <a:gd name="connsiteX162" fmla="*/ 506022 w 1062819"/>
              <a:gd name="connsiteY162" fmla="*/ 624352 h 1056622"/>
              <a:gd name="connsiteX163" fmla="*/ 945866 w 1062819"/>
              <a:gd name="connsiteY163" fmla="*/ 638294 h 1056622"/>
              <a:gd name="connsiteX164" fmla="*/ 917897 w 1062819"/>
              <a:gd name="connsiteY164" fmla="*/ 666091 h 1056622"/>
              <a:gd name="connsiteX165" fmla="*/ 945866 w 1062819"/>
              <a:gd name="connsiteY165" fmla="*/ 693887 h 1056622"/>
              <a:gd name="connsiteX166" fmla="*/ 973835 w 1062819"/>
              <a:gd name="connsiteY166" fmla="*/ 666091 h 1056622"/>
              <a:gd name="connsiteX167" fmla="*/ 945866 w 1062819"/>
              <a:gd name="connsiteY167" fmla="*/ 638294 h 1056622"/>
              <a:gd name="connsiteX168" fmla="*/ 1034850 w 1062819"/>
              <a:gd name="connsiteY168" fmla="*/ 860582 h 1056622"/>
              <a:gd name="connsiteX169" fmla="*/ 1034850 w 1062819"/>
              <a:gd name="connsiteY169" fmla="*/ 1028654 h 1056622"/>
              <a:gd name="connsiteX170" fmla="*/ 27969 w 1062819"/>
              <a:gd name="connsiteY170" fmla="*/ 1028654 h 1056622"/>
              <a:gd name="connsiteX171" fmla="*/ 27969 w 1062819"/>
              <a:gd name="connsiteY171" fmla="*/ 860582 h 1056622"/>
              <a:gd name="connsiteX172" fmla="*/ 1034850 w 1062819"/>
              <a:gd name="connsiteY172" fmla="*/ 860582 h 1056622"/>
              <a:gd name="connsiteX173" fmla="*/ 1062819 w 1062819"/>
              <a:gd name="connsiteY173" fmla="*/ 832613 h 1056622"/>
              <a:gd name="connsiteX174" fmla="*/ 0 w 1062819"/>
              <a:gd name="connsiteY174" fmla="*/ 832613 h 1056622"/>
              <a:gd name="connsiteX175" fmla="*/ 0 w 1062819"/>
              <a:gd name="connsiteY175" fmla="*/ 1056623 h 1056622"/>
              <a:gd name="connsiteX176" fmla="*/ 1062819 w 1062819"/>
              <a:gd name="connsiteY176" fmla="*/ 1056623 h 1056622"/>
              <a:gd name="connsiteX177" fmla="*/ 1062819 w 1062819"/>
              <a:gd name="connsiteY177" fmla="*/ 832613 h 1056622"/>
              <a:gd name="connsiteX178" fmla="*/ 1062819 w 1062819"/>
              <a:gd name="connsiteY178" fmla="*/ 832613 h 1056622"/>
              <a:gd name="connsiteX179" fmla="*/ 113253 w 1062819"/>
              <a:gd name="connsiteY179" fmla="*/ 902837 h 1056622"/>
              <a:gd name="connsiteX180" fmla="*/ 85284 w 1062819"/>
              <a:gd name="connsiteY180" fmla="*/ 902837 h 1056622"/>
              <a:gd name="connsiteX181" fmla="*/ 85284 w 1062819"/>
              <a:gd name="connsiteY181" fmla="*/ 986399 h 1056622"/>
              <a:gd name="connsiteX182" fmla="*/ 113253 w 1062819"/>
              <a:gd name="connsiteY182" fmla="*/ 986399 h 1056622"/>
              <a:gd name="connsiteX183" fmla="*/ 113253 w 1062819"/>
              <a:gd name="connsiteY183" fmla="*/ 902837 h 1056622"/>
              <a:gd name="connsiteX184" fmla="*/ 169363 w 1062819"/>
              <a:gd name="connsiteY184" fmla="*/ 902837 h 1056622"/>
              <a:gd name="connsiteX185" fmla="*/ 141394 w 1062819"/>
              <a:gd name="connsiteY185" fmla="*/ 902837 h 1056622"/>
              <a:gd name="connsiteX186" fmla="*/ 141394 w 1062819"/>
              <a:gd name="connsiteY186" fmla="*/ 986399 h 1056622"/>
              <a:gd name="connsiteX187" fmla="*/ 169363 w 1062819"/>
              <a:gd name="connsiteY187" fmla="*/ 986399 h 1056622"/>
              <a:gd name="connsiteX188" fmla="*/ 169363 w 1062819"/>
              <a:gd name="connsiteY188" fmla="*/ 902837 h 1056622"/>
              <a:gd name="connsiteX189" fmla="*/ 225473 w 1062819"/>
              <a:gd name="connsiteY189" fmla="*/ 902837 h 1056622"/>
              <a:gd name="connsiteX190" fmla="*/ 197504 w 1062819"/>
              <a:gd name="connsiteY190" fmla="*/ 902837 h 1056622"/>
              <a:gd name="connsiteX191" fmla="*/ 197504 w 1062819"/>
              <a:gd name="connsiteY191" fmla="*/ 986399 h 1056622"/>
              <a:gd name="connsiteX192" fmla="*/ 225473 w 1062819"/>
              <a:gd name="connsiteY192" fmla="*/ 986399 h 1056622"/>
              <a:gd name="connsiteX193" fmla="*/ 225473 w 1062819"/>
              <a:gd name="connsiteY193" fmla="*/ 902837 h 1056622"/>
              <a:gd name="connsiteX194" fmla="*/ 281583 w 1062819"/>
              <a:gd name="connsiteY194" fmla="*/ 902837 h 1056622"/>
              <a:gd name="connsiteX195" fmla="*/ 253614 w 1062819"/>
              <a:gd name="connsiteY195" fmla="*/ 902837 h 1056622"/>
              <a:gd name="connsiteX196" fmla="*/ 253614 w 1062819"/>
              <a:gd name="connsiteY196" fmla="*/ 986399 h 1056622"/>
              <a:gd name="connsiteX197" fmla="*/ 281583 w 1062819"/>
              <a:gd name="connsiteY197" fmla="*/ 986399 h 1056622"/>
              <a:gd name="connsiteX198" fmla="*/ 281583 w 1062819"/>
              <a:gd name="connsiteY198" fmla="*/ 902837 h 1056622"/>
              <a:gd name="connsiteX199" fmla="*/ 337693 w 1062819"/>
              <a:gd name="connsiteY199" fmla="*/ 902837 h 1056622"/>
              <a:gd name="connsiteX200" fmla="*/ 309724 w 1062819"/>
              <a:gd name="connsiteY200" fmla="*/ 902837 h 1056622"/>
              <a:gd name="connsiteX201" fmla="*/ 309724 w 1062819"/>
              <a:gd name="connsiteY201" fmla="*/ 986399 h 1056622"/>
              <a:gd name="connsiteX202" fmla="*/ 337693 w 1062819"/>
              <a:gd name="connsiteY202" fmla="*/ 986399 h 1056622"/>
              <a:gd name="connsiteX203" fmla="*/ 337693 w 1062819"/>
              <a:gd name="connsiteY203" fmla="*/ 902837 h 1056622"/>
              <a:gd name="connsiteX204" fmla="*/ 393802 w 1062819"/>
              <a:gd name="connsiteY204" fmla="*/ 902837 h 1056622"/>
              <a:gd name="connsiteX205" fmla="*/ 365834 w 1062819"/>
              <a:gd name="connsiteY205" fmla="*/ 902837 h 1056622"/>
              <a:gd name="connsiteX206" fmla="*/ 365834 w 1062819"/>
              <a:gd name="connsiteY206" fmla="*/ 986399 h 1056622"/>
              <a:gd name="connsiteX207" fmla="*/ 393802 w 1062819"/>
              <a:gd name="connsiteY207" fmla="*/ 986399 h 1056622"/>
              <a:gd name="connsiteX208" fmla="*/ 393802 w 1062819"/>
              <a:gd name="connsiteY208" fmla="*/ 902837 h 1056622"/>
              <a:gd name="connsiteX209" fmla="*/ 449912 w 1062819"/>
              <a:gd name="connsiteY209" fmla="*/ 902837 h 1056622"/>
              <a:gd name="connsiteX210" fmla="*/ 421943 w 1062819"/>
              <a:gd name="connsiteY210" fmla="*/ 902837 h 1056622"/>
              <a:gd name="connsiteX211" fmla="*/ 421943 w 1062819"/>
              <a:gd name="connsiteY211" fmla="*/ 986399 h 1056622"/>
              <a:gd name="connsiteX212" fmla="*/ 449912 w 1062819"/>
              <a:gd name="connsiteY212" fmla="*/ 986399 h 1056622"/>
              <a:gd name="connsiteX213" fmla="*/ 449912 w 1062819"/>
              <a:gd name="connsiteY213" fmla="*/ 902837 h 1056622"/>
              <a:gd name="connsiteX214" fmla="*/ 506022 w 1062819"/>
              <a:gd name="connsiteY214" fmla="*/ 902837 h 1056622"/>
              <a:gd name="connsiteX215" fmla="*/ 478053 w 1062819"/>
              <a:gd name="connsiteY215" fmla="*/ 902837 h 1056622"/>
              <a:gd name="connsiteX216" fmla="*/ 478053 w 1062819"/>
              <a:gd name="connsiteY216" fmla="*/ 986399 h 1056622"/>
              <a:gd name="connsiteX217" fmla="*/ 506022 w 1062819"/>
              <a:gd name="connsiteY217" fmla="*/ 986399 h 1056622"/>
              <a:gd name="connsiteX218" fmla="*/ 506022 w 1062819"/>
              <a:gd name="connsiteY218" fmla="*/ 902837 h 1056622"/>
              <a:gd name="connsiteX219" fmla="*/ 945866 w 1062819"/>
              <a:gd name="connsiteY219" fmla="*/ 916692 h 1056622"/>
              <a:gd name="connsiteX220" fmla="*/ 917897 w 1062819"/>
              <a:gd name="connsiteY220" fmla="*/ 944575 h 1056622"/>
              <a:gd name="connsiteX221" fmla="*/ 945866 w 1062819"/>
              <a:gd name="connsiteY221" fmla="*/ 972458 h 1056622"/>
              <a:gd name="connsiteX222" fmla="*/ 973835 w 1062819"/>
              <a:gd name="connsiteY222" fmla="*/ 944575 h 1056622"/>
              <a:gd name="connsiteX223" fmla="*/ 945866 w 1062819"/>
              <a:gd name="connsiteY223" fmla="*/ 916692 h 1056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Lst>
            <a:rect l="l" t="t" r="r" b="b"/>
            <a:pathLst>
              <a:path w="1062819" h="1056622">
                <a:moveTo>
                  <a:pt x="1034850" y="27969"/>
                </a:moveTo>
                <a:lnTo>
                  <a:pt x="1034850" y="195782"/>
                </a:lnTo>
                <a:lnTo>
                  <a:pt x="27969" y="195782"/>
                </a:lnTo>
                <a:lnTo>
                  <a:pt x="27969" y="27969"/>
                </a:lnTo>
                <a:lnTo>
                  <a:pt x="1034850" y="27969"/>
                </a:lnTo>
                <a:moveTo>
                  <a:pt x="1062819" y="0"/>
                </a:moveTo>
                <a:lnTo>
                  <a:pt x="0" y="0"/>
                </a:lnTo>
                <a:lnTo>
                  <a:pt x="0" y="223751"/>
                </a:lnTo>
                <a:lnTo>
                  <a:pt x="1062819" y="223751"/>
                </a:lnTo>
                <a:lnTo>
                  <a:pt x="1062819" y="0"/>
                </a:lnTo>
                <a:lnTo>
                  <a:pt x="1062819" y="0"/>
                </a:lnTo>
                <a:close/>
                <a:moveTo>
                  <a:pt x="113253" y="70137"/>
                </a:moveTo>
                <a:lnTo>
                  <a:pt x="85284" y="70137"/>
                </a:lnTo>
                <a:lnTo>
                  <a:pt x="85284" y="153614"/>
                </a:lnTo>
                <a:lnTo>
                  <a:pt x="113253" y="153614"/>
                </a:lnTo>
                <a:lnTo>
                  <a:pt x="113253" y="70137"/>
                </a:lnTo>
                <a:close/>
                <a:moveTo>
                  <a:pt x="169363" y="70137"/>
                </a:moveTo>
                <a:lnTo>
                  <a:pt x="141394" y="70137"/>
                </a:lnTo>
                <a:lnTo>
                  <a:pt x="141394" y="153614"/>
                </a:lnTo>
                <a:lnTo>
                  <a:pt x="169363" y="153614"/>
                </a:lnTo>
                <a:lnTo>
                  <a:pt x="169363" y="70137"/>
                </a:lnTo>
                <a:close/>
                <a:moveTo>
                  <a:pt x="225473" y="70137"/>
                </a:moveTo>
                <a:lnTo>
                  <a:pt x="197504" y="70137"/>
                </a:lnTo>
                <a:lnTo>
                  <a:pt x="197504" y="153614"/>
                </a:lnTo>
                <a:lnTo>
                  <a:pt x="225473" y="153614"/>
                </a:lnTo>
                <a:lnTo>
                  <a:pt x="225473" y="70137"/>
                </a:lnTo>
                <a:close/>
                <a:moveTo>
                  <a:pt x="281583" y="70137"/>
                </a:moveTo>
                <a:lnTo>
                  <a:pt x="253614" y="70137"/>
                </a:lnTo>
                <a:lnTo>
                  <a:pt x="253614" y="153614"/>
                </a:lnTo>
                <a:lnTo>
                  <a:pt x="281583" y="153614"/>
                </a:lnTo>
                <a:lnTo>
                  <a:pt x="281583" y="70137"/>
                </a:lnTo>
                <a:close/>
                <a:moveTo>
                  <a:pt x="337693" y="70137"/>
                </a:moveTo>
                <a:lnTo>
                  <a:pt x="309724" y="70137"/>
                </a:lnTo>
                <a:lnTo>
                  <a:pt x="309724" y="153614"/>
                </a:lnTo>
                <a:lnTo>
                  <a:pt x="337693" y="153614"/>
                </a:lnTo>
                <a:lnTo>
                  <a:pt x="337693" y="70137"/>
                </a:lnTo>
                <a:close/>
                <a:moveTo>
                  <a:pt x="393802" y="70137"/>
                </a:moveTo>
                <a:lnTo>
                  <a:pt x="365834" y="70137"/>
                </a:lnTo>
                <a:lnTo>
                  <a:pt x="365834" y="153614"/>
                </a:lnTo>
                <a:lnTo>
                  <a:pt x="393802" y="153614"/>
                </a:lnTo>
                <a:lnTo>
                  <a:pt x="393802" y="70137"/>
                </a:lnTo>
                <a:close/>
                <a:moveTo>
                  <a:pt x="449912" y="70137"/>
                </a:moveTo>
                <a:lnTo>
                  <a:pt x="421943" y="70137"/>
                </a:lnTo>
                <a:lnTo>
                  <a:pt x="421943" y="153614"/>
                </a:lnTo>
                <a:lnTo>
                  <a:pt x="449912" y="153614"/>
                </a:lnTo>
                <a:lnTo>
                  <a:pt x="449912" y="70137"/>
                </a:lnTo>
                <a:close/>
                <a:moveTo>
                  <a:pt x="506022" y="70137"/>
                </a:moveTo>
                <a:lnTo>
                  <a:pt x="478053" y="70137"/>
                </a:lnTo>
                <a:lnTo>
                  <a:pt x="478053" y="153614"/>
                </a:lnTo>
                <a:lnTo>
                  <a:pt x="506022" y="153614"/>
                </a:lnTo>
                <a:lnTo>
                  <a:pt x="506022" y="70137"/>
                </a:lnTo>
                <a:close/>
                <a:moveTo>
                  <a:pt x="945866" y="84423"/>
                </a:moveTo>
                <a:cubicBezTo>
                  <a:pt x="930462" y="84423"/>
                  <a:pt x="917897" y="96988"/>
                  <a:pt x="917897" y="112392"/>
                </a:cubicBezTo>
                <a:cubicBezTo>
                  <a:pt x="917897" y="127796"/>
                  <a:pt x="930462" y="140361"/>
                  <a:pt x="945866" y="140361"/>
                </a:cubicBezTo>
                <a:cubicBezTo>
                  <a:pt x="961270" y="140361"/>
                  <a:pt x="973835" y="127796"/>
                  <a:pt x="973835" y="112392"/>
                </a:cubicBezTo>
                <a:cubicBezTo>
                  <a:pt x="973835" y="96988"/>
                  <a:pt x="961356" y="84423"/>
                  <a:pt x="945866" y="84423"/>
                </a:cubicBezTo>
                <a:close/>
                <a:moveTo>
                  <a:pt x="1034850" y="306281"/>
                </a:moveTo>
                <a:lnTo>
                  <a:pt x="1034850" y="474095"/>
                </a:lnTo>
                <a:lnTo>
                  <a:pt x="27969" y="474095"/>
                </a:lnTo>
                <a:lnTo>
                  <a:pt x="27969" y="306281"/>
                </a:lnTo>
                <a:lnTo>
                  <a:pt x="1034850" y="306281"/>
                </a:lnTo>
                <a:moveTo>
                  <a:pt x="1062819" y="278312"/>
                </a:moveTo>
                <a:lnTo>
                  <a:pt x="0" y="278312"/>
                </a:lnTo>
                <a:lnTo>
                  <a:pt x="0" y="502064"/>
                </a:lnTo>
                <a:lnTo>
                  <a:pt x="1062819" y="502064"/>
                </a:lnTo>
                <a:lnTo>
                  <a:pt x="1062819" y="278312"/>
                </a:lnTo>
                <a:lnTo>
                  <a:pt x="1062819" y="278312"/>
                </a:lnTo>
                <a:close/>
                <a:moveTo>
                  <a:pt x="113253" y="348450"/>
                </a:moveTo>
                <a:lnTo>
                  <a:pt x="85284" y="348450"/>
                </a:lnTo>
                <a:lnTo>
                  <a:pt x="85284" y="431926"/>
                </a:lnTo>
                <a:lnTo>
                  <a:pt x="113253" y="431926"/>
                </a:lnTo>
                <a:lnTo>
                  <a:pt x="113253" y="348450"/>
                </a:lnTo>
                <a:close/>
                <a:moveTo>
                  <a:pt x="169363" y="348450"/>
                </a:moveTo>
                <a:lnTo>
                  <a:pt x="141394" y="348450"/>
                </a:lnTo>
                <a:lnTo>
                  <a:pt x="141394" y="431926"/>
                </a:lnTo>
                <a:lnTo>
                  <a:pt x="169363" y="431926"/>
                </a:lnTo>
                <a:lnTo>
                  <a:pt x="169363" y="348450"/>
                </a:lnTo>
                <a:close/>
                <a:moveTo>
                  <a:pt x="225473" y="348450"/>
                </a:moveTo>
                <a:lnTo>
                  <a:pt x="197504" y="348450"/>
                </a:lnTo>
                <a:lnTo>
                  <a:pt x="197504" y="431926"/>
                </a:lnTo>
                <a:lnTo>
                  <a:pt x="225473" y="431926"/>
                </a:lnTo>
                <a:lnTo>
                  <a:pt x="225473" y="348450"/>
                </a:lnTo>
                <a:close/>
                <a:moveTo>
                  <a:pt x="281583" y="348450"/>
                </a:moveTo>
                <a:lnTo>
                  <a:pt x="253614" y="348450"/>
                </a:lnTo>
                <a:lnTo>
                  <a:pt x="253614" y="431926"/>
                </a:lnTo>
                <a:lnTo>
                  <a:pt x="281583" y="431926"/>
                </a:lnTo>
                <a:lnTo>
                  <a:pt x="281583" y="348450"/>
                </a:lnTo>
                <a:close/>
                <a:moveTo>
                  <a:pt x="337693" y="348450"/>
                </a:moveTo>
                <a:lnTo>
                  <a:pt x="309724" y="348450"/>
                </a:lnTo>
                <a:lnTo>
                  <a:pt x="309724" y="431926"/>
                </a:lnTo>
                <a:lnTo>
                  <a:pt x="337693" y="431926"/>
                </a:lnTo>
                <a:lnTo>
                  <a:pt x="337693" y="348450"/>
                </a:lnTo>
                <a:close/>
                <a:moveTo>
                  <a:pt x="393802" y="348450"/>
                </a:moveTo>
                <a:lnTo>
                  <a:pt x="365834" y="348450"/>
                </a:lnTo>
                <a:lnTo>
                  <a:pt x="365834" y="431926"/>
                </a:lnTo>
                <a:lnTo>
                  <a:pt x="393802" y="431926"/>
                </a:lnTo>
                <a:lnTo>
                  <a:pt x="393802" y="348450"/>
                </a:lnTo>
                <a:close/>
                <a:moveTo>
                  <a:pt x="449912" y="348450"/>
                </a:moveTo>
                <a:lnTo>
                  <a:pt x="421943" y="348450"/>
                </a:lnTo>
                <a:lnTo>
                  <a:pt x="421943" y="431926"/>
                </a:lnTo>
                <a:lnTo>
                  <a:pt x="449912" y="431926"/>
                </a:lnTo>
                <a:lnTo>
                  <a:pt x="449912" y="348450"/>
                </a:lnTo>
                <a:close/>
                <a:moveTo>
                  <a:pt x="506022" y="348450"/>
                </a:moveTo>
                <a:lnTo>
                  <a:pt x="478053" y="348450"/>
                </a:lnTo>
                <a:lnTo>
                  <a:pt x="478053" y="431926"/>
                </a:lnTo>
                <a:lnTo>
                  <a:pt x="506022" y="431926"/>
                </a:lnTo>
                <a:lnTo>
                  <a:pt x="506022" y="348450"/>
                </a:lnTo>
                <a:close/>
                <a:moveTo>
                  <a:pt x="945866" y="362391"/>
                </a:moveTo>
                <a:cubicBezTo>
                  <a:pt x="930462" y="362391"/>
                  <a:pt x="917897" y="374870"/>
                  <a:pt x="917897" y="390188"/>
                </a:cubicBezTo>
                <a:cubicBezTo>
                  <a:pt x="917897" y="405592"/>
                  <a:pt x="930462" y="417985"/>
                  <a:pt x="945866" y="417985"/>
                </a:cubicBezTo>
                <a:cubicBezTo>
                  <a:pt x="961270" y="417985"/>
                  <a:pt x="973835" y="405506"/>
                  <a:pt x="973835" y="390188"/>
                </a:cubicBezTo>
                <a:cubicBezTo>
                  <a:pt x="973835" y="374870"/>
                  <a:pt x="961356" y="362391"/>
                  <a:pt x="945866" y="362391"/>
                </a:cubicBezTo>
                <a:close/>
                <a:moveTo>
                  <a:pt x="1034850" y="582184"/>
                </a:moveTo>
                <a:lnTo>
                  <a:pt x="1034850" y="749997"/>
                </a:lnTo>
                <a:lnTo>
                  <a:pt x="27969" y="749997"/>
                </a:lnTo>
                <a:lnTo>
                  <a:pt x="27969" y="582184"/>
                </a:lnTo>
                <a:lnTo>
                  <a:pt x="1034850" y="582184"/>
                </a:lnTo>
                <a:moveTo>
                  <a:pt x="1062819" y="554215"/>
                </a:moveTo>
                <a:lnTo>
                  <a:pt x="0" y="554215"/>
                </a:lnTo>
                <a:lnTo>
                  <a:pt x="0" y="777966"/>
                </a:lnTo>
                <a:lnTo>
                  <a:pt x="1062819" y="777966"/>
                </a:lnTo>
                <a:lnTo>
                  <a:pt x="1062819" y="554215"/>
                </a:lnTo>
                <a:lnTo>
                  <a:pt x="1062819" y="554215"/>
                </a:lnTo>
                <a:close/>
                <a:moveTo>
                  <a:pt x="113253" y="624352"/>
                </a:moveTo>
                <a:lnTo>
                  <a:pt x="85284" y="624352"/>
                </a:lnTo>
                <a:lnTo>
                  <a:pt x="85284" y="707829"/>
                </a:lnTo>
                <a:lnTo>
                  <a:pt x="113253" y="707829"/>
                </a:lnTo>
                <a:lnTo>
                  <a:pt x="113253" y="624352"/>
                </a:lnTo>
                <a:close/>
                <a:moveTo>
                  <a:pt x="169363" y="624352"/>
                </a:moveTo>
                <a:lnTo>
                  <a:pt x="141394" y="624352"/>
                </a:lnTo>
                <a:lnTo>
                  <a:pt x="141394" y="707829"/>
                </a:lnTo>
                <a:lnTo>
                  <a:pt x="169363" y="707829"/>
                </a:lnTo>
                <a:lnTo>
                  <a:pt x="169363" y="624352"/>
                </a:lnTo>
                <a:close/>
                <a:moveTo>
                  <a:pt x="225473" y="624352"/>
                </a:moveTo>
                <a:lnTo>
                  <a:pt x="197504" y="624352"/>
                </a:lnTo>
                <a:lnTo>
                  <a:pt x="197504" y="707829"/>
                </a:lnTo>
                <a:lnTo>
                  <a:pt x="225473" y="707829"/>
                </a:lnTo>
                <a:lnTo>
                  <a:pt x="225473" y="624352"/>
                </a:lnTo>
                <a:close/>
                <a:moveTo>
                  <a:pt x="281583" y="624352"/>
                </a:moveTo>
                <a:lnTo>
                  <a:pt x="253614" y="624352"/>
                </a:lnTo>
                <a:lnTo>
                  <a:pt x="253614" y="707829"/>
                </a:lnTo>
                <a:lnTo>
                  <a:pt x="281583" y="707829"/>
                </a:lnTo>
                <a:lnTo>
                  <a:pt x="281583" y="624352"/>
                </a:lnTo>
                <a:close/>
                <a:moveTo>
                  <a:pt x="337693" y="624352"/>
                </a:moveTo>
                <a:lnTo>
                  <a:pt x="309724" y="624352"/>
                </a:lnTo>
                <a:lnTo>
                  <a:pt x="309724" y="707829"/>
                </a:lnTo>
                <a:lnTo>
                  <a:pt x="337693" y="707829"/>
                </a:lnTo>
                <a:lnTo>
                  <a:pt x="337693" y="624352"/>
                </a:lnTo>
                <a:close/>
                <a:moveTo>
                  <a:pt x="393802" y="624352"/>
                </a:moveTo>
                <a:lnTo>
                  <a:pt x="365834" y="624352"/>
                </a:lnTo>
                <a:lnTo>
                  <a:pt x="365834" y="707829"/>
                </a:lnTo>
                <a:lnTo>
                  <a:pt x="393802" y="707829"/>
                </a:lnTo>
                <a:lnTo>
                  <a:pt x="393802" y="624352"/>
                </a:lnTo>
                <a:close/>
                <a:moveTo>
                  <a:pt x="449912" y="624352"/>
                </a:moveTo>
                <a:lnTo>
                  <a:pt x="421943" y="624352"/>
                </a:lnTo>
                <a:lnTo>
                  <a:pt x="421943" y="707829"/>
                </a:lnTo>
                <a:lnTo>
                  <a:pt x="449912" y="707829"/>
                </a:lnTo>
                <a:lnTo>
                  <a:pt x="449912" y="624352"/>
                </a:lnTo>
                <a:close/>
                <a:moveTo>
                  <a:pt x="506022" y="624352"/>
                </a:moveTo>
                <a:lnTo>
                  <a:pt x="478053" y="624352"/>
                </a:lnTo>
                <a:lnTo>
                  <a:pt x="478053" y="707829"/>
                </a:lnTo>
                <a:lnTo>
                  <a:pt x="506022" y="707829"/>
                </a:lnTo>
                <a:lnTo>
                  <a:pt x="506022" y="624352"/>
                </a:lnTo>
                <a:close/>
                <a:moveTo>
                  <a:pt x="945866" y="638294"/>
                </a:moveTo>
                <a:cubicBezTo>
                  <a:pt x="930462" y="638294"/>
                  <a:pt x="917897" y="650772"/>
                  <a:pt x="917897" y="666091"/>
                </a:cubicBezTo>
                <a:cubicBezTo>
                  <a:pt x="917897" y="681409"/>
                  <a:pt x="930462" y="693887"/>
                  <a:pt x="945866" y="693887"/>
                </a:cubicBezTo>
                <a:cubicBezTo>
                  <a:pt x="961270" y="693887"/>
                  <a:pt x="973835" y="681409"/>
                  <a:pt x="973835" y="666091"/>
                </a:cubicBezTo>
                <a:cubicBezTo>
                  <a:pt x="973835" y="650772"/>
                  <a:pt x="961356" y="638294"/>
                  <a:pt x="945866" y="638294"/>
                </a:cubicBezTo>
                <a:close/>
                <a:moveTo>
                  <a:pt x="1034850" y="860582"/>
                </a:moveTo>
                <a:lnTo>
                  <a:pt x="1034850" y="1028654"/>
                </a:lnTo>
                <a:lnTo>
                  <a:pt x="27969" y="1028654"/>
                </a:lnTo>
                <a:lnTo>
                  <a:pt x="27969" y="860582"/>
                </a:lnTo>
                <a:lnTo>
                  <a:pt x="1034850" y="860582"/>
                </a:lnTo>
                <a:moveTo>
                  <a:pt x="1062819" y="832613"/>
                </a:moveTo>
                <a:lnTo>
                  <a:pt x="0" y="832613"/>
                </a:lnTo>
                <a:lnTo>
                  <a:pt x="0" y="1056623"/>
                </a:lnTo>
                <a:lnTo>
                  <a:pt x="1062819" y="1056623"/>
                </a:lnTo>
                <a:lnTo>
                  <a:pt x="1062819" y="832613"/>
                </a:lnTo>
                <a:lnTo>
                  <a:pt x="1062819" y="832613"/>
                </a:lnTo>
                <a:close/>
                <a:moveTo>
                  <a:pt x="113253" y="902837"/>
                </a:moveTo>
                <a:lnTo>
                  <a:pt x="85284" y="902837"/>
                </a:lnTo>
                <a:lnTo>
                  <a:pt x="85284" y="986399"/>
                </a:lnTo>
                <a:lnTo>
                  <a:pt x="113253" y="986399"/>
                </a:lnTo>
                <a:lnTo>
                  <a:pt x="113253" y="902837"/>
                </a:lnTo>
                <a:close/>
                <a:moveTo>
                  <a:pt x="169363" y="902837"/>
                </a:moveTo>
                <a:lnTo>
                  <a:pt x="141394" y="902837"/>
                </a:lnTo>
                <a:lnTo>
                  <a:pt x="141394" y="986399"/>
                </a:lnTo>
                <a:lnTo>
                  <a:pt x="169363" y="986399"/>
                </a:lnTo>
                <a:lnTo>
                  <a:pt x="169363" y="902837"/>
                </a:lnTo>
                <a:close/>
                <a:moveTo>
                  <a:pt x="225473" y="902837"/>
                </a:moveTo>
                <a:lnTo>
                  <a:pt x="197504" y="902837"/>
                </a:lnTo>
                <a:lnTo>
                  <a:pt x="197504" y="986399"/>
                </a:lnTo>
                <a:lnTo>
                  <a:pt x="225473" y="986399"/>
                </a:lnTo>
                <a:lnTo>
                  <a:pt x="225473" y="902837"/>
                </a:lnTo>
                <a:close/>
                <a:moveTo>
                  <a:pt x="281583" y="902837"/>
                </a:moveTo>
                <a:lnTo>
                  <a:pt x="253614" y="902837"/>
                </a:lnTo>
                <a:lnTo>
                  <a:pt x="253614" y="986399"/>
                </a:lnTo>
                <a:lnTo>
                  <a:pt x="281583" y="986399"/>
                </a:lnTo>
                <a:lnTo>
                  <a:pt x="281583" y="902837"/>
                </a:lnTo>
                <a:close/>
                <a:moveTo>
                  <a:pt x="337693" y="902837"/>
                </a:moveTo>
                <a:lnTo>
                  <a:pt x="309724" y="902837"/>
                </a:lnTo>
                <a:lnTo>
                  <a:pt x="309724" y="986399"/>
                </a:lnTo>
                <a:lnTo>
                  <a:pt x="337693" y="986399"/>
                </a:lnTo>
                <a:lnTo>
                  <a:pt x="337693" y="902837"/>
                </a:lnTo>
                <a:close/>
                <a:moveTo>
                  <a:pt x="393802" y="902837"/>
                </a:moveTo>
                <a:lnTo>
                  <a:pt x="365834" y="902837"/>
                </a:lnTo>
                <a:lnTo>
                  <a:pt x="365834" y="986399"/>
                </a:lnTo>
                <a:lnTo>
                  <a:pt x="393802" y="986399"/>
                </a:lnTo>
                <a:lnTo>
                  <a:pt x="393802" y="902837"/>
                </a:lnTo>
                <a:close/>
                <a:moveTo>
                  <a:pt x="449912" y="902837"/>
                </a:moveTo>
                <a:lnTo>
                  <a:pt x="421943" y="902837"/>
                </a:lnTo>
                <a:lnTo>
                  <a:pt x="421943" y="986399"/>
                </a:lnTo>
                <a:lnTo>
                  <a:pt x="449912" y="986399"/>
                </a:lnTo>
                <a:lnTo>
                  <a:pt x="449912" y="902837"/>
                </a:lnTo>
                <a:close/>
                <a:moveTo>
                  <a:pt x="506022" y="902837"/>
                </a:moveTo>
                <a:lnTo>
                  <a:pt x="478053" y="902837"/>
                </a:lnTo>
                <a:lnTo>
                  <a:pt x="478053" y="986399"/>
                </a:lnTo>
                <a:lnTo>
                  <a:pt x="506022" y="986399"/>
                </a:lnTo>
                <a:lnTo>
                  <a:pt x="506022" y="902837"/>
                </a:lnTo>
                <a:close/>
                <a:moveTo>
                  <a:pt x="945866" y="916692"/>
                </a:moveTo>
                <a:cubicBezTo>
                  <a:pt x="930462" y="916692"/>
                  <a:pt x="917897" y="929171"/>
                  <a:pt x="917897" y="944575"/>
                </a:cubicBezTo>
                <a:cubicBezTo>
                  <a:pt x="917897" y="959979"/>
                  <a:pt x="930462" y="972458"/>
                  <a:pt x="945866" y="972458"/>
                </a:cubicBezTo>
                <a:cubicBezTo>
                  <a:pt x="961270" y="972458"/>
                  <a:pt x="973835" y="959979"/>
                  <a:pt x="973835" y="944575"/>
                </a:cubicBezTo>
                <a:cubicBezTo>
                  <a:pt x="973835" y="929171"/>
                  <a:pt x="961356" y="916692"/>
                  <a:pt x="945866" y="916692"/>
                </a:cubicBezTo>
                <a:close/>
              </a:path>
            </a:pathLst>
          </a:custGeom>
          <a:solidFill>
            <a:schemeClr val="bg1"/>
          </a:solidFill>
          <a:ln w="8603"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16" name="Graphic 17">
            <a:extLst>
              <a:ext uri="{FF2B5EF4-FFF2-40B4-BE49-F238E27FC236}">
                <a16:creationId xmlns:a16="http://schemas.microsoft.com/office/drawing/2014/main" id="{75A726FE-7788-C047-AAE1-81FE6B5F0CE3}"/>
              </a:ext>
              <a:ext uri="{C183D7F6-B498-43B3-948B-1728B52AA6E4}">
                <adec:decorative xmlns:adec="http://schemas.microsoft.com/office/drawing/2017/decorative" val="1"/>
              </a:ext>
            </a:extLst>
          </p:cNvPr>
          <p:cNvSpPr/>
          <p:nvPr/>
        </p:nvSpPr>
        <p:spPr>
          <a:xfrm>
            <a:off x="5802698" y="5062142"/>
            <a:ext cx="579114" cy="575739"/>
          </a:xfrm>
          <a:custGeom>
            <a:avLst/>
            <a:gdLst>
              <a:gd name="connsiteX0" fmla="*/ 1034850 w 1062819"/>
              <a:gd name="connsiteY0" fmla="*/ 27969 h 1056622"/>
              <a:gd name="connsiteX1" fmla="*/ 1034850 w 1062819"/>
              <a:gd name="connsiteY1" fmla="*/ 195782 h 1056622"/>
              <a:gd name="connsiteX2" fmla="*/ 27969 w 1062819"/>
              <a:gd name="connsiteY2" fmla="*/ 195782 h 1056622"/>
              <a:gd name="connsiteX3" fmla="*/ 27969 w 1062819"/>
              <a:gd name="connsiteY3" fmla="*/ 27969 h 1056622"/>
              <a:gd name="connsiteX4" fmla="*/ 1034850 w 1062819"/>
              <a:gd name="connsiteY4" fmla="*/ 27969 h 1056622"/>
              <a:gd name="connsiteX5" fmla="*/ 1062819 w 1062819"/>
              <a:gd name="connsiteY5" fmla="*/ 0 h 1056622"/>
              <a:gd name="connsiteX6" fmla="*/ 0 w 1062819"/>
              <a:gd name="connsiteY6" fmla="*/ 0 h 1056622"/>
              <a:gd name="connsiteX7" fmla="*/ 0 w 1062819"/>
              <a:gd name="connsiteY7" fmla="*/ 223751 h 1056622"/>
              <a:gd name="connsiteX8" fmla="*/ 1062819 w 1062819"/>
              <a:gd name="connsiteY8" fmla="*/ 223751 h 1056622"/>
              <a:gd name="connsiteX9" fmla="*/ 1062819 w 1062819"/>
              <a:gd name="connsiteY9" fmla="*/ 0 h 1056622"/>
              <a:gd name="connsiteX10" fmla="*/ 1062819 w 1062819"/>
              <a:gd name="connsiteY10" fmla="*/ 0 h 1056622"/>
              <a:gd name="connsiteX11" fmla="*/ 113253 w 1062819"/>
              <a:gd name="connsiteY11" fmla="*/ 70137 h 1056622"/>
              <a:gd name="connsiteX12" fmla="*/ 85284 w 1062819"/>
              <a:gd name="connsiteY12" fmla="*/ 70137 h 1056622"/>
              <a:gd name="connsiteX13" fmla="*/ 85284 w 1062819"/>
              <a:gd name="connsiteY13" fmla="*/ 153614 h 1056622"/>
              <a:gd name="connsiteX14" fmla="*/ 113253 w 1062819"/>
              <a:gd name="connsiteY14" fmla="*/ 153614 h 1056622"/>
              <a:gd name="connsiteX15" fmla="*/ 113253 w 1062819"/>
              <a:gd name="connsiteY15" fmla="*/ 70137 h 1056622"/>
              <a:gd name="connsiteX16" fmla="*/ 169363 w 1062819"/>
              <a:gd name="connsiteY16" fmla="*/ 70137 h 1056622"/>
              <a:gd name="connsiteX17" fmla="*/ 141394 w 1062819"/>
              <a:gd name="connsiteY17" fmla="*/ 70137 h 1056622"/>
              <a:gd name="connsiteX18" fmla="*/ 141394 w 1062819"/>
              <a:gd name="connsiteY18" fmla="*/ 153614 h 1056622"/>
              <a:gd name="connsiteX19" fmla="*/ 169363 w 1062819"/>
              <a:gd name="connsiteY19" fmla="*/ 153614 h 1056622"/>
              <a:gd name="connsiteX20" fmla="*/ 169363 w 1062819"/>
              <a:gd name="connsiteY20" fmla="*/ 70137 h 1056622"/>
              <a:gd name="connsiteX21" fmla="*/ 225473 w 1062819"/>
              <a:gd name="connsiteY21" fmla="*/ 70137 h 1056622"/>
              <a:gd name="connsiteX22" fmla="*/ 197504 w 1062819"/>
              <a:gd name="connsiteY22" fmla="*/ 70137 h 1056622"/>
              <a:gd name="connsiteX23" fmla="*/ 197504 w 1062819"/>
              <a:gd name="connsiteY23" fmla="*/ 153614 h 1056622"/>
              <a:gd name="connsiteX24" fmla="*/ 225473 w 1062819"/>
              <a:gd name="connsiteY24" fmla="*/ 153614 h 1056622"/>
              <a:gd name="connsiteX25" fmla="*/ 225473 w 1062819"/>
              <a:gd name="connsiteY25" fmla="*/ 70137 h 1056622"/>
              <a:gd name="connsiteX26" fmla="*/ 281583 w 1062819"/>
              <a:gd name="connsiteY26" fmla="*/ 70137 h 1056622"/>
              <a:gd name="connsiteX27" fmla="*/ 253614 w 1062819"/>
              <a:gd name="connsiteY27" fmla="*/ 70137 h 1056622"/>
              <a:gd name="connsiteX28" fmla="*/ 253614 w 1062819"/>
              <a:gd name="connsiteY28" fmla="*/ 153614 h 1056622"/>
              <a:gd name="connsiteX29" fmla="*/ 281583 w 1062819"/>
              <a:gd name="connsiteY29" fmla="*/ 153614 h 1056622"/>
              <a:gd name="connsiteX30" fmla="*/ 281583 w 1062819"/>
              <a:gd name="connsiteY30" fmla="*/ 70137 h 1056622"/>
              <a:gd name="connsiteX31" fmla="*/ 337693 w 1062819"/>
              <a:gd name="connsiteY31" fmla="*/ 70137 h 1056622"/>
              <a:gd name="connsiteX32" fmla="*/ 309724 w 1062819"/>
              <a:gd name="connsiteY32" fmla="*/ 70137 h 1056622"/>
              <a:gd name="connsiteX33" fmla="*/ 309724 w 1062819"/>
              <a:gd name="connsiteY33" fmla="*/ 153614 h 1056622"/>
              <a:gd name="connsiteX34" fmla="*/ 337693 w 1062819"/>
              <a:gd name="connsiteY34" fmla="*/ 153614 h 1056622"/>
              <a:gd name="connsiteX35" fmla="*/ 337693 w 1062819"/>
              <a:gd name="connsiteY35" fmla="*/ 70137 h 1056622"/>
              <a:gd name="connsiteX36" fmla="*/ 393802 w 1062819"/>
              <a:gd name="connsiteY36" fmla="*/ 70137 h 1056622"/>
              <a:gd name="connsiteX37" fmla="*/ 365834 w 1062819"/>
              <a:gd name="connsiteY37" fmla="*/ 70137 h 1056622"/>
              <a:gd name="connsiteX38" fmla="*/ 365834 w 1062819"/>
              <a:gd name="connsiteY38" fmla="*/ 153614 h 1056622"/>
              <a:gd name="connsiteX39" fmla="*/ 393802 w 1062819"/>
              <a:gd name="connsiteY39" fmla="*/ 153614 h 1056622"/>
              <a:gd name="connsiteX40" fmla="*/ 393802 w 1062819"/>
              <a:gd name="connsiteY40" fmla="*/ 70137 h 1056622"/>
              <a:gd name="connsiteX41" fmla="*/ 449912 w 1062819"/>
              <a:gd name="connsiteY41" fmla="*/ 70137 h 1056622"/>
              <a:gd name="connsiteX42" fmla="*/ 421943 w 1062819"/>
              <a:gd name="connsiteY42" fmla="*/ 70137 h 1056622"/>
              <a:gd name="connsiteX43" fmla="*/ 421943 w 1062819"/>
              <a:gd name="connsiteY43" fmla="*/ 153614 h 1056622"/>
              <a:gd name="connsiteX44" fmla="*/ 449912 w 1062819"/>
              <a:gd name="connsiteY44" fmla="*/ 153614 h 1056622"/>
              <a:gd name="connsiteX45" fmla="*/ 449912 w 1062819"/>
              <a:gd name="connsiteY45" fmla="*/ 70137 h 1056622"/>
              <a:gd name="connsiteX46" fmla="*/ 506022 w 1062819"/>
              <a:gd name="connsiteY46" fmla="*/ 70137 h 1056622"/>
              <a:gd name="connsiteX47" fmla="*/ 478053 w 1062819"/>
              <a:gd name="connsiteY47" fmla="*/ 70137 h 1056622"/>
              <a:gd name="connsiteX48" fmla="*/ 478053 w 1062819"/>
              <a:gd name="connsiteY48" fmla="*/ 153614 h 1056622"/>
              <a:gd name="connsiteX49" fmla="*/ 506022 w 1062819"/>
              <a:gd name="connsiteY49" fmla="*/ 153614 h 1056622"/>
              <a:gd name="connsiteX50" fmla="*/ 506022 w 1062819"/>
              <a:gd name="connsiteY50" fmla="*/ 70137 h 1056622"/>
              <a:gd name="connsiteX51" fmla="*/ 945866 w 1062819"/>
              <a:gd name="connsiteY51" fmla="*/ 84423 h 1056622"/>
              <a:gd name="connsiteX52" fmla="*/ 917897 w 1062819"/>
              <a:gd name="connsiteY52" fmla="*/ 112392 h 1056622"/>
              <a:gd name="connsiteX53" fmla="*/ 945866 w 1062819"/>
              <a:gd name="connsiteY53" fmla="*/ 140361 h 1056622"/>
              <a:gd name="connsiteX54" fmla="*/ 973835 w 1062819"/>
              <a:gd name="connsiteY54" fmla="*/ 112392 h 1056622"/>
              <a:gd name="connsiteX55" fmla="*/ 945866 w 1062819"/>
              <a:gd name="connsiteY55" fmla="*/ 84423 h 1056622"/>
              <a:gd name="connsiteX56" fmla="*/ 1034850 w 1062819"/>
              <a:gd name="connsiteY56" fmla="*/ 306281 h 1056622"/>
              <a:gd name="connsiteX57" fmla="*/ 1034850 w 1062819"/>
              <a:gd name="connsiteY57" fmla="*/ 474095 h 1056622"/>
              <a:gd name="connsiteX58" fmla="*/ 27969 w 1062819"/>
              <a:gd name="connsiteY58" fmla="*/ 474095 h 1056622"/>
              <a:gd name="connsiteX59" fmla="*/ 27969 w 1062819"/>
              <a:gd name="connsiteY59" fmla="*/ 306281 h 1056622"/>
              <a:gd name="connsiteX60" fmla="*/ 1034850 w 1062819"/>
              <a:gd name="connsiteY60" fmla="*/ 306281 h 1056622"/>
              <a:gd name="connsiteX61" fmla="*/ 1062819 w 1062819"/>
              <a:gd name="connsiteY61" fmla="*/ 278312 h 1056622"/>
              <a:gd name="connsiteX62" fmla="*/ 0 w 1062819"/>
              <a:gd name="connsiteY62" fmla="*/ 278312 h 1056622"/>
              <a:gd name="connsiteX63" fmla="*/ 0 w 1062819"/>
              <a:gd name="connsiteY63" fmla="*/ 502064 h 1056622"/>
              <a:gd name="connsiteX64" fmla="*/ 1062819 w 1062819"/>
              <a:gd name="connsiteY64" fmla="*/ 502064 h 1056622"/>
              <a:gd name="connsiteX65" fmla="*/ 1062819 w 1062819"/>
              <a:gd name="connsiteY65" fmla="*/ 278312 h 1056622"/>
              <a:gd name="connsiteX66" fmla="*/ 1062819 w 1062819"/>
              <a:gd name="connsiteY66" fmla="*/ 278312 h 1056622"/>
              <a:gd name="connsiteX67" fmla="*/ 113253 w 1062819"/>
              <a:gd name="connsiteY67" fmla="*/ 348450 h 1056622"/>
              <a:gd name="connsiteX68" fmla="*/ 85284 w 1062819"/>
              <a:gd name="connsiteY68" fmla="*/ 348450 h 1056622"/>
              <a:gd name="connsiteX69" fmla="*/ 85284 w 1062819"/>
              <a:gd name="connsiteY69" fmla="*/ 431926 h 1056622"/>
              <a:gd name="connsiteX70" fmla="*/ 113253 w 1062819"/>
              <a:gd name="connsiteY70" fmla="*/ 431926 h 1056622"/>
              <a:gd name="connsiteX71" fmla="*/ 113253 w 1062819"/>
              <a:gd name="connsiteY71" fmla="*/ 348450 h 1056622"/>
              <a:gd name="connsiteX72" fmla="*/ 169363 w 1062819"/>
              <a:gd name="connsiteY72" fmla="*/ 348450 h 1056622"/>
              <a:gd name="connsiteX73" fmla="*/ 141394 w 1062819"/>
              <a:gd name="connsiteY73" fmla="*/ 348450 h 1056622"/>
              <a:gd name="connsiteX74" fmla="*/ 141394 w 1062819"/>
              <a:gd name="connsiteY74" fmla="*/ 431926 h 1056622"/>
              <a:gd name="connsiteX75" fmla="*/ 169363 w 1062819"/>
              <a:gd name="connsiteY75" fmla="*/ 431926 h 1056622"/>
              <a:gd name="connsiteX76" fmla="*/ 169363 w 1062819"/>
              <a:gd name="connsiteY76" fmla="*/ 348450 h 1056622"/>
              <a:gd name="connsiteX77" fmla="*/ 225473 w 1062819"/>
              <a:gd name="connsiteY77" fmla="*/ 348450 h 1056622"/>
              <a:gd name="connsiteX78" fmla="*/ 197504 w 1062819"/>
              <a:gd name="connsiteY78" fmla="*/ 348450 h 1056622"/>
              <a:gd name="connsiteX79" fmla="*/ 197504 w 1062819"/>
              <a:gd name="connsiteY79" fmla="*/ 431926 h 1056622"/>
              <a:gd name="connsiteX80" fmla="*/ 225473 w 1062819"/>
              <a:gd name="connsiteY80" fmla="*/ 431926 h 1056622"/>
              <a:gd name="connsiteX81" fmla="*/ 225473 w 1062819"/>
              <a:gd name="connsiteY81" fmla="*/ 348450 h 1056622"/>
              <a:gd name="connsiteX82" fmla="*/ 281583 w 1062819"/>
              <a:gd name="connsiteY82" fmla="*/ 348450 h 1056622"/>
              <a:gd name="connsiteX83" fmla="*/ 253614 w 1062819"/>
              <a:gd name="connsiteY83" fmla="*/ 348450 h 1056622"/>
              <a:gd name="connsiteX84" fmla="*/ 253614 w 1062819"/>
              <a:gd name="connsiteY84" fmla="*/ 431926 h 1056622"/>
              <a:gd name="connsiteX85" fmla="*/ 281583 w 1062819"/>
              <a:gd name="connsiteY85" fmla="*/ 431926 h 1056622"/>
              <a:gd name="connsiteX86" fmla="*/ 281583 w 1062819"/>
              <a:gd name="connsiteY86" fmla="*/ 348450 h 1056622"/>
              <a:gd name="connsiteX87" fmla="*/ 337693 w 1062819"/>
              <a:gd name="connsiteY87" fmla="*/ 348450 h 1056622"/>
              <a:gd name="connsiteX88" fmla="*/ 309724 w 1062819"/>
              <a:gd name="connsiteY88" fmla="*/ 348450 h 1056622"/>
              <a:gd name="connsiteX89" fmla="*/ 309724 w 1062819"/>
              <a:gd name="connsiteY89" fmla="*/ 431926 h 1056622"/>
              <a:gd name="connsiteX90" fmla="*/ 337693 w 1062819"/>
              <a:gd name="connsiteY90" fmla="*/ 431926 h 1056622"/>
              <a:gd name="connsiteX91" fmla="*/ 337693 w 1062819"/>
              <a:gd name="connsiteY91" fmla="*/ 348450 h 1056622"/>
              <a:gd name="connsiteX92" fmla="*/ 393802 w 1062819"/>
              <a:gd name="connsiteY92" fmla="*/ 348450 h 1056622"/>
              <a:gd name="connsiteX93" fmla="*/ 365834 w 1062819"/>
              <a:gd name="connsiteY93" fmla="*/ 348450 h 1056622"/>
              <a:gd name="connsiteX94" fmla="*/ 365834 w 1062819"/>
              <a:gd name="connsiteY94" fmla="*/ 431926 h 1056622"/>
              <a:gd name="connsiteX95" fmla="*/ 393802 w 1062819"/>
              <a:gd name="connsiteY95" fmla="*/ 431926 h 1056622"/>
              <a:gd name="connsiteX96" fmla="*/ 393802 w 1062819"/>
              <a:gd name="connsiteY96" fmla="*/ 348450 h 1056622"/>
              <a:gd name="connsiteX97" fmla="*/ 449912 w 1062819"/>
              <a:gd name="connsiteY97" fmla="*/ 348450 h 1056622"/>
              <a:gd name="connsiteX98" fmla="*/ 421943 w 1062819"/>
              <a:gd name="connsiteY98" fmla="*/ 348450 h 1056622"/>
              <a:gd name="connsiteX99" fmla="*/ 421943 w 1062819"/>
              <a:gd name="connsiteY99" fmla="*/ 431926 h 1056622"/>
              <a:gd name="connsiteX100" fmla="*/ 449912 w 1062819"/>
              <a:gd name="connsiteY100" fmla="*/ 431926 h 1056622"/>
              <a:gd name="connsiteX101" fmla="*/ 449912 w 1062819"/>
              <a:gd name="connsiteY101" fmla="*/ 348450 h 1056622"/>
              <a:gd name="connsiteX102" fmla="*/ 506022 w 1062819"/>
              <a:gd name="connsiteY102" fmla="*/ 348450 h 1056622"/>
              <a:gd name="connsiteX103" fmla="*/ 478053 w 1062819"/>
              <a:gd name="connsiteY103" fmla="*/ 348450 h 1056622"/>
              <a:gd name="connsiteX104" fmla="*/ 478053 w 1062819"/>
              <a:gd name="connsiteY104" fmla="*/ 431926 h 1056622"/>
              <a:gd name="connsiteX105" fmla="*/ 506022 w 1062819"/>
              <a:gd name="connsiteY105" fmla="*/ 431926 h 1056622"/>
              <a:gd name="connsiteX106" fmla="*/ 506022 w 1062819"/>
              <a:gd name="connsiteY106" fmla="*/ 348450 h 1056622"/>
              <a:gd name="connsiteX107" fmla="*/ 945866 w 1062819"/>
              <a:gd name="connsiteY107" fmla="*/ 362391 h 1056622"/>
              <a:gd name="connsiteX108" fmla="*/ 917897 w 1062819"/>
              <a:gd name="connsiteY108" fmla="*/ 390188 h 1056622"/>
              <a:gd name="connsiteX109" fmla="*/ 945866 w 1062819"/>
              <a:gd name="connsiteY109" fmla="*/ 417985 h 1056622"/>
              <a:gd name="connsiteX110" fmla="*/ 973835 w 1062819"/>
              <a:gd name="connsiteY110" fmla="*/ 390188 h 1056622"/>
              <a:gd name="connsiteX111" fmla="*/ 945866 w 1062819"/>
              <a:gd name="connsiteY111" fmla="*/ 362391 h 1056622"/>
              <a:gd name="connsiteX112" fmla="*/ 1034850 w 1062819"/>
              <a:gd name="connsiteY112" fmla="*/ 582184 h 1056622"/>
              <a:gd name="connsiteX113" fmla="*/ 1034850 w 1062819"/>
              <a:gd name="connsiteY113" fmla="*/ 749997 h 1056622"/>
              <a:gd name="connsiteX114" fmla="*/ 27969 w 1062819"/>
              <a:gd name="connsiteY114" fmla="*/ 749997 h 1056622"/>
              <a:gd name="connsiteX115" fmla="*/ 27969 w 1062819"/>
              <a:gd name="connsiteY115" fmla="*/ 582184 h 1056622"/>
              <a:gd name="connsiteX116" fmla="*/ 1034850 w 1062819"/>
              <a:gd name="connsiteY116" fmla="*/ 582184 h 1056622"/>
              <a:gd name="connsiteX117" fmla="*/ 1062819 w 1062819"/>
              <a:gd name="connsiteY117" fmla="*/ 554215 h 1056622"/>
              <a:gd name="connsiteX118" fmla="*/ 0 w 1062819"/>
              <a:gd name="connsiteY118" fmla="*/ 554215 h 1056622"/>
              <a:gd name="connsiteX119" fmla="*/ 0 w 1062819"/>
              <a:gd name="connsiteY119" fmla="*/ 777966 h 1056622"/>
              <a:gd name="connsiteX120" fmla="*/ 1062819 w 1062819"/>
              <a:gd name="connsiteY120" fmla="*/ 777966 h 1056622"/>
              <a:gd name="connsiteX121" fmla="*/ 1062819 w 1062819"/>
              <a:gd name="connsiteY121" fmla="*/ 554215 h 1056622"/>
              <a:gd name="connsiteX122" fmla="*/ 1062819 w 1062819"/>
              <a:gd name="connsiteY122" fmla="*/ 554215 h 1056622"/>
              <a:gd name="connsiteX123" fmla="*/ 113253 w 1062819"/>
              <a:gd name="connsiteY123" fmla="*/ 624352 h 1056622"/>
              <a:gd name="connsiteX124" fmla="*/ 85284 w 1062819"/>
              <a:gd name="connsiteY124" fmla="*/ 624352 h 1056622"/>
              <a:gd name="connsiteX125" fmla="*/ 85284 w 1062819"/>
              <a:gd name="connsiteY125" fmla="*/ 707829 h 1056622"/>
              <a:gd name="connsiteX126" fmla="*/ 113253 w 1062819"/>
              <a:gd name="connsiteY126" fmla="*/ 707829 h 1056622"/>
              <a:gd name="connsiteX127" fmla="*/ 113253 w 1062819"/>
              <a:gd name="connsiteY127" fmla="*/ 624352 h 1056622"/>
              <a:gd name="connsiteX128" fmla="*/ 169363 w 1062819"/>
              <a:gd name="connsiteY128" fmla="*/ 624352 h 1056622"/>
              <a:gd name="connsiteX129" fmla="*/ 141394 w 1062819"/>
              <a:gd name="connsiteY129" fmla="*/ 624352 h 1056622"/>
              <a:gd name="connsiteX130" fmla="*/ 141394 w 1062819"/>
              <a:gd name="connsiteY130" fmla="*/ 707829 h 1056622"/>
              <a:gd name="connsiteX131" fmla="*/ 169363 w 1062819"/>
              <a:gd name="connsiteY131" fmla="*/ 707829 h 1056622"/>
              <a:gd name="connsiteX132" fmla="*/ 169363 w 1062819"/>
              <a:gd name="connsiteY132" fmla="*/ 624352 h 1056622"/>
              <a:gd name="connsiteX133" fmla="*/ 225473 w 1062819"/>
              <a:gd name="connsiteY133" fmla="*/ 624352 h 1056622"/>
              <a:gd name="connsiteX134" fmla="*/ 197504 w 1062819"/>
              <a:gd name="connsiteY134" fmla="*/ 624352 h 1056622"/>
              <a:gd name="connsiteX135" fmla="*/ 197504 w 1062819"/>
              <a:gd name="connsiteY135" fmla="*/ 707829 h 1056622"/>
              <a:gd name="connsiteX136" fmla="*/ 225473 w 1062819"/>
              <a:gd name="connsiteY136" fmla="*/ 707829 h 1056622"/>
              <a:gd name="connsiteX137" fmla="*/ 225473 w 1062819"/>
              <a:gd name="connsiteY137" fmla="*/ 624352 h 1056622"/>
              <a:gd name="connsiteX138" fmla="*/ 281583 w 1062819"/>
              <a:gd name="connsiteY138" fmla="*/ 624352 h 1056622"/>
              <a:gd name="connsiteX139" fmla="*/ 253614 w 1062819"/>
              <a:gd name="connsiteY139" fmla="*/ 624352 h 1056622"/>
              <a:gd name="connsiteX140" fmla="*/ 253614 w 1062819"/>
              <a:gd name="connsiteY140" fmla="*/ 707829 h 1056622"/>
              <a:gd name="connsiteX141" fmla="*/ 281583 w 1062819"/>
              <a:gd name="connsiteY141" fmla="*/ 707829 h 1056622"/>
              <a:gd name="connsiteX142" fmla="*/ 281583 w 1062819"/>
              <a:gd name="connsiteY142" fmla="*/ 624352 h 1056622"/>
              <a:gd name="connsiteX143" fmla="*/ 337693 w 1062819"/>
              <a:gd name="connsiteY143" fmla="*/ 624352 h 1056622"/>
              <a:gd name="connsiteX144" fmla="*/ 309724 w 1062819"/>
              <a:gd name="connsiteY144" fmla="*/ 624352 h 1056622"/>
              <a:gd name="connsiteX145" fmla="*/ 309724 w 1062819"/>
              <a:gd name="connsiteY145" fmla="*/ 707829 h 1056622"/>
              <a:gd name="connsiteX146" fmla="*/ 337693 w 1062819"/>
              <a:gd name="connsiteY146" fmla="*/ 707829 h 1056622"/>
              <a:gd name="connsiteX147" fmla="*/ 337693 w 1062819"/>
              <a:gd name="connsiteY147" fmla="*/ 624352 h 1056622"/>
              <a:gd name="connsiteX148" fmla="*/ 393802 w 1062819"/>
              <a:gd name="connsiteY148" fmla="*/ 624352 h 1056622"/>
              <a:gd name="connsiteX149" fmla="*/ 365834 w 1062819"/>
              <a:gd name="connsiteY149" fmla="*/ 624352 h 1056622"/>
              <a:gd name="connsiteX150" fmla="*/ 365834 w 1062819"/>
              <a:gd name="connsiteY150" fmla="*/ 707829 h 1056622"/>
              <a:gd name="connsiteX151" fmla="*/ 393802 w 1062819"/>
              <a:gd name="connsiteY151" fmla="*/ 707829 h 1056622"/>
              <a:gd name="connsiteX152" fmla="*/ 393802 w 1062819"/>
              <a:gd name="connsiteY152" fmla="*/ 624352 h 1056622"/>
              <a:gd name="connsiteX153" fmla="*/ 449912 w 1062819"/>
              <a:gd name="connsiteY153" fmla="*/ 624352 h 1056622"/>
              <a:gd name="connsiteX154" fmla="*/ 421943 w 1062819"/>
              <a:gd name="connsiteY154" fmla="*/ 624352 h 1056622"/>
              <a:gd name="connsiteX155" fmla="*/ 421943 w 1062819"/>
              <a:gd name="connsiteY155" fmla="*/ 707829 h 1056622"/>
              <a:gd name="connsiteX156" fmla="*/ 449912 w 1062819"/>
              <a:gd name="connsiteY156" fmla="*/ 707829 h 1056622"/>
              <a:gd name="connsiteX157" fmla="*/ 449912 w 1062819"/>
              <a:gd name="connsiteY157" fmla="*/ 624352 h 1056622"/>
              <a:gd name="connsiteX158" fmla="*/ 506022 w 1062819"/>
              <a:gd name="connsiteY158" fmla="*/ 624352 h 1056622"/>
              <a:gd name="connsiteX159" fmla="*/ 478053 w 1062819"/>
              <a:gd name="connsiteY159" fmla="*/ 624352 h 1056622"/>
              <a:gd name="connsiteX160" fmla="*/ 478053 w 1062819"/>
              <a:gd name="connsiteY160" fmla="*/ 707829 h 1056622"/>
              <a:gd name="connsiteX161" fmla="*/ 506022 w 1062819"/>
              <a:gd name="connsiteY161" fmla="*/ 707829 h 1056622"/>
              <a:gd name="connsiteX162" fmla="*/ 506022 w 1062819"/>
              <a:gd name="connsiteY162" fmla="*/ 624352 h 1056622"/>
              <a:gd name="connsiteX163" fmla="*/ 945866 w 1062819"/>
              <a:gd name="connsiteY163" fmla="*/ 638294 h 1056622"/>
              <a:gd name="connsiteX164" fmla="*/ 917897 w 1062819"/>
              <a:gd name="connsiteY164" fmla="*/ 666091 h 1056622"/>
              <a:gd name="connsiteX165" fmla="*/ 945866 w 1062819"/>
              <a:gd name="connsiteY165" fmla="*/ 693887 h 1056622"/>
              <a:gd name="connsiteX166" fmla="*/ 973835 w 1062819"/>
              <a:gd name="connsiteY166" fmla="*/ 666091 h 1056622"/>
              <a:gd name="connsiteX167" fmla="*/ 945866 w 1062819"/>
              <a:gd name="connsiteY167" fmla="*/ 638294 h 1056622"/>
              <a:gd name="connsiteX168" fmla="*/ 1034850 w 1062819"/>
              <a:gd name="connsiteY168" fmla="*/ 860582 h 1056622"/>
              <a:gd name="connsiteX169" fmla="*/ 1034850 w 1062819"/>
              <a:gd name="connsiteY169" fmla="*/ 1028654 h 1056622"/>
              <a:gd name="connsiteX170" fmla="*/ 27969 w 1062819"/>
              <a:gd name="connsiteY170" fmla="*/ 1028654 h 1056622"/>
              <a:gd name="connsiteX171" fmla="*/ 27969 w 1062819"/>
              <a:gd name="connsiteY171" fmla="*/ 860582 h 1056622"/>
              <a:gd name="connsiteX172" fmla="*/ 1034850 w 1062819"/>
              <a:gd name="connsiteY172" fmla="*/ 860582 h 1056622"/>
              <a:gd name="connsiteX173" fmla="*/ 1062819 w 1062819"/>
              <a:gd name="connsiteY173" fmla="*/ 832613 h 1056622"/>
              <a:gd name="connsiteX174" fmla="*/ 0 w 1062819"/>
              <a:gd name="connsiteY174" fmla="*/ 832613 h 1056622"/>
              <a:gd name="connsiteX175" fmla="*/ 0 w 1062819"/>
              <a:gd name="connsiteY175" fmla="*/ 1056623 h 1056622"/>
              <a:gd name="connsiteX176" fmla="*/ 1062819 w 1062819"/>
              <a:gd name="connsiteY176" fmla="*/ 1056623 h 1056622"/>
              <a:gd name="connsiteX177" fmla="*/ 1062819 w 1062819"/>
              <a:gd name="connsiteY177" fmla="*/ 832613 h 1056622"/>
              <a:gd name="connsiteX178" fmla="*/ 1062819 w 1062819"/>
              <a:gd name="connsiteY178" fmla="*/ 832613 h 1056622"/>
              <a:gd name="connsiteX179" fmla="*/ 113253 w 1062819"/>
              <a:gd name="connsiteY179" fmla="*/ 902837 h 1056622"/>
              <a:gd name="connsiteX180" fmla="*/ 85284 w 1062819"/>
              <a:gd name="connsiteY180" fmla="*/ 902837 h 1056622"/>
              <a:gd name="connsiteX181" fmla="*/ 85284 w 1062819"/>
              <a:gd name="connsiteY181" fmla="*/ 986399 h 1056622"/>
              <a:gd name="connsiteX182" fmla="*/ 113253 w 1062819"/>
              <a:gd name="connsiteY182" fmla="*/ 986399 h 1056622"/>
              <a:gd name="connsiteX183" fmla="*/ 113253 w 1062819"/>
              <a:gd name="connsiteY183" fmla="*/ 902837 h 1056622"/>
              <a:gd name="connsiteX184" fmla="*/ 169363 w 1062819"/>
              <a:gd name="connsiteY184" fmla="*/ 902837 h 1056622"/>
              <a:gd name="connsiteX185" fmla="*/ 141394 w 1062819"/>
              <a:gd name="connsiteY185" fmla="*/ 902837 h 1056622"/>
              <a:gd name="connsiteX186" fmla="*/ 141394 w 1062819"/>
              <a:gd name="connsiteY186" fmla="*/ 986399 h 1056622"/>
              <a:gd name="connsiteX187" fmla="*/ 169363 w 1062819"/>
              <a:gd name="connsiteY187" fmla="*/ 986399 h 1056622"/>
              <a:gd name="connsiteX188" fmla="*/ 169363 w 1062819"/>
              <a:gd name="connsiteY188" fmla="*/ 902837 h 1056622"/>
              <a:gd name="connsiteX189" fmla="*/ 225473 w 1062819"/>
              <a:gd name="connsiteY189" fmla="*/ 902837 h 1056622"/>
              <a:gd name="connsiteX190" fmla="*/ 197504 w 1062819"/>
              <a:gd name="connsiteY190" fmla="*/ 902837 h 1056622"/>
              <a:gd name="connsiteX191" fmla="*/ 197504 w 1062819"/>
              <a:gd name="connsiteY191" fmla="*/ 986399 h 1056622"/>
              <a:gd name="connsiteX192" fmla="*/ 225473 w 1062819"/>
              <a:gd name="connsiteY192" fmla="*/ 986399 h 1056622"/>
              <a:gd name="connsiteX193" fmla="*/ 225473 w 1062819"/>
              <a:gd name="connsiteY193" fmla="*/ 902837 h 1056622"/>
              <a:gd name="connsiteX194" fmla="*/ 281583 w 1062819"/>
              <a:gd name="connsiteY194" fmla="*/ 902837 h 1056622"/>
              <a:gd name="connsiteX195" fmla="*/ 253614 w 1062819"/>
              <a:gd name="connsiteY195" fmla="*/ 902837 h 1056622"/>
              <a:gd name="connsiteX196" fmla="*/ 253614 w 1062819"/>
              <a:gd name="connsiteY196" fmla="*/ 986399 h 1056622"/>
              <a:gd name="connsiteX197" fmla="*/ 281583 w 1062819"/>
              <a:gd name="connsiteY197" fmla="*/ 986399 h 1056622"/>
              <a:gd name="connsiteX198" fmla="*/ 281583 w 1062819"/>
              <a:gd name="connsiteY198" fmla="*/ 902837 h 1056622"/>
              <a:gd name="connsiteX199" fmla="*/ 337693 w 1062819"/>
              <a:gd name="connsiteY199" fmla="*/ 902837 h 1056622"/>
              <a:gd name="connsiteX200" fmla="*/ 309724 w 1062819"/>
              <a:gd name="connsiteY200" fmla="*/ 902837 h 1056622"/>
              <a:gd name="connsiteX201" fmla="*/ 309724 w 1062819"/>
              <a:gd name="connsiteY201" fmla="*/ 986399 h 1056622"/>
              <a:gd name="connsiteX202" fmla="*/ 337693 w 1062819"/>
              <a:gd name="connsiteY202" fmla="*/ 986399 h 1056622"/>
              <a:gd name="connsiteX203" fmla="*/ 337693 w 1062819"/>
              <a:gd name="connsiteY203" fmla="*/ 902837 h 1056622"/>
              <a:gd name="connsiteX204" fmla="*/ 393802 w 1062819"/>
              <a:gd name="connsiteY204" fmla="*/ 902837 h 1056622"/>
              <a:gd name="connsiteX205" fmla="*/ 365834 w 1062819"/>
              <a:gd name="connsiteY205" fmla="*/ 902837 h 1056622"/>
              <a:gd name="connsiteX206" fmla="*/ 365834 w 1062819"/>
              <a:gd name="connsiteY206" fmla="*/ 986399 h 1056622"/>
              <a:gd name="connsiteX207" fmla="*/ 393802 w 1062819"/>
              <a:gd name="connsiteY207" fmla="*/ 986399 h 1056622"/>
              <a:gd name="connsiteX208" fmla="*/ 393802 w 1062819"/>
              <a:gd name="connsiteY208" fmla="*/ 902837 h 1056622"/>
              <a:gd name="connsiteX209" fmla="*/ 449912 w 1062819"/>
              <a:gd name="connsiteY209" fmla="*/ 902837 h 1056622"/>
              <a:gd name="connsiteX210" fmla="*/ 421943 w 1062819"/>
              <a:gd name="connsiteY210" fmla="*/ 902837 h 1056622"/>
              <a:gd name="connsiteX211" fmla="*/ 421943 w 1062819"/>
              <a:gd name="connsiteY211" fmla="*/ 986399 h 1056622"/>
              <a:gd name="connsiteX212" fmla="*/ 449912 w 1062819"/>
              <a:gd name="connsiteY212" fmla="*/ 986399 h 1056622"/>
              <a:gd name="connsiteX213" fmla="*/ 449912 w 1062819"/>
              <a:gd name="connsiteY213" fmla="*/ 902837 h 1056622"/>
              <a:gd name="connsiteX214" fmla="*/ 506022 w 1062819"/>
              <a:gd name="connsiteY214" fmla="*/ 902837 h 1056622"/>
              <a:gd name="connsiteX215" fmla="*/ 478053 w 1062819"/>
              <a:gd name="connsiteY215" fmla="*/ 902837 h 1056622"/>
              <a:gd name="connsiteX216" fmla="*/ 478053 w 1062819"/>
              <a:gd name="connsiteY216" fmla="*/ 986399 h 1056622"/>
              <a:gd name="connsiteX217" fmla="*/ 506022 w 1062819"/>
              <a:gd name="connsiteY217" fmla="*/ 986399 h 1056622"/>
              <a:gd name="connsiteX218" fmla="*/ 506022 w 1062819"/>
              <a:gd name="connsiteY218" fmla="*/ 902837 h 1056622"/>
              <a:gd name="connsiteX219" fmla="*/ 945866 w 1062819"/>
              <a:gd name="connsiteY219" fmla="*/ 916692 h 1056622"/>
              <a:gd name="connsiteX220" fmla="*/ 917897 w 1062819"/>
              <a:gd name="connsiteY220" fmla="*/ 944575 h 1056622"/>
              <a:gd name="connsiteX221" fmla="*/ 945866 w 1062819"/>
              <a:gd name="connsiteY221" fmla="*/ 972458 h 1056622"/>
              <a:gd name="connsiteX222" fmla="*/ 973835 w 1062819"/>
              <a:gd name="connsiteY222" fmla="*/ 944575 h 1056622"/>
              <a:gd name="connsiteX223" fmla="*/ 945866 w 1062819"/>
              <a:gd name="connsiteY223" fmla="*/ 916692 h 1056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Lst>
            <a:rect l="l" t="t" r="r" b="b"/>
            <a:pathLst>
              <a:path w="1062819" h="1056622">
                <a:moveTo>
                  <a:pt x="1034850" y="27969"/>
                </a:moveTo>
                <a:lnTo>
                  <a:pt x="1034850" y="195782"/>
                </a:lnTo>
                <a:lnTo>
                  <a:pt x="27969" y="195782"/>
                </a:lnTo>
                <a:lnTo>
                  <a:pt x="27969" y="27969"/>
                </a:lnTo>
                <a:lnTo>
                  <a:pt x="1034850" y="27969"/>
                </a:lnTo>
                <a:moveTo>
                  <a:pt x="1062819" y="0"/>
                </a:moveTo>
                <a:lnTo>
                  <a:pt x="0" y="0"/>
                </a:lnTo>
                <a:lnTo>
                  <a:pt x="0" y="223751"/>
                </a:lnTo>
                <a:lnTo>
                  <a:pt x="1062819" y="223751"/>
                </a:lnTo>
                <a:lnTo>
                  <a:pt x="1062819" y="0"/>
                </a:lnTo>
                <a:lnTo>
                  <a:pt x="1062819" y="0"/>
                </a:lnTo>
                <a:close/>
                <a:moveTo>
                  <a:pt x="113253" y="70137"/>
                </a:moveTo>
                <a:lnTo>
                  <a:pt x="85284" y="70137"/>
                </a:lnTo>
                <a:lnTo>
                  <a:pt x="85284" y="153614"/>
                </a:lnTo>
                <a:lnTo>
                  <a:pt x="113253" y="153614"/>
                </a:lnTo>
                <a:lnTo>
                  <a:pt x="113253" y="70137"/>
                </a:lnTo>
                <a:close/>
                <a:moveTo>
                  <a:pt x="169363" y="70137"/>
                </a:moveTo>
                <a:lnTo>
                  <a:pt x="141394" y="70137"/>
                </a:lnTo>
                <a:lnTo>
                  <a:pt x="141394" y="153614"/>
                </a:lnTo>
                <a:lnTo>
                  <a:pt x="169363" y="153614"/>
                </a:lnTo>
                <a:lnTo>
                  <a:pt x="169363" y="70137"/>
                </a:lnTo>
                <a:close/>
                <a:moveTo>
                  <a:pt x="225473" y="70137"/>
                </a:moveTo>
                <a:lnTo>
                  <a:pt x="197504" y="70137"/>
                </a:lnTo>
                <a:lnTo>
                  <a:pt x="197504" y="153614"/>
                </a:lnTo>
                <a:lnTo>
                  <a:pt x="225473" y="153614"/>
                </a:lnTo>
                <a:lnTo>
                  <a:pt x="225473" y="70137"/>
                </a:lnTo>
                <a:close/>
                <a:moveTo>
                  <a:pt x="281583" y="70137"/>
                </a:moveTo>
                <a:lnTo>
                  <a:pt x="253614" y="70137"/>
                </a:lnTo>
                <a:lnTo>
                  <a:pt x="253614" y="153614"/>
                </a:lnTo>
                <a:lnTo>
                  <a:pt x="281583" y="153614"/>
                </a:lnTo>
                <a:lnTo>
                  <a:pt x="281583" y="70137"/>
                </a:lnTo>
                <a:close/>
                <a:moveTo>
                  <a:pt x="337693" y="70137"/>
                </a:moveTo>
                <a:lnTo>
                  <a:pt x="309724" y="70137"/>
                </a:lnTo>
                <a:lnTo>
                  <a:pt x="309724" y="153614"/>
                </a:lnTo>
                <a:lnTo>
                  <a:pt x="337693" y="153614"/>
                </a:lnTo>
                <a:lnTo>
                  <a:pt x="337693" y="70137"/>
                </a:lnTo>
                <a:close/>
                <a:moveTo>
                  <a:pt x="393802" y="70137"/>
                </a:moveTo>
                <a:lnTo>
                  <a:pt x="365834" y="70137"/>
                </a:lnTo>
                <a:lnTo>
                  <a:pt x="365834" y="153614"/>
                </a:lnTo>
                <a:lnTo>
                  <a:pt x="393802" y="153614"/>
                </a:lnTo>
                <a:lnTo>
                  <a:pt x="393802" y="70137"/>
                </a:lnTo>
                <a:close/>
                <a:moveTo>
                  <a:pt x="449912" y="70137"/>
                </a:moveTo>
                <a:lnTo>
                  <a:pt x="421943" y="70137"/>
                </a:lnTo>
                <a:lnTo>
                  <a:pt x="421943" y="153614"/>
                </a:lnTo>
                <a:lnTo>
                  <a:pt x="449912" y="153614"/>
                </a:lnTo>
                <a:lnTo>
                  <a:pt x="449912" y="70137"/>
                </a:lnTo>
                <a:close/>
                <a:moveTo>
                  <a:pt x="506022" y="70137"/>
                </a:moveTo>
                <a:lnTo>
                  <a:pt x="478053" y="70137"/>
                </a:lnTo>
                <a:lnTo>
                  <a:pt x="478053" y="153614"/>
                </a:lnTo>
                <a:lnTo>
                  <a:pt x="506022" y="153614"/>
                </a:lnTo>
                <a:lnTo>
                  <a:pt x="506022" y="70137"/>
                </a:lnTo>
                <a:close/>
                <a:moveTo>
                  <a:pt x="945866" y="84423"/>
                </a:moveTo>
                <a:cubicBezTo>
                  <a:pt x="930462" y="84423"/>
                  <a:pt x="917897" y="96988"/>
                  <a:pt x="917897" y="112392"/>
                </a:cubicBezTo>
                <a:cubicBezTo>
                  <a:pt x="917897" y="127796"/>
                  <a:pt x="930462" y="140361"/>
                  <a:pt x="945866" y="140361"/>
                </a:cubicBezTo>
                <a:cubicBezTo>
                  <a:pt x="961270" y="140361"/>
                  <a:pt x="973835" y="127796"/>
                  <a:pt x="973835" y="112392"/>
                </a:cubicBezTo>
                <a:cubicBezTo>
                  <a:pt x="973835" y="96988"/>
                  <a:pt x="961356" y="84423"/>
                  <a:pt x="945866" y="84423"/>
                </a:cubicBezTo>
                <a:close/>
                <a:moveTo>
                  <a:pt x="1034850" y="306281"/>
                </a:moveTo>
                <a:lnTo>
                  <a:pt x="1034850" y="474095"/>
                </a:lnTo>
                <a:lnTo>
                  <a:pt x="27969" y="474095"/>
                </a:lnTo>
                <a:lnTo>
                  <a:pt x="27969" y="306281"/>
                </a:lnTo>
                <a:lnTo>
                  <a:pt x="1034850" y="306281"/>
                </a:lnTo>
                <a:moveTo>
                  <a:pt x="1062819" y="278312"/>
                </a:moveTo>
                <a:lnTo>
                  <a:pt x="0" y="278312"/>
                </a:lnTo>
                <a:lnTo>
                  <a:pt x="0" y="502064"/>
                </a:lnTo>
                <a:lnTo>
                  <a:pt x="1062819" y="502064"/>
                </a:lnTo>
                <a:lnTo>
                  <a:pt x="1062819" y="278312"/>
                </a:lnTo>
                <a:lnTo>
                  <a:pt x="1062819" y="278312"/>
                </a:lnTo>
                <a:close/>
                <a:moveTo>
                  <a:pt x="113253" y="348450"/>
                </a:moveTo>
                <a:lnTo>
                  <a:pt x="85284" y="348450"/>
                </a:lnTo>
                <a:lnTo>
                  <a:pt x="85284" y="431926"/>
                </a:lnTo>
                <a:lnTo>
                  <a:pt x="113253" y="431926"/>
                </a:lnTo>
                <a:lnTo>
                  <a:pt x="113253" y="348450"/>
                </a:lnTo>
                <a:close/>
                <a:moveTo>
                  <a:pt x="169363" y="348450"/>
                </a:moveTo>
                <a:lnTo>
                  <a:pt x="141394" y="348450"/>
                </a:lnTo>
                <a:lnTo>
                  <a:pt x="141394" y="431926"/>
                </a:lnTo>
                <a:lnTo>
                  <a:pt x="169363" y="431926"/>
                </a:lnTo>
                <a:lnTo>
                  <a:pt x="169363" y="348450"/>
                </a:lnTo>
                <a:close/>
                <a:moveTo>
                  <a:pt x="225473" y="348450"/>
                </a:moveTo>
                <a:lnTo>
                  <a:pt x="197504" y="348450"/>
                </a:lnTo>
                <a:lnTo>
                  <a:pt x="197504" y="431926"/>
                </a:lnTo>
                <a:lnTo>
                  <a:pt x="225473" y="431926"/>
                </a:lnTo>
                <a:lnTo>
                  <a:pt x="225473" y="348450"/>
                </a:lnTo>
                <a:close/>
                <a:moveTo>
                  <a:pt x="281583" y="348450"/>
                </a:moveTo>
                <a:lnTo>
                  <a:pt x="253614" y="348450"/>
                </a:lnTo>
                <a:lnTo>
                  <a:pt x="253614" y="431926"/>
                </a:lnTo>
                <a:lnTo>
                  <a:pt x="281583" y="431926"/>
                </a:lnTo>
                <a:lnTo>
                  <a:pt x="281583" y="348450"/>
                </a:lnTo>
                <a:close/>
                <a:moveTo>
                  <a:pt x="337693" y="348450"/>
                </a:moveTo>
                <a:lnTo>
                  <a:pt x="309724" y="348450"/>
                </a:lnTo>
                <a:lnTo>
                  <a:pt x="309724" y="431926"/>
                </a:lnTo>
                <a:lnTo>
                  <a:pt x="337693" y="431926"/>
                </a:lnTo>
                <a:lnTo>
                  <a:pt x="337693" y="348450"/>
                </a:lnTo>
                <a:close/>
                <a:moveTo>
                  <a:pt x="393802" y="348450"/>
                </a:moveTo>
                <a:lnTo>
                  <a:pt x="365834" y="348450"/>
                </a:lnTo>
                <a:lnTo>
                  <a:pt x="365834" y="431926"/>
                </a:lnTo>
                <a:lnTo>
                  <a:pt x="393802" y="431926"/>
                </a:lnTo>
                <a:lnTo>
                  <a:pt x="393802" y="348450"/>
                </a:lnTo>
                <a:close/>
                <a:moveTo>
                  <a:pt x="449912" y="348450"/>
                </a:moveTo>
                <a:lnTo>
                  <a:pt x="421943" y="348450"/>
                </a:lnTo>
                <a:lnTo>
                  <a:pt x="421943" y="431926"/>
                </a:lnTo>
                <a:lnTo>
                  <a:pt x="449912" y="431926"/>
                </a:lnTo>
                <a:lnTo>
                  <a:pt x="449912" y="348450"/>
                </a:lnTo>
                <a:close/>
                <a:moveTo>
                  <a:pt x="506022" y="348450"/>
                </a:moveTo>
                <a:lnTo>
                  <a:pt x="478053" y="348450"/>
                </a:lnTo>
                <a:lnTo>
                  <a:pt x="478053" y="431926"/>
                </a:lnTo>
                <a:lnTo>
                  <a:pt x="506022" y="431926"/>
                </a:lnTo>
                <a:lnTo>
                  <a:pt x="506022" y="348450"/>
                </a:lnTo>
                <a:close/>
                <a:moveTo>
                  <a:pt x="945866" y="362391"/>
                </a:moveTo>
                <a:cubicBezTo>
                  <a:pt x="930462" y="362391"/>
                  <a:pt x="917897" y="374870"/>
                  <a:pt x="917897" y="390188"/>
                </a:cubicBezTo>
                <a:cubicBezTo>
                  <a:pt x="917897" y="405592"/>
                  <a:pt x="930462" y="417985"/>
                  <a:pt x="945866" y="417985"/>
                </a:cubicBezTo>
                <a:cubicBezTo>
                  <a:pt x="961270" y="417985"/>
                  <a:pt x="973835" y="405506"/>
                  <a:pt x="973835" y="390188"/>
                </a:cubicBezTo>
                <a:cubicBezTo>
                  <a:pt x="973835" y="374870"/>
                  <a:pt x="961356" y="362391"/>
                  <a:pt x="945866" y="362391"/>
                </a:cubicBezTo>
                <a:close/>
                <a:moveTo>
                  <a:pt x="1034850" y="582184"/>
                </a:moveTo>
                <a:lnTo>
                  <a:pt x="1034850" y="749997"/>
                </a:lnTo>
                <a:lnTo>
                  <a:pt x="27969" y="749997"/>
                </a:lnTo>
                <a:lnTo>
                  <a:pt x="27969" y="582184"/>
                </a:lnTo>
                <a:lnTo>
                  <a:pt x="1034850" y="582184"/>
                </a:lnTo>
                <a:moveTo>
                  <a:pt x="1062819" y="554215"/>
                </a:moveTo>
                <a:lnTo>
                  <a:pt x="0" y="554215"/>
                </a:lnTo>
                <a:lnTo>
                  <a:pt x="0" y="777966"/>
                </a:lnTo>
                <a:lnTo>
                  <a:pt x="1062819" y="777966"/>
                </a:lnTo>
                <a:lnTo>
                  <a:pt x="1062819" y="554215"/>
                </a:lnTo>
                <a:lnTo>
                  <a:pt x="1062819" y="554215"/>
                </a:lnTo>
                <a:close/>
                <a:moveTo>
                  <a:pt x="113253" y="624352"/>
                </a:moveTo>
                <a:lnTo>
                  <a:pt x="85284" y="624352"/>
                </a:lnTo>
                <a:lnTo>
                  <a:pt x="85284" y="707829"/>
                </a:lnTo>
                <a:lnTo>
                  <a:pt x="113253" y="707829"/>
                </a:lnTo>
                <a:lnTo>
                  <a:pt x="113253" y="624352"/>
                </a:lnTo>
                <a:close/>
                <a:moveTo>
                  <a:pt x="169363" y="624352"/>
                </a:moveTo>
                <a:lnTo>
                  <a:pt x="141394" y="624352"/>
                </a:lnTo>
                <a:lnTo>
                  <a:pt x="141394" y="707829"/>
                </a:lnTo>
                <a:lnTo>
                  <a:pt x="169363" y="707829"/>
                </a:lnTo>
                <a:lnTo>
                  <a:pt x="169363" y="624352"/>
                </a:lnTo>
                <a:close/>
                <a:moveTo>
                  <a:pt x="225473" y="624352"/>
                </a:moveTo>
                <a:lnTo>
                  <a:pt x="197504" y="624352"/>
                </a:lnTo>
                <a:lnTo>
                  <a:pt x="197504" y="707829"/>
                </a:lnTo>
                <a:lnTo>
                  <a:pt x="225473" y="707829"/>
                </a:lnTo>
                <a:lnTo>
                  <a:pt x="225473" y="624352"/>
                </a:lnTo>
                <a:close/>
                <a:moveTo>
                  <a:pt x="281583" y="624352"/>
                </a:moveTo>
                <a:lnTo>
                  <a:pt x="253614" y="624352"/>
                </a:lnTo>
                <a:lnTo>
                  <a:pt x="253614" y="707829"/>
                </a:lnTo>
                <a:lnTo>
                  <a:pt x="281583" y="707829"/>
                </a:lnTo>
                <a:lnTo>
                  <a:pt x="281583" y="624352"/>
                </a:lnTo>
                <a:close/>
                <a:moveTo>
                  <a:pt x="337693" y="624352"/>
                </a:moveTo>
                <a:lnTo>
                  <a:pt x="309724" y="624352"/>
                </a:lnTo>
                <a:lnTo>
                  <a:pt x="309724" y="707829"/>
                </a:lnTo>
                <a:lnTo>
                  <a:pt x="337693" y="707829"/>
                </a:lnTo>
                <a:lnTo>
                  <a:pt x="337693" y="624352"/>
                </a:lnTo>
                <a:close/>
                <a:moveTo>
                  <a:pt x="393802" y="624352"/>
                </a:moveTo>
                <a:lnTo>
                  <a:pt x="365834" y="624352"/>
                </a:lnTo>
                <a:lnTo>
                  <a:pt x="365834" y="707829"/>
                </a:lnTo>
                <a:lnTo>
                  <a:pt x="393802" y="707829"/>
                </a:lnTo>
                <a:lnTo>
                  <a:pt x="393802" y="624352"/>
                </a:lnTo>
                <a:close/>
                <a:moveTo>
                  <a:pt x="449912" y="624352"/>
                </a:moveTo>
                <a:lnTo>
                  <a:pt x="421943" y="624352"/>
                </a:lnTo>
                <a:lnTo>
                  <a:pt x="421943" y="707829"/>
                </a:lnTo>
                <a:lnTo>
                  <a:pt x="449912" y="707829"/>
                </a:lnTo>
                <a:lnTo>
                  <a:pt x="449912" y="624352"/>
                </a:lnTo>
                <a:close/>
                <a:moveTo>
                  <a:pt x="506022" y="624352"/>
                </a:moveTo>
                <a:lnTo>
                  <a:pt x="478053" y="624352"/>
                </a:lnTo>
                <a:lnTo>
                  <a:pt x="478053" y="707829"/>
                </a:lnTo>
                <a:lnTo>
                  <a:pt x="506022" y="707829"/>
                </a:lnTo>
                <a:lnTo>
                  <a:pt x="506022" y="624352"/>
                </a:lnTo>
                <a:close/>
                <a:moveTo>
                  <a:pt x="945866" y="638294"/>
                </a:moveTo>
                <a:cubicBezTo>
                  <a:pt x="930462" y="638294"/>
                  <a:pt x="917897" y="650772"/>
                  <a:pt x="917897" y="666091"/>
                </a:cubicBezTo>
                <a:cubicBezTo>
                  <a:pt x="917897" y="681409"/>
                  <a:pt x="930462" y="693887"/>
                  <a:pt x="945866" y="693887"/>
                </a:cubicBezTo>
                <a:cubicBezTo>
                  <a:pt x="961270" y="693887"/>
                  <a:pt x="973835" y="681409"/>
                  <a:pt x="973835" y="666091"/>
                </a:cubicBezTo>
                <a:cubicBezTo>
                  <a:pt x="973835" y="650772"/>
                  <a:pt x="961356" y="638294"/>
                  <a:pt x="945866" y="638294"/>
                </a:cubicBezTo>
                <a:close/>
                <a:moveTo>
                  <a:pt x="1034850" y="860582"/>
                </a:moveTo>
                <a:lnTo>
                  <a:pt x="1034850" y="1028654"/>
                </a:lnTo>
                <a:lnTo>
                  <a:pt x="27969" y="1028654"/>
                </a:lnTo>
                <a:lnTo>
                  <a:pt x="27969" y="860582"/>
                </a:lnTo>
                <a:lnTo>
                  <a:pt x="1034850" y="860582"/>
                </a:lnTo>
                <a:moveTo>
                  <a:pt x="1062819" y="832613"/>
                </a:moveTo>
                <a:lnTo>
                  <a:pt x="0" y="832613"/>
                </a:lnTo>
                <a:lnTo>
                  <a:pt x="0" y="1056623"/>
                </a:lnTo>
                <a:lnTo>
                  <a:pt x="1062819" y="1056623"/>
                </a:lnTo>
                <a:lnTo>
                  <a:pt x="1062819" y="832613"/>
                </a:lnTo>
                <a:lnTo>
                  <a:pt x="1062819" y="832613"/>
                </a:lnTo>
                <a:close/>
                <a:moveTo>
                  <a:pt x="113253" y="902837"/>
                </a:moveTo>
                <a:lnTo>
                  <a:pt x="85284" y="902837"/>
                </a:lnTo>
                <a:lnTo>
                  <a:pt x="85284" y="986399"/>
                </a:lnTo>
                <a:lnTo>
                  <a:pt x="113253" y="986399"/>
                </a:lnTo>
                <a:lnTo>
                  <a:pt x="113253" y="902837"/>
                </a:lnTo>
                <a:close/>
                <a:moveTo>
                  <a:pt x="169363" y="902837"/>
                </a:moveTo>
                <a:lnTo>
                  <a:pt x="141394" y="902837"/>
                </a:lnTo>
                <a:lnTo>
                  <a:pt x="141394" y="986399"/>
                </a:lnTo>
                <a:lnTo>
                  <a:pt x="169363" y="986399"/>
                </a:lnTo>
                <a:lnTo>
                  <a:pt x="169363" y="902837"/>
                </a:lnTo>
                <a:close/>
                <a:moveTo>
                  <a:pt x="225473" y="902837"/>
                </a:moveTo>
                <a:lnTo>
                  <a:pt x="197504" y="902837"/>
                </a:lnTo>
                <a:lnTo>
                  <a:pt x="197504" y="986399"/>
                </a:lnTo>
                <a:lnTo>
                  <a:pt x="225473" y="986399"/>
                </a:lnTo>
                <a:lnTo>
                  <a:pt x="225473" y="902837"/>
                </a:lnTo>
                <a:close/>
                <a:moveTo>
                  <a:pt x="281583" y="902837"/>
                </a:moveTo>
                <a:lnTo>
                  <a:pt x="253614" y="902837"/>
                </a:lnTo>
                <a:lnTo>
                  <a:pt x="253614" y="986399"/>
                </a:lnTo>
                <a:lnTo>
                  <a:pt x="281583" y="986399"/>
                </a:lnTo>
                <a:lnTo>
                  <a:pt x="281583" y="902837"/>
                </a:lnTo>
                <a:close/>
                <a:moveTo>
                  <a:pt x="337693" y="902837"/>
                </a:moveTo>
                <a:lnTo>
                  <a:pt x="309724" y="902837"/>
                </a:lnTo>
                <a:lnTo>
                  <a:pt x="309724" y="986399"/>
                </a:lnTo>
                <a:lnTo>
                  <a:pt x="337693" y="986399"/>
                </a:lnTo>
                <a:lnTo>
                  <a:pt x="337693" y="902837"/>
                </a:lnTo>
                <a:close/>
                <a:moveTo>
                  <a:pt x="393802" y="902837"/>
                </a:moveTo>
                <a:lnTo>
                  <a:pt x="365834" y="902837"/>
                </a:lnTo>
                <a:lnTo>
                  <a:pt x="365834" y="986399"/>
                </a:lnTo>
                <a:lnTo>
                  <a:pt x="393802" y="986399"/>
                </a:lnTo>
                <a:lnTo>
                  <a:pt x="393802" y="902837"/>
                </a:lnTo>
                <a:close/>
                <a:moveTo>
                  <a:pt x="449912" y="902837"/>
                </a:moveTo>
                <a:lnTo>
                  <a:pt x="421943" y="902837"/>
                </a:lnTo>
                <a:lnTo>
                  <a:pt x="421943" y="986399"/>
                </a:lnTo>
                <a:lnTo>
                  <a:pt x="449912" y="986399"/>
                </a:lnTo>
                <a:lnTo>
                  <a:pt x="449912" y="902837"/>
                </a:lnTo>
                <a:close/>
                <a:moveTo>
                  <a:pt x="506022" y="902837"/>
                </a:moveTo>
                <a:lnTo>
                  <a:pt x="478053" y="902837"/>
                </a:lnTo>
                <a:lnTo>
                  <a:pt x="478053" y="986399"/>
                </a:lnTo>
                <a:lnTo>
                  <a:pt x="506022" y="986399"/>
                </a:lnTo>
                <a:lnTo>
                  <a:pt x="506022" y="902837"/>
                </a:lnTo>
                <a:close/>
                <a:moveTo>
                  <a:pt x="945866" y="916692"/>
                </a:moveTo>
                <a:cubicBezTo>
                  <a:pt x="930462" y="916692"/>
                  <a:pt x="917897" y="929171"/>
                  <a:pt x="917897" y="944575"/>
                </a:cubicBezTo>
                <a:cubicBezTo>
                  <a:pt x="917897" y="959979"/>
                  <a:pt x="930462" y="972458"/>
                  <a:pt x="945866" y="972458"/>
                </a:cubicBezTo>
                <a:cubicBezTo>
                  <a:pt x="961270" y="972458"/>
                  <a:pt x="973835" y="959979"/>
                  <a:pt x="973835" y="944575"/>
                </a:cubicBezTo>
                <a:cubicBezTo>
                  <a:pt x="973835" y="929171"/>
                  <a:pt x="961356" y="916692"/>
                  <a:pt x="945866" y="916692"/>
                </a:cubicBezTo>
                <a:close/>
              </a:path>
            </a:pathLst>
          </a:custGeom>
          <a:solidFill>
            <a:schemeClr val="bg1"/>
          </a:solidFill>
          <a:ln w="8603"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17" name="Graphic 17">
            <a:extLst>
              <a:ext uri="{FF2B5EF4-FFF2-40B4-BE49-F238E27FC236}">
                <a16:creationId xmlns:a16="http://schemas.microsoft.com/office/drawing/2014/main" id="{97E8D9B8-B67D-0649-A132-D21701DFFE59}"/>
              </a:ext>
              <a:ext uri="{C183D7F6-B498-43B3-948B-1728B52AA6E4}">
                <adec:decorative xmlns:adec="http://schemas.microsoft.com/office/drawing/2017/decorative" val="1"/>
              </a:ext>
            </a:extLst>
          </p:cNvPr>
          <p:cNvSpPr/>
          <p:nvPr/>
        </p:nvSpPr>
        <p:spPr>
          <a:xfrm>
            <a:off x="6591063" y="5062142"/>
            <a:ext cx="579114" cy="575739"/>
          </a:xfrm>
          <a:custGeom>
            <a:avLst/>
            <a:gdLst>
              <a:gd name="connsiteX0" fmla="*/ 1034850 w 1062819"/>
              <a:gd name="connsiteY0" fmla="*/ 27969 h 1056622"/>
              <a:gd name="connsiteX1" fmla="*/ 1034850 w 1062819"/>
              <a:gd name="connsiteY1" fmla="*/ 195782 h 1056622"/>
              <a:gd name="connsiteX2" fmla="*/ 27969 w 1062819"/>
              <a:gd name="connsiteY2" fmla="*/ 195782 h 1056622"/>
              <a:gd name="connsiteX3" fmla="*/ 27969 w 1062819"/>
              <a:gd name="connsiteY3" fmla="*/ 27969 h 1056622"/>
              <a:gd name="connsiteX4" fmla="*/ 1034850 w 1062819"/>
              <a:gd name="connsiteY4" fmla="*/ 27969 h 1056622"/>
              <a:gd name="connsiteX5" fmla="*/ 1062819 w 1062819"/>
              <a:gd name="connsiteY5" fmla="*/ 0 h 1056622"/>
              <a:gd name="connsiteX6" fmla="*/ 0 w 1062819"/>
              <a:gd name="connsiteY6" fmla="*/ 0 h 1056622"/>
              <a:gd name="connsiteX7" fmla="*/ 0 w 1062819"/>
              <a:gd name="connsiteY7" fmla="*/ 223751 h 1056622"/>
              <a:gd name="connsiteX8" fmla="*/ 1062819 w 1062819"/>
              <a:gd name="connsiteY8" fmla="*/ 223751 h 1056622"/>
              <a:gd name="connsiteX9" fmla="*/ 1062819 w 1062819"/>
              <a:gd name="connsiteY9" fmla="*/ 0 h 1056622"/>
              <a:gd name="connsiteX10" fmla="*/ 1062819 w 1062819"/>
              <a:gd name="connsiteY10" fmla="*/ 0 h 1056622"/>
              <a:gd name="connsiteX11" fmla="*/ 113253 w 1062819"/>
              <a:gd name="connsiteY11" fmla="*/ 70137 h 1056622"/>
              <a:gd name="connsiteX12" fmla="*/ 85284 w 1062819"/>
              <a:gd name="connsiteY12" fmla="*/ 70137 h 1056622"/>
              <a:gd name="connsiteX13" fmla="*/ 85284 w 1062819"/>
              <a:gd name="connsiteY13" fmla="*/ 153614 h 1056622"/>
              <a:gd name="connsiteX14" fmla="*/ 113253 w 1062819"/>
              <a:gd name="connsiteY14" fmla="*/ 153614 h 1056622"/>
              <a:gd name="connsiteX15" fmla="*/ 113253 w 1062819"/>
              <a:gd name="connsiteY15" fmla="*/ 70137 h 1056622"/>
              <a:gd name="connsiteX16" fmla="*/ 169363 w 1062819"/>
              <a:gd name="connsiteY16" fmla="*/ 70137 h 1056622"/>
              <a:gd name="connsiteX17" fmla="*/ 141394 w 1062819"/>
              <a:gd name="connsiteY17" fmla="*/ 70137 h 1056622"/>
              <a:gd name="connsiteX18" fmla="*/ 141394 w 1062819"/>
              <a:gd name="connsiteY18" fmla="*/ 153614 h 1056622"/>
              <a:gd name="connsiteX19" fmla="*/ 169363 w 1062819"/>
              <a:gd name="connsiteY19" fmla="*/ 153614 h 1056622"/>
              <a:gd name="connsiteX20" fmla="*/ 169363 w 1062819"/>
              <a:gd name="connsiteY20" fmla="*/ 70137 h 1056622"/>
              <a:gd name="connsiteX21" fmla="*/ 225473 w 1062819"/>
              <a:gd name="connsiteY21" fmla="*/ 70137 h 1056622"/>
              <a:gd name="connsiteX22" fmla="*/ 197504 w 1062819"/>
              <a:gd name="connsiteY22" fmla="*/ 70137 h 1056622"/>
              <a:gd name="connsiteX23" fmla="*/ 197504 w 1062819"/>
              <a:gd name="connsiteY23" fmla="*/ 153614 h 1056622"/>
              <a:gd name="connsiteX24" fmla="*/ 225473 w 1062819"/>
              <a:gd name="connsiteY24" fmla="*/ 153614 h 1056622"/>
              <a:gd name="connsiteX25" fmla="*/ 225473 w 1062819"/>
              <a:gd name="connsiteY25" fmla="*/ 70137 h 1056622"/>
              <a:gd name="connsiteX26" fmla="*/ 281583 w 1062819"/>
              <a:gd name="connsiteY26" fmla="*/ 70137 h 1056622"/>
              <a:gd name="connsiteX27" fmla="*/ 253614 w 1062819"/>
              <a:gd name="connsiteY27" fmla="*/ 70137 h 1056622"/>
              <a:gd name="connsiteX28" fmla="*/ 253614 w 1062819"/>
              <a:gd name="connsiteY28" fmla="*/ 153614 h 1056622"/>
              <a:gd name="connsiteX29" fmla="*/ 281583 w 1062819"/>
              <a:gd name="connsiteY29" fmla="*/ 153614 h 1056622"/>
              <a:gd name="connsiteX30" fmla="*/ 281583 w 1062819"/>
              <a:gd name="connsiteY30" fmla="*/ 70137 h 1056622"/>
              <a:gd name="connsiteX31" fmla="*/ 337693 w 1062819"/>
              <a:gd name="connsiteY31" fmla="*/ 70137 h 1056622"/>
              <a:gd name="connsiteX32" fmla="*/ 309724 w 1062819"/>
              <a:gd name="connsiteY32" fmla="*/ 70137 h 1056622"/>
              <a:gd name="connsiteX33" fmla="*/ 309724 w 1062819"/>
              <a:gd name="connsiteY33" fmla="*/ 153614 h 1056622"/>
              <a:gd name="connsiteX34" fmla="*/ 337693 w 1062819"/>
              <a:gd name="connsiteY34" fmla="*/ 153614 h 1056622"/>
              <a:gd name="connsiteX35" fmla="*/ 337693 w 1062819"/>
              <a:gd name="connsiteY35" fmla="*/ 70137 h 1056622"/>
              <a:gd name="connsiteX36" fmla="*/ 393802 w 1062819"/>
              <a:gd name="connsiteY36" fmla="*/ 70137 h 1056622"/>
              <a:gd name="connsiteX37" fmla="*/ 365834 w 1062819"/>
              <a:gd name="connsiteY37" fmla="*/ 70137 h 1056622"/>
              <a:gd name="connsiteX38" fmla="*/ 365834 w 1062819"/>
              <a:gd name="connsiteY38" fmla="*/ 153614 h 1056622"/>
              <a:gd name="connsiteX39" fmla="*/ 393802 w 1062819"/>
              <a:gd name="connsiteY39" fmla="*/ 153614 h 1056622"/>
              <a:gd name="connsiteX40" fmla="*/ 393802 w 1062819"/>
              <a:gd name="connsiteY40" fmla="*/ 70137 h 1056622"/>
              <a:gd name="connsiteX41" fmla="*/ 449912 w 1062819"/>
              <a:gd name="connsiteY41" fmla="*/ 70137 h 1056622"/>
              <a:gd name="connsiteX42" fmla="*/ 421943 w 1062819"/>
              <a:gd name="connsiteY42" fmla="*/ 70137 h 1056622"/>
              <a:gd name="connsiteX43" fmla="*/ 421943 w 1062819"/>
              <a:gd name="connsiteY43" fmla="*/ 153614 h 1056622"/>
              <a:gd name="connsiteX44" fmla="*/ 449912 w 1062819"/>
              <a:gd name="connsiteY44" fmla="*/ 153614 h 1056622"/>
              <a:gd name="connsiteX45" fmla="*/ 449912 w 1062819"/>
              <a:gd name="connsiteY45" fmla="*/ 70137 h 1056622"/>
              <a:gd name="connsiteX46" fmla="*/ 506022 w 1062819"/>
              <a:gd name="connsiteY46" fmla="*/ 70137 h 1056622"/>
              <a:gd name="connsiteX47" fmla="*/ 478053 w 1062819"/>
              <a:gd name="connsiteY47" fmla="*/ 70137 h 1056622"/>
              <a:gd name="connsiteX48" fmla="*/ 478053 w 1062819"/>
              <a:gd name="connsiteY48" fmla="*/ 153614 h 1056622"/>
              <a:gd name="connsiteX49" fmla="*/ 506022 w 1062819"/>
              <a:gd name="connsiteY49" fmla="*/ 153614 h 1056622"/>
              <a:gd name="connsiteX50" fmla="*/ 506022 w 1062819"/>
              <a:gd name="connsiteY50" fmla="*/ 70137 h 1056622"/>
              <a:gd name="connsiteX51" fmla="*/ 945866 w 1062819"/>
              <a:gd name="connsiteY51" fmla="*/ 84423 h 1056622"/>
              <a:gd name="connsiteX52" fmla="*/ 917897 w 1062819"/>
              <a:gd name="connsiteY52" fmla="*/ 112392 h 1056622"/>
              <a:gd name="connsiteX53" fmla="*/ 945866 w 1062819"/>
              <a:gd name="connsiteY53" fmla="*/ 140361 h 1056622"/>
              <a:gd name="connsiteX54" fmla="*/ 973835 w 1062819"/>
              <a:gd name="connsiteY54" fmla="*/ 112392 h 1056622"/>
              <a:gd name="connsiteX55" fmla="*/ 945866 w 1062819"/>
              <a:gd name="connsiteY55" fmla="*/ 84423 h 1056622"/>
              <a:gd name="connsiteX56" fmla="*/ 1034850 w 1062819"/>
              <a:gd name="connsiteY56" fmla="*/ 306281 h 1056622"/>
              <a:gd name="connsiteX57" fmla="*/ 1034850 w 1062819"/>
              <a:gd name="connsiteY57" fmla="*/ 474095 h 1056622"/>
              <a:gd name="connsiteX58" fmla="*/ 27969 w 1062819"/>
              <a:gd name="connsiteY58" fmla="*/ 474095 h 1056622"/>
              <a:gd name="connsiteX59" fmla="*/ 27969 w 1062819"/>
              <a:gd name="connsiteY59" fmla="*/ 306281 h 1056622"/>
              <a:gd name="connsiteX60" fmla="*/ 1034850 w 1062819"/>
              <a:gd name="connsiteY60" fmla="*/ 306281 h 1056622"/>
              <a:gd name="connsiteX61" fmla="*/ 1062819 w 1062819"/>
              <a:gd name="connsiteY61" fmla="*/ 278312 h 1056622"/>
              <a:gd name="connsiteX62" fmla="*/ 0 w 1062819"/>
              <a:gd name="connsiteY62" fmla="*/ 278312 h 1056622"/>
              <a:gd name="connsiteX63" fmla="*/ 0 w 1062819"/>
              <a:gd name="connsiteY63" fmla="*/ 502064 h 1056622"/>
              <a:gd name="connsiteX64" fmla="*/ 1062819 w 1062819"/>
              <a:gd name="connsiteY64" fmla="*/ 502064 h 1056622"/>
              <a:gd name="connsiteX65" fmla="*/ 1062819 w 1062819"/>
              <a:gd name="connsiteY65" fmla="*/ 278312 h 1056622"/>
              <a:gd name="connsiteX66" fmla="*/ 1062819 w 1062819"/>
              <a:gd name="connsiteY66" fmla="*/ 278312 h 1056622"/>
              <a:gd name="connsiteX67" fmla="*/ 113253 w 1062819"/>
              <a:gd name="connsiteY67" fmla="*/ 348450 h 1056622"/>
              <a:gd name="connsiteX68" fmla="*/ 85284 w 1062819"/>
              <a:gd name="connsiteY68" fmla="*/ 348450 h 1056622"/>
              <a:gd name="connsiteX69" fmla="*/ 85284 w 1062819"/>
              <a:gd name="connsiteY69" fmla="*/ 431926 h 1056622"/>
              <a:gd name="connsiteX70" fmla="*/ 113253 w 1062819"/>
              <a:gd name="connsiteY70" fmla="*/ 431926 h 1056622"/>
              <a:gd name="connsiteX71" fmla="*/ 113253 w 1062819"/>
              <a:gd name="connsiteY71" fmla="*/ 348450 h 1056622"/>
              <a:gd name="connsiteX72" fmla="*/ 169363 w 1062819"/>
              <a:gd name="connsiteY72" fmla="*/ 348450 h 1056622"/>
              <a:gd name="connsiteX73" fmla="*/ 141394 w 1062819"/>
              <a:gd name="connsiteY73" fmla="*/ 348450 h 1056622"/>
              <a:gd name="connsiteX74" fmla="*/ 141394 w 1062819"/>
              <a:gd name="connsiteY74" fmla="*/ 431926 h 1056622"/>
              <a:gd name="connsiteX75" fmla="*/ 169363 w 1062819"/>
              <a:gd name="connsiteY75" fmla="*/ 431926 h 1056622"/>
              <a:gd name="connsiteX76" fmla="*/ 169363 w 1062819"/>
              <a:gd name="connsiteY76" fmla="*/ 348450 h 1056622"/>
              <a:gd name="connsiteX77" fmla="*/ 225473 w 1062819"/>
              <a:gd name="connsiteY77" fmla="*/ 348450 h 1056622"/>
              <a:gd name="connsiteX78" fmla="*/ 197504 w 1062819"/>
              <a:gd name="connsiteY78" fmla="*/ 348450 h 1056622"/>
              <a:gd name="connsiteX79" fmla="*/ 197504 w 1062819"/>
              <a:gd name="connsiteY79" fmla="*/ 431926 h 1056622"/>
              <a:gd name="connsiteX80" fmla="*/ 225473 w 1062819"/>
              <a:gd name="connsiteY80" fmla="*/ 431926 h 1056622"/>
              <a:gd name="connsiteX81" fmla="*/ 225473 w 1062819"/>
              <a:gd name="connsiteY81" fmla="*/ 348450 h 1056622"/>
              <a:gd name="connsiteX82" fmla="*/ 281583 w 1062819"/>
              <a:gd name="connsiteY82" fmla="*/ 348450 h 1056622"/>
              <a:gd name="connsiteX83" fmla="*/ 253614 w 1062819"/>
              <a:gd name="connsiteY83" fmla="*/ 348450 h 1056622"/>
              <a:gd name="connsiteX84" fmla="*/ 253614 w 1062819"/>
              <a:gd name="connsiteY84" fmla="*/ 431926 h 1056622"/>
              <a:gd name="connsiteX85" fmla="*/ 281583 w 1062819"/>
              <a:gd name="connsiteY85" fmla="*/ 431926 h 1056622"/>
              <a:gd name="connsiteX86" fmla="*/ 281583 w 1062819"/>
              <a:gd name="connsiteY86" fmla="*/ 348450 h 1056622"/>
              <a:gd name="connsiteX87" fmla="*/ 337693 w 1062819"/>
              <a:gd name="connsiteY87" fmla="*/ 348450 h 1056622"/>
              <a:gd name="connsiteX88" fmla="*/ 309724 w 1062819"/>
              <a:gd name="connsiteY88" fmla="*/ 348450 h 1056622"/>
              <a:gd name="connsiteX89" fmla="*/ 309724 w 1062819"/>
              <a:gd name="connsiteY89" fmla="*/ 431926 h 1056622"/>
              <a:gd name="connsiteX90" fmla="*/ 337693 w 1062819"/>
              <a:gd name="connsiteY90" fmla="*/ 431926 h 1056622"/>
              <a:gd name="connsiteX91" fmla="*/ 337693 w 1062819"/>
              <a:gd name="connsiteY91" fmla="*/ 348450 h 1056622"/>
              <a:gd name="connsiteX92" fmla="*/ 393802 w 1062819"/>
              <a:gd name="connsiteY92" fmla="*/ 348450 h 1056622"/>
              <a:gd name="connsiteX93" fmla="*/ 365834 w 1062819"/>
              <a:gd name="connsiteY93" fmla="*/ 348450 h 1056622"/>
              <a:gd name="connsiteX94" fmla="*/ 365834 w 1062819"/>
              <a:gd name="connsiteY94" fmla="*/ 431926 h 1056622"/>
              <a:gd name="connsiteX95" fmla="*/ 393802 w 1062819"/>
              <a:gd name="connsiteY95" fmla="*/ 431926 h 1056622"/>
              <a:gd name="connsiteX96" fmla="*/ 393802 w 1062819"/>
              <a:gd name="connsiteY96" fmla="*/ 348450 h 1056622"/>
              <a:gd name="connsiteX97" fmla="*/ 449912 w 1062819"/>
              <a:gd name="connsiteY97" fmla="*/ 348450 h 1056622"/>
              <a:gd name="connsiteX98" fmla="*/ 421943 w 1062819"/>
              <a:gd name="connsiteY98" fmla="*/ 348450 h 1056622"/>
              <a:gd name="connsiteX99" fmla="*/ 421943 w 1062819"/>
              <a:gd name="connsiteY99" fmla="*/ 431926 h 1056622"/>
              <a:gd name="connsiteX100" fmla="*/ 449912 w 1062819"/>
              <a:gd name="connsiteY100" fmla="*/ 431926 h 1056622"/>
              <a:gd name="connsiteX101" fmla="*/ 449912 w 1062819"/>
              <a:gd name="connsiteY101" fmla="*/ 348450 h 1056622"/>
              <a:gd name="connsiteX102" fmla="*/ 506022 w 1062819"/>
              <a:gd name="connsiteY102" fmla="*/ 348450 h 1056622"/>
              <a:gd name="connsiteX103" fmla="*/ 478053 w 1062819"/>
              <a:gd name="connsiteY103" fmla="*/ 348450 h 1056622"/>
              <a:gd name="connsiteX104" fmla="*/ 478053 w 1062819"/>
              <a:gd name="connsiteY104" fmla="*/ 431926 h 1056622"/>
              <a:gd name="connsiteX105" fmla="*/ 506022 w 1062819"/>
              <a:gd name="connsiteY105" fmla="*/ 431926 h 1056622"/>
              <a:gd name="connsiteX106" fmla="*/ 506022 w 1062819"/>
              <a:gd name="connsiteY106" fmla="*/ 348450 h 1056622"/>
              <a:gd name="connsiteX107" fmla="*/ 945866 w 1062819"/>
              <a:gd name="connsiteY107" fmla="*/ 362391 h 1056622"/>
              <a:gd name="connsiteX108" fmla="*/ 917897 w 1062819"/>
              <a:gd name="connsiteY108" fmla="*/ 390188 h 1056622"/>
              <a:gd name="connsiteX109" fmla="*/ 945866 w 1062819"/>
              <a:gd name="connsiteY109" fmla="*/ 417985 h 1056622"/>
              <a:gd name="connsiteX110" fmla="*/ 973835 w 1062819"/>
              <a:gd name="connsiteY110" fmla="*/ 390188 h 1056622"/>
              <a:gd name="connsiteX111" fmla="*/ 945866 w 1062819"/>
              <a:gd name="connsiteY111" fmla="*/ 362391 h 1056622"/>
              <a:gd name="connsiteX112" fmla="*/ 1034850 w 1062819"/>
              <a:gd name="connsiteY112" fmla="*/ 582184 h 1056622"/>
              <a:gd name="connsiteX113" fmla="*/ 1034850 w 1062819"/>
              <a:gd name="connsiteY113" fmla="*/ 749997 h 1056622"/>
              <a:gd name="connsiteX114" fmla="*/ 27969 w 1062819"/>
              <a:gd name="connsiteY114" fmla="*/ 749997 h 1056622"/>
              <a:gd name="connsiteX115" fmla="*/ 27969 w 1062819"/>
              <a:gd name="connsiteY115" fmla="*/ 582184 h 1056622"/>
              <a:gd name="connsiteX116" fmla="*/ 1034850 w 1062819"/>
              <a:gd name="connsiteY116" fmla="*/ 582184 h 1056622"/>
              <a:gd name="connsiteX117" fmla="*/ 1062819 w 1062819"/>
              <a:gd name="connsiteY117" fmla="*/ 554215 h 1056622"/>
              <a:gd name="connsiteX118" fmla="*/ 0 w 1062819"/>
              <a:gd name="connsiteY118" fmla="*/ 554215 h 1056622"/>
              <a:gd name="connsiteX119" fmla="*/ 0 w 1062819"/>
              <a:gd name="connsiteY119" fmla="*/ 777966 h 1056622"/>
              <a:gd name="connsiteX120" fmla="*/ 1062819 w 1062819"/>
              <a:gd name="connsiteY120" fmla="*/ 777966 h 1056622"/>
              <a:gd name="connsiteX121" fmla="*/ 1062819 w 1062819"/>
              <a:gd name="connsiteY121" fmla="*/ 554215 h 1056622"/>
              <a:gd name="connsiteX122" fmla="*/ 1062819 w 1062819"/>
              <a:gd name="connsiteY122" fmla="*/ 554215 h 1056622"/>
              <a:gd name="connsiteX123" fmla="*/ 113253 w 1062819"/>
              <a:gd name="connsiteY123" fmla="*/ 624352 h 1056622"/>
              <a:gd name="connsiteX124" fmla="*/ 85284 w 1062819"/>
              <a:gd name="connsiteY124" fmla="*/ 624352 h 1056622"/>
              <a:gd name="connsiteX125" fmla="*/ 85284 w 1062819"/>
              <a:gd name="connsiteY125" fmla="*/ 707829 h 1056622"/>
              <a:gd name="connsiteX126" fmla="*/ 113253 w 1062819"/>
              <a:gd name="connsiteY126" fmla="*/ 707829 h 1056622"/>
              <a:gd name="connsiteX127" fmla="*/ 113253 w 1062819"/>
              <a:gd name="connsiteY127" fmla="*/ 624352 h 1056622"/>
              <a:gd name="connsiteX128" fmla="*/ 169363 w 1062819"/>
              <a:gd name="connsiteY128" fmla="*/ 624352 h 1056622"/>
              <a:gd name="connsiteX129" fmla="*/ 141394 w 1062819"/>
              <a:gd name="connsiteY129" fmla="*/ 624352 h 1056622"/>
              <a:gd name="connsiteX130" fmla="*/ 141394 w 1062819"/>
              <a:gd name="connsiteY130" fmla="*/ 707829 h 1056622"/>
              <a:gd name="connsiteX131" fmla="*/ 169363 w 1062819"/>
              <a:gd name="connsiteY131" fmla="*/ 707829 h 1056622"/>
              <a:gd name="connsiteX132" fmla="*/ 169363 w 1062819"/>
              <a:gd name="connsiteY132" fmla="*/ 624352 h 1056622"/>
              <a:gd name="connsiteX133" fmla="*/ 225473 w 1062819"/>
              <a:gd name="connsiteY133" fmla="*/ 624352 h 1056622"/>
              <a:gd name="connsiteX134" fmla="*/ 197504 w 1062819"/>
              <a:gd name="connsiteY134" fmla="*/ 624352 h 1056622"/>
              <a:gd name="connsiteX135" fmla="*/ 197504 w 1062819"/>
              <a:gd name="connsiteY135" fmla="*/ 707829 h 1056622"/>
              <a:gd name="connsiteX136" fmla="*/ 225473 w 1062819"/>
              <a:gd name="connsiteY136" fmla="*/ 707829 h 1056622"/>
              <a:gd name="connsiteX137" fmla="*/ 225473 w 1062819"/>
              <a:gd name="connsiteY137" fmla="*/ 624352 h 1056622"/>
              <a:gd name="connsiteX138" fmla="*/ 281583 w 1062819"/>
              <a:gd name="connsiteY138" fmla="*/ 624352 h 1056622"/>
              <a:gd name="connsiteX139" fmla="*/ 253614 w 1062819"/>
              <a:gd name="connsiteY139" fmla="*/ 624352 h 1056622"/>
              <a:gd name="connsiteX140" fmla="*/ 253614 w 1062819"/>
              <a:gd name="connsiteY140" fmla="*/ 707829 h 1056622"/>
              <a:gd name="connsiteX141" fmla="*/ 281583 w 1062819"/>
              <a:gd name="connsiteY141" fmla="*/ 707829 h 1056622"/>
              <a:gd name="connsiteX142" fmla="*/ 281583 w 1062819"/>
              <a:gd name="connsiteY142" fmla="*/ 624352 h 1056622"/>
              <a:gd name="connsiteX143" fmla="*/ 337693 w 1062819"/>
              <a:gd name="connsiteY143" fmla="*/ 624352 h 1056622"/>
              <a:gd name="connsiteX144" fmla="*/ 309724 w 1062819"/>
              <a:gd name="connsiteY144" fmla="*/ 624352 h 1056622"/>
              <a:gd name="connsiteX145" fmla="*/ 309724 w 1062819"/>
              <a:gd name="connsiteY145" fmla="*/ 707829 h 1056622"/>
              <a:gd name="connsiteX146" fmla="*/ 337693 w 1062819"/>
              <a:gd name="connsiteY146" fmla="*/ 707829 h 1056622"/>
              <a:gd name="connsiteX147" fmla="*/ 337693 w 1062819"/>
              <a:gd name="connsiteY147" fmla="*/ 624352 h 1056622"/>
              <a:gd name="connsiteX148" fmla="*/ 393802 w 1062819"/>
              <a:gd name="connsiteY148" fmla="*/ 624352 h 1056622"/>
              <a:gd name="connsiteX149" fmla="*/ 365834 w 1062819"/>
              <a:gd name="connsiteY149" fmla="*/ 624352 h 1056622"/>
              <a:gd name="connsiteX150" fmla="*/ 365834 w 1062819"/>
              <a:gd name="connsiteY150" fmla="*/ 707829 h 1056622"/>
              <a:gd name="connsiteX151" fmla="*/ 393802 w 1062819"/>
              <a:gd name="connsiteY151" fmla="*/ 707829 h 1056622"/>
              <a:gd name="connsiteX152" fmla="*/ 393802 w 1062819"/>
              <a:gd name="connsiteY152" fmla="*/ 624352 h 1056622"/>
              <a:gd name="connsiteX153" fmla="*/ 449912 w 1062819"/>
              <a:gd name="connsiteY153" fmla="*/ 624352 h 1056622"/>
              <a:gd name="connsiteX154" fmla="*/ 421943 w 1062819"/>
              <a:gd name="connsiteY154" fmla="*/ 624352 h 1056622"/>
              <a:gd name="connsiteX155" fmla="*/ 421943 w 1062819"/>
              <a:gd name="connsiteY155" fmla="*/ 707829 h 1056622"/>
              <a:gd name="connsiteX156" fmla="*/ 449912 w 1062819"/>
              <a:gd name="connsiteY156" fmla="*/ 707829 h 1056622"/>
              <a:gd name="connsiteX157" fmla="*/ 449912 w 1062819"/>
              <a:gd name="connsiteY157" fmla="*/ 624352 h 1056622"/>
              <a:gd name="connsiteX158" fmla="*/ 506022 w 1062819"/>
              <a:gd name="connsiteY158" fmla="*/ 624352 h 1056622"/>
              <a:gd name="connsiteX159" fmla="*/ 478053 w 1062819"/>
              <a:gd name="connsiteY159" fmla="*/ 624352 h 1056622"/>
              <a:gd name="connsiteX160" fmla="*/ 478053 w 1062819"/>
              <a:gd name="connsiteY160" fmla="*/ 707829 h 1056622"/>
              <a:gd name="connsiteX161" fmla="*/ 506022 w 1062819"/>
              <a:gd name="connsiteY161" fmla="*/ 707829 h 1056622"/>
              <a:gd name="connsiteX162" fmla="*/ 506022 w 1062819"/>
              <a:gd name="connsiteY162" fmla="*/ 624352 h 1056622"/>
              <a:gd name="connsiteX163" fmla="*/ 945866 w 1062819"/>
              <a:gd name="connsiteY163" fmla="*/ 638294 h 1056622"/>
              <a:gd name="connsiteX164" fmla="*/ 917897 w 1062819"/>
              <a:gd name="connsiteY164" fmla="*/ 666091 h 1056622"/>
              <a:gd name="connsiteX165" fmla="*/ 945866 w 1062819"/>
              <a:gd name="connsiteY165" fmla="*/ 693887 h 1056622"/>
              <a:gd name="connsiteX166" fmla="*/ 973835 w 1062819"/>
              <a:gd name="connsiteY166" fmla="*/ 666091 h 1056622"/>
              <a:gd name="connsiteX167" fmla="*/ 945866 w 1062819"/>
              <a:gd name="connsiteY167" fmla="*/ 638294 h 1056622"/>
              <a:gd name="connsiteX168" fmla="*/ 1034850 w 1062819"/>
              <a:gd name="connsiteY168" fmla="*/ 860582 h 1056622"/>
              <a:gd name="connsiteX169" fmla="*/ 1034850 w 1062819"/>
              <a:gd name="connsiteY169" fmla="*/ 1028654 h 1056622"/>
              <a:gd name="connsiteX170" fmla="*/ 27969 w 1062819"/>
              <a:gd name="connsiteY170" fmla="*/ 1028654 h 1056622"/>
              <a:gd name="connsiteX171" fmla="*/ 27969 w 1062819"/>
              <a:gd name="connsiteY171" fmla="*/ 860582 h 1056622"/>
              <a:gd name="connsiteX172" fmla="*/ 1034850 w 1062819"/>
              <a:gd name="connsiteY172" fmla="*/ 860582 h 1056622"/>
              <a:gd name="connsiteX173" fmla="*/ 1062819 w 1062819"/>
              <a:gd name="connsiteY173" fmla="*/ 832613 h 1056622"/>
              <a:gd name="connsiteX174" fmla="*/ 0 w 1062819"/>
              <a:gd name="connsiteY174" fmla="*/ 832613 h 1056622"/>
              <a:gd name="connsiteX175" fmla="*/ 0 w 1062819"/>
              <a:gd name="connsiteY175" fmla="*/ 1056623 h 1056622"/>
              <a:gd name="connsiteX176" fmla="*/ 1062819 w 1062819"/>
              <a:gd name="connsiteY176" fmla="*/ 1056623 h 1056622"/>
              <a:gd name="connsiteX177" fmla="*/ 1062819 w 1062819"/>
              <a:gd name="connsiteY177" fmla="*/ 832613 h 1056622"/>
              <a:gd name="connsiteX178" fmla="*/ 1062819 w 1062819"/>
              <a:gd name="connsiteY178" fmla="*/ 832613 h 1056622"/>
              <a:gd name="connsiteX179" fmla="*/ 113253 w 1062819"/>
              <a:gd name="connsiteY179" fmla="*/ 902837 h 1056622"/>
              <a:gd name="connsiteX180" fmla="*/ 85284 w 1062819"/>
              <a:gd name="connsiteY180" fmla="*/ 902837 h 1056622"/>
              <a:gd name="connsiteX181" fmla="*/ 85284 w 1062819"/>
              <a:gd name="connsiteY181" fmla="*/ 986399 h 1056622"/>
              <a:gd name="connsiteX182" fmla="*/ 113253 w 1062819"/>
              <a:gd name="connsiteY182" fmla="*/ 986399 h 1056622"/>
              <a:gd name="connsiteX183" fmla="*/ 113253 w 1062819"/>
              <a:gd name="connsiteY183" fmla="*/ 902837 h 1056622"/>
              <a:gd name="connsiteX184" fmla="*/ 169363 w 1062819"/>
              <a:gd name="connsiteY184" fmla="*/ 902837 h 1056622"/>
              <a:gd name="connsiteX185" fmla="*/ 141394 w 1062819"/>
              <a:gd name="connsiteY185" fmla="*/ 902837 h 1056622"/>
              <a:gd name="connsiteX186" fmla="*/ 141394 w 1062819"/>
              <a:gd name="connsiteY186" fmla="*/ 986399 h 1056622"/>
              <a:gd name="connsiteX187" fmla="*/ 169363 w 1062819"/>
              <a:gd name="connsiteY187" fmla="*/ 986399 h 1056622"/>
              <a:gd name="connsiteX188" fmla="*/ 169363 w 1062819"/>
              <a:gd name="connsiteY188" fmla="*/ 902837 h 1056622"/>
              <a:gd name="connsiteX189" fmla="*/ 225473 w 1062819"/>
              <a:gd name="connsiteY189" fmla="*/ 902837 h 1056622"/>
              <a:gd name="connsiteX190" fmla="*/ 197504 w 1062819"/>
              <a:gd name="connsiteY190" fmla="*/ 902837 h 1056622"/>
              <a:gd name="connsiteX191" fmla="*/ 197504 w 1062819"/>
              <a:gd name="connsiteY191" fmla="*/ 986399 h 1056622"/>
              <a:gd name="connsiteX192" fmla="*/ 225473 w 1062819"/>
              <a:gd name="connsiteY192" fmla="*/ 986399 h 1056622"/>
              <a:gd name="connsiteX193" fmla="*/ 225473 w 1062819"/>
              <a:gd name="connsiteY193" fmla="*/ 902837 h 1056622"/>
              <a:gd name="connsiteX194" fmla="*/ 281583 w 1062819"/>
              <a:gd name="connsiteY194" fmla="*/ 902837 h 1056622"/>
              <a:gd name="connsiteX195" fmla="*/ 253614 w 1062819"/>
              <a:gd name="connsiteY195" fmla="*/ 902837 h 1056622"/>
              <a:gd name="connsiteX196" fmla="*/ 253614 w 1062819"/>
              <a:gd name="connsiteY196" fmla="*/ 986399 h 1056622"/>
              <a:gd name="connsiteX197" fmla="*/ 281583 w 1062819"/>
              <a:gd name="connsiteY197" fmla="*/ 986399 h 1056622"/>
              <a:gd name="connsiteX198" fmla="*/ 281583 w 1062819"/>
              <a:gd name="connsiteY198" fmla="*/ 902837 h 1056622"/>
              <a:gd name="connsiteX199" fmla="*/ 337693 w 1062819"/>
              <a:gd name="connsiteY199" fmla="*/ 902837 h 1056622"/>
              <a:gd name="connsiteX200" fmla="*/ 309724 w 1062819"/>
              <a:gd name="connsiteY200" fmla="*/ 902837 h 1056622"/>
              <a:gd name="connsiteX201" fmla="*/ 309724 w 1062819"/>
              <a:gd name="connsiteY201" fmla="*/ 986399 h 1056622"/>
              <a:gd name="connsiteX202" fmla="*/ 337693 w 1062819"/>
              <a:gd name="connsiteY202" fmla="*/ 986399 h 1056622"/>
              <a:gd name="connsiteX203" fmla="*/ 337693 w 1062819"/>
              <a:gd name="connsiteY203" fmla="*/ 902837 h 1056622"/>
              <a:gd name="connsiteX204" fmla="*/ 393802 w 1062819"/>
              <a:gd name="connsiteY204" fmla="*/ 902837 h 1056622"/>
              <a:gd name="connsiteX205" fmla="*/ 365834 w 1062819"/>
              <a:gd name="connsiteY205" fmla="*/ 902837 h 1056622"/>
              <a:gd name="connsiteX206" fmla="*/ 365834 w 1062819"/>
              <a:gd name="connsiteY206" fmla="*/ 986399 h 1056622"/>
              <a:gd name="connsiteX207" fmla="*/ 393802 w 1062819"/>
              <a:gd name="connsiteY207" fmla="*/ 986399 h 1056622"/>
              <a:gd name="connsiteX208" fmla="*/ 393802 w 1062819"/>
              <a:gd name="connsiteY208" fmla="*/ 902837 h 1056622"/>
              <a:gd name="connsiteX209" fmla="*/ 449912 w 1062819"/>
              <a:gd name="connsiteY209" fmla="*/ 902837 h 1056622"/>
              <a:gd name="connsiteX210" fmla="*/ 421943 w 1062819"/>
              <a:gd name="connsiteY210" fmla="*/ 902837 h 1056622"/>
              <a:gd name="connsiteX211" fmla="*/ 421943 w 1062819"/>
              <a:gd name="connsiteY211" fmla="*/ 986399 h 1056622"/>
              <a:gd name="connsiteX212" fmla="*/ 449912 w 1062819"/>
              <a:gd name="connsiteY212" fmla="*/ 986399 h 1056622"/>
              <a:gd name="connsiteX213" fmla="*/ 449912 w 1062819"/>
              <a:gd name="connsiteY213" fmla="*/ 902837 h 1056622"/>
              <a:gd name="connsiteX214" fmla="*/ 506022 w 1062819"/>
              <a:gd name="connsiteY214" fmla="*/ 902837 h 1056622"/>
              <a:gd name="connsiteX215" fmla="*/ 478053 w 1062819"/>
              <a:gd name="connsiteY215" fmla="*/ 902837 h 1056622"/>
              <a:gd name="connsiteX216" fmla="*/ 478053 w 1062819"/>
              <a:gd name="connsiteY216" fmla="*/ 986399 h 1056622"/>
              <a:gd name="connsiteX217" fmla="*/ 506022 w 1062819"/>
              <a:gd name="connsiteY217" fmla="*/ 986399 h 1056622"/>
              <a:gd name="connsiteX218" fmla="*/ 506022 w 1062819"/>
              <a:gd name="connsiteY218" fmla="*/ 902837 h 1056622"/>
              <a:gd name="connsiteX219" fmla="*/ 945866 w 1062819"/>
              <a:gd name="connsiteY219" fmla="*/ 916692 h 1056622"/>
              <a:gd name="connsiteX220" fmla="*/ 917897 w 1062819"/>
              <a:gd name="connsiteY220" fmla="*/ 944575 h 1056622"/>
              <a:gd name="connsiteX221" fmla="*/ 945866 w 1062819"/>
              <a:gd name="connsiteY221" fmla="*/ 972458 h 1056622"/>
              <a:gd name="connsiteX222" fmla="*/ 973835 w 1062819"/>
              <a:gd name="connsiteY222" fmla="*/ 944575 h 1056622"/>
              <a:gd name="connsiteX223" fmla="*/ 945866 w 1062819"/>
              <a:gd name="connsiteY223" fmla="*/ 916692 h 1056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Lst>
            <a:rect l="l" t="t" r="r" b="b"/>
            <a:pathLst>
              <a:path w="1062819" h="1056622">
                <a:moveTo>
                  <a:pt x="1034850" y="27969"/>
                </a:moveTo>
                <a:lnTo>
                  <a:pt x="1034850" y="195782"/>
                </a:lnTo>
                <a:lnTo>
                  <a:pt x="27969" y="195782"/>
                </a:lnTo>
                <a:lnTo>
                  <a:pt x="27969" y="27969"/>
                </a:lnTo>
                <a:lnTo>
                  <a:pt x="1034850" y="27969"/>
                </a:lnTo>
                <a:moveTo>
                  <a:pt x="1062819" y="0"/>
                </a:moveTo>
                <a:lnTo>
                  <a:pt x="0" y="0"/>
                </a:lnTo>
                <a:lnTo>
                  <a:pt x="0" y="223751"/>
                </a:lnTo>
                <a:lnTo>
                  <a:pt x="1062819" y="223751"/>
                </a:lnTo>
                <a:lnTo>
                  <a:pt x="1062819" y="0"/>
                </a:lnTo>
                <a:lnTo>
                  <a:pt x="1062819" y="0"/>
                </a:lnTo>
                <a:close/>
                <a:moveTo>
                  <a:pt x="113253" y="70137"/>
                </a:moveTo>
                <a:lnTo>
                  <a:pt x="85284" y="70137"/>
                </a:lnTo>
                <a:lnTo>
                  <a:pt x="85284" y="153614"/>
                </a:lnTo>
                <a:lnTo>
                  <a:pt x="113253" y="153614"/>
                </a:lnTo>
                <a:lnTo>
                  <a:pt x="113253" y="70137"/>
                </a:lnTo>
                <a:close/>
                <a:moveTo>
                  <a:pt x="169363" y="70137"/>
                </a:moveTo>
                <a:lnTo>
                  <a:pt x="141394" y="70137"/>
                </a:lnTo>
                <a:lnTo>
                  <a:pt x="141394" y="153614"/>
                </a:lnTo>
                <a:lnTo>
                  <a:pt x="169363" y="153614"/>
                </a:lnTo>
                <a:lnTo>
                  <a:pt x="169363" y="70137"/>
                </a:lnTo>
                <a:close/>
                <a:moveTo>
                  <a:pt x="225473" y="70137"/>
                </a:moveTo>
                <a:lnTo>
                  <a:pt x="197504" y="70137"/>
                </a:lnTo>
                <a:lnTo>
                  <a:pt x="197504" y="153614"/>
                </a:lnTo>
                <a:lnTo>
                  <a:pt x="225473" y="153614"/>
                </a:lnTo>
                <a:lnTo>
                  <a:pt x="225473" y="70137"/>
                </a:lnTo>
                <a:close/>
                <a:moveTo>
                  <a:pt x="281583" y="70137"/>
                </a:moveTo>
                <a:lnTo>
                  <a:pt x="253614" y="70137"/>
                </a:lnTo>
                <a:lnTo>
                  <a:pt x="253614" y="153614"/>
                </a:lnTo>
                <a:lnTo>
                  <a:pt x="281583" y="153614"/>
                </a:lnTo>
                <a:lnTo>
                  <a:pt x="281583" y="70137"/>
                </a:lnTo>
                <a:close/>
                <a:moveTo>
                  <a:pt x="337693" y="70137"/>
                </a:moveTo>
                <a:lnTo>
                  <a:pt x="309724" y="70137"/>
                </a:lnTo>
                <a:lnTo>
                  <a:pt x="309724" y="153614"/>
                </a:lnTo>
                <a:lnTo>
                  <a:pt x="337693" y="153614"/>
                </a:lnTo>
                <a:lnTo>
                  <a:pt x="337693" y="70137"/>
                </a:lnTo>
                <a:close/>
                <a:moveTo>
                  <a:pt x="393802" y="70137"/>
                </a:moveTo>
                <a:lnTo>
                  <a:pt x="365834" y="70137"/>
                </a:lnTo>
                <a:lnTo>
                  <a:pt x="365834" y="153614"/>
                </a:lnTo>
                <a:lnTo>
                  <a:pt x="393802" y="153614"/>
                </a:lnTo>
                <a:lnTo>
                  <a:pt x="393802" y="70137"/>
                </a:lnTo>
                <a:close/>
                <a:moveTo>
                  <a:pt x="449912" y="70137"/>
                </a:moveTo>
                <a:lnTo>
                  <a:pt x="421943" y="70137"/>
                </a:lnTo>
                <a:lnTo>
                  <a:pt x="421943" y="153614"/>
                </a:lnTo>
                <a:lnTo>
                  <a:pt x="449912" y="153614"/>
                </a:lnTo>
                <a:lnTo>
                  <a:pt x="449912" y="70137"/>
                </a:lnTo>
                <a:close/>
                <a:moveTo>
                  <a:pt x="506022" y="70137"/>
                </a:moveTo>
                <a:lnTo>
                  <a:pt x="478053" y="70137"/>
                </a:lnTo>
                <a:lnTo>
                  <a:pt x="478053" y="153614"/>
                </a:lnTo>
                <a:lnTo>
                  <a:pt x="506022" y="153614"/>
                </a:lnTo>
                <a:lnTo>
                  <a:pt x="506022" y="70137"/>
                </a:lnTo>
                <a:close/>
                <a:moveTo>
                  <a:pt x="945866" y="84423"/>
                </a:moveTo>
                <a:cubicBezTo>
                  <a:pt x="930462" y="84423"/>
                  <a:pt x="917897" y="96988"/>
                  <a:pt x="917897" y="112392"/>
                </a:cubicBezTo>
                <a:cubicBezTo>
                  <a:pt x="917897" y="127796"/>
                  <a:pt x="930462" y="140361"/>
                  <a:pt x="945866" y="140361"/>
                </a:cubicBezTo>
                <a:cubicBezTo>
                  <a:pt x="961270" y="140361"/>
                  <a:pt x="973835" y="127796"/>
                  <a:pt x="973835" y="112392"/>
                </a:cubicBezTo>
                <a:cubicBezTo>
                  <a:pt x="973835" y="96988"/>
                  <a:pt x="961356" y="84423"/>
                  <a:pt x="945866" y="84423"/>
                </a:cubicBezTo>
                <a:close/>
                <a:moveTo>
                  <a:pt x="1034850" y="306281"/>
                </a:moveTo>
                <a:lnTo>
                  <a:pt x="1034850" y="474095"/>
                </a:lnTo>
                <a:lnTo>
                  <a:pt x="27969" y="474095"/>
                </a:lnTo>
                <a:lnTo>
                  <a:pt x="27969" y="306281"/>
                </a:lnTo>
                <a:lnTo>
                  <a:pt x="1034850" y="306281"/>
                </a:lnTo>
                <a:moveTo>
                  <a:pt x="1062819" y="278312"/>
                </a:moveTo>
                <a:lnTo>
                  <a:pt x="0" y="278312"/>
                </a:lnTo>
                <a:lnTo>
                  <a:pt x="0" y="502064"/>
                </a:lnTo>
                <a:lnTo>
                  <a:pt x="1062819" y="502064"/>
                </a:lnTo>
                <a:lnTo>
                  <a:pt x="1062819" y="278312"/>
                </a:lnTo>
                <a:lnTo>
                  <a:pt x="1062819" y="278312"/>
                </a:lnTo>
                <a:close/>
                <a:moveTo>
                  <a:pt x="113253" y="348450"/>
                </a:moveTo>
                <a:lnTo>
                  <a:pt x="85284" y="348450"/>
                </a:lnTo>
                <a:lnTo>
                  <a:pt x="85284" y="431926"/>
                </a:lnTo>
                <a:lnTo>
                  <a:pt x="113253" y="431926"/>
                </a:lnTo>
                <a:lnTo>
                  <a:pt x="113253" y="348450"/>
                </a:lnTo>
                <a:close/>
                <a:moveTo>
                  <a:pt x="169363" y="348450"/>
                </a:moveTo>
                <a:lnTo>
                  <a:pt x="141394" y="348450"/>
                </a:lnTo>
                <a:lnTo>
                  <a:pt x="141394" y="431926"/>
                </a:lnTo>
                <a:lnTo>
                  <a:pt x="169363" y="431926"/>
                </a:lnTo>
                <a:lnTo>
                  <a:pt x="169363" y="348450"/>
                </a:lnTo>
                <a:close/>
                <a:moveTo>
                  <a:pt x="225473" y="348450"/>
                </a:moveTo>
                <a:lnTo>
                  <a:pt x="197504" y="348450"/>
                </a:lnTo>
                <a:lnTo>
                  <a:pt x="197504" y="431926"/>
                </a:lnTo>
                <a:lnTo>
                  <a:pt x="225473" y="431926"/>
                </a:lnTo>
                <a:lnTo>
                  <a:pt x="225473" y="348450"/>
                </a:lnTo>
                <a:close/>
                <a:moveTo>
                  <a:pt x="281583" y="348450"/>
                </a:moveTo>
                <a:lnTo>
                  <a:pt x="253614" y="348450"/>
                </a:lnTo>
                <a:lnTo>
                  <a:pt x="253614" y="431926"/>
                </a:lnTo>
                <a:lnTo>
                  <a:pt x="281583" y="431926"/>
                </a:lnTo>
                <a:lnTo>
                  <a:pt x="281583" y="348450"/>
                </a:lnTo>
                <a:close/>
                <a:moveTo>
                  <a:pt x="337693" y="348450"/>
                </a:moveTo>
                <a:lnTo>
                  <a:pt x="309724" y="348450"/>
                </a:lnTo>
                <a:lnTo>
                  <a:pt x="309724" y="431926"/>
                </a:lnTo>
                <a:lnTo>
                  <a:pt x="337693" y="431926"/>
                </a:lnTo>
                <a:lnTo>
                  <a:pt x="337693" y="348450"/>
                </a:lnTo>
                <a:close/>
                <a:moveTo>
                  <a:pt x="393802" y="348450"/>
                </a:moveTo>
                <a:lnTo>
                  <a:pt x="365834" y="348450"/>
                </a:lnTo>
                <a:lnTo>
                  <a:pt x="365834" y="431926"/>
                </a:lnTo>
                <a:lnTo>
                  <a:pt x="393802" y="431926"/>
                </a:lnTo>
                <a:lnTo>
                  <a:pt x="393802" y="348450"/>
                </a:lnTo>
                <a:close/>
                <a:moveTo>
                  <a:pt x="449912" y="348450"/>
                </a:moveTo>
                <a:lnTo>
                  <a:pt x="421943" y="348450"/>
                </a:lnTo>
                <a:lnTo>
                  <a:pt x="421943" y="431926"/>
                </a:lnTo>
                <a:lnTo>
                  <a:pt x="449912" y="431926"/>
                </a:lnTo>
                <a:lnTo>
                  <a:pt x="449912" y="348450"/>
                </a:lnTo>
                <a:close/>
                <a:moveTo>
                  <a:pt x="506022" y="348450"/>
                </a:moveTo>
                <a:lnTo>
                  <a:pt x="478053" y="348450"/>
                </a:lnTo>
                <a:lnTo>
                  <a:pt x="478053" y="431926"/>
                </a:lnTo>
                <a:lnTo>
                  <a:pt x="506022" y="431926"/>
                </a:lnTo>
                <a:lnTo>
                  <a:pt x="506022" y="348450"/>
                </a:lnTo>
                <a:close/>
                <a:moveTo>
                  <a:pt x="945866" y="362391"/>
                </a:moveTo>
                <a:cubicBezTo>
                  <a:pt x="930462" y="362391"/>
                  <a:pt x="917897" y="374870"/>
                  <a:pt x="917897" y="390188"/>
                </a:cubicBezTo>
                <a:cubicBezTo>
                  <a:pt x="917897" y="405592"/>
                  <a:pt x="930462" y="417985"/>
                  <a:pt x="945866" y="417985"/>
                </a:cubicBezTo>
                <a:cubicBezTo>
                  <a:pt x="961270" y="417985"/>
                  <a:pt x="973835" y="405506"/>
                  <a:pt x="973835" y="390188"/>
                </a:cubicBezTo>
                <a:cubicBezTo>
                  <a:pt x="973835" y="374870"/>
                  <a:pt x="961356" y="362391"/>
                  <a:pt x="945866" y="362391"/>
                </a:cubicBezTo>
                <a:close/>
                <a:moveTo>
                  <a:pt x="1034850" y="582184"/>
                </a:moveTo>
                <a:lnTo>
                  <a:pt x="1034850" y="749997"/>
                </a:lnTo>
                <a:lnTo>
                  <a:pt x="27969" y="749997"/>
                </a:lnTo>
                <a:lnTo>
                  <a:pt x="27969" y="582184"/>
                </a:lnTo>
                <a:lnTo>
                  <a:pt x="1034850" y="582184"/>
                </a:lnTo>
                <a:moveTo>
                  <a:pt x="1062819" y="554215"/>
                </a:moveTo>
                <a:lnTo>
                  <a:pt x="0" y="554215"/>
                </a:lnTo>
                <a:lnTo>
                  <a:pt x="0" y="777966"/>
                </a:lnTo>
                <a:lnTo>
                  <a:pt x="1062819" y="777966"/>
                </a:lnTo>
                <a:lnTo>
                  <a:pt x="1062819" y="554215"/>
                </a:lnTo>
                <a:lnTo>
                  <a:pt x="1062819" y="554215"/>
                </a:lnTo>
                <a:close/>
                <a:moveTo>
                  <a:pt x="113253" y="624352"/>
                </a:moveTo>
                <a:lnTo>
                  <a:pt x="85284" y="624352"/>
                </a:lnTo>
                <a:lnTo>
                  <a:pt x="85284" y="707829"/>
                </a:lnTo>
                <a:lnTo>
                  <a:pt x="113253" y="707829"/>
                </a:lnTo>
                <a:lnTo>
                  <a:pt x="113253" y="624352"/>
                </a:lnTo>
                <a:close/>
                <a:moveTo>
                  <a:pt x="169363" y="624352"/>
                </a:moveTo>
                <a:lnTo>
                  <a:pt x="141394" y="624352"/>
                </a:lnTo>
                <a:lnTo>
                  <a:pt x="141394" y="707829"/>
                </a:lnTo>
                <a:lnTo>
                  <a:pt x="169363" y="707829"/>
                </a:lnTo>
                <a:lnTo>
                  <a:pt x="169363" y="624352"/>
                </a:lnTo>
                <a:close/>
                <a:moveTo>
                  <a:pt x="225473" y="624352"/>
                </a:moveTo>
                <a:lnTo>
                  <a:pt x="197504" y="624352"/>
                </a:lnTo>
                <a:lnTo>
                  <a:pt x="197504" y="707829"/>
                </a:lnTo>
                <a:lnTo>
                  <a:pt x="225473" y="707829"/>
                </a:lnTo>
                <a:lnTo>
                  <a:pt x="225473" y="624352"/>
                </a:lnTo>
                <a:close/>
                <a:moveTo>
                  <a:pt x="281583" y="624352"/>
                </a:moveTo>
                <a:lnTo>
                  <a:pt x="253614" y="624352"/>
                </a:lnTo>
                <a:lnTo>
                  <a:pt x="253614" y="707829"/>
                </a:lnTo>
                <a:lnTo>
                  <a:pt x="281583" y="707829"/>
                </a:lnTo>
                <a:lnTo>
                  <a:pt x="281583" y="624352"/>
                </a:lnTo>
                <a:close/>
                <a:moveTo>
                  <a:pt x="337693" y="624352"/>
                </a:moveTo>
                <a:lnTo>
                  <a:pt x="309724" y="624352"/>
                </a:lnTo>
                <a:lnTo>
                  <a:pt x="309724" y="707829"/>
                </a:lnTo>
                <a:lnTo>
                  <a:pt x="337693" y="707829"/>
                </a:lnTo>
                <a:lnTo>
                  <a:pt x="337693" y="624352"/>
                </a:lnTo>
                <a:close/>
                <a:moveTo>
                  <a:pt x="393802" y="624352"/>
                </a:moveTo>
                <a:lnTo>
                  <a:pt x="365834" y="624352"/>
                </a:lnTo>
                <a:lnTo>
                  <a:pt x="365834" y="707829"/>
                </a:lnTo>
                <a:lnTo>
                  <a:pt x="393802" y="707829"/>
                </a:lnTo>
                <a:lnTo>
                  <a:pt x="393802" y="624352"/>
                </a:lnTo>
                <a:close/>
                <a:moveTo>
                  <a:pt x="449912" y="624352"/>
                </a:moveTo>
                <a:lnTo>
                  <a:pt x="421943" y="624352"/>
                </a:lnTo>
                <a:lnTo>
                  <a:pt x="421943" y="707829"/>
                </a:lnTo>
                <a:lnTo>
                  <a:pt x="449912" y="707829"/>
                </a:lnTo>
                <a:lnTo>
                  <a:pt x="449912" y="624352"/>
                </a:lnTo>
                <a:close/>
                <a:moveTo>
                  <a:pt x="506022" y="624352"/>
                </a:moveTo>
                <a:lnTo>
                  <a:pt x="478053" y="624352"/>
                </a:lnTo>
                <a:lnTo>
                  <a:pt x="478053" y="707829"/>
                </a:lnTo>
                <a:lnTo>
                  <a:pt x="506022" y="707829"/>
                </a:lnTo>
                <a:lnTo>
                  <a:pt x="506022" y="624352"/>
                </a:lnTo>
                <a:close/>
                <a:moveTo>
                  <a:pt x="945866" y="638294"/>
                </a:moveTo>
                <a:cubicBezTo>
                  <a:pt x="930462" y="638294"/>
                  <a:pt x="917897" y="650772"/>
                  <a:pt x="917897" y="666091"/>
                </a:cubicBezTo>
                <a:cubicBezTo>
                  <a:pt x="917897" y="681409"/>
                  <a:pt x="930462" y="693887"/>
                  <a:pt x="945866" y="693887"/>
                </a:cubicBezTo>
                <a:cubicBezTo>
                  <a:pt x="961270" y="693887"/>
                  <a:pt x="973835" y="681409"/>
                  <a:pt x="973835" y="666091"/>
                </a:cubicBezTo>
                <a:cubicBezTo>
                  <a:pt x="973835" y="650772"/>
                  <a:pt x="961356" y="638294"/>
                  <a:pt x="945866" y="638294"/>
                </a:cubicBezTo>
                <a:close/>
                <a:moveTo>
                  <a:pt x="1034850" y="860582"/>
                </a:moveTo>
                <a:lnTo>
                  <a:pt x="1034850" y="1028654"/>
                </a:lnTo>
                <a:lnTo>
                  <a:pt x="27969" y="1028654"/>
                </a:lnTo>
                <a:lnTo>
                  <a:pt x="27969" y="860582"/>
                </a:lnTo>
                <a:lnTo>
                  <a:pt x="1034850" y="860582"/>
                </a:lnTo>
                <a:moveTo>
                  <a:pt x="1062819" y="832613"/>
                </a:moveTo>
                <a:lnTo>
                  <a:pt x="0" y="832613"/>
                </a:lnTo>
                <a:lnTo>
                  <a:pt x="0" y="1056623"/>
                </a:lnTo>
                <a:lnTo>
                  <a:pt x="1062819" y="1056623"/>
                </a:lnTo>
                <a:lnTo>
                  <a:pt x="1062819" y="832613"/>
                </a:lnTo>
                <a:lnTo>
                  <a:pt x="1062819" y="832613"/>
                </a:lnTo>
                <a:close/>
                <a:moveTo>
                  <a:pt x="113253" y="902837"/>
                </a:moveTo>
                <a:lnTo>
                  <a:pt x="85284" y="902837"/>
                </a:lnTo>
                <a:lnTo>
                  <a:pt x="85284" y="986399"/>
                </a:lnTo>
                <a:lnTo>
                  <a:pt x="113253" y="986399"/>
                </a:lnTo>
                <a:lnTo>
                  <a:pt x="113253" y="902837"/>
                </a:lnTo>
                <a:close/>
                <a:moveTo>
                  <a:pt x="169363" y="902837"/>
                </a:moveTo>
                <a:lnTo>
                  <a:pt x="141394" y="902837"/>
                </a:lnTo>
                <a:lnTo>
                  <a:pt x="141394" y="986399"/>
                </a:lnTo>
                <a:lnTo>
                  <a:pt x="169363" y="986399"/>
                </a:lnTo>
                <a:lnTo>
                  <a:pt x="169363" y="902837"/>
                </a:lnTo>
                <a:close/>
                <a:moveTo>
                  <a:pt x="225473" y="902837"/>
                </a:moveTo>
                <a:lnTo>
                  <a:pt x="197504" y="902837"/>
                </a:lnTo>
                <a:lnTo>
                  <a:pt x="197504" y="986399"/>
                </a:lnTo>
                <a:lnTo>
                  <a:pt x="225473" y="986399"/>
                </a:lnTo>
                <a:lnTo>
                  <a:pt x="225473" y="902837"/>
                </a:lnTo>
                <a:close/>
                <a:moveTo>
                  <a:pt x="281583" y="902837"/>
                </a:moveTo>
                <a:lnTo>
                  <a:pt x="253614" y="902837"/>
                </a:lnTo>
                <a:lnTo>
                  <a:pt x="253614" y="986399"/>
                </a:lnTo>
                <a:lnTo>
                  <a:pt x="281583" y="986399"/>
                </a:lnTo>
                <a:lnTo>
                  <a:pt x="281583" y="902837"/>
                </a:lnTo>
                <a:close/>
                <a:moveTo>
                  <a:pt x="337693" y="902837"/>
                </a:moveTo>
                <a:lnTo>
                  <a:pt x="309724" y="902837"/>
                </a:lnTo>
                <a:lnTo>
                  <a:pt x="309724" y="986399"/>
                </a:lnTo>
                <a:lnTo>
                  <a:pt x="337693" y="986399"/>
                </a:lnTo>
                <a:lnTo>
                  <a:pt x="337693" y="902837"/>
                </a:lnTo>
                <a:close/>
                <a:moveTo>
                  <a:pt x="393802" y="902837"/>
                </a:moveTo>
                <a:lnTo>
                  <a:pt x="365834" y="902837"/>
                </a:lnTo>
                <a:lnTo>
                  <a:pt x="365834" y="986399"/>
                </a:lnTo>
                <a:lnTo>
                  <a:pt x="393802" y="986399"/>
                </a:lnTo>
                <a:lnTo>
                  <a:pt x="393802" y="902837"/>
                </a:lnTo>
                <a:close/>
                <a:moveTo>
                  <a:pt x="449912" y="902837"/>
                </a:moveTo>
                <a:lnTo>
                  <a:pt x="421943" y="902837"/>
                </a:lnTo>
                <a:lnTo>
                  <a:pt x="421943" y="986399"/>
                </a:lnTo>
                <a:lnTo>
                  <a:pt x="449912" y="986399"/>
                </a:lnTo>
                <a:lnTo>
                  <a:pt x="449912" y="902837"/>
                </a:lnTo>
                <a:close/>
                <a:moveTo>
                  <a:pt x="506022" y="902837"/>
                </a:moveTo>
                <a:lnTo>
                  <a:pt x="478053" y="902837"/>
                </a:lnTo>
                <a:lnTo>
                  <a:pt x="478053" y="986399"/>
                </a:lnTo>
                <a:lnTo>
                  <a:pt x="506022" y="986399"/>
                </a:lnTo>
                <a:lnTo>
                  <a:pt x="506022" y="902837"/>
                </a:lnTo>
                <a:close/>
                <a:moveTo>
                  <a:pt x="945866" y="916692"/>
                </a:moveTo>
                <a:cubicBezTo>
                  <a:pt x="930462" y="916692"/>
                  <a:pt x="917897" y="929171"/>
                  <a:pt x="917897" y="944575"/>
                </a:cubicBezTo>
                <a:cubicBezTo>
                  <a:pt x="917897" y="959979"/>
                  <a:pt x="930462" y="972458"/>
                  <a:pt x="945866" y="972458"/>
                </a:cubicBezTo>
                <a:cubicBezTo>
                  <a:pt x="961270" y="972458"/>
                  <a:pt x="973835" y="959979"/>
                  <a:pt x="973835" y="944575"/>
                </a:cubicBezTo>
                <a:cubicBezTo>
                  <a:pt x="973835" y="929171"/>
                  <a:pt x="961356" y="916692"/>
                  <a:pt x="945866" y="916692"/>
                </a:cubicBezTo>
                <a:close/>
              </a:path>
            </a:pathLst>
          </a:custGeom>
          <a:solidFill>
            <a:schemeClr val="bg1"/>
          </a:solidFill>
          <a:ln w="8603"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18" name="Rectangle 317">
            <a:extLst>
              <a:ext uri="{FF2B5EF4-FFF2-40B4-BE49-F238E27FC236}">
                <a16:creationId xmlns:a16="http://schemas.microsoft.com/office/drawing/2014/main" id="{B30875BC-0841-1446-A024-913274905C33}"/>
              </a:ext>
              <a:ext uri="{C183D7F6-B498-43B3-948B-1728B52AA6E4}">
                <adec:decorative xmlns:adec="http://schemas.microsoft.com/office/drawing/2017/decorative" val="1"/>
              </a:ext>
            </a:extLst>
          </p:cNvPr>
          <p:cNvSpPr/>
          <p:nvPr/>
        </p:nvSpPr>
        <p:spPr>
          <a:xfrm>
            <a:off x="5635612" y="5878068"/>
            <a:ext cx="920444" cy="307777"/>
          </a:xfrm>
          <a:prstGeom prst="rect">
            <a:avLst/>
          </a:prstGeom>
        </p:spPr>
        <p:txBody>
          <a:bodyPr wrap="non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400" u="none" strike="noStrike" kern="1200" cap="none" spc="0" normalizeH="0" baseline="0" noProof="0" dirty="0">
                <a:ln>
                  <a:noFill/>
                </a:ln>
                <a:solidFill>
                  <a:srgbClr val="000000"/>
                </a:solidFill>
                <a:effectLst/>
                <a:uLnTx/>
                <a:uFillTx/>
                <a:latin typeface="Arial" panose="020B0604020202020204" pitchFamily="34" charset="0"/>
                <a:ea typeface="+mn-ea"/>
                <a:cs typeface="+mn-cs"/>
              </a:rPr>
              <a:t>Inventory</a:t>
            </a:r>
          </a:p>
        </p:txBody>
      </p:sp>
      <p:grpSp>
        <p:nvGrpSpPr>
          <p:cNvPr id="320" name="Group 319">
            <a:extLst>
              <a:ext uri="{FF2B5EF4-FFF2-40B4-BE49-F238E27FC236}">
                <a16:creationId xmlns:a16="http://schemas.microsoft.com/office/drawing/2014/main" id="{1559BC2F-091A-014B-85B1-04CF8557E6A3}"/>
              </a:ext>
              <a:ext uri="{C183D7F6-B498-43B3-948B-1728B52AA6E4}">
                <adec:decorative xmlns:adec="http://schemas.microsoft.com/office/drawing/2017/decorative" val="1"/>
              </a:ext>
            </a:extLst>
          </p:cNvPr>
          <p:cNvGrpSpPr/>
          <p:nvPr/>
        </p:nvGrpSpPr>
        <p:grpSpPr>
          <a:xfrm>
            <a:off x="6435636" y="3231271"/>
            <a:ext cx="701555" cy="454712"/>
            <a:chOff x="6587147" y="2673862"/>
            <a:chExt cx="702051" cy="455033"/>
          </a:xfrm>
        </p:grpSpPr>
        <p:sp>
          <p:nvSpPr>
            <p:cNvPr id="321" name="Rectangle 320">
              <a:extLst>
                <a:ext uri="{FF2B5EF4-FFF2-40B4-BE49-F238E27FC236}">
                  <a16:creationId xmlns:a16="http://schemas.microsoft.com/office/drawing/2014/main" id="{6E659190-3EF1-6842-AAFD-4C985DBCE41A}"/>
                </a:ext>
              </a:extLst>
            </p:cNvPr>
            <p:cNvSpPr/>
            <p:nvPr/>
          </p:nvSpPr>
          <p:spPr>
            <a:xfrm>
              <a:off x="6587147" y="2673862"/>
              <a:ext cx="702051" cy="455033"/>
            </a:xfrm>
            <a:prstGeom prst="rect">
              <a:avLst/>
            </a:prstGeom>
            <a:solidFill>
              <a:schemeClr val="bg1"/>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nvGrpSpPr>
            <p:cNvPr id="322" name="Graphic 5">
              <a:extLst>
                <a:ext uri="{FF2B5EF4-FFF2-40B4-BE49-F238E27FC236}">
                  <a16:creationId xmlns:a16="http://schemas.microsoft.com/office/drawing/2014/main" id="{8A1F0139-7E38-B84E-93E9-CB33016E78C5}"/>
                </a:ext>
              </a:extLst>
            </p:cNvPr>
            <p:cNvGrpSpPr/>
            <p:nvPr/>
          </p:nvGrpSpPr>
          <p:grpSpPr>
            <a:xfrm>
              <a:off x="6618310" y="2720003"/>
              <a:ext cx="639001" cy="365143"/>
              <a:chOff x="4841874" y="3505200"/>
              <a:chExt cx="2506980" cy="1432559"/>
            </a:xfrm>
            <a:solidFill>
              <a:srgbClr val="F8981D"/>
            </a:solidFill>
          </p:grpSpPr>
          <p:grpSp>
            <p:nvGrpSpPr>
              <p:cNvPr id="323" name="Graphic 5">
                <a:extLst>
                  <a:ext uri="{FF2B5EF4-FFF2-40B4-BE49-F238E27FC236}">
                    <a16:creationId xmlns:a16="http://schemas.microsoft.com/office/drawing/2014/main" id="{C5A8F6F0-15A2-4943-884F-9F71483CC6F5}"/>
                  </a:ext>
                </a:extLst>
              </p:cNvPr>
              <p:cNvGrpSpPr/>
              <p:nvPr/>
            </p:nvGrpSpPr>
            <p:grpSpPr>
              <a:xfrm>
                <a:off x="4841874" y="3505200"/>
                <a:ext cx="2506980" cy="638175"/>
                <a:chOff x="4841874" y="3505200"/>
                <a:chExt cx="2506980" cy="638175"/>
              </a:xfrm>
              <a:grpFill/>
            </p:grpSpPr>
            <p:grpSp>
              <p:nvGrpSpPr>
                <p:cNvPr id="337" name="Graphic 5">
                  <a:extLst>
                    <a:ext uri="{FF2B5EF4-FFF2-40B4-BE49-F238E27FC236}">
                      <a16:creationId xmlns:a16="http://schemas.microsoft.com/office/drawing/2014/main" id="{CBC8DB9C-11B8-0B4C-AAB6-327A26D00458}"/>
                    </a:ext>
                  </a:extLst>
                </p:cNvPr>
                <p:cNvGrpSpPr/>
                <p:nvPr/>
              </p:nvGrpSpPr>
              <p:grpSpPr>
                <a:xfrm>
                  <a:off x="4841874" y="3505200"/>
                  <a:ext cx="2506980" cy="638175"/>
                  <a:chOff x="4841874" y="3505200"/>
                  <a:chExt cx="2506980" cy="638175"/>
                </a:xfrm>
                <a:grpFill/>
              </p:grpSpPr>
              <p:sp>
                <p:nvSpPr>
                  <p:cNvPr id="339" name="Freeform: Shape 519">
                    <a:extLst>
                      <a:ext uri="{FF2B5EF4-FFF2-40B4-BE49-F238E27FC236}">
                        <a16:creationId xmlns:a16="http://schemas.microsoft.com/office/drawing/2014/main" id="{FA7CC550-5958-C44F-A192-3BEDD81392A7}"/>
                      </a:ext>
                    </a:extLst>
                  </p:cNvPr>
                  <p:cNvSpPr/>
                  <p:nvPr/>
                </p:nvSpPr>
                <p:spPr>
                  <a:xfrm>
                    <a:off x="4841874" y="3505200"/>
                    <a:ext cx="2506980" cy="638175"/>
                  </a:xfrm>
                  <a:custGeom>
                    <a:avLst/>
                    <a:gdLst>
                      <a:gd name="connsiteX0" fmla="*/ 2427923 w 2506980"/>
                      <a:gd name="connsiteY0" fmla="*/ 79058 h 638175"/>
                      <a:gd name="connsiteX1" fmla="*/ 2427923 w 2506980"/>
                      <a:gd name="connsiteY1" fmla="*/ 557213 h 638175"/>
                      <a:gd name="connsiteX2" fmla="*/ 80010 w 2506980"/>
                      <a:gd name="connsiteY2" fmla="*/ 557213 h 638175"/>
                      <a:gd name="connsiteX3" fmla="*/ 80010 w 2506980"/>
                      <a:gd name="connsiteY3" fmla="*/ 79058 h 638175"/>
                      <a:gd name="connsiteX4" fmla="*/ 2427923 w 2506980"/>
                      <a:gd name="connsiteY4" fmla="*/ 79058 h 638175"/>
                      <a:gd name="connsiteX5" fmla="*/ 2506980 w 2506980"/>
                      <a:gd name="connsiteY5" fmla="*/ 0 h 638175"/>
                      <a:gd name="connsiteX6" fmla="*/ 0 w 2506980"/>
                      <a:gd name="connsiteY6" fmla="*/ 0 h 638175"/>
                      <a:gd name="connsiteX7" fmla="*/ 0 w 2506980"/>
                      <a:gd name="connsiteY7" fmla="*/ 638175 h 638175"/>
                      <a:gd name="connsiteX8" fmla="*/ 2506980 w 2506980"/>
                      <a:gd name="connsiteY8" fmla="*/ 638175 h 638175"/>
                      <a:gd name="connsiteX9" fmla="*/ 2506980 w 2506980"/>
                      <a:gd name="connsiteY9" fmla="*/ 0 h 638175"/>
                      <a:gd name="connsiteX10" fmla="*/ 2506980 w 2506980"/>
                      <a:gd name="connsiteY10" fmla="*/ 0 h 6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6980" h="638175">
                        <a:moveTo>
                          <a:pt x="2427923" y="79058"/>
                        </a:moveTo>
                        <a:lnTo>
                          <a:pt x="2427923" y="557213"/>
                        </a:lnTo>
                        <a:lnTo>
                          <a:pt x="80010" y="557213"/>
                        </a:lnTo>
                        <a:lnTo>
                          <a:pt x="80010" y="79058"/>
                        </a:lnTo>
                        <a:lnTo>
                          <a:pt x="2427923" y="79058"/>
                        </a:lnTo>
                        <a:moveTo>
                          <a:pt x="2506980" y="0"/>
                        </a:moveTo>
                        <a:lnTo>
                          <a:pt x="0" y="0"/>
                        </a:lnTo>
                        <a:lnTo>
                          <a:pt x="0" y="638175"/>
                        </a:lnTo>
                        <a:lnTo>
                          <a:pt x="2506980" y="638175"/>
                        </a:lnTo>
                        <a:lnTo>
                          <a:pt x="2506980" y="0"/>
                        </a:lnTo>
                        <a:lnTo>
                          <a:pt x="2506980" y="0"/>
                        </a:lnTo>
                        <a:close/>
                      </a:path>
                    </a:pathLst>
                  </a:custGeom>
                  <a:solidFill>
                    <a:schemeClr val="accent5"/>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40" name="Graphic 5">
                    <a:extLst>
                      <a:ext uri="{FF2B5EF4-FFF2-40B4-BE49-F238E27FC236}">
                        <a16:creationId xmlns:a16="http://schemas.microsoft.com/office/drawing/2014/main" id="{A8916409-9F34-0D4D-9D50-81BBB554ECF2}"/>
                      </a:ext>
                    </a:extLst>
                  </p:cNvPr>
                  <p:cNvGrpSpPr/>
                  <p:nvPr/>
                </p:nvGrpSpPr>
                <p:grpSpPr>
                  <a:xfrm>
                    <a:off x="5084761" y="3704272"/>
                    <a:ext cx="1200150" cy="238125"/>
                    <a:chOff x="5084761" y="3704272"/>
                    <a:chExt cx="1200150" cy="238125"/>
                  </a:xfrm>
                  <a:grpFill/>
                </p:grpSpPr>
                <p:sp>
                  <p:nvSpPr>
                    <p:cNvPr id="341" name="Freeform: Shape 521">
                      <a:extLst>
                        <a:ext uri="{FF2B5EF4-FFF2-40B4-BE49-F238E27FC236}">
                          <a16:creationId xmlns:a16="http://schemas.microsoft.com/office/drawing/2014/main" id="{3D85B812-BEB6-684B-BF08-58138F7B3951}"/>
                        </a:ext>
                      </a:extLst>
                    </p:cNvPr>
                    <p:cNvSpPr/>
                    <p:nvPr/>
                  </p:nvSpPr>
                  <p:spPr>
                    <a:xfrm>
                      <a:off x="508476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solidFill>
                      <a:schemeClr val="accent5"/>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42" name="Freeform: Shape 522">
                      <a:extLst>
                        <a:ext uri="{FF2B5EF4-FFF2-40B4-BE49-F238E27FC236}">
                          <a16:creationId xmlns:a16="http://schemas.microsoft.com/office/drawing/2014/main" id="{19E9C0C7-0E5E-7741-82CB-7ED2F0F056CC}"/>
                        </a:ext>
                      </a:extLst>
                    </p:cNvPr>
                    <p:cNvSpPr/>
                    <p:nvPr/>
                  </p:nvSpPr>
                  <p:spPr>
                    <a:xfrm>
                      <a:off x="524478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solidFill>
                      <a:schemeClr val="accent5"/>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43" name="Freeform: Shape 523">
                      <a:extLst>
                        <a:ext uri="{FF2B5EF4-FFF2-40B4-BE49-F238E27FC236}">
                          <a16:creationId xmlns:a16="http://schemas.microsoft.com/office/drawing/2014/main" id="{A1483E22-71FE-7841-91C9-4C98A11DC909}"/>
                        </a:ext>
                      </a:extLst>
                    </p:cNvPr>
                    <p:cNvSpPr/>
                    <p:nvPr/>
                  </p:nvSpPr>
                  <p:spPr>
                    <a:xfrm>
                      <a:off x="540480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solidFill>
                      <a:schemeClr val="accent5"/>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44" name="Freeform: Shape 524">
                      <a:extLst>
                        <a:ext uri="{FF2B5EF4-FFF2-40B4-BE49-F238E27FC236}">
                          <a16:creationId xmlns:a16="http://schemas.microsoft.com/office/drawing/2014/main" id="{01FC4822-660E-7C49-B59F-F9C4A3F9641C}"/>
                        </a:ext>
                      </a:extLst>
                    </p:cNvPr>
                    <p:cNvSpPr/>
                    <p:nvPr/>
                  </p:nvSpPr>
                  <p:spPr>
                    <a:xfrm>
                      <a:off x="556482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solidFill>
                      <a:schemeClr val="accent5"/>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45" name="Freeform: Shape 525">
                      <a:extLst>
                        <a:ext uri="{FF2B5EF4-FFF2-40B4-BE49-F238E27FC236}">
                          <a16:creationId xmlns:a16="http://schemas.microsoft.com/office/drawing/2014/main" id="{67C3FEB2-52DA-D243-A29B-AF604FBC2842}"/>
                        </a:ext>
                      </a:extLst>
                    </p:cNvPr>
                    <p:cNvSpPr/>
                    <p:nvPr/>
                  </p:nvSpPr>
                  <p:spPr>
                    <a:xfrm>
                      <a:off x="572484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solidFill>
                      <a:schemeClr val="accent5"/>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46" name="Freeform: Shape 526">
                      <a:extLst>
                        <a:ext uri="{FF2B5EF4-FFF2-40B4-BE49-F238E27FC236}">
                          <a16:creationId xmlns:a16="http://schemas.microsoft.com/office/drawing/2014/main" id="{937405F6-3B89-2E44-B513-1A18F51A98D1}"/>
                        </a:ext>
                      </a:extLst>
                    </p:cNvPr>
                    <p:cNvSpPr/>
                    <p:nvPr/>
                  </p:nvSpPr>
                  <p:spPr>
                    <a:xfrm>
                      <a:off x="588486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solidFill>
                      <a:schemeClr val="accent5"/>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47" name="Freeform: Shape 527">
                      <a:extLst>
                        <a:ext uri="{FF2B5EF4-FFF2-40B4-BE49-F238E27FC236}">
                          <a16:creationId xmlns:a16="http://schemas.microsoft.com/office/drawing/2014/main" id="{AB09962B-2C52-2F4B-A972-22C4590D49FD}"/>
                        </a:ext>
                      </a:extLst>
                    </p:cNvPr>
                    <p:cNvSpPr/>
                    <p:nvPr/>
                  </p:nvSpPr>
                  <p:spPr>
                    <a:xfrm>
                      <a:off x="6044881" y="3704272"/>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solidFill>
                      <a:schemeClr val="accent5"/>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48" name="Freeform: Shape 528">
                      <a:extLst>
                        <a:ext uri="{FF2B5EF4-FFF2-40B4-BE49-F238E27FC236}">
                          <a16:creationId xmlns:a16="http://schemas.microsoft.com/office/drawing/2014/main" id="{EBBFCAFE-030B-314C-B4B8-604B70F989DC}"/>
                        </a:ext>
                      </a:extLst>
                    </p:cNvPr>
                    <p:cNvSpPr/>
                    <p:nvPr/>
                  </p:nvSpPr>
                  <p:spPr>
                    <a:xfrm>
                      <a:off x="6204901" y="3704272"/>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solidFill>
                      <a:schemeClr val="accent5"/>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338" name="Freeform: Shape 518">
                  <a:extLst>
                    <a:ext uri="{FF2B5EF4-FFF2-40B4-BE49-F238E27FC236}">
                      <a16:creationId xmlns:a16="http://schemas.microsoft.com/office/drawing/2014/main" id="{36B9CA7A-B3A9-1344-8C16-B3D2E63AABFC}"/>
                    </a:ext>
                  </a:extLst>
                </p:cNvPr>
                <p:cNvSpPr/>
                <p:nvPr/>
              </p:nvSpPr>
              <p:spPr>
                <a:xfrm>
                  <a:off x="6935469" y="3744277"/>
                  <a:ext cx="160020" cy="158115"/>
                </a:xfrm>
                <a:custGeom>
                  <a:avLst/>
                  <a:gdLst>
                    <a:gd name="connsiteX0" fmla="*/ 160020 w 160020"/>
                    <a:gd name="connsiteY0" fmla="*/ 79057 h 158115"/>
                    <a:gd name="connsiteX1" fmla="*/ 80010 w 160020"/>
                    <a:gd name="connsiteY1" fmla="*/ 158115 h 158115"/>
                    <a:gd name="connsiteX2" fmla="*/ 0 w 160020"/>
                    <a:gd name="connsiteY2" fmla="*/ 79057 h 158115"/>
                    <a:gd name="connsiteX3" fmla="*/ 80010 w 160020"/>
                    <a:gd name="connsiteY3" fmla="*/ 0 h 158115"/>
                    <a:gd name="connsiteX4" fmla="*/ 160020 w 160020"/>
                    <a:gd name="connsiteY4" fmla="*/ 79057 h 158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020" h="158115">
                      <a:moveTo>
                        <a:pt x="160020" y="79057"/>
                      </a:moveTo>
                      <a:cubicBezTo>
                        <a:pt x="160020" y="122720"/>
                        <a:pt x="124198" y="158115"/>
                        <a:pt x="80010" y="158115"/>
                      </a:cubicBezTo>
                      <a:cubicBezTo>
                        <a:pt x="35822" y="158115"/>
                        <a:pt x="0" y="122720"/>
                        <a:pt x="0" y="79057"/>
                      </a:cubicBezTo>
                      <a:cubicBezTo>
                        <a:pt x="0" y="35395"/>
                        <a:pt x="35822" y="0"/>
                        <a:pt x="80010" y="0"/>
                      </a:cubicBezTo>
                      <a:cubicBezTo>
                        <a:pt x="124198" y="0"/>
                        <a:pt x="160020" y="35395"/>
                        <a:pt x="160020" y="79057"/>
                      </a:cubicBezTo>
                      <a:close/>
                    </a:path>
                  </a:pathLst>
                </a:custGeom>
                <a:solidFill>
                  <a:schemeClr val="accent5"/>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24" name="Graphic 5">
                <a:extLst>
                  <a:ext uri="{FF2B5EF4-FFF2-40B4-BE49-F238E27FC236}">
                    <a16:creationId xmlns:a16="http://schemas.microsoft.com/office/drawing/2014/main" id="{6733D5E1-7541-CC48-B418-BC0B3329C5DE}"/>
                  </a:ext>
                </a:extLst>
              </p:cNvPr>
              <p:cNvGrpSpPr/>
              <p:nvPr/>
            </p:nvGrpSpPr>
            <p:grpSpPr>
              <a:xfrm>
                <a:off x="4841874" y="4298632"/>
                <a:ext cx="2506980" cy="639127"/>
                <a:chOff x="4841874" y="4298632"/>
                <a:chExt cx="2506980" cy="639127"/>
              </a:xfrm>
              <a:grpFill/>
            </p:grpSpPr>
            <p:grpSp>
              <p:nvGrpSpPr>
                <p:cNvPr id="325" name="Graphic 5">
                  <a:extLst>
                    <a:ext uri="{FF2B5EF4-FFF2-40B4-BE49-F238E27FC236}">
                      <a16:creationId xmlns:a16="http://schemas.microsoft.com/office/drawing/2014/main" id="{1AD43149-F853-294F-B47A-213989AA2BB9}"/>
                    </a:ext>
                  </a:extLst>
                </p:cNvPr>
                <p:cNvGrpSpPr/>
                <p:nvPr/>
              </p:nvGrpSpPr>
              <p:grpSpPr>
                <a:xfrm>
                  <a:off x="4841874" y="4298632"/>
                  <a:ext cx="2506980" cy="639127"/>
                  <a:chOff x="4841874" y="4298632"/>
                  <a:chExt cx="2506980" cy="639127"/>
                </a:xfrm>
                <a:grpFill/>
              </p:grpSpPr>
              <p:sp>
                <p:nvSpPr>
                  <p:cNvPr id="327" name="Freeform: Shape 507">
                    <a:extLst>
                      <a:ext uri="{FF2B5EF4-FFF2-40B4-BE49-F238E27FC236}">
                        <a16:creationId xmlns:a16="http://schemas.microsoft.com/office/drawing/2014/main" id="{0DA0D06D-791C-9C4E-BF80-42A8D0B10A49}"/>
                      </a:ext>
                    </a:extLst>
                  </p:cNvPr>
                  <p:cNvSpPr/>
                  <p:nvPr/>
                </p:nvSpPr>
                <p:spPr>
                  <a:xfrm>
                    <a:off x="4841874" y="4298632"/>
                    <a:ext cx="2506980" cy="639127"/>
                  </a:xfrm>
                  <a:custGeom>
                    <a:avLst/>
                    <a:gdLst>
                      <a:gd name="connsiteX0" fmla="*/ 2427923 w 2506980"/>
                      <a:gd name="connsiteY0" fmla="*/ 80010 h 639127"/>
                      <a:gd name="connsiteX1" fmla="*/ 2427923 w 2506980"/>
                      <a:gd name="connsiteY1" fmla="*/ 559118 h 639127"/>
                      <a:gd name="connsiteX2" fmla="*/ 80010 w 2506980"/>
                      <a:gd name="connsiteY2" fmla="*/ 559118 h 639127"/>
                      <a:gd name="connsiteX3" fmla="*/ 80010 w 2506980"/>
                      <a:gd name="connsiteY3" fmla="*/ 80010 h 639127"/>
                      <a:gd name="connsiteX4" fmla="*/ 2427923 w 2506980"/>
                      <a:gd name="connsiteY4" fmla="*/ 80010 h 639127"/>
                      <a:gd name="connsiteX5" fmla="*/ 2506980 w 2506980"/>
                      <a:gd name="connsiteY5" fmla="*/ 0 h 639127"/>
                      <a:gd name="connsiteX6" fmla="*/ 0 w 2506980"/>
                      <a:gd name="connsiteY6" fmla="*/ 0 h 639127"/>
                      <a:gd name="connsiteX7" fmla="*/ 0 w 2506980"/>
                      <a:gd name="connsiteY7" fmla="*/ 639127 h 639127"/>
                      <a:gd name="connsiteX8" fmla="*/ 2506980 w 2506980"/>
                      <a:gd name="connsiteY8" fmla="*/ 639127 h 639127"/>
                      <a:gd name="connsiteX9" fmla="*/ 2506980 w 2506980"/>
                      <a:gd name="connsiteY9" fmla="*/ 0 h 639127"/>
                      <a:gd name="connsiteX10" fmla="*/ 2506980 w 2506980"/>
                      <a:gd name="connsiteY10" fmla="*/ 0 h 63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6980" h="639127">
                        <a:moveTo>
                          <a:pt x="2427923" y="80010"/>
                        </a:moveTo>
                        <a:lnTo>
                          <a:pt x="2427923" y="559118"/>
                        </a:lnTo>
                        <a:lnTo>
                          <a:pt x="80010" y="559118"/>
                        </a:lnTo>
                        <a:lnTo>
                          <a:pt x="80010" y="80010"/>
                        </a:lnTo>
                        <a:lnTo>
                          <a:pt x="2427923" y="80010"/>
                        </a:lnTo>
                        <a:moveTo>
                          <a:pt x="2506980" y="0"/>
                        </a:moveTo>
                        <a:lnTo>
                          <a:pt x="0" y="0"/>
                        </a:lnTo>
                        <a:lnTo>
                          <a:pt x="0" y="639127"/>
                        </a:lnTo>
                        <a:lnTo>
                          <a:pt x="2506980" y="639127"/>
                        </a:lnTo>
                        <a:lnTo>
                          <a:pt x="2506980" y="0"/>
                        </a:lnTo>
                        <a:lnTo>
                          <a:pt x="2506980" y="0"/>
                        </a:lnTo>
                        <a:close/>
                      </a:path>
                    </a:pathLst>
                  </a:custGeom>
                  <a:solidFill>
                    <a:schemeClr val="accent5"/>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28" name="Graphic 5">
                    <a:extLst>
                      <a:ext uri="{FF2B5EF4-FFF2-40B4-BE49-F238E27FC236}">
                        <a16:creationId xmlns:a16="http://schemas.microsoft.com/office/drawing/2014/main" id="{2E8BFBA2-D4D0-1049-8518-E014DE105ED6}"/>
                      </a:ext>
                    </a:extLst>
                  </p:cNvPr>
                  <p:cNvGrpSpPr/>
                  <p:nvPr/>
                </p:nvGrpSpPr>
                <p:grpSpPr>
                  <a:xfrm>
                    <a:off x="5084761" y="4498657"/>
                    <a:ext cx="1200150" cy="238125"/>
                    <a:chOff x="5084761" y="4498657"/>
                    <a:chExt cx="1200150" cy="238125"/>
                  </a:xfrm>
                  <a:grpFill/>
                </p:grpSpPr>
                <p:sp>
                  <p:nvSpPr>
                    <p:cNvPr id="329" name="Freeform: Shape 509">
                      <a:extLst>
                        <a:ext uri="{FF2B5EF4-FFF2-40B4-BE49-F238E27FC236}">
                          <a16:creationId xmlns:a16="http://schemas.microsoft.com/office/drawing/2014/main" id="{F8B5452F-9635-2745-B218-4977D5553589}"/>
                        </a:ext>
                      </a:extLst>
                    </p:cNvPr>
                    <p:cNvSpPr/>
                    <p:nvPr/>
                  </p:nvSpPr>
                  <p:spPr>
                    <a:xfrm>
                      <a:off x="508476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solidFill>
                      <a:schemeClr val="accent5"/>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30" name="Freeform: Shape 510">
                      <a:extLst>
                        <a:ext uri="{FF2B5EF4-FFF2-40B4-BE49-F238E27FC236}">
                          <a16:creationId xmlns:a16="http://schemas.microsoft.com/office/drawing/2014/main" id="{7E01A783-BAED-F743-956D-4DE3A18585BF}"/>
                        </a:ext>
                      </a:extLst>
                    </p:cNvPr>
                    <p:cNvSpPr/>
                    <p:nvPr/>
                  </p:nvSpPr>
                  <p:spPr>
                    <a:xfrm>
                      <a:off x="524478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solidFill>
                      <a:schemeClr val="accent5"/>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31" name="Freeform: Shape 511">
                      <a:extLst>
                        <a:ext uri="{FF2B5EF4-FFF2-40B4-BE49-F238E27FC236}">
                          <a16:creationId xmlns:a16="http://schemas.microsoft.com/office/drawing/2014/main" id="{A373D7C6-D76E-F044-ABA9-89266B391172}"/>
                        </a:ext>
                      </a:extLst>
                    </p:cNvPr>
                    <p:cNvSpPr/>
                    <p:nvPr/>
                  </p:nvSpPr>
                  <p:spPr>
                    <a:xfrm>
                      <a:off x="540480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solidFill>
                      <a:schemeClr val="accent5"/>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32" name="Freeform: Shape 512">
                      <a:extLst>
                        <a:ext uri="{FF2B5EF4-FFF2-40B4-BE49-F238E27FC236}">
                          <a16:creationId xmlns:a16="http://schemas.microsoft.com/office/drawing/2014/main" id="{F7883F0F-1267-904C-AB92-D531D9D4B3D0}"/>
                        </a:ext>
                      </a:extLst>
                    </p:cNvPr>
                    <p:cNvSpPr/>
                    <p:nvPr/>
                  </p:nvSpPr>
                  <p:spPr>
                    <a:xfrm>
                      <a:off x="556482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solidFill>
                      <a:schemeClr val="accent5"/>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33" name="Freeform: Shape 513">
                      <a:extLst>
                        <a:ext uri="{FF2B5EF4-FFF2-40B4-BE49-F238E27FC236}">
                          <a16:creationId xmlns:a16="http://schemas.microsoft.com/office/drawing/2014/main" id="{F966B9BA-7F79-4248-BCB5-63CEAB7BA420}"/>
                        </a:ext>
                      </a:extLst>
                    </p:cNvPr>
                    <p:cNvSpPr/>
                    <p:nvPr/>
                  </p:nvSpPr>
                  <p:spPr>
                    <a:xfrm>
                      <a:off x="572484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solidFill>
                      <a:schemeClr val="accent5"/>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34" name="Freeform: Shape 514">
                      <a:extLst>
                        <a:ext uri="{FF2B5EF4-FFF2-40B4-BE49-F238E27FC236}">
                          <a16:creationId xmlns:a16="http://schemas.microsoft.com/office/drawing/2014/main" id="{007D6672-2CA7-6140-8C73-348E2C674473}"/>
                        </a:ext>
                      </a:extLst>
                    </p:cNvPr>
                    <p:cNvSpPr/>
                    <p:nvPr/>
                  </p:nvSpPr>
                  <p:spPr>
                    <a:xfrm>
                      <a:off x="588486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solidFill>
                      <a:schemeClr val="accent5"/>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35" name="Freeform: Shape 515">
                      <a:extLst>
                        <a:ext uri="{FF2B5EF4-FFF2-40B4-BE49-F238E27FC236}">
                          <a16:creationId xmlns:a16="http://schemas.microsoft.com/office/drawing/2014/main" id="{F65018D6-FB61-2D4B-9BBE-92354A082D07}"/>
                        </a:ext>
                      </a:extLst>
                    </p:cNvPr>
                    <p:cNvSpPr/>
                    <p:nvPr/>
                  </p:nvSpPr>
                  <p:spPr>
                    <a:xfrm>
                      <a:off x="6044881" y="4498657"/>
                      <a:ext cx="80009" cy="238125"/>
                    </a:xfrm>
                    <a:custGeom>
                      <a:avLst/>
                      <a:gdLst>
                        <a:gd name="connsiteX0" fmla="*/ 0 w 80009"/>
                        <a:gd name="connsiteY0" fmla="*/ 0 h 238125"/>
                        <a:gd name="connsiteX1" fmla="*/ 80010 w 80009"/>
                        <a:gd name="connsiteY1" fmla="*/ 0 h 238125"/>
                        <a:gd name="connsiteX2" fmla="*/ 80010 w 80009"/>
                        <a:gd name="connsiteY2" fmla="*/ 238125 h 238125"/>
                        <a:gd name="connsiteX3" fmla="*/ 0 w 80009"/>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09" h="238125">
                          <a:moveTo>
                            <a:pt x="0" y="0"/>
                          </a:moveTo>
                          <a:lnTo>
                            <a:pt x="80010" y="0"/>
                          </a:lnTo>
                          <a:lnTo>
                            <a:pt x="80010" y="238125"/>
                          </a:lnTo>
                          <a:lnTo>
                            <a:pt x="0" y="238125"/>
                          </a:lnTo>
                          <a:close/>
                        </a:path>
                      </a:pathLst>
                    </a:custGeom>
                    <a:solidFill>
                      <a:schemeClr val="accent5"/>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36" name="Freeform: Shape 516">
                      <a:extLst>
                        <a:ext uri="{FF2B5EF4-FFF2-40B4-BE49-F238E27FC236}">
                          <a16:creationId xmlns:a16="http://schemas.microsoft.com/office/drawing/2014/main" id="{99EA200D-5F2C-664A-B2CC-56DF22D44338}"/>
                        </a:ext>
                      </a:extLst>
                    </p:cNvPr>
                    <p:cNvSpPr/>
                    <p:nvPr/>
                  </p:nvSpPr>
                  <p:spPr>
                    <a:xfrm>
                      <a:off x="6204901" y="4498657"/>
                      <a:ext cx="80010" cy="238125"/>
                    </a:xfrm>
                    <a:custGeom>
                      <a:avLst/>
                      <a:gdLst>
                        <a:gd name="connsiteX0" fmla="*/ 0 w 80010"/>
                        <a:gd name="connsiteY0" fmla="*/ 0 h 238125"/>
                        <a:gd name="connsiteX1" fmla="*/ 80010 w 80010"/>
                        <a:gd name="connsiteY1" fmla="*/ 0 h 238125"/>
                        <a:gd name="connsiteX2" fmla="*/ 80010 w 80010"/>
                        <a:gd name="connsiteY2" fmla="*/ 238125 h 238125"/>
                        <a:gd name="connsiteX3" fmla="*/ 0 w 8001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80010" h="238125">
                          <a:moveTo>
                            <a:pt x="0" y="0"/>
                          </a:moveTo>
                          <a:lnTo>
                            <a:pt x="80010" y="0"/>
                          </a:lnTo>
                          <a:lnTo>
                            <a:pt x="80010" y="238125"/>
                          </a:lnTo>
                          <a:lnTo>
                            <a:pt x="0" y="238125"/>
                          </a:lnTo>
                          <a:close/>
                        </a:path>
                      </a:pathLst>
                    </a:custGeom>
                    <a:solidFill>
                      <a:schemeClr val="accent5"/>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326" name="Freeform: Shape 506">
                  <a:extLst>
                    <a:ext uri="{FF2B5EF4-FFF2-40B4-BE49-F238E27FC236}">
                      <a16:creationId xmlns:a16="http://schemas.microsoft.com/office/drawing/2014/main" id="{0AFF55B3-FBE8-7C45-B325-7B4294D18FD8}"/>
                    </a:ext>
                  </a:extLst>
                </p:cNvPr>
                <p:cNvSpPr/>
                <p:nvPr/>
              </p:nvSpPr>
              <p:spPr>
                <a:xfrm>
                  <a:off x="6935469" y="4538662"/>
                  <a:ext cx="160020" cy="158115"/>
                </a:xfrm>
                <a:custGeom>
                  <a:avLst/>
                  <a:gdLst>
                    <a:gd name="connsiteX0" fmla="*/ 160020 w 160020"/>
                    <a:gd name="connsiteY0" fmla="*/ 79057 h 158115"/>
                    <a:gd name="connsiteX1" fmla="*/ 80010 w 160020"/>
                    <a:gd name="connsiteY1" fmla="*/ 158115 h 158115"/>
                    <a:gd name="connsiteX2" fmla="*/ 0 w 160020"/>
                    <a:gd name="connsiteY2" fmla="*/ 79057 h 158115"/>
                    <a:gd name="connsiteX3" fmla="*/ 80010 w 160020"/>
                    <a:gd name="connsiteY3" fmla="*/ 0 h 158115"/>
                    <a:gd name="connsiteX4" fmla="*/ 160020 w 160020"/>
                    <a:gd name="connsiteY4" fmla="*/ 79057 h 158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020" h="158115">
                      <a:moveTo>
                        <a:pt x="160020" y="79057"/>
                      </a:moveTo>
                      <a:cubicBezTo>
                        <a:pt x="160020" y="122720"/>
                        <a:pt x="124198" y="158115"/>
                        <a:pt x="80010" y="158115"/>
                      </a:cubicBezTo>
                      <a:cubicBezTo>
                        <a:pt x="35822" y="158115"/>
                        <a:pt x="0" y="122720"/>
                        <a:pt x="0" y="79057"/>
                      </a:cubicBezTo>
                      <a:cubicBezTo>
                        <a:pt x="0" y="35395"/>
                        <a:pt x="35822" y="0"/>
                        <a:pt x="80010" y="0"/>
                      </a:cubicBezTo>
                      <a:cubicBezTo>
                        <a:pt x="124198" y="0"/>
                        <a:pt x="160020" y="35395"/>
                        <a:pt x="160020" y="79057"/>
                      </a:cubicBezTo>
                      <a:close/>
                    </a:path>
                  </a:pathLst>
                </a:custGeom>
                <a:solidFill>
                  <a:schemeClr val="accent5"/>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8"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grpSp>
      <p:pic>
        <p:nvPicPr>
          <p:cNvPr id="313" name="Graphic 312">
            <a:extLst>
              <a:ext uri="{FF2B5EF4-FFF2-40B4-BE49-F238E27FC236}">
                <a16:creationId xmlns:a16="http://schemas.microsoft.com/office/drawing/2014/main" id="{7BDFC8FD-6E94-BC43-95A7-DE308E72E824}"/>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318275" y="2650537"/>
            <a:ext cx="659811" cy="652717"/>
          </a:xfrm>
          <a:prstGeom prst="rect">
            <a:avLst/>
          </a:prstGeom>
        </p:spPr>
      </p:pic>
      <p:sp>
        <p:nvSpPr>
          <p:cNvPr id="355" name="Picture Placeholder 74">
            <a:extLst>
              <a:ext uri="{FF2B5EF4-FFF2-40B4-BE49-F238E27FC236}">
                <a16:creationId xmlns:a16="http://schemas.microsoft.com/office/drawing/2014/main" id="{85B1A940-7EE4-73A2-2C9C-7B98E813F1F0}"/>
              </a:ext>
              <a:ext uri="{C183D7F6-B498-43B3-948B-1728B52AA6E4}">
                <adec:decorative xmlns:adec="http://schemas.microsoft.com/office/drawing/2017/decorative" val="1"/>
              </a:ext>
            </a:extLst>
          </p:cNvPr>
          <p:cNvSpPr/>
          <p:nvPr/>
        </p:nvSpPr>
        <p:spPr>
          <a:xfrm>
            <a:off x="3324465" y="4889209"/>
            <a:ext cx="788735" cy="450824"/>
          </a:xfrm>
          <a:custGeom>
            <a:avLst/>
            <a:gdLst>
              <a:gd name="connsiteX0" fmla="*/ 387848 w 600835"/>
              <a:gd name="connsiteY0" fmla="*/ 15875 h 343425"/>
              <a:gd name="connsiteX1" fmla="*/ 390694 w 600835"/>
              <a:gd name="connsiteY1" fmla="*/ 15875 h 343425"/>
              <a:gd name="connsiteX2" fmla="*/ 501754 w 600835"/>
              <a:gd name="connsiteY2" fmla="*/ 130224 h 343425"/>
              <a:gd name="connsiteX3" fmla="*/ 502956 w 600835"/>
              <a:gd name="connsiteY3" fmla="*/ 143252 h 343425"/>
              <a:gd name="connsiteX4" fmla="*/ 515985 w 600835"/>
              <a:gd name="connsiteY4" fmla="*/ 144517 h 343425"/>
              <a:gd name="connsiteX5" fmla="*/ 584986 w 600835"/>
              <a:gd name="connsiteY5" fmla="*/ 237299 h 343425"/>
              <a:gd name="connsiteX6" fmla="*/ 509091 w 600835"/>
              <a:gd name="connsiteY6" fmla="*/ 326476 h 343425"/>
              <a:gd name="connsiteX7" fmla="*/ 496821 w 600835"/>
              <a:gd name="connsiteY7" fmla="*/ 326476 h 343425"/>
              <a:gd name="connsiteX8" fmla="*/ 300442 w 600835"/>
              <a:gd name="connsiteY8" fmla="*/ 327045 h 343425"/>
              <a:gd name="connsiteX9" fmla="*/ 102293 w 600835"/>
              <a:gd name="connsiteY9" fmla="*/ 327678 h 343425"/>
              <a:gd name="connsiteX10" fmla="*/ 92363 w 600835"/>
              <a:gd name="connsiteY10" fmla="*/ 327678 h 343425"/>
              <a:gd name="connsiteX11" fmla="*/ 15835 w 600835"/>
              <a:gd name="connsiteY11" fmla="*/ 249000 h 343425"/>
              <a:gd name="connsiteX12" fmla="*/ 87999 w 600835"/>
              <a:gd name="connsiteY12" fmla="*/ 178038 h 343425"/>
              <a:gd name="connsiteX13" fmla="*/ 89833 w 600835"/>
              <a:gd name="connsiteY13" fmla="*/ 178038 h 343425"/>
              <a:gd name="connsiteX14" fmla="*/ 107668 w 600835"/>
              <a:gd name="connsiteY14" fmla="*/ 180567 h 343425"/>
              <a:gd name="connsiteX15" fmla="*/ 123859 w 600835"/>
              <a:gd name="connsiteY15" fmla="*/ 185058 h 343425"/>
              <a:gd name="connsiteX16" fmla="*/ 127338 w 600835"/>
              <a:gd name="connsiteY16" fmla="*/ 168614 h 343425"/>
              <a:gd name="connsiteX17" fmla="*/ 220057 w 600835"/>
              <a:gd name="connsiteY17" fmla="*/ 92719 h 343425"/>
              <a:gd name="connsiteX18" fmla="*/ 222333 w 600835"/>
              <a:gd name="connsiteY18" fmla="*/ 92719 h 343425"/>
              <a:gd name="connsiteX19" fmla="*/ 260787 w 600835"/>
              <a:gd name="connsiteY19" fmla="*/ 101889 h 343425"/>
              <a:gd name="connsiteX20" fmla="*/ 276219 w 600835"/>
              <a:gd name="connsiteY20" fmla="*/ 109416 h 343425"/>
              <a:gd name="connsiteX21" fmla="*/ 282544 w 600835"/>
              <a:gd name="connsiteY21" fmla="*/ 93414 h 343425"/>
              <a:gd name="connsiteX22" fmla="*/ 387848 w 600835"/>
              <a:gd name="connsiteY22" fmla="*/ 15875 h 343425"/>
              <a:gd name="connsiteX23" fmla="*/ 387848 w 600835"/>
              <a:gd name="connsiteY23" fmla="*/ 63 h 343425"/>
              <a:gd name="connsiteX24" fmla="*/ 267681 w 600835"/>
              <a:gd name="connsiteY24" fmla="*/ 87785 h 343425"/>
              <a:gd name="connsiteX25" fmla="*/ 222776 w 600835"/>
              <a:gd name="connsiteY25" fmla="*/ 77034 h 343425"/>
              <a:gd name="connsiteX26" fmla="*/ 220057 w 600835"/>
              <a:gd name="connsiteY26" fmla="*/ 77034 h 343425"/>
              <a:gd name="connsiteX27" fmla="*/ 111906 w 600835"/>
              <a:gd name="connsiteY27" fmla="*/ 165578 h 343425"/>
              <a:gd name="connsiteX28" fmla="*/ 90149 w 600835"/>
              <a:gd name="connsiteY28" fmla="*/ 162479 h 343425"/>
              <a:gd name="connsiteX29" fmla="*/ 87999 w 600835"/>
              <a:gd name="connsiteY29" fmla="*/ 162479 h 343425"/>
              <a:gd name="connsiteX30" fmla="*/ 24 w 600835"/>
              <a:gd name="connsiteY30" fmla="*/ 248557 h 343425"/>
              <a:gd name="connsiteX31" fmla="*/ 91983 w 600835"/>
              <a:gd name="connsiteY31" fmla="*/ 343426 h 343425"/>
              <a:gd name="connsiteX32" fmla="*/ 102293 w 600835"/>
              <a:gd name="connsiteY32" fmla="*/ 343426 h 343425"/>
              <a:gd name="connsiteX33" fmla="*/ 496821 w 600835"/>
              <a:gd name="connsiteY33" fmla="*/ 342224 h 343425"/>
              <a:gd name="connsiteX34" fmla="*/ 509091 w 600835"/>
              <a:gd name="connsiteY34" fmla="*/ 342224 h 343425"/>
              <a:gd name="connsiteX35" fmla="*/ 600798 w 600835"/>
              <a:gd name="connsiteY35" fmla="*/ 237552 h 343425"/>
              <a:gd name="connsiteX36" fmla="*/ 517503 w 600835"/>
              <a:gd name="connsiteY36" fmla="*/ 128706 h 343425"/>
              <a:gd name="connsiteX37" fmla="*/ 391011 w 600835"/>
              <a:gd name="connsiteY37" fmla="*/ 0 h 34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0835" h="343425">
                <a:moveTo>
                  <a:pt x="387848" y="15875"/>
                </a:moveTo>
                <a:lnTo>
                  <a:pt x="390694" y="15875"/>
                </a:lnTo>
                <a:cubicBezTo>
                  <a:pt x="448185" y="17266"/>
                  <a:pt x="495936" y="66472"/>
                  <a:pt x="501754" y="130224"/>
                </a:cubicBezTo>
                <a:lnTo>
                  <a:pt x="502956" y="143252"/>
                </a:lnTo>
                <a:lnTo>
                  <a:pt x="515985" y="144517"/>
                </a:lnTo>
                <a:cubicBezTo>
                  <a:pt x="555893" y="148312"/>
                  <a:pt x="586188" y="188789"/>
                  <a:pt x="584986" y="237299"/>
                </a:cubicBezTo>
                <a:cubicBezTo>
                  <a:pt x="583784" y="285809"/>
                  <a:pt x="549821" y="326476"/>
                  <a:pt x="509091" y="326476"/>
                </a:cubicBezTo>
                <a:lnTo>
                  <a:pt x="496821" y="326476"/>
                </a:lnTo>
                <a:cubicBezTo>
                  <a:pt x="467918" y="326476"/>
                  <a:pt x="382978" y="326476"/>
                  <a:pt x="300442" y="327045"/>
                </a:cubicBezTo>
                <a:cubicBezTo>
                  <a:pt x="217906" y="327614"/>
                  <a:pt x="131639" y="327678"/>
                  <a:pt x="102293" y="327678"/>
                </a:cubicBezTo>
                <a:lnTo>
                  <a:pt x="92363" y="327678"/>
                </a:lnTo>
                <a:cubicBezTo>
                  <a:pt x="52075" y="326602"/>
                  <a:pt x="14887" y="288339"/>
                  <a:pt x="15835" y="249000"/>
                </a:cubicBezTo>
                <a:cubicBezTo>
                  <a:pt x="16823" y="209758"/>
                  <a:pt x="48746" y="178366"/>
                  <a:pt x="87999" y="178038"/>
                </a:cubicBezTo>
                <a:lnTo>
                  <a:pt x="89833" y="178038"/>
                </a:lnTo>
                <a:cubicBezTo>
                  <a:pt x="95862" y="178115"/>
                  <a:pt x="101856" y="178966"/>
                  <a:pt x="107668" y="180567"/>
                </a:cubicBezTo>
                <a:lnTo>
                  <a:pt x="123859" y="185058"/>
                </a:lnTo>
                <a:lnTo>
                  <a:pt x="127338" y="168614"/>
                </a:lnTo>
                <a:cubicBezTo>
                  <a:pt x="136664" y="124728"/>
                  <a:pt x="175194" y="93190"/>
                  <a:pt x="220057" y="92719"/>
                </a:cubicBezTo>
                <a:lnTo>
                  <a:pt x="222333" y="92719"/>
                </a:lnTo>
                <a:cubicBezTo>
                  <a:pt x="235658" y="93005"/>
                  <a:pt x="248768" y="96131"/>
                  <a:pt x="260787" y="101889"/>
                </a:cubicBezTo>
                <a:lnTo>
                  <a:pt x="276219" y="109416"/>
                </a:lnTo>
                <a:lnTo>
                  <a:pt x="282544" y="93414"/>
                </a:lnTo>
                <a:cubicBezTo>
                  <a:pt x="300695" y="46359"/>
                  <a:pt x="341995" y="15875"/>
                  <a:pt x="387848" y="15875"/>
                </a:cubicBezTo>
                <a:moveTo>
                  <a:pt x="387848" y="63"/>
                </a:moveTo>
                <a:cubicBezTo>
                  <a:pt x="334152" y="63"/>
                  <a:pt x="287667" y="36177"/>
                  <a:pt x="267681" y="87785"/>
                </a:cubicBezTo>
                <a:cubicBezTo>
                  <a:pt x="253654" y="81031"/>
                  <a:pt x="238341" y="77365"/>
                  <a:pt x="222776" y="77034"/>
                </a:cubicBezTo>
                <a:lnTo>
                  <a:pt x="220057" y="77034"/>
                </a:lnTo>
                <a:cubicBezTo>
                  <a:pt x="167607" y="77270"/>
                  <a:pt x="122491" y="114208"/>
                  <a:pt x="111906" y="165578"/>
                </a:cubicBezTo>
                <a:cubicBezTo>
                  <a:pt x="104812" y="163637"/>
                  <a:pt x="97503" y="162596"/>
                  <a:pt x="90149" y="162479"/>
                </a:cubicBezTo>
                <a:lnTo>
                  <a:pt x="87999" y="162479"/>
                </a:lnTo>
                <a:cubicBezTo>
                  <a:pt x="40266" y="162767"/>
                  <a:pt x="1353" y="200841"/>
                  <a:pt x="24" y="248557"/>
                </a:cubicBezTo>
                <a:cubicBezTo>
                  <a:pt x="-1178" y="297446"/>
                  <a:pt x="43347" y="342098"/>
                  <a:pt x="91983" y="343426"/>
                </a:cubicBezTo>
                <a:lnTo>
                  <a:pt x="102293" y="343426"/>
                </a:lnTo>
                <a:cubicBezTo>
                  <a:pt x="160858" y="343426"/>
                  <a:pt x="438951" y="342224"/>
                  <a:pt x="496821" y="342224"/>
                </a:cubicBezTo>
                <a:lnTo>
                  <a:pt x="509091" y="342224"/>
                </a:lnTo>
                <a:cubicBezTo>
                  <a:pt x="558486" y="342224"/>
                  <a:pt x="599469" y="295612"/>
                  <a:pt x="600798" y="237552"/>
                </a:cubicBezTo>
                <a:cubicBezTo>
                  <a:pt x="602189" y="180631"/>
                  <a:pt x="565253" y="133259"/>
                  <a:pt x="517503" y="128706"/>
                </a:cubicBezTo>
                <a:cubicBezTo>
                  <a:pt x="511178" y="57680"/>
                  <a:pt x="457545" y="1581"/>
                  <a:pt x="391011" y="0"/>
                </a:cubicBezTo>
                <a:close/>
              </a:path>
            </a:pathLst>
          </a:custGeom>
          <a:solidFill>
            <a:schemeClr val="accent2"/>
          </a:solid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1" name="Google Shape;6704;g2d30ebb658d_0_19789">
            <a:extLst>
              <a:ext uri="{FF2B5EF4-FFF2-40B4-BE49-F238E27FC236}">
                <a16:creationId xmlns:a16="http://schemas.microsoft.com/office/drawing/2014/main" id="{62DB4174-785C-E4C7-15EB-D29EDE07D8A7}"/>
              </a:ext>
            </a:extLst>
          </p:cNvPr>
          <p:cNvSpPr/>
          <p:nvPr/>
        </p:nvSpPr>
        <p:spPr>
          <a:xfrm>
            <a:off x="4205199" y="1844379"/>
            <a:ext cx="3574535" cy="536688"/>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5400000" scaled="1"/>
            </a:grad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dirty="0">
                <a:solidFill>
                  <a:schemeClr val="tx1"/>
                </a:solidFill>
              </a:rPr>
              <a:t>            VMware Cloud Foundation</a:t>
            </a:r>
            <a:endParaRPr sz="1400" dirty="0">
              <a:solidFill>
                <a:schemeClr val="tx1"/>
              </a:solidFill>
            </a:endParaRPr>
          </a:p>
        </p:txBody>
      </p:sp>
      <p:pic>
        <p:nvPicPr>
          <p:cNvPr id="14" name="Google Shape;6699;p92">
            <a:extLst>
              <a:ext uri="{FF2B5EF4-FFF2-40B4-BE49-F238E27FC236}">
                <a16:creationId xmlns:a16="http://schemas.microsoft.com/office/drawing/2014/main" id="{1D6D6553-563E-C71F-FAC0-225B9F26E093}"/>
              </a:ext>
            </a:extLst>
          </p:cNvPr>
          <p:cNvPicPr preferRelativeResize="0">
            <a:picLocks noChangeAspect="1"/>
          </p:cNvPicPr>
          <p:nvPr/>
        </p:nvPicPr>
        <p:blipFill rotWithShape="1">
          <a:blip r:embed="rId9">
            <a:alphaModFix/>
          </a:blip>
          <a:srcRect/>
          <a:stretch/>
        </p:blipFill>
        <p:spPr>
          <a:xfrm>
            <a:off x="4586009" y="1863061"/>
            <a:ext cx="487008" cy="487009"/>
          </a:xfrm>
          <a:prstGeom prst="rect">
            <a:avLst/>
          </a:prstGeom>
          <a:noFill/>
          <a:ln>
            <a:noFill/>
          </a:ln>
        </p:spPr>
      </p:pic>
      <p:sp>
        <p:nvSpPr>
          <p:cNvPr id="17" name="Oval 6">
            <a:extLst>
              <a:ext uri="{FF2B5EF4-FFF2-40B4-BE49-F238E27FC236}">
                <a16:creationId xmlns:a16="http://schemas.microsoft.com/office/drawing/2014/main" id="{C25307A3-7615-946B-12C5-508F62718E96}"/>
              </a:ext>
            </a:extLst>
          </p:cNvPr>
          <p:cNvSpPr>
            <a:spLocks noChangeAspect="1"/>
          </p:cNvSpPr>
          <p:nvPr/>
        </p:nvSpPr>
        <p:spPr bwMode="gray">
          <a:xfrm>
            <a:off x="1235647" y="2576806"/>
            <a:ext cx="793738" cy="793738"/>
          </a:xfrm>
          <a:prstGeom prst="ellipse">
            <a:avLst/>
          </a:prstGeom>
          <a:solidFill>
            <a:schemeClr val="accent2"/>
          </a:solidFill>
          <a:ln w="7620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lnSpc>
                <a:spcPct val="90000"/>
              </a:lnSpc>
              <a:spcBef>
                <a:spcPts val="600"/>
              </a:spcBef>
            </a:pPr>
            <a:endParaRPr lang="en-US" sz="1999" b="1" dirty="0">
              <a:solidFill>
                <a:prstClr val="white"/>
              </a:solidFill>
              <a:latin typeface="Arial"/>
            </a:endParaRPr>
          </a:p>
        </p:txBody>
      </p:sp>
      <p:pic>
        <p:nvPicPr>
          <p:cNvPr id="18" name="Graphic 17">
            <a:extLst>
              <a:ext uri="{FF2B5EF4-FFF2-40B4-BE49-F238E27FC236}">
                <a16:creationId xmlns:a16="http://schemas.microsoft.com/office/drawing/2014/main" id="{064B3646-9BE8-4490-C83E-4C5D09C79B8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322339" y="2667629"/>
            <a:ext cx="614490" cy="614490"/>
          </a:xfrm>
          <a:prstGeom prst="rect">
            <a:avLst/>
          </a:prstGeom>
        </p:spPr>
      </p:pic>
    </p:spTree>
    <p:extLst>
      <p:ext uri="{BB962C8B-B14F-4D97-AF65-F5344CB8AC3E}">
        <p14:creationId xmlns:p14="http://schemas.microsoft.com/office/powerpoint/2010/main" val="285962018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2000" fill="hold"/>
                                        <p:tgtEl>
                                          <p:spTgt spid="18"/>
                                        </p:tgtEl>
                                        <p:attrNameLst>
                                          <p:attrName>r</p:attrName>
                                        </p:attrNameLst>
                                      </p:cBhvr>
                                    </p:animRot>
                                  </p:childTnLst>
                                </p:cTn>
                              </p:par>
                            </p:childTnLst>
                          </p:cTn>
                        </p:par>
                        <p:par>
                          <p:cTn id="7" fill="hold">
                            <p:stCondLst>
                              <p:cond delay="2000"/>
                            </p:stCondLst>
                            <p:childTnLst>
                              <p:par>
                                <p:cTn id="8" presetID="10" presetClass="entr" presetSubtype="0" fill="hold" grpId="0" nodeType="after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fade">
                                      <p:cBhvr>
                                        <p:cTn id="10" dur="500"/>
                                        <p:tgtEl>
                                          <p:spTgt spid="52"/>
                                        </p:tgtEl>
                                      </p:cBhvr>
                                    </p:animEffect>
                                  </p:childTnLst>
                                </p:cTn>
                              </p:par>
                              <p:par>
                                <p:cTn id="11" presetID="22" presetClass="exit" presetSubtype="4" fill="hold" grpId="0" nodeType="withEffect">
                                  <p:stCondLst>
                                    <p:cond delay="0"/>
                                  </p:stCondLst>
                                  <p:childTnLst>
                                    <p:animEffect transition="out" filter="wipe(down)">
                                      <p:cBhvr>
                                        <p:cTn id="12" dur="500"/>
                                        <p:tgtEl>
                                          <p:spTgt spid="315"/>
                                        </p:tgtEl>
                                      </p:cBhvr>
                                    </p:animEffect>
                                    <p:set>
                                      <p:cBhvr>
                                        <p:cTn id="13" dur="1" fill="hold">
                                          <p:stCondLst>
                                            <p:cond delay="499"/>
                                          </p:stCondLst>
                                        </p:cTn>
                                        <p:tgtEl>
                                          <p:spTgt spid="315"/>
                                        </p:tgtEl>
                                        <p:attrNameLst>
                                          <p:attrName>style.visibility</p:attrName>
                                        </p:attrNameLst>
                                      </p:cBhvr>
                                      <p:to>
                                        <p:strVal val="hidden"/>
                                      </p:to>
                                    </p:set>
                                  </p:childTnLst>
                                </p:cTn>
                              </p:par>
                            </p:childTnLst>
                          </p:cTn>
                        </p:par>
                        <p:par>
                          <p:cTn id="14" fill="hold">
                            <p:stCondLst>
                              <p:cond delay="2500"/>
                            </p:stCondLst>
                            <p:childTnLst>
                              <p:par>
                                <p:cTn id="15" presetID="22" presetClass="entr" presetSubtype="4" fill="hold" nodeType="afterEffect">
                                  <p:stCondLst>
                                    <p:cond delay="0"/>
                                  </p:stCondLst>
                                  <p:childTnLst>
                                    <p:set>
                                      <p:cBhvr>
                                        <p:cTn id="16" dur="1" fill="hold">
                                          <p:stCondLst>
                                            <p:cond delay="0"/>
                                          </p:stCondLst>
                                        </p:cTn>
                                        <p:tgtEl>
                                          <p:spTgt spid="138"/>
                                        </p:tgtEl>
                                        <p:attrNameLst>
                                          <p:attrName>style.visibility</p:attrName>
                                        </p:attrNameLst>
                                      </p:cBhvr>
                                      <p:to>
                                        <p:strVal val="visible"/>
                                      </p:to>
                                    </p:set>
                                    <p:animEffect transition="in" filter="wipe(down)">
                                      <p:cBhvr>
                                        <p:cTn id="17" dur="500"/>
                                        <p:tgtEl>
                                          <p:spTgt spid="138"/>
                                        </p:tgtEl>
                                      </p:cBhvr>
                                    </p:animEffect>
                                  </p:childTnLst>
                                </p:cTn>
                              </p:par>
                              <p:par>
                                <p:cTn id="18" presetID="10" presetClass="entr" presetSubtype="0" fill="hold" grpId="0" nodeType="withEffect">
                                  <p:stCondLst>
                                    <p:cond delay="1200"/>
                                  </p:stCondLst>
                                  <p:childTnLst>
                                    <p:set>
                                      <p:cBhvr>
                                        <p:cTn id="19" dur="1" fill="hold">
                                          <p:stCondLst>
                                            <p:cond delay="0"/>
                                          </p:stCondLst>
                                        </p:cTn>
                                        <p:tgtEl>
                                          <p:spTgt spid="53"/>
                                        </p:tgtEl>
                                        <p:attrNameLst>
                                          <p:attrName>style.visibility</p:attrName>
                                        </p:attrNameLst>
                                      </p:cBhvr>
                                      <p:to>
                                        <p:strVal val="visible"/>
                                      </p:to>
                                    </p:set>
                                    <p:animEffect transition="in" filter="fade">
                                      <p:cBhvr>
                                        <p:cTn id="20" dur="500"/>
                                        <p:tgtEl>
                                          <p:spTgt spid="53"/>
                                        </p:tgtEl>
                                      </p:cBhvr>
                                    </p:animEffect>
                                  </p:childTnLst>
                                </p:cTn>
                              </p:par>
                            </p:childTnLst>
                          </p:cTn>
                        </p:par>
                        <p:par>
                          <p:cTn id="21" fill="hold">
                            <p:stCondLst>
                              <p:cond delay="4200"/>
                            </p:stCondLst>
                            <p:childTnLst>
                              <p:par>
                                <p:cTn id="22" presetID="22" presetClass="exit" presetSubtype="4" fill="hold" grpId="0" nodeType="afterEffect">
                                  <p:stCondLst>
                                    <p:cond delay="500"/>
                                  </p:stCondLst>
                                  <p:childTnLst>
                                    <p:animEffect transition="out" filter="wipe(down)">
                                      <p:cBhvr>
                                        <p:cTn id="23" dur="500"/>
                                        <p:tgtEl>
                                          <p:spTgt spid="316"/>
                                        </p:tgtEl>
                                      </p:cBhvr>
                                    </p:animEffect>
                                    <p:set>
                                      <p:cBhvr>
                                        <p:cTn id="24" dur="1" fill="hold">
                                          <p:stCondLst>
                                            <p:cond delay="499"/>
                                          </p:stCondLst>
                                        </p:cTn>
                                        <p:tgtEl>
                                          <p:spTgt spid="316"/>
                                        </p:tgtEl>
                                        <p:attrNameLst>
                                          <p:attrName>style.visibility</p:attrName>
                                        </p:attrNameLst>
                                      </p:cBhvr>
                                      <p:to>
                                        <p:strVal val="hidden"/>
                                      </p:to>
                                    </p:set>
                                  </p:childTnLst>
                                </p:cTn>
                              </p:par>
                              <p:par>
                                <p:cTn id="25" presetID="22" presetClass="entr" presetSubtype="4" fill="hold" nodeType="withEffect">
                                  <p:stCondLst>
                                    <p:cond delay="500"/>
                                  </p:stCondLst>
                                  <p:childTnLst>
                                    <p:set>
                                      <p:cBhvr>
                                        <p:cTn id="26" dur="1" fill="hold">
                                          <p:stCondLst>
                                            <p:cond delay="0"/>
                                          </p:stCondLst>
                                        </p:cTn>
                                        <p:tgtEl>
                                          <p:spTgt spid="191"/>
                                        </p:tgtEl>
                                        <p:attrNameLst>
                                          <p:attrName>style.visibility</p:attrName>
                                        </p:attrNameLst>
                                      </p:cBhvr>
                                      <p:to>
                                        <p:strVal val="visible"/>
                                      </p:to>
                                    </p:set>
                                    <p:animEffect transition="in" filter="wipe(down)">
                                      <p:cBhvr>
                                        <p:cTn id="27" dur="500"/>
                                        <p:tgtEl>
                                          <p:spTgt spid="191"/>
                                        </p:tgtEl>
                                      </p:cBhvr>
                                    </p:animEffect>
                                  </p:childTnLst>
                                </p:cTn>
                              </p:par>
                            </p:childTnLst>
                          </p:cTn>
                        </p:par>
                        <p:par>
                          <p:cTn id="28" fill="hold">
                            <p:stCondLst>
                              <p:cond delay="5200"/>
                            </p:stCondLst>
                            <p:childTnLst>
                              <p:par>
                                <p:cTn id="29" presetID="10" presetClass="entr" presetSubtype="0" fill="hold" grpId="0" nodeType="after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fade">
                                      <p:cBhvr>
                                        <p:cTn id="31" dur="500"/>
                                        <p:tgtEl>
                                          <p:spTgt spid="54"/>
                                        </p:tgtEl>
                                      </p:cBhvr>
                                    </p:animEffect>
                                  </p:childTnLst>
                                </p:cTn>
                              </p:par>
                            </p:childTnLst>
                          </p:cTn>
                        </p:par>
                        <p:par>
                          <p:cTn id="32" fill="hold">
                            <p:stCondLst>
                              <p:cond delay="5700"/>
                            </p:stCondLst>
                            <p:childTnLst>
                              <p:par>
                                <p:cTn id="33" presetID="22" presetClass="exit" presetSubtype="4" fill="hold" grpId="0" nodeType="afterEffect">
                                  <p:stCondLst>
                                    <p:cond delay="500"/>
                                  </p:stCondLst>
                                  <p:childTnLst>
                                    <p:animEffect transition="out" filter="wipe(down)">
                                      <p:cBhvr>
                                        <p:cTn id="34" dur="500"/>
                                        <p:tgtEl>
                                          <p:spTgt spid="317"/>
                                        </p:tgtEl>
                                      </p:cBhvr>
                                    </p:animEffect>
                                    <p:set>
                                      <p:cBhvr>
                                        <p:cTn id="35" dur="1" fill="hold">
                                          <p:stCondLst>
                                            <p:cond delay="499"/>
                                          </p:stCondLst>
                                        </p:cTn>
                                        <p:tgtEl>
                                          <p:spTgt spid="317"/>
                                        </p:tgtEl>
                                        <p:attrNameLst>
                                          <p:attrName>style.visibility</p:attrName>
                                        </p:attrNameLst>
                                      </p:cBhvr>
                                      <p:to>
                                        <p:strVal val="hidden"/>
                                      </p:to>
                                    </p:set>
                                  </p:childTnLst>
                                </p:cTn>
                              </p:par>
                              <p:par>
                                <p:cTn id="36" presetID="22" presetClass="entr" presetSubtype="4" fill="hold" nodeType="withEffect">
                                  <p:stCondLst>
                                    <p:cond delay="500"/>
                                  </p:stCondLst>
                                  <p:childTnLst>
                                    <p:set>
                                      <p:cBhvr>
                                        <p:cTn id="37" dur="1" fill="hold">
                                          <p:stCondLst>
                                            <p:cond delay="0"/>
                                          </p:stCondLst>
                                        </p:cTn>
                                        <p:tgtEl>
                                          <p:spTgt spid="271"/>
                                        </p:tgtEl>
                                        <p:attrNameLst>
                                          <p:attrName>style.visibility</p:attrName>
                                        </p:attrNameLst>
                                      </p:cBhvr>
                                      <p:to>
                                        <p:strVal val="visible"/>
                                      </p:to>
                                    </p:set>
                                    <p:animEffect transition="in" filter="wipe(down)">
                                      <p:cBhvr>
                                        <p:cTn id="38" dur="500"/>
                                        <p:tgtEl>
                                          <p:spTgt spid="271"/>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8" presetClass="emph" presetSubtype="0" fill="hold" nodeType="clickEffect">
                                  <p:stCondLst>
                                    <p:cond delay="0"/>
                                  </p:stCondLst>
                                  <p:childTnLst>
                                    <p:animRot by="21600000">
                                      <p:cBhvr>
                                        <p:cTn id="46" dur="2000" fill="hold"/>
                                        <p:tgtEl>
                                          <p:spTgt spid="18"/>
                                        </p:tgtEl>
                                        <p:attrNameLst>
                                          <p:attrName>r</p:attrName>
                                        </p:attrNameLst>
                                      </p:cBhvr>
                                    </p:animRot>
                                  </p:childTnLst>
                                </p:cTn>
                              </p:par>
                            </p:childTnLst>
                          </p:cTn>
                        </p:par>
                        <p:par>
                          <p:cTn id="47" fill="hold">
                            <p:stCondLst>
                              <p:cond delay="2000"/>
                            </p:stCondLst>
                            <p:childTnLst>
                              <p:par>
                                <p:cTn id="48" presetID="22" presetClass="entr" presetSubtype="4" fill="hold" grpId="1" nodeType="afterEffect">
                                  <p:stCondLst>
                                    <p:cond delay="0"/>
                                  </p:stCondLst>
                                  <p:childTnLst>
                                    <p:set>
                                      <p:cBhvr>
                                        <p:cTn id="49" dur="1" fill="hold">
                                          <p:stCondLst>
                                            <p:cond delay="0"/>
                                          </p:stCondLst>
                                        </p:cTn>
                                        <p:tgtEl>
                                          <p:spTgt spid="316"/>
                                        </p:tgtEl>
                                        <p:attrNameLst>
                                          <p:attrName>style.visibility</p:attrName>
                                        </p:attrNameLst>
                                      </p:cBhvr>
                                      <p:to>
                                        <p:strVal val="visible"/>
                                      </p:to>
                                    </p:set>
                                    <p:animEffect transition="in" filter="wipe(down)">
                                      <p:cBhvr>
                                        <p:cTn id="50" dur="500"/>
                                        <p:tgtEl>
                                          <p:spTgt spid="316"/>
                                        </p:tgtEl>
                                      </p:cBhvr>
                                    </p:animEffect>
                                  </p:childTnLst>
                                </p:cTn>
                              </p:par>
                            </p:childTnLst>
                          </p:cTn>
                        </p:par>
                      </p:childTnLst>
                    </p:cTn>
                  </p:par>
                  <p:par>
                    <p:cTn id="51" fill="hold">
                      <p:stCondLst>
                        <p:cond delay="indefinite"/>
                      </p:stCondLst>
                      <p:childTnLst>
                        <p:par>
                          <p:cTn id="52" fill="hold">
                            <p:stCondLst>
                              <p:cond delay="0"/>
                            </p:stCondLst>
                            <p:childTnLst>
                              <p:par>
                                <p:cTn id="53" presetID="8" presetClass="emph" presetSubtype="0" fill="hold" nodeType="clickEffect">
                                  <p:stCondLst>
                                    <p:cond delay="0"/>
                                  </p:stCondLst>
                                  <p:childTnLst>
                                    <p:animRot by="21600000">
                                      <p:cBhvr>
                                        <p:cTn id="54" dur="2000" fill="hold"/>
                                        <p:tgtEl>
                                          <p:spTgt spid="18"/>
                                        </p:tgtEl>
                                        <p:attrNameLst>
                                          <p:attrName>r</p:attrName>
                                        </p:attrNameLst>
                                      </p:cBhvr>
                                    </p:animRot>
                                  </p:childTnLst>
                                </p:cTn>
                              </p:par>
                            </p:childTnLst>
                          </p:cTn>
                        </p:par>
                        <p:par>
                          <p:cTn id="55" fill="hold">
                            <p:stCondLst>
                              <p:cond delay="2000"/>
                            </p:stCondLst>
                            <p:childTnLst>
                              <p:par>
                                <p:cTn id="56" presetID="22" presetClass="exit" presetSubtype="4" fill="hold" grpId="2" nodeType="afterEffect">
                                  <p:stCondLst>
                                    <p:cond delay="0"/>
                                  </p:stCondLst>
                                  <p:childTnLst>
                                    <p:animEffect transition="out" filter="wipe(down)">
                                      <p:cBhvr>
                                        <p:cTn id="57" dur="500"/>
                                        <p:tgtEl>
                                          <p:spTgt spid="316"/>
                                        </p:tgtEl>
                                      </p:cBhvr>
                                    </p:animEffect>
                                    <p:set>
                                      <p:cBhvr>
                                        <p:cTn id="58" dur="1" fill="hold">
                                          <p:stCondLst>
                                            <p:cond delay="499"/>
                                          </p:stCondLst>
                                        </p:cTn>
                                        <p:tgtEl>
                                          <p:spTgt spid="316"/>
                                        </p:tgtEl>
                                        <p:attrNameLst>
                                          <p:attrName>style.visibility</p:attrName>
                                        </p:attrNameLst>
                                      </p:cBhvr>
                                      <p:to>
                                        <p:strVal val="hidden"/>
                                      </p:to>
                                    </p:set>
                                  </p:childTnLst>
                                </p:cTn>
                              </p:par>
                            </p:childTnLst>
                          </p:cTn>
                        </p:par>
                        <p:par>
                          <p:cTn id="59" fill="hold">
                            <p:stCondLst>
                              <p:cond delay="2500"/>
                            </p:stCondLst>
                            <p:childTnLst>
                              <p:par>
                                <p:cTn id="60" presetID="22" presetClass="entr" presetSubtype="4" fill="hold" nodeType="afterEffect">
                                  <p:stCondLst>
                                    <p:cond delay="0"/>
                                  </p:stCondLst>
                                  <p:childTnLst>
                                    <p:set>
                                      <p:cBhvr>
                                        <p:cTn id="61" dur="1" fill="hold">
                                          <p:stCondLst>
                                            <p:cond delay="0"/>
                                          </p:stCondLst>
                                        </p:cTn>
                                        <p:tgtEl>
                                          <p:spTgt spid="218"/>
                                        </p:tgtEl>
                                        <p:attrNameLst>
                                          <p:attrName>style.visibility</p:attrName>
                                        </p:attrNameLst>
                                      </p:cBhvr>
                                      <p:to>
                                        <p:strVal val="visible"/>
                                      </p:to>
                                    </p:set>
                                    <p:animEffect transition="in" filter="wipe(down)">
                                      <p:cBhvr>
                                        <p:cTn id="62" dur="500"/>
                                        <p:tgtEl>
                                          <p:spTgt spid="218"/>
                                        </p:tgtEl>
                                      </p:cBhvr>
                                    </p:animEffect>
                                  </p:childTnLst>
                                </p:cTn>
                              </p:par>
                            </p:childTnLst>
                          </p:cTn>
                        </p:par>
                        <p:par>
                          <p:cTn id="63" fill="hold">
                            <p:stCondLst>
                              <p:cond delay="3000"/>
                            </p:stCondLst>
                            <p:childTnLst>
                              <p:par>
                                <p:cTn id="64" presetID="1" presetClass="exit" presetSubtype="0" fill="hold" grpId="0" nodeType="afterEffect">
                                  <p:stCondLst>
                                    <p:cond delay="0"/>
                                  </p:stCondLst>
                                  <p:childTnLst>
                                    <p:set>
                                      <p:cBhvr>
                                        <p:cTn id="65" dur="1" fill="hold">
                                          <p:stCondLst>
                                            <p:cond delay="0"/>
                                          </p:stCondLst>
                                        </p:cTn>
                                        <p:tgtEl>
                                          <p:spTgt spid="314"/>
                                        </p:tgtEl>
                                        <p:attrNameLst>
                                          <p:attrName>style.visibility</p:attrName>
                                        </p:attrNameLst>
                                      </p:cBhvr>
                                      <p:to>
                                        <p:strVal val="hidden"/>
                                      </p:to>
                                    </p:set>
                                  </p:childTnLst>
                                </p:cTn>
                              </p:par>
                              <p:par>
                                <p:cTn id="66" presetID="1" presetClass="exit" presetSubtype="0" fill="hold" grpId="0" nodeType="withEffect">
                                  <p:stCondLst>
                                    <p:cond delay="0"/>
                                  </p:stCondLst>
                                  <p:childTnLst>
                                    <p:set>
                                      <p:cBhvr>
                                        <p:cTn id="67" dur="1" fill="hold">
                                          <p:stCondLst>
                                            <p:cond delay="0"/>
                                          </p:stCondLst>
                                        </p:cTn>
                                        <p:tgtEl>
                                          <p:spTgt spid="42"/>
                                        </p:tgtEl>
                                        <p:attrNameLst>
                                          <p:attrName>style.visibility</p:attrName>
                                        </p:attrNameLst>
                                      </p:cBhvr>
                                      <p:to>
                                        <p:strVal val="hidden"/>
                                      </p:to>
                                    </p:set>
                                  </p:childTnLst>
                                </p:cTn>
                              </p:par>
                              <p:par>
                                <p:cTn id="68" presetID="1" presetClass="exit" presetSubtype="0" fill="hold" grpId="0" nodeType="withEffect">
                                  <p:stCondLst>
                                    <p:cond delay="0"/>
                                  </p:stCondLst>
                                  <p:childTnLst>
                                    <p:set>
                                      <p:cBhvr>
                                        <p:cTn id="69" dur="1" fill="hold">
                                          <p:stCondLst>
                                            <p:cond delay="0"/>
                                          </p:stCondLst>
                                        </p:cTn>
                                        <p:tgtEl>
                                          <p:spTgt spid="318"/>
                                        </p:tgtEl>
                                        <p:attrNameLst>
                                          <p:attrName>style.visibility</p:attrName>
                                        </p:attrNameLst>
                                      </p:cBhvr>
                                      <p:to>
                                        <p:strVal val="hidden"/>
                                      </p:to>
                                    </p:set>
                                  </p:childTnLst>
                                </p:cTn>
                              </p:par>
                            </p:childTnLst>
                          </p:cTn>
                        </p:par>
                        <p:par>
                          <p:cTn id="70" fill="hold">
                            <p:stCondLst>
                              <p:cond delay="3000"/>
                            </p:stCondLst>
                            <p:childTnLst>
                              <p:par>
                                <p:cTn id="71" presetID="9" presetClass="exit" presetSubtype="0" fill="hold" nodeType="afterEffect">
                                  <p:stCondLst>
                                    <p:cond delay="0"/>
                                  </p:stCondLst>
                                  <p:childTnLst>
                                    <p:animEffect transition="out" filter="dissolve">
                                      <p:cBhvr>
                                        <p:cTn id="72" dur="500"/>
                                        <p:tgtEl>
                                          <p:spTgt spid="320"/>
                                        </p:tgtEl>
                                      </p:cBhvr>
                                    </p:animEffect>
                                    <p:set>
                                      <p:cBhvr>
                                        <p:cTn id="73" dur="1" fill="hold">
                                          <p:stCondLst>
                                            <p:cond delay="499"/>
                                          </p:stCondLst>
                                        </p:cTn>
                                        <p:tgtEl>
                                          <p:spTgt spid="320"/>
                                        </p:tgtEl>
                                        <p:attrNameLst>
                                          <p:attrName>style.visibility</p:attrName>
                                        </p:attrNameLst>
                                      </p:cBhvr>
                                      <p:to>
                                        <p:strVal val="hidden"/>
                                      </p:to>
                                    </p:set>
                                  </p:childTnLst>
                                </p:cTn>
                              </p:par>
                            </p:childTnLst>
                          </p:cTn>
                        </p:par>
                        <p:par>
                          <p:cTn id="74" fill="hold">
                            <p:stCondLst>
                              <p:cond delay="3500"/>
                            </p:stCondLst>
                            <p:childTnLst>
                              <p:par>
                                <p:cTn id="75" presetID="9" presetClass="exit" presetSubtype="0" fill="hold" grpId="0" nodeType="afterEffect">
                                  <p:stCondLst>
                                    <p:cond delay="0"/>
                                  </p:stCondLst>
                                  <p:childTnLst>
                                    <p:animEffect transition="out" filter="dissolve">
                                      <p:cBhvr>
                                        <p:cTn id="76" dur="500"/>
                                        <p:tgtEl>
                                          <p:spTgt spid="4"/>
                                        </p:tgtEl>
                                      </p:cBhvr>
                                    </p:animEffect>
                                    <p:set>
                                      <p:cBhvr>
                                        <p:cTn id="77" dur="1" fill="hold">
                                          <p:stCondLst>
                                            <p:cond delay="499"/>
                                          </p:stCondLst>
                                        </p:cTn>
                                        <p:tgtEl>
                                          <p:spTgt spid="4"/>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6" presetClass="entr" presetSubtype="37" fill="hold" grpId="0" nodeType="clickEffect">
                                  <p:stCondLst>
                                    <p:cond delay="0"/>
                                  </p:stCondLst>
                                  <p:childTnLst>
                                    <p:set>
                                      <p:cBhvr>
                                        <p:cTn id="81" dur="1" fill="hold">
                                          <p:stCondLst>
                                            <p:cond delay="0"/>
                                          </p:stCondLst>
                                        </p:cTn>
                                        <p:tgtEl>
                                          <p:spTgt spid="56"/>
                                        </p:tgtEl>
                                        <p:attrNameLst>
                                          <p:attrName>style.visibility</p:attrName>
                                        </p:attrNameLst>
                                      </p:cBhvr>
                                      <p:to>
                                        <p:strVal val="visible"/>
                                      </p:to>
                                    </p:set>
                                    <p:animEffect transition="in" filter="barn(outVertical)">
                                      <p:cBhvr>
                                        <p:cTn id="82" dur="500"/>
                                        <p:tgtEl>
                                          <p:spTgt spid="56"/>
                                        </p:tgtEl>
                                      </p:cBhvr>
                                    </p:animEffect>
                                  </p:childTnLst>
                                </p:cTn>
                              </p:par>
                            </p:childTnLst>
                          </p:cTn>
                        </p:par>
                        <p:par>
                          <p:cTn id="83" fill="hold">
                            <p:stCondLst>
                              <p:cond delay="500"/>
                            </p:stCondLst>
                            <p:childTnLst>
                              <p:par>
                                <p:cTn id="84" presetID="10" presetClass="entr" presetSubtype="0" fill="hold" grpId="0" nodeType="afterEffect">
                                  <p:stCondLst>
                                    <p:cond delay="0"/>
                                  </p:stCondLst>
                                  <p:childTnLst>
                                    <p:set>
                                      <p:cBhvr>
                                        <p:cTn id="85" dur="1" fill="hold">
                                          <p:stCondLst>
                                            <p:cond delay="0"/>
                                          </p:stCondLst>
                                        </p:cTn>
                                        <p:tgtEl>
                                          <p:spTgt spid="355"/>
                                        </p:tgtEl>
                                        <p:attrNameLst>
                                          <p:attrName>style.visibility</p:attrName>
                                        </p:attrNameLst>
                                      </p:cBhvr>
                                      <p:to>
                                        <p:strVal val="visible"/>
                                      </p:to>
                                    </p:set>
                                    <p:animEffect transition="in" filter="fade">
                                      <p:cBhvr>
                                        <p:cTn id="86" dur="500"/>
                                        <p:tgtEl>
                                          <p:spTgt spid="355"/>
                                        </p:tgtEl>
                                      </p:cBhvr>
                                    </p:animEffect>
                                  </p:childTnLst>
                                </p:cTn>
                              </p:par>
                              <p:par>
                                <p:cTn id="87" presetID="10" presetClass="entr" presetSubtype="0" fill="hold" nodeType="withEffect">
                                  <p:stCondLst>
                                    <p:cond delay="0"/>
                                  </p:stCondLst>
                                  <p:childTnLst>
                                    <p:set>
                                      <p:cBhvr>
                                        <p:cTn id="88" dur="1" fill="hold">
                                          <p:stCondLst>
                                            <p:cond delay="0"/>
                                          </p:stCondLst>
                                        </p:cTn>
                                        <p:tgtEl>
                                          <p:spTgt spid="58"/>
                                        </p:tgtEl>
                                        <p:attrNameLst>
                                          <p:attrName>style.visibility</p:attrName>
                                        </p:attrNameLst>
                                      </p:cBhvr>
                                      <p:to>
                                        <p:strVal val="visible"/>
                                      </p:to>
                                    </p:set>
                                    <p:animEffect transition="in" filter="fade">
                                      <p:cBhvr>
                                        <p:cTn id="89" dur="500"/>
                                        <p:tgtEl>
                                          <p:spTgt spid="58"/>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59"/>
                                        </p:tgtEl>
                                        <p:attrNameLst>
                                          <p:attrName>style.visibility</p:attrName>
                                        </p:attrNameLst>
                                      </p:cBhvr>
                                      <p:to>
                                        <p:strVal val="visible"/>
                                      </p:to>
                                    </p:set>
                                    <p:animEffect transition="in" filter="fade">
                                      <p:cBhvr>
                                        <p:cTn id="92" dur="500"/>
                                        <p:tgtEl>
                                          <p:spTgt spid="5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60"/>
                                        </p:tgtEl>
                                        <p:attrNameLst>
                                          <p:attrName>style.visibility</p:attrName>
                                        </p:attrNameLst>
                                      </p:cBhvr>
                                      <p:to>
                                        <p:strVal val="visible"/>
                                      </p:to>
                                    </p:set>
                                    <p:animEffect transition="in" filter="fade">
                                      <p:cBhvr>
                                        <p:cTn id="95"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2" grpId="0" animBg="1"/>
      <p:bldP spid="52" grpId="0"/>
      <p:bldP spid="53" grpId="0"/>
      <p:bldP spid="54" grpId="0"/>
      <p:bldP spid="56" grpId="0" animBg="1"/>
      <p:bldP spid="59" grpId="0"/>
      <p:bldP spid="60" grpId="0"/>
      <p:bldP spid="314" grpId="0" animBg="1"/>
      <p:bldP spid="315" grpId="0" animBg="1"/>
      <p:bldP spid="316" grpId="0" animBg="1"/>
      <p:bldP spid="316" grpId="1" animBg="1"/>
      <p:bldP spid="316" grpId="2" animBg="1"/>
      <p:bldP spid="317" grpId="0" animBg="1"/>
      <p:bldP spid="318" grpId="0"/>
      <p:bldP spid="35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D4344-DBDE-6FE8-000C-9EF9A9876859}"/>
            </a:ext>
          </a:extLst>
        </p:cNvPr>
        <p:cNvGrpSpPr/>
        <p:nvPr/>
      </p:nvGrpSpPr>
      <p:grpSpPr>
        <a:xfrm>
          <a:off x="0" y="0"/>
          <a:ext cx="0" cy="0"/>
          <a:chOff x="0" y="0"/>
          <a:chExt cx="0" cy="0"/>
        </a:xfrm>
      </p:grpSpPr>
      <p:sp>
        <p:nvSpPr>
          <p:cNvPr id="48" name="Google Shape;6705;g2d30ebb658d_0_19789">
            <a:extLst>
              <a:ext uri="{FF2B5EF4-FFF2-40B4-BE49-F238E27FC236}">
                <a16:creationId xmlns:a16="http://schemas.microsoft.com/office/drawing/2014/main" id="{1C7C82BD-EC4C-283F-6B26-C9068D7EE23A}"/>
              </a:ext>
            </a:extLst>
          </p:cNvPr>
          <p:cNvSpPr/>
          <p:nvPr/>
        </p:nvSpPr>
        <p:spPr>
          <a:xfrm>
            <a:off x="3381931" y="1697311"/>
            <a:ext cx="1662975"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49" name="Google Shape;6705;g2d30ebb658d_0_19789">
            <a:extLst>
              <a:ext uri="{FF2B5EF4-FFF2-40B4-BE49-F238E27FC236}">
                <a16:creationId xmlns:a16="http://schemas.microsoft.com/office/drawing/2014/main" id="{1D863FD3-B5A7-E331-8311-015E14EABCCD}"/>
              </a:ext>
            </a:extLst>
          </p:cNvPr>
          <p:cNvSpPr/>
          <p:nvPr/>
        </p:nvSpPr>
        <p:spPr>
          <a:xfrm>
            <a:off x="3383862" y="1502543"/>
            <a:ext cx="1661044" cy="144193"/>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grpSp>
        <p:nvGrpSpPr>
          <p:cNvPr id="2" name="Group 1">
            <a:extLst>
              <a:ext uri="{FF2B5EF4-FFF2-40B4-BE49-F238E27FC236}">
                <a16:creationId xmlns:a16="http://schemas.microsoft.com/office/drawing/2014/main" id="{37A3C9C6-6102-E65C-C7A8-1E0B468B9E0C}"/>
              </a:ext>
            </a:extLst>
          </p:cNvPr>
          <p:cNvGrpSpPr/>
          <p:nvPr/>
        </p:nvGrpSpPr>
        <p:grpSpPr>
          <a:xfrm>
            <a:off x="3184188" y="1239653"/>
            <a:ext cx="2078703" cy="4835977"/>
            <a:chOff x="3913053" y="1239653"/>
            <a:chExt cx="2078703" cy="4835977"/>
          </a:xfrm>
        </p:grpSpPr>
        <p:sp>
          <p:nvSpPr>
            <p:cNvPr id="52" name="Google Shape;6678;g2d30ebb658d_0_19789">
              <a:extLst>
                <a:ext uri="{FF2B5EF4-FFF2-40B4-BE49-F238E27FC236}">
                  <a16:creationId xmlns:a16="http://schemas.microsoft.com/office/drawing/2014/main" id="{6C186BC9-9CFD-9F4B-B182-14CFAC2036DC}"/>
                </a:ext>
              </a:extLst>
            </p:cNvPr>
            <p:cNvSpPr/>
            <p:nvPr/>
          </p:nvSpPr>
          <p:spPr>
            <a:xfrm>
              <a:off x="3913053" y="1239653"/>
              <a:ext cx="2078703" cy="4835977"/>
            </a:xfrm>
            <a:prstGeom prst="roundRect">
              <a:avLst>
                <a:gd name="adj" fmla="val 2356"/>
              </a:avLst>
            </a:prstGeom>
            <a:solidFill>
              <a:schemeClr val="accent5">
                <a:alpha val="9770"/>
              </a:schemeClr>
            </a:solidFill>
            <a:ln w="9525">
              <a:gradFill>
                <a:gsLst>
                  <a:gs pos="0">
                    <a:schemeClr val="accent1">
                      <a:lumMod val="5000"/>
                      <a:lumOff val="95000"/>
                    </a:schemeClr>
                  </a:gs>
                  <a:gs pos="0">
                    <a:schemeClr val="accent2"/>
                  </a:gs>
                  <a:gs pos="100000">
                    <a:schemeClr val="accent5"/>
                  </a:gs>
                  <a:gs pos="100000">
                    <a:schemeClr val="accent1">
                      <a:lumMod val="30000"/>
                      <a:lumOff val="70000"/>
                    </a:schemeClr>
                  </a:gs>
                </a:gsLst>
                <a:lin ang="5400000" scaled="1"/>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53" name="TextBox 52">
              <a:extLst>
                <a:ext uri="{FF2B5EF4-FFF2-40B4-BE49-F238E27FC236}">
                  <a16:creationId xmlns:a16="http://schemas.microsoft.com/office/drawing/2014/main" id="{45FE6AD2-3819-1A62-F384-3A1ACD60ECF0}"/>
                </a:ext>
              </a:extLst>
            </p:cNvPr>
            <p:cNvSpPr txBox="1"/>
            <p:nvPr/>
          </p:nvSpPr>
          <p:spPr>
            <a:xfrm>
              <a:off x="4642128" y="1280402"/>
              <a:ext cx="575479"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Fleet</a:t>
              </a:r>
            </a:p>
          </p:txBody>
        </p:sp>
      </p:grpSp>
      <p:sp>
        <p:nvSpPr>
          <p:cNvPr id="119" name="Google Shape;6678;g2d30ebb658d_0_19789">
            <a:extLst>
              <a:ext uri="{FF2B5EF4-FFF2-40B4-BE49-F238E27FC236}">
                <a16:creationId xmlns:a16="http://schemas.microsoft.com/office/drawing/2014/main" id="{4FF52D57-F132-109F-28C6-B01091FBBDBF}"/>
              </a:ext>
            </a:extLst>
          </p:cNvPr>
          <p:cNvSpPr/>
          <p:nvPr/>
        </p:nvSpPr>
        <p:spPr>
          <a:xfrm>
            <a:off x="702366" y="1006110"/>
            <a:ext cx="7063409" cy="5142546"/>
          </a:xfrm>
          <a:prstGeom prst="roundRect">
            <a:avLst>
              <a:gd name="adj" fmla="val 2356"/>
            </a:avLst>
          </a:prstGeom>
          <a:noFill/>
          <a:ln w="9525">
            <a:solidFill>
              <a:schemeClr val="bg1">
                <a:lumMod val="75000"/>
              </a:schemeClr>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7" name="Group 16">
            <a:extLst>
              <a:ext uri="{FF2B5EF4-FFF2-40B4-BE49-F238E27FC236}">
                <a16:creationId xmlns:a16="http://schemas.microsoft.com/office/drawing/2014/main" id="{4FC9958E-CC08-EFC1-2D33-84CBE7A550E3}"/>
              </a:ext>
            </a:extLst>
          </p:cNvPr>
          <p:cNvGrpSpPr/>
          <p:nvPr/>
        </p:nvGrpSpPr>
        <p:grpSpPr>
          <a:xfrm>
            <a:off x="828981" y="1239652"/>
            <a:ext cx="2078703" cy="4835977"/>
            <a:chOff x="1809095" y="1387022"/>
            <a:chExt cx="2078703" cy="4835977"/>
          </a:xfrm>
        </p:grpSpPr>
        <p:grpSp>
          <p:nvGrpSpPr>
            <p:cNvPr id="14" name="Group 13">
              <a:extLst>
                <a:ext uri="{FF2B5EF4-FFF2-40B4-BE49-F238E27FC236}">
                  <a16:creationId xmlns:a16="http://schemas.microsoft.com/office/drawing/2014/main" id="{11F246DD-8504-733B-160F-2F00DD265ABC}"/>
                </a:ext>
              </a:extLst>
            </p:cNvPr>
            <p:cNvGrpSpPr/>
            <p:nvPr/>
          </p:nvGrpSpPr>
          <p:grpSpPr>
            <a:xfrm>
              <a:off x="1809095" y="1387022"/>
              <a:ext cx="2078703" cy="4835977"/>
              <a:chOff x="1809095" y="1387022"/>
              <a:chExt cx="2078703" cy="4835977"/>
            </a:xfrm>
          </p:grpSpPr>
          <p:grpSp>
            <p:nvGrpSpPr>
              <p:cNvPr id="167" name="Group 166">
                <a:extLst>
                  <a:ext uri="{FF2B5EF4-FFF2-40B4-BE49-F238E27FC236}">
                    <a16:creationId xmlns:a16="http://schemas.microsoft.com/office/drawing/2014/main" id="{3D328903-DC9F-96E3-D7B2-820AE6B7903D}"/>
                  </a:ext>
                </a:extLst>
              </p:cNvPr>
              <p:cNvGrpSpPr/>
              <p:nvPr/>
            </p:nvGrpSpPr>
            <p:grpSpPr>
              <a:xfrm>
                <a:off x="1809095" y="1387022"/>
                <a:ext cx="2078703" cy="4835977"/>
                <a:chOff x="1806861" y="1387023"/>
                <a:chExt cx="2078703" cy="4835977"/>
              </a:xfrm>
            </p:grpSpPr>
            <p:sp>
              <p:nvSpPr>
                <p:cNvPr id="120" name="Google Shape;6678;g2d30ebb658d_0_19789">
                  <a:extLst>
                    <a:ext uri="{FF2B5EF4-FFF2-40B4-BE49-F238E27FC236}">
                      <a16:creationId xmlns:a16="http://schemas.microsoft.com/office/drawing/2014/main" id="{1AD979A9-79CC-8C9D-A3D8-2D5C771B1636}"/>
                    </a:ext>
                  </a:extLst>
                </p:cNvPr>
                <p:cNvSpPr/>
                <p:nvPr/>
              </p:nvSpPr>
              <p:spPr>
                <a:xfrm>
                  <a:off x="1806861" y="1387023"/>
                  <a:ext cx="2078703" cy="4835977"/>
                </a:xfrm>
                <a:prstGeom prst="roundRect">
                  <a:avLst>
                    <a:gd name="adj" fmla="val 2356"/>
                  </a:avLst>
                </a:prstGeom>
                <a:solidFill>
                  <a:schemeClr val="accent3">
                    <a:alpha val="10000"/>
                  </a:schemeClr>
                </a:solidFill>
                <a:ln w="9525">
                  <a:solidFill>
                    <a:schemeClr val="accent3"/>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21" name="Google Shape;6705;g2d30ebb658d_0_19789">
                  <a:extLst>
                    <a:ext uri="{FF2B5EF4-FFF2-40B4-BE49-F238E27FC236}">
                      <a16:creationId xmlns:a16="http://schemas.microsoft.com/office/drawing/2014/main" id="{FC0C90E9-93AE-87D8-DEE7-57CA80517639}"/>
                    </a:ext>
                  </a:extLst>
                </p:cNvPr>
                <p:cNvSpPr/>
                <p:nvPr/>
              </p:nvSpPr>
              <p:spPr>
                <a:xfrm>
                  <a:off x="2004604" y="1844681"/>
                  <a:ext cx="1662975"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22" name="Google Shape;6705;g2d30ebb658d_0_19789">
                  <a:extLst>
                    <a:ext uri="{FF2B5EF4-FFF2-40B4-BE49-F238E27FC236}">
                      <a16:creationId xmlns:a16="http://schemas.microsoft.com/office/drawing/2014/main" id="{B053D66E-ADA9-4B44-49AB-648FF1D6B4FA}"/>
                    </a:ext>
                  </a:extLst>
                </p:cNvPr>
                <p:cNvSpPr/>
                <p:nvPr/>
              </p:nvSpPr>
              <p:spPr>
                <a:xfrm>
                  <a:off x="2006535" y="1649913"/>
                  <a:ext cx="1661044" cy="144193"/>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23" name="TextBox 122">
                  <a:extLst>
                    <a:ext uri="{FF2B5EF4-FFF2-40B4-BE49-F238E27FC236}">
                      <a16:creationId xmlns:a16="http://schemas.microsoft.com/office/drawing/2014/main" id="{274CB646-466D-FB95-71CB-B6443F8F8912}"/>
                    </a:ext>
                  </a:extLst>
                </p:cNvPr>
                <p:cNvSpPr txBox="1"/>
                <p:nvPr/>
              </p:nvSpPr>
              <p:spPr>
                <a:xfrm>
                  <a:off x="2551092" y="1427772"/>
                  <a:ext cx="575479"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Fleet</a:t>
                  </a:r>
                </a:p>
              </p:txBody>
            </p:sp>
            <p:sp>
              <p:nvSpPr>
                <p:cNvPr id="124" name="Google Shape;6678;g2d30ebb658d_0_19789">
                  <a:extLst>
                    <a:ext uri="{FF2B5EF4-FFF2-40B4-BE49-F238E27FC236}">
                      <a16:creationId xmlns:a16="http://schemas.microsoft.com/office/drawing/2014/main" id="{81C144A0-D9B2-73EF-447E-BD9E3FC724BE}"/>
                    </a:ext>
                  </a:extLst>
                </p:cNvPr>
                <p:cNvSpPr/>
                <p:nvPr/>
              </p:nvSpPr>
              <p:spPr>
                <a:xfrm>
                  <a:off x="1885819" y="5848404"/>
                  <a:ext cx="1909145"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25" name="Group 124">
                  <a:extLst>
                    <a:ext uri="{FF2B5EF4-FFF2-40B4-BE49-F238E27FC236}">
                      <a16:creationId xmlns:a16="http://schemas.microsoft.com/office/drawing/2014/main" id="{A93701A8-91ED-A973-B5DB-EC167D0B6AAC}"/>
                    </a:ext>
                  </a:extLst>
                </p:cNvPr>
                <p:cNvGrpSpPr/>
                <p:nvPr/>
              </p:nvGrpSpPr>
              <p:grpSpPr>
                <a:xfrm>
                  <a:off x="1887963" y="2081242"/>
                  <a:ext cx="1909145" cy="3700692"/>
                  <a:chOff x="4353920" y="2081242"/>
                  <a:chExt cx="1909145" cy="3700692"/>
                </a:xfrm>
              </p:grpSpPr>
              <p:sp>
                <p:nvSpPr>
                  <p:cNvPr id="126" name="Google Shape;6678;g2d30ebb658d_0_19789">
                    <a:extLst>
                      <a:ext uri="{FF2B5EF4-FFF2-40B4-BE49-F238E27FC236}">
                        <a16:creationId xmlns:a16="http://schemas.microsoft.com/office/drawing/2014/main" id="{DE60C71D-9224-DE63-7861-8E9C40DF9F7E}"/>
                      </a:ext>
                    </a:extLst>
                  </p:cNvPr>
                  <p:cNvSpPr/>
                  <p:nvPr/>
                </p:nvSpPr>
                <p:spPr>
                  <a:xfrm>
                    <a:off x="4353920" y="2081242"/>
                    <a:ext cx="1909145" cy="3700692"/>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27" name="Google Shape;6678;g2d30ebb658d_0_19789">
                    <a:extLst>
                      <a:ext uri="{FF2B5EF4-FFF2-40B4-BE49-F238E27FC236}">
                        <a16:creationId xmlns:a16="http://schemas.microsoft.com/office/drawing/2014/main" id="{6119EAC4-F719-F850-0D54-65B3DA7BCBED}"/>
                      </a:ext>
                    </a:extLst>
                  </p:cNvPr>
                  <p:cNvSpPr/>
                  <p:nvPr/>
                </p:nvSpPr>
                <p:spPr>
                  <a:xfrm>
                    <a:off x="4421988" y="2352787"/>
                    <a:ext cx="1769718" cy="173710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28" name="Google Shape;6705;g2d30ebb658d_0_19789">
                    <a:extLst>
                      <a:ext uri="{FF2B5EF4-FFF2-40B4-BE49-F238E27FC236}">
                        <a16:creationId xmlns:a16="http://schemas.microsoft.com/office/drawing/2014/main" id="{C0CFAF2C-5B17-9997-9CBB-090A4F9E0EC6}"/>
                      </a:ext>
                    </a:extLst>
                  </p:cNvPr>
                  <p:cNvSpPr/>
                  <p:nvPr/>
                </p:nvSpPr>
                <p:spPr>
                  <a:xfrm>
                    <a:off x="4472491" y="3528763"/>
                    <a:ext cx="1661045" cy="491167"/>
                  </a:xfrm>
                  <a:prstGeom prst="roundRect">
                    <a:avLst>
                      <a:gd name="adj" fmla="val 6349"/>
                    </a:avLst>
                  </a:prstGeom>
                  <a:noFill/>
                  <a:ln w="25400">
                    <a:gradFill>
                      <a:gsLst>
                        <a:gs pos="0">
                          <a:schemeClr val="accent2"/>
                        </a:gs>
                        <a:gs pos="0">
                          <a:schemeClr val="accent2"/>
                        </a:gs>
                        <a:gs pos="100000">
                          <a:schemeClr val="accent3"/>
                        </a:gs>
                        <a:gs pos="100000">
                          <a:schemeClr val="accent3"/>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29" name="Google Shape;6707;g2d30ebb658d_0_19789">
                    <a:extLst>
                      <a:ext uri="{FF2B5EF4-FFF2-40B4-BE49-F238E27FC236}">
                        <a16:creationId xmlns:a16="http://schemas.microsoft.com/office/drawing/2014/main" id="{9E6319B2-7C99-C851-18B5-937193AD1A08}"/>
                      </a:ext>
                    </a:extLst>
                  </p:cNvPr>
                  <p:cNvGrpSpPr/>
                  <p:nvPr/>
                </p:nvGrpSpPr>
                <p:grpSpPr>
                  <a:xfrm>
                    <a:off x="5721290" y="3680282"/>
                    <a:ext cx="283155" cy="283154"/>
                    <a:chOff x="10722212" y="2729558"/>
                    <a:chExt cx="663407" cy="663407"/>
                  </a:xfrm>
                </p:grpSpPr>
                <p:sp>
                  <p:nvSpPr>
                    <p:cNvPr id="145" name="Google Shape;6708;g2d30ebb658d_0_19789">
                      <a:extLst>
                        <a:ext uri="{FF2B5EF4-FFF2-40B4-BE49-F238E27FC236}">
                          <a16:creationId xmlns:a16="http://schemas.microsoft.com/office/drawing/2014/main" id="{84DCBD67-5FE3-0961-0685-925423308292}"/>
                        </a:ext>
                      </a:extLst>
                    </p:cNvPr>
                    <p:cNvSpPr>
                      <a:spLocks noChangeAspect="1"/>
                    </p:cNvSpPr>
                    <p:nvPr/>
                  </p:nvSpPr>
                  <p:spPr>
                    <a:xfrm>
                      <a:off x="10722212" y="2729558"/>
                      <a:ext cx="663407" cy="663407"/>
                    </a:xfrm>
                    <a:prstGeom prst="ellipse">
                      <a:avLst/>
                    </a:prstGeom>
                    <a:solidFill>
                      <a:schemeClr val="accent3"/>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46" name="Google Shape;6709;g2d30ebb658d_0_19789">
                      <a:extLst>
                        <a:ext uri="{FF2B5EF4-FFF2-40B4-BE49-F238E27FC236}">
                          <a16:creationId xmlns:a16="http://schemas.microsoft.com/office/drawing/2014/main" id="{4A6CBD63-5C6C-D1CA-6A1E-43EC68055E73}"/>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30" name="Google Shape;6710;g2d30ebb658d_0_19789">
                    <a:extLst>
                      <a:ext uri="{FF2B5EF4-FFF2-40B4-BE49-F238E27FC236}">
                        <a16:creationId xmlns:a16="http://schemas.microsoft.com/office/drawing/2014/main" id="{62FD5AB3-42C9-1817-6820-5AA4FAF5C043}"/>
                      </a:ext>
                    </a:extLst>
                  </p:cNvPr>
                  <p:cNvGrpSpPr/>
                  <p:nvPr/>
                </p:nvGrpSpPr>
                <p:grpSpPr>
                  <a:xfrm>
                    <a:off x="4576370" y="3680163"/>
                    <a:ext cx="283155" cy="283154"/>
                    <a:chOff x="572541" y="5475121"/>
                    <a:chExt cx="663407" cy="663407"/>
                  </a:xfrm>
                </p:grpSpPr>
                <p:sp>
                  <p:nvSpPr>
                    <p:cNvPr id="143" name="Google Shape;6711;g2d30ebb658d_0_19789">
                      <a:extLst>
                        <a:ext uri="{FF2B5EF4-FFF2-40B4-BE49-F238E27FC236}">
                          <a16:creationId xmlns:a16="http://schemas.microsoft.com/office/drawing/2014/main" id="{8FE95685-7777-17C2-B67B-5B08F13BE916}"/>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44" name="Google Shape;6712;g2d30ebb658d_0_19789">
                      <a:extLst>
                        <a:ext uri="{FF2B5EF4-FFF2-40B4-BE49-F238E27FC236}">
                          <a16:creationId xmlns:a16="http://schemas.microsoft.com/office/drawing/2014/main" id="{B48DC54E-12CE-B574-36F7-1F639C4B2B9D}"/>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31" name="Google Shape;6713;g2d30ebb658d_0_19789">
                    <a:extLst>
                      <a:ext uri="{FF2B5EF4-FFF2-40B4-BE49-F238E27FC236}">
                        <a16:creationId xmlns:a16="http://schemas.microsoft.com/office/drawing/2014/main" id="{5BD8FD0B-9FD6-A40C-114C-D5469F8A0C91}"/>
                      </a:ext>
                    </a:extLst>
                  </p:cNvPr>
                  <p:cNvGrpSpPr/>
                  <p:nvPr/>
                </p:nvGrpSpPr>
                <p:grpSpPr>
                  <a:xfrm>
                    <a:off x="5144738" y="3680164"/>
                    <a:ext cx="283155" cy="283154"/>
                    <a:chOff x="9272259" y="5475121"/>
                    <a:chExt cx="663407" cy="663407"/>
                  </a:xfrm>
                </p:grpSpPr>
                <p:sp>
                  <p:nvSpPr>
                    <p:cNvPr id="141" name="Google Shape;6714;g2d30ebb658d_0_19789">
                      <a:extLst>
                        <a:ext uri="{FF2B5EF4-FFF2-40B4-BE49-F238E27FC236}">
                          <a16:creationId xmlns:a16="http://schemas.microsoft.com/office/drawing/2014/main" id="{ACA63D17-F166-4210-D1E0-53E9CECEBC49}"/>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3"/>
                        </a:gs>
                        <a:gs pos="99000">
                          <a:schemeClr val="accent3"/>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42" name="Google Shape;6715;g2d30ebb658d_0_19789">
                      <a:extLst>
                        <a:ext uri="{FF2B5EF4-FFF2-40B4-BE49-F238E27FC236}">
                          <a16:creationId xmlns:a16="http://schemas.microsoft.com/office/drawing/2014/main" id="{76618E30-B7B3-F8B5-3BCE-360A264E691B}"/>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132" name="Google Shape;6704;g2d30ebb658d_0_19789">
                    <a:extLst>
                      <a:ext uri="{FF2B5EF4-FFF2-40B4-BE49-F238E27FC236}">
                        <a16:creationId xmlns:a16="http://schemas.microsoft.com/office/drawing/2014/main" id="{4EC5FDCB-A382-C526-465F-A733C1CF37C6}"/>
                      </a:ext>
                    </a:extLst>
                  </p:cNvPr>
                  <p:cNvSpPr/>
                  <p:nvPr/>
                </p:nvSpPr>
                <p:spPr>
                  <a:xfrm>
                    <a:off x="4507602" y="2413513"/>
                    <a:ext cx="1597075" cy="198035"/>
                  </a:xfrm>
                  <a:prstGeom prst="roundRect">
                    <a:avLst>
                      <a:gd name="adj" fmla="val 50000"/>
                    </a:avLst>
                  </a:prstGeom>
                  <a:solidFill>
                    <a:schemeClr val="bg1"/>
                  </a:solidFill>
                  <a:ln w="25400">
                    <a:gradFill>
                      <a:gsLst>
                        <a:gs pos="0">
                          <a:schemeClr val="accent3"/>
                        </a:gs>
                        <a:gs pos="2000">
                          <a:schemeClr val="accent3"/>
                        </a:gs>
                        <a:gs pos="100000">
                          <a:schemeClr val="accent2"/>
                        </a:gs>
                        <a:gs pos="96000">
                          <a:schemeClr val="accent2"/>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Management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3" name="TextBox 132">
                    <a:extLst>
                      <a:ext uri="{FF2B5EF4-FFF2-40B4-BE49-F238E27FC236}">
                        <a16:creationId xmlns:a16="http://schemas.microsoft.com/office/drawing/2014/main" id="{3A080E48-55F8-BA23-5362-ABCEE1125B82}"/>
                      </a:ext>
                    </a:extLst>
                  </p:cNvPr>
                  <p:cNvSpPr txBox="1"/>
                  <p:nvPr/>
                </p:nvSpPr>
                <p:spPr>
                  <a:xfrm>
                    <a:off x="4924734" y="3552453"/>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34" name="Google Shape;6705;g2d30ebb658d_0_19789">
                    <a:extLst>
                      <a:ext uri="{FF2B5EF4-FFF2-40B4-BE49-F238E27FC236}">
                        <a16:creationId xmlns:a16="http://schemas.microsoft.com/office/drawing/2014/main" id="{EE0F3305-FC3D-5B2A-E372-F3CE6F1A0EE7}"/>
                      </a:ext>
                    </a:extLst>
                  </p:cNvPr>
                  <p:cNvSpPr/>
                  <p:nvPr/>
                </p:nvSpPr>
                <p:spPr>
                  <a:xfrm>
                    <a:off x="4738816" y="2666396"/>
                    <a:ext cx="1130643"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35" name="Google Shape;6678;g2d30ebb658d_0_19789">
                    <a:extLst>
                      <a:ext uri="{FF2B5EF4-FFF2-40B4-BE49-F238E27FC236}">
                        <a16:creationId xmlns:a16="http://schemas.microsoft.com/office/drawing/2014/main" id="{5AE5C421-52ED-D772-DF86-86AE6F9D59BC}"/>
                      </a:ext>
                    </a:extLst>
                  </p:cNvPr>
                  <p:cNvSpPr/>
                  <p:nvPr/>
                </p:nvSpPr>
                <p:spPr>
                  <a:xfrm>
                    <a:off x="4989674" y="3264891"/>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36" name="Google Shape;6678;g2d30ebb658d_0_19789">
                    <a:extLst>
                      <a:ext uri="{FF2B5EF4-FFF2-40B4-BE49-F238E27FC236}">
                        <a16:creationId xmlns:a16="http://schemas.microsoft.com/office/drawing/2014/main" id="{C5E41503-2425-531B-62D8-1B9E7E9F4B22}"/>
                      </a:ext>
                    </a:extLst>
                  </p:cNvPr>
                  <p:cNvSpPr/>
                  <p:nvPr/>
                </p:nvSpPr>
                <p:spPr>
                  <a:xfrm>
                    <a:off x="4738816" y="2868207"/>
                    <a:ext cx="1130643" cy="151298"/>
                  </a:xfrm>
                  <a:prstGeom prst="roundRect">
                    <a:avLst>
                      <a:gd name="adj" fmla="val 2356"/>
                    </a:avLst>
                  </a:prstGeom>
                  <a:gradFill>
                    <a:gsLst>
                      <a:gs pos="0">
                        <a:schemeClr val="accent2"/>
                      </a:gs>
                      <a:gs pos="99000">
                        <a:schemeClr val="accent3"/>
                      </a:gs>
                      <a:gs pos="100000">
                        <a:schemeClr val="accent3"/>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37" name="TextBox 136">
                    <a:extLst>
                      <a:ext uri="{FF2B5EF4-FFF2-40B4-BE49-F238E27FC236}">
                        <a16:creationId xmlns:a16="http://schemas.microsoft.com/office/drawing/2014/main" id="{7F8E08C6-9DA1-BCED-ABCA-27D08019BFB9}"/>
                      </a:ext>
                    </a:extLst>
                  </p:cNvPr>
                  <p:cNvSpPr txBox="1"/>
                  <p:nvPr/>
                </p:nvSpPr>
                <p:spPr>
                  <a:xfrm>
                    <a:off x="5032205" y="2152074"/>
                    <a:ext cx="772647"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Instance</a:t>
                    </a:r>
                  </a:p>
                </p:txBody>
              </p:sp>
              <p:sp>
                <p:nvSpPr>
                  <p:cNvPr id="138" name="Google Shape;6705;g2d30ebb658d_0_19789">
                    <a:extLst>
                      <a:ext uri="{FF2B5EF4-FFF2-40B4-BE49-F238E27FC236}">
                        <a16:creationId xmlns:a16="http://schemas.microsoft.com/office/drawing/2014/main" id="{3FDBCAB3-A349-E48C-6549-CBD1A8BFAAB8}"/>
                      </a:ext>
                    </a:extLst>
                  </p:cNvPr>
                  <p:cNvSpPr/>
                  <p:nvPr/>
                </p:nvSpPr>
                <p:spPr>
                  <a:xfrm>
                    <a:off x="4738816" y="3064305"/>
                    <a:ext cx="1130643"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SDDC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pic>
                <p:nvPicPr>
                  <p:cNvPr id="140" name="Google Shape;6699;p92">
                    <a:extLst>
                      <a:ext uri="{FF2B5EF4-FFF2-40B4-BE49-F238E27FC236}">
                        <a16:creationId xmlns:a16="http://schemas.microsoft.com/office/drawing/2014/main" id="{68193A9A-F8FE-6967-A79E-0E328B2D62AB}"/>
                      </a:ext>
                    </a:extLst>
                  </p:cNvPr>
                  <p:cNvPicPr preferRelativeResize="0">
                    <a:picLocks noChangeAspect="1"/>
                  </p:cNvPicPr>
                  <p:nvPr/>
                </p:nvPicPr>
                <p:blipFill rotWithShape="1">
                  <a:blip r:embed="rId3">
                    <a:alphaModFix/>
                  </a:blip>
                  <a:srcRect/>
                  <a:stretch/>
                </p:blipFill>
                <p:spPr>
                  <a:xfrm>
                    <a:off x="4754661" y="2109728"/>
                    <a:ext cx="220483" cy="220483"/>
                  </a:xfrm>
                  <a:prstGeom prst="rect">
                    <a:avLst/>
                  </a:prstGeom>
                  <a:noFill/>
                  <a:ln>
                    <a:noFill/>
                  </a:ln>
                </p:spPr>
              </p:pic>
            </p:grpSp>
            <p:sp>
              <p:nvSpPr>
                <p:cNvPr id="147" name="TextBox 146">
                  <a:extLst>
                    <a:ext uri="{FF2B5EF4-FFF2-40B4-BE49-F238E27FC236}">
                      <a16:creationId xmlns:a16="http://schemas.microsoft.com/office/drawing/2014/main" id="{E4B9F7CC-F3E1-A33B-E775-9106EFDF8E44}"/>
                    </a:ext>
                  </a:extLst>
                </p:cNvPr>
                <p:cNvSpPr txBox="1"/>
                <p:nvPr/>
              </p:nvSpPr>
              <p:spPr>
                <a:xfrm>
                  <a:off x="2268613" y="5908305"/>
                  <a:ext cx="1431482"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Additional VCF Instances</a:t>
                  </a:r>
                </a:p>
              </p:txBody>
            </p:sp>
            <p:pic>
              <p:nvPicPr>
                <p:cNvPr id="148" name="Google Shape;6699;p92">
                  <a:extLst>
                    <a:ext uri="{FF2B5EF4-FFF2-40B4-BE49-F238E27FC236}">
                      <a16:creationId xmlns:a16="http://schemas.microsoft.com/office/drawing/2014/main" id="{A1CC8EB6-F929-E1CA-0065-50DCDCD33905}"/>
                    </a:ext>
                  </a:extLst>
                </p:cNvPr>
                <p:cNvPicPr preferRelativeResize="0">
                  <a:picLocks noChangeAspect="1"/>
                </p:cNvPicPr>
                <p:nvPr/>
              </p:nvPicPr>
              <p:blipFill rotWithShape="1">
                <a:blip r:embed="rId3">
                  <a:alphaModFix/>
                </a:blip>
                <a:srcRect/>
                <a:stretch/>
              </p:blipFill>
              <p:spPr>
                <a:xfrm>
                  <a:off x="1991069" y="5894009"/>
                  <a:ext cx="220483" cy="220483"/>
                </a:xfrm>
                <a:prstGeom prst="rect">
                  <a:avLst/>
                </a:prstGeom>
                <a:noFill/>
                <a:ln>
                  <a:noFill/>
                </a:ln>
              </p:spPr>
            </p:pic>
            <p:grpSp>
              <p:nvGrpSpPr>
                <p:cNvPr id="149" name="Group 148">
                  <a:extLst>
                    <a:ext uri="{FF2B5EF4-FFF2-40B4-BE49-F238E27FC236}">
                      <a16:creationId xmlns:a16="http://schemas.microsoft.com/office/drawing/2014/main" id="{027EF744-1FB1-57F1-CB09-211CFA29DE54}"/>
                    </a:ext>
                  </a:extLst>
                </p:cNvPr>
                <p:cNvGrpSpPr/>
                <p:nvPr/>
              </p:nvGrpSpPr>
              <p:grpSpPr>
                <a:xfrm>
                  <a:off x="1951273" y="4189923"/>
                  <a:ext cx="1769718" cy="1537778"/>
                  <a:chOff x="4421988" y="4189923"/>
                  <a:chExt cx="1769718" cy="1537778"/>
                </a:xfrm>
              </p:grpSpPr>
              <p:sp>
                <p:nvSpPr>
                  <p:cNvPr id="150" name="Google Shape;6678;g2d30ebb658d_0_19789">
                    <a:extLst>
                      <a:ext uri="{FF2B5EF4-FFF2-40B4-BE49-F238E27FC236}">
                        <a16:creationId xmlns:a16="http://schemas.microsoft.com/office/drawing/2014/main" id="{49BF8234-790C-F987-36C9-D6F008157534}"/>
                      </a:ext>
                    </a:extLst>
                  </p:cNvPr>
                  <p:cNvSpPr/>
                  <p:nvPr/>
                </p:nvSpPr>
                <p:spPr>
                  <a:xfrm>
                    <a:off x="4421988" y="4189923"/>
                    <a:ext cx="1769718" cy="1537778"/>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51" name="Google Shape;6705;g2d30ebb658d_0_19789">
                    <a:extLst>
                      <a:ext uri="{FF2B5EF4-FFF2-40B4-BE49-F238E27FC236}">
                        <a16:creationId xmlns:a16="http://schemas.microsoft.com/office/drawing/2014/main" id="{0ACD48D5-6019-BA06-886D-0C9763439B18}"/>
                      </a:ext>
                    </a:extLst>
                  </p:cNvPr>
                  <p:cNvSpPr/>
                  <p:nvPr/>
                </p:nvSpPr>
                <p:spPr>
                  <a:xfrm>
                    <a:off x="4472491" y="5173351"/>
                    <a:ext cx="1661045" cy="491167"/>
                  </a:xfrm>
                  <a:prstGeom prst="roundRect">
                    <a:avLst>
                      <a:gd name="adj" fmla="val 6349"/>
                    </a:avLst>
                  </a:prstGeom>
                  <a:noFill/>
                  <a:ln w="25400">
                    <a:gradFill>
                      <a:gsLst>
                        <a:gs pos="0">
                          <a:schemeClr val="accent2"/>
                        </a:gs>
                        <a:gs pos="0">
                          <a:schemeClr val="accent2"/>
                        </a:gs>
                        <a:gs pos="100000">
                          <a:schemeClr val="accent3"/>
                        </a:gs>
                        <a:gs pos="100000">
                          <a:schemeClr val="accent3"/>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52" name="Google Shape;6707;g2d30ebb658d_0_19789">
                    <a:extLst>
                      <a:ext uri="{FF2B5EF4-FFF2-40B4-BE49-F238E27FC236}">
                        <a16:creationId xmlns:a16="http://schemas.microsoft.com/office/drawing/2014/main" id="{8C9213FD-4951-ED2A-43B7-3C8C0FF30626}"/>
                      </a:ext>
                    </a:extLst>
                  </p:cNvPr>
                  <p:cNvGrpSpPr/>
                  <p:nvPr/>
                </p:nvGrpSpPr>
                <p:grpSpPr>
                  <a:xfrm>
                    <a:off x="5721290" y="5324870"/>
                    <a:ext cx="283155" cy="283154"/>
                    <a:chOff x="10722212" y="2729558"/>
                    <a:chExt cx="663407" cy="663407"/>
                  </a:xfrm>
                </p:grpSpPr>
                <p:sp>
                  <p:nvSpPr>
                    <p:cNvPr id="165" name="Google Shape;6708;g2d30ebb658d_0_19789">
                      <a:extLst>
                        <a:ext uri="{FF2B5EF4-FFF2-40B4-BE49-F238E27FC236}">
                          <a16:creationId xmlns:a16="http://schemas.microsoft.com/office/drawing/2014/main" id="{60AB1B3A-CBFD-A2F4-DFA8-6EE61F1AA4FF}"/>
                        </a:ext>
                      </a:extLst>
                    </p:cNvPr>
                    <p:cNvSpPr>
                      <a:spLocks noChangeAspect="1"/>
                    </p:cNvSpPr>
                    <p:nvPr/>
                  </p:nvSpPr>
                  <p:spPr>
                    <a:xfrm>
                      <a:off x="10722212" y="2729558"/>
                      <a:ext cx="663407" cy="663407"/>
                    </a:xfrm>
                    <a:prstGeom prst="ellipse">
                      <a:avLst/>
                    </a:prstGeom>
                    <a:solidFill>
                      <a:schemeClr val="accent3"/>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66" name="Google Shape;6709;g2d30ebb658d_0_19789">
                      <a:extLst>
                        <a:ext uri="{FF2B5EF4-FFF2-40B4-BE49-F238E27FC236}">
                          <a16:creationId xmlns:a16="http://schemas.microsoft.com/office/drawing/2014/main" id="{27CD4B5C-A7DE-65C8-7151-2327D780EBDD}"/>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53" name="Google Shape;6710;g2d30ebb658d_0_19789">
                    <a:extLst>
                      <a:ext uri="{FF2B5EF4-FFF2-40B4-BE49-F238E27FC236}">
                        <a16:creationId xmlns:a16="http://schemas.microsoft.com/office/drawing/2014/main" id="{87A74CB0-F33D-E0BE-A2C9-BCFA8DB2315E}"/>
                      </a:ext>
                    </a:extLst>
                  </p:cNvPr>
                  <p:cNvGrpSpPr/>
                  <p:nvPr/>
                </p:nvGrpSpPr>
                <p:grpSpPr>
                  <a:xfrm>
                    <a:off x="4576370" y="5324751"/>
                    <a:ext cx="283155" cy="283154"/>
                    <a:chOff x="572541" y="5475121"/>
                    <a:chExt cx="663407" cy="663407"/>
                  </a:xfrm>
                </p:grpSpPr>
                <p:sp>
                  <p:nvSpPr>
                    <p:cNvPr id="163" name="Google Shape;6711;g2d30ebb658d_0_19789">
                      <a:extLst>
                        <a:ext uri="{FF2B5EF4-FFF2-40B4-BE49-F238E27FC236}">
                          <a16:creationId xmlns:a16="http://schemas.microsoft.com/office/drawing/2014/main" id="{743F06C4-23D6-304B-680C-1A3B4E603FA7}"/>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64" name="Google Shape;6712;g2d30ebb658d_0_19789">
                      <a:extLst>
                        <a:ext uri="{FF2B5EF4-FFF2-40B4-BE49-F238E27FC236}">
                          <a16:creationId xmlns:a16="http://schemas.microsoft.com/office/drawing/2014/main" id="{84322CC0-1B68-4DD5-93B8-5DFFE8CDF5F3}"/>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54" name="Google Shape;6713;g2d30ebb658d_0_19789">
                    <a:extLst>
                      <a:ext uri="{FF2B5EF4-FFF2-40B4-BE49-F238E27FC236}">
                        <a16:creationId xmlns:a16="http://schemas.microsoft.com/office/drawing/2014/main" id="{D4B876E7-9F7B-0F62-243B-ABE3CDED4354}"/>
                      </a:ext>
                    </a:extLst>
                  </p:cNvPr>
                  <p:cNvGrpSpPr/>
                  <p:nvPr/>
                </p:nvGrpSpPr>
                <p:grpSpPr>
                  <a:xfrm>
                    <a:off x="5144738" y="5324752"/>
                    <a:ext cx="283155" cy="283154"/>
                    <a:chOff x="9272259" y="5475121"/>
                    <a:chExt cx="663407" cy="663407"/>
                  </a:xfrm>
                </p:grpSpPr>
                <p:sp>
                  <p:nvSpPr>
                    <p:cNvPr id="161" name="Google Shape;6714;g2d30ebb658d_0_19789">
                      <a:extLst>
                        <a:ext uri="{FF2B5EF4-FFF2-40B4-BE49-F238E27FC236}">
                          <a16:creationId xmlns:a16="http://schemas.microsoft.com/office/drawing/2014/main" id="{1216A436-EBB3-FBAB-8717-1F186BEBE049}"/>
                        </a:ext>
                      </a:extLst>
                    </p:cNvPr>
                    <p:cNvSpPr>
                      <a:spLocks noChangeAspect="1"/>
                    </p:cNvSpPr>
                    <p:nvPr/>
                  </p:nvSpPr>
                  <p:spPr>
                    <a:xfrm>
                      <a:off x="9272259" y="5475121"/>
                      <a:ext cx="663407" cy="663407"/>
                    </a:xfrm>
                    <a:prstGeom prst="ellipse">
                      <a:avLst/>
                    </a:prstGeom>
                    <a:gradFill>
                      <a:gsLst>
                        <a:gs pos="0">
                          <a:schemeClr val="accent3"/>
                        </a:gs>
                        <a:gs pos="0">
                          <a:schemeClr val="accent2"/>
                        </a:gs>
                        <a:gs pos="100000">
                          <a:schemeClr val="accent2"/>
                        </a:gs>
                        <a:gs pos="99000">
                          <a:schemeClr val="accent3"/>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62" name="Google Shape;6715;g2d30ebb658d_0_19789">
                      <a:extLst>
                        <a:ext uri="{FF2B5EF4-FFF2-40B4-BE49-F238E27FC236}">
                          <a16:creationId xmlns:a16="http://schemas.microsoft.com/office/drawing/2014/main" id="{0E836C87-C7C0-5D1B-C6E4-321A362058D8}"/>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155" name="Google Shape;6704;g2d30ebb658d_0_19789">
                    <a:extLst>
                      <a:ext uri="{FF2B5EF4-FFF2-40B4-BE49-F238E27FC236}">
                        <a16:creationId xmlns:a16="http://schemas.microsoft.com/office/drawing/2014/main" id="{57D62825-72A9-B0B4-2500-415AE695EC26}"/>
                      </a:ext>
                    </a:extLst>
                  </p:cNvPr>
                  <p:cNvSpPr/>
                  <p:nvPr/>
                </p:nvSpPr>
                <p:spPr>
                  <a:xfrm>
                    <a:off x="4507602" y="4248598"/>
                    <a:ext cx="1597075" cy="198035"/>
                  </a:xfrm>
                  <a:prstGeom prst="roundRect">
                    <a:avLst>
                      <a:gd name="adj" fmla="val 50000"/>
                    </a:avLst>
                  </a:prstGeom>
                  <a:solidFill>
                    <a:schemeClr val="bg1"/>
                  </a:solidFill>
                  <a:ln w="25400">
                    <a:gradFill>
                      <a:gsLst>
                        <a:gs pos="0">
                          <a:schemeClr val="accent3"/>
                        </a:gs>
                        <a:gs pos="2000">
                          <a:schemeClr val="accent3"/>
                        </a:gs>
                        <a:gs pos="100000">
                          <a:schemeClr val="accent2"/>
                        </a:gs>
                        <a:gs pos="96000">
                          <a:schemeClr val="accent2"/>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Additional Workload Domains</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56" name="TextBox 155">
                    <a:extLst>
                      <a:ext uri="{FF2B5EF4-FFF2-40B4-BE49-F238E27FC236}">
                        <a16:creationId xmlns:a16="http://schemas.microsoft.com/office/drawing/2014/main" id="{CB184788-54D5-F366-C095-6FFD09EC225D}"/>
                      </a:ext>
                    </a:extLst>
                  </p:cNvPr>
                  <p:cNvSpPr txBox="1"/>
                  <p:nvPr/>
                </p:nvSpPr>
                <p:spPr>
                  <a:xfrm>
                    <a:off x="4924734" y="5197041"/>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57" name="Google Shape;6678;g2d30ebb658d_0_19789">
                    <a:extLst>
                      <a:ext uri="{FF2B5EF4-FFF2-40B4-BE49-F238E27FC236}">
                        <a16:creationId xmlns:a16="http://schemas.microsoft.com/office/drawing/2014/main" id="{BA43957B-E64B-203C-E194-05F145D30B5C}"/>
                      </a:ext>
                    </a:extLst>
                  </p:cNvPr>
                  <p:cNvSpPr/>
                  <p:nvPr/>
                </p:nvSpPr>
                <p:spPr>
                  <a:xfrm>
                    <a:off x="4735103" y="4725882"/>
                    <a:ext cx="1130643" cy="151298"/>
                  </a:xfrm>
                  <a:prstGeom prst="roundRect">
                    <a:avLst>
                      <a:gd name="adj" fmla="val 2356"/>
                    </a:avLst>
                  </a:prstGeom>
                  <a:gradFill>
                    <a:gsLst>
                      <a:gs pos="0">
                        <a:schemeClr val="accent2"/>
                      </a:gs>
                      <a:gs pos="99000">
                        <a:schemeClr val="accent3"/>
                      </a:gs>
                      <a:gs pos="100000">
                        <a:schemeClr val="accent3"/>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58" name="Google Shape;6678;g2d30ebb658d_0_19789">
                    <a:extLst>
                      <a:ext uri="{FF2B5EF4-FFF2-40B4-BE49-F238E27FC236}">
                        <a16:creationId xmlns:a16="http://schemas.microsoft.com/office/drawing/2014/main" id="{E80B7B0C-7F02-A7E4-45BD-F3D9C2A4FD76}"/>
                      </a:ext>
                    </a:extLst>
                  </p:cNvPr>
                  <p:cNvSpPr/>
                  <p:nvPr/>
                </p:nvSpPr>
                <p:spPr>
                  <a:xfrm>
                    <a:off x="4738816" y="4535240"/>
                    <a:ext cx="1130643" cy="151298"/>
                  </a:xfrm>
                  <a:prstGeom prst="roundRect">
                    <a:avLst>
                      <a:gd name="adj" fmla="val 2356"/>
                    </a:avLst>
                  </a:prstGeom>
                  <a:gradFill>
                    <a:gsLst>
                      <a:gs pos="0">
                        <a:schemeClr val="accent2"/>
                      </a:gs>
                      <a:gs pos="99000">
                        <a:schemeClr val="accent3"/>
                      </a:gs>
                      <a:gs pos="100000">
                        <a:schemeClr val="accent3"/>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vCenter</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59" name="Google Shape;6678;g2d30ebb658d_0_19789">
                    <a:extLst>
                      <a:ext uri="{FF2B5EF4-FFF2-40B4-BE49-F238E27FC236}">
                        <a16:creationId xmlns:a16="http://schemas.microsoft.com/office/drawing/2014/main" id="{C6E4DD65-688A-EF1F-8E2F-2DD37421BC01}"/>
                      </a:ext>
                    </a:extLst>
                  </p:cNvPr>
                  <p:cNvSpPr/>
                  <p:nvPr/>
                </p:nvSpPr>
                <p:spPr>
                  <a:xfrm>
                    <a:off x="4978293" y="4921845"/>
                    <a:ext cx="701104" cy="151298"/>
                  </a:xfrm>
                  <a:prstGeom prst="roundRect">
                    <a:avLst>
                      <a:gd name="adj" fmla="val 2356"/>
                    </a:avLst>
                  </a:prstGeom>
                  <a:solidFill>
                    <a:schemeClr val="bg1"/>
                  </a:solidFill>
                  <a:ln w="12700">
                    <a:solidFill>
                      <a:schemeClr val="accent3"/>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grpSp>
          </p:grpSp>
          <p:sp>
            <p:nvSpPr>
              <p:cNvPr id="171" name="Google Shape;6678;g2d30ebb658d_0_19789">
                <a:extLst>
                  <a:ext uri="{FF2B5EF4-FFF2-40B4-BE49-F238E27FC236}">
                    <a16:creationId xmlns:a16="http://schemas.microsoft.com/office/drawing/2014/main" id="{368B4976-8213-F710-F0C4-595C4EE69801}"/>
                  </a:ext>
                </a:extLst>
              </p:cNvPr>
              <p:cNvSpPr/>
              <p:nvPr/>
            </p:nvSpPr>
            <p:spPr>
              <a:xfrm>
                <a:off x="2447528" y="4966926"/>
                <a:ext cx="701104" cy="151298"/>
              </a:xfrm>
              <a:prstGeom prst="roundRect">
                <a:avLst>
                  <a:gd name="adj" fmla="val 2356"/>
                </a:avLst>
              </a:prstGeom>
              <a:solidFill>
                <a:schemeClr val="bg1"/>
              </a:solidFill>
              <a:ln w="12700">
                <a:solidFill>
                  <a:schemeClr val="accent3"/>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98C7"/>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98C7"/>
                  </a:solidFill>
                  <a:effectLst/>
                  <a:uLnTx/>
                  <a:uFillTx/>
                  <a:latin typeface="Arial"/>
                  <a:ea typeface="Arial"/>
                  <a:cs typeface="Arial"/>
                  <a:sym typeface="Arial"/>
                </a:endParaRPr>
              </a:p>
            </p:txBody>
          </p:sp>
        </p:grpSp>
        <p:sp>
          <p:nvSpPr>
            <p:cNvPr id="173" name="Google Shape;6678;g2d30ebb658d_0_19789">
              <a:extLst>
                <a:ext uri="{FF2B5EF4-FFF2-40B4-BE49-F238E27FC236}">
                  <a16:creationId xmlns:a16="http://schemas.microsoft.com/office/drawing/2014/main" id="{C4CF7AFB-4468-A60E-A21D-8F1A535EC765}"/>
                </a:ext>
              </a:extLst>
            </p:cNvPr>
            <p:cNvSpPr/>
            <p:nvPr/>
          </p:nvSpPr>
          <p:spPr>
            <a:xfrm>
              <a:off x="2463667" y="3309972"/>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grpSp>
        <p:nvGrpSpPr>
          <p:cNvPr id="20" name="Group 19">
            <a:extLst>
              <a:ext uri="{FF2B5EF4-FFF2-40B4-BE49-F238E27FC236}">
                <a16:creationId xmlns:a16="http://schemas.microsoft.com/office/drawing/2014/main" id="{FD32A1B7-7EC8-F275-D7CF-B6D5E0705C0C}"/>
              </a:ext>
            </a:extLst>
          </p:cNvPr>
          <p:cNvGrpSpPr/>
          <p:nvPr/>
        </p:nvGrpSpPr>
        <p:grpSpPr>
          <a:xfrm>
            <a:off x="5544694" y="1239653"/>
            <a:ext cx="2078703" cy="4835977"/>
            <a:chOff x="6736954" y="1387023"/>
            <a:chExt cx="2078703" cy="4835977"/>
          </a:xfrm>
        </p:grpSpPr>
        <p:grpSp>
          <p:nvGrpSpPr>
            <p:cNvPr id="15" name="Group 14">
              <a:extLst>
                <a:ext uri="{FF2B5EF4-FFF2-40B4-BE49-F238E27FC236}">
                  <a16:creationId xmlns:a16="http://schemas.microsoft.com/office/drawing/2014/main" id="{86F9849E-55C9-5ACE-9502-B71B5FE26888}"/>
                </a:ext>
              </a:extLst>
            </p:cNvPr>
            <p:cNvGrpSpPr/>
            <p:nvPr/>
          </p:nvGrpSpPr>
          <p:grpSpPr>
            <a:xfrm>
              <a:off x="6736954" y="1387023"/>
              <a:ext cx="2078703" cy="4835977"/>
              <a:chOff x="6736954" y="1387023"/>
              <a:chExt cx="2078703" cy="4835977"/>
            </a:xfrm>
          </p:grpSpPr>
          <p:grpSp>
            <p:nvGrpSpPr>
              <p:cNvPr id="169" name="Group 168">
                <a:extLst>
                  <a:ext uri="{FF2B5EF4-FFF2-40B4-BE49-F238E27FC236}">
                    <a16:creationId xmlns:a16="http://schemas.microsoft.com/office/drawing/2014/main" id="{E8B15927-106D-A389-D649-EDEFEFBB46FD}"/>
                  </a:ext>
                </a:extLst>
              </p:cNvPr>
              <p:cNvGrpSpPr/>
              <p:nvPr/>
            </p:nvGrpSpPr>
            <p:grpSpPr>
              <a:xfrm>
                <a:off x="6736954" y="1387023"/>
                <a:ext cx="2078703" cy="4835977"/>
                <a:chOff x="6736954" y="1387023"/>
                <a:chExt cx="2078703" cy="4835977"/>
              </a:xfrm>
            </p:grpSpPr>
            <p:sp>
              <p:nvSpPr>
                <p:cNvPr id="70" name="Google Shape;6678;g2d30ebb658d_0_19789">
                  <a:extLst>
                    <a:ext uri="{FF2B5EF4-FFF2-40B4-BE49-F238E27FC236}">
                      <a16:creationId xmlns:a16="http://schemas.microsoft.com/office/drawing/2014/main" id="{5B40CC5E-4983-C601-0E31-7D673129F134}"/>
                    </a:ext>
                  </a:extLst>
                </p:cNvPr>
                <p:cNvSpPr/>
                <p:nvPr/>
              </p:nvSpPr>
              <p:spPr>
                <a:xfrm>
                  <a:off x="6736954" y="1387023"/>
                  <a:ext cx="2078703" cy="4835977"/>
                </a:xfrm>
                <a:prstGeom prst="roundRect">
                  <a:avLst>
                    <a:gd name="adj" fmla="val 2356"/>
                  </a:avLst>
                </a:prstGeom>
                <a:solidFill>
                  <a:schemeClr val="accent1">
                    <a:alpha val="9746"/>
                  </a:schemeClr>
                </a:solidFill>
                <a:ln w="9525">
                  <a:solidFill>
                    <a:schemeClr val="accent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1" name="Google Shape;6705;g2d30ebb658d_0_19789">
                  <a:extLst>
                    <a:ext uri="{FF2B5EF4-FFF2-40B4-BE49-F238E27FC236}">
                      <a16:creationId xmlns:a16="http://schemas.microsoft.com/office/drawing/2014/main" id="{BEC9F77C-5586-FE0B-11C2-723032C01917}"/>
                    </a:ext>
                  </a:extLst>
                </p:cNvPr>
                <p:cNvSpPr/>
                <p:nvPr/>
              </p:nvSpPr>
              <p:spPr>
                <a:xfrm>
                  <a:off x="6934697" y="1844681"/>
                  <a:ext cx="1662975" cy="151614"/>
                </a:xfrm>
                <a:prstGeom prst="roundRect">
                  <a:avLst>
                    <a:gd name="adj" fmla="val 6349"/>
                  </a:avLst>
                </a:prstGeom>
                <a:gradFill>
                  <a:gsLst>
                    <a:gs pos="0">
                      <a:schemeClr val="accent2"/>
                    </a:gs>
                    <a:gs pos="99000">
                      <a:schemeClr val="accent1"/>
                    </a:gs>
                    <a:gs pos="100000">
                      <a:schemeClr val="accent1"/>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72" name="Google Shape;6705;g2d30ebb658d_0_19789">
                  <a:extLst>
                    <a:ext uri="{FF2B5EF4-FFF2-40B4-BE49-F238E27FC236}">
                      <a16:creationId xmlns:a16="http://schemas.microsoft.com/office/drawing/2014/main" id="{A1C718E2-4D9F-C5E8-1821-225F3BFAF361}"/>
                    </a:ext>
                  </a:extLst>
                </p:cNvPr>
                <p:cNvSpPr/>
                <p:nvPr/>
              </p:nvSpPr>
              <p:spPr>
                <a:xfrm>
                  <a:off x="6936628" y="1649913"/>
                  <a:ext cx="1661044" cy="144193"/>
                </a:xfrm>
                <a:prstGeom prst="roundRect">
                  <a:avLst>
                    <a:gd name="adj" fmla="val 6349"/>
                  </a:avLst>
                </a:prstGeom>
                <a:gradFill>
                  <a:gsLst>
                    <a:gs pos="0">
                      <a:schemeClr val="accent2"/>
                    </a:gs>
                    <a:gs pos="99000">
                      <a:schemeClr val="accent1"/>
                    </a:gs>
                    <a:gs pos="100000">
                      <a:schemeClr val="accent1"/>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73" name="TextBox 72">
                  <a:extLst>
                    <a:ext uri="{FF2B5EF4-FFF2-40B4-BE49-F238E27FC236}">
                      <a16:creationId xmlns:a16="http://schemas.microsoft.com/office/drawing/2014/main" id="{7E65EABA-AA25-E687-C796-BD1D78731DF7}"/>
                    </a:ext>
                  </a:extLst>
                </p:cNvPr>
                <p:cNvSpPr txBox="1"/>
                <p:nvPr/>
              </p:nvSpPr>
              <p:spPr>
                <a:xfrm>
                  <a:off x="7481185" y="1427772"/>
                  <a:ext cx="575479"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Fleet</a:t>
                  </a:r>
                </a:p>
              </p:txBody>
            </p:sp>
            <p:sp>
              <p:nvSpPr>
                <p:cNvPr id="76" name="Google Shape;6678;g2d30ebb658d_0_19789">
                  <a:extLst>
                    <a:ext uri="{FF2B5EF4-FFF2-40B4-BE49-F238E27FC236}">
                      <a16:creationId xmlns:a16="http://schemas.microsoft.com/office/drawing/2014/main" id="{D13C3B15-FB70-F7A0-E6EF-7763CA5E2A04}"/>
                    </a:ext>
                  </a:extLst>
                </p:cNvPr>
                <p:cNvSpPr/>
                <p:nvPr/>
              </p:nvSpPr>
              <p:spPr>
                <a:xfrm>
                  <a:off x="6815912" y="5848404"/>
                  <a:ext cx="1909145"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77" name="Group 76">
                  <a:extLst>
                    <a:ext uri="{FF2B5EF4-FFF2-40B4-BE49-F238E27FC236}">
                      <a16:creationId xmlns:a16="http://schemas.microsoft.com/office/drawing/2014/main" id="{02F22A55-0F23-FDD3-536F-D25CD72B926D}"/>
                    </a:ext>
                  </a:extLst>
                </p:cNvPr>
                <p:cNvGrpSpPr/>
                <p:nvPr/>
              </p:nvGrpSpPr>
              <p:grpSpPr>
                <a:xfrm>
                  <a:off x="6818056" y="2081242"/>
                  <a:ext cx="1909145" cy="3700692"/>
                  <a:chOff x="4353920" y="2081242"/>
                  <a:chExt cx="1909145" cy="3700692"/>
                </a:xfrm>
              </p:grpSpPr>
              <p:sp>
                <p:nvSpPr>
                  <p:cNvPr id="78" name="Google Shape;6678;g2d30ebb658d_0_19789">
                    <a:extLst>
                      <a:ext uri="{FF2B5EF4-FFF2-40B4-BE49-F238E27FC236}">
                        <a16:creationId xmlns:a16="http://schemas.microsoft.com/office/drawing/2014/main" id="{3B523E2A-4F1F-BC02-F62E-B4D391F5FA56}"/>
                      </a:ext>
                    </a:extLst>
                  </p:cNvPr>
                  <p:cNvSpPr/>
                  <p:nvPr/>
                </p:nvSpPr>
                <p:spPr>
                  <a:xfrm>
                    <a:off x="4353920" y="2081242"/>
                    <a:ext cx="1909145" cy="3700692"/>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9" name="Google Shape;6678;g2d30ebb658d_0_19789">
                    <a:extLst>
                      <a:ext uri="{FF2B5EF4-FFF2-40B4-BE49-F238E27FC236}">
                        <a16:creationId xmlns:a16="http://schemas.microsoft.com/office/drawing/2014/main" id="{2CA52A52-1B22-F0AD-8063-157AC55EBDD9}"/>
                      </a:ext>
                    </a:extLst>
                  </p:cNvPr>
                  <p:cNvSpPr/>
                  <p:nvPr/>
                </p:nvSpPr>
                <p:spPr>
                  <a:xfrm>
                    <a:off x="4421988" y="2352787"/>
                    <a:ext cx="1769718" cy="173710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80" name="Google Shape;6705;g2d30ebb658d_0_19789">
                    <a:extLst>
                      <a:ext uri="{FF2B5EF4-FFF2-40B4-BE49-F238E27FC236}">
                        <a16:creationId xmlns:a16="http://schemas.microsoft.com/office/drawing/2014/main" id="{0D5A46E9-004E-F8BF-19CE-E21F8C78B83C}"/>
                      </a:ext>
                    </a:extLst>
                  </p:cNvPr>
                  <p:cNvSpPr/>
                  <p:nvPr/>
                </p:nvSpPr>
                <p:spPr>
                  <a:xfrm>
                    <a:off x="4472491" y="3528763"/>
                    <a:ext cx="1661045" cy="491167"/>
                  </a:xfrm>
                  <a:prstGeom prst="roundRect">
                    <a:avLst>
                      <a:gd name="adj" fmla="val 6349"/>
                    </a:avLst>
                  </a:prstGeom>
                  <a:noFill/>
                  <a:ln w="25400">
                    <a:gradFill>
                      <a:gsLst>
                        <a:gs pos="0">
                          <a:schemeClr val="accent2"/>
                        </a:gs>
                        <a:gs pos="0">
                          <a:schemeClr val="accent2"/>
                        </a:gs>
                        <a:gs pos="100000">
                          <a:schemeClr val="accent1"/>
                        </a:gs>
                        <a:gs pos="100000">
                          <a:schemeClr val="accent1">
                            <a:lumMod val="30000"/>
                            <a:lumOff val="70000"/>
                          </a:schemeClr>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81" name="Google Shape;6707;g2d30ebb658d_0_19789">
                    <a:extLst>
                      <a:ext uri="{FF2B5EF4-FFF2-40B4-BE49-F238E27FC236}">
                        <a16:creationId xmlns:a16="http://schemas.microsoft.com/office/drawing/2014/main" id="{1B29AD32-FBC8-2365-1852-2B30D07F7CA2}"/>
                      </a:ext>
                    </a:extLst>
                  </p:cNvPr>
                  <p:cNvGrpSpPr/>
                  <p:nvPr/>
                </p:nvGrpSpPr>
                <p:grpSpPr>
                  <a:xfrm>
                    <a:off x="5721290" y="3680282"/>
                    <a:ext cx="283155" cy="283154"/>
                    <a:chOff x="10722212" y="2729558"/>
                    <a:chExt cx="663407" cy="663407"/>
                  </a:xfrm>
                </p:grpSpPr>
                <p:sp>
                  <p:nvSpPr>
                    <p:cNvPr id="97" name="Google Shape;6708;g2d30ebb658d_0_19789">
                      <a:extLst>
                        <a:ext uri="{FF2B5EF4-FFF2-40B4-BE49-F238E27FC236}">
                          <a16:creationId xmlns:a16="http://schemas.microsoft.com/office/drawing/2014/main" id="{CCB43C7B-4FB1-E889-CA7F-03B3183A9049}"/>
                        </a:ext>
                      </a:extLst>
                    </p:cNvPr>
                    <p:cNvSpPr>
                      <a:spLocks noChangeAspect="1"/>
                    </p:cNvSpPr>
                    <p:nvPr/>
                  </p:nvSpPr>
                  <p:spPr>
                    <a:xfrm>
                      <a:off x="10722212" y="2729558"/>
                      <a:ext cx="663407" cy="663407"/>
                    </a:xfrm>
                    <a:prstGeom prst="ellipse">
                      <a:avLst/>
                    </a:prstGeom>
                    <a:solidFill>
                      <a:schemeClr val="accent1"/>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98" name="Google Shape;6709;g2d30ebb658d_0_19789">
                      <a:extLst>
                        <a:ext uri="{FF2B5EF4-FFF2-40B4-BE49-F238E27FC236}">
                          <a16:creationId xmlns:a16="http://schemas.microsoft.com/office/drawing/2014/main" id="{6582DED3-D8A6-3A5A-D258-B592A3F87796}"/>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82" name="Google Shape;6710;g2d30ebb658d_0_19789">
                    <a:extLst>
                      <a:ext uri="{FF2B5EF4-FFF2-40B4-BE49-F238E27FC236}">
                        <a16:creationId xmlns:a16="http://schemas.microsoft.com/office/drawing/2014/main" id="{01D9E5FA-5403-9028-93D9-CF8EF840A5C3}"/>
                      </a:ext>
                    </a:extLst>
                  </p:cNvPr>
                  <p:cNvGrpSpPr/>
                  <p:nvPr/>
                </p:nvGrpSpPr>
                <p:grpSpPr>
                  <a:xfrm>
                    <a:off x="4576370" y="3680163"/>
                    <a:ext cx="283155" cy="283154"/>
                    <a:chOff x="572541" y="5475121"/>
                    <a:chExt cx="663407" cy="663407"/>
                  </a:xfrm>
                </p:grpSpPr>
                <p:sp>
                  <p:nvSpPr>
                    <p:cNvPr id="95" name="Google Shape;6711;g2d30ebb658d_0_19789">
                      <a:extLst>
                        <a:ext uri="{FF2B5EF4-FFF2-40B4-BE49-F238E27FC236}">
                          <a16:creationId xmlns:a16="http://schemas.microsoft.com/office/drawing/2014/main" id="{2763DC11-2FA4-12FD-B89B-AFA2B78036C5}"/>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96" name="Google Shape;6712;g2d30ebb658d_0_19789">
                      <a:extLst>
                        <a:ext uri="{FF2B5EF4-FFF2-40B4-BE49-F238E27FC236}">
                          <a16:creationId xmlns:a16="http://schemas.microsoft.com/office/drawing/2014/main" id="{AE034C8C-D257-98F4-F928-2A673D989166}"/>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83" name="Google Shape;6713;g2d30ebb658d_0_19789">
                    <a:extLst>
                      <a:ext uri="{FF2B5EF4-FFF2-40B4-BE49-F238E27FC236}">
                        <a16:creationId xmlns:a16="http://schemas.microsoft.com/office/drawing/2014/main" id="{77379FAD-AB49-C377-996F-5E566916594C}"/>
                      </a:ext>
                    </a:extLst>
                  </p:cNvPr>
                  <p:cNvGrpSpPr/>
                  <p:nvPr/>
                </p:nvGrpSpPr>
                <p:grpSpPr>
                  <a:xfrm>
                    <a:off x="5144738" y="3680164"/>
                    <a:ext cx="283155" cy="283154"/>
                    <a:chOff x="9272259" y="5475121"/>
                    <a:chExt cx="663407" cy="663407"/>
                  </a:xfrm>
                </p:grpSpPr>
                <p:sp>
                  <p:nvSpPr>
                    <p:cNvPr id="93" name="Google Shape;6714;g2d30ebb658d_0_19789">
                      <a:extLst>
                        <a:ext uri="{FF2B5EF4-FFF2-40B4-BE49-F238E27FC236}">
                          <a16:creationId xmlns:a16="http://schemas.microsoft.com/office/drawing/2014/main" id="{5BF8FB6A-89C6-39C3-9C7D-5323EB8BA037}"/>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1"/>
                        </a:gs>
                        <a:gs pos="95000">
                          <a:schemeClr val="accent1"/>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94" name="Google Shape;6715;g2d30ebb658d_0_19789">
                      <a:extLst>
                        <a:ext uri="{FF2B5EF4-FFF2-40B4-BE49-F238E27FC236}">
                          <a16:creationId xmlns:a16="http://schemas.microsoft.com/office/drawing/2014/main" id="{ED93F7FF-CB55-AB65-5866-50DE86A2E512}"/>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84" name="Google Shape;6704;g2d30ebb658d_0_19789">
                    <a:extLst>
                      <a:ext uri="{FF2B5EF4-FFF2-40B4-BE49-F238E27FC236}">
                        <a16:creationId xmlns:a16="http://schemas.microsoft.com/office/drawing/2014/main" id="{8C325503-013A-5470-0066-FF0C770C3D01}"/>
                      </a:ext>
                    </a:extLst>
                  </p:cNvPr>
                  <p:cNvSpPr/>
                  <p:nvPr/>
                </p:nvSpPr>
                <p:spPr>
                  <a:xfrm>
                    <a:off x="4507602" y="2413513"/>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1"/>
                        </a:gs>
                        <a:gs pos="100000">
                          <a:schemeClr val="accent1"/>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Management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5" name="TextBox 84">
                    <a:extLst>
                      <a:ext uri="{FF2B5EF4-FFF2-40B4-BE49-F238E27FC236}">
                        <a16:creationId xmlns:a16="http://schemas.microsoft.com/office/drawing/2014/main" id="{E4848FBB-980E-0919-F76F-5E63575DC978}"/>
                      </a:ext>
                    </a:extLst>
                  </p:cNvPr>
                  <p:cNvSpPr txBox="1"/>
                  <p:nvPr/>
                </p:nvSpPr>
                <p:spPr>
                  <a:xfrm>
                    <a:off x="4924734" y="3552453"/>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86" name="Google Shape;6705;g2d30ebb658d_0_19789">
                    <a:extLst>
                      <a:ext uri="{FF2B5EF4-FFF2-40B4-BE49-F238E27FC236}">
                        <a16:creationId xmlns:a16="http://schemas.microsoft.com/office/drawing/2014/main" id="{4BEA1847-5185-AB1B-51EB-CBED65BB0644}"/>
                      </a:ext>
                    </a:extLst>
                  </p:cNvPr>
                  <p:cNvSpPr/>
                  <p:nvPr/>
                </p:nvSpPr>
                <p:spPr>
                  <a:xfrm>
                    <a:off x="4738816" y="2666396"/>
                    <a:ext cx="1130643" cy="151614"/>
                  </a:xfrm>
                  <a:prstGeom prst="roundRect">
                    <a:avLst>
                      <a:gd name="adj" fmla="val 6349"/>
                    </a:avLst>
                  </a:prstGeom>
                  <a:gradFill>
                    <a:gsLst>
                      <a:gs pos="0">
                        <a:schemeClr val="accent2"/>
                      </a:gs>
                      <a:gs pos="99000">
                        <a:schemeClr val="accent1"/>
                      </a:gs>
                      <a:gs pos="100000">
                        <a:schemeClr val="accent1"/>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87" name="Google Shape;6678;g2d30ebb658d_0_19789">
                    <a:extLst>
                      <a:ext uri="{FF2B5EF4-FFF2-40B4-BE49-F238E27FC236}">
                        <a16:creationId xmlns:a16="http://schemas.microsoft.com/office/drawing/2014/main" id="{882C9A6A-2941-F0F4-F328-D4EB42E6F760}"/>
                      </a:ext>
                    </a:extLst>
                  </p:cNvPr>
                  <p:cNvSpPr/>
                  <p:nvPr/>
                </p:nvSpPr>
                <p:spPr>
                  <a:xfrm>
                    <a:off x="4989674" y="3264891"/>
                    <a:ext cx="701104" cy="151298"/>
                  </a:xfrm>
                  <a:prstGeom prst="roundRect">
                    <a:avLst>
                      <a:gd name="adj" fmla="val 2356"/>
                    </a:avLst>
                  </a:prstGeom>
                  <a:solidFill>
                    <a:schemeClr val="bg1"/>
                  </a:solidFill>
                  <a:ln w="12700">
                    <a:solidFill>
                      <a:schemeClr val="accent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007B8C"/>
                      </a:solidFill>
                      <a:effectLst/>
                      <a:uLnTx/>
                      <a:uFillTx/>
                      <a:latin typeface="Arial"/>
                      <a:ea typeface="Arial"/>
                      <a:cs typeface="Arial"/>
                      <a:sym typeface="Arial"/>
                    </a:endParaRPr>
                  </a:p>
                </p:txBody>
              </p:sp>
              <p:sp>
                <p:nvSpPr>
                  <p:cNvPr id="88" name="Google Shape;6678;g2d30ebb658d_0_19789">
                    <a:extLst>
                      <a:ext uri="{FF2B5EF4-FFF2-40B4-BE49-F238E27FC236}">
                        <a16:creationId xmlns:a16="http://schemas.microsoft.com/office/drawing/2014/main" id="{99672C8F-CDC3-C80F-E1CE-162896B5BF6C}"/>
                      </a:ext>
                    </a:extLst>
                  </p:cNvPr>
                  <p:cNvSpPr/>
                  <p:nvPr/>
                </p:nvSpPr>
                <p:spPr>
                  <a:xfrm>
                    <a:off x="4738816" y="2868207"/>
                    <a:ext cx="1130643" cy="151298"/>
                  </a:xfrm>
                  <a:prstGeom prst="roundRect">
                    <a:avLst>
                      <a:gd name="adj" fmla="val 2356"/>
                    </a:avLst>
                  </a:prstGeom>
                  <a:gradFill>
                    <a:gsLst>
                      <a:gs pos="0">
                        <a:schemeClr val="accent2"/>
                      </a:gs>
                      <a:gs pos="99000">
                        <a:schemeClr val="accent1"/>
                      </a:gs>
                      <a:gs pos="100000">
                        <a:schemeClr val="accent1"/>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89" name="TextBox 88">
                    <a:extLst>
                      <a:ext uri="{FF2B5EF4-FFF2-40B4-BE49-F238E27FC236}">
                        <a16:creationId xmlns:a16="http://schemas.microsoft.com/office/drawing/2014/main" id="{14F51078-1E8B-252F-E5FA-87536805979C}"/>
                      </a:ext>
                    </a:extLst>
                  </p:cNvPr>
                  <p:cNvSpPr txBox="1"/>
                  <p:nvPr/>
                </p:nvSpPr>
                <p:spPr>
                  <a:xfrm>
                    <a:off x="5032205" y="2152074"/>
                    <a:ext cx="772647"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Instance</a:t>
                    </a:r>
                  </a:p>
                </p:txBody>
              </p:sp>
              <p:sp>
                <p:nvSpPr>
                  <p:cNvPr id="90" name="Google Shape;6705;g2d30ebb658d_0_19789">
                    <a:extLst>
                      <a:ext uri="{FF2B5EF4-FFF2-40B4-BE49-F238E27FC236}">
                        <a16:creationId xmlns:a16="http://schemas.microsoft.com/office/drawing/2014/main" id="{3CDD6E36-2182-D782-358F-D85A8F592C29}"/>
                      </a:ext>
                    </a:extLst>
                  </p:cNvPr>
                  <p:cNvSpPr/>
                  <p:nvPr/>
                </p:nvSpPr>
                <p:spPr>
                  <a:xfrm>
                    <a:off x="4738816" y="3064305"/>
                    <a:ext cx="1130643" cy="151614"/>
                  </a:xfrm>
                  <a:prstGeom prst="roundRect">
                    <a:avLst>
                      <a:gd name="adj" fmla="val 6349"/>
                    </a:avLst>
                  </a:prstGeom>
                  <a:gradFill>
                    <a:gsLst>
                      <a:gs pos="0">
                        <a:schemeClr val="accent2"/>
                      </a:gs>
                      <a:gs pos="99000">
                        <a:schemeClr val="accent1"/>
                      </a:gs>
                      <a:gs pos="100000">
                        <a:schemeClr val="accent1"/>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SDDC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pic>
                <p:nvPicPr>
                  <p:cNvPr id="92" name="Google Shape;6699;p92">
                    <a:extLst>
                      <a:ext uri="{FF2B5EF4-FFF2-40B4-BE49-F238E27FC236}">
                        <a16:creationId xmlns:a16="http://schemas.microsoft.com/office/drawing/2014/main" id="{A3CC6D17-63A6-8E06-E52D-F512E557CEE7}"/>
                      </a:ext>
                    </a:extLst>
                  </p:cNvPr>
                  <p:cNvPicPr preferRelativeResize="0">
                    <a:picLocks noChangeAspect="1"/>
                  </p:cNvPicPr>
                  <p:nvPr/>
                </p:nvPicPr>
                <p:blipFill rotWithShape="1">
                  <a:blip r:embed="rId3">
                    <a:alphaModFix/>
                  </a:blip>
                  <a:srcRect/>
                  <a:stretch/>
                </p:blipFill>
                <p:spPr>
                  <a:xfrm>
                    <a:off x="4754661" y="2109728"/>
                    <a:ext cx="220483" cy="220483"/>
                  </a:xfrm>
                  <a:prstGeom prst="rect">
                    <a:avLst/>
                  </a:prstGeom>
                  <a:noFill/>
                  <a:ln>
                    <a:noFill/>
                  </a:ln>
                </p:spPr>
              </p:pic>
            </p:grpSp>
            <p:sp>
              <p:nvSpPr>
                <p:cNvPr id="99" name="TextBox 98">
                  <a:extLst>
                    <a:ext uri="{FF2B5EF4-FFF2-40B4-BE49-F238E27FC236}">
                      <a16:creationId xmlns:a16="http://schemas.microsoft.com/office/drawing/2014/main" id="{40EDD8FF-C059-1429-4ED0-6837A5F3534A}"/>
                    </a:ext>
                  </a:extLst>
                </p:cNvPr>
                <p:cNvSpPr txBox="1"/>
                <p:nvPr/>
              </p:nvSpPr>
              <p:spPr>
                <a:xfrm>
                  <a:off x="7198706" y="5908305"/>
                  <a:ext cx="1431482"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Additional VCF Instances</a:t>
                  </a:r>
                </a:p>
              </p:txBody>
            </p:sp>
            <p:pic>
              <p:nvPicPr>
                <p:cNvPr id="100" name="Google Shape;6699;p92">
                  <a:extLst>
                    <a:ext uri="{FF2B5EF4-FFF2-40B4-BE49-F238E27FC236}">
                      <a16:creationId xmlns:a16="http://schemas.microsoft.com/office/drawing/2014/main" id="{7C40815C-A673-65CA-F9D2-19B3CC22C9DA}"/>
                    </a:ext>
                  </a:extLst>
                </p:cNvPr>
                <p:cNvPicPr preferRelativeResize="0">
                  <a:picLocks noChangeAspect="1"/>
                </p:cNvPicPr>
                <p:nvPr/>
              </p:nvPicPr>
              <p:blipFill rotWithShape="1">
                <a:blip r:embed="rId3">
                  <a:alphaModFix/>
                </a:blip>
                <a:srcRect/>
                <a:stretch/>
              </p:blipFill>
              <p:spPr>
                <a:xfrm>
                  <a:off x="6921162" y="5894009"/>
                  <a:ext cx="220483" cy="220483"/>
                </a:xfrm>
                <a:prstGeom prst="rect">
                  <a:avLst/>
                </a:prstGeom>
                <a:noFill/>
                <a:ln>
                  <a:noFill/>
                </a:ln>
              </p:spPr>
            </p:pic>
            <p:grpSp>
              <p:nvGrpSpPr>
                <p:cNvPr id="101" name="Group 100">
                  <a:extLst>
                    <a:ext uri="{FF2B5EF4-FFF2-40B4-BE49-F238E27FC236}">
                      <a16:creationId xmlns:a16="http://schemas.microsoft.com/office/drawing/2014/main" id="{6C151793-07FB-B812-1CF5-0A814A6BD97B}"/>
                    </a:ext>
                  </a:extLst>
                </p:cNvPr>
                <p:cNvGrpSpPr/>
                <p:nvPr/>
              </p:nvGrpSpPr>
              <p:grpSpPr>
                <a:xfrm>
                  <a:off x="6881366" y="4189923"/>
                  <a:ext cx="1769718" cy="1537778"/>
                  <a:chOff x="4421988" y="4189923"/>
                  <a:chExt cx="1769718" cy="1537778"/>
                </a:xfrm>
              </p:grpSpPr>
              <p:sp>
                <p:nvSpPr>
                  <p:cNvPr id="102" name="Google Shape;6678;g2d30ebb658d_0_19789">
                    <a:extLst>
                      <a:ext uri="{FF2B5EF4-FFF2-40B4-BE49-F238E27FC236}">
                        <a16:creationId xmlns:a16="http://schemas.microsoft.com/office/drawing/2014/main" id="{279A0C4D-194D-62CE-5AAB-6DB2507A3D0D}"/>
                      </a:ext>
                    </a:extLst>
                  </p:cNvPr>
                  <p:cNvSpPr/>
                  <p:nvPr/>
                </p:nvSpPr>
                <p:spPr>
                  <a:xfrm>
                    <a:off x="4421988" y="4189923"/>
                    <a:ext cx="1769718" cy="1537778"/>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03" name="Google Shape;6705;g2d30ebb658d_0_19789">
                    <a:extLst>
                      <a:ext uri="{FF2B5EF4-FFF2-40B4-BE49-F238E27FC236}">
                        <a16:creationId xmlns:a16="http://schemas.microsoft.com/office/drawing/2014/main" id="{D4C7FDA5-5422-3857-B877-E324C20790AC}"/>
                      </a:ext>
                    </a:extLst>
                  </p:cNvPr>
                  <p:cNvSpPr/>
                  <p:nvPr/>
                </p:nvSpPr>
                <p:spPr>
                  <a:xfrm>
                    <a:off x="4472491" y="5173351"/>
                    <a:ext cx="1661045" cy="491167"/>
                  </a:xfrm>
                  <a:prstGeom prst="roundRect">
                    <a:avLst>
                      <a:gd name="adj" fmla="val 6349"/>
                    </a:avLst>
                  </a:prstGeom>
                  <a:noFill/>
                  <a:ln w="25400">
                    <a:gradFill>
                      <a:gsLst>
                        <a:gs pos="0">
                          <a:schemeClr val="accent2"/>
                        </a:gs>
                        <a:gs pos="0">
                          <a:schemeClr val="accent2"/>
                        </a:gs>
                        <a:gs pos="100000">
                          <a:schemeClr val="accent1"/>
                        </a:gs>
                        <a:gs pos="100000">
                          <a:schemeClr val="accent1">
                            <a:lumMod val="30000"/>
                            <a:lumOff val="70000"/>
                          </a:schemeClr>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04" name="Google Shape;6707;g2d30ebb658d_0_19789">
                    <a:extLst>
                      <a:ext uri="{FF2B5EF4-FFF2-40B4-BE49-F238E27FC236}">
                        <a16:creationId xmlns:a16="http://schemas.microsoft.com/office/drawing/2014/main" id="{6B0B36CB-780F-B85D-C0A9-C20E5A0A100B}"/>
                      </a:ext>
                    </a:extLst>
                  </p:cNvPr>
                  <p:cNvGrpSpPr/>
                  <p:nvPr/>
                </p:nvGrpSpPr>
                <p:grpSpPr>
                  <a:xfrm>
                    <a:off x="5721290" y="5324870"/>
                    <a:ext cx="283155" cy="283154"/>
                    <a:chOff x="10722212" y="2729558"/>
                    <a:chExt cx="663407" cy="663407"/>
                  </a:xfrm>
                </p:grpSpPr>
                <p:sp>
                  <p:nvSpPr>
                    <p:cNvPr id="117" name="Google Shape;6708;g2d30ebb658d_0_19789">
                      <a:extLst>
                        <a:ext uri="{FF2B5EF4-FFF2-40B4-BE49-F238E27FC236}">
                          <a16:creationId xmlns:a16="http://schemas.microsoft.com/office/drawing/2014/main" id="{4522B2BE-6F10-6903-D85F-4CCB57BA3310}"/>
                        </a:ext>
                      </a:extLst>
                    </p:cNvPr>
                    <p:cNvSpPr>
                      <a:spLocks noChangeAspect="1"/>
                    </p:cNvSpPr>
                    <p:nvPr/>
                  </p:nvSpPr>
                  <p:spPr>
                    <a:xfrm>
                      <a:off x="10722212" y="2729558"/>
                      <a:ext cx="663407" cy="663407"/>
                    </a:xfrm>
                    <a:prstGeom prst="ellipse">
                      <a:avLst/>
                    </a:prstGeom>
                    <a:solidFill>
                      <a:schemeClr val="accent1"/>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18" name="Google Shape;6709;g2d30ebb658d_0_19789">
                      <a:extLst>
                        <a:ext uri="{FF2B5EF4-FFF2-40B4-BE49-F238E27FC236}">
                          <a16:creationId xmlns:a16="http://schemas.microsoft.com/office/drawing/2014/main" id="{31B2C12A-3C90-F40F-0558-2A053D55BBF9}"/>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05" name="Google Shape;6710;g2d30ebb658d_0_19789">
                    <a:extLst>
                      <a:ext uri="{FF2B5EF4-FFF2-40B4-BE49-F238E27FC236}">
                        <a16:creationId xmlns:a16="http://schemas.microsoft.com/office/drawing/2014/main" id="{CDBC1376-0BB3-5583-0AC1-DE5EC8DBB828}"/>
                      </a:ext>
                    </a:extLst>
                  </p:cNvPr>
                  <p:cNvGrpSpPr/>
                  <p:nvPr/>
                </p:nvGrpSpPr>
                <p:grpSpPr>
                  <a:xfrm>
                    <a:off x="4576370" y="5324751"/>
                    <a:ext cx="283155" cy="283154"/>
                    <a:chOff x="572541" y="5475121"/>
                    <a:chExt cx="663407" cy="663407"/>
                  </a:xfrm>
                </p:grpSpPr>
                <p:sp>
                  <p:nvSpPr>
                    <p:cNvPr id="115" name="Google Shape;6711;g2d30ebb658d_0_19789">
                      <a:extLst>
                        <a:ext uri="{FF2B5EF4-FFF2-40B4-BE49-F238E27FC236}">
                          <a16:creationId xmlns:a16="http://schemas.microsoft.com/office/drawing/2014/main" id="{08E61F22-603E-61FD-04CB-8C204C9CABFA}"/>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16" name="Google Shape;6712;g2d30ebb658d_0_19789">
                      <a:extLst>
                        <a:ext uri="{FF2B5EF4-FFF2-40B4-BE49-F238E27FC236}">
                          <a16:creationId xmlns:a16="http://schemas.microsoft.com/office/drawing/2014/main" id="{2B0F9C20-4A24-534F-5CB0-E5E95A270088}"/>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06" name="Google Shape;6713;g2d30ebb658d_0_19789">
                    <a:extLst>
                      <a:ext uri="{FF2B5EF4-FFF2-40B4-BE49-F238E27FC236}">
                        <a16:creationId xmlns:a16="http://schemas.microsoft.com/office/drawing/2014/main" id="{CC42CF3D-C460-D414-A494-A3C6458F19BB}"/>
                      </a:ext>
                    </a:extLst>
                  </p:cNvPr>
                  <p:cNvGrpSpPr/>
                  <p:nvPr/>
                </p:nvGrpSpPr>
                <p:grpSpPr>
                  <a:xfrm>
                    <a:off x="5144738" y="5324752"/>
                    <a:ext cx="283155" cy="283154"/>
                    <a:chOff x="9272259" y="5475121"/>
                    <a:chExt cx="663407" cy="663407"/>
                  </a:xfrm>
                </p:grpSpPr>
                <p:sp>
                  <p:nvSpPr>
                    <p:cNvPr id="113" name="Google Shape;6714;g2d30ebb658d_0_19789">
                      <a:extLst>
                        <a:ext uri="{FF2B5EF4-FFF2-40B4-BE49-F238E27FC236}">
                          <a16:creationId xmlns:a16="http://schemas.microsoft.com/office/drawing/2014/main" id="{D225208F-CBD6-DE26-F925-219A6B41B571}"/>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1"/>
                        </a:gs>
                        <a:gs pos="95000">
                          <a:schemeClr val="accent1"/>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14" name="Google Shape;6715;g2d30ebb658d_0_19789">
                      <a:extLst>
                        <a:ext uri="{FF2B5EF4-FFF2-40B4-BE49-F238E27FC236}">
                          <a16:creationId xmlns:a16="http://schemas.microsoft.com/office/drawing/2014/main" id="{971E4CCF-37B7-8333-C677-C6EB43FE7D5B}"/>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107" name="Google Shape;6704;g2d30ebb658d_0_19789">
                    <a:extLst>
                      <a:ext uri="{FF2B5EF4-FFF2-40B4-BE49-F238E27FC236}">
                        <a16:creationId xmlns:a16="http://schemas.microsoft.com/office/drawing/2014/main" id="{960D4A6D-F8A0-4F8E-84A0-DEEFB1647E08}"/>
                      </a:ext>
                    </a:extLst>
                  </p:cNvPr>
                  <p:cNvSpPr/>
                  <p:nvPr/>
                </p:nvSpPr>
                <p:spPr>
                  <a:xfrm>
                    <a:off x="4507602" y="4248598"/>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1"/>
                        </a:gs>
                        <a:gs pos="100000">
                          <a:schemeClr val="accent1"/>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Additional Workload Domains</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08" name="TextBox 107">
                    <a:extLst>
                      <a:ext uri="{FF2B5EF4-FFF2-40B4-BE49-F238E27FC236}">
                        <a16:creationId xmlns:a16="http://schemas.microsoft.com/office/drawing/2014/main" id="{A256EE99-1901-C872-02B4-10B6668F7E3B}"/>
                      </a:ext>
                    </a:extLst>
                  </p:cNvPr>
                  <p:cNvSpPr txBox="1"/>
                  <p:nvPr/>
                </p:nvSpPr>
                <p:spPr>
                  <a:xfrm>
                    <a:off x="4924734" y="5197041"/>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09" name="Google Shape;6678;g2d30ebb658d_0_19789">
                    <a:extLst>
                      <a:ext uri="{FF2B5EF4-FFF2-40B4-BE49-F238E27FC236}">
                        <a16:creationId xmlns:a16="http://schemas.microsoft.com/office/drawing/2014/main" id="{0F8B8B9C-4C50-05FA-1A1D-0863DC0BBE6D}"/>
                      </a:ext>
                    </a:extLst>
                  </p:cNvPr>
                  <p:cNvSpPr/>
                  <p:nvPr/>
                </p:nvSpPr>
                <p:spPr>
                  <a:xfrm>
                    <a:off x="4735103" y="4725882"/>
                    <a:ext cx="1130643" cy="151298"/>
                  </a:xfrm>
                  <a:prstGeom prst="roundRect">
                    <a:avLst>
                      <a:gd name="adj" fmla="val 2356"/>
                    </a:avLst>
                  </a:prstGeom>
                  <a:gradFill>
                    <a:gsLst>
                      <a:gs pos="0">
                        <a:schemeClr val="accent2"/>
                      </a:gs>
                      <a:gs pos="99000">
                        <a:schemeClr val="accent1"/>
                      </a:gs>
                      <a:gs pos="100000">
                        <a:schemeClr val="accent1"/>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10" name="Google Shape;6678;g2d30ebb658d_0_19789">
                    <a:extLst>
                      <a:ext uri="{FF2B5EF4-FFF2-40B4-BE49-F238E27FC236}">
                        <a16:creationId xmlns:a16="http://schemas.microsoft.com/office/drawing/2014/main" id="{B915B6BC-0365-C8C2-7B41-D586ED0109A7}"/>
                      </a:ext>
                    </a:extLst>
                  </p:cNvPr>
                  <p:cNvSpPr/>
                  <p:nvPr/>
                </p:nvSpPr>
                <p:spPr>
                  <a:xfrm>
                    <a:off x="4738816" y="4535240"/>
                    <a:ext cx="1130643" cy="151298"/>
                  </a:xfrm>
                  <a:prstGeom prst="roundRect">
                    <a:avLst>
                      <a:gd name="adj" fmla="val 2356"/>
                    </a:avLst>
                  </a:prstGeom>
                  <a:gradFill>
                    <a:gsLst>
                      <a:gs pos="0">
                        <a:schemeClr val="accent2"/>
                      </a:gs>
                      <a:gs pos="99000">
                        <a:schemeClr val="accent1"/>
                      </a:gs>
                      <a:gs pos="100000">
                        <a:schemeClr val="accent1"/>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vCenter</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11" name="Google Shape;6678;g2d30ebb658d_0_19789">
                    <a:extLst>
                      <a:ext uri="{FF2B5EF4-FFF2-40B4-BE49-F238E27FC236}">
                        <a16:creationId xmlns:a16="http://schemas.microsoft.com/office/drawing/2014/main" id="{3534BA1A-4B3B-EBE0-5789-CE04DBE600BD}"/>
                      </a:ext>
                    </a:extLst>
                  </p:cNvPr>
                  <p:cNvSpPr/>
                  <p:nvPr/>
                </p:nvSpPr>
                <p:spPr>
                  <a:xfrm>
                    <a:off x="4978293" y="4921845"/>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grpSp>
          </p:grpSp>
          <p:sp>
            <p:nvSpPr>
              <p:cNvPr id="174" name="Google Shape;6678;g2d30ebb658d_0_19789">
                <a:extLst>
                  <a:ext uri="{FF2B5EF4-FFF2-40B4-BE49-F238E27FC236}">
                    <a16:creationId xmlns:a16="http://schemas.microsoft.com/office/drawing/2014/main" id="{AA117159-3787-17D3-CF0B-D56F533908FB}"/>
                  </a:ext>
                </a:extLst>
              </p:cNvPr>
              <p:cNvSpPr/>
              <p:nvPr/>
            </p:nvSpPr>
            <p:spPr>
              <a:xfrm>
                <a:off x="7375387" y="4966927"/>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sp>
          <p:nvSpPr>
            <p:cNvPr id="176" name="Google Shape;6678;g2d30ebb658d_0_19789">
              <a:extLst>
                <a:ext uri="{FF2B5EF4-FFF2-40B4-BE49-F238E27FC236}">
                  <a16:creationId xmlns:a16="http://schemas.microsoft.com/office/drawing/2014/main" id="{EEDF50E6-5BED-511B-EF9C-071AC4AF42C2}"/>
                </a:ext>
              </a:extLst>
            </p:cNvPr>
            <p:cNvSpPr/>
            <p:nvPr/>
          </p:nvSpPr>
          <p:spPr>
            <a:xfrm>
              <a:off x="7391526" y="3309973"/>
              <a:ext cx="701104" cy="151298"/>
            </a:xfrm>
            <a:prstGeom prst="roundRect">
              <a:avLst>
                <a:gd name="adj" fmla="val 2356"/>
              </a:avLst>
            </a:prstGeom>
            <a:solidFill>
              <a:schemeClr val="bg1"/>
            </a:solidFill>
            <a:ln w="12700">
              <a:solidFill>
                <a:schemeClr val="accent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7B8C"/>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7B8C"/>
                </a:solidFill>
                <a:effectLst/>
                <a:uLnTx/>
                <a:uFillTx/>
                <a:latin typeface="Arial"/>
                <a:ea typeface="Arial"/>
                <a:cs typeface="Arial"/>
                <a:sym typeface="Arial"/>
              </a:endParaRPr>
            </a:p>
          </p:txBody>
        </p:sp>
      </p:grpSp>
      <p:grpSp>
        <p:nvGrpSpPr>
          <p:cNvPr id="10" name="Group 9">
            <a:extLst>
              <a:ext uri="{FF2B5EF4-FFF2-40B4-BE49-F238E27FC236}">
                <a16:creationId xmlns:a16="http://schemas.microsoft.com/office/drawing/2014/main" id="{BFC47AE8-37D8-0A27-3F29-3C4496D14FA5}"/>
              </a:ext>
            </a:extLst>
          </p:cNvPr>
          <p:cNvGrpSpPr/>
          <p:nvPr/>
        </p:nvGrpSpPr>
        <p:grpSpPr>
          <a:xfrm>
            <a:off x="3268966" y="5695141"/>
            <a:ext cx="1909145" cy="308820"/>
            <a:chOff x="4357596" y="5842511"/>
            <a:chExt cx="1909145" cy="308820"/>
          </a:xfrm>
        </p:grpSpPr>
        <p:sp>
          <p:nvSpPr>
            <p:cNvPr id="63" name="Google Shape;6678;g2d30ebb658d_0_19789">
              <a:extLst>
                <a:ext uri="{FF2B5EF4-FFF2-40B4-BE49-F238E27FC236}">
                  <a16:creationId xmlns:a16="http://schemas.microsoft.com/office/drawing/2014/main" id="{F4ECE781-2551-D918-9E3B-D392FB5EF5D5}"/>
                </a:ext>
              </a:extLst>
            </p:cNvPr>
            <p:cNvSpPr/>
            <p:nvPr/>
          </p:nvSpPr>
          <p:spPr>
            <a:xfrm>
              <a:off x="4357596" y="5842511"/>
              <a:ext cx="1909145"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66" name="TextBox 65">
              <a:extLst>
                <a:ext uri="{FF2B5EF4-FFF2-40B4-BE49-F238E27FC236}">
                  <a16:creationId xmlns:a16="http://schemas.microsoft.com/office/drawing/2014/main" id="{2C0C836B-13FF-D6E9-109C-C95B0E9E4DC1}"/>
                </a:ext>
              </a:extLst>
            </p:cNvPr>
            <p:cNvSpPr txBox="1"/>
            <p:nvPr/>
          </p:nvSpPr>
          <p:spPr>
            <a:xfrm>
              <a:off x="4734570" y="5908305"/>
              <a:ext cx="1431482"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Additional VCF Instances</a:t>
              </a:r>
            </a:p>
          </p:txBody>
        </p:sp>
        <p:pic>
          <p:nvPicPr>
            <p:cNvPr id="67" name="Google Shape;6699;p92">
              <a:extLst>
                <a:ext uri="{FF2B5EF4-FFF2-40B4-BE49-F238E27FC236}">
                  <a16:creationId xmlns:a16="http://schemas.microsoft.com/office/drawing/2014/main" id="{00BB943B-95BB-06F7-345B-C44A14F5311D}"/>
                </a:ext>
              </a:extLst>
            </p:cNvPr>
            <p:cNvPicPr preferRelativeResize="0">
              <a:picLocks noChangeAspect="1"/>
            </p:cNvPicPr>
            <p:nvPr/>
          </p:nvPicPr>
          <p:blipFill rotWithShape="1">
            <a:blip r:embed="rId3">
              <a:alphaModFix/>
            </a:blip>
            <a:srcRect/>
            <a:stretch/>
          </p:blipFill>
          <p:spPr>
            <a:xfrm>
              <a:off x="4457026" y="5894009"/>
              <a:ext cx="220483" cy="220483"/>
            </a:xfrm>
            <a:prstGeom prst="rect">
              <a:avLst/>
            </a:prstGeom>
            <a:noFill/>
            <a:ln>
              <a:noFill/>
            </a:ln>
          </p:spPr>
        </p:pic>
      </p:grpSp>
      <p:sp>
        <p:nvSpPr>
          <p:cNvPr id="27" name="Google Shape;6678;g2d30ebb658d_0_19789">
            <a:extLst>
              <a:ext uri="{FF2B5EF4-FFF2-40B4-BE49-F238E27FC236}">
                <a16:creationId xmlns:a16="http://schemas.microsoft.com/office/drawing/2014/main" id="{837F91DB-0DF8-670E-44C6-F855845CEC03}"/>
              </a:ext>
            </a:extLst>
          </p:cNvPr>
          <p:cNvSpPr/>
          <p:nvPr/>
        </p:nvSpPr>
        <p:spPr>
          <a:xfrm>
            <a:off x="3265638" y="1928580"/>
            <a:ext cx="1909145" cy="3705982"/>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1" name="Group 10">
            <a:extLst>
              <a:ext uri="{FF2B5EF4-FFF2-40B4-BE49-F238E27FC236}">
                <a16:creationId xmlns:a16="http://schemas.microsoft.com/office/drawing/2014/main" id="{22DA4097-4B09-D270-74C5-156910F90706}"/>
              </a:ext>
            </a:extLst>
          </p:cNvPr>
          <p:cNvGrpSpPr/>
          <p:nvPr/>
        </p:nvGrpSpPr>
        <p:grpSpPr>
          <a:xfrm>
            <a:off x="3328600" y="4042553"/>
            <a:ext cx="1769718" cy="1537778"/>
            <a:chOff x="4417230" y="4189923"/>
            <a:chExt cx="1769718" cy="1537778"/>
          </a:xfrm>
        </p:grpSpPr>
        <p:grpSp>
          <p:nvGrpSpPr>
            <p:cNvPr id="69" name="Group 68">
              <a:extLst>
                <a:ext uri="{FF2B5EF4-FFF2-40B4-BE49-F238E27FC236}">
                  <a16:creationId xmlns:a16="http://schemas.microsoft.com/office/drawing/2014/main" id="{1790CC3B-2A32-D767-FCC9-3D77D860104A}"/>
                </a:ext>
              </a:extLst>
            </p:cNvPr>
            <p:cNvGrpSpPr/>
            <p:nvPr/>
          </p:nvGrpSpPr>
          <p:grpSpPr>
            <a:xfrm>
              <a:off x="4417230" y="4189923"/>
              <a:ext cx="1769718" cy="1537778"/>
              <a:chOff x="4421988" y="4189923"/>
              <a:chExt cx="1769718" cy="1537778"/>
            </a:xfrm>
          </p:grpSpPr>
          <p:sp>
            <p:nvSpPr>
              <p:cNvPr id="28" name="Google Shape;6678;g2d30ebb658d_0_19789">
                <a:extLst>
                  <a:ext uri="{FF2B5EF4-FFF2-40B4-BE49-F238E27FC236}">
                    <a16:creationId xmlns:a16="http://schemas.microsoft.com/office/drawing/2014/main" id="{39803164-A91A-99DD-0C5B-2DB9253DE1FC}"/>
                  </a:ext>
                </a:extLst>
              </p:cNvPr>
              <p:cNvSpPr/>
              <p:nvPr/>
            </p:nvSpPr>
            <p:spPr>
              <a:xfrm>
                <a:off x="4421988" y="4189923"/>
                <a:ext cx="1769718" cy="1537778"/>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9" name="Google Shape;6705;g2d30ebb658d_0_19789">
                <a:extLst>
                  <a:ext uri="{FF2B5EF4-FFF2-40B4-BE49-F238E27FC236}">
                    <a16:creationId xmlns:a16="http://schemas.microsoft.com/office/drawing/2014/main" id="{555C0D33-D79C-B44F-D06E-F2A9798256A2}"/>
                  </a:ext>
                </a:extLst>
              </p:cNvPr>
              <p:cNvSpPr/>
              <p:nvPr/>
            </p:nvSpPr>
            <p:spPr>
              <a:xfrm>
                <a:off x="4472491" y="5173351"/>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30" name="Google Shape;6707;g2d30ebb658d_0_19789">
                <a:extLst>
                  <a:ext uri="{FF2B5EF4-FFF2-40B4-BE49-F238E27FC236}">
                    <a16:creationId xmlns:a16="http://schemas.microsoft.com/office/drawing/2014/main" id="{AF7246D2-F5BE-6FCD-9A06-971663D18FEA}"/>
                  </a:ext>
                </a:extLst>
              </p:cNvPr>
              <p:cNvGrpSpPr/>
              <p:nvPr/>
            </p:nvGrpSpPr>
            <p:grpSpPr>
              <a:xfrm>
                <a:off x="5721290" y="5324870"/>
                <a:ext cx="283155" cy="283154"/>
                <a:chOff x="10722212" y="2729558"/>
                <a:chExt cx="663407" cy="663407"/>
              </a:xfrm>
            </p:grpSpPr>
            <p:sp>
              <p:nvSpPr>
                <p:cNvPr id="46" name="Google Shape;6708;g2d30ebb658d_0_19789">
                  <a:extLst>
                    <a:ext uri="{FF2B5EF4-FFF2-40B4-BE49-F238E27FC236}">
                      <a16:creationId xmlns:a16="http://schemas.microsoft.com/office/drawing/2014/main" id="{4CD60187-EC56-464C-D8B2-DA72D17A286D}"/>
                    </a:ext>
                  </a:extLst>
                </p:cNvPr>
                <p:cNvSpPr>
                  <a:spLocks noChangeAspect="1"/>
                </p:cNvSpPr>
                <p:nvPr/>
              </p:nvSpPr>
              <p:spPr>
                <a:xfrm>
                  <a:off x="10722212" y="272955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7" name="Google Shape;6709;g2d30ebb658d_0_19789">
                  <a:extLst>
                    <a:ext uri="{FF2B5EF4-FFF2-40B4-BE49-F238E27FC236}">
                      <a16:creationId xmlns:a16="http://schemas.microsoft.com/office/drawing/2014/main" id="{5D85698E-055D-16C4-19B5-0CA01C518772}"/>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31" name="Google Shape;6710;g2d30ebb658d_0_19789">
                <a:extLst>
                  <a:ext uri="{FF2B5EF4-FFF2-40B4-BE49-F238E27FC236}">
                    <a16:creationId xmlns:a16="http://schemas.microsoft.com/office/drawing/2014/main" id="{325E6790-3ED9-1A03-09C8-DF4E701271CE}"/>
                  </a:ext>
                </a:extLst>
              </p:cNvPr>
              <p:cNvGrpSpPr/>
              <p:nvPr/>
            </p:nvGrpSpPr>
            <p:grpSpPr>
              <a:xfrm>
                <a:off x="4576370" y="5324751"/>
                <a:ext cx="283155" cy="283154"/>
                <a:chOff x="572541" y="5475121"/>
                <a:chExt cx="663407" cy="663407"/>
              </a:xfrm>
            </p:grpSpPr>
            <p:sp>
              <p:nvSpPr>
                <p:cNvPr id="44" name="Google Shape;6711;g2d30ebb658d_0_19789">
                  <a:extLst>
                    <a:ext uri="{FF2B5EF4-FFF2-40B4-BE49-F238E27FC236}">
                      <a16:creationId xmlns:a16="http://schemas.microsoft.com/office/drawing/2014/main" id="{561BFAB0-CDE7-30A4-13AC-EFB4936F2190}"/>
                    </a:ext>
                  </a:extLst>
                </p:cNvPr>
                <p:cNvSpPr>
                  <a:spLocks noChangeAspect="1"/>
                </p:cNvSpPr>
                <p:nvPr/>
              </p:nvSpPr>
              <p:spPr>
                <a:xfrm>
                  <a:off x="572541" y="547512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5" name="Google Shape;6712;g2d30ebb658d_0_19789">
                  <a:extLst>
                    <a:ext uri="{FF2B5EF4-FFF2-40B4-BE49-F238E27FC236}">
                      <a16:creationId xmlns:a16="http://schemas.microsoft.com/office/drawing/2014/main" id="{24164179-407E-1F51-EACE-5BF4006AEE1B}"/>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32" name="Google Shape;6713;g2d30ebb658d_0_19789">
                <a:extLst>
                  <a:ext uri="{FF2B5EF4-FFF2-40B4-BE49-F238E27FC236}">
                    <a16:creationId xmlns:a16="http://schemas.microsoft.com/office/drawing/2014/main" id="{A7090253-86C8-3C65-C714-4C924F243B35}"/>
                  </a:ext>
                </a:extLst>
              </p:cNvPr>
              <p:cNvGrpSpPr/>
              <p:nvPr/>
            </p:nvGrpSpPr>
            <p:grpSpPr>
              <a:xfrm>
                <a:off x="5144738" y="5324752"/>
                <a:ext cx="283155" cy="283154"/>
                <a:chOff x="9272259" y="5475121"/>
                <a:chExt cx="663407" cy="663407"/>
              </a:xfrm>
            </p:grpSpPr>
            <p:sp>
              <p:nvSpPr>
                <p:cNvPr id="42" name="Google Shape;6714;g2d30ebb658d_0_19789">
                  <a:extLst>
                    <a:ext uri="{FF2B5EF4-FFF2-40B4-BE49-F238E27FC236}">
                      <a16:creationId xmlns:a16="http://schemas.microsoft.com/office/drawing/2014/main" id="{189B6AB4-BDE5-E06B-CAE5-25279B946816}"/>
                    </a:ext>
                  </a:extLst>
                </p:cNvPr>
                <p:cNvSpPr>
                  <a:spLocks noChangeAspect="1"/>
                </p:cNvSpPr>
                <p:nvPr/>
              </p:nvSpPr>
              <p:spPr>
                <a:xfrm>
                  <a:off x="9272259" y="5475121"/>
                  <a:ext cx="663407" cy="663407"/>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3" name="Google Shape;6715;g2d30ebb658d_0_19789">
                  <a:extLst>
                    <a:ext uri="{FF2B5EF4-FFF2-40B4-BE49-F238E27FC236}">
                      <a16:creationId xmlns:a16="http://schemas.microsoft.com/office/drawing/2014/main" id="{4CB5F54B-A1B8-225E-0A60-ED1C129E261A}"/>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40" name="Google Shape;6704;g2d30ebb658d_0_19789">
                <a:extLst>
                  <a:ext uri="{FF2B5EF4-FFF2-40B4-BE49-F238E27FC236}">
                    <a16:creationId xmlns:a16="http://schemas.microsoft.com/office/drawing/2014/main" id="{81DE2F23-B806-8B71-D282-F54305D53B5D}"/>
                  </a:ext>
                </a:extLst>
              </p:cNvPr>
              <p:cNvSpPr/>
              <p:nvPr/>
            </p:nvSpPr>
            <p:spPr>
              <a:xfrm>
                <a:off x="4507602" y="4248598"/>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Additional Workload Domains</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5" name="TextBox 34">
                <a:extLst>
                  <a:ext uri="{FF2B5EF4-FFF2-40B4-BE49-F238E27FC236}">
                    <a16:creationId xmlns:a16="http://schemas.microsoft.com/office/drawing/2014/main" id="{45DFB385-26B1-1DEC-AC5B-008F652027F6}"/>
                  </a:ext>
                </a:extLst>
              </p:cNvPr>
              <p:cNvSpPr txBox="1"/>
              <p:nvPr/>
            </p:nvSpPr>
            <p:spPr>
              <a:xfrm>
                <a:off x="4924734" y="5197041"/>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38" name="Google Shape;6678;g2d30ebb658d_0_19789">
                <a:extLst>
                  <a:ext uri="{FF2B5EF4-FFF2-40B4-BE49-F238E27FC236}">
                    <a16:creationId xmlns:a16="http://schemas.microsoft.com/office/drawing/2014/main" id="{243BF956-E2F1-8E9E-F9E4-1524062C6BFB}"/>
                  </a:ext>
                </a:extLst>
              </p:cNvPr>
              <p:cNvSpPr/>
              <p:nvPr/>
            </p:nvSpPr>
            <p:spPr>
              <a:xfrm>
                <a:off x="4735103" y="4725882"/>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9" name="Google Shape;6678;g2d30ebb658d_0_19789">
                <a:extLst>
                  <a:ext uri="{FF2B5EF4-FFF2-40B4-BE49-F238E27FC236}">
                    <a16:creationId xmlns:a16="http://schemas.microsoft.com/office/drawing/2014/main" id="{24958900-517D-DBD5-5F82-8BCDCFC1BE7A}"/>
                  </a:ext>
                </a:extLst>
              </p:cNvPr>
              <p:cNvSpPr/>
              <p:nvPr/>
            </p:nvSpPr>
            <p:spPr>
              <a:xfrm>
                <a:off x="4738816" y="4535240"/>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vCenter</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61" name="Google Shape;6678;g2d30ebb658d_0_19789">
                <a:extLst>
                  <a:ext uri="{FF2B5EF4-FFF2-40B4-BE49-F238E27FC236}">
                    <a16:creationId xmlns:a16="http://schemas.microsoft.com/office/drawing/2014/main" id="{0A150F9E-8208-D9CC-1B5C-C5EA9F976242}"/>
                  </a:ext>
                </a:extLst>
              </p:cNvPr>
              <p:cNvSpPr/>
              <p:nvPr/>
            </p:nvSpPr>
            <p:spPr>
              <a:xfrm>
                <a:off x="4978293" y="4921845"/>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grpSp>
        <p:sp>
          <p:nvSpPr>
            <p:cNvPr id="170" name="Google Shape;6678;g2d30ebb658d_0_19789">
              <a:extLst>
                <a:ext uri="{FF2B5EF4-FFF2-40B4-BE49-F238E27FC236}">
                  <a16:creationId xmlns:a16="http://schemas.microsoft.com/office/drawing/2014/main" id="{F8F4918D-FD35-6641-9D70-FA2B7648DD3E}"/>
                </a:ext>
              </a:extLst>
            </p:cNvPr>
            <p:cNvSpPr/>
            <p:nvPr/>
          </p:nvSpPr>
          <p:spPr>
            <a:xfrm>
              <a:off x="4911251" y="4966927"/>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grpSp>
        <p:nvGrpSpPr>
          <p:cNvPr id="68" name="Group 67">
            <a:extLst>
              <a:ext uri="{FF2B5EF4-FFF2-40B4-BE49-F238E27FC236}">
                <a16:creationId xmlns:a16="http://schemas.microsoft.com/office/drawing/2014/main" id="{AF419C36-1B7C-AA19-E0D4-09F178F3F694}"/>
              </a:ext>
            </a:extLst>
          </p:cNvPr>
          <p:cNvGrpSpPr/>
          <p:nvPr/>
        </p:nvGrpSpPr>
        <p:grpSpPr>
          <a:xfrm>
            <a:off x="3265290" y="1933872"/>
            <a:ext cx="1909145" cy="2029026"/>
            <a:chOff x="4353920" y="2081242"/>
            <a:chExt cx="1909145" cy="2029026"/>
          </a:xfrm>
        </p:grpSpPr>
        <p:sp>
          <p:nvSpPr>
            <p:cNvPr id="50" name="Google Shape;6678;g2d30ebb658d_0_19789">
              <a:extLst>
                <a:ext uri="{FF2B5EF4-FFF2-40B4-BE49-F238E27FC236}">
                  <a16:creationId xmlns:a16="http://schemas.microsoft.com/office/drawing/2014/main" id="{8A20B4BE-2D71-22C7-7A42-B0E0FF1B1CA5}"/>
                </a:ext>
              </a:extLst>
            </p:cNvPr>
            <p:cNvSpPr/>
            <p:nvPr/>
          </p:nvSpPr>
          <p:spPr>
            <a:xfrm>
              <a:off x="4353920" y="2081242"/>
              <a:ext cx="1909145" cy="2029026"/>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5" name="Google Shape;6678;g2d30ebb658d_0_19789">
              <a:extLst>
                <a:ext uri="{FF2B5EF4-FFF2-40B4-BE49-F238E27FC236}">
                  <a16:creationId xmlns:a16="http://schemas.microsoft.com/office/drawing/2014/main" id="{01E90415-022F-E11A-7540-2E34EA3DA150}"/>
                </a:ext>
              </a:extLst>
            </p:cNvPr>
            <p:cNvSpPr/>
            <p:nvPr/>
          </p:nvSpPr>
          <p:spPr>
            <a:xfrm>
              <a:off x="4421988" y="2352787"/>
              <a:ext cx="1769718" cy="173710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6" name="Google Shape;6705;g2d30ebb658d_0_19789">
              <a:extLst>
                <a:ext uri="{FF2B5EF4-FFF2-40B4-BE49-F238E27FC236}">
                  <a16:creationId xmlns:a16="http://schemas.microsoft.com/office/drawing/2014/main" id="{CAEEEDD3-BFA7-ED18-4E60-76FCC7B7CE17}"/>
                </a:ext>
              </a:extLst>
            </p:cNvPr>
            <p:cNvSpPr/>
            <p:nvPr/>
          </p:nvSpPr>
          <p:spPr>
            <a:xfrm>
              <a:off x="4472491" y="3528763"/>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7" name="Google Shape;6707;g2d30ebb658d_0_19789">
              <a:extLst>
                <a:ext uri="{FF2B5EF4-FFF2-40B4-BE49-F238E27FC236}">
                  <a16:creationId xmlns:a16="http://schemas.microsoft.com/office/drawing/2014/main" id="{8E5B26DF-0B2A-6939-F043-1D2D6EA43331}"/>
                </a:ext>
              </a:extLst>
            </p:cNvPr>
            <p:cNvGrpSpPr/>
            <p:nvPr/>
          </p:nvGrpSpPr>
          <p:grpSpPr>
            <a:xfrm>
              <a:off x="5721290" y="3680282"/>
              <a:ext cx="283155" cy="283154"/>
              <a:chOff x="10722212" y="2729558"/>
              <a:chExt cx="663407" cy="663407"/>
            </a:xfrm>
          </p:grpSpPr>
          <p:sp>
            <p:nvSpPr>
              <p:cNvPr id="25" name="Google Shape;6708;g2d30ebb658d_0_19789">
                <a:extLst>
                  <a:ext uri="{FF2B5EF4-FFF2-40B4-BE49-F238E27FC236}">
                    <a16:creationId xmlns:a16="http://schemas.microsoft.com/office/drawing/2014/main" id="{97C91FD0-26BF-AFF8-22C9-AE8989715F6C}"/>
                  </a:ext>
                </a:extLst>
              </p:cNvPr>
              <p:cNvSpPr>
                <a:spLocks noChangeAspect="1"/>
              </p:cNvSpPr>
              <p:nvPr/>
            </p:nvSpPr>
            <p:spPr>
              <a:xfrm>
                <a:off x="10722212" y="272955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6" name="Google Shape;6709;g2d30ebb658d_0_19789">
                <a:extLst>
                  <a:ext uri="{FF2B5EF4-FFF2-40B4-BE49-F238E27FC236}">
                    <a16:creationId xmlns:a16="http://schemas.microsoft.com/office/drawing/2014/main" id="{FF54E1EA-0AC8-3E7B-B799-A9756E63CB45}"/>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8" name="Google Shape;6710;g2d30ebb658d_0_19789">
              <a:extLst>
                <a:ext uri="{FF2B5EF4-FFF2-40B4-BE49-F238E27FC236}">
                  <a16:creationId xmlns:a16="http://schemas.microsoft.com/office/drawing/2014/main" id="{C888EC39-6021-3219-5F41-A04A5EE8A30F}"/>
                </a:ext>
              </a:extLst>
            </p:cNvPr>
            <p:cNvGrpSpPr/>
            <p:nvPr/>
          </p:nvGrpSpPr>
          <p:grpSpPr>
            <a:xfrm>
              <a:off x="4576370" y="3680163"/>
              <a:ext cx="283155" cy="283154"/>
              <a:chOff x="572541" y="5475121"/>
              <a:chExt cx="663407" cy="663407"/>
            </a:xfrm>
          </p:grpSpPr>
          <p:sp>
            <p:nvSpPr>
              <p:cNvPr id="23" name="Google Shape;6711;g2d30ebb658d_0_19789">
                <a:extLst>
                  <a:ext uri="{FF2B5EF4-FFF2-40B4-BE49-F238E27FC236}">
                    <a16:creationId xmlns:a16="http://schemas.microsoft.com/office/drawing/2014/main" id="{89DB2B95-4A8E-26CB-F7AB-F747976CD980}"/>
                  </a:ext>
                </a:extLst>
              </p:cNvPr>
              <p:cNvSpPr>
                <a:spLocks noChangeAspect="1"/>
              </p:cNvSpPr>
              <p:nvPr/>
            </p:nvSpPr>
            <p:spPr>
              <a:xfrm>
                <a:off x="572541" y="547512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4" name="Google Shape;6712;g2d30ebb658d_0_19789">
                <a:extLst>
                  <a:ext uri="{FF2B5EF4-FFF2-40B4-BE49-F238E27FC236}">
                    <a16:creationId xmlns:a16="http://schemas.microsoft.com/office/drawing/2014/main" id="{F73FE333-8A86-5D95-BC70-B6685FE8C3BA}"/>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9" name="Google Shape;6713;g2d30ebb658d_0_19789">
              <a:extLst>
                <a:ext uri="{FF2B5EF4-FFF2-40B4-BE49-F238E27FC236}">
                  <a16:creationId xmlns:a16="http://schemas.microsoft.com/office/drawing/2014/main" id="{C292F2BC-B74F-734D-088D-29A48C4AF3F3}"/>
                </a:ext>
              </a:extLst>
            </p:cNvPr>
            <p:cNvGrpSpPr/>
            <p:nvPr/>
          </p:nvGrpSpPr>
          <p:grpSpPr>
            <a:xfrm>
              <a:off x="5144738" y="3680164"/>
              <a:ext cx="283155" cy="283154"/>
              <a:chOff x="9272259" y="5475121"/>
              <a:chExt cx="663407" cy="663407"/>
            </a:xfrm>
          </p:grpSpPr>
          <p:sp>
            <p:nvSpPr>
              <p:cNvPr id="21" name="Google Shape;6714;g2d30ebb658d_0_19789">
                <a:extLst>
                  <a:ext uri="{FF2B5EF4-FFF2-40B4-BE49-F238E27FC236}">
                    <a16:creationId xmlns:a16="http://schemas.microsoft.com/office/drawing/2014/main" id="{9874D9C4-3F89-8519-DCC1-A0054D178B6A}"/>
                  </a:ext>
                </a:extLst>
              </p:cNvPr>
              <p:cNvSpPr>
                <a:spLocks noChangeAspect="1"/>
              </p:cNvSpPr>
              <p:nvPr/>
            </p:nvSpPr>
            <p:spPr>
              <a:xfrm>
                <a:off x="9272259" y="5475121"/>
                <a:ext cx="663407" cy="663407"/>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2" name="Google Shape;6715;g2d30ebb658d_0_19789">
                <a:extLst>
                  <a:ext uri="{FF2B5EF4-FFF2-40B4-BE49-F238E27FC236}">
                    <a16:creationId xmlns:a16="http://schemas.microsoft.com/office/drawing/2014/main" id="{E972F1FE-6828-77C4-C77C-9952AC216E90}"/>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19" name="Google Shape;6704;g2d30ebb658d_0_19789">
              <a:extLst>
                <a:ext uri="{FF2B5EF4-FFF2-40B4-BE49-F238E27FC236}">
                  <a16:creationId xmlns:a16="http://schemas.microsoft.com/office/drawing/2014/main" id="{BB0AA4E2-28A4-28FD-9E1E-01CBA1A23B6E}"/>
                </a:ext>
              </a:extLst>
            </p:cNvPr>
            <p:cNvSpPr/>
            <p:nvPr/>
          </p:nvSpPr>
          <p:spPr>
            <a:xfrm>
              <a:off x="4507602" y="2413513"/>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Management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2" name="TextBox 11">
              <a:extLst>
                <a:ext uri="{FF2B5EF4-FFF2-40B4-BE49-F238E27FC236}">
                  <a16:creationId xmlns:a16="http://schemas.microsoft.com/office/drawing/2014/main" id="{F52D9E0A-B33E-8F1B-5E2A-F50B981B1C3F}"/>
                </a:ext>
              </a:extLst>
            </p:cNvPr>
            <p:cNvSpPr txBox="1"/>
            <p:nvPr/>
          </p:nvSpPr>
          <p:spPr>
            <a:xfrm>
              <a:off x="4924734" y="3552453"/>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3" name="Google Shape;6705;g2d30ebb658d_0_19789">
              <a:extLst>
                <a:ext uri="{FF2B5EF4-FFF2-40B4-BE49-F238E27FC236}">
                  <a16:creationId xmlns:a16="http://schemas.microsoft.com/office/drawing/2014/main" id="{CE36526F-7158-1070-D532-3F1C3A784D03}"/>
                </a:ext>
              </a:extLst>
            </p:cNvPr>
            <p:cNvSpPr/>
            <p:nvPr/>
          </p:nvSpPr>
          <p:spPr>
            <a:xfrm>
              <a:off x="4738816" y="2666396"/>
              <a:ext cx="1130643"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6" name="Google Shape;6678;g2d30ebb658d_0_19789">
              <a:extLst>
                <a:ext uri="{FF2B5EF4-FFF2-40B4-BE49-F238E27FC236}">
                  <a16:creationId xmlns:a16="http://schemas.microsoft.com/office/drawing/2014/main" id="{850725BF-446D-83D7-99E3-D45A2B309657}"/>
                </a:ext>
              </a:extLst>
            </p:cNvPr>
            <p:cNvSpPr/>
            <p:nvPr/>
          </p:nvSpPr>
          <p:spPr>
            <a:xfrm>
              <a:off x="4989674" y="3264891"/>
              <a:ext cx="701104" cy="151298"/>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8" name="Google Shape;6678;g2d30ebb658d_0_19789">
              <a:extLst>
                <a:ext uri="{FF2B5EF4-FFF2-40B4-BE49-F238E27FC236}">
                  <a16:creationId xmlns:a16="http://schemas.microsoft.com/office/drawing/2014/main" id="{FF0390D5-1A03-0B6D-08A1-A7438B2482DF}"/>
                </a:ext>
              </a:extLst>
            </p:cNvPr>
            <p:cNvSpPr/>
            <p:nvPr/>
          </p:nvSpPr>
          <p:spPr>
            <a:xfrm>
              <a:off x="4738816" y="2868207"/>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51" name="TextBox 50">
              <a:extLst>
                <a:ext uri="{FF2B5EF4-FFF2-40B4-BE49-F238E27FC236}">
                  <a16:creationId xmlns:a16="http://schemas.microsoft.com/office/drawing/2014/main" id="{AF323A8D-1FB6-C002-21AB-624DB28AC2AD}"/>
                </a:ext>
              </a:extLst>
            </p:cNvPr>
            <p:cNvSpPr txBox="1"/>
            <p:nvPr/>
          </p:nvSpPr>
          <p:spPr>
            <a:xfrm>
              <a:off x="5032205" y="2152074"/>
              <a:ext cx="772647"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Instance</a:t>
              </a:r>
            </a:p>
          </p:txBody>
        </p:sp>
        <p:sp>
          <p:nvSpPr>
            <p:cNvPr id="57" name="Google Shape;6705;g2d30ebb658d_0_19789">
              <a:extLst>
                <a:ext uri="{FF2B5EF4-FFF2-40B4-BE49-F238E27FC236}">
                  <a16:creationId xmlns:a16="http://schemas.microsoft.com/office/drawing/2014/main" id="{F7C9026B-3E09-291A-DBBC-64B3A6CCCBFE}"/>
                </a:ext>
              </a:extLst>
            </p:cNvPr>
            <p:cNvSpPr/>
            <p:nvPr/>
          </p:nvSpPr>
          <p:spPr>
            <a:xfrm>
              <a:off x="4738816" y="3064305"/>
              <a:ext cx="1130643"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SDDC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58" name="Google Shape;6678;g2d30ebb658d_0_19789">
              <a:extLst>
                <a:ext uri="{FF2B5EF4-FFF2-40B4-BE49-F238E27FC236}">
                  <a16:creationId xmlns:a16="http://schemas.microsoft.com/office/drawing/2014/main" id="{A611CBCF-C11E-576A-211C-BC361E4B1BF4}"/>
                </a:ext>
              </a:extLst>
            </p:cNvPr>
            <p:cNvSpPr/>
            <p:nvPr/>
          </p:nvSpPr>
          <p:spPr>
            <a:xfrm>
              <a:off x="4927390" y="3309973"/>
              <a:ext cx="701104" cy="151298"/>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pic>
          <p:nvPicPr>
            <p:cNvPr id="65" name="Google Shape;6699;p92">
              <a:extLst>
                <a:ext uri="{FF2B5EF4-FFF2-40B4-BE49-F238E27FC236}">
                  <a16:creationId xmlns:a16="http://schemas.microsoft.com/office/drawing/2014/main" id="{7DE76168-25AB-06F7-AD25-2ACE95EAAA37}"/>
                </a:ext>
              </a:extLst>
            </p:cNvPr>
            <p:cNvPicPr preferRelativeResize="0">
              <a:picLocks noChangeAspect="1"/>
            </p:cNvPicPr>
            <p:nvPr/>
          </p:nvPicPr>
          <p:blipFill rotWithShape="1">
            <a:blip r:embed="rId3">
              <a:alphaModFix/>
            </a:blip>
            <a:srcRect/>
            <a:stretch/>
          </p:blipFill>
          <p:spPr>
            <a:xfrm>
              <a:off x="4754661" y="2109728"/>
              <a:ext cx="220483" cy="220483"/>
            </a:xfrm>
            <a:prstGeom prst="rect">
              <a:avLst/>
            </a:prstGeom>
            <a:noFill/>
            <a:ln>
              <a:noFill/>
            </a:ln>
          </p:spPr>
        </p:pic>
      </p:grpSp>
      <p:sp>
        <p:nvSpPr>
          <p:cNvPr id="33" name="Rectangle 32">
            <a:extLst>
              <a:ext uri="{FF2B5EF4-FFF2-40B4-BE49-F238E27FC236}">
                <a16:creationId xmlns:a16="http://schemas.microsoft.com/office/drawing/2014/main" id="{DE80A7AC-20E1-1569-C5DB-7EE95606447D}"/>
              </a:ext>
            </a:extLst>
          </p:cNvPr>
          <p:cNvSpPr/>
          <p:nvPr/>
        </p:nvSpPr>
        <p:spPr bwMode="gray">
          <a:xfrm>
            <a:off x="3271988" y="3913455"/>
            <a:ext cx="1897199" cy="92075"/>
          </a:xfrm>
          <a:prstGeom prst="rect">
            <a:avLst/>
          </a:prstGeom>
          <a:solidFill>
            <a:schemeClr val="bg1"/>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34" name="Title 1">
            <a:extLst>
              <a:ext uri="{FF2B5EF4-FFF2-40B4-BE49-F238E27FC236}">
                <a16:creationId xmlns:a16="http://schemas.microsoft.com/office/drawing/2014/main" id="{1137FACF-B016-7E7C-7605-56BD7402D638}"/>
              </a:ext>
            </a:extLst>
          </p:cNvPr>
          <p:cNvSpPr txBox="1">
            <a:spLocks/>
          </p:cNvSpPr>
          <p:nvPr/>
        </p:nvSpPr>
        <p:spPr>
          <a:xfrm>
            <a:off x="579809" y="412751"/>
            <a:ext cx="11001004" cy="381000"/>
          </a:xfrm>
          <a:prstGeom prst="rect">
            <a:avLst/>
          </a:prstGeom>
        </p:spPr>
        <p:txBody>
          <a:bodyP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dirty="0">
                <a:ln>
                  <a:noFill/>
                </a:ln>
                <a:solidFill>
                  <a:srgbClr val="005C8A"/>
                </a:solidFill>
                <a:effectLst/>
                <a:uLnTx/>
                <a:uFillTx/>
                <a:latin typeface="Arial" panose="020B0604020202020204"/>
                <a:ea typeface="+mj-ea"/>
                <a:cs typeface="+mj-cs"/>
              </a:rPr>
              <a:t>Private Cloud Constructs within VMware Cloud Foundation</a:t>
            </a:r>
          </a:p>
        </p:txBody>
      </p:sp>
      <p:sp>
        <p:nvSpPr>
          <p:cNvPr id="74" name="TextBox 73">
            <a:extLst>
              <a:ext uri="{FF2B5EF4-FFF2-40B4-BE49-F238E27FC236}">
                <a16:creationId xmlns:a16="http://schemas.microsoft.com/office/drawing/2014/main" id="{E44043A2-371C-1F0A-7837-7DCCD6641019}"/>
              </a:ext>
            </a:extLst>
          </p:cNvPr>
          <p:cNvSpPr txBox="1"/>
          <p:nvPr/>
        </p:nvSpPr>
        <p:spPr>
          <a:xfrm>
            <a:off x="3628521" y="934860"/>
            <a:ext cx="1192771" cy="153888"/>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 VCF Private Cloud </a:t>
            </a:r>
          </a:p>
        </p:txBody>
      </p:sp>
      <p:sp>
        <p:nvSpPr>
          <p:cNvPr id="3" name="Rectangle 2">
            <a:extLst>
              <a:ext uri="{FF2B5EF4-FFF2-40B4-BE49-F238E27FC236}">
                <a16:creationId xmlns:a16="http://schemas.microsoft.com/office/drawing/2014/main" id="{749D52C0-12E6-39D1-123B-9EEA72781FBB}"/>
              </a:ext>
            </a:extLst>
          </p:cNvPr>
          <p:cNvSpPr/>
          <p:nvPr/>
        </p:nvSpPr>
        <p:spPr bwMode="gray">
          <a:xfrm>
            <a:off x="8076361" y="1266442"/>
            <a:ext cx="4112464" cy="4881505"/>
          </a:xfrm>
          <a:prstGeom prst="rect">
            <a:avLst/>
          </a:prstGeom>
          <a:solidFill>
            <a:srgbClr val="F4F8FA"/>
          </a:solidFill>
        </p:spPr>
        <p:txBody>
          <a:bodyPr vert="horz" lIns="274249" tIns="457081" rIns="457081" bIns="457081" rtlCol="0">
            <a:noAutofit/>
          </a:bodyPr>
          <a:lstStyle/>
          <a:p>
            <a:pPr defTabSz="914126">
              <a:spcAft>
                <a:spcPts val="1200"/>
              </a:spcAft>
              <a:buClr>
                <a:srgbClr val="000000">
                  <a:lumMod val="60000"/>
                  <a:lumOff val="40000"/>
                </a:srgbClr>
              </a:buClr>
              <a:buSzPct val="90000"/>
              <a:buFont typeface="Arial" panose="020B0604020202020204" pitchFamily="34" charset="0"/>
              <a:buChar char="​"/>
            </a:pPr>
            <a:endParaRPr lang="en-IN" sz="1799" dirty="0">
              <a:solidFill>
                <a:srgbClr val="005C8A"/>
              </a:solidFill>
              <a:latin typeface="Arial" panose="020B0604020202020204"/>
            </a:endParaRPr>
          </a:p>
        </p:txBody>
      </p:sp>
      <p:cxnSp>
        <p:nvCxnSpPr>
          <p:cNvPr id="4" name="Straight Connector 3">
            <a:extLst>
              <a:ext uri="{FF2B5EF4-FFF2-40B4-BE49-F238E27FC236}">
                <a16:creationId xmlns:a16="http://schemas.microsoft.com/office/drawing/2014/main" id="{D9376460-1490-746C-CF64-3313BE2C5710}"/>
              </a:ext>
            </a:extLst>
          </p:cNvPr>
          <p:cNvCxnSpPr>
            <a:cxnSpLocks/>
          </p:cNvCxnSpPr>
          <p:nvPr/>
        </p:nvCxnSpPr>
        <p:spPr bwMode="gray">
          <a:xfrm>
            <a:off x="8076361" y="1280962"/>
            <a:ext cx="4112464" cy="0"/>
          </a:xfrm>
          <a:prstGeom prst="line">
            <a:avLst/>
          </a:prstGeom>
          <a:ln w="3175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1" name="Text Placeholder 3">
            <a:extLst>
              <a:ext uri="{FF2B5EF4-FFF2-40B4-BE49-F238E27FC236}">
                <a16:creationId xmlns:a16="http://schemas.microsoft.com/office/drawing/2014/main" id="{55BB311B-42C0-A145-C95E-22E3788DF4A2}"/>
              </a:ext>
            </a:extLst>
          </p:cNvPr>
          <p:cNvSpPr txBox="1">
            <a:spLocks/>
          </p:cNvSpPr>
          <p:nvPr/>
        </p:nvSpPr>
        <p:spPr>
          <a:xfrm>
            <a:off x="8218018" y="1671390"/>
            <a:ext cx="3947763" cy="1733693"/>
          </a:xfrm>
          <a:prstGeom prst="rect">
            <a:avLst/>
          </a:prstGeom>
        </p:spPr>
        <p:txBody>
          <a:bodyPr/>
          <a:lst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l" defTabSz="913578" rtl="0" eaLnBrk="1" fontAlgn="auto" latinLnBrk="0" hangingPunct="1">
              <a:lnSpc>
                <a:spcPct val="90000"/>
              </a:lnSpc>
              <a:spcBef>
                <a:spcPts val="0"/>
              </a:spcBef>
              <a:spcAft>
                <a:spcPts val="30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VCF Instance</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Management Domain</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Workload Domains</a:t>
            </a:r>
          </a:p>
          <a:p>
            <a:pPr marL="0" marR="0" lvl="0" indent="0" algn="l" defTabSz="913578" rtl="0" eaLnBrk="1" fontAlgn="auto" latinLnBrk="0" hangingPunct="1">
              <a:lnSpc>
                <a:spcPct val="90000"/>
              </a:lnSpc>
              <a:spcBef>
                <a:spcPts val="0"/>
              </a:spcBef>
              <a:spcAft>
                <a:spcPts val="3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3578" rtl="0" eaLnBrk="1" fontAlgn="auto" latinLnBrk="0" hangingPunct="1">
              <a:lnSpc>
                <a:spcPct val="90000"/>
              </a:lnSpc>
              <a:spcBef>
                <a:spcPts val="0"/>
              </a:spcBef>
              <a:spcAft>
                <a:spcPts val="3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3578" rtl="0" eaLnBrk="1" fontAlgn="auto" latinLnBrk="0" hangingPunct="1">
              <a:lnSpc>
                <a:spcPct val="90000"/>
              </a:lnSpc>
              <a:spcBef>
                <a:spcPts val="0"/>
              </a:spcBef>
              <a:spcAft>
                <a:spcPts val="30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VCF Fleet</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One or more VCF instance</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Common VCF Operations instance</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Common VCF Automation Instance</a:t>
            </a:r>
          </a:p>
          <a:p>
            <a:pPr marL="0" marR="0" lvl="0" indent="0" algn="l" defTabSz="913578" rtl="0" eaLnBrk="1" fontAlgn="auto" latinLnBrk="0" hangingPunct="1">
              <a:lnSpc>
                <a:spcPct val="90000"/>
              </a:lnSpc>
              <a:spcBef>
                <a:spcPts val="0"/>
              </a:spcBef>
              <a:spcAft>
                <a:spcPts val="3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3578" rtl="0" eaLnBrk="1" fontAlgn="auto" latinLnBrk="0" hangingPunct="1">
              <a:lnSpc>
                <a:spcPct val="90000"/>
              </a:lnSpc>
              <a:spcBef>
                <a:spcPts val="0"/>
              </a:spcBef>
              <a:spcAft>
                <a:spcPts val="3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3578" rtl="0" eaLnBrk="1" fontAlgn="auto" latinLnBrk="0" hangingPunct="1">
              <a:lnSpc>
                <a:spcPct val="90000"/>
              </a:lnSpc>
              <a:spcBef>
                <a:spcPts val="0"/>
              </a:spcBef>
              <a:spcAft>
                <a:spcPts val="30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VCF Private Clouds</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One or more VCF Fleets </a:t>
            </a:r>
          </a:p>
          <a:p>
            <a:pPr marL="0" marR="0" lvl="0" indent="0" algn="l" defTabSz="914400" rtl="0" eaLnBrk="1" fontAlgn="auto" latinLnBrk="0" hangingPunct="1">
              <a:lnSpc>
                <a:spcPct val="100000"/>
              </a:lnSpc>
              <a:spcBef>
                <a:spcPts val="0"/>
              </a:spcBef>
              <a:spcAft>
                <a:spcPts val="1200"/>
              </a:spcAft>
              <a:buClr>
                <a:srgbClr val="000000">
                  <a:lumMod val="60000"/>
                  <a:lumOff val="40000"/>
                </a:srgbClr>
              </a:buClr>
              <a:buSzPct val="90000"/>
              <a:buFont typeface="Arial" panose="020B0604020202020204" pitchFamily="34" charset="0"/>
              <a:buChar char="​"/>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462541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1">
                                            <p:txEl>
                                              <p:pRg st="0" end="0"/>
                                            </p:txEl>
                                          </p:spTgt>
                                        </p:tgtEl>
                                        <p:attrNameLst>
                                          <p:attrName>style.visibility</p:attrName>
                                        </p:attrNameLst>
                                      </p:cBhvr>
                                      <p:to>
                                        <p:strVal val="visible"/>
                                      </p:to>
                                    </p:set>
                                    <p:animEffect transition="in" filter="dissolve">
                                      <p:cBhvr>
                                        <p:cTn id="7" dur="500"/>
                                        <p:tgtEl>
                                          <p:spTgt spid="41">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41">
                                            <p:txEl>
                                              <p:pRg st="1" end="1"/>
                                            </p:txEl>
                                          </p:spTgt>
                                        </p:tgtEl>
                                        <p:attrNameLst>
                                          <p:attrName>style.visibility</p:attrName>
                                        </p:attrNameLst>
                                      </p:cBhvr>
                                      <p:to>
                                        <p:strVal val="visible"/>
                                      </p:to>
                                    </p:set>
                                    <p:animEffect transition="in" filter="dissolve">
                                      <p:cBhvr>
                                        <p:cTn id="11" dur="500"/>
                                        <p:tgtEl>
                                          <p:spTgt spid="41">
                                            <p:txEl>
                                              <p:pRg st="1" end="1"/>
                                            </p:txEl>
                                          </p:spTgt>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dissolve">
                                      <p:cBhvr>
                                        <p:cTn id="15" dur="500"/>
                                        <p:tgtEl>
                                          <p:spTgt spid="68"/>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dissolve">
                                      <p:cBhvr>
                                        <p:cTn id="19" dur="500"/>
                                        <p:tgtEl>
                                          <p:spTgt spid="48"/>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dissolve">
                                      <p:cBhvr>
                                        <p:cTn id="23" dur="500"/>
                                        <p:tgtEl>
                                          <p:spTgt spid="49"/>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41">
                                            <p:txEl>
                                              <p:pRg st="2" end="2"/>
                                            </p:txEl>
                                          </p:spTgt>
                                        </p:tgtEl>
                                        <p:attrNameLst>
                                          <p:attrName>style.visibility</p:attrName>
                                        </p:attrNameLst>
                                      </p:cBhvr>
                                      <p:to>
                                        <p:strVal val="visible"/>
                                      </p:to>
                                    </p:set>
                                    <p:animEffect transition="in" filter="dissolve">
                                      <p:cBhvr>
                                        <p:cTn id="28" dur="500"/>
                                        <p:tgtEl>
                                          <p:spTgt spid="41">
                                            <p:txEl>
                                              <p:pRg st="2" end="2"/>
                                            </p:txEl>
                                          </p:spTgt>
                                        </p:tgtEl>
                                      </p:cBhvr>
                                    </p:animEffect>
                                  </p:childTnLst>
                                </p:cTn>
                              </p:par>
                            </p:childTnLst>
                          </p:cTn>
                        </p:par>
                        <p:par>
                          <p:cTn id="29" fill="hold">
                            <p:stCondLst>
                              <p:cond delay="500"/>
                            </p:stCondLst>
                            <p:childTnLst>
                              <p:par>
                                <p:cTn id="30" presetID="9" presetClass="entr" presetSubtype="0" fill="hold" grpId="0" nodeType="after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dissolve">
                                      <p:cBhvr>
                                        <p:cTn id="32" dur="500"/>
                                        <p:tgtEl>
                                          <p:spTgt spid="33"/>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wipe(up)">
                                      <p:cBhvr>
                                        <p:cTn id="35" dur="500"/>
                                        <p:tgtEl>
                                          <p:spTgt spid="27"/>
                                        </p:tgtEl>
                                      </p:cBhvr>
                                    </p:animEffect>
                                  </p:childTnLst>
                                </p:cTn>
                              </p:par>
                            </p:childTnLst>
                          </p:cTn>
                        </p:par>
                        <p:par>
                          <p:cTn id="36" fill="hold">
                            <p:stCondLst>
                              <p:cond delay="1000"/>
                            </p:stCondLst>
                            <p:childTnLst>
                              <p:par>
                                <p:cTn id="37" presetID="22" presetClass="entr" presetSubtype="1" fill="hold"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up)">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41">
                                            <p:txEl>
                                              <p:pRg st="5" end="5"/>
                                            </p:txEl>
                                          </p:spTgt>
                                        </p:tgtEl>
                                        <p:attrNameLst>
                                          <p:attrName>style.visibility</p:attrName>
                                        </p:attrNameLst>
                                      </p:cBhvr>
                                      <p:to>
                                        <p:strVal val="visible"/>
                                      </p:to>
                                    </p:set>
                                    <p:animEffect transition="in" filter="dissolve">
                                      <p:cBhvr>
                                        <p:cTn id="44" dur="500"/>
                                        <p:tgtEl>
                                          <p:spTgt spid="41">
                                            <p:txEl>
                                              <p:pRg st="5" end="5"/>
                                            </p:txEl>
                                          </p:spTgt>
                                        </p:tgtEl>
                                      </p:cBhvr>
                                    </p:animEffect>
                                  </p:childTnLst>
                                </p:cTn>
                              </p:par>
                            </p:childTnLst>
                          </p:cTn>
                        </p:par>
                        <p:par>
                          <p:cTn id="45" fill="hold">
                            <p:stCondLst>
                              <p:cond delay="500"/>
                            </p:stCondLst>
                            <p:childTnLst>
                              <p:par>
                                <p:cTn id="46" presetID="9" presetClass="entr" presetSubtype="0" fill="hold" nodeType="afterEffect">
                                  <p:stCondLst>
                                    <p:cond delay="0"/>
                                  </p:stCondLst>
                                  <p:childTnLst>
                                    <p:set>
                                      <p:cBhvr>
                                        <p:cTn id="47" dur="1" fill="hold">
                                          <p:stCondLst>
                                            <p:cond delay="0"/>
                                          </p:stCondLst>
                                        </p:cTn>
                                        <p:tgtEl>
                                          <p:spTgt spid="41">
                                            <p:txEl>
                                              <p:pRg st="6" end="6"/>
                                            </p:txEl>
                                          </p:spTgt>
                                        </p:tgtEl>
                                        <p:attrNameLst>
                                          <p:attrName>style.visibility</p:attrName>
                                        </p:attrNameLst>
                                      </p:cBhvr>
                                      <p:to>
                                        <p:strVal val="visible"/>
                                      </p:to>
                                    </p:set>
                                    <p:animEffect transition="in" filter="dissolve">
                                      <p:cBhvr>
                                        <p:cTn id="48" dur="500"/>
                                        <p:tgtEl>
                                          <p:spTgt spid="41">
                                            <p:txEl>
                                              <p:pRg st="6" end="6"/>
                                            </p:txEl>
                                          </p:spTgt>
                                        </p:tgtEl>
                                      </p:cBhvr>
                                    </p:animEffect>
                                  </p:childTnLst>
                                </p:cTn>
                              </p:par>
                            </p:childTnLst>
                          </p:cTn>
                        </p:par>
                        <p:par>
                          <p:cTn id="49" fill="hold">
                            <p:stCondLst>
                              <p:cond delay="1000"/>
                            </p:stCondLst>
                            <p:childTnLst>
                              <p:par>
                                <p:cTn id="50" presetID="9" presetClass="entr" presetSubtype="0" fill="hold" nodeType="afterEffect">
                                  <p:stCondLst>
                                    <p:cond delay="0"/>
                                  </p:stCondLst>
                                  <p:childTnLst>
                                    <p:set>
                                      <p:cBhvr>
                                        <p:cTn id="51" dur="1" fill="hold">
                                          <p:stCondLst>
                                            <p:cond delay="0"/>
                                          </p:stCondLst>
                                        </p:cTn>
                                        <p:tgtEl>
                                          <p:spTgt spid="41">
                                            <p:txEl>
                                              <p:pRg st="7" end="7"/>
                                            </p:txEl>
                                          </p:spTgt>
                                        </p:tgtEl>
                                        <p:attrNameLst>
                                          <p:attrName>style.visibility</p:attrName>
                                        </p:attrNameLst>
                                      </p:cBhvr>
                                      <p:to>
                                        <p:strVal val="visible"/>
                                      </p:to>
                                    </p:set>
                                    <p:animEffect transition="in" filter="dissolve">
                                      <p:cBhvr>
                                        <p:cTn id="52" dur="500"/>
                                        <p:tgtEl>
                                          <p:spTgt spid="41">
                                            <p:txEl>
                                              <p:pRg st="7" end="7"/>
                                            </p:txEl>
                                          </p:spTgt>
                                        </p:tgtEl>
                                      </p:cBhvr>
                                    </p:animEffect>
                                  </p:childTnLst>
                                </p:cTn>
                              </p:par>
                            </p:childTnLst>
                          </p:cTn>
                        </p:par>
                        <p:par>
                          <p:cTn id="53" fill="hold">
                            <p:stCondLst>
                              <p:cond delay="1500"/>
                            </p:stCondLst>
                            <p:childTnLst>
                              <p:par>
                                <p:cTn id="54" presetID="9" presetClass="entr" presetSubtype="0" fill="hold" nodeType="afterEffect">
                                  <p:stCondLst>
                                    <p:cond delay="0"/>
                                  </p:stCondLst>
                                  <p:childTnLst>
                                    <p:set>
                                      <p:cBhvr>
                                        <p:cTn id="55" dur="1" fill="hold">
                                          <p:stCondLst>
                                            <p:cond delay="0"/>
                                          </p:stCondLst>
                                        </p:cTn>
                                        <p:tgtEl>
                                          <p:spTgt spid="41">
                                            <p:txEl>
                                              <p:pRg st="8" end="8"/>
                                            </p:txEl>
                                          </p:spTgt>
                                        </p:tgtEl>
                                        <p:attrNameLst>
                                          <p:attrName>style.visibility</p:attrName>
                                        </p:attrNameLst>
                                      </p:cBhvr>
                                      <p:to>
                                        <p:strVal val="visible"/>
                                      </p:to>
                                    </p:set>
                                    <p:animEffect transition="in" filter="dissolve">
                                      <p:cBhvr>
                                        <p:cTn id="56" dur="500"/>
                                        <p:tgtEl>
                                          <p:spTgt spid="41">
                                            <p:txEl>
                                              <p:pRg st="8" end="8"/>
                                            </p:txEl>
                                          </p:spTgt>
                                        </p:tgtEl>
                                      </p:cBhvr>
                                    </p:animEffect>
                                  </p:childTnLst>
                                </p:cTn>
                              </p:par>
                            </p:childTnLst>
                          </p:cTn>
                        </p:par>
                        <p:par>
                          <p:cTn id="57" fill="hold">
                            <p:stCondLst>
                              <p:cond delay="2000"/>
                            </p:stCondLst>
                            <p:childTnLst>
                              <p:par>
                                <p:cTn id="58" presetID="16" presetClass="entr" presetSubtype="37" fill="hold" nodeType="afterEffect">
                                  <p:stCondLst>
                                    <p:cond delay="0"/>
                                  </p:stCondLst>
                                  <p:childTnLst>
                                    <p:set>
                                      <p:cBhvr>
                                        <p:cTn id="59" dur="1" fill="hold">
                                          <p:stCondLst>
                                            <p:cond delay="0"/>
                                          </p:stCondLst>
                                        </p:cTn>
                                        <p:tgtEl>
                                          <p:spTgt spid="2"/>
                                        </p:tgtEl>
                                        <p:attrNameLst>
                                          <p:attrName>style.visibility</p:attrName>
                                        </p:attrNameLst>
                                      </p:cBhvr>
                                      <p:to>
                                        <p:strVal val="visible"/>
                                      </p:to>
                                    </p:set>
                                    <p:animEffect transition="in" filter="barn(outVertical)">
                                      <p:cBhvr>
                                        <p:cTn id="60" dur="500"/>
                                        <p:tgtEl>
                                          <p:spTgt spid="2"/>
                                        </p:tgtEl>
                                      </p:cBhvr>
                                    </p:animEffect>
                                  </p:childTnLst>
                                </p:cTn>
                              </p:par>
                            </p:childTnLst>
                          </p:cTn>
                        </p:par>
                        <p:par>
                          <p:cTn id="61" fill="hold">
                            <p:stCondLst>
                              <p:cond delay="2500"/>
                            </p:stCondLst>
                            <p:childTnLst>
                              <p:par>
                                <p:cTn id="62" presetID="9" presetClass="entr" presetSubtype="0" fill="hold" nodeType="afterEffect">
                                  <p:stCondLst>
                                    <p:cond delay="500"/>
                                  </p:stCondLst>
                                  <p:childTnLst>
                                    <p:set>
                                      <p:cBhvr>
                                        <p:cTn id="63" dur="1" fill="hold">
                                          <p:stCondLst>
                                            <p:cond delay="0"/>
                                          </p:stCondLst>
                                        </p:cTn>
                                        <p:tgtEl>
                                          <p:spTgt spid="10"/>
                                        </p:tgtEl>
                                        <p:attrNameLst>
                                          <p:attrName>style.visibility</p:attrName>
                                        </p:attrNameLst>
                                      </p:cBhvr>
                                      <p:to>
                                        <p:strVal val="visible"/>
                                      </p:to>
                                    </p:set>
                                    <p:animEffect transition="in" filter="dissolve">
                                      <p:cBhvr>
                                        <p:cTn id="64" dur="500"/>
                                        <p:tgtEl>
                                          <p:spTgt spid="10"/>
                                        </p:tgtEl>
                                      </p:cBhvr>
                                    </p:animEffect>
                                  </p:childTnLst>
                                </p:cTn>
                              </p:par>
                            </p:childTnLst>
                          </p:cTn>
                        </p:par>
                        <p:par>
                          <p:cTn id="65" fill="hold">
                            <p:stCondLst>
                              <p:cond delay="3500"/>
                            </p:stCondLst>
                            <p:childTnLst>
                              <p:par>
                                <p:cTn id="66" presetID="26" presetClass="emph" presetSubtype="0" fill="hold" nodeType="afterEffect">
                                  <p:stCondLst>
                                    <p:cond delay="0"/>
                                  </p:stCondLst>
                                  <p:childTnLst>
                                    <p:animEffect transition="out" filter="fade">
                                      <p:cBhvr>
                                        <p:cTn id="67" dur="500" tmFilter="0, 0; .2, .5; .8, .5; 1, 0"/>
                                        <p:tgtEl>
                                          <p:spTgt spid="10"/>
                                        </p:tgtEl>
                                      </p:cBhvr>
                                    </p:animEffect>
                                    <p:animScale>
                                      <p:cBhvr>
                                        <p:cTn id="68" dur="250" autoRev="1" fill="hold"/>
                                        <p:tgtEl>
                                          <p:spTgt spid="10"/>
                                        </p:tgtEl>
                                      </p:cBhvr>
                                      <p:by x="105000" y="105000"/>
                                    </p:animScale>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nodeType="clickEffect">
                                  <p:stCondLst>
                                    <p:cond delay="0"/>
                                  </p:stCondLst>
                                  <p:childTnLst>
                                    <p:set>
                                      <p:cBhvr>
                                        <p:cTn id="72" dur="1" fill="hold">
                                          <p:stCondLst>
                                            <p:cond delay="0"/>
                                          </p:stCondLst>
                                        </p:cTn>
                                        <p:tgtEl>
                                          <p:spTgt spid="41">
                                            <p:txEl>
                                              <p:pRg st="11" end="11"/>
                                            </p:txEl>
                                          </p:spTgt>
                                        </p:tgtEl>
                                        <p:attrNameLst>
                                          <p:attrName>style.visibility</p:attrName>
                                        </p:attrNameLst>
                                      </p:cBhvr>
                                      <p:to>
                                        <p:strVal val="visible"/>
                                      </p:to>
                                    </p:set>
                                    <p:animEffect transition="in" filter="dissolve">
                                      <p:cBhvr>
                                        <p:cTn id="73" dur="500"/>
                                        <p:tgtEl>
                                          <p:spTgt spid="41">
                                            <p:txEl>
                                              <p:pRg st="11" end="11"/>
                                            </p:txEl>
                                          </p:spTgt>
                                        </p:tgtEl>
                                      </p:cBhvr>
                                    </p:animEffect>
                                  </p:childTnLst>
                                </p:cTn>
                              </p:par>
                            </p:childTnLst>
                          </p:cTn>
                        </p:par>
                        <p:par>
                          <p:cTn id="74" fill="hold">
                            <p:stCondLst>
                              <p:cond delay="500"/>
                            </p:stCondLst>
                            <p:childTnLst>
                              <p:par>
                                <p:cTn id="75" presetID="9" presetClass="entr" presetSubtype="0" fill="hold" nodeType="afterEffect">
                                  <p:stCondLst>
                                    <p:cond delay="0"/>
                                  </p:stCondLst>
                                  <p:childTnLst>
                                    <p:set>
                                      <p:cBhvr>
                                        <p:cTn id="76" dur="1" fill="hold">
                                          <p:stCondLst>
                                            <p:cond delay="0"/>
                                          </p:stCondLst>
                                        </p:cTn>
                                        <p:tgtEl>
                                          <p:spTgt spid="41">
                                            <p:txEl>
                                              <p:pRg st="12" end="12"/>
                                            </p:txEl>
                                          </p:spTgt>
                                        </p:tgtEl>
                                        <p:attrNameLst>
                                          <p:attrName>style.visibility</p:attrName>
                                        </p:attrNameLst>
                                      </p:cBhvr>
                                      <p:to>
                                        <p:strVal val="visible"/>
                                      </p:to>
                                    </p:set>
                                    <p:animEffect transition="in" filter="dissolve">
                                      <p:cBhvr>
                                        <p:cTn id="77" dur="500"/>
                                        <p:tgtEl>
                                          <p:spTgt spid="41">
                                            <p:txEl>
                                              <p:pRg st="12" end="12"/>
                                            </p:txEl>
                                          </p:spTgt>
                                        </p:tgtEl>
                                      </p:cBhvr>
                                    </p:animEffect>
                                  </p:childTnLst>
                                </p:cTn>
                              </p:par>
                              <p:par>
                                <p:cTn id="78" presetID="16" presetClass="entr" presetSubtype="37" fill="hold" grpId="0" nodeType="withEffect">
                                  <p:stCondLst>
                                    <p:cond delay="0"/>
                                  </p:stCondLst>
                                  <p:childTnLst>
                                    <p:set>
                                      <p:cBhvr>
                                        <p:cTn id="79" dur="1" fill="hold">
                                          <p:stCondLst>
                                            <p:cond delay="0"/>
                                          </p:stCondLst>
                                        </p:cTn>
                                        <p:tgtEl>
                                          <p:spTgt spid="74"/>
                                        </p:tgtEl>
                                        <p:attrNameLst>
                                          <p:attrName>style.visibility</p:attrName>
                                        </p:attrNameLst>
                                      </p:cBhvr>
                                      <p:to>
                                        <p:strVal val="visible"/>
                                      </p:to>
                                    </p:set>
                                    <p:animEffect transition="in" filter="barn(outVertical)">
                                      <p:cBhvr>
                                        <p:cTn id="80" dur="500"/>
                                        <p:tgtEl>
                                          <p:spTgt spid="74"/>
                                        </p:tgtEl>
                                      </p:cBhvr>
                                    </p:animEffect>
                                  </p:childTnLst>
                                </p:cTn>
                              </p:par>
                              <p:par>
                                <p:cTn id="81" presetID="16" presetClass="entr" presetSubtype="37" fill="hold" grpId="0" nodeType="withEffect">
                                  <p:stCondLst>
                                    <p:cond delay="0"/>
                                  </p:stCondLst>
                                  <p:childTnLst>
                                    <p:set>
                                      <p:cBhvr>
                                        <p:cTn id="82" dur="1" fill="hold">
                                          <p:stCondLst>
                                            <p:cond delay="0"/>
                                          </p:stCondLst>
                                        </p:cTn>
                                        <p:tgtEl>
                                          <p:spTgt spid="119"/>
                                        </p:tgtEl>
                                        <p:attrNameLst>
                                          <p:attrName>style.visibility</p:attrName>
                                        </p:attrNameLst>
                                      </p:cBhvr>
                                      <p:to>
                                        <p:strVal val="visible"/>
                                      </p:to>
                                    </p:set>
                                    <p:animEffect transition="in" filter="barn(outVertical)">
                                      <p:cBhvr>
                                        <p:cTn id="83" dur="500"/>
                                        <p:tgtEl>
                                          <p:spTgt spid="119"/>
                                        </p:tgtEl>
                                      </p:cBhvr>
                                    </p:animEffect>
                                  </p:childTnLst>
                                </p:cTn>
                              </p:par>
                            </p:childTnLst>
                          </p:cTn>
                        </p:par>
                        <p:par>
                          <p:cTn id="84" fill="hold">
                            <p:stCondLst>
                              <p:cond delay="1000"/>
                            </p:stCondLst>
                            <p:childTnLst>
                              <p:par>
                                <p:cTn id="85" presetID="22" presetClass="entr" presetSubtype="1" fill="hold" nodeType="afterEffect">
                                  <p:stCondLst>
                                    <p:cond delay="0"/>
                                  </p:stCondLst>
                                  <p:childTnLst>
                                    <p:set>
                                      <p:cBhvr>
                                        <p:cTn id="86" dur="1" fill="hold">
                                          <p:stCondLst>
                                            <p:cond delay="0"/>
                                          </p:stCondLst>
                                        </p:cTn>
                                        <p:tgtEl>
                                          <p:spTgt spid="17"/>
                                        </p:tgtEl>
                                        <p:attrNameLst>
                                          <p:attrName>style.visibility</p:attrName>
                                        </p:attrNameLst>
                                      </p:cBhvr>
                                      <p:to>
                                        <p:strVal val="visible"/>
                                      </p:to>
                                    </p:set>
                                    <p:animEffect transition="in" filter="wipe(up)">
                                      <p:cBhvr>
                                        <p:cTn id="87" dur="500"/>
                                        <p:tgtEl>
                                          <p:spTgt spid="17"/>
                                        </p:tgtEl>
                                      </p:cBhvr>
                                    </p:animEffect>
                                  </p:childTnLst>
                                </p:cTn>
                              </p:par>
                            </p:childTnLst>
                          </p:cTn>
                        </p:par>
                        <p:par>
                          <p:cTn id="88" fill="hold">
                            <p:stCondLst>
                              <p:cond delay="1500"/>
                            </p:stCondLst>
                            <p:childTnLst>
                              <p:par>
                                <p:cTn id="89" presetID="22" presetClass="entr" presetSubtype="1" fill="hold" nodeType="after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wipe(up)">
                                      <p:cBhvr>
                                        <p:cTn id="9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nimBg="1"/>
      <p:bldP spid="119" grpId="0" animBg="1"/>
      <p:bldP spid="27" grpId="0" animBg="1"/>
      <p:bldP spid="33" grpId="0" animBg="1"/>
      <p:bldP spid="7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CB389-F9BB-52C3-4513-B315F81CDA9A}"/>
            </a:ext>
          </a:extLst>
        </p:cNvPr>
        <p:cNvGrpSpPr/>
        <p:nvPr/>
      </p:nvGrpSpPr>
      <p:grpSpPr>
        <a:xfrm>
          <a:off x="0" y="0"/>
          <a:ext cx="0" cy="0"/>
          <a:chOff x="0" y="0"/>
          <a:chExt cx="0" cy="0"/>
        </a:xfrm>
      </p:grpSpPr>
      <p:sp>
        <p:nvSpPr>
          <p:cNvPr id="21" name="Rounded Rectangle 20">
            <a:extLst>
              <a:ext uri="{FF2B5EF4-FFF2-40B4-BE49-F238E27FC236}">
                <a16:creationId xmlns:a16="http://schemas.microsoft.com/office/drawing/2014/main" id="{E043EF6B-45CE-1B1D-65A3-CCB736767848}"/>
              </a:ext>
            </a:extLst>
          </p:cNvPr>
          <p:cNvSpPr/>
          <p:nvPr/>
        </p:nvSpPr>
        <p:spPr>
          <a:xfrm>
            <a:off x="670" y="895687"/>
            <a:ext cx="12187628" cy="5273102"/>
          </a:xfrm>
          <a:prstGeom prst="roundRect">
            <a:avLst>
              <a:gd name="adj" fmla="val 0"/>
            </a:avLst>
          </a:prstGeom>
          <a:solidFill>
            <a:srgbClr val="F4F8FA"/>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prstTxWarp prst="textNoShape">
              <a:avLst/>
            </a:prstTxWarp>
            <a:noAutofit/>
          </a:bodyPr>
          <a:lstStyle/>
          <a:p>
            <a:pPr marL="0" marR="0" lvl="0" indent="0" algn="ctr" defTabSz="913852"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0" name="Rectangle: Rounded Corners 171">
            <a:extLst>
              <a:ext uri="{FF2B5EF4-FFF2-40B4-BE49-F238E27FC236}">
                <a16:creationId xmlns:a16="http://schemas.microsoft.com/office/drawing/2014/main" id="{8D84430E-8395-6667-95D5-B85DCB8F2974}"/>
              </a:ext>
            </a:extLst>
          </p:cNvPr>
          <p:cNvSpPr/>
          <p:nvPr/>
        </p:nvSpPr>
        <p:spPr>
          <a:xfrm>
            <a:off x="495602" y="1028100"/>
            <a:ext cx="3473498" cy="4990868"/>
          </a:xfrm>
          <a:prstGeom prst="roundRect">
            <a:avLst>
              <a:gd name="adj" fmla="val 2239"/>
            </a:avLst>
          </a:prstGeom>
          <a:solidFill>
            <a:schemeClr val="bg1"/>
          </a:solidFill>
          <a:ln w="12700">
            <a:solidFill>
              <a:schemeClr val="bg1">
                <a:lumMod val="75000"/>
              </a:schemeClr>
            </a:solidFill>
            <a:prstDash val="solid"/>
            <a:extLst>
              <a:ext uri="{C807C97D-BFC1-408E-A445-0C87EB9F89A2}">
                <ask:lineSketchStyleProps xmlns:ask="http://schemas.microsoft.com/office/drawing/2018/sketchyshapes">
                  <ask:type>
                    <ask:lineSketchNone/>
                  </ask:type>
                </ask:lineSketchStyleProps>
              </a:ext>
            </a:extLs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4" name="Rectangle: Rounded Corners 171">
            <a:extLst>
              <a:ext uri="{FF2B5EF4-FFF2-40B4-BE49-F238E27FC236}">
                <a16:creationId xmlns:a16="http://schemas.microsoft.com/office/drawing/2014/main" id="{1ADDE1EC-E18C-360B-BC20-CA9A25E1714F}"/>
              </a:ext>
            </a:extLst>
          </p:cNvPr>
          <p:cNvSpPr/>
          <p:nvPr/>
        </p:nvSpPr>
        <p:spPr>
          <a:xfrm>
            <a:off x="4187022" y="1028100"/>
            <a:ext cx="7393786" cy="4990868"/>
          </a:xfrm>
          <a:prstGeom prst="roundRect">
            <a:avLst>
              <a:gd name="adj" fmla="val 2239"/>
            </a:avLst>
          </a:prstGeom>
          <a:solidFill>
            <a:schemeClr val="bg1"/>
          </a:solidFill>
          <a:ln w="12700">
            <a:solidFill>
              <a:schemeClr val="bg1">
                <a:lumMod val="75000"/>
              </a:schemeClr>
            </a:solidFill>
            <a:prstDash val="solid"/>
            <a:extLst>
              <a:ext uri="{C807C97D-BFC1-408E-A445-0C87EB9F89A2}">
                <ask:lineSketchStyleProps xmlns:ask="http://schemas.microsoft.com/office/drawing/2018/sketchyshapes">
                  <ask:type>
                    <ask:lineSketchNone/>
                  </ask:type>
                </ask:lineSketchStyleProps>
              </a:ext>
            </a:extLs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4" name="Rectangle: Rounded Corners 174">
            <a:extLst>
              <a:ext uri="{FF2B5EF4-FFF2-40B4-BE49-F238E27FC236}">
                <a16:creationId xmlns:a16="http://schemas.microsoft.com/office/drawing/2014/main" id="{C93D5947-0128-6CBE-694E-A44D72175F71}"/>
              </a:ext>
            </a:extLst>
          </p:cNvPr>
          <p:cNvSpPr/>
          <p:nvPr/>
        </p:nvSpPr>
        <p:spPr>
          <a:xfrm>
            <a:off x="4422869" y="1870794"/>
            <a:ext cx="5064625" cy="3699280"/>
          </a:xfrm>
          <a:prstGeom prst="roundRect">
            <a:avLst>
              <a:gd name="adj" fmla="val 2320"/>
            </a:avLst>
          </a:prstGeom>
          <a:noFill/>
          <a:ln w="25400">
            <a:solidFill>
              <a:schemeClr val="tx1"/>
            </a:solidFill>
            <a:prstDash val="sysDash"/>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 name="Title 1">
            <a:extLst>
              <a:ext uri="{FF2B5EF4-FFF2-40B4-BE49-F238E27FC236}">
                <a16:creationId xmlns:a16="http://schemas.microsoft.com/office/drawing/2014/main" id="{AAEBA3F8-4731-5EB2-DC45-E40AF135836C}"/>
              </a:ext>
            </a:extLst>
          </p:cNvPr>
          <p:cNvSpPr>
            <a:spLocks noGrp="1"/>
          </p:cNvSpPr>
          <p:nvPr>
            <p:ph type="title"/>
          </p:nvPr>
        </p:nvSpPr>
        <p:spPr/>
        <p:txBody>
          <a:bodyPr/>
          <a:lstStyle/>
          <a:p>
            <a:r>
              <a:rPr lang="en-US" dirty="0"/>
              <a:t>Workload Domain and Cluster Topologies</a:t>
            </a:r>
          </a:p>
        </p:txBody>
      </p:sp>
      <p:sp>
        <p:nvSpPr>
          <p:cNvPr id="141" name="Rectangle: Rounded Corners 174">
            <a:extLst>
              <a:ext uri="{FF2B5EF4-FFF2-40B4-BE49-F238E27FC236}">
                <a16:creationId xmlns:a16="http://schemas.microsoft.com/office/drawing/2014/main" id="{DD7FC8CE-2849-C2AA-1E8F-7F6E6DC5379C}"/>
              </a:ext>
            </a:extLst>
          </p:cNvPr>
          <p:cNvSpPr/>
          <p:nvPr/>
        </p:nvSpPr>
        <p:spPr>
          <a:xfrm>
            <a:off x="4511880" y="2149384"/>
            <a:ext cx="1539668" cy="3391496"/>
          </a:xfrm>
          <a:prstGeom prst="roundRect">
            <a:avLst>
              <a:gd name="adj" fmla="val 2320"/>
            </a:avLst>
          </a:prstGeom>
          <a:solidFill>
            <a:schemeClr val="bg1">
              <a:lumMod val="95000"/>
            </a:schemeClr>
          </a:solidFill>
          <a:ln w="12700">
            <a:solidFill>
              <a:schemeClr val="bg2">
                <a:lumMod val="50000"/>
              </a:scheme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42" name="Rectangle 141">
            <a:extLst>
              <a:ext uri="{FF2B5EF4-FFF2-40B4-BE49-F238E27FC236}">
                <a16:creationId xmlns:a16="http://schemas.microsoft.com/office/drawing/2014/main" id="{E6A25293-5C3B-884C-A000-A4DB20AB4B99}"/>
              </a:ext>
            </a:extLst>
          </p:cNvPr>
          <p:cNvSpPr/>
          <p:nvPr/>
        </p:nvSpPr>
        <p:spPr>
          <a:xfrm>
            <a:off x="4511880" y="2233653"/>
            <a:ext cx="1429192"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000" kern="0" dirty="0">
                <a:solidFill>
                  <a:srgbClr val="000001"/>
                </a:solidFill>
                <a:latin typeface="Arial" panose="020B0604020202020204" pitchFamily="34" charset="0"/>
              </a:rPr>
              <a:t>Rack</a:t>
            </a:r>
            <a:endPar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48" name="Rectangle: Rounded Corners 174">
            <a:extLst>
              <a:ext uri="{FF2B5EF4-FFF2-40B4-BE49-F238E27FC236}">
                <a16:creationId xmlns:a16="http://schemas.microsoft.com/office/drawing/2014/main" id="{4C659A7C-7FCB-BDAE-0C89-7EF6B5AF85B6}"/>
              </a:ext>
            </a:extLst>
          </p:cNvPr>
          <p:cNvSpPr/>
          <p:nvPr/>
        </p:nvSpPr>
        <p:spPr>
          <a:xfrm>
            <a:off x="6196620" y="2140186"/>
            <a:ext cx="1539668" cy="3391496"/>
          </a:xfrm>
          <a:prstGeom prst="roundRect">
            <a:avLst>
              <a:gd name="adj" fmla="val 2771"/>
            </a:avLst>
          </a:prstGeom>
          <a:solidFill>
            <a:schemeClr val="bg1">
              <a:lumMod val="95000"/>
            </a:schemeClr>
          </a:solidFill>
          <a:ln w="12700">
            <a:solidFill>
              <a:schemeClr val="bg2">
                <a:lumMod val="50000"/>
              </a:scheme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49" name="Rectangle 148">
            <a:extLst>
              <a:ext uri="{FF2B5EF4-FFF2-40B4-BE49-F238E27FC236}">
                <a16:creationId xmlns:a16="http://schemas.microsoft.com/office/drawing/2014/main" id="{AE99CD0F-8199-941D-1D55-2DC763C3162C}"/>
              </a:ext>
            </a:extLst>
          </p:cNvPr>
          <p:cNvSpPr/>
          <p:nvPr/>
        </p:nvSpPr>
        <p:spPr>
          <a:xfrm>
            <a:off x="6196620" y="2224455"/>
            <a:ext cx="1429192"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000" kern="0" dirty="0">
                <a:solidFill>
                  <a:srgbClr val="000001"/>
                </a:solidFill>
                <a:latin typeface="Arial" panose="020B0604020202020204" pitchFamily="34" charset="0"/>
              </a:rPr>
              <a:t>Rack</a:t>
            </a:r>
            <a:endPar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55" name="Rectangle: Rounded Corners 174">
            <a:extLst>
              <a:ext uri="{FF2B5EF4-FFF2-40B4-BE49-F238E27FC236}">
                <a16:creationId xmlns:a16="http://schemas.microsoft.com/office/drawing/2014/main" id="{E3A3D7C0-1E06-F917-315B-86BFFCD0AAFE}"/>
              </a:ext>
            </a:extLst>
          </p:cNvPr>
          <p:cNvSpPr/>
          <p:nvPr/>
        </p:nvSpPr>
        <p:spPr>
          <a:xfrm>
            <a:off x="7861132" y="2140959"/>
            <a:ext cx="1539668" cy="3391496"/>
          </a:xfrm>
          <a:prstGeom prst="roundRect">
            <a:avLst>
              <a:gd name="adj" fmla="val 2771"/>
            </a:avLst>
          </a:prstGeom>
          <a:solidFill>
            <a:schemeClr val="bg1">
              <a:lumMod val="95000"/>
            </a:schemeClr>
          </a:solidFill>
          <a:ln w="12700">
            <a:solidFill>
              <a:schemeClr val="bg2">
                <a:lumMod val="50000"/>
              </a:scheme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56" name="Rectangle 155">
            <a:extLst>
              <a:ext uri="{FF2B5EF4-FFF2-40B4-BE49-F238E27FC236}">
                <a16:creationId xmlns:a16="http://schemas.microsoft.com/office/drawing/2014/main" id="{6D137B25-3400-0E87-F938-14A130EAE395}"/>
              </a:ext>
            </a:extLst>
          </p:cNvPr>
          <p:cNvSpPr/>
          <p:nvPr/>
        </p:nvSpPr>
        <p:spPr>
          <a:xfrm>
            <a:off x="7861132" y="2225228"/>
            <a:ext cx="1429192"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000" kern="0" dirty="0">
                <a:solidFill>
                  <a:srgbClr val="000001"/>
                </a:solidFill>
                <a:latin typeface="Arial" panose="020B0604020202020204" pitchFamily="34" charset="0"/>
              </a:rPr>
              <a:t>Rack</a:t>
            </a:r>
            <a:endPar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17" name="Group 16">
            <a:extLst>
              <a:ext uri="{FF2B5EF4-FFF2-40B4-BE49-F238E27FC236}">
                <a16:creationId xmlns:a16="http://schemas.microsoft.com/office/drawing/2014/main" id="{0D7DE672-DC80-C0AE-04A8-F8AA2EC4FE43}"/>
              </a:ext>
            </a:extLst>
          </p:cNvPr>
          <p:cNvGrpSpPr/>
          <p:nvPr/>
        </p:nvGrpSpPr>
        <p:grpSpPr>
          <a:xfrm>
            <a:off x="4610979" y="2429103"/>
            <a:ext cx="1342795" cy="1028166"/>
            <a:chOff x="4610979" y="2429103"/>
            <a:chExt cx="1342795" cy="1028166"/>
          </a:xfrm>
        </p:grpSpPr>
        <p:sp>
          <p:nvSpPr>
            <p:cNvPr id="169" name="Rectangle: Rounded Corners 174">
              <a:extLst>
                <a:ext uri="{FF2B5EF4-FFF2-40B4-BE49-F238E27FC236}">
                  <a16:creationId xmlns:a16="http://schemas.microsoft.com/office/drawing/2014/main" id="{841E6A13-1DB4-F799-CFAB-6C40E8C57977}"/>
                </a:ext>
              </a:extLst>
            </p:cNvPr>
            <p:cNvSpPr/>
            <p:nvPr/>
          </p:nvSpPr>
          <p:spPr>
            <a:xfrm>
              <a:off x="4610979" y="2429103"/>
              <a:ext cx="1342794" cy="1028166"/>
            </a:xfrm>
            <a:prstGeom prst="roundRect">
              <a:avLst>
                <a:gd name="adj" fmla="val 7958"/>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0" name="Rectangle 169">
              <a:extLst>
                <a:ext uri="{FF2B5EF4-FFF2-40B4-BE49-F238E27FC236}">
                  <a16:creationId xmlns:a16="http://schemas.microsoft.com/office/drawing/2014/main" id="{EFF8D3EF-FE4A-7E15-4352-35B7A47BCC94}"/>
                </a:ext>
              </a:extLst>
            </p:cNvPr>
            <p:cNvSpPr/>
            <p:nvPr/>
          </p:nvSpPr>
          <p:spPr>
            <a:xfrm>
              <a:off x="4610980" y="2516365"/>
              <a:ext cx="1342794"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Workload Domain 1</a:t>
              </a:r>
            </a:p>
          </p:txBody>
        </p:sp>
        <p:sp>
          <p:nvSpPr>
            <p:cNvPr id="171" name="Rectangle 170">
              <a:extLst>
                <a:ext uri="{FF2B5EF4-FFF2-40B4-BE49-F238E27FC236}">
                  <a16:creationId xmlns:a16="http://schemas.microsoft.com/office/drawing/2014/main" id="{F69C9EA6-0A3D-17B9-E0DA-8635276A3A19}"/>
                </a:ext>
              </a:extLst>
            </p:cNvPr>
            <p:cNvSpPr/>
            <p:nvPr/>
          </p:nvSpPr>
          <p:spPr bwMode="gray">
            <a:xfrm>
              <a:off x="4716674" y="2738890"/>
              <a:ext cx="1173599" cy="252060"/>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Standard Cluster</a:t>
              </a:r>
            </a:p>
          </p:txBody>
        </p:sp>
      </p:grpSp>
      <p:sp>
        <p:nvSpPr>
          <p:cNvPr id="172" name="Rectangle 171">
            <a:extLst>
              <a:ext uri="{FF2B5EF4-FFF2-40B4-BE49-F238E27FC236}">
                <a16:creationId xmlns:a16="http://schemas.microsoft.com/office/drawing/2014/main" id="{FF027082-3F1B-61CF-C883-797D35C1AC17}"/>
              </a:ext>
            </a:extLst>
          </p:cNvPr>
          <p:cNvSpPr/>
          <p:nvPr/>
        </p:nvSpPr>
        <p:spPr bwMode="gray">
          <a:xfrm>
            <a:off x="4716674" y="3081647"/>
            <a:ext cx="1173599" cy="252060"/>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Standard Cluster</a:t>
            </a:r>
          </a:p>
        </p:txBody>
      </p:sp>
      <p:grpSp>
        <p:nvGrpSpPr>
          <p:cNvPr id="28" name="Group 27">
            <a:extLst>
              <a:ext uri="{FF2B5EF4-FFF2-40B4-BE49-F238E27FC236}">
                <a16:creationId xmlns:a16="http://schemas.microsoft.com/office/drawing/2014/main" id="{F8C55893-7408-ABFD-1609-996E22219CCC}"/>
              </a:ext>
            </a:extLst>
          </p:cNvPr>
          <p:cNvGrpSpPr/>
          <p:nvPr/>
        </p:nvGrpSpPr>
        <p:grpSpPr>
          <a:xfrm>
            <a:off x="4620430" y="4753966"/>
            <a:ext cx="3050698" cy="702869"/>
            <a:chOff x="4620430" y="4753966"/>
            <a:chExt cx="3050698" cy="702869"/>
          </a:xfrm>
        </p:grpSpPr>
        <p:sp>
          <p:nvSpPr>
            <p:cNvPr id="178" name="Rectangle: Rounded Corners 174">
              <a:extLst>
                <a:ext uri="{FF2B5EF4-FFF2-40B4-BE49-F238E27FC236}">
                  <a16:creationId xmlns:a16="http://schemas.microsoft.com/office/drawing/2014/main" id="{B7B7B673-2025-197B-78AF-9ABD0F57F64A}"/>
                </a:ext>
              </a:extLst>
            </p:cNvPr>
            <p:cNvSpPr/>
            <p:nvPr/>
          </p:nvSpPr>
          <p:spPr>
            <a:xfrm>
              <a:off x="4620430" y="4753966"/>
              <a:ext cx="3050698" cy="702869"/>
            </a:xfrm>
            <a:prstGeom prst="roundRect">
              <a:avLst>
                <a:gd name="adj" fmla="val 7958"/>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9" name="Rectangle 178">
              <a:extLst>
                <a:ext uri="{FF2B5EF4-FFF2-40B4-BE49-F238E27FC236}">
                  <a16:creationId xmlns:a16="http://schemas.microsoft.com/office/drawing/2014/main" id="{764BF49F-4F7E-FAA7-394A-2FB8F6C83DED}"/>
                </a:ext>
              </a:extLst>
            </p:cNvPr>
            <p:cNvSpPr/>
            <p:nvPr/>
          </p:nvSpPr>
          <p:spPr>
            <a:xfrm>
              <a:off x="4620432" y="4812987"/>
              <a:ext cx="1342794"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Workload Domain 3</a:t>
              </a:r>
            </a:p>
          </p:txBody>
        </p:sp>
      </p:grpSp>
      <p:sp>
        <p:nvSpPr>
          <p:cNvPr id="180" name="Rectangle 179">
            <a:extLst>
              <a:ext uri="{FF2B5EF4-FFF2-40B4-BE49-F238E27FC236}">
                <a16:creationId xmlns:a16="http://schemas.microsoft.com/office/drawing/2014/main" id="{2A4A8F29-F677-45A2-B513-DBC9DC36B780}"/>
              </a:ext>
            </a:extLst>
          </p:cNvPr>
          <p:cNvSpPr/>
          <p:nvPr/>
        </p:nvSpPr>
        <p:spPr bwMode="gray">
          <a:xfrm>
            <a:off x="4726126" y="5031652"/>
            <a:ext cx="1173599" cy="252060"/>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Storage Cluster</a:t>
            </a:r>
          </a:p>
        </p:txBody>
      </p:sp>
      <p:sp>
        <p:nvSpPr>
          <p:cNvPr id="182" name="Rectangle 181">
            <a:extLst>
              <a:ext uri="{FF2B5EF4-FFF2-40B4-BE49-F238E27FC236}">
                <a16:creationId xmlns:a16="http://schemas.microsoft.com/office/drawing/2014/main" id="{680100E0-0351-4B2D-0B5A-7E88C4ECC271}"/>
              </a:ext>
            </a:extLst>
          </p:cNvPr>
          <p:cNvSpPr/>
          <p:nvPr/>
        </p:nvSpPr>
        <p:spPr bwMode="gray">
          <a:xfrm>
            <a:off x="6369540" y="5023090"/>
            <a:ext cx="1173599" cy="252060"/>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Compute Cluster</a:t>
            </a:r>
          </a:p>
        </p:txBody>
      </p:sp>
      <p:sp>
        <p:nvSpPr>
          <p:cNvPr id="187" name="Rectangle 186">
            <a:extLst>
              <a:ext uri="{FF2B5EF4-FFF2-40B4-BE49-F238E27FC236}">
                <a16:creationId xmlns:a16="http://schemas.microsoft.com/office/drawing/2014/main" id="{6DFA625C-6250-8A6F-BB09-E15280161B0C}"/>
              </a:ext>
            </a:extLst>
          </p:cNvPr>
          <p:cNvSpPr/>
          <p:nvPr/>
        </p:nvSpPr>
        <p:spPr>
          <a:xfrm>
            <a:off x="6196620" y="1923152"/>
            <a:ext cx="1429192"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Availability Zone 1</a:t>
            </a:r>
          </a:p>
        </p:txBody>
      </p:sp>
      <p:grpSp>
        <p:nvGrpSpPr>
          <p:cNvPr id="23" name="Group 22">
            <a:extLst>
              <a:ext uri="{FF2B5EF4-FFF2-40B4-BE49-F238E27FC236}">
                <a16:creationId xmlns:a16="http://schemas.microsoft.com/office/drawing/2014/main" id="{4F2C644E-FD7E-713A-9FD9-1BC90F012ADB}"/>
              </a:ext>
            </a:extLst>
          </p:cNvPr>
          <p:cNvGrpSpPr/>
          <p:nvPr/>
        </p:nvGrpSpPr>
        <p:grpSpPr>
          <a:xfrm>
            <a:off x="9593189" y="1876050"/>
            <a:ext cx="1733954" cy="3694483"/>
            <a:chOff x="9593189" y="1876050"/>
            <a:chExt cx="1733954" cy="3694483"/>
          </a:xfrm>
        </p:grpSpPr>
        <p:sp>
          <p:nvSpPr>
            <p:cNvPr id="162" name="Rectangle: Rounded Corners 174">
              <a:extLst>
                <a:ext uri="{FF2B5EF4-FFF2-40B4-BE49-F238E27FC236}">
                  <a16:creationId xmlns:a16="http://schemas.microsoft.com/office/drawing/2014/main" id="{AD88FDA2-5492-484E-E517-1AD6046733F0}"/>
                </a:ext>
              </a:extLst>
            </p:cNvPr>
            <p:cNvSpPr/>
            <p:nvPr/>
          </p:nvSpPr>
          <p:spPr>
            <a:xfrm>
              <a:off x="9682958" y="2140186"/>
              <a:ext cx="1539668" cy="3391496"/>
            </a:xfrm>
            <a:prstGeom prst="roundRect">
              <a:avLst>
                <a:gd name="adj" fmla="val 2771"/>
              </a:avLst>
            </a:prstGeom>
            <a:solidFill>
              <a:schemeClr val="bg1">
                <a:lumMod val="95000"/>
              </a:schemeClr>
            </a:solidFill>
            <a:ln w="12700">
              <a:solidFill>
                <a:schemeClr val="bg2">
                  <a:lumMod val="50000"/>
                </a:scheme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63" name="Rectangle 162">
              <a:extLst>
                <a:ext uri="{FF2B5EF4-FFF2-40B4-BE49-F238E27FC236}">
                  <a16:creationId xmlns:a16="http://schemas.microsoft.com/office/drawing/2014/main" id="{5940E426-8E6C-3513-4B1E-57A35895C84E}"/>
                </a:ext>
              </a:extLst>
            </p:cNvPr>
            <p:cNvSpPr/>
            <p:nvPr/>
          </p:nvSpPr>
          <p:spPr>
            <a:xfrm>
              <a:off x="9682958" y="2224455"/>
              <a:ext cx="1429192"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000" kern="0" dirty="0">
                  <a:solidFill>
                    <a:srgbClr val="000001"/>
                  </a:solidFill>
                  <a:latin typeface="Arial" panose="020B0604020202020204" pitchFamily="34" charset="0"/>
                </a:rPr>
                <a:t>Rack</a:t>
              </a:r>
              <a:endPar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5" name="Rectangle: Rounded Corners 174">
              <a:extLst>
                <a:ext uri="{FF2B5EF4-FFF2-40B4-BE49-F238E27FC236}">
                  <a16:creationId xmlns:a16="http://schemas.microsoft.com/office/drawing/2014/main" id="{FDB31F55-6E9D-2F58-FD40-0C789A794DE8}"/>
                </a:ext>
              </a:extLst>
            </p:cNvPr>
            <p:cNvSpPr/>
            <p:nvPr/>
          </p:nvSpPr>
          <p:spPr>
            <a:xfrm>
              <a:off x="9593189" y="1876050"/>
              <a:ext cx="1733954" cy="3694483"/>
            </a:xfrm>
            <a:prstGeom prst="roundRect">
              <a:avLst>
                <a:gd name="adj" fmla="val 2320"/>
              </a:avLst>
            </a:prstGeom>
            <a:noFill/>
            <a:ln w="25400">
              <a:solidFill>
                <a:schemeClr val="tx1"/>
              </a:solidFill>
              <a:prstDash val="sysDash"/>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8" name="Rectangle 187">
              <a:extLst>
                <a:ext uri="{FF2B5EF4-FFF2-40B4-BE49-F238E27FC236}">
                  <a16:creationId xmlns:a16="http://schemas.microsoft.com/office/drawing/2014/main" id="{49D7540B-3B97-C292-51D0-7992FF6A9073}"/>
                </a:ext>
              </a:extLst>
            </p:cNvPr>
            <p:cNvSpPr/>
            <p:nvPr/>
          </p:nvSpPr>
          <p:spPr>
            <a:xfrm>
              <a:off x="9754362" y="1917898"/>
              <a:ext cx="1429192"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Availability Zone 2</a:t>
              </a:r>
            </a:p>
          </p:txBody>
        </p:sp>
      </p:grpSp>
      <p:sp>
        <p:nvSpPr>
          <p:cNvPr id="189" name="Rectangle: Rounded Corners 174">
            <a:extLst>
              <a:ext uri="{FF2B5EF4-FFF2-40B4-BE49-F238E27FC236}">
                <a16:creationId xmlns:a16="http://schemas.microsoft.com/office/drawing/2014/main" id="{EF2C9CE9-FB4F-B25F-5BD6-4D303BD33374}"/>
              </a:ext>
            </a:extLst>
          </p:cNvPr>
          <p:cNvSpPr/>
          <p:nvPr/>
        </p:nvSpPr>
        <p:spPr>
          <a:xfrm>
            <a:off x="4335949" y="1578326"/>
            <a:ext cx="7082893" cy="4082735"/>
          </a:xfrm>
          <a:prstGeom prst="roundRect">
            <a:avLst>
              <a:gd name="adj" fmla="val 2320"/>
            </a:avLst>
          </a:prstGeom>
          <a:noFill/>
          <a:ln w="9525">
            <a:solidFill>
              <a:schemeClr val="tx1"/>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0" name="Rectangle 189">
            <a:extLst>
              <a:ext uri="{FF2B5EF4-FFF2-40B4-BE49-F238E27FC236}">
                <a16:creationId xmlns:a16="http://schemas.microsoft.com/office/drawing/2014/main" id="{26593C2A-21B0-2887-0CFE-FCCC10A6FF28}"/>
              </a:ext>
            </a:extLst>
          </p:cNvPr>
          <p:cNvSpPr/>
          <p:nvPr/>
        </p:nvSpPr>
        <p:spPr>
          <a:xfrm>
            <a:off x="7021692" y="1618282"/>
            <a:ext cx="1429192"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solidFill>
                  <a:srgbClr val="000001"/>
                </a:solidFill>
                <a:latin typeface="Arial" panose="020B0604020202020204" pitchFamily="34" charset="0"/>
              </a:rPr>
              <a:t>VCF Instance</a:t>
            </a:r>
            <a:endParaRPr kumimoji="0" lang="en-US" sz="12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5" name="Rectangle 194">
            <a:extLst>
              <a:ext uri="{FF2B5EF4-FFF2-40B4-BE49-F238E27FC236}">
                <a16:creationId xmlns:a16="http://schemas.microsoft.com/office/drawing/2014/main" id="{ED2779F9-1901-094D-F835-CB44F9C704B7}"/>
              </a:ext>
            </a:extLst>
          </p:cNvPr>
          <p:cNvSpPr/>
          <p:nvPr/>
        </p:nvSpPr>
        <p:spPr>
          <a:xfrm>
            <a:off x="527302" y="1242374"/>
            <a:ext cx="1608775" cy="369332"/>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200" u="none" strike="noStrike" kern="0" cap="none" spc="0" normalizeH="0" baseline="0" noProof="0" dirty="0">
                <a:ln>
                  <a:noFill/>
                </a:ln>
                <a:effectLst/>
                <a:uLnTx/>
                <a:uFillTx/>
                <a:latin typeface="Arial" panose="020B0604020202020204" pitchFamily="34" charset="0"/>
                <a:ea typeface="+mn-ea"/>
                <a:cs typeface="+mn-cs"/>
              </a:rPr>
              <a:t>Management &amp; Workload Domains </a:t>
            </a:r>
          </a:p>
        </p:txBody>
      </p:sp>
      <p:sp>
        <p:nvSpPr>
          <p:cNvPr id="197" name="Rectangle 196">
            <a:extLst>
              <a:ext uri="{FF2B5EF4-FFF2-40B4-BE49-F238E27FC236}">
                <a16:creationId xmlns:a16="http://schemas.microsoft.com/office/drawing/2014/main" id="{6398CE9B-0E90-9720-4AA5-AB750A6F3131}"/>
              </a:ext>
            </a:extLst>
          </p:cNvPr>
          <p:cNvSpPr/>
          <p:nvPr/>
        </p:nvSpPr>
        <p:spPr>
          <a:xfrm>
            <a:off x="4479028" y="1242571"/>
            <a:ext cx="1429192"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latin typeface="Arial" panose="020B0604020202020204" pitchFamily="34" charset="0"/>
              </a:rPr>
              <a:t>Standard Cluster</a:t>
            </a:r>
            <a:endParaRPr kumimoji="0" lang="en-US" sz="1200" u="none" strike="noStrike" kern="0" cap="none" spc="0" normalizeH="0" baseline="0" noProof="0" dirty="0">
              <a:ln>
                <a:noFill/>
              </a:ln>
              <a:effectLst/>
              <a:uLnTx/>
              <a:uFillTx/>
              <a:latin typeface="Arial" panose="020B0604020202020204" pitchFamily="34" charset="0"/>
              <a:ea typeface="+mn-ea"/>
              <a:cs typeface="+mn-cs"/>
            </a:endParaRPr>
          </a:p>
        </p:txBody>
      </p:sp>
      <p:sp>
        <p:nvSpPr>
          <p:cNvPr id="198" name="Rectangle 197">
            <a:extLst>
              <a:ext uri="{FF2B5EF4-FFF2-40B4-BE49-F238E27FC236}">
                <a16:creationId xmlns:a16="http://schemas.microsoft.com/office/drawing/2014/main" id="{9FBE9D91-0140-B3AD-7482-D052F7A9C373}"/>
              </a:ext>
            </a:extLst>
          </p:cNvPr>
          <p:cNvSpPr/>
          <p:nvPr/>
        </p:nvSpPr>
        <p:spPr>
          <a:xfrm>
            <a:off x="6429639" y="1240786"/>
            <a:ext cx="1828437"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latin typeface="Arial" panose="020B0604020202020204" pitchFamily="34" charset="0"/>
              </a:rPr>
              <a:t>Multi-rack Cluster</a:t>
            </a:r>
            <a:endParaRPr kumimoji="0" lang="en-US" sz="1200" u="none" strike="noStrike" kern="0" cap="none" spc="0" normalizeH="0" baseline="0" noProof="0" dirty="0">
              <a:ln>
                <a:noFill/>
              </a:ln>
              <a:effectLst/>
              <a:uLnTx/>
              <a:uFillTx/>
              <a:latin typeface="Arial" panose="020B0604020202020204" pitchFamily="34" charset="0"/>
              <a:ea typeface="+mn-ea"/>
              <a:cs typeface="+mn-cs"/>
            </a:endParaRPr>
          </a:p>
        </p:txBody>
      </p:sp>
      <p:sp>
        <p:nvSpPr>
          <p:cNvPr id="199" name="Rectangle 198">
            <a:extLst>
              <a:ext uri="{FF2B5EF4-FFF2-40B4-BE49-F238E27FC236}">
                <a16:creationId xmlns:a16="http://schemas.microsoft.com/office/drawing/2014/main" id="{8EAB8078-4920-44CB-817B-EE70FAEFD088}"/>
              </a:ext>
            </a:extLst>
          </p:cNvPr>
          <p:cNvSpPr/>
          <p:nvPr/>
        </p:nvSpPr>
        <p:spPr>
          <a:xfrm>
            <a:off x="8634624" y="1238417"/>
            <a:ext cx="1828436"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latin typeface="Arial" panose="020B0604020202020204" pitchFamily="34" charset="0"/>
              </a:rPr>
              <a:t>Stretched Cluster</a:t>
            </a:r>
            <a:endParaRPr kumimoji="0" lang="en-US" sz="1200" u="none" strike="noStrike" kern="0" cap="none" spc="0" normalizeH="0" baseline="0" noProof="0" dirty="0">
              <a:ln>
                <a:noFill/>
              </a:ln>
              <a:effectLst/>
              <a:uLnTx/>
              <a:uFillTx/>
              <a:latin typeface="Arial" panose="020B0604020202020204" pitchFamily="34" charset="0"/>
              <a:ea typeface="+mn-ea"/>
              <a:cs typeface="+mn-cs"/>
            </a:endParaRPr>
          </a:p>
        </p:txBody>
      </p:sp>
      <p:sp>
        <p:nvSpPr>
          <p:cNvPr id="201" name="Rectangle 200">
            <a:extLst>
              <a:ext uri="{FF2B5EF4-FFF2-40B4-BE49-F238E27FC236}">
                <a16:creationId xmlns:a16="http://schemas.microsoft.com/office/drawing/2014/main" id="{6F2E490C-7A2C-14A0-2D33-2B8DDC7E23A4}"/>
              </a:ext>
            </a:extLst>
          </p:cNvPr>
          <p:cNvSpPr/>
          <p:nvPr/>
        </p:nvSpPr>
        <p:spPr>
          <a:xfrm>
            <a:off x="4458092" y="5743769"/>
            <a:ext cx="1620350"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latin typeface="Arial" panose="020B0604020202020204" pitchFamily="34" charset="0"/>
              </a:rPr>
              <a:t>Storage Cluster</a:t>
            </a:r>
            <a:endParaRPr kumimoji="0" lang="en-US" sz="1200" u="none" strike="noStrike" kern="0" cap="none" spc="0" normalizeH="0" baseline="0" noProof="0" dirty="0">
              <a:ln>
                <a:noFill/>
              </a:ln>
              <a:effectLst/>
              <a:uLnTx/>
              <a:uFillTx/>
              <a:latin typeface="Arial" panose="020B0604020202020204" pitchFamily="34" charset="0"/>
              <a:ea typeface="+mn-ea"/>
              <a:cs typeface="+mn-cs"/>
            </a:endParaRPr>
          </a:p>
        </p:txBody>
      </p:sp>
      <p:sp>
        <p:nvSpPr>
          <p:cNvPr id="202" name="Rectangle 201">
            <a:extLst>
              <a:ext uri="{FF2B5EF4-FFF2-40B4-BE49-F238E27FC236}">
                <a16:creationId xmlns:a16="http://schemas.microsoft.com/office/drawing/2014/main" id="{2E4EF353-D5BD-8949-127D-9A937ADEC729}"/>
              </a:ext>
            </a:extLst>
          </p:cNvPr>
          <p:cNvSpPr/>
          <p:nvPr/>
        </p:nvSpPr>
        <p:spPr>
          <a:xfrm>
            <a:off x="6159124" y="5738766"/>
            <a:ext cx="1620350"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latin typeface="Arial" panose="020B0604020202020204" pitchFamily="34" charset="0"/>
              </a:rPr>
              <a:t>Compute Cluster</a:t>
            </a:r>
            <a:endParaRPr kumimoji="0" lang="en-US" sz="1200" u="none" strike="noStrike" kern="0" cap="none" spc="0" normalizeH="0" baseline="0" noProof="0" dirty="0">
              <a:ln>
                <a:noFill/>
              </a:ln>
              <a:effectLst/>
              <a:uLnTx/>
              <a:uFillTx/>
              <a:latin typeface="Arial" panose="020B0604020202020204" pitchFamily="34" charset="0"/>
              <a:ea typeface="+mn-ea"/>
              <a:cs typeface="+mn-cs"/>
            </a:endParaRPr>
          </a:p>
        </p:txBody>
      </p:sp>
      <p:grpSp>
        <p:nvGrpSpPr>
          <p:cNvPr id="11" name="Group 10">
            <a:extLst>
              <a:ext uri="{FF2B5EF4-FFF2-40B4-BE49-F238E27FC236}">
                <a16:creationId xmlns:a16="http://schemas.microsoft.com/office/drawing/2014/main" id="{BD1F994D-D96F-FDDE-ED93-351C11A2097C}"/>
              </a:ext>
            </a:extLst>
          </p:cNvPr>
          <p:cNvGrpSpPr/>
          <p:nvPr/>
        </p:nvGrpSpPr>
        <p:grpSpPr>
          <a:xfrm>
            <a:off x="709673" y="3783791"/>
            <a:ext cx="1211169" cy="1542060"/>
            <a:chOff x="709673" y="3783791"/>
            <a:chExt cx="1211169" cy="1542060"/>
          </a:xfrm>
        </p:grpSpPr>
        <p:sp>
          <p:nvSpPr>
            <p:cNvPr id="104" name="Rectangle: Rounded Corners 174">
              <a:extLst>
                <a:ext uri="{FF2B5EF4-FFF2-40B4-BE49-F238E27FC236}">
                  <a16:creationId xmlns:a16="http://schemas.microsoft.com/office/drawing/2014/main" id="{869AD080-F065-0158-EEE4-76D2B78C2AAB}"/>
                </a:ext>
              </a:extLst>
            </p:cNvPr>
            <p:cNvSpPr/>
            <p:nvPr/>
          </p:nvSpPr>
          <p:spPr>
            <a:xfrm>
              <a:off x="709673" y="3783791"/>
              <a:ext cx="1211169" cy="1542060"/>
            </a:xfrm>
            <a:prstGeom prst="roundRect">
              <a:avLst>
                <a:gd name="adj" fmla="val 7958"/>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5" name="Rectangle 14">
              <a:extLst>
                <a:ext uri="{FF2B5EF4-FFF2-40B4-BE49-F238E27FC236}">
                  <a16:creationId xmlns:a16="http://schemas.microsoft.com/office/drawing/2014/main" id="{E3B51F9D-D1EE-9617-37E2-765D1EA5BC29}"/>
                </a:ext>
              </a:extLst>
            </p:cNvPr>
            <p:cNvSpPr/>
            <p:nvPr/>
          </p:nvSpPr>
          <p:spPr>
            <a:xfrm>
              <a:off x="855412" y="3905216"/>
              <a:ext cx="949276" cy="307777"/>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Workload Domain Cluster</a:t>
              </a:r>
            </a:p>
          </p:txBody>
        </p:sp>
        <p:grpSp>
          <p:nvGrpSpPr>
            <p:cNvPr id="25" name="Group 24">
              <a:extLst>
                <a:ext uri="{FF2B5EF4-FFF2-40B4-BE49-F238E27FC236}">
                  <a16:creationId xmlns:a16="http://schemas.microsoft.com/office/drawing/2014/main" id="{F36C2F81-315D-1DBE-A767-FCC7A2806951}"/>
                </a:ext>
              </a:extLst>
            </p:cNvPr>
            <p:cNvGrpSpPr/>
            <p:nvPr/>
          </p:nvGrpSpPr>
          <p:grpSpPr>
            <a:xfrm>
              <a:off x="965200" y="4315077"/>
              <a:ext cx="712005" cy="906161"/>
              <a:chOff x="928971" y="4196892"/>
              <a:chExt cx="385619" cy="490773"/>
            </a:xfrm>
            <a:solidFill>
              <a:schemeClr val="accent2"/>
            </a:solidFill>
          </p:grpSpPr>
          <p:sp>
            <p:nvSpPr>
              <p:cNvPr id="26" name="Graphic 47">
                <a:extLst>
                  <a:ext uri="{FF2B5EF4-FFF2-40B4-BE49-F238E27FC236}">
                    <a16:creationId xmlns:a16="http://schemas.microsoft.com/office/drawing/2014/main" id="{3BC91B60-7CDC-06AB-67A4-E82AD6A0C70B}"/>
                  </a:ext>
                </a:extLst>
              </p:cNvPr>
              <p:cNvSpPr/>
              <p:nvPr/>
            </p:nvSpPr>
            <p:spPr>
              <a:xfrm>
                <a:off x="928971" y="4586186"/>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7" name="Graphic 47">
                <a:extLst>
                  <a:ext uri="{FF2B5EF4-FFF2-40B4-BE49-F238E27FC236}">
                    <a16:creationId xmlns:a16="http://schemas.microsoft.com/office/drawing/2014/main" id="{988A9EB2-3C9E-5817-6A8E-7867196150A9}"/>
                  </a:ext>
                </a:extLst>
              </p:cNvPr>
              <p:cNvSpPr/>
              <p:nvPr/>
            </p:nvSpPr>
            <p:spPr>
              <a:xfrm>
                <a:off x="928971" y="445642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3" name="Graphic 47">
                <a:extLst>
                  <a:ext uri="{FF2B5EF4-FFF2-40B4-BE49-F238E27FC236}">
                    <a16:creationId xmlns:a16="http://schemas.microsoft.com/office/drawing/2014/main" id="{AC814C4A-6301-51E2-B1D6-05822C346AAC}"/>
                  </a:ext>
                </a:extLst>
              </p:cNvPr>
              <p:cNvSpPr/>
              <p:nvPr/>
            </p:nvSpPr>
            <p:spPr>
              <a:xfrm>
                <a:off x="928971" y="4326657"/>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4" name="Graphic 47">
                <a:extLst>
                  <a:ext uri="{FF2B5EF4-FFF2-40B4-BE49-F238E27FC236}">
                    <a16:creationId xmlns:a16="http://schemas.microsoft.com/office/drawing/2014/main" id="{033DF1E3-F441-D32F-7DC0-2E0113F04829}"/>
                  </a:ext>
                </a:extLst>
              </p:cNvPr>
              <p:cNvSpPr/>
              <p:nvPr/>
            </p:nvSpPr>
            <p:spPr>
              <a:xfrm>
                <a:off x="928971" y="419689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10" name="Group 9">
            <a:extLst>
              <a:ext uri="{FF2B5EF4-FFF2-40B4-BE49-F238E27FC236}">
                <a16:creationId xmlns:a16="http://schemas.microsoft.com/office/drawing/2014/main" id="{542AB780-5432-360E-F40B-23AAA2A0758E}"/>
              </a:ext>
            </a:extLst>
          </p:cNvPr>
          <p:cNvGrpSpPr/>
          <p:nvPr/>
        </p:nvGrpSpPr>
        <p:grpSpPr>
          <a:xfrm>
            <a:off x="599335" y="1817406"/>
            <a:ext cx="1429192" cy="3639430"/>
            <a:chOff x="599335" y="1817406"/>
            <a:chExt cx="1429192" cy="3639430"/>
          </a:xfrm>
        </p:grpSpPr>
        <p:sp>
          <p:nvSpPr>
            <p:cNvPr id="194" name="Rectangle 193">
              <a:extLst>
                <a:ext uri="{FF2B5EF4-FFF2-40B4-BE49-F238E27FC236}">
                  <a16:creationId xmlns:a16="http://schemas.microsoft.com/office/drawing/2014/main" id="{7C041D15-8384-0429-5C97-742644C53B48}"/>
                </a:ext>
              </a:extLst>
            </p:cNvPr>
            <p:cNvSpPr/>
            <p:nvPr/>
          </p:nvSpPr>
          <p:spPr>
            <a:xfrm>
              <a:off x="599335" y="1863612"/>
              <a:ext cx="1429192"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solidFill>
                    <a:srgbClr val="000001"/>
                  </a:solidFill>
                  <a:latin typeface="Arial" panose="020B0604020202020204" pitchFamily="34" charset="0"/>
                </a:rPr>
                <a:t>VCF Instance</a:t>
              </a:r>
              <a:endParaRPr kumimoji="0" lang="en-US" sz="12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3" name="Rectangle: Rounded Corners 174">
              <a:extLst>
                <a:ext uri="{FF2B5EF4-FFF2-40B4-BE49-F238E27FC236}">
                  <a16:creationId xmlns:a16="http://schemas.microsoft.com/office/drawing/2014/main" id="{8ADEEE0B-C844-ECD5-E9D8-32A4844A7A27}"/>
                </a:ext>
              </a:extLst>
            </p:cNvPr>
            <p:cNvSpPr/>
            <p:nvPr/>
          </p:nvSpPr>
          <p:spPr>
            <a:xfrm>
              <a:off x="709674" y="2111612"/>
              <a:ext cx="1211169" cy="1542060"/>
            </a:xfrm>
            <a:prstGeom prst="roundRect">
              <a:avLst>
                <a:gd name="adj" fmla="val 7958"/>
              </a:avLst>
            </a:prstGeom>
            <a:solidFill>
              <a:srgbClr val="F4F8FA"/>
            </a:solidFill>
            <a:ln w="25400">
              <a:solidFill>
                <a:schemeClr val="accent3"/>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6" name="Rectangle 15">
              <a:extLst>
                <a:ext uri="{FF2B5EF4-FFF2-40B4-BE49-F238E27FC236}">
                  <a16:creationId xmlns:a16="http://schemas.microsoft.com/office/drawing/2014/main" id="{39BDF6C8-A9F7-7AFF-5D27-C4BA6031B9ED}"/>
                </a:ext>
              </a:extLst>
            </p:cNvPr>
            <p:cNvSpPr/>
            <p:nvPr/>
          </p:nvSpPr>
          <p:spPr>
            <a:xfrm>
              <a:off x="803736" y="2195881"/>
              <a:ext cx="1026905" cy="307777"/>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000" kern="0" dirty="0">
                  <a:solidFill>
                    <a:srgbClr val="000001"/>
                  </a:solidFill>
                  <a:latin typeface="Arial" panose="020B0604020202020204" pitchFamily="34" charset="0"/>
                </a:rPr>
                <a:t>Management</a:t>
              </a: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 Domain Cluster</a:t>
              </a:r>
            </a:p>
          </p:txBody>
        </p:sp>
        <p:sp>
          <p:nvSpPr>
            <p:cNvPr id="192" name="Rectangle: Rounded Corners 174">
              <a:extLst>
                <a:ext uri="{FF2B5EF4-FFF2-40B4-BE49-F238E27FC236}">
                  <a16:creationId xmlns:a16="http://schemas.microsoft.com/office/drawing/2014/main" id="{82B3815A-A403-7552-73EF-52BB978408B0}"/>
                </a:ext>
              </a:extLst>
            </p:cNvPr>
            <p:cNvSpPr/>
            <p:nvPr/>
          </p:nvSpPr>
          <p:spPr>
            <a:xfrm>
              <a:off x="637201" y="1817406"/>
              <a:ext cx="1344274" cy="3639430"/>
            </a:xfrm>
            <a:prstGeom prst="roundRect">
              <a:avLst>
                <a:gd name="adj" fmla="val 2320"/>
              </a:avLst>
            </a:prstGeom>
            <a:noFill/>
            <a:ln w="9525">
              <a:solidFill>
                <a:schemeClr val="tx1"/>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35" name="Group 34">
              <a:extLst>
                <a:ext uri="{FF2B5EF4-FFF2-40B4-BE49-F238E27FC236}">
                  <a16:creationId xmlns:a16="http://schemas.microsoft.com/office/drawing/2014/main" id="{5A667D9A-8349-B3B8-8378-400D82B97EC1}"/>
                </a:ext>
              </a:extLst>
            </p:cNvPr>
            <p:cNvGrpSpPr/>
            <p:nvPr/>
          </p:nvGrpSpPr>
          <p:grpSpPr>
            <a:xfrm>
              <a:off x="949122" y="2642693"/>
              <a:ext cx="712005" cy="906161"/>
              <a:chOff x="928971" y="4196892"/>
              <a:chExt cx="385619" cy="490773"/>
            </a:xfrm>
            <a:solidFill>
              <a:schemeClr val="accent3"/>
            </a:solidFill>
          </p:grpSpPr>
          <p:sp>
            <p:nvSpPr>
              <p:cNvPr id="36" name="Graphic 47">
                <a:extLst>
                  <a:ext uri="{FF2B5EF4-FFF2-40B4-BE49-F238E27FC236}">
                    <a16:creationId xmlns:a16="http://schemas.microsoft.com/office/drawing/2014/main" id="{39CCF6F8-F0C8-45CF-D216-7C652F596B52}"/>
                  </a:ext>
                </a:extLst>
              </p:cNvPr>
              <p:cNvSpPr/>
              <p:nvPr/>
            </p:nvSpPr>
            <p:spPr>
              <a:xfrm>
                <a:off x="928971" y="4586186"/>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7" name="Graphic 47">
                <a:extLst>
                  <a:ext uri="{FF2B5EF4-FFF2-40B4-BE49-F238E27FC236}">
                    <a16:creationId xmlns:a16="http://schemas.microsoft.com/office/drawing/2014/main" id="{3D8CBFF1-9692-2265-8E31-B2CBFD4D54DE}"/>
                  </a:ext>
                </a:extLst>
              </p:cNvPr>
              <p:cNvSpPr/>
              <p:nvPr/>
            </p:nvSpPr>
            <p:spPr>
              <a:xfrm>
                <a:off x="928971" y="445642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 name="Graphic 47">
                <a:extLst>
                  <a:ext uri="{FF2B5EF4-FFF2-40B4-BE49-F238E27FC236}">
                    <a16:creationId xmlns:a16="http://schemas.microsoft.com/office/drawing/2014/main" id="{77500CAC-768D-5C75-16A2-32B506121238}"/>
                  </a:ext>
                </a:extLst>
              </p:cNvPr>
              <p:cNvSpPr/>
              <p:nvPr/>
            </p:nvSpPr>
            <p:spPr>
              <a:xfrm>
                <a:off x="928971" y="4326657"/>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9" name="Graphic 47">
                <a:extLst>
                  <a:ext uri="{FF2B5EF4-FFF2-40B4-BE49-F238E27FC236}">
                    <a16:creationId xmlns:a16="http://schemas.microsoft.com/office/drawing/2014/main" id="{A0A5A9E7-0B50-0257-C480-2BE09FC93457}"/>
                  </a:ext>
                </a:extLst>
              </p:cNvPr>
              <p:cNvSpPr/>
              <p:nvPr/>
            </p:nvSpPr>
            <p:spPr>
              <a:xfrm>
                <a:off x="928971" y="419689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14" name="Group 13">
            <a:extLst>
              <a:ext uri="{FF2B5EF4-FFF2-40B4-BE49-F238E27FC236}">
                <a16:creationId xmlns:a16="http://schemas.microsoft.com/office/drawing/2014/main" id="{D6CFA3DE-1437-D9B6-3AE9-7FF6D2DACF74}"/>
              </a:ext>
            </a:extLst>
          </p:cNvPr>
          <p:cNvGrpSpPr/>
          <p:nvPr/>
        </p:nvGrpSpPr>
        <p:grpSpPr>
          <a:xfrm>
            <a:off x="2097077" y="1242371"/>
            <a:ext cx="1735120" cy="4214464"/>
            <a:chOff x="2097077" y="1242371"/>
            <a:chExt cx="1735120" cy="4214464"/>
          </a:xfrm>
        </p:grpSpPr>
        <p:sp>
          <p:nvSpPr>
            <p:cNvPr id="40" name="Rectangle: Rounded Corners 174">
              <a:extLst>
                <a:ext uri="{FF2B5EF4-FFF2-40B4-BE49-F238E27FC236}">
                  <a16:creationId xmlns:a16="http://schemas.microsoft.com/office/drawing/2014/main" id="{A1424890-03B8-E3F9-2779-085F73E76A86}"/>
                </a:ext>
              </a:extLst>
            </p:cNvPr>
            <p:cNvSpPr/>
            <p:nvPr/>
          </p:nvSpPr>
          <p:spPr>
            <a:xfrm>
              <a:off x="2443456" y="2124535"/>
              <a:ext cx="1297195" cy="2669208"/>
            </a:xfrm>
            <a:prstGeom prst="roundRect">
              <a:avLst>
                <a:gd name="adj" fmla="val 7958"/>
              </a:avLst>
            </a:prstGeom>
            <a:solidFill>
              <a:srgbClr val="F4F8FA"/>
            </a:solidFill>
            <a:ln w="25400">
              <a:solidFill>
                <a:schemeClr val="accent3"/>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12" name="Group 11">
              <a:extLst>
                <a:ext uri="{FF2B5EF4-FFF2-40B4-BE49-F238E27FC236}">
                  <a16:creationId xmlns:a16="http://schemas.microsoft.com/office/drawing/2014/main" id="{470029DE-49AE-A56F-1C5A-345BDDB4E956}"/>
                </a:ext>
              </a:extLst>
            </p:cNvPr>
            <p:cNvGrpSpPr/>
            <p:nvPr/>
          </p:nvGrpSpPr>
          <p:grpSpPr>
            <a:xfrm>
              <a:off x="2097077" y="1242371"/>
              <a:ext cx="1735120" cy="4214464"/>
              <a:chOff x="2097077" y="1242371"/>
              <a:chExt cx="1735120" cy="4214464"/>
            </a:xfrm>
          </p:grpSpPr>
          <p:sp>
            <p:nvSpPr>
              <p:cNvPr id="43" name="Rectangle 42">
                <a:extLst>
                  <a:ext uri="{FF2B5EF4-FFF2-40B4-BE49-F238E27FC236}">
                    <a16:creationId xmlns:a16="http://schemas.microsoft.com/office/drawing/2014/main" id="{F449E45F-3983-A680-034D-F68D113335E4}"/>
                  </a:ext>
                </a:extLst>
              </p:cNvPr>
              <p:cNvSpPr/>
              <p:nvPr/>
            </p:nvSpPr>
            <p:spPr>
              <a:xfrm>
                <a:off x="2377238" y="2209136"/>
                <a:ext cx="1429192" cy="615553"/>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000" kern="0" dirty="0">
                    <a:solidFill>
                      <a:srgbClr val="000001"/>
                    </a:solidFill>
                    <a:latin typeface="Arial" panose="020B0604020202020204" pitchFamily="34" charset="0"/>
                  </a:rPr>
                  <a:t>Consolidated Management</a:t>
                </a: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 and Workload Domain Clusters</a:t>
                </a:r>
              </a:p>
            </p:txBody>
          </p:sp>
          <p:sp>
            <p:nvSpPr>
              <p:cNvPr id="191" name="Rectangle: Rounded Corners 174">
                <a:extLst>
                  <a:ext uri="{FF2B5EF4-FFF2-40B4-BE49-F238E27FC236}">
                    <a16:creationId xmlns:a16="http://schemas.microsoft.com/office/drawing/2014/main" id="{B24E4515-906E-2D6D-7F31-E76A22BEFF0A}"/>
                  </a:ext>
                </a:extLst>
              </p:cNvPr>
              <p:cNvSpPr/>
              <p:nvPr/>
            </p:nvSpPr>
            <p:spPr>
              <a:xfrm>
                <a:off x="2351970" y="1810342"/>
                <a:ext cx="1480227" cy="3108264"/>
              </a:xfrm>
              <a:prstGeom prst="roundRect">
                <a:avLst>
                  <a:gd name="adj" fmla="val 2320"/>
                </a:avLst>
              </a:prstGeom>
              <a:noFill/>
              <a:ln w="9525">
                <a:solidFill>
                  <a:schemeClr val="tx1"/>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3" name="Rectangle 192">
                <a:extLst>
                  <a:ext uri="{FF2B5EF4-FFF2-40B4-BE49-F238E27FC236}">
                    <a16:creationId xmlns:a16="http://schemas.microsoft.com/office/drawing/2014/main" id="{2E87FF88-92DE-2140-9990-B033508E9151}"/>
                  </a:ext>
                </a:extLst>
              </p:cNvPr>
              <p:cNvSpPr/>
              <p:nvPr/>
            </p:nvSpPr>
            <p:spPr>
              <a:xfrm>
                <a:off x="2373659" y="1863612"/>
                <a:ext cx="1429192"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solidFill>
                      <a:srgbClr val="000001"/>
                    </a:solidFill>
                    <a:latin typeface="Arial" panose="020B0604020202020204" pitchFamily="34" charset="0"/>
                  </a:rPr>
                  <a:t>VCF Instance</a:t>
                </a:r>
                <a:endParaRPr kumimoji="0" lang="en-US" sz="12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6" name="Rectangle 195">
                <a:extLst>
                  <a:ext uri="{FF2B5EF4-FFF2-40B4-BE49-F238E27FC236}">
                    <a16:creationId xmlns:a16="http://schemas.microsoft.com/office/drawing/2014/main" id="{92E92592-EBBC-36DC-8A3A-C07FDE0145C1}"/>
                  </a:ext>
                </a:extLst>
              </p:cNvPr>
              <p:cNvSpPr/>
              <p:nvPr/>
            </p:nvSpPr>
            <p:spPr>
              <a:xfrm>
                <a:off x="2355757" y="1242371"/>
                <a:ext cx="1429192" cy="369332"/>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200" u="none" strike="noStrike" kern="0" cap="none" spc="0" normalizeH="0" baseline="0" noProof="0" dirty="0">
                    <a:ln>
                      <a:noFill/>
                    </a:ln>
                    <a:effectLst/>
                    <a:uLnTx/>
                    <a:uFillTx/>
                    <a:latin typeface="Arial" panose="020B0604020202020204" pitchFamily="34" charset="0"/>
                    <a:ea typeface="+mn-ea"/>
                    <a:cs typeface="+mn-cs"/>
                  </a:rPr>
                  <a:t>Consolidated  Domain</a:t>
                </a:r>
              </a:p>
            </p:txBody>
          </p:sp>
          <p:grpSp>
            <p:nvGrpSpPr>
              <p:cNvPr id="41" name="Group 40">
                <a:extLst>
                  <a:ext uri="{FF2B5EF4-FFF2-40B4-BE49-F238E27FC236}">
                    <a16:creationId xmlns:a16="http://schemas.microsoft.com/office/drawing/2014/main" id="{F26AFF75-F0C1-08E2-EFF9-3CD7875658E4}"/>
                  </a:ext>
                </a:extLst>
              </p:cNvPr>
              <p:cNvGrpSpPr/>
              <p:nvPr/>
            </p:nvGrpSpPr>
            <p:grpSpPr>
              <a:xfrm>
                <a:off x="2737598" y="2911393"/>
                <a:ext cx="712005" cy="906161"/>
                <a:chOff x="928971" y="4196892"/>
                <a:chExt cx="385619" cy="490773"/>
              </a:xfrm>
              <a:solidFill>
                <a:schemeClr val="accent3"/>
              </a:solidFill>
            </p:grpSpPr>
            <p:sp>
              <p:nvSpPr>
                <p:cNvPr id="42" name="Graphic 47">
                  <a:extLst>
                    <a:ext uri="{FF2B5EF4-FFF2-40B4-BE49-F238E27FC236}">
                      <a16:creationId xmlns:a16="http://schemas.microsoft.com/office/drawing/2014/main" id="{E6B6F7E1-A71D-87E4-8707-EBD55F03F829}"/>
                    </a:ext>
                  </a:extLst>
                </p:cNvPr>
                <p:cNvSpPr/>
                <p:nvPr/>
              </p:nvSpPr>
              <p:spPr>
                <a:xfrm>
                  <a:off x="928971" y="4586186"/>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 name="Graphic 47">
                  <a:extLst>
                    <a:ext uri="{FF2B5EF4-FFF2-40B4-BE49-F238E27FC236}">
                      <a16:creationId xmlns:a16="http://schemas.microsoft.com/office/drawing/2014/main" id="{DE362755-54CC-73CF-098D-7E0FFE9CE857}"/>
                    </a:ext>
                  </a:extLst>
                </p:cNvPr>
                <p:cNvSpPr/>
                <p:nvPr/>
              </p:nvSpPr>
              <p:spPr>
                <a:xfrm>
                  <a:off x="928971" y="445642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5" name="Graphic 47">
                  <a:extLst>
                    <a:ext uri="{FF2B5EF4-FFF2-40B4-BE49-F238E27FC236}">
                      <a16:creationId xmlns:a16="http://schemas.microsoft.com/office/drawing/2014/main" id="{4432EC99-5CB6-BA71-3C78-93100C36FC41}"/>
                    </a:ext>
                  </a:extLst>
                </p:cNvPr>
                <p:cNvSpPr/>
                <p:nvPr/>
              </p:nvSpPr>
              <p:spPr>
                <a:xfrm>
                  <a:off x="928971" y="4326657"/>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6" name="Graphic 47">
                  <a:extLst>
                    <a:ext uri="{FF2B5EF4-FFF2-40B4-BE49-F238E27FC236}">
                      <a16:creationId xmlns:a16="http://schemas.microsoft.com/office/drawing/2014/main" id="{A3BE861B-0C68-F17F-A423-185700FBD36A}"/>
                    </a:ext>
                  </a:extLst>
                </p:cNvPr>
                <p:cNvSpPr/>
                <p:nvPr/>
              </p:nvSpPr>
              <p:spPr>
                <a:xfrm>
                  <a:off x="928971" y="419689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47" name="Graphic 47">
                <a:extLst>
                  <a:ext uri="{FF2B5EF4-FFF2-40B4-BE49-F238E27FC236}">
                    <a16:creationId xmlns:a16="http://schemas.microsoft.com/office/drawing/2014/main" id="{05217D3A-E0A0-B1E3-80A6-87B00F2D0AE8}"/>
                  </a:ext>
                </a:extLst>
              </p:cNvPr>
              <p:cNvSpPr/>
              <p:nvPr/>
            </p:nvSpPr>
            <p:spPr>
              <a:xfrm>
                <a:off x="2740747" y="4380881"/>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3"/>
              </a:solid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8" name="Graphic 47">
                <a:extLst>
                  <a:ext uri="{FF2B5EF4-FFF2-40B4-BE49-F238E27FC236}">
                    <a16:creationId xmlns:a16="http://schemas.microsoft.com/office/drawing/2014/main" id="{0C6B05C2-E810-0DF2-451E-27A9671060FB}"/>
                  </a:ext>
                </a:extLst>
              </p:cNvPr>
              <p:cNvSpPr/>
              <p:nvPr/>
            </p:nvSpPr>
            <p:spPr>
              <a:xfrm>
                <a:off x="2740747" y="4141285"/>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3"/>
              </a:solid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9" name="Graphic 47">
                <a:extLst>
                  <a:ext uri="{FF2B5EF4-FFF2-40B4-BE49-F238E27FC236}">
                    <a16:creationId xmlns:a16="http://schemas.microsoft.com/office/drawing/2014/main" id="{1F01AC97-2FBE-2B89-0377-AB0D40030CA2}"/>
                  </a:ext>
                </a:extLst>
              </p:cNvPr>
              <p:cNvSpPr/>
              <p:nvPr/>
            </p:nvSpPr>
            <p:spPr>
              <a:xfrm>
                <a:off x="2740747" y="3901687"/>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3"/>
              </a:solid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cxnSp>
            <p:nvCxnSpPr>
              <p:cNvPr id="5" name="Straight Connector 4">
                <a:extLst>
                  <a:ext uri="{FF2B5EF4-FFF2-40B4-BE49-F238E27FC236}">
                    <a16:creationId xmlns:a16="http://schemas.microsoft.com/office/drawing/2014/main" id="{5A9D9B03-C693-1CA8-D674-749C6C4F691F}"/>
                  </a:ext>
                </a:extLst>
              </p:cNvPr>
              <p:cNvCxnSpPr>
                <a:cxnSpLocks/>
              </p:cNvCxnSpPr>
              <p:nvPr/>
            </p:nvCxnSpPr>
            <p:spPr bwMode="gray">
              <a:xfrm>
                <a:off x="2167116" y="1863612"/>
                <a:ext cx="0" cy="3593223"/>
              </a:xfrm>
              <a:prstGeom prst="line">
                <a:avLst/>
              </a:prstGeom>
              <a:ln w="19050">
                <a:solidFill>
                  <a:schemeClr val="bg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06602AC-38C1-FCFA-2C62-618503685858}"/>
                  </a:ext>
                </a:extLst>
              </p:cNvPr>
              <p:cNvSpPr txBox="1"/>
              <p:nvPr/>
            </p:nvSpPr>
            <p:spPr>
              <a:xfrm>
                <a:off x="2097077" y="1346139"/>
                <a:ext cx="192360" cy="153888"/>
              </a:xfrm>
              <a:prstGeom prst="rect">
                <a:avLst/>
              </a:prstGeom>
              <a:noFill/>
            </p:spPr>
            <p:txBody>
              <a:bodyPr wrap="none" lIns="0" tIns="0" rIns="0" bIns="0" rtlCol="0">
                <a:spAutoFit/>
              </a:bodyPr>
              <a:lstStyle/>
              <a:p>
                <a:pPr algn="l"/>
                <a:r>
                  <a:rPr lang="en-US" sz="1000" dirty="0">
                    <a:solidFill>
                      <a:schemeClr val="bg2">
                        <a:lumMod val="50000"/>
                      </a:schemeClr>
                    </a:solidFill>
                  </a:rPr>
                  <a:t>OR</a:t>
                </a:r>
              </a:p>
            </p:txBody>
          </p:sp>
        </p:grpSp>
      </p:grpSp>
      <p:sp>
        <p:nvSpPr>
          <p:cNvPr id="20" name="Rectangle: Rounded Corners 174">
            <a:extLst>
              <a:ext uri="{FF2B5EF4-FFF2-40B4-BE49-F238E27FC236}">
                <a16:creationId xmlns:a16="http://schemas.microsoft.com/office/drawing/2014/main" id="{F4A5C575-58E1-C390-41F5-9F1FE249357E}"/>
              </a:ext>
            </a:extLst>
          </p:cNvPr>
          <p:cNvSpPr/>
          <p:nvPr/>
        </p:nvSpPr>
        <p:spPr>
          <a:xfrm>
            <a:off x="4620430" y="3525115"/>
            <a:ext cx="6543245" cy="1144806"/>
          </a:xfrm>
          <a:prstGeom prst="roundRect">
            <a:avLst>
              <a:gd name="adj" fmla="val 7958"/>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18" name="Group 17">
            <a:extLst>
              <a:ext uri="{FF2B5EF4-FFF2-40B4-BE49-F238E27FC236}">
                <a16:creationId xmlns:a16="http://schemas.microsoft.com/office/drawing/2014/main" id="{0FD1A8D5-A691-513B-9D38-FF11CE38EE7C}"/>
              </a:ext>
            </a:extLst>
          </p:cNvPr>
          <p:cNvGrpSpPr/>
          <p:nvPr/>
        </p:nvGrpSpPr>
        <p:grpSpPr>
          <a:xfrm>
            <a:off x="4610979" y="3530360"/>
            <a:ext cx="4733744" cy="1140212"/>
            <a:chOff x="4610979" y="3532563"/>
            <a:chExt cx="4733744" cy="591227"/>
          </a:xfrm>
        </p:grpSpPr>
        <p:sp>
          <p:nvSpPr>
            <p:cNvPr id="173" name="Rectangle: Rounded Corners 174">
              <a:extLst>
                <a:ext uri="{FF2B5EF4-FFF2-40B4-BE49-F238E27FC236}">
                  <a16:creationId xmlns:a16="http://schemas.microsoft.com/office/drawing/2014/main" id="{77BA50E0-F504-512E-7103-646FAA15D9F8}"/>
                </a:ext>
              </a:extLst>
            </p:cNvPr>
            <p:cNvSpPr/>
            <p:nvPr/>
          </p:nvSpPr>
          <p:spPr>
            <a:xfrm>
              <a:off x="4610979" y="3532563"/>
              <a:ext cx="4733744" cy="591227"/>
            </a:xfrm>
            <a:prstGeom prst="roundRect">
              <a:avLst>
                <a:gd name="adj" fmla="val 7958"/>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4" name="Rectangle 173">
              <a:extLst>
                <a:ext uri="{FF2B5EF4-FFF2-40B4-BE49-F238E27FC236}">
                  <a16:creationId xmlns:a16="http://schemas.microsoft.com/office/drawing/2014/main" id="{163CCCE6-EBB0-CC0B-DDB7-EE35F22BA5B3}"/>
                </a:ext>
              </a:extLst>
            </p:cNvPr>
            <p:cNvSpPr/>
            <p:nvPr/>
          </p:nvSpPr>
          <p:spPr>
            <a:xfrm>
              <a:off x="4610980" y="3596112"/>
              <a:ext cx="1342794"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Workload Domain 2</a:t>
              </a:r>
            </a:p>
          </p:txBody>
        </p:sp>
        <p:sp>
          <p:nvSpPr>
            <p:cNvPr id="175" name="Rectangle 174">
              <a:extLst>
                <a:ext uri="{FF2B5EF4-FFF2-40B4-BE49-F238E27FC236}">
                  <a16:creationId xmlns:a16="http://schemas.microsoft.com/office/drawing/2014/main" id="{C071CAE8-EF33-5CDA-FE9A-FF61A288963D}"/>
                </a:ext>
              </a:extLst>
            </p:cNvPr>
            <p:cNvSpPr/>
            <p:nvPr/>
          </p:nvSpPr>
          <p:spPr bwMode="gray">
            <a:xfrm>
              <a:off x="6387815" y="3584321"/>
              <a:ext cx="1173599" cy="131593"/>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Standard Cluster</a:t>
              </a:r>
            </a:p>
          </p:txBody>
        </p:sp>
      </p:grpSp>
      <p:sp>
        <p:nvSpPr>
          <p:cNvPr id="176" name="Rectangle 175">
            <a:extLst>
              <a:ext uri="{FF2B5EF4-FFF2-40B4-BE49-F238E27FC236}">
                <a16:creationId xmlns:a16="http://schemas.microsoft.com/office/drawing/2014/main" id="{E1013E6F-6441-1979-1183-884AAC17D038}"/>
              </a:ext>
            </a:extLst>
          </p:cNvPr>
          <p:cNvSpPr/>
          <p:nvPr/>
        </p:nvSpPr>
        <p:spPr bwMode="gray">
          <a:xfrm>
            <a:off x="4716677" y="3961674"/>
            <a:ext cx="4475449" cy="252060"/>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Multi-rack Cluster</a:t>
            </a:r>
          </a:p>
        </p:txBody>
      </p:sp>
      <p:sp>
        <p:nvSpPr>
          <p:cNvPr id="177" name="Rectangle 176">
            <a:extLst>
              <a:ext uri="{FF2B5EF4-FFF2-40B4-BE49-F238E27FC236}">
                <a16:creationId xmlns:a16="http://schemas.microsoft.com/office/drawing/2014/main" id="{9DCBA31E-FA08-FE3E-B594-0666AB1C8574}"/>
              </a:ext>
            </a:extLst>
          </p:cNvPr>
          <p:cNvSpPr/>
          <p:nvPr/>
        </p:nvSpPr>
        <p:spPr bwMode="gray">
          <a:xfrm>
            <a:off x="4716674" y="4304431"/>
            <a:ext cx="1173599" cy="252060"/>
          </a:xfrm>
          <a:prstGeom prst="rect">
            <a:avLst/>
          </a:prstGeom>
          <a:solidFill>
            <a:schemeClr val="bg1"/>
          </a:solidFill>
          <a:ln w="25400">
            <a:solidFill>
              <a:schemeClr val="accent2"/>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Standard Cluster</a:t>
            </a:r>
          </a:p>
        </p:txBody>
      </p:sp>
      <p:sp>
        <p:nvSpPr>
          <p:cNvPr id="22" name="Rectangle 21">
            <a:extLst>
              <a:ext uri="{FF2B5EF4-FFF2-40B4-BE49-F238E27FC236}">
                <a16:creationId xmlns:a16="http://schemas.microsoft.com/office/drawing/2014/main" id="{9C9D2BC6-BDD3-FB2C-BC48-F053E603484F}"/>
              </a:ext>
            </a:extLst>
          </p:cNvPr>
          <p:cNvSpPr/>
          <p:nvPr/>
        </p:nvSpPr>
        <p:spPr bwMode="gray">
          <a:xfrm>
            <a:off x="9226340" y="3539329"/>
            <a:ext cx="294652" cy="1116000"/>
          </a:xfrm>
          <a:prstGeom prst="rect">
            <a:avLst/>
          </a:prstGeom>
          <a:solidFill>
            <a:srgbClr val="F4F9FB"/>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83" name="Rectangle 182">
            <a:extLst>
              <a:ext uri="{FF2B5EF4-FFF2-40B4-BE49-F238E27FC236}">
                <a16:creationId xmlns:a16="http://schemas.microsoft.com/office/drawing/2014/main" id="{B86CE822-C5D8-3C32-D1F0-8CBE49B176F5}"/>
              </a:ext>
            </a:extLst>
          </p:cNvPr>
          <p:cNvSpPr/>
          <p:nvPr/>
        </p:nvSpPr>
        <p:spPr bwMode="gray">
          <a:xfrm>
            <a:off x="8053691" y="4299176"/>
            <a:ext cx="2984946" cy="252060"/>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Stretched Cluster</a:t>
            </a:r>
          </a:p>
        </p:txBody>
      </p:sp>
    </p:spTree>
    <p:extLst>
      <p:ext uri="{BB962C8B-B14F-4D97-AF65-F5344CB8AC3E}">
        <p14:creationId xmlns:p14="http://schemas.microsoft.com/office/powerpoint/2010/main" val="1415836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par>
                          <p:cTn id="8" fill="hold">
                            <p:stCondLst>
                              <p:cond delay="500"/>
                            </p:stCondLst>
                            <p:childTnLst>
                              <p:par>
                                <p:cTn id="9" presetID="9" presetClass="entr" presetSubtype="0" fill="hold" nodeType="afterEffect">
                                  <p:stCondLst>
                                    <p:cond delay="500"/>
                                  </p:stCondLst>
                                  <p:childTnLst>
                                    <p:set>
                                      <p:cBhvr>
                                        <p:cTn id="10" dur="1" fill="hold">
                                          <p:stCondLst>
                                            <p:cond delay="0"/>
                                          </p:stCondLst>
                                        </p:cTn>
                                        <p:tgtEl>
                                          <p:spTgt spid="11"/>
                                        </p:tgtEl>
                                        <p:attrNameLst>
                                          <p:attrName>style.visibility</p:attrName>
                                        </p:attrNameLst>
                                      </p:cBhvr>
                                      <p:to>
                                        <p:strVal val="visible"/>
                                      </p:to>
                                    </p:set>
                                    <p:animEffect transition="in" filter="dissolv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dissolv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dissolve">
                                      <p:cBhvr>
                                        <p:cTn id="21" dur="500"/>
                                        <p:tgtEl>
                                          <p:spTgt spid="24"/>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89"/>
                                        </p:tgtEl>
                                        <p:attrNameLst>
                                          <p:attrName>style.visibility</p:attrName>
                                        </p:attrNameLst>
                                      </p:cBhvr>
                                      <p:to>
                                        <p:strVal val="visible"/>
                                      </p:to>
                                    </p:set>
                                    <p:animEffect transition="in" filter="dissolve">
                                      <p:cBhvr>
                                        <p:cTn id="24" dur="500"/>
                                        <p:tgtEl>
                                          <p:spTgt spid="189"/>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41"/>
                                        </p:tgtEl>
                                        <p:attrNameLst>
                                          <p:attrName>style.visibility</p:attrName>
                                        </p:attrNameLst>
                                      </p:cBhvr>
                                      <p:to>
                                        <p:strVal val="visible"/>
                                      </p:to>
                                    </p:set>
                                    <p:animEffect transition="in" filter="dissolve">
                                      <p:cBhvr>
                                        <p:cTn id="27" dur="500"/>
                                        <p:tgtEl>
                                          <p:spTgt spid="141"/>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48"/>
                                        </p:tgtEl>
                                        <p:attrNameLst>
                                          <p:attrName>style.visibility</p:attrName>
                                        </p:attrNameLst>
                                      </p:cBhvr>
                                      <p:to>
                                        <p:strVal val="visible"/>
                                      </p:to>
                                    </p:set>
                                    <p:animEffect transition="in" filter="dissolve">
                                      <p:cBhvr>
                                        <p:cTn id="30" dur="500"/>
                                        <p:tgtEl>
                                          <p:spTgt spid="148"/>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55"/>
                                        </p:tgtEl>
                                        <p:attrNameLst>
                                          <p:attrName>style.visibility</p:attrName>
                                        </p:attrNameLst>
                                      </p:cBhvr>
                                      <p:to>
                                        <p:strVal val="visible"/>
                                      </p:to>
                                    </p:set>
                                    <p:animEffect transition="in" filter="dissolve">
                                      <p:cBhvr>
                                        <p:cTn id="33" dur="500"/>
                                        <p:tgtEl>
                                          <p:spTgt spid="155"/>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184"/>
                                        </p:tgtEl>
                                        <p:attrNameLst>
                                          <p:attrName>style.visibility</p:attrName>
                                        </p:attrNameLst>
                                      </p:cBhvr>
                                      <p:to>
                                        <p:strVal val="visible"/>
                                      </p:to>
                                    </p:set>
                                    <p:animEffect transition="in" filter="dissolve">
                                      <p:cBhvr>
                                        <p:cTn id="36" dur="500"/>
                                        <p:tgtEl>
                                          <p:spTgt spid="184"/>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97"/>
                                        </p:tgtEl>
                                        <p:attrNameLst>
                                          <p:attrName>style.visibility</p:attrName>
                                        </p:attrNameLst>
                                      </p:cBhvr>
                                      <p:to>
                                        <p:strVal val="visible"/>
                                      </p:to>
                                    </p:set>
                                    <p:animEffect transition="in" filter="dissolve">
                                      <p:cBhvr>
                                        <p:cTn id="39" dur="500"/>
                                        <p:tgtEl>
                                          <p:spTgt spid="197"/>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90"/>
                                        </p:tgtEl>
                                        <p:attrNameLst>
                                          <p:attrName>style.visibility</p:attrName>
                                        </p:attrNameLst>
                                      </p:cBhvr>
                                      <p:to>
                                        <p:strVal val="visible"/>
                                      </p:to>
                                    </p:set>
                                    <p:animEffect transition="in" filter="dissolve">
                                      <p:cBhvr>
                                        <p:cTn id="42" dur="500"/>
                                        <p:tgtEl>
                                          <p:spTgt spid="190"/>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142"/>
                                        </p:tgtEl>
                                        <p:attrNameLst>
                                          <p:attrName>style.visibility</p:attrName>
                                        </p:attrNameLst>
                                      </p:cBhvr>
                                      <p:to>
                                        <p:strVal val="visible"/>
                                      </p:to>
                                    </p:set>
                                    <p:animEffect transition="in" filter="dissolve">
                                      <p:cBhvr>
                                        <p:cTn id="45" dur="500"/>
                                        <p:tgtEl>
                                          <p:spTgt spid="142"/>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49"/>
                                        </p:tgtEl>
                                        <p:attrNameLst>
                                          <p:attrName>style.visibility</p:attrName>
                                        </p:attrNameLst>
                                      </p:cBhvr>
                                      <p:to>
                                        <p:strVal val="visible"/>
                                      </p:to>
                                    </p:set>
                                    <p:animEffect transition="in" filter="dissolve">
                                      <p:cBhvr>
                                        <p:cTn id="48" dur="500"/>
                                        <p:tgtEl>
                                          <p:spTgt spid="149"/>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156"/>
                                        </p:tgtEl>
                                        <p:attrNameLst>
                                          <p:attrName>style.visibility</p:attrName>
                                        </p:attrNameLst>
                                      </p:cBhvr>
                                      <p:to>
                                        <p:strVal val="visible"/>
                                      </p:to>
                                    </p:set>
                                    <p:animEffect transition="in" filter="dissolve">
                                      <p:cBhvr>
                                        <p:cTn id="51" dur="500"/>
                                        <p:tgtEl>
                                          <p:spTgt spid="156"/>
                                        </p:tgtEl>
                                      </p:cBhvr>
                                    </p:animEffect>
                                  </p:childTnLst>
                                </p:cTn>
                              </p:par>
                            </p:childTnLst>
                          </p:cTn>
                        </p:par>
                        <p:par>
                          <p:cTn id="52" fill="hold">
                            <p:stCondLst>
                              <p:cond delay="500"/>
                            </p:stCondLst>
                            <p:childTnLst>
                              <p:par>
                                <p:cTn id="53" presetID="22" presetClass="entr" presetSubtype="8" fill="hold" nodeType="afterEffect">
                                  <p:stCondLst>
                                    <p:cond delay="500"/>
                                  </p:stCondLst>
                                  <p:childTnLst>
                                    <p:set>
                                      <p:cBhvr>
                                        <p:cTn id="54" dur="1" fill="hold">
                                          <p:stCondLst>
                                            <p:cond delay="0"/>
                                          </p:stCondLst>
                                        </p:cTn>
                                        <p:tgtEl>
                                          <p:spTgt spid="17"/>
                                        </p:tgtEl>
                                        <p:attrNameLst>
                                          <p:attrName>style.visibility</p:attrName>
                                        </p:attrNameLst>
                                      </p:cBhvr>
                                      <p:to>
                                        <p:strVal val="visible"/>
                                      </p:to>
                                    </p:set>
                                    <p:animEffect transition="in" filter="wipe(left)">
                                      <p:cBhvr>
                                        <p:cTn id="55" dur="500"/>
                                        <p:tgtEl>
                                          <p:spTgt spid="17"/>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187"/>
                                        </p:tgtEl>
                                        <p:attrNameLst>
                                          <p:attrName>style.visibility</p:attrName>
                                        </p:attrNameLst>
                                      </p:cBhvr>
                                      <p:to>
                                        <p:strVal val="visible"/>
                                      </p:to>
                                    </p:set>
                                    <p:animEffect transition="in" filter="dissolve">
                                      <p:cBhvr>
                                        <p:cTn id="58" dur="500"/>
                                        <p:tgtEl>
                                          <p:spTgt spid="187"/>
                                        </p:tgtEl>
                                      </p:cBhvr>
                                    </p:animEffect>
                                  </p:childTnLst>
                                </p:cTn>
                              </p:par>
                            </p:childTnLst>
                          </p:cTn>
                        </p:par>
                        <p:par>
                          <p:cTn id="59" fill="hold">
                            <p:stCondLst>
                              <p:cond delay="1500"/>
                            </p:stCondLst>
                            <p:childTnLst>
                              <p:par>
                                <p:cTn id="60" presetID="9" presetClass="entr" presetSubtype="0" fill="hold" grpId="0" nodeType="afterEffect">
                                  <p:stCondLst>
                                    <p:cond delay="0"/>
                                  </p:stCondLst>
                                  <p:childTnLst>
                                    <p:set>
                                      <p:cBhvr>
                                        <p:cTn id="61" dur="1" fill="hold">
                                          <p:stCondLst>
                                            <p:cond delay="0"/>
                                          </p:stCondLst>
                                        </p:cTn>
                                        <p:tgtEl>
                                          <p:spTgt spid="172"/>
                                        </p:tgtEl>
                                        <p:attrNameLst>
                                          <p:attrName>style.visibility</p:attrName>
                                        </p:attrNameLst>
                                      </p:cBhvr>
                                      <p:to>
                                        <p:strVal val="visible"/>
                                      </p:to>
                                    </p:set>
                                    <p:animEffect transition="in" filter="dissolve">
                                      <p:cBhvr>
                                        <p:cTn id="62" dur="500"/>
                                        <p:tgtEl>
                                          <p:spTgt spid="17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wipe(left)">
                                      <p:cBhvr>
                                        <p:cTn id="67" dur="500"/>
                                        <p:tgtEl>
                                          <p:spTgt spid="18"/>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177"/>
                                        </p:tgtEl>
                                        <p:attrNameLst>
                                          <p:attrName>style.visibility</p:attrName>
                                        </p:attrNameLst>
                                      </p:cBhvr>
                                      <p:to>
                                        <p:strVal val="visible"/>
                                      </p:to>
                                    </p:set>
                                    <p:animEffect transition="in" filter="wipe(left)">
                                      <p:cBhvr>
                                        <p:cTn id="70" dur="500"/>
                                        <p:tgtEl>
                                          <p:spTgt spid="177"/>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198"/>
                                        </p:tgtEl>
                                        <p:attrNameLst>
                                          <p:attrName>style.visibility</p:attrName>
                                        </p:attrNameLst>
                                      </p:cBhvr>
                                      <p:to>
                                        <p:strVal val="visible"/>
                                      </p:to>
                                    </p:set>
                                    <p:animEffect transition="in" filter="dissolve">
                                      <p:cBhvr>
                                        <p:cTn id="73" dur="500"/>
                                        <p:tgtEl>
                                          <p:spTgt spid="198"/>
                                        </p:tgtEl>
                                      </p:cBhvr>
                                    </p:animEffect>
                                  </p:childTnLst>
                                </p:cTn>
                              </p:par>
                            </p:childTnLst>
                          </p:cTn>
                        </p:par>
                        <p:par>
                          <p:cTn id="74" fill="hold">
                            <p:stCondLst>
                              <p:cond delay="500"/>
                            </p:stCondLst>
                            <p:childTnLst>
                              <p:par>
                                <p:cTn id="75" presetID="22" presetClass="entr" presetSubtype="8" fill="hold" grpId="0" nodeType="afterEffect">
                                  <p:stCondLst>
                                    <p:cond delay="500"/>
                                  </p:stCondLst>
                                  <p:childTnLst>
                                    <p:set>
                                      <p:cBhvr>
                                        <p:cTn id="76" dur="1" fill="hold">
                                          <p:stCondLst>
                                            <p:cond delay="0"/>
                                          </p:stCondLst>
                                        </p:cTn>
                                        <p:tgtEl>
                                          <p:spTgt spid="176"/>
                                        </p:tgtEl>
                                        <p:attrNameLst>
                                          <p:attrName>style.visibility</p:attrName>
                                        </p:attrNameLst>
                                      </p:cBhvr>
                                      <p:to>
                                        <p:strVal val="visible"/>
                                      </p:to>
                                    </p:set>
                                    <p:animEffect transition="in" filter="wipe(left)">
                                      <p:cBhvr>
                                        <p:cTn id="77" dur="500"/>
                                        <p:tgtEl>
                                          <p:spTgt spid="176"/>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199"/>
                                        </p:tgtEl>
                                        <p:attrNameLst>
                                          <p:attrName>style.visibility</p:attrName>
                                        </p:attrNameLst>
                                      </p:cBhvr>
                                      <p:to>
                                        <p:strVal val="visible"/>
                                      </p:to>
                                    </p:set>
                                    <p:animEffect transition="in" filter="dissolve">
                                      <p:cBhvr>
                                        <p:cTn id="82" dur="500"/>
                                        <p:tgtEl>
                                          <p:spTgt spid="199"/>
                                        </p:tgtEl>
                                      </p:cBhvr>
                                    </p:animEffect>
                                  </p:childTnLst>
                                </p:cTn>
                              </p:par>
                              <p:par>
                                <p:cTn id="83" presetID="22" presetClass="entr" presetSubtype="2" fill="hold" nodeType="with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wipe(right)">
                                      <p:cBhvr>
                                        <p:cTn id="85" dur="500"/>
                                        <p:tgtEl>
                                          <p:spTgt spid="23"/>
                                        </p:tgtEl>
                                      </p:cBhvr>
                                    </p:animEffect>
                                  </p:childTnLst>
                                </p:cTn>
                              </p:par>
                            </p:childTnLst>
                          </p:cTn>
                        </p:par>
                        <p:par>
                          <p:cTn id="86" fill="hold">
                            <p:stCondLst>
                              <p:cond delay="500"/>
                            </p:stCondLst>
                            <p:childTnLst>
                              <p:par>
                                <p:cTn id="87" presetID="9" presetClass="entr" presetSubtype="0" fill="hold" grpId="0" nodeType="afterEffect">
                                  <p:stCondLst>
                                    <p:cond delay="0"/>
                                  </p:stCondLst>
                                  <p:childTnLst>
                                    <p:set>
                                      <p:cBhvr>
                                        <p:cTn id="88" dur="1" fill="hold">
                                          <p:stCondLst>
                                            <p:cond delay="0"/>
                                          </p:stCondLst>
                                        </p:cTn>
                                        <p:tgtEl>
                                          <p:spTgt spid="22"/>
                                        </p:tgtEl>
                                        <p:attrNameLst>
                                          <p:attrName>style.visibility</p:attrName>
                                        </p:attrNameLst>
                                      </p:cBhvr>
                                      <p:to>
                                        <p:strVal val="visible"/>
                                      </p:to>
                                    </p:set>
                                    <p:animEffect transition="in" filter="dissolve">
                                      <p:cBhvr>
                                        <p:cTn id="89" dur="500"/>
                                        <p:tgtEl>
                                          <p:spTgt spid="22"/>
                                        </p:tgtEl>
                                      </p:cBhvr>
                                    </p:animEffect>
                                  </p:childTnLst>
                                </p:cTn>
                              </p:par>
                              <p:par>
                                <p:cTn id="90" presetID="22" presetClass="entr" presetSubtype="8" fill="hold" grpId="0" nodeType="withEffect">
                                  <p:stCondLst>
                                    <p:cond delay="0"/>
                                  </p:stCondLst>
                                  <p:childTnLst>
                                    <p:set>
                                      <p:cBhvr>
                                        <p:cTn id="91" dur="1" fill="hold">
                                          <p:stCondLst>
                                            <p:cond delay="0"/>
                                          </p:stCondLst>
                                        </p:cTn>
                                        <p:tgtEl>
                                          <p:spTgt spid="20"/>
                                        </p:tgtEl>
                                        <p:attrNameLst>
                                          <p:attrName>style.visibility</p:attrName>
                                        </p:attrNameLst>
                                      </p:cBhvr>
                                      <p:to>
                                        <p:strVal val="visible"/>
                                      </p:to>
                                    </p:set>
                                    <p:animEffect transition="in" filter="wipe(left)">
                                      <p:cBhvr>
                                        <p:cTn id="92" dur="500"/>
                                        <p:tgtEl>
                                          <p:spTgt spid="20"/>
                                        </p:tgtEl>
                                      </p:cBhvr>
                                    </p:animEffect>
                                  </p:childTnLst>
                                </p:cTn>
                              </p:par>
                              <p:par>
                                <p:cTn id="93" presetID="22" presetClass="entr" presetSubtype="8" fill="hold" grpId="0" nodeType="withEffect">
                                  <p:stCondLst>
                                    <p:cond delay="0"/>
                                  </p:stCondLst>
                                  <p:childTnLst>
                                    <p:set>
                                      <p:cBhvr>
                                        <p:cTn id="94" dur="1" fill="hold">
                                          <p:stCondLst>
                                            <p:cond delay="0"/>
                                          </p:stCondLst>
                                        </p:cTn>
                                        <p:tgtEl>
                                          <p:spTgt spid="183"/>
                                        </p:tgtEl>
                                        <p:attrNameLst>
                                          <p:attrName>style.visibility</p:attrName>
                                        </p:attrNameLst>
                                      </p:cBhvr>
                                      <p:to>
                                        <p:strVal val="visible"/>
                                      </p:to>
                                    </p:set>
                                    <p:animEffect transition="in" filter="wipe(left)">
                                      <p:cBhvr>
                                        <p:cTn id="95" dur="500"/>
                                        <p:tgtEl>
                                          <p:spTgt spid="183"/>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28"/>
                                        </p:tgtEl>
                                        <p:attrNameLst>
                                          <p:attrName>style.visibility</p:attrName>
                                        </p:attrNameLst>
                                      </p:cBhvr>
                                      <p:to>
                                        <p:strVal val="visible"/>
                                      </p:to>
                                    </p:set>
                                    <p:animEffect transition="in" filter="wipe(left)">
                                      <p:cBhvr>
                                        <p:cTn id="100" dur="500"/>
                                        <p:tgtEl>
                                          <p:spTgt spid="28"/>
                                        </p:tgtEl>
                                      </p:cBhvr>
                                    </p:animEffect>
                                  </p:childTnLst>
                                </p:cTn>
                              </p:par>
                            </p:childTnLst>
                          </p:cTn>
                        </p:par>
                        <p:par>
                          <p:cTn id="101" fill="hold">
                            <p:stCondLst>
                              <p:cond delay="500"/>
                            </p:stCondLst>
                            <p:childTnLst>
                              <p:par>
                                <p:cTn id="102" presetID="9" presetClass="entr" presetSubtype="0" fill="hold" grpId="0" nodeType="afterEffect">
                                  <p:stCondLst>
                                    <p:cond delay="0"/>
                                  </p:stCondLst>
                                  <p:childTnLst>
                                    <p:set>
                                      <p:cBhvr>
                                        <p:cTn id="103" dur="1" fill="hold">
                                          <p:stCondLst>
                                            <p:cond delay="0"/>
                                          </p:stCondLst>
                                        </p:cTn>
                                        <p:tgtEl>
                                          <p:spTgt spid="180"/>
                                        </p:tgtEl>
                                        <p:attrNameLst>
                                          <p:attrName>style.visibility</p:attrName>
                                        </p:attrNameLst>
                                      </p:cBhvr>
                                      <p:to>
                                        <p:strVal val="visible"/>
                                      </p:to>
                                    </p:set>
                                    <p:animEffect transition="in" filter="dissolve">
                                      <p:cBhvr>
                                        <p:cTn id="104" dur="500"/>
                                        <p:tgtEl>
                                          <p:spTgt spid="180"/>
                                        </p:tgtEl>
                                      </p:cBhvr>
                                    </p:animEffect>
                                  </p:childTnLst>
                                </p:cTn>
                              </p:par>
                              <p:par>
                                <p:cTn id="105" presetID="9" presetClass="entr" presetSubtype="0" fill="hold" grpId="0" nodeType="withEffect">
                                  <p:stCondLst>
                                    <p:cond delay="0"/>
                                  </p:stCondLst>
                                  <p:childTnLst>
                                    <p:set>
                                      <p:cBhvr>
                                        <p:cTn id="106" dur="1" fill="hold">
                                          <p:stCondLst>
                                            <p:cond delay="0"/>
                                          </p:stCondLst>
                                        </p:cTn>
                                        <p:tgtEl>
                                          <p:spTgt spid="201"/>
                                        </p:tgtEl>
                                        <p:attrNameLst>
                                          <p:attrName>style.visibility</p:attrName>
                                        </p:attrNameLst>
                                      </p:cBhvr>
                                      <p:to>
                                        <p:strVal val="visible"/>
                                      </p:to>
                                    </p:set>
                                    <p:animEffect transition="in" filter="dissolve">
                                      <p:cBhvr>
                                        <p:cTn id="107" dur="500"/>
                                        <p:tgtEl>
                                          <p:spTgt spid="201"/>
                                        </p:tgtEl>
                                      </p:cBhvr>
                                    </p:animEffect>
                                  </p:childTnLst>
                                </p:cTn>
                              </p:par>
                            </p:childTnLst>
                          </p:cTn>
                        </p:par>
                        <p:par>
                          <p:cTn id="108" fill="hold">
                            <p:stCondLst>
                              <p:cond delay="1000"/>
                            </p:stCondLst>
                            <p:childTnLst>
                              <p:par>
                                <p:cTn id="109" presetID="9" presetClass="entr" presetSubtype="0" fill="hold" grpId="0" nodeType="afterEffect">
                                  <p:stCondLst>
                                    <p:cond delay="0"/>
                                  </p:stCondLst>
                                  <p:childTnLst>
                                    <p:set>
                                      <p:cBhvr>
                                        <p:cTn id="110" dur="1" fill="hold">
                                          <p:stCondLst>
                                            <p:cond delay="0"/>
                                          </p:stCondLst>
                                        </p:cTn>
                                        <p:tgtEl>
                                          <p:spTgt spid="182"/>
                                        </p:tgtEl>
                                        <p:attrNameLst>
                                          <p:attrName>style.visibility</p:attrName>
                                        </p:attrNameLst>
                                      </p:cBhvr>
                                      <p:to>
                                        <p:strVal val="visible"/>
                                      </p:to>
                                    </p:set>
                                    <p:animEffect transition="in" filter="dissolve">
                                      <p:cBhvr>
                                        <p:cTn id="111" dur="500"/>
                                        <p:tgtEl>
                                          <p:spTgt spid="182"/>
                                        </p:tgtEl>
                                      </p:cBhvr>
                                    </p:animEffect>
                                  </p:childTnLst>
                                </p:cTn>
                              </p:par>
                              <p:par>
                                <p:cTn id="112" presetID="9" presetClass="entr" presetSubtype="0" fill="hold" grpId="0" nodeType="withEffect">
                                  <p:stCondLst>
                                    <p:cond delay="0"/>
                                  </p:stCondLst>
                                  <p:childTnLst>
                                    <p:set>
                                      <p:cBhvr>
                                        <p:cTn id="113" dur="1" fill="hold">
                                          <p:stCondLst>
                                            <p:cond delay="0"/>
                                          </p:stCondLst>
                                        </p:cTn>
                                        <p:tgtEl>
                                          <p:spTgt spid="202"/>
                                        </p:tgtEl>
                                        <p:attrNameLst>
                                          <p:attrName>style.visibility</p:attrName>
                                        </p:attrNameLst>
                                      </p:cBhvr>
                                      <p:to>
                                        <p:strVal val="visible"/>
                                      </p:to>
                                    </p:set>
                                    <p:animEffect transition="in" filter="dissolve">
                                      <p:cBhvr>
                                        <p:cTn id="114" dur="500"/>
                                        <p:tgtEl>
                                          <p:spTgt spid="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184" grpId="0" animBg="1"/>
      <p:bldP spid="141" grpId="0" animBg="1"/>
      <p:bldP spid="142" grpId="0"/>
      <p:bldP spid="148" grpId="0" animBg="1"/>
      <p:bldP spid="149" grpId="0"/>
      <p:bldP spid="155" grpId="0" animBg="1"/>
      <p:bldP spid="156" grpId="0"/>
      <p:bldP spid="172" grpId="0" animBg="1"/>
      <p:bldP spid="180" grpId="0" animBg="1"/>
      <p:bldP spid="182" grpId="0" animBg="1"/>
      <p:bldP spid="187" grpId="0"/>
      <p:bldP spid="189" grpId="0" animBg="1"/>
      <p:bldP spid="190" grpId="0"/>
      <p:bldP spid="197" grpId="0"/>
      <p:bldP spid="198" grpId="0"/>
      <p:bldP spid="199" grpId="0"/>
      <p:bldP spid="201" grpId="0"/>
      <p:bldP spid="202" grpId="0"/>
      <p:bldP spid="20" grpId="0" animBg="1"/>
      <p:bldP spid="176" grpId="0" animBg="1"/>
      <p:bldP spid="177" grpId="0" animBg="1"/>
      <p:bldP spid="22" grpId="0" animBg="1"/>
      <p:bldP spid="18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957C6-603E-357E-8068-1521D969542F}"/>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1F062DC5-F980-AFE2-70DA-90361FB630D4}"/>
              </a:ext>
            </a:extLst>
          </p:cNvPr>
          <p:cNvSpPr/>
          <p:nvPr/>
        </p:nvSpPr>
        <p:spPr>
          <a:xfrm>
            <a:off x="2785" y="1601373"/>
            <a:ext cx="8238181" cy="4610526"/>
          </a:xfrm>
          <a:prstGeom prst="roundRect">
            <a:avLst>
              <a:gd name="adj" fmla="val 0"/>
            </a:avLst>
          </a:prstGeom>
          <a:solidFill>
            <a:srgbClr val="F4F8FA"/>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578">
              <a:spcAft>
                <a:spcPts val="600"/>
              </a:spcAft>
              <a:defRPr/>
            </a:pPr>
            <a:endParaRPr lang="en-US" sz="1200" dirty="0">
              <a:solidFill>
                <a:srgbClr val="FFFFFF"/>
              </a:solidFill>
              <a:latin typeface="Arial" panose="020B0604020202020204" pitchFamily="34" charset="0"/>
            </a:endParaRPr>
          </a:p>
        </p:txBody>
      </p:sp>
      <p:sp>
        <p:nvSpPr>
          <p:cNvPr id="6" name="Rectangle: Rounded Corners 171">
            <a:extLst>
              <a:ext uri="{FF2B5EF4-FFF2-40B4-BE49-F238E27FC236}">
                <a16:creationId xmlns:a16="http://schemas.microsoft.com/office/drawing/2014/main" id="{2CFAD192-4330-1156-1CFF-94669D39ABF0}"/>
              </a:ext>
            </a:extLst>
          </p:cNvPr>
          <p:cNvSpPr/>
          <p:nvPr/>
        </p:nvSpPr>
        <p:spPr>
          <a:xfrm>
            <a:off x="497060" y="1754710"/>
            <a:ext cx="7627507" cy="4344116"/>
          </a:xfrm>
          <a:prstGeom prst="roundRect">
            <a:avLst>
              <a:gd name="adj" fmla="val 2239"/>
            </a:avLst>
          </a:prstGeom>
          <a:solidFill>
            <a:schemeClr val="bg1"/>
          </a:solidFill>
          <a:ln w="12700">
            <a:solidFill>
              <a:schemeClr val="bg1">
                <a:lumMod val="75000"/>
              </a:schemeClr>
            </a:solidFill>
            <a:prstDash val="solid"/>
            <a:extLst>
              <a:ext uri="{C807C97D-BFC1-408E-A445-0C87EB9F89A2}">
                <ask:lineSketchStyleProps xmlns:ask="http://schemas.microsoft.com/office/drawing/2018/sketchyshapes">
                  <ask:type>
                    <ask:lineSketchNone/>
                  </ask:type>
                </ask:lineSketchStyleProps>
              </a:ext>
            </a:extLs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20" tIns="45660" rIns="91320" bIns="45660" numCol="1" spcCol="0" rtlCol="0" fromWordArt="0" anchor="ctr" anchorCtr="0" forceAA="0" compatLnSpc="1">
            <a:prstTxWarp prst="textNoShape">
              <a:avLst/>
            </a:prstTxWarp>
            <a:noAutofit/>
          </a:bodyPr>
          <a:lstStyle/>
          <a:p>
            <a:pPr algn="ctr" defTabSz="913030">
              <a:spcAft>
                <a:spcPts val="600"/>
              </a:spcAft>
              <a:defRPr/>
            </a:pPr>
            <a:endParaRPr lang="en-US" sz="1000" dirty="0">
              <a:solidFill>
                <a:srgbClr val="000001"/>
              </a:solidFill>
              <a:latin typeface="Arial" panose="020B0604020202020204" pitchFamily="34" charset="0"/>
            </a:endParaRPr>
          </a:p>
        </p:txBody>
      </p:sp>
      <p:grpSp>
        <p:nvGrpSpPr>
          <p:cNvPr id="14" name="Group 13">
            <a:extLst>
              <a:ext uri="{FF2B5EF4-FFF2-40B4-BE49-F238E27FC236}">
                <a16:creationId xmlns:a16="http://schemas.microsoft.com/office/drawing/2014/main" id="{247ADE71-0779-134C-838C-5ABD3C2E717E}"/>
              </a:ext>
            </a:extLst>
          </p:cNvPr>
          <p:cNvGrpSpPr/>
          <p:nvPr/>
        </p:nvGrpSpPr>
        <p:grpSpPr>
          <a:xfrm>
            <a:off x="4006678" y="2963512"/>
            <a:ext cx="4000381" cy="2192897"/>
            <a:chOff x="4006133" y="2963391"/>
            <a:chExt cx="4001423" cy="2193468"/>
          </a:xfrm>
        </p:grpSpPr>
        <p:sp>
          <p:nvSpPr>
            <p:cNvPr id="196" name="Freeform: Shape 129">
              <a:extLst>
                <a:ext uri="{FF2B5EF4-FFF2-40B4-BE49-F238E27FC236}">
                  <a16:creationId xmlns:a16="http://schemas.microsoft.com/office/drawing/2014/main" id="{82B939D7-BB4B-F327-265C-DB94B2E3F4D2}"/>
                </a:ext>
              </a:extLst>
            </p:cNvPr>
            <p:cNvSpPr/>
            <p:nvPr/>
          </p:nvSpPr>
          <p:spPr>
            <a:xfrm>
              <a:off x="4006133" y="2963391"/>
              <a:ext cx="2658603" cy="603602"/>
            </a:xfrm>
            <a:custGeom>
              <a:avLst/>
              <a:gdLst>
                <a:gd name="connsiteX0" fmla="*/ 0 w 459581"/>
                <a:gd name="connsiteY0" fmla="*/ 155972 h 158353"/>
                <a:gd name="connsiteX1" fmla="*/ 0 w 459581"/>
                <a:gd name="connsiteY1" fmla="*/ 0 h 158353"/>
                <a:gd name="connsiteX2" fmla="*/ 459581 w 459581"/>
                <a:gd name="connsiteY2" fmla="*/ 0 h 158353"/>
                <a:gd name="connsiteX3" fmla="*/ 459581 w 459581"/>
                <a:gd name="connsiteY3" fmla="*/ 158353 h 158353"/>
              </a:gdLst>
              <a:ahLst/>
              <a:cxnLst>
                <a:cxn ang="0">
                  <a:pos x="connsiteX0" y="connsiteY0"/>
                </a:cxn>
                <a:cxn ang="0">
                  <a:pos x="connsiteX1" y="connsiteY1"/>
                </a:cxn>
                <a:cxn ang="0">
                  <a:pos x="connsiteX2" y="connsiteY2"/>
                </a:cxn>
                <a:cxn ang="0">
                  <a:pos x="connsiteX3" y="connsiteY3"/>
                </a:cxn>
              </a:cxnLst>
              <a:rect l="l" t="t" r="r" b="b"/>
              <a:pathLst>
                <a:path w="459581" h="158353">
                  <a:moveTo>
                    <a:pt x="0" y="155972"/>
                  </a:moveTo>
                  <a:lnTo>
                    <a:pt x="0" y="0"/>
                  </a:lnTo>
                  <a:lnTo>
                    <a:pt x="459581" y="0"/>
                  </a:lnTo>
                  <a:lnTo>
                    <a:pt x="459581" y="158353"/>
                  </a:lnTo>
                </a:path>
              </a:pathLst>
            </a:custGeom>
            <a:ln w="19050">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304">
                <a:spcAft>
                  <a:spcPts val="600"/>
                </a:spcAft>
                <a:defRPr/>
              </a:pPr>
              <a:endParaRPr lang="en-US" sz="1200" dirty="0">
                <a:solidFill>
                  <a:srgbClr val="000001"/>
                </a:solidFill>
                <a:latin typeface="Arial" panose="020B0604020202020204" pitchFamily="34" charset="0"/>
              </a:endParaRPr>
            </a:p>
          </p:txBody>
        </p:sp>
        <p:grpSp>
          <p:nvGrpSpPr>
            <p:cNvPr id="13" name="Group 12">
              <a:extLst>
                <a:ext uri="{FF2B5EF4-FFF2-40B4-BE49-F238E27FC236}">
                  <a16:creationId xmlns:a16="http://schemas.microsoft.com/office/drawing/2014/main" id="{120553F0-359A-78EF-1550-4E8909014B56}"/>
                </a:ext>
              </a:extLst>
            </p:cNvPr>
            <p:cNvGrpSpPr/>
            <p:nvPr/>
          </p:nvGrpSpPr>
          <p:grpSpPr>
            <a:xfrm>
              <a:off x="5297311" y="3300495"/>
              <a:ext cx="2710245" cy="1856364"/>
              <a:chOff x="5297311" y="3300495"/>
              <a:chExt cx="2710245" cy="1856364"/>
            </a:xfrm>
          </p:grpSpPr>
          <p:grpSp>
            <p:nvGrpSpPr>
              <p:cNvPr id="209" name="Group 208">
                <a:extLst>
                  <a:ext uri="{FF2B5EF4-FFF2-40B4-BE49-F238E27FC236}">
                    <a16:creationId xmlns:a16="http://schemas.microsoft.com/office/drawing/2014/main" id="{4B5DDF4D-797D-44F9-6789-411890F456AE}"/>
                  </a:ext>
                </a:extLst>
              </p:cNvPr>
              <p:cNvGrpSpPr/>
              <p:nvPr/>
            </p:nvGrpSpPr>
            <p:grpSpPr>
              <a:xfrm>
                <a:off x="5468720" y="3300495"/>
                <a:ext cx="2350762" cy="1489443"/>
                <a:chOff x="5390342" y="2948043"/>
                <a:chExt cx="2350762" cy="1489443"/>
              </a:xfrm>
            </p:grpSpPr>
            <p:sp>
              <p:nvSpPr>
                <p:cNvPr id="211" name="Rectangle: Rounded Corners 122">
                  <a:extLst>
                    <a:ext uri="{FF2B5EF4-FFF2-40B4-BE49-F238E27FC236}">
                      <a16:creationId xmlns:a16="http://schemas.microsoft.com/office/drawing/2014/main" id="{989E938E-B164-3201-73DC-D2AFD21B76FE}"/>
                    </a:ext>
                  </a:extLst>
                </p:cNvPr>
                <p:cNvSpPr/>
                <p:nvPr/>
              </p:nvSpPr>
              <p:spPr>
                <a:xfrm>
                  <a:off x="5390342" y="2948043"/>
                  <a:ext cx="2350762" cy="1489443"/>
                </a:xfrm>
                <a:prstGeom prst="roundRect">
                  <a:avLst>
                    <a:gd name="adj" fmla="val 6821"/>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sp>
              <p:nvSpPr>
                <p:cNvPr id="212" name="Rectangle 211">
                  <a:extLst>
                    <a:ext uri="{FF2B5EF4-FFF2-40B4-BE49-F238E27FC236}">
                      <a16:creationId xmlns:a16="http://schemas.microsoft.com/office/drawing/2014/main" id="{C157A412-E98D-8F1D-DC2B-1325183D5538}"/>
                    </a:ext>
                  </a:extLst>
                </p:cNvPr>
                <p:cNvSpPr/>
                <p:nvPr/>
              </p:nvSpPr>
              <p:spPr>
                <a:xfrm>
                  <a:off x="5615628" y="3003659"/>
                  <a:ext cx="1970176" cy="184666"/>
                </a:xfrm>
                <a:prstGeom prst="rect">
                  <a:avLst/>
                </a:prstGeom>
              </p:spPr>
              <p:txBody>
                <a:bodyPr wrap="square" lIns="0" tIns="0" rIns="0" bIns="0">
                  <a:spAutoFit/>
                </a:bodyPr>
                <a:lstStyle/>
                <a:p>
                  <a:pPr algn="ctr" defTabSz="912208">
                    <a:defRPr/>
                  </a:pPr>
                  <a:r>
                    <a:rPr lang="en-US" sz="1200" kern="0" dirty="0">
                      <a:solidFill>
                        <a:srgbClr val="000001"/>
                      </a:solidFill>
                      <a:latin typeface="Arial" panose="020B0604020202020204" pitchFamily="34" charset="0"/>
                    </a:rPr>
                    <a:t>Workload Domain</a:t>
                  </a:r>
                </a:p>
              </p:txBody>
            </p:sp>
          </p:grpSp>
          <p:sp>
            <p:nvSpPr>
              <p:cNvPr id="22" name="Rounded Rectangle 21">
                <a:extLst>
                  <a:ext uri="{FF2B5EF4-FFF2-40B4-BE49-F238E27FC236}">
                    <a16:creationId xmlns:a16="http://schemas.microsoft.com/office/drawing/2014/main" id="{7118AABB-A159-1129-86B6-4AE4E9412CD7}"/>
                  </a:ext>
                </a:extLst>
              </p:cNvPr>
              <p:cNvSpPr/>
              <p:nvPr/>
            </p:nvSpPr>
            <p:spPr bwMode="gray">
              <a:xfrm>
                <a:off x="5547643" y="3592668"/>
                <a:ext cx="1046905" cy="1319221"/>
              </a:xfrm>
              <a:prstGeom prst="roundRect">
                <a:avLst>
                  <a:gd name="adj" fmla="val 6450"/>
                </a:avLst>
              </a:prstGeom>
              <a:solidFill>
                <a:schemeClr val="bg1">
                  <a:lumMod val="95000"/>
                </a:schemeClr>
              </a:solidFill>
              <a:ln w="9525">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dirty="0">
                  <a:solidFill>
                    <a:schemeClr val="bg1"/>
                  </a:solidFill>
                </a:endParaRPr>
              </a:p>
            </p:txBody>
          </p:sp>
          <p:sp>
            <p:nvSpPr>
              <p:cNvPr id="23" name="Rounded Rectangle 22">
                <a:extLst>
                  <a:ext uri="{FF2B5EF4-FFF2-40B4-BE49-F238E27FC236}">
                    <a16:creationId xmlns:a16="http://schemas.microsoft.com/office/drawing/2014/main" id="{01637103-0F4F-0E73-E6A0-52A3E0F80087}"/>
                  </a:ext>
                </a:extLst>
              </p:cNvPr>
              <p:cNvSpPr/>
              <p:nvPr/>
            </p:nvSpPr>
            <p:spPr bwMode="gray">
              <a:xfrm>
                <a:off x="6700340" y="3585424"/>
                <a:ext cx="1046905" cy="1319221"/>
              </a:xfrm>
              <a:prstGeom prst="roundRect">
                <a:avLst>
                  <a:gd name="adj" fmla="val 6450"/>
                </a:avLst>
              </a:prstGeom>
              <a:solidFill>
                <a:schemeClr val="bg1">
                  <a:lumMod val="95000"/>
                </a:schemeClr>
              </a:solidFill>
              <a:ln w="9525">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dirty="0">
                  <a:solidFill>
                    <a:schemeClr val="bg1"/>
                  </a:solidFill>
                </a:endParaRPr>
              </a:p>
            </p:txBody>
          </p:sp>
          <p:sp>
            <p:nvSpPr>
              <p:cNvPr id="24" name="Graphic 47">
                <a:extLst>
                  <a:ext uri="{FF2B5EF4-FFF2-40B4-BE49-F238E27FC236}">
                    <a16:creationId xmlns:a16="http://schemas.microsoft.com/office/drawing/2014/main" id="{1DF34E31-94F7-AA95-7CE8-6866DB41DD4E}"/>
                  </a:ext>
                </a:extLst>
              </p:cNvPr>
              <p:cNvSpPr/>
              <p:nvPr/>
            </p:nvSpPr>
            <p:spPr>
              <a:xfrm>
                <a:off x="5715827" y="4252008"/>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2"/>
              </a:solid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25" name="Graphic 47">
                <a:extLst>
                  <a:ext uri="{FF2B5EF4-FFF2-40B4-BE49-F238E27FC236}">
                    <a16:creationId xmlns:a16="http://schemas.microsoft.com/office/drawing/2014/main" id="{42E61245-6536-5A86-FCFE-AEDB074F5DB9}"/>
                  </a:ext>
                </a:extLst>
              </p:cNvPr>
              <p:cNvSpPr/>
              <p:nvPr/>
            </p:nvSpPr>
            <p:spPr>
              <a:xfrm>
                <a:off x="5715827" y="4012412"/>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2"/>
              </a:solid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26" name="Graphic 47">
                <a:extLst>
                  <a:ext uri="{FF2B5EF4-FFF2-40B4-BE49-F238E27FC236}">
                    <a16:creationId xmlns:a16="http://schemas.microsoft.com/office/drawing/2014/main" id="{6F512062-2302-AA8C-37DB-322F1113D23E}"/>
                  </a:ext>
                </a:extLst>
              </p:cNvPr>
              <p:cNvSpPr/>
              <p:nvPr/>
            </p:nvSpPr>
            <p:spPr>
              <a:xfrm>
                <a:off x="5715827" y="3772814"/>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2"/>
              </a:solid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27" name="Rectangle: Rounded Corners 122">
                <a:extLst>
                  <a:ext uri="{FF2B5EF4-FFF2-40B4-BE49-F238E27FC236}">
                    <a16:creationId xmlns:a16="http://schemas.microsoft.com/office/drawing/2014/main" id="{41346479-F1B6-E19F-30F3-9D9D89EACE49}"/>
                  </a:ext>
                </a:extLst>
              </p:cNvPr>
              <p:cNvSpPr/>
              <p:nvPr/>
            </p:nvSpPr>
            <p:spPr>
              <a:xfrm>
                <a:off x="5641446" y="3690453"/>
                <a:ext cx="856716" cy="1026542"/>
              </a:xfrm>
              <a:prstGeom prst="roundRect">
                <a:avLst>
                  <a:gd name="adj" fmla="val 0"/>
                </a:avLst>
              </a:prstGeom>
              <a:no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sp>
            <p:nvSpPr>
              <p:cNvPr id="28" name="Graphic 47">
                <a:extLst>
                  <a:ext uri="{FF2B5EF4-FFF2-40B4-BE49-F238E27FC236}">
                    <a16:creationId xmlns:a16="http://schemas.microsoft.com/office/drawing/2014/main" id="{A26986E6-A6EF-F869-6686-33C2CE0FDF9F}"/>
                  </a:ext>
                </a:extLst>
              </p:cNvPr>
              <p:cNvSpPr/>
              <p:nvPr/>
            </p:nvSpPr>
            <p:spPr>
              <a:xfrm>
                <a:off x="6872778" y="4252008"/>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2"/>
              </a:solid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29" name="Graphic 47">
                <a:extLst>
                  <a:ext uri="{FF2B5EF4-FFF2-40B4-BE49-F238E27FC236}">
                    <a16:creationId xmlns:a16="http://schemas.microsoft.com/office/drawing/2014/main" id="{10334561-DA8F-245D-BF2A-6142A878CDBD}"/>
                  </a:ext>
                </a:extLst>
              </p:cNvPr>
              <p:cNvSpPr/>
              <p:nvPr/>
            </p:nvSpPr>
            <p:spPr>
              <a:xfrm>
                <a:off x="6872778" y="4012412"/>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2"/>
              </a:solid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30" name="Graphic 47">
                <a:extLst>
                  <a:ext uri="{FF2B5EF4-FFF2-40B4-BE49-F238E27FC236}">
                    <a16:creationId xmlns:a16="http://schemas.microsoft.com/office/drawing/2014/main" id="{7E139CA9-B5AA-6E46-42CC-7D1C911B2104}"/>
                  </a:ext>
                </a:extLst>
              </p:cNvPr>
              <p:cNvSpPr/>
              <p:nvPr/>
            </p:nvSpPr>
            <p:spPr>
              <a:xfrm>
                <a:off x="6872778" y="3772814"/>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2"/>
              </a:solid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31" name="Rectangle: Rounded Corners 122">
                <a:extLst>
                  <a:ext uri="{FF2B5EF4-FFF2-40B4-BE49-F238E27FC236}">
                    <a16:creationId xmlns:a16="http://schemas.microsoft.com/office/drawing/2014/main" id="{EFF70DB0-B009-CF3A-27E1-443A8DD8DE0E}"/>
                  </a:ext>
                </a:extLst>
              </p:cNvPr>
              <p:cNvSpPr/>
              <p:nvPr/>
            </p:nvSpPr>
            <p:spPr>
              <a:xfrm>
                <a:off x="6798397" y="3690453"/>
                <a:ext cx="856716" cy="1026542"/>
              </a:xfrm>
              <a:prstGeom prst="roundRect">
                <a:avLst>
                  <a:gd name="adj" fmla="val 0"/>
                </a:avLst>
              </a:prstGeom>
              <a:no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sp>
            <p:nvSpPr>
              <p:cNvPr id="32" name="Rectangle 31">
                <a:extLst>
                  <a:ext uri="{FF2B5EF4-FFF2-40B4-BE49-F238E27FC236}">
                    <a16:creationId xmlns:a16="http://schemas.microsoft.com/office/drawing/2014/main" id="{D2177834-0924-3890-792F-264E4878C634}"/>
                  </a:ext>
                </a:extLst>
              </p:cNvPr>
              <p:cNvSpPr/>
              <p:nvPr/>
            </p:nvSpPr>
            <p:spPr>
              <a:xfrm>
                <a:off x="5297311" y="4510251"/>
                <a:ext cx="1544986" cy="153888"/>
              </a:xfrm>
              <a:prstGeom prst="rect">
                <a:avLst/>
              </a:prstGeom>
            </p:spPr>
            <p:txBody>
              <a:bodyPr wrap="square" lIns="0" tIns="0" rIns="0" bIns="0">
                <a:spAutoFit/>
              </a:bodyPr>
              <a:lstStyle/>
              <a:p>
                <a:pPr algn="ctr" defTabSz="912208">
                  <a:defRPr/>
                </a:pPr>
                <a:r>
                  <a:rPr lang="en-US" sz="1000" kern="0" dirty="0">
                    <a:solidFill>
                      <a:srgbClr val="000001"/>
                    </a:solidFill>
                    <a:latin typeface="Arial" panose="020B0604020202020204" pitchFamily="34" charset="0"/>
                  </a:rPr>
                  <a:t>Cluster</a:t>
                </a:r>
              </a:p>
            </p:txBody>
          </p:sp>
          <p:sp>
            <p:nvSpPr>
              <p:cNvPr id="33" name="Rectangle 32">
                <a:extLst>
                  <a:ext uri="{FF2B5EF4-FFF2-40B4-BE49-F238E27FC236}">
                    <a16:creationId xmlns:a16="http://schemas.microsoft.com/office/drawing/2014/main" id="{9D55A9D3-F22E-ACD2-9C69-609B630B622A}"/>
                  </a:ext>
                </a:extLst>
              </p:cNvPr>
              <p:cNvSpPr/>
              <p:nvPr/>
            </p:nvSpPr>
            <p:spPr>
              <a:xfrm>
                <a:off x="6462570" y="4510251"/>
                <a:ext cx="1544986" cy="153888"/>
              </a:xfrm>
              <a:prstGeom prst="rect">
                <a:avLst/>
              </a:prstGeom>
            </p:spPr>
            <p:txBody>
              <a:bodyPr wrap="square" lIns="0" tIns="0" rIns="0" bIns="0">
                <a:spAutoFit/>
              </a:bodyPr>
              <a:lstStyle/>
              <a:p>
                <a:pPr algn="ctr" defTabSz="912208">
                  <a:defRPr/>
                </a:pPr>
                <a:r>
                  <a:rPr lang="en-US" sz="1000" kern="0" dirty="0">
                    <a:solidFill>
                      <a:srgbClr val="000001"/>
                    </a:solidFill>
                    <a:latin typeface="Arial" panose="020B0604020202020204" pitchFamily="34" charset="0"/>
                  </a:rPr>
                  <a:t>Cluster</a:t>
                </a:r>
              </a:p>
            </p:txBody>
          </p:sp>
          <p:sp>
            <p:nvSpPr>
              <p:cNvPr id="242" name="Oval 241">
                <a:extLst>
                  <a:ext uri="{FF2B5EF4-FFF2-40B4-BE49-F238E27FC236}">
                    <a16:creationId xmlns:a16="http://schemas.microsoft.com/office/drawing/2014/main" id="{D293065D-3B5B-C1D0-A51C-19F79BEE79F9}"/>
                  </a:ext>
                </a:extLst>
              </p:cNvPr>
              <p:cNvSpPr/>
              <p:nvPr/>
            </p:nvSpPr>
            <p:spPr>
              <a:xfrm>
                <a:off x="5905975" y="4820847"/>
                <a:ext cx="338704" cy="335690"/>
              </a:xfrm>
              <a:prstGeom prst="ellipse">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304">
                  <a:spcAft>
                    <a:spcPts val="600"/>
                  </a:spcAft>
                  <a:defRPr/>
                </a:pPr>
                <a:endParaRPr lang="en-US" sz="1200" dirty="0">
                  <a:solidFill>
                    <a:srgbClr val="000001"/>
                  </a:solidFill>
                  <a:latin typeface="Arial" panose="020B0604020202020204" pitchFamily="34" charset="0"/>
                </a:endParaRPr>
              </a:p>
            </p:txBody>
          </p:sp>
          <p:sp>
            <p:nvSpPr>
              <p:cNvPr id="34" name="Graphic 32">
                <a:extLst>
                  <a:ext uri="{FF2B5EF4-FFF2-40B4-BE49-F238E27FC236}">
                    <a16:creationId xmlns:a16="http://schemas.microsoft.com/office/drawing/2014/main" id="{4B47925C-F6BB-B8D4-04E8-39179151081D}"/>
                  </a:ext>
                </a:extLst>
              </p:cNvPr>
              <p:cNvSpPr/>
              <p:nvPr/>
            </p:nvSpPr>
            <p:spPr>
              <a:xfrm>
                <a:off x="5979474" y="4870627"/>
                <a:ext cx="191704" cy="236129"/>
              </a:xfrm>
              <a:custGeom>
                <a:avLst/>
                <a:gdLst>
                  <a:gd name="connsiteX0" fmla="*/ 449737 w 899474"/>
                  <a:gd name="connsiteY0" fmla="*/ 0 h 1117872"/>
                  <a:gd name="connsiteX1" fmla="*/ 0 w 899474"/>
                  <a:gd name="connsiteY1" fmla="*/ 445121 h 1117872"/>
                  <a:gd name="connsiteX2" fmla="*/ 106891 w 899474"/>
                  <a:gd name="connsiteY2" fmla="*/ 732939 h 1117872"/>
                  <a:gd name="connsiteX3" fmla="*/ 109877 w 899474"/>
                  <a:gd name="connsiteY3" fmla="*/ 736559 h 1117872"/>
                  <a:gd name="connsiteX4" fmla="*/ 449737 w 899474"/>
                  <a:gd name="connsiteY4" fmla="*/ 1117872 h 1117872"/>
                  <a:gd name="connsiteX5" fmla="*/ 789597 w 899474"/>
                  <a:gd name="connsiteY5" fmla="*/ 736559 h 1117872"/>
                  <a:gd name="connsiteX6" fmla="*/ 792584 w 899474"/>
                  <a:gd name="connsiteY6" fmla="*/ 732939 h 1117872"/>
                  <a:gd name="connsiteX7" fmla="*/ 899474 w 899474"/>
                  <a:gd name="connsiteY7" fmla="*/ 445121 h 1117872"/>
                  <a:gd name="connsiteX8" fmla="*/ 449737 w 899474"/>
                  <a:gd name="connsiteY8" fmla="*/ 0 h 1117872"/>
                  <a:gd name="connsiteX9" fmla="*/ 769957 w 899474"/>
                  <a:gd name="connsiteY9" fmla="*/ 714204 h 1117872"/>
                  <a:gd name="connsiteX10" fmla="*/ 767332 w 899474"/>
                  <a:gd name="connsiteY10" fmla="*/ 717371 h 1117872"/>
                  <a:gd name="connsiteX11" fmla="*/ 449737 w 899474"/>
                  <a:gd name="connsiteY11" fmla="*/ 1073613 h 1117872"/>
                  <a:gd name="connsiteX12" fmla="*/ 132233 w 899474"/>
                  <a:gd name="connsiteY12" fmla="*/ 717371 h 1117872"/>
                  <a:gd name="connsiteX13" fmla="*/ 129246 w 899474"/>
                  <a:gd name="connsiteY13" fmla="*/ 713842 h 1117872"/>
                  <a:gd name="connsiteX14" fmla="*/ 29415 w 899474"/>
                  <a:gd name="connsiteY14" fmla="*/ 445121 h 1117872"/>
                  <a:gd name="connsiteX15" fmla="*/ 449737 w 899474"/>
                  <a:gd name="connsiteY15" fmla="*/ 29415 h 1117872"/>
                  <a:gd name="connsiteX16" fmla="*/ 870059 w 899474"/>
                  <a:gd name="connsiteY16" fmla="*/ 445121 h 1117872"/>
                  <a:gd name="connsiteX17" fmla="*/ 769957 w 899474"/>
                  <a:gd name="connsiteY17" fmla="*/ 714204 h 1117872"/>
                  <a:gd name="connsiteX18" fmla="*/ 485217 w 899474"/>
                  <a:gd name="connsiteY18" fmla="*/ 263380 h 1117872"/>
                  <a:gd name="connsiteX19" fmla="*/ 295330 w 899474"/>
                  <a:gd name="connsiteY19" fmla="*/ 263380 h 1117872"/>
                  <a:gd name="connsiteX20" fmla="*/ 295330 w 899474"/>
                  <a:gd name="connsiteY20" fmla="*/ 645236 h 1117872"/>
                  <a:gd name="connsiteX21" fmla="*/ 265914 w 899474"/>
                  <a:gd name="connsiteY21" fmla="*/ 645236 h 1117872"/>
                  <a:gd name="connsiteX22" fmla="*/ 265914 w 899474"/>
                  <a:gd name="connsiteY22" fmla="*/ 233965 h 1117872"/>
                  <a:gd name="connsiteX23" fmla="*/ 514722 w 899474"/>
                  <a:gd name="connsiteY23" fmla="*/ 233965 h 1117872"/>
                  <a:gd name="connsiteX24" fmla="*/ 514722 w 899474"/>
                  <a:gd name="connsiteY24" fmla="*/ 402854 h 1117872"/>
                  <a:gd name="connsiteX25" fmla="*/ 485307 w 899474"/>
                  <a:gd name="connsiteY25" fmla="*/ 402854 h 1117872"/>
                  <a:gd name="connsiteX26" fmla="*/ 485307 w 899474"/>
                  <a:gd name="connsiteY26" fmla="*/ 263380 h 1117872"/>
                  <a:gd name="connsiteX27" fmla="*/ 424938 w 899474"/>
                  <a:gd name="connsiteY27" fmla="*/ 432179 h 1117872"/>
                  <a:gd name="connsiteX28" fmla="*/ 633741 w 899474"/>
                  <a:gd name="connsiteY28" fmla="*/ 432179 h 1117872"/>
                  <a:gd name="connsiteX29" fmla="*/ 633741 w 899474"/>
                  <a:gd name="connsiteY29" fmla="*/ 645146 h 1117872"/>
                  <a:gd name="connsiteX30" fmla="*/ 604326 w 899474"/>
                  <a:gd name="connsiteY30" fmla="*/ 645146 h 1117872"/>
                  <a:gd name="connsiteX31" fmla="*/ 604326 w 899474"/>
                  <a:gd name="connsiteY31" fmla="*/ 461594 h 1117872"/>
                  <a:gd name="connsiteX32" fmla="*/ 454353 w 899474"/>
                  <a:gd name="connsiteY32" fmla="*/ 461594 h 1117872"/>
                  <a:gd name="connsiteX33" fmla="*/ 454353 w 899474"/>
                  <a:gd name="connsiteY33" fmla="*/ 645146 h 1117872"/>
                  <a:gd name="connsiteX34" fmla="*/ 424938 w 899474"/>
                  <a:gd name="connsiteY34" fmla="*/ 645146 h 1117872"/>
                  <a:gd name="connsiteX35" fmla="*/ 424938 w 899474"/>
                  <a:gd name="connsiteY35" fmla="*/ 432179 h 1117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99474" h="1117872">
                    <a:moveTo>
                      <a:pt x="449737" y="0"/>
                    </a:moveTo>
                    <a:cubicBezTo>
                      <a:pt x="201382" y="0"/>
                      <a:pt x="0" y="199300"/>
                      <a:pt x="0" y="445121"/>
                    </a:cubicBezTo>
                    <a:cubicBezTo>
                      <a:pt x="0" y="554818"/>
                      <a:pt x="40186" y="655101"/>
                      <a:pt x="106891" y="732939"/>
                    </a:cubicBezTo>
                    <a:lnTo>
                      <a:pt x="109877" y="736559"/>
                    </a:lnTo>
                    <a:lnTo>
                      <a:pt x="449737" y="1117872"/>
                    </a:lnTo>
                    <a:lnTo>
                      <a:pt x="789597" y="736559"/>
                    </a:lnTo>
                    <a:lnTo>
                      <a:pt x="792584" y="732939"/>
                    </a:lnTo>
                    <a:cubicBezTo>
                      <a:pt x="859379" y="655101"/>
                      <a:pt x="899474" y="554818"/>
                      <a:pt x="899474" y="445121"/>
                    </a:cubicBezTo>
                    <a:cubicBezTo>
                      <a:pt x="899565" y="199300"/>
                      <a:pt x="698183" y="0"/>
                      <a:pt x="449737" y="0"/>
                    </a:cubicBezTo>
                    <a:close/>
                    <a:moveTo>
                      <a:pt x="769957" y="714204"/>
                    </a:moveTo>
                    <a:lnTo>
                      <a:pt x="767332" y="717371"/>
                    </a:lnTo>
                    <a:lnTo>
                      <a:pt x="449737" y="1073613"/>
                    </a:lnTo>
                    <a:lnTo>
                      <a:pt x="132233" y="717371"/>
                    </a:lnTo>
                    <a:lnTo>
                      <a:pt x="129246" y="713842"/>
                    </a:lnTo>
                    <a:cubicBezTo>
                      <a:pt x="64895" y="638719"/>
                      <a:pt x="29415" y="543323"/>
                      <a:pt x="29415" y="445121"/>
                    </a:cubicBezTo>
                    <a:cubicBezTo>
                      <a:pt x="29415" y="215954"/>
                      <a:pt x="218035" y="29415"/>
                      <a:pt x="449737" y="29415"/>
                    </a:cubicBezTo>
                    <a:cubicBezTo>
                      <a:pt x="681530" y="29415"/>
                      <a:pt x="870059" y="215863"/>
                      <a:pt x="870059" y="445121"/>
                    </a:cubicBezTo>
                    <a:cubicBezTo>
                      <a:pt x="870150" y="543323"/>
                      <a:pt x="834670" y="638719"/>
                      <a:pt x="769957" y="714204"/>
                    </a:cubicBezTo>
                    <a:close/>
                    <a:moveTo>
                      <a:pt x="485217" y="263380"/>
                    </a:moveTo>
                    <a:lnTo>
                      <a:pt x="295330" y="263380"/>
                    </a:lnTo>
                    <a:lnTo>
                      <a:pt x="295330" y="645236"/>
                    </a:lnTo>
                    <a:lnTo>
                      <a:pt x="265914" y="645236"/>
                    </a:lnTo>
                    <a:lnTo>
                      <a:pt x="265914" y="233965"/>
                    </a:lnTo>
                    <a:lnTo>
                      <a:pt x="514722" y="233965"/>
                    </a:lnTo>
                    <a:lnTo>
                      <a:pt x="514722" y="402854"/>
                    </a:lnTo>
                    <a:lnTo>
                      <a:pt x="485307" y="402854"/>
                    </a:lnTo>
                    <a:lnTo>
                      <a:pt x="485307" y="263380"/>
                    </a:lnTo>
                    <a:close/>
                    <a:moveTo>
                      <a:pt x="424938" y="432179"/>
                    </a:moveTo>
                    <a:lnTo>
                      <a:pt x="633741" y="432179"/>
                    </a:lnTo>
                    <a:lnTo>
                      <a:pt x="633741" y="645146"/>
                    </a:lnTo>
                    <a:lnTo>
                      <a:pt x="604326" y="645146"/>
                    </a:lnTo>
                    <a:lnTo>
                      <a:pt x="604326" y="461594"/>
                    </a:lnTo>
                    <a:lnTo>
                      <a:pt x="454353" y="461594"/>
                    </a:lnTo>
                    <a:lnTo>
                      <a:pt x="454353" y="645146"/>
                    </a:lnTo>
                    <a:lnTo>
                      <a:pt x="424938" y="645146"/>
                    </a:lnTo>
                    <a:lnTo>
                      <a:pt x="424938" y="432179"/>
                    </a:lnTo>
                    <a:close/>
                  </a:path>
                </a:pathLst>
              </a:custGeom>
              <a:solidFill>
                <a:schemeClr val="tx1"/>
              </a:solidFill>
              <a:ln w="904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245" name="Oval 244">
                <a:extLst>
                  <a:ext uri="{FF2B5EF4-FFF2-40B4-BE49-F238E27FC236}">
                    <a16:creationId xmlns:a16="http://schemas.microsoft.com/office/drawing/2014/main" id="{DD382209-3EEB-C7A1-C8DD-51819FB8D17D}"/>
                  </a:ext>
                </a:extLst>
              </p:cNvPr>
              <p:cNvSpPr/>
              <p:nvPr/>
            </p:nvSpPr>
            <p:spPr>
              <a:xfrm>
                <a:off x="7048239" y="4821169"/>
                <a:ext cx="338704" cy="335690"/>
              </a:xfrm>
              <a:prstGeom prst="ellipse">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304">
                  <a:spcAft>
                    <a:spcPts val="600"/>
                  </a:spcAft>
                  <a:defRPr/>
                </a:pPr>
                <a:endParaRPr lang="en-US" sz="1200" dirty="0">
                  <a:solidFill>
                    <a:srgbClr val="000001"/>
                  </a:solidFill>
                  <a:latin typeface="Arial" panose="020B0604020202020204" pitchFamily="34" charset="0"/>
                </a:endParaRPr>
              </a:p>
            </p:txBody>
          </p:sp>
          <p:sp>
            <p:nvSpPr>
              <p:cNvPr id="35" name="Graphic 32">
                <a:extLst>
                  <a:ext uri="{FF2B5EF4-FFF2-40B4-BE49-F238E27FC236}">
                    <a16:creationId xmlns:a16="http://schemas.microsoft.com/office/drawing/2014/main" id="{4D048B47-1713-0FC5-88A9-8AE80AFD5B8D}"/>
                  </a:ext>
                </a:extLst>
              </p:cNvPr>
              <p:cNvSpPr/>
              <p:nvPr/>
            </p:nvSpPr>
            <p:spPr>
              <a:xfrm>
                <a:off x="7121738" y="4870949"/>
                <a:ext cx="191704" cy="236129"/>
              </a:xfrm>
              <a:custGeom>
                <a:avLst/>
                <a:gdLst>
                  <a:gd name="connsiteX0" fmla="*/ 449737 w 899474"/>
                  <a:gd name="connsiteY0" fmla="*/ 0 h 1117872"/>
                  <a:gd name="connsiteX1" fmla="*/ 0 w 899474"/>
                  <a:gd name="connsiteY1" fmla="*/ 445121 h 1117872"/>
                  <a:gd name="connsiteX2" fmla="*/ 106891 w 899474"/>
                  <a:gd name="connsiteY2" fmla="*/ 732939 h 1117872"/>
                  <a:gd name="connsiteX3" fmla="*/ 109877 w 899474"/>
                  <a:gd name="connsiteY3" fmla="*/ 736559 h 1117872"/>
                  <a:gd name="connsiteX4" fmla="*/ 449737 w 899474"/>
                  <a:gd name="connsiteY4" fmla="*/ 1117872 h 1117872"/>
                  <a:gd name="connsiteX5" fmla="*/ 789597 w 899474"/>
                  <a:gd name="connsiteY5" fmla="*/ 736559 h 1117872"/>
                  <a:gd name="connsiteX6" fmla="*/ 792584 w 899474"/>
                  <a:gd name="connsiteY6" fmla="*/ 732939 h 1117872"/>
                  <a:gd name="connsiteX7" fmla="*/ 899474 w 899474"/>
                  <a:gd name="connsiteY7" fmla="*/ 445121 h 1117872"/>
                  <a:gd name="connsiteX8" fmla="*/ 449737 w 899474"/>
                  <a:gd name="connsiteY8" fmla="*/ 0 h 1117872"/>
                  <a:gd name="connsiteX9" fmla="*/ 769957 w 899474"/>
                  <a:gd name="connsiteY9" fmla="*/ 714204 h 1117872"/>
                  <a:gd name="connsiteX10" fmla="*/ 767332 w 899474"/>
                  <a:gd name="connsiteY10" fmla="*/ 717371 h 1117872"/>
                  <a:gd name="connsiteX11" fmla="*/ 449737 w 899474"/>
                  <a:gd name="connsiteY11" fmla="*/ 1073613 h 1117872"/>
                  <a:gd name="connsiteX12" fmla="*/ 132233 w 899474"/>
                  <a:gd name="connsiteY12" fmla="*/ 717371 h 1117872"/>
                  <a:gd name="connsiteX13" fmla="*/ 129246 w 899474"/>
                  <a:gd name="connsiteY13" fmla="*/ 713842 h 1117872"/>
                  <a:gd name="connsiteX14" fmla="*/ 29415 w 899474"/>
                  <a:gd name="connsiteY14" fmla="*/ 445121 h 1117872"/>
                  <a:gd name="connsiteX15" fmla="*/ 449737 w 899474"/>
                  <a:gd name="connsiteY15" fmla="*/ 29415 h 1117872"/>
                  <a:gd name="connsiteX16" fmla="*/ 870059 w 899474"/>
                  <a:gd name="connsiteY16" fmla="*/ 445121 h 1117872"/>
                  <a:gd name="connsiteX17" fmla="*/ 769957 w 899474"/>
                  <a:gd name="connsiteY17" fmla="*/ 714204 h 1117872"/>
                  <a:gd name="connsiteX18" fmla="*/ 485217 w 899474"/>
                  <a:gd name="connsiteY18" fmla="*/ 263380 h 1117872"/>
                  <a:gd name="connsiteX19" fmla="*/ 295330 w 899474"/>
                  <a:gd name="connsiteY19" fmla="*/ 263380 h 1117872"/>
                  <a:gd name="connsiteX20" fmla="*/ 295330 w 899474"/>
                  <a:gd name="connsiteY20" fmla="*/ 645236 h 1117872"/>
                  <a:gd name="connsiteX21" fmla="*/ 265914 w 899474"/>
                  <a:gd name="connsiteY21" fmla="*/ 645236 h 1117872"/>
                  <a:gd name="connsiteX22" fmla="*/ 265914 w 899474"/>
                  <a:gd name="connsiteY22" fmla="*/ 233965 h 1117872"/>
                  <a:gd name="connsiteX23" fmla="*/ 514722 w 899474"/>
                  <a:gd name="connsiteY23" fmla="*/ 233965 h 1117872"/>
                  <a:gd name="connsiteX24" fmla="*/ 514722 w 899474"/>
                  <a:gd name="connsiteY24" fmla="*/ 402854 h 1117872"/>
                  <a:gd name="connsiteX25" fmla="*/ 485307 w 899474"/>
                  <a:gd name="connsiteY25" fmla="*/ 402854 h 1117872"/>
                  <a:gd name="connsiteX26" fmla="*/ 485307 w 899474"/>
                  <a:gd name="connsiteY26" fmla="*/ 263380 h 1117872"/>
                  <a:gd name="connsiteX27" fmla="*/ 424938 w 899474"/>
                  <a:gd name="connsiteY27" fmla="*/ 432179 h 1117872"/>
                  <a:gd name="connsiteX28" fmla="*/ 633741 w 899474"/>
                  <a:gd name="connsiteY28" fmla="*/ 432179 h 1117872"/>
                  <a:gd name="connsiteX29" fmla="*/ 633741 w 899474"/>
                  <a:gd name="connsiteY29" fmla="*/ 645146 h 1117872"/>
                  <a:gd name="connsiteX30" fmla="*/ 604326 w 899474"/>
                  <a:gd name="connsiteY30" fmla="*/ 645146 h 1117872"/>
                  <a:gd name="connsiteX31" fmla="*/ 604326 w 899474"/>
                  <a:gd name="connsiteY31" fmla="*/ 461594 h 1117872"/>
                  <a:gd name="connsiteX32" fmla="*/ 454353 w 899474"/>
                  <a:gd name="connsiteY32" fmla="*/ 461594 h 1117872"/>
                  <a:gd name="connsiteX33" fmla="*/ 454353 w 899474"/>
                  <a:gd name="connsiteY33" fmla="*/ 645146 h 1117872"/>
                  <a:gd name="connsiteX34" fmla="*/ 424938 w 899474"/>
                  <a:gd name="connsiteY34" fmla="*/ 645146 h 1117872"/>
                  <a:gd name="connsiteX35" fmla="*/ 424938 w 899474"/>
                  <a:gd name="connsiteY35" fmla="*/ 432179 h 1117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99474" h="1117872">
                    <a:moveTo>
                      <a:pt x="449737" y="0"/>
                    </a:moveTo>
                    <a:cubicBezTo>
                      <a:pt x="201382" y="0"/>
                      <a:pt x="0" y="199300"/>
                      <a:pt x="0" y="445121"/>
                    </a:cubicBezTo>
                    <a:cubicBezTo>
                      <a:pt x="0" y="554818"/>
                      <a:pt x="40186" y="655101"/>
                      <a:pt x="106891" y="732939"/>
                    </a:cubicBezTo>
                    <a:lnTo>
                      <a:pt x="109877" y="736559"/>
                    </a:lnTo>
                    <a:lnTo>
                      <a:pt x="449737" y="1117872"/>
                    </a:lnTo>
                    <a:lnTo>
                      <a:pt x="789597" y="736559"/>
                    </a:lnTo>
                    <a:lnTo>
                      <a:pt x="792584" y="732939"/>
                    </a:lnTo>
                    <a:cubicBezTo>
                      <a:pt x="859379" y="655101"/>
                      <a:pt x="899474" y="554818"/>
                      <a:pt x="899474" y="445121"/>
                    </a:cubicBezTo>
                    <a:cubicBezTo>
                      <a:pt x="899565" y="199300"/>
                      <a:pt x="698183" y="0"/>
                      <a:pt x="449737" y="0"/>
                    </a:cubicBezTo>
                    <a:close/>
                    <a:moveTo>
                      <a:pt x="769957" y="714204"/>
                    </a:moveTo>
                    <a:lnTo>
                      <a:pt x="767332" y="717371"/>
                    </a:lnTo>
                    <a:lnTo>
                      <a:pt x="449737" y="1073613"/>
                    </a:lnTo>
                    <a:lnTo>
                      <a:pt x="132233" y="717371"/>
                    </a:lnTo>
                    <a:lnTo>
                      <a:pt x="129246" y="713842"/>
                    </a:lnTo>
                    <a:cubicBezTo>
                      <a:pt x="64895" y="638719"/>
                      <a:pt x="29415" y="543323"/>
                      <a:pt x="29415" y="445121"/>
                    </a:cubicBezTo>
                    <a:cubicBezTo>
                      <a:pt x="29415" y="215954"/>
                      <a:pt x="218035" y="29415"/>
                      <a:pt x="449737" y="29415"/>
                    </a:cubicBezTo>
                    <a:cubicBezTo>
                      <a:pt x="681530" y="29415"/>
                      <a:pt x="870059" y="215863"/>
                      <a:pt x="870059" y="445121"/>
                    </a:cubicBezTo>
                    <a:cubicBezTo>
                      <a:pt x="870150" y="543323"/>
                      <a:pt x="834670" y="638719"/>
                      <a:pt x="769957" y="714204"/>
                    </a:cubicBezTo>
                    <a:close/>
                    <a:moveTo>
                      <a:pt x="485217" y="263380"/>
                    </a:moveTo>
                    <a:lnTo>
                      <a:pt x="295330" y="263380"/>
                    </a:lnTo>
                    <a:lnTo>
                      <a:pt x="295330" y="645236"/>
                    </a:lnTo>
                    <a:lnTo>
                      <a:pt x="265914" y="645236"/>
                    </a:lnTo>
                    <a:lnTo>
                      <a:pt x="265914" y="233965"/>
                    </a:lnTo>
                    <a:lnTo>
                      <a:pt x="514722" y="233965"/>
                    </a:lnTo>
                    <a:lnTo>
                      <a:pt x="514722" y="402854"/>
                    </a:lnTo>
                    <a:lnTo>
                      <a:pt x="485307" y="402854"/>
                    </a:lnTo>
                    <a:lnTo>
                      <a:pt x="485307" y="263380"/>
                    </a:lnTo>
                    <a:close/>
                    <a:moveTo>
                      <a:pt x="424938" y="432179"/>
                    </a:moveTo>
                    <a:lnTo>
                      <a:pt x="633741" y="432179"/>
                    </a:lnTo>
                    <a:lnTo>
                      <a:pt x="633741" y="645146"/>
                    </a:lnTo>
                    <a:lnTo>
                      <a:pt x="604326" y="645146"/>
                    </a:lnTo>
                    <a:lnTo>
                      <a:pt x="604326" y="461594"/>
                    </a:lnTo>
                    <a:lnTo>
                      <a:pt x="454353" y="461594"/>
                    </a:lnTo>
                    <a:lnTo>
                      <a:pt x="454353" y="645146"/>
                    </a:lnTo>
                    <a:lnTo>
                      <a:pt x="424938" y="645146"/>
                    </a:lnTo>
                    <a:lnTo>
                      <a:pt x="424938" y="432179"/>
                    </a:lnTo>
                    <a:close/>
                  </a:path>
                </a:pathLst>
              </a:custGeom>
              <a:solidFill>
                <a:schemeClr val="tx1"/>
              </a:solidFill>
              <a:ln w="904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grpSp>
      </p:grpSp>
      <p:sp>
        <p:nvSpPr>
          <p:cNvPr id="21" name="Rounded Rectangle 20">
            <a:extLst>
              <a:ext uri="{FF2B5EF4-FFF2-40B4-BE49-F238E27FC236}">
                <a16:creationId xmlns:a16="http://schemas.microsoft.com/office/drawing/2014/main" id="{5FBA233F-26EE-5E32-DE7A-EF46C339BA63}"/>
              </a:ext>
            </a:extLst>
          </p:cNvPr>
          <p:cNvSpPr/>
          <p:nvPr/>
        </p:nvSpPr>
        <p:spPr bwMode="gray">
          <a:xfrm>
            <a:off x="2910948" y="3183341"/>
            <a:ext cx="2208157" cy="1728162"/>
          </a:xfrm>
          <a:prstGeom prst="roundRect">
            <a:avLst>
              <a:gd name="adj" fmla="val 6450"/>
            </a:avLst>
          </a:prstGeom>
          <a:solidFill>
            <a:schemeClr val="bg1">
              <a:lumMod val="95000"/>
            </a:schemeClr>
          </a:solidFill>
          <a:ln w="9525">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dirty="0">
              <a:solidFill>
                <a:schemeClr val="bg1"/>
              </a:solidFill>
            </a:endParaRPr>
          </a:p>
        </p:txBody>
      </p:sp>
      <p:sp>
        <p:nvSpPr>
          <p:cNvPr id="2" name="Title 1">
            <a:extLst>
              <a:ext uri="{FF2B5EF4-FFF2-40B4-BE49-F238E27FC236}">
                <a16:creationId xmlns:a16="http://schemas.microsoft.com/office/drawing/2014/main" id="{7D9423CA-949F-108D-E74F-AC8102B51624}"/>
              </a:ext>
            </a:extLst>
          </p:cNvPr>
          <p:cNvSpPr>
            <a:spLocks noGrp="1"/>
          </p:cNvSpPr>
          <p:nvPr>
            <p:ph type="title"/>
          </p:nvPr>
        </p:nvSpPr>
        <p:spPr/>
        <p:txBody>
          <a:bodyPr/>
          <a:lstStyle/>
          <a:p>
            <a:r>
              <a:rPr lang="en-US" dirty="0">
                <a:latin typeface="Arial" panose="020B0604020202020204" pitchFamily="34" charset="0"/>
              </a:rPr>
              <a:t>Remote Site Topologies</a:t>
            </a:r>
          </a:p>
        </p:txBody>
      </p:sp>
      <p:sp>
        <p:nvSpPr>
          <p:cNvPr id="3" name="Subtitle 2">
            <a:extLst>
              <a:ext uri="{FF2B5EF4-FFF2-40B4-BE49-F238E27FC236}">
                <a16:creationId xmlns:a16="http://schemas.microsoft.com/office/drawing/2014/main" id="{A161EEF8-ADB4-630F-8C93-6AD51D480DCB}"/>
              </a:ext>
            </a:extLst>
          </p:cNvPr>
          <p:cNvSpPr>
            <a:spLocks noGrp="1"/>
          </p:cNvSpPr>
          <p:nvPr>
            <p:ph type="subTitle" idx="10"/>
          </p:nvPr>
        </p:nvSpPr>
        <p:spPr/>
        <p:txBody>
          <a:bodyPr/>
          <a:lstStyle/>
          <a:p>
            <a:r>
              <a:rPr lang="en-US" dirty="0"/>
              <a:t>Configure a Remote Workload Domain or a Remote Cluster</a:t>
            </a:r>
          </a:p>
        </p:txBody>
      </p:sp>
      <p:sp>
        <p:nvSpPr>
          <p:cNvPr id="4" name="Text Placeholder 3">
            <a:extLst>
              <a:ext uri="{FF2B5EF4-FFF2-40B4-BE49-F238E27FC236}">
                <a16:creationId xmlns:a16="http://schemas.microsoft.com/office/drawing/2014/main" id="{6CF5054D-9BE6-B0B2-4B7F-8634093C8638}"/>
              </a:ext>
            </a:extLst>
          </p:cNvPr>
          <p:cNvSpPr>
            <a:spLocks noGrp="1"/>
          </p:cNvSpPr>
          <p:nvPr>
            <p:ph type="body" sz="quarter" idx="17"/>
          </p:nvPr>
        </p:nvSpPr>
        <p:spPr>
          <a:xfrm>
            <a:off x="8424776" y="1600676"/>
            <a:ext cx="3762463" cy="4570809"/>
          </a:xfrm>
        </p:spPr>
        <p:txBody>
          <a:bodyPr/>
          <a:lstStyle/>
          <a:p>
            <a:pPr>
              <a:buNone/>
            </a:pPr>
            <a:r>
              <a:rPr lang="en-US" dirty="0"/>
              <a:t>Provide presence for remote sites through centralized management</a:t>
            </a:r>
          </a:p>
          <a:p>
            <a:pPr>
              <a:buNone/>
            </a:pPr>
            <a:r>
              <a:rPr lang="en-US" dirty="0"/>
              <a:t>Place resources close to workers</a:t>
            </a:r>
          </a:p>
          <a:p>
            <a:pPr>
              <a:buNone/>
            </a:pPr>
            <a:r>
              <a:rPr lang="en-US" dirty="0"/>
              <a:t>Use VCF Operations to perform Fleet Management operations for each remote site</a:t>
            </a:r>
          </a:p>
          <a:p>
            <a:pPr>
              <a:buNone/>
            </a:pPr>
            <a:r>
              <a:rPr lang="en-US" dirty="0"/>
              <a:t>Choose the topology that best suits your requirements for:</a:t>
            </a:r>
          </a:p>
          <a:p>
            <a:pPr marL="285664" indent="-285664">
              <a:buFont typeface="Arial" panose="020B0604020202020204" pitchFamily="34" charset="0"/>
              <a:buChar char="•"/>
            </a:pPr>
            <a:r>
              <a:rPr lang="en-US" sz="1400" dirty="0"/>
              <a:t>Management</a:t>
            </a:r>
          </a:p>
          <a:p>
            <a:pPr marL="285664" indent="-285664">
              <a:buFont typeface="Arial" panose="020B0604020202020204" pitchFamily="34" charset="0"/>
              <a:buChar char="•"/>
            </a:pPr>
            <a:r>
              <a:rPr lang="en-US" sz="1400" dirty="0"/>
              <a:t>Scale</a:t>
            </a:r>
          </a:p>
          <a:p>
            <a:pPr marL="285664" indent="-285664">
              <a:buFont typeface="Arial" panose="020B0604020202020204" pitchFamily="34" charset="0"/>
              <a:buChar char="•"/>
            </a:pPr>
            <a:r>
              <a:rPr lang="en-US" sz="1400" dirty="0"/>
              <a:t>Networking</a:t>
            </a:r>
            <a:br>
              <a:rPr lang="en-US" sz="1400" dirty="0"/>
            </a:br>
            <a:endParaRPr lang="en-US" sz="1400" dirty="0"/>
          </a:p>
          <a:p>
            <a:pPr>
              <a:buNone/>
            </a:pPr>
            <a:r>
              <a:rPr lang="en-US" sz="1400" dirty="0"/>
              <a:t>Bandwidth &amp; latency requirements apply</a:t>
            </a:r>
          </a:p>
        </p:txBody>
      </p:sp>
      <p:cxnSp>
        <p:nvCxnSpPr>
          <p:cNvPr id="47" name="Straight Connector 46">
            <a:extLst>
              <a:ext uri="{FF2B5EF4-FFF2-40B4-BE49-F238E27FC236}">
                <a16:creationId xmlns:a16="http://schemas.microsoft.com/office/drawing/2014/main" id="{37F080B7-DDC0-A7F2-B60F-EFD4705494BB}"/>
              </a:ext>
            </a:extLst>
          </p:cNvPr>
          <p:cNvCxnSpPr>
            <a:cxnSpLocks/>
          </p:cNvCxnSpPr>
          <p:nvPr/>
        </p:nvCxnSpPr>
        <p:spPr bwMode="gray">
          <a:xfrm>
            <a:off x="4006681" y="3061206"/>
            <a:ext cx="0" cy="492844"/>
          </a:xfrm>
          <a:prstGeom prst="line">
            <a:avLst/>
          </a:prstGeom>
          <a:ln w="19050">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A163BCAF-4391-73D0-0C07-2543944038C2}"/>
              </a:ext>
            </a:extLst>
          </p:cNvPr>
          <p:cNvSpPr txBox="1"/>
          <p:nvPr/>
        </p:nvSpPr>
        <p:spPr>
          <a:xfrm>
            <a:off x="658597" y="4991428"/>
            <a:ext cx="2637755" cy="1125336"/>
          </a:xfrm>
          <a:prstGeom prst="rect">
            <a:avLst/>
          </a:prstGeom>
        </p:spPr>
        <p:txBody>
          <a:bodyPr wrap="square" lIns="0" tIns="0" rIns="0" bIns="0" rtlCol="0">
            <a:spAutoFit/>
          </a:bodyPr>
          <a:lstStyle/>
          <a:p>
            <a:pPr defTabSz="913578">
              <a:lnSpc>
                <a:spcPct val="150000"/>
              </a:lnSpc>
              <a:spcAft>
                <a:spcPts val="600"/>
              </a:spcAft>
              <a:buClr>
                <a:srgbClr val="F2F2F2">
                  <a:lumMod val="50000"/>
                </a:srgbClr>
              </a:buClr>
              <a:defRPr/>
            </a:pPr>
            <a:br>
              <a:rPr lang="en-US" sz="1000" dirty="0">
                <a:solidFill>
                  <a:srgbClr val="1B1E35"/>
                </a:solidFill>
                <a:latin typeface="Arial" panose="020B0604020202020204" pitchFamily="34" charset="0"/>
              </a:rPr>
            </a:br>
            <a:r>
              <a:rPr lang="en-US" sz="1000" b="1" dirty="0">
                <a:solidFill>
                  <a:schemeClr val="accent2"/>
                </a:solidFill>
                <a:latin typeface="Arial" panose="020B0604020202020204" pitchFamily="34" charset="0"/>
              </a:rPr>
              <a:t>Remote Workload Domain Example</a:t>
            </a:r>
            <a:br>
              <a:rPr lang="en-US" sz="1000" dirty="0">
                <a:solidFill>
                  <a:srgbClr val="1B1E35"/>
                </a:solidFill>
                <a:latin typeface="Arial" panose="020B0604020202020204" pitchFamily="34" charset="0"/>
              </a:rPr>
            </a:br>
            <a:r>
              <a:rPr lang="en-US" sz="1000" dirty="0">
                <a:solidFill>
                  <a:srgbClr val="1B1E35"/>
                </a:solidFill>
                <a:latin typeface="Arial" panose="020B0604020202020204" pitchFamily="34" charset="0"/>
              </a:rPr>
              <a:t>Workload Domain: 1 per site</a:t>
            </a:r>
            <a:br>
              <a:rPr lang="en-US" sz="1000" dirty="0">
                <a:solidFill>
                  <a:srgbClr val="1B1E35"/>
                </a:solidFill>
                <a:latin typeface="Arial" panose="020B0604020202020204" pitchFamily="34" charset="0"/>
              </a:rPr>
            </a:br>
            <a:r>
              <a:rPr lang="en-US" sz="1000" dirty="0">
                <a:solidFill>
                  <a:srgbClr val="1B1E35"/>
                </a:solidFill>
                <a:latin typeface="Arial" panose="020B0604020202020204" pitchFamily="34" charset="0"/>
              </a:rPr>
              <a:t>Clusters: 1 x cluster per domain</a:t>
            </a:r>
            <a:br>
              <a:rPr lang="en-US" sz="1000" dirty="0">
                <a:solidFill>
                  <a:srgbClr val="1B1E35"/>
                </a:solidFill>
                <a:latin typeface="Arial" panose="020B0604020202020204" pitchFamily="34" charset="0"/>
              </a:rPr>
            </a:br>
            <a:endParaRPr lang="en-US" sz="1000" dirty="0">
              <a:solidFill>
                <a:srgbClr val="1B1E35"/>
              </a:solidFill>
              <a:latin typeface="Arial" panose="020B0604020202020204" pitchFamily="34" charset="0"/>
            </a:endParaRPr>
          </a:p>
        </p:txBody>
      </p:sp>
      <p:grpSp>
        <p:nvGrpSpPr>
          <p:cNvPr id="5" name="Group 4">
            <a:extLst>
              <a:ext uri="{FF2B5EF4-FFF2-40B4-BE49-F238E27FC236}">
                <a16:creationId xmlns:a16="http://schemas.microsoft.com/office/drawing/2014/main" id="{1B7DE121-796C-7A07-D6E8-2CD549CF8573}"/>
              </a:ext>
            </a:extLst>
          </p:cNvPr>
          <p:cNvGrpSpPr/>
          <p:nvPr/>
        </p:nvGrpSpPr>
        <p:grpSpPr>
          <a:xfrm>
            <a:off x="802742" y="2963514"/>
            <a:ext cx="3203936" cy="2203741"/>
            <a:chOff x="801362" y="2963391"/>
            <a:chExt cx="3204771" cy="2204315"/>
          </a:xfrm>
        </p:grpSpPr>
        <p:sp>
          <p:nvSpPr>
            <p:cNvPr id="20" name="Rounded Rectangle 19">
              <a:extLst>
                <a:ext uri="{FF2B5EF4-FFF2-40B4-BE49-F238E27FC236}">
                  <a16:creationId xmlns:a16="http://schemas.microsoft.com/office/drawing/2014/main" id="{9FDBCFB2-C873-F3AF-B5B0-2D847D42CA50}"/>
                </a:ext>
              </a:extLst>
            </p:cNvPr>
            <p:cNvSpPr/>
            <p:nvPr/>
          </p:nvSpPr>
          <p:spPr bwMode="gray">
            <a:xfrm>
              <a:off x="801362" y="3188866"/>
              <a:ext cx="1751712" cy="1728612"/>
            </a:xfrm>
            <a:prstGeom prst="roundRect">
              <a:avLst>
                <a:gd name="adj" fmla="val 6450"/>
              </a:avLst>
            </a:prstGeom>
            <a:solidFill>
              <a:schemeClr val="bg1">
                <a:lumMod val="95000"/>
              </a:schemeClr>
            </a:solidFill>
            <a:ln w="9525">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dirty="0">
                <a:solidFill>
                  <a:schemeClr val="bg1"/>
                </a:solidFill>
              </a:endParaRPr>
            </a:p>
          </p:txBody>
        </p:sp>
        <p:grpSp>
          <p:nvGrpSpPr>
            <p:cNvPr id="256" name="Group 255">
              <a:extLst>
                <a:ext uri="{FF2B5EF4-FFF2-40B4-BE49-F238E27FC236}">
                  <a16:creationId xmlns:a16="http://schemas.microsoft.com/office/drawing/2014/main" id="{5358A539-1408-51E4-4E82-7D51C6A75D73}"/>
                </a:ext>
              </a:extLst>
            </p:cNvPr>
            <p:cNvGrpSpPr/>
            <p:nvPr/>
          </p:nvGrpSpPr>
          <p:grpSpPr>
            <a:xfrm>
              <a:off x="875750" y="2963391"/>
              <a:ext cx="3130383" cy="2204315"/>
              <a:chOff x="823498" y="2360969"/>
              <a:chExt cx="3130383" cy="2204315"/>
            </a:xfrm>
          </p:grpSpPr>
          <p:sp>
            <p:nvSpPr>
              <p:cNvPr id="197" name="Freeform: Shape 129">
                <a:extLst>
                  <a:ext uri="{FF2B5EF4-FFF2-40B4-BE49-F238E27FC236}">
                    <a16:creationId xmlns:a16="http://schemas.microsoft.com/office/drawing/2014/main" id="{34965152-4EC7-EF58-B753-C5B10A8F0069}"/>
                  </a:ext>
                </a:extLst>
              </p:cNvPr>
              <p:cNvSpPr/>
              <p:nvPr/>
            </p:nvSpPr>
            <p:spPr>
              <a:xfrm>
                <a:off x="1840742" y="2360969"/>
                <a:ext cx="2113139" cy="581402"/>
              </a:xfrm>
              <a:custGeom>
                <a:avLst/>
                <a:gdLst>
                  <a:gd name="connsiteX0" fmla="*/ 0 w 459581"/>
                  <a:gd name="connsiteY0" fmla="*/ 155972 h 158353"/>
                  <a:gd name="connsiteX1" fmla="*/ 0 w 459581"/>
                  <a:gd name="connsiteY1" fmla="*/ 0 h 158353"/>
                  <a:gd name="connsiteX2" fmla="*/ 459581 w 459581"/>
                  <a:gd name="connsiteY2" fmla="*/ 0 h 158353"/>
                  <a:gd name="connsiteX3" fmla="*/ 459581 w 459581"/>
                  <a:gd name="connsiteY3" fmla="*/ 158353 h 158353"/>
                </a:gdLst>
                <a:ahLst/>
                <a:cxnLst>
                  <a:cxn ang="0">
                    <a:pos x="connsiteX0" y="connsiteY0"/>
                  </a:cxn>
                  <a:cxn ang="0">
                    <a:pos x="connsiteX1" y="connsiteY1"/>
                  </a:cxn>
                  <a:cxn ang="0">
                    <a:pos x="connsiteX2" y="connsiteY2"/>
                  </a:cxn>
                  <a:cxn ang="0">
                    <a:pos x="connsiteX3" y="connsiteY3"/>
                  </a:cxn>
                </a:cxnLst>
                <a:rect l="l" t="t" r="r" b="b"/>
                <a:pathLst>
                  <a:path w="459581" h="158353">
                    <a:moveTo>
                      <a:pt x="0" y="155972"/>
                    </a:moveTo>
                    <a:lnTo>
                      <a:pt x="0" y="0"/>
                    </a:lnTo>
                    <a:lnTo>
                      <a:pt x="459581" y="0"/>
                    </a:lnTo>
                    <a:lnTo>
                      <a:pt x="459581" y="158353"/>
                    </a:lnTo>
                  </a:path>
                </a:pathLst>
              </a:custGeom>
              <a:ln w="19050">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304">
                  <a:spcAft>
                    <a:spcPts val="600"/>
                  </a:spcAft>
                  <a:defRPr/>
                </a:pPr>
                <a:endParaRPr lang="en-US" sz="1200" dirty="0">
                  <a:solidFill>
                    <a:srgbClr val="000001"/>
                  </a:solidFill>
                  <a:latin typeface="Arial" panose="020B0604020202020204" pitchFamily="34" charset="0"/>
                </a:endParaRPr>
              </a:p>
            </p:txBody>
          </p:sp>
          <p:sp>
            <p:nvSpPr>
              <p:cNvPr id="146" name="Rectangle: Rounded Corners 122">
                <a:extLst>
                  <a:ext uri="{FF2B5EF4-FFF2-40B4-BE49-F238E27FC236}">
                    <a16:creationId xmlns:a16="http://schemas.microsoft.com/office/drawing/2014/main" id="{39C08AF3-7EB0-46F2-3DE3-0CB824687C8E}"/>
                  </a:ext>
                </a:extLst>
              </p:cNvPr>
              <p:cNvSpPr/>
              <p:nvPr/>
            </p:nvSpPr>
            <p:spPr>
              <a:xfrm>
                <a:off x="851053" y="2698141"/>
                <a:ext cx="1544986" cy="1489443"/>
              </a:xfrm>
              <a:prstGeom prst="roundRect">
                <a:avLst>
                  <a:gd name="adj" fmla="val 6821"/>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sp>
            <p:nvSpPr>
              <p:cNvPr id="147" name="Rectangle 146">
                <a:extLst>
                  <a:ext uri="{FF2B5EF4-FFF2-40B4-BE49-F238E27FC236}">
                    <a16:creationId xmlns:a16="http://schemas.microsoft.com/office/drawing/2014/main" id="{0745B1D8-9C5C-EF8E-B3AE-FB00C0CCF29A}"/>
                  </a:ext>
                </a:extLst>
              </p:cNvPr>
              <p:cNvSpPr/>
              <p:nvPr/>
            </p:nvSpPr>
            <p:spPr>
              <a:xfrm>
                <a:off x="851053" y="2753757"/>
                <a:ext cx="1544986" cy="184666"/>
              </a:xfrm>
              <a:prstGeom prst="rect">
                <a:avLst/>
              </a:prstGeom>
            </p:spPr>
            <p:txBody>
              <a:bodyPr wrap="square" lIns="0" tIns="0" rIns="0" bIns="0">
                <a:spAutoFit/>
              </a:bodyPr>
              <a:lstStyle/>
              <a:p>
                <a:pPr algn="ctr" defTabSz="912208">
                  <a:defRPr/>
                </a:pPr>
                <a:r>
                  <a:rPr lang="en-US" sz="1200" kern="0" dirty="0">
                    <a:solidFill>
                      <a:srgbClr val="000001"/>
                    </a:solidFill>
                    <a:latin typeface="Arial" panose="020B0604020202020204" pitchFamily="34" charset="0"/>
                  </a:rPr>
                  <a:t>Workload Domain</a:t>
                </a:r>
              </a:p>
            </p:txBody>
          </p:sp>
          <p:grpSp>
            <p:nvGrpSpPr>
              <p:cNvPr id="148" name="Group 147">
                <a:extLst>
                  <a:ext uri="{FF2B5EF4-FFF2-40B4-BE49-F238E27FC236}">
                    <a16:creationId xmlns:a16="http://schemas.microsoft.com/office/drawing/2014/main" id="{C428A37A-95EE-2F77-E665-C68CD2634BBE}"/>
                  </a:ext>
                </a:extLst>
              </p:cNvPr>
              <p:cNvGrpSpPr/>
              <p:nvPr/>
            </p:nvGrpSpPr>
            <p:grpSpPr>
              <a:xfrm>
                <a:off x="1239439" y="3170460"/>
                <a:ext cx="712005" cy="666564"/>
                <a:chOff x="928971" y="4326657"/>
                <a:chExt cx="385619" cy="361008"/>
              </a:xfrm>
              <a:solidFill>
                <a:schemeClr val="accent2"/>
              </a:solidFill>
            </p:grpSpPr>
            <p:sp>
              <p:nvSpPr>
                <p:cNvPr id="149" name="Graphic 47">
                  <a:extLst>
                    <a:ext uri="{FF2B5EF4-FFF2-40B4-BE49-F238E27FC236}">
                      <a16:creationId xmlns:a16="http://schemas.microsoft.com/office/drawing/2014/main" id="{61BCDD75-C4C1-1268-997A-0FF0A7686AD4}"/>
                    </a:ext>
                  </a:extLst>
                </p:cNvPr>
                <p:cNvSpPr/>
                <p:nvPr/>
              </p:nvSpPr>
              <p:spPr>
                <a:xfrm>
                  <a:off x="928971" y="4586186"/>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150" name="Graphic 47">
                  <a:extLst>
                    <a:ext uri="{FF2B5EF4-FFF2-40B4-BE49-F238E27FC236}">
                      <a16:creationId xmlns:a16="http://schemas.microsoft.com/office/drawing/2014/main" id="{3422D2BB-B22A-876E-5063-C5F5DCC4B25E}"/>
                    </a:ext>
                  </a:extLst>
                </p:cNvPr>
                <p:cNvSpPr/>
                <p:nvPr/>
              </p:nvSpPr>
              <p:spPr>
                <a:xfrm>
                  <a:off x="928971" y="445642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151" name="Graphic 47">
                  <a:extLst>
                    <a:ext uri="{FF2B5EF4-FFF2-40B4-BE49-F238E27FC236}">
                      <a16:creationId xmlns:a16="http://schemas.microsoft.com/office/drawing/2014/main" id="{37F9EEE3-3C94-E734-8116-B0B7801632E4}"/>
                    </a:ext>
                  </a:extLst>
                </p:cNvPr>
                <p:cNvSpPr/>
                <p:nvPr/>
              </p:nvSpPr>
              <p:spPr>
                <a:xfrm>
                  <a:off x="928971" y="4326657"/>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grpSp>
          <p:sp>
            <p:nvSpPr>
              <p:cNvPr id="159" name="Rectangle: Rounded Corners 122">
                <a:extLst>
                  <a:ext uri="{FF2B5EF4-FFF2-40B4-BE49-F238E27FC236}">
                    <a16:creationId xmlns:a16="http://schemas.microsoft.com/office/drawing/2014/main" id="{7DBB4A95-B158-E7EE-B8CD-0E00FD35986F}"/>
                  </a:ext>
                </a:extLst>
              </p:cNvPr>
              <p:cNvSpPr/>
              <p:nvPr/>
            </p:nvSpPr>
            <p:spPr>
              <a:xfrm>
                <a:off x="1165058" y="3088099"/>
                <a:ext cx="856716" cy="1026542"/>
              </a:xfrm>
              <a:prstGeom prst="roundRect">
                <a:avLst>
                  <a:gd name="adj" fmla="val 0"/>
                </a:avLst>
              </a:prstGeom>
              <a:no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grpSp>
            <p:nvGrpSpPr>
              <p:cNvPr id="238" name="Group 237">
                <a:extLst>
                  <a:ext uri="{FF2B5EF4-FFF2-40B4-BE49-F238E27FC236}">
                    <a16:creationId xmlns:a16="http://schemas.microsoft.com/office/drawing/2014/main" id="{044FC1D0-2FC0-142A-986D-1701070C5434}"/>
                  </a:ext>
                </a:extLst>
              </p:cNvPr>
              <p:cNvGrpSpPr/>
              <p:nvPr/>
            </p:nvGrpSpPr>
            <p:grpSpPr>
              <a:xfrm>
                <a:off x="1426397" y="4229594"/>
                <a:ext cx="338704" cy="335690"/>
                <a:chOff x="10557745" y="5096347"/>
                <a:chExt cx="369015" cy="369015"/>
              </a:xfrm>
            </p:grpSpPr>
            <p:sp>
              <p:nvSpPr>
                <p:cNvPr id="239" name="Oval 238">
                  <a:extLst>
                    <a:ext uri="{FF2B5EF4-FFF2-40B4-BE49-F238E27FC236}">
                      <a16:creationId xmlns:a16="http://schemas.microsoft.com/office/drawing/2014/main" id="{E2F8DA2C-3994-F7C2-D0AA-53DC5540FF3C}"/>
                    </a:ext>
                  </a:extLst>
                </p:cNvPr>
                <p:cNvSpPr/>
                <p:nvPr/>
              </p:nvSpPr>
              <p:spPr>
                <a:xfrm>
                  <a:off x="10557745" y="5096347"/>
                  <a:ext cx="369015" cy="369015"/>
                </a:xfrm>
                <a:prstGeom prst="ellipse">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304">
                    <a:spcAft>
                      <a:spcPts val="600"/>
                    </a:spcAft>
                    <a:defRPr/>
                  </a:pPr>
                  <a:endParaRPr lang="en-US" sz="1200" dirty="0">
                    <a:solidFill>
                      <a:srgbClr val="000001"/>
                    </a:solidFill>
                    <a:latin typeface="Arial" panose="020B0604020202020204" pitchFamily="34" charset="0"/>
                  </a:endParaRPr>
                </a:p>
              </p:txBody>
            </p:sp>
            <p:sp>
              <p:nvSpPr>
                <p:cNvPr id="240" name="Graphic 32">
                  <a:extLst>
                    <a:ext uri="{FF2B5EF4-FFF2-40B4-BE49-F238E27FC236}">
                      <a16:creationId xmlns:a16="http://schemas.microsoft.com/office/drawing/2014/main" id="{6A4201DF-883F-4DD4-B3BD-9757526BF6F5}"/>
                    </a:ext>
                  </a:extLst>
                </p:cNvPr>
                <p:cNvSpPr/>
                <p:nvPr/>
              </p:nvSpPr>
              <p:spPr>
                <a:xfrm>
                  <a:off x="10637822" y="5151069"/>
                  <a:ext cx="208860" cy="259570"/>
                </a:xfrm>
                <a:custGeom>
                  <a:avLst/>
                  <a:gdLst>
                    <a:gd name="connsiteX0" fmla="*/ 449737 w 899474"/>
                    <a:gd name="connsiteY0" fmla="*/ 0 h 1117872"/>
                    <a:gd name="connsiteX1" fmla="*/ 0 w 899474"/>
                    <a:gd name="connsiteY1" fmla="*/ 445121 h 1117872"/>
                    <a:gd name="connsiteX2" fmla="*/ 106891 w 899474"/>
                    <a:gd name="connsiteY2" fmla="*/ 732939 h 1117872"/>
                    <a:gd name="connsiteX3" fmla="*/ 109877 w 899474"/>
                    <a:gd name="connsiteY3" fmla="*/ 736559 h 1117872"/>
                    <a:gd name="connsiteX4" fmla="*/ 449737 w 899474"/>
                    <a:gd name="connsiteY4" fmla="*/ 1117872 h 1117872"/>
                    <a:gd name="connsiteX5" fmla="*/ 789597 w 899474"/>
                    <a:gd name="connsiteY5" fmla="*/ 736559 h 1117872"/>
                    <a:gd name="connsiteX6" fmla="*/ 792584 w 899474"/>
                    <a:gd name="connsiteY6" fmla="*/ 732939 h 1117872"/>
                    <a:gd name="connsiteX7" fmla="*/ 899474 w 899474"/>
                    <a:gd name="connsiteY7" fmla="*/ 445121 h 1117872"/>
                    <a:gd name="connsiteX8" fmla="*/ 449737 w 899474"/>
                    <a:gd name="connsiteY8" fmla="*/ 0 h 1117872"/>
                    <a:gd name="connsiteX9" fmla="*/ 769957 w 899474"/>
                    <a:gd name="connsiteY9" fmla="*/ 714204 h 1117872"/>
                    <a:gd name="connsiteX10" fmla="*/ 767332 w 899474"/>
                    <a:gd name="connsiteY10" fmla="*/ 717371 h 1117872"/>
                    <a:gd name="connsiteX11" fmla="*/ 449737 w 899474"/>
                    <a:gd name="connsiteY11" fmla="*/ 1073613 h 1117872"/>
                    <a:gd name="connsiteX12" fmla="*/ 132233 w 899474"/>
                    <a:gd name="connsiteY12" fmla="*/ 717371 h 1117872"/>
                    <a:gd name="connsiteX13" fmla="*/ 129246 w 899474"/>
                    <a:gd name="connsiteY13" fmla="*/ 713842 h 1117872"/>
                    <a:gd name="connsiteX14" fmla="*/ 29415 w 899474"/>
                    <a:gd name="connsiteY14" fmla="*/ 445121 h 1117872"/>
                    <a:gd name="connsiteX15" fmla="*/ 449737 w 899474"/>
                    <a:gd name="connsiteY15" fmla="*/ 29415 h 1117872"/>
                    <a:gd name="connsiteX16" fmla="*/ 870059 w 899474"/>
                    <a:gd name="connsiteY16" fmla="*/ 445121 h 1117872"/>
                    <a:gd name="connsiteX17" fmla="*/ 769957 w 899474"/>
                    <a:gd name="connsiteY17" fmla="*/ 714204 h 1117872"/>
                    <a:gd name="connsiteX18" fmla="*/ 485217 w 899474"/>
                    <a:gd name="connsiteY18" fmla="*/ 263380 h 1117872"/>
                    <a:gd name="connsiteX19" fmla="*/ 295330 w 899474"/>
                    <a:gd name="connsiteY19" fmla="*/ 263380 h 1117872"/>
                    <a:gd name="connsiteX20" fmla="*/ 295330 w 899474"/>
                    <a:gd name="connsiteY20" fmla="*/ 645236 h 1117872"/>
                    <a:gd name="connsiteX21" fmla="*/ 265914 w 899474"/>
                    <a:gd name="connsiteY21" fmla="*/ 645236 h 1117872"/>
                    <a:gd name="connsiteX22" fmla="*/ 265914 w 899474"/>
                    <a:gd name="connsiteY22" fmla="*/ 233965 h 1117872"/>
                    <a:gd name="connsiteX23" fmla="*/ 514722 w 899474"/>
                    <a:gd name="connsiteY23" fmla="*/ 233965 h 1117872"/>
                    <a:gd name="connsiteX24" fmla="*/ 514722 w 899474"/>
                    <a:gd name="connsiteY24" fmla="*/ 402854 h 1117872"/>
                    <a:gd name="connsiteX25" fmla="*/ 485307 w 899474"/>
                    <a:gd name="connsiteY25" fmla="*/ 402854 h 1117872"/>
                    <a:gd name="connsiteX26" fmla="*/ 485307 w 899474"/>
                    <a:gd name="connsiteY26" fmla="*/ 263380 h 1117872"/>
                    <a:gd name="connsiteX27" fmla="*/ 424938 w 899474"/>
                    <a:gd name="connsiteY27" fmla="*/ 432179 h 1117872"/>
                    <a:gd name="connsiteX28" fmla="*/ 633741 w 899474"/>
                    <a:gd name="connsiteY28" fmla="*/ 432179 h 1117872"/>
                    <a:gd name="connsiteX29" fmla="*/ 633741 w 899474"/>
                    <a:gd name="connsiteY29" fmla="*/ 645146 h 1117872"/>
                    <a:gd name="connsiteX30" fmla="*/ 604326 w 899474"/>
                    <a:gd name="connsiteY30" fmla="*/ 645146 h 1117872"/>
                    <a:gd name="connsiteX31" fmla="*/ 604326 w 899474"/>
                    <a:gd name="connsiteY31" fmla="*/ 461594 h 1117872"/>
                    <a:gd name="connsiteX32" fmla="*/ 454353 w 899474"/>
                    <a:gd name="connsiteY32" fmla="*/ 461594 h 1117872"/>
                    <a:gd name="connsiteX33" fmla="*/ 454353 w 899474"/>
                    <a:gd name="connsiteY33" fmla="*/ 645146 h 1117872"/>
                    <a:gd name="connsiteX34" fmla="*/ 424938 w 899474"/>
                    <a:gd name="connsiteY34" fmla="*/ 645146 h 1117872"/>
                    <a:gd name="connsiteX35" fmla="*/ 424938 w 899474"/>
                    <a:gd name="connsiteY35" fmla="*/ 432179 h 1117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99474" h="1117872">
                      <a:moveTo>
                        <a:pt x="449737" y="0"/>
                      </a:moveTo>
                      <a:cubicBezTo>
                        <a:pt x="201382" y="0"/>
                        <a:pt x="0" y="199300"/>
                        <a:pt x="0" y="445121"/>
                      </a:cubicBezTo>
                      <a:cubicBezTo>
                        <a:pt x="0" y="554818"/>
                        <a:pt x="40186" y="655101"/>
                        <a:pt x="106891" y="732939"/>
                      </a:cubicBezTo>
                      <a:lnTo>
                        <a:pt x="109877" y="736559"/>
                      </a:lnTo>
                      <a:lnTo>
                        <a:pt x="449737" y="1117872"/>
                      </a:lnTo>
                      <a:lnTo>
                        <a:pt x="789597" y="736559"/>
                      </a:lnTo>
                      <a:lnTo>
                        <a:pt x="792584" y="732939"/>
                      </a:lnTo>
                      <a:cubicBezTo>
                        <a:pt x="859379" y="655101"/>
                        <a:pt x="899474" y="554818"/>
                        <a:pt x="899474" y="445121"/>
                      </a:cubicBezTo>
                      <a:cubicBezTo>
                        <a:pt x="899565" y="199300"/>
                        <a:pt x="698183" y="0"/>
                        <a:pt x="449737" y="0"/>
                      </a:cubicBezTo>
                      <a:close/>
                      <a:moveTo>
                        <a:pt x="769957" y="714204"/>
                      </a:moveTo>
                      <a:lnTo>
                        <a:pt x="767332" y="717371"/>
                      </a:lnTo>
                      <a:lnTo>
                        <a:pt x="449737" y="1073613"/>
                      </a:lnTo>
                      <a:lnTo>
                        <a:pt x="132233" y="717371"/>
                      </a:lnTo>
                      <a:lnTo>
                        <a:pt x="129246" y="713842"/>
                      </a:lnTo>
                      <a:cubicBezTo>
                        <a:pt x="64895" y="638719"/>
                        <a:pt x="29415" y="543323"/>
                        <a:pt x="29415" y="445121"/>
                      </a:cubicBezTo>
                      <a:cubicBezTo>
                        <a:pt x="29415" y="215954"/>
                        <a:pt x="218035" y="29415"/>
                        <a:pt x="449737" y="29415"/>
                      </a:cubicBezTo>
                      <a:cubicBezTo>
                        <a:pt x="681530" y="29415"/>
                        <a:pt x="870059" y="215863"/>
                        <a:pt x="870059" y="445121"/>
                      </a:cubicBezTo>
                      <a:cubicBezTo>
                        <a:pt x="870150" y="543323"/>
                        <a:pt x="834670" y="638719"/>
                        <a:pt x="769957" y="714204"/>
                      </a:cubicBezTo>
                      <a:close/>
                      <a:moveTo>
                        <a:pt x="485217" y="263380"/>
                      </a:moveTo>
                      <a:lnTo>
                        <a:pt x="295330" y="263380"/>
                      </a:lnTo>
                      <a:lnTo>
                        <a:pt x="295330" y="645236"/>
                      </a:lnTo>
                      <a:lnTo>
                        <a:pt x="265914" y="645236"/>
                      </a:lnTo>
                      <a:lnTo>
                        <a:pt x="265914" y="233965"/>
                      </a:lnTo>
                      <a:lnTo>
                        <a:pt x="514722" y="233965"/>
                      </a:lnTo>
                      <a:lnTo>
                        <a:pt x="514722" y="402854"/>
                      </a:lnTo>
                      <a:lnTo>
                        <a:pt x="485307" y="402854"/>
                      </a:lnTo>
                      <a:lnTo>
                        <a:pt x="485307" y="263380"/>
                      </a:lnTo>
                      <a:close/>
                      <a:moveTo>
                        <a:pt x="424938" y="432179"/>
                      </a:moveTo>
                      <a:lnTo>
                        <a:pt x="633741" y="432179"/>
                      </a:lnTo>
                      <a:lnTo>
                        <a:pt x="633741" y="645146"/>
                      </a:lnTo>
                      <a:lnTo>
                        <a:pt x="604326" y="645146"/>
                      </a:lnTo>
                      <a:lnTo>
                        <a:pt x="604326" y="461594"/>
                      </a:lnTo>
                      <a:lnTo>
                        <a:pt x="454353" y="461594"/>
                      </a:lnTo>
                      <a:lnTo>
                        <a:pt x="454353" y="645146"/>
                      </a:lnTo>
                      <a:lnTo>
                        <a:pt x="424938" y="645146"/>
                      </a:lnTo>
                      <a:lnTo>
                        <a:pt x="424938" y="432179"/>
                      </a:lnTo>
                      <a:close/>
                    </a:path>
                  </a:pathLst>
                </a:custGeom>
                <a:solidFill>
                  <a:schemeClr val="tx1"/>
                </a:solidFill>
                <a:ln w="904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grpSp>
          <p:sp>
            <p:nvSpPr>
              <p:cNvPr id="247" name="Rectangle 246">
                <a:extLst>
                  <a:ext uri="{FF2B5EF4-FFF2-40B4-BE49-F238E27FC236}">
                    <a16:creationId xmlns:a16="http://schemas.microsoft.com/office/drawing/2014/main" id="{CC23BE79-C466-A475-D402-180CD24347B8}"/>
                  </a:ext>
                </a:extLst>
              </p:cNvPr>
              <p:cNvSpPr/>
              <p:nvPr/>
            </p:nvSpPr>
            <p:spPr>
              <a:xfrm>
                <a:off x="823498" y="3911300"/>
                <a:ext cx="1544986" cy="153888"/>
              </a:xfrm>
              <a:prstGeom prst="rect">
                <a:avLst/>
              </a:prstGeom>
            </p:spPr>
            <p:txBody>
              <a:bodyPr wrap="square" lIns="0" tIns="0" rIns="0" bIns="0">
                <a:spAutoFit/>
              </a:bodyPr>
              <a:lstStyle/>
              <a:p>
                <a:pPr algn="ctr" defTabSz="912208">
                  <a:defRPr/>
                </a:pPr>
                <a:r>
                  <a:rPr lang="en-US" sz="1000" kern="0" dirty="0">
                    <a:solidFill>
                      <a:srgbClr val="000001"/>
                    </a:solidFill>
                    <a:latin typeface="Arial" panose="020B0604020202020204" pitchFamily="34" charset="0"/>
                  </a:rPr>
                  <a:t>Cluster</a:t>
                </a:r>
              </a:p>
            </p:txBody>
          </p:sp>
        </p:grpSp>
      </p:grpSp>
      <p:sp>
        <p:nvSpPr>
          <p:cNvPr id="248" name="Rectangle 247">
            <a:extLst>
              <a:ext uri="{FF2B5EF4-FFF2-40B4-BE49-F238E27FC236}">
                <a16:creationId xmlns:a16="http://schemas.microsoft.com/office/drawing/2014/main" id="{08452BCE-39E2-10CF-447A-80E81F5A1D3A}"/>
              </a:ext>
            </a:extLst>
          </p:cNvPr>
          <p:cNvSpPr/>
          <p:nvPr/>
        </p:nvSpPr>
        <p:spPr>
          <a:xfrm>
            <a:off x="2759125" y="4505640"/>
            <a:ext cx="1544584" cy="153848"/>
          </a:xfrm>
          <a:prstGeom prst="rect">
            <a:avLst/>
          </a:prstGeom>
        </p:spPr>
        <p:txBody>
          <a:bodyPr wrap="square" lIns="0" tIns="0" rIns="0" bIns="0">
            <a:spAutoFit/>
          </a:bodyPr>
          <a:lstStyle/>
          <a:p>
            <a:pPr algn="ctr" defTabSz="912208">
              <a:defRPr/>
            </a:pPr>
            <a:r>
              <a:rPr lang="en-US" sz="1000" kern="0" dirty="0">
                <a:solidFill>
                  <a:srgbClr val="000001"/>
                </a:solidFill>
                <a:latin typeface="Arial" panose="020B0604020202020204" pitchFamily="34" charset="0"/>
              </a:rPr>
              <a:t>Cluster</a:t>
            </a:r>
          </a:p>
        </p:txBody>
      </p:sp>
      <p:grpSp>
        <p:nvGrpSpPr>
          <p:cNvPr id="74" name="Group 73">
            <a:extLst>
              <a:ext uri="{FF2B5EF4-FFF2-40B4-BE49-F238E27FC236}">
                <a16:creationId xmlns:a16="http://schemas.microsoft.com/office/drawing/2014/main" id="{C32DC7D5-6EED-8E5F-FAFC-30E8D7C43C6F}"/>
              </a:ext>
            </a:extLst>
          </p:cNvPr>
          <p:cNvGrpSpPr/>
          <p:nvPr/>
        </p:nvGrpSpPr>
        <p:grpSpPr>
          <a:xfrm>
            <a:off x="3826530" y="4823047"/>
            <a:ext cx="338616" cy="335603"/>
            <a:chOff x="10557745" y="5096347"/>
            <a:chExt cx="369015" cy="369015"/>
          </a:xfrm>
        </p:grpSpPr>
        <p:sp>
          <p:nvSpPr>
            <p:cNvPr id="75" name="Oval 74">
              <a:extLst>
                <a:ext uri="{FF2B5EF4-FFF2-40B4-BE49-F238E27FC236}">
                  <a16:creationId xmlns:a16="http://schemas.microsoft.com/office/drawing/2014/main" id="{F3155FFC-FAC4-326F-2094-96BC7A4D0E86}"/>
                </a:ext>
              </a:extLst>
            </p:cNvPr>
            <p:cNvSpPr/>
            <p:nvPr/>
          </p:nvSpPr>
          <p:spPr>
            <a:xfrm>
              <a:off x="10557745" y="5096347"/>
              <a:ext cx="369015" cy="369015"/>
            </a:xfrm>
            <a:prstGeom prst="ellipse">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304">
                <a:spcAft>
                  <a:spcPts val="600"/>
                </a:spcAft>
                <a:defRPr/>
              </a:pPr>
              <a:endParaRPr lang="en-US" sz="1200" dirty="0">
                <a:solidFill>
                  <a:srgbClr val="000001"/>
                </a:solidFill>
                <a:latin typeface="Arial" panose="020B0604020202020204" pitchFamily="34" charset="0"/>
              </a:endParaRPr>
            </a:p>
          </p:txBody>
        </p:sp>
        <p:sp>
          <p:nvSpPr>
            <p:cNvPr id="76" name="Graphic 32">
              <a:extLst>
                <a:ext uri="{FF2B5EF4-FFF2-40B4-BE49-F238E27FC236}">
                  <a16:creationId xmlns:a16="http://schemas.microsoft.com/office/drawing/2014/main" id="{1F522A21-DFE8-10DF-FAA2-5B68BE808CDC}"/>
                </a:ext>
              </a:extLst>
            </p:cNvPr>
            <p:cNvSpPr/>
            <p:nvPr/>
          </p:nvSpPr>
          <p:spPr>
            <a:xfrm>
              <a:off x="10637822" y="5151069"/>
              <a:ext cx="208860" cy="259570"/>
            </a:xfrm>
            <a:custGeom>
              <a:avLst/>
              <a:gdLst>
                <a:gd name="connsiteX0" fmla="*/ 449737 w 899474"/>
                <a:gd name="connsiteY0" fmla="*/ 0 h 1117872"/>
                <a:gd name="connsiteX1" fmla="*/ 0 w 899474"/>
                <a:gd name="connsiteY1" fmla="*/ 445121 h 1117872"/>
                <a:gd name="connsiteX2" fmla="*/ 106891 w 899474"/>
                <a:gd name="connsiteY2" fmla="*/ 732939 h 1117872"/>
                <a:gd name="connsiteX3" fmla="*/ 109877 w 899474"/>
                <a:gd name="connsiteY3" fmla="*/ 736559 h 1117872"/>
                <a:gd name="connsiteX4" fmla="*/ 449737 w 899474"/>
                <a:gd name="connsiteY4" fmla="*/ 1117872 h 1117872"/>
                <a:gd name="connsiteX5" fmla="*/ 789597 w 899474"/>
                <a:gd name="connsiteY5" fmla="*/ 736559 h 1117872"/>
                <a:gd name="connsiteX6" fmla="*/ 792584 w 899474"/>
                <a:gd name="connsiteY6" fmla="*/ 732939 h 1117872"/>
                <a:gd name="connsiteX7" fmla="*/ 899474 w 899474"/>
                <a:gd name="connsiteY7" fmla="*/ 445121 h 1117872"/>
                <a:gd name="connsiteX8" fmla="*/ 449737 w 899474"/>
                <a:gd name="connsiteY8" fmla="*/ 0 h 1117872"/>
                <a:gd name="connsiteX9" fmla="*/ 769957 w 899474"/>
                <a:gd name="connsiteY9" fmla="*/ 714204 h 1117872"/>
                <a:gd name="connsiteX10" fmla="*/ 767332 w 899474"/>
                <a:gd name="connsiteY10" fmla="*/ 717371 h 1117872"/>
                <a:gd name="connsiteX11" fmla="*/ 449737 w 899474"/>
                <a:gd name="connsiteY11" fmla="*/ 1073613 h 1117872"/>
                <a:gd name="connsiteX12" fmla="*/ 132233 w 899474"/>
                <a:gd name="connsiteY12" fmla="*/ 717371 h 1117872"/>
                <a:gd name="connsiteX13" fmla="*/ 129246 w 899474"/>
                <a:gd name="connsiteY13" fmla="*/ 713842 h 1117872"/>
                <a:gd name="connsiteX14" fmla="*/ 29415 w 899474"/>
                <a:gd name="connsiteY14" fmla="*/ 445121 h 1117872"/>
                <a:gd name="connsiteX15" fmla="*/ 449737 w 899474"/>
                <a:gd name="connsiteY15" fmla="*/ 29415 h 1117872"/>
                <a:gd name="connsiteX16" fmla="*/ 870059 w 899474"/>
                <a:gd name="connsiteY16" fmla="*/ 445121 h 1117872"/>
                <a:gd name="connsiteX17" fmla="*/ 769957 w 899474"/>
                <a:gd name="connsiteY17" fmla="*/ 714204 h 1117872"/>
                <a:gd name="connsiteX18" fmla="*/ 485217 w 899474"/>
                <a:gd name="connsiteY18" fmla="*/ 263380 h 1117872"/>
                <a:gd name="connsiteX19" fmla="*/ 295330 w 899474"/>
                <a:gd name="connsiteY19" fmla="*/ 263380 h 1117872"/>
                <a:gd name="connsiteX20" fmla="*/ 295330 w 899474"/>
                <a:gd name="connsiteY20" fmla="*/ 645236 h 1117872"/>
                <a:gd name="connsiteX21" fmla="*/ 265914 w 899474"/>
                <a:gd name="connsiteY21" fmla="*/ 645236 h 1117872"/>
                <a:gd name="connsiteX22" fmla="*/ 265914 w 899474"/>
                <a:gd name="connsiteY22" fmla="*/ 233965 h 1117872"/>
                <a:gd name="connsiteX23" fmla="*/ 514722 w 899474"/>
                <a:gd name="connsiteY23" fmla="*/ 233965 h 1117872"/>
                <a:gd name="connsiteX24" fmla="*/ 514722 w 899474"/>
                <a:gd name="connsiteY24" fmla="*/ 402854 h 1117872"/>
                <a:gd name="connsiteX25" fmla="*/ 485307 w 899474"/>
                <a:gd name="connsiteY25" fmla="*/ 402854 h 1117872"/>
                <a:gd name="connsiteX26" fmla="*/ 485307 w 899474"/>
                <a:gd name="connsiteY26" fmla="*/ 263380 h 1117872"/>
                <a:gd name="connsiteX27" fmla="*/ 424938 w 899474"/>
                <a:gd name="connsiteY27" fmla="*/ 432179 h 1117872"/>
                <a:gd name="connsiteX28" fmla="*/ 633741 w 899474"/>
                <a:gd name="connsiteY28" fmla="*/ 432179 h 1117872"/>
                <a:gd name="connsiteX29" fmla="*/ 633741 w 899474"/>
                <a:gd name="connsiteY29" fmla="*/ 645146 h 1117872"/>
                <a:gd name="connsiteX30" fmla="*/ 604326 w 899474"/>
                <a:gd name="connsiteY30" fmla="*/ 645146 h 1117872"/>
                <a:gd name="connsiteX31" fmla="*/ 604326 w 899474"/>
                <a:gd name="connsiteY31" fmla="*/ 461594 h 1117872"/>
                <a:gd name="connsiteX32" fmla="*/ 454353 w 899474"/>
                <a:gd name="connsiteY32" fmla="*/ 461594 h 1117872"/>
                <a:gd name="connsiteX33" fmla="*/ 454353 w 899474"/>
                <a:gd name="connsiteY33" fmla="*/ 645146 h 1117872"/>
                <a:gd name="connsiteX34" fmla="*/ 424938 w 899474"/>
                <a:gd name="connsiteY34" fmla="*/ 645146 h 1117872"/>
                <a:gd name="connsiteX35" fmla="*/ 424938 w 899474"/>
                <a:gd name="connsiteY35" fmla="*/ 432179 h 1117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99474" h="1117872">
                  <a:moveTo>
                    <a:pt x="449737" y="0"/>
                  </a:moveTo>
                  <a:cubicBezTo>
                    <a:pt x="201382" y="0"/>
                    <a:pt x="0" y="199300"/>
                    <a:pt x="0" y="445121"/>
                  </a:cubicBezTo>
                  <a:cubicBezTo>
                    <a:pt x="0" y="554818"/>
                    <a:pt x="40186" y="655101"/>
                    <a:pt x="106891" y="732939"/>
                  </a:cubicBezTo>
                  <a:lnTo>
                    <a:pt x="109877" y="736559"/>
                  </a:lnTo>
                  <a:lnTo>
                    <a:pt x="449737" y="1117872"/>
                  </a:lnTo>
                  <a:lnTo>
                    <a:pt x="789597" y="736559"/>
                  </a:lnTo>
                  <a:lnTo>
                    <a:pt x="792584" y="732939"/>
                  </a:lnTo>
                  <a:cubicBezTo>
                    <a:pt x="859379" y="655101"/>
                    <a:pt x="899474" y="554818"/>
                    <a:pt x="899474" y="445121"/>
                  </a:cubicBezTo>
                  <a:cubicBezTo>
                    <a:pt x="899565" y="199300"/>
                    <a:pt x="698183" y="0"/>
                    <a:pt x="449737" y="0"/>
                  </a:cubicBezTo>
                  <a:close/>
                  <a:moveTo>
                    <a:pt x="769957" y="714204"/>
                  </a:moveTo>
                  <a:lnTo>
                    <a:pt x="767332" y="717371"/>
                  </a:lnTo>
                  <a:lnTo>
                    <a:pt x="449737" y="1073613"/>
                  </a:lnTo>
                  <a:lnTo>
                    <a:pt x="132233" y="717371"/>
                  </a:lnTo>
                  <a:lnTo>
                    <a:pt x="129246" y="713842"/>
                  </a:lnTo>
                  <a:cubicBezTo>
                    <a:pt x="64895" y="638719"/>
                    <a:pt x="29415" y="543323"/>
                    <a:pt x="29415" y="445121"/>
                  </a:cubicBezTo>
                  <a:cubicBezTo>
                    <a:pt x="29415" y="215954"/>
                    <a:pt x="218035" y="29415"/>
                    <a:pt x="449737" y="29415"/>
                  </a:cubicBezTo>
                  <a:cubicBezTo>
                    <a:pt x="681530" y="29415"/>
                    <a:pt x="870059" y="215863"/>
                    <a:pt x="870059" y="445121"/>
                  </a:cubicBezTo>
                  <a:cubicBezTo>
                    <a:pt x="870150" y="543323"/>
                    <a:pt x="834670" y="638719"/>
                    <a:pt x="769957" y="714204"/>
                  </a:cubicBezTo>
                  <a:close/>
                  <a:moveTo>
                    <a:pt x="485217" y="263380"/>
                  </a:moveTo>
                  <a:lnTo>
                    <a:pt x="295330" y="263380"/>
                  </a:lnTo>
                  <a:lnTo>
                    <a:pt x="295330" y="645236"/>
                  </a:lnTo>
                  <a:lnTo>
                    <a:pt x="265914" y="645236"/>
                  </a:lnTo>
                  <a:lnTo>
                    <a:pt x="265914" y="233965"/>
                  </a:lnTo>
                  <a:lnTo>
                    <a:pt x="514722" y="233965"/>
                  </a:lnTo>
                  <a:lnTo>
                    <a:pt x="514722" y="402854"/>
                  </a:lnTo>
                  <a:lnTo>
                    <a:pt x="485307" y="402854"/>
                  </a:lnTo>
                  <a:lnTo>
                    <a:pt x="485307" y="263380"/>
                  </a:lnTo>
                  <a:close/>
                  <a:moveTo>
                    <a:pt x="424938" y="432179"/>
                  </a:moveTo>
                  <a:lnTo>
                    <a:pt x="633741" y="432179"/>
                  </a:lnTo>
                  <a:lnTo>
                    <a:pt x="633741" y="645146"/>
                  </a:lnTo>
                  <a:lnTo>
                    <a:pt x="604326" y="645146"/>
                  </a:lnTo>
                  <a:lnTo>
                    <a:pt x="604326" y="461594"/>
                  </a:lnTo>
                  <a:lnTo>
                    <a:pt x="454353" y="461594"/>
                  </a:lnTo>
                  <a:lnTo>
                    <a:pt x="454353" y="645146"/>
                  </a:lnTo>
                  <a:lnTo>
                    <a:pt x="424938" y="645146"/>
                  </a:lnTo>
                  <a:lnTo>
                    <a:pt x="424938" y="432179"/>
                  </a:lnTo>
                  <a:close/>
                </a:path>
              </a:pathLst>
            </a:custGeom>
            <a:solidFill>
              <a:schemeClr val="tx1"/>
            </a:solidFill>
            <a:ln w="904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grpSp>
      <p:sp>
        <p:nvSpPr>
          <p:cNvPr id="252" name="TextBox 251">
            <a:extLst>
              <a:ext uri="{FF2B5EF4-FFF2-40B4-BE49-F238E27FC236}">
                <a16:creationId xmlns:a16="http://schemas.microsoft.com/office/drawing/2014/main" id="{DC498DCC-4A54-D465-139C-6CF024800278}"/>
              </a:ext>
            </a:extLst>
          </p:cNvPr>
          <p:cNvSpPr txBox="1"/>
          <p:nvPr/>
        </p:nvSpPr>
        <p:spPr>
          <a:xfrm>
            <a:off x="2901024" y="4979995"/>
            <a:ext cx="2227769" cy="707061"/>
          </a:xfrm>
          <a:prstGeom prst="rect">
            <a:avLst/>
          </a:prstGeom>
        </p:spPr>
        <p:txBody>
          <a:bodyPr wrap="square" lIns="0" tIns="0" rIns="0" bIns="0" rtlCol="0">
            <a:spAutoFit/>
          </a:bodyPr>
          <a:lstStyle/>
          <a:p>
            <a:pPr algn="ctr" defTabSz="913578">
              <a:lnSpc>
                <a:spcPct val="150000"/>
              </a:lnSpc>
              <a:spcAft>
                <a:spcPts val="600"/>
              </a:spcAft>
              <a:buClr>
                <a:srgbClr val="F2F2F2">
                  <a:lumMod val="50000"/>
                </a:srgbClr>
              </a:buClr>
              <a:defRPr/>
            </a:pPr>
            <a:br>
              <a:rPr lang="en-US" sz="1000" dirty="0">
                <a:solidFill>
                  <a:srgbClr val="1B1E35"/>
                </a:solidFill>
                <a:latin typeface="Arial" panose="020B0604020202020204" pitchFamily="34" charset="0"/>
              </a:rPr>
            </a:br>
            <a:r>
              <a:rPr lang="en-US" sz="1000" dirty="0">
                <a:solidFill>
                  <a:srgbClr val="1B1E35"/>
                </a:solidFill>
                <a:latin typeface="Arial" panose="020B0604020202020204" pitchFamily="34" charset="0"/>
              </a:rPr>
              <a:t>Central VCF DC Site</a:t>
            </a:r>
            <a:br>
              <a:rPr lang="en-US" sz="1000" dirty="0">
                <a:solidFill>
                  <a:srgbClr val="1B1E35"/>
                </a:solidFill>
                <a:latin typeface="Arial" panose="020B0604020202020204" pitchFamily="34" charset="0"/>
              </a:rPr>
            </a:br>
            <a:endParaRPr lang="en-US" sz="1200" dirty="0">
              <a:solidFill>
                <a:srgbClr val="1B1E35"/>
              </a:solidFill>
              <a:latin typeface="Arial" panose="020B0604020202020204" pitchFamily="34" charset="0"/>
            </a:endParaRPr>
          </a:p>
        </p:txBody>
      </p:sp>
      <p:sp>
        <p:nvSpPr>
          <p:cNvPr id="258" name="TextBox 257">
            <a:extLst>
              <a:ext uri="{FF2B5EF4-FFF2-40B4-BE49-F238E27FC236}">
                <a16:creationId xmlns:a16="http://schemas.microsoft.com/office/drawing/2014/main" id="{31B8130F-2C32-6927-A847-1B0C78F4789E}"/>
              </a:ext>
            </a:extLst>
          </p:cNvPr>
          <p:cNvSpPr txBox="1"/>
          <p:nvPr/>
        </p:nvSpPr>
        <p:spPr>
          <a:xfrm>
            <a:off x="5312603" y="4991427"/>
            <a:ext cx="2889148" cy="1165784"/>
          </a:xfrm>
          <a:prstGeom prst="rect">
            <a:avLst/>
          </a:prstGeom>
        </p:spPr>
        <p:txBody>
          <a:bodyPr wrap="square" lIns="0" tIns="0" rIns="0" bIns="0" rtlCol="0">
            <a:spAutoFit/>
          </a:bodyPr>
          <a:lstStyle/>
          <a:p>
            <a:pPr defTabSz="913578">
              <a:lnSpc>
                <a:spcPct val="150000"/>
              </a:lnSpc>
              <a:spcAft>
                <a:spcPts val="600"/>
              </a:spcAft>
              <a:buClr>
                <a:srgbClr val="F2F2F2">
                  <a:lumMod val="50000"/>
                </a:srgbClr>
              </a:buClr>
              <a:defRPr/>
            </a:pPr>
            <a:br>
              <a:rPr lang="en-US" sz="1000" dirty="0">
                <a:solidFill>
                  <a:srgbClr val="1B1E35"/>
                </a:solidFill>
                <a:latin typeface="Arial" panose="020B0604020202020204" pitchFamily="34" charset="0"/>
              </a:rPr>
            </a:br>
            <a:r>
              <a:rPr lang="en-US" sz="1000" b="1" dirty="0">
                <a:solidFill>
                  <a:schemeClr val="accent2"/>
                </a:solidFill>
                <a:latin typeface="Arial" panose="020B0604020202020204" pitchFamily="34" charset="0"/>
              </a:rPr>
              <a:t>Remote Cluster Example</a:t>
            </a:r>
            <a:br>
              <a:rPr lang="en-US" sz="1000" dirty="0">
                <a:solidFill>
                  <a:srgbClr val="1B1E35"/>
                </a:solidFill>
                <a:latin typeface="Arial" panose="020B0604020202020204" pitchFamily="34" charset="0"/>
              </a:rPr>
            </a:br>
            <a:r>
              <a:rPr lang="en-US" sz="1000" dirty="0">
                <a:solidFill>
                  <a:srgbClr val="1B1E35"/>
                </a:solidFill>
                <a:latin typeface="Arial" panose="020B0604020202020204" pitchFamily="34" charset="0"/>
              </a:rPr>
              <a:t>Workload Domain: Per site or across sites</a:t>
            </a:r>
            <a:br>
              <a:rPr lang="en-US" sz="1000" dirty="0">
                <a:solidFill>
                  <a:srgbClr val="1B1E35"/>
                </a:solidFill>
                <a:latin typeface="Arial" panose="020B0604020202020204" pitchFamily="34" charset="0"/>
              </a:rPr>
            </a:br>
            <a:r>
              <a:rPr lang="en-US" sz="1000" dirty="0">
                <a:solidFill>
                  <a:srgbClr val="1B1E35"/>
                </a:solidFill>
                <a:latin typeface="Arial" panose="020B0604020202020204" pitchFamily="34" charset="0"/>
              </a:rPr>
              <a:t>Clusters: Multiple per domain</a:t>
            </a:r>
            <a:br>
              <a:rPr lang="en-US" sz="1000" dirty="0">
                <a:solidFill>
                  <a:srgbClr val="1B1E35"/>
                </a:solidFill>
                <a:latin typeface="Arial" panose="020B0604020202020204" pitchFamily="34" charset="0"/>
              </a:rPr>
            </a:br>
            <a:endParaRPr lang="en-US" sz="1200" dirty="0">
              <a:solidFill>
                <a:srgbClr val="1B1E35"/>
              </a:solidFill>
              <a:latin typeface="Arial" panose="020B0604020202020204" pitchFamily="34" charset="0"/>
            </a:endParaRPr>
          </a:p>
        </p:txBody>
      </p:sp>
      <p:sp>
        <p:nvSpPr>
          <p:cNvPr id="65" name="Rectangle 64">
            <a:extLst>
              <a:ext uri="{FF2B5EF4-FFF2-40B4-BE49-F238E27FC236}">
                <a16:creationId xmlns:a16="http://schemas.microsoft.com/office/drawing/2014/main" id="{62F89B87-8828-779B-B573-517F1FC93AE3}"/>
              </a:ext>
            </a:extLst>
          </p:cNvPr>
          <p:cNvSpPr/>
          <p:nvPr/>
        </p:nvSpPr>
        <p:spPr>
          <a:xfrm>
            <a:off x="3101256" y="2619546"/>
            <a:ext cx="1818335" cy="464347"/>
          </a:xfrm>
          <a:prstGeom prst="rect">
            <a:avLst/>
          </a:prstGeom>
          <a:solidFill>
            <a:schemeClr val="bg1"/>
          </a:solidFill>
          <a:ln w="2540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prstTxWarp prst="textNoShape">
              <a:avLst/>
            </a:prstTxWarp>
            <a:noAutofit/>
          </a:bodyPr>
          <a:lstStyle/>
          <a:p>
            <a:pPr algn="ctr">
              <a:spcAft>
                <a:spcPts val="600"/>
              </a:spcAft>
              <a:defRPr/>
            </a:pPr>
            <a:r>
              <a:rPr lang="en-US" sz="1200" dirty="0">
                <a:solidFill>
                  <a:srgbClr val="000001"/>
                </a:solidFill>
                <a:latin typeface="Arial" panose="020B0604020202020204" pitchFamily="34" charset="0"/>
              </a:rPr>
              <a:t>SDDC Manager</a:t>
            </a:r>
          </a:p>
        </p:txBody>
      </p:sp>
      <p:sp>
        <p:nvSpPr>
          <p:cNvPr id="69" name="Rectangle: Rounded Corners 122">
            <a:extLst>
              <a:ext uri="{FF2B5EF4-FFF2-40B4-BE49-F238E27FC236}">
                <a16:creationId xmlns:a16="http://schemas.microsoft.com/office/drawing/2014/main" id="{0C091F68-5D89-FFFC-FC41-1B9164B8679A}"/>
              </a:ext>
            </a:extLst>
          </p:cNvPr>
          <p:cNvSpPr/>
          <p:nvPr/>
        </p:nvSpPr>
        <p:spPr>
          <a:xfrm>
            <a:off x="3022542" y="3306640"/>
            <a:ext cx="1969669" cy="1489055"/>
          </a:xfrm>
          <a:prstGeom prst="roundRect">
            <a:avLst>
              <a:gd name="adj" fmla="val 6821"/>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grpSp>
        <p:nvGrpSpPr>
          <p:cNvPr id="81" name="Group 80">
            <a:extLst>
              <a:ext uri="{FF2B5EF4-FFF2-40B4-BE49-F238E27FC236}">
                <a16:creationId xmlns:a16="http://schemas.microsoft.com/office/drawing/2014/main" id="{21D20C7D-E69F-2DD8-41A3-1D0FAF5F1553}"/>
              </a:ext>
            </a:extLst>
          </p:cNvPr>
          <p:cNvGrpSpPr/>
          <p:nvPr/>
        </p:nvGrpSpPr>
        <p:grpSpPr>
          <a:xfrm>
            <a:off x="3177518" y="3753563"/>
            <a:ext cx="711820" cy="666392"/>
            <a:chOff x="928971" y="4196892"/>
            <a:chExt cx="385619" cy="361009"/>
          </a:xfrm>
          <a:solidFill>
            <a:schemeClr val="accent2"/>
          </a:solidFill>
        </p:grpSpPr>
        <p:sp>
          <p:nvSpPr>
            <p:cNvPr id="88" name="Graphic 47">
              <a:extLst>
                <a:ext uri="{FF2B5EF4-FFF2-40B4-BE49-F238E27FC236}">
                  <a16:creationId xmlns:a16="http://schemas.microsoft.com/office/drawing/2014/main" id="{BF635F45-2A9A-6769-1814-EAB05B791115}"/>
                </a:ext>
              </a:extLst>
            </p:cNvPr>
            <p:cNvSpPr/>
            <p:nvPr/>
          </p:nvSpPr>
          <p:spPr>
            <a:xfrm>
              <a:off x="928971" y="445642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89" name="Graphic 47">
              <a:extLst>
                <a:ext uri="{FF2B5EF4-FFF2-40B4-BE49-F238E27FC236}">
                  <a16:creationId xmlns:a16="http://schemas.microsoft.com/office/drawing/2014/main" id="{34885672-4F2F-096E-695B-1D6013E60484}"/>
                </a:ext>
              </a:extLst>
            </p:cNvPr>
            <p:cNvSpPr/>
            <p:nvPr/>
          </p:nvSpPr>
          <p:spPr>
            <a:xfrm>
              <a:off x="928971" y="4326657"/>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90" name="Graphic 47">
              <a:extLst>
                <a:ext uri="{FF2B5EF4-FFF2-40B4-BE49-F238E27FC236}">
                  <a16:creationId xmlns:a16="http://schemas.microsoft.com/office/drawing/2014/main" id="{5A746AD9-70B6-2E81-FEAB-0F6C11FBE002}"/>
                </a:ext>
              </a:extLst>
            </p:cNvPr>
            <p:cNvSpPr/>
            <p:nvPr/>
          </p:nvSpPr>
          <p:spPr>
            <a:xfrm>
              <a:off x="928971" y="419689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grpSp>
      <p:sp>
        <p:nvSpPr>
          <p:cNvPr id="70" name="Rectangle 69">
            <a:extLst>
              <a:ext uri="{FF2B5EF4-FFF2-40B4-BE49-F238E27FC236}">
                <a16:creationId xmlns:a16="http://schemas.microsoft.com/office/drawing/2014/main" id="{42441751-7680-A58A-3D42-DD3BEB391A13}"/>
              </a:ext>
            </a:extLst>
          </p:cNvPr>
          <p:cNvSpPr/>
          <p:nvPr/>
        </p:nvSpPr>
        <p:spPr>
          <a:xfrm>
            <a:off x="3296352" y="3362240"/>
            <a:ext cx="1428820" cy="184618"/>
          </a:xfrm>
          <a:prstGeom prst="rect">
            <a:avLst/>
          </a:prstGeom>
        </p:spPr>
        <p:txBody>
          <a:bodyPr wrap="square" lIns="0" tIns="0" rIns="0" bIns="0">
            <a:spAutoFit/>
          </a:bodyPr>
          <a:lstStyle/>
          <a:p>
            <a:pPr algn="ctr" defTabSz="912208">
              <a:defRPr/>
            </a:pPr>
            <a:r>
              <a:rPr lang="en-US" sz="1200" kern="0" dirty="0">
                <a:solidFill>
                  <a:srgbClr val="000001"/>
                </a:solidFill>
                <a:latin typeface="Arial" panose="020B0604020202020204" pitchFamily="34" charset="0"/>
              </a:rPr>
              <a:t>Workload Domain</a:t>
            </a:r>
          </a:p>
        </p:txBody>
      </p:sp>
      <p:sp>
        <p:nvSpPr>
          <p:cNvPr id="125" name="Rectangle: Rounded Corners 122">
            <a:extLst>
              <a:ext uri="{FF2B5EF4-FFF2-40B4-BE49-F238E27FC236}">
                <a16:creationId xmlns:a16="http://schemas.microsoft.com/office/drawing/2014/main" id="{89DE4025-B02F-B04D-9E40-3C34C41759EC}"/>
              </a:ext>
            </a:extLst>
          </p:cNvPr>
          <p:cNvSpPr/>
          <p:nvPr/>
        </p:nvSpPr>
        <p:spPr>
          <a:xfrm>
            <a:off x="3103156" y="3675543"/>
            <a:ext cx="860133" cy="1045925"/>
          </a:xfrm>
          <a:prstGeom prst="roundRect">
            <a:avLst>
              <a:gd name="adj" fmla="val 0"/>
            </a:avLst>
          </a:prstGeom>
          <a:no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grpSp>
        <p:nvGrpSpPr>
          <p:cNvPr id="126" name="Group 125">
            <a:extLst>
              <a:ext uri="{FF2B5EF4-FFF2-40B4-BE49-F238E27FC236}">
                <a16:creationId xmlns:a16="http://schemas.microsoft.com/office/drawing/2014/main" id="{9D0BB13E-CD9D-5EDD-920A-1297B24C8F35}"/>
              </a:ext>
            </a:extLst>
          </p:cNvPr>
          <p:cNvGrpSpPr/>
          <p:nvPr/>
        </p:nvGrpSpPr>
        <p:grpSpPr>
          <a:xfrm>
            <a:off x="4120021" y="3753563"/>
            <a:ext cx="711820" cy="666392"/>
            <a:chOff x="928971" y="4196892"/>
            <a:chExt cx="385619" cy="361009"/>
          </a:xfrm>
          <a:solidFill>
            <a:schemeClr val="accent2"/>
          </a:solidFill>
        </p:grpSpPr>
        <p:sp>
          <p:nvSpPr>
            <p:cNvPr id="128" name="Graphic 47">
              <a:extLst>
                <a:ext uri="{FF2B5EF4-FFF2-40B4-BE49-F238E27FC236}">
                  <a16:creationId xmlns:a16="http://schemas.microsoft.com/office/drawing/2014/main" id="{3ACD5410-D69B-F69E-D794-9BDC627E072F}"/>
                </a:ext>
              </a:extLst>
            </p:cNvPr>
            <p:cNvSpPr/>
            <p:nvPr/>
          </p:nvSpPr>
          <p:spPr>
            <a:xfrm>
              <a:off x="928971" y="445642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129" name="Graphic 47">
              <a:extLst>
                <a:ext uri="{FF2B5EF4-FFF2-40B4-BE49-F238E27FC236}">
                  <a16:creationId xmlns:a16="http://schemas.microsoft.com/office/drawing/2014/main" id="{8A619D12-167F-F6E5-9148-03F24D1AE0DA}"/>
                </a:ext>
              </a:extLst>
            </p:cNvPr>
            <p:cNvSpPr/>
            <p:nvPr/>
          </p:nvSpPr>
          <p:spPr>
            <a:xfrm>
              <a:off x="928971" y="4326657"/>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130" name="Graphic 47">
              <a:extLst>
                <a:ext uri="{FF2B5EF4-FFF2-40B4-BE49-F238E27FC236}">
                  <a16:creationId xmlns:a16="http://schemas.microsoft.com/office/drawing/2014/main" id="{79255606-4DB4-B292-CBF3-E26F64B92E07}"/>
                </a:ext>
              </a:extLst>
            </p:cNvPr>
            <p:cNvSpPr/>
            <p:nvPr/>
          </p:nvSpPr>
          <p:spPr>
            <a:xfrm>
              <a:off x="928971" y="419689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grpSp>
      <p:sp>
        <p:nvSpPr>
          <p:cNvPr id="131" name="Rectangle: Rounded Corners 122">
            <a:extLst>
              <a:ext uri="{FF2B5EF4-FFF2-40B4-BE49-F238E27FC236}">
                <a16:creationId xmlns:a16="http://schemas.microsoft.com/office/drawing/2014/main" id="{F139702D-C85F-72C4-8D5D-4681173CB203}"/>
              </a:ext>
            </a:extLst>
          </p:cNvPr>
          <p:cNvSpPr/>
          <p:nvPr/>
        </p:nvSpPr>
        <p:spPr>
          <a:xfrm>
            <a:off x="4045658" y="3675543"/>
            <a:ext cx="860133" cy="1045925"/>
          </a:xfrm>
          <a:prstGeom prst="roundRect">
            <a:avLst>
              <a:gd name="adj" fmla="val 0"/>
            </a:avLst>
          </a:prstGeom>
          <a:no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sp>
        <p:nvSpPr>
          <p:cNvPr id="249" name="Rectangle 248">
            <a:extLst>
              <a:ext uri="{FF2B5EF4-FFF2-40B4-BE49-F238E27FC236}">
                <a16:creationId xmlns:a16="http://schemas.microsoft.com/office/drawing/2014/main" id="{8735A1BE-25DF-1FBC-2A4C-C6F1D1FAC461}"/>
              </a:ext>
            </a:extLst>
          </p:cNvPr>
          <p:cNvSpPr/>
          <p:nvPr/>
        </p:nvSpPr>
        <p:spPr>
          <a:xfrm>
            <a:off x="3705333" y="4503283"/>
            <a:ext cx="1544584" cy="153848"/>
          </a:xfrm>
          <a:prstGeom prst="rect">
            <a:avLst/>
          </a:prstGeom>
        </p:spPr>
        <p:txBody>
          <a:bodyPr wrap="square" lIns="0" tIns="0" rIns="0" bIns="0">
            <a:spAutoFit/>
          </a:bodyPr>
          <a:lstStyle/>
          <a:p>
            <a:pPr algn="ctr" defTabSz="912208">
              <a:defRPr/>
            </a:pPr>
            <a:r>
              <a:rPr lang="en-US" sz="1000" kern="0" dirty="0">
                <a:solidFill>
                  <a:srgbClr val="000001"/>
                </a:solidFill>
                <a:latin typeface="Arial" panose="020B0604020202020204" pitchFamily="34" charset="0"/>
              </a:rPr>
              <a:t>Cluster</a:t>
            </a:r>
          </a:p>
        </p:txBody>
      </p:sp>
      <p:sp>
        <p:nvSpPr>
          <p:cNvPr id="255" name="Rectangle 254">
            <a:extLst>
              <a:ext uri="{FF2B5EF4-FFF2-40B4-BE49-F238E27FC236}">
                <a16:creationId xmlns:a16="http://schemas.microsoft.com/office/drawing/2014/main" id="{C5C54848-0855-5903-7991-ACE9DB9C3417}"/>
              </a:ext>
            </a:extLst>
          </p:cNvPr>
          <p:cNvSpPr/>
          <p:nvPr/>
        </p:nvSpPr>
        <p:spPr>
          <a:xfrm>
            <a:off x="2773404" y="4505965"/>
            <a:ext cx="1544584" cy="153848"/>
          </a:xfrm>
          <a:prstGeom prst="rect">
            <a:avLst/>
          </a:prstGeom>
        </p:spPr>
        <p:txBody>
          <a:bodyPr wrap="square" lIns="0" tIns="0" rIns="0" bIns="0">
            <a:spAutoFit/>
          </a:bodyPr>
          <a:lstStyle/>
          <a:p>
            <a:pPr algn="ctr" defTabSz="912208">
              <a:defRPr/>
            </a:pPr>
            <a:r>
              <a:rPr lang="en-US" sz="1000" kern="0" dirty="0">
                <a:solidFill>
                  <a:srgbClr val="000001"/>
                </a:solidFill>
                <a:latin typeface="Arial" panose="020B0604020202020204" pitchFamily="34" charset="0"/>
              </a:rPr>
              <a:t>Cluster</a:t>
            </a:r>
          </a:p>
        </p:txBody>
      </p:sp>
      <p:sp>
        <p:nvSpPr>
          <p:cNvPr id="9" name="Rectangle 8">
            <a:extLst>
              <a:ext uri="{FF2B5EF4-FFF2-40B4-BE49-F238E27FC236}">
                <a16:creationId xmlns:a16="http://schemas.microsoft.com/office/drawing/2014/main" id="{8F21647A-7BBE-F8E5-25A4-A53EAE841EB8}"/>
              </a:ext>
            </a:extLst>
          </p:cNvPr>
          <p:cNvSpPr/>
          <p:nvPr/>
        </p:nvSpPr>
        <p:spPr>
          <a:xfrm>
            <a:off x="3107883" y="1977174"/>
            <a:ext cx="1818335" cy="464347"/>
          </a:xfrm>
          <a:prstGeom prst="rect">
            <a:avLst/>
          </a:prstGeom>
          <a:solidFill>
            <a:schemeClr val="bg1"/>
          </a:solidFill>
          <a:ln w="2540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prstTxWarp prst="textNoShape">
              <a:avLst/>
            </a:prstTxWarp>
            <a:noAutofit/>
          </a:bodyPr>
          <a:lstStyle/>
          <a:p>
            <a:pPr algn="ctr">
              <a:spcAft>
                <a:spcPts val="600"/>
              </a:spcAft>
              <a:defRPr/>
            </a:pPr>
            <a:r>
              <a:rPr lang="en-US" sz="1200" dirty="0">
                <a:solidFill>
                  <a:srgbClr val="000001"/>
                </a:solidFill>
                <a:latin typeface="Arial" panose="020B0604020202020204" pitchFamily="34" charset="0"/>
              </a:rPr>
              <a:t>VCF Operations</a:t>
            </a:r>
          </a:p>
        </p:txBody>
      </p:sp>
      <p:cxnSp>
        <p:nvCxnSpPr>
          <p:cNvPr id="10" name="Straight Connector 9">
            <a:extLst>
              <a:ext uri="{FF2B5EF4-FFF2-40B4-BE49-F238E27FC236}">
                <a16:creationId xmlns:a16="http://schemas.microsoft.com/office/drawing/2014/main" id="{1AC7B21E-9644-1802-7130-624E890E0C20}"/>
              </a:ext>
            </a:extLst>
          </p:cNvPr>
          <p:cNvCxnSpPr>
            <a:cxnSpLocks/>
          </p:cNvCxnSpPr>
          <p:nvPr/>
        </p:nvCxnSpPr>
        <p:spPr bwMode="gray">
          <a:xfrm flipH="1">
            <a:off x="4010776" y="2439419"/>
            <a:ext cx="1" cy="159369"/>
          </a:xfrm>
          <a:prstGeom prst="line">
            <a:avLst/>
          </a:prstGeom>
          <a:ln w="19050">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4899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500"/>
                                        <p:tgtEl>
                                          <p:spTgt spid="5"/>
                                        </p:tgtEl>
                                      </p:cBhvr>
                                    </p:animEffect>
                                  </p:childTnLst>
                                </p:cTn>
                              </p:par>
                            </p:childTnLst>
                          </p:cTn>
                        </p:par>
                        <p:par>
                          <p:cTn id="8" fill="hold">
                            <p:stCondLst>
                              <p:cond delay="500"/>
                            </p:stCondLst>
                            <p:childTnLst>
                              <p:par>
                                <p:cTn id="9" presetID="9" presetClass="entr" presetSubtype="0" fill="hold" grpId="0" nodeType="afterEffect">
                                  <p:stCondLst>
                                    <p:cond delay="500"/>
                                  </p:stCondLst>
                                  <p:childTnLst>
                                    <p:set>
                                      <p:cBhvr>
                                        <p:cTn id="10" dur="1" fill="hold">
                                          <p:stCondLst>
                                            <p:cond delay="0"/>
                                          </p:stCondLst>
                                        </p:cTn>
                                        <p:tgtEl>
                                          <p:spTgt spid="50"/>
                                        </p:tgtEl>
                                        <p:attrNameLst>
                                          <p:attrName>style.visibility</p:attrName>
                                        </p:attrNameLst>
                                      </p:cBhvr>
                                      <p:to>
                                        <p:strVal val="visible"/>
                                      </p:to>
                                    </p:set>
                                    <p:animEffect transition="in" filter="dissolve">
                                      <p:cBhvr>
                                        <p:cTn id="11" dur="1000"/>
                                        <p:tgtEl>
                                          <p:spTgt spid="5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par>
                          <p:cTn id="17" fill="hold">
                            <p:stCondLst>
                              <p:cond delay="500"/>
                            </p:stCondLst>
                            <p:childTnLst>
                              <p:par>
                                <p:cTn id="18" presetID="9" presetClass="entr" presetSubtype="0" fill="hold" grpId="0" nodeType="afterEffect">
                                  <p:stCondLst>
                                    <p:cond delay="500"/>
                                  </p:stCondLst>
                                  <p:childTnLst>
                                    <p:set>
                                      <p:cBhvr>
                                        <p:cTn id="19" dur="1" fill="hold">
                                          <p:stCondLst>
                                            <p:cond delay="0"/>
                                          </p:stCondLst>
                                        </p:cTn>
                                        <p:tgtEl>
                                          <p:spTgt spid="258"/>
                                        </p:tgtEl>
                                        <p:attrNameLst>
                                          <p:attrName>style.visibility</p:attrName>
                                        </p:attrNameLst>
                                      </p:cBhvr>
                                      <p:to>
                                        <p:strVal val="visible"/>
                                      </p:to>
                                    </p:set>
                                    <p:animEffect transition="in" filter="dissolve">
                                      <p:cBhvr>
                                        <p:cTn id="20" dur="1000"/>
                                        <p:tgtEl>
                                          <p:spTgt spid="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25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75">
          <a:extLst>
            <a:ext uri="{FF2B5EF4-FFF2-40B4-BE49-F238E27FC236}">
              <a16:creationId xmlns:a16="http://schemas.microsoft.com/office/drawing/2014/main" id="{BB3D49D2-0F81-19D7-8B44-508CBAE5FDED}"/>
            </a:ext>
          </a:extLst>
        </p:cNvPr>
        <p:cNvGrpSpPr/>
        <p:nvPr/>
      </p:nvGrpSpPr>
      <p:grpSpPr>
        <a:xfrm>
          <a:off x="0" y="0"/>
          <a:ext cx="0" cy="0"/>
          <a:chOff x="0" y="0"/>
          <a:chExt cx="0" cy="0"/>
        </a:xfrm>
      </p:grpSpPr>
      <p:sp>
        <p:nvSpPr>
          <p:cNvPr id="2876" name="Google Shape;2876;p39">
            <a:extLst>
              <a:ext uri="{FF2B5EF4-FFF2-40B4-BE49-F238E27FC236}">
                <a16:creationId xmlns:a16="http://schemas.microsoft.com/office/drawing/2014/main" id="{EDDE09FB-EA65-B815-BC96-E40DA8E1C707}"/>
              </a:ext>
            </a:extLst>
          </p:cNvPr>
          <p:cNvSpPr txBox="1">
            <a:spLocks noGrp="1"/>
          </p:cNvSpPr>
          <p:nvPr>
            <p:ph type="title"/>
          </p:nvPr>
        </p:nvSpPr>
        <p:spPr>
          <a:xfrm>
            <a:off x="589107" y="938794"/>
            <a:ext cx="6555971" cy="1229360"/>
          </a:xfrm>
        </p:spPr>
        <p:txBody>
          <a:bodyPr spcFirstLastPara="1" wrap="square" lIns="0" tIns="0" rIns="0" bIns="0" anchor="b" anchorCtr="0">
            <a:normAutofit/>
          </a:bodyPr>
          <a:lstStyle/>
          <a:p>
            <a:pPr marL="0" lvl="0" indent="0" rtl="0">
              <a:spcBef>
                <a:spcPts val="0"/>
              </a:spcBef>
              <a:spcAft>
                <a:spcPts val="0"/>
              </a:spcAft>
              <a:buClr>
                <a:schemeClr val="accent2"/>
              </a:buClr>
              <a:buSzPts val="3600"/>
              <a:buFont typeface="Arial"/>
              <a:buNone/>
            </a:pPr>
            <a:r>
              <a:rPr lang="en-US" dirty="0"/>
              <a:t>Modernize Infrastructure</a:t>
            </a:r>
            <a:endParaRPr lang="en-AU" dirty="0"/>
          </a:p>
        </p:txBody>
      </p:sp>
      <p:sp>
        <p:nvSpPr>
          <p:cNvPr id="2877" name="Google Shape;2877;p39">
            <a:extLst>
              <a:ext uri="{FF2B5EF4-FFF2-40B4-BE49-F238E27FC236}">
                <a16:creationId xmlns:a16="http://schemas.microsoft.com/office/drawing/2014/main" id="{82D82FFF-1CBD-D05E-5B08-88F7EE3A704F}"/>
              </a:ext>
            </a:extLst>
          </p:cNvPr>
          <p:cNvSpPr txBox="1">
            <a:spLocks noGrp="1"/>
          </p:cNvSpPr>
          <p:nvPr>
            <p:ph type="subTitle" idx="10"/>
          </p:nvPr>
        </p:nvSpPr>
        <p:spPr>
          <a:xfrm>
            <a:off x="602966" y="2267712"/>
            <a:ext cx="6542112" cy="700882"/>
          </a:xfrm>
        </p:spPr>
        <p:txBody>
          <a:bodyPr spcFirstLastPara="1" lIns="0" tIns="0" rIns="0" bIns="0" anchorCtr="0">
            <a:normAutofit/>
          </a:bodyPr>
          <a:lstStyle/>
          <a:p>
            <a:pPr marL="0" lvl="0" indent="0" rtl="0">
              <a:spcBef>
                <a:spcPts val="0"/>
              </a:spcBef>
              <a:spcAft>
                <a:spcPts val="600"/>
              </a:spcAft>
              <a:buSzPts val="2160"/>
              <a:buNone/>
            </a:pPr>
            <a:r>
              <a:rPr lang="en-US" dirty="0"/>
              <a:t>VCF Deployment &amp; Scale</a:t>
            </a:r>
          </a:p>
        </p:txBody>
      </p:sp>
    </p:spTree>
    <p:extLst>
      <p:ext uri="{BB962C8B-B14F-4D97-AF65-F5344CB8AC3E}">
        <p14:creationId xmlns:p14="http://schemas.microsoft.com/office/powerpoint/2010/main" val="759103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F1B86-C617-1AA6-C3F6-BF3C1969EBAF}"/>
            </a:ext>
          </a:extLst>
        </p:cNvPr>
        <p:cNvGrpSpPr/>
        <p:nvPr/>
      </p:nvGrpSpPr>
      <p:grpSpPr>
        <a:xfrm>
          <a:off x="0" y="0"/>
          <a:ext cx="0" cy="0"/>
          <a:chOff x="0" y="0"/>
          <a:chExt cx="0" cy="0"/>
        </a:xfrm>
      </p:grpSpPr>
      <p:sp>
        <p:nvSpPr>
          <p:cNvPr id="12" name="Google Shape;2773;p31">
            <a:extLst>
              <a:ext uri="{FF2B5EF4-FFF2-40B4-BE49-F238E27FC236}">
                <a16:creationId xmlns:a16="http://schemas.microsoft.com/office/drawing/2014/main" id="{026A2699-0373-784C-A974-C9A80F2EE7CA}"/>
              </a:ext>
            </a:extLst>
          </p:cNvPr>
          <p:cNvSpPr/>
          <p:nvPr/>
        </p:nvSpPr>
        <p:spPr>
          <a:xfrm>
            <a:off x="2329373" y="1434662"/>
            <a:ext cx="9859452" cy="3932782"/>
          </a:xfrm>
          <a:custGeom>
            <a:avLst/>
            <a:gdLst/>
            <a:ahLst/>
            <a:cxnLst/>
            <a:rect l="l" t="t" r="r" b="b"/>
            <a:pathLst>
              <a:path w="3672840" h="3488576" extrusionOk="0">
                <a:moveTo>
                  <a:pt x="0" y="0"/>
                </a:moveTo>
                <a:lnTo>
                  <a:pt x="3672840" y="0"/>
                </a:lnTo>
                <a:lnTo>
                  <a:pt x="3672840" y="1284810"/>
                </a:lnTo>
                <a:lnTo>
                  <a:pt x="3672840" y="1371601"/>
                </a:lnTo>
                <a:lnTo>
                  <a:pt x="3672840" y="3488576"/>
                </a:lnTo>
                <a:lnTo>
                  <a:pt x="0" y="3488576"/>
                </a:lnTo>
                <a:lnTo>
                  <a:pt x="0" y="1371601"/>
                </a:lnTo>
                <a:lnTo>
                  <a:pt x="0" y="1284810"/>
                </a:lnTo>
                <a:close/>
              </a:path>
            </a:pathLst>
          </a:custGeom>
          <a:solidFill>
            <a:srgbClr val="F4F8FA"/>
          </a:soli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u="none" strike="noStrike" kern="1200" cap="none" spc="0" normalizeH="0" baseline="0" noProof="0" dirty="0">
              <a:ln>
                <a:noFill/>
              </a:ln>
              <a:solidFill>
                <a:srgbClr val="FFFFFF"/>
              </a:solidFill>
              <a:effectLst/>
              <a:uLnTx/>
              <a:uFillTx/>
              <a:latin typeface="Metropolis" pitchFamily="2" charset="77"/>
              <a:sym typeface="Arial"/>
            </a:endParaRPr>
          </a:p>
        </p:txBody>
      </p:sp>
      <p:sp>
        <p:nvSpPr>
          <p:cNvPr id="2" name="Title 1">
            <a:extLst>
              <a:ext uri="{FF2B5EF4-FFF2-40B4-BE49-F238E27FC236}">
                <a16:creationId xmlns:a16="http://schemas.microsoft.com/office/drawing/2014/main" id="{534427D4-0C2D-C54A-B556-CC91098E59D0}"/>
              </a:ext>
            </a:extLst>
          </p:cNvPr>
          <p:cNvSpPr>
            <a:spLocks noGrp="1"/>
          </p:cNvSpPr>
          <p:nvPr>
            <p:ph type="title"/>
          </p:nvPr>
        </p:nvSpPr>
        <p:spPr/>
        <p:txBody>
          <a:bodyPr/>
          <a:lstStyle/>
          <a:p>
            <a:r>
              <a:rPr lang="en-US" dirty="0"/>
              <a:t>Deploying a New VCF Instance on New Hardware</a:t>
            </a:r>
          </a:p>
        </p:txBody>
      </p:sp>
      <p:sp>
        <p:nvSpPr>
          <p:cNvPr id="3" name="Subtitle 2">
            <a:extLst>
              <a:ext uri="{FF2B5EF4-FFF2-40B4-BE49-F238E27FC236}">
                <a16:creationId xmlns:a16="http://schemas.microsoft.com/office/drawing/2014/main" id="{ADA57BB9-E580-01E5-BE8D-E1E6AC157D6C}"/>
              </a:ext>
            </a:extLst>
          </p:cNvPr>
          <p:cNvSpPr>
            <a:spLocks noGrp="1"/>
          </p:cNvSpPr>
          <p:nvPr>
            <p:ph type="subTitle" idx="10"/>
          </p:nvPr>
        </p:nvSpPr>
        <p:spPr/>
        <p:txBody>
          <a:bodyPr/>
          <a:lstStyle/>
          <a:p>
            <a:r>
              <a:rPr lang="en-US" dirty="0"/>
              <a:t>VMware Cloud Foundation Installer Appliance</a:t>
            </a:r>
          </a:p>
        </p:txBody>
      </p:sp>
      <p:cxnSp>
        <p:nvCxnSpPr>
          <p:cNvPr id="4" name="Google Shape;2831;p31">
            <a:extLst>
              <a:ext uri="{FF2B5EF4-FFF2-40B4-BE49-F238E27FC236}">
                <a16:creationId xmlns:a16="http://schemas.microsoft.com/office/drawing/2014/main" id="{877FF203-37CC-92B8-5ABF-CC49086C98C7}"/>
              </a:ext>
            </a:extLst>
          </p:cNvPr>
          <p:cNvCxnSpPr>
            <a:cxnSpLocks/>
          </p:cNvCxnSpPr>
          <p:nvPr/>
        </p:nvCxnSpPr>
        <p:spPr>
          <a:xfrm flipV="1">
            <a:off x="3977480" y="4864882"/>
            <a:ext cx="0" cy="480259"/>
          </a:xfrm>
          <a:prstGeom prst="straightConnector1">
            <a:avLst/>
          </a:prstGeom>
          <a:noFill/>
          <a:ln w="28575" cap="flat" cmpd="sng">
            <a:solidFill>
              <a:schemeClr val="bg2">
                <a:lumMod val="50000"/>
              </a:schemeClr>
            </a:solidFill>
            <a:prstDash val="solid"/>
            <a:miter lim="800000"/>
            <a:headEnd type="none" w="sm" len="sm"/>
            <a:tailEnd type="none" w="sm" len="sm"/>
          </a:ln>
        </p:spPr>
      </p:cxnSp>
      <p:sp>
        <p:nvSpPr>
          <p:cNvPr id="5" name="Google Shape;6678;g2d30ebb658d_0_19789">
            <a:extLst>
              <a:ext uri="{FF2B5EF4-FFF2-40B4-BE49-F238E27FC236}">
                <a16:creationId xmlns:a16="http://schemas.microsoft.com/office/drawing/2014/main" id="{5B89EFA8-8675-3509-AFEE-007E02CB1827}"/>
              </a:ext>
            </a:extLst>
          </p:cNvPr>
          <p:cNvSpPr/>
          <p:nvPr/>
        </p:nvSpPr>
        <p:spPr>
          <a:xfrm>
            <a:off x="6003003" y="1836473"/>
            <a:ext cx="1998652" cy="3005185"/>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cxnSp>
        <p:nvCxnSpPr>
          <p:cNvPr id="6" name="Google Shape;2776;p31">
            <a:extLst>
              <a:ext uri="{FF2B5EF4-FFF2-40B4-BE49-F238E27FC236}">
                <a16:creationId xmlns:a16="http://schemas.microsoft.com/office/drawing/2014/main" id="{B94A3413-EE68-293D-97E9-9B84AF46A807}"/>
              </a:ext>
            </a:extLst>
          </p:cNvPr>
          <p:cNvCxnSpPr>
            <a:cxnSpLocks/>
          </p:cNvCxnSpPr>
          <p:nvPr/>
        </p:nvCxnSpPr>
        <p:spPr>
          <a:xfrm>
            <a:off x="971800" y="5345141"/>
            <a:ext cx="6985328" cy="0"/>
          </a:xfrm>
          <a:prstGeom prst="straightConnector1">
            <a:avLst/>
          </a:prstGeom>
          <a:noFill/>
          <a:ln w="28575" cap="flat" cmpd="sng">
            <a:solidFill>
              <a:schemeClr val="bg2">
                <a:lumMod val="50000"/>
              </a:schemeClr>
            </a:solidFill>
            <a:prstDash val="solid"/>
            <a:miter lim="800000"/>
            <a:headEnd type="none" w="sm" len="sm"/>
            <a:tailEnd type="none" w="sm" len="sm"/>
          </a:ln>
        </p:spPr>
      </p:cxnSp>
      <p:sp>
        <p:nvSpPr>
          <p:cNvPr id="7" name="Google Shape;2784;p31">
            <a:extLst>
              <a:ext uri="{FF2B5EF4-FFF2-40B4-BE49-F238E27FC236}">
                <a16:creationId xmlns:a16="http://schemas.microsoft.com/office/drawing/2014/main" id="{55D2539F-F43C-3867-4148-14ADD6F6D144}"/>
              </a:ext>
            </a:extLst>
          </p:cNvPr>
          <p:cNvSpPr txBox="1"/>
          <p:nvPr/>
        </p:nvSpPr>
        <p:spPr>
          <a:xfrm>
            <a:off x="5963877" y="2802952"/>
            <a:ext cx="2100259" cy="18461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200" b="0" i="0" u="none" strike="noStrike" kern="1200" cap="none" spc="0" normalizeH="0" baseline="0" noProof="0" dirty="0">
                <a:ln>
                  <a:noFill/>
                </a:ln>
                <a:solidFill>
                  <a:srgbClr val="000000"/>
                </a:solidFill>
                <a:effectLst/>
                <a:uLnTx/>
                <a:uFillTx/>
                <a:latin typeface="Metropolis" pitchFamily="2" charset="77"/>
                <a:ea typeface="+mn-ea"/>
                <a:cs typeface="+mn-cs"/>
                <a:sym typeface="Arial"/>
              </a:rPr>
              <a:t>Customer Networking</a:t>
            </a:r>
            <a:endParaRPr kumimoji="0" sz="1800" b="0" i="0" u="none" strike="noStrike" kern="1200" cap="none" spc="0" normalizeH="0" baseline="0" noProof="0" dirty="0">
              <a:ln>
                <a:noFill/>
              </a:ln>
              <a:solidFill>
                <a:srgbClr val="000000"/>
              </a:solidFill>
              <a:effectLst/>
              <a:uLnTx/>
              <a:uFillTx/>
              <a:latin typeface="Metropolis" pitchFamily="2" charset="77"/>
              <a:ea typeface="+mn-ea"/>
              <a:cs typeface="+mn-cs"/>
            </a:endParaRPr>
          </a:p>
        </p:txBody>
      </p:sp>
      <p:sp>
        <p:nvSpPr>
          <p:cNvPr id="8" name="Google Shape;2830;p31">
            <a:extLst>
              <a:ext uri="{FF2B5EF4-FFF2-40B4-BE49-F238E27FC236}">
                <a16:creationId xmlns:a16="http://schemas.microsoft.com/office/drawing/2014/main" id="{30134646-DB05-7BED-E386-6165DE41D0D5}"/>
              </a:ext>
            </a:extLst>
          </p:cNvPr>
          <p:cNvSpPr txBox="1"/>
          <p:nvPr/>
        </p:nvSpPr>
        <p:spPr>
          <a:xfrm>
            <a:off x="3020066" y="5416109"/>
            <a:ext cx="1903099" cy="169277"/>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dirty="0">
                <a:ln>
                  <a:noFill/>
                </a:ln>
                <a:solidFill>
                  <a:schemeClr val="bg2">
                    <a:lumMod val="50000"/>
                  </a:schemeClr>
                </a:solidFill>
                <a:effectLst/>
                <a:uLnTx/>
                <a:uFillTx/>
                <a:latin typeface="Metropolis" pitchFamily="2" charset="77"/>
                <a:ea typeface="+mn-ea"/>
                <a:cs typeface="+mn-cs"/>
                <a:sym typeface="Arial"/>
              </a:rPr>
              <a:t>Management Network</a:t>
            </a:r>
            <a:endParaRPr kumimoji="0" sz="1800" b="0" i="0" u="none" strike="noStrike" kern="1200" cap="none" spc="0" normalizeH="0" baseline="0" noProof="0" dirty="0">
              <a:ln>
                <a:noFill/>
              </a:ln>
              <a:solidFill>
                <a:schemeClr val="bg2">
                  <a:lumMod val="50000"/>
                </a:schemeClr>
              </a:solidFill>
              <a:effectLst/>
              <a:uLnTx/>
              <a:uFillTx/>
              <a:latin typeface="Metropolis" pitchFamily="2" charset="77"/>
              <a:ea typeface="+mn-ea"/>
              <a:cs typeface="+mn-cs"/>
            </a:endParaRPr>
          </a:p>
        </p:txBody>
      </p:sp>
      <p:cxnSp>
        <p:nvCxnSpPr>
          <p:cNvPr id="9" name="Google Shape;2831;p31">
            <a:extLst>
              <a:ext uri="{FF2B5EF4-FFF2-40B4-BE49-F238E27FC236}">
                <a16:creationId xmlns:a16="http://schemas.microsoft.com/office/drawing/2014/main" id="{1B65AEEC-C2B4-7433-5B3B-B32618F77FB6}"/>
              </a:ext>
            </a:extLst>
          </p:cNvPr>
          <p:cNvCxnSpPr>
            <a:cxnSpLocks/>
          </p:cNvCxnSpPr>
          <p:nvPr/>
        </p:nvCxnSpPr>
        <p:spPr>
          <a:xfrm flipV="1">
            <a:off x="1417014" y="3912978"/>
            <a:ext cx="0" cy="1432163"/>
          </a:xfrm>
          <a:prstGeom prst="straightConnector1">
            <a:avLst/>
          </a:prstGeom>
          <a:noFill/>
          <a:ln w="28575" cap="flat" cmpd="sng">
            <a:solidFill>
              <a:schemeClr val="bg2">
                <a:lumMod val="50000"/>
              </a:schemeClr>
            </a:solidFill>
            <a:prstDash val="sysDot"/>
            <a:miter lim="800000"/>
            <a:headEnd type="none" w="sm" len="sm"/>
            <a:tailEnd type="none" w="sm" len="sm"/>
          </a:ln>
        </p:spPr>
      </p:cxnSp>
      <p:sp>
        <p:nvSpPr>
          <p:cNvPr id="27" name="Google Shape;6786;g2d30ebb658d_0_20097">
            <a:extLst>
              <a:ext uri="{FF2B5EF4-FFF2-40B4-BE49-F238E27FC236}">
                <a16:creationId xmlns:a16="http://schemas.microsoft.com/office/drawing/2014/main" id="{E92ABC7F-6D10-40B5-22E9-A0A051C68B98}"/>
              </a:ext>
            </a:extLst>
          </p:cNvPr>
          <p:cNvSpPr/>
          <p:nvPr/>
        </p:nvSpPr>
        <p:spPr>
          <a:xfrm>
            <a:off x="6234786" y="2294295"/>
            <a:ext cx="1553250" cy="320060"/>
          </a:xfrm>
          <a:prstGeom prst="roundRect">
            <a:avLst>
              <a:gd name="adj" fmla="val 3968"/>
            </a:avLst>
          </a:prstGeom>
          <a:solidFill>
            <a:schemeClr val="lt1"/>
          </a:solidFill>
          <a:ln w="19050" cap="rnd" cmpd="sng">
            <a:solidFill>
              <a:schemeClr val="dk2"/>
            </a:solidFill>
            <a:prstDash val="dot"/>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28" name="Google Shape;2821;p31">
            <a:extLst>
              <a:ext uri="{FF2B5EF4-FFF2-40B4-BE49-F238E27FC236}">
                <a16:creationId xmlns:a16="http://schemas.microsoft.com/office/drawing/2014/main" id="{869862AD-5BFE-A08E-B54E-E5DF8210C5D0}"/>
              </a:ext>
            </a:extLst>
          </p:cNvPr>
          <p:cNvGrpSpPr/>
          <p:nvPr/>
        </p:nvGrpSpPr>
        <p:grpSpPr>
          <a:xfrm>
            <a:off x="6470265" y="2146962"/>
            <a:ext cx="1055508" cy="600549"/>
            <a:chOff x="4402395" y="1640077"/>
            <a:chExt cx="1303775" cy="741804"/>
          </a:xfrm>
        </p:grpSpPr>
        <p:pic>
          <p:nvPicPr>
            <p:cNvPr id="29" name="Google Shape;2791;p31">
              <a:extLst>
                <a:ext uri="{FF2B5EF4-FFF2-40B4-BE49-F238E27FC236}">
                  <a16:creationId xmlns:a16="http://schemas.microsoft.com/office/drawing/2014/main" id="{D2F8E489-465D-4387-8C28-71C6498CC309}"/>
                </a:ext>
              </a:extLst>
            </p:cNvPr>
            <p:cNvPicPr preferRelativeResize="0"/>
            <p:nvPr/>
          </p:nvPicPr>
          <p:blipFill rotWithShape="1">
            <a:blip r:embed="rId3">
              <a:alphaModFix/>
            </a:blip>
            <a:srcRect/>
            <a:stretch/>
          </p:blipFill>
          <p:spPr>
            <a:xfrm>
              <a:off x="4402395" y="1640077"/>
              <a:ext cx="1303774" cy="346972"/>
            </a:xfrm>
            <a:prstGeom prst="rect">
              <a:avLst/>
            </a:prstGeom>
            <a:solidFill>
              <a:schemeClr val="lt1"/>
            </a:solidFill>
            <a:ln>
              <a:noFill/>
            </a:ln>
          </p:spPr>
        </p:pic>
        <p:pic>
          <p:nvPicPr>
            <p:cNvPr id="30" name="Google Shape;2794;p31">
              <a:extLst>
                <a:ext uri="{FF2B5EF4-FFF2-40B4-BE49-F238E27FC236}">
                  <a16:creationId xmlns:a16="http://schemas.microsoft.com/office/drawing/2014/main" id="{E4BDFC29-4FEB-AAEF-DCED-CA8022B54F38}"/>
                </a:ext>
              </a:extLst>
            </p:cNvPr>
            <p:cNvPicPr preferRelativeResize="0"/>
            <p:nvPr/>
          </p:nvPicPr>
          <p:blipFill rotWithShape="1">
            <a:blip r:embed="rId3">
              <a:alphaModFix/>
            </a:blip>
            <a:srcRect/>
            <a:stretch/>
          </p:blipFill>
          <p:spPr>
            <a:xfrm>
              <a:off x="4402396" y="2034909"/>
              <a:ext cx="1303774" cy="346972"/>
            </a:xfrm>
            <a:prstGeom prst="rect">
              <a:avLst/>
            </a:prstGeom>
            <a:solidFill>
              <a:schemeClr val="lt1"/>
            </a:solidFill>
            <a:ln>
              <a:noFill/>
            </a:ln>
          </p:spPr>
        </p:pic>
      </p:grpSp>
      <p:sp>
        <p:nvSpPr>
          <p:cNvPr id="31" name="Google Shape;6786;g2d30ebb658d_0_20097">
            <a:extLst>
              <a:ext uri="{FF2B5EF4-FFF2-40B4-BE49-F238E27FC236}">
                <a16:creationId xmlns:a16="http://schemas.microsoft.com/office/drawing/2014/main" id="{895B214A-BC16-1763-8D18-CA12C34B2E38}"/>
              </a:ext>
            </a:extLst>
          </p:cNvPr>
          <p:cNvSpPr/>
          <p:nvPr/>
        </p:nvSpPr>
        <p:spPr>
          <a:xfrm>
            <a:off x="6234786" y="3393133"/>
            <a:ext cx="1553250" cy="954171"/>
          </a:xfrm>
          <a:prstGeom prst="roundRect">
            <a:avLst>
              <a:gd name="adj" fmla="val 3968"/>
            </a:avLst>
          </a:prstGeom>
          <a:solidFill>
            <a:schemeClr val="lt1"/>
          </a:solidFill>
          <a:ln w="19050" cap="rnd" cmpd="sng">
            <a:solidFill>
              <a:schemeClr val="dk2"/>
            </a:solidFill>
            <a:prstDash val="dot"/>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32" name="Google Shape;2785;p31">
            <a:extLst>
              <a:ext uri="{FF2B5EF4-FFF2-40B4-BE49-F238E27FC236}">
                <a16:creationId xmlns:a16="http://schemas.microsoft.com/office/drawing/2014/main" id="{6AF1CCE0-8507-6FF1-7D6B-187BCF92182D}"/>
              </a:ext>
            </a:extLst>
          </p:cNvPr>
          <p:cNvSpPr txBox="1"/>
          <p:nvPr/>
        </p:nvSpPr>
        <p:spPr>
          <a:xfrm>
            <a:off x="6048522" y="4548886"/>
            <a:ext cx="1908606" cy="18461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lang="en-US" sz="1200" dirty="0">
                <a:solidFill>
                  <a:srgbClr val="000000"/>
                </a:solidFill>
                <a:latin typeface="Metropolis" pitchFamily="2" charset="77"/>
                <a:sym typeface="Arial"/>
              </a:rPr>
              <a:t>ESX</a:t>
            </a:r>
            <a:r>
              <a:rPr kumimoji="0" lang="en-US" sz="1200" b="0" i="0" u="none" strike="noStrike" kern="1200" cap="none" spc="0" normalizeH="0" baseline="0" noProof="0" dirty="0">
                <a:ln>
                  <a:noFill/>
                </a:ln>
                <a:solidFill>
                  <a:srgbClr val="000000"/>
                </a:solidFill>
                <a:effectLst/>
                <a:uLnTx/>
                <a:uFillTx/>
                <a:latin typeface="Metropolis" pitchFamily="2" charset="77"/>
                <a:ea typeface="+mn-ea"/>
                <a:cs typeface="+mn-cs"/>
                <a:sym typeface="Arial"/>
              </a:rPr>
              <a:t> Nodes</a:t>
            </a:r>
            <a:endParaRPr kumimoji="0" sz="1800" b="0" i="0" u="none" strike="noStrike" kern="1200" cap="none" spc="0" normalizeH="0" baseline="0" noProof="0" dirty="0">
              <a:ln>
                <a:noFill/>
              </a:ln>
              <a:solidFill>
                <a:srgbClr val="000000"/>
              </a:solidFill>
              <a:effectLst/>
              <a:uLnTx/>
              <a:uFillTx/>
              <a:latin typeface="Metropolis" pitchFamily="2" charset="77"/>
              <a:ea typeface="+mn-ea"/>
              <a:cs typeface="+mn-cs"/>
            </a:endParaRPr>
          </a:p>
        </p:txBody>
      </p:sp>
      <p:grpSp>
        <p:nvGrpSpPr>
          <p:cNvPr id="11" name="Group 10">
            <a:extLst>
              <a:ext uri="{FF2B5EF4-FFF2-40B4-BE49-F238E27FC236}">
                <a16:creationId xmlns:a16="http://schemas.microsoft.com/office/drawing/2014/main" id="{7E24B34C-1B65-EF52-7F90-5DB619171A75}"/>
              </a:ext>
            </a:extLst>
          </p:cNvPr>
          <p:cNvGrpSpPr/>
          <p:nvPr/>
        </p:nvGrpSpPr>
        <p:grpSpPr>
          <a:xfrm>
            <a:off x="8295983" y="1859697"/>
            <a:ext cx="3297817" cy="3005185"/>
            <a:chOff x="8295983" y="1859697"/>
            <a:chExt cx="3297817" cy="3005185"/>
          </a:xfrm>
        </p:grpSpPr>
        <p:sp>
          <p:nvSpPr>
            <p:cNvPr id="33" name="Google Shape;6678;g2d30ebb658d_0_19789">
              <a:extLst>
                <a:ext uri="{FF2B5EF4-FFF2-40B4-BE49-F238E27FC236}">
                  <a16:creationId xmlns:a16="http://schemas.microsoft.com/office/drawing/2014/main" id="{5C468B4E-886E-B84E-C4E0-502D1C649515}"/>
                </a:ext>
              </a:extLst>
            </p:cNvPr>
            <p:cNvSpPr/>
            <p:nvPr/>
          </p:nvSpPr>
          <p:spPr>
            <a:xfrm>
              <a:off x="8406621" y="1859697"/>
              <a:ext cx="3139746" cy="3005185"/>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34" name="Google Shape;6705;g2d30ebb658d_0_19789">
              <a:extLst>
                <a:ext uri="{FF2B5EF4-FFF2-40B4-BE49-F238E27FC236}">
                  <a16:creationId xmlns:a16="http://schemas.microsoft.com/office/drawing/2014/main" id="{0F40231F-7822-32C7-C3F1-14DFE288BA3C}"/>
                </a:ext>
              </a:extLst>
            </p:cNvPr>
            <p:cNvSpPr/>
            <p:nvPr/>
          </p:nvSpPr>
          <p:spPr>
            <a:xfrm>
              <a:off x="8496221" y="3824104"/>
              <a:ext cx="2946943" cy="893497"/>
            </a:xfrm>
            <a:prstGeom prst="roundRect">
              <a:avLst>
                <a:gd name="adj" fmla="val 6349"/>
              </a:avLst>
            </a:prstGeom>
            <a:gradFill>
              <a:gsLst>
                <a:gs pos="0">
                  <a:schemeClr val="accent2"/>
                </a:gs>
                <a:gs pos="99000">
                  <a:schemeClr val="accent5"/>
                </a:gs>
                <a:gs pos="100000">
                  <a:schemeClr val="accent5"/>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rgbClr val="FFFFFF"/>
                </a:solidFill>
                <a:latin typeface="Arial"/>
                <a:ea typeface="Arial"/>
                <a:cs typeface="Arial"/>
                <a:sym typeface="Arial"/>
              </a:endParaRPr>
            </a:p>
          </p:txBody>
        </p:sp>
        <p:grpSp>
          <p:nvGrpSpPr>
            <p:cNvPr id="35" name="Google Shape;6707;g2d30ebb658d_0_19789">
              <a:extLst>
                <a:ext uri="{FF2B5EF4-FFF2-40B4-BE49-F238E27FC236}">
                  <a16:creationId xmlns:a16="http://schemas.microsoft.com/office/drawing/2014/main" id="{2556A990-2588-215B-FD0F-C2615690AE7B}"/>
                </a:ext>
              </a:extLst>
            </p:cNvPr>
            <p:cNvGrpSpPr/>
            <p:nvPr/>
          </p:nvGrpSpPr>
          <p:grpSpPr>
            <a:xfrm>
              <a:off x="10662055" y="3929375"/>
              <a:ext cx="683789" cy="683789"/>
              <a:chOff x="10656543" y="2484407"/>
              <a:chExt cx="903000" cy="903000"/>
            </a:xfrm>
          </p:grpSpPr>
          <p:sp>
            <p:nvSpPr>
              <p:cNvPr id="36" name="Google Shape;6708;g2d30ebb658d_0_19789">
                <a:extLst>
                  <a:ext uri="{FF2B5EF4-FFF2-40B4-BE49-F238E27FC236}">
                    <a16:creationId xmlns:a16="http://schemas.microsoft.com/office/drawing/2014/main" id="{9D5ACE50-4CE5-315D-477A-046ACFA914E2}"/>
                  </a:ext>
                </a:extLst>
              </p:cNvPr>
              <p:cNvSpPr/>
              <p:nvPr/>
            </p:nvSpPr>
            <p:spPr>
              <a:xfrm>
                <a:off x="10656543" y="2484407"/>
                <a:ext cx="903000" cy="903000"/>
              </a:xfrm>
              <a:prstGeom prst="ellipse">
                <a:avLst/>
              </a:prstGeom>
              <a:solidFill>
                <a:schemeClr val="dk2">
                  <a:alpha val="498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37" name="Google Shape;6709;g2d30ebb658d_0_19789">
                <a:extLst>
                  <a:ext uri="{FF2B5EF4-FFF2-40B4-BE49-F238E27FC236}">
                    <a16:creationId xmlns:a16="http://schemas.microsoft.com/office/drawing/2014/main" id="{50BA2383-B709-D12F-2262-B605233307B5}"/>
                  </a:ext>
                </a:extLst>
              </p:cNvPr>
              <p:cNvSpPr/>
              <p:nvPr/>
            </p:nvSpPr>
            <p:spPr>
              <a:xfrm>
                <a:off x="10810509" y="2635103"/>
                <a:ext cx="595789" cy="595789"/>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8" name="Google Shape;6710;g2d30ebb658d_0_19789">
              <a:extLst>
                <a:ext uri="{FF2B5EF4-FFF2-40B4-BE49-F238E27FC236}">
                  <a16:creationId xmlns:a16="http://schemas.microsoft.com/office/drawing/2014/main" id="{3F024E14-1581-3C39-203E-E04F12607697}"/>
                </a:ext>
              </a:extLst>
            </p:cNvPr>
            <p:cNvGrpSpPr/>
            <p:nvPr/>
          </p:nvGrpSpPr>
          <p:grpSpPr>
            <a:xfrm>
              <a:off x="8630791" y="3929164"/>
              <a:ext cx="683789" cy="683789"/>
              <a:chOff x="506872" y="5229970"/>
              <a:chExt cx="903000" cy="903000"/>
            </a:xfrm>
          </p:grpSpPr>
          <p:sp>
            <p:nvSpPr>
              <p:cNvPr id="39" name="Google Shape;6711;g2d30ebb658d_0_19789">
                <a:extLst>
                  <a:ext uri="{FF2B5EF4-FFF2-40B4-BE49-F238E27FC236}">
                    <a16:creationId xmlns:a16="http://schemas.microsoft.com/office/drawing/2014/main" id="{FB090858-0904-47F2-FB08-94087443DDD4}"/>
                  </a:ext>
                </a:extLst>
              </p:cNvPr>
              <p:cNvSpPr/>
              <p:nvPr/>
            </p:nvSpPr>
            <p:spPr>
              <a:xfrm>
                <a:off x="506872" y="5229970"/>
                <a:ext cx="903000" cy="903000"/>
              </a:xfrm>
              <a:prstGeom prst="ellipse">
                <a:avLst/>
              </a:prstGeom>
              <a:solidFill>
                <a:schemeClr val="dk2">
                  <a:alpha val="498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40" name="Google Shape;6712;g2d30ebb658d_0_19789">
                <a:extLst>
                  <a:ext uri="{FF2B5EF4-FFF2-40B4-BE49-F238E27FC236}">
                    <a16:creationId xmlns:a16="http://schemas.microsoft.com/office/drawing/2014/main" id="{46F4C661-09C3-5501-6A1F-7D148B532AA7}"/>
                  </a:ext>
                </a:extLst>
              </p:cNvPr>
              <p:cNvSpPr/>
              <p:nvPr/>
            </p:nvSpPr>
            <p:spPr>
              <a:xfrm>
                <a:off x="677425" y="5425363"/>
                <a:ext cx="562432" cy="512692"/>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1" name="Google Shape;6713;g2d30ebb658d_0_19789">
              <a:extLst>
                <a:ext uri="{FF2B5EF4-FFF2-40B4-BE49-F238E27FC236}">
                  <a16:creationId xmlns:a16="http://schemas.microsoft.com/office/drawing/2014/main" id="{4F9059D0-B452-8E1D-F500-A86F6CDA00A6}"/>
                </a:ext>
              </a:extLst>
            </p:cNvPr>
            <p:cNvGrpSpPr/>
            <p:nvPr/>
          </p:nvGrpSpPr>
          <p:grpSpPr>
            <a:xfrm>
              <a:off x="9639164" y="3929166"/>
              <a:ext cx="683789" cy="683789"/>
              <a:chOff x="9206590" y="5229970"/>
              <a:chExt cx="903000" cy="903000"/>
            </a:xfrm>
          </p:grpSpPr>
          <p:sp>
            <p:nvSpPr>
              <p:cNvPr id="42" name="Google Shape;6714;g2d30ebb658d_0_19789">
                <a:extLst>
                  <a:ext uri="{FF2B5EF4-FFF2-40B4-BE49-F238E27FC236}">
                    <a16:creationId xmlns:a16="http://schemas.microsoft.com/office/drawing/2014/main" id="{1C7611ED-1709-D2E4-F4CA-970C57F81932}"/>
                  </a:ext>
                </a:extLst>
              </p:cNvPr>
              <p:cNvSpPr/>
              <p:nvPr/>
            </p:nvSpPr>
            <p:spPr>
              <a:xfrm>
                <a:off x="9206590" y="5229970"/>
                <a:ext cx="903000" cy="903000"/>
              </a:xfrm>
              <a:prstGeom prst="ellipse">
                <a:avLst/>
              </a:prstGeom>
              <a:solidFill>
                <a:schemeClr val="dk2">
                  <a:alpha val="498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43" name="Google Shape;6715;g2d30ebb658d_0_19789">
                <a:extLst>
                  <a:ext uri="{FF2B5EF4-FFF2-40B4-BE49-F238E27FC236}">
                    <a16:creationId xmlns:a16="http://schemas.microsoft.com/office/drawing/2014/main" id="{13E39340-5104-AFF4-EDDF-4A6ADC7EBFDF}"/>
                  </a:ext>
                </a:extLst>
              </p:cNvPr>
              <p:cNvSpPr/>
              <p:nvPr/>
            </p:nvSpPr>
            <p:spPr>
              <a:xfrm>
                <a:off x="9414720" y="5397931"/>
                <a:ext cx="487267" cy="567716"/>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4" name="Group 43">
              <a:extLst>
                <a:ext uri="{FF2B5EF4-FFF2-40B4-BE49-F238E27FC236}">
                  <a16:creationId xmlns:a16="http://schemas.microsoft.com/office/drawing/2014/main" id="{9F5A242D-845A-43BB-EEF9-6776CCDACA6D}"/>
                </a:ext>
              </a:extLst>
            </p:cNvPr>
            <p:cNvGrpSpPr/>
            <p:nvPr/>
          </p:nvGrpSpPr>
          <p:grpSpPr>
            <a:xfrm>
              <a:off x="9594204" y="2635690"/>
              <a:ext cx="664292" cy="664290"/>
              <a:chOff x="4332370" y="2485235"/>
              <a:chExt cx="664292" cy="664290"/>
            </a:xfrm>
          </p:grpSpPr>
          <p:sp>
            <p:nvSpPr>
              <p:cNvPr id="45" name="Google Shape;6760;g2d30ebb658d_0_19789">
                <a:extLst>
                  <a:ext uri="{FF2B5EF4-FFF2-40B4-BE49-F238E27FC236}">
                    <a16:creationId xmlns:a16="http://schemas.microsoft.com/office/drawing/2014/main" id="{238AC053-C7B3-2184-8A85-1F7F68746E00}"/>
                  </a:ext>
                </a:extLst>
              </p:cNvPr>
              <p:cNvSpPr/>
              <p:nvPr/>
            </p:nvSpPr>
            <p:spPr>
              <a:xfrm>
                <a:off x="4332370" y="2485235"/>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gradFill>
                <a:gsLst>
                  <a:gs pos="0">
                    <a:schemeClr val="accent2"/>
                  </a:gs>
                  <a:gs pos="99000">
                    <a:schemeClr val="accent5"/>
                  </a:gs>
                  <a:gs pos="100000">
                    <a:schemeClr val="accent5"/>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6" name="Google Shape;6773;g2d30ebb658d_0_19789">
                <a:extLst>
                  <a:ext uri="{FF2B5EF4-FFF2-40B4-BE49-F238E27FC236}">
                    <a16:creationId xmlns:a16="http://schemas.microsoft.com/office/drawing/2014/main" id="{E18030CB-392F-1085-4DFB-5D893E9A4194}"/>
                  </a:ext>
                </a:extLst>
              </p:cNvPr>
              <p:cNvSpPr/>
              <p:nvPr/>
            </p:nvSpPr>
            <p:spPr>
              <a:xfrm>
                <a:off x="4479093" y="2627406"/>
                <a:ext cx="220023" cy="227159"/>
              </a:xfrm>
              <a:custGeom>
                <a:avLst/>
                <a:gdLst/>
                <a:ahLst/>
                <a:cxnLst/>
                <a:rect l="l" t="t" r="r" b="b"/>
                <a:pathLst>
                  <a:path w="349947" h="361296" extrusionOk="0">
                    <a:moveTo>
                      <a:pt x="315611" y="167464"/>
                    </a:moveTo>
                    <a:lnTo>
                      <a:pt x="349858" y="143737"/>
                    </a:lnTo>
                    <a:lnTo>
                      <a:pt x="349366" y="141544"/>
                    </a:lnTo>
                    <a:cubicBezTo>
                      <a:pt x="348112" y="135858"/>
                      <a:pt x="346590" y="130262"/>
                      <a:pt x="344889" y="124845"/>
                    </a:cubicBezTo>
                    <a:cubicBezTo>
                      <a:pt x="343143" y="119429"/>
                      <a:pt x="341129" y="114012"/>
                      <a:pt x="338801" y="108684"/>
                    </a:cubicBezTo>
                    <a:lnTo>
                      <a:pt x="337950" y="106625"/>
                    </a:lnTo>
                    <a:lnTo>
                      <a:pt x="296451" y="107789"/>
                    </a:lnTo>
                    <a:cubicBezTo>
                      <a:pt x="292063" y="100268"/>
                      <a:pt x="286870" y="93105"/>
                      <a:pt x="281095" y="86435"/>
                    </a:cubicBezTo>
                    <a:lnTo>
                      <a:pt x="295063" y="46860"/>
                    </a:lnTo>
                    <a:lnTo>
                      <a:pt x="293406" y="45383"/>
                    </a:lnTo>
                    <a:cubicBezTo>
                      <a:pt x="284856" y="37773"/>
                      <a:pt x="275544" y="30923"/>
                      <a:pt x="265740" y="25103"/>
                    </a:cubicBezTo>
                    <a:lnTo>
                      <a:pt x="263815" y="23984"/>
                    </a:lnTo>
                    <a:lnTo>
                      <a:pt x="230911" y="49546"/>
                    </a:lnTo>
                    <a:cubicBezTo>
                      <a:pt x="222987" y="46099"/>
                      <a:pt x="214660" y="43369"/>
                      <a:pt x="206110" y="41399"/>
                    </a:cubicBezTo>
                    <a:lnTo>
                      <a:pt x="194381" y="1063"/>
                    </a:lnTo>
                    <a:lnTo>
                      <a:pt x="192142" y="839"/>
                    </a:lnTo>
                    <a:cubicBezTo>
                      <a:pt x="180816" y="-280"/>
                      <a:pt x="169311" y="-280"/>
                      <a:pt x="157940" y="839"/>
                    </a:cubicBezTo>
                    <a:lnTo>
                      <a:pt x="155746" y="1063"/>
                    </a:lnTo>
                    <a:lnTo>
                      <a:pt x="143972" y="41354"/>
                    </a:lnTo>
                    <a:cubicBezTo>
                      <a:pt x="139675" y="42339"/>
                      <a:pt x="135467" y="43503"/>
                      <a:pt x="131348" y="44846"/>
                    </a:cubicBezTo>
                    <a:cubicBezTo>
                      <a:pt x="127274" y="46189"/>
                      <a:pt x="123155" y="47756"/>
                      <a:pt x="119126" y="49502"/>
                    </a:cubicBezTo>
                    <a:lnTo>
                      <a:pt x="86178" y="23850"/>
                    </a:lnTo>
                    <a:lnTo>
                      <a:pt x="84253" y="25014"/>
                    </a:lnTo>
                    <a:cubicBezTo>
                      <a:pt x="74448" y="30834"/>
                      <a:pt x="65137" y="37638"/>
                      <a:pt x="56586" y="45294"/>
                    </a:cubicBezTo>
                    <a:lnTo>
                      <a:pt x="54930" y="46771"/>
                    </a:lnTo>
                    <a:lnTo>
                      <a:pt x="68852" y="86390"/>
                    </a:lnTo>
                    <a:cubicBezTo>
                      <a:pt x="63077" y="93061"/>
                      <a:pt x="57929" y="100223"/>
                      <a:pt x="53497" y="107744"/>
                    </a:cubicBezTo>
                    <a:lnTo>
                      <a:pt x="11998" y="106580"/>
                    </a:lnTo>
                    <a:lnTo>
                      <a:pt x="11102" y="108640"/>
                    </a:lnTo>
                    <a:cubicBezTo>
                      <a:pt x="6536" y="119205"/>
                      <a:pt x="2999" y="130262"/>
                      <a:pt x="492" y="141499"/>
                    </a:cubicBezTo>
                    <a:lnTo>
                      <a:pt x="0" y="143693"/>
                    </a:lnTo>
                    <a:lnTo>
                      <a:pt x="34292" y="167464"/>
                    </a:lnTo>
                    <a:cubicBezTo>
                      <a:pt x="33486" y="176283"/>
                      <a:pt x="33486" y="185147"/>
                      <a:pt x="34292" y="193832"/>
                    </a:cubicBezTo>
                    <a:lnTo>
                      <a:pt x="0" y="217559"/>
                    </a:lnTo>
                    <a:lnTo>
                      <a:pt x="492" y="219753"/>
                    </a:lnTo>
                    <a:cubicBezTo>
                      <a:pt x="1746" y="225393"/>
                      <a:pt x="3268" y="230989"/>
                      <a:pt x="5014" y="236451"/>
                    </a:cubicBezTo>
                    <a:cubicBezTo>
                      <a:pt x="6760" y="241868"/>
                      <a:pt x="8774" y="247285"/>
                      <a:pt x="11058" y="252612"/>
                    </a:cubicBezTo>
                    <a:lnTo>
                      <a:pt x="11953" y="254671"/>
                    </a:lnTo>
                    <a:lnTo>
                      <a:pt x="53452" y="253507"/>
                    </a:lnTo>
                    <a:cubicBezTo>
                      <a:pt x="57884" y="261028"/>
                      <a:pt x="63033" y="268236"/>
                      <a:pt x="68808" y="274861"/>
                    </a:cubicBezTo>
                    <a:lnTo>
                      <a:pt x="54840" y="314436"/>
                    </a:lnTo>
                    <a:lnTo>
                      <a:pt x="56497" y="315958"/>
                    </a:lnTo>
                    <a:cubicBezTo>
                      <a:pt x="65002" y="323569"/>
                      <a:pt x="74359" y="330373"/>
                      <a:pt x="84163" y="336238"/>
                    </a:cubicBezTo>
                    <a:lnTo>
                      <a:pt x="86088" y="337357"/>
                    </a:lnTo>
                    <a:lnTo>
                      <a:pt x="118992" y="311750"/>
                    </a:lnTo>
                    <a:cubicBezTo>
                      <a:pt x="126916" y="315197"/>
                      <a:pt x="135287" y="317928"/>
                      <a:pt x="143838" y="319898"/>
                    </a:cubicBezTo>
                    <a:lnTo>
                      <a:pt x="155612" y="360233"/>
                    </a:lnTo>
                    <a:lnTo>
                      <a:pt x="157850" y="360457"/>
                    </a:lnTo>
                    <a:cubicBezTo>
                      <a:pt x="169177" y="361576"/>
                      <a:pt x="180682" y="361576"/>
                      <a:pt x="192008" y="360457"/>
                    </a:cubicBezTo>
                    <a:lnTo>
                      <a:pt x="194202" y="360233"/>
                    </a:lnTo>
                    <a:lnTo>
                      <a:pt x="205975" y="319942"/>
                    </a:lnTo>
                    <a:cubicBezTo>
                      <a:pt x="210273" y="318958"/>
                      <a:pt x="214481" y="317794"/>
                      <a:pt x="218600" y="316451"/>
                    </a:cubicBezTo>
                    <a:cubicBezTo>
                      <a:pt x="222718" y="315108"/>
                      <a:pt x="226792" y="313541"/>
                      <a:pt x="230821" y="311795"/>
                    </a:cubicBezTo>
                    <a:lnTo>
                      <a:pt x="263770" y="337402"/>
                    </a:lnTo>
                    <a:lnTo>
                      <a:pt x="265695" y="336283"/>
                    </a:lnTo>
                    <a:cubicBezTo>
                      <a:pt x="275499" y="330463"/>
                      <a:pt x="284811" y="323613"/>
                      <a:pt x="293362" y="316003"/>
                    </a:cubicBezTo>
                    <a:lnTo>
                      <a:pt x="295018" y="314481"/>
                    </a:lnTo>
                    <a:lnTo>
                      <a:pt x="281095" y="274861"/>
                    </a:lnTo>
                    <a:cubicBezTo>
                      <a:pt x="286915" y="268191"/>
                      <a:pt x="292019" y="261028"/>
                      <a:pt x="296451" y="253507"/>
                    </a:cubicBezTo>
                    <a:lnTo>
                      <a:pt x="337950" y="254671"/>
                    </a:lnTo>
                    <a:lnTo>
                      <a:pt x="338845" y="252612"/>
                    </a:lnTo>
                    <a:cubicBezTo>
                      <a:pt x="343412" y="242047"/>
                      <a:pt x="346948" y="230989"/>
                      <a:pt x="349455" y="219753"/>
                    </a:cubicBezTo>
                    <a:lnTo>
                      <a:pt x="349948" y="217559"/>
                    </a:lnTo>
                    <a:lnTo>
                      <a:pt x="315656" y="193832"/>
                    </a:lnTo>
                    <a:cubicBezTo>
                      <a:pt x="316462" y="185013"/>
                      <a:pt x="316506" y="176149"/>
                      <a:pt x="315656" y="167419"/>
                    </a:cubicBezTo>
                    <a:close/>
                    <a:moveTo>
                      <a:pt x="174907" y="282472"/>
                    </a:moveTo>
                    <a:cubicBezTo>
                      <a:pt x="119261" y="282472"/>
                      <a:pt x="74135" y="236899"/>
                      <a:pt x="74135" y="180626"/>
                    </a:cubicBezTo>
                    <a:cubicBezTo>
                      <a:pt x="74135" y="124353"/>
                      <a:pt x="119261" y="78824"/>
                      <a:pt x="174907" y="78824"/>
                    </a:cubicBezTo>
                    <a:cubicBezTo>
                      <a:pt x="230553" y="78824"/>
                      <a:pt x="275679" y="124398"/>
                      <a:pt x="275679" y="180626"/>
                    </a:cubicBezTo>
                    <a:cubicBezTo>
                      <a:pt x="275679" y="236854"/>
                      <a:pt x="230553" y="282472"/>
                      <a:pt x="174907" y="28247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 name="Google Shape;6774;g2d30ebb658d_0_19789">
                <a:extLst>
                  <a:ext uri="{FF2B5EF4-FFF2-40B4-BE49-F238E27FC236}">
                    <a16:creationId xmlns:a16="http://schemas.microsoft.com/office/drawing/2014/main" id="{5B70A23E-8D48-D4AE-1CBD-5CC2F69242FC}"/>
                  </a:ext>
                </a:extLst>
              </p:cNvPr>
              <p:cNvSpPr/>
              <p:nvPr/>
            </p:nvSpPr>
            <p:spPr>
              <a:xfrm>
                <a:off x="4699246" y="2715696"/>
                <a:ext cx="176493" cy="175692"/>
              </a:xfrm>
              <a:custGeom>
                <a:avLst/>
                <a:gdLst/>
                <a:ahLst/>
                <a:cxnLst/>
                <a:rect l="l" t="t" r="r" b="b"/>
                <a:pathLst>
                  <a:path w="280712" h="279438" extrusionOk="0">
                    <a:moveTo>
                      <a:pt x="239570" y="90341"/>
                    </a:moveTo>
                    <a:lnTo>
                      <a:pt x="257924" y="63301"/>
                    </a:lnTo>
                    <a:lnTo>
                      <a:pt x="256940" y="61824"/>
                    </a:lnTo>
                    <a:cubicBezTo>
                      <a:pt x="254433" y="58019"/>
                      <a:pt x="251746" y="54348"/>
                      <a:pt x="248926" y="50901"/>
                    </a:cubicBezTo>
                    <a:cubicBezTo>
                      <a:pt x="246106" y="47454"/>
                      <a:pt x="243106" y="44006"/>
                      <a:pt x="239928" y="40783"/>
                    </a:cubicBezTo>
                    <a:lnTo>
                      <a:pt x="238719" y="39530"/>
                    </a:lnTo>
                    <a:lnTo>
                      <a:pt x="208680" y="52109"/>
                    </a:lnTo>
                    <a:cubicBezTo>
                      <a:pt x="203308" y="47857"/>
                      <a:pt x="197533" y="44051"/>
                      <a:pt x="191400" y="40828"/>
                    </a:cubicBezTo>
                    <a:lnTo>
                      <a:pt x="190415" y="7924"/>
                    </a:lnTo>
                    <a:lnTo>
                      <a:pt x="188759" y="7297"/>
                    </a:lnTo>
                    <a:cubicBezTo>
                      <a:pt x="180342" y="4119"/>
                      <a:pt x="171613" y="1791"/>
                      <a:pt x="162793" y="269"/>
                    </a:cubicBezTo>
                    <a:lnTo>
                      <a:pt x="161047" y="0"/>
                    </a:lnTo>
                    <a:lnTo>
                      <a:pt x="144215" y="28024"/>
                    </a:lnTo>
                    <a:cubicBezTo>
                      <a:pt x="137455" y="27756"/>
                      <a:pt x="130561" y="28114"/>
                      <a:pt x="123756" y="29099"/>
                    </a:cubicBezTo>
                    <a:lnTo>
                      <a:pt x="103790" y="2910"/>
                    </a:lnTo>
                    <a:lnTo>
                      <a:pt x="102089" y="3358"/>
                    </a:lnTo>
                    <a:cubicBezTo>
                      <a:pt x="93493" y="5775"/>
                      <a:pt x="85077" y="8998"/>
                      <a:pt x="77064" y="13027"/>
                    </a:cubicBezTo>
                    <a:lnTo>
                      <a:pt x="75497" y="13788"/>
                    </a:lnTo>
                    <a:lnTo>
                      <a:pt x="78272" y="46603"/>
                    </a:lnTo>
                    <a:cubicBezTo>
                      <a:pt x="75407" y="48528"/>
                      <a:pt x="72632" y="50587"/>
                      <a:pt x="70035" y="52691"/>
                    </a:cubicBezTo>
                    <a:cubicBezTo>
                      <a:pt x="67439" y="54840"/>
                      <a:pt x="64842" y="57123"/>
                      <a:pt x="62425" y="59541"/>
                    </a:cubicBezTo>
                    <a:lnTo>
                      <a:pt x="31087" y="50095"/>
                    </a:lnTo>
                    <a:lnTo>
                      <a:pt x="30013" y="51483"/>
                    </a:lnTo>
                    <a:cubicBezTo>
                      <a:pt x="24462" y="58511"/>
                      <a:pt x="19582" y="66122"/>
                      <a:pt x="15508" y="74135"/>
                    </a:cubicBezTo>
                    <a:lnTo>
                      <a:pt x="14702" y="75702"/>
                    </a:lnTo>
                    <a:lnTo>
                      <a:pt x="36101" y="100727"/>
                    </a:lnTo>
                    <a:cubicBezTo>
                      <a:pt x="33729" y="107218"/>
                      <a:pt x="32027" y="113933"/>
                      <a:pt x="30908" y="120693"/>
                    </a:cubicBezTo>
                    <a:lnTo>
                      <a:pt x="198" y="131572"/>
                    </a:lnTo>
                    <a:lnTo>
                      <a:pt x="108" y="133318"/>
                    </a:lnTo>
                    <a:cubicBezTo>
                      <a:pt x="-250" y="142316"/>
                      <a:pt x="287" y="151449"/>
                      <a:pt x="1630" y="160357"/>
                    </a:cubicBezTo>
                    <a:lnTo>
                      <a:pt x="1899" y="162103"/>
                    </a:lnTo>
                    <a:lnTo>
                      <a:pt x="33684" y="169803"/>
                    </a:lnTo>
                    <a:cubicBezTo>
                      <a:pt x="35564" y="176474"/>
                      <a:pt x="38071" y="182965"/>
                      <a:pt x="41115" y="189098"/>
                    </a:cubicBezTo>
                    <a:lnTo>
                      <a:pt x="22761" y="216138"/>
                    </a:lnTo>
                    <a:lnTo>
                      <a:pt x="23745" y="217615"/>
                    </a:lnTo>
                    <a:cubicBezTo>
                      <a:pt x="26252" y="221420"/>
                      <a:pt x="28938" y="225046"/>
                      <a:pt x="31759" y="228538"/>
                    </a:cubicBezTo>
                    <a:cubicBezTo>
                      <a:pt x="34579" y="231985"/>
                      <a:pt x="37579" y="235432"/>
                      <a:pt x="40757" y="238656"/>
                    </a:cubicBezTo>
                    <a:lnTo>
                      <a:pt x="42011" y="239909"/>
                    </a:lnTo>
                    <a:lnTo>
                      <a:pt x="72050" y="227330"/>
                    </a:lnTo>
                    <a:cubicBezTo>
                      <a:pt x="77422" y="231582"/>
                      <a:pt x="83197" y="235388"/>
                      <a:pt x="89330" y="238611"/>
                    </a:cubicBezTo>
                    <a:lnTo>
                      <a:pt x="90315" y="271515"/>
                    </a:lnTo>
                    <a:lnTo>
                      <a:pt x="91971" y="272142"/>
                    </a:lnTo>
                    <a:cubicBezTo>
                      <a:pt x="100343" y="275276"/>
                      <a:pt x="109117" y="277648"/>
                      <a:pt x="117936" y="279170"/>
                    </a:cubicBezTo>
                    <a:lnTo>
                      <a:pt x="119682" y="279439"/>
                    </a:lnTo>
                    <a:lnTo>
                      <a:pt x="136515" y="251414"/>
                    </a:lnTo>
                    <a:cubicBezTo>
                      <a:pt x="143320" y="251683"/>
                      <a:pt x="150169" y="251325"/>
                      <a:pt x="156974" y="250340"/>
                    </a:cubicBezTo>
                    <a:lnTo>
                      <a:pt x="176985" y="276529"/>
                    </a:lnTo>
                    <a:lnTo>
                      <a:pt x="178686" y="276037"/>
                    </a:lnTo>
                    <a:cubicBezTo>
                      <a:pt x="187281" y="273619"/>
                      <a:pt x="195698" y="270396"/>
                      <a:pt x="203666" y="266367"/>
                    </a:cubicBezTo>
                    <a:lnTo>
                      <a:pt x="205233" y="265606"/>
                    </a:lnTo>
                    <a:lnTo>
                      <a:pt x="202457" y="232791"/>
                    </a:lnTo>
                    <a:cubicBezTo>
                      <a:pt x="205323" y="230866"/>
                      <a:pt x="208098" y="228807"/>
                      <a:pt x="210695" y="226703"/>
                    </a:cubicBezTo>
                    <a:cubicBezTo>
                      <a:pt x="213291" y="224554"/>
                      <a:pt x="215888" y="222271"/>
                      <a:pt x="218350" y="219853"/>
                    </a:cubicBezTo>
                    <a:lnTo>
                      <a:pt x="249687" y="229299"/>
                    </a:lnTo>
                    <a:lnTo>
                      <a:pt x="250762" y="227912"/>
                    </a:lnTo>
                    <a:cubicBezTo>
                      <a:pt x="256313" y="220883"/>
                      <a:pt x="261192" y="213228"/>
                      <a:pt x="265266" y="205259"/>
                    </a:cubicBezTo>
                    <a:lnTo>
                      <a:pt x="266072" y="203692"/>
                    </a:lnTo>
                    <a:lnTo>
                      <a:pt x="244673" y="178667"/>
                    </a:lnTo>
                    <a:cubicBezTo>
                      <a:pt x="247046" y="172131"/>
                      <a:pt x="248747" y="165461"/>
                      <a:pt x="249866" y="158701"/>
                    </a:cubicBezTo>
                    <a:lnTo>
                      <a:pt x="280577" y="147822"/>
                    </a:lnTo>
                    <a:lnTo>
                      <a:pt x="280577" y="146076"/>
                    </a:lnTo>
                    <a:cubicBezTo>
                      <a:pt x="280980" y="137078"/>
                      <a:pt x="280487" y="127990"/>
                      <a:pt x="279099" y="119037"/>
                    </a:cubicBezTo>
                    <a:lnTo>
                      <a:pt x="278831" y="117291"/>
                    </a:lnTo>
                    <a:lnTo>
                      <a:pt x="247046" y="109636"/>
                    </a:lnTo>
                    <a:cubicBezTo>
                      <a:pt x="245166" y="102921"/>
                      <a:pt x="242659" y="96429"/>
                      <a:pt x="239615" y="90296"/>
                    </a:cubicBezTo>
                    <a:close/>
                    <a:moveTo>
                      <a:pt x="169106" y="214213"/>
                    </a:moveTo>
                    <a:cubicBezTo>
                      <a:pt x="128412" y="229926"/>
                      <a:pt x="82525" y="209333"/>
                      <a:pt x="66633" y="168192"/>
                    </a:cubicBezTo>
                    <a:cubicBezTo>
                      <a:pt x="50740" y="127050"/>
                      <a:pt x="70886" y="80984"/>
                      <a:pt x="111579" y="65226"/>
                    </a:cubicBezTo>
                    <a:cubicBezTo>
                      <a:pt x="152273" y="49513"/>
                      <a:pt x="198160" y="70106"/>
                      <a:pt x="214052" y="111247"/>
                    </a:cubicBezTo>
                    <a:cubicBezTo>
                      <a:pt x="229945" y="152389"/>
                      <a:pt x="209799" y="198499"/>
                      <a:pt x="169106" y="21421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 name="Google Shape;6775;g2d30ebb658d_0_19789">
                <a:extLst>
                  <a:ext uri="{FF2B5EF4-FFF2-40B4-BE49-F238E27FC236}">
                    <a16:creationId xmlns:a16="http://schemas.microsoft.com/office/drawing/2014/main" id="{C9949F25-60FD-A275-1A96-8A8E15460AC8}"/>
                  </a:ext>
                </a:extLst>
              </p:cNvPr>
              <p:cNvSpPr/>
              <p:nvPr/>
            </p:nvSpPr>
            <p:spPr>
              <a:xfrm>
                <a:off x="4601540" y="2855726"/>
                <a:ext cx="146600" cy="145857"/>
              </a:xfrm>
              <a:custGeom>
                <a:avLst/>
                <a:gdLst/>
                <a:ahLst/>
                <a:cxnLst/>
                <a:rect l="l" t="t" r="r" b="b"/>
                <a:pathLst>
                  <a:path w="233167" h="231985" extrusionOk="0">
                    <a:moveTo>
                      <a:pt x="199023" y="74986"/>
                    </a:moveTo>
                    <a:lnTo>
                      <a:pt x="214289" y="52557"/>
                    </a:lnTo>
                    <a:lnTo>
                      <a:pt x="213483" y="51348"/>
                    </a:lnTo>
                    <a:cubicBezTo>
                      <a:pt x="211379" y="48215"/>
                      <a:pt x="209141" y="45126"/>
                      <a:pt x="206813" y="42261"/>
                    </a:cubicBezTo>
                    <a:cubicBezTo>
                      <a:pt x="204485" y="39395"/>
                      <a:pt x="201978" y="36530"/>
                      <a:pt x="199336" y="33844"/>
                    </a:cubicBezTo>
                    <a:lnTo>
                      <a:pt x="198307" y="32770"/>
                    </a:lnTo>
                    <a:lnTo>
                      <a:pt x="173371" y="43201"/>
                    </a:lnTo>
                    <a:cubicBezTo>
                      <a:pt x="168939" y="39664"/>
                      <a:pt x="164104" y="36530"/>
                      <a:pt x="159001" y="33844"/>
                    </a:cubicBezTo>
                    <a:lnTo>
                      <a:pt x="158195" y="6536"/>
                    </a:lnTo>
                    <a:lnTo>
                      <a:pt x="156807" y="6044"/>
                    </a:lnTo>
                    <a:cubicBezTo>
                      <a:pt x="149824" y="3402"/>
                      <a:pt x="142571" y="1433"/>
                      <a:pt x="135229" y="224"/>
                    </a:cubicBezTo>
                    <a:lnTo>
                      <a:pt x="133797" y="0"/>
                    </a:lnTo>
                    <a:lnTo>
                      <a:pt x="119785" y="23279"/>
                    </a:lnTo>
                    <a:cubicBezTo>
                      <a:pt x="114144" y="23055"/>
                      <a:pt x="108458" y="23324"/>
                      <a:pt x="102773" y="24174"/>
                    </a:cubicBezTo>
                    <a:lnTo>
                      <a:pt x="86164" y="2417"/>
                    </a:lnTo>
                    <a:lnTo>
                      <a:pt x="84776" y="2776"/>
                    </a:lnTo>
                    <a:cubicBezTo>
                      <a:pt x="77613" y="4745"/>
                      <a:pt x="70630" y="7476"/>
                      <a:pt x="64004" y="10834"/>
                    </a:cubicBezTo>
                    <a:lnTo>
                      <a:pt x="62706" y="11460"/>
                    </a:lnTo>
                    <a:lnTo>
                      <a:pt x="65034" y="38724"/>
                    </a:lnTo>
                    <a:cubicBezTo>
                      <a:pt x="62661" y="40336"/>
                      <a:pt x="60333" y="42037"/>
                      <a:pt x="58184" y="43783"/>
                    </a:cubicBezTo>
                    <a:cubicBezTo>
                      <a:pt x="56036" y="45573"/>
                      <a:pt x="53887" y="47454"/>
                      <a:pt x="51827" y="49468"/>
                    </a:cubicBezTo>
                    <a:lnTo>
                      <a:pt x="25817" y="41634"/>
                    </a:lnTo>
                    <a:lnTo>
                      <a:pt x="24922" y="42798"/>
                    </a:lnTo>
                    <a:cubicBezTo>
                      <a:pt x="20311" y="48618"/>
                      <a:pt x="16282" y="54975"/>
                      <a:pt x="12880" y="61600"/>
                    </a:cubicBezTo>
                    <a:lnTo>
                      <a:pt x="12208" y="62898"/>
                    </a:lnTo>
                    <a:lnTo>
                      <a:pt x="29981" y="83671"/>
                    </a:lnTo>
                    <a:cubicBezTo>
                      <a:pt x="28011" y="89087"/>
                      <a:pt x="26579" y="94639"/>
                      <a:pt x="25638" y="100235"/>
                    </a:cubicBezTo>
                    <a:lnTo>
                      <a:pt x="121" y="109278"/>
                    </a:lnTo>
                    <a:lnTo>
                      <a:pt x="121" y="110710"/>
                    </a:lnTo>
                    <a:cubicBezTo>
                      <a:pt x="-237" y="118186"/>
                      <a:pt x="210" y="125752"/>
                      <a:pt x="1330" y="133139"/>
                    </a:cubicBezTo>
                    <a:lnTo>
                      <a:pt x="1553" y="134571"/>
                    </a:lnTo>
                    <a:lnTo>
                      <a:pt x="27966" y="140973"/>
                    </a:lnTo>
                    <a:cubicBezTo>
                      <a:pt x="29533" y="146524"/>
                      <a:pt x="31637" y="151896"/>
                      <a:pt x="34144" y="157000"/>
                    </a:cubicBezTo>
                    <a:lnTo>
                      <a:pt x="18878" y="179428"/>
                    </a:lnTo>
                    <a:lnTo>
                      <a:pt x="19684" y="180637"/>
                    </a:lnTo>
                    <a:cubicBezTo>
                      <a:pt x="21744" y="183771"/>
                      <a:pt x="23982" y="186815"/>
                      <a:pt x="26355" y="189725"/>
                    </a:cubicBezTo>
                    <a:cubicBezTo>
                      <a:pt x="28683" y="192590"/>
                      <a:pt x="31190" y="195455"/>
                      <a:pt x="33831" y="198141"/>
                    </a:cubicBezTo>
                    <a:lnTo>
                      <a:pt x="34860" y="199216"/>
                    </a:lnTo>
                    <a:lnTo>
                      <a:pt x="59796" y="188740"/>
                    </a:lnTo>
                    <a:cubicBezTo>
                      <a:pt x="64228" y="192277"/>
                      <a:pt x="69063" y="195455"/>
                      <a:pt x="74166" y="198096"/>
                    </a:cubicBezTo>
                    <a:lnTo>
                      <a:pt x="74972" y="225405"/>
                    </a:lnTo>
                    <a:lnTo>
                      <a:pt x="76360" y="225942"/>
                    </a:lnTo>
                    <a:cubicBezTo>
                      <a:pt x="83344" y="228583"/>
                      <a:pt x="90596" y="230508"/>
                      <a:pt x="97938" y="231762"/>
                    </a:cubicBezTo>
                    <a:lnTo>
                      <a:pt x="99371" y="231985"/>
                    </a:lnTo>
                    <a:lnTo>
                      <a:pt x="113383" y="208706"/>
                    </a:lnTo>
                    <a:cubicBezTo>
                      <a:pt x="119023" y="208930"/>
                      <a:pt x="124709" y="208661"/>
                      <a:pt x="130394" y="207811"/>
                    </a:cubicBezTo>
                    <a:lnTo>
                      <a:pt x="147003" y="229568"/>
                    </a:lnTo>
                    <a:lnTo>
                      <a:pt x="148391" y="229165"/>
                    </a:lnTo>
                    <a:cubicBezTo>
                      <a:pt x="155554" y="227195"/>
                      <a:pt x="162538" y="224464"/>
                      <a:pt x="169163" y="221152"/>
                    </a:cubicBezTo>
                    <a:lnTo>
                      <a:pt x="170461" y="220525"/>
                    </a:lnTo>
                    <a:lnTo>
                      <a:pt x="168133" y="193261"/>
                    </a:lnTo>
                    <a:cubicBezTo>
                      <a:pt x="170506" y="191650"/>
                      <a:pt x="172789" y="189949"/>
                      <a:pt x="174983" y="188203"/>
                    </a:cubicBezTo>
                    <a:cubicBezTo>
                      <a:pt x="177177" y="186412"/>
                      <a:pt x="179281" y="184487"/>
                      <a:pt x="181340" y="182517"/>
                    </a:cubicBezTo>
                    <a:lnTo>
                      <a:pt x="207350" y="190352"/>
                    </a:lnTo>
                    <a:lnTo>
                      <a:pt x="208245" y="189232"/>
                    </a:lnTo>
                    <a:cubicBezTo>
                      <a:pt x="212856" y="183368"/>
                      <a:pt x="216885" y="177056"/>
                      <a:pt x="220288" y="170430"/>
                    </a:cubicBezTo>
                    <a:lnTo>
                      <a:pt x="220959" y="169132"/>
                    </a:lnTo>
                    <a:lnTo>
                      <a:pt x="203186" y="148360"/>
                    </a:lnTo>
                    <a:cubicBezTo>
                      <a:pt x="205156" y="142943"/>
                      <a:pt x="206589" y="137392"/>
                      <a:pt x="207529" y="131796"/>
                    </a:cubicBezTo>
                    <a:lnTo>
                      <a:pt x="233046" y="122753"/>
                    </a:lnTo>
                    <a:lnTo>
                      <a:pt x="233046" y="121275"/>
                    </a:lnTo>
                    <a:cubicBezTo>
                      <a:pt x="233405" y="113799"/>
                      <a:pt x="232957" y="106233"/>
                      <a:pt x="231838" y="98847"/>
                    </a:cubicBezTo>
                    <a:lnTo>
                      <a:pt x="231614" y="97369"/>
                    </a:lnTo>
                    <a:lnTo>
                      <a:pt x="205201" y="91012"/>
                    </a:lnTo>
                    <a:cubicBezTo>
                      <a:pt x="203634" y="85461"/>
                      <a:pt x="201530" y="80044"/>
                      <a:pt x="199023" y="74941"/>
                    </a:cubicBezTo>
                    <a:close/>
                    <a:moveTo>
                      <a:pt x="140512" y="177906"/>
                    </a:moveTo>
                    <a:cubicBezTo>
                      <a:pt x="106712" y="190978"/>
                      <a:pt x="68615" y="173832"/>
                      <a:pt x="55409" y="139675"/>
                    </a:cubicBezTo>
                    <a:cubicBezTo>
                      <a:pt x="42202" y="105517"/>
                      <a:pt x="58945" y="67241"/>
                      <a:pt x="92745" y="54169"/>
                    </a:cubicBezTo>
                    <a:cubicBezTo>
                      <a:pt x="126544" y="41097"/>
                      <a:pt x="164686" y="58198"/>
                      <a:pt x="177848" y="92400"/>
                    </a:cubicBezTo>
                    <a:cubicBezTo>
                      <a:pt x="191054" y="126558"/>
                      <a:pt x="174356" y="164834"/>
                      <a:pt x="140512" y="1779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49" name="Group 48">
              <a:extLst>
                <a:ext uri="{FF2B5EF4-FFF2-40B4-BE49-F238E27FC236}">
                  <a16:creationId xmlns:a16="http://schemas.microsoft.com/office/drawing/2014/main" id="{B61DB2A8-2A6D-A6CF-486E-91D4EBCCF69A}"/>
                </a:ext>
              </a:extLst>
            </p:cNvPr>
            <p:cNvGrpSpPr/>
            <p:nvPr/>
          </p:nvGrpSpPr>
          <p:grpSpPr>
            <a:xfrm>
              <a:off x="10154533" y="2636571"/>
              <a:ext cx="1439267" cy="948070"/>
              <a:chOff x="4288508" y="2396540"/>
              <a:chExt cx="1439267" cy="948070"/>
            </a:xfrm>
          </p:grpSpPr>
          <p:sp>
            <p:nvSpPr>
              <p:cNvPr id="50" name="Google Shape;6760;g2d30ebb658d_0_19789">
                <a:extLst>
                  <a:ext uri="{FF2B5EF4-FFF2-40B4-BE49-F238E27FC236}">
                    <a16:creationId xmlns:a16="http://schemas.microsoft.com/office/drawing/2014/main" id="{375D2E58-58E1-7080-7050-5396FAFDE0F8}"/>
                  </a:ext>
                </a:extLst>
              </p:cNvPr>
              <p:cNvSpPr/>
              <p:nvPr/>
            </p:nvSpPr>
            <p:spPr>
              <a:xfrm>
                <a:off x="4662354" y="2396540"/>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gradFill>
                <a:gsLst>
                  <a:gs pos="0">
                    <a:schemeClr val="accent5"/>
                  </a:gs>
                  <a:gs pos="99000">
                    <a:schemeClr val="accent5"/>
                  </a:gs>
                  <a:gs pos="100000">
                    <a:schemeClr val="accent5"/>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51" name="Graphic 50">
                <a:extLst>
                  <a:ext uri="{FF2B5EF4-FFF2-40B4-BE49-F238E27FC236}">
                    <a16:creationId xmlns:a16="http://schemas.microsoft.com/office/drawing/2014/main" id="{D178D26A-517D-9D3A-3251-3886ED7D14DA}"/>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4745580" y="2478551"/>
                <a:ext cx="497840" cy="497840"/>
              </a:xfrm>
              <a:prstGeom prst="rect">
                <a:avLst/>
              </a:prstGeom>
            </p:spPr>
          </p:pic>
          <p:sp>
            <p:nvSpPr>
              <p:cNvPr id="52" name="Google Shape;6769;g2d30ebb658d_0_19789">
                <a:extLst>
                  <a:ext uri="{FF2B5EF4-FFF2-40B4-BE49-F238E27FC236}">
                    <a16:creationId xmlns:a16="http://schemas.microsoft.com/office/drawing/2014/main" id="{934893D5-6F0A-E871-AE81-5C039E968FE6}"/>
                  </a:ext>
                </a:extLst>
              </p:cNvPr>
              <p:cNvSpPr txBox="1"/>
              <p:nvPr/>
            </p:nvSpPr>
            <p:spPr>
              <a:xfrm>
                <a:off x="4288508" y="3166728"/>
                <a:ext cx="1439267" cy="177882"/>
              </a:xfrm>
              <a:prstGeom prst="rect">
                <a:avLst/>
              </a:prstGeom>
              <a:noFill/>
              <a:ln>
                <a:noFill/>
              </a:ln>
            </p:spPr>
            <p:txBody>
              <a:bodyPr spcFirstLastPara="1" wrap="square" lIns="0" tIns="0" rIns="0" bIns="0" anchor="t" anchorCtr="0">
                <a:spAutoFit/>
              </a:bodyPr>
              <a:lstStyle/>
              <a:p>
                <a:pPr marL="0" marR="0" lvl="0" indent="0" algn="ctr" rtl="0">
                  <a:lnSpc>
                    <a:spcPct val="95000"/>
                  </a:lnSpc>
                  <a:spcBef>
                    <a:spcPts val="0"/>
                  </a:spcBef>
                  <a:spcAft>
                    <a:spcPts val="0"/>
                  </a:spcAft>
                  <a:buClr>
                    <a:srgbClr val="000000"/>
                  </a:buClr>
                  <a:buSzPts val="900"/>
                  <a:buFont typeface="Arial"/>
                  <a:buNone/>
                </a:pPr>
                <a:r>
                  <a:rPr lang="en-US" sz="1200" dirty="0">
                    <a:solidFill>
                      <a:srgbClr val="1B1E35"/>
                    </a:solidFill>
                  </a:rPr>
                  <a:t>Lifecycle</a:t>
                </a:r>
                <a:endParaRPr sz="1200" dirty="0"/>
              </a:p>
            </p:txBody>
          </p:sp>
        </p:grpSp>
        <p:grpSp>
          <p:nvGrpSpPr>
            <p:cNvPr id="53" name="Group 52">
              <a:extLst>
                <a:ext uri="{FF2B5EF4-FFF2-40B4-BE49-F238E27FC236}">
                  <a16:creationId xmlns:a16="http://schemas.microsoft.com/office/drawing/2014/main" id="{F6CB2ADA-E85E-DBD8-40F6-AB7B1FB4C274}"/>
                </a:ext>
              </a:extLst>
            </p:cNvPr>
            <p:cNvGrpSpPr/>
            <p:nvPr/>
          </p:nvGrpSpPr>
          <p:grpSpPr>
            <a:xfrm>
              <a:off x="8295983" y="2638339"/>
              <a:ext cx="1439267" cy="945925"/>
              <a:chOff x="971112" y="2398308"/>
              <a:chExt cx="1439267" cy="945925"/>
            </a:xfrm>
          </p:grpSpPr>
          <p:sp>
            <p:nvSpPr>
              <p:cNvPr id="54" name="Google Shape;6760;g2d30ebb658d_0_19789">
                <a:extLst>
                  <a:ext uri="{FF2B5EF4-FFF2-40B4-BE49-F238E27FC236}">
                    <a16:creationId xmlns:a16="http://schemas.microsoft.com/office/drawing/2014/main" id="{490FDAC0-D2D4-55AA-B315-06F5D5ABA19F}"/>
                  </a:ext>
                </a:extLst>
              </p:cNvPr>
              <p:cNvSpPr/>
              <p:nvPr/>
            </p:nvSpPr>
            <p:spPr>
              <a:xfrm>
                <a:off x="1358600" y="2398308"/>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gradFill>
                <a:gsLst>
                  <a:gs pos="0">
                    <a:schemeClr val="accent2"/>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55" name="Google Shape;6767;g2d30ebb658d_0_19789">
                <a:extLst>
                  <a:ext uri="{FF2B5EF4-FFF2-40B4-BE49-F238E27FC236}">
                    <a16:creationId xmlns:a16="http://schemas.microsoft.com/office/drawing/2014/main" id="{21081A4D-2594-C8DA-9A7F-D440DC7E1525}"/>
                  </a:ext>
                </a:extLst>
              </p:cNvPr>
              <p:cNvSpPr/>
              <p:nvPr/>
            </p:nvSpPr>
            <p:spPr>
              <a:xfrm>
                <a:off x="1503581" y="2537002"/>
                <a:ext cx="379742" cy="380966"/>
              </a:xfrm>
              <a:custGeom>
                <a:avLst/>
                <a:gdLst/>
                <a:ahLst/>
                <a:cxnLst/>
                <a:rect l="l" t="t" r="r" b="b"/>
                <a:pathLst>
                  <a:path w="651268" h="653368" extrusionOk="0">
                    <a:moveTo>
                      <a:pt x="587701" y="131477"/>
                    </a:moveTo>
                    <a:cubicBezTo>
                      <a:pt x="546722" y="75983"/>
                      <a:pt x="487355" y="34911"/>
                      <a:pt x="421826" y="14375"/>
                    </a:cubicBezTo>
                    <a:cubicBezTo>
                      <a:pt x="391116" y="4107"/>
                      <a:pt x="358352" y="0"/>
                      <a:pt x="325588" y="0"/>
                    </a:cubicBezTo>
                    <a:cubicBezTo>
                      <a:pt x="292824" y="0"/>
                      <a:pt x="260059" y="4107"/>
                      <a:pt x="229349" y="14375"/>
                    </a:cubicBezTo>
                    <a:lnTo>
                      <a:pt x="249838" y="80137"/>
                    </a:lnTo>
                    <a:cubicBezTo>
                      <a:pt x="274435" y="71922"/>
                      <a:pt x="298984" y="67815"/>
                      <a:pt x="325634" y="67815"/>
                    </a:cubicBezTo>
                    <a:cubicBezTo>
                      <a:pt x="352284" y="67815"/>
                      <a:pt x="376834" y="71922"/>
                      <a:pt x="401430" y="80137"/>
                    </a:cubicBezTo>
                    <a:cubicBezTo>
                      <a:pt x="452630" y="94512"/>
                      <a:pt x="499723" y="127416"/>
                      <a:pt x="532487" y="172595"/>
                    </a:cubicBezTo>
                    <a:cubicBezTo>
                      <a:pt x="565251" y="215767"/>
                      <a:pt x="583687" y="271214"/>
                      <a:pt x="583687" y="326708"/>
                    </a:cubicBezTo>
                    <a:cubicBezTo>
                      <a:pt x="583687" y="468499"/>
                      <a:pt x="466959" y="585600"/>
                      <a:pt x="325634" y="585600"/>
                    </a:cubicBezTo>
                    <a:cubicBezTo>
                      <a:pt x="184310" y="585600"/>
                      <a:pt x="67582" y="468499"/>
                      <a:pt x="67582" y="326708"/>
                    </a:cubicBezTo>
                    <a:cubicBezTo>
                      <a:pt x="67582" y="273268"/>
                      <a:pt x="83964" y="219874"/>
                      <a:pt x="116728" y="176702"/>
                    </a:cubicBezTo>
                    <a:lnTo>
                      <a:pt x="159713" y="195185"/>
                    </a:lnTo>
                    <a:lnTo>
                      <a:pt x="139224" y="32857"/>
                    </a:lnTo>
                    <a:lnTo>
                      <a:pt x="12275" y="131477"/>
                    </a:lnTo>
                    <a:lnTo>
                      <a:pt x="51200" y="147905"/>
                    </a:lnTo>
                    <a:cubicBezTo>
                      <a:pt x="18436" y="201345"/>
                      <a:pt x="0" y="262953"/>
                      <a:pt x="0" y="326661"/>
                    </a:cubicBezTo>
                    <a:cubicBezTo>
                      <a:pt x="0" y="507470"/>
                      <a:pt x="145385" y="653369"/>
                      <a:pt x="325634" y="653369"/>
                    </a:cubicBezTo>
                    <a:cubicBezTo>
                      <a:pt x="505884" y="653369"/>
                      <a:pt x="651269" y="507470"/>
                      <a:pt x="651269" y="326661"/>
                    </a:cubicBezTo>
                    <a:cubicBezTo>
                      <a:pt x="651269" y="254739"/>
                      <a:pt x="628726" y="186924"/>
                      <a:pt x="587794" y="131477"/>
                    </a:cubicBezTo>
                    <a:lnTo>
                      <a:pt x="587794" y="13147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 name="Google Shape;6769;g2d30ebb658d_0_19789">
                <a:extLst>
                  <a:ext uri="{FF2B5EF4-FFF2-40B4-BE49-F238E27FC236}">
                    <a16:creationId xmlns:a16="http://schemas.microsoft.com/office/drawing/2014/main" id="{AB27B34B-0E78-A757-EFED-B920023381CB}"/>
                  </a:ext>
                </a:extLst>
              </p:cNvPr>
              <p:cNvSpPr txBox="1"/>
              <p:nvPr/>
            </p:nvSpPr>
            <p:spPr>
              <a:xfrm>
                <a:off x="971112" y="3166351"/>
                <a:ext cx="1439267" cy="177882"/>
              </a:xfrm>
              <a:prstGeom prst="rect">
                <a:avLst/>
              </a:prstGeom>
              <a:noFill/>
              <a:ln>
                <a:noFill/>
              </a:ln>
            </p:spPr>
            <p:txBody>
              <a:bodyPr spcFirstLastPara="1" wrap="square" lIns="0" tIns="0" rIns="0" bIns="0" anchor="t" anchorCtr="0">
                <a:spAutoFit/>
              </a:bodyPr>
              <a:lstStyle/>
              <a:p>
                <a:pPr marL="0" marR="0" lvl="0" indent="0" algn="ctr" rtl="0">
                  <a:lnSpc>
                    <a:spcPct val="95000"/>
                  </a:lnSpc>
                  <a:spcBef>
                    <a:spcPts val="0"/>
                  </a:spcBef>
                  <a:spcAft>
                    <a:spcPts val="0"/>
                  </a:spcAft>
                  <a:buClr>
                    <a:srgbClr val="000000"/>
                  </a:buClr>
                  <a:buSzPts val="900"/>
                  <a:buFont typeface="Arial"/>
                  <a:buNone/>
                </a:pPr>
                <a:r>
                  <a:rPr lang="en-US" sz="1200" dirty="0">
                    <a:solidFill>
                      <a:srgbClr val="1B1E35"/>
                    </a:solidFill>
                  </a:rPr>
                  <a:t>Automation</a:t>
                </a:r>
                <a:endParaRPr sz="1200" dirty="0"/>
              </a:p>
            </p:txBody>
          </p:sp>
        </p:grpSp>
        <p:sp>
          <p:nvSpPr>
            <p:cNvPr id="57" name="Google Shape;6769;g2d30ebb658d_0_19789">
              <a:extLst>
                <a:ext uri="{FF2B5EF4-FFF2-40B4-BE49-F238E27FC236}">
                  <a16:creationId xmlns:a16="http://schemas.microsoft.com/office/drawing/2014/main" id="{DF69B191-CA70-18C6-86E0-2D0B22B3C7C8}"/>
                </a:ext>
              </a:extLst>
            </p:cNvPr>
            <p:cNvSpPr txBox="1"/>
            <p:nvPr/>
          </p:nvSpPr>
          <p:spPr>
            <a:xfrm>
              <a:off x="9225004" y="3404218"/>
              <a:ext cx="1439267" cy="177882"/>
            </a:xfrm>
            <a:prstGeom prst="rect">
              <a:avLst/>
            </a:prstGeom>
            <a:noFill/>
            <a:ln>
              <a:noFill/>
            </a:ln>
          </p:spPr>
          <p:txBody>
            <a:bodyPr spcFirstLastPara="1" wrap="square" lIns="0" tIns="0" rIns="0" bIns="0" anchor="t" anchorCtr="0">
              <a:spAutoFit/>
            </a:bodyPr>
            <a:lstStyle/>
            <a:p>
              <a:pPr marL="0" marR="0" lvl="0" indent="0" algn="ctr" rtl="0">
                <a:lnSpc>
                  <a:spcPct val="95000"/>
                </a:lnSpc>
                <a:spcBef>
                  <a:spcPts val="0"/>
                </a:spcBef>
                <a:spcAft>
                  <a:spcPts val="0"/>
                </a:spcAft>
                <a:buClr>
                  <a:srgbClr val="000000"/>
                </a:buClr>
                <a:buSzPts val="900"/>
                <a:buFont typeface="Arial"/>
                <a:buNone/>
              </a:pPr>
              <a:r>
                <a:rPr lang="en-US" sz="1200" dirty="0">
                  <a:solidFill>
                    <a:srgbClr val="1B1E35"/>
                  </a:solidFill>
                </a:rPr>
                <a:t>Operations</a:t>
              </a:r>
              <a:endParaRPr sz="1200" dirty="0"/>
            </a:p>
          </p:txBody>
        </p:sp>
        <p:sp>
          <p:nvSpPr>
            <p:cNvPr id="58" name="Google Shape;6704;g2d30ebb658d_0_19789">
              <a:extLst>
                <a:ext uri="{FF2B5EF4-FFF2-40B4-BE49-F238E27FC236}">
                  <a16:creationId xmlns:a16="http://schemas.microsoft.com/office/drawing/2014/main" id="{267C5A7B-6462-6C2E-B541-ECF265D0F28E}"/>
                </a:ext>
              </a:extLst>
            </p:cNvPr>
            <p:cNvSpPr/>
            <p:nvPr/>
          </p:nvSpPr>
          <p:spPr>
            <a:xfrm>
              <a:off x="8686487" y="2012222"/>
              <a:ext cx="2506183" cy="415500"/>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5400000" scaled="1"/>
              </a:grad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chemeClr val="tx1"/>
                  </a:solidFill>
                </a:rPr>
                <a:t>            VMware Cloud Foundation</a:t>
              </a:r>
              <a:endParaRPr dirty="0">
                <a:solidFill>
                  <a:schemeClr val="tx1"/>
                </a:solidFill>
              </a:endParaRPr>
            </a:p>
          </p:txBody>
        </p:sp>
        <p:pic>
          <p:nvPicPr>
            <p:cNvPr id="59" name="Google Shape;6699;p92">
              <a:extLst>
                <a:ext uri="{FF2B5EF4-FFF2-40B4-BE49-F238E27FC236}">
                  <a16:creationId xmlns:a16="http://schemas.microsoft.com/office/drawing/2014/main" id="{A5AC306C-4200-1361-7760-0D9D3396F6DA}"/>
                </a:ext>
              </a:extLst>
            </p:cNvPr>
            <p:cNvPicPr preferRelativeResize="0">
              <a:picLocks noChangeAspect="1"/>
            </p:cNvPicPr>
            <p:nvPr/>
          </p:nvPicPr>
          <p:blipFill rotWithShape="1">
            <a:blip r:embed="rId6">
              <a:alphaModFix/>
            </a:blip>
            <a:srcRect/>
            <a:stretch/>
          </p:blipFill>
          <p:spPr>
            <a:xfrm>
              <a:off x="8953481" y="2047053"/>
              <a:ext cx="341452" cy="341452"/>
            </a:xfrm>
            <a:prstGeom prst="rect">
              <a:avLst/>
            </a:prstGeom>
            <a:noFill/>
            <a:ln>
              <a:noFill/>
            </a:ln>
          </p:spPr>
        </p:pic>
      </p:grpSp>
      <p:sp>
        <p:nvSpPr>
          <p:cNvPr id="60" name="Google Shape;6678;g2d30ebb658d_0_19789">
            <a:extLst>
              <a:ext uri="{FF2B5EF4-FFF2-40B4-BE49-F238E27FC236}">
                <a16:creationId xmlns:a16="http://schemas.microsoft.com/office/drawing/2014/main" id="{6CCEBA1A-EA6B-3555-5BA2-F89C45AFE7F4}"/>
              </a:ext>
            </a:extLst>
          </p:cNvPr>
          <p:cNvSpPr/>
          <p:nvPr/>
        </p:nvSpPr>
        <p:spPr>
          <a:xfrm>
            <a:off x="2425274" y="1859697"/>
            <a:ext cx="3193123" cy="3005185"/>
          </a:xfrm>
          <a:prstGeom prst="roundRect">
            <a:avLst>
              <a:gd name="adj" fmla="val 2356"/>
            </a:avLst>
          </a:prstGeom>
          <a:noFill/>
          <a:ln w="12700">
            <a:solidFill>
              <a:schemeClr val="bg2">
                <a:lumMod val="50000"/>
              </a:schemeClr>
            </a:solid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61" name="Group 60">
            <a:extLst>
              <a:ext uri="{FF2B5EF4-FFF2-40B4-BE49-F238E27FC236}">
                <a16:creationId xmlns:a16="http://schemas.microsoft.com/office/drawing/2014/main" id="{A5B61DF4-8924-571D-1602-D8E65BDA8352}"/>
              </a:ext>
            </a:extLst>
          </p:cNvPr>
          <p:cNvGrpSpPr/>
          <p:nvPr/>
        </p:nvGrpSpPr>
        <p:grpSpPr>
          <a:xfrm>
            <a:off x="2442588" y="2068118"/>
            <a:ext cx="3154171" cy="2616302"/>
            <a:chOff x="2442588" y="2284018"/>
            <a:chExt cx="3154171" cy="2616302"/>
          </a:xfrm>
        </p:grpSpPr>
        <p:pic>
          <p:nvPicPr>
            <p:cNvPr id="62" name="Picture 61">
              <a:extLst>
                <a:ext uri="{FF2B5EF4-FFF2-40B4-BE49-F238E27FC236}">
                  <a16:creationId xmlns:a16="http://schemas.microsoft.com/office/drawing/2014/main" id="{FECF359C-9D76-388E-2C99-2CF17DCCA203}"/>
                </a:ext>
              </a:extLst>
            </p:cNvPr>
            <p:cNvPicPr>
              <a:picLocks noChangeAspect="1"/>
            </p:cNvPicPr>
            <p:nvPr/>
          </p:nvPicPr>
          <p:blipFill>
            <a:blip r:embed="rId7"/>
            <a:stretch>
              <a:fillRect/>
            </a:stretch>
          </p:blipFill>
          <p:spPr>
            <a:xfrm>
              <a:off x="2442588" y="2284018"/>
              <a:ext cx="3154171" cy="2616302"/>
            </a:xfrm>
            <a:prstGeom prst="rect">
              <a:avLst/>
            </a:prstGeom>
          </p:spPr>
        </p:pic>
        <p:sp>
          <p:nvSpPr>
            <p:cNvPr id="63" name="Rectangle 62">
              <a:extLst>
                <a:ext uri="{FF2B5EF4-FFF2-40B4-BE49-F238E27FC236}">
                  <a16:creationId xmlns:a16="http://schemas.microsoft.com/office/drawing/2014/main" id="{50AA8EAB-5E07-F79D-35B2-D4F74941EC35}"/>
                </a:ext>
              </a:extLst>
            </p:cNvPr>
            <p:cNvSpPr/>
            <p:nvPr/>
          </p:nvSpPr>
          <p:spPr>
            <a:xfrm>
              <a:off x="4637868" y="4602997"/>
              <a:ext cx="864030" cy="225856"/>
            </a:xfrm>
            <a:prstGeom prst="rect">
              <a:avLst/>
            </a:prstGeom>
            <a:solidFill>
              <a:srgbClr val="FCFEF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cxnSp>
        <p:nvCxnSpPr>
          <p:cNvPr id="67" name="Google Shape;2775;p31">
            <a:extLst>
              <a:ext uri="{FF2B5EF4-FFF2-40B4-BE49-F238E27FC236}">
                <a16:creationId xmlns:a16="http://schemas.microsoft.com/office/drawing/2014/main" id="{6E12C59A-9CED-728B-4560-A063E6FBC949}"/>
              </a:ext>
            </a:extLst>
          </p:cNvPr>
          <p:cNvCxnSpPr>
            <a:cxnSpLocks/>
            <a:endCxn id="5" idx="2"/>
          </p:cNvCxnSpPr>
          <p:nvPr/>
        </p:nvCxnSpPr>
        <p:spPr>
          <a:xfrm flipV="1">
            <a:off x="7002329" y="4841658"/>
            <a:ext cx="0" cy="503483"/>
          </a:xfrm>
          <a:prstGeom prst="straightConnector1">
            <a:avLst/>
          </a:prstGeom>
          <a:noFill/>
          <a:ln w="28575" cap="flat" cmpd="sng">
            <a:solidFill>
              <a:schemeClr val="bg2">
                <a:lumMod val="50000"/>
              </a:schemeClr>
            </a:solidFill>
            <a:prstDash val="solid"/>
            <a:miter lim="800000"/>
            <a:headEnd type="none" w="sm" len="sm"/>
            <a:tailEnd type="none" w="sm" len="sm"/>
          </a:ln>
        </p:spPr>
      </p:cxnSp>
      <p:grpSp>
        <p:nvGrpSpPr>
          <p:cNvPr id="68" name="Group 67">
            <a:extLst>
              <a:ext uri="{FF2B5EF4-FFF2-40B4-BE49-F238E27FC236}">
                <a16:creationId xmlns:a16="http://schemas.microsoft.com/office/drawing/2014/main" id="{D6A1D8FD-E025-EC04-052A-D0E9A72C044C}"/>
              </a:ext>
            </a:extLst>
          </p:cNvPr>
          <p:cNvGrpSpPr/>
          <p:nvPr/>
        </p:nvGrpSpPr>
        <p:grpSpPr>
          <a:xfrm>
            <a:off x="1127236" y="4369909"/>
            <a:ext cx="563204" cy="613907"/>
            <a:chOff x="1127236" y="4638593"/>
            <a:chExt cx="563204" cy="613907"/>
          </a:xfrm>
        </p:grpSpPr>
        <p:sp>
          <p:nvSpPr>
            <p:cNvPr id="69" name="Rectangle 68">
              <a:extLst>
                <a:ext uri="{FF2B5EF4-FFF2-40B4-BE49-F238E27FC236}">
                  <a16:creationId xmlns:a16="http://schemas.microsoft.com/office/drawing/2014/main" id="{F22E4E83-42C4-FAB5-50ED-E7CF23D56365}"/>
                </a:ext>
              </a:extLst>
            </p:cNvPr>
            <p:cNvSpPr/>
            <p:nvPr/>
          </p:nvSpPr>
          <p:spPr>
            <a:xfrm>
              <a:off x="1127236" y="4638593"/>
              <a:ext cx="563204" cy="61390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tx1"/>
                </a:solidFill>
              </a:endParaRPr>
            </a:p>
          </p:txBody>
        </p:sp>
        <p:pic>
          <p:nvPicPr>
            <p:cNvPr id="70" name="Graphic 69">
              <a:extLst>
                <a:ext uri="{FF2B5EF4-FFF2-40B4-BE49-F238E27FC236}">
                  <a16:creationId xmlns:a16="http://schemas.microsoft.com/office/drawing/2014/main" id="{02B16A71-4230-FF22-8390-A3A019A5F6F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14376" y="4713700"/>
              <a:ext cx="455168" cy="455168"/>
            </a:xfrm>
            <a:prstGeom prst="rect">
              <a:avLst/>
            </a:prstGeom>
          </p:spPr>
        </p:pic>
      </p:grpSp>
      <p:sp>
        <p:nvSpPr>
          <p:cNvPr id="71" name="Oval 7">
            <a:extLst>
              <a:ext uri="{FF2B5EF4-FFF2-40B4-BE49-F238E27FC236}">
                <a16:creationId xmlns:a16="http://schemas.microsoft.com/office/drawing/2014/main" id="{E033074F-437F-3A61-C48E-E34BBBF84750}"/>
              </a:ext>
            </a:extLst>
          </p:cNvPr>
          <p:cNvSpPr>
            <a:spLocks noChangeAspect="1"/>
          </p:cNvSpPr>
          <p:nvPr/>
        </p:nvSpPr>
        <p:spPr bwMode="gray">
          <a:xfrm>
            <a:off x="5519806" y="5064041"/>
            <a:ext cx="576000" cy="576000"/>
          </a:xfrm>
          <a:prstGeom prst="ellipse">
            <a:avLst/>
          </a:prstGeom>
          <a:solidFill>
            <a:schemeClr val="accent4"/>
          </a:solidFill>
          <a:ln w="7620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lnSpc>
                <a:spcPct val="90000"/>
              </a:lnSpc>
              <a:spcBef>
                <a:spcPts val="600"/>
              </a:spcBef>
            </a:pPr>
            <a:endParaRPr lang="en-US" sz="1999" b="1" dirty="0">
              <a:solidFill>
                <a:prstClr val="white"/>
              </a:solidFill>
              <a:latin typeface="Arial"/>
            </a:endParaRPr>
          </a:p>
        </p:txBody>
      </p:sp>
      <p:pic>
        <p:nvPicPr>
          <p:cNvPr id="72" name="Graphic 71">
            <a:extLst>
              <a:ext uri="{FF2B5EF4-FFF2-40B4-BE49-F238E27FC236}">
                <a16:creationId xmlns:a16="http://schemas.microsoft.com/office/drawing/2014/main" id="{D3282597-D402-F5E4-0FD6-1B2CBCF82CF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588295" y="5134227"/>
            <a:ext cx="432000" cy="432000"/>
          </a:xfrm>
          <a:prstGeom prst="rect">
            <a:avLst/>
          </a:prstGeom>
        </p:spPr>
      </p:pic>
      <p:sp>
        <p:nvSpPr>
          <p:cNvPr id="75" name="Rectangle 74">
            <a:extLst>
              <a:ext uri="{FF2B5EF4-FFF2-40B4-BE49-F238E27FC236}">
                <a16:creationId xmlns:a16="http://schemas.microsoft.com/office/drawing/2014/main" id="{69B8F802-38DB-EB25-C55D-1774B1C543DF}"/>
              </a:ext>
            </a:extLst>
          </p:cNvPr>
          <p:cNvSpPr/>
          <p:nvPr/>
        </p:nvSpPr>
        <p:spPr>
          <a:xfrm>
            <a:off x="6003003" y="5755804"/>
            <a:ext cx="5510816" cy="321737"/>
          </a:xfrm>
          <a:prstGeom prst="rect">
            <a:avLst/>
          </a:prstGeom>
          <a:solidFill>
            <a:schemeClr val="accent5"/>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spcAft>
                <a:spcPts val="600"/>
              </a:spcAft>
            </a:pPr>
            <a:r>
              <a:rPr lang="en-US" sz="1400" dirty="0">
                <a:solidFill>
                  <a:schemeClr val="bg1"/>
                </a:solidFill>
                <a:latin typeface="Metropolis Semi Bold" panose="00000700000000000000" pitchFamily="2" charset="0"/>
              </a:rPr>
              <a:t>Deploy to New or Existing vSphere Infrastructure</a:t>
            </a:r>
          </a:p>
        </p:txBody>
      </p:sp>
      <p:grpSp>
        <p:nvGrpSpPr>
          <p:cNvPr id="10" name="Group 9">
            <a:extLst>
              <a:ext uri="{FF2B5EF4-FFF2-40B4-BE49-F238E27FC236}">
                <a16:creationId xmlns:a16="http://schemas.microsoft.com/office/drawing/2014/main" id="{1BCD311C-2774-96DC-41B6-9A024F5808C4}"/>
              </a:ext>
            </a:extLst>
          </p:cNvPr>
          <p:cNvGrpSpPr/>
          <p:nvPr/>
        </p:nvGrpSpPr>
        <p:grpSpPr>
          <a:xfrm>
            <a:off x="6470265" y="3243074"/>
            <a:ext cx="1060849" cy="1245210"/>
            <a:chOff x="6470265" y="3243074"/>
            <a:chExt cx="1060849" cy="1245210"/>
          </a:xfrm>
        </p:grpSpPr>
        <p:sp>
          <p:nvSpPr>
            <p:cNvPr id="76" name="Rectangle 75">
              <a:extLst>
                <a:ext uri="{FF2B5EF4-FFF2-40B4-BE49-F238E27FC236}">
                  <a16:creationId xmlns:a16="http://schemas.microsoft.com/office/drawing/2014/main" id="{6B1AF47B-2355-C29B-ED06-2B979B1DF32B}"/>
                </a:ext>
              </a:extLst>
            </p:cNvPr>
            <p:cNvSpPr/>
            <p:nvPr/>
          </p:nvSpPr>
          <p:spPr>
            <a:xfrm>
              <a:off x="6473360" y="3243074"/>
              <a:ext cx="1057622" cy="124521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tx1"/>
                </a:solidFill>
              </a:endParaRPr>
            </a:p>
          </p:txBody>
        </p:sp>
        <p:grpSp>
          <p:nvGrpSpPr>
            <p:cNvPr id="77" name="Group 76">
              <a:extLst>
                <a:ext uri="{FF2B5EF4-FFF2-40B4-BE49-F238E27FC236}">
                  <a16:creationId xmlns:a16="http://schemas.microsoft.com/office/drawing/2014/main" id="{1EA3D219-2FC5-15C3-6543-5B4548F89FEB}"/>
                </a:ext>
              </a:extLst>
            </p:cNvPr>
            <p:cNvGrpSpPr/>
            <p:nvPr/>
          </p:nvGrpSpPr>
          <p:grpSpPr>
            <a:xfrm>
              <a:off x="6470265" y="3248296"/>
              <a:ext cx="1060849" cy="1239988"/>
              <a:chOff x="6470265" y="3324101"/>
              <a:chExt cx="1060849" cy="1239988"/>
            </a:xfrm>
          </p:grpSpPr>
          <p:sp>
            <p:nvSpPr>
              <p:cNvPr id="78" name="Google Shape;2829;p31">
                <a:extLst>
                  <a:ext uri="{FF2B5EF4-FFF2-40B4-BE49-F238E27FC236}">
                    <a16:creationId xmlns:a16="http://schemas.microsoft.com/office/drawing/2014/main" id="{CAC091EC-00B2-2DD9-EF95-E3D164BFFADD}"/>
                  </a:ext>
                </a:extLst>
              </p:cNvPr>
              <p:cNvSpPr/>
              <p:nvPr/>
            </p:nvSpPr>
            <p:spPr>
              <a:xfrm>
                <a:off x="6470265" y="4286018"/>
                <a:ext cx="1056675" cy="278071"/>
              </a:xfrm>
              <a:custGeom>
                <a:avLst/>
                <a:gdLst/>
                <a:ahLst/>
                <a:cxnLst/>
                <a:rect l="l" t="t" r="r" b="b"/>
                <a:pathLst>
                  <a:path w="1305216" h="343477" extrusionOk="0">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u="none" strike="noStrike" kern="1200" cap="none" spc="0" normalizeH="0" baseline="0" noProof="0" dirty="0">
                  <a:ln>
                    <a:noFill/>
                  </a:ln>
                  <a:solidFill>
                    <a:srgbClr val="000000"/>
                  </a:solidFill>
                  <a:effectLst/>
                  <a:uLnTx/>
                  <a:uFillTx/>
                  <a:latin typeface="Metropolis" pitchFamily="2" charset="77"/>
                  <a:sym typeface="Arial"/>
                </a:endParaRPr>
              </a:p>
            </p:txBody>
          </p:sp>
          <p:sp>
            <p:nvSpPr>
              <p:cNvPr id="79" name="Google Shape;2829;p31">
                <a:extLst>
                  <a:ext uri="{FF2B5EF4-FFF2-40B4-BE49-F238E27FC236}">
                    <a16:creationId xmlns:a16="http://schemas.microsoft.com/office/drawing/2014/main" id="{C9E389DF-6FF1-7930-C256-AEACA30A6105}"/>
                  </a:ext>
                </a:extLst>
              </p:cNvPr>
              <p:cNvSpPr/>
              <p:nvPr/>
            </p:nvSpPr>
            <p:spPr>
              <a:xfrm>
                <a:off x="6474307" y="3971124"/>
                <a:ext cx="1056675" cy="278071"/>
              </a:xfrm>
              <a:custGeom>
                <a:avLst/>
                <a:gdLst/>
                <a:ahLst/>
                <a:cxnLst/>
                <a:rect l="l" t="t" r="r" b="b"/>
                <a:pathLst>
                  <a:path w="1305216" h="343477" extrusionOk="0">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u="none" strike="noStrike" kern="1200" cap="none" spc="0" normalizeH="0" baseline="0" noProof="0" dirty="0">
                  <a:ln>
                    <a:noFill/>
                  </a:ln>
                  <a:solidFill>
                    <a:srgbClr val="000000"/>
                  </a:solidFill>
                  <a:effectLst/>
                  <a:uLnTx/>
                  <a:uFillTx/>
                  <a:latin typeface="Metropolis" pitchFamily="2" charset="77"/>
                  <a:sym typeface="Arial"/>
                </a:endParaRPr>
              </a:p>
            </p:txBody>
          </p:sp>
          <p:sp>
            <p:nvSpPr>
              <p:cNvPr id="80" name="Google Shape;2829;p31">
                <a:extLst>
                  <a:ext uri="{FF2B5EF4-FFF2-40B4-BE49-F238E27FC236}">
                    <a16:creationId xmlns:a16="http://schemas.microsoft.com/office/drawing/2014/main" id="{4B10F1BE-CE3B-4043-A372-9355CEA7AA2A}"/>
                  </a:ext>
                </a:extLst>
              </p:cNvPr>
              <p:cNvSpPr/>
              <p:nvPr/>
            </p:nvSpPr>
            <p:spPr>
              <a:xfrm>
                <a:off x="6473593" y="3649830"/>
                <a:ext cx="1056675" cy="278071"/>
              </a:xfrm>
              <a:custGeom>
                <a:avLst/>
                <a:gdLst/>
                <a:ahLst/>
                <a:cxnLst/>
                <a:rect l="l" t="t" r="r" b="b"/>
                <a:pathLst>
                  <a:path w="1305216" h="343477" extrusionOk="0">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u="none" strike="noStrike" kern="1200" cap="none" spc="0" normalizeH="0" baseline="0" noProof="0" dirty="0">
                  <a:ln>
                    <a:noFill/>
                  </a:ln>
                  <a:solidFill>
                    <a:srgbClr val="000000"/>
                  </a:solidFill>
                  <a:effectLst/>
                  <a:uLnTx/>
                  <a:uFillTx/>
                  <a:latin typeface="Metropolis" pitchFamily="2" charset="77"/>
                  <a:sym typeface="Arial"/>
                </a:endParaRPr>
              </a:p>
            </p:txBody>
          </p:sp>
          <p:sp>
            <p:nvSpPr>
              <p:cNvPr id="81" name="Google Shape;2829;p31">
                <a:extLst>
                  <a:ext uri="{FF2B5EF4-FFF2-40B4-BE49-F238E27FC236}">
                    <a16:creationId xmlns:a16="http://schemas.microsoft.com/office/drawing/2014/main" id="{A017E6FA-5033-279C-6C38-774982218A30}"/>
                  </a:ext>
                </a:extLst>
              </p:cNvPr>
              <p:cNvSpPr/>
              <p:nvPr/>
            </p:nvSpPr>
            <p:spPr>
              <a:xfrm>
                <a:off x="6474439" y="3324101"/>
                <a:ext cx="1056675" cy="278071"/>
              </a:xfrm>
              <a:custGeom>
                <a:avLst/>
                <a:gdLst/>
                <a:ahLst/>
                <a:cxnLst/>
                <a:rect l="l" t="t" r="r" b="b"/>
                <a:pathLst>
                  <a:path w="1305216" h="343477" extrusionOk="0">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u="none" strike="noStrike" kern="1200" cap="none" spc="0" normalizeH="0" baseline="0" noProof="0" dirty="0">
                  <a:ln>
                    <a:noFill/>
                  </a:ln>
                  <a:solidFill>
                    <a:srgbClr val="000000"/>
                  </a:solidFill>
                  <a:effectLst/>
                  <a:uLnTx/>
                  <a:uFillTx/>
                  <a:latin typeface="Metropolis" pitchFamily="2" charset="77"/>
                  <a:sym typeface="Arial"/>
                </a:endParaRPr>
              </a:p>
            </p:txBody>
          </p:sp>
        </p:grpSp>
      </p:grpSp>
      <p:sp>
        <p:nvSpPr>
          <p:cNvPr id="84" name="Right Arrow 83">
            <a:extLst>
              <a:ext uri="{FF2B5EF4-FFF2-40B4-BE49-F238E27FC236}">
                <a16:creationId xmlns:a16="http://schemas.microsoft.com/office/drawing/2014/main" id="{B1857D22-66BC-62FF-648E-60D73C76F946}"/>
              </a:ext>
            </a:extLst>
          </p:cNvPr>
          <p:cNvSpPr/>
          <p:nvPr/>
        </p:nvSpPr>
        <p:spPr bwMode="gray">
          <a:xfrm>
            <a:off x="774995" y="5760436"/>
            <a:ext cx="1554378" cy="311673"/>
          </a:xfrm>
          <a:prstGeom prst="rightArrow">
            <a:avLst>
              <a:gd name="adj1" fmla="val 100000"/>
              <a:gd name="adj2" fmla="val 50000"/>
            </a:avLst>
          </a:prstGeom>
          <a:solidFill>
            <a:schemeClr val="accent5"/>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Pre-requisites</a:t>
            </a:r>
          </a:p>
        </p:txBody>
      </p:sp>
      <p:sp>
        <p:nvSpPr>
          <p:cNvPr id="86" name="Right Arrow 85">
            <a:extLst>
              <a:ext uri="{FF2B5EF4-FFF2-40B4-BE49-F238E27FC236}">
                <a16:creationId xmlns:a16="http://schemas.microsoft.com/office/drawing/2014/main" id="{027EEB10-464E-E7E2-4AA4-1FF94E24D853}"/>
              </a:ext>
            </a:extLst>
          </p:cNvPr>
          <p:cNvSpPr/>
          <p:nvPr/>
        </p:nvSpPr>
        <p:spPr bwMode="gray">
          <a:xfrm>
            <a:off x="2425274" y="5765868"/>
            <a:ext cx="3495774" cy="311673"/>
          </a:xfrm>
          <a:prstGeom prst="rightArrow">
            <a:avLst>
              <a:gd name="adj1" fmla="val 100000"/>
              <a:gd name="adj2" fmla="val 50000"/>
            </a:avLst>
          </a:prstGeom>
          <a:solidFill>
            <a:schemeClr val="accent4"/>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VCF Installer </a:t>
            </a:r>
            <a:r>
              <a:rPr lang="en-US" sz="1400" i="1" baseline="30000" dirty="0">
                <a:solidFill>
                  <a:schemeClr val="bg1"/>
                </a:solidFill>
              </a:rPr>
              <a:t>NEW</a:t>
            </a:r>
          </a:p>
        </p:txBody>
      </p:sp>
      <p:sp>
        <p:nvSpPr>
          <p:cNvPr id="87" name="Right Arrow 86">
            <a:extLst>
              <a:ext uri="{FF2B5EF4-FFF2-40B4-BE49-F238E27FC236}">
                <a16:creationId xmlns:a16="http://schemas.microsoft.com/office/drawing/2014/main" id="{79C9CF4B-6B85-3F67-77BA-9050921B13C1}"/>
              </a:ext>
            </a:extLst>
          </p:cNvPr>
          <p:cNvSpPr/>
          <p:nvPr/>
        </p:nvSpPr>
        <p:spPr bwMode="gray">
          <a:xfrm>
            <a:off x="6020294" y="5765868"/>
            <a:ext cx="5639839" cy="311673"/>
          </a:xfrm>
          <a:prstGeom prst="rightArrow">
            <a:avLst>
              <a:gd name="adj1" fmla="val 100000"/>
              <a:gd name="adj2" fmla="val 50000"/>
            </a:avLst>
          </a:prstGeom>
          <a:solidFill>
            <a:schemeClr val="accent2"/>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Deploy to vSphere Infrastructure</a:t>
            </a:r>
            <a:endParaRPr lang="en-US" sz="1400" i="1" baseline="30000" dirty="0">
              <a:solidFill>
                <a:schemeClr val="bg1"/>
              </a:solidFill>
            </a:endParaRPr>
          </a:p>
        </p:txBody>
      </p:sp>
      <p:grpSp>
        <p:nvGrpSpPr>
          <p:cNvPr id="66" name="Group 65">
            <a:extLst>
              <a:ext uri="{FF2B5EF4-FFF2-40B4-BE49-F238E27FC236}">
                <a16:creationId xmlns:a16="http://schemas.microsoft.com/office/drawing/2014/main" id="{ADB7C56B-6663-F18B-963D-A0773B6FEF30}"/>
              </a:ext>
            </a:extLst>
          </p:cNvPr>
          <p:cNvGrpSpPr>
            <a:grpSpLocks noChangeAspect="1"/>
          </p:cNvGrpSpPr>
          <p:nvPr/>
        </p:nvGrpSpPr>
        <p:grpSpPr>
          <a:xfrm>
            <a:off x="948053" y="2938351"/>
            <a:ext cx="903405" cy="989043"/>
            <a:chOff x="7943457" y="3626784"/>
            <a:chExt cx="865481" cy="947522"/>
          </a:xfrm>
        </p:grpSpPr>
        <p:grpSp>
          <p:nvGrpSpPr>
            <p:cNvPr id="73" name="Group 72">
              <a:extLst>
                <a:ext uri="{FF2B5EF4-FFF2-40B4-BE49-F238E27FC236}">
                  <a16:creationId xmlns:a16="http://schemas.microsoft.com/office/drawing/2014/main" id="{72B8FF36-777C-8F77-5E19-D2DB6B2B64B1}"/>
                </a:ext>
              </a:extLst>
            </p:cNvPr>
            <p:cNvGrpSpPr>
              <a:grpSpLocks noChangeAspect="1"/>
            </p:cNvGrpSpPr>
            <p:nvPr/>
          </p:nvGrpSpPr>
          <p:grpSpPr>
            <a:xfrm>
              <a:off x="7943457" y="3696376"/>
              <a:ext cx="865481" cy="865478"/>
              <a:chOff x="5217804" y="2760888"/>
              <a:chExt cx="1232879" cy="1232880"/>
            </a:xfrm>
          </p:grpSpPr>
          <p:sp>
            <p:nvSpPr>
              <p:cNvPr id="95" name="Google Shape;4314;p38">
                <a:extLst>
                  <a:ext uri="{FF2B5EF4-FFF2-40B4-BE49-F238E27FC236}">
                    <a16:creationId xmlns:a16="http://schemas.microsoft.com/office/drawing/2014/main" id="{D39B95DA-7DBB-F85C-FFD2-C403AA7936D1}"/>
                  </a:ext>
                </a:extLst>
              </p:cNvPr>
              <p:cNvSpPr/>
              <p:nvPr/>
            </p:nvSpPr>
            <p:spPr>
              <a:xfrm>
                <a:off x="5217804" y="2760889"/>
                <a:ext cx="1232878" cy="1232879"/>
              </a:xfrm>
              <a:prstGeom prst="ellipse">
                <a:avLst/>
              </a:prstGeom>
              <a:solidFill>
                <a:srgbClr val="FFFFFF"/>
              </a:solidFill>
              <a:ln w="12700" cap="flat" cmpd="sng">
                <a:solidFill>
                  <a:srgbClr val="D2D9E8"/>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96" name="Google Shape;4315;p38">
                <a:extLst>
                  <a:ext uri="{FF2B5EF4-FFF2-40B4-BE49-F238E27FC236}">
                    <a16:creationId xmlns:a16="http://schemas.microsoft.com/office/drawing/2014/main" id="{D0D91A3C-97ED-58FB-19EB-3D1ED7AD266E}"/>
                  </a:ext>
                </a:extLst>
              </p:cNvPr>
              <p:cNvSpPr/>
              <p:nvPr/>
            </p:nvSpPr>
            <p:spPr>
              <a:xfrm>
                <a:off x="5554580" y="2863157"/>
                <a:ext cx="852874" cy="640094"/>
              </a:xfrm>
              <a:custGeom>
                <a:avLst/>
                <a:gdLst/>
                <a:ahLst/>
                <a:cxnLst/>
                <a:rect l="l" t="t" r="r" b="b"/>
                <a:pathLst>
                  <a:path w="692813" h="519966" extrusionOk="0">
                    <a:moveTo>
                      <a:pt x="502652" y="0"/>
                    </a:moveTo>
                    <a:lnTo>
                      <a:pt x="507154" y="2444"/>
                    </a:lnTo>
                    <a:cubicBezTo>
                      <a:pt x="587075" y="56438"/>
                      <a:pt x="650570" y="132897"/>
                      <a:pt x="688579" y="222760"/>
                    </a:cubicBezTo>
                    <a:lnTo>
                      <a:pt x="692813" y="236400"/>
                    </a:lnTo>
                    <a:lnTo>
                      <a:pt x="418690" y="519966"/>
                    </a:lnTo>
                    <a:lnTo>
                      <a:pt x="0" y="519966"/>
                    </a:lnTo>
                    <a:lnTo>
                      <a:pt x="502652" y="0"/>
                    </a:lnTo>
                    <a:close/>
                  </a:path>
                </a:pathLst>
              </a:custGeom>
              <a:gradFill>
                <a:gsLst>
                  <a:gs pos="0">
                    <a:schemeClr val="accent5">
                      <a:alpha val="35000"/>
                    </a:schemeClr>
                  </a:gs>
                  <a:gs pos="37000">
                    <a:schemeClr val="accent5">
                      <a:alpha val="35000"/>
                    </a:schemeClr>
                  </a:gs>
                  <a:gs pos="98000">
                    <a:srgbClr val="0091DA">
                      <a:alpha val="0"/>
                    </a:srgbClr>
                  </a:gs>
                  <a:gs pos="100000">
                    <a:srgbClr val="0091DA">
                      <a:alpha val="0"/>
                    </a:srgbClr>
                  </a:gs>
                </a:gsLst>
                <a:lin ang="162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97" name="Google Shape;4316;p38">
                <a:extLst>
                  <a:ext uri="{FF2B5EF4-FFF2-40B4-BE49-F238E27FC236}">
                    <a16:creationId xmlns:a16="http://schemas.microsoft.com/office/drawing/2014/main" id="{71A09EFA-739F-B02F-036B-0D7BA5B929F3}"/>
                  </a:ext>
                </a:extLst>
              </p:cNvPr>
              <p:cNvSpPr/>
              <p:nvPr/>
            </p:nvSpPr>
            <p:spPr>
              <a:xfrm>
                <a:off x="5217805" y="2760888"/>
                <a:ext cx="1232878" cy="1232879"/>
              </a:xfrm>
              <a:custGeom>
                <a:avLst/>
                <a:gdLst/>
                <a:ahLst/>
                <a:cxnLst/>
                <a:rect l="l" t="t" r="r" b="b"/>
                <a:pathLst>
                  <a:path w="1001500" h="1001502" extrusionOk="0">
                    <a:moveTo>
                      <a:pt x="500750" y="0"/>
                    </a:moveTo>
                    <a:cubicBezTo>
                      <a:pt x="569889" y="0"/>
                      <a:pt x="635756" y="14012"/>
                      <a:pt x="695665" y="39352"/>
                    </a:cubicBezTo>
                    <a:lnTo>
                      <a:pt x="776222" y="83076"/>
                    </a:lnTo>
                    <a:lnTo>
                      <a:pt x="273570" y="603042"/>
                    </a:lnTo>
                    <a:lnTo>
                      <a:pt x="692260" y="603042"/>
                    </a:lnTo>
                    <a:lnTo>
                      <a:pt x="966383" y="319476"/>
                    </a:lnTo>
                    <a:lnTo>
                      <a:pt x="991327" y="399832"/>
                    </a:lnTo>
                    <a:cubicBezTo>
                      <a:pt x="997997" y="432430"/>
                      <a:pt x="1001500" y="466182"/>
                      <a:pt x="1001500" y="500751"/>
                    </a:cubicBezTo>
                    <a:cubicBezTo>
                      <a:pt x="1001500" y="777308"/>
                      <a:pt x="777307" y="1001502"/>
                      <a:pt x="500750" y="1001502"/>
                    </a:cubicBezTo>
                    <a:cubicBezTo>
                      <a:pt x="224193" y="1001502"/>
                      <a:pt x="0" y="777308"/>
                      <a:pt x="0" y="500751"/>
                    </a:cubicBezTo>
                    <a:cubicBezTo>
                      <a:pt x="0" y="224194"/>
                      <a:pt x="224193" y="0"/>
                      <a:pt x="500750" y="0"/>
                    </a:cubicBezTo>
                    <a:close/>
                  </a:path>
                </a:pathLst>
              </a:custGeom>
              <a:gradFill>
                <a:gsLst>
                  <a:gs pos="0">
                    <a:schemeClr val="accent5">
                      <a:alpha val="35000"/>
                    </a:schemeClr>
                  </a:gs>
                  <a:gs pos="37000">
                    <a:schemeClr val="accent5">
                      <a:alpha val="35000"/>
                    </a:schemeClr>
                  </a:gs>
                  <a:gs pos="98000">
                    <a:srgbClr val="0091DA">
                      <a:alpha val="0"/>
                    </a:srgbClr>
                  </a:gs>
                  <a:gs pos="100000">
                    <a:schemeClr val="accent5"/>
                  </a:gs>
                </a:gsLst>
                <a:lin ang="16200000" scaled="0"/>
              </a:gradFill>
              <a:ln>
                <a:noFill/>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98" name="Google Shape;4317;p38">
                <a:extLst>
                  <a:ext uri="{FF2B5EF4-FFF2-40B4-BE49-F238E27FC236}">
                    <a16:creationId xmlns:a16="http://schemas.microsoft.com/office/drawing/2014/main" id="{8209217F-E3BF-FC83-B4A3-F193463B044A}"/>
                  </a:ext>
                </a:extLst>
              </p:cNvPr>
              <p:cNvSpPr/>
              <p:nvPr/>
            </p:nvSpPr>
            <p:spPr>
              <a:xfrm>
                <a:off x="5554577" y="2906665"/>
                <a:ext cx="878947" cy="698268"/>
              </a:xfrm>
              <a:custGeom>
                <a:avLst/>
                <a:gdLst/>
                <a:ahLst/>
                <a:cxnLst/>
                <a:rect l="l" t="t" r="r" b="b"/>
                <a:pathLst>
                  <a:path w="991617" h="787778" extrusionOk="0">
                    <a:moveTo>
                      <a:pt x="761546" y="0"/>
                    </a:moveTo>
                    <a:lnTo>
                      <a:pt x="811023" y="40822"/>
                    </a:lnTo>
                    <a:cubicBezTo>
                      <a:pt x="873949" y="103748"/>
                      <a:pt x="924873" y="178678"/>
                      <a:pt x="960065" y="261882"/>
                    </a:cubicBezTo>
                    <a:lnTo>
                      <a:pt x="991617" y="363525"/>
                    </a:lnTo>
                    <a:lnTo>
                      <a:pt x="581491" y="787778"/>
                    </a:lnTo>
                    <a:lnTo>
                      <a:pt x="0" y="787778"/>
                    </a:lnTo>
                    <a:lnTo>
                      <a:pt x="761546" y="0"/>
                    </a:lnTo>
                    <a:close/>
                  </a:path>
                </a:pathLst>
              </a:custGeom>
              <a:gradFill>
                <a:gsLst>
                  <a:gs pos="0">
                    <a:schemeClr val="accent5"/>
                  </a:gs>
                  <a:gs pos="98000">
                    <a:schemeClr val="accent5">
                      <a:alpha val="0"/>
                    </a:schemeClr>
                  </a:gs>
                  <a:gs pos="100000">
                    <a:schemeClr val="accent5"/>
                  </a:gs>
                </a:gsLst>
                <a:lin ang="189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grpSp>
        <p:grpSp>
          <p:nvGrpSpPr>
            <p:cNvPr id="74" name="Google Shape;2789;p80">
              <a:extLst>
                <a:ext uri="{FF2B5EF4-FFF2-40B4-BE49-F238E27FC236}">
                  <a16:creationId xmlns:a16="http://schemas.microsoft.com/office/drawing/2014/main" id="{CC973613-6088-56C7-7061-C6BA1F3B703A}"/>
                </a:ext>
              </a:extLst>
            </p:cNvPr>
            <p:cNvGrpSpPr/>
            <p:nvPr/>
          </p:nvGrpSpPr>
          <p:grpSpPr>
            <a:xfrm>
              <a:off x="8154945" y="3626784"/>
              <a:ext cx="531774" cy="947522"/>
              <a:chOff x="1326710" y="4246688"/>
              <a:chExt cx="531774" cy="947522"/>
            </a:xfrm>
          </p:grpSpPr>
          <p:sp>
            <p:nvSpPr>
              <p:cNvPr id="82" name="Google Shape;2796;p80">
                <a:extLst>
                  <a:ext uri="{FF2B5EF4-FFF2-40B4-BE49-F238E27FC236}">
                    <a16:creationId xmlns:a16="http://schemas.microsoft.com/office/drawing/2014/main" id="{3F4F65E4-0926-47D0-4505-8D237DAD1FD0}"/>
                  </a:ext>
                </a:extLst>
              </p:cNvPr>
              <p:cNvSpPr/>
              <p:nvPr/>
            </p:nvSpPr>
            <p:spPr>
              <a:xfrm flipH="1">
                <a:off x="1498040" y="4594232"/>
                <a:ext cx="360444" cy="473304"/>
              </a:xfrm>
              <a:custGeom>
                <a:avLst/>
                <a:gdLst/>
                <a:ahLst/>
                <a:cxnLst/>
                <a:rect l="l" t="t" r="r" b="b"/>
                <a:pathLst>
                  <a:path w="276142" h="528520" extrusionOk="0">
                    <a:moveTo>
                      <a:pt x="0" y="495414"/>
                    </a:moveTo>
                    <a:lnTo>
                      <a:pt x="92697" y="284704"/>
                    </a:lnTo>
                    <a:lnTo>
                      <a:pt x="131645" y="56858"/>
                    </a:lnTo>
                    <a:cubicBezTo>
                      <a:pt x="139824" y="13625"/>
                      <a:pt x="185394" y="-11302"/>
                      <a:pt x="226289" y="5057"/>
                    </a:cubicBezTo>
                    <a:lnTo>
                      <a:pt x="276143" y="25310"/>
                    </a:lnTo>
                    <a:cubicBezTo>
                      <a:pt x="276143" y="25310"/>
                      <a:pt x="201362" y="289768"/>
                      <a:pt x="182277" y="328327"/>
                    </a:cubicBezTo>
                    <a:cubicBezTo>
                      <a:pt x="132813" y="408949"/>
                      <a:pt x="66602" y="528520"/>
                      <a:pt x="66602" y="528520"/>
                    </a:cubicBezTo>
                    <a:lnTo>
                      <a:pt x="0" y="495025"/>
                    </a:lnTo>
                    <a:close/>
                  </a:path>
                </a:pathLst>
              </a:custGeom>
              <a:solidFill>
                <a:srgbClr val="7F35B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grpSp>
            <p:nvGrpSpPr>
              <p:cNvPr id="85" name="Google Shape;2798;p80">
                <a:extLst>
                  <a:ext uri="{FF2B5EF4-FFF2-40B4-BE49-F238E27FC236}">
                    <a16:creationId xmlns:a16="http://schemas.microsoft.com/office/drawing/2014/main" id="{476EF967-46DB-70DF-EC4D-45BD27C9AAB4}"/>
                  </a:ext>
                </a:extLst>
              </p:cNvPr>
              <p:cNvGrpSpPr/>
              <p:nvPr/>
            </p:nvGrpSpPr>
            <p:grpSpPr>
              <a:xfrm flipH="1">
                <a:off x="1388659" y="4252449"/>
                <a:ext cx="246071" cy="372362"/>
                <a:chOff x="1935946" y="3808057"/>
                <a:chExt cx="188519" cy="285273"/>
              </a:xfrm>
            </p:grpSpPr>
            <p:sp>
              <p:nvSpPr>
                <p:cNvPr id="91" name="Google Shape;2799;p80">
                  <a:extLst>
                    <a:ext uri="{FF2B5EF4-FFF2-40B4-BE49-F238E27FC236}">
                      <a16:creationId xmlns:a16="http://schemas.microsoft.com/office/drawing/2014/main" id="{C632BC89-F181-C578-DF83-9B20006161D2}"/>
                    </a:ext>
                  </a:extLst>
                </p:cNvPr>
                <p:cNvSpPr/>
                <p:nvPr/>
              </p:nvSpPr>
              <p:spPr>
                <a:xfrm>
                  <a:off x="1981085" y="3943196"/>
                  <a:ext cx="124370" cy="150134"/>
                </a:xfrm>
                <a:custGeom>
                  <a:avLst/>
                  <a:gdLst/>
                  <a:ahLst/>
                  <a:cxnLst/>
                  <a:rect l="l" t="t" r="r" b="b"/>
                  <a:pathLst>
                    <a:path w="124370" h="150134" extrusionOk="0">
                      <a:moveTo>
                        <a:pt x="102044" y="149745"/>
                      </a:moveTo>
                      <a:cubicBezTo>
                        <a:pt x="102044" y="149745"/>
                        <a:pt x="83739" y="99891"/>
                        <a:pt x="118013" y="34069"/>
                      </a:cubicBezTo>
                      <a:cubicBezTo>
                        <a:pt x="155793" y="-38764"/>
                        <a:pt x="12853" y="27837"/>
                        <a:pt x="12853" y="27837"/>
                      </a:cubicBezTo>
                      <a:lnTo>
                        <a:pt x="0" y="140008"/>
                      </a:lnTo>
                      <a:lnTo>
                        <a:pt x="101655" y="150134"/>
                      </a:ln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 name="Google Shape;2800;p80">
                  <a:extLst>
                    <a:ext uri="{FF2B5EF4-FFF2-40B4-BE49-F238E27FC236}">
                      <a16:creationId xmlns:a16="http://schemas.microsoft.com/office/drawing/2014/main" id="{582AB653-734B-4ABD-3724-AD22167C2D0B}"/>
                    </a:ext>
                  </a:extLst>
                </p:cNvPr>
                <p:cNvSpPr/>
                <p:nvPr/>
              </p:nvSpPr>
              <p:spPr>
                <a:xfrm>
                  <a:off x="1935946" y="3817192"/>
                  <a:ext cx="177451" cy="206460"/>
                </a:xfrm>
                <a:custGeom>
                  <a:avLst/>
                  <a:gdLst/>
                  <a:ahLst/>
                  <a:cxnLst/>
                  <a:rect l="l" t="t" r="r" b="b"/>
                  <a:pathLst>
                    <a:path w="177451" h="206460" extrusionOk="0">
                      <a:moveTo>
                        <a:pt x="66171" y="205253"/>
                      </a:moveTo>
                      <a:lnTo>
                        <a:pt x="66171" y="205253"/>
                      </a:lnTo>
                      <a:cubicBezTo>
                        <a:pt x="19823" y="195516"/>
                        <a:pt x="-3157" y="177600"/>
                        <a:pt x="349" y="126967"/>
                      </a:cubicBezTo>
                      <a:lnTo>
                        <a:pt x="6580" y="74387"/>
                      </a:lnTo>
                      <a:cubicBezTo>
                        <a:pt x="16318" y="19470"/>
                        <a:pt x="62666" y="-7793"/>
                        <a:pt x="109014" y="1944"/>
                      </a:cubicBezTo>
                      <a:lnTo>
                        <a:pt x="109014" y="1944"/>
                      </a:lnTo>
                      <a:cubicBezTo>
                        <a:pt x="155363" y="11681"/>
                        <a:pt x="185353" y="57250"/>
                        <a:pt x="175616" y="103598"/>
                      </a:cubicBezTo>
                      <a:lnTo>
                        <a:pt x="164321" y="156957"/>
                      </a:lnTo>
                      <a:cubicBezTo>
                        <a:pt x="163152" y="162800"/>
                        <a:pt x="112909" y="214990"/>
                        <a:pt x="66561" y="205253"/>
                      </a:cubicBez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 name="Google Shape;2801;p80">
                  <a:extLst>
                    <a:ext uri="{FF2B5EF4-FFF2-40B4-BE49-F238E27FC236}">
                      <a16:creationId xmlns:a16="http://schemas.microsoft.com/office/drawing/2014/main" id="{C3774FE7-75B9-0FF2-3DEF-581B5591A0C7}"/>
                    </a:ext>
                  </a:extLst>
                </p:cNvPr>
                <p:cNvSpPr/>
                <p:nvPr/>
              </p:nvSpPr>
              <p:spPr>
                <a:xfrm>
                  <a:off x="1950389" y="3808057"/>
                  <a:ext cx="174076" cy="184787"/>
                </a:xfrm>
                <a:custGeom>
                  <a:avLst/>
                  <a:gdLst/>
                  <a:ahLst/>
                  <a:cxnLst/>
                  <a:rect l="l" t="t" r="r" b="b"/>
                  <a:pathLst>
                    <a:path w="174076" h="184787" extrusionOk="0">
                      <a:moveTo>
                        <a:pt x="3822" y="49637"/>
                      </a:moveTo>
                      <a:cubicBezTo>
                        <a:pt x="-6694" y="32111"/>
                        <a:pt x="5769" y="14584"/>
                        <a:pt x="25633" y="10300"/>
                      </a:cubicBezTo>
                      <a:cubicBezTo>
                        <a:pt x="48612" y="4847"/>
                        <a:pt x="75097" y="-4111"/>
                        <a:pt x="105087" y="2121"/>
                      </a:cubicBezTo>
                      <a:cubicBezTo>
                        <a:pt x="164288" y="14584"/>
                        <a:pt x="176752" y="67943"/>
                        <a:pt x="173636" y="95596"/>
                      </a:cubicBezTo>
                      <a:cubicBezTo>
                        <a:pt x="169741" y="131428"/>
                        <a:pt x="140919" y="184787"/>
                        <a:pt x="140919" y="184787"/>
                      </a:cubicBezTo>
                      <a:lnTo>
                        <a:pt x="100413" y="176219"/>
                      </a:lnTo>
                      <a:cubicBezTo>
                        <a:pt x="89897" y="173882"/>
                        <a:pt x="82497" y="164145"/>
                        <a:pt x="82887" y="153629"/>
                      </a:cubicBezTo>
                      <a:lnTo>
                        <a:pt x="84055" y="131428"/>
                      </a:lnTo>
                      <a:lnTo>
                        <a:pt x="47054" y="110396"/>
                      </a:lnTo>
                      <a:lnTo>
                        <a:pt x="51728" y="84691"/>
                      </a:lnTo>
                      <a:cubicBezTo>
                        <a:pt x="54065" y="73006"/>
                        <a:pt x="53286" y="53143"/>
                        <a:pt x="30307" y="52364"/>
                      </a:cubicBezTo>
                      <a:lnTo>
                        <a:pt x="4211" y="50027"/>
                      </a:lnTo>
                      <a:lnTo>
                        <a:pt x="4211" y="50027"/>
                      </a:lnTo>
                      <a:close/>
                    </a:path>
                  </a:pathLst>
                </a:custGeom>
                <a:solidFill>
                  <a:srgbClr val="4A469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 name="Google Shape;2802;p80">
                  <a:extLst>
                    <a:ext uri="{FF2B5EF4-FFF2-40B4-BE49-F238E27FC236}">
                      <a16:creationId xmlns:a16="http://schemas.microsoft.com/office/drawing/2014/main" id="{AA74806D-82A1-7BCF-5E25-694475BE30D4}"/>
                    </a:ext>
                  </a:extLst>
                </p:cNvPr>
                <p:cNvSpPr/>
                <p:nvPr/>
              </p:nvSpPr>
              <p:spPr>
                <a:xfrm rot="-4692000">
                  <a:off x="1989857" y="3920792"/>
                  <a:ext cx="56085" cy="41285"/>
                </a:xfrm>
                <a:custGeom>
                  <a:avLst/>
                  <a:gdLst/>
                  <a:ahLst/>
                  <a:cxnLst/>
                  <a:rect l="l" t="t" r="r" b="b"/>
                  <a:pathLst>
                    <a:path w="56085" h="41285" extrusionOk="0">
                      <a:moveTo>
                        <a:pt x="56085" y="20642"/>
                      </a:moveTo>
                      <a:cubicBezTo>
                        <a:pt x="56085" y="32043"/>
                        <a:pt x="43530" y="41285"/>
                        <a:pt x="28042" y="41285"/>
                      </a:cubicBezTo>
                      <a:cubicBezTo>
                        <a:pt x="12555" y="41285"/>
                        <a:pt x="0" y="32043"/>
                        <a:pt x="0" y="20642"/>
                      </a:cubicBezTo>
                      <a:cubicBezTo>
                        <a:pt x="0" y="9242"/>
                        <a:pt x="12555" y="0"/>
                        <a:pt x="28042" y="0"/>
                      </a:cubicBezTo>
                      <a:cubicBezTo>
                        <a:pt x="43530" y="0"/>
                        <a:pt x="56085" y="9242"/>
                        <a:pt x="56085" y="20642"/>
                      </a:cubicBez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8" name="Google Shape;2803;p80">
                <a:extLst>
                  <a:ext uri="{FF2B5EF4-FFF2-40B4-BE49-F238E27FC236}">
                    <a16:creationId xmlns:a16="http://schemas.microsoft.com/office/drawing/2014/main" id="{F376A754-9502-B6F2-6E51-369AE9F9B9FE}"/>
                  </a:ext>
                </a:extLst>
              </p:cNvPr>
              <p:cNvSpPr/>
              <p:nvPr/>
            </p:nvSpPr>
            <p:spPr>
              <a:xfrm flipH="1">
                <a:off x="1423296" y="4246688"/>
                <a:ext cx="224985" cy="141189"/>
              </a:xfrm>
              <a:custGeom>
                <a:avLst/>
                <a:gdLst/>
                <a:ahLst/>
                <a:cxnLst/>
                <a:rect l="l" t="t" r="r" b="b"/>
                <a:pathLst>
                  <a:path w="172365" h="108167" extrusionOk="0">
                    <a:moveTo>
                      <a:pt x="172366" y="33777"/>
                    </a:moveTo>
                    <a:cubicBezTo>
                      <a:pt x="172366" y="33777"/>
                      <a:pt x="150165" y="3787"/>
                      <a:pt x="129912" y="1450"/>
                    </a:cubicBezTo>
                    <a:cubicBezTo>
                      <a:pt x="78890" y="-4003"/>
                      <a:pt x="994" y="7682"/>
                      <a:pt x="994" y="7682"/>
                    </a:cubicBezTo>
                    <a:cubicBezTo>
                      <a:pt x="994" y="7682"/>
                      <a:pt x="-9133" y="64156"/>
                      <a:pt x="35268" y="86357"/>
                    </a:cubicBezTo>
                    <a:cubicBezTo>
                      <a:pt x="63311" y="86746"/>
                      <a:pt x="78890" y="108168"/>
                      <a:pt x="78890" y="108168"/>
                    </a:cubicBezTo>
                    <a:lnTo>
                      <a:pt x="172366" y="33387"/>
                    </a:lnTo>
                    <a:close/>
                  </a:path>
                </a:pathLst>
              </a:custGeom>
              <a:solidFill>
                <a:srgbClr val="4A469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9" name="Google Shape;2805;p80">
                <a:extLst>
                  <a:ext uri="{FF2B5EF4-FFF2-40B4-BE49-F238E27FC236}">
                    <a16:creationId xmlns:a16="http://schemas.microsoft.com/office/drawing/2014/main" id="{A80DDBCA-F73F-36EB-7EDA-2AAA81656F73}"/>
                  </a:ext>
                </a:extLst>
              </p:cNvPr>
              <p:cNvSpPr/>
              <p:nvPr/>
            </p:nvSpPr>
            <p:spPr>
              <a:xfrm flipH="1">
                <a:off x="1408552" y="4562252"/>
                <a:ext cx="187593" cy="69139"/>
              </a:xfrm>
              <a:custGeom>
                <a:avLst/>
                <a:gdLst/>
                <a:ahLst/>
                <a:cxnLst/>
                <a:rect l="l" t="t" r="r" b="b"/>
                <a:pathLst>
                  <a:path w="143718" h="52969" extrusionOk="0">
                    <a:moveTo>
                      <a:pt x="143719" y="52970"/>
                    </a:moveTo>
                    <a:lnTo>
                      <a:pt x="136319" y="3895"/>
                    </a:lnTo>
                    <a:lnTo>
                      <a:pt x="8179" y="0"/>
                    </a:lnTo>
                    <a:lnTo>
                      <a:pt x="0" y="44790"/>
                    </a:lnTo>
                    <a:lnTo>
                      <a:pt x="143719" y="52970"/>
                    </a:lnTo>
                    <a:close/>
                  </a:path>
                </a:pathLst>
              </a:custGeom>
              <a:solidFill>
                <a:srgbClr val="E5D2F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0" name="Google Shape;2806;p80">
                <a:extLst>
                  <a:ext uri="{FF2B5EF4-FFF2-40B4-BE49-F238E27FC236}">
                    <a16:creationId xmlns:a16="http://schemas.microsoft.com/office/drawing/2014/main" id="{14F40E08-55E5-943D-B329-E595CEA10119}"/>
                  </a:ext>
                </a:extLst>
              </p:cNvPr>
              <p:cNvSpPr/>
              <p:nvPr/>
            </p:nvSpPr>
            <p:spPr>
              <a:xfrm>
                <a:off x="1326710" y="4582588"/>
                <a:ext cx="382814" cy="611622"/>
              </a:xfrm>
              <a:custGeom>
                <a:avLst/>
                <a:gdLst/>
                <a:ahLst/>
                <a:cxnLst/>
                <a:rect l="l" t="t" r="r" b="b"/>
                <a:pathLst>
                  <a:path w="437518" h="699025" extrusionOk="0">
                    <a:moveTo>
                      <a:pt x="249835" y="0"/>
                    </a:moveTo>
                    <a:lnTo>
                      <a:pt x="386378" y="31376"/>
                    </a:lnTo>
                    <a:cubicBezTo>
                      <a:pt x="386378" y="31376"/>
                      <a:pt x="412623" y="346778"/>
                      <a:pt x="434366" y="616748"/>
                    </a:cubicBezTo>
                    <a:lnTo>
                      <a:pt x="437518" y="656137"/>
                    </a:lnTo>
                    <a:lnTo>
                      <a:pt x="423858" y="663551"/>
                    </a:lnTo>
                    <a:cubicBezTo>
                      <a:pt x="369851" y="686394"/>
                      <a:pt x="310474" y="699025"/>
                      <a:pt x="248147" y="699025"/>
                    </a:cubicBezTo>
                    <a:cubicBezTo>
                      <a:pt x="185820" y="699025"/>
                      <a:pt x="126443" y="686394"/>
                      <a:pt x="72437" y="663551"/>
                    </a:cubicBezTo>
                    <a:lnTo>
                      <a:pt x="31994" y="641600"/>
                    </a:lnTo>
                    <a:lnTo>
                      <a:pt x="570" y="194066"/>
                    </a:lnTo>
                    <a:cubicBezTo>
                      <a:pt x="-5820" y="104587"/>
                      <a:pt x="42404" y="32538"/>
                      <a:pt x="101671" y="17430"/>
                    </a:cubicBezTo>
                    <a:lnTo>
                      <a:pt x="101089" y="18013"/>
                    </a:lnTo>
                    <a:lnTo>
                      <a:pt x="132465" y="47064"/>
                    </a:lnTo>
                    <a:close/>
                  </a:path>
                </a:pathLst>
              </a:custGeom>
              <a:solidFill>
                <a:srgbClr val="7F35B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41032"/>
                  </a:solidFill>
                  <a:latin typeface="Arial"/>
                  <a:ea typeface="Arial"/>
                  <a:cs typeface="Arial"/>
                  <a:sym typeface="Arial"/>
                </a:endParaRPr>
              </a:p>
            </p:txBody>
          </p:sp>
        </p:grpSp>
      </p:grpSp>
    </p:spTree>
    <p:extLst>
      <p:ext uri="{BB962C8B-B14F-4D97-AF65-F5344CB8AC3E}">
        <p14:creationId xmlns:p14="http://schemas.microsoft.com/office/powerpoint/2010/main" val="2755422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par>
                                <p:cTn id="21" presetID="10"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par>
                                <p:cTn id="29" presetID="10"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fade">
                                      <p:cBhvr>
                                        <p:cTn id="39" dur="500"/>
                                        <p:tgtEl>
                                          <p:spTgt spid="4"/>
                                        </p:tgtEl>
                                      </p:cBhvr>
                                    </p:animEffect>
                                  </p:childTnLst>
                                </p:cTn>
                              </p:par>
                            </p:childTnLst>
                          </p:cTn>
                        </p:par>
                        <p:par>
                          <p:cTn id="40" fill="hold">
                            <p:stCondLst>
                              <p:cond delay="1500"/>
                            </p:stCondLst>
                            <p:childTnLst>
                              <p:par>
                                <p:cTn id="41" presetID="10" presetClass="entr" presetSubtype="0" fill="hold" nodeType="afterEffect">
                                  <p:stCondLst>
                                    <p:cond delay="0"/>
                                  </p:stCondLst>
                                  <p:childTnLst>
                                    <p:set>
                                      <p:cBhvr>
                                        <p:cTn id="42" dur="1" fill="hold">
                                          <p:stCondLst>
                                            <p:cond delay="0"/>
                                          </p:stCondLst>
                                        </p:cTn>
                                        <p:tgtEl>
                                          <p:spTgt spid="67"/>
                                        </p:tgtEl>
                                        <p:attrNameLst>
                                          <p:attrName>style.visibility</p:attrName>
                                        </p:attrNameLst>
                                      </p:cBhvr>
                                      <p:to>
                                        <p:strVal val="visible"/>
                                      </p:to>
                                    </p:set>
                                    <p:animEffect transition="in" filter="fade">
                                      <p:cBhvr>
                                        <p:cTn id="43" dur="500"/>
                                        <p:tgtEl>
                                          <p:spTgt spid="67"/>
                                        </p:tgtEl>
                                      </p:cBhvr>
                                    </p:animEffect>
                                  </p:childTnLst>
                                </p:cTn>
                              </p:par>
                            </p:childTnLst>
                          </p:cTn>
                        </p:par>
                        <p:par>
                          <p:cTn id="44" fill="hold">
                            <p:stCondLst>
                              <p:cond delay="2000"/>
                            </p:stCondLst>
                            <p:childTnLst>
                              <p:par>
                                <p:cTn id="45" presetID="8" presetClass="emph" presetSubtype="0" fill="hold" nodeType="afterEffect">
                                  <p:stCondLst>
                                    <p:cond delay="0"/>
                                  </p:stCondLst>
                                  <p:childTnLst>
                                    <p:animRot by="21600000">
                                      <p:cBhvr>
                                        <p:cTn id="46" dur="2000" fill="hold"/>
                                        <p:tgtEl>
                                          <p:spTgt spid="72"/>
                                        </p:tgtEl>
                                        <p:attrNameLst>
                                          <p:attrName>r</p:attrName>
                                        </p:attrNameLst>
                                      </p:cBhvr>
                                    </p:animRot>
                                  </p:childTnLst>
                                </p:cTn>
                              </p:par>
                            </p:childTnLst>
                          </p:cTn>
                        </p:par>
                        <p:par>
                          <p:cTn id="47" fill="hold">
                            <p:stCondLst>
                              <p:cond delay="4000"/>
                            </p:stCondLst>
                            <p:childTnLst>
                              <p:par>
                                <p:cTn id="48" presetID="22" presetClass="entr" presetSubtype="4" fill="hold" nodeType="after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down)">
                                      <p:cBhvr>
                                        <p:cTn id="5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EAC9C-E468-9407-21E9-819132B83069}"/>
            </a:ext>
          </a:extLst>
        </p:cNvPr>
        <p:cNvGrpSpPr/>
        <p:nvPr/>
      </p:nvGrpSpPr>
      <p:grpSpPr>
        <a:xfrm>
          <a:off x="0" y="0"/>
          <a:ext cx="0" cy="0"/>
          <a:chOff x="0" y="0"/>
          <a:chExt cx="0" cy="0"/>
        </a:xfrm>
      </p:grpSpPr>
      <p:sp>
        <p:nvSpPr>
          <p:cNvPr id="66" name="Rounded Rectangle 65">
            <a:extLst>
              <a:ext uri="{FF2B5EF4-FFF2-40B4-BE49-F238E27FC236}">
                <a16:creationId xmlns:a16="http://schemas.microsoft.com/office/drawing/2014/main" id="{85D59843-295B-1145-DC9A-F66BF6A14ED3}"/>
              </a:ext>
            </a:extLst>
          </p:cNvPr>
          <p:cNvSpPr/>
          <p:nvPr/>
        </p:nvSpPr>
        <p:spPr bwMode="gray">
          <a:xfrm>
            <a:off x="6479" y="1611780"/>
            <a:ext cx="8133399" cy="4572000"/>
          </a:xfrm>
          <a:prstGeom prst="roundRect">
            <a:avLst>
              <a:gd name="adj" fmla="val 0"/>
            </a:avLst>
          </a:prstGeom>
          <a:solidFill>
            <a:srgbClr val="F4F8FA"/>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10" name="Google Shape;3807;p31">
            <a:extLst>
              <a:ext uri="{FF2B5EF4-FFF2-40B4-BE49-F238E27FC236}">
                <a16:creationId xmlns:a16="http://schemas.microsoft.com/office/drawing/2014/main" id="{598FA780-681F-12DB-7C8D-EFA724434074}"/>
              </a:ext>
            </a:extLst>
          </p:cNvPr>
          <p:cNvSpPr/>
          <p:nvPr/>
        </p:nvSpPr>
        <p:spPr>
          <a:xfrm>
            <a:off x="606342" y="1750219"/>
            <a:ext cx="7405481" cy="4295951"/>
          </a:xfrm>
          <a:prstGeom prst="roundRect">
            <a:avLst>
              <a:gd name="adj" fmla="val 2790"/>
            </a:avLst>
          </a:prstGeom>
          <a:solidFill>
            <a:schemeClr val="bg1"/>
          </a:solid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200" b="0" i="0" u="none" strike="noStrike" kern="1200" cap="none" spc="0" normalizeH="0" baseline="0" noProof="0" dirty="0">
                <a:ln>
                  <a:noFill/>
                </a:ln>
                <a:solidFill>
                  <a:srgbClr val="FFFFFF"/>
                </a:solidFill>
                <a:effectLst/>
                <a:uLnTx/>
                <a:uFillTx/>
                <a:latin typeface="Arial"/>
                <a:ea typeface="Arial"/>
                <a:cs typeface="Arial"/>
                <a:sym typeface="Arial"/>
              </a:rPr>
              <a:t>V\</a:t>
            </a: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 name="Title 1">
            <a:extLst>
              <a:ext uri="{FF2B5EF4-FFF2-40B4-BE49-F238E27FC236}">
                <a16:creationId xmlns:a16="http://schemas.microsoft.com/office/drawing/2014/main" id="{3090DE50-AC95-24D7-2D2F-023DDB64788D}"/>
              </a:ext>
            </a:extLst>
          </p:cNvPr>
          <p:cNvSpPr>
            <a:spLocks noGrp="1"/>
          </p:cNvSpPr>
          <p:nvPr>
            <p:ph type="title"/>
          </p:nvPr>
        </p:nvSpPr>
        <p:spPr>
          <a:xfrm>
            <a:off x="579809" y="412751"/>
            <a:ext cx="11001004" cy="381000"/>
          </a:xfrm>
        </p:spPr>
        <p:txBody>
          <a:bodyPr/>
          <a:lstStyle/>
          <a:p>
            <a:r>
              <a:rPr lang="en-US" dirty="0"/>
              <a:t>Deployment Pathways to Suit a Variety of Use Cases</a:t>
            </a:r>
          </a:p>
        </p:txBody>
      </p:sp>
      <p:sp>
        <p:nvSpPr>
          <p:cNvPr id="3" name="Subtitle 2">
            <a:extLst>
              <a:ext uri="{FF2B5EF4-FFF2-40B4-BE49-F238E27FC236}">
                <a16:creationId xmlns:a16="http://schemas.microsoft.com/office/drawing/2014/main" id="{CBE0FE30-E32D-915E-1B79-529A6A6A53B0}"/>
              </a:ext>
            </a:extLst>
          </p:cNvPr>
          <p:cNvSpPr>
            <a:spLocks noGrp="1"/>
          </p:cNvSpPr>
          <p:nvPr>
            <p:ph type="subTitle" idx="10"/>
          </p:nvPr>
        </p:nvSpPr>
        <p:spPr>
          <a:xfrm>
            <a:off x="592866" y="811830"/>
            <a:ext cx="10962687" cy="247743"/>
          </a:xfrm>
        </p:spPr>
        <p:txBody>
          <a:bodyPr/>
          <a:lstStyle/>
          <a:p>
            <a:r>
              <a:rPr lang="en-US" dirty="0"/>
              <a:t>VMware Cloud Foundation deployment workflows from the VCF Installer </a:t>
            </a:r>
          </a:p>
        </p:txBody>
      </p:sp>
      <p:sp>
        <p:nvSpPr>
          <p:cNvPr id="4" name="Text Placeholder 3">
            <a:extLst>
              <a:ext uri="{FF2B5EF4-FFF2-40B4-BE49-F238E27FC236}">
                <a16:creationId xmlns:a16="http://schemas.microsoft.com/office/drawing/2014/main" id="{D2846317-E304-9590-975C-BDED02A5FA36}"/>
              </a:ext>
            </a:extLst>
          </p:cNvPr>
          <p:cNvSpPr>
            <a:spLocks noGrp="1"/>
          </p:cNvSpPr>
          <p:nvPr>
            <p:ph type="body" sz="quarter" idx="17"/>
          </p:nvPr>
        </p:nvSpPr>
        <p:spPr>
          <a:xfrm>
            <a:off x="8380413" y="1600200"/>
            <a:ext cx="3808412" cy="4572000"/>
          </a:xfrm>
        </p:spPr>
        <p:txBody>
          <a:bodyPr/>
          <a:lstStyle/>
          <a:p>
            <a:r>
              <a:rPr lang="en-US" dirty="0">
                <a:solidFill>
                  <a:schemeClr val="tx1"/>
                </a:solidFill>
              </a:rPr>
              <a:t>VCF Installer Appliance:</a:t>
            </a:r>
          </a:p>
          <a:p>
            <a:r>
              <a:rPr lang="en-US" b="1" dirty="0"/>
              <a:t>Deploy</a:t>
            </a:r>
            <a:r>
              <a:rPr lang="en-US" dirty="0"/>
              <a:t> a new VCF Fleet or </a:t>
            </a:r>
            <a:r>
              <a:rPr lang="en-US" b="1" dirty="0"/>
              <a:t>Expand</a:t>
            </a:r>
            <a:r>
              <a:rPr lang="en-US" dirty="0"/>
              <a:t> an existing VCF Fleet </a:t>
            </a:r>
          </a:p>
          <a:p>
            <a:pPr lvl="1"/>
            <a:r>
              <a:rPr lang="en-US" dirty="0"/>
              <a:t>vSphere with / without vSAN</a:t>
            </a:r>
          </a:p>
          <a:p>
            <a:pPr lvl="1"/>
            <a:r>
              <a:rPr lang="en-US" dirty="0"/>
              <a:t>VCF Networking (NSX)</a:t>
            </a:r>
          </a:p>
          <a:p>
            <a:pPr lvl="1"/>
            <a:r>
              <a:rPr lang="en-US" dirty="0"/>
              <a:t>VCF Operations</a:t>
            </a:r>
          </a:p>
          <a:p>
            <a:pPr lvl="1"/>
            <a:r>
              <a:rPr lang="en-US" dirty="0"/>
              <a:t>VCF Automation</a:t>
            </a:r>
          </a:p>
          <a:p>
            <a:r>
              <a:rPr lang="en-US" b="1" dirty="0"/>
              <a:t>Converge</a:t>
            </a:r>
            <a:r>
              <a:rPr lang="en-US" dirty="0"/>
              <a:t> an existing vCenter deployment to VCF</a:t>
            </a:r>
          </a:p>
          <a:p>
            <a:pPr lvl="1"/>
            <a:r>
              <a:rPr lang="en-US" dirty="0"/>
              <a:t>vSphere with / without vSAN</a:t>
            </a:r>
          </a:p>
          <a:p>
            <a:pPr lvl="1"/>
            <a:r>
              <a:rPr lang="en-US" dirty="0"/>
              <a:t>VCF Operations</a:t>
            </a:r>
          </a:p>
          <a:p>
            <a:pPr lvl="1"/>
            <a:r>
              <a:rPr lang="en-US" dirty="0"/>
              <a:t>VCF Automation</a:t>
            </a:r>
            <a:endParaRPr lang="en-US" dirty="0">
              <a:solidFill>
                <a:schemeClr val="tx1"/>
              </a:solidFill>
            </a:endParaRPr>
          </a:p>
          <a:p>
            <a:endParaRPr lang="en-US" dirty="0"/>
          </a:p>
        </p:txBody>
      </p:sp>
      <p:sp>
        <p:nvSpPr>
          <p:cNvPr id="208" name="Google Shape;3136;p19">
            <a:extLst>
              <a:ext uri="{FF2B5EF4-FFF2-40B4-BE49-F238E27FC236}">
                <a16:creationId xmlns:a16="http://schemas.microsoft.com/office/drawing/2014/main" id="{E9DB8916-3A9D-EF32-F34A-3254E19EF5BC}"/>
              </a:ext>
            </a:extLst>
          </p:cNvPr>
          <p:cNvSpPr txBox="1"/>
          <p:nvPr/>
        </p:nvSpPr>
        <p:spPr>
          <a:xfrm>
            <a:off x="813167" y="1822322"/>
            <a:ext cx="1013400" cy="2862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30000"/>
              </a:lnSpc>
              <a:spcBef>
                <a:spcPts val="0"/>
              </a:spcBef>
              <a:spcAft>
                <a:spcPts val="0"/>
              </a:spcAft>
              <a:buClr>
                <a:srgbClr val="000000"/>
              </a:buClr>
              <a:buSzPts val="1000"/>
              <a:buFont typeface="Arial"/>
              <a:buNone/>
              <a:tabLst/>
              <a:defRPr/>
            </a:pPr>
            <a:r>
              <a:rPr kumimoji="0" lang="en-US" sz="1000" b="1" i="0" u="none" strike="noStrike" kern="1200" cap="none" spc="0" normalizeH="0" baseline="0" noProof="0" dirty="0">
                <a:ln>
                  <a:noFill/>
                </a:ln>
                <a:solidFill>
                  <a:srgbClr val="000000"/>
                </a:solidFill>
                <a:effectLst/>
                <a:uLnTx/>
                <a:uFillTx/>
                <a:latin typeface="Arial" panose="020B0604020202020204" pitchFamily="34" charset="0"/>
                <a:ea typeface="Arial"/>
                <a:cs typeface="Arial" panose="020B0604020202020204" pitchFamily="34" charset="0"/>
                <a:sym typeface="Arial"/>
              </a:rPr>
              <a:t>VCF 9.0</a:t>
            </a:r>
            <a:endParaRPr kumimoji="0" sz="1000" b="1" i="0" u="none" strike="noStrike" kern="1200" cap="none" spc="0" normalizeH="0" baseline="0" noProof="0" dirty="0">
              <a:ln>
                <a:noFill/>
              </a:ln>
              <a:solidFill>
                <a:srgbClr val="000000"/>
              </a:solidFill>
              <a:effectLst/>
              <a:uLnTx/>
              <a:uFillTx/>
              <a:latin typeface="Arial" panose="020B0604020202020204" pitchFamily="34" charset="0"/>
              <a:ea typeface="Arial"/>
              <a:cs typeface="Arial" panose="020B0604020202020204" pitchFamily="34" charset="0"/>
              <a:sym typeface="Arial"/>
            </a:endParaRPr>
          </a:p>
        </p:txBody>
      </p:sp>
      <p:grpSp>
        <p:nvGrpSpPr>
          <p:cNvPr id="163" name="Group 162">
            <a:extLst>
              <a:ext uri="{FF2B5EF4-FFF2-40B4-BE49-F238E27FC236}">
                <a16:creationId xmlns:a16="http://schemas.microsoft.com/office/drawing/2014/main" id="{59DA06BA-5E2D-DF15-45F0-2F66A8ECC956}"/>
              </a:ext>
            </a:extLst>
          </p:cNvPr>
          <p:cNvGrpSpPr/>
          <p:nvPr/>
        </p:nvGrpSpPr>
        <p:grpSpPr>
          <a:xfrm>
            <a:off x="2370193" y="1936000"/>
            <a:ext cx="2920016" cy="2200971"/>
            <a:chOff x="2287897" y="1936000"/>
            <a:chExt cx="2920016" cy="2200971"/>
          </a:xfrm>
        </p:grpSpPr>
        <p:grpSp>
          <p:nvGrpSpPr>
            <p:cNvPr id="141" name="Group 140">
              <a:extLst>
                <a:ext uri="{FF2B5EF4-FFF2-40B4-BE49-F238E27FC236}">
                  <a16:creationId xmlns:a16="http://schemas.microsoft.com/office/drawing/2014/main" id="{0075C4DA-548B-CE55-FAE8-787EB814A21C}"/>
                </a:ext>
              </a:extLst>
            </p:cNvPr>
            <p:cNvGrpSpPr/>
            <p:nvPr/>
          </p:nvGrpSpPr>
          <p:grpSpPr>
            <a:xfrm>
              <a:off x="2287897" y="1936000"/>
              <a:ext cx="2516941" cy="2200971"/>
              <a:chOff x="2287897" y="1936000"/>
              <a:chExt cx="2516941" cy="2200971"/>
            </a:xfrm>
          </p:grpSpPr>
          <p:sp>
            <p:nvSpPr>
              <p:cNvPr id="129" name="Rounded Rectangle 128">
                <a:extLst>
                  <a:ext uri="{FF2B5EF4-FFF2-40B4-BE49-F238E27FC236}">
                    <a16:creationId xmlns:a16="http://schemas.microsoft.com/office/drawing/2014/main" id="{C31876B7-56A0-82DF-795D-87CEB979988C}"/>
                  </a:ext>
                </a:extLst>
              </p:cNvPr>
              <p:cNvSpPr/>
              <p:nvPr/>
            </p:nvSpPr>
            <p:spPr bwMode="gray">
              <a:xfrm>
                <a:off x="2321634" y="2894572"/>
                <a:ext cx="2401031" cy="892606"/>
              </a:xfrm>
              <a:prstGeom prst="roundRect">
                <a:avLst>
                  <a:gd name="adj" fmla="val 4279"/>
                </a:avLst>
              </a:prstGeom>
              <a:noFill/>
              <a:ln w="28575">
                <a:solidFill>
                  <a:schemeClr val="accent4"/>
                </a:solidFill>
                <a:prstDash val="sysDot"/>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39" name="Rectangle 138">
                <a:extLst>
                  <a:ext uri="{FF2B5EF4-FFF2-40B4-BE49-F238E27FC236}">
                    <a16:creationId xmlns:a16="http://schemas.microsoft.com/office/drawing/2014/main" id="{A1D8837C-045C-C39E-B403-F883A0B2107F}"/>
                  </a:ext>
                </a:extLst>
              </p:cNvPr>
              <p:cNvSpPr/>
              <p:nvPr/>
            </p:nvSpPr>
            <p:spPr bwMode="gray">
              <a:xfrm>
                <a:off x="2287897" y="1936000"/>
                <a:ext cx="2516941" cy="1120531"/>
              </a:xfrm>
              <a:prstGeom prst="rect">
                <a:avLst/>
              </a:prstGeom>
              <a:solidFill>
                <a:schemeClr val="bg1"/>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133" name="Group 132">
                <a:extLst>
                  <a:ext uri="{FF2B5EF4-FFF2-40B4-BE49-F238E27FC236}">
                    <a16:creationId xmlns:a16="http://schemas.microsoft.com/office/drawing/2014/main" id="{EF6A9A74-7C8D-6B22-2AC7-E04F160DE39A}"/>
                  </a:ext>
                </a:extLst>
              </p:cNvPr>
              <p:cNvGrpSpPr/>
              <p:nvPr/>
            </p:nvGrpSpPr>
            <p:grpSpPr>
              <a:xfrm>
                <a:off x="2482522" y="3579952"/>
                <a:ext cx="277179" cy="553015"/>
                <a:chOff x="5086390" y="2966073"/>
                <a:chExt cx="365757" cy="671971"/>
              </a:xfrm>
            </p:grpSpPr>
            <p:sp>
              <p:nvSpPr>
                <p:cNvPr id="134" name="Rectangle 133">
                  <a:extLst>
                    <a:ext uri="{FF2B5EF4-FFF2-40B4-BE49-F238E27FC236}">
                      <a16:creationId xmlns:a16="http://schemas.microsoft.com/office/drawing/2014/main" id="{07456D1F-192A-B283-D8AC-7968199CDEA3}"/>
                    </a:ext>
                  </a:extLst>
                </p:cNvPr>
                <p:cNvSpPr/>
                <p:nvPr/>
              </p:nvSpPr>
              <p:spPr bwMode="gray">
                <a:xfrm>
                  <a:off x="5086390" y="2966073"/>
                  <a:ext cx="365757" cy="671971"/>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135" name="Google Shape;4238;p22">
                  <a:extLst>
                    <a:ext uri="{FF2B5EF4-FFF2-40B4-BE49-F238E27FC236}">
                      <a16:creationId xmlns:a16="http://schemas.microsoft.com/office/drawing/2014/main" id="{D903185D-9534-31CF-45A8-D70D9E2C1780}"/>
                    </a:ext>
                  </a:extLst>
                </p:cNvPr>
                <p:cNvGrpSpPr/>
                <p:nvPr/>
              </p:nvGrpSpPr>
              <p:grpSpPr>
                <a:xfrm rot="5400000">
                  <a:off x="5138879" y="3045536"/>
                  <a:ext cx="263426" cy="352707"/>
                  <a:chOff x="6916991" y="3506885"/>
                  <a:chExt cx="283390" cy="388080"/>
                </a:xfrm>
              </p:grpSpPr>
              <p:sp>
                <p:nvSpPr>
                  <p:cNvPr id="136" name="Google Shape;4239;p22">
                    <a:extLst>
                      <a:ext uri="{FF2B5EF4-FFF2-40B4-BE49-F238E27FC236}">
                        <a16:creationId xmlns:a16="http://schemas.microsoft.com/office/drawing/2014/main" id="{D064A2F7-90B7-971A-AADD-7B3756F8B886}"/>
                      </a:ext>
                    </a:extLst>
                  </p:cNvPr>
                  <p:cNvSpPr/>
                  <p:nvPr/>
                </p:nvSpPr>
                <p:spPr>
                  <a:xfrm rot="16200000">
                    <a:off x="6977257" y="3671873"/>
                    <a:ext cx="162826" cy="283357"/>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4">
                      <a:alpha val="24705"/>
                    </a:schemeClr>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37" name="Google Shape;4240;p22">
                    <a:extLst>
                      <a:ext uri="{FF2B5EF4-FFF2-40B4-BE49-F238E27FC236}">
                        <a16:creationId xmlns:a16="http://schemas.microsoft.com/office/drawing/2014/main" id="{EB54BC46-0D43-E920-2C5C-A8173A88B816}"/>
                      </a:ext>
                    </a:extLst>
                  </p:cNvPr>
                  <p:cNvSpPr/>
                  <p:nvPr/>
                </p:nvSpPr>
                <p:spPr>
                  <a:xfrm rot="16200000">
                    <a:off x="6977262" y="3559244"/>
                    <a:ext cx="162826" cy="283359"/>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4">
                      <a:alpha val="49803"/>
                    </a:schemeClr>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38" name="Google Shape;4241;p22">
                    <a:extLst>
                      <a:ext uri="{FF2B5EF4-FFF2-40B4-BE49-F238E27FC236}">
                        <a16:creationId xmlns:a16="http://schemas.microsoft.com/office/drawing/2014/main" id="{318DDDB4-E056-AE09-8BF8-393F5596257D}"/>
                      </a:ext>
                    </a:extLst>
                  </p:cNvPr>
                  <p:cNvSpPr/>
                  <p:nvPr/>
                </p:nvSpPr>
                <p:spPr>
                  <a:xfrm rot="16200000">
                    <a:off x="6977289" y="3446619"/>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4"/>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grpSp>
          </p:grpSp>
          <p:sp>
            <p:nvSpPr>
              <p:cNvPr id="63" name="Google Shape;4237;p22">
                <a:extLst>
                  <a:ext uri="{FF2B5EF4-FFF2-40B4-BE49-F238E27FC236}">
                    <a16:creationId xmlns:a16="http://schemas.microsoft.com/office/drawing/2014/main" id="{75E83AE0-1004-E226-E59F-D1DE3ADDE1D5}"/>
                  </a:ext>
                </a:extLst>
              </p:cNvPr>
              <p:cNvSpPr txBox="1"/>
              <p:nvPr/>
            </p:nvSpPr>
            <p:spPr>
              <a:xfrm>
                <a:off x="2290408" y="3887495"/>
                <a:ext cx="1326177" cy="249476"/>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panose="020B0604020202020204"/>
                    <a:ea typeface="+mn-ea"/>
                    <a:cs typeface="Arial"/>
                    <a:sym typeface="Arial"/>
                  </a:rPr>
                  <a:t>New / Expanded VCF Fleet</a:t>
                </a:r>
                <a:endParaRPr kumimoji="0" sz="800" b="0" i="0" u="none" strike="noStrike" kern="0" cap="none" spc="0" normalizeH="0" baseline="0" noProof="0" dirty="0">
                  <a:ln>
                    <a:noFill/>
                  </a:ln>
                  <a:solidFill>
                    <a:srgbClr val="000000"/>
                  </a:solidFill>
                  <a:effectLst/>
                  <a:uLnTx/>
                  <a:uFillTx/>
                  <a:latin typeface="Arial" panose="020B0604020202020204"/>
                  <a:ea typeface="+mn-ea"/>
                  <a:cs typeface="Arial"/>
                  <a:sym typeface="Arial"/>
                </a:endParaRPr>
              </a:p>
            </p:txBody>
          </p:sp>
        </p:grpSp>
        <p:sp>
          <p:nvSpPr>
            <p:cNvPr id="142" name="Rectangle 141">
              <a:extLst>
                <a:ext uri="{FF2B5EF4-FFF2-40B4-BE49-F238E27FC236}">
                  <a16:creationId xmlns:a16="http://schemas.microsoft.com/office/drawing/2014/main" id="{1AC896BC-1073-9917-B2BD-CD9F18179596}"/>
                </a:ext>
              </a:extLst>
            </p:cNvPr>
            <p:cNvSpPr/>
            <p:nvPr/>
          </p:nvSpPr>
          <p:spPr bwMode="gray">
            <a:xfrm>
              <a:off x="4425222" y="2809396"/>
              <a:ext cx="782691" cy="1120531"/>
            </a:xfrm>
            <a:prstGeom prst="rect">
              <a:avLst/>
            </a:prstGeom>
            <a:solidFill>
              <a:schemeClr val="bg1"/>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187" name="Group 186">
            <a:extLst>
              <a:ext uri="{FF2B5EF4-FFF2-40B4-BE49-F238E27FC236}">
                <a16:creationId xmlns:a16="http://schemas.microsoft.com/office/drawing/2014/main" id="{7023ACD1-D6F9-1A71-8945-374074AAA79E}"/>
              </a:ext>
            </a:extLst>
          </p:cNvPr>
          <p:cNvGrpSpPr/>
          <p:nvPr/>
        </p:nvGrpSpPr>
        <p:grpSpPr>
          <a:xfrm>
            <a:off x="2920807" y="2756995"/>
            <a:ext cx="1563329" cy="553015"/>
            <a:chOff x="2336491" y="2725507"/>
            <a:chExt cx="2062925" cy="671971"/>
          </a:xfrm>
        </p:grpSpPr>
        <p:cxnSp>
          <p:nvCxnSpPr>
            <p:cNvPr id="82" name="Google Shape;2831;p31">
              <a:extLst>
                <a:ext uri="{FF2B5EF4-FFF2-40B4-BE49-F238E27FC236}">
                  <a16:creationId xmlns:a16="http://schemas.microsoft.com/office/drawing/2014/main" id="{6151D8E5-3A48-986C-17EB-C948CD436159}"/>
                </a:ext>
              </a:extLst>
            </p:cNvPr>
            <p:cNvCxnSpPr>
              <a:cxnSpLocks/>
            </p:cNvCxnSpPr>
            <p:nvPr/>
          </p:nvCxnSpPr>
          <p:spPr>
            <a:xfrm>
              <a:off x="2336491" y="2987215"/>
              <a:ext cx="2062925" cy="0"/>
            </a:xfrm>
            <a:prstGeom prst="straightConnector1">
              <a:avLst/>
            </a:prstGeom>
            <a:noFill/>
            <a:ln w="28575" cap="flat" cmpd="sng">
              <a:solidFill>
                <a:schemeClr val="accent5"/>
              </a:solidFill>
              <a:prstDash val="sysDot"/>
              <a:miter lim="800000"/>
              <a:headEnd type="none" w="sm" len="sm"/>
              <a:tailEnd type="none" w="sm" len="sm"/>
            </a:ln>
          </p:spPr>
        </p:cxnSp>
        <p:grpSp>
          <p:nvGrpSpPr>
            <p:cNvPr id="85" name="Group 84">
              <a:extLst>
                <a:ext uri="{FF2B5EF4-FFF2-40B4-BE49-F238E27FC236}">
                  <a16:creationId xmlns:a16="http://schemas.microsoft.com/office/drawing/2014/main" id="{B23BE638-DCF9-919F-27AB-84D85AFC5FFA}"/>
                </a:ext>
              </a:extLst>
            </p:cNvPr>
            <p:cNvGrpSpPr/>
            <p:nvPr/>
          </p:nvGrpSpPr>
          <p:grpSpPr>
            <a:xfrm>
              <a:off x="3830697" y="2725507"/>
              <a:ext cx="365757" cy="671971"/>
              <a:chOff x="5086390" y="2966073"/>
              <a:chExt cx="365757" cy="671971"/>
            </a:xfrm>
          </p:grpSpPr>
          <p:sp>
            <p:nvSpPr>
              <p:cNvPr id="83" name="Rectangle 82">
                <a:extLst>
                  <a:ext uri="{FF2B5EF4-FFF2-40B4-BE49-F238E27FC236}">
                    <a16:creationId xmlns:a16="http://schemas.microsoft.com/office/drawing/2014/main" id="{91E02906-35CE-E472-9CBC-0200CA05D529}"/>
                  </a:ext>
                </a:extLst>
              </p:cNvPr>
              <p:cNvSpPr/>
              <p:nvPr/>
            </p:nvSpPr>
            <p:spPr bwMode="gray">
              <a:xfrm>
                <a:off x="5086390" y="2966073"/>
                <a:ext cx="365757" cy="671971"/>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8" name="Google Shape;4238;p22">
                <a:extLst>
                  <a:ext uri="{FF2B5EF4-FFF2-40B4-BE49-F238E27FC236}">
                    <a16:creationId xmlns:a16="http://schemas.microsoft.com/office/drawing/2014/main" id="{6D5A0C0B-1543-FFC6-0C14-653B58B68067}"/>
                  </a:ext>
                </a:extLst>
              </p:cNvPr>
              <p:cNvGrpSpPr/>
              <p:nvPr/>
            </p:nvGrpSpPr>
            <p:grpSpPr>
              <a:xfrm rot="5400000">
                <a:off x="5138869" y="3058040"/>
                <a:ext cx="263441" cy="352709"/>
                <a:chOff x="6930408" y="3506884"/>
                <a:chExt cx="283405" cy="388082"/>
              </a:xfrm>
            </p:grpSpPr>
            <p:sp>
              <p:nvSpPr>
                <p:cNvPr id="9" name="Google Shape;4239;p22">
                  <a:extLst>
                    <a:ext uri="{FF2B5EF4-FFF2-40B4-BE49-F238E27FC236}">
                      <a16:creationId xmlns:a16="http://schemas.microsoft.com/office/drawing/2014/main" id="{3E9F5F9C-450B-917D-4928-7B29C90AC3E2}"/>
                    </a:ext>
                  </a:extLst>
                </p:cNvPr>
                <p:cNvSpPr/>
                <p:nvPr/>
              </p:nvSpPr>
              <p:spPr>
                <a:xfrm rot="16200000">
                  <a:off x="6990674" y="3671874"/>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alpha val="24705"/>
                  </a:schemeClr>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2" name="Google Shape;4240;p22">
                  <a:extLst>
                    <a:ext uri="{FF2B5EF4-FFF2-40B4-BE49-F238E27FC236}">
                      <a16:creationId xmlns:a16="http://schemas.microsoft.com/office/drawing/2014/main" id="{51F5332E-C8C5-5C8F-DA8C-058FD6975924}"/>
                    </a:ext>
                  </a:extLst>
                </p:cNvPr>
                <p:cNvSpPr/>
                <p:nvPr/>
              </p:nvSpPr>
              <p:spPr>
                <a:xfrm rot="16200000">
                  <a:off x="6990674" y="3559245"/>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alpha val="49803"/>
                  </a:schemeClr>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3" name="Google Shape;4241;p22">
                  <a:extLst>
                    <a:ext uri="{FF2B5EF4-FFF2-40B4-BE49-F238E27FC236}">
                      <a16:creationId xmlns:a16="http://schemas.microsoft.com/office/drawing/2014/main" id="{BC7D85B9-D0E3-74F1-8027-600D1B5202F5}"/>
                    </a:ext>
                  </a:extLst>
                </p:cNvPr>
                <p:cNvSpPr/>
                <p:nvPr/>
              </p:nvSpPr>
              <p:spPr>
                <a:xfrm rot="16200000">
                  <a:off x="6990721" y="3446618"/>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grpSp>
        </p:grpSp>
      </p:grpSp>
      <p:grpSp>
        <p:nvGrpSpPr>
          <p:cNvPr id="184" name="Group 183">
            <a:extLst>
              <a:ext uri="{FF2B5EF4-FFF2-40B4-BE49-F238E27FC236}">
                <a16:creationId xmlns:a16="http://schemas.microsoft.com/office/drawing/2014/main" id="{B6D335AF-8FC7-0546-730E-C7DBEED90B22}"/>
              </a:ext>
            </a:extLst>
          </p:cNvPr>
          <p:cNvGrpSpPr/>
          <p:nvPr/>
        </p:nvGrpSpPr>
        <p:grpSpPr>
          <a:xfrm>
            <a:off x="3036596" y="2143732"/>
            <a:ext cx="939360" cy="1127593"/>
            <a:chOff x="2698154" y="2221622"/>
            <a:chExt cx="939360" cy="1127593"/>
          </a:xfrm>
        </p:grpSpPr>
        <p:grpSp>
          <p:nvGrpSpPr>
            <p:cNvPr id="108" name="Group 107">
              <a:extLst>
                <a:ext uri="{FF2B5EF4-FFF2-40B4-BE49-F238E27FC236}">
                  <a16:creationId xmlns:a16="http://schemas.microsoft.com/office/drawing/2014/main" id="{44043A4D-7C79-F019-C99C-6B2D1590CB24}"/>
                </a:ext>
              </a:extLst>
            </p:cNvPr>
            <p:cNvGrpSpPr/>
            <p:nvPr/>
          </p:nvGrpSpPr>
          <p:grpSpPr>
            <a:xfrm>
              <a:off x="2737771" y="2221622"/>
              <a:ext cx="837634" cy="961628"/>
              <a:chOff x="6921469" y="2348718"/>
              <a:chExt cx="837634" cy="961628"/>
            </a:xfrm>
          </p:grpSpPr>
          <p:sp>
            <p:nvSpPr>
              <p:cNvPr id="110" name="Google Shape;6678;g2d30ebb658d_0_19789">
                <a:extLst>
                  <a:ext uri="{FF2B5EF4-FFF2-40B4-BE49-F238E27FC236}">
                    <a16:creationId xmlns:a16="http://schemas.microsoft.com/office/drawing/2014/main" id="{0EBD6BE2-09A9-ACAC-9900-91C64671F6BA}"/>
                  </a:ext>
                </a:extLst>
              </p:cNvPr>
              <p:cNvSpPr/>
              <p:nvPr/>
            </p:nvSpPr>
            <p:spPr>
              <a:xfrm>
                <a:off x="6921469" y="2348718"/>
                <a:ext cx="837634" cy="961628"/>
              </a:xfrm>
              <a:prstGeom prst="roundRect">
                <a:avLst>
                  <a:gd name="adj" fmla="val 2356"/>
                </a:avLst>
              </a:prstGeom>
              <a:solidFill>
                <a:srgbClr val="E8E8EB"/>
              </a:soli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11" name="Google Shape;6678;g2d30ebb658d_0_19789">
                <a:extLst>
                  <a:ext uri="{FF2B5EF4-FFF2-40B4-BE49-F238E27FC236}">
                    <a16:creationId xmlns:a16="http://schemas.microsoft.com/office/drawing/2014/main" id="{AE248ACF-45FF-4E01-814B-01EB95EB6B1B}"/>
                  </a:ext>
                </a:extLst>
              </p:cNvPr>
              <p:cNvSpPr/>
              <p:nvPr/>
            </p:nvSpPr>
            <p:spPr>
              <a:xfrm>
                <a:off x="6990776" y="3148666"/>
                <a:ext cx="701104" cy="119046"/>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 …N</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12" name="Google Shape;6678;g2d30ebb658d_0_19789">
                <a:extLst>
                  <a:ext uri="{FF2B5EF4-FFF2-40B4-BE49-F238E27FC236}">
                    <a16:creationId xmlns:a16="http://schemas.microsoft.com/office/drawing/2014/main" id="{B71BF0AE-71EC-B4C3-80F0-53C15BF4C463}"/>
                  </a:ext>
                </a:extLst>
              </p:cNvPr>
              <p:cNvSpPr/>
              <p:nvPr/>
            </p:nvSpPr>
            <p:spPr>
              <a:xfrm>
                <a:off x="6990776" y="2982122"/>
                <a:ext cx="701104" cy="119046"/>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 2</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13" name="Google Shape;6678;g2d30ebb658d_0_19789">
                <a:extLst>
                  <a:ext uri="{FF2B5EF4-FFF2-40B4-BE49-F238E27FC236}">
                    <a16:creationId xmlns:a16="http://schemas.microsoft.com/office/drawing/2014/main" id="{7FC3D4B1-1D9A-EC6B-0F53-45785700CBC6}"/>
                  </a:ext>
                </a:extLst>
              </p:cNvPr>
              <p:cNvSpPr/>
              <p:nvPr/>
            </p:nvSpPr>
            <p:spPr>
              <a:xfrm>
                <a:off x="6994489" y="2815090"/>
                <a:ext cx="701104" cy="119046"/>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 1</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14" name="TextBox 113">
                <a:extLst>
                  <a:ext uri="{FF2B5EF4-FFF2-40B4-BE49-F238E27FC236}">
                    <a16:creationId xmlns:a16="http://schemas.microsoft.com/office/drawing/2014/main" id="{BD29747C-6C6F-EA90-0C48-16F07CF191C0}"/>
                  </a:ext>
                </a:extLst>
              </p:cNvPr>
              <p:cNvSpPr txBox="1"/>
              <p:nvPr/>
            </p:nvSpPr>
            <p:spPr>
              <a:xfrm>
                <a:off x="6995955" y="2620050"/>
                <a:ext cx="687689" cy="10772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1B1D36"/>
                    </a:solidFill>
                    <a:effectLst/>
                    <a:uLnTx/>
                    <a:uFillTx/>
                    <a:latin typeface="Arial" panose="020B0604020202020204"/>
                    <a:ea typeface="+mn-ea"/>
                    <a:cs typeface="+mn-cs"/>
                  </a:rPr>
                  <a:t>VMware vSphere</a:t>
                </a:r>
              </a:p>
            </p:txBody>
          </p:sp>
          <p:pic>
            <p:nvPicPr>
              <p:cNvPr id="109" name="Graphic 108">
                <a:extLst>
                  <a:ext uri="{FF2B5EF4-FFF2-40B4-BE49-F238E27FC236}">
                    <a16:creationId xmlns:a16="http://schemas.microsoft.com/office/drawing/2014/main" id="{2AD5DD14-802E-CA8A-3D7D-8BCED99835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23350" y="2410130"/>
                <a:ext cx="190500" cy="190500"/>
              </a:xfrm>
              <a:prstGeom prst="rect">
                <a:avLst/>
              </a:prstGeom>
            </p:spPr>
          </p:pic>
        </p:grpSp>
        <p:sp>
          <p:nvSpPr>
            <p:cNvPr id="182" name="TextBox 181">
              <a:extLst>
                <a:ext uri="{FF2B5EF4-FFF2-40B4-BE49-F238E27FC236}">
                  <a16:creationId xmlns:a16="http://schemas.microsoft.com/office/drawing/2014/main" id="{B6824967-F56F-0286-0313-8B1C836BB26F}"/>
                </a:ext>
              </a:extLst>
            </p:cNvPr>
            <p:cNvSpPr txBox="1"/>
            <p:nvPr/>
          </p:nvSpPr>
          <p:spPr>
            <a:xfrm>
              <a:off x="2698154" y="3226104"/>
              <a:ext cx="939360" cy="123111"/>
            </a:xfrm>
            <a:prstGeom prst="rect">
              <a:avLst/>
            </a:prstGeom>
            <a:solidFill>
              <a:schemeClr val="bg1"/>
            </a:solid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panose="020B0604020202020204"/>
                  <a:ea typeface="+mn-ea"/>
                  <a:cs typeface="+mn-cs"/>
                </a:rPr>
                <a:t>Existing Deployment</a:t>
              </a:r>
            </a:p>
          </p:txBody>
        </p:sp>
      </p:grpSp>
      <p:sp>
        <p:nvSpPr>
          <p:cNvPr id="98" name="TextBox 97">
            <a:extLst>
              <a:ext uri="{FF2B5EF4-FFF2-40B4-BE49-F238E27FC236}">
                <a16:creationId xmlns:a16="http://schemas.microsoft.com/office/drawing/2014/main" id="{BF5D3F58-CED0-3A6F-A07E-2B31A6F83939}"/>
              </a:ext>
            </a:extLst>
          </p:cNvPr>
          <p:cNvSpPr txBox="1"/>
          <p:nvPr/>
        </p:nvSpPr>
        <p:spPr>
          <a:xfrm>
            <a:off x="2117810" y="3065629"/>
            <a:ext cx="594715" cy="123111"/>
          </a:xfrm>
          <a:prstGeom prst="rect">
            <a:avLst/>
          </a:prstGeom>
          <a:solidFill>
            <a:schemeClr val="bg1"/>
          </a:solid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panose="020B0604020202020204"/>
                <a:ea typeface="+mn-ea"/>
                <a:cs typeface="+mn-cs"/>
              </a:rPr>
              <a:t>VCF Installer</a:t>
            </a:r>
          </a:p>
        </p:txBody>
      </p:sp>
      <p:grpSp>
        <p:nvGrpSpPr>
          <p:cNvPr id="186" name="Group 185">
            <a:extLst>
              <a:ext uri="{FF2B5EF4-FFF2-40B4-BE49-F238E27FC236}">
                <a16:creationId xmlns:a16="http://schemas.microsoft.com/office/drawing/2014/main" id="{5DDFC4CB-D112-330E-05BC-1DC3174BFD7A}"/>
              </a:ext>
            </a:extLst>
          </p:cNvPr>
          <p:cNvGrpSpPr/>
          <p:nvPr/>
        </p:nvGrpSpPr>
        <p:grpSpPr>
          <a:xfrm>
            <a:off x="4504284" y="1870354"/>
            <a:ext cx="1769718" cy="1992085"/>
            <a:chOff x="4421988" y="2009401"/>
            <a:chExt cx="1769718" cy="1992085"/>
          </a:xfrm>
        </p:grpSpPr>
        <p:sp>
          <p:nvSpPr>
            <p:cNvPr id="22" name="Google Shape;6678;g2d30ebb658d_0_19789">
              <a:extLst>
                <a:ext uri="{FF2B5EF4-FFF2-40B4-BE49-F238E27FC236}">
                  <a16:creationId xmlns:a16="http://schemas.microsoft.com/office/drawing/2014/main" id="{FA358EFD-D641-F2E2-07FA-5D528A342E1C}"/>
                </a:ext>
              </a:extLst>
            </p:cNvPr>
            <p:cNvSpPr/>
            <p:nvPr/>
          </p:nvSpPr>
          <p:spPr>
            <a:xfrm>
              <a:off x="4421988" y="2009401"/>
              <a:ext cx="1769718" cy="199208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3" name="Google Shape;6705;g2d30ebb658d_0_19789">
              <a:extLst>
                <a:ext uri="{FF2B5EF4-FFF2-40B4-BE49-F238E27FC236}">
                  <a16:creationId xmlns:a16="http://schemas.microsoft.com/office/drawing/2014/main" id="{AA6A2BE6-9742-9D2E-ED25-190AA522176E}"/>
                </a:ext>
              </a:extLst>
            </p:cNvPr>
            <p:cNvSpPr/>
            <p:nvPr/>
          </p:nvSpPr>
          <p:spPr>
            <a:xfrm>
              <a:off x="4472491" y="3444360"/>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24" name="Google Shape;6707;g2d30ebb658d_0_19789">
              <a:extLst>
                <a:ext uri="{FF2B5EF4-FFF2-40B4-BE49-F238E27FC236}">
                  <a16:creationId xmlns:a16="http://schemas.microsoft.com/office/drawing/2014/main" id="{FCE2E052-48C2-7DA5-54F0-915D3FC0D149}"/>
                </a:ext>
              </a:extLst>
            </p:cNvPr>
            <p:cNvGrpSpPr/>
            <p:nvPr/>
          </p:nvGrpSpPr>
          <p:grpSpPr>
            <a:xfrm>
              <a:off x="5721290" y="3595879"/>
              <a:ext cx="283155" cy="283154"/>
              <a:chOff x="10722212" y="2531808"/>
              <a:chExt cx="663407" cy="663407"/>
            </a:xfrm>
          </p:grpSpPr>
          <p:sp>
            <p:nvSpPr>
              <p:cNvPr id="39" name="Google Shape;6708;g2d30ebb658d_0_19789">
                <a:extLst>
                  <a:ext uri="{FF2B5EF4-FFF2-40B4-BE49-F238E27FC236}">
                    <a16:creationId xmlns:a16="http://schemas.microsoft.com/office/drawing/2014/main" id="{3976DABF-2F2C-26D7-BFCE-7B9E88B3B593}"/>
                  </a:ext>
                </a:extLst>
              </p:cNvPr>
              <p:cNvSpPr>
                <a:spLocks noChangeAspect="1"/>
              </p:cNvSpPr>
              <p:nvPr/>
            </p:nvSpPr>
            <p:spPr>
              <a:xfrm>
                <a:off x="10722212" y="253180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0" name="Google Shape;6709;g2d30ebb658d_0_19789">
                <a:extLst>
                  <a:ext uri="{FF2B5EF4-FFF2-40B4-BE49-F238E27FC236}">
                    <a16:creationId xmlns:a16="http://schemas.microsoft.com/office/drawing/2014/main" id="{6ACC2EFD-1D80-29BB-F860-D01741CA7DA0}"/>
                  </a:ext>
                </a:extLst>
              </p:cNvPr>
              <p:cNvSpPr>
                <a:spLocks noChangeAspect="1"/>
              </p:cNvSpPr>
              <p:nvPr/>
            </p:nvSpPr>
            <p:spPr>
              <a:xfrm>
                <a:off x="10836776" y="264748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5" name="Google Shape;6710;g2d30ebb658d_0_19789">
              <a:extLst>
                <a:ext uri="{FF2B5EF4-FFF2-40B4-BE49-F238E27FC236}">
                  <a16:creationId xmlns:a16="http://schemas.microsoft.com/office/drawing/2014/main" id="{FFA90F42-C478-F139-A6E1-76EE8B8B4F84}"/>
                </a:ext>
              </a:extLst>
            </p:cNvPr>
            <p:cNvGrpSpPr/>
            <p:nvPr/>
          </p:nvGrpSpPr>
          <p:grpSpPr>
            <a:xfrm>
              <a:off x="4576370" y="3595760"/>
              <a:ext cx="283155" cy="283154"/>
              <a:chOff x="572541" y="5277371"/>
              <a:chExt cx="663407" cy="663407"/>
            </a:xfrm>
          </p:grpSpPr>
          <p:sp>
            <p:nvSpPr>
              <p:cNvPr id="37" name="Google Shape;6711;g2d30ebb658d_0_19789">
                <a:extLst>
                  <a:ext uri="{FF2B5EF4-FFF2-40B4-BE49-F238E27FC236}">
                    <a16:creationId xmlns:a16="http://schemas.microsoft.com/office/drawing/2014/main" id="{DD7F7646-5212-4C01-5248-1A218F346B8D}"/>
                  </a:ext>
                </a:extLst>
              </p:cNvPr>
              <p:cNvSpPr>
                <a:spLocks noChangeAspect="1"/>
              </p:cNvSpPr>
              <p:nvPr/>
            </p:nvSpPr>
            <p:spPr>
              <a:xfrm>
                <a:off x="572541" y="527737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38" name="Google Shape;6712;g2d30ebb658d_0_19789">
                <a:extLst>
                  <a:ext uri="{FF2B5EF4-FFF2-40B4-BE49-F238E27FC236}">
                    <a16:creationId xmlns:a16="http://schemas.microsoft.com/office/drawing/2014/main" id="{D45254E8-1C14-38E9-6F71-702D592E89AC}"/>
                  </a:ext>
                </a:extLst>
              </p:cNvPr>
              <p:cNvSpPr>
                <a:spLocks noChangeAspect="1"/>
              </p:cNvSpPr>
              <p:nvPr/>
            </p:nvSpPr>
            <p:spPr>
              <a:xfrm>
                <a:off x="699316" y="5428981"/>
                <a:ext cx="413205" cy="376664"/>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6" name="Google Shape;6713;g2d30ebb658d_0_19789">
              <a:extLst>
                <a:ext uri="{FF2B5EF4-FFF2-40B4-BE49-F238E27FC236}">
                  <a16:creationId xmlns:a16="http://schemas.microsoft.com/office/drawing/2014/main" id="{B3113212-778A-2FD9-9198-FDEAA0A76CCB}"/>
                </a:ext>
              </a:extLst>
            </p:cNvPr>
            <p:cNvGrpSpPr/>
            <p:nvPr/>
          </p:nvGrpSpPr>
          <p:grpSpPr>
            <a:xfrm>
              <a:off x="5144738" y="3595761"/>
              <a:ext cx="283155" cy="283154"/>
              <a:chOff x="9272259" y="5277371"/>
              <a:chExt cx="663407" cy="663407"/>
            </a:xfrm>
          </p:grpSpPr>
          <p:sp>
            <p:nvSpPr>
              <p:cNvPr id="35" name="Google Shape;6714;g2d30ebb658d_0_19789">
                <a:extLst>
                  <a:ext uri="{FF2B5EF4-FFF2-40B4-BE49-F238E27FC236}">
                    <a16:creationId xmlns:a16="http://schemas.microsoft.com/office/drawing/2014/main" id="{B42AF150-865C-56D4-FE0D-1851390CE6BC}"/>
                  </a:ext>
                </a:extLst>
              </p:cNvPr>
              <p:cNvSpPr>
                <a:spLocks noChangeAspect="1"/>
              </p:cNvSpPr>
              <p:nvPr/>
            </p:nvSpPr>
            <p:spPr>
              <a:xfrm>
                <a:off x="9272259" y="5277371"/>
                <a:ext cx="663407" cy="663407"/>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36" name="Google Shape;6715;g2d30ebb658d_0_19789">
                <a:extLst>
                  <a:ext uri="{FF2B5EF4-FFF2-40B4-BE49-F238E27FC236}">
                    <a16:creationId xmlns:a16="http://schemas.microsoft.com/office/drawing/2014/main" id="{82350DD6-F832-732F-111A-D40EBF7A7EF8}"/>
                  </a:ext>
                </a:extLst>
              </p:cNvPr>
              <p:cNvSpPr>
                <a:spLocks noChangeAspect="1"/>
              </p:cNvSpPr>
              <p:nvPr/>
            </p:nvSpPr>
            <p:spPr>
              <a:xfrm>
                <a:off x="9436607" y="5401555"/>
                <a:ext cx="357985" cy="417084"/>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46" name="Group 145">
              <a:extLst>
                <a:ext uri="{FF2B5EF4-FFF2-40B4-BE49-F238E27FC236}">
                  <a16:creationId xmlns:a16="http://schemas.microsoft.com/office/drawing/2014/main" id="{1EC8B252-1816-F8B9-6760-B573A61C6CEB}"/>
                </a:ext>
              </a:extLst>
            </p:cNvPr>
            <p:cNvGrpSpPr/>
            <p:nvPr/>
          </p:nvGrpSpPr>
          <p:grpSpPr>
            <a:xfrm>
              <a:off x="4507602" y="2064343"/>
              <a:ext cx="1597075" cy="198035"/>
              <a:chOff x="4507602" y="2073203"/>
              <a:chExt cx="1597075" cy="198035"/>
            </a:xfrm>
          </p:grpSpPr>
          <p:sp>
            <p:nvSpPr>
              <p:cNvPr id="27" name="Google Shape;6704;g2d30ebb658d_0_19789">
                <a:extLst>
                  <a:ext uri="{FF2B5EF4-FFF2-40B4-BE49-F238E27FC236}">
                    <a16:creationId xmlns:a16="http://schemas.microsoft.com/office/drawing/2014/main" id="{65A4EEBD-76AB-DCB7-E725-FEF5B77B9A08}"/>
                  </a:ext>
                </a:extLst>
              </p:cNvPr>
              <p:cNvSpPr/>
              <p:nvPr/>
            </p:nvSpPr>
            <p:spPr>
              <a:xfrm>
                <a:off x="4507602" y="2073203"/>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       VMware Cloud Foundation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8" name="Google Shape;6699;p92">
                <a:extLst>
                  <a:ext uri="{FF2B5EF4-FFF2-40B4-BE49-F238E27FC236}">
                    <a16:creationId xmlns:a16="http://schemas.microsoft.com/office/drawing/2014/main" id="{AC7844CA-8FB0-3046-7E46-633DF1D0C39E}"/>
                  </a:ext>
                </a:extLst>
              </p:cNvPr>
              <p:cNvPicPr preferRelativeResize="0">
                <a:picLocks noChangeAspect="1"/>
              </p:cNvPicPr>
              <p:nvPr/>
            </p:nvPicPr>
            <p:blipFill rotWithShape="1">
              <a:blip r:embed="rId5">
                <a:alphaModFix/>
              </a:blip>
              <a:srcRect/>
              <a:stretch/>
            </p:blipFill>
            <p:spPr>
              <a:xfrm>
                <a:off x="4647230" y="2085898"/>
                <a:ext cx="157608" cy="173213"/>
              </a:xfrm>
              <a:prstGeom prst="rect">
                <a:avLst/>
              </a:prstGeom>
              <a:noFill/>
              <a:ln>
                <a:noFill/>
              </a:ln>
            </p:spPr>
          </p:pic>
        </p:grpSp>
        <p:sp>
          <p:nvSpPr>
            <p:cNvPr id="29" name="Google Shape;6705;g2d30ebb658d_0_19789">
              <a:extLst>
                <a:ext uri="{FF2B5EF4-FFF2-40B4-BE49-F238E27FC236}">
                  <a16:creationId xmlns:a16="http://schemas.microsoft.com/office/drawing/2014/main" id="{0E7BC928-C069-4D7B-190C-98265DACD2AB}"/>
                </a:ext>
              </a:extLst>
            </p:cNvPr>
            <p:cNvSpPr/>
            <p:nvPr/>
          </p:nvSpPr>
          <p:spPr>
            <a:xfrm>
              <a:off x="4476708" y="3222608"/>
              <a:ext cx="791217" cy="161072"/>
            </a:xfrm>
            <a:prstGeom prst="roundRect">
              <a:avLst>
                <a:gd name="adj" fmla="val 6349"/>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 Server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31" name="TextBox 30">
              <a:extLst>
                <a:ext uri="{FF2B5EF4-FFF2-40B4-BE49-F238E27FC236}">
                  <a16:creationId xmlns:a16="http://schemas.microsoft.com/office/drawing/2014/main" id="{7D022FFA-181B-31CF-3386-903379AE8540}"/>
                </a:ext>
              </a:extLst>
            </p:cNvPr>
            <p:cNvSpPr txBox="1"/>
            <p:nvPr/>
          </p:nvSpPr>
          <p:spPr>
            <a:xfrm>
              <a:off x="4924734" y="3468050"/>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32" name="Google Shape;6705;g2d30ebb658d_0_19789">
              <a:extLst>
                <a:ext uri="{FF2B5EF4-FFF2-40B4-BE49-F238E27FC236}">
                  <a16:creationId xmlns:a16="http://schemas.microsoft.com/office/drawing/2014/main" id="{9DEC21C4-7E08-1ED4-21B1-3B74592E809A}"/>
                </a:ext>
              </a:extLst>
            </p:cNvPr>
            <p:cNvSpPr/>
            <p:nvPr/>
          </p:nvSpPr>
          <p:spPr>
            <a:xfrm>
              <a:off x="4476324" y="2514932"/>
              <a:ext cx="1662975"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33" name="Google Shape;6705;g2d30ebb658d_0_19789">
              <a:extLst>
                <a:ext uri="{FF2B5EF4-FFF2-40B4-BE49-F238E27FC236}">
                  <a16:creationId xmlns:a16="http://schemas.microsoft.com/office/drawing/2014/main" id="{ABC25139-9F00-A1CB-C635-885C40166BCA}"/>
                </a:ext>
              </a:extLst>
            </p:cNvPr>
            <p:cNvSpPr/>
            <p:nvPr/>
          </p:nvSpPr>
          <p:spPr>
            <a:xfrm>
              <a:off x="5322645" y="3220761"/>
              <a:ext cx="816654" cy="161072"/>
            </a:xfrm>
            <a:prstGeom prst="roundRect">
              <a:avLst>
                <a:gd name="adj" fmla="val 6349"/>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NSX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34" name="Google Shape;6705;g2d30ebb658d_0_19789">
              <a:extLst>
                <a:ext uri="{FF2B5EF4-FFF2-40B4-BE49-F238E27FC236}">
                  <a16:creationId xmlns:a16="http://schemas.microsoft.com/office/drawing/2014/main" id="{C6970CA1-BF67-0B2D-1CC3-7FC0C38E4825}"/>
                </a:ext>
              </a:extLst>
            </p:cNvPr>
            <p:cNvSpPr/>
            <p:nvPr/>
          </p:nvSpPr>
          <p:spPr>
            <a:xfrm>
              <a:off x="4478255" y="2320164"/>
              <a:ext cx="1661044" cy="144193"/>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43" name="Google Shape;6678;g2d30ebb658d_0_19789">
              <a:extLst>
                <a:ext uri="{FF2B5EF4-FFF2-40B4-BE49-F238E27FC236}">
                  <a16:creationId xmlns:a16="http://schemas.microsoft.com/office/drawing/2014/main" id="{EFB1C9F6-0FB5-91BA-11D5-36E1917029D9}"/>
                </a:ext>
              </a:extLst>
            </p:cNvPr>
            <p:cNvSpPr/>
            <p:nvPr/>
          </p:nvSpPr>
          <p:spPr>
            <a:xfrm>
              <a:off x="4950404" y="3050628"/>
              <a:ext cx="701104" cy="114350"/>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 …N</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44" name="Google Shape;6678;g2d30ebb658d_0_19789">
              <a:extLst>
                <a:ext uri="{FF2B5EF4-FFF2-40B4-BE49-F238E27FC236}">
                  <a16:creationId xmlns:a16="http://schemas.microsoft.com/office/drawing/2014/main" id="{879F95B9-76E8-7669-C7FF-49143E8E2752}"/>
                </a:ext>
              </a:extLst>
            </p:cNvPr>
            <p:cNvSpPr/>
            <p:nvPr/>
          </p:nvSpPr>
          <p:spPr>
            <a:xfrm>
              <a:off x="4950404" y="2879251"/>
              <a:ext cx="701104" cy="114350"/>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 2</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45" name="Google Shape;6678;g2d30ebb658d_0_19789">
              <a:extLst>
                <a:ext uri="{FF2B5EF4-FFF2-40B4-BE49-F238E27FC236}">
                  <a16:creationId xmlns:a16="http://schemas.microsoft.com/office/drawing/2014/main" id="{A5696DD3-6B15-6C67-E348-DC56A8C4CDF4}"/>
                </a:ext>
              </a:extLst>
            </p:cNvPr>
            <p:cNvSpPr/>
            <p:nvPr/>
          </p:nvSpPr>
          <p:spPr>
            <a:xfrm>
              <a:off x="4954117" y="2712054"/>
              <a:ext cx="701104" cy="114350"/>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 1</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grpSp>
      <p:grpSp>
        <p:nvGrpSpPr>
          <p:cNvPr id="15" name="Group 14">
            <a:extLst>
              <a:ext uri="{FF2B5EF4-FFF2-40B4-BE49-F238E27FC236}">
                <a16:creationId xmlns:a16="http://schemas.microsoft.com/office/drawing/2014/main" id="{6467B400-E48D-EE06-0CEF-0CABAB7FD780}"/>
              </a:ext>
            </a:extLst>
          </p:cNvPr>
          <p:cNvGrpSpPr>
            <a:grpSpLocks noChangeAspect="1"/>
          </p:cNvGrpSpPr>
          <p:nvPr/>
        </p:nvGrpSpPr>
        <p:grpSpPr>
          <a:xfrm>
            <a:off x="1922746" y="2159362"/>
            <a:ext cx="973345" cy="852389"/>
            <a:chOff x="4120905" y="2751137"/>
            <a:chExt cx="1456647" cy="1275629"/>
          </a:xfrm>
        </p:grpSpPr>
        <p:grpSp>
          <p:nvGrpSpPr>
            <p:cNvPr id="16" name="Group 15">
              <a:extLst>
                <a:ext uri="{FF2B5EF4-FFF2-40B4-BE49-F238E27FC236}">
                  <a16:creationId xmlns:a16="http://schemas.microsoft.com/office/drawing/2014/main" id="{C40B8A02-4442-DDB5-2F30-D9FC0B8C267E}"/>
                </a:ext>
              </a:extLst>
            </p:cNvPr>
            <p:cNvGrpSpPr/>
            <p:nvPr/>
          </p:nvGrpSpPr>
          <p:grpSpPr>
            <a:xfrm>
              <a:off x="4125845" y="2756631"/>
              <a:ext cx="1448451" cy="1201448"/>
              <a:chOff x="4125845" y="2756631"/>
              <a:chExt cx="1448451" cy="1201448"/>
            </a:xfrm>
          </p:grpSpPr>
          <p:pic>
            <p:nvPicPr>
              <p:cNvPr id="18" name="Picture 17">
                <a:extLst>
                  <a:ext uri="{FF2B5EF4-FFF2-40B4-BE49-F238E27FC236}">
                    <a16:creationId xmlns:a16="http://schemas.microsoft.com/office/drawing/2014/main" id="{461CE8DD-8473-9511-AC57-FF8131668E31}"/>
                  </a:ext>
                </a:extLst>
              </p:cNvPr>
              <p:cNvPicPr preferRelativeResize="0">
                <a:picLocks noChangeAspect="1"/>
              </p:cNvPicPr>
              <p:nvPr/>
            </p:nvPicPr>
            <p:blipFill>
              <a:blip r:embed="rId6"/>
              <a:stretch>
                <a:fillRect/>
              </a:stretch>
            </p:blipFill>
            <p:spPr>
              <a:xfrm>
                <a:off x="4125845" y="2756631"/>
                <a:ext cx="1448451" cy="1201448"/>
              </a:xfrm>
              <a:prstGeom prst="rect">
                <a:avLst/>
              </a:prstGeom>
            </p:spPr>
          </p:pic>
          <p:sp>
            <p:nvSpPr>
              <p:cNvPr id="19" name="Rectangle 18">
                <a:extLst>
                  <a:ext uri="{FF2B5EF4-FFF2-40B4-BE49-F238E27FC236}">
                    <a16:creationId xmlns:a16="http://schemas.microsoft.com/office/drawing/2014/main" id="{108D8F38-FA8B-B035-ED04-18C94D19D76C}"/>
                  </a:ext>
                </a:extLst>
              </p:cNvPr>
              <p:cNvSpPr/>
              <p:nvPr/>
            </p:nvSpPr>
            <p:spPr>
              <a:xfrm>
                <a:off x="5070888" y="3796831"/>
                <a:ext cx="462334" cy="101210"/>
              </a:xfrm>
              <a:prstGeom prst="rect">
                <a:avLst/>
              </a:prstGeom>
              <a:solidFill>
                <a:srgbClr val="FCFEF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17" name="Google Shape;6678;g2d30ebb658d_0_19789">
              <a:extLst>
                <a:ext uri="{FF2B5EF4-FFF2-40B4-BE49-F238E27FC236}">
                  <a16:creationId xmlns:a16="http://schemas.microsoft.com/office/drawing/2014/main" id="{AA8B9D9E-1607-0E64-5F07-1F9BDD74781C}"/>
                </a:ext>
              </a:extLst>
            </p:cNvPr>
            <p:cNvSpPr/>
            <p:nvPr/>
          </p:nvSpPr>
          <p:spPr>
            <a:xfrm>
              <a:off x="4120905" y="2751137"/>
              <a:ext cx="1456647" cy="1275629"/>
            </a:xfrm>
            <a:prstGeom prst="roundRect">
              <a:avLst>
                <a:gd name="adj" fmla="val 2356"/>
              </a:avLst>
            </a:prstGeom>
            <a:noFill/>
            <a:ln w="12700">
              <a:solidFill>
                <a:schemeClr val="bg2">
                  <a:lumMod val="50000"/>
                </a:schemeClr>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grpSp>
        <p:nvGrpSpPr>
          <p:cNvPr id="199" name="Group 198">
            <a:extLst>
              <a:ext uri="{FF2B5EF4-FFF2-40B4-BE49-F238E27FC236}">
                <a16:creationId xmlns:a16="http://schemas.microsoft.com/office/drawing/2014/main" id="{10BD59FA-0A4B-1499-9230-A668680DE102}"/>
              </a:ext>
            </a:extLst>
          </p:cNvPr>
          <p:cNvGrpSpPr>
            <a:grpSpLocks noChangeAspect="1"/>
          </p:cNvGrpSpPr>
          <p:nvPr/>
        </p:nvGrpSpPr>
        <p:grpSpPr>
          <a:xfrm>
            <a:off x="789826" y="2116947"/>
            <a:ext cx="753871" cy="701907"/>
            <a:chOff x="789824" y="2137115"/>
            <a:chExt cx="838569" cy="780768"/>
          </a:xfrm>
        </p:grpSpPr>
        <p:sp>
          <p:nvSpPr>
            <p:cNvPr id="197" name="Oval 196">
              <a:extLst>
                <a:ext uri="{FF2B5EF4-FFF2-40B4-BE49-F238E27FC236}">
                  <a16:creationId xmlns:a16="http://schemas.microsoft.com/office/drawing/2014/main" id="{EF81D65D-800F-CDE2-7392-DF89CC9922CE}"/>
                </a:ext>
              </a:extLst>
            </p:cNvPr>
            <p:cNvSpPr>
              <a:spLocks noChangeAspect="1"/>
            </p:cNvSpPr>
            <p:nvPr/>
          </p:nvSpPr>
          <p:spPr bwMode="gray">
            <a:xfrm>
              <a:off x="1335221" y="2383398"/>
              <a:ext cx="293172" cy="293172"/>
            </a:xfrm>
            <a:prstGeom prst="ellipse">
              <a:avLst/>
            </a:prstGeom>
            <a:solidFill>
              <a:srgbClr val="C2D6EC"/>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98" name="Google Shape;4239;p22">
              <a:extLst>
                <a:ext uri="{FF2B5EF4-FFF2-40B4-BE49-F238E27FC236}">
                  <a16:creationId xmlns:a16="http://schemas.microsoft.com/office/drawing/2014/main" id="{DB37781A-64F5-02A2-7F0A-7BBC785E6335}"/>
                </a:ext>
              </a:extLst>
            </p:cNvPr>
            <p:cNvSpPr>
              <a:spLocks noChangeAspect="1"/>
            </p:cNvSpPr>
            <p:nvPr/>
          </p:nvSpPr>
          <p:spPr>
            <a:xfrm>
              <a:off x="1509151" y="2475529"/>
              <a:ext cx="92243" cy="118442"/>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bg1">
                <a:alpha val="84925"/>
              </a:schemeClr>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grpSp>
          <p:nvGrpSpPr>
            <p:cNvPr id="190" name="Group 189">
              <a:extLst>
                <a:ext uri="{FF2B5EF4-FFF2-40B4-BE49-F238E27FC236}">
                  <a16:creationId xmlns:a16="http://schemas.microsoft.com/office/drawing/2014/main" id="{9DCF0A9C-6274-25DB-28C1-E9D052FB7DCF}"/>
                </a:ext>
              </a:extLst>
            </p:cNvPr>
            <p:cNvGrpSpPr>
              <a:grpSpLocks noChangeAspect="1"/>
            </p:cNvGrpSpPr>
            <p:nvPr/>
          </p:nvGrpSpPr>
          <p:grpSpPr>
            <a:xfrm>
              <a:off x="789824" y="2137115"/>
              <a:ext cx="711989" cy="780768"/>
              <a:chOff x="5217804" y="2760888"/>
              <a:chExt cx="1232879" cy="1351979"/>
            </a:xfrm>
          </p:grpSpPr>
          <p:sp>
            <p:nvSpPr>
              <p:cNvPr id="191" name="Google Shape;4314;p38">
                <a:extLst>
                  <a:ext uri="{FF2B5EF4-FFF2-40B4-BE49-F238E27FC236}">
                    <a16:creationId xmlns:a16="http://schemas.microsoft.com/office/drawing/2014/main" id="{1B2F825E-29AE-D06B-1E0F-4D42B6117855}"/>
                  </a:ext>
                </a:extLst>
              </p:cNvPr>
              <p:cNvSpPr/>
              <p:nvPr/>
            </p:nvSpPr>
            <p:spPr>
              <a:xfrm>
                <a:off x="5217804" y="2760889"/>
                <a:ext cx="1232878" cy="1232879"/>
              </a:xfrm>
              <a:prstGeom prst="ellipse">
                <a:avLst/>
              </a:prstGeom>
              <a:solidFill>
                <a:srgbClr val="FFFFFF"/>
              </a:solidFill>
              <a:ln w="12700" cap="flat" cmpd="sng">
                <a:solidFill>
                  <a:srgbClr val="D2D9E8"/>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sp>
            <p:nvSpPr>
              <p:cNvPr id="192" name="Google Shape;4315;p38">
                <a:extLst>
                  <a:ext uri="{FF2B5EF4-FFF2-40B4-BE49-F238E27FC236}">
                    <a16:creationId xmlns:a16="http://schemas.microsoft.com/office/drawing/2014/main" id="{D877DFB3-4496-3236-3973-E3F19E3BBD0C}"/>
                  </a:ext>
                </a:extLst>
              </p:cNvPr>
              <p:cNvSpPr/>
              <p:nvPr/>
            </p:nvSpPr>
            <p:spPr>
              <a:xfrm>
                <a:off x="5554580" y="2863157"/>
                <a:ext cx="852874" cy="640094"/>
              </a:xfrm>
              <a:custGeom>
                <a:avLst/>
                <a:gdLst/>
                <a:ahLst/>
                <a:cxnLst/>
                <a:rect l="l" t="t" r="r" b="b"/>
                <a:pathLst>
                  <a:path w="692813" h="519966" extrusionOk="0">
                    <a:moveTo>
                      <a:pt x="502652" y="0"/>
                    </a:moveTo>
                    <a:lnTo>
                      <a:pt x="507154" y="2444"/>
                    </a:lnTo>
                    <a:cubicBezTo>
                      <a:pt x="587075" y="56438"/>
                      <a:pt x="650570" y="132897"/>
                      <a:pt x="688579" y="222760"/>
                    </a:cubicBezTo>
                    <a:lnTo>
                      <a:pt x="692813" y="236400"/>
                    </a:lnTo>
                    <a:lnTo>
                      <a:pt x="418690" y="519966"/>
                    </a:lnTo>
                    <a:lnTo>
                      <a:pt x="0" y="519966"/>
                    </a:lnTo>
                    <a:lnTo>
                      <a:pt x="502652" y="0"/>
                    </a:lnTo>
                    <a:close/>
                  </a:path>
                </a:pathLst>
              </a:custGeom>
              <a:gradFill>
                <a:gsLst>
                  <a:gs pos="0">
                    <a:srgbClr val="0091DA">
                      <a:alpha val="35294"/>
                    </a:srgbClr>
                  </a:gs>
                  <a:gs pos="37000">
                    <a:srgbClr val="0091DA">
                      <a:alpha val="35294"/>
                    </a:srgbClr>
                  </a:gs>
                  <a:gs pos="98000">
                    <a:srgbClr val="0091DA">
                      <a:alpha val="0"/>
                    </a:srgbClr>
                  </a:gs>
                  <a:gs pos="100000">
                    <a:srgbClr val="0091DA">
                      <a:alpha val="0"/>
                    </a:srgbClr>
                  </a:gs>
                </a:gsLst>
                <a:lin ang="1620000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sp>
            <p:nvSpPr>
              <p:cNvPr id="193" name="Google Shape;4316;p38">
                <a:extLst>
                  <a:ext uri="{FF2B5EF4-FFF2-40B4-BE49-F238E27FC236}">
                    <a16:creationId xmlns:a16="http://schemas.microsoft.com/office/drawing/2014/main" id="{EC59E5E3-EDD5-D5B9-97FC-E85492BDE2C5}"/>
                  </a:ext>
                </a:extLst>
              </p:cNvPr>
              <p:cNvSpPr/>
              <p:nvPr/>
            </p:nvSpPr>
            <p:spPr>
              <a:xfrm>
                <a:off x="5217805" y="2760888"/>
                <a:ext cx="1232878" cy="1232879"/>
              </a:xfrm>
              <a:custGeom>
                <a:avLst/>
                <a:gdLst/>
                <a:ahLst/>
                <a:cxnLst/>
                <a:rect l="l" t="t" r="r" b="b"/>
                <a:pathLst>
                  <a:path w="1001500" h="1001502" extrusionOk="0">
                    <a:moveTo>
                      <a:pt x="500750" y="0"/>
                    </a:moveTo>
                    <a:cubicBezTo>
                      <a:pt x="569889" y="0"/>
                      <a:pt x="635756" y="14012"/>
                      <a:pt x="695665" y="39352"/>
                    </a:cubicBezTo>
                    <a:lnTo>
                      <a:pt x="776222" y="83076"/>
                    </a:lnTo>
                    <a:lnTo>
                      <a:pt x="273570" y="603042"/>
                    </a:lnTo>
                    <a:lnTo>
                      <a:pt x="692260" y="603042"/>
                    </a:lnTo>
                    <a:lnTo>
                      <a:pt x="966383" y="319476"/>
                    </a:lnTo>
                    <a:lnTo>
                      <a:pt x="991327" y="399832"/>
                    </a:lnTo>
                    <a:cubicBezTo>
                      <a:pt x="997997" y="432430"/>
                      <a:pt x="1001500" y="466182"/>
                      <a:pt x="1001500" y="500751"/>
                    </a:cubicBezTo>
                    <a:cubicBezTo>
                      <a:pt x="1001500" y="777308"/>
                      <a:pt x="777307" y="1001502"/>
                      <a:pt x="500750" y="1001502"/>
                    </a:cubicBezTo>
                    <a:cubicBezTo>
                      <a:pt x="224193" y="1001502"/>
                      <a:pt x="0" y="777308"/>
                      <a:pt x="0" y="500751"/>
                    </a:cubicBezTo>
                    <a:cubicBezTo>
                      <a:pt x="0" y="224194"/>
                      <a:pt x="224193" y="0"/>
                      <a:pt x="500750" y="0"/>
                    </a:cubicBezTo>
                    <a:close/>
                  </a:path>
                </a:pathLst>
              </a:custGeom>
              <a:gradFill>
                <a:gsLst>
                  <a:gs pos="0">
                    <a:srgbClr val="0091DA">
                      <a:alpha val="35294"/>
                    </a:srgbClr>
                  </a:gs>
                  <a:gs pos="37000">
                    <a:srgbClr val="0091DA">
                      <a:alpha val="35294"/>
                    </a:srgbClr>
                  </a:gs>
                  <a:gs pos="98000">
                    <a:srgbClr val="0091DA">
                      <a:alpha val="0"/>
                    </a:srgbClr>
                  </a:gs>
                  <a:gs pos="100000">
                    <a:srgbClr val="0091DA">
                      <a:alpha val="0"/>
                    </a:srgbClr>
                  </a:gs>
                </a:gsLst>
                <a:lin ang="16200000" scaled="0"/>
              </a:gradFill>
              <a:ln>
                <a:noFill/>
              </a:ln>
            </p:spPr>
            <p:txBody>
              <a:bodyPr spcFirstLastPara="1" wrap="square" lIns="109725" tIns="54850" rIns="109725" bIns="548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sp>
            <p:nvSpPr>
              <p:cNvPr id="194" name="Google Shape;4317;p38">
                <a:extLst>
                  <a:ext uri="{FF2B5EF4-FFF2-40B4-BE49-F238E27FC236}">
                    <a16:creationId xmlns:a16="http://schemas.microsoft.com/office/drawing/2014/main" id="{3ADC747D-1EF6-D1DD-8DE0-3959FEB53F30}"/>
                  </a:ext>
                </a:extLst>
              </p:cNvPr>
              <p:cNvSpPr/>
              <p:nvPr/>
            </p:nvSpPr>
            <p:spPr>
              <a:xfrm>
                <a:off x="5554578" y="2906663"/>
                <a:ext cx="878946" cy="698268"/>
              </a:xfrm>
              <a:custGeom>
                <a:avLst/>
                <a:gdLst/>
                <a:ahLst/>
                <a:cxnLst/>
                <a:rect l="l" t="t" r="r" b="b"/>
                <a:pathLst>
                  <a:path w="991617" h="787778" extrusionOk="0">
                    <a:moveTo>
                      <a:pt x="761546" y="0"/>
                    </a:moveTo>
                    <a:lnTo>
                      <a:pt x="811023" y="40822"/>
                    </a:lnTo>
                    <a:cubicBezTo>
                      <a:pt x="873949" y="103748"/>
                      <a:pt x="924873" y="178678"/>
                      <a:pt x="960065" y="261882"/>
                    </a:cubicBezTo>
                    <a:lnTo>
                      <a:pt x="991617" y="363525"/>
                    </a:lnTo>
                    <a:lnTo>
                      <a:pt x="581491" y="787778"/>
                    </a:lnTo>
                    <a:lnTo>
                      <a:pt x="0" y="787778"/>
                    </a:lnTo>
                    <a:lnTo>
                      <a:pt x="761546" y="0"/>
                    </a:lnTo>
                    <a:close/>
                  </a:path>
                </a:pathLst>
              </a:custGeom>
              <a:gradFill>
                <a:gsLst>
                  <a:gs pos="0">
                    <a:srgbClr val="4FC4FF"/>
                  </a:gs>
                  <a:gs pos="98000">
                    <a:srgbClr val="0091DA">
                      <a:alpha val="0"/>
                    </a:srgbClr>
                  </a:gs>
                  <a:gs pos="100000">
                    <a:srgbClr val="0091DA">
                      <a:alpha val="0"/>
                    </a:srgbClr>
                  </a:gs>
                </a:gsLst>
                <a:lin ang="1890000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pic>
            <p:nvPicPr>
              <p:cNvPr id="195" name="Google Shape;4318;p38">
                <a:extLst>
                  <a:ext uri="{FF2B5EF4-FFF2-40B4-BE49-F238E27FC236}">
                    <a16:creationId xmlns:a16="http://schemas.microsoft.com/office/drawing/2014/main" id="{4B47F7C6-93E6-3FA4-0E0D-345D4E719DAF}"/>
                  </a:ext>
                </a:extLst>
              </p:cNvPr>
              <p:cNvPicPr preferRelativeResize="0"/>
              <p:nvPr/>
            </p:nvPicPr>
            <p:blipFill rotWithShape="1">
              <a:blip r:embed="rId7">
                <a:alphaModFix/>
              </a:blip>
              <a:srcRect/>
              <a:stretch/>
            </p:blipFill>
            <p:spPr>
              <a:xfrm>
                <a:off x="5219981" y="2773287"/>
                <a:ext cx="1220885" cy="1339580"/>
              </a:xfrm>
              <a:prstGeom prst="rect">
                <a:avLst/>
              </a:prstGeom>
              <a:noFill/>
              <a:ln>
                <a:noFill/>
              </a:ln>
            </p:spPr>
          </p:pic>
        </p:grpSp>
      </p:grpSp>
    </p:spTree>
    <p:extLst>
      <p:ext uri="{BB962C8B-B14F-4D97-AF65-F5344CB8AC3E}">
        <p14:creationId xmlns:p14="http://schemas.microsoft.com/office/powerpoint/2010/main" val="2043020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3"/>
                                        </p:tgtEl>
                                        <p:attrNameLst>
                                          <p:attrName>style.visibility</p:attrName>
                                        </p:attrNameLst>
                                      </p:cBhvr>
                                      <p:to>
                                        <p:strVal val="visible"/>
                                      </p:to>
                                    </p:set>
                                    <p:animEffect transition="in" filter="wipe(left)">
                                      <p:cBhvr>
                                        <p:cTn id="7" dur="500"/>
                                        <p:tgtEl>
                                          <p:spTgt spid="163"/>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86"/>
                                        </p:tgtEl>
                                        <p:attrNameLst>
                                          <p:attrName>style.visibility</p:attrName>
                                        </p:attrNameLst>
                                      </p:cBhvr>
                                      <p:to>
                                        <p:strVal val="visible"/>
                                      </p:to>
                                    </p:set>
                                    <p:animEffect transition="in" filter="wipe(down)">
                                      <p:cBhvr>
                                        <p:cTn id="11" dur="500"/>
                                        <p:tgtEl>
                                          <p:spTgt spid="18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xit" presetSubtype="0" fill="hold" nodeType="clickEffect">
                                  <p:stCondLst>
                                    <p:cond delay="0"/>
                                  </p:stCondLst>
                                  <p:childTnLst>
                                    <p:animEffect transition="out" filter="dissolve">
                                      <p:cBhvr>
                                        <p:cTn id="15" dur="500"/>
                                        <p:tgtEl>
                                          <p:spTgt spid="163"/>
                                        </p:tgtEl>
                                      </p:cBhvr>
                                    </p:animEffect>
                                    <p:set>
                                      <p:cBhvr>
                                        <p:cTn id="16" dur="1" fill="hold">
                                          <p:stCondLst>
                                            <p:cond delay="499"/>
                                          </p:stCondLst>
                                        </p:cTn>
                                        <p:tgtEl>
                                          <p:spTgt spid="163"/>
                                        </p:tgtEl>
                                        <p:attrNameLst>
                                          <p:attrName>style.visibility</p:attrName>
                                        </p:attrNameLst>
                                      </p:cBhvr>
                                      <p:to>
                                        <p:strVal val="hidden"/>
                                      </p:to>
                                    </p:set>
                                  </p:childTnLst>
                                </p:cTn>
                              </p:par>
                              <p:par>
                                <p:cTn id="17" presetID="9" presetClass="exit" presetSubtype="0" fill="hold" nodeType="withEffect">
                                  <p:stCondLst>
                                    <p:cond delay="0"/>
                                  </p:stCondLst>
                                  <p:childTnLst>
                                    <p:animEffect transition="out" filter="dissolve">
                                      <p:cBhvr>
                                        <p:cTn id="18" dur="500"/>
                                        <p:tgtEl>
                                          <p:spTgt spid="186"/>
                                        </p:tgtEl>
                                      </p:cBhvr>
                                    </p:animEffect>
                                    <p:set>
                                      <p:cBhvr>
                                        <p:cTn id="19" dur="1" fill="hold">
                                          <p:stCondLst>
                                            <p:cond delay="499"/>
                                          </p:stCondLst>
                                        </p:cTn>
                                        <p:tgtEl>
                                          <p:spTgt spid="186"/>
                                        </p:tgtEl>
                                        <p:attrNameLst>
                                          <p:attrName>style.visibility</p:attrName>
                                        </p:attrNameLst>
                                      </p:cBhvr>
                                      <p:to>
                                        <p:strVal val="hidden"/>
                                      </p:to>
                                    </p:se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187"/>
                                        </p:tgtEl>
                                        <p:attrNameLst>
                                          <p:attrName>style.visibility</p:attrName>
                                        </p:attrNameLst>
                                      </p:cBhvr>
                                      <p:to>
                                        <p:strVal val="visible"/>
                                      </p:to>
                                    </p:set>
                                    <p:animEffect transition="in" filter="wipe(left)">
                                      <p:cBhvr>
                                        <p:cTn id="23" dur="500"/>
                                        <p:tgtEl>
                                          <p:spTgt spid="187"/>
                                        </p:tgtEl>
                                      </p:cBhvr>
                                    </p:animEffect>
                                  </p:childTnLst>
                                </p:cTn>
                              </p:par>
                              <p:par>
                                <p:cTn id="24" presetID="22" presetClass="entr" presetSubtype="8" fill="hold" nodeType="withEffect">
                                  <p:stCondLst>
                                    <p:cond delay="0"/>
                                  </p:stCondLst>
                                  <p:childTnLst>
                                    <p:set>
                                      <p:cBhvr>
                                        <p:cTn id="25" dur="1" fill="hold">
                                          <p:stCondLst>
                                            <p:cond delay="0"/>
                                          </p:stCondLst>
                                        </p:cTn>
                                        <p:tgtEl>
                                          <p:spTgt spid="184"/>
                                        </p:tgtEl>
                                        <p:attrNameLst>
                                          <p:attrName>style.visibility</p:attrName>
                                        </p:attrNameLst>
                                      </p:cBhvr>
                                      <p:to>
                                        <p:strVal val="visible"/>
                                      </p:to>
                                    </p:set>
                                    <p:animEffect transition="in" filter="wipe(left)">
                                      <p:cBhvr>
                                        <p:cTn id="26" dur="500"/>
                                        <p:tgtEl>
                                          <p:spTgt spid="184"/>
                                        </p:tgtEl>
                                      </p:cBhvr>
                                    </p:animEffect>
                                  </p:childTnLst>
                                </p:cTn>
                              </p:par>
                            </p:childTnLst>
                          </p:cTn>
                        </p:par>
                        <p:par>
                          <p:cTn id="27" fill="hold">
                            <p:stCondLst>
                              <p:cond delay="1000"/>
                            </p:stCondLst>
                            <p:childTnLst>
                              <p:par>
                                <p:cTn id="28" presetID="22" presetClass="entr" presetSubtype="4" fill="hold" nodeType="afterEffect">
                                  <p:stCondLst>
                                    <p:cond delay="0"/>
                                  </p:stCondLst>
                                  <p:childTnLst>
                                    <p:set>
                                      <p:cBhvr>
                                        <p:cTn id="29" dur="1" fill="hold">
                                          <p:stCondLst>
                                            <p:cond delay="0"/>
                                          </p:stCondLst>
                                        </p:cTn>
                                        <p:tgtEl>
                                          <p:spTgt spid="186"/>
                                        </p:tgtEl>
                                        <p:attrNameLst>
                                          <p:attrName>style.visibility</p:attrName>
                                        </p:attrNameLst>
                                      </p:cBhvr>
                                      <p:to>
                                        <p:strVal val="visible"/>
                                      </p:to>
                                    </p:set>
                                    <p:animEffect transition="in" filter="wipe(down)">
                                      <p:cBhvr>
                                        <p:cTn id="30" dur="500"/>
                                        <p:tgtEl>
                                          <p:spTgt spid="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964EB-5B78-4DEF-DDDA-B5A67EEA2C94}"/>
              </a:ext>
            </a:extLst>
          </p:cNvPr>
          <p:cNvSpPr>
            <a:spLocks noGrp="1"/>
          </p:cNvSpPr>
          <p:nvPr>
            <p:ph type="title"/>
          </p:nvPr>
        </p:nvSpPr>
        <p:spPr/>
        <p:txBody>
          <a:bodyPr/>
          <a:lstStyle/>
          <a:p>
            <a:r>
              <a:rPr lang="en-US"/>
              <a:t>Unified Installer Streamlines Deployment</a:t>
            </a:r>
            <a:endParaRPr lang="en-US" dirty="0"/>
          </a:p>
        </p:txBody>
      </p:sp>
      <p:sp>
        <p:nvSpPr>
          <p:cNvPr id="3" name="Subtitle 2">
            <a:extLst>
              <a:ext uri="{FF2B5EF4-FFF2-40B4-BE49-F238E27FC236}">
                <a16:creationId xmlns:a16="http://schemas.microsoft.com/office/drawing/2014/main" id="{977820B6-5246-F12B-C542-624C435F9967}"/>
              </a:ext>
            </a:extLst>
          </p:cNvPr>
          <p:cNvSpPr>
            <a:spLocks noGrp="1"/>
          </p:cNvSpPr>
          <p:nvPr>
            <p:ph type="subTitle" idx="10"/>
          </p:nvPr>
        </p:nvSpPr>
        <p:spPr/>
        <p:txBody>
          <a:bodyPr/>
          <a:lstStyle/>
          <a:p>
            <a:r>
              <a:rPr lang="en-US" dirty="0"/>
              <a:t>VMware Cloud Foundation Installer Appliance</a:t>
            </a:r>
          </a:p>
        </p:txBody>
      </p:sp>
      <p:sp>
        <p:nvSpPr>
          <p:cNvPr id="4" name="Text Placeholder 3">
            <a:extLst>
              <a:ext uri="{FF2B5EF4-FFF2-40B4-BE49-F238E27FC236}">
                <a16:creationId xmlns:a16="http://schemas.microsoft.com/office/drawing/2014/main" id="{FBD96D91-98B4-19C9-3FD9-C96ED1C5BF39}"/>
              </a:ext>
            </a:extLst>
          </p:cNvPr>
          <p:cNvSpPr>
            <a:spLocks noGrp="1"/>
          </p:cNvSpPr>
          <p:nvPr>
            <p:ph type="body" sz="quarter" idx="17"/>
          </p:nvPr>
        </p:nvSpPr>
        <p:spPr/>
        <p:txBody>
          <a:bodyPr/>
          <a:lstStyle/>
          <a:p>
            <a:pPr lvl="0"/>
            <a:r>
              <a:rPr lang="en-US" dirty="0">
                <a:solidFill>
                  <a:schemeClr val="tx1"/>
                </a:solidFill>
              </a:rPr>
              <a:t>VCF Installer Appliance:</a:t>
            </a:r>
          </a:p>
          <a:p>
            <a:pPr lvl="0"/>
            <a:r>
              <a:rPr lang="en-US" dirty="0"/>
              <a:t>Streamlines deployment of VCF or VVF from a single appliance</a:t>
            </a:r>
          </a:p>
          <a:p>
            <a:pPr lvl="0"/>
            <a:r>
              <a:rPr lang="en-US" dirty="0"/>
              <a:t>Inbuilt options to re-use existing vCenter, VCF Operations and VCF Automation instances</a:t>
            </a:r>
          </a:p>
          <a:p>
            <a:pPr lvl="0"/>
            <a:r>
              <a:rPr lang="en-US" dirty="0"/>
              <a:t>Full stack deployment and lifecycle management of compute, storage, networking, operations and automation</a:t>
            </a:r>
          </a:p>
          <a:p>
            <a:pPr lvl="0"/>
            <a:r>
              <a:rPr lang="en-US" dirty="0"/>
              <a:t>Generate a re-usable JSON spec which can be uploaded, reviewed and validated from the UI </a:t>
            </a:r>
          </a:p>
          <a:p>
            <a:endParaRPr lang="en-US" dirty="0"/>
          </a:p>
        </p:txBody>
      </p:sp>
      <p:sp>
        <p:nvSpPr>
          <p:cNvPr id="7" name="Google Shape;1426;p7">
            <a:extLst>
              <a:ext uri="{FF2B5EF4-FFF2-40B4-BE49-F238E27FC236}">
                <a16:creationId xmlns:a16="http://schemas.microsoft.com/office/drawing/2014/main" id="{F1CB5CB4-2234-1960-F4F8-3C5CAF5006E5}"/>
              </a:ext>
            </a:extLst>
          </p:cNvPr>
          <p:cNvSpPr/>
          <p:nvPr/>
        </p:nvSpPr>
        <p:spPr>
          <a:xfrm>
            <a:off x="6479" y="1617390"/>
            <a:ext cx="8133399" cy="4572000"/>
          </a:xfrm>
          <a:prstGeom prst="roundRect">
            <a:avLst>
              <a:gd name="adj" fmla="val 0"/>
            </a:avLst>
          </a:prstGeom>
          <a:solidFill>
            <a:srgbClr val="F4F8FA"/>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8" name="Google Shape;1431;p7">
            <a:extLst>
              <a:ext uri="{FF2B5EF4-FFF2-40B4-BE49-F238E27FC236}">
                <a16:creationId xmlns:a16="http://schemas.microsoft.com/office/drawing/2014/main" id="{4BE18500-8950-3658-07C4-96709CB06256}"/>
              </a:ext>
            </a:extLst>
          </p:cNvPr>
          <p:cNvSpPr/>
          <p:nvPr/>
        </p:nvSpPr>
        <p:spPr>
          <a:xfrm>
            <a:off x="3286786" y="1750218"/>
            <a:ext cx="4731160" cy="4295951"/>
          </a:xfrm>
          <a:prstGeom prst="roundRect">
            <a:avLst>
              <a:gd name="adj" fmla="val 2790"/>
            </a:avLst>
          </a:prstGeom>
          <a:solidFill>
            <a:schemeClr val="lt1"/>
          </a:solid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9" name="Google Shape;1432;p7">
            <a:extLst>
              <a:ext uri="{FF2B5EF4-FFF2-40B4-BE49-F238E27FC236}">
                <a16:creationId xmlns:a16="http://schemas.microsoft.com/office/drawing/2014/main" id="{1B8036F3-DA4F-0BEC-193D-461E8B7EA7A4}"/>
              </a:ext>
            </a:extLst>
          </p:cNvPr>
          <p:cNvGrpSpPr/>
          <p:nvPr/>
        </p:nvGrpSpPr>
        <p:grpSpPr>
          <a:xfrm>
            <a:off x="4263615" y="2678872"/>
            <a:ext cx="1456647" cy="1275629"/>
            <a:chOff x="4120905" y="2751137"/>
            <a:chExt cx="1456647" cy="1275629"/>
          </a:xfrm>
        </p:grpSpPr>
        <p:grpSp>
          <p:nvGrpSpPr>
            <p:cNvPr id="10" name="Google Shape;1433;p7">
              <a:extLst>
                <a:ext uri="{FF2B5EF4-FFF2-40B4-BE49-F238E27FC236}">
                  <a16:creationId xmlns:a16="http://schemas.microsoft.com/office/drawing/2014/main" id="{8584CE57-BABC-EB23-15A9-9CF4B9ABA20C}"/>
                </a:ext>
              </a:extLst>
            </p:cNvPr>
            <p:cNvGrpSpPr/>
            <p:nvPr/>
          </p:nvGrpSpPr>
          <p:grpSpPr>
            <a:xfrm>
              <a:off x="4125845" y="2756631"/>
              <a:ext cx="1448451" cy="1201448"/>
              <a:chOff x="4125845" y="2756631"/>
              <a:chExt cx="1448451" cy="1201448"/>
            </a:xfrm>
          </p:grpSpPr>
          <p:pic>
            <p:nvPicPr>
              <p:cNvPr id="12" name="Google Shape;1434;p7">
                <a:extLst>
                  <a:ext uri="{FF2B5EF4-FFF2-40B4-BE49-F238E27FC236}">
                    <a16:creationId xmlns:a16="http://schemas.microsoft.com/office/drawing/2014/main" id="{B37D7BA2-EBA0-D810-3435-0B95910251D7}"/>
                  </a:ext>
                </a:extLst>
              </p:cNvPr>
              <p:cNvPicPr preferRelativeResize="0"/>
              <p:nvPr/>
            </p:nvPicPr>
            <p:blipFill rotWithShape="1">
              <a:blip r:embed="rId3">
                <a:alphaModFix/>
              </a:blip>
              <a:srcRect/>
              <a:stretch/>
            </p:blipFill>
            <p:spPr>
              <a:xfrm>
                <a:off x="4125845" y="2756631"/>
                <a:ext cx="1448451" cy="1201448"/>
              </a:xfrm>
              <a:prstGeom prst="rect">
                <a:avLst/>
              </a:prstGeom>
              <a:noFill/>
              <a:ln>
                <a:noFill/>
              </a:ln>
            </p:spPr>
          </p:pic>
          <p:sp>
            <p:nvSpPr>
              <p:cNvPr id="13" name="Google Shape;1435;p7">
                <a:extLst>
                  <a:ext uri="{FF2B5EF4-FFF2-40B4-BE49-F238E27FC236}">
                    <a16:creationId xmlns:a16="http://schemas.microsoft.com/office/drawing/2014/main" id="{82D7A5D5-8CDE-DE42-882B-A2507B7EEEC4}"/>
                  </a:ext>
                </a:extLst>
              </p:cNvPr>
              <p:cNvSpPr/>
              <p:nvPr/>
            </p:nvSpPr>
            <p:spPr>
              <a:xfrm>
                <a:off x="5070888" y="3796831"/>
                <a:ext cx="462334" cy="101210"/>
              </a:xfrm>
              <a:prstGeom prst="rect">
                <a:avLst/>
              </a:prstGeom>
              <a:solidFill>
                <a:srgbClr val="FCFEFE"/>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sp>
          <p:nvSpPr>
            <p:cNvPr id="11" name="Google Shape;1436;p7">
              <a:extLst>
                <a:ext uri="{FF2B5EF4-FFF2-40B4-BE49-F238E27FC236}">
                  <a16:creationId xmlns:a16="http://schemas.microsoft.com/office/drawing/2014/main" id="{ECB95D4C-02C4-8E05-A14F-24631D8799A5}"/>
                </a:ext>
              </a:extLst>
            </p:cNvPr>
            <p:cNvSpPr/>
            <p:nvPr/>
          </p:nvSpPr>
          <p:spPr>
            <a:xfrm>
              <a:off x="4120905" y="2751137"/>
              <a:ext cx="1456647" cy="1275629"/>
            </a:xfrm>
            <a:prstGeom prst="roundRect">
              <a:avLst>
                <a:gd name="adj" fmla="val 2356"/>
              </a:avLst>
            </a:prstGeom>
            <a:no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sp>
        <p:nvSpPr>
          <p:cNvPr id="14" name="Google Shape;1437;p7">
            <a:extLst>
              <a:ext uri="{FF2B5EF4-FFF2-40B4-BE49-F238E27FC236}">
                <a16:creationId xmlns:a16="http://schemas.microsoft.com/office/drawing/2014/main" id="{3092F9F4-CF18-9F6E-5B7A-25A775AEC575}"/>
              </a:ext>
            </a:extLst>
          </p:cNvPr>
          <p:cNvSpPr/>
          <p:nvPr/>
        </p:nvSpPr>
        <p:spPr>
          <a:xfrm>
            <a:off x="608012" y="1750219"/>
            <a:ext cx="2573580" cy="4295951"/>
          </a:xfrm>
          <a:prstGeom prst="roundRect">
            <a:avLst>
              <a:gd name="adj" fmla="val 2790"/>
            </a:avLst>
          </a:prstGeom>
          <a:solidFill>
            <a:schemeClr val="lt1"/>
          </a:solid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5" name="Google Shape;1438;p7">
            <a:extLst>
              <a:ext uri="{FF2B5EF4-FFF2-40B4-BE49-F238E27FC236}">
                <a16:creationId xmlns:a16="http://schemas.microsoft.com/office/drawing/2014/main" id="{87FD070D-55DB-1A7D-756C-E90044294C23}"/>
              </a:ext>
            </a:extLst>
          </p:cNvPr>
          <p:cNvGrpSpPr/>
          <p:nvPr/>
        </p:nvGrpSpPr>
        <p:grpSpPr>
          <a:xfrm>
            <a:off x="848650" y="3028036"/>
            <a:ext cx="2068024" cy="2290319"/>
            <a:chOff x="615013" y="1865872"/>
            <a:chExt cx="3151998" cy="3490809"/>
          </a:xfrm>
        </p:grpSpPr>
        <p:grpSp>
          <p:nvGrpSpPr>
            <p:cNvPr id="16" name="Google Shape;1439;p7" descr="management domain">
              <a:extLst>
                <a:ext uri="{FF2B5EF4-FFF2-40B4-BE49-F238E27FC236}">
                  <a16:creationId xmlns:a16="http://schemas.microsoft.com/office/drawing/2014/main" id="{A307E7A8-4461-9ACA-BF37-0B2DFEA07476}"/>
                </a:ext>
              </a:extLst>
            </p:cNvPr>
            <p:cNvGrpSpPr/>
            <p:nvPr/>
          </p:nvGrpSpPr>
          <p:grpSpPr>
            <a:xfrm>
              <a:off x="615013" y="2351496"/>
              <a:ext cx="3151998" cy="3005185"/>
              <a:chOff x="8339056" y="2810218"/>
              <a:chExt cx="3152819" cy="3005968"/>
            </a:xfrm>
          </p:grpSpPr>
          <p:sp>
            <p:nvSpPr>
              <p:cNvPr id="18" name="Google Shape;1440;p7">
                <a:extLst>
                  <a:ext uri="{FF2B5EF4-FFF2-40B4-BE49-F238E27FC236}">
                    <a16:creationId xmlns:a16="http://schemas.microsoft.com/office/drawing/2014/main" id="{0A5A07CE-2453-B4EA-5260-16E3F65C60AE}"/>
                  </a:ext>
                </a:extLst>
              </p:cNvPr>
              <p:cNvSpPr/>
              <p:nvPr/>
            </p:nvSpPr>
            <p:spPr>
              <a:xfrm>
                <a:off x="8339056" y="2810218"/>
                <a:ext cx="3152819" cy="3005968"/>
              </a:xfrm>
              <a:prstGeom prst="roundRect">
                <a:avLst>
                  <a:gd name="adj" fmla="val 0"/>
                </a:avLst>
              </a:prstGeom>
              <a:gradFill>
                <a:gsLst>
                  <a:gs pos="0">
                    <a:schemeClr val="accent3"/>
                  </a:gs>
                  <a:gs pos="83000">
                    <a:schemeClr val="accent2"/>
                  </a:gs>
                  <a:gs pos="100000">
                    <a:schemeClr val="accent2"/>
                  </a:gs>
                </a:gsLst>
                <a:lin ang="1080000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19" name="Google Shape;1441;p7">
                <a:extLst>
                  <a:ext uri="{FF2B5EF4-FFF2-40B4-BE49-F238E27FC236}">
                    <a16:creationId xmlns:a16="http://schemas.microsoft.com/office/drawing/2014/main" id="{9CAE99AE-CEF9-5D83-87F5-B25255051B7F}"/>
                  </a:ext>
                </a:extLst>
              </p:cNvPr>
              <p:cNvPicPr preferRelativeResize="0"/>
              <p:nvPr/>
            </p:nvPicPr>
            <p:blipFill rotWithShape="1">
              <a:blip r:embed="rId4">
                <a:alphaModFix/>
              </a:blip>
              <a:srcRect/>
              <a:stretch/>
            </p:blipFill>
            <p:spPr>
              <a:xfrm>
                <a:off x="10665441" y="5023667"/>
                <a:ext cx="403310" cy="476130"/>
              </a:xfrm>
              <a:prstGeom prst="rect">
                <a:avLst/>
              </a:prstGeom>
              <a:noFill/>
              <a:ln>
                <a:noFill/>
              </a:ln>
            </p:spPr>
          </p:pic>
          <p:grpSp>
            <p:nvGrpSpPr>
              <p:cNvPr id="20" name="Google Shape;1442;p7">
                <a:extLst>
                  <a:ext uri="{FF2B5EF4-FFF2-40B4-BE49-F238E27FC236}">
                    <a16:creationId xmlns:a16="http://schemas.microsoft.com/office/drawing/2014/main" id="{9EF4CFD3-A60A-8C0A-5E1D-C65CB90F1FEA}"/>
                  </a:ext>
                </a:extLst>
              </p:cNvPr>
              <p:cNvGrpSpPr/>
              <p:nvPr/>
            </p:nvGrpSpPr>
            <p:grpSpPr>
              <a:xfrm>
                <a:off x="9706721" y="5025665"/>
                <a:ext cx="477198" cy="472135"/>
                <a:chOff x="4232704" y="5641814"/>
                <a:chExt cx="793603" cy="785185"/>
              </a:xfrm>
            </p:grpSpPr>
            <p:sp>
              <p:nvSpPr>
                <p:cNvPr id="28" name="Google Shape;1443;p7">
                  <a:extLst>
                    <a:ext uri="{FF2B5EF4-FFF2-40B4-BE49-F238E27FC236}">
                      <a16:creationId xmlns:a16="http://schemas.microsoft.com/office/drawing/2014/main" id="{EB3669A6-67F2-4626-2928-65771F4FE6C2}"/>
                    </a:ext>
                  </a:extLst>
                </p:cNvPr>
                <p:cNvSpPr/>
                <p:nvPr/>
              </p:nvSpPr>
              <p:spPr>
                <a:xfrm>
                  <a:off x="4234596" y="5641814"/>
                  <a:ext cx="791711" cy="369229"/>
                </a:xfrm>
                <a:prstGeom prst="rightArrow">
                  <a:avLst>
                    <a:gd name="adj1" fmla="val 50000"/>
                    <a:gd name="adj2" fmla="val 50000"/>
                  </a:avLst>
                </a:prstGeom>
                <a:noFill/>
                <a:ln w="12700" cap="flat" cmpd="sng">
                  <a:solidFill>
                    <a:schemeClr val="lt1"/>
                  </a:solidFill>
                  <a:prstDash val="solid"/>
                  <a:bevel/>
                  <a:headEnd type="none" w="sm" len="sm"/>
                  <a:tailEnd type="none" w="sm" len="sm"/>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sp>
              <p:nvSpPr>
                <p:cNvPr id="29" name="Google Shape;1444;p7">
                  <a:extLst>
                    <a:ext uri="{FF2B5EF4-FFF2-40B4-BE49-F238E27FC236}">
                      <a16:creationId xmlns:a16="http://schemas.microsoft.com/office/drawing/2014/main" id="{92173E10-4F24-7A79-29EB-2D7BE8BBCE29}"/>
                    </a:ext>
                  </a:extLst>
                </p:cNvPr>
                <p:cNvSpPr/>
                <p:nvPr/>
              </p:nvSpPr>
              <p:spPr>
                <a:xfrm rot="10800000">
                  <a:off x="4232704" y="6057768"/>
                  <a:ext cx="791712" cy="369231"/>
                </a:xfrm>
                <a:prstGeom prst="rightArrow">
                  <a:avLst>
                    <a:gd name="adj1" fmla="val 50000"/>
                    <a:gd name="adj2" fmla="val 50000"/>
                  </a:avLst>
                </a:prstGeom>
                <a:noFill/>
                <a:ln w="12700" cap="flat" cmpd="sng">
                  <a:solidFill>
                    <a:schemeClr val="lt1"/>
                  </a:solidFill>
                  <a:prstDash val="solid"/>
                  <a:bevel/>
                  <a:headEnd type="none" w="sm" len="sm"/>
                  <a:tailEnd type="none" w="sm" len="sm"/>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grpSp>
          <p:grpSp>
            <p:nvGrpSpPr>
              <p:cNvPr id="21" name="Google Shape;1445;p7">
                <a:extLst>
                  <a:ext uri="{FF2B5EF4-FFF2-40B4-BE49-F238E27FC236}">
                    <a16:creationId xmlns:a16="http://schemas.microsoft.com/office/drawing/2014/main" id="{F52BEED1-DDBD-1A7B-D9D1-BD35335E08F0}"/>
                  </a:ext>
                </a:extLst>
              </p:cNvPr>
              <p:cNvGrpSpPr/>
              <p:nvPr/>
            </p:nvGrpSpPr>
            <p:grpSpPr>
              <a:xfrm>
                <a:off x="8668596" y="3426524"/>
                <a:ext cx="2493740" cy="646873"/>
                <a:chOff x="8866282" y="3245549"/>
                <a:chExt cx="2493740" cy="646873"/>
              </a:xfrm>
            </p:grpSpPr>
            <p:pic>
              <p:nvPicPr>
                <p:cNvPr id="25" name="Google Shape;1446;p7">
                  <a:extLst>
                    <a:ext uri="{FF2B5EF4-FFF2-40B4-BE49-F238E27FC236}">
                      <a16:creationId xmlns:a16="http://schemas.microsoft.com/office/drawing/2014/main" id="{A625B3F7-CC7C-C1E2-E987-EA45A6D22348}"/>
                    </a:ext>
                  </a:extLst>
                </p:cNvPr>
                <p:cNvPicPr preferRelativeResize="0"/>
                <p:nvPr/>
              </p:nvPicPr>
              <p:blipFill rotWithShape="1">
                <a:blip r:embed="rId5">
                  <a:alphaModFix/>
                </a:blip>
                <a:srcRect/>
                <a:stretch/>
              </p:blipFill>
              <p:spPr>
                <a:xfrm>
                  <a:off x="9792231" y="3245549"/>
                  <a:ext cx="650475" cy="643481"/>
                </a:xfrm>
                <a:prstGeom prst="rect">
                  <a:avLst/>
                </a:prstGeom>
                <a:noFill/>
                <a:ln>
                  <a:noFill/>
                </a:ln>
              </p:spPr>
            </p:pic>
            <p:pic>
              <p:nvPicPr>
                <p:cNvPr id="26" name="Google Shape;1447;p7">
                  <a:extLst>
                    <a:ext uri="{FF2B5EF4-FFF2-40B4-BE49-F238E27FC236}">
                      <a16:creationId xmlns:a16="http://schemas.microsoft.com/office/drawing/2014/main" id="{2C02A02D-457B-DC4C-49EC-3FA87D747CC1}"/>
                    </a:ext>
                  </a:extLst>
                </p:cNvPr>
                <p:cNvPicPr preferRelativeResize="0"/>
                <p:nvPr/>
              </p:nvPicPr>
              <p:blipFill rotWithShape="1">
                <a:blip r:embed="rId6">
                  <a:alphaModFix/>
                </a:blip>
                <a:srcRect/>
                <a:stretch/>
              </p:blipFill>
              <p:spPr>
                <a:xfrm>
                  <a:off x="8866282" y="3247722"/>
                  <a:ext cx="651706" cy="644699"/>
                </a:xfrm>
                <a:prstGeom prst="rect">
                  <a:avLst/>
                </a:prstGeom>
                <a:noFill/>
                <a:ln>
                  <a:noFill/>
                </a:ln>
              </p:spPr>
            </p:pic>
            <p:pic>
              <p:nvPicPr>
                <p:cNvPr id="27" name="Google Shape;1448;p7">
                  <a:extLst>
                    <a:ext uri="{FF2B5EF4-FFF2-40B4-BE49-F238E27FC236}">
                      <a16:creationId xmlns:a16="http://schemas.microsoft.com/office/drawing/2014/main" id="{AF74B2BA-08BA-6E91-A3F6-86F5DEA79EDC}"/>
                    </a:ext>
                  </a:extLst>
                </p:cNvPr>
                <p:cNvPicPr preferRelativeResize="0"/>
                <p:nvPr/>
              </p:nvPicPr>
              <p:blipFill rotWithShape="1">
                <a:blip r:embed="rId7">
                  <a:alphaModFix/>
                </a:blip>
                <a:srcRect/>
                <a:stretch/>
              </p:blipFill>
              <p:spPr>
                <a:xfrm>
                  <a:off x="10715323" y="3247723"/>
                  <a:ext cx="644699" cy="644699"/>
                </a:xfrm>
                <a:prstGeom prst="rect">
                  <a:avLst/>
                </a:prstGeom>
                <a:noFill/>
                <a:ln>
                  <a:noFill/>
                </a:ln>
              </p:spPr>
            </p:pic>
          </p:grpSp>
          <p:pic>
            <p:nvPicPr>
              <p:cNvPr id="22" name="Google Shape;1449;p7">
                <a:extLst>
                  <a:ext uri="{FF2B5EF4-FFF2-40B4-BE49-F238E27FC236}">
                    <a16:creationId xmlns:a16="http://schemas.microsoft.com/office/drawing/2014/main" id="{E6187E92-634E-5B7B-04EA-CED0F6831297}"/>
                  </a:ext>
                </a:extLst>
              </p:cNvPr>
              <p:cNvPicPr preferRelativeResize="0"/>
              <p:nvPr/>
            </p:nvPicPr>
            <p:blipFill rotWithShape="1">
              <a:blip r:embed="rId8">
                <a:alphaModFix/>
              </a:blip>
              <a:srcRect/>
              <a:stretch/>
            </p:blipFill>
            <p:spPr>
              <a:xfrm>
                <a:off x="8765520" y="5033746"/>
                <a:ext cx="459680" cy="455973"/>
              </a:xfrm>
              <a:prstGeom prst="rect">
                <a:avLst/>
              </a:prstGeom>
              <a:noFill/>
              <a:ln>
                <a:noFill/>
              </a:ln>
            </p:spPr>
          </p:pic>
          <p:sp>
            <p:nvSpPr>
              <p:cNvPr id="23" name="Google Shape;1450;p7">
                <a:extLst>
                  <a:ext uri="{FF2B5EF4-FFF2-40B4-BE49-F238E27FC236}">
                    <a16:creationId xmlns:a16="http://schemas.microsoft.com/office/drawing/2014/main" id="{B591C06F-0C7D-A3E3-12F1-FD25E87058DB}"/>
                  </a:ext>
                </a:extLst>
              </p:cNvPr>
              <p:cNvSpPr/>
              <p:nvPr/>
            </p:nvSpPr>
            <p:spPr>
              <a:xfrm>
                <a:off x="8473066" y="4895329"/>
                <a:ext cx="2879812" cy="732806"/>
              </a:xfrm>
              <a:prstGeom prst="roundRect">
                <a:avLst>
                  <a:gd name="adj" fmla="val 0"/>
                </a:avLst>
              </a:prstGeom>
              <a:noFill/>
              <a:ln w="12700" cap="flat" cmpd="sng">
                <a:solidFill>
                  <a:srgbClr val="FFFFFF"/>
                </a:solidFill>
                <a:prstDash val="solid"/>
                <a:miter lim="800000"/>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4" name="Google Shape;1451;p7">
                <a:extLst>
                  <a:ext uri="{FF2B5EF4-FFF2-40B4-BE49-F238E27FC236}">
                    <a16:creationId xmlns:a16="http://schemas.microsoft.com/office/drawing/2014/main" id="{1052759A-D0E6-94E3-CDBF-5643293E0C1C}"/>
                  </a:ext>
                </a:extLst>
              </p:cNvPr>
              <p:cNvSpPr/>
              <p:nvPr/>
            </p:nvSpPr>
            <p:spPr>
              <a:xfrm>
                <a:off x="8612648" y="2988018"/>
                <a:ext cx="2605635" cy="224320"/>
              </a:xfrm>
              <a:prstGeom prst="rect">
                <a:avLst/>
              </a:prstGeom>
              <a:no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799"/>
                  <a:buFont typeface="Arial"/>
                  <a:buNone/>
                  <a:tabLst/>
                  <a:defRPr/>
                </a:pPr>
                <a:r>
                  <a:rPr kumimoji="0" lang="en-US" sz="900" b="0" i="0" u="none" strike="noStrike" kern="1200" cap="none" spc="0" normalizeH="0" baseline="0" noProof="0" dirty="0">
                    <a:ln>
                      <a:noFill/>
                    </a:ln>
                    <a:solidFill>
                      <a:srgbClr val="FFFFFF"/>
                    </a:solidFill>
                    <a:effectLst/>
                    <a:uLnTx/>
                    <a:uFillTx/>
                    <a:latin typeface="Arial"/>
                    <a:ea typeface="Arial"/>
                    <a:cs typeface="Arial"/>
                    <a:sym typeface="Arial"/>
                  </a:rPr>
                  <a:t>VMware Cloud Foundation</a:t>
                </a:r>
                <a:endParaRPr kumimoji="0" sz="9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pic>
          <p:nvPicPr>
            <p:cNvPr id="17" name="Google Shape;1452;p7">
              <a:extLst>
                <a:ext uri="{FF2B5EF4-FFF2-40B4-BE49-F238E27FC236}">
                  <a16:creationId xmlns:a16="http://schemas.microsoft.com/office/drawing/2014/main" id="{B6266471-F7A0-BA07-5C08-7665A5258E92}"/>
                </a:ext>
              </a:extLst>
            </p:cNvPr>
            <p:cNvPicPr preferRelativeResize="0"/>
            <p:nvPr/>
          </p:nvPicPr>
          <p:blipFill rotWithShape="1">
            <a:blip r:embed="rId9">
              <a:alphaModFix/>
            </a:blip>
            <a:srcRect/>
            <a:stretch/>
          </p:blipFill>
          <p:spPr>
            <a:xfrm>
              <a:off x="1963471" y="1865872"/>
              <a:ext cx="456665" cy="456666"/>
            </a:xfrm>
            <a:prstGeom prst="rect">
              <a:avLst/>
            </a:prstGeom>
            <a:noFill/>
            <a:ln>
              <a:noFill/>
            </a:ln>
          </p:spPr>
        </p:pic>
      </p:grpSp>
      <p:sp>
        <p:nvSpPr>
          <p:cNvPr id="30" name="Google Shape;1453;p7">
            <a:extLst>
              <a:ext uri="{FF2B5EF4-FFF2-40B4-BE49-F238E27FC236}">
                <a16:creationId xmlns:a16="http://schemas.microsoft.com/office/drawing/2014/main" id="{AB86EDF6-96BB-E557-60AA-FC9D842ADE0F}"/>
              </a:ext>
            </a:extLst>
          </p:cNvPr>
          <p:cNvSpPr/>
          <p:nvPr/>
        </p:nvSpPr>
        <p:spPr>
          <a:xfrm>
            <a:off x="1571011" y="2670550"/>
            <a:ext cx="639363" cy="305987"/>
          </a:xfrm>
          <a:prstGeom prst="roundRect">
            <a:avLst>
              <a:gd name="adj" fmla="val 16667"/>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Arial"/>
                <a:ea typeface="Arial"/>
                <a:cs typeface="Arial"/>
                <a:sym typeface="Arial"/>
              </a:rPr>
              <a:t>Aria LCM</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1" name="Google Shape;1454;p7">
            <a:extLst>
              <a:ext uri="{FF2B5EF4-FFF2-40B4-BE49-F238E27FC236}">
                <a16:creationId xmlns:a16="http://schemas.microsoft.com/office/drawing/2014/main" id="{15AF4E5F-C576-00B3-AFA7-A9B1D3DE59C4}"/>
              </a:ext>
            </a:extLst>
          </p:cNvPr>
          <p:cNvSpPr/>
          <p:nvPr/>
        </p:nvSpPr>
        <p:spPr>
          <a:xfrm>
            <a:off x="2257002" y="2670448"/>
            <a:ext cx="672649" cy="305987"/>
          </a:xfrm>
          <a:prstGeom prst="roundRect">
            <a:avLst>
              <a:gd name="adj" fmla="val 16667"/>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a:ln>
                  <a:noFill/>
                </a:ln>
                <a:solidFill>
                  <a:srgbClr val="FFFFFF"/>
                </a:solidFill>
                <a:effectLst/>
                <a:uLnTx/>
                <a:uFillTx/>
                <a:latin typeface="Arial"/>
                <a:ea typeface="Arial"/>
                <a:cs typeface="Arial"/>
                <a:sym typeface="Arial"/>
              </a:rPr>
              <a:t>VIDM</a:t>
            </a:r>
            <a:endParaRPr kumimoji="0"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2" name="Google Shape;1455;p7">
            <a:extLst>
              <a:ext uri="{FF2B5EF4-FFF2-40B4-BE49-F238E27FC236}">
                <a16:creationId xmlns:a16="http://schemas.microsoft.com/office/drawing/2014/main" id="{91F33548-54A3-C5DF-05E5-2D54CCF38CC1}"/>
              </a:ext>
            </a:extLst>
          </p:cNvPr>
          <p:cNvSpPr/>
          <p:nvPr/>
        </p:nvSpPr>
        <p:spPr>
          <a:xfrm>
            <a:off x="855954" y="2299054"/>
            <a:ext cx="672572" cy="305987"/>
          </a:xfrm>
          <a:prstGeom prst="roundRect">
            <a:avLst>
              <a:gd name="adj" fmla="val 16667"/>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Arial"/>
                <a:ea typeface="Arial"/>
                <a:cs typeface="Arial"/>
                <a:sym typeface="Arial"/>
              </a:rPr>
              <a:t>Aria Operations</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3" name="Google Shape;1456;p7">
            <a:extLst>
              <a:ext uri="{FF2B5EF4-FFF2-40B4-BE49-F238E27FC236}">
                <a16:creationId xmlns:a16="http://schemas.microsoft.com/office/drawing/2014/main" id="{016AFF49-1B74-26DF-A5EB-288109E965E1}"/>
              </a:ext>
            </a:extLst>
          </p:cNvPr>
          <p:cNvSpPr/>
          <p:nvPr/>
        </p:nvSpPr>
        <p:spPr>
          <a:xfrm>
            <a:off x="855876" y="2670448"/>
            <a:ext cx="672649" cy="305987"/>
          </a:xfrm>
          <a:prstGeom prst="roundRect">
            <a:avLst>
              <a:gd name="adj" fmla="val 16667"/>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Arial"/>
                <a:ea typeface="Arial"/>
                <a:cs typeface="Arial"/>
                <a:sym typeface="Arial"/>
              </a:rPr>
              <a:t>Aria Ops Networks</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4" name="Google Shape;1457;p7">
            <a:extLst>
              <a:ext uri="{FF2B5EF4-FFF2-40B4-BE49-F238E27FC236}">
                <a16:creationId xmlns:a16="http://schemas.microsoft.com/office/drawing/2014/main" id="{DC5B496B-3071-CAA0-AE4A-7532D32A5983}"/>
              </a:ext>
            </a:extLst>
          </p:cNvPr>
          <p:cNvSpPr/>
          <p:nvPr/>
        </p:nvSpPr>
        <p:spPr>
          <a:xfrm>
            <a:off x="1578607" y="2295973"/>
            <a:ext cx="619629" cy="305987"/>
          </a:xfrm>
          <a:prstGeom prst="roundRect">
            <a:avLst>
              <a:gd name="adj" fmla="val 16667"/>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Arial"/>
                <a:ea typeface="Arial"/>
                <a:cs typeface="Arial"/>
                <a:sym typeface="Arial"/>
              </a:rPr>
              <a:t>Aria Ops Logs</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5" name="Google Shape;1458;p7">
            <a:extLst>
              <a:ext uri="{FF2B5EF4-FFF2-40B4-BE49-F238E27FC236}">
                <a16:creationId xmlns:a16="http://schemas.microsoft.com/office/drawing/2014/main" id="{16BF7BC6-9A8D-FF87-4833-FDB84E101922}"/>
              </a:ext>
            </a:extLst>
          </p:cNvPr>
          <p:cNvSpPr/>
          <p:nvPr/>
        </p:nvSpPr>
        <p:spPr>
          <a:xfrm>
            <a:off x="2257002" y="2295972"/>
            <a:ext cx="672649" cy="305987"/>
          </a:xfrm>
          <a:prstGeom prst="roundRect">
            <a:avLst>
              <a:gd name="adj" fmla="val 16667"/>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srgbClr val="FFFFFF"/>
                </a:solidFill>
                <a:effectLst/>
                <a:uLnTx/>
                <a:uFillTx/>
                <a:latin typeface="Arial"/>
                <a:ea typeface="Arial"/>
                <a:cs typeface="Arial"/>
                <a:sym typeface="Arial"/>
              </a:rPr>
              <a:t>Aria Automation</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6" name="Google Shape;1459;p7">
            <a:extLst>
              <a:ext uri="{FF2B5EF4-FFF2-40B4-BE49-F238E27FC236}">
                <a16:creationId xmlns:a16="http://schemas.microsoft.com/office/drawing/2014/main" id="{33CF2429-3F78-3443-A0C7-35018868A384}"/>
              </a:ext>
            </a:extLst>
          </p:cNvPr>
          <p:cNvSpPr txBox="1"/>
          <p:nvPr/>
        </p:nvSpPr>
        <p:spPr>
          <a:xfrm>
            <a:off x="730871" y="1829794"/>
            <a:ext cx="1013400" cy="2862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30000"/>
              </a:lnSpc>
              <a:spcBef>
                <a:spcPts val="0"/>
              </a:spcBef>
              <a:spcAft>
                <a:spcPts val="0"/>
              </a:spcAft>
              <a:buClr>
                <a:srgbClr val="000000"/>
              </a:buClr>
              <a:buSzPts val="1000"/>
              <a:buFont typeface="Arial"/>
              <a:buNone/>
              <a:tabLst/>
              <a:defRPr/>
            </a:pPr>
            <a:r>
              <a:rPr kumimoji="0" lang="en-US" sz="1000" b="1" i="0" u="none" strike="noStrike" kern="1200" cap="none" spc="0" normalizeH="0" baseline="0" noProof="0">
                <a:ln>
                  <a:noFill/>
                </a:ln>
                <a:solidFill>
                  <a:srgbClr val="000000"/>
                </a:solidFill>
                <a:effectLst/>
                <a:uLnTx/>
                <a:uFillTx/>
                <a:latin typeface="Arial"/>
                <a:ea typeface="Arial"/>
                <a:cs typeface="Arial"/>
                <a:sym typeface="Arial"/>
              </a:rPr>
              <a:t>VCF 5.x</a:t>
            </a:r>
            <a:endParaRPr kumimoji="0" sz="1000" b="1"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37" name="Google Shape;1460;p7">
            <a:extLst>
              <a:ext uri="{FF2B5EF4-FFF2-40B4-BE49-F238E27FC236}">
                <a16:creationId xmlns:a16="http://schemas.microsoft.com/office/drawing/2014/main" id="{8BBE7C16-C273-E3D1-AB54-897EEC26EC4F}"/>
              </a:ext>
            </a:extLst>
          </p:cNvPr>
          <p:cNvGrpSpPr/>
          <p:nvPr/>
        </p:nvGrpSpPr>
        <p:grpSpPr>
          <a:xfrm>
            <a:off x="686767" y="5432921"/>
            <a:ext cx="2375442" cy="511005"/>
            <a:chOff x="336349" y="5279481"/>
            <a:chExt cx="3069536" cy="660317"/>
          </a:xfrm>
        </p:grpSpPr>
        <p:grpSp>
          <p:nvGrpSpPr>
            <p:cNvPr id="38" name="Google Shape;1461;p7">
              <a:extLst>
                <a:ext uri="{FF2B5EF4-FFF2-40B4-BE49-F238E27FC236}">
                  <a16:creationId xmlns:a16="http://schemas.microsoft.com/office/drawing/2014/main" id="{AE71C826-51BD-3B31-37F1-15DB1E8619A1}"/>
                </a:ext>
              </a:extLst>
            </p:cNvPr>
            <p:cNvGrpSpPr/>
            <p:nvPr/>
          </p:nvGrpSpPr>
          <p:grpSpPr>
            <a:xfrm>
              <a:off x="656436" y="5286826"/>
              <a:ext cx="408587" cy="408586"/>
              <a:chOff x="7773041" y="4914900"/>
              <a:chExt cx="777242" cy="777240"/>
            </a:xfrm>
          </p:grpSpPr>
          <p:sp>
            <p:nvSpPr>
              <p:cNvPr id="49" name="Google Shape;1462;p7">
                <a:extLst>
                  <a:ext uri="{FF2B5EF4-FFF2-40B4-BE49-F238E27FC236}">
                    <a16:creationId xmlns:a16="http://schemas.microsoft.com/office/drawing/2014/main" id="{F8097D61-E1B9-3AF9-CD44-C576E5F2A0AE}"/>
                  </a:ext>
                </a:extLst>
              </p:cNvPr>
              <p:cNvSpPr/>
              <p:nvPr/>
            </p:nvSpPr>
            <p:spPr>
              <a:xfrm>
                <a:off x="7773041" y="4914900"/>
                <a:ext cx="777242" cy="777240"/>
              </a:xfrm>
              <a:prstGeom prst="ellipse">
                <a:avLst/>
              </a:prstGeom>
              <a:solidFill>
                <a:schemeClr val="lt1"/>
              </a:solidFill>
              <a:ln w="254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50" name="Google Shape;1463;p7">
                <a:extLst>
                  <a:ext uri="{FF2B5EF4-FFF2-40B4-BE49-F238E27FC236}">
                    <a16:creationId xmlns:a16="http://schemas.microsoft.com/office/drawing/2014/main" id="{27F1C1D4-E33C-6102-817E-BAD6A33DC0FE}"/>
                  </a:ext>
                </a:extLst>
              </p:cNvPr>
              <p:cNvGrpSpPr/>
              <p:nvPr/>
            </p:nvGrpSpPr>
            <p:grpSpPr>
              <a:xfrm>
                <a:off x="7961563" y="5091263"/>
                <a:ext cx="443993" cy="443318"/>
                <a:chOff x="2664852" y="3380222"/>
                <a:chExt cx="896283" cy="861930"/>
              </a:xfrm>
            </p:grpSpPr>
            <p:sp>
              <p:nvSpPr>
                <p:cNvPr id="51" name="Google Shape;1464;p7">
                  <a:extLst>
                    <a:ext uri="{FF2B5EF4-FFF2-40B4-BE49-F238E27FC236}">
                      <a16:creationId xmlns:a16="http://schemas.microsoft.com/office/drawing/2014/main" id="{91A4D4F5-673E-891E-98C2-9F9E6982F595}"/>
                    </a:ext>
                  </a:extLst>
                </p:cNvPr>
                <p:cNvSpPr/>
                <p:nvPr/>
              </p:nvSpPr>
              <p:spPr>
                <a:xfrm>
                  <a:off x="2664852" y="3380222"/>
                  <a:ext cx="810775" cy="804580"/>
                </a:xfrm>
                <a:custGeom>
                  <a:avLst/>
                  <a:gdLst/>
                  <a:ahLst/>
                  <a:cxnLst/>
                  <a:rect l="l" t="t" r="r" b="b"/>
                  <a:pathLst>
                    <a:path w="352" h="352" extrusionOk="0">
                      <a:moveTo>
                        <a:pt x="0" y="0"/>
                      </a:moveTo>
                      <a:cubicBezTo>
                        <a:pt x="0" y="352"/>
                        <a:pt x="0" y="352"/>
                        <a:pt x="0" y="352"/>
                      </a:cubicBezTo>
                      <a:cubicBezTo>
                        <a:pt x="255" y="352"/>
                        <a:pt x="255" y="352"/>
                        <a:pt x="255" y="352"/>
                      </a:cubicBezTo>
                      <a:cubicBezTo>
                        <a:pt x="253" y="347"/>
                        <a:pt x="252" y="342"/>
                        <a:pt x="251" y="336"/>
                      </a:cubicBezTo>
                      <a:cubicBezTo>
                        <a:pt x="16" y="336"/>
                        <a:pt x="16" y="336"/>
                        <a:pt x="16" y="336"/>
                      </a:cubicBezTo>
                      <a:cubicBezTo>
                        <a:pt x="16" y="16"/>
                        <a:pt x="16" y="16"/>
                        <a:pt x="16" y="16"/>
                      </a:cubicBezTo>
                      <a:cubicBezTo>
                        <a:pt x="336" y="16"/>
                        <a:pt x="336" y="16"/>
                        <a:pt x="336" y="16"/>
                      </a:cubicBezTo>
                      <a:cubicBezTo>
                        <a:pt x="336" y="249"/>
                        <a:pt x="336" y="249"/>
                        <a:pt x="336" y="249"/>
                      </a:cubicBezTo>
                      <a:cubicBezTo>
                        <a:pt x="342" y="250"/>
                        <a:pt x="347" y="252"/>
                        <a:pt x="352" y="254"/>
                      </a:cubicBezTo>
                      <a:cubicBezTo>
                        <a:pt x="352" y="0"/>
                        <a:pt x="352" y="0"/>
                        <a:pt x="352" y="0"/>
                      </a:cubicBezTo>
                      <a:lnTo>
                        <a:pt x="0" y="0"/>
                      </a:lnTo>
                      <a:close/>
                    </a:path>
                  </a:pathLst>
                </a:custGeom>
                <a:solidFill>
                  <a:srgbClr val="777777"/>
                </a:solidFill>
                <a:ln>
                  <a:noFill/>
                </a:ln>
              </p:spPr>
              <p:txBody>
                <a:bodyPr spcFirstLastPara="1" wrap="square" lIns="45225" tIns="22600" rIns="45225" bIns="226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 typeface="Arial"/>
                    <a:buNone/>
                    <a:tabLst/>
                    <a:defRPr/>
                  </a:pPr>
                  <a:endParaRPr kumimoji="0" sz="1798"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52" name="Google Shape;1465;p7">
                  <a:extLst>
                    <a:ext uri="{FF2B5EF4-FFF2-40B4-BE49-F238E27FC236}">
                      <a16:creationId xmlns:a16="http://schemas.microsoft.com/office/drawing/2014/main" id="{62CA6D08-874E-4608-21B3-4E0676A64B29}"/>
                    </a:ext>
                  </a:extLst>
                </p:cNvPr>
                <p:cNvSpPr/>
                <p:nvPr/>
              </p:nvSpPr>
              <p:spPr>
                <a:xfrm>
                  <a:off x="3278387" y="3983807"/>
                  <a:ext cx="282748" cy="258345"/>
                </a:xfrm>
                <a:custGeom>
                  <a:avLst/>
                  <a:gdLst/>
                  <a:ahLst/>
                  <a:cxnLst/>
                  <a:rect l="l" t="t" r="r" b="b"/>
                  <a:pathLst>
                    <a:path w="128" h="127" extrusionOk="0">
                      <a:moveTo>
                        <a:pt x="127" y="52"/>
                      </a:moveTo>
                      <a:cubicBezTo>
                        <a:pt x="123" y="51"/>
                        <a:pt x="123" y="51"/>
                        <a:pt x="123" y="51"/>
                      </a:cubicBezTo>
                      <a:cubicBezTo>
                        <a:pt x="118" y="51"/>
                        <a:pt x="118" y="51"/>
                        <a:pt x="118" y="51"/>
                      </a:cubicBezTo>
                      <a:cubicBezTo>
                        <a:pt x="113" y="50"/>
                        <a:pt x="113" y="50"/>
                        <a:pt x="113" y="50"/>
                      </a:cubicBezTo>
                      <a:cubicBezTo>
                        <a:pt x="113" y="50"/>
                        <a:pt x="113" y="50"/>
                        <a:pt x="113" y="50"/>
                      </a:cubicBezTo>
                      <a:cubicBezTo>
                        <a:pt x="109" y="39"/>
                        <a:pt x="109" y="39"/>
                        <a:pt x="109" y="39"/>
                      </a:cubicBezTo>
                      <a:cubicBezTo>
                        <a:pt x="109" y="38"/>
                        <a:pt x="109" y="38"/>
                        <a:pt x="109" y="38"/>
                      </a:cubicBezTo>
                      <a:cubicBezTo>
                        <a:pt x="117" y="27"/>
                        <a:pt x="117" y="27"/>
                        <a:pt x="117" y="27"/>
                      </a:cubicBezTo>
                      <a:cubicBezTo>
                        <a:pt x="117" y="27"/>
                        <a:pt x="117" y="27"/>
                        <a:pt x="117" y="27"/>
                      </a:cubicBezTo>
                      <a:cubicBezTo>
                        <a:pt x="100" y="10"/>
                        <a:pt x="100" y="10"/>
                        <a:pt x="100" y="10"/>
                      </a:cubicBezTo>
                      <a:cubicBezTo>
                        <a:pt x="100" y="11"/>
                        <a:pt x="100" y="11"/>
                        <a:pt x="100" y="11"/>
                      </a:cubicBezTo>
                      <a:cubicBezTo>
                        <a:pt x="89" y="18"/>
                        <a:pt x="89" y="18"/>
                        <a:pt x="89" y="18"/>
                      </a:cubicBezTo>
                      <a:cubicBezTo>
                        <a:pt x="88" y="18"/>
                        <a:pt x="88" y="18"/>
                        <a:pt x="88" y="18"/>
                      </a:cubicBezTo>
                      <a:cubicBezTo>
                        <a:pt x="78" y="14"/>
                        <a:pt x="78" y="14"/>
                        <a:pt x="78" y="14"/>
                      </a:cubicBezTo>
                      <a:cubicBezTo>
                        <a:pt x="78" y="14"/>
                        <a:pt x="78" y="14"/>
                        <a:pt x="78" y="14"/>
                      </a:cubicBezTo>
                      <a:cubicBezTo>
                        <a:pt x="77" y="9"/>
                        <a:pt x="77" y="9"/>
                        <a:pt x="77" y="9"/>
                      </a:cubicBezTo>
                      <a:cubicBezTo>
                        <a:pt x="76" y="2"/>
                        <a:pt x="76" y="2"/>
                        <a:pt x="76" y="2"/>
                      </a:cubicBezTo>
                      <a:cubicBezTo>
                        <a:pt x="75" y="0"/>
                        <a:pt x="75" y="0"/>
                        <a:pt x="75" y="0"/>
                      </a:cubicBezTo>
                      <a:cubicBezTo>
                        <a:pt x="52" y="0"/>
                        <a:pt x="52" y="0"/>
                        <a:pt x="52" y="0"/>
                      </a:cubicBezTo>
                      <a:cubicBezTo>
                        <a:pt x="51" y="3"/>
                        <a:pt x="51" y="3"/>
                        <a:pt x="51" y="3"/>
                      </a:cubicBezTo>
                      <a:cubicBezTo>
                        <a:pt x="50" y="14"/>
                        <a:pt x="50" y="14"/>
                        <a:pt x="50" y="14"/>
                      </a:cubicBezTo>
                      <a:cubicBezTo>
                        <a:pt x="49" y="14"/>
                        <a:pt x="49" y="14"/>
                        <a:pt x="49" y="14"/>
                      </a:cubicBezTo>
                      <a:cubicBezTo>
                        <a:pt x="39" y="18"/>
                        <a:pt x="39" y="18"/>
                        <a:pt x="39" y="18"/>
                      </a:cubicBezTo>
                      <a:cubicBezTo>
                        <a:pt x="38" y="18"/>
                        <a:pt x="38" y="18"/>
                        <a:pt x="38" y="18"/>
                      </a:cubicBezTo>
                      <a:cubicBezTo>
                        <a:pt x="28" y="11"/>
                        <a:pt x="28" y="11"/>
                        <a:pt x="28" y="11"/>
                      </a:cubicBezTo>
                      <a:cubicBezTo>
                        <a:pt x="27" y="10"/>
                        <a:pt x="27" y="10"/>
                        <a:pt x="27" y="10"/>
                      </a:cubicBezTo>
                      <a:cubicBezTo>
                        <a:pt x="10" y="27"/>
                        <a:pt x="10" y="27"/>
                        <a:pt x="10" y="27"/>
                      </a:cubicBezTo>
                      <a:cubicBezTo>
                        <a:pt x="19" y="39"/>
                        <a:pt x="19" y="39"/>
                        <a:pt x="19" y="39"/>
                      </a:cubicBezTo>
                      <a:cubicBezTo>
                        <a:pt x="19" y="39"/>
                        <a:pt x="19" y="39"/>
                        <a:pt x="19" y="39"/>
                      </a:cubicBezTo>
                      <a:cubicBezTo>
                        <a:pt x="14" y="49"/>
                        <a:pt x="14" y="49"/>
                        <a:pt x="14" y="49"/>
                      </a:cubicBezTo>
                      <a:cubicBezTo>
                        <a:pt x="14" y="50"/>
                        <a:pt x="14" y="50"/>
                        <a:pt x="14" y="50"/>
                      </a:cubicBezTo>
                      <a:cubicBezTo>
                        <a:pt x="8" y="51"/>
                        <a:pt x="8" y="51"/>
                        <a:pt x="8" y="51"/>
                      </a:cubicBezTo>
                      <a:cubicBezTo>
                        <a:pt x="2" y="52"/>
                        <a:pt x="2" y="52"/>
                        <a:pt x="2" y="52"/>
                      </a:cubicBezTo>
                      <a:cubicBezTo>
                        <a:pt x="0" y="52"/>
                        <a:pt x="0" y="52"/>
                        <a:pt x="0" y="52"/>
                      </a:cubicBezTo>
                      <a:cubicBezTo>
                        <a:pt x="0" y="76"/>
                        <a:pt x="0" y="76"/>
                        <a:pt x="0" y="76"/>
                      </a:cubicBezTo>
                      <a:cubicBezTo>
                        <a:pt x="0" y="76"/>
                        <a:pt x="0" y="76"/>
                        <a:pt x="0" y="76"/>
                      </a:cubicBezTo>
                      <a:cubicBezTo>
                        <a:pt x="4" y="76"/>
                        <a:pt x="4" y="76"/>
                        <a:pt x="4" y="76"/>
                      </a:cubicBezTo>
                      <a:cubicBezTo>
                        <a:pt x="13" y="78"/>
                        <a:pt x="13" y="78"/>
                        <a:pt x="13" y="78"/>
                      </a:cubicBezTo>
                      <a:cubicBezTo>
                        <a:pt x="14" y="78"/>
                        <a:pt x="14" y="78"/>
                        <a:pt x="14" y="78"/>
                      </a:cubicBezTo>
                      <a:cubicBezTo>
                        <a:pt x="14" y="79"/>
                        <a:pt x="14" y="79"/>
                        <a:pt x="14" y="79"/>
                      </a:cubicBezTo>
                      <a:cubicBezTo>
                        <a:pt x="18" y="88"/>
                        <a:pt x="18" y="88"/>
                        <a:pt x="18" y="88"/>
                      </a:cubicBezTo>
                      <a:cubicBezTo>
                        <a:pt x="18" y="89"/>
                        <a:pt x="18" y="89"/>
                        <a:pt x="18" y="89"/>
                      </a:cubicBezTo>
                      <a:cubicBezTo>
                        <a:pt x="11" y="99"/>
                        <a:pt x="11" y="99"/>
                        <a:pt x="11" y="99"/>
                      </a:cubicBezTo>
                      <a:cubicBezTo>
                        <a:pt x="10" y="101"/>
                        <a:pt x="10" y="101"/>
                        <a:pt x="10" y="101"/>
                      </a:cubicBezTo>
                      <a:cubicBezTo>
                        <a:pt x="26" y="117"/>
                        <a:pt x="26" y="117"/>
                        <a:pt x="26" y="117"/>
                      </a:cubicBezTo>
                      <a:cubicBezTo>
                        <a:pt x="27" y="117"/>
                        <a:pt x="27" y="117"/>
                        <a:pt x="27" y="117"/>
                      </a:cubicBezTo>
                      <a:cubicBezTo>
                        <a:pt x="38" y="109"/>
                        <a:pt x="38" y="109"/>
                        <a:pt x="38" y="109"/>
                      </a:cubicBezTo>
                      <a:cubicBezTo>
                        <a:pt x="39" y="109"/>
                        <a:pt x="39" y="109"/>
                        <a:pt x="39" y="109"/>
                      </a:cubicBezTo>
                      <a:cubicBezTo>
                        <a:pt x="49" y="113"/>
                        <a:pt x="49" y="113"/>
                        <a:pt x="49" y="113"/>
                      </a:cubicBezTo>
                      <a:cubicBezTo>
                        <a:pt x="49" y="113"/>
                        <a:pt x="49" y="113"/>
                        <a:pt x="49" y="113"/>
                      </a:cubicBezTo>
                      <a:cubicBezTo>
                        <a:pt x="50" y="118"/>
                        <a:pt x="50" y="118"/>
                        <a:pt x="50" y="118"/>
                      </a:cubicBezTo>
                      <a:cubicBezTo>
                        <a:pt x="52" y="127"/>
                        <a:pt x="52" y="127"/>
                        <a:pt x="52" y="127"/>
                      </a:cubicBezTo>
                      <a:cubicBezTo>
                        <a:pt x="75" y="127"/>
                        <a:pt x="75" y="127"/>
                        <a:pt x="75" y="127"/>
                      </a:cubicBezTo>
                      <a:cubicBezTo>
                        <a:pt x="75" y="127"/>
                        <a:pt x="75" y="127"/>
                        <a:pt x="75" y="127"/>
                      </a:cubicBezTo>
                      <a:cubicBezTo>
                        <a:pt x="76" y="122"/>
                        <a:pt x="76" y="122"/>
                        <a:pt x="76" y="122"/>
                      </a:cubicBezTo>
                      <a:cubicBezTo>
                        <a:pt x="77" y="114"/>
                        <a:pt x="77" y="114"/>
                        <a:pt x="77" y="114"/>
                      </a:cubicBezTo>
                      <a:cubicBezTo>
                        <a:pt x="78" y="113"/>
                        <a:pt x="78" y="113"/>
                        <a:pt x="78" y="113"/>
                      </a:cubicBezTo>
                      <a:cubicBezTo>
                        <a:pt x="81" y="112"/>
                        <a:pt x="81" y="112"/>
                        <a:pt x="81" y="112"/>
                      </a:cubicBezTo>
                      <a:cubicBezTo>
                        <a:pt x="88" y="109"/>
                        <a:pt x="88" y="109"/>
                        <a:pt x="88" y="109"/>
                      </a:cubicBezTo>
                      <a:cubicBezTo>
                        <a:pt x="89" y="109"/>
                        <a:pt x="89" y="109"/>
                        <a:pt x="89" y="109"/>
                      </a:cubicBezTo>
                      <a:cubicBezTo>
                        <a:pt x="98" y="116"/>
                        <a:pt x="98" y="116"/>
                        <a:pt x="98" y="116"/>
                      </a:cubicBezTo>
                      <a:cubicBezTo>
                        <a:pt x="101" y="117"/>
                        <a:pt x="101" y="117"/>
                        <a:pt x="101" y="117"/>
                      </a:cubicBezTo>
                      <a:cubicBezTo>
                        <a:pt x="117" y="101"/>
                        <a:pt x="117" y="101"/>
                        <a:pt x="117" y="101"/>
                      </a:cubicBezTo>
                      <a:cubicBezTo>
                        <a:pt x="117" y="101"/>
                        <a:pt x="117" y="101"/>
                        <a:pt x="117" y="101"/>
                      </a:cubicBezTo>
                      <a:cubicBezTo>
                        <a:pt x="109" y="89"/>
                        <a:pt x="109" y="89"/>
                        <a:pt x="109" y="89"/>
                      </a:cubicBezTo>
                      <a:cubicBezTo>
                        <a:pt x="109" y="89"/>
                        <a:pt x="109" y="89"/>
                        <a:pt x="109" y="89"/>
                      </a:cubicBezTo>
                      <a:cubicBezTo>
                        <a:pt x="113" y="78"/>
                        <a:pt x="113" y="78"/>
                        <a:pt x="113" y="78"/>
                      </a:cubicBezTo>
                      <a:cubicBezTo>
                        <a:pt x="113" y="78"/>
                        <a:pt x="113" y="78"/>
                        <a:pt x="113" y="78"/>
                      </a:cubicBezTo>
                      <a:cubicBezTo>
                        <a:pt x="119" y="77"/>
                        <a:pt x="119" y="77"/>
                        <a:pt x="119" y="77"/>
                      </a:cubicBezTo>
                      <a:cubicBezTo>
                        <a:pt x="126" y="76"/>
                        <a:pt x="126" y="76"/>
                        <a:pt x="126" y="76"/>
                      </a:cubicBezTo>
                      <a:cubicBezTo>
                        <a:pt x="128" y="76"/>
                        <a:pt x="128" y="76"/>
                        <a:pt x="128" y="76"/>
                      </a:cubicBezTo>
                      <a:cubicBezTo>
                        <a:pt x="128" y="52"/>
                        <a:pt x="128" y="52"/>
                        <a:pt x="128" y="52"/>
                      </a:cubicBezTo>
                      <a:lnTo>
                        <a:pt x="127" y="52"/>
                      </a:lnTo>
                      <a:close/>
                      <a:moveTo>
                        <a:pt x="64" y="87"/>
                      </a:moveTo>
                      <a:cubicBezTo>
                        <a:pt x="50" y="87"/>
                        <a:pt x="40" y="77"/>
                        <a:pt x="40" y="64"/>
                      </a:cubicBezTo>
                      <a:cubicBezTo>
                        <a:pt x="40" y="50"/>
                        <a:pt x="50" y="40"/>
                        <a:pt x="64" y="40"/>
                      </a:cubicBezTo>
                      <a:cubicBezTo>
                        <a:pt x="77" y="40"/>
                        <a:pt x="87" y="50"/>
                        <a:pt x="87" y="64"/>
                      </a:cubicBezTo>
                      <a:cubicBezTo>
                        <a:pt x="87" y="77"/>
                        <a:pt x="77" y="87"/>
                        <a:pt x="64" y="87"/>
                      </a:cubicBezTo>
                      <a:close/>
                    </a:path>
                  </a:pathLst>
                </a:custGeom>
                <a:solidFill>
                  <a:srgbClr val="777777"/>
                </a:solidFill>
                <a:ln>
                  <a:noFill/>
                </a:ln>
              </p:spPr>
              <p:txBody>
                <a:bodyPr spcFirstLastPara="1" wrap="square" lIns="45225" tIns="22600" rIns="45225" bIns="226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 typeface="Arial"/>
                    <a:buNone/>
                    <a:tabLst/>
                    <a:defRPr/>
                  </a:pPr>
                  <a:endParaRPr kumimoji="0" sz="1798"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53" name="Google Shape;1466;p7">
                  <a:extLst>
                    <a:ext uri="{FF2B5EF4-FFF2-40B4-BE49-F238E27FC236}">
                      <a16:creationId xmlns:a16="http://schemas.microsoft.com/office/drawing/2014/main" id="{4D6A9319-E94F-DEC4-A20E-CD3399050688}"/>
                    </a:ext>
                  </a:extLst>
                </p:cNvPr>
                <p:cNvSpPr txBox="1"/>
                <p:nvPr/>
              </p:nvSpPr>
              <p:spPr>
                <a:xfrm>
                  <a:off x="2722562" y="3547217"/>
                  <a:ext cx="703872" cy="338177"/>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594"/>
                    <a:buFont typeface="Arial"/>
                    <a:buNone/>
                    <a:tabLst/>
                    <a:defRPr/>
                  </a:pPr>
                  <a:r>
                    <a:rPr kumimoji="0" lang="en-US" sz="594" b="0" i="0" u="none" strike="noStrike" kern="1200" cap="none" spc="0" normalizeH="0" baseline="0" noProof="0">
                      <a:ln>
                        <a:noFill/>
                      </a:ln>
                      <a:solidFill>
                        <a:srgbClr val="777777"/>
                      </a:solidFill>
                      <a:effectLst/>
                      <a:uLnTx/>
                      <a:uFillTx/>
                      <a:latin typeface="Arial"/>
                      <a:ea typeface="Arial"/>
                      <a:cs typeface="Arial"/>
                      <a:sym typeface="Arial"/>
                    </a:rPr>
                    <a:t>CB</a:t>
                  </a:r>
                  <a:endParaRPr kumimoji="0" sz="1800" b="0" i="0" u="none" strike="noStrike" kern="1200" cap="none" spc="0" normalizeH="0" baseline="0" noProof="0">
                    <a:ln>
                      <a:noFill/>
                    </a:ln>
                    <a:solidFill>
                      <a:srgbClr val="777777"/>
                    </a:solidFill>
                    <a:effectLst/>
                    <a:uLnTx/>
                    <a:uFillTx/>
                    <a:latin typeface="Arial"/>
                    <a:ea typeface="Arial"/>
                    <a:cs typeface="Arial"/>
                    <a:sym typeface="Arial"/>
                  </a:endParaRPr>
                </a:p>
              </p:txBody>
            </p:sp>
          </p:grpSp>
        </p:grpSp>
        <p:grpSp>
          <p:nvGrpSpPr>
            <p:cNvPr id="39" name="Google Shape;1467;p7" descr="document input">
              <a:extLst>
                <a:ext uri="{FF2B5EF4-FFF2-40B4-BE49-F238E27FC236}">
                  <a16:creationId xmlns:a16="http://schemas.microsoft.com/office/drawing/2014/main" id="{109AC361-1BC9-B996-6122-9D35F8445884}"/>
                </a:ext>
              </a:extLst>
            </p:cNvPr>
            <p:cNvGrpSpPr/>
            <p:nvPr/>
          </p:nvGrpSpPr>
          <p:grpSpPr>
            <a:xfrm>
              <a:off x="1365388" y="5282322"/>
              <a:ext cx="1034012" cy="654533"/>
              <a:chOff x="2150289" y="4044483"/>
              <a:chExt cx="1966956" cy="1245085"/>
            </a:xfrm>
          </p:grpSpPr>
          <p:sp>
            <p:nvSpPr>
              <p:cNvPr id="47" name="Google Shape;1468;p7">
                <a:extLst>
                  <a:ext uri="{FF2B5EF4-FFF2-40B4-BE49-F238E27FC236}">
                    <a16:creationId xmlns:a16="http://schemas.microsoft.com/office/drawing/2014/main" id="{0DC191D5-2242-DB92-7F2E-E317292C6551}"/>
                  </a:ext>
                </a:extLst>
              </p:cNvPr>
              <p:cNvSpPr/>
              <p:nvPr/>
            </p:nvSpPr>
            <p:spPr>
              <a:xfrm>
                <a:off x="2745745" y="4044483"/>
                <a:ext cx="777239" cy="777240"/>
              </a:xfrm>
              <a:prstGeom prst="ellipse">
                <a:avLst/>
              </a:prstGeom>
              <a:solidFill>
                <a:schemeClr val="lt1"/>
              </a:solidFill>
              <a:ln w="254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8" name="Google Shape;1469;p7">
                <a:extLst>
                  <a:ext uri="{FF2B5EF4-FFF2-40B4-BE49-F238E27FC236}">
                    <a16:creationId xmlns:a16="http://schemas.microsoft.com/office/drawing/2014/main" id="{08AAE4D7-74B8-2B92-B49F-6FF9F1552B74}"/>
                  </a:ext>
                </a:extLst>
              </p:cNvPr>
              <p:cNvSpPr txBox="1"/>
              <p:nvPr/>
            </p:nvSpPr>
            <p:spPr>
              <a:xfrm>
                <a:off x="2150289" y="5024779"/>
                <a:ext cx="1966956" cy="26478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700" b="1" i="0" u="none" strike="noStrike" kern="1200" cap="none" spc="0" normalizeH="0" baseline="0" noProof="0">
                    <a:ln>
                      <a:noFill/>
                    </a:ln>
                    <a:solidFill>
                      <a:srgbClr val="777777"/>
                    </a:solidFill>
                    <a:effectLst/>
                    <a:uLnTx/>
                    <a:uFillTx/>
                    <a:latin typeface="Arial"/>
                    <a:ea typeface="Arial"/>
                    <a:cs typeface="Arial"/>
                    <a:sym typeface="Arial"/>
                  </a:rPr>
                  <a:t>XLSX /JSON</a:t>
                </a:r>
                <a:endParaRPr kumimoji="0" sz="700" b="1" i="0" u="none" strike="noStrike" kern="1200" cap="none" spc="0" normalizeH="0" baseline="0" noProof="0">
                  <a:ln>
                    <a:noFill/>
                  </a:ln>
                  <a:solidFill>
                    <a:srgbClr val="777777"/>
                  </a:solidFill>
                  <a:effectLst/>
                  <a:uLnTx/>
                  <a:uFillTx/>
                  <a:latin typeface="Arial"/>
                  <a:ea typeface="Arial"/>
                  <a:cs typeface="Arial"/>
                  <a:sym typeface="Arial"/>
                </a:endParaRPr>
              </a:p>
            </p:txBody>
          </p:sp>
        </p:grpSp>
        <p:sp>
          <p:nvSpPr>
            <p:cNvPr id="40" name="Google Shape;1470;p7">
              <a:extLst>
                <a:ext uri="{FF2B5EF4-FFF2-40B4-BE49-F238E27FC236}">
                  <a16:creationId xmlns:a16="http://schemas.microsoft.com/office/drawing/2014/main" id="{7E75C947-FB6B-46E2-957F-AF2AE0DDD0B0}"/>
                </a:ext>
              </a:extLst>
            </p:cNvPr>
            <p:cNvSpPr txBox="1"/>
            <p:nvPr/>
          </p:nvSpPr>
          <p:spPr>
            <a:xfrm>
              <a:off x="336349" y="5800600"/>
              <a:ext cx="1034011" cy="13919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700" b="1" i="0" u="none" strike="noStrike" kern="1200" cap="none" spc="0" normalizeH="0" baseline="0" noProof="0">
                  <a:ln>
                    <a:noFill/>
                  </a:ln>
                  <a:solidFill>
                    <a:srgbClr val="777777"/>
                  </a:solidFill>
                  <a:effectLst/>
                  <a:uLnTx/>
                  <a:uFillTx/>
                  <a:latin typeface="Arial"/>
                  <a:ea typeface="Arial"/>
                  <a:cs typeface="Arial"/>
                  <a:sym typeface="Arial"/>
                </a:rPr>
                <a:t>Cloud Builder</a:t>
              </a:r>
              <a:endParaRPr kumimoji="0" sz="700" b="1" i="0" u="none" strike="noStrike" kern="1200" cap="none" spc="0" normalizeH="0" baseline="0" noProof="0">
                <a:ln>
                  <a:noFill/>
                </a:ln>
                <a:solidFill>
                  <a:srgbClr val="777777"/>
                </a:solidFill>
                <a:effectLst/>
                <a:uLnTx/>
                <a:uFillTx/>
                <a:latin typeface="Arial"/>
                <a:ea typeface="Arial"/>
                <a:cs typeface="Arial"/>
                <a:sym typeface="Arial"/>
              </a:endParaRPr>
            </a:p>
          </p:txBody>
        </p:sp>
        <p:grpSp>
          <p:nvGrpSpPr>
            <p:cNvPr id="41" name="Google Shape;1471;p7" descr="document input">
              <a:extLst>
                <a:ext uri="{FF2B5EF4-FFF2-40B4-BE49-F238E27FC236}">
                  <a16:creationId xmlns:a16="http://schemas.microsoft.com/office/drawing/2014/main" id="{F3CE4022-A932-470E-E229-35D1D0847A43}"/>
                </a:ext>
              </a:extLst>
            </p:cNvPr>
            <p:cNvGrpSpPr/>
            <p:nvPr/>
          </p:nvGrpSpPr>
          <p:grpSpPr>
            <a:xfrm>
              <a:off x="2371873" y="5279481"/>
              <a:ext cx="1034012" cy="659639"/>
              <a:chOff x="2631742" y="4044483"/>
              <a:chExt cx="1966956" cy="1254800"/>
            </a:xfrm>
          </p:grpSpPr>
          <p:sp>
            <p:nvSpPr>
              <p:cNvPr id="45" name="Google Shape;1472;p7">
                <a:extLst>
                  <a:ext uri="{FF2B5EF4-FFF2-40B4-BE49-F238E27FC236}">
                    <a16:creationId xmlns:a16="http://schemas.microsoft.com/office/drawing/2014/main" id="{C22CF9A1-9DFE-8219-9880-63C7B94EAC4E}"/>
                  </a:ext>
                </a:extLst>
              </p:cNvPr>
              <p:cNvSpPr/>
              <p:nvPr/>
            </p:nvSpPr>
            <p:spPr>
              <a:xfrm>
                <a:off x="3207763" y="4044483"/>
                <a:ext cx="777237" cy="777238"/>
              </a:xfrm>
              <a:prstGeom prst="ellipse">
                <a:avLst/>
              </a:prstGeom>
              <a:solidFill>
                <a:schemeClr val="lt1"/>
              </a:solidFill>
              <a:ln w="254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6" name="Google Shape;1473;p7">
                <a:extLst>
                  <a:ext uri="{FF2B5EF4-FFF2-40B4-BE49-F238E27FC236}">
                    <a16:creationId xmlns:a16="http://schemas.microsoft.com/office/drawing/2014/main" id="{0763C618-4817-DBDB-A5F7-024576A28DE0}"/>
                  </a:ext>
                </a:extLst>
              </p:cNvPr>
              <p:cNvSpPr txBox="1"/>
              <p:nvPr/>
            </p:nvSpPr>
            <p:spPr>
              <a:xfrm>
                <a:off x="2631742" y="5034494"/>
                <a:ext cx="1966956" cy="26478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700" b="1" i="0" u="none" strike="noStrike" kern="1200" cap="none" spc="0" normalizeH="0" baseline="0" noProof="0">
                    <a:ln>
                      <a:noFill/>
                    </a:ln>
                    <a:solidFill>
                      <a:srgbClr val="777777"/>
                    </a:solidFill>
                    <a:effectLst/>
                    <a:uLnTx/>
                    <a:uFillTx/>
                    <a:latin typeface="Arial"/>
                    <a:ea typeface="Arial"/>
                    <a:cs typeface="Arial"/>
                    <a:sym typeface="Arial"/>
                  </a:rPr>
                  <a:t>VCF Import</a:t>
                </a:r>
                <a:endParaRPr kumimoji="0" sz="700" b="1" i="0" u="none" strike="noStrike" kern="1200" cap="none" spc="0" normalizeH="0" baseline="0" noProof="0">
                  <a:ln>
                    <a:noFill/>
                  </a:ln>
                  <a:solidFill>
                    <a:srgbClr val="777777"/>
                  </a:solidFill>
                  <a:effectLst/>
                  <a:uLnTx/>
                  <a:uFillTx/>
                  <a:latin typeface="Arial"/>
                  <a:ea typeface="Arial"/>
                  <a:cs typeface="Arial"/>
                  <a:sym typeface="Arial"/>
                </a:endParaRPr>
              </a:p>
            </p:txBody>
          </p:sp>
        </p:grpSp>
        <p:pic>
          <p:nvPicPr>
            <p:cNvPr id="42" name="Google Shape;1474;p7">
              <a:extLst>
                <a:ext uri="{FF2B5EF4-FFF2-40B4-BE49-F238E27FC236}">
                  <a16:creationId xmlns:a16="http://schemas.microsoft.com/office/drawing/2014/main" id="{19298375-B544-AA21-915F-C8D935017852}"/>
                </a:ext>
              </a:extLst>
            </p:cNvPr>
            <p:cNvPicPr preferRelativeResize="0"/>
            <p:nvPr/>
          </p:nvPicPr>
          <p:blipFill rotWithShape="1">
            <a:blip r:embed="rId10">
              <a:alphaModFix/>
            </a:blip>
            <a:srcRect/>
            <a:stretch/>
          </p:blipFill>
          <p:spPr>
            <a:xfrm>
              <a:off x="2759911" y="5374456"/>
              <a:ext cx="228577" cy="228577"/>
            </a:xfrm>
            <a:prstGeom prst="rect">
              <a:avLst/>
            </a:prstGeom>
            <a:noFill/>
            <a:ln>
              <a:noFill/>
            </a:ln>
          </p:spPr>
        </p:pic>
        <p:pic>
          <p:nvPicPr>
            <p:cNvPr id="43" name="Google Shape;1475;p7">
              <a:extLst>
                <a:ext uri="{FF2B5EF4-FFF2-40B4-BE49-F238E27FC236}">
                  <a16:creationId xmlns:a16="http://schemas.microsoft.com/office/drawing/2014/main" id="{A57AC4BA-C611-173E-730A-2FCDA4D418C5}"/>
                </a:ext>
              </a:extLst>
            </p:cNvPr>
            <p:cNvPicPr preferRelativeResize="0"/>
            <p:nvPr/>
          </p:nvPicPr>
          <p:blipFill rotWithShape="1">
            <a:blip r:embed="rId11">
              <a:alphaModFix/>
            </a:blip>
            <a:srcRect/>
            <a:stretch/>
          </p:blipFill>
          <p:spPr>
            <a:xfrm>
              <a:off x="1747972" y="5356697"/>
              <a:ext cx="268843" cy="268843"/>
            </a:xfrm>
            <a:prstGeom prst="rect">
              <a:avLst/>
            </a:prstGeom>
            <a:noFill/>
            <a:ln>
              <a:noFill/>
            </a:ln>
          </p:spPr>
        </p:pic>
        <p:sp>
          <p:nvSpPr>
            <p:cNvPr id="44" name="Google Shape;1476;p7">
              <a:extLst>
                <a:ext uri="{FF2B5EF4-FFF2-40B4-BE49-F238E27FC236}">
                  <a16:creationId xmlns:a16="http://schemas.microsoft.com/office/drawing/2014/main" id="{38E65669-215F-34BA-F63F-D336E5326568}"/>
                </a:ext>
              </a:extLst>
            </p:cNvPr>
            <p:cNvSpPr txBox="1"/>
            <p:nvPr/>
          </p:nvSpPr>
          <p:spPr>
            <a:xfrm>
              <a:off x="1369563" y="5465382"/>
              <a:ext cx="1034012" cy="76944"/>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500" b="0" i="0" u="none" strike="noStrike" kern="1200" cap="none" spc="0" normalizeH="0" baseline="0" noProof="0">
                  <a:ln>
                    <a:noFill/>
                  </a:ln>
                  <a:solidFill>
                    <a:srgbClr val="777777"/>
                  </a:solidFill>
                  <a:effectLst/>
                  <a:uLnTx/>
                  <a:uFillTx/>
                  <a:latin typeface="Arial"/>
                  <a:ea typeface="Arial"/>
                  <a:cs typeface="Arial"/>
                  <a:sym typeface="Arial"/>
                </a:rPr>
                <a:t>XLS</a:t>
              </a:r>
              <a:endParaRPr kumimoji="0" sz="500" b="0" i="0" u="none" strike="noStrike" kern="1200" cap="none" spc="0" normalizeH="0" baseline="0" noProof="0">
                <a:ln>
                  <a:noFill/>
                </a:ln>
                <a:solidFill>
                  <a:srgbClr val="777777"/>
                </a:solidFill>
                <a:effectLst/>
                <a:uLnTx/>
                <a:uFillTx/>
                <a:latin typeface="Arial"/>
                <a:ea typeface="Arial"/>
                <a:cs typeface="Arial"/>
                <a:sym typeface="Arial"/>
              </a:endParaRPr>
            </a:p>
          </p:txBody>
        </p:sp>
      </p:grpSp>
      <p:sp>
        <p:nvSpPr>
          <p:cNvPr id="54" name="Google Shape;1477;p7">
            <a:extLst>
              <a:ext uri="{FF2B5EF4-FFF2-40B4-BE49-F238E27FC236}">
                <a16:creationId xmlns:a16="http://schemas.microsoft.com/office/drawing/2014/main" id="{54380743-0A49-3F16-F1ED-983E67166D3C}"/>
              </a:ext>
            </a:extLst>
          </p:cNvPr>
          <p:cNvSpPr txBox="1"/>
          <p:nvPr/>
        </p:nvSpPr>
        <p:spPr>
          <a:xfrm>
            <a:off x="3429905" y="1827823"/>
            <a:ext cx="1013400" cy="2862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30000"/>
              </a:lnSpc>
              <a:spcBef>
                <a:spcPts val="0"/>
              </a:spcBef>
              <a:spcAft>
                <a:spcPts val="0"/>
              </a:spcAft>
              <a:buClr>
                <a:srgbClr val="000000"/>
              </a:buClr>
              <a:buSzPts val="1000"/>
              <a:buFont typeface="Arial"/>
              <a:buNone/>
              <a:tabLst/>
              <a:defRPr/>
            </a:pPr>
            <a:r>
              <a:rPr kumimoji="0" lang="en-US" sz="1000" b="1" i="0" u="none" strike="noStrike" kern="1200" cap="none" spc="0" normalizeH="0" baseline="0" noProof="0">
                <a:ln>
                  <a:noFill/>
                </a:ln>
                <a:solidFill>
                  <a:srgbClr val="000000"/>
                </a:solidFill>
                <a:effectLst/>
                <a:uLnTx/>
                <a:uFillTx/>
                <a:latin typeface="Arial"/>
                <a:ea typeface="Arial"/>
                <a:cs typeface="Arial"/>
                <a:sym typeface="Arial"/>
              </a:rPr>
              <a:t>VCF 9.0</a:t>
            </a:r>
            <a:endParaRPr kumimoji="0" sz="1000" b="1"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55" name="Google Shape;1478;p7">
            <a:extLst>
              <a:ext uri="{FF2B5EF4-FFF2-40B4-BE49-F238E27FC236}">
                <a16:creationId xmlns:a16="http://schemas.microsoft.com/office/drawing/2014/main" id="{67B9B4E5-45FA-7A19-6F06-B88F99CA06B5}"/>
              </a:ext>
            </a:extLst>
          </p:cNvPr>
          <p:cNvGrpSpPr/>
          <p:nvPr/>
        </p:nvGrpSpPr>
        <p:grpSpPr>
          <a:xfrm>
            <a:off x="5816759" y="3121043"/>
            <a:ext cx="2114591" cy="2197312"/>
            <a:chOff x="5660660" y="2738257"/>
            <a:chExt cx="2301278" cy="2391301"/>
          </a:xfrm>
        </p:grpSpPr>
        <p:sp>
          <p:nvSpPr>
            <p:cNvPr id="56" name="Google Shape;1479;p7">
              <a:extLst>
                <a:ext uri="{FF2B5EF4-FFF2-40B4-BE49-F238E27FC236}">
                  <a16:creationId xmlns:a16="http://schemas.microsoft.com/office/drawing/2014/main" id="{30659770-6B62-EA7E-D9A3-11719E2FBC71}"/>
                </a:ext>
              </a:extLst>
            </p:cNvPr>
            <p:cNvSpPr/>
            <p:nvPr/>
          </p:nvSpPr>
          <p:spPr>
            <a:xfrm>
              <a:off x="5660660" y="2738257"/>
              <a:ext cx="2301278" cy="2391301"/>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57" name="Google Shape;1480;p7">
              <a:extLst>
                <a:ext uri="{FF2B5EF4-FFF2-40B4-BE49-F238E27FC236}">
                  <a16:creationId xmlns:a16="http://schemas.microsoft.com/office/drawing/2014/main" id="{75F8A71D-9763-57A0-9B16-017B7E4BD919}"/>
                </a:ext>
              </a:extLst>
            </p:cNvPr>
            <p:cNvSpPr/>
            <p:nvPr/>
          </p:nvSpPr>
          <p:spPr>
            <a:xfrm>
              <a:off x="5726332" y="4382914"/>
              <a:ext cx="2159963" cy="638695"/>
            </a:xfrm>
            <a:prstGeom prst="roundRect">
              <a:avLst>
                <a:gd name="adj" fmla="val 6349"/>
              </a:avLst>
            </a:prstGeom>
            <a:noFill/>
            <a:ln w="254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58" name="Google Shape;1481;p7">
              <a:extLst>
                <a:ext uri="{FF2B5EF4-FFF2-40B4-BE49-F238E27FC236}">
                  <a16:creationId xmlns:a16="http://schemas.microsoft.com/office/drawing/2014/main" id="{90C951E6-8B48-A119-81DA-AABAE9E8D314}"/>
                </a:ext>
              </a:extLst>
            </p:cNvPr>
            <p:cNvGrpSpPr/>
            <p:nvPr/>
          </p:nvGrpSpPr>
          <p:grpSpPr>
            <a:xfrm>
              <a:off x="7350226" y="4579943"/>
              <a:ext cx="368204" cy="368203"/>
              <a:chOff x="10722212" y="2729558"/>
              <a:chExt cx="663407" cy="663407"/>
            </a:xfrm>
          </p:grpSpPr>
          <p:sp>
            <p:nvSpPr>
              <p:cNvPr id="72" name="Google Shape;1482;p7">
                <a:extLst>
                  <a:ext uri="{FF2B5EF4-FFF2-40B4-BE49-F238E27FC236}">
                    <a16:creationId xmlns:a16="http://schemas.microsoft.com/office/drawing/2014/main" id="{A7A8459D-D719-762E-3EAE-184D96542286}"/>
                  </a:ext>
                </a:extLst>
              </p:cNvPr>
              <p:cNvSpPr/>
              <p:nvPr/>
            </p:nvSpPr>
            <p:spPr>
              <a:xfrm>
                <a:off x="10722212" y="272955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3" name="Google Shape;1483;p7">
                <a:extLst>
                  <a:ext uri="{FF2B5EF4-FFF2-40B4-BE49-F238E27FC236}">
                    <a16:creationId xmlns:a16="http://schemas.microsoft.com/office/drawing/2014/main" id="{8551175F-A115-8BEA-7F5B-2CB3D5A3D82B}"/>
                  </a:ext>
                </a:extLst>
              </p:cNvPr>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59" name="Google Shape;1484;p7">
              <a:extLst>
                <a:ext uri="{FF2B5EF4-FFF2-40B4-BE49-F238E27FC236}">
                  <a16:creationId xmlns:a16="http://schemas.microsoft.com/office/drawing/2014/main" id="{33F9F604-0D3B-8E14-39BC-0E0672CBEF59}"/>
                </a:ext>
              </a:extLst>
            </p:cNvPr>
            <p:cNvGrpSpPr/>
            <p:nvPr/>
          </p:nvGrpSpPr>
          <p:grpSpPr>
            <a:xfrm>
              <a:off x="5861413" y="4579788"/>
              <a:ext cx="368204" cy="368203"/>
              <a:chOff x="572541" y="5475121"/>
              <a:chExt cx="663407" cy="663407"/>
            </a:xfrm>
          </p:grpSpPr>
          <p:sp>
            <p:nvSpPr>
              <p:cNvPr id="70" name="Google Shape;1485;p7">
                <a:extLst>
                  <a:ext uri="{FF2B5EF4-FFF2-40B4-BE49-F238E27FC236}">
                    <a16:creationId xmlns:a16="http://schemas.microsoft.com/office/drawing/2014/main" id="{8A6C19CF-BFB0-02DE-7C91-370F204505EB}"/>
                  </a:ext>
                </a:extLst>
              </p:cNvPr>
              <p:cNvSpPr/>
              <p:nvPr/>
            </p:nvSpPr>
            <p:spPr>
              <a:xfrm>
                <a:off x="572541" y="547512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1" name="Google Shape;1486;p7">
                <a:extLst>
                  <a:ext uri="{FF2B5EF4-FFF2-40B4-BE49-F238E27FC236}">
                    <a16:creationId xmlns:a16="http://schemas.microsoft.com/office/drawing/2014/main" id="{5F1F9D9A-D907-7C8D-FAC2-460AABB9EFC8}"/>
                  </a:ext>
                </a:extLst>
              </p:cNvPr>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60" name="Google Shape;1487;p7">
              <a:extLst>
                <a:ext uri="{FF2B5EF4-FFF2-40B4-BE49-F238E27FC236}">
                  <a16:creationId xmlns:a16="http://schemas.microsoft.com/office/drawing/2014/main" id="{FC04E4C7-2D9B-0295-CBF7-915B7B1F6789}"/>
                </a:ext>
              </a:extLst>
            </p:cNvPr>
            <p:cNvGrpSpPr/>
            <p:nvPr/>
          </p:nvGrpSpPr>
          <p:grpSpPr>
            <a:xfrm>
              <a:off x="6600498" y="4579789"/>
              <a:ext cx="368204" cy="368203"/>
              <a:chOff x="9272259" y="5475121"/>
              <a:chExt cx="663407" cy="663407"/>
            </a:xfrm>
          </p:grpSpPr>
          <p:sp>
            <p:nvSpPr>
              <p:cNvPr id="68" name="Google Shape;1488;p7">
                <a:extLst>
                  <a:ext uri="{FF2B5EF4-FFF2-40B4-BE49-F238E27FC236}">
                    <a16:creationId xmlns:a16="http://schemas.microsoft.com/office/drawing/2014/main" id="{5189148B-674F-0111-670B-FE0EF1FEE2F0}"/>
                  </a:ext>
                </a:extLst>
              </p:cNvPr>
              <p:cNvSpPr/>
              <p:nvPr/>
            </p:nvSpPr>
            <p:spPr>
              <a:xfrm>
                <a:off x="9272259" y="5475121"/>
                <a:ext cx="663407" cy="663407"/>
              </a:xfrm>
              <a:prstGeom prst="ellipse">
                <a:avLst/>
              </a:prstGeom>
              <a:gradFill>
                <a:gsLst>
                  <a:gs pos="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69" name="Google Shape;1489;p7">
                <a:extLst>
                  <a:ext uri="{FF2B5EF4-FFF2-40B4-BE49-F238E27FC236}">
                    <a16:creationId xmlns:a16="http://schemas.microsoft.com/office/drawing/2014/main" id="{B12445FD-5DA1-6A9F-DAFB-F4E156850892}"/>
                  </a:ext>
                </a:extLst>
              </p:cNvPr>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61" name="Google Shape;1490;p7">
              <a:extLst>
                <a:ext uri="{FF2B5EF4-FFF2-40B4-BE49-F238E27FC236}">
                  <a16:creationId xmlns:a16="http://schemas.microsoft.com/office/drawing/2014/main" id="{3716E2DF-5F78-4A05-6A3A-76AC7870C039}"/>
                </a:ext>
              </a:extLst>
            </p:cNvPr>
            <p:cNvSpPr/>
            <p:nvPr/>
          </p:nvSpPr>
          <p:spPr>
            <a:xfrm>
              <a:off x="5771989" y="2841103"/>
              <a:ext cx="2076779" cy="304540"/>
            </a:xfrm>
            <a:prstGeom prst="roundRect">
              <a:avLst>
                <a:gd name="adj" fmla="val 50000"/>
              </a:avLst>
            </a:prstGeom>
            <a:solidFill>
              <a:schemeClr val="lt1"/>
            </a:solidFill>
            <a:ln w="25400" cap="flat" cmpd="sng">
              <a:gradFill>
                <a:gsLst>
                  <a:gs pos="0">
                    <a:schemeClr val="accent5"/>
                  </a:gs>
                  <a:gs pos="100000">
                    <a:schemeClr val="accent2"/>
                  </a:gs>
                  <a:gs pos="100000">
                    <a:schemeClr val="accent2"/>
                  </a:gs>
                  <a:gs pos="100000">
                    <a:schemeClr val="accent1">
                      <a:lumMod val="30000"/>
                      <a:lumOff val="70000"/>
                    </a:schemeClr>
                  </a:gs>
                </a:gsLst>
                <a:lin ang="21594000" scaled="0"/>
              </a:gra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       </a:t>
              </a: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VMware Cloud Foundation</a:t>
              </a:r>
              <a:endParaRPr kumimoji="0" sz="800" b="0" i="0" u="none" strike="noStrike" kern="1200" cap="none" spc="0" normalizeH="0" baseline="0" noProof="0" dirty="0">
                <a:ln>
                  <a:noFill/>
                </a:ln>
                <a:solidFill>
                  <a:srgbClr val="000000"/>
                </a:solidFill>
                <a:effectLst/>
                <a:uLnTx/>
                <a:uFillTx/>
                <a:latin typeface="Arial"/>
                <a:ea typeface="Arial"/>
                <a:cs typeface="Arial"/>
                <a:sym typeface="Arial"/>
              </a:endParaRPr>
            </a:p>
          </p:txBody>
        </p:sp>
        <p:pic>
          <p:nvPicPr>
            <p:cNvPr id="62" name="Google Shape;1491;p7">
              <a:extLst>
                <a:ext uri="{FF2B5EF4-FFF2-40B4-BE49-F238E27FC236}">
                  <a16:creationId xmlns:a16="http://schemas.microsoft.com/office/drawing/2014/main" id="{29FE8D9A-DC5F-F421-5E19-0C198D74676F}"/>
                </a:ext>
              </a:extLst>
            </p:cNvPr>
            <p:cNvPicPr preferRelativeResize="0"/>
            <p:nvPr/>
          </p:nvPicPr>
          <p:blipFill rotWithShape="1">
            <a:blip r:embed="rId9">
              <a:alphaModFix/>
            </a:blip>
            <a:srcRect/>
            <a:stretch/>
          </p:blipFill>
          <p:spPr>
            <a:xfrm>
              <a:off x="5953557" y="2871909"/>
              <a:ext cx="204948" cy="225240"/>
            </a:xfrm>
            <a:prstGeom prst="rect">
              <a:avLst/>
            </a:prstGeom>
            <a:noFill/>
            <a:ln>
              <a:noFill/>
            </a:ln>
          </p:spPr>
        </p:pic>
        <p:sp>
          <p:nvSpPr>
            <p:cNvPr id="63" name="Google Shape;1492;p7">
              <a:extLst>
                <a:ext uri="{FF2B5EF4-FFF2-40B4-BE49-F238E27FC236}">
                  <a16:creationId xmlns:a16="http://schemas.microsoft.com/office/drawing/2014/main" id="{6CC5B60B-EA13-76A6-AC0E-3A8C033F1900}"/>
                </a:ext>
              </a:extLst>
            </p:cNvPr>
            <p:cNvSpPr/>
            <p:nvPr/>
          </p:nvSpPr>
          <p:spPr>
            <a:xfrm>
              <a:off x="5731816" y="3969564"/>
              <a:ext cx="1028870" cy="323536"/>
            </a:xfrm>
            <a:prstGeom prst="roundRect">
              <a:avLst>
                <a:gd name="adj" fmla="val 6349"/>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1" i="0" u="none" strike="noStrike" kern="1200" cap="none" spc="0" normalizeH="0" baseline="0" noProof="0" dirty="0">
                  <a:ln>
                    <a:noFill/>
                  </a:ln>
                  <a:solidFill>
                    <a:srgbClr val="FFFFFF"/>
                  </a:solidFill>
                  <a:effectLst/>
                  <a:uLnTx/>
                  <a:uFillTx/>
                  <a:latin typeface="Arial"/>
                  <a:ea typeface="Arial"/>
                  <a:cs typeface="Arial"/>
                  <a:sym typeface="Arial"/>
                </a:rPr>
                <a:t>vCenter Server</a:t>
              </a:r>
              <a:endParaRPr kumimoji="0" sz="8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64" name="Google Shape;1493;p7">
              <a:extLst>
                <a:ext uri="{FF2B5EF4-FFF2-40B4-BE49-F238E27FC236}">
                  <a16:creationId xmlns:a16="http://schemas.microsoft.com/office/drawing/2014/main" id="{7A11983E-3780-3059-39CF-B283A0908144}"/>
                </a:ext>
              </a:extLst>
            </p:cNvPr>
            <p:cNvSpPr txBox="1"/>
            <p:nvPr/>
          </p:nvSpPr>
          <p:spPr>
            <a:xfrm>
              <a:off x="6297484" y="4413719"/>
              <a:ext cx="1013569" cy="133980"/>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5C8A"/>
                  </a:solidFill>
                  <a:effectLst/>
                  <a:uLnTx/>
                  <a:uFillTx/>
                  <a:latin typeface="Arial"/>
                  <a:ea typeface="Arial"/>
                  <a:cs typeface="Arial"/>
                  <a:sym typeface="Arial"/>
                </a:rPr>
                <a:t>Core Infrastructure</a:t>
              </a:r>
              <a:endParaRPr kumimoji="0"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 name="Google Shape;1494;p7">
              <a:extLst>
                <a:ext uri="{FF2B5EF4-FFF2-40B4-BE49-F238E27FC236}">
                  <a16:creationId xmlns:a16="http://schemas.microsoft.com/office/drawing/2014/main" id="{CC8E9AC0-B7AA-5290-F802-12153397CD38}"/>
                </a:ext>
              </a:extLst>
            </p:cNvPr>
            <p:cNvSpPr/>
            <p:nvPr/>
          </p:nvSpPr>
          <p:spPr>
            <a:xfrm>
              <a:off x="5731317" y="3594307"/>
              <a:ext cx="2162473" cy="304540"/>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1" i="0" u="none" strike="noStrike" kern="1200" cap="none" spc="0" normalizeH="0" baseline="0" noProof="0">
                  <a:ln>
                    <a:noFill/>
                  </a:ln>
                  <a:solidFill>
                    <a:srgbClr val="FFFFFF"/>
                  </a:solidFill>
                  <a:effectLst/>
                  <a:uLnTx/>
                  <a:uFillTx/>
                  <a:latin typeface="Arial"/>
                  <a:ea typeface="Arial"/>
                  <a:cs typeface="Arial"/>
                  <a:sym typeface="Arial"/>
                </a:rPr>
                <a:t>VCF Operations</a:t>
              </a:r>
              <a:endParaRPr kumimoji="0" sz="80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66" name="Google Shape;1495;p7">
              <a:extLst>
                <a:ext uri="{FF2B5EF4-FFF2-40B4-BE49-F238E27FC236}">
                  <a16:creationId xmlns:a16="http://schemas.microsoft.com/office/drawing/2014/main" id="{B8DEF1DE-DC2C-11F6-84D3-A0608DFD3C91}"/>
                </a:ext>
              </a:extLst>
            </p:cNvPr>
            <p:cNvSpPr/>
            <p:nvPr/>
          </p:nvSpPr>
          <p:spPr>
            <a:xfrm>
              <a:off x="6831842" y="3967162"/>
              <a:ext cx="1061948" cy="323536"/>
            </a:xfrm>
            <a:prstGeom prst="roundRect">
              <a:avLst>
                <a:gd name="adj" fmla="val 6349"/>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1" i="0" u="none" strike="noStrike" kern="1200" cap="none" spc="0" normalizeH="0" baseline="0" noProof="0">
                  <a:ln>
                    <a:noFill/>
                  </a:ln>
                  <a:solidFill>
                    <a:srgbClr val="FFFFFF"/>
                  </a:solidFill>
                  <a:effectLst/>
                  <a:uLnTx/>
                  <a:uFillTx/>
                  <a:latin typeface="Arial"/>
                  <a:ea typeface="Arial"/>
                  <a:cs typeface="Arial"/>
                  <a:sym typeface="Arial"/>
                </a:rPr>
                <a:t>NSX Manager</a:t>
              </a:r>
              <a:endParaRPr kumimoji="0" sz="80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67" name="Google Shape;1496;p7">
              <a:extLst>
                <a:ext uri="{FF2B5EF4-FFF2-40B4-BE49-F238E27FC236}">
                  <a16:creationId xmlns:a16="http://schemas.microsoft.com/office/drawing/2014/main" id="{C5E588E5-CB91-AAE9-7378-56F29F640C78}"/>
                </a:ext>
              </a:extLst>
            </p:cNvPr>
            <p:cNvSpPr/>
            <p:nvPr/>
          </p:nvSpPr>
          <p:spPr>
            <a:xfrm>
              <a:off x="5733828" y="3240661"/>
              <a:ext cx="2159962" cy="289632"/>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1" i="0" u="none" strike="noStrike" kern="1200" cap="none" spc="0" normalizeH="0" baseline="0" noProof="0">
                  <a:ln>
                    <a:noFill/>
                  </a:ln>
                  <a:solidFill>
                    <a:srgbClr val="FFFFFF"/>
                  </a:solidFill>
                  <a:effectLst/>
                  <a:uLnTx/>
                  <a:uFillTx/>
                  <a:latin typeface="Arial"/>
                  <a:ea typeface="Arial"/>
                  <a:cs typeface="Arial"/>
                  <a:sym typeface="Arial"/>
                </a:rPr>
                <a:t>VCF Automation</a:t>
              </a:r>
              <a:endParaRPr kumimoji="0" sz="800" b="1" i="0" u="none" strike="noStrike" kern="1200" cap="none" spc="0" normalizeH="0" baseline="0" noProof="0">
                <a:ln>
                  <a:noFill/>
                </a:ln>
                <a:solidFill>
                  <a:srgbClr val="FFFFFF"/>
                </a:solidFill>
                <a:effectLst/>
                <a:uLnTx/>
                <a:uFillTx/>
                <a:latin typeface="Arial"/>
                <a:ea typeface="Arial"/>
                <a:cs typeface="Arial"/>
                <a:sym typeface="Arial"/>
              </a:endParaRPr>
            </a:p>
          </p:txBody>
        </p:sp>
      </p:grpSp>
      <p:sp>
        <p:nvSpPr>
          <p:cNvPr id="74" name="Google Shape;1497;p7">
            <a:extLst>
              <a:ext uri="{FF2B5EF4-FFF2-40B4-BE49-F238E27FC236}">
                <a16:creationId xmlns:a16="http://schemas.microsoft.com/office/drawing/2014/main" id="{185488DE-5E15-E5D0-0F7C-A2251C6E86B3}"/>
              </a:ext>
            </a:extLst>
          </p:cNvPr>
          <p:cNvSpPr/>
          <p:nvPr/>
        </p:nvSpPr>
        <p:spPr>
          <a:xfrm>
            <a:off x="3286785" y="5526793"/>
            <a:ext cx="4774649" cy="263556"/>
          </a:xfrm>
          <a:prstGeom prst="roundRect">
            <a:avLst>
              <a:gd name="adj" fmla="val 6349"/>
            </a:avLst>
          </a:prstGeom>
          <a:no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1000" b="1" i="0" u="none" strike="noStrike" kern="1200" cap="none" spc="0" normalizeH="0" baseline="0" noProof="0">
                <a:ln>
                  <a:noFill/>
                </a:ln>
                <a:solidFill>
                  <a:srgbClr val="005C8A"/>
                </a:solidFill>
                <a:effectLst/>
                <a:uLnTx/>
                <a:uFillTx/>
                <a:latin typeface="Arial"/>
                <a:ea typeface="Arial"/>
                <a:cs typeface="Arial"/>
                <a:sym typeface="Arial"/>
              </a:rPr>
              <a:t>The VCF Installer automates deployment of a ready-to-use Private Cloud</a:t>
            </a:r>
            <a:endParaRPr kumimoji="0" sz="1000" b="1" i="0" u="none" strike="noStrike" kern="1200" cap="none" spc="0" normalizeH="0" baseline="0" noProof="0">
              <a:ln>
                <a:noFill/>
              </a:ln>
              <a:solidFill>
                <a:srgbClr val="005C8A"/>
              </a:solidFill>
              <a:effectLst/>
              <a:uLnTx/>
              <a:uFillTx/>
              <a:latin typeface="Arial"/>
              <a:ea typeface="Arial"/>
              <a:cs typeface="Arial"/>
              <a:sym typeface="Arial"/>
            </a:endParaRPr>
          </a:p>
        </p:txBody>
      </p:sp>
      <p:sp>
        <p:nvSpPr>
          <p:cNvPr id="75" name="Google Shape;1498;p7">
            <a:extLst>
              <a:ext uri="{FF2B5EF4-FFF2-40B4-BE49-F238E27FC236}">
                <a16:creationId xmlns:a16="http://schemas.microsoft.com/office/drawing/2014/main" id="{45383310-A696-5216-D6DD-EB898744FE83}"/>
              </a:ext>
            </a:extLst>
          </p:cNvPr>
          <p:cNvSpPr/>
          <p:nvPr/>
        </p:nvSpPr>
        <p:spPr>
          <a:xfrm>
            <a:off x="1600195" y="4307174"/>
            <a:ext cx="571993" cy="317847"/>
          </a:xfrm>
          <a:prstGeom prst="roundRect">
            <a:avLst>
              <a:gd name="adj" fmla="val 0"/>
            </a:avLst>
          </a:prstGeom>
          <a:noFill/>
          <a:ln w="12700" cap="flat" cmpd="sng">
            <a:solidFill>
              <a:srgbClr val="FFFFFF"/>
            </a:solidFill>
            <a:prstDash val="solid"/>
            <a:miter lim="800000"/>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r>
              <a:rPr kumimoji="0" lang="en-US" sz="770" b="0" i="0" u="none" strike="noStrike" kern="1200" cap="none" spc="0" normalizeH="0" baseline="0" noProof="0">
                <a:ln>
                  <a:noFill/>
                </a:ln>
                <a:solidFill>
                  <a:srgbClr val="FFFFFF"/>
                </a:solidFill>
                <a:effectLst/>
                <a:uLnTx/>
                <a:uFillTx/>
                <a:latin typeface="Arial"/>
                <a:ea typeface="Arial"/>
                <a:cs typeface="Arial"/>
                <a:sym typeface="Arial"/>
              </a:rPr>
              <a:t>vCenter Server</a:t>
            </a:r>
            <a:endParaRPr kumimoji="0" sz="77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6" name="Google Shape;1499;p7">
            <a:extLst>
              <a:ext uri="{FF2B5EF4-FFF2-40B4-BE49-F238E27FC236}">
                <a16:creationId xmlns:a16="http://schemas.microsoft.com/office/drawing/2014/main" id="{42AE4A5B-579D-DBB7-F858-8CF4453D66D4}"/>
              </a:ext>
            </a:extLst>
          </p:cNvPr>
          <p:cNvSpPr/>
          <p:nvPr/>
        </p:nvSpPr>
        <p:spPr>
          <a:xfrm>
            <a:off x="935843" y="4308373"/>
            <a:ext cx="571993" cy="317847"/>
          </a:xfrm>
          <a:prstGeom prst="roundRect">
            <a:avLst>
              <a:gd name="adj" fmla="val 0"/>
            </a:avLst>
          </a:prstGeom>
          <a:noFill/>
          <a:ln w="12700" cap="flat" cmpd="sng">
            <a:solidFill>
              <a:srgbClr val="FFFFFF"/>
            </a:solidFill>
            <a:prstDash val="solid"/>
            <a:miter lim="800000"/>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r>
              <a:rPr kumimoji="0" lang="en-US" sz="770" b="0" i="0" u="none" strike="noStrike" kern="1200" cap="none" spc="0" normalizeH="0" baseline="0" noProof="0">
                <a:ln>
                  <a:noFill/>
                </a:ln>
                <a:solidFill>
                  <a:srgbClr val="FFFFFF"/>
                </a:solidFill>
                <a:effectLst/>
                <a:uLnTx/>
                <a:uFillTx/>
                <a:latin typeface="Arial"/>
                <a:ea typeface="Arial"/>
                <a:cs typeface="Arial"/>
                <a:sym typeface="Arial"/>
              </a:rPr>
              <a:t>SDDC Manager</a:t>
            </a:r>
            <a:endParaRPr kumimoji="0" sz="77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7" name="Google Shape;1500;p7">
            <a:extLst>
              <a:ext uri="{FF2B5EF4-FFF2-40B4-BE49-F238E27FC236}">
                <a16:creationId xmlns:a16="http://schemas.microsoft.com/office/drawing/2014/main" id="{3F30C5E1-3AB7-5C32-2AE3-969D91512D85}"/>
              </a:ext>
            </a:extLst>
          </p:cNvPr>
          <p:cNvSpPr/>
          <p:nvPr/>
        </p:nvSpPr>
        <p:spPr>
          <a:xfrm>
            <a:off x="2259294" y="4310882"/>
            <a:ext cx="571993" cy="317847"/>
          </a:xfrm>
          <a:prstGeom prst="roundRect">
            <a:avLst>
              <a:gd name="adj" fmla="val 0"/>
            </a:avLst>
          </a:prstGeom>
          <a:noFill/>
          <a:ln w="12700" cap="flat" cmpd="sng">
            <a:solidFill>
              <a:srgbClr val="FFFFFF"/>
            </a:solidFill>
            <a:prstDash val="solid"/>
            <a:miter lim="800000"/>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r>
              <a:rPr kumimoji="0" lang="en-US" sz="770" b="0" i="0" u="none" strike="noStrike" kern="1200" cap="none" spc="0" normalizeH="0" baseline="0" noProof="0">
                <a:ln>
                  <a:noFill/>
                </a:ln>
                <a:solidFill>
                  <a:srgbClr val="FFFFFF"/>
                </a:solidFill>
                <a:effectLst/>
                <a:uLnTx/>
                <a:uFillTx/>
                <a:latin typeface="Arial"/>
                <a:ea typeface="Arial"/>
                <a:cs typeface="Arial"/>
                <a:sym typeface="Arial"/>
              </a:rPr>
              <a:t>NSX Manager</a:t>
            </a:r>
            <a:endParaRPr kumimoji="0" sz="77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78" name="Google Shape;1502;p7">
            <a:extLst>
              <a:ext uri="{FF2B5EF4-FFF2-40B4-BE49-F238E27FC236}">
                <a16:creationId xmlns:a16="http://schemas.microsoft.com/office/drawing/2014/main" id="{E361E967-A34A-1646-817E-66CA330FACC3}"/>
              </a:ext>
            </a:extLst>
          </p:cNvPr>
          <p:cNvGrpSpPr/>
          <p:nvPr/>
        </p:nvGrpSpPr>
        <p:grpSpPr>
          <a:xfrm>
            <a:off x="3379781" y="2262180"/>
            <a:ext cx="830624" cy="706997"/>
            <a:chOff x="7943457" y="3626784"/>
            <a:chExt cx="1113209" cy="947522"/>
          </a:xfrm>
        </p:grpSpPr>
        <p:grpSp>
          <p:nvGrpSpPr>
            <p:cNvPr id="79" name="Google Shape;1503;p7">
              <a:extLst>
                <a:ext uri="{FF2B5EF4-FFF2-40B4-BE49-F238E27FC236}">
                  <a16:creationId xmlns:a16="http://schemas.microsoft.com/office/drawing/2014/main" id="{B0E1046F-0A55-4DB7-3963-5D3365558443}"/>
                </a:ext>
              </a:extLst>
            </p:cNvPr>
            <p:cNvGrpSpPr/>
            <p:nvPr/>
          </p:nvGrpSpPr>
          <p:grpSpPr>
            <a:xfrm>
              <a:off x="7943457" y="3696376"/>
              <a:ext cx="865481" cy="865478"/>
              <a:chOff x="5217804" y="2760888"/>
              <a:chExt cx="1232879" cy="1232880"/>
            </a:xfrm>
          </p:grpSpPr>
          <p:sp>
            <p:nvSpPr>
              <p:cNvPr id="91" name="Google Shape;1504;p7">
                <a:extLst>
                  <a:ext uri="{FF2B5EF4-FFF2-40B4-BE49-F238E27FC236}">
                    <a16:creationId xmlns:a16="http://schemas.microsoft.com/office/drawing/2014/main" id="{654809D0-01CE-6836-C548-2D0D6AE8F5BC}"/>
                  </a:ext>
                </a:extLst>
              </p:cNvPr>
              <p:cNvSpPr/>
              <p:nvPr/>
            </p:nvSpPr>
            <p:spPr>
              <a:xfrm>
                <a:off x="5217804" y="2760889"/>
                <a:ext cx="1232878" cy="1232879"/>
              </a:xfrm>
              <a:prstGeom prst="ellipse">
                <a:avLst/>
              </a:prstGeom>
              <a:solidFill>
                <a:srgbClr val="FFFFFF"/>
              </a:solidFill>
              <a:ln w="12700" cap="flat" cmpd="sng">
                <a:solidFill>
                  <a:srgbClr val="D2D9E8"/>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sp>
            <p:nvSpPr>
              <p:cNvPr id="92" name="Google Shape;1505;p7">
                <a:extLst>
                  <a:ext uri="{FF2B5EF4-FFF2-40B4-BE49-F238E27FC236}">
                    <a16:creationId xmlns:a16="http://schemas.microsoft.com/office/drawing/2014/main" id="{1144EE19-5EF8-1376-30BC-05B86FEA6A9E}"/>
                  </a:ext>
                </a:extLst>
              </p:cNvPr>
              <p:cNvSpPr/>
              <p:nvPr/>
            </p:nvSpPr>
            <p:spPr>
              <a:xfrm>
                <a:off x="5554580" y="2863157"/>
                <a:ext cx="852874" cy="640094"/>
              </a:xfrm>
              <a:custGeom>
                <a:avLst/>
                <a:gdLst/>
                <a:ahLst/>
                <a:cxnLst/>
                <a:rect l="l" t="t" r="r" b="b"/>
                <a:pathLst>
                  <a:path w="692813" h="519966" extrusionOk="0">
                    <a:moveTo>
                      <a:pt x="502652" y="0"/>
                    </a:moveTo>
                    <a:lnTo>
                      <a:pt x="507154" y="2444"/>
                    </a:lnTo>
                    <a:cubicBezTo>
                      <a:pt x="587075" y="56438"/>
                      <a:pt x="650570" y="132897"/>
                      <a:pt x="688579" y="222760"/>
                    </a:cubicBezTo>
                    <a:lnTo>
                      <a:pt x="692813" y="236400"/>
                    </a:lnTo>
                    <a:lnTo>
                      <a:pt x="418690" y="519966"/>
                    </a:lnTo>
                    <a:lnTo>
                      <a:pt x="0" y="519966"/>
                    </a:lnTo>
                    <a:lnTo>
                      <a:pt x="502652" y="0"/>
                    </a:lnTo>
                    <a:close/>
                  </a:path>
                </a:pathLst>
              </a:custGeom>
              <a:gradFill>
                <a:gsLst>
                  <a:gs pos="0">
                    <a:srgbClr val="6C4B94">
                      <a:alpha val="34901"/>
                    </a:srgbClr>
                  </a:gs>
                  <a:gs pos="37000">
                    <a:srgbClr val="6C4B94">
                      <a:alpha val="34901"/>
                    </a:srgbClr>
                  </a:gs>
                  <a:gs pos="98000">
                    <a:srgbClr val="0091DA">
                      <a:alpha val="0"/>
                    </a:srgbClr>
                  </a:gs>
                  <a:gs pos="100000">
                    <a:srgbClr val="0091DA">
                      <a:alpha val="0"/>
                    </a:srgbClr>
                  </a:gs>
                </a:gsLst>
                <a:lin ang="1620000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sp>
            <p:nvSpPr>
              <p:cNvPr id="93" name="Google Shape;1506;p7">
                <a:extLst>
                  <a:ext uri="{FF2B5EF4-FFF2-40B4-BE49-F238E27FC236}">
                    <a16:creationId xmlns:a16="http://schemas.microsoft.com/office/drawing/2014/main" id="{82AD5019-21C5-5810-DF88-486BEA9077C2}"/>
                  </a:ext>
                </a:extLst>
              </p:cNvPr>
              <p:cNvSpPr/>
              <p:nvPr/>
            </p:nvSpPr>
            <p:spPr>
              <a:xfrm>
                <a:off x="5217805" y="2760888"/>
                <a:ext cx="1232878" cy="1232879"/>
              </a:xfrm>
              <a:custGeom>
                <a:avLst/>
                <a:gdLst/>
                <a:ahLst/>
                <a:cxnLst/>
                <a:rect l="l" t="t" r="r" b="b"/>
                <a:pathLst>
                  <a:path w="1001500" h="1001502" extrusionOk="0">
                    <a:moveTo>
                      <a:pt x="500750" y="0"/>
                    </a:moveTo>
                    <a:cubicBezTo>
                      <a:pt x="569889" y="0"/>
                      <a:pt x="635756" y="14012"/>
                      <a:pt x="695665" y="39352"/>
                    </a:cubicBezTo>
                    <a:lnTo>
                      <a:pt x="776222" y="83076"/>
                    </a:lnTo>
                    <a:lnTo>
                      <a:pt x="273570" y="603042"/>
                    </a:lnTo>
                    <a:lnTo>
                      <a:pt x="692260" y="603042"/>
                    </a:lnTo>
                    <a:lnTo>
                      <a:pt x="966383" y="319476"/>
                    </a:lnTo>
                    <a:lnTo>
                      <a:pt x="991327" y="399832"/>
                    </a:lnTo>
                    <a:cubicBezTo>
                      <a:pt x="997997" y="432430"/>
                      <a:pt x="1001500" y="466182"/>
                      <a:pt x="1001500" y="500751"/>
                    </a:cubicBezTo>
                    <a:cubicBezTo>
                      <a:pt x="1001500" y="777308"/>
                      <a:pt x="777307" y="1001502"/>
                      <a:pt x="500750" y="1001502"/>
                    </a:cubicBezTo>
                    <a:cubicBezTo>
                      <a:pt x="224193" y="1001502"/>
                      <a:pt x="0" y="777308"/>
                      <a:pt x="0" y="500751"/>
                    </a:cubicBezTo>
                    <a:cubicBezTo>
                      <a:pt x="0" y="224194"/>
                      <a:pt x="224193" y="0"/>
                      <a:pt x="500750" y="0"/>
                    </a:cubicBezTo>
                    <a:close/>
                  </a:path>
                </a:pathLst>
              </a:custGeom>
              <a:gradFill>
                <a:gsLst>
                  <a:gs pos="0">
                    <a:srgbClr val="6C4B94">
                      <a:alpha val="34901"/>
                    </a:srgbClr>
                  </a:gs>
                  <a:gs pos="37000">
                    <a:srgbClr val="6C4B94">
                      <a:alpha val="34901"/>
                    </a:srgbClr>
                  </a:gs>
                  <a:gs pos="98000">
                    <a:srgbClr val="0091DA">
                      <a:alpha val="0"/>
                    </a:srgbClr>
                  </a:gs>
                  <a:gs pos="100000">
                    <a:schemeClr val="accent5"/>
                  </a:gs>
                </a:gsLst>
                <a:lin ang="16200000" scaled="0"/>
              </a:gradFill>
              <a:ln>
                <a:noFill/>
              </a:ln>
            </p:spPr>
            <p:txBody>
              <a:bodyPr spcFirstLastPara="1" wrap="square" lIns="109725" tIns="54850" rIns="109725" bIns="548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sp>
            <p:nvSpPr>
              <p:cNvPr id="94" name="Google Shape;1507;p7">
                <a:extLst>
                  <a:ext uri="{FF2B5EF4-FFF2-40B4-BE49-F238E27FC236}">
                    <a16:creationId xmlns:a16="http://schemas.microsoft.com/office/drawing/2014/main" id="{4F09FDED-0622-25C9-4754-A0E6C158D829}"/>
                  </a:ext>
                </a:extLst>
              </p:cNvPr>
              <p:cNvSpPr/>
              <p:nvPr/>
            </p:nvSpPr>
            <p:spPr>
              <a:xfrm>
                <a:off x="5554577" y="2906665"/>
                <a:ext cx="878947" cy="698268"/>
              </a:xfrm>
              <a:custGeom>
                <a:avLst/>
                <a:gdLst/>
                <a:ahLst/>
                <a:cxnLst/>
                <a:rect l="l" t="t" r="r" b="b"/>
                <a:pathLst>
                  <a:path w="991617" h="787778" extrusionOk="0">
                    <a:moveTo>
                      <a:pt x="761546" y="0"/>
                    </a:moveTo>
                    <a:lnTo>
                      <a:pt x="811023" y="40822"/>
                    </a:lnTo>
                    <a:cubicBezTo>
                      <a:pt x="873949" y="103748"/>
                      <a:pt x="924873" y="178678"/>
                      <a:pt x="960065" y="261882"/>
                    </a:cubicBezTo>
                    <a:lnTo>
                      <a:pt x="991617" y="363525"/>
                    </a:lnTo>
                    <a:lnTo>
                      <a:pt x="581491" y="787778"/>
                    </a:lnTo>
                    <a:lnTo>
                      <a:pt x="0" y="787778"/>
                    </a:lnTo>
                    <a:lnTo>
                      <a:pt x="761546" y="0"/>
                    </a:lnTo>
                    <a:close/>
                  </a:path>
                </a:pathLst>
              </a:custGeom>
              <a:gradFill>
                <a:gsLst>
                  <a:gs pos="0">
                    <a:schemeClr val="accent5"/>
                  </a:gs>
                  <a:gs pos="98000">
                    <a:srgbClr val="6C4B94">
                      <a:alpha val="0"/>
                    </a:srgbClr>
                  </a:gs>
                  <a:gs pos="100000">
                    <a:schemeClr val="accent5"/>
                  </a:gs>
                </a:gsLst>
                <a:lin ang="1890000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grpSp>
        <p:grpSp>
          <p:nvGrpSpPr>
            <p:cNvPr id="80" name="Google Shape;1508;p7">
              <a:extLst>
                <a:ext uri="{FF2B5EF4-FFF2-40B4-BE49-F238E27FC236}">
                  <a16:creationId xmlns:a16="http://schemas.microsoft.com/office/drawing/2014/main" id="{3B79EAAE-6DE0-B47B-77F3-630BB9D7C363}"/>
                </a:ext>
              </a:extLst>
            </p:cNvPr>
            <p:cNvGrpSpPr/>
            <p:nvPr/>
          </p:nvGrpSpPr>
          <p:grpSpPr>
            <a:xfrm>
              <a:off x="8154945" y="3626784"/>
              <a:ext cx="901721" cy="947522"/>
              <a:chOff x="1326710" y="4246688"/>
              <a:chExt cx="901721" cy="947522"/>
            </a:xfrm>
          </p:grpSpPr>
          <p:sp>
            <p:nvSpPr>
              <p:cNvPr id="81" name="Google Shape;1509;p7">
                <a:extLst>
                  <a:ext uri="{FF2B5EF4-FFF2-40B4-BE49-F238E27FC236}">
                    <a16:creationId xmlns:a16="http://schemas.microsoft.com/office/drawing/2014/main" id="{FEB7CEBF-C1C4-9A40-A6F9-245283763C11}"/>
                  </a:ext>
                </a:extLst>
              </p:cNvPr>
              <p:cNvSpPr/>
              <p:nvPr/>
            </p:nvSpPr>
            <p:spPr>
              <a:xfrm>
                <a:off x="2041763" y="4683642"/>
                <a:ext cx="186668" cy="268146"/>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rgbClr val="C2D6EC"/>
              </a:solidFill>
              <a:ln>
                <a:noFill/>
              </a:ln>
            </p:spPr>
            <p:txBody>
              <a:bodyPr spcFirstLastPara="1" wrap="square" lIns="182650" tIns="91300" rIns="182650" bIns="91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3C3C3C"/>
                  </a:solidFill>
                  <a:effectLst/>
                  <a:uLnTx/>
                  <a:uFillTx/>
                  <a:latin typeface="Arial"/>
                  <a:ea typeface="Arial"/>
                  <a:cs typeface="Arial"/>
                  <a:sym typeface="Arial"/>
                </a:endParaRPr>
              </a:p>
            </p:txBody>
          </p:sp>
          <p:sp>
            <p:nvSpPr>
              <p:cNvPr id="82" name="Google Shape;1510;p7">
                <a:extLst>
                  <a:ext uri="{FF2B5EF4-FFF2-40B4-BE49-F238E27FC236}">
                    <a16:creationId xmlns:a16="http://schemas.microsoft.com/office/drawing/2014/main" id="{5220A645-4C99-54F3-185B-46D8C4DECACB}"/>
                  </a:ext>
                </a:extLst>
              </p:cNvPr>
              <p:cNvSpPr/>
              <p:nvPr/>
            </p:nvSpPr>
            <p:spPr>
              <a:xfrm flipH="1">
                <a:off x="1498040" y="4594232"/>
                <a:ext cx="360444" cy="473304"/>
              </a:xfrm>
              <a:custGeom>
                <a:avLst/>
                <a:gdLst/>
                <a:ahLst/>
                <a:cxnLst/>
                <a:rect l="l" t="t" r="r" b="b"/>
                <a:pathLst>
                  <a:path w="276142" h="528520" extrusionOk="0">
                    <a:moveTo>
                      <a:pt x="0" y="495414"/>
                    </a:moveTo>
                    <a:lnTo>
                      <a:pt x="92697" y="284704"/>
                    </a:lnTo>
                    <a:lnTo>
                      <a:pt x="131645" y="56858"/>
                    </a:lnTo>
                    <a:cubicBezTo>
                      <a:pt x="139824" y="13625"/>
                      <a:pt x="185394" y="-11302"/>
                      <a:pt x="226289" y="5057"/>
                    </a:cubicBezTo>
                    <a:lnTo>
                      <a:pt x="276143" y="25310"/>
                    </a:lnTo>
                    <a:cubicBezTo>
                      <a:pt x="276143" y="25310"/>
                      <a:pt x="201362" y="289768"/>
                      <a:pt x="182277" y="328327"/>
                    </a:cubicBezTo>
                    <a:cubicBezTo>
                      <a:pt x="132813" y="408949"/>
                      <a:pt x="66602" y="528520"/>
                      <a:pt x="66602" y="528520"/>
                    </a:cubicBezTo>
                    <a:lnTo>
                      <a:pt x="0" y="495025"/>
                    </a:lnTo>
                    <a:close/>
                  </a:path>
                </a:pathLst>
              </a:custGeom>
              <a:solidFill>
                <a:srgbClr val="7F35B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83" name="Google Shape;1511;p7">
                <a:extLst>
                  <a:ext uri="{FF2B5EF4-FFF2-40B4-BE49-F238E27FC236}">
                    <a16:creationId xmlns:a16="http://schemas.microsoft.com/office/drawing/2014/main" id="{04786674-BCE7-F83B-325E-EED479F42AD2}"/>
                  </a:ext>
                </a:extLst>
              </p:cNvPr>
              <p:cNvGrpSpPr/>
              <p:nvPr/>
            </p:nvGrpSpPr>
            <p:grpSpPr>
              <a:xfrm flipH="1">
                <a:off x="1388659" y="4252449"/>
                <a:ext cx="246071" cy="372362"/>
                <a:chOff x="1935946" y="3808057"/>
                <a:chExt cx="188519" cy="285273"/>
              </a:xfrm>
            </p:grpSpPr>
            <p:sp>
              <p:nvSpPr>
                <p:cNvPr id="87" name="Google Shape;1512;p7">
                  <a:extLst>
                    <a:ext uri="{FF2B5EF4-FFF2-40B4-BE49-F238E27FC236}">
                      <a16:creationId xmlns:a16="http://schemas.microsoft.com/office/drawing/2014/main" id="{4C80348B-9936-4166-08BD-DEE40D221B5F}"/>
                    </a:ext>
                  </a:extLst>
                </p:cNvPr>
                <p:cNvSpPr/>
                <p:nvPr/>
              </p:nvSpPr>
              <p:spPr>
                <a:xfrm>
                  <a:off x="1981085" y="3943196"/>
                  <a:ext cx="124370" cy="150134"/>
                </a:xfrm>
                <a:custGeom>
                  <a:avLst/>
                  <a:gdLst/>
                  <a:ahLst/>
                  <a:cxnLst/>
                  <a:rect l="l" t="t" r="r" b="b"/>
                  <a:pathLst>
                    <a:path w="124370" h="150134" extrusionOk="0">
                      <a:moveTo>
                        <a:pt x="102044" y="149745"/>
                      </a:moveTo>
                      <a:cubicBezTo>
                        <a:pt x="102044" y="149745"/>
                        <a:pt x="83739" y="99891"/>
                        <a:pt x="118013" y="34069"/>
                      </a:cubicBezTo>
                      <a:cubicBezTo>
                        <a:pt x="155793" y="-38764"/>
                        <a:pt x="12853" y="27837"/>
                        <a:pt x="12853" y="27837"/>
                      </a:cubicBezTo>
                      <a:lnTo>
                        <a:pt x="0" y="140008"/>
                      </a:lnTo>
                      <a:lnTo>
                        <a:pt x="101655" y="150134"/>
                      </a:lnTo>
                      <a:close/>
                    </a:path>
                  </a:pathLst>
                </a:custGeom>
                <a:solidFill>
                  <a:srgbClr val="DAA874"/>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88" name="Google Shape;1513;p7">
                  <a:extLst>
                    <a:ext uri="{FF2B5EF4-FFF2-40B4-BE49-F238E27FC236}">
                      <a16:creationId xmlns:a16="http://schemas.microsoft.com/office/drawing/2014/main" id="{9D5B2035-5E1E-4B47-31FE-2AA7A66BD0C1}"/>
                    </a:ext>
                  </a:extLst>
                </p:cNvPr>
                <p:cNvSpPr/>
                <p:nvPr/>
              </p:nvSpPr>
              <p:spPr>
                <a:xfrm>
                  <a:off x="1935946" y="3817192"/>
                  <a:ext cx="177451" cy="206460"/>
                </a:xfrm>
                <a:custGeom>
                  <a:avLst/>
                  <a:gdLst/>
                  <a:ahLst/>
                  <a:cxnLst/>
                  <a:rect l="l" t="t" r="r" b="b"/>
                  <a:pathLst>
                    <a:path w="177451" h="206460" extrusionOk="0">
                      <a:moveTo>
                        <a:pt x="66171" y="205253"/>
                      </a:moveTo>
                      <a:lnTo>
                        <a:pt x="66171" y="205253"/>
                      </a:lnTo>
                      <a:cubicBezTo>
                        <a:pt x="19823" y="195516"/>
                        <a:pt x="-3157" y="177600"/>
                        <a:pt x="349" y="126967"/>
                      </a:cubicBezTo>
                      <a:lnTo>
                        <a:pt x="6580" y="74387"/>
                      </a:lnTo>
                      <a:cubicBezTo>
                        <a:pt x="16318" y="19470"/>
                        <a:pt x="62666" y="-7793"/>
                        <a:pt x="109014" y="1944"/>
                      </a:cubicBezTo>
                      <a:lnTo>
                        <a:pt x="109014" y="1944"/>
                      </a:lnTo>
                      <a:cubicBezTo>
                        <a:pt x="155363" y="11681"/>
                        <a:pt x="185353" y="57250"/>
                        <a:pt x="175616" y="103598"/>
                      </a:cubicBezTo>
                      <a:lnTo>
                        <a:pt x="164321" y="156957"/>
                      </a:lnTo>
                      <a:cubicBezTo>
                        <a:pt x="163152" y="162800"/>
                        <a:pt x="112909" y="214990"/>
                        <a:pt x="66561" y="205253"/>
                      </a:cubicBezTo>
                      <a:close/>
                    </a:path>
                  </a:pathLst>
                </a:custGeom>
                <a:solidFill>
                  <a:srgbClr val="DAA874"/>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89" name="Google Shape;1514;p7">
                  <a:extLst>
                    <a:ext uri="{FF2B5EF4-FFF2-40B4-BE49-F238E27FC236}">
                      <a16:creationId xmlns:a16="http://schemas.microsoft.com/office/drawing/2014/main" id="{1FC98530-1FB7-C841-6F2F-E98CF6573653}"/>
                    </a:ext>
                  </a:extLst>
                </p:cNvPr>
                <p:cNvSpPr/>
                <p:nvPr/>
              </p:nvSpPr>
              <p:spPr>
                <a:xfrm>
                  <a:off x="1950389" y="3808057"/>
                  <a:ext cx="174076" cy="184787"/>
                </a:xfrm>
                <a:custGeom>
                  <a:avLst/>
                  <a:gdLst/>
                  <a:ahLst/>
                  <a:cxnLst/>
                  <a:rect l="l" t="t" r="r" b="b"/>
                  <a:pathLst>
                    <a:path w="174076" h="184787" extrusionOk="0">
                      <a:moveTo>
                        <a:pt x="3822" y="49637"/>
                      </a:moveTo>
                      <a:cubicBezTo>
                        <a:pt x="-6694" y="32111"/>
                        <a:pt x="5769" y="14584"/>
                        <a:pt x="25633" y="10300"/>
                      </a:cubicBezTo>
                      <a:cubicBezTo>
                        <a:pt x="48612" y="4847"/>
                        <a:pt x="75097" y="-4111"/>
                        <a:pt x="105087" y="2121"/>
                      </a:cubicBezTo>
                      <a:cubicBezTo>
                        <a:pt x="164288" y="14584"/>
                        <a:pt x="176752" y="67943"/>
                        <a:pt x="173636" y="95596"/>
                      </a:cubicBezTo>
                      <a:cubicBezTo>
                        <a:pt x="169741" y="131428"/>
                        <a:pt x="140919" y="184787"/>
                        <a:pt x="140919" y="184787"/>
                      </a:cubicBezTo>
                      <a:lnTo>
                        <a:pt x="100413" y="176219"/>
                      </a:lnTo>
                      <a:cubicBezTo>
                        <a:pt x="89897" y="173882"/>
                        <a:pt x="82497" y="164145"/>
                        <a:pt x="82887" y="153629"/>
                      </a:cubicBezTo>
                      <a:lnTo>
                        <a:pt x="84055" y="131428"/>
                      </a:lnTo>
                      <a:lnTo>
                        <a:pt x="47054" y="110396"/>
                      </a:lnTo>
                      <a:lnTo>
                        <a:pt x="51728" y="84691"/>
                      </a:lnTo>
                      <a:cubicBezTo>
                        <a:pt x="54065" y="73006"/>
                        <a:pt x="53286" y="53143"/>
                        <a:pt x="30307" y="52364"/>
                      </a:cubicBezTo>
                      <a:lnTo>
                        <a:pt x="4211" y="50027"/>
                      </a:lnTo>
                      <a:lnTo>
                        <a:pt x="4211" y="50027"/>
                      </a:lnTo>
                      <a:close/>
                    </a:path>
                  </a:pathLst>
                </a:custGeom>
                <a:solidFill>
                  <a:srgbClr val="4A469C"/>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90" name="Google Shape;1515;p7">
                  <a:extLst>
                    <a:ext uri="{FF2B5EF4-FFF2-40B4-BE49-F238E27FC236}">
                      <a16:creationId xmlns:a16="http://schemas.microsoft.com/office/drawing/2014/main" id="{0FFCFD6C-6927-C2B3-D105-D7B5A2D0B514}"/>
                    </a:ext>
                  </a:extLst>
                </p:cNvPr>
                <p:cNvSpPr/>
                <p:nvPr/>
              </p:nvSpPr>
              <p:spPr>
                <a:xfrm rot="-4692000">
                  <a:off x="1989857" y="3920792"/>
                  <a:ext cx="56085" cy="41285"/>
                </a:xfrm>
                <a:custGeom>
                  <a:avLst/>
                  <a:gdLst/>
                  <a:ahLst/>
                  <a:cxnLst/>
                  <a:rect l="l" t="t" r="r" b="b"/>
                  <a:pathLst>
                    <a:path w="56085" h="41285" extrusionOk="0">
                      <a:moveTo>
                        <a:pt x="56085" y="20642"/>
                      </a:moveTo>
                      <a:cubicBezTo>
                        <a:pt x="56085" y="32043"/>
                        <a:pt x="43530" y="41285"/>
                        <a:pt x="28042" y="41285"/>
                      </a:cubicBezTo>
                      <a:cubicBezTo>
                        <a:pt x="12555" y="41285"/>
                        <a:pt x="0" y="32043"/>
                        <a:pt x="0" y="20642"/>
                      </a:cubicBezTo>
                      <a:cubicBezTo>
                        <a:pt x="0" y="9242"/>
                        <a:pt x="12555" y="0"/>
                        <a:pt x="28042" y="0"/>
                      </a:cubicBezTo>
                      <a:cubicBezTo>
                        <a:pt x="43530" y="0"/>
                        <a:pt x="56085" y="9242"/>
                        <a:pt x="56085" y="20642"/>
                      </a:cubicBezTo>
                      <a:close/>
                    </a:path>
                  </a:pathLst>
                </a:custGeom>
                <a:solidFill>
                  <a:srgbClr val="DAA874"/>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84" name="Google Shape;1516;p7">
                <a:extLst>
                  <a:ext uri="{FF2B5EF4-FFF2-40B4-BE49-F238E27FC236}">
                    <a16:creationId xmlns:a16="http://schemas.microsoft.com/office/drawing/2014/main" id="{1274F36B-593C-36E9-2A99-7C51BBD38BF9}"/>
                  </a:ext>
                </a:extLst>
              </p:cNvPr>
              <p:cNvSpPr/>
              <p:nvPr/>
            </p:nvSpPr>
            <p:spPr>
              <a:xfrm flipH="1">
                <a:off x="1423296" y="4246688"/>
                <a:ext cx="224985" cy="141189"/>
              </a:xfrm>
              <a:custGeom>
                <a:avLst/>
                <a:gdLst/>
                <a:ahLst/>
                <a:cxnLst/>
                <a:rect l="l" t="t" r="r" b="b"/>
                <a:pathLst>
                  <a:path w="172365" h="108167" extrusionOk="0">
                    <a:moveTo>
                      <a:pt x="172366" y="33777"/>
                    </a:moveTo>
                    <a:cubicBezTo>
                      <a:pt x="172366" y="33777"/>
                      <a:pt x="150165" y="3787"/>
                      <a:pt x="129912" y="1450"/>
                    </a:cubicBezTo>
                    <a:cubicBezTo>
                      <a:pt x="78890" y="-4003"/>
                      <a:pt x="994" y="7682"/>
                      <a:pt x="994" y="7682"/>
                    </a:cubicBezTo>
                    <a:cubicBezTo>
                      <a:pt x="994" y="7682"/>
                      <a:pt x="-9133" y="64156"/>
                      <a:pt x="35268" y="86357"/>
                    </a:cubicBezTo>
                    <a:cubicBezTo>
                      <a:pt x="63311" y="86746"/>
                      <a:pt x="78890" y="108168"/>
                      <a:pt x="78890" y="108168"/>
                    </a:cubicBezTo>
                    <a:lnTo>
                      <a:pt x="172366" y="33387"/>
                    </a:lnTo>
                    <a:close/>
                  </a:path>
                </a:pathLst>
              </a:custGeom>
              <a:solidFill>
                <a:srgbClr val="4A469C"/>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85" name="Google Shape;1517;p7">
                <a:extLst>
                  <a:ext uri="{FF2B5EF4-FFF2-40B4-BE49-F238E27FC236}">
                    <a16:creationId xmlns:a16="http://schemas.microsoft.com/office/drawing/2014/main" id="{FF6D1472-B8B6-EF1E-D4A1-7A506FCB88D0}"/>
                  </a:ext>
                </a:extLst>
              </p:cNvPr>
              <p:cNvSpPr/>
              <p:nvPr/>
            </p:nvSpPr>
            <p:spPr>
              <a:xfrm flipH="1">
                <a:off x="1408552" y="4562252"/>
                <a:ext cx="187593" cy="69139"/>
              </a:xfrm>
              <a:custGeom>
                <a:avLst/>
                <a:gdLst/>
                <a:ahLst/>
                <a:cxnLst/>
                <a:rect l="l" t="t" r="r" b="b"/>
                <a:pathLst>
                  <a:path w="143718" h="52969" extrusionOk="0">
                    <a:moveTo>
                      <a:pt x="143719" y="52970"/>
                    </a:moveTo>
                    <a:lnTo>
                      <a:pt x="136319" y="3895"/>
                    </a:lnTo>
                    <a:lnTo>
                      <a:pt x="8179" y="0"/>
                    </a:lnTo>
                    <a:lnTo>
                      <a:pt x="0" y="44790"/>
                    </a:lnTo>
                    <a:lnTo>
                      <a:pt x="143719" y="52970"/>
                    </a:lnTo>
                    <a:close/>
                  </a:path>
                </a:pathLst>
              </a:custGeom>
              <a:solidFill>
                <a:srgbClr val="E5D2F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86" name="Google Shape;1518;p7">
                <a:extLst>
                  <a:ext uri="{FF2B5EF4-FFF2-40B4-BE49-F238E27FC236}">
                    <a16:creationId xmlns:a16="http://schemas.microsoft.com/office/drawing/2014/main" id="{5BD5E4A8-8359-58EF-7EC9-98FB5FD133A0}"/>
                  </a:ext>
                </a:extLst>
              </p:cNvPr>
              <p:cNvSpPr/>
              <p:nvPr/>
            </p:nvSpPr>
            <p:spPr>
              <a:xfrm>
                <a:off x="1326710" y="4582588"/>
                <a:ext cx="382814" cy="611622"/>
              </a:xfrm>
              <a:custGeom>
                <a:avLst/>
                <a:gdLst/>
                <a:ahLst/>
                <a:cxnLst/>
                <a:rect l="l" t="t" r="r" b="b"/>
                <a:pathLst>
                  <a:path w="437518" h="699025" extrusionOk="0">
                    <a:moveTo>
                      <a:pt x="249835" y="0"/>
                    </a:moveTo>
                    <a:lnTo>
                      <a:pt x="386378" y="31376"/>
                    </a:lnTo>
                    <a:cubicBezTo>
                      <a:pt x="386378" y="31376"/>
                      <a:pt x="412623" y="346778"/>
                      <a:pt x="434366" y="616748"/>
                    </a:cubicBezTo>
                    <a:lnTo>
                      <a:pt x="437518" y="656137"/>
                    </a:lnTo>
                    <a:lnTo>
                      <a:pt x="423858" y="663551"/>
                    </a:lnTo>
                    <a:cubicBezTo>
                      <a:pt x="369851" y="686394"/>
                      <a:pt x="310474" y="699025"/>
                      <a:pt x="248147" y="699025"/>
                    </a:cubicBezTo>
                    <a:cubicBezTo>
                      <a:pt x="185820" y="699025"/>
                      <a:pt x="126443" y="686394"/>
                      <a:pt x="72437" y="663551"/>
                    </a:cubicBezTo>
                    <a:lnTo>
                      <a:pt x="31994" y="641600"/>
                    </a:lnTo>
                    <a:lnTo>
                      <a:pt x="570" y="194066"/>
                    </a:lnTo>
                    <a:cubicBezTo>
                      <a:pt x="-5820" y="104587"/>
                      <a:pt x="42404" y="32538"/>
                      <a:pt x="101671" y="17430"/>
                    </a:cubicBezTo>
                    <a:lnTo>
                      <a:pt x="101089" y="18013"/>
                    </a:lnTo>
                    <a:lnTo>
                      <a:pt x="132465" y="47064"/>
                    </a:lnTo>
                    <a:close/>
                  </a:path>
                </a:pathLst>
              </a:custGeom>
              <a:solidFill>
                <a:srgbClr val="7F35B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41032"/>
                  </a:solidFill>
                  <a:effectLst/>
                  <a:uLnTx/>
                  <a:uFillTx/>
                  <a:latin typeface="Arial"/>
                  <a:ea typeface="Arial"/>
                  <a:cs typeface="Arial"/>
                  <a:sym typeface="Arial"/>
                </a:endParaRPr>
              </a:p>
            </p:txBody>
          </p:sp>
        </p:grpSp>
      </p:grpSp>
    </p:spTree>
    <p:extLst>
      <p:ext uri="{BB962C8B-B14F-4D97-AF65-F5344CB8AC3E}">
        <p14:creationId xmlns:p14="http://schemas.microsoft.com/office/powerpoint/2010/main" val="974018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1000"/>
                            </p:stCondLst>
                            <p:childTnLst>
                              <p:par>
                                <p:cTn id="9" presetID="10" presetClass="entr" presetSubtype="0" fill="hold" nodeType="afterEffect">
                                  <p:stCondLst>
                                    <p:cond delay="500"/>
                                  </p:stCondLst>
                                  <p:childTnLst>
                                    <p:set>
                                      <p:cBhvr>
                                        <p:cTn id="10" dur="1" fill="hold">
                                          <p:stCondLst>
                                            <p:cond delay="0"/>
                                          </p:stCondLst>
                                        </p:cTn>
                                        <p:tgtEl>
                                          <p:spTgt spid="55"/>
                                        </p:tgtEl>
                                        <p:attrNameLst>
                                          <p:attrName>style.visibility</p:attrName>
                                        </p:attrNameLst>
                                      </p:cBhvr>
                                      <p:to>
                                        <p:strVal val="visible"/>
                                      </p:to>
                                    </p:set>
                                    <p:animEffect transition="in" filter="fade">
                                      <p:cBhvr>
                                        <p:cTn id="11"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E2185-BB81-3655-A101-8A9D64ECA6B3}"/>
            </a:ext>
          </a:extLst>
        </p:cNvPr>
        <p:cNvGrpSpPr/>
        <p:nvPr/>
      </p:nvGrpSpPr>
      <p:grpSpPr>
        <a:xfrm>
          <a:off x="0" y="0"/>
          <a:ext cx="0" cy="0"/>
          <a:chOff x="0" y="0"/>
          <a:chExt cx="0" cy="0"/>
        </a:xfrm>
      </p:grpSpPr>
      <p:sp>
        <p:nvSpPr>
          <p:cNvPr id="31" name="Content Placeholder 1">
            <a:extLst>
              <a:ext uri="{FF2B5EF4-FFF2-40B4-BE49-F238E27FC236}">
                <a16:creationId xmlns:a16="http://schemas.microsoft.com/office/drawing/2014/main" id="{70D60D11-D8C7-468B-AC44-1F5D71FEA4BF}"/>
              </a:ext>
            </a:extLst>
          </p:cNvPr>
          <p:cNvSpPr txBox="1">
            <a:spLocks/>
          </p:cNvSpPr>
          <p:nvPr/>
        </p:nvSpPr>
        <p:spPr>
          <a:xfrm>
            <a:off x="7136027" y="1600200"/>
            <a:ext cx="5052798" cy="4572000"/>
          </a:xfrm>
          <a:prstGeom prst="rect">
            <a:avLst/>
          </a:prstGeom>
          <a:solidFill>
            <a:srgbClr val="F4F9FB"/>
          </a:solidFill>
        </p:spPr>
        <p:txBody>
          <a:bodyPr/>
          <a:lst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
                <a:srgbClr val="000000">
                  <a:lumMod val="60000"/>
                  <a:lumOff val="40000"/>
                </a:srgbClr>
              </a:buClr>
              <a:buSzPct val="90000"/>
              <a:buFont typeface="Arial" panose="020B0604020202020204" pitchFamily="34" charset="0"/>
              <a:buChar char="​"/>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0D67BEA0-7D81-B72B-98DA-E8767CCD21E5}"/>
              </a:ext>
            </a:extLst>
          </p:cNvPr>
          <p:cNvSpPr>
            <a:spLocks noGrp="1"/>
          </p:cNvSpPr>
          <p:nvPr>
            <p:ph type="title"/>
          </p:nvPr>
        </p:nvSpPr>
        <p:spPr>
          <a:xfrm>
            <a:off x="579809" y="412751"/>
            <a:ext cx="11001004" cy="381000"/>
          </a:xfrm>
        </p:spPr>
        <p:txBody>
          <a:bodyPr/>
          <a:lstStyle/>
          <a:p>
            <a:r>
              <a:rPr lang="en-US" dirty="0"/>
              <a:t>Flexible Deployment Workflows</a:t>
            </a:r>
          </a:p>
        </p:txBody>
      </p:sp>
      <p:sp>
        <p:nvSpPr>
          <p:cNvPr id="3" name="Subtitle 2">
            <a:extLst>
              <a:ext uri="{FF2B5EF4-FFF2-40B4-BE49-F238E27FC236}">
                <a16:creationId xmlns:a16="http://schemas.microsoft.com/office/drawing/2014/main" id="{FF19BA7F-7207-7CF5-F8F0-26EBDA6A3D52}"/>
              </a:ext>
            </a:extLst>
          </p:cNvPr>
          <p:cNvSpPr>
            <a:spLocks noGrp="1"/>
          </p:cNvSpPr>
          <p:nvPr>
            <p:ph type="subTitle" idx="10"/>
          </p:nvPr>
        </p:nvSpPr>
        <p:spPr>
          <a:xfrm>
            <a:off x="592866" y="811830"/>
            <a:ext cx="10962687" cy="247743"/>
          </a:xfrm>
        </p:spPr>
        <p:txBody>
          <a:bodyPr/>
          <a:lstStyle/>
          <a:p>
            <a:r>
              <a:rPr lang="en-US" dirty="0"/>
              <a:t>VMware Cloud Foundation Installer Appliance</a:t>
            </a:r>
          </a:p>
        </p:txBody>
      </p:sp>
      <p:sp>
        <p:nvSpPr>
          <p:cNvPr id="4" name="Google Shape;1533;p8">
            <a:extLst>
              <a:ext uri="{FF2B5EF4-FFF2-40B4-BE49-F238E27FC236}">
                <a16:creationId xmlns:a16="http://schemas.microsoft.com/office/drawing/2014/main" id="{2B90DFE7-7091-CD1A-50DB-976239525FC1}"/>
              </a:ext>
            </a:extLst>
          </p:cNvPr>
          <p:cNvSpPr txBox="1"/>
          <p:nvPr/>
        </p:nvSpPr>
        <p:spPr>
          <a:xfrm>
            <a:off x="7326229" y="1999449"/>
            <a:ext cx="4638248" cy="4572000"/>
          </a:xfrm>
          <a:prstGeom prst="rect">
            <a:avLst/>
          </a:prstGeom>
          <a:noFill/>
          <a:ln>
            <a:noFill/>
          </a:ln>
        </p:spPr>
        <p:txBody>
          <a:bodyPr spcFirstLastPara="1" wrap="square" lIns="0" tIns="0" rIns="0" bIns="0" anchor="t" anchorCtr="0">
            <a:noAutofit/>
          </a:bodyPr>
          <a:lstStyle/>
          <a:p>
            <a:pPr marL="0" marR="0" lvl="0" indent="-114300" algn="l" defTabSz="914400" rtl="0" eaLnBrk="1" fontAlgn="auto" latinLnBrk="0" hangingPunct="1">
              <a:lnSpc>
                <a:spcPct val="100000"/>
              </a:lnSpc>
              <a:spcBef>
                <a:spcPts val="0"/>
              </a:spcBef>
              <a:spcAft>
                <a:spcPts val="0"/>
              </a:spcAft>
              <a:buClr>
                <a:srgbClr val="666666"/>
              </a:buClr>
              <a:buSzPts val="1800"/>
              <a:buFont typeface="Arial"/>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Arial"/>
                <a:cs typeface="Arial"/>
                <a:sym typeface="Arial"/>
              </a:rPr>
              <a:t>Choice of Depot:</a:t>
            </a:r>
            <a:endParaRPr kumimoji="0" sz="16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457200" marR="0" lvl="1" indent="-184150" algn="l" defTabSz="914400" rtl="0" eaLnBrk="1" fontAlgn="auto" latinLnBrk="0" hangingPunct="1">
              <a:lnSpc>
                <a:spcPct val="100000"/>
              </a:lnSpc>
              <a:spcBef>
                <a:spcPts val="1200"/>
              </a:spcBef>
              <a:spcAft>
                <a:spcPts val="0"/>
              </a:spcAft>
              <a:buClr>
                <a:srgbClr val="3B3B3B"/>
              </a:buClr>
              <a:buSzPts val="1620"/>
              <a:buFont typeface="Arial"/>
              <a:buChar char="•"/>
              <a:tabLst/>
              <a:defRPr/>
            </a:pPr>
            <a:r>
              <a:rPr kumimoji="0" lang="en-US" sz="1600" b="0" i="0" u="none" strike="noStrike" kern="1200" cap="none" spc="0" normalizeH="0" baseline="0" noProof="0" dirty="0">
                <a:ln>
                  <a:noFill/>
                </a:ln>
                <a:solidFill>
                  <a:srgbClr val="005C8A"/>
                </a:solidFill>
                <a:effectLst/>
                <a:uLnTx/>
                <a:uFillTx/>
                <a:latin typeface="Arial" panose="020B0604020202020204"/>
                <a:ea typeface="Arial"/>
                <a:cs typeface="Arial"/>
                <a:sym typeface="Arial"/>
              </a:rPr>
              <a:t>Online or Offline depot</a:t>
            </a:r>
            <a:endParaRPr kumimoji="0" sz="16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114300" algn="l" defTabSz="914400" rtl="0" eaLnBrk="1" fontAlgn="auto" latinLnBrk="0" hangingPunct="1">
              <a:lnSpc>
                <a:spcPct val="100000"/>
              </a:lnSpc>
              <a:spcBef>
                <a:spcPts val="1200"/>
              </a:spcBef>
              <a:spcAft>
                <a:spcPts val="0"/>
              </a:spcAft>
              <a:buClr>
                <a:srgbClr val="666666"/>
              </a:buClr>
              <a:buSzPts val="1800"/>
              <a:buFont typeface="Arial"/>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Arial"/>
                <a:cs typeface="Arial"/>
                <a:sym typeface="Arial"/>
              </a:rPr>
              <a:t>Choice of Deployment Method:  </a:t>
            </a:r>
            <a:endParaRPr kumimoji="0" sz="16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457200" marR="0" lvl="1" indent="-184150" algn="l" defTabSz="914400" rtl="0" eaLnBrk="1" fontAlgn="auto" latinLnBrk="0" hangingPunct="1">
              <a:lnSpc>
                <a:spcPct val="100000"/>
              </a:lnSpc>
              <a:spcBef>
                <a:spcPts val="1200"/>
              </a:spcBef>
              <a:spcAft>
                <a:spcPts val="0"/>
              </a:spcAft>
              <a:buClr>
                <a:srgbClr val="3B3B3B"/>
              </a:buClr>
              <a:buSzPts val="1620"/>
              <a:buFont typeface="Arial"/>
              <a:buChar char="•"/>
              <a:tabLst/>
              <a:defRPr/>
            </a:pPr>
            <a: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Arial"/>
                <a:sym typeface="Arial"/>
              </a:rPr>
              <a:t>Wizard-driven or re-usable JSON </a:t>
            </a:r>
            <a:endParaRPr kumimoji="0" sz="16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114300" algn="l" defTabSz="914400" rtl="0" eaLnBrk="1" fontAlgn="auto" latinLnBrk="0" hangingPunct="1">
              <a:lnSpc>
                <a:spcPct val="100000"/>
              </a:lnSpc>
              <a:spcBef>
                <a:spcPts val="1200"/>
              </a:spcBef>
              <a:spcAft>
                <a:spcPts val="0"/>
              </a:spcAft>
              <a:buClr>
                <a:srgbClr val="666666"/>
              </a:buClr>
              <a:buSzPts val="1800"/>
              <a:buFont typeface="Arial"/>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Arial"/>
                <a:cs typeface="Arial"/>
                <a:sym typeface="Arial"/>
              </a:rPr>
              <a:t>Choice of VCF Topology:</a:t>
            </a:r>
            <a:endParaRPr kumimoji="0" sz="16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457200" marR="0" lvl="1" indent="-184150" algn="l" defTabSz="914400" rtl="0" eaLnBrk="1" fontAlgn="auto" latinLnBrk="0" hangingPunct="1">
              <a:lnSpc>
                <a:spcPct val="100000"/>
              </a:lnSpc>
              <a:spcBef>
                <a:spcPts val="1200"/>
              </a:spcBef>
              <a:spcAft>
                <a:spcPts val="0"/>
              </a:spcAft>
              <a:buClr>
                <a:srgbClr val="3B3B3B"/>
              </a:buClr>
              <a:buSzPts val="1620"/>
              <a:buFont typeface="Arial"/>
              <a:buChar char="•"/>
              <a:tabLst/>
              <a:defRPr/>
            </a:pPr>
            <a:r>
              <a:rPr kumimoji="0" lang="en-US" sz="1600" b="0" i="0" u="none" strike="noStrike" kern="1200" cap="none" spc="0" normalizeH="0" baseline="0" noProof="0" dirty="0">
                <a:ln>
                  <a:noFill/>
                </a:ln>
                <a:solidFill>
                  <a:srgbClr val="005C8A"/>
                </a:solidFill>
                <a:effectLst/>
                <a:uLnTx/>
                <a:uFillTx/>
                <a:latin typeface="Arial" panose="020B0604020202020204"/>
                <a:ea typeface="Arial"/>
                <a:cs typeface="Arial"/>
                <a:sym typeface="Arial"/>
              </a:rPr>
              <a:t>Deploy to a new or existing VCF Fleet</a:t>
            </a:r>
            <a:endParaRPr kumimoji="0" sz="16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114300" algn="l" defTabSz="914400" rtl="0" eaLnBrk="1" fontAlgn="auto" latinLnBrk="0" hangingPunct="1">
              <a:lnSpc>
                <a:spcPct val="100000"/>
              </a:lnSpc>
              <a:spcBef>
                <a:spcPts val="1200"/>
              </a:spcBef>
              <a:spcAft>
                <a:spcPts val="0"/>
              </a:spcAft>
              <a:buClr>
                <a:srgbClr val="666666"/>
              </a:buClr>
              <a:buSzPts val="1800"/>
              <a:buFont typeface="Arial"/>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Arial"/>
                <a:cs typeface="Arial"/>
                <a:sym typeface="Arial"/>
              </a:rPr>
              <a:t>Deploy New or Existing Components:</a:t>
            </a:r>
            <a:endParaRPr kumimoji="0" sz="16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457200" marR="0" lvl="1" indent="-184150" algn="l" defTabSz="914400" rtl="0" eaLnBrk="1" fontAlgn="auto" latinLnBrk="0" hangingPunct="1">
              <a:lnSpc>
                <a:spcPct val="100000"/>
              </a:lnSpc>
              <a:spcBef>
                <a:spcPts val="1200"/>
              </a:spcBef>
              <a:spcAft>
                <a:spcPts val="0"/>
              </a:spcAft>
              <a:buClr>
                <a:srgbClr val="3B3B3B"/>
              </a:buClr>
              <a:buSzPts val="1620"/>
              <a:buFont typeface="Arial"/>
              <a:buChar char="•"/>
              <a:tabLst/>
              <a:defRPr/>
            </a:pPr>
            <a:r>
              <a:rPr kumimoji="0" lang="en-US" sz="1600" b="0" i="0" u="none" strike="noStrike" kern="1200" cap="none" spc="0" normalizeH="0" baseline="0" noProof="0" dirty="0">
                <a:ln>
                  <a:noFill/>
                </a:ln>
                <a:solidFill>
                  <a:srgbClr val="005C8A"/>
                </a:solidFill>
                <a:effectLst/>
                <a:uLnTx/>
                <a:uFillTx/>
                <a:latin typeface="Arial" panose="020B0604020202020204"/>
                <a:ea typeface="Arial"/>
                <a:cs typeface="Arial"/>
                <a:sym typeface="Arial"/>
              </a:rPr>
              <a:t>vCenter, NSX</a:t>
            </a:r>
            <a:r>
              <a:rPr kumimoji="0" lang="en-US" sz="1600" b="0" i="0" u="none" strike="noStrike" kern="1200" cap="none" spc="0" normalizeH="0" baseline="30000" noProof="0" dirty="0">
                <a:ln>
                  <a:noFill/>
                </a:ln>
                <a:solidFill>
                  <a:srgbClr val="005C8A"/>
                </a:solidFill>
                <a:effectLst/>
                <a:uLnTx/>
                <a:uFillTx/>
                <a:latin typeface="Arial" panose="020B0604020202020204"/>
                <a:ea typeface="Arial"/>
                <a:cs typeface="Arial"/>
                <a:sym typeface="Arial"/>
              </a:rPr>
              <a:t>1</a:t>
            </a:r>
            <a:r>
              <a:rPr kumimoji="0" lang="en-US" sz="1600" b="0" i="0" u="none" strike="noStrike" kern="1200" cap="none" spc="0" normalizeH="0" baseline="0" noProof="0" dirty="0">
                <a:ln>
                  <a:noFill/>
                </a:ln>
                <a:solidFill>
                  <a:srgbClr val="005C8A"/>
                </a:solidFill>
                <a:effectLst/>
                <a:uLnTx/>
                <a:uFillTx/>
                <a:latin typeface="Arial" panose="020B0604020202020204"/>
                <a:ea typeface="Arial"/>
                <a:cs typeface="Arial"/>
                <a:sym typeface="Arial"/>
              </a:rPr>
              <a:t>, VCF Ops, VCF Automation</a:t>
            </a:r>
            <a:endParaRPr kumimoji="0" sz="16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114300" algn="l" defTabSz="914400" rtl="0" eaLnBrk="1" fontAlgn="auto" latinLnBrk="0" hangingPunct="1">
              <a:lnSpc>
                <a:spcPct val="100000"/>
              </a:lnSpc>
              <a:spcBef>
                <a:spcPts val="1200"/>
              </a:spcBef>
              <a:spcAft>
                <a:spcPts val="0"/>
              </a:spcAft>
              <a:buClr>
                <a:srgbClr val="666666"/>
              </a:buClr>
              <a:buSzPts val="1800"/>
              <a:buFont typeface="Arial"/>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Arial"/>
                <a:cs typeface="Arial"/>
                <a:sym typeface="Arial"/>
              </a:rPr>
              <a:t>Choice of Appliance Model:</a:t>
            </a:r>
            <a:endParaRPr kumimoji="0" sz="16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457200" marR="0" lvl="1" indent="-184150" algn="l" defTabSz="914400" rtl="0" eaLnBrk="1" fontAlgn="auto" latinLnBrk="0" hangingPunct="1">
              <a:lnSpc>
                <a:spcPct val="100000"/>
              </a:lnSpc>
              <a:spcBef>
                <a:spcPts val="1200"/>
              </a:spcBef>
              <a:spcAft>
                <a:spcPts val="0"/>
              </a:spcAft>
              <a:buClr>
                <a:srgbClr val="3B3B3B"/>
              </a:buClr>
              <a:buSzPts val="1620"/>
              <a:buFont typeface="Arial"/>
              <a:buChar char="•"/>
              <a:tabLst/>
              <a:defRPr/>
            </a:pPr>
            <a:r>
              <a:rPr kumimoji="0" lang="en-US" sz="1600" b="0" i="0" u="none" strike="noStrike" kern="1200" cap="none" spc="0" normalizeH="0" baseline="0" noProof="0" dirty="0">
                <a:ln>
                  <a:noFill/>
                </a:ln>
                <a:solidFill>
                  <a:srgbClr val="005C8A"/>
                </a:solidFill>
                <a:effectLst/>
                <a:uLnTx/>
                <a:uFillTx/>
                <a:latin typeface="Arial" panose="020B0604020202020204"/>
                <a:ea typeface="Arial"/>
                <a:cs typeface="Arial"/>
                <a:sym typeface="Arial"/>
              </a:rPr>
              <a:t>Simple (single node) or HA (multi-node)</a:t>
            </a:r>
            <a:endParaRPr kumimoji="0" sz="16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114300" algn="l" defTabSz="914400" rtl="0" eaLnBrk="1" fontAlgn="auto" latinLnBrk="0" hangingPunct="1">
              <a:lnSpc>
                <a:spcPct val="100000"/>
              </a:lnSpc>
              <a:spcBef>
                <a:spcPts val="1200"/>
              </a:spcBef>
              <a:spcAft>
                <a:spcPts val="0"/>
              </a:spcAft>
              <a:buClr>
                <a:srgbClr val="666666"/>
              </a:buClr>
              <a:buSzPts val="1800"/>
              <a:buFont typeface="Arial"/>
              <a:buChar char="​"/>
              <a:tabLst/>
              <a:defRPr/>
            </a:pPr>
            <a:br>
              <a:rPr kumimoji="0" lang="en-US" sz="2000" b="0" i="0" u="none" strike="noStrike" kern="1200" cap="none" spc="0" normalizeH="0" baseline="0" noProof="0" dirty="0">
                <a:ln>
                  <a:noFill/>
                </a:ln>
                <a:solidFill>
                  <a:srgbClr val="000000"/>
                </a:solidFill>
                <a:effectLst/>
                <a:uLnTx/>
                <a:uFillTx/>
                <a:latin typeface="Arial"/>
                <a:ea typeface="Arial"/>
                <a:cs typeface="Arial"/>
                <a:sym typeface="Arial"/>
              </a:rPr>
            </a:br>
            <a:endParaRPr kumimoji="0" sz="20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1200"/>
              </a:spcBef>
              <a:spcAft>
                <a:spcPts val="0"/>
              </a:spcAft>
              <a:buClr>
                <a:srgbClr val="666666"/>
              </a:buClr>
              <a:buSzPts val="1800"/>
              <a:buFont typeface="Arial"/>
              <a:buNone/>
              <a:tabLst/>
              <a:defRPr/>
            </a:pPr>
            <a:endParaRPr kumimoji="0" sz="20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114300" algn="l" defTabSz="914400" rtl="0" eaLnBrk="1" fontAlgn="auto" latinLnBrk="0" hangingPunct="1">
              <a:lnSpc>
                <a:spcPct val="100000"/>
              </a:lnSpc>
              <a:spcBef>
                <a:spcPts val="1200"/>
              </a:spcBef>
              <a:spcAft>
                <a:spcPts val="0"/>
              </a:spcAft>
              <a:buClr>
                <a:srgbClr val="666666"/>
              </a:buClr>
              <a:buSzPts val="1800"/>
              <a:buFont typeface="Arial"/>
              <a:buChar char="​"/>
              <a:tabLst/>
              <a:defRPr/>
            </a:pPr>
            <a:br>
              <a:rPr kumimoji="0" lang="en-US" sz="2000" b="0" i="0" u="none" strike="noStrike" kern="1200" cap="none" spc="0" normalizeH="0" baseline="0" noProof="0" dirty="0">
                <a:ln>
                  <a:noFill/>
                </a:ln>
                <a:solidFill>
                  <a:srgbClr val="000000"/>
                </a:solidFill>
                <a:effectLst/>
                <a:uLnTx/>
                <a:uFillTx/>
                <a:latin typeface="Arial"/>
                <a:ea typeface="Arial"/>
                <a:cs typeface="Arial"/>
                <a:sym typeface="Arial"/>
              </a:rPr>
            </a:br>
            <a:endParaRPr kumimoji="0" sz="20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10" name="Google Shape;1536;p8">
            <a:extLst>
              <a:ext uri="{FF2B5EF4-FFF2-40B4-BE49-F238E27FC236}">
                <a16:creationId xmlns:a16="http://schemas.microsoft.com/office/drawing/2014/main" id="{0B6C59AE-ACB2-9C97-7198-5C348840549E}"/>
              </a:ext>
            </a:extLst>
          </p:cNvPr>
          <p:cNvGrpSpPr/>
          <p:nvPr/>
        </p:nvGrpSpPr>
        <p:grpSpPr>
          <a:xfrm>
            <a:off x="653667" y="1679861"/>
            <a:ext cx="830624" cy="706997"/>
            <a:chOff x="7943457" y="3626784"/>
            <a:chExt cx="1113209" cy="947522"/>
          </a:xfrm>
        </p:grpSpPr>
        <p:grpSp>
          <p:nvGrpSpPr>
            <p:cNvPr id="11" name="Google Shape;1537;p8">
              <a:extLst>
                <a:ext uri="{FF2B5EF4-FFF2-40B4-BE49-F238E27FC236}">
                  <a16:creationId xmlns:a16="http://schemas.microsoft.com/office/drawing/2014/main" id="{D58E2D0F-93A6-776D-63F4-CB47D21FEB60}"/>
                </a:ext>
              </a:extLst>
            </p:cNvPr>
            <p:cNvGrpSpPr/>
            <p:nvPr/>
          </p:nvGrpSpPr>
          <p:grpSpPr>
            <a:xfrm>
              <a:off x="7943457" y="3696376"/>
              <a:ext cx="865481" cy="865478"/>
              <a:chOff x="5217804" y="2760888"/>
              <a:chExt cx="1232879" cy="1232880"/>
            </a:xfrm>
          </p:grpSpPr>
          <p:sp>
            <p:nvSpPr>
              <p:cNvPr id="23" name="Google Shape;1538;p8">
                <a:extLst>
                  <a:ext uri="{FF2B5EF4-FFF2-40B4-BE49-F238E27FC236}">
                    <a16:creationId xmlns:a16="http://schemas.microsoft.com/office/drawing/2014/main" id="{0AF9E9DC-872B-04E2-A601-ED6920034192}"/>
                  </a:ext>
                </a:extLst>
              </p:cNvPr>
              <p:cNvSpPr/>
              <p:nvPr/>
            </p:nvSpPr>
            <p:spPr>
              <a:xfrm>
                <a:off x="5217804" y="2760889"/>
                <a:ext cx="1232878" cy="1232879"/>
              </a:xfrm>
              <a:prstGeom prst="ellipse">
                <a:avLst/>
              </a:prstGeom>
              <a:solidFill>
                <a:srgbClr val="FFFFFF"/>
              </a:solidFill>
              <a:ln w="12700" cap="flat" cmpd="sng">
                <a:solidFill>
                  <a:srgbClr val="D2D9E8"/>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sp>
            <p:nvSpPr>
              <p:cNvPr id="24" name="Google Shape;1539;p8">
                <a:extLst>
                  <a:ext uri="{FF2B5EF4-FFF2-40B4-BE49-F238E27FC236}">
                    <a16:creationId xmlns:a16="http://schemas.microsoft.com/office/drawing/2014/main" id="{CB416DEA-E4F3-3144-D6EF-394F0813B065}"/>
                  </a:ext>
                </a:extLst>
              </p:cNvPr>
              <p:cNvSpPr/>
              <p:nvPr/>
            </p:nvSpPr>
            <p:spPr>
              <a:xfrm>
                <a:off x="5554580" y="2863157"/>
                <a:ext cx="852874" cy="640094"/>
              </a:xfrm>
              <a:custGeom>
                <a:avLst/>
                <a:gdLst/>
                <a:ahLst/>
                <a:cxnLst/>
                <a:rect l="l" t="t" r="r" b="b"/>
                <a:pathLst>
                  <a:path w="692813" h="519966" extrusionOk="0">
                    <a:moveTo>
                      <a:pt x="502652" y="0"/>
                    </a:moveTo>
                    <a:lnTo>
                      <a:pt x="507154" y="2444"/>
                    </a:lnTo>
                    <a:cubicBezTo>
                      <a:pt x="587075" y="56438"/>
                      <a:pt x="650570" y="132897"/>
                      <a:pt x="688579" y="222760"/>
                    </a:cubicBezTo>
                    <a:lnTo>
                      <a:pt x="692813" y="236400"/>
                    </a:lnTo>
                    <a:lnTo>
                      <a:pt x="418690" y="519966"/>
                    </a:lnTo>
                    <a:lnTo>
                      <a:pt x="0" y="519966"/>
                    </a:lnTo>
                    <a:lnTo>
                      <a:pt x="502652" y="0"/>
                    </a:lnTo>
                    <a:close/>
                  </a:path>
                </a:pathLst>
              </a:custGeom>
              <a:gradFill>
                <a:gsLst>
                  <a:gs pos="0">
                    <a:srgbClr val="6C4B94">
                      <a:alpha val="34901"/>
                    </a:srgbClr>
                  </a:gs>
                  <a:gs pos="37000">
                    <a:srgbClr val="6C4B94">
                      <a:alpha val="34901"/>
                    </a:srgbClr>
                  </a:gs>
                  <a:gs pos="98000">
                    <a:srgbClr val="0091DA">
                      <a:alpha val="0"/>
                    </a:srgbClr>
                  </a:gs>
                  <a:gs pos="100000">
                    <a:srgbClr val="0091DA">
                      <a:alpha val="0"/>
                    </a:srgbClr>
                  </a:gs>
                </a:gsLst>
                <a:lin ang="1620000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sp>
            <p:nvSpPr>
              <p:cNvPr id="25" name="Google Shape;1540;p8">
                <a:extLst>
                  <a:ext uri="{FF2B5EF4-FFF2-40B4-BE49-F238E27FC236}">
                    <a16:creationId xmlns:a16="http://schemas.microsoft.com/office/drawing/2014/main" id="{32B78AD3-C52E-85FD-4846-D775C60179B9}"/>
                  </a:ext>
                </a:extLst>
              </p:cNvPr>
              <p:cNvSpPr/>
              <p:nvPr/>
            </p:nvSpPr>
            <p:spPr>
              <a:xfrm>
                <a:off x="5217805" y="2760888"/>
                <a:ext cx="1232878" cy="1232879"/>
              </a:xfrm>
              <a:custGeom>
                <a:avLst/>
                <a:gdLst/>
                <a:ahLst/>
                <a:cxnLst/>
                <a:rect l="l" t="t" r="r" b="b"/>
                <a:pathLst>
                  <a:path w="1001500" h="1001502" extrusionOk="0">
                    <a:moveTo>
                      <a:pt x="500750" y="0"/>
                    </a:moveTo>
                    <a:cubicBezTo>
                      <a:pt x="569889" y="0"/>
                      <a:pt x="635756" y="14012"/>
                      <a:pt x="695665" y="39352"/>
                    </a:cubicBezTo>
                    <a:lnTo>
                      <a:pt x="776222" y="83076"/>
                    </a:lnTo>
                    <a:lnTo>
                      <a:pt x="273570" y="603042"/>
                    </a:lnTo>
                    <a:lnTo>
                      <a:pt x="692260" y="603042"/>
                    </a:lnTo>
                    <a:lnTo>
                      <a:pt x="966383" y="319476"/>
                    </a:lnTo>
                    <a:lnTo>
                      <a:pt x="991327" y="399832"/>
                    </a:lnTo>
                    <a:cubicBezTo>
                      <a:pt x="997997" y="432430"/>
                      <a:pt x="1001500" y="466182"/>
                      <a:pt x="1001500" y="500751"/>
                    </a:cubicBezTo>
                    <a:cubicBezTo>
                      <a:pt x="1001500" y="777308"/>
                      <a:pt x="777307" y="1001502"/>
                      <a:pt x="500750" y="1001502"/>
                    </a:cubicBezTo>
                    <a:cubicBezTo>
                      <a:pt x="224193" y="1001502"/>
                      <a:pt x="0" y="777308"/>
                      <a:pt x="0" y="500751"/>
                    </a:cubicBezTo>
                    <a:cubicBezTo>
                      <a:pt x="0" y="224194"/>
                      <a:pt x="224193" y="0"/>
                      <a:pt x="500750" y="0"/>
                    </a:cubicBezTo>
                    <a:close/>
                  </a:path>
                </a:pathLst>
              </a:custGeom>
              <a:gradFill>
                <a:gsLst>
                  <a:gs pos="0">
                    <a:srgbClr val="6C4B94">
                      <a:alpha val="34901"/>
                    </a:srgbClr>
                  </a:gs>
                  <a:gs pos="37000">
                    <a:srgbClr val="6C4B94">
                      <a:alpha val="34901"/>
                    </a:srgbClr>
                  </a:gs>
                  <a:gs pos="98000">
                    <a:srgbClr val="0091DA">
                      <a:alpha val="0"/>
                    </a:srgbClr>
                  </a:gs>
                  <a:gs pos="100000">
                    <a:schemeClr val="accent5"/>
                  </a:gs>
                </a:gsLst>
                <a:lin ang="16200000" scaled="0"/>
              </a:gradFill>
              <a:ln>
                <a:noFill/>
              </a:ln>
            </p:spPr>
            <p:txBody>
              <a:bodyPr spcFirstLastPara="1" wrap="square" lIns="109725" tIns="54850" rIns="109725" bIns="548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sp>
            <p:nvSpPr>
              <p:cNvPr id="26" name="Google Shape;1541;p8">
                <a:extLst>
                  <a:ext uri="{FF2B5EF4-FFF2-40B4-BE49-F238E27FC236}">
                    <a16:creationId xmlns:a16="http://schemas.microsoft.com/office/drawing/2014/main" id="{12BC4792-A881-CD26-CD67-5EC9D5BF074A}"/>
                  </a:ext>
                </a:extLst>
              </p:cNvPr>
              <p:cNvSpPr/>
              <p:nvPr/>
            </p:nvSpPr>
            <p:spPr>
              <a:xfrm>
                <a:off x="5554577" y="2906665"/>
                <a:ext cx="878947" cy="698268"/>
              </a:xfrm>
              <a:custGeom>
                <a:avLst/>
                <a:gdLst/>
                <a:ahLst/>
                <a:cxnLst/>
                <a:rect l="l" t="t" r="r" b="b"/>
                <a:pathLst>
                  <a:path w="991617" h="787778" extrusionOk="0">
                    <a:moveTo>
                      <a:pt x="761546" y="0"/>
                    </a:moveTo>
                    <a:lnTo>
                      <a:pt x="811023" y="40822"/>
                    </a:lnTo>
                    <a:cubicBezTo>
                      <a:pt x="873949" y="103748"/>
                      <a:pt x="924873" y="178678"/>
                      <a:pt x="960065" y="261882"/>
                    </a:cubicBezTo>
                    <a:lnTo>
                      <a:pt x="991617" y="363525"/>
                    </a:lnTo>
                    <a:lnTo>
                      <a:pt x="581491" y="787778"/>
                    </a:lnTo>
                    <a:lnTo>
                      <a:pt x="0" y="787778"/>
                    </a:lnTo>
                    <a:lnTo>
                      <a:pt x="761546" y="0"/>
                    </a:lnTo>
                    <a:close/>
                  </a:path>
                </a:pathLst>
              </a:custGeom>
              <a:gradFill>
                <a:gsLst>
                  <a:gs pos="0">
                    <a:schemeClr val="accent5"/>
                  </a:gs>
                  <a:gs pos="98000">
                    <a:srgbClr val="6C4B94">
                      <a:alpha val="0"/>
                    </a:srgbClr>
                  </a:gs>
                  <a:gs pos="100000">
                    <a:schemeClr val="accent5"/>
                  </a:gs>
                </a:gsLst>
                <a:lin ang="1890000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grpSp>
        <p:grpSp>
          <p:nvGrpSpPr>
            <p:cNvPr id="12" name="Google Shape;1542;p8">
              <a:extLst>
                <a:ext uri="{FF2B5EF4-FFF2-40B4-BE49-F238E27FC236}">
                  <a16:creationId xmlns:a16="http://schemas.microsoft.com/office/drawing/2014/main" id="{66C94BE6-C2BC-D333-02CB-6A2DCC90E176}"/>
                </a:ext>
              </a:extLst>
            </p:cNvPr>
            <p:cNvGrpSpPr/>
            <p:nvPr/>
          </p:nvGrpSpPr>
          <p:grpSpPr>
            <a:xfrm>
              <a:off x="8154945" y="3626784"/>
              <a:ext cx="901721" cy="947522"/>
              <a:chOff x="1326710" y="4246688"/>
              <a:chExt cx="901721" cy="947522"/>
            </a:xfrm>
          </p:grpSpPr>
          <p:sp>
            <p:nvSpPr>
              <p:cNvPr id="13" name="Google Shape;1543;p8">
                <a:extLst>
                  <a:ext uri="{FF2B5EF4-FFF2-40B4-BE49-F238E27FC236}">
                    <a16:creationId xmlns:a16="http://schemas.microsoft.com/office/drawing/2014/main" id="{CB27BE61-5DCA-3A4F-AE56-B6AFA135B962}"/>
                  </a:ext>
                </a:extLst>
              </p:cNvPr>
              <p:cNvSpPr/>
              <p:nvPr/>
            </p:nvSpPr>
            <p:spPr>
              <a:xfrm>
                <a:off x="2041763" y="4683642"/>
                <a:ext cx="186668" cy="268146"/>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rgbClr val="C2D6EC"/>
              </a:solidFill>
              <a:ln>
                <a:noFill/>
              </a:ln>
            </p:spPr>
            <p:txBody>
              <a:bodyPr spcFirstLastPara="1" wrap="square" lIns="182650" tIns="91300" rIns="182650" bIns="91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3C3C3C"/>
                  </a:solidFill>
                  <a:effectLst/>
                  <a:uLnTx/>
                  <a:uFillTx/>
                  <a:latin typeface="Arial"/>
                  <a:ea typeface="Arial"/>
                  <a:cs typeface="Arial"/>
                  <a:sym typeface="Arial"/>
                </a:endParaRPr>
              </a:p>
            </p:txBody>
          </p:sp>
          <p:sp>
            <p:nvSpPr>
              <p:cNvPr id="14" name="Google Shape;1544;p8">
                <a:extLst>
                  <a:ext uri="{FF2B5EF4-FFF2-40B4-BE49-F238E27FC236}">
                    <a16:creationId xmlns:a16="http://schemas.microsoft.com/office/drawing/2014/main" id="{363DE2E4-2372-34EA-026B-654A810D91B3}"/>
                  </a:ext>
                </a:extLst>
              </p:cNvPr>
              <p:cNvSpPr/>
              <p:nvPr/>
            </p:nvSpPr>
            <p:spPr>
              <a:xfrm flipH="1">
                <a:off x="1498040" y="4594232"/>
                <a:ext cx="360444" cy="473304"/>
              </a:xfrm>
              <a:custGeom>
                <a:avLst/>
                <a:gdLst/>
                <a:ahLst/>
                <a:cxnLst/>
                <a:rect l="l" t="t" r="r" b="b"/>
                <a:pathLst>
                  <a:path w="276142" h="528520" extrusionOk="0">
                    <a:moveTo>
                      <a:pt x="0" y="495414"/>
                    </a:moveTo>
                    <a:lnTo>
                      <a:pt x="92697" y="284704"/>
                    </a:lnTo>
                    <a:lnTo>
                      <a:pt x="131645" y="56858"/>
                    </a:lnTo>
                    <a:cubicBezTo>
                      <a:pt x="139824" y="13625"/>
                      <a:pt x="185394" y="-11302"/>
                      <a:pt x="226289" y="5057"/>
                    </a:cubicBezTo>
                    <a:lnTo>
                      <a:pt x="276143" y="25310"/>
                    </a:lnTo>
                    <a:cubicBezTo>
                      <a:pt x="276143" y="25310"/>
                      <a:pt x="201362" y="289768"/>
                      <a:pt x="182277" y="328327"/>
                    </a:cubicBezTo>
                    <a:cubicBezTo>
                      <a:pt x="132813" y="408949"/>
                      <a:pt x="66602" y="528520"/>
                      <a:pt x="66602" y="528520"/>
                    </a:cubicBezTo>
                    <a:lnTo>
                      <a:pt x="0" y="495025"/>
                    </a:lnTo>
                    <a:close/>
                  </a:path>
                </a:pathLst>
              </a:custGeom>
              <a:solidFill>
                <a:srgbClr val="7F35B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15" name="Google Shape;1545;p8">
                <a:extLst>
                  <a:ext uri="{FF2B5EF4-FFF2-40B4-BE49-F238E27FC236}">
                    <a16:creationId xmlns:a16="http://schemas.microsoft.com/office/drawing/2014/main" id="{A748BD05-3CD7-5497-F05F-6E3DD8A6C5F6}"/>
                  </a:ext>
                </a:extLst>
              </p:cNvPr>
              <p:cNvGrpSpPr/>
              <p:nvPr/>
            </p:nvGrpSpPr>
            <p:grpSpPr>
              <a:xfrm flipH="1">
                <a:off x="1388659" y="4252449"/>
                <a:ext cx="246071" cy="372362"/>
                <a:chOff x="1935946" y="3808057"/>
                <a:chExt cx="188519" cy="285273"/>
              </a:xfrm>
            </p:grpSpPr>
            <p:sp>
              <p:nvSpPr>
                <p:cNvPr id="19" name="Google Shape;1546;p8">
                  <a:extLst>
                    <a:ext uri="{FF2B5EF4-FFF2-40B4-BE49-F238E27FC236}">
                      <a16:creationId xmlns:a16="http://schemas.microsoft.com/office/drawing/2014/main" id="{1A7FDF20-6ACD-179F-5F88-D6D5C95F5E63}"/>
                    </a:ext>
                  </a:extLst>
                </p:cNvPr>
                <p:cNvSpPr/>
                <p:nvPr/>
              </p:nvSpPr>
              <p:spPr>
                <a:xfrm>
                  <a:off x="1981085" y="3943196"/>
                  <a:ext cx="124370" cy="150134"/>
                </a:xfrm>
                <a:custGeom>
                  <a:avLst/>
                  <a:gdLst/>
                  <a:ahLst/>
                  <a:cxnLst/>
                  <a:rect l="l" t="t" r="r" b="b"/>
                  <a:pathLst>
                    <a:path w="124370" h="150134" extrusionOk="0">
                      <a:moveTo>
                        <a:pt x="102044" y="149745"/>
                      </a:moveTo>
                      <a:cubicBezTo>
                        <a:pt x="102044" y="149745"/>
                        <a:pt x="83739" y="99891"/>
                        <a:pt x="118013" y="34069"/>
                      </a:cubicBezTo>
                      <a:cubicBezTo>
                        <a:pt x="155793" y="-38764"/>
                        <a:pt x="12853" y="27837"/>
                        <a:pt x="12853" y="27837"/>
                      </a:cubicBezTo>
                      <a:lnTo>
                        <a:pt x="0" y="140008"/>
                      </a:lnTo>
                      <a:lnTo>
                        <a:pt x="101655" y="150134"/>
                      </a:lnTo>
                      <a:close/>
                    </a:path>
                  </a:pathLst>
                </a:custGeom>
                <a:solidFill>
                  <a:srgbClr val="DAA874"/>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0" name="Google Shape;1547;p8">
                  <a:extLst>
                    <a:ext uri="{FF2B5EF4-FFF2-40B4-BE49-F238E27FC236}">
                      <a16:creationId xmlns:a16="http://schemas.microsoft.com/office/drawing/2014/main" id="{6E7E7288-C2F9-7D01-ED2A-B60AB2E2B5D8}"/>
                    </a:ext>
                  </a:extLst>
                </p:cNvPr>
                <p:cNvSpPr/>
                <p:nvPr/>
              </p:nvSpPr>
              <p:spPr>
                <a:xfrm>
                  <a:off x="1935946" y="3817192"/>
                  <a:ext cx="177451" cy="206460"/>
                </a:xfrm>
                <a:custGeom>
                  <a:avLst/>
                  <a:gdLst/>
                  <a:ahLst/>
                  <a:cxnLst/>
                  <a:rect l="l" t="t" r="r" b="b"/>
                  <a:pathLst>
                    <a:path w="177451" h="206460" extrusionOk="0">
                      <a:moveTo>
                        <a:pt x="66171" y="205253"/>
                      </a:moveTo>
                      <a:lnTo>
                        <a:pt x="66171" y="205253"/>
                      </a:lnTo>
                      <a:cubicBezTo>
                        <a:pt x="19823" y="195516"/>
                        <a:pt x="-3157" y="177600"/>
                        <a:pt x="349" y="126967"/>
                      </a:cubicBezTo>
                      <a:lnTo>
                        <a:pt x="6580" y="74387"/>
                      </a:lnTo>
                      <a:cubicBezTo>
                        <a:pt x="16318" y="19470"/>
                        <a:pt x="62666" y="-7793"/>
                        <a:pt x="109014" y="1944"/>
                      </a:cubicBezTo>
                      <a:lnTo>
                        <a:pt x="109014" y="1944"/>
                      </a:lnTo>
                      <a:cubicBezTo>
                        <a:pt x="155363" y="11681"/>
                        <a:pt x="185353" y="57250"/>
                        <a:pt x="175616" y="103598"/>
                      </a:cubicBezTo>
                      <a:lnTo>
                        <a:pt x="164321" y="156957"/>
                      </a:lnTo>
                      <a:cubicBezTo>
                        <a:pt x="163152" y="162800"/>
                        <a:pt x="112909" y="214990"/>
                        <a:pt x="66561" y="205253"/>
                      </a:cubicBezTo>
                      <a:close/>
                    </a:path>
                  </a:pathLst>
                </a:custGeom>
                <a:solidFill>
                  <a:srgbClr val="DAA874"/>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1" name="Google Shape;1548;p8">
                  <a:extLst>
                    <a:ext uri="{FF2B5EF4-FFF2-40B4-BE49-F238E27FC236}">
                      <a16:creationId xmlns:a16="http://schemas.microsoft.com/office/drawing/2014/main" id="{8AFD2172-3CA2-C85F-709E-4B511B9C6653}"/>
                    </a:ext>
                  </a:extLst>
                </p:cNvPr>
                <p:cNvSpPr/>
                <p:nvPr/>
              </p:nvSpPr>
              <p:spPr>
                <a:xfrm>
                  <a:off x="1950389" y="3808057"/>
                  <a:ext cx="174076" cy="184787"/>
                </a:xfrm>
                <a:custGeom>
                  <a:avLst/>
                  <a:gdLst/>
                  <a:ahLst/>
                  <a:cxnLst/>
                  <a:rect l="l" t="t" r="r" b="b"/>
                  <a:pathLst>
                    <a:path w="174076" h="184787" extrusionOk="0">
                      <a:moveTo>
                        <a:pt x="3822" y="49637"/>
                      </a:moveTo>
                      <a:cubicBezTo>
                        <a:pt x="-6694" y="32111"/>
                        <a:pt x="5769" y="14584"/>
                        <a:pt x="25633" y="10300"/>
                      </a:cubicBezTo>
                      <a:cubicBezTo>
                        <a:pt x="48612" y="4847"/>
                        <a:pt x="75097" y="-4111"/>
                        <a:pt x="105087" y="2121"/>
                      </a:cubicBezTo>
                      <a:cubicBezTo>
                        <a:pt x="164288" y="14584"/>
                        <a:pt x="176752" y="67943"/>
                        <a:pt x="173636" y="95596"/>
                      </a:cubicBezTo>
                      <a:cubicBezTo>
                        <a:pt x="169741" y="131428"/>
                        <a:pt x="140919" y="184787"/>
                        <a:pt x="140919" y="184787"/>
                      </a:cubicBezTo>
                      <a:lnTo>
                        <a:pt x="100413" y="176219"/>
                      </a:lnTo>
                      <a:cubicBezTo>
                        <a:pt x="89897" y="173882"/>
                        <a:pt x="82497" y="164145"/>
                        <a:pt x="82887" y="153629"/>
                      </a:cubicBezTo>
                      <a:lnTo>
                        <a:pt x="84055" y="131428"/>
                      </a:lnTo>
                      <a:lnTo>
                        <a:pt x="47054" y="110396"/>
                      </a:lnTo>
                      <a:lnTo>
                        <a:pt x="51728" y="84691"/>
                      </a:lnTo>
                      <a:cubicBezTo>
                        <a:pt x="54065" y="73006"/>
                        <a:pt x="53286" y="53143"/>
                        <a:pt x="30307" y="52364"/>
                      </a:cubicBezTo>
                      <a:lnTo>
                        <a:pt x="4211" y="50027"/>
                      </a:lnTo>
                      <a:lnTo>
                        <a:pt x="4211" y="50027"/>
                      </a:lnTo>
                      <a:close/>
                    </a:path>
                  </a:pathLst>
                </a:custGeom>
                <a:solidFill>
                  <a:srgbClr val="4A469C"/>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2" name="Google Shape;1549;p8">
                  <a:extLst>
                    <a:ext uri="{FF2B5EF4-FFF2-40B4-BE49-F238E27FC236}">
                      <a16:creationId xmlns:a16="http://schemas.microsoft.com/office/drawing/2014/main" id="{A0632683-F142-844D-71C9-7C6EAE02AA7F}"/>
                    </a:ext>
                  </a:extLst>
                </p:cNvPr>
                <p:cNvSpPr/>
                <p:nvPr/>
              </p:nvSpPr>
              <p:spPr>
                <a:xfrm rot="-4692000">
                  <a:off x="1989857" y="3920792"/>
                  <a:ext cx="56085" cy="41285"/>
                </a:xfrm>
                <a:custGeom>
                  <a:avLst/>
                  <a:gdLst/>
                  <a:ahLst/>
                  <a:cxnLst/>
                  <a:rect l="l" t="t" r="r" b="b"/>
                  <a:pathLst>
                    <a:path w="56085" h="41285" extrusionOk="0">
                      <a:moveTo>
                        <a:pt x="56085" y="20642"/>
                      </a:moveTo>
                      <a:cubicBezTo>
                        <a:pt x="56085" y="32043"/>
                        <a:pt x="43530" y="41285"/>
                        <a:pt x="28042" y="41285"/>
                      </a:cubicBezTo>
                      <a:cubicBezTo>
                        <a:pt x="12555" y="41285"/>
                        <a:pt x="0" y="32043"/>
                        <a:pt x="0" y="20642"/>
                      </a:cubicBezTo>
                      <a:cubicBezTo>
                        <a:pt x="0" y="9242"/>
                        <a:pt x="12555" y="0"/>
                        <a:pt x="28042" y="0"/>
                      </a:cubicBezTo>
                      <a:cubicBezTo>
                        <a:pt x="43530" y="0"/>
                        <a:pt x="56085" y="9242"/>
                        <a:pt x="56085" y="20642"/>
                      </a:cubicBezTo>
                      <a:close/>
                    </a:path>
                  </a:pathLst>
                </a:custGeom>
                <a:solidFill>
                  <a:srgbClr val="DAA874"/>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16" name="Google Shape;1550;p8">
                <a:extLst>
                  <a:ext uri="{FF2B5EF4-FFF2-40B4-BE49-F238E27FC236}">
                    <a16:creationId xmlns:a16="http://schemas.microsoft.com/office/drawing/2014/main" id="{BBD3181A-8035-C2BF-9A5A-81EC3B9FFB4E}"/>
                  </a:ext>
                </a:extLst>
              </p:cNvPr>
              <p:cNvSpPr/>
              <p:nvPr/>
            </p:nvSpPr>
            <p:spPr>
              <a:xfrm flipH="1">
                <a:off x="1423296" y="4246688"/>
                <a:ext cx="224985" cy="141189"/>
              </a:xfrm>
              <a:custGeom>
                <a:avLst/>
                <a:gdLst/>
                <a:ahLst/>
                <a:cxnLst/>
                <a:rect l="l" t="t" r="r" b="b"/>
                <a:pathLst>
                  <a:path w="172365" h="108167" extrusionOk="0">
                    <a:moveTo>
                      <a:pt x="172366" y="33777"/>
                    </a:moveTo>
                    <a:cubicBezTo>
                      <a:pt x="172366" y="33777"/>
                      <a:pt x="150165" y="3787"/>
                      <a:pt x="129912" y="1450"/>
                    </a:cubicBezTo>
                    <a:cubicBezTo>
                      <a:pt x="78890" y="-4003"/>
                      <a:pt x="994" y="7682"/>
                      <a:pt x="994" y="7682"/>
                    </a:cubicBezTo>
                    <a:cubicBezTo>
                      <a:pt x="994" y="7682"/>
                      <a:pt x="-9133" y="64156"/>
                      <a:pt x="35268" y="86357"/>
                    </a:cubicBezTo>
                    <a:cubicBezTo>
                      <a:pt x="63311" y="86746"/>
                      <a:pt x="78890" y="108168"/>
                      <a:pt x="78890" y="108168"/>
                    </a:cubicBezTo>
                    <a:lnTo>
                      <a:pt x="172366" y="33387"/>
                    </a:lnTo>
                    <a:close/>
                  </a:path>
                </a:pathLst>
              </a:custGeom>
              <a:solidFill>
                <a:srgbClr val="4A469C"/>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17" name="Google Shape;1551;p8">
                <a:extLst>
                  <a:ext uri="{FF2B5EF4-FFF2-40B4-BE49-F238E27FC236}">
                    <a16:creationId xmlns:a16="http://schemas.microsoft.com/office/drawing/2014/main" id="{A7BD790C-757D-ED78-4DF2-76626AA93AD8}"/>
                  </a:ext>
                </a:extLst>
              </p:cNvPr>
              <p:cNvSpPr/>
              <p:nvPr/>
            </p:nvSpPr>
            <p:spPr>
              <a:xfrm flipH="1">
                <a:off x="1408552" y="4562252"/>
                <a:ext cx="187593" cy="69139"/>
              </a:xfrm>
              <a:custGeom>
                <a:avLst/>
                <a:gdLst/>
                <a:ahLst/>
                <a:cxnLst/>
                <a:rect l="l" t="t" r="r" b="b"/>
                <a:pathLst>
                  <a:path w="143718" h="52969" extrusionOk="0">
                    <a:moveTo>
                      <a:pt x="143719" y="52970"/>
                    </a:moveTo>
                    <a:lnTo>
                      <a:pt x="136319" y="3895"/>
                    </a:lnTo>
                    <a:lnTo>
                      <a:pt x="8179" y="0"/>
                    </a:lnTo>
                    <a:lnTo>
                      <a:pt x="0" y="44790"/>
                    </a:lnTo>
                    <a:lnTo>
                      <a:pt x="143719" y="52970"/>
                    </a:lnTo>
                    <a:close/>
                  </a:path>
                </a:pathLst>
              </a:custGeom>
              <a:solidFill>
                <a:srgbClr val="E5D2F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18" name="Google Shape;1552;p8">
                <a:extLst>
                  <a:ext uri="{FF2B5EF4-FFF2-40B4-BE49-F238E27FC236}">
                    <a16:creationId xmlns:a16="http://schemas.microsoft.com/office/drawing/2014/main" id="{1D26892B-CA68-276A-0E36-623E2EB23796}"/>
                  </a:ext>
                </a:extLst>
              </p:cNvPr>
              <p:cNvSpPr/>
              <p:nvPr/>
            </p:nvSpPr>
            <p:spPr>
              <a:xfrm>
                <a:off x="1326710" y="4582588"/>
                <a:ext cx="382814" cy="611622"/>
              </a:xfrm>
              <a:custGeom>
                <a:avLst/>
                <a:gdLst/>
                <a:ahLst/>
                <a:cxnLst/>
                <a:rect l="l" t="t" r="r" b="b"/>
                <a:pathLst>
                  <a:path w="437518" h="699025" extrusionOk="0">
                    <a:moveTo>
                      <a:pt x="249835" y="0"/>
                    </a:moveTo>
                    <a:lnTo>
                      <a:pt x="386378" y="31376"/>
                    </a:lnTo>
                    <a:cubicBezTo>
                      <a:pt x="386378" y="31376"/>
                      <a:pt x="412623" y="346778"/>
                      <a:pt x="434366" y="616748"/>
                    </a:cubicBezTo>
                    <a:lnTo>
                      <a:pt x="437518" y="656137"/>
                    </a:lnTo>
                    <a:lnTo>
                      <a:pt x="423858" y="663551"/>
                    </a:lnTo>
                    <a:cubicBezTo>
                      <a:pt x="369851" y="686394"/>
                      <a:pt x="310474" y="699025"/>
                      <a:pt x="248147" y="699025"/>
                    </a:cubicBezTo>
                    <a:cubicBezTo>
                      <a:pt x="185820" y="699025"/>
                      <a:pt x="126443" y="686394"/>
                      <a:pt x="72437" y="663551"/>
                    </a:cubicBezTo>
                    <a:lnTo>
                      <a:pt x="31994" y="641600"/>
                    </a:lnTo>
                    <a:lnTo>
                      <a:pt x="570" y="194066"/>
                    </a:lnTo>
                    <a:cubicBezTo>
                      <a:pt x="-5820" y="104587"/>
                      <a:pt x="42404" y="32538"/>
                      <a:pt x="101671" y="17430"/>
                    </a:cubicBezTo>
                    <a:lnTo>
                      <a:pt x="101089" y="18013"/>
                    </a:lnTo>
                    <a:lnTo>
                      <a:pt x="132465" y="47064"/>
                    </a:lnTo>
                    <a:close/>
                  </a:path>
                </a:pathLst>
              </a:custGeom>
              <a:solidFill>
                <a:srgbClr val="7F35B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41032"/>
                  </a:solidFill>
                  <a:effectLst/>
                  <a:uLnTx/>
                  <a:uFillTx/>
                  <a:latin typeface="Arial"/>
                  <a:ea typeface="Arial"/>
                  <a:cs typeface="Arial"/>
                  <a:sym typeface="Arial"/>
                </a:endParaRPr>
              </a:p>
            </p:txBody>
          </p:sp>
        </p:grpSp>
      </p:grpSp>
      <p:sp>
        <p:nvSpPr>
          <p:cNvPr id="29" name="TextBox 28">
            <a:extLst>
              <a:ext uri="{FF2B5EF4-FFF2-40B4-BE49-F238E27FC236}">
                <a16:creationId xmlns:a16="http://schemas.microsoft.com/office/drawing/2014/main" id="{38CC6385-4CBD-686E-8541-469A3B6EC4F8}"/>
              </a:ext>
            </a:extLst>
          </p:cNvPr>
          <p:cNvSpPr txBox="1"/>
          <p:nvPr/>
        </p:nvSpPr>
        <p:spPr>
          <a:xfrm>
            <a:off x="14060774" y="2473377"/>
            <a:ext cx="65" cy="276999"/>
          </a:xfrm>
          <a:prstGeom prst="rect">
            <a:avLst/>
          </a:prstGeom>
          <a:solidFill>
            <a:schemeClr val="accent2"/>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B1D36"/>
              </a:solidFill>
              <a:effectLst/>
              <a:uLnTx/>
              <a:uFillTx/>
              <a:latin typeface="Arial" panose="020B0604020202020204"/>
              <a:ea typeface="+mn-ea"/>
              <a:cs typeface="+mn-cs"/>
            </a:endParaRPr>
          </a:p>
        </p:txBody>
      </p:sp>
      <p:pic>
        <p:nvPicPr>
          <p:cNvPr id="30" name="Google Shape;1529;p8">
            <a:extLst>
              <a:ext uri="{FF2B5EF4-FFF2-40B4-BE49-F238E27FC236}">
                <a16:creationId xmlns:a16="http://schemas.microsoft.com/office/drawing/2014/main" id="{B00A409F-821C-FD71-C60E-73F6E7A035CF}"/>
              </a:ext>
            </a:extLst>
          </p:cNvPr>
          <p:cNvPicPr preferRelativeResize="0">
            <a:picLocks noChangeAspect="1"/>
          </p:cNvPicPr>
          <p:nvPr/>
        </p:nvPicPr>
        <p:blipFill rotWithShape="1">
          <a:blip r:embed="rId3">
            <a:alphaModFix/>
          </a:blip>
          <a:srcRect/>
          <a:stretch/>
        </p:blipFill>
        <p:spPr>
          <a:xfrm>
            <a:off x="1702961" y="1818428"/>
            <a:ext cx="5045866" cy="4185415"/>
          </a:xfrm>
          <a:prstGeom prst="rect">
            <a:avLst/>
          </a:prstGeom>
          <a:noFill/>
          <a:ln>
            <a:noFill/>
          </a:ln>
        </p:spPr>
      </p:pic>
      <p:sp>
        <p:nvSpPr>
          <p:cNvPr id="32" name="Google Shape;1530;p8">
            <a:extLst>
              <a:ext uri="{FF2B5EF4-FFF2-40B4-BE49-F238E27FC236}">
                <a16:creationId xmlns:a16="http://schemas.microsoft.com/office/drawing/2014/main" id="{4F6E05D7-0691-260B-DF31-B7340DCBAFD7}"/>
              </a:ext>
            </a:extLst>
          </p:cNvPr>
          <p:cNvSpPr/>
          <p:nvPr/>
        </p:nvSpPr>
        <p:spPr>
          <a:xfrm>
            <a:off x="1702959" y="5531859"/>
            <a:ext cx="5045866" cy="299315"/>
          </a:xfrm>
          <a:prstGeom prst="rect">
            <a:avLst/>
          </a:prstGeom>
          <a:solidFill>
            <a:schemeClr val="bg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6" name="Google Shape;1527;p8">
            <a:extLst>
              <a:ext uri="{FF2B5EF4-FFF2-40B4-BE49-F238E27FC236}">
                <a16:creationId xmlns:a16="http://schemas.microsoft.com/office/drawing/2014/main" id="{B0EE6900-DC85-A2D2-5C51-2A27697C0BF5}"/>
              </a:ext>
            </a:extLst>
          </p:cNvPr>
          <p:cNvSpPr/>
          <p:nvPr/>
        </p:nvSpPr>
        <p:spPr>
          <a:xfrm>
            <a:off x="1614926" y="1755844"/>
            <a:ext cx="5205618" cy="3895448"/>
          </a:xfrm>
          <a:prstGeom prst="roundRect">
            <a:avLst>
              <a:gd name="adj" fmla="val 2356"/>
            </a:avLst>
          </a:prstGeom>
          <a:no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35" name="TextBox 34">
            <a:extLst>
              <a:ext uri="{FF2B5EF4-FFF2-40B4-BE49-F238E27FC236}">
                <a16:creationId xmlns:a16="http://schemas.microsoft.com/office/drawing/2014/main" id="{2C4E1135-0D16-F582-1B5B-B115379AC389}"/>
              </a:ext>
            </a:extLst>
          </p:cNvPr>
          <p:cNvSpPr txBox="1"/>
          <p:nvPr/>
        </p:nvSpPr>
        <p:spPr>
          <a:xfrm>
            <a:off x="1734686" y="5819453"/>
            <a:ext cx="4966103"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30000" noProof="0" dirty="0">
                <a:ln>
                  <a:noFill/>
                </a:ln>
                <a:solidFill>
                  <a:srgbClr val="000000"/>
                </a:solidFill>
                <a:effectLst/>
                <a:uLnTx/>
                <a:uFillTx/>
                <a:latin typeface="Arial" panose="020B0604020202020204"/>
                <a:ea typeface="+mn-ea"/>
                <a:cs typeface="+mn-cs"/>
              </a:rPr>
              <a:t>1 </a:t>
            </a:r>
            <a:r>
              <a:rPr kumimoji="0" lang="en-US" sz="1000" b="0" i="1" u="none" strike="noStrike" kern="1200" cap="none" spc="0" normalizeH="0" baseline="0" noProof="0" dirty="0">
                <a:ln>
                  <a:noFill/>
                </a:ln>
                <a:solidFill>
                  <a:srgbClr val="000000"/>
                </a:solidFill>
                <a:effectLst/>
                <a:uLnTx/>
                <a:uFillTx/>
                <a:latin typeface="Arial" panose="020B0604020202020204"/>
                <a:ea typeface="+mn-ea"/>
                <a:cs typeface="+mn-cs"/>
              </a:rPr>
              <a:t>Existing vCenters with NSX installed are not initially supported to be converged to VCF</a:t>
            </a:r>
            <a:br>
              <a:rPr kumimoji="0" lang="en-US" sz="1000" b="0" i="1" u="none" strike="noStrike" kern="1200" cap="none" spc="0" normalizeH="0" baseline="0" noProof="0" dirty="0">
                <a:ln>
                  <a:noFill/>
                </a:ln>
                <a:solidFill>
                  <a:srgbClr val="000000"/>
                </a:solidFill>
                <a:effectLst/>
                <a:uLnTx/>
                <a:uFillTx/>
                <a:latin typeface="Arial" panose="020B0604020202020204"/>
                <a:ea typeface="+mn-ea"/>
                <a:cs typeface="+mn-cs"/>
              </a:rPr>
            </a:br>
            <a:r>
              <a:rPr kumimoji="0" lang="en-US" sz="1000" b="0" i="1" u="none" strike="noStrike" kern="1200" cap="none" spc="0" normalizeH="0" baseline="0" noProof="0" dirty="0">
                <a:ln>
                  <a:noFill/>
                </a:ln>
                <a:solidFill>
                  <a:srgbClr val="000000"/>
                </a:solidFill>
                <a:effectLst/>
                <a:uLnTx/>
                <a:uFillTx/>
                <a:latin typeface="Arial" panose="020B0604020202020204"/>
                <a:ea typeface="+mn-ea"/>
                <a:cs typeface="+mn-cs"/>
              </a:rPr>
              <a:t> Existing vCenters with NSX installed can be imported into VCF as Workload Domains</a:t>
            </a:r>
            <a:endPar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952507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77FD2-DBE7-62F3-84CA-43E1FFDBBE54}"/>
            </a:ext>
          </a:extLst>
        </p:cNvPr>
        <p:cNvGrpSpPr/>
        <p:nvPr/>
      </p:nvGrpSpPr>
      <p:grpSpPr>
        <a:xfrm>
          <a:off x="0" y="0"/>
          <a:ext cx="0" cy="0"/>
          <a:chOff x="0" y="0"/>
          <a:chExt cx="0" cy="0"/>
        </a:xfrm>
      </p:grpSpPr>
      <p:sp>
        <p:nvSpPr>
          <p:cNvPr id="134" name="Rounded Rectangle 133">
            <a:extLst>
              <a:ext uri="{FF2B5EF4-FFF2-40B4-BE49-F238E27FC236}">
                <a16:creationId xmlns:a16="http://schemas.microsoft.com/office/drawing/2014/main" id="{913C4BA8-AF4C-D818-9CD4-143BE61B17D0}"/>
              </a:ext>
            </a:extLst>
          </p:cNvPr>
          <p:cNvSpPr/>
          <p:nvPr/>
        </p:nvSpPr>
        <p:spPr bwMode="gray">
          <a:xfrm>
            <a:off x="6479" y="1268357"/>
            <a:ext cx="12182346" cy="4915423"/>
          </a:xfrm>
          <a:prstGeom prst="roundRect">
            <a:avLst>
              <a:gd name="adj" fmla="val 0"/>
            </a:avLst>
          </a:prstGeom>
          <a:solidFill>
            <a:srgbClr val="F4F8FA"/>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136" name="Google Shape;3807;p31">
            <a:extLst>
              <a:ext uri="{FF2B5EF4-FFF2-40B4-BE49-F238E27FC236}">
                <a16:creationId xmlns:a16="http://schemas.microsoft.com/office/drawing/2014/main" id="{08845177-2C51-0267-A8A1-AE1AD723BD03}"/>
              </a:ext>
            </a:extLst>
          </p:cNvPr>
          <p:cNvSpPr/>
          <p:nvPr/>
        </p:nvSpPr>
        <p:spPr>
          <a:xfrm>
            <a:off x="6048382" y="1378053"/>
            <a:ext cx="5239586" cy="4681309"/>
          </a:xfrm>
          <a:prstGeom prst="roundRect">
            <a:avLst>
              <a:gd name="adj" fmla="val 2790"/>
            </a:avLst>
          </a:prstGeom>
          <a:solidFill>
            <a:schemeClr val="bg1"/>
          </a:solid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200" b="0" i="0" u="none" strike="noStrike" kern="1200" cap="none" spc="0" normalizeH="0" baseline="0" noProof="0" dirty="0">
                <a:ln>
                  <a:noFill/>
                </a:ln>
                <a:solidFill>
                  <a:srgbClr val="FFFFFF"/>
                </a:solidFill>
                <a:effectLst/>
                <a:uLnTx/>
                <a:uFillTx/>
                <a:latin typeface="Arial"/>
                <a:ea typeface="Arial"/>
                <a:cs typeface="Arial"/>
                <a:sym typeface="Arial"/>
              </a:rPr>
              <a:t>V\</a:t>
            </a: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35" name="Google Shape;3807;p31">
            <a:extLst>
              <a:ext uri="{FF2B5EF4-FFF2-40B4-BE49-F238E27FC236}">
                <a16:creationId xmlns:a16="http://schemas.microsoft.com/office/drawing/2014/main" id="{AA282E47-11F5-F1B0-47CE-DD62505DAFDD}"/>
              </a:ext>
            </a:extLst>
          </p:cNvPr>
          <p:cNvSpPr/>
          <p:nvPr/>
        </p:nvSpPr>
        <p:spPr>
          <a:xfrm>
            <a:off x="606343" y="1380101"/>
            <a:ext cx="5239586" cy="4681309"/>
          </a:xfrm>
          <a:prstGeom prst="roundRect">
            <a:avLst>
              <a:gd name="adj" fmla="val 2790"/>
            </a:avLst>
          </a:prstGeom>
          <a:solidFill>
            <a:schemeClr val="bg1"/>
          </a:solid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200" b="0" i="0" u="none" strike="noStrike" kern="1200" cap="none" spc="0" normalizeH="0" baseline="0" noProof="0" dirty="0">
                <a:ln>
                  <a:noFill/>
                </a:ln>
                <a:solidFill>
                  <a:srgbClr val="FFFFFF"/>
                </a:solidFill>
                <a:effectLst/>
                <a:uLnTx/>
                <a:uFillTx/>
                <a:latin typeface="Arial"/>
                <a:ea typeface="Arial"/>
                <a:cs typeface="Arial"/>
                <a:sym typeface="Arial"/>
              </a:rPr>
              <a:t>V\</a:t>
            </a: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9" name="Google Shape;6678;g2d30ebb658d_0_19789">
            <a:extLst>
              <a:ext uri="{FF2B5EF4-FFF2-40B4-BE49-F238E27FC236}">
                <a16:creationId xmlns:a16="http://schemas.microsoft.com/office/drawing/2014/main" id="{8388EB54-B662-D5AA-02F3-E058DB9F5A8E}"/>
              </a:ext>
            </a:extLst>
          </p:cNvPr>
          <p:cNvSpPr/>
          <p:nvPr/>
        </p:nvSpPr>
        <p:spPr>
          <a:xfrm>
            <a:off x="1135229" y="2876333"/>
            <a:ext cx="898715" cy="439805"/>
          </a:xfrm>
          <a:prstGeom prst="roundRect">
            <a:avLst>
              <a:gd name="adj" fmla="val 2356"/>
            </a:avLst>
          </a:prstGeom>
          <a:gradFill>
            <a:gsLst>
              <a:gs pos="0">
                <a:schemeClr val="accent5"/>
              </a:gs>
              <a:gs pos="99000">
                <a:schemeClr val="accent2"/>
              </a:gs>
              <a:gs pos="100000">
                <a:schemeClr val="accent2"/>
              </a:gs>
            </a:gsLst>
            <a:lin ang="18900044" scaled="0"/>
          </a:gradFill>
          <a:ln w="1905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8" name="Google Shape;6678;g2d30ebb658d_0_19789">
            <a:extLst>
              <a:ext uri="{FF2B5EF4-FFF2-40B4-BE49-F238E27FC236}">
                <a16:creationId xmlns:a16="http://schemas.microsoft.com/office/drawing/2014/main" id="{291D6383-66B9-08C4-BAE2-49E4233A948A}"/>
              </a:ext>
            </a:extLst>
          </p:cNvPr>
          <p:cNvSpPr/>
          <p:nvPr/>
        </p:nvSpPr>
        <p:spPr>
          <a:xfrm>
            <a:off x="1031201" y="2979721"/>
            <a:ext cx="898715" cy="439805"/>
          </a:xfrm>
          <a:prstGeom prst="roundRect">
            <a:avLst>
              <a:gd name="adj" fmla="val 2356"/>
            </a:avLst>
          </a:prstGeom>
          <a:gradFill>
            <a:gsLst>
              <a:gs pos="0">
                <a:schemeClr val="accent5"/>
              </a:gs>
              <a:gs pos="99000">
                <a:schemeClr val="accent2"/>
              </a:gs>
              <a:gs pos="100000">
                <a:schemeClr val="accent2"/>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2" name="Title 1">
            <a:extLst>
              <a:ext uri="{FF2B5EF4-FFF2-40B4-BE49-F238E27FC236}">
                <a16:creationId xmlns:a16="http://schemas.microsoft.com/office/drawing/2014/main" id="{B32B0515-C2B0-A41A-76DE-21DE75704355}"/>
              </a:ext>
            </a:extLst>
          </p:cNvPr>
          <p:cNvSpPr>
            <a:spLocks noGrp="1"/>
          </p:cNvSpPr>
          <p:nvPr>
            <p:ph type="title"/>
          </p:nvPr>
        </p:nvSpPr>
        <p:spPr/>
        <p:txBody>
          <a:bodyPr/>
          <a:lstStyle/>
          <a:p>
            <a:r>
              <a:rPr lang="en-US" dirty="0"/>
              <a:t>Simple vs High Availability (HA) Deployment</a:t>
            </a:r>
          </a:p>
        </p:txBody>
      </p:sp>
      <p:sp>
        <p:nvSpPr>
          <p:cNvPr id="3" name="Subtitle 2">
            <a:extLst>
              <a:ext uri="{FF2B5EF4-FFF2-40B4-BE49-F238E27FC236}">
                <a16:creationId xmlns:a16="http://schemas.microsoft.com/office/drawing/2014/main" id="{37978937-D291-FAD0-1E12-4B628FBE6AEC}"/>
              </a:ext>
            </a:extLst>
          </p:cNvPr>
          <p:cNvSpPr>
            <a:spLocks noGrp="1"/>
          </p:cNvSpPr>
          <p:nvPr>
            <p:ph type="subTitle" idx="10"/>
          </p:nvPr>
        </p:nvSpPr>
        <p:spPr/>
        <p:txBody>
          <a:bodyPr/>
          <a:lstStyle/>
          <a:p>
            <a:r>
              <a:rPr lang="en-US" dirty="0"/>
              <a:t>VMware Cloud Foundation 9 Appliance Models</a:t>
            </a:r>
          </a:p>
        </p:txBody>
      </p:sp>
      <p:cxnSp>
        <p:nvCxnSpPr>
          <p:cNvPr id="5" name="Straight Connector 4">
            <a:extLst>
              <a:ext uri="{FF2B5EF4-FFF2-40B4-BE49-F238E27FC236}">
                <a16:creationId xmlns:a16="http://schemas.microsoft.com/office/drawing/2014/main" id="{D39C8D25-C7F7-4435-AAA8-6ED4AA3B7803}"/>
              </a:ext>
            </a:extLst>
          </p:cNvPr>
          <p:cNvCxnSpPr>
            <a:cxnSpLocks/>
          </p:cNvCxnSpPr>
          <p:nvPr/>
        </p:nvCxnSpPr>
        <p:spPr bwMode="gray">
          <a:xfrm>
            <a:off x="6365492" y="3781877"/>
            <a:ext cx="4759300" cy="0"/>
          </a:xfrm>
          <a:prstGeom prst="line">
            <a:avLst/>
          </a:prstGeom>
          <a:ln w="25400">
            <a:solidFill>
              <a:schemeClr val="bg2">
                <a:lumMod val="50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DC32A76-0968-DA57-36E9-FB9E4AF3CE1E}"/>
              </a:ext>
            </a:extLst>
          </p:cNvPr>
          <p:cNvSpPr txBox="1"/>
          <p:nvPr/>
        </p:nvSpPr>
        <p:spPr>
          <a:xfrm>
            <a:off x="2216299" y="1505755"/>
            <a:ext cx="2205732" cy="1015663"/>
          </a:xfrm>
          <a:prstGeom prst="rect">
            <a:avLst/>
          </a:prstGeom>
          <a:noFill/>
        </p:spPr>
        <p:txBody>
          <a:bodyPr wrap="none" lIns="0" tIns="0" rIns="0" bIns="0" rtlCol="0">
            <a:spAutoFit/>
          </a:bodyPr>
          <a:lstStyle/>
          <a:p>
            <a:pPr algn="ctr"/>
            <a:r>
              <a:rPr lang="en-US" b="1" dirty="0">
                <a:solidFill>
                  <a:schemeClr val="accent5"/>
                </a:solidFill>
              </a:rPr>
              <a:t>Simple</a:t>
            </a:r>
          </a:p>
          <a:p>
            <a:pPr algn="ctr"/>
            <a:endParaRPr lang="en-US" sz="1200" dirty="0">
              <a:solidFill>
                <a:schemeClr val="tx2"/>
              </a:solidFill>
            </a:endParaRPr>
          </a:p>
          <a:p>
            <a:pPr algn="ctr"/>
            <a:r>
              <a:rPr lang="en-US" dirty="0">
                <a:solidFill>
                  <a:schemeClr val="tx2"/>
                </a:solidFill>
              </a:rPr>
              <a:t>7 required appliances</a:t>
            </a:r>
          </a:p>
          <a:p>
            <a:pPr algn="ctr"/>
            <a:r>
              <a:rPr lang="en-US" sz="1800" dirty="0">
                <a:solidFill>
                  <a:schemeClr val="tx2"/>
                </a:solidFill>
              </a:rPr>
              <a:t>7 optional appliances</a:t>
            </a:r>
          </a:p>
        </p:txBody>
      </p:sp>
      <p:sp>
        <p:nvSpPr>
          <p:cNvPr id="7" name="Google Shape;6678;g2d30ebb658d_0_19789">
            <a:extLst>
              <a:ext uri="{FF2B5EF4-FFF2-40B4-BE49-F238E27FC236}">
                <a16:creationId xmlns:a16="http://schemas.microsoft.com/office/drawing/2014/main" id="{E4AD5BFE-2091-49B4-6F74-DBF958AF46C1}"/>
              </a:ext>
            </a:extLst>
          </p:cNvPr>
          <p:cNvSpPr/>
          <p:nvPr/>
        </p:nvSpPr>
        <p:spPr>
          <a:xfrm>
            <a:off x="935265" y="3066712"/>
            <a:ext cx="898715" cy="439805"/>
          </a:xfrm>
          <a:prstGeom prst="roundRect">
            <a:avLst>
              <a:gd name="adj" fmla="val 2356"/>
            </a:avLst>
          </a:prstGeom>
          <a:gradFill>
            <a:gsLst>
              <a:gs pos="0">
                <a:schemeClr val="accent5"/>
              </a:gs>
              <a:gs pos="99000">
                <a:schemeClr val="accent2"/>
              </a:gs>
              <a:gs pos="100000">
                <a:schemeClr val="accent2"/>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VIDB</a:t>
            </a: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1" name="Google Shape;6678;g2d30ebb658d_0_19789">
            <a:extLst>
              <a:ext uri="{FF2B5EF4-FFF2-40B4-BE49-F238E27FC236}">
                <a16:creationId xmlns:a16="http://schemas.microsoft.com/office/drawing/2014/main" id="{25E87ABD-82F3-2AFA-B646-B7C0DF07EDEC}"/>
              </a:ext>
            </a:extLst>
          </p:cNvPr>
          <p:cNvSpPr/>
          <p:nvPr/>
        </p:nvSpPr>
        <p:spPr>
          <a:xfrm>
            <a:off x="2259209" y="2969627"/>
            <a:ext cx="898715" cy="439805"/>
          </a:xfrm>
          <a:prstGeom prst="roundRect">
            <a:avLst>
              <a:gd name="adj" fmla="val 2356"/>
            </a:avLst>
          </a:prstGeom>
          <a:gradFill>
            <a:gsLst>
              <a:gs pos="0">
                <a:schemeClr val="accent5"/>
              </a:gs>
              <a:gs pos="99000">
                <a:schemeClr val="accent2"/>
              </a:gs>
              <a:gs pos="100000">
                <a:schemeClr val="accent2"/>
              </a:gs>
            </a:gsLst>
            <a:lin ang="18900044" scaled="0"/>
          </a:gradFill>
          <a:ln w="1905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2" name="Google Shape;6678;g2d30ebb658d_0_19789">
            <a:extLst>
              <a:ext uri="{FF2B5EF4-FFF2-40B4-BE49-F238E27FC236}">
                <a16:creationId xmlns:a16="http://schemas.microsoft.com/office/drawing/2014/main" id="{64279335-DD82-6E89-BE60-DD23C4B4B987}"/>
              </a:ext>
            </a:extLst>
          </p:cNvPr>
          <p:cNvSpPr/>
          <p:nvPr/>
        </p:nvSpPr>
        <p:spPr>
          <a:xfrm>
            <a:off x="2163273" y="3056618"/>
            <a:ext cx="898715" cy="439805"/>
          </a:xfrm>
          <a:prstGeom prst="roundRect">
            <a:avLst>
              <a:gd name="adj" fmla="val 2356"/>
            </a:avLst>
          </a:prstGeom>
          <a:gradFill>
            <a:gsLst>
              <a:gs pos="0">
                <a:schemeClr val="accent5"/>
              </a:gs>
              <a:gs pos="99000">
                <a:schemeClr val="accent2"/>
              </a:gs>
              <a:gs pos="100000">
                <a:schemeClr val="accent2"/>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NSX Edge</a:t>
            </a: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5" name="Google Shape;6678;g2d30ebb658d_0_19789">
            <a:extLst>
              <a:ext uri="{FF2B5EF4-FFF2-40B4-BE49-F238E27FC236}">
                <a16:creationId xmlns:a16="http://schemas.microsoft.com/office/drawing/2014/main" id="{96A9A83D-D659-1652-631B-88E5CE5A68BD}"/>
              </a:ext>
            </a:extLst>
          </p:cNvPr>
          <p:cNvSpPr/>
          <p:nvPr/>
        </p:nvSpPr>
        <p:spPr>
          <a:xfrm>
            <a:off x="3381372" y="3050778"/>
            <a:ext cx="898715" cy="439805"/>
          </a:xfrm>
          <a:prstGeom prst="roundRect">
            <a:avLst>
              <a:gd name="adj" fmla="val 2356"/>
            </a:avLst>
          </a:prstGeom>
          <a:gradFill>
            <a:gsLst>
              <a:gs pos="0">
                <a:schemeClr val="accent5"/>
              </a:gs>
              <a:gs pos="99000">
                <a:schemeClr val="accent2"/>
              </a:gs>
              <a:gs pos="100000">
                <a:schemeClr val="accent2"/>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VCF Logs</a:t>
            </a: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8" name="Google Shape;6678;g2d30ebb658d_0_19789">
            <a:extLst>
              <a:ext uri="{FF2B5EF4-FFF2-40B4-BE49-F238E27FC236}">
                <a16:creationId xmlns:a16="http://schemas.microsoft.com/office/drawing/2014/main" id="{ACF6273B-2464-F776-11B5-D724EC15BE46}"/>
              </a:ext>
            </a:extLst>
          </p:cNvPr>
          <p:cNvSpPr/>
          <p:nvPr/>
        </p:nvSpPr>
        <p:spPr>
          <a:xfrm>
            <a:off x="4595886" y="3037189"/>
            <a:ext cx="898715" cy="439805"/>
          </a:xfrm>
          <a:prstGeom prst="roundRect">
            <a:avLst>
              <a:gd name="adj" fmla="val 2356"/>
            </a:avLst>
          </a:prstGeom>
          <a:gradFill>
            <a:gsLst>
              <a:gs pos="0">
                <a:schemeClr val="accent5"/>
              </a:gs>
              <a:gs pos="99000">
                <a:schemeClr val="accent2"/>
              </a:gs>
              <a:gs pos="100000">
                <a:schemeClr val="accent2"/>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VKS</a:t>
            </a: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79" name="Google Shape;6678;g2d30ebb658d_0_19789">
            <a:extLst>
              <a:ext uri="{FF2B5EF4-FFF2-40B4-BE49-F238E27FC236}">
                <a16:creationId xmlns:a16="http://schemas.microsoft.com/office/drawing/2014/main" id="{FAFD1288-1102-E81E-CC32-3AB6F894CD77}"/>
              </a:ext>
            </a:extLst>
          </p:cNvPr>
          <p:cNvSpPr/>
          <p:nvPr/>
        </p:nvSpPr>
        <p:spPr>
          <a:xfrm>
            <a:off x="1410820" y="4278388"/>
            <a:ext cx="898715" cy="439805"/>
          </a:xfrm>
          <a:prstGeom prst="roundRect">
            <a:avLst>
              <a:gd name="adj" fmla="val 2356"/>
            </a:avLst>
          </a:prstGeom>
          <a:gradFill>
            <a:gsLst>
              <a:gs pos="0">
                <a:schemeClr val="accent5"/>
              </a:gs>
              <a:gs pos="99000">
                <a:schemeClr val="accent2"/>
              </a:gs>
              <a:gs pos="100000">
                <a:schemeClr val="accent2"/>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VCF Ops</a:t>
            </a: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82" name="Google Shape;6678;g2d30ebb658d_0_19789">
            <a:extLst>
              <a:ext uri="{FF2B5EF4-FFF2-40B4-BE49-F238E27FC236}">
                <a16:creationId xmlns:a16="http://schemas.microsoft.com/office/drawing/2014/main" id="{C3BFEFBA-9B01-C371-45C0-749628DF94B2}"/>
              </a:ext>
            </a:extLst>
          </p:cNvPr>
          <p:cNvSpPr/>
          <p:nvPr/>
        </p:nvSpPr>
        <p:spPr>
          <a:xfrm>
            <a:off x="2628919" y="4272548"/>
            <a:ext cx="898715" cy="439805"/>
          </a:xfrm>
          <a:prstGeom prst="roundRect">
            <a:avLst>
              <a:gd name="adj" fmla="val 2356"/>
            </a:avLst>
          </a:prstGeom>
          <a:gradFill>
            <a:gsLst>
              <a:gs pos="0">
                <a:schemeClr val="accent5"/>
              </a:gs>
              <a:gs pos="99000">
                <a:schemeClr val="accent2"/>
              </a:gs>
              <a:gs pos="100000">
                <a:schemeClr val="accent2"/>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VCF Ops Collector</a:t>
            </a: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85" name="Google Shape;6678;g2d30ebb658d_0_19789">
            <a:extLst>
              <a:ext uri="{FF2B5EF4-FFF2-40B4-BE49-F238E27FC236}">
                <a16:creationId xmlns:a16="http://schemas.microsoft.com/office/drawing/2014/main" id="{C215EAC2-4AC0-3E7B-4C25-62991D4937D1}"/>
              </a:ext>
            </a:extLst>
          </p:cNvPr>
          <p:cNvSpPr/>
          <p:nvPr/>
        </p:nvSpPr>
        <p:spPr>
          <a:xfrm>
            <a:off x="3843433" y="4258959"/>
            <a:ext cx="898715" cy="439805"/>
          </a:xfrm>
          <a:prstGeom prst="roundRect">
            <a:avLst>
              <a:gd name="adj" fmla="val 2356"/>
            </a:avLst>
          </a:prstGeom>
          <a:gradFill>
            <a:gsLst>
              <a:gs pos="0">
                <a:schemeClr val="accent5"/>
              </a:gs>
              <a:gs pos="99000">
                <a:schemeClr val="accent2"/>
              </a:gs>
              <a:gs pos="100000">
                <a:schemeClr val="accent2"/>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VCF Auto</a:t>
            </a: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88" name="Google Shape;6678;g2d30ebb658d_0_19789">
            <a:extLst>
              <a:ext uri="{FF2B5EF4-FFF2-40B4-BE49-F238E27FC236}">
                <a16:creationId xmlns:a16="http://schemas.microsoft.com/office/drawing/2014/main" id="{5103762D-2464-339A-7BC3-94F15252585C}"/>
              </a:ext>
            </a:extLst>
          </p:cNvPr>
          <p:cNvSpPr/>
          <p:nvPr/>
        </p:nvSpPr>
        <p:spPr>
          <a:xfrm>
            <a:off x="935265" y="5025171"/>
            <a:ext cx="898715" cy="439805"/>
          </a:xfrm>
          <a:prstGeom prst="roundRect">
            <a:avLst>
              <a:gd name="adj" fmla="val 2356"/>
            </a:avLst>
          </a:prstGeom>
          <a:gradFill>
            <a:gsLst>
              <a:gs pos="0">
                <a:schemeClr val="accent5"/>
              </a:gs>
              <a:gs pos="99000">
                <a:schemeClr val="accent2"/>
              </a:gs>
              <a:gs pos="100000">
                <a:schemeClr val="accent2"/>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vCenter Server</a:t>
            </a: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91" name="Google Shape;6678;g2d30ebb658d_0_19789">
            <a:extLst>
              <a:ext uri="{FF2B5EF4-FFF2-40B4-BE49-F238E27FC236}">
                <a16:creationId xmlns:a16="http://schemas.microsoft.com/office/drawing/2014/main" id="{BD2ABFE5-29A0-7F76-0016-4BFF65A968B2}"/>
              </a:ext>
            </a:extLst>
          </p:cNvPr>
          <p:cNvSpPr/>
          <p:nvPr/>
        </p:nvSpPr>
        <p:spPr>
          <a:xfrm>
            <a:off x="2163273" y="5015077"/>
            <a:ext cx="898715" cy="439805"/>
          </a:xfrm>
          <a:prstGeom prst="roundRect">
            <a:avLst>
              <a:gd name="adj" fmla="val 2356"/>
            </a:avLst>
          </a:prstGeom>
          <a:gradFill>
            <a:gsLst>
              <a:gs pos="0">
                <a:schemeClr val="accent5"/>
              </a:gs>
              <a:gs pos="99000">
                <a:schemeClr val="accent2"/>
              </a:gs>
              <a:gs pos="100000">
                <a:schemeClr val="accent2"/>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SDDC Manager</a:t>
            </a: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94" name="Google Shape;6678;g2d30ebb658d_0_19789">
            <a:extLst>
              <a:ext uri="{FF2B5EF4-FFF2-40B4-BE49-F238E27FC236}">
                <a16:creationId xmlns:a16="http://schemas.microsoft.com/office/drawing/2014/main" id="{77FF72FF-137A-4639-E289-006265CAD928}"/>
              </a:ext>
            </a:extLst>
          </p:cNvPr>
          <p:cNvSpPr/>
          <p:nvPr/>
        </p:nvSpPr>
        <p:spPr>
          <a:xfrm>
            <a:off x="3381372" y="5009237"/>
            <a:ext cx="898715" cy="439805"/>
          </a:xfrm>
          <a:prstGeom prst="roundRect">
            <a:avLst>
              <a:gd name="adj" fmla="val 2356"/>
            </a:avLst>
          </a:prstGeom>
          <a:gradFill>
            <a:gsLst>
              <a:gs pos="0">
                <a:schemeClr val="accent5"/>
              </a:gs>
              <a:gs pos="99000">
                <a:schemeClr val="accent2"/>
              </a:gs>
              <a:gs pos="100000">
                <a:schemeClr val="accent2"/>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NSX Manager</a:t>
            </a: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97" name="Google Shape;6678;g2d30ebb658d_0_19789">
            <a:extLst>
              <a:ext uri="{FF2B5EF4-FFF2-40B4-BE49-F238E27FC236}">
                <a16:creationId xmlns:a16="http://schemas.microsoft.com/office/drawing/2014/main" id="{BF3A6126-0E0F-818F-3B38-3C43F0B5CEC4}"/>
              </a:ext>
            </a:extLst>
          </p:cNvPr>
          <p:cNvSpPr/>
          <p:nvPr/>
        </p:nvSpPr>
        <p:spPr>
          <a:xfrm>
            <a:off x="4595886" y="5009237"/>
            <a:ext cx="898715" cy="439805"/>
          </a:xfrm>
          <a:prstGeom prst="roundRect">
            <a:avLst>
              <a:gd name="adj" fmla="val 2356"/>
            </a:avLst>
          </a:prstGeom>
          <a:gradFill>
            <a:gsLst>
              <a:gs pos="0">
                <a:schemeClr val="accent5"/>
              </a:gs>
              <a:gs pos="99000">
                <a:schemeClr val="accent2"/>
              </a:gs>
              <a:gs pos="100000">
                <a:schemeClr val="accent2"/>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Fleet </a:t>
            </a:r>
            <a:r>
              <a:rPr kumimoji="0" lang="en-AU" sz="950" b="0" i="0" u="none" strike="noStrike" kern="1200" cap="none" spc="0" normalizeH="0" baseline="0" noProof="0" dirty="0">
                <a:ln>
                  <a:noFill/>
                </a:ln>
                <a:solidFill>
                  <a:schemeClr val="bg1"/>
                </a:solidFill>
                <a:effectLst/>
                <a:uLnTx/>
                <a:uFillTx/>
                <a:latin typeface="Arial"/>
                <a:ea typeface="Arial"/>
                <a:cs typeface="Arial"/>
                <a:sym typeface="Arial"/>
              </a:rPr>
              <a:t>Management</a:t>
            </a:r>
            <a:endParaRPr kumimoji="0" sz="95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98" name="Google Shape;6678;g2d30ebb658d_0_19789">
            <a:extLst>
              <a:ext uri="{FF2B5EF4-FFF2-40B4-BE49-F238E27FC236}">
                <a16:creationId xmlns:a16="http://schemas.microsoft.com/office/drawing/2014/main" id="{4F11552F-A99F-AE2F-BEF2-F0165855B027}"/>
              </a:ext>
            </a:extLst>
          </p:cNvPr>
          <p:cNvSpPr/>
          <p:nvPr/>
        </p:nvSpPr>
        <p:spPr>
          <a:xfrm>
            <a:off x="6565456" y="2846810"/>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905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99" name="Google Shape;6678;g2d30ebb658d_0_19789">
            <a:extLst>
              <a:ext uri="{FF2B5EF4-FFF2-40B4-BE49-F238E27FC236}">
                <a16:creationId xmlns:a16="http://schemas.microsoft.com/office/drawing/2014/main" id="{24E25FA2-343E-28F6-7A7F-4CA664D7C9C1}"/>
              </a:ext>
            </a:extLst>
          </p:cNvPr>
          <p:cNvSpPr/>
          <p:nvPr/>
        </p:nvSpPr>
        <p:spPr>
          <a:xfrm>
            <a:off x="6461428" y="2950198"/>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00" name="TextBox 99">
            <a:extLst>
              <a:ext uri="{FF2B5EF4-FFF2-40B4-BE49-F238E27FC236}">
                <a16:creationId xmlns:a16="http://schemas.microsoft.com/office/drawing/2014/main" id="{5262E859-095A-CA63-CD89-BECD4452700F}"/>
              </a:ext>
            </a:extLst>
          </p:cNvPr>
          <p:cNvSpPr txBox="1"/>
          <p:nvPr/>
        </p:nvSpPr>
        <p:spPr>
          <a:xfrm>
            <a:off x="7463875" y="1476232"/>
            <a:ext cx="2333972" cy="1015663"/>
          </a:xfrm>
          <a:prstGeom prst="rect">
            <a:avLst/>
          </a:prstGeom>
          <a:noFill/>
        </p:spPr>
        <p:txBody>
          <a:bodyPr wrap="none" lIns="0" tIns="0" rIns="0" bIns="0" rtlCol="0">
            <a:spAutoFit/>
          </a:bodyPr>
          <a:lstStyle/>
          <a:p>
            <a:pPr algn="ctr"/>
            <a:r>
              <a:rPr lang="en-US" b="1" dirty="0">
                <a:solidFill>
                  <a:schemeClr val="accent2"/>
                </a:solidFill>
              </a:rPr>
              <a:t>High Availability</a:t>
            </a:r>
          </a:p>
          <a:p>
            <a:pPr algn="ctr"/>
            <a:endParaRPr lang="en-US" sz="1200" dirty="0">
              <a:solidFill>
                <a:schemeClr val="tx2"/>
              </a:solidFill>
            </a:endParaRPr>
          </a:p>
          <a:p>
            <a:pPr algn="ctr"/>
            <a:r>
              <a:rPr lang="en-US" dirty="0">
                <a:solidFill>
                  <a:schemeClr val="tx2"/>
                </a:solidFill>
              </a:rPr>
              <a:t>13 required appliances</a:t>
            </a:r>
          </a:p>
          <a:p>
            <a:pPr algn="ctr"/>
            <a:r>
              <a:rPr lang="en-US" dirty="0">
                <a:solidFill>
                  <a:schemeClr val="tx2"/>
                </a:solidFill>
              </a:rPr>
              <a:t>11</a:t>
            </a:r>
            <a:r>
              <a:rPr lang="en-US" sz="1800" dirty="0">
                <a:solidFill>
                  <a:schemeClr val="tx2"/>
                </a:solidFill>
              </a:rPr>
              <a:t> optional appliances</a:t>
            </a:r>
          </a:p>
        </p:txBody>
      </p:sp>
      <p:sp>
        <p:nvSpPr>
          <p:cNvPr id="101" name="Google Shape;6678;g2d30ebb658d_0_19789">
            <a:extLst>
              <a:ext uri="{FF2B5EF4-FFF2-40B4-BE49-F238E27FC236}">
                <a16:creationId xmlns:a16="http://schemas.microsoft.com/office/drawing/2014/main" id="{EE5191F5-32FD-00AD-6E08-D0DAAC20BD05}"/>
              </a:ext>
            </a:extLst>
          </p:cNvPr>
          <p:cNvSpPr/>
          <p:nvPr/>
        </p:nvSpPr>
        <p:spPr>
          <a:xfrm>
            <a:off x="6365492" y="3037189"/>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VIDB</a:t>
            </a: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03" name="Google Shape;6678;g2d30ebb658d_0_19789">
            <a:extLst>
              <a:ext uri="{FF2B5EF4-FFF2-40B4-BE49-F238E27FC236}">
                <a16:creationId xmlns:a16="http://schemas.microsoft.com/office/drawing/2014/main" id="{EB57003C-BFB3-709E-570A-D0924A11B69F}"/>
              </a:ext>
            </a:extLst>
          </p:cNvPr>
          <p:cNvSpPr/>
          <p:nvPr/>
        </p:nvSpPr>
        <p:spPr>
          <a:xfrm>
            <a:off x="7689436" y="2940104"/>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905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04" name="Google Shape;6678;g2d30ebb658d_0_19789">
            <a:extLst>
              <a:ext uri="{FF2B5EF4-FFF2-40B4-BE49-F238E27FC236}">
                <a16:creationId xmlns:a16="http://schemas.microsoft.com/office/drawing/2014/main" id="{A7551AB7-7026-0F41-FCCA-17EDCF091007}"/>
              </a:ext>
            </a:extLst>
          </p:cNvPr>
          <p:cNvSpPr/>
          <p:nvPr/>
        </p:nvSpPr>
        <p:spPr>
          <a:xfrm>
            <a:off x="7593500" y="3027095"/>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NSX Edge</a:t>
            </a: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05" name="Google Shape;6678;g2d30ebb658d_0_19789">
            <a:extLst>
              <a:ext uri="{FF2B5EF4-FFF2-40B4-BE49-F238E27FC236}">
                <a16:creationId xmlns:a16="http://schemas.microsoft.com/office/drawing/2014/main" id="{492D6573-101B-9658-CDAC-F84F619132CD}"/>
              </a:ext>
            </a:extLst>
          </p:cNvPr>
          <p:cNvSpPr/>
          <p:nvPr/>
        </p:nvSpPr>
        <p:spPr>
          <a:xfrm>
            <a:off x="9011563" y="2830876"/>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905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06" name="Google Shape;6678;g2d30ebb658d_0_19789">
            <a:extLst>
              <a:ext uri="{FF2B5EF4-FFF2-40B4-BE49-F238E27FC236}">
                <a16:creationId xmlns:a16="http://schemas.microsoft.com/office/drawing/2014/main" id="{36D8F94B-541B-46CA-FE25-8B907F6CD13B}"/>
              </a:ext>
            </a:extLst>
          </p:cNvPr>
          <p:cNvSpPr/>
          <p:nvPr/>
        </p:nvSpPr>
        <p:spPr>
          <a:xfrm>
            <a:off x="8907535" y="2934264"/>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07" name="Google Shape;6678;g2d30ebb658d_0_19789">
            <a:extLst>
              <a:ext uri="{FF2B5EF4-FFF2-40B4-BE49-F238E27FC236}">
                <a16:creationId xmlns:a16="http://schemas.microsoft.com/office/drawing/2014/main" id="{76166084-D7D7-F190-4E12-32DDEA5A7BD4}"/>
              </a:ext>
            </a:extLst>
          </p:cNvPr>
          <p:cNvSpPr/>
          <p:nvPr/>
        </p:nvSpPr>
        <p:spPr>
          <a:xfrm>
            <a:off x="8811599" y="3021255"/>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lang="en-AU" sz="1000" dirty="0">
                <a:solidFill>
                  <a:schemeClr val="bg1"/>
                </a:solidFill>
                <a:latin typeface="Arial"/>
                <a:ea typeface="Arial"/>
                <a:cs typeface="Arial"/>
                <a:sym typeface="Arial"/>
              </a:rPr>
              <a:t>VCF Logs</a:t>
            </a: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08" name="Google Shape;6678;g2d30ebb658d_0_19789">
            <a:extLst>
              <a:ext uri="{FF2B5EF4-FFF2-40B4-BE49-F238E27FC236}">
                <a16:creationId xmlns:a16="http://schemas.microsoft.com/office/drawing/2014/main" id="{A64345D2-E094-1EB5-3F14-AD779CD7D97D}"/>
              </a:ext>
            </a:extLst>
          </p:cNvPr>
          <p:cNvSpPr/>
          <p:nvPr/>
        </p:nvSpPr>
        <p:spPr>
          <a:xfrm>
            <a:off x="10226077" y="2817287"/>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905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09" name="Google Shape;6678;g2d30ebb658d_0_19789">
            <a:extLst>
              <a:ext uri="{FF2B5EF4-FFF2-40B4-BE49-F238E27FC236}">
                <a16:creationId xmlns:a16="http://schemas.microsoft.com/office/drawing/2014/main" id="{484BA040-C426-54BA-03A7-D1CD15D77BAE}"/>
              </a:ext>
            </a:extLst>
          </p:cNvPr>
          <p:cNvSpPr/>
          <p:nvPr/>
        </p:nvSpPr>
        <p:spPr>
          <a:xfrm>
            <a:off x="10122049" y="2920675"/>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10" name="Google Shape;6678;g2d30ebb658d_0_19789">
            <a:extLst>
              <a:ext uri="{FF2B5EF4-FFF2-40B4-BE49-F238E27FC236}">
                <a16:creationId xmlns:a16="http://schemas.microsoft.com/office/drawing/2014/main" id="{F25F6D78-83F8-5144-DB90-D156CE071EA8}"/>
              </a:ext>
            </a:extLst>
          </p:cNvPr>
          <p:cNvSpPr/>
          <p:nvPr/>
        </p:nvSpPr>
        <p:spPr>
          <a:xfrm>
            <a:off x="10026113" y="3007666"/>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VKS</a:t>
            </a: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11" name="Google Shape;6678;g2d30ebb658d_0_19789">
            <a:extLst>
              <a:ext uri="{FF2B5EF4-FFF2-40B4-BE49-F238E27FC236}">
                <a16:creationId xmlns:a16="http://schemas.microsoft.com/office/drawing/2014/main" id="{E2F7744B-06E0-3C14-C2A1-65BF9FBD2E62}"/>
              </a:ext>
            </a:extLst>
          </p:cNvPr>
          <p:cNvSpPr/>
          <p:nvPr/>
        </p:nvSpPr>
        <p:spPr>
          <a:xfrm>
            <a:off x="7041011" y="4058486"/>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905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12" name="Google Shape;6678;g2d30ebb658d_0_19789">
            <a:extLst>
              <a:ext uri="{FF2B5EF4-FFF2-40B4-BE49-F238E27FC236}">
                <a16:creationId xmlns:a16="http://schemas.microsoft.com/office/drawing/2014/main" id="{0DC35CF8-D899-6A2B-B463-10E57EE482AB}"/>
              </a:ext>
            </a:extLst>
          </p:cNvPr>
          <p:cNvSpPr/>
          <p:nvPr/>
        </p:nvSpPr>
        <p:spPr>
          <a:xfrm>
            <a:off x="6936983" y="4161874"/>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13" name="Google Shape;6678;g2d30ebb658d_0_19789">
            <a:extLst>
              <a:ext uri="{FF2B5EF4-FFF2-40B4-BE49-F238E27FC236}">
                <a16:creationId xmlns:a16="http://schemas.microsoft.com/office/drawing/2014/main" id="{EF0A7FBA-5B9E-92AE-64C2-8B057FE6B964}"/>
              </a:ext>
            </a:extLst>
          </p:cNvPr>
          <p:cNvSpPr/>
          <p:nvPr/>
        </p:nvSpPr>
        <p:spPr>
          <a:xfrm>
            <a:off x="6841047" y="4248865"/>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VCF Ops</a:t>
            </a: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16" name="Google Shape;6678;g2d30ebb658d_0_19789">
            <a:extLst>
              <a:ext uri="{FF2B5EF4-FFF2-40B4-BE49-F238E27FC236}">
                <a16:creationId xmlns:a16="http://schemas.microsoft.com/office/drawing/2014/main" id="{D5E372B0-4B05-34F8-E528-D316AB8FA1BF}"/>
              </a:ext>
            </a:extLst>
          </p:cNvPr>
          <p:cNvSpPr/>
          <p:nvPr/>
        </p:nvSpPr>
        <p:spPr>
          <a:xfrm>
            <a:off x="8059146" y="4243025"/>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VCF Ops Collector</a:t>
            </a: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17" name="Google Shape;6678;g2d30ebb658d_0_19789">
            <a:extLst>
              <a:ext uri="{FF2B5EF4-FFF2-40B4-BE49-F238E27FC236}">
                <a16:creationId xmlns:a16="http://schemas.microsoft.com/office/drawing/2014/main" id="{86124C89-3E3A-B885-759F-D504547BBF4D}"/>
              </a:ext>
            </a:extLst>
          </p:cNvPr>
          <p:cNvSpPr/>
          <p:nvPr/>
        </p:nvSpPr>
        <p:spPr>
          <a:xfrm>
            <a:off x="9473624" y="4039057"/>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905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18" name="Google Shape;6678;g2d30ebb658d_0_19789">
            <a:extLst>
              <a:ext uri="{FF2B5EF4-FFF2-40B4-BE49-F238E27FC236}">
                <a16:creationId xmlns:a16="http://schemas.microsoft.com/office/drawing/2014/main" id="{EEB98A28-C62B-19CB-23AB-2CBC62DA0650}"/>
              </a:ext>
            </a:extLst>
          </p:cNvPr>
          <p:cNvSpPr/>
          <p:nvPr/>
        </p:nvSpPr>
        <p:spPr>
          <a:xfrm>
            <a:off x="9369596" y="4142445"/>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19" name="Google Shape;6678;g2d30ebb658d_0_19789">
            <a:extLst>
              <a:ext uri="{FF2B5EF4-FFF2-40B4-BE49-F238E27FC236}">
                <a16:creationId xmlns:a16="http://schemas.microsoft.com/office/drawing/2014/main" id="{97B0F5CD-FAB4-6607-79B6-7CB127212092}"/>
              </a:ext>
            </a:extLst>
          </p:cNvPr>
          <p:cNvSpPr/>
          <p:nvPr/>
        </p:nvSpPr>
        <p:spPr>
          <a:xfrm>
            <a:off x="9273660" y="4229436"/>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VCF Auto</a:t>
            </a: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22" name="Google Shape;6678;g2d30ebb658d_0_19789">
            <a:extLst>
              <a:ext uri="{FF2B5EF4-FFF2-40B4-BE49-F238E27FC236}">
                <a16:creationId xmlns:a16="http://schemas.microsoft.com/office/drawing/2014/main" id="{2BCBB218-D554-7C2E-C258-21B949F0CCAC}"/>
              </a:ext>
            </a:extLst>
          </p:cNvPr>
          <p:cNvSpPr/>
          <p:nvPr/>
        </p:nvSpPr>
        <p:spPr>
          <a:xfrm>
            <a:off x="6365492" y="4998768"/>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vCenter Server</a:t>
            </a: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25" name="Google Shape;6678;g2d30ebb658d_0_19789">
            <a:extLst>
              <a:ext uri="{FF2B5EF4-FFF2-40B4-BE49-F238E27FC236}">
                <a16:creationId xmlns:a16="http://schemas.microsoft.com/office/drawing/2014/main" id="{DCF154BC-7386-B1F0-F64B-303DD0419077}"/>
              </a:ext>
            </a:extLst>
          </p:cNvPr>
          <p:cNvSpPr/>
          <p:nvPr/>
        </p:nvSpPr>
        <p:spPr>
          <a:xfrm>
            <a:off x="7593500" y="4988674"/>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SDDC Manager</a:t>
            </a: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26" name="Google Shape;6678;g2d30ebb658d_0_19789">
            <a:extLst>
              <a:ext uri="{FF2B5EF4-FFF2-40B4-BE49-F238E27FC236}">
                <a16:creationId xmlns:a16="http://schemas.microsoft.com/office/drawing/2014/main" id="{5D260E39-E08A-77BA-AA7C-135F7FE5C63C}"/>
              </a:ext>
            </a:extLst>
          </p:cNvPr>
          <p:cNvSpPr/>
          <p:nvPr/>
        </p:nvSpPr>
        <p:spPr>
          <a:xfrm>
            <a:off x="9011563" y="4792455"/>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905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27" name="Google Shape;6678;g2d30ebb658d_0_19789">
            <a:extLst>
              <a:ext uri="{FF2B5EF4-FFF2-40B4-BE49-F238E27FC236}">
                <a16:creationId xmlns:a16="http://schemas.microsoft.com/office/drawing/2014/main" id="{065D8D08-318F-78A3-2FF3-AAFE1148A3D6}"/>
              </a:ext>
            </a:extLst>
          </p:cNvPr>
          <p:cNvSpPr/>
          <p:nvPr/>
        </p:nvSpPr>
        <p:spPr>
          <a:xfrm>
            <a:off x="8907535" y="4895843"/>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28" name="Google Shape;6678;g2d30ebb658d_0_19789">
            <a:extLst>
              <a:ext uri="{FF2B5EF4-FFF2-40B4-BE49-F238E27FC236}">
                <a16:creationId xmlns:a16="http://schemas.microsoft.com/office/drawing/2014/main" id="{7DE16EE4-2DE7-DE26-F562-5DA82698F161}"/>
              </a:ext>
            </a:extLst>
          </p:cNvPr>
          <p:cNvSpPr/>
          <p:nvPr/>
        </p:nvSpPr>
        <p:spPr>
          <a:xfrm>
            <a:off x="8811599" y="4982834"/>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NSX Manager</a:t>
            </a:r>
            <a:endParaRPr kumimoji="0" sz="100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31" name="Google Shape;6678;g2d30ebb658d_0_19789">
            <a:extLst>
              <a:ext uri="{FF2B5EF4-FFF2-40B4-BE49-F238E27FC236}">
                <a16:creationId xmlns:a16="http://schemas.microsoft.com/office/drawing/2014/main" id="{4C1E4332-459E-8E5B-D84F-ED447B5FFE8C}"/>
              </a:ext>
            </a:extLst>
          </p:cNvPr>
          <p:cNvSpPr/>
          <p:nvPr/>
        </p:nvSpPr>
        <p:spPr>
          <a:xfrm>
            <a:off x="10026113" y="4969245"/>
            <a:ext cx="898715" cy="439805"/>
          </a:xfrm>
          <a:prstGeom prst="roundRect">
            <a:avLst>
              <a:gd name="adj" fmla="val 2356"/>
            </a:avLst>
          </a:prstGeom>
          <a:gradFill>
            <a:gsLst>
              <a:gs pos="0">
                <a:schemeClr val="accent2"/>
              </a:gs>
              <a:gs pos="99000">
                <a:schemeClr val="accent3"/>
              </a:gs>
              <a:gs pos="100000">
                <a:schemeClr val="accent3"/>
              </a:gs>
            </a:gsLst>
            <a:lin ang="18900044" scaled="0"/>
          </a:gradFill>
          <a:ln w="12700">
            <a:solidFill>
              <a:schemeClr val="bg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000" b="0" i="0" u="none" strike="noStrike" kern="1200" cap="none" spc="0" normalizeH="0" baseline="0" noProof="0" dirty="0">
                <a:ln>
                  <a:noFill/>
                </a:ln>
                <a:solidFill>
                  <a:schemeClr val="bg1"/>
                </a:solidFill>
                <a:effectLst/>
                <a:uLnTx/>
                <a:uFillTx/>
                <a:latin typeface="Arial"/>
                <a:ea typeface="Arial"/>
                <a:cs typeface="Arial"/>
                <a:sym typeface="Arial"/>
              </a:rPr>
              <a:t>Fleet </a:t>
            </a:r>
            <a:r>
              <a:rPr kumimoji="0" lang="en-AU" sz="950" b="0" i="0" u="none" strike="noStrike" kern="1200" cap="none" spc="0" normalizeH="0" baseline="0" noProof="0" dirty="0">
                <a:ln>
                  <a:noFill/>
                </a:ln>
                <a:solidFill>
                  <a:schemeClr val="bg1"/>
                </a:solidFill>
                <a:effectLst/>
                <a:uLnTx/>
                <a:uFillTx/>
                <a:latin typeface="Arial"/>
                <a:ea typeface="Arial"/>
                <a:cs typeface="Arial"/>
                <a:sym typeface="Arial"/>
              </a:rPr>
              <a:t>Management</a:t>
            </a:r>
            <a:endParaRPr kumimoji="0" sz="950" b="0" i="0" u="none" strike="noStrike" kern="1200" cap="none" spc="0" normalizeH="0" baseline="0" noProof="0" dirty="0">
              <a:ln>
                <a:noFill/>
              </a:ln>
              <a:solidFill>
                <a:schemeClr val="bg1"/>
              </a:solidFill>
              <a:effectLst/>
              <a:uLnTx/>
              <a:uFillTx/>
              <a:latin typeface="Arial"/>
              <a:ea typeface="Arial"/>
              <a:cs typeface="Arial"/>
              <a:sym typeface="Arial"/>
            </a:endParaRPr>
          </a:p>
        </p:txBody>
      </p:sp>
      <p:sp>
        <p:nvSpPr>
          <p:cNvPr id="133" name="TextBox 132">
            <a:extLst>
              <a:ext uri="{FF2B5EF4-FFF2-40B4-BE49-F238E27FC236}">
                <a16:creationId xmlns:a16="http://schemas.microsoft.com/office/drawing/2014/main" id="{4BA53B47-592C-8786-47E4-CBBEEE78604B}"/>
              </a:ext>
            </a:extLst>
          </p:cNvPr>
          <p:cNvSpPr txBox="1"/>
          <p:nvPr/>
        </p:nvSpPr>
        <p:spPr>
          <a:xfrm>
            <a:off x="7301673" y="5714334"/>
            <a:ext cx="3731791" cy="153888"/>
          </a:xfrm>
          <a:prstGeom prst="rect">
            <a:avLst/>
          </a:prstGeom>
          <a:noFill/>
        </p:spPr>
        <p:txBody>
          <a:bodyPr wrap="none" lIns="0" tIns="0" rIns="0" bIns="0" rtlCol="0">
            <a:spAutoFit/>
          </a:bodyPr>
          <a:lstStyle/>
          <a:p>
            <a:pPr algn="ctr"/>
            <a:r>
              <a:rPr lang="en-US" sz="1000" i="1" dirty="0"/>
              <a:t>VCF Operations for Networks </a:t>
            </a:r>
            <a:r>
              <a:rPr lang="en-US" sz="1000" dirty="0"/>
              <a:t>and </a:t>
            </a:r>
            <a:r>
              <a:rPr lang="en-US" sz="1000" i="1" dirty="0"/>
              <a:t>HCX</a:t>
            </a:r>
            <a:r>
              <a:rPr lang="en-US" sz="1000" dirty="0"/>
              <a:t> not shown for slide brevity</a:t>
            </a:r>
          </a:p>
        </p:txBody>
      </p:sp>
      <p:cxnSp>
        <p:nvCxnSpPr>
          <p:cNvPr id="137" name="Straight Connector 136">
            <a:extLst>
              <a:ext uri="{FF2B5EF4-FFF2-40B4-BE49-F238E27FC236}">
                <a16:creationId xmlns:a16="http://schemas.microsoft.com/office/drawing/2014/main" id="{0D11B8F7-49A3-5BFC-DB91-6C8A2E9C39C6}"/>
              </a:ext>
            </a:extLst>
          </p:cNvPr>
          <p:cNvCxnSpPr>
            <a:cxnSpLocks/>
          </p:cNvCxnSpPr>
          <p:nvPr/>
        </p:nvCxnSpPr>
        <p:spPr bwMode="gray">
          <a:xfrm>
            <a:off x="935265" y="3781877"/>
            <a:ext cx="4703535" cy="0"/>
          </a:xfrm>
          <a:prstGeom prst="line">
            <a:avLst/>
          </a:prstGeom>
          <a:ln w="25400">
            <a:solidFill>
              <a:schemeClr val="bg2">
                <a:lumMod val="50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42" name="TextBox 141">
            <a:extLst>
              <a:ext uri="{FF2B5EF4-FFF2-40B4-BE49-F238E27FC236}">
                <a16:creationId xmlns:a16="http://schemas.microsoft.com/office/drawing/2014/main" id="{9D66A780-8775-3B75-1AF8-5F6DF9F94AC9}"/>
              </a:ext>
            </a:extLst>
          </p:cNvPr>
          <p:cNvSpPr txBox="1"/>
          <p:nvPr/>
        </p:nvSpPr>
        <p:spPr>
          <a:xfrm>
            <a:off x="764491" y="2573684"/>
            <a:ext cx="666849" cy="215444"/>
          </a:xfrm>
          <a:prstGeom prst="rect">
            <a:avLst/>
          </a:prstGeom>
          <a:noFill/>
        </p:spPr>
        <p:txBody>
          <a:bodyPr wrap="none" lIns="0" tIns="0" rIns="0" bIns="0" rtlCol="0">
            <a:spAutoFit/>
          </a:bodyPr>
          <a:lstStyle/>
          <a:p>
            <a:pPr algn="ctr"/>
            <a:r>
              <a:rPr lang="en-US" sz="1400" dirty="0"/>
              <a:t>Optional</a:t>
            </a:r>
          </a:p>
        </p:txBody>
      </p:sp>
      <p:sp>
        <p:nvSpPr>
          <p:cNvPr id="143" name="TextBox 142">
            <a:extLst>
              <a:ext uri="{FF2B5EF4-FFF2-40B4-BE49-F238E27FC236}">
                <a16:creationId xmlns:a16="http://schemas.microsoft.com/office/drawing/2014/main" id="{3BC8B7AA-D37C-E495-5770-9D8D014AB1DB}"/>
              </a:ext>
            </a:extLst>
          </p:cNvPr>
          <p:cNvSpPr txBox="1"/>
          <p:nvPr/>
        </p:nvSpPr>
        <p:spPr>
          <a:xfrm>
            <a:off x="6224453" y="2573684"/>
            <a:ext cx="666849" cy="215444"/>
          </a:xfrm>
          <a:prstGeom prst="rect">
            <a:avLst/>
          </a:prstGeom>
          <a:noFill/>
        </p:spPr>
        <p:txBody>
          <a:bodyPr wrap="none" lIns="0" tIns="0" rIns="0" bIns="0" rtlCol="0">
            <a:spAutoFit/>
          </a:bodyPr>
          <a:lstStyle/>
          <a:p>
            <a:pPr algn="ctr"/>
            <a:r>
              <a:rPr lang="en-US" sz="1400" dirty="0"/>
              <a:t>Optional</a:t>
            </a:r>
          </a:p>
        </p:txBody>
      </p:sp>
      <p:sp>
        <p:nvSpPr>
          <p:cNvPr id="144" name="TextBox 143">
            <a:extLst>
              <a:ext uri="{FF2B5EF4-FFF2-40B4-BE49-F238E27FC236}">
                <a16:creationId xmlns:a16="http://schemas.microsoft.com/office/drawing/2014/main" id="{6893FD1B-672E-76A7-D04F-1DA46D575812}"/>
              </a:ext>
            </a:extLst>
          </p:cNvPr>
          <p:cNvSpPr txBox="1"/>
          <p:nvPr/>
        </p:nvSpPr>
        <p:spPr>
          <a:xfrm>
            <a:off x="6246961" y="3895305"/>
            <a:ext cx="726161" cy="215444"/>
          </a:xfrm>
          <a:prstGeom prst="rect">
            <a:avLst/>
          </a:prstGeom>
          <a:noFill/>
        </p:spPr>
        <p:txBody>
          <a:bodyPr wrap="none" lIns="0" tIns="0" rIns="0" bIns="0" rtlCol="0">
            <a:spAutoFit/>
          </a:bodyPr>
          <a:lstStyle/>
          <a:p>
            <a:pPr algn="ctr"/>
            <a:r>
              <a:rPr lang="en-US" sz="1400" dirty="0"/>
              <a:t>Required</a:t>
            </a:r>
          </a:p>
        </p:txBody>
      </p:sp>
      <p:sp>
        <p:nvSpPr>
          <p:cNvPr id="145" name="TextBox 144">
            <a:extLst>
              <a:ext uri="{FF2B5EF4-FFF2-40B4-BE49-F238E27FC236}">
                <a16:creationId xmlns:a16="http://schemas.microsoft.com/office/drawing/2014/main" id="{56AD9827-BD43-5AD4-C810-F62920936F72}"/>
              </a:ext>
            </a:extLst>
          </p:cNvPr>
          <p:cNvSpPr txBox="1"/>
          <p:nvPr/>
        </p:nvSpPr>
        <p:spPr>
          <a:xfrm>
            <a:off x="772148" y="3895305"/>
            <a:ext cx="726161" cy="215444"/>
          </a:xfrm>
          <a:prstGeom prst="rect">
            <a:avLst/>
          </a:prstGeom>
          <a:noFill/>
        </p:spPr>
        <p:txBody>
          <a:bodyPr wrap="none" lIns="0" tIns="0" rIns="0" bIns="0" rtlCol="0">
            <a:spAutoFit/>
          </a:bodyPr>
          <a:lstStyle/>
          <a:p>
            <a:pPr algn="ctr"/>
            <a:r>
              <a:rPr lang="en-US" sz="1400" dirty="0"/>
              <a:t>Required</a:t>
            </a:r>
          </a:p>
        </p:txBody>
      </p:sp>
    </p:spTree>
    <p:extLst>
      <p:ext uri="{BB962C8B-B14F-4D97-AF65-F5344CB8AC3E}">
        <p14:creationId xmlns:p14="http://schemas.microsoft.com/office/powerpoint/2010/main" val="1949947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A95D7-9DF3-C4C8-5B26-833CD4773476}"/>
            </a:ext>
          </a:extLst>
        </p:cNvPr>
        <p:cNvGrpSpPr/>
        <p:nvPr/>
      </p:nvGrpSpPr>
      <p:grpSpPr>
        <a:xfrm>
          <a:off x="0" y="0"/>
          <a:ext cx="0" cy="0"/>
          <a:chOff x="0" y="0"/>
          <a:chExt cx="0" cy="0"/>
        </a:xfrm>
      </p:grpSpPr>
      <p:sp>
        <p:nvSpPr>
          <p:cNvPr id="66" name="Rounded Rectangle 65">
            <a:extLst>
              <a:ext uri="{FF2B5EF4-FFF2-40B4-BE49-F238E27FC236}">
                <a16:creationId xmlns:a16="http://schemas.microsoft.com/office/drawing/2014/main" id="{7C07EF20-0AA9-2E12-86B9-AC601D672625}"/>
              </a:ext>
            </a:extLst>
          </p:cNvPr>
          <p:cNvSpPr/>
          <p:nvPr/>
        </p:nvSpPr>
        <p:spPr bwMode="gray">
          <a:xfrm>
            <a:off x="6479" y="1611780"/>
            <a:ext cx="8133399" cy="4572000"/>
          </a:xfrm>
          <a:prstGeom prst="roundRect">
            <a:avLst>
              <a:gd name="adj" fmla="val 0"/>
            </a:avLst>
          </a:prstGeom>
          <a:solidFill>
            <a:srgbClr val="F4F8FA"/>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10" name="Google Shape;3807;p31">
            <a:extLst>
              <a:ext uri="{FF2B5EF4-FFF2-40B4-BE49-F238E27FC236}">
                <a16:creationId xmlns:a16="http://schemas.microsoft.com/office/drawing/2014/main" id="{1125F8D3-9C87-AA28-A4C6-3BFD2DDE71A8}"/>
              </a:ext>
            </a:extLst>
          </p:cNvPr>
          <p:cNvSpPr/>
          <p:nvPr/>
        </p:nvSpPr>
        <p:spPr>
          <a:xfrm>
            <a:off x="606342" y="1750219"/>
            <a:ext cx="7405481" cy="4295951"/>
          </a:xfrm>
          <a:prstGeom prst="roundRect">
            <a:avLst>
              <a:gd name="adj" fmla="val 2790"/>
            </a:avLst>
          </a:prstGeom>
          <a:solidFill>
            <a:schemeClr val="bg1"/>
          </a:solid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200" b="0" i="0" u="none" strike="noStrike" kern="1200" cap="none" spc="0" normalizeH="0" baseline="0" noProof="0" dirty="0">
                <a:ln>
                  <a:noFill/>
                </a:ln>
                <a:solidFill>
                  <a:srgbClr val="FFFFFF"/>
                </a:solidFill>
                <a:effectLst/>
                <a:uLnTx/>
                <a:uFillTx/>
                <a:latin typeface="Arial"/>
                <a:ea typeface="Arial"/>
                <a:cs typeface="Arial"/>
                <a:sym typeface="Arial"/>
              </a:rPr>
              <a:t>V\</a:t>
            </a: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 name="Title 1">
            <a:extLst>
              <a:ext uri="{FF2B5EF4-FFF2-40B4-BE49-F238E27FC236}">
                <a16:creationId xmlns:a16="http://schemas.microsoft.com/office/drawing/2014/main" id="{E2A233E0-AC41-D55F-CB14-AAACDAE0490C}"/>
              </a:ext>
            </a:extLst>
          </p:cNvPr>
          <p:cNvSpPr>
            <a:spLocks noGrp="1"/>
          </p:cNvSpPr>
          <p:nvPr>
            <p:ph type="title"/>
          </p:nvPr>
        </p:nvSpPr>
        <p:spPr>
          <a:xfrm>
            <a:off x="579809" y="412751"/>
            <a:ext cx="11001004" cy="381000"/>
          </a:xfrm>
        </p:spPr>
        <p:txBody>
          <a:bodyPr/>
          <a:lstStyle/>
          <a:p>
            <a:r>
              <a:rPr lang="en-US" dirty="0"/>
              <a:t>Deployment Pathways to Suit a Variety of Use Cases</a:t>
            </a:r>
          </a:p>
        </p:txBody>
      </p:sp>
      <p:sp>
        <p:nvSpPr>
          <p:cNvPr id="3" name="Subtitle 2">
            <a:extLst>
              <a:ext uri="{FF2B5EF4-FFF2-40B4-BE49-F238E27FC236}">
                <a16:creationId xmlns:a16="http://schemas.microsoft.com/office/drawing/2014/main" id="{428C285A-E8A7-9120-9A01-7D77BDE4ED8A}"/>
              </a:ext>
            </a:extLst>
          </p:cNvPr>
          <p:cNvSpPr>
            <a:spLocks noGrp="1"/>
          </p:cNvSpPr>
          <p:nvPr>
            <p:ph type="subTitle" idx="10"/>
          </p:nvPr>
        </p:nvSpPr>
        <p:spPr>
          <a:xfrm>
            <a:off x="592866" y="811830"/>
            <a:ext cx="10962687" cy="247743"/>
          </a:xfrm>
        </p:spPr>
        <p:txBody>
          <a:bodyPr/>
          <a:lstStyle/>
          <a:p>
            <a:r>
              <a:rPr lang="en-US" dirty="0"/>
              <a:t>VCF Operations workflows for workload </a:t>
            </a:r>
            <a:r>
              <a:rPr lang="en-US"/>
              <a:t>domain deployment </a:t>
            </a:r>
            <a:endParaRPr lang="en-US" dirty="0"/>
          </a:p>
        </p:txBody>
      </p:sp>
      <p:sp>
        <p:nvSpPr>
          <p:cNvPr id="4" name="Text Placeholder 3">
            <a:extLst>
              <a:ext uri="{FF2B5EF4-FFF2-40B4-BE49-F238E27FC236}">
                <a16:creationId xmlns:a16="http://schemas.microsoft.com/office/drawing/2014/main" id="{F8D1D075-C6CB-0696-9C80-A3CB0A66A06B}"/>
              </a:ext>
            </a:extLst>
          </p:cNvPr>
          <p:cNvSpPr>
            <a:spLocks noGrp="1"/>
          </p:cNvSpPr>
          <p:nvPr>
            <p:ph type="body" sz="quarter" idx="17"/>
          </p:nvPr>
        </p:nvSpPr>
        <p:spPr>
          <a:xfrm>
            <a:off x="8380413" y="1600200"/>
            <a:ext cx="3808412" cy="4572000"/>
          </a:xfrm>
        </p:spPr>
        <p:txBody>
          <a:bodyPr/>
          <a:lstStyle/>
          <a:p>
            <a:r>
              <a:rPr lang="en-US" dirty="0">
                <a:solidFill>
                  <a:schemeClr val="tx1"/>
                </a:solidFill>
              </a:rPr>
              <a:t>VCF Operations:</a:t>
            </a:r>
          </a:p>
          <a:p>
            <a:r>
              <a:rPr lang="en-US" dirty="0"/>
              <a:t>Provides a new and integrated private cloud operations and management experience</a:t>
            </a:r>
          </a:p>
          <a:p>
            <a:r>
              <a:rPr lang="en-US" dirty="0"/>
              <a:t>Unified operations and management of compute, storage, networking, fleet management and lifecycle management</a:t>
            </a:r>
          </a:p>
          <a:p>
            <a:r>
              <a:rPr lang="en-US" dirty="0"/>
              <a:t>Inbuilt workflows to create </a:t>
            </a:r>
            <a:r>
              <a:rPr lang="en-US" b="1" dirty="0"/>
              <a:t>new</a:t>
            </a:r>
            <a:r>
              <a:rPr lang="en-US" dirty="0"/>
              <a:t> workload domains</a:t>
            </a:r>
          </a:p>
          <a:p>
            <a:r>
              <a:rPr lang="en-US" dirty="0"/>
              <a:t>External vCenter deployments can be </a:t>
            </a:r>
            <a:r>
              <a:rPr lang="en-US" b="1" dirty="0"/>
              <a:t>imported</a:t>
            </a:r>
            <a:r>
              <a:rPr lang="en-US" dirty="0"/>
              <a:t> into a VCF instance as workload domains for centralized management</a:t>
            </a:r>
          </a:p>
          <a:p>
            <a:endParaRPr lang="en-US" dirty="0"/>
          </a:p>
        </p:txBody>
      </p:sp>
      <p:grpSp>
        <p:nvGrpSpPr>
          <p:cNvPr id="214" name="Group 213">
            <a:extLst>
              <a:ext uri="{FF2B5EF4-FFF2-40B4-BE49-F238E27FC236}">
                <a16:creationId xmlns:a16="http://schemas.microsoft.com/office/drawing/2014/main" id="{09328B3E-EE08-E067-4045-31D23831B3F7}"/>
              </a:ext>
            </a:extLst>
          </p:cNvPr>
          <p:cNvGrpSpPr/>
          <p:nvPr/>
        </p:nvGrpSpPr>
        <p:grpSpPr>
          <a:xfrm>
            <a:off x="6281336" y="2236920"/>
            <a:ext cx="624821" cy="561037"/>
            <a:chOff x="6210406" y="2324844"/>
            <a:chExt cx="780559" cy="671971"/>
          </a:xfrm>
        </p:grpSpPr>
        <p:cxnSp>
          <p:nvCxnSpPr>
            <p:cNvPr id="51" name="Google Shape;2831;p31">
              <a:extLst>
                <a:ext uri="{FF2B5EF4-FFF2-40B4-BE49-F238E27FC236}">
                  <a16:creationId xmlns:a16="http://schemas.microsoft.com/office/drawing/2014/main" id="{C9B6EE99-1C08-1DB6-4518-5E91141ACE3F}"/>
                </a:ext>
              </a:extLst>
            </p:cNvPr>
            <p:cNvCxnSpPr>
              <a:cxnSpLocks/>
            </p:cNvCxnSpPr>
            <p:nvPr/>
          </p:nvCxnSpPr>
          <p:spPr>
            <a:xfrm>
              <a:off x="6210406" y="2586552"/>
              <a:ext cx="780559" cy="7813"/>
            </a:xfrm>
            <a:prstGeom prst="straightConnector1">
              <a:avLst/>
            </a:prstGeom>
            <a:noFill/>
            <a:ln w="28575" cap="flat" cmpd="sng">
              <a:solidFill>
                <a:schemeClr val="accent2"/>
              </a:solidFill>
              <a:prstDash val="sysDot"/>
              <a:miter lim="800000"/>
              <a:headEnd type="none" w="sm" len="sm"/>
              <a:tailEnd type="none" w="sm" len="sm"/>
            </a:ln>
          </p:spPr>
        </p:cxnSp>
        <p:grpSp>
          <p:nvGrpSpPr>
            <p:cNvPr id="52" name="Group 51">
              <a:extLst>
                <a:ext uri="{FF2B5EF4-FFF2-40B4-BE49-F238E27FC236}">
                  <a16:creationId xmlns:a16="http://schemas.microsoft.com/office/drawing/2014/main" id="{86894FBD-C0FE-CCDD-0B85-A82757228FA7}"/>
                </a:ext>
              </a:extLst>
            </p:cNvPr>
            <p:cNvGrpSpPr/>
            <p:nvPr/>
          </p:nvGrpSpPr>
          <p:grpSpPr>
            <a:xfrm>
              <a:off x="6379833" y="2324844"/>
              <a:ext cx="370597" cy="671971"/>
              <a:chOff x="5080329" y="2966073"/>
              <a:chExt cx="370597" cy="671971"/>
            </a:xfrm>
          </p:grpSpPr>
          <p:sp>
            <p:nvSpPr>
              <p:cNvPr id="54" name="Rectangle 53">
                <a:extLst>
                  <a:ext uri="{FF2B5EF4-FFF2-40B4-BE49-F238E27FC236}">
                    <a16:creationId xmlns:a16="http://schemas.microsoft.com/office/drawing/2014/main" id="{286C8AD0-3E09-110A-31EF-F159CC3FEC46}"/>
                  </a:ext>
                </a:extLst>
              </p:cNvPr>
              <p:cNvSpPr/>
              <p:nvPr/>
            </p:nvSpPr>
            <p:spPr bwMode="gray">
              <a:xfrm>
                <a:off x="5080329" y="2966073"/>
                <a:ext cx="370597" cy="671971"/>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57" name="Google Shape;4238;p22">
                <a:extLst>
                  <a:ext uri="{FF2B5EF4-FFF2-40B4-BE49-F238E27FC236}">
                    <a16:creationId xmlns:a16="http://schemas.microsoft.com/office/drawing/2014/main" id="{BB64B21B-5F01-B440-F5A2-A0C9DD43760B}"/>
                  </a:ext>
                </a:extLst>
              </p:cNvPr>
              <p:cNvGrpSpPr/>
              <p:nvPr/>
            </p:nvGrpSpPr>
            <p:grpSpPr>
              <a:xfrm rot="5400000">
                <a:off x="5138872" y="3048606"/>
                <a:ext cx="263417" cy="352711"/>
                <a:chOff x="6920341" y="3506884"/>
                <a:chExt cx="283382" cy="388083"/>
              </a:xfrm>
            </p:grpSpPr>
            <p:sp>
              <p:nvSpPr>
                <p:cNvPr id="58" name="Google Shape;4239;p22">
                  <a:extLst>
                    <a:ext uri="{FF2B5EF4-FFF2-40B4-BE49-F238E27FC236}">
                      <a16:creationId xmlns:a16="http://schemas.microsoft.com/office/drawing/2014/main" id="{653090AE-F32E-CB9A-1148-AB8861030E87}"/>
                    </a:ext>
                  </a:extLst>
                </p:cNvPr>
                <p:cNvSpPr/>
                <p:nvPr/>
              </p:nvSpPr>
              <p:spPr>
                <a:xfrm rot="5400000">
                  <a:off x="6980632" y="3671875"/>
                  <a:ext cx="162826" cy="283357"/>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2">
                    <a:alpha val="24705"/>
                  </a:schemeClr>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71" name="Google Shape;4240;p22">
                  <a:extLst>
                    <a:ext uri="{FF2B5EF4-FFF2-40B4-BE49-F238E27FC236}">
                      <a16:creationId xmlns:a16="http://schemas.microsoft.com/office/drawing/2014/main" id="{DDF0443A-6E63-8775-AD2E-BCCF84012DFB}"/>
                    </a:ext>
                  </a:extLst>
                </p:cNvPr>
                <p:cNvSpPr/>
                <p:nvPr/>
              </p:nvSpPr>
              <p:spPr>
                <a:xfrm rot="5400000">
                  <a:off x="6980607" y="3559245"/>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2">
                    <a:alpha val="49803"/>
                  </a:schemeClr>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72" name="Google Shape;4241;p22">
                  <a:extLst>
                    <a:ext uri="{FF2B5EF4-FFF2-40B4-BE49-F238E27FC236}">
                      <a16:creationId xmlns:a16="http://schemas.microsoft.com/office/drawing/2014/main" id="{4CDF8675-E4A7-8036-0779-2827ABE0A52A}"/>
                    </a:ext>
                  </a:extLst>
                </p:cNvPr>
                <p:cNvSpPr/>
                <p:nvPr/>
              </p:nvSpPr>
              <p:spPr>
                <a:xfrm rot="5400000">
                  <a:off x="6980621" y="3446618"/>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2"/>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grpSp>
        </p:grpSp>
      </p:grpSp>
      <p:grpSp>
        <p:nvGrpSpPr>
          <p:cNvPr id="213" name="Group 212">
            <a:extLst>
              <a:ext uri="{FF2B5EF4-FFF2-40B4-BE49-F238E27FC236}">
                <a16:creationId xmlns:a16="http://schemas.microsoft.com/office/drawing/2014/main" id="{FE859B94-62E2-EBB2-35FE-0DBF15378A1F}"/>
              </a:ext>
            </a:extLst>
          </p:cNvPr>
          <p:cNvGrpSpPr/>
          <p:nvPr/>
        </p:nvGrpSpPr>
        <p:grpSpPr>
          <a:xfrm>
            <a:off x="6771492" y="1874587"/>
            <a:ext cx="1075615" cy="1139809"/>
            <a:chOff x="6874866" y="1962055"/>
            <a:chExt cx="1075615" cy="1139809"/>
          </a:xfrm>
        </p:grpSpPr>
        <p:grpSp>
          <p:nvGrpSpPr>
            <p:cNvPr id="171" name="Group 170">
              <a:extLst>
                <a:ext uri="{FF2B5EF4-FFF2-40B4-BE49-F238E27FC236}">
                  <a16:creationId xmlns:a16="http://schemas.microsoft.com/office/drawing/2014/main" id="{00E1964C-0763-9D11-7482-BB7A4A5D9172}"/>
                </a:ext>
              </a:extLst>
            </p:cNvPr>
            <p:cNvGrpSpPr/>
            <p:nvPr/>
          </p:nvGrpSpPr>
          <p:grpSpPr>
            <a:xfrm>
              <a:off x="6990965" y="1962055"/>
              <a:ext cx="837634" cy="960401"/>
              <a:chOff x="6921469" y="2348717"/>
              <a:chExt cx="837634" cy="960401"/>
            </a:xfrm>
          </p:grpSpPr>
          <p:sp>
            <p:nvSpPr>
              <p:cNvPr id="173" name="Google Shape;6678;g2d30ebb658d_0_19789">
                <a:extLst>
                  <a:ext uri="{FF2B5EF4-FFF2-40B4-BE49-F238E27FC236}">
                    <a16:creationId xmlns:a16="http://schemas.microsoft.com/office/drawing/2014/main" id="{FAF6D3B6-E70B-E040-98FA-2041FEAFA45A}"/>
                  </a:ext>
                </a:extLst>
              </p:cNvPr>
              <p:cNvSpPr/>
              <p:nvPr/>
            </p:nvSpPr>
            <p:spPr>
              <a:xfrm>
                <a:off x="6921469" y="2348717"/>
                <a:ext cx="837634" cy="960401"/>
              </a:xfrm>
              <a:prstGeom prst="roundRect">
                <a:avLst>
                  <a:gd name="adj" fmla="val 2356"/>
                </a:avLst>
              </a:prstGeom>
              <a:solidFill>
                <a:srgbClr val="E8E8EB"/>
              </a:soli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74" name="Google Shape;6678;g2d30ebb658d_0_19789">
                <a:extLst>
                  <a:ext uri="{FF2B5EF4-FFF2-40B4-BE49-F238E27FC236}">
                    <a16:creationId xmlns:a16="http://schemas.microsoft.com/office/drawing/2014/main" id="{DA65762C-E23B-19A2-2D56-C69C90D075C1}"/>
                  </a:ext>
                </a:extLst>
              </p:cNvPr>
              <p:cNvSpPr/>
              <p:nvPr/>
            </p:nvSpPr>
            <p:spPr>
              <a:xfrm>
                <a:off x="6990776" y="3149234"/>
                <a:ext cx="701104" cy="113800"/>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 …N</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175" name="Google Shape;6678;g2d30ebb658d_0_19789">
                <a:extLst>
                  <a:ext uri="{FF2B5EF4-FFF2-40B4-BE49-F238E27FC236}">
                    <a16:creationId xmlns:a16="http://schemas.microsoft.com/office/drawing/2014/main" id="{F0D3B351-71C8-5516-D0EB-EBB7790EE381}"/>
                  </a:ext>
                </a:extLst>
              </p:cNvPr>
              <p:cNvSpPr/>
              <p:nvPr/>
            </p:nvSpPr>
            <p:spPr>
              <a:xfrm>
                <a:off x="6990776" y="2987383"/>
                <a:ext cx="701104" cy="113800"/>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 2</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176" name="Google Shape;6678;g2d30ebb658d_0_19789">
                <a:extLst>
                  <a:ext uri="{FF2B5EF4-FFF2-40B4-BE49-F238E27FC236}">
                    <a16:creationId xmlns:a16="http://schemas.microsoft.com/office/drawing/2014/main" id="{F92A0505-14B2-3DBA-9E46-3672DE2A04C9}"/>
                  </a:ext>
                </a:extLst>
              </p:cNvPr>
              <p:cNvSpPr/>
              <p:nvPr/>
            </p:nvSpPr>
            <p:spPr>
              <a:xfrm>
                <a:off x="6994489" y="2820351"/>
                <a:ext cx="701104" cy="113800"/>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 1</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177" name="TextBox 176">
                <a:extLst>
                  <a:ext uri="{FF2B5EF4-FFF2-40B4-BE49-F238E27FC236}">
                    <a16:creationId xmlns:a16="http://schemas.microsoft.com/office/drawing/2014/main" id="{BD25D168-C4CE-3693-3561-0C17A589B15F}"/>
                  </a:ext>
                </a:extLst>
              </p:cNvPr>
              <p:cNvSpPr txBox="1"/>
              <p:nvPr/>
            </p:nvSpPr>
            <p:spPr>
              <a:xfrm>
                <a:off x="6995955" y="2620050"/>
                <a:ext cx="687689" cy="10772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1B1D36"/>
                    </a:solidFill>
                    <a:effectLst/>
                    <a:uLnTx/>
                    <a:uFillTx/>
                    <a:latin typeface="Arial" panose="020B0604020202020204"/>
                    <a:ea typeface="+mn-ea"/>
                    <a:cs typeface="+mn-cs"/>
                  </a:rPr>
                  <a:t>VMware vSphere</a:t>
                </a:r>
              </a:p>
            </p:txBody>
          </p:sp>
          <p:pic>
            <p:nvPicPr>
              <p:cNvPr id="172" name="Graphic 171">
                <a:extLst>
                  <a:ext uri="{FF2B5EF4-FFF2-40B4-BE49-F238E27FC236}">
                    <a16:creationId xmlns:a16="http://schemas.microsoft.com/office/drawing/2014/main" id="{7F1B0631-D9A5-02FF-1334-6980B236504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23350" y="2410130"/>
                <a:ext cx="190500" cy="190500"/>
              </a:xfrm>
              <a:prstGeom prst="rect">
                <a:avLst/>
              </a:prstGeom>
            </p:spPr>
          </p:pic>
        </p:grpSp>
        <p:sp>
          <p:nvSpPr>
            <p:cNvPr id="183" name="TextBox 182">
              <a:extLst>
                <a:ext uri="{FF2B5EF4-FFF2-40B4-BE49-F238E27FC236}">
                  <a16:creationId xmlns:a16="http://schemas.microsoft.com/office/drawing/2014/main" id="{8937B741-8A28-C1A9-90AD-01A60B03FA4A}"/>
                </a:ext>
              </a:extLst>
            </p:cNvPr>
            <p:cNvSpPr txBox="1"/>
            <p:nvPr/>
          </p:nvSpPr>
          <p:spPr>
            <a:xfrm>
              <a:off x="6874866" y="2978753"/>
              <a:ext cx="1075615" cy="123111"/>
            </a:xfrm>
            <a:prstGeom prst="rect">
              <a:avLst/>
            </a:prstGeom>
            <a:solidFill>
              <a:schemeClr val="bg1"/>
            </a:solid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panose="020B0604020202020204"/>
                  <a:ea typeface="+mn-ea"/>
                  <a:cs typeface="+mn-cs"/>
                </a:rPr>
                <a:t>External Deployment(s)</a:t>
              </a:r>
            </a:p>
          </p:txBody>
        </p:sp>
      </p:grpSp>
      <p:sp>
        <p:nvSpPr>
          <p:cNvPr id="208" name="Google Shape;3136;p19">
            <a:extLst>
              <a:ext uri="{FF2B5EF4-FFF2-40B4-BE49-F238E27FC236}">
                <a16:creationId xmlns:a16="http://schemas.microsoft.com/office/drawing/2014/main" id="{A5401CC2-7380-3DD7-F333-2E957EC293C2}"/>
              </a:ext>
            </a:extLst>
          </p:cNvPr>
          <p:cNvSpPr txBox="1"/>
          <p:nvPr/>
        </p:nvSpPr>
        <p:spPr>
          <a:xfrm>
            <a:off x="813167" y="1822322"/>
            <a:ext cx="1013400" cy="2862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30000"/>
              </a:lnSpc>
              <a:spcBef>
                <a:spcPts val="0"/>
              </a:spcBef>
              <a:spcAft>
                <a:spcPts val="0"/>
              </a:spcAft>
              <a:buClr>
                <a:srgbClr val="000000"/>
              </a:buClr>
              <a:buSzPts val="1000"/>
              <a:buFont typeface="Arial"/>
              <a:buNone/>
              <a:tabLst/>
              <a:defRPr/>
            </a:pPr>
            <a:r>
              <a:rPr kumimoji="0" lang="en-US" sz="1000" b="1" i="0" u="none" strike="noStrike" kern="1200" cap="none" spc="0" normalizeH="0" baseline="0" noProof="0" dirty="0">
                <a:ln>
                  <a:noFill/>
                </a:ln>
                <a:solidFill>
                  <a:srgbClr val="000000"/>
                </a:solidFill>
                <a:effectLst/>
                <a:uLnTx/>
                <a:uFillTx/>
                <a:latin typeface="Arial" panose="020B0604020202020204" pitchFamily="34" charset="0"/>
                <a:ea typeface="Arial"/>
                <a:cs typeface="Arial" panose="020B0604020202020204" pitchFamily="34" charset="0"/>
                <a:sym typeface="Arial"/>
              </a:rPr>
              <a:t>VCF 9.0</a:t>
            </a:r>
            <a:endParaRPr kumimoji="0" sz="1000" b="1" i="0" u="none" strike="noStrike" kern="1200" cap="none" spc="0" normalizeH="0" baseline="0" noProof="0" dirty="0">
              <a:ln>
                <a:noFill/>
              </a:ln>
              <a:solidFill>
                <a:srgbClr val="000000"/>
              </a:solidFill>
              <a:effectLst/>
              <a:uLnTx/>
              <a:uFillTx/>
              <a:latin typeface="Arial" panose="020B0604020202020204" pitchFamily="34" charset="0"/>
              <a:ea typeface="Arial"/>
              <a:cs typeface="Arial" panose="020B0604020202020204" pitchFamily="34" charset="0"/>
              <a:sym typeface="Arial"/>
            </a:endParaRPr>
          </a:p>
        </p:txBody>
      </p:sp>
      <p:grpSp>
        <p:nvGrpSpPr>
          <p:cNvPr id="21" name="Group 20">
            <a:extLst>
              <a:ext uri="{FF2B5EF4-FFF2-40B4-BE49-F238E27FC236}">
                <a16:creationId xmlns:a16="http://schemas.microsoft.com/office/drawing/2014/main" id="{1E1ACE56-46FF-483B-736A-C6E0CEBD0FCA}"/>
              </a:ext>
            </a:extLst>
          </p:cNvPr>
          <p:cNvGrpSpPr/>
          <p:nvPr/>
        </p:nvGrpSpPr>
        <p:grpSpPr>
          <a:xfrm rot="16200000">
            <a:off x="5193422" y="3830685"/>
            <a:ext cx="493806" cy="561037"/>
            <a:chOff x="6348869" y="2324845"/>
            <a:chExt cx="676253" cy="671971"/>
          </a:xfrm>
        </p:grpSpPr>
        <p:cxnSp>
          <p:nvCxnSpPr>
            <p:cNvPr id="30" name="Google Shape;2831;p31">
              <a:extLst>
                <a:ext uri="{FF2B5EF4-FFF2-40B4-BE49-F238E27FC236}">
                  <a16:creationId xmlns:a16="http://schemas.microsoft.com/office/drawing/2014/main" id="{48F688E1-24AC-1282-EB53-667664C9098C}"/>
                </a:ext>
              </a:extLst>
            </p:cNvPr>
            <p:cNvCxnSpPr>
              <a:cxnSpLocks/>
            </p:cNvCxnSpPr>
            <p:nvPr/>
          </p:nvCxnSpPr>
          <p:spPr>
            <a:xfrm rot="5400000" flipV="1">
              <a:off x="6684905" y="2241379"/>
              <a:ext cx="4181" cy="676253"/>
            </a:xfrm>
            <a:prstGeom prst="straightConnector1">
              <a:avLst/>
            </a:prstGeom>
            <a:noFill/>
            <a:ln w="28575" cap="flat" cmpd="sng">
              <a:solidFill>
                <a:schemeClr val="accent2"/>
              </a:solidFill>
              <a:prstDash val="sysDot"/>
              <a:miter lim="800000"/>
              <a:headEnd type="none" w="sm" len="sm"/>
              <a:tailEnd type="none" w="sm" len="sm"/>
            </a:ln>
          </p:spPr>
        </p:cxnSp>
        <p:grpSp>
          <p:nvGrpSpPr>
            <p:cNvPr id="41" name="Group 40">
              <a:extLst>
                <a:ext uri="{FF2B5EF4-FFF2-40B4-BE49-F238E27FC236}">
                  <a16:creationId xmlns:a16="http://schemas.microsoft.com/office/drawing/2014/main" id="{1672F963-714F-07F6-2470-E32BB228E59A}"/>
                </a:ext>
              </a:extLst>
            </p:cNvPr>
            <p:cNvGrpSpPr/>
            <p:nvPr/>
          </p:nvGrpSpPr>
          <p:grpSpPr>
            <a:xfrm>
              <a:off x="6504109" y="2324845"/>
              <a:ext cx="358659" cy="671971"/>
              <a:chOff x="5204605" y="2966074"/>
              <a:chExt cx="358659" cy="671971"/>
            </a:xfrm>
          </p:grpSpPr>
          <p:sp>
            <p:nvSpPr>
              <p:cNvPr id="42" name="Rectangle 41">
                <a:extLst>
                  <a:ext uri="{FF2B5EF4-FFF2-40B4-BE49-F238E27FC236}">
                    <a16:creationId xmlns:a16="http://schemas.microsoft.com/office/drawing/2014/main" id="{97C3E681-53BF-2FFD-F7B2-18011534865A}"/>
                  </a:ext>
                </a:extLst>
              </p:cNvPr>
              <p:cNvSpPr/>
              <p:nvPr/>
            </p:nvSpPr>
            <p:spPr bwMode="gray">
              <a:xfrm>
                <a:off x="5206883" y="2966074"/>
                <a:ext cx="356381" cy="671971"/>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43" name="Google Shape;4238;p22">
                <a:extLst>
                  <a:ext uri="{FF2B5EF4-FFF2-40B4-BE49-F238E27FC236}">
                    <a16:creationId xmlns:a16="http://schemas.microsoft.com/office/drawing/2014/main" id="{C06CD064-3088-11CC-72F8-74B5CACF854E}"/>
                  </a:ext>
                </a:extLst>
              </p:cNvPr>
              <p:cNvGrpSpPr/>
              <p:nvPr/>
            </p:nvGrpSpPr>
            <p:grpSpPr>
              <a:xfrm rot="5400000">
                <a:off x="5247675" y="3042969"/>
                <a:ext cx="270661" cy="356801"/>
                <a:chOff x="6912551" y="3380984"/>
                <a:chExt cx="291174" cy="392589"/>
              </a:xfrm>
            </p:grpSpPr>
            <p:sp>
              <p:nvSpPr>
                <p:cNvPr id="44" name="Google Shape;4239;p22">
                  <a:extLst>
                    <a:ext uri="{FF2B5EF4-FFF2-40B4-BE49-F238E27FC236}">
                      <a16:creationId xmlns:a16="http://schemas.microsoft.com/office/drawing/2014/main" id="{26D6533A-3FC1-8B6B-D3F5-9174C2180059}"/>
                    </a:ext>
                  </a:extLst>
                </p:cNvPr>
                <p:cNvSpPr>
                  <a:spLocks noChangeAspect="1"/>
                </p:cNvSpPr>
                <p:nvPr/>
              </p:nvSpPr>
              <p:spPr>
                <a:xfrm rot="5400000">
                  <a:off x="6974471" y="3544353"/>
                  <a:ext cx="167300" cy="291140"/>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2">
                    <a:alpha val="24705"/>
                  </a:schemeClr>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45" name="Google Shape;4240;p22">
                  <a:extLst>
                    <a:ext uri="{FF2B5EF4-FFF2-40B4-BE49-F238E27FC236}">
                      <a16:creationId xmlns:a16="http://schemas.microsoft.com/office/drawing/2014/main" id="{8F53CE8F-DD14-6BC7-CF41-C5B1C7611B8C}"/>
                    </a:ext>
                  </a:extLst>
                </p:cNvPr>
                <p:cNvSpPr>
                  <a:spLocks noChangeAspect="1"/>
                </p:cNvSpPr>
                <p:nvPr/>
              </p:nvSpPr>
              <p:spPr>
                <a:xfrm rot="5400000">
                  <a:off x="6974505" y="3431722"/>
                  <a:ext cx="167300" cy="291140"/>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2">
                    <a:alpha val="49803"/>
                  </a:schemeClr>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46" name="Google Shape;4241;p22">
                  <a:extLst>
                    <a:ext uri="{FF2B5EF4-FFF2-40B4-BE49-F238E27FC236}">
                      <a16:creationId xmlns:a16="http://schemas.microsoft.com/office/drawing/2014/main" id="{DF93A445-0F95-6BBB-CBCD-0EC0B4679A0F}"/>
                    </a:ext>
                  </a:extLst>
                </p:cNvPr>
                <p:cNvSpPr>
                  <a:spLocks noChangeAspect="1"/>
                </p:cNvSpPr>
                <p:nvPr/>
              </p:nvSpPr>
              <p:spPr>
                <a:xfrm rot="5400000">
                  <a:off x="6974471" y="3319066"/>
                  <a:ext cx="167303" cy="291140"/>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2"/>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grpSp>
        </p:grpSp>
      </p:grpSp>
      <p:grpSp>
        <p:nvGrpSpPr>
          <p:cNvPr id="186" name="Group 185">
            <a:extLst>
              <a:ext uri="{FF2B5EF4-FFF2-40B4-BE49-F238E27FC236}">
                <a16:creationId xmlns:a16="http://schemas.microsoft.com/office/drawing/2014/main" id="{5BBD2C22-5DFF-35E6-8FBA-39393BFB923E}"/>
              </a:ext>
            </a:extLst>
          </p:cNvPr>
          <p:cNvGrpSpPr/>
          <p:nvPr/>
        </p:nvGrpSpPr>
        <p:grpSpPr>
          <a:xfrm>
            <a:off x="4504284" y="1870354"/>
            <a:ext cx="1769718" cy="1992085"/>
            <a:chOff x="4421988" y="2009401"/>
            <a:chExt cx="1769718" cy="1992085"/>
          </a:xfrm>
        </p:grpSpPr>
        <p:sp>
          <p:nvSpPr>
            <p:cNvPr id="22" name="Google Shape;6678;g2d30ebb658d_0_19789">
              <a:extLst>
                <a:ext uri="{FF2B5EF4-FFF2-40B4-BE49-F238E27FC236}">
                  <a16:creationId xmlns:a16="http://schemas.microsoft.com/office/drawing/2014/main" id="{A75EED52-50DA-5E33-5FB0-CDD52E30F61D}"/>
                </a:ext>
              </a:extLst>
            </p:cNvPr>
            <p:cNvSpPr/>
            <p:nvPr/>
          </p:nvSpPr>
          <p:spPr>
            <a:xfrm>
              <a:off x="4421988" y="2009401"/>
              <a:ext cx="1769718" cy="199208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3" name="Google Shape;6705;g2d30ebb658d_0_19789">
              <a:extLst>
                <a:ext uri="{FF2B5EF4-FFF2-40B4-BE49-F238E27FC236}">
                  <a16:creationId xmlns:a16="http://schemas.microsoft.com/office/drawing/2014/main" id="{01E49527-FB4F-FA7E-637B-26D11A365B10}"/>
                </a:ext>
              </a:extLst>
            </p:cNvPr>
            <p:cNvSpPr/>
            <p:nvPr/>
          </p:nvSpPr>
          <p:spPr>
            <a:xfrm>
              <a:off x="4472491" y="3444360"/>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24" name="Google Shape;6707;g2d30ebb658d_0_19789">
              <a:extLst>
                <a:ext uri="{FF2B5EF4-FFF2-40B4-BE49-F238E27FC236}">
                  <a16:creationId xmlns:a16="http://schemas.microsoft.com/office/drawing/2014/main" id="{7BD50B3B-E1EC-85B9-96B1-9628C00E019F}"/>
                </a:ext>
              </a:extLst>
            </p:cNvPr>
            <p:cNvGrpSpPr/>
            <p:nvPr/>
          </p:nvGrpSpPr>
          <p:grpSpPr>
            <a:xfrm>
              <a:off x="5721290" y="3595879"/>
              <a:ext cx="283155" cy="283154"/>
              <a:chOff x="10722212" y="2531808"/>
              <a:chExt cx="663407" cy="663407"/>
            </a:xfrm>
          </p:grpSpPr>
          <p:sp>
            <p:nvSpPr>
              <p:cNvPr id="39" name="Google Shape;6708;g2d30ebb658d_0_19789">
                <a:extLst>
                  <a:ext uri="{FF2B5EF4-FFF2-40B4-BE49-F238E27FC236}">
                    <a16:creationId xmlns:a16="http://schemas.microsoft.com/office/drawing/2014/main" id="{7022A1CE-9125-0089-47A7-1D3096256704}"/>
                  </a:ext>
                </a:extLst>
              </p:cNvPr>
              <p:cNvSpPr>
                <a:spLocks noChangeAspect="1"/>
              </p:cNvSpPr>
              <p:nvPr/>
            </p:nvSpPr>
            <p:spPr>
              <a:xfrm>
                <a:off x="10722212" y="253180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0" name="Google Shape;6709;g2d30ebb658d_0_19789">
                <a:extLst>
                  <a:ext uri="{FF2B5EF4-FFF2-40B4-BE49-F238E27FC236}">
                    <a16:creationId xmlns:a16="http://schemas.microsoft.com/office/drawing/2014/main" id="{25FD9636-A0B0-0B1E-FFE6-3885B6CCEDCF}"/>
                  </a:ext>
                </a:extLst>
              </p:cNvPr>
              <p:cNvSpPr>
                <a:spLocks noChangeAspect="1"/>
              </p:cNvSpPr>
              <p:nvPr/>
            </p:nvSpPr>
            <p:spPr>
              <a:xfrm>
                <a:off x="10836776" y="264748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5" name="Google Shape;6710;g2d30ebb658d_0_19789">
              <a:extLst>
                <a:ext uri="{FF2B5EF4-FFF2-40B4-BE49-F238E27FC236}">
                  <a16:creationId xmlns:a16="http://schemas.microsoft.com/office/drawing/2014/main" id="{C1523E8D-B154-3CF6-2383-D74001FCDEC7}"/>
                </a:ext>
              </a:extLst>
            </p:cNvPr>
            <p:cNvGrpSpPr/>
            <p:nvPr/>
          </p:nvGrpSpPr>
          <p:grpSpPr>
            <a:xfrm>
              <a:off x="4576370" y="3595760"/>
              <a:ext cx="283155" cy="283154"/>
              <a:chOff x="572541" y="5277371"/>
              <a:chExt cx="663407" cy="663407"/>
            </a:xfrm>
          </p:grpSpPr>
          <p:sp>
            <p:nvSpPr>
              <p:cNvPr id="37" name="Google Shape;6711;g2d30ebb658d_0_19789">
                <a:extLst>
                  <a:ext uri="{FF2B5EF4-FFF2-40B4-BE49-F238E27FC236}">
                    <a16:creationId xmlns:a16="http://schemas.microsoft.com/office/drawing/2014/main" id="{BB94138B-8354-238D-A144-7F14A58A297E}"/>
                  </a:ext>
                </a:extLst>
              </p:cNvPr>
              <p:cNvSpPr>
                <a:spLocks noChangeAspect="1"/>
              </p:cNvSpPr>
              <p:nvPr/>
            </p:nvSpPr>
            <p:spPr>
              <a:xfrm>
                <a:off x="572541" y="527737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38" name="Google Shape;6712;g2d30ebb658d_0_19789">
                <a:extLst>
                  <a:ext uri="{FF2B5EF4-FFF2-40B4-BE49-F238E27FC236}">
                    <a16:creationId xmlns:a16="http://schemas.microsoft.com/office/drawing/2014/main" id="{4D5DBB40-078B-425F-5C87-ED8BF20381FB}"/>
                  </a:ext>
                </a:extLst>
              </p:cNvPr>
              <p:cNvSpPr>
                <a:spLocks noChangeAspect="1"/>
              </p:cNvSpPr>
              <p:nvPr/>
            </p:nvSpPr>
            <p:spPr>
              <a:xfrm>
                <a:off x="699316" y="5428981"/>
                <a:ext cx="413205" cy="376664"/>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6" name="Google Shape;6713;g2d30ebb658d_0_19789">
              <a:extLst>
                <a:ext uri="{FF2B5EF4-FFF2-40B4-BE49-F238E27FC236}">
                  <a16:creationId xmlns:a16="http://schemas.microsoft.com/office/drawing/2014/main" id="{EF23DDAD-70BE-EBAD-EEAF-AB096F7E280E}"/>
                </a:ext>
              </a:extLst>
            </p:cNvPr>
            <p:cNvGrpSpPr/>
            <p:nvPr/>
          </p:nvGrpSpPr>
          <p:grpSpPr>
            <a:xfrm>
              <a:off x="5144738" y="3595761"/>
              <a:ext cx="283155" cy="283154"/>
              <a:chOff x="9272259" y="5277371"/>
              <a:chExt cx="663407" cy="663407"/>
            </a:xfrm>
          </p:grpSpPr>
          <p:sp>
            <p:nvSpPr>
              <p:cNvPr id="35" name="Google Shape;6714;g2d30ebb658d_0_19789">
                <a:extLst>
                  <a:ext uri="{FF2B5EF4-FFF2-40B4-BE49-F238E27FC236}">
                    <a16:creationId xmlns:a16="http://schemas.microsoft.com/office/drawing/2014/main" id="{80BBA969-24C1-DC60-8E3E-344CAABCFAB3}"/>
                  </a:ext>
                </a:extLst>
              </p:cNvPr>
              <p:cNvSpPr>
                <a:spLocks noChangeAspect="1"/>
              </p:cNvSpPr>
              <p:nvPr/>
            </p:nvSpPr>
            <p:spPr>
              <a:xfrm>
                <a:off x="9272259" y="5277371"/>
                <a:ext cx="663407" cy="663407"/>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36" name="Google Shape;6715;g2d30ebb658d_0_19789">
                <a:extLst>
                  <a:ext uri="{FF2B5EF4-FFF2-40B4-BE49-F238E27FC236}">
                    <a16:creationId xmlns:a16="http://schemas.microsoft.com/office/drawing/2014/main" id="{32B3ECD8-002C-C814-0C95-CDDDEE625687}"/>
                  </a:ext>
                </a:extLst>
              </p:cNvPr>
              <p:cNvSpPr>
                <a:spLocks noChangeAspect="1"/>
              </p:cNvSpPr>
              <p:nvPr/>
            </p:nvSpPr>
            <p:spPr>
              <a:xfrm>
                <a:off x="9436607" y="5401555"/>
                <a:ext cx="357985" cy="417084"/>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46" name="Group 145">
              <a:extLst>
                <a:ext uri="{FF2B5EF4-FFF2-40B4-BE49-F238E27FC236}">
                  <a16:creationId xmlns:a16="http://schemas.microsoft.com/office/drawing/2014/main" id="{E4775439-EDEB-A566-E865-30F52268D8D7}"/>
                </a:ext>
              </a:extLst>
            </p:cNvPr>
            <p:cNvGrpSpPr/>
            <p:nvPr/>
          </p:nvGrpSpPr>
          <p:grpSpPr>
            <a:xfrm>
              <a:off x="4507602" y="2064343"/>
              <a:ext cx="1597075" cy="198035"/>
              <a:chOff x="4507602" y="2073203"/>
              <a:chExt cx="1597075" cy="198035"/>
            </a:xfrm>
          </p:grpSpPr>
          <p:sp>
            <p:nvSpPr>
              <p:cNvPr id="27" name="Google Shape;6704;g2d30ebb658d_0_19789">
                <a:extLst>
                  <a:ext uri="{FF2B5EF4-FFF2-40B4-BE49-F238E27FC236}">
                    <a16:creationId xmlns:a16="http://schemas.microsoft.com/office/drawing/2014/main" id="{3CAF9EBC-E959-C394-D803-8CEBE796EB09}"/>
                  </a:ext>
                </a:extLst>
              </p:cNvPr>
              <p:cNvSpPr/>
              <p:nvPr/>
            </p:nvSpPr>
            <p:spPr>
              <a:xfrm>
                <a:off x="4507602" y="2073203"/>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       VMware Cloud Foundation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8" name="Google Shape;6699;p92">
                <a:extLst>
                  <a:ext uri="{FF2B5EF4-FFF2-40B4-BE49-F238E27FC236}">
                    <a16:creationId xmlns:a16="http://schemas.microsoft.com/office/drawing/2014/main" id="{D0DC9670-B180-5247-5B30-825DD7E6AB68}"/>
                  </a:ext>
                </a:extLst>
              </p:cNvPr>
              <p:cNvPicPr preferRelativeResize="0">
                <a:picLocks noChangeAspect="1"/>
              </p:cNvPicPr>
              <p:nvPr/>
            </p:nvPicPr>
            <p:blipFill rotWithShape="1">
              <a:blip r:embed="rId5">
                <a:alphaModFix/>
              </a:blip>
              <a:srcRect/>
              <a:stretch/>
            </p:blipFill>
            <p:spPr>
              <a:xfrm>
                <a:off x="4647230" y="2085898"/>
                <a:ext cx="157608" cy="173213"/>
              </a:xfrm>
              <a:prstGeom prst="rect">
                <a:avLst/>
              </a:prstGeom>
              <a:noFill/>
              <a:ln>
                <a:noFill/>
              </a:ln>
            </p:spPr>
          </p:pic>
        </p:grpSp>
        <p:sp>
          <p:nvSpPr>
            <p:cNvPr id="29" name="Google Shape;6705;g2d30ebb658d_0_19789">
              <a:extLst>
                <a:ext uri="{FF2B5EF4-FFF2-40B4-BE49-F238E27FC236}">
                  <a16:creationId xmlns:a16="http://schemas.microsoft.com/office/drawing/2014/main" id="{8F5A3B62-49E1-7393-CE02-5EE35B65F08C}"/>
                </a:ext>
              </a:extLst>
            </p:cNvPr>
            <p:cNvSpPr/>
            <p:nvPr/>
          </p:nvSpPr>
          <p:spPr>
            <a:xfrm>
              <a:off x="4476708" y="3222608"/>
              <a:ext cx="791217" cy="161072"/>
            </a:xfrm>
            <a:prstGeom prst="roundRect">
              <a:avLst>
                <a:gd name="adj" fmla="val 6349"/>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 Server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31" name="TextBox 30">
              <a:extLst>
                <a:ext uri="{FF2B5EF4-FFF2-40B4-BE49-F238E27FC236}">
                  <a16:creationId xmlns:a16="http://schemas.microsoft.com/office/drawing/2014/main" id="{06A7FC7E-6A88-DCC8-ADA6-BE607DEFC976}"/>
                </a:ext>
              </a:extLst>
            </p:cNvPr>
            <p:cNvSpPr txBox="1"/>
            <p:nvPr/>
          </p:nvSpPr>
          <p:spPr>
            <a:xfrm>
              <a:off x="4924734" y="3468050"/>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32" name="Google Shape;6705;g2d30ebb658d_0_19789">
              <a:extLst>
                <a:ext uri="{FF2B5EF4-FFF2-40B4-BE49-F238E27FC236}">
                  <a16:creationId xmlns:a16="http://schemas.microsoft.com/office/drawing/2014/main" id="{A681BEA9-5888-A097-083B-5B6116328A2B}"/>
                </a:ext>
              </a:extLst>
            </p:cNvPr>
            <p:cNvSpPr/>
            <p:nvPr/>
          </p:nvSpPr>
          <p:spPr>
            <a:xfrm>
              <a:off x="4476324" y="2514932"/>
              <a:ext cx="1662975"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33" name="Google Shape;6705;g2d30ebb658d_0_19789">
              <a:extLst>
                <a:ext uri="{FF2B5EF4-FFF2-40B4-BE49-F238E27FC236}">
                  <a16:creationId xmlns:a16="http://schemas.microsoft.com/office/drawing/2014/main" id="{69C9892F-2F20-3E6E-3789-D07FFB8668F9}"/>
                </a:ext>
              </a:extLst>
            </p:cNvPr>
            <p:cNvSpPr/>
            <p:nvPr/>
          </p:nvSpPr>
          <p:spPr>
            <a:xfrm>
              <a:off x="5322645" y="3220761"/>
              <a:ext cx="816654" cy="161072"/>
            </a:xfrm>
            <a:prstGeom prst="roundRect">
              <a:avLst>
                <a:gd name="adj" fmla="val 6349"/>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NSX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34" name="Google Shape;6705;g2d30ebb658d_0_19789">
              <a:extLst>
                <a:ext uri="{FF2B5EF4-FFF2-40B4-BE49-F238E27FC236}">
                  <a16:creationId xmlns:a16="http://schemas.microsoft.com/office/drawing/2014/main" id="{C8CE0FE3-43E3-0EFB-95E6-8D9367AEFF7D}"/>
                </a:ext>
              </a:extLst>
            </p:cNvPr>
            <p:cNvSpPr/>
            <p:nvPr/>
          </p:nvSpPr>
          <p:spPr>
            <a:xfrm>
              <a:off x="4478255" y="2320164"/>
              <a:ext cx="1661044" cy="144193"/>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43" name="Google Shape;6678;g2d30ebb658d_0_19789">
              <a:extLst>
                <a:ext uri="{FF2B5EF4-FFF2-40B4-BE49-F238E27FC236}">
                  <a16:creationId xmlns:a16="http://schemas.microsoft.com/office/drawing/2014/main" id="{32136796-90FC-F91A-2156-CCE97855A4D3}"/>
                </a:ext>
              </a:extLst>
            </p:cNvPr>
            <p:cNvSpPr/>
            <p:nvPr/>
          </p:nvSpPr>
          <p:spPr>
            <a:xfrm>
              <a:off x="4950404" y="3050628"/>
              <a:ext cx="701104" cy="114350"/>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 …N</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44" name="Google Shape;6678;g2d30ebb658d_0_19789">
              <a:extLst>
                <a:ext uri="{FF2B5EF4-FFF2-40B4-BE49-F238E27FC236}">
                  <a16:creationId xmlns:a16="http://schemas.microsoft.com/office/drawing/2014/main" id="{C68CE1B3-05C8-CE68-D54E-31E993BE4D95}"/>
                </a:ext>
              </a:extLst>
            </p:cNvPr>
            <p:cNvSpPr/>
            <p:nvPr/>
          </p:nvSpPr>
          <p:spPr>
            <a:xfrm>
              <a:off x="4950404" y="2879251"/>
              <a:ext cx="701104" cy="114350"/>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 2</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45" name="Google Shape;6678;g2d30ebb658d_0_19789">
              <a:extLst>
                <a:ext uri="{FF2B5EF4-FFF2-40B4-BE49-F238E27FC236}">
                  <a16:creationId xmlns:a16="http://schemas.microsoft.com/office/drawing/2014/main" id="{96EB5CBD-125A-EC1A-5E1B-B203DA4B2891}"/>
                </a:ext>
              </a:extLst>
            </p:cNvPr>
            <p:cNvSpPr/>
            <p:nvPr/>
          </p:nvSpPr>
          <p:spPr>
            <a:xfrm>
              <a:off x="4954117" y="2712054"/>
              <a:ext cx="701104" cy="114350"/>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 1</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grpSp>
      <p:cxnSp>
        <p:nvCxnSpPr>
          <p:cNvPr id="209" name="Google Shape;2831;p31">
            <a:extLst>
              <a:ext uri="{FF2B5EF4-FFF2-40B4-BE49-F238E27FC236}">
                <a16:creationId xmlns:a16="http://schemas.microsoft.com/office/drawing/2014/main" id="{2ADFCA00-C6CD-EBAF-1F12-1C35F84E0666}"/>
              </a:ext>
            </a:extLst>
          </p:cNvPr>
          <p:cNvCxnSpPr>
            <a:cxnSpLocks/>
          </p:cNvCxnSpPr>
          <p:nvPr/>
        </p:nvCxnSpPr>
        <p:spPr>
          <a:xfrm flipV="1">
            <a:off x="1531185" y="2460021"/>
            <a:ext cx="2960539" cy="11092"/>
          </a:xfrm>
          <a:prstGeom prst="straightConnector1">
            <a:avLst/>
          </a:prstGeom>
          <a:noFill/>
          <a:ln w="28575" cap="flat" cmpd="sng">
            <a:solidFill>
              <a:schemeClr val="accent2"/>
            </a:solidFill>
            <a:prstDash val="sysDot"/>
            <a:miter lim="800000"/>
            <a:headEnd type="none" w="sm" len="sm"/>
            <a:tailEnd type="none" w="sm" len="sm"/>
          </a:ln>
        </p:spPr>
      </p:cxnSp>
      <p:grpSp>
        <p:nvGrpSpPr>
          <p:cNvPr id="199" name="Group 198">
            <a:extLst>
              <a:ext uri="{FF2B5EF4-FFF2-40B4-BE49-F238E27FC236}">
                <a16:creationId xmlns:a16="http://schemas.microsoft.com/office/drawing/2014/main" id="{06E4572A-892A-A155-1637-150351D2BD2E}"/>
              </a:ext>
            </a:extLst>
          </p:cNvPr>
          <p:cNvGrpSpPr>
            <a:grpSpLocks noChangeAspect="1"/>
          </p:cNvGrpSpPr>
          <p:nvPr/>
        </p:nvGrpSpPr>
        <p:grpSpPr>
          <a:xfrm>
            <a:off x="789826" y="2116947"/>
            <a:ext cx="753871" cy="701907"/>
            <a:chOff x="789824" y="2137115"/>
            <a:chExt cx="838569" cy="780768"/>
          </a:xfrm>
        </p:grpSpPr>
        <p:sp>
          <p:nvSpPr>
            <p:cNvPr id="197" name="Oval 196">
              <a:extLst>
                <a:ext uri="{FF2B5EF4-FFF2-40B4-BE49-F238E27FC236}">
                  <a16:creationId xmlns:a16="http://schemas.microsoft.com/office/drawing/2014/main" id="{B128690B-D5DF-98CF-29D2-6946F7FE5F9E}"/>
                </a:ext>
              </a:extLst>
            </p:cNvPr>
            <p:cNvSpPr>
              <a:spLocks noChangeAspect="1"/>
            </p:cNvSpPr>
            <p:nvPr/>
          </p:nvSpPr>
          <p:spPr bwMode="gray">
            <a:xfrm>
              <a:off x="1335221" y="2383398"/>
              <a:ext cx="293172" cy="293172"/>
            </a:xfrm>
            <a:prstGeom prst="ellipse">
              <a:avLst/>
            </a:prstGeom>
            <a:solidFill>
              <a:srgbClr val="C2D6EC"/>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98" name="Google Shape;4239;p22">
              <a:extLst>
                <a:ext uri="{FF2B5EF4-FFF2-40B4-BE49-F238E27FC236}">
                  <a16:creationId xmlns:a16="http://schemas.microsoft.com/office/drawing/2014/main" id="{0A5687B7-DE28-F816-D4F0-A43052948AE2}"/>
                </a:ext>
              </a:extLst>
            </p:cNvPr>
            <p:cNvSpPr>
              <a:spLocks noChangeAspect="1"/>
            </p:cNvSpPr>
            <p:nvPr/>
          </p:nvSpPr>
          <p:spPr>
            <a:xfrm>
              <a:off x="1509151" y="2475529"/>
              <a:ext cx="92243" cy="118442"/>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bg1">
                <a:alpha val="84925"/>
              </a:schemeClr>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grpSp>
          <p:nvGrpSpPr>
            <p:cNvPr id="190" name="Group 189">
              <a:extLst>
                <a:ext uri="{FF2B5EF4-FFF2-40B4-BE49-F238E27FC236}">
                  <a16:creationId xmlns:a16="http://schemas.microsoft.com/office/drawing/2014/main" id="{BB7DCC83-0CAC-CEF8-8C97-C96EC0A51062}"/>
                </a:ext>
              </a:extLst>
            </p:cNvPr>
            <p:cNvGrpSpPr>
              <a:grpSpLocks noChangeAspect="1"/>
            </p:cNvGrpSpPr>
            <p:nvPr/>
          </p:nvGrpSpPr>
          <p:grpSpPr>
            <a:xfrm>
              <a:off x="789824" y="2137115"/>
              <a:ext cx="711989" cy="780768"/>
              <a:chOff x="5217804" y="2760888"/>
              <a:chExt cx="1232879" cy="1351979"/>
            </a:xfrm>
          </p:grpSpPr>
          <p:sp>
            <p:nvSpPr>
              <p:cNvPr id="191" name="Google Shape;4314;p38">
                <a:extLst>
                  <a:ext uri="{FF2B5EF4-FFF2-40B4-BE49-F238E27FC236}">
                    <a16:creationId xmlns:a16="http://schemas.microsoft.com/office/drawing/2014/main" id="{040C93AA-FDF0-B927-5164-DBF342952BA8}"/>
                  </a:ext>
                </a:extLst>
              </p:cNvPr>
              <p:cNvSpPr/>
              <p:nvPr/>
            </p:nvSpPr>
            <p:spPr>
              <a:xfrm>
                <a:off x="5217804" y="2760889"/>
                <a:ext cx="1232878" cy="1232879"/>
              </a:xfrm>
              <a:prstGeom prst="ellipse">
                <a:avLst/>
              </a:prstGeom>
              <a:solidFill>
                <a:srgbClr val="FFFFFF"/>
              </a:solidFill>
              <a:ln w="12700" cap="flat" cmpd="sng">
                <a:solidFill>
                  <a:srgbClr val="D2D9E8"/>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sp>
            <p:nvSpPr>
              <p:cNvPr id="192" name="Google Shape;4315;p38">
                <a:extLst>
                  <a:ext uri="{FF2B5EF4-FFF2-40B4-BE49-F238E27FC236}">
                    <a16:creationId xmlns:a16="http://schemas.microsoft.com/office/drawing/2014/main" id="{FE1D760C-E859-B70A-1E76-9C1BB05450C4}"/>
                  </a:ext>
                </a:extLst>
              </p:cNvPr>
              <p:cNvSpPr/>
              <p:nvPr/>
            </p:nvSpPr>
            <p:spPr>
              <a:xfrm>
                <a:off x="5554580" y="2863157"/>
                <a:ext cx="852874" cy="640094"/>
              </a:xfrm>
              <a:custGeom>
                <a:avLst/>
                <a:gdLst/>
                <a:ahLst/>
                <a:cxnLst/>
                <a:rect l="l" t="t" r="r" b="b"/>
                <a:pathLst>
                  <a:path w="692813" h="519966" extrusionOk="0">
                    <a:moveTo>
                      <a:pt x="502652" y="0"/>
                    </a:moveTo>
                    <a:lnTo>
                      <a:pt x="507154" y="2444"/>
                    </a:lnTo>
                    <a:cubicBezTo>
                      <a:pt x="587075" y="56438"/>
                      <a:pt x="650570" y="132897"/>
                      <a:pt x="688579" y="222760"/>
                    </a:cubicBezTo>
                    <a:lnTo>
                      <a:pt x="692813" y="236400"/>
                    </a:lnTo>
                    <a:lnTo>
                      <a:pt x="418690" y="519966"/>
                    </a:lnTo>
                    <a:lnTo>
                      <a:pt x="0" y="519966"/>
                    </a:lnTo>
                    <a:lnTo>
                      <a:pt x="502652" y="0"/>
                    </a:lnTo>
                    <a:close/>
                  </a:path>
                </a:pathLst>
              </a:custGeom>
              <a:gradFill>
                <a:gsLst>
                  <a:gs pos="0">
                    <a:srgbClr val="0091DA">
                      <a:alpha val="35294"/>
                    </a:srgbClr>
                  </a:gs>
                  <a:gs pos="37000">
                    <a:srgbClr val="0091DA">
                      <a:alpha val="35294"/>
                    </a:srgbClr>
                  </a:gs>
                  <a:gs pos="98000">
                    <a:srgbClr val="0091DA">
                      <a:alpha val="0"/>
                    </a:srgbClr>
                  </a:gs>
                  <a:gs pos="100000">
                    <a:srgbClr val="0091DA">
                      <a:alpha val="0"/>
                    </a:srgbClr>
                  </a:gs>
                </a:gsLst>
                <a:lin ang="1620000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sp>
            <p:nvSpPr>
              <p:cNvPr id="193" name="Google Shape;4316;p38">
                <a:extLst>
                  <a:ext uri="{FF2B5EF4-FFF2-40B4-BE49-F238E27FC236}">
                    <a16:creationId xmlns:a16="http://schemas.microsoft.com/office/drawing/2014/main" id="{7943EB69-885A-CD42-454E-9D9716B6B410}"/>
                  </a:ext>
                </a:extLst>
              </p:cNvPr>
              <p:cNvSpPr/>
              <p:nvPr/>
            </p:nvSpPr>
            <p:spPr>
              <a:xfrm>
                <a:off x="5217805" y="2760888"/>
                <a:ext cx="1232878" cy="1232879"/>
              </a:xfrm>
              <a:custGeom>
                <a:avLst/>
                <a:gdLst/>
                <a:ahLst/>
                <a:cxnLst/>
                <a:rect l="l" t="t" r="r" b="b"/>
                <a:pathLst>
                  <a:path w="1001500" h="1001502" extrusionOk="0">
                    <a:moveTo>
                      <a:pt x="500750" y="0"/>
                    </a:moveTo>
                    <a:cubicBezTo>
                      <a:pt x="569889" y="0"/>
                      <a:pt x="635756" y="14012"/>
                      <a:pt x="695665" y="39352"/>
                    </a:cubicBezTo>
                    <a:lnTo>
                      <a:pt x="776222" y="83076"/>
                    </a:lnTo>
                    <a:lnTo>
                      <a:pt x="273570" y="603042"/>
                    </a:lnTo>
                    <a:lnTo>
                      <a:pt x="692260" y="603042"/>
                    </a:lnTo>
                    <a:lnTo>
                      <a:pt x="966383" y="319476"/>
                    </a:lnTo>
                    <a:lnTo>
                      <a:pt x="991327" y="399832"/>
                    </a:lnTo>
                    <a:cubicBezTo>
                      <a:pt x="997997" y="432430"/>
                      <a:pt x="1001500" y="466182"/>
                      <a:pt x="1001500" y="500751"/>
                    </a:cubicBezTo>
                    <a:cubicBezTo>
                      <a:pt x="1001500" y="777308"/>
                      <a:pt x="777307" y="1001502"/>
                      <a:pt x="500750" y="1001502"/>
                    </a:cubicBezTo>
                    <a:cubicBezTo>
                      <a:pt x="224193" y="1001502"/>
                      <a:pt x="0" y="777308"/>
                      <a:pt x="0" y="500751"/>
                    </a:cubicBezTo>
                    <a:cubicBezTo>
                      <a:pt x="0" y="224194"/>
                      <a:pt x="224193" y="0"/>
                      <a:pt x="500750" y="0"/>
                    </a:cubicBezTo>
                    <a:close/>
                  </a:path>
                </a:pathLst>
              </a:custGeom>
              <a:gradFill>
                <a:gsLst>
                  <a:gs pos="0">
                    <a:srgbClr val="0091DA">
                      <a:alpha val="35294"/>
                    </a:srgbClr>
                  </a:gs>
                  <a:gs pos="37000">
                    <a:srgbClr val="0091DA">
                      <a:alpha val="35294"/>
                    </a:srgbClr>
                  </a:gs>
                  <a:gs pos="98000">
                    <a:srgbClr val="0091DA">
                      <a:alpha val="0"/>
                    </a:srgbClr>
                  </a:gs>
                  <a:gs pos="100000">
                    <a:srgbClr val="0091DA">
                      <a:alpha val="0"/>
                    </a:srgbClr>
                  </a:gs>
                </a:gsLst>
                <a:lin ang="16200000" scaled="0"/>
              </a:gradFill>
              <a:ln>
                <a:noFill/>
              </a:ln>
            </p:spPr>
            <p:txBody>
              <a:bodyPr spcFirstLastPara="1" wrap="square" lIns="109725" tIns="54850" rIns="109725" bIns="548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sp>
            <p:nvSpPr>
              <p:cNvPr id="194" name="Google Shape;4317;p38">
                <a:extLst>
                  <a:ext uri="{FF2B5EF4-FFF2-40B4-BE49-F238E27FC236}">
                    <a16:creationId xmlns:a16="http://schemas.microsoft.com/office/drawing/2014/main" id="{45B7486B-B64C-A971-F223-2CBD98F21298}"/>
                  </a:ext>
                </a:extLst>
              </p:cNvPr>
              <p:cNvSpPr/>
              <p:nvPr/>
            </p:nvSpPr>
            <p:spPr>
              <a:xfrm>
                <a:off x="5554578" y="2906663"/>
                <a:ext cx="878946" cy="698268"/>
              </a:xfrm>
              <a:custGeom>
                <a:avLst/>
                <a:gdLst/>
                <a:ahLst/>
                <a:cxnLst/>
                <a:rect l="l" t="t" r="r" b="b"/>
                <a:pathLst>
                  <a:path w="991617" h="787778" extrusionOk="0">
                    <a:moveTo>
                      <a:pt x="761546" y="0"/>
                    </a:moveTo>
                    <a:lnTo>
                      <a:pt x="811023" y="40822"/>
                    </a:lnTo>
                    <a:cubicBezTo>
                      <a:pt x="873949" y="103748"/>
                      <a:pt x="924873" y="178678"/>
                      <a:pt x="960065" y="261882"/>
                    </a:cubicBezTo>
                    <a:lnTo>
                      <a:pt x="991617" y="363525"/>
                    </a:lnTo>
                    <a:lnTo>
                      <a:pt x="581491" y="787778"/>
                    </a:lnTo>
                    <a:lnTo>
                      <a:pt x="0" y="787778"/>
                    </a:lnTo>
                    <a:lnTo>
                      <a:pt x="761546" y="0"/>
                    </a:lnTo>
                    <a:close/>
                  </a:path>
                </a:pathLst>
              </a:custGeom>
              <a:gradFill>
                <a:gsLst>
                  <a:gs pos="0">
                    <a:srgbClr val="4FC4FF"/>
                  </a:gs>
                  <a:gs pos="98000">
                    <a:srgbClr val="0091DA">
                      <a:alpha val="0"/>
                    </a:srgbClr>
                  </a:gs>
                  <a:gs pos="100000">
                    <a:srgbClr val="0091DA">
                      <a:alpha val="0"/>
                    </a:srgbClr>
                  </a:gs>
                </a:gsLst>
                <a:lin ang="1890000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pic>
            <p:nvPicPr>
              <p:cNvPr id="195" name="Google Shape;4318;p38">
                <a:extLst>
                  <a:ext uri="{FF2B5EF4-FFF2-40B4-BE49-F238E27FC236}">
                    <a16:creationId xmlns:a16="http://schemas.microsoft.com/office/drawing/2014/main" id="{4596F5C4-0E87-7C0E-7852-483FC4ECFA94}"/>
                  </a:ext>
                </a:extLst>
              </p:cNvPr>
              <p:cNvPicPr preferRelativeResize="0"/>
              <p:nvPr/>
            </p:nvPicPr>
            <p:blipFill rotWithShape="1">
              <a:blip r:embed="rId6">
                <a:alphaModFix/>
              </a:blip>
              <a:srcRect/>
              <a:stretch/>
            </p:blipFill>
            <p:spPr>
              <a:xfrm>
                <a:off x="5219981" y="2773287"/>
                <a:ext cx="1220885" cy="1339580"/>
              </a:xfrm>
              <a:prstGeom prst="rect">
                <a:avLst/>
              </a:prstGeom>
              <a:noFill/>
              <a:ln>
                <a:noFill/>
              </a:ln>
            </p:spPr>
          </p:pic>
        </p:grpSp>
      </p:grpSp>
      <p:grpSp>
        <p:nvGrpSpPr>
          <p:cNvPr id="7" name="Group 6">
            <a:extLst>
              <a:ext uri="{FF2B5EF4-FFF2-40B4-BE49-F238E27FC236}">
                <a16:creationId xmlns:a16="http://schemas.microsoft.com/office/drawing/2014/main" id="{EC32CEE5-8660-84CA-11D6-A451F51B8258}"/>
              </a:ext>
            </a:extLst>
          </p:cNvPr>
          <p:cNvGrpSpPr>
            <a:grpSpLocks noChangeAspect="1"/>
          </p:cNvGrpSpPr>
          <p:nvPr/>
        </p:nvGrpSpPr>
        <p:grpSpPr>
          <a:xfrm>
            <a:off x="1862831" y="2153118"/>
            <a:ext cx="2291287" cy="1894764"/>
            <a:chOff x="4125471" y="2758052"/>
            <a:chExt cx="1445520" cy="1179893"/>
          </a:xfrm>
        </p:grpSpPr>
        <p:sp>
          <p:nvSpPr>
            <p:cNvPr id="47" name="Rectangle 46">
              <a:extLst>
                <a:ext uri="{FF2B5EF4-FFF2-40B4-BE49-F238E27FC236}">
                  <a16:creationId xmlns:a16="http://schemas.microsoft.com/office/drawing/2014/main" id="{A4FA3F24-EA71-EF94-B749-D25FB37876CB}"/>
                </a:ext>
              </a:extLst>
            </p:cNvPr>
            <p:cNvSpPr/>
            <p:nvPr/>
          </p:nvSpPr>
          <p:spPr>
            <a:xfrm>
              <a:off x="5070887" y="3796830"/>
              <a:ext cx="462334" cy="101211"/>
            </a:xfrm>
            <a:prstGeom prst="rect">
              <a:avLst/>
            </a:prstGeom>
            <a:solidFill>
              <a:srgbClr val="FCFEF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Google Shape;6678;g2d30ebb658d_0_19789">
              <a:extLst>
                <a:ext uri="{FF2B5EF4-FFF2-40B4-BE49-F238E27FC236}">
                  <a16:creationId xmlns:a16="http://schemas.microsoft.com/office/drawing/2014/main" id="{0CD33DBB-C058-0AC1-A352-B5AF09743019}"/>
                </a:ext>
              </a:extLst>
            </p:cNvPr>
            <p:cNvSpPr/>
            <p:nvPr/>
          </p:nvSpPr>
          <p:spPr>
            <a:xfrm>
              <a:off x="4125471" y="2758052"/>
              <a:ext cx="1445520" cy="1179893"/>
            </a:xfrm>
            <a:prstGeom prst="roundRect">
              <a:avLst>
                <a:gd name="adj" fmla="val 2356"/>
              </a:avLst>
            </a:prstGeom>
            <a:solidFill>
              <a:schemeClr val="bg1"/>
            </a:solidFill>
            <a:ln w="12700">
              <a:solidFill>
                <a:schemeClr val="bg2">
                  <a:lumMod val="50000"/>
                </a:schemeClr>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grpSp>
        <p:nvGrpSpPr>
          <p:cNvPr id="19" name="Group 18">
            <a:extLst>
              <a:ext uri="{FF2B5EF4-FFF2-40B4-BE49-F238E27FC236}">
                <a16:creationId xmlns:a16="http://schemas.microsoft.com/office/drawing/2014/main" id="{508A5B99-1BB7-BBBD-800F-ED39018F15DB}"/>
              </a:ext>
            </a:extLst>
          </p:cNvPr>
          <p:cNvGrpSpPr>
            <a:grpSpLocks noChangeAspect="1"/>
          </p:cNvGrpSpPr>
          <p:nvPr/>
        </p:nvGrpSpPr>
        <p:grpSpPr>
          <a:xfrm>
            <a:off x="1893648" y="2193309"/>
            <a:ext cx="2230679" cy="1812913"/>
            <a:chOff x="1893636" y="2193300"/>
            <a:chExt cx="5440680" cy="4421739"/>
          </a:xfrm>
        </p:grpSpPr>
        <p:grpSp>
          <p:nvGrpSpPr>
            <p:cNvPr id="215" name="Group 214">
              <a:extLst>
                <a:ext uri="{FF2B5EF4-FFF2-40B4-BE49-F238E27FC236}">
                  <a16:creationId xmlns:a16="http://schemas.microsoft.com/office/drawing/2014/main" id="{77E7970C-8FC7-6A89-8186-54BADA837470}"/>
                </a:ext>
              </a:extLst>
            </p:cNvPr>
            <p:cNvGrpSpPr/>
            <p:nvPr/>
          </p:nvGrpSpPr>
          <p:grpSpPr>
            <a:xfrm>
              <a:off x="4491724" y="2431623"/>
              <a:ext cx="1769718" cy="1589964"/>
              <a:chOff x="4421988" y="4175451"/>
              <a:chExt cx="1769718" cy="1589964"/>
            </a:xfrm>
          </p:grpSpPr>
          <p:sp>
            <p:nvSpPr>
              <p:cNvPr id="147" name="Google Shape;6678;g2d30ebb658d_0_19789">
                <a:extLst>
                  <a:ext uri="{FF2B5EF4-FFF2-40B4-BE49-F238E27FC236}">
                    <a16:creationId xmlns:a16="http://schemas.microsoft.com/office/drawing/2014/main" id="{0834207F-EC2F-EAF5-BEC5-D1658314C3E4}"/>
                  </a:ext>
                </a:extLst>
              </p:cNvPr>
              <p:cNvSpPr/>
              <p:nvPr/>
            </p:nvSpPr>
            <p:spPr>
              <a:xfrm>
                <a:off x="4421988" y="4175451"/>
                <a:ext cx="1769718" cy="1589964"/>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48" name="Google Shape;6705;g2d30ebb658d_0_19789">
                <a:extLst>
                  <a:ext uri="{FF2B5EF4-FFF2-40B4-BE49-F238E27FC236}">
                    <a16:creationId xmlns:a16="http://schemas.microsoft.com/office/drawing/2014/main" id="{63730CEF-61F9-3865-52C8-A600C7AC695A}"/>
                  </a:ext>
                </a:extLst>
              </p:cNvPr>
              <p:cNvSpPr/>
              <p:nvPr/>
            </p:nvSpPr>
            <p:spPr>
              <a:xfrm>
                <a:off x="4472491" y="5224938"/>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49" name="Google Shape;6707;g2d30ebb658d_0_19789">
                <a:extLst>
                  <a:ext uri="{FF2B5EF4-FFF2-40B4-BE49-F238E27FC236}">
                    <a16:creationId xmlns:a16="http://schemas.microsoft.com/office/drawing/2014/main" id="{DBC7A83A-8FFE-F840-DE4B-8D81EADE7AF7}"/>
                  </a:ext>
                </a:extLst>
              </p:cNvPr>
              <p:cNvGrpSpPr/>
              <p:nvPr/>
            </p:nvGrpSpPr>
            <p:grpSpPr>
              <a:xfrm>
                <a:off x="5721290" y="5376457"/>
                <a:ext cx="283155" cy="283154"/>
                <a:chOff x="10722212" y="2476874"/>
                <a:chExt cx="663407" cy="663407"/>
              </a:xfrm>
            </p:grpSpPr>
            <p:sp>
              <p:nvSpPr>
                <p:cNvPr id="150" name="Google Shape;6708;g2d30ebb658d_0_19789">
                  <a:extLst>
                    <a:ext uri="{FF2B5EF4-FFF2-40B4-BE49-F238E27FC236}">
                      <a16:creationId xmlns:a16="http://schemas.microsoft.com/office/drawing/2014/main" id="{8598C024-0511-F1E3-CFD9-D234390D98B3}"/>
                    </a:ext>
                  </a:extLst>
                </p:cNvPr>
                <p:cNvSpPr>
                  <a:spLocks noChangeAspect="1"/>
                </p:cNvSpPr>
                <p:nvPr/>
              </p:nvSpPr>
              <p:spPr>
                <a:xfrm>
                  <a:off x="10722212" y="2476874"/>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51" name="Google Shape;6709;g2d30ebb658d_0_19789">
                  <a:extLst>
                    <a:ext uri="{FF2B5EF4-FFF2-40B4-BE49-F238E27FC236}">
                      <a16:creationId xmlns:a16="http://schemas.microsoft.com/office/drawing/2014/main" id="{D7CE164A-983A-4460-5DAD-1ABE9F43C586}"/>
                    </a:ext>
                  </a:extLst>
                </p:cNvPr>
                <p:cNvSpPr>
                  <a:spLocks noChangeAspect="1"/>
                </p:cNvSpPr>
                <p:nvPr/>
              </p:nvSpPr>
              <p:spPr>
                <a:xfrm>
                  <a:off x="10836776" y="2592549"/>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52" name="Google Shape;6710;g2d30ebb658d_0_19789">
                <a:extLst>
                  <a:ext uri="{FF2B5EF4-FFF2-40B4-BE49-F238E27FC236}">
                    <a16:creationId xmlns:a16="http://schemas.microsoft.com/office/drawing/2014/main" id="{B7FF4AE7-E9D4-8ADD-EC9C-13E7C8ACA4BC}"/>
                  </a:ext>
                </a:extLst>
              </p:cNvPr>
              <p:cNvGrpSpPr/>
              <p:nvPr/>
            </p:nvGrpSpPr>
            <p:grpSpPr>
              <a:xfrm>
                <a:off x="4576370" y="5376338"/>
                <a:ext cx="283155" cy="283154"/>
                <a:chOff x="572541" y="5222437"/>
                <a:chExt cx="663407" cy="663407"/>
              </a:xfrm>
            </p:grpSpPr>
            <p:sp>
              <p:nvSpPr>
                <p:cNvPr id="153" name="Google Shape;6711;g2d30ebb658d_0_19789">
                  <a:extLst>
                    <a:ext uri="{FF2B5EF4-FFF2-40B4-BE49-F238E27FC236}">
                      <a16:creationId xmlns:a16="http://schemas.microsoft.com/office/drawing/2014/main" id="{3881F366-C628-F0C1-0152-160514DCE710}"/>
                    </a:ext>
                  </a:extLst>
                </p:cNvPr>
                <p:cNvSpPr>
                  <a:spLocks noChangeAspect="1"/>
                </p:cNvSpPr>
                <p:nvPr/>
              </p:nvSpPr>
              <p:spPr>
                <a:xfrm>
                  <a:off x="572541" y="5222437"/>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54" name="Google Shape;6712;g2d30ebb658d_0_19789">
                  <a:extLst>
                    <a:ext uri="{FF2B5EF4-FFF2-40B4-BE49-F238E27FC236}">
                      <a16:creationId xmlns:a16="http://schemas.microsoft.com/office/drawing/2014/main" id="{ADAFBC22-9B86-8400-8CCE-4B975B59BD5D}"/>
                    </a:ext>
                  </a:extLst>
                </p:cNvPr>
                <p:cNvSpPr>
                  <a:spLocks noChangeAspect="1"/>
                </p:cNvSpPr>
                <p:nvPr/>
              </p:nvSpPr>
              <p:spPr>
                <a:xfrm>
                  <a:off x="699316" y="5374047"/>
                  <a:ext cx="413205" cy="376664"/>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55" name="Google Shape;6713;g2d30ebb658d_0_19789">
                <a:extLst>
                  <a:ext uri="{FF2B5EF4-FFF2-40B4-BE49-F238E27FC236}">
                    <a16:creationId xmlns:a16="http://schemas.microsoft.com/office/drawing/2014/main" id="{C14045F0-A6B3-CF51-418E-A4575F11B6FE}"/>
                  </a:ext>
                </a:extLst>
              </p:cNvPr>
              <p:cNvGrpSpPr/>
              <p:nvPr/>
            </p:nvGrpSpPr>
            <p:grpSpPr>
              <a:xfrm>
                <a:off x="5144738" y="5376339"/>
                <a:ext cx="283155" cy="283154"/>
                <a:chOff x="9272259" y="5222437"/>
                <a:chExt cx="663407" cy="663407"/>
              </a:xfrm>
            </p:grpSpPr>
            <p:sp>
              <p:nvSpPr>
                <p:cNvPr id="156" name="Google Shape;6714;g2d30ebb658d_0_19789">
                  <a:extLst>
                    <a:ext uri="{FF2B5EF4-FFF2-40B4-BE49-F238E27FC236}">
                      <a16:creationId xmlns:a16="http://schemas.microsoft.com/office/drawing/2014/main" id="{C405E457-1481-55C4-93F7-D428AA3A5601}"/>
                    </a:ext>
                  </a:extLst>
                </p:cNvPr>
                <p:cNvSpPr>
                  <a:spLocks noChangeAspect="1"/>
                </p:cNvSpPr>
                <p:nvPr/>
              </p:nvSpPr>
              <p:spPr>
                <a:xfrm>
                  <a:off x="9272259" y="5222437"/>
                  <a:ext cx="663407" cy="663407"/>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57" name="Google Shape;6715;g2d30ebb658d_0_19789">
                  <a:extLst>
                    <a:ext uri="{FF2B5EF4-FFF2-40B4-BE49-F238E27FC236}">
                      <a16:creationId xmlns:a16="http://schemas.microsoft.com/office/drawing/2014/main" id="{B5E76029-BE07-3352-4B48-FCDB4E1B9DFE}"/>
                    </a:ext>
                  </a:extLst>
                </p:cNvPr>
                <p:cNvSpPr>
                  <a:spLocks noChangeAspect="1"/>
                </p:cNvSpPr>
                <p:nvPr/>
              </p:nvSpPr>
              <p:spPr>
                <a:xfrm>
                  <a:off x="9436607" y="5346621"/>
                  <a:ext cx="357985" cy="417084"/>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58" name="Group 157">
                <a:extLst>
                  <a:ext uri="{FF2B5EF4-FFF2-40B4-BE49-F238E27FC236}">
                    <a16:creationId xmlns:a16="http://schemas.microsoft.com/office/drawing/2014/main" id="{06276BF7-40EA-3B4E-5539-607B74E11D1D}"/>
                  </a:ext>
                </a:extLst>
              </p:cNvPr>
              <p:cNvGrpSpPr/>
              <p:nvPr/>
            </p:nvGrpSpPr>
            <p:grpSpPr>
              <a:xfrm>
                <a:off x="4507602" y="4234126"/>
                <a:ext cx="1597075" cy="198035"/>
                <a:chOff x="4507602" y="2073203"/>
                <a:chExt cx="1597075" cy="198035"/>
              </a:xfrm>
            </p:grpSpPr>
            <p:sp>
              <p:nvSpPr>
                <p:cNvPr id="159" name="Google Shape;6704;g2d30ebb658d_0_19789">
                  <a:extLst>
                    <a:ext uri="{FF2B5EF4-FFF2-40B4-BE49-F238E27FC236}">
                      <a16:creationId xmlns:a16="http://schemas.microsoft.com/office/drawing/2014/main" id="{78E39E19-C8B4-824C-0FFD-D193E9F54E46}"/>
                    </a:ext>
                  </a:extLst>
                </p:cNvPr>
                <p:cNvSpPr/>
                <p:nvPr/>
              </p:nvSpPr>
              <p:spPr>
                <a:xfrm>
                  <a:off x="4507602" y="2073203"/>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       Workload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160" name="Google Shape;6699;p92">
                  <a:extLst>
                    <a:ext uri="{FF2B5EF4-FFF2-40B4-BE49-F238E27FC236}">
                      <a16:creationId xmlns:a16="http://schemas.microsoft.com/office/drawing/2014/main" id="{F2DE0577-4C64-E8D6-6551-1F262697B05F}"/>
                    </a:ext>
                  </a:extLst>
                </p:cNvPr>
                <p:cNvPicPr preferRelativeResize="0">
                  <a:picLocks noChangeAspect="1"/>
                </p:cNvPicPr>
                <p:nvPr/>
              </p:nvPicPr>
              <p:blipFill rotWithShape="1">
                <a:blip r:embed="rId5">
                  <a:alphaModFix/>
                </a:blip>
                <a:srcRect/>
                <a:stretch/>
              </p:blipFill>
              <p:spPr>
                <a:xfrm>
                  <a:off x="4647230" y="2085898"/>
                  <a:ext cx="157608" cy="173213"/>
                </a:xfrm>
                <a:prstGeom prst="rect">
                  <a:avLst/>
                </a:prstGeom>
                <a:noFill/>
                <a:ln>
                  <a:noFill/>
                </a:ln>
              </p:spPr>
            </p:pic>
          </p:grpSp>
          <p:sp>
            <p:nvSpPr>
              <p:cNvPr id="161" name="Google Shape;6705;g2d30ebb658d_0_19789">
                <a:extLst>
                  <a:ext uri="{FF2B5EF4-FFF2-40B4-BE49-F238E27FC236}">
                    <a16:creationId xmlns:a16="http://schemas.microsoft.com/office/drawing/2014/main" id="{EA8E2285-7AE9-5B1D-2F86-11DF72FA912D}"/>
                  </a:ext>
                </a:extLst>
              </p:cNvPr>
              <p:cNvSpPr/>
              <p:nvPr/>
            </p:nvSpPr>
            <p:spPr>
              <a:xfrm>
                <a:off x="4476708" y="5003186"/>
                <a:ext cx="791217" cy="161072"/>
              </a:xfrm>
              <a:prstGeom prst="roundRect">
                <a:avLst>
                  <a:gd name="adj" fmla="val 6349"/>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 Server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62" name="TextBox 161">
                <a:extLst>
                  <a:ext uri="{FF2B5EF4-FFF2-40B4-BE49-F238E27FC236}">
                    <a16:creationId xmlns:a16="http://schemas.microsoft.com/office/drawing/2014/main" id="{7250F445-5C81-CAA3-3F76-04B2EC9B409B}"/>
                  </a:ext>
                </a:extLst>
              </p:cNvPr>
              <p:cNvSpPr txBox="1"/>
              <p:nvPr/>
            </p:nvSpPr>
            <p:spPr>
              <a:xfrm>
                <a:off x="4924734" y="5248628"/>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64" name="Google Shape;6705;g2d30ebb658d_0_19789">
                <a:extLst>
                  <a:ext uri="{FF2B5EF4-FFF2-40B4-BE49-F238E27FC236}">
                    <a16:creationId xmlns:a16="http://schemas.microsoft.com/office/drawing/2014/main" id="{AC323AE7-BD82-1981-C50C-F72FD0B64BF2}"/>
                  </a:ext>
                </a:extLst>
              </p:cNvPr>
              <p:cNvSpPr/>
              <p:nvPr/>
            </p:nvSpPr>
            <p:spPr>
              <a:xfrm>
                <a:off x="5322645" y="5001339"/>
                <a:ext cx="816654" cy="161072"/>
              </a:xfrm>
              <a:prstGeom prst="roundRect">
                <a:avLst>
                  <a:gd name="adj" fmla="val 6349"/>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NSX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66" name="Google Shape;6678;g2d30ebb658d_0_19789">
                <a:extLst>
                  <a:ext uri="{FF2B5EF4-FFF2-40B4-BE49-F238E27FC236}">
                    <a16:creationId xmlns:a16="http://schemas.microsoft.com/office/drawing/2014/main" id="{8AA16930-888D-F244-3ECD-6A1C1079CFC2}"/>
                  </a:ext>
                </a:extLst>
              </p:cNvPr>
              <p:cNvSpPr/>
              <p:nvPr/>
            </p:nvSpPr>
            <p:spPr>
              <a:xfrm>
                <a:off x="4950404" y="4831207"/>
                <a:ext cx="701104" cy="107876"/>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 …N</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167" name="Google Shape;6678;g2d30ebb658d_0_19789">
                <a:extLst>
                  <a:ext uri="{FF2B5EF4-FFF2-40B4-BE49-F238E27FC236}">
                    <a16:creationId xmlns:a16="http://schemas.microsoft.com/office/drawing/2014/main" id="{CC46B3F5-B2F3-2937-1785-33C2AA1766F4}"/>
                  </a:ext>
                </a:extLst>
              </p:cNvPr>
              <p:cNvSpPr/>
              <p:nvPr/>
            </p:nvSpPr>
            <p:spPr>
              <a:xfrm>
                <a:off x="4950404" y="4669209"/>
                <a:ext cx="701104" cy="107876"/>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 2</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168" name="Google Shape;6678;g2d30ebb658d_0_19789">
                <a:extLst>
                  <a:ext uri="{FF2B5EF4-FFF2-40B4-BE49-F238E27FC236}">
                    <a16:creationId xmlns:a16="http://schemas.microsoft.com/office/drawing/2014/main" id="{ED2CE1D2-2CB3-2ABF-8F3E-6313E32AA7A3}"/>
                  </a:ext>
                </a:extLst>
              </p:cNvPr>
              <p:cNvSpPr/>
              <p:nvPr/>
            </p:nvSpPr>
            <p:spPr>
              <a:xfrm>
                <a:off x="4954117" y="4497323"/>
                <a:ext cx="701104" cy="107876"/>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 1</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grpSp>
          <p:nvGrpSpPr>
            <p:cNvPr id="13" name="Group 12">
              <a:extLst>
                <a:ext uri="{FF2B5EF4-FFF2-40B4-BE49-F238E27FC236}">
                  <a16:creationId xmlns:a16="http://schemas.microsoft.com/office/drawing/2014/main" id="{6F1BC95A-73E6-9287-036B-3A60BE68BB4A}"/>
                </a:ext>
              </a:extLst>
            </p:cNvPr>
            <p:cNvGrpSpPr>
              <a:grpSpLocks noChangeAspect="1"/>
            </p:cNvGrpSpPr>
            <p:nvPr/>
          </p:nvGrpSpPr>
          <p:grpSpPr>
            <a:xfrm>
              <a:off x="1893636" y="2193300"/>
              <a:ext cx="5440680" cy="4421739"/>
              <a:chOff x="6591807" y="841206"/>
              <a:chExt cx="8521977" cy="6925962"/>
            </a:xfrm>
          </p:grpSpPr>
          <p:pic>
            <p:nvPicPr>
              <p:cNvPr id="15" name="Picture 14">
                <a:extLst>
                  <a:ext uri="{FF2B5EF4-FFF2-40B4-BE49-F238E27FC236}">
                    <a16:creationId xmlns:a16="http://schemas.microsoft.com/office/drawing/2014/main" id="{A9346BF9-890E-B855-B3A6-E13A83003F17}"/>
                  </a:ext>
                </a:extLst>
              </p:cNvPr>
              <p:cNvPicPr>
                <a:picLocks noChangeAspect="1"/>
              </p:cNvPicPr>
              <p:nvPr/>
            </p:nvPicPr>
            <p:blipFill>
              <a:blip r:embed="rId7"/>
              <a:stretch>
                <a:fillRect/>
              </a:stretch>
            </p:blipFill>
            <p:spPr>
              <a:xfrm>
                <a:off x="6591810" y="1377417"/>
                <a:ext cx="744093" cy="6389751"/>
              </a:xfrm>
              <a:prstGeom prst="rect">
                <a:avLst/>
              </a:prstGeom>
            </p:spPr>
          </p:pic>
          <p:pic>
            <p:nvPicPr>
              <p:cNvPr id="16" name="Picture 15">
                <a:extLst>
                  <a:ext uri="{FF2B5EF4-FFF2-40B4-BE49-F238E27FC236}">
                    <a16:creationId xmlns:a16="http://schemas.microsoft.com/office/drawing/2014/main" id="{55E203D8-2089-A2BE-2089-5BA9082D9E3B}"/>
                  </a:ext>
                </a:extLst>
              </p:cNvPr>
              <p:cNvPicPr>
                <a:picLocks noChangeAspect="1"/>
              </p:cNvPicPr>
              <p:nvPr/>
            </p:nvPicPr>
            <p:blipFill>
              <a:blip r:embed="rId8"/>
              <a:stretch>
                <a:fillRect/>
              </a:stretch>
            </p:blipFill>
            <p:spPr>
              <a:xfrm>
                <a:off x="6591807" y="841206"/>
                <a:ext cx="5597017" cy="581026"/>
              </a:xfrm>
              <a:prstGeom prst="rect">
                <a:avLst/>
              </a:prstGeom>
            </p:spPr>
          </p:pic>
          <p:pic>
            <p:nvPicPr>
              <p:cNvPr id="17" name="Picture 16">
                <a:extLst>
                  <a:ext uri="{FF2B5EF4-FFF2-40B4-BE49-F238E27FC236}">
                    <a16:creationId xmlns:a16="http://schemas.microsoft.com/office/drawing/2014/main" id="{195872A8-D3F7-B0B9-D452-604AB789C1EE}"/>
                  </a:ext>
                </a:extLst>
              </p:cNvPr>
              <p:cNvPicPr>
                <a:picLocks noChangeAspect="1"/>
              </p:cNvPicPr>
              <p:nvPr/>
            </p:nvPicPr>
            <p:blipFill>
              <a:blip r:embed="rId9"/>
              <a:stretch>
                <a:fillRect/>
              </a:stretch>
            </p:blipFill>
            <p:spPr>
              <a:xfrm>
                <a:off x="12188825" y="852305"/>
                <a:ext cx="2924959" cy="571500"/>
              </a:xfrm>
              <a:prstGeom prst="rect">
                <a:avLst/>
              </a:prstGeom>
            </p:spPr>
          </p:pic>
          <p:pic>
            <p:nvPicPr>
              <p:cNvPr id="18" name="Picture 17">
                <a:extLst>
                  <a:ext uri="{FF2B5EF4-FFF2-40B4-BE49-F238E27FC236}">
                    <a16:creationId xmlns:a16="http://schemas.microsoft.com/office/drawing/2014/main" id="{469264B4-DF73-6C89-1036-472AF8415BF5}"/>
                  </a:ext>
                </a:extLst>
              </p:cNvPr>
              <p:cNvPicPr>
                <a:picLocks noChangeAspect="1"/>
              </p:cNvPicPr>
              <p:nvPr/>
            </p:nvPicPr>
            <p:blipFill>
              <a:blip r:embed="rId10"/>
              <a:stretch>
                <a:fillRect/>
              </a:stretch>
            </p:blipFill>
            <p:spPr>
              <a:xfrm>
                <a:off x="7335903" y="1429616"/>
                <a:ext cx="7772400" cy="6332631"/>
              </a:xfrm>
              <a:prstGeom prst="rect">
                <a:avLst/>
              </a:prstGeom>
            </p:spPr>
          </p:pic>
        </p:grpSp>
      </p:grpSp>
      <p:pic>
        <p:nvPicPr>
          <p:cNvPr id="49" name="Picture 48">
            <a:extLst>
              <a:ext uri="{FF2B5EF4-FFF2-40B4-BE49-F238E27FC236}">
                <a16:creationId xmlns:a16="http://schemas.microsoft.com/office/drawing/2014/main" id="{E2659ABC-A776-C1D7-D6CD-12D0BC5E9BF0}"/>
              </a:ext>
            </a:extLst>
          </p:cNvPr>
          <p:cNvPicPr preferRelativeResize="0">
            <a:picLocks noChangeAspect="1"/>
          </p:cNvPicPr>
          <p:nvPr/>
        </p:nvPicPr>
        <p:blipFill>
          <a:blip r:embed="rId11"/>
          <a:stretch>
            <a:fillRect/>
          </a:stretch>
        </p:blipFill>
        <p:spPr>
          <a:xfrm>
            <a:off x="1889437" y="2198525"/>
            <a:ext cx="2232744" cy="1819996"/>
          </a:xfrm>
          <a:prstGeom prst="rect">
            <a:avLst/>
          </a:prstGeom>
        </p:spPr>
      </p:pic>
      <p:grpSp>
        <p:nvGrpSpPr>
          <p:cNvPr id="50" name="Group 49">
            <a:extLst>
              <a:ext uri="{FF2B5EF4-FFF2-40B4-BE49-F238E27FC236}">
                <a16:creationId xmlns:a16="http://schemas.microsoft.com/office/drawing/2014/main" id="{C999FC9B-B1E6-E18B-E884-0C3C7001035A}"/>
              </a:ext>
            </a:extLst>
          </p:cNvPr>
          <p:cNvGrpSpPr/>
          <p:nvPr/>
        </p:nvGrpSpPr>
        <p:grpSpPr>
          <a:xfrm>
            <a:off x="4491724" y="4371257"/>
            <a:ext cx="1769718" cy="1589964"/>
            <a:chOff x="4421988" y="4175451"/>
            <a:chExt cx="1769718" cy="1589964"/>
          </a:xfrm>
        </p:grpSpPr>
        <p:sp>
          <p:nvSpPr>
            <p:cNvPr id="53" name="Google Shape;6678;g2d30ebb658d_0_19789">
              <a:extLst>
                <a:ext uri="{FF2B5EF4-FFF2-40B4-BE49-F238E27FC236}">
                  <a16:creationId xmlns:a16="http://schemas.microsoft.com/office/drawing/2014/main" id="{0061E812-00F4-EEA0-FD78-732E3E5F2DC3}"/>
                </a:ext>
              </a:extLst>
            </p:cNvPr>
            <p:cNvSpPr/>
            <p:nvPr/>
          </p:nvSpPr>
          <p:spPr>
            <a:xfrm>
              <a:off x="4421988" y="4175451"/>
              <a:ext cx="1769718" cy="1589964"/>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55" name="Google Shape;6705;g2d30ebb658d_0_19789">
              <a:extLst>
                <a:ext uri="{FF2B5EF4-FFF2-40B4-BE49-F238E27FC236}">
                  <a16:creationId xmlns:a16="http://schemas.microsoft.com/office/drawing/2014/main" id="{B3E30852-63D1-EB42-2683-D128092F712C}"/>
                </a:ext>
              </a:extLst>
            </p:cNvPr>
            <p:cNvSpPr/>
            <p:nvPr/>
          </p:nvSpPr>
          <p:spPr>
            <a:xfrm>
              <a:off x="4472491" y="5224938"/>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56" name="Google Shape;6707;g2d30ebb658d_0_19789">
              <a:extLst>
                <a:ext uri="{FF2B5EF4-FFF2-40B4-BE49-F238E27FC236}">
                  <a16:creationId xmlns:a16="http://schemas.microsoft.com/office/drawing/2014/main" id="{BA63370B-49FD-D391-BCEB-F825E1F5B659}"/>
                </a:ext>
              </a:extLst>
            </p:cNvPr>
            <p:cNvGrpSpPr/>
            <p:nvPr/>
          </p:nvGrpSpPr>
          <p:grpSpPr>
            <a:xfrm>
              <a:off x="5721290" y="5376457"/>
              <a:ext cx="283155" cy="283154"/>
              <a:chOff x="10722212" y="2476874"/>
              <a:chExt cx="663407" cy="663407"/>
            </a:xfrm>
          </p:grpSpPr>
          <p:sp>
            <p:nvSpPr>
              <p:cNvPr id="78" name="Google Shape;6708;g2d30ebb658d_0_19789">
                <a:extLst>
                  <a:ext uri="{FF2B5EF4-FFF2-40B4-BE49-F238E27FC236}">
                    <a16:creationId xmlns:a16="http://schemas.microsoft.com/office/drawing/2014/main" id="{4EA5991E-23FA-C563-7DE5-F294BDA2C341}"/>
                  </a:ext>
                </a:extLst>
              </p:cNvPr>
              <p:cNvSpPr>
                <a:spLocks noChangeAspect="1"/>
              </p:cNvSpPr>
              <p:nvPr/>
            </p:nvSpPr>
            <p:spPr>
              <a:xfrm>
                <a:off x="10722212" y="2476874"/>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9" name="Google Shape;6709;g2d30ebb658d_0_19789">
                <a:extLst>
                  <a:ext uri="{FF2B5EF4-FFF2-40B4-BE49-F238E27FC236}">
                    <a16:creationId xmlns:a16="http://schemas.microsoft.com/office/drawing/2014/main" id="{5335BD4F-13FC-E7D3-8281-79335E053BAC}"/>
                  </a:ext>
                </a:extLst>
              </p:cNvPr>
              <p:cNvSpPr>
                <a:spLocks noChangeAspect="1"/>
              </p:cNvSpPr>
              <p:nvPr/>
            </p:nvSpPr>
            <p:spPr>
              <a:xfrm>
                <a:off x="10836776" y="2592549"/>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60" name="Google Shape;6710;g2d30ebb658d_0_19789">
              <a:extLst>
                <a:ext uri="{FF2B5EF4-FFF2-40B4-BE49-F238E27FC236}">
                  <a16:creationId xmlns:a16="http://schemas.microsoft.com/office/drawing/2014/main" id="{93A4F0A2-E74B-1BEF-E996-90D0B0B83661}"/>
                </a:ext>
              </a:extLst>
            </p:cNvPr>
            <p:cNvGrpSpPr/>
            <p:nvPr/>
          </p:nvGrpSpPr>
          <p:grpSpPr>
            <a:xfrm>
              <a:off x="4576370" y="5376338"/>
              <a:ext cx="283155" cy="283154"/>
              <a:chOff x="572541" y="5222437"/>
              <a:chExt cx="663407" cy="663407"/>
            </a:xfrm>
          </p:grpSpPr>
          <p:sp>
            <p:nvSpPr>
              <p:cNvPr id="76" name="Google Shape;6711;g2d30ebb658d_0_19789">
                <a:extLst>
                  <a:ext uri="{FF2B5EF4-FFF2-40B4-BE49-F238E27FC236}">
                    <a16:creationId xmlns:a16="http://schemas.microsoft.com/office/drawing/2014/main" id="{0BD522EA-7CE4-1F5D-9AFB-7924FD481A00}"/>
                  </a:ext>
                </a:extLst>
              </p:cNvPr>
              <p:cNvSpPr>
                <a:spLocks noChangeAspect="1"/>
              </p:cNvSpPr>
              <p:nvPr/>
            </p:nvSpPr>
            <p:spPr>
              <a:xfrm>
                <a:off x="572541" y="5222437"/>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7" name="Google Shape;6712;g2d30ebb658d_0_19789">
                <a:extLst>
                  <a:ext uri="{FF2B5EF4-FFF2-40B4-BE49-F238E27FC236}">
                    <a16:creationId xmlns:a16="http://schemas.microsoft.com/office/drawing/2014/main" id="{9A52AC87-34D7-868F-4A3C-F349F4CCCA18}"/>
                  </a:ext>
                </a:extLst>
              </p:cNvPr>
              <p:cNvSpPr>
                <a:spLocks noChangeAspect="1"/>
              </p:cNvSpPr>
              <p:nvPr/>
            </p:nvSpPr>
            <p:spPr>
              <a:xfrm>
                <a:off x="699316" y="5374047"/>
                <a:ext cx="413205" cy="376664"/>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61" name="Google Shape;6713;g2d30ebb658d_0_19789">
              <a:extLst>
                <a:ext uri="{FF2B5EF4-FFF2-40B4-BE49-F238E27FC236}">
                  <a16:creationId xmlns:a16="http://schemas.microsoft.com/office/drawing/2014/main" id="{DC77DEA5-D773-853F-7547-72FE1A41230E}"/>
                </a:ext>
              </a:extLst>
            </p:cNvPr>
            <p:cNvGrpSpPr/>
            <p:nvPr/>
          </p:nvGrpSpPr>
          <p:grpSpPr>
            <a:xfrm>
              <a:off x="5144738" y="5376339"/>
              <a:ext cx="283155" cy="283154"/>
              <a:chOff x="9272259" y="5222437"/>
              <a:chExt cx="663407" cy="663407"/>
            </a:xfrm>
          </p:grpSpPr>
          <p:sp>
            <p:nvSpPr>
              <p:cNvPr id="74" name="Google Shape;6714;g2d30ebb658d_0_19789">
                <a:extLst>
                  <a:ext uri="{FF2B5EF4-FFF2-40B4-BE49-F238E27FC236}">
                    <a16:creationId xmlns:a16="http://schemas.microsoft.com/office/drawing/2014/main" id="{25EE6E75-4469-6525-9882-EDB7AA692E91}"/>
                  </a:ext>
                </a:extLst>
              </p:cNvPr>
              <p:cNvSpPr>
                <a:spLocks noChangeAspect="1"/>
              </p:cNvSpPr>
              <p:nvPr/>
            </p:nvSpPr>
            <p:spPr>
              <a:xfrm>
                <a:off x="9272259" y="5222437"/>
                <a:ext cx="663407" cy="663407"/>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5" name="Google Shape;6715;g2d30ebb658d_0_19789">
                <a:extLst>
                  <a:ext uri="{FF2B5EF4-FFF2-40B4-BE49-F238E27FC236}">
                    <a16:creationId xmlns:a16="http://schemas.microsoft.com/office/drawing/2014/main" id="{C77FEDE3-3984-6061-A6BF-C0B611C34565}"/>
                  </a:ext>
                </a:extLst>
              </p:cNvPr>
              <p:cNvSpPr>
                <a:spLocks noChangeAspect="1"/>
              </p:cNvSpPr>
              <p:nvPr/>
            </p:nvSpPr>
            <p:spPr>
              <a:xfrm>
                <a:off x="9436607" y="5346621"/>
                <a:ext cx="357985" cy="417084"/>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62" name="Group 61">
              <a:extLst>
                <a:ext uri="{FF2B5EF4-FFF2-40B4-BE49-F238E27FC236}">
                  <a16:creationId xmlns:a16="http://schemas.microsoft.com/office/drawing/2014/main" id="{91BB63C5-AF70-A399-0BC9-694C3A510AD0}"/>
                </a:ext>
              </a:extLst>
            </p:cNvPr>
            <p:cNvGrpSpPr/>
            <p:nvPr/>
          </p:nvGrpSpPr>
          <p:grpSpPr>
            <a:xfrm>
              <a:off x="4507602" y="4234126"/>
              <a:ext cx="1597075" cy="198035"/>
              <a:chOff x="4507602" y="2073203"/>
              <a:chExt cx="1597075" cy="198035"/>
            </a:xfrm>
          </p:grpSpPr>
          <p:sp>
            <p:nvSpPr>
              <p:cNvPr id="70" name="Google Shape;6704;g2d30ebb658d_0_19789">
                <a:extLst>
                  <a:ext uri="{FF2B5EF4-FFF2-40B4-BE49-F238E27FC236}">
                    <a16:creationId xmlns:a16="http://schemas.microsoft.com/office/drawing/2014/main" id="{88496A71-33F8-4CED-1C87-0ADDD0DF40F9}"/>
                  </a:ext>
                </a:extLst>
              </p:cNvPr>
              <p:cNvSpPr/>
              <p:nvPr/>
            </p:nvSpPr>
            <p:spPr>
              <a:xfrm>
                <a:off x="4507602" y="2073203"/>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       Workload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73" name="Google Shape;6699;p92">
                <a:extLst>
                  <a:ext uri="{FF2B5EF4-FFF2-40B4-BE49-F238E27FC236}">
                    <a16:creationId xmlns:a16="http://schemas.microsoft.com/office/drawing/2014/main" id="{D974CBB8-921C-E335-EEC2-9A0D56CD9414}"/>
                  </a:ext>
                </a:extLst>
              </p:cNvPr>
              <p:cNvPicPr preferRelativeResize="0">
                <a:picLocks noChangeAspect="1"/>
              </p:cNvPicPr>
              <p:nvPr/>
            </p:nvPicPr>
            <p:blipFill rotWithShape="1">
              <a:blip r:embed="rId5">
                <a:alphaModFix/>
              </a:blip>
              <a:srcRect/>
              <a:stretch/>
            </p:blipFill>
            <p:spPr>
              <a:xfrm>
                <a:off x="4647230" y="2085898"/>
                <a:ext cx="157608" cy="173213"/>
              </a:xfrm>
              <a:prstGeom prst="rect">
                <a:avLst/>
              </a:prstGeom>
              <a:noFill/>
              <a:ln>
                <a:noFill/>
              </a:ln>
            </p:spPr>
          </p:pic>
        </p:grpSp>
        <p:sp>
          <p:nvSpPr>
            <p:cNvPr id="63" name="Google Shape;6705;g2d30ebb658d_0_19789">
              <a:extLst>
                <a:ext uri="{FF2B5EF4-FFF2-40B4-BE49-F238E27FC236}">
                  <a16:creationId xmlns:a16="http://schemas.microsoft.com/office/drawing/2014/main" id="{F673F329-F50D-4062-6B43-4F2250B11E2B}"/>
                </a:ext>
              </a:extLst>
            </p:cNvPr>
            <p:cNvSpPr/>
            <p:nvPr/>
          </p:nvSpPr>
          <p:spPr>
            <a:xfrm>
              <a:off x="4476708" y="5003186"/>
              <a:ext cx="791217" cy="161072"/>
            </a:xfrm>
            <a:prstGeom prst="roundRect">
              <a:avLst>
                <a:gd name="adj" fmla="val 6349"/>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 Server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64" name="TextBox 63">
              <a:extLst>
                <a:ext uri="{FF2B5EF4-FFF2-40B4-BE49-F238E27FC236}">
                  <a16:creationId xmlns:a16="http://schemas.microsoft.com/office/drawing/2014/main" id="{C55B9759-C8C6-1978-AC80-81CA5FC68325}"/>
                </a:ext>
              </a:extLst>
            </p:cNvPr>
            <p:cNvSpPr txBox="1"/>
            <p:nvPr/>
          </p:nvSpPr>
          <p:spPr>
            <a:xfrm>
              <a:off x="4924734" y="5248628"/>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65" name="Google Shape;6705;g2d30ebb658d_0_19789">
              <a:extLst>
                <a:ext uri="{FF2B5EF4-FFF2-40B4-BE49-F238E27FC236}">
                  <a16:creationId xmlns:a16="http://schemas.microsoft.com/office/drawing/2014/main" id="{03FD0ACE-DDB3-939A-03C2-99177CEB1267}"/>
                </a:ext>
              </a:extLst>
            </p:cNvPr>
            <p:cNvSpPr/>
            <p:nvPr/>
          </p:nvSpPr>
          <p:spPr>
            <a:xfrm>
              <a:off x="5322645" y="5001339"/>
              <a:ext cx="816654" cy="161072"/>
            </a:xfrm>
            <a:prstGeom prst="roundRect">
              <a:avLst>
                <a:gd name="adj" fmla="val 6349"/>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NSX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67" name="Google Shape;6678;g2d30ebb658d_0_19789">
              <a:extLst>
                <a:ext uri="{FF2B5EF4-FFF2-40B4-BE49-F238E27FC236}">
                  <a16:creationId xmlns:a16="http://schemas.microsoft.com/office/drawing/2014/main" id="{BF8E4950-F0E2-4002-BFED-C7C7D8D9EDD3}"/>
                </a:ext>
              </a:extLst>
            </p:cNvPr>
            <p:cNvSpPr/>
            <p:nvPr/>
          </p:nvSpPr>
          <p:spPr>
            <a:xfrm>
              <a:off x="4950404" y="4831207"/>
              <a:ext cx="701104" cy="107876"/>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 …N</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68" name="Google Shape;6678;g2d30ebb658d_0_19789">
              <a:extLst>
                <a:ext uri="{FF2B5EF4-FFF2-40B4-BE49-F238E27FC236}">
                  <a16:creationId xmlns:a16="http://schemas.microsoft.com/office/drawing/2014/main" id="{5DC93C96-099F-0B21-07B3-0D3920B6F599}"/>
                </a:ext>
              </a:extLst>
            </p:cNvPr>
            <p:cNvSpPr/>
            <p:nvPr/>
          </p:nvSpPr>
          <p:spPr>
            <a:xfrm>
              <a:off x="4950404" y="4669209"/>
              <a:ext cx="701104" cy="107876"/>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 2</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69" name="Google Shape;6678;g2d30ebb658d_0_19789">
              <a:extLst>
                <a:ext uri="{FF2B5EF4-FFF2-40B4-BE49-F238E27FC236}">
                  <a16:creationId xmlns:a16="http://schemas.microsoft.com/office/drawing/2014/main" id="{6A241E7F-0755-EECF-5AE7-9C3C043F9896}"/>
                </a:ext>
              </a:extLst>
            </p:cNvPr>
            <p:cNvSpPr/>
            <p:nvPr/>
          </p:nvSpPr>
          <p:spPr>
            <a:xfrm>
              <a:off x="4954117" y="4497323"/>
              <a:ext cx="701104" cy="107876"/>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 1</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spTree>
    <p:extLst>
      <p:ext uri="{BB962C8B-B14F-4D97-AF65-F5344CB8AC3E}">
        <p14:creationId xmlns:p14="http://schemas.microsoft.com/office/powerpoint/2010/main" val="218207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49"/>
                                        </p:tgtEl>
                                      </p:cBhvr>
                                    </p:animEffect>
                                    <p:set>
                                      <p:cBhvr>
                                        <p:cTn id="7" dur="1" fill="hold">
                                          <p:stCondLst>
                                            <p:cond delay="499"/>
                                          </p:stCondLst>
                                        </p:cTn>
                                        <p:tgtEl>
                                          <p:spTgt spid="49"/>
                                        </p:tgtEl>
                                        <p:attrNameLst>
                                          <p:attrName>style.visibility</p:attrName>
                                        </p:attrNameLst>
                                      </p:cBhvr>
                                      <p:to>
                                        <p:strVal val="hidden"/>
                                      </p:to>
                                    </p:set>
                                  </p:childTnLst>
                                </p:cTn>
                              </p:par>
                              <p:par>
                                <p:cTn id="8" presetID="9" presetClass="entr" presetSubtype="0" fill="hold" nodeType="withEffect">
                                  <p:stCondLst>
                                    <p:cond delay="0"/>
                                  </p:stCondLst>
                                  <p:childTnLst>
                                    <p:set>
                                      <p:cBhvr>
                                        <p:cTn id="9" dur="1" fill="hold">
                                          <p:stCondLst>
                                            <p:cond delay="0"/>
                                          </p:stCondLst>
                                        </p:cTn>
                                        <p:tgtEl>
                                          <p:spTgt spid="209"/>
                                        </p:tgtEl>
                                        <p:attrNameLst>
                                          <p:attrName>style.visibility</p:attrName>
                                        </p:attrNameLst>
                                      </p:cBhvr>
                                      <p:to>
                                        <p:strVal val="visible"/>
                                      </p:to>
                                    </p:set>
                                    <p:animEffect transition="in" filter="dissolve">
                                      <p:cBhvr>
                                        <p:cTn id="10" dur="500"/>
                                        <p:tgtEl>
                                          <p:spTgt spid="209"/>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4">
                                            <p:txEl>
                                              <p:pRg st="4" end="4"/>
                                            </p:txEl>
                                          </p:spTgt>
                                        </p:tgtEl>
                                        <p:attrNameLst>
                                          <p:attrName>style.visibility</p:attrName>
                                        </p:attrNameLst>
                                      </p:cBhvr>
                                      <p:to>
                                        <p:strVal val="visible"/>
                                      </p:to>
                                    </p:set>
                                    <p:animEffect transition="in" filter="dissolve">
                                      <p:cBhvr>
                                        <p:cTn id="14" dur="500"/>
                                        <p:tgtEl>
                                          <p:spTgt spid="4">
                                            <p:txEl>
                                              <p:pRg st="4" end="4"/>
                                            </p:txEl>
                                          </p:spTgt>
                                        </p:tgtEl>
                                      </p:cBhvr>
                                    </p:animEffect>
                                  </p:childTnLst>
                                </p:cTn>
                              </p:par>
                            </p:childTnLst>
                          </p:cTn>
                        </p:par>
                        <p:par>
                          <p:cTn id="15" fill="hold">
                            <p:stCondLst>
                              <p:cond delay="1000"/>
                            </p:stCondLst>
                            <p:childTnLst>
                              <p:par>
                                <p:cTn id="16" presetID="9" presetClass="entr" presetSubtype="0" fill="hold" nodeType="afterEffect">
                                  <p:stCondLst>
                                    <p:cond delay="0"/>
                                  </p:stCondLst>
                                  <p:childTnLst>
                                    <p:set>
                                      <p:cBhvr>
                                        <p:cTn id="17" dur="1" fill="hold">
                                          <p:stCondLst>
                                            <p:cond delay="0"/>
                                          </p:stCondLst>
                                        </p:cTn>
                                        <p:tgtEl>
                                          <p:spTgt spid="213"/>
                                        </p:tgtEl>
                                        <p:attrNameLst>
                                          <p:attrName>style.visibility</p:attrName>
                                        </p:attrNameLst>
                                      </p:cBhvr>
                                      <p:to>
                                        <p:strVal val="visible"/>
                                      </p:to>
                                    </p:set>
                                    <p:animEffect transition="in" filter="dissolve">
                                      <p:cBhvr>
                                        <p:cTn id="18" dur="500"/>
                                        <p:tgtEl>
                                          <p:spTgt spid="213"/>
                                        </p:tgtEl>
                                      </p:cBhvr>
                                    </p:animEffect>
                                  </p:childTnLst>
                                </p:cTn>
                              </p:par>
                            </p:childTnLst>
                          </p:cTn>
                        </p:par>
                        <p:par>
                          <p:cTn id="19" fill="hold">
                            <p:stCondLst>
                              <p:cond delay="1500"/>
                            </p:stCondLst>
                            <p:childTnLst>
                              <p:par>
                                <p:cTn id="20" presetID="22" presetClass="entr" presetSubtype="2" fill="hold" nodeType="afterEffect">
                                  <p:stCondLst>
                                    <p:cond delay="0"/>
                                  </p:stCondLst>
                                  <p:childTnLst>
                                    <p:set>
                                      <p:cBhvr>
                                        <p:cTn id="21" dur="1" fill="hold">
                                          <p:stCondLst>
                                            <p:cond delay="0"/>
                                          </p:stCondLst>
                                        </p:cTn>
                                        <p:tgtEl>
                                          <p:spTgt spid="214"/>
                                        </p:tgtEl>
                                        <p:attrNameLst>
                                          <p:attrName>style.visibility</p:attrName>
                                        </p:attrNameLst>
                                      </p:cBhvr>
                                      <p:to>
                                        <p:strVal val="visible"/>
                                      </p:to>
                                    </p:set>
                                    <p:animEffect transition="in" filter="wipe(right)">
                                      <p:cBhvr>
                                        <p:cTn id="22" dur="500"/>
                                        <p:tgtEl>
                                          <p:spTgt spid="2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xit" presetSubtype="2" fill="hold" nodeType="clickEffect">
                                  <p:stCondLst>
                                    <p:cond delay="0"/>
                                  </p:stCondLst>
                                  <p:childTnLst>
                                    <p:animEffect transition="out" filter="wipe(right)">
                                      <p:cBhvr>
                                        <p:cTn id="26" dur="500"/>
                                        <p:tgtEl>
                                          <p:spTgt spid="213"/>
                                        </p:tgtEl>
                                      </p:cBhvr>
                                    </p:animEffect>
                                    <p:set>
                                      <p:cBhvr>
                                        <p:cTn id="27" dur="1" fill="hold">
                                          <p:stCondLst>
                                            <p:cond delay="499"/>
                                          </p:stCondLst>
                                        </p:cTn>
                                        <p:tgtEl>
                                          <p:spTgt spid="213"/>
                                        </p:tgtEl>
                                        <p:attrNameLst>
                                          <p:attrName>style.visibility</p:attrName>
                                        </p:attrNameLst>
                                      </p:cBhvr>
                                      <p:to>
                                        <p:strVal val="hidden"/>
                                      </p:to>
                                    </p:set>
                                  </p:childTnLst>
                                </p:cTn>
                              </p:par>
                              <p:par>
                                <p:cTn id="28" presetID="22" presetClass="exit" presetSubtype="2" fill="hold" nodeType="withEffect">
                                  <p:stCondLst>
                                    <p:cond delay="0"/>
                                  </p:stCondLst>
                                  <p:childTnLst>
                                    <p:animEffect transition="out" filter="wipe(right)">
                                      <p:cBhvr>
                                        <p:cTn id="29" dur="500"/>
                                        <p:tgtEl>
                                          <p:spTgt spid="214"/>
                                        </p:tgtEl>
                                      </p:cBhvr>
                                    </p:animEffect>
                                    <p:set>
                                      <p:cBhvr>
                                        <p:cTn id="30" dur="1" fill="hold">
                                          <p:stCondLst>
                                            <p:cond delay="499"/>
                                          </p:stCondLst>
                                        </p:cTn>
                                        <p:tgtEl>
                                          <p:spTgt spid="214"/>
                                        </p:tgtEl>
                                        <p:attrNameLst>
                                          <p:attrName>style.visibility</p:attrName>
                                        </p:attrNameLst>
                                      </p:cBhvr>
                                      <p:to>
                                        <p:strVal val="hidden"/>
                                      </p:to>
                                    </p:set>
                                  </p:childTnLst>
                                </p:cTn>
                              </p:par>
                            </p:childTnLst>
                          </p:cTn>
                        </p:par>
                        <p:par>
                          <p:cTn id="31" fill="hold">
                            <p:stCondLst>
                              <p:cond delay="500"/>
                            </p:stCondLst>
                            <p:childTnLst>
                              <p:par>
                                <p:cTn id="32" presetID="22" presetClass="entr" presetSubtype="1" fill="hold" nodeType="after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up)">
                                      <p:cBhvr>
                                        <p:cTn id="34" dur="500"/>
                                        <p:tgtEl>
                                          <p:spTgt spid="21"/>
                                        </p:tgtEl>
                                      </p:cBhvr>
                                    </p:animEffect>
                                  </p:childTnLst>
                                </p:cTn>
                              </p:par>
                              <p:par>
                                <p:cTn id="35" presetID="22" presetClass="entr" presetSubtype="1" fill="hold" nodeType="withEffect">
                                  <p:stCondLst>
                                    <p:cond delay="0"/>
                                  </p:stCondLst>
                                  <p:childTnLst>
                                    <p:set>
                                      <p:cBhvr>
                                        <p:cTn id="36" dur="1" fill="hold">
                                          <p:stCondLst>
                                            <p:cond delay="0"/>
                                          </p:stCondLst>
                                        </p:cTn>
                                        <p:tgtEl>
                                          <p:spTgt spid="50"/>
                                        </p:tgtEl>
                                        <p:attrNameLst>
                                          <p:attrName>style.visibility</p:attrName>
                                        </p:attrNameLst>
                                      </p:cBhvr>
                                      <p:to>
                                        <p:strVal val="visible"/>
                                      </p:to>
                                    </p:set>
                                    <p:animEffect transition="in" filter="wipe(up)">
                                      <p:cBhvr>
                                        <p:cTn id="3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oogle Shape;1525;p8">
            <a:extLst>
              <a:ext uri="{FF2B5EF4-FFF2-40B4-BE49-F238E27FC236}">
                <a16:creationId xmlns:a16="http://schemas.microsoft.com/office/drawing/2014/main" id="{ECFD6B90-B8F0-9FBB-A4B0-142F9F40942F}"/>
              </a:ext>
            </a:extLst>
          </p:cNvPr>
          <p:cNvGrpSpPr>
            <a:grpSpLocks noChangeAspect="1"/>
          </p:cNvGrpSpPr>
          <p:nvPr/>
        </p:nvGrpSpPr>
        <p:grpSpPr>
          <a:xfrm>
            <a:off x="6067123" y="1684175"/>
            <a:ext cx="5488429" cy="4488026"/>
            <a:chOff x="1654607" y="1739286"/>
            <a:chExt cx="5343747" cy="4369716"/>
          </a:xfrm>
        </p:grpSpPr>
        <p:sp>
          <p:nvSpPr>
            <p:cNvPr id="19" name="Google Shape;1527;p8">
              <a:extLst>
                <a:ext uri="{FF2B5EF4-FFF2-40B4-BE49-F238E27FC236}">
                  <a16:creationId xmlns:a16="http://schemas.microsoft.com/office/drawing/2014/main" id="{1A458138-19D2-893C-6D41-2A929457586D}"/>
                </a:ext>
              </a:extLst>
            </p:cNvPr>
            <p:cNvSpPr/>
            <p:nvPr/>
          </p:nvSpPr>
          <p:spPr>
            <a:xfrm>
              <a:off x="1654607" y="1739286"/>
              <a:ext cx="5343747" cy="4369716"/>
            </a:xfrm>
            <a:prstGeom prst="roundRect">
              <a:avLst>
                <a:gd name="adj" fmla="val 1498"/>
              </a:avLst>
            </a:prstGeom>
            <a:solidFill>
              <a:schemeClr val="lt1"/>
            </a:solid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2" name="Google Shape;1530;p8">
              <a:extLst>
                <a:ext uri="{FF2B5EF4-FFF2-40B4-BE49-F238E27FC236}">
                  <a16:creationId xmlns:a16="http://schemas.microsoft.com/office/drawing/2014/main" id="{8D3A8072-6BC1-DF99-1BF3-0AE79CCC7958}"/>
                </a:ext>
              </a:extLst>
            </p:cNvPr>
            <p:cNvSpPr/>
            <p:nvPr/>
          </p:nvSpPr>
          <p:spPr>
            <a:xfrm>
              <a:off x="5227800" y="5415762"/>
              <a:ext cx="1209642" cy="316199"/>
            </a:xfrm>
            <a:prstGeom prst="rect">
              <a:avLst/>
            </a:prstGeom>
            <a:solidFill>
              <a:srgbClr val="FCFEFE"/>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sp>
        <p:nvSpPr>
          <p:cNvPr id="2" name="Title 1">
            <a:extLst>
              <a:ext uri="{FF2B5EF4-FFF2-40B4-BE49-F238E27FC236}">
                <a16:creationId xmlns:a16="http://schemas.microsoft.com/office/drawing/2014/main" id="{DD2A3088-3510-FBC8-DA5C-EF86CC6986EC}"/>
              </a:ext>
            </a:extLst>
          </p:cNvPr>
          <p:cNvSpPr>
            <a:spLocks noGrp="1"/>
          </p:cNvSpPr>
          <p:nvPr>
            <p:ph type="title"/>
          </p:nvPr>
        </p:nvSpPr>
        <p:spPr/>
        <p:txBody>
          <a:bodyPr/>
          <a:lstStyle/>
          <a:p>
            <a:r>
              <a:rPr lang="en-US"/>
              <a:t>Centralize Management of External vCenter Deployments</a:t>
            </a:r>
            <a:endParaRPr lang="en-US" dirty="0"/>
          </a:p>
        </p:txBody>
      </p:sp>
      <p:sp>
        <p:nvSpPr>
          <p:cNvPr id="3" name="Subtitle 2">
            <a:extLst>
              <a:ext uri="{FF2B5EF4-FFF2-40B4-BE49-F238E27FC236}">
                <a16:creationId xmlns:a16="http://schemas.microsoft.com/office/drawing/2014/main" id="{735F275E-9122-EEC9-F977-A1A512013802}"/>
              </a:ext>
            </a:extLst>
          </p:cNvPr>
          <p:cNvSpPr>
            <a:spLocks noGrp="1"/>
          </p:cNvSpPr>
          <p:nvPr>
            <p:ph type="subTitle" idx="10"/>
          </p:nvPr>
        </p:nvSpPr>
        <p:spPr/>
        <p:txBody>
          <a:bodyPr/>
          <a:lstStyle/>
          <a:p>
            <a:r>
              <a:rPr lang="en-US"/>
              <a:t>Importing an existing vCenter deployment into VCF with VCF Operations</a:t>
            </a:r>
          </a:p>
          <a:p>
            <a:endParaRPr lang="en-US" dirty="0"/>
          </a:p>
        </p:txBody>
      </p:sp>
      <p:sp>
        <p:nvSpPr>
          <p:cNvPr id="5" name="Content Placeholder 4">
            <a:extLst>
              <a:ext uri="{FF2B5EF4-FFF2-40B4-BE49-F238E27FC236}">
                <a16:creationId xmlns:a16="http://schemas.microsoft.com/office/drawing/2014/main" id="{F28948DF-6ED4-36D0-C4EC-7AD2064BD047}"/>
              </a:ext>
            </a:extLst>
          </p:cNvPr>
          <p:cNvSpPr>
            <a:spLocks noGrp="1"/>
          </p:cNvSpPr>
          <p:nvPr>
            <p:ph sz="quarter" idx="17"/>
          </p:nvPr>
        </p:nvSpPr>
        <p:spPr/>
        <p:txBody>
          <a:bodyPr/>
          <a:lstStyle/>
          <a:p>
            <a:pPr marL="285750" marR="0" lvl="0" indent="-285750" algn="l" rtl="0">
              <a:lnSpc>
                <a:spcPct val="100000"/>
              </a:lnSpc>
              <a:spcBef>
                <a:spcPts val="1200"/>
              </a:spcBef>
              <a:spcAft>
                <a:spcPts val="0"/>
              </a:spcAft>
              <a:buClr>
                <a:srgbClr val="666666"/>
              </a:buClr>
              <a:buSzPts val="1440"/>
              <a:buFont typeface="Arial"/>
              <a:buChar char="•"/>
            </a:pPr>
            <a:r>
              <a:rPr lang="en-US" sz="1700" b="1" dirty="0">
                <a:solidFill>
                  <a:schemeClr val="accent2"/>
                </a:solidFill>
                <a:ea typeface="Arial"/>
                <a:cs typeface="Arial"/>
                <a:sym typeface="Arial"/>
              </a:rPr>
              <a:t>Import</a:t>
            </a:r>
            <a:r>
              <a:rPr lang="en-US" sz="1700" dirty="0">
                <a:solidFill>
                  <a:schemeClr val="accent2"/>
                </a:solidFill>
                <a:ea typeface="Arial"/>
                <a:cs typeface="Arial"/>
                <a:sym typeface="Arial"/>
              </a:rPr>
              <a:t> externally managed vCenter environments into VCF using VCF Operations</a:t>
            </a:r>
          </a:p>
          <a:p>
            <a:pPr marL="285750" marR="0" lvl="0" indent="-285750" algn="l" rtl="0">
              <a:lnSpc>
                <a:spcPct val="100000"/>
              </a:lnSpc>
              <a:spcBef>
                <a:spcPts val="1200"/>
              </a:spcBef>
              <a:spcAft>
                <a:spcPts val="0"/>
              </a:spcAft>
              <a:buClr>
                <a:srgbClr val="666666"/>
              </a:buClr>
              <a:buSzPts val="1440"/>
              <a:buFont typeface="Arial"/>
              <a:buChar char="•"/>
            </a:pPr>
            <a:r>
              <a:rPr lang="en-US" sz="1700" dirty="0">
                <a:solidFill>
                  <a:schemeClr val="accent2"/>
                </a:solidFill>
                <a:ea typeface="Arial"/>
                <a:cs typeface="Arial" panose="020B0604020202020204" pitchFamily="34" charset="0"/>
                <a:sym typeface="Arial"/>
              </a:rPr>
              <a:t>Eases private cloud adoption by centralizing management and operations which can reduce costs across disparate environments</a:t>
            </a:r>
          </a:p>
          <a:p>
            <a:pPr marL="285750" marR="0" lvl="0" indent="-285750" algn="l" rtl="0">
              <a:lnSpc>
                <a:spcPct val="100000"/>
              </a:lnSpc>
              <a:spcBef>
                <a:spcPts val="1200"/>
              </a:spcBef>
              <a:spcAft>
                <a:spcPts val="0"/>
              </a:spcAft>
              <a:buClr>
                <a:srgbClr val="666666"/>
              </a:buClr>
              <a:buSzPts val="1440"/>
              <a:buFont typeface="Arial"/>
              <a:buChar char="•"/>
            </a:pPr>
            <a:r>
              <a:rPr lang="en-US" sz="1700" dirty="0">
                <a:solidFill>
                  <a:schemeClr val="accent2"/>
                </a:solidFill>
                <a:ea typeface="Arial"/>
                <a:cs typeface="Arial"/>
                <a:sym typeface="Arial"/>
              </a:rPr>
              <a:t>Inbuilt workflows negate the need for workload migrations</a:t>
            </a:r>
          </a:p>
          <a:p>
            <a:pPr marL="285750" indent="-285750">
              <a:spcBef>
                <a:spcPts val="1200"/>
              </a:spcBef>
              <a:spcAft>
                <a:spcPts val="0"/>
              </a:spcAft>
              <a:buClr>
                <a:srgbClr val="666666"/>
              </a:buClr>
              <a:buSzPts val="1440"/>
              <a:buFont typeface="Arial"/>
              <a:buChar char="•"/>
            </a:pPr>
            <a:r>
              <a:rPr lang="en-US" sz="1700" b="1" dirty="0">
                <a:solidFill>
                  <a:schemeClr val="accent2"/>
                </a:solidFill>
                <a:cs typeface="Arial"/>
                <a:sym typeface="Arial"/>
              </a:rPr>
              <a:t>Combinations of vSphere, vSAN and NSX </a:t>
            </a:r>
            <a:r>
              <a:rPr lang="en-US" sz="1700" dirty="0">
                <a:solidFill>
                  <a:schemeClr val="accent2"/>
                </a:solidFill>
                <a:cs typeface="Arial"/>
                <a:sym typeface="Arial"/>
              </a:rPr>
              <a:t>can be imported</a:t>
            </a:r>
          </a:p>
          <a:p>
            <a:pPr marL="285750" indent="-285750">
              <a:spcBef>
                <a:spcPts val="1200"/>
              </a:spcBef>
              <a:spcAft>
                <a:spcPts val="0"/>
              </a:spcAft>
              <a:buClr>
                <a:srgbClr val="666666"/>
              </a:buClr>
              <a:buSzPts val="1440"/>
              <a:buFont typeface="Arial"/>
              <a:buChar char="•"/>
            </a:pPr>
            <a:r>
              <a:rPr lang="en-US" sz="1700" b="0" dirty="0">
                <a:solidFill>
                  <a:schemeClr val="accent2"/>
                </a:solidFill>
                <a:ea typeface="Arial"/>
                <a:cs typeface="Arial"/>
                <a:sym typeface="Arial"/>
              </a:rPr>
              <a:t>NSX is deployed as part of the process if it is not already present.</a:t>
            </a:r>
            <a:endParaRPr lang="en-US" sz="1700" dirty="0"/>
          </a:p>
        </p:txBody>
      </p:sp>
      <p:grpSp>
        <p:nvGrpSpPr>
          <p:cNvPr id="13" name="Group 12">
            <a:extLst>
              <a:ext uri="{FF2B5EF4-FFF2-40B4-BE49-F238E27FC236}">
                <a16:creationId xmlns:a16="http://schemas.microsoft.com/office/drawing/2014/main" id="{75ABAD64-91E1-BB3F-FCBD-AF2D05BEA3E2}"/>
              </a:ext>
            </a:extLst>
          </p:cNvPr>
          <p:cNvGrpSpPr>
            <a:grpSpLocks noChangeAspect="1"/>
          </p:cNvGrpSpPr>
          <p:nvPr/>
        </p:nvGrpSpPr>
        <p:grpSpPr>
          <a:xfrm>
            <a:off x="6094411" y="1718043"/>
            <a:ext cx="5440680" cy="4421739"/>
            <a:chOff x="6591807" y="841206"/>
            <a:chExt cx="8521977" cy="6925962"/>
          </a:xfrm>
        </p:grpSpPr>
        <p:pic>
          <p:nvPicPr>
            <p:cNvPr id="14" name="Picture 13">
              <a:extLst>
                <a:ext uri="{FF2B5EF4-FFF2-40B4-BE49-F238E27FC236}">
                  <a16:creationId xmlns:a16="http://schemas.microsoft.com/office/drawing/2014/main" id="{61EA7ED5-842A-908F-68E7-C72C95850AE3}"/>
                </a:ext>
              </a:extLst>
            </p:cNvPr>
            <p:cNvPicPr>
              <a:picLocks noChangeAspect="1"/>
            </p:cNvPicPr>
            <p:nvPr/>
          </p:nvPicPr>
          <p:blipFill>
            <a:blip r:embed="rId3"/>
            <a:stretch>
              <a:fillRect/>
            </a:stretch>
          </p:blipFill>
          <p:spPr>
            <a:xfrm>
              <a:off x="6591810" y="1377417"/>
              <a:ext cx="744093" cy="6389751"/>
            </a:xfrm>
            <a:prstGeom prst="rect">
              <a:avLst/>
            </a:prstGeom>
          </p:spPr>
        </p:pic>
        <p:pic>
          <p:nvPicPr>
            <p:cNvPr id="15" name="Picture 14">
              <a:extLst>
                <a:ext uri="{FF2B5EF4-FFF2-40B4-BE49-F238E27FC236}">
                  <a16:creationId xmlns:a16="http://schemas.microsoft.com/office/drawing/2014/main" id="{2DFD9003-226F-50A1-DF5D-5B61405D4FF7}"/>
                </a:ext>
              </a:extLst>
            </p:cNvPr>
            <p:cNvPicPr>
              <a:picLocks noChangeAspect="1"/>
            </p:cNvPicPr>
            <p:nvPr/>
          </p:nvPicPr>
          <p:blipFill>
            <a:blip r:embed="rId4"/>
            <a:stretch>
              <a:fillRect/>
            </a:stretch>
          </p:blipFill>
          <p:spPr>
            <a:xfrm>
              <a:off x="6591807" y="841206"/>
              <a:ext cx="5597017" cy="581026"/>
            </a:xfrm>
            <a:prstGeom prst="rect">
              <a:avLst/>
            </a:prstGeom>
          </p:spPr>
        </p:pic>
        <p:pic>
          <p:nvPicPr>
            <p:cNvPr id="16" name="Picture 15">
              <a:extLst>
                <a:ext uri="{FF2B5EF4-FFF2-40B4-BE49-F238E27FC236}">
                  <a16:creationId xmlns:a16="http://schemas.microsoft.com/office/drawing/2014/main" id="{1EDF4C08-F735-575A-654D-196AA8E6092F}"/>
                </a:ext>
              </a:extLst>
            </p:cNvPr>
            <p:cNvPicPr>
              <a:picLocks noChangeAspect="1"/>
            </p:cNvPicPr>
            <p:nvPr/>
          </p:nvPicPr>
          <p:blipFill>
            <a:blip r:embed="rId5"/>
            <a:stretch>
              <a:fillRect/>
            </a:stretch>
          </p:blipFill>
          <p:spPr>
            <a:xfrm>
              <a:off x="12188825" y="852305"/>
              <a:ext cx="2924959" cy="571500"/>
            </a:xfrm>
            <a:prstGeom prst="rect">
              <a:avLst/>
            </a:prstGeom>
          </p:spPr>
        </p:pic>
        <p:pic>
          <p:nvPicPr>
            <p:cNvPr id="17" name="Picture 16">
              <a:extLst>
                <a:ext uri="{FF2B5EF4-FFF2-40B4-BE49-F238E27FC236}">
                  <a16:creationId xmlns:a16="http://schemas.microsoft.com/office/drawing/2014/main" id="{C782CD66-B445-BF1C-9ADB-BF23B5073615}"/>
                </a:ext>
              </a:extLst>
            </p:cNvPr>
            <p:cNvPicPr>
              <a:picLocks noChangeAspect="1"/>
            </p:cNvPicPr>
            <p:nvPr/>
          </p:nvPicPr>
          <p:blipFill>
            <a:blip r:embed="rId6"/>
            <a:stretch>
              <a:fillRect/>
            </a:stretch>
          </p:blipFill>
          <p:spPr>
            <a:xfrm>
              <a:off x="7335903" y="1429617"/>
              <a:ext cx="7772400" cy="6332632"/>
            </a:xfrm>
            <a:prstGeom prst="rect">
              <a:avLst/>
            </a:prstGeom>
          </p:spPr>
        </p:pic>
      </p:grpSp>
      <p:sp>
        <p:nvSpPr>
          <p:cNvPr id="23" name="Rectangle 22">
            <a:extLst>
              <a:ext uri="{FF2B5EF4-FFF2-40B4-BE49-F238E27FC236}">
                <a16:creationId xmlns:a16="http://schemas.microsoft.com/office/drawing/2014/main" id="{967EEB5E-6664-B432-35B9-72BCC4E7C014}"/>
              </a:ext>
            </a:extLst>
          </p:cNvPr>
          <p:cNvSpPr/>
          <p:nvPr/>
        </p:nvSpPr>
        <p:spPr bwMode="gray">
          <a:xfrm>
            <a:off x="8149213" y="2637692"/>
            <a:ext cx="1215851" cy="200967"/>
          </a:xfrm>
          <a:prstGeom prst="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Import a vCenter</a:t>
            </a:r>
          </a:p>
        </p:txBody>
      </p:sp>
      <p:sp>
        <p:nvSpPr>
          <p:cNvPr id="24" name="Rounded Rectangle 23">
            <a:extLst>
              <a:ext uri="{FF2B5EF4-FFF2-40B4-BE49-F238E27FC236}">
                <a16:creationId xmlns:a16="http://schemas.microsoft.com/office/drawing/2014/main" id="{9B26E46D-97CD-86DD-15E9-A985497E8C11}"/>
              </a:ext>
            </a:extLst>
          </p:cNvPr>
          <p:cNvSpPr/>
          <p:nvPr/>
        </p:nvSpPr>
        <p:spPr bwMode="gray">
          <a:xfrm>
            <a:off x="8114044" y="2597500"/>
            <a:ext cx="1286189" cy="276330"/>
          </a:xfrm>
          <a:prstGeom prst="roundRect">
            <a:avLst/>
          </a:prstGeom>
          <a:noFill/>
          <a:ln w="25400">
            <a:solidFill>
              <a:srgbClr val="E68C28"/>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602582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92FAC-E6AF-0BC2-9758-9F11CC851F88}"/>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EC16159F-EC9E-FF4D-E4C8-598F41FB4A86}"/>
              </a:ext>
            </a:extLst>
          </p:cNvPr>
          <p:cNvSpPr/>
          <p:nvPr/>
        </p:nvSpPr>
        <p:spPr bwMode="gray">
          <a:xfrm>
            <a:off x="6479" y="1611780"/>
            <a:ext cx="8133399" cy="4572000"/>
          </a:xfrm>
          <a:prstGeom prst="roundRect">
            <a:avLst>
              <a:gd name="adj" fmla="val 0"/>
            </a:avLst>
          </a:prstGeom>
          <a:solidFill>
            <a:srgbClr val="F4F8FA"/>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451FB859-0921-1305-695E-DF7EBE78C0F4}"/>
              </a:ext>
            </a:extLst>
          </p:cNvPr>
          <p:cNvSpPr>
            <a:spLocks noGrp="1"/>
          </p:cNvSpPr>
          <p:nvPr>
            <p:ph type="title"/>
          </p:nvPr>
        </p:nvSpPr>
        <p:spPr/>
        <p:txBody>
          <a:bodyPr/>
          <a:lstStyle/>
          <a:p>
            <a:r>
              <a:rPr lang="en-US" dirty="0"/>
              <a:t>Supported Configurations for VCF Import</a:t>
            </a:r>
          </a:p>
        </p:txBody>
      </p:sp>
      <p:sp>
        <p:nvSpPr>
          <p:cNvPr id="3" name="Subtitle 2">
            <a:extLst>
              <a:ext uri="{FF2B5EF4-FFF2-40B4-BE49-F238E27FC236}">
                <a16:creationId xmlns:a16="http://schemas.microsoft.com/office/drawing/2014/main" id="{47556BFA-DD3E-C153-B31C-3A837F2005ED}"/>
              </a:ext>
            </a:extLst>
          </p:cNvPr>
          <p:cNvSpPr>
            <a:spLocks noGrp="1"/>
          </p:cNvSpPr>
          <p:nvPr>
            <p:ph type="subTitle" idx="10"/>
          </p:nvPr>
        </p:nvSpPr>
        <p:spPr/>
        <p:txBody>
          <a:bodyPr/>
          <a:lstStyle/>
          <a:p>
            <a:r>
              <a:rPr lang="en-US" dirty="0"/>
              <a:t>Import existing vCenter deployments into VCF using VCF Operations</a:t>
            </a:r>
          </a:p>
          <a:p>
            <a:endParaRPr lang="en-US" dirty="0"/>
          </a:p>
        </p:txBody>
      </p:sp>
      <p:sp>
        <p:nvSpPr>
          <p:cNvPr id="4" name="Text Placeholder 3">
            <a:extLst>
              <a:ext uri="{FF2B5EF4-FFF2-40B4-BE49-F238E27FC236}">
                <a16:creationId xmlns:a16="http://schemas.microsoft.com/office/drawing/2014/main" id="{2D9D1404-1F87-93E6-CFE7-3FB5B42684DE}"/>
              </a:ext>
            </a:extLst>
          </p:cNvPr>
          <p:cNvSpPr>
            <a:spLocks noGrp="1"/>
          </p:cNvSpPr>
          <p:nvPr>
            <p:ph type="body" sz="quarter" idx="17"/>
          </p:nvPr>
        </p:nvSpPr>
        <p:spPr/>
        <p:txBody>
          <a:bodyPr/>
          <a:lstStyle/>
          <a:p>
            <a:r>
              <a:rPr lang="en-US" dirty="0"/>
              <a:t>Imports</a:t>
            </a:r>
          </a:p>
        </p:txBody>
      </p:sp>
      <p:sp>
        <p:nvSpPr>
          <p:cNvPr id="6" name="Google Shape;3807;p31">
            <a:extLst>
              <a:ext uri="{FF2B5EF4-FFF2-40B4-BE49-F238E27FC236}">
                <a16:creationId xmlns:a16="http://schemas.microsoft.com/office/drawing/2014/main" id="{42035E54-221F-AF39-89B2-0F807626BD31}"/>
              </a:ext>
            </a:extLst>
          </p:cNvPr>
          <p:cNvSpPr/>
          <p:nvPr/>
        </p:nvSpPr>
        <p:spPr>
          <a:xfrm>
            <a:off x="676792" y="1738748"/>
            <a:ext cx="3580297" cy="4329545"/>
          </a:xfrm>
          <a:prstGeom prst="roundRect">
            <a:avLst>
              <a:gd name="adj" fmla="val 2790"/>
            </a:avLst>
          </a:prstGeom>
          <a:solidFill>
            <a:schemeClr val="bg1"/>
          </a:solid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200" b="0" i="0" u="none" strike="noStrike" kern="1200" cap="none" spc="0" normalizeH="0" baseline="0" noProof="0" dirty="0">
                <a:ln>
                  <a:noFill/>
                </a:ln>
                <a:solidFill>
                  <a:srgbClr val="FFFFFF"/>
                </a:solidFill>
                <a:effectLst/>
                <a:uLnTx/>
                <a:uFillTx/>
                <a:latin typeface="Arial"/>
                <a:ea typeface="Arial"/>
                <a:cs typeface="Arial"/>
                <a:sym typeface="Arial"/>
              </a:rPr>
              <a:t>V\</a:t>
            </a: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8" name="Google Shape;3807;p31">
            <a:extLst>
              <a:ext uri="{FF2B5EF4-FFF2-40B4-BE49-F238E27FC236}">
                <a16:creationId xmlns:a16="http://schemas.microsoft.com/office/drawing/2014/main" id="{94A32574-397B-1C9D-6A5F-705838A0D72E}"/>
              </a:ext>
            </a:extLst>
          </p:cNvPr>
          <p:cNvSpPr/>
          <p:nvPr/>
        </p:nvSpPr>
        <p:spPr>
          <a:xfrm>
            <a:off x="4406860" y="1738748"/>
            <a:ext cx="3580297" cy="4329545"/>
          </a:xfrm>
          <a:prstGeom prst="roundRect">
            <a:avLst>
              <a:gd name="adj" fmla="val 2790"/>
            </a:avLst>
          </a:prstGeom>
          <a:solidFill>
            <a:schemeClr val="bg1"/>
          </a:solid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200" b="0" i="0" u="none" strike="noStrike" kern="1200" cap="none" spc="0" normalizeH="0" baseline="0" noProof="0" dirty="0">
                <a:ln>
                  <a:noFill/>
                </a:ln>
                <a:solidFill>
                  <a:srgbClr val="FFFFFF"/>
                </a:solidFill>
                <a:effectLst/>
                <a:uLnTx/>
                <a:uFillTx/>
                <a:latin typeface="Arial"/>
                <a:ea typeface="Arial"/>
                <a:cs typeface="Arial"/>
                <a:sym typeface="Arial"/>
              </a:rPr>
              <a:t>V\</a:t>
            </a: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0" name="TextBox 9">
            <a:extLst>
              <a:ext uri="{FF2B5EF4-FFF2-40B4-BE49-F238E27FC236}">
                <a16:creationId xmlns:a16="http://schemas.microsoft.com/office/drawing/2014/main" id="{9A5C3CC2-1FF6-B2CA-151D-98D59AEB777B}"/>
              </a:ext>
            </a:extLst>
          </p:cNvPr>
          <p:cNvSpPr txBox="1"/>
          <p:nvPr/>
        </p:nvSpPr>
        <p:spPr>
          <a:xfrm>
            <a:off x="845127" y="1839502"/>
            <a:ext cx="577081" cy="215444"/>
          </a:xfrm>
          <a:prstGeom prst="rect">
            <a:avLst/>
          </a:prstGeom>
          <a:noFill/>
        </p:spPr>
        <p:txBody>
          <a:bodyPr wrap="none" lIns="0" tIns="0" rIns="0" bIns="0" rtlCol="0">
            <a:spAutoFit/>
          </a:bodyPr>
          <a:lstStyle/>
          <a:p>
            <a:pPr algn="l"/>
            <a:r>
              <a:rPr lang="en-US" sz="1400" dirty="0">
                <a:solidFill>
                  <a:schemeClr val="tx2"/>
                </a:solidFill>
              </a:rPr>
              <a:t>Before:</a:t>
            </a:r>
          </a:p>
        </p:txBody>
      </p:sp>
      <p:sp>
        <p:nvSpPr>
          <p:cNvPr id="11" name="TextBox 10">
            <a:extLst>
              <a:ext uri="{FF2B5EF4-FFF2-40B4-BE49-F238E27FC236}">
                <a16:creationId xmlns:a16="http://schemas.microsoft.com/office/drawing/2014/main" id="{A3BC1DFC-D897-3A34-8FDD-1B12D296AE6C}"/>
              </a:ext>
            </a:extLst>
          </p:cNvPr>
          <p:cNvSpPr txBox="1"/>
          <p:nvPr/>
        </p:nvSpPr>
        <p:spPr>
          <a:xfrm>
            <a:off x="4555505" y="1839502"/>
            <a:ext cx="1393010" cy="215444"/>
          </a:xfrm>
          <a:prstGeom prst="rect">
            <a:avLst/>
          </a:prstGeom>
          <a:noFill/>
        </p:spPr>
        <p:txBody>
          <a:bodyPr wrap="none" lIns="0" tIns="0" rIns="0" bIns="0" rtlCol="0">
            <a:spAutoFit/>
          </a:bodyPr>
          <a:lstStyle/>
          <a:p>
            <a:pPr algn="l"/>
            <a:r>
              <a:rPr lang="en-US" sz="1400" dirty="0">
                <a:solidFill>
                  <a:schemeClr val="tx2"/>
                </a:solidFill>
              </a:rPr>
              <a:t>After VCF Import:</a:t>
            </a:r>
          </a:p>
        </p:txBody>
      </p:sp>
      <p:sp>
        <p:nvSpPr>
          <p:cNvPr id="12" name="TextBox 11">
            <a:extLst>
              <a:ext uri="{FF2B5EF4-FFF2-40B4-BE49-F238E27FC236}">
                <a16:creationId xmlns:a16="http://schemas.microsoft.com/office/drawing/2014/main" id="{A92B4C88-0A9A-5D2D-0108-742638EE0EC2}"/>
              </a:ext>
            </a:extLst>
          </p:cNvPr>
          <p:cNvSpPr txBox="1"/>
          <p:nvPr/>
        </p:nvSpPr>
        <p:spPr>
          <a:xfrm>
            <a:off x="1135646" y="4996229"/>
            <a:ext cx="2662588" cy="923330"/>
          </a:xfrm>
          <a:prstGeom prst="rect">
            <a:avLst/>
          </a:prstGeom>
          <a:noFill/>
        </p:spPr>
        <p:txBody>
          <a:bodyPr wrap="none" lIns="0" tIns="0" rIns="0" bIns="0" rtlCol="0">
            <a:spAutoFit/>
          </a:bodyPr>
          <a:lstStyle/>
          <a:p>
            <a:pPr marL="171450" indent="-171450" algn="l">
              <a:buFont typeface="Arial" panose="020B0604020202020204" pitchFamily="34" charset="0"/>
              <a:buChar char="•"/>
            </a:pPr>
            <a:r>
              <a:rPr lang="en-US" sz="1200" dirty="0">
                <a:solidFill>
                  <a:schemeClr val="tx2"/>
                </a:solidFill>
              </a:rPr>
              <a:t>Multiple disparate infrastructure silos</a:t>
            </a:r>
          </a:p>
          <a:p>
            <a:pPr marL="171450" indent="-171450" algn="l">
              <a:buFont typeface="Arial" panose="020B0604020202020204" pitchFamily="34" charset="0"/>
              <a:buChar char="•"/>
            </a:pPr>
            <a:endParaRPr lang="en-US" sz="1200" dirty="0">
              <a:solidFill>
                <a:schemeClr val="tx2"/>
              </a:solidFill>
            </a:endParaRPr>
          </a:p>
          <a:p>
            <a:pPr marL="171450" indent="-171450" algn="l">
              <a:buFont typeface="Arial" panose="020B0604020202020204" pitchFamily="34" charset="0"/>
              <a:buChar char="•"/>
            </a:pPr>
            <a:r>
              <a:rPr lang="en-US" sz="1200" dirty="0">
                <a:solidFill>
                  <a:schemeClr val="tx2"/>
                </a:solidFill>
              </a:rPr>
              <a:t>Complex to manage</a:t>
            </a:r>
          </a:p>
          <a:p>
            <a:pPr marL="171450" indent="-171450" algn="l">
              <a:buFont typeface="Arial" panose="020B0604020202020204" pitchFamily="34" charset="0"/>
              <a:buChar char="•"/>
            </a:pPr>
            <a:endParaRPr lang="en-US" sz="1200" dirty="0">
              <a:solidFill>
                <a:schemeClr val="tx2"/>
              </a:solidFill>
            </a:endParaRPr>
          </a:p>
          <a:p>
            <a:pPr marL="171450" indent="-171450" algn="l">
              <a:buFont typeface="Arial" panose="020B0604020202020204" pitchFamily="34" charset="0"/>
              <a:buChar char="•"/>
            </a:pPr>
            <a:r>
              <a:rPr lang="en-US" sz="1200" dirty="0">
                <a:solidFill>
                  <a:schemeClr val="tx2"/>
                </a:solidFill>
              </a:rPr>
              <a:t>Expensive to maintain</a:t>
            </a:r>
          </a:p>
        </p:txBody>
      </p:sp>
      <p:sp>
        <p:nvSpPr>
          <p:cNvPr id="13" name="TextBox 12">
            <a:extLst>
              <a:ext uri="{FF2B5EF4-FFF2-40B4-BE49-F238E27FC236}">
                <a16:creationId xmlns:a16="http://schemas.microsoft.com/office/drawing/2014/main" id="{650A3305-E810-5DA2-6F8B-9FBB0E869968}"/>
              </a:ext>
            </a:extLst>
          </p:cNvPr>
          <p:cNvSpPr txBox="1"/>
          <p:nvPr/>
        </p:nvSpPr>
        <p:spPr>
          <a:xfrm>
            <a:off x="4727052" y="4996229"/>
            <a:ext cx="3064942" cy="923330"/>
          </a:xfrm>
          <a:prstGeom prst="rect">
            <a:avLst/>
          </a:prstGeom>
          <a:noFill/>
        </p:spPr>
        <p:txBody>
          <a:bodyPr wrap="none" lIns="0" tIns="0" rIns="0" bIns="0" rtlCol="0">
            <a:spAutoFit/>
          </a:bodyPr>
          <a:lstStyle/>
          <a:p>
            <a:pPr marL="171450" indent="-171450" algn="l">
              <a:buFont typeface="Arial" panose="020B0604020202020204" pitchFamily="34" charset="0"/>
              <a:buChar char="•"/>
            </a:pPr>
            <a:r>
              <a:rPr lang="en-US" sz="1200" dirty="0">
                <a:solidFill>
                  <a:schemeClr val="tx2"/>
                </a:solidFill>
              </a:rPr>
              <a:t>Standardized with Centralized operations</a:t>
            </a:r>
          </a:p>
          <a:p>
            <a:pPr marL="171450" indent="-171450" algn="l">
              <a:buFont typeface="Arial" panose="020B0604020202020204" pitchFamily="34" charset="0"/>
              <a:buChar char="•"/>
            </a:pPr>
            <a:endParaRPr lang="en-US" sz="1200" dirty="0">
              <a:solidFill>
                <a:schemeClr val="tx2"/>
              </a:solidFill>
            </a:endParaRPr>
          </a:p>
          <a:p>
            <a:pPr marL="171450" indent="-171450" algn="l">
              <a:buFont typeface="Arial" panose="020B0604020202020204" pitchFamily="34" charset="0"/>
              <a:buChar char="•"/>
            </a:pPr>
            <a:r>
              <a:rPr lang="en-US" sz="1200" dirty="0">
                <a:solidFill>
                  <a:schemeClr val="tx2"/>
                </a:solidFill>
              </a:rPr>
              <a:t>Easier to manage, lifecycle and scale</a:t>
            </a:r>
          </a:p>
          <a:p>
            <a:pPr marL="171450" indent="-171450" algn="l">
              <a:buFont typeface="Arial" panose="020B0604020202020204" pitchFamily="34" charset="0"/>
              <a:buChar char="•"/>
            </a:pPr>
            <a:endParaRPr lang="en-US" sz="1200" dirty="0">
              <a:solidFill>
                <a:schemeClr val="tx2"/>
              </a:solidFill>
            </a:endParaRPr>
          </a:p>
          <a:p>
            <a:pPr marL="171450" indent="-171450" algn="l">
              <a:buFont typeface="Arial" panose="020B0604020202020204" pitchFamily="34" charset="0"/>
              <a:buChar char="•"/>
            </a:pPr>
            <a:r>
              <a:rPr lang="en-US" sz="1200" dirty="0">
                <a:solidFill>
                  <a:schemeClr val="tx2"/>
                </a:solidFill>
              </a:rPr>
              <a:t>Manage with less resources reduces costs</a:t>
            </a:r>
          </a:p>
        </p:txBody>
      </p:sp>
      <p:sp>
        <p:nvSpPr>
          <p:cNvPr id="15" name="Google Shape;6678;g2d30ebb658d_0_19789">
            <a:extLst>
              <a:ext uri="{FF2B5EF4-FFF2-40B4-BE49-F238E27FC236}">
                <a16:creationId xmlns:a16="http://schemas.microsoft.com/office/drawing/2014/main" id="{D28CACB5-0196-C987-5ED1-4A81709C3A9C}"/>
              </a:ext>
            </a:extLst>
          </p:cNvPr>
          <p:cNvSpPr/>
          <p:nvPr/>
        </p:nvSpPr>
        <p:spPr>
          <a:xfrm>
            <a:off x="5581701" y="2232137"/>
            <a:ext cx="1255899" cy="1202073"/>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6" name="Google Shape;6705;g2d30ebb658d_0_19789">
            <a:extLst>
              <a:ext uri="{FF2B5EF4-FFF2-40B4-BE49-F238E27FC236}">
                <a16:creationId xmlns:a16="http://schemas.microsoft.com/office/drawing/2014/main" id="{8E6934B4-3673-5A23-D47B-FA7B2C03C6DF}"/>
              </a:ext>
            </a:extLst>
          </p:cNvPr>
          <p:cNvSpPr/>
          <p:nvPr/>
        </p:nvSpPr>
        <p:spPr>
          <a:xfrm>
            <a:off x="5617541" y="3017899"/>
            <a:ext cx="1178778" cy="357399"/>
          </a:xfrm>
          <a:prstGeom prst="roundRect">
            <a:avLst>
              <a:gd name="adj" fmla="val 6349"/>
            </a:avLst>
          </a:prstGeom>
          <a:gradFill>
            <a:gsLst>
              <a:gs pos="0">
                <a:schemeClr val="accent2"/>
              </a:gs>
              <a:gs pos="99000">
                <a:schemeClr val="accent5"/>
              </a:gs>
              <a:gs pos="100000">
                <a:schemeClr val="accent5"/>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rgbClr val="FFFFFF"/>
              </a:solidFill>
              <a:latin typeface="Arial"/>
              <a:ea typeface="Arial"/>
              <a:cs typeface="Arial"/>
              <a:sym typeface="Arial"/>
            </a:endParaRPr>
          </a:p>
        </p:txBody>
      </p:sp>
      <p:grpSp>
        <p:nvGrpSpPr>
          <p:cNvPr id="17" name="Google Shape;6707;g2d30ebb658d_0_19789">
            <a:extLst>
              <a:ext uri="{FF2B5EF4-FFF2-40B4-BE49-F238E27FC236}">
                <a16:creationId xmlns:a16="http://schemas.microsoft.com/office/drawing/2014/main" id="{EBECC533-DE56-3391-567C-FC521304690C}"/>
              </a:ext>
            </a:extLst>
          </p:cNvPr>
          <p:cNvGrpSpPr/>
          <p:nvPr/>
        </p:nvGrpSpPr>
        <p:grpSpPr>
          <a:xfrm>
            <a:off x="6483875" y="3060008"/>
            <a:ext cx="273516" cy="273515"/>
            <a:chOff x="10656543" y="2484407"/>
            <a:chExt cx="903000" cy="903000"/>
          </a:xfrm>
        </p:grpSpPr>
        <p:sp>
          <p:nvSpPr>
            <p:cNvPr id="40" name="Google Shape;6708;g2d30ebb658d_0_19789">
              <a:extLst>
                <a:ext uri="{FF2B5EF4-FFF2-40B4-BE49-F238E27FC236}">
                  <a16:creationId xmlns:a16="http://schemas.microsoft.com/office/drawing/2014/main" id="{BE78B698-5499-A29F-6883-149798E483FD}"/>
                </a:ext>
              </a:extLst>
            </p:cNvPr>
            <p:cNvSpPr/>
            <p:nvPr/>
          </p:nvSpPr>
          <p:spPr>
            <a:xfrm>
              <a:off x="10656543" y="2484407"/>
              <a:ext cx="903000" cy="903000"/>
            </a:xfrm>
            <a:prstGeom prst="ellipse">
              <a:avLst/>
            </a:prstGeom>
            <a:solidFill>
              <a:schemeClr val="dk2">
                <a:alpha val="498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41" name="Google Shape;6709;g2d30ebb658d_0_19789">
              <a:extLst>
                <a:ext uri="{FF2B5EF4-FFF2-40B4-BE49-F238E27FC236}">
                  <a16:creationId xmlns:a16="http://schemas.microsoft.com/office/drawing/2014/main" id="{38F166C8-AE0E-BA58-BFD8-67419B937AAB}"/>
                </a:ext>
              </a:extLst>
            </p:cNvPr>
            <p:cNvSpPr/>
            <p:nvPr/>
          </p:nvSpPr>
          <p:spPr>
            <a:xfrm>
              <a:off x="10810509" y="2635103"/>
              <a:ext cx="595789" cy="595789"/>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 name="Google Shape;6710;g2d30ebb658d_0_19789">
            <a:extLst>
              <a:ext uri="{FF2B5EF4-FFF2-40B4-BE49-F238E27FC236}">
                <a16:creationId xmlns:a16="http://schemas.microsoft.com/office/drawing/2014/main" id="{13E29E3D-A909-4C89-6C91-AD337E9BDCC4}"/>
              </a:ext>
            </a:extLst>
          </p:cNvPr>
          <p:cNvGrpSpPr/>
          <p:nvPr/>
        </p:nvGrpSpPr>
        <p:grpSpPr>
          <a:xfrm>
            <a:off x="5671369" y="3059923"/>
            <a:ext cx="273516" cy="273515"/>
            <a:chOff x="506872" y="5229970"/>
            <a:chExt cx="903000" cy="903000"/>
          </a:xfrm>
        </p:grpSpPr>
        <p:sp>
          <p:nvSpPr>
            <p:cNvPr id="38" name="Google Shape;6711;g2d30ebb658d_0_19789">
              <a:extLst>
                <a:ext uri="{FF2B5EF4-FFF2-40B4-BE49-F238E27FC236}">
                  <a16:creationId xmlns:a16="http://schemas.microsoft.com/office/drawing/2014/main" id="{DDC331BF-015D-BF78-7D93-A761C5F449DE}"/>
                </a:ext>
              </a:extLst>
            </p:cNvPr>
            <p:cNvSpPr/>
            <p:nvPr/>
          </p:nvSpPr>
          <p:spPr>
            <a:xfrm>
              <a:off x="506872" y="5229970"/>
              <a:ext cx="903000" cy="903000"/>
            </a:xfrm>
            <a:prstGeom prst="ellipse">
              <a:avLst/>
            </a:prstGeom>
            <a:solidFill>
              <a:schemeClr val="dk2">
                <a:alpha val="498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39" name="Google Shape;6712;g2d30ebb658d_0_19789">
              <a:extLst>
                <a:ext uri="{FF2B5EF4-FFF2-40B4-BE49-F238E27FC236}">
                  <a16:creationId xmlns:a16="http://schemas.microsoft.com/office/drawing/2014/main" id="{321AA971-D5E7-521A-97D4-4E2AC5558EDF}"/>
                </a:ext>
              </a:extLst>
            </p:cNvPr>
            <p:cNvSpPr/>
            <p:nvPr/>
          </p:nvSpPr>
          <p:spPr>
            <a:xfrm>
              <a:off x="677425" y="5425363"/>
              <a:ext cx="562432" cy="512692"/>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 name="Google Shape;6713;g2d30ebb658d_0_19789">
            <a:extLst>
              <a:ext uri="{FF2B5EF4-FFF2-40B4-BE49-F238E27FC236}">
                <a16:creationId xmlns:a16="http://schemas.microsoft.com/office/drawing/2014/main" id="{20EBC733-F1F4-26AB-2463-9E2BF3145BFF}"/>
              </a:ext>
            </a:extLst>
          </p:cNvPr>
          <p:cNvGrpSpPr/>
          <p:nvPr/>
        </p:nvGrpSpPr>
        <p:grpSpPr>
          <a:xfrm>
            <a:off x="6074718" y="3059924"/>
            <a:ext cx="273516" cy="273515"/>
            <a:chOff x="9206590" y="5229970"/>
            <a:chExt cx="903000" cy="903000"/>
          </a:xfrm>
        </p:grpSpPr>
        <p:sp>
          <p:nvSpPr>
            <p:cNvPr id="36" name="Google Shape;6714;g2d30ebb658d_0_19789">
              <a:extLst>
                <a:ext uri="{FF2B5EF4-FFF2-40B4-BE49-F238E27FC236}">
                  <a16:creationId xmlns:a16="http://schemas.microsoft.com/office/drawing/2014/main" id="{F88D495A-C2BC-7B62-B529-5C8762C3764F}"/>
                </a:ext>
              </a:extLst>
            </p:cNvPr>
            <p:cNvSpPr/>
            <p:nvPr/>
          </p:nvSpPr>
          <p:spPr>
            <a:xfrm>
              <a:off x="9206590" y="5229970"/>
              <a:ext cx="903000" cy="903000"/>
            </a:xfrm>
            <a:prstGeom prst="ellipse">
              <a:avLst/>
            </a:prstGeom>
            <a:solidFill>
              <a:schemeClr val="dk2">
                <a:alpha val="498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37" name="Google Shape;6715;g2d30ebb658d_0_19789">
              <a:extLst>
                <a:ext uri="{FF2B5EF4-FFF2-40B4-BE49-F238E27FC236}">
                  <a16:creationId xmlns:a16="http://schemas.microsoft.com/office/drawing/2014/main" id="{9E027883-5661-A4C0-7AA3-53E6566F2DEC}"/>
                </a:ext>
              </a:extLst>
            </p:cNvPr>
            <p:cNvSpPr/>
            <p:nvPr/>
          </p:nvSpPr>
          <p:spPr>
            <a:xfrm>
              <a:off x="9414720" y="5397931"/>
              <a:ext cx="487267" cy="567716"/>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0" name="Group 19">
            <a:extLst>
              <a:ext uri="{FF2B5EF4-FFF2-40B4-BE49-F238E27FC236}">
                <a16:creationId xmlns:a16="http://schemas.microsoft.com/office/drawing/2014/main" id="{4D258EBF-80A0-2C2D-CBDD-6DEF7337C71E}"/>
              </a:ext>
            </a:extLst>
          </p:cNvPr>
          <p:cNvGrpSpPr/>
          <p:nvPr/>
        </p:nvGrpSpPr>
        <p:grpSpPr>
          <a:xfrm>
            <a:off x="6056734" y="2602699"/>
            <a:ext cx="265717" cy="265716"/>
            <a:chOff x="4332370" y="2485236"/>
            <a:chExt cx="664292" cy="664290"/>
          </a:xfrm>
        </p:grpSpPr>
        <p:sp>
          <p:nvSpPr>
            <p:cNvPr id="32" name="Google Shape;6760;g2d30ebb658d_0_19789">
              <a:extLst>
                <a:ext uri="{FF2B5EF4-FFF2-40B4-BE49-F238E27FC236}">
                  <a16:creationId xmlns:a16="http://schemas.microsoft.com/office/drawing/2014/main" id="{98E08469-3639-740B-1D54-BAC5336719CF}"/>
                </a:ext>
              </a:extLst>
            </p:cNvPr>
            <p:cNvSpPr/>
            <p:nvPr/>
          </p:nvSpPr>
          <p:spPr>
            <a:xfrm>
              <a:off x="4332370" y="2485236"/>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gradFill>
              <a:gsLst>
                <a:gs pos="0">
                  <a:schemeClr val="accent2"/>
                </a:gs>
                <a:gs pos="99000">
                  <a:schemeClr val="accent5"/>
                </a:gs>
                <a:gs pos="100000">
                  <a:schemeClr val="accent5"/>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33" name="Google Shape;6773;g2d30ebb658d_0_19789">
              <a:extLst>
                <a:ext uri="{FF2B5EF4-FFF2-40B4-BE49-F238E27FC236}">
                  <a16:creationId xmlns:a16="http://schemas.microsoft.com/office/drawing/2014/main" id="{BAA94E03-6AB4-49A0-E57C-114638DAE1D5}"/>
                </a:ext>
              </a:extLst>
            </p:cNvPr>
            <p:cNvSpPr/>
            <p:nvPr/>
          </p:nvSpPr>
          <p:spPr>
            <a:xfrm>
              <a:off x="4479093" y="2627406"/>
              <a:ext cx="220023" cy="227159"/>
            </a:xfrm>
            <a:custGeom>
              <a:avLst/>
              <a:gdLst/>
              <a:ahLst/>
              <a:cxnLst/>
              <a:rect l="l" t="t" r="r" b="b"/>
              <a:pathLst>
                <a:path w="349947" h="361296" extrusionOk="0">
                  <a:moveTo>
                    <a:pt x="315611" y="167464"/>
                  </a:moveTo>
                  <a:lnTo>
                    <a:pt x="349858" y="143737"/>
                  </a:lnTo>
                  <a:lnTo>
                    <a:pt x="349366" y="141544"/>
                  </a:lnTo>
                  <a:cubicBezTo>
                    <a:pt x="348112" y="135858"/>
                    <a:pt x="346590" y="130262"/>
                    <a:pt x="344889" y="124845"/>
                  </a:cubicBezTo>
                  <a:cubicBezTo>
                    <a:pt x="343143" y="119429"/>
                    <a:pt x="341129" y="114012"/>
                    <a:pt x="338801" y="108684"/>
                  </a:cubicBezTo>
                  <a:lnTo>
                    <a:pt x="337950" y="106625"/>
                  </a:lnTo>
                  <a:lnTo>
                    <a:pt x="296451" y="107789"/>
                  </a:lnTo>
                  <a:cubicBezTo>
                    <a:pt x="292063" y="100268"/>
                    <a:pt x="286870" y="93105"/>
                    <a:pt x="281095" y="86435"/>
                  </a:cubicBezTo>
                  <a:lnTo>
                    <a:pt x="295063" y="46860"/>
                  </a:lnTo>
                  <a:lnTo>
                    <a:pt x="293406" y="45383"/>
                  </a:lnTo>
                  <a:cubicBezTo>
                    <a:pt x="284856" y="37773"/>
                    <a:pt x="275544" y="30923"/>
                    <a:pt x="265740" y="25103"/>
                  </a:cubicBezTo>
                  <a:lnTo>
                    <a:pt x="263815" y="23984"/>
                  </a:lnTo>
                  <a:lnTo>
                    <a:pt x="230911" y="49546"/>
                  </a:lnTo>
                  <a:cubicBezTo>
                    <a:pt x="222987" y="46099"/>
                    <a:pt x="214660" y="43369"/>
                    <a:pt x="206110" y="41399"/>
                  </a:cubicBezTo>
                  <a:lnTo>
                    <a:pt x="194381" y="1063"/>
                  </a:lnTo>
                  <a:lnTo>
                    <a:pt x="192142" y="839"/>
                  </a:lnTo>
                  <a:cubicBezTo>
                    <a:pt x="180816" y="-280"/>
                    <a:pt x="169311" y="-280"/>
                    <a:pt x="157940" y="839"/>
                  </a:cubicBezTo>
                  <a:lnTo>
                    <a:pt x="155746" y="1063"/>
                  </a:lnTo>
                  <a:lnTo>
                    <a:pt x="143972" y="41354"/>
                  </a:lnTo>
                  <a:cubicBezTo>
                    <a:pt x="139675" y="42339"/>
                    <a:pt x="135467" y="43503"/>
                    <a:pt x="131348" y="44846"/>
                  </a:cubicBezTo>
                  <a:cubicBezTo>
                    <a:pt x="127274" y="46189"/>
                    <a:pt x="123155" y="47756"/>
                    <a:pt x="119126" y="49502"/>
                  </a:cubicBezTo>
                  <a:lnTo>
                    <a:pt x="86178" y="23850"/>
                  </a:lnTo>
                  <a:lnTo>
                    <a:pt x="84253" y="25014"/>
                  </a:lnTo>
                  <a:cubicBezTo>
                    <a:pt x="74448" y="30834"/>
                    <a:pt x="65137" y="37638"/>
                    <a:pt x="56586" y="45294"/>
                  </a:cubicBezTo>
                  <a:lnTo>
                    <a:pt x="54930" y="46771"/>
                  </a:lnTo>
                  <a:lnTo>
                    <a:pt x="68852" y="86390"/>
                  </a:lnTo>
                  <a:cubicBezTo>
                    <a:pt x="63077" y="93061"/>
                    <a:pt x="57929" y="100223"/>
                    <a:pt x="53497" y="107744"/>
                  </a:cubicBezTo>
                  <a:lnTo>
                    <a:pt x="11998" y="106580"/>
                  </a:lnTo>
                  <a:lnTo>
                    <a:pt x="11102" y="108640"/>
                  </a:lnTo>
                  <a:cubicBezTo>
                    <a:pt x="6536" y="119205"/>
                    <a:pt x="2999" y="130262"/>
                    <a:pt x="492" y="141499"/>
                  </a:cubicBezTo>
                  <a:lnTo>
                    <a:pt x="0" y="143693"/>
                  </a:lnTo>
                  <a:lnTo>
                    <a:pt x="34292" y="167464"/>
                  </a:lnTo>
                  <a:cubicBezTo>
                    <a:pt x="33486" y="176283"/>
                    <a:pt x="33486" y="185147"/>
                    <a:pt x="34292" y="193832"/>
                  </a:cubicBezTo>
                  <a:lnTo>
                    <a:pt x="0" y="217559"/>
                  </a:lnTo>
                  <a:lnTo>
                    <a:pt x="492" y="219753"/>
                  </a:lnTo>
                  <a:cubicBezTo>
                    <a:pt x="1746" y="225393"/>
                    <a:pt x="3268" y="230989"/>
                    <a:pt x="5014" y="236451"/>
                  </a:cubicBezTo>
                  <a:cubicBezTo>
                    <a:pt x="6760" y="241868"/>
                    <a:pt x="8774" y="247285"/>
                    <a:pt x="11058" y="252612"/>
                  </a:cubicBezTo>
                  <a:lnTo>
                    <a:pt x="11953" y="254671"/>
                  </a:lnTo>
                  <a:lnTo>
                    <a:pt x="53452" y="253507"/>
                  </a:lnTo>
                  <a:cubicBezTo>
                    <a:pt x="57884" y="261028"/>
                    <a:pt x="63033" y="268236"/>
                    <a:pt x="68808" y="274861"/>
                  </a:cubicBezTo>
                  <a:lnTo>
                    <a:pt x="54840" y="314436"/>
                  </a:lnTo>
                  <a:lnTo>
                    <a:pt x="56497" y="315958"/>
                  </a:lnTo>
                  <a:cubicBezTo>
                    <a:pt x="65002" y="323569"/>
                    <a:pt x="74359" y="330373"/>
                    <a:pt x="84163" y="336238"/>
                  </a:cubicBezTo>
                  <a:lnTo>
                    <a:pt x="86088" y="337357"/>
                  </a:lnTo>
                  <a:lnTo>
                    <a:pt x="118992" y="311750"/>
                  </a:lnTo>
                  <a:cubicBezTo>
                    <a:pt x="126916" y="315197"/>
                    <a:pt x="135287" y="317928"/>
                    <a:pt x="143838" y="319898"/>
                  </a:cubicBezTo>
                  <a:lnTo>
                    <a:pt x="155612" y="360233"/>
                  </a:lnTo>
                  <a:lnTo>
                    <a:pt x="157850" y="360457"/>
                  </a:lnTo>
                  <a:cubicBezTo>
                    <a:pt x="169177" y="361576"/>
                    <a:pt x="180682" y="361576"/>
                    <a:pt x="192008" y="360457"/>
                  </a:cubicBezTo>
                  <a:lnTo>
                    <a:pt x="194202" y="360233"/>
                  </a:lnTo>
                  <a:lnTo>
                    <a:pt x="205975" y="319942"/>
                  </a:lnTo>
                  <a:cubicBezTo>
                    <a:pt x="210273" y="318958"/>
                    <a:pt x="214481" y="317794"/>
                    <a:pt x="218600" y="316451"/>
                  </a:cubicBezTo>
                  <a:cubicBezTo>
                    <a:pt x="222718" y="315108"/>
                    <a:pt x="226792" y="313541"/>
                    <a:pt x="230821" y="311795"/>
                  </a:cubicBezTo>
                  <a:lnTo>
                    <a:pt x="263770" y="337402"/>
                  </a:lnTo>
                  <a:lnTo>
                    <a:pt x="265695" y="336283"/>
                  </a:lnTo>
                  <a:cubicBezTo>
                    <a:pt x="275499" y="330463"/>
                    <a:pt x="284811" y="323613"/>
                    <a:pt x="293362" y="316003"/>
                  </a:cubicBezTo>
                  <a:lnTo>
                    <a:pt x="295018" y="314481"/>
                  </a:lnTo>
                  <a:lnTo>
                    <a:pt x="281095" y="274861"/>
                  </a:lnTo>
                  <a:cubicBezTo>
                    <a:pt x="286915" y="268191"/>
                    <a:pt x="292019" y="261028"/>
                    <a:pt x="296451" y="253507"/>
                  </a:cubicBezTo>
                  <a:lnTo>
                    <a:pt x="337950" y="254671"/>
                  </a:lnTo>
                  <a:lnTo>
                    <a:pt x="338845" y="252612"/>
                  </a:lnTo>
                  <a:cubicBezTo>
                    <a:pt x="343412" y="242047"/>
                    <a:pt x="346948" y="230989"/>
                    <a:pt x="349455" y="219753"/>
                  </a:cubicBezTo>
                  <a:lnTo>
                    <a:pt x="349948" y="217559"/>
                  </a:lnTo>
                  <a:lnTo>
                    <a:pt x="315656" y="193832"/>
                  </a:lnTo>
                  <a:cubicBezTo>
                    <a:pt x="316462" y="185013"/>
                    <a:pt x="316506" y="176149"/>
                    <a:pt x="315656" y="167419"/>
                  </a:cubicBezTo>
                  <a:close/>
                  <a:moveTo>
                    <a:pt x="174907" y="282472"/>
                  </a:moveTo>
                  <a:cubicBezTo>
                    <a:pt x="119261" y="282472"/>
                    <a:pt x="74135" y="236899"/>
                    <a:pt x="74135" y="180626"/>
                  </a:cubicBezTo>
                  <a:cubicBezTo>
                    <a:pt x="74135" y="124353"/>
                    <a:pt x="119261" y="78824"/>
                    <a:pt x="174907" y="78824"/>
                  </a:cubicBezTo>
                  <a:cubicBezTo>
                    <a:pt x="230553" y="78824"/>
                    <a:pt x="275679" y="124398"/>
                    <a:pt x="275679" y="180626"/>
                  </a:cubicBezTo>
                  <a:cubicBezTo>
                    <a:pt x="275679" y="236854"/>
                    <a:pt x="230553" y="282472"/>
                    <a:pt x="174907" y="28247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 name="Google Shape;6774;g2d30ebb658d_0_19789">
              <a:extLst>
                <a:ext uri="{FF2B5EF4-FFF2-40B4-BE49-F238E27FC236}">
                  <a16:creationId xmlns:a16="http://schemas.microsoft.com/office/drawing/2014/main" id="{50EE3418-D09C-5F5D-79F6-1F4B03B96801}"/>
                </a:ext>
              </a:extLst>
            </p:cNvPr>
            <p:cNvSpPr/>
            <p:nvPr/>
          </p:nvSpPr>
          <p:spPr>
            <a:xfrm>
              <a:off x="4699246" y="2715696"/>
              <a:ext cx="176493" cy="175692"/>
            </a:xfrm>
            <a:custGeom>
              <a:avLst/>
              <a:gdLst/>
              <a:ahLst/>
              <a:cxnLst/>
              <a:rect l="l" t="t" r="r" b="b"/>
              <a:pathLst>
                <a:path w="280712" h="279438" extrusionOk="0">
                  <a:moveTo>
                    <a:pt x="239570" y="90341"/>
                  </a:moveTo>
                  <a:lnTo>
                    <a:pt x="257924" y="63301"/>
                  </a:lnTo>
                  <a:lnTo>
                    <a:pt x="256940" y="61824"/>
                  </a:lnTo>
                  <a:cubicBezTo>
                    <a:pt x="254433" y="58019"/>
                    <a:pt x="251746" y="54348"/>
                    <a:pt x="248926" y="50901"/>
                  </a:cubicBezTo>
                  <a:cubicBezTo>
                    <a:pt x="246106" y="47454"/>
                    <a:pt x="243106" y="44006"/>
                    <a:pt x="239928" y="40783"/>
                  </a:cubicBezTo>
                  <a:lnTo>
                    <a:pt x="238719" y="39530"/>
                  </a:lnTo>
                  <a:lnTo>
                    <a:pt x="208680" y="52109"/>
                  </a:lnTo>
                  <a:cubicBezTo>
                    <a:pt x="203308" y="47857"/>
                    <a:pt x="197533" y="44051"/>
                    <a:pt x="191400" y="40828"/>
                  </a:cubicBezTo>
                  <a:lnTo>
                    <a:pt x="190415" y="7924"/>
                  </a:lnTo>
                  <a:lnTo>
                    <a:pt x="188759" y="7297"/>
                  </a:lnTo>
                  <a:cubicBezTo>
                    <a:pt x="180342" y="4119"/>
                    <a:pt x="171613" y="1791"/>
                    <a:pt x="162793" y="269"/>
                  </a:cubicBezTo>
                  <a:lnTo>
                    <a:pt x="161047" y="0"/>
                  </a:lnTo>
                  <a:lnTo>
                    <a:pt x="144215" y="28024"/>
                  </a:lnTo>
                  <a:cubicBezTo>
                    <a:pt x="137455" y="27756"/>
                    <a:pt x="130561" y="28114"/>
                    <a:pt x="123756" y="29099"/>
                  </a:cubicBezTo>
                  <a:lnTo>
                    <a:pt x="103790" y="2910"/>
                  </a:lnTo>
                  <a:lnTo>
                    <a:pt x="102089" y="3358"/>
                  </a:lnTo>
                  <a:cubicBezTo>
                    <a:pt x="93493" y="5775"/>
                    <a:pt x="85077" y="8998"/>
                    <a:pt x="77064" y="13027"/>
                  </a:cubicBezTo>
                  <a:lnTo>
                    <a:pt x="75497" y="13788"/>
                  </a:lnTo>
                  <a:lnTo>
                    <a:pt x="78272" y="46603"/>
                  </a:lnTo>
                  <a:cubicBezTo>
                    <a:pt x="75407" y="48528"/>
                    <a:pt x="72632" y="50587"/>
                    <a:pt x="70035" y="52691"/>
                  </a:cubicBezTo>
                  <a:cubicBezTo>
                    <a:pt x="67439" y="54840"/>
                    <a:pt x="64842" y="57123"/>
                    <a:pt x="62425" y="59541"/>
                  </a:cubicBezTo>
                  <a:lnTo>
                    <a:pt x="31087" y="50095"/>
                  </a:lnTo>
                  <a:lnTo>
                    <a:pt x="30013" y="51483"/>
                  </a:lnTo>
                  <a:cubicBezTo>
                    <a:pt x="24462" y="58511"/>
                    <a:pt x="19582" y="66122"/>
                    <a:pt x="15508" y="74135"/>
                  </a:cubicBezTo>
                  <a:lnTo>
                    <a:pt x="14702" y="75702"/>
                  </a:lnTo>
                  <a:lnTo>
                    <a:pt x="36101" y="100727"/>
                  </a:lnTo>
                  <a:cubicBezTo>
                    <a:pt x="33729" y="107218"/>
                    <a:pt x="32027" y="113933"/>
                    <a:pt x="30908" y="120693"/>
                  </a:cubicBezTo>
                  <a:lnTo>
                    <a:pt x="198" y="131572"/>
                  </a:lnTo>
                  <a:lnTo>
                    <a:pt x="108" y="133318"/>
                  </a:lnTo>
                  <a:cubicBezTo>
                    <a:pt x="-250" y="142316"/>
                    <a:pt x="287" y="151449"/>
                    <a:pt x="1630" y="160357"/>
                  </a:cubicBezTo>
                  <a:lnTo>
                    <a:pt x="1899" y="162103"/>
                  </a:lnTo>
                  <a:lnTo>
                    <a:pt x="33684" y="169803"/>
                  </a:lnTo>
                  <a:cubicBezTo>
                    <a:pt x="35564" y="176474"/>
                    <a:pt x="38071" y="182965"/>
                    <a:pt x="41115" y="189098"/>
                  </a:cubicBezTo>
                  <a:lnTo>
                    <a:pt x="22761" y="216138"/>
                  </a:lnTo>
                  <a:lnTo>
                    <a:pt x="23745" y="217615"/>
                  </a:lnTo>
                  <a:cubicBezTo>
                    <a:pt x="26252" y="221420"/>
                    <a:pt x="28938" y="225046"/>
                    <a:pt x="31759" y="228538"/>
                  </a:cubicBezTo>
                  <a:cubicBezTo>
                    <a:pt x="34579" y="231985"/>
                    <a:pt x="37579" y="235432"/>
                    <a:pt x="40757" y="238656"/>
                  </a:cubicBezTo>
                  <a:lnTo>
                    <a:pt x="42011" y="239909"/>
                  </a:lnTo>
                  <a:lnTo>
                    <a:pt x="72050" y="227330"/>
                  </a:lnTo>
                  <a:cubicBezTo>
                    <a:pt x="77422" y="231582"/>
                    <a:pt x="83197" y="235388"/>
                    <a:pt x="89330" y="238611"/>
                  </a:cubicBezTo>
                  <a:lnTo>
                    <a:pt x="90315" y="271515"/>
                  </a:lnTo>
                  <a:lnTo>
                    <a:pt x="91971" y="272142"/>
                  </a:lnTo>
                  <a:cubicBezTo>
                    <a:pt x="100343" y="275276"/>
                    <a:pt x="109117" y="277648"/>
                    <a:pt x="117936" y="279170"/>
                  </a:cubicBezTo>
                  <a:lnTo>
                    <a:pt x="119682" y="279439"/>
                  </a:lnTo>
                  <a:lnTo>
                    <a:pt x="136515" y="251414"/>
                  </a:lnTo>
                  <a:cubicBezTo>
                    <a:pt x="143320" y="251683"/>
                    <a:pt x="150169" y="251325"/>
                    <a:pt x="156974" y="250340"/>
                  </a:cubicBezTo>
                  <a:lnTo>
                    <a:pt x="176985" y="276529"/>
                  </a:lnTo>
                  <a:lnTo>
                    <a:pt x="178686" y="276037"/>
                  </a:lnTo>
                  <a:cubicBezTo>
                    <a:pt x="187281" y="273619"/>
                    <a:pt x="195698" y="270396"/>
                    <a:pt x="203666" y="266367"/>
                  </a:cubicBezTo>
                  <a:lnTo>
                    <a:pt x="205233" y="265606"/>
                  </a:lnTo>
                  <a:lnTo>
                    <a:pt x="202457" y="232791"/>
                  </a:lnTo>
                  <a:cubicBezTo>
                    <a:pt x="205323" y="230866"/>
                    <a:pt x="208098" y="228807"/>
                    <a:pt x="210695" y="226703"/>
                  </a:cubicBezTo>
                  <a:cubicBezTo>
                    <a:pt x="213291" y="224554"/>
                    <a:pt x="215888" y="222271"/>
                    <a:pt x="218350" y="219853"/>
                  </a:cubicBezTo>
                  <a:lnTo>
                    <a:pt x="249687" y="229299"/>
                  </a:lnTo>
                  <a:lnTo>
                    <a:pt x="250762" y="227912"/>
                  </a:lnTo>
                  <a:cubicBezTo>
                    <a:pt x="256313" y="220883"/>
                    <a:pt x="261192" y="213228"/>
                    <a:pt x="265266" y="205259"/>
                  </a:cubicBezTo>
                  <a:lnTo>
                    <a:pt x="266072" y="203692"/>
                  </a:lnTo>
                  <a:lnTo>
                    <a:pt x="244673" y="178667"/>
                  </a:lnTo>
                  <a:cubicBezTo>
                    <a:pt x="247046" y="172131"/>
                    <a:pt x="248747" y="165461"/>
                    <a:pt x="249866" y="158701"/>
                  </a:cubicBezTo>
                  <a:lnTo>
                    <a:pt x="280577" y="147822"/>
                  </a:lnTo>
                  <a:lnTo>
                    <a:pt x="280577" y="146076"/>
                  </a:lnTo>
                  <a:cubicBezTo>
                    <a:pt x="280980" y="137078"/>
                    <a:pt x="280487" y="127990"/>
                    <a:pt x="279099" y="119037"/>
                  </a:cubicBezTo>
                  <a:lnTo>
                    <a:pt x="278831" y="117291"/>
                  </a:lnTo>
                  <a:lnTo>
                    <a:pt x="247046" y="109636"/>
                  </a:lnTo>
                  <a:cubicBezTo>
                    <a:pt x="245166" y="102921"/>
                    <a:pt x="242659" y="96429"/>
                    <a:pt x="239615" y="90296"/>
                  </a:cubicBezTo>
                  <a:close/>
                  <a:moveTo>
                    <a:pt x="169106" y="214213"/>
                  </a:moveTo>
                  <a:cubicBezTo>
                    <a:pt x="128412" y="229926"/>
                    <a:pt x="82525" y="209333"/>
                    <a:pt x="66633" y="168192"/>
                  </a:cubicBezTo>
                  <a:cubicBezTo>
                    <a:pt x="50740" y="127050"/>
                    <a:pt x="70886" y="80984"/>
                    <a:pt x="111579" y="65226"/>
                  </a:cubicBezTo>
                  <a:cubicBezTo>
                    <a:pt x="152273" y="49513"/>
                    <a:pt x="198160" y="70106"/>
                    <a:pt x="214052" y="111247"/>
                  </a:cubicBezTo>
                  <a:cubicBezTo>
                    <a:pt x="229945" y="152389"/>
                    <a:pt x="209799" y="198499"/>
                    <a:pt x="169106" y="21421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 name="Google Shape;6775;g2d30ebb658d_0_19789">
              <a:extLst>
                <a:ext uri="{FF2B5EF4-FFF2-40B4-BE49-F238E27FC236}">
                  <a16:creationId xmlns:a16="http://schemas.microsoft.com/office/drawing/2014/main" id="{2B7D6450-5B88-2AC2-21DF-77C75C450C15}"/>
                </a:ext>
              </a:extLst>
            </p:cNvPr>
            <p:cNvSpPr/>
            <p:nvPr/>
          </p:nvSpPr>
          <p:spPr>
            <a:xfrm>
              <a:off x="4601540" y="2855726"/>
              <a:ext cx="146600" cy="145857"/>
            </a:xfrm>
            <a:custGeom>
              <a:avLst/>
              <a:gdLst/>
              <a:ahLst/>
              <a:cxnLst/>
              <a:rect l="l" t="t" r="r" b="b"/>
              <a:pathLst>
                <a:path w="233167" h="231985" extrusionOk="0">
                  <a:moveTo>
                    <a:pt x="199023" y="74986"/>
                  </a:moveTo>
                  <a:lnTo>
                    <a:pt x="214289" y="52557"/>
                  </a:lnTo>
                  <a:lnTo>
                    <a:pt x="213483" y="51348"/>
                  </a:lnTo>
                  <a:cubicBezTo>
                    <a:pt x="211379" y="48215"/>
                    <a:pt x="209141" y="45126"/>
                    <a:pt x="206813" y="42261"/>
                  </a:cubicBezTo>
                  <a:cubicBezTo>
                    <a:pt x="204485" y="39395"/>
                    <a:pt x="201978" y="36530"/>
                    <a:pt x="199336" y="33844"/>
                  </a:cubicBezTo>
                  <a:lnTo>
                    <a:pt x="198307" y="32770"/>
                  </a:lnTo>
                  <a:lnTo>
                    <a:pt x="173371" y="43201"/>
                  </a:lnTo>
                  <a:cubicBezTo>
                    <a:pt x="168939" y="39664"/>
                    <a:pt x="164104" y="36530"/>
                    <a:pt x="159001" y="33844"/>
                  </a:cubicBezTo>
                  <a:lnTo>
                    <a:pt x="158195" y="6536"/>
                  </a:lnTo>
                  <a:lnTo>
                    <a:pt x="156807" y="6044"/>
                  </a:lnTo>
                  <a:cubicBezTo>
                    <a:pt x="149824" y="3402"/>
                    <a:pt x="142571" y="1433"/>
                    <a:pt x="135229" y="224"/>
                  </a:cubicBezTo>
                  <a:lnTo>
                    <a:pt x="133797" y="0"/>
                  </a:lnTo>
                  <a:lnTo>
                    <a:pt x="119785" y="23279"/>
                  </a:lnTo>
                  <a:cubicBezTo>
                    <a:pt x="114144" y="23055"/>
                    <a:pt x="108458" y="23324"/>
                    <a:pt x="102773" y="24174"/>
                  </a:cubicBezTo>
                  <a:lnTo>
                    <a:pt x="86164" y="2417"/>
                  </a:lnTo>
                  <a:lnTo>
                    <a:pt x="84776" y="2776"/>
                  </a:lnTo>
                  <a:cubicBezTo>
                    <a:pt x="77613" y="4745"/>
                    <a:pt x="70630" y="7476"/>
                    <a:pt x="64004" y="10834"/>
                  </a:cubicBezTo>
                  <a:lnTo>
                    <a:pt x="62706" y="11460"/>
                  </a:lnTo>
                  <a:lnTo>
                    <a:pt x="65034" y="38724"/>
                  </a:lnTo>
                  <a:cubicBezTo>
                    <a:pt x="62661" y="40336"/>
                    <a:pt x="60333" y="42037"/>
                    <a:pt x="58184" y="43783"/>
                  </a:cubicBezTo>
                  <a:cubicBezTo>
                    <a:pt x="56036" y="45573"/>
                    <a:pt x="53887" y="47454"/>
                    <a:pt x="51827" y="49468"/>
                  </a:cubicBezTo>
                  <a:lnTo>
                    <a:pt x="25817" y="41634"/>
                  </a:lnTo>
                  <a:lnTo>
                    <a:pt x="24922" y="42798"/>
                  </a:lnTo>
                  <a:cubicBezTo>
                    <a:pt x="20311" y="48618"/>
                    <a:pt x="16282" y="54975"/>
                    <a:pt x="12880" y="61600"/>
                  </a:cubicBezTo>
                  <a:lnTo>
                    <a:pt x="12208" y="62898"/>
                  </a:lnTo>
                  <a:lnTo>
                    <a:pt x="29981" y="83671"/>
                  </a:lnTo>
                  <a:cubicBezTo>
                    <a:pt x="28011" y="89087"/>
                    <a:pt x="26579" y="94639"/>
                    <a:pt x="25638" y="100235"/>
                  </a:cubicBezTo>
                  <a:lnTo>
                    <a:pt x="121" y="109278"/>
                  </a:lnTo>
                  <a:lnTo>
                    <a:pt x="121" y="110710"/>
                  </a:lnTo>
                  <a:cubicBezTo>
                    <a:pt x="-237" y="118186"/>
                    <a:pt x="210" y="125752"/>
                    <a:pt x="1330" y="133139"/>
                  </a:cubicBezTo>
                  <a:lnTo>
                    <a:pt x="1553" y="134571"/>
                  </a:lnTo>
                  <a:lnTo>
                    <a:pt x="27966" y="140973"/>
                  </a:lnTo>
                  <a:cubicBezTo>
                    <a:pt x="29533" y="146524"/>
                    <a:pt x="31637" y="151896"/>
                    <a:pt x="34144" y="157000"/>
                  </a:cubicBezTo>
                  <a:lnTo>
                    <a:pt x="18878" y="179428"/>
                  </a:lnTo>
                  <a:lnTo>
                    <a:pt x="19684" y="180637"/>
                  </a:lnTo>
                  <a:cubicBezTo>
                    <a:pt x="21744" y="183771"/>
                    <a:pt x="23982" y="186815"/>
                    <a:pt x="26355" y="189725"/>
                  </a:cubicBezTo>
                  <a:cubicBezTo>
                    <a:pt x="28683" y="192590"/>
                    <a:pt x="31190" y="195455"/>
                    <a:pt x="33831" y="198141"/>
                  </a:cubicBezTo>
                  <a:lnTo>
                    <a:pt x="34860" y="199216"/>
                  </a:lnTo>
                  <a:lnTo>
                    <a:pt x="59796" y="188740"/>
                  </a:lnTo>
                  <a:cubicBezTo>
                    <a:pt x="64228" y="192277"/>
                    <a:pt x="69063" y="195455"/>
                    <a:pt x="74166" y="198096"/>
                  </a:cubicBezTo>
                  <a:lnTo>
                    <a:pt x="74972" y="225405"/>
                  </a:lnTo>
                  <a:lnTo>
                    <a:pt x="76360" y="225942"/>
                  </a:lnTo>
                  <a:cubicBezTo>
                    <a:pt x="83344" y="228583"/>
                    <a:pt x="90596" y="230508"/>
                    <a:pt x="97938" y="231762"/>
                  </a:cubicBezTo>
                  <a:lnTo>
                    <a:pt x="99371" y="231985"/>
                  </a:lnTo>
                  <a:lnTo>
                    <a:pt x="113383" y="208706"/>
                  </a:lnTo>
                  <a:cubicBezTo>
                    <a:pt x="119023" y="208930"/>
                    <a:pt x="124709" y="208661"/>
                    <a:pt x="130394" y="207811"/>
                  </a:cubicBezTo>
                  <a:lnTo>
                    <a:pt x="147003" y="229568"/>
                  </a:lnTo>
                  <a:lnTo>
                    <a:pt x="148391" y="229165"/>
                  </a:lnTo>
                  <a:cubicBezTo>
                    <a:pt x="155554" y="227195"/>
                    <a:pt x="162538" y="224464"/>
                    <a:pt x="169163" y="221152"/>
                  </a:cubicBezTo>
                  <a:lnTo>
                    <a:pt x="170461" y="220525"/>
                  </a:lnTo>
                  <a:lnTo>
                    <a:pt x="168133" y="193261"/>
                  </a:lnTo>
                  <a:cubicBezTo>
                    <a:pt x="170506" y="191650"/>
                    <a:pt x="172789" y="189949"/>
                    <a:pt x="174983" y="188203"/>
                  </a:cubicBezTo>
                  <a:cubicBezTo>
                    <a:pt x="177177" y="186412"/>
                    <a:pt x="179281" y="184487"/>
                    <a:pt x="181340" y="182517"/>
                  </a:cubicBezTo>
                  <a:lnTo>
                    <a:pt x="207350" y="190352"/>
                  </a:lnTo>
                  <a:lnTo>
                    <a:pt x="208245" y="189232"/>
                  </a:lnTo>
                  <a:cubicBezTo>
                    <a:pt x="212856" y="183368"/>
                    <a:pt x="216885" y="177056"/>
                    <a:pt x="220288" y="170430"/>
                  </a:cubicBezTo>
                  <a:lnTo>
                    <a:pt x="220959" y="169132"/>
                  </a:lnTo>
                  <a:lnTo>
                    <a:pt x="203186" y="148360"/>
                  </a:lnTo>
                  <a:cubicBezTo>
                    <a:pt x="205156" y="142943"/>
                    <a:pt x="206589" y="137392"/>
                    <a:pt x="207529" y="131796"/>
                  </a:cubicBezTo>
                  <a:lnTo>
                    <a:pt x="233046" y="122753"/>
                  </a:lnTo>
                  <a:lnTo>
                    <a:pt x="233046" y="121275"/>
                  </a:lnTo>
                  <a:cubicBezTo>
                    <a:pt x="233405" y="113799"/>
                    <a:pt x="232957" y="106233"/>
                    <a:pt x="231838" y="98847"/>
                  </a:cubicBezTo>
                  <a:lnTo>
                    <a:pt x="231614" y="97369"/>
                  </a:lnTo>
                  <a:lnTo>
                    <a:pt x="205201" y="91012"/>
                  </a:lnTo>
                  <a:cubicBezTo>
                    <a:pt x="203634" y="85461"/>
                    <a:pt x="201530" y="80044"/>
                    <a:pt x="199023" y="74941"/>
                  </a:cubicBezTo>
                  <a:close/>
                  <a:moveTo>
                    <a:pt x="140512" y="177906"/>
                  </a:moveTo>
                  <a:cubicBezTo>
                    <a:pt x="106712" y="190978"/>
                    <a:pt x="68615" y="173832"/>
                    <a:pt x="55409" y="139675"/>
                  </a:cubicBezTo>
                  <a:cubicBezTo>
                    <a:pt x="42202" y="105517"/>
                    <a:pt x="58945" y="67241"/>
                    <a:pt x="92745" y="54169"/>
                  </a:cubicBezTo>
                  <a:cubicBezTo>
                    <a:pt x="126544" y="41097"/>
                    <a:pt x="164686" y="58198"/>
                    <a:pt x="177848" y="92400"/>
                  </a:cubicBezTo>
                  <a:cubicBezTo>
                    <a:pt x="191054" y="126558"/>
                    <a:pt x="174356" y="164834"/>
                    <a:pt x="140512" y="1779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21" name="Group 20">
            <a:extLst>
              <a:ext uri="{FF2B5EF4-FFF2-40B4-BE49-F238E27FC236}">
                <a16:creationId xmlns:a16="http://schemas.microsoft.com/office/drawing/2014/main" id="{1B2680C3-E62F-48E5-30F2-95AA0EB01F39}"/>
              </a:ext>
            </a:extLst>
          </p:cNvPr>
          <p:cNvGrpSpPr/>
          <p:nvPr/>
        </p:nvGrpSpPr>
        <p:grpSpPr>
          <a:xfrm>
            <a:off x="6430405" y="2603051"/>
            <a:ext cx="265717" cy="265716"/>
            <a:chOff x="4662354" y="2396539"/>
            <a:chExt cx="664292" cy="664290"/>
          </a:xfrm>
        </p:grpSpPr>
        <p:sp>
          <p:nvSpPr>
            <p:cNvPr id="29" name="Google Shape;6760;g2d30ebb658d_0_19789">
              <a:extLst>
                <a:ext uri="{FF2B5EF4-FFF2-40B4-BE49-F238E27FC236}">
                  <a16:creationId xmlns:a16="http://schemas.microsoft.com/office/drawing/2014/main" id="{E2155C19-9647-E150-DAEE-77F82942E45E}"/>
                </a:ext>
              </a:extLst>
            </p:cNvPr>
            <p:cNvSpPr/>
            <p:nvPr/>
          </p:nvSpPr>
          <p:spPr>
            <a:xfrm>
              <a:off x="4662354" y="2396539"/>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gradFill>
              <a:gsLst>
                <a:gs pos="0">
                  <a:schemeClr val="accent5"/>
                </a:gs>
                <a:gs pos="99000">
                  <a:schemeClr val="accent5"/>
                </a:gs>
                <a:gs pos="100000">
                  <a:schemeClr val="accent5"/>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30" name="Graphic 29">
              <a:extLst>
                <a:ext uri="{FF2B5EF4-FFF2-40B4-BE49-F238E27FC236}">
                  <a16:creationId xmlns:a16="http://schemas.microsoft.com/office/drawing/2014/main" id="{E18B9701-1E9A-742A-663A-DF69B295B22D}"/>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745580" y="2478551"/>
              <a:ext cx="497840" cy="497840"/>
            </a:xfrm>
            <a:prstGeom prst="rect">
              <a:avLst/>
            </a:prstGeom>
          </p:spPr>
        </p:pic>
      </p:grpSp>
      <p:grpSp>
        <p:nvGrpSpPr>
          <p:cNvPr id="22" name="Group 21">
            <a:extLst>
              <a:ext uri="{FF2B5EF4-FFF2-40B4-BE49-F238E27FC236}">
                <a16:creationId xmlns:a16="http://schemas.microsoft.com/office/drawing/2014/main" id="{9D1A5C32-6436-4BC9-146C-A5520F2143CB}"/>
              </a:ext>
            </a:extLst>
          </p:cNvPr>
          <p:cNvGrpSpPr/>
          <p:nvPr/>
        </p:nvGrpSpPr>
        <p:grpSpPr>
          <a:xfrm>
            <a:off x="5692441" y="2603759"/>
            <a:ext cx="265717" cy="265716"/>
            <a:chOff x="1358600" y="2398310"/>
            <a:chExt cx="664292" cy="664290"/>
          </a:xfrm>
        </p:grpSpPr>
        <p:sp>
          <p:nvSpPr>
            <p:cNvPr id="26" name="Google Shape;6760;g2d30ebb658d_0_19789">
              <a:extLst>
                <a:ext uri="{FF2B5EF4-FFF2-40B4-BE49-F238E27FC236}">
                  <a16:creationId xmlns:a16="http://schemas.microsoft.com/office/drawing/2014/main" id="{02F447A4-B649-240C-B5DF-F8F94E46998F}"/>
                </a:ext>
              </a:extLst>
            </p:cNvPr>
            <p:cNvSpPr/>
            <p:nvPr/>
          </p:nvSpPr>
          <p:spPr>
            <a:xfrm>
              <a:off x="1358600" y="2398310"/>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gradFill>
              <a:gsLst>
                <a:gs pos="0">
                  <a:schemeClr val="accent2"/>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7" name="Google Shape;6767;g2d30ebb658d_0_19789">
              <a:extLst>
                <a:ext uri="{FF2B5EF4-FFF2-40B4-BE49-F238E27FC236}">
                  <a16:creationId xmlns:a16="http://schemas.microsoft.com/office/drawing/2014/main" id="{46809DA9-D9C2-32FC-9BCD-B4693D09BAA9}"/>
                </a:ext>
              </a:extLst>
            </p:cNvPr>
            <p:cNvSpPr/>
            <p:nvPr/>
          </p:nvSpPr>
          <p:spPr>
            <a:xfrm>
              <a:off x="1503581" y="2537002"/>
              <a:ext cx="379742" cy="380966"/>
            </a:xfrm>
            <a:custGeom>
              <a:avLst/>
              <a:gdLst/>
              <a:ahLst/>
              <a:cxnLst/>
              <a:rect l="l" t="t" r="r" b="b"/>
              <a:pathLst>
                <a:path w="651268" h="653368" extrusionOk="0">
                  <a:moveTo>
                    <a:pt x="587701" y="131477"/>
                  </a:moveTo>
                  <a:cubicBezTo>
                    <a:pt x="546722" y="75983"/>
                    <a:pt x="487355" y="34911"/>
                    <a:pt x="421826" y="14375"/>
                  </a:cubicBezTo>
                  <a:cubicBezTo>
                    <a:pt x="391116" y="4107"/>
                    <a:pt x="358352" y="0"/>
                    <a:pt x="325588" y="0"/>
                  </a:cubicBezTo>
                  <a:cubicBezTo>
                    <a:pt x="292824" y="0"/>
                    <a:pt x="260059" y="4107"/>
                    <a:pt x="229349" y="14375"/>
                  </a:cubicBezTo>
                  <a:lnTo>
                    <a:pt x="249838" y="80137"/>
                  </a:lnTo>
                  <a:cubicBezTo>
                    <a:pt x="274435" y="71922"/>
                    <a:pt x="298984" y="67815"/>
                    <a:pt x="325634" y="67815"/>
                  </a:cubicBezTo>
                  <a:cubicBezTo>
                    <a:pt x="352284" y="67815"/>
                    <a:pt x="376834" y="71922"/>
                    <a:pt x="401430" y="80137"/>
                  </a:cubicBezTo>
                  <a:cubicBezTo>
                    <a:pt x="452630" y="94512"/>
                    <a:pt x="499723" y="127416"/>
                    <a:pt x="532487" y="172595"/>
                  </a:cubicBezTo>
                  <a:cubicBezTo>
                    <a:pt x="565251" y="215767"/>
                    <a:pt x="583687" y="271214"/>
                    <a:pt x="583687" y="326708"/>
                  </a:cubicBezTo>
                  <a:cubicBezTo>
                    <a:pt x="583687" y="468499"/>
                    <a:pt x="466959" y="585600"/>
                    <a:pt x="325634" y="585600"/>
                  </a:cubicBezTo>
                  <a:cubicBezTo>
                    <a:pt x="184310" y="585600"/>
                    <a:pt x="67582" y="468499"/>
                    <a:pt x="67582" y="326708"/>
                  </a:cubicBezTo>
                  <a:cubicBezTo>
                    <a:pt x="67582" y="273268"/>
                    <a:pt x="83964" y="219874"/>
                    <a:pt x="116728" y="176702"/>
                  </a:cubicBezTo>
                  <a:lnTo>
                    <a:pt x="159713" y="195185"/>
                  </a:lnTo>
                  <a:lnTo>
                    <a:pt x="139224" y="32857"/>
                  </a:lnTo>
                  <a:lnTo>
                    <a:pt x="12275" y="131477"/>
                  </a:lnTo>
                  <a:lnTo>
                    <a:pt x="51200" y="147905"/>
                  </a:lnTo>
                  <a:cubicBezTo>
                    <a:pt x="18436" y="201345"/>
                    <a:pt x="0" y="262953"/>
                    <a:pt x="0" y="326661"/>
                  </a:cubicBezTo>
                  <a:cubicBezTo>
                    <a:pt x="0" y="507470"/>
                    <a:pt x="145385" y="653369"/>
                    <a:pt x="325634" y="653369"/>
                  </a:cubicBezTo>
                  <a:cubicBezTo>
                    <a:pt x="505884" y="653369"/>
                    <a:pt x="651269" y="507470"/>
                    <a:pt x="651269" y="326661"/>
                  </a:cubicBezTo>
                  <a:cubicBezTo>
                    <a:pt x="651269" y="254739"/>
                    <a:pt x="628726" y="186924"/>
                    <a:pt x="587794" y="131477"/>
                  </a:cubicBezTo>
                  <a:lnTo>
                    <a:pt x="587794" y="13147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24" name="Google Shape;6704;g2d30ebb658d_0_19789">
            <a:extLst>
              <a:ext uri="{FF2B5EF4-FFF2-40B4-BE49-F238E27FC236}">
                <a16:creationId xmlns:a16="http://schemas.microsoft.com/office/drawing/2014/main" id="{D732DA76-ED67-713A-51A4-22866FFF54B2}"/>
              </a:ext>
            </a:extLst>
          </p:cNvPr>
          <p:cNvSpPr/>
          <p:nvPr/>
        </p:nvSpPr>
        <p:spPr>
          <a:xfrm>
            <a:off x="5693647" y="2293147"/>
            <a:ext cx="1002474" cy="166200"/>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5400000" scaled="1"/>
            </a:grad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chemeClr val="tx1"/>
                </a:solidFill>
              </a:rPr>
              <a:t>    </a:t>
            </a:r>
            <a:r>
              <a:rPr lang="en-US" sz="600" dirty="0">
                <a:solidFill>
                  <a:schemeClr val="tx1"/>
                </a:solidFill>
              </a:rPr>
              <a:t>VCF Insta</a:t>
            </a:r>
            <a:r>
              <a:rPr lang="en-US" sz="600" dirty="0"/>
              <a:t>nce</a:t>
            </a:r>
            <a:endParaRPr sz="600" dirty="0">
              <a:solidFill>
                <a:schemeClr val="tx1"/>
              </a:solidFill>
            </a:endParaRPr>
          </a:p>
        </p:txBody>
      </p:sp>
      <p:pic>
        <p:nvPicPr>
          <p:cNvPr id="25" name="Google Shape;6699;p92">
            <a:extLst>
              <a:ext uri="{FF2B5EF4-FFF2-40B4-BE49-F238E27FC236}">
                <a16:creationId xmlns:a16="http://schemas.microsoft.com/office/drawing/2014/main" id="{AC4E3D88-7943-B79B-F3B9-59921AC930AA}"/>
              </a:ext>
            </a:extLst>
          </p:cNvPr>
          <p:cNvPicPr preferRelativeResize="0">
            <a:picLocks noChangeAspect="1"/>
          </p:cNvPicPr>
          <p:nvPr/>
        </p:nvPicPr>
        <p:blipFill rotWithShape="1">
          <a:blip r:embed="rId5">
            <a:alphaModFix/>
          </a:blip>
          <a:srcRect/>
          <a:stretch/>
        </p:blipFill>
        <p:spPr>
          <a:xfrm>
            <a:off x="5800445" y="2307079"/>
            <a:ext cx="136581" cy="136581"/>
          </a:xfrm>
          <a:prstGeom prst="rect">
            <a:avLst/>
          </a:prstGeom>
          <a:noFill/>
          <a:ln>
            <a:noFill/>
          </a:ln>
        </p:spPr>
      </p:pic>
      <p:sp>
        <p:nvSpPr>
          <p:cNvPr id="42" name="Google Shape;6678;g2d30ebb658d_0_19789">
            <a:extLst>
              <a:ext uri="{FF2B5EF4-FFF2-40B4-BE49-F238E27FC236}">
                <a16:creationId xmlns:a16="http://schemas.microsoft.com/office/drawing/2014/main" id="{96A35CFA-2BCE-72B6-8DB1-6DD938A3473F}"/>
              </a:ext>
            </a:extLst>
          </p:cNvPr>
          <p:cNvSpPr/>
          <p:nvPr/>
        </p:nvSpPr>
        <p:spPr>
          <a:xfrm>
            <a:off x="4801889" y="3514837"/>
            <a:ext cx="1255899" cy="1202073"/>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3" name="Google Shape;6705;g2d30ebb658d_0_19789">
            <a:extLst>
              <a:ext uri="{FF2B5EF4-FFF2-40B4-BE49-F238E27FC236}">
                <a16:creationId xmlns:a16="http://schemas.microsoft.com/office/drawing/2014/main" id="{F57FFADE-232A-2D7B-0AF4-0C6288194ECC}"/>
              </a:ext>
            </a:extLst>
          </p:cNvPr>
          <p:cNvSpPr/>
          <p:nvPr/>
        </p:nvSpPr>
        <p:spPr>
          <a:xfrm>
            <a:off x="4837729" y="4300599"/>
            <a:ext cx="1178778" cy="357399"/>
          </a:xfrm>
          <a:prstGeom prst="roundRect">
            <a:avLst>
              <a:gd name="adj" fmla="val 6349"/>
            </a:avLst>
          </a:prstGeom>
          <a:gradFill>
            <a:gsLst>
              <a:gs pos="0">
                <a:schemeClr val="accent2"/>
              </a:gs>
              <a:gs pos="99000">
                <a:schemeClr val="accent5"/>
              </a:gs>
              <a:gs pos="100000">
                <a:schemeClr val="accent5"/>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rgbClr val="FFFFFF"/>
              </a:solidFill>
              <a:latin typeface="Arial"/>
              <a:ea typeface="Arial"/>
              <a:cs typeface="Arial"/>
              <a:sym typeface="Arial"/>
            </a:endParaRPr>
          </a:p>
        </p:txBody>
      </p:sp>
      <p:grpSp>
        <p:nvGrpSpPr>
          <p:cNvPr id="44" name="Google Shape;6707;g2d30ebb658d_0_19789">
            <a:extLst>
              <a:ext uri="{FF2B5EF4-FFF2-40B4-BE49-F238E27FC236}">
                <a16:creationId xmlns:a16="http://schemas.microsoft.com/office/drawing/2014/main" id="{CAE568CA-668C-A235-F397-BB484C8541E9}"/>
              </a:ext>
            </a:extLst>
          </p:cNvPr>
          <p:cNvGrpSpPr/>
          <p:nvPr/>
        </p:nvGrpSpPr>
        <p:grpSpPr>
          <a:xfrm>
            <a:off x="5704063" y="4342708"/>
            <a:ext cx="273516" cy="273515"/>
            <a:chOff x="10656543" y="2484407"/>
            <a:chExt cx="903000" cy="903000"/>
          </a:xfrm>
        </p:grpSpPr>
        <p:sp>
          <p:nvSpPr>
            <p:cNvPr id="45" name="Google Shape;6708;g2d30ebb658d_0_19789">
              <a:extLst>
                <a:ext uri="{FF2B5EF4-FFF2-40B4-BE49-F238E27FC236}">
                  <a16:creationId xmlns:a16="http://schemas.microsoft.com/office/drawing/2014/main" id="{2981E719-E4F1-8BDA-1632-FF968D0C374E}"/>
                </a:ext>
              </a:extLst>
            </p:cNvPr>
            <p:cNvSpPr/>
            <p:nvPr/>
          </p:nvSpPr>
          <p:spPr>
            <a:xfrm>
              <a:off x="10656543" y="2484407"/>
              <a:ext cx="903000" cy="903000"/>
            </a:xfrm>
            <a:prstGeom prst="ellipse">
              <a:avLst/>
            </a:prstGeom>
            <a:solidFill>
              <a:schemeClr val="dk2">
                <a:alpha val="498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46" name="Google Shape;6709;g2d30ebb658d_0_19789">
              <a:extLst>
                <a:ext uri="{FF2B5EF4-FFF2-40B4-BE49-F238E27FC236}">
                  <a16:creationId xmlns:a16="http://schemas.microsoft.com/office/drawing/2014/main" id="{0F43EE45-151E-4CB5-DABE-EABF08AC6D65}"/>
                </a:ext>
              </a:extLst>
            </p:cNvPr>
            <p:cNvSpPr/>
            <p:nvPr/>
          </p:nvSpPr>
          <p:spPr>
            <a:xfrm>
              <a:off x="10810509" y="2635103"/>
              <a:ext cx="595789" cy="595789"/>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7" name="Google Shape;6710;g2d30ebb658d_0_19789">
            <a:extLst>
              <a:ext uri="{FF2B5EF4-FFF2-40B4-BE49-F238E27FC236}">
                <a16:creationId xmlns:a16="http://schemas.microsoft.com/office/drawing/2014/main" id="{D7A81101-5EB4-C18C-136E-E30DCFCD24DD}"/>
              </a:ext>
            </a:extLst>
          </p:cNvPr>
          <p:cNvGrpSpPr/>
          <p:nvPr/>
        </p:nvGrpSpPr>
        <p:grpSpPr>
          <a:xfrm>
            <a:off x="4891557" y="4342623"/>
            <a:ext cx="273516" cy="273515"/>
            <a:chOff x="506872" y="5229970"/>
            <a:chExt cx="903000" cy="903000"/>
          </a:xfrm>
        </p:grpSpPr>
        <p:sp>
          <p:nvSpPr>
            <p:cNvPr id="48" name="Google Shape;6711;g2d30ebb658d_0_19789">
              <a:extLst>
                <a:ext uri="{FF2B5EF4-FFF2-40B4-BE49-F238E27FC236}">
                  <a16:creationId xmlns:a16="http://schemas.microsoft.com/office/drawing/2014/main" id="{BDE19613-CAE1-7BB3-E38A-ED022E1B3C82}"/>
                </a:ext>
              </a:extLst>
            </p:cNvPr>
            <p:cNvSpPr/>
            <p:nvPr/>
          </p:nvSpPr>
          <p:spPr>
            <a:xfrm>
              <a:off x="506872" y="5229970"/>
              <a:ext cx="903000" cy="903000"/>
            </a:xfrm>
            <a:prstGeom prst="ellipse">
              <a:avLst/>
            </a:prstGeom>
            <a:solidFill>
              <a:schemeClr val="dk2">
                <a:alpha val="498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49" name="Google Shape;6712;g2d30ebb658d_0_19789">
              <a:extLst>
                <a:ext uri="{FF2B5EF4-FFF2-40B4-BE49-F238E27FC236}">
                  <a16:creationId xmlns:a16="http://schemas.microsoft.com/office/drawing/2014/main" id="{6637B84B-4A70-4F61-3BAE-32E62F95B3CB}"/>
                </a:ext>
              </a:extLst>
            </p:cNvPr>
            <p:cNvSpPr/>
            <p:nvPr/>
          </p:nvSpPr>
          <p:spPr>
            <a:xfrm>
              <a:off x="677425" y="5425363"/>
              <a:ext cx="562432" cy="512692"/>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0" name="Google Shape;6713;g2d30ebb658d_0_19789">
            <a:extLst>
              <a:ext uri="{FF2B5EF4-FFF2-40B4-BE49-F238E27FC236}">
                <a16:creationId xmlns:a16="http://schemas.microsoft.com/office/drawing/2014/main" id="{762A535B-612B-2ADC-970C-4C7FC6E6EE7C}"/>
              </a:ext>
            </a:extLst>
          </p:cNvPr>
          <p:cNvGrpSpPr/>
          <p:nvPr/>
        </p:nvGrpSpPr>
        <p:grpSpPr>
          <a:xfrm>
            <a:off x="5294906" y="4342624"/>
            <a:ext cx="273516" cy="273515"/>
            <a:chOff x="9206590" y="5229970"/>
            <a:chExt cx="903000" cy="903000"/>
          </a:xfrm>
        </p:grpSpPr>
        <p:sp>
          <p:nvSpPr>
            <p:cNvPr id="51" name="Google Shape;6714;g2d30ebb658d_0_19789">
              <a:extLst>
                <a:ext uri="{FF2B5EF4-FFF2-40B4-BE49-F238E27FC236}">
                  <a16:creationId xmlns:a16="http://schemas.microsoft.com/office/drawing/2014/main" id="{C611FCAD-7849-FC7D-4835-2EA2664441C2}"/>
                </a:ext>
              </a:extLst>
            </p:cNvPr>
            <p:cNvSpPr/>
            <p:nvPr/>
          </p:nvSpPr>
          <p:spPr>
            <a:xfrm>
              <a:off x="9206590" y="5229970"/>
              <a:ext cx="903000" cy="903000"/>
            </a:xfrm>
            <a:prstGeom prst="ellipse">
              <a:avLst/>
            </a:prstGeom>
            <a:solidFill>
              <a:schemeClr val="dk2">
                <a:alpha val="498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52" name="Google Shape;6715;g2d30ebb658d_0_19789">
              <a:extLst>
                <a:ext uri="{FF2B5EF4-FFF2-40B4-BE49-F238E27FC236}">
                  <a16:creationId xmlns:a16="http://schemas.microsoft.com/office/drawing/2014/main" id="{C86A42F9-0C90-5972-FABF-3101275350D1}"/>
                </a:ext>
              </a:extLst>
            </p:cNvPr>
            <p:cNvSpPr/>
            <p:nvPr/>
          </p:nvSpPr>
          <p:spPr>
            <a:xfrm>
              <a:off x="9414720" y="5397931"/>
              <a:ext cx="487267" cy="567716"/>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3" name="Group 52">
            <a:extLst>
              <a:ext uri="{FF2B5EF4-FFF2-40B4-BE49-F238E27FC236}">
                <a16:creationId xmlns:a16="http://schemas.microsoft.com/office/drawing/2014/main" id="{263DF32F-7AAF-C50E-2EA6-8A80E5FCBB0B}"/>
              </a:ext>
            </a:extLst>
          </p:cNvPr>
          <p:cNvGrpSpPr/>
          <p:nvPr/>
        </p:nvGrpSpPr>
        <p:grpSpPr>
          <a:xfrm>
            <a:off x="5276922" y="3885399"/>
            <a:ext cx="265717" cy="265716"/>
            <a:chOff x="4332370" y="2485236"/>
            <a:chExt cx="664292" cy="664290"/>
          </a:xfrm>
        </p:grpSpPr>
        <p:sp>
          <p:nvSpPr>
            <p:cNvPr id="54" name="Google Shape;6760;g2d30ebb658d_0_19789">
              <a:extLst>
                <a:ext uri="{FF2B5EF4-FFF2-40B4-BE49-F238E27FC236}">
                  <a16:creationId xmlns:a16="http://schemas.microsoft.com/office/drawing/2014/main" id="{5A672261-6B94-EF0C-40CE-D37EB518C523}"/>
                </a:ext>
              </a:extLst>
            </p:cNvPr>
            <p:cNvSpPr/>
            <p:nvPr/>
          </p:nvSpPr>
          <p:spPr>
            <a:xfrm>
              <a:off x="4332370" y="2485236"/>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gradFill>
              <a:gsLst>
                <a:gs pos="0">
                  <a:schemeClr val="accent2"/>
                </a:gs>
                <a:gs pos="99000">
                  <a:schemeClr val="accent5"/>
                </a:gs>
                <a:gs pos="100000">
                  <a:schemeClr val="accent5"/>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55" name="Google Shape;6773;g2d30ebb658d_0_19789">
              <a:extLst>
                <a:ext uri="{FF2B5EF4-FFF2-40B4-BE49-F238E27FC236}">
                  <a16:creationId xmlns:a16="http://schemas.microsoft.com/office/drawing/2014/main" id="{ABF7623D-317E-D35D-C55C-9053D8D5DD4E}"/>
                </a:ext>
              </a:extLst>
            </p:cNvPr>
            <p:cNvSpPr/>
            <p:nvPr/>
          </p:nvSpPr>
          <p:spPr>
            <a:xfrm>
              <a:off x="4479093" y="2627406"/>
              <a:ext cx="220023" cy="227159"/>
            </a:xfrm>
            <a:custGeom>
              <a:avLst/>
              <a:gdLst/>
              <a:ahLst/>
              <a:cxnLst/>
              <a:rect l="l" t="t" r="r" b="b"/>
              <a:pathLst>
                <a:path w="349947" h="361296" extrusionOk="0">
                  <a:moveTo>
                    <a:pt x="315611" y="167464"/>
                  </a:moveTo>
                  <a:lnTo>
                    <a:pt x="349858" y="143737"/>
                  </a:lnTo>
                  <a:lnTo>
                    <a:pt x="349366" y="141544"/>
                  </a:lnTo>
                  <a:cubicBezTo>
                    <a:pt x="348112" y="135858"/>
                    <a:pt x="346590" y="130262"/>
                    <a:pt x="344889" y="124845"/>
                  </a:cubicBezTo>
                  <a:cubicBezTo>
                    <a:pt x="343143" y="119429"/>
                    <a:pt x="341129" y="114012"/>
                    <a:pt x="338801" y="108684"/>
                  </a:cubicBezTo>
                  <a:lnTo>
                    <a:pt x="337950" y="106625"/>
                  </a:lnTo>
                  <a:lnTo>
                    <a:pt x="296451" y="107789"/>
                  </a:lnTo>
                  <a:cubicBezTo>
                    <a:pt x="292063" y="100268"/>
                    <a:pt x="286870" y="93105"/>
                    <a:pt x="281095" y="86435"/>
                  </a:cubicBezTo>
                  <a:lnTo>
                    <a:pt x="295063" y="46860"/>
                  </a:lnTo>
                  <a:lnTo>
                    <a:pt x="293406" y="45383"/>
                  </a:lnTo>
                  <a:cubicBezTo>
                    <a:pt x="284856" y="37773"/>
                    <a:pt x="275544" y="30923"/>
                    <a:pt x="265740" y="25103"/>
                  </a:cubicBezTo>
                  <a:lnTo>
                    <a:pt x="263815" y="23984"/>
                  </a:lnTo>
                  <a:lnTo>
                    <a:pt x="230911" y="49546"/>
                  </a:lnTo>
                  <a:cubicBezTo>
                    <a:pt x="222987" y="46099"/>
                    <a:pt x="214660" y="43369"/>
                    <a:pt x="206110" y="41399"/>
                  </a:cubicBezTo>
                  <a:lnTo>
                    <a:pt x="194381" y="1063"/>
                  </a:lnTo>
                  <a:lnTo>
                    <a:pt x="192142" y="839"/>
                  </a:lnTo>
                  <a:cubicBezTo>
                    <a:pt x="180816" y="-280"/>
                    <a:pt x="169311" y="-280"/>
                    <a:pt x="157940" y="839"/>
                  </a:cubicBezTo>
                  <a:lnTo>
                    <a:pt x="155746" y="1063"/>
                  </a:lnTo>
                  <a:lnTo>
                    <a:pt x="143972" y="41354"/>
                  </a:lnTo>
                  <a:cubicBezTo>
                    <a:pt x="139675" y="42339"/>
                    <a:pt x="135467" y="43503"/>
                    <a:pt x="131348" y="44846"/>
                  </a:cubicBezTo>
                  <a:cubicBezTo>
                    <a:pt x="127274" y="46189"/>
                    <a:pt x="123155" y="47756"/>
                    <a:pt x="119126" y="49502"/>
                  </a:cubicBezTo>
                  <a:lnTo>
                    <a:pt x="86178" y="23850"/>
                  </a:lnTo>
                  <a:lnTo>
                    <a:pt x="84253" y="25014"/>
                  </a:lnTo>
                  <a:cubicBezTo>
                    <a:pt x="74448" y="30834"/>
                    <a:pt x="65137" y="37638"/>
                    <a:pt x="56586" y="45294"/>
                  </a:cubicBezTo>
                  <a:lnTo>
                    <a:pt x="54930" y="46771"/>
                  </a:lnTo>
                  <a:lnTo>
                    <a:pt x="68852" y="86390"/>
                  </a:lnTo>
                  <a:cubicBezTo>
                    <a:pt x="63077" y="93061"/>
                    <a:pt x="57929" y="100223"/>
                    <a:pt x="53497" y="107744"/>
                  </a:cubicBezTo>
                  <a:lnTo>
                    <a:pt x="11998" y="106580"/>
                  </a:lnTo>
                  <a:lnTo>
                    <a:pt x="11102" y="108640"/>
                  </a:lnTo>
                  <a:cubicBezTo>
                    <a:pt x="6536" y="119205"/>
                    <a:pt x="2999" y="130262"/>
                    <a:pt x="492" y="141499"/>
                  </a:cubicBezTo>
                  <a:lnTo>
                    <a:pt x="0" y="143693"/>
                  </a:lnTo>
                  <a:lnTo>
                    <a:pt x="34292" y="167464"/>
                  </a:lnTo>
                  <a:cubicBezTo>
                    <a:pt x="33486" y="176283"/>
                    <a:pt x="33486" y="185147"/>
                    <a:pt x="34292" y="193832"/>
                  </a:cubicBezTo>
                  <a:lnTo>
                    <a:pt x="0" y="217559"/>
                  </a:lnTo>
                  <a:lnTo>
                    <a:pt x="492" y="219753"/>
                  </a:lnTo>
                  <a:cubicBezTo>
                    <a:pt x="1746" y="225393"/>
                    <a:pt x="3268" y="230989"/>
                    <a:pt x="5014" y="236451"/>
                  </a:cubicBezTo>
                  <a:cubicBezTo>
                    <a:pt x="6760" y="241868"/>
                    <a:pt x="8774" y="247285"/>
                    <a:pt x="11058" y="252612"/>
                  </a:cubicBezTo>
                  <a:lnTo>
                    <a:pt x="11953" y="254671"/>
                  </a:lnTo>
                  <a:lnTo>
                    <a:pt x="53452" y="253507"/>
                  </a:lnTo>
                  <a:cubicBezTo>
                    <a:pt x="57884" y="261028"/>
                    <a:pt x="63033" y="268236"/>
                    <a:pt x="68808" y="274861"/>
                  </a:cubicBezTo>
                  <a:lnTo>
                    <a:pt x="54840" y="314436"/>
                  </a:lnTo>
                  <a:lnTo>
                    <a:pt x="56497" y="315958"/>
                  </a:lnTo>
                  <a:cubicBezTo>
                    <a:pt x="65002" y="323569"/>
                    <a:pt x="74359" y="330373"/>
                    <a:pt x="84163" y="336238"/>
                  </a:cubicBezTo>
                  <a:lnTo>
                    <a:pt x="86088" y="337357"/>
                  </a:lnTo>
                  <a:lnTo>
                    <a:pt x="118992" y="311750"/>
                  </a:lnTo>
                  <a:cubicBezTo>
                    <a:pt x="126916" y="315197"/>
                    <a:pt x="135287" y="317928"/>
                    <a:pt x="143838" y="319898"/>
                  </a:cubicBezTo>
                  <a:lnTo>
                    <a:pt x="155612" y="360233"/>
                  </a:lnTo>
                  <a:lnTo>
                    <a:pt x="157850" y="360457"/>
                  </a:lnTo>
                  <a:cubicBezTo>
                    <a:pt x="169177" y="361576"/>
                    <a:pt x="180682" y="361576"/>
                    <a:pt x="192008" y="360457"/>
                  </a:cubicBezTo>
                  <a:lnTo>
                    <a:pt x="194202" y="360233"/>
                  </a:lnTo>
                  <a:lnTo>
                    <a:pt x="205975" y="319942"/>
                  </a:lnTo>
                  <a:cubicBezTo>
                    <a:pt x="210273" y="318958"/>
                    <a:pt x="214481" y="317794"/>
                    <a:pt x="218600" y="316451"/>
                  </a:cubicBezTo>
                  <a:cubicBezTo>
                    <a:pt x="222718" y="315108"/>
                    <a:pt x="226792" y="313541"/>
                    <a:pt x="230821" y="311795"/>
                  </a:cubicBezTo>
                  <a:lnTo>
                    <a:pt x="263770" y="337402"/>
                  </a:lnTo>
                  <a:lnTo>
                    <a:pt x="265695" y="336283"/>
                  </a:lnTo>
                  <a:cubicBezTo>
                    <a:pt x="275499" y="330463"/>
                    <a:pt x="284811" y="323613"/>
                    <a:pt x="293362" y="316003"/>
                  </a:cubicBezTo>
                  <a:lnTo>
                    <a:pt x="295018" y="314481"/>
                  </a:lnTo>
                  <a:lnTo>
                    <a:pt x="281095" y="274861"/>
                  </a:lnTo>
                  <a:cubicBezTo>
                    <a:pt x="286915" y="268191"/>
                    <a:pt x="292019" y="261028"/>
                    <a:pt x="296451" y="253507"/>
                  </a:cubicBezTo>
                  <a:lnTo>
                    <a:pt x="337950" y="254671"/>
                  </a:lnTo>
                  <a:lnTo>
                    <a:pt x="338845" y="252612"/>
                  </a:lnTo>
                  <a:cubicBezTo>
                    <a:pt x="343412" y="242047"/>
                    <a:pt x="346948" y="230989"/>
                    <a:pt x="349455" y="219753"/>
                  </a:cubicBezTo>
                  <a:lnTo>
                    <a:pt x="349948" y="217559"/>
                  </a:lnTo>
                  <a:lnTo>
                    <a:pt x="315656" y="193832"/>
                  </a:lnTo>
                  <a:cubicBezTo>
                    <a:pt x="316462" y="185013"/>
                    <a:pt x="316506" y="176149"/>
                    <a:pt x="315656" y="167419"/>
                  </a:cubicBezTo>
                  <a:close/>
                  <a:moveTo>
                    <a:pt x="174907" y="282472"/>
                  </a:moveTo>
                  <a:cubicBezTo>
                    <a:pt x="119261" y="282472"/>
                    <a:pt x="74135" y="236899"/>
                    <a:pt x="74135" y="180626"/>
                  </a:cubicBezTo>
                  <a:cubicBezTo>
                    <a:pt x="74135" y="124353"/>
                    <a:pt x="119261" y="78824"/>
                    <a:pt x="174907" y="78824"/>
                  </a:cubicBezTo>
                  <a:cubicBezTo>
                    <a:pt x="230553" y="78824"/>
                    <a:pt x="275679" y="124398"/>
                    <a:pt x="275679" y="180626"/>
                  </a:cubicBezTo>
                  <a:cubicBezTo>
                    <a:pt x="275679" y="236854"/>
                    <a:pt x="230553" y="282472"/>
                    <a:pt x="174907" y="28247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 name="Google Shape;6774;g2d30ebb658d_0_19789">
              <a:extLst>
                <a:ext uri="{FF2B5EF4-FFF2-40B4-BE49-F238E27FC236}">
                  <a16:creationId xmlns:a16="http://schemas.microsoft.com/office/drawing/2014/main" id="{44CB562C-13DB-4CAB-6B09-FD0BCDE74663}"/>
                </a:ext>
              </a:extLst>
            </p:cNvPr>
            <p:cNvSpPr/>
            <p:nvPr/>
          </p:nvSpPr>
          <p:spPr>
            <a:xfrm>
              <a:off x="4699246" y="2715696"/>
              <a:ext cx="176493" cy="175692"/>
            </a:xfrm>
            <a:custGeom>
              <a:avLst/>
              <a:gdLst/>
              <a:ahLst/>
              <a:cxnLst/>
              <a:rect l="l" t="t" r="r" b="b"/>
              <a:pathLst>
                <a:path w="280712" h="279438" extrusionOk="0">
                  <a:moveTo>
                    <a:pt x="239570" y="90341"/>
                  </a:moveTo>
                  <a:lnTo>
                    <a:pt x="257924" y="63301"/>
                  </a:lnTo>
                  <a:lnTo>
                    <a:pt x="256940" y="61824"/>
                  </a:lnTo>
                  <a:cubicBezTo>
                    <a:pt x="254433" y="58019"/>
                    <a:pt x="251746" y="54348"/>
                    <a:pt x="248926" y="50901"/>
                  </a:cubicBezTo>
                  <a:cubicBezTo>
                    <a:pt x="246106" y="47454"/>
                    <a:pt x="243106" y="44006"/>
                    <a:pt x="239928" y="40783"/>
                  </a:cubicBezTo>
                  <a:lnTo>
                    <a:pt x="238719" y="39530"/>
                  </a:lnTo>
                  <a:lnTo>
                    <a:pt x="208680" y="52109"/>
                  </a:lnTo>
                  <a:cubicBezTo>
                    <a:pt x="203308" y="47857"/>
                    <a:pt x="197533" y="44051"/>
                    <a:pt x="191400" y="40828"/>
                  </a:cubicBezTo>
                  <a:lnTo>
                    <a:pt x="190415" y="7924"/>
                  </a:lnTo>
                  <a:lnTo>
                    <a:pt x="188759" y="7297"/>
                  </a:lnTo>
                  <a:cubicBezTo>
                    <a:pt x="180342" y="4119"/>
                    <a:pt x="171613" y="1791"/>
                    <a:pt x="162793" y="269"/>
                  </a:cubicBezTo>
                  <a:lnTo>
                    <a:pt x="161047" y="0"/>
                  </a:lnTo>
                  <a:lnTo>
                    <a:pt x="144215" y="28024"/>
                  </a:lnTo>
                  <a:cubicBezTo>
                    <a:pt x="137455" y="27756"/>
                    <a:pt x="130561" y="28114"/>
                    <a:pt x="123756" y="29099"/>
                  </a:cubicBezTo>
                  <a:lnTo>
                    <a:pt x="103790" y="2910"/>
                  </a:lnTo>
                  <a:lnTo>
                    <a:pt x="102089" y="3358"/>
                  </a:lnTo>
                  <a:cubicBezTo>
                    <a:pt x="93493" y="5775"/>
                    <a:pt x="85077" y="8998"/>
                    <a:pt x="77064" y="13027"/>
                  </a:cubicBezTo>
                  <a:lnTo>
                    <a:pt x="75497" y="13788"/>
                  </a:lnTo>
                  <a:lnTo>
                    <a:pt x="78272" y="46603"/>
                  </a:lnTo>
                  <a:cubicBezTo>
                    <a:pt x="75407" y="48528"/>
                    <a:pt x="72632" y="50587"/>
                    <a:pt x="70035" y="52691"/>
                  </a:cubicBezTo>
                  <a:cubicBezTo>
                    <a:pt x="67439" y="54840"/>
                    <a:pt x="64842" y="57123"/>
                    <a:pt x="62425" y="59541"/>
                  </a:cubicBezTo>
                  <a:lnTo>
                    <a:pt x="31087" y="50095"/>
                  </a:lnTo>
                  <a:lnTo>
                    <a:pt x="30013" y="51483"/>
                  </a:lnTo>
                  <a:cubicBezTo>
                    <a:pt x="24462" y="58511"/>
                    <a:pt x="19582" y="66122"/>
                    <a:pt x="15508" y="74135"/>
                  </a:cubicBezTo>
                  <a:lnTo>
                    <a:pt x="14702" y="75702"/>
                  </a:lnTo>
                  <a:lnTo>
                    <a:pt x="36101" y="100727"/>
                  </a:lnTo>
                  <a:cubicBezTo>
                    <a:pt x="33729" y="107218"/>
                    <a:pt x="32027" y="113933"/>
                    <a:pt x="30908" y="120693"/>
                  </a:cubicBezTo>
                  <a:lnTo>
                    <a:pt x="198" y="131572"/>
                  </a:lnTo>
                  <a:lnTo>
                    <a:pt x="108" y="133318"/>
                  </a:lnTo>
                  <a:cubicBezTo>
                    <a:pt x="-250" y="142316"/>
                    <a:pt x="287" y="151449"/>
                    <a:pt x="1630" y="160357"/>
                  </a:cubicBezTo>
                  <a:lnTo>
                    <a:pt x="1899" y="162103"/>
                  </a:lnTo>
                  <a:lnTo>
                    <a:pt x="33684" y="169803"/>
                  </a:lnTo>
                  <a:cubicBezTo>
                    <a:pt x="35564" y="176474"/>
                    <a:pt x="38071" y="182965"/>
                    <a:pt x="41115" y="189098"/>
                  </a:cubicBezTo>
                  <a:lnTo>
                    <a:pt x="22761" y="216138"/>
                  </a:lnTo>
                  <a:lnTo>
                    <a:pt x="23745" y="217615"/>
                  </a:lnTo>
                  <a:cubicBezTo>
                    <a:pt x="26252" y="221420"/>
                    <a:pt x="28938" y="225046"/>
                    <a:pt x="31759" y="228538"/>
                  </a:cubicBezTo>
                  <a:cubicBezTo>
                    <a:pt x="34579" y="231985"/>
                    <a:pt x="37579" y="235432"/>
                    <a:pt x="40757" y="238656"/>
                  </a:cubicBezTo>
                  <a:lnTo>
                    <a:pt x="42011" y="239909"/>
                  </a:lnTo>
                  <a:lnTo>
                    <a:pt x="72050" y="227330"/>
                  </a:lnTo>
                  <a:cubicBezTo>
                    <a:pt x="77422" y="231582"/>
                    <a:pt x="83197" y="235388"/>
                    <a:pt x="89330" y="238611"/>
                  </a:cubicBezTo>
                  <a:lnTo>
                    <a:pt x="90315" y="271515"/>
                  </a:lnTo>
                  <a:lnTo>
                    <a:pt x="91971" y="272142"/>
                  </a:lnTo>
                  <a:cubicBezTo>
                    <a:pt x="100343" y="275276"/>
                    <a:pt x="109117" y="277648"/>
                    <a:pt x="117936" y="279170"/>
                  </a:cubicBezTo>
                  <a:lnTo>
                    <a:pt x="119682" y="279439"/>
                  </a:lnTo>
                  <a:lnTo>
                    <a:pt x="136515" y="251414"/>
                  </a:lnTo>
                  <a:cubicBezTo>
                    <a:pt x="143320" y="251683"/>
                    <a:pt x="150169" y="251325"/>
                    <a:pt x="156974" y="250340"/>
                  </a:cubicBezTo>
                  <a:lnTo>
                    <a:pt x="176985" y="276529"/>
                  </a:lnTo>
                  <a:lnTo>
                    <a:pt x="178686" y="276037"/>
                  </a:lnTo>
                  <a:cubicBezTo>
                    <a:pt x="187281" y="273619"/>
                    <a:pt x="195698" y="270396"/>
                    <a:pt x="203666" y="266367"/>
                  </a:cubicBezTo>
                  <a:lnTo>
                    <a:pt x="205233" y="265606"/>
                  </a:lnTo>
                  <a:lnTo>
                    <a:pt x="202457" y="232791"/>
                  </a:lnTo>
                  <a:cubicBezTo>
                    <a:pt x="205323" y="230866"/>
                    <a:pt x="208098" y="228807"/>
                    <a:pt x="210695" y="226703"/>
                  </a:cubicBezTo>
                  <a:cubicBezTo>
                    <a:pt x="213291" y="224554"/>
                    <a:pt x="215888" y="222271"/>
                    <a:pt x="218350" y="219853"/>
                  </a:cubicBezTo>
                  <a:lnTo>
                    <a:pt x="249687" y="229299"/>
                  </a:lnTo>
                  <a:lnTo>
                    <a:pt x="250762" y="227912"/>
                  </a:lnTo>
                  <a:cubicBezTo>
                    <a:pt x="256313" y="220883"/>
                    <a:pt x="261192" y="213228"/>
                    <a:pt x="265266" y="205259"/>
                  </a:cubicBezTo>
                  <a:lnTo>
                    <a:pt x="266072" y="203692"/>
                  </a:lnTo>
                  <a:lnTo>
                    <a:pt x="244673" y="178667"/>
                  </a:lnTo>
                  <a:cubicBezTo>
                    <a:pt x="247046" y="172131"/>
                    <a:pt x="248747" y="165461"/>
                    <a:pt x="249866" y="158701"/>
                  </a:cubicBezTo>
                  <a:lnTo>
                    <a:pt x="280577" y="147822"/>
                  </a:lnTo>
                  <a:lnTo>
                    <a:pt x="280577" y="146076"/>
                  </a:lnTo>
                  <a:cubicBezTo>
                    <a:pt x="280980" y="137078"/>
                    <a:pt x="280487" y="127990"/>
                    <a:pt x="279099" y="119037"/>
                  </a:cubicBezTo>
                  <a:lnTo>
                    <a:pt x="278831" y="117291"/>
                  </a:lnTo>
                  <a:lnTo>
                    <a:pt x="247046" y="109636"/>
                  </a:lnTo>
                  <a:cubicBezTo>
                    <a:pt x="245166" y="102921"/>
                    <a:pt x="242659" y="96429"/>
                    <a:pt x="239615" y="90296"/>
                  </a:cubicBezTo>
                  <a:close/>
                  <a:moveTo>
                    <a:pt x="169106" y="214213"/>
                  </a:moveTo>
                  <a:cubicBezTo>
                    <a:pt x="128412" y="229926"/>
                    <a:pt x="82525" y="209333"/>
                    <a:pt x="66633" y="168192"/>
                  </a:cubicBezTo>
                  <a:cubicBezTo>
                    <a:pt x="50740" y="127050"/>
                    <a:pt x="70886" y="80984"/>
                    <a:pt x="111579" y="65226"/>
                  </a:cubicBezTo>
                  <a:cubicBezTo>
                    <a:pt x="152273" y="49513"/>
                    <a:pt x="198160" y="70106"/>
                    <a:pt x="214052" y="111247"/>
                  </a:cubicBezTo>
                  <a:cubicBezTo>
                    <a:pt x="229945" y="152389"/>
                    <a:pt x="209799" y="198499"/>
                    <a:pt x="169106" y="21421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 name="Google Shape;6775;g2d30ebb658d_0_19789">
              <a:extLst>
                <a:ext uri="{FF2B5EF4-FFF2-40B4-BE49-F238E27FC236}">
                  <a16:creationId xmlns:a16="http://schemas.microsoft.com/office/drawing/2014/main" id="{C8E6B83B-6269-CD5C-F6F4-5393DE420E22}"/>
                </a:ext>
              </a:extLst>
            </p:cNvPr>
            <p:cNvSpPr/>
            <p:nvPr/>
          </p:nvSpPr>
          <p:spPr>
            <a:xfrm>
              <a:off x="4601540" y="2855726"/>
              <a:ext cx="146600" cy="145857"/>
            </a:xfrm>
            <a:custGeom>
              <a:avLst/>
              <a:gdLst/>
              <a:ahLst/>
              <a:cxnLst/>
              <a:rect l="l" t="t" r="r" b="b"/>
              <a:pathLst>
                <a:path w="233167" h="231985" extrusionOk="0">
                  <a:moveTo>
                    <a:pt x="199023" y="74986"/>
                  </a:moveTo>
                  <a:lnTo>
                    <a:pt x="214289" y="52557"/>
                  </a:lnTo>
                  <a:lnTo>
                    <a:pt x="213483" y="51348"/>
                  </a:lnTo>
                  <a:cubicBezTo>
                    <a:pt x="211379" y="48215"/>
                    <a:pt x="209141" y="45126"/>
                    <a:pt x="206813" y="42261"/>
                  </a:cubicBezTo>
                  <a:cubicBezTo>
                    <a:pt x="204485" y="39395"/>
                    <a:pt x="201978" y="36530"/>
                    <a:pt x="199336" y="33844"/>
                  </a:cubicBezTo>
                  <a:lnTo>
                    <a:pt x="198307" y="32770"/>
                  </a:lnTo>
                  <a:lnTo>
                    <a:pt x="173371" y="43201"/>
                  </a:lnTo>
                  <a:cubicBezTo>
                    <a:pt x="168939" y="39664"/>
                    <a:pt x="164104" y="36530"/>
                    <a:pt x="159001" y="33844"/>
                  </a:cubicBezTo>
                  <a:lnTo>
                    <a:pt x="158195" y="6536"/>
                  </a:lnTo>
                  <a:lnTo>
                    <a:pt x="156807" y="6044"/>
                  </a:lnTo>
                  <a:cubicBezTo>
                    <a:pt x="149824" y="3402"/>
                    <a:pt x="142571" y="1433"/>
                    <a:pt x="135229" y="224"/>
                  </a:cubicBezTo>
                  <a:lnTo>
                    <a:pt x="133797" y="0"/>
                  </a:lnTo>
                  <a:lnTo>
                    <a:pt x="119785" y="23279"/>
                  </a:lnTo>
                  <a:cubicBezTo>
                    <a:pt x="114144" y="23055"/>
                    <a:pt x="108458" y="23324"/>
                    <a:pt x="102773" y="24174"/>
                  </a:cubicBezTo>
                  <a:lnTo>
                    <a:pt x="86164" y="2417"/>
                  </a:lnTo>
                  <a:lnTo>
                    <a:pt x="84776" y="2776"/>
                  </a:lnTo>
                  <a:cubicBezTo>
                    <a:pt x="77613" y="4745"/>
                    <a:pt x="70630" y="7476"/>
                    <a:pt x="64004" y="10834"/>
                  </a:cubicBezTo>
                  <a:lnTo>
                    <a:pt x="62706" y="11460"/>
                  </a:lnTo>
                  <a:lnTo>
                    <a:pt x="65034" y="38724"/>
                  </a:lnTo>
                  <a:cubicBezTo>
                    <a:pt x="62661" y="40336"/>
                    <a:pt x="60333" y="42037"/>
                    <a:pt x="58184" y="43783"/>
                  </a:cubicBezTo>
                  <a:cubicBezTo>
                    <a:pt x="56036" y="45573"/>
                    <a:pt x="53887" y="47454"/>
                    <a:pt x="51827" y="49468"/>
                  </a:cubicBezTo>
                  <a:lnTo>
                    <a:pt x="25817" y="41634"/>
                  </a:lnTo>
                  <a:lnTo>
                    <a:pt x="24922" y="42798"/>
                  </a:lnTo>
                  <a:cubicBezTo>
                    <a:pt x="20311" y="48618"/>
                    <a:pt x="16282" y="54975"/>
                    <a:pt x="12880" y="61600"/>
                  </a:cubicBezTo>
                  <a:lnTo>
                    <a:pt x="12208" y="62898"/>
                  </a:lnTo>
                  <a:lnTo>
                    <a:pt x="29981" y="83671"/>
                  </a:lnTo>
                  <a:cubicBezTo>
                    <a:pt x="28011" y="89087"/>
                    <a:pt x="26579" y="94639"/>
                    <a:pt x="25638" y="100235"/>
                  </a:cubicBezTo>
                  <a:lnTo>
                    <a:pt x="121" y="109278"/>
                  </a:lnTo>
                  <a:lnTo>
                    <a:pt x="121" y="110710"/>
                  </a:lnTo>
                  <a:cubicBezTo>
                    <a:pt x="-237" y="118186"/>
                    <a:pt x="210" y="125752"/>
                    <a:pt x="1330" y="133139"/>
                  </a:cubicBezTo>
                  <a:lnTo>
                    <a:pt x="1553" y="134571"/>
                  </a:lnTo>
                  <a:lnTo>
                    <a:pt x="27966" y="140973"/>
                  </a:lnTo>
                  <a:cubicBezTo>
                    <a:pt x="29533" y="146524"/>
                    <a:pt x="31637" y="151896"/>
                    <a:pt x="34144" y="157000"/>
                  </a:cubicBezTo>
                  <a:lnTo>
                    <a:pt x="18878" y="179428"/>
                  </a:lnTo>
                  <a:lnTo>
                    <a:pt x="19684" y="180637"/>
                  </a:lnTo>
                  <a:cubicBezTo>
                    <a:pt x="21744" y="183771"/>
                    <a:pt x="23982" y="186815"/>
                    <a:pt x="26355" y="189725"/>
                  </a:cubicBezTo>
                  <a:cubicBezTo>
                    <a:pt x="28683" y="192590"/>
                    <a:pt x="31190" y="195455"/>
                    <a:pt x="33831" y="198141"/>
                  </a:cubicBezTo>
                  <a:lnTo>
                    <a:pt x="34860" y="199216"/>
                  </a:lnTo>
                  <a:lnTo>
                    <a:pt x="59796" y="188740"/>
                  </a:lnTo>
                  <a:cubicBezTo>
                    <a:pt x="64228" y="192277"/>
                    <a:pt x="69063" y="195455"/>
                    <a:pt x="74166" y="198096"/>
                  </a:cubicBezTo>
                  <a:lnTo>
                    <a:pt x="74972" y="225405"/>
                  </a:lnTo>
                  <a:lnTo>
                    <a:pt x="76360" y="225942"/>
                  </a:lnTo>
                  <a:cubicBezTo>
                    <a:pt x="83344" y="228583"/>
                    <a:pt x="90596" y="230508"/>
                    <a:pt x="97938" y="231762"/>
                  </a:cubicBezTo>
                  <a:lnTo>
                    <a:pt x="99371" y="231985"/>
                  </a:lnTo>
                  <a:lnTo>
                    <a:pt x="113383" y="208706"/>
                  </a:lnTo>
                  <a:cubicBezTo>
                    <a:pt x="119023" y="208930"/>
                    <a:pt x="124709" y="208661"/>
                    <a:pt x="130394" y="207811"/>
                  </a:cubicBezTo>
                  <a:lnTo>
                    <a:pt x="147003" y="229568"/>
                  </a:lnTo>
                  <a:lnTo>
                    <a:pt x="148391" y="229165"/>
                  </a:lnTo>
                  <a:cubicBezTo>
                    <a:pt x="155554" y="227195"/>
                    <a:pt x="162538" y="224464"/>
                    <a:pt x="169163" y="221152"/>
                  </a:cubicBezTo>
                  <a:lnTo>
                    <a:pt x="170461" y="220525"/>
                  </a:lnTo>
                  <a:lnTo>
                    <a:pt x="168133" y="193261"/>
                  </a:lnTo>
                  <a:cubicBezTo>
                    <a:pt x="170506" y="191650"/>
                    <a:pt x="172789" y="189949"/>
                    <a:pt x="174983" y="188203"/>
                  </a:cubicBezTo>
                  <a:cubicBezTo>
                    <a:pt x="177177" y="186412"/>
                    <a:pt x="179281" y="184487"/>
                    <a:pt x="181340" y="182517"/>
                  </a:cubicBezTo>
                  <a:lnTo>
                    <a:pt x="207350" y="190352"/>
                  </a:lnTo>
                  <a:lnTo>
                    <a:pt x="208245" y="189232"/>
                  </a:lnTo>
                  <a:cubicBezTo>
                    <a:pt x="212856" y="183368"/>
                    <a:pt x="216885" y="177056"/>
                    <a:pt x="220288" y="170430"/>
                  </a:cubicBezTo>
                  <a:lnTo>
                    <a:pt x="220959" y="169132"/>
                  </a:lnTo>
                  <a:lnTo>
                    <a:pt x="203186" y="148360"/>
                  </a:lnTo>
                  <a:cubicBezTo>
                    <a:pt x="205156" y="142943"/>
                    <a:pt x="206589" y="137392"/>
                    <a:pt x="207529" y="131796"/>
                  </a:cubicBezTo>
                  <a:lnTo>
                    <a:pt x="233046" y="122753"/>
                  </a:lnTo>
                  <a:lnTo>
                    <a:pt x="233046" y="121275"/>
                  </a:lnTo>
                  <a:cubicBezTo>
                    <a:pt x="233405" y="113799"/>
                    <a:pt x="232957" y="106233"/>
                    <a:pt x="231838" y="98847"/>
                  </a:cubicBezTo>
                  <a:lnTo>
                    <a:pt x="231614" y="97369"/>
                  </a:lnTo>
                  <a:lnTo>
                    <a:pt x="205201" y="91012"/>
                  </a:lnTo>
                  <a:cubicBezTo>
                    <a:pt x="203634" y="85461"/>
                    <a:pt x="201530" y="80044"/>
                    <a:pt x="199023" y="74941"/>
                  </a:cubicBezTo>
                  <a:close/>
                  <a:moveTo>
                    <a:pt x="140512" y="177906"/>
                  </a:moveTo>
                  <a:cubicBezTo>
                    <a:pt x="106712" y="190978"/>
                    <a:pt x="68615" y="173832"/>
                    <a:pt x="55409" y="139675"/>
                  </a:cubicBezTo>
                  <a:cubicBezTo>
                    <a:pt x="42202" y="105517"/>
                    <a:pt x="58945" y="67241"/>
                    <a:pt x="92745" y="54169"/>
                  </a:cubicBezTo>
                  <a:cubicBezTo>
                    <a:pt x="126544" y="41097"/>
                    <a:pt x="164686" y="58198"/>
                    <a:pt x="177848" y="92400"/>
                  </a:cubicBezTo>
                  <a:cubicBezTo>
                    <a:pt x="191054" y="126558"/>
                    <a:pt x="174356" y="164834"/>
                    <a:pt x="140512" y="1779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8" name="Group 57">
            <a:extLst>
              <a:ext uri="{FF2B5EF4-FFF2-40B4-BE49-F238E27FC236}">
                <a16:creationId xmlns:a16="http://schemas.microsoft.com/office/drawing/2014/main" id="{C231F2FC-3490-B125-AFDB-A4F8660A36A2}"/>
              </a:ext>
            </a:extLst>
          </p:cNvPr>
          <p:cNvGrpSpPr/>
          <p:nvPr/>
        </p:nvGrpSpPr>
        <p:grpSpPr>
          <a:xfrm>
            <a:off x="5650593" y="3885751"/>
            <a:ext cx="265717" cy="265716"/>
            <a:chOff x="4662354" y="2396539"/>
            <a:chExt cx="664292" cy="664290"/>
          </a:xfrm>
        </p:grpSpPr>
        <p:sp>
          <p:nvSpPr>
            <p:cNvPr id="59" name="Google Shape;6760;g2d30ebb658d_0_19789">
              <a:extLst>
                <a:ext uri="{FF2B5EF4-FFF2-40B4-BE49-F238E27FC236}">
                  <a16:creationId xmlns:a16="http://schemas.microsoft.com/office/drawing/2014/main" id="{2571F3B6-A07B-7F61-A52C-F7B20CFF709F}"/>
                </a:ext>
              </a:extLst>
            </p:cNvPr>
            <p:cNvSpPr/>
            <p:nvPr/>
          </p:nvSpPr>
          <p:spPr>
            <a:xfrm>
              <a:off x="4662354" y="2396539"/>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gradFill>
              <a:gsLst>
                <a:gs pos="0">
                  <a:schemeClr val="accent5"/>
                </a:gs>
                <a:gs pos="99000">
                  <a:schemeClr val="accent5"/>
                </a:gs>
                <a:gs pos="100000">
                  <a:schemeClr val="accent5"/>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60" name="Graphic 59">
              <a:extLst>
                <a:ext uri="{FF2B5EF4-FFF2-40B4-BE49-F238E27FC236}">
                  <a16:creationId xmlns:a16="http://schemas.microsoft.com/office/drawing/2014/main" id="{312C4EEB-508F-0F17-64F6-AF51B8F7BB1D}"/>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745580" y="2478551"/>
              <a:ext cx="497840" cy="497840"/>
            </a:xfrm>
            <a:prstGeom prst="rect">
              <a:avLst/>
            </a:prstGeom>
          </p:spPr>
        </p:pic>
      </p:grpSp>
      <p:grpSp>
        <p:nvGrpSpPr>
          <p:cNvPr id="61" name="Group 60">
            <a:extLst>
              <a:ext uri="{FF2B5EF4-FFF2-40B4-BE49-F238E27FC236}">
                <a16:creationId xmlns:a16="http://schemas.microsoft.com/office/drawing/2014/main" id="{3F5B77B0-9CDA-F3BF-6B91-EC92169D1895}"/>
              </a:ext>
            </a:extLst>
          </p:cNvPr>
          <p:cNvGrpSpPr/>
          <p:nvPr/>
        </p:nvGrpSpPr>
        <p:grpSpPr>
          <a:xfrm>
            <a:off x="4912629" y="3886459"/>
            <a:ext cx="265717" cy="265716"/>
            <a:chOff x="1358600" y="2398310"/>
            <a:chExt cx="664292" cy="664290"/>
          </a:xfrm>
        </p:grpSpPr>
        <p:sp>
          <p:nvSpPr>
            <p:cNvPr id="62" name="Google Shape;6760;g2d30ebb658d_0_19789">
              <a:extLst>
                <a:ext uri="{FF2B5EF4-FFF2-40B4-BE49-F238E27FC236}">
                  <a16:creationId xmlns:a16="http://schemas.microsoft.com/office/drawing/2014/main" id="{4BD6CC15-25F4-D844-8DE8-E1F977C6196C}"/>
                </a:ext>
              </a:extLst>
            </p:cNvPr>
            <p:cNvSpPr/>
            <p:nvPr/>
          </p:nvSpPr>
          <p:spPr>
            <a:xfrm>
              <a:off x="1358600" y="2398310"/>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gradFill>
              <a:gsLst>
                <a:gs pos="0">
                  <a:schemeClr val="accent2"/>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63" name="Google Shape;6767;g2d30ebb658d_0_19789">
              <a:extLst>
                <a:ext uri="{FF2B5EF4-FFF2-40B4-BE49-F238E27FC236}">
                  <a16:creationId xmlns:a16="http://schemas.microsoft.com/office/drawing/2014/main" id="{078D0FFA-33D6-818B-A6B5-55C2370819C2}"/>
                </a:ext>
              </a:extLst>
            </p:cNvPr>
            <p:cNvSpPr/>
            <p:nvPr/>
          </p:nvSpPr>
          <p:spPr>
            <a:xfrm>
              <a:off x="1503581" y="2537002"/>
              <a:ext cx="379742" cy="380966"/>
            </a:xfrm>
            <a:custGeom>
              <a:avLst/>
              <a:gdLst/>
              <a:ahLst/>
              <a:cxnLst/>
              <a:rect l="l" t="t" r="r" b="b"/>
              <a:pathLst>
                <a:path w="651268" h="653368" extrusionOk="0">
                  <a:moveTo>
                    <a:pt x="587701" y="131477"/>
                  </a:moveTo>
                  <a:cubicBezTo>
                    <a:pt x="546722" y="75983"/>
                    <a:pt x="487355" y="34911"/>
                    <a:pt x="421826" y="14375"/>
                  </a:cubicBezTo>
                  <a:cubicBezTo>
                    <a:pt x="391116" y="4107"/>
                    <a:pt x="358352" y="0"/>
                    <a:pt x="325588" y="0"/>
                  </a:cubicBezTo>
                  <a:cubicBezTo>
                    <a:pt x="292824" y="0"/>
                    <a:pt x="260059" y="4107"/>
                    <a:pt x="229349" y="14375"/>
                  </a:cubicBezTo>
                  <a:lnTo>
                    <a:pt x="249838" y="80137"/>
                  </a:lnTo>
                  <a:cubicBezTo>
                    <a:pt x="274435" y="71922"/>
                    <a:pt x="298984" y="67815"/>
                    <a:pt x="325634" y="67815"/>
                  </a:cubicBezTo>
                  <a:cubicBezTo>
                    <a:pt x="352284" y="67815"/>
                    <a:pt x="376834" y="71922"/>
                    <a:pt x="401430" y="80137"/>
                  </a:cubicBezTo>
                  <a:cubicBezTo>
                    <a:pt x="452630" y="94512"/>
                    <a:pt x="499723" y="127416"/>
                    <a:pt x="532487" y="172595"/>
                  </a:cubicBezTo>
                  <a:cubicBezTo>
                    <a:pt x="565251" y="215767"/>
                    <a:pt x="583687" y="271214"/>
                    <a:pt x="583687" y="326708"/>
                  </a:cubicBezTo>
                  <a:cubicBezTo>
                    <a:pt x="583687" y="468499"/>
                    <a:pt x="466959" y="585600"/>
                    <a:pt x="325634" y="585600"/>
                  </a:cubicBezTo>
                  <a:cubicBezTo>
                    <a:pt x="184310" y="585600"/>
                    <a:pt x="67582" y="468499"/>
                    <a:pt x="67582" y="326708"/>
                  </a:cubicBezTo>
                  <a:cubicBezTo>
                    <a:pt x="67582" y="273268"/>
                    <a:pt x="83964" y="219874"/>
                    <a:pt x="116728" y="176702"/>
                  </a:cubicBezTo>
                  <a:lnTo>
                    <a:pt x="159713" y="195185"/>
                  </a:lnTo>
                  <a:lnTo>
                    <a:pt x="139224" y="32857"/>
                  </a:lnTo>
                  <a:lnTo>
                    <a:pt x="12275" y="131477"/>
                  </a:lnTo>
                  <a:lnTo>
                    <a:pt x="51200" y="147905"/>
                  </a:lnTo>
                  <a:cubicBezTo>
                    <a:pt x="18436" y="201345"/>
                    <a:pt x="0" y="262953"/>
                    <a:pt x="0" y="326661"/>
                  </a:cubicBezTo>
                  <a:cubicBezTo>
                    <a:pt x="0" y="507470"/>
                    <a:pt x="145385" y="653369"/>
                    <a:pt x="325634" y="653369"/>
                  </a:cubicBezTo>
                  <a:cubicBezTo>
                    <a:pt x="505884" y="653369"/>
                    <a:pt x="651269" y="507470"/>
                    <a:pt x="651269" y="326661"/>
                  </a:cubicBezTo>
                  <a:cubicBezTo>
                    <a:pt x="651269" y="254739"/>
                    <a:pt x="628726" y="186924"/>
                    <a:pt x="587794" y="131477"/>
                  </a:cubicBezTo>
                  <a:lnTo>
                    <a:pt x="587794" y="13147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64" name="Google Shape;6704;g2d30ebb658d_0_19789">
            <a:extLst>
              <a:ext uri="{FF2B5EF4-FFF2-40B4-BE49-F238E27FC236}">
                <a16:creationId xmlns:a16="http://schemas.microsoft.com/office/drawing/2014/main" id="{52B51A92-A0F1-CE7E-5B46-18A72BDB2350}"/>
              </a:ext>
            </a:extLst>
          </p:cNvPr>
          <p:cNvSpPr/>
          <p:nvPr/>
        </p:nvSpPr>
        <p:spPr>
          <a:xfrm>
            <a:off x="4913835" y="3575847"/>
            <a:ext cx="1002474" cy="166200"/>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5400000" scaled="1"/>
            </a:grad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chemeClr val="tx1"/>
                </a:solidFill>
              </a:rPr>
              <a:t>    </a:t>
            </a:r>
            <a:r>
              <a:rPr lang="en-US" sz="600" dirty="0"/>
              <a:t>Workload Domain</a:t>
            </a:r>
            <a:endParaRPr sz="600" dirty="0">
              <a:solidFill>
                <a:schemeClr val="tx1"/>
              </a:solidFill>
            </a:endParaRPr>
          </a:p>
        </p:txBody>
      </p:sp>
      <p:pic>
        <p:nvPicPr>
          <p:cNvPr id="65" name="Google Shape;6699;p92">
            <a:extLst>
              <a:ext uri="{FF2B5EF4-FFF2-40B4-BE49-F238E27FC236}">
                <a16:creationId xmlns:a16="http://schemas.microsoft.com/office/drawing/2014/main" id="{344132BE-B7B1-FA98-196A-D48DF4592369}"/>
              </a:ext>
            </a:extLst>
          </p:cNvPr>
          <p:cNvPicPr preferRelativeResize="0">
            <a:picLocks noChangeAspect="1"/>
          </p:cNvPicPr>
          <p:nvPr/>
        </p:nvPicPr>
        <p:blipFill rotWithShape="1">
          <a:blip r:embed="rId5">
            <a:alphaModFix/>
          </a:blip>
          <a:srcRect/>
          <a:stretch/>
        </p:blipFill>
        <p:spPr>
          <a:xfrm>
            <a:off x="5020633" y="3589779"/>
            <a:ext cx="136581" cy="136581"/>
          </a:xfrm>
          <a:prstGeom prst="rect">
            <a:avLst/>
          </a:prstGeom>
          <a:noFill/>
          <a:ln>
            <a:noFill/>
          </a:ln>
        </p:spPr>
      </p:pic>
      <p:sp>
        <p:nvSpPr>
          <p:cNvPr id="66" name="Google Shape;6678;g2d30ebb658d_0_19789">
            <a:extLst>
              <a:ext uri="{FF2B5EF4-FFF2-40B4-BE49-F238E27FC236}">
                <a16:creationId xmlns:a16="http://schemas.microsoft.com/office/drawing/2014/main" id="{1D240B53-6266-F45B-D011-83AB1C890C41}"/>
              </a:ext>
            </a:extLst>
          </p:cNvPr>
          <p:cNvSpPr/>
          <p:nvPr/>
        </p:nvSpPr>
        <p:spPr>
          <a:xfrm>
            <a:off x="6300524" y="3523722"/>
            <a:ext cx="1255899" cy="1202073"/>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67" name="Google Shape;6705;g2d30ebb658d_0_19789">
            <a:extLst>
              <a:ext uri="{FF2B5EF4-FFF2-40B4-BE49-F238E27FC236}">
                <a16:creationId xmlns:a16="http://schemas.microsoft.com/office/drawing/2014/main" id="{7EBEA24C-FBF0-DA42-B9DB-9F3F0349A67B}"/>
              </a:ext>
            </a:extLst>
          </p:cNvPr>
          <p:cNvSpPr/>
          <p:nvPr/>
        </p:nvSpPr>
        <p:spPr>
          <a:xfrm>
            <a:off x="6336364" y="4309484"/>
            <a:ext cx="1178778" cy="357399"/>
          </a:xfrm>
          <a:prstGeom prst="roundRect">
            <a:avLst>
              <a:gd name="adj" fmla="val 6349"/>
            </a:avLst>
          </a:prstGeom>
          <a:gradFill>
            <a:gsLst>
              <a:gs pos="0">
                <a:schemeClr val="accent2"/>
              </a:gs>
              <a:gs pos="99000">
                <a:schemeClr val="accent5"/>
              </a:gs>
              <a:gs pos="100000">
                <a:schemeClr val="accent5"/>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rgbClr val="FFFFFF"/>
              </a:solidFill>
              <a:latin typeface="Arial"/>
              <a:ea typeface="Arial"/>
              <a:cs typeface="Arial"/>
              <a:sym typeface="Arial"/>
            </a:endParaRPr>
          </a:p>
        </p:txBody>
      </p:sp>
      <p:grpSp>
        <p:nvGrpSpPr>
          <p:cNvPr id="68" name="Google Shape;6707;g2d30ebb658d_0_19789">
            <a:extLst>
              <a:ext uri="{FF2B5EF4-FFF2-40B4-BE49-F238E27FC236}">
                <a16:creationId xmlns:a16="http://schemas.microsoft.com/office/drawing/2014/main" id="{317C5B60-F7D1-7678-4DE8-BEAE9EDA0CF8}"/>
              </a:ext>
            </a:extLst>
          </p:cNvPr>
          <p:cNvGrpSpPr/>
          <p:nvPr/>
        </p:nvGrpSpPr>
        <p:grpSpPr>
          <a:xfrm>
            <a:off x="7202698" y="4351593"/>
            <a:ext cx="273516" cy="273515"/>
            <a:chOff x="10656543" y="2484407"/>
            <a:chExt cx="903000" cy="903000"/>
          </a:xfrm>
        </p:grpSpPr>
        <p:sp>
          <p:nvSpPr>
            <p:cNvPr id="69" name="Google Shape;6708;g2d30ebb658d_0_19789">
              <a:extLst>
                <a:ext uri="{FF2B5EF4-FFF2-40B4-BE49-F238E27FC236}">
                  <a16:creationId xmlns:a16="http://schemas.microsoft.com/office/drawing/2014/main" id="{7A8B6155-9781-B480-28EF-71623845E6AC}"/>
                </a:ext>
              </a:extLst>
            </p:cNvPr>
            <p:cNvSpPr/>
            <p:nvPr/>
          </p:nvSpPr>
          <p:spPr>
            <a:xfrm>
              <a:off x="10656543" y="2484407"/>
              <a:ext cx="903000" cy="903000"/>
            </a:xfrm>
            <a:prstGeom prst="ellipse">
              <a:avLst/>
            </a:prstGeom>
            <a:solidFill>
              <a:schemeClr val="dk2">
                <a:alpha val="498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70" name="Google Shape;6709;g2d30ebb658d_0_19789">
              <a:extLst>
                <a:ext uri="{FF2B5EF4-FFF2-40B4-BE49-F238E27FC236}">
                  <a16:creationId xmlns:a16="http://schemas.microsoft.com/office/drawing/2014/main" id="{56CF65E5-1905-106F-7AD6-F92EB40D543A}"/>
                </a:ext>
              </a:extLst>
            </p:cNvPr>
            <p:cNvSpPr/>
            <p:nvPr/>
          </p:nvSpPr>
          <p:spPr>
            <a:xfrm>
              <a:off x="10810509" y="2635103"/>
              <a:ext cx="595789" cy="595789"/>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1" name="Google Shape;6710;g2d30ebb658d_0_19789">
            <a:extLst>
              <a:ext uri="{FF2B5EF4-FFF2-40B4-BE49-F238E27FC236}">
                <a16:creationId xmlns:a16="http://schemas.microsoft.com/office/drawing/2014/main" id="{FBFABC86-CC0F-6343-2963-E4210F378B82}"/>
              </a:ext>
            </a:extLst>
          </p:cNvPr>
          <p:cNvGrpSpPr/>
          <p:nvPr/>
        </p:nvGrpSpPr>
        <p:grpSpPr>
          <a:xfrm>
            <a:off x="6390192" y="4351508"/>
            <a:ext cx="273516" cy="273515"/>
            <a:chOff x="506872" y="5229970"/>
            <a:chExt cx="903000" cy="903000"/>
          </a:xfrm>
        </p:grpSpPr>
        <p:sp>
          <p:nvSpPr>
            <p:cNvPr id="72" name="Google Shape;6711;g2d30ebb658d_0_19789">
              <a:extLst>
                <a:ext uri="{FF2B5EF4-FFF2-40B4-BE49-F238E27FC236}">
                  <a16:creationId xmlns:a16="http://schemas.microsoft.com/office/drawing/2014/main" id="{C60A9A50-33FF-DA3C-53FD-196325867A51}"/>
                </a:ext>
              </a:extLst>
            </p:cNvPr>
            <p:cNvSpPr/>
            <p:nvPr/>
          </p:nvSpPr>
          <p:spPr>
            <a:xfrm>
              <a:off x="506872" y="5229970"/>
              <a:ext cx="903000" cy="903000"/>
            </a:xfrm>
            <a:prstGeom prst="ellipse">
              <a:avLst/>
            </a:prstGeom>
            <a:solidFill>
              <a:schemeClr val="dk2">
                <a:alpha val="498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73" name="Google Shape;6712;g2d30ebb658d_0_19789">
              <a:extLst>
                <a:ext uri="{FF2B5EF4-FFF2-40B4-BE49-F238E27FC236}">
                  <a16:creationId xmlns:a16="http://schemas.microsoft.com/office/drawing/2014/main" id="{E7CBF9CF-3889-4232-8402-3041EDEE06F9}"/>
                </a:ext>
              </a:extLst>
            </p:cNvPr>
            <p:cNvSpPr/>
            <p:nvPr/>
          </p:nvSpPr>
          <p:spPr>
            <a:xfrm>
              <a:off x="677425" y="5425363"/>
              <a:ext cx="562432" cy="512692"/>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4" name="Google Shape;6713;g2d30ebb658d_0_19789">
            <a:extLst>
              <a:ext uri="{FF2B5EF4-FFF2-40B4-BE49-F238E27FC236}">
                <a16:creationId xmlns:a16="http://schemas.microsoft.com/office/drawing/2014/main" id="{E436CA20-3B01-5830-3D12-4C93BCD99D43}"/>
              </a:ext>
            </a:extLst>
          </p:cNvPr>
          <p:cNvGrpSpPr/>
          <p:nvPr/>
        </p:nvGrpSpPr>
        <p:grpSpPr>
          <a:xfrm>
            <a:off x="6793541" y="4351509"/>
            <a:ext cx="273516" cy="273515"/>
            <a:chOff x="9206590" y="5229970"/>
            <a:chExt cx="903000" cy="903000"/>
          </a:xfrm>
        </p:grpSpPr>
        <p:sp>
          <p:nvSpPr>
            <p:cNvPr id="75" name="Google Shape;6714;g2d30ebb658d_0_19789">
              <a:extLst>
                <a:ext uri="{FF2B5EF4-FFF2-40B4-BE49-F238E27FC236}">
                  <a16:creationId xmlns:a16="http://schemas.microsoft.com/office/drawing/2014/main" id="{0C161664-41EB-2DE8-C5DB-9D0F872B252D}"/>
                </a:ext>
              </a:extLst>
            </p:cNvPr>
            <p:cNvSpPr/>
            <p:nvPr/>
          </p:nvSpPr>
          <p:spPr>
            <a:xfrm>
              <a:off x="9206590" y="5229970"/>
              <a:ext cx="903000" cy="903000"/>
            </a:xfrm>
            <a:prstGeom prst="ellipse">
              <a:avLst/>
            </a:prstGeom>
            <a:solidFill>
              <a:schemeClr val="dk2">
                <a:alpha val="498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76" name="Google Shape;6715;g2d30ebb658d_0_19789">
              <a:extLst>
                <a:ext uri="{FF2B5EF4-FFF2-40B4-BE49-F238E27FC236}">
                  <a16:creationId xmlns:a16="http://schemas.microsoft.com/office/drawing/2014/main" id="{5974CEDC-3262-F59D-50ED-43647B7DD4FF}"/>
                </a:ext>
              </a:extLst>
            </p:cNvPr>
            <p:cNvSpPr/>
            <p:nvPr/>
          </p:nvSpPr>
          <p:spPr>
            <a:xfrm>
              <a:off x="9414720" y="5397931"/>
              <a:ext cx="487267" cy="567716"/>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7" name="Group 76">
            <a:extLst>
              <a:ext uri="{FF2B5EF4-FFF2-40B4-BE49-F238E27FC236}">
                <a16:creationId xmlns:a16="http://schemas.microsoft.com/office/drawing/2014/main" id="{D7A49BE6-6D7C-F52C-2894-3037AFA47BB4}"/>
              </a:ext>
            </a:extLst>
          </p:cNvPr>
          <p:cNvGrpSpPr/>
          <p:nvPr/>
        </p:nvGrpSpPr>
        <p:grpSpPr>
          <a:xfrm>
            <a:off x="6775557" y="3894284"/>
            <a:ext cx="265717" cy="265716"/>
            <a:chOff x="4332370" y="2485236"/>
            <a:chExt cx="664292" cy="664290"/>
          </a:xfrm>
        </p:grpSpPr>
        <p:sp>
          <p:nvSpPr>
            <p:cNvPr id="78" name="Google Shape;6760;g2d30ebb658d_0_19789">
              <a:extLst>
                <a:ext uri="{FF2B5EF4-FFF2-40B4-BE49-F238E27FC236}">
                  <a16:creationId xmlns:a16="http://schemas.microsoft.com/office/drawing/2014/main" id="{7D1B1C16-373A-EAF8-B887-5949C1DB7F86}"/>
                </a:ext>
              </a:extLst>
            </p:cNvPr>
            <p:cNvSpPr/>
            <p:nvPr/>
          </p:nvSpPr>
          <p:spPr>
            <a:xfrm>
              <a:off x="4332370" y="2485236"/>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gradFill>
              <a:gsLst>
                <a:gs pos="0">
                  <a:schemeClr val="accent2"/>
                </a:gs>
                <a:gs pos="99000">
                  <a:schemeClr val="accent5"/>
                </a:gs>
                <a:gs pos="100000">
                  <a:schemeClr val="accent5"/>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79" name="Google Shape;6773;g2d30ebb658d_0_19789">
              <a:extLst>
                <a:ext uri="{FF2B5EF4-FFF2-40B4-BE49-F238E27FC236}">
                  <a16:creationId xmlns:a16="http://schemas.microsoft.com/office/drawing/2014/main" id="{77A6869A-0056-926C-D7DE-34F50007A8F9}"/>
                </a:ext>
              </a:extLst>
            </p:cNvPr>
            <p:cNvSpPr/>
            <p:nvPr/>
          </p:nvSpPr>
          <p:spPr>
            <a:xfrm>
              <a:off x="4479093" y="2627406"/>
              <a:ext cx="220023" cy="227159"/>
            </a:xfrm>
            <a:custGeom>
              <a:avLst/>
              <a:gdLst/>
              <a:ahLst/>
              <a:cxnLst/>
              <a:rect l="l" t="t" r="r" b="b"/>
              <a:pathLst>
                <a:path w="349947" h="361296" extrusionOk="0">
                  <a:moveTo>
                    <a:pt x="315611" y="167464"/>
                  </a:moveTo>
                  <a:lnTo>
                    <a:pt x="349858" y="143737"/>
                  </a:lnTo>
                  <a:lnTo>
                    <a:pt x="349366" y="141544"/>
                  </a:lnTo>
                  <a:cubicBezTo>
                    <a:pt x="348112" y="135858"/>
                    <a:pt x="346590" y="130262"/>
                    <a:pt x="344889" y="124845"/>
                  </a:cubicBezTo>
                  <a:cubicBezTo>
                    <a:pt x="343143" y="119429"/>
                    <a:pt x="341129" y="114012"/>
                    <a:pt x="338801" y="108684"/>
                  </a:cubicBezTo>
                  <a:lnTo>
                    <a:pt x="337950" y="106625"/>
                  </a:lnTo>
                  <a:lnTo>
                    <a:pt x="296451" y="107789"/>
                  </a:lnTo>
                  <a:cubicBezTo>
                    <a:pt x="292063" y="100268"/>
                    <a:pt x="286870" y="93105"/>
                    <a:pt x="281095" y="86435"/>
                  </a:cubicBezTo>
                  <a:lnTo>
                    <a:pt x="295063" y="46860"/>
                  </a:lnTo>
                  <a:lnTo>
                    <a:pt x="293406" y="45383"/>
                  </a:lnTo>
                  <a:cubicBezTo>
                    <a:pt x="284856" y="37773"/>
                    <a:pt x="275544" y="30923"/>
                    <a:pt x="265740" y="25103"/>
                  </a:cubicBezTo>
                  <a:lnTo>
                    <a:pt x="263815" y="23984"/>
                  </a:lnTo>
                  <a:lnTo>
                    <a:pt x="230911" y="49546"/>
                  </a:lnTo>
                  <a:cubicBezTo>
                    <a:pt x="222987" y="46099"/>
                    <a:pt x="214660" y="43369"/>
                    <a:pt x="206110" y="41399"/>
                  </a:cubicBezTo>
                  <a:lnTo>
                    <a:pt x="194381" y="1063"/>
                  </a:lnTo>
                  <a:lnTo>
                    <a:pt x="192142" y="839"/>
                  </a:lnTo>
                  <a:cubicBezTo>
                    <a:pt x="180816" y="-280"/>
                    <a:pt x="169311" y="-280"/>
                    <a:pt x="157940" y="839"/>
                  </a:cubicBezTo>
                  <a:lnTo>
                    <a:pt x="155746" y="1063"/>
                  </a:lnTo>
                  <a:lnTo>
                    <a:pt x="143972" y="41354"/>
                  </a:lnTo>
                  <a:cubicBezTo>
                    <a:pt x="139675" y="42339"/>
                    <a:pt x="135467" y="43503"/>
                    <a:pt x="131348" y="44846"/>
                  </a:cubicBezTo>
                  <a:cubicBezTo>
                    <a:pt x="127274" y="46189"/>
                    <a:pt x="123155" y="47756"/>
                    <a:pt x="119126" y="49502"/>
                  </a:cubicBezTo>
                  <a:lnTo>
                    <a:pt x="86178" y="23850"/>
                  </a:lnTo>
                  <a:lnTo>
                    <a:pt x="84253" y="25014"/>
                  </a:lnTo>
                  <a:cubicBezTo>
                    <a:pt x="74448" y="30834"/>
                    <a:pt x="65137" y="37638"/>
                    <a:pt x="56586" y="45294"/>
                  </a:cubicBezTo>
                  <a:lnTo>
                    <a:pt x="54930" y="46771"/>
                  </a:lnTo>
                  <a:lnTo>
                    <a:pt x="68852" y="86390"/>
                  </a:lnTo>
                  <a:cubicBezTo>
                    <a:pt x="63077" y="93061"/>
                    <a:pt x="57929" y="100223"/>
                    <a:pt x="53497" y="107744"/>
                  </a:cubicBezTo>
                  <a:lnTo>
                    <a:pt x="11998" y="106580"/>
                  </a:lnTo>
                  <a:lnTo>
                    <a:pt x="11102" y="108640"/>
                  </a:lnTo>
                  <a:cubicBezTo>
                    <a:pt x="6536" y="119205"/>
                    <a:pt x="2999" y="130262"/>
                    <a:pt x="492" y="141499"/>
                  </a:cubicBezTo>
                  <a:lnTo>
                    <a:pt x="0" y="143693"/>
                  </a:lnTo>
                  <a:lnTo>
                    <a:pt x="34292" y="167464"/>
                  </a:lnTo>
                  <a:cubicBezTo>
                    <a:pt x="33486" y="176283"/>
                    <a:pt x="33486" y="185147"/>
                    <a:pt x="34292" y="193832"/>
                  </a:cubicBezTo>
                  <a:lnTo>
                    <a:pt x="0" y="217559"/>
                  </a:lnTo>
                  <a:lnTo>
                    <a:pt x="492" y="219753"/>
                  </a:lnTo>
                  <a:cubicBezTo>
                    <a:pt x="1746" y="225393"/>
                    <a:pt x="3268" y="230989"/>
                    <a:pt x="5014" y="236451"/>
                  </a:cubicBezTo>
                  <a:cubicBezTo>
                    <a:pt x="6760" y="241868"/>
                    <a:pt x="8774" y="247285"/>
                    <a:pt x="11058" y="252612"/>
                  </a:cubicBezTo>
                  <a:lnTo>
                    <a:pt x="11953" y="254671"/>
                  </a:lnTo>
                  <a:lnTo>
                    <a:pt x="53452" y="253507"/>
                  </a:lnTo>
                  <a:cubicBezTo>
                    <a:pt x="57884" y="261028"/>
                    <a:pt x="63033" y="268236"/>
                    <a:pt x="68808" y="274861"/>
                  </a:cubicBezTo>
                  <a:lnTo>
                    <a:pt x="54840" y="314436"/>
                  </a:lnTo>
                  <a:lnTo>
                    <a:pt x="56497" y="315958"/>
                  </a:lnTo>
                  <a:cubicBezTo>
                    <a:pt x="65002" y="323569"/>
                    <a:pt x="74359" y="330373"/>
                    <a:pt x="84163" y="336238"/>
                  </a:cubicBezTo>
                  <a:lnTo>
                    <a:pt x="86088" y="337357"/>
                  </a:lnTo>
                  <a:lnTo>
                    <a:pt x="118992" y="311750"/>
                  </a:lnTo>
                  <a:cubicBezTo>
                    <a:pt x="126916" y="315197"/>
                    <a:pt x="135287" y="317928"/>
                    <a:pt x="143838" y="319898"/>
                  </a:cubicBezTo>
                  <a:lnTo>
                    <a:pt x="155612" y="360233"/>
                  </a:lnTo>
                  <a:lnTo>
                    <a:pt x="157850" y="360457"/>
                  </a:lnTo>
                  <a:cubicBezTo>
                    <a:pt x="169177" y="361576"/>
                    <a:pt x="180682" y="361576"/>
                    <a:pt x="192008" y="360457"/>
                  </a:cubicBezTo>
                  <a:lnTo>
                    <a:pt x="194202" y="360233"/>
                  </a:lnTo>
                  <a:lnTo>
                    <a:pt x="205975" y="319942"/>
                  </a:lnTo>
                  <a:cubicBezTo>
                    <a:pt x="210273" y="318958"/>
                    <a:pt x="214481" y="317794"/>
                    <a:pt x="218600" y="316451"/>
                  </a:cubicBezTo>
                  <a:cubicBezTo>
                    <a:pt x="222718" y="315108"/>
                    <a:pt x="226792" y="313541"/>
                    <a:pt x="230821" y="311795"/>
                  </a:cubicBezTo>
                  <a:lnTo>
                    <a:pt x="263770" y="337402"/>
                  </a:lnTo>
                  <a:lnTo>
                    <a:pt x="265695" y="336283"/>
                  </a:lnTo>
                  <a:cubicBezTo>
                    <a:pt x="275499" y="330463"/>
                    <a:pt x="284811" y="323613"/>
                    <a:pt x="293362" y="316003"/>
                  </a:cubicBezTo>
                  <a:lnTo>
                    <a:pt x="295018" y="314481"/>
                  </a:lnTo>
                  <a:lnTo>
                    <a:pt x="281095" y="274861"/>
                  </a:lnTo>
                  <a:cubicBezTo>
                    <a:pt x="286915" y="268191"/>
                    <a:pt x="292019" y="261028"/>
                    <a:pt x="296451" y="253507"/>
                  </a:cubicBezTo>
                  <a:lnTo>
                    <a:pt x="337950" y="254671"/>
                  </a:lnTo>
                  <a:lnTo>
                    <a:pt x="338845" y="252612"/>
                  </a:lnTo>
                  <a:cubicBezTo>
                    <a:pt x="343412" y="242047"/>
                    <a:pt x="346948" y="230989"/>
                    <a:pt x="349455" y="219753"/>
                  </a:cubicBezTo>
                  <a:lnTo>
                    <a:pt x="349948" y="217559"/>
                  </a:lnTo>
                  <a:lnTo>
                    <a:pt x="315656" y="193832"/>
                  </a:lnTo>
                  <a:cubicBezTo>
                    <a:pt x="316462" y="185013"/>
                    <a:pt x="316506" y="176149"/>
                    <a:pt x="315656" y="167419"/>
                  </a:cubicBezTo>
                  <a:close/>
                  <a:moveTo>
                    <a:pt x="174907" y="282472"/>
                  </a:moveTo>
                  <a:cubicBezTo>
                    <a:pt x="119261" y="282472"/>
                    <a:pt x="74135" y="236899"/>
                    <a:pt x="74135" y="180626"/>
                  </a:cubicBezTo>
                  <a:cubicBezTo>
                    <a:pt x="74135" y="124353"/>
                    <a:pt x="119261" y="78824"/>
                    <a:pt x="174907" y="78824"/>
                  </a:cubicBezTo>
                  <a:cubicBezTo>
                    <a:pt x="230553" y="78824"/>
                    <a:pt x="275679" y="124398"/>
                    <a:pt x="275679" y="180626"/>
                  </a:cubicBezTo>
                  <a:cubicBezTo>
                    <a:pt x="275679" y="236854"/>
                    <a:pt x="230553" y="282472"/>
                    <a:pt x="174907" y="28247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0" name="Google Shape;6774;g2d30ebb658d_0_19789">
              <a:extLst>
                <a:ext uri="{FF2B5EF4-FFF2-40B4-BE49-F238E27FC236}">
                  <a16:creationId xmlns:a16="http://schemas.microsoft.com/office/drawing/2014/main" id="{CF72F9B7-A67F-1FDC-EA7F-40B3E596A234}"/>
                </a:ext>
              </a:extLst>
            </p:cNvPr>
            <p:cNvSpPr/>
            <p:nvPr/>
          </p:nvSpPr>
          <p:spPr>
            <a:xfrm>
              <a:off x="4699246" y="2715696"/>
              <a:ext cx="176493" cy="175692"/>
            </a:xfrm>
            <a:custGeom>
              <a:avLst/>
              <a:gdLst/>
              <a:ahLst/>
              <a:cxnLst/>
              <a:rect l="l" t="t" r="r" b="b"/>
              <a:pathLst>
                <a:path w="280712" h="279438" extrusionOk="0">
                  <a:moveTo>
                    <a:pt x="239570" y="90341"/>
                  </a:moveTo>
                  <a:lnTo>
                    <a:pt x="257924" y="63301"/>
                  </a:lnTo>
                  <a:lnTo>
                    <a:pt x="256940" y="61824"/>
                  </a:lnTo>
                  <a:cubicBezTo>
                    <a:pt x="254433" y="58019"/>
                    <a:pt x="251746" y="54348"/>
                    <a:pt x="248926" y="50901"/>
                  </a:cubicBezTo>
                  <a:cubicBezTo>
                    <a:pt x="246106" y="47454"/>
                    <a:pt x="243106" y="44006"/>
                    <a:pt x="239928" y="40783"/>
                  </a:cubicBezTo>
                  <a:lnTo>
                    <a:pt x="238719" y="39530"/>
                  </a:lnTo>
                  <a:lnTo>
                    <a:pt x="208680" y="52109"/>
                  </a:lnTo>
                  <a:cubicBezTo>
                    <a:pt x="203308" y="47857"/>
                    <a:pt x="197533" y="44051"/>
                    <a:pt x="191400" y="40828"/>
                  </a:cubicBezTo>
                  <a:lnTo>
                    <a:pt x="190415" y="7924"/>
                  </a:lnTo>
                  <a:lnTo>
                    <a:pt x="188759" y="7297"/>
                  </a:lnTo>
                  <a:cubicBezTo>
                    <a:pt x="180342" y="4119"/>
                    <a:pt x="171613" y="1791"/>
                    <a:pt x="162793" y="269"/>
                  </a:cubicBezTo>
                  <a:lnTo>
                    <a:pt x="161047" y="0"/>
                  </a:lnTo>
                  <a:lnTo>
                    <a:pt x="144215" y="28024"/>
                  </a:lnTo>
                  <a:cubicBezTo>
                    <a:pt x="137455" y="27756"/>
                    <a:pt x="130561" y="28114"/>
                    <a:pt x="123756" y="29099"/>
                  </a:cubicBezTo>
                  <a:lnTo>
                    <a:pt x="103790" y="2910"/>
                  </a:lnTo>
                  <a:lnTo>
                    <a:pt x="102089" y="3358"/>
                  </a:lnTo>
                  <a:cubicBezTo>
                    <a:pt x="93493" y="5775"/>
                    <a:pt x="85077" y="8998"/>
                    <a:pt x="77064" y="13027"/>
                  </a:cubicBezTo>
                  <a:lnTo>
                    <a:pt x="75497" y="13788"/>
                  </a:lnTo>
                  <a:lnTo>
                    <a:pt x="78272" y="46603"/>
                  </a:lnTo>
                  <a:cubicBezTo>
                    <a:pt x="75407" y="48528"/>
                    <a:pt x="72632" y="50587"/>
                    <a:pt x="70035" y="52691"/>
                  </a:cubicBezTo>
                  <a:cubicBezTo>
                    <a:pt x="67439" y="54840"/>
                    <a:pt x="64842" y="57123"/>
                    <a:pt x="62425" y="59541"/>
                  </a:cubicBezTo>
                  <a:lnTo>
                    <a:pt x="31087" y="50095"/>
                  </a:lnTo>
                  <a:lnTo>
                    <a:pt x="30013" y="51483"/>
                  </a:lnTo>
                  <a:cubicBezTo>
                    <a:pt x="24462" y="58511"/>
                    <a:pt x="19582" y="66122"/>
                    <a:pt x="15508" y="74135"/>
                  </a:cubicBezTo>
                  <a:lnTo>
                    <a:pt x="14702" y="75702"/>
                  </a:lnTo>
                  <a:lnTo>
                    <a:pt x="36101" y="100727"/>
                  </a:lnTo>
                  <a:cubicBezTo>
                    <a:pt x="33729" y="107218"/>
                    <a:pt x="32027" y="113933"/>
                    <a:pt x="30908" y="120693"/>
                  </a:cubicBezTo>
                  <a:lnTo>
                    <a:pt x="198" y="131572"/>
                  </a:lnTo>
                  <a:lnTo>
                    <a:pt x="108" y="133318"/>
                  </a:lnTo>
                  <a:cubicBezTo>
                    <a:pt x="-250" y="142316"/>
                    <a:pt x="287" y="151449"/>
                    <a:pt x="1630" y="160357"/>
                  </a:cubicBezTo>
                  <a:lnTo>
                    <a:pt x="1899" y="162103"/>
                  </a:lnTo>
                  <a:lnTo>
                    <a:pt x="33684" y="169803"/>
                  </a:lnTo>
                  <a:cubicBezTo>
                    <a:pt x="35564" y="176474"/>
                    <a:pt x="38071" y="182965"/>
                    <a:pt x="41115" y="189098"/>
                  </a:cubicBezTo>
                  <a:lnTo>
                    <a:pt x="22761" y="216138"/>
                  </a:lnTo>
                  <a:lnTo>
                    <a:pt x="23745" y="217615"/>
                  </a:lnTo>
                  <a:cubicBezTo>
                    <a:pt x="26252" y="221420"/>
                    <a:pt x="28938" y="225046"/>
                    <a:pt x="31759" y="228538"/>
                  </a:cubicBezTo>
                  <a:cubicBezTo>
                    <a:pt x="34579" y="231985"/>
                    <a:pt x="37579" y="235432"/>
                    <a:pt x="40757" y="238656"/>
                  </a:cubicBezTo>
                  <a:lnTo>
                    <a:pt x="42011" y="239909"/>
                  </a:lnTo>
                  <a:lnTo>
                    <a:pt x="72050" y="227330"/>
                  </a:lnTo>
                  <a:cubicBezTo>
                    <a:pt x="77422" y="231582"/>
                    <a:pt x="83197" y="235388"/>
                    <a:pt x="89330" y="238611"/>
                  </a:cubicBezTo>
                  <a:lnTo>
                    <a:pt x="90315" y="271515"/>
                  </a:lnTo>
                  <a:lnTo>
                    <a:pt x="91971" y="272142"/>
                  </a:lnTo>
                  <a:cubicBezTo>
                    <a:pt x="100343" y="275276"/>
                    <a:pt x="109117" y="277648"/>
                    <a:pt x="117936" y="279170"/>
                  </a:cubicBezTo>
                  <a:lnTo>
                    <a:pt x="119682" y="279439"/>
                  </a:lnTo>
                  <a:lnTo>
                    <a:pt x="136515" y="251414"/>
                  </a:lnTo>
                  <a:cubicBezTo>
                    <a:pt x="143320" y="251683"/>
                    <a:pt x="150169" y="251325"/>
                    <a:pt x="156974" y="250340"/>
                  </a:cubicBezTo>
                  <a:lnTo>
                    <a:pt x="176985" y="276529"/>
                  </a:lnTo>
                  <a:lnTo>
                    <a:pt x="178686" y="276037"/>
                  </a:lnTo>
                  <a:cubicBezTo>
                    <a:pt x="187281" y="273619"/>
                    <a:pt x="195698" y="270396"/>
                    <a:pt x="203666" y="266367"/>
                  </a:cubicBezTo>
                  <a:lnTo>
                    <a:pt x="205233" y="265606"/>
                  </a:lnTo>
                  <a:lnTo>
                    <a:pt x="202457" y="232791"/>
                  </a:lnTo>
                  <a:cubicBezTo>
                    <a:pt x="205323" y="230866"/>
                    <a:pt x="208098" y="228807"/>
                    <a:pt x="210695" y="226703"/>
                  </a:cubicBezTo>
                  <a:cubicBezTo>
                    <a:pt x="213291" y="224554"/>
                    <a:pt x="215888" y="222271"/>
                    <a:pt x="218350" y="219853"/>
                  </a:cubicBezTo>
                  <a:lnTo>
                    <a:pt x="249687" y="229299"/>
                  </a:lnTo>
                  <a:lnTo>
                    <a:pt x="250762" y="227912"/>
                  </a:lnTo>
                  <a:cubicBezTo>
                    <a:pt x="256313" y="220883"/>
                    <a:pt x="261192" y="213228"/>
                    <a:pt x="265266" y="205259"/>
                  </a:cubicBezTo>
                  <a:lnTo>
                    <a:pt x="266072" y="203692"/>
                  </a:lnTo>
                  <a:lnTo>
                    <a:pt x="244673" y="178667"/>
                  </a:lnTo>
                  <a:cubicBezTo>
                    <a:pt x="247046" y="172131"/>
                    <a:pt x="248747" y="165461"/>
                    <a:pt x="249866" y="158701"/>
                  </a:cubicBezTo>
                  <a:lnTo>
                    <a:pt x="280577" y="147822"/>
                  </a:lnTo>
                  <a:lnTo>
                    <a:pt x="280577" y="146076"/>
                  </a:lnTo>
                  <a:cubicBezTo>
                    <a:pt x="280980" y="137078"/>
                    <a:pt x="280487" y="127990"/>
                    <a:pt x="279099" y="119037"/>
                  </a:cubicBezTo>
                  <a:lnTo>
                    <a:pt x="278831" y="117291"/>
                  </a:lnTo>
                  <a:lnTo>
                    <a:pt x="247046" y="109636"/>
                  </a:lnTo>
                  <a:cubicBezTo>
                    <a:pt x="245166" y="102921"/>
                    <a:pt x="242659" y="96429"/>
                    <a:pt x="239615" y="90296"/>
                  </a:cubicBezTo>
                  <a:close/>
                  <a:moveTo>
                    <a:pt x="169106" y="214213"/>
                  </a:moveTo>
                  <a:cubicBezTo>
                    <a:pt x="128412" y="229926"/>
                    <a:pt x="82525" y="209333"/>
                    <a:pt x="66633" y="168192"/>
                  </a:cubicBezTo>
                  <a:cubicBezTo>
                    <a:pt x="50740" y="127050"/>
                    <a:pt x="70886" y="80984"/>
                    <a:pt x="111579" y="65226"/>
                  </a:cubicBezTo>
                  <a:cubicBezTo>
                    <a:pt x="152273" y="49513"/>
                    <a:pt x="198160" y="70106"/>
                    <a:pt x="214052" y="111247"/>
                  </a:cubicBezTo>
                  <a:cubicBezTo>
                    <a:pt x="229945" y="152389"/>
                    <a:pt x="209799" y="198499"/>
                    <a:pt x="169106" y="21421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 name="Google Shape;6775;g2d30ebb658d_0_19789">
              <a:extLst>
                <a:ext uri="{FF2B5EF4-FFF2-40B4-BE49-F238E27FC236}">
                  <a16:creationId xmlns:a16="http://schemas.microsoft.com/office/drawing/2014/main" id="{9E832711-B919-8816-32D1-35BC45766964}"/>
                </a:ext>
              </a:extLst>
            </p:cNvPr>
            <p:cNvSpPr/>
            <p:nvPr/>
          </p:nvSpPr>
          <p:spPr>
            <a:xfrm>
              <a:off x="4601540" y="2855726"/>
              <a:ext cx="146600" cy="145857"/>
            </a:xfrm>
            <a:custGeom>
              <a:avLst/>
              <a:gdLst/>
              <a:ahLst/>
              <a:cxnLst/>
              <a:rect l="l" t="t" r="r" b="b"/>
              <a:pathLst>
                <a:path w="233167" h="231985" extrusionOk="0">
                  <a:moveTo>
                    <a:pt x="199023" y="74986"/>
                  </a:moveTo>
                  <a:lnTo>
                    <a:pt x="214289" y="52557"/>
                  </a:lnTo>
                  <a:lnTo>
                    <a:pt x="213483" y="51348"/>
                  </a:lnTo>
                  <a:cubicBezTo>
                    <a:pt x="211379" y="48215"/>
                    <a:pt x="209141" y="45126"/>
                    <a:pt x="206813" y="42261"/>
                  </a:cubicBezTo>
                  <a:cubicBezTo>
                    <a:pt x="204485" y="39395"/>
                    <a:pt x="201978" y="36530"/>
                    <a:pt x="199336" y="33844"/>
                  </a:cubicBezTo>
                  <a:lnTo>
                    <a:pt x="198307" y="32770"/>
                  </a:lnTo>
                  <a:lnTo>
                    <a:pt x="173371" y="43201"/>
                  </a:lnTo>
                  <a:cubicBezTo>
                    <a:pt x="168939" y="39664"/>
                    <a:pt x="164104" y="36530"/>
                    <a:pt x="159001" y="33844"/>
                  </a:cubicBezTo>
                  <a:lnTo>
                    <a:pt x="158195" y="6536"/>
                  </a:lnTo>
                  <a:lnTo>
                    <a:pt x="156807" y="6044"/>
                  </a:lnTo>
                  <a:cubicBezTo>
                    <a:pt x="149824" y="3402"/>
                    <a:pt x="142571" y="1433"/>
                    <a:pt x="135229" y="224"/>
                  </a:cubicBezTo>
                  <a:lnTo>
                    <a:pt x="133797" y="0"/>
                  </a:lnTo>
                  <a:lnTo>
                    <a:pt x="119785" y="23279"/>
                  </a:lnTo>
                  <a:cubicBezTo>
                    <a:pt x="114144" y="23055"/>
                    <a:pt x="108458" y="23324"/>
                    <a:pt x="102773" y="24174"/>
                  </a:cubicBezTo>
                  <a:lnTo>
                    <a:pt x="86164" y="2417"/>
                  </a:lnTo>
                  <a:lnTo>
                    <a:pt x="84776" y="2776"/>
                  </a:lnTo>
                  <a:cubicBezTo>
                    <a:pt x="77613" y="4745"/>
                    <a:pt x="70630" y="7476"/>
                    <a:pt x="64004" y="10834"/>
                  </a:cubicBezTo>
                  <a:lnTo>
                    <a:pt x="62706" y="11460"/>
                  </a:lnTo>
                  <a:lnTo>
                    <a:pt x="65034" y="38724"/>
                  </a:lnTo>
                  <a:cubicBezTo>
                    <a:pt x="62661" y="40336"/>
                    <a:pt x="60333" y="42037"/>
                    <a:pt x="58184" y="43783"/>
                  </a:cubicBezTo>
                  <a:cubicBezTo>
                    <a:pt x="56036" y="45573"/>
                    <a:pt x="53887" y="47454"/>
                    <a:pt x="51827" y="49468"/>
                  </a:cubicBezTo>
                  <a:lnTo>
                    <a:pt x="25817" y="41634"/>
                  </a:lnTo>
                  <a:lnTo>
                    <a:pt x="24922" y="42798"/>
                  </a:lnTo>
                  <a:cubicBezTo>
                    <a:pt x="20311" y="48618"/>
                    <a:pt x="16282" y="54975"/>
                    <a:pt x="12880" y="61600"/>
                  </a:cubicBezTo>
                  <a:lnTo>
                    <a:pt x="12208" y="62898"/>
                  </a:lnTo>
                  <a:lnTo>
                    <a:pt x="29981" y="83671"/>
                  </a:lnTo>
                  <a:cubicBezTo>
                    <a:pt x="28011" y="89087"/>
                    <a:pt x="26579" y="94639"/>
                    <a:pt x="25638" y="100235"/>
                  </a:cubicBezTo>
                  <a:lnTo>
                    <a:pt x="121" y="109278"/>
                  </a:lnTo>
                  <a:lnTo>
                    <a:pt x="121" y="110710"/>
                  </a:lnTo>
                  <a:cubicBezTo>
                    <a:pt x="-237" y="118186"/>
                    <a:pt x="210" y="125752"/>
                    <a:pt x="1330" y="133139"/>
                  </a:cubicBezTo>
                  <a:lnTo>
                    <a:pt x="1553" y="134571"/>
                  </a:lnTo>
                  <a:lnTo>
                    <a:pt x="27966" y="140973"/>
                  </a:lnTo>
                  <a:cubicBezTo>
                    <a:pt x="29533" y="146524"/>
                    <a:pt x="31637" y="151896"/>
                    <a:pt x="34144" y="157000"/>
                  </a:cubicBezTo>
                  <a:lnTo>
                    <a:pt x="18878" y="179428"/>
                  </a:lnTo>
                  <a:lnTo>
                    <a:pt x="19684" y="180637"/>
                  </a:lnTo>
                  <a:cubicBezTo>
                    <a:pt x="21744" y="183771"/>
                    <a:pt x="23982" y="186815"/>
                    <a:pt x="26355" y="189725"/>
                  </a:cubicBezTo>
                  <a:cubicBezTo>
                    <a:pt x="28683" y="192590"/>
                    <a:pt x="31190" y="195455"/>
                    <a:pt x="33831" y="198141"/>
                  </a:cubicBezTo>
                  <a:lnTo>
                    <a:pt x="34860" y="199216"/>
                  </a:lnTo>
                  <a:lnTo>
                    <a:pt x="59796" y="188740"/>
                  </a:lnTo>
                  <a:cubicBezTo>
                    <a:pt x="64228" y="192277"/>
                    <a:pt x="69063" y="195455"/>
                    <a:pt x="74166" y="198096"/>
                  </a:cubicBezTo>
                  <a:lnTo>
                    <a:pt x="74972" y="225405"/>
                  </a:lnTo>
                  <a:lnTo>
                    <a:pt x="76360" y="225942"/>
                  </a:lnTo>
                  <a:cubicBezTo>
                    <a:pt x="83344" y="228583"/>
                    <a:pt x="90596" y="230508"/>
                    <a:pt x="97938" y="231762"/>
                  </a:cubicBezTo>
                  <a:lnTo>
                    <a:pt x="99371" y="231985"/>
                  </a:lnTo>
                  <a:lnTo>
                    <a:pt x="113383" y="208706"/>
                  </a:lnTo>
                  <a:cubicBezTo>
                    <a:pt x="119023" y="208930"/>
                    <a:pt x="124709" y="208661"/>
                    <a:pt x="130394" y="207811"/>
                  </a:cubicBezTo>
                  <a:lnTo>
                    <a:pt x="147003" y="229568"/>
                  </a:lnTo>
                  <a:lnTo>
                    <a:pt x="148391" y="229165"/>
                  </a:lnTo>
                  <a:cubicBezTo>
                    <a:pt x="155554" y="227195"/>
                    <a:pt x="162538" y="224464"/>
                    <a:pt x="169163" y="221152"/>
                  </a:cubicBezTo>
                  <a:lnTo>
                    <a:pt x="170461" y="220525"/>
                  </a:lnTo>
                  <a:lnTo>
                    <a:pt x="168133" y="193261"/>
                  </a:lnTo>
                  <a:cubicBezTo>
                    <a:pt x="170506" y="191650"/>
                    <a:pt x="172789" y="189949"/>
                    <a:pt x="174983" y="188203"/>
                  </a:cubicBezTo>
                  <a:cubicBezTo>
                    <a:pt x="177177" y="186412"/>
                    <a:pt x="179281" y="184487"/>
                    <a:pt x="181340" y="182517"/>
                  </a:cubicBezTo>
                  <a:lnTo>
                    <a:pt x="207350" y="190352"/>
                  </a:lnTo>
                  <a:lnTo>
                    <a:pt x="208245" y="189232"/>
                  </a:lnTo>
                  <a:cubicBezTo>
                    <a:pt x="212856" y="183368"/>
                    <a:pt x="216885" y="177056"/>
                    <a:pt x="220288" y="170430"/>
                  </a:cubicBezTo>
                  <a:lnTo>
                    <a:pt x="220959" y="169132"/>
                  </a:lnTo>
                  <a:lnTo>
                    <a:pt x="203186" y="148360"/>
                  </a:lnTo>
                  <a:cubicBezTo>
                    <a:pt x="205156" y="142943"/>
                    <a:pt x="206589" y="137392"/>
                    <a:pt x="207529" y="131796"/>
                  </a:cubicBezTo>
                  <a:lnTo>
                    <a:pt x="233046" y="122753"/>
                  </a:lnTo>
                  <a:lnTo>
                    <a:pt x="233046" y="121275"/>
                  </a:lnTo>
                  <a:cubicBezTo>
                    <a:pt x="233405" y="113799"/>
                    <a:pt x="232957" y="106233"/>
                    <a:pt x="231838" y="98847"/>
                  </a:cubicBezTo>
                  <a:lnTo>
                    <a:pt x="231614" y="97369"/>
                  </a:lnTo>
                  <a:lnTo>
                    <a:pt x="205201" y="91012"/>
                  </a:lnTo>
                  <a:cubicBezTo>
                    <a:pt x="203634" y="85461"/>
                    <a:pt x="201530" y="80044"/>
                    <a:pt x="199023" y="74941"/>
                  </a:cubicBezTo>
                  <a:close/>
                  <a:moveTo>
                    <a:pt x="140512" y="177906"/>
                  </a:moveTo>
                  <a:cubicBezTo>
                    <a:pt x="106712" y="190978"/>
                    <a:pt x="68615" y="173832"/>
                    <a:pt x="55409" y="139675"/>
                  </a:cubicBezTo>
                  <a:cubicBezTo>
                    <a:pt x="42202" y="105517"/>
                    <a:pt x="58945" y="67241"/>
                    <a:pt x="92745" y="54169"/>
                  </a:cubicBezTo>
                  <a:cubicBezTo>
                    <a:pt x="126544" y="41097"/>
                    <a:pt x="164686" y="58198"/>
                    <a:pt x="177848" y="92400"/>
                  </a:cubicBezTo>
                  <a:cubicBezTo>
                    <a:pt x="191054" y="126558"/>
                    <a:pt x="174356" y="164834"/>
                    <a:pt x="140512" y="1779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82" name="Group 81">
            <a:extLst>
              <a:ext uri="{FF2B5EF4-FFF2-40B4-BE49-F238E27FC236}">
                <a16:creationId xmlns:a16="http://schemas.microsoft.com/office/drawing/2014/main" id="{220A3DB7-5E44-968D-2B7F-AD29006373F8}"/>
              </a:ext>
            </a:extLst>
          </p:cNvPr>
          <p:cNvGrpSpPr/>
          <p:nvPr/>
        </p:nvGrpSpPr>
        <p:grpSpPr>
          <a:xfrm>
            <a:off x="7149228" y="3894636"/>
            <a:ext cx="265717" cy="265716"/>
            <a:chOff x="4662354" y="2396539"/>
            <a:chExt cx="664292" cy="664290"/>
          </a:xfrm>
        </p:grpSpPr>
        <p:sp>
          <p:nvSpPr>
            <p:cNvPr id="83" name="Google Shape;6760;g2d30ebb658d_0_19789">
              <a:extLst>
                <a:ext uri="{FF2B5EF4-FFF2-40B4-BE49-F238E27FC236}">
                  <a16:creationId xmlns:a16="http://schemas.microsoft.com/office/drawing/2014/main" id="{2476A060-1BB9-DC4D-A1F1-88FDF2E408F4}"/>
                </a:ext>
              </a:extLst>
            </p:cNvPr>
            <p:cNvSpPr/>
            <p:nvPr/>
          </p:nvSpPr>
          <p:spPr>
            <a:xfrm>
              <a:off x="4662354" y="2396539"/>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gradFill>
              <a:gsLst>
                <a:gs pos="0">
                  <a:schemeClr val="accent5"/>
                </a:gs>
                <a:gs pos="99000">
                  <a:schemeClr val="accent5"/>
                </a:gs>
                <a:gs pos="100000">
                  <a:schemeClr val="accent5"/>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84" name="Graphic 83">
              <a:extLst>
                <a:ext uri="{FF2B5EF4-FFF2-40B4-BE49-F238E27FC236}">
                  <a16:creationId xmlns:a16="http://schemas.microsoft.com/office/drawing/2014/main" id="{9D9ED832-740C-9842-408D-1AF7394FB7E4}"/>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745580" y="2478551"/>
              <a:ext cx="497840" cy="497840"/>
            </a:xfrm>
            <a:prstGeom prst="rect">
              <a:avLst/>
            </a:prstGeom>
          </p:spPr>
        </p:pic>
      </p:grpSp>
      <p:grpSp>
        <p:nvGrpSpPr>
          <p:cNvPr id="85" name="Group 84">
            <a:extLst>
              <a:ext uri="{FF2B5EF4-FFF2-40B4-BE49-F238E27FC236}">
                <a16:creationId xmlns:a16="http://schemas.microsoft.com/office/drawing/2014/main" id="{E7DD8132-B5DC-AF89-6807-123379228B8E}"/>
              </a:ext>
            </a:extLst>
          </p:cNvPr>
          <p:cNvGrpSpPr/>
          <p:nvPr/>
        </p:nvGrpSpPr>
        <p:grpSpPr>
          <a:xfrm>
            <a:off x="6411264" y="3895344"/>
            <a:ext cx="265717" cy="265716"/>
            <a:chOff x="1358600" y="2398310"/>
            <a:chExt cx="664292" cy="664290"/>
          </a:xfrm>
        </p:grpSpPr>
        <p:sp>
          <p:nvSpPr>
            <p:cNvPr id="86" name="Google Shape;6760;g2d30ebb658d_0_19789">
              <a:extLst>
                <a:ext uri="{FF2B5EF4-FFF2-40B4-BE49-F238E27FC236}">
                  <a16:creationId xmlns:a16="http://schemas.microsoft.com/office/drawing/2014/main" id="{F9BE94BB-C232-E785-56F4-E5BFFC5CCD40}"/>
                </a:ext>
              </a:extLst>
            </p:cNvPr>
            <p:cNvSpPr/>
            <p:nvPr/>
          </p:nvSpPr>
          <p:spPr>
            <a:xfrm>
              <a:off x="1358600" y="2398310"/>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gradFill>
              <a:gsLst>
                <a:gs pos="0">
                  <a:schemeClr val="accent2"/>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7" name="Google Shape;6767;g2d30ebb658d_0_19789">
              <a:extLst>
                <a:ext uri="{FF2B5EF4-FFF2-40B4-BE49-F238E27FC236}">
                  <a16:creationId xmlns:a16="http://schemas.microsoft.com/office/drawing/2014/main" id="{93F3C0E9-70A3-ADC4-71B4-6B0C87E8A45C}"/>
                </a:ext>
              </a:extLst>
            </p:cNvPr>
            <p:cNvSpPr/>
            <p:nvPr/>
          </p:nvSpPr>
          <p:spPr>
            <a:xfrm>
              <a:off x="1503581" y="2537002"/>
              <a:ext cx="379742" cy="380966"/>
            </a:xfrm>
            <a:custGeom>
              <a:avLst/>
              <a:gdLst/>
              <a:ahLst/>
              <a:cxnLst/>
              <a:rect l="l" t="t" r="r" b="b"/>
              <a:pathLst>
                <a:path w="651268" h="653368" extrusionOk="0">
                  <a:moveTo>
                    <a:pt x="587701" y="131477"/>
                  </a:moveTo>
                  <a:cubicBezTo>
                    <a:pt x="546722" y="75983"/>
                    <a:pt x="487355" y="34911"/>
                    <a:pt x="421826" y="14375"/>
                  </a:cubicBezTo>
                  <a:cubicBezTo>
                    <a:pt x="391116" y="4107"/>
                    <a:pt x="358352" y="0"/>
                    <a:pt x="325588" y="0"/>
                  </a:cubicBezTo>
                  <a:cubicBezTo>
                    <a:pt x="292824" y="0"/>
                    <a:pt x="260059" y="4107"/>
                    <a:pt x="229349" y="14375"/>
                  </a:cubicBezTo>
                  <a:lnTo>
                    <a:pt x="249838" y="80137"/>
                  </a:lnTo>
                  <a:cubicBezTo>
                    <a:pt x="274435" y="71922"/>
                    <a:pt x="298984" y="67815"/>
                    <a:pt x="325634" y="67815"/>
                  </a:cubicBezTo>
                  <a:cubicBezTo>
                    <a:pt x="352284" y="67815"/>
                    <a:pt x="376834" y="71922"/>
                    <a:pt x="401430" y="80137"/>
                  </a:cubicBezTo>
                  <a:cubicBezTo>
                    <a:pt x="452630" y="94512"/>
                    <a:pt x="499723" y="127416"/>
                    <a:pt x="532487" y="172595"/>
                  </a:cubicBezTo>
                  <a:cubicBezTo>
                    <a:pt x="565251" y="215767"/>
                    <a:pt x="583687" y="271214"/>
                    <a:pt x="583687" y="326708"/>
                  </a:cubicBezTo>
                  <a:cubicBezTo>
                    <a:pt x="583687" y="468499"/>
                    <a:pt x="466959" y="585600"/>
                    <a:pt x="325634" y="585600"/>
                  </a:cubicBezTo>
                  <a:cubicBezTo>
                    <a:pt x="184310" y="585600"/>
                    <a:pt x="67582" y="468499"/>
                    <a:pt x="67582" y="326708"/>
                  </a:cubicBezTo>
                  <a:cubicBezTo>
                    <a:pt x="67582" y="273268"/>
                    <a:pt x="83964" y="219874"/>
                    <a:pt x="116728" y="176702"/>
                  </a:cubicBezTo>
                  <a:lnTo>
                    <a:pt x="159713" y="195185"/>
                  </a:lnTo>
                  <a:lnTo>
                    <a:pt x="139224" y="32857"/>
                  </a:lnTo>
                  <a:lnTo>
                    <a:pt x="12275" y="131477"/>
                  </a:lnTo>
                  <a:lnTo>
                    <a:pt x="51200" y="147905"/>
                  </a:lnTo>
                  <a:cubicBezTo>
                    <a:pt x="18436" y="201345"/>
                    <a:pt x="0" y="262953"/>
                    <a:pt x="0" y="326661"/>
                  </a:cubicBezTo>
                  <a:cubicBezTo>
                    <a:pt x="0" y="507470"/>
                    <a:pt x="145385" y="653369"/>
                    <a:pt x="325634" y="653369"/>
                  </a:cubicBezTo>
                  <a:cubicBezTo>
                    <a:pt x="505884" y="653369"/>
                    <a:pt x="651269" y="507470"/>
                    <a:pt x="651269" y="326661"/>
                  </a:cubicBezTo>
                  <a:cubicBezTo>
                    <a:pt x="651269" y="254739"/>
                    <a:pt x="628726" y="186924"/>
                    <a:pt x="587794" y="131477"/>
                  </a:cubicBezTo>
                  <a:lnTo>
                    <a:pt x="587794" y="13147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88" name="Google Shape;6704;g2d30ebb658d_0_19789">
            <a:extLst>
              <a:ext uri="{FF2B5EF4-FFF2-40B4-BE49-F238E27FC236}">
                <a16:creationId xmlns:a16="http://schemas.microsoft.com/office/drawing/2014/main" id="{C34BE9A4-E0E1-C5C9-35F6-A501080A5EDD}"/>
              </a:ext>
            </a:extLst>
          </p:cNvPr>
          <p:cNvSpPr/>
          <p:nvPr/>
        </p:nvSpPr>
        <p:spPr>
          <a:xfrm>
            <a:off x="6412470" y="3584732"/>
            <a:ext cx="1002474" cy="166200"/>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5400000" scaled="1"/>
            </a:grad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chemeClr val="tx1"/>
                </a:solidFill>
              </a:rPr>
              <a:t>    </a:t>
            </a:r>
            <a:r>
              <a:rPr lang="en-US" sz="600" dirty="0">
                <a:solidFill>
                  <a:schemeClr val="tx1"/>
                </a:solidFill>
              </a:rPr>
              <a:t>Workload Domain</a:t>
            </a:r>
            <a:endParaRPr sz="600" dirty="0">
              <a:solidFill>
                <a:schemeClr val="tx1"/>
              </a:solidFill>
            </a:endParaRPr>
          </a:p>
        </p:txBody>
      </p:sp>
      <p:pic>
        <p:nvPicPr>
          <p:cNvPr id="89" name="Google Shape;6699;p92">
            <a:extLst>
              <a:ext uri="{FF2B5EF4-FFF2-40B4-BE49-F238E27FC236}">
                <a16:creationId xmlns:a16="http://schemas.microsoft.com/office/drawing/2014/main" id="{5E91B489-C4B6-2C82-0473-F0F9399D0C78}"/>
              </a:ext>
            </a:extLst>
          </p:cNvPr>
          <p:cNvPicPr preferRelativeResize="0">
            <a:picLocks noChangeAspect="1"/>
          </p:cNvPicPr>
          <p:nvPr/>
        </p:nvPicPr>
        <p:blipFill rotWithShape="1">
          <a:blip r:embed="rId5">
            <a:alphaModFix/>
          </a:blip>
          <a:srcRect/>
          <a:stretch/>
        </p:blipFill>
        <p:spPr>
          <a:xfrm>
            <a:off x="6519268" y="3598664"/>
            <a:ext cx="136581" cy="136581"/>
          </a:xfrm>
          <a:prstGeom prst="rect">
            <a:avLst/>
          </a:prstGeom>
          <a:noFill/>
          <a:ln>
            <a:noFill/>
          </a:ln>
        </p:spPr>
      </p:pic>
      <p:grpSp>
        <p:nvGrpSpPr>
          <p:cNvPr id="91" name="Group 90">
            <a:extLst>
              <a:ext uri="{FF2B5EF4-FFF2-40B4-BE49-F238E27FC236}">
                <a16:creationId xmlns:a16="http://schemas.microsoft.com/office/drawing/2014/main" id="{B416504E-9A37-82BE-CDB1-C143BEAF1A6C}"/>
              </a:ext>
            </a:extLst>
          </p:cNvPr>
          <p:cNvGrpSpPr/>
          <p:nvPr/>
        </p:nvGrpSpPr>
        <p:grpSpPr>
          <a:xfrm>
            <a:off x="1140271" y="2811012"/>
            <a:ext cx="837634" cy="960401"/>
            <a:chOff x="6921469" y="2348717"/>
            <a:chExt cx="837634" cy="960401"/>
          </a:xfrm>
        </p:grpSpPr>
        <p:sp>
          <p:nvSpPr>
            <p:cNvPr id="93" name="Google Shape;6678;g2d30ebb658d_0_19789">
              <a:extLst>
                <a:ext uri="{FF2B5EF4-FFF2-40B4-BE49-F238E27FC236}">
                  <a16:creationId xmlns:a16="http://schemas.microsoft.com/office/drawing/2014/main" id="{74B9C4CF-25AF-0A1C-12D2-36A749E44EB8}"/>
                </a:ext>
              </a:extLst>
            </p:cNvPr>
            <p:cNvSpPr/>
            <p:nvPr/>
          </p:nvSpPr>
          <p:spPr>
            <a:xfrm>
              <a:off x="6921469" y="2348717"/>
              <a:ext cx="837634" cy="960401"/>
            </a:xfrm>
            <a:prstGeom prst="roundRect">
              <a:avLst>
                <a:gd name="adj" fmla="val 2356"/>
              </a:avLst>
            </a:prstGeom>
            <a:solidFill>
              <a:srgbClr val="E8E8EB"/>
            </a:soli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94" name="Google Shape;6678;g2d30ebb658d_0_19789">
              <a:extLst>
                <a:ext uri="{FF2B5EF4-FFF2-40B4-BE49-F238E27FC236}">
                  <a16:creationId xmlns:a16="http://schemas.microsoft.com/office/drawing/2014/main" id="{9411E96A-0E47-ED18-2E4B-44E796353D18}"/>
                </a:ext>
              </a:extLst>
            </p:cNvPr>
            <p:cNvSpPr/>
            <p:nvPr/>
          </p:nvSpPr>
          <p:spPr>
            <a:xfrm>
              <a:off x="6990776" y="3149234"/>
              <a:ext cx="701104" cy="113800"/>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chemeClr val="accent2"/>
                  </a:solidFill>
                  <a:effectLst/>
                  <a:uLnTx/>
                  <a:uFillTx/>
                  <a:latin typeface="Arial"/>
                  <a:ea typeface="Arial"/>
                  <a:cs typeface="Arial"/>
                  <a:sym typeface="Arial"/>
                </a:rPr>
                <a:t>Cluster …N</a:t>
              </a:r>
              <a:endParaRPr kumimoji="0" sz="700" b="0" i="0" u="none" strike="noStrike" kern="1200" cap="none" spc="0" normalizeH="0" baseline="0" noProof="0" dirty="0">
                <a:ln>
                  <a:noFill/>
                </a:ln>
                <a:solidFill>
                  <a:schemeClr val="accent2"/>
                </a:solidFill>
                <a:effectLst/>
                <a:uLnTx/>
                <a:uFillTx/>
                <a:latin typeface="Arial"/>
                <a:ea typeface="Arial"/>
                <a:cs typeface="Arial"/>
                <a:sym typeface="Arial"/>
              </a:endParaRPr>
            </a:p>
          </p:txBody>
        </p:sp>
        <p:sp>
          <p:nvSpPr>
            <p:cNvPr id="95" name="Google Shape;6678;g2d30ebb658d_0_19789">
              <a:extLst>
                <a:ext uri="{FF2B5EF4-FFF2-40B4-BE49-F238E27FC236}">
                  <a16:creationId xmlns:a16="http://schemas.microsoft.com/office/drawing/2014/main" id="{C169CB0B-8D74-9DB8-B4FB-DB3BBC22DA7C}"/>
                </a:ext>
              </a:extLst>
            </p:cNvPr>
            <p:cNvSpPr/>
            <p:nvPr/>
          </p:nvSpPr>
          <p:spPr>
            <a:xfrm>
              <a:off x="6990776" y="2987383"/>
              <a:ext cx="701104" cy="113800"/>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lang="en-AU" sz="700" dirty="0">
                  <a:solidFill>
                    <a:schemeClr val="accent2"/>
                  </a:solidFill>
                  <a:latin typeface="Arial"/>
                  <a:ea typeface="Arial"/>
                  <a:cs typeface="Arial"/>
                  <a:sym typeface="Arial"/>
                </a:rPr>
                <a:t>Cluster 2</a:t>
              </a:r>
              <a:endParaRPr kumimoji="0" sz="700" b="0" i="0" u="none" strike="noStrike" kern="1200" cap="none" spc="0" normalizeH="0" baseline="0" noProof="0" dirty="0">
                <a:ln>
                  <a:noFill/>
                </a:ln>
                <a:solidFill>
                  <a:schemeClr val="accent2"/>
                </a:solidFill>
                <a:effectLst/>
                <a:uLnTx/>
                <a:uFillTx/>
                <a:latin typeface="Arial"/>
                <a:ea typeface="Arial"/>
                <a:cs typeface="Arial"/>
                <a:sym typeface="Arial"/>
              </a:endParaRPr>
            </a:p>
          </p:txBody>
        </p:sp>
        <p:sp>
          <p:nvSpPr>
            <p:cNvPr id="96" name="Google Shape;6678;g2d30ebb658d_0_19789">
              <a:extLst>
                <a:ext uri="{FF2B5EF4-FFF2-40B4-BE49-F238E27FC236}">
                  <a16:creationId xmlns:a16="http://schemas.microsoft.com/office/drawing/2014/main" id="{FDFFC54D-981F-1134-C7B5-5D578BA1913D}"/>
                </a:ext>
              </a:extLst>
            </p:cNvPr>
            <p:cNvSpPr/>
            <p:nvPr/>
          </p:nvSpPr>
          <p:spPr>
            <a:xfrm>
              <a:off x="6994489" y="2820351"/>
              <a:ext cx="701104" cy="113800"/>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chemeClr val="accent2"/>
                  </a:solidFill>
                  <a:effectLst/>
                  <a:uLnTx/>
                  <a:uFillTx/>
                  <a:latin typeface="Arial"/>
                  <a:ea typeface="Arial"/>
                  <a:cs typeface="Arial"/>
                  <a:sym typeface="Arial"/>
                </a:rPr>
                <a:t>Cluster 1</a:t>
              </a:r>
              <a:endParaRPr kumimoji="0" sz="700" b="0" i="0" u="none" strike="noStrike" kern="1200" cap="none" spc="0" normalizeH="0" baseline="0" noProof="0" dirty="0">
                <a:ln>
                  <a:noFill/>
                </a:ln>
                <a:solidFill>
                  <a:schemeClr val="accent2"/>
                </a:solidFill>
                <a:effectLst/>
                <a:uLnTx/>
                <a:uFillTx/>
                <a:latin typeface="Arial"/>
                <a:ea typeface="Arial"/>
                <a:cs typeface="Arial"/>
                <a:sym typeface="Arial"/>
              </a:endParaRPr>
            </a:p>
          </p:txBody>
        </p:sp>
        <p:sp>
          <p:nvSpPr>
            <p:cNvPr id="97" name="TextBox 96">
              <a:extLst>
                <a:ext uri="{FF2B5EF4-FFF2-40B4-BE49-F238E27FC236}">
                  <a16:creationId xmlns:a16="http://schemas.microsoft.com/office/drawing/2014/main" id="{484A6955-8472-8E7D-C401-198262A64D83}"/>
                </a:ext>
              </a:extLst>
            </p:cNvPr>
            <p:cNvSpPr txBox="1"/>
            <p:nvPr/>
          </p:nvSpPr>
          <p:spPr>
            <a:xfrm>
              <a:off x="6995955" y="2620050"/>
              <a:ext cx="687689" cy="107722"/>
            </a:xfrm>
            <a:prstGeom prst="rect">
              <a:avLst/>
            </a:prstGeom>
            <a:noFill/>
          </p:spPr>
          <p:txBody>
            <a:bodyPr wrap="none" lIns="0" tIns="0" rIns="0" bIns="0" rtlCol="0">
              <a:spAutoFit/>
            </a:bodyPr>
            <a:lstStyle/>
            <a:p>
              <a:pPr algn="ctr"/>
              <a:r>
                <a:rPr lang="en-US" sz="700" dirty="0">
                  <a:solidFill>
                    <a:schemeClr val="tx2"/>
                  </a:solidFill>
                </a:rPr>
                <a:t>VMware vSphere</a:t>
              </a:r>
            </a:p>
          </p:txBody>
        </p:sp>
        <p:pic>
          <p:nvPicPr>
            <p:cNvPr id="98" name="Graphic 97">
              <a:extLst>
                <a:ext uri="{FF2B5EF4-FFF2-40B4-BE49-F238E27FC236}">
                  <a16:creationId xmlns:a16="http://schemas.microsoft.com/office/drawing/2014/main" id="{63228A2F-ECDB-3212-1189-530E11D3909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223350" y="2410130"/>
              <a:ext cx="190500" cy="190500"/>
            </a:xfrm>
            <a:prstGeom prst="rect">
              <a:avLst/>
            </a:prstGeom>
          </p:spPr>
        </p:pic>
      </p:grpSp>
      <p:grpSp>
        <p:nvGrpSpPr>
          <p:cNvPr id="100" name="Group 99">
            <a:extLst>
              <a:ext uri="{FF2B5EF4-FFF2-40B4-BE49-F238E27FC236}">
                <a16:creationId xmlns:a16="http://schemas.microsoft.com/office/drawing/2014/main" id="{3A03CFA5-BD97-9851-F2B9-8CEA4783D7A9}"/>
              </a:ext>
            </a:extLst>
          </p:cNvPr>
          <p:cNvGrpSpPr/>
          <p:nvPr/>
        </p:nvGrpSpPr>
        <p:grpSpPr>
          <a:xfrm>
            <a:off x="2752258" y="3577101"/>
            <a:ext cx="837634" cy="960401"/>
            <a:chOff x="6921469" y="2348717"/>
            <a:chExt cx="837634" cy="960401"/>
          </a:xfrm>
        </p:grpSpPr>
        <p:sp>
          <p:nvSpPr>
            <p:cNvPr id="102" name="Google Shape;6678;g2d30ebb658d_0_19789">
              <a:extLst>
                <a:ext uri="{FF2B5EF4-FFF2-40B4-BE49-F238E27FC236}">
                  <a16:creationId xmlns:a16="http://schemas.microsoft.com/office/drawing/2014/main" id="{7C1ACAEC-E4F5-ED11-ABA0-543FD5263069}"/>
                </a:ext>
              </a:extLst>
            </p:cNvPr>
            <p:cNvSpPr/>
            <p:nvPr/>
          </p:nvSpPr>
          <p:spPr>
            <a:xfrm>
              <a:off x="6921469" y="2348717"/>
              <a:ext cx="837634" cy="960401"/>
            </a:xfrm>
            <a:prstGeom prst="roundRect">
              <a:avLst>
                <a:gd name="adj" fmla="val 2356"/>
              </a:avLst>
            </a:prstGeom>
            <a:solidFill>
              <a:srgbClr val="E8E8EB"/>
            </a:soli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03" name="Google Shape;6678;g2d30ebb658d_0_19789">
              <a:extLst>
                <a:ext uri="{FF2B5EF4-FFF2-40B4-BE49-F238E27FC236}">
                  <a16:creationId xmlns:a16="http://schemas.microsoft.com/office/drawing/2014/main" id="{0F18257C-EC62-D941-FC93-97A2A6C8E586}"/>
                </a:ext>
              </a:extLst>
            </p:cNvPr>
            <p:cNvSpPr/>
            <p:nvPr/>
          </p:nvSpPr>
          <p:spPr>
            <a:xfrm>
              <a:off x="6990776" y="3149234"/>
              <a:ext cx="701104" cy="113800"/>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chemeClr val="accent2"/>
                  </a:solidFill>
                  <a:effectLst/>
                  <a:uLnTx/>
                  <a:uFillTx/>
                  <a:latin typeface="Arial"/>
                  <a:ea typeface="Arial"/>
                  <a:cs typeface="Arial"/>
                  <a:sym typeface="Arial"/>
                </a:rPr>
                <a:t>Cluster …N</a:t>
              </a:r>
              <a:endParaRPr kumimoji="0" sz="700" b="0" i="0" u="none" strike="noStrike" kern="1200" cap="none" spc="0" normalizeH="0" baseline="0" noProof="0" dirty="0">
                <a:ln>
                  <a:noFill/>
                </a:ln>
                <a:solidFill>
                  <a:schemeClr val="accent2"/>
                </a:solidFill>
                <a:effectLst/>
                <a:uLnTx/>
                <a:uFillTx/>
                <a:latin typeface="Arial"/>
                <a:ea typeface="Arial"/>
                <a:cs typeface="Arial"/>
                <a:sym typeface="Arial"/>
              </a:endParaRPr>
            </a:p>
          </p:txBody>
        </p:sp>
        <p:sp>
          <p:nvSpPr>
            <p:cNvPr id="104" name="Google Shape;6678;g2d30ebb658d_0_19789">
              <a:extLst>
                <a:ext uri="{FF2B5EF4-FFF2-40B4-BE49-F238E27FC236}">
                  <a16:creationId xmlns:a16="http://schemas.microsoft.com/office/drawing/2014/main" id="{0119BBC1-F504-9CD8-615B-AC19E7BE8F92}"/>
                </a:ext>
              </a:extLst>
            </p:cNvPr>
            <p:cNvSpPr/>
            <p:nvPr/>
          </p:nvSpPr>
          <p:spPr>
            <a:xfrm>
              <a:off x="6990776" y="2987383"/>
              <a:ext cx="701104" cy="113800"/>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lang="en-AU" sz="700" dirty="0">
                  <a:solidFill>
                    <a:schemeClr val="accent2"/>
                  </a:solidFill>
                  <a:latin typeface="Arial"/>
                  <a:ea typeface="Arial"/>
                  <a:cs typeface="Arial"/>
                  <a:sym typeface="Arial"/>
                </a:rPr>
                <a:t>Cluster 2</a:t>
              </a:r>
              <a:endParaRPr kumimoji="0" sz="700" b="0" i="0" u="none" strike="noStrike" kern="1200" cap="none" spc="0" normalizeH="0" baseline="0" noProof="0" dirty="0">
                <a:ln>
                  <a:noFill/>
                </a:ln>
                <a:solidFill>
                  <a:schemeClr val="accent2"/>
                </a:solidFill>
                <a:effectLst/>
                <a:uLnTx/>
                <a:uFillTx/>
                <a:latin typeface="Arial"/>
                <a:ea typeface="Arial"/>
                <a:cs typeface="Arial"/>
                <a:sym typeface="Arial"/>
              </a:endParaRPr>
            </a:p>
          </p:txBody>
        </p:sp>
        <p:sp>
          <p:nvSpPr>
            <p:cNvPr id="105" name="Google Shape;6678;g2d30ebb658d_0_19789">
              <a:extLst>
                <a:ext uri="{FF2B5EF4-FFF2-40B4-BE49-F238E27FC236}">
                  <a16:creationId xmlns:a16="http://schemas.microsoft.com/office/drawing/2014/main" id="{78F45E99-4E70-B0FD-AD1F-E25C1147D6C9}"/>
                </a:ext>
              </a:extLst>
            </p:cNvPr>
            <p:cNvSpPr/>
            <p:nvPr/>
          </p:nvSpPr>
          <p:spPr>
            <a:xfrm>
              <a:off x="6994489" y="2820351"/>
              <a:ext cx="701104" cy="113800"/>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chemeClr val="accent2"/>
                  </a:solidFill>
                  <a:effectLst/>
                  <a:uLnTx/>
                  <a:uFillTx/>
                  <a:latin typeface="Arial"/>
                  <a:ea typeface="Arial"/>
                  <a:cs typeface="Arial"/>
                  <a:sym typeface="Arial"/>
                </a:rPr>
                <a:t>Cluster 1</a:t>
              </a:r>
              <a:endParaRPr kumimoji="0" sz="700" b="0" i="0" u="none" strike="noStrike" kern="1200" cap="none" spc="0" normalizeH="0" baseline="0" noProof="0" dirty="0">
                <a:ln>
                  <a:noFill/>
                </a:ln>
                <a:solidFill>
                  <a:schemeClr val="accent2"/>
                </a:solidFill>
                <a:effectLst/>
                <a:uLnTx/>
                <a:uFillTx/>
                <a:latin typeface="Arial"/>
                <a:ea typeface="Arial"/>
                <a:cs typeface="Arial"/>
                <a:sym typeface="Arial"/>
              </a:endParaRPr>
            </a:p>
          </p:txBody>
        </p:sp>
        <p:sp>
          <p:nvSpPr>
            <p:cNvPr id="106" name="TextBox 105">
              <a:extLst>
                <a:ext uri="{FF2B5EF4-FFF2-40B4-BE49-F238E27FC236}">
                  <a16:creationId xmlns:a16="http://schemas.microsoft.com/office/drawing/2014/main" id="{F0A4C5A7-F30C-D81D-8146-786C83D20A5D}"/>
                </a:ext>
              </a:extLst>
            </p:cNvPr>
            <p:cNvSpPr txBox="1"/>
            <p:nvPr/>
          </p:nvSpPr>
          <p:spPr>
            <a:xfrm>
              <a:off x="6995955" y="2620050"/>
              <a:ext cx="687689" cy="107722"/>
            </a:xfrm>
            <a:prstGeom prst="rect">
              <a:avLst/>
            </a:prstGeom>
            <a:noFill/>
          </p:spPr>
          <p:txBody>
            <a:bodyPr wrap="none" lIns="0" tIns="0" rIns="0" bIns="0" rtlCol="0">
              <a:spAutoFit/>
            </a:bodyPr>
            <a:lstStyle/>
            <a:p>
              <a:pPr algn="ctr"/>
              <a:r>
                <a:rPr lang="en-US" sz="700" dirty="0">
                  <a:solidFill>
                    <a:schemeClr val="tx2"/>
                  </a:solidFill>
                </a:rPr>
                <a:t>VMware vSphere</a:t>
              </a:r>
            </a:p>
          </p:txBody>
        </p:sp>
        <p:pic>
          <p:nvPicPr>
            <p:cNvPr id="107" name="Graphic 106">
              <a:extLst>
                <a:ext uri="{FF2B5EF4-FFF2-40B4-BE49-F238E27FC236}">
                  <a16:creationId xmlns:a16="http://schemas.microsoft.com/office/drawing/2014/main" id="{910D257C-71D9-CB8A-7BA3-2C71447E97D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223350" y="2410130"/>
              <a:ext cx="190500" cy="190500"/>
            </a:xfrm>
            <a:prstGeom prst="rect">
              <a:avLst/>
            </a:prstGeom>
          </p:spPr>
        </p:pic>
      </p:grpSp>
      <p:grpSp>
        <p:nvGrpSpPr>
          <p:cNvPr id="109" name="Group 108">
            <a:extLst>
              <a:ext uri="{FF2B5EF4-FFF2-40B4-BE49-F238E27FC236}">
                <a16:creationId xmlns:a16="http://schemas.microsoft.com/office/drawing/2014/main" id="{CB6D3897-AC49-3424-7C75-EA9A773CD99A}"/>
              </a:ext>
            </a:extLst>
          </p:cNvPr>
          <p:cNvGrpSpPr/>
          <p:nvPr/>
        </p:nvGrpSpPr>
        <p:grpSpPr>
          <a:xfrm>
            <a:off x="2878238" y="1920114"/>
            <a:ext cx="837634" cy="960401"/>
            <a:chOff x="6921469" y="2348717"/>
            <a:chExt cx="837634" cy="960401"/>
          </a:xfrm>
        </p:grpSpPr>
        <p:sp>
          <p:nvSpPr>
            <p:cNvPr id="111" name="Google Shape;6678;g2d30ebb658d_0_19789">
              <a:extLst>
                <a:ext uri="{FF2B5EF4-FFF2-40B4-BE49-F238E27FC236}">
                  <a16:creationId xmlns:a16="http://schemas.microsoft.com/office/drawing/2014/main" id="{677821F2-D4FE-D2AB-7789-5361792A0742}"/>
                </a:ext>
              </a:extLst>
            </p:cNvPr>
            <p:cNvSpPr/>
            <p:nvPr/>
          </p:nvSpPr>
          <p:spPr>
            <a:xfrm>
              <a:off x="6921469" y="2348717"/>
              <a:ext cx="837634" cy="960401"/>
            </a:xfrm>
            <a:prstGeom prst="roundRect">
              <a:avLst>
                <a:gd name="adj" fmla="val 2356"/>
              </a:avLst>
            </a:prstGeom>
            <a:solidFill>
              <a:srgbClr val="E8E8EB"/>
            </a:soli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12" name="Google Shape;6678;g2d30ebb658d_0_19789">
              <a:extLst>
                <a:ext uri="{FF2B5EF4-FFF2-40B4-BE49-F238E27FC236}">
                  <a16:creationId xmlns:a16="http://schemas.microsoft.com/office/drawing/2014/main" id="{1D100976-B5F5-C762-2B28-E6310648CC81}"/>
                </a:ext>
              </a:extLst>
            </p:cNvPr>
            <p:cNvSpPr/>
            <p:nvPr/>
          </p:nvSpPr>
          <p:spPr>
            <a:xfrm>
              <a:off x="6990776" y="3149234"/>
              <a:ext cx="701104" cy="113800"/>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chemeClr val="accent2"/>
                  </a:solidFill>
                  <a:effectLst/>
                  <a:uLnTx/>
                  <a:uFillTx/>
                  <a:latin typeface="Arial"/>
                  <a:ea typeface="Arial"/>
                  <a:cs typeface="Arial"/>
                  <a:sym typeface="Arial"/>
                </a:rPr>
                <a:t>Cluster …N</a:t>
              </a:r>
              <a:endParaRPr kumimoji="0" sz="700" b="0" i="0" u="none" strike="noStrike" kern="1200" cap="none" spc="0" normalizeH="0" baseline="0" noProof="0" dirty="0">
                <a:ln>
                  <a:noFill/>
                </a:ln>
                <a:solidFill>
                  <a:schemeClr val="accent2"/>
                </a:solidFill>
                <a:effectLst/>
                <a:uLnTx/>
                <a:uFillTx/>
                <a:latin typeface="Arial"/>
                <a:ea typeface="Arial"/>
                <a:cs typeface="Arial"/>
                <a:sym typeface="Arial"/>
              </a:endParaRPr>
            </a:p>
          </p:txBody>
        </p:sp>
        <p:sp>
          <p:nvSpPr>
            <p:cNvPr id="113" name="Google Shape;6678;g2d30ebb658d_0_19789">
              <a:extLst>
                <a:ext uri="{FF2B5EF4-FFF2-40B4-BE49-F238E27FC236}">
                  <a16:creationId xmlns:a16="http://schemas.microsoft.com/office/drawing/2014/main" id="{29F6A1D6-0E57-DA73-5346-8C08AAC168F8}"/>
                </a:ext>
              </a:extLst>
            </p:cNvPr>
            <p:cNvSpPr/>
            <p:nvPr/>
          </p:nvSpPr>
          <p:spPr>
            <a:xfrm>
              <a:off x="6990776" y="2987383"/>
              <a:ext cx="701104" cy="113800"/>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lang="en-AU" sz="700" dirty="0">
                  <a:solidFill>
                    <a:schemeClr val="accent2"/>
                  </a:solidFill>
                  <a:latin typeface="Arial"/>
                  <a:ea typeface="Arial"/>
                  <a:cs typeface="Arial"/>
                  <a:sym typeface="Arial"/>
                </a:rPr>
                <a:t>Cluster 2</a:t>
              </a:r>
              <a:endParaRPr kumimoji="0" sz="700" b="0" i="0" u="none" strike="noStrike" kern="1200" cap="none" spc="0" normalizeH="0" baseline="0" noProof="0" dirty="0">
                <a:ln>
                  <a:noFill/>
                </a:ln>
                <a:solidFill>
                  <a:schemeClr val="accent2"/>
                </a:solidFill>
                <a:effectLst/>
                <a:uLnTx/>
                <a:uFillTx/>
                <a:latin typeface="Arial"/>
                <a:ea typeface="Arial"/>
                <a:cs typeface="Arial"/>
                <a:sym typeface="Arial"/>
              </a:endParaRPr>
            </a:p>
          </p:txBody>
        </p:sp>
        <p:sp>
          <p:nvSpPr>
            <p:cNvPr id="114" name="Google Shape;6678;g2d30ebb658d_0_19789">
              <a:extLst>
                <a:ext uri="{FF2B5EF4-FFF2-40B4-BE49-F238E27FC236}">
                  <a16:creationId xmlns:a16="http://schemas.microsoft.com/office/drawing/2014/main" id="{1D8BE92B-3818-AA66-7FC5-52C6E81718E3}"/>
                </a:ext>
              </a:extLst>
            </p:cNvPr>
            <p:cNvSpPr/>
            <p:nvPr/>
          </p:nvSpPr>
          <p:spPr>
            <a:xfrm>
              <a:off x="6994489" y="2820351"/>
              <a:ext cx="701104" cy="113800"/>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chemeClr val="accent2"/>
                  </a:solidFill>
                  <a:effectLst/>
                  <a:uLnTx/>
                  <a:uFillTx/>
                  <a:latin typeface="Arial"/>
                  <a:ea typeface="Arial"/>
                  <a:cs typeface="Arial"/>
                  <a:sym typeface="Arial"/>
                </a:rPr>
                <a:t>Cluster 1</a:t>
              </a:r>
              <a:endParaRPr kumimoji="0" sz="700" b="0" i="0" u="none" strike="noStrike" kern="1200" cap="none" spc="0" normalizeH="0" baseline="0" noProof="0" dirty="0">
                <a:ln>
                  <a:noFill/>
                </a:ln>
                <a:solidFill>
                  <a:schemeClr val="accent2"/>
                </a:solidFill>
                <a:effectLst/>
                <a:uLnTx/>
                <a:uFillTx/>
                <a:latin typeface="Arial"/>
                <a:ea typeface="Arial"/>
                <a:cs typeface="Arial"/>
                <a:sym typeface="Arial"/>
              </a:endParaRPr>
            </a:p>
          </p:txBody>
        </p:sp>
        <p:sp>
          <p:nvSpPr>
            <p:cNvPr id="115" name="TextBox 114">
              <a:extLst>
                <a:ext uri="{FF2B5EF4-FFF2-40B4-BE49-F238E27FC236}">
                  <a16:creationId xmlns:a16="http://schemas.microsoft.com/office/drawing/2014/main" id="{6900F031-4565-8B89-928D-BD745BA32987}"/>
                </a:ext>
              </a:extLst>
            </p:cNvPr>
            <p:cNvSpPr txBox="1"/>
            <p:nvPr/>
          </p:nvSpPr>
          <p:spPr>
            <a:xfrm>
              <a:off x="6995955" y="2620050"/>
              <a:ext cx="687689" cy="107722"/>
            </a:xfrm>
            <a:prstGeom prst="rect">
              <a:avLst/>
            </a:prstGeom>
            <a:noFill/>
          </p:spPr>
          <p:txBody>
            <a:bodyPr wrap="none" lIns="0" tIns="0" rIns="0" bIns="0" rtlCol="0">
              <a:spAutoFit/>
            </a:bodyPr>
            <a:lstStyle/>
            <a:p>
              <a:pPr algn="ctr"/>
              <a:r>
                <a:rPr lang="en-US" sz="700" dirty="0">
                  <a:solidFill>
                    <a:schemeClr val="tx2"/>
                  </a:solidFill>
                </a:rPr>
                <a:t>VMware vSphere</a:t>
              </a:r>
            </a:p>
          </p:txBody>
        </p:sp>
        <p:pic>
          <p:nvPicPr>
            <p:cNvPr id="116" name="Graphic 115">
              <a:extLst>
                <a:ext uri="{FF2B5EF4-FFF2-40B4-BE49-F238E27FC236}">
                  <a16:creationId xmlns:a16="http://schemas.microsoft.com/office/drawing/2014/main" id="{328449DC-C78E-4A75-CA8B-F05FC71086D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223350" y="2410130"/>
              <a:ext cx="190500" cy="190500"/>
            </a:xfrm>
            <a:prstGeom prst="rect">
              <a:avLst/>
            </a:prstGeom>
          </p:spPr>
        </p:pic>
      </p:grpSp>
      <p:grpSp>
        <p:nvGrpSpPr>
          <p:cNvPr id="141" name="Google Shape;6713;g2d30ebb658d_0_19789">
            <a:extLst>
              <a:ext uri="{FF2B5EF4-FFF2-40B4-BE49-F238E27FC236}">
                <a16:creationId xmlns:a16="http://schemas.microsoft.com/office/drawing/2014/main" id="{FEF04F5C-DCEB-4394-3479-1BB567406918}"/>
              </a:ext>
            </a:extLst>
          </p:cNvPr>
          <p:cNvGrpSpPr/>
          <p:nvPr/>
        </p:nvGrpSpPr>
        <p:grpSpPr>
          <a:xfrm>
            <a:off x="1269480" y="3935571"/>
            <a:ext cx="273516" cy="273515"/>
            <a:chOff x="9206590" y="5229970"/>
            <a:chExt cx="903000" cy="903000"/>
          </a:xfrm>
        </p:grpSpPr>
        <p:sp>
          <p:nvSpPr>
            <p:cNvPr id="142" name="Google Shape;6714;g2d30ebb658d_0_19789">
              <a:extLst>
                <a:ext uri="{FF2B5EF4-FFF2-40B4-BE49-F238E27FC236}">
                  <a16:creationId xmlns:a16="http://schemas.microsoft.com/office/drawing/2014/main" id="{91FF7F3D-33CD-C5CD-4570-8D373BDE5BB9}"/>
                </a:ext>
              </a:extLst>
            </p:cNvPr>
            <p:cNvSpPr/>
            <p:nvPr/>
          </p:nvSpPr>
          <p:spPr>
            <a:xfrm>
              <a:off x="9206590" y="5229970"/>
              <a:ext cx="903000" cy="903000"/>
            </a:xfrm>
            <a:prstGeom prst="ellipse">
              <a:avLst/>
            </a:prstGeom>
            <a:solidFill>
              <a:schemeClr val="dk2">
                <a:alpha val="498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143" name="Google Shape;6715;g2d30ebb658d_0_19789">
              <a:extLst>
                <a:ext uri="{FF2B5EF4-FFF2-40B4-BE49-F238E27FC236}">
                  <a16:creationId xmlns:a16="http://schemas.microsoft.com/office/drawing/2014/main" id="{39C2BD33-F8C0-9A0B-15A3-7F7285676270}"/>
                </a:ext>
              </a:extLst>
            </p:cNvPr>
            <p:cNvSpPr/>
            <p:nvPr/>
          </p:nvSpPr>
          <p:spPr>
            <a:xfrm>
              <a:off x="9414717" y="5397932"/>
              <a:ext cx="487268" cy="567717"/>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4" name="Group 143">
            <a:extLst>
              <a:ext uri="{FF2B5EF4-FFF2-40B4-BE49-F238E27FC236}">
                <a16:creationId xmlns:a16="http://schemas.microsoft.com/office/drawing/2014/main" id="{826F036F-0899-ECCC-A383-A4E6AEF3A202}"/>
              </a:ext>
            </a:extLst>
          </p:cNvPr>
          <p:cNvGrpSpPr/>
          <p:nvPr/>
        </p:nvGrpSpPr>
        <p:grpSpPr>
          <a:xfrm>
            <a:off x="1397441" y="2459347"/>
            <a:ext cx="265717" cy="265716"/>
            <a:chOff x="4332370" y="2485236"/>
            <a:chExt cx="664292" cy="664290"/>
          </a:xfrm>
        </p:grpSpPr>
        <p:sp>
          <p:nvSpPr>
            <p:cNvPr id="145" name="Google Shape;6760;g2d30ebb658d_0_19789">
              <a:extLst>
                <a:ext uri="{FF2B5EF4-FFF2-40B4-BE49-F238E27FC236}">
                  <a16:creationId xmlns:a16="http://schemas.microsoft.com/office/drawing/2014/main" id="{48FADCA4-4BEE-AA8E-DE8A-920C1D33DD72}"/>
                </a:ext>
              </a:extLst>
            </p:cNvPr>
            <p:cNvSpPr/>
            <p:nvPr/>
          </p:nvSpPr>
          <p:spPr>
            <a:xfrm>
              <a:off x="4332370" y="2485236"/>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solidFill>
              <a:schemeClr val="bg2">
                <a:lumMod val="75000"/>
              </a:scheme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46" name="Google Shape;6773;g2d30ebb658d_0_19789">
              <a:extLst>
                <a:ext uri="{FF2B5EF4-FFF2-40B4-BE49-F238E27FC236}">
                  <a16:creationId xmlns:a16="http://schemas.microsoft.com/office/drawing/2014/main" id="{846A11FF-8BA7-9536-A310-C7ACF8F03956}"/>
                </a:ext>
              </a:extLst>
            </p:cNvPr>
            <p:cNvSpPr/>
            <p:nvPr/>
          </p:nvSpPr>
          <p:spPr>
            <a:xfrm>
              <a:off x="4479093" y="2627406"/>
              <a:ext cx="220023" cy="227159"/>
            </a:xfrm>
            <a:custGeom>
              <a:avLst/>
              <a:gdLst/>
              <a:ahLst/>
              <a:cxnLst/>
              <a:rect l="l" t="t" r="r" b="b"/>
              <a:pathLst>
                <a:path w="349947" h="361296" extrusionOk="0">
                  <a:moveTo>
                    <a:pt x="315611" y="167464"/>
                  </a:moveTo>
                  <a:lnTo>
                    <a:pt x="349858" y="143737"/>
                  </a:lnTo>
                  <a:lnTo>
                    <a:pt x="349366" y="141544"/>
                  </a:lnTo>
                  <a:cubicBezTo>
                    <a:pt x="348112" y="135858"/>
                    <a:pt x="346590" y="130262"/>
                    <a:pt x="344889" y="124845"/>
                  </a:cubicBezTo>
                  <a:cubicBezTo>
                    <a:pt x="343143" y="119429"/>
                    <a:pt x="341129" y="114012"/>
                    <a:pt x="338801" y="108684"/>
                  </a:cubicBezTo>
                  <a:lnTo>
                    <a:pt x="337950" y="106625"/>
                  </a:lnTo>
                  <a:lnTo>
                    <a:pt x="296451" y="107789"/>
                  </a:lnTo>
                  <a:cubicBezTo>
                    <a:pt x="292063" y="100268"/>
                    <a:pt x="286870" y="93105"/>
                    <a:pt x="281095" y="86435"/>
                  </a:cubicBezTo>
                  <a:lnTo>
                    <a:pt x="295063" y="46860"/>
                  </a:lnTo>
                  <a:lnTo>
                    <a:pt x="293406" y="45383"/>
                  </a:lnTo>
                  <a:cubicBezTo>
                    <a:pt x="284856" y="37773"/>
                    <a:pt x="275544" y="30923"/>
                    <a:pt x="265740" y="25103"/>
                  </a:cubicBezTo>
                  <a:lnTo>
                    <a:pt x="263815" y="23984"/>
                  </a:lnTo>
                  <a:lnTo>
                    <a:pt x="230911" y="49546"/>
                  </a:lnTo>
                  <a:cubicBezTo>
                    <a:pt x="222987" y="46099"/>
                    <a:pt x="214660" y="43369"/>
                    <a:pt x="206110" y="41399"/>
                  </a:cubicBezTo>
                  <a:lnTo>
                    <a:pt x="194381" y="1063"/>
                  </a:lnTo>
                  <a:lnTo>
                    <a:pt x="192142" y="839"/>
                  </a:lnTo>
                  <a:cubicBezTo>
                    <a:pt x="180816" y="-280"/>
                    <a:pt x="169311" y="-280"/>
                    <a:pt x="157940" y="839"/>
                  </a:cubicBezTo>
                  <a:lnTo>
                    <a:pt x="155746" y="1063"/>
                  </a:lnTo>
                  <a:lnTo>
                    <a:pt x="143972" y="41354"/>
                  </a:lnTo>
                  <a:cubicBezTo>
                    <a:pt x="139675" y="42339"/>
                    <a:pt x="135467" y="43503"/>
                    <a:pt x="131348" y="44846"/>
                  </a:cubicBezTo>
                  <a:cubicBezTo>
                    <a:pt x="127274" y="46189"/>
                    <a:pt x="123155" y="47756"/>
                    <a:pt x="119126" y="49502"/>
                  </a:cubicBezTo>
                  <a:lnTo>
                    <a:pt x="86178" y="23850"/>
                  </a:lnTo>
                  <a:lnTo>
                    <a:pt x="84253" y="25014"/>
                  </a:lnTo>
                  <a:cubicBezTo>
                    <a:pt x="74448" y="30834"/>
                    <a:pt x="65137" y="37638"/>
                    <a:pt x="56586" y="45294"/>
                  </a:cubicBezTo>
                  <a:lnTo>
                    <a:pt x="54930" y="46771"/>
                  </a:lnTo>
                  <a:lnTo>
                    <a:pt x="68852" y="86390"/>
                  </a:lnTo>
                  <a:cubicBezTo>
                    <a:pt x="63077" y="93061"/>
                    <a:pt x="57929" y="100223"/>
                    <a:pt x="53497" y="107744"/>
                  </a:cubicBezTo>
                  <a:lnTo>
                    <a:pt x="11998" y="106580"/>
                  </a:lnTo>
                  <a:lnTo>
                    <a:pt x="11102" y="108640"/>
                  </a:lnTo>
                  <a:cubicBezTo>
                    <a:pt x="6536" y="119205"/>
                    <a:pt x="2999" y="130262"/>
                    <a:pt x="492" y="141499"/>
                  </a:cubicBezTo>
                  <a:lnTo>
                    <a:pt x="0" y="143693"/>
                  </a:lnTo>
                  <a:lnTo>
                    <a:pt x="34292" y="167464"/>
                  </a:lnTo>
                  <a:cubicBezTo>
                    <a:pt x="33486" y="176283"/>
                    <a:pt x="33486" y="185147"/>
                    <a:pt x="34292" y="193832"/>
                  </a:cubicBezTo>
                  <a:lnTo>
                    <a:pt x="0" y="217559"/>
                  </a:lnTo>
                  <a:lnTo>
                    <a:pt x="492" y="219753"/>
                  </a:lnTo>
                  <a:cubicBezTo>
                    <a:pt x="1746" y="225393"/>
                    <a:pt x="3268" y="230989"/>
                    <a:pt x="5014" y="236451"/>
                  </a:cubicBezTo>
                  <a:cubicBezTo>
                    <a:pt x="6760" y="241868"/>
                    <a:pt x="8774" y="247285"/>
                    <a:pt x="11058" y="252612"/>
                  </a:cubicBezTo>
                  <a:lnTo>
                    <a:pt x="11953" y="254671"/>
                  </a:lnTo>
                  <a:lnTo>
                    <a:pt x="53452" y="253507"/>
                  </a:lnTo>
                  <a:cubicBezTo>
                    <a:pt x="57884" y="261028"/>
                    <a:pt x="63033" y="268236"/>
                    <a:pt x="68808" y="274861"/>
                  </a:cubicBezTo>
                  <a:lnTo>
                    <a:pt x="54840" y="314436"/>
                  </a:lnTo>
                  <a:lnTo>
                    <a:pt x="56497" y="315958"/>
                  </a:lnTo>
                  <a:cubicBezTo>
                    <a:pt x="65002" y="323569"/>
                    <a:pt x="74359" y="330373"/>
                    <a:pt x="84163" y="336238"/>
                  </a:cubicBezTo>
                  <a:lnTo>
                    <a:pt x="86088" y="337357"/>
                  </a:lnTo>
                  <a:lnTo>
                    <a:pt x="118992" y="311750"/>
                  </a:lnTo>
                  <a:cubicBezTo>
                    <a:pt x="126916" y="315197"/>
                    <a:pt x="135287" y="317928"/>
                    <a:pt x="143838" y="319898"/>
                  </a:cubicBezTo>
                  <a:lnTo>
                    <a:pt x="155612" y="360233"/>
                  </a:lnTo>
                  <a:lnTo>
                    <a:pt x="157850" y="360457"/>
                  </a:lnTo>
                  <a:cubicBezTo>
                    <a:pt x="169177" y="361576"/>
                    <a:pt x="180682" y="361576"/>
                    <a:pt x="192008" y="360457"/>
                  </a:cubicBezTo>
                  <a:lnTo>
                    <a:pt x="194202" y="360233"/>
                  </a:lnTo>
                  <a:lnTo>
                    <a:pt x="205975" y="319942"/>
                  </a:lnTo>
                  <a:cubicBezTo>
                    <a:pt x="210273" y="318958"/>
                    <a:pt x="214481" y="317794"/>
                    <a:pt x="218600" y="316451"/>
                  </a:cubicBezTo>
                  <a:cubicBezTo>
                    <a:pt x="222718" y="315108"/>
                    <a:pt x="226792" y="313541"/>
                    <a:pt x="230821" y="311795"/>
                  </a:cubicBezTo>
                  <a:lnTo>
                    <a:pt x="263770" y="337402"/>
                  </a:lnTo>
                  <a:lnTo>
                    <a:pt x="265695" y="336283"/>
                  </a:lnTo>
                  <a:cubicBezTo>
                    <a:pt x="275499" y="330463"/>
                    <a:pt x="284811" y="323613"/>
                    <a:pt x="293362" y="316003"/>
                  </a:cubicBezTo>
                  <a:lnTo>
                    <a:pt x="295018" y="314481"/>
                  </a:lnTo>
                  <a:lnTo>
                    <a:pt x="281095" y="274861"/>
                  </a:lnTo>
                  <a:cubicBezTo>
                    <a:pt x="286915" y="268191"/>
                    <a:pt x="292019" y="261028"/>
                    <a:pt x="296451" y="253507"/>
                  </a:cubicBezTo>
                  <a:lnTo>
                    <a:pt x="337950" y="254671"/>
                  </a:lnTo>
                  <a:lnTo>
                    <a:pt x="338845" y="252612"/>
                  </a:lnTo>
                  <a:cubicBezTo>
                    <a:pt x="343412" y="242047"/>
                    <a:pt x="346948" y="230989"/>
                    <a:pt x="349455" y="219753"/>
                  </a:cubicBezTo>
                  <a:lnTo>
                    <a:pt x="349948" y="217559"/>
                  </a:lnTo>
                  <a:lnTo>
                    <a:pt x="315656" y="193832"/>
                  </a:lnTo>
                  <a:cubicBezTo>
                    <a:pt x="316462" y="185013"/>
                    <a:pt x="316506" y="176149"/>
                    <a:pt x="315656" y="167419"/>
                  </a:cubicBezTo>
                  <a:close/>
                  <a:moveTo>
                    <a:pt x="174907" y="282472"/>
                  </a:moveTo>
                  <a:cubicBezTo>
                    <a:pt x="119261" y="282472"/>
                    <a:pt x="74135" y="236899"/>
                    <a:pt x="74135" y="180626"/>
                  </a:cubicBezTo>
                  <a:cubicBezTo>
                    <a:pt x="74135" y="124353"/>
                    <a:pt x="119261" y="78824"/>
                    <a:pt x="174907" y="78824"/>
                  </a:cubicBezTo>
                  <a:cubicBezTo>
                    <a:pt x="230553" y="78824"/>
                    <a:pt x="275679" y="124398"/>
                    <a:pt x="275679" y="180626"/>
                  </a:cubicBezTo>
                  <a:cubicBezTo>
                    <a:pt x="275679" y="236854"/>
                    <a:pt x="230553" y="282472"/>
                    <a:pt x="174907" y="28247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7" name="Google Shape;6774;g2d30ebb658d_0_19789">
              <a:extLst>
                <a:ext uri="{FF2B5EF4-FFF2-40B4-BE49-F238E27FC236}">
                  <a16:creationId xmlns:a16="http://schemas.microsoft.com/office/drawing/2014/main" id="{F418B577-932F-4C1E-FCAF-091887BA9ABC}"/>
                </a:ext>
              </a:extLst>
            </p:cNvPr>
            <p:cNvSpPr/>
            <p:nvPr/>
          </p:nvSpPr>
          <p:spPr>
            <a:xfrm>
              <a:off x="4699246" y="2715696"/>
              <a:ext cx="176493" cy="175692"/>
            </a:xfrm>
            <a:custGeom>
              <a:avLst/>
              <a:gdLst/>
              <a:ahLst/>
              <a:cxnLst/>
              <a:rect l="l" t="t" r="r" b="b"/>
              <a:pathLst>
                <a:path w="280712" h="279438" extrusionOk="0">
                  <a:moveTo>
                    <a:pt x="239570" y="90341"/>
                  </a:moveTo>
                  <a:lnTo>
                    <a:pt x="257924" y="63301"/>
                  </a:lnTo>
                  <a:lnTo>
                    <a:pt x="256940" y="61824"/>
                  </a:lnTo>
                  <a:cubicBezTo>
                    <a:pt x="254433" y="58019"/>
                    <a:pt x="251746" y="54348"/>
                    <a:pt x="248926" y="50901"/>
                  </a:cubicBezTo>
                  <a:cubicBezTo>
                    <a:pt x="246106" y="47454"/>
                    <a:pt x="243106" y="44006"/>
                    <a:pt x="239928" y="40783"/>
                  </a:cubicBezTo>
                  <a:lnTo>
                    <a:pt x="238719" y="39530"/>
                  </a:lnTo>
                  <a:lnTo>
                    <a:pt x="208680" y="52109"/>
                  </a:lnTo>
                  <a:cubicBezTo>
                    <a:pt x="203308" y="47857"/>
                    <a:pt x="197533" y="44051"/>
                    <a:pt x="191400" y="40828"/>
                  </a:cubicBezTo>
                  <a:lnTo>
                    <a:pt x="190415" y="7924"/>
                  </a:lnTo>
                  <a:lnTo>
                    <a:pt x="188759" y="7297"/>
                  </a:lnTo>
                  <a:cubicBezTo>
                    <a:pt x="180342" y="4119"/>
                    <a:pt x="171613" y="1791"/>
                    <a:pt x="162793" y="269"/>
                  </a:cubicBezTo>
                  <a:lnTo>
                    <a:pt x="161047" y="0"/>
                  </a:lnTo>
                  <a:lnTo>
                    <a:pt x="144215" y="28024"/>
                  </a:lnTo>
                  <a:cubicBezTo>
                    <a:pt x="137455" y="27756"/>
                    <a:pt x="130561" y="28114"/>
                    <a:pt x="123756" y="29099"/>
                  </a:cubicBezTo>
                  <a:lnTo>
                    <a:pt x="103790" y="2910"/>
                  </a:lnTo>
                  <a:lnTo>
                    <a:pt x="102089" y="3358"/>
                  </a:lnTo>
                  <a:cubicBezTo>
                    <a:pt x="93493" y="5775"/>
                    <a:pt x="85077" y="8998"/>
                    <a:pt x="77064" y="13027"/>
                  </a:cubicBezTo>
                  <a:lnTo>
                    <a:pt x="75497" y="13788"/>
                  </a:lnTo>
                  <a:lnTo>
                    <a:pt x="78272" y="46603"/>
                  </a:lnTo>
                  <a:cubicBezTo>
                    <a:pt x="75407" y="48528"/>
                    <a:pt x="72632" y="50587"/>
                    <a:pt x="70035" y="52691"/>
                  </a:cubicBezTo>
                  <a:cubicBezTo>
                    <a:pt x="67439" y="54840"/>
                    <a:pt x="64842" y="57123"/>
                    <a:pt x="62425" y="59541"/>
                  </a:cubicBezTo>
                  <a:lnTo>
                    <a:pt x="31087" y="50095"/>
                  </a:lnTo>
                  <a:lnTo>
                    <a:pt x="30013" y="51483"/>
                  </a:lnTo>
                  <a:cubicBezTo>
                    <a:pt x="24462" y="58511"/>
                    <a:pt x="19582" y="66122"/>
                    <a:pt x="15508" y="74135"/>
                  </a:cubicBezTo>
                  <a:lnTo>
                    <a:pt x="14702" y="75702"/>
                  </a:lnTo>
                  <a:lnTo>
                    <a:pt x="36101" y="100727"/>
                  </a:lnTo>
                  <a:cubicBezTo>
                    <a:pt x="33729" y="107218"/>
                    <a:pt x="32027" y="113933"/>
                    <a:pt x="30908" y="120693"/>
                  </a:cubicBezTo>
                  <a:lnTo>
                    <a:pt x="198" y="131572"/>
                  </a:lnTo>
                  <a:lnTo>
                    <a:pt x="108" y="133318"/>
                  </a:lnTo>
                  <a:cubicBezTo>
                    <a:pt x="-250" y="142316"/>
                    <a:pt x="287" y="151449"/>
                    <a:pt x="1630" y="160357"/>
                  </a:cubicBezTo>
                  <a:lnTo>
                    <a:pt x="1899" y="162103"/>
                  </a:lnTo>
                  <a:lnTo>
                    <a:pt x="33684" y="169803"/>
                  </a:lnTo>
                  <a:cubicBezTo>
                    <a:pt x="35564" y="176474"/>
                    <a:pt x="38071" y="182965"/>
                    <a:pt x="41115" y="189098"/>
                  </a:cubicBezTo>
                  <a:lnTo>
                    <a:pt x="22761" y="216138"/>
                  </a:lnTo>
                  <a:lnTo>
                    <a:pt x="23745" y="217615"/>
                  </a:lnTo>
                  <a:cubicBezTo>
                    <a:pt x="26252" y="221420"/>
                    <a:pt x="28938" y="225046"/>
                    <a:pt x="31759" y="228538"/>
                  </a:cubicBezTo>
                  <a:cubicBezTo>
                    <a:pt x="34579" y="231985"/>
                    <a:pt x="37579" y="235432"/>
                    <a:pt x="40757" y="238656"/>
                  </a:cubicBezTo>
                  <a:lnTo>
                    <a:pt x="42011" y="239909"/>
                  </a:lnTo>
                  <a:lnTo>
                    <a:pt x="72050" y="227330"/>
                  </a:lnTo>
                  <a:cubicBezTo>
                    <a:pt x="77422" y="231582"/>
                    <a:pt x="83197" y="235388"/>
                    <a:pt x="89330" y="238611"/>
                  </a:cubicBezTo>
                  <a:lnTo>
                    <a:pt x="90315" y="271515"/>
                  </a:lnTo>
                  <a:lnTo>
                    <a:pt x="91971" y="272142"/>
                  </a:lnTo>
                  <a:cubicBezTo>
                    <a:pt x="100343" y="275276"/>
                    <a:pt x="109117" y="277648"/>
                    <a:pt x="117936" y="279170"/>
                  </a:cubicBezTo>
                  <a:lnTo>
                    <a:pt x="119682" y="279439"/>
                  </a:lnTo>
                  <a:lnTo>
                    <a:pt x="136515" y="251414"/>
                  </a:lnTo>
                  <a:cubicBezTo>
                    <a:pt x="143320" y="251683"/>
                    <a:pt x="150169" y="251325"/>
                    <a:pt x="156974" y="250340"/>
                  </a:cubicBezTo>
                  <a:lnTo>
                    <a:pt x="176985" y="276529"/>
                  </a:lnTo>
                  <a:lnTo>
                    <a:pt x="178686" y="276037"/>
                  </a:lnTo>
                  <a:cubicBezTo>
                    <a:pt x="187281" y="273619"/>
                    <a:pt x="195698" y="270396"/>
                    <a:pt x="203666" y="266367"/>
                  </a:cubicBezTo>
                  <a:lnTo>
                    <a:pt x="205233" y="265606"/>
                  </a:lnTo>
                  <a:lnTo>
                    <a:pt x="202457" y="232791"/>
                  </a:lnTo>
                  <a:cubicBezTo>
                    <a:pt x="205323" y="230866"/>
                    <a:pt x="208098" y="228807"/>
                    <a:pt x="210695" y="226703"/>
                  </a:cubicBezTo>
                  <a:cubicBezTo>
                    <a:pt x="213291" y="224554"/>
                    <a:pt x="215888" y="222271"/>
                    <a:pt x="218350" y="219853"/>
                  </a:cubicBezTo>
                  <a:lnTo>
                    <a:pt x="249687" y="229299"/>
                  </a:lnTo>
                  <a:lnTo>
                    <a:pt x="250762" y="227912"/>
                  </a:lnTo>
                  <a:cubicBezTo>
                    <a:pt x="256313" y="220883"/>
                    <a:pt x="261192" y="213228"/>
                    <a:pt x="265266" y="205259"/>
                  </a:cubicBezTo>
                  <a:lnTo>
                    <a:pt x="266072" y="203692"/>
                  </a:lnTo>
                  <a:lnTo>
                    <a:pt x="244673" y="178667"/>
                  </a:lnTo>
                  <a:cubicBezTo>
                    <a:pt x="247046" y="172131"/>
                    <a:pt x="248747" y="165461"/>
                    <a:pt x="249866" y="158701"/>
                  </a:cubicBezTo>
                  <a:lnTo>
                    <a:pt x="280577" y="147822"/>
                  </a:lnTo>
                  <a:lnTo>
                    <a:pt x="280577" y="146076"/>
                  </a:lnTo>
                  <a:cubicBezTo>
                    <a:pt x="280980" y="137078"/>
                    <a:pt x="280487" y="127990"/>
                    <a:pt x="279099" y="119037"/>
                  </a:cubicBezTo>
                  <a:lnTo>
                    <a:pt x="278831" y="117291"/>
                  </a:lnTo>
                  <a:lnTo>
                    <a:pt x="247046" y="109636"/>
                  </a:lnTo>
                  <a:cubicBezTo>
                    <a:pt x="245166" y="102921"/>
                    <a:pt x="242659" y="96429"/>
                    <a:pt x="239615" y="90296"/>
                  </a:cubicBezTo>
                  <a:close/>
                  <a:moveTo>
                    <a:pt x="169106" y="214213"/>
                  </a:moveTo>
                  <a:cubicBezTo>
                    <a:pt x="128412" y="229926"/>
                    <a:pt x="82525" y="209333"/>
                    <a:pt x="66633" y="168192"/>
                  </a:cubicBezTo>
                  <a:cubicBezTo>
                    <a:pt x="50740" y="127050"/>
                    <a:pt x="70886" y="80984"/>
                    <a:pt x="111579" y="65226"/>
                  </a:cubicBezTo>
                  <a:cubicBezTo>
                    <a:pt x="152273" y="49513"/>
                    <a:pt x="198160" y="70106"/>
                    <a:pt x="214052" y="111247"/>
                  </a:cubicBezTo>
                  <a:cubicBezTo>
                    <a:pt x="229945" y="152389"/>
                    <a:pt x="209799" y="198499"/>
                    <a:pt x="169106" y="21421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8" name="Google Shape;6775;g2d30ebb658d_0_19789">
              <a:extLst>
                <a:ext uri="{FF2B5EF4-FFF2-40B4-BE49-F238E27FC236}">
                  <a16:creationId xmlns:a16="http://schemas.microsoft.com/office/drawing/2014/main" id="{3F4E54F8-5915-44C8-36FE-F40DC52F2322}"/>
                </a:ext>
              </a:extLst>
            </p:cNvPr>
            <p:cNvSpPr/>
            <p:nvPr/>
          </p:nvSpPr>
          <p:spPr>
            <a:xfrm>
              <a:off x="4601540" y="2855726"/>
              <a:ext cx="146600" cy="145857"/>
            </a:xfrm>
            <a:custGeom>
              <a:avLst/>
              <a:gdLst/>
              <a:ahLst/>
              <a:cxnLst/>
              <a:rect l="l" t="t" r="r" b="b"/>
              <a:pathLst>
                <a:path w="233167" h="231985" extrusionOk="0">
                  <a:moveTo>
                    <a:pt x="199023" y="74986"/>
                  </a:moveTo>
                  <a:lnTo>
                    <a:pt x="214289" y="52557"/>
                  </a:lnTo>
                  <a:lnTo>
                    <a:pt x="213483" y="51348"/>
                  </a:lnTo>
                  <a:cubicBezTo>
                    <a:pt x="211379" y="48215"/>
                    <a:pt x="209141" y="45126"/>
                    <a:pt x="206813" y="42261"/>
                  </a:cubicBezTo>
                  <a:cubicBezTo>
                    <a:pt x="204485" y="39395"/>
                    <a:pt x="201978" y="36530"/>
                    <a:pt x="199336" y="33844"/>
                  </a:cubicBezTo>
                  <a:lnTo>
                    <a:pt x="198307" y="32770"/>
                  </a:lnTo>
                  <a:lnTo>
                    <a:pt x="173371" y="43201"/>
                  </a:lnTo>
                  <a:cubicBezTo>
                    <a:pt x="168939" y="39664"/>
                    <a:pt x="164104" y="36530"/>
                    <a:pt x="159001" y="33844"/>
                  </a:cubicBezTo>
                  <a:lnTo>
                    <a:pt x="158195" y="6536"/>
                  </a:lnTo>
                  <a:lnTo>
                    <a:pt x="156807" y="6044"/>
                  </a:lnTo>
                  <a:cubicBezTo>
                    <a:pt x="149824" y="3402"/>
                    <a:pt x="142571" y="1433"/>
                    <a:pt x="135229" y="224"/>
                  </a:cubicBezTo>
                  <a:lnTo>
                    <a:pt x="133797" y="0"/>
                  </a:lnTo>
                  <a:lnTo>
                    <a:pt x="119785" y="23279"/>
                  </a:lnTo>
                  <a:cubicBezTo>
                    <a:pt x="114144" y="23055"/>
                    <a:pt x="108458" y="23324"/>
                    <a:pt x="102773" y="24174"/>
                  </a:cubicBezTo>
                  <a:lnTo>
                    <a:pt x="86164" y="2417"/>
                  </a:lnTo>
                  <a:lnTo>
                    <a:pt x="84776" y="2776"/>
                  </a:lnTo>
                  <a:cubicBezTo>
                    <a:pt x="77613" y="4745"/>
                    <a:pt x="70630" y="7476"/>
                    <a:pt x="64004" y="10834"/>
                  </a:cubicBezTo>
                  <a:lnTo>
                    <a:pt x="62706" y="11460"/>
                  </a:lnTo>
                  <a:lnTo>
                    <a:pt x="65034" y="38724"/>
                  </a:lnTo>
                  <a:cubicBezTo>
                    <a:pt x="62661" y="40336"/>
                    <a:pt x="60333" y="42037"/>
                    <a:pt x="58184" y="43783"/>
                  </a:cubicBezTo>
                  <a:cubicBezTo>
                    <a:pt x="56036" y="45573"/>
                    <a:pt x="53887" y="47454"/>
                    <a:pt x="51827" y="49468"/>
                  </a:cubicBezTo>
                  <a:lnTo>
                    <a:pt x="25817" y="41634"/>
                  </a:lnTo>
                  <a:lnTo>
                    <a:pt x="24922" y="42798"/>
                  </a:lnTo>
                  <a:cubicBezTo>
                    <a:pt x="20311" y="48618"/>
                    <a:pt x="16282" y="54975"/>
                    <a:pt x="12880" y="61600"/>
                  </a:cubicBezTo>
                  <a:lnTo>
                    <a:pt x="12208" y="62898"/>
                  </a:lnTo>
                  <a:lnTo>
                    <a:pt x="29981" y="83671"/>
                  </a:lnTo>
                  <a:cubicBezTo>
                    <a:pt x="28011" y="89087"/>
                    <a:pt x="26579" y="94639"/>
                    <a:pt x="25638" y="100235"/>
                  </a:cubicBezTo>
                  <a:lnTo>
                    <a:pt x="121" y="109278"/>
                  </a:lnTo>
                  <a:lnTo>
                    <a:pt x="121" y="110710"/>
                  </a:lnTo>
                  <a:cubicBezTo>
                    <a:pt x="-237" y="118186"/>
                    <a:pt x="210" y="125752"/>
                    <a:pt x="1330" y="133139"/>
                  </a:cubicBezTo>
                  <a:lnTo>
                    <a:pt x="1553" y="134571"/>
                  </a:lnTo>
                  <a:lnTo>
                    <a:pt x="27966" y="140973"/>
                  </a:lnTo>
                  <a:cubicBezTo>
                    <a:pt x="29533" y="146524"/>
                    <a:pt x="31637" y="151896"/>
                    <a:pt x="34144" y="157000"/>
                  </a:cubicBezTo>
                  <a:lnTo>
                    <a:pt x="18878" y="179428"/>
                  </a:lnTo>
                  <a:lnTo>
                    <a:pt x="19684" y="180637"/>
                  </a:lnTo>
                  <a:cubicBezTo>
                    <a:pt x="21744" y="183771"/>
                    <a:pt x="23982" y="186815"/>
                    <a:pt x="26355" y="189725"/>
                  </a:cubicBezTo>
                  <a:cubicBezTo>
                    <a:pt x="28683" y="192590"/>
                    <a:pt x="31190" y="195455"/>
                    <a:pt x="33831" y="198141"/>
                  </a:cubicBezTo>
                  <a:lnTo>
                    <a:pt x="34860" y="199216"/>
                  </a:lnTo>
                  <a:lnTo>
                    <a:pt x="59796" y="188740"/>
                  </a:lnTo>
                  <a:cubicBezTo>
                    <a:pt x="64228" y="192277"/>
                    <a:pt x="69063" y="195455"/>
                    <a:pt x="74166" y="198096"/>
                  </a:cubicBezTo>
                  <a:lnTo>
                    <a:pt x="74972" y="225405"/>
                  </a:lnTo>
                  <a:lnTo>
                    <a:pt x="76360" y="225942"/>
                  </a:lnTo>
                  <a:cubicBezTo>
                    <a:pt x="83344" y="228583"/>
                    <a:pt x="90596" y="230508"/>
                    <a:pt x="97938" y="231762"/>
                  </a:cubicBezTo>
                  <a:lnTo>
                    <a:pt x="99371" y="231985"/>
                  </a:lnTo>
                  <a:lnTo>
                    <a:pt x="113383" y="208706"/>
                  </a:lnTo>
                  <a:cubicBezTo>
                    <a:pt x="119023" y="208930"/>
                    <a:pt x="124709" y="208661"/>
                    <a:pt x="130394" y="207811"/>
                  </a:cubicBezTo>
                  <a:lnTo>
                    <a:pt x="147003" y="229568"/>
                  </a:lnTo>
                  <a:lnTo>
                    <a:pt x="148391" y="229165"/>
                  </a:lnTo>
                  <a:cubicBezTo>
                    <a:pt x="155554" y="227195"/>
                    <a:pt x="162538" y="224464"/>
                    <a:pt x="169163" y="221152"/>
                  </a:cubicBezTo>
                  <a:lnTo>
                    <a:pt x="170461" y="220525"/>
                  </a:lnTo>
                  <a:lnTo>
                    <a:pt x="168133" y="193261"/>
                  </a:lnTo>
                  <a:cubicBezTo>
                    <a:pt x="170506" y="191650"/>
                    <a:pt x="172789" y="189949"/>
                    <a:pt x="174983" y="188203"/>
                  </a:cubicBezTo>
                  <a:cubicBezTo>
                    <a:pt x="177177" y="186412"/>
                    <a:pt x="179281" y="184487"/>
                    <a:pt x="181340" y="182517"/>
                  </a:cubicBezTo>
                  <a:lnTo>
                    <a:pt x="207350" y="190352"/>
                  </a:lnTo>
                  <a:lnTo>
                    <a:pt x="208245" y="189232"/>
                  </a:lnTo>
                  <a:cubicBezTo>
                    <a:pt x="212856" y="183368"/>
                    <a:pt x="216885" y="177056"/>
                    <a:pt x="220288" y="170430"/>
                  </a:cubicBezTo>
                  <a:lnTo>
                    <a:pt x="220959" y="169132"/>
                  </a:lnTo>
                  <a:lnTo>
                    <a:pt x="203186" y="148360"/>
                  </a:lnTo>
                  <a:cubicBezTo>
                    <a:pt x="205156" y="142943"/>
                    <a:pt x="206589" y="137392"/>
                    <a:pt x="207529" y="131796"/>
                  </a:cubicBezTo>
                  <a:lnTo>
                    <a:pt x="233046" y="122753"/>
                  </a:lnTo>
                  <a:lnTo>
                    <a:pt x="233046" y="121275"/>
                  </a:lnTo>
                  <a:cubicBezTo>
                    <a:pt x="233405" y="113799"/>
                    <a:pt x="232957" y="106233"/>
                    <a:pt x="231838" y="98847"/>
                  </a:cubicBezTo>
                  <a:lnTo>
                    <a:pt x="231614" y="97369"/>
                  </a:lnTo>
                  <a:lnTo>
                    <a:pt x="205201" y="91012"/>
                  </a:lnTo>
                  <a:cubicBezTo>
                    <a:pt x="203634" y="85461"/>
                    <a:pt x="201530" y="80044"/>
                    <a:pt x="199023" y="74941"/>
                  </a:cubicBezTo>
                  <a:close/>
                  <a:moveTo>
                    <a:pt x="140512" y="177906"/>
                  </a:moveTo>
                  <a:cubicBezTo>
                    <a:pt x="106712" y="190978"/>
                    <a:pt x="68615" y="173832"/>
                    <a:pt x="55409" y="139675"/>
                  </a:cubicBezTo>
                  <a:cubicBezTo>
                    <a:pt x="42202" y="105517"/>
                    <a:pt x="58945" y="67241"/>
                    <a:pt x="92745" y="54169"/>
                  </a:cubicBezTo>
                  <a:cubicBezTo>
                    <a:pt x="126544" y="41097"/>
                    <a:pt x="164686" y="58198"/>
                    <a:pt x="177848" y="92400"/>
                  </a:cubicBezTo>
                  <a:cubicBezTo>
                    <a:pt x="191054" y="126558"/>
                    <a:pt x="174356" y="164834"/>
                    <a:pt x="140512" y="1779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49" name="Group 148">
            <a:extLst>
              <a:ext uri="{FF2B5EF4-FFF2-40B4-BE49-F238E27FC236}">
                <a16:creationId xmlns:a16="http://schemas.microsoft.com/office/drawing/2014/main" id="{DB4C2B0C-1849-9856-21C7-E6FBE337CFF4}"/>
              </a:ext>
            </a:extLst>
          </p:cNvPr>
          <p:cNvGrpSpPr/>
          <p:nvPr/>
        </p:nvGrpSpPr>
        <p:grpSpPr>
          <a:xfrm>
            <a:off x="2074585" y="2930882"/>
            <a:ext cx="265717" cy="265716"/>
            <a:chOff x="4662354" y="2396539"/>
            <a:chExt cx="664292" cy="664290"/>
          </a:xfrm>
        </p:grpSpPr>
        <p:sp>
          <p:nvSpPr>
            <p:cNvPr id="150" name="Google Shape;6760;g2d30ebb658d_0_19789">
              <a:extLst>
                <a:ext uri="{FF2B5EF4-FFF2-40B4-BE49-F238E27FC236}">
                  <a16:creationId xmlns:a16="http://schemas.microsoft.com/office/drawing/2014/main" id="{40E31ABA-5D86-143E-BD59-1AB38B6FC5BB}"/>
                </a:ext>
              </a:extLst>
            </p:cNvPr>
            <p:cNvSpPr/>
            <p:nvPr/>
          </p:nvSpPr>
          <p:spPr>
            <a:xfrm>
              <a:off x="4662354" y="2396539"/>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solidFill>
              <a:schemeClr val="bg2">
                <a:lumMod val="75000"/>
              </a:scheme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151" name="Graphic 150">
              <a:extLst>
                <a:ext uri="{FF2B5EF4-FFF2-40B4-BE49-F238E27FC236}">
                  <a16:creationId xmlns:a16="http://schemas.microsoft.com/office/drawing/2014/main" id="{4FF10242-A462-E39E-1AC0-06AC8C66F640}"/>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745580" y="2478551"/>
              <a:ext cx="497840" cy="497840"/>
            </a:xfrm>
            <a:prstGeom prst="rect">
              <a:avLst/>
            </a:prstGeom>
          </p:spPr>
        </p:pic>
      </p:grpSp>
      <p:grpSp>
        <p:nvGrpSpPr>
          <p:cNvPr id="152" name="Google Shape;6707;g2d30ebb658d_0_19789">
            <a:extLst>
              <a:ext uri="{FF2B5EF4-FFF2-40B4-BE49-F238E27FC236}">
                <a16:creationId xmlns:a16="http://schemas.microsoft.com/office/drawing/2014/main" id="{535ABCF6-D244-1DC2-258C-DEA9D83FFF18}"/>
              </a:ext>
            </a:extLst>
          </p:cNvPr>
          <p:cNvGrpSpPr/>
          <p:nvPr/>
        </p:nvGrpSpPr>
        <p:grpSpPr>
          <a:xfrm>
            <a:off x="2076700" y="3251311"/>
            <a:ext cx="273516" cy="273515"/>
            <a:chOff x="10656543" y="2484407"/>
            <a:chExt cx="903000" cy="903000"/>
          </a:xfrm>
        </p:grpSpPr>
        <p:sp>
          <p:nvSpPr>
            <p:cNvPr id="153" name="Google Shape;6708;g2d30ebb658d_0_19789">
              <a:extLst>
                <a:ext uri="{FF2B5EF4-FFF2-40B4-BE49-F238E27FC236}">
                  <a16:creationId xmlns:a16="http://schemas.microsoft.com/office/drawing/2014/main" id="{3BE9BB22-39BA-1B49-FD42-1759A413667D}"/>
                </a:ext>
              </a:extLst>
            </p:cNvPr>
            <p:cNvSpPr/>
            <p:nvPr/>
          </p:nvSpPr>
          <p:spPr>
            <a:xfrm>
              <a:off x="10656543" y="2484407"/>
              <a:ext cx="903000" cy="903000"/>
            </a:xfrm>
            <a:prstGeom prst="ellipse">
              <a:avLst/>
            </a:prstGeom>
            <a:solidFill>
              <a:schemeClr val="dk2">
                <a:alpha val="498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154" name="Google Shape;6709;g2d30ebb658d_0_19789">
              <a:extLst>
                <a:ext uri="{FF2B5EF4-FFF2-40B4-BE49-F238E27FC236}">
                  <a16:creationId xmlns:a16="http://schemas.microsoft.com/office/drawing/2014/main" id="{17CBD78E-9C48-749B-7885-14C90CD175CC}"/>
                </a:ext>
              </a:extLst>
            </p:cNvPr>
            <p:cNvSpPr/>
            <p:nvPr/>
          </p:nvSpPr>
          <p:spPr>
            <a:xfrm>
              <a:off x="10810509" y="2635103"/>
              <a:ext cx="595789" cy="595789"/>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5" name="Group 154">
            <a:extLst>
              <a:ext uri="{FF2B5EF4-FFF2-40B4-BE49-F238E27FC236}">
                <a16:creationId xmlns:a16="http://schemas.microsoft.com/office/drawing/2014/main" id="{E761369B-1B48-E62A-CC21-F4D654563A72}"/>
              </a:ext>
            </a:extLst>
          </p:cNvPr>
          <p:cNvGrpSpPr/>
          <p:nvPr/>
        </p:nvGrpSpPr>
        <p:grpSpPr>
          <a:xfrm>
            <a:off x="2555767" y="2256192"/>
            <a:ext cx="265717" cy="265716"/>
            <a:chOff x="1358600" y="2398310"/>
            <a:chExt cx="664292" cy="664290"/>
          </a:xfrm>
        </p:grpSpPr>
        <p:sp>
          <p:nvSpPr>
            <p:cNvPr id="156" name="Google Shape;6760;g2d30ebb658d_0_19789">
              <a:extLst>
                <a:ext uri="{FF2B5EF4-FFF2-40B4-BE49-F238E27FC236}">
                  <a16:creationId xmlns:a16="http://schemas.microsoft.com/office/drawing/2014/main" id="{4CC08FF0-62F7-B4D7-6AFA-D335C1A22267}"/>
                </a:ext>
              </a:extLst>
            </p:cNvPr>
            <p:cNvSpPr/>
            <p:nvPr/>
          </p:nvSpPr>
          <p:spPr>
            <a:xfrm>
              <a:off x="1358600" y="2398310"/>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solidFill>
              <a:schemeClr val="bg2">
                <a:lumMod val="75000"/>
              </a:scheme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57" name="Google Shape;6767;g2d30ebb658d_0_19789">
              <a:extLst>
                <a:ext uri="{FF2B5EF4-FFF2-40B4-BE49-F238E27FC236}">
                  <a16:creationId xmlns:a16="http://schemas.microsoft.com/office/drawing/2014/main" id="{B7F7768B-C6B4-58FD-3906-F512CD667B7A}"/>
                </a:ext>
              </a:extLst>
            </p:cNvPr>
            <p:cNvSpPr/>
            <p:nvPr/>
          </p:nvSpPr>
          <p:spPr>
            <a:xfrm>
              <a:off x="1503581" y="2537002"/>
              <a:ext cx="379742" cy="380966"/>
            </a:xfrm>
            <a:custGeom>
              <a:avLst/>
              <a:gdLst/>
              <a:ahLst/>
              <a:cxnLst/>
              <a:rect l="l" t="t" r="r" b="b"/>
              <a:pathLst>
                <a:path w="651268" h="653368" extrusionOk="0">
                  <a:moveTo>
                    <a:pt x="587701" y="131477"/>
                  </a:moveTo>
                  <a:cubicBezTo>
                    <a:pt x="546722" y="75983"/>
                    <a:pt x="487355" y="34911"/>
                    <a:pt x="421826" y="14375"/>
                  </a:cubicBezTo>
                  <a:cubicBezTo>
                    <a:pt x="391116" y="4107"/>
                    <a:pt x="358352" y="0"/>
                    <a:pt x="325588" y="0"/>
                  </a:cubicBezTo>
                  <a:cubicBezTo>
                    <a:pt x="292824" y="0"/>
                    <a:pt x="260059" y="4107"/>
                    <a:pt x="229349" y="14375"/>
                  </a:cubicBezTo>
                  <a:lnTo>
                    <a:pt x="249838" y="80137"/>
                  </a:lnTo>
                  <a:cubicBezTo>
                    <a:pt x="274435" y="71922"/>
                    <a:pt x="298984" y="67815"/>
                    <a:pt x="325634" y="67815"/>
                  </a:cubicBezTo>
                  <a:cubicBezTo>
                    <a:pt x="352284" y="67815"/>
                    <a:pt x="376834" y="71922"/>
                    <a:pt x="401430" y="80137"/>
                  </a:cubicBezTo>
                  <a:cubicBezTo>
                    <a:pt x="452630" y="94512"/>
                    <a:pt x="499723" y="127416"/>
                    <a:pt x="532487" y="172595"/>
                  </a:cubicBezTo>
                  <a:cubicBezTo>
                    <a:pt x="565251" y="215767"/>
                    <a:pt x="583687" y="271214"/>
                    <a:pt x="583687" y="326708"/>
                  </a:cubicBezTo>
                  <a:cubicBezTo>
                    <a:pt x="583687" y="468499"/>
                    <a:pt x="466959" y="585600"/>
                    <a:pt x="325634" y="585600"/>
                  </a:cubicBezTo>
                  <a:cubicBezTo>
                    <a:pt x="184310" y="585600"/>
                    <a:pt x="67582" y="468499"/>
                    <a:pt x="67582" y="326708"/>
                  </a:cubicBezTo>
                  <a:cubicBezTo>
                    <a:pt x="67582" y="273268"/>
                    <a:pt x="83964" y="219874"/>
                    <a:pt x="116728" y="176702"/>
                  </a:cubicBezTo>
                  <a:lnTo>
                    <a:pt x="159713" y="195185"/>
                  </a:lnTo>
                  <a:lnTo>
                    <a:pt x="139224" y="32857"/>
                  </a:lnTo>
                  <a:lnTo>
                    <a:pt x="12275" y="131477"/>
                  </a:lnTo>
                  <a:lnTo>
                    <a:pt x="51200" y="147905"/>
                  </a:lnTo>
                  <a:cubicBezTo>
                    <a:pt x="18436" y="201345"/>
                    <a:pt x="0" y="262953"/>
                    <a:pt x="0" y="326661"/>
                  </a:cubicBezTo>
                  <a:cubicBezTo>
                    <a:pt x="0" y="507470"/>
                    <a:pt x="145385" y="653369"/>
                    <a:pt x="325634" y="653369"/>
                  </a:cubicBezTo>
                  <a:cubicBezTo>
                    <a:pt x="505884" y="653369"/>
                    <a:pt x="651269" y="507470"/>
                    <a:pt x="651269" y="326661"/>
                  </a:cubicBezTo>
                  <a:cubicBezTo>
                    <a:pt x="651269" y="254739"/>
                    <a:pt x="628726" y="186924"/>
                    <a:pt x="587794" y="131477"/>
                  </a:cubicBezTo>
                  <a:lnTo>
                    <a:pt x="587794" y="13147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58" name="Google Shape;6713;g2d30ebb658d_0_19789">
            <a:extLst>
              <a:ext uri="{FF2B5EF4-FFF2-40B4-BE49-F238E27FC236}">
                <a16:creationId xmlns:a16="http://schemas.microsoft.com/office/drawing/2014/main" id="{EFB4F74E-EEF3-19CC-7829-9F460AD64564}"/>
              </a:ext>
            </a:extLst>
          </p:cNvPr>
          <p:cNvGrpSpPr/>
          <p:nvPr/>
        </p:nvGrpSpPr>
        <p:grpSpPr>
          <a:xfrm>
            <a:off x="1589085" y="3875698"/>
            <a:ext cx="273516" cy="273515"/>
            <a:chOff x="9206590" y="5229970"/>
            <a:chExt cx="903000" cy="903000"/>
          </a:xfrm>
        </p:grpSpPr>
        <p:sp>
          <p:nvSpPr>
            <p:cNvPr id="159" name="Google Shape;6714;g2d30ebb658d_0_19789">
              <a:extLst>
                <a:ext uri="{FF2B5EF4-FFF2-40B4-BE49-F238E27FC236}">
                  <a16:creationId xmlns:a16="http://schemas.microsoft.com/office/drawing/2014/main" id="{30A9AAA8-E2EE-EB0E-55A4-8A9DF7813E06}"/>
                </a:ext>
              </a:extLst>
            </p:cNvPr>
            <p:cNvSpPr/>
            <p:nvPr/>
          </p:nvSpPr>
          <p:spPr>
            <a:xfrm>
              <a:off x="9206590" y="5229970"/>
              <a:ext cx="903000" cy="903000"/>
            </a:xfrm>
            <a:prstGeom prst="ellipse">
              <a:avLst/>
            </a:prstGeom>
            <a:solidFill>
              <a:schemeClr val="bg2">
                <a:lumMod val="750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160" name="Google Shape;6715;g2d30ebb658d_0_19789">
              <a:extLst>
                <a:ext uri="{FF2B5EF4-FFF2-40B4-BE49-F238E27FC236}">
                  <a16:creationId xmlns:a16="http://schemas.microsoft.com/office/drawing/2014/main" id="{EED7D041-AE6B-AA6F-5431-88939D8C5140}"/>
                </a:ext>
              </a:extLst>
            </p:cNvPr>
            <p:cNvSpPr/>
            <p:nvPr/>
          </p:nvSpPr>
          <p:spPr>
            <a:xfrm>
              <a:off x="9414717" y="5397932"/>
              <a:ext cx="487268" cy="567717"/>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1" name="Group 160">
            <a:extLst>
              <a:ext uri="{FF2B5EF4-FFF2-40B4-BE49-F238E27FC236}">
                <a16:creationId xmlns:a16="http://schemas.microsoft.com/office/drawing/2014/main" id="{8BF39B53-852C-113B-F60D-F23106878F29}"/>
              </a:ext>
            </a:extLst>
          </p:cNvPr>
          <p:cNvGrpSpPr/>
          <p:nvPr/>
        </p:nvGrpSpPr>
        <p:grpSpPr>
          <a:xfrm>
            <a:off x="3665375" y="3785516"/>
            <a:ext cx="265717" cy="265716"/>
            <a:chOff x="4332370" y="2485236"/>
            <a:chExt cx="664292" cy="664290"/>
          </a:xfrm>
        </p:grpSpPr>
        <p:sp>
          <p:nvSpPr>
            <p:cNvPr id="162" name="Google Shape;6760;g2d30ebb658d_0_19789">
              <a:extLst>
                <a:ext uri="{FF2B5EF4-FFF2-40B4-BE49-F238E27FC236}">
                  <a16:creationId xmlns:a16="http://schemas.microsoft.com/office/drawing/2014/main" id="{D541D6A1-DC00-43D0-96F8-205B99C90F05}"/>
                </a:ext>
              </a:extLst>
            </p:cNvPr>
            <p:cNvSpPr/>
            <p:nvPr/>
          </p:nvSpPr>
          <p:spPr>
            <a:xfrm>
              <a:off x="4332370" y="2485236"/>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solidFill>
              <a:schemeClr val="bg2">
                <a:lumMod val="75000"/>
              </a:scheme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63" name="Google Shape;6773;g2d30ebb658d_0_19789">
              <a:extLst>
                <a:ext uri="{FF2B5EF4-FFF2-40B4-BE49-F238E27FC236}">
                  <a16:creationId xmlns:a16="http://schemas.microsoft.com/office/drawing/2014/main" id="{9F2B156E-D8AE-6E80-083A-079AB895EA0A}"/>
                </a:ext>
              </a:extLst>
            </p:cNvPr>
            <p:cNvSpPr/>
            <p:nvPr/>
          </p:nvSpPr>
          <p:spPr>
            <a:xfrm>
              <a:off x="4479093" y="2627406"/>
              <a:ext cx="220023" cy="227159"/>
            </a:xfrm>
            <a:custGeom>
              <a:avLst/>
              <a:gdLst/>
              <a:ahLst/>
              <a:cxnLst/>
              <a:rect l="l" t="t" r="r" b="b"/>
              <a:pathLst>
                <a:path w="349947" h="361296" extrusionOk="0">
                  <a:moveTo>
                    <a:pt x="315611" y="167464"/>
                  </a:moveTo>
                  <a:lnTo>
                    <a:pt x="349858" y="143737"/>
                  </a:lnTo>
                  <a:lnTo>
                    <a:pt x="349366" y="141544"/>
                  </a:lnTo>
                  <a:cubicBezTo>
                    <a:pt x="348112" y="135858"/>
                    <a:pt x="346590" y="130262"/>
                    <a:pt x="344889" y="124845"/>
                  </a:cubicBezTo>
                  <a:cubicBezTo>
                    <a:pt x="343143" y="119429"/>
                    <a:pt x="341129" y="114012"/>
                    <a:pt x="338801" y="108684"/>
                  </a:cubicBezTo>
                  <a:lnTo>
                    <a:pt x="337950" y="106625"/>
                  </a:lnTo>
                  <a:lnTo>
                    <a:pt x="296451" y="107789"/>
                  </a:lnTo>
                  <a:cubicBezTo>
                    <a:pt x="292063" y="100268"/>
                    <a:pt x="286870" y="93105"/>
                    <a:pt x="281095" y="86435"/>
                  </a:cubicBezTo>
                  <a:lnTo>
                    <a:pt x="295063" y="46860"/>
                  </a:lnTo>
                  <a:lnTo>
                    <a:pt x="293406" y="45383"/>
                  </a:lnTo>
                  <a:cubicBezTo>
                    <a:pt x="284856" y="37773"/>
                    <a:pt x="275544" y="30923"/>
                    <a:pt x="265740" y="25103"/>
                  </a:cubicBezTo>
                  <a:lnTo>
                    <a:pt x="263815" y="23984"/>
                  </a:lnTo>
                  <a:lnTo>
                    <a:pt x="230911" y="49546"/>
                  </a:lnTo>
                  <a:cubicBezTo>
                    <a:pt x="222987" y="46099"/>
                    <a:pt x="214660" y="43369"/>
                    <a:pt x="206110" y="41399"/>
                  </a:cubicBezTo>
                  <a:lnTo>
                    <a:pt x="194381" y="1063"/>
                  </a:lnTo>
                  <a:lnTo>
                    <a:pt x="192142" y="839"/>
                  </a:lnTo>
                  <a:cubicBezTo>
                    <a:pt x="180816" y="-280"/>
                    <a:pt x="169311" y="-280"/>
                    <a:pt x="157940" y="839"/>
                  </a:cubicBezTo>
                  <a:lnTo>
                    <a:pt x="155746" y="1063"/>
                  </a:lnTo>
                  <a:lnTo>
                    <a:pt x="143972" y="41354"/>
                  </a:lnTo>
                  <a:cubicBezTo>
                    <a:pt x="139675" y="42339"/>
                    <a:pt x="135467" y="43503"/>
                    <a:pt x="131348" y="44846"/>
                  </a:cubicBezTo>
                  <a:cubicBezTo>
                    <a:pt x="127274" y="46189"/>
                    <a:pt x="123155" y="47756"/>
                    <a:pt x="119126" y="49502"/>
                  </a:cubicBezTo>
                  <a:lnTo>
                    <a:pt x="86178" y="23850"/>
                  </a:lnTo>
                  <a:lnTo>
                    <a:pt x="84253" y="25014"/>
                  </a:lnTo>
                  <a:cubicBezTo>
                    <a:pt x="74448" y="30834"/>
                    <a:pt x="65137" y="37638"/>
                    <a:pt x="56586" y="45294"/>
                  </a:cubicBezTo>
                  <a:lnTo>
                    <a:pt x="54930" y="46771"/>
                  </a:lnTo>
                  <a:lnTo>
                    <a:pt x="68852" y="86390"/>
                  </a:lnTo>
                  <a:cubicBezTo>
                    <a:pt x="63077" y="93061"/>
                    <a:pt x="57929" y="100223"/>
                    <a:pt x="53497" y="107744"/>
                  </a:cubicBezTo>
                  <a:lnTo>
                    <a:pt x="11998" y="106580"/>
                  </a:lnTo>
                  <a:lnTo>
                    <a:pt x="11102" y="108640"/>
                  </a:lnTo>
                  <a:cubicBezTo>
                    <a:pt x="6536" y="119205"/>
                    <a:pt x="2999" y="130262"/>
                    <a:pt x="492" y="141499"/>
                  </a:cubicBezTo>
                  <a:lnTo>
                    <a:pt x="0" y="143693"/>
                  </a:lnTo>
                  <a:lnTo>
                    <a:pt x="34292" y="167464"/>
                  </a:lnTo>
                  <a:cubicBezTo>
                    <a:pt x="33486" y="176283"/>
                    <a:pt x="33486" y="185147"/>
                    <a:pt x="34292" y="193832"/>
                  </a:cubicBezTo>
                  <a:lnTo>
                    <a:pt x="0" y="217559"/>
                  </a:lnTo>
                  <a:lnTo>
                    <a:pt x="492" y="219753"/>
                  </a:lnTo>
                  <a:cubicBezTo>
                    <a:pt x="1746" y="225393"/>
                    <a:pt x="3268" y="230989"/>
                    <a:pt x="5014" y="236451"/>
                  </a:cubicBezTo>
                  <a:cubicBezTo>
                    <a:pt x="6760" y="241868"/>
                    <a:pt x="8774" y="247285"/>
                    <a:pt x="11058" y="252612"/>
                  </a:cubicBezTo>
                  <a:lnTo>
                    <a:pt x="11953" y="254671"/>
                  </a:lnTo>
                  <a:lnTo>
                    <a:pt x="53452" y="253507"/>
                  </a:lnTo>
                  <a:cubicBezTo>
                    <a:pt x="57884" y="261028"/>
                    <a:pt x="63033" y="268236"/>
                    <a:pt x="68808" y="274861"/>
                  </a:cubicBezTo>
                  <a:lnTo>
                    <a:pt x="54840" y="314436"/>
                  </a:lnTo>
                  <a:lnTo>
                    <a:pt x="56497" y="315958"/>
                  </a:lnTo>
                  <a:cubicBezTo>
                    <a:pt x="65002" y="323569"/>
                    <a:pt x="74359" y="330373"/>
                    <a:pt x="84163" y="336238"/>
                  </a:cubicBezTo>
                  <a:lnTo>
                    <a:pt x="86088" y="337357"/>
                  </a:lnTo>
                  <a:lnTo>
                    <a:pt x="118992" y="311750"/>
                  </a:lnTo>
                  <a:cubicBezTo>
                    <a:pt x="126916" y="315197"/>
                    <a:pt x="135287" y="317928"/>
                    <a:pt x="143838" y="319898"/>
                  </a:cubicBezTo>
                  <a:lnTo>
                    <a:pt x="155612" y="360233"/>
                  </a:lnTo>
                  <a:lnTo>
                    <a:pt x="157850" y="360457"/>
                  </a:lnTo>
                  <a:cubicBezTo>
                    <a:pt x="169177" y="361576"/>
                    <a:pt x="180682" y="361576"/>
                    <a:pt x="192008" y="360457"/>
                  </a:cubicBezTo>
                  <a:lnTo>
                    <a:pt x="194202" y="360233"/>
                  </a:lnTo>
                  <a:lnTo>
                    <a:pt x="205975" y="319942"/>
                  </a:lnTo>
                  <a:cubicBezTo>
                    <a:pt x="210273" y="318958"/>
                    <a:pt x="214481" y="317794"/>
                    <a:pt x="218600" y="316451"/>
                  </a:cubicBezTo>
                  <a:cubicBezTo>
                    <a:pt x="222718" y="315108"/>
                    <a:pt x="226792" y="313541"/>
                    <a:pt x="230821" y="311795"/>
                  </a:cubicBezTo>
                  <a:lnTo>
                    <a:pt x="263770" y="337402"/>
                  </a:lnTo>
                  <a:lnTo>
                    <a:pt x="265695" y="336283"/>
                  </a:lnTo>
                  <a:cubicBezTo>
                    <a:pt x="275499" y="330463"/>
                    <a:pt x="284811" y="323613"/>
                    <a:pt x="293362" y="316003"/>
                  </a:cubicBezTo>
                  <a:lnTo>
                    <a:pt x="295018" y="314481"/>
                  </a:lnTo>
                  <a:lnTo>
                    <a:pt x="281095" y="274861"/>
                  </a:lnTo>
                  <a:cubicBezTo>
                    <a:pt x="286915" y="268191"/>
                    <a:pt x="292019" y="261028"/>
                    <a:pt x="296451" y="253507"/>
                  </a:cubicBezTo>
                  <a:lnTo>
                    <a:pt x="337950" y="254671"/>
                  </a:lnTo>
                  <a:lnTo>
                    <a:pt x="338845" y="252612"/>
                  </a:lnTo>
                  <a:cubicBezTo>
                    <a:pt x="343412" y="242047"/>
                    <a:pt x="346948" y="230989"/>
                    <a:pt x="349455" y="219753"/>
                  </a:cubicBezTo>
                  <a:lnTo>
                    <a:pt x="349948" y="217559"/>
                  </a:lnTo>
                  <a:lnTo>
                    <a:pt x="315656" y="193832"/>
                  </a:lnTo>
                  <a:cubicBezTo>
                    <a:pt x="316462" y="185013"/>
                    <a:pt x="316506" y="176149"/>
                    <a:pt x="315656" y="167419"/>
                  </a:cubicBezTo>
                  <a:close/>
                  <a:moveTo>
                    <a:pt x="174907" y="282472"/>
                  </a:moveTo>
                  <a:cubicBezTo>
                    <a:pt x="119261" y="282472"/>
                    <a:pt x="74135" y="236899"/>
                    <a:pt x="74135" y="180626"/>
                  </a:cubicBezTo>
                  <a:cubicBezTo>
                    <a:pt x="74135" y="124353"/>
                    <a:pt x="119261" y="78824"/>
                    <a:pt x="174907" y="78824"/>
                  </a:cubicBezTo>
                  <a:cubicBezTo>
                    <a:pt x="230553" y="78824"/>
                    <a:pt x="275679" y="124398"/>
                    <a:pt x="275679" y="180626"/>
                  </a:cubicBezTo>
                  <a:cubicBezTo>
                    <a:pt x="275679" y="236854"/>
                    <a:pt x="230553" y="282472"/>
                    <a:pt x="174907" y="28247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4" name="Google Shape;6774;g2d30ebb658d_0_19789">
              <a:extLst>
                <a:ext uri="{FF2B5EF4-FFF2-40B4-BE49-F238E27FC236}">
                  <a16:creationId xmlns:a16="http://schemas.microsoft.com/office/drawing/2014/main" id="{63F85CFB-D6F6-E47C-4C2F-E85BD1417D35}"/>
                </a:ext>
              </a:extLst>
            </p:cNvPr>
            <p:cNvSpPr/>
            <p:nvPr/>
          </p:nvSpPr>
          <p:spPr>
            <a:xfrm>
              <a:off x="4699246" y="2715696"/>
              <a:ext cx="176493" cy="175692"/>
            </a:xfrm>
            <a:custGeom>
              <a:avLst/>
              <a:gdLst/>
              <a:ahLst/>
              <a:cxnLst/>
              <a:rect l="l" t="t" r="r" b="b"/>
              <a:pathLst>
                <a:path w="280712" h="279438" extrusionOk="0">
                  <a:moveTo>
                    <a:pt x="239570" y="90341"/>
                  </a:moveTo>
                  <a:lnTo>
                    <a:pt x="257924" y="63301"/>
                  </a:lnTo>
                  <a:lnTo>
                    <a:pt x="256940" y="61824"/>
                  </a:lnTo>
                  <a:cubicBezTo>
                    <a:pt x="254433" y="58019"/>
                    <a:pt x="251746" y="54348"/>
                    <a:pt x="248926" y="50901"/>
                  </a:cubicBezTo>
                  <a:cubicBezTo>
                    <a:pt x="246106" y="47454"/>
                    <a:pt x="243106" y="44006"/>
                    <a:pt x="239928" y="40783"/>
                  </a:cubicBezTo>
                  <a:lnTo>
                    <a:pt x="238719" y="39530"/>
                  </a:lnTo>
                  <a:lnTo>
                    <a:pt x="208680" y="52109"/>
                  </a:lnTo>
                  <a:cubicBezTo>
                    <a:pt x="203308" y="47857"/>
                    <a:pt x="197533" y="44051"/>
                    <a:pt x="191400" y="40828"/>
                  </a:cubicBezTo>
                  <a:lnTo>
                    <a:pt x="190415" y="7924"/>
                  </a:lnTo>
                  <a:lnTo>
                    <a:pt x="188759" y="7297"/>
                  </a:lnTo>
                  <a:cubicBezTo>
                    <a:pt x="180342" y="4119"/>
                    <a:pt x="171613" y="1791"/>
                    <a:pt x="162793" y="269"/>
                  </a:cubicBezTo>
                  <a:lnTo>
                    <a:pt x="161047" y="0"/>
                  </a:lnTo>
                  <a:lnTo>
                    <a:pt x="144215" y="28024"/>
                  </a:lnTo>
                  <a:cubicBezTo>
                    <a:pt x="137455" y="27756"/>
                    <a:pt x="130561" y="28114"/>
                    <a:pt x="123756" y="29099"/>
                  </a:cubicBezTo>
                  <a:lnTo>
                    <a:pt x="103790" y="2910"/>
                  </a:lnTo>
                  <a:lnTo>
                    <a:pt x="102089" y="3358"/>
                  </a:lnTo>
                  <a:cubicBezTo>
                    <a:pt x="93493" y="5775"/>
                    <a:pt x="85077" y="8998"/>
                    <a:pt x="77064" y="13027"/>
                  </a:cubicBezTo>
                  <a:lnTo>
                    <a:pt x="75497" y="13788"/>
                  </a:lnTo>
                  <a:lnTo>
                    <a:pt x="78272" y="46603"/>
                  </a:lnTo>
                  <a:cubicBezTo>
                    <a:pt x="75407" y="48528"/>
                    <a:pt x="72632" y="50587"/>
                    <a:pt x="70035" y="52691"/>
                  </a:cubicBezTo>
                  <a:cubicBezTo>
                    <a:pt x="67439" y="54840"/>
                    <a:pt x="64842" y="57123"/>
                    <a:pt x="62425" y="59541"/>
                  </a:cubicBezTo>
                  <a:lnTo>
                    <a:pt x="31087" y="50095"/>
                  </a:lnTo>
                  <a:lnTo>
                    <a:pt x="30013" y="51483"/>
                  </a:lnTo>
                  <a:cubicBezTo>
                    <a:pt x="24462" y="58511"/>
                    <a:pt x="19582" y="66122"/>
                    <a:pt x="15508" y="74135"/>
                  </a:cubicBezTo>
                  <a:lnTo>
                    <a:pt x="14702" y="75702"/>
                  </a:lnTo>
                  <a:lnTo>
                    <a:pt x="36101" y="100727"/>
                  </a:lnTo>
                  <a:cubicBezTo>
                    <a:pt x="33729" y="107218"/>
                    <a:pt x="32027" y="113933"/>
                    <a:pt x="30908" y="120693"/>
                  </a:cubicBezTo>
                  <a:lnTo>
                    <a:pt x="198" y="131572"/>
                  </a:lnTo>
                  <a:lnTo>
                    <a:pt x="108" y="133318"/>
                  </a:lnTo>
                  <a:cubicBezTo>
                    <a:pt x="-250" y="142316"/>
                    <a:pt x="287" y="151449"/>
                    <a:pt x="1630" y="160357"/>
                  </a:cubicBezTo>
                  <a:lnTo>
                    <a:pt x="1899" y="162103"/>
                  </a:lnTo>
                  <a:lnTo>
                    <a:pt x="33684" y="169803"/>
                  </a:lnTo>
                  <a:cubicBezTo>
                    <a:pt x="35564" y="176474"/>
                    <a:pt x="38071" y="182965"/>
                    <a:pt x="41115" y="189098"/>
                  </a:cubicBezTo>
                  <a:lnTo>
                    <a:pt x="22761" y="216138"/>
                  </a:lnTo>
                  <a:lnTo>
                    <a:pt x="23745" y="217615"/>
                  </a:lnTo>
                  <a:cubicBezTo>
                    <a:pt x="26252" y="221420"/>
                    <a:pt x="28938" y="225046"/>
                    <a:pt x="31759" y="228538"/>
                  </a:cubicBezTo>
                  <a:cubicBezTo>
                    <a:pt x="34579" y="231985"/>
                    <a:pt x="37579" y="235432"/>
                    <a:pt x="40757" y="238656"/>
                  </a:cubicBezTo>
                  <a:lnTo>
                    <a:pt x="42011" y="239909"/>
                  </a:lnTo>
                  <a:lnTo>
                    <a:pt x="72050" y="227330"/>
                  </a:lnTo>
                  <a:cubicBezTo>
                    <a:pt x="77422" y="231582"/>
                    <a:pt x="83197" y="235388"/>
                    <a:pt x="89330" y="238611"/>
                  </a:cubicBezTo>
                  <a:lnTo>
                    <a:pt x="90315" y="271515"/>
                  </a:lnTo>
                  <a:lnTo>
                    <a:pt x="91971" y="272142"/>
                  </a:lnTo>
                  <a:cubicBezTo>
                    <a:pt x="100343" y="275276"/>
                    <a:pt x="109117" y="277648"/>
                    <a:pt x="117936" y="279170"/>
                  </a:cubicBezTo>
                  <a:lnTo>
                    <a:pt x="119682" y="279439"/>
                  </a:lnTo>
                  <a:lnTo>
                    <a:pt x="136515" y="251414"/>
                  </a:lnTo>
                  <a:cubicBezTo>
                    <a:pt x="143320" y="251683"/>
                    <a:pt x="150169" y="251325"/>
                    <a:pt x="156974" y="250340"/>
                  </a:cubicBezTo>
                  <a:lnTo>
                    <a:pt x="176985" y="276529"/>
                  </a:lnTo>
                  <a:lnTo>
                    <a:pt x="178686" y="276037"/>
                  </a:lnTo>
                  <a:cubicBezTo>
                    <a:pt x="187281" y="273619"/>
                    <a:pt x="195698" y="270396"/>
                    <a:pt x="203666" y="266367"/>
                  </a:cubicBezTo>
                  <a:lnTo>
                    <a:pt x="205233" y="265606"/>
                  </a:lnTo>
                  <a:lnTo>
                    <a:pt x="202457" y="232791"/>
                  </a:lnTo>
                  <a:cubicBezTo>
                    <a:pt x="205323" y="230866"/>
                    <a:pt x="208098" y="228807"/>
                    <a:pt x="210695" y="226703"/>
                  </a:cubicBezTo>
                  <a:cubicBezTo>
                    <a:pt x="213291" y="224554"/>
                    <a:pt x="215888" y="222271"/>
                    <a:pt x="218350" y="219853"/>
                  </a:cubicBezTo>
                  <a:lnTo>
                    <a:pt x="249687" y="229299"/>
                  </a:lnTo>
                  <a:lnTo>
                    <a:pt x="250762" y="227912"/>
                  </a:lnTo>
                  <a:cubicBezTo>
                    <a:pt x="256313" y="220883"/>
                    <a:pt x="261192" y="213228"/>
                    <a:pt x="265266" y="205259"/>
                  </a:cubicBezTo>
                  <a:lnTo>
                    <a:pt x="266072" y="203692"/>
                  </a:lnTo>
                  <a:lnTo>
                    <a:pt x="244673" y="178667"/>
                  </a:lnTo>
                  <a:cubicBezTo>
                    <a:pt x="247046" y="172131"/>
                    <a:pt x="248747" y="165461"/>
                    <a:pt x="249866" y="158701"/>
                  </a:cubicBezTo>
                  <a:lnTo>
                    <a:pt x="280577" y="147822"/>
                  </a:lnTo>
                  <a:lnTo>
                    <a:pt x="280577" y="146076"/>
                  </a:lnTo>
                  <a:cubicBezTo>
                    <a:pt x="280980" y="137078"/>
                    <a:pt x="280487" y="127990"/>
                    <a:pt x="279099" y="119037"/>
                  </a:cubicBezTo>
                  <a:lnTo>
                    <a:pt x="278831" y="117291"/>
                  </a:lnTo>
                  <a:lnTo>
                    <a:pt x="247046" y="109636"/>
                  </a:lnTo>
                  <a:cubicBezTo>
                    <a:pt x="245166" y="102921"/>
                    <a:pt x="242659" y="96429"/>
                    <a:pt x="239615" y="90296"/>
                  </a:cubicBezTo>
                  <a:close/>
                  <a:moveTo>
                    <a:pt x="169106" y="214213"/>
                  </a:moveTo>
                  <a:cubicBezTo>
                    <a:pt x="128412" y="229926"/>
                    <a:pt x="82525" y="209333"/>
                    <a:pt x="66633" y="168192"/>
                  </a:cubicBezTo>
                  <a:cubicBezTo>
                    <a:pt x="50740" y="127050"/>
                    <a:pt x="70886" y="80984"/>
                    <a:pt x="111579" y="65226"/>
                  </a:cubicBezTo>
                  <a:cubicBezTo>
                    <a:pt x="152273" y="49513"/>
                    <a:pt x="198160" y="70106"/>
                    <a:pt x="214052" y="111247"/>
                  </a:cubicBezTo>
                  <a:cubicBezTo>
                    <a:pt x="229945" y="152389"/>
                    <a:pt x="209799" y="198499"/>
                    <a:pt x="169106" y="21421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5" name="Google Shape;6775;g2d30ebb658d_0_19789">
              <a:extLst>
                <a:ext uri="{FF2B5EF4-FFF2-40B4-BE49-F238E27FC236}">
                  <a16:creationId xmlns:a16="http://schemas.microsoft.com/office/drawing/2014/main" id="{5AA75C7B-5D5D-310B-830C-571A45F70634}"/>
                </a:ext>
              </a:extLst>
            </p:cNvPr>
            <p:cNvSpPr/>
            <p:nvPr/>
          </p:nvSpPr>
          <p:spPr>
            <a:xfrm>
              <a:off x="4601540" y="2855726"/>
              <a:ext cx="146600" cy="145857"/>
            </a:xfrm>
            <a:custGeom>
              <a:avLst/>
              <a:gdLst/>
              <a:ahLst/>
              <a:cxnLst/>
              <a:rect l="l" t="t" r="r" b="b"/>
              <a:pathLst>
                <a:path w="233167" h="231985" extrusionOk="0">
                  <a:moveTo>
                    <a:pt x="199023" y="74986"/>
                  </a:moveTo>
                  <a:lnTo>
                    <a:pt x="214289" y="52557"/>
                  </a:lnTo>
                  <a:lnTo>
                    <a:pt x="213483" y="51348"/>
                  </a:lnTo>
                  <a:cubicBezTo>
                    <a:pt x="211379" y="48215"/>
                    <a:pt x="209141" y="45126"/>
                    <a:pt x="206813" y="42261"/>
                  </a:cubicBezTo>
                  <a:cubicBezTo>
                    <a:pt x="204485" y="39395"/>
                    <a:pt x="201978" y="36530"/>
                    <a:pt x="199336" y="33844"/>
                  </a:cubicBezTo>
                  <a:lnTo>
                    <a:pt x="198307" y="32770"/>
                  </a:lnTo>
                  <a:lnTo>
                    <a:pt x="173371" y="43201"/>
                  </a:lnTo>
                  <a:cubicBezTo>
                    <a:pt x="168939" y="39664"/>
                    <a:pt x="164104" y="36530"/>
                    <a:pt x="159001" y="33844"/>
                  </a:cubicBezTo>
                  <a:lnTo>
                    <a:pt x="158195" y="6536"/>
                  </a:lnTo>
                  <a:lnTo>
                    <a:pt x="156807" y="6044"/>
                  </a:lnTo>
                  <a:cubicBezTo>
                    <a:pt x="149824" y="3402"/>
                    <a:pt x="142571" y="1433"/>
                    <a:pt x="135229" y="224"/>
                  </a:cubicBezTo>
                  <a:lnTo>
                    <a:pt x="133797" y="0"/>
                  </a:lnTo>
                  <a:lnTo>
                    <a:pt x="119785" y="23279"/>
                  </a:lnTo>
                  <a:cubicBezTo>
                    <a:pt x="114144" y="23055"/>
                    <a:pt x="108458" y="23324"/>
                    <a:pt x="102773" y="24174"/>
                  </a:cubicBezTo>
                  <a:lnTo>
                    <a:pt x="86164" y="2417"/>
                  </a:lnTo>
                  <a:lnTo>
                    <a:pt x="84776" y="2776"/>
                  </a:lnTo>
                  <a:cubicBezTo>
                    <a:pt x="77613" y="4745"/>
                    <a:pt x="70630" y="7476"/>
                    <a:pt x="64004" y="10834"/>
                  </a:cubicBezTo>
                  <a:lnTo>
                    <a:pt x="62706" y="11460"/>
                  </a:lnTo>
                  <a:lnTo>
                    <a:pt x="65034" y="38724"/>
                  </a:lnTo>
                  <a:cubicBezTo>
                    <a:pt x="62661" y="40336"/>
                    <a:pt x="60333" y="42037"/>
                    <a:pt x="58184" y="43783"/>
                  </a:cubicBezTo>
                  <a:cubicBezTo>
                    <a:pt x="56036" y="45573"/>
                    <a:pt x="53887" y="47454"/>
                    <a:pt x="51827" y="49468"/>
                  </a:cubicBezTo>
                  <a:lnTo>
                    <a:pt x="25817" y="41634"/>
                  </a:lnTo>
                  <a:lnTo>
                    <a:pt x="24922" y="42798"/>
                  </a:lnTo>
                  <a:cubicBezTo>
                    <a:pt x="20311" y="48618"/>
                    <a:pt x="16282" y="54975"/>
                    <a:pt x="12880" y="61600"/>
                  </a:cubicBezTo>
                  <a:lnTo>
                    <a:pt x="12208" y="62898"/>
                  </a:lnTo>
                  <a:lnTo>
                    <a:pt x="29981" y="83671"/>
                  </a:lnTo>
                  <a:cubicBezTo>
                    <a:pt x="28011" y="89087"/>
                    <a:pt x="26579" y="94639"/>
                    <a:pt x="25638" y="100235"/>
                  </a:cubicBezTo>
                  <a:lnTo>
                    <a:pt x="121" y="109278"/>
                  </a:lnTo>
                  <a:lnTo>
                    <a:pt x="121" y="110710"/>
                  </a:lnTo>
                  <a:cubicBezTo>
                    <a:pt x="-237" y="118186"/>
                    <a:pt x="210" y="125752"/>
                    <a:pt x="1330" y="133139"/>
                  </a:cubicBezTo>
                  <a:lnTo>
                    <a:pt x="1553" y="134571"/>
                  </a:lnTo>
                  <a:lnTo>
                    <a:pt x="27966" y="140973"/>
                  </a:lnTo>
                  <a:cubicBezTo>
                    <a:pt x="29533" y="146524"/>
                    <a:pt x="31637" y="151896"/>
                    <a:pt x="34144" y="157000"/>
                  </a:cubicBezTo>
                  <a:lnTo>
                    <a:pt x="18878" y="179428"/>
                  </a:lnTo>
                  <a:lnTo>
                    <a:pt x="19684" y="180637"/>
                  </a:lnTo>
                  <a:cubicBezTo>
                    <a:pt x="21744" y="183771"/>
                    <a:pt x="23982" y="186815"/>
                    <a:pt x="26355" y="189725"/>
                  </a:cubicBezTo>
                  <a:cubicBezTo>
                    <a:pt x="28683" y="192590"/>
                    <a:pt x="31190" y="195455"/>
                    <a:pt x="33831" y="198141"/>
                  </a:cubicBezTo>
                  <a:lnTo>
                    <a:pt x="34860" y="199216"/>
                  </a:lnTo>
                  <a:lnTo>
                    <a:pt x="59796" y="188740"/>
                  </a:lnTo>
                  <a:cubicBezTo>
                    <a:pt x="64228" y="192277"/>
                    <a:pt x="69063" y="195455"/>
                    <a:pt x="74166" y="198096"/>
                  </a:cubicBezTo>
                  <a:lnTo>
                    <a:pt x="74972" y="225405"/>
                  </a:lnTo>
                  <a:lnTo>
                    <a:pt x="76360" y="225942"/>
                  </a:lnTo>
                  <a:cubicBezTo>
                    <a:pt x="83344" y="228583"/>
                    <a:pt x="90596" y="230508"/>
                    <a:pt x="97938" y="231762"/>
                  </a:cubicBezTo>
                  <a:lnTo>
                    <a:pt x="99371" y="231985"/>
                  </a:lnTo>
                  <a:lnTo>
                    <a:pt x="113383" y="208706"/>
                  </a:lnTo>
                  <a:cubicBezTo>
                    <a:pt x="119023" y="208930"/>
                    <a:pt x="124709" y="208661"/>
                    <a:pt x="130394" y="207811"/>
                  </a:cubicBezTo>
                  <a:lnTo>
                    <a:pt x="147003" y="229568"/>
                  </a:lnTo>
                  <a:lnTo>
                    <a:pt x="148391" y="229165"/>
                  </a:lnTo>
                  <a:cubicBezTo>
                    <a:pt x="155554" y="227195"/>
                    <a:pt x="162538" y="224464"/>
                    <a:pt x="169163" y="221152"/>
                  </a:cubicBezTo>
                  <a:lnTo>
                    <a:pt x="170461" y="220525"/>
                  </a:lnTo>
                  <a:lnTo>
                    <a:pt x="168133" y="193261"/>
                  </a:lnTo>
                  <a:cubicBezTo>
                    <a:pt x="170506" y="191650"/>
                    <a:pt x="172789" y="189949"/>
                    <a:pt x="174983" y="188203"/>
                  </a:cubicBezTo>
                  <a:cubicBezTo>
                    <a:pt x="177177" y="186412"/>
                    <a:pt x="179281" y="184487"/>
                    <a:pt x="181340" y="182517"/>
                  </a:cubicBezTo>
                  <a:lnTo>
                    <a:pt x="207350" y="190352"/>
                  </a:lnTo>
                  <a:lnTo>
                    <a:pt x="208245" y="189232"/>
                  </a:lnTo>
                  <a:cubicBezTo>
                    <a:pt x="212856" y="183368"/>
                    <a:pt x="216885" y="177056"/>
                    <a:pt x="220288" y="170430"/>
                  </a:cubicBezTo>
                  <a:lnTo>
                    <a:pt x="220959" y="169132"/>
                  </a:lnTo>
                  <a:lnTo>
                    <a:pt x="203186" y="148360"/>
                  </a:lnTo>
                  <a:cubicBezTo>
                    <a:pt x="205156" y="142943"/>
                    <a:pt x="206589" y="137392"/>
                    <a:pt x="207529" y="131796"/>
                  </a:cubicBezTo>
                  <a:lnTo>
                    <a:pt x="233046" y="122753"/>
                  </a:lnTo>
                  <a:lnTo>
                    <a:pt x="233046" y="121275"/>
                  </a:lnTo>
                  <a:cubicBezTo>
                    <a:pt x="233405" y="113799"/>
                    <a:pt x="232957" y="106233"/>
                    <a:pt x="231838" y="98847"/>
                  </a:cubicBezTo>
                  <a:lnTo>
                    <a:pt x="231614" y="97369"/>
                  </a:lnTo>
                  <a:lnTo>
                    <a:pt x="205201" y="91012"/>
                  </a:lnTo>
                  <a:cubicBezTo>
                    <a:pt x="203634" y="85461"/>
                    <a:pt x="201530" y="80044"/>
                    <a:pt x="199023" y="74941"/>
                  </a:cubicBezTo>
                  <a:close/>
                  <a:moveTo>
                    <a:pt x="140512" y="177906"/>
                  </a:moveTo>
                  <a:cubicBezTo>
                    <a:pt x="106712" y="190978"/>
                    <a:pt x="68615" y="173832"/>
                    <a:pt x="55409" y="139675"/>
                  </a:cubicBezTo>
                  <a:cubicBezTo>
                    <a:pt x="42202" y="105517"/>
                    <a:pt x="58945" y="67241"/>
                    <a:pt x="92745" y="54169"/>
                  </a:cubicBezTo>
                  <a:cubicBezTo>
                    <a:pt x="126544" y="41097"/>
                    <a:pt x="164686" y="58198"/>
                    <a:pt x="177848" y="92400"/>
                  </a:cubicBezTo>
                  <a:cubicBezTo>
                    <a:pt x="191054" y="126558"/>
                    <a:pt x="174356" y="164834"/>
                    <a:pt x="140512" y="1779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66" name="Group 165">
            <a:extLst>
              <a:ext uri="{FF2B5EF4-FFF2-40B4-BE49-F238E27FC236}">
                <a16:creationId xmlns:a16="http://schemas.microsoft.com/office/drawing/2014/main" id="{319ACF49-74A5-E4AA-CC19-0DF9991D8970}"/>
              </a:ext>
            </a:extLst>
          </p:cNvPr>
          <p:cNvGrpSpPr/>
          <p:nvPr/>
        </p:nvGrpSpPr>
        <p:grpSpPr>
          <a:xfrm>
            <a:off x="2382658" y="3914000"/>
            <a:ext cx="265717" cy="265716"/>
            <a:chOff x="4662354" y="2396539"/>
            <a:chExt cx="664292" cy="664290"/>
          </a:xfrm>
        </p:grpSpPr>
        <p:sp>
          <p:nvSpPr>
            <p:cNvPr id="167" name="Google Shape;6760;g2d30ebb658d_0_19789">
              <a:extLst>
                <a:ext uri="{FF2B5EF4-FFF2-40B4-BE49-F238E27FC236}">
                  <a16:creationId xmlns:a16="http://schemas.microsoft.com/office/drawing/2014/main" id="{76F303F6-B093-6A99-8085-9ACF43CDE653}"/>
                </a:ext>
              </a:extLst>
            </p:cNvPr>
            <p:cNvSpPr/>
            <p:nvPr/>
          </p:nvSpPr>
          <p:spPr>
            <a:xfrm>
              <a:off x="4662354" y="2396539"/>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solidFill>
              <a:schemeClr val="bg2">
                <a:lumMod val="75000"/>
              </a:scheme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168" name="Graphic 167">
              <a:extLst>
                <a:ext uri="{FF2B5EF4-FFF2-40B4-BE49-F238E27FC236}">
                  <a16:creationId xmlns:a16="http://schemas.microsoft.com/office/drawing/2014/main" id="{B0D4CF27-C87E-1417-3EB6-78A08CE00345}"/>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745580" y="2478551"/>
              <a:ext cx="497840" cy="497840"/>
            </a:xfrm>
            <a:prstGeom prst="rect">
              <a:avLst/>
            </a:prstGeom>
          </p:spPr>
        </p:pic>
      </p:grpSp>
      <p:grpSp>
        <p:nvGrpSpPr>
          <p:cNvPr id="169" name="Group 168">
            <a:extLst>
              <a:ext uri="{FF2B5EF4-FFF2-40B4-BE49-F238E27FC236}">
                <a16:creationId xmlns:a16="http://schemas.microsoft.com/office/drawing/2014/main" id="{C7A12A75-441C-5716-C007-E6D707EA9A20}"/>
              </a:ext>
            </a:extLst>
          </p:cNvPr>
          <p:cNvGrpSpPr/>
          <p:nvPr/>
        </p:nvGrpSpPr>
        <p:grpSpPr>
          <a:xfrm>
            <a:off x="2377484" y="3574940"/>
            <a:ext cx="265717" cy="265716"/>
            <a:chOff x="1358600" y="2398310"/>
            <a:chExt cx="664292" cy="664290"/>
          </a:xfrm>
        </p:grpSpPr>
        <p:sp>
          <p:nvSpPr>
            <p:cNvPr id="170" name="Google Shape;6760;g2d30ebb658d_0_19789">
              <a:extLst>
                <a:ext uri="{FF2B5EF4-FFF2-40B4-BE49-F238E27FC236}">
                  <a16:creationId xmlns:a16="http://schemas.microsoft.com/office/drawing/2014/main" id="{9200B797-7485-C3D1-E765-D4E2CF0993CE}"/>
                </a:ext>
              </a:extLst>
            </p:cNvPr>
            <p:cNvSpPr/>
            <p:nvPr/>
          </p:nvSpPr>
          <p:spPr>
            <a:xfrm>
              <a:off x="1358600" y="2398310"/>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solidFill>
              <a:schemeClr val="bg2">
                <a:lumMod val="75000"/>
              </a:scheme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1" name="Google Shape;6767;g2d30ebb658d_0_19789">
              <a:extLst>
                <a:ext uri="{FF2B5EF4-FFF2-40B4-BE49-F238E27FC236}">
                  <a16:creationId xmlns:a16="http://schemas.microsoft.com/office/drawing/2014/main" id="{EFBC560A-C95B-ED1C-70F0-F82CD3A38129}"/>
                </a:ext>
              </a:extLst>
            </p:cNvPr>
            <p:cNvSpPr/>
            <p:nvPr/>
          </p:nvSpPr>
          <p:spPr>
            <a:xfrm>
              <a:off x="1503581" y="2537002"/>
              <a:ext cx="379742" cy="380966"/>
            </a:xfrm>
            <a:custGeom>
              <a:avLst/>
              <a:gdLst/>
              <a:ahLst/>
              <a:cxnLst/>
              <a:rect l="l" t="t" r="r" b="b"/>
              <a:pathLst>
                <a:path w="651268" h="653368" extrusionOk="0">
                  <a:moveTo>
                    <a:pt x="587701" y="131477"/>
                  </a:moveTo>
                  <a:cubicBezTo>
                    <a:pt x="546722" y="75983"/>
                    <a:pt x="487355" y="34911"/>
                    <a:pt x="421826" y="14375"/>
                  </a:cubicBezTo>
                  <a:cubicBezTo>
                    <a:pt x="391116" y="4107"/>
                    <a:pt x="358352" y="0"/>
                    <a:pt x="325588" y="0"/>
                  </a:cubicBezTo>
                  <a:cubicBezTo>
                    <a:pt x="292824" y="0"/>
                    <a:pt x="260059" y="4107"/>
                    <a:pt x="229349" y="14375"/>
                  </a:cubicBezTo>
                  <a:lnTo>
                    <a:pt x="249838" y="80137"/>
                  </a:lnTo>
                  <a:cubicBezTo>
                    <a:pt x="274435" y="71922"/>
                    <a:pt x="298984" y="67815"/>
                    <a:pt x="325634" y="67815"/>
                  </a:cubicBezTo>
                  <a:cubicBezTo>
                    <a:pt x="352284" y="67815"/>
                    <a:pt x="376834" y="71922"/>
                    <a:pt x="401430" y="80137"/>
                  </a:cubicBezTo>
                  <a:cubicBezTo>
                    <a:pt x="452630" y="94512"/>
                    <a:pt x="499723" y="127416"/>
                    <a:pt x="532487" y="172595"/>
                  </a:cubicBezTo>
                  <a:cubicBezTo>
                    <a:pt x="565251" y="215767"/>
                    <a:pt x="583687" y="271214"/>
                    <a:pt x="583687" y="326708"/>
                  </a:cubicBezTo>
                  <a:cubicBezTo>
                    <a:pt x="583687" y="468499"/>
                    <a:pt x="466959" y="585600"/>
                    <a:pt x="325634" y="585600"/>
                  </a:cubicBezTo>
                  <a:cubicBezTo>
                    <a:pt x="184310" y="585600"/>
                    <a:pt x="67582" y="468499"/>
                    <a:pt x="67582" y="326708"/>
                  </a:cubicBezTo>
                  <a:cubicBezTo>
                    <a:pt x="67582" y="273268"/>
                    <a:pt x="83964" y="219874"/>
                    <a:pt x="116728" y="176702"/>
                  </a:cubicBezTo>
                  <a:lnTo>
                    <a:pt x="159713" y="195185"/>
                  </a:lnTo>
                  <a:lnTo>
                    <a:pt x="139224" y="32857"/>
                  </a:lnTo>
                  <a:lnTo>
                    <a:pt x="12275" y="131477"/>
                  </a:lnTo>
                  <a:lnTo>
                    <a:pt x="51200" y="147905"/>
                  </a:lnTo>
                  <a:cubicBezTo>
                    <a:pt x="18436" y="201345"/>
                    <a:pt x="0" y="262953"/>
                    <a:pt x="0" y="326661"/>
                  </a:cubicBezTo>
                  <a:cubicBezTo>
                    <a:pt x="0" y="507470"/>
                    <a:pt x="145385" y="653369"/>
                    <a:pt x="325634" y="653369"/>
                  </a:cubicBezTo>
                  <a:cubicBezTo>
                    <a:pt x="505884" y="653369"/>
                    <a:pt x="651269" y="507470"/>
                    <a:pt x="651269" y="326661"/>
                  </a:cubicBezTo>
                  <a:cubicBezTo>
                    <a:pt x="651269" y="254739"/>
                    <a:pt x="628726" y="186924"/>
                    <a:pt x="587794" y="131477"/>
                  </a:cubicBezTo>
                  <a:lnTo>
                    <a:pt x="587794" y="13147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72" name="Google Shape;6707;g2d30ebb658d_0_19789">
            <a:extLst>
              <a:ext uri="{FF2B5EF4-FFF2-40B4-BE49-F238E27FC236}">
                <a16:creationId xmlns:a16="http://schemas.microsoft.com/office/drawing/2014/main" id="{200BD41B-4F63-4B93-D300-B548AE4707F7}"/>
              </a:ext>
            </a:extLst>
          </p:cNvPr>
          <p:cNvGrpSpPr/>
          <p:nvPr/>
        </p:nvGrpSpPr>
        <p:grpSpPr>
          <a:xfrm>
            <a:off x="3180076" y="2921810"/>
            <a:ext cx="273516" cy="273515"/>
            <a:chOff x="10656543" y="2484407"/>
            <a:chExt cx="903000" cy="903000"/>
          </a:xfrm>
        </p:grpSpPr>
        <p:sp>
          <p:nvSpPr>
            <p:cNvPr id="173" name="Google Shape;6708;g2d30ebb658d_0_19789">
              <a:extLst>
                <a:ext uri="{FF2B5EF4-FFF2-40B4-BE49-F238E27FC236}">
                  <a16:creationId xmlns:a16="http://schemas.microsoft.com/office/drawing/2014/main" id="{BE32296C-8B40-ABE9-3CEE-5FDA15751E03}"/>
                </a:ext>
              </a:extLst>
            </p:cNvPr>
            <p:cNvSpPr/>
            <p:nvPr/>
          </p:nvSpPr>
          <p:spPr>
            <a:xfrm>
              <a:off x="10656543" y="2484407"/>
              <a:ext cx="903000" cy="903000"/>
            </a:xfrm>
            <a:prstGeom prst="ellipse">
              <a:avLst/>
            </a:prstGeom>
            <a:solidFill>
              <a:schemeClr val="bg2">
                <a:lumMod val="750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174" name="Google Shape;6709;g2d30ebb658d_0_19789">
              <a:extLst>
                <a:ext uri="{FF2B5EF4-FFF2-40B4-BE49-F238E27FC236}">
                  <a16:creationId xmlns:a16="http://schemas.microsoft.com/office/drawing/2014/main" id="{362A2E37-7E0E-0BB5-32A7-109E5FFF2771}"/>
                </a:ext>
              </a:extLst>
            </p:cNvPr>
            <p:cNvSpPr/>
            <p:nvPr/>
          </p:nvSpPr>
          <p:spPr>
            <a:xfrm>
              <a:off x="10810509" y="2635103"/>
              <a:ext cx="595789" cy="595789"/>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5" name="Google Shape;6713;g2d30ebb658d_0_19789">
            <a:extLst>
              <a:ext uri="{FF2B5EF4-FFF2-40B4-BE49-F238E27FC236}">
                <a16:creationId xmlns:a16="http://schemas.microsoft.com/office/drawing/2014/main" id="{761C956A-5B51-AF63-F9C0-66E96E25306B}"/>
              </a:ext>
            </a:extLst>
          </p:cNvPr>
          <p:cNvGrpSpPr/>
          <p:nvPr/>
        </p:nvGrpSpPr>
        <p:grpSpPr>
          <a:xfrm>
            <a:off x="3486683" y="3074214"/>
            <a:ext cx="273516" cy="273515"/>
            <a:chOff x="9206590" y="5229970"/>
            <a:chExt cx="903000" cy="903000"/>
          </a:xfrm>
        </p:grpSpPr>
        <p:sp>
          <p:nvSpPr>
            <p:cNvPr id="176" name="Google Shape;6714;g2d30ebb658d_0_19789">
              <a:extLst>
                <a:ext uri="{FF2B5EF4-FFF2-40B4-BE49-F238E27FC236}">
                  <a16:creationId xmlns:a16="http://schemas.microsoft.com/office/drawing/2014/main" id="{8236C90E-DC50-BED2-A744-D7708B40BBEB}"/>
                </a:ext>
              </a:extLst>
            </p:cNvPr>
            <p:cNvSpPr/>
            <p:nvPr/>
          </p:nvSpPr>
          <p:spPr>
            <a:xfrm>
              <a:off x="9206590" y="5229970"/>
              <a:ext cx="903000" cy="903000"/>
            </a:xfrm>
            <a:prstGeom prst="ellipse">
              <a:avLst/>
            </a:prstGeom>
            <a:solidFill>
              <a:schemeClr val="bg2">
                <a:lumMod val="750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177" name="Google Shape;6715;g2d30ebb658d_0_19789">
              <a:extLst>
                <a:ext uri="{FF2B5EF4-FFF2-40B4-BE49-F238E27FC236}">
                  <a16:creationId xmlns:a16="http://schemas.microsoft.com/office/drawing/2014/main" id="{2A79F5BB-5CC5-0C61-7039-9F1E0A248624}"/>
                </a:ext>
              </a:extLst>
            </p:cNvPr>
            <p:cNvSpPr/>
            <p:nvPr/>
          </p:nvSpPr>
          <p:spPr>
            <a:xfrm>
              <a:off x="9414717" y="5397932"/>
              <a:ext cx="487268" cy="567717"/>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8" name="Google Shape;6713;g2d30ebb658d_0_19789">
            <a:extLst>
              <a:ext uri="{FF2B5EF4-FFF2-40B4-BE49-F238E27FC236}">
                <a16:creationId xmlns:a16="http://schemas.microsoft.com/office/drawing/2014/main" id="{8E253585-CD8C-E1F3-D32A-04F44094B1C8}"/>
              </a:ext>
            </a:extLst>
          </p:cNvPr>
          <p:cNvGrpSpPr/>
          <p:nvPr/>
        </p:nvGrpSpPr>
        <p:grpSpPr>
          <a:xfrm>
            <a:off x="2056300" y="3924829"/>
            <a:ext cx="273516" cy="273515"/>
            <a:chOff x="9206590" y="5229970"/>
            <a:chExt cx="903000" cy="903000"/>
          </a:xfrm>
        </p:grpSpPr>
        <p:sp>
          <p:nvSpPr>
            <p:cNvPr id="179" name="Google Shape;6714;g2d30ebb658d_0_19789">
              <a:extLst>
                <a:ext uri="{FF2B5EF4-FFF2-40B4-BE49-F238E27FC236}">
                  <a16:creationId xmlns:a16="http://schemas.microsoft.com/office/drawing/2014/main" id="{E782227D-C840-AD51-C428-14D1E92CBDD7}"/>
                </a:ext>
              </a:extLst>
            </p:cNvPr>
            <p:cNvSpPr/>
            <p:nvPr/>
          </p:nvSpPr>
          <p:spPr>
            <a:xfrm>
              <a:off x="9206590" y="5229970"/>
              <a:ext cx="903000" cy="903000"/>
            </a:xfrm>
            <a:prstGeom prst="ellipse">
              <a:avLst/>
            </a:prstGeom>
            <a:solidFill>
              <a:schemeClr val="dk2">
                <a:alpha val="498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180" name="Google Shape;6715;g2d30ebb658d_0_19789">
              <a:extLst>
                <a:ext uri="{FF2B5EF4-FFF2-40B4-BE49-F238E27FC236}">
                  <a16:creationId xmlns:a16="http://schemas.microsoft.com/office/drawing/2014/main" id="{206100F2-D26A-2B3C-33C0-AAEDADE8D798}"/>
                </a:ext>
              </a:extLst>
            </p:cNvPr>
            <p:cNvSpPr/>
            <p:nvPr/>
          </p:nvSpPr>
          <p:spPr>
            <a:xfrm>
              <a:off x="9414717" y="5397932"/>
              <a:ext cx="487268" cy="567717"/>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81" name="Oval 180">
            <a:extLst>
              <a:ext uri="{FF2B5EF4-FFF2-40B4-BE49-F238E27FC236}">
                <a16:creationId xmlns:a16="http://schemas.microsoft.com/office/drawing/2014/main" id="{100C6E95-46C6-AEA6-63CB-168D7D0B9731}"/>
              </a:ext>
            </a:extLst>
          </p:cNvPr>
          <p:cNvSpPr>
            <a:spLocks noChangeAspect="1"/>
          </p:cNvSpPr>
          <p:nvPr/>
        </p:nvSpPr>
        <p:spPr bwMode="gray">
          <a:xfrm>
            <a:off x="2351340" y="2625440"/>
            <a:ext cx="224526" cy="224526"/>
          </a:xfrm>
          <a:prstGeom prst="ellipse">
            <a:avLst/>
          </a:prstGeom>
          <a:noFill/>
          <a:ln w="12700">
            <a:solidFill>
              <a:schemeClr val="bg2">
                <a:lumMod val="50000"/>
              </a:schemeClr>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82" name="Oval 181">
            <a:extLst>
              <a:ext uri="{FF2B5EF4-FFF2-40B4-BE49-F238E27FC236}">
                <a16:creationId xmlns:a16="http://schemas.microsoft.com/office/drawing/2014/main" id="{88B86E69-B438-FD36-5F7E-8BA023D11659}"/>
              </a:ext>
            </a:extLst>
          </p:cNvPr>
          <p:cNvSpPr>
            <a:spLocks noChangeAspect="1"/>
          </p:cNvSpPr>
          <p:nvPr/>
        </p:nvSpPr>
        <p:spPr bwMode="gray">
          <a:xfrm>
            <a:off x="2545538" y="3084335"/>
            <a:ext cx="224526" cy="224526"/>
          </a:xfrm>
          <a:prstGeom prst="ellipse">
            <a:avLst/>
          </a:prstGeom>
          <a:noFill/>
          <a:ln w="12700">
            <a:solidFill>
              <a:schemeClr val="bg2">
                <a:lumMod val="50000"/>
              </a:schemeClr>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83" name="Oval 182">
            <a:extLst>
              <a:ext uri="{FF2B5EF4-FFF2-40B4-BE49-F238E27FC236}">
                <a16:creationId xmlns:a16="http://schemas.microsoft.com/office/drawing/2014/main" id="{31C21A00-41AF-7146-A7B2-3BF43863F992}"/>
              </a:ext>
            </a:extLst>
          </p:cNvPr>
          <p:cNvSpPr>
            <a:spLocks noChangeAspect="1"/>
          </p:cNvSpPr>
          <p:nvPr/>
        </p:nvSpPr>
        <p:spPr bwMode="gray">
          <a:xfrm>
            <a:off x="2256196" y="4219318"/>
            <a:ext cx="224526" cy="224526"/>
          </a:xfrm>
          <a:prstGeom prst="ellipse">
            <a:avLst/>
          </a:prstGeom>
          <a:noFill/>
          <a:ln w="12700">
            <a:solidFill>
              <a:schemeClr val="bg2">
                <a:lumMod val="50000"/>
              </a:schemeClr>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grpSp>
        <p:nvGrpSpPr>
          <p:cNvPr id="184" name="Group 183">
            <a:extLst>
              <a:ext uri="{FF2B5EF4-FFF2-40B4-BE49-F238E27FC236}">
                <a16:creationId xmlns:a16="http://schemas.microsoft.com/office/drawing/2014/main" id="{F2B603FD-C94A-55DC-EF6F-23E63C135490}"/>
              </a:ext>
            </a:extLst>
          </p:cNvPr>
          <p:cNvGrpSpPr/>
          <p:nvPr/>
        </p:nvGrpSpPr>
        <p:grpSpPr>
          <a:xfrm>
            <a:off x="3064081" y="4650554"/>
            <a:ext cx="265717" cy="265716"/>
            <a:chOff x="1358600" y="2398310"/>
            <a:chExt cx="664292" cy="664290"/>
          </a:xfrm>
        </p:grpSpPr>
        <p:sp>
          <p:nvSpPr>
            <p:cNvPr id="185" name="Google Shape;6760;g2d30ebb658d_0_19789">
              <a:extLst>
                <a:ext uri="{FF2B5EF4-FFF2-40B4-BE49-F238E27FC236}">
                  <a16:creationId xmlns:a16="http://schemas.microsoft.com/office/drawing/2014/main" id="{E09ED364-FCE3-7DBF-CADC-0CB6868A346C}"/>
                </a:ext>
              </a:extLst>
            </p:cNvPr>
            <p:cNvSpPr/>
            <p:nvPr/>
          </p:nvSpPr>
          <p:spPr>
            <a:xfrm>
              <a:off x="1358600" y="2398310"/>
              <a:ext cx="664292" cy="66429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solidFill>
              <a:schemeClr val="bg2">
                <a:lumMod val="75000"/>
              </a:scheme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86" name="Google Shape;6767;g2d30ebb658d_0_19789">
              <a:extLst>
                <a:ext uri="{FF2B5EF4-FFF2-40B4-BE49-F238E27FC236}">
                  <a16:creationId xmlns:a16="http://schemas.microsoft.com/office/drawing/2014/main" id="{2FF8F5E1-1CDE-D246-D431-E866E779DDB6}"/>
                </a:ext>
              </a:extLst>
            </p:cNvPr>
            <p:cNvSpPr/>
            <p:nvPr/>
          </p:nvSpPr>
          <p:spPr>
            <a:xfrm>
              <a:off x="1503581" y="2537002"/>
              <a:ext cx="379742" cy="380966"/>
            </a:xfrm>
            <a:custGeom>
              <a:avLst/>
              <a:gdLst/>
              <a:ahLst/>
              <a:cxnLst/>
              <a:rect l="l" t="t" r="r" b="b"/>
              <a:pathLst>
                <a:path w="651268" h="653368" extrusionOk="0">
                  <a:moveTo>
                    <a:pt x="587701" y="131477"/>
                  </a:moveTo>
                  <a:cubicBezTo>
                    <a:pt x="546722" y="75983"/>
                    <a:pt x="487355" y="34911"/>
                    <a:pt x="421826" y="14375"/>
                  </a:cubicBezTo>
                  <a:cubicBezTo>
                    <a:pt x="391116" y="4107"/>
                    <a:pt x="358352" y="0"/>
                    <a:pt x="325588" y="0"/>
                  </a:cubicBezTo>
                  <a:cubicBezTo>
                    <a:pt x="292824" y="0"/>
                    <a:pt x="260059" y="4107"/>
                    <a:pt x="229349" y="14375"/>
                  </a:cubicBezTo>
                  <a:lnTo>
                    <a:pt x="249838" y="80137"/>
                  </a:lnTo>
                  <a:cubicBezTo>
                    <a:pt x="274435" y="71922"/>
                    <a:pt x="298984" y="67815"/>
                    <a:pt x="325634" y="67815"/>
                  </a:cubicBezTo>
                  <a:cubicBezTo>
                    <a:pt x="352284" y="67815"/>
                    <a:pt x="376834" y="71922"/>
                    <a:pt x="401430" y="80137"/>
                  </a:cubicBezTo>
                  <a:cubicBezTo>
                    <a:pt x="452630" y="94512"/>
                    <a:pt x="499723" y="127416"/>
                    <a:pt x="532487" y="172595"/>
                  </a:cubicBezTo>
                  <a:cubicBezTo>
                    <a:pt x="565251" y="215767"/>
                    <a:pt x="583687" y="271214"/>
                    <a:pt x="583687" y="326708"/>
                  </a:cubicBezTo>
                  <a:cubicBezTo>
                    <a:pt x="583687" y="468499"/>
                    <a:pt x="466959" y="585600"/>
                    <a:pt x="325634" y="585600"/>
                  </a:cubicBezTo>
                  <a:cubicBezTo>
                    <a:pt x="184310" y="585600"/>
                    <a:pt x="67582" y="468499"/>
                    <a:pt x="67582" y="326708"/>
                  </a:cubicBezTo>
                  <a:cubicBezTo>
                    <a:pt x="67582" y="273268"/>
                    <a:pt x="83964" y="219874"/>
                    <a:pt x="116728" y="176702"/>
                  </a:cubicBezTo>
                  <a:lnTo>
                    <a:pt x="159713" y="195185"/>
                  </a:lnTo>
                  <a:lnTo>
                    <a:pt x="139224" y="32857"/>
                  </a:lnTo>
                  <a:lnTo>
                    <a:pt x="12275" y="131477"/>
                  </a:lnTo>
                  <a:lnTo>
                    <a:pt x="51200" y="147905"/>
                  </a:lnTo>
                  <a:cubicBezTo>
                    <a:pt x="18436" y="201345"/>
                    <a:pt x="0" y="262953"/>
                    <a:pt x="0" y="326661"/>
                  </a:cubicBezTo>
                  <a:cubicBezTo>
                    <a:pt x="0" y="507470"/>
                    <a:pt x="145385" y="653369"/>
                    <a:pt x="325634" y="653369"/>
                  </a:cubicBezTo>
                  <a:cubicBezTo>
                    <a:pt x="505884" y="653369"/>
                    <a:pt x="651269" y="507470"/>
                    <a:pt x="651269" y="326661"/>
                  </a:cubicBezTo>
                  <a:cubicBezTo>
                    <a:pt x="651269" y="254739"/>
                    <a:pt x="628726" y="186924"/>
                    <a:pt x="587794" y="131477"/>
                  </a:cubicBezTo>
                  <a:lnTo>
                    <a:pt x="587794" y="13147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7" name="Google Shape;6713;g2d30ebb658d_0_19789">
            <a:extLst>
              <a:ext uri="{FF2B5EF4-FFF2-40B4-BE49-F238E27FC236}">
                <a16:creationId xmlns:a16="http://schemas.microsoft.com/office/drawing/2014/main" id="{8457F88E-ECEE-8CEE-2031-98473E7192D1}"/>
              </a:ext>
            </a:extLst>
          </p:cNvPr>
          <p:cNvGrpSpPr/>
          <p:nvPr/>
        </p:nvGrpSpPr>
        <p:grpSpPr>
          <a:xfrm>
            <a:off x="2742897" y="4646654"/>
            <a:ext cx="273516" cy="273515"/>
            <a:chOff x="9206590" y="5229970"/>
            <a:chExt cx="903000" cy="903000"/>
          </a:xfrm>
        </p:grpSpPr>
        <p:sp>
          <p:nvSpPr>
            <p:cNvPr id="188" name="Google Shape;6714;g2d30ebb658d_0_19789">
              <a:extLst>
                <a:ext uri="{FF2B5EF4-FFF2-40B4-BE49-F238E27FC236}">
                  <a16:creationId xmlns:a16="http://schemas.microsoft.com/office/drawing/2014/main" id="{1E8BD796-8A84-CFA8-20B6-B7C706FD5A37}"/>
                </a:ext>
              </a:extLst>
            </p:cNvPr>
            <p:cNvSpPr/>
            <p:nvPr/>
          </p:nvSpPr>
          <p:spPr>
            <a:xfrm>
              <a:off x="9206590" y="5229970"/>
              <a:ext cx="903000" cy="903000"/>
            </a:xfrm>
            <a:prstGeom prst="ellipse">
              <a:avLst/>
            </a:prstGeom>
            <a:solidFill>
              <a:schemeClr val="dk2">
                <a:alpha val="498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189" name="Google Shape;6715;g2d30ebb658d_0_19789">
              <a:extLst>
                <a:ext uri="{FF2B5EF4-FFF2-40B4-BE49-F238E27FC236}">
                  <a16:creationId xmlns:a16="http://schemas.microsoft.com/office/drawing/2014/main" id="{93ABA645-1CAA-9DBF-3727-347900AFDEA8}"/>
                </a:ext>
              </a:extLst>
            </p:cNvPr>
            <p:cNvSpPr/>
            <p:nvPr/>
          </p:nvSpPr>
          <p:spPr>
            <a:xfrm>
              <a:off x="9414717" y="5397932"/>
              <a:ext cx="487268" cy="567717"/>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0" name="Google Shape;6707;g2d30ebb658d_0_19789">
            <a:extLst>
              <a:ext uri="{FF2B5EF4-FFF2-40B4-BE49-F238E27FC236}">
                <a16:creationId xmlns:a16="http://schemas.microsoft.com/office/drawing/2014/main" id="{68D00D6E-6E2F-EBC7-075A-CDA4C892F74A}"/>
              </a:ext>
            </a:extLst>
          </p:cNvPr>
          <p:cNvGrpSpPr/>
          <p:nvPr/>
        </p:nvGrpSpPr>
        <p:grpSpPr>
          <a:xfrm>
            <a:off x="3187255" y="3239959"/>
            <a:ext cx="273516" cy="273515"/>
            <a:chOff x="10656543" y="2484407"/>
            <a:chExt cx="903000" cy="903000"/>
          </a:xfrm>
        </p:grpSpPr>
        <p:sp>
          <p:nvSpPr>
            <p:cNvPr id="191" name="Google Shape;6708;g2d30ebb658d_0_19789">
              <a:extLst>
                <a:ext uri="{FF2B5EF4-FFF2-40B4-BE49-F238E27FC236}">
                  <a16:creationId xmlns:a16="http://schemas.microsoft.com/office/drawing/2014/main" id="{63097153-7F6F-8298-76F9-4938A27D3B45}"/>
                </a:ext>
              </a:extLst>
            </p:cNvPr>
            <p:cNvSpPr/>
            <p:nvPr/>
          </p:nvSpPr>
          <p:spPr>
            <a:xfrm>
              <a:off x="10656543" y="2484407"/>
              <a:ext cx="903000" cy="903000"/>
            </a:xfrm>
            <a:prstGeom prst="ellipse">
              <a:avLst/>
            </a:prstGeom>
            <a:solidFill>
              <a:schemeClr val="dk2">
                <a:alpha val="49800"/>
              </a:schemeClr>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192" name="Google Shape;6709;g2d30ebb658d_0_19789">
              <a:extLst>
                <a:ext uri="{FF2B5EF4-FFF2-40B4-BE49-F238E27FC236}">
                  <a16:creationId xmlns:a16="http://schemas.microsoft.com/office/drawing/2014/main" id="{30A53933-5C29-8049-D89D-1FDE67708701}"/>
                </a:ext>
              </a:extLst>
            </p:cNvPr>
            <p:cNvSpPr/>
            <p:nvPr/>
          </p:nvSpPr>
          <p:spPr>
            <a:xfrm>
              <a:off x="10810509" y="2635103"/>
              <a:ext cx="595789" cy="595789"/>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 name="TextBox 4">
            <a:extLst>
              <a:ext uri="{FF2B5EF4-FFF2-40B4-BE49-F238E27FC236}">
                <a16:creationId xmlns:a16="http://schemas.microsoft.com/office/drawing/2014/main" id="{7533EFF6-AC80-E209-D8F0-8FB36C7F672C}"/>
              </a:ext>
            </a:extLst>
          </p:cNvPr>
          <p:cNvSpPr txBox="1"/>
          <p:nvPr/>
        </p:nvSpPr>
        <p:spPr>
          <a:xfrm>
            <a:off x="8380412" y="6162998"/>
            <a:ext cx="3354387" cy="307777"/>
          </a:xfrm>
          <a:prstGeom prst="rect">
            <a:avLst/>
          </a:prstGeom>
          <a:noFill/>
        </p:spPr>
        <p:txBody>
          <a:bodyPr wrap="square" lIns="0" tIns="0" rIns="0" bIns="0" rtlCol="0">
            <a:spAutoFit/>
          </a:bodyPr>
          <a:lstStyle/>
          <a:p>
            <a:pPr algn="ctr"/>
            <a:r>
              <a:rPr lang="en-US" sz="1000" i="1" dirty="0"/>
              <a:t>These configurations apply to VCF Import only and do not apply when deploying new clusters or workload domains</a:t>
            </a:r>
            <a:endParaRPr lang="en-US" sz="1000" dirty="0"/>
          </a:p>
        </p:txBody>
      </p:sp>
      <p:sp>
        <p:nvSpPr>
          <p:cNvPr id="23" name="Rectangle 22">
            <a:extLst>
              <a:ext uri="{FF2B5EF4-FFF2-40B4-BE49-F238E27FC236}">
                <a16:creationId xmlns:a16="http://schemas.microsoft.com/office/drawing/2014/main" id="{1036D17E-FD7C-5B58-A014-DDE258C35B59}"/>
              </a:ext>
            </a:extLst>
          </p:cNvPr>
          <p:cNvSpPr/>
          <p:nvPr/>
        </p:nvSpPr>
        <p:spPr bwMode="gray">
          <a:xfrm>
            <a:off x="8288523" y="2054946"/>
            <a:ext cx="1026196" cy="388714"/>
          </a:xfrm>
          <a:prstGeom prst="rect">
            <a:avLst/>
          </a:prstGeom>
          <a:solidFill>
            <a:schemeClr val="bg1"/>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28" name="TextBox 27">
            <a:extLst>
              <a:ext uri="{FF2B5EF4-FFF2-40B4-BE49-F238E27FC236}">
                <a16:creationId xmlns:a16="http://schemas.microsoft.com/office/drawing/2014/main" id="{C5E72D24-4C64-4D94-F593-B9FB0AA065EC}"/>
              </a:ext>
            </a:extLst>
          </p:cNvPr>
          <p:cNvSpPr txBox="1"/>
          <p:nvPr/>
        </p:nvSpPr>
        <p:spPr>
          <a:xfrm>
            <a:off x="8380411" y="2063252"/>
            <a:ext cx="3479080" cy="3939540"/>
          </a:xfrm>
          <a:prstGeom prst="rect">
            <a:avLst/>
          </a:prstGeom>
          <a:noFill/>
        </p:spPr>
        <p:txBody>
          <a:bodyPr wrap="square" lIns="0" tIns="0" rIns="0" bIns="0" rtlCol="0">
            <a:spAutoFit/>
          </a:bodyPr>
          <a:lstStyle/>
          <a:p>
            <a:pPr algn="l"/>
            <a:r>
              <a:rPr lang="en-US" sz="1600" dirty="0">
                <a:solidFill>
                  <a:schemeClr val="accent2"/>
                </a:solidFill>
              </a:rPr>
              <a:t>Imports all clusters in an existing vCenter into the VCF Inventory</a:t>
            </a:r>
          </a:p>
          <a:p>
            <a:pPr algn="l"/>
            <a:endParaRPr lang="en-US" sz="800" dirty="0">
              <a:solidFill>
                <a:schemeClr val="accent2"/>
              </a:solidFill>
            </a:endParaRPr>
          </a:p>
          <a:p>
            <a:r>
              <a:rPr lang="en-US" sz="1600" dirty="0"/>
              <a:t>Host Interoperability:</a:t>
            </a:r>
          </a:p>
          <a:p>
            <a:endParaRPr lang="en-US" sz="800" dirty="0"/>
          </a:p>
          <a:p>
            <a:pPr marL="285750" indent="-285750">
              <a:lnSpc>
                <a:spcPct val="150000"/>
              </a:lnSpc>
              <a:buFont typeface="Arial" panose="020B0604020202020204" pitchFamily="34" charset="0"/>
              <a:buChar char="•"/>
            </a:pPr>
            <a:r>
              <a:rPr lang="en-US" sz="1400" dirty="0">
                <a:solidFill>
                  <a:schemeClr val="accent2"/>
                </a:solidFill>
              </a:rPr>
              <a:t>Hosts with single pNICs</a:t>
            </a:r>
          </a:p>
          <a:p>
            <a:pPr marL="285750" indent="-285750">
              <a:lnSpc>
                <a:spcPct val="150000"/>
              </a:lnSpc>
              <a:buFont typeface="Arial" panose="020B0604020202020204" pitchFamily="34" charset="0"/>
              <a:buChar char="•"/>
            </a:pPr>
            <a:r>
              <a:rPr lang="en-US" sz="1400" dirty="0">
                <a:solidFill>
                  <a:schemeClr val="accent2"/>
                </a:solidFill>
              </a:rPr>
              <a:t>Clusters with LACP enabled</a:t>
            </a:r>
          </a:p>
          <a:p>
            <a:pPr marL="285750" indent="-285750">
              <a:lnSpc>
                <a:spcPct val="150000"/>
              </a:lnSpc>
              <a:buFont typeface="Arial" panose="020B0604020202020204" pitchFamily="34" charset="0"/>
              <a:buChar char="•"/>
            </a:pPr>
            <a:r>
              <a:rPr lang="en-US" sz="1400" dirty="0">
                <a:solidFill>
                  <a:schemeClr val="accent2"/>
                </a:solidFill>
              </a:rPr>
              <a:t>Single node clusters &amp; standalone hosts</a:t>
            </a:r>
          </a:p>
          <a:p>
            <a:pPr lvl="1"/>
            <a:endParaRPr lang="en-US" sz="800" dirty="0">
              <a:solidFill>
                <a:schemeClr val="accent2"/>
              </a:solidFill>
            </a:endParaRPr>
          </a:p>
          <a:p>
            <a:r>
              <a:rPr lang="en-US" sz="1600" dirty="0"/>
              <a:t>Storage Interoperability:</a:t>
            </a:r>
          </a:p>
          <a:p>
            <a:endParaRPr lang="en-US" sz="800" dirty="0"/>
          </a:p>
          <a:p>
            <a:pPr marL="285750" indent="-285750">
              <a:buFont typeface="Arial" panose="020B0604020202020204" pitchFamily="34" charset="0"/>
              <a:buChar char="•"/>
            </a:pPr>
            <a:r>
              <a:rPr lang="en-US" sz="1400" dirty="0">
                <a:solidFill>
                  <a:schemeClr val="accent2"/>
                </a:solidFill>
              </a:rPr>
              <a:t>vSAN: 2-node, HCI mesh, storage clusters, stretched clusters</a:t>
            </a:r>
          </a:p>
          <a:p>
            <a:pPr marL="742950" lvl="1" indent="-285750">
              <a:buFont typeface="Arial" panose="020B0604020202020204" pitchFamily="34" charset="0"/>
              <a:buChar char="•"/>
            </a:pPr>
            <a:endParaRPr lang="en-US" sz="800" dirty="0">
              <a:solidFill>
                <a:schemeClr val="accent2"/>
              </a:solidFill>
            </a:endParaRPr>
          </a:p>
          <a:p>
            <a:pPr marL="285750" indent="-285750">
              <a:buFont typeface="Arial" panose="020B0604020202020204" pitchFamily="34" charset="0"/>
              <a:buChar char="•"/>
            </a:pPr>
            <a:r>
              <a:rPr lang="en-US" sz="1400" dirty="0">
                <a:solidFill>
                  <a:schemeClr val="accent2"/>
                </a:solidFill>
              </a:rPr>
              <a:t>NFS, VMFS on FC, iSCSI</a:t>
            </a:r>
          </a:p>
          <a:p>
            <a:pPr lvl="1"/>
            <a:endParaRPr lang="en-US" sz="800" dirty="0">
              <a:solidFill>
                <a:schemeClr val="accent2"/>
              </a:solidFill>
            </a:endParaRPr>
          </a:p>
          <a:p>
            <a:r>
              <a:rPr lang="en-US" sz="1600" dirty="0"/>
              <a:t>Networking Interoperability:</a:t>
            </a:r>
          </a:p>
          <a:p>
            <a:endParaRPr lang="en-US" sz="800" dirty="0"/>
          </a:p>
          <a:p>
            <a:pPr marL="285750" indent="-285750">
              <a:buFont typeface="Arial" panose="020B0604020202020204" pitchFamily="34" charset="0"/>
              <a:buChar char="•"/>
            </a:pPr>
            <a:r>
              <a:rPr lang="en-US" sz="1400" dirty="0">
                <a:solidFill>
                  <a:schemeClr val="accent2"/>
                </a:solidFill>
              </a:rPr>
              <a:t>vCenter with or without NSX</a:t>
            </a:r>
          </a:p>
        </p:txBody>
      </p:sp>
    </p:spTree>
    <p:extLst>
      <p:ext uri="{BB962C8B-B14F-4D97-AF65-F5344CB8AC3E}">
        <p14:creationId xmlns:p14="http://schemas.microsoft.com/office/powerpoint/2010/main" val="388866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79"/>
        <p:cNvGrpSpPr/>
        <p:nvPr/>
      </p:nvGrpSpPr>
      <p:grpSpPr>
        <a:xfrm>
          <a:off x="0" y="0"/>
          <a:ext cx="0" cy="0"/>
          <a:chOff x="0" y="0"/>
          <a:chExt cx="0" cy="0"/>
        </a:xfrm>
      </p:grpSpPr>
      <p:sp>
        <p:nvSpPr>
          <p:cNvPr id="4280" name="Google Shape;4280;p38"/>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solidFill>
                  <a:schemeClr val="accent2"/>
                </a:solidFill>
              </a:rPr>
              <a:t>Cloud Foundation Deployment and Scale</a:t>
            </a:r>
            <a:endParaRPr/>
          </a:p>
        </p:txBody>
      </p:sp>
      <p:sp>
        <p:nvSpPr>
          <p:cNvPr id="4281" name="Google Shape;4281;p38"/>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solidFill>
                  <a:schemeClr val="dk1"/>
                </a:solidFill>
              </a:rPr>
              <a:t>Deployment and scale workflows</a:t>
            </a:r>
            <a:endParaRPr/>
          </a:p>
        </p:txBody>
      </p:sp>
      <p:sp>
        <p:nvSpPr>
          <p:cNvPr id="4282" name="Google Shape;4282;p38"/>
          <p:cNvSpPr txBox="1"/>
          <p:nvPr/>
        </p:nvSpPr>
        <p:spPr>
          <a:xfrm>
            <a:off x="1377767" y="1881164"/>
            <a:ext cx="6004262" cy="27699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2"/>
                </a:solidFill>
                <a:latin typeface="Arial"/>
                <a:ea typeface="Arial"/>
                <a:cs typeface="Arial"/>
                <a:sym typeface="Arial"/>
              </a:rPr>
              <a:t>Cloud Foundation Administrator</a:t>
            </a:r>
            <a:endParaRPr sz="1400" b="0" i="0" u="none" strike="noStrike" cap="none">
              <a:solidFill>
                <a:srgbClr val="000000"/>
              </a:solidFill>
              <a:latin typeface="Arial"/>
              <a:ea typeface="Arial"/>
              <a:cs typeface="Arial"/>
              <a:sym typeface="Arial"/>
            </a:endParaRPr>
          </a:p>
        </p:txBody>
      </p:sp>
      <p:sp>
        <p:nvSpPr>
          <p:cNvPr id="4283" name="Google Shape;4283;p38"/>
          <p:cNvSpPr/>
          <p:nvPr/>
        </p:nvSpPr>
        <p:spPr>
          <a:xfrm rot="5400000">
            <a:off x="6986169" y="3534740"/>
            <a:ext cx="2804405" cy="438522"/>
          </a:xfrm>
          <a:prstGeom prst="triangle">
            <a:avLst>
              <a:gd name="adj" fmla="val 50000"/>
            </a:avLst>
          </a:prstGeom>
          <a:gradFill>
            <a:gsLst>
              <a:gs pos="0">
                <a:srgbClr val="AACADA"/>
              </a:gs>
              <a:gs pos="100000">
                <a:srgbClr val="F4F8FA">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284" name="Google Shape;4284;p38"/>
          <p:cNvSpPr/>
          <p:nvPr/>
        </p:nvSpPr>
        <p:spPr>
          <a:xfrm>
            <a:off x="608013" y="2267255"/>
            <a:ext cx="7543771" cy="3015385"/>
          </a:xfrm>
          <a:prstGeom prst="rect">
            <a:avLst/>
          </a:prstGeom>
          <a:solidFill>
            <a:srgbClr val="F4F8FA"/>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4285" name="Google Shape;4285;p38"/>
          <p:cNvSpPr/>
          <p:nvPr/>
        </p:nvSpPr>
        <p:spPr>
          <a:xfrm>
            <a:off x="827182" y="3302653"/>
            <a:ext cx="408032" cy="408028"/>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lt1"/>
                </a:solidFill>
                <a:latin typeface="Arial"/>
                <a:ea typeface="Arial"/>
                <a:cs typeface="Arial"/>
                <a:sym typeface="Arial"/>
              </a:rPr>
              <a:t>1</a:t>
            </a:r>
            <a:endParaRPr sz="1400" b="0" i="0" u="none" strike="noStrike" cap="none" dirty="0">
              <a:solidFill>
                <a:srgbClr val="000000"/>
              </a:solidFill>
              <a:latin typeface="Arial"/>
              <a:ea typeface="Arial"/>
              <a:cs typeface="Arial"/>
              <a:sym typeface="Arial"/>
            </a:endParaRPr>
          </a:p>
        </p:txBody>
      </p:sp>
      <p:sp>
        <p:nvSpPr>
          <p:cNvPr id="4286" name="Google Shape;4286;p38"/>
          <p:cNvSpPr txBox="1"/>
          <p:nvPr/>
        </p:nvSpPr>
        <p:spPr>
          <a:xfrm>
            <a:off x="1644088" y="3137336"/>
            <a:ext cx="1872449" cy="73866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2"/>
                </a:solidFill>
                <a:latin typeface="Arial"/>
                <a:ea typeface="Arial"/>
                <a:cs typeface="Arial"/>
                <a:sym typeface="Arial"/>
              </a:rPr>
              <a:t>Scale an existing Cloud Foundation deployment</a:t>
            </a:r>
            <a:endParaRPr sz="1400" b="0" i="0" u="none" strike="noStrike" cap="none">
              <a:solidFill>
                <a:srgbClr val="000000"/>
              </a:solidFill>
              <a:latin typeface="Arial"/>
              <a:ea typeface="Arial"/>
              <a:cs typeface="Arial"/>
              <a:sym typeface="Arial"/>
            </a:endParaRPr>
          </a:p>
        </p:txBody>
      </p:sp>
      <p:sp>
        <p:nvSpPr>
          <p:cNvPr id="4287" name="Google Shape;4287;p38"/>
          <p:cNvSpPr/>
          <p:nvPr/>
        </p:nvSpPr>
        <p:spPr>
          <a:xfrm>
            <a:off x="3731753" y="3302653"/>
            <a:ext cx="408032" cy="408028"/>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lt1"/>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4288" name="Google Shape;4288;p38"/>
          <p:cNvSpPr txBox="1"/>
          <p:nvPr/>
        </p:nvSpPr>
        <p:spPr>
          <a:xfrm>
            <a:off x="4548659" y="3137336"/>
            <a:ext cx="1406197" cy="73866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2"/>
                </a:solidFill>
                <a:latin typeface="Arial"/>
                <a:ea typeface="Arial"/>
                <a:cs typeface="Arial"/>
                <a:sym typeface="Arial"/>
              </a:rPr>
              <a:t>Configure Network Pools</a:t>
            </a:r>
            <a:endParaRPr sz="1400" b="0" i="0" u="none" strike="noStrike" cap="none">
              <a:solidFill>
                <a:srgbClr val="000000"/>
              </a:solidFill>
              <a:latin typeface="Arial"/>
              <a:ea typeface="Arial"/>
              <a:cs typeface="Arial"/>
              <a:sym typeface="Arial"/>
            </a:endParaRPr>
          </a:p>
        </p:txBody>
      </p:sp>
      <p:sp>
        <p:nvSpPr>
          <p:cNvPr id="4289" name="Google Shape;4289;p38"/>
          <p:cNvSpPr/>
          <p:nvPr/>
        </p:nvSpPr>
        <p:spPr>
          <a:xfrm>
            <a:off x="5868156" y="3302653"/>
            <a:ext cx="408032" cy="408028"/>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lt1"/>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4290" name="Google Shape;4290;p38"/>
          <p:cNvSpPr txBox="1"/>
          <p:nvPr/>
        </p:nvSpPr>
        <p:spPr>
          <a:xfrm>
            <a:off x="6685062" y="3260446"/>
            <a:ext cx="1406197" cy="492443"/>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2"/>
                </a:solidFill>
                <a:latin typeface="Arial"/>
                <a:ea typeface="Arial"/>
                <a:cs typeface="Arial"/>
                <a:sym typeface="Arial"/>
              </a:rPr>
              <a:t>Commission Hosts</a:t>
            </a:r>
            <a:endParaRPr sz="1400" b="0" i="0" u="none" strike="noStrike" cap="none">
              <a:solidFill>
                <a:srgbClr val="000000"/>
              </a:solidFill>
              <a:latin typeface="Arial"/>
              <a:ea typeface="Arial"/>
              <a:cs typeface="Arial"/>
              <a:sym typeface="Arial"/>
            </a:endParaRPr>
          </a:p>
        </p:txBody>
      </p:sp>
      <p:sp>
        <p:nvSpPr>
          <p:cNvPr id="4306" name="Google Shape;4306;p38"/>
          <p:cNvSpPr/>
          <p:nvPr/>
        </p:nvSpPr>
        <p:spPr>
          <a:xfrm>
            <a:off x="592867" y="4958407"/>
            <a:ext cx="2531334" cy="321737"/>
          </a:xfrm>
          <a:prstGeom prst="rect">
            <a:avLst/>
          </a:prstGeom>
          <a:solidFill>
            <a:schemeClr val="accent2"/>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Arial"/>
                <a:ea typeface="Arial"/>
                <a:cs typeface="Arial"/>
                <a:sym typeface="Arial"/>
              </a:rPr>
              <a:t>Existing Deployment</a:t>
            </a:r>
            <a:endParaRPr sz="1400" b="0" i="0" u="none" strike="noStrike" cap="none">
              <a:solidFill>
                <a:srgbClr val="000000"/>
              </a:solidFill>
              <a:latin typeface="Arial"/>
              <a:ea typeface="Arial"/>
              <a:cs typeface="Arial"/>
              <a:sym typeface="Arial"/>
            </a:endParaRPr>
          </a:p>
        </p:txBody>
      </p:sp>
      <p:sp>
        <p:nvSpPr>
          <p:cNvPr id="4307" name="Google Shape;4307;p38"/>
          <p:cNvSpPr txBox="1"/>
          <p:nvPr/>
        </p:nvSpPr>
        <p:spPr>
          <a:xfrm>
            <a:off x="2716960" y="5715000"/>
            <a:ext cx="1291380" cy="43088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dk2"/>
                </a:solidFill>
                <a:latin typeface="Arial"/>
                <a:ea typeface="Arial"/>
                <a:cs typeface="Arial"/>
                <a:sym typeface="Arial"/>
              </a:rPr>
              <a:t>Cloud Admin</a:t>
            </a:r>
            <a:endParaRPr sz="1400" b="0" i="0" u="none" strike="noStrike" cap="none" dirty="0">
              <a:solidFill>
                <a:srgbClr val="000000"/>
              </a:solidFill>
              <a:latin typeface="Arial"/>
              <a:ea typeface="Arial"/>
              <a:cs typeface="Arial"/>
              <a:sym typeface="Arial"/>
            </a:endParaRPr>
          </a:p>
        </p:txBody>
      </p:sp>
      <p:sp>
        <p:nvSpPr>
          <p:cNvPr id="4308" name="Google Shape;4308;p38"/>
          <p:cNvSpPr/>
          <p:nvPr/>
        </p:nvSpPr>
        <p:spPr>
          <a:xfrm>
            <a:off x="3579820" y="4958407"/>
            <a:ext cx="4285778" cy="321737"/>
          </a:xfrm>
          <a:prstGeom prst="rect">
            <a:avLst/>
          </a:prstGeom>
          <a:solidFill>
            <a:schemeClr val="accent5"/>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Arial"/>
                <a:ea typeface="Arial"/>
                <a:cs typeface="Arial"/>
                <a:sym typeface="Arial"/>
              </a:rPr>
              <a:t>Prepare the Infrastructure</a:t>
            </a:r>
            <a:endParaRPr sz="1400" b="0" i="0" u="none" strike="noStrike" cap="none">
              <a:solidFill>
                <a:srgbClr val="000000"/>
              </a:solidFill>
              <a:latin typeface="Arial"/>
              <a:ea typeface="Arial"/>
              <a:cs typeface="Arial"/>
              <a:sym typeface="Arial"/>
            </a:endParaRPr>
          </a:p>
        </p:txBody>
      </p:sp>
      <p:sp>
        <p:nvSpPr>
          <p:cNvPr id="4309" name="Google Shape;4309;p38"/>
          <p:cNvSpPr txBox="1"/>
          <p:nvPr/>
        </p:nvSpPr>
        <p:spPr>
          <a:xfrm>
            <a:off x="7506065" y="5715000"/>
            <a:ext cx="1176006" cy="21512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dk2"/>
                </a:solidFill>
                <a:latin typeface="Arial"/>
                <a:ea typeface="Arial"/>
                <a:cs typeface="Arial"/>
                <a:sym typeface="Arial"/>
              </a:rPr>
              <a:t>Operations</a:t>
            </a:r>
            <a:endParaRPr sz="1400" b="0" i="0" u="none" strike="noStrike" cap="none" dirty="0">
              <a:solidFill>
                <a:srgbClr val="000000"/>
              </a:solidFill>
              <a:latin typeface="Arial"/>
              <a:ea typeface="Arial"/>
              <a:cs typeface="Arial"/>
              <a:sym typeface="Arial"/>
            </a:endParaRPr>
          </a:p>
        </p:txBody>
      </p:sp>
      <p:sp>
        <p:nvSpPr>
          <p:cNvPr id="4310" name="Google Shape;4310;p38"/>
          <p:cNvSpPr/>
          <p:nvPr/>
        </p:nvSpPr>
        <p:spPr>
          <a:xfrm>
            <a:off x="8321216" y="4958407"/>
            <a:ext cx="3259595" cy="321737"/>
          </a:xfrm>
          <a:prstGeom prst="rect">
            <a:avLst/>
          </a:prstGeom>
          <a:solidFill>
            <a:schemeClr val="accent3"/>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Arial"/>
                <a:ea typeface="Arial"/>
                <a:cs typeface="Arial"/>
                <a:sym typeface="Arial"/>
              </a:rPr>
              <a:t>Scale Options</a:t>
            </a:r>
            <a:endParaRPr sz="1400" b="0" i="0" u="none" strike="noStrike" cap="none">
              <a:solidFill>
                <a:srgbClr val="000000"/>
              </a:solidFill>
              <a:latin typeface="Arial"/>
              <a:ea typeface="Arial"/>
              <a:cs typeface="Arial"/>
              <a:sym typeface="Arial"/>
            </a:endParaRPr>
          </a:p>
        </p:txBody>
      </p:sp>
      <p:grpSp>
        <p:nvGrpSpPr>
          <p:cNvPr id="4313" name="Google Shape;4313;p38"/>
          <p:cNvGrpSpPr/>
          <p:nvPr/>
        </p:nvGrpSpPr>
        <p:grpSpPr>
          <a:xfrm>
            <a:off x="7637444" y="4640286"/>
            <a:ext cx="913244" cy="1001468"/>
            <a:chOff x="6863549" y="3800822"/>
            <a:chExt cx="1001501" cy="1098252"/>
          </a:xfrm>
        </p:grpSpPr>
        <p:sp>
          <p:nvSpPr>
            <p:cNvPr id="4314" name="Google Shape;4314;p38"/>
            <p:cNvSpPr/>
            <p:nvPr/>
          </p:nvSpPr>
          <p:spPr>
            <a:xfrm>
              <a:off x="6863549" y="3800823"/>
              <a:ext cx="1001500" cy="1001502"/>
            </a:xfrm>
            <a:prstGeom prst="ellipse">
              <a:avLst/>
            </a:prstGeom>
            <a:solidFill>
              <a:srgbClr val="FFFFFF"/>
            </a:solidFill>
            <a:ln w="12700" cap="flat" cmpd="sng">
              <a:solidFill>
                <a:srgbClr val="D2D9E8"/>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4315" name="Google Shape;4315;p38"/>
            <p:cNvSpPr/>
            <p:nvPr/>
          </p:nvSpPr>
          <p:spPr>
            <a:xfrm>
              <a:off x="7137121" y="3883898"/>
              <a:ext cx="692813" cy="519966"/>
            </a:xfrm>
            <a:custGeom>
              <a:avLst/>
              <a:gdLst/>
              <a:ahLst/>
              <a:cxnLst/>
              <a:rect l="l" t="t" r="r" b="b"/>
              <a:pathLst>
                <a:path w="692813" h="519966" extrusionOk="0">
                  <a:moveTo>
                    <a:pt x="502652" y="0"/>
                  </a:moveTo>
                  <a:lnTo>
                    <a:pt x="507154" y="2444"/>
                  </a:lnTo>
                  <a:cubicBezTo>
                    <a:pt x="587075" y="56438"/>
                    <a:pt x="650570" y="132897"/>
                    <a:pt x="688579" y="222760"/>
                  </a:cubicBezTo>
                  <a:lnTo>
                    <a:pt x="692813" y="236400"/>
                  </a:lnTo>
                  <a:lnTo>
                    <a:pt x="418690" y="519966"/>
                  </a:lnTo>
                  <a:lnTo>
                    <a:pt x="0" y="519966"/>
                  </a:lnTo>
                  <a:lnTo>
                    <a:pt x="502652" y="0"/>
                  </a:lnTo>
                  <a:close/>
                </a:path>
              </a:pathLst>
            </a:custGeom>
            <a:gradFill>
              <a:gsLst>
                <a:gs pos="0">
                  <a:srgbClr val="0091DA">
                    <a:alpha val="35294"/>
                  </a:srgbClr>
                </a:gs>
                <a:gs pos="37000">
                  <a:srgbClr val="0091DA">
                    <a:alpha val="35294"/>
                  </a:srgbClr>
                </a:gs>
                <a:gs pos="98000">
                  <a:srgbClr val="0091DA">
                    <a:alpha val="0"/>
                  </a:srgbClr>
                </a:gs>
                <a:gs pos="100000">
                  <a:srgbClr val="0091DA">
                    <a:alpha val="0"/>
                  </a:srgbClr>
                </a:gs>
              </a:gsLst>
              <a:lin ang="162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4316" name="Google Shape;4316;p38"/>
            <p:cNvSpPr/>
            <p:nvPr/>
          </p:nvSpPr>
          <p:spPr>
            <a:xfrm>
              <a:off x="6863550" y="3800822"/>
              <a:ext cx="1001500" cy="1001502"/>
            </a:xfrm>
            <a:custGeom>
              <a:avLst/>
              <a:gdLst/>
              <a:ahLst/>
              <a:cxnLst/>
              <a:rect l="l" t="t" r="r" b="b"/>
              <a:pathLst>
                <a:path w="1001500" h="1001502" extrusionOk="0">
                  <a:moveTo>
                    <a:pt x="500750" y="0"/>
                  </a:moveTo>
                  <a:cubicBezTo>
                    <a:pt x="569889" y="0"/>
                    <a:pt x="635756" y="14012"/>
                    <a:pt x="695665" y="39352"/>
                  </a:cubicBezTo>
                  <a:lnTo>
                    <a:pt x="776222" y="83076"/>
                  </a:lnTo>
                  <a:lnTo>
                    <a:pt x="273570" y="603042"/>
                  </a:lnTo>
                  <a:lnTo>
                    <a:pt x="692260" y="603042"/>
                  </a:lnTo>
                  <a:lnTo>
                    <a:pt x="966383" y="319476"/>
                  </a:lnTo>
                  <a:lnTo>
                    <a:pt x="991327" y="399832"/>
                  </a:lnTo>
                  <a:cubicBezTo>
                    <a:pt x="997997" y="432430"/>
                    <a:pt x="1001500" y="466182"/>
                    <a:pt x="1001500" y="500751"/>
                  </a:cubicBezTo>
                  <a:cubicBezTo>
                    <a:pt x="1001500" y="777308"/>
                    <a:pt x="777307" y="1001502"/>
                    <a:pt x="500750" y="1001502"/>
                  </a:cubicBezTo>
                  <a:cubicBezTo>
                    <a:pt x="224193" y="1001502"/>
                    <a:pt x="0" y="777308"/>
                    <a:pt x="0" y="500751"/>
                  </a:cubicBezTo>
                  <a:cubicBezTo>
                    <a:pt x="0" y="224194"/>
                    <a:pt x="224193" y="0"/>
                    <a:pt x="500750" y="0"/>
                  </a:cubicBezTo>
                  <a:close/>
                </a:path>
              </a:pathLst>
            </a:custGeom>
            <a:gradFill>
              <a:gsLst>
                <a:gs pos="0">
                  <a:srgbClr val="0091DA">
                    <a:alpha val="35294"/>
                  </a:srgbClr>
                </a:gs>
                <a:gs pos="37000">
                  <a:srgbClr val="0091DA">
                    <a:alpha val="35294"/>
                  </a:srgbClr>
                </a:gs>
                <a:gs pos="98000">
                  <a:srgbClr val="0091DA">
                    <a:alpha val="0"/>
                  </a:srgbClr>
                </a:gs>
                <a:gs pos="100000">
                  <a:srgbClr val="0091DA">
                    <a:alpha val="0"/>
                  </a:srgbClr>
                </a:gs>
              </a:gsLst>
              <a:lin ang="16200000" scaled="0"/>
            </a:gradFill>
            <a:ln>
              <a:noFill/>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4317" name="Google Shape;4317;p38"/>
            <p:cNvSpPr/>
            <p:nvPr/>
          </p:nvSpPr>
          <p:spPr>
            <a:xfrm>
              <a:off x="7137120" y="3919239"/>
              <a:ext cx="713992" cy="567223"/>
            </a:xfrm>
            <a:custGeom>
              <a:avLst/>
              <a:gdLst/>
              <a:ahLst/>
              <a:cxnLst/>
              <a:rect l="l" t="t" r="r" b="b"/>
              <a:pathLst>
                <a:path w="991617" h="787778" extrusionOk="0">
                  <a:moveTo>
                    <a:pt x="761546" y="0"/>
                  </a:moveTo>
                  <a:lnTo>
                    <a:pt x="811023" y="40822"/>
                  </a:lnTo>
                  <a:cubicBezTo>
                    <a:pt x="873949" y="103748"/>
                    <a:pt x="924873" y="178678"/>
                    <a:pt x="960065" y="261882"/>
                  </a:cubicBezTo>
                  <a:lnTo>
                    <a:pt x="991617" y="363525"/>
                  </a:lnTo>
                  <a:lnTo>
                    <a:pt x="581491" y="787778"/>
                  </a:lnTo>
                  <a:lnTo>
                    <a:pt x="0" y="787778"/>
                  </a:lnTo>
                  <a:lnTo>
                    <a:pt x="761546" y="0"/>
                  </a:lnTo>
                  <a:close/>
                </a:path>
              </a:pathLst>
            </a:custGeom>
            <a:gradFill>
              <a:gsLst>
                <a:gs pos="0">
                  <a:srgbClr val="4FC4FF"/>
                </a:gs>
                <a:gs pos="98000">
                  <a:srgbClr val="0091DA">
                    <a:alpha val="0"/>
                  </a:srgbClr>
                </a:gs>
                <a:gs pos="100000">
                  <a:srgbClr val="0091DA">
                    <a:alpha val="0"/>
                  </a:srgbClr>
                </a:gs>
              </a:gsLst>
              <a:lin ang="189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pic>
          <p:nvPicPr>
            <p:cNvPr id="4318" name="Google Shape;4318;p38"/>
            <p:cNvPicPr preferRelativeResize="0"/>
            <p:nvPr/>
          </p:nvPicPr>
          <p:blipFill rotWithShape="1">
            <a:blip r:embed="rId3">
              <a:alphaModFix/>
            </a:blip>
            <a:srcRect/>
            <a:stretch/>
          </p:blipFill>
          <p:spPr>
            <a:xfrm>
              <a:off x="6865317" y="3810895"/>
              <a:ext cx="991758" cy="1088179"/>
            </a:xfrm>
            <a:prstGeom prst="rect">
              <a:avLst/>
            </a:prstGeom>
            <a:noFill/>
            <a:ln>
              <a:noFill/>
            </a:ln>
          </p:spPr>
        </p:pic>
      </p:grpSp>
      <p:grpSp>
        <p:nvGrpSpPr>
          <p:cNvPr id="48" name="Group 47">
            <a:extLst>
              <a:ext uri="{FF2B5EF4-FFF2-40B4-BE49-F238E27FC236}">
                <a16:creationId xmlns:a16="http://schemas.microsoft.com/office/drawing/2014/main" id="{7A5A1660-7D37-F88B-DF4D-5E02BC3A24D4}"/>
              </a:ext>
            </a:extLst>
          </p:cNvPr>
          <p:cNvGrpSpPr>
            <a:grpSpLocks noChangeAspect="1"/>
          </p:cNvGrpSpPr>
          <p:nvPr/>
        </p:nvGrpSpPr>
        <p:grpSpPr>
          <a:xfrm>
            <a:off x="2921650" y="4624944"/>
            <a:ext cx="903405" cy="989043"/>
            <a:chOff x="7943457" y="3626784"/>
            <a:chExt cx="865481" cy="947522"/>
          </a:xfrm>
        </p:grpSpPr>
        <p:grpSp>
          <p:nvGrpSpPr>
            <p:cNvPr id="49" name="Group 48">
              <a:extLst>
                <a:ext uri="{FF2B5EF4-FFF2-40B4-BE49-F238E27FC236}">
                  <a16:creationId xmlns:a16="http://schemas.microsoft.com/office/drawing/2014/main" id="{74764313-DF4F-6B01-33D8-960733890245}"/>
                </a:ext>
              </a:extLst>
            </p:cNvPr>
            <p:cNvGrpSpPr>
              <a:grpSpLocks noChangeAspect="1"/>
            </p:cNvGrpSpPr>
            <p:nvPr/>
          </p:nvGrpSpPr>
          <p:grpSpPr>
            <a:xfrm>
              <a:off x="7943457" y="3696376"/>
              <a:ext cx="865481" cy="865478"/>
              <a:chOff x="5217804" y="2760888"/>
              <a:chExt cx="1232879" cy="1232880"/>
            </a:xfrm>
          </p:grpSpPr>
          <p:sp>
            <p:nvSpPr>
              <p:cNvPr id="61" name="Google Shape;4314;p38">
                <a:extLst>
                  <a:ext uri="{FF2B5EF4-FFF2-40B4-BE49-F238E27FC236}">
                    <a16:creationId xmlns:a16="http://schemas.microsoft.com/office/drawing/2014/main" id="{008D4AC4-F919-5D22-3148-1BAE6817420B}"/>
                  </a:ext>
                </a:extLst>
              </p:cNvPr>
              <p:cNvSpPr/>
              <p:nvPr/>
            </p:nvSpPr>
            <p:spPr>
              <a:xfrm>
                <a:off x="5217804" y="2760889"/>
                <a:ext cx="1232878" cy="1232879"/>
              </a:xfrm>
              <a:prstGeom prst="ellipse">
                <a:avLst/>
              </a:prstGeom>
              <a:solidFill>
                <a:srgbClr val="FFFFFF"/>
              </a:solidFill>
              <a:ln w="12700" cap="flat" cmpd="sng">
                <a:solidFill>
                  <a:srgbClr val="D2D9E8"/>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62" name="Google Shape;4315;p38">
                <a:extLst>
                  <a:ext uri="{FF2B5EF4-FFF2-40B4-BE49-F238E27FC236}">
                    <a16:creationId xmlns:a16="http://schemas.microsoft.com/office/drawing/2014/main" id="{398CD33D-17FA-3710-86E5-96C6F9B435CE}"/>
                  </a:ext>
                </a:extLst>
              </p:cNvPr>
              <p:cNvSpPr/>
              <p:nvPr/>
            </p:nvSpPr>
            <p:spPr>
              <a:xfrm>
                <a:off x="5554580" y="2863157"/>
                <a:ext cx="852874" cy="640094"/>
              </a:xfrm>
              <a:custGeom>
                <a:avLst/>
                <a:gdLst/>
                <a:ahLst/>
                <a:cxnLst/>
                <a:rect l="l" t="t" r="r" b="b"/>
                <a:pathLst>
                  <a:path w="692813" h="519966" extrusionOk="0">
                    <a:moveTo>
                      <a:pt x="502652" y="0"/>
                    </a:moveTo>
                    <a:lnTo>
                      <a:pt x="507154" y="2444"/>
                    </a:lnTo>
                    <a:cubicBezTo>
                      <a:pt x="587075" y="56438"/>
                      <a:pt x="650570" y="132897"/>
                      <a:pt x="688579" y="222760"/>
                    </a:cubicBezTo>
                    <a:lnTo>
                      <a:pt x="692813" y="236400"/>
                    </a:lnTo>
                    <a:lnTo>
                      <a:pt x="418690" y="519966"/>
                    </a:lnTo>
                    <a:lnTo>
                      <a:pt x="0" y="519966"/>
                    </a:lnTo>
                    <a:lnTo>
                      <a:pt x="502652" y="0"/>
                    </a:lnTo>
                    <a:close/>
                  </a:path>
                </a:pathLst>
              </a:custGeom>
              <a:gradFill>
                <a:gsLst>
                  <a:gs pos="0">
                    <a:schemeClr val="accent5">
                      <a:alpha val="35000"/>
                    </a:schemeClr>
                  </a:gs>
                  <a:gs pos="37000">
                    <a:schemeClr val="accent5">
                      <a:alpha val="35000"/>
                    </a:schemeClr>
                  </a:gs>
                  <a:gs pos="98000">
                    <a:srgbClr val="0091DA">
                      <a:alpha val="0"/>
                    </a:srgbClr>
                  </a:gs>
                  <a:gs pos="100000">
                    <a:srgbClr val="0091DA">
                      <a:alpha val="0"/>
                    </a:srgbClr>
                  </a:gs>
                </a:gsLst>
                <a:lin ang="162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63" name="Google Shape;4316;p38">
                <a:extLst>
                  <a:ext uri="{FF2B5EF4-FFF2-40B4-BE49-F238E27FC236}">
                    <a16:creationId xmlns:a16="http://schemas.microsoft.com/office/drawing/2014/main" id="{940F2CB8-6331-1135-016D-617BA126D543}"/>
                  </a:ext>
                </a:extLst>
              </p:cNvPr>
              <p:cNvSpPr/>
              <p:nvPr/>
            </p:nvSpPr>
            <p:spPr>
              <a:xfrm>
                <a:off x="5217805" y="2760888"/>
                <a:ext cx="1232878" cy="1232879"/>
              </a:xfrm>
              <a:custGeom>
                <a:avLst/>
                <a:gdLst/>
                <a:ahLst/>
                <a:cxnLst/>
                <a:rect l="l" t="t" r="r" b="b"/>
                <a:pathLst>
                  <a:path w="1001500" h="1001502" extrusionOk="0">
                    <a:moveTo>
                      <a:pt x="500750" y="0"/>
                    </a:moveTo>
                    <a:cubicBezTo>
                      <a:pt x="569889" y="0"/>
                      <a:pt x="635756" y="14012"/>
                      <a:pt x="695665" y="39352"/>
                    </a:cubicBezTo>
                    <a:lnTo>
                      <a:pt x="776222" y="83076"/>
                    </a:lnTo>
                    <a:lnTo>
                      <a:pt x="273570" y="603042"/>
                    </a:lnTo>
                    <a:lnTo>
                      <a:pt x="692260" y="603042"/>
                    </a:lnTo>
                    <a:lnTo>
                      <a:pt x="966383" y="319476"/>
                    </a:lnTo>
                    <a:lnTo>
                      <a:pt x="991327" y="399832"/>
                    </a:lnTo>
                    <a:cubicBezTo>
                      <a:pt x="997997" y="432430"/>
                      <a:pt x="1001500" y="466182"/>
                      <a:pt x="1001500" y="500751"/>
                    </a:cubicBezTo>
                    <a:cubicBezTo>
                      <a:pt x="1001500" y="777308"/>
                      <a:pt x="777307" y="1001502"/>
                      <a:pt x="500750" y="1001502"/>
                    </a:cubicBezTo>
                    <a:cubicBezTo>
                      <a:pt x="224193" y="1001502"/>
                      <a:pt x="0" y="777308"/>
                      <a:pt x="0" y="500751"/>
                    </a:cubicBezTo>
                    <a:cubicBezTo>
                      <a:pt x="0" y="224194"/>
                      <a:pt x="224193" y="0"/>
                      <a:pt x="500750" y="0"/>
                    </a:cubicBezTo>
                    <a:close/>
                  </a:path>
                </a:pathLst>
              </a:custGeom>
              <a:gradFill>
                <a:gsLst>
                  <a:gs pos="0">
                    <a:schemeClr val="accent5">
                      <a:alpha val="35000"/>
                    </a:schemeClr>
                  </a:gs>
                  <a:gs pos="37000">
                    <a:schemeClr val="accent5">
                      <a:alpha val="35000"/>
                    </a:schemeClr>
                  </a:gs>
                  <a:gs pos="98000">
                    <a:srgbClr val="0091DA">
                      <a:alpha val="0"/>
                    </a:srgbClr>
                  </a:gs>
                  <a:gs pos="100000">
                    <a:schemeClr val="accent5"/>
                  </a:gs>
                </a:gsLst>
                <a:lin ang="16200000" scaled="0"/>
              </a:gradFill>
              <a:ln>
                <a:noFill/>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4224" name="Google Shape;4317;p38">
                <a:extLst>
                  <a:ext uri="{FF2B5EF4-FFF2-40B4-BE49-F238E27FC236}">
                    <a16:creationId xmlns:a16="http://schemas.microsoft.com/office/drawing/2014/main" id="{69FABB92-74DE-EC26-083D-0823BA610D0A}"/>
                  </a:ext>
                </a:extLst>
              </p:cNvPr>
              <p:cNvSpPr/>
              <p:nvPr/>
            </p:nvSpPr>
            <p:spPr>
              <a:xfrm>
                <a:off x="5554577" y="2906665"/>
                <a:ext cx="878947" cy="698268"/>
              </a:xfrm>
              <a:custGeom>
                <a:avLst/>
                <a:gdLst/>
                <a:ahLst/>
                <a:cxnLst/>
                <a:rect l="l" t="t" r="r" b="b"/>
                <a:pathLst>
                  <a:path w="991617" h="787778" extrusionOk="0">
                    <a:moveTo>
                      <a:pt x="761546" y="0"/>
                    </a:moveTo>
                    <a:lnTo>
                      <a:pt x="811023" y="40822"/>
                    </a:lnTo>
                    <a:cubicBezTo>
                      <a:pt x="873949" y="103748"/>
                      <a:pt x="924873" y="178678"/>
                      <a:pt x="960065" y="261882"/>
                    </a:cubicBezTo>
                    <a:lnTo>
                      <a:pt x="991617" y="363525"/>
                    </a:lnTo>
                    <a:lnTo>
                      <a:pt x="581491" y="787778"/>
                    </a:lnTo>
                    <a:lnTo>
                      <a:pt x="0" y="787778"/>
                    </a:lnTo>
                    <a:lnTo>
                      <a:pt x="761546" y="0"/>
                    </a:lnTo>
                    <a:close/>
                  </a:path>
                </a:pathLst>
              </a:custGeom>
              <a:gradFill>
                <a:gsLst>
                  <a:gs pos="0">
                    <a:schemeClr val="accent5"/>
                  </a:gs>
                  <a:gs pos="98000">
                    <a:schemeClr val="accent5">
                      <a:alpha val="0"/>
                    </a:schemeClr>
                  </a:gs>
                  <a:gs pos="100000">
                    <a:schemeClr val="accent5"/>
                  </a:gs>
                </a:gsLst>
                <a:lin ang="189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grpSp>
        <p:grpSp>
          <p:nvGrpSpPr>
            <p:cNvPr id="50" name="Google Shape;2789;p80">
              <a:extLst>
                <a:ext uri="{FF2B5EF4-FFF2-40B4-BE49-F238E27FC236}">
                  <a16:creationId xmlns:a16="http://schemas.microsoft.com/office/drawing/2014/main" id="{226FDBDD-9B07-B9FD-79C3-E63E9CBC95D1}"/>
                </a:ext>
              </a:extLst>
            </p:cNvPr>
            <p:cNvGrpSpPr/>
            <p:nvPr/>
          </p:nvGrpSpPr>
          <p:grpSpPr>
            <a:xfrm>
              <a:off x="8154945" y="3626784"/>
              <a:ext cx="531774" cy="947522"/>
              <a:chOff x="1326710" y="4246688"/>
              <a:chExt cx="531774" cy="947522"/>
            </a:xfrm>
          </p:grpSpPr>
          <p:sp>
            <p:nvSpPr>
              <p:cNvPr id="52" name="Google Shape;2796;p80">
                <a:extLst>
                  <a:ext uri="{FF2B5EF4-FFF2-40B4-BE49-F238E27FC236}">
                    <a16:creationId xmlns:a16="http://schemas.microsoft.com/office/drawing/2014/main" id="{9503B771-FDE5-4040-658D-EF86EE79976D}"/>
                  </a:ext>
                </a:extLst>
              </p:cNvPr>
              <p:cNvSpPr/>
              <p:nvPr/>
            </p:nvSpPr>
            <p:spPr>
              <a:xfrm flipH="1">
                <a:off x="1498040" y="4594232"/>
                <a:ext cx="360444" cy="473304"/>
              </a:xfrm>
              <a:custGeom>
                <a:avLst/>
                <a:gdLst/>
                <a:ahLst/>
                <a:cxnLst/>
                <a:rect l="l" t="t" r="r" b="b"/>
                <a:pathLst>
                  <a:path w="276142" h="528520" extrusionOk="0">
                    <a:moveTo>
                      <a:pt x="0" y="495414"/>
                    </a:moveTo>
                    <a:lnTo>
                      <a:pt x="92697" y="284704"/>
                    </a:lnTo>
                    <a:lnTo>
                      <a:pt x="131645" y="56858"/>
                    </a:lnTo>
                    <a:cubicBezTo>
                      <a:pt x="139824" y="13625"/>
                      <a:pt x="185394" y="-11302"/>
                      <a:pt x="226289" y="5057"/>
                    </a:cubicBezTo>
                    <a:lnTo>
                      <a:pt x="276143" y="25310"/>
                    </a:lnTo>
                    <a:cubicBezTo>
                      <a:pt x="276143" y="25310"/>
                      <a:pt x="201362" y="289768"/>
                      <a:pt x="182277" y="328327"/>
                    </a:cubicBezTo>
                    <a:cubicBezTo>
                      <a:pt x="132813" y="408949"/>
                      <a:pt x="66602" y="528520"/>
                      <a:pt x="66602" y="528520"/>
                    </a:cubicBezTo>
                    <a:lnTo>
                      <a:pt x="0" y="495025"/>
                    </a:lnTo>
                    <a:close/>
                  </a:path>
                </a:pathLst>
              </a:custGeom>
              <a:solidFill>
                <a:srgbClr val="7F35B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grpSp>
            <p:nvGrpSpPr>
              <p:cNvPr id="53" name="Google Shape;2798;p80">
                <a:extLst>
                  <a:ext uri="{FF2B5EF4-FFF2-40B4-BE49-F238E27FC236}">
                    <a16:creationId xmlns:a16="http://schemas.microsoft.com/office/drawing/2014/main" id="{4EC7C3CC-3943-D30D-B81E-E5386EE4F19A}"/>
                  </a:ext>
                </a:extLst>
              </p:cNvPr>
              <p:cNvGrpSpPr/>
              <p:nvPr/>
            </p:nvGrpSpPr>
            <p:grpSpPr>
              <a:xfrm flipH="1">
                <a:off x="1388659" y="4252449"/>
                <a:ext cx="246071" cy="372362"/>
                <a:chOff x="1935946" y="3808057"/>
                <a:chExt cx="188519" cy="285273"/>
              </a:xfrm>
            </p:grpSpPr>
            <p:sp>
              <p:nvSpPr>
                <p:cNvPr id="57" name="Google Shape;2799;p80">
                  <a:extLst>
                    <a:ext uri="{FF2B5EF4-FFF2-40B4-BE49-F238E27FC236}">
                      <a16:creationId xmlns:a16="http://schemas.microsoft.com/office/drawing/2014/main" id="{11ED855A-913C-8BE5-5813-1F0B7756733B}"/>
                    </a:ext>
                  </a:extLst>
                </p:cNvPr>
                <p:cNvSpPr/>
                <p:nvPr/>
              </p:nvSpPr>
              <p:spPr>
                <a:xfrm>
                  <a:off x="1981085" y="3943196"/>
                  <a:ext cx="124370" cy="150134"/>
                </a:xfrm>
                <a:custGeom>
                  <a:avLst/>
                  <a:gdLst/>
                  <a:ahLst/>
                  <a:cxnLst/>
                  <a:rect l="l" t="t" r="r" b="b"/>
                  <a:pathLst>
                    <a:path w="124370" h="150134" extrusionOk="0">
                      <a:moveTo>
                        <a:pt x="102044" y="149745"/>
                      </a:moveTo>
                      <a:cubicBezTo>
                        <a:pt x="102044" y="149745"/>
                        <a:pt x="83739" y="99891"/>
                        <a:pt x="118013" y="34069"/>
                      </a:cubicBezTo>
                      <a:cubicBezTo>
                        <a:pt x="155793" y="-38764"/>
                        <a:pt x="12853" y="27837"/>
                        <a:pt x="12853" y="27837"/>
                      </a:cubicBezTo>
                      <a:lnTo>
                        <a:pt x="0" y="140008"/>
                      </a:lnTo>
                      <a:lnTo>
                        <a:pt x="101655" y="150134"/>
                      </a:ln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8" name="Google Shape;2800;p80">
                  <a:extLst>
                    <a:ext uri="{FF2B5EF4-FFF2-40B4-BE49-F238E27FC236}">
                      <a16:creationId xmlns:a16="http://schemas.microsoft.com/office/drawing/2014/main" id="{C0A72F0B-DC8C-A112-D374-F760D806E94D}"/>
                    </a:ext>
                  </a:extLst>
                </p:cNvPr>
                <p:cNvSpPr/>
                <p:nvPr/>
              </p:nvSpPr>
              <p:spPr>
                <a:xfrm>
                  <a:off x="1935946" y="3817192"/>
                  <a:ext cx="177451" cy="206460"/>
                </a:xfrm>
                <a:custGeom>
                  <a:avLst/>
                  <a:gdLst/>
                  <a:ahLst/>
                  <a:cxnLst/>
                  <a:rect l="l" t="t" r="r" b="b"/>
                  <a:pathLst>
                    <a:path w="177451" h="206460" extrusionOk="0">
                      <a:moveTo>
                        <a:pt x="66171" y="205253"/>
                      </a:moveTo>
                      <a:lnTo>
                        <a:pt x="66171" y="205253"/>
                      </a:lnTo>
                      <a:cubicBezTo>
                        <a:pt x="19823" y="195516"/>
                        <a:pt x="-3157" y="177600"/>
                        <a:pt x="349" y="126967"/>
                      </a:cubicBezTo>
                      <a:lnTo>
                        <a:pt x="6580" y="74387"/>
                      </a:lnTo>
                      <a:cubicBezTo>
                        <a:pt x="16318" y="19470"/>
                        <a:pt x="62666" y="-7793"/>
                        <a:pt x="109014" y="1944"/>
                      </a:cubicBezTo>
                      <a:lnTo>
                        <a:pt x="109014" y="1944"/>
                      </a:lnTo>
                      <a:cubicBezTo>
                        <a:pt x="155363" y="11681"/>
                        <a:pt x="185353" y="57250"/>
                        <a:pt x="175616" y="103598"/>
                      </a:cubicBezTo>
                      <a:lnTo>
                        <a:pt x="164321" y="156957"/>
                      </a:lnTo>
                      <a:cubicBezTo>
                        <a:pt x="163152" y="162800"/>
                        <a:pt x="112909" y="214990"/>
                        <a:pt x="66561" y="205253"/>
                      </a:cubicBez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9" name="Google Shape;2801;p80">
                  <a:extLst>
                    <a:ext uri="{FF2B5EF4-FFF2-40B4-BE49-F238E27FC236}">
                      <a16:creationId xmlns:a16="http://schemas.microsoft.com/office/drawing/2014/main" id="{B2BBEC36-80EF-88D1-8F6F-F0ACDCB17114}"/>
                    </a:ext>
                  </a:extLst>
                </p:cNvPr>
                <p:cNvSpPr/>
                <p:nvPr/>
              </p:nvSpPr>
              <p:spPr>
                <a:xfrm>
                  <a:off x="1950389" y="3808057"/>
                  <a:ext cx="174076" cy="184787"/>
                </a:xfrm>
                <a:custGeom>
                  <a:avLst/>
                  <a:gdLst/>
                  <a:ahLst/>
                  <a:cxnLst/>
                  <a:rect l="l" t="t" r="r" b="b"/>
                  <a:pathLst>
                    <a:path w="174076" h="184787" extrusionOk="0">
                      <a:moveTo>
                        <a:pt x="3822" y="49637"/>
                      </a:moveTo>
                      <a:cubicBezTo>
                        <a:pt x="-6694" y="32111"/>
                        <a:pt x="5769" y="14584"/>
                        <a:pt x="25633" y="10300"/>
                      </a:cubicBezTo>
                      <a:cubicBezTo>
                        <a:pt x="48612" y="4847"/>
                        <a:pt x="75097" y="-4111"/>
                        <a:pt x="105087" y="2121"/>
                      </a:cubicBezTo>
                      <a:cubicBezTo>
                        <a:pt x="164288" y="14584"/>
                        <a:pt x="176752" y="67943"/>
                        <a:pt x="173636" y="95596"/>
                      </a:cubicBezTo>
                      <a:cubicBezTo>
                        <a:pt x="169741" y="131428"/>
                        <a:pt x="140919" y="184787"/>
                        <a:pt x="140919" y="184787"/>
                      </a:cubicBezTo>
                      <a:lnTo>
                        <a:pt x="100413" y="176219"/>
                      </a:lnTo>
                      <a:cubicBezTo>
                        <a:pt x="89897" y="173882"/>
                        <a:pt x="82497" y="164145"/>
                        <a:pt x="82887" y="153629"/>
                      </a:cubicBezTo>
                      <a:lnTo>
                        <a:pt x="84055" y="131428"/>
                      </a:lnTo>
                      <a:lnTo>
                        <a:pt x="47054" y="110396"/>
                      </a:lnTo>
                      <a:lnTo>
                        <a:pt x="51728" y="84691"/>
                      </a:lnTo>
                      <a:cubicBezTo>
                        <a:pt x="54065" y="73006"/>
                        <a:pt x="53286" y="53143"/>
                        <a:pt x="30307" y="52364"/>
                      </a:cubicBezTo>
                      <a:lnTo>
                        <a:pt x="4211" y="50027"/>
                      </a:lnTo>
                      <a:lnTo>
                        <a:pt x="4211" y="50027"/>
                      </a:lnTo>
                      <a:close/>
                    </a:path>
                  </a:pathLst>
                </a:custGeom>
                <a:solidFill>
                  <a:srgbClr val="4A469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0" name="Google Shape;2802;p80">
                  <a:extLst>
                    <a:ext uri="{FF2B5EF4-FFF2-40B4-BE49-F238E27FC236}">
                      <a16:creationId xmlns:a16="http://schemas.microsoft.com/office/drawing/2014/main" id="{1AEBA7AC-C628-663F-713B-8DE642350D2A}"/>
                    </a:ext>
                  </a:extLst>
                </p:cNvPr>
                <p:cNvSpPr/>
                <p:nvPr/>
              </p:nvSpPr>
              <p:spPr>
                <a:xfrm rot="-4692000">
                  <a:off x="1989857" y="3920792"/>
                  <a:ext cx="56085" cy="41285"/>
                </a:xfrm>
                <a:custGeom>
                  <a:avLst/>
                  <a:gdLst/>
                  <a:ahLst/>
                  <a:cxnLst/>
                  <a:rect l="l" t="t" r="r" b="b"/>
                  <a:pathLst>
                    <a:path w="56085" h="41285" extrusionOk="0">
                      <a:moveTo>
                        <a:pt x="56085" y="20642"/>
                      </a:moveTo>
                      <a:cubicBezTo>
                        <a:pt x="56085" y="32043"/>
                        <a:pt x="43530" y="41285"/>
                        <a:pt x="28042" y="41285"/>
                      </a:cubicBezTo>
                      <a:cubicBezTo>
                        <a:pt x="12555" y="41285"/>
                        <a:pt x="0" y="32043"/>
                        <a:pt x="0" y="20642"/>
                      </a:cubicBezTo>
                      <a:cubicBezTo>
                        <a:pt x="0" y="9242"/>
                        <a:pt x="12555" y="0"/>
                        <a:pt x="28042" y="0"/>
                      </a:cubicBezTo>
                      <a:cubicBezTo>
                        <a:pt x="43530" y="0"/>
                        <a:pt x="56085" y="9242"/>
                        <a:pt x="56085" y="20642"/>
                      </a:cubicBez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54" name="Google Shape;2803;p80">
                <a:extLst>
                  <a:ext uri="{FF2B5EF4-FFF2-40B4-BE49-F238E27FC236}">
                    <a16:creationId xmlns:a16="http://schemas.microsoft.com/office/drawing/2014/main" id="{99C8A322-4987-1CC4-F1C4-282E1CEF63D3}"/>
                  </a:ext>
                </a:extLst>
              </p:cNvPr>
              <p:cNvSpPr/>
              <p:nvPr/>
            </p:nvSpPr>
            <p:spPr>
              <a:xfrm flipH="1">
                <a:off x="1423296" y="4246688"/>
                <a:ext cx="224985" cy="141189"/>
              </a:xfrm>
              <a:custGeom>
                <a:avLst/>
                <a:gdLst/>
                <a:ahLst/>
                <a:cxnLst/>
                <a:rect l="l" t="t" r="r" b="b"/>
                <a:pathLst>
                  <a:path w="172365" h="108167" extrusionOk="0">
                    <a:moveTo>
                      <a:pt x="172366" y="33777"/>
                    </a:moveTo>
                    <a:cubicBezTo>
                      <a:pt x="172366" y="33777"/>
                      <a:pt x="150165" y="3787"/>
                      <a:pt x="129912" y="1450"/>
                    </a:cubicBezTo>
                    <a:cubicBezTo>
                      <a:pt x="78890" y="-4003"/>
                      <a:pt x="994" y="7682"/>
                      <a:pt x="994" y="7682"/>
                    </a:cubicBezTo>
                    <a:cubicBezTo>
                      <a:pt x="994" y="7682"/>
                      <a:pt x="-9133" y="64156"/>
                      <a:pt x="35268" y="86357"/>
                    </a:cubicBezTo>
                    <a:cubicBezTo>
                      <a:pt x="63311" y="86746"/>
                      <a:pt x="78890" y="108168"/>
                      <a:pt x="78890" y="108168"/>
                    </a:cubicBezTo>
                    <a:lnTo>
                      <a:pt x="172366" y="33387"/>
                    </a:lnTo>
                    <a:close/>
                  </a:path>
                </a:pathLst>
              </a:custGeom>
              <a:solidFill>
                <a:srgbClr val="4A469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5" name="Google Shape;2805;p80">
                <a:extLst>
                  <a:ext uri="{FF2B5EF4-FFF2-40B4-BE49-F238E27FC236}">
                    <a16:creationId xmlns:a16="http://schemas.microsoft.com/office/drawing/2014/main" id="{A7F6D3F0-4093-55CF-4CD6-022DE9369BF2}"/>
                  </a:ext>
                </a:extLst>
              </p:cNvPr>
              <p:cNvSpPr/>
              <p:nvPr/>
            </p:nvSpPr>
            <p:spPr>
              <a:xfrm flipH="1">
                <a:off x="1408552" y="4562252"/>
                <a:ext cx="187593" cy="69139"/>
              </a:xfrm>
              <a:custGeom>
                <a:avLst/>
                <a:gdLst/>
                <a:ahLst/>
                <a:cxnLst/>
                <a:rect l="l" t="t" r="r" b="b"/>
                <a:pathLst>
                  <a:path w="143718" h="52969" extrusionOk="0">
                    <a:moveTo>
                      <a:pt x="143719" y="52970"/>
                    </a:moveTo>
                    <a:lnTo>
                      <a:pt x="136319" y="3895"/>
                    </a:lnTo>
                    <a:lnTo>
                      <a:pt x="8179" y="0"/>
                    </a:lnTo>
                    <a:lnTo>
                      <a:pt x="0" y="44790"/>
                    </a:lnTo>
                    <a:lnTo>
                      <a:pt x="143719" y="52970"/>
                    </a:lnTo>
                    <a:close/>
                  </a:path>
                </a:pathLst>
              </a:custGeom>
              <a:solidFill>
                <a:srgbClr val="E5D2F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6" name="Google Shape;2806;p80">
                <a:extLst>
                  <a:ext uri="{FF2B5EF4-FFF2-40B4-BE49-F238E27FC236}">
                    <a16:creationId xmlns:a16="http://schemas.microsoft.com/office/drawing/2014/main" id="{EDDBF09E-05C3-B2D9-2B9F-74C6C0869C09}"/>
                  </a:ext>
                </a:extLst>
              </p:cNvPr>
              <p:cNvSpPr/>
              <p:nvPr/>
            </p:nvSpPr>
            <p:spPr>
              <a:xfrm>
                <a:off x="1326710" y="4582588"/>
                <a:ext cx="382814" cy="611622"/>
              </a:xfrm>
              <a:custGeom>
                <a:avLst/>
                <a:gdLst/>
                <a:ahLst/>
                <a:cxnLst/>
                <a:rect l="l" t="t" r="r" b="b"/>
                <a:pathLst>
                  <a:path w="437518" h="699025" extrusionOk="0">
                    <a:moveTo>
                      <a:pt x="249835" y="0"/>
                    </a:moveTo>
                    <a:lnTo>
                      <a:pt x="386378" y="31376"/>
                    </a:lnTo>
                    <a:cubicBezTo>
                      <a:pt x="386378" y="31376"/>
                      <a:pt x="412623" y="346778"/>
                      <a:pt x="434366" y="616748"/>
                    </a:cubicBezTo>
                    <a:lnTo>
                      <a:pt x="437518" y="656137"/>
                    </a:lnTo>
                    <a:lnTo>
                      <a:pt x="423858" y="663551"/>
                    </a:lnTo>
                    <a:cubicBezTo>
                      <a:pt x="369851" y="686394"/>
                      <a:pt x="310474" y="699025"/>
                      <a:pt x="248147" y="699025"/>
                    </a:cubicBezTo>
                    <a:cubicBezTo>
                      <a:pt x="185820" y="699025"/>
                      <a:pt x="126443" y="686394"/>
                      <a:pt x="72437" y="663551"/>
                    </a:cubicBezTo>
                    <a:lnTo>
                      <a:pt x="31994" y="641600"/>
                    </a:lnTo>
                    <a:lnTo>
                      <a:pt x="570" y="194066"/>
                    </a:lnTo>
                    <a:cubicBezTo>
                      <a:pt x="-5820" y="104587"/>
                      <a:pt x="42404" y="32538"/>
                      <a:pt x="101671" y="17430"/>
                    </a:cubicBezTo>
                    <a:lnTo>
                      <a:pt x="101089" y="18013"/>
                    </a:lnTo>
                    <a:lnTo>
                      <a:pt x="132465" y="47064"/>
                    </a:lnTo>
                    <a:close/>
                  </a:path>
                </a:pathLst>
              </a:custGeom>
              <a:solidFill>
                <a:srgbClr val="7F35B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41032"/>
                  </a:solidFill>
                  <a:latin typeface="Arial"/>
                  <a:ea typeface="Arial"/>
                  <a:cs typeface="Arial"/>
                  <a:sym typeface="Arial"/>
                </a:endParaRPr>
              </a:p>
            </p:txBody>
          </p:sp>
        </p:grpSp>
      </p:grpSp>
      <p:sp>
        <p:nvSpPr>
          <p:cNvPr id="4247" name="Google Shape;2791;p80">
            <a:extLst>
              <a:ext uri="{FF2B5EF4-FFF2-40B4-BE49-F238E27FC236}">
                <a16:creationId xmlns:a16="http://schemas.microsoft.com/office/drawing/2014/main" id="{AD9F95D3-7371-D2FD-E9EE-3377230B9FBE}"/>
              </a:ext>
            </a:extLst>
          </p:cNvPr>
          <p:cNvSpPr>
            <a:spLocks noChangeAspect="1"/>
          </p:cNvSpPr>
          <p:nvPr/>
        </p:nvSpPr>
        <p:spPr>
          <a:xfrm>
            <a:off x="1322756" y="3405889"/>
            <a:ext cx="139615" cy="200552"/>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2"/>
          </a:solidFill>
          <a:ln>
            <a:noFill/>
          </a:ln>
        </p:spPr>
        <p:txBody>
          <a:bodyPr spcFirstLastPara="1" wrap="square" lIns="182650" tIns="91300" rIns="182650" bIns="913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3C3C3C"/>
              </a:solidFill>
              <a:latin typeface="Arial"/>
              <a:ea typeface="Arial"/>
              <a:cs typeface="Arial"/>
              <a:sym typeface="Arial"/>
            </a:endParaRPr>
          </a:p>
        </p:txBody>
      </p:sp>
      <p:sp>
        <p:nvSpPr>
          <p:cNvPr id="4248" name="Google Shape;2791;p80">
            <a:extLst>
              <a:ext uri="{FF2B5EF4-FFF2-40B4-BE49-F238E27FC236}">
                <a16:creationId xmlns:a16="http://schemas.microsoft.com/office/drawing/2014/main" id="{27786344-F5AF-CACA-E5DA-CE7F39C0DA8F}"/>
              </a:ext>
            </a:extLst>
          </p:cNvPr>
          <p:cNvSpPr>
            <a:spLocks noChangeAspect="1"/>
          </p:cNvSpPr>
          <p:nvPr/>
        </p:nvSpPr>
        <p:spPr>
          <a:xfrm>
            <a:off x="4215386" y="3405889"/>
            <a:ext cx="139615" cy="200552"/>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solidFill>
          <a:ln>
            <a:noFill/>
          </a:ln>
        </p:spPr>
        <p:txBody>
          <a:bodyPr spcFirstLastPara="1" wrap="square" lIns="182650" tIns="91300" rIns="182650" bIns="913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3C3C3C"/>
              </a:solidFill>
              <a:latin typeface="Arial"/>
              <a:ea typeface="Arial"/>
              <a:cs typeface="Arial"/>
              <a:sym typeface="Arial"/>
            </a:endParaRPr>
          </a:p>
        </p:txBody>
      </p:sp>
      <p:sp>
        <p:nvSpPr>
          <p:cNvPr id="4249" name="Google Shape;2791;p80">
            <a:extLst>
              <a:ext uri="{FF2B5EF4-FFF2-40B4-BE49-F238E27FC236}">
                <a16:creationId xmlns:a16="http://schemas.microsoft.com/office/drawing/2014/main" id="{47CB6776-C83C-8274-0BC0-60AB4B648C10}"/>
              </a:ext>
            </a:extLst>
          </p:cNvPr>
          <p:cNvSpPr>
            <a:spLocks noChangeAspect="1"/>
          </p:cNvSpPr>
          <p:nvPr/>
        </p:nvSpPr>
        <p:spPr>
          <a:xfrm>
            <a:off x="6348669" y="3407684"/>
            <a:ext cx="139615" cy="200552"/>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solidFill>
          <a:ln>
            <a:noFill/>
          </a:ln>
        </p:spPr>
        <p:txBody>
          <a:bodyPr spcFirstLastPara="1" wrap="square" lIns="182650" tIns="91300" rIns="182650" bIns="913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3C3C3C"/>
              </a:solidFill>
              <a:latin typeface="Arial"/>
              <a:ea typeface="Arial"/>
              <a:cs typeface="Arial"/>
              <a:sym typeface="Arial"/>
            </a:endParaRPr>
          </a:p>
        </p:txBody>
      </p:sp>
      <p:grpSp>
        <p:nvGrpSpPr>
          <p:cNvPr id="4263" name="Group 4262">
            <a:extLst>
              <a:ext uri="{FF2B5EF4-FFF2-40B4-BE49-F238E27FC236}">
                <a16:creationId xmlns:a16="http://schemas.microsoft.com/office/drawing/2014/main" id="{82B457FF-04C7-7980-306E-FAEFEF47B9CA}"/>
              </a:ext>
            </a:extLst>
          </p:cNvPr>
          <p:cNvGrpSpPr/>
          <p:nvPr/>
        </p:nvGrpSpPr>
        <p:grpSpPr>
          <a:xfrm>
            <a:off x="8590072" y="1881164"/>
            <a:ext cx="3121183" cy="2933008"/>
            <a:chOff x="8590072" y="1881164"/>
            <a:chExt cx="3121183" cy="2933008"/>
          </a:xfrm>
        </p:grpSpPr>
        <p:sp>
          <p:nvSpPr>
            <p:cNvPr id="4292" name="Google Shape;4292;p38"/>
            <p:cNvSpPr txBox="1"/>
            <p:nvPr/>
          </p:nvSpPr>
          <p:spPr>
            <a:xfrm>
              <a:off x="8590072" y="1881164"/>
              <a:ext cx="3121183" cy="27699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2"/>
                  </a:solidFill>
                  <a:latin typeface="Arial"/>
                  <a:ea typeface="Arial"/>
                  <a:cs typeface="Arial"/>
                  <a:sym typeface="Arial"/>
                </a:rPr>
                <a:t>Operations Team</a:t>
              </a:r>
              <a:endParaRPr sz="1400" b="0" i="0" u="none" strike="noStrike" cap="none">
                <a:solidFill>
                  <a:srgbClr val="000000"/>
                </a:solidFill>
                <a:latin typeface="Arial"/>
                <a:ea typeface="Arial"/>
                <a:cs typeface="Arial"/>
                <a:sym typeface="Arial"/>
              </a:endParaRPr>
            </a:p>
          </p:txBody>
        </p:sp>
        <p:sp>
          <p:nvSpPr>
            <p:cNvPr id="4294" name="Google Shape;4294;p38"/>
            <p:cNvSpPr/>
            <p:nvPr/>
          </p:nvSpPr>
          <p:spPr>
            <a:xfrm>
              <a:off x="8723022" y="2267256"/>
              <a:ext cx="2855284" cy="2546916"/>
            </a:xfrm>
            <a:prstGeom prst="roundRect">
              <a:avLst>
                <a:gd name="adj" fmla="val 0"/>
              </a:avLst>
            </a:prstGeom>
            <a:solidFill>
              <a:srgbClr val="F4F8FA"/>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4252" name="Rounded Rectangle 4251">
              <a:extLst>
                <a:ext uri="{FF2B5EF4-FFF2-40B4-BE49-F238E27FC236}">
                  <a16:creationId xmlns:a16="http://schemas.microsoft.com/office/drawing/2014/main" id="{9FB39569-5836-6057-CFDD-AA0577261895}"/>
                </a:ext>
              </a:extLst>
            </p:cNvPr>
            <p:cNvSpPr/>
            <p:nvPr/>
          </p:nvSpPr>
          <p:spPr bwMode="gray">
            <a:xfrm>
              <a:off x="8860449" y="2415698"/>
              <a:ext cx="2602467" cy="487587"/>
            </a:xfrm>
            <a:prstGeom prst="roundRect">
              <a:avLst/>
            </a:prstGeom>
            <a:solidFill>
              <a:schemeClr val="bg1"/>
            </a:solidFill>
            <a:ln w="25400">
              <a:solidFill>
                <a:schemeClr val="accent3"/>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4254" name="Rounded Rectangle 4253">
              <a:extLst>
                <a:ext uri="{FF2B5EF4-FFF2-40B4-BE49-F238E27FC236}">
                  <a16:creationId xmlns:a16="http://schemas.microsoft.com/office/drawing/2014/main" id="{09CA4BF1-BE1D-DDCF-8CCD-D56F7BCB3EB6}"/>
                </a:ext>
              </a:extLst>
            </p:cNvPr>
            <p:cNvSpPr/>
            <p:nvPr/>
          </p:nvSpPr>
          <p:spPr bwMode="gray">
            <a:xfrm>
              <a:off x="8860449" y="3000587"/>
              <a:ext cx="2602467" cy="487587"/>
            </a:xfrm>
            <a:prstGeom prst="roundRect">
              <a:avLst/>
            </a:prstGeom>
            <a:solidFill>
              <a:schemeClr val="bg1"/>
            </a:solidFill>
            <a:ln w="25400">
              <a:solidFill>
                <a:schemeClr val="accent3"/>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4256" name="Rounded Rectangle 4255">
              <a:extLst>
                <a:ext uri="{FF2B5EF4-FFF2-40B4-BE49-F238E27FC236}">
                  <a16:creationId xmlns:a16="http://schemas.microsoft.com/office/drawing/2014/main" id="{E6BEAA9A-139D-AE7B-FC9C-BE2F06D48421}"/>
                </a:ext>
              </a:extLst>
            </p:cNvPr>
            <p:cNvSpPr/>
            <p:nvPr/>
          </p:nvSpPr>
          <p:spPr bwMode="gray">
            <a:xfrm>
              <a:off x="8862807" y="3606849"/>
              <a:ext cx="2602467" cy="487587"/>
            </a:xfrm>
            <a:prstGeom prst="roundRect">
              <a:avLst/>
            </a:prstGeom>
            <a:solidFill>
              <a:schemeClr val="bg1"/>
            </a:solidFill>
            <a:ln w="25400">
              <a:solidFill>
                <a:schemeClr val="accent3"/>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4258" name="Rounded Rectangle 4257">
              <a:extLst>
                <a:ext uri="{FF2B5EF4-FFF2-40B4-BE49-F238E27FC236}">
                  <a16:creationId xmlns:a16="http://schemas.microsoft.com/office/drawing/2014/main" id="{E4F5DEC1-65F5-69E3-18B4-B3F97432FC75}"/>
                </a:ext>
              </a:extLst>
            </p:cNvPr>
            <p:cNvSpPr/>
            <p:nvPr/>
          </p:nvSpPr>
          <p:spPr bwMode="gray">
            <a:xfrm>
              <a:off x="8860449" y="4203229"/>
              <a:ext cx="2602467" cy="487587"/>
            </a:xfrm>
            <a:prstGeom prst="roundRect">
              <a:avLst/>
            </a:prstGeom>
            <a:solidFill>
              <a:schemeClr val="bg1"/>
            </a:solidFill>
            <a:ln w="25400">
              <a:solidFill>
                <a:schemeClr val="accent3"/>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4259" name="Google Shape;4304;p38">
              <a:extLst>
                <a:ext uri="{FF2B5EF4-FFF2-40B4-BE49-F238E27FC236}">
                  <a16:creationId xmlns:a16="http://schemas.microsoft.com/office/drawing/2014/main" id="{51F30FA4-7467-F873-D211-7F9C427D498D}"/>
                </a:ext>
              </a:extLst>
            </p:cNvPr>
            <p:cNvSpPr txBox="1"/>
            <p:nvPr/>
          </p:nvSpPr>
          <p:spPr>
            <a:xfrm>
              <a:off x="9267440" y="3141638"/>
              <a:ext cx="1720600" cy="21544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2"/>
                  </a:solidFill>
                  <a:latin typeface="Arial"/>
                  <a:ea typeface="Arial"/>
                  <a:cs typeface="Arial"/>
                  <a:sym typeface="Arial"/>
                </a:rPr>
                <a:t>Add a new cluster</a:t>
              </a:r>
              <a:endParaRPr sz="1400" b="0" i="0" u="none" strike="noStrike" cap="none">
                <a:solidFill>
                  <a:srgbClr val="000000"/>
                </a:solidFill>
                <a:latin typeface="Arial"/>
                <a:ea typeface="Arial"/>
                <a:cs typeface="Arial"/>
                <a:sym typeface="Arial"/>
              </a:endParaRPr>
            </a:p>
          </p:txBody>
        </p:sp>
        <p:sp>
          <p:nvSpPr>
            <p:cNvPr id="4260" name="Google Shape;4305;p38">
              <a:extLst>
                <a:ext uri="{FF2B5EF4-FFF2-40B4-BE49-F238E27FC236}">
                  <a16:creationId xmlns:a16="http://schemas.microsoft.com/office/drawing/2014/main" id="{581EC61F-3600-E3BC-22BE-04D614C6CFD6}"/>
                </a:ext>
              </a:extLst>
            </p:cNvPr>
            <p:cNvSpPr txBox="1"/>
            <p:nvPr/>
          </p:nvSpPr>
          <p:spPr>
            <a:xfrm>
              <a:off x="9198860" y="2544672"/>
              <a:ext cx="1857760" cy="21544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dk2"/>
                  </a:solidFill>
                  <a:latin typeface="Arial"/>
                  <a:ea typeface="Arial"/>
                  <a:cs typeface="Arial"/>
                  <a:sym typeface="Arial"/>
                </a:rPr>
                <a:t>Expand a cluster</a:t>
              </a:r>
              <a:endParaRPr sz="1400" b="0" i="0" u="none" strike="noStrike" cap="none" dirty="0">
                <a:solidFill>
                  <a:srgbClr val="000000"/>
                </a:solidFill>
                <a:latin typeface="Arial"/>
                <a:ea typeface="Arial"/>
                <a:cs typeface="Arial"/>
                <a:sym typeface="Arial"/>
              </a:endParaRPr>
            </a:p>
          </p:txBody>
        </p:sp>
        <p:sp>
          <p:nvSpPr>
            <p:cNvPr id="4261" name="Google Shape;4297;p38">
              <a:extLst>
                <a:ext uri="{FF2B5EF4-FFF2-40B4-BE49-F238E27FC236}">
                  <a16:creationId xmlns:a16="http://schemas.microsoft.com/office/drawing/2014/main" id="{1549CA09-F634-FEB2-2374-F59BD1A271F8}"/>
                </a:ext>
              </a:extLst>
            </p:cNvPr>
            <p:cNvSpPr txBox="1"/>
            <p:nvPr/>
          </p:nvSpPr>
          <p:spPr>
            <a:xfrm>
              <a:off x="8860449" y="3745709"/>
              <a:ext cx="2602467" cy="21544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dk2"/>
                  </a:solidFill>
                  <a:latin typeface="Arial"/>
                  <a:ea typeface="Arial"/>
                  <a:cs typeface="Arial"/>
                  <a:sym typeface="Arial"/>
                </a:rPr>
                <a:t>Create a new NSX Edge</a:t>
              </a:r>
              <a:endParaRPr sz="1400" b="0" i="0" u="none" strike="noStrike" cap="none" dirty="0">
                <a:solidFill>
                  <a:srgbClr val="000000"/>
                </a:solidFill>
                <a:latin typeface="Arial"/>
                <a:ea typeface="Arial"/>
                <a:cs typeface="Arial"/>
                <a:sym typeface="Arial"/>
              </a:endParaRPr>
            </a:p>
          </p:txBody>
        </p:sp>
        <p:sp>
          <p:nvSpPr>
            <p:cNvPr id="4262" name="Google Shape;4300;p38">
              <a:extLst>
                <a:ext uri="{FF2B5EF4-FFF2-40B4-BE49-F238E27FC236}">
                  <a16:creationId xmlns:a16="http://schemas.microsoft.com/office/drawing/2014/main" id="{D33FD550-79DD-2033-9279-CED83757027F}"/>
                </a:ext>
              </a:extLst>
            </p:cNvPr>
            <p:cNvSpPr txBox="1"/>
            <p:nvPr/>
          </p:nvSpPr>
          <p:spPr>
            <a:xfrm>
              <a:off x="9025246" y="4240578"/>
              <a:ext cx="2280063" cy="43088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dk2"/>
                  </a:solidFill>
                  <a:latin typeface="Arial"/>
                  <a:ea typeface="Arial"/>
                  <a:cs typeface="Arial"/>
                  <a:sym typeface="Arial"/>
                </a:rPr>
                <a:t>Create a new workload domain</a:t>
              </a:r>
              <a:endParaRPr sz="1400" b="0" i="0" u="none" strike="noStrike" cap="none" dirty="0">
                <a:solidFill>
                  <a:srgbClr val="000000"/>
                </a:solidFill>
                <a:highlight>
                  <a:srgbClr val="FFFF00"/>
                </a:highlight>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
                                  </p:stCondLst>
                                  <p:childTnLst>
                                    <p:set>
                                      <p:cBhvr>
                                        <p:cTn id="6" dur="1" fill="hold">
                                          <p:stCondLst>
                                            <p:cond delay="0"/>
                                          </p:stCondLst>
                                        </p:cTn>
                                        <p:tgtEl>
                                          <p:spTgt spid="4283"/>
                                        </p:tgtEl>
                                        <p:attrNameLst>
                                          <p:attrName>style.visibility</p:attrName>
                                        </p:attrNameLst>
                                      </p:cBhvr>
                                      <p:to>
                                        <p:strVal val="visible"/>
                                      </p:to>
                                    </p:set>
                                    <p:animEffect transition="in" filter="fade">
                                      <p:cBhvr>
                                        <p:cTn id="7" dur="200"/>
                                        <p:tgtEl>
                                          <p:spTgt spid="4283"/>
                                        </p:tgtEl>
                                      </p:cBhvr>
                                    </p:animEffect>
                                  </p:childTnLst>
                                </p:cTn>
                              </p:par>
                            </p:childTnLst>
                          </p:cTn>
                        </p:par>
                        <p:par>
                          <p:cTn id="8" fill="hold">
                            <p:stCondLst>
                              <p:cond delay="210"/>
                            </p:stCondLst>
                            <p:childTnLst>
                              <p:par>
                                <p:cTn id="9" presetID="9" presetClass="entr" presetSubtype="0" fill="hold" nodeType="afterEffect">
                                  <p:stCondLst>
                                    <p:cond delay="0"/>
                                  </p:stCondLst>
                                  <p:childTnLst>
                                    <p:set>
                                      <p:cBhvr>
                                        <p:cTn id="10" dur="1" fill="hold">
                                          <p:stCondLst>
                                            <p:cond delay="0"/>
                                          </p:stCondLst>
                                        </p:cTn>
                                        <p:tgtEl>
                                          <p:spTgt spid="4263"/>
                                        </p:tgtEl>
                                        <p:attrNameLst>
                                          <p:attrName>style.visibility</p:attrName>
                                        </p:attrNameLst>
                                      </p:cBhvr>
                                      <p:to>
                                        <p:strVal val="visible"/>
                                      </p:to>
                                    </p:set>
                                    <p:animEffect transition="in" filter="dissolve">
                                      <p:cBhvr>
                                        <p:cTn id="11" dur="500"/>
                                        <p:tgtEl>
                                          <p:spTgt spid="4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F12EB-449B-4EE0-35B5-B4ACD5376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388C3-9345-51A8-F80F-75731A2542C3}"/>
              </a:ext>
            </a:extLst>
          </p:cNvPr>
          <p:cNvSpPr>
            <a:spLocks noGrp="1"/>
          </p:cNvSpPr>
          <p:nvPr>
            <p:ph type="title"/>
          </p:nvPr>
        </p:nvSpPr>
        <p:spPr/>
        <p:txBody>
          <a:bodyPr/>
          <a:lstStyle/>
          <a:p>
            <a:r>
              <a:rPr lang="en-US" dirty="0"/>
              <a:t>Easily Scale Private Cloud Infrastructure</a:t>
            </a:r>
          </a:p>
        </p:txBody>
      </p:sp>
      <p:sp>
        <p:nvSpPr>
          <p:cNvPr id="3" name="Subtitle 2">
            <a:extLst>
              <a:ext uri="{FF2B5EF4-FFF2-40B4-BE49-F238E27FC236}">
                <a16:creationId xmlns:a16="http://schemas.microsoft.com/office/drawing/2014/main" id="{509B2482-BC86-839C-E7BE-9EF9914A5A94}"/>
              </a:ext>
            </a:extLst>
          </p:cNvPr>
          <p:cNvSpPr>
            <a:spLocks noGrp="1"/>
          </p:cNvSpPr>
          <p:nvPr>
            <p:ph type="subTitle" idx="10"/>
          </p:nvPr>
        </p:nvSpPr>
        <p:spPr/>
        <p:txBody>
          <a:bodyPr/>
          <a:lstStyle/>
          <a:p>
            <a:r>
              <a:rPr lang="en-US" dirty="0"/>
              <a:t>Host Commissioning, Adding Clusters and Creating Workload Domains</a:t>
            </a:r>
          </a:p>
        </p:txBody>
      </p:sp>
      <p:sp>
        <p:nvSpPr>
          <p:cNvPr id="4" name="Text Placeholder 3">
            <a:extLst>
              <a:ext uri="{FF2B5EF4-FFF2-40B4-BE49-F238E27FC236}">
                <a16:creationId xmlns:a16="http://schemas.microsoft.com/office/drawing/2014/main" id="{B492C94A-3E00-3221-5B0D-7201977A8926}"/>
              </a:ext>
            </a:extLst>
          </p:cNvPr>
          <p:cNvSpPr>
            <a:spLocks noGrp="1"/>
          </p:cNvSpPr>
          <p:nvPr>
            <p:ph type="body" sz="quarter" idx="17"/>
          </p:nvPr>
        </p:nvSpPr>
        <p:spPr/>
        <p:txBody>
          <a:bodyPr/>
          <a:lstStyle/>
          <a:p>
            <a:pPr lvl="0"/>
            <a:r>
              <a:rPr lang="en-US" sz="1500" dirty="0">
                <a:latin typeface="Arial" panose="020B0604020202020204" pitchFamily="34" charset="0"/>
                <a:cs typeface="Arial" panose="020B0604020202020204" pitchFamily="34" charset="0"/>
              </a:rPr>
              <a:t>Use the familiar </a:t>
            </a:r>
            <a:r>
              <a:rPr lang="en-US" sz="1500" b="1" dirty="0"/>
              <a:t>vSphere client </a:t>
            </a:r>
            <a:r>
              <a:rPr lang="en-US" dirty="0"/>
              <a:t>to scale your private cloud</a:t>
            </a:r>
          </a:p>
          <a:p>
            <a:pPr lvl="1"/>
            <a:r>
              <a:rPr lang="en-US" dirty="0"/>
              <a:t>Commission hosts in bulk or individually to the Inventory</a:t>
            </a:r>
          </a:p>
          <a:p>
            <a:pPr lvl="1"/>
            <a:r>
              <a:rPr lang="en-US" dirty="0"/>
              <a:t>Network Pools configured for </a:t>
            </a:r>
            <a:r>
              <a:rPr lang="en-US" dirty="0" err="1"/>
              <a:t>vMotion</a:t>
            </a:r>
            <a:r>
              <a:rPr lang="en-US" dirty="0"/>
              <a:t> and Storage</a:t>
            </a:r>
          </a:p>
          <a:p>
            <a:pPr lvl="1"/>
            <a:r>
              <a:rPr lang="en-US" dirty="0"/>
              <a:t>Add unassigned hosts to new clusters or scale existing clusters</a:t>
            </a:r>
          </a:p>
          <a:p>
            <a:pPr lvl="0"/>
            <a:r>
              <a:rPr lang="en-US" dirty="0"/>
              <a:t>Create new workload domains using </a:t>
            </a:r>
            <a:r>
              <a:rPr lang="en-US" sz="1500" b="1" dirty="0"/>
              <a:t>VCF Operations </a:t>
            </a:r>
            <a:endParaRPr lang="en-US" dirty="0"/>
          </a:p>
          <a:p>
            <a:pPr lvl="0"/>
            <a:r>
              <a:rPr lang="en-US" dirty="0"/>
              <a:t>Continue using SDDC Manager for Day N workflows</a:t>
            </a:r>
          </a:p>
          <a:p>
            <a:endParaRPr lang="en-US" dirty="0"/>
          </a:p>
        </p:txBody>
      </p:sp>
      <p:sp>
        <p:nvSpPr>
          <p:cNvPr id="125" name="Google Shape;1591;p10">
            <a:extLst>
              <a:ext uri="{FF2B5EF4-FFF2-40B4-BE49-F238E27FC236}">
                <a16:creationId xmlns:a16="http://schemas.microsoft.com/office/drawing/2014/main" id="{CB0327A2-9899-46FA-C516-24FB78550857}"/>
              </a:ext>
            </a:extLst>
          </p:cNvPr>
          <p:cNvSpPr/>
          <p:nvPr/>
        </p:nvSpPr>
        <p:spPr>
          <a:xfrm>
            <a:off x="6479" y="1572369"/>
            <a:ext cx="8133399" cy="4612079"/>
          </a:xfrm>
          <a:prstGeom prst="roundRect">
            <a:avLst>
              <a:gd name="adj" fmla="val 0"/>
            </a:avLst>
          </a:prstGeom>
          <a:solidFill>
            <a:srgbClr val="F4F8FA"/>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000"/>
              <a:buFont typeface="Arial"/>
              <a:buNone/>
              <a:tabLst/>
              <a:defRPr/>
            </a:pP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126" name="Google Shape;1592;p10">
            <a:extLst>
              <a:ext uri="{FF2B5EF4-FFF2-40B4-BE49-F238E27FC236}">
                <a16:creationId xmlns:a16="http://schemas.microsoft.com/office/drawing/2014/main" id="{79740F7E-38B7-8293-786B-7A4DC038FED4}"/>
              </a:ext>
            </a:extLst>
          </p:cNvPr>
          <p:cNvSpPr/>
          <p:nvPr/>
        </p:nvSpPr>
        <p:spPr>
          <a:xfrm>
            <a:off x="600834" y="1740170"/>
            <a:ext cx="7460600" cy="4295951"/>
          </a:xfrm>
          <a:prstGeom prst="roundRect">
            <a:avLst>
              <a:gd name="adj" fmla="val 2790"/>
            </a:avLst>
          </a:prstGeom>
          <a:solidFill>
            <a:schemeClr val="lt1"/>
          </a:solid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200" b="0" i="0" u="none" strike="noStrike" kern="1200" cap="none" spc="0" normalizeH="0" baseline="0" noProof="0">
                <a:ln>
                  <a:noFill/>
                </a:ln>
                <a:solidFill>
                  <a:srgbClr val="FFFFFF"/>
                </a:solidFill>
                <a:effectLst/>
                <a:uLnTx/>
                <a:uFillTx/>
                <a:latin typeface="Arial"/>
                <a:ea typeface="Arial"/>
                <a:cs typeface="Arial"/>
                <a:sym typeface="Arial"/>
              </a:rPr>
              <a:t>V\</a:t>
            </a: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27" name="Google Shape;1593;p10">
            <a:extLst>
              <a:ext uri="{FF2B5EF4-FFF2-40B4-BE49-F238E27FC236}">
                <a16:creationId xmlns:a16="http://schemas.microsoft.com/office/drawing/2014/main" id="{5E3C7EB8-9622-3937-EDCB-2E9EE3A34203}"/>
              </a:ext>
            </a:extLst>
          </p:cNvPr>
          <p:cNvSpPr/>
          <p:nvPr/>
        </p:nvSpPr>
        <p:spPr>
          <a:xfrm rot="-5400000">
            <a:off x="1957685" y="3181313"/>
            <a:ext cx="1889990" cy="440790"/>
          </a:xfrm>
          <a:prstGeom prst="triangle">
            <a:avLst>
              <a:gd name="adj" fmla="val 47478"/>
            </a:avLst>
          </a:prstGeom>
          <a:gradFill>
            <a:gsLst>
              <a:gs pos="0">
                <a:srgbClr val="005C8A">
                  <a:alpha val="23529"/>
                </a:srgbClr>
              </a:gs>
              <a:gs pos="100000">
                <a:srgbClr val="FFFFFF">
                  <a:alpha val="0"/>
                </a:srgbClr>
              </a:gs>
            </a:gsLst>
            <a:lin ang="1620000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28" name="Google Shape;1594;p10">
            <a:extLst>
              <a:ext uri="{FF2B5EF4-FFF2-40B4-BE49-F238E27FC236}">
                <a16:creationId xmlns:a16="http://schemas.microsoft.com/office/drawing/2014/main" id="{290946D4-E412-1F8F-BFB7-F9597ABDCC1A}"/>
              </a:ext>
            </a:extLst>
          </p:cNvPr>
          <p:cNvSpPr/>
          <p:nvPr/>
        </p:nvSpPr>
        <p:spPr>
          <a:xfrm rot="10800000">
            <a:off x="3197906" y="4419598"/>
            <a:ext cx="2147165" cy="434504"/>
          </a:xfrm>
          <a:prstGeom prst="triangle">
            <a:avLst>
              <a:gd name="adj" fmla="val 49181"/>
            </a:avLst>
          </a:prstGeom>
          <a:gradFill>
            <a:gsLst>
              <a:gs pos="0">
                <a:srgbClr val="005C8A">
                  <a:alpha val="8235"/>
                </a:srgbClr>
              </a:gs>
              <a:gs pos="22000">
                <a:srgbClr val="005C8A">
                  <a:alpha val="8235"/>
                </a:srgbClr>
              </a:gs>
              <a:gs pos="71000">
                <a:srgbClr val="005C8A">
                  <a:alpha val="23529"/>
                </a:srgbClr>
              </a:gs>
              <a:gs pos="100000">
                <a:srgbClr val="005C8A">
                  <a:alpha val="23529"/>
                </a:srgbClr>
              </a:gs>
            </a:gsLst>
            <a:lin ang="1620000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129" name="Google Shape;1595;p10">
            <a:extLst>
              <a:ext uri="{FF2B5EF4-FFF2-40B4-BE49-F238E27FC236}">
                <a16:creationId xmlns:a16="http://schemas.microsoft.com/office/drawing/2014/main" id="{2635BB6F-5369-C048-EC9F-27A65CE715C8}"/>
              </a:ext>
            </a:extLst>
          </p:cNvPr>
          <p:cNvPicPr preferRelativeResize="0"/>
          <p:nvPr/>
        </p:nvPicPr>
        <p:blipFill rotWithShape="1">
          <a:blip r:embed="rId3">
            <a:alphaModFix/>
          </a:blip>
          <a:srcRect l="6724" t="67309" r="8271" b="3743"/>
          <a:stretch/>
        </p:blipFill>
        <p:spPr>
          <a:xfrm>
            <a:off x="3383504" y="5472373"/>
            <a:ext cx="592030" cy="201601"/>
          </a:xfrm>
          <a:prstGeom prst="rect">
            <a:avLst/>
          </a:prstGeom>
          <a:noFill/>
          <a:ln>
            <a:noFill/>
          </a:ln>
        </p:spPr>
      </p:pic>
      <p:pic>
        <p:nvPicPr>
          <p:cNvPr id="130" name="Google Shape;1596;p10">
            <a:extLst>
              <a:ext uri="{FF2B5EF4-FFF2-40B4-BE49-F238E27FC236}">
                <a16:creationId xmlns:a16="http://schemas.microsoft.com/office/drawing/2014/main" id="{AC09018F-24FC-ABDF-87D5-CC56F6EAA930}"/>
              </a:ext>
            </a:extLst>
          </p:cNvPr>
          <p:cNvPicPr preferRelativeResize="0"/>
          <p:nvPr/>
        </p:nvPicPr>
        <p:blipFill rotWithShape="1">
          <a:blip r:embed="rId3">
            <a:alphaModFix/>
          </a:blip>
          <a:srcRect l="6724" t="67309" r="8271" b="3743"/>
          <a:stretch/>
        </p:blipFill>
        <p:spPr>
          <a:xfrm>
            <a:off x="3978589" y="5472373"/>
            <a:ext cx="592030" cy="201601"/>
          </a:xfrm>
          <a:prstGeom prst="rect">
            <a:avLst/>
          </a:prstGeom>
          <a:noFill/>
          <a:ln>
            <a:noFill/>
          </a:ln>
        </p:spPr>
      </p:pic>
      <p:pic>
        <p:nvPicPr>
          <p:cNvPr id="131" name="Google Shape;1597;p10">
            <a:extLst>
              <a:ext uri="{FF2B5EF4-FFF2-40B4-BE49-F238E27FC236}">
                <a16:creationId xmlns:a16="http://schemas.microsoft.com/office/drawing/2014/main" id="{87088229-197B-4B50-93E4-80D45D7EDD3E}"/>
              </a:ext>
            </a:extLst>
          </p:cNvPr>
          <p:cNvPicPr preferRelativeResize="0"/>
          <p:nvPr/>
        </p:nvPicPr>
        <p:blipFill rotWithShape="1">
          <a:blip r:embed="rId3">
            <a:alphaModFix/>
          </a:blip>
          <a:srcRect l="6724" t="67309" r="8271" b="3743"/>
          <a:stretch/>
        </p:blipFill>
        <p:spPr>
          <a:xfrm>
            <a:off x="4580874" y="5472373"/>
            <a:ext cx="592030" cy="201601"/>
          </a:xfrm>
          <a:prstGeom prst="rect">
            <a:avLst/>
          </a:prstGeom>
          <a:noFill/>
          <a:ln>
            <a:noFill/>
          </a:ln>
        </p:spPr>
      </p:pic>
      <p:grpSp>
        <p:nvGrpSpPr>
          <p:cNvPr id="132" name="Google Shape;1598;p10">
            <a:extLst>
              <a:ext uri="{FF2B5EF4-FFF2-40B4-BE49-F238E27FC236}">
                <a16:creationId xmlns:a16="http://schemas.microsoft.com/office/drawing/2014/main" id="{4E27E002-AEB2-5608-C2D7-93022A66CA36}"/>
              </a:ext>
            </a:extLst>
          </p:cNvPr>
          <p:cNvGrpSpPr/>
          <p:nvPr/>
        </p:nvGrpSpPr>
        <p:grpSpPr>
          <a:xfrm>
            <a:off x="3124160" y="2307409"/>
            <a:ext cx="2279733" cy="2115978"/>
            <a:chOff x="3003951" y="1845764"/>
            <a:chExt cx="2279733" cy="2115978"/>
          </a:xfrm>
        </p:grpSpPr>
        <p:sp>
          <p:nvSpPr>
            <p:cNvPr id="133" name="Google Shape;1599;p10">
              <a:extLst>
                <a:ext uri="{FF2B5EF4-FFF2-40B4-BE49-F238E27FC236}">
                  <a16:creationId xmlns:a16="http://schemas.microsoft.com/office/drawing/2014/main" id="{42072B9C-AD44-FC08-D673-BA740347C262}"/>
                </a:ext>
              </a:extLst>
            </p:cNvPr>
            <p:cNvSpPr/>
            <p:nvPr/>
          </p:nvSpPr>
          <p:spPr>
            <a:xfrm>
              <a:off x="3003951" y="1845764"/>
              <a:ext cx="2279733" cy="2115978"/>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34" name="Google Shape;1600;p10">
              <a:extLst>
                <a:ext uri="{FF2B5EF4-FFF2-40B4-BE49-F238E27FC236}">
                  <a16:creationId xmlns:a16="http://schemas.microsoft.com/office/drawing/2014/main" id="{ADEB327B-1BF3-E2A7-EA30-4E59CCA02901}"/>
                </a:ext>
              </a:extLst>
            </p:cNvPr>
            <p:cNvSpPr/>
            <p:nvPr/>
          </p:nvSpPr>
          <p:spPr>
            <a:xfrm>
              <a:off x="3069009" y="3238902"/>
              <a:ext cx="2139742" cy="632716"/>
            </a:xfrm>
            <a:prstGeom prst="roundRect">
              <a:avLst>
                <a:gd name="adj" fmla="val 6349"/>
              </a:avLst>
            </a:prstGeom>
            <a:noFill/>
            <a:ln w="254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35" name="Google Shape;1601;p10">
              <a:extLst>
                <a:ext uri="{FF2B5EF4-FFF2-40B4-BE49-F238E27FC236}">
                  <a16:creationId xmlns:a16="http://schemas.microsoft.com/office/drawing/2014/main" id="{1697EC36-A2EF-4432-15FC-BFCFC1854F7F}"/>
                </a:ext>
              </a:extLst>
            </p:cNvPr>
            <p:cNvGrpSpPr/>
            <p:nvPr/>
          </p:nvGrpSpPr>
          <p:grpSpPr>
            <a:xfrm>
              <a:off x="4677699" y="3434087"/>
              <a:ext cx="364758" cy="364756"/>
              <a:chOff x="10722212" y="2729558"/>
              <a:chExt cx="663407" cy="663407"/>
            </a:xfrm>
          </p:grpSpPr>
          <p:sp>
            <p:nvSpPr>
              <p:cNvPr id="152" name="Google Shape;1602;p10">
                <a:extLst>
                  <a:ext uri="{FF2B5EF4-FFF2-40B4-BE49-F238E27FC236}">
                    <a16:creationId xmlns:a16="http://schemas.microsoft.com/office/drawing/2014/main" id="{01E55065-2494-E5B8-D2C7-081375820315}"/>
                  </a:ext>
                </a:extLst>
              </p:cNvPr>
              <p:cNvSpPr/>
              <p:nvPr/>
            </p:nvSpPr>
            <p:spPr>
              <a:xfrm>
                <a:off x="10722212" y="272955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53" name="Google Shape;1603;p10">
                <a:extLst>
                  <a:ext uri="{FF2B5EF4-FFF2-40B4-BE49-F238E27FC236}">
                    <a16:creationId xmlns:a16="http://schemas.microsoft.com/office/drawing/2014/main" id="{394C48BC-C589-DA3F-BD47-3FF5E754B4F6}"/>
                  </a:ext>
                </a:extLst>
              </p:cNvPr>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36" name="Google Shape;1604;p10">
              <a:extLst>
                <a:ext uri="{FF2B5EF4-FFF2-40B4-BE49-F238E27FC236}">
                  <a16:creationId xmlns:a16="http://schemas.microsoft.com/office/drawing/2014/main" id="{B717714A-04EF-A264-3BDF-8C35885B9E08}"/>
                </a:ext>
              </a:extLst>
            </p:cNvPr>
            <p:cNvGrpSpPr/>
            <p:nvPr/>
          </p:nvGrpSpPr>
          <p:grpSpPr>
            <a:xfrm>
              <a:off x="3202824" y="3433934"/>
              <a:ext cx="364758" cy="364756"/>
              <a:chOff x="572541" y="5475121"/>
              <a:chExt cx="663407" cy="663407"/>
            </a:xfrm>
          </p:grpSpPr>
          <p:sp>
            <p:nvSpPr>
              <p:cNvPr id="150" name="Google Shape;1605;p10">
                <a:extLst>
                  <a:ext uri="{FF2B5EF4-FFF2-40B4-BE49-F238E27FC236}">
                    <a16:creationId xmlns:a16="http://schemas.microsoft.com/office/drawing/2014/main" id="{AF503D98-BD8E-0706-B70F-45EE7984E781}"/>
                  </a:ext>
                </a:extLst>
              </p:cNvPr>
              <p:cNvSpPr/>
              <p:nvPr/>
            </p:nvSpPr>
            <p:spPr>
              <a:xfrm>
                <a:off x="572541" y="547512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51" name="Google Shape;1606;p10">
                <a:extLst>
                  <a:ext uri="{FF2B5EF4-FFF2-40B4-BE49-F238E27FC236}">
                    <a16:creationId xmlns:a16="http://schemas.microsoft.com/office/drawing/2014/main" id="{AAC32503-2082-2773-04BA-FDD04E34A1A9}"/>
                  </a:ext>
                </a:extLst>
              </p:cNvPr>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37" name="Google Shape;1607;p10">
              <a:extLst>
                <a:ext uri="{FF2B5EF4-FFF2-40B4-BE49-F238E27FC236}">
                  <a16:creationId xmlns:a16="http://schemas.microsoft.com/office/drawing/2014/main" id="{814A7517-1CE2-0049-5145-A98285939735}"/>
                </a:ext>
              </a:extLst>
            </p:cNvPr>
            <p:cNvGrpSpPr/>
            <p:nvPr/>
          </p:nvGrpSpPr>
          <p:grpSpPr>
            <a:xfrm>
              <a:off x="3934990" y="3433935"/>
              <a:ext cx="364758" cy="364756"/>
              <a:chOff x="9272259" y="5475121"/>
              <a:chExt cx="663407" cy="663407"/>
            </a:xfrm>
          </p:grpSpPr>
          <p:sp>
            <p:nvSpPr>
              <p:cNvPr id="148" name="Google Shape;1608;p10">
                <a:extLst>
                  <a:ext uri="{FF2B5EF4-FFF2-40B4-BE49-F238E27FC236}">
                    <a16:creationId xmlns:a16="http://schemas.microsoft.com/office/drawing/2014/main" id="{CBFDCD03-4147-4168-0D7F-60C609208FC3}"/>
                  </a:ext>
                </a:extLst>
              </p:cNvPr>
              <p:cNvSpPr/>
              <p:nvPr/>
            </p:nvSpPr>
            <p:spPr>
              <a:xfrm>
                <a:off x="9272259" y="5475121"/>
                <a:ext cx="663407" cy="663407"/>
              </a:xfrm>
              <a:prstGeom prst="ellipse">
                <a:avLst/>
              </a:prstGeom>
              <a:gradFill>
                <a:gsLst>
                  <a:gs pos="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49" name="Google Shape;1609;p10">
                <a:extLst>
                  <a:ext uri="{FF2B5EF4-FFF2-40B4-BE49-F238E27FC236}">
                    <a16:creationId xmlns:a16="http://schemas.microsoft.com/office/drawing/2014/main" id="{37E9E4AE-1C96-552F-31F1-B9D2BD41C3DD}"/>
                  </a:ext>
                </a:extLst>
              </p:cNvPr>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138" name="Google Shape;1610;p10">
              <a:extLst>
                <a:ext uri="{FF2B5EF4-FFF2-40B4-BE49-F238E27FC236}">
                  <a16:creationId xmlns:a16="http://schemas.microsoft.com/office/drawing/2014/main" id="{FB8DE5CC-2F0B-7DD6-C0AD-8F0B3FC6F7FD}"/>
                </a:ext>
              </a:extLst>
            </p:cNvPr>
            <p:cNvSpPr/>
            <p:nvPr/>
          </p:nvSpPr>
          <p:spPr>
            <a:xfrm>
              <a:off x="3074441" y="2953244"/>
              <a:ext cx="1019238" cy="207491"/>
            </a:xfrm>
            <a:prstGeom prst="roundRect">
              <a:avLst>
                <a:gd name="adj" fmla="val 6349"/>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650" b="1" i="0" u="none" strike="noStrike" kern="1200" cap="none" spc="0" normalizeH="0" baseline="0" noProof="0">
                  <a:ln>
                    <a:noFill/>
                  </a:ln>
                  <a:solidFill>
                    <a:srgbClr val="FFFFFF"/>
                  </a:solidFill>
                  <a:effectLst/>
                  <a:uLnTx/>
                  <a:uFillTx/>
                  <a:latin typeface="Arial"/>
                  <a:ea typeface="Arial"/>
                  <a:cs typeface="Arial"/>
                  <a:sym typeface="Arial"/>
                </a:rPr>
                <a:t>vCenter Server</a:t>
              </a:r>
              <a:endParaRPr kumimoji="0" sz="65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39" name="Google Shape;1611;p10">
              <a:extLst>
                <a:ext uri="{FF2B5EF4-FFF2-40B4-BE49-F238E27FC236}">
                  <a16:creationId xmlns:a16="http://schemas.microsoft.com/office/drawing/2014/main" id="{B471C1F8-1881-2DFE-EE41-E762E9CF9B79}"/>
                </a:ext>
              </a:extLst>
            </p:cNvPr>
            <p:cNvSpPr txBox="1"/>
            <p:nvPr/>
          </p:nvSpPr>
          <p:spPr>
            <a:xfrm>
              <a:off x="3651583" y="3269420"/>
              <a:ext cx="970536" cy="128854"/>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5C8A"/>
                </a:buClr>
                <a:buSzPts val="650"/>
                <a:buFont typeface="Arial"/>
                <a:buNone/>
                <a:tabLst/>
                <a:defRPr/>
              </a:pPr>
              <a:r>
                <a:rPr kumimoji="0" lang="en-US" sz="650" b="1" i="0" u="none" strike="noStrike" kern="1200" cap="none" spc="0" normalizeH="0" baseline="0" noProof="0">
                  <a:ln>
                    <a:noFill/>
                  </a:ln>
                  <a:solidFill>
                    <a:srgbClr val="005C8A"/>
                  </a:solidFill>
                  <a:effectLst/>
                  <a:uLnTx/>
                  <a:uFillTx/>
                  <a:latin typeface="Arial"/>
                  <a:ea typeface="Arial"/>
                  <a:cs typeface="Arial"/>
                  <a:sym typeface="Arial"/>
                </a:rPr>
                <a:t>Core Infrastructure</a:t>
              </a: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140" name="Google Shape;1612;p10">
              <a:extLst>
                <a:ext uri="{FF2B5EF4-FFF2-40B4-BE49-F238E27FC236}">
                  <a16:creationId xmlns:a16="http://schemas.microsoft.com/office/drawing/2014/main" id="{E6789EA4-0D30-060C-0081-176065EC0430}"/>
                </a:ext>
              </a:extLst>
            </p:cNvPr>
            <p:cNvSpPr/>
            <p:nvPr/>
          </p:nvSpPr>
          <p:spPr>
            <a:xfrm>
              <a:off x="4164168" y="2950864"/>
              <a:ext cx="1052005" cy="207491"/>
            </a:xfrm>
            <a:prstGeom prst="roundRect">
              <a:avLst>
                <a:gd name="adj" fmla="val 6349"/>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650" b="1" i="0" u="none" strike="noStrike" kern="1200" cap="none" spc="0" normalizeH="0" baseline="0" noProof="0">
                  <a:ln>
                    <a:noFill/>
                  </a:ln>
                  <a:solidFill>
                    <a:srgbClr val="FFFFFF"/>
                  </a:solidFill>
                  <a:effectLst/>
                  <a:uLnTx/>
                  <a:uFillTx/>
                  <a:latin typeface="Arial"/>
                  <a:ea typeface="Arial"/>
                  <a:cs typeface="Arial"/>
                  <a:sym typeface="Arial"/>
                </a:rPr>
                <a:t>NSX Manager</a:t>
              </a:r>
              <a:endParaRPr kumimoji="0" sz="650" b="1"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41" name="Google Shape;1613;p10">
              <a:extLst>
                <a:ext uri="{FF2B5EF4-FFF2-40B4-BE49-F238E27FC236}">
                  <a16:creationId xmlns:a16="http://schemas.microsoft.com/office/drawing/2014/main" id="{1CE10164-BE77-EA0A-6D70-4C4D438B9E8A}"/>
                </a:ext>
              </a:extLst>
            </p:cNvPr>
            <p:cNvGrpSpPr/>
            <p:nvPr/>
          </p:nvGrpSpPr>
          <p:grpSpPr>
            <a:xfrm>
              <a:off x="3073946" y="1933581"/>
              <a:ext cx="2142229" cy="775747"/>
              <a:chOff x="3073946" y="1933581"/>
              <a:chExt cx="2142229" cy="775747"/>
            </a:xfrm>
          </p:grpSpPr>
          <p:grpSp>
            <p:nvGrpSpPr>
              <p:cNvPr id="143" name="Google Shape;1614;p10">
                <a:extLst>
                  <a:ext uri="{FF2B5EF4-FFF2-40B4-BE49-F238E27FC236}">
                    <a16:creationId xmlns:a16="http://schemas.microsoft.com/office/drawing/2014/main" id="{AFDC9C30-DE5B-3011-C580-3DCD8843F605}"/>
                  </a:ext>
                </a:extLst>
              </p:cNvPr>
              <p:cNvGrpSpPr/>
              <p:nvPr/>
            </p:nvGrpSpPr>
            <p:grpSpPr>
              <a:xfrm>
                <a:off x="3114238" y="1933581"/>
                <a:ext cx="2057336" cy="255107"/>
                <a:chOff x="4507602" y="1935590"/>
                <a:chExt cx="1597075" cy="198035"/>
              </a:xfrm>
            </p:grpSpPr>
            <p:sp>
              <p:nvSpPr>
                <p:cNvPr id="146" name="Google Shape;1615;p10">
                  <a:extLst>
                    <a:ext uri="{FF2B5EF4-FFF2-40B4-BE49-F238E27FC236}">
                      <a16:creationId xmlns:a16="http://schemas.microsoft.com/office/drawing/2014/main" id="{FAEAAB05-C455-3F30-B022-7D74ED25CD0E}"/>
                    </a:ext>
                  </a:extLst>
                </p:cNvPr>
                <p:cNvSpPr/>
                <p:nvPr/>
              </p:nvSpPr>
              <p:spPr>
                <a:xfrm>
                  <a:off x="4507602" y="1935590"/>
                  <a:ext cx="1597075" cy="198035"/>
                </a:xfrm>
                <a:prstGeom prst="roundRect">
                  <a:avLst>
                    <a:gd name="adj" fmla="val 50000"/>
                  </a:avLst>
                </a:prstGeom>
                <a:solidFill>
                  <a:schemeClr val="lt1"/>
                </a:solidFill>
                <a:ln w="25400" cap="flat" cmpd="sng">
                  <a:gradFill>
                    <a:gsLst>
                      <a:gs pos="0">
                        <a:schemeClr val="accent2"/>
                      </a:gs>
                      <a:gs pos="74000">
                        <a:schemeClr val="accent5"/>
                      </a:gs>
                      <a:gs pos="83000">
                        <a:schemeClr val="accent5"/>
                      </a:gs>
                      <a:gs pos="100000">
                        <a:schemeClr val="accent3"/>
                      </a:gs>
                    </a:gsLst>
                    <a:lin ang="5400000" scaled="1"/>
                  </a:gra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a:ln>
                        <a:noFill/>
                      </a:ln>
                      <a:solidFill>
                        <a:srgbClr val="000000"/>
                      </a:solidFill>
                      <a:effectLst/>
                      <a:uLnTx/>
                      <a:uFillTx/>
                      <a:latin typeface="Arial"/>
                      <a:ea typeface="Arial"/>
                      <a:cs typeface="Arial"/>
                      <a:sym typeface="Arial"/>
                    </a:rPr>
                    <a:t>       Management Domain</a:t>
                  </a:r>
                  <a:endParaRPr kumimoji="0" sz="700" b="0" i="0" u="none" strike="noStrike" kern="1200" cap="none" spc="0" normalizeH="0" baseline="0" noProof="0">
                    <a:ln>
                      <a:noFill/>
                    </a:ln>
                    <a:solidFill>
                      <a:srgbClr val="000000"/>
                    </a:solidFill>
                    <a:effectLst/>
                    <a:uLnTx/>
                    <a:uFillTx/>
                    <a:latin typeface="Arial"/>
                    <a:ea typeface="Arial"/>
                    <a:cs typeface="Arial"/>
                    <a:sym typeface="Arial"/>
                  </a:endParaRPr>
                </a:p>
              </p:txBody>
            </p:sp>
            <p:pic>
              <p:nvPicPr>
                <p:cNvPr id="147" name="Google Shape;1616;p10">
                  <a:extLst>
                    <a:ext uri="{FF2B5EF4-FFF2-40B4-BE49-F238E27FC236}">
                      <a16:creationId xmlns:a16="http://schemas.microsoft.com/office/drawing/2014/main" id="{69EBA232-59DC-7638-518F-F280B32D628B}"/>
                    </a:ext>
                  </a:extLst>
                </p:cNvPr>
                <p:cNvPicPr preferRelativeResize="0"/>
                <p:nvPr/>
              </p:nvPicPr>
              <p:blipFill rotWithShape="1">
                <a:blip r:embed="rId4">
                  <a:alphaModFix/>
                </a:blip>
                <a:srcRect/>
                <a:stretch/>
              </p:blipFill>
              <p:spPr>
                <a:xfrm>
                  <a:off x="4647230" y="1948278"/>
                  <a:ext cx="157608" cy="173213"/>
                </a:xfrm>
                <a:prstGeom prst="rect">
                  <a:avLst/>
                </a:prstGeom>
                <a:noFill/>
                <a:ln>
                  <a:noFill/>
                </a:ln>
              </p:spPr>
            </p:pic>
          </p:grpSp>
          <p:sp>
            <p:nvSpPr>
              <p:cNvPr id="144" name="Google Shape;1617;p10">
                <a:extLst>
                  <a:ext uri="{FF2B5EF4-FFF2-40B4-BE49-F238E27FC236}">
                    <a16:creationId xmlns:a16="http://schemas.microsoft.com/office/drawing/2014/main" id="{51C6F167-1855-8B70-00F6-3DD2A9AE3764}"/>
                  </a:ext>
                </a:extLst>
              </p:cNvPr>
              <p:cNvSpPr/>
              <p:nvPr/>
            </p:nvSpPr>
            <p:spPr>
              <a:xfrm>
                <a:off x="3073946" y="2514020"/>
                <a:ext cx="2142227" cy="195308"/>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650" b="1" i="0" u="none" strike="noStrike" kern="1200" cap="none" spc="0" normalizeH="0" baseline="0" noProof="0">
                    <a:ln>
                      <a:noFill/>
                    </a:ln>
                    <a:solidFill>
                      <a:srgbClr val="FFFFFF"/>
                    </a:solidFill>
                    <a:effectLst/>
                    <a:uLnTx/>
                    <a:uFillTx/>
                    <a:latin typeface="Arial"/>
                    <a:ea typeface="Arial"/>
                    <a:cs typeface="Arial"/>
                    <a:sym typeface="Arial"/>
                  </a:rPr>
                  <a:t>VCF Operations</a:t>
                </a:r>
                <a:endParaRPr kumimoji="0" sz="65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45" name="Google Shape;1618;p10">
                <a:extLst>
                  <a:ext uri="{FF2B5EF4-FFF2-40B4-BE49-F238E27FC236}">
                    <a16:creationId xmlns:a16="http://schemas.microsoft.com/office/drawing/2014/main" id="{8BA9C405-BC6F-9989-47E2-E44148398CED}"/>
                  </a:ext>
                </a:extLst>
              </p:cNvPr>
              <p:cNvSpPr/>
              <p:nvPr/>
            </p:nvSpPr>
            <p:spPr>
              <a:xfrm>
                <a:off x="3076434" y="2263115"/>
                <a:ext cx="2139741" cy="185747"/>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650" b="1" i="0" u="none" strike="noStrike" kern="1200" cap="none" spc="0" normalizeH="0" baseline="0" noProof="0">
                    <a:ln>
                      <a:noFill/>
                    </a:ln>
                    <a:solidFill>
                      <a:srgbClr val="FFFFFF"/>
                    </a:solidFill>
                    <a:effectLst/>
                    <a:uLnTx/>
                    <a:uFillTx/>
                    <a:latin typeface="Arial"/>
                    <a:ea typeface="Arial"/>
                    <a:cs typeface="Arial"/>
                    <a:sym typeface="Arial"/>
                  </a:rPr>
                  <a:t>VCF Automation</a:t>
                </a:r>
                <a:endParaRPr kumimoji="0" sz="650" b="1" i="0" u="none" strike="noStrike" kern="1200" cap="none" spc="0" normalizeH="0" baseline="0" noProof="0">
                  <a:ln>
                    <a:noFill/>
                  </a:ln>
                  <a:solidFill>
                    <a:srgbClr val="FFFFFF"/>
                  </a:solidFill>
                  <a:effectLst/>
                  <a:uLnTx/>
                  <a:uFillTx/>
                  <a:latin typeface="Arial"/>
                  <a:ea typeface="Arial"/>
                  <a:cs typeface="Arial"/>
                  <a:sym typeface="Arial"/>
                </a:endParaRPr>
              </a:p>
            </p:txBody>
          </p:sp>
        </p:grpSp>
        <p:sp>
          <p:nvSpPr>
            <p:cNvPr id="142" name="Google Shape;1619;p10">
              <a:extLst>
                <a:ext uri="{FF2B5EF4-FFF2-40B4-BE49-F238E27FC236}">
                  <a16:creationId xmlns:a16="http://schemas.microsoft.com/office/drawing/2014/main" id="{22056462-6B03-77FF-93BC-53D62CDD234E}"/>
                </a:ext>
              </a:extLst>
            </p:cNvPr>
            <p:cNvSpPr/>
            <p:nvPr/>
          </p:nvSpPr>
          <p:spPr>
            <a:xfrm>
              <a:off x="3740670" y="2744071"/>
              <a:ext cx="750357" cy="161927"/>
            </a:xfrm>
            <a:prstGeom prst="roundRect">
              <a:avLst>
                <a:gd name="adj" fmla="val 2356"/>
              </a:avLst>
            </a:prstGeom>
            <a:solidFill>
              <a:schemeClr val="lt1"/>
            </a:solidFill>
            <a:ln w="127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700" b="0" i="0" u="none" strike="noStrike" kern="1200" cap="none" spc="0" normalizeH="0" baseline="0" noProof="0">
                  <a:ln>
                    <a:noFill/>
                  </a:ln>
                  <a:solidFill>
                    <a:srgbClr val="005C8A"/>
                  </a:solidFill>
                  <a:effectLst/>
                  <a:uLnTx/>
                  <a:uFillTx/>
                  <a:latin typeface="Arial"/>
                  <a:ea typeface="Arial"/>
                  <a:cs typeface="Arial"/>
                  <a:sym typeface="Arial"/>
                </a:rPr>
                <a:t>Cluster 1</a:t>
              </a:r>
              <a:endParaRPr kumimoji="0" sz="700" b="0" i="0" u="none" strike="noStrike" kern="1200" cap="none" spc="0" normalizeH="0" baseline="0" noProof="0">
                <a:ln>
                  <a:noFill/>
                </a:ln>
                <a:solidFill>
                  <a:srgbClr val="005C8A"/>
                </a:solidFill>
                <a:effectLst/>
                <a:uLnTx/>
                <a:uFillTx/>
                <a:latin typeface="Arial"/>
                <a:ea typeface="Arial"/>
                <a:cs typeface="Arial"/>
                <a:sym typeface="Arial"/>
              </a:endParaRPr>
            </a:p>
          </p:txBody>
        </p:sp>
      </p:grpSp>
      <p:grpSp>
        <p:nvGrpSpPr>
          <p:cNvPr id="154" name="Google Shape;1620;p10">
            <a:extLst>
              <a:ext uri="{FF2B5EF4-FFF2-40B4-BE49-F238E27FC236}">
                <a16:creationId xmlns:a16="http://schemas.microsoft.com/office/drawing/2014/main" id="{26A7C31A-55AF-3943-C9CD-9414D055AF6B}"/>
              </a:ext>
            </a:extLst>
          </p:cNvPr>
          <p:cNvGrpSpPr/>
          <p:nvPr/>
        </p:nvGrpSpPr>
        <p:grpSpPr>
          <a:xfrm>
            <a:off x="3123072" y="1894859"/>
            <a:ext cx="2279733" cy="2526837"/>
            <a:chOff x="3003951" y="1434905"/>
            <a:chExt cx="2279733" cy="2526837"/>
          </a:xfrm>
        </p:grpSpPr>
        <p:sp>
          <p:nvSpPr>
            <p:cNvPr id="155" name="Google Shape;1621;p10">
              <a:extLst>
                <a:ext uri="{FF2B5EF4-FFF2-40B4-BE49-F238E27FC236}">
                  <a16:creationId xmlns:a16="http://schemas.microsoft.com/office/drawing/2014/main" id="{64F5BF84-265A-91C9-A3F5-487A6E1BC27A}"/>
                </a:ext>
              </a:extLst>
            </p:cNvPr>
            <p:cNvSpPr/>
            <p:nvPr/>
          </p:nvSpPr>
          <p:spPr>
            <a:xfrm>
              <a:off x="3003951" y="1434905"/>
              <a:ext cx="2279733" cy="2526837"/>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56" name="Google Shape;1622;p10">
              <a:extLst>
                <a:ext uri="{FF2B5EF4-FFF2-40B4-BE49-F238E27FC236}">
                  <a16:creationId xmlns:a16="http://schemas.microsoft.com/office/drawing/2014/main" id="{EB2C2930-5B66-AC73-A7F9-CDACA691D5F1}"/>
                </a:ext>
              </a:extLst>
            </p:cNvPr>
            <p:cNvSpPr/>
            <p:nvPr/>
          </p:nvSpPr>
          <p:spPr>
            <a:xfrm>
              <a:off x="3069009" y="3238902"/>
              <a:ext cx="2139742" cy="632716"/>
            </a:xfrm>
            <a:prstGeom prst="roundRect">
              <a:avLst>
                <a:gd name="adj" fmla="val 6349"/>
              </a:avLst>
            </a:prstGeom>
            <a:noFill/>
            <a:ln w="254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57" name="Google Shape;1623;p10">
              <a:extLst>
                <a:ext uri="{FF2B5EF4-FFF2-40B4-BE49-F238E27FC236}">
                  <a16:creationId xmlns:a16="http://schemas.microsoft.com/office/drawing/2014/main" id="{B9F4E18A-F48D-FE70-AA0B-F1D8CAE5D2D5}"/>
                </a:ext>
              </a:extLst>
            </p:cNvPr>
            <p:cNvGrpSpPr/>
            <p:nvPr/>
          </p:nvGrpSpPr>
          <p:grpSpPr>
            <a:xfrm>
              <a:off x="4677699" y="3434087"/>
              <a:ext cx="364758" cy="364756"/>
              <a:chOff x="10722212" y="2729558"/>
              <a:chExt cx="663407" cy="663407"/>
            </a:xfrm>
          </p:grpSpPr>
          <p:sp>
            <p:nvSpPr>
              <p:cNvPr id="174" name="Google Shape;1624;p10">
                <a:extLst>
                  <a:ext uri="{FF2B5EF4-FFF2-40B4-BE49-F238E27FC236}">
                    <a16:creationId xmlns:a16="http://schemas.microsoft.com/office/drawing/2014/main" id="{ECD1842F-EFF5-3876-CB47-5EAB839EA11C}"/>
                  </a:ext>
                </a:extLst>
              </p:cNvPr>
              <p:cNvSpPr/>
              <p:nvPr/>
            </p:nvSpPr>
            <p:spPr>
              <a:xfrm>
                <a:off x="10722212" y="272955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75" name="Google Shape;1625;p10">
                <a:extLst>
                  <a:ext uri="{FF2B5EF4-FFF2-40B4-BE49-F238E27FC236}">
                    <a16:creationId xmlns:a16="http://schemas.microsoft.com/office/drawing/2014/main" id="{4360DA70-3806-5E89-3A5C-83693EC65245}"/>
                  </a:ext>
                </a:extLst>
              </p:cNvPr>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58" name="Google Shape;1626;p10">
              <a:extLst>
                <a:ext uri="{FF2B5EF4-FFF2-40B4-BE49-F238E27FC236}">
                  <a16:creationId xmlns:a16="http://schemas.microsoft.com/office/drawing/2014/main" id="{205A00D3-4E1F-D018-97BE-0950C316E927}"/>
                </a:ext>
              </a:extLst>
            </p:cNvPr>
            <p:cNvGrpSpPr/>
            <p:nvPr/>
          </p:nvGrpSpPr>
          <p:grpSpPr>
            <a:xfrm>
              <a:off x="3202824" y="3433934"/>
              <a:ext cx="364758" cy="364756"/>
              <a:chOff x="572541" y="5475121"/>
              <a:chExt cx="663407" cy="663407"/>
            </a:xfrm>
          </p:grpSpPr>
          <p:sp>
            <p:nvSpPr>
              <p:cNvPr id="172" name="Google Shape;1627;p10">
                <a:extLst>
                  <a:ext uri="{FF2B5EF4-FFF2-40B4-BE49-F238E27FC236}">
                    <a16:creationId xmlns:a16="http://schemas.microsoft.com/office/drawing/2014/main" id="{113F54D2-AA9F-A3DE-32B0-DE9B5CC86DBC}"/>
                  </a:ext>
                </a:extLst>
              </p:cNvPr>
              <p:cNvSpPr/>
              <p:nvPr/>
            </p:nvSpPr>
            <p:spPr>
              <a:xfrm>
                <a:off x="572541" y="547512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73" name="Google Shape;1628;p10">
                <a:extLst>
                  <a:ext uri="{FF2B5EF4-FFF2-40B4-BE49-F238E27FC236}">
                    <a16:creationId xmlns:a16="http://schemas.microsoft.com/office/drawing/2014/main" id="{323E5917-0918-63A1-F0FA-A9D8DEB9C5AC}"/>
                  </a:ext>
                </a:extLst>
              </p:cNvPr>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59" name="Google Shape;1629;p10">
              <a:extLst>
                <a:ext uri="{FF2B5EF4-FFF2-40B4-BE49-F238E27FC236}">
                  <a16:creationId xmlns:a16="http://schemas.microsoft.com/office/drawing/2014/main" id="{4AC0D7CA-02B3-AD48-E29C-34423A8AF179}"/>
                </a:ext>
              </a:extLst>
            </p:cNvPr>
            <p:cNvGrpSpPr/>
            <p:nvPr/>
          </p:nvGrpSpPr>
          <p:grpSpPr>
            <a:xfrm>
              <a:off x="3934990" y="3433935"/>
              <a:ext cx="364758" cy="364756"/>
              <a:chOff x="9272259" y="5475121"/>
              <a:chExt cx="663407" cy="663407"/>
            </a:xfrm>
          </p:grpSpPr>
          <p:sp>
            <p:nvSpPr>
              <p:cNvPr id="170" name="Google Shape;1630;p10">
                <a:extLst>
                  <a:ext uri="{FF2B5EF4-FFF2-40B4-BE49-F238E27FC236}">
                    <a16:creationId xmlns:a16="http://schemas.microsoft.com/office/drawing/2014/main" id="{F687F516-33EA-6D0B-C02F-FC4C5B6A60D1}"/>
                  </a:ext>
                </a:extLst>
              </p:cNvPr>
              <p:cNvSpPr/>
              <p:nvPr/>
            </p:nvSpPr>
            <p:spPr>
              <a:xfrm>
                <a:off x="9272259" y="5475121"/>
                <a:ext cx="663407" cy="663407"/>
              </a:xfrm>
              <a:prstGeom prst="ellipse">
                <a:avLst/>
              </a:prstGeom>
              <a:gradFill>
                <a:gsLst>
                  <a:gs pos="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71" name="Google Shape;1631;p10">
                <a:extLst>
                  <a:ext uri="{FF2B5EF4-FFF2-40B4-BE49-F238E27FC236}">
                    <a16:creationId xmlns:a16="http://schemas.microsoft.com/office/drawing/2014/main" id="{A710F72C-8E92-DE46-858B-44C5A6676BDD}"/>
                  </a:ext>
                </a:extLst>
              </p:cNvPr>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160" name="Google Shape;1632;p10">
              <a:extLst>
                <a:ext uri="{FF2B5EF4-FFF2-40B4-BE49-F238E27FC236}">
                  <a16:creationId xmlns:a16="http://schemas.microsoft.com/office/drawing/2014/main" id="{BBB35DD7-A81E-22B6-40EC-3965D816969E}"/>
                </a:ext>
              </a:extLst>
            </p:cNvPr>
            <p:cNvSpPr/>
            <p:nvPr/>
          </p:nvSpPr>
          <p:spPr>
            <a:xfrm>
              <a:off x="3074441" y="2953244"/>
              <a:ext cx="1019238" cy="207491"/>
            </a:xfrm>
            <a:prstGeom prst="roundRect">
              <a:avLst>
                <a:gd name="adj" fmla="val 6349"/>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650" b="1" i="0" u="none" strike="noStrike" kern="1200" cap="none" spc="0" normalizeH="0" baseline="0" noProof="0">
                  <a:ln>
                    <a:noFill/>
                  </a:ln>
                  <a:solidFill>
                    <a:srgbClr val="FFFFFF"/>
                  </a:solidFill>
                  <a:effectLst/>
                  <a:uLnTx/>
                  <a:uFillTx/>
                  <a:latin typeface="Arial"/>
                  <a:ea typeface="Arial"/>
                  <a:cs typeface="Arial"/>
                  <a:sym typeface="Arial"/>
                </a:rPr>
                <a:t>vCenter Server</a:t>
              </a:r>
              <a:endParaRPr kumimoji="0" sz="65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61" name="Google Shape;1633;p10">
              <a:extLst>
                <a:ext uri="{FF2B5EF4-FFF2-40B4-BE49-F238E27FC236}">
                  <a16:creationId xmlns:a16="http://schemas.microsoft.com/office/drawing/2014/main" id="{D7D17BB6-30A6-A050-510E-E98E3C912D55}"/>
                </a:ext>
              </a:extLst>
            </p:cNvPr>
            <p:cNvSpPr txBox="1"/>
            <p:nvPr/>
          </p:nvSpPr>
          <p:spPr>
            <a:xfrm>
              <a:off x="3651583" y="3269420"/>
              <a:ext cx="970536" cy="128854"/>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5C8A"/>
                </a:buClr>
                <a:buSzPts val="650"/>
                <a:buFont typeface="Arial"/>
                <a:buNone/>
                <a:tabLst/>
                <a:defRPr/>
              </a:pPr>
              <a:r>
                <a:rPr kumimoji="0" lang="en-US" sz="650" b="1" i="0" u="none" strike="noStrike" kern="1200" cap="none" spc="0" normalizeH="0" baseline="0" noProof="0">
                  <a:ln>
                    <a:noFill/>
                  </a:ln>
                  <a:solidFill>
                    <a:srgbClr val="005C8A"/>
                  </a:solidFill>
                  <a:effectLst/>
                  <a:uLnTx/>
                  <a:uFillTx/>
                  <a:latin typeface="Arial"/>
                  <a:ea typeface="Arial"/>
                  <a:cs typeface="Arial"/>
                  <a:sym typeface="Arial"/>
                </a:rPr>
                <a:t>Core Infrastructure</a:t>
              </a: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162" name="Google Shape;1634;p10">
              <a:extLst>
                <a:ext uri="{FF2B5EF4-FFF2-40B4-BE49-F238E27FC236}">
                  <a16:creationId xmlns:a16="http://schemas.microsoft.com/office/drawing/2014/main" id="{03014311-A544-57C7-E8C0-E2D44A555FFF}"/>
                </a:ext>
              </a:extLst>
            </p:cNvPr>
            <p:cNvSpPr/>
            <p:nvPr/>
          </p:nvSpPr>
          <p:spPr>
            <a:xfrm>
              <a:off x="4164168" y="2950864"/>
              <a:ext cx="1052005" cy="207491"/>
            </a:xfrm>
            <a:prstGeom prst="roundRect">
              <a:avLst>
                <a:gd name="adj" fmla="val 6349"/>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650" b="1" i="0" u="none" strike="noStrike" kern="1200" cap="none" spc="0" normalizeH="0" baseline="0" noProof="0">
                  <a:ln>
                    <a:noFill/>
                  </a:ln>
                  <a:solidFill>
                    <a:srgbClr val="FFFFFF"/>
                  </a:solidFill>
                  <a:effectLst/>
                  <a:uLnTx/>
                  <a:uFillTx/>
                  <a:latin typeface="Arial"/>
                  <a:ea typeface="Arial"/>
                  <a:cs typeface="Arial"/>
                  <a:sym typeface="Arial"/>
                </a:rPr>
                <a:t>NSX Manager</a:t>
              </a:r>
              <a:endParaRPr kumimoji="0" sz="650" b="1"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63" name="Google Shape;1635;p10">
              <a:extLst>
                <a:ext uri="{FF2B5EF4-FFF2-40B4-BE49-F238E27FC236}">
                  <a16:creationId xmlns:a16="http://schemas.microsoft.com/office/drawing/2014/main" id="{66F8E1EB-BEFD-7535-917E-48118AE7CC30}"/>
                </a:ext>
              </a:extLst>
            </p:cNvPr>
            <p:cNvGrpSpPr/>
            <p:nvPr/>
          </p:nvGrpSpPr>
          <p:grpSpPr>
            <a:xfrm>
              <a:off x="3073946" y="1506863"/>
              <a:ext cx="2142229" cy="775751"/>
              <a:chOff x="3073946" y="1506863"/>
              <a:chExt cx="2142229" cy="775751"/>
            </a:xfrm>
          </p:grpSpPr>
          <p:grpSp>
            <p:nvGrpSpPr>
              <p:cNvPr id="165" name="Google Shape;1636;p10">
                <a:extLst>
                  <a:ext uri="{FF2B5EF4-FFF2-40B4-BE49-F238E27FC236}">
                    <a16:creationId xmlns:a16="http://schemas.microsoft.com/office/drawing/2014/main" id="{6978FBFC-6DC8-B0C2-62A7-81D53E424A58}"/>
                  </a:ext>
                </a:extLst>
              </p:cNvPr>
              <p:cNvGrpSpPr/>
              <p:nvPr/>
            </p:nvGrpSpPr>
            <p:grpSpPr>
              <a:xfrm>
                <a:off x="3114238" y="1506863"/>
                <a:ext cx="2057336" cy="255107"/>
                <a:chOff x="4507602" y="1604336"/>
                <a:chExt cx="1597075" cy="198035"/>
              </a:xfrm>
            </p:grpSpPr>
            <p:sp>
              <p:nvSpPr>
                <p:cNvPr id="168" name="Google Shape;1637;p10">
                  <a:extLst>
                    <a:ext uri="{FF2B5EF4-FFF2-40B4-BE49-F238E27FC236}">
                      <a16:creationId xmlns:a16="http://schemas.microsoft.com/office/drawing/2014/main" id="{254F1CB6-E665-0F2B-B54C-D3A3498FEA34}"/>
                    </a:ext>
                  </a:extLst>
                </p:cNvPr>
                <p:cNvSpPr/>
                <p:nvPr/>
              </p:nvSpPr>
              <p:spPr>
                <a:xfrm>
                  <a:off x="4507602" y="1604336"/>
                  <a:ext cx="1597075" cy="198035"/>
                </a:xfrm>
                <a:prstGeom prst="roundRect">
                  <a:avLst>
                    <a:gd name="adj" fmla="val 50000"/>
                  </a:avLst>
                </a:prstGeom>
                <a:solidFill>
                  <a:schemeClr val="lt1"/>
                </a:solidFill>
                <a:ln w="25400" cap="flat" cmpd="sng">
                  <a:gradFill>
                    <a:gsLst>
                      <a:gs pos="0">
                        <a:schemeClr val="accent5"/>
                      </a:gs>
                      <a:gs pos="100000">
                        <a:schemeClr val="accent2"/>
                      </a:gs>
                      <a:gs pos="100000">
                        <a:schemeClr val="accent2"/>
                      </a:gs>
                      <a:gs pos="100000">
                        <a:schemeClr val="accent2"/>
                      </a:gs>
                    </a:gsLst>
                    <a:lin ang="5400000" scaled="1"/>
                  </a:gra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a:ln>
                        <a:noFill/>
                      </a:ln>
                      <a:solidFill>
                        <a:srgbClr val="000000"/>
                      </a:solidFill>
                      <a:effectLst/>
                      <a:uLnTx/>
                      <a:uFillTx/>
                      <a:latin typeface="Arial"/>
                      <a:ea typeface="Arial"/>
                      <a:cs typeface="Arial"/>
                      <a:sym typeface="Arial"/>
                    </a:rPr>
                    <a:t>       Management Domain</a:t>
                  </a:r>
                  <a:endParaRPr kumimoji="0" sz="700" b="0" i="0" u="none" strike="noStrike" kern="1200" cap="none" spc="0" normalizeH="0" baseline="0" noProof="0">
                    <a:ln>
                      <a:noFill/>
                    </a:ln>
                    <a:solidFill>
                      <a:srgbClr val="000000"/>
                    </a:solidFill>
                    <a:effectLst/>
                    <a:uLnTx/>
                    <a:uFillTx/>
                    <a:latin typeface="Arial"/>
                    <a:ea typeface="Arial"/>
                    <a:cs typeface="Arial"/>
                    <a:sym typeface="Arial"/>
                  </a:endParaRPr>
                </a:p>
              </p:txBody>
            </p:sp>
            <p:pic>
              <p:nvPicPr>
                <p:cNvPr id="169" name="Google Shape;1638;p10">
                  <a:extLst>
                    <a:ext uri="{FF2B5EF4-FFF2-40B4-BE49-F238E27FC236}">
                      <a16:creationId xmlns:a16="http://schemas.microsoft.com/office/drawing/2014/main" id="{98A21EFC-AA25-98DB-FD41-A92E47357103}"/>
                    </a:ext>
                  </a:extLst>
                </p:cNvPr>
                <p:cNvPicPr preferRelativeResize="0"/>
                <p:nvPr/>
              </p:nvPicPr>
              <p:blipFill rotWithShape="1">
                <a:blip r:embed="rId4">
                  <a:alphaModFix/>
                </a:blip>
                <a:srcRect/>
                <a:stretch/>
              </p:blipFill>
              <p:spPr>
                <a:xfrm>
                  <a:off x="4647230" y="1617028"/>
                  <a:ext cx="157608" cy="173213"/>
                </a:xfrm>
                <a:prstGeom prst="rect">
                  <a:avLst/>
                </a:prstGeom>
                <a:noFill/>
                <a:ln>
                  <a:noFill/>
                </a:ln>
              </p:spPr>
            </p:pic>
          </p:grpSp>
          <p:sp>
            <p:nvSpPr>
              <p:cNvPr id="166" name="Google Shape;1639;p10">
                <a:extLst>
                  <a:ext uri="{FF2B5EF4-FFF2-40B4-BE49-F238E27FC236}">
                    <a16:creationId xmlns:a16="http://schemas.microsoft.com/office/drawing/2014/main" id="{183E6C28-3377-CBBE-66F3-AFB3182AB3DF}"/>
                  </a:ext>
                </a:extLst>
              </p:cNvPr>
              <p:cNvSpPr/>
              <p:nvPr/>
            </p:nvSpPr>
            <p:spPr>
              <a:xfrm>
                <a:off x="3073946" y="2087306"/>
                <a:ext cx="2142227" cy="195308"/>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650" b="1" i="0" u="none" strike="noStrike" kern="1200" cap="none" spc="0" normalizeH="0" baseline="0" noProof="0">
                    <a:ln>
                      <a:noFill/>
                    </a:ln>
                    <a:solidFill>
                      <a:srgbClr val="FFFFFF"/>
                    </a:solidFill>
                    <a:effectLst/>
                    <a:uLnTx/>
                    <a:uFillTx/>
                    <a:latin typeface="Arial"/>
                    <a:ea typeface="Arial"/>
                    <a:cs typeface="Arial"/>
                    <a:sym typeface="Arial"/>
                  </a:rPr>
                  <a:t>VCF Operations</a:t>
                </a:r>
                <a:endParaRPr kumimoji="0" sz="65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67" name="Google Shape;1640;p10">
                <a:extLst>
                  <a:ext uri="{FF2B5EF4-FFF2-40B4-BE49-F238E27FC236}">
                    <a16:creationId xmlns:a16="http://schemas.microsoft.com/office/drawing/2014/main" id="{694F3A72-F13A-AFF5-A9EF-DE2E70D09EE9}"/>
                  </a:ext>
                </a:extLst>
              </p:cNvPr>
              <p:cNvSpPr/>
              <p:nvPr/>
            </p:nvSpPr>
            <p:spPr>
              <a:xfrm>
                <a:off x="3076434" y="1836401"/>
                <a:ext cx="2139741" cy="185747"/>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650" b="1" i="0" u="none" strike="noStrike" kern="1200" cap="none" spc="0" normalizeH="0" baseline="0" noProof="0">
                    <a:ln>
                      <a:noFill/>
                    </a:ln>
                    <a:solidFill>
                      <a:srgbClr val="FFFFFF"/>
                    </a:solidFill>
                    <a:effectLst/>
                    <a:uLnTx/>
                    <a:uFillTx/>
                    <a:latin typeface="Arial"/>
                    <a:ea typeface="Arial"/>
                    <a:cs typeface="Arial"/>
                    <a:sym typeface="Arial"/>
                  </a:rPr>
                  <a:t>VCF Automation</a:t>
                </a:r>
                <a:endParaRPr kumimoji="0" sz="650" b="1" i="0" u="none" strike="noStrike" kern="1200" cap="none" spc="0" normalizeH="0" baseline="0" noProof="0">
                  <a:ln>
                    <a:noFill/>
                  </a:ln>
                  <a:solidFill>
                    <a:srgbClr val="FFFFFF"/>
                  </a:solidFill>
                  <a:effectLst/>
                  <a:uLnTx/>
                  <a:uFillTx/>
                  <a:latin typeface="Arial"/>
                  <a:ea typeface="Arial"/>
                  <a:cs typeface="Arial"/>
                  <a:sym typeface="Arial"/>
                </a:endParaRPr>
              </a:p>
            </p:txBody>
          </p:sp>
        </p:grpSp>
        <p:sp>
          <p:nvSpPr>
            <p:cNvPr id="164" name="Google Shape;1641;p10">
              <a:extLst>
                <a:ext uri="{FF2B5EF4-FFF2-40B4-BE49-F238E27FC236}">
                  <a16:creationId xmlns:a16="http://schemas.microsoft.com/office/drawing/2014/main" id="{82B1464F-A2C6-D01C-3855-D0567A057A14}"/>
                </a:ext>
              </a:extLst>
            </p:cNvPr>
            <p:cNvSpPr/>
            <p:nvPr/>
          </p:nvSpPr>
          <p:spPr>
            <a:xfrm>
              <a:off x="3740670" y="2744071"/>
              <a:ext cx="750357" cy="161927"/>
            </a:xfrm>
            <a:prstGeom prst="roundRect">
              <a:avLst>
                <a:gd name="adj" fmla="val 2356"/>
              </a:avLst>
            </a:prstGeom>
            <a:solidFill>
              <a:schemeClr val="lt1"/>
            </a:solidFill>
            <a:ln w="127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700" b="0" i="0" u="none" strike="noStrike" kern="1200" cap="none" spc="0" normalizeH="0" baseline="0" noProof="0">
                  <a:ln>
                    <a:noFill/>
                  </a:ln>
                  <a:solidFill>
                    <a:srgbClr val="005C8A"/>
                  </a:solidFill>
                  <a:effectLst/>
                  <a:uLnTx/>
                  <a:uFillTx/>
                  <a:latin typeface="Arial"/>
                  <a:ea typeface="Arial"/>
                  <a:cs typeface="Arial"/>
                  <a:sym typeface="Arial"/>
                </a:rPr>
                <a:t>Cluster 1</a:t>
              </a:r>
              <a:endParaRPr kumimoji="0" sz="700" b="0" i="0" u="none" strike="noStrike" kern="1200" cap="none" spc="0" normalizeH="0" baseline="0" noProof="0">
                <a:ln>
                  <a:noFill/>
                </a:ln>
                <a:solidFill>
                  <a:srgbClr val="005C8A"/>
                </a:solidFill>
                <a:effectLst/>
                <a:uLnTx/>
                <a:uFillTx/>
                <a:latin typeface="Arial"/>
                <a:ea typeface="Arial"/>
                <a:cs typeface="Arial"/>
                <a:sym typeface="Arial"/>
              </a:endParaRPr>
            </a:p>
          </p:txBody>
        </p:sp>
      </p:grpSp>
      <p:sp>
        <p:nvSpPr>
          <p:cNvPr id="176" name="Google Shape;1642;p10">
            <a:extLst>
              <a:ext uri="{FF2B5EF4-FFF2-40B4-BE49-F238E27FC236}">
                <a16:creationId xmlns:a16="http://schemas.microsoft.com/office/drawing/2014/main" id="{2FFEE4C5-4515-B7A7-DA30-B6BFE2851091}"/>
              </a:ext>
            </a:extLst>
          </p:cNvPr>
          <p:cNvSpPr/>
          <p:nvPr/>
        </p:nvSpPr>
        <p:spPr>
          <a:xfrm>
            <a:off x="3867224" y="2996543"/>
            <a:ext cx="750357" cy="161927"/>
          </a:xfrm>
          <a:prstGeom prst="roundRect">
            <a:avLst>
              <a:gd name="adj" fmla="val 2356"/>
            </a:avLst>
          </a:prstGeom>
          <a:solidFill>
            <a:schemeClr val="lt1"/>
          </a:solidFill>
          <a:ln w="12700" cap="flat" cmpd="sng">
            <a:solidFill>
              <a:schemeClr val="accent1"/>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700" b="0" i="0" u="none" strike="noStrike" kern="1200" cap="none" spc="0" normalizeH="0" baseline="0" noProof="0">
                <a:ln>
                  <a:noFill/>
                </a:ln>
                <a:solidFill>
                  <a:srgbClr val="007B8C"/>
                </a:solidFill>
                <a:effectLst/>
                <a:uLnTx/>
                <a:uFillTx/>
                <a:latin typeface="Arial"/>
                <a:ea typeface="Arial"/>
                <a:cs typeface="Arial"/>
                <a:sym typeface="Arial"/>
              </a:rPr>
              <a:t>Cluster 2</a:t>
            </a:r>
            <a:endParaRPr kumimoji="0" sz="700" b="0" i="0" u="none" strike="noStrike" kern="1200" cap="none" spc="0" normalizeH="0" baseline="0" noProof="0">
              <a:ln>
                <a:noFill/>
              </a:ln>
              <a:solidFill>
                <a:srgbClr val="007B8C"/>
              </a:solidFill>
              <a:effectLst/>
              <a:uLnTx/>
              <a:uFillTx/>
              <a:latin typeface="Arial"/>
              <a:ea typeface="Arial"/>
              <a:cs typeface="Arial"/>
              <a:sym typeface="Arial"/>
            </a:endParaRPr>
          </a:p>
        </p:txBody>
      </p:sp>
      <p:sp>
        <p:nvSpPr>
          <p:cNvPr id="177" name="Google Shape;1643;p10">
            <a:extLst>
              <a:ext uri="{FF2B5EF4-FFF2-40B4-BE49-F238E27FC236}">
                <a16:creationId xmlns:a16="http://schemas.microsoft.com/office/drawing/2014/main" id="{D9825CA6-B148-CCAC-3A41-F1450CB832EB}"/>
              </a:ext>
            </a:extLst>
          </p:cNvPr>
          <p:cNvSpPr/>
          <p:nvPr/>
        </p:nvSpPr>
        <p:spPr>
          <a:xfrm>
            <a:off x="3867223" y="2790734"/>
            <a:ext cx="750357" cy="161927"/>
          </a:xfrm>
          <a:prstGeom prst="roundRect">
            <a:avLst>
              <a:gd name="adj" fmla="val 2356"/>
            </a:avLst>
          </a:prstGeom>
          <a:solidFill>
            <a:schemeClr val="lt1"/>
          </a:solidFill>
          <a:ln w="12700" cap="flat" cmpd="sng">
            <a:solidFill>
              <a:schemeClr val="accent3"/>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700" b="0" i="0" u="none" strike="noStrike" kern="1200" cap="none" spc="0" normalizeH="0" baseline="0" noProof="0">
                <a:ln>
                  <a:noFill/>
                </a:ln>
                <a:solidFill>
                  <a:srgbClr val="0098C7"/>
                </a:solidFill>
                <a:effectLst/>
                <a:uLnTx/>
                <a:uFillTx/>
                <a:latin typeface="Arial"/>
                <a:ea typeface="Arial"/>
                <a:cs typeface="Arial"/>
                <a:sym typeface="Arial"/>
              </a:rPr>
              <a:t>Cluster N</a:t>
            </a:r>
            <a:endParaRPr kumimoji="0" sz="7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178" name="Google Shape;1644;p10">
            <a:extLst>
              <a:ext uri="{FF2B5EF4-FFF2-40B4-BE49-F238E27FC236}">
                <a16:creationId xmlns:a16="http://schemas.microsoft.com/office/drawing/2014/main" id="{53B15962-C67E-BF9A-239E-35A52FEDEBB8}"/>
              </a:ext>
            </a:extLst>
          </p:cNvPr>
          <p:cNvSpPr/>
          <p:nvPr/>
        </p:nvSpPr>
        <p:spPr>
          <a:xfrm>
            <a:off x="3193067" y="3415970"/>
            <a:ext cx="1019238" cy="207491"/>
          </a:xfrm>
          <a:prstGeom prst="roundRect">
            <a:avLst>
              <a:gd name="adj" fmla="val 6349"/>
            </a:avLst>
          </a:prstGeom>
          <a:solidFill>
            <a:schemeClr val="accent4"/>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650" b="1" i="0" u="none" strike="noStrike" kern="1200" cap="none" spc="0" normalizeH="0" baseline="0" noProof="0">
                <a:ln>
                  <a:noFill/>
                </a:ln>
                <a:solidFill>
                  <a:srgbClr val="FFFFFF"/>
                </a:solidFill>
                <a:effectLst/>
                <a:uLnTx/>
                <a:uFillTx/>
                <a:latin typeface="Arial"/>
                <a:ea typeface="Arial"/>
                <a:cs typeface="Arial"/>
                <a:sym typeface="Arial"/>
              </a:rPr>
              <a:t>vCenter Server</a:t>
            </a:r>
            <a:endParaRPr kumimoji="0" sz="65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79" name="Google Shape;1645;p10">
            <a:extLst>
              <a:ext uri="{FF2B5EF4-FFF2-40B4-BE49-F238E27FC236}">
                <a16:creationId xmlns:a16="http://schemas.microsoft.com/office/drawing/2014/main" id="{4121896B-AE55-1EAB-E0DF-54C46690C661}"/>
              </a:ext>
            </a:extLst>
          </p:cNvPr>
          <p:cNvSpPr/>
          <p:nvPr/>
        </p:nvSpPr>
        <p:spPr>
          <a:xfrm>
            <a:off x="3194650" y="2549811"/>
            <a:ext cx="2142227" cy="195308"/>
          </a:xfrm>
          <a:prstGeom prst="roundRect">
            <a:avLst>
              <a:gd name="adj" fmla="val 6349"/>
            </a:avLst>
          </a:prstGeom>
          <a:solidFill>
            <a:schemeClr val="accent4"/>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650" b="1" i="0" u="none" strike="noStrike" kern="1200" cap="none" spc="0" normalizeH="0" baseline="0" noProof="0">
                <a:ln>
                  <a:noFill/>
                </a:ln>
                <a:solidFill>
                  <a:srgbClr val="FFFFFF"/>
                </a:solidFill>
                <a:effectLst/>
                <a:uLnTx/>
                <a:uFillTx/>
                <a:latin typeface="Arial"/>
                <a:ea typeface="Arial"/>
                <a:cs typeface="Arial"/>
                <a:sym typeface="Arial"/>
              </a:rPr>
              <a:t>VCF Operations</a:t>
            </a:r>
            <a:endParaRPr kumimoji="0" sz="650" b="1"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80" name="Google Shape;1646;p10">
            <a:extLst>
              <a:ext uri="{FF2B5EF4-FFF2-40B4-BE49-F238E27FC236}">
                <a16:creationId xmlns:a16="http://schemas.microsoft.com/office/drawing/2014/main" id="{7A629FF9-4149-3794-FDA1-40524FB67265}"/>
              </a:ext>
            </a:extLst>
          </p:cNvPr>
          <p:cNvGrpSpPr/>
          <p:nvPr/>
        </p:nvGrpSpPr>
        <p:grpSpPr>
          <a:xfrm>
            <a:off x="5522417" y="2220898"/>
            <a:ext cx="2269764" cy="2192002"/>
            <a:chOff x="4421988" y="4175450"/>
            <a:chExt cx="1769718" cy="1709089"/>
          </a:xfrm>
        </p:grpSpPr>
        <p:sp>
          <p:nvSpPr>
            <p:cNvPr id="181" name="Google Shape;1647;p10">
              <a:extLst>
                <a:ext uri="{FF2B5EF4-FFF2-40B4-BE49-F238E27FC236}">
                  <a16:creationId xmlns:a16="http://schemas.microsoft.com/office/drawing/2014/main" id="{E6F9865A-22B2-ACC6-607D-33DFD30FFC14}"/>
                </a:ext>
              </a:extLst>
            </p:cNvPr>
            <p:cNvSpPr/>
            <p:nvPr/>
          </p:nvSpPr>
          <p:spPr>
            <a:xfrm>
              <a:off x="4421988" y="4175450"/>
              <a:ext cx="1769718" cy="1709089"/>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82" name="Google Shape;1648;p10">
              <a:extLst>
                <a:ext uri="{FF2B5EF4-FFF2-40B4-BE49-F238E27FC236}">
                  <a16:creationId xmlns:a16="http://schemas.microsoft.com/office/drawing/2014/main" id="{015FF734-ED8F-0FC6-150E-4874A372A41C}"/>
                </a:ext>
              </a:extLst>
            </p:cNvPr>
            <p:cNvSpPr/>
            <p:nvPr/>
          </p:nvSpPr>
          <p:spPr>
            <a:xfrm>
              <a:off x="4472491" y="5332788"/>
              <a:ext cx="1661045" cy="491167"/>
            </a:xfrm>
            <a:prstGeom prst="roundRect">
              <a:avLst>
                <a:gd name="adj" fmla="val 6349"/>
              </a:avLst>
            </a:prstGeom>
            <a:noFill/>
            <a:ln w="254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83" name="Google Shape;1649;p10">
              <a:extLst>
                <a:ext uri="{FF2B5EF4-FFF2-40B4-BE49-F238E27FC236}">
                  <a16:creationId xmlns:a16="http://schemas.microsoft.com/office/drawing/2014/main" id="{77469FD5-392A-CE5D-FDE5-456779080484}"/>
                </a:ext>
              </a:extLst>
            </p:cNvPr>
            <p:cNvGrpSpPr/>
            <p:nvPr/>
          </p:nvGrpSpPr>
          <p:grpSpPr>
            <a:xfrm>
              <a:off x="5721290" y="5484307"/>
              <a:ext cx="283155" cy="283154"/>
              <a:chOff x="10722212" y="2729558"/>
              <a:chExt cx="663407" cy="663407"/>
            </a:xfrm>
          </p:grpSpPr>
          <p:sp>
            <p:nvSpPr>
              <p:cNvPr id="197" name="Google Shape;1650;p10">
                <a:extLst>
                  <a:ext uri="{FF2B5EF4-FFF2-40B4-BE49-F238E27FC236}">
                    <a16:creationId xmlns:a16="http://schemas.microsoft.com/office/drawing/2014/main" id="{E7A28E6E-2696-56B9-BDDE-726A231B983C}"/>
                  </a:ext>
                </a:extLst>
              </p:cNvPr>
              <p:cNvSpPr/>
              <p:nvPr/>
            </p:nvSpPr>
            <p:spPr>
              <a:xfrm>
                <a:off x="10722212" y="272955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98" name="Google Shape;1651;p10">
                <a:extLst>
                  <a:ext uri="{FF2B5EF4-FFF2-40B4-BE49-F238E27FC236}">
                    <a16:creationId xmlns:a16="http://schemas.microsoft.com/office/drawing/2014/main" id="{E005FEA5-4E37-7518-02CE-E9E1A48EEA52}"/>
                  </a:ext>
                </a:extLst>
              </p:cNvPr>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84" name="Google Shape;1652;p10">
              <a:extLst>
                <a:ext uri="{FF2B5EF4-FFF2-40B4-BE49-F238E27FC236}">
                  <a16:creationId xmlns:a16="http://schemas.microsoft.com/office/drawing/2014/main" id="{7ACDAFB3-15D9-E4C0-72ED-1078FA809D89}"/>
                </a:ext>
              </a:extLst>
            </p:cNvPr>
            <p:cNvGrpSpPr/>
            <p:nvPr/>
          </p:nvGrpSpPr>
          <p:grpSpPr>
            <a:xfrm>
              <a:off x="4576370" y="5484188"/>
              <a:ext cx="283155" cy="283154"/>
              <a:chOff x="572541" y="5475121"/>
              <a:chExt cx="663407" cy="663407"/>
            </a:xfrm>
          </p:grpSpPr>
          <p:sp>
            <p:nvSpPr>
              <p:cNvPr id="195" name="Google Shape;1653;p10">
                <a:extLst>
                  <a:ext uri="{FF2B5EF4-FFF2-40B4-BE49-F238E27FC236}">
                    <a16:creationId xmlns:a16="http://schemas.microsoft.com/office/drawing/2014/main" id="{035E0577-2768-04C4-F3EE-A508AFB6627F}"/>
                  </a:ext>
                </a:extLst>
              </p:cNvPr>
              <p:cNvSpPr/>
              <p:nvPr/>
            </p:nvSpPr>
            <p:spPr>
              <a:xfrm>
                <a:off x="572541" y="547512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96" name="Google Shape;1654;p10">
                <a:extLst>
                  <a:ext uri="{FF2B5EF4-FFF2-40B4-BE49-F238E27FC236}">
                    <a16:creationId xmlns:a16="http://schemas.microsoft.com/office/drawing/2014/main" id="{4F75B5F9-C4CF-D0E2-EB7B-6AD47DDE38BF}"/>
                  </a:ext>
                </a:extLst>
              </p:cNvPr>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85" name="Google Shape;1655;p10">
              <a:extLst>
                <a:ext uri="{FF2B5EF4-FFF2-40B4-BE49-F238E27FC236}">
                  <a16:creationId xmlns:a16="http://schemas.microsoft.com/office/drawing/2014/main" id="{C7A5146E-812E-B6AF-48B9-7A5FA157655D}"/>
                </a:ext>
              </a:extLst>
            </p:cNvPr>
            <p:cNvGrpSpPr/>
            <p:nvPr/>
          </p:nvGrpSpPr>
          <p:grpSpPr>
            <a:xfrm>
              <a:off x="5144738" y="5484189"/>
              <a:ext cx="283155" cy="283154"/>
              <a:chOff x="9272259" y="5475121"/>
              <a:chExt cx="663407" cy="663407"/>
            </a:xfrm>
          </p:grpSpPr>
          <p:sp>
            <p:nvSpPr>
              <p:cNvPr id="193" name="Google Shape;1656;p10">
                <a:extLst>
                  <a:ext uri="{FF2B5EF4-FFF2-40B4-BE49-F238E27FC236}">
                    <a16:creationId xmlns:a16="http://schemas.microsoft.com/office/drawing/2014/main" id="{661012DB-B15E-39F4-8CE9-3D186484494D}"/>
                  </a:ext>
                </a:extLst>
              </p:cNvPr>
              <p:cNvSpPr/>
              <p:nvPr/>
            </p:nvSpPr>
            <p:spPr>
              <a:xfrm>
                <a:off x="9272259" y="5475121"/>
                <a:ext cx="663407" cy="663407"/>
              </a:xfrm>
              <a:prstGeom prst="ellipse">
                <a:avLst/>
              </a:prstGeom>
              <a:gradFill>
                <a:gsLst>
                  <a:gs pos="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94" name="Google Shape;1657;p10">
                <a:extLst>
                  <a:ext uri="{FF2B5EF4-FFF2-40B4-BE49-F238E27FC236}">
                    <a16:creationId xmlns:a16="http://schemas.microsoft.com/office/drawing/2014/main" id="{90C06DED-1951-EBD6-51A5-D2B31E6950B2}"/>
                  </a:ext>
                </a:extLst>
              </p:cNvPr>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86" name="Google Shape;1658;p10">
              <a:extLst>
                <a:ext uri="{FF2B5EF4-FFF2-40B4-BE49-F238E27FC236}">
                  <a16:creationId xmlns:a16="http://schemas.microsoft.com/office/drawing/2014/main" id="{D1623684-F55B-CC72-96DD-0E2981BBA9A4}"/>
                </a:ext>
              </a:extLst>
            </p:cNvPr>
            <p:cNvGrpSpPr/>
            <p:nvPr/>
          </p:nvGrpSpPr>
          <p:grpSpPr>
            <a:xfrm>
              <a:off x="4507602" y="4234126"/>
              <a:ext cx="1597075" cy="198035"/>
              <a:chOff x="4507602" y="2073203"/>
              <a:chExt cx="1597075" cy="198035"/>
            </a:xfrm>
          </p:grpSpPr>
          <p:sp>
            <p:nvSpPr>
              <p:cNvPr id="191" name="Google Shape;1659;p10">
                <a:extLst>
                  <a:ext uri="{FF2B5EF4-FFF2-40B4-BE49-F238E27FC236}">
                    <a16:creationId xmlns:a16="http://schemas.microsoft.com/office/drawing/2014/main" id="{7D518B11-2342-0BF8-E9B3-88F876C380E7}"/>
                  </a:ext>
                </a:extLst>
              </p:cNvPr>
              <p:cNvSpPr/>
              <p:nvPr/>
            </p:nvSpPr>
            <p:spPr>
              <a:xfrm>
                <a:off x="4507602" y="2073203"/>
                <a:ext cx="1597075" cy="198035"/>
              </a:xfrm>
              <a:prstGeom prst="roundRect">
                <a:avLst>
                  <a:gd name="adj" fmla="val 50000"/>
                </a:avLst>
              </a:prstGeom>
              <a:solidFill>
                <a:schemeClr val="lt1"/>
              </a:solidFill>
              <a:ln w="254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a:ln>
                      <a:noFill/>
                    </a:ln>
                    <a:solidFill>
                      <a:srgbClr val="000000"/>
                    </a:solidFill>
                    <a:effectLst/>
                    <a:uLnTx/>
                    <a:uFillTx/>
                    <a:latin typeface="Arial"/>
                    <a:ea typeface="Arial"/>
                    <a:cs typeface="Arial"/>
                    <a:sym typeface="Arial"/>
                  </a:rPr>
                  <a:t>       Workload Domain</a:t>
                </a:r>
                <a:endParaRPr kumimoji="0" sz="700" b="0" i="0" u="none" strike="noStrike" kern="1200" cap="none" spc="0" normalizeH="0" baseline="0" noProof="0">
                  <a:ln>
                    <a:noFill/>
                  </a:ln>
                  <a:solidFill>
                    <a:srgbClr val="000000"/>
                  </a:solidFill>
                  <a:effectLst/>
                  <a:uLnTx/>
                  <a:uFillTx/>
                  <a:latin typeface="Arial"/>
                  <a:ea typeface="Arial"/>
                  <a:cs typeface="Arial"/>
                  <a:sym typeface="Arial"/>
                </a:endParaRPr>
              </a:p>
            </p:txBody>
          </p:sp>
          <p:pic>
            <p:nvPicPr>
              <p:cNvPr id="192" name="Google Shape;1660;p10">
                <a:extLst>
                  <a:ext uri="{FF2B5EF4-FFF2-40B4-BE49-F238E27FC236}">
                    <a16:creationId xmlns:a16="http://schemas.microsoft.com/office/drawing/2014/main" id="{5BA1616A-762D-1439-75BC-2842EBBFC347}"/>
                  </a:ext>
                </a:extLst>
              </p:cNvPr>
              <p:cNvPicPr preferRelativeResize="0"/>
              <p:nvPr/>
            </p:nvPicPr>
            <p:blipFill rotWithShape="1">
              <a:blip r:embed="rId4">
                <a:alphaModFix/>
              </a:blip>
              <a:srcRect/>
              <a:stretch/>
            </p:blipFill>
            <p:spPr>
              <a:xfrm>
                <a:off x="4647230" y="2085898"/>
                <a:ext cx="157608" cy="173213"/>
              </a:xfrm>
              <a:prstGeom prst="rect">
                <a:avLst/>
              </a:prstGeom>
              <a:noFill/>
              <a:ln>
                <a:noFill/>
              </a:ln>
            </p:spPr>
          </p:pic>
        </p:grpSp>
        <p:sp>
          <p:nvSpPr>
            <p:cNvPr id="187" name="Google Shape;1661;p10">
              <a:extLst>
                <a:ext uri="{FF2B5EF4-FFF2-40B4-BE49-F238E27FC236}">
                  <a16:creationId xmlns:a16="http://schemas.microsoft.com/office/drawing/2014/main" id="{FE89C356-46F7-28BA-5EB3-09F5E477E9CB}"/>
                </a:ext>
              </a:extLst>
            </p:cNvPr>
            <p:cNvSpPr/>
            <p:nvPr/>
          </p:nvSpPr>
          <p:spPr>
            <a:xfrm>
              <a:off x="4476708" y="5111036"/>
              <a:ext cx="791217" cy="161072"/>
            </a:xfrm>
            <a:prstGeom prst="roundRect">
              <a:avLst>
                <a:gd name="adj" fmla="val 6349"/>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650" b="1" i="0" u="none" strike="noStrike" kern="1200" cap="none" spc="0" normalizeH="0" baseline="0" noProof="0">
                  <a:ln>
                    <a:noFill/>
                  </a:ln>
                  <a:solidFill>
                    <a:srgbClr val="FFFFFF"/>
                  </a:solidFill>
                  <a:effectLst/>
                  <a:uLnTx/>
                  <a:uFillTx/>
                  <a:latin typeface="Arial"/>
                  <a:ea typeface="Arial"/>
                  <a:cs typeface="Arial"/>
                  <a:sym typeface="Arial"/>
                </a:rPr>
                <a:t>vCenter Server</a:t>
              </a:r>
              <a:endParaRPr kumimoji="0" sz="65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88" name="Google Shape;1662;p10">
              <a:extLst>
                <a:ext uri="{FF2B5EF4-FFF2-40B4-BE49-F238E27FC236}">
                  <a16:creationId xmlns:a16="http://schemas.microsoft.com/office/drawing/2014/main" id="{BAF50A0C-983C-A444-708D-E41851B52B69}"/>
                </a:ext>
              </a:extLst>
            </p:cNvPr>
            <p:cNvSpPr txBox="1"/>
            <p:nvPr/>
          </p:nvSpPr>
          <p:spPr>
            <a:xfrm>
              <a:off x="4924734" y="5356478"/>
              <a:ext cx="753411" cy="100027"/>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5C8A"/>
                </a:buClr>
                <a:buSzPts val="650"/>
                <a:buFont typeface="Arial"/>
                <a:buNone/>
                <a:tabLst/>
                <a:defRPr/>
              </a:pPr>
              <a:r>
                <a:rPr kumimoji="0" lang="en-US" sz="650" b="1" i="0" u="none" strike="noStrike" kern="1200" cap="none" spc="0" normalizeH="0" baseline="0" noProof="0">
                  <a:ln>
                    <a:noFill/>
                  </a:ln>
                  <a:solidFill>
                    <a:srgbClr val="005C8A"/>
                  </a:solidFill>
                  <a:effectLst/>
                  <a:uLnTx/>
                  <a:uFillTx/>
                  <a:latin typeface="Arial"/>
                  <a:ea typeface="Arial"/>
                  <a:cs typeface="Arial"/>
                  <a:sym typeface="Arial"/>
                </a:rPr>
                <a:t>Core Infrastructure</a:t>
              </a: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189" name="Google Shape;1663;p10">
              <a:extLst>
                <a:ext uri="{FF2B5EF4-FFF2-40B4-BE49-F238E27FC236}">
                  <a16:creationId xmlns:a16="http://schemas.microsoft.com/office/drawing/2014/main" id="{21B34A54-9AB3-95A1-0725-E35E368CF396}"/>
                </a:ext>
              </a:extLst>
            </p:cNvPr>
            <p:cNvSpPr/>
            <p:nvPr/>
          </p:nvSpPr>
          <p:spPr>
            <a:xfrm>
              <a:off x="5322645" y="5109189"/>
              <a:ext cx="816654" cy="161072"/>
            </a:xfrm>
            <a:prstGeom prst="roundRect">
              <a:avLst>
                <a:gd name="adj" fmla="val 6349"/>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650" b="1" i="0" u="none" strike="noStrike" kern="1200" cap="none" spc="0" normalizeH="0" baseline="0" noProof="0">
                  <a:ln>
                    <a:noFill/>
                  </a:ln>
                  <a:solidFill>
                    <a:srgbClr val="FFFFFF"/>
                  </a:solidFill>
                  <a:effectLst/>
                  <a:uLnTx/>
                  <a:uFillTx/>
                  <a:latin typeface="Arial"/>
                  <a:ea typeface="Arial"/>
                  <a:cs typeface="Arial"/>
                  <a:sym typeface="Arial"/>
                </a:rPr>
                <a:t>NSX Manager</a:t>
              </a:r>
              <a:endParaRPr kumimoji="0" sz="65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90" name="Google Shape;1664;p10">
              <a:extLst>
                <a:ext uri="{FF2B5EF4-FFF2-40B4-BE49-F238E27FC236}">
                  <a16:creationId xmlns:a16="http://schemas.microsoft.com/office/drawing/2014/main" id="{76656A92-10DC-7E57-17A1-CFB12D151F9F}"/>
                </a:ext>
              </a:extLst>
            </p:cNvPr>
            <p:cNvSpPr/>
            <p:nvPr/>
          </p:nvSpPr>
          <p:spPr>
            <a:xfrm>
              <a:off x="4950404" y="4906232"/>
              <a:ext cx="701104" cy="151298"/>
            </a:xfrm>
            <a:prstGeom prst="roundRect">
              <a:avLst>
                <a:gd name="adj" fmla="val 2356"/>
              </a:avLst>
            </a:prstGeom>
            <a:solidFill>
              <a:schemeClr val="lt1"/>
            </a:solidFill>
            <a:ln w="12700" cap="flat" cmpd="sng">
              <a:solidFill>
                <a:srgbClr val="23800A"/>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700" b="0" i="0" u="none" strike="noStrike" kern="1200" cap="none" spc="0" normalizeH="0" baseline="0" noProof="0">
                  <a:ln>
                    <a:noFill/>
                  </a:ln>
                  <a:solidFill>
                    <a:srgbClr val="23800A"/>
                  </a:solidFill>
                  <a:effectLst/>
                  <a:uLnTx/>
                  <a:uFillTx/>
                  <a:latin typeface="Arial"/>
                  <a:ea typeface="Arial"/>
                  <a:cs typeface="Arial"/>
                  <a:sym typeface="Arial"/>
                </a:rPr>
                <a:t>Cluster…</a:t>
              </a:r>
              <a:endParaRPr kumimoji="0" sz="700" b="0" i="0" u="none" strike="noStrike" kern="1200" cap="none" spc="0" normalizeH="0" baseline="0" noProof="0">
                <a:ln>
                  <a:noFill/>
                </a:ln>
                <a:solidFill>
                  <a:srgbClr val="23800A"/>
                </a:solidFill>
                <a:effectLst/>
                <a:uLnTx/>
                <a:uFillTx/>
                <a:latin typeface="Arial"/>
                <a:ea typeface="Arial"/>
                <a:cs typeface="Arial"/>
                <a:sym typeface="Arial"/>
              </a:endParaRPr>
            </a:p>
          </p:txBody>
        </p:sp>
      </p:grpSp>
      <p:grpSp>
        <p:nvGrpSpPr>
          <p:cNvPr id="199" name="Google Shape;1665;p10">
            <a:extLst>
              <a:ext uri="{FF2B5EF4-FFF2-40B4-BE49-F238E27FC236}">
                <a16:creationId xmlns:a16="http://schemas.microsoft.com/office/drawing/2014/main" id="{4E17CB07-A467-4E59-27A8-F19D6DB68656}"/>
              </a:ext>
            </a:extLst>
          </p:cNvPr>
          <p:cNvGrpSpPr/>
          <p:nvPr/>
        </p:nvGrpSpPr>
        <p:grpSpPr>
          <a:xfrm>
            <a:off x="3358208" y="4855420"/>
            <a:ext cx="1835838" cy="855674"/>
            <a:chOff x="3646549" y="4854958"/>
            <a:chExt cx="1835838" cy="855674"/>
          </a:xfrm>
        </p:grpSpPr>
        <p:sp>
          <p:nvSpPr>
            <p:cNvPr id="200" name="Google Shape;1666;p10">
              <a:extLst>
                <a:ext uri="{FF2B5EF4-FFF2-40B4-BE49-F238E27FC236}">
                  <a16:creationId xmlns:a16="http://schemas.microsoft.com/office/drawing/2014/main" id="{443DF600-A981-AE95-10D7-D3E817B65DE6}"/>
                </a:ext>
              </a:extLst>
            </p:cNvPr>
            <p:cNvSpPr/>
            <p:nvPr/>
          </p:nvSpPr>
          <p:spPr>
            <a:xfrm>
              <a:off x="3646549" y="4854958"/>
              <a:ext cx="1835838" cy="855674"/>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201" name="Google Shape;1667;p10">
              <a:extLst>
                <a:ext uri="{FF2B5EF4-FFF2-40B4-BE49-F238E27FC236}">
                  <a16:creationId xmlns:a16="http://schemas.microsoft.com/office/drawing/2014/main" id="{8EB0D06C-C3AE-1C71-5E5E-5724AA482139}"/>
                </a:ext>
              </a:extLst>
            </p:cNvPr>
            <p:cNvPicPr preferRelativeResize="0"/>
            <p:nvPr/>
          </p:nvPicPr>
          <p:blipFill rotWithShape="1">
            <a:blip r:embed="rId3">
              <a:alphaModFix/>
            </a:blip>
            <a:srcRect l="6724" t="67309" r="8271" b="3743"/>
            <a:stretch/>
          </p:blipFill>
          <p:spPr>
            <a:xfrm>
              <a:off x="3670019" y="5481809"/>
              <a:ext cx="592030" cy="201601"/>
            </a:xfrm>
            <a:prstGeom prst="rect">
              <a:avLst/>
            </a:prstGeom>
            <a:noFill/>
            <a:ln>
              <a:noFill/>
            </a:ln>
          </p:spPr>
        </p:pic>
        <p:pic>
          <p:nvPicPr>
            <p:cNvPr id="202" name="Google Shape;1668;p10">
              <a:extLst>
                <a:ext uri="{FF2B5EF4-FFF2-40B4-BE49-F238E27FC236}">
                  <a16:creationId xmlns:a16="http://schemas.microsoft.com/office/drawing/2014/main" id="{64808CA8-4A58-E825-A3F3-2DB239DC1E7C}"/>
                </a:ext>
              </a:extLst>
            </p:cNvPr>
            <p:cNvPicPr preferRelativeResize="0"/>
            <p:nvPr/>
          </p:nvPicPr>
          <p:blipFill rotWithShape="1">
            <a:blip r:embed="rId3">
              <a:alphaModFix/>
            </a:blip>
            <a:srcRect l="6724" t="67309" r="8271" b="3743"/>
            <a:stretch/>
          </p:blipFill>
          <p:spPr>
            <a:xfrm>
              <a:off x="4265104" y="5481809"/>
              <a:ext cx="592030" cy="201601"/>
            </a:xfrm>
            <a:prstGeom prst="rect">
              <a:avLst/>
            </a:prstGeom>
            <a:noFill/>
            <a:ln>
              <a:noFill/>
            </a:ln>
          </p:spPr>
        </p:pic>
        <p:pic>
          <p:nvPicPr>
            <p:cNvPr id="203" name="Google Shape;1669;p10">
              <a:extLst>
                <a:ext uri="{FF2B5EF4-FFF2-40B4-BE49-F238E27FC236}">
                  <a16:creationId xmlns:a16="http://schemas.microsoft.com/office/drawing/2014/main" id="{2233B993-829E-4B7D-4581-90DE164DA75A}"/>
                </a:ext>
              </a:extLst>
            </p:cNvPr>
            <p:cNvPicPr preferRelativeResize="0"/>
            <p:nvPr/>
          </p:nvPicPr>
          <p:blipFill rotWithShape="1">
            <a:blip r:embed="rId3">
              <a:alphaModFix/>
            </a:blip>
            <a:srcRect l="6724" t="67309" r="8271" b="3743"/>
            <a:stretch/>
          </p:blipFill>
          <p:spPr>
            <a:xfrm>
              <a:off x="4867389" y="5481809"/>
              <a:ext cx="592030" cy="201601"/>
            </a:xfrm>
            <a:prstGeom prst="rect">
              <a:avLst/>
            </a:prstGeom>
            <a:noFill/>
            <a:ln>
              <a:noFill/>
            </a:ln>
          </p:spPr>
        </p:pic>
      </p:grpSp>
      <p:grpSp>
        <p:nvGrpSpPr>
          <p:cNvPr id="204" name="Google Shape;1670;p10">
            <a:extLst>
              <a:ext uri="{FF2B5EF4-FFF2-40B4-BE49-F238E27FC236}">
                <a16:creationId xmlns:a16="http://schemas.microsoft.com/office/drawing/2014/main" id="{BB7F5DC4-4253-6ACB-308E-48F3D4637FEF}"/>
              </a:ext>
            </a:extLst>
          </p:cNvPr>
          <p:cNvGrpSpPr/>
          <p:nvPr/>
        </p:nvGrpSpPr>
        <p:grpSpPr>
          <a:xfrm>
            <a:off x="851768" y="3073520"/>
            <a:ext cx="1835838" cy="653553"/>
            <a:chOff x="4637572" y="5714465"/>
            <a:chExt cx="1835838" cy="653553"/>
          </a:xfrm>
        </p:grpSpPr>
        <p:sp>
          <p:nvSpPr>
            <p:cNvPr id="205" name="Google Shape;1671;p10">
              <a:extLst>
                <a:ext uri="{FF2B5EF4-FFF2-40B4-BE49-F238E27FC236}">
                  <a16:creationId xmlns:a16="http://schemas.microsoft.com/office/drawing/2014/main" id="{E9FA16DB-C613-7B3A-24F6-493035781F8D}"/>
                </a:ext>
              </a:extLst>
            </p:cNvPr>
            <p:cNvSpPr/>
            <p:nvPr/>
          </p:nvSpPr>
          <p:spPr>
            <a:xfrm>
              <a:off x="4637572" y="5714465"/>
              <a:ext cx="1835838" cy="653553"/>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206" name="Google Shape;1672;p10">
              <a:extLst>
                <a:ext uri="{FF2B5EF4-FFF2-40B4-BE49-F238E27FC236}">
                  <a16:creationId xmlns:a16="http://schemas.microsoft.com/office/drawing/2014/main" id="{F3D4A549-B58E-18B5-AD51-ECAAA04C8E05}"/>
                </a:ext>
              </a:extLst>
            </p:cNvPr>
            <p:cNvPicPr preferRelativeResize="0"/>
            <p:nvPr/>
          </p:nvPicPr>
          <p:blipFill rotWithShape="1">
            <a:blip r:embed="rId5">
              <a:alphaModFix/>
            </a:blip>
            <a:srcRect l="6724" t="67309" r="8271" b="3743"/>
            <a:stretch/>
          </p:blipFill>
          <p:spPr>
            <a:xfrm>
              <a:off x="4663002" y="6146720"/>
              <a:ext cx="592030" cy="201601"/>
            </a:xfrm>
            <a:prstGeom prst="rect">
              <a:avLst/>
            </a:prstGeom>
            <a:noFill/>
            <a:ln>
              <a:noFill/>
            </a:ln>
          </p:spPr>
        </p:pic>
        <p:pic>
          <p:nvPicPr>
            <p:cNvPr id="207" name="Google Shape;1673;p10">
              <a:extLst>
                <a:ext uri="{FF2B5EF4-FFF2-40B4-BE49-F238E27FC236}">
                  <a16:creationId xmlns:a16="http://schemas.microsoft.com/office/drawing/2014/main" id="{D973106F-1FFE-3B4B-789B-628D64F2E3E5}"/>
                </a:ext>
              </a:extLst>
            </p:cNvPr>
            <p:cNvPicPr preferRelativeResize="0"/>
            <p:nvPr/>
          </p:nvPicPr>
          <p:blipFill rotWithShape="1">
            <a:blip r:embed="rId5">
              <a:alphaModFix/>
            </a:blip>
            <a:srcRect l="6724" t="67309" r="8271" b="3743"/>
            <a:stretch/>
          </p:blipFill>
          <p:spPr>
            <a:xfrm>
              <a:off x="5258087" y="6146720"/>
              <a:ext cx="592030" cy="201601"/>
            </a:xfrm>
            <a:prstGeom prst="rect">
              <a:avLst/>
            </a:prstGeom>
            <a:noFill/>
            <a:ln>
              <a:noFill/>
            </a:ln>
          </p:spPr>
        </p:pic>
        <p:pic>
          <p:nvPicPr>
            <p:cNvPr id="208" name="Google Shape;1674;p10">
              <a:extLst>
                <a:ext uri="{FF2B5EF4-FFF2-40B4-BE49-F238E27FC236}">
                  <a16:creationId xmlns:a16="http://schemas.microsoft.com/office/drawing/2014/main" id="{59A604AA-D18E-05E7-4716-A81CD2174A69}"/>
                </a:ext>
              </a:extLst>
            </p:cNvPr>
            <p:cNvPicPr preferRelativeResize="0"/>
            <p:nvPr/>
          </p:nvPicPr>
          <p:blipFill rotWithShape="1">
            <a:blip r:embed="rId5">
              <a:alphaModFix/>
            </a:blip>
            <a:srcRect l="6724" t="67309" r="8271" b="3743"/>
            <a:stretch/>
          </p:blipFill>
          <p:spPr>
            <a:xfrm>
              <a:off x="5860372" y="6146720"/>
              <a:ext cx="592030" cy="201601"/>
            </a:xfrm>
            <a:prstGeom prst="rect">
              <a:avLst/>
            </a:prstGeom>
            <a:noFill/>
            <a:ln>
              <a:noFill/>
            </a:ln>
          </p:spPr>
        </p:pic>
        <p:pic>
          <p:nvPicPr>
            <p:cNvPr id="209" name="Google Shape;1675;p10">
              <a:extLst>
                <a:ext uri="{FF2B5EF4-FFF2-40B4-BE49-F238E27FC236}">
                  <a16:creationId xmlns:a16="http://schemas.microsoft.com/office/drawing/2014/main" id="{310BF5AF-113C-BDE7-A99C-5F587282FEE1}"/>
                </a:ext>
              </a:extLst>
            </p:cNvPr>
            <p:cNvPicPr preferRelativeResize="0"/>
            <p:nvPr/>
          </p:nvPicPr>
          <p:blipFill rotWithShape="1">
            <a:blip r:embed="rId5">
              <a:alphaModFix/>
            </a:blip>
            <a:srcRect l="6724" t="67309" r="8271" b="3743"/>
            <a:stretch/>
          </p:blipFill>
          <p:spPr>
            <a:xfrm>
              <a:off x="4669352" y="5941887"/>
              <a:ext cx="592030" cy="201601"/>
            </a:xfrm>
            <a:prstGeom prst="rect">
              <a:avLst/>
            </a:prstGeom>
            <a:noFill/>
            <a:ln>
              <a:noFill/>
            </a:ln>
          </p:spPr>
        </p:pic>
        <p:pic>
          <p:nvPicPr>
            <p:cNvPr id="210" name="Google Shape;1676;p10">
              <a:extLst>
                <a:ext uri="{FF2B5EF4-FFF2-40B4-BE49-F238E27FC236}">
                  <a16:creationId xmlns:a16="http://schemas.microsoft.com/office/drawing/2014/main" id="{842D55F7-C266-67E7-59CA-71E79F9BDBC8}"/>
                </a:ext>
              </a:extLst>
            </p:cNvPr>
            <p:cNvPicPr preferRelativeResize="0"/>
            <p:nvPr/>
          </p:nvPicPr>
          <p:blipFill rotWithShape="1">
            <a:blip r:embed="rId5">
              <a:alphaModFix/>
            </a:blip>
            <a:srcRect l="6724" t="67309" r="8271" b="3743"/>
            <a:stretch/>
          </p:blipFill>
          <p:spPr>
            <a:xfrm>
              <a:off x="5264437" y="5941887"/>
              <a:ext cx="592030" cy="201601"/>
            </a:xfrm>
            <a:prstGeom prst="rect">
              <a:avLst/>
            </a:prstGeom>
            <a:noFill/>
            <a:ln>
              <a:noFill/>
            </a:ln>
          </p:spPr>
        </p:pic>
        <p:pic>
          <p:nvPicPr>
            <p:cNvPr id="211" name="Google Shape;1677;p10">
              <a:extLst>
                <a:ext uri="{FF2B5EF4-FFF2-40B4-BE49-F238E27FC236}">
                  <a16:creationId xmlns:a16="http://schemas.microsoft.com/office/drawing/2014/main" id="{3E74E8F3-0A32-CBC8-2B09-7B150C7A089A}"/>
                </a:ext>
              </a:extLst>
            </p:cNvPr>
            <p:cNvPicPr preferRelativeResize="0"/>
            <p:nvPr/>
          </p:nvPicPr>
          <p:blipFill rotWithShape="1">
            <a:blip r:embed="rId5">
              <a:alphaModFix/>
            </a:blip>
            <a:srcRect l="6724" t="67309" r="8271" b="3743"/>
            <a:stretch/>
          </p:blipFill>
          <p:spPr>
            <a:xfrm>
              <a:off x="5866722" y="5941887"/>
              <a:ext cx="592030" cy="201601"/>
            </a:xfrm>
            <a:prstGeom prst="rect">
              <a:avLst/>
            </a:prstGeom>
            <a:noFill/>
            <a:ln>
              <a:noFill/>
            </a:ln>
          </p:spPr>
        </p:pic>
        <p:pic>
          <p:nvPicPr>
            <p:cNvPr id="212" name="Google Shape;1678;p10">
              <a:extLst>
                <a:ext uri="{FF2B5EF4-FFF2-40B4-BE49-F238E27FC236}">
                  <a16:creationId xmlns:a16="http://schemas.microsoft.com/office/drawing/2014/main" id="{A5F70C86-C2FE-49F3-9605-A21FEBF840F0}"/>
                </a:ext>
              </a:extLst>
            </p:cNvPr>
            <p:cNvPicPr preferRelativeResize="0"/>
            <p:nvPr/>
          </p:nvPicPr>
          <p:blipFill rotWithShape="1">
            <a:blip r:embed="rId5">
              <a:alphaModFix/>
            </a:blip>
            <a:srcRect l="6724" t="67309" r="8271" b="3743"/>
            <a:stretch/>
          </p:blipFill>
          <p:spPr>
            <a:xfrm>
              <a:off x="4668427" y="5743855"/>
              <a:ext cx="592030" cy="201601"/>
            </a:xfrm>
            <a:prstGeom prst="rect">
              <a:avLst/>
            </a:prstGeom>
            <a:noFill/>
            <a:ln>
              <a:noFill/>
            </a:ln>
          </p:spPr>
        </p:pic>
        <p:pic>
          <p:nvPicPr>
            <p:cNvPr id="213" name="Google Shape;1679;p10">
              <a:extLst>
                <a:ext uri="{FF2B5EF4-FFF2-40B4-BE49-F238E27FC236}">
                  <a16:creationId xmlns:a16="http://schemas.microsoft.com/office/drawing/2014/main" id="{688C0CA4-8588-1A1C-D543-6D4156DF35B3}"/>
                </a:ext>
              </a:extLst>
            </p:cNvPr>
            <p:cNvPicPr preferRelativeResize="0"/>
            <p:nvPr/>
          </p:nvPicPr>
          <p:blipFill rotWithShape="1">
            <a:blip r:embed="rId5">
              <a:alphaModFix/>
            </a:blip>
            <a:srcRect l="6724" t="67309" r="8271" b="3743"/>
            <a:stretch/>
          </p:blipFill>
          <p:spPr>
            <a:xfrm>
              <a:off x="5263512" y="5743855"/>
              <a:ext cx="592030" cy="201601"/>
            </a:xfrm>
            <a:prstGeom prst="rect">
              <a:avLst/>
            </a:prstGeom>
            <a:noFill/>
            <a:ln>
              <a:noFill/>
            </a:ln>
          </p:spPr>
        </p:pic>
        <p:pic>
          <p:nvPicPr>
            <p:cNvPr id="214" name="Google Shape;1680;p10">
              <a:extLst>
                <a:ext uri="{FF2B5EF4-FFF2-40B4-BE49-F238E27FC236}">
                  <a16:creationId xmlns:a16="http://schemas.microsoft.com/office/drawing/2014/main" id="{C68D65B5-DFA4-D0F8-9A4D-E4FB82D0E915}"/>
                </a:ext>
              </a:extLst>
            </p:cNvPr>
            <p:cNvPicPr preferRelativeResize="0"/>
            <p:nvPr/>
          </p:nvPicPr>
          <p:blipFill rotWithShape="1">
            <a:blip r:embed="rId5">
              <a:alphaModFix/>
            </a:blip>
            <a:srcRect l="6724" t="67309" r="8271" b="3743"/>
            <a:stretch/>
          </p:blipFill>
          <p:spPr>
            <a:xfrm>
              <a:off x="5865797" y="5743855"/>
              <a:ext cx="592030" cy="201601"/>
            </a:xfrm>
            <a:prstGeom prst="rect">
              <a:avLst/>
            </a:prstGeom>
            <a:noFill/>
            <a:ln>
              <a:noFill/>
            </a:ln>
          </p:spPr>
        </p:pic>
      </p:grpSp>
      <p:grpSp>
        <p:nvGrpSpPr>
          <p:cNvPr id="215" name="Google Shape;1681;p10">
            <a:extLst>
              <a:ext uri="{FF2B5EF4-FFF2-40B4-BE49-F238E27FC236}">
                <a16:creationId xmlns:a16="http://schemas.microsoft.com/office/drawing/2014/main" id="{6F5184A0-DF0C-0C42-7E61-B475216F0F47}"/>
              </a:ext>
            </a:extLst>
          </p:cNvPr>
          <p:cNvGrpSpPr/>
          <p:nvPr/>
        </p:nvGrpSpPr>
        <p:grpSpPr>
          <a:xfrm>
            <a:off x="3363336" y="4861714"/>
            <a:ext cx="1835838" cy="855674"/>
            <a:chOff x="4637572" y="5714465"/>
            <a:chExt cx="1835838" cy="855674"/>
          </a:xfrm>
        </p:grpSpPr>
        <p:sp>
          <p:nvSpPr>
            <p:cNvPr id="216" name="Google Shape;1682;p10">
              <a:extLst>
                <a:ext uri="{FF2B5EF4-FFF2-40B4-BE49-F238E27FC236}">
                  <a16:creationId xmlns:a16="http://schemas.microsoft.com/office/drawing/2014/main" id="{6993D6BD-13B0-FDBE-02CB-76D2A66E1378}"/>
                </a:ext>
              </a:extLst>
            </p:cNvPr>
            <p:cNvSpPr/>
            <p:nvPr/>
          </p:nvSpPr>
          <p:spPr>
            <a:xfrm>
              <a:off x="4637572" y="5714465"/>
              <a:ext cx="1835838" cy="855674"/>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217" name="Google Shape;1683;p10">
              <a:extLst>
                <a:ext uri="{FF2B5EF4-FFF2-40B4-BE49-F238E27FC236}">
                  <a16:creationId xmlns:a16="http://schemas.microsoft.com/office/drawing/2014/main" id="{C5371147-7B60-43C0-F4C3-E496FF89400C}"/>
                </a:ext>
              </a:extLst>
            </p:cNvPr>
            <p:cNvPicPr preferRelativeResize="0"/>
            <p:nvPr/>
          </p:nvPicPr>
          <p:blipFill rotWithShape="1">
            <a:blip r:embed="rId3">
              <a:alphaModFix/>
            </a:blip>
            <a:srcRect l="6724" t="67309" r="8271" b="3743"/>
            <a:stretch/>
          </p:blipFill>
          <p:spPr>
            <a:xfrm>
              <a:off x="4661042" y="6341316"/>
              <a:ext cx="592030" cy="201601"/>
            </a:xfrm>
            <a:prstGeom prst="rect">
              <a:avLst/>
            </a:prstGeom>
            <a:noFill/>
            <a:ln>
              <a:noFill/>
            </a:ln>
          </p:spPr>
        </p:pic>
        <p:pic>
          <p:nvPicPr>
            <p:cNvPr id="218" name="Google Shape;1684;p10">
              <a:extLst>
                <a:ext uri="{FF2B5EF4-FFF2-40B4-BE49-F238E27FC236}">
                  <a16:creationId xmlns:a16="http://schemas.microsoft.com/office/drawing/2014/main" id="{D01774DA-0C99-327A-F93B-22455475E014}"/>
                </a:ext>
              </a:extLst>
            </p:cNvPr>
            <p:cNvPicPr preferRelativeResize="0"/>
            <p:nvPr/>
          </p:nvPicPr>
          <p:blipFill rotWithShape="1">
            <a:blip r:embed="rId3">
              <a:alphaModFix/>
            </a:blip>
            <a:srcRect l="6724" t="67309" r="8271" b="3743"/>
            <a:stretch/>
          </p:blipFill>
          <p:spPr>
            <a:xfrm>
              <a:off x="5256127" y="6341316"/>
              <a:ext cx="592030" cy="201601"/>
            </a:xfrm>
            <a:prstGeom prst="rect">
              <a:avLst/>
            </a:prstGeom>
            <a:noFill/>
            <a:ln>
              <a:noFill/>
            </a:ln>
          </p:spPr>
        </p:pic>
        <p:pic>
          <p:nvPicPr>
            <p:cNvPr id="219" name="Google Shape;1685;p10">
              <a:extLst>
                <a:ext uri="{FF2B5EF4-FFF2-40B4-BE49-F238E27FC236}">
                  <a16:creationId xmlns:a16="http://schemas.microsoft.com/office/drawing/2014/main" id="{9BBC6D58-2A11-6C94-36B9-E5BF6758E211}"/>
                </a:ext>
              </a:extLst>
            </p:cNvPr>
            <p:cNvPicPr preferRelativeResize="0"/>
            <p:nvPr/>
          </p:nvPicPr>
          <p:blipFill rotWithShape="1">
            <a:blip r:embed="rId3">
              <a:alphaModFix/>
            </a:blip>
            <a:srcRect l="6724" t="67309" r="8271" b="3743"/>
            <a:stretch/>
          </p:blipFill>
          <p:spPr>
            <a:xfrm>
              <a:off x="5858412" y="6341316"/>
              <a:ext cx="592030" cy="201601"/>
            </a:xfrm>
            <a:prstGeom prst="rect">
              <a:avLst/>
            </a:prstGeom>
            <a:noFill/>
            <a:ln>
              <a:noFill/>
            </a:ln>
          </p:spPr>
        </p:pic>
        <p:pic>
          <p:nvPicPr>
            <p:cNvPr id="220" name="Google Shape;1686;p10">
              <a:extLst>
                <a:ext uri="{FF2B5EF4-FFF2-40B4-BE49-F238E27FC236}">
                  <a16:creationId xmlns:a16="http://schemas.microsoft.com/office/drawing/2014/main" id="{5551CB43-131A-1FFF-6CC0-69F90A786D79}"/>
                </a:ext>
              </a:extLst>
            </p:cNvPr>
            <p:cNvPicPr preferRelativeResize="0"/>
            <p:nvPr/>
          </p:nvPicPr>
          <p:blipFill rotWithShape="1">
            <a:blip r:embed="rId5">
              <a:alphaModFix/>
            </a:blip>
            <a:srcRect l="6724" t="67309" r="8271" b="3743"/>
            <a:stretch/>
          </p:blipFill>
          <p:spPr>
            <a:xfrm>
              <a:off x="4663002" y="6146720"/>
              <a:ext cx="592030" cy="201601"/>
            </a:xfrm>
            <a:prstGeom prst="rect">
              <a:avLst/>
            </a:prstGeom>
            <a:noFill/>
            <a:ln>
              <a:noFill/>
            </a:ln>
          </p:spPr>
        </p:pic>
        <p:pic>
          <p:nvPicPr>
            <p:cNvPr id="221" name="Google Shape;1687;p10">
              <a:extLst>
                <a:ext uri="{FF2B5EF4-FFF2-40B4-BE49-F238E27FC236}">
                  <a16:creationId xmlns:a16="http://schemas.microsoft.com/office/drawing/2014/main" id="{064017E5-9726-F0B6-4990-F6A69EF70DCD}"/>
                </a:ext>
              </a:extLst>
            </p:cNvPr>
            <p:cNvPicPr preferRelativeResize="0"/>
            <p:nvPr/>
          </p:nvPicPr>
          <p:blipFill rotWithShape="1">
            <a:blip r:embed="rId5">
              <a:alphaModFix/>
            </a:blip>
            <a:srcRect l="6724" t="67309" r="8271" b="3743"/>
            <a:stretch/>
          </p:blipFill>
          <p:spPr>
            <a:xfrm>
              <a:off x="5258087" y="6146720"/>
              <a:ext cx="592030" cy="201601"/>
            </a:xfrm>
            <a:prstGeom prst="rect">
              <a:avLst/>
            </a:prstGeom>
            <a:noFill/>
            <a:ln>
              <a:noFill/>
            </a:ln>
          </p:spPr>
        </p:pic>
        <p:pic>
          <p:nvPicPr>
            <p:cNvPr id="222" name="Google Shape;1688;p10">
              <a:extLst>
                <a:ext uri="{FF2B5EF4-FFF2-40B4-BE49-F238E27FC236}">
                  <a16:creationId xmlns:a16="http://schemas.microsoft.com/office/drawing/2014/main" id="{E87EB62A-2CB8-FFE2-9200-A291793367FA}"/>
                </a:ext>
              </a:extLst>
            </p:cNvPr>
            <p:cNvPicPr preferRelativeResize="0"/>
            <p:nvPr/>
          </p:nvPicPr>
          <p:blipFill rotWithShape="1">
            <a:blip r:embed="rId5">
              <a:alphaModFix/>
            </a:blip>
            <a:srcRect l="6724" t="67309" r="8271" b="3743"/>
            <a:stretch/>
          </p:blipFill>
          <p:spPr>
            <a:xfrm>
              <a:off x="5860372" y="6146720"/>
              <a:ext cx="592030" cy="201601"/>
            </a:xfrm>
            <a:prstGeom prst="rect">
              <a:avLst/>
            </a:prstGeom>
            <a:noFill/>
            <a:ln>
              <a:noFill/>
            </a:ln>
          </p:spPr>
        </p:pic>
        <p:pic>
          <p:nvPicPr>
            <p:cNvPr id="223" name="Google Shape;1689;p10">
              <a:extLst>
                <a:ext uri="{FF2B5EF4-FFF2-40B4-BE49-F238E27FC236}">
                  <a16:creationId xmlns:a16="http://schemas.microsoft.com/office/drawing/2014/main" id="{4C85F715-7267-CA71-220B-CB718F54AFA8}"/>
                </a:ext>
              </a:extLst>
            </p:cNvPr>
            <p:cNvPicPr preferRelativeResize="0"/>
            <p:nvPr/>
          </p:nvPicPr>
          <p:blipFill rotWithShape="1">
            <a:blip r:embed="rId5">
              <a:alphaModFix/>
            </a:blip>
            <a:srcRect l="6724" t="67309" r="8271" b="3743"/>
            <a:stretch/>
          </p:blipFill>
          <p:spPr>
            <a:xfrm>
              <a:off x="4669352" y="5941887"/>
              <a:ext cx="592030" cy="201601"/>
            </a:xfrm>
            <a:prstGeom prst="rect">
              <a:avLst/>
            </a:prstGeom>
            <a:noFill/>
            <a:ln>
              <a:noFill/>
            </a:ln>
          </p:spPr>
        </p:pic>
        <p:pic>
          <p:nvPicPr>
            <p:cNvPr id="224" name="Google Shape;1690;p10">
              <a:extLst>
                <a:ext uri="{FF2B5EF4-FFF2-40B4-BE49-F238E27FC236}">
                  <a16:creationId xmlns:a16="http://schemas.microsoft.com/office/drawing/2014/main" id="{1DA85E27-F760-5E42-2835-373DB470BC2E}"/>
                </a:ext>
              </a:extLst>
            </p:cNvPr>
            <p:cNvPicPr preferRelativeResize="0"/>
            <p:nvPr/>
          </p:nvPicPr>
          <p:blipFill rotWithShape="1">
            <a:blip r:embed="rId5">
              <a:alphaModFix/>
            </a:blip>
            <a:srcRect l="6724" t="67309" r="8271" b="3743"/>
            <a:stretch/>
          </p:blipFill>
          <p:spPr>
            <a:xfrm>
              <a:off x="5264437" y="5941887"/>
              <a:ext cx="592030" cy="201601"/>
            </a:xfrm>
            <a:prstGeom prst="rect">
              <a:avLst/>
            </a:prstGeom>
            <a:noFill/>
            <a:ln>
              <a:noFill/>
            </a:ln>
          </p:spPr>
        </p:pic>
        <p:pic>
          <p:nvPicPr>
            <p:cNvPr id="225" name="Google Shape;1691;p10">
              <a:extLst>
                <a:ext uri="{FF2B5EF4-FFF2-40B4-BE49-F238E27FC236}">
                  <a16:creationId xmlns:a16="http://schemas.microsoft.com/office/drawing/2014/main" id="{F3199085-9CE6-1C78-3A65-FF5A671C8B76}"/>
                </a:ext>
              </a:extLst>
            </p:cNvPr>
            <p:cNvPicPr preferRelativeResize="0"/>
            <p:nvPr/>
          </p:nvPicPr>
          <p:blipFill rotWithShape="1">
            <a:blip r:embed="rId5">
              <a:alphaModFix/>
            </a:blip>
            <a:srcRect l="6724" t="67309" r="8271" b="3743"/>
            <a:stretch/>
          </p:blipFill>
          <p:spPr>
            <a:xfrm>
              <a:off x="5866722" y="5941887"/>
              <a:ext cx="592030" cy="201601"/>
            </a:xfrm>
            <a:prstGeom prst="rect">
              <a:avLst/>
            </a:prstGeom>
            <a:noFill/>
            <a:ln>
              <a:noFill/>
            </a:ln>
          </p:spPr>
        </p:pic>
        <p:pic>
          <p:nvPicPr>
            <p:cNvPr id="226" name="Google Shape;1692;p10">
              <a:extLst>
                <a:ext uri="{FF2B5EF4-FFF2-40B4-BE49-F238E27FC236}">
                  <a16:creationId xmlns:a16="http://schemas.microsoft.com/office/drawing/2014/main" id="{D7F4615E-F1B6-2EEF-01F1-8F306CE0BB0E}"/>
                </a:ext>
              </a:extLst>
            </p:cNvPr>
            <p:cNvPicPr preferRelativeResize="0"/>
            <p:nvPr/>
          </p:nvPicPr>
          <p:blipFill rotWithShape="1">
            <a:blip r:embed="rId5">
              <a:alphaModFix/>
            </a:blip>
            <a:srcRect l="6724" t="67309" r="8271" b="3743"/>
            <a:stretch/>
          </p:blipFill>
          <p:spPr>
            <a:xfrm>
              <a:off x="4668427" y="5743855"/>
              <a:ext cx="592030" cy="201601"/>
            </a:xfrm>
            <a:prstGeom prst="rect">
              <a:avLst/>
            </a:prstGeom>
            <a:noFill/>
            <a:ln>
              <a:noFill/>
            </a:ln>
          </p:spPr>
        </p:pic>
        <p:pic>
          <p:nvPicPr>
            <p:cNvPr id="227" name="Google Shape;1693;p10">
              <a:extLst>
                <a:ext uri="{FF2B5EF4-FFF2-40B4-BE49-F238E27FC236}">
                  <a16:creationId xmlns:a16="http://schemas.microsoft.com/office/drawing/2014/main" id="{1B1C83C0-A97C-5FBE-CB52-1EFC8CC11840}"/>
                </a:ext>
              </a:extLst>
            </p:cNvPr>
            <p:cNvPicPr preferRelativeResize="0"/>
            <p:nvPr/>
          </p:nvPicPr>
          <p:blipFill rotWithShape="1">
            <a:blip r:embed="rId5">
              <a:alphaModFix/>
            </a:blip>
            <a:srcRect l="6724" t="67309" r="8271" b="3743"/>
            <a:stretch/>
          </p:blipFill>
          <p:spPr>
            <a:xfrm>
              <a:off x="5263512" y="5743855"/>
              <a:ext cx="592030" cy="201601"/>
            </a:xfrm>
            <a:prstGeom prst="rect">
              <a:avLst/>
            </a:prstGeom>
            <a:noFill/>
            <a:ln>
              <a:noFill/>
            </a:ln>
          </p:spPr>
        </p:pic>
        <p:pic>
          <p:nvPicPr>
            <p:cNvPr id="228" name="Google Shape;1694;p10">
              <a:extLst>
                <a:ext uri="{FF2B5EF4-FFF2-40B4-BE49-F238E27FC236}">
                  <a16:creationId xmlns:a16="http://schemas.microsoft.com/office/drawing/2014/main" id="{AAE4FC96-B634-D4B5-A9B8-7D832AAE7354}"/>
                </a:ext>
              </a:extLst>
            </p:cNvPr>
            <p:cNvPicPr preferRelativeResize="0"/>
            <p:nvPr/>
          </p:nvPicPr>
          <p:blipFill rotWithShape="1">
            <a:blip r:embed="rId5">
              <a:alphaModFix/>
            </a:blip>
            <a:srcRect l="6724" t="67309" r="8271" b="3743"/>
            <a:stretch/>
          </p:blipFill>
          <p:spPr>
            <a:xfrm>
              <a:off x="5865797" y="5743855"/>
              <a:ext cx="592030" cy="201601"/>
            </a:xfrm>
            <a:prstGeom prst="rect">
              <a:avLst/>
            </a:prstGeom>
            <a:noFill/>
            <a:ln>
              <a:noFill/>
            </a:ln>
          </p:spPr>
        </p:pic>
      </p:grpSp>
      <p:grpSp>
        <p:nvGrpSpPr>
          <p:cNvPr id="229" name="Google Shape;1695;p10">
            <a:extLst>
              <a:ext uri="{FF2B5EF4-FFF2-40B4-BE49-F238E27FC236}">
                <a16:creationId xmlns:a16="http://schemas.microsoft.com/office/drawing/2014/main" id="{A8877AF7-19CB-26B4-406D-D715D270B319}"/>
              </a:ext>
            </a:extLst>
          </p:cNvPr>
          <p:cNvGrpSpPr/>
          <p:nvPr/>
        </p:nvGrpSpPr>
        <p:grpSpPr>
          <a:xfrm>
            <a:off x="3386806" y="5287841"/>
            <a:ext cx="1789400" cy="201601"/>
            <a:chOff x="5763715" y="5474762"/>
            <a:chExt cx="1789400" cy="201601"/>
          </a:xfrm>
        </p:grpSpPr>
        <p:pic>
          <p:nvPicPr>
            <p:cNvPr id="230" name="Google Shape;1696;p10">
              <a:extLst>
                <a:ext uri="{FF2B5EF4-FFF2-40B4-BE49-F238E27FC236}">
                  <a16:creationId xmlns:a16="http://schemas.microsoft.com/office/drawing/2014/main" id="{AC5070AB-C598-BA67-52BB-BA531FD88308}"/>
                </a:ext>
              </a:extLst>
            </p:cNvPr>
            <p:cNvPicPr preferRelativeResize="0"/>
            <p:nvPr/>
          </p:nvPicPr>
          <p:blipFill rotWithShape="1">
            <a:blip r:embed="rId6">
              <a:alphaModFix/>
            </a:blip>
            <a:srcRect l="6724" t="67309" r="8271" b="3743"/>
            <a:stretch/>
          </p:blipFill>
          <p:spPr>
            <a:xfrm>
              <a:off x="5763715" y="5474762"/>
              <a:ext cx="592030" cy="201601"/>
            </a:xfrm>
            <a:prstGeom prst="rect">
              <a:avLst/>
            </a:prstGeom>
            <a:noFill/>
            <a:ln>
              <a:noFill/>
            </a:ln>
          </p:spPr>
        </p:pic>
        <p:pic>
          <p:nvPicPr>
            <p:cNvPr id="231" name="Google Shape;1697;p10">
              <a:extLst>
                <a:ext uri="{FF2B5EF4-FFF2-40B4-BE49-F238E27FC236}">
                  <a16:creationId xmlns:a16="http://schemas.microsoft.com/office/drawing/2014/main" id="{C72401DA-8AFE-19FE-0EC1-BFC329CE69DD}"/>
                </a:ext>
              </a:extLst>
            </p:cNvPr>
            <p:cNvPicPr preferRelativeResize="0"/>
            <p:nvPr/>
          </p:nvPicPr>
          <p:blipFill rotWithShape="1">
            <a:blip r:embed="rId6">
              <a:alphaModFix/>
            </a:blip>
            <a:srcRect l="6724" t="67309" r="8271" b="3743"/>
            <a:stretch/>
          </p:blipFill>
          <p:spPr>
            <a:xfrm>
              <a:off x="6358800" y="5474762"/>
              <a:ext cx="592030" cy="201601"/>
            </a:xfrm>
            <a:prstGeom prst="rect">
              <a:avLst/>
            </a:prstGeom>
            <a:noFill/>
            <a:ln>
              <a:noFill/>
            </a:ln>
          </p:spPr>
        </p:pic>
        <p:pic>
          <p:nvPicPr>
            <p:cNvPr id="232" name="Google Shape;1698;p10">
              <a:extLst>
                <a:ext uri="{FF2B5EF4-FFF2-40B4-BE49-F238E27FC236}">
                  <a16:creationId xmlns:a16="http://schemas.microsoft.com/office/drawing/2014/main" id="{7E42D2EB-AB8B-B984-0CD9-3E9C1CAD5B13}"/>
                </a:ext>
              </a:extLst>
            </p:cNvPr>
            <p:cNvPicPr preferRelativeResize="0"/>
            <p:nvPr/>
          </p:nvPicPr>
          <p:blipFill rotWithShape="1">
            <a:blip r:embed="rId6">
              <a:alphaModFix/>
            </a:blip>
            <a:srcRect l="6724" t="67309" r="8271" b="3743"/>
            <a:stretch/>
          </p:blipFill>
          <p:spPr>
            <a:xfrm>
              <a:off x="6961085" y="5474762"/>
              <a:ext cx="592030" cy="201601"/>
            </a:xfrm>
            <a:prstGeom prst="rect">
              <a:avLst/>
            </a:prstGeom>
            <a:noFill/>
            <a:ln>
              <a:noFill/>
            </a:ln>
          </p:spPr>
        </p:pic>
      </p:grpSp>
      <p:grpSp>
        <p:nvGrpSpPr>
          <p:cNvPr id="233" name="Google Shape;1699;p10">
            <a:extLst>
              <a:ext uri="{FF2B5EF4-FFF2-40B4-BE49-F238E27FC236}">
                <a16:creationId xmlns:a16="http://schemas.microsoft.com/office/drawing/2014/main" id="{378EBC4D-AB21-5D29-81A9-5888AF2582A5}"/>
              </a:ext>
            </a:extLst>
          </p:cNvPr>
          <p:cNvGrpSpPr/>
          <p:nvPr/>
        </p:nvGrpSpPr>
        <p:grpSpPr>
          <a:xfrm>
            <a:off x="3395116" y="5085904"/>
            <a:ext cx="1789400" cy="201601"/>
            <a:chOff x="5763715" y="5474762"/>
            <a:chExt cx="1789400" cy="201601"/>
          </a:xfrm>
        </p:grpSpPr>
        <p:pic>
          <p:nvPicPr>
            <p:cNvPr id="234" name="Google Shape;1700;p10">
              <a:extLst>
                <a:ext uri="{FF2B5EF4-FFF2-40B4-BE49-F238E27FC236}">
                  <a16:creationId xmlns:a16="http://schemas.microsoft.com/office/drawing/2014/main" id="{F8413388-C63A-9AAE-078F-CE047A274554}"/>
                </a:ext>
              </a:extLst>
            </p:cNvPr>
            <p:cNvPicPr preferRelativeResize="0"/>
            <p:nvPr/>
          </p:nvPicPr>
          <p:blipFill rotWithShape="1">
            <a:blip r:embed="rId7">
              <a:alphaModFix/>
            </a:blip>
            <a:srcRect l="6724" t="67309" r="8271" b="3743"/>
            <a:stretch/>
          </p:blipFill>
          <p:spPr>
            <a:xfrm>
              <a:off x="5763715" y="5474762"/>
              <a:ext cx="592030" cy="201601"/>
            </a:xfrm>
            <a:prstGeom prst="rect">
              <a:avLst/>
            </a:prstGeom>
            <a:noFill/>
            <a:ln>
              <a:noFill/>
            </a:ln>
          </p:spPr>
        </p:pic>
        <p:pic>
          <p:nvPicPr>
            <p:cNvPr id="235" name="Google Shape;1701;p10">
              <a:extLst>
                <a:ext uri="{FF2B5EF4-FFF2-40B4-BE49-F238E27FC236}">
                  <a16:creationId xmlns:a16="http://schemas.microsoft.com/office/drawing/2014/main" id="{7E70B147-AB71-09A1-C665-1AF26AAA13CC}"/>
                </a:ext>
              </a:extLst>
            </p:cNvPr>
            <p:cNvPicPr preferRelativeResize="0"/>
            <p:nvPr/>
          </p:nvPicPr>
          <p:blipFill rotWithShape="1">
            <a:blip r:embed="rId7">
              <a:alphaModFix/>
            </a:blip>
            <a:srcRect l="6724" t="67309" r="8271" b="3743"/>
            <a:stretch/>
          </p:blipFill>
          <p:spPr>
            <a:xfrm>
              <a:off x="6358800" y="5474762"/>
              <a:ext cx="592030" cy="201601"/>
            </a:xfrm>
            <a:prstGeom prst="rect">
              <a:avLst/>
            </a:prstGeom>
            <a:noFill/>
            <a:ln>
              <a:noFill/>
            </a:ln>
          </p:spPr>
        </p:pic>
        <p:pic>
          <p:nvPicPr>
            <p:cNvPr id="236" name="Google Shape;1702;p10">
              <a:extLst>
                <a:ext uri="{FF2B5EF4-FFF2-40B4-BE49-F238E27FC236}">
                  <a16:creationId xmlns:a16="http://schemas.microsoft.com/office/drawing/2014/main" id="{9F49E0EA-9C4E-BD28-CAC8-F6CC323738E3}"/>
                </a:ext>
              </a:extLst>
            </p:cNvPr>
            <p:cNvPicPr preferRelativeResize="0"/>
            <p:nvPr/>
          </p:nvPicPr>
          <p:blipFill rotWithShape="1">
            <a:blip r:embed="rId7">
              <a:alphaModFix/>
            </a:blip>
            <a:srcRect l="6724" t="67309" r="8271" b="3743"/>
            <a:stretch/>
          </p:blipFill>
          <p:spPr>
            <a:xfrm>
              <a:off x="6961085" y="5474762"/>
              <a:ext cx="592030" cy="201601"/>
            </a:xfrm>
            <a:prstGeom prst="rect">
              <a:avLst/>
            </a:prstGeom>
            <a:noFill/>
            <a:ln>
              <a:noFill/>
            </a:ln>
          </p:spPr>
        </p:pic>
      </p:grpSp>
      <p:grpSp>
        <p:nvGrpSpPr>
          <p:cNvPr id="237" name="Google Shape;1703;p10">
            <a:extLst>
              <a:ext uri="{FF2B5EF4-FFF2-40B4-BE49-F238E27FC236}">
                <a16:creationId xmlns:a16="http://schemas.microsoft.com/office/drawing/2014/main" id="{CA7F749E-8688-C52E-68AD-B767517E48FF}"/>
              </a:ext>
            </a:extLst>
          </p:cNvPr>
          <p:cNvGrpSpPr/>
          <p:nvPr/>
        </p:nvGrpSpPr>
        <p:grpSpPr>
          <a:xfrm>
            <a:off x="3394191" y="4890431"/>
            <a:ext cx="1789400" cy="201601"/>
            <a:chOff x="3682532" y="4889969"/>
            <a:chExt cx="1789400" cy="201601"/>
          </a:xfrm>
        </p:grpSpPr>
        <p:pic>
          <p:nvPicPr>
            <p:cNvPr id="238" name="Google Shape;1704;p10">
              <a:extLst>
                <a:ext uri="{FF2B5EF4-FFF2-40B4-BE49-F238E27FC236}">
                  <a16:creationId xmlns:a16="http://schemas.microsoft.com/office/drawing/2014/main" id="{445DBD37-DD07-31D6-95F6-4D9A11CB65CF}"/>
                </a:ext>
              </a:extLst>
            </p:cNvPr>
            <p:cNvPicPr preferRelativeResize="0"/>
            <p:nvPr/>
          </p:nvPicPr>
          <p:blipFill rotWithShape="1">
            <a:blip r:embed="rId8">
              <a:alphaModFix/>
            </a:blip>
            <a:srcRect l="6724" t="67309" r="8271" b="3743"/>
            <a:stretch/>
          </p:blipFill>
          <p:spPr>
            <a:xfrm>
              <a:off x="3682532" y="4889969"/>
              <a:ext cx="592030" cy="201601"/>
            </a:xfrm>
            <a:prstGeom prst="rect">
              <a:avLst/>
            </a:prstGeom>
            <a:noFill/>
            <a:ln>
              <a:noFill/>
            </a:ln>
          </p:spPr>
        </p:pic>
        <p:pic>
          <p:nvPicPr>
            <p:cNvPr id="239" name="Google Shape;1705;p10">
              <a:extLst>
                <a:ext uri="{FF2B5EF4-FFF2-40B4-BE49-F238E27FC236}">
                  <a16:creationId xmlns:a16="http://schemas.microsoft.com/office/drawing/2014/main" id="{CA7C9010-BFD8-5D53-38B3-B070EED5F377}"/>
                </a:ext>
              </a:extLst>
            </p:cNvPr>
            <p:cNvPicPr preferRelativeResize="0"/>
            <p:nvPr/>
          </p:nvPicPr>
          <p:blipFill rotWithShape="1">
            <a:blip r:embed="rId8">
              <a:alphaModFix/>
            </a:blip>
            <a:srcRect l="6724" t="67309" r="8271" b="3743"/>
            <a:stretch/>
          </p:blipFill>
          <p:spPr>
            <a:xfrm>
              <a:off x="4277617" y="4889969"/>
              <a:ext cx="592030" cy="201601"/>
            </a:xfrm>
            <a:prstGeom prst="rect">
              <a:avLst/>
            </a:prstGeom>
            <a:noFill/>
            <a:ln>
              <a:noFill/>
            </a:ln>
          </p:spPr>
        </p:pic>
        <p:pic>
          <p:nvPicPr>
            <p:cNvPr id="240" name="Google Shape;1706;p10">
              <a:extLst>
                <a:ext uri="{FF2B5EF4-FFF2-40B4-BE49-F238E27FC236}">
                  <a16:creationId xmlns:a16="http://schemas.microsoft.com/office/drawing/2014/main" id="{D5E9E1BC-17CC-C95A-B0B1-BC758DFB3388}"/>
                </a:ext>
              </a:extLst>
            </p:cNvPr>
            <p:cNvPicPr preferRelativeResize="0"/>
            <p:nvPr/>
          </p:nvPicPr>
          <p:blipFill rotWithShape="1">
            <a:blip r:embed="rId8">
              <a:alphaModFix/>
            </a:blip>
            <a:srcRect l="6724" t="67309" r="8271" b="3743"/>
            <a:stretch/>
          </p:blipFill>
          <p:spPr>
            <a:xfrm>
              <a:off x="4879902" y="4889969"/>
              <a:ext cx="592030" cy="201601"/>
            </a:xfrm>
            <a:prstGeom prst="rect">
              <a:avLst/>
            </a:prstGeom>
            <a:noFill/>
            <a:ln>
              <a:noFill/>
            </a:ln>
          </p:spPr>
        </p:pic>
      </p:grpSp>
      <p:sp>
        <p:nvSpPr>
          <p:cNvPr id="241" name="Google Shape;1707;p10">
            <a:extLst>
              <a:ext uri="{FF2B5EF4-FFF2-40B4-BE49-F238E27FC236}">
                <a16:creationId xmlns:a16="http://schemas.microsoft.com/office/drawing/2014/main" id="{B3430436-B8D6-1B45-CE0C-0677D46345E2}"/>
              </a:ext>
            </a:extLst>
          </p:cNvPr>
          <p:cNvSpPr txBox="1"/>
          <p:nvPr/>
        </p:nvSpPr>
        <p:spPr>
          <a:xfrm>
            <a:off x="1469228" y="3793555"/>
            <a:ext cx="583493" cy="13849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1B1D36"/>
              </a:buClr>
              <a:buSzPts val="900"/>
              <a:buFont typeface="Arial"/>
              <a:buNone/>
              <a:tabLst/>
              <a:defRPr/>
            </a:pPr>
            <a:r>
              <a:rPr kumimoji="0" lang="en-US" sz="900" b="0" i="0" u="none" strike="noStrike" kern="1200" cap="none" spc="0" normalizeH="0" baseline="0" noProof="0" dirty="0">
                <a:ln>
                  <a:noFill/>
                </a:ln>
                <a:solidFill>
                  <a:srgbClr val="1B1D36"/>
                </a:solidFill>
                <a:effectLst/>
                <a:uLnTx/>
                <a:uFillTx/>
                <a:latin typeface="Arial"/>
                <a:ea typeface="Arial"/>
                <a:cs typeface="Arial"/>
                <a:sym typeface="Arial"/>
              </a:rPr>
              <a:t>ESX Hosts</a:t>
            </a: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42" name="Google Shape;1708;p10">
            <a:extLst>
              <a:ext uri="{FF2B5EF4-FFF2-40B4-BE49-F238E27FC236}">
                <a16:creationId xmlns:a16="http://schemas.microsoft.com/office/drawing/2014/main" id="{58F2FA40-658C-960A-B2B0-9793A497C6A9}"/>
              </a:ext>
            </a:extLst>
          </p:cNvPr>
          <p:cNvSpPr txBox="1"/>
          <p:nvPr/>
        </p:nvSpPr>
        <p:spPr>
          <a:xfrm>
            <a:off x="3854618" y="5763529"/>
            <a:ext cx="839974" cy="13849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1B1D36"/>
              </a:buClr>
              <a:buSzPts val="900"/>
              <a:buFont typeface="Arial"/>
              <a:buNone/>
              <a:tabLst/>
              <a:defRPr/>
            </a:pPr>
            <a:r>
              <a:rPr kumimoji="0" lang="en-US" sz="900" b="0" i="0" u="none" strike="noStrike" kern="1200" cap="none" spc="0" normalizeH="0" baseline="0" noProof="0">
                <a:ln>
                  <a:noFill/>
                </a:ln>
                <a:solidFill>
                  <a:srgbClr val="1B1D36"/>
                </a:solidFill>
                <a:effectLst/>
                <a:uLnTx/>
                <a:uFillTx/>
                <a:latin typeface="Arial"/>
                <a:ea typeface="Arial"/>
                <a:cs typeface="Arial"/>
                <a:sym typeface="Arial"/>
              </a:rPr>
              <a:t>Global Inventory</a:t>
            </a: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083590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500"/>
                                  </p:stCondLst>
                                  <p:childTnLst>
                                    <p:set>
                                      <p:cBhvr>
                                        <p:cTn id="9" dur="1" fill="hold">
                                          <p:stCondLst>
                                            <p:cond delay="0"/>
                                          </p:stCondLst>
                                        </p:cTn>
                                        <p:tgtEl>
                                          <p:spTgt spid="4">
                                            <p:txEl>
                                              <p:pRg st="2" end="2"/>
                                            </p:txEl>
                                          </p:spTgt>
                                        </p:tgtEl>
                                        <p:attrNameLst>
                                          <p:attrName>style.visibility</p:attrName>
                                        </p:attrNameLst>
                                      </p:cBhvr>
                                      <p:to>
                                        <p:strVal val="visible"/>
                                      </p:to>
                                    </p:set>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178"/>
                                        </p:tgtEl>
                                        <p:attrNameLst>
                                          <p:attrName>style.visibility</p:attrName>
                                        </p:attrNameLst>
                                      </p:cBhvr>
                                      <p:to>
                                        <p:strVal val="visible"/>
                                      </p:to>
                                    </p:set>
                                    <p:animEffect transition="in" filter="fade">
                                      <p:cBhvr>
                                        <p:cTn id="13" dur="500"/>
                                        <p:tgtEl>
                                          <p:spTgt spid="178"/>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fade">
                                      <p:cBhvr>
                                        <p:cTn id="17" dur="500"/>
                                        <p:tgtEl>
                                          <p:spTgt spid="127"/>
                                        </p:tgtEl>
                                      </p:cBhvr>
                                    </p:animEffect>
                                  </p:childTnLst>
                                </p:cTn>
                              </p:par>
                            </p:childTnLst>
                          </p:cTn>
                        </p:par>
                        <p:par>
                          <p:cTn id="18" fill="hold">
                            <p:stCondLst>
                              <p:cond delay="1500"/>
                            </p:stCondLst>
                            <p:childTnLst>
                              <p:par>
                                <p:cTn id="19" presetID="10" presetClass="exit" presetSubtype="0" fill="hold" nodeType="afterEffect">
                                  <p:stCondLst>
                                    <p:cond delay="0"/>
                                  </p:stCondLst>
                                  <p:childTnLst>
                                    <p:animEffect transition="out" filter="fade">
                                      <p:cBhvr>
                                        <p:cTn id="20" dur="500"/>
                                        <p:tgtEl>
                                          <p:spTgt spid="204"/>
                                        </p:tgtEl>
                                      </p:cBhvr>
                                    </p:animEffect>
                                    <p:set>
                                      <p:cBhvr>
                                        <p:cTn id="21" dur="1" fill="hold">
                                          <p:stCondLst>
                                            <p:cond delay="500"/>
                                          </p:stCondLst>
                                        </p:cTn>
                                        <p:tgtEl>
                                          <p:spTgt spid="204"/>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500"/>
                                        <p:tgtEl>
                                          <p:spTgt spid="241"/>
                                        </p:tgtEl>
                                      </p:cBhvr>
                                    </p:animEffect>
                                    <p:set>
                                      <p:cBhvr>
                                        <p:cTn id="24" dur="1" fill="hold">
                                          <p:stCondLst>
                                            <p:cond delay="500"/>
                                          </p:stCondLst>
                                        </p:cTn>
                                        <p:tgtEl>
                                          <p:spTgt spid="241"/>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26" dur="500"/>
                                        <p:tgtEl>
                                          <p:spTgt spid="127"/>
                                        </p:tgtEl>
                                      </p:cBhvr>
                                    </p:animEffect>
                                    <p:set>
                                      <p:cBhvr>
                                        <p:cTn id="27" dur="1" fill="hold">
                                          <p:stCondLst>
                                            <p:cond delay="500"/>
                                          </p:stCondLst>
                                        </p:cTn>
                                        <p:tgtEl>
                                          <p:spTgt spid="127"/>
                                        </p:tgtEl>
                                        <p:attrNameLst>
                                          <p:attrName>style.visibility</p:attrName>
                                        </p:attrNameLst>
                                      </p:cBhvr>
                                      <p:to>
                                        <p:strVal val="hidden"/>
                                      </p:to>
                                    </p:set>
                                  </p:childTnLst>
                                </p:cTn>
                              </p:par>
                            </p:childTnLst>
                          </p:cTn>
                        </p:par>
                        <p:par>
                          <p:cTn id="28" fill="hold">
                            <p:stCondLst>
                              <p:cond delay="2001"/>
                            </p:stCondLst>
                            <p:childTnLst>
                              <p:par>
                                <p:cTn id="29" presetID="10" presetClass="exit" presetSubtype="0" fill="hold" nodeType="afterEffect">
                                  <p:stCondLst>
                                    <p:cond delay="0"/>
                                  </p:stCondLst>
                                  <p:childTnLst>
                                    <p:animEffect transition="out" filter="fade">
                                      <p:cBhvr>
                                        <p:cTn id="30" dur="500"/>
                                        <p:tgtEl>
                                          <p:spTgt spid="127"/>
                                        </p:tgtEl>
                                      </p:cBhvr>
                                    </p:animEffect>
                                    <p:set>
                                      <p:cBhvr>
                                        <p:cTn id="31" dur="1" fill="hold">
                                          <p:stCondLst>
                                            <p:cond delay="500"/>
                                          </p:stCondLst>
                                        </p:cTn>
                                        <p:tgtEl>
                                          <p:spTgt spid="127"/>
                                        </p:tgtEl>
                                        <p:attrNameLst>
                                          <p:attrName>style.visibility</p:attrName>
                                        </p:attrNameLst>
                                      </p:cBhvr>
                                      <p:to>
                                        <p:strVal val="hidden"/>
                                      </p:to>
                                    </p:set>
                                  </p:childTnLst>
                                </p:cTn>
                              </p:par>
                              <p:par>
                                <p:cTn id="32" presetID="10" presetClass="entr" presetSubtype="0" fill="hold" nodeType="withEffect">
                                  <p:stCondLst>
                                    <p:cond delay="0"/>
                                  </p:stCondLst>
                                  <p:childTnLst>
                                    <p:set>
                                      <p:cBhvr>
                                        <p:cTn id="33" dur="1" fill="hold">
                                          <p:stCondLst>
                                            <p:cond delay="0"/>
                                          </p:stCondLst>
                                        </p:cTn>
                                        <p:tgtEl>
                                          <p:spTgt spid="128"/>
                                        </p:tgtEl>
                                        <p:attrNameLst>
                                          <p:attrName>style.visibility</p:attrName>
                                        </p:attrNameLst>
                                      </p:cBhvr>
                                      <p:to>
                                        <p:strVal val="visible"/>
                                      </p:to>
                                    </p:set>
                                    <p:animEffect transition="in" filter="fade">
                                      <p:cBhvr>
                                        <p:cTn id="34" dur="500"/>
                                        <p:tgtEl>
                                          <p:spTgt spid="128"/>
                                        </p:tgtEl>
                                      </p:cBhvr>
                                    </p:animEffect>
                                  </p:childTnLst>
                                </p:cTn>
                              </p:par>
                            </p:childTnLst>
                          </p:cTn>
                        </p:par>
                        <p:par>
                          <p:cTn id="35" fill="hold">
                            <p:stCondLst>
                              <p:cond delay="2502"/>
                            </p:stCondLst>
                            <p:childTnLst>
                              <p:par>
                                <p:cTn id="36" presetID="10" presetClass="entr" presetSubtype="0" fill="hold" nodeType="afterEffect">
                                  <p:stCondLst>
                                    <p:cond delay="0"/>
                                  </p:stCondLst>
                                  <p:childTnLst>
                                    <p:set>
                                      <p:cBhvr>
                                        <p:cTn id="37" dur="1" fill="hold">
                                          <p:stCondLst>
                                            <p:cond delay="0"/>
                                          </p:stCondLst>
                                        </p:cTn>
                                        <p:tgtEl>
                                          <p:spTgt spid="215"/>
                                        </p:tgtEl>
                                        <p:attrNameLst>
                                          <p:attrName>style.visibility</p:attrName>
                                        </p:attrNameLst>
                                      </p:cBhvr>
                                      <p:to>
                                        <p:strVal val="visible"/>
                                      </p:to>
                                    </p:set>
                                    <p:animEffect transition="in" filter="fade">
                                      <p:cBhvr>
                                        <p:cTn id="38" dur="500"/>
                                        <p:tgtEl>
                                          <p:spTgt spid="215"/>
                                        </p:tgtEl>
                                      </p:cBhvr>
                                    </p:animEffect>
                                  </p:childTnLst>
                                </p:cTn>
                              </p:par>
                            </p:childTnLst>
                          </p:cTn>
                        </p:par>
                        <p:par>
                          <p:cTn id="39" fill="hold">
                            <p:stCondLst>
                              <p:cond delay="3002"/>
                            </p:stCondLst>
                            <p:childTnLst>
                              <p:par>
                                <p:cTn id="40" presetID="1" presetClass="exit" presetSubtype="0" fill="hold" nodeType="afterEffect">
                                  <p:stCondLst>
                                    <p:cond delay="500"/>
                                  </p:stCondLst>
                                  <p:childTnLst>
                                    <p:set>
                                      <p:cBhvr>
                                        <p:cTn id="41" dur="1" fill="hold">
                                          <p:stCondLst>
                                            <p:cond delay="1"/>
                                          </p:stCondLst>
                                        </p:cTn>
                                        <p:tgtEl>
                                          <p:spTgt spid="178"/>
                                        </p:tgtEl>
                                        <p:attrNameLst>
                                          <p:attrName>style.visibility</p:attrName>
                                        </p:attrNameLst>
                                      </p:cBhvr>
                                      <p:to>
                                        <p:strVal val="hidden"/>
                                      </p:to>
                                    </p:set>
                                  </p:childTnLst>
                                </p:cTn>
                              </p:par>
                            </p:childTnLst>
                          </p:cTn>
                        </p:par>
                        <p:par>
                          <p:cTn id="42" fill="hold">
                            <p:stCondLst>
                              <p:cond delay="3504"/>
                            </p:stCondLst>
                            <p:childTnLst>
                              <p:par>
                                <p:cTn id="43" presetID="10" presetClass="exit" presetSubtype="0" fill="hold" nodeType="afterEffect">
                                  <p:stCondLst>
                                    <p:cond delay="0"/>
                                  </p:stCondLst>
                                  <p:childTnLst>
                                    <p:animEffect transition="out" filter="fade">
                                      <p:cBhvr>
                                        <p:cTn id="44" dur="500"/>
                                        <p:tgtEl>
                                          <p:spTgt spid="128"/>
                                        </p:tgtEl>
                                      </p:cBhvr>
                                    </p:animEffect>
                                    <p:set>
                                      <p:cBhvr>
                                        <p:cTn id="45" dur="1" fill="hold">
                                          <p:stCondLst>
                                            <p:cond delay="500"/>
                                          </p:stCondLst>
                                        </p:cTn>
                                        <p:tgtEl>
                                          <p:spTgt spid="128"/>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4">
                                            <p:txEl>
                                              <p:pRg st="3" end="3"/>
                                            </p:txEl>
                                          </p:spTgt>
                                        </p:tgtEl>
                                        <p:attrNameLst>
                                          <p:attrName>style.visibility</p:attrName>
                                        </p:attrNameLst>
                                      </p:cBhvr>
                                      <p:to>
                                        <p:strVal val="visible"/>
                                      </p:to>
                                    </p:set>
                                  </p:childTnLst>
                                </p:cTn>
                              </p:par>
                            </p:childTnLst>
                          </p:cTn>
                        </p:par>
                        <p:par>
                          <p:cTn id="50" fill="hold">
                            <p:stCondLst>
                              <p:cond delay="0"/>
                            </p:stCondLst>
                            <p:childTnLst>
                              <p:par>
                                <p:cTn id="51" presetID="10" presetClass="entr" presetSubtype="0" fill="hold" nodeType="afterEffect">
                                  <p:stCondLst>
                                    <p:cond delay="0"/>
                                  </p:stCondLst>
                                  <p:childTnLst>
                                    <p:set>
                                      <p:cBhvr>
                                        <p:cTn id="52" dur="1" fill="hold">
                                          <p:stCondLst>
                                            <p:cond delay="0"/>
                                          </p:stCondLst>
                                        </p:cTn>
                                        <p:tgtEl>
                                          <p:spTgt spid="178"/>
                                        </p:tgtEl>
                                        <p:attrNameLst>
                                          <p:attrName>style.visibility</p:attrName>
                                        </p:attrNameLst>
                                      </p:cBhvr>
                                      <p:to>
                                        <p:strVal val="visible"/>
                                      </p:to>
                                    </p:set>
                                    <p:animEffect transition="in" filter="fade">
                                      <p:cBhvr>
                                        <p:cTn id="53" dur="500"/>
                                        <p:tgtEl>
                                          <p:spTgt spid="178"/>
                                        </p:tgtEl>
                                      </p:cBhvr>
                                    </p:animEffect>
                                  </p:childTnLst>
                                </p:cTn>
                              </p:par>
                            </p:childTnLst>
                          </p:cTn>
                        </p:par>
                        <p:par>
                          <p:cTn id="54" fill="hold">
                            <p:stCondLst>
                              <p:cond delay="500"/>
                            </p:stCondLst>
                            <p:childTnLst>
                              <p:par>
                                <p:cTn id="55" presetID="10" presetClass="entr" presetSubtype="0" fill="hold" nodeType="afterEffect">
                                  <p:stCondLst>
                                    <p:cond delay="0"/>
                                  </p:stCondLst>
                                  <p:childTnLst>
                                    <p:set>
                                      <p:cBhvr>
                                        <p:cTn id="56" dur="1" fill="hold">
                                          <p:stCondLst>
                                            <p:cond delay="0"/>
                                          </p:stCondLst>
                                        </p:cTn>
                                        <p:tgtEl>
                                          <p:spTgt spid="128"/>
                                        </p:tgtEl>
                                        <p:attrNameLst>
                                          <p:attrName>style.visibility</p:attrName>
                                        </p:attrNameLst>
                                      </p:cBhvr>
                                      <p:to>
                                        <p:strVal val="visible"/>
                                      </p:to>
                                    </p:set>
                                    <p:animEffect transition="in" filter="fade">
                                      <p:cBhvr>
                                        <p:cTn id="57" dur="500"/>
                                        <p:tgtEl>
                                          <p:spTgt spid="128"/>
                                        </p:tgtEl>
                                      </p:cBhvr>
                                    </p:animEffect>
                                  </p:childTnLst>
                                </p:cTn>
                              </p:par>
                            </p:childTnLst>
                          </p:cTn>
                        </p:par>
                        <p:par>
                          <p:cTn id="58" fill="hold">
                            <p:stCondLst>
                              <p:cond delay="1000"/>
                            </p:stCondLst>
                            <p:childTnLst>
                              <p:par>
                                <p:cTn id="59" presetID="10" presetClass="entr" presetSubtype="0" fill="hold" nodeType="afterEffect">
                                  <p:stCondLst>
                                    <p:cond delay="0"/>
                                  </p:stCondLst>
                                  <p:childTnLst>
                                    <p:set>
                                      <p:cBhvr>
                                        <p:cTn id="60" dur="1" fill="hold">
                                          <p:stCondLst>
                                            <p:cond delay="0"/>
                                          </p:stCondLst>
                                        </p:cTn>
                                        <p:tgtEl>
                                          <p:spTgt spid="229"/>
                                        </p:tgtEl>
                                        <p:attrNameLst>
                                          <p:attrName>style.visibility</p:attrName>
                                        </p:attrNameLst>
                                      </p:cBhvr>
                                      <p:to>
                                        <p:strVal val="visible"/>
                                      </p:to>
                                    </p:set>
                                    <p:animEffect transition="in" filter="fade">
                                      <p:cBhvr>
                                        <p:cTn id="61" dur="500"/>
                                        <p:tgtEl>
                                          <p:spTgt spid="229"/>
                                        </p:tgtEl>
                                      </p:cBhvr>
                                    </p:animEffect>
                                  </p:childTnLst>
                                </p:cTn>
                              </p:par>
                            </p:childTnLst>
                          </p:cTn>
                        </p:par>
                        <p:par>
                          <p:cTn id="62" fill="hold">
                            <p:stCondLst>
                              <p:cond delay="1500"/>
                            </p:stCondLst>
                            <p:childTnLst>
                              <p:par>
                                <p:cTn id="63" presetID="10" presetClass="entr" presetSubtype="0" fill="hold" nodeType="afterEffect">
                                  <p:stCondLst>
                                    <p:cond delay="0"/>
                                  </p:stCondLst>
                                  <p:childTnLst>
                                    <p:set>
                                      <p:cBhvr>
                                        <p:cTn id="64" dur="1" fill="hold">
                                          <p:stCondLst>
                                            <p:cond delay="0"/>
                                          </p:stCondLst>
                                        </p:cTn>
                                        <p:tgtEl>
                                          <p:spTgt spid="233"/>
                                        </p:tgtEl>
                                        <p:attrNameLst>
                                          <p:attrName>style.visibility</p:attrName>
                                        </p:attrNameLst>
                                      </p:cBhvr>
                                      <p:to>
                                        <p:strVal val="visible"/>
                                      </p:to>
                                    </p:set>
                                    <p:animEffect transition="in" filter="fade">
                                      <p:cBhvr>
                                        <p:cTn id="65" dur="500"/>
                                        <p:tgtEl>
                                          <p:spTgt spid="233"/>
                                        </p:tgtEl>
                                      </p:cBhvr>
                                    </p:animEffect>
                                  </p:childTnLst>
                                </p:cTn>
                              </p:par>
                            </p:childTnLst>
                          </p:cTn>
                        </p:par>
                        <p:par>
                          <p:cTn id="66" fill="hold">
                            <p:stCondLst>
                              <p:cond delay="2000"/>
                            </p:stCondLst>
                            <p:childTnLst>
                              <p:par>
                                <p:cTn id="67" presetID="10" presetClass="entr" presetSubtype="0" fill="hold" nodeType="afterEffect">
                                  <p:stCondLst>
                                    <p:cond delay="500"/>
                                  </p:stCondLst>
                                  <p:childTnLst>
                                    <p:set>
                                      <p:cBhvr>
                                        <p:cTn id="68" dur="1" fill="hold">
                                          <p:stCondLst>
                                            <p:cond delay="0"/>
                                          </p:stCondLst>
                                        </p:cTn>
                                        <p:tgtEl>
                                          <p:spTgt spid="154"/>
                                        </p:tgtEl>
                                        <p:attrNameLst>
                                          <p:attrName>style.visibility</p:attrName>
                                        </p:attrNameLst>
                                      </p:cBhvr>
                                      <p:to>
                                        <p:strVal val="visible"/>
                                      </p:to>
                                    </p:set>
                                    <p:animEffect transition="in" filter="fade">
                                      <p:cBhvr>
                                        <p:cTn id="69" dur="1000"/>
                                        <p:tgtEl>
                                          <p:spTgt spid="154"/>
                                        </p:tgtEl>
                                      </p:cBhvr>
                                    </p:animEffect>
                                  </p:childTnLst>
                                </p:cTn>
                              </p:par>
                            </p:childTnLst>
                          </p:cTn>
                        </p:par>
                        <p:par>
                          <p:cTn id="70" fill="hold">
                            <p:stCondLst>
                              <p:cond delay="3500"/>
                            </p:stCondLst>
                            <p:childTnLst>
                              <p:par>
                                <p:cTn id="71" presetID="10" presetClass="entr" presetSubtype="0" fill="hold" nodeType="afterEffect">
                                  <p:stCondLst>
                                    <p:cond delay="0"/>
                                  </p:stCondLst>
                                  <p:childTnLst>
                                    <p:set>
                                      <p:cBhvr>
                                        <p:cTn id="72" dur="1" fill="hold">
                                          <p:stCondLst>
                                            <p:cond delay="0"/>
                                          </p:stCondLst>
                                        </p:cTn>
                                        <p:tgtEl>
                                          <p:spTgt spid="176"/>
                                        </p:tgtEl>
                                        <p:attrNameLst>
                                          <p:attrName>style.visibility</p:attrName>
                                        </p:attrNameLst>
                                      </p:cBhvr>
                                      <p:to>
                                        <p:strVal val="visible"/>
                                      </p:to>
                                    </p:set>
                                    <p:animEffect transition="in" filter="fade">
                                      <p:cBhvr>
                                        <p:cTn id="73" dur="500"/>
                                        <p:tgtEl>
                                          <p:spTgt spid="176"/>
                                        </p:tgtEl>
                                      </p:cBhvr>
                                    </p:animEffect>
                                  </p:childTnLst>
                                </p:cTn>
                              </p:par>
                            </p:childTnLst>
                          </p:cTn>
                        </p:par>
                        <p:par>
                          <p:cTn id="74" fill="hold">
                            <p:stCondLst>
                              <p:cond delay="4000"/>
                            </p:stCondLst>
                            <p:childTnLst>
                              <p:par>
                                <p:cTn id="75" presetID="10" presetClass="entr" presetSubtype="0" fill="hold" nodeType="afterEffect">
                                  <p:stCondLst>
                                    <p:cond delay="0"/>
                                  </p:stCondLst>
                                  <p:childTnLst>
                                    <p:set>
                                      <p:cBhvr>
                                        <p:cTn id="76" dur="1" fill="hold">
                                          <p:stCondLst>
                                            <p:cond delay="0"/>
                                          </p:stCondLst>
                                        </p:cTn>
                                        <p:tgtEl>
                                          <p:spTgt spid="177"/>
                                        </p:tgtEl>
                                        <p:attrNameLst>
                                          <p:attrName>style.visibility</p:attrName>
                                        </p:attrNameLst>
                                      </p:cBhvr>
                                      <p:to>
                                        <p:strVal val="visible"/>
                                      </p:to>
                                    </p:set>
                                    <p:animEffect transition="in" filter="fade">
                                      <p:cBhvr>
                                        <p:cTn id="77" dur="500"/>
                                        <p:tgtEl>
                                          <p:spTgt spid="177"/>
                                        </p:tgtEl>
                                      </p:cBhvr>
                                    </p:animEffect>
                                  </p:childTnLst>
                                </p:cTn>
                              </p:par>
                            </p:childTnLst>
                          </p:cTn>
                        </p:par>
                        <p:par>
                          <p:cTn id="78" fill="hold">
                            <p:stCondLst>
                              <p:cond delay="4500"/>
                            </p:stCondLst>
                            <p:childTnLst>
                              <p:par>
                                <p:cTn id="79" presetID="10" presetClass="exit" presetSubtype="0" fill="hold" nodeType="afterEffect">
                                  <p:stCondLst>
                                    <p:cond delay="500"/>
                                  </p:stCondLst>
                                  <p:childTnLst>
                                    <p:animEffect transition="out" filter="fade">
                                      <p:cBhvr>
                                        <p:cTn id="80" dur="500"/>
                                        <p:tgtEl>
                                          <p:spTgt spid="178"/>
                                        </p:tgtEl>
                                      </p:cBhvr>
                                    </p:animEffect>
                                    <p:set>
                                      <p:cBhvr>
                                        <p:cTn id="81" dur="1" fill="hold">
                                          <p:stCondLst>
                                            <p:cond delay="500"/>
                                          </p:stCondLst>
                                        </p:cTn>
                                        <p:tgtEl>
                                          <p:spTgt spid="178"/>
                                        </p:tgtEl>
                                        <p:attrNameLst>
                                          <p:attrName>style.visibility</p:attrName>
                                        </p:attrNameLst>
                                      </p:cBhvr>
                                      <p:to>
                                        <p:strVal val="hidden"/>
                                      </p:to>
                                    </p:set>
                                  </p:childTnLst>
                                </p:cTn>
                              </p:par>
                            </p:childTnLst>
                          </p:cTn>
                        </p:par>
                        <p:par>
                          <p:cTn id="82" fill="hold">
                            <p:stCondLst>
                              <p:cond delay="5501"/>
                            </p:stCondLst>
                            <p:childTnLst>
                              <p:par>
                                <p:cTn id="83" presetID="10" presetClass="exit" presetSubtype="0" fill="hold" nodeType="afterEffect">
                                  <p:stCondLst>
                                    <p:cond delay="0"/>
                                  </p:stCondLst>
                                  <p:childTnLst>
                                    <p:animEffect transition="out" filter="fade">
                                      <p:cBhvr>
                                        <p:cTn id="84" dur="500"/>
                                        <p:tgtEl>
                                          <p:spTgt spid="128"/>
                                        </p:tgtEl>
                                      </p:cBhvr>
                                    </p:animEffect>
                                    <p:set>
                                      <p:cBhvr>
                                        <p:cTn id="85" dur="1" fill="hold">
                                          <p:stCondLst>
                                            <p:cond delay="500"/>
                                          </p:stCondLst>
                                        </p:cTn>
                                        <p:tgtEl>
                                          <p:spTgt spid="128"/>
                                        </p:tgtEl>
                                        <p:attrNameLst>
                                          <p:attrName>style.visibility</p:attrName>
                                        </p:attrNameLst>
                                      </p:cBhvr>
                                      <p:to>
                                        <p:strVal val="hidden"/>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4">
                                            <p:txEl>
                                              <p:pRg st="4" end="4"/>
                                            </p:txEl>
                                          </p:spTgt>
                                        </p:tgtEl>
                                        <p:attrNameLst>
                                          <p:attrName>style.visibility</p:attrName>
                                        </p:attrNameLst>
                                      </p:cBhvr>
                                      <p:to>
                                        <p:strVal val="visible"/>
                                      </p:to>
                                    </p:set>
                                  </p:childTnLst>
                                </p:cTn>
                              </p:par>
                            </p:childTnLst>
                          </p:cTn>
                        </p:par>
                        <p:par>
                          <p:cTn id="90" fill="hold">
                            <p:stCondLst>
                              <p:cond delay="0"/>
                            </p:stCondLst>
                            <p:childTnLst>
                              <p:par>
                                <p:cTn id="91" presetID="10" presetClass="entr" presetSubtype="0" fill="hold" nodeType="afterEffect">
                                  <p:stCondLst>
                                    <p:cond delay="0"/>
                                  </p:stCondLst>
                                  <p:childTnLst>
                                    <p:set>
                                      <p:cBhvr>
                                        <p:cTn id="92" dur="1" fill="hold">
                                          <p:stCondLst>
                                            <p:cond delay="0"/>
                                          </p:stCondLst>
                                        </p:cTn>
                                        <p:tgtEl>
                                          <p:spTgt spid="179"/>
                                        </p:tgtEl>
                                        <p:attrNameLst>
                                          <p:attrName>style.visibility</p:attrName>
                                        </p:attrNameLst>
                                      </p:cBhvr>
                                      <p:to>
                                        <p:strVal val="visible"/>
                                      </p:to>
                                    </p:set>
                                    <p:animEffect transition="in" filter="fade">
                                      <p:cBhvr>
                                        <p:cTn id="93" dur="500"/>
                                        <p:tgtEl>
                                          <p:spTgt spid="179"/>
                                        </p:tgtEl>
                                      </p:cBhvr>
                                    </p:animEffect>
                                  </p:childTnLst>
                                </p:cTn>
                              </p:par>
                            </p:childTnLst>
                          </p:cTn>
                        </p:par>
                        <p:par>
                          <p:cTn id="94" fill="hold">
                            <p:stCondLst>
                              <p:cond delay="500"/>
                            </p:stCondLst>
                            <p:childTnLst>
                              <p:par>
                                <p:cTn id="95" presetID="10" presetClass="entr" presetSubtype="0" fill="hold" nodeType="afterEffect">
                                  <p:stCondLst>
                                    <p:cond delay="0"/>
                                  </p:stCondLst>
                                  <p:childTnLst>
                                    <p:set>
                                      <p:cBhvr>
                                        <p:cTn id="96" dur="1" fill="hold">
                                          <p:stCondLst>
                                            <p:cond delay="0"/>
                                          </p:stCondLst>
                                        </p:cTn>
                                        <p:tgtEl>
                                          <p:spTgt spid="128"/>
                                        </p:tgtEl>
                                        <p:attrNameLst>
                                          <p:attrName>style.visibility</p:attrName>
                                        </p:attrNameLst>
                                      </p:cBhvr>
                                      <p:to>
                                        <p:strVal val="visible"/>
                                      </p:to>
                                    </p:set>
                                    <p:animEffect transition="in" filter="fade">
                                      <p:cBhvr>
                                        <p:cTn id="97" dur="500"/>
                                        <p:tgtEl>
                                          <p:spTgt spid="128"/>
                                        </p:tgtEl>
                                      </p:cBhvr>
                                    </p:animEffect>
                                  </p:childTnLst>
                                </p:cTn>
                              </p:par>
                            </p:childTnLst>
                          </p:cTn>
                        </p:par>
                        <p:par>
                          <p:cTn id="98" fill="hold">
                            <p:stCondLst>
                              <p:cond delay="1000"/>
                            </p:stCondLst>
                            <p:childTnLst>
                              <p:par>
                                <p:cTn id="99" presetID="10" presetClass="entr" presetSubtype="0" fill="hold" nodeType="afterEffect">
                                  <p:stCondLst>
                                    <p:cond delay="500"/>
                                  </p:stCondLst>
                                  <p:childTnLst>
                                    <p:set>
                                      <p:cBhvr>
                                        <p:cTn id="100" dur="1" fill="hold">
                                          <p:stCondLst>
                                            <p:cond delay="0"/>
                                          </p:stCondLst>
                                        </p:cTn>
                                        <p:tgtEl>
                                          <p:spTgt spid="237"/>
                                        </p:tgtEl>
                                        <p:attrNameLst>
                                          <p:attrName>style.visibility</p:attrName>
                                        </p:attrNameLst>
                                      </p:cBhvr>
                                      <p:to>
                                        <p:strVal val="visible"/>
                                      </p:to>
                                    </p:set>
                                    <p:animEffect transition="in" filter="fade">
                                      <p:cBhvr>
                                        <p:cTn id="101" dur="500"/>
                                        <p:tgtEl>
                                          <p:spTgt spid="237"/>
                                        </p:tgtEl>
                                      </p:cBhvr>
                                    </p:animEffect>
                                  </p:childTnLst>
                                </p:cTn>
                              </p:par>
                            </p:childTnLst>
                          </p:cTn>
                        </p:par>
                        <p:par>
                          <p:cTn id="102" fill="hold">
                            <p:stCondLst>
                              <p:cond delay="2000"/>
                            </p:stCondLst>
                            <p:childTnLst>
                              <p:par>
                                <p:cTn id="103" presetID="10" presetClass="entr" presetSubtype="0" fill="hold" nodeType="afterEffect">
                                  <p:stCondLst>
                                    <p:cond delay="500"/>
                                  </p:stCondLst>
                                  <p:childTnLst>
                                    <p:set>
                                      <p:cBhvr>
                                        <p:cTn id="104" dur="1" fill="hold">
                                          <p:stCondLst>
                                            <p:cond delay="0"/>
                                          </p:stCondLst>
                                        </p:cTn>
                                        <p:tgtEl>
                                          <p:spTgt spid="180"/>
                                        </p:tgtEl>
                                        <p:attrNameLst>
                                          <p:attrName>style.visibility</p:attrName>
                                        </p:attrNameLst>
                                      </p:cBhvr>
                                      <p:to>
                                        <p:strVal val="visible"/>
                                      </p:to>
                                    </p:set>
                                    <p:animEffect transition="in" filter="fade">
                                      <p:cBhvr>
                                        <p:cTn id="105" dur="500"/>
                                        <p:tgtEl>
                                          <p:spTgt spid="180"/>
                                        </p:tgtEl>
                                      </p:cBhvr>
                                    </p:animEffect>
                                  </p:childTnLst>
                                </p:cTn>
                              </p:par>
                            </p:childTnLst>
                          </p:cTn>
                        </p:par>
                        <p:par>
                          <p:cTn id="106" fill="hold">
                            <p:stCondLst>
                              <p:cond delay="3000"/>
                            </p:stCondLst>
                            <p:childTnLst>
                              <p:par>
                                <p:cTn id="107" presetID="10" presetClass="exit" presetSubtype="0" fill="hold" nodeType="afterEffect">
                                  <p:stCondLst>
                                    <p:cond delay="0"/>
                                  </p:stCondLst>
                                  <p:childTnLst>
                                    <p:animEffect transition="out" filter="fade">
                                      <p:cBhvr>
                                        <p:cTn id="108" dur="500"/>
                                        <p:tgtEl>
                                          <p:spTgt spid="179"/>
                                        </p:tgtEl>
                                      </p:cBhvr>
                                    </p:animEffect>
                                    <p:set>
                                      <p:cBhvr>
                                        <p:cTn id="109" dur="1" fill="hold">
                                          <p:stCondLst>
                                            <p:cond delay="500"/>
                                          </p:stCondLst>
                                        </p:cTn>
                                        <p:tgtEl>
                                          <p:spTgt spid="179"/>
                                        </p:tgtEl>
                                        <p:attrNameLst>
                                          <p:attrName>style.visibility</p:attrName>
                                        </p:attrNameLst>
                                      </p:cBhvr>
                                      <p:to>
                                        <p:strVal val="hidden"/>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clickEffect">
                                  <p:stCondLst>
                                    <p:cond delay="0"/>
                                  </p:stCondLst>
                                  <p:childTnLst>
                                    <p:set>
                                      <p:cBhvr>
                                        <p:cTn id="113"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12">
          <a:extLst>
            <a:ext uri="{FF2B5EF4-FFF2-40B4-BE49-F238E27FC236}">
              <a16:creationId xmlns:a16="http://schemas.microsoft.com/office/drawing/2014/main" id="{5B861E14-4E77-72BE-3F6F-A80D6D906E0A}"/>
            </a:ext>
          </a:extLst>
        </p:cNvPr>
        <p:cNvGrpSpPr/>
        <p:nvPr/>
      </p:nvGrpSpPr>
      <p:grpSpPr>
        <a:xfrm>
          <a:off x="0" y="0"/>
          <a:ext cx="0" cy="0"/>
          <a:chOff x="0" y="0"/>
          <a:chExt cx="0" cy="0"/>
        </a:xfrm>
      </p:grpSpPr>
      <p:sp>
        <p:nvSpPr>
          <p:cNvPr id="3513" name="Google Shape;3513;p48">
            <a:extLst>
              <a:ext uri="{FF2B5EF4-FFF2-40B4-BE49-F238E27FC236}">
                <a16:creationId xmlns:a16="http://schemas.microsoft.com/office/drawing/2014/main" id="{A56B8EE3-B805-C52C-2F80-D7C23192017C}"/>
              </a:ext>
            </a:extLst>
          </p:cNvPr>
          <p:cNvSpPr txBox="1">
            <a:spLocks noGrp="1"/>
          </p:cNvSpPr>
          <p:nvPr>
            <p:ph type="title"/>
          </p:nvPr>
        </p:nvSpPr>
        <p:spPr>
          <a:xfrm>
            <a:off x="589107" y="938794"/>
            <a:ext cx="6555971" cy="1229360"/>
          </a:xfrm>
        </p:spPr>
        <p:txBody>
          <a:bodyPr spcFirstLastPara="1" wrap="square" lIns="0" tIns="0" rIns="0" bIns="0" anchor="b" anchorCtr="0">
            <a:normAutofit/>
          </a:bodyPr>
          <a:lstStyle/>
          <a:p>
            <a:pPr marL="0" lvl="0" indent="0" rtl="0">
              <a:spcBef>
                <a:spcPts val="0"/>
              </a:spcBef>
              <a:spcAft>
                <a:spcPts val="0"/>
              </a:spcAft>
              <a:buClr>
                <a:schemeClr val="accent2"/>
              </a:buClr>
              <a:buSzPts val="3600"/>
              <a:buFont typeface="Arial"/>
              <a:buNone/>
            </a:pPr>
            <a:r>
              <a:rPr lang="en-US" dirty="0"/>
              <a:t>Modernize Infrastructure</a:t>
            </a:r>
          </a:p>
        </p:txBody>
      </p:sp>
      <p:sp>
        <p:nvSpPr>
          <p:cNvPr id="2" name="Google Shape;4824;p59">
            <a:extLst>
              <a:ext uri="{FF2B5EF4-FFF2-40B4-BE49-F238E27FC236}">
                <a16:creationId xmlns:a16="http://schemas.microsoft.com/office/drawing/2014/main" id="{36B91837-27DA-8AC2-1131-581CE14FEA1D}"/>
              </a:ext>
            </a:extLst>
          </p:cNvPr>
          <p:cNvSpPr txBox="1">
            <a:spLocks noGrp="1"/>
          </p:cNvSpPr>
          <p:nvPr>
            <p:ph type="subTitle" idx="10"/>
          </p:nvPr>
        </p:nvSpPr>
        <p:spPr>
          <a:xfrm>
            <a:off x="602966" y="2267712"/>
            <a:ext cx="6542112" cy="700882"/>
          </a:xfrm>
        </p:spPr>
        <p:txBody>
          <a:bodyPr spcFirstLastPara="1" lIns="0" tIns="0" rIns="0" bIns="0" anchorCtr="0">
            <a:normAutofit/>
          </a:bodyPr>
          <a:lstStyle/>
          <a:p>
            <a:pPr marL="0" lvl="0" indent="0" rtl="0">
              <a:spcBef>
                <a:spcPts val="0"/>
              </a:spcBef>
              <a:spcAft>
                <a:spcPts val="600"/>
              </a:spcAft>
              <a:buSzPts val="2160"/>
              <a:buNone/>
            </a:pPr>
            <a:r>
              <a:rPr lang="en-US" dirty="0"/>
              <a:t>Compute</a:t>
            </a:r>
            <a:endParaRPr lang="en-AU" dirty="0"/>
          </a:p>
        </p:txBody>
      </p:sp>
    </p:spTree>
    <p:extLst>
      <p:ext uri="{BB962C8B-B14F-4D97-AF65-F5344CB8AC3E}">
        <p14:creationId xmlns:p14="http://schemas.microsoft.com/office/powerpoint/2010/main" val="728912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C7F85-C4DE-2507-0FA6-6B05AC30BC64}"/>
            </a:ext>
          </a:extLst>
        </p:cNvPr>
        <p:cNvGrpSpPr/>
        <p:nvPr/>
      </p:nvGrpSpPr>
      <p:grpSpPr>
        <a:xfrm>
          <a:off x="0" y="0"/>
          <a:ext cx="0" cy="0"/>
          <a:chOff x="0" y="0"/>
          <a:chExt cx="0" cy="0"/>
        </a:xfrm>
      </p:grpSpPr>
      <p:sp>
        <p:nvSpPr>
          <p:cNvPr id="57" name="Oval 56">
            <a:extLst>
              <a:ext uri="{FF2B5EF4-FFF2-40B4-BE49-F238E27FC236}">
                <a16:creationId xmlns:a16="http://schemas.microsoft.com/office/drawing/2014/main" id="{24B13E20-070E-AF82-9844-DEC9669BBCDF}"/>
              </a:ext>
            </a:extLst>
          </p:cNvPr>
          <p:cNvSpPr/>
          <p:nvPr/>
        </p:nvSpPr>
        <p:spPr>
          <a:xfrm>
            <a:off x="3325728" y="887655"/>
            <a:ext cx="5537368" cy="5537368"/>
          </a:xfrm>
          <a:prstGeom prst="ellipse">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 name="Oval 1">
            <a:extLst>
              <a:ext uri="{FF2B5EF4-FFF2-40B4-BE49-F238E27FC236}">
                <a16:creationId xmlns:a16="http://schemas.microsoft.com/office/drawing/2014/main" id="{AF7CF6B1-96C8-A22C-7A98-48CA38CE93EE}"/>
              </a:ext>
            </a:extLst>
          </p:cNvPr>
          <p:cNvSpPr/>
          <p:nvPr/>
        </p:nvSpPr>
        <p:spPr>
          <a:xfrm rot="1800000">
            <a:off x="3595842" y="1157769"/>
            <a:ext cx="4997144" cy="4997140"/>
          </a:xfrm>
          <a:prstGeom prst="ellipse">
            <a:avLst/>
          </a:prstGeom>
          <a:solidFill>
            <a:schemeClr val="bg1"/>
          </a:solidFill>
          <a:ln w="50800">
            <a:gradFill>
              <a:gsLst>
                <a:gs pos="15000">
                  <a:schemeClr val="accent4"/>
                </a:gs>
                <a:gs pos="50000">
                  <a:schemeClr val="accent2">
                    <a:alpha val="0"/>
                  </a:schemeClr>
                </a:gs>
              </a:gsLst>
              <a:lin ang="2700000" scaled="0"/>
            </a:gra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 name="Oval 4">
            <a:extLst>
              <a:ext uri="{FF2B5EF4-FFF2-40B4-BE49-F238E27FC236}">
                <a16:creationId xmlns:a16="http://schemas.microsoft.com/office/drawing/2014/main" id="{C7A99EC3-D41D-A43F-5279-3772F853F746}"/>
              </a:ext>
            </a:extLst>
          </p:cNvPr>
          <p:cNvSpPr/>
          <p:nvPr/>
        </p:nvSpPr>
        <p:spPr>
          <a:xfrm rot="16200000">
            <a:off x="3595840" y="1157768"/>
            <a:ext cx="4997146" cy="4997139"/>
          </a:xfrm>
          <a:prstGeom prst="ellipse">
            <a:avLst/>
          </a:prstGeom>
          <a:noFill/>
          <a:ln w="50800">
            <a:gradFill>
              <a:gsLst>
                <a:gs pos="17000">
                  <a:schemeClr val="accent5"/>
                </a:gs>
                <a:gs pos="57000">
                  <a:schemeClr val="accent2">
                    <a:alpha val="0"/>
                  </a:schemeClr>
                </a:gs>
              </a:gsLst>
              <a:lin ang="2700000" scaled="0"/>
            </a:gra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6" name="Oval 5">
            <a:extLst>
              <a:ext uri="{FF2B5EF4-FFF2-40B4-BE49-F238E27FC236}">
                <a16:creationId xmlns:a16="http://schemas.microsoft.com/office/drawing/2014/main" id="{E3A85754-7433-01D6-2A0F-107E8F563319}"/>
              </a:ext>
            </a:extLst>
          </p:cNvPr>
          <p:cNvSpPr/>
          <p:nvPr/>
        </p:nvSpPr>
        <p:spPr>
          <a:xfrm rot="5400000">
            <a:off x="3595838" y="1157769"/>
            <a:ext cx="4997145" cy="4997138"/>
          </a:xfrm>
          <a:prstGeom prst="ellipse">
            <a:avLst/>
          </a:prstGeom>
          <a:noFill/>
          <a:ln w="50800">
            <a:gradFill>
              <a:gsLst>
                <a:gs pos="17000">
                  <a:schemeClr val="accent1"/>
                </a:gs>
                <a:gs pos="50000">
                  <a:schemeClr val="accent1">
                    <a:alpha val="0"/>
                  </a:schemeClr>
                </a:gs>
              </a:gsLst>
              <a:lin ang="2700000" scaled="0"/>
            </a:gra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nvGrpSpPr>
          <p:cNvPr id="73" name="Group 72">
            <a:extLst>
              <a:ext uri="{FF2B5EF4-FFF2-40B4-BE49-F238E27FC236}">
                <a16:creationId xmlns:a16="http://schemas.microsoft.com/office/drawing/2014/main" id="{6E4484DD-F067-D845-651D-4502FCE35A47}"/>
              </a:ext>
            </a:extLst>
          </p:cNvPr>
          <p:cNvGrpSpPr/>
          <p:nvPr/>
        </p:nvGrpSpPr>
        <p:grpSpPr>
          <a:xfrm>
            <a:off x="1322101" y="1198866"/>
            <a:ext cx="2126521" cy="1158004"/>
            <a:chOff x="495019" y="1313542"/>
            <a:chExt cx="2126521" cy="1158004"/>
          </a:xfrm>
        </p:grpSpPr>
        <p:sp>
          <p:nvSpPr>
            <p:cNvPr id="74" name="Text Placeholder 9">
              <a:extLst>
                <a:ext uri="{FF2B5EF4-FFF2-40B4-BE49-F238E27FC236}">
                  <a16:creationId xmlns:a16="http://schemas.microsoft.com/office/drawing/2014/main" id="{B5D7EDC6-98CE-85F5-D252-99CD3A16E9EB}"/>
                </a:ext>
              </a:extLst>
            </p:cNvPr>
            <p:cNvSpPr txBox="1">
              <a:spLocks/>
            </p:cNvSpPr>
            <p:nvPr/>
          </p:nvSpPr>
          <p:spPr>
            <a:xfrm>
              <a:off x="495019" y="1313542"/>
              <a:ext cx="2126521" cy="914400"/>
            </a:xfrm>
            <a:prstGeom prst="rect">
              <a:avLst/>
            </a:prstGeom>
          </p:spPr>
          <p:txBody>
            <a:bodyPr vert="horz" lIns="0" tIns="0" rIns="0" bIns="0" rtlCol="0" anchor="b">
              <a:no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marL="0" marR="0" lvl="0" indent="0" algn="r" defTabSz="914400" rtl="0" eaLnBrk="1" fontAlgn="auto" latinLnBrk="0" hangingPunct="1">
                <a:lnSpc>
                  <a:spcPct val="93000"/>
                </a:lnSpc>
                <a:spcBef>
                  <a:spcPts val="1800"/>
                </a:spcBef>
                <a:spcAft>
                  <a:spcPts val="0"/>
                </a:spcAft>
                <a:buClr>
                  <a:srgbClr val="717074">
                    <a:lumMod val="60000"/>
                    <a:lumOff val="40000"/>
                  </a:srgbClr>
                </a:buClr>
                <a:buSzPct val="90000"/>
                <a:buFont typeface="Arial" panose="020B0604020202020204" pitchFamily="34" charset="0"/>
                <a:buChar char="​"/>
                <a:tabLst/>
                <a:defRPr/>
              </a:pPr>
              <a:r>
                <a:rPr kumimoji="0" lang="en-US" sz="2400" u="none" strike="noStrike" kern="1200" cap="none" spc="0" normalizeH="0" baseline="0" noProof="0" dirty="0">
                  <a:ln>
                    <a:noFill/>
                  </a:ln>
                  <a:solidFill>
                    <a:schemeClr val="accent1"/>
                  </a:solidFill>
                  <a:effectLst/>
                  <a:uLnTx/>
                  <a:uFillTx/>
                  <a:latin typeface="Arial" panose="020B0604020202020204" pitchFamily="34" charset="0"/>
                  <a:ea typeface="+mn-ea"/>
                  <a:cs typeface="+mn-cs"/>
                </a:rPr>
                <a:t>Modern Workloads</a:t>
              </a:r>
            </a:p>
          </p:txBody>
        </p:sp>
        <p:sp>
          <p:nvSpPr>
            <p:cNvPr id="75" name="Content Placeholder 6">
              <a:extLst>
                <a:ext uri="{FF2B5EF4-FFF2-40B4-BE49-F238E27FC236}">
                  <a16:creationId xmlns:a16="http://schemas.microsoft.com/office/drawing/2014/main" id="{B1524194-E1D2-4AE8-B30C-93487158377F}"/>
                </a:ext>
              </a:extLst>
            </p:cNvPr>
            <p:cNvSpPr txBox="1">
              <a:spLocks/>
            </p:cNvSpPr>
            <p:nvPr/>
          </p:nvSpPr>
          <p:spPr>
            <a:xfrm>
              <a:off x="565858" y="2305347"/>
              <a:ext cx="2055682" cy="166199"/>
            </a:xfrm>
            <a:prstGeom prst="rect">
              <a:avLst/>
            </a:prstGeom>
          </p:spPr>
          <p:txBody>
            <a:bodyPr vert="horz" wrap="square" lIns="0" tIns="0" rIns="0" bIns="0" rtlCol="0" anchor="t">
              <a:sp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marL="0" marR="0" lvl="0" indent="0" algn="r" defTabSz="914400" rtl="0" eaLnBrk="1" fontAlgn="auto" latinLnBrk="0" hangingPunct="1">
                <a:lnSpc>
                  <a:spcPct val="90000"/>
                </a:lnSpc>
                <a:spcBef>
                  <a:spcPts val="1200"/>
                </a:spcBef>
                <a:spcAft>
                  <a:spcPts val="0"/>
                </a:spcAft>
                <a:buClr>
                  <a:srgbClr val="717074">
                    <a:lumMod val="60000"/>
                    <a:lumOff val="40000"/>
                  </a:srgbClr>
                </a:buClr>
                <a:buSzPct val="90000"/>
                <a:buFont typeface="Arial" panose="020B0604020202020204" pitchFamily="34" charset="0"/>
                <a:buChar char="​"/>
                <a:tabLst/>
                <a:defRPr/>
              </a:pPr>
              <a:endParaRPr kumimoji="0" lang="en-US" sz="120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grpSp>
      <p:grpSp>
        <p:nvGrpSpPr>
          <p:cNvPr id="76" name="Group 75">
            <a:extLst>
              <a:ext uri="{FF2B5EF4-FFF2-40B4-BE49-F238E27FC236}">
                <a16:creationId xmlns:a16="http://schemas.microsoft.com/office/drawing/2014/main" id="{A22D49B7-B695-C31E-85AF-595E3169A418}"/>
              </a:ext>
            </a:extLst>
          </p:cNvPr>
          <p:cNvGrpSpPr/>
          <p:nvPr/>
        </p:nvGrpSpPr>
        <p:grpSpPr>
          <a:xfrm>
            <a:off x="1238438" y="4730228"/>
            <a:ext cx="2126521" cy="1155665"/>
            <a:chOff x="9397367" y="4372848"/>
            <a:chExt cx="2126521" cy="1155665"/>
          </a:xfrm>
        </p:grpSpPr>
        <p:sp>
          <p:nvSpPr>
            <p:cNvPr id="77" name="Text Placeholder 9">
              <a:extLst>
                <a:ext uri="{FF2B5EF4-FFF2-40B4-BE49-F238E27FC236}">
                  <a16:creationId xmlns:a16="http://schemas.microsoft.com/office/drawing/2014/main" id="{44D44F8C-C7BF-0B4F-5C61-8FD5E98CDDA6}"/>
                </a:ext>
              </a:extLst>
            </p:cNvPr>
            <p:cNvSpPr txBox="1">
              <a:spLocks/>
            </p:cNvSpPr>
            <p:nvPr/>
          </p:nvSpPr>
          <p:spPr>
            <a:xfrm>
              <a:off x="9397367" y="4372848"/>
              <a:ext cx="2126521" cy="914400"/>
            </a:xfrm>
            <a:prstGeom prst="rect">
              <a:avLst/>
            </a:prstGeom>
          </p:spPr>
          <p:txBody>
            <a:bodyPr vert="horz" lIns="0" tIns="0" rIns="0" bIns="0" rtlCol="0" anchor="b">
              <a:no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marL="0" marR="0" lvl="0" indent="0" algn="r" defTabSz="914400" rtl="0" eaLnBrk="1" fontAlgn="auto" latinLnBrk="0" hangingPunct="1">
                <a:lnSpc>
                  <a:spcPct val="93000"/>
                </a:lnSpc>
                <a:spcBef>
                  <a:spcPts val="1800"/>
                </a:spcBef>
                <a:spcAft>
                  <a:spcPts val="0"/>
                </a:spcAft>
                <a:buClr>
                  <a:srgbClr val="717074">
                    <a:lumMod val="60000"/>
                    <a:lumOff val="40000"/>
                  </a:srgbClr>
                </a:buClr>
                <a:buSzPct val="90000"/>
                <a:buFont typeface="Arial" panose="020B0604020202020204" pitchFamily="34" charset="0"/>
                <a:buChar char="​"/>
                <a:tabLst/>
                <a:defRPr/>
              </a:pPr>
              <a:r>
                <a:rPr kumimoji="0" lang="en-US" sz="2400" u="none" strike="noStrike" kern="1200" cap="none" spc="0" normalizeH="0" baseline="0" noProof="0" dirty="0">
                  <a:ln>
                    <a:noFill/>
                  </a:ln>
                  <a:solidFill>
                    <a:srgbClr val="7F35B2"/>
                  </a:solidFill>
                  <a:effectLst/>
                  <a:uLnTx/>
                  <a:uFillTx/>
                  <a:latin typeface="Arial" panose="020B0604020202020204" pitchFamily="34" charset="0"/>
                  <a:ea typeface="+mn-ea"/>
                  <a:cs typeface="+mn-cs"/>
                </a:rPr>
                <a:t>Compute Infrastructure</a:t>
              </a:r>
            </a:p>
          </p:txBody>
        </p:sp>
        <p:sp>
          <p:nvSpPr>
            <p:cNvPr id="78" name="Content Placeholder 6">
              <a:extLst>
                <a:ext uri="{FF2B5EF4-FFF2-40B4-BE49-F238E27FC236}">
                  <a16:creationId xmlns:a16="http://schemas.microsoft.com/office/drawing/2014/main" id="{819CFB18-AD6C-7BAF-78D8-E16649C1726B}"/>
                </a:ext>
              </a:extLst>
            </p:cNvPr>
            <p:cNvSpPr txBox="1">
              <a:spLocks/>
            </p:cNvSpPr>
            <p:nvPr/>
          </p:nvSpPr>
          <p:spPr>
            <a:xfrm>
              <a:off x="9602706" y="5366930"/>
              <a:ext cx="1921182" cy="161583"/>
            </a:xfrm>
            <a:prstGeom prst="rect">
              <a:avLst/>
            </a:prstGeom>
          </p:spPr>
          <p:txBody>
            <a:bodyPr vert="horz" wrap="square" lIns="0" tIns="0" rIns="0" bIns="0" rtlCol="0" anchor="t">
              <a:sp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marL="0" marR="0" lvl="0" indent="0" algn="r" defTabSz="914400" rtl="0" eaLnBrk="1" fontAlgn="auto" latinLnBrk="0" hangingPunct="1">
                <a:lnSpc>
                  <a:spcPct val="100000"/>
                </a:lnSpc>
                <a:spcBef>
                  <a:spcPts val="1800"/>
                </a:spcBef>
                <a:spcAft>
                  <a:spcPts val="0"/>
                </a:spcAft>
                <a:buClr>
                  <a:srgbClr val="717074">
                    <a:lumMod val="60000"/>
                    <a:lumOff val="40000"/>
                  </a:srgbClr>
                </a:buClr>
                <a:buSzPct val="90000"/>
                <a:buFont typeface="Arial" panose="020B0604020202020204" pitchFamily="34" charset="0"/>
                <a:buChar char="​"/>
                <a:tabLst/>
                <a:defRPr/>
              </a:pPr>
              <a:endParaRPr kumimoji="0" lang="en-US" sz="105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grpSp>
      <p:sp>
        <p:nvSpPr>
          <p:cNvPr id="7" name="Oval 6">
            <a:extLst>
              <a:ext uri="{FF2B5EF4-FFF2-40B4-BE49-F238E27FC236}">
                <a16:creationId xmlns:a16="http://schemas.microsoft.com/office/drawing/2014/main" id="{EDE4E378-BBBF-B300-A5E6-699521D0F16F}"/>
              </a:ext>
            </a:extLst>
          </p:cNvPr>
          <p:cNvSpPr/>
          <p:nvPr/>
        </p:nvSpPr>
        <p:spPr>
          <a:xfrm rot="9900000">
            <a:off x="3595840" y="1157767"/>
            <a:ext cx="4997144" cy="4997140"/>
          </a:xfrm>
          <a:prstGeom prst="ellipse">
            <a:avLst/>
          </a:prstGeom>
          <a:noFill/>
          <a:ln w="50800">
            <a:gradFill>
              <a:gsLst>
                <a:gs pos="17000">
                  <a:schemeClr val="accent2"/>
                </a:gs>
                <a:gs pos="50000">
                  <a:schemeClr val="accent2">
                    <a:alpha val="0"/>
                  </a:schemeClr>
                </a:gs>
              </a:gsLst>
              <a:lin ang="2700000" scaled="0"/>
            </a:gra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2" name="Oval 11">
            <a:extLst>
              <a:ext uri="{FF2B5EF4-FFF2-40B4-BE49-F238E27FC236}">
                <a16:creationId xmlns:a16="http://schemas.microsoft.com/office/drawing/2014/main" id="{2106BC95-529B-FF92-73ED-143A8C358625}"/>
              </a:ext>
            </a:extLst>
          </p:cNvPr>
          <p:cNvSpPr/>
          <p:nvPr/>
        </p:nvSpPr>
        <p:spPr>
          <a:xfrm rot="5400000">
            <a:off x="3595838" y="1157769"/>
            <a:ext cx="4997145" cy="4997138"/>
          </a:xfrm>
          <a:prstGeom prst="ellipse">
            <a:avLst/>
          </a:prstGeom>
          <a:noFill/>
          <a:ln w="50800">
            <a:gradFill>
              <a:gsLst>
                <a:gs pos="17000">
                  <a:schemeClr val="accent3"/>
                </a:gs>
                <a:gs pos="50000">
                  <a:schemeClr val="accent3">
                    <a:alpha val="0"/>
                  </a:schemeClr>
                </a:gs>
              </a:gsLst>
              <a:lin ang="2700000" scaled="0"/>
            </a:gra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nvGrpSpPr>
          <p:cNvPr id="172" name="Group 171">
            <a:extLst>
              <a:ext uri="{FF2B5EF4-FFF2-40B4-BE49-F238E27FC236}">
                <a16:creationId xmlns:a16="http://schemas.microsoft.com/office/drawing/2014/main" id="{87DD79B9-812E-66EE-F23F-A519DA836E84}"/>
              </a:ext>
            </a:extLst>
          </p:cNvPr>
          <p:cNvGrpSpPr/>
          <p:nvPr/>
        </p:nvGrpSpPr>
        <p:grpSpPr>
          <a:xfrm>
            <a:off x="9251349" y="2978212"/>
            <a:ext cx="2126521" cy="1158004"/>
            <a:chOff x="530438" y="4372848"/>
            <a:chExt cx="2126521" cy="1158004"/>
          </a:xfrm>
        </p:grpSpPr>
        <p:sp>
          <p:nvSpPr>
            <p:cNvPr id="173" name="Text Placeholder 9">
              <a:extLst>
                <a:ext uri="{FF2B5EF4-FFF2-40B4-BE49-F238E27FC236}">
                  <a16:creationId xmlns:a16="http://schemas.microsoft.com/office/drawing/2014/main" id="{D6310888-38E4-A844-9158-D4062B33CAFC}"/>
                </a:ext>
              </a:extLst>
            </p:cNvPr>
            <p:cNvSpPr txBox="1">
              <a:spLocks/>
            </p:cNvSpPr>
            <p:nvPr/>
          </p:nvSpPr>
          <p:spPr>
            <a:xfrm>
              <a:off x="530438" y="4372848"/>
              <a:ext cx="2126521" cy="914400"/>
            </a:xfrm>
            <a:prstGeom prst="rect">
              <a:avLst/>
            </a:prstGeom>
          </p:spPr>
          <p:txBody>
            <a:bodyPr vert="horz" lIns="0" tIns="0" rIns="0" bIns="0" rtlCol="0" anchor="b">
              <a:no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marL="0" marR="0" lvl="0" indent="0" algn="l" defTabSz="914400" rtl="0" eaLnBrk="1" fontAlgn="auto" latinLnBrk="0" hangingPunct="1">
                <a:lnSpc>
                  <a:spcPct val="93000"/>
                </a:lnSpc>
                <a:spcBef>
                  <a:spcPts val="1800"/>
                </a:spcBef>
                <a:spcAft>
                  <a:spcPts val="0"/>
                </a:spcAft>
                <a:buClr>
                  <a:srgbClr val="717074">
                    <a:lumMod val="60000"/>
                    <a:lumOff val="40000"/>
                  </a:srgbClr>
                </a:buClr>
                <a:buSzPct val="90000"/>
                <a:buFont typeface="Arial" panose="020B0604020202020204" pitchFamily="34" charset="0"/>
                <a:buChar char="​"/>
                <a:tabLst/>
                <a:defRPr/>
              </a:pPr>
              <a:r>
                <a:rPr kumimoji="0" lang="en-US" sz="2400" u="none" strike="noStrike" kern="1200" cap="none" spc="0" normalizeH="0" baseline="0" noProof="0" dirty="0">
                  <a:ln>
                    <a:noFill/>
                  </a:ln>
                  <a:solidFill>
                    <a:schemeClr val="accent3"/>
                  </a:solidFill>
                  <a:effectLst/>
                  <a:uLnTx/>
                  <a:uFillTx/>
                  <a:latin typeface="Arial" panose="020B0604020202020204" pitchFamily="34" charset="0"/>
                  <a:ea typeface="+mn-ea"/>
                  <a:cs typeface="+mn-cs"/>
                </a:rPr>
                <a:t>Security and Compliance</a:t>
              </a:r>
            </a:p>
          </p:txBody>
        </p:sp>
        <p:sp>
          <p:nvSpPr>
            <p:cNvPr id="174" name="Content Placeholder 6">
              <a:extLst>
                <a:ext uri="{FF2B5EF4-FFF2-40B4-BE49-F238E27FC236}">
                  <a16:creationId xmlns:a16="http://schemas.microsoft.com/office/drawing/2014/main" id="{22E77202-CA1B-96F6-7AFD-901FFF83658C}"/>
                </a:ext>
              </a:extLst>
            </p:cNvPr>
            <p:cNvSpPr txBox="1">
              <a:spLocks/>
            </p:cNvSpPr>
            <p:nvPr/>
          </p:nvSpPr>
          <p:spPr>
            <a:xfrm>
              <a:off x="530438" y="5364653"/>
              <a:ext cx="2126521" cy="166199"/>
            </a:xfrm>
            <a:prstGeom prst="rect">
              <a:avLst/>
            </a:prstGeom>
          </p:spPr>
          <p:txBody>
            <a:bodyPr vert="horz" wrap="square" lIns="0" tIns="0" rIns="0" bIns="0" rtlCol="0" anchor="t">
              <a:sp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marL="0" marR="0" lvl="0" indent="0" algn="l" defTabSz="914400" rtl="0" eaLnBrk="1" fontAlgn="auto" latinLnBrk="0" hangingPunct="1">
                <a:lnSpc>
                  <a:spcPct val="90000"/>
                </a:lnSpc>
                <a:spcBef>
                  <a:spcPts val="1200"/>
                </a:spcBef>
                <a:spcAft>
                  <a:spcPts val="0"/>
                </a:spcAft>
                <a:buClr>
                  <a:srgbClr val="717074">
                    <a:lumMod val="60000"/>
                    <a:lumOff val="40000"/>
                  </a:srgbClr>
                </a:buClr>
                <a:buSzPct val="90000"/>
                <a:buFont typeface="Arial" panose="020B0604020202020204" pitchFamily="34" charset="0"/>
                <a:buChar char="​"/>
                <a:tabLst/>
                <a:defRPr/>
              </a:pPr>
              <a:endParaRPr kumimoji="0" lang="en-US" sz="120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grpSp>
      <p:cxnSp>
        <p:nvCxnSpPr>
          <p:cNvPr id="212" name="!!Straight Connector 6">
            <a:extLst>
              <a:ext uri="{FF2B5EF4-FFF2-40B4-BE49-F238E27FC236}">
                <a16:creationId xmlns:a16="http://schemas.microsoft.com/office/drawing/2014/main" id="{5B81F946-1B6E-9C0C-FBB8-48F05A25CB3B}"/>
              </a:ext>
              <a:ext uri="{C183D7F6-B498-43B3-948B-1728B52AA6E4}">
                <adec:decorative xmlns:adec="http://schemas.microsoft.com/office/drawing/2017/decorative" val="1"/>
              </a:ext>
            </a:extLst>
          </p:cNvPr>
          <p:cNvCxnSpPr>
            <a:cxnSpLocks/>
          </p:cNvCxnSpPr>
          <p:nvPr/>
        </p:nvCxnSpPr>
        <p:spPr bwMode="gray">
          <a:xfrm>
            <a:off x="4257863" y="4349125"/>
            <a:ext cx="3673098" cy="0"/>
          </a:xfrm>
          <a:prstGeom prst="line">
            <a:avLst/>
          </a:prstGeom>
          <a:solidFill>
            <a:schemeClr val="bg1"/>
          </a:solidFill>
          <a:ln w="25400">
            <a:solidFill>
              <a:schemeClr val="accent2">
                <a:alpha val="20000"/>
              </a:schemeClr>
            </a:solidFill>
            <a:miter lim="800000"/>
          </a:ln>
          <a:effectLst/>
        </p:spPr>
        <p:style>
          <a:lnRef idx="1">
            <a:schemeClr val="accent1"/>
          </a:lnRef>
          <a:fillRef idx="3">
            <a:schemeClr val="accent1"/>
          </a:fillRef>
          <a:effectRef idx="2">
            <a:schemeClr val="accent1"/>
          </a:effectRef>
          <a:fontRef idx="minor">
            <a:schemeClr val="lt1"/>
          </a:fontRef>
        </p:style>
      </p:cxnSp>
      <p:grpSp>
        <p:nvGrpSpPr>
          <p:cNvPr id="236" name="Group 235">
            <a:extLst>
              <a:ext uri="{FF2B5EF4-FFF2-40B4-BE49-F238E27FC236}">
                <a16:creationId xmlns:a16="http://schemas.microsoft.com/office/drawing/2014/main" id="{3FBAAE73-4B4D-FCD1-B0F4-5DE65A871450}"/>
              </a:ext>
            </a:extLst>
          </p:cNvPr>
          <p:cNvGrpSpPr/>
          <p:nvPr/>
        </p:nvGrpSpPr>
        <p:grpSpPr>
          <a:xfrm>
            <a:off x="4478342" y="3710681"/>
            <a:ext cx="3145657" cy="349937"/>
            <a:chOff x="-2988632" y="2987890"/>
            <a:chExt cx="2383073" cy="265104"/>
          </a:xfrm>
        </p:grpSpPr>
        <p:sp>
          <p:nvSpPr>
            <p:cNvPr id="237" name="Freeform: Shape 236">
              <a:extLst>
                <a:ext uri="{FF2B5EF4-FFF2-40B4-BE49-F238E27FC236}">
                  <a16:creationId xmlns:a16="http://schemas.microsoft.com/office/drawing/2014/main" id="{A10CFFA0-C7FA-1A9F-9CA9-7DECC408CDE3}"/>
                </a:ext>
              </a:extLst>
            </p:cNvPr>
            <p:cNvSpPr/>
            <p:nvPr/>
          </p:nvSpPr>
          <p:spPr>
            <a:xfrm>
              <a:off x="-2988632" y="2991907"/>
              <a:ext cx="210018" cy="208870"/>
            </a:xfrm>
            <a:custGeom>
              <a:avLst/>
              <a:gdLst>
                <a:gd name="connsiteX0" fmla="*/ 266378 w 266378"/>
                <a:gd name="connsiteY0" fmla="*/ 0 h 264922"/>
                <a:gd name="connsiteX1" fmla="*/ 149201 w 266378"/>
                <a:gd name="connsiteY1" fmla="*/ 264923 h 264922"/>
                <a:gd name="connsiteX2" fmla="*/ 116449 w 266378"/>
                <a:gd name="connsiteY2" fmla="*/ 264923 h 264922"/>
                <a:gd name="connsiteX3" fmla="*/ 0 w 266378"/>
                <a:gd name="connsiteY3" fmla="*/ 0 h 264922"/>
                <a:gd name="connsiteX4" fmla="*/ 32751 w 266378"/>
                <a:gd name="connsiteY4" fmla="*/ 0 h 264922"/>
                <a:gd name="connsiteX5" fmla="*/ 133189 w 266378"/>
                <a:gd name="connsiteY5" fmla="*/ 227804 h 264922"/>
                <a:gd name="connsiteX6" fmla="*/ 233627 w 266378"/>
                <a:gd name="connsiteY6" fmla="*/ 0 h 264922"/>
                <a:gd name="connsiteX7" fmla="*/ 266378 w 266378"/>
                <a:gd name="connsiteY7" fmla="*/ 0 h 264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378" h="264922">
                  <a:moveTo>
                    <a:pt x="266378" y="0"/>
                  </a:moveTo>
                  <a:lnTo>
                    <a:pt x="149201" y="264923"/>
                  </a:lnTo>
                  <a:lnTo>
                    <a:pt x="116449" y="264923"/>
                  </a:lnTo>
                  <a:lnTo>
                    <a:pt x="0" y="0"/>
                  </a:lnTo>
                  <a:lnTo>
                    <a:pt x="32751" y="0"/>
                  </a:lnTo>
                  <a:lnTo>
                    <a:pt x="133189" y="227804"/>
                  </a:lnTo>
                  <a:lnTo>
                    <a:pt x="233627" y="0"/>
                  </a:lnTo>
                  <a:lnTo>
                    <a:pt x="266378" y="0"/>
                  </a:lnTo>
                  <a:close/>
                </a:path>
              </a:pathLst>
            </a:custGeom>
            <a:solidFill>
              <a:srgbClr val="717074"/>
            </a:solidFill>
            <a:ln w="7275" cap="flat">
              <a:noFill/>
              <a:prstDash val="solid"/>
              <a:miter/>
            </a:ln>
          </p:spPr>
          <p:txBody>
            <a:bodyPr lIns="120701" tIns="60350" rIns="120701" bIns="603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38" name="Graphic 7" descr="VMware vSphere+">
              <a:extLst>
                <a:ext uri="{FF2B5EF4-FFF2-40B4-BE49-F238E27FC236}">
                  <a16:creationId xmlns:a16="http://schemas.microsoft.com/office/drawing/2014/main" id="{B3561BEF-6E49-D646-C89A-F0B0B966CE73}"/>
                </a:ext>
              </a:extLst>
            </p:cNvPr>
            <p:cNvGrpSpPr/>
            <p:nvPr/>
          </p:nvGrpSpPr>
          <p:grpSpPr>
            <a:xfrm>
              <a:off x="-2745906" y="2991907"/>
              <a:ext cx="464793" cy="208870"/>
              <a:chOff x="1981861" y="2111453"/>
              <a:chExt cx="589524" cy="264922"/>
            </a:xfrm>
            <a:solidFill>
              <a:srgbClr val="717074"/>
            </a:solidFill>
          </p:grpSpPr>
          <p:sp>
            <p:nvSpPr>
              <p:cNvPr id="250" name="Freeform: Shape 249">
                <a:extLst>
                  <a:ext uri="{FF2B5EF4-FFF2-40B4-BE49-F238E27FC236}">
                    <a16:creationId xmlns:a16="http://schemas.microsoft.com/office/drawing/2014/main" id="{C7C5A123-08E0-B50E-5F8F-546873EC36BC}"/>
                  </a:ext>
                </a:extLst>
              </p:cNvPr>
              <p:cNvSpPr/>
              <p:nvPr/>
            </p:nvSpPr>
            <p:spPr>
              <a:xfrm>
                <a:off x="1981861" y="2111453"/>
                <a:ext cx="256188" cy="264922"/>
              </a:xfrm>
              <a:custGeom>
                <a:avLst/>
                <a:gdLst>
                  <a:gd name="connsiteX0" fmla="*/ 0 w 256188"/>
                  <a:gd name="connsiteY0" fmla="*/ 0 h 264922"/>
                  <a:gd name="connsiteX1" fmla="*/ 29840 w 256188"/>
                  <a:gd name="connsiteY1" fmla="*/ 0 h 264922"/>
                  <a:gd name="connsiteX2" fmla="*/ 128094 w 256188"/>
                  <a:gd name="connsiteY2" fmla="*/ 184864 h 264922"/>
                  <a:gd name="connsiteX3" fmla="*/ 226349 w 256188"/>
                  <a:gd name="connsiteY3" fmla="*/ 0 h 264922"/>
                  <a:gd name="connsiteX4" fmla="*/ 256189 w 256188"/>
                  <a:gd name="connsiteY4" fmla="*/ 0 h 264922"/>
                  <a:gd name="connsiteX5" fmla="*/ 256189 w 256188"/>
                  <a:gd name="connsiteY5" fmla="*/ 264923 h 264922"/>
                  <a:gd name="connsiteX6" fmla="*/ 226349 w 256188"/>
                  <a:gd name="connsiteY6" fmla="*/ 264923 h 264922"/>
                  <a:gd name="connsiteX7" fmla="*/ 226349 w 256188"/>
                  <a:gd name="connsiteY7" fmla="*/ 64775 h 264922"/>
                  <a:gd name="connsiteX8" fmla="*/ 128094 w 256188"/>
                  <a:gd name="connsiteY8" fmla="*/ 249639 h 264922"/>
                  <a:gd name="connsiteX9" fmla="*/ 29840 w 256188"/>
                  <a:gd name="connsiteY9" fmla="*/ 64775 h 264922"/>
                  <a:gd name="connsiteX10" fmla="*/ 29840 w 256188"/>
                  <a:gd name="connsiteY10" fmla="*/ 264923 h 264922"/>
                  <a:gd name="connsiteX11" fmla="*/ 0 w 256188"/>
                  <a:gd name="connsiteY11" fmla="*/ 264923 h 264922"/>
                  <a:gd name="connsiteX12" fmla="*/ 0 w 256188"/>
                  <a:gd name="connsiteY12" fmla="*/ 0 h 264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6188" h="264922">
                    <a:moveTo>
                      <a:pt x="0" y="0"/>
                    </a:moveTo>
                    <a:lnTo>
                      <a:pt x="29840" y="0"/>
                    </a:lnTo>
                    <a:lnTo>
                      <a:pt x="128094" y="184864"/>
                    </a:lnTo>
                    <a:lnTo>
                      <a:pt x="226349" y="0"/>
                    </a:lnTo>
                    <a:lnTo>
                      <a:pt x="256189" y="0"/>
                    </a:lnTo>
                    <a:lnTo>
                      <a:pt x="256189" y="264923"/>
                    </a:lnTo>
                    <a:lnTo>
                      <a:pt x="226349" y="264923"/>
                    </a:lnTo>
                    <a:lnTo>
                      <a:pt x="226349" y="64775"/>
                    </a:lnTo>
                    <a:lnTo>
                      <a:pt x="128094" y="249639"/>
                    </a:lnTo>
                    <a:lnTo>
                      <a:pt x="29840" y="64775"/>
                    </a:lnTo>
                    <a:lnTo>
                      <a:pt x="29840" y="264923"/>
                    </a:lnTo>
                    <a:lnTo>
                      <a:pt x="0" y="264923"/>
                    </a:lnTo>
                    <a:lnTo>
                      <a:pt x="0" y="0"/>
                    </a:lnTo>
                    <a:close/>
                  </a:path>
                </a:pathLst>
              </a:custGeom>
              <a:solidFill>
                <a:srgbClr val="717074"/>
              </a:solidFill>
              <a:ln w="7275" cap="flat">
                <a:noFill/>
                <a:prstDash val="solid"/>
                <a:miter/>
              </a:ln>
            </p:spPr>
            <p:txBody>
              <a:bodyPr lIns="120701" tIns="60350" rIns="120701" bIns="603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1" name="Freeform: Shape 250">
                <a:extLst>
                  <a:ext uri="{FF2B5EF4-FFF2-40B4-BE49-F238E27FC236}">
                    <a16:creationId xmlns:a16="http://schemas.microsoft.com/office/drawing/2014/main" id="{5FD9B02B-903E-3E7A-FBF2-6E702AAB64AB}"/>
                  </a:ext>
                </a:extLst>
              </p:cNvPr>
              <p:cNvSpPr/>
              <p:nvPr/>
            </p:nvSpPr>
            <p:spPr>
              <a:xfrm>
                <a:off x="2277351" y="2176956"/>
                <a:ext cx="294034" cy="199419"/>
              </a:xfrm>
              <a:custGeom>
                <a:avLst/>
                <a:gdLst>
                  <a:gd name="connsiteX0" fmla="*/ 0 w 294034"/>
                  <a:gd name="connsiteY0" fmla="*/ 0 h 199419"/>
                  <a:gd name="connsiteX1" fmla="*/ 30568 w 294034"/>
                  <a:gd name="connsiteY1" fmla="*/ 0 h 199419"/>
                  <a:gd name="connsiteX2" fmla="*/ 80059 w 294034"/>
                  <a:gd name="connsiteY2" fmla="*/ 160846 h 199419"/>
                  <a:gd name="connsiteX3" fmla="*/ 134645 w 294034"/>
                  <a:gd name="connsiteY3" fmla="*/ 0 h 199419"/>
                  <a:gd name="connsiteX4" fmla="*/ 159390 w 294034"/>
                  <a:gd name="connsiteY4" fmla="*/ 0 h 199419"/>
                  <a:gd name="connsiteX5" fmla="*/ 213976 w 294034"/>
                  <a:gd name="connsiteY5" fmla="*/ 160846 h 199419"/>
                  <a:gd name="connsiteX6" fmla="*/ 263467 w 294034"/>
                  <a:gd name="connsiteY6" fmla="*/ 0 h 199419"/>
                  <a:gd name="connsiteX7" fmla="*/ 294035 w 294034"/>
                  <a:gd name="connsiteY7" fmla="*/ 0 h 199419"/>
                  <a:gd name="connsiteX8" fmla="*/ 227077 w 294034"/>
                  <a:gd name="connsiteY8" fmla="*/ 199420 h 199419"/>
                  <a:gd name="connsiteX9" fmla="*/ 199420 w 294034"/>
                  <a:gd name="connsiteY9" fmla="*/ 199420 h 199419"/>
                  <a:gd name="connsiteX10" fmla="*/ 146290 w 294034"/>
                  <a:gd name="connsiteY10" fmla="*/ 40030 h 199419"/>
                  <a:gd name="connsiteX11" fmla="*/ 92432 w 294034"/>
                  <a:gd name="connsiteY11" fmla="*/ 199420 h 199419"/>
                  <a:gd name="connsiteX12" fmla="*/ 66231 w 294034"/>
                  <a:gd name="connsiteY12" fmla="*/ 199420 h 199419"/>
                  <a:gd name="connsiteX13" fmla="*/ 0 w 294034"/>
                  <a:gd name="connsiteY13" fmla="*/ 0 h 199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4034" h="199419">
                    <a:moveTo>
                      <a:pt x="0" y="0"/>
                    </a:moveTo>
                    <a:lnTo>
                      <a:pt x="30568" y="0"/>
                    </a:lnTo>
                    <a:lnTo>
                      <a:pt x="80059" y="160846"/>
                    </a:lnTo>
                    <a:lnTo>
                      <a:pt x="134645" y="0"/>
                    </a:lnTo>
                    <a:lnTo>
                      <a:pt x="159390" y="0"/>
                    </a:lnTo>
                    <a:lnTo>
                      <a:pt x="213976" y="160846"/>
                    </a:lnTo>
                    <a:lnTo>
                      <a:pt x="263467" y="0"/>
                    </a:lnTo>
                    <a:lnTo>
                      <a:pt x="294035" y="0"/>
                    </a:lnTo>
                    <a:lnTo>
                      <a:pt x="227077" y="199420"/>
                    </a:lnTo>
                    <a:lnTo>
                      <a:pt x="199420" y="199420"/>
                    </a:lnTo>
                    <a:lnTo>
                      <a:pt x="146290" y="40030"/>
                    </a:lnTo>
                    <a:lnTo>
                      <a:pt x="92432" y="199420"/>
                    </a:lnTo>
                    <a:lnTo>
                      <a:pt x="66231" y="199420"/>
                    </a:lnTo>
                    <a:lnTo>
                      <a:pt x="0" y="0"/>
                    </a:lnTo>
                    <a:close/>
                  </a:path>
                </a:pathLst>
              </a:custGeom>
              <a:solidFill>
                <a:srgbClr val="717074"/>
              </a:solidFill>
              <a:ln w="7275" cap="flat">
                <a:noFill/>
                <a:prstDash val="solid"/>
                <a:miter/>
              </a:ln>
            </p:spPr>
            <p:txBody>
              <a:bodyPr lIns="120701" tIns="60350" rIns="120701" bIns="603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239" name="Freeform: Shape 238">
              <a:extLst>
                <a:ext uri="{FF2B5EF4-FFF2-40B4-BE49-F238E27FC236}">
                  <a16:creationId xmlns:a16="http://schemas.microsoft.com/office/drawing/2014/main" id="{13819E77-925C-83F8-8DA8-B56AA41E68A9}"/>
                </a:ext>
              </a:extLst>
            </p:cNvPr>
            <p:cNvSpPr/>
            <p:nvPr/>
          </p:nvSpPr>
          <p:spPr>
            <a:xfrm>
              <a:off x="-2272505" y="3039534"/>
              <a:ext cx="135421" cy="164112"/>
            </a:xfrm>
            <a:custGeom>
              <a:avLst/>
              <a:gdLst>
                <a:gd name="connsiteX0" fmla="*/ 151384 w 171762"/>
                <a:gd name="connsiteY0" fmla="*/ 22562 h 208153"/>
                <a:gd name="connsiteX1" fmla="*/ 171763 w 171762"/>
                <a:gd name="connsiteY1" fmla="*/ 82242 h 208153"/>
                <a:gd name="connsiteX2" fmla="*/ 171763 w 171762"/>
                <a:gd name="connsiteY2" fmla="*/ 203787 h 208153"/>
                <a:gd name="connsiteX3" fmla="*/ 142651 w 171762"/>
                <a:gd name="connsiteY3" fmla="*/ 203787 h 208153"/>
                <a:gd name="connsiteX4" fmla="*/ 142651 w 171762"/>
                <a:gd name="connsiteY4" fmla="*/ 172491 h 208153"/>
                <a:gd name="connsiteX5" fmla="*/ 112810 w 171762"/>
                <a:gd name="connsiteY5" fmla="*/ 198692 h 208153"/>
                <a:gd name="connsiteX6" fmla="*/ 72781 w 171762"/>
                <a:gd name="connsiteY6" fmla="*/ 208153 h 208153"/>
                <a:gd name="connsiteX7" fmla="*/ 20379 w 171762"/>
                <a:gd name="connsiteY7" fmla="*/ 190686 h 208153"/>
                <a:gd name="connsiteX8" fmla="*/ 0 w 171762"/>
                <a:gd name="connsiteY8" fmla="*/ 144106 h 208153"/>
                <a:gd name="connsiteX9" fmla="*/ 10917 w 171762"/>
                <a:gd name="connsiteY9" fmla="*/ 109899 h 208153"/>
                <a:gd name="connsiteX10" fmla="*/ 39302 w 171762"/>
                <a:gd name="connsiteY10" fmla="*/ 86609 h 208153"/>
                <a:gd name="connsiteX11" fmla="*/ 78604 w 171762"/>
                <a:gd name="connsiteY11" fmla="*/ 78603 h 208153"/>
                <a:gd name="connsiteX12" fmla="*/ 143378 w 171762"/>
                <a:gd name="connsiteY12" fmla="*/ 89521 h 208153"/>
                <a:gd name="connsiteX13" fmla="*/ 143378 w 171762"/>
                <a:gd name="connsiteY13" fmla="*/ 82242 h 208153"/>
                <a:gd name="connsiteX14" fmla="*/ 131006 w 171762"/>
                <a:gd name="connsiteY14" fmla="*/ 41485 h 208153"/>
                <a:gd name="connsiteX15" fmla="*/ 89521 w 171762"/>
                <a:gd name="connsiteY15" fmla="*/ 24746 h 208153"/>
                <a:gd name="connsiteX16" fmla="*/ 61864 w 171762"/>
                <a:gd name="connsiteY16" fmla="*/ 29840 h 208153"/>
                <a:gd name="connsiteX17" fmla="*/ 31296 w 171762"/>
                <a:gd name="connsiteY17" fmla="*/ 42941 h 208153"/>
                <a:gd name="connsiteX18" fmla="*/ 19651 w 171762"/>
                <a:gd name="connsiteY18" fmla="*/ 19651 h 208153"/>
                <a:gd name="connsiteX19" fmla="*/ 91704 w 171762"/>
                <a:gd name="connsiteY19" fmla="*/ 0 h 208153"/>
                <a:gd name="connsiteX20" fmla="*/ 151384 w 171762"/>
                <a:gd name="connsiteY20" fmla="*/ 22562 h 208153"/>
                <a:gd name="connsiteX21" fmla="*/ 118633 w 171762"/>
                <a:gd name="connsiteY21" fmla="*/ 172491 h 208153"/>
                <a:gd name="connsiteX22" fmla="*/ 143378 w 171762"/>
                <a:gd name="connsiteY22" fmla="*/ 141923 h 208153"/>
                <a:gd name="connsiteX23" fmla="*/ 143378 w 171762"/>
                <a:gd name="connsiteY23" fmla="*/ 111355 h 208153"/>
                <a:gd name="connsiteX24" fmla="*/ 82970 w 171762"/>
                <a:gd name="connsiteY24" fmla="*/ 103349 h 208153"/>
                <a:gd name="connsiteX25" fmla="*/ 44396 w 171762"/>
                <a:gd name="connsiteY25" fmla="*/ 114994 h 208153"/>
                <a:gd name="connsiteX26" fmla="*/ 28385 w 171762"/>
                <a:gd name="connsiteY26" fmla="*/ 144106 h 208153"/>
                <a:gd name="connsiteX27" fmla="*/ 42213 w 171762"/>
                <a:gd name="connsiteY27" fmla="*/ 172491 h 208153"/>
                <a:gd name="connsiteX28" fmla="*/ 77876 w 171762"/>
                <a:gd name="connsiteY28" fmla="*/ 183408 h 208153"/>
                <a:gd name="connsiteX29" fmla="*/ 118633 w 171762"/>
                <a:gd name="connsiteY29" fmla="*/ 172491 h 208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1762" h="208153">
                  <a:moveTo>
                    <a:pt x="151384" y="22562"/>
                  </a:moveTo>
                  <a:cubicBezTo>
                    <a:pt x="165213" y="37846"/>
                    <a:pt x="171763" y="57497"/>
                    <a:pt x="171763" y="82242"/>
                  </a:cubicBezTo>
                  <a:lnTo>
                    <a:pt x="171763" y="203787"/>
                  </a:lnTo>
                  <a:lnTo>
                    <a:pt x="142651" y="203787"/>
                  </a:lnTo>
                  <a:lnTo>
                    <a:pt x="142651" y="172491"/>
                  </a:lnTo>
                  <a:cubicBezTo>
                    <a:pt x="135373" y="184136"/>
                    <a:pt x="125911" y="192869"/>
                    <a:pt x="112810" y="198692"/>
                  </a:cubicBezTo>
                  <a:cubicBezTo>
                    <a:pt x="99710" y="205242"/>
                    <a:pt x="86609" y="208153"/>
                    <a:pt x="72781" y="208153"/>
                  </a:cubicBezTo>
                  <a:cubicBezTo>
                    <a:pt x="51674" y="208153"/>
                    <a:pt x="34207" y="202331"/>
                    <a:pt x="20379" y="190686"/>
                  </a:cubicBezTo>
                  <a:cubicBezTo>
                    <a:pt x="6550" y="179041"/>
                    <a:pt x="0" y="163757"/>
                    <a:pt x="0" y="144106"/>
                  </a:cubicBezTo>
                  <a:cubicBezTo>
                    <a:pt x="0" y="131006"/>
                    <a:pt x="3639" y="120089"/>
                    <a:pt x="10917" y="109899"/>
                  </a:cubicBezTo>
                  <a:cubicBezTo>
                    <a:pt x="18195" y="99710"/>
                    <a:pt x="27657" y="91704"/>
                    <a:pt x="39302" y="86609"/>
                  </a:cubicBezTo>
                  <a:cubicBezTo>
                    <a:pt x="50947" y="80787"/>
                    <a:pt x="64047" y="78603"/>
                    <a:pt x="78604" y="78603"/>
                  </a:cubicBezTo>
                  <a:cubicBezTo>
                    <a:pt x="98982" y="78603"/>
                    <a:pt x="120088" y="82242"/>
                    <a:pt x="143378" y="89521"/>
                  </a:cubicBezTo>
                  <a:lnTo>
                    <a:pt x="143378" y="82242"/>
                  </a:lnTo>
                  <a:cubicBezTo>
                    <a:pt x="143378" y="66231"/>
                    <a:pt x="139012" y="52402"/>
                    <a:pt x="131006" y="41485"/>
                  </a:cubicBezTo>
                  <a:cubicBezTo>
                    <a:pt x="123000" y="30568"/>
                    <a:pt x="109171" y="24746"/>
                    <a:pt x="89521" y="24746"/>
                  </a:cubicBezTo>
                  <a:cubicBezTo>
                    <a:pt x="80787" y="24746"/>
                    <a:pt x="71325" y="26201"/>
                    <a:pt x="61864" y="29840"/>
                  </a:cubicBezTo>
                  <a:cubicBezTo>
                    <a:pt x="52402" y="32751"/>
                    <a:pt x="42213" y="37846"/>
                    <a:pt x="31296" y="42941"/>
                  </a:cubicBezTo>
                  <a:lnTo>
                    <a:pt x="19651" y="19651"/>
                  </a:lnTo>
                  <a:cubicBezTo>
                    <a:pt x="45124" y="6550"/>
                    <a:pt x="69142" y="0"/>
                    <a:pt x="91704" y="0"/>
                  </a:cubicBezTo>
                  <a:cubicBezTo>
                    <a:pt x="117177" y="0"/>
                    <a:pt x="137556" y="8006"/>
                    <a:pt x="151384" y="22562"/>
                  </a:cubicBezTo>
                  <a:close/>
                  <a:moveTo>
                    <a:pt x="118633" y="172491"/>
                  </a:moveTo>
                  <a:cubicBezTo>
                    <a:pt x="131006" y="165213"/>
                    <a:pt x="139739" y="155023"/>
                    <a:pt x="143378" y="141923"/>
                  </a:cubicBezTo>
                  <a:lnTo>
                    <a:pt x="143378" y="111355"/>
                  </a:lnTo>
                  <a:cubicBezTo>
                    <a:pt x="123728" y="106260"/>
                    <a:pt x="104077" y="103349"/>
                    <a:pt x="82970" y="103349"/>
                  </a:cubicBezTo>
                  <a:cubicBezTo>
                    <a:pt x="67686" y="103349"/>
                    <a:pt x="54586" y="106988"/>
                    <a:pt x="44396" y="114994"/>
                  </a:cubicBezTo>
                  <a:cubicBezTo>
                    <a:pt x="33479" y="123000"/>
                    <a:pt x="28385" y="132461"/>
                    <a:pt x="28385" y="144106"/>
                  </a:cubicBezTo>
                  <a:cubicBezTo>
                    <a:pt x="28385" y="156479"/>
                    <a:pt x="32751" y="165941"/>
                    <a:pt x="42213" y="172491"/>
                  </a:cubicBezTo>
                  <a:cubicBezTo>
                    <a:pt x="51674" y="179769"/>
                    <a:pt x="63319" y="183408"/>
                    <a:pt x="77876" y="183408"/>
                  </a:cubicBezTo>
                  <a:cubicBezTo>
                    <a:pt x="91704" y="183408"/>
                    <a:pt x="105532" y="179769"/>
                    <a:pt x="118633" y="172491"/>
                  </a:cubicBezTo>
                  <a:close/>
                </a:path>
              </a:pathLst>
            </a:custGeom>
            <a:solidFill>
              <a:srgbClr val="717074"/>
            </a:solidFill>
            <a:ln w="7275" cap="flat">
              <a:noFill/>
              <a:prstDash val="solid"/>
              <a:miter/>
            </a:ln>
          </p:spPr>
          <p:txBody>
            <a:bodyPr lIns="120701" tIns="60350" rIns="120701" bIns="603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0" name="Freeform: Shape 239">
              <a:extLst>
                <a:ext uri="{FF2B5EF4-FFF2-40B4-BE49-F238E27FC236}">
                  <a16:creationId xmlns:a16="http://schemas.microsoft.com/office/drawing/2014/main" id="{75A3EE8E-62D0-3164-4995-7819B4171FF2}"/>
                </a:ext>
              </a:extLst>
            </p:cNvPr>
            <p:cNvSpPr/>
            <p:nvPr/>
          </p:nvSpPr>
          <p:spPr>
            <a:xfrm>
              <a:off x="-2095195" y="3039534"/>
              <a:ext cx="84351" cy="161243"/>
            </a:xfrm>
            <a:custGeom>
              <a:avLst/>
              <a:gdLst>
                <a:gd name="connsiteX0" fmla="*/ 58952 w 106987"/>
                <a:gd name="connsiteY0" fmla="*/ 11645 h 204514"/>
                <a:gd name="connsiteX1" fmla="*/ 106988 w 106987"/>
                <a:gd name="connsiteY1" fmla="*/ 0 h 204514"/>
                <a:gd name="connsiteX2" fmla="*/ 106988 w 106987"/>
                <a:gd name="connsiteY2" fmla="*/ 26201 h 204514"/>
                <a:gd name="connsiteX3" fmla="*/ 66958 w 106987"/>
                <a:gd name="connsiteY3" fmla="*/ 34935 h 204514"/>
                <a:gd name="connsiteX4" fmla="*/ 39302 w 106987"/>
                <a:gd name="connsiteY4" fmla="*/ 58953 h 204514"/>
                <a:gd name="connsiteX5" fmla="*/ 29112 w 106987"/>
                <a:gd name="connsiteY5" fmla="*/ 93160 h 204514"/>
                <a:gd name="connsiteX6" fmla="*/ 29112 w 106987"/>
                <a:gd name="connsiteY6" fmla="*/ 204514 h 204514"/>
                <a:gd name="connsiteX7" fmla="*/ 0 w 106987"/>
                <a:gd name="connsiteY7" fmla="*/ 204514 h 204514"/>
                <a:gd name="connsiteX8" fmla="*/ 0 w 106987"/>
                <a:gd name="connsiteY8" fmla="*/ 5095 h 204514"/>
                <a:gd name="connsiteX9" fmla="*/ 29112 w 106987"/>
                <a:gd name="connsiteY9" fmla="*/ 5095 h 204514"/>
                <a:gd name="connsiteX10" fmla="*/ 29112 w 106987"/>
                <a:gd name="connsiteY10" fmla="*/ 43669 h 204514"/>
                <a:gd name="connsiteX11" fmla="*/ 58952 w 106987"/>
                <a:gd name="connsiteY11" fmla="*/ 11645 h 204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87" h="204514">
                  <a:moveTo>
                    <a:pt x="58952" y="11645"/>
                  </a:moveTo>
                  <a:cubicBezTo>
                    <a:pt x="72781" y="3639"/>
                    <a:pt x="88793" y="0"/>
                    <a:pt x="106988" y="0"/>
                  </a:cubicBezTo>
                  <a:lnTo>
                    <a:pt x="106988" y="26201"/>
                  </a:lnTo>
                  <a:cubicBezTo>
                    <a:pt x="92432" y="26201"/>
                    <a:pt x="78603" y="29112"/>
                    <a:pt x="66958" y="34935"/>
                  </a:cubicBezTo>
                  <a:cubicBezTo>
                    <a:pt x="55313" y="40757"/>
                    <a:pt x="45852" y="48763"/>
                    <a:pt x="39302" y="58953"/>
                  </a:cubicBezTo>
                  <a:cubicBezTo>
                    <a:pt x="32751" y="69142"/>
                    <a:pt x="29112" y="80787"/>
                    <a:pt x="29112" y="93160"/>
                  </a:cubicBezTo>
                  <a:lnTo>
                    <a:pt x="29112" y="204514"/>
                  </a:lnTo>
                  <a:lnTo>
                    <a:pt x="0" y="204514"/>
                  </a:lnTo>
                  <a:lnTo>
                    <a:pt x="0" y="5095"/>
                  </a:lnTo>
                  <a:lnTo>
                    <a:pt x="29112" y="5095"/>
                  </a:lnTo>
                  <a:lnTo>
                    <a:pt x="29112" y="43669"/>
                  </a:lnTo>
                  <a:cubicBezTo>
                    <a:pt x="35663" y="30568"/>
                    <a:pt x="45124" y="19651"/>
                    <a:pt x="58952" y="11645"/>
                  </a:cubicBezTo>
                  <a:close/>
                </a:path>
              </a:pathLst>
            </a:custGeom>
            <a:solidFill>
              <a:srgbClr val="717074"/>
            </a:solidFill>
            <a:ln w="7275" cap="flat">
              <a:noFill/>
              <a:prstDash val="solid"/>
              <a:miter/>
            </a:ln>
          </p:spPr>
          <p:txBody>
            <a:bodyPr lIns="120701" tIns="60350" rIns="120701" bIns="603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1" name="Freeform: Shape 240">
              <a:extLst>
                <a:ext uri="{FF2B5EF4-FFF2-40B4-BE49-F238E27FC236}">
                  <a16:creationId xmlns:a16="http://schemas.microsoft.com/office/drawing/2014/main" id="{DC556D75-B39C-B539-64D9-45CD7484C9E2}"/>
                </a:ext>
              </a:extLst>
            </p:cNvPr>
            <p:cNvSpPr/>
            <p:nvPr/>
          </p:nvSpPr>
          <p:spPr>
            <a:xfrm>
              <a:off x="-2001662" y="3039534"/>
              <a:ext cx="152062" cy="165260"/>
            </a:xfrm>
            <a:custGeom>
              <a:avLst/>
              <a:gdLst>
                <a:gd name="connsiteX0" fmla="*/ 136100 w 192869"/>
                <a:gd name="connsiteY0" fmla="*/ 176130 h 209609"/>
                <a:gd name="connsiteX1" fmla="*/ 163029 w 192869"/>
                <a:gd name="connsiteY1" fmla="*/ 159390 h 209609"/>
                <a:gd name="connsiteX2" fmla="*/ 180497 w 192869"/>
                <a:gd name="connsiteY2" fmla="*/ 178313 h 209609"/>
                <a:gd name="connsiteX3" fmla="*/ 144834 w 192869"/>
                <a:gd name="connsiteY3" fmla="*/ 200875 h 209609"/>
                <a:gd name="connsiteX4" fmla="*/ 100438 w 192869"/>
                <a:gd name="connsiteY4" fmla="*/ 209609 h 209609"/>
                <a:gd name="connsiteX5" fmla="*/ 50947 w 192869"/>
                <a:gd name="connsiteY5" fmla="*/ 195781 h 209609"/>
                <a:gd name="connsiteX6" fmla="*/ 13828 w 192869"/>
                <a:gd name="connsiteY6" fmla="*/ 157935 h 209609"/>
                <a:gd name="connsiteX7" fmla="*/ 0 w 192869"/>
                <a:gd name="connsiteY7" fmla="*/ 104077 h 209609"/>
                <a:gd name="connsiteX8" fmla="*/ 13100 w 192869"/>
                <a:gd name="connsiteY8" fmla="*/ 50947 h 209609"/>
                <a:gd name="connsiteX9" fmla="*/ 48763 w 192869"/>
                <a:gd name="connsiteY9" fmla="*/ 13828 h 209609"/>
                <a:gd name="connsiteX10" fmla="*/ 98254 w 192869"/>
                <a:gd name="connsiteY10" fmla="*/ 0 h 209609"/>
                <a:gd name="connsiteX11" fmla="*/ 168124 w 192869"/>
                <a:gd name="connsiteY11" fmla="*/ 31296 h 209609"/>
                <a:gd name="connsiteX12" fmla="*/ 192869 w 192869"/>
                <a:gd name="connsiteY12" fmla="*/ 115722 h 209609"/>
                <a:gd name="connsiteX13" fmla="*/ 29840 w 192869"/>
                <a:gd name="connsiteY13" fmla="*/ 115722 h 209609"/>
                <a:gd name="connsiteX14" fmla="*/ 52402 w 192869"/>
                <a:gd name="connsiteY14" fmla="*/ 164485 h 209609"/>
                <a:gd name="connsiteX15" fmla="*/ 101165 w 192869"/>
                <a:gd name="connsiteY15" fmla="*/ 183408 h 209609"/>
                <a:gd name="connsiteX16" fmla="*/ 136100 w 192869"/>
                <a:gd name="connsiteY16" fmla="*/ 176130 h 209609"/>
                <a:gd name="connsiteX17" fmla="*/ 53130 w 192869"/>
                <a:gd name="connsiteY17" fmla="*/ 43669 h 209609"/>
                <a:gd name="connsiteX18" fmla="*/ 29840 w 192869"/>
                <a:gd name="connsiteY18" fmla="*/ 89521 h 209609"/>
                <a:gd name="connsiteX19" fmla="*/ 163757 w 192869"/>
                <a:gd name="connsiteY19" fmla="*/ 89521 h 209609"/>
                <a:gd name="connsiteX20" fmla="*/ 144106 w 192869"/>
                <a:gd name="connsiteY20" fmla="*/ 43669 h 209609"/>
                <a:gd name="connsiteX21" fmla="*/ 98982 w 192869"/>
                <a:gd name="connsiteY21" fmla="*/ 26201 h 209609"/>
                <a:gd name="connsiteX22" fmla="*/ 53130 w 192869"/>
                <a:gd name="connsiteY22" fmla="*/ 43669 h 209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2869" h="209609">
                  <a:moveTo>
                    <a:pt x="136100" y="176130"/>
                  </a:moveTo>
                  <a:cubicBezTo>
                    <a:pt x="147745" y="171763"/>
                    <a:pt x="157207" y="165941"/>
                    <a:pt x="163029" y="159390"/>
                  </a:cubicBezTo>
                  <a:lnTo>
                    <a:pt x="180497" y="178313"/>
                  </a:lnTo>
                  <a:cubicBezTo>
                    <a:pt x="171763" y="187775"/>
                    <a:pt x="160118" y="195053"/>
                    <a:pt x="144834" y="200875"/>
                  </a:cubicBezTo>
                  <a:cubicBezTo>
                    <a:pt x="129550" y="206698"/>
                    <a:pt x="114994" y="209609"/>
                    <a:pt x="100438" y="209609"/>
                  </a:cubicBezTo>
                  <a:cubicBezTo>
                    <a:pt x="82970" y="209609"/>
                    <a:pt x="66231" y="205242"/>
                    <a:pt x="50947" y="195781"/>
                  </a:cubicBezTo>
                  <a:cubicBezTo>
                    <a:pt x="35663" y="187047"/>
                    <a:pt x="23290" y="173946"/>
                    <a:pt x="13828" y="157935"/>
                  </a:cubicBezTo>
                  <a:cubicBezTo>
                    <a:pt x="4367" y="141923"/>
                    <a:pt x="0" y="123728"/>
                    <a:pt x="0" y="104077"/>
                  </a:cubicBezTo>
                  <a:cubicBezTo>
                    <a:pt x="0" y="85154"/>
                    <a:pt x="4367" y="66958"/>
                    <a:pt x="13100" y="50947"/>
                  </a:cubicBezTo>
                  <a:cubicBezTo>
                    <a:pt x="21834" y="34935"/>
                    <a:pt x="34207" y="22562"/>
                    <a:pt x="48763" y="13828"/>
                  </a:cubicBezTo>
                  <a:cubicBezTo>
                    <a:pt x="64047" y="5095"/>
                    <a:pt x="80059" y="0"/>
                    <a:pt x="98254" y="0"/>
                  </a:cubicBezTo>
                  <a:cubicBezTo>
                    <a:pt x="128094" y="0"/>
                    <a:pt x="151384" y="10189"/>
                    <a:pt x="168124" y="31296"/>
                  </a:cubicBezTo>
                  <a:cubicBezTo>
                    <a:pt x="184863" y="52402"/>
                    <a:pt x="192869" y="80059"/>
                    <a:pt x="192869" y="115722"/>
                  </a:cubicBezTo>
                  <a:lnTo>
                    <a:pt x="29840" y="115722"/>
                  </a:lnTo>
                  <a:cubicBezTo>
                    <a:pt x="32024" y="135372"/>
                    <a:pt x="39302" y="151384"/>
                    <a:pt x="52402" y="164485"/>
                  </a:cubicBezTo>
                  <a:cubicBezTo>
                    <a:pt x="65503" y="177585"/>
                    <a:pt x="81515" y="183408"/>
                    <a:pt x="101165" y="183408"/>
                  </a:cubicBezTo>
                  <a:cubicBezTo>
                    <a:pt x="112083" y="183408"/>
                    <a:pt x="124455" y="180497"/>
                    <a:pt x="136100" y="176130"/>
                  </a:cubicBezTo>
                  <a:close/>
                  <a:moveTo>
                    <a:pt x="53130" y="43669"/>
                  </a:moveTo>
                  <a:cubicBezTo>
                    <a:pt x="40030" y="55313"/>
                    <a:pt x="32751" y="70597"/>
                    <a:pt x="29840" y="89521"/>
                  </a:cubicBezTo>
                  <a:lnTo>
                    <a:pt x="163757" y="89521"/>
                  </a:lnTo>
                  <a:cubicBezTo>
                    <a:pt x="161574" y="70597"/>
                    <a:pt x="155023" y="55313"/>
                    <a:pt x="144106" y="43669"/>
                  </a:cubicBezTo>
                  <a:cubicBezTo>
                    <a:pt x="133189" y="32024"/>
                    <a:pt x="117905" y="26201"/>
                    <a:pt x="98982" y="26201"/>
                  </a:cubicBezTo>
                  <a:cubicBezTo>
                    <a:pt x="81515" y="26201"/>
                    <a:pt x="66231" y="32024"/>
                    <a:pt x="53130" y="43669"/>
                  </a:cubicBezTo>
                  <a:close/>
                </a:path>
              </a:pathLst>
            </a:custGeom>
            <a:solidFill>
              <a:srgbClr val="717074"/>
            </a:solidFill>
            <a:ln w="7275" cap="flat">
              <a:noFill/>
              <a:prstDash val="solid"/>
              <a:miter/>
            </a:ln>
          </p:spPr>
          <p:txBody>
            <a:bodyPr lIns="120701" tIns="60350" rIns="120701" bIns="603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2" name="Freeform: Shape 241">
              <a:extLst>
                <a:ext uri="{FF2B5EF4-FFF2-40B4-BE49-F238E27FC236}">
                  <a16:creationId xmlns:a16="http://schemas.microsoft.com/office/drawing/2014/main" id="{DA09D432-79D5-D5E7-F87E-41ED1400D020}"/>
                </a:ext>
              </a:extLst>
            </p:cNvPr>
            <p:cNvSpPr/>
            <p:nvPr/>
          </p:nvSpPr>
          <p:spPr>
            <a:xfrm>
              <a:off x="-1751477" y="3043550"/>
              <a:ext cx="155505" cy="157226"/>
            </a:xfrm>
            <a:custGeom>
              <a:avLst/>
              <a:gdLst>
                <a:gd name="connsiteX0" fmla="*/ 0 w 197236"/>
                <a:gd name="connsiteY0" fmla="*/ 0 h 199419"/>
                <a:gd name="connsiteX1" fmla="*/ 32751 w 197236"/>
                <a:gd name="connsiteY1" fmla="*/ 0 h 199419"/>
                <a:gd name="connsiteX2" fmla="*/ 98982 w 197236"/>
                <a:gd name="connsiteY2" fmla="*/ 165213 h 199419"/>
                <a:gd name="connsiteX3" fmla="*/ 164485 w 197236"/>
                <a:gd name="connsiteY3" fmla="*/ 0 h 199419"/>
                <a:gd name="connsiteX4" fmla="*/ 197236 w 197236"/>
                <a:gd name="connsiteY4" fmla="*/ 0 h 199419"/>
                <a:gd name="connsiteX5" fmla="*/ 113538 w 197236"/>
                <a:gd name="connsiteY5" fmla="*/ 199420 h 199419"/>
                <a:gd name="connsiteX6" fmla="*/ 85881 w 197236"/>
                <a:gd name="connsiteY6" fmla="*/ 199420 h 199419"/>
                <a:gd name="connsiteX7" fmla="*/ 0 w 197236"/>
                <a:gd name="connsiteY7" fmla="*/ 0 h 199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236" h="199419">
                  <a:moveTo>
                    <a:pt x="0" y="0"/>
                  </a:moveTo>
                  <a:lnTo>
                    <a:pt x="32751" y="0"/>
                  </a:lnTo>
                  <a:lnTo>
                    <a:pt x="98982" y="165213"/>
                  </a:lnTo>
                  <a:lnTo>
                    <a:pt x="164485" y="0"/>
                  </a:lnTo>
                  <a:lnTo>
                    <a:pt x="197236" y="0"/>
                  </a:lnTo>
                  <a:lnTo>
                    <a:pt x="113538" y="199420"/>
                  </a:lnTo>
                  <a:lnTo>
                    <a:pt x="85881" y="199420"/>
                  </a:lnTo>
                  <a:lnTo>
                    <a:pt x="0" y="0"/>
                  </a:lnTo>
                  <a:close/>
                </a:path>
              </a:pathLst>
            </a:custGeom>
            <a:solidFill>
              <a:srgbClr val="717074"/>
            </a:solidFill>
            <a:ln w="7275" cap="flat">
              <a:noFill/>
              <a:prstDash val="solid"/>
              <a:miter/>
            </a:ln>
          </p:spPr>
          <p:txBody>
            <a:bodyPr lIns="120701" tIns="60350" rIns="120701" bIns="603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3" name="Freeform: Shape 242">
              <a:extLst>
                <a:ext uri="{FF2B5EF4-FFF2-40B4-BE49-F238E27FC236}">
                  <a16:creationId xmlns:a16="http://schemas.microsoft.com/office/drawing/2014/main" id="{35E938B8-0747-CC65-77A9-B38C3610268C}"/>
                </a:ext>
              </a:extLst>
            </p:cNvPr>
            <p:cNvSpPr/>
            <p:nvPr/>
          </p:nvSpPr>
          <p:spPr>
            <a:xfrm>
              <a:off x="-1580478" y="2988464"/>
              <a:ext cx="156079" cy="215756"/>
            </a:xfrm>
            <a:custGeom>
              <a:avLst/>
              <a:gdLst>
                <a:gd name="connsiteX0" fmla="*/ 0 w 197964"/>
                <a:gd name="connsiteY0" fmla="*/ 231443 h 273656"/>
                <a:gd name="connsiteX1" fmla="*/ 18923 w 197964"/>
                <a:gd name="connsiteY1" fmla="*/ 208153 h 273656"/>
                <a:gd name="connsiteX2" fmla="*/ 58225 w 197964"/>
                <a:gd name="connsiteY2" fmla="*/ 236538 h 273656"/>
                <a:gd name="connsiteX3" fmla="*/ 105532 w 197964"/>
                <a:gd name="connsiteY3" fmla="*/ 246727 h 273656"/>
                <a:gd name="connsiteX4" fmla="*/ 139012 w 197964"/>
                <a:gd name="connsiteY4" fmla="*/ 240177 h 273656"/>
                <a:gd name="connsiteX5" fmla="*/ 160118 w 197964"/>
                <a:gd name="connsiteY5" fmla="*/ 223437 h 273656"/>
                <a:gd name="connsiteX6" fmla="*/ 167396 w 197964"/>
                <a:gd name="connsiteY6" fmla="*/ 200148 h 273656"/>
                <a:gd name="connsiteX7" fmla="*/ 150657 w 197964"/>
                <a:gd name="connsiteY7" fmla="*/ 169580 h 273656"/>
                <a:gd name="connsiteX8" fmla="*/ 96071 w 197964"/>
                <a:gd name="connsiteY8" fmla="*/ 149929 h 273656"/>
                <a:gd name="connsiteX9" fmla="*/ 48763 w 197964"/>
                <a:gd name="connsiteY9" fmla="*/ 134645 h 273656"/>
                <a:gd name="connsiteX10" fmla="*/ 19651 w 197964"/>
                <a:gd name="connsiteY10" fmla="*/ 111355 h 273656"/>
                <a:gd name="connsiteX11" fmla="*/ 9462 w 197964"/>
                <a:gd name="connsiteY11" fmla="*/ 74964 h 273656"/>
                <a:gd name="connsiteX12" fmla="*/ 21106 w 197964"/>
                <a:gd name="connsiteY12" fmla="*/ 37118 h 273656"/>
                <a:gd name="connsiteX13" fmla="*/ 53130 w 197964"/>
                <a:gd name="connsiteY13" fmla="*/ 10189 h 273656"/>
                <a:gd name="connsiteX14" fmla="*/ 98254 w 197964"/>
                <a:gd name="connsiteY14" fmla="*/ 0 h 273656"/>
                <a:gd name="connsiteX15" fmla="*/ 149201 w 197964"/>
                <a:gd name="connsiteY15" fmla="*/ 10189 h 273656"/>
                <a:gd name="connsiteX16" fmla="*/ 191414 w 197964"/>
                <a:gd name="connsiteY16" fmla="*/ 37846 h 273656"/>
                <a:gd name="connsiteX17" fmla="*/ 173219 w 197964"/>
                <a:gd name="connsiteY17" fmla="*/ 61136 h 273656"/>
                <a:gd name="connsiteX18" fmla="*/ 136828 w 197964"/>
                <a:gd name="connsiteY18" fmla="*/ 36390 h 273656"/>
                <a:gd name="connsiteX19" fmla="*/ 96799 w 197964"/>
                <a:gd name="connsiteY19" fmla="*/ 27657 h 273656"/>
                <a:gd name="connsiteX20" fmla="*/ 67686 w 197964"/>
                <a:gd name="connsiteY20" fmla="*/ 33479 h 273656"/>
                <a:gd name="connsiteX21" fmla="*/ 47308 w 197964"/>
                <a:gd name="connsiteY21" fmla="*/ 50219 h 273656"/>
                <a:gd name="connsiteX22" fmla="*/ 40030 w 197964"/>
                <a:gd name="connsiteY22" fmla="*/ 72781 h 273656"/>
                <a:gd name="connsiteX23" fmla="*/ 56769 w 197964"/>
                <a:gd name="connsiteY23" fmla="*/ 101165 h 273656"/>
                <a:gd name="connsiteX24" fmla="*/ 111355 w 197964"/>
                <a:gd name="connsiteY24" fmla="*/ 120089 h 273656"/>
                <a:gd name="connsiteX25" fmla="*/ 176130 w 197964"/>
                <a:gd name="connsiteY25" fmla="*/ 147017 h 273656"/>
                <a:gd name="connsiteX26" fmla="*/ 197964 w 197964"/>
                <a:gd name="connsiteY26" fmla="*/ 196508 h 273656"/>
                <a:gd name="connsiteX27" fmla="*/ 187047 w 197964"/>
                <a:gd name="connsiteY27" fmla="*/ 235810 h 273656"/>
                <a:gd name="connsiteX28" fmla="*/ 155023 w 197964"/>
                <a:gd name="connsiteY28" fmla="*/ 263467 h 273656"/>
                <a:gd name="connsiteX29" fmla="*/ 104077 w 197964"/>
                <a:gd name="connsiteY29" fmla="*/ 273656 h 273656"/>
                <a:gd name="connsiteX30" fmla="*/ 0 w 197964"/>
                <a:gd name="connsiteY30" fmla="*/ 231443 h 273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7964" h="273656">
                  <a:moveTo>
                    <a:pt x="0" y="231443"/>
                  </a:moveTo>
                  <a:lnTo>
                    <a:pt x="18923" y="208153"/>
                  </a:lnTo>
                  <a:cubicBezTo>
                    <a:pt x="31296" y="220526"/>
                    <a:pt x="44396" y="229988"/>
                    <a:pt x="58225" y="236538"/>
                  </a:cubicBezTo>
                  <a:cubicBezTo>
                    <a:pt x="72053" y="243088"/>
                    <a:pt x="88065" y="246727"/>
                    <a:pt x="105532" y="246727"/>
                  </a:cubicBezTo>
                  <a:cubicBezTo>
                    <a:pt x="118633" y="246727"/>
                    <a:pt x="129550" y="244544"/>
                    <a:pt x="139012" y="240177"/>
                  </a:cubicBezTo>
                  <a:cubicBezTo>
                    <a:pt x="148473" y="235810"/>
                    <a:pt x="155023" y="229988"/>
                    <a:pt x="160118" y="223437"/>
                  </a:cubicBezTo>
                  <a:cubicBezTo>
                    <a:pt x="165213" y="216159"/>
                    <a:pt x="167396" y="208881"/>
                    <a:pt x="167396" y="200148"/>
                  </a:cubicBezTo>
                  <a:cubicBezTo>
                    <a:pt x="167396" y="187047"/>
                    <a:pt x="161574" y="176858"/>
                    <a:pt x="150657" y="169580"/>
                  </a:cubicBezTo>
                  <a:cubicBezTo>
                    <a:pt x="139739" y="162301"/>
                    <a:pt x="121544" y="155751"/>
                    <a:pt x="96071" y="149929"/>
                  </a:cubicBezTo>
                  <a:cubicBezTo>
                    <a:pt x="76420" y="145562"/>
                    <a:pt x="61136" y="140467"/>
                    <a:pt x="48763" y="134645"/>
                  </a:cubicBezTo>
                  <a:cubicBezTo>
                    <a:pt x="36390" y="128822"/>
                    <a:pt x="26929" y="121544"/>
                    <a:pt x="19651" y="111355"/>
                  </a:cubicBezTo>
                  <a:cubicBezTo>
                    <a:pt x="13101" y="101893"/>
                    <a:pt x="9462" y="89521"/>
                    <a:pt x="9462" y="74964"/>
                  </a:cubicBezTo>
                  <a:cubicBezTo>
                    <a:pt x="9462" y="61136"/>
                    <a:pt x="13101" y="48035"/>
                    <a:pt x="21106" y="37118"/>
                  </a:cubicBezTo>
                  <a:cubicBezTo>
                    <a:pt x="29112" y="26201"/>
                    <a:pt x="39302" y="16740"/>
                    <a:pt x="53130" y="10189"/>
                  </a:cubicBezTo>
                  <a:cubicBezTo>
                    <a:pt x="66959" y="3639"/>
                    <a:pt x="81515" y="0"/>
                    <a:pt x="98254" y="0"/>
                  </a:cubicBezTo>
                  <a:cubicBezTo>
                    <a:pt x="117177" y="0"/>
                    <a:pt x="133917" y="3639"/>
                    <a:pt x="149201" y="10189"/>
                  </a:cubicBezTo>
                  <a:cubicBezTo>
                    <a:pt x="164485" y="16740"/>
                    <a:pt x="178313" y="26201"/>
                    <a:pt x="191414" y="37846"/>
                  </a:cubicBezTo>
                  <a:lnTo>
                    <a:pt x="173219" y="61136"/>
                  </a:lnTo>
                  <a:cubicBezTo>
                    <a:pt x="161574" y="50219"/>
                    <a:pt x="149929" y="42213"/>
                    <a:pt x="136828" y="36390"/>
                  </a:cubicBezTo>
                  <a:cubicBezTo>
                    <a:pt x="123728" y="30568"/>
                    <a:pt x="110627" y="27657"/>
                    <a:pt x="96799" y="27657"/>
                  </a:cubicBezTo>
                  <a:cubicBezTo>
                    <a:pt x="86609" y="27657"/>
                    <a:pt x="76420" y="29840"/>
                    <a:pt x="67686" y="33479"/>
                  </a:cubicBezTo>
                  <a:cubicBezTo>
                    <a:pt x="58953" y="37846"/>
                    <a:pt x="52402" y="42941"/>
                    <a:pt x="47308" y="50219"/>
                  </a:cubicBezTo>
                  <a:cubicBezTo>
                    <a:pt x="42213" y="57497"/>
                    <a:pt x="40030" y="64775"/>
                    <a:pt x="40030" y="72781"/>
                  </a:cubicBezTo>
                  <a:cubicBezTo>
                    <a:pt x="40030" y="85154"/>
                    <a:pt x="45852" y="94615"/>
                    <a:pt x="56769" y="101165"/>
                  </a:cubicBezTo>
                  <a:cubicBezTo>
                    <a:pt x="67686" y="107716"/>
                    <a:pt x="85882" y="114266"/>
                    <a:pt x="111355" y="120089"/>
                  </a:cubicBezTo>
                  <a:cubicBezTo>
                    <a:pt x="139739" y="126639"/>
                    <a:pt x="160846" y="136100"/>
                    <a:pt x="176130" y="147017"/>
                  </a:cubicBezTo>
                  <a:cubicBezTo>
                    <a:pt x="190686" y="158662"/>
                    <a:pt x="197964" y="174674"/>
                    <a:pt x="197964" y="196508"/>
                  </a:cubicBezTo>
                  <a:cubicBezTo>
                    <a:pt x="197964" y="211065"/>
                    <a:pt x="194325" y="224165"/>
                    <a:pt x="187047" y="235810"/>
                  </a:cubicBezTo>
                  <a:cubicBezTo>
                    <a:pt x="179769" y="247455"/>
                    <a:pt x="169580" y="256189"/>
                    <a:pt x="155023" y="263467"/>
                  </a:cubicBezTo>
                  <a:cubicBezTo>
                    <a:pt x="141195" y="270017"/>
                    <a:pt x="123728" y="273656"/>
                    <a:pt x="104077" y="273656"/>
                  </a:cubicBezTo>
                  <a:cubicBezTo>
                    <a:pt x="63319" y="273656"/>
                    <a:pt x="28385" y="259100"/>
                    <a:pt x="0" y="231443"/>
                  </a:cubicBezTo>
                  <a:close/>
                </a:path>
              </a:pathLst>
            </a:custGeom>
            <a:solidFill>
              <a:srgbClr val="717074"/>
            </a:solidFill>
            <a:ln w="7275" cap="flat">
              <a:noFill/>
              <a:prstDash val="solid"/>
              <a:miter/>
            </a:ln>
          </p:spPr>
          <p:txBody>
            <a:bodyPr lIns="120701" tIns="60350" rIns="120701" bIns="603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4" name="Freeform: Shape 243">
              <a:extLst>
                <a:ext uri="{FF2B5EF4-FFF2-40B4-BE49-F238E27FC236}">
                  <a16:creationId xmlns:a16="http://schemas.microsoft.com/office/drawing/2014/main" id="{8BF71725-8609-1357-810A-74B7CFD256D6}"/>
                </a:ext>
              </a:extLst>
            </p:cNvPr>
            <p:cNvSpPr/>
            <p:nvPr/>
          </p:nvSpPr>
          <p:spPr>
            <a:xfrm>
              <a:off x="-1387101" y="3039534"/>
              <a:ext cx="152062" cy="213460"/>
            </a:xfrm>
            <a:custGeom>
              <a:avLst/>
              <a:gdLst>
                <a:gd name="connsiteX0" fmla="*/ 148473 w 192869"/>
                <a:gd name="connsiteY0" fmla="*/ 13828 h 270744"/>
                <a:gd name="connsiteX1" fmla="*/ 181224 w 192869"/>
                <a:gd name="connsiteY1" fmla="*/ 50947 h 270744"/>
                <a:gd name="connsiteX2" fmla="*/ 192869 w 192869"/>
                <a:gd name="connsiteY2" fmla="*/ 104805 h 270744"/>
                <a:gd name="connsiteX3" fmla="*/ 181224 w 192869"/>
                <a:gd name="connsiteY3" fmla="*/ 158662 h 270744"/>
                <a:gd name="connsiteX4" fmla="*/ 148473 w 192869"/>
                <a:gd name="connsiteY4" fmla="*/ 195781 h 270744"/>
                <a:gd name="connsiteX5" fmla="*/ 101893 w 192869"/>
                <a:gd name="connsiteY5" fmla="*/ 208881 h 270744"/>
                <a:gd name="connsiteX6" fmla="*/ 59680 w 192869"/>
                <a:gd name="connsiteY6" fmla="*/ 197964 h 270744"/>
                <a:gd name="connsiteX7" fmla="*/ 29112 w 192869"/>
                <a:gd name="connsiteY7" fmla="*/ 166668 h 270744"/>
                <a:gd name="connsiteX8" fmla="*/ 29112 w 192869"/>
                <a:gd name="connsiteY8" fmla="*/ 270745 h 270744"/>
                <a:gd name="connsiteX9" fmla="*/ 0 w 192869"/>
                <a:gd name="connsiteY9" fmla="*/ 270745 h 270744"/>
                <a:gd name="connsiteX10" fmla="*/ 0 w 192869"/>
                <a:gd name="connsiteY10" fmla="*/ 5095 h 270744"/>
                <a:gd name="connsiteX11" fmla="*/ 29112 w 192869"/>
                <a:gd name="connsiteY11" fmla="*/ 5095 h 270744"/>
                <a:gd name="connsiteX12" fmla="*/ 29112 w 192869"/>
                <a:gd name="connsiteY12" fmla="*/ 42213 h 270744"/>
                <a:gd name="connsiteX13" fmla="*/ 59680 w 192869"/>
                <a:gd name="connsiteY13" fmla="*/ 10917 h 270744"/>
                <a:gd name="connsiteX14" fmla="*/ 101893 w 192869"/>
                <a:gd name="connsiteY14" fmla="*/ 0 h 270744"/>
                <a:gd name="connsiteX15" fmla="*/ 148473 w 192869"/>
                <a:gd name="connsiteY15" fmla="*/ 13828 h 270744"/>
                <a:gd name="connsiteX16" fmla="*/ 130278 w 192869"/>
                <a:gd name="connsiteY16" fmla="*/ 173219 h 270744"/>
                <a:gd name="connsiteX17" fmla="*/ 154295 w 192869"/>
                <a:gd name="connsiteY17" fmla="*/ 145562 h 270744"/>
                <a:gd name="connsiteX18" fmla="*/ 163029 w 192869"/>
                <a:gd name="connsiteY18" fmla="*/ 104805 h 270744"/>
                <a:gd name="connsiteX19" fmla="*/ 154295 w 192869"/>
                <a:gd name="connsiteY19" fmla="*/ 64047 h 270744"/>
                <a:gd name="connsiteX20" fmla="*/ 130278 w 192869"/>
                <a:gd name="connsiteY20" fmla="*/ 36390 h 270744"/>
                <a:gd name="connsiteX21" fmla="*/ 96071 w 192869"/>
                <a:gd name="connsiteY21" fmla="*/ 26201 h 270744"/>
                <a:gd name="connsiteX22" fmla="*/ 61136 w 192869"/>
                <a:gd name="connsiteY22" fmla="*/ 36390 h 270744"/>
                <a:gd name="connsiteX23" fmla="*/ 37118 w 192869"/>
                <a:gd name="connsiteY23" fmla="*/ 64047 h 270744"/>
                <a:gd name="connsiteX24" fmla="*/ 28385 w 192869"/>
                <a:gd name="connsiteY24" fmla="*/ 104805 h 270744"/>
                <a:gd name="connsiteX25" fmla="*/ 37118 w 192869"/>
                <a:gd name="connsiteY25" fmla="*/ 145562 h 270744"/>
                <a:gd name="connsiteX26" fmla="*/ 61136 w 192869"/>
                <a:gd name="connsiteY26" fmla="*/ 173219 h 270744"/>
                <a:gd name="connsiteX27" fmla="*/ 96071 w 192869"/>
                <a:gd name="connsiteY27" fmla="*/ 183408 h 270744"/>
                <a:gd name="connsiteX28" fmla="*/ 130278 w 192869"/>
                <a:gd name="connsiteY28" fmla="*/ 173219 h 270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2869" h="270744">
                  <a:moveTo>
                    <a:pt x="148473" y="13828"/>
                  </a:moveTo>
                  <a:cubicBezTo>
                    <a:pt x="162301" y="22562"/>
                    <a:pt x="173218" y="34935"/>
                    <a:pt x="181224" y="50947"/>
                  </a:cubicBezTo>
                  <a:cubicBezTo>
                    <a:pt x="189230" y="66958"/>
                    <a:pt x="192869" y="84426"/>
                    <a:pt x="192869" y="104805"/>
                  </a:cubicBezTo>
                  <a:cubicBezTo>
                    <a:pt x="192869" y="125183"/>
                    <a:pt x="189230" y="142651"/>
                    <a:pt x="181224" y="158662"/>
                  </a:cubicBezTo>
                  <a:cubicBezTo>
                    <a:pt x="173218" y="174674"/>
                    <a:pt x="162301" y="187047"/>
                    <a:pt x="148473" y="195781"/>
                  </a:cubicBezTo>
                  <a:cubicBezTo>
                    <a:pt x="134645" y="204514"/>
                    <a:pt x="118633" y="208881"/>
                    <a:pt x="101893" y="208881"/>
                  </a:cubicBezTo>
                  <a:cubicBezTo>
                    <a:pt x="85881" y="208881"/>
                    <a:pt x="72053" y="205242"/>
                    <a:pt x="59680" y="197964"/>
                  </a:cubicBezTo>
                  <a:cubicBezTo>
                    <a:pt x="47308" y="190686"/>
                    <a:pt x="37118" y="180497"/>
                    <a:pt x="29112" y="166668"/>
                  </a:cubicBezTo>
                  <a:lnTo>
                    <a:pt x="29112" y="270745"/>
                  </a:lnTo>
                  <a:lnTo>
                    <a:pt x="0" y="270745"/>
                  </a:lnTo>
                  <a:lnTo>
                    <a:pt x="0" y="5095"/>
                  </a:lnTo>
                  <a:lnTo>
                    <a:pt x="29112" y="5095"/>
                  </a:lnTo>
                  <a:lnTo>
                    <a:pt x="29112" y="42213"/>
                  </a:lnTo>
                  <a:cubicBezTo>
                    <a:pt x="37118" y="29112"/>
                    <a:pt x="46580" y="18195"/>
                    <a:pt x="59680" y="10917"/>
                  </a:cubicBezTo>
                  <a:cubicBezTo>
                    <a:pt x="72781" y="3639"/>
                    <a:pt x="85881" y="0"/>
                    <a:pt x="101893" y="0"/>
                  </a:cubicBezTo>
                  <a:cubicBezTo>
                    <a:pt x="118633" y="0"/>
                    <a:pt x="134645" y="4367"/>
                    <a:pt x="148473" y="13828"/>
                  </a:cubicBezTo>
                  <a:close/>
                  <a:moveTo>
                    <a:pt x="130278" y="173219"/>
                  </a:moveTo>
                  <a:cubicBezTo>
                    <a:pt x="140467" y="166668"/>
                    <a:pt x="148473" y="157207"/>
                    <a:pt x="154295" y="145562"/>
                  </a:cubicBezTo>
                  <a:cubicBezTo>
                    <a:pt x="160118" y="133917"/>
                    <a:pt x="163029" y="120089"/>
                    <a:pt x="163029" y="104805"/>
                  </a:cubicBezTo>
                  <a:cubicBezTo>
                    <a:pt x="163029" y="89521"/>
                    <a:pt x="160118" y="76420"/>
                    <a:pt x="154295" y="64047"/>
                  </a:cubicBezTo>
                  <a:cubicBezTo>
                    <a:pt x="148473" y="52402"/>
                    <a:pt x="140467" y="42941"/>
                    <a:pt x="130278" y="36390"/>
                  </a:cubicBezTo>
                  <a:cubicBezTo>
                    <a:pt x="120088" y="29840"/>
                    <a:pt x="108444" y="26201"/>
                    <a:pt x="96071" y="26201"/>
                  </a:cubicBezTo>
                  <a:cubicBezTo>
                    <a:pt x="83698" y="26201"/>
                    <a:pt x="71325" y="29840"/>
                    <a:pt x="61136" y="36390"/>
                  </a:cubicBezTo>
                  <a:cubicBezTo>
                    <a:pt x="50947" y="42941"/>
                    <a:pt x="42941" y="52402"/>
                    <a:pt x="37118" y="64047"/>
                  </a:cubicBezTo>
                  <a:cubicBezTo>
                    <a:pt x="31296" y="75692"/>
                    <a:pt x="28385" y="89521"/>
                    <a:pt x="28385" y="104805"/>
                  </a:cubicBezTo>
                  <a:cubicBezTo>
                    <a:pt x="28385" y="120089"/>
                    <a:pt x="31296" y="133189"/>
                    <a:pt x="37118" y="145562"/>
                  </a:cubicBezTo>
                  <a:cubicBezTo>
                    <a:pt x="42941" y="157207"/>
                    <a:pt x="50947" y="166668"/>
                    <a:pt x="61136" y="173219"/>
                  </a:cubicBezTo>
                  <a:cubicBezTo>
                    <a:pt x="71325" y="179769"/>
                    <a:pt x="82970" y="183408"/>
                    <a:pt x="96071" y="183408"/>
                  </a:cubicBezTo>
                  <a:cubicBezTo>
                    <a:pt x="109171" y="183408"/>
                    <a:pt x="120088" y="179769"/>
                    <a:pt x="130278" y="173219"/>
                  </a:cubicBezTo>
                  <a:close/>
                </a:path>
              </a:pathLst>
            </a:custGeom>
            <a:solidFill>
              <a:srgbClr val="717074"/>
            </a:solidFill>
            <a:ln w="7275" cap="flat">
              <a:noFill/>
              <a:prstDash val="solid"/>
              <a:miter/>
            </a:ln>
          </p:spPr>
          <p:txBody>
            <a:bodyPr lIns="120701" tIns="60350" rIns="120701" bIns="603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5" name="Freeform: Shape 244">
              <a:extLst>
                <a:ext uri="{FF2B5EF4-FFF2-40B4-BE49-F238E27FC236}">
                  <a16:creationId xmlns:a16="http://schemas.microsoft.com/office/drawing/2014/main" id="{A77B2BA3-B948-D46D-1ACC-021D1609A3C1}"/>
                </a:ext>
              </a:extLst>
            </p:cNvPr>
            <p:cNvSpPr/>
            <p:nvPr/>
          </p:nvSpPr>
          <p:spPr>
            <a:xfrm>
              <a:off x="-1200035" y="2987890"/>
              <a:ext cx="133126" cy="212313"/>
            </a:xfrm>
            <a:custGeom>
              <a:avLst/>
              <a:gdLst>
                <a:gd name="connsiteX0" fmla="*/ 133189 w 168851"/>
                <a:gd name="connsiteY0" fmla="*/ 75692 h 269289"/>
                <a:gd name="connsiteX1" fmla="*/ 159390 w 168851"/>
                <a:gd name="connsiteY1" fmla="*/ 102621 h 269289"/>
                <a:gd name="connsiteX2" fmla="*/ 168852 w 168851"/>
                <a:gd name="connsiteY2" fmla="*/ 142651 h 269289"/>
                <a:gd name="connsiteX3" fmla="*/ 168852 w 168851"/>
                <a:gd name="connsiteY3" fmla="*/ 269289 h 269289"/>
                <a:gd name="connsiteX4" fmla="*/ 139739 w 168851"/>
                <a:gd name="connsiteY4" fmla="*/ 269289 h 269289"/>
                <a:gd name="connsiteX5" fmla="*/ 139739 w 168851"/>
                <a:gd name="connsiteY5" fmla="*/ 146290 h 269289"/>
                <a:gd name="connsiteX6" fmla="*/ 125911 w 168851"/>
                <a:gd name="connsiteY6" fmla="*/ 106260 h 269289"/>
                <a:gd name="connsiteX7" fmla="*/ 90248 w 168851"/>
                <a:gd name="connsiteY7" fmla="*/ 90976 h 269289"/>
                <a:gd name="connsiteX8" fmla="*/ 59680 w 168851"/>
                <a:gd name="connsiteY8" fmla="*/ 98254 h 269289"/>
                <a:gd name="connsiteX9" fmla="*/ 37118 w 168851"/>
                <a:gd name="connsiteY9" fmla="*/ 117177 h 269289"/>
                <a:gd name="connsiteX10" fmla="*/ 29112 w 168851"/>
                <a:gd name="connsiteY10" fmla="*/ 142651 h 269289"/>
                <a:gd name="connsiteX11" fmla="*/ 29112 w 168851"/>
                <a:gd name="connsiteY11" fmla="*/ 269289 h 269289"/>
                <a:gd name="connsiteX12" fmla="*/ 0 w 168851"/>
                <a:gd name="connsiteY12" fmla="*/ 269289 h 269289"/>
                <a:gd name="connsiteX13" fmla="*/ 0 w 168851"/>
                <a:gd name="connsiteY13" fmla="*/ 0 h 269289"/>
                <a:gd name="connsiteX14" fmla="*/ 29112 w 168851"/>
                <a:gd name="connsiteY14" fmla="*/ 0 h 269289"/>
                <a:gd name="connsiteX15" fmla="*/ 29112 w 168851"/>
                <a:gd name="connsiteY15" fmla="*/ 101893 h 269289"/>
                <a:gd name="connsiteX16" fmla="*/ 56041 w 168851"/>
                <a:gd name="connsiteY16" fmla="*/ 75692 h 269289"/>
                <a:gd name="connsiteX17" fmla="*/ 95343 w 168851"/>
                <a:gd name="connsiteY17" fmla="*/ 65503 h 269289"/>
                <a:gd name="connsiteX18" fmla="*/ 133189 w 168851"/>
                <a:gd name="connsiteY18" fmla="*/ 75692 h 26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8851" h="269289">
                  <a:moveTo>
                    <a:pt x="133189" y="75692"/>
                  </a:moveTo>
                  <a:cubicBezTo>
                    <a:pt x="144834" y="82242"/>
                    <a:pt x="153568" y="90976"/>
                    <a:pt x="159390" y="102621"/>
                  </a:cubicBezTo>
                  <a:cubicBezTo>
                    <a:pt x="165940" y="114266"/>
                    <a:pt x="168852" y="128094"/>
                    <a:pt x="168852" y="142651"/>
                  </a:cubicBezTo>
                  <a:lnTo>
                    <a:pt x="168852" y="269289"/>
                  </a:lnTo>
                  <a:lnTo>
                    <a:pt x="139739" y="269289"/>
                  </a:lnTo>
                  <a:lnTo>
                    <a:pt x="139739" y="146290"/>
                  </a:lnTo>
                  <a:cubicBezTo>
                    <a:pt x="139739" y="129550"/>
                    <a:pt x="135372" y="116449"/>
                    <a:pt x="125911" y="106260"/>
                  </a:cubicBezTo>
                  <a:cubicBezTo>
                    <a:pt x="116449" y="96071"/>
                    <a:pt x="104804" y="90976"/>
                    <a:pt x="90248" y="90976"/>
                  </a:cubicBezTo>
                  <a:cubicBezTo>
                    <a:pt x="79331" y="90976"/>
                    <a:pt x="69142" y="93160"/>
                    <a:pt x="59680" y="98254"/>
                  </a:cubicBezTo>
                  <a:cubicBezTo>
                    <a:pt x="50219" y="102621"/>
                    <a:pt x="42941" y="109171"/>
                    <a:pt x="37118" y="117177"/>
                  </a:cubicBezTo>
                  <a:cubicBezTo>
                    <a:pt x="31296" y="125183"/>
                    <a:pt x="29112" y="133917"/>
                    <a:pt x="29112" y="142651"/>
                  </a:cubicBezTo>
                  <a:lnTo>
                    <a:pt x="29112" y="269289"/>
                  </a:lnTo>
                  <a:lnTo>
                    <a:pt x="0" y="269289"/>
                  </a:lnTo>
                  <a:lnTo>
                    <a:pt x="0" y="0"/>
                  </a:lnTo>
                  <a:lnTo>
                    <a:pt x="29112" y="0"/>
                  </a:lnTo>
                  <a:lnTo>
                    <a:pt x="29112" y="101893"/>
                  </a:lnTo>
                  <a:cubicBezTo>
                    <a:pt x="34935" y="90976"/>
                    <a:pt x="43669" y="82242"/>
                    <a:pt x="56041" y="75692"/>
                  </a:cubicBezTo>
                  <a:cubicBezTo>
                    <a:pt x="67686" y="69142"/>
                    <a:pt x="80787" y="65503"/>
                    <a:pt x="95343" y="65503"/>
                  </a:cubicBezTo>
                  <a:cubicBezTo>
                    <a:pt x="109171" y="65503"/>
                    <a:pt x="122272" y="69142"/>
                    <a:pt x="133189" y="75692"/>
                  </a:cubicBezTo>
                  <a:close/>
                </a:path>
              </a:pathLst>
            </a:custGeom>
            <a:solidFill>
              <a:srgbClr val="717074"/>
            </a:solidFill>
            <a:ln w="7275" cap="flat">
              <a:noFill/>
              <a:prstDash val="solid"/>
              <a:miter/>
            </a:ln>
          </p:spPr>
          <p:txBody>
            <a:bodyPr lIns="120701" tIns="60350" rIns="120701" bIns="603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6" name="Freeform: Shape 245">
              <a:extLst>
                <a:ext uri="{FF2B5EF4-FFF2-40B4-BE49-F238E27FC236}">
                  <a16:creationId xmlns:a16="http://schemas.microsoft.com/office/drawing/2014/main" id="{2D1862C2-A8C5-0053-71F0-BEB7D8908A35}"/>
                </a:ext>
              </a:extLst>
            </p:cNvPr>
            <p:cNvSpPr/>
            <p:nvPr/>
          </p:nvSpPr>
          <p:spPr>
            <a:xfrm>
              <a:off x="-1034776" y="3039534"/>
              <a:ext cx="152062" cy="165260"/>
            </a:xfrm>
            <a:custGeom>
              <a:avLst/>
              <a:gdLst>
                <a:gd name="connsiteX0" fmla="*/ 136100 w 192869"/>
                <a:gd name="connsiteY0" fmla="*/ 176130 h 209609"/>
                <a:gd name="connsiteX1" fmla="*/ 163029 w 192869"/>
                <a:gd name="connsiteY1" fmla="*/ 159390 h 209609"/>
                <a:gd name="connsiteX2" fmla="*/ 180497 w 192869"/>
                <a:gd name="connsiteY2" fmla="*/ 178313 h 209609"/>
                <a:gd name="connsiteX3" fmla="*/ 144834 w 192869"/>
                <a:gd name="connsiteY3" fmla="*/ 200875 h 209609"/>
                <a:gd name="connsiteX4" fmla="*/ 100438 w 192869"/>
                <a:gd name="connsiteY4" fmla="*/ 209609 h 209609"/>
                <a:gd name="connsiteX5" fmla="*/ 50947 w 192869"/>
                <a:gd name="connsiteY5" fmla="*/ 195781 h 209609"/>
                <a:gd name="connsiteX6" fmla="*/ 13828 w 192869"/>
                <a:gd name="connsiteY6" fmla="*/ 157935 h 209609"/>
                <a:gd name="connsiteX7" fmla="*/ 0 w 192869"/>
                <a:gd name="connsiteY7" fmla="*/ 104077 h 209609"/>
                <a:gd name="connsiteX8" fmla="*/ 13100 w 192869"/>
                <a:gd name="connsiteY8" fmla="*/ 50947 h 209609"/>
                <a:gd name="connsiteX9" fmla="*/ 48763 w 192869"/>
                <a:gd name="connsiteY9" fmla="*/ 13828 h 209609"/>
                <a:gd name="connsiteX10" fmla="*/ 98254 w 192869"/>
                <a:gd name="connsiteY10" fmla="*/ 0 h 209609"/>
                <a:gd name="connsiteX11" fmla="*/ 168124 w 192869"/>
                <a:gd name="connsiteY11" fmla="*/ 31296 h 209609"/>
                <a:gd name="connsiteX12" fmla="*/ 192869 w 192869"/>
                <a:gd name="connsiteY12" fmla="*/ 115722 h 209609"/>
                <a:gd name="connsiteX13" fmla="*/ 29840 w 192869"/>
                <a:gd name="connsiteY13" fmla="*/ 115722 h 209609"/>
                <a:gd name="connsiteX14" fmla="*/ 52402 w 192869"/>
                <a:gd name="connsiteY14" fmla="*/ 164485 h 209609"/>
                <a:gd name="connsiteX15" fmla="*/ 101166 w 192869"/>
                <a:gd name="connsiteY15" fmla="*/ 183408 h 209609"/>
                <a:gd name="connsiteX16" fmla="*/ 136100 w 192869"/>
                <a:gd name="connsiteY16" fmla="*/ 176130 h 209609"/>
                <a:gd name="connsiteX17" fmla="*/ 52402 w 192869"/>
                <a:gd name="connsiteY17" fmla="*/ 43669 h 209609"/>
                <a:gd name="connsiteX18" fmla="*/ 29112 w 192869"/>
                <a:gd name="connsiteY18" fmla="*/ 89521 h 209609"/>
                <a:gd name="connsiteX19" fmla="*/ 163757 w 192869"/>
                <a:gd name="connsiteY19" fmla="*/ 89521 h 209609"/>
                <a:gd name="connsiteX20" fmla="*/ 144106 w 192869"/>
                <a:gd name="connsiteY20" fmla="*/ 43669 h 209609"/>
                <a:gd name="connsiteX21" fmla="*/ 98982 w 192869"/>
                <a:gd name="connsiteY21" fmla="*/ 26201 h 209609"/>
                <a:gd name="connsiteX22" fmla="*/ 52402 w 192869"/>
                <a:gd name="connsiteY22" fmla="*/ 43669 h 209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2869" h="209609">
                  <a:moveTo>
                    <a:pt x="136100" y="176130"/>
                  </a:moveTo>
                  <a:cubicBezTo>
                    <a:pt x="147745" y="171763"/>
                    <a:pt x="157207" y="165941"/>
                    <a:pt x="163029" y="159390"/>
                  </a:cubicBezTo>
                  <a:lnTo>
                    <a:pt x="180497" y="178313"/>
                  </a:lnTo>
                  <a:cubicBezTo>
                    <a:pt x="171763" y="187775"/>
                    <a:pt x="160118" y="195053"/>
                    <a:pt x="144834" y="200875"/>
                  </a:cubicBezTo>
                  <a:cubicBezTo>
                    <a:pt x="129550" y="206698"/>
                    <a:pt x="114994" y="209609"/>
                    <a:pt x="100438" y="209609"/>
                  </a:cubicBezTo>
                  <a:cubicBezTo>
                    <a:pt x="82970" y="209609"/>
                    <a:pt x="66230" y="205242"/>
                    <a:pt x="50947" y="195781"/>
                  </a:cubicBezTo>
                  <a:cubicBezTo>
                    <a:pt x="35663" y="187047"/>
                    <a:pt x="23290" y="173946"/>
                    <a:pt x="13828" y="157935"/>
                  </a:cubicBezTo>
                  <a:cubicBezTo>
                    <a:pt x="4367" y="141923"/>
                    <a:pt x="0" y="123728"/>
                    <a:pt x="0" y="104077"/>
                  </a:cubicBezTo>
                  <a:cubicBezTo>
                    <a:pt x="0" y="85154"/>
                    <a:pt x="4367" y="66958"/>
                    <a:pt x="13100" y="50947"/>
                  </a:cubicBezTo>
                  <a:cubicBezTo>
                    <a:pt x="21834" y="34935"/>
                    <a:pt x="34207" y="22562"/>
                    <a:pt x="48763" y="13828"/>
                  </a:cubicBezTo>
                  <a:cubicBezTo>
                    <a:pt x="64047" y="5095"/>
                    <a:pt x="80059" y="0"/>
                    <a:pt x="98254" y="0"/>
                  </a:cubicBezTo>
                  <a:cubicBezTo>
                    <a:pt x="128094" y="0"/>
                    <a:pt x="151384" y="10189"/>
                    <a:pt x="168124" y="31296"/>
                  </a:cubicBezTo>
                  <a:cubicBezTo>
                    <a:pt x="184864" y="52402"/>
                    <a:pt x="192869" y="80059"/>
                    <a:pt x="192869" y="115722"/>
                  </a:cubicBezTo>
                  <a:lnTo>
                    <a:pt x="29840" y="115722"/>
                  </a:lnTo>
                  <a:cubicBezTo>
                    <a:pt x="32024" y="135372"/>
                    <a:pt x="39302" y="151384"/>
                    <a:pt x="52402" y="164485"/>
                  </a:cubicBezTo>
                  <a:cubicBezTo>
                    <a:pt x="65503" y="177585"/>
                    <a:pt x="81515" y="183408"/>
                    <a:pt x="101166" y="183408"/>
                  </a:cubicBezTo>
                  <a:cubicBezTo>
                    <a:pt x="112083" y="183408"/>
                    <a:pt x="123728" y="180497"/>
                    <a:pt x="136100" y="176130"/>
                  </a:cubicBezTo>
                  <a:close/>
                  <a:moveTo>
                    <a:pt x="52402" y="43669"/>
                  </a:moveTo>
                  <a:cubicBezTo>
                    <a:pt x="39302" y="55313"/>
                    <a:pt x="32024" y="70597"/>
                    <a:pt x="29112" y="89521"/>
                  </a:cubicBezTo>
                  <a:lnTo>
                    <a:pt x="163757" y="89521"/>
                  </a:lnTo>
                  <a:cubicBezTo>
                    <a:pt x="161574" y="70597"/>
                    <a:pt x="155023" y="55313"/>
                    <a:pt x="144106" y="43669"/>
                  </a:cubicBezTo>
                  <a:cubicBezTo>
                    <a:pt x="133189" y="32024"/>
                    <a:pt x="117905" y="26201"/>
                    <a:pt x="98982" y="26201"/>
                  </a:cubicBezTo>
                  <a:cubicBezTo>
                    <a:pt x="80787" y="26201"/>
                    <a:pt x="65503" y="32024"/>
                    <a:pt x="52402" y="43669"/>
                  </a:cubicBezTo>
                  <a:close/>
                </a:path>
              </a:pathLst>
            </a:custGeom>
            <a:solidFill>
              <a:srgbClr val="717074"/>
            </a:solidFill>
            <a:ln w="7275" cap="flat">
              <a:noFill/>
              <a:prstDash val="solid"/>
              <a:miter/>
            </a:ln>
          </p:spPr>
          <p:txBody>
            <a:bodyPr lIns="120701" tIns="60350" rIns="120701" bIns="603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7" name="Freeform: Shape 246">
              <a:extLst>
                <a:ext uri="{FF2B5EF4-FFF2-40B4-BE49-F238E27FC236}">
                  <a16:creationId xmlns:a16="http://schemas.microsoft.com/office/drawing/2014/main" id="{8708AC19-57AE-DE1D-1304-470DE2EBF200}"/>
                </a:ext>
              </a:extLst>
            </p:cNvPr>
            <p:cNvSpPr/>
            <p:nvPr/>
          </p:nvSpPr>
          <p:spPr>
            <a:xfrm>
              <a:off x="-851154" y="3039534"/>
              <a:ext cx="84352" cy="161243"/>
            </a:xfrm>
            <a:custGeom>
              <a:avLst/>
              <a:gdLst>
                <a:gd name="connsiteX0" fmla="*/ 58952 w 106988"/>
                <a:gd name="connsiteY0" fmla="*/ 11645 h 204514"/>
                <a:gd name="connsiteX1" fmla="*/ 106988 w 106988"/>
                <a:gd name="connsiteY1" fmla="*/ 0 h 204514"/>
                <a:gd name="connsiteX2" fmla="*/ 106988 w 106988"/>
                <a:gd name="connsiteY2" fmla="*/ 26201 h 204514"/>
                <a:gd name="connsiteX3" fmla="*/ 66959 w 106988"/>
                <a:gd name="connsiteY3" fmla="*/ 34935 h 204514"/>
                <a:gd name="connsiteX4" fmla="*/ 39302 w 106988"/>
                <a:gd name="connsiteY4" fmla="*/ 58953 h 204514"/>
                <a:gd name="connsiteX5" fmla="*/ 29112 w 106988"/>
                <a:gd name="connsiteY5" fmla="*/ 93160 h 204514"/>
                <a:gd name="connsiteX6" fmla="*/ 29112 w 106988"/>
                <a:gd name="connsiteY6" fmla="*/ 204514 h 204514"/>
                <a:gd name="connsiteX7" fmla="*/ 0 w 106988"/>
                <a:gd name="connsiteY7" fmla="*/ 204514 h 204514"/>
                <a:gd name="connsiteX8" fmla="*/ 0 w 106988"/>
                <a:gd name="connsiteY8" fmla="*/ 5095 h 204514"/>
                <a:gd name="connsiteX9" fmla="*/ 29112 w 106988"/>
                <a:gd name="connsiteY9" fmla="*/ 5095 h 204514"/>
                <a:gd name="connsiteX10" fmla="*/ 29112 w 106988"/>
                <a:gd name="connsiteY10" fmla="*/ 43669 h 204514"/>
                <a:gd name="connsiteX11" fmla="*/ 58952 w 106988"/>
                <a:gd name="connsiteY11" fmla="*/ 11645 h 204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88" h="204514">
                  <a:moveTo>
                    <a:pt x="58952" y="11645"/>
                  </a:moveTo>
                  <a:cubicBezTo>
                    <a:pt x="72781" y="3639"/>
                    <a:pt x="88793" y="0"/>
                    <a:pt x="106988" y="0"/>
                  </a:cubicBezTo>
                  <a:lnTo>
                    <a:pt x="106988" y="26201"/>
                  </a:lnTo>
                  <a:cubicBezTo>
                    <a:pt x="92432" y="26201"/>
                    <a:pt x="78603" y="29112"/>
                    <a:pt x="66959" y="34935"/>
                  </a:cubicBezTo>
                  <a:cubicBezTo>
                    <a:pt x="55313" y="40757"/>
                    <a:pt x="45852" y="48763"/>
                    <a:pt x="39302" y="58953"/>
                  </a:cubicBezTo>
                  <a:cubicBezTo>
                    <a:pt x="32751" y="69142"/>
                    <a:pt x="29112" y="80787"/>
                    <a:pt x="29112" y="93160"/>
                  </a:cubicBezTo>
                  <a:lnTo>
                    <a:pt x="29112" y="204514"/>
                  </a:lnTo>
                  <a:lnTo>
                    <a:pt x="0" y="204514"/>
                  </a:lnTo>
                  <a:lnTo>
                    <a:pt x="0" y="5095"/>
                  </a:lnTo>
                  <a:lnTo>
                    <a:pt x="29112" y="5095"/>
                  </a:lnTo>
                  <a:lnTo>
                    <a:pt x="29112" y="43669"/>
                  </a:lnTo>
                  <a:cubicBezTo>
                    <a:pt x="35663" y="30568"/>
                    <a:pt x="45124" y="19651"/>
                    <a:pt x="58952" y="11645"/>
                  </a:cubicBezTo>
                  <a:close/>
                </a:path>
              </a:pathLst>
            </a:custGeom>
            <a:solidFill>
              <a:srgbClr val="717074"/>
            </a:solidFill>
            <a:ln w="7275" cap="flat">
              <a:noFill/>
              <a:prstDash val="solid"/>
              <a:miter/>
            </a:ln>
          </p:spPr>
          <p:txBody>
            <a:bodyPr lIns="120701" tIns="60350" rIns="120701" bIns="603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8" name="Freeform: Shape 247">
              <a:extLst>
                <a:ext uri="{FF2B5EF4-FFF2-40B4-BE49-F238E27FC236}">
                  <a16:creationId xmlns:a16="http://schemas.microsoft.com/office/drawing/2014/main" id="{3B7EC737-CA60-DA6A-9A87-868961A062C6}"/>
                </a:ext>
              </a:extLst>
            </p:cNvPr>
            <p:cNvSpPr/>
            <p:nvPr/>
          </p:nvSpPr>
          <p:spPr>
            <a:xfrm>
              <a:off x="-757621" y="3039534"/>
              <a:ext cx="152062" cy="165260"/>
            </a:xfrm>
            <a:custGeom>
              <a:avLst/>
              <a:gdLst>
                <a:gd name="connsiteX0" fmla="*/ 136100 w 192869"/>
                <a:gd name="connsiteY0" fmla="*/ 176130 h 209609"/>
                <a:gd name="connsiteX1" fmla="*/ 163029 w 192869"/>
                <a:gd name="connsiteY1" fmla="*/ 159390 h 209609"/>
                <a:gd name="connsiteX2" fmla="*/ 180497 w 192869"/>
                <a:gd name="connsiteY2" fmla="*/ 178313 h 209609"/>
                <a:gd name="connsiteX3" fmla="*/ 144834 w 192869"/>
                <a:gd name="connsiteY3" fmla="*/ 200875 h 209609"/>
                <a:gd name="connsiteX4" fmla="*/ 100438 w 192869"/>
                <a:gd name="connsiteY4" fmla="*/ 209609 h 209609"/>
                <a:gd name="connsiteX5" fmla="*/ 50947 w 192869"/>
                <a:gd name="connsiteY5" fmla="*/ 195781 h 209609"/>
                <a:gd name="connsiteX6" fmla="*/ 13829 w 192869"/>
                <a:gd name="connsiteY6" fmla="*/ 157935 h 209609"/>
                <a:gd name="connsiteX7" fmla="*/ 0 w 192869"/>
                <a:gd name="connsiteY7" fmla="*/ 104077 h 209609"/>
                <a:gd name="connsiteX8" fmla="*/ 13100 w 192869"/>
                <a:gd name="connsiteY8" fmla="*/ 50947 h 209609"/>
                <a:gd name="connsiteX9" fmla="*/ 48763 w 192869"/>
                <a:gd name="connsiteY9" fmla="*/ 13828 h 209609"/>
                <a:gd name="connsiteX10" fmla="*/ 98254 w 192869"/>
                <a:gd name="connsiteY10" fmla="*/ 0 h 209609"/>
                <a:gd name="connsiteX11" fmla="*/ 168124 w 192869"/>
                <a:gd name="connsiteY11" fmla="*/ 31296 h 209609"/>
                <a:gd name="connsiteX12" fmla="*/ 192869 w 192869"/>
                <a:gd name="connsiteY12" fmla="*/ 115722 h 209609"/>
                <a:gd name="connsiteX13" fmla="*/ 29840 w 192869"/>
                <a:gd name="connsiteY13" fmla="*/ 115722 h 209609"/>
                <a:gd name="connsiteX14" fmla="*/ 52402 w 192869"/>
                <a:gd name="connsiteY14" fmla="*/ 164485 h 209609"/>
                <a:gd name="connsiteX15" fmla="*/ 101166 w 192869"/>
                <a:gd name="connsiteY15" fmla="*/ 183408 h 209609"/>
                <a:gd name="connsiteX16" fmla="*/ 136100 w 192869"/>
                <a:gd name="connsiteY16" fmla="*/ 176130 h 209609"/>
                <a:gd name="connsiteX17" fmla="*/ 53130 w 192869"/>
                <a:gd name="connsiteY17" fmla="*/ 43669 h 209609"/>
                <a:gd name="connsiteX18" fmla="*/ 29840 w 192869"/>
                <a:gd name="connsiteY18" fmla="*/ 89521 h 209609"/>
                <a:gd name="connsiteX19" fmla="*/ 163757 w 192869"/>
                <a:gd name="connsiteY19" fmla="*/ 89521 h 209609"/>
                <a:gd name="connsiteX20" fmla="*/ 144106 w 192869"/>
                <a:gd name="connsiteY20" fmla="*/ 43669 h 209609"/>
                <a:gd name="connsiteX21" fmla="*/ 98982 w 192869"/>
                <a:gd name="connsiteY21" fmla="*/ 26201 h 209609"/>
                <a:gd name="connsiteX22" fmla="*/ 53130 w 192869"/>
                <a:gd name="connsiteY22" fmla="*/ 43669 h 209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2869" h="209609">
                  <a:moveTo>
                    <a:pt x="136100" y="176130"/>
                  </a:moveTo>
                  <a:cubicBezTo>
                    <a:pt x="147745" y="171763"/>
                    <a:pt x="157207" y="165941"/>
                    <a:pt x="163029" y="159390"/>
                  </a:cubicBezTo>
                  <a:lnTo>
                    <a:pt x="180497" y="178313"/>
                  </a:lnTo>
                  <a:cubicBezTo>
                    <a:pt x="171763" y="187775"/>
                    <a:pt x="160118" y="195053"/>
                    <a:pt x="144834" y="200875"/>
                  </a:cubicBezTo>
                  <a:cubicBezTo>
                    <a:pt x="129550" y="206698"/>
                    <a:pt x="114994" y="209609"/>
                    <a:pt x="100438" y="209609"/>
                  </a:cubicBezTo>
                  <a:cubicBezTo>
                    <a:pt x="82970" y="209609"/>
                    <a:pt x="66231" y="205242"/>
                    <a:pt x="50947" y="195781"/>
                  </a:cubicBezTo>
                  <a:cubicBezTo>
                    <a:pt x="35663" y="187047"/>
                    <a:pt x="23290" y="173946"/>
                    <a:pt x="13829" y="157935"/>
                  </a:cubicBezTo>
                  <a:cubicBezTo>
                    <a:pt x="4367" y="141923"/>
                    <a:pt x="0" y="123728"/>
                    <a:pt x="0" y="104077"/>
                  </a:cubicBezTo>
                  <a:cubicBezTo>
                    <a:pt x="0" y="85154"/>
                    <a:pt x="4367" y="66958"/>
                    <a:pt x="13100" y="50947"/>
                  </a:cubicBezTo>
                  <a:cubicBezTo>
                    <a:pt x="21834" y="34935"/>
                    <a:pt x="34207" y="22562"/>
                    <a:pt x="48763" y="13828"/>
                  </a:cubicBezTo>
                  <a:cubicBezTo>
                    <a:pt x="64047" y="5095"/>
                    <a:pt x="80059" y="0"/>
                    <a:pt x="98254" y="0"/>
                  </a:cubicBezTo>
                  <a:cubicBezTo>
                    <a:pt x="128095" y="0"/>
                    <a:pt x="151384" y="10189"/>
                    <a:pt x="168124" y="31296"/>
                  </a:cubicBezTo>
                  <a:cubicBezTo>
                    <a:pt x="184864" y="52402"/>
                    <a:pt x="192869" y="80059"/>
                    <a:pt x="192869" y="115722"/>
                  </a:cubicBezTo>
                  <a:lnTo>
                    <a:pt x="29840" y="115722"/>
                  </a:lnTo>
                  <a:cubicBezTo>
                    <a:pt x="32024" y="135372"/>
                    <a:pt x="39302" y="151384"/>
                    <a:pt x="52402" y="164485"/>
                  </a:cubicBezTo>
                  <a:cubicBezTo>
                    <a:pt x="65503" y="177585"/>
                    <a:pt x="81515" y="183408"/>
                    <a:pt x="101166" y="183408"/>
                  </a:cubicBezTo>
                  <a:cubicBezTo>
                    <a:pt x="112083" y="183408"/>
                    <a:pt x="124456" y="180497"/>
                    <a:pt x="136100" y="176130"/>
                  </a:cubicBezTo>
                  <a:close/>
                  <a:moveTo>
                    <a:pt x="53130" y="43669"/>
                  </a:moveTo>
                  <a:cubicBezTo>
                    <a:pt x="40030" y="55313"/>
                    <a:pt x="32751" y="70597"/>
                    <a:pt x="29840" y="89521"/>
                  </a:cubicBezTo>
                  <a:lnTo>
                    <a:pt x="163757" y="89521"/>
                  </a:lnTo>
                  <a:cubicBezTo>
                    <a:pt x="161574" y="70597"/>
                    <a:pt x="155023" y="55313"/>
                    <a:pt x="144106" y="43669"/>
                  </a:cubicBezTo>
                  <a:cubicBezTo>
                    <a:pt x="133189" y="32024"/>
                    <a:pt x="117905" y="26201"/>
                    <a:pt x="98982" y="26201"/>
                  </a:cubicBezTo>
                  <a:cubicBezTo>
                    <a:pt x="81515" y="26201"/>
                    <a:pt x="65503" y="32024"/>
                    <a:pt x="53130" y="43669"/>
                  </a:cubicBezTo>
                  <a:close/>
                </a:path>
              </a:pathLst>
            </a:custGeom>
            <a:solidFill>
              <a:srgbClr val="717074"/>
            </a:solidFill>
            <a:ln w="7275" cap="flat">
              <a:noFill/>
              <a:prstDash val="solid"/>
              <a:miter/>
            </a:ln>
          </p:spPr>
          <p:txBody>
            <a:bodyPr lIns="120701" tIns="60350" rIns="120701" bIns="603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pic>
        <p:nvPicPr>
          <p:cNvPr id="10" name="Graphic 9">
            <a:extLst>
              <a:ext uri="{FF2B5EF4-FFF2-40B4-BE49-F238E27FC236}">
                <a16:creationId xmlns:a16="http://schemas.microsoft.com/office/drawing/2014/main" id="{2E21A579-AA25-670A-C225-EFEFB0F611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82240" y="2475056"/>
            <a:ext cx="1141278" cy="1141278"/>
          </a:xfrm>
          <a:prstGeom prst="rect">
            <a:avLst/>
          </a:prstGeom>
        </p:spPr>
      </p:pic>
      <p:grpSp>
        <p:nvGrpSpPr>
          <p:cNvPr id="14" name="Google Shape;2355;p128">
            <a:extLst>
              <a:ext uri="{FF2B5EF4-FFF2-40B4-BE49-F238E27FC236}">
                <a16:creationId xmlns:a16="http://schemas.microsoft.com/office/drawing/2014/main" id="{11B5DB1A-AB76-4FE3-EC76-FA0956843E03}"/>
              </a:ext>
            </a:extLst>
          </p:cNvPr>
          <p:cNvGrpSpPr/>
          <p:nvPr/>
        </p:nvGrpSpPr>
        <p:grpSpPr>
          <a:xfrm>
            <a:off x="3676157" y="4777995"/>
            <a:ext cx="848183" cy="848183"/>
            <a:chOff x="1721126" y="2934194"/>
            <a:chExt cx="1028100" cy="1028100"/>
          </a:xfrm>
        </p:grpSpPr>
        <p:sp>
          <p:nvSpPr>
            <p:cNvPr id="15" name="Google Shape;2356;p128">
              <a:extLst>
                <a:ext uri="{FF2B5EF4-FFF2-40B4-BE49-F238E27FC236}">
                  <a16:creationId xmlns:a16="http://schemas.microsoft.com/office/drawing/2014/main" id="{18B236AA-3327-F2A7-3CF4-1E3C2C6D5721}"/>
                </a:ext>
              </a:extLst>
            </p:cNvPr>
            <p:cNvSpPr/>
            <p:nvPr/>
          </p:nvSpPr>
          <p:spPr>
            <a:xfrm>
              <a:off x="1721126" y="2934194"/>
              <a:ext cx="1028100" cy="1028100"/>
            </a:xfrm>
            <a:prstGeom prst="ellipse">
              <a:avLst/>
            </a:prstGeom>
            <a:gradFill>
              <a:gsLst>
                <a:gs pos="0">
                  <a:srgbClr val="3D5290"/>
                </a:gs>
                <a:gs pos="18000">
                  <a:srgbClr val="3D5290"/>
                </a:gs>
                <a:gs pos="100000">
                  <a:schemeClr val="accent5"/>
                </a:gs>
              </a:gsLst>
              <a:lin ang="18900044" scaled="0"/>
            </a:gradFill>
            <a:ln w="9525" cap="flat" cmpd="sng">
              <a:solidFill>
                <a:srgbClr val="E0D8EA"/>
              </a:solidFill>
              <a:prstDash val="solid"/>
              <a:round/>
              <a:headEnd type="none" w="sm" len="sm"/>
              <a:tailEnd type="none" w="sm" len="sm"/>
            </a:ln>
            <a:effectLst>
              <a:outerShdw sx="120000" sy="120000" algn="ctr" rotWithShape="0">
                <a:srgbClr val="6C4B94">
                  <a:alpha val="23140"/>
                </a:srgbClr>
              </a:outerShdw>
            </a:effectLst>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grpSp>
          <p:nvGrpSpPr>
            <p:cNvPr id="16" name="Google Shape;2357;p128">
              <a:extLst>
                <a:ext uri="{FF2B5EF4-FFF2-40B4-BE49-F238E27FC236}">
                  <a16:creationId xmlns:a16="http://schemas.microsoft.com/office/drawing/2014/main" id="{1BD27806-D9EC-0E6F-452D-1AC37E3B8951}"/>
                </a:ext>
              </a:extLst>
            </p:cNvPr>
            <p:cNvGrpSpPr/>
            <p:nvPr/>
          </p:nvGrpSpPr>
          <p:grpSpPr>
            <a:xfrm>
              <a:off x="1931143" y="3157513"/>
              <a:ext cx="615472" cy="582066"/>
              <a:chOff x="1931143" y="3147939"/>
              <a:chExt cx="615472" cy="582066"/>
            </a:xfrm>
          </p:grpSpPr>
          <p:sp>
            <p:nvSpPr>
              <p:cNvPr id="17" name="Google Shape;2358;p128">
                <a:extLst>
                  <a:ext uri="{FF2B5EF4-FFF2-40B4-BE49-F238E27FC236}">
                    <a16:creationId xmlns:a16="http://schemas.microsoft.com/office/drawing/2014/main" id="{A77D4219-090A-B8F4-F1F6-C6B18EE07D9A}"/>
                  </a:ext>
                </a:extLst>
              </p:cNvPr>
              <p:cNvSpPr/>
              <p:nvPr/>
            </p:nvSpPr>
            <p:spPr>
              <a:xfrm>
                <a:off x="1931143" y="3502421"/>
                <a:ext cx="232575" cy="77733"/>
              </a:xfrm>
              <a:custGeom>
                <a:avLst/>
                <a:gdLst/>
                <a:ahLst/>
                <a:cxnLst/>
                <a:rect l="l" t="t" r="r" b="b"/>
                <a:pathLst>
                  <a:path w="1368091" h="457252" extrusionOk="0">
                    <a:moveTo>
                      <a:pt x="1368091" y="320286"/>
                    </a:moveTo>
                    <a:lnTo>
                      <a:pt x="1368091" y="136966"/>
                    </a:lnTo>
                    <a:lnTo>
                      <a:pt x="395709" y="136966"/>
                    </a:lnTo>
                    <a:lnTo>
                      <a:pt x="395709" y="0"/>
                    </a:lnTo>
                    <a:lnTo>
                      <a:pt x="0" y="228626"/>
                    </a:lnTo>
                    <a:lnTo>
                      <a:pt x="395709" y="457252"/>
                    </a:lnTo>
                    <a:lnTo>
                      <a:pt x="395709" y="320286"/>
                    </a:lnTo>
                    <a:lnTo>
                      <a:pt x="1368091" y="320286"/>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 name="Google Shape;2359;p128">
                <a:extLst>
                  <a:ext uri="{FF2B5EF4-FFF2-40B4-BE49-F238E27FC236}">
                    <a16:creationId xmlns:a16="http://schemas.microsoft.com/office/drawing/2014/main" id="{964C0641-7CDA-E924-4632-33DC932B894E}"/>
                  </a:ext>
                </a:extLst>
              </p:cNvPr>
              <p:cNvSpPr/>
              <p:nvPr/>
            </p:nvSpPr>
            <p:spPr>
              <a:xfrm>
                <a:off x="2240862" y="3211147"/>
                <a:ext cx="232575" cy="77688"/>
              </a:xfrm>
              <a:custGeom>
                <a:avLst/>
                <a:gdLst/>
                <a:ahLst/>
                <a:cxnLst/>
                <a:rect l="l" t="t" r="r" b="b"/>
                <a:pathLst>
                  <a:path w="1368091" h="456990" extrusionOk="0">
                    <a:moveTo>
                      <a:pt x="972382" y="456991"/>
                    </a:moveTo>
                    <a:lnTo>
                      <a:pt x="1368091" y="228364"/>
                    </a:lnTo>
                    <a:lnTo>
                      <a:pt x="972382" y="0"/>
                    </a:lnTo>
                    <a:lnTo>
                      <a:pt x="972382" y="136704"/>
                    </a:lnTo>
                    <a:lnTo>
                      <a:pt x="0" y="136704"/>
                    </a:lnTo>
                    <a:lnTo>
                      <a:pt x="0" y="320024"/>
                    </a:lnTo>
                    <a:lnTo>
                      <a:pt x="972382" y="320024"/>
                    </a:lnTo>
                    <a:lnTo>
                      <a:pt x="972382" y="456991"/>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 name="Google Shape;2360;p128">
                <a:extLst>
                  <a:ext uri="{FF2B5EF4-FFF2-40B4-BE49-F238E27FC236}">
                    <a16:creationId xmlns:a16="http://schemas.microsoft.com/office/drawing/2014/main" id="{D68ADC73-83CC-D70A-345A-AC1B5FC65D89}"/>
                  </a:ext>
                </a:extLst>
              </p:cNvPr>
              <p:cNvSpPr/>
              <p:nvPr/>
            </p:nvSpPr>
            <p:spPr>
              <a:xfrm>
                <a:off x="2158241" y="3342309"/>
                <a:ext cx="388374" cy="387696"/>
              </a:xfrm>
              <a:custGeom>
                <a:avLst/>
                <a:gdLst/>
                <a:ahLst/>
                <a:cxnLst/>
                <a:rect l="l" t="t" r="r" b="b"/>
                <a:pathLst>
                  <a:path w="2284554" h="2280565" extrusionOk="0">
                    <a:moveTo>
                      <a:pt x="2261472" y="1429359"/>
                    </a:moveTo>
                    <a:cubicBezTo>
                      <a:pt x="2210928" y="1386933"/>
                      <a:pt x="2160122" y="1344246"/>
                      <a:pt x="2114816" y="1296321"/>
                    </a:cubicBezTo>
                    <a:cubicBezTo>
                      <a:pt x="2097008" y="1277727"/>
                      <a:pt x="2087056" y="1245777"/>
                      <a:pt x="2084699" y="1219064"/>
                    </a:cubicBezTo>
                    <a:cubicBezTo>
                      <a:pt x="2080247" y="1163021"/>
                      <a:pt x="2080247" y="1106454"/>
                      <a:pt x="2084176" y="1050410"/>
                    </a:cubicBezTo>
                    <a:cubicBezTo>
                      <a:pt x="2086009" y="1023436"/>
                      <a:pt x="2093865" y="990700"/>
                      <a:pt x="2111412" y="972106"/>
                    </a:cubicBezTo>
                    <a:cubicBezTo>
                      <a:pt x="2156194" y="923919"/>
                      <a:pt x="2207262" y="880970"/>
                      <a:pt x="2257282" y="838021"/>
                    </a:cubicBezTo>
                    <a:cubicBezTo>
                      <a:pt x="2280852" y="817856"/>
                      <a:pt x="2286875" y="799524"/>
                      <a:pt x="2272733" y="769931"/>
                    </a:cubicBezTo>
                    <a:cubicBezTo>
                      <a:pt x="2244188" y="710482"/>
                      <a:pt x="2218261" y="649463"/>
                      <a:pt x="2194168" y="587920"/>
                    </a:cubicBezTo>
                    <a:cubicBezTo>
                      <a:pt x="2183430" y="560422"/>
                      <a:pt x="2168241" y="550732"/>
                      <a:pt x="2139172" y="553089"/>
                    </a:cubicBezTo>
                    <a:cubicBezTo>
                      <a:pt x="2071343" y="558589"/>
                      <a:pt x="2003253" y="564088"/>
                      <a:pt x="1935424" y="563826"/>
                    </a:cubicBezTo>
                    <a:cubicBezTo>
                      <a:pt x="1912640" y="563826"/>
                      <a:pt x="1885928" y="550208"/>
                      <a:pt x="1868120" y="534757"/>
                    </a:cubicBezTo>
                    <a:cubicBezTo>
                      <a:pt x="1821504" y="493903"/>
                      <a:pt x="1776984" y="449906"/>
                      <a:pt x="1735344" y="403814"/>
                    </a:cubicBezTo>
                    <a:cubicBezTo>
                      <a:pt x="1719631" y="386530"/>
                      <a:pt x="1706798" y="359817"/>
                      <a:pt x="1706274" y="337295"/>
                    </a:cubicBezTo>
                    <a:cubicBezTo>
                      <a:pt x="1704965" y="273395"/>
                      <a:pt x="1709155" y="209233"/>
                      <a:pt x="1714655" y="145333"/>
                    </a:cubicBezTo>
                    <a:cubicBezTo>
                      <a:pt x="1717798" y="109455"/>
                      <a:pt x="1706798" y="90075"/>
                      <a:pt x="1672229" y="77766"/>
                    </a:cubicBezTo>
                    <a:cubicBezTo>
                      <a:pt x="1615400" y="57601"/>
                      <a:pt x="1559357" y="34555"/>
                      <a:pt x="1504361" y="9414"/>
                    </a:cubicBezTo>
                    <a:cubicBezTo>
                      <a:pt x="1470053" y="-6299"/>
                      <a:pt x="1446222" y="-3680"/>
                      <a:pt x="1421343" y="27484"/>
                    </a:cubicBezTo>
                    <a:cubicBezTo>
                      <a:pt x="1381274" y="77505"/>
                      <a:pt x="1338849" y="125953"/>
                      <a:pt x="1292757" y="170212"/>
                    </a:cubicBezTo>
                    <a:cubicBezTo>
                      <a:pt x="1275211" y="187235"/>
                      <a:pt x="1245617" y="197710"/>
                      <a:pt x="1220476" y="199543"/>
                    </a:cubicBezTo>
                    <a:cubicBezTo>
                      <a:pt x="1164695" y="203734"/>
                      <a:pt x="1108389" y="197448"/>
                      <a:pt x="1052608" y="201900"/>
                    </a:cubicBezTo>
                    <a:cubicBezTo>
                      <a:pt x="1014896" y="205043"/>
                      <a:pt x="988184" y="197448"/>
                      <a:pt x="963566" y="168117"/>
                    </a:cubicBezTo>
                    <a:cubicBezTo>
                      <a:pt x="920879" y="117573"/>
                      <a:pt x="876620" y="68339"/>
                      <a:pt x="829219" y="22247"/>
                    </a:cubicBezTo>
                    <a:cubicBezTo>
                      <a:pt x="817696" y="10986"/>
                      <a:pt x="788889" y="6272"/>
                      <a:pt x="773176" y="12033"/>
                    </a:cubicBezTo>
                    <a:cubicBezTo>
                      <a:pt x="699062" y="39793"/>
                      <a:pt x="626781" y="72529"/>
                      <a:pt x="554501" y="102907"/>
                    </a:cubicBezTo>
                    <a:cubicBezTo>
                      <a:pt x="554501" y="151880"/>
                      <a:pt x="546383" y="200591"/>
                      <a:pt x="556072" y="245635"/>
                    </a:cubicBezTo>
                    <a:cubicBezTo>
                      <a:pt x="577285" y="342795"/>
                      <a:pt x="539312" y="404338"/>
                      <a:pt x="474626" y="477404"/>
                    </a:cubicBezTo>
                    <a:cubicBezTo>
                      <a:pt x="395275" y="567231"/>
                      <a:pt x="312519" y="592634"/>
                      <a:pt x="204098" y="573778"/>
                    </a:cubicBezTo>
                    <a:cubicBezTo>
                      <a:pt x="198598" y="572730"/>
                      <a:pt x="192837" y="572730"/>
                      <a:pt x="187337" y="572469"/>
                    </a:cubicBezTo>
                    <a:cubicBezTo>
                      <a:pt x="72631" y="564874"/>
                      <a:pt x="97772" y="558589"/>
                      <a:pt x="59013" y="653129"/>
                    </a:cubicBezTo>
                    <a:cubicBezTo>
                      <a:pt x="35443" y="710220"/>
                      <a:pt x="-9863" y="775430"/>
                      <a:pt x="1922" y="825712"/>
                    </a:cubicBezTo>
                    <a:cubicBezTo>
                      <a:pt x="13969" y="876256"/>
                      <a:pt x="81535" y="917110"/>
                      <a:pt x="130770" y="954298"/>
                    </a:cubicBezTo>
                    <a:cubicBezTo>
                      <a:pt x="187075" y="996724"/>
                      <a:pt x="208026" y="1043601"/>
                      <a:pt x="192313" y="1113787"/>
                    </a:cubicBezTo>
                    <a:cubicBezTo>
                      <a:pt x="184194" y="1149141"/>
                      <a:pt x="191004" y="1189210"/>
                      <a:pt x="197813" y="1225874"/>
                    </a:cubicBezTo>
                    <a:cubicBezTo>
                      <a:pt x="205669" y="1268561"/>
                      <a:pt x="192575" y="1297630"/>
                      <a:pt x="160625" y="1324604"/>
                    </a:cubicBezTo>
                    <a:cubicBezTo>
                      <a:pt x="111652" y="1365982"/>
                      <a:pt x="63727" y="1408932"/>
                      <a:pt x="18945" y="1455024"/>
                    </a:cubicBezTo>
                    <a:cubicBezTo>
                      <a:pt x="7422" y="1466808"/>
                      <a:pt x="2184" y="1495354"/>
                      <a:pt x="7945" y="1511067"/>
                    </a:cubicBezTo>
                    <a:cubicBezTo>
                      <a:pt x="30730" y="1573134"/>
                      <a:pt x="60846" y="1632320"/>
                      <a:pt x="84154" y="1694125"/>
                    </a:cubicBezTo>
                    <a:cubicBezTo>
                      <a:pt x="96463" y="1726861"/>
                      <a:pt x="114795" y="1735765"/>
                      <a:pt x="147531" y="1732361"/>
                    </a:cubicBezTo>
                    <a:cubicBezTo>
                      <a:pt x="198336" y="1727123"/>
                      <a:pt x="249666" y="1728694"/>
                      <a:pt x="300210" y="1721361"/>
                    </a:cubicBezTo>
                    <a:cubicBezTo>
                      <a:pt x="358087" y="1712981"/>
                      <a:pt x="400512" y="1726599"/>
                      <a:pt x="436652" y="1775834"/>
                    </a:cubicBezTo>
                    <a:cubicBezTo>
                      <a:pt x="464150" y="1813283"/>
                      <a:pt x="501600" y="1844186"/>
                      <a:pt x="538002" y="1874041"/>
                    </a:cubicBezTo>
                    <a:cubicBezTo>
                      <a:pt x="564976" y="1896301"/>
                      <a:pt x="579118" y="1918300"/>
                      <a:pt x="575190" y="1955487"/>
                    </a:cubicBezTo>
                    <a:cubicBezTo>
                      <a:pt x="568643" y="2019125"/>
                      <a:pt x="565762" y="2083287"/>
                      <a:pt x="567072" y="2147188"/>
                    </a:cubicBezTo>
                    <a:cubicBezTo>
                      <a:pt x="567595" y="2166043"/>
                      <a:pt x="582785" y="2193803"/>
                      <a:pt x="599022" y="2201660"/>
                    </a:cubicBezTo>
                    <a:cubicBezTo>
                      <a:pt x="660041" y="2231253"/>
                      <a:pt x="723417" y="2256918"/>
                      <a:pt x="787841" y="2278392"/>
                    </a:cubicBezTo>
                    <a:cubicBezTo>
                      <a:pt x="805649" y="2284416"/>
                      <a:pt x="836552" y="2277345"/>
                      <a:pt x="849908" y="2264251"/>
                    </a:cubicBezTo>
                    <a:cubicBezTo>
                      <a:pt x="898095" y="2216849"/>
                      <a:pt x="939473" y="2162639"/>
                      <a:pt x="987398" y="2114976"/>
                    </a:cubicBezTo>
                    <a:cubicBezTo>
                      <a:pt x="1003635" y="2098739"/>
                      <a:pt x="1030871" y="2087478"/>
                      <a:pt x="1053917" y="2085906"/>
                    </a:cubicBezTo>
                    <a:cubicBezTo>
                      <a:pt x="1113365" y="2081716"/>
                      <a:pt x="1173599" y="2081192"/>
                      <a:pt x="1233309" y="2085383"/>
                    </a:cubicBezTo>
                    <a:cubicBezTo>
                      <a:pt x="1260283" y="2087216"/>
                      <a:pt x="1291971" y="2097691"/>
                      <a:pt x="1311089" y="2115238"/>
                    </a:cubicBezTo>
                    <a:cubicBezTo>
                      <a:pt x="1354038" y="2154520"/>
                      <a:pt x="1393845" y="2198517"/>
                      <a:pt x="1429199" y="2245133"/>
                    </a:cubicBezTo>
                    <a:cubicBezTo>
                      <a:pt x="1460626" y="2286773"/>
                      <a:pt x="1491266" y="2287297"/>
                      <a:pt x="1533954" y="2265560"/>
                    </a:cubicBezTo>
                    <a:cubicBezTo>
                      <a:pt x="1597330" y="2233086"/>
                      <a:pt x="1689514" y="2221301"/>
                      <a:pt x="1719892" y="2170757"/>
                    </a:cubicBezTo>
                    <a:cubicBezTo>
                      <a:pt x="1750533" y="2119428"/>
                      <a:pt x="1723821" y="2031696"/>
                      <a:pt x="1717012" y="1960463"/>
                    </a:cubicBezTo>
                    <a:cubicBezTo>
                      <a:pt x="1712822" y="1916204"/>
                      <a:pt x="1725916" y="1886611"/>
                      <a:pt x="1759961" y="1857804"/>
                    </a:cubicBezTo>
                    <a:cubicBezTo>
                      <a:pt x="1801339" y="1822711"/>
                      <a:pt x="1834075" y="1777667"/>
                      <a:pt x="1875191" y="1742050"/>
                    </a:cubicBezTo>
                    <a:cubicBezTo>
                      <a:pt x="1895356" y="1724766"/>
                      <a:pt x="1925211" y="1710624"/>
                      <a:pt x="1951399" y="1709838"/>
                    </a:cubicBezTo>
                    <a:cubicBezTo>
                      <a:pt x="2015038" y="1707743"/>
                      <a:pt x="2079200" y="1712981"/>
                      <a:pt x="2142838" y="1717695"/>
                    </a:cubicBezTo>
                    <a:cubicBezTo>
                      <a:pt x="2173217" y="1719790"/>
                      <a:pt x="2191549" y="1711933"/>
                      <a:pt x="2202810" y="1681293"/>
                    </a:cubicBezTo>
                    <a:cubicBezTo>
                      <a:pt x="2225594" y="1619226"/>
                      <a:pt x="2250211" y="1557683"/>
                      <a:pt x="2277447" y="1497711"/>
                    </a:cubicBezTo>
                    <a:cubicBezTo>
                      <a:pt x="2290803" y="1468118"/>
                      <a:pt x="2285304" y="1450048"/>
                      <a:pt x="2261210" y="1429883"/>
                    </a:cubicBezTo>
                    <a:close/>
                    <a:moveTo>
                      <a:pt x="1140863" y="1620273"/>
                    </a:moveTo>
                    <a:cubicBezTo>
                      <a:pt x="864050" y="1620273"/>
                      <a:pt x="664493" y="1391647"/>
                      <a:pt x="662660" y="1147308"/>
                    </a:cubicBezTo>
                    <a:cubicBezTo>
                      <a:pt x="660303" y="867352"/>
                      <a:pt x="888143" y="664914"/>
                      <a:pt x="1142173" y="664914"/>
                    </a:cubicBezTo>
                    <a:cubicBezTo>
                      <a:pt x="1403273" y="664914"/>
                      <a:pt x="1620376" y="886470"/>
                      <a:pt x="1618019" y="1146522"/>
                    </a:cubicBezTo>
                    <a:cubicBezTo>
                      <a:pt x="1615400" y="1418360"/>
                      <a:pt x="1388345" y="1620535"/>
                      <a:pt x="1140863" y="1620012"/>
                    </a:cubicBez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 name="Google Shape;2361;p128">
                <a:extLst>
                  <a:ext uri="{FF2B5EF4-FFF2-40B4-BE49-F238E27FC236}">
                    <a16:creationId xmlns:a16="http://schemas.microsoft.com/office/drawing/2014/main" id="{04CE3560-93B9-76C5-EC49-4849218C6E16}"/>
                  </a:ext>
                </a:extLst>
              </p:cNvPr>
              <p:cNvSpPr/>
              <p:nvPr/>
            </p:nvSpPr>
            <p:spPr>
              <a:xfrm>
                <a:off x="1944784" y="3147939"/>
                <a:ext cx="264725" cy="264401"/>
              </a:xfrm>
              <a:custGeom>
                <a:avLst/>
                <a:gdLst/>
                <a:ahLst/>
                <a:cxnLst/>
                <a:rect l="l" t="t" r="r" b="b"/>
                <a:pathLst>
                  <a:path w="1557203" h="1555302" extrusionOk="0">
                    <a:moveTo>
                      <a:pt x="89399" y="650924"/>
                    </a:moveTo>
                    <a:cubicBezTo>
                      <a:pt x="127896" y="679732"/>
                      <a:pt x="142038" y="711944"/>
                      <a:pt x="131301" y="759607"/>
                    </a:cubicBezTo>
                    <a:cubicBezTo>
                      <a:pt x="125801" y="783700"/>
                      <a:pt x="130515" y="811198"/>
                      <a:pt x="134967" y="836077"/>
                    </a:cubicBezTo>
                    <a:cubicBezTo>
                      <a:pt x="140205" y="865147"/>
                      <a:pt x="131301" y="885050"/>
                      <a:pt x="109564" y="903382"/>
                    </a:cubicBezTo>
                    <a:cubicBezTo>
                      <a:pt x="76043" y="931666"/>
                      <a:pt x="43307" y="960997"/>
                      <a:pt x="12928" y="992423"/>
                    </a:cubicBezTo>
                    <a:cubicBezTo>
                      <a:pt x="5072" y="1000542"/>
                      <a:pt x="1406" y="1019921"/>
                      <a:pt x="5334" y="1030658"/>
                    </a:cubicBezTo>
                    <a:cubicBezTo>
                      <a:pt x="20785" y="1072822"/>
                      <a:pt x="41474" y="1113414"/>
                      <a:pt x="57187" y="1155316"/>
                    </a:cubicBezTo>
                    <a:cubicBezTo>
                      <a:pt x="65568" y="1177576"/>
                      <a:pt x="78138" y="1183600"/>
                      <a:pt x="100398" y="1181505"/>
                    </a:cubicBezTo>
                    <a:cubicBezTo>
                      <a:pt x="134967" y="1177838"/>
                      <a:pt x="170060" y="1178886"/>
                      <a:pt x="204367" y="1173910"/>
                    </a:cubicBezTo>
                    <a:cubicBezTo>
                      <a:pt x="243650" y="1168148"/>
                      <a:pt x="272719" y="1177576"/>
                      <a:pt x="297336" y="1211098"/>
                    </a:cubicBezTo>
                    <a:cubicBezTo>
                      <a:pt x="316192" y="1236763"/>
                      <a:pt x="341595" y="1257713"/>
                      <a:pt x="366474" y="1278141"/>
                    </a:cubicBezTo>
                    <a:cubicBezTo>
                      <a:pt x="385068" y="1293330"/>
                      <a:pt x="394496" y="1308257"/>
                      <a:pt x="391877" y="1333660"/>
                    </a:cubicBezTo>
                    <a:cubicBezTo>
                      <a:pt x="387425" y="1377133"/>
                      <a:pt x="385330" y="1420868"/>
                      <a:pt x="386378" y="1464341"/>
                    </a:cubicBezTo>
                    <a:cubicBezTo>
                      <a:pt x="386639" y="1477174"/>
                      <a:pt x="397115" y="1496291"/>
                      <a:pt x="408114" y="1501529"/>
                    </a:cubicBezTo>
                    <a:cubicBezTo>
                      <a:pt x="449754" y="1521694"/>
                      <a:pt x="492965" y="1539241"/>
                      <a:pt x="536700" y="1553906"/>
                    </a:cubicBezTo>
                    <a:cubicBezTo>
                      <a:pt x="548747" y="1557835"/>
                      <a:pt x="569959" y="1553121"/>
                      <a:pt x="579126" y="1544216"/>
                    </a:cubicBezTo>
                    <a:cubicBezTo>
                      <a:pt x="611861" y="1512005"/>
                      <a:pt x="640145" y="1475079"/>
                      <a:pt x="672881" y="1442343"/>
                    </a:cubicBezTo>
                    <a:cubicBezTo>
                      <a:pt x="683880" y="1431344"/>
                      <a:pt x="702474" y="1423487"/>
                      <a:pt x="718187" y="1422440"/>
                    </a:cubicBezTo>
                    <a:cubicBezTo>
                      <a:pt x="758779" y="1419559"/>
                      <a:pt x="799895" y="1419297"/>
                      <a:pt x="840487" y="1422178"/>
                    </a:cubicBezTo>
                    <a:cubicBezTo>
                      <a:pt x="858819" y="1423487"/>
                      <a:pt x="880294" y="1430558"/>
                      <a:pt x="893650" y="1442605"/>
                    </a:cubicBezTo>
                    <a:cubicBezTo>
                      <a:pt x="922981" y="1469317"/>
                      <a:pt x="950218" y="1499434"/>
                      <a:pt x="974049" y="1531122"/>
                    </a:cubicBezTo>
                    <a:cubicBezTo>
                      <a:pt x="995524" y="1559406"/>
                      <a:pt x="1016475" y="1559930"/>
                      <a:pt x="1045544" y="1545002"/>
                    </a:cubicBezTo>
                    <a:cubicBezTo>
                      <a:pt x="1088755" y="1523004"/>
                      <a:pt x="1151608" y="1514885"/>
                      <a:pt x="1172297" y="1480316"/>
                    </a:cubicBezTo>
                    <a:cubicBezTo>
                      <a:pt x="1193248" y="1445224"/>
                      <a:pt x="1174916" y="1385514"/>
                      <a:pt x="1170202" y="1337065"/>
                    </a:cubicBezTo>
                    <a:cubicBezTo>
                      <a:pt x="1167321" y="1306948"/>
                      <a:pt x="1176225" y="1286521"/>
                      <a:pt x="1199533" y="1267141"/>
                    </a:cubicBezTo>
                    <a:cubicBezTo>
                      <a:pt x="1227817" y="1243310"/>
                      <a:pt x="1250077" y="1212407"/>
                      <a:pt x="1278099" y="1188052"/>
                    </a:cubicBezTo>
                    <a:cubicBezTo>
                      <a:pt x="1291717" y="1176267"/>
                      <a:pt x="1312144" y="1166577"/>
                      <a:pt x="1329952" y="1166053"/>
                    </a:cubicBezTo>
                    <a:cubicBezTo>
                      <a:pt x="1373425" y="1164744"/>
                      <a:pt x="1416898" y="1168148"/>
                      <a:pt x="1460371" y="1171291"/>
                    </a:cubicBezTo>
                    <a:cubicBezTo>
                      <a:pt x="1481060" y="1172862"/>
                      <a:pt x="1493630" y="1167363"/>
                      <a:pt x="1501225" y="1146412"/>
                    </a:cubicBezTo>
                    <a:cubicBezTo>
                      <a:pt x="1516677" y="1103987"/>
                      <a:pt x="1533699" y="1062085"/>
                      <a:pt x="1552293" y="1021231"/>
                    </a:cubicBezTo>
                    <a:cubicBezTo>
                      <a:pt x="1561459" y="1001065"/>
                      <a:pt x="1557793" y="988757"/>
                      <a:pt x="1541294" y="974877"/>
                    </a:cubicBezTo>
                    <a:cubicBezTo>
                      <a:pt x="1506725" y="946069"/>
                      <a:pt x="1472156" y="916738"/>
                      <a:pt x="1441253" y="884264"/>
                    </a:cubicBezTo>
                    <a:cubicBezTo>
                      <a:pt x="1429207" y="871432"/>
                      <a:pt x="1422136" y="849957"/>
                      <a:pt x="1420826" y="831625"/>
                    </a:cubicBezTo>
                    <a:cubicBezTo>
                      <a:pt x="1417684" y="793390"/>
                      <a:pt x="1417946" y="754893"/>
                      <a:pt x="1420564" y="716658"/>
                    </a:cubicBezTo>
                    <a:cubicBezTo>
                      <a:pt x="1421874" y="698325"/>
                      <a:pt x="1427112" y="676065"/>
                      <a:pt x="1439158" y="663233"/>
                    </a:cubicBezTo>
                    <a:cubicBezTo>
                      <a:pt x="1469799" y="630235"/>
                      <a:pt x="1504368" y="601166"/>
                      <a:pt x="1538675" y="571835"/>
                    </a:cubicBezTo>
                    <a:cubicBezTo>
                      <a:pt x="1554650" y="557955"/>
                      <a:pt x="1558840" y="545646"/>
                      <a:pt x="1549150" y="525481"/>
                    </a:cubicBezTo>
                    <a:cubicBezTo>
                      <a:pt x="1529771" y="484889"/>
                      <a:pt x="1511963" y="443249"/>
                      <a:pt x="1495726" y="401347"/>
                    </a:cubicBezTo>
                    <a:cubicBezTo>
                      <a:pt x="1488393" y="382753"/>
                      <a:pt x="1478179" y="375944"/>
                      <a:pt x="1458276" y="377515"/>
                    </a:cubicBezTo>
                    <a:cubicBezTo>
                      <a:pt x="1412184" y="381182"/>
                      <a:pt x="1365568" y="385110"/>
                      <a:pt x="1319477" y="384848"/>
                    </a:cubicBezTo>
                    <a:cubicBezTo>
                      <a:pt x="1304025" y="384848"/>
                      <a:pt x="1285693" y="375682"/>
                      <a:pt x="1273647" y="364945"/>
                    </a:cubicBezTo>
                    <a:cubicBezTo>
                      <a:pt x="1241696" y="336923"/>
                      <a:pt x="1211318" y="307068"/>
                      <a:pt x="1183034" y="275642"/>
                    </a:cubicBezTo>
                    <a:cubicBezTo>
                      <a:pt x="1172297" y="263857"/>
                      <a:pt x="1163654" y="245787"/>
                      <a:pt x="1163393" y="230074"/>
                    </a:cubicBezTo>
                    <a:cubicBezTo>
                      <a:pt x="1162607" y="186601"/>
                      <a:pt x="1165226" y="142604"/>
                      <a:pt x="1169154" y="99131"/>
                    </a:cubicBezTo>
                    <a:cubicBezTo>
                      <a:pt x="1171249" y="74776"/>
                      <a:pt x="1163916" y="61419"/>
                      <a:pt x="1140085" y="53039"/>
                    </a:cubicBezTo>
                    <a:cubicBezTo>
                      <a:pt x="1101326" y="39159"/>
                      <a:pt x="1063090" y="23446"/>
                      <a:pt x="1025641" y="6423"/>
                    </a:cubicBezTo>
                    <a:cubicBezTo>
                      <a:pt x="1002071" y="-4314"/>
                      <a:pt x="986096" y="-2481"/>
                      <a:pt x="969073" y="18732"/>
                    </a:cubicBezTo>
                    <a:cubicBezTo>
                      <a:pt x="941837" y="52777"/>
                      <a:pt x="912768" y="85775"/>
                      <a:pt x="881342" y="115892"/>
                    </a:cubicBezTo>
                    <a:cubicBezTo>
                      <a:pt x="869295" y="127415"/>
                      <a:pt x="849130" y="134485"/>
                      <a:pt x="832107" y="135795"/>
                    </a:cubicBezTo>
                    <a:cubicBezTo>
                      <a:pt x="794134" y="138676"/>
                      <a:pt x="755636" y="134485"/>
                      <a:pt x="717663" y="137366"/>
                    </a:cubicBezTo>
                    <a:cubicBezTo>
                      <a:pt x="691998" y="139461"/>
                      <a:pt x="673666" y="134224"/>
                      <a:pt x="656906" y="114320"/>
                    </a:cubicBezTo>
                    <a:cubicBezTo>
                      <a:pt x="627836" y="80013"/>
                      <a:pt x="597719" y="46230"/>
                      <a:pt x="565246" y="14804"/>
                    </a:cubicBezTo>
                    <a:cubicBezTo>
                      <a:pt x="557389" y="7209"/>
                      <a:pt x="537748" y="3804"/>
                      <a:pt x="527010" y="7995"/>
                    </a:cubicBezTo>
                    <a:cubicBezTo>
                      <a:pt x="476466" y="26850"/>
                      <a:pt x="427232" y="49111"/>
                      <a:pt x="377997" y="70062"/>
                    </a:cubicBezTo>
                    <a:cubicBezTo>
                      <a:pt x="377997" y="103321"/>
                      <a:pt x="372498" y="136581"/>
                      <a:pt x="379045" y="167221"/>
                    </a:cubicBezTo>
                    <a:cubicBezTo>
                      <a:pt x="393448" y="233478"/>
                      <a:pt x="367522" y="275380"/>
                      <a:pt x="323525" y="325138"/>
                    </a:cubicBezTo>
                    <a:cubicBezTo>
                      <a:pt x="269315" y="386420"/>
                      <a:pt x="213009" y="403704"/>
                      <a:pt x="139157" y="390872"/>
                    </a:cubicBezTo>
                    <a:cubicBezTo>
                      <a:pt x="135491" y="390348"/>
                      <a:pt x="131563" y="390086"/>
                      <a:pt x="127634" y="389824"/>
                    </a:cubicBezTo>
                    <a:cubicBezTo>
                      <a:pt x="49331" y="384586"/>
                      <a:pt x="66615" y="380396"/>
                      <a:pt x="40165" y="444820"/>
                    </a:cubicBezTo>
                    <a:cubicBezTo>
                      <a:pt x="24190" y="483841"/>
                      <a:pt x="-6975" y="528100"/>
                      <a:pt x="1406" y="562407"/>
                    </a:cubicBezTo>
                    <a:cubicBezTo>
                      <a:pt x="9524" y="596714"/>
                      <a:pt x="55616" y="624736"/>
                      <a:pt x="89399" y="650139"/>
                    </a:cubicBezTo>
                    <a:close/>
                    <a:moveTo>
                      <a:pt x="778682" y="453986"/>
                    </a:moveTo>
                    <a:cubicBezTo>
                      <a:pt x="956765" y="453986"/>
                      <a:pt x="1104730" y="605094"/>
                      <a:pt x="1103159" y="782391"/>
                    </a:cubicBezTo>
                    <a:cubicBezTo>
                      <a:pt x="1101588" y="967806"/>
                      <a:pt x="946551" y="1105558"/>
                      <a:pt x="777897" y="1105296"/>
                    </a:cubicBezTo>
                    <a:cubicBezTo>
                      <a:pt x="589077" y="1105296"/>
                      <a:pt x="453158" y="949474"/>
                      <a:pt x="451849" y="782915"/>
                    </a:cubicBezTo>
                    <a:cubicBezTo>
                      <a:pt x="450278" y="592000"/>
                      <a:pt x="605576" y="453986"/>
                      <a:pt x="778944" y="453986"/>
                    </a:cubicBez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grpSp>
        <p:nvGrpSpPr>
          <p:cNvPr id="26" name="Google Shape;2362;p128">
            <a:extLst>
              <a:ext uri="{FF2B5EF4-FFF2-40B4-BE49-F238E27FC236}">
                <a16:creationId xmlns:a16="http://schemas.microsoft.com/office/drawing/2014/main" id="{8486C99C-D90E-62A9-B482-F7F40C942CD4}"/>
              </a:ext>
            </a:extLst>
          </p:cNvPr>
          <p:cNvGrpSpPr/>
          <p:nvPr/>
        </p:nvGrpSpPr>
        <p:grpSpPr>
          <a:xfrm>
            <a:off x="8144437" y="3187797"/>
            <a:ext cx="848182" cy="848183"/>
            <a:chOff x="6866732" y="2934194"/>
            <a:chExt cx="1028100" cy="1028100"/>
          </a:xfrm>
        </p:grpSpPr>
        <p:sp>
          <p:nvSpPr>
            <p:cNvPr id="27" name="Google Shape;2363;p128">
              <a:extLst>
                <a:ext uri="{FF2B5EF4-FFF2-40B4-BE49-F238E27FC236}">
                  <a16:creationId xmlns:a16="http://schemas.microsoft.com/office/drawing/2014/main" id="{6A831C67-FC02-7E94-19E9-52B615AABC38}"/>
                </a:ext>
              </a:extLst>
            </p:cNvPr>
            <p:cNvSpPr/>
            <p:nvPr/>
          </p:nvSpPr>
          <p:spPr>
            <a:xfrm>
              <a:off x="6866732" y="2934194"/>
              <a:ext cx="1028100" cy="1028100"/>
            </a:xfrm>
            <a:prstGeom prst="ellipse">
              <a:avLst/>
            </a:prstGeom>
            <a:gradFill>
              <a:gsLst>
                <a:gs pos="0">
                  <a:schemeClr val="accent2"/>
                </a:gs>
                <a:gs pos="12000">
                  <a:schemeClr val="accent2"/>
                </a:gs>
                <a:gs pos="88000">
                  <a:schemeClr val="accent3"/>
                </a:gs>
                <a:gs pos="100000">
                  <a:schemeClr val="accent3"/>
                </a:gs>
              </a:gsLst>
              <a:lin ang="18900044" scaled="0"/>
            </a:gradFill>
            <a:ln w="9525" cap="flat" cmpd="sng">
              <a:solidFill>
                <a:srgbClr val="BFEFFF"/>
              </a:solidFill>
              <a:prstDash val="solid"/>
              <a:round/>
              <a:headEnd type="none" w="sm" len="sm"/>
              <a:tailEnd type="none" w="sm" len="sm"/>
            </a:ln>
            <a:effectLst>
              <a:outerShdw sx="120000" sy="120000" algn="ctr" rotWithShape="0">
                <a:srgbClr val="0098C7">
                  <a:alpha val="23140"/>
                </a:srgbClr>
              </a:outerShdw>
            </a:effectLst>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grpSp>
          <p:nvGrpSpPr>
            <p:cNvPr id="28" name="Google Shape;2364;p128">
              <a:extLst>
                <a:ext uri="{FF2B5EF4-FFF2-40B4-BE49-F238E27FC236}">
                  <a16:creationId xmlns:a16="http://schemas.microsoft.com/office/drawing/2014/main" id="{009C69B5-341C-3293-3927-F4C8C5B8F071}"/>
                </a:ext>
              </a:extLst>
            </p:cNvPr>
            <p:cNvGrpSpPr/>
            <p:nvPr/>
          </p:nvGrpSpPr>
          <p:grpSpPr>
            <a:xfrm>
              <a:off x="7046896" y="3157432"/>
              <a:ext cx="691715" cy="567607"/>
              <a:chOff x="4956119" y="3853309"/>
              <a:chExt cx="811586" cy="665971"/>
            </a:xfrm>
          </p:grpSpPr>
          <p:sp>
            <p:nvSpPr>
              <p:cNvPr id="29" name="Google Shape;2365;p128">
                <a:extLst>
                  <a:ext uri="{FF2B5EF4-FFF2-40B4-BE49-F238E27FC236}">
                    <a16:creationId xmlns:a16="http://schemas.microsoft.com/office/drawing/2014/main" id="{0AEBB1B8-4422-D5BB-C607-876401926873}"/>
                  </a:ext>
                </a:extLst>
              </p:cNvPr>
              <p:cNvSpPr/>
              <p:nvPr/>
            </p:nvSpPr>
            <p:spPr>
              <a:xfrm>
                <a:off x="4956119" y="3853309"/>
                <a:ext cx="811586" cy="543948"/>
              </a:xfrm>
              <a:custGeom>
                <a:avLst/>
                <a:gdLst/>
                <a:ahLst/>
                <a:cxnLst/>
                <a:rect l="l" t="t" r="r" b="b"/>
                <a:pathLst>
                  <a:path w="811586" h="543948" extrusionOk="0">
                    <a:moveTo>
                      <a:pt x="687804" y="209598"/>
                    </a:moveTo>
                    <a:cubicBezTo>
                      <a:pt x="677737" y="142158"/>
                      <a:pt x="627157" y="98977"/>
                      <a:pt x="555593" y="97643"/>
                    </a:cubicBezTo>
                    <a:cubicBezTo>
                      <a:pt x="515201" y="36328"/>
                      <a:pt x="446184" y="0"/>
                      <a:pt x="369223" y="0"/>
                    </a:cubicBezTo>
                    <a:cubicBezTo>
                      <a:pt x="255448" y="0"/>
                      <a:pt x="160655" y="85574"/>
                      <a:pt x="147859" y="197165"/>
                    </a:cubicBezTo>
                    <a:cubicBezTo>
                      <a:pt x="63923" y="209901"/>
                      <a:pt x="0" y="283103"/>
                      <a:pt x="0" y="369223"/>
                    </a:cubicBezTo>
                    <a:cubicBezTo>
                      <a:pt x="0" y="455342"/>
                      <a:pt x="70109" y="535276"/>
                      <a:pt x="159564" y="542675"/>
                    </a:cubicBezTo>
                    <a:lnTo>
                      <a:pt x="174968" y="543948"/>
                    </a:lnTo>
                    <a:lnTo>
                      <a:pt x="214632" y="543948"/>
                    </a:lnTo>
                    <a:lnTo>
                      <a:pt x="214632" y="488759"/>
                    </a:lnTo>
                    <a:lnTo>
                      <a:pt x="179517" y="488759"/>
                    </a:lnTo>
                    <a:lnTo>
                      <a:pt x="164112" y="487485"/>
                    </a:lnTo>
                    <a:cubicBezTo>
                      <a:pt x="103101" y="482452"/>
                      <a:pt x="55311" y="430477"/>
                      <a:pt x="55311" y="369162"/>
                    </a:cubicBezTo>
                    <a:cubicBezTo>
                      <a:pt x="55311" y="303723"/>
                      <a:pt x="108559" y="250475"/>
                      <a:pt x="173998" y="250475"/>
                    </a:cubicBezTo>
                    <a:lnTo>
                      <a:pt x="201653" y="250475"/>
                    </a:lnTo>
                    <a:lnTo>
                      <a:pt x="201653" y="222819"/>
                    </a:lnTo>
                    <a:cubicBezTo>
                      <a:pt x="201653" y="130453"/>
                      <a:pt x="276796" y="55311"/>
                      <a:pt x="369162" y="55311"/>
                    </a:cubicBezTo>
                    <a:cubicBezTo>
                      <a:pt x="432054" y="55311"/>
                      <a:pt x="486818" y="86483"/>
                      <a:pt x="515747" y="138640"/>
                    </a:cubicBezTo>
                    <a:lnTo>
                      <a:pt x="523692" y="152893"/>
                    </a:lnTo>
                    <a:lnTo>
                      <a:pt x="552196" y="152893"/>
                    </a:lnTo>
                    <a:cubicBezTo>
                      <a:pt x="628370" y="152893"/>
                      <a:pt x="634313" y="215724"/>
                      <a:pt x="634313" y="235009"/>
                    </a:cubicBezTo>
                    <a:lnTo>
                      <a:pt x="634313" y="262665"/>
                    </a:lnTo>
                    <a:lnTo>
                      <a:pt x="661969" y="262665"/>
                    </a:lnTo>
                    <a:cubicBezTo>
                      <a:pt x="715763" y="262665"/>
                      <a:pt x="756276" y="308454"/>
                      <a:pt x="756276" y="369162"/>
                    </a:cubicBezTo>
                    <a:cubicBezTo>
                      <a:pt x="756276" y="429870"/>
                      <a:pt x="708485" y="482452"/>
                      <a:pt x="647474" y="487485"/>
                    </a:cubicBezTo>
                    <a:lnTo>
                      <a:pt x="632069" y="488759"/>
                    </a:lnTo>
                    <a:lnTo>
                      <a:pt x="605627" y="488759"/>
                    </a:lnTo>
                    <a:lnTo>
                      <a:pt x="605627" y="543948"/>
                    </a:lnTo>
                    <a:lnTo>
                      <a:pt x="636618" y="543948"/>
                    </a:lnTo>
                    <a:lnTo>
                      <a:pt x="652022" y="542675"/>
                    </a:lnTo>
                    <a:cubicBezTo>
                      <a:pt x="741478" y="535276"/>
                      <a:pt x="811586" y="459042"/>
                      <a:pt x="811586" y="369223"/>
                    </a:cubicBezTo>
                    <a:cubicBezTo>
                      <a:pt x="811586" y="287348"/>
                      <a:pt x="760218" y="222213"/>
                      <a:pt x="687744" y="209598"/>
                    </a:cubicBez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0" name="Google Shape;2366;p128">
                <a:extLst>
                  <a:ext uri="{FF2B5EF4-FFF2-40B4-BE49-F238E27FC236}">
                    <a16:creationId xmlns:a16="http://schemas.microsoft.com/office/drawing/2014/main" id="{A059845B-75F9-51FA-548C-D5CF2FF95093}"/>
                  </a:ext>
                </a:extLst>
              </p:cNvPr>
              <p:cNvSpPr/>
              <p:nvPr/>
            </p:nvSpPr>
            <p:spPr>
              <a:xfrm>
                <a:off x="5208292" y="4116762"/>
                <a:ext cx="318339" cy="402518"/>
              </a:xfrm>
              <a:custGeom>
                <a:avLst/>
                <a:gdLst/>
                <a:ahLst/>
                <a:cxnLst/>
                <a:rect l="l" t="t" r="r" b="b"/>
                <a:pathLst>
                  <a:path w="318339" h="402518" extrusionOk="0">
                    <a:moveTo>
                      <a:pt x="298386" y="164294"/>
                    </a:moveTo>
                    <a:lnTo>
                      <a:pt x="282497" y="164294"/>
                    </a:lnTo>
                    <a:lnTo>
                      <a:pt x="282497" y="115170"/>
                    </a:lnTo>
                    <a:cubicBezTo>
                      <a:pt x="282497" y="51611"/>
                      <a:pt x="222819" y="0"/>
                      <a:pt x="159139" y="0"/>
                    </a:cubicBezTo>
                    <a:cubicBezTo>
                      <a:pt x="95459" y="0"/>
                      <a:pt x="35782" y="51611"/>
                      <a:pt x="35782" y="115170"/>
                    </a:cubicBezTo>
                    <a:lnTo>
                      <a:pt x="35782" y="164294"/>
                    </a:lnTo>
                    <a:lnTo>
                      <a:pt x="19892" y="164294"/>
                    </a:lnTo>
                    <a:cubicBezTo>
                      <a:pt x="9279" y="164294"/>
                      <a:pt x="0" y="172239"/>
                      <a:pt x="0" y="184126"/>
                    </a:cubicBezTo>
                    <a:lnTo>
                      <a:pt x="0" y="382686"/>
                    </a:lnTo>
                    <a:cubicBezTo>
                      <a:pt x="0" y="393300"/>
                      <a:pt x="9279" y="402518"/>
                      <a:pt x="19892" y="402518"/>
                    </a:cubicBezTo>
                    <a:lnTo>
                      <a:pt x="298447" y="402518"/>
                    </a:lnTo>
                    <a:cubicBezTo>
                      <a:pt x="309060" y="402518"/>
                      <a:pt x="318339" y="393239"/>
                      <a:pt x="318339" y="382686"/>
                    </a:cubicBezTo>
                    <a:lnTo>
                      <a:pt x="318339" y="184126"/>
                    </a:lnTo>
                    <a:cubicBezTo>
                      <a:pt x="318339" y="172239"/>
                      <a:pt x="309060" y="164294"/>
                      <a:pt x="298447" y="164294"/>
                    </a:cubicBezTo>
                    <a:close/>
                    <a:moveTo>
                      <a:pt x="79570" y="115170"/>
                    </a:moveTo>
                    <a:cubicBezTo>
                      <a:pt x="79570" y="75446"/>
                      <a:pt x="119355" y="42393"/>
                      <a:pt x="159139" y="42393"/>
                    </a:cubicBezTo>
                    <a:cubicBezTo>
                      <a:pt x="198924" y="42393"/>
                      <a:pt x="238709" y="75506"/>
                      <a:pt x="238709" y="115170"/>
                    </a:cubicBezTo>
                    <a:lnTo>
                      <a:pt x="238709" y="164294"/>
                    </a:lnTo>
                    <a:lnTo>
                      <a:pt x="79570" y="164294"/>
                    </a:lnTo>
                    <a:lnTo>
                      <a:pt x="79570" y="115170"/>
                    </a:lnTo>
                    <a:close/>
                    <a:moveTo>
                      <a:pt x="188311" y="349633"/>
                    </a:moveTo>
                    <a:lnTo>
                      <a:pt x="124631" y="349633"/>
                    </a:lnTo>
                    <a:lnTo>
                      <a:pt x="140521" y="292685"/>
                    </a:lnTo>
                    <a:cubicBezTo>
                      <a:pt x="131241" y="287409"/>
                      <a:pt x="124631" y="276796"/>
                      <a:pt x="124631" y="264909"/>
                    </a:cubicBezTo>
                    <a:cubicBezTo>
                      <a:pt x="124631" y="247685"/>
                      <a:pt x="139247" y="231795"/>
                      <a:pt x="156471" y="231795"/>
                    </a:cubicBezTo>
                    <a:cubicBezTo>
                      <a:pt x="173695" y="231795"/>
                      <a:pt x="188311" y="246351"/>
                      <a:pt x="188311" y="263575"/>
                    </a:cubicBezTo>
                    <a:cubicBezTo>
                      <a:pt x="188311" y="275461"/>
                      <a:pt x="181700" y="287409"/>
                      <a:pt x="172421" y="292685"/>
                    </a:cubicBezTo>
                    <a:lnTo>
                      <a:pt x="188311" y="349633"/>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grpSp>
        <p:nvGrpSpPr>
          <p:cNvPr id="31" name="Google Shape;2367;p128">
            <a:extLst>
              <a:ext uri="{FF2B5EF4-FFF2-40B4-BE49-F238E27FC236}">
                <a16:creationId xmlns:a16="http://schemas.microsoft.com/office/drawing/2014/main" id="{3AA09540-CEB9-DA6E-CD48-C4530165685F}"/>
              </a:ext>
            </a:extLst>
          </p:cNvPr>
          <p:cNvGrpSpPr/>
          <p:nvPr/>
        </p:nvGrpSpPr>
        <p:grpSpPr>
          <a:xfrm>
            <a:off x="3890476" y="1357248"/>
            <a:ext cx="848182" cy="848183"/>
            <a:chOff x="9439535" y="2934194"/>
            <a:chExt cx="1028100" cy="1028100"/>
          </a:xfrm>
        </p:grpSpPr>
        <p:sp>
          <p:nvSpPr>
            <p:cNvPr id="32" name="Google Shape;2368;p128">
              <a:extLst>
                <a:ext uri="{FF2B5EF4-FFF2-40B4-BE49-F238E27FC236}">
                  <a16:creationId xmlns:a16="http://schemas.microsoft.com/office/drawing/2014/main" id="{99C60853-2D16-C71F-40F4-C954059D02B8}"/>
                </a:ext>
              </a:extLst>
            </p:cNvPr>
            <p:cNvSpPr/>
            <p:nvPr/>
          </p:nvSpPr>
          <p:spPr>
            <a:xfrm>
              <a:off x="9439535" y="2934194"/>
              <a:ext cx="1028100" cy="1028100"/>
            </a:xfrm>
            <a:prstGeom prst="ellipse">
              <a:avLst/>
            </a:prstGeom>
            <a:gradFill>
              <a:gsLst>
                <a:gs pos="0">
                  <a:srgbClr val="004463"/>
                </a:gs>
                <a:gs pos="56000">
                  <a:schemeClr val="accent1"/>
                </a:gs>
                <a:gs pos="100000">
                  <a:schemeClr val="accent1"/>
                </a:gs>
              </a:gsLst>
              <a:lin ang="18900044" scaled="0"/>
            </a:gradFill>
            <a:ln w="9525" cap="flat" cmpd="sng">
              <a:solidFill>
                <a:srgbClr val="B3F9FF"/>
              </a:solidFill>
              <a:prstDash val="solid"/>
              <a:round/>
              <a:headEnd type="none" w="sm" len="sm"/>
              <a:tailEnd type="none" w="sm" len="sm"/>
            </a:ln>
            <a:effectLst>
              <a:outerShdw sx="120000" sy="120000" algn="ctr" rotWithShape="0">
                <a:schemeClr val="accent3">
                  <a:alpha val="23140"/>
                </a:schemeClr>
              </a:outerShdw>
            </a:effectLst>
          </p:spPr>
          <p:txBody>
            <a:bodyPr spcFirstLastPara="1" wrap="square" lIns="68500" tIns="34250" rIns="68500"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grpSp>
          <p:nvGrpSpPr>
            <p:cNvPr id="33" name="Google Shape;2369;p128">
              <a:extLst>
                <a:ext uri="{FF2B5EF4-FFF2-40B4-BE49-F238E27FC236}">
                  <a16:creationId xmlns:a16="http://schemas.microsoft.com/office/drawing/2014/main" id="{1C8AF666-512B-7899-8C56-9582A2A004C1}"/>
                </a:ext>
              </a:extLst>
            </p:cNvPr>
            <p:cNvGrpSpPr/>
            <p:nvPr/>
          </p:nvGrpSpPr>
          <p:grpSpPr>
            <a:xfrm>
              <a:off x="9667212" y="3161808"/>
              <a:ext cx="572929" cy="572929"/>
              <a:chOff x="9610170" y="3132091"/>
              <a:chExt cx="630216" cy="630216"/>
            </a:xfrm>
          </p:grpSpPr>
          <p:grpSp>
            <p:nvGrpSpPr>
              <p:cNvPr id="34" name="Google Shape;2370;p128">
                <a:extLst>
                  <a:ext uri="{FF2B5EF4-FFF2-40B4-BE49-F238E27FC236}">
                    <a16:creationId xmlns:a16="http://schemas.microsoft.com/office/drawing/2014/main" id="{703B25F5-CB0B-1766-FA23-5B965146619F}"/>
                  </a:ext>
                </a:extLst>
              </p:cNvPr>
              <p:cNvGrpSpPr/>
              <p:nvPr/>
            </p:nvGrpSpPr>
            <p:grpSpPr>
              <a:xfrm>
                <a:off x="9610170" y="3132091"/>
                <a:ext cx="630216" cy="630216"/>
                <a:chOff x="1149364" y="1785894"/>
                <a:chExt cx="2719966" cy="2719966"/>
              </a:xfrm>
            </p:grpSpPr>
            <p:sp>
              <p:nvSpPr>
                <p:cNvPr id="88" name="Google Shape;2371;p128">
                  <a:extLst>
                    <a:ext uri="{FF2B5EF4-FFF2-40B4-BE49-F238E27FC236}">
                      <a16:creationId xmlns:a16="http://schemas.microsoft.com/office/drawing/2014/main" id="{4D58A877-7515-1BC7-0D88-749E32CA6A68}"/>
                    </a:ext>
                  </a:extLst>
                </p:cNvPr>
                <p:cNvSpPr/>
                <p:nvPr/>
              </p:nvSpPr>
              <p:spPr>
                <a:xfrm>
                  <a:off x="3662926" y="4299456"/>
                  <a:ext cx="206404" cy="206404"/>
                </a:xfrm>
                <a:custGeom>
                  <a:avLst/>
                  <a:gdLst/>
                  <a:ahLst/>
                  <a:cxnLst/>
                  <a:rect l="l" t="t" r="r" b="b"/>
                  <a:pathLst>
                    <a:path w="206404" h="206404" extrusionOk="0">
                      <a:moveTo>
                        <a:pt x="206404" y="206404"/>
                      </a:moveTo>
                      <a:lnTo>
                        <a:pt x="0" y="206404"/>
                      </a:lnTo>
                      <a:lnTo>
                        <a:pt x="0" y="73240"/>
                      </a:lnTo>
                      <a:lnTo>
                        <a:pt x="73240" y="73240"/>
                      </a:lnTo>
                      <a:lnTo>
                        <a:pt x="73240" y="0"/>
                      </a:lnTo>
                      <a:lnTo>
                        <a:pt x="206404" y="0"/>
                      </a:lnTo>
                      <a:lnTo>
                        <a:pt x="206404" y="206404"/>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9" name="Google Shape;2372;p128">
                  <a:extLst>
                    <a:ext uri="{FF2B5EF4-FFF2-40B4-BE49-F238E27FC236}">
                      <a16:creationId xmlns:a16="http://schemas.microsoft.com/office/drawing/2014/main" id="{5AA3D3F9-A5DE-9075-520C-FF579C164210}"/>
                    </a:ext>
                  </a:extLst>
                </p:cNvPr>
                <p:cNvSpPr/>
                <p:nvPr/>
              </p:nvSpPr>
              <p:spPr>
                <a:xfrm>
                  <a:off x="1499965" y="4372697"/>
                  <a:ext cx="2018763" cy="133163"/>
                </a:xfrm>
                <a:custGeom>
                  <a:avLst/>
                  <a:gdLst/>
                  <a:ahLst/>
                  <a:cxnLst/>
                  <a:rect l="l" t="t" r="r" b="b"/>
                  <a:pathLst>
                    <a:path w="2018763" h="133163" extrusionOk="0">
                      <a:moveTo>
                        <a:pt x="2018764" y="133164"/>
                      </a:moveTo>
                      <a:lnTo>
                        <a:pt x="1730369" y="133164"/>
                      </a:lnTo>
                      <a:lnTo>
                        <a:pt x="1730369" y="0"/>
                      </a:lnTo>
                      <a:lnTo>
                        <a:pt x="2018764" y="0"/>
                      </a:lnTo>
                      <a:lnTo>
                        <a:pt x="2018764" y="133164"/>
                      </a:lnTo>
                      <a:close/>
                      <a:moveTo>
                        <a:pt x="1586172" y="133164"/>
                      </a:moveTo>
                      <a:lnTo>
                        <a:pt x="1297777" y="133164"/>
                      </a:lnTo>
                      <a:lnTo>
                        <a:pt x="1297777" y="0"/>
                      </a:lnTo>
                      <a:lnTo>
                        <a:pt x="1586172" y="0"/>
                      </a:lnTo>
                      <a:lnTo>
                        <a:pt x="1586172" y="133164"/>
                      </a:lnTo>
                      <a:close/>
                      <a:moveTo>
                        <a:pt x="1153579" y="133164"/>
                      </a:moveTo>
                      <a:lnTo>
                        <a:pt x="865185" y="133164"/>
                      </a:lnTo>
                      <a:lnTo>
                        <a:pt x="865185" y="0"/>
                      </a:lnTo>
                      <a:lnTo>
                        <a:pt x="1153579" y="0"/>
                      </a:lnTo>
                      <a:lnTo>
                        <a:pt x="1153579" y="133164"/>
                      </a:lnTo>
                      <a:close/>
                      <a:moveTo>
                        <a:pt x="720987" y="133164"/>
                      </a:moveTo>
                      <a:lnTo>
                        <a:pt x="432592" y="133164"/>
                      </a:lnTo>
                      <a:lnTo>
                        <a:pt x="432592" y="0"/>
                      </a:lnTo>
                      <a:lnTo>
                        <a:pt x="720987" y="0"/>
                      </a:lnTo>
                      <a:lnTo>
                        <a:pt x="720987" y="133164"/>
                      </a:lnTo>
                      <a:close/>
                      <a:moveTo>
                        <a:pt x="288395" y="133164"/>
                      </a:moveTo>
                      <a:lnTo>
                        <a:pt x="0" y="133164"/>
                      </a:lnTo>
                      <a:lnTo>
                        <a:pt x="0" y="0"/>
                      </a:lnTo>
                      <a:lnTo>
                        <a:pt x="288395" y="0"/>
                      </a:lnTo>
                      <a:lnTo>
                        <a:pt x="288395" y="133164"/>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0" name="Google Shape;2373;p128">
                  <a:extLst>
                    <a:ext uri="{FF2B5EF4-FFF2-40B4-BE49-F238E27FC236}">
                      <a16:creationId xmlns:a16="http://schemas.microsoft.com/office/drawing/2014/main" id="{651EDF13-796B-EA15-CC67-57D5C644747E}"/>
                    </a:ext>
                  </a:extLst>
                </p:cNvPr>
                <p:cNvSpPr/>
                <p:nvPr/>
              </p:nvSpPr>
              <p:spPr>
                <a:xfrm>
                  <a:off x="1149364" y="4299456"/>
                  <a:ext cx="206403" cy="206404"/>
                </a:xfrm>
                <a:custGeom>
                  <a:avLst/>
                  <a:gdLst/>
                  <a:ahLst/>
                  <a:cxnLst/>
                  <a:rect l="l" t="t" r="r" b="b"/>
                  <a:pathLst>
                    <a:path w="206403" h="206404" extrusionOk="0">
                      <a:moveTo>
                        <a:pt x="206404" y="206404"/>
                      </a:moveTo>
                      <a:lnTo>
                        <a:pt x="0" y="206404"/>
                      </a:lnTo>
                      <a:lnTo>
                        <a:pt x="0" y="0"/>
                      </a:lnTo>
                      <a:lnTo>
                        <a:pt x="133164" y="0"/>
                      </a:lnTo>
                      <a:lnTo>
                        <a:pt x="133164" y="73240"/>
                      </a:lnTo>
                      <a:lnTo>
                        <a:pt x="206404" y="73240"/>
                      </a:lnTo>
                      <a:lnTo>
                        <a:pt x="206404" y="206404"/>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1" name="Google Shape;2374;p128">
                  <a:extLst>
                    <a:ext uri="{FF2B5EF4-FFF2-40B4-BE49-F238E27FC236}">
                      <a16:creationId xmlns:a16="http://schemas.microsoft.com/office/drawing/2014/main" id="{23AC7313-72B0-FD3E-ADC8-24D6197776FF}"/>
                    </a:ext>
                  </a:extLst>
                </p:cNvPr>
                <p:cNvSpPr/>
                <p:nvPr/>
              </p:nvSpPr>
              <p:spPr>
                <a:xfrm>
                  <a:off x="1149364" y="2136495"/>
                  <a:ext cx="133163" cy="2018763"/>
                </a:xfrm>
                <a:custGeom>
                  <a:avLst/>
                  <a:gdLst/>
                  <a:ahLst/>
                  <a:cxnLst/>
                  <a:rect l="l" t="t" r="r" b="b"/>
                  <a:pathLst>
                    <a:path w="133163" h="2018763" extrusionOk="0">
                      <a:moveTo>
                        <a:pt x="133164" y="2018764"/>
                      </a:moveTo>
                      <a:lnTo>
                        <a:pt x="0" y="2018764"/>
                      </a:lnTo>
                      <a:lnTo>
                        <a:pt x="0" y="1730369"/>
                      </a:lnTo>
                      <a:lnTo>
                        <a:pt x="133164" y="1730369"/>
                      </a:lnTo>
                      <a:lnTo>
                        <a:pt x="133164" y="2018764"/>
                      </a:lnTo>
                      <a:close/>
                      <a:moveTo>
                        <a:pt x="133164" y="1586172"/>
                      </a:moveTo>
                      <a:lnTo>
                        <a:pt x="0" y="1586172"/>
                      </a:lnTo>
                      <a:lnTo>
                        <a:pt x="0" y="1297777"/>
                      </a:lnTo>
                      <a:lnTo>
                        <a:pt x="133164" y="1297777"/>
                      </a:lnTo>
                      <a:lnTo>
                        <a:pt x="133164" y="1586172"/>
                      </a:lnTo>
                      <a:close/>
                      <a:moveTo>
                        <a:pt x="133164" y="1153579"/>
                      </a:moveTo>
                      <a:lnTo>
                        <a:pt x="0" y="1153579"/>
                      </a:lnTo>
                      <a:lnTo>
                        <a:pt x="0" y="865185"/>
                      </a:lnTo>
                      <a:lnTo>
                        <a:pt x="133164" y="865185"/>
                      </a:lnTo>
                      <a:lnTo>
                        <a:pt x="133164" y="1153579"/>
                      </a:lnTo>
                      <a:close/>
                      <a:moveTo>
                        <a:pt x="133164" y="720987"/>
                      </a:moveTo>
                      <a:lnTo>
                        <a:pt x="0" y="720987"/>
                      </a:lnTo>
                      <a:lnTo>
                        <a:pt x="0" y="432592"/>
                      </a:lnTo>
                      <a:lnTo>
                        <a:pt x="133164" y="432592"/>
                      </a:lnTo>
                      <a:lnTo>
                        <a:pt x="133164" y="720987"/>
                      </a:lnTo>
                      <a:close/>
                      <a:moveTo>
                        <a:pt x="133164" y="288395"/>
                      </a:moveTo>
                      <a:lnTo>
                        <a:pt x="0" y="288395"/>
                      </a:lnTo>
                      <a:lnTo>
                        <a:pt x="0" y="0"/>
                      </a:lnTo>
                      <a:lnTo>
                        <a:pt x="133164" y="0"/>
                      </a:lnTo>
                      <a:lnTo>
                        <a:pt x="133164" y="288395"/>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2" name="Google Shape;2375;p128">
                  <a:extLst>
                    <a:ext uri="{FF2B5EF4-FFF2-40B4-BE49-F238E27FC236}">
                      <a16:creationId xmlns:a16="http://schemas.microsoft.com/office/drawing/2014/main" id="{B2D4A2E4-89C4-61F4-1B93-9FA1E6B7F72E}"/>
                    </a:ext>
                  </a:extLst>
                </p:cNvPr>
                <p:cNvSpPr/>
                <p:nvPr/>
              </p:nvSpPr>
              <p:spPr>
                <a:xfrm>
                  <a:off x="1149364" y="1785894"/>
                  <a:ext cx="206403" cy="206403"/>
                </a:xfrm>
                <a:custGeom>
                  <a:avLst/>
                  <a:gdLst/>
                  <a:ahLst/>
                  <a:cxnLst/>
                  <a:rect l="l" t="t" r="r" b="b"/>
                  <a:pathLst>
                    <a:path w="206403" h="206403" extrusionOk="0">
                      <a:moveTo>
                        <a:pt x="133164" y="206404"/>
                      </a:moveTo>
                      <a:lnTo>
                        <a:pt x="0" y="206404"/>
                      </a:lnTo>
                      <a:lnTo>
                        <a:pt x="0" y="0"/>
                      </a:lnTo>
                      <a:lnTo>
                        <a:pt x="206404" y="0"/>
                      </a:lnTo>
                      <a:lnTo>
                        <a:pt x="206404" y="133164"/>
                      </a:lnTo>
                      <a:lnTo>
                        <a:pt x="133164" y="133164"/>
                      </a:lnTo>
                      <a:lnTo>
                        <a:pt x="133164" y="206404"/>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3" name="Google Shape;2376;p128">
                  <a:extLst>
                    <a:ext uri="{FF2B5EF4-FFF2-40B4-BE49-F238E27FC236}">
                      <a16:creationId xmlns:a16="http://schemas.microsoft.com/office/drawing/2014/main" id="{115018F8-133B-83C2-FE32-9191D889A504}"/>
                    </a:ext>
                  </a:extLst>
                </p:cNvPr>
                <p:cNvSpPr/>
                <p:nvPr/>
              </p:nvSpPr>
              <p:spPr>
                <a:xfrm>
                  <a:off x="1499965" y="1785894"/>
                  <a:ext cx="2018763" cy="133163"/>
                </a:xfrm>
                <a:custGeom>
                  <a:avLst/>
                  <a:gdLst/>
                  <a:ahLst/>
                  <a:cxnLst/>
                  <a:rect l="l" t="t" r="r" b="b"/>
                  <a:pathLst>
                    <a:path w="2018763" h="133163" extrusionOk="0">
                      <a:moveTo>
                        <a:pt x="2018764" y="133164"/>
                      </a:moveTo>
                      <a:lnTo>
                        <a:pt x="1730369" y="133164"/>
                      </a:lnTo>
                      <a:lnTo>
                        <a:pt x="1730369" y="0"/>
                      </a:lnTo>
                      <a:lnTo>
                        <a:pt x="2018764" y="0"/>
                      </a:lnTo>
                      <a:lnTo>
                        <a:pt x="2018764" y="133164"/>
                      </a:lnTo>
                      <a:close/>
                      <a:moveTo>
                        <a:pt x="1586172" y="133164"/>
                      </a:moveTo>
                      <a:lnTo>
                        <a:pt x="1297777" y="133164"/>
                      </a:lnTo>
                      <a:lnTo>
                        <a:pt x="1297777" y="0"/>
                      </a:lnTo>
                      <a:lnTo>
                        <a:pt x="1586172" y="0"/>
                      </a:lnTo>
                      <a:lnTo>
                        <a:pt x="1586172" y="133164"/>
                      </a:lnTo>
                      <a:close/>
                      <a:moveTo>
                        <a:pt x="1153579" y="133164"/>
                      </a:moveTo>
                      <a:lnTo>
                        <a:pt x="865185" y="133164"/>
                      </a:lnTo>
                      <a:lnTo>
                        <a:pt x="865185" y="0"/>
                      </a:lnTo>
                      <a:lnTo>
                        <a:pt x="1153579" y="0"/>
                      </a:lnTo>
                      <a:lnTo>
                        <a:pt x="1153579" y="133164"/>
                      </a:lnTo>
                      <a:close/>
                      <a:moveTo>
                        <a:pt x="720987" y="133164"/>
                      </a:moveTo>
                      <a:lnTo>
                        <a:pt x="432592" y="133164"/>
                      </a:lnTo>
                      <a:lnTo>
                        <a:pt x="432592" y="0"/>
                      </a:lnTo>
                      <a:lnTo>
                        <a:pt x="720987" y="0"/>
                      </a:lnTo>
                      <a:lnTo>
                        <a:pt x="720987" y="133164"/>
                      </a:lnTo>
                      <a:close/>
                      <a:moveTo>
                        <a:pt x="288395" y="133164"/>
                      </a:moveTo>
                      <a:lnTo>
                        <a:pt x="0" y="133164"/>
                      </a:lnTo>
                      <a:lnTo>
                        <a:pt x="0" y="0"/>
                      </a:lnTo>
                      <a:lnTo>
                        <a:pt x="288395" y="0"/>
                      </a:lnTo>
                      <a:lnTo>
                        <a:pt x="288395" y="133164"/>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4" name="Google Shape;2377;p128">
                  <a:extLst>
                    <a:ext uri="{FF2B5EF4-FFF2-40B4-BE49-F238E27FC236}">
                      <a16:creationId xmlns:a16="http://schemas.microsoft.com/office/drawing/2014/main" id="{E7895B7C-E804-26BD-C654-BF8AB20C69F2}"/>
                    </a:ext>
                  </a:extLst>
                </p:cNvPr>
                <p:cNvSpPr/>
                <p:nvPr/>
              </p:nvSpPr>
              <p:spPr>
                <a:xfrm>
                  <a:off x="3662926" y="1785894"/>
                  <a:ext cx="206404" cy="206403"/>
                </a:xfrm>
                <a:custGeom>
                  <a:avLst/>
                  <a:gdLst/>
                  <a:ahLst/>
                  <a:cxnLst/>
                  <a:rect l="l" t="t" r="r" b="b"/>
                  <a:pathLst>
                    <a:path w="206404" h="206403" extrusionOk="0">
                      <a:moveTo>
                        <a:pt x="206404" y="206404"/>
                      </a:moveTo>
                      <a:lnTo>
                        <a:pt x="73240" y="206404"/>
                      </a:lnTo>
                      <a:lnTo>
                        <a:pt x="73240" y="133164"/>
                      </a:lnTo>
                      <a:lnTo>
                        <a:pt x="0" y="133164"/>
                      </a:lnTo>
                      <a:lnTo>
                        <a:pt x="0" y="0"/>
                      </a:lnTo>
                      <a:lnTo>
                        <a:pt x="206404" y="0"/>
                      </a:lnTo>
                      <a:lnTo>
                        <a:pt x="206404" y="206404"/>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5" name="Google Shape;2378;p128">
                  <a:extLst>
                    <a:ext uri="{FF2B5EF4-FFF2-40B4-BE49-F238E27FC236}">
                      <a16:creationId xmlns:a16="http://schemas.microsoft.com/office/drawing/2014/main" id="{84582D32-1834-A020-EC7A-3B25A020FFFF}"/>
                    </a:ext>
                  </a:extLst>
                </p:cNvPr>
                <p:cNvSpPr/>
                <p:nvPr/>
              </p:nvSpPr>
              <p:spPr>
                <a:xfrm>
                  <a:off x="3736167" y="2136495"/>
                  <a:ext cx="133163" cy="2018763"/>
                </a:xfrm>
                <a:custGeom>
                  <a:avLst/>
                  <a:gdLst/>
                  <a:ahLst/>
                  <a:cxnLst/>
                  <a:rect l="l" t="t" r="r" b="b"/>
                  <a:pathLst>
                    <a:path w="133163" h="2018763" extrusionOk="0">
                      <a:moveTo>
                        <a:pt x="133164" y="2018764"/>
                      </a:moveTo>
                      <a:lnTo>
                        <a:pt x="0" y="2018764"/>
                      </a:lnTo>
                      <a:lnTo>
                        <a:pt x="0" y="1730369"/>
                      </a:lnTo>
                      <a:lnTo>
                        <a:pt x="133164" y="1730369"/>
                      </a:lnTo>
                      <a:lnTo>
                        <a:pt x="133164" y="2018764"/>
                      </a:lnTo>
                      <a:close/>
                      <a:moveTo>
                        <a:pt x="133164" y="1586172"/>
                      </a:moveTo>
                      <a:lnTo>
                        <a:pt x="0" y="1586172"/>
                      </a:lnTo>
                      <a:lnTo>
                        <a:pt x="0" y="1297777"/>
                      </a:lnTo>
                      <a:lnTo>
                        <a:pt x="133164" y="1297777"/>
                      </a:lnTo>
                      <a:lnTo>
                        <a:pt x="133164" y="1586172"/>
                      </a:lnTo>
                      <a:close/>
                      <a:moveTo>
                        <a:pt x="133164" y="1153579"/>
                      </a:moveTo>
                      <a:lnTo>
                        <a:pt x="0" y="1153579"/>
                      </a:lnTo>
                      <a:lnTo>
                        <a:pt x="0" y="865185"/>
                      </a:lnTo>
                      <a:lnTo>
                        <a:pt x="133164" y="865185"/>
                      </a:lnTo>
                      <a:lnTo>
                        <a:pt x="133164" y="1153579"/>
                      </a:lnTo>
                      <a:close/>
                      <a:moveTo>
                        <a:pt x="133164" y="720987"/>
                      </a:moveTo>
                      <a:lnTo>
                        <a:pt x="0" y="720987"/>
                      </a:lnTo>
                      <a:lnTo>
                        <a:pt x="0" y="432592"/>
                      </a:lnTo>
                      <a:lnTo>
                        <a:pt x="133164" y="432592"/>
                      </a:lnTo>
                      <a:lnTo>
                        <a:pt x="133164" y="720987"/>
                      </a:lnTo>
                      <a:close/>
                      <a:moveTo>
                        <a:pt x="133164" y="288395"/>
                      </a:moveTo>
                      <a:lnTo>
                        <a:pt x="0" y="288395"/>
                      </a:lnTo>
                      <a:lnTo>
                        <a:pt x="0" y="0"/>
                      </a:lnTo>
                      <a:lnTo>
                        <a:pt x="133164" y="0"/>
                      </a:lnTo>
                      <a:lnTo>
                        <a:pt x="133164" y="288395"/>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58" name="Google Shape;2379;p128">
                <a:extLst>
                  <a:ext uri="{FF2B5EF4-FFF2-40B4-BE49-F238E27FC236}">
                    <a16:creationId xmlns:a16="http://schemas.microsoft.com/office/drawing/2014/main" id="{5DADCD66-BB5F-94A3-EA6F-D1B6753D6BC2}"/>
                  </a:ext>
                </a:extLst>
              </p:cNvPr>
              <p:cNvGrpSpPr/>
              <p:nvPr/>
            </p:nvGrpSpPr>
            <p:grpSpPr>
              <a:xfrm>
                <a:off x="10066172" y="3224298"/>
                <a:ext cx="85135" cy="84910"/>
                <a:chOff x="3117431" y="2183863"/>
                <a:chExt cx="367435" cy="366463"/>
              </a:xfrm>
            </p:grpSpPr>
            <p:sp>
              <p:nvSpPr>
                <p:cNvPr id="72" name="Google Shape;2380;p128">
                  <a:extLst>
                    <a:ext uri="{FF2B5EF4-FFF2-40B4-BE49-F238E27FC236}">
                      <a16:creationId xmlns:a16="http://schemas.microsoft.com/office/drawing/2014/main" id="{DE541FA3-979E-F3BF-74BD-80E78A3C34D1}"/>
                    </a:ext>
                  </a:extLst>
                </p:cNvPr>
                <p:cNvSpPr/>
                <p:nvPr/>
              </p:nvSpPr>
              <p:spPr>
                <a:xfrm rot="-2693915">
                  <a:off x="3088785" y="2383616"/>
                  <a:ext cx="334406" cy="57001"/>
                </a:xfrm>
                <a:custGeom>
                  <a:avLst/>
                  <a:gdLst/>
                  <a:ahLst/>
                  <a:cxnLst/>
                  <a:rect l="l" t="t" r="r" b="b"/>
                  <a:pathLst>
                    <a:path w="334811" h="57070" extrusionOk="0">
                      <a:moveTo>
                        <a:pt x="0" y="0"/>
                      </a:moveTo>
                      <a:lnTo>
                        <a:pt x="334812" y="0"/>
                      </a:lnTo>
                      <a:lnTo>
                        <a:pt x="334812" y="57070"/>
                      </a:lnTo>
                      <a:lnTo>
                        <a:pt x="0" y="57070"/>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7" name="Google Shape;2381;p128">
                  <a:extLst>
                    <a:ext uri="{FF2B5EF4-FFF2-40B4-BE49-F238E27FC236}">
                      <a16:creationId xmlns:a16="http://schemas.microsoft.com/office/drawing/2014/main" id="{4FC17AA6-4DC1-0319-C3DA-2C82B4A07F3C}"/>
                    </a:ext>
                  </a:extLst>
                </p:cNvPr>
                <p:cNvSpPr/>
                <p:nvPr/>
              </p:nvSpPr>
              <p:spPr>
                <a:xfrm>
                  <a:off x="3275990" y="2183863"/>
                  <a:ext cx="208876" cy="208686"/>
                </a:xfrm>
                <a:custGeom>
                  <a:avLst/>
                  <a:gdLst/>
                  <a:ahLst/>
                  <a:cxnLst/>
                  <a:rect l="l" t="t" r="r" b="b"/>
                  <a:pathLst>
                    <a:path w="208876" h="208686" extrusionOk="0">
                      <a:moveTo>
                        <a:pt x="0" y="55358"/>
                      </a:moveTo>
                      <a:lnTo>
                        <a:pt x="208877" y="0"/>
                      </a:lnTo>
                      <a:lnTo>
                        <a:pt x="152568" y="208687"/>
                      </a:lnTo>
                      <a:lnTo>
                        <a:pt x="0" y="55358"/>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59" name="Google Shape;2382;p128">
                <a:extLst>
                  <a:ext uri="{FF2B5EF4-FFF2-40B4-BE49-F238E27FC236}">
                    <a16:creationId xmlns:a16="http://schemas.microsoft.com/office/drawing/2014/main" id="{300B7866-EDC8-E19D-F1E3-0AE50CAAACC3}"/>
                  </a:ext>
                </a:extLst>
              </p:cNvPr>
              <p:cNvGrpSpPr/>
              <p:nvPr/>
            </p:nvGrpSpPr>
            <p:grpSpPr>
              <a:xfrm>
                <a:off x="10070500" y="3590761"/>
                <a:ext cx="83761" cy="83393"/>
                <a:chOff x="3136107" y="3765472"/>
                <a:chExt cx="361506" cy="359919"/>
              </a:xfrm>
            </p:grpSpPr>
            <p:sp>
              <p:nvSpPr>
                <p:cNvPr id="70" name="Google Shape;2383;p128">
                  <a:extLst>
                    <a:ext uri="{FF2B5EF4-FFF2-40B4-BE49-F238E27FC236}">
                      <a16:creationId xmlns:a16="http://schemas.microsoft.com/office/drawing/2014/main" id="{FA83A14E-0348-4271-2EE0-868407F623F6}"/>
                    </a:ext>
                  </a:extLst>
                </p:cNvPr>
                <p:cNvSpPr/>
                <p:nvPr/>
              </p:nvSpPr>
              <p:spPr>
                <a:xfrm rot="-2706085">
                  <a:off x="3243068" y="3737764"/>
                  <a:ext cx="57001" cy="325666"/>
                </a:xfrm>
                <a:custGeom>
                  <a:avLst/>
                  <a:gdLst/>
                  <a:ahLst/>
                  <a:cxnLst/>
                  <a:rect l="l" t="t" r="r" b="b"/>
                  <a:pathLst>
                    <a:path w="57070" h="326061" extrusionOk="0">
                      <a:moveTo>
                        <a:pt x="0" y="0"/>
                      </a:moveTo>
                      <a:lnTo>
                        <a:pt x="57070" y="0"/>
                      </a:lnTo>
                      <a:lnTo>
                        <a:pt x="57070" y="326061"/>
                      </a:lnTo>
                      <a:lnTo>
                        <a:pt x="0" y="326061"/>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1" name="Google Shape;2384;p128">
                  <a:extLst>
                    <a:ext uri="{FF2B5EF4-FFF2-40B4-BE49-F238E27FC236}">
                      <a16:creationId xmlns:a16="http://schemas.microsoft.com/office/drawing/2014/main" id="{89C778A1-BD7E-5F4A-38CC-0E7F6E8F884E}"/>
                    </a:ext>
                  </a:extLst>
                </p:cNvPr>
                <p:cNvSpPr/>
                <p:nvPr/>
              </p:nvSpPr>
              <p:spPr>
                <a:xfrm>
                  <a:off x="3288546" y="3916705"/>
                  <a:ext cx="209067" cy="208686"/>
                </a:xfrm>
                <a:custGeom>
                  <a:avLst/>
                  <a:gdLst/>
                  <a:ahLst/>
                  <a:cxnLst/>
                  <a:rect l="l" t="t" r="r" b="b"/>
                  <a:pathLst>
                    <a:path w="209067" h="208686" extrusionOk="0">
                      <a:moveTo>
                        <a:pt x="152568" y="0"/>
                      </a:moveTo>
                      <a:lnTo>
                        <a:pt x="209067" y="208687"/>
                      </a:lnTo>
                      <a:lnTo>
                        <a:pt x="0" y="153138"/>
                      </a:lnTo>
                      <a:lnTo>
                        <a:pt x="152568" y="0"/>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60" name="Google Shape;2385;p128">
                <a:extLst>
                  <a:ext uri="{FF2B5EF4-FFF2-40B4-BE49-F238E27FC236}">
                    <a16:creationId xmlns:a16="http://schemas.microsoft.com/office/drawing/2014/main" id="{4B05CE35-A63D-DA8A-B76D-3A5D8C6C1CDD}"/>
                  </a:ext>
                </a:extLst>
              </p:cNvPr>
              <p:cNvGrpSpPr/>
              <p:nvPr/>
            </p:nvGrpSpPr>
            <p:grpSpPr>
              <a:xfrm>
                <a:off x="9714192" y="3230869"/>
                <a:ext cx="85705" cy="85492"/>
                <a:chOff x="1598316" y="2212208"/>
                <a:chExt cx="369897" cy="368977"/>
              </a:xfrm>
            </p:grpSpPr>
            <p:sp>
              <p:nvSpPr>
                <p:cNvPr id="68" name="Google Shape;2386;p128">
                  <a:extLst>
                    <a:ext uri="{FF2B5EF4-FFF2-40B4-BE49-F238E27FC236}">
                      <a16:creationId xmlns:a16="http://schemas.microsoft.com/office/drawing/2014/main" id="{B1721C18-ED86-B511-1353-C1C7FCDC7C14}"/>
                    </a:ext>
                  </a:extLst>
                </p:cNvPr>
                <p:cNvSpPr/>
                <p:nvPr/>
              </p:nvSpPr>
              <p:spPr>
                <a:xfrm rot="-2706085">
                  <a:off x="1799743" y="2272370"/>
                  <a:ext cx="57001" cy="338396"/>
                </a:xfrm>
                <a:custGeom>
                  <a:avLst/>
                  <a:gdLst/>
                  <a:ahLst/>
                  <a:cxnLst/>
                  <a:rect l="l" t="t" r="r" b="b"/>
                  <a:pathLst>
                    <a:path w="57070" h="338806" extrusionOk="0">
                      <a:moveTo>
                        <a:pt x="0" y="0"/>
                      </a:moveTo>
                      <a:lnTo>
                        <a:pt x="57070" y="0"/>
                      </a:lnTo>
                      <a:lnTo>
                        <a:pt x="57070" y="338807"/>
                      </a:lnTo>
                      <a:lnTo>
                        <a:pt x="0" y="338807"/>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9" name="Google Shape;2387;p128">
                  <a:extLst>
                    <a:ext uri="{FF2B5EF4-FFF2-40B4-BE49-F238E27FC236}">
                      <a16:creationId xmlns:a16="http://schemas.microsoft.com/office/drawing/2014/main" id="{02D3371B-3C5A-0F24-BD6B-0B24A1B662CD}"/>
                    </a:ext>
                  </a:extLst>
                </p:cNvPr>
                <p:cNvSpPr/>
                <p:nvPr/>
              </p:nvSpPr>
              <p:spPr>
                <a:xfrm>
                  <a:off x="1598316" y="2212208"/>
                  <a:ext cx="208876" cy="208686"/>
                </a:xfrm>
                <a:custGeom>
                  <a:avLst/>
                  <a:gdLst/>
                  <a:ahLst/>
                  <a:cxnLst/>
                  <a:rect l="l" t="t" r="r" b="b"/>
                  <a:pathLst>
                    <a:path w="208876" h="208686" extrusionOk="0">
                      <a:moveTo>
                        <a:pt x="56309" y="208687"/>
                      </a:moveTo>
                      <a:lnTo>
                        <a:pt x="0" y="0"/>
                      </a:lnTo>
                      <a:lnTo>
                        <a:pt x="208877" y="55548"/>
                      </a:lnTo>
                      <a:lnTo>
                        <a:pt x="56309" y="208687"/>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61" name="Google Shape;2388;p128">
                <a:extLst>
                  <a:ext uri="{FF2B5EF4-FFF2-40B4-BE49-F238E27FC236}">
                    <a16:creationId xmlns:a16="http://schemas.microsoft.com/office/drawing/2014/main" id="{A404D65D-5BDF-94A3-DB1A-634C7977B465}"/>
                  </a:ext>
                </a:extLst>
              </p:cNvPr>
              <p:cNvGrpSpPr/>
              <p:nvPr/>
            </p:nvGrpSpPr>
            <p:grpSpPr>
              <a:xfrm>
                <a:off x="9705421" y="3589182"/>
                <a:ext cx="84486" cy="84265"/>
                <a:chOff x="1560459" y="3758665"/>
                <a:chExt cx="364635" cy="363683"/>
              </a:xfrm>
            </p:grpSpPr>
            <p:sp>
              <p:nvSpPr>
                <p:cNvPr id="64" name="Google Shape;2389;p128">
                  <a:extLst>
                    <a:ext uri="{FF2B5EF4-FFF2-40B4-BE49-F238E27FC236}">
                      <a16:creationId xmlns:a16="http://schemas.microsoft.com/office/drawing/2014/main" id="{17C32594-AC36-7157-143A-63B9F747668C}"/>
                    </a:ext>
                  </a:extLst>
                </p:cNvPr>
                <p:cNvSpPr/>
                <p:nvPr/>
              </p:nvSpPr>
              <p:spPr>
                <a:xfrm rot="-2693915">
                  <a:off x="1622256" y="3867167"/>
                  <a:ext cx="330986" cy="57001"/>
                </a:xfrm>
                <a:custGeom>
                  <a:avLst/>
                  <a:gdLst/>
                  <a:ahLst/>
                  <a:cxnLst/>
                  <a:rect l="l" t="t" r="r" b="b"/>
                  <a:pathLst>
                    <a:path w="331387" h="57070" extrusionOk="0">
                      <a:moveTo>
                        <a:pt x="0" y="0"/>
                      </a:moveTo>
                      <a:lnTo>
                        <a:pt x="331388" y="0"/>
                      </a:lnTo>
                      <a:lnTo>
                        <a:pt x="331388" y="57070"/>
                      </a:lnTo>
                      <a:lnTo>
                        <a:pt x="0" y="57070"/>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5" name="Google Shape;2390;p128">
                  <a:extLst>
                    <a:ext uri="{FF2B5EF4-FFF2-40B4-BE49-F238E27FC236}">
                      <a16:creationId xmlns:a16="http://schemas.microsoft.com/office/drawing/2014/main" id="{925FF7E7-6F2F-697A-5E44-EC77B96E2273}"/>
                    </a:ext>
                  </a:extLst>
                </p:cNvPr>
                <p:cNvSpPr/>
                <p:nvPr/>
              </p:nvSpPr>
              <p:spPr>
                <a:xfrm>
                  <a:off x="1560459" y="3913471"/>
                  <a:ext cx="208876" cy="208877"/>
                </a:xfrm>
                <a:custGeom>
                  <a:avLst/>
                  <a:gdLst/>
                  <a:ahLst/>
                  <a:cxnLst/>
                  <a:rect l="l" t="t" r="r" b="b"/>
                  <a:pathLst>
                    <a:path w="208876" h="208877" extrusionOk="0">
                      <a:moveTo>
                        <a:pt x="208877" y="153329"/>
                      </a:moveTo>
                      <a:lnTo>
                        <a:pt x="0" y="208877"/>
                      </a:lnTo>
                      <a:lnTo>
                        <a:pt x="56309" y="0"/>
                      </a:lnTo>
                      <a:lnTo>
                        <a:pt x="208877" y="153329"/>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62" name="Google Shape;2391;p128">
                <a:extLst>
                  <a:ext uri="{FF2B5EF4-FFF2-40B4-BE49-F238E27FC236}">
                    <a16:creationId xmlns:a16="http://schemas.microsoft.com/office/drawing/2014/main" id="{4DB8D97F-6F51-CD4F-296E-73DFDD48BD2D}"/>
                  </a:ext>
                </a:extLst>
              </p:cNvPr>
              <p:cNvSpPr/>
              <p:nvPr/>
            </p:nvSpPr>
            <p:spPr>
              <a:xfrm>
                <a:off x="9712668" y="3327251"/>
                <a:ext cx="433404" cy="234814"/>
              </a:xfrm>
              <a:custGeom>
                <a:avLst/>
                <a:gdLst/>
                <a:ahLst/>
                <a:cxnLst/>
                <a:rect l="l" t="t" r="r" b="b"/>
                <a:pathLst>
                  <a:path w="1864103" h="1009952" extrusionOk="0">
                    <a:moveTo>
                      <a:pt x="1558588" y="975330"/>
                    </a:moveTo>
                    <a:lnTo>
                      <a:pt x="1864104" y="975330"/>
                    </a:lnTo>
                    <a:cubicBezTo>
                      <a:pt x="1864104" y="711856"/>
                      <a:pt x="1765372" y="476346"/>
                      <a:pt x="1608429" y="302853"/>
                    </a:cubicBezTo>
                    <a:lnTo>
                      <a:pt x="1788390" y="67343"/>
                    </a:lnTo>
                    <a:lnTo>
                      <a:pt x="1562773" y="255675"/>
                    </a:lnTo>
                    <a:cubicBezTo>
                      <a:pt x="1397460" y="96068"/>
                      <a:pt x="1179261" y="0"/>
                      <a:pt x="947366" y="0"/>
                    </a:cubicBezTo>
                    <a:cubicBezTo>
                      <a:pt x="427836" y="0"/>
                      <a:pt x="0" y="457132"/>
                      <a:pt x="0" y="1005577"/>
                    </a:cubicBezTo>
                    <a:lnTo>
                      <a:pt x="305516" y="1005577"/>
                    </a:lnTo>
                    <a:cubicBezTo>
                      <a:pt x="305516" y="639947"/>
                      <a:pt x="580594" y="304755"/>
                      <a:pt x="916738" y="304755"/>
                    </a:cubicBezTo>
                    <a:cubicBezTo>
                      <a:pt x="1064169" y="304755"/>
                      <a:pt x="1205513" y="363347"/>
                      <a:pt x="1317942" y="459986"/>
                    </a:cubicBezTo>
                    <a:lnTo>
                      <a:pt x="1183636" y="572034"/>
                    </a:lnTo>
                    <a:cubicBezTo>
                      <a:pt x="1110967" y="521432"/>
                      <a:pt x="1024791" y="492326"/>
                      <a:pt x="934620" y="492326"/>
                    </a:cubicBezTo>
                    <a:cubicBezTo>
                      <a:pt x="659732" y="492326"/>
                      <a:pt x="445909" y="735825"/>
                      <a:pt x="445909" y="1009953"/>
                    </a:cubicBezTo>
                    <a:lnTo>
                      <a:pt x="659732" y="1009953"/>
                    </a:lnTo>
                    <a:cubicBezTo>
                      <a:pt x="659732" y="827328"/>
                      <a:pt x="751425" y="705578"/>
                      <a:pt x="903992" y="705578"/>
                    </a:cubicBezTo>
                    <a:cubicBezTo>
                      <a:pt x="1056750" y="675141"/>
                      <a:pt x="1209318" y="827328"/>
                      <a:pt x="1209318" y="979515"/>
                    </a:cubicBezTo>
                    <a:lnTo>
                      <a:pt x="1392513" y="979515"/>
                    </a:lnTo>
                    <a:cubicBezTo>
                      <a:pt x="1392513" y="873365"/>
                      <a:pt x="1360364" y="776345"/>
                      <a:pt x="1306718" y="697398"/>
                    </a:cubicBezTo>
                    <a:lnTo>
                      <a:pt x="1412298" y="559098"/>
                    </a:lnTo>
                    <a:cubicBezTo>
                      <a:pt x="1502279" y="673999"/>
                      <a:pt x="1558207" y="819148"/>
                      <a:pt x="1558207" y="975330"/>
                    </a:cubicBez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pic>
        <p:nvPicPr>
          <p:cNvPr id="96" name="Graphic 95">
            <a:extLst>
              <a:ext uri="{FF2B5EF4-FFF2-40B4-BE49-F238E27FC236}">
                <a16:creationId xmlns:a16="http://schemas.microsoft.com/office/drawing/2014/main" id="{FBCB01FE-A754-9A9A-0C81-F73D683E4E5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40022" y="175664"/>
            <a:ext cx="759234" cy="759234"/>
          </a:xfrm>
          <a:prstGeom prst="rect">
            <a:avLst/>
          </a:prstGeom>
        </p:spPr>
      </p:pic>
      <p:sp>
        <p:nvSpPr>
          <p:cNvPr id="97" name="Title 96">
            <a:extLst>
              <a:ext uri="{FF2B5EF4-FFF2-40B4-BE49-F238E27FC236}">
                <a16:creationId xmlns:a16="http://schemas.microsoft.com/office/drawing/2014/main" id="{0370F308-A1A9-829D-F511-7079EBBBE575}"/>
              </a:ext>
            </a:extLst>
          </p:cNvPr>
          <p:cNvSpPr>
            <a:spLocks noGrp="1"/>
          </p:cNvSpPr>
          <p:nvPr>
            <p:ph type="title"/>
          </p:nvPr>
        </p:nvSpPr>
        <p:spPr>
          <a:xfrm>
            <a:off x="579809" y="412751"/>
            <a:ext cx="11001004" cy="381000"/>
          </a:xfrm>
        </p:spPr>
        <p:txBody>
          <a:bodyPr/>
          <a:lstStyle/>
          <a:p>
            <a:r>
              <a:rPr lang="en-US" dirty="0"/>
              <a:t>The Compute Engine of VMware Cloud Foundation</a:t>
            </a:r>
          </a:p>
        </p:txBody>
      </p:sp>
    </p:spTree>
    <p:extLst>
      <p:ext uri="{BB962C8B-B14F-4D97-AF65-F5344CB8AC3E}">
        <p14:creationId xmlns:p14="http://schemas.microsoft.com/office/powerpoint/2010/main" val="2513785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750"/>
                                        <p:tgtEl>
                                          <p:spTgt spid="57"/>
                                        </p:tgtEl>
                                      </p:cBhvr>
                                    </p:animEffect>
                                  </p:childTnLst>
                                </p:cTn>
                              </p:par>
                              <p:par>
                                <p:cTn id="8" presetID="6" presetClass="emph" presetSubtype="0" fill="hold" grpId="1" nodeType="withEffect">
                                  <p:stCondLst>
                                    <p:cond delay="0"/>
                                  </p:stCondLst>
                                  <p:childTnLst>
                                    <p:animScale>
                                      <p:cBhvr>
                                        <p:cTn id="9" dur="10" fill="hold"/>
                                        <p:tgtEl>
                                          <p:spTgt spid="57"/>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57"/>
                                        </p:tgtEl>
                                      </p:cBhvr>
                                      <p:by x="9999000" y="9999000"/>
                                    </p:animScale>
                                  </p:childTnLst>
                                </p:cTn>
                              </p:par>
                              <p:par>
                                <p:cTn id="12" presetID="10" presetClass="entr" presetSubtype="0" fill="hold" nodeType="withEffect">
                                  <p:stCondLst>
                                    <p:cond delay="250"/>
                                  </p:stCondLst>
                                  <p:childTnLst>
                                    <p:set>
                                      <p:cBhvr>
                                        <p:cTn id="13" dur="1" fill="hold">
                                          <p:stCondLst>
                                            <p:cond delay="0"/>
                                          </p:stCondLst>
                                        </p:cTn>
                                        <p:tgtEl>
                                          <p:spTgt spid="236"/>
                                        </p:tgtEl>
                                        <p:attrNameLst>
                                          <p:attrName>style.visibility</p:attrName>
                                        </p:attrNameLst>
                                      </p:cBhvr>
                                      <p:to>
                                        <p:strVal val="visible"/>
                                      </p:to>
                                    </p:set>
                                    <p:animEffect transition="in" filter="fade">
                                      <p:cBhvr>
                                        <p:cTn id="14" dur="750"/>
                                        <p:tgtEl>
                                          <p:spTgt spid="236"/>
                                        </p:tgtEl>
                                      </p:cBhvr>
                                    </p:animEffect>
                                  </p:childTnLst>
                                </p:cTn>
                              </p:par>
                              <p:par>
                                <p:cTn id="15" presetID="6" presetClass="emph" presetSubtype="0" fill="hold" nodeType="withEffect">
                                  <p:stCondLst>
                                    <p:cond delay="250"/>
                                  </p:stCondLst>
                                  <p:childTnLst>
                                    <p:animScale>
                                      <p:cBhvr>
                                        <p:cTn id="16" dur="10" fill="hold"/>
                                        <p:tgtEl>
                                          <p:spTgt spid="236"/>
                                        </p:tgtEl>
                                      </p:cBhvr>
                                      <p:by x="1000" y="1000"/>
                                    </p:animScale>
                                  </p:childTnLst>
                                </p:cTn>
                              </p:par>
                              <p:par>
                                <p:cTn id="17" presetID="6" presetClass="emph" presetSubtype="0" accel="33333" decel="66667" fill="hold" nodeType="withEffect">
                                  <p:stCondLst>
                                    <p:cond delay="250"/>
                                  </p:stCondLst>
                                  <p:childTnLst>
                                    <p:animScale>
                                      <p:cBhvr>
                                        <p:cTn id="18" dur="750" fill="hold"/>
                                        <p:tgtEl>
                                          <p:spTgt spid="236"/>
                                        </p:tgtEl>
                                      </p:cBhvr>
                                      <p:by x="9999000" y="9999000"/>
                                    </p:animScale>
                                  </p:childTnLst>
                                </p:cTn>
                              </p:par>
                              <p:par>
                                <p:cTn id="19" presetID="16" presetClass="entr" presetSubtype="37" fill="hold" nodeType="withEffect">
                                  <p:stCondLst>
                                    <p:cond delay="250"/>
                                  </p:stCondLst>
                                  <p:childTnLst>
                                    <p:set>
                                      <p:cBhvr>
                                        <p:cTn id="20" dur="1" fill="hold">
                                          <p:stCondLst>
                                            <p:cond delay="0"/>
                                          </p:stCondLst>
                                        </p:cTn>
                                        <p:tgtEl>
                                          <p:spTgt spid="212"/>
                                        </p:tgtEl>
                                        <p:attrNameLst>
                                          <p:attrName>style.visibility</p:attrName>
                                        </p:attrNameLst>
                                      </p:cBhvr>
                                      <p:to>
                                        <p:strVal val="visible"/>
                                      </p:to>
                                    </p:set>
                                    <p:animEffect transition="in" filter="barn(outVertical)">
                                      <p:cBhvr>
                                        <p:cTn id="21" dur="500"/>
                                        <p:tgtEl>
                                          <p:spTgt spid="212"/>
                                        </p:tgtEl>
                                      </p:cBhvr>
                                    </p:animEffect>
                                  </p:childTnLst>
                                </p:cTn>
                              </p:par>
                              <p:par>
                                <p:cTn id="22" presetID="10" presetClass="entr" presetSubtype="0" fill="hold" nodeType="withEffect">
                                  <p:stCondLst>
                                    <p:cond delay="800"/>
                                  </p:stCondLst>
                                  <p:childTnLst>
                                    <p:set>
                                      <p:cBhvr>
                                        <p:cTn id="23" dur="1" fill="hold">
                                          <p:stCondLst>
                                            <p:cond delay="0"/>
                                          </p:stCondLst>
                                        </p:cTn>
                                        <p:tgtEl>
                                          <p:spTgt spid="73"/>
                                        </p:tgtEl>
                                        <p:attrNameLst>
                                          <p:attrName>style.visibility</p:attrName>
                                        </p:attrNameLst>
                                      </p:cBhvr>
                                      <p:to>
                                        <p:strVal val="visible"/>
                                      </p:to>
                                    </p:set>
                                    <p:animEffect transition="in" filter="fade">
                                      <p:cBhvr>
                                        <p:cTn id="24" dur="250"/>
                                        <p:tgtEl>
                                          <p:spTgt spid="73"/>
                                        </p:tgtEl>
                                      </p:cBhvr>
                                    </p:animEffect>
                                  </p:childTnLst>
                                </p:cTn>
                              </p:par>
                              <p:par>
                                <p:cTn id="25" presetID="42" presetClass="path" presetSubtype="0" decel="100000" fill="hold" nodeType="withEffect">
                                  <p:stCondLst>
                                    <p:cond delay="800"/>
                                  </p:stCondLst>
                                  <p:childTnLst>
                                    <p:animMotion origin="layout" path="M 0.01666 -0.00046 L 3.75E-6 1.85185E-6 " pathEditMode="relative" rAng="0" ptsTypes="AA">
                                      <p:cBhvr>
                                        <p:cTn id="26" dur="500" fill="hold"/>
                                        <p:tgtEl>
                                          <p:spTgt spid="73"/>
                                        </p:tgtEl>
                                        <p:attrNameLst>
                                          <p:attrName>ppt_x</p:attrName>
                                          <p:attrName>ppt_y</p:attrName>
                                        </p:attrNameLst>
                                      </p:cBhvr>
                                      <p:rCtr x="-833" y="23"/>
                                    </p:animMotion>
                                  </p:childTnLst>
                                </p:cTn>
                              </p:par>
                              <p:par>
                                <p:cTn id="27" presetID="10" presetClass="entr" presetSubtype="0" fill="hold" nodeType="withEffect">
                                  <p:stCondLst>
                                    <p:cond delay="800"/>
                                  </p:stCondLst>
                                  <p:childTnLst>
                                    <p:set>
                                      <p:cBhvr>
                                        <p:cTn id="28" dur="1" fill="hold">
                                          <p:stCondLst>
                                            <p:cond delay="0"/>
                                          </p:stCondLst>
                                        </p:cTn>
                                        <p:tgtEl>
                                          <p:spTgt spid="76"/>
                                        </p:tgtEl>
                                        <p:attrNameLst>
                                          <p:attrName>style.visibility</p:attrName>
                                        </p:attrNameLst>
                                      </p:cBhvr>
                                      <p:to>
                                        <p:strVal val="visible"/>
                                      </p:to>
                                    </p:set>
                                    <p:animEffect transition="in" filter="fade">
                                      <p:cBhvr>
                                        <p:cTn id="29" dur="250"/>
                                        <p:tgtEl>
                                          <p:spTgt spid="76"/>
                                        </p:tgtEl>
                                      </p:cBhvr>
                                    </p:animEffect>
                                  </p:childTnLst>
                                </p:cTn>
                              </p:par>
                              <p:par>
                                <p:cTn id="30" presetID="42" presetClass="path" presetSubtype="0" decel="100000" fill="hold" nodeType="withEffect">
                                  <p:stCondLst>
                                    <p:cond delay="800"/>
                                  </p:stCondLst>
                                  <p:childTnLst>
                                    <p:animMotion origin="layout" path="M 0.01666 -0.00046 L 3.75E-6 1.85185E-6 " pathEditMode="relative" rAng="0" ptsTypes="AA">
                                      <p:cBhvr>
                                        <p:cTn id="31" dur="500" fill="hold"/>
                                        <p:tgtEl>
                                          <p:spTgt spid="76"/>
                                        </p:tgtEl>
                                        <p:attrNameLst>
                                          <p:attrName>ppt_x</p:attrName>
                                          <p:attrName>ppt_y</p:attrName>
                                        </p:attrNameLst>
                                      </p:cBhvr>
                                      <p:rCtr x="-833" y="23"/>
                                    </p:animMotion>
                                  </p:childTnLst>
                                </p:cTn>
                              </p:par>
                              <p:par>
                                <p:cTn id="32" presetID="10" presetClass="entr" presetSubtype="0" fill="hold" nodeType="withEffect">
                                  <p:stCondLst>
                                    <p:cond delay="800"/>
                                  </p:stCondLst>
                                  <p:childTnLst>
                                    <p:set>
                                      <p:cBhvr>
                                        <p:cTn id="33" dur="1" fill="hold">
                                          <p:stCondLst>
                                            <p:cond delay="0"/>
                                          </p:stCondLst>
                                        </p:cTn>
                                        <p:tgtEl>
                                          <p:spTgt spid="172"/>
                                        </p:tgtEl>
                                        <p:attrNameLst>
                                          <p:attrName>style.visibility</p:attrName>
                                        </p:attrNameLst>
                                      </p:cBhvr>
                                      <p:to>
                                        <p:strVal val="visible"/>
                                      </p:to>
                                    </p:set>
                                    <p:animEffect transition="in" filter="fade">
                                      <p:cBhvr>
                                        <p:cTn id="34" dur="250"/>
                                        <p:tgtEl>
                                          <p:spTgt spid="172"/>
                                        </p:tgtEl>
                                      </p:cBhvr>
                                    </p:animEffect>
                                  </p:childTnLst>
                                </p:cTn>
                              </p:par>
                              <p:par>
                                <p:cTn id="35" presetID="42" presetClass="path" presetSubtype="0" decel="100000" fill="hold" nodeType="withEffect">
                                  <p:stCondLst>
                                    <p:cond delay="800"/>
                                  </p:stCondLst>
                                  <p:childTnLst>
                                    <p:animMotion origin="layout" path="M -0.01719 -0.00023 L -1.25E-6 1.85185E-6 " pathEditMode="relative" rAng="0" ptsTypes="AA">
                                      <p:cBhvr>
                                        <p:cTn id="36" dur="500" fill="hold"/>
                                        <p:tgtEl>
                                          <p:spTgt spid="172"/>
                                        </p:tgtEl>
                                        <p:attrNameLst>
                                          <p:attrName>ppt_x</p:attrName>
                                          <p:attrName>ppt_y</p:attrName>
                                        </p:attrNameLst>
                                      </p:cBhvr>
                                      <p:rCtr x="859" y="0"/>
                                    </p:animMotion>
                                  </p:childTnLst>
                                </p:cTn>
                              </p:par>
                              <p:par>
                                <p:cTn id="37" presetID="10" presetClass="entr" presetSubtype="0" fill="hold" nodeType="withEffect">
                                  <p:stCondLst>
                                    <p:cond delay="50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250"/>
                                        <p:tgtEl>
                                          <p:spTgt spid="14"/>
                                        </p:tgtEl>
                                      </p:cBhvr>
                                    </p:animEffect>
                                  </p:childTnLst>
                                </p:cTn>
                              </p:par>
                              <p:par>
                                <p:cTn id="40" presetID="10" presetClass="entr" presetSubtype="0" fill="hold" nodeType="withEffect">
                                  <p:stCondLst>
                                    <p:cond delay="50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250"/>
                                        <p:tgtEl>
                                          <p:spTgt spid="26"/>
                                        </p:tgtEl>
                                      </p:cBhvr>
                                    </p:animEffect>
                                  </p:childTnLst>
                                </p:cTn>
                              </p:par>
                              <p:par>
                                <p:cTn id="43" presetID="10" presetClass="entr" presetSubtype="0" fill="hold" nodeType="withEffect">
                                  <p:stCondLst>
                                    <p:cond delay="50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2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7" grpId="1" animBg="1"/>
      <p:bldP spid="57" grpId="2"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7" name="Group 1236">
            <a:extLst>
              <a:ext uri="{FF2B5EF4-FFF2-40B4-BE49-F238E27FC236}">
                <a16:creationId xmlns:a16="http://schemas.microsoft.com/office/drawing/2014/main" id="{7609AEEC-3107-2F01-D5B7-0AA40EE555EE}"/>
              </a:ext>
            </a:extLst>
          </p:cNvPr>
          <p:cNvGrpSpPr/>
          <p:nvPr/>
        </p:nvGrpSpPr>
        <p:grpSpPr>
          <a:xfrm>
            <a:off x="1050926" y="2067803"/>
            <a:ext cx="296265" cy="1618377"/>
            <a:chOff x="1050926" y="2376658"/>
            <a:chExt cx="187325" cy="1309521"/>
          </a:xfrm>
        </p:grpSpPr>
        <p:cxnSp>
          <p:nvCxnSpPr>
            <p:cNvPr id="1126" name="Straight Connector 1125">
              <a:extLst>
                <a:ext uri="{FF2B5EF4-FFF2-40B4-BE49-F238E27FC236}">
                  <a16:creationId xmlns:a16="http://schemas.microsoft.com/office/drawing/2014/main" id="{AC041551-3E14-3C33-4BBD-BF717C358B54}"/>
                </a:ext>
                <a:ext uri="{C183D7F6-B498-43B3-948B-1728B52AA6E4}">
                  <adec:decorative xmlns:adec="http://schemas.microsoft.com/office/drawing/2017/decorative" val="1"/>
                </a:ext>
              </a:extLst>
            </p:cNvPr>
            <p:cNvCxnSpPr>
              <a:cxnSpLocks/>
            </p:cNvCxnSpPr>
            <p:nvPr/>
          </p:nvCxnSpPr>
          <p:spPr bwMode="gray">
            <a:xfrm>
              <a:off x="1063625" y="2411179"/>
              <a:ext cx="0" cy="1275000"/>
            </a:xfrm>
            <a:prstGeom prst="line">
              <a:avLst/>
            </a:prstGeom>
            <a:ln w="25400">
              <a:solidFill>
                <a:srgbClr val="4F9E2C"/>
              </a:solidFill>
              <a:prstDash val="sysDot"/>
              <a:miter lim="800000"/>
              <a:tailEnd type="none"/>
            </a:ln>
          </p:spPr>
          <p:style>
            <a:lnRef idx="1">
              <a:schemeClr val="accent1"/>
            </a:lnRef>
            <a:fillRef idx="0">
              <a:schemeClr val="accent1"/>
            </a:fillRef>
            <a:effectRef idx="0">
              <a:schemeClr val="accent1"/>
            </a:effectRef>
            <a:fontRef idx="minor">
              <a:schemeClr val="tx1"/>
            </a:fontRef>
          </p:style>
        </p:cxnSp>
        <p:cxnSp>
          <p:nvCxnSpPr>
            <p:cNvPr id="1236" name="Straight Connector 1235">
              <a:extLst>
                <a:ext uri="{FF2B5EF4-FFF2-40B4-BE49-F238E27FC236}">
                  <a16:creationId xmlns:a16="http://schemas.microsoft.com/office/drawing/2014/main" id="{DC89EECD-9597-5C92-1263-1A2D19791A09}"/>
                </a:ext>
              </a:extLst>
            </p:cNvPr>
            <p:cNvCxnSpPr/>
            <p:nvPr/>
          </p:nvCxnSpPr>
          <p:spPr bwMode="gray">
            <a:xfrm>
              <a:off x="1050926" y="2376658"/>
              <a:ext cx="187325" cy="0"/>
            </a:xfrm>
            <a:prstGeom prst="line">
              <a:avLst/>
            </a:prstGeom>
            <a:ln w="25400">
              <a:solidFill>
                <a:srgbClr val="4F9E2C"/>
              </a:solidFill>
              <a:prstDash val="sysDot"/>
              <a:miter lim="800000"/>
              <a:tailEnd type="none"/>
            </a:ln>
          </p:spPr>
          <p:style>
            <a:lnRef idx="1">
              <a:schemeClr val="accent1"/>
            </a:lnRef>
            <a:fillRef idx="0">
              <a:schemeClr val="accent1"/>
            </a:fillRef>
            <a:effectRef idx="0">
              <a:schemeClr val="accent1"/>
            </a:effectRef>
            <a:fontRef idx="minor">
              <a:schemeClr val="tx1"/>
            </a:fontRef>
          </p:style>
        </p:cxnSp>
      </p:grpSp>
      <p:sp>
        <p:nvSpPr>
          <p:cNvPr id="1233" name="Rectangle: Rounded Corners 1232">
            <a:extLst>
              <a:ext uri="{FF2B5EF4-FFF2-40B4-BE49-F238E27FC236}">
                <a16:creationId xmlns:a16="http://schemas.microsoft.com/office/drawing/2014/main" id="{7820C504-706E-B7EA-DA36-31A209D83639}"/>
              </a:ext>
            </a:extLst>
          </p:cNvPr>
          <p:cNvSpPr/>
          <p:nvPr/>
        </p:nvSpPr>
        <p:spPr>
          <a:xfrm>
            <a:off x="1319506" y="1207581"/>
            <a:ext cx="3357720" cy="2113641"/>
          </a:xfrm>
          <a:prstGeom prst="roundRect">
            <a:avLst>
              <a:gd name="adj" fmla="val 4326"/>
            </a:avLst>
          </a:prstGeom>
          <a:solidFill>
            <a:schemeClr val="bg1">
              <a:lumMod val="95000"/>
            </a:schemeClr>
          </a:solidFill>
          <a:ln w="254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119" name="Title 1118">
            <a:extLst>
              <a:ext uri="{FF2B5EF4-FFF2-40B4-BE49-F238E27FC236}">
                <a16:creationId xmlns:a16="http://schemas.microsoft.com/office/drawing/2014/main" id="{96DF718F-437E-74B4-1F34-E36AC150507F}"/>
              </a:ext>
            </a:extLst>
          </p:cNvPr>
          <p:cNvSpPr>
            <a:spLocks noGrp="1"/>
          </p:cNvSpPr>
          <p:nvPr>
            <p:ph type="title"/>
          </p:nvPr>
        </p:nvSpPr>
        <p:spPr>
          <a:xfrm>
            <a:off x="579809" y="412751"/>
            <a:ext cx="11001004" cy="381000"/>
          </a:xfrm>
        </p:spPr>
        <p:txBody>
          <a:bodyPr/>
          <a:lstStyle/>
          <a:p>
            <a:r>
              <a:rPr lang="en-US" dirty="0"/>
              <a:t>The Evolution from vSphere to Full-stack Private Cloud</a:t>
            </a:r>
          </a:p>
        </p:txBody>
      </p:sp>
      <p:sp>
        <p:nvSpPr>
          <p:cNvPr id="1125" name="Subtitle 9">
            <a:extLst>
              <a:ext uri="{FF2B5EF4-FFF2-40B4-BE49-F238E27FC236}">
                <a16:creationId xmlns:a16="http://schemas.microsoft.com/office/drawing/2014/main" id="{065ACFAE-A39A-3443-C227-403AF3AF6445}"/>
              </a:ext>
            </a:extLst>
          </p:cNvPr>
          <p:cNvSpPr txBox="1">
            <a:spLocks/>
          </p:cNvSpPr>
          <p:nvPr/>
        </p:nvSpPr>
        <p:spPr>
          <a:xfrm>
            <a:off x="1558513" y="1453179"/>
            <a:ext cx="3065942" cy="1167692"/>
          </a:xfrm>
          <a:prstGeom prst="rect">
            <a:avLst/>
          </a:prstGeom>
        </p:spPr>
        <p:txBody>
          <a:bodyPr vert="horz" wrap="square" lIns="0" tIns="0" rIns="0" bIns="0" rtlCol="0" anchor="t" anchorCtr="0">
            <a:spAutoFit/>
          </a:bodyPr>
          <a:lstStyle>
            <a:lvl1pPr marL="0" indent="0" algn="l" defTabSz="914400" rtl="0" eaLnBrk="1" latinLnBrk="0" hangingPunct="1">
              <a:lnSpc>
                <a:spcPct val="100000"/>
              </a:lnSpc>
              <a:spcBef>
                <a:spcPts val="0"/>
              </a:spcBef>
              <a:spcAft>
                <a:spcPts val="600"/>
              </a:spcAft>
              <a:buClr>
                <a:schemeClr val="tx1">
                  <a:lumMod val="60000"/>
                  <a:lumOff val="40000"/>
                </a:schemeClr>
              </a:buClr>
              <a:buSzPct val="90000"/>
              <a:buFont typeface="Arial" panose="020B06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0"/>
              </a:spcBef>
              <a:spcAft>
                <a:spcPts val="600"/>
              </a:spcAft>
              <a:buClr>
                <a:schemeClr val="bg2">
                  <a:lumMod val="25000"/>
                </a:schemeClr>
              </a:buClr>
              <a:buSzPct val="90000"/>
              <a:buFont typeface="Camphor Std" panose="020B0504030404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0"/>
              </a:spcBef>
              <a:spcAft>
                <a:spcPts val="600"/>
              </a:spcAft>
              <a:buClr>
                <a:schemeClr val="bg2">
                  <a:lumMod val="25000"/>
                </a:schemeClr>
              </a:buClr>
              <a:buSzPct val="90000"/>
              <a:buFont typeface="Camphor Std" panose="020B0504030404020204" pitchFamily="34" charset="0"/>
              <a:buNone/>
              <a:tabLst/>
              <a:defRPr sz="1600" kern="1200">
                <a:solidFill>
                  <a:schemeClr val="tx1"/>
                </a:solidFill>
                <a:latin typeface="+mn-lt"/>
                <a:ea typeface="+mn-ea"/>
                <a:cs typeface="+mn-cs"/>
              </a:defRPr>
            </a:lvl5pPr>
            <a:lvl6pPr marL="22860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tabLst/>
              <a:defRPr sz="1600" kern="1200">
                <a:solidFill>
                  <a:schemeClr val="tx1"/>
                </a:solidFill>
                <a:latin typeface="+mn-lt"/>
                <a:ea typeface="+mn-ea"/>
                <a:cs typeface="+mn-cs"/>
              </a:defRPr>
            </a:lvl6pPr>
            <a:lvl7pPr marL="2743200" indent="0" algn="ctr" defTabSz="914400" rtl="0" eaLnBrk="1" latinLnBrk="0" hangingPunct="1">
              <a:lnSpc>
                <a:spcPct val="100000"/>
              </a:lnSpc>
              <a:spcBef>
                <a:spcPts val="0"/>
              </a:spcBef>
              <a:spcAft>
                <a:spcPts val="600"/>
              </a:spcAft>
              <a:buClr>
                <a:schemeClr val="bg2">
                  <a:lumMod val="25000"/>
                </a:schemeClr>
              </a:buClr>
              <a:buSzPct val="90000"/>
              <a:buFont typeface="System Font Regular"/>
              <a:buNone/>
              <a:tabLst/>
              <a:defRPr sz="1600" kern="1200">
                <a:solidFill>
                  <a:schemeClr val="tx1"/>
                </a:solidFill>
                <a:latin typeface="+mn-lt"/>
                <a:ea typeface="+mn-ea"/>
                <a:cs typeface="+mn-cs"/>
              </a:defRPr>
            </a:lvl7pPr>
            <a:lvl8pPr marL="32004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tabLst/>
              <a:defRPr sz="1600" kern="1200">
                <a:solidFill>
                  <a:schemeClr val="tx1"/>
                </a:solidFill>
                <a:latin typeface="+mn-lt"/>
                <a:ea typeface="+mn-ea"/>
                <a:cs typeface="+mn-cs"/>
              </a:defRPr>
            </a:lvl8pPr>
            <a:lvl9pPr marL="3657600" indent="0" algn="ctr" defTabSz="914400" rtl="0" eaLnBrk="1" latinLnBrk="0" hangingPunct="1">
              <a:lnSpc>
                <a:spcPct val="100000"/>
              </a:lnSpc>
              <a:spcBef>
                <a:spcPts val="0"/>
              </a:spcBef>
              <a:spcAft>
                <a:spcPts val="600"/>
              </a:spcAft>
              <a:buClr>
                <a:schemeClr val="bg2">
                  <a:lumMod val="25000"/>
                </a:schemeClr>
              </a:buClr>
              <a:buSzPct val="90000"/>
              <a:buFont typeface="System Font Regular"/>
              <a:buNone/>
              <a:tabLst/>
              <a:defRPr sz="1600" kern="1200">
                <a:solidFill>
                  <a:schemeClr val="tx1"/>
                </a:solidFill>
                <a:latin typeface="+mn-lt"/>
                <a:ea typeface="+mn-ea"/>
                <a:cs typeface="+mn-cs"/>
              </a:defRPr>
            </a:lvl9pPr>
          </a:lstStyle>
          <a:p>
            <a:pPr>
              <a:lnSpc>
                <a:spcPct val="93000"/>
              </a:lnSpc>
            </a:pPr>
            <a:r>
              <a:rPr lang="en-US" sz="1600" dirty="0"/>
              <a:t>vSphere</a:t>
            </a:r>
          </a:p>
          <a:p>
            <a:pPr>
              <a:spcAft>
                <a:spcPts val="1200"/>
              </a:spcAft>
            </a:pPr>
            <a:r>
              <a:rPr lang="en-US" sz="1400" dirty="0"/>
              <a:t>Integrates vCenter and ESX into a unified cloud platform that features live migration, resource pooling, and high availability.</a:t>
            </a:r>
          </a:p>
        </p:txBody>
      </p:sp>
      <p:cxnSp>
        <p:nvCxnSpPr>
          <p:cNvPr id="1104" name="Straight Connector 1103">
            <a:extLst>
              <a:ext uri="{FF2B5EF4-FFF2-40B4-BE49-F238E27FC236}">
                <a16:creationId xmlns:a16="http://schemas.microsoft.com/office/drawing/2014/main" id="{D9ED8E05-0068-BF8F-6C46-72C06E1208E3}"/>
              </a:ext>
              <a:ext uri="{C183D7F6-B498-43B3-948B-1728B52AA6E4}">
                <adec:decorative xmlns:adec="http://schemas.microsoft.com/office/drawing/2017/decorative" val="1"/>
              </a:ext>
            </a:extLst>
          </p:cNvPr>
          <p:cNvCxnSpPr>
            <a:cxnSpLocks/>
            <a:endCxn id="22" idx="4"/>
          </p:cNvCxnSpPr>
          <p:nvPr/>
        </p:nvCxnSpPr>
        <p:spPr bwMode="gray">
          <a:xfrm>
            <a:off x="7478882" y="3582458"/>
            <a:ext cx="2" cy="1854537"/>
          </a:xfrm>
          <a:prstGeom prst="line">
            <a:avLst/>
          </a:prstGeom>
          <a:ln w="25400">
            <a:solidFill>
              <a:srgbClr val="217EB3"/>
            </a:solidFill>
            <a:prstDash val="sysDot"/>
            <a:miter lim="800000"/>
            <a:tailEnd type="none"/>
          </a:ln>
        </p:spPr>
        <p:style>
          <a:lnRef idx="1">
            <a:schemeClr val="accent1"/>
          </a:lnRef>
          <a:fillRef idx="0">
            <a:schemeClr val="accent1"/>
          </a:fillRef>
          <a:effectRef idx="0">
            <a:schemeClr val="accent1"/>
          </a:effectRef>
          <a:fontRef idx="minor">
            <a:schemeClr val="tx1"/>
          </a:fontRef>
        </p:style>
      </p:cxnSp>
      <p:cxnSp>
        <p:nvCxnSpPr>
          <p:cNvPr id="1105" name="Straight Connector 1104">
            <a:extLst>
              <a:ext uri="{FF2B5EF4-FFF2-40B4-BE49-F238E27FC236}">
                <a16:creationId xmlns:a16="http://schemas.microsoft.com/office/drawing/2014/main" id="{D0BC9B65-0ED2-1852-02E6-0D7DEC3FD48C}"/>
              </a:ext>
              <a:ext uri="{C183D7F6-B498-43B3-948B-1728B52AA6E4}">
                <adec:decorative xmlns:adec="http://schemas.microsoft.com/office/drawing/2017/decorative" val="1"/>
              </a:ext>
            </a:extLst>
          </p:cNvPr>
          <p:cNvCxnSpPr>
            <a:cxnSpLocks/>
            <a:stCxn id="1159" idx="4"/>
          </p:cNvCxnSpPr>
          <p:nvPr/>
        </p:nvCxnSpPr>
        <p:spPr bwMode="gray">
          <a:xfrm flipH="1">
            <a:off x="5338694" y="1422850"/>
            <a:ext cx="860" cy="2448328"/>
          </a:xfrm>
          <a:prstGeom prst="line">
            <a:avLst/>
          </a:prstGeom>
          <a:ln w="25400">
            <a:solidFill>
              <a:srgbClr val="0293C0"/>
            </a:solidFill>
            <a:prstDash val="sysDot"/>
            <a:miter lim="800000"/>
            <a:tailEnd type="none"/>
          </a:ln>
        </p:spPr>
        <p:style>
          <a:lnRef idx="1">
            <a:schemeClr val="accent1"/>
          </a:lnRef>
          <a:fillRef idx="0">
            <a:schemeClr val="accent1"/>
          </a:fillRef>
          <a:effectRef idx="0">
            <a:schemeClr val="accent1"/>
          </a:effectRef>
          <a:fontRef idx="minor">
            <a:schemeClr val="tx1"/>
          </a:fontRef>
        </p:style>
      </p:cxnSp>
      <p:cxnSp>
        <p:nvCxnSpPr>
          <p:cNvPr id="1107" name="Straight Connector 1106">
            <a:extLst>
              <a:ext uri="{FF2B5EF4-FFF2-40B4-BE49-F238E27FC236}">
                <a16:creationId xmlns:a16="http://schemas.microsoft.com/office/drawing/2014/main" id="{4EBE2B7D-B953-8B69-E0AC-CE9544E15BEE}"/>
              </a:ext>
              <a:ext uri="{C183D7F6-B498-43B3-948B-1728B52AA6E4}">
                <adec:decorative xmlns:adec="http://schemas.microsoft.com/office/drawing/2017/decorative" val="1"/>
              </a:ext>
            </a:extLst>
          </p:cNvPr>
          <p:cNvCxnSpPr>
            <a:cxnSpLocks/>
            <a:stCxn id="1228" idx="4"/>
          </p:cNvCxnSpPr>
          <p:nvPr/>
        </p:nvCxnSpPr>
        <p:spPr bwMode="gray">
          <a:xfrm>
            <a:off x="9619072" y="1422850"/>
            <a:ext cx="0" cy="2250626"/>
          </a:xfrm>
          <a:prstGeom prst="line">
            <a:avLst/>
          </a:prstGeom>
          <a:ln w="25400">
            <a:solidFill>
              <a:srgbClr val="4B619F"/>
            </a:solidFill>
            <a:prstDash val="sysDot"/>
            <a:miter lim="800000"/>
            <a:tailEnd type="none"/>
          </a:ln>
        </p:spPr>
        <p:style>
          <a:lnRef idx="1">
            <a:schemeClr val="accent1"/>
          </a:lnRef>
          <a:fillRef idx="0">
            <a:schemeClr val="accent1"/>
          </a:fillRef>
          <a:effectRef idx="0">
            <a:schemeClr val="accent1"/>
          </a:effectRef>
          <a:fontRef idx="minor">
            <a:schemeClr val="tx1"/>
          </a:fontRef>
        </p:style>
      </p:cxnSp>
      <p:sp>
        <p:nvSpPr>
          <p:cNvPr id="1092" name="Freeform: Shape 1091">
            <a:extLst>
              <a:ext uri="{FF2B5EF4-FFF2-40B4-BE49-F238E27FC236}">
                <a16:creationId xmlns:a16="http://schemas.microsoft.com/office/drawing/2014/main" id="{BBA87113-608E-6DC9-41AC-56317073372A}"/>
              </a:ext>
            </a:extLst>
          </p:cNvPr>
          <p:cNvSpPr/>
          <p:nvPr/>
        </p:nvSpPr>
        <p:spPr>
          <a:xfrm>
            <a:off x="-1" y="3500966"/>
            <a:ext cx="11720421" cy="380999"/>
          </a:xfrm>
          <a:custGeom>
            <a:avLst/>
            <a:gdLst>
              <a:gd name="connsiteX0" fmla="*/ 0 w 10874594"/>
              <a:gd name="connsiteY0" fmla="*/ 0 h 274105"/>
              <a:gd name="connsiteX1" fmla="*/ 10155441 w 10874594"/>
              <a:gd name="connsiteY1" fmla="*/ 0 h 274105"/>
              <a:gd name="connsiteX2" fmla="*/ 10180300 w 10874594"/>
              <a:gd name="connsiteY2" fmla="*/ 0 h 274105"/>
              <a:gd name="connsiteX3" fmla="*/ 10751534 w 10874594"/>
              <a:gd name="connsiteY3" fmla="*/ 0 h 274105"/>
              <a:gd name="connsiteX4" fmla="*/ 10772876 w 10874594"/>
              <a:gd name="connsiteY4" fmla="*/ 9309 h 274105"/>
              <a:gd name="connsiteX5" fmla="*/ 10869704 w 10874594"/>
              <a:gd name="connsiteY5" fmla="*/ 124120 h 274105"/>
              <a:gd name="connsiteX6" fmla="*/ 10869704 w 10874594"/>
              <a:gd name="connsiteY6" fmla="*/ 149985 h 274105"/>
              <a:gd name="connsiteX7" fmla="*/ 10772876 w 10874594"/>
              <a:gd name="connsiteY7" fmla="*/ 264796 h 274105"/>
              <a:gd name="connsiteX8" fmla="*/ 10751534 w 10874594"/>
              <a:gd name="connsiteY8" fmla="*/ 274105 h 274105"/>
              <a:gd name="connsiteX9" fmla="*/ 10180300 w 10874594"/>
              <a:gd name="connsiteY9" fmla="*/ 274105 h 274105"/>
              <a:gd name="connsiteX10" fmla="*/ 10155441 w 10874594"/>
              <a:gd name="connsiteY10" fmla="*/ 274105 h 274105"/>
              <a:gd name="connsiteX11" fmla="*/ 0 w 10874594"/>
              <a:gd name="connsiteY11" fmla="*/ 274105 h 2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74594" h="274105">
                <a:moveTo>
                  <a:pt x="0" y="0"/>
                </a:moveTo>
                <a:lnTo>
                  <a:pt x="10155441" y="0"/>
                </a:lnTo>
                <a:lnTo>
                  <a:pt x="10180300" y="0"/>
                </a:lnTo>
                <a:lnTo>
                  <a:pt x="10751534" y="0"/>
                </a:lnTo>
                <a:cubicBezTo>
                  <a:pt x="10760011" y="0"/>
                  <a:pt x="10767961" y="3464"/>
                  <a:pt x="10772876" y="9309"/>
                </a:cubicBezTo>
                <a:lnTo>
                  <a:pt x="10869704" y="124120"/>
                </a:lnTo>
                <a:cubicBezTo>
                  <a:pt x="10876224" y="131856"/>
                  <a:pt x="10876224" y="142249"/>
                  <a:pt x="10869704" y="149985"/>
                </a:cubicBezTo>
                <a:lnTo>
                  <a:pt x="10772876" y="264796"/>
                </a:lnTo>
                <a:cubicBezTo>
                  <a:pt x="10767961" y="270641"/>
                  <a:pt x="10759986" y="274105"/>
                  <a:pt x="10751534" y="274105"/>
                </a:cubicBezTo>
                <a:lnTo>
                  <a:pt x="10180300" y="274105"/>
                </a:lnTo>
                <a:lnTo>
                  <a:pt x="10155441" y="274105"/>
                </a:lnTo>
                <a:lnTo>
                  <a:pt x="0" y="274105"/>
                </a:lnTo>
                <a:close/>
              </a:path>
            </a:pathLst>
          </a:custGeom>
          <a:gradFill>
            <a:gsLst>
              <a:gs pos="0">
                <a:schemeClr val="accent4"/>
              </a:gs>
              <a:gs pos="50000">
                <a:schemeClr val="accent3"/>
              </a:gs>
              <a:gs pos="100000">
                <a:schemeClr val="accent5"/>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093" name="Rectangle: Rounded Corners 1092">
            <a:extLst>
              <a:ext uri="{FF2B5EF4-FFF2-40B4-BE49-F238E27FC236}">
                <a16:creationId xmlns:a16="http://schemas.microsoft.com/office/drawing/2014/main" id="{B18A4DC6-4309-C13F-2137-08987F37EE8D}"/>
              </a:ext>
            </a:extLst>
          </p:cNvPr>
          <p:cNvSpPr/>
          <p:nvPr/>
        </p:nvSpPr>
        <p:spPr>
          <a:xfrm>
            <a:off x="666750" y="3582458"/>
            <a:ext cx="783133" cy="218015"/>
          </a:xfrm>
          <a:prstGeom prst="roundRect">
            <a:avLst>
              <a:gd name="adj" fmla="val 50000"/>
            </a:avLst>
          </a:prstGeom>
          <a:solidFill>
            <a:schemeClr val="tx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050" dirty="0">
                <a:solidFill>
                  <a:schemeClr val="bg1"/>
                </a:solidFill>
              </a:rPr>
              <a:t>2009</a:t>
            </a:r>
          </a:p>
        </p:txBody>
      </p:sp>
      <p:sp>
        <p:nvSpPr>
          <p:cNvPr id="1115" name="Rectangle: Rounded Corners 1114">
            <a:extLst>
              <a:ext uri="{FF2B5EF4-FFF2-40B4-BE49-F238E27FC236}">
                <a16:creationId xmlns:a16="http://schemas.microsoft.com/office/drawing/2014/main" id="{5B4A1712-29F1-FB16-9C31-E0A9DCC05FC3}"/>
              </a:ext>
            </a:extLst>
          </p:cNvPr>
          <p:cNvSpPr/>
          <p:nvPr/>
        </p:nvSpPr>
        <p:spPr>
          <a:xfrm>
            <a:off x="4947128" y="3582458"/>
            <a:ext cx="783133" cy="218015"/>
          </a:xfrm>
          <a:prstGeom prst="roundRect">
            <a:avLst>
              <a:gd name="adj" fmla="val 50000"/>
            </a:avLst>
          </a:prstGeom>
          <a:solidFill>
            <a:schemeClr val="tx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a:solidFill>
                  <a:schemeClr val="bg1"/>
                </a:solidFill>
              </a:rPr>
              <a:t>2014</a:t>
            </a:r>
          </a:p>
        </p:txBody>
      </p:sp>
      <p:sp>
        <p:nvSpPr>
          <p:cNvPr id="1116" name="Rectangle: Rounded Corners 1115">
            <a:extLst>
              <a:ext uri="{FF2B5EF4-FFF2-40B4-BE49-F238E27FC236}">
                <a16:creationId xmlns:a16="http://schemas.microsoft.com/office/drawing/2014/main" id="{1C7E8669-A8FC-E52E-AF49-28D186033CEB}"/>
              </a:ext>
            </a:extLst>
          </p:cNvPr>
          <p:cNvSpPr/>
          <p:nvPr/>
        </p:nvSpPr>
        <p:spPr>
          <a:xfrm>
            <a:off x="6973788" y="3582458"/>
            <a:ext cx="1011050" cy="218015"/>
          </a:xfrm>
          <a:prstGeom prst="roundRect">
            <a:avLst>
              <a:gd name="adj" fmla="val 50000"/>
            </a:avLst>
          </a:prstGeom>
          <a:solidFill>
            <a:schemeClr val="tx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chemeClr val="bg1"/>
                </a:solidFill>
              </a:rPr>
              <a:t>2017</a:t>
            </a:r>
          </a:p>
        </p:txBody>
      </p:sp>
      <p:sp>
        <p:nvSpPr>
          <p:cNvPr id="1117" name="Rectangle: Rounded Corners 1116">
            <a:extLst>
              <a:ext uri="{FF2B5EF4-FFF2-40B4-BE49-F238E27FC236}">
                <a16:creationId xmlns:a16="http://schemas.microsoft.com/office/drawing/2014/main" id="{478FE9D1-CB8F-1B15-5993-D7204022DBEE}"/>
              </a:ext>
            </a:extLst>
          </p:cNvPr>
          <p:cNvSpPr/>
          <p:nvPr/>
        </p:nvSpPr>
        <p:spPr>
          <a:xfrm>
            <a:off x="9113116" y="3582458"/>
            <a:ext cx="1011050" cy="218015"/>
          </a:xfrm>
          <a:prstGeom prst="roundRect">
            <a:avLst>
              <a:gd name="adj" fmla="val 50000"/>
            </a:avLst>
          </a:prstGeom>
          <a:solidFill>
            <a:schemeClr val="tx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chemeClr val="bg1"/>
                </a:solidFill>
              </a:rPr>
              <a:t>2025</a:t>
            </a:r>
          </a:p>
        </p:txBody>
      </p:sp>
      <p:sp>
        <p:nvSpPr>
          <p:cNvPr id="1133" name="Subtitle 9">
            <a:extLst>
              <a:ext uri="{FF2B5EF4-FFF2-40B4-BE49-F238E27FC236}">
                <a16:creationId xmlns:a16="http://schemas.microsoft.com/office/drawing/2014/main" id="{59656E7D-5940-426F-6B27-EC1616EDF652}"/>
              </a:ext>
            </a:extLst>
          </p:cNvPr>
          <p:cNvSpPr txBox="1">
            <a:spLocks/>
          </p:cNvSpPr>
          <p:nvPr/>
        </p:nvSpPr>
        <p:spPr>
          <a:xfrm>
            <a:off x="5543995" y="2365177"/>
            <a:ext cx="2930160" cy="802656"/>
          </a:xfrm>
          <a:prstGeom prst="rect">
            <a:avLst/>
          </a:prstGeom>
        </p:spPr>
        <p:txBody>
          <a:bodyPr vert="horz" wrap="square" lIns="0" tIns="0" rIns="0" bIns="0" rtlCol="0" anchor="t" anchorCtr="0">
            <a:spAutoFit/>
          </a:bodyPr>
          <a:lstStyle>
            <a:lvl1pPr marL="0" indent="0" algn="l" defTabSz="914400" rtl="0" eaLnBrk="1" latinLnBrk="0" hangingPunct="1">
              <a:lnSpc>
                <a:spcPct val="100000"/>
              </a:lnSpc>
              <a:spcBef>
                <a:spcPts val="0"/>
              </a:spcBef>
              <a:spcAft>
                <a:spcPts val="600"/>
              </a:spcAft>
              <a:buClr>
                <a:schemeClr val="tx1">
                  <a:lumMod val="60000"/>
                  <a:lumOff val="40000"/>
                </a:schemeClr>
              </a:buClr>
              <a:buSzPct val="90000"/>
              <a:buFont typeface="Arial" panose="020B06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0"/>
              </a:spcBef>
              <a:spcAft>
                <a:spcPts val="600"/>
              </a:spcAft>
              <a:buClr>
                <a:schemeClr val="bg2">
                  <a:lumMod val="25000"/>
                </a:schemeClr>
              </a:buClr>
              <a:buSzPct val="90000"/>
              <a:buFont typeface="Camphor Std" panose="020B0504030404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0"/>
              </a:spcBef>
              <a:spcAft>
                <a:spcPts val="600"/>
              </a:spcAft>
              <a:buClr>
                <a:schemeClr val="bg2">
                  <a:lumMod val="25000"/>
                </a:schemeClr>
              </a:buClr>
              <a:buSzPct val="90000"/>
              <a:buFont typeface="Camphor Std" panose="020B0504030404020204" pitchFamily="34" charset="0"/>
              <a:buNone/>
              <a:tabLst/>
              <a:defRPr sz="1600" kern="1200">
                <a:solidFill>
                  <a:schemeClr val="tx1"/>
                </a:solidFill>
                <a:latin typeface="+mn-lt"/>
                <a:ea typeface="+mn-ea"/>
                <a:cs typeface="+mn-cs"/>
              </a:defRPr>
            </a:lvl5pPr>
            <a:lvl6pPr marL="22860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tabLst/>
              <a:defRPr sz="1600" kern="1200">
                <a:solidFill>
                  <a:schemeClr val="tx1"/>
                </a:solidFill>
                <a:latin typeface="+mn-lt"/>
                <a:ea typeface="+mn-ea"/>
                <a:cs typeface="+mn-cs"/>
              </a:defRPr>
            </a:lvl6pPr>
            <a:lvl7pPr marL="2743200" indent="0" algn="ctr" defTabSz="914400" rtl="0" eaLnBrk="1" latinLnBrk="0" hangingPunct="1">
              <a:lnSpc>
                <a:spcPct val="100000"/>
              </a:lnSpc>
              <a:spcBef>
                <a:spcPts val="0"/>
              </a:spcBef>
              <a:spcAft>
                <a:spcPts val="600"/>
              </a:spcAft>
              <a:buClr>
                <a:schemeClr val="bg2">
                  <a:lumMod val="25000"/>
                </a:schemeClr>
              </a:buClr>
              <a:buSzPct val="90000"/>
              <a:buFont typeface="System Font Regular"/>
              <a:buNone/>
              <a:tabLst/>
              <a:defRPr sz="1600" kern="1200">
                <a:solidFill>
                  <a:schemeClr val="tx1"/>
                </a:solidFill>
                <a:latin typeface="+mn-lt"/>
                <a:ea typeface="+mn-ea"/>
                <a:cs typeface="+mn-cs"/>
              </a:defRPr>
            </a:lvl7pPr>
            <a:lvl8pPr marL="32004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tabLst/>
              <a:defRPr sz="1600" kern="1200">
                <a:solidFill>
                  <a:schemeClr val="tx1"/>
                </a:solidFill>
                <a:latin typeface="+mn-lt"/>
                <a:ea typeface="+mn-ea"/>
                <a:cs typeface="+mn-cs"/>
              </a:defRPr>
            </a:lvl8pPr>
            <a:lvl9pPr marL="3657600" indent="0" algn="ctr" defTabSz="914400" rtl="0" eaLnBrk="1" latinLnBrk="0" hangingPunct="1">
              <a:lnSpc>
                <a:spcPct val="100000"/>
              </a:lnSpc>
              <a:spcBef>
                <a:spcPts val="0"/>
              </a:spcBef>
              <a:spcAft>
                <a:spcPts val="600"/>
              </a:spcAft>
              <a:buClr>
                <a:schemeClr val="bg2">
                  <a:lumMod val="25000"/>
                </a:schemeClr>
              </a:buClr>
              <a:buSzPct val="90000"/>
              <a:buFont typeface="System Font Regular"/>
              <a:buNone/>
              <a:tabLst/>
              <a:defRPr sz="1600" kern="1200">
                <a:solidFill>
                  <a:schemeClr val="tx1"/>
                </a:solidFill>
                <a:latin typeface="+mn-lt"/>
                <a:ea typeface="+mn-ea"/>
                <a:cs typeface="+mn-cs"/>
              </a:defRPr>
            </a:lvl9pPr>
          </a:lstStyle>
          <a:p>
            <a:pPr>
              <a:lnSpc>
                <a:spcPct val="93000"/>
              </a:lnSpc>
            </a:pPr>
            <a:r>
              <a:rPr lang="en-US" sz="1200" b="1" dirty="0"/>
              <a:t>VMware vSAN</a:t>
            </a:r>
          </a:p>
          <a:p>
            <a:r>
              <a:rPr lang="en-US" sz="1200" dirty="0">
                <a:effectLst/>
              </a:rPr>
              <a:t>VMware’s 2014 HCI solution, vSAN, integrates storage with the hypervisor to streamline management and lower costs.</a:t>
            </a:r>
            <a:endParaRPr lang="en-US" sz="1200" dirty="0"/>
          </a:p>
        </p:txBody>
      </p:sp>
      <p:sp>
        <p:nvSpPr>
          <p:cNvPr id="1135" name="Subtitle 9">
            <a:extLst>
              <a:ext uri="{FF2B5EF4-FFF2-40B4-BE49-F238E27FC236}">
                <a16:creationId xmlns:a16="http://schemas.microsoft.com/office/drawing/2014/main" id="{4F2C4D04-EE95-6752-F032-43D5EDE9C50B}"/>
              </a:ext>
            </a:extLst>
          </p:cNvPr>
          <p:cNvSpPr txBox="1">
            <a:spLocks/>
          </p:cNvSpPr>
          <p:nvPr/>
        </p:nvSpPr>
        <p:spPr>
          <a:xfrm>
            <a:off x="5543995" y="1289469"/>
            <a:ext cx="3362558" cy="802656"/>
          </a:xfrm>
          <a:prstGeom prst="rect">
            <a:avLst/>
          </a:prstGeom>
        </p:spPr>
        <p:txBody>
          <a:bodyPr vert="horz" wrap="square" lIns="0" tIns="0" rIns="0" bIns="0" rtlCol="0" anchor="t" anchorCtr="0">
            <a:spAutoFit/>
          </a:bodyPr>
          <a:lstStyle>
            <a:lvl1pPr marL="0" indent="0" algn="l" defTabSz="914400" rtl="0" eaLnBrk="1" latinLnBrk="0" hangingPunct="1">
              <a:lnSpc>
                <a:spcPct val="100000"/>
              </a:lnSpc>
              <a:spcBef>
                <a:spcPts val="0"/>
              </a:spcBef>
              <a:spcAft>
                <a:spcPts val="600"/>
              </a:spcAft>
              <a:buClr>
                <a:schemeClr val="tx1">
                  <a:lumMod val="60000"/>
                  <a:lumOff val="40000"/>
                </a:schemeClr>
              </a:buClr>
              <a:buSzPct val="90000"/>
              <a:buFont typeface="Arial" panose="020B06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0"/>
              </a:spcBef>
              <a:spcAft>
                <a:spcPts val="600"/>
              </a:spcAft>
              <a:buClr>
                <a:schemeClr val="bg2">
                  <a:lumMod val="25000"/>
                </a:schemeClr>
              </a:buClr>
              <a:buSzPct val="90000"/>
              <a:buFont typeface="Camphor Std" panose="020B0504030404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0"/>
              </a:spcBef>
              <a:spcAft>
                <a:spcPts val="600"/>
              </a:spcAft>
              <a:buClr>
                <a:schemeClr val="bg2">
                  <a:lumMod val="25000"/>
                </a:schemeClr>
              </a:buClr>
              <a:buSzPct val="90000"/>
              <a:buFont typeface="Camphor Std" panose="020B0504030404020204" pitchFamily="34" charset="0"/>
              <a:buNone/>
              <a:tabLst/>
              <a:defRPr sz="1600" kern="1200">
                <a:solidFill>
                  <a:schemeClr val="tx1"/>
                </a:solidFill>
                <a:latin typeface="+mn-lt"/>
                <a:ea typeface="+mn-ea"/>
                <a:cs typeface="+mn-cs"/>
              </a:defRPr>
            </a:lvl5pPr>
            <a:lvl6pPr marL="22860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tabLst/>
              <a:defRPr sz="1600" kern="1200">
                <a:solidFill>
                  <a:schemeClr val="tx1"/>
                </a:solidFill>
                <a:latin typeface="+mn-lt"/>
                <a:ea typeface="+mn-ea"/>
                <a:cs typeface="+mn-cs"/>
              </a:defRPr>
            </a:lvl6pPr>
            <a:lvl7pPr marL="2743200" indent="0" algn="ctr" defTabSz="914400" rtl="0" eaLnBrk="1" latinLnBrk="0" hangingPunct="1">
              <a:lnSpc>
                <a:spcPct val="100000"/>
              </a:lnSpc>
              <a:spcBef>
                <a:spcPts val="0"/>
              </a:spcBef>
              <a:spcAft>
                <a:spcPts val="600"/>
              </a:spcAft>
              <a:buClr>
                <a:schemeClr val="bg2">
                  <a:lumMod val="25000"/>
                </a:schemeClr>
              </a:buClr>
              <a:buSzPct val="90000"/>
              <a:buFont typeface="System Font Regular"/>
              <a:buNone/>
              <a:tabLst/>
              <a:defRPr sz="1600" kern="1200">
                <a:solidFill>
                  <a:schemeClr val="tx1"/>
                </a:solidFill>
                <a:latin typeface="+mn-lt"/>
                <a:ea typeface="+mn-ea"/>
                <a:cs typeface="+mn-cs"/>
              </a:defRPr>
            </a:lvl7pPr>
            <a:lvl8pPr marL="32004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tabLst/>
              <a:defRPr sz="1600" kern="1200">
                <a:solidFill>
                  <a:schemeClr val="tx1"/>
                </a:solidFill>
                <a:latin typeface="+mn-lt"/>
                <a:ea typeface="+mn-ea"/>
                <a:cs typeface="+mn-cs"/>
              </a:defRPr>
            </a:lvl8pPr>
            <a:lvl9pPr marL="3657600" indent="0" algn="ctr" defTabSz="914400" rtl="0" eaLnBrk="1" latinLnBrk="0" hangingPunct="1">
              <a:lnSpc>
                <a:spcPct val="100000"/>
              </a:lnSpc>
              <a:spcBef>
                <a:spcPts val="0"/>
              </a:spcBef>
              <a:spcAft>
                <a:spcPts val="600"/>
              </a:spcAft>
              <a:buClr>
                <a:schemeClr val="bg2">
                  <a:lumMod val="25000"/>
                </a:schemeClr>
              </a:buClr>
              <a:buSzPct val="90000"/>
              <a:buFont typeface="System Font Regular"/>
              <a:buNone/>
              <a:tabLst/>
              <a:defRPr sz="1600" kern="1200">
                <a:solidFill>
                  <a:schemeClr val="tx1"/>
                </a:solidFill>
                <a:latin typeface="+mn-lt"/>
                <a:ea typeface="+mn-ea"/>
                <a:cs typeface="+mn-cs"/>
              </a:defRPr>
            </a:lvl9pPr>
          </a:lstStyle>
          <a:p>
            <a:pPr>
              <a:lnSpc>
                <a:spcPct val="93000"/>
              </a:lnSpc>
            </a:pPr>
            <a:r>
              <a:rPr lang="en-US" sz="1200" b="1" dirty="0"/>
              <a:t>Introduction of HCI</a:t>
            </a:r>
          </a:p>
          <a:p>
            <a:r>
              <a:rPr lang="en-US" sz="1200" dirty="0">
                <a:solidFill>
                  <a:schemeClr val="tx1"/>
                </a:solidFill>
              </a:rPr>
              <a:t>EVO:RAIL was VMware’s hyperconverged solution for simplifying the deployment and management of virtual environments.</a:t>
            </a:r>
            <a:endParaRPr lang="en-US" sz="1200" dirty="0"/>
          </a:p>
        </p:txBody>
      </p:sp>
      <p:sp>
        <p:nvSpPr>
          <p:cNvPr id="1138" name="Oval 1137">
            <a:extLst>
              <a:ext uri="{FF2B5EF4-FFF2-40B4-BE49-F238E27FC236}">
                <a16:creationId xmlns:a16="http://schemas.microsoft.com/office/drawing/2014/main" id="{85CE1BB2-3CC9-BD31-CEB6-E7D1C423DAF0}"/>
              </a:ext>
            </a:extLst>
          </p:cNvPr>
          <p:cNvSpPr/>
          <p:nvPr/>
        </p:nvSpPr>
        <p:spPr>
          <a:xfrm>
            <a:off x="1266733" y="2015031"/>
            <a:ext cx="105541" cy="105541"/>
          </a:xfrm>
          <a:prstGeom prst="ellipse">
            <a:avLst/>
          </a:prstGeom>
          <a:solidFill>
            <a:srgbClr val="4F9E2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cxnSp>
        <p:nvCxnSpPr>
          <p:cNvPr id="1101" name="Straight Connector 1100">
            <a:extLst>
              <a:ext uri="{FF2B5EF4-FFF2-40B4-BE49-F238E27FC236}">
                <a16:creationId xmlns:a16="http://schemas.microsoft.com/office/drawing/2014/main" id="{6135D40C-2B13-B59C-63DF-008EB1882D28}"/>
              </a:ext>
              <a:ext uri="{C183D7F6-B498-43B3-948B-1728B52AA6E4}">
                <adec:decorative xmlns:adec="http://schemas.microsoft.com/office/drawing/2017/decorative" val="1"/>
              </a:ext>
            </a:extLst>
          </p:cNvPr>
          <p:cNvCxnSpPr>
            <a:cxnSpLocks/>
          </p:cNvCxnSpPr>
          <p:nvPr/>
        </p:nvCxnSpPr>
        <p:spPr bwMode="gray">
          <a:xfrm>
            <a:off x="3198506" y="3793227"/>
            <a:ext cx="0" cy="1554480"/>
          </a:xfrm>
          <a:prstGeom prst="line">
            <a:avLst/>
          </a:prstGeom>
          <a:ln w="25400">
            <a:solidFill>
              <a:srgbClr val="2B9971"/>
            </a:solidFill>
            <a:prstDash val="sysDot"/>
            <a:miter lim="800000"/>
            <a:tailEnd type="none"/>
          </a:ln>
        </p:spPr>
        <p:style>
          <a:lnRef idx="1">
            <a:schemeClr val="accent1"/>
          </a:lnRef>
          <a:fillRef idx="0">
            <a:schemeClr val="accent1"/>
          </a:fillRef>
          <a:effectRef idx="0">
            <a:schemeClr val="accent1"/>
          </a:effectRef>
          <a:fontRef idx="minor">
            <a:schemeClr val="tx1"/>
          </a:fontRef>
        </p:style>
      </p:cxnSp>
      <p:sp>
        <p:nvSpPr>
          <p:cNvPr id="1113" name="Rectangle: Rounded Corners 1112">
            <a:extLst>
              <a:ext uri="{FF2B5EF4-FFF2-40B4-BE49-F238E27FC236}">
                <a16:creationId xmlns:a16="http://schemas.microsoft.com/office/drawing/2014/main" id="{A062B0EA-EE42-5612-6168-7973178E965B}"/>
              </a:ext>
            </a:extLst>
          </p:cNvPr>
          <p:cNvSpPr/>
          <p:nvPr/>
        </p:nvSpPr>
        <p:spPr>
          <a:xfrm>
            <a:off x="2806939" y="3582458"/>
            <a:ext cx="783133" cy="218015"/>
          </a:xfrm>
          <a:prstGeom prst="roundRect">
            <a:avLst>
              <a:gd name="adj" fmla="val 50000"/>
            </a:avLst>
          </a:prstGeom>
          <a:solidFill>
            <a:schemeClr val="tx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a:solidFill>
                  <a:schemeClr val="bg1"/>
                </a:solidFill>
              </a:rPr>
              <a:t>2012</a:t>
            </a:r>
          </a:p>
        </p:txBody>
      </p:sp>
      <p:sp>
        <p:nvSpPr>
          <p:cNvPr id="1120" name="Subtitle 9">
            <a:extLst>
              <a:ext uri="{FF2B5EF4-FFF2-40B4-BE49-F238E27FC236}">
                <a16:creationId xmlns:a16="http://schemas.microsoft.com/office/drawing/2014/main" id="{87FA42D6-F252-779F-2F72-FDB134743B38}"/>
              </a:ext>
            </a:extLst>
          </p:cNvPr>
          <p:cNvSpPr txBox="1">
            <a:spLocks/>
          </p:cNvSpPr>
          <p:nvPr/>
        </p:nvSpPr>
        <p:spPr>
          <a:xfrm>
            <a:off x="3373099" y="5331454"/>
            <a:ext cx="3106040" cy="815608"/>
          </a:xfrm>
          <a:prstGeom prst="rect">
            <a:avLst/>
          </a:prstGeom>
        </p:spPr>
        <p:txBody>
          <a:bodyPr vert="horz" wrap="square" lIns="0" tIns="0" rIns="0" bIns="0" rtlCol="0" anchor="t" anchorCtr="0">
            <a:spAutoFit/>
          </a:bodyPr>
          <a:lstStyle>
            <a:lvl1pPr marL="0" indent="0" algn="l" defTabSz="914400" rtl="0" eaLnBrk="1" latinLnBrk="0" hangingPunct="1">
              <a:lnSpc>
                <a:spcPct val="100000"/>
              </a:lnSpc>
              <a:spcBef>
                <a:spcPts val="0"/>
              </a:spcBef>
              <a:spcAft>
                <a:spcPts val="600"/>
              </a:spcAft>
              <a:buClr>
                <a:schemeClr val="tx1">
                  <a:lumMod val="60000"/>
                  <a:lumOff val="40000"/>
                </a:schemeClr>
              </a:buClr>
              <a:buSzPct val="90000"/>
              <a:buFont typeface="Arial" panose="020B06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0"/>
              </a:spcBef>
              <a:spcAft>
                <a:spcPts val="600"/>
              </a:spcAft>
              <a:buClr>
                <a:schemeClr val="bg2">
                  <a:lumMod val="25000"/>
                </a:schemeClr>
              </a:buClr>
              <a:buSzPct val="90000"/>
              <a:buFont typeface="Camphor Std" panose="020B0504030404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0"/>
              </a:spcBef>
              <a:spcAft>
                <a:spcPts val="600"/>
              </a:spcAft>
              <a:buClr>
                <a:schemeClr val="bg2">
                  <a:lumMod val="25000"/>
                </a:schemeClr>
              </a:buClr>
              <a:buSzPct val="90000"/>
              <a:buFont typeface="Camphor Std" panose="020B0504030404020204" pitchFamily="34" charset="0"/>
              <a:buNone/>
              <a:tabLst/>
              <a:defRPr sz="1600" kern="1200">
                <a:solidFill>
                  <a:schemeClr val="tx1"/>
                </a:solidFill>
                <a:latin typeface="+mn-lt"/>
                <a:ea typeface="+mn-ea"/>
                <a:cs typeface="+mn-cs"/>
              </a:defRPr>
            </a:lvl5pPr>
            <a:lvl6pPr marL="22860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tabLst/>
              <a:defRPr sz="1600" kern="1200">
                <a:solidFill>
                  <a:schemeClr val="tx1"/>
                </a:solidFill>
                <a:latin typeface="+mn-lt"/>
                <a:ea typeface="+mn-ea"/>
                <a:cs typeface="+mn-cs"/>
              </a:defRPr>
            </a:lvl6pPr>
            <a:lvl7pPr marL="2743200" indent="0" algn="ctr" defTabSz="914400" rtl="0" eaLnBrk="1" latinLnBrk="0" hangingPunct="1">
              <a:lnSpc>
                <a:spcPct val="100000"/>
              </a:lnSpc>
              <a:spcBef>
                <a:spcPts val="0"/>
              </a:spcBef>
              <a:spcAft>
                <a:spcPts val="600"/>
              </a:spcAft>
              <a:buClr>
                <a:schemeClr val="bg2">
                  <a:lumMod val="25000"/>
                </a:schemeClr>
              </a:buClr>
              <a:buSzPct val="90000"/>
              <a:buFont typeface="System Font Regular"/>
              <a:buNone/>
              <a:tabLst/>
              <a:defRPr sz="1600" kern="1200">
                <a:solidFill>
                  <a:schemeClr val="tx1"/>
                </a:solidFill>
                <a:latin typeface="+mn-lt"/>
                <a:ea typeface="+mn-ea"/>
                <a:cs typeface="+mn-cs"/>
              </a:defRPr>
            </a:lvl7pPr>
            <a:lvl8pPr marL="32004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tabLst/>
              <a:defRPr sz="1600" kern="1200">
                <a:solidFill>
                  <a:schemeClr val="tx1"/>
                </a:solidFill>
                <a:latin typeface="+mn-lt"/>
                <a:ea typeface="+mn-ea"/>
                <a:cs typeface="+mn-cs"/>
              </a:defRPr>
            </a:lvl8pPr>
            <a:lvl9pPr marL="3657600" indent="0" algn="ctr" defTabSz="914400" rtl="0" eaLnBrk="1" latinLnBrk="0" hangingPunct="1">
              <a:lnSpc>
                <a:spcPct val="100000"/>
              </a:lnSpc>
              <a:spcBef>
                <a:spcPts val="0"/>
              </a:spcBef>
              <a:spcAft>
                <a:spcPts val="600"/>
              </a:spcAft>
              <a:buClr>
                <a:schemeClr val="bg2">
                  <a:lumMod val="25000"/>
                </a:schemeClr>
              </a:buClr>
              <a:buSzPct val="90000"/>
              <a:buFont typeface="System Font Regular"/>
              <a:buNone/>
              <a:tabLst/>
              <a:defRPr sz="1600" kern="1200">
                <a:solidFill>
                  <a:schemeClr val="tx1"/>
                </a:solidFill>
                <a:latin typeface="+mn-lt"/>
                <a:ea typeface="+mn-ea"/>
                <a:cs typeface="+mn-cs"/>
              </a:defRPr>
            </a:lvl9pPr>
          </a:lstStyle>
          <a:p>
            <a:r>
              <a:rPr lang="en-US" sz="1200" b="1" dirty="0"/>
              <a:t>NSX (Nicira) Acquisition</a:t>
            </a:r>
          </a:p>
          <a:p>
            <a:r>
              <a:rPr lang="en-US" sz="1200" dirty="0">
                <a:effectLst/>
              </a:rPr>
              <a:t>VMware's acquisition of Nicira accelerated its networking innovations, resulting in the creation of NSX.</a:t>
            </a:r>
            <a:endParaRPr lang="en-US" sz="1200" dirty="0"/>
          </a:p>
        </p:txBody>
      </p:sp>
      <p:sp>
        <p:nvSpPr>
          <p:cNvPr id="1122" name="Subtitle 9">
            <a:extLst>
              <a:ext uri="{FF2B5EF4-FFF2-40B4-BE49-F238E27FC236}">
                <a16:creationId xmlns:a16="http://schemas.microsoft.com/office/drawing/2014/main" id="{F98F417F-127F-2EE7-B6D8-944EBD43C099}"/>
              </a:ext>
            </a:extLst>
          </p:cNvPr>
          <p:cNvSpPr txBox="1">
            <a:spLocks/>
          </p:cNvSpPr>
          <p:nvPr/>
        </p:nvSpPr>
        <p:spPr>
          <a:xfrm>
            <a:off x="3373099" y="4105087"/>
            <a:ext cx="3661443" cy="1000274"/>
          </a:xfrm>
          <a:prstGeom prst="rect">
            <a:avLst/>
          </a:prstGeom>
        </p:spPr>
        <p:txBody>
          <a:bodyPr vert="horz" wrap="square" lIns="0" tIns="0" rIns="0" bIns="0" rtlCol="0" anchor="t" anchorCtr="0">
            <a:spAutoFit/>
          </a:bodyPr>
          <a:lstStyle>
            <a:lvl1pPr marL="0" indent="0" algn="l" defTabSz="914400" rtl="0" eaLnBrk="1" latinLnBrk="0" hangingPunct="1">
              <a:lnSpc>
                <a:spcPct val="100000"/>
              </a:lnSpc>
              <a:spcBef>
                <a:spcPts val="0"/>
              </a:spcBef>
              <a:spcAft>
                <a:spcPts val="600"/>
              </a:spcAft>
              <a:buClr>
                <a:schemeClr val="tx1">
                  <a:lumMod val="60000"/>
                  <a:lumOff val="40000"/>
                </a:schemeClr>
              </a:buClr>
              <a:buSzPct val="90000"/>
              <a:buFont typeface="Arial" panose="020B06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0"/>
              </a:spcBef>
              <a:spcAft>
                <a:spcPts val="600"/>
              </a:spcAft>
              <a:buClr>
                <a:schemeClr val="bg2">
                  <a:lumMod val="25000"/>
                </a:schemeClr>
              </a:buClr>
              <a:buSzPct val="90000"/>
              <a:buFont typeface="Camphor Std" panose="020B0504030404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0"/>
              </a:spcBef>
              <a:spcAft>
                <a:spcPts val="600"/>
              </a:spcAft>
              <a:buClr>
                <a:schemeClr val="bg2">
                  <a:lumMod val="25000"/>
                </a:schemeClr>
              </a:buClr>
              <a:buSzPct val="90000"/>
              <a:buFont typeface="Camphor Std" panose="020B0504030404020204" pitchFamily="34" charset="0"/>
              <a:buNone/>
              <a:tabLst/>
              <a:defRPr sz="1600" kern="1200">
                <a:solidFill>
                  <a:schemeClr val="tx1"/>
                </a:solidFill>
                <a:latin typeface="+mn-lt"/>
                <a:ea typeface="+mn-ea"/>
                <a:cs typeface="+mn-cs"/>
              </a:defRPr>
            </a:lvl5pPr>
            <a:lvl6pPr marL="22860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tabLst/>
              <a:defRPr sz="1600" kern="1200">
                <a:solidFill>
                  <a:schemeClr val="tx1"/>
                </a:solidFill>
                <a:latin typeface="+mn-lt"/>
                <a:ea typeface="+mn-ea"/>
                <a:cs typeface="+mn-cs"/>
              </a:defRPr>
            </a:lvl6pPr>
            <a:lvl7pPr marL="2743200" indent="0" algn="ctr" defTabSz="914400" rtl="0" eaLnBrk="1" latinLnBrk="0" hangingPunct="1">
              <a:lnSpc>
                <a:spcPct val="100000"/>
              </a:lnSpc>
              <a:spcBef>
                <a:spcPts val="0"/>
              </a:spcBef>
              <a:spcAft>
                <a:spcPts val="600"/>
              </a:spcAft>
              <a:buClr>
                <a:schemeClr val="bg2">
                  <a:lumMod val="25000"/>
                </a:schemeClr>
              </a:buClr>
              <a:buSzPct val="90000"/>
              <a:buFont typeface="System Font Regular"/>
              <a:buNone/>
              <a:tabLst/>
              <a:defRPr sz="1600" kern="1200">
                <a:solidFill>
                  <a:schemeClr val="tx1"/>
                </a:solidFill>
                <a:latin typeface="+mn-lt"/>
                <a:ea typeface="+mn-ea"/>
                <a:cs typeface="+mn-cs"/>
              </a:defRPr>
            </a:lvl7pPr>
            <a:lvl8pPr marL="32004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tabLst/>
              <a:defRPr sz="1600" kern="1200">
                <a:solidFill>
                  <a:schemeClr val="tx1"/>
                </a:solidFill>
                <a:latin typeface="+mn-lt"/>
                <a:ea typeface="+mn-ea"/>
                <a:cs typeface="+mn-cs"/>
              </a:defRPr>
            </a:lvl8pPr>
            <a:lvl9pPr marL="3657600" indent="0" algn="ctr" defTabSz="914400" rtl="0" eaLnBrk="1" latinLnBrk="0" hangingPunct="1">
              <a:lnSpc>
                <a:spcPct val="100000"/>
              </a:lnSpc>
              <a:spcBef>
                <a:spcPts val="0"/>
              </a:spcBef>
              <a:spcAft>
                <a:spcPts val="600"/>
              </a:spcAft>
              <a:buClr>
                <a:schemeClr val="bg2">
                  <a:lumMod val="25000"/>
                </a:schemeClr>
              </a:buClr>
              <a:buSzPct val="90000"/>
              <a:buFont typeface="System Font Regular"/>
              <a:buNone/>
              <a:tabLst/>
              <a:defRPr sz="1600" kern="1200">
                <a:solidFill>
                  <a:schemeClr val="tx1"/>
                </a:solidFill>
                <a:latin typeface="+mn-lt"/>
                <a:ea typeface="+mn-ea"/>
                <a:cs typeface="+mn-cs"/>
              </a:defRPr>
            </a:lvl9pPr>
          </a:lstStyle>
          <a:p>
            <a:r>
              <a:rPr lang="en-US" sz="1200" b="1" dirty="0"/>
              <a:t>Software-defined Data Center (SDDC) Vision</a:t>
            </a:r>
          </a:p>
          <a:p>
            <a:r>
              <a:rPr lang="en-US" sz="1200" dirty="0"/>
              <a:t>Paul Maritz served as VMware's CEO from 2008 to 2012, during which the SDDC vision was announced. Pat Gelsinger was named his successor at VMworld 2012 and took over as CEO in September.</a:t>
            </a:r>
          </a:p>
        </p:txBody>
      </p:sp>
      <p:sp>
        <p:nvSpPr>
          <p:cNvPr id="1156" name="Oval 1155">
            <a:extLst>
              <a:ext uri="{FF2B5EF4-FFF2-40B4-BE49-F238E27FC236}">
                <a16:creationId xmlns:a16="http://schemas.microsoft.com/office/drawing/2014/main" id="{F84915EF-76BC-1FC9-1F91-00B3AF3A02F9}"/>
              </a:ext>
            </a:extLst>
          </p:cNvPr>
          <p:cNvSpPr/>
          <p:nvPr/>
        </p:nvSpPr>
        <p:spPr>
          <a:xfrm>
            <a:off x="3145736" y="4105087"/>
            <a:ext cx="105541" cy="105541"/>
          </a:xfrm>
          <a:prstGeom prst="ellipse">
            <a:avLst/>
          </a:prstGeom>
          <a:solidFill>
            <a:srgbClr val="2B997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157" name="Oval 1156">
            <a:extLst>
              <a:ext uri="{FF2B5EF4-FFF2-40B4-BE49-F238E27FC236}">
                <a16:creationId xmlns:a16="http://schemas.microsoft.com/office/drawing/2014/main" id="{DE80708B-9DBF-7E19-CA88-498053FE412B}"/>
              </a:ext>
            </a:extLst>
          </p:cNvPr>
          <p:cNvSpPr/>
          <p:nvPr/>
        </p:nvSpPr>
        <p:spPr>
          <a:xfrm>
            <a:off x="3145736" y="5331454"/>
            <a:ext cx="105541" cy="105541"/>
          </a:xfrm>
          <a:prstGeom prst="ellipse">
            <a:avLst/>
          </a:prstGeom>
          <a:solidFill>
            <a:srgbClr val="2B997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159" name="Oval 1158">
            <a:extLst>
              <a:ext uri="{FF2B5EF4-FFF2-40B4-BE49-F238E27FC236}">
                <a16:creationId xmlns:a16="http://schemas.microsoft.com/office/drawing/2014/main" id="{7B0024EC-89BB-FB6C-649E-6C8AAA125310}"/>
              </a:ext>
            </a:extLst>
          </p:cNvPr>
          <p:cNvSpPr/>
          <p:nvPr/>
        </p:nvSpPr>
        <p:spPr>
          <a:xfrm>
            <a:off x="5286783" y="1317309"/>
            <a:ext cx="105541" cy="105541"/>
          </a:xfrm>
          <a:prstGeom prst="ellipse">
            <a:avLst/>
          </a:prstGeom>
          <a:solidFill>
            <a:srgbClr val="0293C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160" name="Oval 1159">
            <a:extLst>
              <a:ext uri="{FF2B5EF4-FFF2-40B4-BE49-F238E27FC236}">
                <a16:creationId xmlns:a16="http://schemas.microsoft.com/office/drawing/2014/main" id="{838DC801-1F87-F5C8-E6D0-9BB3BEBA7E52}"/>
              </a:ext>
            </a:extLst>
          </p:cNvPr>
          <p:cNvSpPr/>
          <p:nvPr/>
        </p:nvSpPr>
        <p:spPr>
          <a:xfrm>
            <a:off x="5286783" y="2398476"/>
            <a:ext cx="105541" cy="105541"/>
          </a:xfrm>
          <a:prstGeom prst="ellipse">
            <a:avLst/>
          </a:prstGeom>
          <a:solidFill>
            <a:srgbClr val="0293C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162" name="Subtitle 9">
            <a:extLst>
              <a:ext uri="{FF2B5EF4-FFF2-40B4-BE49-F238E27FC236}">
                <a16:creationId xmlns:a16="http://schemas.microsoft.com/office/drawing/2014/main" id="{B8421C24-11A2-FC96-DC34-47BADDFED2E8}"/>
              </a:ext>
            </a:extLst>
          </p:cNvPr>
          <p:cNvSpPr txBox="1">
            <a:spLocks/>
          </p:cNvSpPr>
          <p:nvPr/>
        </p:nvSpPr>
        <p:spPr>
          <a:xfrm>
            <a:off x="7638512" y="4105087"/>
            <a:ext cx="3676401" cy="802656"/>
          </a:xfrm>
          <a:prstGeom prst="rect">
            <a:avLst/>
          </a:prstGeom>
        </p:spPr>
        <p:txBody>
          <a:bodyPr vert="horz" wrap="square" lIns="0" tIns="0" rIns="0" bIns="0" rtlCol="0" anchor="t" anchorCtr="0">
            <a:spAutoFit/>
          </a:bodyPr>
          <a:lstStyle>
            <a:lvl1pPr marL="0" indent="0" algn="l" defTabSz="914400" rtl="0" eaLnBrk="1" latinLnBrk="0" hangingPunct="1">
              <a:lnSpc>
                <a:spcPct val="100000"/>
              </a:lnSpc>
              <a:spcBef>
                <a:spcPts val="0"/>
              </a:spcBef>
              <a:spcAft>
                <a:spcPts val="600"/>
              </a:spcAft>
              <a:buClr>
                <a:schemeClr val="tx1">
                  <a:lumMod val="60000"/>
                  <a:lumOff val="40000"/>
                </a:schemeClr>
              </a:buClr>
              <a:buSzPct val="90000"/>
              <a:buFont typeface="Arial" panose="020B06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0"/>
              </a:spcBef>
              <a:spcAft>
                <a:spcPts val="600"/>
              </a:spcAft>
              <a:buClr>
                <a:schemeClr val="bg2">
                  <a:lumMod val="25000"/>
                </a:schemeClr>
              </a:buClr>
              <a:buSzPct val="90000"/>
              <a:buFont typeface="Camphor Std" panose="020B0504030404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0"/>
              </a:spcBef>
              <a:spcAft>
                <a:spcPts val="600"/>
              </a:spcAft>
              <a:buClr>
                <a:schemeClr val="bg2">
                  <a:lumMod val="25000"/>
                </a:schemeClr>
              </a:buClr>
              <a:buSzPct val="90000"/>
              <a:buFont typeface="Camphor Std" panose="020B0504030404020204" pitchFamily="34" charset="0"/>
              <a:buNone/>
              <a:tabLst/>
              <a:defRPr sz="1600" kern="1200">
                <a:solidFill>
                  <a:schemeClr val="tx1"/>
                </a:solidFill>
                <a:latin typeface="+mn-lt"/>
                <a:ea typeface="+mn-ea"/>
                <a:cs typeface="+mn-cs"/>
              </a:defRPr>
            </a:lvl5pPr>
            <a:lvl6pPr marL="22860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tabLst/>
              <a:defRPr sz="1600" kern="1200">
                <a:solidFill>
                  <a:schemeClr val="tx1"/>
                </a:solidFill>
                <a:latin typeface="+mn-lt"/>
                <a:ea typeface="+mn-ea"/>
                <a:cs typeface="+mn-cs"/>
              </a:defRPr>
            </a:lvl6pPr>
            <a:lvl7pPr marL="2743200" indent="0" algn="ctr" defTabSz="914400" rtl="0" eaLnBrk="1" latinLnBrk="0" hangingPunct="1">
              <a:lnSpc>
                <a:spcPct val="100000"/>
              </a:lnSpc>
              <a:spcBef>
                <a:spcPts val="0"/>
              </a:spcBef>
              <a:spcAft>
                <a:spcPts val="600"/>
              </a:spcAft>
              <a:buClr>
                <a:schemeClr val="bg2">
                  <a:lumMod val="25000"/>
                </a:schemeClr>
              </a:buClr>
              <a:buSzPct val="90000"/>
              <a:buFont typeface="System Font Regular"/>
              <a:buNone/>
              <a:tabLst/>
              <a:defRPr sz="1600" kern="1200">
                <a:solidFill>
                  <a:schemeClr val="tx1"/>
                </a:solidFill>
                <a:latin typeface="+mn-lt"/>
                <a:ea typeface="+mn-ea"/>
                <a:cs typeface="+mn-cs"/>
              </a:defRPr>
            </a:lvl7pPr>
            <a:lvl8pPr marL="32004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tabLst/>
              <a:defRPr sz="1600" kern="1200">
                <a:solidFill>
                  <a:schemeClr val="tx1"/>
                </a:solidFill>
                <a:latin typeface="+mn-lt"/>
                <a:ea typeface="+mn-ea"/>
                <a:cs typeface="+mn-cs"/>
              </a:defRPr>
            </a:lvl8pPr>
            <a:lvl9pPr marL="3657600" indent="0" algn="ctr" defTabSz="914400" rtl="0" eaLnBrk="1" latinLnBrk="0" hangingPunct="1">
              <a:lnSpc>
                <a:spcPct val="100000"/>
              </a:lnSpc>
              <a:spcBef>
                <a:spcPts val="0"/>
              </a:spcBef>
              <a:spcAft>
                <a:spcPts val="600"/>
              </a:spcAft>
              <a:buClr>
                <a:schemeClr val="bg2">
                  <a:lumMod val="25000"/>
                </a:schemeClr>
              </a:buClr>
              <a:buSzPct val="90000"/>
              <a:buFont typeface="System Font Regular"/>
              <a:buNone/>
              <a:tabLst/>
              <a:defRPr sz="1600" kern="1200">
                <a:solidFill>
                  <a:schemeClr val="tx1"/>
                </a:solidFill>
                <a:latin typeface="+mn-lt"/>
                <a:ea typeface="+mn-ea"/>
                <a:cs typeface="+mn-cs"/>
              </a:defRPr>
            </a:lvl9pPr>
          </a:lstStyle>
          <a:p>
            <a:pPr>
              <a:lnSpc>
                <a:spcPct val="93000"/>
              </a:lnSpc>
            </a:pPr>
            <a:r>
              <a:rPr lang="en-US" sz="1200" b="1" dirty="0"/>
              <a:t>VMware Cloud on AWS</a:t>
            </a:r>
          </a:p>
          <a:p>
            <a:r>
              <a:rPr lang="en-US" sz="1200" dirty="0"/>
              <a:t>VMware partnered with AWS to launch VMware Cloud on AWS, which extends on-premises environments to the public cloud.</a:t>
            </a:r>
          </a:p>
        </p:txBody>
      </p:sp>
      <p:sp>
        <p:nvSpPr>
          <p:cNvPr id="1164" name="Oval 1163">
            <a:extLst>
              <a:ext uri="{FF2B5EF4-FFF2-40B4-BE49-F238E27FC236}">
                <a16:creationId xmlns:a16="http://schemas.microsoft.com/office/drawing/2014/main" id="{3E31E660-8D46-EB42-66FB-94D3BDD52A4F}"/>
              </a:ext>
            </a:extLst>
          </p:cNvPr>
          <p:cNvSpPr/>
          <p:nvPr/>
        </p:nvSpPr>
        <p:spPr>
          <a:xfrm>
            <a:off x="7426113" y="4105087"/>
            <a:ext cx="105541" cy="105541"/>
          </a:xfrm>
          <a:prstGeom prst="ellipse">
            <a:avLst/>
          </a:prstGeom>
          <a:solidFill>
            <a:srgbClr val="217EB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228" name="Oval 1227">
            <a:extLst>
              <a:ext uri="{FF2B5EF4-FFF2-40B4-BE49-F238E27FC236}">
                <a16:creationId xmlns:a16="http://schemas.microsoft.com/office/drawing/2014/main" id="{C7052C89-1DE9-A94E-A3CB-870B3FA04A7C}"/>
              </a:ext>
            </a:extLst>
          </p:cNvPr>
          <p:cNvSpPr/>
          <p:nvPr/>
        </p:nvSpPr>
        <p:spPr>
          <a:xfrm>
            <a:off x="9566301" y="1317309"/>
            <a:ext cx="105541" cy="105541"/>
          </a:xfrm>
          <a:prstGeom prst="ellipse">
            <a:avLst/>
          </a:prstGeom>
          <a:solidFill>
            <a:srgbClr val="4B619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230" name="Subtitle 9">
            <a:extLst>
              <a:ext uri="{FF2B5EF4-FFF2-40B4-BE49-F238E27FC236}">
                <a16:creationId xmlns:a16="http://schemas.microsoft.com/office/drawing/2014/main" id="{FD6FDDCD-AABD-50CF-2EEA-AF4790B57EC9}"/>
              </a:ext>
            </a:extLst>
          </p:cNvPr>
          <p:cNvSpPr txBox="1">
            <a:spLocks/>
          </p:cNvSpPr>
          <p:nvPr/>
        </p:nvSpPr>
        <p:spPr>
          <a:xfrm>
            <a:off x="9799809" y="1289469"/>
            <a:ext cx="1870614" cy="1754648"/>
          </a:xfrm>
          <a:prstGeom prst="rect">
            <a:avLst/>
          </a:prstGeom>
        </p:spPr>
        <p:txBody>
          <a:bodyPr vert="horz" wrap="square" lIns="0" tIns="0" rIns="0" bIns="0" rtlCol="0" anchor="t" anchorCtr="0">
            <a:spAutoFit/>
          </a:bodyPr>
          <a:lstStyle>
            <a:lvl1pPr marL="0" indent="0" algn="l" defTabSz="914400" rtl="0" eaLnBrk="1" latinLnBrk="0" hangingPunct="1">
              <a:lnSpc>
                <a:spcPct val="100000"/>
              </a:lnSpc>
              <a:spcBef>
                <a:spcPts val="0"/>
              </a:spcBef>
              <a:spcAft>
                <a:spcPts val="600"/>
              </a:spcAft>
              <a:buClr>
                <a:schemeClr val="tx1">
                  <a:lumMod val="60000"/>
                  <a:lumOff val="40000"/>
                </a:schemeClr>
              </a:buClr>
              <a:buSzPct val="90000"/>
              <a:buFont typeface="Arial" panose="020B06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0"/>
              </a:spcBef>
              <a:spcAft>
                <a:spcPts val="600"/>
              </a:spcAft>
              <a:buClr>
                <a:schemeClr val="bg2">
                  <a:lumMod val="25000"/>
                </a:schemeClr>
              </a:buClr>
              <a:buSzPct val="90000"/>
              <a:buFont typeface="Camphor Std" panose="020B0504030404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0"/>
              </a:spcBef>
              <a:spcAft>
                <a:spcPts val="600"/>
              </a:spcAft>
              <a:buClr>
                <a:schemeClr val="bg2">
                  <a:lumMod val="25000"/>
                </a:schemeClr>
              </a:buClr>
              <a:buSzPct val="90000"/>
              <a:buFont typeface="Camphor Std" panose="020B0504030404020204" pitchFamily="34" charset="0"/>
              <a:buNone/>
              <a:tabLst/>
              <a:defRPr sz="1600" kern="1200">
                <a:solidFill>
                  <a:schemeClr val="tx1"/>
                </a:solidFill>
                <a:latin typeface="+mn-lt"/>
                <a:ea typeface="+mn-ea"/>
                <a:cs typeface="+mn-cs"/>
              </a:defRPr>
            </a:lvl5pPr>
            <a:lvl6pPr marL="22860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tabLst/>
              <a:defRPr sz="1600" kern="1200">
                <a:solidFill>
                  <a:schemeClr val="tx1"/>
                </a:solidFill>
                <a:latin typeface="+mn-lt"/>
                <a:ea typeface="+mn-ea"/>
                <a:cs typeface="+mn-cs"/>
              </a:defRPr>
            </a:lvl6pPr>
            <a:lvl7pPr marL="2743200" indent="0" algn="ctr" defTabSz="914400" rtl="0" eaLnBrk="1" latinLnBrk="0" hangingPunct="1">
              <a:lnSpc>
                <a:spcPct val="100000"/>
              </a:lnSpc>
              <a:spcBef>
                <a:spcPts val="0"/>
              </a:spcBef>
              <a:spcAft>
                <a:spcPts val="600"/>
              </a:spcAft>
              <a:buClr>
                <a:schemeClr val="bg2">
                  <a:lumMod val="25000"/>
                </a:schemeClr>
              </a:buClr>
              <a:buSzPct val="90000"/>
              <a:buFont typeface="System Font Regular"/>
              <a:buNone/>
              <a:tabLst/>
              <a:defRPr sz="1600" kern="1200">
                <a:solidFill>
                  <a:schemeClr val="tx1"/>
                </a:solidFill>
                <a:latin typeface="+mn-lt"/>
                <a:ea typeface="+mn-ea"/>
                <a:cs typeface="+mn-cs"/>
              </a:defRPr>
            </a:lvl7pPr>
            <a:lvl8pPr marL="3200400" indent="0" algn="ctr" defTabSz="914400" rtl="0" eaLnBrk="1" latinLnBrk="0" hangingPunct="1">
              <a:lnSpc>
                <a:spcPct val="100000"/>
              </a:lnSpc>
              <a:spcBef>
                <a:spcPts val="0"/>
              </a:spcBef>
              <a:spcAft>
                <a:spcPts val="600"/>
              </a:spcAft>
              <a:buClr>
                <a:schemeClr val="bg2">
                  <a:lumMod val="25000"/>
                </a:schemeClr>
              </a:buClr>
              <a:buSzPct val="90000"/>
              <a:buFont typeface="Arial" panose="020B0604020202020204" pitchFamily="34" charset="0"/>
              <a:buNone/>
              <a:tabLst/>
              <a:defRPr sz="1600" kern="1200">
                <a:solidFill>
                  <a:schemeClr val="tx1"/>
                </a:solidFill>
                <a:latin typeface="+mn-lt"/>
                <a:ea typeface="+mn-ea"/>
                <a:cs typeface="+mn-cs"/>
              </a:defRPr>
            </a:lvl8pPr>
            <a:lvl9pPr marL="3657600" indent="0" algn="ctr" defTabSz="914400" rtl="0" eaLnBrk="1" latinLnBrk="0" hangingPunct="1">
              <a:lnSpc>
                <a:spcPct val="100000"/>
              </a:lnSpc>
              <a:spcBef>
                <a:spcPts val="0"/>
              </a:spcBef>
              <a:spcAft>
                <a:spcPts val="600"/>
              </a:spcAft>
              <a:buClr>
                <a:schemeClr val="bg2">
                  <a:lumMod val="25000"/>
                </a:schemeClr>
              </a:buClr>
              <a:buSzPct val="90000"/>
              <a:buFont typeface="System Font Regular"/>
              <a:buNone/>
              <a:tabLst/>
              <a:defRPr sz="1600" kern="1200">
                <a:solidFill>
                  <a:schemeClr val="tx1"/>
                </a:solidFill>
                <a:latin typeface="+mn-lt"/>
                <a:ea typeface="+mn-ea"/>
                <a:cs typeface="+mn-cs"/>
              </a:defRPr>
            </a:lvl9pPr>
          </a:lstStyle>
          <a:p>
            <a:pPr>
              <a:lnSpc>
                <a:spcPct val="93000"/>
              </a:lnSpc>
            </a:pPr>
            <a:r>
              <a:rPr lang="en-US" sz="1400" b="1" dirty="0"/>
              <a:t>Latest version of VCF</a:t>
            </a:r>
          </a:p>
          <a:p>
            <a:r>
              <a:rPr lang="en-US" sz="1200" dirty="0"/>
              <a:t>VMware Cloud Foundation unifies compute, networking, storage, operations, automation, and security while supporting the import of existing infrastructure for added flexibility.</a:t>
            </a:r>
          </a:p>
        </p:txBody>
      </p:sp>
      <p:sp>
        <p:nvSpPr>
          <p:cNvPr id="20" name="TextBox 19">
            <a:extLst>
              <a:ext uri="{FF2B5EF4-FFF2-40B4-BE49-F238E27FC236}">
                <a16:creationId xmlns:a16="http://schemas.microsoft.com/office/drawing/2014/main" id="{90B3F053-CD41-6935-587B-16C492EE70BB}"/>
              </a:ext>
            </a:extLst>
          </p:cNvPr>
          <p:cNvSpPr txBox="1"/>
          <p:nvPr/>
        </p:nvSpPr>
        <p:spPr>
          <a:xfrm>
            <a:off x="7638513" y="5274184"/>
            <a:ext cx="3723881" cy="815608"/>
          </a:xfrm>
          <a:prstGeom prst="rect">
            <a:avLst/>
          </a:prstGeom>
          <a:noFill/>
        </p:spPr>
        <p:txBody>
          <a:bodyPr wrap="square" lIns="0" tIns="0" rIns="0" bIns="0">
            <a:spAutoFit/>
          </a:bodyPr>
          <a:lstStyle/>
          <a:p>
            <a:pPr>
              <a:spcAft>
                <a:spcPts val="600"/>
              </a:spcAft>
              <a:buClr>
                <a:schemeClr val="tx1">
                  <a:lumMod val="60000"/>
                  <a:lumOff val="40000"/>
                </a:schemeClr>
              </a:buClr>
              <a:buSzPct val="90000"/>
            </a:pPr>
            <a:r>
              <a:rPr lang="en-US" sz="1200" b="1" dirty="0"/>
              <a:t>VMware Cloud Foundation (VCF) version 2.0 </a:t>
            </a:r>
          </a:p>
          <a:p>
            <a:pPr>
              <a:spcAft>
                <a:spcPts val="600"/>
              </a:spcAft>
              <a:buClr>
                <a:schemeClr val="tx1">
                  <a:lumMod val="60000"/>
                  <a:lumOff val="40000"/>
                </a:schemeClr>
              </a:buClr>
              <a:buSzPct val="90000"/>
            </a:pPr>
            <a:r>
              <a:rPr lang="en-US" sz="1200" dirty="0"/>
              <a:t>VCF 2.0 integrates vSphere, vSAN, NSX, and the vRealize Suite into a unified platform for compute, storage, networking, and cloud management.</a:t>
            </a:r>
          </a:p>
        </p:txBody>
      </p:sp>
      <p:sp>
        <p:nvSpPr>
          <p:cNvPr id="22" name="Oval 21">
            <a:extLst>
              <a:ext uri="{FF2B5EF4-FFF2-40B4-BE49-F238E27FC236}">
                <a16:creationId xmlns:a16="http://schemas.microsoft.com/office/drawing/2014/main" id="{D6F2F264-94D0-A94D-F50C-D64D284A5A27}"/>
              </a:ext>
            </a:extLst>
          </p:cNvPr>
          <p:cNvSpPr/>
          <p:nvPr/>
        </p:nvSpPr>
        <p:spPr>
          <a:xfrm>
            <a:off x="7426113" y="5331454"/>
            <a:ext cx="105541" cy="105541"/>
          </a:xfrm>
          <a:prstGeom prst="ellipse">
            <a:avLst/>
          </a:prstGeom>
          <a:solidFill>
            <a:srgbClr val="217EB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Tree>
    <p:extLst>
      <p:ext uri="{BB962C8B-B14F-4D97-AF65-F5344CB8AC3E}">
        <p14:creationId xmlns:p14="http://schemas.microsoft.com/office/powerpoint/2010/main" val="2551227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12">
          <a:extLst>
            <a:ext uri="{FF2B5EF4-FFF2-40B4-BE49-F238E27FC236}">
              <a16:creationId xmlns:a16="http://schemas.microsoft.com/office/drawing/2014/main" id="{6039777A-CDAB-AE1C-4F51-4481E613CFED}"/>
            </a:ext>
          </a:extLst>
        </p:cNvPr>
        <p:cNvGrpSpPr/>
        <p:nvPr/>
      </p:nvGrpSpPr>
      <p:grpSpPr>
        <a:xfrm>
          <a:off x="0" y="0"/>
          <a:ext cx="0" cy="0"/>
          <a:chOff x="0" y="0"/>
          <a:chExt cx="0" cy="0"/>
        </a:xfrm>
      </p:grpSpPr>
      <p:sp>
        <p:nvSpPr>
          <p:cNvPr id="3513" name="Google Shape;3513;p48">
            <a:extLst>
              <a:ext uri="{FF2B5EF4-FFF2-40B4-BE49-F238E27FC236}">
                <a16:creationId xmlns:a16="http://schemas.microsoft.com/office/drawing/2014/main" id="{6C057A6D-74D1-C196-8CDE-36992E523112}"/>
              </a:ext>
            </a:extLst>
          </p:cNvPr>
          <p:cNvSpPr txBox="1">
            <a:spLocks noGrp="1"/>
          </p:cNvSpPr>
          <p:nvPr>
            <p:ph type="title"/>
          </p:nvPr>
        </p:nvSpPr>
        <p:spPr>
          <a:xfrm>
            <a:off x="589107" y="938794"/>
            <a:ext cx="6555971" cy="1229360"/>
          </a:xfrm>
        </p:spPr>
        <p:txBody>
          <a:bodyPr spcFirstLastPara="1" wrap="square" lIns="0" tIns="0" rIns="0" bIns="0" anchor="b" anchorCtr="0">
            <a:normAutofit/>
          </a:bodyPr>
          <a:lstStyle/>
          <a:p>
            <a:pPr marL="0" lvl="0" indent="0" rtl="0">
              <a:spcBef>
                <a:spcPts val="0"/>
              </a:spcBef>
              <a:spcAft>
                <a:spcPts val="0"/>
              </a:spcAft>
              <a:buClr>
                <a:schemeClr val="accent2"/>
              </a:buClr>
              <a:buSzPts val="3600"/>
              <a:buFont typeface="Arial"/>
              <a:buNone/>
            </a:pPr>
            <a:r>
              <a:rPr lang="en-US" dirty="0"/>
              <a:t>Modernize Infrastructure</a:t>
            </a:r>
          </a:p>
        </p:txBody>
      </p:sp>
      <p:sp>
        <p:nvSpPr>
          <p:cNvPr id="2" name="Google Shape;4824;p59">
            <a:extLst>
              <a:ext uri="{FF2B5EF4-FFF2-40B4-BE49-F238E27FC236}">
                <a16:creationId xmlns:a16="http://schemas.microsoft.com/office/drawing/2014/main" id="{0DAD1271-97AD-B15F-E1CA-B1D2EA25B8FA}"/>
              </a:ext>
            </a:extLst>
          </p:cNvPr>
          <p:cNvSpPr txBox="1">
            <a:spLocks noGrp="1"/>
          </p:cNvSpPr>
          <p:nvPr>
            <p:ph type="subTitle" idx="10"/>
          </p:nvPr>
        </p:nvSpPr>
        <p:spPr>
          <a:xfrm>
            <a:off x="602966" y="2267712"/>
            <a:ext cx="6542112" cy="700882"/>
          </a:xfrm>
        </p:spPr>
        <p:txBody>
          <a:bodyPr spcFirstLastPara="1" lIns="0" tIns="0" rIns="0" bIns="0" anchorCtr="0">
            <a:normAutofit/>
          </a:bodyPr>
          <a:lstStyle/>
          <a:p>
            <a:pPr marL="0" lvl="0" indent="0" rtl="0">
              <a:spcBef>
                <a:spcPts val="0"/>
              </a:spcBef>
              <a:spcAft>
                <a:spcPts val="600"/>
              </a:spcAft>
              <a:buSzPts val="2160"/>
              <a:buNone/>
            </a:pPr>
            <a:r>
              <a:rPr lang="en-US" dirty="0"/>
              <a:t>Storage</a:t>
            </a:r>
            <a:endParaRPr lang="en-AU" dirty="0"/>
          </a:p>
        </p:txBody>
      </p:sp>
    </p:spTree>
    <p:extLst>
      <p:ext uri="{BB962C8B-B14F-4D97-AF65-F5344CB8AC3E}">
        <p14:creationId xmlns:p14="http://schemas.microsoft.com/office/powerpoint/2010/main" val="1044072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18">
          <a:extLst>
            <a:ext uri="{FF2B5EF4-FFF2-40B4-BE49-F238E27FC236}">
              <a16:creationId xmlns:a16="http://schemas.microsoft.com/office/drawing/2014/main" id="{DB52856A-77A1-2DDB-1A9F-DE4C82B15361}"/>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D6D11402-2A6F-45DA-4FF0-507796ED8966}"/>
              </a:ext>
            </a:extLst>
          </p:cNvPr>
          <p:cNvSpPr/>
          <p:nvPr/>
        </p:nvSpPr>
        <p:spPr>
          <a:xfrm>
            <a:off x="619442" y="1493690"/>
            <a:ext cx="8715126" cy="1395860"/>
          </a:xfrm>
          <a:prstGeom prst="roundRect">
            <a:avLst>
              <a:gd name="adj" fmla="val 9358"/>
            </a:avLst>
          </a:prstGeom>
          <a:solidFill>
            <a:srgbClr val="F4F8FA"/>
          </a:solidFill>
          <a:ln w="12700" cap="flat" cmpd="sng" algn="ctr">
            <a:noFill/>
            <a:prstDash val="solid"/>
          </a:ln>
          <a:effectLst>
            <a:outerShdw blurRad="215900" dist="38100" algn="tl" rotWithShape="0">
              <a:prstClr val="black">
                <a:alpha val="11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3519" name="Google Shape;3519;p49">
            <a:extLst>
              <a:ext uri="{FF2B5EF4-FFF2-40B4-BE49-F238E27FC236}">
                <a16:creationId xmlns:a16="http://schemas.microsoft.com/office/drawing/2014/main" id="{59E38F5F-8763-2D1C-474B-8672FA9673D2}"/>
              </a:ext>
            </a:extLst>
          </p:cNvPr>
          <p:cNvSpPr txBox="1">
            <a:spLocks noGrp="1"/>
          </p:cNvSpPr>
          <p:nvPr>
            <p:ph type="title"/>
          </p:nvPr>
        </p:nvSpPr>
        <p:spPr>
          <a:xfrm>
            <a:off x="414376" y="457974"/>
            <a:ext cx="11360073" cy="366159"/>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dirty="0">
                <a:solidFill>
                  <a:schemeClr val="accent2"/>
                </a:solidFill>
              </a:rPr>
              <a:t>VMware Cloud Foundation Storage</a:t>
            </a:r>
            <a:endParaRPr dirty="0">
              <a:solidFill>
                <a:schemeClr val="accent2"/>
              </a:solidFill>
            </a:endParaRPr>
          </a:p>
        </p:txBody>
      </p:sp>
      <p:sp>
        <p:nvSpPr>
          <p:cNvPr id="3520" name="Google Shape;3520;p49">
            <a:extLst>
              <a:ext uri="{FF2B5EF4-FFF2-40B4-BE49-F238E27FC236}">
                <a16:creationId xmlns:a16="http://schemas.microsoft.com/office/drawing/2014/main" id="{86E4C8BA-4898-66F0-8958-692368549482}"/>
              </a:ext>
            </a:extLst>
          </p:cNvPr>
          <p:cNvSpPr txBox="1">
            <a:spLocks noGrp="1"/>
          </p:cNvSpPr>
          <p:nvPr>
            <p:ph type="body" idx="1"/>
          </p:nvPr>
        </p:nvSpPr>
        <p:spPr>
          <a:xfrm>
            <a:off x="414376" y="915058"/>
            <a:ext cx="11360073" cy="332312"/>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sz="1999" dirty="0">
                <a:solidFill>
                  <a:schemeClr val="dk1"/>
                </a:solidFill>
                <a:latin typeface="+mn-lt"/>
              </a:rPr>
              <a:t>Flexible Storage Options when deploying a new VCF instance</a:t>
            </a:r>
            <a:endParaRPr dirty="0">
              <a:latin typeface="+mn-lt"/>
            </a:endParaRPr>
          </a:p>
        </p:txBody>
      </p:sp>
      <p:sp>
        <p:nvSpPr>
          <p:cNvPr id="3523" name="Google Shape;3523;p49">
            <a:extLst>
              <a:ext uri="{FF2B5EF4-FFF2-40B4-BE49-F238E27FC236}">
                <a16:creationId xmlns:a16="http://schemas.microsoft.com/office/drawing/2014/main" id="{560BA95B-8450-AC9A-6EF9-18F25D9FC37C}"/>
              </a:ext>
            </a:extLst>
          </p:cNvPr>
          <p:cNvSpPr txBox="1"/>
          <p:nvPr/>
        </p:nvSpPr>
        <p:spPr>
          <a:xfrm>
            <a:off x="2437904" y="1533518"/>
            <a:ext cx="6844909" cy="307617"/>
          </a:xfrm>
          <a:prstGeom prst="rect">
            <a:avLst/>
          </a:prstGeom>
          <a:noFill/>
          <a:ln>
            <a:noFill/>
          </a:ln>
        </p:spPr>
        <p:txBody>
          <a:bodyPr spcFirstLastPara="1" wrap="square" lIns="91400" tIns="45675" rIns="91400" bIns="45675"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spc="0" normalizeH="0" baseline="0" noProof="0" dirty="0">
                <a:ln>
                  <a:noFill/>
                </a:ln>
                <a:solidFill>
                  <a:srgbClr val="3C3C3C"/>
                </a:solidFill>
                <a:effectLst/>
                <a:uLnTx/>
                <a:uFillTx/>
                <a:latin typeface="Arial" panose="020B0604020202020204" pitchFamily="34" charset="0"/>
                <a:ea typeface="+mn-ea"/>
                <a:cs typeface="+mn-cs"/>
                <a:sym typeface="Arial"/>
              </a:rPr>
              <a:t>Principal storage </a:t>
            </a:r>
            <a:r>
              <a:rPr lang="en-US" sz="1400" dirty="0">
                <a:solidFill>
                  <a:srgbClr val="3C3C3C"/>
                </a:solidFill>
                <a:latin typeface="Arial" panose="020B0604020202020204" pitchFamily="34" charset="0"/>
                <a:sym typeface="Arial"/>
              </a:rPr>
              <a:t>options for</a:t>
            </a:r>
            <a:r>
              <a:rPr kumimoji="0" lang="en-US" sz="1400" u="none" strike="noStrike" kern="1200" cap="none" spc="0" normalizeH="0" baseline="0" noProof="0" dirty="0">
                <a:ln>
                  <a:noFill/>
                </a:ln>
                <a:solidFill>
                  <a:srgbClr val="3C3C3C"/>
                </a:solidFill>
                <a:effectLst/>
                <a:uLnTx/>
                <a:uFillTx/>
                <a:latin typeface="Arial" panose="020B0604020202020204" pitchFamily="34" charset="0"/>
                <a:ea typeface="+mn-ea"/>
                <a:cs typeface="+mn-cs"/>
                <a:sym typeface="Arial"/>
              </a:rPr>
              <a:t> the </a:t>
            </a:r>
            <a:r>
              <a:rPr kumimoji="0" lang="en-US" sz="1400" b="1" u="none" strike="noStrike" kern="1200" cap="none" spc="0" normalizeH="0" baseline="0" noProof="0" dirty="0">
                <a:ln>
                  <a:noFill/>
                </a:ln>
                <a:solidFill>
                  <a:srgbClr val="3C3C3C"/>
                </a:solidFill>
                <a:effectLst/>
                <a:uLnTx/>
                <a:uFillTx/>
                <a:latin typeface="Arial" panose="020B0604020202020204" pitchFamily="34" charset="0"/>
                <a:ea typeface="+mn-ea"/>
                <a:cs typeface="+mn-cs"/>
                <a:sym typeface="Arial"/>
              </a:rPr>
              <a:t>Management </a:t>
            </a:r>
            <a:r>
              <a:rPr lang="en-US" sz="1400" b="1" dirty="0">
                <a:solidFill>
                  <a:srgbClr val="3C3C3C"/>
                </a:solidFill>
                <a:latin typeface="Arial" panose="020B0604020202020204" pitchFamily="34" charset="0"/>
                <a:sym typeface="Arial"/>
              </a:rPr>
              <a:t>D</a:t>
            </a:r>
            <a:r>
              <a:rPr kumimoji="0" lang="en-US" sz="1400" b="1" u="none" strike="noStrike" kern="1200" cap="none" spc="0" normalizeH="0" baseline="0" noProof="0" dirty="0" err="1">
                <a:ln>
                  <a:noFill/>
                </a:ln>
                <a:solidFill>
                  <a:srgbClr val="3C3C3C"/>
                </a:solidFill>
                <a:effectLst/>
                <a:uLnTx/>
                <a:uFillTx/>
                <a:latin typeface="Arial" panose="020B0604020202020204" pitchFamily="34" charset="0"/>
                <a:ea typeface="+mn-ea"/>
                <a:cs typeface="+mn-cs"/>
                <a:sym typeface="Arial"/>
              </a:rPr>
              <a:t>omain</a:t>
            </a:r>
            <a:r>
              <a:rPr kumimoji="0" lang="en-US" sz="1400" b="1" u="none" strike="noStrike" kern="1200" cap="none" spc="0" normalizeH="0" baseline="0" noProof="0" dirty="0">
                <a:ln>
                  <a:noFill/>
                </a:ln>
                <a:solidFill>
                  <a:srgbClr val="3C3C3C"/>
                </a:solidFill>
                <a:effectLst/>
                <a:uLnTx/>
                <a:uFillTx/>
                <a:latin typeface="Arial" panose="020B0604020202020204" pitchFamily="34" charset="0"/>
                <a:ea typeface="+mn-ea"/>
                <a:cs typeface="+mn-cs"/>
                <a:sym typeface="Arial"/>
              </a:rPr>
              <a:t> </a:t>
            </a:r>
            <a:r>
              <a:rPr kumimoji="0" lang="en-US" sz="1400" u="none" strike="noStrike" kern="1200" cap="none" spc="0" normalizeH="0" baseline="0" noProof="0" dirty="0">
                <a:ln>
                  <a:noFill/>
                </a:ln>
                <a:solidFill>
                  <a:srgbClr val="3C3C3C"/>
                </a:solidFill>
                <a:effectLst/>
                <a:uLnTx/>
                <a:uFillTx/>
                <a:latin typeface="Arial" panose="020B0604020202020204" pitchFamily="34" charset="0"/>
                <a:ea typeface="+mn-ea"/>
                <a:cs typeface="+mn-cs"/>
                <a:sym typeface="Arial"/>
              </a:rPr>
              <a:t>of a new VCF instance </a:t>
            </a:r>
            <a:endParaRPr kumimoji="0" sz="1799"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nvGrpSpPr>
          <p:cNvPr id="3528" name="Google Shape;3528;p49" descr="IP or FC network ">
            <a:extLst>
              <a:ext uri="{FF2B5EF4-FFF2-40B4-BE49-F238E27FC236}">
                <a16:creationId xmlns:a16="http://schemas.microsoft.com/office/drawing/2014/main" id="{B8FE6097-5D92-EC37-29FF-7E62F6F6FDE1}"/>
              </a:ext>
            </a:extLst>
          </p:cNvPr>
          <p:cNvGrpSpPr/>
          <p:nvPr/>
        </p:nvGrpSpPr>
        <p:grpSpPr>
          <a:xfrm>
            <a:off x="9681294" y="1419414"/>
            <a:ext cx="1904008" cy="678441"/>
            <a:chOff x="9591675" y="1616349"/>
            <a:chExt cx="1905000" cy="678795"/>
          </a:xfrm>
        </p:grpSpPr>
        <p:sp>
          <p:nvSpPr>
            <p:cNvPr id="3529" name="Google Shape;3529;p49">
              <a:extLst>
                <a:ext uri="{FF2B5EF4-FFF2-40B4-BE49-F238E27FC236}">
                  <a16:creationId xmlns:a16="http://schemas.microsoft.com/office/drawing/2014/main" id="{2F49152F-F056-9FFE-391E-55B8D12B4AE4}"/>
                </a:ext>
              </a:extLst>
            </p:cNvPr>
            <p:cNvSpPr txBox="1"/>
            <p:nvPr/>
          </p:nvSpPr>
          <p:spPr>
            <a:xfrm>
              <a:off x="9591675" y="1616349"/>
              <a:ext cx="1905000" cy="338554"/>
            </a:xfrm>
            <a:prstGeom prst="rect">
              <a:avLst/>
            </a:prstGeom>
            <a:noFill/>
            <a:ln>
              <a:noFill/>
            </a:ln>
          </p:spPr>
          <p:txBody>
            <a:bodyPr spcFirstLastPara="1" wrap="square" lIns="91400" tIns="45675" rIns="91400" bIns="45675"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u="none" strike="noStrike" kern="1200" cap="none" spc="0" normalizeH="0" baseline="0" noProof="0" dirty="0">
                  <a:ln>
                    <a:noFill/>
                  </a:ln>
                  <a:solidFill>
                    <a:srgbClr val="3F3F3F"/>
                  </a:solidFill>
                  <a:effectLst/>
                  <a:uLnTx/>
                  <a:uFillTx/>
                  <a:latin typeface="Arial" panose="020B0604020202020204" pitchFamily="34" charset="0"/>
                  <a:ea typeface="+mn-ea"/>
                  <a:cs typeface="+mn-cs"/>
                  <a:sym typeface="Arial"/>
                </a:rPr>
                <a:t>IP or FC Network</a:t>
              </a:r>
              <a:endParaRPr kumimoji="0" sz="1799"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3530" name="Google Shape;3530;p49">
              <a:extLst>
                <a:ext uri="{FF2B5EF4-FFF2-40B4-BE49-F238E27FC236}">
                  <a16:creationId xmlns:a16="http://schemas.microsoft.com/office/drawing/2014/main" id="{F219F41E-FAC9-D2A6-3A9E-0BC64D654B4E}"/>
                </a:ext>
              </a:extLst>
            </p:cNvPr>
            <p:cNvSpPr/>
            <p:nvPr/>
          </p:nvSpPr>
          <p:spPr>
            <a:xfrm>
              <a:off x="9820275" y="2020824"/>
              <a:ext cx="1466850" cy="274320"/>
            </a:xfrm>
            <a:prstGeom prst="roundRect">
              <a:avLst>
                <a:gd name="adj" fmla="val 0"/>
              </a:avLst>
            </a:prstGeom>
            <a:solidFill>
              <a:schemeClr val="tx1"/>
            </a:solidFill>
            <a:ln>
              <a:noFill/>
            </a:ln>
          </p:spPr>
          <p:txBody>
            <a:bodyPr spcFirstLastPara="1" wrap="square" lIns="91300" tIns="45625" rIns="91300" bIns="456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rPr>
                <a:t>Switches</a:t>
              </a:r>
              <a:endParaRPr kumimoji="0" sz="1799"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cxnSp>
        <p:nvCxnSpPr>
          <p:cNvPr id="9" name="Google Shape;3573;p49">
            <a:extLst>
              <a:ext uri="{FF2B5EF4-FFF2-40B4-BE49-F238E27FC236}">
                <a16:creationId xmlns:a16="http://schemas.microsoft.com/office/drawing/2014/main" id="{D5FEB2B4-263F-052F-D046-83B973AA2D5E}"/>
              </a:ext>
            </a:extLst>
          </p:cNvPr>
          <p:cNvCxnSpPr/>
          <p:nvPr/>
        </p:nvCxnSpPr>
        <p:spPr>
          <a:xfrm>
            <a:off x="8467373" y="2476315"/>
            <a:ext cx="211222" cy="0"/>
          </a:xfrm>
          <a:prstGeom prst="straightConnector1">
            <a:avLst/>
          </a:prstGeom>
          <a:solidFill>
            <a:schemeClr val="accent2"/>
          </a:solidFill>
          <a:ln w="12700" cap="flat" cmpd="sng">
            <a:solidFill>
              <a:schemeClr val="bg1"/>
            </a:solidFill>
            <a:prstDash val="solid"/>
            <a:round/>
            <a:headEnd type="none" w="sm" len="sm"/>
            <a:tailEnd type="none" w="sm" len="sm"/>
          </a:ln>
        </p:spPr>
      </p:cxnSp>
      <p:grpSp>
        <p:nvGrpSpPr>
          <p:cNvPr id="12" name="Group 11">
            <a:extLst>
              <a:ext uri="{FF2B5EF4-FFF2-40B4-BE49-F238E27FC236}">
                <a16:creationId xmlns:a16="http://schemas.microsoft.com/office/drawing/2014/main" id="{DFEDE389-366A-CB3C-8190-C74BC8F0CB1B}"/>
              </a:ext>
            </a:extLst>
          </p:cNvPr>
          <p:cNvGrpSpPr/>
          <p:nvPr/>
        </p:nvGrpSpPr>
        <p:grpSpPr>
          <a:xfrm>
            <a:off x="5652872" y="1946112"/>
            <a:ext cx="4244765" cy="465146"/>
            <a:chOff x="5652872" y="1946112"/>
            <a:chExt cx="4244765" cy="465146"/>
          </a:xfrm>
        </p:grpSpPr>
        <p:cxnSp>
          <p:nvCxnSpPr>
            <p:cNvPr id="3525" name="Google Shape;3525;p49">
              <a:extLst>
                <a:ext uri="{FF2B5EF4-FFF2-40B4-BE49-F238E27FC236}">
                  <a16:creationId xmlns:a16="http://schemas.microsoft.com/office/drawing/2014/main" id="{8CCAE82B-B767-45EF-05CB-EB065E628938}"/>
                </a:ext>
              </a:extLst>
            </p:cNvPr>
            <p:cNvCxnSpPr/>
            <p:nvPr/>
          </p:nvCxnSpPr>
          <p:spPr>
            <a:xfrm rot="16200000" flipH="1">
              <a:off x="5552909" y="2061323"/>
              <a:ext cx="345472" cy="121260"/>
            </a:xfrm>
            <a:prstGeom prst="bentConnector2">
              <a:avLst/>
            </a:prstGeom>
            <a:noFill/>
            <a:ln w="25400" cap="flat" cmpd="sng">
              <a:solidFill>
                <a:srgbClr val="7F7F7F"/>
              </a:solidFill>
              <a:prstDash val="solid"/>
              <a:round/>
              <a:headEnd type="none" w="sm" len="sm"/>
              <a:tailEnd type="none" w="sm" len="sm"/>
            </a:ln>
          </p:spPr>
        </p:cxnSp>
        <p:cxnSp>
          <p:nvCxnSpPr>
            <p:cNvPr id="3531" name="Google Shape;3531;p49">
              <a:extLst>
                <a:ext uri="{FF2B5EF4-FFF2-40B4-BE49-F238E27FC236}">
                  <a16:creationId xmlns:a16="http://schemas.microsoft.com/office/drawing/2014/main" id="{4D8B71B0-64AF-BFBA-3426-F6C3D91B247F}"/>
                </a:ext>
              </a:extLst>
            </p:cNvPr>
            <p:cNvCxnSpPr>
              <a:cxnSpLocks/>
            </p:cNvCxnSpPr>
            <p:nvPr/>
          </p:nvCxnSpPr>
          <p:spPr>
            <a:xfrm>
              <a:off x="5652872" y="1946112"/>
              <a:ext cx="4244765" cy="14655"/>
            </a:xfrm>
            <a:prstGeom prst="straightConnector1">
              <a:avLst/>
            </a:prstGeom>
            <a:noFill/>
            <a:ln w="25400" cap="flat" cmpd="sng">
              <a:solidFill>
                <a:srgbClr val="7F7F7F"/>
              </a:solidFill>
              <a:prstDash val="solid"/>
              <a:round/>
              <a:headEnd type="none" w="sm" len="sm"/>
              <a:tailEnd type="none" w="sm" len="sm"/>
            </a:ln>
          </p:spPr>
        </p:cxnSp>
        <p:cxnSp>
          <p:nvCxnSpPr>
            <p:cNvPr id="7" name="Google Shape;3571;p49">
              <a:extLst>
                <a:ext uri="{FF2B5EF4-FFF2-40B4-BE49-F238E27FC236}">
                  <a16:creationId xmlns:a16="http://schemas.microsoft.com/office/drawing/2014/main" id="{0FA71859-29B9-56A6-9175-B1105DC8B8B4}"/>
                </a:ext>
              </a:extLst>
            </p:cNvPr>
            <p:cNvCxnSpPr/>
            <p:nvPr/>
          </p:nvCxnSpPr>
          <p:spPr>
            <a:xfrm>
              <a:off x="8471126" y="1957115"/>
              <a:ext cx="0" cy="430722"/>
            </a:xfrm>
            <a:prstGeom prst="straightConnector1">
              <a:avLst/>
            </a:prstGeom>
            <a:solidFill>
              <a:schemeClr val="accent2"/>
            </a:solidFill>
            <a:ln w="25400" cap="flat" cmpd="sng">
              <a:solidFill>
                <a:schemeClr val="bg2">
                  <a:lumMod val="50000"/>
                </a:schemeClr>
              </a:solidFill>
              <a:prstDash val="solid"/>
              <a:round/>
              <a:headEnd type="none" w="sm" len="sm"/>
              <a:tailEnd type="none" w="sm" len="sm"/>
            </a:ln>
          </p:spPr>
        </p:cxnSp>
        <p:cxnSp>
          <p:nvCxnSpPr>
            <p:cNvPr id="14" name="Google Shape;3584;p49">
              <a:extLst>
                <a:ext uri="{FF2B5EF4-FFF2-40B4-BE49-F238E27FC236}">
                  <a16:creationId xmlns:a16="http://schemas.microsoft.com/office/drawing/2014/main" id="{E940F068-4E9F-CE4B-B4D1-3DCEBDB6D0BE}"/>
                </a:ext>
              </a:extLst>
            </p:cNvPr>
            <p:cNvCxnSpPr/>
            <p:nvPr/>
          </p:nvCxnSpPr>
          <p:spPr>
            <a:xfrm rot="16200000" flipH="1">
              <a:off x="7006308" y="2039394"/>
              <a:ext cx="456962" cy="286765"/>
            </a:xfrm>
            <a:prstGeom prst="bentConnector2">
              <a:avLst/>
            </a:prstGeom>
            <a:solidFill>
              <a:schemeClr val="accent1"/>
            </a:solidFill>
            <a:ln w="25400" cap="flat" cmpd="sng">
              <a:solidFill>
                <a:schemeClr val="bg2">
                  <a:lumMod val="50000"/>
                </a:schemeClr>
              </a:solidFill>
              <a:prstDash val="solid"/>
              <a:round/>
              <a:headEnd type="none" w="sm" len="sm"/>
              <a:tailEnd type="none" w="sm" len="sm"/>
            </a:ln>
          </p:spPr>
        </p:cxnSp>
      </p:grpSp>
      <p:sp>
        <p:nvSpPr>
          <p:cNvPr id="15" name="Google Shape;3585;p49">
            <a:extLst>
              <a:ext uri="{FF2B5EF4-FFF2-40B4-BE49-F238E27FC236}">
                <a16:creationId xmlns:a16="http://schemas.microsoft.com/office/drawing/2014/main" id="{C8095F81-9DA9-733E-005C-591D8EA3757F}"/>
              </a:ext>
            </a:extLst>
          </p:cNvPr>
          <p:cNvSpPr/>
          <p:nvPr/>
        </p:nvSpPr>
        <p:spPr>
          <a:xfrm>
            <a:off x="6633852" y="2169344"/>
            <a:ext cx="936000" cy="648000"/>
          </a:xfrm>
          <a:prstGeom prst="can">
            <a:avLst>
              <a:gd name="adj" fmla="val 25000"/>
            </a:avLst>
          </a:prstGeom>
          <a:solidFill>
            <a:schemeClr val="accent1"/>
          </a:solidFill>
          <a:ln w="9525" cap="flat" cmpd="sng">
            <a:solidFill>
              <a:schemeClr val="bg1"/>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t>NFS</a:t>
            </a:r>
            <a:endParaRPr kumimoji="0" sz="16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endParaRPr>
          </a:p>
        </p:txBody>
      </p:sp>
      <p:grpSp>
        <p:nvGrpSpPr>
          <p:cNvPr id="16" name="Group 15">
            <a:extLst>
              <a:ext uri="{FF2B5EF4-FFF2-40B4-BE49-F238E27FC236}">
                <a16:creationId xmlns:a16="http://schemas.microsoft.com/office/drawing/2014/main" id="{7CAC2CB0-184E-A75B-5394-8C4240ACFB79}"/>
              </a:ext>
            </a:extLst>
          </p:cNvPr>
          <p:cNvGrpSpPr/>
          <p:nvPr/>
        </p:nvGrpSpPr>
        <p:grpSpPr>
          <a:xfrm>
            <a:off x="201068" y="3001492"/>
            <a:ext cx="11378477" cy="1468598"/>
            <a:chOff x="201068" y="3001492"/>
            <a:chExt cx="11378477" cy="1468598"/>
          </a:xfrm>
        </p:grpSpPr>
        <p:grpSp>
          <p:nvGrpSpPr>
            <p:cNvPr id="3532" name="Google Shape;3532;p49" descr="principal storage option-used to create a workload domain or cluster">
              <a:extLst>
                <a:ext uri="{FF2B5EF4-FFF2-40B4-BE49-F238E27FC236}">
                  <a16:creationId xmlns:a16="http://schemas.microsoft.com/office/drawing/2014/main" id="{DC1F00D9-4121-FC40-2904-64EF80D7FED4}"/>
                </a:ext>
              </a:extLst>
            </p:cNvPr>
            <p:cNvGrpSpPr/>
            <p:nvPr/>
          </p:nvGrpSpPr>
          <p:grpSpPr>
            <a:xfrm>
              <a:off x="201068" y="3001492"/>
              <a:ext cx="11378477" cy="1468598"/>
              <a:chOff x="197999" y="3115569"/>
              <a:chExt cx="11384401" cy="1469363"/>
            </a:xfrm>
          </p:grpSpPr>
          <p:sp>
            <p:nvSpPr>
              <p:cNvPr id="3533" name="Google Shape;3533;p49">
                <a:extLst>
                  <a:ext uri="{FF2B5EF4-FFF2-40B4-BE49-F238E27FC236}">
                    <a16:creationId xmlns:a16="http://schemas.microsoft.com/office/drawing/2014/main" id="{FCFC77E0-58F8-1C34-6CE6-3010CBD9ADE3}"/>
                  </a:ext>
                </a:extLst>
              </p:cNvPr>
              <p:cNvSpPr/>
              <p:nvPr/>
            </p:nvSpPr>
            <p:spPr>
              <a:xfrm>
                <a:off x="616586" y="3115569"/>
                <a:ext cx="10965814" cy="1469363"/>
              </a:xfrm>
              <a:prstGeom prst="roundRect">
                <a:avLst>
                  <a:gd name="adj" fmla="val 7272"/>
                </a:avLst>
              </a:prstGeom>
              <a:solidFill>
                <a:srgbClr val="F4F8FA"/>
              </a:solidFill>
              <a:ln>
                <a:noFill/>
              </a:ln>
              <a:effectLst>
                <a:outerShdw blurRad="215900" dist="38100" algn="tl" rotWithShape="0">
                  <a:prstClr val="black">
                    <a:alpha val="11000"/>
                  </a:prstClr>
                </a:outerShdw>
              </a:effectLst>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endParaRPr>
              </a:p>
            </p:txBody>
          </p:sp>
          <p:sp>
            <p:nvSpPr>
              <p:cNvPr id="3534" name="Google Shape;3534;p49">
                <a:extLst>
                  <a:ext uri="{FF2B5EF4-FFF2-40B4-BE49-F238E27FC236}">
                    <a16:creationId xmlns:a16="http://schemas.microsoft.com/office/drawing/2014/main" id="{9C3A1CDB-3195-10C6-9F07-6879099A4085}"/>
                  </a:ext>
                </a:extLst>
              </p:cNvPr>
              <p:cNvSpPr txBox="1"/>
              <p:nvPr/>
            </p:nvSpPr>
            <p:spPr>
              <a:xfrm>
                <a:off x="197999" y="3202710"/>
                <a:ext cx="10108354" cy="307777"/>
              </a:xfrm>
              <a:prstGeom prst="rect">
                <a:avLst/>
              </a:prstGeom>
              <a:noFill/>
              <a:ln>
                <a:noFill/>
              </a:ln>
            </p:spPr>
            <p:txBody>
              <a:bodyPr spcFirstLastPara="1" wrap="square" lIns="91400" tIns="45675" rIns="91400" bIns="45675"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spc="0" normalizeH="0" baseline="0" noProof="0" dirty="0">
                    <a:ln>
                      <a:noFill/>
                    </a:ln>
                    <a:solidFill>
                      <a:srgbClr val="3C3C3C"/>
                    </a:solidFill>
                    <a:effectLst/>
                    <a:uLnTx/>
                    <a:uFillTx/>
                    <a:latin typeface="Arial" panose="020B0604020202020204" pitchFamily="34" charset="0"/>
                    <a:ea typeface="+mn-ea"/>
                    <a:cs typeface="+mn-cs"/>
                    <a:sym typeface="Arial"/>
                  </a:rPr>
                  <a:t>Principal storage options when creating a </a:t>
                </a:r>
                <a:r>
                  <a:rPr kumimoji="0" lang="en-US" sz="1400" b="1" u="none" strike="noStrike" kern="1200" cap="none" spc="0" normalizeH="0" baseline="0" noProof="0" dirty="0">
                    <a:ln>
                      <a:noFill/>
                    </a:ln>
                    <a:solidFill>
                      <a:srgbClr val="3C3C3C"/>
                    </a:solidFill>
                    <a:effectLst/>
                    <a:uLnTx/>
                    <a:uFillTx/>
                    <a:latin typeface="Arial" panose="020B0604020202020204" pitchFamily="34" charset="0"/>
                    <a:ea typeface="+mn-ea"/>
                    <a:cs typeface="+mn-cs"/>
                    <a:sym typeface="Arial"/>
                  </a:rPr>
                  <a:t>Workload Domain </a:t>
                </a:r>
                <a:r>
                  <a:rPr kumimoji="0" lang="en-US" sz="1400" u="none" strike="noStrike" kern="1200" cap="none" spc="0" normalizeH="0" baseline="0" noProof="0" dirty="0">
                    <a:ln>
                      <a:noFill/>
                    </a:ln>
                    <a:solidFill>
                      <a:srgbClr val="3C3C3C"/>
                    </a:solidFill>
                    <a:effectLst/>
                    <a:uLnTx/>
                    <a:uFillTx/>
                    <a:latin typeface="Arial" panose="020B0604020202020204" pitchFamily="34" charset="0"/>
                    <a:ea typeface="+mn-ea"/>
                    <a:cs typeface="+mn-cs"/>
                    <a:sym typeface="Arial"/>
                  </a:rPr>
                  <a:t>or </a:t>
                </a:r>
                <a:r>
                  <a:rPr kumimoji="0" lang="en-US" sz="1400" b="1" u="none" strike="noStrike" kern="1200" cap="none" spc="0" normalizeH="0" baseline="0" noProof="0" dirty="0">
                    <a:ln>
                      <a:noFill/>
                    </a:ln>
                    <a:solidFill>
                      <a:srgbClr val="3C3C3C"/>
                    </a:solidFill>
                    <a:effectLst/>
                    <a:uLnTx/>
                    <a:uFillTx/>
                    <a:latin typeface="Arial" panose="020B0604020202020204" pitchFamily="34" charset="0"/>
                    <a:ea typeface="+mn-ea"/>
                    <a:cs typeface="+mn-cs"/>
                    <a:sym typeface="Arial"/>
                  </a:rPr>
                  <a:t>Cluster </a:t>
                </a:r>
                <a:r>
                  <a:rPr kumimoji="0" lang="en-US" sz="1400" u="none" strike="noStrike" kern="1200" cap="none" spc="0" normalizeH="0" baseline="0" noProof="0" dirty="0">
                    <a:ln>
                      <a:noFill/>
                    </a:ln>
                    <a:solidFill>
                      <a:srgbClr val="3C3C3C"/>
                    </a:solidFill>
                    <a:effectLst/>
                    <a:uLnTx/>
                    <a:uFillTx/>
                    <a:latin typeface="Arial" panose="020B0604020202020204" pitchFamily="34" charset="0"/>
                    <a:ea typeface="+mn-ea"/>
                    <a:cs typeface="+mn-cs"/>
                    <a:sym typeface="Arial"/>
                  </a:rPr>
                  <a:t>(configured per-cluster) </a:t>
                </a:r>
                <a:endParaRPr kumimoji="0" sz="1799"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grpSp>
          <p:nvGrpSpPr>
            <p:cNvPr id="3558" name="Google Shape;3558;p49">
              <a:extLst>
                <a:ext uri="{FF2B5EF4-FFF2-40B4-BE49-F238E27FC236}">
                  <a16:creationId xmlns:a16="http://schemas.microsoft.com/office/drawing/2014/main" id="{75EAF367-566C-156B-F410-D77AB6BA00A9}"/>
                </a:ext>
              </a:extLst>
            </p:cNvPr>
            <p:cNvGrpSpPr/>
            <p:nvPr/>
          </p:nvGrpSpPr>
          <p:grpSpPr>
            <a:xfrm>
              <a:off x="3135741" y="3499628"/>
              <a:ext cx="936000" cy="877834"/>
              <a:chOff x="4351904" y="3898821"/>
              <a:chExt cx="792000" cy="878292"/>
            </a:xfrm>
            <a:solidFill>
              <a:schemeClr val="accent4"/>
            </a:solidFill>
          </p:grpSpPr>
          <p:sp>
            <p:nvSpPr>
              <p:cNvPr id="3560" name="Google Shape;3560;p49">
                <a:extLst>
                  <a:ext uri="{FF2B5EF4-FFF2-40B4-BE49-F238E27FC236}">
                    <a16:creationId xmlns:a16="http://schemas.microsoft.com/office/drawing/2014/main" id="{39AEB0F4-8070-87B8-EFD3-6456AF5291F5}"/>
                  </a:ext>
                </a:extLst>
              </p:cNvPr>
              <p:cNvSpPr/>
              <p:nvPr/>
            </p:nvSpPr>
            <p:spPr>
              <a:xfrm>
                <a:off x="4351904" y="4092756"/>
                <a:ext cx="792000" cy="684357"/>
              </a:xfrm>
              <a:prstGeom prst="can">
                <a:avLst>
                  <a:gd name="adj" fmla="val 25000"/>
                </a:avLst>
              </a:prstGeom>
              <a:grpFill/>
              <a:ln w="9525" cap="flat" cmpd="sng">
                <a:solidFill>
                  <a:schemeClr val="bg1"/>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t>vSAN HCI </a:t>
                </a:r>
                <a:r>
                  <a:rPr kumimoji="0" lang="en-US" sz="8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t>(ESA/OSA)</a:t>
                </a:r>
                <a:endParaRPr kumimoji="0" sz="8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endParaRPr>
              </a:p>
            </p:txBody>
          </p:sp>
          <p:cxnSp>
            <p:nvCxnSpPr>
              <p:cNvPr id="3561" name="Google Shape;3561;p49">
                <a:extLst>
                  <a:ext uri="{FF2B5EF4-FFF2-40B4-BE49-F238E27FC236}">
                    <a16:creationId xmlns:a16="http://schemas.microsoft.com/office/drawing/2014/main" id="{0D82614B-B751-42DE-130F-15391618935D}"/>
                  </a:ext>
                </a:extLst>
              </p:cNvPr>
              <p:cNvCxnSpPr>
                <a:cxnSpLocks/>
              </p:cNvCxnSpPr>
              <p:nvPr/>
            </p:nvCxnSpPr>
            <p:spPr>
              <a:xfrm>
                <a:off x="4751882" y="3898821"/>
                <a:ext cx="0" cy="188424"/>
              </a:xfrm>
              <a:prstGeom prst="straightConnector1">
                <a:avLst/>
              </a:prstGeom>
              <a:grpFill/>
              <a:ln w="25400" cap="flat" cmpd="sng">
                <a:solidFill>
                  <a:schemeClr val="bg2">
                    <a:lumMod val="50000"/>
                  </a:schemeClr>
                </a:solidFill>
                <a:prstDash val="solid"/>
                <a:round/>
                <a:headEnd type="none" w="sm" len="sm"/>
                <a:tailEnd type="none" w="sm" len="sm"/>
              </a:ln>
            </p:spPr>
          </p:cxnSp>
        </p:grpSp>
        <p:sp>
          <p:nvSpPr>
            <p:cNvPr id="3567" name="Google Shape;3567;p49">
              <a:extLst>
                <a:ext uri="{FF2B5EF4-FFF2-40B4-BE49-F238E27FC236}">
                  <a16:creationId xmlns:a16="http://schemas.microsoft.com/office/drawing/2014/main" id="{E18553E6-21B5-0D7C-845F-70719AAEC372}"/>
                </a:ext>
              </a:extLst>
            </p:cNvPr>
            <p:cNvSpPr/>
            <p:nvPr/>
          </p:nvSpPr>
          <p:spPr>
            <a:xfrm>
              <a:off x="5899978" y="3691857"/>
              <a:ext cx="936000" cy="684000"/>
            </a:xfrm>
            <a:prstGeom prst="can">
              <a:avLst>
                <a:gd name="adj" fmla="val 25000"/>
              </a:avLst>
            </a:prstGeom>
            <a:solidFill>
              <a:schemeClr val="accent4"/>
            </a:solidFill>
            <a:ln w="9525" cap="flat" cmpd="sng">
              <a:solidFill>
                <a:schemeClr val="bg1"/>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t>vSAN</a:t>
              </a:r>
              <a:br>
                <a:rPr kumimoji="0" lang="en-US" sz="12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br>
              <a:r>
                <a:rPr lang="en-US" sz="800" dirty="0">
                  <a:solidFill>
                    <a:schemeClr val="bg1"/>
                  </a:solidFill>
                  <a:latin typeface="Arial" panose="020B0604020202020204" pitchFamily="34" charset="0"/>
                  <a:sym typeface="Arial"/>
                </a:rPr>
                <a:t>R</a:t>
              </a:r>
              <a:r>
                <a:rPr kumimoji="0" lang="en-US" sz="8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t>emote Datastores</a:t>
              </a:r>
              <a:endParaRPr kumimoji="0" sz="8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endParaRPr>
            </a:p>
          </p:txBody>
        </p:sp>
        <p:grpSp>
          <p:nvGrpSpPr>
            <p:cNvPr id="3569" name="Google Shape;3569;p49">
              <a:extLst>
                <a:ext uri="{FF2B5EF4-FFF2-40B4-BE49-F238E27FC236}">
                  <a16:creationId xmlns:a16="http://schemas.microsoft.com/office/drawing/2014/main" id="{9BF7E495-46F6-D1C5-1B1F-2B3CC626D98F}"/>
                </a:ext>
              </a:extLst>
            </p:cNvPr>
            <p:cNvGrpSpPr/>
            <p:nvPr/>
          </p:nvGrpSpPr>
          <p:grpSpPr>
            <a:xfrm>
              <a:off x="8648485" y="3687955"/>
              <a:ext cx="936000" cy="684000"/>
              <a:chOff x="3341975" y="4198746"/>
              <a:chExt cx="792000" cy="665651"/>
            </a:xfrm>
            <a:solidFill>
              <a:schemeClr val="accent2"/>
            </a:solidFill>
          </p:grpSpPr>
          <p:cxnSp>
            <p:nvCxnSpPr>
              <p:cNvPr id="3573" name="Google Shape;3573;p49">
                <a:extLst>
                  <a:ext uri="{FF2B5EF4-FFF2-40B4-BE49-F238E27FC236}">
                    <a16:creationId xmlns:a16="http://schemas.microsoft.com/office/drawing/2014/main" id="{E4DB332C-5995-CE3A-52AB-C2F68E278E61}"/>
                  </a:ext>
                </a:extLst>
              </p:cNvPr>
              <p:cNvCxnSpPr/>
              <p:nvPr/>
            </p:nvCxnSpPr>
            <p:spPr>
              <a:xfrm>
                <a:off x="3735640" y="4505204"/>
                <a:ext cx="178726" cy="0"/>
              </a:xfrm>
              <a:prstGeom prst="straightConnector1">
                <a:avLst/>
              </a:prstGeom>
              <a:grpFill/>
              <a:ln w="12700" cap="flat" cmpd="sng">
                <a:solidFill>
                  <a:schemeClr val="bg1"/>
                </a:solidFill>
                <a:prstDash val="solid"/>
                <a:round/>
                <a:headEnd type="none" w="sm" len="sm"/>
                <a:tailEnd type="none" w="sm" len="sm"/>
              </a:ln>
            </p:spPr>
          </p:cxnSp>
          <p:sp>
            <p:nvSpPr>
              <p:cNvPr id="3574" name="Google Shape;3574;p49">
                <a:extLst>
                  <a:ext uri="{FF2B5EF4-FFF2-40B4-BE49-F238E27FC236}">
                    <a16:creationId xmlns:a16="http://schemas.microsoft.com/office/drawing/2014/main" id="{F68FE1B1-8AF8-316E-C9FF-4C8EC807BBA3}"/>
                  </a:ext>
                </a:extLst>
              </p:cNvPr>
              <p:cNvSpPr/>
              <p:nvPr/>
            </p:nvSpPr>
            <p:spPr>
              <a:xfrm>
                <a:off x="3341975" y="4198746"/>
                <a:ext cx="792000" cy="665651"/>
              </a:xfrm>
              <a:prstGeom prst="can">
                <a:avLst>
                  <a:gd name="adj" fmla="val 25000"/>
                </a:avLst>
              </a:prstGeom>
              <a:grpFill/>
              <a:ln w="9525" cap="flat" cmpd="sng">
                <a:solidFill>
                  <a:schemeClr val="bg1"/>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t>FC</a:t>
                </a:r>
                <a:endParaRPr kumimoji="0" sz="7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endParaRPr>
              </a:p>
            </p:txBody>
          </p:sp>
        </p:grpSp>
        <p:cxnSp>
          <p:nvCxnSpPr>
            <p:cNvPr id="3576" name="Google Shape;3576;p49">
              <a:extLst>
                <a:ext uri="{FF2B5EF4-FFF2-40B4-BE49-F238E27FC236}">
                  <a16:creationId xmlns:a16="http://schemas.microsoft.com/office/drawing/2014/main" id="{1C30960C-AF01-A64D-B981-09C1E1B99B7F}"/>
                </a:ext>
              </a:extLst>
            </p:cNvPr>
            <p:cNvCxnSpPr>
              <a:cxnSpLocks/>
            </p:cNvCxnSpPr>
            <p:nvPr/>
          </p:nvCxnSpPr>
          <p:spPr>
            <a:xfrm>
              <a:off x="3594657" y="3491205"/>
              <a:ext cx="7087429" cy="8256"/>
            </a:xfrm>
            <a:prstGeom prst="straightConnector1">
              <a:avLst/>
            </a:prstGeom>
            <a:noFill/>
            <a:ln w="25400" cap="flat" cmpd="sng">
              <a:solidFill>
                <a:srgbClr val="7F7F7F"/>
              </a:solidFill>
              <a:prstDash val="solid"/>
              <a:round/>
              <a:headEnd type="none" w="sm" len="sm"/>
              <a:tailEnd type="none" w="sm" len="sm"/>
            </a:ln>
          </p:spPr>
        </p:cxnSp>
        <p:sp>
          <p:nvSpPr>
            <p:cNvPr id="3585" name="Google Shape;3585;p49">
              <a:extLst>
                <a:ext uri="{FF2B5EF4-FFF2-40B4-BE49-F238E27FC236}">
                  <a16:creationId xmlns:a16="http://schemas.microsoft.com/office/drawing/2014/main" id="{A978188F-F768-DB64-3CEF-C29F37D1782F}"/>
                </a:ext>
              </a:extLst>
            </p:cNvPr>
            <p:cNvSpPr/>
            <p:nvPr/>
          </p:nvSpPr>
          <p:spPr>
            <a:xfrm>
              <a:off x="7330237" y="3691865"/>
              <a:ext cx="936000" cy="684000"/>
            </a:xfrm>
            <a:prstGeom prst="can">
              <a:avLst>
                <a:gd name="adj" fmla="val 25000"/>
              </a:avLst>
            </a:prstGeom>
            <a:solidFill>
              <a:schemeClr val="accent1"/>
            </a:solidFill>
            <a:ln w="9525" cap="flat" cmpd="sng">
              <a:solidFill>
                <a:schemeClr val="bg1"/>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t>NFS</a:t>
              </a:r>
              <a:endParaRPr kumimoji="0" sz="16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endParaRPr>
            </a:p>
          </p:txBody>
        </p:sp>
        <p:sp>
          <p:nvSpPr>
            <p:cNvPr id="3598" name="Google Shape;3598;p49">
              <a:extLst>
                <a:ext uri="{FF2B5EF4-FFF2-40B4-BE49-F238E27FC236}">
                  <a16:creationId xmlns:a16="http://schemas.microsoft.com/office/drawing/2014/main" id="{4A230A75-C4FC-1A2A-8022-EC68F6086810}"/>
                </a:ext>
              </a:extLst>
            </p:cNvPr>
            <p:cNvSpPr/>
            <p:nvPr/>
          </p:nvSpPr>
          <p:spPr>
            <a:xfrm>
              <a:off x="4517860" y="3693450"/>
              <a:ext cx="936000" cy="684000"/>
            </a:xfrm>
            <a:prstGeom prst="can">
              <a:avLst>
                <a:gd name="adj" fmla="val 25000"/>
              </a:avLst>
            </a:prstGeom>
            <a:solidFill>
              <a:schemeClr val="accent4"/>
            </a:solidFill>
            <a:ln w="9525" cap="flat" cmpd="sng">
              <a:solidFill>
                <a:schemeClr val="bg1"/>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t>vSAN HCI </a:t>
              </a:r>
              <a:r>
                <a:rPr lang="en-US" sz="800" dirty="0">
                  <a:solidFill>
                    <a:schemeClr val="bg1"/>
                  </a:solidFill>
                  <a:latin typeface="Arial" panose="020B0604020202020204" pitchFamily="34" charset="0"/>
                  <a:sym typeface="Arial"/>
                </a:rPr>
                <a:t>Storage Clusters</a:t>
              </a:r>
              <a:endParaRPr kumimoji="0" sz="8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endParaRPr>
            </a:p>
          </p:txBody>
        </p:sp>
        <p:cxnSp>
          <p:nvCxnSpPr>
            <p:cNvPr id="31" name="Google Shape;3561;p49">
              <a:extLst>
                <a:ext uri="{FF2B5EF4-FFF2-40B4-BE49-F238E27FC236}">
                  <a16:creationId xmlns:a16="http://schemas.microsoft.com/office/drawing/2014/main" id="{82250CBF-696E-029B-5218-063CCE93644A}"/>
                </a:ext>
              </a:extLst>
            </p:cNvPr>
            <p:cNvCxnSpPr>
              <a:cxnSpLocks/>
            </p:cNvCxnSpPr>
            <p:nvPr/>
          </p:nvCxnSpPr>
          <p:spPr>
            <a:xfrm>
              <a:off x="4985860" y="3497634"/>
              <a:ext cx="0" cy="179632"/>
            </a:xfrm>
            <a:prstGeom prst="straightConnector1">
              <a:avLst/>
            </a:prstGeom>
            <a:solidFill>
              <a:srgbClr val="F4F8FA"/>
            </a:solidFill>
            <a:ln w="25400" cap="flat" cmpd="sng">
              <a:solidFill>
                <a:srgbClr val="7F7F7F"/>
              </a:solidFill>
              <a:prstDash val="solid"/>
              <a:round/>
              <a:headEnd type="none" w="sm" len="sm"/>
              <a:tailEnd type="none" w="sm" len="sm"/>
            </a:ln>
          </p:spPr>
        </p:cxnSp>
        <p:cxnSp>
          <p:nvCxnSpPr>
            <p:cNvPr id="32" name="Google Shape;3561;p49">
              <a:extLst>
                <a:ext uri="{FF2B5EF4-FFF2-40B4-BE49-F238E27FC236}">
                  <a16:creationId xmlns:a16="http://schemas.microsoft.com/office/drawing/2014/main" id="{E009C095-572F-A03C-67E3-D9C68385EE11}"/>
                </a:ext>
              </a:extLst>
            </p:cNvPr>
            <p:cNvCxnSpPr>
              <a:cxnSpLocks/>
              <a:endCxn id="3567" idx="1"/>
            </p:cNvCxnSpPr>
            <p:nvPr/>
          </p:nvCxnSpPr>
          <p:spPr>
            <a:xfrm>
              <a:off x="6367978" y="3508147"/>
              <a:ext cx="0" cy="183710"/>
            </a:xfrm>
            <a:prstGeom prst="straightConnector1">
              <a:avLst/>
            </a:prstGeom>
            <a:solidFill>
              <a:srgbClr val="F4F8FA"/>
            </a:solidFill>
            <a:ln w="25400" cap="flat" cmpd="sng">
              <a:solidFill>
                <a:srgbClr val="7F7F7F"/>
              </a:solidFill>
              <a:prstDash val="solid"/>
              <a:round/>
              <a:headEnd type="none" w="sm" len="sm"/>
              <a:tailEnd type="none" w="sm" len="sm"/>
            </a:ln>
          </p:spPr>
        </p:cxnSp>
        <p:cxnSp>
          <p:nvCxnSpPr>
            <p:cNvPr id="34" name="Google Shape;3561;p49">
              <a:extLst>
                <a:ext uri="{FF2B5EF4-FFF2-40B4-BE49-F238E27FC236}">
                  <a16:creationId xmlns:a16="http://schemas.microsoft.com/office/drawing/2014/main" id="{DD264A33-956B-A79C-1928-CF1FC9DD08C3}"/>
                </a:ext>
              </a:extLst>
            </p:cNvPr>
            <p:cNvCxnSpPr>
              <a:cxnSpLocks/>
            </p:cNvCxnSpPr>
            <p:nvPr/>
          </p:nvCxnSpPr>
          <p:spPr>
            <a:xfrm>
              <a:off x="7780264" y="3491205"/>
              <a:ext cx="0" cy="208225"/>
            </a:xfrm>
            <a:prstGeom prst="straightConnector1">
              <a:avLst/>
            </a:prstGeom>
            <a:solidFill>
              <a:srgbClr val="F4F8FA"/>
            </a:solidFill>
            <a:ln w="25400" cap="flat" cmpd="sng">
              <a:solidFill>
                <a:srgbClr val="7F7F7F"/>
              </a:solidFill>
              <a:prstDash val="solid"/>
              <a:round/>
              <a:headEnd type="none" w="sm" len="sm"/>
              <a:tailEnd type="none" w="sm" len="sm"/>
            </a:ln>
          </p:spPr>
        </p:cxnSp>
        <p:cxnSp>
          <p:nvCxnSpPr>
            <p:cNvPr id="35" name="Google Shape;3561;p49">
              <a:extLst>
                <a:ext uri="{FF2B5EF4-FFF2-40B4-BE49-F238E27FC236}">
                  <a16:creationId xmlns:a16="http://schemas.microsoft.com/office/drawing/2014/main" id="{269B1A65-46C6-3123-2C5F-9556133EABD1}"/>
                </a:ext>
              </a:extLst>
            </p:cNvPr>
            <p:cNvCxnSpPr>
              <a:cxnSpLocks/>
              <a:endCxn id="3574" idx="1"/>
            </p:cNvCxnSpPr>
            <p:nvPr/>
          </p:nvCxnSpPr>
          <p:spPr>
            <a:xfrm>
              <a:off x="9116485" y="3507733"/>
              <a:ext cx="0" cy="180222"/>
            </a:xfrm>
            <a:prstGeom prst="straightConnector1">
              <a:avLst/>
            </a:prstGeom>
            <a:solidFill>
              <a:srgbClr val="F4F8FA"/>
            </a:solidFill>
            <a:ln w="25400" cap="flat" cmpd="sng">
              <a:solidFill>
                <a:srgbClr val="7F7F7F"/>
              </a:solidFill>
              <a:prstDash val="solid"/>
              <a:round/>
              <a:headEnd type="none" w="sm" len="sm"/>
              <a:tailEnd type="none" w="sm" len="sm"/>
            </a:ln>
          </p:spPr>
        </p:cxnSp>
      </p:grpSp>
      <p:grpSp>
        <p:nvGrpSpPr>
          <p:cNvPr id="17" name="Group 16">
            <a:extLst>
              <a:ext uri="{FF2B5EF4-FFF2-40B4-BE49-F238E27FC236}">
                <a16:creationId xmlns:a16="http://schemas.microsoft.com/office/drawing/2014/main" id="{79F586D9-C70B-9FF3-B20B-E52A2852854C}"/>
              </a:ext>
            </a:extLst>
          </p:cNvPr>
          <p:cNvGrpSpPr/>
          <p:nvPr/>
        </p:nvGrpSpPr>
        <p:grpSpPr>
          <a:xfrm>
            <a:off x="614678" y="4598247"/>
            <a:ext cx="11526556" cy="1735165"/>
            <a:chOff x="614678" y="4598247"/>
            <a:chExt cx="11526556" cy="1735165"/>
          </a:xfrm>
        </p:grpSpPr>
        <p:grpSp>
          <p:nvGrpSpPr>
            <p:cNvPr id="3536" name="Google Shape;3536;p49" descr="supplemental storage-used to add capacity to any domain">
              <a:extLst>
                <a:ext uri="{FF2B5EF4-FFF2-40B4-BE49-F238E27FC236}">
                  <a16:creationId xmlns:a16="http://schemas.microsoft.com/office/drawing/2014/main" id="{51164090-2B6A-1164-F275-8C57B88C3E1A}"/>
                </a:ext>
              </a:extLst>
            </p:cNvPr>
            <p:cNvGrpSpPr/>
            <p:nvPr/>
          </p:nvGrpSpPr>
          <p:grpSpPr>
            <a:xfrm>
              <a:off x="614678" y="4598247"/>
              <a:ext cx="11526556" cy="1468598"/>
              <a:chOff x="611823" y="4946957"/>
              <a:chExt cx="11532567" cy="1469363"/>
            </a:xfrm>
          </p:grpSpPr>
          <p:sp>
            <p:nvSpPr>
              <p:cNvPr id="3537" name="Google Shape;3537;p49">
                <a:extLst>
                  <a:ext uri="{FF2B5EF4-FFF2-40B4-BE49-F238E27FC236}">
                    <a16:creationId xmlns:a16="http://schemas.microsoft.com/office/drawing/2014/main" id="{92398604-9AB1-67B1-DCF8-42FEB79CDB39}"/>
                  </a:ext>
                </a:extLst>
              </p:cNvPr>
              <p:cNvSpPr/>
              <p:nvPr/>
            </p:nvSpPr>
            <p:spPr>
              <a:xfrm>
                <a:off x="611823" y="4946957"/>
                <a:ext cx="10965814" cy="1469363"/>
              </a:xfrm>
              <a:prstGeom prst="roundRect">
                <a:avLst>
                  <a:gd name="adj" fmla="val 11089"/>
                </a:avLst>
              </a:prstGeom>
              <a:solidFill>
                <a:srgbClr val="F4F8FA"/>
              </a:solidFill>
              <a:ln w="25400" cap="flat" cmpd="sng">
                <a:solidFill>
                  <a:schemeClr val="accent2">
                    <a:alpha val="40000"/>
                  </a:schemeClr>
                </a:solidFill>
                <a:prstDash val="dash"/>
                <a:round/>
                <a:headEnd type="none" w="sm" len="sm"/>
                <a:tailEnd type="none" w="sm" len="sm"/>
              </a:ln>
              <a:effectLst>
                <a:outerShdw blurRad="215900" dist="38100" algn="tl" rotWithShape="0">
                  <a:prstClr val="black">
                    <a:alpha val="11000"/>
                  </a:prstClr>
                </a:outerShdw>
              </a:effectLst>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endParaRPr>
              </a:p>
            </p:txBody>
          </p:sp>
          <p:sp>
            <p:nvSpPr>
              <p:cNvPr id="3538" name="Google Shape;3538;p49">
                <a:extLst>
                  <a:ext uri="{FF2B5EF4-FFF2-40B4-BE49-F238E27FC236}">
                    <a16:creationId xmlns:a16="http://schemas.microsoft.com/office/drawing/2014/main" id="{D77CEC0E-3718-3ADE-2042-FF0A110CD650}"/>
                  </a:ext>
                </a:extLst>
              </p:cNvPr>
              <p:cNvSpPr txBox="1"/>
              <p:nvPr/>
            </p:nvSpPr>
            <p:spPr>
              <a:xfrm>
                <a:off x="1179140" y="5023549"/>
                <a:ext cx="10965250" cy="307777"/>
              </a:xfrm>
              <a:prstGeom prst="rect">
                <a:avLst/>
              </a:prstGeom>
              <a:noFill/>
              <a:ln>
                <a:noFill/>
              </a:ln>
            </p:spPr>
            <p:txBody>
              <a:bodyPr spcFirstLastPara="1" wrap="square" lIns="91400" tIns="45675" rIns="91400" bIns="45675"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spc="0" normalizeH="0" baseline="0" noProof="0" dirty="0">
                    <a:ln>
                      <a:noFill/>
                    </a:ln>
                    <a:solidFill>
                      <a:srgbClr val="3C3C3C"/>
                    </a:solidFill>
                    <a:effectLst/>
                    <a:uLnTx/>
                    <a:uFillTx/>
                    <a:latin typeface="Arial" panose="020B0604020202020204" pitchFamily="34" charset="0"/>
                    <a:ea typeface="+mn-ea"/>
                    <a:cs typeface="+mn-cs"/>
                    <a:sym typeface="Arial"/>
                  </a:rPr>
                  <a:t>Supplemental storage – Used to add capacity to any domain</a:t>
                </a:r>
                <a:endParaRPr kumimoji="0" sz="1799"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grpSp>
          <p:nvGrpSpPr>
            <p:cNvPr id="3539" name="Google Shape;3539;p49">
              <a:extLst>
                <a:ext uri="{FF2B5EF4-FFF2-40B4-BE49-F238E27FC236}">
                  <a16:creationId xmlns:a16="http://schemas.microsoft.com/office/drawing/2014/main" id="{6DEBC075-8E82-7C11-66A7-4CDD9C960209}"/>
                </a:ext>
              </a:extLst>
            </p:cNvPr>
            <p:cNvGrpSpPr/>
            <p:nvPr/>
          </p:nvGrpSpPr>
          <p:grpSpPr>
            <a:xfrm>
              <a:off x="6091725" y="5082068"/>
              <a:ext cx="936000" cy="866278"/>
              <a:chOff x="1420440" y="5348332"/>
              <a:chExt cx="792000" cy="866730"/>
            </a:xfrm>
            <a:solidFill>
              <a:schemeClr val="accent2"/>
            </a:solidFill>
          </p:grpSpPr>
          <p:cxnSp>
            <p:nvCxnSpPr>
              <p:cNvPr id="3540" name="Google Shape;3540;p49">
                <a:extLst>
                  <a:ext uri="{FF2B5EF4-FFF2-40B4-BE49-F238E27FC236}">
                    <a16:creationId xmlns:a16="http://schemas.microsoft.com/office/drawing/2014/main" id="{60DE545B-DD24-5F02-AE0E-9ECABEE24420}"/>
                  </a:ext>
                </a:extLst>
              </p:cNvPr>
              <p:cNvCxnSpPr/>
              <p:nvPr/>
            </p:nvCxnSpPr>
            <p:spPr>
              <a:xfrm>
                <a:off x="1800750" y="5348332"/>
                <a:ext cx="0" cy="231362"/>
              </a:xfrm>
              <a:prstGeom prst="straightConnector1">
                <a:avLst/>
              </a:prstGeom>
              <a:grpFill/>
              <a:ln w="25400" cap="flat" cmpd="sng">
                <a:solidFill>
                  <a:schemeClr val="bg2">
                    <a:lumMod val="50000"/>
                  </a:schemeClr>
                </a:solidFill>
                <a:prstDash val="solid"/>
                <a:round/>
                <a:headEnd type="none" w="sm" len="sm"/>
                <a:tailEnd type="none" w="sm" len="sm"/>
              </a:ln>
            </p:spPr>
          </p:cxnSp>
          <p:sp>
            <p:nvSpPr>
              <p:cNvPr id="3541" name="Google Shape;3541;p49">
                <a:extLst>
                  <a:ext uri="{FF2B5EF4-FFF2-40B4-BE49-F238E27FC236}">
                    <a16:creationId xmlns:a16="http://schemas.microsoft.com/office/drawing/2014/main" id="{A52634C7-5C25-8D10-693E-BAD0E3082FFA}"/>
                  </a:ext>
                </a:extLst>
              </p:cNvPr>
              <p:cNvSpPr/>
              <p:nvPr/>
            </p:nvSpPr>
            <p:spPr>
              <a:xfrm>
                <a:off x="1420440" y="5530705"/>
                <a:ext cx="792000" cy="684357"/>
              </a:xfrm>
              <a:prstGeom prst="can">
                <a:avLst>
                  <a:gd name="adj" fmla="val 25000"/>
                </a:avLst>
              </a:prstGeom>
              <a:grpFill/>
              <a:ln w="9525" cap="flat" cmpd="sng">
                <a:solidFill>
                  <a:schemeClr val="bg1"/>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t>FC</a:t>
                </a:r>
                <a:endParaRPr kumimoji="0" sz="8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endParaRPr>
              </a:p>
            </p:txBody>
          </p:sp>
        </p:grpSp>
        <p:grpSp>
          <p:nvGrpSpPr>
            <p:cNvPr id="3546" name="Google Shape;3546;p49">
              <a:extLst>
                <a:ext uri="{FF2B5EF4-FFF2-40B4-BE49-F238E27FC236}">
                  <a16:creationId xmlns:a16="http://schemas.microsoft.com/office/drawing/2014/main" id="{3881D219-BF2C-6801-1080-1EFED477476A}"/>
                </a:ext>
              </a:extLst>
            </p:cNvPr>
            <p:cNvGrpSpPr/>
            <p:nvPr/>
          </p:nvGrpSpPr>
          <p:grpSpPr>
            <a:xfrm>
              <a:off x="3530632" y="5066618"/>
              <a:ext cx="792000" cy="881722"/>
              <a:chOff x="5162841" y="5330824"/>
              <a:chExt cx="792000" cy="882183"/>
            </a:xfrm>
            <a:solidFill>
              <a:schemeClr val="accent3"/>
            </a:solidFill>
          </p:grpSpPr>
          <p:cxnSp>
            <p:nvCxnSpPr>
              <p:cNvPr id="3547" name="Google Shape;3547;p49">
                <a:extLst>
                  <a:ext uri="{FF2B5EF4-FFF2-40B4-BE49-F238E27FC236}">
                    <a16:creationId xmlns:a16="http://schemas.microsoft.com/office/drawing/2014/main" id="{9E347DE4-3395-7D9D-C18F-05B54D7AB54B}"/>
                  </a:ext>
                </a:extLst>
              </p:cNvPr>
              <p:cNvCxnSpPr/>
              <p:nvPr/>
            </p:nvCxnSpPr>
            <p:spPr>
              <a:xfrm>
                <a:off x="5535641" y="5330824"/>
                <a:ext cx="0" cy="231362"/>
              </a:xfrm>
              <a:prstGeom prst="straightConnector1">
                <a:avLst/>
              </a:prstGeom>
              <a:grpFill/>
              <a:ln w="25400" cap="flat" cmpd="sng">
                <a:solidFill>
                  <a:schemeClr val="bg2">
                    <a:lumMod val="50000"/>
                  </a:schemeClr>
                </a:solidFill>
                <a:prstDash val="solid"/>
                <a:round/>
                <a:headEnd type="none" w="sm" len="sm"/>
                <a:tailEnd type="none" w="sm" len="sm"/>
              </a:ln>
            </p:spPr>
          </p:cxnSp>
          <p:sp>
            <p:nvSpPr>
              <p:cNvPr id="3548" name="Google Shape;3548;p49">
                <a:extLst>
                  <a:ext uri="{FF2B5EF4-FFF2-40B4-BE49-F238E27FC236}">
                    <a16:creationId xmlns:a16="http://schemas.microsoft.com/office/drawing/2014/main" id="{211733E3-E4CD-ECEF-4FA8-250FEBAC0513}"/>
                  </a:ext>
                </a:extLst>
              </p:cNvPr>
              <p:cNvSpPr/>
              <p:nvPr/>
            </p:nvSpPr>
            <p:spPr>
              <a:xfrm>
                <a:off x="5162841" y="5528650"/>
                <a:ext cx="792000" cy="684357"/>
              </a:xfrm>
              <a:prstGeom prst="can">
                <a:avLst>
                  <a:gd name="adj" fmla="val 25000"/>
                </a:avLst>
              </a:prstGeom>
              <a:solidFill>
                <a:schemeClr val="accent4"/>
              </a:solidFill>
              <a:ln w="9525" cap="flat" cmpd="sng">
                <a:solidFill>
                  <a:schemeClr val="bg1"/>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t>vSAN </a:t>
                </a:r>
                <a:r>
                  <a:rPr kumimoji="0" lang="en-US" sz="8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t>Remote Datastores</a:t>
                </a:r>
                <a:endParaRPr kumimoji="0" sz="8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endParaRPr>
              </a:p>
            </p:txBody>
          </p:sp>
        </p:grpSp>
        <p:grpSp>
          <p:nvGrpSpPr>
            <p:cNvPr id="3549" name="Google Shape;3549;p49">
              <a:extLst>
                <a:ext uri="{FF2B5EF4-FFF2-40B4-BE49-F238E27FC236}">
                  <a16:creationId xmlns:a16="http://schemas.microsoft.com/office/drawing/2014/main" id="{9A26F87F-DBE4-215C-A013-C2A848FA2686}"/>
                </a:ext>
              </a:extLst>
            </p:cNvPr>
            <p:cNvGrpSpPr/>
            <p:nvPr/>
          </p:nvGrpSpPr>
          <p:grpSpPr>
            <a:xfrm>
              <a:off x="2151181" y="5064160"/>
              <a:ext cx="936000" cy="888812"/>
              <a:chOff x="7097880" y="5329663"/>
              <a:chExt cx="792000" cy="889276"/>
            </a:xfrm>
            <a:solidFill>
              <a:schemeClr val="accent4"/>
            </a:solidFill>
          </p:grpSpPr>
          <p:cxnSp>
            <p:nvCxnSpPr>
              <p:cNvPr id="3550" name="Google Shape;3550;p49">
                <a:extLst>
                  <a:ext uri="{FF2B5EF4-FFF2-40B4-BE49-F238E27FC236}">
                    <a16:creationId xmlns:a16="http://schemas.microsoft.com/office/drawing/2014/main" id="{33E0BB57-2558-75DE-04B0-03F47FE7CA84}"/>
                  </a:ext>
                </a:extLst>
              </p:cNvPr>
              <p:cNvCxnSpPr/>
              <p:nvPr/>
            </p:nvCxnSpPr>
            <p:spPr>
              <a:xfrm>
                <a:off x="7477342" y="5329663"/>
                <a:ext cx="0" cy="231362"/>
              </a:xfrm>
              <a:prstGeom prst="straightConnector1">
                <a:avLst/>
              </a:prstGeom>
              <a:grpFill/>
              <a:ln w="25400" cap="flat" cmpd="sng">
                <a:solidFill>
                  <a:schemeClr val="bg2">
                    <a:lumMod val="50000"/>
                  </a:schemeClr>
                </a:solidFill>
                <a:prstDash val="solid"/>
                <a:round/>
                <a:headEnd type="none" w="sm" len="sm"/>
                <a:tailEnd type="none" w="sm" len="sm"/>
              </a:ln>
            </p:spPr>
          </p:cxnSp>
          <p:sp>
            <p:nvSpPr>
              <p:cNvPr id="3551" name="Google Shape;3551;p49">
                <a:extLst>
                  <a:ext uri="{FF2B5EF4-FFF2-40B4-BE49-F238E27FC236}">
                    <a16:creationId xmlns:a16="http://schemas.microsoft.com/office/drawing/2014/main" id="{0DF5BDB9-9DA3-DF25-E272-1B6D165E72FB}"/>
                  </a:ext>
                </a:extLst>
              </p:cNvPr>
              <p:cNvSpPr/>
              <p:nvPr/>
            </p:nvSpPr>
            <p:spPr>
              <a:xfrm>
                <a:off x="7097880" y="5534582"/>
                <a:ext cx="792000" cy="684357"/>
              </a:xfrm>
              <a:prstGeom prst="can">
                <a:avLst>
                  <a:gd name="adj" fmla="val 25000"/>
                </a:avLst>
              </a:prstGeom>
              <a:grpFill/>
              <a:ln w="9525" cap="flat" cmpd="sng">
                <a:solidFill>
                  <a:schemeClr val="bg1"/>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t>vSAN HCI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t>Storage Clusters</a:t>
                </a:r>
                <a:endParaRPr kumimoji="0" sz="8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endParaRPr>
              </a:p>
            </p:txBody>
          </p:sp>
        </p:grpSp>
        <p:cxnSp>
          <p:nvCxnSpPr>
            <p:cNvPr id="3575" name="Google Shape;3575;p49">
              <a:extLst>
                <a:ext uri="{FF2B5EF4-FFF2-40B4-BE49-F238E27FC236}">
                  <a16:creationId xmlns:a16="http://schemas.microsoft.com/office/drawing/2014/main" id="{960E5911-B431-CC00-5474-848378B8237D}"/>
                </a:ext>
              </a:extLst>
            </p:cNvPr>
            <p:cNvCxnSpPr>
              <a:cxnSpLocks/>
            </p:cNvCxnSpPr>
            <p:nvPr/>
          </p:nvCxnSpPr>
          <p:spPr>
            <a:xfrm>
              <a:off x="2585851" y="5064160"/>
              <a:ext cx="8096235" cy="17892"/>
            </a:xfrm>
            <a:prstGeom prst="straightConnector1">
              <a:avLst/>
            </a:prstGeom>
            <a:noFill/>
            <a:ln w="25400" cap="flat" cmpd="sng">
              <a:solidFill>
                <a:srgbClr val="7F7F7F"/>
              </a:solidFill>
              <a:prstDash val="solid"/>
              <a:round/>
              <a:headEnd type="none" w="sm" len="sm"/>
              <a:tailEnd type="none" w="sm" len="sm"/>
            </a:ln>
          </p:spPr>
        </p:cxnSp>
        <p:sp>
          <p:nvSpPr>
            <p:cNvPr id="3577" name="Google Shape;3577;p49">
              <a:extLst>
                <a:ext uri="{FF2B5EF4-FFF2-40B4-BE49-F238E27FC236}">
                  <a16:creationId xmlns:a16="http://schemas.microsoft.com/office/drawing/2014/main" id="{B2D7AA55-EE10-2050-7031-B5F044CB5D2D}"/>
                </a:ext>
              </a:extLst>
            </p:cNvPr>
            <p:cNvSpPr/>
            <p:nvPr/>
          </p:nvSpPr>
          <p:spPr>
            <a:xfrm>
              <a:off x="5680473" y="6087255"/>
              <a:ext cx="5943435" cy="246157"/>
            </a:xfrm>
            <a:prstGeom prst="rect">
              <a:avLst/>
            </a:prstGeom>
            <a:noFill/>
            <a:ln>
              <a:noFill/>
            </a:ln>
          </p:spPr>
          <p:txBody>
            <a:bodyPr spcFirstLastPara="1" wrap="square" lIns="91400" tIns="45675" rIns="91400" bIns="45675" anchor="t"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u="none" strike="noStrike" kern="1200" cap="none" spc="0" normalizeH="0" baseline="0" noProof="0" dirty="0">
                  <a:ln>
                    <a:noFill/>
                  </a:ln>
                  <a:solidFill>
                    <a:srgbClr val="3F3F3F"/>
                  </a:solidFill>
                  <a:effectLst/>
                  <a:uLnTx/>
                  <a:uFillTx/>
                  <a:latin typeface="Arial" panose="020B0604020202020204" pitchFamily="34" charset="0"/>
                  <a:ea typeface="+mn-ea"/>
                  <a:cs typeface="+mn-cs"/>
                  <a:sym typeface="Arial"/>
                </a:rPr>
                <a:t>*LCM, patching, and upgrades of Supplemental Storage is not managed by VCF Operations</a:t>
              </a:r>
              <a:endParaRPr kumimoji="0" sz="1799"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nvGrpSpPr>
            <p:cNvPr id="3578" name="Google Shape;3578;p49">
              <a:extLst>
                <a:ext uri="{FF2B5EF4-FFF2-40B4-BE49-F238E27FC236}">
                  <a16:creationId xmlns:a16="http://schemas.microsoft.com/office/drawing/2014/main" id="{A4F1C48F-40A0-0E85-C4B7-69ED8FDD414F}"/>
                </a:ext>
              </a:extLst>
            </p:cNvPr>
            <p:cNvGrpSpPr/>
            <p:nvPr/>
          </p:nvGrpSpPr>
          <p:grpSpPr>
            <a:xfrm>
              <a:off x="4778210" y="5064388"/>
              <a:ext cx="936000" cy="879333"/>
              <a:chOff x="4312766" y="5338354"/>
              <a:chExt cx="792000" cy="879793"/>
            </a:xfrm>
            <a:solidFill>
              <a:schemeClr val="accent1"/>
            </a:solidFill>
          </p:grpSpPr>
          <p:cxnSp>
            <p:nvCxnSpPr>
              <p:cNvPr id="3579" name="Google Shape;3579;p49">
                <a:extLst>
                  <a:ext uri="{FF2B5EF4-FFF2-40B4-BE49-F238E27FC236}">
                    <a16:creationId xmlns:a16="http://schemas.microsoft.com/office/drawing/2014/main" id="{9E4B37E3-2EF7-1450-EA04-DEE6C297216C}"/>
                  </a:ext>
                </a:extLst>
              </p:cNvPr>
              <p:cNvCxnSpPr/>
              <p:nvPr/>
            </p:nvCxnSpPr>
            <p:spPr>
              <a:xfrm>
                <a:off x="4685566" y="5338354"/>
                <a:ext cx="0" cy="231362"/>
              </a:xfrm>
              <a:prstGeom prst="straightConnector1">
                <a:avLst/>
              </a:prstGeom>
              <a:grpFill/>
              <a:ln w="25400" cap="flat" cmpd="sng">
                <a:solidFill>
                  <a:schemeClr val="bg2">
                    <a:lumMod val="50000"/>
                  </a:schemeClr>
                </a:solidFill>
                <a:prstDash val="solid"/>
                <a:round/>
                <a:headEnd type="none" w="sm" len="sm"/>
                <a:tailEnd type="none" w="sm" len="sm"/>
              </a:ln>
            </p:spPr>
          </p:cxnSp>
          <p:sp>
            <p:nvSpPr>
              <p:cNvPr id="3580" name="Google Shape;3580;p49">
                <a:extLst>
                  <a:ext uri="{FF2B5EF4-FFF2-40B4-BE49-F238E27FC236}">
                    <a16:creationId xmlns:a16="http://schemas.microsoft.com/office/drawing/2014/main" id="{BCA14F70-EAFF-3704-32CE-F426E6F9533B}"/>
                  </a:ext>
                </a:extLst>
              </p:cNvPr>
              <p:cNvSpPr/>
              <p:nvPr/>
            </p:nvSpPr>
            <p:spPr>
              <a:xfrm>
                <a:off x="4312766" y="5533789"/>
                <a:ext cx="792000" cy="684358"/>
              </a:xfrm>
              <a:prstGeom prst="can">
                <a:avLst>
                  <a:gd name="adj" fmla="val 25000"/>
                </a:avLst>
              </a:prstGeom>
              <a:grpFill/>
              <a:ln w="9525" cap="flat" cmpd="sng">
                <a:solidFill>
                  <a:schemeClr val="bg1"/>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t>NFS*</a:t>
                </a:r>
                <a:endParaRPr kumimoji="0" sz="16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endParaRPr>
              </a:p>
            </p:txBody>
          </p:sp>
        </p:grpSp>
        <p:grpSp>
          <p:nvGrpSpPr>
            <p:cNvPr id="3587" name="Google Shape;3587;p49">
              <a:extLst>
                <a:ext uri="{FF2B5EF4-FFF2-40B4-BE49-F238E27FC236}">
                  <a16:creationId xmlns:a16="http://schemas.microsoft.com/office/drawing/2014/main" id="{371650CE-802D-050C-9B42-5C6C64586040}"/>
                </a:ext>
              </a:extLst>
            </p:cNvPr>
            <p:cNvGrpSpPr/>
            <p:nvPr/>
          </p:nvGrpSpPr>
          <p:grpSpPr>
            <a:xfrm>
              <a:off x="8715430" y="5082050"/>
              <a:ext cx="936000" cy="861667"/>
              <a:chOff x="1420440" y="5350505"/>
              <a:chExt cx="792000" cy="862118"/>
            </a:xfrm>
            <a:solidFill>
              <a:schemeClr val="accent5"/>
            </a:solidFill>
          </p:grpSpPr>
          <p:cxnSp>
            <p:nvCxnSpPr>
              <p:cNvPr id="3588" name="Google Shape;3588;p49">
                <a:extLst>
                  <a:ext uri="{FF2B5EF4-FFF2-40B4-BE49-F238E27FC236}">
                    <a16:creationId xmlns:a16="http://schemas.microsoft.com/office/drawing/2014/main" id="{484747BA-70B7-299E-58A4-EB7974EF2D83}"/>
                  </a:ext>
                </a:extLst>
              </p:cNvPr>
              <p:cNvCxnSpPr/>
              <p:nvPr/>
            </p:nvCxnSpPr>
            <p:spPr>
              <a:xfrm>
                <a:off x="1800750" y="5350505"/>
                <a:ext cx="0" cy="231362"/>
              </a:xfrm>
              <a:prstGeom prst="straightConnector1">
                <a:avLst/>
              </a:prstGeom>
              <a:grpFill/>
              <a:ln w="25400" cap="flat" cmpd="sng">
                <a:solidFill>
                  <a:schemeClr val="bg2">
                    <a:lumMod val="50000"/>
                  </a:schemeClr>
                </a:solidFill>
                <a:prstDash val="solid"/>
                <a:round/>
                <a:headEnd type="none" w="sm" len="sm"/>
                <a:tailEnd type="none" w="sm" len="sm"/>
              </a:ln>
            </p:spPr>
          </p:cxnSp>
          <p:sp>
            <p:nvSpPr>
              <p:cNvPr id="3589" name="Google Shape;3589;p49">
                <a:extLst>
                  <a:ext uri="{FF2B5EF4-FFF2-40B4-BE49-F238E27FC236}">
                    <a16:creationId xmlns:a16="http://schemas.microsoft.com/office/drawing/2014/main" id="{E80EAF78-1AA4-7478-18B8-7FEA5BB840C0}"/>
                  </a:ext>
                </a:extLst>
              </p:cNvPr>
              <p:cNvSpPr/>
              <p:nvPr/>
            </p:nvSpPr>
            <p:spPr>
              <a:xfrm>
                <a:off x="1420440" y="5528265"/>
                <a:ext cx="792000" cy="684358"/>
              </a:xfrm>
              <a:prstGeom prst="can">
                <a:avLst>
                  <a:gd name="adj" fmla="val 25000"/>
                </a:avLst>
              </a:prstGeom>
              <a:grpFill/>
              <a:ln w="9525" cap="flat" cmpd="sng">
                <a:solidFill>
                  <a:schemeClr val="bg1"/>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err="1">
                    <a:ln>
                      <a:noFill/>
                    </a:ln>
                    <a:solidFill>
                      <a:schemeClr val="bg1"/>
                    </a:solidFill>
                    <a:effectLst/>
                    <a:uLnTx/>
                    <a:uFillTx/>
                    <a:latin typeface="Arial" panose="020B0604020202020204" pitchFamily="34" charset="0"/>
                    <a:ea typeface="+mn-ea"/>
                    <a:cs typeface="+mn-cs"/>
                    <a:sym typeface="Arial"/>
                  </a:rPr>
                  <a:t>NVMe</a:t>
                </a:r>
                <a:endParaRPr kumimoji="0" sz="1799"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t>/FC</a:t>
                </a:r>
                <a:endParaRPr kumimoji="0" sz="1799"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endParaRPr>
              </a:p>
            </p:txBody>
          </p:sp>
        </p:grpSp>
        <p:grpSp>
          <p:nvGrpSpPr>
            <p:cNvPr id="3590" name="Google Shape;3590;p49">
              <a:extLst>
                <a:ext uri="{FF2B5EF4-FFF2-40B4-BE49-F238E27FC236}">
                  <a16:creationId xmlns:a16="http://schemas.microsoft.com/office/drawing/2014/main" id="{E4300C8E-D4CE-7708-E226-74BCAF845C29}"/>
                </a:ext>
              </a:extLst>
            </p:cNvPr>
            <p:cNvGrpSpPr/>
            <p:nvPr/>
          </p:nvGrpSpPr>
          <p:grpSpPr>
            <a:xfrm>
              <a:off x="10028947" y="5085883"/>
              <a:ext cx="936000" cy="867093"/>
              <a:chOff x="1420440" y="5354333"/>
              <a:chExt cx="792000" cy="867546"/>
            </a:xfrm>
            <a:solidFill>
              <a:schemeClr val="accent5"/>
            </a:solidFill>
          </p:grpSpPr>
          <p:cxnSp>
            <p:nvCxnSpPr>
              <p:cNvPr id="3591" name="Google Shape;3591;p49">
                <a:extLst>
                  <a:ext uri="{FF2B5EF4-FFF2-40B4-BE49-F238E27FC236}">
                    <a16:creationId xmlns:a16="http://schemas.microsoft.com/office/drawing/2014/main" id="{9D3D5B72-4CF7-0EAD-877D-66A2E63F5175}"/>
                  </a:ext>
                </a:extLst>
              </p:cNvPr>
              <p:cNvCxnSpPr/>
              <p:nvPr/>
            </p:nvCxnSpPr>
            <p:spPr>
              <a:xfrm>
                <a:off x="1800750" y="5354333"/>
                <a:ext cx="0" cy="231362"/>
              </a:xfrm>
              <a:prstGeom prst="straightConnector1">
                <a:avLst/>
              </a:prstGeom>
              <a:grpFill/>
              <a:ln w="25400" cap="flat" cmpd="sng">
                <a:solidFill>
                  <a:schemeClr val="bg2">
                    <a:lumMod val="50000"/>
                  </a:schemeClr>
                </a:solidFill>
                <a:prstDash val="solid"/>
                <a:round/>
                <a:headEnd type="none" w="sm" len="sm"/>
                <a:tailEnd type="none" w="sm" len="sm"/>
              </a:ln>
            </p:spPr>
          </p:cxnSp>
          <p:sp>
            <p:nvSpPr>
              <p:cNvPr id="3592" name="Google Shape;3592;p49">
                <a:extLst>
                  <a:ext uri="{FF2B5EF4-FFF2-40B4-BE49-F238E27FC236}">
                    <a16:creationId xmlns:a16="http://schemas.microsoft.com/office/drawing/2014/main" id="{1996F17C-836E-0C74-167B-061EF56A34B6}"/>
                  </a:ext>
                </a:extLst>
              </p:cNvPr>
              <p:cNvSpPr/>
              <p:nvPr/>
            </p:nvSpPr>
            <p:spPr>
              <a:xfrm>
                <a:off x="1420440" y="5537522"/>
                <a:ext cx="792000" cy="684357"/>
              </a:xfrm>
              <a:prstGeom prst="can">
                <a:avLst>
                  <a:gd name="adj" fmla="val 25000"/>
                </a:avLst>
              </a:prstGeom>
              <a:grpFill/>
              <a:ln w="9525" cap="flat" cmpd="sng">
                <a:solidFill>
                  <a:schemeClr val="bg1"/>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err="1">
                    <a:ln>
                      <a:noFill/>
                    </a:ln>
                    <a:solidFill>
                      <a:schemeClr val="bg1"/>
                    </a:solidFill>
                    <a:effectLst/>
                    <a:uLnTx/>
                    <a:uFillTx/>
                    <a:latin typeface="Arial" panose="020B0604020202020204" pitchFamily="34" charset="0"/>
                    <a:ea typeface="+mn-ea"/>
                    <a:cs typeface="+mn-cs"/>
                    <a:sym typeface="Arial"/>
                  </a:rPr>
                  <a:t>NVMe</a:t>
                </a:r>
                <a:endParaRPr kumimoji="0" sz="1799"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t>/TCP</a:t>
                </a:r>
                <a:endParaRPr kumimoji="0" sz="1799"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endParaRPr>
              </a:p>
            </p:txBody>
          </p:sp>
        </p:grpSp>
        <p:grpSp>
          <p:nvGrpSpPr>
            <p:cNvPr id="6" name="Google Shape;3543;p49">
              <a:extLst>
                <a:ext uri="{FF2B5EF4-FFF2-40B4-BE49-F238E27FC236}">
                  <a16:creationId xmlns:a16="http://schemas.microsoft.com/office/drawing/2014/main" id="{AAE3A1DB-4DE2-A6AC-B996-361B0591DCAD}"/>
                </a:ext>
              </a:extLst>
            </p:cNvPr>
            <p:cNvGrpSpPr/>
            <p:nvPr/>
          </p:nvGrpSpPr>
          <p:grpSpPr>
            <a:xfrm>
              <a:off x="7398931" y="5066047"/>
              <a:ext cx="936000" cy="886925"/>
              <a:chOff x="9822189" y="5348450"/>
              <a:chExt cx="792000" cy="887388"/>
            </a:xfrm>
            <a:solidFill>
              <a:schemeClr val="bg1"/>
            </a:solidFill>
          </p:grpSpPr>
          <p:cxnSp>
            <p:nvCxnSpPr>
              <p:cNvPr id="8" name="Google Shape;3544;p49">
                <a:extLst>
                  <a:ext uri="{FF2B5EF4-FFF2-40B4-BE49-F238E27FC236}">
                    <a16:creationId xmlns:a16="http://schemas.microsoft.com/office/drawing/2014/main" id="{1CDB7FA6-6034-8C1B-0298-9BAB0732D925}"/>
                  </a:ext>
                </a:extLst>
              </p:cNvPr>
              <p:cNvCxnSpPr/>
              <p:nvPr/>
            </p:nvCxnSpPr>
            <p:spPr>
              <a:xfrm>
                <a:off x="10199988" y="5348450"/>
                <a:ext cx="0" cy="231362"/>
              </a:xfrm>
              <a:prstGeom prst="straightConnector1">
                <a:avLst/>
              </a:prstGeom>
              <a:grpFill/>
              <a:ln w="25400" cap="flat" cmpd="sng">
                <a:solidFill>
                  <a:srgbClr val="7F7F7F"/>
                </a:solidFill>
                <a:prstDash val="solid"/>
                <a:round/>
                <a:headEnd type="none" w="sm" len="sm"/>
                <a:tailEnd type="none" w="sm" len="sm"/>
              </a:ln>
            </p:spPr>
          </p:cxnSp>
          <p:sp>
            <p:nvSpPr>
              <p:cNvPr id="11" name="Google Shape;3545;p49">
                <a:extLst>
                  <a:ext uri="{FF2B5EF4-FFF2-40B4-BE49-F238E27FC236}">
                    <a16:creationId xmlns:a16="http://schemas.microsoft.com/office/drawing/2014/main" id="{5D404820-26F0-8BD2-9715-56433276BD03}"/>
                  </a:ext>
                </a:extLst>
              </p:cNvPr>
              <p:cNvSpPr/>
              <p:nvPr/>
            </p:nvSpPr>
            <p:spPr>
              <a:xfrm>
                <a:off x="9822189" y="5551481"/>
                <a:ext cx="792000" cy="684357"/>
              </a:xfrm>
              <a:prstGeom prst="can">
                <a:avLst>
                  <a:gd name="adj" fmla="val 25000"/>
                </a:avLst>
              </a:prstGeom>
              <a:solidFill>
                <a:schemeClr val="bg2">
                  <a:lumMod val="50000"/>
                </a:schemeClr>
              </a:solidFill>
              <a:ln w="9525" cap="flat" cmpd="sng">
                <a:solidFill>
                  <a:schemeClr val="bg1"/>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t>iSCSI</a:t>
                </a:r>
                <a:endParaRPr kumimoji="0" sz="1799"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endParaRPr>
              </a:p>
            </p:txBody>
          </p:sp>
        </p:grpSp>
      </p:grpSp>
      <p:sp>
        <p:nvSpPr>
          <p:cNvPr id="3526" name="Google Shape;3526;p49">
            <a:extLst>
              <a:ext uri="{FF2B5EF4-FFF2-40B4-BE49-F238E27FC236}">
                <a16:creationId xmlns:a16="http://schemas.microsoft.com/office/drawing/2014/main" id="{71105E1E-5A2B-5952-B812-4DE2872D965A}"/>
              </a:ext>
            </a:extLst>
          </p:cNvPr>
          <p:cNvSpPr/>
          <p:nvPr/>
        </p:nvSpPr>
        <p:spPr>
          <a:xfrm>
            <a:off x="5203689" y="2173663"/>
            <a:ext cx="936000" cy="648000"/>
          </a:xfrm>
          <a:prstGeom prst="can">
            <a:avLst>
              <a:gd name="adj" fmla="val 25000"/>
            </a:avLst>
          </a:prstGeom>
          <a:solidFill>
            <a:schemeClr val="accent4"/>
          </a:solidFill>
          <a:ln w="9525" cap="flat" cmpd="sng">
            <a:solidFill>
              <a:schemeClr val="bg1"/>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t>vSAN HCI </a:t>
            </a:r>
            <a:r>
              <a:rPr kumimoji="0" lang="en-US" sz="8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t>(ESA/OSA)</a:t>
            </a:r>
            <a:endParaRPr kumimoji="0" sz="8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endParaRPr>
          </a:p>
        </p:txBody>
      </p:sp>
      <p:sp>
        <p:nvSpPr>
          <p:cNvPr id="10" name="Google Shape;3574;p49">
            <a:extLst>
              <a:ext uri="{FF2B5EF4-FFF2-40B4-BE49-F238E27FC236}">
                <a16:creationId xmlns:a16="http://schemas.microsoft.com/office/drawing/2014/main" id="{B1EA1BED-28BE-F28F-33F9-01389A2A5F00}"/>
              </a:ext>
            </a:extLst>
          </p:cNvPr>
          <p:cNvSpPr/>
          <p:nvPr/>
        </p:nvSpPr>
        <p:spPr>
          <a:xfrm>
            <a:off x="8002133" y="2170015"/>
            <a:ext cx="936000" cy="648000"/>
          </a:xfrm>
          <a:prstGeom prst="can">
            <a:avLst>
              <a:gd name="adj" fmla="val 25000"/>
            </a:avLst>
          </a:prstGeom>
          <a:solidFill>
            <a:schemeClr val="accent2"/>
          </a:solidFill>
          <a:ln w="9525" cap="flat" cmpd="sng">
            <a:solidFill>
              <a:schemeClr val="bg1"/>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rPr>
              <a:t>FC</a:t>
            </a:r>
            <a:endParaRPr kumimoji="0" sz="70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a:endParaRPr>
          </a:p>
        </p:txBody>
      </p:sp>
      <p:cxnSp>
        <p:nvCxnSpPr>
          <p:cNvPr id="3535" name="Google Shape;3535;p49">
            <a:extLst>
              <a:ext uri="{FF2B5EF4-FFF2-40B4-BE49-F238E27FC236}">
                <a16:creationId xmlns:a16="http://schemas.microsoft.com/office/drawing/2014/main" id="{5734AA48-3224-5EFD-E835-50F62EB07A49}"/>
              </a:ext>
            </a:extLst>
          </p:cNvPr>
          <p:cNvCxnSpPr>
            <a:cxnSpLocks/>
          </p:cNvCxnSpPr>
          <p:nvPr/>
        </p:nvCxnSpPr>
        <p:spPr>
          <a:xfrm>
            <a:off x="10691825" y="2097855"/>
            <a:ext cx="0" cy="1393502"/>
          </a:xfrm>
          <a:prstGeom prst="straightConnector1">
            <a:avLst/>
          </a:prstGeom>
          <a:noFill/>
          <a:ln w="25400" cap="flat" cmpd="sng">
            <a:solidFill>
              <a:srgbClr val="7F7F7F"/>
            </a:solidFill>
            <a:prstDash val="solid"/>
            <a:round/>
            <a:headEnd type="none" w="sm" len="sm"/>
            <a:tailEnd type="none" w="sm" len="sm"/>
          </a:ln>
        </p:spPr>
      </p:cxnSp>
      <p:cxnSp>
        <p:nvCxnSpPr>
          <p:cNvPr id="18" name="Google Shape;3542;p49">
            <a:extLst>
              <a:ext uri="{FF2B5EF4-FFF2-40B4-BE49-F238E27FC236}">
                <a16:creationId xmlns:a16="http://schemas.microsoft.com/office/drawing/2014/main" id="{9E12E992-9F2C-74DD-D87B-3C4DEDDC4362}"/>
              </a:ext>
            </a:extLst>
          </p:cNvPr>
          <p:cNvCxnSpPr>
            <a:cxnSpLocks/>
          </p:cNvCxnSpPr>
          <p:nvPr/>
        </p:nvCxnSpPr>
        <p:spPr>
          <a:xfrm>
            <a:off x="10691825" y="3491357"/>
            <a:ext cx="0" cy="1593216"/>
          </a:xfrm>
          <a:prstGeom prst="straightConnector1">
            <a:avLst/>
          </a:prstGeom>
          <a:noFill/>
          <a:ln w="25400" cap="flat" cmpd="sng">
            <a:solidFill>
              <a:srgbClr val="7F7F7F"/>
            </a:solidFill>
            <a:prstDash val="solid"/>
            <a:round/>
            <a:headEnd type="none" w="sm" len="sm"/>
            <a:tailEnd type="none" w="sm" len="sm"/>
          </a:ln>
        </p:spPr>
      </p:cxnSp>
    </p:spTree>
    <p:extLst>
      <p:ext uri="{BB962C8B-B14F-4D97-AF65-F5344CB8AC3E}">
        <p14:creationId xmlns:p14="http://schemas.microsoft.com/office/powerpoint/2010/main" val="194166271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535"/>
                                        </p:tgtEl>
                                        <p:attrNameLst>
                                          <p:attrName>style.visibility</p:attrName>
                                        </p:attrNameLst>
                                      </p:cBhvr>
                                      <p:to>
                                        <p:strVal val="visible"/>
                                      </p:to>
                                    </p:set>
                                    <p:animEffect transition="in" filter="wipe(up)">
                                      <p:cBhvr>
                                        <p:cTn id="12" dur="500"/>
                                        <p:tgtEl>
                                          <p:spTgt spid="3535"/>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up)">
                                      <p:cBhvr>
                                        <p:cTn id="21" dur="500"/>
                                        <p:tgtEl>
                                          <p:spTgt spid="18"/>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left)">
                                      <p:cBhvr>
                                        <p:cTn id="2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B6AD1-5193-835D-9573-BF808CD88D4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52AD2EB-2A7E-6107-C4A4-1BBAEA153513}"/>
              </a:ext>
            </a:extLst>
          </p:cNvPr>
          <p:cNvSpPr>
            <a:spLocks noGrp="1"/>
          </p:cNvSpPr>
          <p:nvPr>
            <p:ph type="title"/>
          </p:nvPr>
        </p:nvSpPr>
        <p:spPr/>
        <p:txBody>
          <a:bodyPr/>
          <a:lstStyle/>
          <a:p>
            <a:r>
              <a:rPr lang="en-US" dirty="0">
                <a:solidFill>
                  <a:schemeClr val="accent2"/>
                </a:solidFill>
              </a:rPr>
              <a:t>Cloud Foundation Storage Options</a:t>
            </a:r>
          </a:p>
        </p:txBody>
      </p:sp>
      <p:sp>
        <p:nvSpPr>
          <p:cNvPr id="5" name="Subtitle 4">
            <a:extLst>
              <a:ext uri="{FF2B5EF4-FFF2-40B4-BE49-F238E27FC236}">
                <a16:creationId xmlns:a16="http://schemas.microsoft.com/office/drawing/2014/main" id="{4DFEA563-F30C-A766-56AE-8B1107C1F582}"/>
              </a:ext>
            </a:extLst>
          </p:cNvPr>
          <p:cNvSpPr>
            <a:spLocks noGrp="1"/>
          </p:cNvSpPr>
          <p:nvPr>
            <p:ph type="body" sz="quarter" idx="12"/>
          </p:nvPr>
        </p:nvSpPr>
        <p:spPr/>
        <p:txBody>
          <a:bodyPr/>
          <a:lstStyle/>
          <a:p>
            <a:r>
              <a:rPr lang="en-US" sz="2000" dirty="0">
                <a:solidFill>
                  <a:schemeClr val="tx1"/>
                </a:solidFill>
                <a:latin typeface="Arial" panose="020B0604020202020204" pitchFamily="34" charset="0"/>
              </a:rPr>
              <a:t>Storage Options and Capabilities</a:t>
            </a:r>
          </a:p>
        </p:txBody>
      </p:sp>
      <p:graphicFrame>
        <p:nvGraphicFramePr>
          <p:cNvPr id="99" name="Table 2">
            <a:extLst>
              <a:ext uri="{FF2B5EF4-FFF2-40B4-BE49-F238E27FC236}">
                <a16:creationId xmlns:a16="http://schemas.microsoft.com/office/drawing/2014/main" id="{DEAC10A2-1E79-F2BA-E2DF-75BCAE22F070}"/>
              </a:ext>
            </a:extLst>
          </p:cNvPr>
          <p:cNvGraphicFramePr>
            <a:graphicFrameLocks noGrp="1"/>
          </p:cNvGraphicFramePr>
          <p:nvPr/>
        </p:nvGraphicFramePr>
        <p:xfrm>
          <a:off x="412896" y="1178671"/>
          <a:ext cx="11166490" cy="4971048"/>
        </p:xfrm>
        <a:graphic>
          <a:graphicData uri="http://schemas.openxmlformats.org/drawingml/2006/table">
            <a:tbl>
              <a:tblPr firstRow="1" bandRow="1">
                <a:tableStyleId>{6E25E649-3F16-4E02-A733-19D2CDBF48F0}</a:tableStyleId>
              </a:tblPr>
              <a:tblGrid>
                <a:gridCol w="3878715">
                  <a:extLst>
                    <a:ext uri="{9D8B030D-6E8A-4147-A177-3AD203B41FA5}">
                      <a16:colId xmlns:a16="http://schemas.microsoft.com/office/drawing/2014/main" val="1918875704"/>
                    </a:ext>
                  </a:extLst>
                </a:gridCol>
                <a:gridCol w="1457555">
                  <a:extLst>
                    <a:ext uri="{9D8B030D-6E8A-4147-A177-3AD203B41FA5}">
                      <a16:colId xmlns:a16="http://schemas.microsoft.com/office/drawing/2014/main" val="1362754577"/>
                    </a:ext>
                  </a:extLst>
                </a:gridCol>
                <a:gridCol w="1457555">
                  <a:extLst>
                    <a:ext uri="{9D8B030D-6E8A-4147-A177-3AD203B41FA5}">
                      <a16:colId xmlns:a16="http://schemas.microsoft.com/office/drawing/2014/main" val="1588869702"/>
                    </a:ext>
                  </a:extLst>
                </a:gridCol>
                <a:gridCol w="1457555">
                  <a:extLst>
                    <a:ext uri="{9D8B030D-6E8A-4147-A177-3AD203B41FA5}">
                      <a16:colId xmlns:a16="http://schemas.microsoft.com/office/drawing/2014/main" val="679854857"/>
                    </a:ext>
                  </a:extLst>
                </a:gridCol>
                <a:gridCol w="1457555">
                  <a:extLst>
                    <a:ext uri="{9D8B030D-6E8A-4147-A177-3AD203B41FA5}">
                      <a16:colId xmlns:a16="http://schemas.microsoft.com/office/drawing/2014/main" val="2285960760"/>
                    </a:ext>
                  </a:extLst>
                </a:gridCol>
                <a:gridCol w="1457555">
                  <a:extLst>
                    <a:ext uri="{9D8B030D-6E8A-4147-A177-3AD203B41FA5}">
                      <a16:colId xmlns:a16="http://schemas.microsoft.com/office/drawing/2014/main" val="2719852512"/>
                    </a:ext>
                  </a:extLst>
                </a:gridCol>
              </a:tblGrid>
              <a:tr h="621381">
                <a:tc>
                  <a:txBody>
                    <a:bodyPr/>
                    <a:lstStyle/>
                    <a:p>
                      <a:pPr marL="0" algn="l" defTabSz="914400" rtl="0" eaLnBrk="1" latinLnBrk="0" hangingPunct="1"/>
                      <a:endParaRPr lang="en-US" sz="2000" b="0" kern="1200" dirty="0">
                        <a:solidFill>
                          <a:schemeClr val="tx2"/>
                        </a:solidFill>
                        <a:latin typeface="+mj-lt"/>
                        <a:ea typeface="+mn-ea"/>
                        <a:cs typeface="+mn-cs"/>
                      </a:endParaRPr>
                    </a:p>
                  </a:txBody>
                  <a:tcPr marL="91416" marR="91416" marT="45708" marB="45708" anchor="ctr">
                    <a:lnL>
                      <a:noFill/>
                    </a:lnL>
                    <a:lnR>
                      <a:noFill/>
                    </a:lnR>
                    <a:lnT w="254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endParaRPr lang="en-US" sz="1600" b="0" i="0" kern="1200" dirty="0">
                        <a:solidFill>
                          <a:schemeClr val="accent2"/>
                        </a:solidFill>
                        <a:latin typeface="Arial" panose="020B0604020202020204" pitchFamily="34" charset="0"/>
                        <a:ea typeface="+mn-ea"/>
                        <a:cs typeface="+mn-cs"/>
                      </a:endParaRPr>
                    </a:p>
                  </a:txBody>
                  <a:tcPr marL="91416" marR="91416" marT="182832" marB="45708" anchor="ctr">
                    <a:lnL>
                      <a:noFill/>
                    </a:lnL>
                    <a:lnR>
                      <a:noFill/>
                    </a:lnR>
                    <a:lnT w="254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endParaRPr lang="en-US" sz="1600" b="0" i="0" kern="1200" dirty="0">
                        <a:solidFill>
                          <a:schemeClr val="accent2"/>
                        </a:solidFill>
                        <a:latin typeface="Arial" panose="020B0604020202020204" pitchFamily="34" charset="0"/>
                        <a:ea typeface="+mn-ea"/>
                        <a:cs typeface="+mn-cs"/>
                      </a:endParaRPr>
                    </a:p>
                  </a:txBody>
                  <a:tcPr marL="91416" marR="91416" marT="182832" marB="45708" anchor="ctr">
                    <a:lnL>
                      <a:noFill/>
                    </a:lnL>
                    <a:lnR>
                      <a:noFill/>
                    </a:lnR>
                    <a:lnT w="254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en-US" sz="1600" b="0" i="0" kern="1200" dirty="0">
                          <a:solidFill>
                            <a:schemeClr val="accent2"/>
                          </a:solidFill>
                          <a:latin typeface="Arial" panose="020B0604020202020204" pitchFamily="34" charset="0"/>
                          <a:ea typeface="+mn-ea"/>
                          <a:cs typeface="+mn-cs"/>
                        </a:rPr>
                        <a:t>  </a:t>
                      </a:r>
                    </a:p>
                  </a:txBody>
                  <a:tcPr marL="91416" marR="91416" marT="182832" marB="45708" anchor="ctr">
                    <a:lnL>
                      <a:noFill/>
                    </a:lnL>
                    <a:lnR>
                      <a:noFill/>
                    </a:lnR>
                    <a:lnT w="254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endParaRPr lang="en-US" sz="1600" b="0" i="0" kern="1200" dirty="0">
                        <a:solidFill>
                          <a:schemeClr val="accent2"/>
                        </a:solidFill>
                        <a:latin typeface="Arial" panose="020B0604020202020204" pitchFamily="34" charset="0"/>
                        <a:ea typeface="+mn-ea"/>
                        <a:cs typeface="+mn-cs"/>
                      </a:endParaRPr>
                    </a:p>
                  </a:txBody>
                  <a:tcPr marL="91416" marR="91416" marT="182832" marB="45708" anchor="ctr">
                    <a:lnL>
                      <a:noFill/>
                    </a:lnL>
                    <a:lnR>
                      <a:noFill/>
                    </a:lnR>
                    <a:lnT w="254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endParaRPr lang="en-US" sz="1600" b="0" i="0" kern="1200" dirty="0">
                        <a:solidFill>
                          <a:schemeClr val="accent2"/>
                        </a:solidFill>
                        <a:latin typeface="Arial" panose="020B0604020202020204" pitchFamily="34" charset="0"/>
                        <a:ea typeface="+mn-ea"/>
                        <a:cs typeface="+mn-cs"/>
                      </a:endParaRPr>
                    </a:p>
                  </a:txBody>
                  <a:tcPr marL="91416" marR="91416" marT="182832" marB="45708" anchor="ctr">
                    <a:lnL>
                      <a:noFill/>
                    </a:lnL>
                    <a:lnR>
                      <a:noFill/>
                    </a:lnR>
                    <a:lnT w="254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8862044"/>
                  </a:ext>
                </a:extLst>
              </a:tr>
              <a:tr h="621381">
                <a:tc>
                  <a:txBody>
                    <a:bodyPr/>
                    <a:lstStyle/>
                    <a:p>
                      <a:pPr marL="0" algn="l" defTabSz="914400" rtl="0" eaLnBrk="1" latinLnBrk="0" hangingPunct="1"/>
                      <a:r>
                        <a:rPr lang="en-US" sz="1400" b="0" i="0" kern="1200" dirty="0">
                          <a:solidFill>
                            <a:schemeClr val="tx1"/>
                          </a:solidFill>
                          <a:latin typeface="Arial" panose="020B0604020202020204" pitchFamily="34" charset="0"/>
                          <a:ea typeface="+mn-ea"/>
                          <a:cs typeface="+mn-cs"/>
                        </a:rPr>
                        <a:t>Provides a Full SDDC Solution</a:t>
                      </a:r>
                    </a:p>
                  </a:txBody>
                  <a:tcPr marL="91416" marR="91416" marT="45708" marB="45708" anchor="ctr">
                    <a:lnT w="285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285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285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285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285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285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153565786"/>
                  </a:ext>
                </a:extLst>
              </a:tr>
              <a:tr h="621381">
                <a:tc>
                  <a:txBody>
                    <a:bodyPr/>
                    <a:lstStyle/>
                    <a:p>
                      <a:pPr marL="0" algn="l" defTabSz="914400" rtl="0" eaLnBrk="1" latinLnBrk="0" hangingPunct="1"/>
                      <a:r>
                        <a:rPr lang="en-US" sz="1400" b="0" i="0" kern="1200" dirty="0">
                          <a:solidFill>
                            <a:schemeClr val="tx1"/>
                          </a:solidFill>
                          <a:latin typeface="Arial" panose="020B0604020202020204" pitchFamily="34" charset="0"/>
                          <a:ea typeface="+mn-ea"/>
                          <a:cs typeface="+mn-cs"/>
                        </a:rPr>
                        <a:t>Storage Policy Based Management</a:t>
                      </a:r>
                    </a:p>
                  </a:txBody>
                  <a:tcPr marL="91416" marR="91416" marT="45708" marB="45708"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8FA"/>
                    </a:solid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8FA"/>
                    </a:solid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8FA"/>
                    </a:solid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8FA"/>
                    </a:solid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8FA"/>
                    </a:solid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8FA"/>
                    </a:solidFill>
                  </a:tcPr>
                </a:tc>
                <a:extLst>
                  <a:ext uri="{0D108BD9-81ED-4DB2-BD59-A6C34878D82A}">
                    <a16:rowId xmlns:a16="http://schemas.microsoft.com/office/drawing/2014/main" val="2779100874"/>
                  </a:ext>
                </a:extLst>
              </a:tr>
              <a:tr h="6213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tx1"/>
                          </a:solidFill>
                          <a:latin typeface="Arial" panose="020B0604020202020204" pitchFamily="34" charset="0"/>
                          <a:ea typeface="+mn-ea"/>
                          <a:cs typeface="+mn-cs"/>
                        </a:rPr>
                        <a:t>Automated Deployment and Scale</a:t>
                      </a:r>
                    </a:p>
                  </a:txBody>
                  <a:tcPr marL="91416" marR="91416" marT="45708" marB="45708"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641468237"/>
                  </a:ext>
                </a:extLst>
              </a:tr>
              <a:tr h="621381">
                <a:tc>
                  <a:txBody>
                    <a:bodyPr/>
                    <a:lstStyle/>
                    <a:p>
                      <a:pPr marL="0" algn="l" defTabSz="914400" rtl="0" eaLnBrk="1" latinLnBrk="0" hangingPunct="1"/>
                      <a:r>
                        <a:rPr lang="en-US" sz="1400" b="0" i="0" kern="1200" dirty="0">
                          <a:solidFill>
                            <a:schemeClr val="tx1"/>
                          </a:solidFill>
                          <a:latin typeface="Arial" panose="020B0604020202020204" pitchFamily="34" charset="0"/>
                          <a:ea typeface="+mn-ea"/>
                          <a:cs typeface="+mn-cs"/>
                        </a:rPr>
                        <a:t>Automated LCM, Patching, Upgrades</a:t>
                      </a:r>
                    </a:p>
                  </a:txBody>
                  <a:tcPr marL="91416" marR="91416" marT="45708" marB="45708"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8FA"/>
                    </a:solid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8FA"/>
                    </a:solid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8FA"/>
                    </a:solid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8FA"/>
                    </a:solid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8FA"/>
                    </a:solid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8FA"/>
                    </a:solidFill>
                  </a:tcPr>
                </a:tc>
                <a:extLst>
                  <a:ext uri="{0D108BD9-81ED-4DB2-BD59-A6C34878D82A}">
                    <a16:rowId xmlns:a16="http://schemas.microsoft.com/office/drawing/2014/main" val="1315322155"/>
                  </a:ext>
                </a:extLst>
              </a:tr>
              <a:tr h="6213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tx1"/>
                          </a:solidFill>
                          <a:latin typeface="Arial" panose="020B0604020202020204" pitchFamily="34" charset="0"/>
                          <a:ea typeface="+mn-ea"/>
                          <a:cs typeface="+mn-cs"/>
                        </a:rPr>
                        <a:t>Stretched Clusters</a:t>
                      </a:r>
                    </a:p>
                  </a:txBody>
                  <a:tcPr marL="91416" marR="91416" marT="45708" marB="45708"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655047399"/>
                  </a:ext>
                </a:extLst>
              </a:tr>
              <a:tr h="621381">
                <a:tc>
                  <a:txBody>
                    <a:bodyPr/>
                    <a:lstStyle/>
                    <a:p>
                      <a:pPr marL="0" algn="l" defTabSz="914400" rtl="0" eaLnBrk="1" latinLnBrk="0" hangingPunct="1"/>
                      <a:r>
                        <a:rPr lang="en-US" sz="1400" b="0" i="0" kern="1200" dirty="0">
                          <a:solidFill>
                            <a:schemeClr val="tx1"/>
                          </a:solidFill>
                          <a:latin typeface="Arial" panose="020B0604020202020204" pitchFamily="34" charset="0"/>
                          <a:ea typeface="+mn-ea"/>
                          <a:cs typeface="+mn-cs"/>
                        </a:rPr>
                        <a:t>Remote Clusters</a:t>
                      </a:r>
                    </a:p>
                  </a:txBody>
                  <a:tcPr marL="91416" marR="91416" marT="45708" marB="45708"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8FA"/>
                    </a:solid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8FA"/>
                    </a:solid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8FA"/>
                    </a:solid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8FA"/>
                    </a:solid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8FA"/>
                    </a:solid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8FA"/>
                    </a:solidFill>
                  </a:tcPr>
                </a:tc>
                <a:extLst>
                  <a:ext uri="{0D108BD9-81ED-4DB2-BD59-A6C34878D82A}">
                    <a16:rowId xmlns:a16="http://schemas.microsoft.com/office/drawing/2014/main" val="2715376598"/>
                  </a:ext>
                </a:extLst>
              </a:tr>
              <a:tr h="621381">
                <a:tc>
                  <a:txBody>
                    <a:bodyPr/>
                    <a:lstStyle/>
                    <a:p>
                      <a:pPr marL="0" algn="l" defTabSz="914400" rtl="0" eaLnBrk="1" latinLnBrk="0" hangingPunct="1"/>
                      <a:r>
                        <a:rPr lang="en-US" sz="1400" b="0" i="0" kern="1200" dirty="0">
                          <a:solidFill>
                            <a:schemeClr val="tx1"/>
                          </a:solidFill>
                          <a:latin typeface="Arial" panose="020B0604020202020204" pitchFamily="34" charset="0"/>
                          <a:ea typeface="+mn-ea"/>
                          <a:cs typeface="+mn-cs"/>
                        </a:rPr>
                        <a:t>Compute Only Clusters</a:t>
                      </a:r>
                    </a:p>
                  </a:txBody>
                  <a:tcPr marL="91416" marR="91416" marT="45708" marB="45708"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algn="l" defTabSz="914400" rtl="0" eaLnBrk="1" latinLnBrk="0" hangingPunct="1"/>
                      <a:endParaRPr lang="en-US" sz="1600" b="0" i="0" kern="1200" dirty="0">
                        <a:solidFill>
                          <a:schemeClr val="tx2"/>
                        </a:solidFill>
                        <a:latin typeface="Arial" panose="020B0604020202020204" pitchFamily="34" charset="0"/>
                        <a:ea typeface="+mn-ea"/>
                        <a:cs typeface="+mn-cs"/>
                      </a:endParaRPr>
                    </a:p>
                  </a:txBody>
                  <a:tcPr marL="91416" marR="91416" marT="45708" marB="45708">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4136303198"/>
                  </a:ext>
                </a:extLst>
              </a:tr>
            </a:tbl>
          </a:graphicData>
        </a:graphic>
      </p:graphicFrame>
      <p:grpSp>
        <p:nvGrpSpPr>
          <p:cNvPr id="74" name="Group 73" descr="checkmark">
            <a:extLst>
              <a:ext uri="{FF2B5EF4-FFF2-40B4-BE49-F238E27FC236}">
                <a16:creationId xmlns:a16="http://schemas.microsoft.com/office/drawing/2014/main" id="{80ADF018-3E63-B510-B1E3-90950444398A}"/>
              </a:ext>
            </a:extLst>
          </p:cNvPr>
          <p:cNvGrpSpPr/>
          <p:nvPr/>
        </p:nvGrpSpPr>
        <p:grpSpPr>
          <a:xfrm>
            <a:off x="4668626" y="1974500"/>
            <a:ext cx="309482" cy="309482"/>
            <a:chOff x="4733925" y="1390650"/>
            <a:chExt cx="309563" cy="309563"/>
          </a:xfrm>
          <a:solidFill>
            <a:schemeClr val="accent3"/>
          </a:solidFill>
        </p:grpSpPr>
        <p:sp>
          <p:nvSpPr>
            <p:cNvPr id="75" name="Oval 74">
              <a:extLst>
                <a:ext uri="{FF2B5EF4-FFF2-40B4-BE49-F238E27FC236}">
                  <a16:creationId xmlns:a16="http://schemas.microsoft.com/office/drawing/2014/main" id="{677C2D9B-60FB-53B4-B6A5-EB2FD64BCF0D}"/>
                </a:ext>
              </a:extLst>
            </p:cNvPr>
            <p:cNvSpPr/>
            <p:nvPr/>
          </p:nvSpPr>
          <p:spPr>
            <a:xfrm>
              <a:off x="4733925" y="1390650"/>
              <a:ext cx="309563" cy="30956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76" name="Freeform 5">
              <a:extLst>
                <a:ext uri="{FF2B5EF4-FFF2-40B4-BE49-F238E27FC236}">
                  <a16:creationId xmlns:a16="http://schemas.microsoft.com/office/drawing/2014/main" id="{C018E3A6-9F5B-B06D-E96E-509B0260E054}"/>
                </a:ext>
              </a:extLst>
            </p:cNvPr>
            <p:cNvSpPr>
              <a:spLocks noChangeAspect="1"/>
            </p:cNvSpPr>
            <p:nvPr/>
          </p:nvSpPr>
          <p:spPr bwMode="gray">
            <a:xfrm rot="10800000">
              <a:off x="4793681" y="1480356"/>
              <a:ext cx="178368" cy="118598"/>
            </a:xfrm>
            <a:custGeom>
              <a:avLst/>
              <a:gdLst>
                <a:gd name="T0" fmla="*/ 0 w 78"/>
                <a:gd name="T1" fmla="*/ 40 h 40"/>
                <a:gd name="T2" fmla="*/ 39 w 78"/>
                <a:gd name="T3" fmla="*/ 0 h 40"/>
                <a:gd name="T4" fmla="*/ 78 w 78"/>
                <a:gd name="T5" fmla="*/ 40 h 40"/>
                <a:gd name="connsiteX0" fmla="*/ 0 w 16875"/>
                <a:gd name="connsiteY0" fmla="*/ 22575 h 22575"/>
                <a:gd name="connsiteX1" fmla="*/ 11875 w 16875"/>
                <a:gd name="connsiteY1" fmla="*/ 0 h 22575"/>
                <a:gd name="connsiteX2" fmla="*/ 16875 w 16875"/>
                <a:gd name="connsiteY2" fmla="*/ 10000 h 22575"/>
              </a:gdLst>
              <a:ahLst/>
              <a:cxnLst>
                <a:cxn ang="0">
                  <a:pos x="connsiteX0" y="connsiteY0"/>
                </a:cxn>
                <a:cxn ang="0">
                  <a:pos x="connsiteX1" y="connsiteY1"/>
                </a:cxn>
                <a:cxn ang="0">
                  <a:pos x="connsiteX2" y="connsiteY2"/>
                </a:cxn>
              </a:cxnLst>
              <a:rect l="l" t="t" r="r" b="b"/>
              <a:pathLst>
                <a:path w="16875" h="22575">
                  <a:moveTo>
                    <a:pt x="0" y="22575"/>
                  </a:moveTo>
                  <a:lnTo>
                    <a:pt x="11875" y="0"/>
                  </a:lnTo>
                  <a:lnTo>
                    <a:pt x="16875" y="10000"/>
                  </a:lnTo>
                </a:path>
              </a:pathLst>
            </a:custGeom>
            <a:noFill/>
            <a:ln w="25400" cap="flat">
              <a:solidFill>
                <a:schemeClr val="bg1"/>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1392" tIns="45696" rIns="91392" bIns="45696" numCol="1" anchor="t" anchorCtr="0" compatLnSpc="1">
              <a:prstTxWarp prst="textNoShape">
                <a:avLst/>
              </a:prstTxWarp>
            </a:bodyPr>
            <a:lstStyle/>
            <a:p>
              <a:pPr marL="342797" marR="0" lvl="0" indent="-342797" algn="l" defTabSz="914400" rtl="0" eaLnBrk="1" fontAlgn="auto" latinLnBrk="0" hangingPunct="1">
                <a:lnSpc>
                  <a:spcPct val="100000"/>
                </a:lnSpc>
                <a:spcBef>
                  <a:spcPts val="0"/>
                </a:spcBef>
                <a:spcAft>
                  <a:spcPts val="0"/>
                </a:spcAft>
                <a:buClrTx/>
                <a:buSzTx/>
                <a:buFont typeface="+mj-lt"/>
                <a:buChar char="•"/>
                <a:tabLst/>
                <a:defRPr/>
              </a:pPr>
              <a:endParaRPr kumimoji="0" lang="en-US" sz="1798" b="0" i="0" u="none" strike="noStrike" kern="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77" name="Group 76" descr="checkmark">
            <a:extLst>
              <a:ext uri="{FF2B5EF4-FFF2-40B4-BE49-F238E27FC236}">
                <a16:creationId xmlns:a16="http://schemas.microsoft.com/office/drawing/2014/main" id="{3A5F2BAD-543D-F03F-F746-88EBDE81074A}"/>
              </a:ext>
            </a:extLst>
          </p:cNvPr>
          <p:cNvGrpSpPr/>
          <p:nvPr/>
        </p:nvGrpSpPr>
        <p:grpSpPr>
          <a:xfrm>
            <a:off x="4668626" y="2592955"/>
            <a:ext cx="309482" cy="309482"/>
            <a:chOff x="4733925" y="1390650"/>
            <a:chExt cx="309563" cy="309563"/>
          </a:xfrm>
          <a:solidFill>
            <a:schemeClr val="accent3"/>
          </a:solidFill>
        </p:grpSpPr>
        <p:sp>
          <p:nvSpPr>
            <p:cNvPr id="78" name="Oval 77">
              <a:extLst>
                <a:ext uri="{FF2B5EF4-FFF2-40B4-BE49-F238E27FC236}">
                  <a16:creationId xmlns:a16="http://schemas.microsoft.com/office/drawing/2014/main" id="{D9904C7D-147F-A224-915B-45C78B58A258}"/>
                </a:ext>
              </a:extLst>
            </p:cNvPr>
            <p:cNvSpPr/>
            <p:nvPr/>
          </p:nvSpPr>
          <p:spPr>
            <a:xfrm>
              <a:off x="4733925" y="1390650"/>
              <a:ext cx="309563" cy="30956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79" name="Freeform 5">
              <a:extLst>
                <a:ext uri="{FF2B5EF4-FFF2-40B4-BE49-F238E27FC236}">
                  <a16:creationId xmlns:a16="http://schemas.microsoft.com/office/drawing/2014/main" id="{2AFFC062-DBAC-8851-0786-79FE59874375}"/>
                </a:ext>
              </a:extLst>
            </p:cNvPr>
            <p:cNvSpPr>
              <a:spLocks noChangeAspect="1"/>
            </p:cNvSpPr>
            <p:nvPr/>
          </p:nvSpPr>
          <p:spPr bwMode="gray">
            <a:xfrm rot="10800000">
              <a:off x="4793681" y="1480356"/>
              <a:ext cx="178368" cy="118598"/>
            </a:xfrm>
            <a:custGeom>
              <a:avLst/>
              <a:gdLst>
                <a:gd name="T0" fmla="*/ 0 w 78"/>
                <a:gd name="T1" fmla="*/ 40 h 40"/>
                <a:gd name="T2" fmla="*/ 39 w 78"/>
                <a:gd name="T3" fmla="*/ 0 h 40"/>
                <a:gd name="T4" fmla="*/ 78 w 78"/>
                <a:gd name="T5" fmla="*/ 40 h 40"/>
                <a:gd name="connsiteX0" fmla="*/ 0 w 16875"/>
                <a:gd name="connsiteY0" fmla="*/ 22575 h 22575"/>
                <a:gd name="connsiteX1" fmla="*/ 11875 w 16875"/>
                <a:gd name="connsiteY1" fmla="*/ 0 h 22575"/>
                <a:gd name="connsiteX2" fmla="*/ 16875 w 16875"/>
                <a:gd name="connsiteY2" fmla="*/ 10000 h 22575"/>
              </a:gdLst>
              <a:ahLst/>
              <a:cxnLst>
                <a:cxn ang="0">
                  <a:pos x="connsiteX0" y="connsiteY0"/>
                </a:cxn>
                <a:cxn ang="0">
                  <a:pos x="connsiteX1" y="connsiteY1"/>
                </a:cxn>
                <a:cxn ang="0">
                  <a:pos x="connsiteX2" y="connsiteY2"/>
                </a:cxn>
              </a:cxnLst>
              <a:rect l="l" t="t" r="r" b="b"/>
              <a:pathLst>
                <a:path w="16875" h="22575">
                  <a:moveTo>
                    <a:pt x="0" y="22575"/>
                  </a:moveTo>
                  <a:lnTo>
                    <a:pt x="11875" y="0"/>
                  </a:lnTo>
                  <a:lnTo>
                    <a:pt x="16875" y="10000"/>
                  </a:lnTo>
                </a:path>
              </a:pathLst>
            </a:custGeom>
            <a:noFill/>
            <a:ln w="25400" cap="flat">
              <a:solidFill>
                <a:schemeClr val="bg1"/>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1392" tIns="45696" rIns="91392" bIns="45696" numCol="1" anchor="t" anchorCtr="0" compatLnSpc="1">
              <a:prstTxWarp prst="textNoShape">
                <a:avLst/>
              </a:prstTxWarp>
            </a:bodyPr>
            <a:lstStyle/>
            <a:p>
              <a:pPr marL="342797" marR="0" lvl="0" indent="-342797" algn="l" defTabSz="914400" rtl="0" eaLnBrk="1" fontAlgn="auto" latinLnBrk="0" hangingPunct="1">
                <a:lnSpc>
                  <a:spcPct val="100000"/>
                </a:lnSpc>
                <a:spcBef>
                  <a:spcPts val="0"/>
                </a:spcBef>
                <a:spcAft>
                  <a:spcPts val="0"/>
                </a:spcAft>
                <a:buClrTx/>
                <a:buSzTx/>
                <a:buFont typeface="+mj-lt"/>
                <a:buChar char="•"/>
                <a:tabLst/>
                <a:defRPr/>
              </a:pPr>
              <a:endParaRPr kumimoji="0" lang="en-US" sz="1798" b="0" i="0" u="none" strike="noStrike" kern="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80" name="Group 79" descr="checkmark">
            <a:extLst>
              <a:ext uri="{FF2B5EF4-FFF2-40B4-BE49-F238E27FC236}">
                <a16:creationId xmlns:a16="http://schemas.microsoft.com/office/drawing/2014/main" id="{897FA513-5BF2-1767-F025-0AE9874E688C}"/>
              </a:ext>
            </a:extLst>
          </p:cNvPr>
          <p:cNvGrpSpPr/>
          <p:nvPr/>
        </p:nvGrpSpPr>
        <p:grpSpPr>
          <a:xfrm>
            <a:off x="4668626" y="3218497"/>
            <a:ext cx="309482" cy="309482"/>
            <a:chOff x="4733925" y="1390650"/>
            <a:chExt cx="309563" cy="309563"/>
          </a:xfrm>
          <a:solidFill>
            <a:schemeClr val="accent3"/>
          </a:solidFill>
        </p:grpSpPr>
        <p:sp>
          <p:nvSpPr>
            <p:cNvPr id="81" name="Oval 80">
              <a:extLst>
                <a:ext uri="{FF2B5EF4-FFF2-40B4-BE49-F238E27FC236}">
                  <a16:creationId xmlns:a16="http://schemas.microsoft.com/office/drawing/2014/main" id="{5AD1C504-568F-DF31-AB47-CA1252FB1243}"/>
                </a:ext>
              </a:extLst>
            </p:cNvPr>
            <p:cNvSpPr/>
            <p:nvPr/>
          </p:nvSpPr>
          <p:spPr>
            <a:xfrm>
              <a:off x="4733925" y="1390650"/>
              <a:ext cx="309563" cy="30956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82" name="Freeform 5">
              <a:extLst>
                <a:ext uri="{FF2B5EF4-FFF2-40B4-BE49-F238E27FC236}">
                  <a16:creationId xmlns:a16="http://schemas.microsoft.com/office/drawing/2014/main" id="{7DFB2AE9-88C4-516E-8B93-0AD903B07316}"/>
                </a:ext>
              </a:extLst>
            </p:cNvPr>
            <p:cNvSpPr>
              <a:spLocks noChangeAspect="1"/>
            </p:cNvSpPr>
            <p:nvPr/>
          </p:nvSpPr>
          <p:spPr bwMode="gray">
            <a:xfrm rot="10800000">
              <a:off x="4793681" y="1480356"/>
              <a:ext cx="178368" cy="118598"/>
            </a:xfrm>
            <a:custGeom>
              <a:avLst/>
              <a:gdLst>
                <a:gd name="T0" fmla="*/ 0 w 78"/>
                <a:gd name="T1" fmla="*/ 40 h 40"/>
                <a:gd name="T2" fmla="*/ 39 w 78"/>
                <a:gd name="T3" fmla="*/ 0 h 40"/>
                <a:gd name="T4" fmla="*/ 78 w 78"/>
                <a:gd name="T5" fmla="*/ 40 h 40"/>
                <a:gd name="connsiteX0" fmla="*/ 0 w 16875"/>
                <a:gd name="connsiteY0" fmla="*/ 22575 h 22575"/>
                <a:gd name="connsiteX1" fmla="*/ 11875 w 16875"/>
                <a:gd name="connsiteY1" fmla="*/ 0 h 22575"/>
                <a:gd name="connsiteX2" fmla="*/ 16875 w 16875"/>
                <a:gd name="connsiteY2" fmla="*/ 10000 h 22575"/>
              </a:gdLst>
              <a:ahLst/>
              <a:cxnLst>
                <a:cxn ang="0">
                  <a:pos x="connsiteX0" y="connsiteY0"/>
                </a:cxn>
                <a:cxn ang="0">
                  <a:pos x="connsiteX1" y="connsiteY1"/>
                </a:cxn>
                <a:cxn ang="0">
                  <a:pos x="connsiteX2" y="connsiteY2"/>
                </a:cxn>
              </a:cxnLst>
              <a:rect l="l" t="t" r="r" b="b"/>
              <a:pathLst>
                <a:path w="16875" h="22575">
                  <a:moveTo>
                    <a:pt x="0" y="22575"/>
                  </a:moveTo>
                  <a:lnTo>
                    <a:pt x="11875" y="0"/>
                  </a:lnTo>
                  <a:lnTo>
                    <a:pt x="16875" y="10000"/>
                  </a:lnTo>
                </a:path>
              </a:pathLst>
            </a:custGeom>
            <a:noFill/>
            <a:ln w="25400" cap="flat">
              <a:solidFill>
                <a:schemeClr val="bg1"/>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1392" tIns="45696" rIns="91392" bIns="45696" numCol="1" anchor="t" anchorCtr="0" compatLnSpc="1">
              <a:prstTxWarp prst="textNoShape">
                <a:avLst/>
              </a:prstTxWarp>
            </a:bodyPr>
            <a:lstStyle/>
            <a:p>
              <a:pPr marL="342797" marR="0" lvl="0" indent="-342797" algn="l" defTabSz="914400" rtl="0" eaLnBrk="1" fontAlgn="auto" latinLnBrk="0" hangingPunct="1">
                <a:lnSpc>
                  <a:spcPct val="100000"/>
                </a:lnSpc>
                <a:spcBef>
                  <a:spcPts val="0"/>
                </a:spcBef>
                <a:spcAft>
                  <a:spcPts val="0"/>
                </a:spcAft>
                <a:buClrTx/>
                <a:buSzTx/>
                <a:buFont typeface="+mj-lt"/>
                <a:buChar char="•"/>
                <a:tabLst/>
                <a:defRPr/>
              </a:pPr>
              <a:endParaRPr kumimoji="0" lang="en-US" sz="1798" b="0" i="0" u="none" strike="noStrike" kern="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83" name="Group 82" descr="checkmark">
            <a:extLst>
              <a:ext uri="{FF2B5EF4-FFF2-40B4-BE49-F238E27FC236}">
                <a16:creationId xmlns:a16="http://schemas.microsoft.com/office/drawing/2014/main" id="{EE43F4C8-AD5F-6DC7-DA6B-0677C1349594}"/>
              </a:ext>
            </a:extLst>
          </p:cNvPr>
          <p:cNvGrpSpPr/>
          <p:nvPr/>
        </p:nvGrpSpPr>
        <p:grpSpPr>
          <a:xfrm>
            <a:off x="4668626" y="3839083"/>
            <a:ext cx="309482" cy="309482"/>
            <a:chOff x="4733925" y="1390650"/>
            <a:chExt cx="309563" cy="309563"/>
          </a:xfrm>
          <a:solidFill>
            <a:schemeClr val="accent3"/>
          </a:solidFill>
        </p:grpSpPr>
        <p:sp>
          <p:nvSpPr>
            <p:cNvPr id="84" name="Oval 83">
              <a:extLst>
                <a:ext uri="{FF2B5EF4-FFF2-40B4-BE49-F238E27FC236}">
                  <a16:creationId xmlns:a16="http://schemas.microsoft.com/office/drawing/2014/main" id="{40610211-687B-69F9-BF3D-ECA5390267E1}"/>
                </a:ext>
              </a:extLst>
            </p:cNvPr>
            <p:cNvSpPr/>
            <p:nvPr/>
          </p:nvSpPr>
          <p:spPr>
            <a:xfrm>
              <a:off x="4733925" y="1390650"/>
              <a:ext cx="309563" cy="30956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85" name="Freeform 5">
              <a:extLst>
                <a:ext uri="{FF2B5EF4-FFF2-40B4-BE49-F238E27FC236}">
                  <a16:creationId xmlns:a16="http://schemas.microsoft.com/office/drawing/2014/main" id="{7495ACC5-9571-641F-2BED-861DBB520BB0}"/>
                </a:ext>
              </a:extLst>
            </p:cNvPr>
            <p:cNvSpPr>
              <a:spLocks noChangeAspect="1"/>
            </p:cNvSpPr>
            <p:nvPr/>
          </p:nvSpPr>
          <p:spPr bwMode="gray">
            <a:xfrm rot="10800000">
              <a:off x="4793681" y="1480356"/>
              <a:ext cx="178368" cy="118598"/>
            </a:xfrm>
            <a:custGeom>
              <a:avLst/>
              <a:gdLst>
                <a:gd name="T0" fmla="*/ 0 w 78"/>
                <a:gd name="T1" fmla="*/ 40 h 40"/>
                <a:gd name="T2" fmla="*/ 39 w 78"/>
                <a:gd name="T3" fmla="*/ 0 h 40"/>
                <a:gd name="T4" fmla="*/ 78 w 78"/>
                <a:gd name="T5" fmla="*/ 40 h 40"/>
                <a:gd name="connsiteX0" fmla="*/ 0 w 16875"/>
                <a:gd name="connsiteY0" fmla="*/ 22575 h 22575"/>
                <a:gd name="connsiteX1" fmla="*/ 11875 w 16875"/>
                <a:gd name="connsiteY1" fmla="*/ 0 h 22575"/>
                <a:gd name="connsiteX2" fmla="*/ 16875 w 16875"/>
                <a:gd name="connsiteY2" fmla="*/ 10000 h 22575"/>
              </a:gdLst>
              <a:ahLst/>
              <a:cxnLst>
                <a:cxn ang="0">
                  <a:pos x="connsiteX0" y="connsiteY0"/>
                </a:cxn>
                <a:cxn ang="0">
                  <a:pos x="connsiteX1" y="connsiteY1"/>
                </a:cxn>
                <a:cxn ang="0">
                  <a:pos x="connsiteX2" y="connsiteY2"/>
                </a:cxn>
              </a:cxnLst>
              <a:rect l="l" t="t" r="r" b="b"/>
              <a:pathLst>
                <a:path w="16875" h="22575">
                  <a:moveTo>
                    <a:pt x="0" y="22575"/>
                  </a:moveTo>
                  <a:lnTo>
                    <a:pt x="11875" y="0"/>
                  </a:lnTo>
                  <a:lnTo>
                    <a:pt x="16875" y="10000"/>
                  </a:lnTo>
                </a:path>
              </a:pathLst>
            </a:custGeom>
            <a:noFill/>
            <a:ln w="25400" cap="flat">
              <a:solidFill>
                <a:schemeClr val="bg1"/>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1392" tIns="45696" rIns="91392" bIns="45696" numCol="1" anchor="t" anchorCtr="0" compatLnSpc="1">
              <a:prstTxWarp prst="textNoShape">
                <a:avLst/>
              </a:prstTxWarp>
            </a:bodyPr>
            <a:lstStyle/>
            <a:p>
              <a:pPr marL="342797" marR="0" lvl="0" indent="-342797" algn="l" defTabSz="914400" rtl="0" eaLnBrk="1" fontAlgn="auto" latinLnBrk="0" hangingPunct="1">
                <a:lnSpc>
                  <a:spcPct val="100000"/>
                </a:lnSpc>
                <a:spcBef>
                  <a:spcPts val="0"/>
                </a:spcBef>
                <a:spcAft>
                  <a:spcPts val="0"/>
                </a:spcAft>
                <a:buClrTx/>
                <a:buSzTx/>
                <a:buFont typeface="+mj-lt"/>
                <a:buChar char="•"/>
                <a:tabLst/>
                <a:defRPr/>
              </a:pPr>
              <a:endParaRPr kumimoji="0" lang="en-US" sz="1798" b="0" i="0" u="none" strike="noStrike" kern="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86" name="Group 85" descr="checkmark">
            <a:extLst>
              <a:ext uri="{FF2B5EF4-FFF2-40B4-BE49-F238E27FC236}">
                <a16:creationId xmlns:a16="http://schemas.microsoft.com/office/drawing/2014/main" id="{BEB034E6-640C-5B76-A29E-A5524478038B}"/>
              </a:ext>
            </a:extLst>
          </p:cNvPr>
          <p:cNvGrpSpPr/>
          <p:nvPr/>
        </p:nvGrpSpPr>
        <p:grpSpPr>
          <a:xfrm>
            <a:off x="4668626" y="4465522"/>
            <a:ext cx="309482" cy="309482"/>
            <a:chOff x="4733925" y="1390650"/>
            <a:chExt cx="309563" cy="309563"/>
          </a:xfrm>
          <a:solidFill>
            <a:schemeClr val="accent3"/>
          </a:solidFill>
        </p:grpSpPr>
        <p:sp>
          <p:nvSpPr>
            <p:cNvPr id="87" name="Oval 86">
              <a:extLst>
                <a:ext uri="{FF2B5EF4-FFF2-40B4-BE49-F238E27FC236}">
                  <a16:creationId xmlns:a16="http://schemas.microsoft.com/office/drawing/2014/main" id="{9C81AC2D-3048-3AE3-2CBA-E06E55B26BC6}"/>
                </a:ext>
              </a:extLst>
            </p:cNvPr>
            <p:cNvSpPr/>
            <p:nvPr/>
          </p:nvSpPr>
          <p:spPr>
            <a:xfrm>
              <a:off x="4733925" y="1390650"/>
              <a:ext cx="309563" cy="30956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88" name="Freeform 5">
              <a:extLst>
                <a:ext uri="{FF2B5EF4-FFF2-40B4-BE49-F238E27FC236}">
                  <a16:creationId xmlns:a16="http://schemas.microsoft.com/office/drawing/2014/main" id="{E15F0E1C-9C89-EEE9-45A9-D4FD96A6F55B}"/>
                </a:ext>
              </a:extLst>
            </p:cNvPr>
            <p:cNvSpPr>
              <a:spLocks noChangeAspect="1"/>
            </p:cNvSpPr>
            <p:nvPr/>
          </p:nvSpPr>
          <p:spPr bwMode="gray">
            <a:xfrm rot="10800000">
              <a:off x="4793681" y="1480356"/>
              <a:ext cx="178368" cy="118598"/>
            </a:xfrm>
            <a:custGeom>
              <a:avLst/>
              <a:gdLst>
                <a:gd name="T0" fmla="*/ 0 w 78"/>
                <a:gd name="T1" fmla="*/ 40 h 40"/>
                <a:gd name="T2" fmla="*/ 39 w 78"/>
                <a:gd name="T3" fmla="*/ 0 h 40"/>
                <a:gd name="T4" fmla="*/ 78 w 78"/>
                <a:gd name="T5" fmla="*/ 40 h 40"/>
                <a:gd name="connsiteX0" fmla="*/ 0 w 16875"/>
                <a:gd name="connsiteY0" fmla="*/ 22575 h 22575"/>
                <a:gd name="connsiteX1" fmla="*/ 11875 w 16875"/>
                <a:gd name="connsiteY1" fmla="*/ 0 h 22575"/>
                <a:gd name="connsiteX2" fmla="*/ 16875 w 16875"/>
                <a:gd name="connsiteY2" fmla="*/ 10000 h 22575"/>
              </a:gdLst>
              <a:ahLst/>
              <a:cxnLst>
                <a:cxn ang="0">
                  <a:pos x="connsiteX0" y="connsiteY0"/>
                </a:cxn>
                <a:cxn ang="0">
                  <a:pos x="connsiteX1" y="connsiteY1"/>
                </a:cxn>
                <a:cxn ang="0">
                  <a:pos x="connsiteX2" y="connsiteY2"/>
                </a:cxn>
              </a:cxnLst>
              <a:rect l="l" t="t" r="r" b="b"/>
              <a:pathLst>
                <a:path w="16875" h="22575">
                  <a:moveTo>
                    <a:pt x="0" y="22575"/>
                  </a:moveTo>
                  <a:lnTo>
                    <a:pt x="11875" y="0"/>
                  </a:lnTo>
                  <a:lnTo>
                    <a:pt x="16875" y="10000"/>
                  </a:lnTo>
                </a:path>
              </a:pathLst>
            </a:custGeom>
            <a:noFill/>
            <a:ln w="25400" cap="flat">
              <a:solidFill>
                <a:schemeClr val="bg1"/>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1392" tIns="45696" rIns="91392" bIns="45696" numCol="1" anchor="t" anchorCtr="0" compatLnSpc="1">
              <a:prstTxWarp prst="textNoShape">
                <a:avLst/>
              </a:prstTxWarp>
            </a:bodyPr>
            <a:lstStyle/>
            <a:p>
              <a:pPr marL="342797" marR="0" lvl="0" indent="-342797" algn="l" defTabSz="914400" rtl="0" eaLnBrk="1" fontAlgn="auto" latinLnBrk="0" hangingPunct="1">
                <a:lnSpc>
                  <a:spcPct val="100000"/>
                </a:lnSpc>
                <a:spcBef>
                  <a:spcPts val="0"/>
                </a:spcBef>
                <a:spcAft>
                  <a:spcPts val="0"/>
                </a:spcAft>
                <a:buClrTx/>
                <a:buSzTx/>
                <a:buFont typeface="+mj-lt"/>
                <a:buChar char="•"/>
                <a:tabLst/>
                <a:defRPr/>
              </a:pPr>
              <a:endParaRPr kumimoji="0" lang="en-US" sz="1798" b="0" i="0" u="none" strike="noStrike" kern="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89" name="Group 88" descr="checkmark">
            <a:extLst>
              <a:ext uri="{FF2B5EF4-FFF2-40B4-BE49-F238E27FC236}">
                <a16:creationId xmlns:a16="http://schemas.microsoft.com/office/drawing/2014/main" id="{5D1B6325-8A4B-E2CD-45DB-9714676E499C}"/>
              </a:ext>
            </a:extLst>
          </p:cNvPr>
          <p:cNvGrpSpPr/>
          <p:nvPr/>
        </p:nvGrpSpPr>
        <p:grpSpPr>
          <a:xfrm>
            <a:off x="4668626" y="5076388"/>
            <a:ext cx="309482" cy="309482"/>
            <a:chOff x="4733925" y="1390650"/>
            <a:chExt cx="309563" cy="309563"/>
          </a:xfrm>
          <a:solidFill>
            <a:schemeClr val="accent3"/>
          </a:solidFill>
        </p:grpSpPr>
        <p:sp>
          <p:nvSpPr>
            <p:cNvPr id="90" name="Oval 89">
              <a:extLst>
                <a:ext uri="{FF2B5EF4-FFF2-40B4-BE49-F238E27FC236}">
                  <a16:creationId xmlns:a16="http://schemas.microsoft.com/office/drawing/2014/main" id="{C6582AD8-0AC4-4001-1FFA-91DBAEEFB97D}"/>
                </a:ext>
              </a:extLst>
            </p:cNvPr>
            <p:cNvSpPr/>
            <p:nvPr/>
          </p:nvSpPr>
          <p:spPr>
            <a:xfrm>
              <a:off x="4733925" y="1390650"/>
              <a:ext cx="309563" cy="30956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91" name="Freeform 5">
              <a:extLst>
                <a:ext uri="{FF2B5EF4-FFF2-40B4-BE49-F238E27FC236}">
                  <a16:creationId xmlns:a16="http://schemas.microsoft.com/office/drawing/2014/main" id="{1FD65F92-34A2-CD41-B6FD-F8114575F03E}"/>
                </a:ext>
              </a:extLst>
            </p:cNvPr>
            <p:cNvSpPr>
              <a:spLocks noChangeAspect="1"/>
            </p:cNvSpPr>
            <p:nvPr/>
          </p:nvSpPr>
          <p:spPr bwMode="gray">
            <a:xfrm rot="10800000">
              <a:off x="4793681" y="1480356"/>
              <a:ext cx="178368" cy="118598"/>
            </a:xfrm>
            <a:custGeom>
              <a:avLst/>
              <a:gdLst>
                <a:gd name="T0" fmla="*/ 0 w 78"/>
                <a:gd name="T1" fmla="*/ 40 h 40"/>
                <a:gd name="T2" fmla="*/ 39 w 78"/>
                <a:gd name="T3" fmla="*/ 0 h 40"/>
                <a:gd name="T4" fmla="*/ 78 w 78"/>
                <a:gd name="T5" fmla="*/ 40 h 40"/>
                <a:gd name="connsiteX0" fmla="*/ 0 w 16875"/>
                <a:gd name="connsiteY0" fmla="*/ 22575 h 22575"/>
                <a:gd name="connsiteX1" fmla="*/ 11875 w 16875"/>
                <a:gd name="connsiteY1" fmla="*/ 0 h 22575"/>
                <a:gd name="connsiteX2" fmla="*/ 16875 w 16875"/>
                <a:gd name="connsiteY2" fmla="*/ 10000 h 22575"/>
              </a:gdLst>
              <a:ahLst/>
              <a:cxnLst>
                <a:cxn ang="0">
                  <a:pos x="connsiteX0" y="connsiteY0"/>
                </a:cxn>
                <a:cxn ang="0">
                  <a:pos x="connsiteX1" y="connsiteY1"/>
                </a:cxn>
                <a:cxn ang="0">
                  <a:pos x="connsiteX2" y="connsiteY2"/>
                </a:cxn>
              </a:cxnLst>
              <a:rect l="l" t="t" r="r" b="b"/>
              <a:pathLst>
                <a:path w="16875" h="22575">
                  <a:moveTo>
                    <a:pt x="0" y="22575"/>
                  </a:moveTo>
                  <a:lnTo>
                    <a:pt x="11875" y="0"/>
                  </a:lnTo>
                  <a:lnTo>
                    <a:pt x="16875" y="10000"/>
                  </a:lnTo>
                </a:path>
              </a:pathLst>
            </a:custGeom>
            <a:noFill/>
            <a:ln w="25400" cap="flat">
              <a:solidFill>
                <a:schemeClr val="bg1"/>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1392" tIns="45696" rIns="91392" bIns="45696" numCol="1" anchor="t" anchorCtr="0" compatLnSpc="1">
              <a:prstTxWarp prst="textNoShape">
                <a:avLst/>
              </a:prstTxWarp>
            </a:bodyPr>
            <a:lstStyle/>
            <a:p>
              <a:pPr marL="342797" marR="0" lvl="0" indent="-342797" algn="l" defTabSz="914400" rtl="0" eaLnBrk="1" fontAlgn="auto" latinLnBrk="0" hangingPunct="1">
                <a:lnSpc>
                  <a:spcPct val="100000"/>
                </a:lnSpc>
                <a:spcBef>
                  <a:spcPts val="0"/>
                </a:spcBef>
                <a:spcAft>
                  <a:spcPts val="0"/>
                </a:spcAft>
                <a:buClrTx/>
                <a:buSzTx/>
                <a:buFont typeface="+mj-lt"/>
                <a:buChar char="•"/>
                <a:tabLst/>
                <a:defRPr/>
              </a:pPr>
              <a:endParaRPr kumimoji="0" lang="en-US" sz="1798" b="0" i="0" u="none" strike="noStrike" kern="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05" name="Group 104" descr="checkmark">
            <a:extLst>
              <a:ext uri="{FF2B5EF4-FFF2-40B4-BE49-F238E27FC236}">
                <a16:creationId xmlns:a16="http://schemas.microsoft.com/office/drawing/2014/main" id="{D9C82747-F3DE-7D39-82C2-C28B0E2E7DFA}"/>
              </a:ext>
            </a:extLst>
          </p:cNvPr>
          <p:cNvGrpSpPr/>
          <p:nvPr/>
        </p:nvGrpSpPr>
        <p:grpSpPr>
          <a:xfrm>
            <a:off x="8622263" y="5076388"/>
            <a:ext cx="309482" cy="309482"/>
            <a:chOff x="4733925" y="1390650"/>
            <a:chExt cx="309563" cy="309563"/>
          </a:xfrm>
          <a:solidFill>
            <a:schemeClr val="accent3"/>
          </a:solidFill>
        </p:grpSpPr>
        <p:sp>
          <p:nvSpPr>
            <p:cNvPr id="106" name="Oval 105">
              <a:extLst>
                <a:ext uri="{FF2B5EF4-FFF2-40B4-BE49-F238E27FC236}">
                  <a16:creationId xmlns:a16="http://schemas.microsoft.com/office/drawing/2014/main" id="{4F90528C-6778-64C0-A193-075642465B18}"/>
                </a:ext>
              </a:extLst>
            </p:cNvPr>
            <p:cNvSpPr/>
            <p:nvPr/>
          </p:nvSpPr>
          <p:spPr>
            <a:xfrm>
              <a:off x="4733925" y="1390650"/>
              <a:ext cx="309563" cy="30956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07" name="Freeform 5">
              <a:extLst>
                <a:ext uri="{FF2B5EF4-FFF2-40B4-BE49-F238E27FC236}">
                  <a16:creationId xmlns:a16="http://schemas.microsoft.com/office/drawing/2014/main" id="{C47ED58A-8866-9AE7-1251-69FD8630DCA0}"/>
                </a:ext>
              </a:extLst>
            </p:cNvPr>
            <p:cNvSpPr>
              <a:spLocks noChangeAspect="1"/>
            </p:cNvSpPr>
            <p:nvPr/>
          </p:nvSpPr>
          <p:spPr bwMode="gray">
            <a:xfrm rot="10800000">
              <a:off x="4793681" y="1480356"/>
              <a:ext cx="178368" cy="118598"/>
            </a:xfrm>
            <a:custGeom>
              <a:avLst/>
              <a:gdLst>
                <a:gd name="T0" fmla="*/ 0 w 78"/>
                <a:gd name="T1" fmla="*/ 40 h 40"/>
                <a:gd name="T2" fmla="*/ 39 w 78"/>
                <a:gd name="T3" fmla="*/ 0 h 40"/>
                <a:gd name="T4" fmla="*/ 78 w 78"/>
                <a:gd name="T5" fmla="*/ 40 h 40"/>
                <a:gd name="connsiteX0" fmla="*/ 0 w 16875"/>
                <a:gd name="connsiteY0" fmla="*/ 22575 h 22575"/>
                <a:gd name="connsiteX1" fmla="*/ 11875 w 16875"/>
                <a:gd name="connsiteY1" fmla="*/ 0 h 22575"/>
                <a:gd name="connsiteX2" fmla="*/ 16875 w 16875"/>
                <a:gd name="connsiteY2" fmla="*/ 10000 h 22575"/>
              </a:gdLst>
              <a:ahLst/>
              <a:cxnLst>
                <a:cxn ang="0">
                  <a:pos x="connsiteX0" y="connsiteY0"/>
                </a:cxn>
                <a:cxn ang="0">
                  <a:pos x="connsiteX1" y="connsiteY1"/>
                </a:cxn>
                <a:cxn ang="0">
                  <a:pos x="connsiteX2" y="connsiteY2"/>
                </a:cxn>
              </a:cxnLst>
              <a:rect l="l" t="t" r="r" b="b"/>
              <a:pathLst>
                <a:path w="16875" h="22575">
                  <a:moveTo>
                    <a:pt x="0" y="22575"/>
                  </a:moveTo>
                  <a:lnTo>
                    <a:pt x="11875" y="0"/>
                  </a:lnTo>
                  <a:lnTo>
                    <a:pt x="16875" y="10000"/>
                  </a:lnTo>
                </a:path>
              </a:pathLst>
            </a:custGeom>
            <a:noFill/>
            <a:ln w="25400" cap="flat">
              <a:solidFill>
                <a:schemeClr val="bg1"/>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1392" tIns="45696" rIns="91392" bIns="45696" numCol="1" anchor="t" anchorCtr="0" compatLnSpc="1">
              <a:prstTxWarp prst="textNoShape">
                <a:avLst/>
              </a:prstTxWarp>
            </a:bodyPr>
            <a:lstStyle/>
            <a:p>
              <a:pPr marL="342797" marR="0" lvl="0" indent="-342797" algn="l" defTabSz="914400" rtl="0" eaLnBrk="1" fontAlgn="auto" latinLnBrk="0" hangingPunct="1">
                <a:lnSpc>
                  <a:spcPct val="100000"/>
                </a:lnSpc>
                <a:spcBef>
                  <a:spcPts val="0"/>
                </a:spcBef>
                <a:spcAft>
                  <a:spcPts val="0"/>
                </a:spcAft>
                <a:buClrTx/>
                <a:buSzTx/>
                <a:buFont typeface="+mj-lt"/>
                <a:buChar char="•"/>
                <a:tabLst/>
                <a:defRPr/>
              </a:pPr>
              <a:endParaRPr kumimoji="0" lang="en-US" sz="1798" b="0" i="0" u="none" strike="noStrike" kern="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08" name="Group 107" descr="checkmark">
            <a:extLst>
              <a:ext uri="{FF2B5EF4-FFF2-40B4-BE49-F238E27FC236}">
                <a16:creationId xmlns:a16="http://schemas.microsoft.com/office/drawing/2014/main" id="{9F551E74-624D-447A-4BD4-E6E4CB2431FB}"/>
              </a:ext>
            </a:extLst>
          </p:cNvPr>
          <p:cNvGrpSpPr/>
          <p:nvPr/>
        </p:nvGrpSpPr>
        <p:grpSpPr>
          <a:xfrm>
            <a:off x="10620432" y="5076388"/>
            <a:ext cx="309482" cy="309482"/>
            <a:chOff x="4733925" y="1390650"/>
            <a:chExt cx="309563" cy="309563"/>
          </a:xfrm>
          <a:solidFill>
            <a:schemeClr val="accent3"/>
          </a:solidFill>
        </p:grpSpPr>
        <p:sp>
          <p:nvSpPr>
            <p:cNvPr id="109" name="Oval 108">
              <a:extLst>
                <a:ext uri="{FF2B5EF4-FFF2-40B4-BE49-F238E27FC236}">
                  <a16:creationId xmlns:a16="http://schemas.microsoft.com/office/drawing/2014/main" id="{D00AB691-BD8F-A609-08EA-F99677CB0357}"/>
                </a:ext>
              </a:extLst>
            </p:cNvPr>
            <p:cNvSpPr/>
            <p:nvPr/>
          </p:nvSpPr>
          <p:spPr>
            <a:xfrm>
              <a:off x="4733925" y="1390650"/>
              <a:ext cx="309563" cy="30956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10" name="Freeform 5">
              <a:extLst>
                <a:ext uri="{FF2B5EF4-FFF2-40B4-BE49-F238E27FC236}">
                  <a16:creationId xmlns:a16="http://schemas.microsoft.com/office/drawing/2014/main" id="{8FEF12D4-B869-493A-27A9-BCB1979A0CC9}"/>
                </a:ext>
              </a:extLst>
            </p:cNvPr>
            <p:cNvSpPr>
              <a:spLocks noChangeAspect="1"/>
            </p:cNvSpPr>
            <p:nvPr/>
          </p:nvSpPr>
          <p:spPr bwMode="gray">
            <a:xfrm rot="10800000">
              <a:off x="4793681" y="1480356"/>
              <a:ext cx="178368" cy="118598"/>
            </a:xfrm>
            <a:custGeom>
              <a:avLst/>
              <a:gdLst>
                <a:gd name="T0" fmla="*/ 0 w 78"/>
                <a:gd name="T1" fmla="*/ 40 h 40"/>
                <a:gd name="T2" fmla="*/ 39 w 78"/>
                <a:gd name="T3" fmla="*/ 0 h 40"/>
                <a:gd name="T4" fmla="*/ 78 w 78"/>
                <a:gd name="T5" fmla="*/ 40 h 40"/>
                <a:gd name="connsiteX0" fmla="*/ 0 w 16875"/>
                <a:gd name="connsiteY0" fmla="*/ 22575 h 22575"/>
                <a:gd name="connsiteX1" fmla="*/ 11875 w 16875"/>
                <a:gd name="connsiteY1" fmla="*/ 0 h 22575"/>
                <a:gd name="connsiteX2" fmla="*/ 16875 w 16875"/>
                <a:gd name="connsiteY2" fmla="*/ 10000 h 22575"/>
              </a:gdLst>
              <a:ahLst/>
              <a:cxnLst>
                <a:cxn ang="0">
                  <a:pos x="connsiteX0" y="connsiteY0"/>
                </a:cxn>
                <a:cxn ang="0">
                  <a:pos x="connsiteX1" y="connsiteY1"/>
                </a:cxn>
                <a:cxn ang="0">
                  <a:pos x="connsiteX2" y="connsiteY2"/>
                </a:cxn>
              </a:cxnLst>
              <a:rect l="l" t="t" r="r" b="b"/>
              <a:pathLst>
                <a:path w="16875" h="22575">
                  <a:moveTo>
                    <a:pt x="0" y="22575"/>
                  </a:moveTo>
                  <a:lnTo>
                    <a:pt x="11875" y="0"/>
                  </a:lnTo>
                  <a:lnTo>
                    <a:pt x="16875" y="10000"/>
                  </a:lnTo>
                </a:path>
              </a:pathLst>
            </a:custGeom>
            <a:noFill/>
            <a:ln w="25400" cap="flat">
              <a:solidFill>
                <a:schemeClr val="bg1"/>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1392" tIns="45696" rIns="91392" bIns="45696" numCol="1" anchor="t" anchorCtr="0" compatLnSpc="1">
              <a:prstTxWarp prst="textNoShape">
                <a:avLst/>
              </a:prstTxWarp>
            </a:bodyPr>
            <a:lstStyle/>
            <a:p>
              <a:pPr marL="342797" marR="0" lvl="0" indent="-342797" algn="l" defTabSz="914400" rtl="0" eaLnBrk="1" fontAlgn="auto" latinLnBrk="0" hangingPunct="1">
                <a:lnSpc>
                  <a:spcPct val="100000"/>
                </a:lnSpc>
                <a:spcBef>
                  <a:spcPts val="0"/>
                </a:spcBef>
                <a:spcAft>
                  <a:spcPts val="0"/>
                </a:spcAft>
                <a:buClrTx/>
                <a:buSzTx/>
                <a:buFont typeface="+mj-lt"/>
                <a:buChar char="•"/>
                <a:tabLst/>
                <a:defRPr/>
              </a:pPr>
              <a:endParaRPr kumimoji="0" lang="en-US" sz="1798" b="0" i="0" u="none" strike="noStrike" kern="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11" name="Group 110" descr="checkmark">
            <a:extLst>
              <a:ext uri="{FF2B5EF4-FFF2-40B4-BE49-F238E27FC236}">
                <a16:creationId xmlns:a16="http://schemas.microsoft.com/office/drawing/2014/main" id="{DD298AF1-3088-A1CA-74AE-F27962BB5FA2}"/>
              </a:ext>
            </a:extLst>
          </p:cNvPr>
          <p:cNvGrpSpPr/>
          <p:nvPr/>
        </p:nvGrpSpPr>
        <p:grpSpPr>
          <a:xfrm>
            <a:off x="10614419" y="3223361"/>
            <a:ext cx="309482" cy="309482"/>
            <a:chOff x="4733925" y="1390650"/>
            <a:chExt cx="309563" cy="309563"/>
          </a:xfrm>
          <a:solidFill>
            <a:schemeClr val="accent3"/>
          </a:solidFill>
        </p:grpSpPr>
        <p:sp>
          <p:nvSpPr>
            <p:cNvPr id="112" name="Oval 111">
              <a:extLst>
                <a:ext uri="{FF2B5EF4-FFF2-40B4-BE49-F238E27FC236}">
                  <a16:creationId xmlns:a16="http://schemas.microsoft.com/office/drawing/2014/main" id="{EC45A4B1-7712-C59E-E5AE-9D07A77A4AE6}"/>
                </a:ext>
              </a:extLst>
            </p:cNvPr>
            <p:cNvSpPr/>
            <p:nvPr/>
          </p:nvSpPr>
          <p:spPr>
            <a:xfrm>
              <a:off x="4733925" y="1390650"/>
              <a:ext cx="309563" cy="30956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13" name="Freeform 5">
              <a:extLst>
                <a:ext uri="{FF2B5EF4-FFF2-40B4-BE49-F238E27FC236}">
                  <a16:creationId xmlns:a16="http://schemas.microsoft.com/office/drawing/2014/main" id="{E6C2A11A-55FD-663C-C3B6-FFB51E4B9091}"/>
                </a:ext>
              </a:extLst>
            </p:cNvPr>
            <p:cNvSpPr>
              <a:spLocks noChangeAspect="1"/>
            </p:cNvSpPr>
            <p:nvPr/>
          </p:nvSpPr>
          <p:spPr bwMode="gray">
            <a:xfrm rot="10800000">
              <a:off x="4793681" y="1480356"/>
              <a:ext cx="178368" cy="118598"/>
            </a:xfrm>
            <a:custGeom>
              <a:avLst/>
              <a:gdLst>
                <a:gd name="T0" fmla="*/ 0 w 78"/>
                <a:gd name="T1" fmla="*/ 40 h 40"/>
                <a:gd name="T2" fmla="*/ 39 w 78"/>
                <a:gd name="T3" fmla="*/ 0 h 40"/>
                <a:gd name="T4" fmla="*/ 78 w 78"/>
                <a:gd name="T5" fmla="*/ 40 h 40"/>
                <a:gd name="connsiteX0" fmla="*/ 0 w 16875"/>
                <a:gd name="connsiteY0" fmla="*/ 22575 h 22575"/>
                <a:gd name="connsiteX1" fmla="*/ 11875 w 16875"/>
                <a:gd name="connsiteY1" fmla="*/ 0 h 22575"/>
                <a:gd name="connsiteX2" fmla="*/ 16875 w 16875"/>
                <a:gd name="connsiteY2" fmla="*/ 10000 h 22575"/>
              </a:gdLst>
              <a:ahLst/>
              <a:cxnLst>
                <a:cxn ang="0">
                  <a:pos x="connsiteX0" y="connsiteY0"/>
                </a:cxn>
                <a:cxn ang="0">
                  <a:pos x="connsiteX1" y="connsiteY1"/>
                </a:cxn>
                <a:cxn ang="0">
                  <a:pos x="connsiteX2" y="connsiteY2"/>
                </a:cxn>
              </a:cxnLst>
              <a:rect l="l" t="t" r="r" b="b"/>
              <a:pathLst>
                <a:path w="16875" h="22575">
                  <a:moveTo>
                    <a:pt x="0" y="22575"/>
                  </a:moveTo>
                  <a:lnTo>
                    <a:pt x="11875" y="0"/>
                  </a:lnTo>
                  <a:lnTo>
                    <a:pt x="16875" y="10000"/>
                  </a:lnTo>
                </a:path>
              </a:pathLst>
            </a:custGeom>
            <a:noFill/>
            <a:ln w="25400" cap="flat">
              <a:solidFill>
                <a:schemeClr val="bg1"/>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1392" tIns="45696" rIns="91392" bIns="45696" numCol="1" anchor="t" anchorCtr="0" compatLnSpc="1">
              <a:prstTxWarp prst="textNoShape">
                <a:avLst/>
              </a:prstTxWarp>
            </a:bodyPr>
            <a:lstStyle/>
            <a:p>
              <a:pPr marL="342797" marR="0" lvl="0" indent="-342797" algn="l" defTabSz="914400" rtl="0" eaLnBrk="1" fontAlgn="auto" latinLnBrk="0" hangingPunct="1">
                <a:lnSpc>
                  <a:spcPct val="100000"/>
                </a:lnSpc>
                <a:spcBef>
                  <a:spcPts val="0"/>
                </a:spcBef>
                <a:spcAft>
                  <a:spcPts val="0"/>
                </a:spcAft>
                <a:buClrTx/>
                <a:buSzTx/>
                <a:buFont typeface="+mj-lt"/>
                <a:buChar char="•"/>
                <a:tabLst/>
                <a:defRPr/>
              </a:pPr>
              <a:endParaRPr kumimoji="0" lang="en-US" sz="1798" b="0" i="0" u="none" strike="noStrike" kern="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43" name="Group 42" descr="checkmark">
            <a:extLst>
              <a:ext uri="{FF2B5EF4-FFF2-40B4-BE49-F238E27FC236}">
                <a16:creationId xmlns:a16="http://schemas.microsoft.com/office/drawing/2014/main" id="{D6DC3049-600C-573D-D827-E63D511E0B8B}"/>
              </a:ext>
            </a:extLst>
          </p:cNvPr>
          <p:cNvGrpSpPr/>
          <p:nvPr/>
        </p:nvGrpSpPr>
        <p:grpSpPr>
          <a:xfrm>
            <a:off x="4668626" y="5700746"/>
            <a:ext cx="309482" cy="309482"/>
            <a:chOff x="4733925" y="1390650"/>
            <a:chExt cx="309563" cy="309563"/>
          </a:xfrm>
          <a:solidFill>
            <a:schemeClr val="accent3"/>
          </a:solidFill>
        </p:grpSpPr>
        <p:sp>
          <p:nvSpPr>
            <p:cNvPr id="44" name="Oval 43">
              <a:extLst>
                <a:ext uri="{FF2B5EF4-FFF2-40B4-BE49-F238E27FC236}">
                  <a16:creationId xmlns:a16="http://schemas.microsoft.com/office/drawing/2014/main" id="{52322678-9988-3A00-4E59-350AF127218A}"/>
                </a:ext>
              </a:extLst>
            </p:cNvPr>
            <p:cNvSpPr/>
            <p:nvPr/>
          </p:nvSpPr>
          <p:spPr>
            <a:xfrm>
              <a:off x="4733925" y="1390650"/>
              <a:ext cx="309563" cy="30956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5" name="Freeform 5">
              <a:extLst>
                <a:ext uri="{FF2B5EF4-FFF2-40B4-BE49-F238E27FC236}">
                  <a16:creationId xmlns:a16="http://schemas.microsoft.com/office/drawing/2014/main" id="{CF459C5D-2765-90D1-E751-6ADCAA8D5A79}"/>
                </a:ext>
              </a:extLst>
            </p:cNvPr>
            <p:cNvSpPr>
              <a:spLocks noChangeAspect="1"/>
            </p:cNvSpPr>
            <p:nvPr/>
          </p:nvSpPr>
          <p:spPr bwMode="gray">
            <a:xfrm rot="10800000">
              <a:off x="4793681" y="1480356"/>
              <a:ext cx="178368" cy="118598"/>
            </a:xfrm>
            <a:custGeom>
              <a:avLst/>
              <a:gdLst>
                <a:gd name="T0" fmla="*/ 0 w 78"/>
                <a:gd name="T1" fmla="*/ 40 h 40"/>
                <a:gd name="T2" fmla="*/ 39 w 78"/>
                <a:gd name="T3" fmla="*/ 0 h 40"/>
                <a:gd name="T4" fmla="*/ 78 w 78"/>
                <a:gd name="T5" fmla="*/ 40 h 40"/>
                <a:gd name="connsiteX0" fmla="*/ 0 w 16875"/>
                <a:gd name="connsiteY0" fmla="*/ 22575 h 22575"/>
                <a:gd name="connsiteX1" fmla="*/ 11875 w 16875"/>
                <a:gd name="connsiteY1" fmla="*/ 0 h 22575"/>
                <a:gd name="connsiteX2" fmla="*/ 16875 w 16875"/>
                <a:gd name="connsiteY2" fmla="*/ 10000 h 22575"/>
              </a:gdLst>
              <a:ahLst/>
              <a:cxnLst>
                <a:cxn ang="0">
                  <a:pos x="connsiteX0" y="connsiteY0"/>
                </a:cxn>
                <a:cxn ang="0">
                  <a:pos x="connsiteX1" y="connsiteY1"/>
                </a:cxn>
                <a:cxn ang="0">
                  <a:pos x="connsiteX2" y="connsiteY2"/>
                </a:cxn>
              </a:cxnLst>
              <a:rect l="l" t="t" r="r" b="b"/>
              <a:pathLst>
                <a:path w="16875" h="22575">
                  <a:moveTo>
                    <a:pt x="0" y="22575"/>
                  </a:moveTo>
                  <a:lnTo>
                    <a:pt x="11875" y="0"/>
                  </a:lnTo>
                  <a:lnTo>
                    <a:pt x="16875" y="10000"/>
                  </a:lnTo>
                </a:path>
              </a:pathLst>
            </a:custGeom>
            <a:noFill/>
            <a:ln w="25400" cap="flat">
              <a:solidFill>
                <a:schemeClr val="bg1"/>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1392" tIns="45696" rIns="91392" bIns="45696" numCol="1" anchor="t" anchorCtr="0" compatLnSpc="1">
              <a:prstTxWarp prst="textNoShape">
                <a:avLst/>
              </a:prstTxWarp>
            </a:bodyPr>
            <a:lstStyle/>
            <a:p>
              <a:pPr marL="342797" marR="0" lvl="0" indent="-342797" algn="l" defTabSz="914400" rtl="0" eaLnBrk="1" fontAlgn="auto" latinLnBrk="0" hangingPunct="1">
                <a:lnSpc>
                  <a:spcPct val="100000"/>
                </a:lnSpc>
                <a:spcBef>
                  <a:spcPts val="0"/>
                </a:spcBef>
                <a:spcAft>
                  <a:spcPts val="0"/>
                </a:spcAft>
                <a:buClrTx/>
                <a:buSzTx/>
                <a:buFont typeface="+mj-lt"/>
                <a:buChar char="•"/>
                <a:tabLst/>
                <a:defRPr/>
              </a:pPr>
              <a:endParaRPr kumimoji="0" lang="en-US" sz="1798" b="0" i="0" u="none" strike="noStrike" kern="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6" name="Group 5" descr="checkmark">
            <a:extLst>
              <a:ext uri="{FF2B5EF4-FFF2-40B4-BE49-F238E27FC236}">
                <a16:creationId xmlns:a16="http://schemas.microsoft.com/office/drawing/2014/main" id="{C90032AF-0F27-7FD5-54E4-61207D5C1C19}"/>
              </a:ext>
            </a:extLst>
          </p:cNvPr>
          <p:cNvGrpSpPr/>
          <p:nvPr/>
        </p:nvGrpSpPr>
        <p:grpSpPr>
          <a:xfrm>
            <a:off x="6638474" y="1975628"/>
            <a:ext cx="309482" cy="309482"/>
            <a:chOff x="4733925" y="1390650"/>
            <a:chExt cx="309563" cy="309563"/>
          </a:xfrm>
          <a:solidFill>
            <a:schemeClr val="accent3"/>
          </a:solidFill>
        </p:grpSpPr>
        <p:sp>
          <p:nvSpPr>
            <p:cNvPr id="7" name="Oval 6">
              <a:extLst>
                <a:ext uri="{FF2B5EF4-FFF2-40B4-BE49-F238E27FC236}">
                  <a16:creationId xmlns:a16="http://schemas.microsoft.com/office/drawing/2014/main" id="{7BF04416-7A3B-4FCF-8B33-349B08CBD740}"/>
                </a:ext>
              </a:extLst>
            </p:cNvPr>
            <p:cNvSpPr/>
            <p:nvPr/>
          </p:nvSpPr>
          <p:spPr>
            <a:xfrm>
              <a:off x="4733925" y="1390650"/>
              <a:ext cx="309563" cy="30956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8" name="Freeform 5">
              <a:extLst>
                <a:ext uri="{FF2B5EF4-FFF2-40B4-BE49-F238E27FC236}">
                  <a16:creationId xmlns:a16="http://schemas.microsoft.com/office/drawing/2014/main" id="{D5CBDAAE-1480-AE99-7642-7129E79D310D}"/>
                </a:ext>
              </a:extLst>
            </p:cNvPr>
            <p:cNvSpPr>
              <a:spLocks noChangeAspect="1"/>
            </p:cNvSpPr>
            <p:nvPr/>
          </p:nvSpPr>
          <p:spPr bwMode="gray">
            <a:xfrm rot="10800000">
              <a:off x="4793681" y="1480356"/>
              <a:ext cx="178368" cy="118598"/>
            </a:xfrm>
            <a:custGeom>
              <a:avLst/>
              <a:gdLst>
                <a:gd name="T0" fmla="*/ 0 w 78"/>
                <a:gd name="T1" fmla="*/ 40 h 40"/>
                <a:gd name="T2" fmla="*/ 39 w 78"/>
                <a:gd name="T3" fmla="*/ 0 h 40"/>
                <a:gd name="T4" fmla="*/ 78 w 78"/>
                <a:gd name="T5" fmla="*/ 40 h 40"/>
                <a:gd name="connsiteX0" fmla="*/ 0 w 16875"/>
                <a:gd name="connsiteY0" fmla="*/ 22575 h 22575"/>
                <a:gd name="connsiteX1" fmla="*/ 11875 w 16875"/>
                <a:gd name="connsiteY1" fmla="*/ 0 h 22575"/>
                <a:gd name="connsiteX2" fmla="*/ 16875 w 16875"/>
                <a:gd name="connsiteY2" fmla="*/ 10000 h 22575"/>
              </a:gdLst>
              <a:ahLst/>
              <a:cxnLst>
                <a:cxn ang="0">
                  <a:pos x="connsiteX0" y="connsiteY0"/>
                </a:cxn>
                <a:cxn ang="0">
                  <a:pos x="connsiteX1" y="connsiteY1"/>
                </a:cxn>
                <a:cxn ang="0">
                  <a:pos x="connsiteX2" y="connsiteY2"/>
                </a:cxn>
              </a:cxnLst>
              <a:rect l="l" t="t" r="r" b="b"/>
              <a:pathLst>
                <a:path w="16875" h="22575">
                  <a:moveTo>
                    <a:pt x="0" y="22575"/>
                  </a:moveTo>
                  <a:lnTo>
                    <a:pt x="11875" y="0"/>
                  </a:lnTo>
                  <a:lnTo>
                    <a:pt x="16875" y="10000"/>
                  </a:lnTo>
                </a:path>
              </a:pathLst>
            </a:custGeom>
            <a:noFill/>
            <a:ln w="25400" cap="flat">
              <a:solidFill>
                <a:schemeClr val="bg1"/>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1392" tIns="45696" rIns="91392" bIns="45696" numCol="1" anchor="t" anchorCtr="0" compatLnSpc="1">
              <a:prstTxWarp prst="textNoShape">
                <a:avLst/>
              </a:prstTxWarp>
            </a:bodyPr>
            <a:lstStyle/>
            <a:p>
              <a:pPr marL="342797" marR="0" lvl="0" indent="-342797" algn="l" defTabSz="914400" rtl="0" eaLnBrk="1" fontAlgn="auto" latinLnBrk="0" hangingPunct="1">
                <a:lnSpc>
                  <a:spcPct val="100000"/>
                </a:lnSpc>
                <a:spcBef>
                  <a:spcPts val="0"/>
                </a:spcBef>
                <a:spcAft>
                  <a:spcPts val="0"/>
                </a:spcAft>
                <a:buClrTx/>
                <a:buSzTx/>
                <a:buFont typeface="+mj-lt"/>
                <a:buChar char="•"/>
                <a:tabLst/>
                <a:defRPr/>
              </a:pPr>
              <a:endParaRPr kumimoji="0" lang="en-US" sz="1798" b="0" i="0" u="none" strike="noStrike" kern="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9" name="Group 8" descr="checkmark">
            <a:extLst>
              <a:ext uri="{FF2B5EF4-FFF2-40B4-BE49-F238E27FC236}">
                <a16:creationId xmlns:a16="http://schemas.microsoft.com/office/drawing/2014/main" id="{815DE22C-E53F-F8A0-7161-AD5080954184}"/>
              </a:ext>
            </a:extLst>
          </p:cNvPr>
          <p:cNvGrpSpPr/>
          <p:nvPr/>
        </p:nvGrpSpPr>
        <p:grpSpPr>
          <a:xfrm>
            <a:off x="6638474" y="2594780"/>
            <a:ext cx="309482" cy="309482"/>
            <a:chOff x="4733925" y="1390650"/>
            <a:chExt cx="309563" cy="309563"/>
          </a:xfrm>
          <a:solidFill>
            <a:schemeClr val="accent3"/>
          </a:solidFill>
        </p:grpSpPr>
        <p:sp>
          <p:nvSpPr>
            <p:cNvPr id="10" name="Oval 9">
              <a:extLst>
                <a:ext uri="{FF2B5EF4-FFF2-40B4-BE49-F238E27FC236}">
                  <a16:creationId xmlns:a16="http://schemas.microsoft.com/office/drawing/2014/main" id="{575D90B5-D803-656D-80C2-A2FE403FDF71}"/>
                </a:ext>
              </a:extLst>
            </p:cNvPr>
            <p:cNvSpPr/>
            <p:nvPr/>
          </p:nvSpPr>
          <p:spPr>
            <a:xfrm>
              <a:off x="4733925" y="1390650"/>
              <a:ext cx="309563" cy="30956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1" name="Freeform 5">
              <a:extLst>
                <a:ext uri="{FF2B5EF4-FFF2-40B4-BE49-F238E27FC236}">
                  <a16:creationId xmlns:a16="http://schemas.microsoft.com/office/drawing/2014/main" id="{896EEA35-E78A-6DBF-9642-F2273588AB44}"/>
                </a:ext>
              </a:extLst>
            </p:cNvPr>
            <p:cNvSpPr>
              <a:spLocks noChangeAspect="1"/>
            </p:cNvSpPr>
            <p:nvPr/>
          </p:nvSpPr>
          <p:spPr bwMode="gray">
            <a:xfrm rot="10800000">
              <a:off x="4793681" y="1480356"/>
              <a:ext cx="178368" cy="118598"/>
            </a:xfrm>
            <a:custGeom>
              <a:avLst/>
              <a:gdLst>
                <a:gd name="T0" fmla="*/ 0 w 78"/>
                <a:gd name="T1" fmla="*/ 40 h 40"/>
                <a:gd name="T2" fmla="*/ 39 w 78"/>
                <a:gd name="T3" fmla="*/ 0 h 40"/>
                <a:gd name="T4" fmla="*/ 78 w 78"/>
                <a:gd name="T5" fmla="*/ 40 h 40"/>
                <a:gd name="connsiteX0" fmla="*/ 0 w 16875"/>
                <a:gd name="connsiteY0" fmla="*/ 22575 h 22575"/>
                <a:gd name="connsiteX1" fmla="*/ 11875 w 16875"/>
                <a:gd name="connsiteY1" fmla="*/ 0 h 22575"/>
                <a:gd name="connsiteX2" fmla="*/ 16875 w 16875"/>
                <a:gd name="connsiteY2" fmla="*/ 10000 h 22575"/>
              </a:gdLst>
              <a:ahLst/>
              <a:cxnLst>
                <a:cxn ang="0">
                  <a:pos x="connsiteX0" y="connsiteY0"/>
                </a:cxn>
                <a:cxn ang="0">
                  <a:pos x="connsiteX1" y="connsiteY1"/>
                </a:cxn>
                <a:cxn ang="0">
                  <a:pos x="connsiteX2" y="connsiteY2"/>
                </a:cxn>
              </a:cxnLst>
              <a:rect l="l" t="t" r="r" b="b"/>
              <a:pathLst>
                <a:path w="16875" h="22575">
                  <a:moveTo>
                    <a:pt x="0" y="22575"/>
                  </a:moveTo>
                  <a:lnTo>
                    <a:pt x="11875" y="0"/>
                  </a:lnTo>
                  <a:lnTo>
                    <a:pt x="16875" y="10000"/>
                  </a:lnTo>
                </a:path>
              </a:pathLst>
            </a:custGeom>
            <a:noFill/>
            <a:ln w="25400" cap="flat">
              <a:solidFill>
                <a:schemeClr val="bg1"/>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1392" tIns="45696" rIns="91392" bIns="45696" numCol="1" anchor="t" anchorCtr="0" compatLnSpc="1">
              <a:prstTxWarp prst="textNoShape">
                <a:avLst/>
              </a:prstTxWarp>
            </a:bodyPr>
            <a:lstStyle/>
            <a:p>
              <a:pPr marL="342797" marR="0" lvl="0" indent="-342797" algn="l" defTabSz="914400" rtl="0" eaLnBrk="1" fontAlgn="auto" latinLnBrk="0" hangingPunct="1">
                <a:lnSpc>
                  <a:spcPct val="100000"/>
                </a:lnSpc>
                <a:spcBef>
                  <a:spcPts val="0"/>
                </a:spcBef>
                <a:spcAft>
                  <a:spcPts val="0"/>
                </a:spcAft>
                <a:buClrTx/>
                <a:buSzTx/>
                <a:buFont typeface="+mj-lt"/>
                <a:buChar char="•"/>
                <a:tabLst/>
                <a:defRPr/>
              </a:pPr>
              <a:endParaRPr kumimoji="0" lang="en-US" sz="1798" b="0" i="0" u="none" strike="noStrike" kern="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2" name="Group 11" descr="checkmark">
            <a:extLst>
              <a:ext uri="{FF2B5EF4-FFF2-40B4-BE49-F238E27FC236}">
                <a16:creationId xmlns:a16="http://schemas.microsoft.com/office/drawing/2014/main" id="{F3F087D2-D631-7B69-FDBA-925F641B4E34}"/>
              </a:ext>
            </a:extLst>
          </p:cNvPr>
          <p:cNvGrpSpPr/>
          <p:nvPr/>
        </p:nvGrpSpPr>
        <p:grpSpPr>
          <a:xfrm>
            <a:off x="6638474" y="3220628"/>
            <a:ext cx="309482" cy="309482"/>
            <a:chOff x="4733925" y="1390650"/>
            <a:chExt cx="309563" cy="309563"/>
          </a:xfrm>
          <a:solidFill>
            <a:schemeClr val="accent3"/>
          </a:solidFill>
        </p:grpSpPr>
        <p:sp>
          <p:nvSpPr>
            <p:cNvPr id="13" name="Oval 12">
              <a:extLst>
                <a:ext uri="{FF2B5EF4-FFF2-40B4-BE49-F238E27FC236}">
                  <a16:creationId xmlns:a16="http://schemas.microsoft.com/office/drawing/2014/main" id="{F494A174-3AEA-38B4-04D4-7938F3DDE8C1}"/>
                </a:ext>
              </a:extLst>
            </p:cNvPr>
            <p:cNvSpPr/>
            <p:nvPr/>
          </p:nvSpPr>
          <p:spPr>
            <a:xfrm>
              <a:off x="4733925" y="1390650"/>
              <a:ext cx="309563" cy="30956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4" name="Freeform 5">
              <a:extLst>
                <a:ext uri="{FF2B5EF4-FFF2-40B4-BE49-F238E27FC236}">
                  <a16:creationId xmlns:a16="http://schemas.microsoft.com/office/drawing/2014/main" id="{37899089-5ABA-5EF1-187E-516493E759F1}"/>
                </a:ext>
              </a:extLst>
            </p:cNvPr>
            <p:cNvSpPr>
              <a:spLocks noChangeAspect="1"/>
            </p:cNvSpPr>
            <p:nvPr/>
          </p:nvSpPr>
          <p:spPr bwMode="gray">
            <a:xfrm rot="10800000">
              <a:off x="4793681" y="1480356"/>
              <a:ext cx="178368" cy="118598"/>
            </a:xfrm>
            <a:custGeom>
              <a:avLst/>
              <a:gdLst>
                <a:gd name="T0" fmla="*/ 0 w 78"/>
                <a:gd name="T1" fmla="*/ 40 h 40"/>
                <a:gd name="T2" fmla="*/ 39 w 78"/>
                <a:gd name="T3" fmla="*/ 0 h 40"/>
                <a:gd name="T4" fmla="*/ 78 w 78"/>
                <a:gd name="T5" fmla="*/ 40 h 40"/>
                <a:gd name="connsiteX0" fmla="*/ 0 w 16875"/>
                <a:gd name="connsiteY0" fmla="*/ 22575 h 22575"/>
                <a:gd name="connsiteX1" fmla="*/ 11875 w 16875"/>
                <a:gd name="connsiteY1" fmla="*/ 0 h 22575"/>
                <a:gd name="connsiteX2" fmla="*/ 16875 w 16875"/>
                <a:gd name="connsiteY2" fmla="*/ 10000 h 22575"/>
              </a:gdLst>
              <a:ahLst/>
              <a:cxnLst>
                <a:cxn ang="0">
                  <a:pos x="connsiteX0" y="connsiteY0"/>
                </a:cxn>
                <a:cxn ang="0">
                  <a:pos x="connsiteX1" y="connsiteY1"/>
                </a:cxn>
                <a:cxn ang="0">
                  <a:pos x="connsiteX2" y="connsiteY2"/>
                </a:cxn>
              </a:cxnLst>
              <a:rect l="l" t="t" r="r" b="b"/>
              <a:pathLst>
                <a:path w="16875" h="22575">
                  <a:moveTo>
                    <a:pt x="0" y="22575"/>
                  </a:moveTo>
                  <a:lnTo>
                    <a:pt x="11875" y="0"/>
                  </a:lnTo>
                  <a:lnTo>
                    <a:pt x="16875" y="10000"/>
                  </a:lnTo>
                </a:path>
              </a:pathLst>
            </a:custGeom>
            <a:noFill/>
            <a:ln w="25400" cap="flat">
              <a:solidFill>
                <a:schemeClr val="bg1"/>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1392" tIns="45696" rIns="91392" bIns="45696" numCol="1" anchor="t" anchorCtr="0" compatLnSpc="1">
              <a:prstTxWarp prst="textNoShape">
                <a:avLst/>
              </a:prstTxWarp>
            </a:bodyPr>
            <a:lstStyle/>
            <a:p>
              <a:pPr marL="342797" marR="0" lvl="0" indent="-342797" algn="l" defTabSz="914400" rtl="0" eaLnBrk="1" fontAlgn="auto" latinLnBrk="0" hangingPunct="1">
                <a:lnSpc>
                  <a:spcPct val="100000"/>
                </a:lnSpc>
                <a:spcBef>
                  <a:spcPts val="0"/>
                </a:spcBef>
                <a:spcAft>
                  <a:spcPts val="0"/>
                </a:spcAft>
                <a:buClrTx/>
                <a:buSzTx/>
                <a:buFont typeface="+mj-lt"/>
                <a:buChar char="•"/>
                <a:tabLst/>
                <a:defRPr/>
              </a:pPr>
              <a:endParaRPr kumimoji="0" lang="en-US" sz="1798" b="0" i="0" u="none" strike="noStrike" kern="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5" name="Group 14" descr="checkmark">
            <a:extLst>
              <a:ext uri="{FF2B5EF4-FFF2-40B4-BE49-F238E27FC236}">
                <a16:creationId xmlns:a16="http://schemas.microsoft.com/office/drawing/2014/main" id="{AB3BFCE2-1730-C67D-86F1-92A6D72D31B4}"/>
              </a:ext>
            </a:extLst>
          </p:cNvPr>
          <p:cNvGrpSpPr/>
          <p:nvPr/>
        </p:nvGrpSpPr>
        <p:grpSpPr>
          <a:xfrm>
            <a:off x="6638474" y="3841214"/>
            <a:ext cx="309482" cy="309482"/>
            <a:chOff x="4733925" y="1390650"/>
            <a:chExt cx="309563" cy="309563"/>
          </a:xfrm>
          <a:solidFill>
            <a:schemeClr val="accent3"/>
          </a:solidFill>
        </p:grpSpPr>
        <p:sp>
          <p:nvSpPr>
            <p:cNvPr id="16" name="Oval 15">
              <a:extLst>
                <a:ext uri="{FF2B5EF4-FFF2-40B4-BE49-F238E27FC236}">
                  <a16:creationId xmlns:a16="http://schemas.microsoft.com/office/drawing/2014/main" id="{1A3CB9EE-9416-F18F-CAD3-D68B1B544849}"/>
                </a:ext>
              </a:extLst>
            </p:cNvPr>
            <p:cNvSpPr/>
            <p:nvPr/>
          </p:nvSpPr>
          <p:spPr>
            <a:xfrm>
              <a:off x="4733925" y="1390650"/>
              <a:ext cx="309563" cy="30956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7" name="Freeform 5">
              <a:extLst>
                <a:ext uri="{FF2B5EF4-FFF2-40B4-BE49-F238E27FC236}">
                  <a16:creationId xmlns:a16="http://schemas.microsoft.com/office/drawing/2014/main" id="{8E023D08-3D15-AF5D-ABB3-39758177F643}"/>
                </a:ext>
              </a:extLst>
            </p:cNvPr>
            <p:cNvSpPr>
              <a:spLocks noChangeAspect="1"/>
            </p:cNvSpPr>
            <p:nvPr/>
          </p:nvSpPr>
          <p:spPr bwMode="gray">
            <a:xfrm rot="10800000">
              <a:off x="4793681" y="1480356"/>
              <a:ext cx="178368" cy="118598"/>
            </a:xfrm>
            <a:custGeom>
              <a:avLst/>
              <a:gdLst>
                <a:gd name="T0" fmla="*/ 0 w 78"/>
                <a:gd name="T1" fmla="*/ 40 h 40"/>
                <a:gd name="T2" fmla="*/ 39 w 78"/>
                <a:gd name="T3" fmla="*/ 0 h 40"/>
                <a:gd name="T4" fmla="*/ 78 w 78"/>
                <a:gd name="T5" fmla="*/ 40 h 40"/>
                <a:gd name="connsiteX0" fmla="*/ 0 w 16875"/>
                <a:gd name="connsiteY0" fmla="*/ 22575 h 22575"/>
                <a:gd name="connsiteX1" fmla="*/ 11875 w 16875"/>
                <a:gd name="connsiteY1" fmla="*/ 0 h 22575"/>
                <a:gd name="connsiteX2" fmla="*/ 16875 w 16875"/>
                <a:gd name="connsiteY2" fmla="*/ 10000 h 22575"/>
              </a:gdLst>
              <a:ahLst/>
              <a:cxnLst>
                <a:cxn ang="0">
                  <a:pos x="connsiteX0" y="connsiteY0"/>
                </a:cxn>
                <a:cxn ang="0">
                  <a:pos x="connsiteX1" y="connsiteY1"/>
                </a:cxn>
                <a:cxn ang="0">
                  <a:pos x="connsiteX2" y="connsiteY2"/>
                </a:cxn>
              </a:cxnLst>
              <a:rect l="l" t="t" r="r" b="b"/>
              <a:pathLst>
                <a:path w="16875" h="22575">
                  <a:moveTo>
                    <a:pt x="0" y="22575"/>
                  </a:moveTo>
                  <a:lnTo>
                    <a:pt x="11875" y="0"/>
                  </a:lnTo>
                  <a:lnTo>
                    <a:pt x="16875" y="10000"/>
                  </a:lnTo>
                </a:path>
              </a:pathLst>
            </a:custGeom>
            <a:noFill/>
            <a:ln w="25400" cap="flat">
              <a:solidFill>
                <a:schemeClr val="bg1"/>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1392" tIns="45696" rIns="91392" bIns="45696" numCol="1" anchor="t" anchorCtr="0" compatLnSpc="1">
              <a:prstTxWarp prst="textNoShape">
                <a:avLst/>
              </a:prstTxWarp>
            </a:bodyPr>
            <a:lstStyle/>
            <a:p>
              <a:pPr marL="342797" marR="0" lvl="0" indent="-342797" algn="l" defTabSz="914400" rtl="0" eaLnBrk="1" fontAlgn="auto" latinLnBrk="0" hangingPunct="1">
                <a:lnSpc>
                  <a:spcPct val="100000"/>
                </a:lnSpc>
                <a:spcBef>
                  <a:spcPts val="0"/>
                </a:spcBef>
                <a:spcAft>
                  <a:spcPts val="0"/>
                </a:spcAft>
                <a:buClrTx/>
                <a:buSzTx/>
                <a:buFont typeface="+mj-lt"/>
                <a:buChar char="•"/>
                <a:tabLst/>
                <a:defRPr/>
              </a:pPr>
              <a:endParaRPr kumimoji="0" lang="en-US" sz="1798" b="0" i="0" u="none" strike="noStrike" kern="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21" name="Group 20" descr="checkmark">
            <a:extLst>
              <a:ext uri="{FF2B5EF4-FFF2-40B4-BE49-F238E27FC236}">
                <a16:creationId xmlns:a16="http://schemas.microsoft.com/office/drawing/2014/main" id="{B7A39EC8-4234-C2F4-1648-E3B92BC7AEA8}"/>
              </a:ext>
            </a:extLst>
          </p:cNvPr>
          <p:cNvGrpSpPr/>
          <p:nvPr/>
        </p:nvGrpSpPr>
        <p:grpSpPr>
          <a:xfrm>
            <a:off x="6638474" y="5078339"/>
            <a:ext cx="309482" cy="309482"/>
            <a:chOff x="4733925" y="1390650"/>
            <a:chExt cx="309563" cy="309563"/>
          </a:xfrm>
          <a:solidFill>
            <a:schemeClr val="accent3"/>
          </a:solidFill>
        </p:grpSpPr>
        <p:sp>
          <p:nvSpPr>
            <p:cNvPr id="22" name="Oval 21">
              <a:extLst>
                <a:ext uri="{FF2B5EF4-FFF2-40B4-BE49-F238E27FC236}">
                  <a16:creationId xmlns:a16="http://schemas.microsoft.com/office/drawing/2014/main" id="{CCF5A1AE-F17F-B560-640F-820FB0726EB2}"/>
                </a:ext>
              </a:extLst>
            </p:cNvPr>
            <p:cNvSpPr/>
            <p:nvPr/>
          </p:nvSpPr>
          <p:spPr>
            <a:xfrm>
              <a:off x="4733925" y="1390650"/>
              <a:ext cx="309563" cy="30956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3" name="Freeform 5">
              <a:extLst>
                <a:ext uri="{FF2B5EF4-FFF2-40B4-BE49-F238E27FC236}">
                  <a16:creationId xmlns:a16="http://schemas.microsoft.com/office/drawing/2014/main" id="{0D6A5608-EA3D-74AD-FFC6-65173158BBE5}"/>
                </a:ext>
              </a:extLst>
            </p:cNvPr>
            <p:cNvSpPr>
              <a:spLocks noChangeAspect="1"/>
            </p:cNvSpPr>
            <p:nvPr/>
          </p:nvSpPr>
          <p:spPr bwMode="gray">
            <a:xfrm rot="10800000">
              <a:off x="4793681" y="1480356"/>
              <a:ext cx="178368" cy="118598"/>
            </a:xfrm>
            <a:custGeom>
              <a:avLst/>
              <a:gdLst>
                <a:gd name="T0" fmla="*/ 0 w 78"/>
                <a:gd name="T1" fmla="*/ 40 h 40"/>
                <a:gd name="T2" fmla="*/ 39 w 78"/>
                <a:gd name="T3" fmla="*/ 0 h 40"/>
                <a:gd name="T4" fmla="*/ 78 w 78"/>
                <a:gd name="T5" fmla="*/ 40 h 40"/>
                <a:gd name="connsiteX0" fmla="*/ 0 w 16875"/>
                <a:gd name="connsiteY0" fmla="*/ 22575 h 22575"/>
                <a:gd name="connsiteX1" fmla="*/ 11875 w 16875"/>
                <a:gd name="connsiteY1" fmla="*/ 0 h 22575"/>
                <a:gd name="connsiteX2" fmla="*/ 16875 w 16875"/>
                <a:gd name="connsiteY2" fmla="*/ 10000 h 22575"/>
              </a:gdLst>
              <a:ahLst/>
              <a:cxnLst>
                <a:cxn ang="0">
                  <a:pos x="connsiteX0" y="connsiteY0"/>
                </a:cxn>
                <a:cxn ang="0">
                  <a:pos x="connsiteX1" y="connsiteY1"/>
                </a:cxn>
                <a:cxn ang="0">
                  <a:pos x="connsiteX2" y="connsiteY2"/>
                </a:cxn>
              </a:cxnLst>
              <a:rect l="l" t="t" r="r" b="b"/>
              <a:pathLst>
                <a:path w="16875" h="22575">
                  <a:moveTo>
                    <a:pt x="0" y="22575"/>
                  </a:moveTo>
                  <a:lnTo>
                    <a:pt x="11875" y="0"/>
                  </a:lnTo>
                  <a:lnTo>
                    <a:pt x="16875" y="10000"/>
                  </a:lnTo>
                </a:path>
              </a:pathLst>
            </a:custGeom>
            <a:noFill/>
            <a:ln w="25400" cap="flat">
              <a:solidFill>
                <a:schemeClr val="bg1"/>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1392" tIns="45696" rIns="91392" bIns="45696" numCol="1" anchor="t" anchorCtr="0" compatLnSpc="1">
              <a:prstTxWarp prst="textNoShape">
                <a:avLst/>
              </a:prstTxWarp>
            </a:bodyPr>
            <a:lstStyle/>
            <a:p>
              <a:pPr marL="342797" marR="0" lvl="0" indent="-342797" algn="l" defTabSz="914400" rtl="0" eaLnBrk="1" fontAlgn="auto" latinLnBrk="0" hangingPunct="1">
                <a:lnSpc>
                  <a:spcPct val="100000"/>
                </a:lnSpc>
                <a:spcBef>
                  <a:spcPts val="0"/>
                </a:spcBef>
                <a:spcAft>
                  <a:spcPts val="0"/>
                </a:spcAft>
                <a:buClrTx/>
                <a:buSzTx/>
                <a:buFont typeface="+mj-lt"/>
                <a:buChar char="•"/>
                <a:tabLst/>
                <a:defRPr/>
              </a:pPr>
              <a:endParaRPr kumimoji="0" lang="en-US" sz="1798" b="0" i="0" u="none" strike="noStrike" kern="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24" name="Group 23" descr="checkmark">
            <a:extLst>
              <a:ext uri="{FF2B5EF4-FFF2-40B4-BE49-F238E27FC236}">
                <a16:creationId xmlns:a16="http://schemas.microsoft.com/office/drawing/2014/main" id="{F2EDB96D-88F5-6F2D-5338-93CE50EFD623}"/>
              </a:ext>
            </a:extLst>
          </p:cNvPr>
          <p:cNvGrpSpPr/>
          <p:nvPr/>
        </p:nvGrpSpPr>
        <p:grpSpPr>
          <a:xfrm>
            <a:off x="6632633" y="5694056"/>
            <a:ext cx="309482" cy="309482"/>
            <a:chOff x="4733925" y="1390650"/>
            <a:chExt cx="309563" cy="309563"/>
          </a:xfrm>
          <a:solidFill>
            <a:schemeClr val="accent3"/>
          </a:solidFill>
        </p:grpSpPr>
        <p:sp>
          <p:nvSpPr>
            <p:cNvPr id="25" name="Oval 24">
              <a:extLst>
                <a:ext uri="{FF2B5EF4-FFF2-40B4-BE49-F238E27FC236}">
                  <a16:creationId xmlns:a16="http://schemas.microsoft.com/office/drawing/2014/main" id="{B8ED024D-BF2C-7FD9-FE94-AB85795B9E86}"/>
                </a:ext>
              </a:extLst>
            </p:cNvPr>
            <p:cNvSpPr/>
            <p:nvPr/>
          </p:nvSpPr>
          <p:spPr>
            <a:xfrm>
              <a:off x="4733925" y="1390650"/>
              <a:ext cx="309563" cy="30956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6" name="Freeform 5">
              <a:extLst>
                <a:ext uri="{FF2B5EF4-FFF2-40B4-BE49-F238E27FC236}">
                  <a16:creationId xmlns:a16="http://schemas.microsoft.com/office/drawing/2014/main" id="{45365A55-09FA-1A44-5A2F-D731301E05A4}"/>
                </a:ext>
              </a:extLst>
            </p:cNvPr>
            <p:cNvSpPr>
              <a:spLocks noChangeAspect="1"/>
            </p:cNvSpPr>
            <p:nvPr/>
          </p:nvSpPr>
          <p:spPr bwMode="gray">
            <a:xfrm rot="10800000">
              <a:off x="4793681" y="1480356"/>
              <a:ext cx="178368" cy="118598"/>
            </a:xfrm>
            <a:custGeom>
              <a:avLst/>
              <a:gdLst>
                <a:gd name="T0" fmla="*/ 0 w 78"/>
                <a:gd name="T1" fmla="*/ 40 h 40"/>
                <a:gd name="T2" fmla="*/ 39 w 78"/>
                <a:gd name="T3" fmla="*/ 0 h 40"/>
                <a:gd name="T4" fmla="*/ 78 w 78"/>
                <a:gd name="T5" fmla="*/ 40 h 40"/>
                <a:gd name="connsiteX0" fmla="*/ 0 w 16875"/>
                <a:gd name="connsiteY0" fmla="*/ 22575 h 22575"/>
                <a:gd name="connsiteX1" fmla="*/ 11875 w 16875"/>
                <a:gd name="connsiteY1" fmla="*/ 0 h 22575"/>
                <a:gd name="connsiteX2" fmla="*/ 16875 w 16875"/>
                <a:gd name="connsiteY2" fmla="*/ 10000 h 22575"/>
              </a:gdLst>
              <a:ahLst/>
              <a:cxnLst>
                <a:cxn ang="0">
                  <a:pos x="connsiteX0" y="connsiteY0"/>
                </a:cxn>
                <a:cxn ang="0">
                  <a:pos x="connsiteX1" y="connsiteY1"/>
                </a:cxn>
                <a:cxn ang="0">
                  <a:pos x="connsiteX2" y="connsiteY2"/>
                </a:cxn>
              </a:cxnLst>
              <a:rect l="l" t="t" r="r" b="b"/>
              <a:pathLst>
                <a:path w="16875" h="22575">
                  <a:moveTo>
                    <a:pt x="0" y="22575"/>
                  </a:moveTo>
                  <a:lnTo>
                    <a:pt x="11875" y="0"/>
                  </a:lnTo>
                  <a:lnTo>
                    <a:pt x="16875" y="10000"/>
                  </a:lnTo>
                </a:path>
              </a:pathLst>
            </a:custGeom>
            <a:noFill/>
            <a:ln w="25400" cap="flat">
              <a:solidFill>
                <a:schemeClr val="bg1"/>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1392" tIns="45696" rIns="91392" bIns="45696" numCol="1" anchor="t" anchorCtr="0" compatLnSpc="1">
              <a:prstTxWarp prst="textNoShape">
                <a:avLst/>
              </a:prstTxWarp>
            </a:bodyPr>
            <a:lstStyle/>
            <a:p>
              <a:pPr marL="342797" marR="0" lvl="0" indent="-342797" algn="l" defTabSz="914400" rtl="0" eaLnBrk="1" fontAlgn="auto" latinLnBrk="0" hangingPunct="1">
                <a:lnSpc>
                  <a:spcPct val="100000"/>
                </a:lnSpc>
                <a:spcBef>
                  <a:spcPts val="0"/>
                </a:spcBef>
                <a:spcAft>
                  <a:spcPts val="0"/>
                </a:spcAft>
                <a:buClrTx/>
                <a:buSzTx/>
                <a:buFont typeface="+mj-lt"/>
                <a:buChar char="•"/>
                <a:tabLst/>
                <a:defRPr/>
              </a:pPr>
              <a:endParaRPr kumimoji="0" lang="en-US" sz="1798" b="0" i="0" u="none" strike="noStrike" kern="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2" name="TextBox 1">
            <a:extLst>
              <a:ext uri="{FF2B5EF4-FFF2-40B4-BE49-F238E27FC236}">
                <a16:creationId xmlns:a16="http://schemas.microsoft.com/office/drawing/2014/main" id="{E912FEE7-6F9A-D326-1B08-5A643E3F5068}"/>
              </a:ext>
            </a:extLst>
          </p:cNvPr>
          <p:cNvSpPr txBox="1"/>
          <p:nvPr/>
        </p:nvSpPr>
        <p:spPr>
          <a:xfrm>
            <a:off x="5873348" y="1410429"/>
            <a:ext cx="1878363" cy="250903"/>
          </a:xfrm>
          <a:prstGeom prst="rect">
            <a:avLst/>
          </a:prstGeom>
          <a:noFill/>
        </p:spPr>
        <p:txBody>
          <a:bodyPr wrap="square" lIns="0" tIns="0" rIns="0" bIns="0" rtlCol="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5B84"/>
                </a:solidFill>
                <a:effectLst/>
                <a:uLnTx/>
                <a:uFillTx/>
                <a:latin typeface="Arial" panose="020B0604020202020204" pitchFamily="34" charset="0"/>
                <a:ea typeface="+mn-ea"/>
                <a:cs typeface="+mn-cs"/>
              </a:rPr>
              <a:t>vSAN Storage Clusters</a:t>
            </a:r>
          </a:p>
        </p:txBody>
      </p:sp>
      <p:sp>
        <p:nvSpPr>
          <p:cNvPr id="19" name="TextBox 18">
            <a:extLst>
              <a:ext uri="{FF2B5EF4-FFF2-40B4-BE49-F238E27FC236}">
                <a16:creationId xmlns:a16="http://schemas.microsoft.com/office/drawing/2014/main" id="{315603E5-A732-04AD-830E-95DD383CF09D}"/>
              </a:ext>
            </a:extLst>
          </p:cNvPr>
          <p:cNvSpPr txBox="1"/>
          <p:nvPr/>
        </p:nvSpPr>
        <p:spPr>
          <a:xfrm>
            <a:off x="4177215" y="1366805"/>
            <a:ext cx="1195459" cy="343235"/>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5B84"/>
                </a:solidFill>
                <a:effectLst/>
                <a:uLnTx/>
                <a:uFillTx/>
                <a:latin typeface="Arial" panose="020B0604020202020204" pitchFamily="34" charset="0"/>
                <a:ea typeface="+mn-ea"/>
                <a:cs typeface="+mn-cs"/>
              </a:rPr>
              <a:t>vSAN HCI</a:t>
            </a:r>
          </a:p>
        </p:txBody>
      </p:sp>
      <p:sp>
        <p:nvSpPr>
          <p:cNvPr id="20" name="TextBox 19">
            <a:extLst>
              <a:ext uri="{FF2B5EF4-FFF2-40B4-BE49-F238E27FC236}">
                <a16:creationId xmlns:a16="http://schemas.microsoft.com/office/drawing/2014/main" id="{B7C93986-167D-B381-435C-01D7D740EFDD}"/>
              </a:ext>
            </a:extLst>
          </p:cNvPr>
          <p:cNvSpPr txBox="1"/>
          <p:nvPr/>
        </p:nvSpPr>
        <p:spPr>
          <a:xfrm>
            <a:off x="8124964" y="1383002"/>
            <a:ext cx="1326529" cy="343235"/>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5B84"/>
                </a:solidFill>
                <a:effectLst/>
                <a:uLnTx/>
                <a:uFillTx/>
                <a:latin typeface="Arial" panose="020B0604020202020204" pitchFamily="34" charset="0"/>
                <a:ea typeface="+mn-ea"/>
                <a:cs typeface="+mn-cs"/>
              </a:rPr>
              <a:t>VMFS on FC</a:t>
            </a:r>
          </a:p>
        </p:txBody>
      </p:sp>
      <p:sp>
        <p:nvSpPr>
          <p:cNvPr id="27" name="TextBox 26">
            <a:extLst>
              <a:ext uri="{FF2B5EF4-FFF2-40B4-BE49-F238E27FC236}">
                <a16:creationId xmlns:a16="http://schemas.microsoft.com/office/drawing/2014/main" id="{CA467E4D-129D-AD6B-DAF5-71FA32681234}"/>
              </a:ext>
            </a:extLst>
          </p:cNvPr>
          <p:cNvSpPr txBox="1"/>
          <p:nvPr/>
        </p:nvSpPr>
        <p:spPr>
          <a:xfrm>
            <a:off x="10274061" y="1387903"/>
            <a:ext cx="978516" cy="343235"/>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5B84"/>
                </a:solidFill>
                <a:effectLst/>
                <a:uLnTx/>
                <a:uFillTx/>
                <a:latin typeface="Arial" panose="020B0604020202020204" pitchFamily="34" charset="0"/>
                <a:ea typeface="+mn-ea"/>
                <a:cs typeface="+mn-cs"/>
              </a:rPr>
              <a:t>NFS</a:t>
            </a:r>
          </a:p>
        </p:txBody>
      </p:sp>
      <p:grpSp>
        <p:nvGrpSpPr>
          <p:cNvPr id="3" name="Group 2" descr="checkmark">
            <a:extLst>
              <a:ext uri="{FF2B5EF4-FFF2-40B4-BE49-F238E27FC236}">
                <a16:creationId xmlns:a16="http://schemas.microsoft.com/office/drawing/2014/main" id="{313EF887-8878-CC85-EFA0-C423E0248FD4}"/>
              </a:ext>
            </a:extLst>
          </p:cNvPr>
          <p:cNvGrpSpPr/>
          <p:nvPr/>
        </p:nvGrpSpPr>
        <p:grpSpPr>
          <a:xfrm>
            <a:off x="6632890" y="4465525"/>
            <a:ext cx="309482" cy="309482"/>
            <a:chOff x="4733925" y="1390650"/>
            <a:chExt cx="309563" cy="309563"/>
          </a:xfrm>
          <a:solidFill>
            <a:schemeClr val="accent3"/>
          </a:solidFill>
        </p:grpSpPr>
        <p:sp>
          <p:nvSpPr>
            <p:cNvPr id="18" name="Oval 17">
              <a:extLst>
                <a:ext uri="{FF2B5EF4-FFF2-40B4-BE49-F238E27FC236}">
                  <a16:creationId xmlns:a16="http://schemas.microsoft.com/office/drawing/2014/main" id="{6734052C-78AF-9266-41C6-23872FBBD542}"/>
                </a:ext>
              </a:extLst>
            </p:cNvPr>
            <p:cNvSpPr/>
            <p:nvPr/>
          </p:nvSpPr>
          <p:spPr>
            <a:xfrm>
              <a:off x="4733925" y="1390650"/>
              <a:ext cx="309563" cy="30956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8" name="Freeform 5">
              <a:extLst>
                <a:ext uri="{FF2B5EF4-FFF2-40B4-BE49-F238E27FC236}">
                  <a16:creationId xmlns:a16="http://schemas.microsoft.com/office/drawing/2014/main" id="{40E12545-DD1A-36E2-9B65-7E78BF02C672}"/>
                </a:ext>
              </a:extLst>
            </p:cNvPr>
            <p:cNvSpPr>
              <a:spLocks noChangeAspect="1"/>
            </p:cNvSpPr>
            <p:nvPr/>
          </p:nvSpPr>
          <p:spPr bwMode="gray">
            <a:xfrm rot="10800000">
              <a:off x="4793681" y="1480356"/>
              <a:ext cx="178368" cy="118598"/>
            </a:xfrm>
            <a:custGeom>
              <a:avLst/>
              <a:gdLst>
                <a:gd name="T0" fmla="*/ 0 w 78"/>
                <a:gd name="T1" fmla="*/ 40 h 40"/>
                <a:gd name="T2" fmla="*/ 39 w 78"/>
                <a:gd name="T3" fmla="*/ 0 h 40"/>
                <a:gd name="T4" fmla="*/ 78 w 78"/>
                <a:gd name="T5" fmla="*/ 40 h 40"/>
                <a:gd name="connsiteX0" fmla="*/ 0 w 16875"/>
                <a:gd name="connsiteY0" fmla="*/ 22575 h 22575"/>
                <a:gd name="connsiteX1" fmla="*/ 11875 w 16875"/>
                <a:gd name="connsiteY1" fmla="*/ 0 h 22575"/>
                <a:gd name="connsiteX2" fmla="*/ 16875 w 16875"/>
                <a:gd name="connsiteY2" fmla="*/ 10000 h 22575"/>
              </a:gdLst>
              <a:ahLst/>
              <a:cxnLst>
                <a:cxn ang="0">
                  <a:pos x="connsiteX0" y="connsiteY0"/>
                </a:cxn>
                <a:cxn ang="0">
                  <a:pos x="connsiteX1" y="connsiteY1"/>
                </a:cxn>
                <a:cxn ang="0">
                  <a:pos x="connsiteX2" y="connsiteY2"/>
                </a:cxn>
              </a:cxnLst>
              <a:rect l="l" t="t" r="r" b="b"/>
              <a:pathLst>
                <a:path w="16875" h="22575">
                  <a:moveTo>
                    <a:pt x="0" y="22575"/>
                  </a:moveTo>
                  <a:lnTo>
                    <a:pt x="11875" y="0"/>
                  </a:lnTo>
                  <a:lnTo>
                    <a:pt x="16875" y="10000"/>
                  </a:lnTo>
                </a:path>
              </a:pathLst>
            </a:custGeom>
            <a:noFill/>
            <a:ln w="25400" cap="flat">
              <a:solidFill>
                <a:schemeClr val="bg1"/>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1392" tIns="45696" rIns="91392" bIns="45696" numCol="1" anchor="t" anchorCtr="0" compatLnSpc="1">
              <a:prstTxWarp prst="textNoShape">
                <a:avLst/>
              </a:prstTxWarp>
            </a:bodyPr>
            <a:lstStyle/>
            <a:p>
              <a:pPr marL="342797" marR="0" lvl="0" indent="-342797" algn="l" defTabSz="914400" rtl="0" eaLnBrk="1" fontAlgn="auto" latinLnBrk="0" hangingPunct="1">
                <a:lnSpc>
                  <a:spcPct val="100000"/>
                </a:lnSpc>
                <a:spcBef>
                  <a:spcPts val="0"/>
                </a:spcBef>
                <a:spcAft>
                  <a:spcPts val="0"/>
                </a:spcAft>
                <a:buClrTx/>
                <a:buSzTx/>
                <a:buFont typeface="+mj-lt"/>
                <a:buChar char="•"/>
                <a:tabLst/>
                <a:defRPr/>
              </a:pPr>
              <a:endParaRPr kumimoji="0" lang="en-US" sz="1798" b="0" i="0" u="none" strike="noStrike" kern="0" cap="none" spc="0" normalizeH="0" baseline="0" noProof="0" dirty="0">
                <a:ln>
                  <a:noFill/>
                </a:ln>
                <a:solidFill>
                  <a:srgbClr val="717074"/>
                </a:solidFill>
                <a:effectLst/>
                <a:uLnTx/>
                <a:uFillTx/>
                <a:latin typeface="Arial" panose="020B0604020202020204" pitchFamily="34" charset="0"/>
                <a:ea typeface="+mn-ea"/>
                <a:cs typeface="+mn-cs"/>
              </a:endParaRPr>
            </a:p>
          </p:txBody>
        </p:sp>
      </p:grpSp>
    </p:spTree>
    <p:extLst>
      <p:ext uri="{BB962C8B-B14F-4D97-AF65-F5344CB8AC3E}">
        <p14:creationId xmlns:p14="http://schemas.microsoft.com/office/powerpoint/2010/main" val="459628388"/>
      </p:ext>
    </p:extLst>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Rectangle 261">
            <a:extLst>
              <a:ext uri="{FF2B5EF4-FFF2-40B4-BE49-F238E27FC236}">
                <a16:creationId xmlns:a16="http://schemas.microsoft.com/office/drawing/2014/main" id="{0A5FCAF3-C7B0-A295-3FEE-592ED624F4E5}"/>
              </a:ext>
            </a:extLst>
          </p:cNvPr>
          <p:cNvSpPr/>
          <p:nvPr/>
        </p:nvSpPr>
        <p:spPr>
          <a:xfrm>
            <a:off x="6385805" y="1615059"/>
            <a:ext cx="5196846" cy="112167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61" name="Rectangle 260">
            <a:extLst>
              <a:ext uri="{FF2B5EF4-FFF2-40B4-BE49-F238E27FC236}">
                <a16:creationId xmlns:a16="http://schemas.microsoft.com/office/drawing/2014/main" id="{113B6666-0EFA-1FF4-3583-D9F47DD576AB}"/>
              </a:ext>
            </a:extLst>
          </p:cNvPr>
          <p:cNvSpPr/>
          <p:nvPr/>
        </p:nvSpPr>
        <p:spPr>
          <a:xfrm>
            <a:off x="599521" y="1615059"/>
            <a:ext cx="5196846" cy="1121671"/>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14" name="Rectangle 113">
            <a:extLst>
              <a:ext uri="{FF2B5EF4-FFF2-40B4-BE49-F238E27FC236}">
                <a16:creationId xmlns:a16="http://schemas.microsoft.com/office/drawing/2014/main" id="{6F5FCC12-4260-6604-71B6-3668B256D3BE}"/>
              </a:ext>
            </a:extLst>
          </p:cNvPr>
          <p:cNvSpPr>
            <a:spLocks/>
          </p:cNvSpPr>
          <p:nvPr/>
        </p:nvSpPr>
        <p:spPr>
          <a:xfrm>
            <a:off x="6385805" y="2736732"/>
            <a:ext cx="5203500" cy="3450325"/>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13" name="Rectangle 112">
            <a:extLst>
              <a:ext uri="{FF2B5EF4-FFF2-40B4-BE49-F238E27FC236}">
                <a16:creationId xmlns:a16="http://schemas.microsoft.com/office/drawing/2014/main" id="{E2A3C5F4-5313-F978-DD06-0618D313B928}"/>
              </a:ext>
            </a:extLst>
          </p:cNvPr>
          <p:cNvSpPr>
            <a:spLocks/>
          </p:cNvSpPr>
          <p:nvPr/>
        </p:nvSpPr>
        <p:spPr>
          <a:xfrm>
            <a:off x="592867" y="2736733"/>
            <a:ext cx="5203500" cy="345032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Title 1">
            <a:extLst>
              <a:ext uri="{FF2B5EF4-FFF2-40B4-BE49-F238E27FC236}">
                <a16:creationId xmlns:a16="http://schemas.microsoft.com/office/drawing/2014/main" id="{B7C49A9E-49C0-5A14-EBD1-35ED9C364F38}"/>
              </a:ext>
            </a:extLst>
          </p:cNvPr>
          <p:cNvSpPr>
            <a:spLocks noGrp="1"/>
          </p:cNvSpPr>
          <p:nvPr>
            <p:ph type="title"/>
          </p:nvPr>
        </p:nvSpPr>
        <p:spPr/>
        <p:txBody>
          <a:bodyPr/>
          <a:lstStyle/>
          <a:p>
            <a:r>
              <a:rPr lang="en-US" dirty="0"/>
              <a:t>Evolving your Platform for the Demands of Today and Tomorrow</a:t>
            </a:r>
          </a:p>
        </p:txBody>
      </p:sp>
      <p:sp>
        <p:nvSpPr>
          <p:cNvPr id="3" name="Subtitle 2">
            <a:extLst>
              <a:ext uri="{FF2B5EF4-FFF2-40B4-BE49-F238E27FC236}">
                <a16:creationId xmlns:a16="http://schemas.microsoft.com/office/drawing/2014/main" id="{98F0458E-FEF5-5122-C3E1-42D2DFBBB491}"/>
              </a:ext>
            </a:extLst>
          </p:cNvPr>
          <p:cNvSpPr>
            <a:spLocks noGrp="1"/>
          </p:cNvSpPr>
          <p:nvPr>
            <p:ph type="subTitle" idx="10"/>
          </p:nvPr>
        </p:nvSpPr>
        <p:spPr/>
        <p:txBody>
          <a:bodyPr/>
          <a:lstStyle/>
          <a:p>
            <a:r>
              <a:rPr lang="en-US" dirty="0"/>
              <a:t>Remove hardware dependencies, decrease TCO, increase agility</a:t>
            </a:r>
          </a:p>
          <a:p>
            <a:endParaRPr lang="en-US" dirty="0"/>
          </a:p>
        </p:txBody>
      </p:sp>
      <p:sp>
        <p:nvSpPr>
          <p:cNvPr id="44" name="Graphic 4">
            <a:extLst>
              <a:ext uri="{FF2B5EF4-FFF2-40B4-BE49-F238E27FC236}">
                <a16:creationId xmlns:a16="http://schemas.microsoft.com/office/drawing/2014/main" id="{A0F7F661-97BD-36EA-8CEE-51AF824B756E}"/>
              </a:ext>
            </a:extLst>
          </p:cNvPr>
          <p:cNvSpPr/>
          <p:nvPr/>
        </p:nvSpPr>
        <p:spPr>
          <a:xfrm>
            <a:off x="6565994" y="1863045"/>
            <a:ext cx="451902" cy="559079"/>
          </a:xfrm>
          <a:custGeom>
            <a:avLst/>
            <a:gdLst>
              <a:gd name="connsiteX0" fmla="*/ 590074 w 948213"/>
              <a:gd name="connsiteY0" fmla="*/ 30956 h 1173099"/>
              <a:gd name="connsiteX1" fmla="*/ 593217 w 948213"/>
              <a:gd name="connsiteY1" fmla="*/ 30956 h 1173099"/>
              <a:gd name="connsiteX2" fmla="*/ 713899 w 948213"/>
              <a:gd name="connsiteY2" fmla="*/ 142113 h 1173099"/>
              <a:gd name="connsiteX3" fmla="*/ 716471 w 948213"/>
              <a:gd name="connsiteY3" fmla="*/ 167640 h 1173099"/>
              <a:gd name="connsiteX4" fmla="*/ 741998 w 948213"/>
              <a:gd name="connsiteY4" fmla="*/ 169831 h 1173099"/>
              <a:gd name="connsiteX5" fmla="*/ 813054 w 948213"/>
              <a:gd name="connsiteY5" fmla="*/ 255746 h 1173099"/>
              <a:gd name="connsiteX6" fmla="*/ 734663 w 948213"/>
              <a:gd name="connsiteY6" fmla="*/ 338519 h 1173099"/>
              <a:gd name="connsiteX7" fmla="*/ 732758 w 948213"/>
              <a:gd name="connsiteY7" fmla="*/ 338519 h 1173099"/>
              <a:gd name="connsiteX8" fmla="*/ 720090 w 948213"/>
              <a:gd name="connsiteY8" fmla="*/ 338519 h 1173099"/>
              <a:gd name="connsiteX9" fmla="*/ 485775 w 948213"/>
              <a:gd name="connsiteY9" fmla="*/ 339185 h 1173099"/>
              <a:gd name="connsiteX10" fmla="*/ 249650 w 948213"/>
              <a:gd name="connsiteY10" fmla="*/ 339852 h 1173099"/>
              <a:gd name="connsiteX11" fmla="*/ 238125 w 948213"/>
              <a:gd name="connsiteY11" fmla="*/ 339852 h 1173099"/>
              <a:gd name="connsiteX12" fmla="*/ 177356 w 948213"/>
              <a:gd name="connsiteY12" fmla="*/ 312230 h 1173099"/>
              <a:gd name="connsiteX13" fmla="*/ 158591 w 948213"/>
              <a:gd name="connsiteY13" fmla="*/ 269177 h 1173099"/>
              <a:gd name="connsiteX14" fmla="*/ 232601 w 948213"/>
              <a:gd name="connsiteY14" fmla="*/ 206026 h 1173099"/>
              <a:gd name="connsiteX15" fmla="*/ 234601 w 948213"/>
              <a:gd name="connsiteY15" fmla="*/ 206026 h 1173099"/>
              <a:gd name="connsiteX16" fmla="*/ 253556 w 948213"/>
              <a:gd name="connsiteY16" fmla="*/ 208407 h 1173099"/>
              <a:gd name="connsiteX17" fmla="*/ 283940 w 948213"/>
              <a:gd name="connsiteY17" fmla="*/ 216027 h 1173099"/>
              <a:gd name="connsiteX18" fmla="*/ 291179 w 948213"/>
              <a:gd name="connsiteY18" fmla="*/ 185452 h 1173099"/>
              <a:gd name="connsiteX19" fmla="*/ 390049 w 948213"/>
              <a:gd name="connsiteY19" fmla="*/ 113919 h 1173099"/>
              <a:gd name="connsiteX20" fmla="*/ 392525 w 948213"/>
              <a:gd name="connsiteY20" fmla="*/ 113919 h 1173099"/>
              <a:gd name="connsiteX21" fmla="*/ 434340 w 948213"/>
              <a:gd name="connsiteY21" fmla="*/ 122873 h 1173099"/>
              <a:gd name="connsiteX22" fmla="*/ 462915 w 948213"/>
              <a:gd name="connsiteY22" fmla="*/ 135446 h 1173099"/>
              <a:gd name="connsiteX23" fmla="*/ 475202 w 948213"/>
              <a:gd name="connsiteY23" fmla="*/ 106680 h 1173099"/>
              <a:gd name="connsiteX24" fmla="*/ 590074 w 948213"/>
              <a:gd name="connsiteY24" fmla="*/ 30956 h 1173099"/>
              <a:gd name="connsiteX25" fmla="*/ 590074 w 948213"/>
              <a:gd name="connsiteY25" fmla="*/ 0 h 1173099"/>
              <a:gd name="connsiteX26" fmla="*/ 446723 w 948213"/>
              <a:gd name="connsiteY26" fmla="*/ 94678 h 1173099"/>
              <a:gd name="connsiteX27" fmla="*/ 393192 w 948213"/>
              <a:gd name="connsiteY27" fmla="*/ 83058 h 1173099"/>
              <a:gd name="connsiteX28" fmla="*/ 389954 w 948213"/>
              <a:gd name="connsiteY28" fmla="*/ 83058 h 1173099"/>
              <a:gd name="connsiteX29" fmla="*/ 260985 w 948213"/>
              <a:gd name="connsiteY29" fmla="*/ 178403 h 1173099"/>
              <a:gd name="connsiteX30" fmla="*/ 235077 w 948213"/>
              <a:gd name="connsiteY30" fmla="*/ 175069 h 1173099"/>
              <a:gd name="connsiteX31" fmla="*/ 232505 w 948213"/>
              <a:gd name="connsiteY31" fmla="*/ 175069 h 1173099"/>
              <a:gd name="connsiteX32" fmla="*/ 127540 w 948213"/>
              <a:gd name="connsiteY32" fmla="*/ 268319 h 1173099"/>
              <a:gd name="connsiteX33" fmla="*/ 237173 w 948213"/>
              <a:gd name="connsiteY33" fmla="*/ 370713 h 1173099"/>
              <a:gd name="connsiteX34" fmla="*/ 249555 w 948213"/>
              <a:gd name="connsiteY34" fmla="*/ 370713 h 1173099"/>
              <a:gd name="connsiteX35" fmla="*/ 720090 w 948213"/>
              <a:gd name="connsiteY35" fmla="*/ 369380 h 1173099"/>
              <a:gd name="connsiteX36" fmla="*/ 732187 w 948213"/>
              <a:gd name="connsiteY36" fmla="*/ 369380 h 1173099"/>
              <a:gd name="connsiteX37" fmla="*/ 734663 w 948213"/>
              <a:gd name="connsiteY37" fmla="*/ 369380 h 1173099"/>
              <a:gd name="connsiteX38" fmla="*/ 844010 w 948213"/>
              <a:gd name="connsiteY38" fmla="*/ 256413 h 1173099"/>
              <a:gd name="connsiteX39" fmla="*/ 744665 w 948213"/>
              <a:gd name="connsiteY39" fmla="*/ 138875 h 1173099"/>
              <a:gd name="connsiteX40" fmla="*/ 593884 w 948213"/>
              <a:gd name="connsiteY40" fmla="*/ 0 h 1173099"/>
              <a:gd name="connsiteX41" fmla="*/ 590074 w 948213"/>
              <a:gd name="connsiteY41" fmla="*/ 0 h 1173099"/>
              <a:gd name="connsiteX42" fmla="*/ 590074 w 948213"/>
              <a:gd name="connsiteY42" fmla="*/ 0 h 1173099"/>
              <a:gd name="connsiteX43" fmla="*/ 615982 w 948213"/>
              <a:gd name="connsiteY43" fmla="*/ 673418 h 1173099"/>
              <a:gd name="connsiteX44" fmla="*/ 615982 w 948213"/>
              <a:gd name="connsiteY44" fmla="*/ 1142143 h 1173099"/>
              <a:gd name="connsiteX45" fmla="*/ 330327 w 948213"/>
              <a:gd name="connsiteY45" fmla="*/ 1142143 h 1173099"/>
              <a:gd name="connsiteX46" fmla="*/ 330327 w 948213"/>
              <a:gd name="connsiteY46" fmla="*/ 673418 h 1173099"/>
              <a:gd name="connsiteX47" fmla="*/ 615982 w 948213"/>
              <a:gd name="connsiteY47" fmla="*/ 673418 h 1173099"/>
              <a:gd name="connsiteX48" fmla="*/ 646938 w 948213"/>
              <a:gd name="connsiteY48" fmla="*/ 642461 h 1173099"/>
              <a:gd name="connsiteX49" fmla="*/ 299371 w 948213"/>
              <a:gd name="connsiteY49" fmla="*/ 642461 h 1173099"/>
              <a:gd name="connsiteX50" fmla="*/ 299371 w 948213"/>
              <a:gd name="connsiteY50" fmla="*/ 1173099 h 1173099"/>
              <a:gd name="connsiteX51" fmla="*/ 646938 w 948213"/>
              <a:gd name="connsiteY51" fmla="*/ 1173099 h 1173099"/>
              <a:gd name="connsiteX52" fmla="*/ 646938 w 948213"/>
              <a:gd name="connsiteY52" fmla="*/ 642461 h 1173099"/>
              <a:gd name="connsiteX53" fmla="*/ 646938 w 948213"/>
              <a:gd name="connsiteY53" fmla="*/ 642461 h 1173099"/>
              <a:gd name="connsiteX54" fmla="*/ 948214 w 948213"/>
              <a:gd name="connsiteY54" fmla="*/ 663702 h 1173099"/>
              <a:gd name="connsiteX55" fmla="*/ 696849 w 948213"/>
              <a:gd name="connsiteY55" fmla="*/ 663702 h 1173099"/>
              <a:gd name="connsiteX56" fmla="*/ 696849 w 948213"/>
              <a:gd name="connsiteY56" fmla="*/ 694658 h 1173099"/>
              <a:gd name="connsiteX57" fmla="*/ 917258 w 948213"/>
              <a:gd name="connsiteY57" fmla="*/ 694658 h 1173099"/>
              <a:gd name="connsiteX58" fmla="*/ 917258 w 948213"/>
              <a:gd name="connsiteY58" fmla="*/ 1121950 h 1173099"/>
              <a:gd name="connsiteX59" fmla="*/ 696849 w 948213"/>
              <a:gd name="connsiteY59" fmla="*/ 1121950 h 1173099"/>
              <a:gd name="connsiteX60" fmla="*/ 696849 w 948213"/>
              <a:gd name="connsiteY60" fmla="*/ 1152906 h 1173099"/>
              <a:gd name="connsiteX61" fmla="*/ 948214 w 948213"/>
              <a:gd name="connsiteY61" fmla="*/ 1152906 h 1173099"/>
              <a:gd name="connsiteX62" fmla="*/ 948214 w 948213"/>
              <a:gd name="connsiteY62" fmla="*/ 663702 h 1173099"/>
              <a:gd name="connsiteX63" fmla="*/ 572453 w 948213"/>
              <a:gd name="connsiteY63" fmla="*/ 1026224 h 1173099"/>
              <a:gd name="connsiteX64" fmla="*/ 373856 w 948213"/>
              <a:gd name="connsiteY64" fmla="*/ 1026224 h 1173099"/>
              <a:gd name="connsiteX65" fmla="*/ 373856 w 948213"/>
              <a:gd name="connsiteY65" fmla="*/ 1057180 h 1173099"/>
              <a:gd name="connsiteX66" fmla="*/ 572453 w 948213"/>
              <a:gd name="connsiteY66" fmla="*/ 1057180 h 1173099"/>
              <a:gd name="connsiteX67" fmla="*/ 572453 w 948213"/>
              <a:gd name="connsiteY67" fmla="*/ 1026224 h 1173099"/>
              <a:gd name="connsiteX68" fmla="*/ 572453 w 948213"/>
              <a:gd name="connsiteY68" fmla="*/ 928211 h 1173099"/>
              <a:gd name="connsiteX69" fmla="*/ 373856 w 948213"/>
              <a:gd name="connsiteY69" fmla="*/ 928211 h 1173099"/>
              <a:gd name="connsiteX70" fmla="*/ 373856 w 948213"/>
              <a:gd name="connsiteY70" fmla="*/ 959168 h 1173099"/>
              <a:gd name="connsiteX71" fmla="*/ 572453 w 948213"/>
              <a:gd name="connsiteY71" fmla="*/ 959168 h 1173099"/>
              <a:gd name="connsiteX72" fmla="*/ 572453 w 948213"/>
              <a:gd name="connsiteY72" fmla="*/ 928211 h 1173099"/>
              <a:gd name="connsiteX73" fmla="*/ 572453 w 948213"/>
              <a:gd name="connsiteY73" fmla="*/ 832961 h 1173099"/>
              <a:gd name="connsiteX74" fmla="*/ 373856 w 948213"/>
              <a:gd name="connsiteY74" fmla="*/ 832961 h 1173099"/>
              <a:gd name="connsiteX75" fmla="*/ 373856 w 948213"/>
              <a:gd name="connsiteY75" fmla="*/ 863918 h 1173099"/>
              <a:gd name="connsiteX76" fmla="*/ 572453 w 948213"/>
              <a:gd name="connsiteY76" fmla="*/ 863918 h 1173099"/>
              <a:gd name="connsiteX77" fmla="*/ 572453 w 948213"/>
              <a:gd name="connsiteY77" fmla="*/ 832961 h 1173099"/>
              <a:gd name="connsiteX78" fmla="*/ 572453 w 948213"/>
              <a:gd name="connsiteY78" fmla="*/ 737426 h 1173099"/>
              <a:gd name="connsiteX79" fmla="*/ 373856 w 948213"/>
              <a:gd name="connsiteY79" fmla="*/ 737426 h 1173099"/>
              <a:gd name="connsiteX80" fmla="*/ 373856 w 948213"/>
              <a:gd name="connsiteY80" fmla="*/ 768382 h 1173099"/>
              <a:gd name="connsiteX81" fmla="*/ 572453 w 948213"/>
              <a:gd name="connsiteY81" fmla="*/ 768382 h 1173099"/>
              <a:gd name="connsiteX82" fmla="*/ 572453 w 948213"/>
              <a:gd name="connsiteY82" fmla="*/ 737426 h 1173099"/>
              <a:gd name="connsiteX83" fmla="*/ 250031 w 948213"/>
              <a:gd name="connsiteY83" fmla="*/ 1049369 h 1173099"/>
              <a:gd name="connsiteX84" fmla="*/ 76200 w 948213"/>
              <a:gd name="connsiteY84" fmla="*/ 1049369 h 1173099"/>
              <a:gd name="connsiteX85" fmla="*/ 76200 w 948213"/>
              <a:gd name="connsiteY85" fmla="*/ 1080326 h 1173099"/>
              <a:gd name="connsiteX86" fmla="*/ 250031 w 948213"/>
              <a:gd name="connsiteY86" fmla="*/ 1080326 h 1173099"/>
              <a:gd name="connsiteX87" fmla="*/ 250031 w 948213"/>
              <a:gd name="connsiteY87" fmla="*/ 1049369 h 1173099"/>
              <a:gd name="connsiteX88" fmla="*/ 250031 w 948213"/>
              <a:gd name="connsiteY88" fmla="*/ 951452 h 1173099"/>
              <a:gd name="connsiteX89" fmla="*/ 76200 w 948213"/>
              <a:gd name="connsiteY89" fmla="*/ 951452 h 1173099"/>
              <a:gd name="connsiteX90" fmla="*/ 76200 w 948213"/>
              <a:gd name="connsiteY90" fmla="*/ 982409 h 1173099"/>
              <a:gd name="connsiteX91" fmla="*/ 250031 w 948213"/>
              <a:gd name="connsiteY91" fmla="*/ 982409 h 1173099"/>
              <a:gd name="connsiteX92" fmla="*/ 250031 w 948213"/>
              <a:gd name="connsiteY92" fmla="*/ 951452 h 1173099"/>
              <a:gd name="connsiteX93" fmla="*/ 250031 w 948213"/>
              <a:gd name="connsiteY93" fmla="*/ 856107 h 1173099"/>
              <a:gd name="connsiteX94" fmla="*/ 76200 w 948213"/>
              <a:gd name="connsiteY94" fmla="*/ 856107 h 1173099"/>
              <a:gd name="connsiteX95" fmla="*/ 76200 w 948213"/>
              <a:gd name="connsiteY95" fmla="*/ 887063 h 1173099"/>
              <a:gd name="connsiteX96" fmla="*/ 250031 w 948213"/>
              <a:gd name="connsiteY96" fmla="*/ 887063 h 1173099"/>
              <a:gd name="connsiteX97" fmla="*/ 250031 w 948213"/>
              <a:gd name="connsiteY97" fmla="*/ 856107 h 1173099"/>
              <a:gd name="connsiteX98" fmla="*/ 250031 w 948213"/>
              <a:gd name="connsiteY98" fmla="*/ 760571 h 1173099"/>
              <a:gd name="connsiteX99" fmla="*/ 76200 w 948213"/>
              <a:gd name="connsiteY99" fmla="*/ 760571 h 1173099"/>
              <a:gd name="connsiteX100" fmla="*/ 76200 w 948213"/>
              <a:gd name="connsiteY100" fmla="*/ 791528 h 1173099"/>
              <a:gd name="connsiteX101" fmla="*/ 250031 w 948213"/>
              <a:gd name="connsiteY101" fmla="*/ 791528 h 1173099"/>
              <a:gd name="connsiteX102" fmla="*/ 250031 w 948213"/>
              <a:gd name="connsiteY102" fmla="*/ 760571 h 1173099"/>
              <a:gd name="connsiteX103" fmla="*/ 871252 w 948213"/>
              <a:gd name="connsiteY103" fmla="*/ 1049369 h 1173099"/>
              <a:gd name="connsiteX104" fmla="*/ 697421 w 948213"/>
              <a:gd name="connsiteY104" fmla="*/ 1049369 h 1173099"/>
              <a:gd name="connsiteX105" fmla="*/ 697421 w 948213"/>
              <a:gd name="connsiteY105" fmla="*/ 1080326 h 1173099"/>
              <a:gd name="connsiteX106" fmla="*/ 871252 w 948213"/>
              <a:gd name="connsiteY106" fmla="*/ 1080326 h 1173099"/>
              <a:gd name="connsiteX107" fmla="*/ 871252 w 948213"/>
              <a:gd name="connsiteY107" fmla="*/ 1049369 h 1173099"/>
              <a:gd name="connsiteX108" fmla="*/ 871252 w 948213"/>
              <a:gd name="connsiteY108" fmla="*/ 951452 h 1173099"/>
              <a:gd name="connsiteX109" fmla="*/ 697421 w 948213"/>
              <a:gd name="connsiteY109" fmla="*/ 951452 h 1173099"/>
              <a:gd name="connsiteX110" fmla="*/ 697421 w 948213"/>
              <a:gd name="connsiteY110" fmla="*/ 982409 h 1173099"/>
              <a:gd name="connsiteX111" fmla="*/ 871252 w 948213"/>
              <a:gd name="connsiteY111" fmla="*/ 982409 h 1173099"/>
              <a:gd name="connsiteX112" fmla="*/ 871252 w 948213"/>
              <a:gd name="connsiteY112" fmla="*/ 951452 h 1173099"/>
              <a:gd name="connsiteX113" fmla="*/ 871252 w 948213"/>
              <a:gd name="connsiteY113" fmla="*/ 856107 h 1173099"/>
              <a:gd name="connsiteX114" fmla="*/ 697421 w 948213"/>
              <a:gd name="connsiteY114" fmla="*/ 856107 h 1173099"/>
              <a:gd name="connsiteX115" fmla="*/ 697421 w 948213"/>
              <a:gd name="connsiteY115" fmla="*/ 887063 h 1173099"/>
              <a:gd name="connsiteX116" fmla="*/ 871252 w 948213"/>
              <a:gd name="connsiteY116" fmla="*/ 887063 h 1173099"/>
              <a:gd name="connsiteX117" fmla="*/ 871252 w 948213"/>
              <a:gd name="connsiteY117" fmla="*/ 856107 h 1173099"/>
              <a:gd name="connsiteX118" fmla="*/ 871252 w 948213"/>
              <a:gd name="connsiteY118" fmla="*/ 760571 h 1173099"/>
              <a:gd name="connsiteX119" fmla="*/ 697421 w 948213"/>
              <a:gd name="connsiteY119" fmla="*/ 760571 h 1173099"/>
              <a:gd name="connsiteX120" fmla="*/ 697421 w 948213"/>
              <a:gd name="connsiteY120" fmla="*/ 791528 h 1173099"/>
              <a:gd name="connsiteX121" fmla="*/ 871252 w 948213"/>
              <a:gd name="connsiteY121" fmla="*/ 791528 h 1173099"/>
              <a:gd name="connsiteX122" fmla="*/ 871252 w 948213"/>
              <a:gd name="connsiteY122" fmla="*/ 760571 h 1173099"/>
              <a:gd name="connsiteX123" fmla="*/ 251365 w 948213"/>
              <a:gd name="connsiteY123" fmla="*/ 1122045 h 1173099"/>
              <a:gd name="connsiteX124" fmla="*/ 30956 w 948213"/>
              <a:gd name="connsiteY124" fmla="*/ 1122045 h 1173099"/>
              <a:gd name="connsiteX125" fmla="*/ 30956 w 948213"/>
              <a:gd name="connsiteY125" fmla="*/ 694658 h 1173099"/>
              <a:gd name="connsiteX126" fmla="*/ 251365 w 948213"/>
              <a:gd name="connsiteY126" fmla="*/ 694658 h 1173099"/>
              <a:gd name="connsiteX127" fmla="*/ 251365 w 948213"/>
              <a:gd name="connsiteY127" fmla="*/ 663702 h 1173099"/>
              <a:gd name="connsiteX128" fmla="*/ 0 w 948213"/>
              <a:gd name="connsiteY128" fmla="*/ 663702 h 1173099"/>
              <a:gd name="connsiteX129" fmla="*/ 0 w 948213"/>
              <a:gd name="connsiteY129" fmla="*/ 1152906 h 1173099"/>
              <a:gd name="connsiteX130" fmla="*/ 251365 w 948213"/>
              <a:gd name="connsiteY130" fmla="*/ 1152906 h 1173099"/>
              <a:gd name="connsiteX131" fmla="*/ 251365 w 948213"/>
              <a:gd name="connsiteY131" fmla="*/ 1122045 h 1173099"/>
              <a:gd name="connsiteX132" fmla="*/ 758857 w 948213"/>
              <a:gd name="connsiteY132" fmla="*/ 464153 h 1173099"/>
              <a:gd name="connsiteX133" fmla="*/ 688181 w 948213"/>
              <a:gd name="connsiteY133" fmla="*/ 386620 h 1173099"/>
              <a:gd name="connsiteX134" fmla="*/ 674942 w 948213"/>
              <a:gd name="connsiteY134" fmla="*/ 414623 h 1173099"/>
              <a:gd name="connsiteX135" fmla="*/ 729425 w 948213"/>
              <a:gd name="connsiteY135" fmla="*/ 473583 h 1173099"/>
              <a:gd name="connsiteX136" fmla="*/ 718090 w 948213"/>
              <a:gd name="connsiteY136" fmla="*/ 557594 h 1173099"/>
              <a:gd name="connsiteX137" fmla="*/ 745046 w 948213"/>
              <a:gd name="connsiteY137" fmla="*/ 572834 h 1173099"/>
              <a:gd name="connsiteX138" fmla="*/ 758857 w 948213"/>
              <a:gd name="connsiteY138" fmla="*/ 464153 h 1173099"/>
              <a:gd name="connsiteX139" fmla="*/ 704183 w 948213"/>
              <a:gd name="connsiteY139" fmla="*/ 527114 h 1173099"/>
              <a:gd name="connsiteX140" fmla="*/ 691134 w 948213"/>
              <a:gd name="connsiteY140" fmla="*/ 612553 h 1173099"/>
              <a:gd name="connsiteX141" fmla="*/ 771620 w 948213"/>
              <a:gd name="connsiteY141" fmla="*/ 581120 h 1173099"/>
              <a:gd name="connsiteX142" fmla="*/ 704183 w 948213"/>
              <a:gd name="connsiteY142" fmla="*/ 527114 h 1173099"/>
              <a:gd name="connsiteX143" fmla="*/ 276416 w 948213"/>
              <a:gd name="connsiteY143" fmla="*/ 591598 h 1173099"/>
              <a:gd name="connsiteX144" fmla="*/ 229934 w 948213"/>
              <a:gd name="connsiteY144" fmla="*/ 526161 h 1173099"/>
              <a:gd name="connsiteX145" fmla="*/ 251936 w 948213"/>
              <a:gd name="connsiteY145" fmla="*/ 444246 h 1173099"/>
              <a:gd name="connsiteX146" fmla="*/ 227171 w 948213"/>
              <a:gd name="connsiteY146" fmla="*/ 425672 h 1173099"/>
              <a:gd name="connsiteX147" fmla="*/ 199549 w 948213"/>
              <a:gd name="connsiteY147" fmla="*/ 531590 h 1173099"/>
              <a:gd name="connsiteX148" fmla="*/ 259747 w 948213"/>
              <a:gd name="connsiteY148" fmla="*/ 617601 h 1173099"/>
              <a:gd name="connsiteX149" fmla="*/ 276416 w 948213"/>
              <a:gd name="connsiteY149" fmla="*/ 591598 h 1173099"/>
              <a:gd name="connsiteX150" fmla="*/ 261747 w 948213"/>
              <a:gd name="connsiteY150" fmla="*/ 476250 h 1173099"/>
              <a:gd name="connsiteX151" fmla="*/ 285560 w 948213"/>
              <a:gd name="connsiteY151" fmla="*/ 393192 h 1173099"/>
              <a:gd name="connsiteX152" fmla="*/ 201644 w 948213"/>
              <a:gd name="connsiteY152" fmla="*/ 414052 h 1173099"/>
              <a:gd name="connsiteX153" fmla="*/ 261747 w 948213"/>
              <a:gd name="connsiteY153" fmla="*/ 476250 h 1173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948213" h="1173099">
                <a:moveTo>
                  <a:pt x="590074" y="30956"/>
                </a:moveTo>
                <a:cubicBezTo>
                  <a:pt x="591122" y="30956"/>
                  <a:pt x="592169" y="30956"/>
                  <a:pt x="593217" y="30956"/>
                </a:cubicBezTo>
                <a:cubicBezTo>
                  <a:pt x="655796" y="32290"/>
                  <a:pt x="707612" y="80105"/>
                  <a:pt x="713899" y="142113"/>
                </a:cubicBezTo>
                <a:lnTo>
                  <a:pt x="716471" y="167640"/>
                </a:lnTo>
                <a:lnTo>
                  <a:pt x="741998" y="169831"/>
                </a:lnTo>
                <a:cubicBezTo>
                  <a:pt x="783050" y="173355"/>
                  <a:pt x="814292" y="211074"/>
                  <a:pt x="813054" y="255746"/>
                </a:cubicBezTo>
                <a:cubicBezTo>
                  <a:pt x="811911" y="301371"/>
                  <a:pt x="776764" y="338519"/>
                  <a:pt x="734663" y="338519"/>
                </a:cubicBezTo>
                <a:lnTo>
                  <a:pt x="732758" y="338519"/>
                </a:lnTo>
                <a:cubicBezTo>
                  <a:pt x="731330" y="338519"/>
                  <a:pt x="726948" y="338519"/>
                  <a:pt x="720090" y="338519"/>
                </a:cubicBezTo>
                <a:cubicBezTo>
                  <a:pt x="685610" y="338519"/>
                  <a:pt x="585788" y="338804"/>
                  <a:pt x="485775" y="339185"/>
                </a:cubicBezTo>
                <a:cubicBezTo>
                  <a:pt x="385286" y="339471"/>
                  <a:pt x="284607" y="339852"/>
                  <a:pt x="249650" y="339852"/>
                </a:cubicBezTo>
                <a:cubicBezTo>
                  <a:pt x="243364" y="339852"/>
                  <a:pt x="239268" y="339852"/>
                  <a:pt x="238125" y="339852"/>
                </a:cubicBezTo>
                <a:cubicBezTo>
                  <a:pt x="216027" y="339281"/>
                  <a:pt x="193262" y="328994"/>
                  <a:pt x="177356" y="312230"/>
                </a:cubicBezTo>
                <a:cubicBezTo>
                  <a:pt x="164878" y="299085"/>
                  <a:pt x="158210" y="283845"/>
                  <a:pt x="158591" y="269177"/>
                </a:cubicBezTo>
                <a:cubicBezTo>
                  <a:pt x="159544" y="234410"/>
                  <a:pt x="192691" y="206026"/>
                  <a:pt x="232601" y="206026"/>
                </a:cubicBezTo>
                <a:lnTo>
                  <a:pt x="234601" y="206026"/>
                </a:lnTo>
                <a:cubicBezTo>
                  <a:pt x="241268" y="206121"/>
                  <a:pt x="247650" y="206978"/>
                  <a:pt x="253556" y="208407"/>
                </a:cubicBezTo>
                <a:lnTo>
                  <a:pt x="283940" y="216027"/>
                </a:lnTo>
                <a:lnTo>
                  <a:pt x="291179" y="185452"/>
                </a:lnTo>
                <a:cubicBezTo>
                  <a:pt x="300990" y="144018"/>
                  <a:pt x="342519" y="113919"/>
                  <a:pt x="390049" y="113919"/>
                </a:cubicBezTo>
                <a:lnTo>
                  <a:pt x="392525" y="113919"/>
                </a:lnTo>
                <a:cubicBezTo>
                  <a:pt x="407575" y="114300"/>
                  <a:pt x="421672" y="117348"/>
                  <a:pt x="434340" y="122873"/>
                </a:cubicBezTo>
                <a:lnTo>
                  <a:pt x="462915" y="135446"/>
                </a:lnTo>
                <a:lnTo>
                  <a:pt x="475202" y="106680"/>
                </a:lnTo>
                <a:cubicBezTo>
                  <a:pt x="495014" y="60770"/>
                  <a:pt x="540068" y="30956"/>
                  <a:pt x="590074" y="30956"/>
                </a:cubicBezTo>
                <a:moveTo>
                  <a:pt x="590074" y="0"/>
                </a:moveTo>
                <a:cubicBezTo>
                  <a:pt x="525971" y="0"/>
                  <a:pt x="470630" y="38957"/>
                  <a:pt x="446723" y="94678"/>
                </a:cubicBezTo>
                <a:cubicBezTo>
                  <a:pt x="430435" y="87535"/>
                  <a:pt x="412433" y="83534"/>
                  <a:pt x="393192" y="83058"/>
                </a:cubicBezTo>
                <a:cubicBezTo>
                  <a:pt x="392144" y="83058"/>
                  <a:pt x="391001" y="83058"/>
                  <a:pt x="389954" y="83058"/>
                </a:cubicBezTo>
                <a:cubicBezTo>
                  <a:pt x="326898" y="83058"/>
                  <a:pt x="273939" y="123634"/>
                  <a:pt x="260985" y="178403"/>
                </a:cubicBezTo>
                <a:cubicBezTo>
                  <a:pt x="252794" y="176308"/>
                  <a:pt x="244031" y="175260"/>
                  <a:pt x="235077" y="175069"/>
                </a:cubicBezTo>
                <a:cubicBezTo>
                  <a:pt x="234220" y="175069"/>
                  <a:pt x="233363" y="175069"/>
                  <a:pt x="232505" y="175069"/>
                </a:cubicBezTo>
                <a:cubicBezTo>
                  <a:pt x="175641" y="175069"/>
                  <a:pt x="128873" y="216408"/>
                  <a:pt x="127540" y="268319"/>
                </a:cubicBezTo>
                <a:cubicBezTo>
                  <a:pt x="126206" y="321088"/>
                  <a:pt x="179261" y="369284"/>
                  <a:pt x="237173" y="370713"/>
                </a:cubicBezTo>
                <a:cubicBezTo>
                  <a:pt x="238601" y="370713"/>
                  <a:pt x="242888" y="370713"/>
                  <a:pt x="249555" y="370713"/>
                </a:cubicBezTo>
                <a:cubicBezTo>
                  <a:pt x="319278" y="370713"/>
                  <a:pt x="651034" y="369380"/>
                  <a:pt x="720090" y="369380"/>
                </a:cubicBezTo>
                <a:cubicBezTo>
                  <a:pt x="726662" y="369380"/>
                  <a:pt x="730853" y="369380"/>
                  <a:pt x="732187" y="369380"/>
                </a:cubicBezTo>
                <a:cubicBezTo>
                  <a:pt x="733044" y="369380"/>
                  <a:pt x="733806" y="369380"/>
                  <a:pt x="734663" y="369380"/>
                </a:cubicBezTo>
                <a:cubicBezTo>
                  <a:pt x="793623" y="369380"/>
                  <a:pt x="842486" y="319088"/>
                  <a:pt x="844010" y="256413"/>
                </a:cubicBezTo>
                <a:cubicBezTo>
                  <a:pt x="845725" y="194786"/>
                  <a:pt x="801624" y="143828"/>
                  <a:pt x="744665" y="138875"/>
                </a:cubicBezTo>
                <a:cubicBezTo>
                  <a:pt x="736949" y="62294"/>
                  <a:pt x="673132" y="1810"/>
                  <a:pt x="593884" y="0"/>
                </a:cubicBezTo>
                <a:cubicBezTo>
                  <a:pt x="592646" y="0"/>
                  <a:pt x="591407" y="0"/>
                  <a:pt x="590074" y="0"/>
                </a:cubicBezTo>
                <a:lnTo>
                  <a:pt x="590074" y="0"/>
                </a:lnTo>
                <a:close/>
                <a:moveTo>
                  <a:pt x="615982" y="673418"/>
                </a:moveTo>
                <a:lnTo>
                  <a:pt x="615982" y="1142143"/>
                </a:lnTo>
                <a:lnTo>
                  <a:pt x="330327" y="1142143"/>
                </a:lnTo>
                <a:lnTo>
                  <a:pt x="330327" y="673418"/>
                </a:lnTo>
                <a:lnTo>
                  <a:pt x="615982" y="673418"/>
                </a:lnTo>
                <a:moveTo>
                  <a:pt x="646938" y="642461"/>
                </a:moveTo>
                <a:lnTo>
                  <a:pt x="299371" y="642461"/>
                </a:lnTo>
                <a:lnTo>
                  <a:pt x="299371" y="1173099"/>
                </a:lnTo>
                <a:lnTo>
                  <a:pt x="646938" y="1173099"/>
                </a:lnTo>
                <a:lnTo>
                  <a:pt x="646938" y="642461"/>
                </a:lnTo>
                <a:lnTo>
                  <a:pt x="646938" y="642461"/>
                </a:lnTo>
                <a:close/>
                <a:moveTo>
                  <a:pt x="948214" y="663702"/>
                </a:moveTo>
                <a:lnTo>
                  <a:pt x="696849" y="663702"/>
                </a:lnTo>
                <a:lnTo>
                  <a:pt x="696849" y="694658"/>
                </a:lnTo>
                <a:lnTo>
                  <a:pt x="917258" y="694658"/>
                </a:lnTo>
                <a:lnTo>
                  <a:pt x="917258" y="1121950"/>
                </a:lnTo>
                <a:lnTo>
                  <a:pt x="696849" y="1121950"/>
                </a:lnTo>
                <a:lnTo>
                  <a:pt x="696849" y="1152906"/>
                </a:lnTo>
                <a:lnTo>
                  <a:pt x="948214" y="1152906"/>
                </a:lnTo>
                <a:lnTo>
                  <a:pt x="948214" y="663702"/>
                </a:lnTo>
                <a:close/>
                <a:moveTo>
                  <a:pt x="572453" y="1026224"/>
                </a:moveTo>
                <a:lnTo>
                  <a:pt x="373856" y="1026224"/>
                </a:lnTo>
                <a:lnTo>
                  <a:pt x="373856" y="1057180"/>
                </a:lnTo>
                <a:lnTo>
                  <a:pt x="572453" y="1057180"/>
                </a:lnTo>
                <a:lnTo>
                  <a:pt x="572453" y="1026224"/>
                </a:lnTo>
                <a:close/>
                <a:moveTo>
                  <a:pt x="572453" y="928211"/>
                </a:moveTo>
                <a:lnTo>
                  <a:pt x="373856" y="928211"/>
                </a:lnTo>
                <a:lnTo>
                  <a:pt x="373856" y="959168"/>
                </a:lnTo>
                <a:lnTo>
                  <a:pt x="572453" y="959168"/>
                </a:lnTo>
                <a:lnTo>
                  <a:pt x="572453" y="928211"/>
                </a:lnTo>
                <a:close/>
                <a:moveTo>
                  <a:pt x="572453" y="832961"/>
                </a:moveTo>
                <a:lnTo>
                  <a:pt x="373856" y="832961"/>
                </a:lnTo>
                <a:lnTo>
                  <a:pt x="373856" y="863918"/>
                </a:lnTo>
                <a:lnTo>
                  <a:pt x="572453" y="863918"/>
                </a:lnTo>
                <a:lnTo>
                  <a:pt x="572453" y="832961"/>
                </a:lnTo>
                <a:close/>
                <a:moveTo>
                  <a:pt x="572453" y="737426"/>
                </a:moveTo>
                <a:lnTo>
                  <a:pt x="373856" y="737426"/>
                </a:lnTo>
                <a:lnTo>
                  <a:pt x="373856" y="768382"/>
                </a:lnTo>
                <a:lnTo>
                  <a:pt x="572453" y="768382"/>
                </a:lnTo>
                <a:lnTo>
                  <a:pt x="572453" y="737426"/>
                </a:lnTo>
                <a:close/>
                <a:moveTo>
                  <a:pt x="250031" y="1049369"/>
                </a:moveTo>
                <a:lnTo>
                  <a:pt x="76200" y="1049369"/>
                </a:lnTo>
                <a:lnTo>
                  <a:pt x="76200" y="1080326"/>
                </a:lnTo>
                <a:lnTo>
                  <a:pt x="250031" y="1080326"/>
                </a:lnTo>
                <a:lnTo>
                  <a:pt x="250031" y="1049369"/>
                </a:lnTo>
                <a:close/>
                <a:moveTo>
                  <a:pt x="250031" y="951452"/>
                </a:moveTo>
                <a:lnTo>
                  <a:pt x="76200" y="951452"/>
                </a:lnTo>
                <a:lnTo>
                  <a:pt x="76200" y="982409"/>
                </a:lnTo>
                <a:lnTo>
                  <a:pt x="250031" y="982409"/>
                </a:lnTo>
                <a:lnTo>
                  <a:pt x="250031" y="951452"/>
                </a:lnTo>
                <a:close/>
                <a:moveTo>
                  <a:pt x="250031" y="856107"/>
                </a:moveTo>
                <a:lnTo>
                  <a:pt x="76200" y="856107"/>
                </a:lnTo>
                <a:lnTo>
                  <a:pt x="76200" y="887063"/>
                </a:lnTo>
                <a:lnTo>
                  <a:pt x="250031" y="887063"/>
                </a:lnTo>
                <a:lnTo>
                  <a:pt x="250031" y="856107"/>
                </a:lnTo>
                <a:close/>
                <a:moveTo>
                  <a:pt x="250031" y="760571"/>
                </a:moveTo>
                <a:lnTo>
                  <a:pt x="76200" y="760571"/>
                </a:lnTo>
                <a:lnTo>
                  <a:pt x="76200" y="791528"/>
                </a:lnTo>
                <a:lnTo>
                  <a:pt x="250031" y="791528"/>
                </a:lnTo>
                <a:lnTo>
                  <a:pt x="250031" y="760571"/>
                </a:lnTo>
                <a:close/>
                <a:moveTo>
                  <a:pt x="871252" y="1049369"/>
                </a:moveTo>
                <a:lnTo>
                  <a:pt x="697421" y="1049369"/>
                </a:lnTo>
                <a:lnTo>
                  <a:pt x="697421" y="1080326"/>
                </a:lnTo>
                <a:lnTo>
                  <a:pt x="871252" y="1080326"/>
                </a:lnTo>
                <a:lnTo>
                  <a:pt x="871252" y="1049369"/>
                </a:lnTo>
                <a:close/>
                <a:moveTo>
                  <a:pt x="871252" y="951452"/>
                </a:moveTo>
                <a:lnTo>
                  <a:pt x="697421" y="951452"/>
                </a:lnTo>
                <a:lnTo>
                  <a:pt x="697421" y="982409"/>
                </a:lnTo>
                <a:lnTo>
                  <a:pt x="871252" y="982409"/>
                </a:lnTo>
                <a:lnTo>
                  <a:pt x="871252" y="951452"/>
                </a:lnTo>
                <a:close/>
                <a:moveTo>
                  <a:pt x="871252" y="856107"/>
                </a:moveTo>
                <a:lnTo>
                  <a:pt x="697421" y="856107"/>
                </a:lnTo>
                <a:lnTo>
                  <a:pt x="697421" y="887063"/>
                </a:lnTo>
                <a:lnTo>
                  <a:pt x="871252" y="887063"/>
                </a:lnTo>
                <a:lnTo>
                  <a:pt x="871252" y="856107"/>
                </a:lnTo>
                <a:close/>
                <a:moveTo>
                  <a:pt x="871252" y="760571"/>
                </a:moveTo>
                <a:lnTo>
                  <a:pt x="697421" y="760571"/>
                </a:lnTo>
                <a:lnTo>
                  <a:pt x="697421" y="791528"/>
                </a:lnTo>
                <a:lnTo>
                  <a:pt x="871252" y="791528"/>
                </a:lnTo>
                <a:lnTo>
                  <a:pt x="871252" y="760571"/>
                </a:lnTo>
                <a:close/>
                <a:moveTo>
                  <a:pt x="251365" y="1122045"/>
                </a:moveTo>
                <a:lnTo>
                  <a:pt x="30956" y="1122045"/>
                </a:lnTo>
                <a:lnTo>
                  <a:pt x="30956" y="694658"/>
                </a:lnTo>
                <a:lnTo>
                  <a:pt x="251365" y="694658"/>
                </a:lnTo>
                <a:lnTo>
                  <a:pt x="251365" y="663702"/>
                </a:lnTo>
                <a:lnTo>
                  <a:pt x="0" y="663702"/>
                </a:lnTo>
                <a:lnTo>
                  <a:pt x="0" y="1152906"/>
                </a:lnTo>
                <a:lnTo>
                  <a:pt x="251365" y="1152906"/>
                </a:lnTo>
                <a:lnTo>
                  <a:pt x="251365" y="1122045"/>
                </a:lnTo>
                <a:close/>
                <a:moveTo>
                  <a:pt x="758857" y="464153"/>
                </a:moveTo>
                <a:cubicBezTo>
                  <a:pt x="748189" y="430340"/>
                  <a:pt x="723710" y="403479"/>
                  <a:pt x="688181" y="386620"/>
                </a:cubicBezTo>
                <a:lnTo>
                  <a:pt x="674942" y="414623"/>
                </a:lnTo>
                <a:cubicBezTo>
                  <a:pt x="702469" y="427768"/>
                  <a:pt x="721328" y="448151"/>
                  <a:pt x="729425" y="473583"/>
                </a:cubicBezTo>
                <a:cubicBezTo>
                  <a:pt x="737807" y="500063"/>
                  <a:pt x="733806" y="529876"/>
                  <a:pt x="718090" y="557594"/>
                </a:cubicBezTo>
                <a:lnTo>
                  <a:pt x="745046" y="572834"/>
                </a:lnTo>
                <a:cubicBezTo>
                  <a:pt x="764953" y="537496"/>
                  <a:pt x="769906" y="498920"/>
                  <a:pt x="758857" y="464153"/>
                </a:cubicBezTo>
                <a:close/>
                <a:moveTo>
                  <a:pt x="704183" y="527114"/>
                </a:moveTo>
                <a:lnTo>
                  <a:pt x="691134" y="612553"/>
                </a:lnTo>
                <a:lnTo>
                  <a:pt x="771620" y="581120"/>
                </a:lnTo>
                <a:lnTo>
                  <a:pt x="704183" y="527114"/>
                </a:lnTo>
                <a:close/>
                <a:moveTo>
                  <a:pt x="276416" y="591598"/>
                </a:moveTo>
                <a:cubicBezTo>
                  <a:pt x="250698" y="575120"/>
                  <a:pt x="234696" y="552450"/>
                  <a:pt x="229934" y="526161"/>
                </a:cubicBezTo>
                <a:cubicBezTo>
                  <a:pt x="224981" y="498824"/>
                  <a:pt x="232791" y="469773"/>
                  <a:pt x="251936" y="444246"/>
                </a:cubicBezTo>
                <a:lnTo>
                  <a:pt x="227171" y="425672"/>
                </a:lnTo>
                <a:cubicBezTo>
                  <a:pt x="202883" y="458153"/>
                  <a:pt x="193072" y="495776"/>
                  <a:pt x="199549" y="531590"/>
                </a:cubicBezTo>
                <a:cubicBezTo>
                  <a:pt x="205835" y="566547"/>
                  <a:pt x="226695" y="596265"/>
                  <a:pt x="259747" y="617601"/>
                </a:cubicBezTo>
                <a:lnTo>
                  <a:pt x="276416" y="591598"/>
                </a:lnTo>
                <a:close/>
                <a:moveTo>
                  <a:pt x="261747" y="476250"/>
                </a:moveTo>
                <a:lnTo>
                  <a:pt x="285560" y="393192"/>
                </a:lnTo>
                <a:lnTo>
                  <a:pt x="201644" y="414052"/>
                </a:lnTo>
                <a:lnTo>
                  <a:pt x="261747" y="476250"/>
                </a:lnTo>
                <a:close/>
              </a:path>
            </a:pathLst>
          </a:custGeom>
          <a:solidFill>
            <a:schemeClr val="bg1"/>
          </a:solidFill>
          <a:ln w="9525" cap="flat">
            <a:noFill/>
            <a:prstDash val="solid"/>
            <a:miter/>
          </a:ln>
        </p:spPr>
        <p:txBody>
          <a:bodyPr rtlCol="0" anchor="ctr"/>
          <a:lstStyle/>
          <a:p>
            <a:endParaRPr lang="en-US"/>
          </a:p>
        </p:txBody>
      </p:sp>
      <p:sp>
        <p:nvSpPr>
          <p:cNvPr id="103" name="Graphic 116">
            <a:extLst>
              <a:ext uri="{FF2B5EF4-FFF2-40B4-BE49-F238E27FC236}">
                <a16:creationId xmlns:a16="http://schemas.microsoft.com/office/drawing/2014/main" id="{B069E5E0-52A4-F229-79E9-F2AC1A7EDF67}"/>
              </a:ext>
            </a:extLst>
          </p:cNvPr>
          <p:cNvSpPr/>
          <p:nvPr/>
        </p:nvSpPr>
        <p:spPr>
          <a:xfrm>
            <a:off x="778531" y="1861411"/>
            <a:ext cx="501609" cy="560713"/>
          </a:xfrm>
          <a:custGeom>
            <a:avLst/>
            <a:gdLst>
              <a:gd name="connsiteX0" fmla="*/ 1052513 w 1052512"/>
              <a:gd name="connsiteY0" fmla="*/ 1145572 h 1176527"/>
              <a:gd name="connsiteX1" fmla="*/ 1052513 w 1052512"/>
              <a:gd name="connsiteY1" fmla="*/ 1176528 h 1176527"/>
              <a:gd name="connsiteX2" fmla="*/ 0 w 1052512"/>
              <a:gd name="connsiteY2" fmla="*/ 1176528 h 1176527"/>
              <a:gd name="connsiteX3" fmla="*/ 0 w 1052512"/>
              <a:gd name="connsiteY3" fmla="*/ 1145572 h 1176527"/>
              <a:gd name="connsiteX4" fmla="*/ 63056 w 1052512"/>
              <a:gd name="connsiteY4" fmla="*/ 1145572 h 1176527"/>
              <a:gd name="connsiteX5" fmla="*/ 63056 w 1052512"/>
              <a:gd name="connsiteY5" fmla="*/ 0 h 1176527"/>
              <a:gd name="connsiteX6" fmla="*/ 527399 w 1052512"/>
              <a:gd name="connsiteY6" fmla="*/ 0 h 1176527"/>
              <a:gd name="connsiteX7" fmla="*/ 527399 w 1052512"/>
              <a:gd name="connsiteY7" fmla="*/ 433388 h 1176527"/>
              <a:gd name="connsiteX8" fmla="*/ 496443 w 1052512"/>
              <a:gd name="connsiteY8" fmla="*/ 433388 h 1176527"/>
              <a:gd name="connsiteX9" fmla="*/ 496443 w 1052512"/>
              <a:gd name="connsiteY9" fmla="*/ 30956 h 1176527"/>
              <a:gd name="connsiteX10" fmla="*/ 94012 w 1052512"/>
              <a:gd name="connsiteY10" fmla="*/ 30956 h 1176527"/>
              <a:gd name="connsiteX11" fmla="*/ 94012 w 1052512"/>
              <a:gd name="connsiteY11" fmla="*/ 1145572 h 1176527"/>
              <a:gd name="connsiteX12" fmla="*/ 959072 w 1052512"/>
              <a:gd name="connsiteY12" fmla="*/ 1145572 h 1176527"/>
              <a:gd name="connsiteX13" fmla="*/ 959072 w 1052512"/>
              <a:gd name="connsiteY13" fmla="*/ 523589 h 1176527"/>
              <a:gd name="connsiteX14" fmla="*/ 525685 w 1052512"/>
              <a:gd name="connsiteY14" fmla="*/ 523589 h 1176527"/>
              <a:gd name="connsiteX15" fmla="*/ 525685 w 1052512"/>
              <a:gd name="connsiteY15" fmla="*/ 1084993 h 1176527"/>
              <a:gd name="connsiteX16" fmla="*/ 494729 w 1052512"/>
              <a:gd name="connsiteY16" fmla="*/ 1084993 h 1176527"/>
              <a:gd name="connsiteX17" fmla="*/ 494729 w 1052512"/>
              <a:gd name="connsiteY17" fmla="*/ 492633 h 1176527"/>
              <a:gd name="connsiteX18" fmla="*/ 990029 w 1052512"/>
              <a:gd name="connsiteY18" fmla="*/ 492633 h 1176527"/>
              <a:gd name="connsiteX19" fmla="*/ 990029 w 1052512"/>
              <a:gd name="connsiteY19" fmla="*/ 1145572 h 1176527"/>
              <a:gd name="connsiteX20" fmla="*/ 1052513 w 1052512"/>
              <a:gd name="connsiteY20" fmla="*/ 1145572 h 1176527"/>
              <a:gd name="connsiteX21" fmla="*/ 186785 w 1052512"/>
              <a:gd name="connsiteY21" fmla="*/ 91916 h 1176527"/>
              <a:gd name="connsiteX22" fmla="*/ 155829 w 1052512"/>
              <a:gd name="connsiteY22" fmla="*/ 91916 h 1176527"/>
              <a:gd name="connsiteX23" fmla="*/ 155829 w 1052512"/>
              <a:gd name="connsiteY23" fmla="*/ 122873 h 1176527"/>
              <a:gd name="connsiteX24" fmla="*/ 186785 w 1052512"/>
              <a:gd name="connsiteY24" fmla="*/ 122873 h 1176527"/>
              <a:gd name="connsiteX25" fmla="*/ 186785 w 1052512"/>
              <a:gd name="connsiteY25" fmla="*/ 91916 h 1176527"/>
              <a:gd name="connsiteX26" fmla="*/ 310610 w 1052512"/>
              <a:gd name="connsiteY26" fmla="*/ 91916 h 1176527"/>
              <a:gd name="connsiteX27" fmla="*/ 279654 w 1052512"/>
              <a:gd name="connsiteY27" fmla="*/ 91916 h 1176527"/>
              <a:gd name="connsiteX28" fmla="*/ 279654 w 1052512"/>
              <a:gd name="connsiteY28" fmla="*/ 122873 h 1176527"/>
              <a:gd name="connsiteX29" fmla="*/ 310610 w 1052512"/>
              <a:gd name="connsiteY29" fmla="*/ 122873 h 1176527"/>
              <a:gd name="connsiteX30" fmla="*/ 310610 w 1052512"/>
              <a:gd name="connsiteY30" fmla="*/ 91916 h 1176527"/>
              <a:gd name="connsiteX31" fmla="*/ 434435 w 1052512"/>
              <a:gd name="connsiteY31" fmla="*/ 91916 h 1176527"/>
              <a:gd name="connsiteX32" fmla="*/ 403479 w 1052512"/>
              <a:gd name="connsiteY32" fmla="*/ 91916 h 1176527"/>
              <a:gd name="connsiteX33" fmla="*/ 403479 w 1052512"/>
              <a:gd name="connsiteY33" fmla="*/ 122873 h 1176527"/>
              <a:gd name="connsiteX34" fmla="*/ 434435 w 1052512"/>
              <a:gd name="connsiteY34" fmla="*/ 122873 h 1176527"/>
              <a:gd name="connsiteX35" fmla="*/ 434435 w 1052512"/>
              <a:gd name="connsiteY35" fmla="*/ 91916 h 1176527"/>
              <a:gd name="connsiteX36" fmla="*/ 186785 w 1052512"/>
              <a:gd name="connsiteY36" fmla="*/ 215741 h 1176527"/>
              <a:gd name="connsiteX37" fmla="*/ 155829 w 1052512"/>
              <a:gd name="connsiteY37" fmla="*/ 215741 h 1176527"/>
              <a:gd name="connsiteX38" fmla="*/ 155829 w 1052512"/>
              <a:gd name="connsiteY38" fmla="*/ 246698 h 1176527"/>
              <a:gd name="connsiteX39" fmla="*/ 186785 w 1052512"/>
              <a:gd name="connsiteY39" fmla="*/ 246698 h 1176527"/>
              <a:gd name="connsiteX40" fmla="*/ 186785 w 1052512"/>
              <a:gd name="connsiteY40" fmla="*/ 215741 h 1176527"/>
              <a:gd name="connsiteX41" fmla="*/ 310610 w 1052512"/>
              <a:gd name="connsiteY41" fmla="*/ 215741 h 1176527"/>
              <a:gd name="connsiteX42" fmla="*/ 279654 w 1052512"/>
              <a:gd name="connsiteY42" fmla="*/ 215741 h 1176527"/>
              <a:gd name="connsiteX43" fmla="*/ 279654 w 1052512"/>
              <a:gd name="connsiteY43" fmla="*/ 246698 h 1176527"/>
              <a:gd name="connsiteX44" fmla="*/ 310610 w 1052512"/>
              <a:gd name="connsiteY44" fmla="*/ 246698 h 1176527"/>
              <a:gd name="connsiteX45" fmla="*/ 310610 w 1052512"/>
              <a:gd name="connsiteY45" fmla="*/ 215741 h 1176527"/>
              <a:gd name="connsiteX46" fmla="*/ 434435 w 1052512"/>
              <a:gd name="connsiteY46" fmla="*/ 215741 h 1176527"/>
              <a:gd name="connsiteX47" fmla="*/ 403479 w 1052512"/>
              <a:gd name="connsiteY47" fmla="*/ 215741 h 1176527"/>
              <a:gd name="connsiteX48" fmla="*/ 403479 w 1052512"/>
              <a:gd name="connsiteY48" fmla="*/ 246698 h 1176527"/>
              <a:gd name="connsiteX49" fmla="*/ 434435 w 1052512"/>
              <a:gd name="connsiteY49" fmla="*/ 246698 h 1176527"/>
              <a:gd name="connsiteX50" fmla="*/ 434435 w 1052512"/>
              <a:gd name="connsiteY50" fmla="*/ 215741 h 1176527"/>
              <a:gd name="connsiteX51" fmla="*/ 186785 w 1052512"/>
              <a:gd name="connsiteY51" fmla="*/ 339566 h 1176527"/>
              <a:gd name="connsiteX52" fmla="*/ 155829 w 1052512"/>
              <a:gd name="connsiteY52" fmla="*/ 339566 h 1176527"/>
              <a:gd name="connsiteX53" fmla="*/ 155829 w 1052512"/>
              <a:gd name="connsiteY53" fmla="*/ 370523 h 1176527"/>
              <a:gd name="connsiteX54" fmla="*/ 186785 w 1052512"/>
              <a:gd name="connsiteY54" fmla="*/ 370523 h 1176527"/>
              <a:gd name="connsiteX55" fmla="*/ 186785 w 1052512"/>
              <a:gd name="connsiteY55" fmla="*/ 339566 h 1176527"/>
              <a:gd name="connsiteX56" fmla="*/ 310610 w 1052512"/>
              <a:gd name="connsiteY56" fmla="*/ 339566 h 1176527"/>
              <a:gd name="connsiteX57" fmla="*/ 279654 w 1052512"/>
              <a:gd name="connsiteY57" fmla="*/ 339566 h 1176527"/>
              <a:gd name="connsiteX58" fmla="*/ 279654 w 1052512"/>
              <a:gd name="connsiteY58" fmla="*/ 370523 h 1176527"/>
              <a:gd name="connsiteX59" fmla="*/ 310610 w 1052512"/>
              <a:gd name="connsiteY59" fmla="*/ 370523 h 1176527"/>
              <a:gd name="connsiteX60" fmla="*/ 310610 w 1052512"/>
              <a:gd name="connsiteY60" fmla="*/ 339566 h 1176527"/>
              <a:gd name="connsiteX61" fmla="*/ 434435 w 1052512"/>
              <a:gd name="connsiteY61" fmla="*/ 339566 h 1176527"/>
              <a:gd name="connsiteX62" fmla="*/ 403479 w 1052512"/>
              <a:gd name="connsiteY62" fmla="*/ 339566 h 1176527"/>
              <a:gd name="connsiteX63" fmla="*/ 403479 w 1052512"/>
              <a:gd name="connsiteY63" fmla="*/ 370523 h 1176527"/>
              <a:gd name="connsiteX64" fmla="*/ 434435 w 1052512"/>
              <a:gd name="connsiteY64" fmla="*/ 370523 h 1176527"/>
              <a:gd name="connsiteX65" fmla="*/ 434435 w 1052512"/>
              <a:gd name="connsiteY65" fmla="*/ 339566 h 1176527"/>
              <a:gd name="connsiteX66" fmla="*/ 186785 w 1052512"/>
              <a:gd name="connsiteY66" fmla="*/ 463391 h 1176527"/>
              <a:gd name="connsiteX67" fmla="*/ 155829 w 1052512"/>
              <a:gd name="connsiteY67" fmla="*/ 463391 h 1176527"/>
              <a:gd name="connsiteX68" fmla="*/ 155829 w 1052512"/>
              <a:gd name="connsiteY68" fmla="*/ 494348 h 1176527"/>
              <a:gd name="connsiteX69" fmla="*/ 186785 w 1052512"/>
              <a:gd name="connsiteY69" fmla="*/ 494348 h 1176527"/>
              <a:gd name="connsiteX70" fmla="*/ 186785 w 1052512"/>
              <a:gd name="connsiteY70" fmla="*/ 463391 h 1176527"/>
              <a:gd name="connsiteX71" fmla="*/ 310610 w 1052512"/>
              <a:gd name="connsiteY71" fmla="*/ 463391 h 1176527"/>
              <a:gd name="connsiteX72" fmla="*/ 279654 w 1052512"/>
              <a:gd name="connsiteY72" fmla="*/ 463391 h 1176527"/>
              <a:gd name="connsiteX73" fmla="*/ 279654 w 1052512"/>
              <a:gd name="connsiteY73" fmla="*/ 494348 h 1176527"/>
              <a:gd name="connsiteX74" fmla="*/ 310610 w 1052512"/>
              <a:gd name="connsiteY74" fmla="*/ 494348 h 1176527"/>
              <a:gd name="connsiteX75" fmla="*/ 310610 w 1052512"/>
              <a:gd name="connsiteY75" fmla="*/ 463391 h 1176527"/>
              <a:gd name="connsiteX76" fmla="*/ 434435 w 1052512"/>
              <a:gd name="connsiteY76" fmla="*/ 463391 h 1176527"/>
              <a:gd name="connsiteX77" fmla="*/ 403479 w 1052512"/>
              <a:gd name="connsiteY77" fmla="*/ 463391 h 1176527"/>
              <a:gd name="connsiteX78" fmla="*/ 403479 w 1052512"/>
              <a:gd name="connsiteY78" fmla="*/ 494348 h 1176527"/>
              <a:gd name="connsiteX79" fmla="*/ 434435 w 1052512"/>
              <a:gd name="connsiteY79" fmla="*/ 494348 h 1176527"/>
              <a:gd name="connsiteX80" fmla="*/ 434435 w 1052512"/>
              <a:gd name="connsiteY80" fmla="*/ 463391 h 1176527"/>
              <a:gd name="connsiteX81" fmla="*/ 186785 w 1052512"/>
              <a:gd name="connsiteY81" fmla="*/ 587216 h 1176527"/>
              <a:gd name="connsiteX82" fmla="*/ 155829 w 1052512"/>
              <a:gd name="connsiteY82" fmla="*/ 587216 h 1176527"/>
              <a:gd name="connsiteX83" fmla="*/ 155829 w 1052512"/>
              <a:gd name="connsiteY83" fmla="*/ 618173 h 1176527"/>
              <a:gd name="connsiteX84" fmla="*/ 186785 w 1052512"/>
              <a:gd name="connsiteY84" fmla="*/ 618173 h 1176527"/>
              <a:gd name="connsiteX85" fmla="*/ 186785 w 1052512"/>
              <a:gd name="connsiteY85" fmla="*/ 587216 h 1176527"/>
              <a:gd name="connsiteX86" fmla="*/ 310610 w 1052512"/>
              <a:gd name="connsiteY86" fmla="*/ 587216 h 1176527"/>
              <a:gd name="connsiteX87" fmla="*/ 279654 w 1052512"/>
              <a:gd name="connsiteY87" fmla="*/ 587216 h 1176527"/>
              <a:gd name="connsiteX88" fmla="*/ 279654 w 1052512"/>
              <a:gd name="connsiteY88" fmla="*/ 618173 h 1176527"/>
              <a:gd name="connsiteX89" fmla="*/ 310610 w 1052512"/>
              <a:gd name="connsiteY89" fmla="*/ 618173 h 1176527"/>
              <a:gd name="connsiteX90" fmla="*/ 310610 w 1052512"/>
              <a:gd name="connsiteY90" fmla="*/ 587216 h 1176527"/>
              <a:gd name="connsiteX91" fmla="*/ 434435 w 1052512"/>
              <a:gd name="connsiteY91" fmla="*/ 587216 h 1176527"/>
              <a:gd name="connsiteX92" fmla="*/ 403479 w 1052512"/>
              <a:gd name="connsiteY92" fmla="*/ 587216 h 1176527"/>
              <a:gd name="connsiteX93" fmla="*/ 403479 w 1052512"/>
              <a:gd name="connsiteY93" fmla="*/ 618173 h 1176527"/>
              <a:gd name="connsiteX94" fmla="*/ 434435 w 1052512"/>
              <a:gd name="connsiteY94" fmla="*/ 618173 h 1176527"/>
              <a:gd name="connsiteX95" fmla="*/ 434435 w 1052512"/>
              <a:gd name="connsiteY95" fmla="*/ 587216 h 1176527"/>
              <a:gd name="connsiteX96" fmla="*/ 186785 w 1052512"/>
              <a:gd name="connsiteY96" fmla="*/ 711041 h 1176527"/>
              <a:gd name="connsiteX97" fmla="*/ 155829 w 1052512"/>
              <a:gd name="connsiteY97" fmla="*/ 711041 h 1176527"/>
              <a:gd name="connsiteX98" fmla="*/ 155829 w 1052512"/>
              <a:gd name="connsiteY98" fmla="*/ 741998 h 1176527"/>
              <a:gd name="connsiteX99" fmla="*/ 186785 w 1052512"/>
              <a:gd name="connsiteY99" fmla="*/ 741998 h 1176527"/>
              <a:gd name="connsiteX100" fmla="*/ 186785 w 1052512"/>
              <a:gd name="connsiteY100" fmla="*/ 711041 h 1176527"/>
              <a:gd name="connsiteX101" fmla="*/ 310610 w 1052512"/>
              <a:gd name="connsiteY101" fmla="*/ 711041 h 1176527"/>
              <a:gd name="connsiteX102" fmla="*/ 279654 w 1052512"/>
              <a:gd name="connsiteY102" fmla="*/ 711041 h 1176527"/>
              <a:gd name="connsiteX103" fmla="*/ 279654 w 1052512"/>
              <a:gd name="connsiteY103" fmla="*/ 741998 h 1176527"/>
              <a:gd name="connsiteX104" fmla="*/ 310610 w 1052512"/>
              <a:gd name="connsiteY104" fmla="*/ 741998 h 1176527"/>
              <a:gd name="connsiteX105" fmla="*/ 310610 w 1052512"/>
              <a:gd name="connsiteY105" fmla="*/ 711041 h 1176527"/>
              <a:gd name="connsiteX106" fmla="*/ 434435 w 1052512"/>
              <a:gd name="connsiteY106" fmla="*/ 711041 h 1176527"/>
              <a:gd name="connsiteX107" fmla="*/ 403479 w 1052512"/>
              <a:gd name="connsiteY107" fmla="*/ 711041 h 1176527"/>
              <a:gd name="connsiteX108" fmla="*/ 403479 w 1052512"/>
              <a:gd name="connsiteY108" fmla="*/ 741998 h 1176527"/>
              <a:gd name="connsiteX109" fmla="*/ 434435 w 1052512"/>
              <a:gd name="connsiteY109" fmla="*/ 741998 h 1176527"/>
              <a:gd name="connsiteX110" fmla="*/ 434435 w 1052512"/>
              <a:gd name="connsiteY110" fmla="*/ 711041 h 1176527"/>
              <a:gd name="connsiteX111" fmla="*/ 186785 w 1052512"/>
              <a:gd name="connsiteY111" fmla="*/ 834866 h 1176527"/>
              <a:gd name="connsiteX112" fmla="*/ 155829 w 1052512"/>
              <a:gd name="connsiteY112" fmla="*/ 834866 h 1176527"/>
              <a:gd name="connsiteX113" fmla="*/ 155829 w 1052512"/>
              <a:gd name="connsiteY113" fmla="*/ 865823 h 1176527"/>
              <a:gd name="connsiteX114" fmla="*/ 186785 w 1052512"/>
              <a:gd name="connsiteY114" fmla="*/ 865823 h 1176527"/>
              <a:gd name="connsiteX115" fmla="*/ 186785 w 1052512"/>
              <a:gd name="connsiteY115" fmla="*/ 834866 h 1176527"/>
              <a:gd name="connsiteX116" fmla="*/ 310610 w 1052512"/>
              <a:gd name="connsiteY116" fmla="*/ 834866 h 1176527"/>
              <a:gd name="connsiteX117" fmla="*/ 279654 w 1052512"/>
              <a:gd name="connsiteY117" fmla="*/ 834866 h 1176527"/>
              <a:gd name="connsiteX118" fmla="*/ 279654 w 1052512"/>
              <a:gd name="connsiteY118" fmla="*/ 865823 h 1176527"/>
              <a:gd name="connsiteX119" fmla="*/ 310610 w 1052512"/>
              <a:gd name="connsiteY119" fmla="*/ 865823 h 1176527"/>
              <a:gd name="connsiteX120" fmla="*/ 310610 w 1052512"/>
              <a:gd name="connsiteY120" fmla="*/ 834866 h 1176527"/>
              <a:gd name="connsiteX121" fmla="*/ 434435 w 1052512"/>
              <a:gd name="connsiteY121" fmla="*/ 834866 h 1176527"/>
              <a:gd name="connsiteX122" fmla="*/ 403479 w 1052512"/>
              <a:gd name="connsiteY122" fmla="*/ 834866 h 1176527"/>
              <a:gd name="connsiteX123" fmla="*/ 403479 w 1052512"/>
              <a:gd name="connsiteY123" fmla="*/ 865823 h 1176527"/>
              <a:gd name="connsiteX124" fmla="*/ 434435 w 1052512"/>
              <a:gd name="connsiteY124" fmla="*/ 865823 h 1176527"/>
              <a:gd name="connsiteX125" fmla="*/ 434435 w 1052512"/>
              <a:gd name="connsiteY125" fmla="*/ 834866 h 1176527"/>
              <a:gd name="connsiteX126" fmla="*/ 155829 w 1052512"/>
              <a:gd name="connsiteY126" fmla="*/ 989648 h 1176527"/>
              <a:gd name="connsiteX127" fmla="*/ 186785 w 1052512"/>
              <a:gd name="connsiteY127" fmla="*/ 989648 h 1176527"/>
              <a:gd name="connsiteX128" fmla="*/ 186785 w 1052512"/>
              <a:gd name="connsiteY128" fmla="*/ 958691 h 1176527"/>
              <a:gd name="connsiteX129" fmla="*/ 155829 w 1052512"/>
              <a:gd name="connsiteY129" fmla="*/ 958691 h 1176527"/>
              <a:gd name="connsiteX130" fmla="*/ 155829 w 1052512"/>
              <a:gd name="connsiteY130" fmla="*/ 989648 h 1176527"/>
              <a:gd name="connsiteX131" fmla="*/ 279654 w 1052512"/>
              <a:gd name="connsiteY131" fmla="*/ 989648 h 1176527"/>
              <a:gd name="connsiteX132" fmla="*/ 310610 w 1052512"/>
              <a:gd name="connsiteY132" fmla="*/ 989648 h 1176527"/>
              <a:gd name="connsiteX133" fmla="*/ 310610 w 1052512"/>
              <a:gd name="connsiteY133" fmla="*/ 958691 h 1176527"/>
              <a:gd name="connsiteX134" fmla="*/ 279654 w 1052512"/>
              <a:gd name="connsiteY134" fmla="*/ 958691 h 1176527"/>
              <a:gd name="connsiteX135" fmla="*/ 279654 w 1052512"/>
              <a:gd name="connsiteY135" fmla="*/ 989648 h 1176527"/>
              <a:gd name="connsiteX136" fmla="*/ 403479 w 1052512"/>
              <a:gd name="connsiteY136" fmla="*/ 989648 h 1176527"/>
              <a:gd name="connsiteX137" fmla="*/ 434435 w 1052512"/>
              <a:gd name="connsiteY137" fmla="*/ 989648 h 1176527"/>
              <a:gd name="connsiteX138" fmla="*/ 434435 w 1052512"/>
              <a:gd name="connsiteY138" fmla="*/ 958691 h 1176527"/>
              <a:gd name="connsiteX139" fmla="*/ 403479 w 1052512"/>
              <a:gd name="connsiteY139" fmla="*/ 958691 h 1176527"/>
              <a:gd name="connsiteX140" fmla="*/ 403479 w 1052512"/>
              <a:gd name="connsiteY140" fmla="*/ 989648 h 1176527"/>
              <a:gd name="connsiteX141" fmla="*/ 867823 w 1052512"/>
              <a:gd name="connsiteY141" fmla="*/ 609886 h 1176527"/>
              <a:gd name="connsiteX142" fmla="*/ 620173 w 1052512"/>
              <a:gd name="connsiteY142" fmla="*/ 609886 h 1176527"/>
              <a:gd name="connsiteX143" fmla="*/ 620173 w 1052512"/>
              <a:gd name="connsiteY143" fmla="*/ 640842 h 1176527"/>
              <a:gd name="connsiteX144" fmla="*/ 867823 w 1052512"/>
              <a:gd name="connsiteY144" fmla="*/ 640842 h 1176527"/>
              <a:gd name="connsiteX145" fmla="*/ 867823 w 1052512"/>
              <a:gd name="connsiteY145" fmla="*/ 609886 h 1176527"/>
              <a:gd name="connsiteX146" fmla="*/ 620173 w 1052512"/>
              <a:gd name="connsiteY146" fmla="*/ 764667 h 1176527"/>
              <a:gd name="connsiteX147" fmla="*/ 867823 w 1052512"/>
              <a:gd name="connsiteY147" fmla="*/ 764667 h 1176527"/>
              <a:gd name="connsiteX148" fmla="*/ 867823 w 1052512"/>
              <a:gd name="connsiteY148" fmla="*/ 733711 h 1176527"/>
              <a:gd name="connsiteX149" fmla="*/ 620173 w 1052512"/>
              <a:gd name="connsiteY149" fmla="*/ 733711 h 1176527"/>
              <a:gd name="connsiteX150" fmla="*/ 620173 w 1052512"/>
              <a:gd name="connsiteY150" fmla="*/ 764667 h 1176527"/>
              <a:gd name="connsiteX151" fmla="*/ 620173 w 1052512"/>
              <a:gd name="connsiteY151" fmla="*/ 888492 h 1176527"/>
              <a:gd name="connsiteX152" fmla="*/ 867823 w 1052512"/>
              <a:gd name="connsiteY152" fmla="*/ 888492 h 1176527"/>
              <a:gd name="connsiteX153" fmla="*/ 867823 w 1052512"/>
              <a:gd name="connsiteY153" fmla="*/ 857536 h 1176527"/>
              <a:gd name="connsiteX154" fmla="*/ 620173 w 1052512"/>
              <a:gd name="connsiteY154" fmla="*/ 857536 h 1176527"/>
              <a:gd name="connsiteX155" fmla="*/ 620173 w 1052512"/>
              <a:gd name="connsiteY155" fmla="*/ 888492 h 1176527"/>
              <a:gd name="connsiteX156" fmla="*/ 620173 w 1052512"/>
              <a:gd name="connsiteY156" fmla="*/ 1012317 h 1176527"/>
              <a:gd name="connsiteX157" fmla="*/ 867823 w 1052512"/>
              <a:gd name="connsiteY157" fmla="*/ 1012317 h 1176527"/>
              <a:gd name="connsiteX158" fmla="*/ 867823 w 1052512"/>
              <a:gd name="connsiteY158" fmla="*/ 981361 h 1176527"/>
              <a:gd name="connsiteX159" fmla="*/ 620173 w 1052512"/>
              <a:gd name="connsiteY159" fmla="*/ 981361 h 1176527"/>
              <a:gd name="connsiteX160" fmla="*/ 620173 w 1052512"/>
              <a:gd name="connsiteY160" fmla="*/ 1012317 h 117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052512" h="1176527">
                <a:moveTo>
                  <a:pt x="1052513" y="1145572"/>
                </a:moveTo>
                <a:lnTo>
                  <a:pt x="1052513" y="1176528"/>
                </a:lnTo>
                <a:lnTo>
                  <a:pt x="0" y="1176528"/>
                </a:lnTo>
                <a:lnTo>
                  <a:pt x="0" y="1145572"/>
                </a:lnTo>
                <a:lnTo>
                  <a:pt x="63056" y="1145572"/>
                </a:lnTo>
                <a:lnTo>
                  <a:pt x="63056" y="0"/>
                </a:lnTo>
                <a:lnTo>
                  <a:pt x="527399" y="0"/>
                </a:lnTo>
                <a:lnTo>
                  <a:pt x="527399" y="433388"/>
                </a:lnTo>
                <a:lnTo>
                  <a:pt x="496443" y="433388"/>
                </a:lnTo>
                <a:lnTo>
                  <a:pt x="496443" y="30956"/>
                </a:lnTo>
                <a:lnTo>
                  <a:pt x="94012" y="30956"/>
                </a:lnTo>
                <a:lnTo>
                  <a:pt x="94012" y="1145572"/>
                </a:lnTo>
                <a:lnTo>
                  <a:pt x="959072" y="1145572"/>
                </a:lnTo>
                <a:lnTo>
                  <a:pt x="959072" y="523589"/>
                </a:lnTo>
                <a:lnTo>
                  <a:pt x="525685" y="523589"/>
                </a:lnTo>
                <a:lnTo>
                  <a:pt x="525685" y="1084993"/>
                </a:lnTo>
                <a:lnTo>
                  <a:pt x="494729" y="1084993"/>
                </a:lnTo>
                <a:lnTo>
                  <a:pt x="494729" y="492633"/>
                </a:lnTo>
                <a:lnTo>
                  <a:pt x="990029" y="492633"/>
                </a:lnTo>
                <a:lnTo>
                  <a:pt x="990029" y="1145572"/>
                </a:lnTo>
                <a:lnTo>
                  <a:pt x="1052513" y="1145572"/>
                </a:lnTo>
                <a:close/>
                <a:moveTo>
                  <a:pt x="186785" y="91916"/>
                </a:moveTo>
                <a:lnTo>
                  <a:pt x="155829" y="91916"/>
                </a:lnTo>
                <a:lnTo>
                  <a:pt x="155829" y="122873"/>
                </a:lnTo>
                <a:lnTo>
                  <a:pt x="186785" y="122873"/>
                </a:lnTo>
                <a:lnTo>
                  <a:pt x="186785" y="91916"/>
                </a:lnTo>
                <a:close/>
                <a:moveTo>
                  <a:pt x="310610" y="91916"/>
                </a:moveTo>
                <a:lnTo>
                  <a:pt x="279654" y="91916"/>
                </a:lnTo>
                <a:lnTo>
                  <a:pt x="279654" y="122873"/>
                </a:lnTo>
                <a:lnTo>
                  <a:pt x="310610" y="122873"/>
                </a:lnTo>
                <a:lnTo>
                  <a:pt x="310610" y="91916"/>
                </a:lnTo>
                <a:close/>
                <a:moveTo>
                  <a:pt x="434435" y="91916"/>
                </a:moveTo>
                <a:lnTo>
                  <a:pt x="403479" y="91916"/>
                </a:lnTo>
                <a:lnTo>
                  <a:pt x="403479" y="122873"/>
                </a:lnTo>
                <a:lnTo>
                  <a:pt x="434435" y="122873"/>
                </a:lnTo>
                <a:lnTo>
                  <a:pt x="434435" y="91916"/>
                </a:lnTo>
                <a:close/>
                <a:moveTo>
                  <a:pt x="186785" y="215741"/>
                </a:moveTo>
                <a:lnTo>
                  <a:pt x="155829" y="215741"/>
                </a:lnTo>
                <a:lnTo>
                  <a:pt x="155829" y="246698"/>
                </a:lnTo>
                <a:lnTo>
                  <a:pt x="186785" y="246698"/>
                </a:lnTo>
                <a:lnTo>
                  <a:pt x="186785" y="215741"/>
                </a:lnTo>
                <a:close/>
                <a:moveTo>
                  <a:pt x="310610" y="215741"/>
                </a:moveTo>
                <a:lnTo>
                  <a:pt x="279654" y="215741"/>
                </a:lnTo>
                <a:lnTo>
                  <a:pt x="279654" y="246698"/>
                </a:lnTo>
                <a:lnTo>
                  <a:pt x="310610" y="246698"/>
                </a:lnTo>
                <a:lnTo>
                  <a:pt x="310610" y="215741"/>
                </a:lnTo>
                <a:close/>
                <a:moveTo>
                  <a:pt x="434435" y="215741"/>
                </a:moveTo>
                <a:lnTo>
                  <a:pt x="403479" y="215741"/>
                </a:lnTo>
                <a:lnTo>
                  <a:pt x="403479" y="246698"/>
                </a:lnTo>
                <a:lnTo>
                  <a:pt x="434435" y="246698"/>
                </a:lnTo>
                <a:lnTo>
                  <a:pt x="434435" y="215741"/>
                </a:lnTo>
                <a:close/>
                <a:moveTo>
                  <a:pt x="186785" y="339566"/>
                </a:moveTo>
                <a:lnTo>
                  <a:pt x="155829" y="339566"/>
                </a:lnTo>
                <a:lnTo>
                  <a:pt x="155829" y="370523"/>
                </a:lnTo>
                <a:lnTo>
                  <a:pt x="186785" y="370523"/>
                </a:lnTo>
                <a:lnTo>
                  <a:pt x="186785" y="339566"/>
                </a:lnTo>
                <a:close/>
                <a:moveTo>
                  <a:pt x="310610" y="339566"/>
                </a:moveTo>
                <a:lnTo>
                  <a:pt x="279654" y="339566"/>
                </a:lnTo>
                <a:lnTo>
                  <a:pt x="279654" y="370523"/>
                </a:lnTo>
                <a:lnTo>
                  <a:pt x="310610" y="370523"/>
                </a:lnTo>
                <a:lnTo>
                  <a:pt x="310610" y="339566"/>
                </a:lnTo>
                <a:close/>
                <a:moveTo>
                  <a:pt x="434435" y="339566"/>
                </a:moveTo>
                <a:lnTo>
                  <a:pt x="403479" y="339566"/>
                </a:lnTo>
                <a:lnTo>
                  <a:pt x="403479" y="370523"/>
                </a:lnTo>
                <a:lnTo>
                  <a:pt x="434435" y="370523"/>
                </a:lnTo>
                <a:lnTo>
                  <a:pt x="434435" y="339566"/>
                </a:lnTo>
                <a:close/>
                <a:moveTo>
                  <a:pt x="186785" y="463391"/>
                </a:moveTo>
                <a:lnTo>
                  <a:pt x="155829" y="463391"/>
                </a:lnTo>
                <a:lnTo>
                  <a:pt x="155829" y="494348"/>
                </a:lnTo>
                <a:lnTo>
                  <a:pt x="186785" y="494348"/>
                </a:lnTo>
                <a:lnTo>
                  <a:pt x="186785" y="463391"/>
                </a:lnTo>
                <a:close/>
                <a:moveTo>
                  <a:pt x="310610" y="463391"/>
                </a:moveTo>
                <a:lnTo>
                  <a:pt x="279654" y="463391"/>
                </a:lnTo>
                <a:lnTo>
                  <a:pt x="279654" y="494348"/>
                </a:lnTo>
                <a:lnTo>
                  <a:pt x="310610" y="494348"/>
                </a:lnTo>
                <a:lnTo>
                  <a:pt x="310610" y="463391"/>
                </a:lnTo>
                <a:close/>
                <a:moveTo>
                  <a:pt x="434435" y="463391"/>
                </a:moveTo>
                <a:lnTo>
                  <a:pt x="403479" y="463391"/>
                </a:lnTo>
                <a:lnTo>
                  <a:pt x="403479" y="494348"/>
                </a:lnTo>
                <a:lnTo>
                  <a:pt x="434435" y="494348"/>
                </a:lnTo>
                <a:lnTo>
                  <a:pt x="434435" y="463391"/>
                </a:lnTo>
                <a:close/>
                <a:moveTo>
                  <a:pt x="186785" y="587216"/>
                </a:moveTo>
                <a:lnTo>
                  <a:pt x="155829" y="587216"/>
                </a:lnTo>
                <a:lnTo>
                  <a:pt x="155829" y="618173"/>
                </a:lnTo>
                <a:lnTo>
                  <a:pt x="186785" y="618173"/>
                </a:lnTo>
                <a:lnTo>
                  <a:pt x="186785" y="587216"/>
                </a:lnTo>
                <a:close/>
                <a:moveTo>
                  <a:pt x="310610" y="587216"/>
                </a:moveTo>
                <a:lnTo>
                  <a:pt x="279654" y="587216"/>
                </a:lnTo>
                <a:lnTo>
                  <a:pt x="279654" y="618173"/>
                </a:lnTo>
                <a:lnTo>
                  <a:pt x="310610" y="618173"/>
                </a:lnTo>
                <a:lnTo>
                  <a:pt x="310610" y="587216"/>
                </a:lnTo>
                <a:close/>
                <a:moveTo>
                  <a:pt x="434435" y="587216"/>
                </a:moveTo>
                <a:lnTo>
                  <a:pt x="403479" y="587216"/>
                </a:lnTo>
                <a:lnTo>
                  <a:pt x="403479" y="618173"/>
                </a:lnTo>
                <a:lnTo>
                  <a:pt x="434435" y="618173"/>
                </a:lnTo>
                <a:lnTo>
                  <a:pt x="434435" y="587216"/>
                </a:lnTo>
                <a:close/>
                <a:moveTo>
                  <a:pt x="186785" y="711041"/>
                </a:moveTo>
                <a:lnTo>
                  <a:pt x="155829" y="711041"/>
                </a:lnTo>
                <a:lnTo>
                  <a:pt x="155829" y="741998"/>
                </a:lnTo>
                <a:lnTo>
                  <a:pt x="186785" y="741998"/>
                </a:lnTo>
                <a:lnTo>
                  <a:pt x="186785" y="711041"/>
                </a:lnTo>
                <a:close/>
                <a:moveTo>
                  <a:pt x="310610" y="711041"/>
                </a:moveTo>
                <a:lnTo>
                  <a:pt x="279654" y="711041"/>
                </a:lnTo>
                <a:lnTo>
                  <a:pt x="279654" y="741998"/>
                </a:lnTo>
                <a:lnTo>
                  <a:pt x="310610" y="741998"/>
                </a:lnTo>
                <a:lnTo>
                  <a:pt x="310610" y="711041"/>
                </a:lnTo>
                <a:close/>
                <a:moveTo>
                  <a:pt x="434435" y="711041"/>
                </a:moveTo>
                <a:lnTo>
                  <a:pt x="403479" y="711041"/>
                </a:lnTo>
                <a:lnTo>
                  <a:pt x="403479" y="741998"/>
                </a:lnTo>
                <a:lnTo>
                  <a:pt x="434435" y="741998"/>
                </a:lnTo>
                <a:lnTo>
                  <a:pt x="434435" y="711041"/>
                </a:lnTo>
                <a:close/>
                <a:moveTo>
                  <a:pt x="186785" y="834866"/>
                </a:moveTo>
                <a:lnTo>
                  <a:pt x="155829" y="834866"/>
                </a:lnTo>
                <a:lnTo>
                  <a:pt x="155829" y="865823"/>
                </a:lnTo>
                <a:lnTo>
                  <a:pt x="186785" y="865823"/>
                </a:lnTo>
                <a:lnTo>
                  <a:pt x="186785" y="834866"/>
                </a:lnTo>
                <a:close/>
                <a:moveTo>
                  <a:pt x="310610" y="834866"/>
                </a:moveTo>
                <a:lnTo>
                  <a:pt x="279654" y="834866"/>
                </a:lnTo>
                <a:lnTo>
                  <a:pt x="279654" y="865823"/>
                </a:lnTo>
                <a:lnTo>
                  <a:pt x="310610" y="865823"/>
                </a:lnTo>
                <a:lnTo>
                  <a:pt x="310610" y="834866"/>
                </a:lnTo>
                <a:close/>
                <a:moveTo>
                  <a:pt x="434435" y="834866"/>
                </a:moveTo>
                <a:lnTo>
                  <a:pt x="403479" y="834866"/>
                </a:lnTo>
                <a:lnTo>
                  <a:pt x="403479" y="865823"/>
                </a:lnTo>
                <a:lnTo>
                  <a:pt x="434435" y="865823"/>
                </a:lnTo>
                <a:lnTo>
                  <a:pt x="434435" y="834866"/>
                </a:lnTo>
                <a:close/>
                <a:moveTo>
                  <a:pt x="155829" y="989648"/>
                </a:moveTo>
                <a:lnTo>
                  <a:pt x="186785" y="989648"/>
                </a:lnTo>
                <a:lnTo>
                  <a:pt x="186785" y="958691"/>
                </a:lnTo>
                <a:lnTo>
                  <a:pt x="155829" y="958691"/>
                </a:lnTo>
                <a:lnTo>
                  <a:pt x="155829" y="989648"/>
                </a:lnTo>
                <a:close/>
                <a:moveTo>
                  <a:pt x="279654" y="989648"/>
                </a:moveTo>
                <a:lnTo>
                  <a:pt x="310610" y="989648"/>
                </a:lnTo>
                <a:lnTo>
                  <a:pt x="310610" y="958691"/>
                </a:lnTo>
                <a:lnTo>
                  <a:pt x="279654" y="958691"/>
                </a:lnTo>
                <a:lnTo>
                  <a:pt x="279654" y="989648"/>
                </a:lnTo>
                <a:close/>
                <a:moveTo>
                  <a:pt x="403479" y="989648"/>
                </a:moveTo>
                <a:lnTo>
                  <a:pt x="434435" y="989648"/>
                </a:lnTo>
                <a:lnTo>
                  <a:pt x="434435" y="958691"/>
                </a:lnTo>
                <a:lnTo>
                  <a:pt x="403479" y="958691"/>
                </a:lnTo>
                <a:lnTo>
                  <a:pt x="403479" y="989648"/>
                </a:lnTo>
                <a:close/>
                <a:moveTo>
                  <a:pt x="867823" y="609886"/>
                </a:moveTo>
                <a:lnTo>
                  <a:pt x="620173" y="609886"/>
                </a:lnTo>
                <a:lnTo>
                  <a:pt x="620173" y="640842"/>
                </a:lnTo>
                <a:lnTo>
                  <a:pt x="867823" y="640842"/>
                </a:lnTo>
                <a:lnTo>
                  <a:pt x="867823" y="609886"/>
                </a:lnTo>
                <a:close/>
                <a:moveTo>
                  <a:pt x="620173" y="764667"/>
                </a:moveTo>
                <a:lnTo>
                  <a:pt x="867823" y="764667"/>
                </a:lnTo>
                <a:lnTo>
                  <a:pt x="867823" y="733711"/>
                </a:lnTo>
                <a:lnTo>
                  <a:pt x="620173" y="733711"/>
                </a:lnTo>
                <a:lnTo>
                  <a:pt x="620173" y="764667"/>
                </a:lnTo>
                <a:close/>
                <a:moveTo>
                  <a:pt x="620173" y="888492"/>
                </a:moveTo>
                <a:lnTo>
                  <a:pt x="867823" y="888492"/>
                </a:lnTo>
                <a:lnTo>
                  <a:pt x="867823" y="857536"/>
                </a:lnTo>
                <a:lnTo>
                  <a:pt x="620173" y="857536"/>
                </a:lnTo>
                <a:lnTo>
                  <a:pt x="620173" y="888492"/>
                </a:lnTo>
                <a:close/>
                <a:moveTo>
                  <a:pt x="620173" y="1012317"/>
                </a:moveTo>
                <a:lnTo>
                  <a:pt x="867823" y="1012317"/>
                </a:lnTo>
                <a:lnTo>
                  <a:pt x="867823" y="981361"/>
                </a:lnTo>
                <a:lnTo>
                  <a:pt x="620173" y="981361"/>
                </a:lnTo>
                <a:lnTo>
                  <a:pt x="620173" y="1012317"/>
                </a:lnTo>
                <a:close/>
              </a:path>
            </a:pathLst>
          </a:custGeom>
          <a:solidFill>
            <a:schemeClr val="bg1"/>
          </a:solidFill>
          <a:ln w="9525" cap="flat">
            <a:noFill/>
            <a:prstDash val="solid"/>
            <a:miter/>
          </a:ln>
        </p:spPr>
        <p:txBody>
          <a:bodyPr rtlCol="0" anchor="ctr"/>
          <a:lstStyle/>
          <a:p>
            <a:endParaRPr lang="en-US"/>
          </a:p>
        </p:txBody>
      </p:sp>
      <p:pic>
        <p:nvPicPr>
          <p:cNvPr id="109" name="Graphic 108">
            <a:extLst>
              <a:ext uri="{FF2B5EF4-FFF2-40B4-BE49-F238E27FC236}">
                <a16:creationId xmlns:a16="http://schemas.microsoft.com/office/drawing/2014/main" id="{31694D6B-79B3-F442-060C-C9BCA21D053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54411" y="4792965"/>
            <a:ext cx="489090" cy="489090"/>
          </a:xfrm>
          <a:prstGeom prst="rect">
            <a:avLst/>
          </a:prstGeom>
        </p:spPr>
      </p:pic>
      <p:sp>
        <p:nvSpPr>
          <p:cNvPr id="111" name="Rectangle 110">
            <a:extLst>
              <a:ext uri="{FF2B5EF4-FFF2-40B4-BE49-F238E27FC236}">
                <a16:creationId xmlns:a16="http://schemas.microsoft.com/office/drawing/2014/main" id="{C71E3C8B-8FCA-FE87-2AF9-01AEC8E2B2A2}"/>
              </a:ext>
            </a:extLst>
          </p:cNvPr>
          <p:cNvSpPr/>
          <p:nvPr/>
        </p:nvSpPr>
        <p:spPr>
          <a:xfrm>
            <a:off x="3279924" y="4810092"/>
            <a:ext cx="758541" cy="461665"/>
          </a:xfrm>
          <a:prstGeom prst="rect">
            <a:avLst/>
          </a:prstGeom>
        </p:spPr>
        <p:txBody>
          <a:bodyPr wrap="none" anchor="ctr">
            <a:spAutoFit/>
          </a:bodyPr>
          <a:lstStyle/>
          <a:p>
            <a:pPr algn="ctr"/>
            <a:r>
              <a:rPr lang="en-US" sz="1200" dirty="0">
                <a:solidFill>
                  <a:schemeClr val="tx2"/>
                </a:solidFill>
              </a:rPr>
              <a:t>Storage</a:t>
            </a:r>
            <a:br>
              <a:rPr lang="en-US" sz="1200" dirty="0">
                <a:solidFill>
                  <a:schemeClr val="tx2"/>
                </a:solidFill>
              </a:rPr>
            </a:br>
            <a:r>
              <a:rPr lang="en-US" sz="1200" dirty="0">
                <a:solidFill>
                  <a:schemeClr val="tx2"/>
                </a:solidFill>
              </a:rPr>
              <a:t>array</a:t>
            </a:r>
          </a:p>
        </p:txBody>
      </p:sp>
      <p:pic>
        <p:nvPicPr>
          <p:cNvPr id="112" name="Graphic 111">
            <a:extLst>
              <a:ext uri="{FF2B5EF4-FFF2-40B4-BE49-F238E27FC236}">
                <a16:creationId xmlns:a16="http://schemas.microsoft.com/office/drawing/2014/main" id="{08C8C926-EA99-69A9-3431-B17DDD1BEC6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92127" y="4893940"/>
            <a:ext cx="244321" cy="287140"/>
          </a:xfrm>
          <a:prstGeom prst="rect">
            <a:avLst/>
          </a:prstGeom>
        </p:spPr>
      </p:pic>
      <p:sp>
        <p:nvSpPr>
          <p:cNvPr id="6" name="Rectangle 5">
            <a:extLst>
              <a:ext uri="{FF2B5EF4-FFF2-40B4-BE49-F238E27FC236}">
                <a16:creationId xmlns:a16="http://schemas.microsoft.com/office/drawing/2014/main" id="{527EA005-B8AA-50AD-4C38-67CA6B6F921C}"/>
              </a:ext>
            </a:extLst>
          </p:cNvPr>
          <p:cNvSpPr/>
          <p:nvPr/>
        </p:nvSpPr>
        <p:spPr>
          <a:xfrm>
            <a:off x="1645729" y="1657968"/>
            <a:ext cx="3097774" cy="369204"/>
          </a:xfrm>
          <a:prstGeom prst="rect">
            <a:avLst/>
          </a:prstGeom>
        </p:spPr>
        <p:txBody>
          <a:bodyPr wrap="square" lIns="0" tIns="0" rIns="0" bIns="0">
            <a:noAutofit/>
          </a:bodyPr>
          <a:lstStyle/>
          <a:p>
            <a:pPr algn="ctr"/>
            <a:r>
              <a:rPr lang="en-US" sz="2400" dirty="0">
                <a:solidFill>
                  <a:schemeClr val="bg1"/>
                </a:solidFill>
                <a:latin typeface="Arial" panose="020B0604020202020204" pitchFamily="34" charset="0"/>
              </a:rPr>
              <a:t>Legacy Three-Tier</a:t>
            </a:r>
          </a:p>
        </p:txBody>
      </p:sp>
      <p:sp>
        <p:nvSpPr>
          <p:cNvPr id="24" name="Rectangle 23">
            <a:extLst>
              <a:ext uri="{FF2B5EF4-FFF2-40B4-BE49-F238E27FC236}">
                <a16:creationId xmlns:a16="http://schemas.microsoft.com/office/drawing/2014/main" id="{67EDA6DB-EA0C-6907-5DB3-F364435C3EB6}"/>
              </a:ext>
            </a:extLst>
          </p:cNvPr>
          <p:cNvSpPr/>
          <p:nvPr/>
        </p:nvSpPr>
        <p:spPr>
          <a:xfrm>
            <a:off x="7478124" y="1657968"/>
            <a:ext cx="3018862" cy="369204"/>
          </a:xfrm>
          <a:prstGeom prst="rect">
            <a:avLst/>
          </a:prstGeom>
        </p:spPr>
        <p:txBody>
          <a:bodyPr wrap="square" lIns="0" tIns="0" rIns="0" bIns="0">
            <a:noAutofit/>
          </a:bodyPr>
          <a:lstStyle/>
          <a:p>
            <a:pPr algn="ctr"/>
            <a:r>
              <a:rPr lang="en-US" sz="2400" dirty="0">
                <a:solidFill>
                  <a:schemeClr val="bg1"/>
                </a:solidFill>
                <a:latin typeface="Arial" panose="020B0604020202020204" pitchFamily="34" charset="0"/>
              </a:rPr>
              <a:t>Hyperconverged</a:t>
            </a:r>
          </a:p>
        </p:txBody>
      </p:sp>
      <p:sp>
        <p:nvSpPr>
          <p:cNvPr id="137" name="TextBox 136">
            <a:extLst>
              <a:ext uri="{FF2B5EF4-FFF2-40B4-BE49-F238E27FC236}">
                <a16:creationId xmlns:a16="http://schemas.microsoft.com/office/drawing/2014/main" id="{BCBF5C55-0E15-6EF1-C9DC-86C8951A794B}"/>
              </a:ext>
            </a:extLst>
          </p:cNvPr>
          <p:cNvSpPr txBox="1"/>
          <p:nvPr/>
        </p:nvSpPr>
        <p:spPr>
          <a:xfrm>
            <a:off x="10286649" y="3325975"/>
            <a:ext cx="984471" cy="369332"/>
          </a:xfrm>
          <a:prstGeom prst="rect">
            <a:avLst/>
          </a:prstGeom>
        </p:spPr>
        <p:txBody>
          <a:bodyPr wrap="square" lIns="0" tIns="0" rIns="0" bIns="0" rtlCol="0">
            <a:spAutoFit/>
          </a:bodyPr>
          <a:lstStyle/>
          <a:p>
            <a:pPr algn="ctr">
              <a:spcAft>
                <a:spcPts val="600"/>
              </a:spcAft>
            </a:pPr>
            <a:r>
              <a:rPr lang="en-US" sz="1200" dirty="0">
                <a:solidFill>
                  <a:schemeClr val="tx2"/>
                </a:solidFill>
              </a:rPr>
              <a:t>Compute</a:t>
            </a:r>
            <a:br>
              <a:rPr lang="en-US" sz="1200" dirty="0">
                <a:solidFill>
                  <a:schemeClr val="tx2"/>
                </a:solidFill>
              </a:rPr>
            </a:br>
            <a:r>
              <a:rPr lang="en-US" sz="1200" dirty="0">
                <a:solidFill>
                  <a:schemeClr val="tx2"/>
                </a:solidFill>
              </a:rPr>
              <a:t>&amp; storage</a:t>
            </a:r>
          </a:p>
        </p:txBody>
      </p:sp>
      <p:pic>
        <p:nvPicPr>
          <p:cNvPr id="138" name="Graphic 137">
            <a:extLst>
              <a:ext uri="{FF2B5EF4-FFF2-40B4-BE49-F238E27FC236}">
                <a16:creationId xmlns:a16="http://schemas.microsoft.com/office/drawing/2014/main" id="{64D82F1E-2882-F715-C70E-280F5305894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49589" y="3893081"/>
            <a:ext cx="190410" cy="223781"/>
          </a:xfrm>
          <a:prstGeom prst="rect">
            <a:avLst/>
          </a:prstGeom>
        </p:spPr>
      </p:pic>
      <p:grpSp>
        <p:nvGrpSpPr>
          <p:cNvPr id="192" name="Group 191">
            <a:extLst>
              <a:ext uri="{FF2B5EF4-FFF2-40B4-BE49-F238E27FC236}">
                <a16:creationId xmlns:a16="http://schemas.microsoft.com/office/drawing/2014/main" id="{55BD7161-E40B-73B4-15E8-1F5D7F36FE7C}"/>
              </a:ext>
            </a:extLst>
          </p:cNvPr>
          <p:cNvGrpSpPr/>
          <p:nvPr/>
        </p:nvGrpSpPr>
        <p:grpSpPr>
          <a:xfrm>
            <a:off x="7950077" y="3700487"/>
            <a:ext cx="2189434" cy="184666"/>
            <a:chOff x="7950077" y="3379353"/>
            <a:chExt cx="2189434" cy="184666"/>
          </a:xfrm>
        </p:grpSpPr>
        <p:cxnSp>
          <p:nvCxnSpPr>
            <p:cNvPr id="123" name="Straight Connector 122">
              <a:extLst>
                <a:ext uri="{FF2B5EF4-FFF2-40B4-BE49-F238E27FC236}">
                  <a16:creationId xmlns:a16="http://schemas.microsoft.com/office/drawing/2014/main" id="{2B7FC5EF-9100-E129-9259-A4148D179F2F}"/>
                </a:ext>
              </a:extLst>
            </p:cNvPr>
            <p:cNvCxnSpPr>
              <a:cxnSpLocks/>
            </p:cNvCxnSpPr>
            <p:nvPr/>
          </p:nvCxnSpPr>
          <p:spPr bwMode="gray">
            <a:xfrm>
              <a:off x="7954667" y="3387515"/>
              <a:ext cx="0" cy="88010"/>
            </a:xfrm>
            <a:prstGeom prst="line">
              <a:avLst/>
            </a:prstGeom>
            <a:solidFill>
              <a:schemeClr val="accent1"/>
            </a:solidFill>
            <a:ln w="15875">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F3124C21-D14F-162A-0C8E-D1FCC8468183}"/>
                </a:ext>
              </a:extLst>
            </p:cNvPr>
            <p:cNvCxnSpPr>
              <a:cxnSpLocks/>
            </p:cNvCxnSpPr>
            <p:nvPr/>
          </p:nvCxnSpPr>
          <p:spPr bwMode="gray">
            <a:xfrm>
              <a:off x="9300829" y="3475525"/>
              <a:ext cx="838682" cy="0"/>
            </a:xfrm>
            <a:prstGeom prst="line">
              <a:avLst/>
            </a:prstGeom>
            <a:solidFill>
              <a:schemeClr val="accent1"/>
            </a:solidFill>
            <a:ln w="15875">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7A9F2329-1DDF-2E07-5CD4-16CD31618847}"/>
                </a:ext>
              </a:extLst>
            </p:cNvPr>
            <p:cNvCxnSpPr>
              <a:cxnSpLocks/>
            </p:cNvCxnSpPr>
            <p:nvPr/>
          </p:nvCxnSpPr>
          <p:spPr bwMode="gray">
            <a:xfrm>
              <a:off x="10139511" y="3387515"/>
              <a:ext cx="0" cy="88010"/>
            </a:xfrm>
            <a:prstGeom prst="line">
              <a:avLst/>
            </a:prstGeom>
            <a:solidFill>
              <a:schemeClr val="accent1"/>
            </a:solidFill>
            <a:ln w="15875">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45E26B5-F836-5BE7-B4AE-DAEAB47E4553}"/>
                </a:ext>
              </a:extLst>
            </p:cNvPr>
            <p:cNvCxnSpPr>
              <a:cxnSpLocks/>
            </p:cNvCxnSpPr>
            <p:nvPr/>
          </p:nvCxnSpPr>
          <p:spPr bwMode="gray">
            <a:xfrm>
              <a:off x="7950077" y="3475525"/>
              <a:ext cx="822922" cy="0"/>
            </a:xfrm>
            <a:prstGeom prst="line">
              <a:avLst/>
            </a:prstGeom>
            <a:solidFill>
              <a:schemeClr val="accent1"/>
            </a:solidFill>
            <a:ln w="15875">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a16="http://schemas.microsoft.com/office/drawing/2014/main" id="{1B839906-1B93-76C5-E974-F7DE81E48C5B}"/>
                </a:ext>
              </a:extLst>
            </p:cNvPr>
            <p:cNvSpPr txBox="1"/>
            <p:nvPr/>
          </p:nvSpPr>
          <p:spPr>
            <a:xfrm>
              <a:off x="8694041" y="3379353"/>
              <a:ext cx="701507" cy="184666"/>
            </a:xfrm>
            <a:prstGeom prst="rect">
              <a:avLst/>
            </a:prstGeom>
            <a:ln>
              <a:noFill/>
            </a:ln>
          </p:spPr>
          <p:txBody>
            <a:bodyPr wrap="square" lIns="0" tIns="0" rIns="0" bIns="0" rtlCol="0">
              <a:spAutoFit/>
            </a:bodyPr>
            <a:lstStyle/>
            <a:p>
              <a:pPr algn="ctr">
                <a:spcAft>
                  <a:spcPts val="600"/>
                </a:spcAft>
              </a:pPr>
              <a:r>
                <a:rPr lang="en-US" sz="1200" dirty="0">
                  <a:solidFill>
                    <a:schemeClr val="accent1"/>
                  </a:solidFill>
                </a:rPr>
                <a:t>vSAN</a:t>
              </a:r>
            </a:p>
          </p:txBody>
        </p:sp>
      </p:grpSp>
      <p:grpSp>
        <p:nvGrpSpPr>
          <p:cNvPr id="5" name="Group 4">
            <a:extLst>
              <a:ext uri="{FF2B5EF4-FFF2-40B4-BE49-F238E27FC236}">
                <a16:creationId xmlns:a16="http://schemas.microsoft.com/office/drawing/2014/main" id="{242812AA-4365-DFC5-0489-A704D66924C3}"/>
              </a:ext>
            </a:extLst>
          </p:cNvPr>
          <p:cNvGrpSpPr/>
          <p:nvPr/>
        </p:nvGrpSpPr>
        <p:grpSpPr>
          <a:xfrm>
            <a:off x="7950077" y="3385398"/>
            <a:ext cx="2189434" cy="283867"/>
            <a:chOff x="7950077" y="3385398"/>
            <a:chExt cx="2189434" cy="283867"/>
          </a:xfrm>
        </p:grpSpPr>
        <p:grpSp>
          <p:nvGrpSpPr>
            <p:cNvPr id="146" name="Group 145">
              <a:extLst>
                <a:ext uri="{FF2B5EF4-FFF2-40B4-BE49-F238E27FC236}">
                  <a16:creationId xmlns:a16="http://schemas.microsoft.com/office/drawing/2014/main" id="{F4BA2A7D-07BE-B047-E321-405A51CD91FC}"/>
                </a:ext>
              </a:extLst>
            </p:cNvPr>
            <p:cNvGrpSpPr/>
            <p:nvPr/>
          </p:nvGrpSpPr>
          <p:grpSpPr>
            <a:xfrm>
              <a:off x="7950077" y="3385398"/>
              <a:ext cx="2189434" cy="113067"/>
              <a:chOff x="9883178" y="3095486"/>
              <a:chExt cx="2189434" cy="113067"/>
            </a:xfrm>
            <a:solidFill>
              <a:schemeClr val="accent1">
                <a:lumMod val="20000"/>
                <a:lumOff val="80000"/>
              </a:schemeClr>
            </a:solidFill>
          </p:grpSpPr>
          <p:sp>
            <p:nvSpPr>
              <p:cNvPr id="142" name="Rectangle 141">
                <a:extLst>
                  <a:ext uri="{FF2B5EF4-FFF2-40B4-BE49-F238E27FC236}">
                    <a16:creationId xmlns:a16="http://schemas.microsoft.com/office/drawing/2014/main" id="{10303A7D-76F8-594A-D699-12D7CA7202D1}"/>
                  </a:ext>
                </a:extLst>
              </p:cNvPr>
              <p:cNvSpPr/>
              <p:nvPr/>
            </p:nvSpPr>
            <p:spPr>
              <a:xfrm>
                <a:off x="9883178"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43" name="Rectangle 142">
                <a:extLst>
                  <a:ext uri="{FF2B5EF4-FFF2-40B4-BE49-F238E27FC236}">
                    <a16:creationId xmlns:a16="http://schemas.microsoft.com/office/drawing/2014/main" id="{DD7858F7-59AE-9791-0521-E7F86E44B115}"/>
                  </a:ext>
                </a:extLst>
              </p:cNvPr>
              <p:cNvSpPr/>
              <p:nvPr/>
            </p:nvSpPr>
            <p:spPr>
              <a:xfrm>
                <a:off x="10447015"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44" name="Rectangle 143">
                <a:extLst>
                  <a:ext uri="{FF2B5EF4-FFF2-40B4-BE49-F238E27FC236}">
                    <a16:creationId xmlns:a16="http://schemas.microsoft.com/office/drawing/2014/main" id="{E2508E3D-3CC7-1674-80E0-7D744B50E2CB}"/>
                  </a:ext>
                </a:extLst>
              </p:cNvPr>
              <p:cNvSpPr/>
              <p:nvPr/>
            </p:nvSpPr>
            <p:spPr>
              <a:xfrm>
                <a:off x="11010852"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45" name="Rectangle 144">
                <a:extLst>
                  <a:ext uri="{FF2B5EF4-FFF2-40B4-BE49-F238E27FC236}">
                    <a16:creationId xmlns:a16="http://schemas.microsoft.com/office/drawing/2014/main" id="{6FC90A93-6267-0C2A-8FDC-341359E05CAF}"/>
                  </a:ext>
                </a:extLst>
              </p:cNvPr>
              <p:cNvSpPr/>
              <p:nvPr/>
            </p:nvSpPr>
            <p:spPr>
              <a:xfrm>
                <a:off x="11574689"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grpSp>
          <p:nvGrpSpPr>
            <p:cNvPr id="147" name="Group 146">
              <a:extLst>
                <a:ext uri="{FF2B5EF4-FFF2-40B4-BE49-F238E27FC236}">
                  <a16:creationId xmlns:a16="http://schemas.microsoft.com/office/drawing/2014/main" id="{4F7371B1-5327-00CC-52BE-3968DB785B48}"/>
                </a:ext>
              </a:extLst>
            </p:cNvPr>
            <p:cNvGrpSpPr/>
            <p:nvPr/>
          </p:nvGrpSpPr>
          <p:grpSpPr>
            <a:xfrm>
              <a:off x="7950077" y="3556198"/>
              <a:ext cx="2189434" cy="113067"/>
              <a:chOff x="9883178" y="3095486"/>
              <a:chExt cx="2189434" cy="113067"/>
            </a:xfrm>
            <a:solidFill>
              <a:schemeClr val="accent1">
                <a:lumMod val="20000"/>
                <a:lumOff val="80000"/>
              </a:schemeClr>
            </a:solidFill>
          </p:grpSpPr>
          <p:sp>
            <p:nvSpPr>
              <p:cNvPr id="148" name="Rectangle 147">
                <a:extLst>
                  <a:ext uri="{FF2B5EF4-FFF2-40B4-BE49-F238E27FC236}">
                    <a16:creationId xmlns:a16="http://schemas.microsoft.com/office/drawing/2014/main" id="{D75B7E27-2D3A-0140-B195-35EB2E044538}"/>
                  </a:ext>
                </a:extLst>
              </p:cNvPr>
              <p:cNvSpPr/>
              <p:nvPr/>
            </p:nvSpPr>
            <p:spPr>
              <a:xfrm>
                <a:off x="9883178"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49" name="Rectangle 148">
                <a:extLst>
                  <a:ext uri="{FF2B5EF4-FFF2-40B4-BE49-F238E27FC236}">
                    <a16:creationId xmlns:a16="http://schemas.microsoft.com/office/drawing/2014/main" id="{9518C7C3-9E19-D9D1-8EBB-F07D5C8EB7F5}"/>
                  </a:ext>
                </a:extLst>
              </p:cNvPr>
              <p:cNvSpPr/>
              <p:nvPr/>
            </p:nvSpPr>
            <p:spPr>
              <a:xfrm>
                <a:off x="10447015"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50" name="Rectangle 149">
                <a:extLst>
                  <a:ext uri="{FF2B5EF4-FFF2-40B4-BE49-F238E27FC236}">
                    <a16:creationId xmlns:a16="http://schemas.microsoft.com/office/drawing/2014/main" id="{34C13807-80C8-3732-8579-7E7247A6075D}"/>
                  </a:ext>
                </a:extLst>
              </p:cNvPr>
              <p:cNvSpPr/>
              <p:nvPr/>
            </p:nvSpPr>
            <p:spPr>
              <a:xfrm>
                <a:off x="11010852"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51" name="Rectangle 150">
                <a:extLst>
                  <a:ext uri="{FF2B5EF4-FFF2-40B4-BE49-F238E27FC236}">
                    <a16:creationId xmlns:a16="http://schemas.microsoft.com/office/drawing/2014/main" id="{2FB70ABC-A4BE-972D-2A1D-BB23D96671C1}"/>
                  </a:ext>
                </a:extLst>
              </p:cNvPr>
              <p:cNvSpPr/>
              <p:nvPr/>
            </p:nvSpPr>
            <p:spPr>
              <a:xfrm>
                <a:off x="11574689"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grpSp>
      <p:grpSp>
        <p:nvGrpSpPr>
          <p:cNvPr id="7" name="Group 6">
            <a:extLst>
              <a:ext uri="{FF2B5EF4-FFF2-40B4-BE49-F238E27FC236}">
                <a16:creationId xmlns:a16="http://schemas.microsoft.com/office/drawing/2014/main" id="{4D0C2323-7B40-547B-9744-65DCC2964DCF}"/>
              </a:ext>
            </a:extLst>
          </p:cNvPr>
          <p:cNvGrpSpPr/>
          <p:nvPr/>
        </p:nvGrpSpPr>
        <p:grpSpPr>
          <a:xfrm>
            <a:off x="7950077" y="3102709"/>
            <a:ext cx="2189434" cy="230392"/>
            <a:chOff x="7950077" y="3102709"/>
            <a:chExt cx="2189434" cy="230392"/>
          </a:xfrm>
        </p:grpSpPr>
        <p:grpSp>
          <p:nvGrpSpPr>
            <p:cNvPr id="132" name="Group 131">
              <a:extLst>
                <a:ext uri="{FF2B5EF4-FFF2-40B4-BE49-F238E27FC236}">
                  <a16:creationId xmlns:a16="http://schemas.microsoft.com/office/drawing/2014/main" id="{6BFDEF11-0E5A-8FF4-84CC-C2A8EEF8F986}"/>
                </a:ext>
              </a:extLst>
            </p:cNvPr>
            <p:cNvGrpSpPr/>
            <p:nvPr/>
          </p:nvGrpSpPr>
          <p:grpSpPr>
            <a:xfrm>
              <a:off x="7950077" y="3102709"/>
              <a:ext cx="1061760" cy="230392"/>
              <a:chOff x="6535453" y="2852959"/>
              <a:chExt cx="966592" cy="209741"/>
            </a:xfrm>
            <a:solidFill>
              <a:schemeClr val="accent1"/>
            </a:solidFill>
          </p:grpSpPr>
          <p:pic>
            <p:nvPicPr>
              <p:cNvPr id="133" name="Graphic 132">
                <a:extLst>
                  <a:ext uri="{FF2B5EF4-FFF2-40B4-BE49-F238E27FC236}">
                    <a16:creationId xmlns:a16="http://schemas.microsoft.com/office/drawing/2014/main" id="{CF0A5AFA-B91C-07C6-1518-7490766D66E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87737" y="2852959"/>
                <a:ext cx="209741" cy="209741"/>
              </a:xfrm>
              <a:prstGeom prst="rect">
                <a:avLst/>
              </a:prstGeom>
            </p:spPr>
          </p:pic>
          <p:pic>
            <p:nvPicPr>
              <p:cNvPr id="134" name="Graphic 133">
                <a:extLst>
                  <a:ext uri="{FF2B5EF4-FFF2-40B4-BE49-F238E27FC236}">
                    <a16:creationId xmlns:a16="http://schemas.microsoft.com/office/drawing/2014/main" id="{F3906650-685F-EDFD-5EDE-FF8EF9E7604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35453" y="2852959"/>
                <a:ext cx="209741" cy="209741"/>
              </a:xfrm>
              <a:prstGeom prst="rect">
                <a:avLst/>
              </a:prstGeom>
            </p:spPr>
          </p:pic>
          <p:pic>
            <p:nvPicPr>
              <p:cNvPr id="135" name="Graphic 134">
                <a:extLst>
                  <a:ext uri="{FF2B5EF4-FFF2-40B4-BE49-F238E27FC236}">
                    <a16:creationId xmlns:a16="http://schemas.microsoft.com/office/drawing/2014/main" id="{C5C2FD33-A59B-6F53-EF15-5C8606E0F78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92304" y="2852959"/>
                <a:ext cx="209741" cy="209741"/>
              </a:xfrm>
              <a:prstGeom prst="rect">
                <a:avLst/>
              </a:prstGeom>
            </p:spPr>
          </p:pic>
          <p:pic>
            <p:nvPicPr>
              <p:cNvPr id="136" name="Graphic 135">
                <a:extLst>
                  <a:ext uri="{FF2B5EF4-FFF2-40B4-BE49-F238E27FC236}">
                    <a16:creationId xmlns:a16="http://schemas.microsoft.com/office/drawing/2014/main" id="{5454DF4B-0877-C40A-9D32-84219C119D6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040021" y="2852959"/>
                <a:ext cx="209741" cy="209741"/>
              </a:xfrm>
              <a:prstGeom prst="rect">
                <a:avLst/>
              </a:prstGeom>
            </p:spPr>
          </p:pic>
        </p:grpSp>
        <p:grpSp>
          <p:nvGrpSpPr>
            <p:cNvPr id="156" name="Group 155">
              <a:extLst>
                <a:ext uri="{FF2B5EF4-FFF2-40B4-BE49-F238E27FC236}">
                  <a16:creationId xmlns:a16="http://schemas.microsoft.com/office/drawing/2014/main" id="{99551A68-9AC5-74B4-9B1E-842FBA900320}"/>
                </a:ext>
              </a:extLst>
            </p:cNvPr>
            <p:cNvGrpSpPr/>
            <p:nvPr/>
          </p:nvGrpSpPr>
          <p:grpSpPr>
            <a:xfrm>
              <a:off x="9077751" y="3102709"/>
              <a:ext cx="1061760" cy="230392"/>
              <a:chOff x="6535453" y="2852959"/>
              <a:chExt cx="966592" cy="209741"/>
            </a:xfrm>
            <a:solidFill>
              <a:schemeClr val="accent1"/>
            </a:solidFill>
          </p:grpSpPr>
          <p:pic>
            <p:nvPicPr>
              <p:cNvPr id="157" name="Graphic 156">
                <a:extLst>
                  <a:ext uri="{FF2B5EF4-FFF2-40B4-BE49-F238E27FC236}">
                    <a16:creationId xmlns:a16="http://schemas.microsoft.com/office/drawing/2014/main" id="{8D105DDF-6A6D-2820-B245-BE2B3D8DB16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87737" y="2852959"/>
                <a:ext cx="209741" cy="209741"/>
              </a:xfrm>
              <a:prstGeom prst="rect">
                <a:avLst/>
              </a:prstGeom>
            </p:spPr>
          </p:pic>
          <p:pic>
            <p:nvPicPr>
              <p:cNvPr id="158" name="Graphic 157">
                <a:extLst>
                  <a:ext uri="{FF2B5EF4-FFF2-40B4-BE49-F238E27FC236}">
                    <a16:creationId xmlns:a16="http://schemas.microsoft.com/office/drawing/2014/main" id="{59C9D312-FEA7-A090-0E72-C1ACF72F7D4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35453" y="2852959"/>
                <a:ext cx="209741" cy="209741"/>
              </a:xfrm>
              <a:prstGeom prst="rect">
                <a:avLst/>
              </a:prstGeom>
            </p:spPr>
          </p:pic>
          <p:pic>
            <p:nvPicPr>
              <p:cNvPr id="159" name="Graphic 158">
                <a:extLst>
                  <a:ext uri="{FF2B5EF4-FFF2-40B4-BE49-F238E27FC236}">
                    <a16:creationId xmlns:a16="http://schemas.microsoft.com/office/drawing/2014/main" id="{68F22FB7-F1A3-2AA4-F450-58C4FB3420F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92304" y="2852959"/>
                <a:ext cx="209741" cy="209741"/>
              </a:xfrm>
              <a:prstGeom prst="rect">
                <a:avLst/>
              </a:prstGeom>
            </p:spPr>
          </p:pic>
          <p:pic>
            <p:nvPicPr>
              <p:cNvPr id="160" name="Graphic 159">
                <a:extLst>
                  <a:ext uri="{FF2B5EF4-FFF2-40B4-BE49-F238E27FC236}">
                    <a16:creationId xmlns:a16="http://schemas.microsoft.com/office/drawing/2014/main" id="{5BBAD682-8727-73B3-4E75-38E432B6C31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040021" y="2852959"/>
                <a:ext cx="209741" cy="209741"/>
              </a:xfrm>
              <a:prstGeom prst="rect">
                <a:avLst/>
              </a:prstGeom>
            </p:spPr>
          </p:pic>
        </p:grpSp>
      </p:grpSp>
      <p:sp>
        <p:nvSpPr>
          <p:cNvPr id="195" name="TextBox 194">
            <a:extLst>
              <a:ext uri="{FF2B5EF4-FFF2-40B4-BE49-F238E27FC236}">
                <a16:creationId xmlns:a16="http://schemas.microsoft.com/office/drawing/2014/main" id="{0FE3F6A3-1AA2-E66B-196A-8FA9A2004D93}"/>
              </a:ext>
            </a:extLst>
          </p:cNvPr>
          <p:cNvSpPr txBox="1"/>
          <p:nvPr/>
        </p:nvSpPr>
        <p:spPr>
          <a:xfrm>
            <a:off x="10367423" y="5510832"/>
            <a:ext cx="822923" cy="369332"/>
          </a:xfrm>
          <a:prstGeom prst="rect">
            <a:avLst/>
          </a:prstGeom>
        </p:spPr>
        <p:txBody>
          <a:bodyPr wrap="square" lIns="0" tIns="0" rIns="0" bIns="0" rtlCol="0">
            <a:spAutoFit/>
          </a:bodyPr>
          <a:lstStyle/>
          <a:p>
            <a:pPr algn="ctr">
              <a:spcAft>
                <a:spcPts val="600"/>
              </a:spcAft>
            </a:pPr>
            <a:r>
              <a:rPr lang="en-US" sz="1200" dirty="0">
                <a:solidFill>
                  <a:schemeClr val="tx2"/>
                </a:solidFill>
              </a:rPr>
              <a:t>Storage</a:t>
            </a:r>
            <a:br>
              <a:rPr lang="en-US" sz="1200" dirty="0">
                <a:solidFill>
                  <a:schemeClr val="tx2"/>
                </a:solidFill>
              </a:rPr>
            </a:br>
            <a:r>
              <a:rPr lang="en-US" sz="1200" dirty="0">
                <a:solidFill>
                  <a:schemeClr val="tx2"/>
                </a:solidFill>
              </a:rPr>
              <a:t>only</a:t>
            </a:r>
          </a:p>
        </p:txBody>
      </p:sp>
      <p:pic>
        <p:nvPicPr>
          <p:cNvPr id="196" name="Graphic 195">
            <a:extLst>
              <a:ext uri="{FF2B5EF4-FFF2-40B4-BE49-F238E27FC236}">
                <a16:creationId xmlns:a16="http://schemas.microsoft.com/office/drawing/2014/main" id="{B5834B18-FCC1-BBAD-90A6-FF3CA1D7D9B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49589" y="5898856"/>
            <a:ext cx="190410" cy="223781"/>
          </a:xfrm>
          <a:prstGeom prst="rect">
            <a:avLst/>
          </a:prstGeom>
        </p:spPr>
      </p:pic>
      <p:grpSp>
        <p:nvGrpSpPr>
          <p:cNvPr id="197" name="Group 196">
            <a:extLst>
              <a:ext uri="{FF2B5EF4-FFF2-40B4-BE49-F238E27FC236}">
                <a16:creationId xmlns:a16="http://schemas.microsoft.com/office/drawing/2014/main" id="{2CB79DD2-F8F6-A42E-8936-C0BE7E3865F0}"/>
              </a:ext>
            </a:extLst>
          </p:cNvPr>
          <p:cNvGrpSpPr/>
          <p:nvPr/>
        </p:nvGrpSpPr>
        <p:grpSpPr>
          <a:xfrm>
            <a:off x="7950077" y="5706262"/>
            <a:ext cx="2189434" cy="184666"/>
            <a:chOff x="7950077" y="3379353"/>
            <a:chExt cx="2189434" cy="184666"/>
          </a:xfrm>
        </p:grpSpPr>
        <p:cxnSp>
          <p:nvCxnSpPr>
            <p:cNvPr id="218" name="Straight Connector 217">
              <a:extLst>
                <a:ext uri="{FF2B5EF4-FFF2-40B4-BE49-F238E27FC236}">
                  <a16:creationId xmlns:a16="http://schemas.microsoft.com/office/drawing/2014/main" id="{285B9CF2-D8A1-46C5-1FB8-10559CE16B2C}"/>
                </a:ext>
              </a:extLst>
            </p:cNvPr>
            <p:cNvCxnSpPr>
              <a:cxnSpLocks/>
            </p:cNvCxnSpPr>
            <p:nvPr/>
          </p:nvCxnSpPr>
          <p:spPr bwMode="gray">
            <a:xfrm>
              <a:off x="7954667" y="3387515"/>
              <a:ext cx="0" cy="88010"/>
            </a:xfrm>
            <a:prstGeom prst="line">
              <a:avLst/>
            </a:prstGeom>
            <a:solidFill>
              <a:schemeClr val="accent1"/>
            </a:solidFill>
            <a:ln w="1587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ABB1434D-8C18-6514-9EB0-9CC2FDC5066A}"/>
                </a:ext>
              </a:extLst>
            </p:cNvPr>
            <p:cNvCxnSpPr>
              <a:cxnSpLocks/>
            </p:cNvCxnSpPr>
            <p:nvPr/>
          </p:nvCxnSpPr>
          <p:spPr bwMode="gray">
            <a:xfrm>
              <a:off x="9300829" y="3475525"/>
              <a:ext cx="838682" cy="0"/>
            </a:xfrm>
            <a:prstGeom prst="line">
              <a:avLst/>
            </a:prstGeom>
            <a:solidFill>
              <a:schemeClr val="accent1"/>
            </a:solidFill>
            <a:ln w="1587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E1BDEAFC-E763-CDA2-DBCF-6CB9DA652566}"/>
                </a:ext>
              </a:extLst>
            </p:cNvPr>
            <p:cNvCxnSpPr>
              <a:cxnSpLocks/>
            </p:cNvCxnSpPr>
            <p:nvPr/>
          </p:nvCxnSpPr>
          <p:spPr bwMode="gray">
            <a:xfrm>
              <a:off x="10139511" y="3387515"/>
              <a:ext cx="0" cy="88010"/>
            </a:xfrm>
            <a:prstGeom prst="line">
              <a:avLst/>
            </a:prstGeom>
            <a:solidFill>
              <a:schemeClr val="accent1"/>
            </a:solidFill>
            <a:ln w="1587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84EA498E-A752-6023-4682-5A81E5CC6AF1}"/>
                </a:ext>
              </a:extLst>
            </p:cNvPr>
            <p:cNvCxnSpPr>
              <a:cxnSpLocks/>
            </p:cNvCxnSpPr>
            <p:nvPr/>
          </p:nvCxnSpPr>
          <p:spPr bwMode="gray">
            <a:xfrm>
              <a:off x="7950077" y="3475525"/>
              <a:ext cx="822922" cy="0"/>
            </a:xfrm>
            <a:prstGeom prst="line">
              <a:avLst/>
            </a:prstGeom>
            <a:solidFill>
              <a:schemeClr val="accent1"/>
            </a:solidFill>
            <a:ln w="1587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22" name="TextBox 221">
              <a:extLst>
                <a:ext uri="{FF2B5EF4-FFF2-40B4-BE49-F238E27FC236}">
                  <a16:creationId xmlns:a16="http://schemas.microsoft.com/office/drawing/2014/main" id="{0BC70AAC-56C7-53DA-0D10-0875B2DC491A}"/>
                </a:ext>
              </a:extLst>
            </p:cNvPr>
            <p:cNvSpPr txBox="1"/>
            <p:nvPr/>
          </p:nvSpPr>
          <p:spPr>
            <a:xfrm>
              <a:off x="8694041" y="3379353"/>
              <a:ext cx="701507" cy="184666"/>
            </a:xfrm>
            <a:prstGeom prst="rect">
              <a:avLst/>
            </a:prstGeom>
            <a:ln>
              <a:noFill/>
            </a:ln>
          </p:spPr>
          <p:txBody>
            <a:bodyPr wrap="square" lIns="0" tIns="0" rIns="0" bIns="0" rtlCol="0">
              <a:spAutoFit/>
            </a:bodyPr>
            <a:lstStyle/>
            <a:p>
              <a:pPr algn="ctr">
                <a:spcAft>
                  <a:spcPts val="600"/>
                </a:spcAft>
              </a:pPr>
              <a:r>
                <a:rPr lang="en-US" sz="1200" dirty="0">
                  <a:solidFill>
                    <a:schemeClr val="accent2"/>
                  </a:solidFill>
                </a:rPr>
                <a:t>vSAN</a:t>
              </a:r>
            </a:p>
          </p:txBody>
        </p:sp>
      </p:grpSp>
      <p:grpSp>
        <p:nvGrpSpPr>
          <p:cNvPr id="200" name="Group 199">
            <a:extLst>
              <a:ext uri="{FF2B5EF4-FFF2-40B4-BE49-F238E27FC236}">
                <a16:creationId xmlns:a16="http://schemas.microsoft.com/office/drawing/2014/main" id="{B83D204F-C6E5-C065-63D6-B3820041D62B}"/>
              </a:ext>
            </a:extLst>
          </p:cNvPr>
          <p:cNvGrpSpPr/>
          <p:nvPr/>
        </p:nvGrpSpPr>
        <p:grpSpPr>
          <a:xfrm>
            <a:off x="7950077" y="5561973"/>
            <a:ext cx="2189434" cy="113067"/>
            <a:chOff x="9883178" y="3095486"/>
            <a:chExt cx="2189434" cy="113067"/>
          </a:xfrm>
          <a:solidFill>
            <a:schemeClr val="accent2">
              <a:lumMod val="20000"/>
              <a:lumOff val="80000"/>
            </a:schemeClr>
          </a:solidFill>
        </p:grpSpPr>
        <p:sp>
          <p:nvSpPr>
            <p:cNvPr id="206" name="Rectangle 205">
              <a:extLst>
                <a:ext uri="{FF2B5EF4-FFF2-40B4-BE49-F238E27FC236}">
                  <a16:creationId xmlns:a16="http://schemas.microsoft.com/office/drawing/2014/main" id="{38E9E5AC-C746-12A3-56DF-0B40BD5C308B}"/>
                </a:ext>
              </a:extLst>
            </p:cNvPr>
            <p:cNvSpPr/>
            <p:nvPr/>
          </p:nvSpPr>
          <p:spPr>
            <a:xfrm>
              <a:off x="9883178" y="3095486"/>
              <a:ext cx="497923" cy="113067"/>
            </a:xfrm>
            <a:prstGeom prst="rect">
              <a:avLst/>
            </a:prstGeom>
            <a:grp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07" name="Rectangle 206">
              <a:extLst>
                <a:ext uri="{FF2B5EF4-FFF2-40B4-BE49-F238E27FC236}">
                  <a16:creationId xmlns:a16="http://schemas.microsoft.com/office/drawing/2014/main" id="{35FCD62E-70E4-155E-F062-61CDDB72001D}"/>
                </a:ext>
              </a:extLst>
            </p:cNvPr>
            <p:cNvSpPr/>
            <p:nvPr/>
          </p:nvSpPr>
          <p:spPr>
            <a:xfrm>
              <a:off x="10447015" y="3095486"/>
              <a:ext cx="497923" cy="113067"/>
            </a:xfrm>
            <a:prstGeom prst="rect">
              <a:avLst/>
            </a:prstGeom>
            <a:grp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08" name="Rectangle 207">
              <a:extLst>
                <a:ext uri="{FF2B5EF4-FFF2-40B4-BE49-F238E27FC236}">
                  <a16:creationId xmlns:a16="http://schemas.microsoft.com/office/drawing/2014/main" id="{5AA90186-03CB-26D2-8B52-4505242B1790}"/>
                </a:ext>
              </a:extLst>
            </p:cNvPr>
            <p:cNvSpPr/>
            <p:nvPr/>
          </p:nvSpPr>
          <p:spPr>
            <a:xfrm>
              <a:off x="11010852" y="3095486"/>
              <a:ext cx="497923" cy="113067"/>
            </a:xfrm>
            <a:prstGeom prst="rect">
              <a:avLst/>
            </a:prstGeom>
            <a:grp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09" name="Rectangle 208">
              <a:extLst>
                <a:ext uri="{FF2B5EF4-FFF2-40B4-BE49-F238E27FC236}">
                  <a16:creationId xmlns:a16="http://schemas.microsoft.com/office/drawing/2014/main" id="{9C9855B2-A00B-5E61-8DE8-CA8003664991}"/>
                </a:ext>
              </a:extLst>
            </p:cNvPr>
            <p:cNvSpPr/>
            <p:nvPr/>
          </p:nvSpPr>
          <p:spPr>
            <a:xfrm>
              <a:off x="11574689" y="3095486"/>
              <a:ext cx="497923" cy="113067"/>
            </a:xfrm>
            <a:prstGeom prst="rect">
              <a:avLst/>
            </a:prstGeom>
            <a:grp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grpSp>
        <p:nvGrpSpPr>
          <p:cNvPr id="199" name="Group 198">
            <a:extLst>
              <a:ext uri="{FF2B5EF4-FFF2-40B4-BE49-F238E27FC236}">
                <a16:creationId xmlns:a16="http://schemas.microsoft.com/office/drawing/2014/main" id="{EE38CD15-4A57-73F9-5BAC-48709ECEAEE3}"/>
              </a:ext>
            </a:extLst>
          </p:cNvPr>
          <p:cNvGrpSpPr/>
          <p:nvPr/>
        </p:nvGrpSpPr>
        <p:grpSpPr>
          <a:xfrm>
            <a:off x="7950077" y="4806872"/>
            <a:ext cx="2189434" cy="113067"/>
            <a:chOff x="9883178" y="3095486"/>
            <a:chExt cx="2189434" cy="113067"/>
          </a:xfrm>
          <a:solidFill>
            <a:schemeClr val="accent4">
              <a:lumMod val="20000"/>
              <a:lumOff val="80000"/>
            </a:schemeClr>
          </a:solidFill>
        </p:grpSpPr>
        <p:sp>
          <p:nvSpPr>
            <p:cNvPr id="210" name="Rectangle 209">
              <a:extLst>
                <a:ext uri="{FF2B5EF4-FFF2-40B4-BE49-F238E27FC236}">
                  <a16:creationId xmlns:a16="http://schemas.microsoft.com/office/drawing/2014/main" id="{50453406-A886-25B9-3DC3-1C511FC11253}"/>
                </a:ext>
              </a:extLst>
            </p:cNvPr>
            <p:cNvSpPr/>
            <p:nvPr/>
          </p:nvSpPr>
          <p:spPr>
            <a:xfrm>
              <a:off x="9883178" y="3095486"/>
              <a:ext cx="497923" cy="113067"/>
            </a:xfrm>
            <a:prstGeom prst="rect">
              <a:avLst/>
            </a:prstGeom>
            <a:grp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11" name="Rectangle 210">
              <a:extLst>
                <a:ext uri="{FF2B5EF4-FFF2-40B4-BE49-F238E27FC236}">
                  <a16:creationId xmlns:a16="http://schemas.microsoft.com/office/drawing/2014/main" id="{17117D1F-B8C8-2298-C842-AE8287CA6B4E}"/>
                </a:ext>
              </a:extLst>
            </p:cNvPr>
            <p:cNvSpPr/>
            <p:nvPr/>
          </p:nvSpPr>
          <p:spPr>
            <a:xfrm>
              <a:off x="10447015" y="3095486"/>
              <a:ext cx="497923" cy="113067"/>
            </a:xfrm>
            <a:prstGeom prst="rect">
              <a:avLst/>
            </a:prstGeom>
            <a:grp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12" name="Rectangle 211">
              <a:extLst>
                <a:ext uri="{FF2B5EF4-FFF2-40B4-BE49-F238E27FC236}">
                  <a16:creationId xmlns:a16="http://schemas.microsoft.com/office/drawing/2014/main" id="{A086165B-6968-4F88-A3B7-3C212D1AA85A}"/>
                </a:ext>
              </a:extLst>
            </p:cNvPr>
            <p:cNvSpPr/>
            <p:nvPr/>
          </p:nvSpPr>
          <p:spPr>
            <a:xfrm>
              <a:off x="11010852" y="3095486"/>
              <a:ext cx="497923" cy="113067"/>
            </a:xfrm>
            <a:prstGeom prst="rect">
              <a:avLst/>
            </a:prstGeom>
            <a:grp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13" name="Rectangle 212">
              <a:extLst>
                <a:ext uri="{FF2B5EF4-FFF2-40B4-BE49-F238E27FC236}">
                  <a16:creationId xmlns:a16="http://schemas.microsoft.com/office/drawing/2014/main" id="{20E0F292-8423-43B2-E8CF-A2592FD054F8}"/>
                </a:ext>
              </a:extLst>
            </p:cNvPr>
            <p:cNvSpPr/>
            <p:nvPr/>
          </p:nvSpPr>
          <p:spPr>
            <a:xfrm>
              <a:off x="11574689" y="3095486"/>
              <a:ext cx="497923" cy="113067"/>
            </a:xfrm>
            <a:prstGeom prst="rect">
              <a:avLst/>
            </a:prstGeom>
            <a:grp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grpSp>
        <p:nvGrpSpPr>
          <p:cNvPr id="8" name="Group 7">
            <a:extLst>
              <a:ext uri="{FF2B5EF4-FFF2-40B4-BE49-F238E27FC236}">
                <a16:creationId xmlns:a16="http://schemas.microsoft.com/office/drawing/2014/main" id="{D8950396-26C1-6C38-D311-509CA0D11321}"/>
              </a:ext>
            </a:extLst>
          </p:cNvPr>
          <p:cNvGrpSpPr/>
          <p:nvPr/>
        </p:nvGrpSpPr>
        <p:grpSpPr>
          <a:xfrm>
            <a:off x="7950077" y="4524183"/>
            <a:ext cx="2189434" cy="230392"/>
            <a:chOff x="7950077" y="4524183"/>
            <a:chExt cx="2189434" cy="230392"/>
          </a:xfrm>
        </p:grpSpPr>
        <p:grpSp>
          <p:nvGrpSpPr>
            <p:cNvPr id="198" name="Group 197">
              <a:extLst>
                <a:ext uri="{FF2B5EF4-FFF2-40B4-BE49-F238E27FC236}">
                  <a16:creationId xmlns:a16="http://schemas.microsoft.com/office/drawing/2014/main" id="{4BE756A5-8F9D-674F-75EB-3C3B2696BBFE}"/>
                </a:ext>
              </a:extLst>
            </p:cNvPr>
            <p:cNvGrpSpPr/>
            <p:nvPr/>
          </p:nvGrpSpPr>
          <p:grpSpPr>
            <a:xfrm>
              <a:off x="7950077" y="4524183"/>
              <a:ext cx="1061760" cy="230392"/>
              <a:chOff x="6535453" y="2852959"/>
              <a:chExt cx="966592" cy="209741"/>
            </a:xfrm>
            <a:solidFill>
              <a:schemeClr val="accent2"/>
            </a:solidFill>
          </p:grpSpPr>
          <p:pic>
            <p:nvPicPr>
              <p:cNvPr id="214" name="Graphic 213">
                <a:extLst>
                  <a:ext uri="{FF2B5EF4-FFF2-40B4-BE49-F238E27FC236}">
                    <a16:creationId xmlns:a16="http://schemas.microsoft.com/office/drawing/2014/main" id="{D9207ACD-8118-4FC9-D3C7-894EF18327E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787737" y="2852959"/>
                <a:ext cx="209741" cy="209741"/>
              </a:xfrm>
              <a:prstGeom prst="rect">
                <a:avLst/>
              </a:prstGeom>
            </p:spPr>
          </p:pic>
          <p:pic>
            <p:nvPicPr>
              <p:cNvPr id="215" name="Graphic 214">
                <a:extLst>
                  <a:ext uri="{FF2B5EF4-FFF2-40B4-BE49-F238E27FC236}">
                    <a16:creationId xmlns:a16="http://schemas.microsoft.com/office/drawing/2014/main" id="{24F3FA36-A024-2778-1FC6-50E17F4BF2C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535453" y="2852959"/>
                <a:ext cx="209741" cy="209741"/>
              </a:xfrm>
              <a:prstGeom prst="rect">
                <a:avLst/>
              </a:prstGeom>
            </p:spPr>
          </p:pic>
          <p:pic>
            <p:nvPicPr>
              <p:cNvPr id="216" name="Graphic 215">
                <a:extLst>
                  <a:ext uri="{FF2B5EF4-FFF2-40B4-BE49-F238E27FC236}">
                    <a16:creationId xmlns:a16="http://schemas.microsoft.com/office/drawing/2014/main" id="{2DC517B7-466E-F373-3968-C31021CF2E1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92304" y="2852959"/>
                <a:ext cx="209741" cy="209741"/>
              </a:xfrm>
              <a:prstGeom prst="rect">
                <a:avLst/>
              </a:prstGeom>
            </p:spPr>
          </p:pic>
          <p:pic>
            <p:nvPicPr>
              <p:cNvPr id="217" name="Graphic 216">
                <a:extLst>
                  <a:ext uri="{FF2B5EF4-FFF2-40B4-BE49-F238E27FC236}">
                    <a16:creationId xmlns:a16="http://schemas.microsoft.com/office/drawing/2014/main" id="{9829DDB6-3053-DB7B-D21B-E916DCAA907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040021" y="2852959"/>
                <a:ext cx="209741" cy="209741"/>
              </a:xfrm>
              <a:prstGeom prst="rect">
                <a:avLst/>
              </a:prstGeom>
            </p:spPr>
          </p:pic>
        </p:grpSp>
        <p:grpSp>
          <p:nvGrpSpPr>
            <p:cNvPr id="201" name="Group 200">
              <a:extLst>
                <a:ext uri="{FF2B5EF4-FFF2-40B4-BE49-F238E27FC236}">
                  <a16:creationId xmlns:a16="http://schemas.microsoft.com/office/drawing/2014/main" id="{D7F6A324-D189-8316-942F-3A4C4C8ED847}"/>
                </a:ext>
              </a:extLst>
            </p:cNvPr>
            <p:cNvGrpSpPr/>
            <p:nvPr/>
          </p:nvGrpSpPr>
          <p:grpSpPr>
            <a:xfrm>
              <a:off x="9077751" y="4524183"/>
              <a:ext cx="1061760" cy="230392"/>
              <a:chOff x="6535453" y="2852959"/>
              <a:chExt cx="966592" cy="209741"/>
            </a:xfrm>
            <a:solidFill>
              <a:schemeClr val="accent2"/>
            </a:solidFill>
          </p:grpSpPr>
          <p:pic>
            <p:nvPicPr>
              <p:cNvPr id="202" name="Graphic 201">
                <a:extLst>
                  <a:ext uri="{FF2B5EF4-FFF2-40B4-BE49-F238E27FC236}">
                    <a16:creationId xmlns:a16="http://schemas.microsoft.com/office/drawing/2014/main" id="{2EE13C00-D464-3FDF-02F5-E29ACEA2B05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787737" y="2852959"/>
                <a:ext cx="209741" cy="209741"/>
              </a:xfrm>
              <a:prstGeom prst="rect">
                <a:avLst/>
              </a:prstGeom>
            </p:spPr>
          </p:pic>
          <p:pic>
            <p:nvPicPr>
              <p:cNvPr id="203" name="Graphic 202">
                <a:extLst>
                  <a:ext uri="{FF2B5EF4-FFF2-40B4-BE49-F238E27FC236}">
                    <a16:creationId xmlns:a16="http://schemas.microsoft.com/office/drawing/2014/main" id="{9F5CCCAA-BD43-14E7-CF32-76CE932A943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535453" y="2852959"/>
                <a:ext cx="209741" cy="209741"/>
              </a:xfrm>
              <a:prstGeom prst="rect">
                <a:avLst/>
              </a:prstGeom>
            </p:spPr>
          </p:pic>
          <p:pic>
            <p:nvPicPr>
              <p:cNvPr id="204" name="Graphic 203">
                <a:extLst>
                  <a:ext uri="{FF2B5EF4-FFF2-40B4-BE49-F238E27FC236}">
                    <a16:creationId xmlns:a16="http://schemas.microsoft.com/office/drawing/2014/main" id="{EA539B61-2B8E-4BCC-B542-3E663EC6870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92304" y="2852959"/>
                <a:ext cx="209741" cy="209741"/>
              </a:xfrm>
              <a:prstGeom prst="rect">
                <a:avLst/>
              </a:prstGeom>
            </p:spPr>
          </p:pic>
          <p:pic>
            <p:nvPicPr>
              <p:cNvPr id="205" name="Graphic 204">
                <a:extLst>
                  <a:ext uri="{FF2B5EF4-FFF2-40B4-BE49-F238E27FC236}">
                    <a16:creationId xmlns:a16="http://schemas.microsoft.com/office/drawing/2014/main" id="{86FBF6CC-2A2F-BF0E-5A36-B71626C1494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040021" y="2852959"/>
                <a:ext cx="209741" cy="209741"/>
              </a:xfrm>
              <a:prstGeom prst="rect">
                <a:avLst/>
              </a:prstGeom>
            </p:spPr>
          </p:pic>
        </p:grpSp>
      </p:grpSp>
      <p:sp>
        <p:nvSpPr>
          <p:cNvPr id="223" name="TextBox 222">
            <a:extLst>
              <a:ext uri="{FF2B5EF4-FFF2-40B4-BE49-F238E27FC236}">
                <a16:creationId xmlns:a16="http://schemas.microsoft.com/office/drawing/2014/main" id="{E9960832-9DD9-BAAD-508C-30C226432197}"/>
              </a:ext>
            </a:extLst>
          </p:cNvPr>
          <p:cNvSpPr txBox="1"/>
          <p:nvPr/>
        </p:nvSpPr>
        <p:spPr>
          <a:xfrm>
            <a:off x="10298788" y="4529710"/>
            <a:ext cx="960192" cy="369332"/>
          </a:xfrm>
          <a:prstGeom prst="rect">
            <a:avLst/>
          </a:prstGeom>
        </p:spPr>
        <p:txBody>
          <a:bodyPr wrap="square" lIns="0" tIns="0" rIns="0" bIns="0" rtlCol="0">
            <a:spAutoFit/>
          </a:bodyPr>
          <a:lstStyle/>
          <a:p>
            <a:pPr algn="ctr">
              <a:spcAft>
                <a:spcPts val="600"/>
              </a:spcAft>
            </a:pPr>
            <a:r>
              <a:rPr lang="en-US" sz="1200" dirty="0">
                <a:solidFill>
                  <a:schemeClr val="tx2"/>
                </a:solidFill>
              </a:rPr>
              <a:t>Compute</a:t>
            </a:r>
            <a:br>
              <a:rPr lang="en-US" sz="1200" dirty="0">
                <a:solidFill>
                  <a:schemeClr val="tx2"/>
                </a:solidFill>
              </a:rPr>
            </a:br>
            <a:r>
              <a:rPr lang="en-US" sz="1200" dirty="0">
                <a:solidFill>
                  <a:schemeClr val="tx2"/>
                </a:solidFill>
              </a:rPr>
              <a:t>only</a:t>
            </a:r>
          </a:p>
        </p:txBody>
      </p:sp>
      <p:cxnSp>
        <p:nvCxnSpPr>
          <p:cNvPr id="224" name="Straight Connector 223">
            <a:extLst>
              <a:ext uri="{FF2B5EF4-FFF2-40B4-BE49-F238E27FC236}">
                <a16:creationId xmlns:a16="http://schemas.microsoft.com/office/drawing/2014/main" id="{28238661-A7FB-583F-49AF-D247BF887CD7}"/>
              </a:ext>
            </a:extLst>
          </p:cNvPr>
          <p:cNvCxnSpPr>
            <a:cxnSpLocks/>
          </p:cNvCxnSpPr>
          <p:nvPr/>
        </p:nvCxnSpPr>
        <p:spPr bwMode="gray">
          <a:xfrm flipV="1">
            <a:off x="9044794" y="5236547"/>
            <a:ext cx="0" cy="239818"/>
          </a:xfrm>
          <a:prstGeom prst="line">
            <a:avLst/>
          </a:prstGeom>
          <a:ln w="25400">
            <a:solidFill>
              <a:schemeClr val="accent2"/>
            </a:solidFill>
            <a:prstDash val="sysDot"/>
            <a:miter lim="800000"/>
            <a:headEnd type="diamond" w="lg" len="lg"/>
          </a:ln>
        </p:spPr>
        <p:style>
          <a:lnRef idx="1">
            <a:schemeClr val="accent1"/>
          </a:lnRef>
          <a:fillRef idx="0">
            <a:schemeClr val="accent1"/>
          </a:fillRef>
          <a:effectRef idx="0">
            <a:schemeClr val="accent1"/>
          </a:effectRef>
          <a:fontRef idx="minor">
            <a:schemeClr val="tx1"/>
          </a:fontRef>
        </p:style>
      </p:cxnSp>
      <p:pic>
        <p:nvPicPr>
          <p:cNvPr id="226" name="Graphic 225">
            <a:extLst>
              <a:ext uri="{FF2B5EF4-FFF2-40B4-BE49-F238E27FC236}">
                <a16:creationId xmlns:a16="http://schemas.microsoft.com/office/drawing/2014/main" id="{0FDA2A2D-6473-EA8E-5752-CC031C82710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49589" y="4954224"/>
            <a:ext cx="190410" cy="223781"/>
          </a:xfrm>
          <a:prstGeom prst="rect">
            <a:avLst/>
          </a:prstGeom>
        </p:spPr>
      </p:pic>
      <p:sp>
        <p:nvSpPr>
          <p:cNvPr id="229" name="Freeform: Shape 362">
            <a:extLst>
              <a:ext uri="{FF2B5EF4-FFF2-40B4-BE49-F238E27FC236}">
                <a16:creationId xmlns:a16="http://schemas.microsoft.com/office/drawing/2014/main" id="{E0D77067-7AFC-8F7C-5EFB-3439374E6E95}"/>
              </a:ext>
            </a:extLst>
          </p:cNvPr>
          <p:cNvSpPr/>
          <p:nvPr/>
        </p:nvSpPr>
        <p:spPr>
          <a:xfrm flipH="1">
            <a:off x="6364251" y="3300460"/>
            <a:ext cx="1410416" cy="445442"/>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400" dirty="0">
                <a:solidFill>
                  <a:schemeClr val="accent5"/>
                </a:solidFill>
              </a:rPr>
              <a:t>Aggregated Resources</a:t>
            </a:r>
            <a:endParaRPr lang="en-US" sz="1400" dirty="0">
              <a:solidFill>
                <a:schemeClr val="accent5"/>
              </a:solidFill>
              <a:latin typeface="Arial" panose="020B0604020202020204" pitchFamily="34" charset="0"/>
            </a:endParaRPr>
          </a:p>
        </p:txBody>
      </p:sp>
      <p:sp>
        <p:nvSpPr>
          <p:cNvPr id="230" name="Freeform: Shape 362">
            <a:extLst>
              <a:ext uri="{FF2B5EF4-FFF2-40B4-BE49-F238E27FC236}">
                <a16:creationId xmlns:a16="http://schemas.microsoft.com/office/drawing/2014/main" id="{6842B279-BD9E-A22B-F63C-8ECC30C96BDD}"/>
              </a:ext>
            </a:extLst>
          </p:cNvPr>
          <p:cNvSpPr/>
          <p:nvPr/>
        </p:nvSpPr>
        <p:spPr>
          <a:xfrm flipH="1">
            <a:off x="6364251" y="4994955"/>
            <a:ext cx="1410416" cy="445442"/>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400" dirty="0">
                <a:solidFill>
                  <a:schemeClr val="accent5"/>
                </a:solidFill>
              </a:rPr>
              <a:t>Disaggregated Resources</a:t>
            </a:r>
            <a:endParaRPr lang="en-US" sz="1400" dirty="0">
              <a:solidFill>
                <a:schemeClr val="accent5"/>
              </a:solidFill>
              <a:latin typeface="Arial" panose="020B0604020202020204" pitchFamily="34" charset="0"/>
            </a:endParaRPr>
          </a:p>
        </p:txBody>
      </p:sp>
      <p:grpSp>
        <p:nvGrpSpPr>
          <p:cNvPr id="292" name="Group 291">
            <a:extLst>
              <a:ext uri="{FF2B5EF4-FFF2-40B4-BE49-F238E27FC236}">
                <a16:creationId xmlns:a16="http://schemas.microsoft.com/office/drawing/2014/main" id="{47AD4343-B9DF-B41F-0A10-3E90B27456A1}"/>
              </a:ext>
            </a:extLst>
          </p:cNvPr>
          <p:cNvGrpSpPr/>
          <p:nvPr/>
        </p:nvGrpSpPr>
        <p:grpSpPr>
          <a:xfrm>
            <a:off x="1904239" y="3813027"/>
            <a:ext cx="2189434" cy="113067"/>
            <a:chOff x="1904239" y="3813027"/>
            <a:chExt cx="2189434" cy="113067"/>
          </a:xfrm>
        </p:grpSpPr>
        <p:sp>
          <p:nvSpPr>
            <p:cNvPr id="242" name="Rectangle 241">
              <a:extLst>
                <a:ext uri="{FF2B5EF4-FFF2-40B4-BE49-F238E27FC236}">
                  <a16:creationId xmlns:a16="http://schemas.microsoft.com/office/drawing/2014/main" id="{129A0900-4313-3A20-EE4D-1A86151B86C5}"/>
                </a:ext>
              </a:extLst>
            </p:cNvPr>
            <p:cNvSpPr/>
            <p:nvPr/>
          </p:nvSpPr>
          <p:spPr>
            <a:xfrm>
              <a:off x="1904239" y="3813027"/>
              <a:ext cx="497923" cy="113067"/>
            </a:xfrm>
            <a:prstGeom prst="rect">
              <a:avLst/>
            </a:prstGeom>
            <a:solidFill>
              <a:schemeClr val="accent4">
                <a:lumMod val="20000"/>
                <a:lumOff val="80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43" name="Rectangle 242">
              <a:extLst>
                <a:ext uri="{FF2B5EF4-FFF2-40B4-BE49-F238E27FC236}">
                  <a16:creationId xmlns:a16="http://schemas.microsoft.com/office/drawing/2014/main" id="{E639055E-35A0-BF6E-1FD4-F82203374272}"/>
                </a:ext>
              </a:extLst>
            </p:cNvPr>
            <p:cNvSpPr/>
            <p:nvPr/>
          </p:nvSpPr>
          <p:spPr>
            <a:xfrm>
              <a:off x="2468076" y="3813027"/>
              <a:ext cx="497923" cy="113067"/>
            </a:xfrm>
            <a:prstGeom prst="rect">
              <a:avLst/>
            </a:prstGeom>
            <a:solidFill>
              <a:schemeClr val="accent4">
                <a:lumMod val="20000"/>
                <a:lumOff val="80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44" name="Rectangle 243">
              <a:extLst>
                <a:ext uri="{FF2B5EF4-FFF2-40B4-BE49-F238E27FC236}">
                  <a16:creationId xmlns:a16="http://schemas.microsoft.com/office/drawing/2014/main" id="{6821203B-F3FE-F955-01BE-3CA6F2DDD386}"/>
                </a:ext>
              </a:extLst>
            </p:cNvPr>
            <p:cNvSpPr/>
            <p:nvPr/>
          </p:nvSpPr>
          <p:spPr>
            <a:xfrm>
              <a:off x="3031913" y="3813027"/>
              <a:ext cx="497923" cy="113067"/>
            </a:xfrm>
            <a:prstGeom prst="rect">
              <a:avLst/>
            </a:prstGeom>
            <a:solidFill>
              <a:schemeClr val="accent4">
                <a:lumMod val="20000"/>
                <a:lumOff val="80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45" name="Rectangle 244">
              <a:extLst>
                <a:ext uri="{FF2B5EF4-FFF2-40B4-BE49-F238E27FC236}">
                  <a16:creationId xmlns:a16="http://schemas.microsoft.com/office/drawing/2014/main" id="{5843B5B5-39BC-0B39-9780-6F887E634ADA}"/>
                </a:ext>
              </a:extLst>
            </p:cNvPr>
            <p:cNvSpPr/>
            <p:nvPr/>
          </p:nvSpPr>
          <p:spPr>
            <a:xfrm>
              <a:off x="3595750" y="3813027"/>
              <a:ext cx="497923" cy="113067"/>
            </a:xfrm>
            <a:prstGeom prst="rect">
              <a:avLst/>
            </a:prstGeom>
            <a:solidFill>
              <a:schemeClr val="accent4">
                <a:lumMod val="20000"/>
                <a:lumOff val="80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grpSp>
        <p:nvGrpSpPr>
          <p:cNvPr id="293" name="Group 292">
            <a:extLst>
              <a:ext uri="{FF2B5EF4-FFF2-40B4-BE49-F238E27FC236}">
                <a16:creationId xmlns:a16="http://schemas.microsoft.com/office/drawing/2014/main" id="{92CA2A2F-76DC-D757-0285-413EABBA2F23}"/>
              </a:ext>
            </a:extLst>
          </p:cNvPr>
          <p:cNvGrpSpPr/>
          <p:nvPr/>
        </p:nvGrpSpPr>
        <p:grpSpPr>
          <a:xfrm>
            <a:off x="1904239" y="3530338"/>
            <a:ext cx="2189434" cy="230392"/>
            <a:chOff x="1904239" y="3530338"/>
            <a:chExt cx="2189434" cy="230392"/>
          </a:xfrm>
        </p:grpSpPr>
        <p:grpSp>
          <p:nvGrpSpPr>
            <p:cNvPr id="235" name="Group 234">
              <a:extLst>
                <a:ext uri="{FF2B5EF4-FFF2-40B4-BE49-F238E27FC236}">
                  <a16:creationId xmlns:a16="http://schemas.microsoft.com/office/drawing/2014/main" id="{F41ABFC0-CDE5-852D-9F8B-5AE9DA9D9AB9}"/>
                </a:ext>
              </a:extLst>
            </p:cNvPr>
            <p:cNvGrpSpPr/>
            <p:nvPr/>
          </p:nvGrpSpPr>
          <p:grpSpPr>
            <a:xfrm>
              <a:off x="1904239" y="3530338"/>
              <a:ext cx="1061760" cy="230392"/>
              <a:chOff x="6535453" y="2852959"/>
              <a:chExt cx="966592" cy="209741"/>
            </a:xfrm>
            <a:solidFill>
              <a:schemeClr val="accent2"/>
            </a:solidFill>
          </p:grpSpPr>
          <p:pic>
            <p:nvPicPr>
              <p:cNvPr id="246" name="Graphic 245">
                <a:extLst>
                  <a:ext uri="{FF2B5EF4-FFF2-40B4-BE49-F238E27FC236}">
                    <a16:creationId xmlns:a16="http://schemas.microsoft.com/office/drawing/2014/main" id="{AC43B3AA-D174-D005-08E6-0F32F901CCC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787737" y="2852959"/>
                <a:ext cx="209741" cy="209741"/>
              </a:xfrm>
              <a:prstGeom prst="rect">
                <a:avLst/>
              </a:prstGeom>
            </p:spPr>
          </p:pic>
          <p:pic>
            <p:nvPicPr>
              <p:cNvPr id="247" name="Graphic 246">
                <a:extLst>
                  <a:ext uri="{FF2B5EF4-FFF2-40B4-BE49-F238E27FC236}">
                    <a16:creationId xmlns:a16="http://schemas.microsoft.com/office/drawing/2014/main" id="{4EC04589-DF77-C41E-AB41-00E1CAE4DD7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535453" y="2852959"/>
                <a:ext cx="209741" cy="209741"/>
              </a:xfrm>
              <a:prstGeom prst="rect">
                <a:avLst/>
              </a:prstGeom>
            </p:spPr>
          </p:pic>
          <p:pic>
            <p:nvPicPr>
              <p:cNvPr id="248" name="Graphic 247">
                <a:extLst>
                  <a:ext uri="{FF2B5EF4-FFF2-40B4-BE49-F238E27FC236}">
                    <a16:creationId xmlns:a16="http://schemas.microsoft.com/office/drawing/2014/main" id="{D74C1B32-9FC2-A956-DCE6-930E92A5C57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92304" y="2852959"/>
                <a:ext cx="209741" cy="209741"/>
              </a:xfrm>
              <a:prstGeom prst="rect">
                <a:avLst/>
              </a:prstGeom>
            </p:spPr>
          </p:pic>
          <p:pic>
            <p:nvPicPr>
              <p:cNvPr id="249" name="Graphic 248">
                <a:extLst>
                  <a:ext uri="{FF2B5EF4-FFF2-40B4-BE49-F238E27FC236}">
                    <a16:creationId xmlns:a16="http://schemas.microsoft.com/office/drawing/2014/main" id="{24DF94CF-E689-9340-E940-B619D47D386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040021" y="2852959"/>
                <a:ext cx="209741" cy="209741"/>
              </a:xfrm>
              <a:prstGeom prst="rect">
                <a:avLst/>
              </a:prstGeom>
            </p:spPr>
          </p:pic>
        </p:grpSp>
        <p:grpSp>
          <p:nvGrpSpPr>
            <p:cNvPr id="237" name="Group 236">
              <a:extLst>
                <a:ext uri="{FF2B5EF4-FFF2-40B4-BE49-F238E27FC236}">
                  <a16:creationId xmlns:a16="http://schemas.microsoft.com/office/drawing/2014/main" id="{1483989C-B738-B99F-7260-6CD57742386A}"/>
                </a:ext>
              </a:extLst>
            </p:cNvPr>
            <p:cNvGrpSpPr/>
            <p:nvPr/>
          </p:nvGrpSpPr>
          <p:grpSpPr>
            <a:xfrm>
              <a:off x="3031913" y="3530338"/>
              <a:ext cx="1061760" cy="230392"/>
              <a:chOff x="6535453" y="2852959"/>
              <a:chExt cx="966592" cy="209741"/>
            </a:xfrm>
            <a:solidFill>
              <a:schemeClr val="accent2"/>
            </a:solidFill>
          </p:grpSpPr>
          <p:pic>
            <p:nvPicPr>
              <p:cNvPr id="238" name="Graphic 237">
                <a:extLst>
                  <a:ext uri="{FF2B5EF4-FFF2-40B4-BE49-F238E27FC236}">
                    <a16:creationId xmlns:a16="http://schemas.microsoft.com/office/drawing/2014/main" id="{4C3148A1-E1AC-385C-2B02-0A4B08A4A05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787737" y="2852959"/>
                <a:ext cx="209741" cy="209741"/>
              </a:xfrm>
              <a:prstGeom prst="rect">
                <a:avLst/>
              </a:prstGeom>
            </p:spPr>
          </p:pic>
          <p:pic>
            <p:nvPicPr>
              <p:cNvPr id="239" name="Graphic 238">
                <a:extLst>
                  <a:ext uri="{FF2B5EF4-FFF2-40B4-BE49-F238E27FC236}">
                    <a16:creationId xmlns:a16="http://schemas.microsoft.com/office/drawing/2014/main" id="{3E57E2BA-71B2-C118-C837-8B3FAE03C27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535453" y="2852959"/>
                <a:ext cx="209741" cy="209741"/>
              </a:xfrm>
              <a:prstGeom prst="rect">
                <a:avLst/>
              </a:prstGeom>
            </p:spPr>
          </p:pic>
          <p:pic>
            <p:nvPicPr>
              <p:cNvPr id="240" name="Graphic 239">
                <a:extLst>
                  <a:ext uri="{FF2B5EF4-FFF2-40B4-BE49-F238E27FC236}">
                    <a16:creationId xmlns:a16="http://schemas.microsoft.com/office/drawing/2014/main" id="{D103239A-F05D-87EF-C178-F5AA65EB2D4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92304" y="2852959"/>
                <a:ext cx="209741" cy="209741"/>
              </a:xfrm>
              <a:prstGeom prst="rect">
                <a:avLst/>
              </a:prstGeom>
            </p:spPr>
          </p:pic>
          <p:pic>
            <p:nvPicPr>
              <p:cNvPr id="241" name="Graphic 240">
                <a:extLst>
                  <a:ext uri="{FF2B5EF4-FFF2-40B4-BE49-F238E27FC236}">
                    <a16:creationId xmlns:a16="http://schemas.microsoft.com/office/drawing/2014/main" id="{96C1FBE9-D9B4-29AC-2D11-8C533D977E4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040021" y="2852959"/>
                <a:ext cx="209741" cy="209741"/>
              </a:xfrm>
              <a:prstGeom prst="rect">
                <a:avLst/>
              </a:prstGeom>
            </p:spPr>
          </p:pic>
        </p:grpSp>
      </p:grpSp>
      <p:sp>
        <p:nvSpPr>
          <p:cNvPr id="250" name="TextBox 249">
            <a:extLst>
              <a:ext uri="{FF2B5EF4-FFF2-40B4-BE49-F238E27FC236}">
                <a16:creationId xmlns:a16="http://schemas.microsoft.com/office/drawing/2014/main" id="{A3A9D14A-9769-E760-2CAF-91B9A4BDFE9B}"/>
              </a:ext>
            </a:extLst>
          </p:cNvPr>
          <p:cNvSpPr txBox="1"/>
          <p:nvPr/>
        </p:nvSpPr>
        <p:spPr>
          <a:xfrm>
            <a:off x="4190276" y="3558431"/>
            <a:ext cx="960192" cy="369332"/>
          </a:xfrm>
          <a:prstGeom prst="rect">
            <a:avLst/>
          </a:prstGeom>
        </p:spPr>
        <p:txBody>
          <a:bodyPr wrap="square" lIns="0" tIns="0" rIns="0" bIns="0" rtlCol="0">
            <a:spAutoFit/>
          </a:bodyPr>
          <a:lstStyle/>
          <a:p>
            <a:pPr algn="ctr">
              <a:spcAft>
                <a:spcPts val="600"/>
              </a:spcAft>
            </a:pPr>
            <a:r>
              <a:rPr lang="en-US" sz="1200" dirty="0">
                <a:solidFill>
                  <a:schemeClr val="tx2"/>
                </a:solidFill>
              </a:rPr>
              <a:t>Compute</a:t>
            </a:r>
            <a:br>
              <a:rPr lang="en-US" sz="1200" dirty="0">
                <a:solidFill>
                  <a:schemeClr val="tx2"/>
                </a:solidFill>
              </a:rPr>
            </a:br>
            <a:r>
              <a:rPr lang="en-US" sz="1200" dirty="0">
                <a:solidFill>
                  <a:schemeClr val="tx2"/>
                </a:solidFill>
              </a:rPr>
              <a:t>only</a:t>
            </a:r>
          </a:p>
        </p:txBody>
      </p:sp>
      <p:sp>
        <p:nvSpPr>
          <p:cNvPr id="251" name="TextBox 250">
            <a:extLst>
              <a:ext uri="{FF2B5EF4-FFF2-40B4-BE49-F238E27FC236}">
                <a16:creationId xmlns:a16="http://schemas.microsoft.com/office/drawing/2014/main" id="{26BA9E3F-F302-F834-C1EE-853BE35370AB}"/>
              </a:ext>
            </a:extLst>
          </p:cNvPr>
          <p:cNvSpPr txBox="1"/>
          <p:nvPr/>
        </p:nvSpPr>
        <p:spPr>
          <a:xfrm>
            <a:off x="8180469" y="5313610"/>
            <a:ext cx="762679" cy="153888"/>
          </a:xfrm>
          <a:prstGeom prst="rect">
            <a:avLst/>
          </a:prstGeom>
        </p:spPr>
        <p:txBody>
          <a:bodyPr wrap="square" lIns="0" tIns="0" rIns="0" bIns="0" rtlCol="0">
            <a:spAutoFit/>
          </a:bodyPr>
          <a:lstStyle/>
          <a:p>
            <a:pPr algn="ctr">
              <a:spcAft>
                <a:spcPts val="600"/>
              </a:spcAft>
            </a:pPr>
            <a:r>
              <a:rPr lang="en-US" sz="1000" dirty="0">
                <a:solidFill>
                  <a:schemeClr val="accent2"/>
                </a:solidFill>
              </a:rPr>
              <a:t>Scale out</a:t>
            </a:r>
          </a:p>
        </p:txBody>
      </p:sp>
      <p:cxnSp>
        <p:nvCxnSpPr>
          <p:cNvPr id="252" name="Straight Connector 251">
            <a:extLst>
              <a:ext uri="{FF2B5EF4-FFF2-40B4-BE49-F238E27FC236}">
                <a16:creationId xmlns:a16="http://schemas.microsoft.com/office/drawing/2014/main" id="{F6BA806D-9A0E-2ACB-7BD9-7520F9E5D4A2}"/>
              </a:ext>
            </a:extLst>
          </p:cNvPr>
          <p:cNvCxnSpPr>
            <a:cxnSpLocks/>
          </p:cNvCxnSpPr>
          <p:nvPr/>
        </p:nvCxnSpPr>
        <p:spPr bwMode="gray">
          <a:xfrm flipH="1">
            <a:off x="7950077" y="5390554"/>
            <a:ext cx="230392" cy="0"/>
          </a:xfrm>
          <a:prstGeom prst="line">
            <a:avLst/>
          </a:prstGeom>
          <a:ln w="25400">
            <a:solidFill>
              <a:schemeClr val="accent2"/>
            </a:solidFill>
            <a:miter lim="800000"/>
            <a:tailEnd type="triangle" w="lg" len="med"/>
          </a:ln>
        </p:spPr>
        <p:style>
          <a:lnRef idx="1">
            <a:schemeClr val="accent1"/>
          </a:lnRef>
          <a:fillRef idx="0">
            <a:schemeClr val="accent1"/>
          </a:fillRef>
          <a:effectRef idx="0">
            <a:schemeClr val="accent1"/>
          </a:effectRef>
          <a:fontRef idx="minor">
            <a:schemeClr val="tx1"/>
          </a:fontRef>
        </p:style>
      </p:cxnSp>
      <p:sp>
        <p:nvSpPr>
          <p:cNvPr id="254" name="TextBox 253">
            <a:extLst>
              <a:ext uri="{FF2B5EF4-FFF2-40B4-BE49-F238E27FC236}">
                <a16:creationId xmlns:a16="http://schemas.microsoft.com/office/drawing/2014/main" id="{A166697A-C5C5-2FA7-AB50-363315762BE9}"/>
              </a:ext>
            </a:extLst>
          </p:cNvPr>
          <p:cNvSpPr txBox="1"/>
          <p:nvPr/>
        </p:nvSpPr>
        <p:spPr>
          <a:xfrm>
            <a:off x="9157789" y="5313610"/>
            <a:ext cx="762679" cy="153888"/>
          </a:xfrm>
          <a:prstGeom prst="rect">
            <a:avLst/>
          </a:prstGeom>
        </p:spPr>
        <p:txBody>
          <a:bodyPr wrap="square" lIns="0" tIns="0" rIns="0" bIns="0" rtlCol="0">
            <a:spAutoFit/>
          </a:bodyPr>
          <a:lstStyle/>
          <a:p>
            <a:pPr algn="ctr">
              <a:spcAft>
                <a:spcPts val="600"/>
              </a:spcAft>
            </a:pPr>
            <a:r>
              <a:rPr lang="en-US" sz="1000" dirty="0">
                <a:solidFill>
                  <a:schemeClr val="accent2"/>
                </a:solidFill>
              </a:rPr>
              <a:t>Scale out</a:t>
            </a:r>
          </a:p>
        </p:txBody>
      </p:sp>
      <p:cxnSp>
        <p:nvCxnSpPr>
          <p:cNvPr id="255" name="Straight Connector 254">
            <a:extLst>
              <a:ext uri="{FF2B5EF4-FFF2-40B4-BE49-F238E27FC236}">
                <a16:creationId xmlns:a16="http://schemas.microsoft.com/office/drawing/2014/main" id="{E22264A1-4999-95BB-F9F1-E0D4F366007F}"/>
              </a:ext>
            </a:extLst>
          </p:cNvPr>
          <p:cNvCxnSpPr>
            <a:cxnSpLocks/>
          </p:cNvCxnSpPr>
          <p:nvPr/>
        </p:nvCxnSpPr>
        <p:spPr bwMode="gray">
          <a:xfrm>
            <a:off x="9911372" y="5390554"/>
            <a:ext cx="228139" cy="0"/>
          </a:xfrm>
          <a:prstGeom prst="line">
            <a:avLst/>
          </a:prstGeom>
          <a:ln w="25400">
            <a:solidFill>
              <a:schemeClr val="accent2"/>
            </a:solidFill>
            <a:miter lim="800000"/>
            <a:tailEnd type="triangle" w="lg" len="med"/>
          </a:ln>
        </p:spPr>
        <p:style>
          <a:lnRef idx="1">
            <a:schemeClr val="accent1"/>
          </a:lnRef>
          <a:fillRef idx="0">
            <a:schemeClr val="accent1"/>
          </a:fillRef>
          <a:effectRef idx="0">
            <a:schemeClr val="accent1"/>
          </a:effectRef>
          <a:fontRef idx="minor">
            <a:schemeClr val="tx1"/>
          </a:fontRef>
        </p:style>
      </p:cxnSp>
      <p:pic>
        <p:nvPicPr>
          <p:cNvPr id="257" name="Graphic 256">
            <a:extLst>
              <a:ext uri="{FF2B5EF4-FFF2-40B4-BE49-F238E27FC236}">
                <a16:creationId xmlns:a16="http://schemas.microsoft.com/office/drawing/2014/main" id="{09235904-AA8F-2ECC-555D-7C44C8D7E8E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flipV="1">
            <a:off x="2754406" y="4459438"/>
            <a:ext cx="489101" cy="130164"/>
          </a:xfrm>
          <a:prstGeom prst="rect">
            <a:avLst/>
          </a:prstGeom>
        </p:spPr>
      </p:pic>
      <p:sp>
        <p:nvSpPr>
          <p:cNvPr id="116" name="Text Placeholder 2">
            <a:extLst>
              <a:ext uri="{FF2B5EF4-FFF2-40B4-BE49-F238E27FC236}">
                <a16:creationId xmlns:a16="http://schemas.microsoft.com/office/drawing/2014/main" id="{BF91B8F9-022A-7166-0F70-26E6C691BEEC}"/>
              </a:ext>
            </a:extLst>
          </p:cNvPr>
          <p:cNvSpPr txBox="1">
            <a:spLocks/>
          </p:cNvSpPr>
          <p:nvPr/>
        </p:nvSpPr>
        <p:spPr>
          <a:xfrm>
            <a:off x="7164923" y="2264675"/>
            <a:ext cx="2430102" cy="368412"/>
          </a:xfrm>
          <a:prstGeom prst="rect">
            <a:avLst/>
          </a:prstGeom>
        </p:spPr>
        <p:txBody>
          <a:bodyPr lIns="0" tIns="0" rIns="0" bIns="0">
            <a:no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marL="171450" indent="-171450">
              <a:spcBef>
                <a:spcPts val="0"/>
              </a:spcBef>
              <a:spcAft>
                <a:spcPts val="200"/>
              </a:spcAft>
              <a:buClrTx/>
              <a:buFont typeface="Arial" panose="020B0604020202020204" pitchFamily="34" charset="0"/>
              <a:buChar char="•"/>
            </a:pPr>
            <a:r>
              <a:rPr lang="en-US" sz="1200" dirty="0">
                <a:solidFill>
                  <a:schemeClr val="bg1"/>
                </a:solidFill>
                <a:latin typeface="Arial" panose="020B0604020202020204" pitchFamily="34" charset="0"/>
              </a:rPr>
              <a:t>Commodity server hardware</a:t>
            </a:r>
          </a:p>
          <a:p>
            <a:pPr marL="171450" indent="-171450">
              <a:spcBef>
                <a:spcPts val="0"/>
              </a:spcBef>
              <a:spcAft>
                <a:spcPts val="200"/>
              </a:spcAft>
              <a:buClrTx/>
              <a:buFont typeface="Arial" panose="020B0604020202020204" pitchFamily="34" charset="0"/>
              <a:buChar char="•"/>
            </a:pPr>
            <a:r>
              <a:rPr lang="en-US" sz="1200" dirty="0">
                <a:solidFill>
                  <a:schemeClr val="bg1"/>
                </a:solidFill>
                <a:latin typeface="Arial" panose="020B0604020202020204" pitchFamily="34" charset="0"/>
              </a:rPr>
              <a:t>Distributed scale-out storage</a:t>
            </a:r>
          </a:p>
        </p:txBody>
      </p:sp>
      <p:sp>
        <p:nvSpPr>
          <p:cNvPr id="263" name="Text Placeholder 2">
            <a:extLst>
              <a:ext uri="{FF2B5EF4-FFF2-40B4-BE49-F238E27FC236}">
                <a16:creationId xmlns:a16="http://schemas.microsoft.com/office/drawing/2014/main" id="{153A8444-BBBC-0BB0-A859-A965599F95CB}"/>
              </a:ext>
            </a:extLst>
          </p:cNvPr>
          <p:cNvSpPr txBox="1">
            <a:spLocks/>
          </p:cNvSpPr>
          <p:nvPr/>
        </p:nvSpPr>
        <p:spPr>
          <a:xfrm>
            <a:off x="9657817" y="2264675"/>
            <a:ext cx="1922996" cy="430806"/>
          </a:xfrm>
          <a:prstGeom prst="rect">
            <a:avLst/>
          </a:prstGeom>
        </p:spPr>
        <p:txBody>
          <a:bodyPr lIns="0" tIns="0" rIns="0" bIns="0">
            <a:no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marL="171450" indent="-171450">
              <a:spcBef>
                <a:spcPts val="0"/>
              </a:spcBef>
              <a:spcAft>
                <a:spcPts val="200"/>
              </a:spcAft>
              <a:buClrTx/>
              <a:buFont typeface="Arial" panose="020B0604020202020204" pitchFamily="34" charset="0"/>
              <a:buChar char="•"/>
            </a:pPr>
            <a:r>
              <a:rPr lang="en-US" sz="1200" dirty="0">
                <a:solidFill>
                  <a:schemeClr val="bg1"/>
                </a:solidFill>
              </a:rPr>
              <a:t>Common management</a:t>
            </a:r>
          </a:p>
          <a:p>
            <a:pPr marL="171450" indent="-171450">
              <a:spcBef>
                <a:spcPts val="0"/>
              </a:spcBef>
              <a:spcAft>
                <a:spcPts val="200"/>
              </a:spcAft>
              <a:buClrTx/>
              <a:buFont typeface="Arial" panose="020B0604020202020204" pitchFamily="34" charset="0"/>
              <a:buChar char="•"/>
            </a:pPr>
            <a:r>
              <a:rPr lang="en-US" sz="1200" dirty="0">
                <a:solidFill>
                  <a:schemeClr val="bg1"/>
                </a:solidFill>
              </a:rPr>
              <a:t>Highly flexible</a:t>
            </a:r>
            <a:endParaRPr lang="en-GB" sz="1200" dirty="0">
              <a:solidFill>
                <a:schemeClr val="bg1"/>
              </a:solidFill>
              <a:latin typeface="Arial" panose="020B0604020202020204" pitchFamily="34" charset="0"/>
            </a:endParaRPr>
          </a:p>
        </p:txBody>
      </p:sp>
      <p:sp>
        <p:nvSpPr>
          <p:cNvPr id="264" name="Text Placeholder 2">
            <a:extLst>
              <a:ext uri="{FF2B5EF4-FFF2-40B4-BE49-F238E27FC236}">
                <a16:creationId xmlns:a16="http://schemas.microsoft.com/office/drawing/2014/main" id="{455F5B60-BF0F-4464-93CC-EF3222E5E333}"/>
              </a:ext>
            </a:extLst>
          </p:cNvPr>
          <p:cNvSpPr txBox="1">
            <a:spLocks/>
          </p:cNvSpPr>
          <p:nvPr/>
        </p:nvSpPr>
        <p:spPr>
          <a:xfrm>
            <a:off x="1380477" y="2264675"/>
            <a:ext cx="2482804" cy="368412"/>
          </a:xfrm>
          <a:prstGeom prst="rect">
            <a:avLst/>
          </a:prstGeom>
        </p:spPr>
        <p:txBody>
          <a:bodyPr lIns="0" tIns="0" rIns="0" bIns="0">
            <a:no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marL="171450" indent="-171450">
              <a:spcBef>
                <a:spcPts val="0"/>
              </a:spcBef>
              <a:spcAft>
                <a:spcPts val="200"/>
              </a:spcAft>
              <a:buClrTx/>
              <a:buFont typeface="Arial" panose="020B0604020202020204" pitchFamily="34" charset="0"/>
              <a:buChar char="•"/>
            </a:pPr>
            <a:r>
              <a:rPr lang="en-US" sz="1200" dirty="0">
                <a:solidFill>
                  <a:schemeClr val="bg1"/>
                </a:solidFill>
                <a:latin typeface="Arial" panose="020B0604020202020204" pitchFamily="34" charset="0"/>
              </a:rPr>
              <a:t>Proprietary storage hardware</a:t>
            </a:r>
          </a:p>
          <a:p>
            <a:pPr marL="171450" indent="-171450">
              <a:spcBef>
                <a:spcPts val="0"/>
              </a:spcBef>
              <a:spcAft>
                <a:spcPts val="200"/>
              </a:spcAft>
              <a:buClrTx/>
              <a:buFont typeface="Arial" panose="020B0604020202020204" pitchFamily="34" charset="0"/>
              <a:buChar char="•"/>
            </a:pPr>
            <a:r>
              <a:rPr lang="en-US" sz="1200" dirty="0">
                <a:solidFill>
                  <a:schemeClr val="bg1"/>
                </a:solidFill>
                <a:latin typeface="Arial" panose="020B0604020202020204" pitchFamily="34" charset="0"/>
              </a:rPr>
              <a:t>Limited scalability</a:t>
            </a:r>
          </a:p>
        </p:txBody>
      </p:sp>
      <p:sp>
        <p:nvSpPr>
          <p:cNvPr id="265" name="Text Placeholder 2">
            <a:extLst>
              <a:ext uri="{FF2B5EF4-FFF2-40B4-BE49-F238E27FC236}">
                <a16:creationId xmlns:a16="http://schemas.microsoft.com/office/drawing/2014/main" id="{314D967C-760D-68AF-43FD-3314E24EA39D}"/>
              </a:ext>
            </a:extLst>
          </p:cNvPr>
          <p:cNvSpPr txBox="1">
            <a:spLocks/>
          </p:cNvSpPr>
          <p:nvPr/>
        </p:nvSpPr>
        <p:spPr>
          <a:xfrm>
            <a:off x="3873371" y="2264675"/>
            <a:ext cx="1922996" cy="430806"/>
          </a:xfrm>
          <a:prstGeom prst="rect">
            <a:avLst/>
          </a:prstGeom>
        </p:spPr>
        <p:txBody>
          <a:bodyPr lIns="0" tIns="0" rIns="0" bIns="0">
            <a:no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marL="171450" indent="-171450">
              <a:spcBef>
                <a:spcPts val="0"/>
              </a:spcBef>
              <a:spcAft>
                <a:spcPts val="200"/>
              </a:spcAft>
              <a:buClrTx/>
              <a:buFont typeface="Arial" panose="020B0604020202020204" pitchFamily="34" charset="0"/>
              <a:buChar char="•"/>
            </a:pPr>
            <a:r>
              <a:rPr lang="en-US" sz="1200" dirty="0">
                <a:solidFill>
                  <a:schemeClr val="bg1"/>
                </a:solidFill>
              </a:rPr>
              <a:t>Siloed management</a:t>
            </a:r>
          </a:p>
          <a:p>
            <a:pPr marL="171450" indent="-171450">
              <a:spcBef>
                <a:spcPts val="0"/>
              </a:spcBef>
              <a:spcAft>
                <a:spcPts val="200"/>
              </a:spcAft>
              <a:buClrTx/>
              <a:buFont typeface="Arial" panose="020B0604020202020204" pitchFamily="34" charset="0"/>
              <a:buChar char="•"/>
            </a:pPr>
            <a:r>
              <a:rPr lang="en-US" sz="1200" dirty="0">
                <a:solidFill>
                  <a:schemeClr val="bg1"/>
                </a:solidFill>
              </a:rPr>
              <a:t>Inflexible</a:t>
            </a:r>
            <a:endParaRPr lang="en-GB" sz="1200" dirty="0">
              <a:solidFill>
                <a:schemeClr val="bg1"/>
              </a:solidFill>
              <a:latin typeface="Arial" panose="020B0604020202020204" pitchFamily="34" charset="0"/>
            </a:endParaRPr>
          </a:p>
        </p:txBody>
      </p:sp>
      <p:cxnSp>
        <p:nvCxnSpPr>
          <p:cNvPr id="268" name="Straight Connector 267">
            <a:extLst>
              <a:ext uri="{FF2B5EF4-FFF2-40B4-BE49-F238E27FC236}">
                <a16:creationId xmlns:a16="http://schemas.microsoft.com/office/drawing/2014/main" id="{C7684C5B-9E87-29EE-8BCC-C1ADC5DFDAD7}"/>
              </a:ext>
            </a:extLst>
          </p:cNvPr>
          <p:cNvCxnSpPr>
            <a:cxnSpLocks/>
          </p:cNvCxnSpPr>
          <p:nvPr/>
        </p:nvCxnSpPr>
        <p:spPr bwMode="gray">
          <a:xfrm>
            <a:off x="2998955" y="4625550"/>
            <a:ext cx="0" cy="125867"/>
          </a:xfrm>
          <a:prstGeom prst="line">
            <a:avLst/>
          </a:prstGeom>
          <a:ln w="190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50E24B69-6C41-B951-9CD8-763385A15548}"/>
              </a:ext>
            </a:extLst>
          </p:cNvPr>
          <p:cNvCxnSpPr>
            <a:cxnSpLocks/>
          </p:cNvCxnSpPr>
          <p:nvPr/>
        </p:nvCxnSpPr>
        <p:spPr bwMode="gray">
          <a:xfrm>
            <a:off x="2153200" y="3986213"/>
            <a:ext cx="0" cy="300038"/>
          </a:xfrm>
          <a:prstGeom prst="line">
            <a:avLst/>
          </a:prstGeom>
          <a:ln w="190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5535880A-4E58-8FCC-01D3-8584989C871D}"/>
              </a:ext>
            </a:extLst>
          </p:cNvPr>
          <p:cNvCxnSpPr>
            <a:cxnSpLocks/>
          </p:cNvCxnSpPr>
          <p:nvPr/>
        </p:nvCxnSpPr>
        <p:spPr bwMode="gray">
          <a:xfrm>
            <a:off x="2717037" y="3986213"/>
            <a:ext cx="0" cy="300038"/>
          </a:xfrm>
          <a:prstGeom prst="line">
            <a:avLst/>
          </a:prstGeom>
          <a:ln w="190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26957C09-CCDD-F1D0-9CB7-174D543E65FF}"/>
              </a:ext>
            </a:extLst>
          </p:cNvPr>
          <p:cNvCxnSpPr>
            <a:cxnSpLocks/>
          </p:cNvCxnSpPr>
          <p:nvPr/>
        </p:nvCxnSpPr>
        <p:spPr bwMode="gray">
          <a:xfrm>
            <a:off x="3280874" y="3986213"/>
            <a:ext cx="0" cy="300038"/>
          </a:xfrm>
          <a:prstGeom prst="line">
            <a:avLst/>
          </a:prstGeom>
          <a:ln w="190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B3926648-5F52-816B-209D-854C19F84490}"/>
              </a:ext>
            </a:extLst>
          </p:cNvPr>
          <p:cNvCxnSpPr>
            <a:cxnSpLocks/>
          </p:cNvCxnSpPr>
          <p:nvPr/>
        </p:nvCxnSpPr>
        <p:spPr bwMode="gray">
          <a:xfrm>
            <a:off x="3844711" y="3986213"/>
            <a:ext cx="0" cy="300038"/>
          </a:xfrm>
          <a:prstGeom prst="line">
            <a:avLst/>
          </a:prstGeom>
          <a:ln w="190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0063EC7D-DBB0-09AA-0CCC-CA418434E2A2}"/>
              </a:ext>
            </a:extLst>
          </p:cNvPr>
          <p:cNvCxnSpPr>
            <a:cxnSpLocks/>
          </p:cNvCxnSpPr>
          <p:nvPr/>
        </p:nvCxnSpPr>
        <p:spPr bwMode="gray">
          <a:xfrm>
            <a:off x="2153200" y="4286251"/>
            <a:ext cx="1691511" cy="0"/>
          </a:xfrm>
          <a:prstGeom prst="line">
            <a:avLst/>
          </a:prstGeom>
          <a:ln w="190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E1BB07E0-CC9B-E660-A5DF-54206CBCD633}"/>
              </a:ext>
            </a:extLst>
          </p:cNvPr>
          <p:cNvCxnSpPr>
            <a:cxnSpLocks/>
          </p:cNvCxnSpPr>
          <p:nvPr/>
        </p:nvCxnSpPr>
        <p:spPr bwMode="gray">
          <a:xfrm>
            <a:off x="2998955" y="4286251"/>
            <a:ext cx="0" cy="125867"/>
          </a:xfrm>
          <a:prstGeom prst="line">
            <a:avLst/>
          </a:prstGeom>
          <a:ln w="190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Freeform: Shape 362">
            <a:extLst>
              <a:ext uri="{FF2B5EF4-FFF2-40B4-BE49-F238E27FC236}">
                <a16:creationId xmlns:a16="http://schemas.microsoft.com/office/drawing/2014/main" id="{C04E2D1A-17C8-9EF8-8DB6-97EEEDB13458}"/>
              </a:ext>
            </a:extLst>
          </p:cNvPr>
          <p:cNvSpPr/>
          <p:nvPr/>
        </p:nvSpPr>
        <p:spPr>
          <a:xfrm flipH="1">
            <a:off x="6758882" y="4063530"/>
            <a:ext cx="621155" cy="445442"/>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400" dirty="0">
                <a:solidFill>
                  <a:schemeClr val="accent5"/>
                </a:solidFill>
              </a:rPr>
              <a:t>Or…</a:t>
            </a:r>
            <a:endParaRPr lang="en-US" sz="1400" dirty="0">
              <a:solidFill>
                <a:schemeClr val="accent5"/>
              </a:solidFill>
              <a:latin typeface="Arial" panose="020B0604020202020204" pitchFamily="34" charset="0"/>
            </a:endParaRPr>
          </a:p>
        </p:txBody>
      </p:sp>
    </p:spTree>
    <p:extLst>
      <p:ext uri="{BB962C8B-B14F-4D97-AF65-F5344CB8AC3E}">
        <p14:creationId xmlns:p14="http://schemas.microsoft.com/office/powerpoint/2010/main" val="2295877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261"/>
                                        </p:tgtEl>
                                        <p:attrNameLst>
                                          <p:attrName>style.visibility</p:attrName>
                                        </p:attrNameLst>
                                      </p:cBhvr>
                                      <p:to>
                                        <p:strVal val="visible"/>
                                      </p:to>
                                    </p:set>
                                    <p:animEffect transition="in" filter="fade">
                                      <p:cBhvr>
                                        <p:cTn id="7" dur="500"/>
                                        <p:tgtEl>
                                          <p:spTgt spid="261"/>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13"/>
                                        </p:tgtEl>
                                        <p:attrNameLst>
                                          <p:attrName>style.visibility</p:attrName>
                                        </p:attrNameLst>
                                      </p:cBhvr>
                                      <p:to>
                                        <p:strVal val="visible"/>
                                      </p:to>
                                    </p:set>
                                    <p:animEffect transition="in" filter="fade">
                                      <p:cBhvr>
                                        <p:cTn id="10" dur="500"/>
                                        <p:tgtEl>
                                          <p:spTgt spid="113"/>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103"/>
                                        </p:tgtEl>
                                        <p:attrNameLst>
                                          <p:attrName>style.visibility</p:attrName>
                                        </p:attrNameLst>
                                      </p:cBhvr>
                                      <p:to>
                                        <p:strVal val="visible"/>
                                      </p:to>
                                    </p:set>
                                    <p:animEffect transition="in" filter="fade">
                                      <p:cBhvr>
                                        <p:cTn id="14" dur="500"/>
                                        <p:tgtEl>
                                          <p:spTgt spid="10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292"/>
                                        </p:tgtEl>
                                        <p:attrNameLst>
                                          <p:attrName>style.visibility</p:attrName>
                                        </p:attrNameLst>
                                      </p:cBhvr>
                                      <p:to>
                                        <p:strVal val="visible"/>
                                      </p:to>
                                    </p:set>
                                    <p:animEffect transition="in" filter="fade">
                                      <p:cBhvr>
                                        <p:cTn id="21" dur="500"/>
                                        <p:tgtEl>
                                          <p:spTgt spid="292"/>
                                        </p:tgtEl>
                                      </p:cBhvr>
                                    </p:animEffect>
                                  </p:childTnLst>
                                </p:cTn>
                              </p:par>
                            </p:childTnLst>
                          </p:cTn>
                        </p:par>
                        <p:par>
                          <p:cTn id="22" fill="hold">
                            <p:stCondLst>
                              <p:cond delay="2000"/>
                            </p:stCondLst>
                            <p:childTnLst>
                              <p:par>
                                <p:cTn id="23" presetID="10" presetClass="entr" presetSubtype="0" fill="hold" nodeType="afterEffect">
                                  <p:stCondLst>
                                    <p:cond delay="0"/>
                                  </p:stCondLst>
                                  <p:childTnLst>
                                    <p:set>
                                      <p:cBhvr>
                                        <p:cTn id="24" dur="1" fill="hold">
                                          <p:stCondLst>
                                            <p:cond delay="0"/>
                                          </p:stCondLst>
                                        </p:cTn>
                                        <p:tgtEl>
                                          <p:spTgt spid="109"/>
                                        </p:tgtEl>
                                        <p:attrNameLst>
                                          <p:attrName>style.visibility</p:attrName>
                                        </p:attrNameLst>
                                      </p:cBhvr>
                                      <p:to>
                                        <p:strVal val="visible"/>
                                      </p:to>
                                    </p:set>
                                    <p:animEffect transition="in" filter="fade">
                                      <p:cBhvr>
                                        <p:cTn id="25" dur="500"/>
                                        <p:tgtEl>
                                          <p:spTgt spid="10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1"/>
                                        </p:tgtEl>
                                        <p:attrNameLst>
                                          <p:attrName>style.visibility</p:attrName>
                                        </p:attrNameLst>
                                      </p:cBhvr>
                                      <p:to>
                                        <p:strVal val="visible"/>
                                      </p:to>
                                    </p:set>
                                    <p:animEffect transition="in" filter="fade">
                                      <p:cBhvr>
                                        <p:cTn id="28" dur="500"/>
                                        <p:tgtEl>
                                          <p:spTgt spid="111"/>
                                        </p:tgtEl>
                                      </p:cBhvr>
                                    </p:animEffect>
                                  </p:childTnLst>
                                </p:cTn>
                              </p:par>
                              <p:par>
                                <p:cTn id="29" presetID="10" presetClass="entr" presetSubtype="0" fill="hold" nodeType="withEffect">
                                  <p:stCondLst>
                                    <p:cond delay="0"/>
                                  </p:stCondLst>
                                  <p:childTnLst>
                                    <p:set>
                                      <p:cBhvr>
                                        <p:cTn id="30" dur="1" fill="hold">
                                          <p:stCondLst>
                                            <p:cond delay="0"/>
                                          </p:stCondLst>
                                        </p:cTn>
                                        <p:tgtEl>
                                          <p:spTgt spid="257"/>
                                        </p:tgtEl>
                                        <p:attrNameLst>
                                          <p:attrName>style.visibility</p:attrName>
                                        </p:attrNameLst>
                                      </p:cBhvr>
                                      <p:to>
                                        <p:strVal val="visible"/>
                                      </p:to>
                                    </p:set>
                                    <p:animEffect transition="in" filter="fade">
                                      <p:cBhvr>
                                        <p:cTn id="31" dur="500"/>
                                        <p:tgtEl>
                                          <p:spTgt spid="257"/>
                                        </p:tgtEl>
                                      </p:cBhvr>
                                    </p:animEffect>
                                  </p:childTnLst>
                                </p:cTn>
                              </p:par>
                              <p:par>
                                <p:cTn id="32" presetID="10" presetClass="entr" presetSubtype="0" fill="hold" nodeType="withEffect">
                                  <p:stCondLst>
                                    <p:cond delay="0"/>
                                  </p:stCondLst>
                                  <p:childTnLst>
                                    <p:set>
                                      <p:cBhvr>
                                        <p:cTn id="33" dur="1" fill="hold">
                                          <p:stCondLst>
                                            <p:cond delay="0"/>
                                          </p:stCondLst>
                                        </p:cTn>
                                        <p:tgtEl>
                                          <p:spTgt spid="112"/>
                                        </p:tgtEl>
                                        <p:attrNameLst>
                                          <p:attrName>style.visibility</p:attrName>
                                        </p:attrNameLst>
                                      </p:cBhvr>
                                      <p:to>
                                        <p:strVal val="visible"/>
                                      </p:to>
                                    </p:set>
                                    <p:animEffect transition="in" filter="fade">
                                      <p:cBhvr>
                                        <p:cTn id="34" dur="500"/>
                                        <p:tgtEl>
                                          <p:spTgt spid="112"/>
                                        </p:tgtEl>
                                      </p:cBhvr>
                                    </p:animEffect>
                                  </p:childTnLst>
                                </p:cTn>
                              </p:par>
                            </p:childTnLst>
                          </p:cTn>
                        </p:par>
                        <p:par>
                          <p:cTn id="35" fill="hold">
                            <p:stCondLst>
                              <p:cond delay="2500"/>
                            </p:stCondLst>
                            <p:childTnLst>
                              <p:par>
                                <p:cTn id="36" presetID="22" presetClass="entr" presetSubtype="4" fill="hold" nodeType="afterEffect">
                                  <p:stCondLst>
                                    <p:cond delay="0"/>
                                  </p:stCondLst>
                                  <p:childTnLst>
                                    <p:set>
                                      <p:cBhvr>
                                        <p:cTn id="37" dur="1" fill="hold">
                                          <p:stCondLst>
                                            <p:cond delay="0"/>
                                          </p:stCondLst>
                                        </p:cTn>
                                        <p:tgtEl>
                                          <p:spTgt spid="268"/>
                                        </p:tgtEl>
                                        <p:attrNameLst>
                                          <p:attrName>style.visibility</p:attrName>
                                        </p:attrNameLst>
                                      </p:cBhvr>
                                      <p:to>
                                        <p:strVal val="visible"/>
                                      </p:to>
                                    </p:set>
                                    <p:animEffect transition="in" filter="wipe(down)">
                                      <p:cBhvr>
                                        <p:cTn id="38" dur="250"/>
                                        <p:tgtEl>
                                          <p:spTgt spid="268"/>
                                        </p:tgtEl>
                                      </p:cBhvr>
                                    </p:animEffect>
                                  </p:childTnLst>
                                </p:cTn>
                              </p:par>
                            </p:childTnLst>
                          </p:cTn>
                        </p:par>
                        <p:par>
                          <p:cTn id="39" fill="hold">
                            <p:stCondLst>
                              <p:cond delay="2750"/>
                            </p:stCondLst>
                            <p:childTnLst>
                              <p:par>
                                <p:cTn id="40" presetID="22" presetClass="entr" presetSubtype="4" fill="hold" nodeType="afterEffect">
                                  <p:stCondLst>
                                    <p:cond delay="0"/>
                                  </p:stCondLst>
                                  <p:childTnLst>
                                    <p:set>
                                      <p:cBhvr>
                                        <p:cTn id="41" dur="1" fill="hold">
                                          <p:stCondLst>
                                            <p:cond delay="0"/>
                                          </p:stCondLst>
                                        </p:cTn>
                                        <p:tgtEl>
                                          <p:spTgt spid="285"/>
                                        </p:tgtEl>
                                        <p:attrNameLst>
                                          <p:attrName>style.visibility</p:attrName>
                                        </p:attrNameLst>
                                      </p:cBhvr>
                                      <p:to>
                                        <p:strVal val="visible"/>
                                      </p:to>
                                    </p:set>
                                    <p:animEffect transition="in" filter="wipe(down)">
                                      <p:cBhvr>
                                        <p:cTn id="42" dur="250"/>
                                        <p:tgtEl>
                                          <p:spTgt spid="285"/>
                                        </p:tgtEl>
                                      </p:cBhvr>
                                    </p:animEffect>
                                  </p:childTnLst>
                                </p:cTn>
                              </p:par>
                            </p:childTnLst>
                          </p:cTn>
                        </p:par>
                        <p:par>
                          <p:cTn id="43" fill="hold">
                            <p:stCondLst>
                              <p:cond delay="3000"/>
                            </p:stCondLst>
                            <p:childTnLst>
                              <p:par>
                                <p:cTn id="44" presetID="16" presetClass="entr" presetSubtype="37" fill="hold" nodeType="afterEffect">
                                  <p:stCondLst>
                                    <p:cond delay="0"/>
                                  </p:stCondLst>
                                  <p:childTnLst>
                                    <p:set>
                                      <p:cBhvr>
                                        <p:cTn id="45" dur="1" fill="hold">
                                          <p:stCondLst>
                                            <p:cond delay="0"/>
                                          </p:stCondLst>
                                        </p:cTn>
                                        <p:tgtEl>
                                          <p:spTgt spid="279"/>
                                        </p:tgtEl>
                                        <p:attrNameLst>
                                          <p:attrName>style.visibility</p:attrName>
                                        </p:attrNameLst>
                                      </p:cBhvr>
                                      <p:to>
                                        <p:strVal val="visible"/>
                                      </p:to>
                                    </p:set>
                                    <p:animEffect transition="in" filter="barn(outVertical)">
                                      <p:cBhvr>
                                        <p:cTn id="46" dur="500"/>
                                        <p:tgtEl>
                                          <p:spTgt spid="279"/>
                                        </p:tgtEl>
                                      </p:cBhvr>
                                    </p:animEffect>
                                  </p:childTnLst>
                                </p:cTn>
                              </p:par>
                            </p:childTnLst>
                          </p:cTn>
                        </p:par>
                        <p:par>
                          <p:cTn id="47" fill="hold">
                            <p:stCondLst>
                              <p:cond delay="3500"/>
                            </p:stCondLst>
                            <p:childTnLst>
                              <p:par>
                                <p:cTn id="48" presetID="22" presetClass="entr" presetSubtype="4" fill="hold" nodeType="afterEffect">
                                  <p:stCondLst>
                                    <p:cond delay="0"/>
                                  </p:stCondLst>
                                  <p:childTnLst>
                                    <p:set>
                                      <p:cBhvr>
                                        <p:cTn id="49" dur="1" fill="hold">
                                          <p:stCondLst>
                                            <p:cond delay="0"/>
                                          </p:stCondLst>
                                        </p:cTn>
                                        <p:tgtEl>
                                          <p:spTgt spid="272"/>
                                        </p:tgtEl>
                                        <p:attrNameLst>
                                          <p:attrName>style.visibility</p:attrName>
                                        </p:attrNameLst>
                                      </p:cBhvr>
                                      <p:to>
                                        <p:strVal val="visible"/>
                                      </p:to>
                                    </p:set>
                                    <p:animEffect transition="in" filter="wipe(down)">
                                      <p:cBhvr>
                                        <p:cTn id="50" dur="500"/>
                                        <p:tgtEl>
                                          <p:spTgt spid="272"/>
                                        </p:tgtEl>
                                      </p:cBhvr>
                                    </p:animEffect>
                                  </p:childTnLst>
                                </p:cTn>
                              </p:par>
                              <p:par>
                                <p:cTn id="51" presetID="22" presetClass="entr" presetSubtype="4" fill="hold" nodeType="withEffect">
                                  <p:stCondLst>
                                    <p:cond delay="0"/>
                                  </p:stCondLst>
                                  <p:childTnLst>
                                    <p:set>
                                      <p:cBhvr>
                                        <p:cTn id="52" dur="1" fill="hold">
                                          <p:stCondLst>
                                            <p:cond delay="0"/>
                                          </p:stCondLst>
                                        </p:cTn>
                                        <p:tgtEl>
                                          <p:spTgt spid="275"/>
                                        </p:tgtEl>
                                        <p:attrNameLst>
                                          <p:attrName>style.visibility</p:attrName>
                                        </p:attrNameLst>
                                      </p:cBhvr>
                                      <p:to>
                                        <p:strVal val="visible"/>
                                      </p:to>
                                    </p:set>
                                    <p:animEffect transition="in" filter="wipe(down)">
                                      <p:cBhvr>
                                        <p:cTn id="53" dur="500"/>
                                        <p:tgtEl>
                                          <p:spTgt spid="275"/>
                                        </p:tgtEl>
                                      </p:cBhvr>
                                    </p:animEffect>
                                  </p:childTnLst>
                                </p:cTn>
                              </p:par>
                              <p:par>
                                <p:cTn id="54" presetID="22" presetClass="entr" presetSubtype="4" fill="hold" nodeType="withEffect">
                                  <p:stCondLst>
                                    <p:cond delay="0"/>
                                  </p:stCondLst>
                                  <p:childTnLst>
                                    <p:set>
                                      <p:cBhvr>
                                        <p:cTn id="55" dur="1" fill="hold">
                                          <p:stCondLst>
                                            <p:cond delay="0"/>
                                          </p:stCondLst>
                                        </p:cTn>
                                        <p:tgtEl>
                                          <p:spTgt spid="276"/>
                                        </p:tgtEl>
                                        <p:attrNameLst>
                                          <p:attrName>style.visibility</p:attrName>
                                        </p:attrNameLst>
                                      </p:cBhvr>
                                      <p:to>
                                        <p:strVal val="visible"/>
                                      </p:to>
                                    </p:set>
                                    <p:animEffect transition="in" filter="wipe(down)">
                                      <p:cBhvr>
                                        <p:cTn id="56" dur="500"/>
                                        <p:tgtEl>
                                          <p:spTgt spid="276"/>
                                        </p:tgtEl>
                                      </p:cBhvr>
                                    </p:animEffect>
                                  </p:childTnLst>
                                </p:cTn>
                              </p:par>
                              <p:par>
                                <p:cTn id="57" presetID="22" presetClass="entr" presetSubtype="4" fill="hold" nodeType="withEffect">
                                  <p:stCondLst>
                                    <p:cond delay="0"/>
                                  </p:stCondLst>
                                  <p:childTnLst>
                                    <p:set>
                                      <p:cBhvr>
                                        <p:cTn id="58" dur="1" fill="hold">
                                          <p:stCondLst>
                                            <p:cond delay="0"/>
                                          </p:stCondLst>
                                        </p:cTn>
                                        <p:tgtEl>
                                          <p:spTgt spid="277"/>
                                        </p:tgtEl>
                                        <p:attrNameLst>
                                          <p:attrName>style.visibility</p:attrName>
                                        </p:attrNameLst>
                                      </p:cBhvr>
                                      <p:to>
                                        <p:strVal val="visible"/>
                                      </p:to>
                                    </p:set>
                                    <p:animEffect transition="in" filter="wipe(down)">
                                      <p:cBhvr>
                                        <p:cTn id="59" dur="500"/>
                                        <p:tgtEl>
                                          <p:spTgt spid="277"/>
                                        </p:tgtEl>
                                      </p:cBhvr>
                                    </p:animEffect>
                                  </p:childTnLst>
                                </p:cTn>
                              </p:par>
                            </p:childTnLst>
                          </p:cTn>
                        </p:par>
                        <p:par>
                          <p:cTn id="60" fill="hold">
                            <p:stCondLst>
                              <p:cond delay="4000"/>
                            </p:stCondLst>
                            <p:childTnLst>
                              <p:par>
                                <p:cTn id="61" presetID="10" presetClass="entr" presetSubtype="0" fill="hold" nodeType="afterEffect">
                                  <p:stCondLst>
                                    <p:cond delay="0"/>
                                  </p:stCondLst>
                                  <p:childTnLst>
                                    <p:set>
                                      <p:cBhvr>
                                        <p:cTn id="62" dur="1" fill="hold">
                                          <p:stCondLst>
                                            <p:cond delay="0"/>
                                          </p:stCondLst>
                                        </p:cTn>
                                        <p:tgtEl>
                                          <p:spTgt spid="293"/>
                                        </p:tgtEl>
                                        <p:attrNameLst>
                                          <p:attrName>style.visibility</p:attrName>
                                        </p:attrNameLst>
                                      </p:cBhvr>
                                      <p:to>
                                        <p:strVal val="visible"/>
                                      </p:to>
                                    </p:set>
                                    <p:animEffect transition="in" filter="fade">
                                      <p:cBhvr>
                                        <p:cTn id="63" dur="500"/>
                                        <p:tgtEl>
                                          <p:spTgt spid="29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0"/>
                                        </p:tgtEl>
                                        <p:attrNameLst>
                                          <p:attrName>style.visibility</p:attrName>
                                        </p:attrNameLst>
                                      </p:cBhvr>
                                      <p:to>
                                        <p:strVal val="visible"/>
                                      </p:to>
                                    </p:set>
                                    <p:animEffect transition="in" filter="fade">
                                      <p:cBhvr>
                                        <p:cTn id="66" dur="500"/>
                                        <p:tgtEl>
                                          <p:spTgt spid="250"/>
                                        </p:tgtEl>
                                      </p:cBhvr>
                                    </p:animEffect>
                                  </p:childTnLst>
                                </p:cTn>
                              </p:par>
                            </p:childTnLst>
                          </p:cTn>
                        </p:par>
                        <p:par>
                          <p:cTn id="67" fill="hold">
                            <p:stCondLst>
                              <p:cond delay="4500"/>
                            </p:stCondLst>
                            <p:childTnLst>
                              <p:par>
                                <p:cTn id="68" presetID="10" presetClass="entr" presetSubtype="0" fill="hold" grpId="0" nodeType="afterEffect">
                                  <p:stCondLst>
                                    <p:cond delay="1000"/>
                                  </p:stCondLst>
                                  <p:childTnLst>
                                    <p:set>
                                      <p:cBhvr>
                                        <p:cTn id="69" dur="1" fill="hold">
                                          <p:stCondLst>
                                            <p:cond delay="0"/>
                                          </p:stCondLst>
                                        </p:cTn>
                                        <p:tgtEl>
                                          <p:spTgt spid="264"/>
                                        </p:tgtEl>
                                        <p:attrNameLst>
                                          <p:attrName>style.visibility</p:attrName>
                                        </p:attrNameLst>
                                      </p:cBhvr>
                                      <p:to>
                                        <p:strVal val="visible"/>
                                      </p:to>
                                    </p:set>
                                    <p:animEffect transition="in" filter="fade">
                                      <p:cBhvr>
                                        <p:cTn id="70" dur="500"/>
                                        <p:tgtEl>
                                          <p:spTgt spid="264"/>
                                        </p:tgtEl>
                                      </p:cBhvr>
                                    </p:animEffect>
                                  </p:childTnLst>
                                </p:cTn>
                              </p:par>
                              <p:par>
                                <p:cTn id="71" presetID="10" presetClass="entr" presetSubtype="0" fill="hold" grpId="0" nodeType="withEffect">
                                  <p:stCondLst>
                                    <p:cond delay="1000"/>
                                  </p:stCondLst>
                                  <p:childTnLst>
                                    <p:set>
                                      <p:cBhvr>
                                        <p:cTn id="72" dur="1" fill="hold">
                                          <p:stCondLst>
                                            <p:cond delay="0"/>
                                          </p:stCondLst>
                                        </p:cTn>
                                        <p:tgtEl>
                                          <p:spTgt spid="265"/>
                                        </p:tgtEl>
                                        <p:attrNameLst>
                                          <p:attrName>style.visibility</p:attrName>
                                        </p:attrNameLst>
                                      </p:cBhvr>
                                      <p:to>
                                        <p:strVal val="visible"/>
                                      </p:to>
                                    </p:set>
                                    <p:animEffect transition="in" filter="fade">
                                      <p:cBhvr>
                                        <p:cTn id="73" dur="500"/>
                                        <p:tgtEl>
                                          <p:spTgt spid="265"/>
                                        </p:tgtEl>
                                      </p:cBhvr>
                                    </p:animEffect>
                                  </p:childTnLst>
                                </p:cTn>
                              </p:par>
                            </p:childTnLst>
                          </p:cTn>
                        </p:par>
                        <p:par>
                          <p:cTn id="74" fill="hold">
                            <p:stCondLst>
                              <p:cond delay="6000"/>
                            </p:stCondLst>
                            <p:childTnLst>
                              <p:par>
                                <p:cTn id="75" presetID="26" presetClass="emph" presetSubtype="0" fill="hold" grpId="1" nodeType="afterEffect">
                                  <p:stCondLst>
                                    <p:cond delay="500"/>
                                  </p:stCondLst>
                                  <p:childTnLst>
                                    <p:animEffect transition="out" filter="fade">
                                      <p:cBhvr>
                                        <p:cTn id="76" dur="500" tmFilter="0, 0; .2, .5; .8, .5; 1, 0"/>
                                        <p:tgtEl>
                                          <p:spTgt spid="264"/>
                                        </p:tgtEl>
                                      </p:cBhvr>
                                    </p:animEffect>
                                    <p:animScale>
                                      <p:cBhvr>
                                        <p:cTn id="77" dur="250" autoRev="1" fill="hold"/>
                                        <p:tgtEl>
                                          <p:spTgt spid="264"/>
                                        </p:tgtEl>
                                      </p:cBhvr>
                                      <p:by x="105000" y="105000"/>
                                    </p:animScale>
                                  </p:childTnLst>
                                </p:cTn>
                              </p:par>
                              <p:par>
                                <p:cTn id="78" presetID="26" presetClass="emph" presetSubtype="0" fill="hold" grpId="1" nodeType="withEffect">
                                  <p:stCondLst>
                                    <p:cond delay="500"/>
                                  </p:stCondLst>
                                  <p:childTnLst>
                                    <p:animEffect transition="out" filter="fade">
                                      <p:cBhvr>
                                        <p:cTn id="79" dur="500" tmFilter="0, 0; .2, .5; .8, .5; 1, 0"/>
                                        <p:tgtEl>
                                          <p:spTgt spid="265"/>
                                        </p:tgtEl>
                                      </p:cBhvr>
                                    </p:animEffect>
                                    <p:animScale>
                                      <p:cBhvr>
                                        <p:cTn id="80" dur="250" autoRev="1" fill="hold"/>
                                        <p:tgtEl>
                                          <p:spTgt spid="265"/>
                                        </p:tgtEl>
                                      </p:cBhvr>
                                      <p:by x="105000" y="105000"/>
                                    </p:animScale>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262"/>
                                        </p:tgtEl>
                                        <p:attrNameLst>
                                          <p:attrName>style.visibility</p:attrName>
                                        </p:attrNameLst>
                                      </p:cBhvr>
                                      <p:to>
                                        <p:strVal val="visible"/>
                                      </p:to>
                                    </p:set>
                                    <p:animEffect transition="in" filter="fade">
                                      <p:cBhvr>
                                        <p:cTn id="85" dur="500"/>
                                        <p:tgtEl>
                                          <p:spTgt spid="26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114"/>
                                        </p:tgtEl>
                                        <p:attrNameLst>
                                          <p:attrName>style.visibility</p:attrName>
                                        </p:attrNameLst>
                                      </p:cBhvr>
                                      <p:to>
                                        <p:strVal val="visible"/>
                                      </p:to>
                                    </p:set>
                                    <p:animEffect transition="in" filter="fade">
                                      <p:cBhvr>
                                        <p:cTn id="88" dur="500"/>
                                        <p:tgtEl>
                                          <p:spTgt spid="114"/>
                                        </p:tgtEl>
                                      </p:cBhvr>
                                    </p:animEffect>
                                  </p:childTnLst>
                                </p:cTn>
                              </p:par>
                            </p:childTnLst>
                          </p:cTn>
                        </p:par>
                        <p:par>
                          <p:cTn id="89" fill="hold">
                            <p:stCondLst>
                              <p:cond delay="500"/>
                            </p:stCondLst>
                            <p:childTnLst>
                              <p:par>
                                <p:cTn id="90" presetID="10" presetClass="entr" presetSubtype="0" fill="hold" grpId="0" nodeType="afterEffect">
                                  <p:stCondLst>
                                    <p:cond delay="0"/>
                                  </p:stCondLst>
                                  <p:childTnLst>
                                    <p:set>
                                      <p:cBhvr>
                                        <p:cTn id="91" dur="1" fill="hold">
                                          <p:stCondLst>
                                            <p:cond delay="0"/>
                                          </p:stCondLst>
                                        </p:cTn>
                                        <p:tgtEl>
                                          <p:spTgt spid="44"/>
                                        </p:tgtEl>
                                        <p:attrNameLst>
                                          <p:attrName>style.visibility</p:attrName>
                                        </p:attrNameLst>
                                      </p:cBhvr>
                                      <p:to>
                                        <p:strVal val="visible"/>
                                      </p:to>
                                    </p:set>
                                    <p:animEffect transition="in" filter="fade">
                                      <p:cBhvr>
                                        <p:cTn id="92" dur="500"/>
                                        <p:tgtEl>
                                          <p:spTgt spid="44"/>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500"/>
                                        <p:tgtEl>
                                          <p:spTgt spid="24"/>
                                        </p:tgtEl>
                                      </p:cBhvr>
                                    </p:animEffect>
                                  </p:childTnLst>
                                </p:cTn>
                              </p:par>
                            </p:childTnLst>
                          </p:cTn>
                        </p:par>
                        <p:par>
                          <p:cTn id="96" fill="hold">
                            <p:stCondLst>
                              <p:cond delay="1000"/>
                            </p:stCondLst>
                            <p:childTnLst>
                              <p:par>
                                <p:cTn id="97" presetID="10" presetClass="entr" presetSubtype="0" fill="hold" nodeType="afterEffect">
                                  <p:stCondLst>
                                    <p:cond delay="0"/>
                                  </p:stCondLst>
                                  <p:childTnLst>
                                    <p:set>
                                      <p:cBhvr>
                                        <p:cTn id="98" dur="1" fill="hold">
                                          <p:stCondLst>
                                            <p:cond delay="0"/>
                                          </p:stCondLst>
                                        </p:cTn>
                                        <p:tgtEl>
                                          <p:spTgt spid="5"/>
                                        </p:tgtEl>
                                        <p:attrNameLst>
                                          <p:attrName>style.visibility</p:attrName>
                                        </p:attrNameLst>
                                      </p:cBhvr>
                                      <p:to>
                                        <p:strVal val="visible"/>
                                      </p:to>
                                    </p:set>
                                    <p:animEffect transition="in" filter="fade">
                                      <p:cBhvr>
                                        <p:cTn id="99" dur="500"/>
                                        <p:tgtEl>
                                          <p:spTgt spid="5"/>
                                        </p:tgtEl>
                                      </p:cBhvr>
                                    </p:animEffect>
                                  </p:childTnLst>
                                </p:cTn>
                              </p:par>
                              <p:par>
                                <p:cTn id="100" presetID="10" presetClass="entr" presetSubtype="0" fill="hold" nodeType="withEffect">
                                  <p:stCondLst>
                                    <p:cond delay="0"/>
                                  </p:stCondLst>
                                  <p:childTnLst>
                                    <p:set>
                                      <p:cBhvr>
                                        <p:cTn id="101" dur="1" fill="hold">
                                          <p:stCondLst>
                                            <p:cond delay="0"/>
                                          </p:stCondLst>
                                        </p:cTn>
                                        <p:tgtEl>
                                          <p:spTgt spid="192"/>
                                        </p:tgtEl>
                                        <p:attrNameLst>
                                          <p:attrName>style.visibility</p:attrName>
                                        </p:attrNameLst>
                                      </p:cBhvr>
                                      <p:to>
                                        <p:strVal val="visible"/>
                                      </p:to>
                                    </p:set>
                                    <p:animEffect transition="in" filter="fade">
                                      <p:cBhvr>
                                        <p:cTn id="102" dur="500"/>
                                        <p:tgtEl>
                                          <p:spTgt spid="192"/>
                                        </p:tgtEl>
                                      </p:cBhvr>
                                    </p:animEffect>
                                  </p:childTnLst>
                                </p:cTn>
                              </p:par>
                            </p:childTnLst>
                          </p:cTn>
                        </p:par>
                        <p:par>
                          <p:cTn id="103" fill="hold">
                            <p:stCondLst>
                              <p:cond delay="1500"/>
                            </p:stCondLst>
                            <p:childTnLst>
                              <p:par>
                                <p:cTn id="104" presetID="10" presetClass="entr" presetSubtype="0" fill="hold" grpId="0" nodeType="afterEffect">
                                  <p:stCondLst>
                                    <p:cond delay="0"/>
                                  </p:stCondLst>
                                  <p:childTnLst>
                                    <p:set>
                                      <p:cBhvr>
                                        <p:cTn id="105" dur="1" fill="hold">
                                          <p:stCondLst>
                                            <p:cond delay="0"/>
                                          </p:stCondLst>
                                        </p:cTn>
                                        <p:tgtEl>
                                          <p:spTgt spid="137"/>
                                        </p:tgtEl>
                                        <p:attrNameLst>
                                          <p:attrName>style.visibility</p:attrName>
                                        </p:attrNameLst>
                                      </p:cBhvr>
                                      <p:to>
                                        <p:strVal val="visible"/>
                                      </p:to>
                                    </p:set>
                                    <p:animEffect transition="in" filter="fade">
                                      <p:cBhvr>
                                        <p:cTn id="106" dur="500"/>
                                        <p:tgtEl>
                                          <p:spTgt spid="137"/>
                                        </p:tgtEl>
                                      </p:cBhvr>
                                    </p:animEffect>
                                  </p:childTnLst>
                                </p:cTn>
                              </p:par>
                              <p:par>
                                <p:cTn id="107" presetID="10" presetClass="entr" presetSubtype="0" fill="hold" nodeType="withEffect">
                                  <p:stCondLst>
                                    <p:cond delay="0"/>
                                  </p:stCondLst>
                                  <p:childTnLst>
                                    <p:set>
                                      <p:cBhvr>
                                        <p:cTn id="108" dur="1" fill="hold">
                                          <p:stCondLst>
                                            <p:cond delay="0"/>
                                          </p:stCondLst>
                                        </p:cTn>
                                        <p:tgtEl>
                                          <p:spTgt spid="138"/>
                                        </p:tgtEl>
                                        <p:attrNameLst>
                                          <p:attrName>style.visibility</p:attrName>
                                        </p:attrNameLst>
                                      </p:cBhvr>
                                      <p:to>
                                        <p:strVal val="visible"/>
                                      </p:to>
                                    </p:set>
                                    <p:animEffect transition="in" filter="fade">
                                      <p:cBhvr>
                                        <p:cTn id="109" dur="500"/>
                                        <p:tgtEl>
                                          <p:spTgt spid="138"/>
                                        </p:tgtEl>
                                      </p:cBhvr>
                                    </p:animEffect>
                                  </p:childTnLst>
                                </p:cTn>
                              </p:par>
                            </p:childTnLst>
                          </p:cTn>
                        </p:par>
                        <p:par>
                          <p:cTn id="110" fill="hold">
                            <p:stCondLst>
                              <p:cond delay="2000"/>
                            </p:stCondLst>
                            <p:childTnLst>
                              <p:par>
                                <p:cTn id="111" presetID="10" presetClass="entr" presetSubtype="0" fill="hold" nodeType="afterEffect">
                                  <p:stCondLst>
                                    <p:cond delay="0"/>
                                  </p:stCondLst>
                                  <p:childTnLst>
                                    <p:set>
                                      <p:cBhvr>
                                        <p:cTn id="112" dur="1" fill="hold">
                                          <p:stCondLst>
                                            <p:cond delay="0"/>
                                          </p:stCondLst>
                                        </p:cTn>
                                        <p:tgtEl>
                                          <p:spTgt spid="7"/>
                                        </p:tgtEl>
                                        <p:attrNameLst>
                                          <p:attrName>style.visibility</p:attrName>
                                        </p:attrNameLst>
                                      </p:cBhvr>
                                      <p:to>
                                        <p:strVal val="visible"/>
                                      </p:to>
                                    </p:set>
                                    <p:animEffect transition="in" filter="fade">
                                      <p:cBhvr>
                                        <p:cTn id="113" dur="500"/>
                                        <p:tgtEl>
                                          <p:spTgt spid="7"/>
                                        </p:tgtEl>
                                      </p:cBhvr>
                                    </p:animEffect>
                                  </p:childTnLst>
                                </p:cTn>
                              </p:par>
                            </p:childTnLst>
                          </p:cTn>
                        </p:par>
                        <p:par>
                          <p:cTn id="114" fill="hold">
                            <p:stCondLst>
                              <p:cond delay="2500"/>
                            </p:stCondLst>
                            <p:childTnLst>
                              <p:par>
                                <p:cTn id="115" presetID="10" presetClass="entr" presetSubtype="0" fill="hold" grpId="0" nodeType="afterEffect">
                                  <p:stCondLst>
                                    <p:cond delay="0"/>
                                  </p:stCondLst>
                                  <p:childTnLst>
                                    <p:set>
                                      <p:cBhvr>
                                        <p:cTn id="116" dur="1" fill="hold">
                                          <p:stCondLst>
                                            <p:cond delay="0"/>
                                          </p:stCondLst>
                                        </p:cTn>
                                        <p:tgtEl>
                                          <p:spTgt spid="229"/>
                                        </p:tgtEl>
                                        <p:attrNameLst>
                                          <p:attrName>style.visibility</p:attrName>
                                        </p:attrNameLst>
                                      </p:cBhvr>
                                      <p:to>
                                        <p:strVal val="visible"/>
                                      </p:to>
                                    </p:set>
                                    <p:animEffect transition="in" filter="fade">
                                      <p:cBhvr>
                                        <p:cTn id="117" dur="500"/>
                                        <p:tgtEl>
                                          <p:spTgt spid="229"/>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4"/>
                                        </p:tgtEl>
                                        <p:attrNameLst>
                                          <p:attrName>style.visibility</p:attrName>
                                        </p:attrNameLst>
                                      </p:cBhvr>
                                      <p:to>
                                        <p:strVal val="visible"/>
                                      </p:to>
                                    </p:set>
                                    <p:animEffect transition="in" filter="fade">
                                      <p:cBhvr>
                                        <p:cTn id="122" dur="500"/>
                                        <p:tgtEl>
                                          <p:spTgt spid="4"/>
                                        </p:tgtEl>
                                      </p:cBhvr>
                                    </p:animEffect>
                                  </p:childTnLst>
                                </p:cTn>
                              </p:par>
                            </p:childTnLst>
                          </p:cTn>
                        </p:par>
                        <p:par>
                          <p:cTn id="123" fill="hold">
                            <p:stCondLst>
                              <p:cond delay="500"/>
                            </p:stCondLst>
                            <p:childTnLst>
                              <p:par>
                                <p:cTn id="124" presetID="10" presetClass="entr" presetSubtype="0" fill="hold" nodeType="afterEffect">
                                  <p:stCondLst>
                                    <p:cond delay="500"/>
                                  </p:stCondLst>
                                  <p:childTnLst>
                                    <p:set>
                                      <p:cBhvr>
                                        <p:cTn id="125" dur="1" fill="hold">
                                          <p:stCondLst>
                                            <p:cond delay="0"/>
                                          </p:stCondLst>
                                        </p:cTn>
                                        <p:tgtEl>
                                          <p:spTgt spid="200"/>
                                        </p:tgtEl>
                                        <p:attrNameLst>
                                          <p:attrName>style.visibility</p:attrName>
                                        </p:attrNameLst>
                                      </p:cBhvr>
                                      <p:to>
                                        <p:strVal val="visible"/>
                                      </p:to>
                                    </p:set>
                                    <p:animEffect transition="in" filter="fade">
                                      <p:cBhvr>
                                        <p:cTn id="126" dur="500"/>
                                        <p:tgtEl>
                                          <p:spTgt spid="200"/>
                                        </p:tgtEl>
                                      </p:cBhvr>
                                    </p:animEffect>
                                  </p:childTnLst>
                                </p:cTn>
                              </p:par>
                              <p:par>
                                <p:cTn id="127" presetID="10" presetClass="entr" presetSubtype="0" fill="hold" nodeType="withEffect">
                                  <p:stCondLst>
                                    <p:cond delay="500"/>
                                  </p:stCondLst>
                                  <p:childTnLst>
                                    <p:set>
                                      <p:cBhvr>
                                        <p:cTn id="128" dur="1" fill="hold">
                                          <p:stCondLst>
                                            <p:cond delay="0"/>
                                          </p:stCondLst>
                                        </p:cTn>
                                        <p:tgtEl>
                                          <p:spTgt spid="197"/>
                                        </p:tgtEl>
                                        <p:attrNameLst>
                                          <p:attrName>style.visibility</p:attrName>
                                        </p:attrNameLst>
                                      </p:cBhvr>
                                      <p:to>
                                        <p:strVal val="visible"/>
                                      </p:to>
                                    </p:set>
                                    <p:animEffect transition="in" filter="fade">
                                      <p:cBhvr>
                                        <p:cTn id="129" dur="500"/>
                                        <p:tgtEl>
                                          <p:spTgt spid="197"/>
                                        </p:tgtEl>
                                      </p:cBhvr>
                                    </p:animEffect>
                                  </p:childTnLst>
                                </p:cTn>
                              </p:par>
                            </p:childTnLst>
                          </p:cTn>
                        </p:par>
                        <p:par>
                          <p:cTn id="130" fill="hold">
                            <p:stCondLst>
                              <p:cond delay="1500"/>
                            </p:stCondLst>
                            <p:childTnLst>
                              <p:par>
                                <p:cTn id="131" presetID="10" presetClass="entr" presetSubtype="0" fill="hold" nodeType="afterEffect">
                                  <p:stCondLst>
                                    <p:cond delay="0"/>
                                  </p:stCondLst>
                                  <p:childTnLst>
                                    <p:set>
                                      <p:cBhvr>
                                        <p:cTn id="132" dur="1" fill="hold">
                                          <p:stCondLst>
                                            <p:cond delay="0"/>
                                          </p:stCondLst>
                                        </p:cTn>
                                        <p:tgtEl>
                                          <p:spTgt spid="196"/>
                                        </p:tgtEl>
                                        <p:attrNameLst>
                                          <p:attrName>style.visibility</p:attrName>
                                        </p:attrNameLst>
                                      </p:cBhvr>
                                      <p:to>
                                        <p:strVal val="visible"/>
                                      </p:to>
                                    </p:set>
                                    <p:animEffect transition="in" filter="fade">
                                      <p:cBhvr>
                                        <p:cTn id="133" dur="500"/>
                                        <p:tgtEl>
                                          <p:spTgt spid="196"/>
                                        </p:tgtEl>
                                      </p:cBhvr>
                                    </p:animEffect>
                                  </p:childTnLst>
                                </p:cTn>
                              </p:par>
                            </p:childTnLst>
                          </p:cTn>
                        </p:par>
                        <p:par>
                          <p:cTn id="134" fill="hold">
                            <p:stCondLst>
                              <p:cond delay="2000"/>
                            </p:stCondLst>
                            <p:childTnLst>
                              <p:par>
                                <p:cTn id="135" presetID="10" presetClass="entr" presetSubtype="0" fill="hold" grpId="0" nodeType="afterEffect">
                                  <p:stCondLst>
                                    <p:cond delay="0"/>
                                  </p:stCondLst>
                                  <p:childTnLst>
                                    <p:set>
                                      <p:cBhvr>
                                        <p:cTn id="136" dur="1" fill="hold">
                                          <p:stCondLst>
                                            <p:cond delay="0"/>
                                          </p:stCondLst>
                                        </p:cTn>
                                        <p:tgtEl>
                                          <p:spTgt spid="195"/>
                                        </p:tgtEl>
                                        <p:attrNameLst>
                                          <p:attrName>style.visibility</p:attrName>
                                        </p:attrNameLst>
                                      </p:cBhvr>
                                      <p:to>
                                        <p:strVal val="visible"/>
                                      </p:to>
                                    </p:set>
                                    <p:animEffect transition="in" filter="fade">
                                      <p:cBhvr>
                                        <p:cTn id="137" dur="500"/>
                                        <p:tgtEl>
                                          <p:spTgt spid="195"/>
                                        </p:tgtEl>
                                      </p:cBhvr>
                                    </p:animEffect>
                                  </p:childTnLst>
                                </p:cTn>
                              </p:par>
                            </p:childTnLst>
                          </p:cTn>
                        </p:par>
                        <p:par>
                          <p:cTn id="138" fill="hold">
                            <p:stCondLst>
                              <p:cond delay="2500"/>
                            </p:stCondLst>
                            <p:childTnLst>
                              <p:par>
                                <p:cTn id="139" presetID="10" presetClass="entr" presetSubtype="0" fill="hold" nodeType="afterEffect">
                                  <p:stCondLst>
                                    <p:cond delay="0"/>
                                  </p:stCondLst>
                                  <p:childTnLst>
                                    <p:set>
                                      <p:cBhvr>
                                        <p:cTn id="140" dur="1" fill="hold">
                                          <p:stCondLst>
                                            <p:cond delay="0"/>
                                          </p:stCondLst>
                                        </p:cTn>
                                        <p:tgtEl>
                                          <p:spTgt spid="199"/>
                                        </p:tgtEl>
                                        <p:attrNameLst>
                                          <p:attrName>style.visibility</p:attrName>
                                        </p:attrNameLst>
                                      </p:cBhvr>
                                      <p:to>
                                        <p:strVal val="visible"/>
                                      </p:to>
                                    </p:set>
                                    <p:animEffect transition="in" filter="fade">
                                      <p:cBhvr>
                                        <p:cTn id="141" dur="500"/>
                                        <p:tgtEl>
                                          <p:spTgt spid="199"/>
                                        </p:tgtEl>
                                      </p:cBhvr>
                                    </p:animEffect>
                                  </p:childTnLst>
                                </p:cTn>
                              </p:par>
                            </p:childTnLst>
                          </p:cTn>
                        </p:par>
                        <p:par>
                          <p:cTn id="142" fill="hold">
                            <p:stCondLst>
                              <p:cond delay="3000"/>
                            </p:stCondLst>
                            <p:childTnLst>
                              <p:par>
                                <p:cTn id="143" presetID="22" presetClass="entr" presetSubtype="4" fill="hold" nodeType="afterEffect">
                                  <p:stCondLst>
                                    <p:cond delay="0"/>
                                  </p:stCondLst>
                                  <p:childTnLst>
                                    <p:set>
                                      <p:cBhvr>
                                        <p:cTn id="144" dur="1" fill="hold">
                                          <p:stCondLst>
                                            <p:cond delay="0"/>
                                          </p:stCondLst>
                                        </p:cTn>
                                        <p:tgtEl>
                                          <p:spTgt spid="224"/>
                                        </p:tgtEl>
                                        <p:attrNameLst>
                                          <p:attrName>style.visibility</p:attrName>
                                        </p:attrNameLst>
                                      </p:cBhvr>
                                      <p:to>
                                        <p:strVal val="visible"/>
                                      </p:to>
                                    </p:set>
                                    <p:animEffect transition="in" filter="wipe(down)">
                                      <p:cBhvr>
                                        <p:cTn id="145" dur="500"/>
                                        <p:tgtEl>
                                          <p:spTgt spid="224"/>
                                        </p:tgtEl>
                                      </p:cBhvr>
                                    </p:animEffect>
                                  </p:childTnLst>
                                </p:cTn>
                              </p:par>
                            </p:childTnLst>
                          </p:cTn>
                        </p:par>
                        <p:par>
                          <p:cTn id="146" fill="hold">
                            <p:stCondLst>
                              <p:cond delay="3500"/>
                            </p:stCondLst>
                            <p:childTnLst>
                              <p:par>
                                <p:cTn id="147" presetID="10" presetClass="entr" presetSubtype="0" fill="hold" nodeType="afterEffect">
                                  <p:stCondLst>
                                    <p:cond delay="0"/>
                                  </p:stCondLst>
                                  <p:childTnLst>
                                    <p:set>
                                      <p:cBhvr>
                                        <p:cTn id="148" dur="1" fill="hold">
                                          <p:stCondLst>
                                            <p:cond delay="0"/>
                                          </p:stCondLst>
                                        </p:cTn>
                                        <p:tgtEl>
                                          <p:spTgt spid="226"/>
                                        </p:tgtEl>
                                        <p:attrNameLst>
                                          <p:attrName>style.visibility</p:attrName>
                                        </p:attrNameLst>
                                      </p:cBhvr>
                                      <p:to>
                                        <p:strVal val="visible"/>
                                      </p:to>
                                    </p:set>
                                    <p:animEffect transition="in" filter="fade">
                                      <p:cBhvr>
                                        <p:cTn id="149" dur="500"/>
                                        <p:tgtEl>
                                          <p:spTgt spid="226"/>
                                        </p:tgtEl>
                                      </p:cBhvr>
                                    </p:animEffect>
                                  </p:childTnLst>
                                </p:cTn>
                              </p:par>
                            </p:childTnLst>
                          </p:cTn>
                        </p:par>
                        <p:par>
                          <p:cTn id="150" fill="hold">
                            <p:stCondLst>
                              <p:cond delay="4000"/>
                            </p:stCondLst>
                            <p:childTnLst>
                              <p:par>
                                <p:cTn id="151" presetID="10" presetClass="entr" presetSubtype="0" fill="hold" grpId="0" nodeType="afterEffect">
                                  <p:stCondLst>
                                    <p:cond delay="0"/>
                                  </p:stCondLst>
                                  <p:childTnLst>
                                    <p:set>
                                      <p:cBhvr>
                                        <p:cTn id="152" dur="1" fill="hold">
                                          <p:stCondLst>
                                            <p:cond delay="0"/>
                                          </p:stCondLst>
                                        </p:cTn>
                                        <p:tgtEl>
                                          <p:spTgt spid="230"/>
                                        </p:tgtEl>
                                        <p:attrNameLst>
                                          <p:attrName>style.visibility</p:attrName>
                                        </p:attrNameLst>
                                      </p:cBhvr>
                                      <p:to>
                                        <p:strVal val="visible"/>
                                      </p:to>
                                    </p:set>
                                    <p:animEffect transition="in" filter="fade">
                                      <p:cBhvr>
                                        <p:cTn id="153" dur="500"/>
                                        <p:tgtEl>
                                          <p:spTgt spid="230"/>
                                        </p:tgtEl>
                                      </p:cBhvr>
                                    </p:animEffect>
                                  </p:childTnLst>
                                </p:cTn>
                              </p:par>
                            </p:childTnLst>
                          </p:cTn>
                        </p:par>
                        <p:par>
                          <p:cTn id="154" fill="hold">
                            <p:stCondLst>
                              <p:cond delay="4500"/>
                            </p:stCondLst>
                            <p:childTnLst>
                              <p:par>
                                <p:cTn id="155" presetID="10" presetClass="entr" presetSubtype="0" fill="hold" grpId="0" nodeType="afterEffect">
                                  <p:stCondLst>
                                    <p:cond delay="0"/>
                                  </p:stCondLst>
                                  <p:childTnLst>
                                    <p:set>
                                      <p:cBhvr>
                                        <p:cTn id="156" dur="1" fill="hold">
                                          <p:stCondLst>
                                            <p:cond delay="0"/>
                                          </p:stCondLst>
                                        </p:cTn>
                                        <p:tgtEl>
                                          <p:spTgt spid="251"/>
                                        </p:tgtEl>
                                        <p:attrNameLst>
                                          <p:attrName>style.visibility</p:attrName>
                                        </p:attrNameLst>
                                      </p:cBhvr>
                                      <p:to>
                                        <p:strVal val="visible"/>
                                      </p:to>
                                    </p:set>
                                    <p:animEffect transition="in" filter="fade">
                                      <p:cBhvr>
                                        <p:cTn id="157" dur="500"/>
                                        <p:tgtEl>
                                          <p:spTgt spid="251"/>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254"/>
                                        </p:tgtEl>
                                        <p:attrNameLst>
                                          <p:attrName>style.visibility</p:attrName>
                                        </p:attrNameLst>
                                      </p:cBhvr>
                                      <p:to>
                                        <p:strVal val="visible"/>
                                      </p:to>
                                    </p:set>
                                    <p:animEffect transition="in" filter="fade">
                                      <p:cBhvr>
                                        <p:cTn id="160" dur="500"/>
                                        <p:tgtEl>
                                          <p:spTgt spid="254"/>
                                        </p:tgtEl>
                                      </p:cBhvr>
                                    </p:animEffect>
                                  </p:childTnLst>
                                </p:cTn>
                              </p:par>
                            </p:childTnLst>
                          </p:cTn>
                        </p:par>
                        <p:par>
                          <p:cTn id="161" fill="hold">
                            <p:stCondLst>
                              <p:cond delay="5000"/>
                            </p:stCondLst>
                            <p:childTnLst>
                              <p:par>
                                <p:cTn id="162" presetID="10" presetClass="entr" presetSubtype="0" fill="hold" nodeType="afterEffect">
                                  <p:stCondLst>
                                    <p:cond delay="0"/>
                                  </p:stCondLst>
                                  <p:childTnLst>
                                    <p:set>
                                      <p:cBhvr>
                                        <p:cTn id="163" dur="1" fill="hold">
                                          <p:stCondLst>
                                            <p:cond delay="0"/>
                                          </p:stCondLst>
                                        </p:cTn>
                                        <p:tgtEl>
                                          <p:spTgt spid="8"/>
                                        </p:tgtEl>
                                        <p:attrNameLst>
                                          <p:attrName>style.visibility</p:attrName>
                                        </p:attrNameLst>
                                      </p:cBhvr>
                                      <p:to>
                                        <p:strVal val="visible"/>
                                      </p:to>
                                    </p:set>
                                    <p:animEffect transition="in" filter="fade">
                                      <p:cBhvr>
                                        <p:cTn id="164" dur="500"/>
                                        <p:tgtEl>
                                          <p:spTgt spid="8"/>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223"/>
                                        </p:tgtEl>
                                        <p:attrNameLst>
                                          <p:attrName>style.visibility</p:attrName>
                                        </p:attrNameLst>
                                      </p:cBhvr>
                                      <p:to>
                                        <p:strVal val="visible"/>
                                      </p:to>
                                    </p:set>
                                    <p:animEffect transition="in" filter="fade">
                                      <p:cBhvr>
                                        <p:cTn id="167" dur="500"/>
                                        <p:tgtEl>
                                          <p:spTgt spid="223"/>
                                        </p:tgtEl>
                                      </p:cBhvr>
                                    </p:animEffect>
                                  </p:childTnLst>
                                </p:cTn>
                              </p:par>
                            </p:childTnLst>
                          </p:cTn>
                        </p:par>
                        <p:par>
                          <p:cTn id="168" fill="hold">
                            <p:stCondLst>
                              <p:cond delay="5500"/>
                            </p:stCondLst>
                            <p:childTnLst>
                              <p:par>
                                <p:cTn id="169" presetID="22" presetClass="entr" presetSubtype="8" fill="hold" nodeType="afterEffect">
                                  <p:stCondLst>
                                    <p:cond delay="0"/>
                                  </p:stCondLst>
                                  <p:childTnLst>
                                    <p:set>
                                      <p:cBhvr>
                                        <p:cTn id="170" dur="1" fill="hold">
                                          <p:stCondLst>
                                            <p:cond delay="0"/>
                                          </p:stCondLst>
                                        </p:cTn>
                                        <p:tgtEl>
                                          <p:spTgt spid="255"/>
                                        </p:tgtEl>
                                        <p:attrNameLst>
                                          <p:attrName>style.visibility</p:attrName>
                                        </p:attrNameLst>
                                      </p:cBhvr>
                                      <p:to>
                                        <p:strVal val="visible"/>
                                      </p:to>
                                    </p:set>
                                    <p:animEffect transition="in" filter="wipe(left)">
                                      <p:cBhvr>
                                        <p:cTn id="171" dur="250"/>
                                        <p:tgtEl>
                                          <p:spTgt spid="255"/>
                                        </p:tgtEl>
                                      </p:cBhvr>
                                    </p:animEffect>
                                  </p:childTnLst>
                                </p:cTn>
                              </p:par>
                              <p:par>
                                <p:cTn id="172" presetID="22" presetClass="entr" presetSubtype="2" fill="hold" nodeType="withEffect">
                                  <p:stCondLst>
                                    <p:cond delay="0"/>
                                  </p:stCondLst>
                                  <p:childTnLst>
                                    <p:set>
                                      <p:cBhvr>
                                        <p:cTn id="173" dur="1" fill="hold">
                                          <p:stCondLst>
                                            <p:cond delay="0"/>
                                          </p:stCondLst>
                                        </p:cTn>
                                        <p:tgtEl>
                                          <p:spTgt spid="252"/>
                                        </p:tgtEl>
                                        <p:attrNameLst>
                                          <p:attrName>style.visibility</p:attrName>
                                        </p:attrNameLst>
                                      </p:cBhvr>
                                      <p:to>
                                        <p:strVal val="visible"/>
                                      </p:to>
                                    </p:set>
                                    <p:animEffect transition="in" filter="wipe(right)">
                                      <p:cBhvr>
                                        <p:cTn id="174" dur="250"/>
                                        <p:tgtEl>
                                          <p:spTgt spid="252"/>
                                        </p:tgtEl>
                                      </p:cBhvr>
                                    </p:animEffect>
                                  </p:childTnLst>
                                </p:cTn>
                              </p:par>
                            </p:childTnLst>
                          </p:cTn>
                        </p:par>
                        <p:par>
                          <p:cTn id="175" fill="hold">
                            <p:stCondLst>
                              <p:cond delay="5750"/>
                            </p:stCondLst>
                            <p:childTnLst>
                              <p:par>
                                <p:cTn id="176" presetID="10" presetClass="entr" presetSubtype="0" fill="hold" grpId="0" nodeType="afterEffect">
                                  <p:stCondLst>
                                    <p:cond delay="0"/>
                                  </p:stCondLst>
                                  <p:childTnLst>
                                    <p:set>
                                      <p:cBhvr>
                                        <p:cTn id="177" dur="1" fill="hold">
                                          <p:stCondLst>
                                            <p:cond delay="0"/>
                                          </p:stCondLst>
                                        </p:cTn>
                                        <p:tgtEl>
                                          <p:spTgt spid="116"/>
                                        </p:tgtEl>
                                        <p:attrNameLst>
                                          <p:attrName>style.visibility</p:attrName>
                                        </p:attrNameLst>
                                      </p:cBhvr>
                                      <p:to>
                                        <p:strVal val="visible"/>
                                      </p:to>
                                    </p:set>
                                    <p:animEffect transition="in" filter="fade">
                                      <p:cBhvr>
                                        <p:cTn id="178" dur="500"/>
                                        <p:tgtEl>
                                          <p:spTgt spid="116"/>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263"/>
                                        </p:tgtEl>
                                        <p:attrNameLst>
                                          <p:attrName>style.visibility</p:attrName>
                                        </p:attrNameLst>
                                      </p:cBhvr>
                                      <p:to>
                                        <p:strVal val="visible"/>
                                      </p:to>
                                    </p:set>
                                    <p:animEffect transition="in" filter="fade">
                                      <p:cBhvr>
                                        <p:cTn id="181" dur="500"/>
                                        <p:tgtEl>
                                          <p:spTgt spid="263"/>
                                        </p:tgtEl>
                                      </p:cBhvr>
                                    </p:animEffect>
                                  </p:childTnLst>
                                </p:cTn>
                              </p:par>
                            </p:childTnLst>
                          </p:cTn>
                        </p:par>
                        <p:par>
                          <p:cTn id="182" fill="hold">
                            <p:stCondLst>
                              <p:cond delay="6250"/>
                            </p:stCondLst>
                            <p:childTnLst>
                              <p:par>
                                <p:cTn id="183" presetID="26" presetClass="emph" presetSubtype="0" fill="hold" grpId="1" nodeType="afterEffect">
                                  <p:stCondLst>
                                    <p:cond delay="500"/>
                                  </p:stCondLst>
                                  <p:childTnLst>
                                    <p:animEffect transition="out" filter="fade">
                                      <p:cBhvr>
                                        <p:cTn id="184" dur="500" tmFilter="0, 0; .2, .5; .8, .5; 1, 0"/>
                                        <p:tgtEl>
                                          <p:spTgt spid="116"/>
                                        </p:tgtEl>
                                      </p:cBhvr>
                                    </p:animEffect>
                                    <p:animScale>
                                      <p:cBhvr>
                                        <p:cTn id="185" dur="250" autoRev="1" fill="hold"/>
                                        <p:tgtEl>
                                          <p:spTgt spid="116"/>
                                        </p:tgtEl>
                                      </p:cBhvr>
                                      <p:by x="105000" y="105000"/>
                                    </p:animScale>
                                  </p:childTnLst>
                                </p:cTn>
                              </p:par>
                              <p:par>
                                <p:cTn id="186" presetID="26" presetClass="emph" presetSubtype="0" fill="hold" grpId="1" nodeType="withEffect">
                                  <p:stCondLst>
                                    <p:cond delay="500"/>
                                  </p:stCondLst>
                                  <p:childTnLst>
                                    <p:animEffect transition="out" filter="fade">
                                      <p:cBhvr>
                                        <p:cTn id="187" dur="500" tmFilter="0, 0; .2, .5; .8, .5; 1, 0"/>
                                        <p:tgtEl>
                                          <p:spTgt spid="263"/>
                                        </p:tgtEl>
                                      </p:cBhvr>
                                    </p:animEffect>
                                    <p:animScale>
                                      <p:cBhvr>
                                        <p:cTn id="188" dur="250" autoRev="1" fill="hold"/>
                                        <p:tgtEl>
                                          <p:spTgt spid="26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 grpId="0" animBg="1"/>
      <p:bldP spid="261" grpId="0" animBg="1"/>
      <p:bldP spid="114" grpId="0" animBg="1"/>
      <p:bldP spid="113" grpId="0" animBg="1"/>
      <p:bldP spid="44" grpId="0" animBg="1"/>
      <p:bldP spid="103" grpId="0" animBg="1"/>
      <p:bldP spid="111" grpId="0"/>
      <p:bldP spid="6" grpId="0"/>
      <p:bldP spid="24" grpId="0"/>
      <p:bldP spid="137" grpId="0"/>
      <p:bldP spid="195" grpId="0"/>
      <p:bldP spid="223" grpId="0"/>
      <p:bldP spid="229" grpId="0"/>
      <p:bldP spid="230" grpId="0"/>
      <p:bldP spid="250" grpId="0"/>
      <p:bldP spid="251" grpId="0"/>
      <p:bldP spid="254" grpId="0"/>
      <p:bldP spid="116" grpId="0"/>
      <p:bldP spid="116" grpId="1"/>
      <p:bldP spid="263" grpId="0"/>
      <p:bldP spid="263" grpId="1"/>
      <p:bldP spid="264" grpId="0"/>
      <p:bldP spid="264" grpId="1"/>
      <p:bldP spid="265" grpId="0"/>
      <p:bldP spid="265" grpId="1"/>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8D058-8476-7DC0-7496-4DC8FB0F0C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299A3-7079-247F-AFA2-B7757CB9E0ED}"/>
              </a:ext>
            </a:extLst>
          </p:cNvPr>
          <p:cNvSpPr>
            <a:spLocks noGrp="1"/>
          </p:cNvSpPr>
          <p:nvPr>
            <p:ph type="title"/>
          </p:nvPr>
        </p:nvSpPr>
        <p:spPr/>
        <p:txBody>
          <a:bodyPr/>
          <a:lstStyle/>
          <a:p>
            <a:r>
              <a:rPr lang="en-US" dirty="0"/>
              <a:t>Next Generation Architecture built into vSAN</a:t>
            </a:r>
          </a:p>
        </p:txBody>
      </p:sp>
      <p:sp>
        <p:nvSpPr>
          <p:cNvPr id="3" name="Subtitle 2">
            <a:extLst>
              <a:ext uri="{FF2B5EF4-FFF2-40B4-BE49-F238E27FC236}">
                <a16:creationId xmlns:a16="http://schemas.microsoft.com/office/drawing/2014/main" id="{FE3A2DE8-CC13-6344-7E0B-477E8E6392FC}"/>
              </a:ext>
            </a:extLst>
          </p:cNvPr>
          <p:cNvSpPr>
            <a:spLocks noGrp="1"/>
          </p:cNvSpPr>
          <p:nvPr>
            <p:ph type="subTitle" idx="10"/>
          </p:nvPr>
        </p:nvSpPr>
        <p:spPr/>
        <p:txBody>
          <a:bodyPr/>
          <a:lstStyle/>
          <a:p>
            <a:r>
              <a:rPr lang="en-US" dirty="0"/>
              <a:t>vSAN Express Storage Architecture™ (ESA) in vSAN</a:t>
            </a:r>
          </a:p>
          <a:p>
            <a:endParaRPr lang="en-US" dirty="0"/>
          </a:p>
        </p:txBody>
      </p:sp>
      <p:sp>
        <p:nvSpPr>
          <p:cNvPr id="5" name="Text Placeholder 4">
            <a:extLst>
              <a:ext uri="{FF2B5EF4-FFF2-40B4-BE49-F238E27FC236}">
                <a16:creationId xmlns:a16="http://schemas.microsoft.com/office/drawing/2014/main" id="{2CAE217E-5D0F-B4FC-1242-C42FC18F1ADE}"/>
              </a:ext>
            </a:extLst>
          </p:cNvPr>
          <p:cNvSpPr>
            <a:spLocks noGrp="1"/>
          </p:cNvSpPr>
          <p:nvPr>
            <p:ph type="body" sz="quarter" idx="17"/>
          </p:nvPr>
        </p:nvSpPr>
        <p:spPr/>
        <p:txBody>
          <a:bodyPr/>
          <a:lstStyle/>
          <a:p>
            <a:r>
              <a:rPr lang="en-US" b="1" dirty="0">
                <a:latin typeface="+mj-lt"/>
              </a:rPr>
              <a:t>Next generation </a:t>
            </a:r>
            <a:r>
              <a:rPr lang="en-US" dirty="0">
                <a:latin typeface="+mj-lt"/>
              </a:rPr>
              <a:t>storage architecture for the workloads of today and tomorrow</a:t>
            </a:r>
          </a:p>
          <a:p>
            <a:r>
              <a:rPr lang="en-US" dirty="0">
                <a:latin typeface="+mj-lt"/>
              </a:rPr>
              <a:t>Optional, </a:t>
            </a:r>
            <a:r>
              <a:rPr lang="en-US" b="1" dirty="0">
                <a:latin typeface="+mj-lt"/>
              </a:rPr>
              <a:t>alternative architecture </a:t>
            </a:r>
            <a:r>
              <a:rPr lang="en-US" dirty="0">
                <a:latin typeface="+mj-lt"/>
              </a:rPr>
              <a:t>to the vSAN original storage architecture</a:t>
            </a:r>
          </a:p>
          <a:p>
            <a:r>
              <a:rPr lang="en-US" dirty="0">
                <a:latin typeface="+mj-lt"/>
              </a:rPr>
              <a:t>Available when running on qualified hardware in ESA </a:t>
            </a:r>
            <a:r>
              <a:rPr lang="en-US" b="1" dirty="0">
                <a:latin typeface="+mj-lt"/>
              </a:rPr>
              <a:t>approved vSAN ReadyNodes</a:t>
            </a:r>
          </a:p>
          <a:p>
            <a:r>
              <a:rPr lang="en-US" dirty="0">
                <a:latin typeface="+mj-lt"/>
              </a:rPr>
              <a:t>Powers aggregated </a:t>
            </a:r>
            <a:r>
              <a:rPr lang="en-US" b="1" dirty="0">
                <a:latin typeface="+mj-lt"/>
              </a:rPr>
              <a:t>vSAN HCI clusters</a:t>
            </a:r>
            <a:r>
              <a:rPr lang="en-US" dirty="0">
                <a:latin typeface="+mj-lt"/>
              </a:rPr>
              <a:t> and disaggregated vSAN storage clusters</a:t>
            </a:r>
          </a:p>
          <a:p>
            <a:endParaRPr lang="en-US" dirty="0"/>
          </a:p>
        </p:txBody>
      </p:sp>
      <p:sp>
        <p:nvSpPr>
          <p:cNvPr id="4" name="TextBox 3">
            <a:extLst>
              <a:ext uri="{FF2B5EF4-FFF2-40B4-BE49-F238E27FC236}">
                <a16:creationId xmlns:a16="http://schemas.microsoft.com/office/drawing/2014/main" id="{E777E864-2C63-BFDA-B9BF-DA9C5D86F3E8}"/>
              </a:ext>
            </a:extLst>
          </p:cNvPr>
          <p:cNvSpPr txBox="1"/>
          <p:nvPr/>
        </p:nvSpPr>
        <p:spPr>
          <a:xfrm>
            <a:off x="7125173" y="3917250"/>
            <a:ext cx="822923" cy="369332"/>
          </a:xfrm>
          <a:prstGeom prst="rect">
            <a:avLst/>
          </a:prstGeom>
        </p:spPr>
        <p:txBody>
          <a:bodyPr wrap="square" lIns="0" tIns="0" rIns="0" bIns="0" rtlCol="0">
            <a:spAutoFit/>
          </a:bodyPr>
          <a:lstStyle/>
          <a:p>
            <a:pPr algn="ctr">
              <a:spcAft>
                <a:spcPts val="600"/>
              </a:spcAft>
            </a:pPr>
            <a:r>
              <a:rPr lang="en-US" sz="1200" dirty="0">
                <a:solidFill>
                  <a:schemeClr val="tx2"/>
                </a:solidFill>
              </a:rPr>
              <a:t>Storage</a:t>
            </a:r>
            <a:br>
              <a:rPr lang="en-US" sz="1200" dirty="0">
                <a:solidFill>
                  <a:schemeClr val="tx2"/>
                </a:solidFill>
              </a:rPr>
            </a:br>
            <a:r>
              <a:rPr lang="en-US" sz="1200" dirty="0">
                <a:solidFill>
                  <a:schemeClr val="tx2"/>
                </a:solidFill>
              </a:rPr>
              <a:t>only</a:t>
            </a:r>
          </a:p>
        </p:txBody>
      </p:sp>
      <p:grpSp>
        <p:nvGrpSpPr>
          <p:cNvPr id="6" name="Group 5">
            <a:extLst>
              <a:ext uri="{FF2B5EF4-FFF2-40B4-BE49-F238E27FC236}">
                <a16:creationId xmlns:a16="http://schemas.microsoft.com/office/drawing/2014/main" id="{30BFDCC5-3854-AC6C-8A3B-6AFCFBBE3DD9}"/>
              </a:ext>
            </a:extLst>
          </p:cNvPr>
          <p:cNvGrpSpPr/>
          <p:nvPr/>
        </p:nvGrpSpPr>
        <p:grpSpPr>
          <a:xfrm>
            <a:off x="4898745" y="2325759"/>
            <a:ext cx="2189434" cy="113067"/>
            <a:chOff x="9883178" y="3095486"/>
            <a:chExt cx="2189434" cy="113067"/>
          </a:xfrm>
          <a:solidFill>
            <a:schemeClr val="accent4">
              <a:lumMod val="20000"/>
              <a:lumOff val="80000"/>
            </a:schemeClr>
          </a:solidFill>
        </p:grpSpPr>
        <p:sp>
          <p:nvSpPr>
            <p:cNvPr id="7" name="Rectangle 6">
              <a:extLst>
                <a:ext uri="{FF2B5EF4-FFF2-40B4-BE49-F238E27FC236}">
                  <a16:creationId xmlns:a16="http://schemas.microsoft.com/office/drawing/2014/main" id="{591D47A6-86AB-C7A4-DC4E-91FBB3E2C937}"/>
                </a:ext>
              </a:extLst>
            </p:cNvPr>
            <p:cNvSpPr/>
            <p:nvPr/>
          </p:nvSpPr>
          <p:spPr>
            <a:xfrm>
              <a:off x="9883178" y="3095486"/>
              <a:ext cx="497923" cy="113067"/>
            </a:xfrm>
            <a:prstGeom prst="rect">
              <a:avLst/>
            </a:prstGeom>
            <a:grp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8" name="Rectangle 7">
              <a:extLst>
                <a:ext uri="{FF2B5EF4-FFF2-40B4-BE49-F238E27FC236}">
                  <a16:creationId xmlns:a16="http://schemas.microsoft.com/office/drawing/2014/main" id="{8FC7A1A5-BA25-2EEF-C204-0796677F261B}"/>
                </a:ext>
              </a:extLst>
            </p:cNvPr>
            <p:cNvSpPr/>
            <p:nvPr/>
          </p:nvSpPr>
          <p:spPr>
            <a:xfrm>
              <a:off x="10447015" y="3095486"/>
              <a:ext cx="497923" cy="113067"/>
            </a:xfrm>
            <a:prstGeom prst="rect">
              <a:avLst/>
            </a:prstGeom>
            <a:grp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80" name="Rectangle 79">
              <a:extLst>
                <a:ext uri="{FF2B5EF4-FFF2-40B4-BE49-F238E27FC236}">
                  <a16:creationId xmlns:a16="http://schemas.microsoft.com/office/drawing/2014/main" id="{3DEC68F9-4327-8987-1AB7-6FF4E8682650}"/>
                </a:ext>
              </a:extLst>
            </p:cNvPr>
            <p:cNvSpPr/>
            <p:nvPr/>
          </p:nvSpPr>
          <p:spPr>
            <a:xfrm>
              <a:off x="11010852" y="3095486"/>
              <a:ext cx="497923" cy="113067"/>
            </a:xfrm>
            <a:prstGeom prst="rect">
              <a:avLst/>
            </a:prstGeom>
            <a:grp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81" name="Rectangle 80">
              <a:extLst>
                <a:ext uri="{FF2B5EF4-FFF2-40B4-BE49-F238E27FC236}">
                  <a16:creationId xmlns:a16="http://schemas.microsoft.com/office/drawing/2014/main" id="{C0A69125-5B70-83C3-D0BE-F97B8788EF05}"/>
                </a:ext>
              </a:extLst>
            </p:cNvPr>
            <p:cNvSpPr/>
            <p:nvPr/>
          </p:nvSpPr>
          <p:spPr>
            <a:xfrm>
              <a:off x="11574689" y="3095486"/>
              <a:ext cx="497923" cy="113067"/>
            </a:xfrm>
            <a:prstGeom prst="rect">
              <a:avLst/>
            </a:prstGeom>
            <a:grp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sp>
        <p:nvSpPr>
          <p:cNvPr id="82" name="TextBox 81">
            <a:extLst>
              <a:ext uri="{FF2B5EF4-FFF2-40B4-BE49-F238E27FC236}">
                <a16:creationId xmlns:a16="http://schemas.microsoft.com/office/drawing/2014/main" id="{861FD523-2F4C-EB1F-3040-F134B3A62C6D}"/>
              </a:ext>
            </a:extLst>
          </p:cNvPr>
          <p:cNvSpPr txBox="1"/>
          <p:nvPr/>
        </p:nvSpPr>
        <p:spPr>
          <a:xfrm>
            <a:off x="7056538" y="2288445"/>
            <a:ext cx="960192" cy="369332"/>
          </a:xfrm>
          <a:prstGeom prst="rect">
            <a:avLst/>
          </a:prstGeom>
        </p:spPr>
        <p:txBody>
          <a:bodyPr wrap="square" lIns="0" tIns="0" rIns="0" bIns="0" rtlCol="0">
            <a:spAutoFit/>
          </a:bodyPr>
          <a:lstStyle/>
          <a:p>
            <a:pPr algn="ctr">
              <a:spcAft>
                <a:spcPts val="600"/>
              </a:spcAft>
            </a:pPr>
            <a:r>
              <a:rPr lang="en-US" sz="1200" dirty="0">
                <a:solidFill>
                  <a:schemeClr val="tx2"/>
                </a:solidFill>
              </a:rPr>
              <a:t>Compute</a:t>
            </a:r>
            <a:br>
              <a:rPr lang="en-US" sz="1200" dirty="0">
                <a:solidFill>
                  <a:schemeClr val="tx2"/>
                </a:solidFill>
              </a:rPr>
            </a:br>
            <a:r>
              <a:rPr lang="en-US" sz="1200" dirty="0">
                <a:solidFill>
                  <a:schemeClr val="tx2"/>
                </a:solidFill>
              </a:rPr>
              <a:t>only</a:t>
            </a:r>
          </a:p>
        </p:txBody>
      </p:sp>
      <p:cxnSp>
        <p:nvCxnSpPr>
          <p:cNvPr id="83" name="Straight Connector 82">
            <a:extLst>
              <a:ext uri="{FF2B5EF4-FFF2-40B4-BE49-F238E27FC236}">
                <a16:creationId xmlns:a16="http://schemas.microsoft.com/office/drawing/2014/main" id="{2C273CAC-77A1-A745-D888-C7104C9E64F9}"/>
              </a:ext>
            </a:extLst>
          </p:cNvPr>
          <p:cNvCxnSpPr>
            <a:cxnSpLocks/>
          </p:cNvCxnSpPr>
          <p:nvPr/>
        </p:nvCxnSpPr>
        <p:spPr bwMode="gray">
          <a:xfrm flipV="1">
            <a:off x="5993462" y="2796540"/>
            <a:ext cx="0" cy="588010"/>
          </a:xfrm>
          <a:prstGeom prst="line">
            <a:avLst/>
          </a:prstGeom>
          <a:ln w="25400">
            <a:solidFill>
              <a:schemeClr val="accent2"/>
            </a:solidFill>
            <a:prstDash val="sysDot"/>
            <a:miter lim="800000"/>
            <a:headEnd type="diamond" w="lg" len="lg"/>
          </a:ln>
        </p:spPr>
        <p:style>
          <a:lnRef idx="1">
            <a:schemeClr val="accent1"/>
          </a:lnRef>
          <a:fillRef idx="0">
            <a:schemeClr val="accent1"/>
          </a:fillRef>
          <a:effectRef idx="0">
            <a:schemeClr val="accent1"/>
          </a:effectRef>
          <a:fontRef idx="minor">
            <a:schemeClr val="tx1"/>
          </a:fontRef>
        </p:style>
      </p:cxnSp>
      <p:pic>
        <p:nvPicPr>
          <p:cNvPr id="84" name="Graphic 83">
            <a:extLst>
              <a:ext uri="{FF2B5EF4-FFF2-40B4-BE49-F238E27FC236}">
                <a16:creationId xmlns:a16="http://schemas.microsoft.com/office/drawing/2014/main" id="{A58FF7AD-FBC6-D310-D170-490949138E6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98257" y="2473111"/>
            <a:ext cx="190410" cy="223781"/>
          </a:xfrm>
          <a:prstGeom prst="rect">
            <a:avLst/>
          </a:prstGeom>
        </p:spPr>
      </p:pic>
      <p:pic>
        <p:nvPicPr>
          <p:cNvPr id="105" name="Graphic 104">
            <a:extLst>
              <a:ext uri="{FF2B5EF4-FFF2-40B4-BE49-F238E27FC236}">
                <a16:creationId xmlns:a16="http://schemas.microsoft.com/office/drawing/2014/main" id="{C60BA6A6-0B2E-4C41-020C-34E11A478B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98257" y="4988783"/>
            <a:ext cx="190410" cy="223781"/>
          </a:xfrm>
          <a:prstGeom prst="rect">
            <a:avLst/>
          </a:prstGeom>
        </p:spPr>
      </p:pic>
      <p:grpSp>
        <p:nvGrpSpPr>
          <p:cNvPr id="106" name="Group 105">
            <a:extLst>
              <a:ext uri="{FF2B5EF4-FFF2-40B4-BE49-F238E27FC236}">
                <a16:creationId xmlns:a16="http://schemas.microsoft.com/office/drawing/2014/main" id="{E6FE68D5-4841-6616-837B-FB6208F5E367}"/>
              </a:ext>
            </a:extLst>
          </p:cNvPr>
          <p:cNvGrpSpPr/>
          <p:nvPr/>
        </p:nvGrpSpPr>
        <p:grpSpPr>
          <a:xfrm>
            <a:off x="4898745" y="4796189"/>
            <a:ext cx="2189434" cy="184666"/>
            <a:chOff x="7950077" y="3379353"/>
            <a:chExt cx="2189434" cy="184666"/>
          </a:xfrm>
        </p:grpSpPr>
        <p:cxnSp>
          <p:nvCxnSpPr>
            <p:cNvPr id="120" name="Straight Connector 119">
              <a:extLst>
                <a:ext uri="{FF2B5EF4-FFF2-40B4-BE49-F238E27FC236}">
                  <a16:creationId xmlns:a16="http://schemas.microsoft.com/office/drawing/2014/main" id="{4365E46A-1B78-78C4-CCB6-611AF7A6853E}"/>
                </a:ext>
              </a:extLst>
            </p:cNvPr>
            <p:cNvCxnSpPr>
              <a:cxnSpLocks/>
            </p:cNvCxnSpPr>
            <p:nvPr/>
          </p:nvCxnSpPr>
          <p:spPr bwMode="gray">
            <a:xfrm>
              <a:off x="7954667" y="3387515"/>
              <a:ext cx="0" cy="88010"/>
            </a:xfrm>
            <a:prstGeom prst="line">
              <a:avLst/>
            </a:prstGeom>
            <a:solidFill>
              <a:schemeClr val="accent1"/>
            </a:solidFill>
            <a:ln w="1587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31641A8-D983-87A7-74A3-E3CD92018577}"/>
                </a:ext>
              </a:extLst>
            </p:cNvPr>
            <p:cNvCxnSpPr>
              <a:cxnSpLocks/>
            </p:cNvCxnSpPr>
            <p:nvPr/>
          </p:nvCxnSpPr>
          <p:spPr bwMode="gray">
            <a:xfrm>
              <a:off x="9941082" y="3475525"/>
              <a:ext cx="198429" cy="0"/>
            </a:xfrm>
            <a:prstGeom prst="line">
              <a:avLst/>
            </a:prstGeom>
            <a:solidFill>
              <a:schemeClr val="accent1"/>
            </a:solidFill>
            <a:ln w="1587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07DDC935-02EC-F8C7-53BD-9C13DED05583}"/>
                </a:ext>
              </a:extLst>
            </p:cNvPr>
            <p:cNvCxnSpPr>
              <a:cxnSpLocks/>
            </p:cNvCxnSpPr>
            <p:nvPr/>
          </p:nvCxnSpPr>
          <p:spPr bwMode="gray">
            <a:xfrm>
              <a:off x="10139511" y="3387515"/>
              <a:ext cx="0" cy="88010"/>
            </a:xfrm>
            <a:prstGeom prst="line">
              <a:avLst/>
            </a:prstGeom>
            <a:solidFill>
              <a:schemeClr val="accent1"/>
            </a:solidFill>
            <a:ln w="1587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F7A9021B-DF55-73E7-9394-531D63B21949}"/>
                </a:ext>
              </a:extLst>
            </p:cNvPr>
            <p:cNvCxnSpPr>
              <a:cxnSpLocks/>
            </p:cNvCxnSpPr>
            <p:nvPr/>
          </p:nvCxnSpPr>
          <p:spPr bwMode="gray">
            <a:xfrm>
              <a:off x="7950077" y="3475525"/>
              <a:ext cx="247930" cy="0"/>
            </a:xfrm>
            <a:prstGeom prst="line">
              <a:avLst/>
            </a:prstGeom>
            <a:solidFill>
              <a:schemeClr val="accent1"/>
            </a:solidFill>
            <a:ln w="1587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4F34A702-B399-3FBF-8A96-D8455F810B4C}"/>
                </a:ext>
              </a:extLst>
            </p:cNvPr>
            <p:cNvSpPr txBox="1"/>
            <p:nvPr/>
          </p:nvSpPr>
          <p:spPr>
            <a:xfrm>
              <a:off x="8188686" y="3379353"/>
              <a:ext cx="1752523" cy="184666"/>
            </a:xfrm>
            <a:prstGeom prst="rect">
              <a:avLst/>
            </a:prstGeom>
            <a:ln>
              <a:noFill/>
            </a:ln>
          </p:spPr>
          <p:txBody>
            <a:bodyPr wrap="square" lIns="0" tIns="0" rIns="0" bIns="0" rtlCol="0">
              <a:spAutoFit/>
            </a:bodyPr>
            <a:lstStyle/>
            <a:p>
              <a:pPr algn="ctr">
                <a:spcAft>
                  <a:spcPts val="600"/>
                </a:spcAft>
              </a:pPr>
              <a:r>
                <a:rPr lang="en-US" sz="1200" dirty="0">
                  <a:solidFill>
                    <a:schemeClr val="accent2"/>
                  </a:solidFill>
                </a:rPr>
                <a:t>vSAN storage cluster</a:t>
              </a:r>
            </a:p>
          </p:txBody>
        </p:sp>
      </p:grpSp>
      <p:grpSp>
        <p:nvGrpSpPr>
          <p:cNvPr id="108" name="Group 107">
            <a:extLst>
              <a:ext uri="{FF2B5EF4-FFF2-40B4-BE49-F238E27FC236}">
                <a16:creationId xmlns:a16="http://schemas.microsoft.com/office/drawing/2014/main" id="{995B9F63-1E81-E9C4-EEC2-D8CC2844B030}"/>
              </a:ext>
            </a:extLst>
          </p:cNvPr>
          <p:cNvGrpSpPr/>
          <p:nvPr/>
        </p:nvGrpSpPr>
        <p:grpSpPr>
          <a:xfrm>
            <a:off x="4898745" y="3542733"/>
            <a:ext cx="2189434" cy="400437"/>
            <a:chOff x="5446716" y="4074320"/>
            <a:chExt cx="2189434" cy="400437"/>
          </a:xfrm>
        </p:grpSpPr>
        <p:sp>
          <p:nvSpPr>
            <p:cNvPr id="109" name="Rectangle 108">
              <a:extLst>
                <a:ext uri="{FF2B5EF4-FFF2-40B4-BE49-F238E27FC236}">
                  <a16:creationId xmlns:a16="http://schemas.microsoft.com/office/drawing/2014/main" id="{67F58A1D-CA4F-FDB2-17A2-BBF4C2D777FE}"/>
                </a:ext>
              </a:extLst>
            </p:cNvPr>
            <p:cNvSpPr/>
            <p:nvPr/>
          </p:nvSpPr>
          <p:spPr>
            <a:xfrm>
              <a:off x="5446716" y="4074320"/>
              <a:ext cx="2189434" cy="400437"/>
            </a:xfrm>
            <a:prstGeom prst="rect">
              <a:avLst/>
            </a:prstGeom>
            <a:solidFill>
              <a:schemeClr val="bg2"/>
            </a:solid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nvGrpSpPr>
            <p:cNvPr id="110" name="Group 109">
              <a:extLst>
                <a:ext uri="{FF2B5EF4-FFF2-40B4-BE49-F238E27FC236}">
                  <a16:creationId xmlns:a16="http://schemas.microsoft.com/office/drawing/2014/main" id="{16C6BB1E-94AC-4058-B09E-F9FB9CFB8B27}"/>
                </a:ext>
              </a:extLst>
            </p:cNvPr>
            <p:cNvGrpSpPr/>
            <p:nvPr/>
          </p:nvGrpSpPr>
          <p:grpSpPr>
            <a:xfrm>
              <a:off x="5527303" y="4148769"/>
              <a:ext cx="2038349" cy="254952"/>
              <a:chOff x="1410325" y="3573078"/>
              <a:chExt cx="2038349" cy="254952"/>
            </a:xfrm>
          </p:grpSpPr>
          <p:sp>
            <p:nvSpPr>
              <p:cNvPr id="111" name="Rectangle 110">
                <a:extLst>
                  <a:ext uri="{FF2B5EF4-FFF2-40B4-BE49-F238E27FC236}">
                    <a16:creationId xmlns:a16="http://schemas.microsoft.com/office/drawing/2014/main" id="{31F1AB74-BDF6-EDAF-64FB-76154FF13388}"/>
                  </a:ext>
                </a:extLst>
              </p:cNvPr>
              <p:cNvSpPr/>
              <p:nvPr/>
            </p:nvSpPr>
            <p:spPr>
              <a:xfrm>
                <a:off x="1410325" y="3573078"/>
                <a:ext cx="2038349" cy="254952"/>
              </a:xfrm>
              <a:prstGeom prst="rect">
                <a:avLst/>
              </a:prstGeom>
              <a:noFill/>
              <a:ln w="9525">
                <a:gradFill flip="none" rotWithShape="1">
                  <a:gsLst>
                    <a:gs pos="60000">
                      <a:srgbClr val="316E60"/>
                    </a:gs>
                    <a:gs pos="100000">
                      <a:schemeClr val="accent2"/>
                    </a:gs>
                    <a:gs pos="0">
                      <a:schemeClr val="accent4"/>
                    </a:gs>
                  </a:gsLst>
                  <a:lin ang="10800000" scaled="1"/>
                  <a:tileRect/>
                </a:gradFill>
              </a:ln>
            </p:spPr>
            <p:txBody>
              <a:bodyPr wrap="square" anchor="ctr">
                <a:noAutofit/>
              </a:bodyPr>
              <a:lstStyle/>
              <a:p>
                <a:pPr algn="ctr"/>
                <a:endParaRPr lang="en-US" sz="1200">
                  <a:solidFill>
                    <a:prstClr val="white"/>
                  </a:solidFill>
                </a:endParaRPr>
              </a:p>
            </p:txBody>
          </p:sp>
          <p:sp>
            <p:nvSpPr>
              <p:cNvPr id="112" name="Rectangle 111">
                <a:extLst>
                  <a:ext uri="{FF2B5EF4-FFF2-40B4-BE49-F238E27FC236}">
                    <a16:creationId xmlns:a16="http://schemas.microsoft.com/office/drawing/2014/main" id="{76396DFE-DBF0-9A56-8101-C2FDABDB4624}"/>
                  </a:ext>
                </a:extLst>
              </p:cNvPr>
              <p:cNvSpPr/>
              <p:nvPr/>
            </p:nvSpPr>
            <p:spPr>
              <a:xfrm>
                <a:off x="1420623" y="3636670"/>
                <a:ext cx="543931" cy="123111"/>
              </a:xfrm>
              <a:prstGeom prst="rect">
                <a:avLst/>
              </a:prstGeom>
            </p:spPr>
            <p:txBody>
              <a:bodyPr wrap="square" lIns="0" tIns="0" rIns="0" bIns="0" anchor="ctr">
                <a:spAutoFit/>
              </a:bodyPr>
              <a:lstStyle/>
              <a:p>
                <a:pPr algn="ctr" defTabSz="914126">
                  <a:defRPr/>
                </a:pPr>
                <a:r>
                  <a:rPr lang="en-US" sz="800" dirty="0">
                    <a:solidFill>
                      <a:schemeClr val="tx2"/>
                    </a:solidFill>
                    <a:latin typeface="Arial" panose="020B0604020202020204" pitchFamily="34" charset="0"/>
                  </a:rPr>
                  <a:t>vSAN ESA</a:t>
                </a:r>
              </a:p>
            </p:txBody>
          </p:sp>
          <p:sp>
            <p:nvSpPr>
              <p:cNvPr id="113" name="Rectangle 112">
                <a:extLst>
                  <a:ext uri="{FF2B5EF4-FFF2-40B4-BE49-F238E27FC236}">
                    <a16:creationId xmlns:a16="http://schemas.microsoft.com/office/drawing/2014/main" id="{7F111B39-8B66-B803-EA38-5A9CA603E6B3}"/>
                  </a:ext>
                </a:extLst>
              </p:cNvPr>
              <p:cNvSpPr/>
              <p:nvPr/>
            </p:nvSpPr>
            <p:spPr>
              <a:xfrm>
                <a:off x="2828447" y="3636670"/>
                <a:ext cx="608625" cy="123111"/>
              </a:xfrm>
              <a:prstGeom prst="rect">
                <a:avLst/>
              </a:prstGeom>
            </p:spPr>
            <p:txBody>
              <a:bodyPr wrap="square" lIns="0" tIns="0" rIns="0" bIns="0" anchor="ctr">
                <a:spAutoFit/>
              </a:bodyPr>
              <a:lstStyle/>
              <a:p>
                <a:pPr algn="ctr" defTabSz="914126">
                  <a:defRPr/>
                </a:pPr>
                <a:r>
                  <a:rPr lang="en-US" sz="800" dirty="0">
                    <a:solidFill>
                      <a:schemeClr val="tx2"/>
                    </a:solidFill>
                    <a:latin typeface="Arial" panose="020B0604020202020204" pitchFamily="34" charset="0"/>
                  </a:rPr>
                  <a:t>vSAN ESA</a:t>
                </a:r>
              </a:p>
            </p:txBody>
          </p:sp>
          <p:cxnSp>
            <p:nvCxnSpPr>
              <p:cNvPr id="114" name="Straight Connector 113">
                <a:extLst>
                  <a:ext uri="{FF2B5EF4-FFF2-40B4-BE49-F238E27FC236}">
                    <a16:creationId xmlns:a16="http://schemas.microsoft.com/office/drawing/2014/main" id="{85BF954D-AC8F-4A33-CEDE-1618E242B163}"/>
                  </a:ext>
                </a:extLst>
              </p:cNvPr>
              <p:cNvCxnSpPr>
                <a:cxnSpLocks/>
              </p:cNvCxnSpPr>
              <p:nvPr/>
            </p:nvCxnSpPr>
            <p:spPr bwMode="gray">
              <a:xfrm flipH="1">
                <a:off x="2003038" y="3698226"/>
                <a:ext cx="297114" cy="0"/>
              </a:xfrm>
              <a:prstGeom prst="line">
                <a:avLst/>
              </a:prstGeom>
              <a:ln w="9525">
                <a:solidFill>
                  <a:schemeClr val="accent2"/>
                </a:solidFill>
                <a:miter lim="800000"/>
                <a:tailEnd type="triangle" w="lg" len="me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F09834D9-5A04-5AD6-6001-B27E91471CB8}"/>
                  </a:ext>
                </a:extLst>
              </p:cNvPr>
              <p:cNvCxnSpPr>
                <a:cxnSpLocks/>
              </p:cNvCxnSpPr>
              <p:nvPr/>
            </p:nvCxnSpPr>
            <p:spPr bwMode="gray">
              <a:xfrm>
                <a:off x="2300152" y="3698226"/>
                <a:ext cx="499235" cy="0"/>
              </a:xfrm>
              <a:prstGeom prst="line">
                <a:avLst/>
              </a:prstGeom>
              <a:ln w="9525">
                <a:gradFill flip="none" rotWithShape="1">
                  <a:gsLst>
                    <a:gs pos="100000">
                      <a:schemeClr val="accent2"/>
                    </a:gs>
                    <a:gs pos="0">
                      <a:schemeClr val="accent4"/>
                    </a:gs>
                  </a:gsLst>
                  <a:lin ang="10800000" scaled="1"/>
                  <a:tileRect/>
                </a:gradFill>
                <a:miter lim="800000"/>
                <a:tailEnd type="triangle" w="lg" len="med"/>
              </a:ln>
            </p:spPr>
            <p:style>
              <a:lnRef idx="1">
                <a:schemeClr val="accent1"/>
              </a:lnRef>
              <a:fillRef idx="0">
                <a:schemeClr val="accent1"/>
              </a:fillRef>
              <a:effectRef idx="0">
                <a:schemeClr val="accent1"/>
              </a:effectRef>
              <a:fontRef idx="minor">
                <a:schemeClr val="tx1"/>
              </a:fontRef>
            </p:style>
          </p:cxnSp>
        </p:grpSp>
      </p:grpSp>
      <p:pic>
        <p:nvPicPr>
          <p:cNvPr id="141" name="Graphic 140">
            <a:extLst>
              <a:ext uri="{FF2B5EF4-FFF2-40B4-BE49-F238E27FC236}">
                <a16:creationId xmlns:a16="http://schemas.microsoft.com/office/drawing/2014/main" id="{087E857D-EEF8-5B17-AA70-A68B8701C30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34125" y="4988783"/>
            <a:ext cx="190410" cy="223781"/>
          </a:xfrm>
          <a:prstGeom prst="rect">
            <a:avLst/>
          </a:prstGeom>
        </p:spPr>
      </p:pic>
      <p:grpSp>
        <p:nvGrpSpPr>
          <p:cNvPr id="357" name="Group 356">
            <a:extLst>
              <a:ext uri="{FF2B5EF4-FFF2-40B4-BE49-F238E27FC236}">
                <a16:creationId xmlns:a16="http://schemas.microsoft.com/office/drawing/2014/main" id="{FE50D861-A123-7A7B-8D30-89F3508777E3}"/>
              </a:ext>
            </a:extLst>
          </p:cNvPr>
          <p:cNvGrpSpPr/>
          <p:nvPr/>
        </p:nvGrpSpPr>
        <p:grpSpPr>
          <a:xfrm>
            <a:off x="1516532" y="4795878"/>
            <a:ext cx="1625597" cy="184666"/>
            <a:chOff x="1516532" y="4795878"/>
            <a:chExt cx="1625597" cy="184666"/>
          </a:xfrm>
        </p:grpSpPr>
        <p:cxnSp>
          <p:nvCxnSpPr>
            <p:cNvPr id="142" name="Straight Connector 141">
              <a:extLst>
                <a:ext uri="{FF2B5EF4-FFF2-40B4-BE49-F238E27FC236}">
                  <a16:creationId xmlns:a16="http://schemas.microsoft.com/office/drawing/2014/main" id="{DBC170E7-377C-A688-98E1-FA5A8EF62C86}"/>
                </a:ext>
              </a:extLst>
            </p:cNvPr>
            <p:cNvCxnSpPr>
              <a:cxnSpLocks/>
            </p:cNvCxnSpPr>
            <p:nvPr/>
          </p:nvCxnSpPr>
          <p:spPr bwMode="gray">
            <a:xfrm>
              <a:off x="1521122" y="4804040"/>
              <a:ext cx="0" cy="88010"/>
            </a:xfrm>
            <a:prstGeom prst="line">
              <a:avLst/>
            </a:prstGeom>
            <a:solidFill>
              <a:schemeClr val="accent1"/>
            </a:solidFill>
            <a:ln w="15875">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A9062A8A-4671-1319-25BC-D06402C1B67F}"/>
                </a:ext>
              </a:extLst>
            </p:cNvPr>
            <p:cNvCxnSpPr>
              <a:cxnSpLocks/>
            </p:cNvCxnSpPr>
            <p:nvPr/>
          </p:nvCxnSpPr>
          <p:spPr bwMode="gray">
            <a:xfrm>
              <a:off x="3044825" y="4892050"/>
              <a:ext cx="97304" cy="0"/>
            </a:xfrm>
            <a:prstGeom prst="line">
              <a:avLst/>
            </a:prstGeom>
            <a:solidFill>
              <a:schemeClr val="accent1"/>
            </a:solidFill>
            <a:ln w="15875">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B262DEE1-2B7D-ABDC-FC54-71A4BD30160B}"/>
                </a:ext>
              </a:extLst>
            </p:cNvPr>
            <p:cNvCxnSpPr>
              <a:cxnSpLocks/>
            </p:cNvCxnSpPr>
            <p:nvPr/>
          </p:nvCxnSpPr>
          <p:spPr bwMode="gray">
            <a:xfrm>
              <a:off x="3142129" y="4804040"/>
              <a:ext cx="0" cy="88010"/>
            </a:xfrm>
            <a:prstGeom prst="line">
              <a:avLst/>
            </a:prstGeom>
            <a:solidFill>
              <a:schemeClr val="accent1"/>
            </a:solidFill>
            <a:ln w="15875">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A5FE3249-D564-8E61-25F8-3FC263386DFC}"/>
                </a:ext>
              </a:extLst>
            </p:cNvPr>
            <p:cNvCxnSpPr>
              <a:cxnSpLocks/>
            </p:cNvCxnSpPr>
            <p:nvPr/>
          </p:nvCxnSpPr>
          <p:spPr bwMode="gray">
            <a:xfrm>
              <a:off x="1516532" y="4892050"/>
              <a:ext cx="99543" cy="0"/>
            </a:xfrm>
            <a:prstGeom prst="line">
              <a:avLst/>
            </a:prstGeom>
            <a:solidFill>
              <a:schemeClr val="accent1"/>
            </a:solidFill>
            <a:ln w="15875">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46" name="TextBox 145">
              <a:extLst>
                <a:ext uri="{FF2B5EF4-FFF2-40B4-BE49-F238E27FC236}">
                  <a16:creationId xmlns:a16="http://schemas.microsoft.com/office/drawing/2014/main" id="{65C7F065-E372-5FBC-E083-A9D5319292F7}"/>
                </a:ext>
              </a:extLst>
            </p:cNvPr>
            <p:cNvSpPr txBox="1"/>
            <p:nvPr/>
          </p:nvSpPr>
          <p:spPr>
            <a:xfrm>
              <a:off x="1601415" y="4795878"/>
              <a:ext cx="1452669" cy="184666"/>
            </a:xfrm>
            <a:prstGeom prst="rect">
              <a:avLst/>
            </a:prstGeom>
            <a:ln>
              <a:noFill/>
            </a:ln>
          </p:spPr>
          <p:txBody>
            <a:bodyPr wrap="square" lIns="0" tIns="0" rIns="0" bIns="0" rtlCol="0">
              <a:spAutoFit/>
            </a:bodyPr>
            <a:lstStyle/>
            <a:p>
              <a:pPr algn="ctr">
                <a:spcAft>
                  <a:spcPts val="600"/>
                </a:spcAft>
              </a:pPr>
              <a:r>
                <a:rPr lang="en-US" sz="1200" dirty="0">
                  <a:solidFill>
                    <a:schemeClr val="accent1"/>
                  </a:solidFill>
                </a:rPr>
                <a:t>vSAN HCI cluster</a:t>
              </a:r>
            </a:p>
          </p:txBody>
        </p:sp>
      </p:grpSp>
      <p:grpSp>
        <p:nvGrpSpPr>
          <p:cNvPr id="147" name="Group 146">
            <a:extLst>
              <a:ext uri="{FF2B5EF4-FFF2-40B4-BE49-F238E27FC236}">
                <a16:creationId xmlns:a16="http://schemas.microsoft.com/office/drawing/2014/main" id="{1A252320-D2D3-8DB8-B4DB-70092D9586D0}"/>
              </a:ext>
            </a:extLst>
          </p:cNvPr>
          <p:cNvGrpSpPr/>
          <p:nvPr/>
        </p:nvGrpSpPr>
        <p:grpSpPr>
          <a:xfrm>
            <a:off x="1516532" y="3987172"/>
            <a:ext cx="1625597" cy="283867"/>
            <a:chOff x="3576049" y="2849562"/>
            <a:chExt cx="1625597" cy="283867"/>
          </a:xfrm>
        </p:grpSpPr>
        <p:grpSp>
          <p:nvGrpSpPr>
            <p:cNvPr id="149" name="Group 148">
              <a:extLst>
                <a:ext uri="{FF2B5EF4-FFF2-40B4-BE49-F238E27FC236}">
                  <a16:creationId xmlns:a16="http://schemas.microsoft.com/office/drawing/2014/main" id="{805B07D1-07C7-2275-3F5C-FC58DBE85A3F}"/>
                </a:ext>
              </a:extLst>
            </p:cNvPr>
            <p:cNvGrpSpPr/>
            <p:nvPr/>
          </p:nvGrpSpPr>
          <p:grpSpPr>
            <a:xfrm>
              <a:off x="3576049" y="2849562"/>
              <a:ext cx="1625597" cy="113067"/>
              <a:chOff x="9883178" y="3095486"/>
              <a:chExt cx="1625597" cy="113067"/>
            </a:xfrm>
            <a:solidFill>
              <a:schemeClr val="accent1">
                <a:lumMod val="20000"/>
                <a:lumOff val="80000"/>
              </a:schemeClr>
            </a:solidFill>
          </p:grpSpPr>
          <p:sp>
            <p:nvSpPr>
              <p:cNvPr id="154" name="Rectangle 153">
                <a:extLst>
                  <a:ext uri="{FF2B5EF4-FFF2-40B4-BE49-F238E27FC236}">
                    <a16:creationId xmlns:a16="http://schemas.microsoft.com/office/drawing/2014/main" id="{B9D29CE6-1843-B810-ABC5-E305CDEC137D}"/>
                  </a:ext>
                </a:extLst>
              </p:cNvPr>
              <p:cNvSpPr/>
              <p:nvPr/>
            </p:nvSpPr>
            <p:spPr>
              <a:xfrm>
                <a:off x="9883178"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55" name="Rectangle 154">
                <a:extLst>
                  <a:ext uri="{FF2B5EF4-FFF2-40B4-BE49-F238E27FC236}">
                    <a16:creationId xmlns:a16="http://schemas.microsoft.com/office/drawing/2014/main" id="{BCE4B826-C562-A412-19DB-2FE7C06B788F}"/>
                  </a:ext>
                </a:extLst>
              </p:cNvPr>
              <p:cNvSpPr/>
              <p:nvPr/>
            </p:nvSpPr>
            <p:spPr>
              <a:xfrm>
                <a:off x="10447015"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56" name="Rectangle 155">
                <a:extLst>
                  <a:ext uri="{FF2B5EF4-FFF2-40B4-BE49-F238E27FC236}">
                    <a16:creationId xmlns:a16="http://schemas.microsoft.com/office/drawing/2014/main" id="{1F0F565C-725A-6C85-0E31-8683855FB3D2}"/>
                  </a:ext>
                </a:extLst>
              </p:cNvPr>
              <p:cNvSpPr/>
              <p:nvPr/>
            </p:nvSpPr>
            <p:spPr>
              <a:xfrm>
                <a:off x="11010852"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grpSp>
          <p:nvGrpSpPr>
            <p:cNvPr id="150" name="Group 149">
              <a:extLst>
                <a:ext uri="{FF2B5EF4-FFF2-40B4-BE49-F238E27FC236}">
                  <a16:creationId xmlns:a16="http://schemas.microsoft.com/office/drawing/2014/main" id="{070A4841-1D0F-2953-D4C2-242F834C3A99}"/>
                </a:ext>
              </a:extLst>
            </p:cNvPr>
            <p:cNvGrpSpPr/>
            <p:nvPr/>
          </p:nvGrpSpPr>
          <p:grpSpPr>
            <a:xfrm>
              <a:off x="3576049" y="3020362"/>
              <a:ext cx="1625597" cy="113067"/>
              <a:chOff x="9883178" y="3095486"/>
              <a:chExt cx="1625597" cy="113067"/>
            </a:xfrm>
            <a:solidFill>
              <a:schemeClr val="accent1">
                <a:lumMod val="20000"/>
                <a:lumOff val="80000"/>
              </a:schemeClr>
            </a:solidFill>
          </p:grpSpPr>
          <p:sp>
            <p:nvSpPr>
              <p:cNvPr id="151" name="Rectangle 150">
                <a:extLst>
                  <a:ext uri="{FF2B5EF4-FFF2-40B4-BE49-F238E27FC236}">
                    <a16:creationId xmlns:a16="http://schemas.microsoft.com/office/drawing/2014/main" id="{3F13B9A5-9C4E-5842-CFF4-3865613131ED}"/>
                  </a:ext>
                </a:extLst>
              </p:cNvPr>
              <p:cNvSpPr/>
              <p:nvPr/>
            </p:nvSpPr>
            <p:spPr>
              <a:xfrm>
                <a:off x="9883178"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52" name="Rectangle 151">
                <a:extLst>
                  <a:ext uri="{FF2B5EF4-FFF2-40B4-BE49-F238E27FC236}">
                    <a16:creationId xmlns:a16="http://schemas.microsoft.com/office/drawing/2014/main" id="{A0A96DBC-6B2F-3873-AA21-54F358FF0A65}"/>
                  </a:ext>
                </a:extLst>
              </p:cNvPr>
              <p:cNvSpPr/>
              <p:nvPr/>
            </p:nvSpPr>
            <p:spPr>
              <a:xfrm>
                <a:off x="10447015"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53" name="Rectangle 152">
                <a:extLst>
                  <a:ext uri="{FF2B5EF4-FFF2-40B4-BE49-F238E27FC236}">
                    <a16:creationId xmlns:a16="http://schemas.microsoft.com/office/drawing/2014/main" id="{9EA7F535-873B-AF4B-FB5A-4019C85C319C}"/>
                  </a:ext>
                </a:extLst>
              </p:cNvPr>
              <p:cNvSpPr/>
              <p:nvPr/>
            </p:nvSpPr>
            <p:spPr>
              <a:xfrm>
                <a:off x="11010852"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grpSp>
      <p:grpSp>
        <p:nvGrpSpPr>
          <p:cNvPr id="356" name="Group 355">
            <a:extLst>
              <a:ext uri="{FF2B5EF4-FFF2-40B4-BE49-F238E27FC236}">
                <a16:creationId xmlns:a16="http://schemas.microsoft.com/office/drawing/2014/main" id="{210C0409-9B53-803C-8BF5-5B74FF304A79}"/>
              </a:ext>
            </a:extLst>
          </p:cNvPr>
          <p:cNvGrpSpPr/>
          <p:nvPr/>
        </p:nvGrpSpPr>
        <p:grpSpPr>
          <a:xfrm>
            <a:off x="4898744" y="1881320"/>
            <a:ext cx="2189434" cy="400437"/>
            <a:chOff x="4898744" y="1881320"/>
            <a:chExt cx="2189434" cy="400437"/>
          </a:xfrm>
        </p:grpSpPr>
        <p:sp>
          <p:nvSpPr>
            <p:cNvPr id="189" name="Rectangle 188">
              <a:extLst>
                <a:ext uri="{FF2B5EF4-FFF2-40B4-BE49-F238E27FC236}">
                  <a16:creationId xmlns:a16="http://schemas.microsoft.com/office/drawing/2014/main" id="{866E4B79-E698-4302-819C-83FBFD003C8D}"/>
                </a:ext>
              </a:extLst>
            </p:cNvPr>
            <p:cNvSpPr>
              <a:spLocks/>
            </p:cNvSpPr>
            <p:nvPr/>
          </p:nvSpPr>
          <p:spPr>
            <a:xfrm>
              <a:off x="4898744" y="1881320"/>
              <a:ext cx="2189434" cy="400437"/>
            </a:xfrm>
            <a:prstGeom prst="rect">
              <a:avLst/>
            </a:prstGeom>
            <a:solidFill>
              <a:schemeClr val="bg2"/>
            </a:solid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grpSp>
          <p:nvGrpSpPr>
            <p:cNvPr id="192" name="Group 191">
              <a:extLst>
                <a:ext uri="{FF2B5EF4-FFF2-40B4-BE49-F238E27FC236}">
                  <a16:creationId xmlns:a16="http://schemas.microsoft.com/office/drawing/2014/main" id="{94246681-4012-10DB-BDE3-50B996507E7A}"/>
                </a:ext>
              </a:extLst>
            </p:cNvPr>
            <p:cNvGrpSpPr/>
            <p:nvPr/>
          </p:nvGrpSpPr>
          <p:grpSpPr>
            <a:xfrm>
              <a:off x="4974287" y="1955769"/>
              <a:ext cx="2038349" cy="254952"/>
              <a:chOff x="1410325" y="3573078"/>
              <a:chExt cx="2038349" cy="254952"/>
            </a:xfrm>
          </p:grpSpPr>
          <p:sp>
            <p:nvSpPr>
              <p:cNvPr id="235" name="Rectangle 234">
                <a:extLst>
                  <a:ext uri="{FF2B5EF4-FFF2-40B4-BE49-F238E27FC236}">
                    <a16:creationId xmlns:a16="http://schemas.microsoft.com/office/drawing/2014/main" id="{C19E92DE-4D38-828E-3540-E99B3FAD87E7}"/>
                  </a:ext>
                </a:extLst>
              </p:cNvPr>
              <p:cNvSpPr/>
              <p:nvPr/>
            </p:nvSpPr>
            <p:spPr>
              <a:xfrm>
                <a:off x="1410325" y="3573078"/>
                <a:ext cx="2038349" cy="254952"/>
              </a:xfrm>
              <a:prstGeom prst="rect">
                <a:avLst/>
              </a:prstGeom>
              <a:noFill/>
              <a:ln w="9525">
                <a:solidFill>
                  <a:schemeClr val="accent2"/>
                </a:solidFill>
              </a:ln>
            </p:spPr>
            <p:txBody>
              <a:bodyPr wrap="square" anchor="ctr">
                <a:noAutofit/>
              </a:bodyPr>
              <a:lstStyle/>
              <a:p>
                <a:pPr algn="ctr"/>
                <a:endParaRPr lang="en-US" sz="1200">
                  <a:solidFill>
                    <a:prstClr val="white"/>
                  </a:solidFill>
                </a:endParaRPr>
              </a:p>
            </p:txBody>
          </p:sp>
          <p:sp>
            <p:nvSpPr>
              <p:cNvPr id="236" name="Rectangle 235">
                <a:extLst>
                  <a:ext uri="{FF2B5EF4-FFF2-40B4-BE49-F238E27FC236}">
                    <a16:creationId xmlns:a16="http://schemas.microsoft.com/office/drawing/2014/main" id="{C73F1430-97AB-CD61-8601-BB398D3C8167}"/>
                  </a:ext>
                </a:extLst>
              </p:cNvPr>
              <p:cNvSpPr/>
              <p:nvPr/>
            </p:nvSpPr>
            <p:spPr>
              <a:xfrm>
                <a:off x="1420623" y="3636670"/>
                <a:ext cx="543931" cy="123111"/>
              </a:xfrm>
              <a:prstGeom prst="rect">
                <a:avLst/>
              </a:prstGeom>
            </p:spPr>
            <p:txBody>
              <a:bodyPr wrap="square" lIns="0" tIns="0" rIns="0" bIns="0" anchor="ctr">
                <a:spAutoFit/>
              </a:bodyPr>
              <a:lstStyle/>
              <a:p>
                <a:pPr algn="ctr" defTabSz="914126">
                  <a:defRPr/>
                </a:pPr>
                <a:r>
                  <a:rPr lang="en-US" sz="800" dirty="0">
                    <a:solidFill>
                      <a:schemeClr val="tx2"/>
                    </a:solidFill>
                    <a:latin typeface="Arial" panose="020B0604020202020204" pitchFamily="34" charset="0"/>
                  </a:rPr>
                  <a:t>vSphere</a:t>
                </a:r>
              </a:p>
            </p:txBody>
          </p:sp>
          <p:sp>
            <p:nvSpPr>
              <p:cNvPr id="237" name="Rectangle 236">
                <a:extLst>
                  <a:ext uri="{FF2B5EF4-FFF2-40B4-BE49-F238E27FC236}">
                    <a16:creationId xmlns:a16="http://schemas.microsoft.com/office/drawing/2014/main" id="{5DBD52CC-BD9D-4F67-69C0-0DF984B0E98C}"/>
                  </a:ext>
                </a:extLst>
              </p:cNvPr>
              <p:cNvSpPr/>
              <p:nvPr/>
            </p:nvSpPr>
            <p:spPr>
              <a:xfrm>
                <a:off x="2828447" y="3636670"/>
                <a:ext cx="608625" cy="123111"/>
              </a:xfrm>
              <a:prstGeom prst="rect">
                <a:avLst/>
              </a:prstGeom>
            </p:spPr>
            <p:txBody>
              <a:bodyPr wrap="square" lIns="0" tIns="0" rIns="0" bIns="0" anchor="ctr">
                <a:spAutoFit/>
              </a:bodyPr>
              <a:lstStyle/>
              <a:p>
                <a:pPr algn="ctr" defTabSz="914126">
                  <a:defRPr/>
                </a:pPr>
                <a:r>
                  <a:rPr lang="en-US" sz="800" dirty="0">
                    <a:solidFill>
                      <a:schemeClr val="tx2"/>
                    </a:solidFill>
                    <a:latin typeface="Arial" panose="020B0604020202020204" pitchFamily="34" charset="0"/>
                  </a:rPr>
                  <a:t>vSphere</a:t>
                </a:r>
              </a:p>
            </p:txBody>
          </p:sp>
          <p:cxnSp>
            <p:nvCxnSpPr>
              <p:cNvPr id="238" name="Straight Connector 237">
                <a:extLst>
                  <a:ext uri="{FF2B5EF4-FFF2-40B4-BE49-F238E27FC236}">
                    <a16:creationId xmlns:a16="http://schemas.microsoft.com/office/drawing/2014/main" id="{05127ACB-545E-59D8-EFEB-DD2ED996F61A}"/>
                  </a:ext>
                </a:extLst>
              </p:cNvPr>
              <p:cNvCxnSpPr>
                <a:cxnSpLocks/>
              </p:cNvCxnSpPr>
              <p:nvPr/>
            </p:nvCxnSpPr>
            <p:spPr bwMode="gray">
              <a:xfrm flipH="1">
                <a:off x="2003038" y="3698226"/>
                <a:ext cx="297114" cy="0"/>
              </a:xfrm>
              <a:prstGeom prst="line">
                <a:avLst/>
              </a:prstGeom>
              <a:ln w="9525">
                <a:solidFill>
                  <a:schemeClr val="accent2"/>
                </a:solidFill>
                <a:miter lim="800000"/>
                <a:tailEnd type="triangle" w="lg" len="med"/>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70FFE137-EE88-DDBF-88BC-4ECE6A7B2850}"/>
                  </a:ext>
                </a:extLst>
              </p:cNvPr>
              <p:cNvCxnSpPr>
                <a:cxnSpLocks/>
              </p:cNvCxnSpPr>
              <p:nvPr/>
            </p:nvCxnSpPr>
            <p:spPr bwMode="gray">
              <a:xfrm>
                <a:off x="2300152" y="3698226"/>
                <a:ext cx="499235" cy="0"/>
              </a:xfrm>
              <a:prstGeom prst="line">
                <a:avLst/>
              </a:prstGeom>
              <a:ln w="9525">
                <a:solidFill>
                  <a:schemeClr val="accent2"/>
                </a:solidFill>
                <a:miter lim="800000"/>
                <a:tailEnd type="triangle" w="lg" len="med"/>
              </a:ln>
            </p:spPr>
            <p:style>
              <a:lnRef idx="1">
                <a:schemeClr val="accent1"/>
              </a:lnRef>
              <a:fillRef idx="0">
                <a:schemeClr val="accent1"/>
              </a:fillRef>
              <a:effectRef idx="0">
                <a:schemeClr val="accent1"/>
              </a:effectRef>
              <a:fontRef idx="minor">
                <a:schemeClr val="tx1"/>
              </a:fontRef>
            </p:style>
          </p:cxnSp>
        </p:grpSp>
      </p:grpSp>
      <p:grpSp>
        <p:nvGrpSpPr>
          <p:cNvPr id="355" name="Group 354">
            <a:extLst>
              <a:ext uri="{FF2B5EF4-FFF2-40B4-BE49-F238E27FC236}">
                <a16:creationId xmlns:a16="http://schemas.microsoft.com/office/drawing/2014/main" id="{F90B78D4-9CBB-62EF-14FB-8A5795DDFC01}"/>
              </a:ext>
            </a:extLst>
          </p:cNvPr>
          <p:cNvGrpSpPr/>
          <p:nvPr/>
        </p:nvGrpSpPr>
        <p:grpSpPr>
          <a:xfrm>
            <a:off x="1516532" y="3542733"/>
            <a:ext cx="1625597" cy="400437"/>
            <a:chOff x="1516532" y="3542733"/>
            <a:chExt cx="1625597" cy="400437"/>
          </a:xfrm>
        </p:grpSpPr>
        <p:sp>
          <p:nvSpPr>
            <p:cNvPr id="248" name="Rectangle 247">
              <a:extLst>
                <a:ext uri="{FF2B5EF4-FFF2-40B4-BE49-F238E27FC236}">
                  <a16:creationId xmlns:a16="http://schemas.microsoft.com/office/drawing/2014/main" id="{471F68EC-98FA-3352-0939-06F69199F552}"/>
                </a:ext>
              </a:extLst>
            </p:cNvPr>
            <p:cNvSpPr>
              <a:spLocks/>
            </p:cNvSpPr>
            <p:nvPr/>
          </p:nvSpPr>
          <p:spPr>
            <a:xfrm>
              <a:off x="1516532" y="3542733"/>
              <a:ext cx="1625597" cy="400437"/>
            </a:xfrm>
            <a:prstGeom prst="rect">
              <a:avLst/>
            </a:prstGeom>
            <a:solidFill>
              <a:schemeClr val="bg2"/>
            </a:solid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grpSp>
          <p:nvGrpSpPr>
            <p:cNvPr id="193" name="Group 192">
              <a:extLst>
                <a:ext uri="{FF2B5EF4-FFF2-40B4-BE49-F238E27FC236}">
                  <a16:creationId xmlns:a16="http://schemas.microsoft.com/office/drawing/2014/main" id="{5B67F330-1575-CDB9-09F6-94C494304217}"/>
                </a:ext>
              </a:extLst>
            </p:cNvPr>
            <p:cNvGrpSpPr/>
            <p:nvPr/>
          </p:nvGrpSpPr>
          <p:grpSpPr>
            <a:xfrm>
              <a:off x="1584540" y="3617182"/>
              <a:ext cx="1489580" cy="254952"/>
              <a:chOff x="1410326" y="3573078"/>
              <a:chExt cx="1489580" cy="254952"/>
            </a:xfrm>
          </p:grpSpPr>
          <p:sp>
            <p:nvSpPr>
              <p:cNvPr id="230" name="Rectangle 229">
                <a:extLst>
                  <a:ext uri="{FF2B5EF4-FFF2-40B4-BE49-F238E27FC236}">
                    <a16:creationId xmlns:a16="http://schemas.microsoft.com/office/drawing/2014/main" id="{7D327321-B0C6-EF2F-4E94-10ECD7AF3218}"/>
                  </a:ext>
                </a:extLst>
              </p:cNvPr>
              <p:cNvSpPr/>
              <p:nvPr/>
            </p:nvSpPr>
            <p:spPr>
              <a:xfrm>
                <a:off x="1410326" y="3573078"/>
                <a:ext cx="1489580" cy="254952"/>
              </a:xfrm>
              <a:prstGeom prst="rect">
                <a:avLst/>
              </a:prstGeom>
              <a:noFill/>
              <a:ln w="9525">
                <a:gradFill flip="none" rotWithShape="1">
                  <a:gsLst>
                    <a:gs pos="60000">
                      <a:srgbClr val="316E60"/>
                    </a:gs>
                    <a:gs pos="100000">
                      <a:schemeClr val="accent2"/>
                    </a:gs>
                    <a:gs pos="0">
                      <a:schemeClr val="accent4"/>
                    </a:gs>
                  </a:gsLst>
                  <a:lin ang="10800000" scaled="1"/>
                  <a:tileRect/>
                </a:gradFill>
              </a:ln>
            </p:spPr>
            <p:txBody>
              <a:bodyPr wrap="square" anchor="ctr">
                <a:noAutofit/>
              </a:bodyPr>
              <a:lstStyle/>
              <a:p>
                <a:pPr algn="ctr"/>
                <a:endParaRPr lang="en-US" sz="1200">
                  <a:solidFill>
                    <a:prstClr val="white"/>
                  </a:solidFill>
                </a:endParaRPr>
              </a:p>
            </p:txBody>
          </p:sp>
          <p:sp>
            <p:nvSpPr>
              <p:cNvPr id="231" name="Rectangle 230">
                <a:extLst>
                  <a:ext uri="{FF2B5EF4-FFF2-40B4-BE49-F238E27FC236}">
                    <a16:creationId xmlns:a16="http://schemas.microsoft.com/office/drawing/2014/main" id="{7966FEA3-DF69-C2C8-A4C3-5887DD40F552}"/>
                  </a:ext>
                </a:extLst>
              </p:cNvPr>
              <p:cNvSpPr/>
              <p:nvPr/>
            </p:nvSpPr>
            <p:spPr>
              <a:xfrm>
                <a:off x="1429476" y="3636670"/>
                <a:ext cx="486200" cy="123111"/>
              </a:xfrm>
              <a:prstGeom prst="rect">
                <a:avLst/>
              </a:prstGeom>
            </p:spPr>
            <p:txBody>
              <a:bodyPr wrap="square" lIns="0" tIns="0" rIns="0" bIns="0" anchor="ctr">
                <a:spAutoFit/>
              </a:bodyPr>
              <a:lstStyle/>
              <a:p>
                <a:pPr algn="ctr" defTabSz="914126">
                  <a:defRPr/>
                </a:pPr>
                <a:r>
                  <a:rPr lang="en-US" sz="800" dirty="0">
                    <a:solidFill>
                      <a:schemeClr val="tx2"/>
                    </a:solidFill>
                    <a:latin typeface="Arial" panose="020B0604020202020204" pitchFamily="34" charset="0"/>
                  </a:rPr>
                  <a:t>vSphere</a:t>
                </a:r>
              </a:p>
            </p:txBody>
          </p:sp>
          <p:sp>
            <p:nvSpPr>
              <p:cNvPr id="232" name="Rectangle 231">
                <a:extLst>
                  <a:ext uri="{FF2B5EF4-FFF2-40B4-BE49-F238E27FC236}">
                    <a16:creationId xmlns:a16="http://schemas.microsoft.com/office/drawing/2014/main" id="{54327196-5D33-BB4D-BEAA-1B2B8898C891}"/>
                  </a:ext>
                </a:extLst>
              </p:cNvPr>
              <p:cNvSpPr/>
              <p:nvPr/>
            </p:nvSpPr>
            <p:spPr>
              <a:xfrm>
                <a:off x="2342248" y="3636670"/>
                <a:ext cx="557658" cy="123111"/>
              </a:xfrm>
              <a:prstGeom prst="rect">
                <a:avLst/>
              </a:prstGeom>
            </p:spPr>
            <p:txBody>
              <a:bodyPr wrap="square" lIns="0" tIns="0" rIns="0" bIns="0" anchor="ctr">
                <a:spAutoFit/>
              </a:bodyPr>
              <a:lstStyle/>
              <a:p>
                <a:pPr algn="ctr" defTabSz="914126">
                  <a:defRPr/>
                </a:pPr>
                <a:r>
                  <a:rPr lang="en-US" sz="800" dirty="0">
                    <a:solidFill>
                      <a:schemeClr val="tx2"/>
                    </a:solidFill>
                    <a:latin typeface="Arial" panose="020B0604020202020204" pitchFamily="34" charset="0"/>
                  </a:rPr>
                  <a:t>vSAN ESA</a:t>
                </a:r>
              </a:p>
            </p:txBody>
          </p:sp>
          <p:cxnSp>
            <p:nvCxnSpPr>
              <p:cNvPr id="233" name="Straight Connector 232">
                <a:extLst>
                  <a:ext uri="{FF2B5EF4-FFF2-40B4-BE49-F238E27FC236}">
                    <a16:creationId xmlns:a16="http://schemas.microsoft.com/office/drawing/2014/main" id="{087A1252-1680-165C-0CA3-4582A1E21C44}"/>
                  </a:ext>
                </a:extLst>
              </p:cNvPr>
              <p:cNvCxnSpPr>
                <a:cxnSpLocks/>
              </p:cNvCxnSpPr>
              <p:nvPr/>
            </p:nvCxnSpPr>
            <p:spPr bwMode="gray">
              <a:xfrm flipH="1">
                <a:off x="1915786" y="3698226"/>
                <a:ext cx="109171" cy="0"/>
              </a:xfrm>
              <a:prstGeom prst="line">
                <a:avLst/>
              </a:prstGeom>
              <a:ln w="9525">
                <a:solidFill>
                  <a:schemeClr val="accent2"/>
                </a:solidFill>
                <a:miter lim="800000"/>
                <a:tailEnd type="triangle" w="lg" len="med"/>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E3E7F78A-BB25-2441-5DFD-5A586D771D7A}"/>
                  </a:ext>
                </a:extLst>
              </p:cNvPr>
              <p:cNvCxnSpPr>
                <a:cxnSpLocks/>
              </p:cNvCxnSpPr>
              <p:nvPr/>
            </p:nvCxnSpPr>
            <p:spPr bwMode="gray">
              <a:xfrm>
                <a:off x="2024957" y="3698226"/>
                <a:ext cx="317290" cy="0"/>
              </a:xfrm>
              <a:prstGeom prst="line">
                <a:avLst/>
              </a:prstGeom>
              <a:ln w="9525">
                <a:gradFill flip="none" rotWithShape="1">
                  <a:gsLst>
                    <a:gs pos="100000">
                      <a:schemeClr val="accent2"/>
                    </a:gs>
                    <a:gs pos="0">
                      <a:schemeClr val="accent4"/>
                    </a:gs>
                  </a:gsLst>
                  <a:lin ang="10800000" scaled="1"/>
                  <a:tileRect/>
                </a:gradFill>
                <a:miter lim="800000"/>
                <a:tailEnd type="triangle" w="lg" len="med"/>
              </a:ln>
            </p:spPr>
            <p:style>
              <a:lnRef idx="1">
                <a:schemeClr val="accent1"/>
              </a:lnRef>
              <a:fillRef idx="0">
                <a:schemeClr val="accent1"/>
              </a:fillRef>
              <a:effectRef idx="0">
                <a:schemeClr val="accent1"/>
              </a:effectRef>
              <a:fontRef idx="minor">
                <a:schemeClr val="tx1"/>
              </a:fontRef>
            </p:style>
          </p:cxnSp>
        </p:grpSp>
      </p:grpSp>
      <p:grpSp>
        <p:nvGrpSpPr>
          <p:cNvPr id="274" name="Group 273">
            <a:extLst>
              <a:ext uri="{FF2B5EF4-FFF2-40B4-BE49-F238E27FC236}">
                <a16:creationId xmlns:a16="http://schemas.microsoft.com/office/drawing/2014/main" id="{D6975C81-CF94-D5E3-056F-06E2F1F6FF30}"/>
              </a:ext>
            </a:extLst>
          </p:cNvPr>
          <p:cNvGrpSpPr/>
          <p:nvPr/>
        </p:nvGrpSpPr>
        <p:grpSpPr>
          <a:xfrm>
            <a:off x="4898745" y="4319104"/>
            <a:ext cx="2189433" cy="443836"/>
            <a:chOff x="4031464" y="4235007"/>
            <a:chExt cx="2189433" cy="443836"/>
          </a:xfrm>
        </p:grpSpPr>
        <p:sp>
          <p:nvSpPr>
            <p:cNvPr id="249" name="Rectangle 248">
              <a:extLst>
                <a:ext uri="{FF2B5EF4-FFF2-40B4-BE49-F238E27FC236}">
                  <a16:creationId xmlns:a16="http://schemas.microsoft.com/office/drawing/2014/main" id="{9039F21D-7717-035B-B4AB-11BF66DAFA57}"/>
                </a:ext>
              </a:extLst>
            </p:cNvPr>
            <p:cNvSpPr/>
            <p:nvPr/>
          </p:nvSpPr>
          <p:spPr>
            <a:xfrm>
              <a:off x="4031464" y="4235007"/>
              <a:ext cx="2189433" cy="443836"/>
            </a:xfrm>
            <a:prstGeom prst="rect">
              <a:avLst/>
            </a:prstGeom>
            <a:solidFill>
              <a:schemeClr val="accent2"/>
            </a:solidFill>
            <a:ln w="12700">
              <a:noFill/>
              <a:prstDash val="sysDot"/>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800">
                <a:solidFill>
                  <a:schemeClr val="bg1"/>
                </a:solidFill>
              </a:endParaRPr>
            </a:p>
          </p:txBody>
        </p:sp>
        <p:grpSp>
          <p:nvGrpSpPr>
            <p:cNvPr id="256" name="Group 255">
              <a:extLst>
                <a:ext uri="{FF2B5EF4-FFF2-40B4-BE49-F238E27FC236}">
                  <a16:creationId xmlns:a16="http://schemas.microsoft.com/office/drawing/2014/main" id="{DE58AC29-8CD4-BB17-A359-F15CE124642B}"/>
                </a:ext>
              </a:extLst>
            </p:cNvPr>
            <p:cNvGrpSpPr/>
            <p:nvPr/>
          </p:nvGrpSpPr>
          <p:grpSpPr>
            <a:xfrm>
              <a:off x="4070601" y="4293973"/>
              <a:ext cx="419649" cy="200892"/>
              <a:chOff x="-4656498" y="4335050"/>
              <a:chExt cx="1108181" cy="530502"/>
            </a:xfrm>
          </p:grpSpPr>
          <p:sp>
            <p:nvSpPr>
              <p:cNvPr id="250" name="Rectangle 249">
                <a:extLst>
                  <a:ext uri="{FF2B5EF4-FFF2-40B4-BE49-F238E27FC236}">
                    <a16:creationId xmlns:a16="http://schemas.microsoft.com/office/drawing/2014/main" id="{7AEAC976-15B2-6070-66D1-34D59F78A879}"/>
                  </a:ext>
                </a:extLst>
              </p:cNvPr>
              <p:cNvSpPr/>
              <p:nvPr/>
            </p:nvSpPr>
            <p:spPr>
              <a:xfrm>
                <a:off x="-4656498" y="4335050"/>
                <a:ext cx="1108181" cy="530502"/>
              </a:xfrm>
              <a:prstGeom prst="rect">
                <a:avLst/>
              </a:prstGeom>
              <a:noFill/>
              <a:ln w="12700">
                <a:solidFill>
                  <a:schemeClr val="bg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marL="60325" algn="ctr">
                  <a:spcAft>
                    <a:spcPts val="800"/>
                  </a:spcAft>
                </a:pPr>
                <a:endParaRPr lang="en-US" sz="1400">
                  <a:solidFill>
                    <a:schemeClr val="tx1"/>
                  </a:solidFill>
                </a:endParaRPr>
              </a:p>
            </p:txBody>
          </p:sp>
          <p:pic>
            <p:nvPicPr>
              <p:cNvPr id="251" name="Graphic 250">
                <a:extLst>
                  <a:ext uri="{FF2B5EF4-FFF2-40B4-BE49-F238E27FC236}">
                    <a16:creationId xmlns:a16="http://schemas.microsoft.com/office/drawing/2014/main" id="{72CA2F3B-8226-607A-4F1F-500747D4F4F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27765" y="4471602"/>
                <a:ext cx="350734" cy="257395"/>
              </a:xfrm>
              <a:prstGeom prst="rect">
                <a:avLst/>
              </a:prstGeom>
            </p:spPr>
          </p:pic>
          <p:pic>
            <p:nvPicPr>
              <p:cNvPr id="252" name="Graphic 251">
                <a:extLst>
                  <a:ext uri="{FF2B5EF4-FFF2-40B4-BE49-F238E27FC236}">
                    <a16:creationId xmlns:a16="http://schemas.microsoft.com/office/drawing/2014/main" id="{BE184459-AB80-73EE-E4A2-B1FE7431637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014200" y="4471602"/>
                <a:ext cx="350734" cy="257395"/>
              </a:xfrm>
              <a:prstGeom prst="rect">
                <a:avLst/>
              </a:prstGeom>
            </p:spPr>
          </p:pic>
        </p:grpSp>
        <p:grpSp>
          <p:nvGrpSpPr>
            <p:cNvPr id="257" name="Group 256">
              <a:extLst>
                <a:ext uri="{FF2B5EF4-FFF2-40B4-BE49-F238E27FC236}">
                  <a16:creationId xmlns:a16="http://schemas.microsoft.com/office/drawing/2014/main" id="{15DF7D39-7F40-A406-EC5B-FE842436815A}"/>
                </a:ext>
              </a:extLst>
            </p:cNvPr>
            <p:cNvGrpSpPr/>
            <p:nvPr/>
          </p:nvGrpSpPr>
          <p:grpSpPr>
            <a:xfrm>
              <a:off x="4634438" y="4293973"/>
              <a:ext cx="419649" cy="200892"/>
              <a:chOff x="-4656498" y="4335050"/>
              <a:chExt cx="1108181" cy="530502"/>
            </a:xfrm>
          </p:grpSpPr>
          <p:sp>
            <p:nvSpPr>
              <p:cNvPr id="258" name="Rectangle 257">
                <a:extLst>
                  <a:ext uri="{FF2B5EF4-FFF2-40B4-BE49-F238E27FC236}">
                    <a16:creationId xmlns:a16="http://schemas.microsoft.com/office/drawing/2014/main" id="{3627A124-2C6D-31AF-B240-F6D1243CFED2}"/>
                  </a:ext>
                </a:extLst>
              </p:cNvPr>
              <p:cNvSpPr/>
              <p:nvPr/>
            </p:nvSpPr>
            <p:spPr>
              <a:xfrm>
                <a:off x="-4656498" y="4335050"/>
                <a:ext cx="1108181" cy="530502"/>
              </a:xfrm>
              <a:prstGeom prst="rect">
                <a:avLst/>
              </a:prstGeom>
              <a:noFill/>
              <a:ln w="12700">
                <a:solidFill>
                  <a:schemeClr val="bg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marL="60325" algn="ctr">
                  <a:spcAft>
                    <a:spcPts val="800"/>
                  </a:spcAft>
                </a:pPr>
                <a:endParaRPr lang="en-US" sz="1400">
                  <a:solidFill>
                    <a:schemeClr val="tx1"/>
                  </a:solidFill>
                </a:endParaRPr>
              </a:p>
            </p:txBody>
          </p:sp>
          <p:pic>
            <p:nvPicPr>
              <p:cNvPr id="259" name="Graphic 258">
                <a:extLst>
                  <a:ext uri="{FF2B5EF4-FFF2-40B4-BE49-F238E27FC236}">
                    <a16:creationId xmlns:a16="http://schemas.microsoft.com/office/drawing/2014/main" id="{C505C323-9CF5-D90F-735A-4C4E5FDC378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27765" y="4471602"/>
                <a:ext cx="350734" cy="257395"/>
              </a:xfrm>
              <a:prstGeom prst="rect">
                <a:avLst/>
              </a:prstGeom>
            </p:spPr>
          </p:pic>
          <p:pic>
            <p:nvPicPr>
              <p:cNvPr id="260" name="Graphic 259">
                <a:extLst>
                  <a:ext uri="{FF2B5EF4-FFF2-40B4-BE49-F238E27FC236}">
                    <a16:creationId xmlns:a16="http://schemas.microsoft.com/office/drawing/2014/main" id="{8ECBCF4C-2B0E-83D2-A3D6-8DD7B8F7E6F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014200" y="4471602"/>
                <a:ext cx="350734" cy="257395"/>
              </a:xfrm>
              <a:prstGeom prst="rect">
                <a:avLst/>
              </a:prstGeom>
            </p:spPr>
          </p:pic>
        </p:grpSp>
        <p:grpSp>
          <p:nvGrpSpPr>
            <p:cNvPr id="261" name="Group 260">
              <a:extLst>
                <a:ext uri="{FF2B5EF4-FFF2-40B4-BE49-F238E27FC236}">
                  <a16:creationId xmlns:a16="http://schemas.microsoft.com/office/drawing/2014/main" id="{965BD9C1-63BB-E570-4C99-CC384E924F01}"/>
                </a:ext>
              </a:extLst>
            </p:cNvPr>
            <p:cNvGrpSpPr/>
            <p:nvPr/>
          </p:nvGrpSpPr>
          <p:grpSpPr>
            <a:xfrm>
              <a:off x="5198275" y="4293973"/>
              <a:ext cx="419649" cy="200892"/>
              <a:chOff x="-4656498" y="4335050"/>
              <a:chExt cx="1108181" cy="530502"/>
            </a:xfrm>
          </p:grpSpPr>
          <p:sp>
            <p:nvSpPr>
              <p:cNvPr id="262" name="Rectangle 261">
                <a:extLst>
                  <a:ext uri="{FF2B5EF4-FFF2-40B4-BE49-F238E27FC236}">
                    <a16:creationId xmlns:a16="http://schemas.microsoft.com/office/drawing/2014/main" id="{F40DDE33-2B4A-3F09-24CF-776ABC7356B1}"/>
                  </a:ext>
                </a:extLst>
              </p:cNvPr>
              <p:cNvSpPr/>
              <p:nvPr/>
            </p:nvSpPr>
            <p:spPr>
              <a:xfrm>
                <a:off x="-4656498" y="4335050"/>
                <a:ext cx="1108181" cy="530502"/>
              </a:xfrm>
              <a:prstGeom prst="rect">
                <a:avLst/>
              </a:prstGeom>
              <a:noFill/>
              <a:ln w="12700">
                <a:solidFill>
                  <a:schemeClr val="bg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marL="60325" algn="ctr">
                  <a:spcAft>
                    <a:spcPts val="800"/>
                  </a:spcAft>
                </a:pPr>
                <a:endParaRPr lang="en-US" sz="1400" dirty="0">
                  <a:solidFill>
                    <a:schemeClr val="tx1"/>
                  </a:solidFill>
                </a:endParaRPr>
              </a:p>
            </p:txBody>
          </p:sp>
          <p:pic>
            <p:nvPicPr>
              <p:cNvPr id="263" name="Graphic 262">
                <a:extLst>
                  <a:ext uri="{FF2B5EF4-FFF2-40B4-BE49-F238E27FC236}">
                    <a16:creationId xmlns:a16="http://schemas.microsoft.com/office/drawing/2014/main" id="{AA745250-FC06-DBC3-F9A6-FAF3B2C2A02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27765" y="4471602"/>
                <a:ext cx="350734" cy="257395"/>
              </a:xfrm>
              <a:prstGeom prst="rect">
                <a:avLst/>
              </a:prstGeom>
            </p:spPr>
          </p:pic>
          <p:pic>
            <p:nvPicPr>
              <p:cNvPr id="264" name="Graphic 263">
                <a:extLst>
                  <a:ext uri="{FF2B5EF4-FFF2-40B4-BE49-F238E27FC236}">
                    <a16:creationId xmlns:a16="http://schemas.microsoft.com/office/drawing/2014/main" id="{D145A516-5C8A-F900-1825-B75DE61011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014200" y="4471602"/>
                <a:ext cx="350734" cy="257395"/>
              </a:xfrm>
              <a:prstGeom prst="rect">
                <a:avLst/>
              </a:prstGeom>
            </p:spPr>
          </p:pic>
        </p:grpSp>
        <p:grpSp>
          <p:nvGrpSpPr>
            <p:cNvPr id="265" name="Group 264">
              <a:extLst>
                <a:ext uri="{FF2B5EF4-FFF2-40B4-BE49-F238E27FC236}">
                  <a16:creationId xmlns:a16="http://schemas.microsoft.com/office/drawing/2014/main" id="{43CA5154-9C01-3909-0152-D48C78032E93}"/>
                </a:ext>
              </a:extLst>
            </p:cNvPr>
            <p:cNvGrpSpPr/>
            <p:nvPr/>
          </p:nvGrpSpPr>
          <p:grpSpPr>
            <a:xfrm>
              <a:off x="5762112" y="4293973"/>
              <a:ext cx="419649" cy="200892"/>
              <a:chOff x="-4656498" y="4335050"/>
              <a:chExt cx="1108181" cy="530502"/>
            </a:xfrm>
          </p:grpSpPr>
          <p:sp>
            <p:nvSpPr>
              <p:cNvPr id="266" name="Rectangle 265">
                <a:extLst>
                  <a:ext uri="{FF2B5EF4-FFF2-40B4-BE49-F238E27FC236}">
                    <a16:creationId xmlns:a16="http://schemas.microsoft.com/office/drawing/2014/main" id="{78EC05B8-0878-1645-8160-390A2D882FC8}"/>
                  </a:ext>
                </a:extLst>
              </p:cNvPr>
              <p:cNvSpPr/>
              <p:nvPr/>
            </p:nvSpPr>
            <p:spPr>
              <a:xfrm>
                <a:off x="-4656498" y="4335050"/>
                <a:ext cx="1108181" cy="530502"/>
              </a:xfrm>
              <a:prstGeom prst="rect">
                <a:avLst/>
              </a:prstGeom>
              <a:noFill/>
              <a:ln w="12700">
                <a:solidFill>
                  <a:schemeClr val="bg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marL="60325" algn="ctr">
                  <a:spcAft>
                    <a:spcPts val="800"/>
                  </a:spcAft>
                </a:pPr>
                <a:endParaRPr lang="en-US" sz="1400">
                  <a:solidFill>
                    <a:schemeClr val="tx1"/>
                  </a:solidFill>
                </a:endParaRPr>
              </a:p>
            </p:txBody>
          </p:sp>
          <p:pic>
            <p:nvPicPr>
              <p:cNvPr id="267" name="Graphic 266">
                <a:extLst>
                  <a:ext uri="{FF2B5EF4-FFF2-40B4-BE49-F238E27FC236}">
                    <a16:creationId xmlns:a16="http://schemas.microsoft.com/office/drawing/2014/main" id="{817B5E21-BB04-DA47-F089-A2A8928A48C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27765" y="4471602"/>
                <a:ext cx="350734" cy="257395"/>
              </a:xfrm>
              <a:prstGeom prst="rect">
                <a:avLst/>
              </a:prstGeom>
            </p:spPr>
          </p:pic>
          <p:pic>
            <p:nvPicPr>
              <p:cNvPr id="268" name="Graphic 267">
                <a:extLst>
                  <a:ext uri="{FF2B5EF4-FFF2-40B4-BE49-F238E27FC236}">
                    <a16:creationId xmlns:a16="http://schemas.microsoft.com/office/drawing/2014/main" id="{30AFCFC6-370D-8294-8889-DC356B883A3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014200" y="4471602"/>
                <a:ext cx="350734" cy="257395"/>
              </a:xfrm>
              <a:prstGeom prst="rect">
                <a:avLst/>
              </a:prstGeom>
            </p:spPr>
          </p:pic>
        </p:grpSp>
      </p:grpSp>
      <p:pic>
        <p:nvPicPr>
          <p:cNvPr id="269" name="Graphic 268">
            <a:extLst>
              <a:ext uri="{FF2B5EF4-FFF2-40B4-BE49-F238E27FC236}">
                <a16:creationId xmlns:a16="http://schemas.microsoft.com/office/drawing/2014/main" id="{2BBB558C-8755-ADC7-3B7C-1510423D6B2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619942" y="3849007"/>
            <a:ext cx="761896" cy="761896"/>
          </a:xfrm>
          <a:prstGeom prst="rect">
            <a:avLst/>
          </a:prstGeom>
        </p:spPr>
      </p:pic>
      <p:sp>
        <p:nvSpPr>
          <p:cNvPr id="270" name="TextBox 269">
            <a:extLst>
              <a:ext uri="{FF2B5EF4-FFF2-40B4-BE49-F238E27FC236}">
                <a16:creationId xmlns:a16="http://schemas.microsoft.com/office/drawing/2014/main" id="{3E5C7BC0-D72B-DC2C-5A8F-F68EC0E6D08C}"/>
              </a:ext>
            </a:extLst>
          </p:cNvPr>
          <p:cNvSpPr txBox="1"/>
          <p:nvPr/>
        </p:nvSpPr>
        <p:spPr>
          <a:xfrm>
            <a:off x="3442185" y="3597851"/>
            <a:ext cx="1199500" cy="184666"/>
          </a:xfrm>
          <a:prstGeom prst="rect">
            <a:avLst/>
          </a:prstGeom>
        </p:spPr>
        <p:txBody>
          <a:bodyPr wrap="square" lIns="0" tIns="0" rIns="0" bIns="0" rtlCol="0">
            <a:spAutoFit/>
          </a:bodyPr>
          <a:lstStyle/>
          <a:p>
            <a:pPr algn="ctr">
              <a:spcAft>
                <a:spcPts val="600"/>
              </a:spcAft>
            </a:pPr>
            <a:r>
              <a:rPr lang="en-US" sz="1200" dirty="0"/>
              <a:t>Powered by</a:t>
            </a:r>
          </a:p>
        </p:txBody>
      </p:sp>
      <p:sp>
        <p:nvSpPr>
          <p:cNvPr id="271" name="TextBox 270">
            <a:extLst>
              <a:ext uri="{FF2B5EF4-FFF2-40B4-BE49-F238E27FC236}">
                <a16:creationId xmlns:a16="http://schemas.microsoft.com/office/drawing/2014/main" id="{53DBCEE5-7735-693D-581D-5D66B694BB7D}"/>
              </a:ext>
            </a:extLst>
          </p:cNvPr>
          <p:cNvSpPr txBox="1"/>
          <p:nvPr/>
        </p:nvSpPr>
        <p:spPr>
          <a:xfrm>
            <a:off x="3659982" y="5023544"/>
            <a:ext cx="1045055" cy="553998"/>
          </a:xfrm>
          <a:prstGeom prst="rect">
            <a:avLst/>
          </a:prstGeom>
        </p:spPr>
        <p:txBody>
          <a:bodyPr wrap="square" lIns="0" tIns="0" rIns="0" bIns="0" rtlCol="0">
            <a:spAutoFit/>
          </a:bodyPr>
          <a:lstStyle/>
          <a:p>
            <a:pPr marL="0" marR="0" lvl="0" indent="0"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chemeClr val="accent4"/>
                </a:solidFill>
                <a:effectLst/>
                <a:uLnTx/>
                <a:uFillTx/>
                <a:latin typeface="Arial" panose="020B0604020202020204" pitchFamily="34" charset="0"/>
                <a:ea typeface="+mn-ea"/>
                <a:cs typeface="+mn-cs"/>
              </a:rPr>
              <a:t>E</a:t>
            </a:r>
            <a:r>
              <a:rPr kumimoji="0" lang="en-US" sz="1200" b="0" i="0" u="none" strike="noStrike" kern="1200" cap="none" spc="0" normalizeH="0" baseline="0" noProof="0" dirty="0">
                <a:ln>
                  <a:noFill/>
                </a:ln>
                <a:effectLst/>
                <a:uLnTx/>
                <a:uFillTx/>
                <a:latin typeface="Arial" panose="020B0604020202020204" pitchFamily="34" charset="0"/>
                <a:ea typeface="+mn-ea"/>
                <a:cs typeface="+mn-cs"/>
              </a:rPr>
              <a:t>xpress</a:t>
            </a:r>
            <a:br>
              <a:rPr kumimoji="0" lang="en-US" sz="1200" b="0" i="0" u="none" strike="noStrike" kern="1200" cap="none" spc="0" normalizeH="0" baseline="0" noProof="0" dirty="0">
                <a:ln>
                  <a:noFill/>
                </a:ln>
                <a:effectLst/>
                <a:uLnTx/>
                <a:uFillTx/>
                <a:latin typeface="Arial" panose="020B0604020202020204" pitchFamily="34" charset="0"/>
                <a:ea typeface="+mn-ea"/>
                <a:cs typeface="+mn-cs"/>
              </a:rPr>
            </a:br>
            <a:r>
              <a:rPr kumimoji="0" lang="en-US" sz="1200" b="1" i="0" u="none" strike="noStrike" kern="1200" cap="none" spc="0" normalizeH="0" baseline="0" noProof="0" dirty="0">
                <a:ln>
                  <a:noFill/>
                </a:ln>
                <a:solidFill>
                  <a:schemeClr val="accent4"/>
                </a:solidFill>
                <a:effectLst/>
                <a:uLnTx/>
                <a:uFillTx/>
                <a:latin typeface="Arial" panose="020B0604020202020204" pitchFamily="34" charset="0"/>
                <a:ea typeface="+mn-ea"/>
                <a:cs typeface="+mn-cs"/>
              </a:rPr>
              <a:t>S</a:t>
            </a:r>
            <a:r>
              <a:rPr kumimoji="0" lang="en-US" sz="1200" b="0" i="0" u="none" strike="noStrike" kern="1200" cap="none" spc="0" normalizeH="0" baseline="0" noProof="0" dirty="0">
                <a:ln>
                  <a:noFill/>
                </a:ln>
                <a:effectLst/>
                <a:uLnTx/>
                <a:uFillTx/>
                <a:latin typeface="Arial" panose="020B0604020202020204" pitchFamily="34" charset="0"/>
                <a:ea typeface="+mn-ea"/>
                <a:cs typeface="+mn-cs"/>
              </a:rPr>
              <a:t>torage</a:t>
            </a:r>
            <a:br>
              <a:rPr kumimoji="0" lang="en-US" sz="1200" b="0" i="0" u="none" strike="noStrike" kern="1200" cap="none" spc="0" normalizeH="0" baseline="0" noProof="0" dirty="0">
                <a:ln>
                  <a:noFill/>
                </a:ln>
                <a:effectLst/>
                <a:uLnTx/>
                <a:uFillTx/>
                <a:latin typeface="Arial" panose="020B0604020202020204" pitchFamily="34" charset="0"/>
                <a:ea typeface="+mn-ea"/>
                <a:cs typeface="+mn-cs"/>
              </a:rPr>
            </a:br>
            <a:r>
              <a:rPr kumimoji="0" lang="en-US" sz="1200" b="1" i="0" u="none" strike="noStrike" kern="1200" cap="none" spc="0" normalizeH="0" baseline="0" noProof="0" dirty="0">
                <a:ln>
                  <a:noFill/>
                </a:ln>
                <a:solidFill>
                  <a:schemeClr val="accent4"/>
                </a:solidFill>
                <a:effectLst/>
                <a:uLnTx/>
                <a:uFillTx/>
                <a:latin typeface="Arial" panose="020B0604020202020204" pitchFamily="34" charset="0"/>
                <a:ea typeface="+mn-ea"/>
                <a:cs typeface="+mn-cs"/>
              </a:rPr>
              <a:t>A</a:t>
            </a:r>
            <a:r>
              <a:rPr kumimoji="0" lang="en-US" sz="1200" b="0" i="0" u="none" strike="noStrike" kern="1200" cap="none" spc="0" normalizeH="0" baseline="0" noProof="0" dirty="0">
                <a:ln>
                  <a:noFill/>
                </a:ln>
                <a:effectLst/>
                <a:uLnTx/>
                <a:uFillTx/>
                <a:latin typeface="Arial" panose="020B0604020202020204" pitchFamily="34" charset="0"/>
                <a:ea typeface="+mn-ea"/>
                <a:cs typeface="+mn-cs"/>
              </a:rPr>
              <a:t>rchitecture™</a:t>
            </a:r>
          </a:p>
        </p:txBody>
      </p:sp>
      <p:sp>
        <p:nvSpPr>
          <p:cNvPr id="272" name="TextBox 271">
            <a:extLst>
              <a:ext uri="{FF2B5EF4-FFF2-40B4-BE49-F238E27FC236}">
                <a16:creationId xmlns:a16="http://schemas.microsoft.com/office/drawing/2014/main" id="{D99C89BB-B745-5B12-60BF-A8378879948C}"/>
              </a:ext>
            </a:extLst>
          </p:cNvPr>
          <p:cNvSpPr txBox="1"/>
          <p:nvPr/>
        </p:nvSpPr>
        <p:spPr>
          <a:xfrm>
            <a:off x="3659982" y="4756179"/>
            <a:ext cx="741647" cy="246221"/>
          </a:xfrm>
          <a:prstGeom prst="rect">
            <a:avLst/>
          </a:prstGeom>
        </p:spPr>
        <p:txBody>
          <a:bodyPr wrap="square" lIns="0" tIns="0" rIns="0" bIns="0" rtlCol="0">
            <a:spAutoFit/>
          </a:bodyPr>
          <a:lstStyle/>
          <a:p>
            <a:pPr marL="0" marR="0" lvl="0" indent="0" defTabSz="914400" rtl="0" eaLnBrk="1" fontAlgn="auto" latinLnBrk="0" hangingPunct="1">
              <a:lnSpc>
                <a:spcPct val="100000"/>
              </a:lnSpc>
              <a:spcBef>
                <a:spcPts val="0"/>
              </a:spcBef>
              <a:spcAft>
                <a:spcPts val="600"/>
              </a:spcAft>
              <a:buClrTx/>
              <a:buSzTx/>
              <a:buFontTx/>
              <a:buNone/>
              <a:tabLst/>
              <a:defRPr/>
            </a:pPr>
            <a:r>
              <a:rPr kumimoji="0" lang="en-US" sz="1600" i="0" u="none" strike="noStrike" kern="1200" cap="none" spc="0" normalizeH="0" baseline="0" noProof="0" dirty="0">
                <a:ln>
                  <a:noFill/>
                </a:ln>
                <a:effectLst/>
                <a:uLnTx/>
                <a:uFillTx/>
                <a:latin typeface="Arial" panose="020B0604020202020204" pitchFamily="34" charset="0"/>
                <a:ea typeface="+mn-ea"/>
                <a:cs typeface="+mn-cs"/>
              </a:rPr>
              <a:t>vSAN</a:t>
            </a:r>
          </a:p>
        </p:txBody>
      </p:sp>
      <p:sp>
        <p:nvSpPr>
          <p:cNvPr id="273" name="TextBox 272">
            <a:extLst>
              <a:ext uri="{FF2B5EF4-FFF2-40B4-BE49-F238E27FC236}">
                <a16:creationId xmlns:a16="http://schemas.microsoft.com/office/drawing/2014/main" id="{6690AB70-6648-D9CD-ACCA-180AE7AD2AC1}"/>
              </a:ext>
            </a:extLst>
          </p:cNvPr>
          <p:cNvSpPr txBox="1"/>
          <p:nvPr/>
        </p:nvSpPr>
        <p:spPr>
          <a:xfrm>
            <a:off x="553463" y="3917250"/>
            <a:ext cx="960192" cy="369332"/>
          </a:xfrm>
          <a:prstGeom prst="rect">
            <a:avLst/>
          </a:prstGeom>
        </p:spPr>
        <p:txBody>
          <a:bodyPr wrap="square" lIns="0" tIns="0" rIns="0" bIns="0" rtlCol="0">
            <a:spAutoFit/>
          </a:bodyPr>
          <a:lstStyle/>
          <a:p>
            <a:pPr algn="ctr">
              <a:spcAft>
                <a:spcPts val="600"/>
              </a:spcAft>
            </a:pPr>
            <a:r>
              <a:rPr lang="en-US" sz="1200" dirty="0">
                <a:solidFill>
                  <a:schemeClr val="tx2"/>
                </a:solidFill>
              </a:rPr>
              <a:t>Compute</a:t>
            </a:r>
            <a:br>
              <a:rPr lang="en-US" sz="1200" dirty="0">
                <a:solidFill>
                  <a:schemeClr val="tx2"/>
                </a:solidFill>
              </a:rPr>
            </a:br>
            <a:r>
              <a:rPr lang="en-US" sz="1200" dirty="0">
                <a:solidFill>
                  <a:schemeClr val="tx2"/>
                </a:solidFill>
              </a:rPr>
              <a:t>&amp; storage</a:t>
            </a:r>
          </a:p>
        </p:txBody>
      </p:sp>
      <p:grpSp>
        <p:nvGrpSpPr>
          <p:cNvPr id="294" name="Group 293">
            <a:extLst>
              <a:ext uri="{FF2B5EF4-FFF2-40B4-BE49-F238E27FC236}">
                <a16:creationId xmlns:a16="http://schemas.microsoft.com/office/drawing/2014/main" id="{FC240764-170C-CA73-5CB1-4A4D7C7EB287}"/>
              </a:ext>
            </a:extLst>
          </p:cNvPr>
          <p:cNvGrpSpPr/>
          <p:nvPr/>
        </p:nvGrpSpPr>
        <p:grpSpPr>
          <a:xfrm>
            <a:off x="1516532" y="4319104"/>
            <a:ext cx="1625597" cy="443836"/>
            <a:chOff x="2583950" y="4107077"/>
            <a:chExt cx="1625597" cy="443836"/>
          </a:xfrm>
        </p:grpSpPr>
        <p:sp>
          <p:nvSpPr>
            <p:cNvPr id="276" name="Rectangle 275">
              <a:extLst>
                <a:ext uri="{FF2B5EF4-FFF2-40B4-BE49-F238E27FC236}">
                  <a16:creationId xmlns:a16="http://schemas.microsoft.com/office/drawing/2014/main" id="{5D7B8539-1FDA-9967-245F-BE5997ACBCCB}"/>
                </a:ext>
              </a:extLst>
            </p:cNvPr>
            <p:cNvSpPr/>
            <p:nvPr/>
          </p:nvSpPr>
          <p:spPr>
            <a:xfrm>
              <a:off x="2583950" y="4107077"/>
              <a:ext cx="1625597" cy="443836"/>
            </a:xfrm>
            <a:prstGeom prst="rect">
              <a:avLst/>
            </a:prstGeom>
            <a:solidFill>
              <a:schemeClr val="accent2"/>
            </a:solidFill>
            <a:ln w="12700">
              <a:noFill/>
              <a:prstDash val="sysDot"/>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800" dirty="0">
                <a:solidFill>
                  <a:schemeClr val="bg1"/>
                </a:solidFill>
              </a:endParaRPr>
            </a:p>
          </p:txBody>
        </p:sp>
        <p:grpSp>
          <p:nvGrpSpPr>
            <p:cNvPr id="277" name="Group 276">
              <a:extLst>
                <a:ext uri="{FF2B5EF4-FFF2-40B4-BE49-F238E27FC236}">
                  <a16:creationId xmlns:a16="http://schemas.microsoft.com/office/drawing/2014/main" id="{7E729AFB-D77F-E589-C431-ADA1DFFF0B0A}"/>
                </a:ext>
              </a:extLst>
            </p:cNvPr>
            <p:cNvGrpSpPr/>
            <p:nvPr/>
          </p:nvGrpSpPr>
          <p:grpSpPr>
            <a:xfrm>
              <a:off x="2623087" y="4166043"/>
              <a:ext cx="419649" cy="200892"/>
              <a:chOff x="-4656498" y="4335050"/>
              <a:chExt cx="1108181" cy="530502"/>
            </a:xfrm>
          </p:grpSpPr>
          <p:sp>
            <p:nvSpPr>
              <p:cNvPr id="291" name="Rectangle 290">
                <a:extLst>
                  <a:ext uri="{FF2B5EF4-FFF2-40B4-BE49-F238E27FC236}">
                    <a16:creationId xmlns:a16="http://schemas.microsoft.com/office/drawing/2014/main" id="{FE133340-343E-EC4A-D2BE-C79E3A154D84}"/>
                  </a:ext>
                </a:extLst>
              </p:cNvPr>
              <p:cNvSpPr/>
              <p:nvPr/>
            </p:nvSpPr>
            <p:spPr>
              <a:xfrm>
                <a:off x="-4656498" y="4335050"/>
                <a:ext cx="1108181" cy="530502"/>
              </a:xfrm>
              <a:prstGeom prst="rect">
                <a:avLst/>
              </a:prstGeom>
              <a:noFill/>
              <a:ln w="12700">
                <a:solidFill>
                  <a:schemeClr val="bg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marL="60325" algn="ctr">
                  <a:spcAft>
                    <a:spcPts val="800"/>
                  </a:spcAft>
                </a:pPr>
                <a:endParaRPr lang="en-US" sz="1400">
                  <a:solidFill>
                    <a:schemeClr val="tx1"/>
                  </a:solidFill>
                </a:endParaRPr>
              </a:p>
            </p:txBody>
          </p:sp>
          <p:pic>
            <p:nvPicPr>
              <p:cNvPr id="292" name="Graphic 291">
                <a:extLst>
                  <a:ext uri="{FF2B5EF4-FFF2-40B4-BE49-F238E27FC236}">
                    <a16:creationId xmlns:a16="http://schemas.microsoft.com/office/drawing/2014/main" id="{137A06FD-44C7-11B7-0193-B34535C963C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27765" y="4471602"/>
                <a:ext cx="350734" cy="257395"/>
              </a:xfrm>
              <a:prstGeom prst="rect">
                <a:avLst/>
              </a:prstGeom>
            </p:spPr>
          </p:pic>
          <p:pic>
            <p:nvPicPr>
              <p:cNvPr id="293" name="Graphic 292">
                <a:extLst>
                  <a:ext uri="{FF2B5EF4-FFF2-40B4-BE49-F238E27FC236}">
                    <a16:creationId xmlns:a16="http://schemas.microsoft.com/office/drawing/2014/main" id="{9F1B6906-502B-08C2-F3ED-08C48296412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014200" y="4471602"/>
                <a:ext cx="350734" cy="257395"/>
              </a:xfrm>
              <a:prstGeom prst="rect">
                <a:avLst/>
              </a:prstGeom>
            </p:spPr>
          </p:pic>
        </p:grpSp>
        <p:grpSp>
          <p:nvGrpSpPr>
            <p:cNvPr id="279" name="Group 278">
              <a:extLst>
                <a:ext uri="{FF2B5EF4-FFF2-40B4-BE49-F238E27FC236}">
                  <a16:creationId xmlns:a16="http://schemas.microsoft.com/office/drawing/2014/main" id="{09C18366-549B-993F-D39B-BAFE5403E22D}"/>
                </a:ext>
              </a:extLst>
            </p:cNvPr>
            <p:cNvGrpSpPr/>
            <p:nvPr/>
          </p:nvGrpSpPr>
          <p:grpSpPr>
            <a:xfrm>
              <a:off x="3186924" y="4166043"/>
              <a:ext cx="419649" cy="200892"/>
              <a:chOff x="-4656498" y="4335050"/>
              <a:chExt cx="1108181" cy="530502"/>
            </a:xfrm>
          </p:grpSpPr>
          <p:sp>
            <p:nvSpPr>
              <p:cNvPr id="288" name="Rectangle 287">
                <a:extLst>
                  <a:ext uri="{FF2B5EF4-FFF2-40B4-BE49-F238E27FC236}">
                    <a16:creationId xmlns:a16="http://schemas.microsoft.com/office/drawing/2014/main" id="{780CDD2F-50E8-DBFB-6A24-1F764801C026}"/>
                  </a:ext>
                </a:extLst>
              </p:cNvPr>
              <p:cNvSpPr/>
              <p:nvPr/>
            </p:nvSpPr>
            <p:spPr>
              <a:xfrm>
                <a:off x="-4656498" y="4335050"/>
                <a:ext cx="1108181" cy="530502"/>
              </a:xfrm>
              <a:prstGeom prst="rect">
                <a:avLst/>
              </a:prstGeom>
              <a:noFill/>
              <a:ln w="12700">
                <a:solidFill>
                  <a:schemeClr val="bg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marL="60325" algn="ctr">
                  <a:spcAft>
                    <a:spcPts val="800"/>
                  </a:spcAft>
                </a:pPr>
                <a:endParaRPr lang="en-US" sz="1400">
                  <a:solidFill>
                    <a:schemeClr val="tx1"/>
                  </a:solidFill>
                </a:endParaRPr>
              </a:p>
            </p:txBody>
          </p:sp>
          <p:pic>
            <p:nvPicPr>
              <p:cNvPr id="289" name="Graphic 288">
                <a:extLst>
                  <a:ext uri="{FF2B5EF4-FFF2-40B4-BE49-F238E27FC236}">
                    <a16:creationId xmlns:a16="http://schemas.microsoft.com/office/drawing/2014/main" id="{3736233B-09B5-0FB4-4C8C-9695FD04DC7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27765" y="4471602"/>
                <a:ext cx="350734" cy="257395"/>
              </a:xfrm>
              <a:prstGeom prst="rect">
                <a:avLst/>
              </a:prstGeom>
            </p:spPr>
          </p:pic>
          <p:pic>
            <p:nvPicPr>
              <p:cNvPr id="290" name="Graphic 289">
                <a:extLst>
                  <a:ext uri="{FF2B5EF4-FFF2-40B4-BE49-F238E27FC236}">
                    <a16:creationId xmlns:a16="http://schemas.microsoft.com/office/drawing/2014/main" id="{9E2A724F-1DD8-2E89-FE9B-ADD71D2D17E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014200" y="4471602"/>
                <a:ext cx="350734" cy="257395"/>
              </a:xfrm>
              <a:prstGeom prst="rect">
                <a:avLst/>
              </a:prstGeom>
            </p:spPr>
          </p:pic>
        </p:grpSp>
        <p:grpSp>
          <p:nvGrpSpPr>
            <p:cNvPr id="280" name="Group 279">
              <a:extLst>
                <a:ext uri="{FF2B5EF4-FFF2-40B4-BE49-F238E27FC236}">
                  <a16:creationId xmlns:a16="http://schemas.microsoft.com/office/drawing/2014/main" id="{A14F1BF7-D033-F8CC-BF16-9059EF656D04}"/>
                </a:ext>
              </a:extLst>
            </p:cNvPr>
            <p:cNvGrpSpPr/>
            <p:nvPr/>
          </p:nvGrpSpPr>
          <p:grpSpPr>
            <a:xfrm>
              <a:off x="3750761" y="4166043"/>
              <a:ext cx="419649" cy="200892"/>
              <a:chOff x="-4656498" y="4335050"/>
              <a:chExt cx="1108181" cy="530502"/>
            </a:xfrm>
          </p:grpSpPr>
          <p:sp>
            <p:nvSpPr>
              <p:cNvPr id="285" name="Rectangle 284">
                <a:extLst>
                  <a:ext uri="{FF2B5EF4-FFF2-40B4-BE49-F238E27FC236}">
                    <a16:creationId xmlns:a16="http://schemas.microsoft.com/office/drawing/2014/main" id="{BA3FD8F9-5A2F-3322-F9CB-81DA1E6709E6}"/>
                  </a:ext>
                </a:extLst>
              </p:cNvPr>
              <p:cNvSpPr/>
              <p:nvPr/>
            </p:nvSpPr>
            <p:spPr>
              <a:xfrm>
                <a:off x="-4656498" y="4335050"/>
                <a:ext cx="1108181" cy="530502"/>
              </a:xfrm>
              <a:prstGeom prst="rect">
                <a:avLst/>
              </a:prstGeom>
              <a:noFill/>
              <a:ln w="12700">
                <a:solidFill>
                  <a:schemeClr val="bg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marL="60325" algn="ctr">
                  <a:spcAft>
                    <a:spcPts val="800"/>
                  </a:spcAft>
                </a:pPr>
                <a:endParaRPr lang="en-US" sz="1400" dirty="0">
                  <a:solidFill>
                    <a:schemeClr val="tx1"/>
                  </a:solidFill>
                </a:endParaRPr>
              </a:p>
            </p:txBody>
          </p:sp>
          <p:pic>
            <p:nvPicPr>
              <p:cNvPr id="286" name="Graphic 285">
                <a:extLst>
                  <a:ext uri="{FF2B5EF4-FFF2-40B4-BE49-F238E27FC236}">
                    <a16:creationId xmlns:a16="http://schemas.microsoft.com/office/drawing/2014/main" id="{3838176A-BBB6-8074-1967-9732A4CE484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27765" y="4471602"/>
                <a:ext cx="350734" cy="257395"/>
              </a:xfrm>
              <a:prstGeom prst="rect">
                <a:avLst/>
              </a:prstGeom>
            </p:spPr>
          </p:pic>
          <p:pic>
            <p:nvPicPr>
              <p:cNvPr id="287" name="Graphic 286">
                <a:extLst>
                  <a:ext uri="{FF2B5EF4-FFF2-40B4-BE49-F238E27FC236}">
                    <a16:creationId xmlns:a16="http://schemas.microsoft.com/office/drawing/2014/main" id="{2ED69297-2624-C6F9-359A-831F7C5B82F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014200" y="4471602"/>
                <a:ext cx="350734" cy="257395"/>
              </a:xfrm>
              <a:prstGeom prst="rect">
                <a:avLst/>
              </a:prstGeom>
            </p:spPr>
          </p:pic>
        </p:grpSp>
      </p:grpSp>
      <p:sp>
        <p:nvSpPr>
          <p:cNvPr id="307" name="Isosceles Triangle 306">
            <a:extLst>
              <a:ext uri="{FF2B5EF4-FFF2-40B4-BE49-F238E27FC236}">
                <a16:creationId xmlns:a16="http://schemas.microsoft.com/office/drawing/2014/main" id="{77D3B86C-EC3D-7D43-754E-C3F4D6E98FC7}"/>
              </a:ext>
            </a:extLst>
          </p:cNvPr>
          <p:cNvSpPr/>
          <p:nvPr/>
        </p:nvSpPr>
        <p:spPr>
          <a:xfrm rot="5400000">
            <a:off x="2664092" y="4101065"/>
            <a:ext cx="1349318" cy="232657"/>
          </a:xfrm>
          <a:prstGeom prst="triangle">
            <a:avLst>
              <a:gd name="adj" fmla="val 50000"/>
            </a:avLst>
          </a:prstGeom>
          <a:gradFill>
            <a:gsLst>
              <a:gs pos="100000">
                <a:schemeClr val="accent1">
                  <a:lumMod val="5000"/>
                  <a:lumOff val="95000"/>
                </a:schemeClr>
              </a:gs>
              <a:gs pos="3000">
                <a:schemeClr val="accent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08" name="Isosceles Triangle 307">
            <a:extLst>
              <a:ext uri="{FF2B5EF4-FFF2-40B4-BE49-F238E27FC236}">
                <a16:creationId xmlns:a16="http://schemas.microsoft.com/office/drawing/2014/main" id="{8AE50C70-7E43-6B88-82DB-D7BDCD063959}"/>
              </a:ext>
            </a:extLst>
          </p:cNvPr>
          <p:cNvSpPr/>
          <p:nvPr/>
        </p:nvSpPr>
        <p:spPr>
          <a:xfrm rot="16200000">
            <a:off x="4024303" y="4101065"/>
            <a:ext cx="1349318" cy="232657"/>
          </a:xfrm>
          <a:prstGeom prst="triangle">
            <a:avLst>
              <a:gd name="adj" fmla="val 50000"/>
            </a:avLst>
          </a:prstGeom>
          <a:gradFill>
            <a:gsLst>
              <a:gs pos="100000">
                <a:schemeClr val="accent1">
                  <a:lumMod val="5000"/>
                  <a:lumOff val="95000"/>
                </a:schemeClr>
              </a:gs>
              <a:gs pos="3000">
                <a:schemeClr val="accent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nvGrpSpPr>
          <p:cNvPr id="354" name="Group 353">
            <a:extLst>
              <a:ext uri="{FF2B5EF4-FFF2-40B4-BE49-F238E27FC236}">
                <a16:creationId xmlns:a16="http://schemas.microsoft.com/office/drawing/2014/main" id="{BDF52ACE-8FE5-6FBF-BE7E-E9C52258FDE5}"/>
              </a:ext>
            </a:extLst>
          </p:cNvPr>
          <p:cNvGrpSpPr/>
          <p:nvPr/>
        </p:nvGrpSpPr>
        <p:grpSpPr>
          <a:xfrm>
            <a:off x="4898745" y="3987172"/>
            <a:ext cx="2189434" cy="284701"/>
            <a:chOff x="4898745" y="3987172"/>
            <a:chExt cx="2189434" cy="284701"/>
          </a:xfrm>
        </p:grpSpPr>
        <p:sp>
          <p:nvSpPr>
            <p:cNvPr id="116" name="Rectangle 115">
              <a:extLst>
                <a:ext uri="{FF2B5EF4-FFF2-40B4-BE49-F238E27FC236}">
                  <a16:creationId xmlns:a16="http://schemas.microsoft.com/office/drawing/2014/main" id="{BF9B389F-41D1-748A-713F-788E572E1D78}"/>
                </a:ext>
              </a:extLst>
            </p:cNvPr>
            <p:cNvSpPr/>
            <p:nvPr/>
          </p:nvSpPr>
          <p:spPr>
            <a:xfrm>
              <a:off x="4898745" y="4158806"/>
              <a:ext cx="497923" cy="113067"/>
            </a:xfrm>
            <a:prstGeom prst="rect">
              <a:avLst/>
            </a:prstGeom>
            <a:solidFill>
              <a:schemeClr val="accent2">
                <a:lumMod val="20000"/>
                <a:lumOff val="80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17" name="Rectangle 116">
              <a:extLst>
                <a:ext uri="{FF2B5EF4-FFF2-40B4-BE49-F238E27FC236}">
                  <a16:creationId xmlns:a16="http://schemas.microsoft.com/office/drawing/2014/main" id="{7E860F3B-117A-589B-BED3-12B79CE77A7B}"/>
                </a:ext>
              </a:extLst>
            </p:cNvPr>
            <p:cNvSpPr/>
            <p:nvPr/>
          </p:nvSpPr>
          <p:spPr>
            <a:xfrm>
              <a:off x="5462582" y="4158806"/>
              <a:ext cx="497923" cy="113067"/>
            </a:xfrm>
            <a:prstGeom prst="rect">
              <a:avLst/>
            </a:prstGeom>
            <a:solidFill>
              <a:schemeClr val="accent2">
                <a:lumMod val="20000"/>
                <a:lumOff val="80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18" name="Rectangle 117">
              <a:extLst>
                <a:ext uri="{FF2B5EF4-FFF2-40B4-BE49-F238E27FC236}">
                  <a16:creationId xmlns:a16="http://schemas.microsoft.com/office/drawing/2014/main" id="{91607F67-AED6-C429-85C4-FFDDD305710B}"/>
                </a:ext>
              </a:extLst>
            </p:cNvPr>
            <p:cNvSpPr/>
            <p:nvPr/>
          </p:nvSpPr>
          <p:spPr>
            <a:xfrm>
              <a:off x="6026419" y="4158806"/>
              <a:ext cx="497923" cy="113067"/>
            </a:xfrm>
            <a:prstGeom prst="rect">
              <a:avLst/>
            </a:prstGeom>
            <a:solidFill>
              <a:schemeClr val="accent2">
                <a:lumMod val="20000"/>
                <a:lumOff val="80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19" name="Rectangle 118">
              <a:extLst>
                <a:ext uri="{FF2B5EF4-FFF2-40B4-BE49-F238E27FC236}">
                  <a16:creationId xmlns:a16="http://schemas.microsoft.com/office/drawing/2014/main" id="{2B51A9B9-EBF1-DF5B-34F3-59B46FED7E67}"/>
                </a:ext>
              </a:extLst>
            </p:cNvPr>
            <p:cNvSpPr/>
            <p:nvPr/>
          </p:nvSpPr>
          <p:spPr>
            <a:xfrm>
              <a:off x="6590256" y="4158806"/>
              <a:ext cx="497923" cy="113067"/>
            </a:xfrm>
            <a:prstGeom prst="rect">
              <a:avLst/>
            </a:prstGeom>
            <a:solidFill>
              <a:schemeClr val="accent2">
                <a:lumMod val="20000"/>
                <a:lumOff val="80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10" name="Rectangle 309">
              <a:extLst>
                <a:ext uri="{FF2B5EF4-FFF2-40B4-BE49-F238E27FC236}">
                  <a16:creationId xmlns:a16="http://schemas.microsoft.com/office/drawing/2014/main" id="{618E4DB0-445B-FE00-EEB2-6B0575768BFF}"/>
                </a:ext>
              </a:extLst>
            </p:cNvPr>
            <p:cNvSpPr/>
            <p:nvPr/>
          </p:nvSpPr>
          <p:spPr>
            <a:xfrm>
              <a:off x="4898745" y="3987172"/>
              <a:ext cx="497923" cy="113067"/>
            </a:xfrm>
            <a:prstGeom prst="rect">
              <a:avLst/>
            </a:prstGeom>
            <a:solidFill>
              <a:schemeClr val="accent2">
                <a:lumMod val="20000"/>
                <a:lumOff val="80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11" name="Rectangle 310">
              <a:extLst>
                <a:ext uri="{FF2B5EF4-FFF2-40B4-BE49-F238E27FC236}">
                  <a16:creationId xmlns:a16="http://schemas.microsoft.com/office/drawing/2014/main" id="{A1D6E86C-6133-80F4-62F3-59ED5DAD517E}"/>
                </a:ext>
              </a:extLst>
            </p:cNvPr>
            <p:cNvSpPr/>
            <p:nvPr/>
          </p:nvSpPr>
          <p:spPr>
            <a:xfrm>
              <a:off x="5462582" y="3987172"/>
              <a:ext cx="497923" cy="113067"/>
            </a:xfrm>
            <a:prstGeom prst="rect">
              <a:avLst/>
            </a:prstGeom>
            <a:solidFill>
              <a:schemeClr val="accent2">
                <a:lumMod val="20000"/>
                <a:lumOff val="80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12" name="Rectangle 311">
              <a:extLst>
                <a:ext uri="{FF2B5EF4-FFF2-40B4-BE49-F238E27FC236}">
                  <a16:creationId xmlns:a16="http://schemas.microsoft.com/office/drawing/2014/main" id="{3810649D-1B2D-1FAA-45F8-C2C723420547}"/>
                </a:ext>
              </a:extLst>
            </p:cNvPr>
            <p:cNvSpPr/>
            <p:nvPr/>
          </p:nvSpPr>
          <p:spPr>
            <a:xfrm>
              <a:off x="6026419" y="3987172"/>
              <a:ext cx="497923" cy="113067"/>
            </a:xfrm>
            <a:prstGeom prst="rect">
              <a:avLst/>
            </a:prstGeom>
            <a:solidFill>
              <a:schemeClr val="accent2">
                <a:lumMod val="20000"/>
                <a:lumOff val="80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13" name="Rectangle 312">
              <a:extLst>
                <a:ext uri="{FF2B5EF4-FFF2-40B4-BE49-F238E27FC236}">
                  <a16:creationId xmlns:a16="http://schemas.microsoft.com/office/drawing/2014/main" id="{9DDA8BEC-91D3-03D4-A591-952182BA961A}"/>
                </a:ext>
              </a:extLst>
            </p:cNvPr>
            <p:cNvSpPr/>
            <p:nvPr/>
          </p:nvSpPr>
          <p:spPr>
            <a:xfrm>
              <a:off x="6590256" y="3987172"/>
              <a:ext cx="497923" cy="113067"/>
            </a:xfrm>
            <a:prstGeom prst="rect">
              <a:avLst/>
            </a:prstGeom>
            <a:solidFill>
              <a:schemeClr val="accent2">
                <a:lumMod val="20000"/>
                <a:lumOff val="80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grpSp>
        <p:nvGrpSpPr>
          <p:cNvPr id="343" name="Group 342">
            <a:extLst>
              <a:ext uri="{FF2B5EF4-FFF2-40B4-BE49-F238E27FC236}">
                <a16:creationId xmlns:a16="http://schemas.microsoft.com/office/drawing/2014/main" id="{0EE6B00B-6FD5-B062-D0D8-F7A302DF1B1B}"/>
              </a:ext>
            </a:extLst>
          </p:cNvPr>
          <p:cNvGrpSpPr/>
          <p:nvPr/>
        </p:nvGrpSpPr>
        <p:grpSpPr>
          <a:xfrm>
            <a:off x="4887697" y="1595520"/>
            <a:ext cx="2200481" cy="230392"/>
            <a:chOff x="4887697" y="1595520"/>
            <a:chExt cx="2200481" cy="230392"/>
          </a:xfrm>
        </p:grpSpPr>
        <p:pic>
          <p:nvPicPr>
            <p:cNvPr id="315" name="Graphic 314">
              <a:extLst>
                <a:ext uri="{FF2B5EF4-FFF2-40B4-BE49-F238E27FC236}">
                  <a16:creationId xmlns:a16="http://schemas.microsoft.com/office/drawing/2014/main" id="{3D453666-011C-8C8E-11B7-716DF88825E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169138" y="1595520"/>
              <a:ext cx="230392" cy="230392"/>
            </a:xfrm>
            <a:prstGeom prst="rect">
              <a:avLst/>
            </a:prstGeom>
          </p:spPr>
        </p:pic>
        <p:pic>
          <p:nvPicPr>
            <p:cNvPr id="316" name="Graphic 315">
              <a:extLst>
                <a:ext uri="{FF2B5EF4-FFF2-40B4-BE49-F238E27FC236}">
                  <a16:creationId xmlns:a16="http://schemas.microsoft.com/office/drawing/2014/main" id="{68AEB7BC-58CA-0CA4-C709-228E2EFFCA2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87697" y="1595520"/>
              <a:ext cx="230392" cy="230392"/>
            </a:xfrm>
            <a:prstGeom prst="rect">
              <a:avLst/>
            </a:prstGeom>
          </p:spPr>
        </p:pic>
        <p:pic>
          <p:nvPicPr>
            <p:cNvPr id="317" name="Graphic 316">
              <a:extLst>
                <a:ext uri="{FF2B5EF4-FFF2-40B4-BE49-F238E27FC236}">
                  <a16:creationId xmlns:a16="http://schemas.microsoft.com/office/drawing/2014/main" id="{530D5692-7429-B478-4B72-8BA39188F0C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732020" y="1595520"/>
              <a:ext cx="230392" cy="230392"/>
            </a:xfrm>
            <a:prstGeom prst="rect">
              <a:avLst/>
            </a:prstGeom>
          </p:spPr>
        </p:pic>
        <p:pic>
          <p:nvPicPr>
            <p:cNvPr id="318" name="Graphic 317">
              <a:extLst>
                <a:ext uri="{FF2B5EF4-FFF2-40B4-BE49-F238E27FC236}">
                  <a16:creationId xmlns:a16="http://schemas.microsoft.com/office/drawing/2014/main" id="{66A6DA20-62FD-FAE1-7F51-3525663DF6B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450579" y="1595520"/>
              <a:ext cx="230392" cy="230392"/>
            </a:xfrm>
            <a:prstGeom prst="rect">
              <a:avLst/>
            </a:prstGeom>
          </p:spPr>
        </p:pic>
        <p:pic>
          <p:nvPicPr>
            <p:cNvPr id="319" name="Graphic 318">
              <a:extLst>
                <a:ext uri="{FF2B5EF4-FFF2-40B4-BE49-F238E27FC236}">
                  <a16:creationId xmlns:a16="http://schemas.microsoft.com/office/drawing/2014/main" id="{61AD728B-7A72-EA3F-5F52-1A50C07BF40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94902" y="1595520"/>
              <a:ext cx="230392" cy="230392"/>
            </a:xfrm>
            <a:prstGeom prst="rect">
              <a:avLst/>
            </a:prstGeom>
          </p:spPr>
        </p:pic>
        <p:pic>
          <p:nvPicPr>
            <p:cNvPr id="320" name="Graphic 319">
              <a:extLst>
                <a:ext uri="{FF2B5EF4-FFF2-40B4-BE49-F238E27FC236}">
                  <a16:creationId xmlns:a16="http://schemas.microsoft.com/office/drawing/2014/main" id="{8EC8AF68-82A2-978A-CA9C-147AC6463EB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013461" y="1595520"/>
              <a:ext cx="230392" cy="230392"/>
            </a:xfrm>
            <a:prstGeom prst="rect">
              <a:avLst/>
            </a:prstGeom>
          </p:spPr>
        </p:pic>
        <p:pic>
          <p:nvPicPr>
            <p:cNvPr id="321" name="Graphic 320">
              <a:extLst>
                <a:ext uri="{FF2B5EF4-FFF2-40B4-BE49-F238E27FC236}">
                  <a16:creationId xmlns:a16="http://schemas.microsoft.com/office/drawing/2014/main" id="{3BBC54DD-9E3A-9A5A-2CFB-2015489D01B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857786" y="1595520"/>
              <a:ext cx="230392" cy="230392"/>
            </a:xfrm>
            <a:prstGeom prst="rect">
              <a:avLst/>
            </a:prstGeom>
          </p:spPr>
        </p:pic>
        <p:pic>
          <p:nvPicPr>
            <p:cNvPr id="322" name="Graphic 321">
              <a:extLst>
                <a:ext uri="{FF2B5EF4-FFF2-40B4-BE49-F238E27FC236}">
                  <a16:creationId xmlns:a16="http://schemas.microsoft.com/office/drawing/2014/main" id="{C25A42C5-E14B-F016-BAA1-955688F4030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576343" y="1595520"/>
              <a:ext cx="230392" cy="230392"/>
            </a:xfrm>
            <a:prstGeom prst="rect">
              <a:avLst/>
            </a:prstGeom>
          </p:spPr>
        </p:pic>
      </p:grpSp>
      <p:grpSp>
        <p:nvGrpSpPr>
          <p:cNvPr id="344" name="Group 343">
            <a:extLst>
              <a:ext uri="{FF2B5EF4-FFF2-40B4-BE49-F238E27FC236}">
                <a16:creationId xmlns:a16="http://schemas.microsoft.com/office/drawing/2014/main" id="{DC209FE0-4CE8-CAA5-41F1-E81A2B122B21}"/>
              </a:ext>
            </a:extLst>
          </p:cNvPr>
          <p:cNvGrpSpPr/>
          <p:nvPr/>
        </p:nvGrpSpPr>
        <p:grpSpPr>
          <a:xfrm>
            <a:off x="1504530" y="3254608"/>
            <a:ext cx="1637599" cy="230392"/>
            <a:chOff x="5450579" y="1595520"/>
            <a:chExt cx="1637599" cy="230392"/>
          </a:xfrm>
        </p:grpSpPr>
        <p:pic>
          <p:nvPicPr>
            <p:cNvPr id="347" name="Graphic 346">
              <a:extLst>
                <a:ext uri="{FF2B5EF4-FFF2-40B4-BE49-F238E27FC236}">
                  <a16:creationId xmlns:a16="http://schemas.microsoft.com/office/drawing/2014/main" id="{E43264D2-8EDB-987C-01BB-5D370C70A17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732020" y="1595520"/>
              <a:ext cx="230392" cy="230392"/>
            </a:xfrm>
            <a:prstGeom prst="rect">
              <a:avLst/>
            </a:prstGeom>
          </p:spPr>
        </p:pic>
        <p:pic>
          <p:nvPicPr>
            <p:cNvPr id="348" name="Graphic 347">
              <a:extLst>
                <a:ext uri="{FF2B5EF4-FFF2-40B4-BE49-F238E27FC236}">
                  <a16:creationId xmlns:a16="http://schemas.microsoft.com/office/drawing/2014/main" id="{3CCD239B-0ED5-88E3-BA64-C0A1E308897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450579" y="1595520"/>
              <a:ext cx="230392" cy="230392"/>
            </a:xfrm>
            <a:prstGeom prst="rect">
              <a:avLst/>
            </a:prstGeom>
          </p:spPr>
        </p:pic>
        <p:pic>
          <p:nvPicPr>
            <p:cNvPr id="349" name="Graphic 348">
              <a:extLst>
                <a:ext uri="{FF2B5EF4-FFF2-40B4-BE49-F238E27FC236}">
                  <a16:creationId xmlns:a16="http://schemas.microsoft.com/office/drawing/2014/main" id="{77EF1C87-EA3F-7ED7-C68D-64B59C0A700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94902" y="1595520"/>
              <a:ext cx="230392" cy="230392"/>
            </a:xfrm>
            <a:prstGeom prst="rect">
              <a:avLst/>
            </a:prstGeom>
          </p:spPr>
        </p:pic>
        <p:pic>
          <p:nvPicPr>
            <p:cNvPr id="350" name="Graphic 349">
              <a:extLst>
                <a:ext uri="{FF2B5EF4-FFF2-40B4-BE49-F238E27FC236}">
                  <a16:creationId xmlns:a16="http://schemas.microsoft.com/office/drawing/2014/main" id="{1E9924E9-BB02-B2CB-03FC-DDC99CDA88D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013461" y="1595520"/>
              <a:ext cx="230392" cy="230392"/>
            </a:xfrm>
            <a:prstGeom prst="rect">
              <a:avLst/>
            </a:prstGeom>
          </p:spPr>
        </p:pic>
        <p:pic>
          <p:nvPicPr>
            <p:cNvPr id="351" name="Graphic 350">
              <a:extLst>
                <a:ext uri="{FF2B5EF4-FFF2-40B4-BE49-F238E27FC236}">
                  <a16:creationId xmlns:a16="http://schemas.microsoft.com/office/drawing/2014/main" id="{43699DEA-DA0F-D7EE-27D2-6475AD68AE7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857786" y="1595520"/>
              <a:ext cx="230392" cy="230392"/>
            </a:xfrm>
            <a:prstGeom prst="rect">
              <a:avLst/>
            </a:prstGeom>
          </p:spPr>
        </p:pic>
        <p:pic>
          <p:nvPicPr>
            <p:cNvPr id="352" name="Graphic 351">
              <a:extLst>
                <a:ext uri="{FF2B5EF4-FFF2-40B4-BE49-F238E27FC236}">
                  <a16:creationId xmlns:a16="http://schemas.microsoft.com/office/drawing/2014/main" id="{869E3E15-8C40-EFA1-E9BD-DA706D44833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576343" y="1595520"/>
              <a:ext cx="230392" cy="230392"/>
            </a:xfrm>
            <a:prstGeom prst="rect">
              <a:avLst/>
            </a:prstGeom>
          </p:spPr>
        </p:pic>
      </p:grpSp>
      <p:sp>
        <p:nvSpPr>
          <p:cNvPr id="9" name="Freeform: Shape 362">
            <a:extLst>
              <a:ext uri="{FF2B5EF4-FFF2-40B4-BE49-F238E27FC236}">
                <a16:creationId xmlns:a16="http://schemas.microsoft.com/office/drawing/2014/main" id="{98A6849E-AC47-46D1-FE7C-AA151A617FAE}"/>
              </a:ext>
            </a:extLst>
          </p:cNvPr>
          <p:cNvSpPr/>
          <p:nvPr/>
        </p:nvSpPr>
        <p:spPr>
          <a:xfrm flipH="1">
            <a:off x="983097" y="5622888"/>
            <a:ext cx="2692465" cy="463901"/>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oAutofit/>
          </a:bodyPr>
          <a:lstStyle/>
          <a:p>
            <a:pPr algn="ctr"/>
            <a:r>
              <a:rPr lang="en-US" sz="1600" dirty="0">
                <a:solidFill>
                  <a:schemeClr val="accent5"/>
                </a:solidFill>
              </a:rPr>
              <a:t>vSAN HCI Clusters</a:t>
            </a:r>
            <a:br>
              <a:rPr lang="en-US" sz="1400" dirty="0">
                <a:solidFill>
                  <a:schemeClr val="accent5"/>
                </a:solidFill>
              </a:rPr>
            </a:br>
            <a:r>
              <a:rPr lang="en-US" sz="1200" dirty="0">
                <a:solidFill>
                  <a:schemeClr val="accent5"/>
                </a:solidFill>
              </a:rPr>
              <a:t>Aggregated resources</a:t>
            </a:r>
            <a:endParaRPr lang="en-US" sz="1200" dirty="0">
              <a:solidFill>
                <a:schemeClr val="accent5"/>
              </a:solidFill>
              <a:latin typeface="Arial" panose="020B0604020202020204" pitchFamily="34" charset="0"/>
            </a:endParaRPr>
          </a:p>
        </p:txBody>
      </p:sp>
      <p:sp>
        <p:nvSpPr>
          <p:cNvPr id="10" name="Freeform: Shape 362">
            <a:extLst>
              <a:ext uri="{FF2B5EF4-FFF2-40B4-BE49-F238E27FC236}">
                <a16:creationId xmlns:a16="http://schemas.microsoft.com/office/drawing/2014/main" id="{6144879C-A371-4FEE-3954-30EB2716612F}"/>
              </a:ext>
            </a:extLst>
          </p:cNvPr>
          <p:cNvSpPr/>
          <p:nvPr/>
        </p:nvSpPr>
        <p:spPr>
          <a:xfrm flipH="1">
            <a:off x="4667228" y="5622888"/>
            <a:ext cx="2692465" cy="463901"/>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oAutofit/>
          </a:bodyPr>
          <a:lstStyle/>
          <a:p>
            <a:pPr algn="ctr"/>
            <a:r>
              <a:rPr lang="en-US" sz="1600" dirty="0">
                <a:solidFill>
                  <a:schemeClr val="accent5"/>
                </a:solidFill>
              </a:rPr>
              <a:t>vSAN Storage Clusters</a:t>
            </a:r>
            <a:br>
              <a:rPr lang="en-US" sz="1400" dirty="0">
                <a:solidFill>
                  <a:schemeClr val="accent5"/>
                </a:solidFill>
              </a:rPr>
            </a:br>
            <a:r>
              <a:rPr lang="en-US" sz="1200" dirty="0">
                <a:solidFill>
                  <a:schemeClr val="accent5"/>
                </a:solidFill>
              </a:rPr>
              <a:t>Disaggregated resources</a:t>
            </a:r>
            <a:endParaRPr lang="en-US" sz="1200" dirty="0">
              <a:solidFill>
                <a:schemeClr val="accent5"/>
              </a:solidFill>
              <a:latin typeface="Arial" panose="020B0604020202020204" pitchFamily="34" charset="0"/>
            </a:endParaRPr>
          </a:p>
        </p:txBody>
      </p:sp>
    </p:spTree>
    <p:extLst>
      <p:ext uri="{BB962C8B-B14F-4D97-AF65-F5344CB8AC3E}">
        <p14:creationId xmlns:p14="http://schemas.microsoft.com/office/powerpoint/2010/main" val="2478901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7"/>
                                        </p:tgtEl>
                                        <p:attrNameLst>
                                          <p:attrName>style.visibility</p:attrName>
                                        </p:attrNameLst>
                                      </p:cBhvr>
                                      <p:to>
                                        <p:strVal val="visible"/>
                                      </p:to>
                                    </p:set>
                                    <p:animEffect transition="in" filter="fade">
                                      <p:cBhvr>
                                        <p:cTn id="7" dur="500"/>
                                        <p:tgtEl>
                                          <p:spTgt spid="14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94"/>
                                        </p:tgtEl>
                                        <p:attrNameLst>
                                          <p:attrName>style.visibility</p:attrName>
                                        </p:attrNameLst>
                                      </p:cBhvr>
                                      <p:to>
                                        <p:strVal val="visible"/>
                                      </p:to>
                                    </p:set>
                                    <p:animEffect transition="in" filter="fade">
                                      <p:cBhvr>
                                        <p:cTn id="11" dur="500"/>
                                        <p:tgtEl>
                                          <p:spTgt spid="294"/>
                                        </p:tgtEl>
                                      </p:cBhvr>
                                    </p:animEffect>
                                  </p:childTnLst>
                                </p:cTn>
                              </p:par>
                              <p:par>
                                <p:cTn id="12" presetID="16" presetClass="entr" presetSubtype="37" fill="hold" nodeType="withEffect">
                                  <p:stCondLst>
                                    <p:cond delay="0"/>
                                  </p:stCondLst>
                                  <p:childTnLst>
                                    <p:set>
                                      <p:cBhvr>
                                        <p:cTn id="13" dur="1" fill="hold">
                                          <p:stCondLst>
                                            <p:cond delay="0"/>
                                          </p:stCondLst>
                                        </p:cTn>
                                        <p:tgtEl>
                                          <p:spTgt spid="355"/>
                                        </p:tgtEl>
                                        <p:attrNameLst>
                                          <p:attrName>style.visibility</p:attrName>
                                        </p:attrNameLst>
                                      </p:cBhvr>
                                      <p:to>
                                        <p:strVal val="visible"/>
                                      </p:to>
                                    </p:set>
                                    <p:animEffect transition="in" filter="barn(outVertical)">
                                      <p:cBhvr>
                                        <p:cTn id="14" dur="500"/>
                                        <p:tgtEl>
                                          <p:spTgt spid="355"/>
                                        </p:tgtEl>
                                      </p:cBhvr>
                                    </p:animEffect>
                                  </p:childTnLst>
                                </p:cTn>
                              </p:par>
                              <p:par>
                                <p:cTn id="15" presetID="10" presetClass="entr" presetSubtype="0" fill="hold" nodeType="withEffect">
                                  <p:stCondLst>
                                    <p:cond delay="0"/>
                                  </p:stCondLst>
                                  <p:childTnLst>
                                    <p:set>
                                      <p:cBhvr>
                                        <p:cTn id="16" dur="1" fill="hold">
                                          <p:stCondLst>
                                            <p:cond delay="0"/>
                                          </p:stCondLst>
                                        </p:cTn>
                                        <p:tgtEl>
                                          <p:spTgt spid="357"/>
                                        </p:tgtEl>
                                        <p:attrNameLst>
                                          <p:attrName>style.visibility</p:attrName>
                                        </p:attrNameLst>
                                      </p:cBhvr>
                                      <p:to>
                                        <p:strVal val="visible"/>
                                      </p:to>
                                    </p:set>
                                    <p:animEffect transition="in" filter="fade">
                                      <p:cBhvr>
                                        <p:cTn id="17" dur="500"/>
                                        <p:tgtEl>
                                          <p:spTgt spid="357"/>
                                        </p:tgtEl>
                                      </p:cBhvr>
                                    </p:animEffect>
                                  </p:childTnLst>
                                </p:cTn>
                              </p:par>
                              <p:par>
                                <p:cTn id="18" presetID="10" presetClass="entr" presetSubtype="0" fill="hold" nodeType="withEffect">
                                  <p:stCondLst>
                                    <p:cond delay="0"/>
                                  </p:stCondLst>
                                  <p:childTnLst>
                                    <p:set>
                                      <p:cBhvr>
                                        <p:cTn id="19" dur="1" fill="hold">
                                          <p:stCondLst>
                                            <p:cond delay="0"/>
                                          </p:stCondLst>
                                        </p:cTn>
                                        <p:tgtEl>
                                          <p:spTgt spid="141"/>
                                        </p:tgtEl>
                                        <p:attrNameLst>
                                          <p:attrName>style.visibility</p:attrName>
                                        </p:attrNameLst>
                                      </p:cBhvr>
                                      <p:to>
                                        <p:strVal val="visible"/>
                                      </p:to>
                                    </p:set>
                                    <p:animEffect transition="in" filter="fade">
                                      <p:cBhvr>
                                        <p:cTn id="20" dur="500"/>
                                        <p:tgtEl>
                                          <p:spTgt spid="141"/>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344"/>
                                        </p:tgtEl>
                                        <p:attrNameLst>
                                          <p:attrName>style.visibility</p:attrName>
                                        </p:attrNameLst>
                                      </p:cBhvr>
                                      <p:to>
                                        <p:strVal val="visible"/>
                                      </p:to>
                                    </p:set>
                                    <p:animEffect transition="in" filter="fade">
                                      <p:cBhvr>
                                        <p:cTn id="24" dur="500"/>
                                        <p:tgtEl>
                                          <p:spTgt spid="34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73"/>
                                        </p:tgtEl>
                                        <p:attrNameLst>
                                          <p:attrName>style.visibility</p:attrName>
                                        </p:attrNameLst>
                                      </p:cBhvr>
                                      <p:to>
                                        <p:strVal val="visible"/>
                                      </p:to>
                                    </p:set>
                                    <p:animEffect transition="in" filter="fade">
                                      <p:cBhvr>
                                        <p:cTn id="27" dur="500"/>
                                        <p:tgtEl>
                                          <p:spTgt spid="273"/>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par>
                          <p:cTn id="32" fill="hold">
                            <p:stCondLst>
                              <p:cond delay="2000"/>
                            </p:stCondLst>
                            <p:childTnLst>
                              <p:par>
                                <p:cTn id="33" presetID="10" presetClass="entr" presetSubtype="0" fill="hold" nodeType="afterEffect">
                                  <p:stCondLst>
                                    <p:cond delay="500"/>
                                  </p:stCondLst>
                                  <p:childTnLst>
                                    <p:set>
                                      <p:cBhvr>
                                        <p:cTn id="34" dur="1" fill="hold">
                                          <p:stCondLst>
                                            <p:cond delay="0"/>
                                          </p:stCondLst>
                                        </p:cTn>
                                        <p:tgtEl>
                                          <p:spTgt spid="354"/>
                                        </p:tgtEl>
                                        <p:attrNameLst>
                                          <p:attrName>style.visibility</p:attrName>
                                        </p:attrNameLst>
                                      </p:cBhvr>
                                      <p:to>
                                        <p:strVal val="visible"/>
                                      </p:to>
                                    </p:set>
                                    <p:animEffect transition="in" filter="fade">
                                      <p:cBhvr>
                                        <p:cTn id="35" dur="500"/>
                                        <p:tgtEl>
                                          <p:spTgt spid="354"/>
                                        </p:tgtEl>
                                      </p:cBhvr>
                                    </p:animEffect>
                                  </p:childTnLst>
                                </p:cTn>
                              </p:par>
                            </p:childTnLst>
                          </p:cTn>
                        </p:par>
                        <p:par>
                          <p:cTn id="36" fill="hold">
                            <p:stCondLst>
                              <p:cond delay="3000"/>
                            </p:stCondLst>
                            <p:childTnLst>
                              <p:par>
                                <p:cTn id="37" presetID="16" presetClass="entr" presetSubtype="37" fill="hold" nodeType="afterEffect">
                                  <p:stCondLst>
                                    <p:cond delay="0"/>
                                  </p:stCondLst>
                                  <p:childTnLst>
                                    <p:set>
                                      <p:cBhvr>
                                        <p:cTn id="38" dur="1" fill="hold">
                                          <p:stCondLst>
                                            <p:cond delay="0"/>
                                          </p:stCondLst>
                                        </p:cTn>
                                        <p:tgtEl>
                                          <p:spTgt spid="108"/>
                                        </p:tgtEl>
                                        <p:attrNameLst>
                                          <p:attrName>style.visibility</p:attrName>
                                        </p:attrNameLst>
                                      </p:cBhvr>
                                      <p:to>
                                        <p:strVal val="visible"/>
                                      </p:to>
                                    </p:set>
                                    <p:animEffect transition="in" filter="barn(outVertical)">
                                      <p:cBhvr>
                                        <p:cTn id="39" dur="500"/>
                                        <p:tgtEl>
                                          <p:spTgt spid="108"/>
                                        </p:tgtEl>
                                      </p:cBhvr>
                                    </p:animEffect>
                                  </p:childTnLst>
                                </p:cTn>
                              </p:par>
                              <p:par>
                                <p:cTn id="40" presetID="10" presetClass="entr" presetSubtype="0" fill="hold" nodeType="withEffect">
                                  <p:stCondLst>
                                    <p:cond delay="0"/>
                                  </p:stCondLst>
                                  <p:childTnLst>
                                    <p:set>
                                      <p:cBhvr>
                                        <p:cTn id="41" dur="1" fill="hold">
                                          <p:stCondLst>
                                            <p:cond delay="0"/>
                                          </p:stCondLst>
                                        </p:cTn>
                                        <p:tgtEl>
                                          <p:spTgt spid="274"/>
                                        </p:tgtEl>
                                        <p:attrNameLst>
                                          <p:attrName>style.visibility</p:attrName>
                                        </p:attrNameLst>
                                      </p:cBhvr>
                                      <p:to>
                                        <p:strVal val="visible"/>
                                      </p:to>
                                    </p:set>
                                    <p:animEffect transition="in" filter="fade">
                                      <p:cBhvr>
                                        <p:cTn id="42" dur="500"/>
                                        <p:tgtEl>
                                          <p:spTgt spid="274"/>
                                        </p:tgtEl>
                                      </p:cBhvr>
                                    </p:animEffect>
                                  </p:childTnLst>
                                </p:cTn>
                              </p:par>
                              <p:par>
                                <p:cTn id="43" presetID="10" presetClass="entr" presetSubtype="0" fill="hold" nodeType="withEffect">
                                  <p:stCondLst>
                                    <p:cond delay="0"/>
                                  </p:stCondLst>
                                  <p:childTnLst>
                                    <p:set>
                                      <p:cBhvr>
                                        <p:cTn id="44" dur="1" fill="hold">
                                          <p:stCondLst>
                                            <p:cond delay="0"/>
                                          </p:stCondLst>
                                        </p:cTn>
                                        <p:tgtEl>
                                          <p:spTgt spid="106"/>
                                        </p:tgtEl>
                                        <p:attrNameLst>
                                          <p:attrName>style.visibility</p:attrName>
                                        </p:attrNameLst>
                                      </p:cBhvr>
                                      <p:to>
                                        <p:strVal val="visible"/>
                                      </p:to>
                                    </p:set>
                                    <p:animEffect transition="in" filter="fade">
                                      <p:cBhvr>
                                        <p:cTn id="45" dur="500"/>
                                        <p:tgtEl>
                                          <p:spTgt spid="106"/>
                                        </p:tgtEl>
                                      </p:cBhvr>
                                    </p:animEffect>
                                  </p:childTnLst>
                                </p:cTn>
                              </p:par>
                              <p:par>
                                <p:cTn id="46" presetID="10" presetClass="entr" presetSubtype="0" fill="hold" nodeType="withEffect">
                                  <p:stCondLst>
                                    <p:cond delay="0"/>
                                  </p:stCondLst>
                                  <p:childTnLst>
                                    <p:set>
                                      <p:cBhvr>
                                        <p:cTn id="47" dur="1" fill="hold">
                                          <p:stCondLst>
                                            <p:cond delay="0"/>
                                          </p:stCondLst>
                                        </p:cTn>
                                        <p:tgtEl>
                                          <p:spTgt spid="105"/>
                                        </p:tgtEl>
                                        <p:attrNameLst>
                                          <p:attrName>style.visibility</p:attrName>
                                        </p:attrNameLst>
                                      </p:cBhvr>
                                      <p:to>
                                        <p:strVal val="visible"/>
                                      </p:to>
                                    </p:set>
                                    <p:animEffect transition="in" filter="fade">
                                      <p:cBhvr>
                                        <p:cTn id="48" dur="500"/>
                                        <p:tgtEl>
                                          <p:spTgt spid="105"/>
                                        </p:tgtEl>
                                      </p:cBhvr>
                                    </p:animEffect>
                                  </p:childTnLst>
                                </p:cTn>
                              </p:par>
                            </p:childTnLst>
                          </p:cTn>
                        </p:par>
                        <p:par>
                          <p:cTn id="49" fill="hold">
                            <p:stCondLst>
                              <p:cond delay="3500"/>
                            </p:stCondLst>
                            <p:childTnLst>
                              <p:par>
                                <p:cTn id="50" presetID="10" presetClass="entr" presetSubtype="0" fill="hold" grpId="0" nodeType="after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fade">
                                      <p:cBhvr>
                                        <p:cTn id="52" dur="500"/>
                                        <p:tgtEl>
                                          <p:spTgt spid="4"/>
                                        </p:tgtEl>
                                      </p:cBhvr>
                                    </p:animEffect>
                                  </p:childTnLst>
                                </p:cTn>
                              </p:par>
                            </p:childTnLst>
                          </p:cTn>
                        </p:par>
                        <p:par>
                          <p:cTn id="53" fill="hold">
                            <p:stCondLst>
                              <p:cond delay="4000"/>
                            </p:stCondLst>
                            <p:childTnLst>
                              <p:par>
                                <p:cTn id="54" presetID="10" presetClass="entr" presetSubtype="0" fill="hold" nodeType="afterEffect">
                                  <p:stCondLst>
                                    <p:cond delay="500"/>
                                  </p:stCondLst>
                                  <p:childTnLst>
                                    <p:set>
                                      <p:cBhvr>
                                        <p:cTn id="55" dur="1" fill="hold">
                                          <p:stCondLst>
                                            <p:cond delay="0"/>
                                          </p:stCondLst>
                                        </p:cTn>
                                        <p:tgtEl>
                                          <p:spTgt spid="6"/>
                                        </p:tgtEl>
                                        <p:attrNameLst>
                                          <p:attrName>style.visibility</p:attrName>
                                        </p:attrNameLst>
                                      </p:cBhvr>
                                      <p:to>
                                        <p:strVal val="visible"/>
                                      </p:to>
                                    </p:set>
                                    <p:animEffect transition="in" filter="fade">
                                      <p:cBhvr>
                                        <p:cTn id="56" dur="500"/>
                                        <p:tgtEl>
                                          <p:spTgt spid="6"/>
                                        </p:tgtEl>
                                      </p:cBhvr>
                                    </p:animEffect>
                                  </p:childTnLst>
                                </p:cTn>
                              </p:par>
                            </p:childTnLst>
                          </p:cTn>
                        </p:par>
                        <p:par>
                          <p:cTn id="57" fill="hold">
                            <p:stCondLst>
                              <p:cond delay="5000"/>
                            </p:stCondLst>
                            <p:childTnLst>
                              <p:par>
                                <p:cTn id="58" presetID="16" presetClass="entr" presetSubtype="37" fill="hold" nodeType="afterEffect">
                                  <p:stCondLst>
                                    <p:cond delay="0"/>
                                  </p:stCondLst>
                                  <p:childTnLst>
                                    <p:set>
                                      <p:cBhvr>
                                        <p:cTn id="59" dur="1" fill="hold">
                                          <p:stCondLst>
                                            <p:cond delay="0"/>
                                          </p:stCondLst>
                                        </p:cTn>
                                        <p:tgtEl>
                                          <p:spTgt spid="356"/>
                                        </p:tgtEl>
                                        <p:attrNameLst>
                                          <p:attrName>style.visibility</p:attrName>
                                        </p:attrNameLst>
                                      </p:cBhvr>
                                      <p:to>
                                        <p:strVal val="visible"/>
                                      </p:to>
                                    </p:set>
                                    <p:animEffect transition="in" filter="barn(outVertical)">
                                      <p:cBhvr>
                                        <p:cTn id="60" dur="500"/>
                                        <p:tgtEl>
                                          <p:spTgt spid="356"/>
                                        </p:tgtEl>
                                      </p:cBhvr>
                                    </p:animEffect>
                                  </p:childTnLst>
                                </p:cTn>
                              </p:par>
                            </p:childTnLst>
                          </p:cTn>
                        </p:par>
                        <p:par>
                          <p:cTn id="61" fill="hold">
                            <p:stCondLst>
                              <p:cond delay="5500"/>
                            </p:stCondLst>
                            <p:childTnLst>
                              <p:par>
                                <p:cTn id="62" presetID="10" presetClass="entr" presetSubtype="0" fill="hold" nodeType="afterEffect">
                                  <p:stCondLst>
                                    <p:cond delay="0"/>
                                  </p:stCondLst>
                                  <p:childTnLst>
                                    <p:set>
                                      <p:cBhvr>
                                        <p:cTn id="63" dur="1" fill="hold">
                                          <p:stCondLst>
                                            <p:cond delay="0"/>
                                          </p:stCondLst>
                                        </p:cTn>
                                        <p:tgtEl>
                                          <p:spTgt spid="343"/>
                                        </p:tgtEl>
                                        <p:attrNameLst>
                                          <p:attrName>style.visibility</p:attrName>
                                        </p:attrNameLst>
                                      </p:cBhvr>
                                      <p:to>
                                        <p:strVal val="visible"/>
                                      </p:to>
                                    </p:set>
                                    <p:animEffect transition="in" filter="fade">
                                      <p:cBhvr>
                                        <p:cTn id="64" dur="500"/>
                                        <p:tgtEl>
                                          <p:spTgt spid="34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82"/>
                                        </p:tgtEl>
                                        <p:attrNameLst>
                                          <p:attrName>style.visibility</p:attrName>
                                        </p:attrNameLst>
                                      </p:cBhvr>
                                      <p:to>
                                        <p:strVal val="visible"/>
                                      </p:to>
                                    </p:set>
                                    <p:animEffect transition="in" filter="fade">
                                      <p:cBhvr>
                                        <p:cTn id="67" dur="500"/>
                                        <p:tgtEl>
                                          <p:spTgt spid="82"/>
                                        </p:tgtEl>
                                      </p:cBhvr>
                                    </p:animEffect>
                                  </p:childTnLst>
                                </p:cTn>
                              </p:par>
                            </p:childTnLst>
                          </p:cTn>
                        </p:par>
                        <p:par>
                          <p:cTn id="68" fill="hold">
                            <p:stCondLst>
                              <p:cond delay="6000"/>
                            </p:stCondLst>
                            <p:childTnLst>
                              <p:par>
                                <p:cTn id="69" presetID="22" presetClass="entr" presetSubtype="4" fill="hold" nodeType="afterEffect">
                                  <p:stCondLst>
                                    <p:cond delay="0"/>
                                  </p:stCondLst>
                                  <p:childTnLst>
                                    <p:set>
                                      <p:cBhvr>
                                        <p:cTn id="70" dur="1" fill="hold">
                                          <p:stCondLst>
                                            <p:cond delay="0"/>
                                          </p:stCondLst>
                                        </p:cTn>
                                        <p:tgtEl>
                                          <p:spTgt spid="83"/>
                                        </p:tgtEl>
                                        <p:attrNameLst>
                                          <p:attrName>style.visibility</p:attrName>
                                        </p:attrNameLst>
                                      </p:cBhvr>
                                      <p:to>
                                        <p:strVal val="visible"/>
                                      </p:to>
                                    </p:set>
                                    <p:animEffect transition="in" filter="wipe(down)">
                                      <p:cBhvr>
                                        <p:cTn id="71" dur="500"/>
                                        <p:tgtEl>
                                          <p:spTgt spid="83"/>
                                        </p:tgtEl>
                                      </p:cBhvr>
                                    </p:animEffect>
                                  </p:childTnLst>
                                </p:cTn>
                              </p:par>
                            </p:childTnLst>
                          </p:cTn>
                        </p:par>
                        <p:par>
                          <p:cTn id="72" fill="hold">
                            <p:stCondLst>
                              <p:cond delay="6500"/>
                            </p:stCondLst>
                            <p:childTnLst>
                              <p:par>
                                <p:cTn id="73" presetID="10" presetClass="entr" presetSubtype="0" fill="hold" nodeType="afterEffect">
                                  <p:stCondLst>
                                    <p:cond delay="0"/>
                                  </p:stCondLst>
                                  <p:childTnLst>
                                    <p:set>
                                      <p:cBhvr>
                                        <p:cTn id="74" dur="1" fill="hold">
                                          <p:stCondLst>
                                            <p:cond delay="0"/>
                                          </p:stCondLst>
                                        </p:cTn>
                                        <p:tgtEl>
                                          <p:spTgt spid="84"/>
                                        </p:tgtEl>
                                        <p:attrNameLst>
                                          <p:attrName>style.visibility</p:attrName>
                                        </p:attrNameLst>
                                      </p:cBhvr>
                                      <p:to>
                                        <p:strVal val="visible"/>
                                      </p:to>
                                    </p:set>
                                    <p:animEffect transition="in" filter="fade">
                                      <p:cBhvr>
                                        <p:cTn id="75" dur="500"/>
                                        <p:tgtEl>
                                          <p:spTgt spid="84"/>
                                        </p:tgtEl>
                                      </p:cBhvr>
                                    </p:animEffect>
                                  </p:childTnLst>
                                </p:cTn>
                              </p:par>
                            </p:childTnLst>
                          </p:cTn>
                        </p:par>
                        <p:par>
                          <p:cTn id="76" fill="hold">
                            <p:stCondLst>
                              <p:cond delay="7000"/>
                            </p:stCondLst>
                            <p:childTnLst>
                              <p:par>
                                <p:cTn id="77" presetID="10" presetClass="entr" presetSubtype="0" fill="hold" grpId="0" nodeType="afterEffect">
                                  <p:stCondLst>
                                    <p:cond delay="0"/>
                                  </p:stCondLst>
                                  <p:childTnLst>
                                    <p:set>
                                      <p:cBhvr>
                                        <p:cTn id="78" dur="1" fill="hold">
                                          <p:stCondLst>
                                            <p:cond delay="0"/>
                                          </p:stCondLst>
                                        </p:cTn>
                                        <p:tgtEl>
                                          <p:spTgt spid="10"/>
                                        </p:tgtEl>
                                        <p:attrNameLst>
                                          <p:attrName>style.visibility</p:attrName>
                                        </p:attrNameLst>
                                      </p:cBhvr>
                                      <p:to>
                                        <p:strVal val="visible"/>
                                      </p:to>
                                    </p:set>
                                    <p:animEffect transition="in" filter="fade">
                                      <p:cBhvr>
                                        <p:cTn id="79" dur="500"/>
                                        <p:tgtEl>
                                          <p:spTgt spid="10"/>
                                        </p:tgtEl>
                                      </p:cBhvr>
                                    </p:animEffect>
                                  </p:childTnLst>
                                </p:cTn>
                              </p:par>
                            </p:childTnLst>
                          </p:cTn>
                        </p:par>
                        <p:par>
                          <p:cTn id="80" fill="hold">
                            <p:stCondLst>
                              <p:cond delay="7500"/>
                            </p:stCondLst>
                            <p:childTnLst>
                              <p:par>
                                <p:cTn id="81" presetID="26" presetClass="emph" presetSubtype="0" fill="hold" nodeType="afterEffect">
                                  <p:stCondLst>
                                    <p:cond delay="500"/>
                                  </p:stCondLst>
                                  <p:childTnLst>
                                    <p:animEffect transition="out" filter="fade">
                                      <p:cBhvr>
                                        <p:cTn id="82" dur="500" tmFilter="0, 0; .2, .5; .8, .5; 1, 0"/>
                                        <p:tgtEl>
                                          <p:spTgt spid="84"/>
                                        </p:tgtEl>
                                      </p:cBhvr>
                                    </p:animEffect>
                                    <p:animScale>
                                      <p:cBhvr>
                                        <p:cTn id="83" dur="250" autoRev="1" fill="hold"/>
                                        <p:tgtEl>
                                          <p:spTgt spid="84"/>
                                        </p:tgtEl>
                                      </p:cBhvr>
                                      <p:by x="105000" y="105000"/>
                                    </p:animScale>
                                  </p:childTnLst>
                                </p:cTn>
                              </p:par>
                            </p:childTnLst>
                          </p:cTn>
                        </p:par>
                        <p:par>
                          <p:cTn id="84" fill="hold">
                            <p:stCondLst>
                              <p:cond delay="8500"/>
                            </p:stCondLst>
                            <p:childTnLst>
                              <p:par>
                                <p:cTn id="85" presetID="22" presetClass="entr" presetSubtype="2" fill="hold" grpId="0" nodeType="afterEffect">
                                  <p:stCondLst>
                                    <p:cond delay="500"/>
                                  </p:stCondLst>
                                  <p:childTnLst>
                                    <p:set>
                                      <p:cBhvr>
                                        <p:cTn id="86" dur="1" fill="hold">
                                          <p:stCondLst>
                                            <p:cond delay="0"/>
                                          </p:stCondLst>
                                        </p:cTn>
                                        <p:tgtEl>
                                          <p:spTgt spid="308"/>
                                        </p:tgtEl>
                                        <p:attrNameLst>
                                          <p:attrName>style.visibility</p:attrName>
                                        </p:attrNameLst>
                                      </p:cBhvr>
                                      <p:to>
                                        <p:strVal val="visible"/>
                                      </p:to>
                                    </p:set>
                                    <p:animEffect transition="in" filter="wipe(right)">
                                      <p:cBhvr>
                                        <p:cTn id="87" dur="500"/>
                                        <p:tgtEl>
                                          <p:spTgt spid="308"/>
                                        </p:tgtEl>
                                      </p:cBhvr>
                                    </p:animEffect>
                                  </p:childTnLst>
                                </p:cTn>
                              </p:par>
                              <p:par>
                                <p:cTn id="88" presetID="22" presetClass="entr" presetSubtype="8" fill="hold" grpId="0" nodeType="withEffect">
                                  <p:stCondLst>
                                    <p:cond delay="500"/>
                                  </p:stCondLst>
                                  <p:childTnLst>
                                    <p:set>
                                      <p:cBhvr>
                                        <p:cTn id="89" dur="1" fill="hold">
                                          <p:stCondLst>
                                            <p:cond delay="0"/>
                                          </p:stCondLst>
                                        </p:cTn>
                                        <p:tgtEl>
                                          <p:spTgt spid="307"/>
                                        </p:tgtEl>
                                        <p:attrNameLst>
                                          <p:attrName>style.visibility</p:attrName>
                                        </p:attrNameLst>
                                      </p:cBhvr>
                                      <p:to>
                                        <p:strVal val="visible"/>
                                      </p:to>
                                    </p:set>
                                    <p:animEffect transition="in" filter="wipe(left)">
                                      <p:cBhvr>
                                        <p:cTn id="90" dur="500"/>
                                        <p:tgtEl>
                                          <p:spTgt spid="307"/>
                                        </p:tgtEl>
                                      </p:cBhvr>
                                    </p:animEffect>
                                  </p:childTnLst>
                                </p:cTn>
                              </p:par>
                            </p:childTnLst>
                          </p:cTn>
                        </p:par>
                        <p:par>
                          <p:cTn id="91" fill="hold">
                            <p:stCondLst>
                              <p:cond delay="9500"/>
                            </p:stCondLst>
                            <p:childTnLst>
                              <p:par>
                                <p:cTn id="92" presetID="10" presetClass="entr" presetSubtype="0" fill="hold" nodeType="afterEffect">
                                  <p:stCondLst>
                                    <p:cond delay="0"/>
                                  </p:stCondLst>
                                  <p:childTnLst>
                                    <p:set>
                                      <p:cBhvr>
                                        <p:cTn id="93" dur="1" fill="hold">
                                          <p:stCondLst>
                                            <p:cond delay="0"/>
                                          </p:stCondLst>
                                        </p:cTn>
                                        <p:tgtEl>
                                          <p:spTgt spid="269"/>
                                        </p:tgtEl>
                                        <p:attrNameLst>
                                          <p:attrName>style.visibility</p:attrName>
                                        </p:attrNameLst>
                                      </p:cBhvr>
                                      <p:to>
                                        <p:strVal val="visible"/>
                                      </p:to>
                                    </p:set>
                                    <p:animEffect transition="in" filter="fade">
                                      <p:cBhvr>
                                        <p:cTn id="94" dur="500"/>
                                        <p:tgtEl>
                                          <p:spTgt spid="269"/>
                                        </p:tgtEl>
                                      </p:cBhvr>
                                    </p:animEffect>
                                  </p:childTnLst>
                                </p:cTn>
                              </p:par>
                            </p:childTnLst>
                          </p:cTn>
                        </p:par>
                        <p:par>
                          <p:cTn id="95" fill="hold">
                            <p:stCondLst>
                              <p:cond delay="10000"/>
                            </p:stCondLst>
                            <p:childTnLst>
                              <p:par>
                                <p:cTn id="96" presetID="10" presetClass="entr" presetSubtype="0" fill="hold" grpId="0" nodeType="afterEffect">
                                  <p:stCondLst>
                                    <p:cond delay="500"/>
                                  </p:stCondLst>
                                  <p:childTnLst>
                                    <p:set>
                                      <p:cBhvr>
                                        <p:cTn id="97" dur="1" fill="hold">
                                          <p:stCondLst>
                                            <p:cond delay="0"/>
                                          </p:stCondLst>
                                        </p:cTn>
                                        <p:tgtEl>
                                          <p:spTgt spid="270"/>
                                        </p:tgtEl>
                                        <p:attrNameLst>
                                          <p:attrName>style.visibility</p:attrName>
                                        </p:attrNameLst>
                                      </p:cBhvr>
                                      <p:to>
                                        <p:strVal val="visible"/>
                                      </p:to>
                                    </p:set>
                                    <p:animEffect transition="in" filter="fade">
                                      <p:cBhvr>
                                        <p:cTn id="98" dur="500"/>
                                        <p:tgtEl>
                                          <p:spTgt spid="270"/>
                                        </p:tgtEl>
                                      </p:cBhvr>
                                    </p:animEffect>
                                  </p:childTnLst>
                                </p:cTn>
                              </p:par>
                              <p:par>
                                <p:cTn id="99" presetID="10" presetClass="entr" presetSubtype="0" fill="hold" grpId="0" nodeType="withEffect">
                                  <p:stCondLst>
                                    <p:cond delay="500"/>
                                  </p:stCondLst>
                                  <p:childTnLst>
                                    <p:set>
                                      <p:cBhvr>
                                        <p:cTn id="100" dur="1" fill="hold">
                                          <p:stCondLst>
                                            <p:cond delay="0"/>
                                          </p:stCondLst>
                                        </p:cTn>
                                        <p:tgtEl>
                                          <p:spTgt spid="272"/>
                                        </p:tgtEl>
                                        <p:attrNameLst>
                                          <p:attrName>style.visibility</p:attrName>
                                        </p:attrNameLst>
                                      </p:cBhvr>
                                      <p:to>
                                        <p:strVal val="visible"/>
                                      </p:to>
                                    </p:set>
                                    <p:animEffect transition="in" filter="fade">
                                      <p:cBhvr>
                                        <p:cTn id="101" dur="500"/>
                                        <p:tgtEl>
                                          <p:spTgt spid="272"/>
                                        </p:tgtEl>
                                      </p:cBhvr>
                                    </p:animEffect>
                                  </p:childTnLst>
                                </p:cTn>
                              </p:par>
                            </p:childTnLst>
                          </p:cTn>
                        </p:par>
                        <p:par>
                          <p:cTn id="102" fill="hold">
                            <p:stCondLst>
                              <p:cond delay="11000"/>
                            </p:stCondLst>
                            <p:childTnLst>
                              <p:par>
                                <p:cTn id="103" presetID="10" presetClass="entr" presetSubtype="0" fill="hold" grpId="0" nodeType="afterEffect">
                                  <p:stCondLst>
                                    <p:cond delay="0"/>
                                  </p:stCondLst>
                                  <p:childTnLst>
                                    <p:set>
                                      <p:cBhvr>
                                        <p:cTn id="104" dur="1" fill="hold">
                                          <p:stCondLst>
                                            <p:cond delay="0"/>
                                          </p:stCondLst>
                                        </p:cTn>
                                        <p:tgtEl>
                                          <p:spTgt spid="271"/>
                                        </p:tgtEl>
                                        <p:attrNameLst>
                                          <p:attrName>style.visibility</p:attrName>
                                        </p:attrNameLst>
                                      </p:cBhvr>
                                      <p:to>
                                        <p:strVal val="visible"/>
                                      </p:to>
                                    </p:set>
                                    <p:animEffect transition="in" filter="fade">
                                      <p:cBhvr>
                                        <p:cTn id="105" dur="500"/>
                                        <p:tgtEl>
                                          <p:spTgt spid="271"/>
                                        </p:tgtEl>
                                      </p:cBhvr>
                                    </p:animEffect>
                                  </p:childTnLst>
                                </p:cTn>
                              </p:par>
                            </p:childTnLst>
                          </p:cTn>
                        </p:par>
                        <p:par>
                          <p:cTn id="106" fill="hold">
                            <p:stCondLst>
                              <p:cond delay="11500"/>
                            </p:stCondLst>
                            <p:childTnLst>
                              <p:par>
                                <p:cTn id="107" presetID="26" presetClass="emph" presetSubtype="0" repeatCount="3000" fill="hold" nodeType="afterEffect">
                                  <p:stCondLst>
                                    <p:cond delay="500"/>
                                  </p:stCondLst>
                                  <p:childTnLst>
                                    <p:animEffect transition="out" filter="fade">
                                      <p:cBhvr>
                                        <p:cTn id="108" dur="500" tmFilter="0, 0; .2, .5; .8, .5; 1, 0"/>
                                        <p:tgtEl>
                                          <p:spTgt spid="269"/>
                                        </p:tgtEl>
                                      </p:cBhvr>
                                    </p:animEffect>
                                    <p:animScale>
                                      <p:cBhvr>
                                        <p:cTn id="109" dur="250" autoRev="1" fill="hold"/>
                                        <p:tgtEl>
                                          <p:spTgt spid="26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2" grpId="0"/>
      <p:bldP spid="270" grpId="0"/>
      <p:bldP spid="271" grpId="0"/>
      <p:bldP spid="272" grpId="0"/>
      <p:bldP spid="273" grpId="0"/>
      <p:bldP spid="307" grpId="0" animBg="1"/>
      <p:bldP spid="308" grpId="0" animBg="1"/>
      <p:bldP spid="9" grpId="0"/>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0CFE6-03BB-7697-2CA3-B5719C69F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64E68E-8FCF-1400-7B02-596D978F9145}"/>
              </a:ext>
            </a:extLst>
          </p:cNvPr>
          <p:cNvSpPr>
            <a:spLocks noGrp="1"/>
          </p:cNvSpPr>
          <p:nvPr>
            <p:ph type="title"/>
          </p:nvPr>
        </p:nvSpPr>
        <p:spPr/>
        <p:txBody>
          <a:bodyPr/>
          <a:lstStyle/>
          <a:p>
            <a:r>
              <a:rPr lang="en-US" dirty="0"/>
              <a:t>The vSAN Difference</a:t>
            </a:r>
          </a:p>
        </p:txBody>
      </p:sp>
      <p:sp>
        <p:nvSpPr>
          <p:cNvPr id="3" name="Subtitle 2">
            <a:extLst>
              <a:ext uri="{FF2B5EF4-FFF2-40B4-BE49-F238E27FC236}">
                <a16:creationId xmlns:a16="http://schemas.microsoft.com/office/drawing/2014/main" id="{47EE1F48-5C86-19A2-C7D2-BF7A4B80F3E9}"/>
              </a:ext>
            </a:extLst>
          </p:cNvPr>
          <p:cNvSpPr>
            <a:spLocks noGrp="1"/>
          </p:cNvSpPr>
          <p:nvPr>
            <p:ph type="subTitle" idx="10"/>
          </p:nvPr>
        </p:nvSpPr>
        <p:spPr/>
        <p:txBody>
          <a:bodyPr/>
          <a:lstStyle/>
          <a:p>
            <a:r>
              <a:rPr lang="en-US" dirty="0"/>
              <a:t>Scale UP and OUT for maximum agility</a:t>
            </a:r>
          </a:p>
          <a:p>
            <a:endParaRPr lang="en-US" dirty="0"/>
          </a:p>
        </p:txBody>
      </p:sp>
      <p:sp>
        <p:nvSpPr>
          <p:cNvPr id="5" name="Text Placeholder 4">
            <a:extLst>
              <a:ext uri="{FF2B5EF4-FFF2-40B4-BE49-F238E27FC236}">
                <a16:creationId xmlns:a16="http://schemas.microsoft.com/office/drawing/2014/main" id="{DF5D98C8-DBA5-AF6D-F5E1-E9F428309A15}"/>
              </a:ext>
            </a:extLst>
          </p:cNvPr>
          <p:cNvSpPr>
            <a:spLocks noGrp="1"/>
          </p:cNvSpPr>
          <p:nvPr>
            <p:ph type="body" sz="quarter" idx="17"/>
          </p:nvPr>
        </p:nvSpPr>
        <p:spPr/>
        <p:txBody>
          <a:bodyPr/>
          <a:lstStyle/>
          <a:p>
            <a:r>
              <a:rPr lang="en-US" dirty="0"/>
              <a:t>Run more VMs per host</a:t>
            </a:r>
          </a:p>
          <a:p>
            <a:r>
              <a:rPr lang="en-US" dirty="0"/>
              <a:t>Add capacity the way you want</a:t>
            </a:r>
          </a:p>
          <a:p>
            <a:r>
              <a:rPr lang="en-US" dirty="0"/>
              <a:t>Scale </a:t>
            </a:r>
            <a:r>
              <a:rPr lang="en-US" b="1" dirty="0"/>
              <a:t>UP</a:t>
            </a:r>
            <a:r>
              <a:rPr lang="en-US" dirty="0"/>
              <a:t> by adding drives</a:t>
            </a:r>
          </a:p>
          <a:p>
            <a:r>
              <a:rPr lang="en-US" dirty="0"/>
              <a:t>Scale </a:t>
            </a:r>
            <a:r>
              <a:rPr lang="en-US" b="1" dirty="0"/>
              <a:t>OUT</a:t>
            </a:r>
            <a:r>
              <a:rPr lang="en-US" dirty="0"/>
              <a:t> by adding hosts</a:t>
            </a:r>
          </a:p>
          <a:p>
            <a:r>
              <a:rPr lang="en-US" dirty="0"/>
              <a:t>Agile, cost-effective cluster designs</a:t>
            </a:r>
          </a:p>
          <a:p>
            <a:endParaRPr lang="en-US" dirty="0"/>
          </a:p>
        </p:txBody>
      </p:sp>
      <p:sp>
        <p:nvSpPr>
          <p:cNvPr id="6" name="Rectangle 5">
            <a:extLst>
              <a:ext uri="{FF2B5EF4-FFF2-40B4-BE49-F238E27FC236}">
                <a16:creationId xmlns:a16="http://schemas.microsoft.com/office/drawing/2014/main" id="{0AF4A115-7EC6-85B6-DE95-2E14F89F0360}"/>
              </a:ext>
            </a:extLst>
          </p:cNvPr>
          <p:cNvSpPr/>
          <p:nvPr/>
        </p:nvSpPr>
        <p:spPr>
          <a:xfrm>
            <a:off x="5480155" y="4342705"/>
            <a:ext cx="2483164" cy="977495"/>
          </a:xfrm>
          <a:prstGeom prst="rect">
            <a:avLst/>
          </a:prstGeom>
          <a:solidFill>
            <a:schemeClr val="accent2"/>
          </a:solidFill>
          <a:ln w="12700">
            <a:noFill/>
            <a:prstDash val="sysDot"/>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800" dirty="0">
              <a:solidFill>
                <a:schemeClr val="bg1"/>
              </a:solidFill>
            </a:endParaRPr>
          </a:p>
        </p:txBody>
      </p:sp>
      <p:sp>
        <p:nvSpPr>
          <p:cNvPr id="7" name="Rectangle 6">
            <a:extLst>
              <a:ext uri="{FF2B5EF4-FFF2-40B4-BE49-F238E27FC236}">
                <a16:creationId xmlns:a16="http://schemas.microsoft.com/office/drawing/2014/main" id="{5D5C773D-3B4B-78E4-2E62-6EEEF3D6FD3E}"/>
              </a:ext>
            </a:extLst>
          </p:cNvPr>
          <p:cNvSpPr/>
          <p:nvPr/>
        </p:nvSpPr>
        <p:spPr>
          <a:xfrm>
            <a:off x="694724" y="4342705"/>
            <a:ext cx="4785431" cy="977496"/>
          </a:xfrm>
          <a:prstGeom prst="rect">
            <a:avLst/>
          </a:prstGeom>
          <a:solidFill>
            <a:schemeClr val="accent2"/>
          </a:solidFill>
          <a:ln w="12700">
            <a:noFill/>
            <a:prstDash val="sysDot"/>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800" dirty="0">
              <a:solidFill>
                <a:schemeClr val="bg1"/>
              </a:solidFill>
            </a:endParaRPr>
          </a:p>
        </p:txBody>
      </p:sp>
      <p:sp>
        <p:nvSpPr>
          <p:cNvPr id="8" name="Rectangle 7">
            <a:extLst>
              <a:ext uri="{FF2B5EF4-FFF2-40B4-BE49-F238E27FC236}">
                <a16:creationId xmlns:a16="http://schemas.microsoft.com/office/drawing/2014/main" id="{48C926FD-5001-1922-1084-B37A7F3EE677}"/>
              </a:ext>
            </a:extLst>
          </p:cNvPr>
          <p:cNvSpPr/>
          <p:nvPr/>
        </p:nvSpPr>
        <p:spPr>
          <a:xfrm>
            <a:off x="2279676" y="5057366"/>
            <a:ext cx="1759236" cy="234618"/>
          </a:xfrm>
          <a:prstGeom prst="rect">
            <a:avLst/>
          </a:prstGeom>
          <a:noFill/>
        </p:spPr>
        <p:txBody>
          <a:bodyPr wrap="square" lIns="0" tIns="0" rIns="0" bIns="0">
            <a:spAutoFit/>
          </a:bodyPr>
          <a:lstStyle/>
          <a:p>
            <a:pPr lvl="0" algn="ctr">
              <a:lnSpc>
                <a:spcPct val="90000"/>
              </a:lnSpc>
              <a:defRPr/>
            </a:pPr>
            <a:r>
              <a:rPr lang="en-US" sz="1400" kern="0" dirty="0">
                <a:solidFill>
                  <a:schemeClr val="bg1"/>
                </a:solidFill>
              </a:rPr>
              <a:t>vSAN Datastore</a:t>
            </a:r>
          </a:p>
        </p:txBody>
      </p:sp>
      <p:sp>
        <p:nvSpPr>
          <p:cNvPr id="9" name="Rectangle 8">
            <a:extLst>
              <a:ext uri="{FF2B5EF4-FFF2-40B4-BE49-F238E27FC236}">
                <a16:creationId xmlns:a16="http://schemas.microsoft.com/office/drawing/2014/main" id="{B3347B67-8C4A-02BB-4063-2FF64FD26955}"/>
              </a:ext>
            </a:extLst>
          </p:cNvPr>
          <p:cNvSpPr/>
          <p:nvPr/>
        </p:nvSpPr>
        <p:spPr>
          <a:xfrm>
            <a:off x="775086" y="4417966"/>
            <a:ext cx="7107872" cy="562927"/>
          </a:xfrm>
          <a:prstGeom prst="rect">
            <a:avLst/>
          </a:prstGeom>
          <a:noFill/>
          <a:ln w="15875">
            <a:solidFill>
              <a:schemeClr val="bg1"/>
            </a:solidFill>
            <a:prstDash val="sysDot"/>
          </a:ln>
        </p:spPr>
        <p:txBody>
          <a:bodyPr wrap="square" anchor="ctr">
            <a:noAutofit/>
          </a:bodyPr>
          <a:lstStyle/>
          <a:p>
            <a:pPr algn="ctr"/>
            <a:endParaRPr lang="en-US" sz="1200" dirty="0">
              <a:solidFill>
                <a:prstClr val="white"/>
              </a:solidFill>
            </a:endParaRPr>
          </a:p>
        </p:txBody>
      </p:sp>
      <p:sp>
        <p:nvSpPr>
          <p:cNvPr id="10" name="Rectangle 9">
            <a:extLst>
              <a:ext uri="{FF2B5EF4-FFF2-40B4-BE49-F238E27FC236}">
                <a16:creationId xmlns:a16="http://schemas.microsoft.com/office/drawing/2014/main" id="{9B41FFCF-1EAD-9A2B-E1F7-049E00026FD4}"/>
              </a:ext>
            </a:extLst>
          </p:cNvPr>
          <p:cNvSpPr/>
          <p:nvPr/>
        </p:nvSpPr>
        <p:spPr>
          <a:xfrm>
            <a:off x="3860215" y="5317799"/>
            <a:ext cx="1010212" cy="307777"/>
          </a:xfrm>
          <a:prstGeom prst="rect">
            <a:avLst/>
          </a:prstGeom>
        </p:spPr>
        <p:txBody>
          <a:bodyPr wrap="none">
            <a:spAutoFit/>
          </a:bodyPr>
          <a:lstStyle/>
          <a:p>
            <a:pPr algn="ctr"/>
            <a:r>
              <a:rPr lang="en-US" sz="1400" dirty="0">
                <a:solidFill>
                  <a:schemeClr val="tx2"/>
                </a:solidFill>
              </a:rPr>
              <a:t>Scale Out</a:t>
            </a:r>
          </a:p>
        </p:txBody>
      </p:sp>
      <p:cxnSp>
        <p:nvCxnSpPr>
          <p:cNvPr id="11" name="Straight Connector 10">
            <a:extLst>
              <a:ext uri="{FF2B5EF4-FFF2-40B4-BE49-F238E27FC236}">
                <a16:creationId xmlns:a16="http://schemas.microsoft.com/office/drawing/2014/main" id="{0BE9D8ED-E047-2A58-E471-CD1AF0D8588C}"/>
              </a:ext>
            </a:extLst>
          </p:cNvPr>
          <p:cNvCxnSpPr>
            <a:cxnSpLocks/>
          </p:cNvCxnSpPr>
          <p:nvPr/>
        </p:nvCxnSpPr>
        <p:spPr bwMode="gray">
          <a:xfrm>
            <a:off x="4928519" y="5471687"/>
            <a:ext cx="2999376" cy="0"/>
          </a:xfrm>
          <a:prstGeom prst="line">
            <a:avLst/>
          </a:prstGeom>
          <a:ln w="25400">
            <a:solidFill>
              <a:schemeClr val="tx2"/>
            </a:solidFill>
            <a:miter lim="800000"/>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68FAE15-1438-2D6D-BD28-C30A9E2A7BD6}"/>
              </a:ext>
            </a:extLst>
          </p:cNvPr>
          <p:cNvCxnSpPr>
            <a:cxnSpLocks/>
          </p:cNvCxnSpPr>
          <p:nvPr/>
        </p:nvCxnSpPr>
        <p:spPr bwMode="gray">
          <a:xfrm flipV="1">
            <a:off x="508268" y="3822485"/>
            <a:ext cx="0" cy="276141"/>
          </a:xfrm>
          <a:prstGeom prst="line">
            <a:avLst/>
          </a:prstGeom>
          <a:ln w="25400">
            <a:solidFill>
              <a:schemeClr val="tx2"/>
            </a:solidFill>
            <a:miter lim="800000"/>
            <a:tailEnd type="triangl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BEDA13A-277A-C0E0-1195-FF84F12B8D57}"/>
              </a:ext>
            </a:extLst>
          </p:cNvPr>
          <p:cNvCxnSpPr>
            <a:cxnSpLocks/>
          </p:cNvCxnSpPr>
          <p:nvPr/>
        </p:nvCxnSpPr>
        <p:spPr bwMode="gray">
          <a:xfrm>
            <a:off x="508269" y="5081990"/>
            <a:ext cx="0" cy="238211"/>
          </a:xfrm>
          <a:prstGeom prst="line">
            <a:avLst/>
          </a:prstGeom>
          <a:ln w="25400">
            <a:solidFill>
              <a:schemeClr val="tx2"/>
            </a:solidFill>
            <a:miter lim="800000"/>
            <a:tailEnd type="triangl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A859588-9C0D-7E19-50CB-4DD6CD4664DA}"/>
              </a:ext>
            </a:extLst>
          </p:cNvPr>
          <p:cNvCxnSpPr>
            <a:cxnSpLocks/>
            <a:stCxn id="10" idx="1"/>
          </p:cNvCxnSpPr>
          <p:nvPr/>
        </p:nvCxnSpPr>
        <p:spPr bwMode="gray">
          <a:xfrm flipH="1">
            <a:off x="681857" y="5471688"/>
            <a:ext cx="3178358" cy="0"/>
          </a:xfrm>
          <a:prstGeom prst="line">
            <a:avLst/>
          </a:prstGeom>
          <a:ln w="25400">
            <a:solidFill>
              <a:schemeClr val="tx2"/>
            </a:solidFill>
            <a:miter lim="800000"/>
            <a:tailEnd type="triangle" w="lg" len="med"/>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4272BC92-F231-E2E6-410C-BC1F678A392D}"/>
              </a:ext>
            </a:extLst>
          </p:cNvPr>
          <p:cNvSpPr/>
          <p:nvPr/>
        </p:nvSpPr>
        <p:spPr>
          <a:xfrm rot="16200000">
            <a:off x="-16120" y="4436420"/>
            <a:ext cx="1031920" cy="307777"/>
          </a:xfrm>
          <a:prstGeom prst="rect">
            <a:avLst/>
          </a:prstGeom>
        </p:spPr>
        <p:txBody>
          <a:bodyPr wrap="square">
            <a:spAutoFit/>
          </a:bodyPr>
          <a:lstStyle/>
          <a:p>
            <a:pPr algn="ctr"/>
            <a:r>
              <a:rPr lang="en-US" sz="1400" dirty="0">
                <a:solidFill>
                  <a:schemeClr val="tx2"/>
                </a:solidFill>
              </a:rPr>
              <a:t>Scale Up</a:t>
            </a:r>
          </a:p>
        </p:txBody>
      </p:sp>
      <p:grpSp>
        <p:nvGrpSpPr>
          <p:cNvPr id="16" name="Group 15">
            <a:extLst>
              <a:ext uri="{FF2B5EF4-FFF2-40B4-BE49-F238E27FC236}">
                <a16:creationId xmlns:a16="http://schemas.microsoft.com/office/drawing/2014/main" id="{4D683BB2-5405-2C2F-0095-E873614F686F}"/>
              </a:ext>
            </a:extLst>
          </p:cNvPr>
          <p:cNvGrpSpPr/>
          <p:nvPr/>
        </p:nvGrpSpPr>
        <p:grpSpPr>
          <a:xfrm>
            <a:off x="694724" y="1943826"/>
            <a:ext cx="2302559" cy="387473"/>
            <a:chOff x="429682" y="1440738"/>
            <a:chExt cx="2302559" cy="387473"/>
          </a:xfrm>
          <a:solidFill>
            <a:srgbClr val="EC7700"/>
          </a:solidFill>
        </p:grpSpPr>
        <p:pic>
          <p:nvPicPr>
            <p:cNvPr id="17" name="Graphic 16">
              <a:extLst>
                <a:ext uri="{FF2B5EF4-FFF2-40B4-BE49-F238E27FC236}">
                  <a16:creationId xmlns:a16="http://schemas.microsoft.com/office/drawing/2014/main" id="{46BA8813-AB3C-FA16-2F90-68A5E92E72B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9682" y="1440738"/>
              <a:ext cx="387473" cy="387473"/>
            </a:xfrm>
            <a:prstGeom prst="rect">
              <a:avLst/>
            </a:prstGeom>
          </p:spPr>
        </p:pic>
        <p:pic>
          <p:nvPicPr>
            <p:cNvPr id="18" name="Graphic 17">
              <a:extLst>
                <a:ext uri="{FF2B5EF4-FFF2-40B4-BE49-F238E27FC236}">
                  <a16:creationId xmlns:a16="http://schemas.microsoft.com/office/drawing/2014/main" id="{3B7AC7CB-4CE6-1A9E-A3C4-7569E58773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8453" y="1440738"/>
              <a:ext cx="387473" cy="387473"/>
            </a:xfrm>
            <a:prstGeom prst="rect">
              <a:avLst/>
            </a:prstGeom>
          </p:spPr>
        </p:pic>
        <p:pic>
          <p:nvPicPr>
            <p:cNvPr id="19" name="Graphic 18">
              <a:extLst>
                <a:ext uri="{FF2B5EF4-FFF2-40B4-BE49-F238E27FC236}">
                  <a16:creationId xmlns:a16="http://schemas.microsoft.com/office/drawing/2014/main" id="{9513AA7F-52A1-D16E-EBFE-2A1E8349035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87225" y="1440738"/>
              <a:ext cx="387473" cy="387473"/>
            </a:xfrm>
            <a:prstGeom prst="rect">
              <a:avLst/>
            </a:prstGeom>
          </p:spPr>
        </p:pic>
        <p:pic>
          <p:nvPicPr>
            <p:cNvPr id="20" name="Graphic 19">
              <a:extLst>
                <a:ext uri="{FF2B5EF4-FFF2-40B4-BE49-F238E27FC236}">
                  <a16:creationId xmlns:a16="http://schemas.microsoft.com/office/drawing/2014/main" id="{CC0D8D92-F758-EA92-ADD9-B1AE8CB36BA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65997" y="1440738"/>
              <a:ext cx="387473" cy="387473"/>
            </a:xfrm>
            <a:prstGeom prst="rect">
              <a:avLst/>
            </a:prstGeom>
          </p:spPr>
        </p:pic>
        <p:pic>
          <p:nvPicPr>
            <p:cNvPr id="21" name="Graphic 20">
              <a:extLst>
                <a:ext uri="{FF2B5EF4-FFF2-40B4-BE49-F238E27FC236}">
                  <a16:creationId xmlns:a16="http://schemas.microsoft.com/office/drawing/2014/main" id="{7275B990-9BEA-B290-3EB4-F57389B374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44768" y="1440738"/>
              <a:ext cx="387473" cy="387473"/>
            </a:xfrm>
            <a:prstGeom prst="rect">
              <a:avLst/>
            </a:prstGeom>
          </p:spPr>
        </p:pic>
      </p:grpSp>
      <p:grpSp>
        <p:nvGrpSpPr>
          <p:cNvPr id="22" name="Group 21">
            <a:extLst>
              <a:ext uri="{FF2B5EF4-FFF2-40B4-BE49-F238E27FC236}">
                <a16:creationId xmlns:a16="http://schemas.microsoft.com/office/drawing/2014/main" id="{2F2B02D5-86E2-ECCA-EC18-78AA7196D3B9}"/>
              </a:ext>
            </a:extLst>
          </p:cNvPr>
          <p:cNvGrpSpPr/>
          <p:nvPr/>
        </p:nvGrpSpPr>
        <p:grpSpPr>
          <a:xfrm>
            <a:off x="694724" y="2390991"/>
            <a:ext cx="2302559" cy="387473"/>
            <a:chOff x="429682" y="1440738"/>
            <a:chExt cx="2302559" cy="387473"/>
          </a:xfrm>
          <a:solidFill>
            <a:srgbClr val="EC7700"/>
          </a:solidFill>
        </p:grpSpPr>
        <p:pic>
          <p:nvPicPr>
            <p:cNvPr id="23" name="Graphic 22">
              <a:extLst>
                <a:ext uri="{FF2B5EF4-FFF2-40B4-BE49-F238E27FC236}">
                  <a16:creationId xmlns:a16="http://schemas.microsoft.com/office/drawing/2014/main" id="{F683E8E8-800B-88F9-4540-80E6175122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9682" y="1440738"/>
              <a:ext cx="387473" cy="387473"/>
            </a:xfrm>
            <a:prstGeom prst="rect">
              <a:avLst/>
            </a:prstGeom>
          </p:spPr>
        </p:pic>
        <p:pic>
          <p:nvPicPr>
            <p:cNvPr id="24" name="Graphic 23">
              <a:extLst>
                <a:ext uri="{FF2B5EF4-FFF2-40B4-BE49-F238E27FC236}">
                  <a16:creationId xmlns:a16="http://schemas.microsoft.com/office/drawing/2014/main" id="{0E025BC9-2B9D-DF63-F37C-34FF6034EA6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8453" y="1440738"/>
              <a:ext cx="387473" cy="387473"/>
            </a:xfrm>
            <a:prstGeom prst="rect">
              <a:avLst/>
            </a:prstGeom>
          </p:spPr>
        </p:pic>
        <p:pic>
          <p:nvPicPr>
            <p:cNvPr id="25" name="Graphic 24">
              <a:extLst>
                <a:ext uri="{FF2B5EF4-FFF2-40B4-BE49-F238E27FC236}">
                  <a16:creationId xmlns:a16="http://schemas.microsoft.com/office/drawing/2014/main" id="{FDD68780-4579-1AA7-88BE-00ECEC80BAF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87225" y="1440738"/>
              <a:ext cx="387473" cy="387473"/>
            </a:xfrm>
            <a:prstGeom prst="rect">
              <a:avLst/>
            </a:prstGeom>
          </p:spPr>
        </p:pic>
        <p:pic>
          <p:nvPicPr>
            <p:cNvPr id="26" name="Graphic 25">
              <a:extLst>
                <a:ext uri="{FF2B5EF4-FFF2-40B4-BE49-F238E27FC236}">
                  <a16:creationId xmlns:a16="http://schemas.microsoft.com/office/drawing/2014/main" id="{D6CC08DD-1A46-754B-E565-1DD7E5B9F25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65997" y="1440738"/>
              <a:ext cx="387473" cy="387473"/>
            </a:xfrm>
            <a:prstGeom prst="rect">
              <a:avLst/>
            </a:prstGeom>
          </p:spPr>
        </p:pic>
        <p:pic>
          <p:nvPicPr>
            <p:cNvPr id="27" name="Graphic 26">
              <a:extLst>
                <a:ext uri="{FF2B5EF4-FFF2-40B4-BE49-F238E27FC236}">
                  <a16:creationId xmlns:a16="http://schemas.microsoft.com/office/drawing/2014/main" id="{F7890328-5A7F-F569-5E8E-99FAA8B6BBB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44768" y="1440738"/>
              <a:ext cx="387473" cy="387473"/>
            </a:xfrm>
            <a:prstGeom prst="rect">
              <a:avLst/>
            </a:prstGeom>
          </p:spPr>
        </p:pic>
      </p:grpSp>
      <p:grpSp>
        <p:nvGrpSpPr>
          <p:cNvPr id="28" name="Group 27">
            <a:extLst>
              <a:ext uri="{FF2B5EF4-FFF2-40B4-BE49-F238E27FC236}">
                <a16:creationId xmlns:a16="http://schemas.microsoft.com/office/drawing/2014/main" id="{FDF02332-C224-E595-231D-AC2D8670AD61}"/>
              </a:ext>
            </a:extLst>
          </p:cNvPr>
          <p:cNvGrpSpPr/>
          <p:nvPr/>
        </p:nvGrpSpPr>
        <p:grpSpPr>
          <a:xfrm>
            <a:off x="694724" y="2838156"/>
            <a:ext cx="2302559" cy="387473"/>
            <a:chOff x="429682" y="1440738"/>
            <a:chExt cx="2302559" cy="387473"/>
          </a:xfrm>
          <a:solidFill>
            <a:schemeClr val="accent3"/>
          </a:solidFill>
        </p:grpSpPr>
        <p:pic>
          <p:nvPicPr>
            <p:cNvPr id="29" name="Graphic 28">
              <a:extLst>
                <a:ext uri="{FF2B5EF4-FFF2-40B4-BE49-F238E27FC236}">
                  <a16:creationId xmlns:a16="http://schemas.microsoft.com/office/drawing/2014/main" id="{94B3A08E-1081-5995-DC92-E266AC4D28B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9682" y="1440738"/>
              <a:ext cx="387473" cy="387473"/>
            </a:xfrm>
            <a:prstGeom prst="rect">
              <a:avLst/>
            </a:prstGeom>
          </p:spPr>
        </p:pic>
        <p:pic>
          <p:nvPicPr>
            <p:cNvPr id="30" name="Graphic 29">
              <a:extLst>
                <a:ext uri="{FF2B5EF4-FFF2-40B4-BE49-F238E27FC236}">
                  <a16:creationId xmlns:a16="http://schemas.microsoft.com/office/drawing/2014/main" id="{93E0F1A9-A6DE-331D-99A3-1AAA2DAD769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8453" y="1440738"/>
              <a:ext cx="387473" cy="387473"/>
            </a:xfrm>
            <a:prstGeom prst="rect">
              <a:avLst/>
            </a:prstGeom>
          </p:spPr>
        </p:pic>
        <p:pic>
          <p:nvPicPr>
            <p:cNvPr id="31" name="Graphic 30">
              <a:extLst>
                <a:ext uri="{FF2B5EF4-FFF2-40B4-BE49-F238E27FC236}">
                  <a16:creationId xmlns:a16="http://schemas.microsoft.com/office/drawing/2014/main" id="{C2F6C8F3-F8CB-C69F-BCAE-E2013E5315D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87225" y="1440738"/>
              <a:ext cx="387473" cy="387473"/>
            </a:xfrm>
            <a:prstGeom prst="rect">
              <a:avLst/>
            </a:prstGeom>
          </p:spPr>
        </p:pic>
        <p:pic>
          <p:nvPicPr>
            <p:cNvPr id="32" name="Graphic 31">
              <a:extLst>
                <a:ext uri="{FF2B5EF4-FFF2-40B4-BE49-F238E27FC236}">
                  <a16:creationId xmlns:a16="http://schemas.microsoft.com/office/drawing/2014/main" id="{9D90953D-2FC8-13EC-47B7-A911D052EEA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997" y="1440738"/>
              <a:ext cx="387473" cy="387473"/>
            </a:xfrm>
            <a:prstGeom prst="rect">
              <a:avLst/>
            </a:prstGeom>
          </p:spPr>
        </p:pic>
        <p:pic>
          <p:nvPicPr>
            <p:cNvPr id="33" name="Graphic 32">
              <a:extLst>
                <a:ext uri="{FF2B5EF4-FFF2-40B4-BE49-F238E27FC236}">
                  <a16:creationId xmlns:a16="http://schemas.microsoft.com/office/drawing/2014/main" id="{F425B820-7259-E8FF-B76A-B8C4C3D77DB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44768" y="1440738"/>
              <a:ext cx="387473" cy="387473"/>
            </a:xfrm>
            <a:prstGeom prst="rect">
              <a:avLst/>
            </a:prstGeom>
          </p:spPr>
        </p:pic>
      </p:grpSp>
      <p:grpSp>
        <p:nvGrpSpPr>
          <p:cNvPr id="34" name="Group 33">
            <a:extLst>
              <a:ext uri="{FF2B5EF4-FFF2-40B4-BE49-F238E27FC236}">
                <a16:creationId xmlns:a16="http://schemas.microsoft.com/office/drawing/2014/main" id="{FB250F35-96B2-10F4-18BF-7FD24470959F}"/>
              </a:ext>
            </a:extLst>
          </p:cNvPr>
          <p:cNvGrpSpPr/>
          <p:nvPr/>
        </p:nvGrpSpPr>
        <p:grpSpPr>
          <a:xfrm>
            <a:off x="694724" y="3285322"/>
            <a:ext cx="2302559" cy="387473"/>
            <a:chOff x="429682" y="1440738"/>
            <a:chExt cx="2302559" cy="387473"/>
          </a:xfrm>
          <a:solidFill>
            <a:schemeClr val="accent3"/>
          </a:solidFill>
        </p:grpSpPr>
        <p:pic>
          <p:nvPicPr>
            <p:cNvPr id="35" name="Graphic 34">
              <a:extLst>
                <a:ext uri="{FF2B5EF4-FFF2-40B4-BE49-F238E27FC236}">
                  <a16:creationId xmlns:a16="http://schemas.microsoft.com/office/drawing/2014/main" id="{4AE4E85A-4665-4F82-7CD6-2480AF2DC3F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9682" y="1440738"/>
              <a:ext cx="387473" cy="387473"/>
            </a:xfrm>
            <a:prstGeom prst="rect">
              <a:avLst/>
            </a:prstGeom>
          </p:spPr>
        </p:pic>
        <p:pic>
          <p:nvPicPr>
            <p:cNvPr id="36" name="Graphic 35">
              <a:extLst>
                <a:ext uri="{FF2B5EF4-FFF2-40B4-BE49-F238E27FC236}">
                  <a16:creationId xmlns:a16="http://schemas.microsoft.com/office/drawing/2014/main" id="{B85AA8A5-4E3B-9732-E21D-50799368D41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8453" y="1440738"/>
              <a:ext cx="387473" cy="387473"/>
            </a:xfrm>
            <a:prstGeom prst="rect">
              <a:avLst/>
            </a:prstGeom>
          </p:spPr>
        </p:pic>
        <p:pic>
          <p:nvPicPr>
            <p:cNvPr id="37" name="Graphic 36">
              <a:extLst>
                <a:ext uri="{FF2B5EF4-FFF2-40B4-BE49-F238E27FC236}">
                  <a16:creationId xmlns:a16="http://schemas.microsoft.com/office/drawing/2014/main" id="{63F1916F-2D38-7C9F-9718-0B406F9A7F2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87225" y="1440738"/>
              <a:ext cx="387473" cy="387473"/>
            </a:xfrm>
            <a:prstGeom prst="rect">
              <a:avLst/>
            </a:prstGeom>
          </p:spPr>
        </p:pic>
        <p:pic>
          <p:nvPicPr>
            <p:cNvPr id="38" name="Graphic 37">
              <a:extLst>
                <a:ext uri="{FF2B5EF4-FFF2-40B4-BE49-F238E27FC236}">
                  <a16:creationId xmlns:a16="http://schemas.microsoft.com/office/drawing/2014/main" id="{61337E82-509D-743B-1B47-F7ECAE7B03F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997" y="1440738"/>
              <a:ext cx="387473" cy="387473"/>
            </a:xfrm>
            <a:prstGeom prst="rect">
              <a:avLst/>
            </a:prstGeom>
          </p:spPr>
        </p:pic>
        <p:pic>
          <p:nvPicPr>
            <p:cNvPr id="39" name="Graphic 38">
              <a:extLst>
                <a:ext uri="{FF2B5EF4-FFF2-40B4-BE49-F238E27FC236}">
                  <a16:creationId xmlns:a16="http://schemas.microsoft.com/office/drawing/2014/main" id="{7CE6029F-4F76-528E-F321-61B93BE2798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44768" y="1440738"/>
              <a:ext cx="387473" cy="387473"/>
            </a:xfrm>
            <a:prstGeom prst="rect">
              <a:avLst/>
            </a:prstGeom>
          </p:spPr>
        </p:pic>
      </p:grpSp>
      <p:grpSp>
        <p:nvGrpSpPr>
          <p:cNvPr id="40" name="Group 39">
            <a:extLst>
              <a:ext uri="{FF2B5EF4-FFF2-40B4-BE49-F238E27FC236}">
                <a16:creationId xmlns:a16="http://schemas.microsoft.com/office/drawing/2014/main" id="{40CE2023-8AC1-5D04-784D-DD7B56319021}"/>
              </a:ext>
            </a:extLst>
          </p:cNvPr>
          <p:cNvGrpSpPr/>
          <p:nvPr/>
        </p:nvGrpSpPr>
        <p:grpSpPr>
          <a:xfrm>
            <a:off x="3192202" y="1943826"/>
            <a:ext cx="2302559" cy="387473"/>
            <a:chOff x="429682" y="1440738"/>
            <a:chExt cx="2302559" cy="387473"/>
          </a:xfrm>
          <a:solidFill>
            <a:srgbClr val="EC7700"/>
          </a:solidFill>
        </p:grpSpPr>
        <p:pic>
          <p:nvPicPr>
            <p:cNvPr id="41" name="Graphic 40">
              <a:extLst>
                <a:ext uri="{FF2B5EF4-FFF2-40B4-BE49-F238E27FC236}">
                  <a16:creationId xmlns:a16="http://schemas.microsoft.com/office/drawing/2014/main" id="{D650ED53-DD89-F89E-8285-8B1DF68003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9682" y="1440738"/>
              <a:ext cx="387473" cy="387473"/>
            </a:xfrm>
            <a:prstGeom prst="rect">
              <a:avLst/>
            </a:prstGeom>
          </p:spPr>
        </p:pic>
        <p:pic>
          <p:nvPicPr>
            <p:cNvPr id="42" name="Graphic 41">
              <a:extLst>
                <a:ext uri="{FF2B5EF4-FFF2-40B4-BE49-F238E27FC236}">
                  <a16:creationId xmlns:a16="http://schemas.microsoft.com/office/drawing/2014/main" id="{255B677F-3572-1A5F-72D9-DF9445DFDB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8453" y="1440738"/>
              <a:ext cx="387473" cy="387473"/>
            </a:xfrm>
            <a:prstGeom prst="rect">
              <a:avLst/>
            </a:prstGeom>
          </p:spPr>
        </p:pic>
        <p:pic>
          <p:nvPicPr>
            <p:cNvPr id="43" name="Graphic 42">
              <a:extLst>
                <a:ext uri="{FF2B5EF4-FFF2-40B4-BE49-F238E27FC236}">
                  <a16:creationId xmlns:a16="http://schemas.microsoft.com/office/drawing/2014/main" id="{721BA337-1EBD-FE89-C85A-B57CCD9C05D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87225" y="1440738"/>
              <a:ext cx="387473" cy="387473"/>
            </a:xfrm>
            <a:prstGeom prst="rect">
              <a:avLst/>
            </a:prstGeom>
          </p:spPr>
        </p:pic>
        <p:pic>
          <p:nvPicPr>
            <p:cNvPr id="44" name="Graphic 43">
              <a:extLst>
                <a:ext uri="{FF2B5EF4-FFF2-40B4-BE49-F238E27FC236}">
                  <a16:creationId xmlns:a16="http://schemas.microsoft.com/office/drawing/2014/main" id="{167DCD59-71A2-8C7F-BB77-7480414B81B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65997" y="1440738"/>
              <a:ext cx="387473" cy="387473"/>
            </a:xfrm>
            <a:prstGeom prst="rect">
              <a:avLst/>
            </a:prstGeom>
          </p:spPr>
        </p:pic>
        <p:pic>
          <p:nvPicPr>
            <p:cNvPr id="45" name="Graphic 44">
              <a:extLst>
                <a:ext uri="{FF2B5EF4-FFF2-40B4-BE49-F238E27FC236}">
                  <a16:creationId xmlns:a16="http://schemas.microsoft.com/office/drawing/2014/main" id="{FD655765-D9A1-B154-F78F-9CE9D0F221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44768" y="1440738"/>
              <a:ext cx="387473" cy="387473"/>
            </a:xfrm>
            <a:prstGeom prst="rect">
              <a:avLst/>
            </a:prstGeom>
          </p:spPr>
        </p:pic>
      </p:grpSp>
      <p:grpSp>
        <p:nvGrpSpPr>
          <p:cNvPr id="46" name="Group 45">
            <a:extLst>
              <a:ext uri="{FF2B5EF4-FFF2-40B4-BE49-F238E27FC236}">
                <a16:creationId xmlns:a16="http://schemas.microsoft.com/office/drawing/2014/main" id="{0BE30D6C-60C1-5A9F-D10D-2BDE400A00EB}"/>
              </a:ext>
            </a:extLst>
          </p:cNvPr>
          <p:cNvGrpSpPr/>
          <p:nvPr/>
        </p:nvGrpSpPr>
        <p:grpSpPr>
          <a:xfrm>
            <a:off x="3192202" y="2390991"/>
            <a:ext cx="2302559" cy="387473"/>
            <a:chOff x="429682" y="1440738"/>
            <a:chExt cx="2302559" cy="387473"/>
          </a:xfrm>
          <a:solidFill>
            <a:srgbClr val="EC7700"/>
          </a:solidFill>
        </p:grpSpPr>
        <p:pic>
          <p:nvPicPr>
            <p:cNvPr id="47" name="Graphic 46">
              <a:extLst>
                <a:ext uri="{FF2B5EF4-FFF2-40B4-BE49-F238E27FC236}">
                  <a16:creationId xmlns:a16="http://schemas.microsoft.com/office/drawing/2014/main" id="{395D74EC-AF8C-7D10-4E76-C1E93218AB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9682" y="1440738"/>
              <a:ext cx="387473" cy="387473"/>
            </a:xfrm>
            <a:prstGeom prst="rect">
              <a:avLst/>
            </a:prstGeom>
          </p:spPr>
        </p:pic>
        <p:pic>
          <p:nvPicPr>
            <p:cNvPr id="48" name="Graphic 47">
              <a:extLst>
                <a:ext uri="{FF2B5EF4-FFF2-40B4-BE49-F238E27FC236}">
                  <a16:creationId xmlns:a16="http://schemas.microsoft.com/office/drawing/2014/main" id="{7295D617-913A-ED85-0545-0669D4A97C7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8453" y="1440738"/>
              <a:ext cx="387473" cy="387473"/>
            </a:xfrm>
            <a:prstGeom prst="rect">
              <a:avLst/>
            </a:prstGeom>
          </p:spPr>
        </p:pic>
        <p:pic>
          <p:nvPicPr>
            <p:cNvPr id="49" name="Graphic 48">
              <a:extLst>
                <a:ext uri="{FF2B5EF4-FFF2-40B4-BE49-F238E27FC236}">
                  <a16:creationId xmlns:a16="http://schemas.microsoft.com/office/drawing/2014/main" id="{57B4DC99-DF62-0B3F-1A86-85F39FCDF3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87225" y="1440738"/>
              <a:ext cx="387473" cy="387473"/>
            </a:xfrm>
            <a:prstGeom prst="rect">
              <a:avLst/>
            </a:prstGeom>
          </p:spPr>
        </p:pic>
        <p:pic>
          <p:nvPicPr>
            <p:cNvPr id="50" name="Graphic 49">
              <a:extLst>
                <a:ext uri="{FF2B5EF4-FFF2-40B4-BE49-F238E27FC236}">
                  <a16:creationId xmlns:a16="http://schemas.microsoft.com/office/drawing/2014/main" id="{307F0C2B-F5C9-E1FE-E01F-5978D58AE9D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65997" y="1440738"/>
              <a:ext cx="387473" cy="387473"/>
            </a:xfrm>
            <a:prstGeom prst="rect">
              <a:avLst/>
            </a:prstGeom>
          </p:spPr>
        </p:pic>
        <p:pic>
          <p:nvPicPr>
            <p:cNvPr id="51" name="Graphic 50">
              <a:extLst>
                <a:ext uri="{FF2B5EF4-FFF2-40B4-BE49-F238E27FC236}">
                  <a16:creationId xmlns:a16="http://schemas.microsoft.com/office/drawing/2014/main" id="{953D1A6F-0981-8433-B01C-27DBA982024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44768" y="1440738"/>
              <a:ext cx="387473" cy="387473"/>
            </a:xfrm>
            <a:prstGeom prst="rect">
              <a:avLst/>
            </a:prstGeom>
          </p:spPr>
        </p:pic>
      </p:grpSp>
      <p:grpSp>
        <p:nvGrpSpPr>
          <p:cNvPr id="52" name="Group 51">
            <a:extLst>
              <a:ext uri="{FF2B5EF4-FFF2-40B4-BE49-F238E27FC236}">
                <a16:creationId xmlns:a16="http://schemas.microsoft.com/office/drawing/2014/main" id="{4576CFFB-9119-4969-4F0B-4464DB2631D1}"/>
              </a:ext>
            </a:extLst>
          </p:cNvPr>
          <p:cNvGrpSpPr/>
          <p:nvPr/>
        </p:nvGrpSpPr>
        <p:grpSpPr>
          <a:xfrm>
            <a:off x="3192202" y="2838156"/>
            <a:ext cx="2302559" cy="387473"/>
            <a:chOff x="429682" y="1440738"/>
            <a:chExt cx="2302559" cy="387473"/>
          </a:xfrm>
          <a:solidFill>
            <a:schemeClr val="accent3"/>
          </a:solidFill>
        </p:grpSpPr>
        <p:pic>
          <p:nvPicPr>
            <p:cNvPr id="53" name="Graphic 52">
              <a:extLst>
                <a:ext uri="{FF2B5EF4-FFF2-40B4-BE49-F238E27FC236}">
                  <a16:creationId xmlns:a16="http://schemas.microsoft.com/office/drawing/2014/main" id="{8EB7294C-DFC7-44F4-798E-25FB4696E7B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9682" y="1440738"/>
              <a:ext cx="387473" cy="387473"/>
            </a:xfrm>
            <a:prstGeom prst="rect">
              <a:avLst/>
            </a:prstGeom>
          </p:spPr>
        </p:pic>
        <p:pic>
          <p:nvPicPr>
            <p:cNvPr id="54" name="Graphic 53">
              <a:extLst>
                <a:ext uri="{FF2B5EF4-FFF2-40B4-BE49-F238E27FC236}">
                  <a16:creationId xmlns:a16="http://schemas.microsoft.com/office/drawing/2014/main" id="{95853D16-C204-364A-64C2-D0BD29D3B8D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8453" y="1440738"/>
              <a:ext cx="387473" cy="387473"/>
            </a:xfrm>
            <a:prstGeom prst="rect">
              <a:avLst/>
            </a:prstGeom>
          </p:spPr>
        </p:pic>
        <p:pic>
          <p:nvPicPr>
            <p:cNvPr id="55" name="Graphic 54">
              <a:extLst>
                <a:ext uri="{FF2B5EF4-FFF2-40B4-BE49-F238E27FC236}">
                  <a16:creationId xmlns:a16="http://schemas.microsoft.com/office/drawing/2014/main" id="{843D38FE-9B57-09DB-6667-1745D64D75C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87225" y="1440738"/>
              <a:ext cx="387473" cy="387473"/>
            </a:xfrm>
            <a:prstGeom prst="rect">
              <a:avLst/>
            </a:prstGeom>
          </p:spPr>
        </p:pic>
        <p:pic>
          <p:nvPicPr>
            <p:cNvPr id="56" name="Graphic 55">
              <a:extLst>
                <a:ext uri="{FF2B5EF4-FFF2-40B4-BE49-F238E27FC236}">
                  <a16:creationId xmlns:a16="http://schemas.microsoft.com/office/drawing/2014/main" id="{CC4551DF-0CB0-478E-51BE-F59693CD30D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997" y="1440738"/>
              <a:ext cx="387473" cy="387473"/>
            </a:xfrm>
            <a:prstGeom prst="rect">
              <a:avLst/>
            </a:prstGeom>
          </p:spPr>
        </p:pic>
        <p:pic>
          <p:nvPicPr>
            <p:cNvPr id="57" name="Graphic 56">
              <a:extLst>
                <a:ext uri="{FF2B5EF4-FFF2-40B4-BE49-F238E27FC236}">
                  <a16:creationId xmlns:a16="http://schemas.microsoft.com/office/drawing/2014/main" id="{3E9DC743-40DD-5825-13CF-5A64844F4ED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44768" y="1440738"/>
              <a:ext cx="387473" cy="387473"/>
            </a:xfrm>
            <a:prstGeom prst="rect">
              <a:avLst/>
            </a:prstGeom>
          </p:spPr>
        </p:pic>
      </p:grpSp>
      <p:grpSp>
        <p:nvGrpSpPr>
          <p:cNvPr id="58" name="Group 57">
            <a:extLst>
              <a:ext uri="{FF2B5EF4-FFF2-40B4-BE49-F238E27FC236}">
                <a16:creationId xmlns:a16="http://schemas.microsoft.com/office/drawing/2014/main" id="{22900C4B-8EB7-B18C-C19B-0FAE6AD515F0}"/>
              </a:ext>
            </a:extLst>
          </p:cNvPr>
          <p:cNvGrpSpPr/>
          <p:nvPr/>
        </p:nvGrpSpPr>
        <p:grpSpPr>
          <a:xfrm>
            <a:off x="3192202" y="3285322"/>
            <a:ext cx="2302559" cy="387473"/>
            <a:chOff x="429682" y="1440738"/>
            <a:chExt cx="2302559" cy="387473"/>
          </a:xfrm>
          <a:solidFill>
            <a:schemeClr val="accent3"/>
          </a:solidFill>
        </p:grpSpPr>
        <p:pic>
          <p:nvPicPr>
            <p:cNvPr id="59" name="Graphic 58">
              <a:extLst>
                <a:ext uri="{FF2B5EF4-FFF2-40B4-BE49-F238E27FC236}">
                  <a16:creationId xmlns:a16="http://schemas.microsoft.com/office/drawing/2014/main" id="{46D0CE74-7C75-E7CF-D58D-D941692B776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9682" y="1440738"/>
              <a:ext cx="387473" cy="387473"/>
            </a:xfrm>
            <a:prstGeom prst="rect">
              <a:avLst/>
            </a:prstGeom>
          </p:spPr>
        </p:pic>
        <p:pic>
          <p:nvPicPr>
            <p:cNvPr id="60" name="Graphic 59">
              <a:extLst>
                <a:ext uri="{FF2B5EF4-FFF2-40B4-BE49-F238E27FC236}">
                  <a16:creationId xmlns:a16="http://schemas.microsoft.com/office/drawing/2014/main" id="{077F4E6C-844A-4A09-E9CB-82C21E0C4B6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8453" y="1440738"/>
              <a:ext cx="387473" cy="387473"/>
            </a:xfrm>
            <a:prstGeom prst="rect">
              <a:avLst/>
            </a:prstGeom>
          </p:spPr>
        </p:pic>
        <p:pic>
          <p:nvPicPr>
            <p:cNvPr id="61" name="Graphic 60">
              <a:extLst>
                <a:ext uri="{FF2B5EF4-FFF2-40B4-BE49-F238E27FC236}">
                  <a16:creationId xmlns:a16="http://schemas.microsoft.com/office/drawing/2014/main" id="{49AE70A6-8335-510D-3267-4CB67DDBF93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87225" y="1440738"/>
              <a:ext cx="387473" cy="387473"/>
            </a:xfrm>
            <a:prstGeom prst="rect">
              <a:avLst/>
            </a:prstGeom>
          </p:spPr>
        </p:pic>
        <p:pic>
          <p:nvPicPr>
            <p:cNvPr id="62" name="Graphic 61">
              <a:extLst>
                <a:ext uri="{FF2B5EF4-FFF2-40B4-BE49-F238E27FC236}">
                  <a16:creationId xmlns:a16="http://schemas.microsoft.com/office/drawing/2014/main" id="{AF8F99C7-6BB7-1582-AE0C-647FE1D5895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997" y="1440738"/>
              <a:ext cx="387473" cy="387473"/>
            </a:xfrm>
            <a:prstGeom prst="rect">
              <a:avLst/>
            </a:prstGeom>
          </p:spPr>
        </p:pic>
        <p:pic>
          <p:nvPicPr>
            <p:cNvPr id="63" name="Graphic 62">
              <a:extLst>
                <a:ext uri="{FF2B5EF4-FFF2-40B4-BE49-F238E27FC236}">
                  <a16:creationId xmlns:a16="http://schemas.microsoft.com/office/drawing/2014/main" id="{0B91164F-C951-4613-64D3-DFEB2095F28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44768" y="1440738"/>
              <a:ext cx="387473" cy="387473"/>
            </a:xfrm>
            <a:prstGeom prst="rect">
              <a:avLst/>
            </a:prstGeom>
          </p:spPr>
        </p:pic>
      </p:grpSp>
      <p:grpSp>
        <p:nvGrpSpPr>
          <p:cNvPr id="64" name="Group 63">
            <a:extLst>
              <a:ext uri="{FF2B5EF4-FFF2-40B4-BE49-F238E27FC236}">
                <a16:creationId xmlns:a16="http://schemas.microsoft.com/office/drawing/2014/main" id="{F6C67297-76BA-FE9C-C239-FE0A33DF8BC5}"/>
              </a:ext>
            </a:extLst>
          </p:cNvPr>
          <p:cNvGrpSpPr/>
          <p:nvPr/>
        </p:nvGrpSpPr>
        <p:grpSpPr>
          <a:xfrm>
            <a:off x="5663465" y="1943826"/>
            <a:ext cx="2302559" cy="1728969"/>
            <a:chOff x="429682" y="1943826"/>
            <a:chExt cx="2302559" cy="1728969"/>
          </a:xfrm>
          <a:solidFill>
            <a:srgbClr val="EC7700"/>
          </a:solidFill>
        </p:grpSpPr>
        <p:grpSp>
          <p:nvGrpSpPr>
            <p:cNvPr id="65" name="Group 64">
              <a:extLst>
                <a:ext uri="{FF2B5EF4-FFF2-40B4-BE49-F238E27FC236}">
                  <a16:creationId xmlns:a16="http://schemas.microsoft.com/office/drawing/2014/main" id="{268736FC-A3D6-2B86-AF49-E5C5B7F56225}"/>
                </a:ext>
              </a:extLst>
            </p:cNvPr>
            <p:cNvGrpSpPr/>
            <p:nvPr/>
          </p:nvGrpSpPr>
          <p:grpSpPr>
            <a:xfrm>
              <a:off x="429682" y="1943826"/>
              <a:ext cx="2302559" cy="387473"/>
              <a:chOff x="429682" y="1440738"/>
              <a:chExt cx="2302559" cy="387473"/>
            </a:xfrm>
            <a:grpFill/>
          </p:grpSpPr>
          <p:pic>
            <p:nvPicPr>
              <p:cNvPr id="84" name="Graphic 83">
                <a:extLst>
                  <a:ext uri="{FF2B5EF4-FFF2-40B4-BE49-F238E27FC236}">
                    <a16:creationId xmlns:a16="http://schemas.microsoft.com/office/drawing/2014/main" id="{8F5D2801-D237-4BD9-8837-4CBC58C7C69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9682" y="1440738"/>
                <a:ext cx="387473" cy="387473"/>
              </a:xfrm>
              <a:prstGeom prst="rect">
                <a:avLst/>
              </a:prstGeom>
            </p:spPr>
          </p:pic>
          <p:pic>
            <p:nvPicPr>
              <p:cNvPr id="85" name="Graphic 84">
                <a:extLst>
                  <a:ext uri="{FF2B5EF4-FFF2-40B4-BE49-F238E27FC236}">
                    <a16:creationId xmlns:a16="http://schemas.microsoft.com/office/drawing/2014/main" id="{B83CC8AA-1BA2-895F-D491-2585235590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8453" y="1440738"/>
                <a:ext cx="387473" cy="387473"/>
              </a:xfrm>
              <a:prstGeom prst="rect">
                <a:avLst/>
              </a:prstGeom>
            </p:spPr>
          </p:pic>
          <p:pic>
            <p:nvPicPr>
              <p:cNvPr id="86" name="Graphic 85">
                <a:extLst>
                  <a:ext uri="{FF2B5EF4-FFF2-40B4-BE49-F238E27FC236}">
                    <a16:creationId xmlns:a16="http://schemas.microsoft.com/office/drawing/2014/main" id="{BF5E8D1A-F13C-646D-1867-1703D84FE8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87225" y="1440738"/>
                <a:ext cx="387473" cy="387473"/>
              </a:xfrm>
              <a:prstGeom prst="rect">
                <a:avLst/>
              </a:prstGeom>
            </p:spPr>
          </p:pic>
          <p:pic>
            <p:nvPicPr>
              <p:cNvPr id="87" name="Graphic 86">
                <a:extLst>
                  <a:ext uri="{FF2B5EF4-FFF2-40B4-BE49-F238E27FC236}">
                    <a16:creationId xmlns:a16="http://schemas.microsoft.com/office/drawing/2014/main" id="{5702F317-DF1E-A732-4603-75A3FB86C10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65997" y="1440738"/>
                <a:ext cx="387473" cy="387473"/>
              </a:xfrm>
              <a:prstGeom prst="rect">
                <a:avLst/>
              </a:prstGeom>
            </p:spPr>
          </p:pic>
          <p:pic>
            <p:nvPicPr>
              <p:cNvPr id="88" name="Graphic 87">
                <a:extLst>
                  <a:ext uri="{FF2B5EF4-FFF2-40B4-BE49-F238E27FC236}">
                    <a16:creationId xmlns:a16="http://schemas.microsoft.com/office/drawing/2014/main" id="{9FED5EC3-3FE4-C575-6936-2D5D960BA82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44768" y="1440738"/>
                <a:ext cx="387473" cy="387473"/>
              </a:xfrm>
              <a:prstGeom prst="rect">
                <a:avLst/>
              </a:prstGeom>
            </p:spPr>
          </p:pic>
        </p:grpSp>
        <p:grpSp>
          <p:nvGrpSpPr>
            <p:cNvPr id="66" name="Group 65">
              <a:extLst>
                <a:ext uri="{FF2B5EF4-FFF2-40B4-BE49-F238E27FC236}">
                  <a16:creationId xmlns:a16="http://schemas.microsoft.com/office/drawing/2014/main" id="{E7CB4176-9E16-F4B8-6C98-B8959DD4A42B}"/>
                </a:ext>
              </a:extLst>
            </p:cNvPr>
            <p:cNvGrpSpPr/>
            <p:nvPr/>
          </p:nvGrpSpPr>
          <p:grpSpPr>
            <a:xfrm>
              <a:off x="429682" y="2390991"/>
              <a:ext cx="2302559" cy="387473"/>
              <a:chOff x="429682" y="1440738"/>
              <a:chExt cx="2302559" cy="387473"/>
            </a:xfrm>
            <a:grpFill/>
          </p:grpSpPr>
          <p:pic>
            <p:nvPicPr>
              <p:cNvPr id="79" name="Graphic 78">
                <a:extLst>
                  <a:ext uri="{FF2B5EF4-FFF2-40B4-BE49-F238E27FC236}">
                    <a16:creationId xmlns:a16="http://schemas.microsoft.com/office/drawing/2014/main" id="{323671F0-52F7-E668-CECE-A6E6CE352E4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9682" y="1440738"/>
                <a:ext cx="387473" cy="387473"/>
              </a:xfrm>
              <a:prstGeom prst="rect">
                <a:avLst/>
              </a:prstGeom>
            </p:spPr>
          </p:pic>
          <p:pic>
            <p:nvPicPr>
              <p:cNvPr id="80" name="Graphic 79">
                <a:extLst>
                  <a:ext uri="{FF2B5EF4-FFF2-40B4-BE49-F238E27FC236}">
                    <a16:creationId xmlns:a16="http://schemas.microsoft.com/office/drawing/2014/main" id="{371C7773-F741-A255-6E13-ED05133D97A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8453" y="1440738"/>
                <a:ext cx="387473" cy="387473"/>
              </a:xfrm>
              <a:prstGeom prst="rect">
                <a:avLst/>
              </a:prstGeom>
            </p:spPr>
          </p:pic>
          <p:pic>
            <p:nvPicPr>
              <p:cNvPr id="81" name="Graphic 80">
                <a:extLst>
                  <a:ext uri="{FF2B5EF4-FFF2-40B4-BE49-F238E27FC236}">
                    <a16:creationId xmlns:a16="http://schemas.microsoft.com/office/drawing/2014/main" id="{572DFD35-71EB-DBEA-CE47-AE15D03842A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87225" y="1440738"/>
                <a:ext cx="387473" cy="387473"/>
              </a:xfrm>
              <a:prstGeom prst="rect">
                <a:avLst/>
              </a:prstGeom>
            </p:spPr>
          </p:pic>
          <p:pic>
            <p:nvPicPr>
              <p:cNvPr id="82" name="Graphic 81">
                <a:extLst>
                  <a:ext uri="{FF2B5EF4-FFF2-40B4-BE49-F238E27FC236}">
                    <a16:creationId xmlns:a16="http://schemas.microsoft.com/office/drawing/2014/main" id="{70789D39-E191-DB7D-4B76-504F8676AF7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65997" y="1440738"/>
                <a:ext cx="387473" cy="387473"/>
              </a:xfrm>
              <a:prstGeom prst="rect">
                <a:avLst/>
              </a:prstGeom>
            </p:spPr>
          </p:pic>
          <p:pic>
            <p:nvPicPr>
              <p:cNvPr id="83" name="Graphic 82">
                <a:extLst>
                  <a:ext uri="{FF2B5EF4-FFF2-40B4-BE49-F238E27FC236}">
                    <a16:creationId xmlns:a16="http://schemas.microsoft.com/office/drawing/2014/main" id="{366167DA-FC81-FADB-297D-12AF1B8E6D7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44768" y="1440738"/>
                <a:ext cx="387473" cy="387473"/>
              </a:xfrm>
              <a:prstGeom prst="rect">
                <a:avLst/>
              </a:prstGeom>
            </p:spPr>
          </p:pic>
        </p:grpSp>
        <p:grpSp>
          <p:nvGrpSpPr>
            <p:cNvPr id="67" name="Group 66">
              <a:extLst>
                <a:ext uri="{FF2B5EF4-FFF2-40B4-BE49-F238E27FC236}">
                  <a16:creationId xmlns:a16="http://schemas.microsoft.com/office/drawing/2014/main" id="{161721EC-1238-875B-2759-856DC4A1D552}"/>
                </a:ext>
              </a:extLst>
            </p:cNvPr>
            <p:cNvGrpSpPr/>
            <p:nvPr/>
          </p:nvGrpSpPr>
          <p:grpSpPr>
            <a:xfrm>
              <a:off x="429682" y="2838156"/>
              <a:ext cx="2302559" cy="387473"/>
              <a:chOff x="429682" y="1440738"/>
              <a:chExt cx="2302559" cy="387473"/>
            </a:xfrm>
            <a:grpFill/>
          </p:grpSpPr>
          <p:pic>
            <p:nvPicPr>
              <p:cNvPr id="74" name="Graphic 73">
                <a:extLst>
                  <a:ext uri="{FF2B5EF4-FFF2-40B4-BE49-F238E27FC236}">
                    <a16:creationId xmlns:a16="http://schemas.microsoft.com/office/drawing/2014/main" id="{AA30E3B3-35D9-B6FA-655C-A1F291F8581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9682" y="1440738"/>
                <a:ext cx="387473" cy="387473"/>
              </a:xfrm>
              <a:prstGeom prst="rect">
                <a:avLst/>
              </a:prstGeom>
            </p:spPr>
          </p:pic>
          <p:pic>
            <p:nvPicPr>
              <p:cNvPr id="75" name="Graphic 74">
                <a:extLst>
                  <a:ext uri="{FF2B5EF4-FFF2-40B4-BE49-F238E27FC236}">
                    <a16:creationId xmlns:a16="http://schemas.microsoft.com/office/drawing/2014/main" id="{4B40DC54-AC40-8166-81B0-C5E951C948A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8453" y="1440738"/>
                <a:ext cx="387473" cy="387473"/>
              </a:xfrm>
              <a:prstGeom prst="rect">
                <a:avLst/>
              </a:prstGeom>
            </p:spPr>
          </p:pic>
          <p:pic>
            <p:nvPicPr>
              <p:cNvPr id="76" name="Graphic 75">
                <a:extLst>
                  <a:ext uri="{FF2B5EF4-FFF2-40B4-BE49-F238E27FC236}">
                    <a16:creationId xmlns:a16="http://schemas.microsoft.com/office/drawing/2014/main" id="{56DF3E87-A1E1-B83C-AF43-47CF678A901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87225" y="1440738"/>
                <a:ext cx="387473" cy="387473"/>
              </a:xfrm>
              <a:prstGeom prst="rect">
                <a:avLst/>
              </a:prstGeom>
            </p:spPr>
          </p:pic>
          <p:pic>
            <p:nvPicPr>
              <p:cNvPr id="77" name="Graphic 76">
                <a:extLst>
                  <a:ext uri="{FF2B5EF4-FFF2-40B4-BE49-F238E27FC236}">
                    <a16:creationId xmlns:a16="http://schemas.microsoft.com/office/drawing/2014/main" id="{A9688FA7-5763-818D-E330-1D31153D66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65997" y="1440738"/>
                <a:ext cx="387473" cy="387473"/>
              </a:xfrm>
              <a:prstGeom prst="rect">
                <a:avLst/>
              </a:prstGeom>
            </p:spPr>
          </p:pic>
          <p:pic>
            <p:nvPicPr>
              <p:cNvPr id="78" name="Graphic 77">
                <a:extLst>
                  <a:ext uri="{FF2B5EF4-FFF2-40B4-BE49-F238E27FC236}">
                    <a16:creationId xmlns:a16="http://schemas.microsoft.com/office/drawing/2014/main" id="{F0154834-4C9C-A900-8EE0-70D576CCC32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44768" y="1440738"/>
                <a:ext cx="387473" cy="387473"/>
              </a:xfrm>
              <a:prstGeom prst="rect">
                <a:avLst/>
              </a:prstGeom>
            </p:spPr>
          </p:pic>
        </p:grpSp>
        <p:grpSp>
          <p:nvGrpSpPr>
            <p:cNvPr id="68" name="Group 67">
              <a:extLst>
                <a:ext uri="{FF2B5EF4-FFF2-40B4-BE49-F238E27FC236}">
                  <a16:creationId xmlns:a16="http://schemas.microsoft.com/office/drawing/2014/main" id="{1AA127D5-1057-3480-131F-840FAE67D60E}"/>
                </a:ext>
              </a:extLst>
            </p:cNvPr>
            <p:cNvGrpSpPr/>
            <p:nvPr/>
          </p:nvGrpSpPr>
          <p:grpSpPr>
            <a:xfrm>
              <a:off x="429682" y="3285322"/>
              <a:ext cx="2302559" cy="387473"/>
              <a:chOff x="429682" y="1440738"/>
              <a:chExt cx="2302559" cy="387473"/>
            </a:xfrm>
            <a:grpFill/>
          </p:grpSpPr>
          <p:pic>
            <p:nvPicPr>
              <p:cNvPr id="69" name="Graphic 68">
                <a:extLst>
                  <a:ext uri="{FF2B5EF4-FFF2-40B4-BE49-F238E27FC236}">
                    <a16:creationId xmlns:a16="http://schemas.microsoft.com/office/drawing/2014/main" id="{0396485F-052E-0414-106F-AC44D15F8F4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9682" y="1440738"/>
                <a:ext cx="387473" cy="387473"/>
              </a:xfrm>
              <a:prstGeom prst="rect">
                <a:avLst/>
              </a:prstGeom>
            </p:spPr>
          </p:pic>
          <p:pic>
            <p:nvPicPr>
              <p:cNvPr id="70" name="Graphic 69">
                <a:extLst>
                  <a:ext uri="{FF2B5EF4-FFF2-40B4-BE49-F238E27FC236}">
                    <a16:creationId xmlns:a16="http://schemas.microsoft.com/office/drawing/2014/main" id="{33797669-57F0-5EA2-1424-9C14626BCBA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8453" y="1440738"/>
                <a:ext cx="387473" cy="387473"/>
              </a:xfrm>
              <a:prstGeom prst="rect">
                <a:avLst/>
              </a:prstGeom>
            </p:spPr>
          </p:pic>
          <p:pic>
            <p:nvPicPr>
              <p:cNvPr id="71" name="Graphic 70">
                <a:extLst>
                  <a:ext uri="{FF2B5EF4-FFF2-40B4-BE49-F238E27FC236}">
                    <a16:creationId xmlns:a16="http://schemas.microsoft.com/office/drawing/2014/main" id="{374CB30B-591F-0518-5184-9CECF527CB4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87225" y="1440738"/>
                <a:ext cx="387473" cy="387473"/>
              </a:xfrm>
              <a:prstGeom prst="rect">
                <a:avLst/>
              </a:prstGeom>
            </p:spPr>
          </p:pic>
          <p:pic>
            <p:nvPicPr>
              <p:cNvPr id="72" name="Graphic 71">
                <a:extLst>
                  <a:ext uri="{FF2B5EF4-FFF2-40B4-BE49-F238E27FC236}">
                    <a16:creationId xmlns:a16="http://schemas.microsoft.com/office/drawing/2014/main" id="{DC769F92-4344-DEEB-1E43-8897623788E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65997" y="1440738"/>
                <a:ext cx="387473" cy="387473"/>
              </a:xfrm>
              <a:prstGeom prst="rect">
                <a:avLst/>
              </a:prstGeom>
            </p:spPr>
          </p:pic>
          <p:pic>
            <p:nvPicPr>
              <p:cNvPr id="73" name="Graphic 72">
                <a:extLst>
                  <a:ext uri="{FF2B5EF4-FFF2-40B4-BE49-F238E27FC236}">
                    <a16:creationId xmlns:a16="http://schemas.microsoft.com/office/drawing/2014/main" id="{568711D8-9832-B867-5396-D08ADB0F167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44768" y="1440738"/>
                <a:ext cx="387473" cy="387473"/>
              </a:xfrm>
              <a:prstGeom prst="rect">
                <a:avLst/>
              </a:prstGeom>
            </p:spPr>
          </p:pic>
        </p:grpSp>
      </p:grpSp>
      <p:grpSp>
        <p:nvGrpSpPr>
          <p:cNvPr id="89" name="Group 88">
            <a:extLst>
              <a:ext uri="{FF2B5EF4-FFF2-40B4-BE49-F238E27FC236}">
                <a16:creationId xmlns:a16="http://schemas.microsoft.com/office/drawing/2014/main" id="{7B78C8E3-55B2-CD0A-93A9-E63E5E6C402A}"/>
              </a:ext>
            </a:extLst>
          </p:cNvPr>
          <p:cNvGrpSpPr/>
          <p:nvPr/>
        </p:nvGrpSpPr>
        <p:grpSpPr>
          <a:xfrm>
            <a:off x="5665087" y="3822485"/>
            <a:ext cx="2298232" cy="337184"/>
            <a:chOff x="5400045" y="1431608"/>
            <a:chExt cx="2298232" cy="337184"/>
          </a:xfrm>
        </p:grpSpPr>
        <p:sp>
          <p:nvSpPr>
            <p:cNvPr id="90" name="Rectangle 89">
              <a:extLst>
                <a:ext uri="{FF2B5EF4-FFF2-40B4-BE49-F238E27FC236}">
                  <a16:creationId xmlns:a16="http://schemas.microsoft.com/office/drawing/2014/main" id="{C702824F-624B-E44F-86AD-8B6948671F66}"/>
                </a:ext>
              </a:extLst>
            </p:cNvPr>
            <p:cNvSpPr/>
            <p:nvPr/>
          </p:nvSpPr>
          <p:spPr>
            <a:xfrm>
              <a:off x="5400045" y="1431608"/>
              <a:ext cx="2298232" cy="337184"/>
            </a:xfrm>
            <a:prstGeom prst="rect">
              <a:avLst/>
            </a:prstGeom>
            <a:noFill/>
            <a:ln w="9525">
              <a:solidFill>
                <a:schemeClr val="accent2"/>
              </a:solidFill>
            </a:ln>
          </p:spPr>
          <p:txBody>
            <a:bodyPr wrap="square" anchor="ctr">
              <a:noAutofit/>
            </a:bodyPr>
            <a:lstStyle/>
            <a:p>
              <a:pPr algn="ctr"/>
              <a:endParaRPr lang="en-US" sz="1200" dirty="0">
                <a:solidFill>
                  <a:prstClr val="white"/>
                </a:solidFill>
              </a:endParaRPr>
            </a:p>
          </p:txBody>
        </p:sp>
        <p:sp>
          <p:nvSpPr>
            <p:cNvPr id="91" name="Rectangle 90">
              <a:extLst>
                <a:ext uri="{FF2B5EF4-FFF2-40B4-BE49-F238E27FC236}">
                  <a16:creationId xmlns:a16="http://schemas.microsoft.com/office/drawing/2014/main" id="{1AAF979F-802D-648D-2F3F-624D6AC09347}"/>
                </a:ext>
              </a:extLst>
            </p:cNvPr>
            <p:cNvSpPr/>
            <p:nvPr/>
          </p:nvSpPr>
          <p:spPr>
            <a:xfrm>
              <a:off x="5448827" y="1471720"/>
              <a:ext cx="815040" cy="261610"/>
            </a:xfrm>
            <a:prstGeom prst="rect">
              <a:avLst/>
            </a:prstGeom>
          </p:spPr>
          <p:txBody>
            <a:bodyPr wrap="square" anchor="ctr">
              <a:spAutoFit/>
            </a:bodyPr>
            <a:lstStyle/>
            <a:p>
              <a:pPr algn="ctr" defTabSz="914126">
                <a:defRPr/>
              </a:pPr>
              <a:r>
                <a:rPr lang="en-US" sz="1100" dirty="0">
                  <a:solidFill>
                    <a:schemeClr val="tx2"/>
                  </a:solidFill>
                  <a:latin typeface="Arial" panose="020B0604020202020204" pitchFamily="34" charset="0"/>
                </a:rPr>
                <a:t>vSphere</a:t>
              </a:r>
            </a:p>
          </p:txBody>
        </p:sp>
        <p:sp>
          <p:nvSpPr>
            <p:cNvPr id="92" name="Rectangle 91">
              <a:extLst>
                <a:ext uri="{FF2B5EF4-FFF2-40B4-BE49-F238E27FC236}">
                  <a16:creationId xmlns:a16="http://schemas.microsoft.com/office/drawing/2014/main" id="{EC2E59D9-5EA6-C47C-4A6C-B9D3D3FE2899}"/>
                </a:ext>
              </a:extLst>
            </p:cNvPr>
            <p:cNvSpPr/>
            <p:nvPr/>
          </p:nvSpPr>
          <p:spPr>
            <a:xfrm>
              <a:off x="6997039" y="1471720"/>
              <a:ext cx="671210" cy="261610"/>
            </a:xfrm>
            <a:prstGeom prst="rect">
              <a:avLst/>
            </a:prstGeom>
          </p:spPr>
          <p:txBody>
            <a:bodyPr wrap="square" anchor="ctr">
              <a:spAutoFit/>
            </a:bodyPr>
            <a:lstStyle/>
            <a:p>
              <a:pPr algn="ctr" defTabSz="914126">
                <a:defRPr/>
              </a:pPr>
              <a:r>
                <a:rPr lang="en-US" sz="1100" dirty="0">
                  <a:solidFill>
                    <a:schemeClr val="tx2"/>
                  </a:solidFill>
                  <a:latin typeface="Arial" panose="020B0604020202020204" pitchFamily="34" charset="0"/>
                </a:rPr>
                <a:t>vSAN</a:t>
              </a:r>
            </a:p>
          </p:txBody>
        </p:sp>
        <p:cxnSp>
          <p:nvCxnSpPr>
            <p:cNvPr id="93" name="Straight Connector 92">
              <a:extLst>
                <a:ext uri="{FF2B5EF4-FFF2-40B4-BE49-F238E27FC236}">
                  <a16:creationId xmlns:a16="http://schemas.microsoft.com/office/drawing/2014/main" id="{C3520DA4-BA9D-0257-8390-5032B3775142}"/>
                </a:ext>
              </a:extLst>
            </p:cNvPr>
            <p:cNvCxnSpPr>
              <a:cxnSpLocks/>
            </p:cNvCxnSpPr>
            <p:nvPr/>
          </p:nvCxnSpPr>
          <p:spPr bwMode="gray">
            <a:xfrm flipH="1">
              <a:off x="6260788" y="1602525"/>
              <a:ext cx="288373" cy="0"/>
            </a:xfrm>
            <a:prstGeom prst="line">
              <a:avLst/>
            </a:prstGeom>
            <a:ln w="9525">
              <a:solidFill>
                <a:schemeClr val="accent2"/>
              </a:solidFill>
              <a:miter lim="800000"/>
              <a:tailEnd type="triangle" w="lg" len="me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AED7E4D5-73D9-AD9D-3621-1A859D0EC018}"/>
                </a:ext>
              </a:extLst>
            </p:cNvPr>
            <p:cNvCxnSpPr>
              <a:cxnSpLocks/>
              <a:endCxn id="92" idx="1"/>
            </p:cNvCxnSpPr>
            <p:nvPr/>
          </p:nvCxnSpPr>
          <p:spPr bwMode="gray">
            <a:xfrm>
              <a:off x="6549161" y="1602525"/>
              <a:ext cx="447878" cy="0"/>
            </a:xfrm>
            <a:prstGeom prst="line">
              <a:avLst/>
            </a:prstGeom>
            <a:ln w="9525">
              <a:solidFill>
                <a:schemeClr val="accent2"/>
              </a:solidFill>
              <a:miter lim="800000"/>
              <a:tailEnd type="triangle" w="lg" len="med"/>
            </a:ln>
          </p:spPr>
          <p:style>
            <a:lnRef idx="1">
              <a:schemeClr val="accent1"/>
            </a:lnRef>
            <a:fillRef idx="0">
              <a:schemeClr val="accent1"/>
            </a:fillRef>
            <a:effectRef idx="0">
              <a:schemeClr val="accent1"/>
            </a:effectRef>
            <a:fontRef idx="minor">
              <a:schemeClr val="tx1"/>
            </a:fontRef>
          </p:style>
        </p:cxnSp>
      </p:grpSp>
      <p:grpSp>
        <p:nvGrpSpPr>
          <p:cNvPr id="95" name="Group 94">
            <a:extLst>
              <a:ext uri="{FF2B5EF4-FFF2-40B4-BE49-F238E27FC236}">
                <a16:creationId xmlns:a16="http://schemas.microsoft.com/office/drawing/2014/main" id="{0C59BDC9-2B89-5A2C-8206-4D37D2B971EE}"/>
              </a:ext>
            </a:extLst>
          </p:cNvPr>
          <p:cNvGrpSpPr/>
          <p:nvPr/>
        </p:nvGrpSpPr>
        <p:grpSpPr>
          <a:xfrm>
            <a:off x="3192202" y="3822485"/>
            <a:ext cx="2298232" cy="337184"/>
            <a:chOff x="5400045" y="1431608"/>
            <a:chExt cx="2298232" cy="337184"/>
          </a:xfrm>
        </p:grpSpPr>
        <p:sp>
          <p:nvSpPr>
            <p:cNvPr id="96" name="Rectangle 95">
              <a:extLst>
                <a:ext uri="{FF2B5EF4-FFF2-40B4-BE49-F238E27FC236}">
                  <a16:creationId xmlns:a16="http://schemas.microsoft.com/office/drawing/2014/main" id="{B5848EE5-C9A1-9DE7-8B8B-3A8F37DAD96F}"/>
                </a:ext>
              </a:extLst>
            </p:cNvPr>
            <p:cNvSpPr/>
            <p:nvPr/>
          </p:nvSpPr>
          <p:spPr>
            <a:xfrm>
              <a:off x="5400045" y="1431608"/>
              <a:ext cx="2298232" cy="337184"/>
            </a:xfrm>
            <a:prstGeom prst="rect">
              <a:avLst/>
            </a:prstGeom>
            <a:noFill/>
            <a:ln w="9525">
              <a:solidFill>
                <a:schemeClr val="accent2"/>
              </a:solidFill>
            </a:ln>
          </p:spPr>
          <p:txBody>
            <a:bodyPr wrap="square" anchor="ctr">
              <a:noAutofit/>
            </a:bodyPr>
            <a:lstStyle/>
            <a:p>
              <a:pPr algn="ctr"/>
              <a:endParaRPr lang="en-US" sz="1200" dirty="0">
                <a:solidFill>
                  <a:prstClr val="white"/>
                </a:solidFill>
              </a:endParaRPr>
            </a:p>
          </p:txBody>
        </p:sp>
        <p:sp>
          <p:nvSpPr>
            <p:cNvPr id="97" name="Rectangle 96">
              <a:extLst>
                <a:ext uri="{FF2B5EF4-FFF2-40B4-BE49-F238E27FC236}">
                  <a16:creationId xmlns:a16="http://schemas.microsoft.com/office/drawing/2014/main" id="{19393166-9003-88CC-4839-4506D5222858}"/>
                </a:ext>
              </a:extLst>
            </p:cNvPr>
            <p:cNvSpPr/>
            <p:nvPr/>
          </p:nvSpPr>
          <p:spPr>
            <a:xfrm>
              <a:off x="5448827" y="1471720"/>
              <a:ext cx="815040" cy="261610"/>
            </a:xfrm>
            <a:prstGeom prst="rect">
              <a:avLst/>
            </a:prstGeom>
          </p:spPr>
          <p:txBody>
            <a:bodyPr wrap="square" anchor="ctr">
              <a:spAutoFit/>
            </a:bodyPr>
            <a:lstStyle/>
            <a:p>
              <a:pPr algn="ctr" defTabSz="914126">
                <a:defRPr/>
              </a:pPr>
              <a:r>
                <a:rPr lang="en-US" sz="1100" dirty="0">
                  <a:solidFill>
                    <a:schemeClr val="tx2"/>
                  </a:solidFill>
                  <a:latin typeface="Arial" panose="020B0604020202020204" pitchFamily="34" charset="0"/>
                </a:rPr>
                <a:t>vSphere</a:t>
              </a:r>
            </a:p>
          </p:txBody>
        </p:sp>
        <p:sp>
          <p:nvSpPr>
            <p:cNvPr id="98" name="Rectangle 97">
              <a:extLst>
                <a:ext uri="{FF2B5EF4-FFF2-40B4-BE49-F238E27FC236}">
                  <a16:creationId xmlns:a16="http://schemas.microsoft.com/office/drawing/2014/main" id="{CA6F1EB2-3DCE-139C-8D7C-AD2E498DFE55}"/>
                </a:ext>
              </a:extLst>
            </p:cNvPr>
            <p:cNvSpPr/>
            <p:nvPr/>
          </p:nvSpPr>
          <p:spPr>
            <a:xfrm>
              <a:off x="6997039" y="1471720"/>
              <a:ext cx="671210" cy="261610"/>
            </a:xfrm>
            <a:prstGeom prst="rect">
              <a:avLst/>
            </a:prstGeom>
          </p:spPr>
          <p:txBody>
            <a:bodyPr wrap="square" anchor="ctr">
              <a:spAutoFit/>
            </a:bodyPr>
            <a:lstStyle/>
            <a:p>
              <a:pPr algn="ctr" defTabSz="914126">
                <a:defRPr/>
              </a:pPr>
              <a:r>
                <a:rPr lang="en-US" sz="1100" dirty="0">
                  <a:solidFill>
                    <a:schemeClr val="tx2"/>
                  </a:solidFill>
                  <a:latin typeface="Arial" panose="020B0604020202020204" pitchFamily="34" charset="0"/>
                </a:rPr>
                <a:t>vSAN</a:t>
              </a:r>
            </a:p>
          </p:txBody>
        </p:sp>
        <p:cxnSp>
          <p:nvCxnSpPr>
            <p:cNvPr id="99" name="Straight Connector 98">
              <a:extLst>
                <a:ext uri="{FF2B5EF4-FFF2-40B4-BE49-F238E27FC236}">
                  <a16:creationId xmlns:a16="http://schemas.microsoft.com/office/drawing/2014/main" id="{1284C2C9-D68A-9A38-ECBE-90C6390D2A93}"/>
                </a:ext>
              </a:extLst>
            </p:cNvPr>
            <p:cNvCxnSpPr>
              <a:cxnSpLocks/>
            </p:cNvCxnSpPr>
            <p:nvPr/>
          </p:nvCxnSpPr>
          <p:spPr bwMode="gray">
            <a:xfrm flipH="1">
              <a:off x="6260788" y="1602525"/>
              <a:ext cx="288373" cy="0"/>
            </a:xfrm>
            <a:prstGeom prst="line">
              <a:avLst/>
            </a:prstGeom>
            <a:ln w="9525">
              <a:solidFill>
                <a:schemeClr val="accent2"/>
              </a:solidFill>
              <a:miter lim="800000"/>
              <a:tailEnd type="triangle" w="lg" len="me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6D64774-46DE-C512-676D-80EBB58D996C}"/>
                </a:ext>
              </a:extLst>
            </p:cNvPr>
            <p:cNvCxnSpPr>
              <a:cxnSpLocks/>
              <a:endCxn id="98" idx="1"/>
            </p:cNvCxnSpPr>
            <p:nvPr/>
          </p:nvCxnSpPr>
          <p:spPr bwMode="gray">
            <a:xfrm>
              <a:off x="6549161" y="1602525"/>
              <a:ext cx="447878" cy="0"/>
            </a:xfrm>
            <a:prstGeom prst="line">
              <a:avLst/>
            </a:prstGeom>
            <a:ln w="9525">
              <a:solidFill>
                <a:schemeClr val="accent2"/>
              </a:solidFill>
              <a:miter lim="800000"/>
              <a:tailEnd type="triangle" w="lg" len="med"/>
            </a:ln>
          </p:spPr>
          <p:style>
            <a:lnRef idx="1">
              <a:schemeClr val="accent1"/>
            </a:lnRef>
            <a:fillRef idx="0">
              <a:schemeClr val="accent1"/>
            </a:fillRef>
            <a:effectRef idx="0">
              <a:schemeClr val="accent1"/>
            </a:effectRef>
            <a:fontRef idx="minor">
              <a:schemeClr val="tx1"/>
            </a:fontRef>
          </p:style>
        </p:cxnSp>
      </p:grpSp>
      <p:grpSp>
        <p:nvGrpSpPr>
          <p:cNvPr id="101" name="Group 100">
            <a:extLst>
              <a:ext uri="{FF2B5EF4-FFF2-40B4-BE49-F238E27FC236}">
                <a16:creationId xmlns:a16="http://schemas.microsoft.com/office/drawing/2014/main" id="{C9C83D1A-2EB0-C27B-F433-9CA14AD0559B}"/>
              </a:ext>
            </a:extLst>
          </p:cNvPr>
          <p:cNvGrpSpPr/>
          <p:nvPr/>
        </p:nvGrpSpPr>
        <p:grpSpPr>
          <a:xfrm>
            <a:off x="694724" y="3822485"/>
            <a:ext cx="2298232" cy="337184"/>
            <a:chOff x="5400045" y="1431608"/>
            <a:chExt cx="2298232" cy="337184"/>
          </a:xfrm>
        </p:grpSpPr>
        <p:sp>
          <p:nvSpPr>
            <p:cNvPr id="102" name="Rectangle 101">
              <a:extLst>
                <a:ext uri="{FF2B5EF4-FFF2-40B4-BE49-F238E27FC236}">
                  <a16:creationId xmlns:a16="http://schemas.microsoft.com/office/drawing/2014/main" id="{7B7C5FB6-1464-52BC-7365-9A312BDFBA3C}"/>
                </a:ext>
              </a:extLst>
            </p:cNvPr>
            <p:cNvSpPr/>
            <p:nvPr/>
          </p:nvSpPr>
          <p:spPr>
            <a:xfrm>
              <a:off x="5400045" y="1431608"/>
              <a:ext cx="2298232" cy="337184"/>
            </a:xfrm>
            <a:prstGeom prst="rect">
              <a:avLst/>
            </a:prstGeom>
            <a:noFill/>
            <a:ln w="9525">
              <a:solidFill>
                <a:schemeClr val="accent2"/>
              </a:solidFill>
            </a:ln>
          </p:spPr>
          <p:txBody>
            <a:bodyPr wrap="square" anchor="ctr">
              <a:noAutofit/>
            </a:bodyPr>
            <a:lstStyle/>
            <a:p>
              <a:pPr algn="ctr"/>
              <a:endParaRPr lang="en-US" sz="1200" dirty="0">
                <a:solidFill>
                  <a:prstClr val="white"/>
                </a:solidFill>
              </a:endParaRPr>
            </a:p>
          </p:txBody>
        </p:sp>
        <p:sp>
          <p:nvSpPr>
            <p:cNvPr id="103" name="Rectangle 102">
              <a:extLst>
                <a:ext uri="{FF2B5EF4-FFF2-40B4-BE49-F238E27FC236}">
                  <a16:creationId xmlns:a16="http://schemas.microsoft.com/office/drawing/2014/main" id="{DD30BB22-7EC9-B120-2EC8-F31F438DF03F}"/>
                </a:ext>
              </a:extLst>
            </p:cNvPr>
            <p:cNvSpPr/>
            <p:nvPr/>
          </p:nvSpPr>
          <p:spPr>
            <a:xfrm>
              <a:off x="5448827" y="1471720"/>
              <a:ext cx="815040" cy="261610"/>
            </a:xfrm>
            <a:prstGeom prst="rect">
              <a:avLst/>
            </a:prstGeom>
          </p:spPr>
          <p:txBody>
            <a:bodyPr wrap="square" anchor="ctr">
              <a:spAutoFit/>
            </a:bodyPr>
            <a:lstStyle/>
            <a:p>
              <a:pPr algn="ctr" defTabSz="914126">
                <a:defRPr/>
              </a:pPr>
              <a:r>
                <a:rPr lang="en-US" sz="1100" dirty="0">
                  <a:solidFill>
                    <a:schemeClr val="tx2"/>
                  </a:solidFill>
                  <a:latin typeface="Arial" panose="020B0604020202020204" pitchFamily="34" charset="0"/>
                </a:rPr>
                <a:t>vSphere</a:t>
              </a:r>
            </a:p>
          </p:txBody>
        </p:sp>
        <p:sp>
          <p:nvSpPr>
            <p:cNvPr id="104" name="Rectangle 103">
              <a:extLst>
                <a:ext uri="{FF2B5EF4-FFF2-40B4-BE49-F238E27FC236}">
                  <a16:creationId xmlns:a16="http://schemas.microsoft.com/office/drawing/2014/main" id="{63AB140A-9B52-8034-67FE-E58317BA8F7C}"/>
                </a:ext>
              </a:extLst>
            </p:cNvPr>
            <p:cNvSpPr/>
            <p:nvPr/>
          </p:nvSpPr>
          <p:spPr>
            <a:xfrm>
              <a:off x="6997039" y="1471720"/>
              <a:ext cx="671210" cy="261610"/>
            </a:xfrm>
            <a:prstGeom prst="rect">
              <a:avLst/>
            </a:prstGeom>
          </p:spPr>
          <p:txBody>
            <a:bodyPr wrap="square" anchor="ctr">
              <a:spAutoFit/>
            </a:bodyPr>
            <a:lstStyle/>
            <a:p>
              <a:pPr algn="ctr" defTabSz="914126">
                <a:defRPr/>
              </a:pPr>
              <a:r>
                <a:rPr lang="en-US" sz="1100" dirty="0">
                  <a:solidFill>
                    <a:schemeClr val="tx2"/>
                  </a:solidFill>
                  <a:latin typeface="Arial" panose="020B0604020202020204" pitchFamily="34" charset="0"/>
                </a:rPr>
                <a:t>vSAN</a:t>
              </a:r>
            </a:p>
          </p:txBody>
        </p:sp>
        <p:cxnSp>
          <p:nvCxnSpPr>
            <p:cNvPr id="105" name="Straight Connector 104">
              <a:extLst>
                <a:ext uri="{FF2B5EF4-FFF2-40B4-BE49-F238E27FC236}">
                  <a16:creationId xmlns:a16="http://schemas.microsoft.com/office/drawing/2014/main" id="{F1DFC135-F926-B828-685A-96435250D691}"/>
                </a:ext>
              </a:extLst>
            </p:cNvPr>
            <p:cNvCxnSpPr>
              <a:cxnSpLocks/>
            </p:cNvCxnSpPr>
            <p:nvPr/>
          </p:nvCxnSpPr>
          <p:spPr bwMode="gray">
            <a:xfrm flipH="1">
              <a:off x="6260788" y="1602525"/>
              <a:ext cx="288373" cy="0"/>
            </a:xfrm>
            <a:prstGeom prst="line">
              <a:avLst/>
            </a:prstGeom>
            <a:ln w="9525">
              <a:solidFill>
                <a:schemeClr val="accent2"/>
              </a:solidFill>
              <a:miter lim="800000"/>
              <a:tailEnd type="triangle" w="lg" len="med"/>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E8E3D6F6-38BE-20A6-8467-22C21703CE15}"/>
                </a:ext>
              </a:extLst>
            </p:cNvPr>
            <p:cNvCxnSpPr>
              <a:cxnSpLocks/>
              <a:endCxn id="104" idx="1"/>
            </p:cNvCxnSpPr>
            <p:nvPr/>
          </p:nvCxnSpPr>
          <p:spPr bwMode="gray">
            <a:xfrm>
              <a:off x="6549161" y="1602525"/>
              <a:ext cx="447878" cy="0"/>
            </a:xfrm>
            <a:prstGeom prst="line">
              <a:avLst/>
            </a:prstGeom>
            <a:ln w="9525">
              <a:solidFill>
                <a:schemeClr val="accent2"/>
              </a:solidFill>
              <a:miter lim="800000"/>
              <a:tailEnd type="triangle" w="lg" len="med"/>
            </a:ln>
          </p:spPr>
          <p:style>
            <a:lnRef idx="1">
              <a:schemeClr val="accent1"/>
            </a:lnRef>
            <a:fillRef idx="0">
              <a:schemeClr val="accent1"/>
            </a:fillRef>
            <a:effectRef idx="0">
              <a:schemeClr val="accent1"/>
            </a:effectRef>
            <a:fontRef idx="minor">
              <a:schemeClr val="tx1"/>
            </a:fontRef>
          </p:style>
        </p:cxnSp>
      </p:grpSp>
      <p:grpSp>
        <p:nvGrpSpPr>
          <p:cNvPr id="107" name="Group 106">
            <a:extLst>
              <a:ext uri="{FF2B5EF4-FFF2-40B4-BE49-F238E27FC236}">
                <a16:creationId xmlns:a16="http://schemas.microsoft.com/office/drawing/2014/main" id="{510C2620-B232-5FE7-9244-3CE0C5CA650E}"/>
              </a:ext>
            </a:extLst>
          </p:cNvPr>
          <p:cNvGrpSpPr/>
          <p:nvPr/>
        </p:nvGrpSpPr>
        <p:grpSpPr>
          <a:xfrm>
            <a:off x="943461" y="4498293"/>
            <a:ext cx="533658" cy="392298"/>
            <a:chOff x="4505618" y="1195981"/>
            <a:chExt cx="533658" cy="392298"/>
          </a:xfrm>
        </p:grpSpPr>
        <p:sp>
          <p:nvSpPr>
            <p:cNvPr id="108" name="Freeform 5">
              <a:extLst>
                <a:ext uri="{FF2B5EF4-FFF2-40B4-BE49-F238E27FC236}">
                  <a16:creationId xmlns:a16="http://schemas.microsoft.com/office/drawing/2014/main" id="{DFBD1DB6-0238-2EB5-7928-D5D82909AA3A}"/>
                </a:ext>
              </a:extLst>
            </p:cNvPr>
            <p:cNvSpPr>
              <a:spLocks noEditPoints="1"/>
            </p:cNvSpPr>
            <p:nvPr/>
          </p:nvSpPr>
          <p:spPr bwMode="auto">
            <a:xfrm>
              <a:off x="4588140" y="1296271"/>
              <a:ext cx="451136" cy="292008"/>
            </a:xfrm>
            <a:custGeom>
              <a:avLst/>
              <a:gdLst>
                <a:gd name="T0" fmla="*/ 0 w 2483"/>
                <a:gd name="T1" fmla="*/ 0 h 1758"/>
                <a:gd name="T2" fmla="*/ 0 w 2483"/>
                <a:gd name="T3" fmla="*/ 1758 h 1758"/>
                <a:gd name="T4" fmla="*/ 2483 w 2483"/>
                <a:gd name="T5" fmla="*/ 1758 h 1758"/>
                <a:gd name="T6" fmla="*/ 2483 w 2483"/>
                <a:gd name="T7" fmla="*/ 0 h 1758"/>
                <a:gd name="T8" fmla="*/ 0 w 2483"/>
                <a:gd name="T9" fmla="*/ 0 h 1758"/>
                <a:gd name="T10" fmla="*/ 2418 w 2483"/>
                <a:gd name="T11" fmla="*/ 1694 h 1758"/>
                <a:gd name="T12" fmla="*/ 65 w 2483"/>
                <a:gd name="T13" fmla="*/ 1694 h 1758"/>
                <a:gd name="T14" fmla="*/ 65 w 2483"/>
                <a:gd name="T15" fmla="*/ 65 h 1758"/>
                <a:gd name="T16" fmla="*/ 2418 w 2483"/>
                <a:gd name="T17" fmla="*/ 65 h 1758"/>
                <a:gd name="T18" fmla="*/ 2418 w 2483"/>
                <a:gd name="T19" fmla="*/ 1694 h 1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83" h="1758">
                  <a:moveTo>
                    <a:pt x="0" y="0"/>
                  </a:moveTo>
                  <a:lnTo>
                    <a:pt x="0" y="1758"/>
                  </a:lnTo>
                  <a:lnTo>
                    <a:pt x="2483" y="1758"/>
                  </a:lnTo>
                  <a:lnTo>
                    <a:pt x="2483" y="0"/>
                  </a:lnTo>
                  <a:lnTo>
                    <a:pt x="0" y="0"/>
                  </a:lnTo>
                  <a:close/>
                  <a:moveTo>
                    <a:pt x="2418" y="1694"/>
                  </a:moveTo>
                  <a:lnTo>
                    <a:pt x="65" y="1694"/>
                  </a:lnTo>
                  <a:lnTo>
                    <a:pt x="65" y="65"/>
                  </a:lnTo>
                  <a:lnTo>
                    <a:pt x="2418" y="65"/>
                  </a:lnTo>
                  <a:lnTo>
                    <a:pt x="2418" y="169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09" name="Group 108">
              <a:extLst>
                <a:ext uri="{FF2B5EF4-FFF2-40B4-BE49-F238E27FC236}">
                  <a16:creationId xmlns:a16="http://schemas.microsoft.com/office/drawing/2014/main" id="{06D7D1E9-EE83-E507-817D-D2AB1FCF2D73}"/>
                </a:ext>
              </a:extLst>
            </p:cNvPr>
            <p:cNvGrpSpPr/>
            <p:nvPr/>
          </p:nvGrpSpPr>
          <p:grpSpPr>
            <a:xfrm>
              <a:off x="4621577" y="1326834"/>
              <a:ext cx="384263" cy="231049"/>
              <a:chOff x="1474648" y="4826879"/>
              <a:chExt cx="576585" cy="346688"/>
            </a:xfrm>
          </p:grpSpPr>
          <p:sp>
            <p:nvSpPr>
              <p:cNvPr id="122" name="Oval 6">
                <a:extLst>
                  <a:ext uri="{FF2B5EF4-FFF2-40B4-BE49-F238E27FC236}">
                    <a16:creationId xmlns:a16="http://schemas.microsoft.com/office/drawing/2014/main" id="{8BA16ADD-9A8E-FFB5-18E2-342BF23CF3A7}"/>
                  </a:ext>
                </a:extLst>
              </p:cNvPr>
              <p:cNvSpPr>
                <a:spLocks noChangeArrowheads="1"/>
              </p:cNvSpPr>
              <p:nvPr/>
            </p:nvSpPr>
            <p:spPr bwMode="auto">
              <a:xfrm>
                <a:off x="1474648" y="4826879"/>
                <a:ext cx="31228"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Oval 7">
                <a:extLst>
                  <a:ext uri="{FF2B5EF4-FFF2-40B4-BE49-F238E27FC236}">
                    <a16:creationId xmlns:a16="http://schemas.microsoft.com/office/drawing/2014/main" id="{1A5B91C5-8757-3A37-8DF3-4836DD4D898F}"/>
                  </a:ext>
                </a:extLst>
              </p:cNvPr>
              <p:cNvSpPr>
                <a:spLocks noChangeArrowheads="1"/>
              </p:cNvSpPr>
              <p:nvPr/>
            </p:nvSpPr>
            <p:spPr bwMode="auto">
              <a:xfrm>
                <a:off x="1474648" y="5142412"/>
                <a:ext cx="31228"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Oval 8">
                <a:extLst>
                  <a:ext uri="{FF2B5EF4-FFF2-40B4-BE49-F238E27FC236}">
                    <a16:creationId xmlns:a16="http://schemas.microsoft.com/office/drawing/2014/main" id="{A32E5F79-BFAB-4656-730E-AF874FDA20EB}"/>
                  </a:ext>
                </a:extLst>
              </p:cNvPr>
              <p:cNvSpPr>
                <a:spLocks noChangeArrowheads="1"/>
              </p:cNvSpPr>
              <p:nvPr/>
            </p:nvSpPr>
            <p:spPr bwMode="auto">
              <a:xfrm>
                <a:off x="2020253" y="4826879"/>
                <a:ext cx="30980"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Oval 9">
                <a:extLst>
                  <a:ext uri="{FF2B5EF4-FFF2-40B4-BE49-F238E27FC236}">
                    <a16:creationId xmlns:a16="http://schemas.microsoft.com/office/drawing/2014/main" id="{52F2252B-0E19-4C7F-E576-8298FDD0BCD9}"/>
                  </a:ext>
                </a:extLst>
              </p:cNvPr>
              <p:cNvSpPr>
                <a:spLocks noChangeArrowheads="1"/>
              </p:cNvSpPr>
              <p:nvPr/>
            </p:nvSpPr>
            <p:spPr bwMode="auto">
              <a:xfrm>
                <a:off x="2020253" y="5142412"/>
                <a:ext cx="30980"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10" name="Group 109">
              <a:extLst>
                <a:ext uri="{FF2B5EF4-FFF2-40B4-BE49-F238E27FC236}">
                  <a16:creationId xmlns:a16="http://schemas.microsoft.com/office/drawing/2014/main" id="{BF6DA3E1-5171-FB69-AEAB-1CBB3E15617B}"/>
                </a:ext>
              </a:extLst>
            </p:cNvPr>
            <p:cNvGrpSpPr/>
            <p:nvPr/>
          </p:nvGrpSpPr>
          <p:grpSpPr>
            <a:xfrm>
              <a:off x="4713786" y="1407394"/>
              <a:ext cx="199845" cy="69431"/>
              <a:chOff x="1445849" y="4947759"/>
              <a:chExt cx="299866" cy="104181"/>
            </a:xfrm>
          </p:grpSpPr>
          <p:sp>
            <p:nvSpPr>
              <p:cNvPr id="119" name="Freeform 10">
                <a:extLst>
                  <a:ext uri="{FF2B5EF4-FFF2-40B4-BE49-F238E27FC236}">
                    <a16:creationId xmlns:a16="http://schemas.microsoft.com/office/drawing/2014/main" id="{FFB96125-77F9-BD2D-AD0E-F58506A2529F}"/>
                  </a:ext>
                </a:extLst>
              </p:cNvPr>
              <p:cNvSpPr>
                <a:spLocks/>
              </p:cNvSpPr>
              <p:nvPr/>
            </p:nvSpPr>
            <p:spPr bwMode="auto">
              <a:xfrm>
                <a:off x="1550675"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11">
                <a:extLst>
                  <a:ext uri="{FF2B5EF4-FFF2-40B4-BE49-F238E27FC236}">
                    <a16:creationId xmlns:a16="http://schemas.microsoft.com/office/drawing/2014/main" id="{11B0538B-357E-C34E-30C6-6A6A44C59DB2}"/>
                  </a:ext>
                </a:extLst>
              </p:cNvPr>
              <p:cNvSpPr>
                <a:spLocks noEditPoints="1"/>
              </p:cNvSpPr>
              <p:nvPr/>
            </p:nvSpPr>
            <p:spPr bwMode="auto">
              <a:xfrm>
                <a:off x="1655501" y="4949254"/>
                <a:ext cx="90214" cy="101190"/>
              </a:xfrm>
              <a:custGeom>
                <a:avLst/>
                <a:gdLst>
                  <a:gd name="T0" fmla="*/ 534 w 534"/>
                  <a:gd name="T1" fmla="*/ 297 h 596"/>
                  <a:gd name="T2" fmla="*/ 206 w 534"/>
                  <a:gd name="T3" fmla="*/ 0 h 596"/>
                  <a:gd name="T4" fmla="*/ 0 w 534"/>
                  <a:gd name="T5" fmla="*/ 0 h 596"/>
                  <a:gd name="T6" fmla="*/ 0 w 534"/>
                  <a:gd name="T7" fmla="*/ 596 h 596"/>
                  <a:gd name="T8" fmla="*/ 206 w 534"/>
                  <a:gd name="T9" fmla="*/ 596 h 596"/>
                  <a:gd name="T10" fmla="*/ 534 w 534"/>
                  <a:gd name="T11" fmla="*/ 297 h 596"/>
                  <a:gd name="T12" fmla="*/ 88 w 534"/>
                  <a:gd name="T13" fmla="*/ 80 h 596"/>
                  <a:gd name="T14" fmla="*/ 211 w 534"/>
                  <a:gd name="T15" fmla="*/ 80 h 596"/>
                  <a:gd name="T16" fmla="*/ 445 w 534"/>
                  <a:gd name="T17" fmla="*/ 297 h 596"/>
                  <a:gd name="T18" fmla="*/ 211 w 534"/>
                  <a:gd name="T19" fmla="*/ 516 h 596"/>
                  <a:gd name="T20" fmla="*/ 88 w 534"/>
                  <a:gd name="T21" fmla="*/ 516 h 596"/>
                  <a:gd name="T22" fmla="*/ 88 w 534"/>
                  <a:gd name="T23" fmla="*/ 80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4" h="596">
                    <a:moveTo>
                      <a:pt x="534" y="297"/>
                    </a:moveTo>
                    <a:cubicBezTo>
                      <a:pt x="534" y="123"/>
                      <a:pt x="398" y="0"/>
                      <a:pt x="206" y="0"/>
                    </a:cubicBezTo>
                    <a:cubicBezTo>
                      <a:pt x="0" y="0"/>
                      <a:pt x="0" y="0"/>
                      <a:pt x="0" y="0"/>
                    </a:cubicBezTo>
                    <a:cubicBezTo>
                      <a:pt x="0" y="596"/>
                      <a:pt x="0" y="596"/>
                      <a:pt x="0" y="596"/>
                    </a:cubicBezTo>
                    <a:cubicBezTo>
                      <a:pt x="206" y="596"/>
                      <a:pt x="206" y="596"/>
                      <a:pt x="206" y="596"/>
                    </a:cubicBezTo>
                    <a:cubicBezTo>
                      <a:pt x="398" y="596"/>
                      <a:pt x="534" y="472"/>
                      <a:pt x="534" y="297"/>
                    </a:cubicBezTo>
                    <a:close/>
                    <a:moveTo>
                      <a:pt x="88" y="80"/>
                    </a:moveTo>
                    <a:cubicBezTo>
                      <a:pt x="211" y="80"/>
                      <a:pt x="211" y="80"/>
                      <a:pt x="211" y="80"/>
                    </a:cubicBezTo>
                    <a:cubicBezTo>
                      <a:pt x="348" y="80"/>
                      <a:pt x="445" y="170"/>
                      <a:pt x="445" y="297"/>
                    </a:cubicBezTo>
                    <a:cubicBezTo>
                      <a:pt x="445" y="426"/>
                      <a:pt x="348" y="516"/>
                      <a:pt x="211" y="516"/>
                    </a:cubicBezTo>
                    <a:cubicBezTo>
                      <a:pt x="88" y="516"/>
                      <a:pt x="88" y="516"/>
                      <a:pt x="88" y="516"/>
                    </a:cubicBezTo>
                    <a:lnTo>
                      <a:pt x="88" y="8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10">
                <a:extLst>
                  <a:ext uri="{FF2B5EF4-FFF2-40B4-BE49-F238E27FC236}">
                    <a16:creationId xmlns:a16="http://schemas.microsoft.com/office/drawing/2014/main" id="{6213D5D0-6CD3-8E48-AB7F-957D6D399E68}"/>
                  </a:ext>
                </a:extLst>
              </p:cNvPr>
              <p:cNvSpPr>
                <a:spLocks/>
              </p:cNvSpPr>
              <p:nvPr/>
            </p:nvSpPr>
            <p:spPr bwMode="auto">
              <a:xfrm>
                <a:off x="1445849"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111" name="Straight Connector 110">
              <a:extLst>
                <a:ext uri="{FF2B5EF4-FFF2-40B4-BE49-F238E27FC236}">
                  <a16:creationId xmlns:a16="http://schemas.microsoft.com/office/drawing/2014/main" id="{3C0BDD9C-4E0E-0A59-C35A-8B6F34547D22}"/>
                </a:ext>
              </a:extLst>
            </p:cNvPr>
            <p:cNvCxnSpPr>
              <a:cxnSpLocks/>
            </p:cNvCxnSpPr>
            <p:nvPr/>
          </p:nvCxnSpPr>
          <p:spPr bwMode="gray">
            <a:xfrm flipH="1">
              <a:off x="4550146" y="1516262"/>
              <a:ext cx="37996"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3EB14F9F-70C8-EA25-466E-F7636C31B58A}"/>
                </a:ext>
              </a:extLst>
            </p:cNvPr>
            <p:cNvCxnSpPr>
              <a:cxnSpLocks/>
            </p:cNvCxnSpPr>
            <p:nvPr/>
          </p:nvCxnSpPr>
          <p:spPr bwMode="gray">
            <a:xfrm flipH="1">
              <a:off x="4550147" y="1248567"/>
              <a:ext cx="431005"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B74ACED-2D7F-77B4-4CF8-6C9DCAF7F6F2}"/>
                </a:ext>
              </a:extLst>
            </p:cNvPr>
            <p:cNvCxnSpPr>
              <a:cxnSpLocks/>
            </p:cNvCxnSpPr>
            <p:nvPr/>
          </p:nvCxnSpPr>
          <p:spPr bwMode="gray">
            <a:xfrm flipV="1">
              <a:off x="4550146" y="1248569"/>
              <a:ext cx="0" cy="262945"/>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023A51B0-AD40-66DE-8EEF-83680751578F}"/>
                </a:ext>
              </a:extLst>
            </p:cNvPr>
            <p:cNvCxnSpPr>
              <a:cxnSpLocks/>
            </p:cNvCxnSpPr>
            <p:nvPr/>
          </p:nvCxnSpPr>
          <p:spPr bwMode="gray">
            <a:xfrm flipV="1">
              <a:off x="4981152" y="1248567"/>
              <a:ext cx="0" cy="50422"/>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7C6F9736-E052-8D10-4003-AF4FA4C62A52}"/>
                </a:ext>
              </a:extLst>
            </p:cNvPr>
            <p:cNvCxnSpPr>
              <a:cxnSpLocks/>
            </p:cNvCxnSpPr>
            <p:nvPr/>
          </p:nvCxnSpPr>
          <p:spPr bwMode="gray">
            <a:xfrm flipH="1">
              <a:off x="4505618" y="1463676"/>
              <a:ext cx="37996"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34BBB643-D69F-7AEA-EEA0-C29EEA1BC816}"/>
                </a:ext>
              </a:extLst>
            </p:cNvPr>
            <p:cNvCxnSpPr>
              <a:cxnSpLocks/>
            </p:cNvCxnSpPr>
            <p:nvPr/>
          </p:nvCxnSpPr>
          <p:spPr bwMode="gray">
            <a:xfrm flipH="1">
              <a:off x="4505619" y="1195981"/>
              <a:ext cx="431005"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50C3DF57-2A57-9221-0CEA-2FCAF17982A9}"/>
                </a:ext>
              </a:extLst>
            </p:cNvPr>
            <p:cNvCxnSpPr>
              <a:cxnSpLocks/>
            </p:cNvCxnSpPr>
            <p:nvPr/>
          </p:nvCxnSpPr>
          <p:spPr bwMode="gray">
            <a:xfrm flipV="1">
              <a:off x="4505618" y="1195983"/>
              <a:ext cx="0" cy="262945"/>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0483F77D-7B1C-514F-0F24-88D49DE31BD8}"/>
                </a:ext>
              </a:extLst>
            </p:cNvPr>
            <p:cNvCxnSpPr>
              <a:cxnSpLocks/>
            </p:cNvCxnSpPr>
            <p:nvPr/>
          </p:nvCxnSpPr>
          <p:spPr bwMode="gray">
            <a:xfrm flipV="1">
              <a:off x="4936624" y="1195981"/>
              <a:ext cx="0" cy="50422"/>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126" name="Group 125">
            <a:extLst>
              <a:ext uri="{FF2B5EF4-FFF2-40B4-BE49-F238E27FC236}">
                <a16:creationId xmlns:a16="http://schemas.microsoft.com/office/drawing/2014/main" id="{55618050-7802-2CC1-54F9-B0DCDCCC8CC9}"/>
              </a:ext>
            </a:extLst>
          </p:cNvPr>
          <p:cNvGrpSpPr/>
          <p:nvPr/>
        </p:nvGrpSpPr>
        <p:grpSpPr>
          <a:xfrm>
            <a:off x="2210562" y="4498293"/>
            <a:ext cx="533658" cy="392298"/>
            <a:chOff x="4505618" y="1195981"/>
            <a:chExt cx="533658" cy="392298"/>
          </a:xfrm>
        </p:grpSpPr>
        <p:sp>
          <p:nvSpPr>
            <p:cNvPr id="127" name="Freeform 5">
              <a:extLst>
                <a:ext uri="{FF2B5EF4-FFF2-40B4-BE49-F238E27FC236}">
                  <a16:creationId xmlns:a16="http://schemas.microsoft.com/office/drawing/2014/main" id="{65D8B052-A1B4-DB2A-553A-37FE7AC99A9D}"/>
                </a:ext>
              </a:extLst>
            </p:cNvPr>
            <p:cNvSpPr>
              <a:spLocks noEditPoints="1"/>
            </p:cNvSpPr>
            <p:nvPr/>
          </p:nvSpPr>
          <p:spPr bwMode="auto">
            <a:xfrm>
              <a:off x="4588140" y="1296271"/>
              <a:ext cx="451136" cy="292008"/>
            </a:xfrm>
            <a:custGeom>
              <a:avLst/>
              <a:gdLst>
                <a:gd name="T0" fmla="*/ 0 w 2483"/>
                <a:gd name="T1" fmla="*/ 0 h 1758"/>
                <a:gd name="T2" fmla="*/ 0 w 2483"/>
                <a:gd name="T3" fmla="*/ 1758 h 1758"/>
                <a:gd name="T4" fmla="*/ 2483 w 2483"/>
                <a:gd name="T5" fmla="*/ 1758 h 1758"/>
                <a:gd name="T6" fmla="*/ 2483 w 2483"/>
                <a:gd name="T7" fmla="*/ 0 h 1758"/>
                <a:gd name="T8" fmla="*/ 0 w 2483"/>
                <a:gd name="T9" fmla="*/ 0 h 1758"/>
                <a:gd name="T10" fmla="*/ 2418 w 2483"/>
                <a:gd name="T11" fmla="*/ 1694 h 1758"/>
                <a:gd name="T12" fmla="*/ 65 w 2483"/>
                <a:gd name="T13" fmla="*/ 1694 h 1758"/>
                <a:gd name="T14" fmla="*/ 65 w 2483"/>
                <a:gd name="T15" fmla="*/ 65 h 1758"/>
                <a:gd name="T16" fmla="*/ 2418 w 2483"/>
                <a:gd name="T17" fmla="*/ 65 h 1758"/>
                <a:gd name="T18" fmla="*/ 2418 w 2483"/>
                <a:gd name="T19" fmla="*/ 1694 h 1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83" h="1758">
                  <a:moveTo>
                    <a:pt x="0" y="0"/>
                  </a:moveTo>
                  <a:lnTo>
                    <a:pt x="0" y="1758"/>
                  </a:lnTo>
                  <a:lnTo>
                    <a:pt x="2483" y="1758"/>
                  </a:lnTo>
                  <a:lnTo>
                    <a:pt x="2483" y="0"/>
                  </a:lnTo>
                  <a:lnTo>
                    <a:pt x="0" y="0"/>
                  </a:lnTo>
                  <a:close/>
                  <a:moveTo>
                    <a:pt x="2418" y="1694"/>
                  </a:moveTo>
                  <a:lnTo>
                    <a:pt x="65" y="1694"/>
                  </a:lnTo>
                  <a:lnTo>
                    <a:pt x="65" y="65"/>
                  </a:lnTo>
                  <a:lnTo>
                    <a:pt x="2418" y="65"/>
                  </a:lnTo>
                  <a:lnTo>
                    <a:pt x="2418" y="169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28" name="Group 127">
              <a:extLst>
                <a:ext uri="{FF2B5EF4-FFF2-40B4-BE49-F238E27FC236}">
                  <a16:creationId xmlns:a16="http://schemas.microsoft.com/office/drawing/2014/main" id="{D9300150-BACF-155E-A6CA-A70DAF5E0E23}"/>
                </a:ext>
              </a:extLst>
            </p:cNvPr>
            <p:cNvGrpSpPr/>
            <p:nvPr/>
          </p:nvGrpSpPr>
          <p:grpSpPr>
            <a:xfrm>
              <a:off x="4621577" y="1326834"/>
              <a:ext cx="384263" cy="231049"/>
              <a:chOff x="1474648" y="4826879"/>
              <a:chExt cx="576585" cy="346688"/>
            </a:xfrm>
          </p:grpSpPr>
          <p:sp>
            <p:nvSpPr>
              <p:cNvPr id="141" name="Oval 6">
                <a:extLst>
                  <a:ext uri="{FF2B5EF4-FFF2-40B4-BE49-F238E27FC236}">
                    <a16:creationId xmlns:a16="http://schemas.microsoft.com/office/drawing/2014/main" id="{55CB345D-4CB1-A5B5-03B7-CCB6B86F17D0}"/>
                  </a:ext>
                </a:extLst>
              </p:cNvPr>
              <p:cNvSpPr>
                <a:spLocks noChangeArrowheads="1"/>
              </p:cNvSpPr>
              <p:nvPr/>
            </p:nvSpPr>
            <p:spPr bwMode="auto">
              <a:xfrm>
                <a:off x="1474648" y="4826879"/>
                <a:ext cx="31228"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Oval 7">
                <a:extLst>
                  <a:ext uri="{FF2B5EF4-FFF2-40B4-BE49-F238E27FC236}">
                    <a16:creationId xmlns:a16="http://schemas.microsoft.com/office/drawing/2014/main" id="{8F48A7C9-8820-88FF-E84C-D9BCAF2C73CA}"/>
                  </a:ext>
                </a:extLst>
              </p:cNvPr>
              <p:cNvSpPr>
                <a:spLocks noChangeArrowheads="1"/>
              </p:cNvSpPr>
              <p:nvPr/>
            </p:nvSpPr>
            <p:spPr bwMode="auto">
              <a:xfrm>
                <a:off x="1474648" y="5142412"/>
                <a:ext cx="31228"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3" name="Oval 8">
                <a:extLst>
                  <a:ext uri="{FF2B5EF4-FFF2-40B4-BE49-F238E27FC236}">
                    <a16:creationId xmlns:a16="http://schemas.microsoft.com/office/drawing/2014/main" id="{1A6C9CD7-A683-5CE7-C854-8A49BB6C02F9}"/>
                  </a:ext>
                </a:extLst>
              </p:cNvPr>
              <p:cNvSpPr>
                <a:spLocks noChangeArrowheads="1"/>
              </p:cNvSpPr>
              <p:nvPr/>
            </p:nvSpPr>
            <p:spPr bwMode="auto">
              <a:xfrm>
                <a:off x="2020253" y="4826879"/>
                <a:ext cx="30980"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Oval 9">
                <a:extLst>
                  <a:ext uri="{FF2B5EF4-FFF2-40B4-BE49-F238E27FC236}">
                    <a16:creationId xmlns:a16="http://schemas.microsoft.com/office/drawing/2014/main" id="{51B3892B-DADE-6C67-AA98-BA4DFF09CFDF}"/>
                  </a:ext>
                </a:extLst>
              </p:cNvPr>
              <p:cNvSpPr>
                <a:spLocks noChangeArrowheads="1"/>
              </p:cNvSpPr>
              <p:nvPr/>
            </p:nvSpPr>
            <p:spPr bwMode="auto">
              <a:xfrm>
                <a:off x="2020253" y="5142412"/>
                <a:ext cx="30980"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9" name="Group 128">
              <a:extLst>
                <a:ext uri="{FF2B5EF4-FFF2-40B4-BE49-F238E27FC236}">
                  <a16:creationId xmlns:a16="http://schemas.microsoft.com/office/drawing/2014/main" id="{0C2B49A6-2318-73BA-EC98-E60B36170ECC}"/>
                </a:ext>
              </a:extLst>
            </p:cNvPr>
            <p:cNvGrpSpPr/>
            <p:nvPr/>
          </p:nvGrpSpPr>
          <p:grpSpPr>
            <a:xfrm>
              <a:off x="4713786" y="1407394"/>
              <a:ext cx="199845" cy="69431"/>
              <a:chOff x="1445849" y="4947759"/>
              <a:chExt cx="299866" cy="104181"/>
            </a:xfrm>
          </p:grpSpPr>
          <p:sp>
            <p:nvSpPr>
              <p:cNvPr id="138" name="Freeform 10">
                <a:extLst>
                  <a:ext uri="{FF2B5EF4-FFF2-40B4-BE49-F238E27FC236}">
                    <a16:creationId xmlns:a16="http://schemas.microsoft.com/office/drawing/2014/main" id="{9B8BABBB-3228-D720-0813-F3DB5FD47658}"/>
                  </a:ext>
                </a:extLst>
              </p:cNvPr>
              <p:cNvSpPr>
                <a:spLocks/>
              </p:cNvSpPr>
              <p:nvPr/>
            </p:nvSpPr>
            <p:spPr bwMode="auto">
              <a:xfrm>
                <a:off x="1550675"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11">
                <a:extLst>
                  <a:ext uri="{FF2B5EF4-FFF2-40B4-BE49-F238E27FC236}">
                    <a16:creationId xmlns:a16="http://schemas.microsoft.com/office/drawing/2014/main" id="{9E232FAB-44FC-415F-E7CF-5C1DD1E7CE2A}"/>
                  </a:ext>
                </a:extLst>
              </p:cNvPr>
              <p:cNvSpPr>
                <a:spLocks noEditPoints="1"/>
              </p:cNvSpPr>
              <p:nvPr/>
            </p:nvSpPr>
            <p:spPr bwMode="auto">
              <a:xfrm>
                <a:off x="1655501" y="4949254"/>
                <a:ext cx="90214" cy="101190"/>
              </a:xfrm>
              <a:custGeom>
                <a:avLst/>
                <a:gdLst>
                  <a:gd name="T0" fmla="*/ 534 w 534"/>
                  <a:gd name="T1" fmla="*/ 297 h 596"/>
                  <a:gd name="T2" fmla="*/ 206 w 534"/>
                  <a:gd name="T3" fmla="*/ 0 h 596"/>
                  <a:gd name="T4" fmla="*/ 0 w 534"/>
                  <a:gd name="T5" fmla="*/ 0 h 596"/>
                  <a:gd name="T6" fmla="*/ 0 w 534"/>
                  <a:gd name="T7" fmla="*/ 596 h 596"/>
                  <a:gd name="T8" fmla="*/ 206 w 534"/>
                  <a:gd name="T9" fmla="*/ 596 h 596"/>
                  <a:gd name="T10" fmla="*/ 534 w 534"/>
                  <a:gd name="T11" fmla="*/ 297 h 596"/>
                  <a:gd name="T12" fmla="*/ 88 w 534"/>
                  <a:gd name="T13" fmla="*/ 80 h 596"/>
                  <a:gd name="T14" fmla="*/ 211 w 534"/>
                  <a:gd name="T15" fmla="*/ 80 h 596"/>
                  <a:gd name="T16" fmla="*/ 445 w 534"/>
                  <a:gd name="T17" fmla="*/ 297 h 596"/>
                  <a:gd name="T18" fmla="*/ 211 w 534"/>
                  <a:gd name="T19" fmla="*/ 516 h 596"/>
                  <a:gd name="T20" fmla="*/ 88 w 534"/>
                  <a:gd name="T21" fmla="*/ 516 h 596"/>
                  <a:gd name="T22" fmla="*/ 88 w 534"/>
                  <a:gd name="T23" fmla="*/ 80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4" h="596">
                    <a:moveTo>
                      <a:pt x="534" y="297"/>
                    </a:moveTo>
                    <a:cubicBezTo>
                      <a:pt x="534" y="123"/>
                      <a:pt x="398" y="0"/>
                      <a:pt x="206" y="0"/>
                    </a:cubicBezTo>
                    <a:cubicBezTo>
                      <a:pt x="0" y="0"/>
                      <a:pt x="0" y="0"/>
                      <a:pt x="0" y="0"/>
                    </a:cubicBezTo>
                    <a:cubicBezTo>
                      <a:pt x="0" y="596"/>
                      <a:pt x="0" y="596"/>
                      <a:pt x="0" y="596"/>
                    </a:cubicBezTo>
                    <a:cubicBezTo>
                      <a:pt x="206" y="596"/>
                      <a:pt x="206" y="596"/>
                      <a:pt x="206" y="596"/>
                    </a:cubicBezTo>
                    <a:cubicBezTo>
                      <a:pt x="398" y="596"/>
                      <a:pt x="534" y="472"/>
                      <a:pt x="534" y="297"/>
                    </a:cubicBezTo>
                    <a:close/>
                    <a:moveTo>
                      <a:pt x="88" y="80"/>
                    </a:moveTo>
                    <a:cubicBezTo>
                      <a:pt x="211" y="80"/>
                      <a:pt x="211" y="80"/>
                      <a:pt x="211" y="80"/>
                    </a:cubicBezTo>
                    <a:cubicBezTo>
                      <a:pt x="348" y="80"/>
                      <a:pt x="445" y="170"/>
                      <a:pt x="445" y="297"/>
                    </a:cubicBezTo>
                    <a:cubicBezTo>
                      <a:pt x="445" y="426"/>
                      <a:pt x="348" y="516"/>
                      <a:pt x="211" y="516"/>
                    </a:cubicBezTo>
                    <a:cubicBezTo>
                      <a:pt x="88" y="516"/>
                      <a:pt x="88" y="516"/>
                      <a:pt x="88" y="516"/>
                    </a:cubicBezTo>
                    <a:lnTo>
                      <a:pt x="88" y="8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10">
                <a:extLst>
                  <a:ext uri="{FF2B5EF4-FFF2-40B4-BE49-F238E27FC236}">
                    <a16:creationId xmlns:a16="http://schemas.microsoft.com/office/drawing/2014/main" id="{49F9CB4F-826F-E22C-4D8E-944438BF05A8}"/>
                  </a:ext>
                </a:extLst>
              </p:cNvPr>
              <p:cNvSpPr>
                <a:spLocks/>
              </p:cNvSpPr>
              <p:nvPr/>
            </p:nvSpPr>
            <p:spPr bwMode="auto">
              <a:xfrm>
                <a:off x="1445849"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130" name="Straight Connector 129">
              <a:extLst>
                <a:ext uri="{FF2B5EF4-FFF2-40B4-BE49-F238E27FC236}">
                  <a16:creationId xmlns:a16="http://schemas.microsoft.com/office/drawing/2014/main" id="{BE31291B-8CCE-A15F-C05F-6B4A63CAE7BC}"/>
                </a:ext>
              </a:extLst>
            </p:cNvPr>
            <p:cNvCxnSpPr>
              <a:cxnSpLocks/>
            </p:cNvCxnSpPr>
            <p:nvPr/>
          </p:nvCxnSpPr>
          <p:spPr bwMode="gray">
            <a:xfrm flipH="1">
              <a:off x="4550146" y="1516262"/>
              <a:ext cx="37996"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9478A68F-2875-AD47-E6A7-157353B58D87}"/>
                </a:ext>
              </a:extLst>
            </p:cNvPr>
            <p:cNvCxnSpPr>
              <a:cxnSpLocks/>
            </p:cNvCxnSpPr>
            <p:nvPr/>
          </p:nvCxnSpPr>
          <p:spPr bwMode="gray">
            <a:xfrm flipH="1">
              <a:off x="4550147" y="1248567"/>
              <a:ext cx="431005"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D4993A1E-B203-E024-F25E-8C8DD95CCB00}"/>
                </a:ext>
              </a:extLst>
            </p:cNvPr>
            <p:cNvCxnSpPr>
              <a:cxnSpLocks/>
            </p:cNvCxnSpPr>
            <p:nvPr/>
          </p:nvCxnSpPr>
          <p:spPr bwMode="gray">
            <a:xfrm flipV="1">
              <a:off x="4550146" y="1248569"/>
              <a:ext cx="0" cy="262945"/>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04B4831-090A-1BEF-793B-28ABFA6E1AE1}"/>
                </a:ext>
              </a:extLst>
            </p:cNvPr>
            <p:cNvCxnSpPr>
              <a:cxnSpLocks/>
            </p:cNvCxnSpPr>
            <p:nvPr/>
          </p:nvCxnSpPr>
          <p:spPr bwMode="gray">
            <a:xfrm flipV="1">
              <a:off x="4981152" y="1248567"/>
              <a:ext cx="0" cy="50422"/>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A8DEBD30-7715-1E31-E72F-7E7F0F5AC856}"/>
                </a:ext>
              </a:extLst>
            </p:cNvPr>
            <p:cNvCxnSpPr>
              <a:cxnSpLocks/>
            </p:cNvCxnSpPr>
            <p:nvPr/>
          </p:nvCxnSpPr>
          <p:spPr bwMode="gray">
            <a:xfrm flipH="1">
              <a:off x="4505618" y="1463676"/>
              <a:ext cx="37996"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2A29089F-B676-23F5-F346-D601648B4EF1}"/>
                </a:ext>
              </a:extLst>
            </p:cNvPr>
            <p:cNvCxnSpPr>
              <a:cxnSpLocks/>
            </p:cNvCxnSpPr>
            <p:nvPr/>
          </p:nvCxnSpPr>
          <p:spPr bwMode="gray">
            <a:xfrm flipH="1">
              <a:off x="4505619" y="1195981"/>
              <a:ext cx="431005"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4CBB10C-8129-FE2F-55AE-99FE58C3FD1F}"/>
                </a:ext>
              </a:extLst>
            </p:cNvPr>
            <p:cNvCxnSpPr>
              <a:cxnSpLocks/>
            </p:cNvCxnSpPr>
            <p:nvPr/>
          </p:nvCxnSpPr>
          <p:spPr bwMode="gray">
            <a:xfrm flipV="1">
              <a:off x="4505618" y="1195983"/>
              <a:ext cx="0" cy="262945"/>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E044FB9-7F7B-DAFB-25EA-6A3EF69EA375}"/>
                </a:ext>
              </a:extLst>
            </p:cNvPr>
            <p:cNvCxnSpPr>
              <a:cxnSpLocks/>
            </p:cNvCxnSpPr>
            <p:nvPr/>
          </p:nvCxnSpPr>
          <p:spPr bwMode="gray">
            <a:xfrm flipV="1">
              <a:off x="4936624" y="1195981"/>
              <a:ext cx="0" cy="50422"/>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145" name="Group 144">
            <a:extLst>
              <a:ext uri="{FF2B5EF4-FFF2-40B4-BE49-F238E27FC236}">
                <a16:creationId xmlns:a16="http://schemas.microsoft.com/office/drawing/2014/main" id="{31FCED00-A8E2-8A09-FE1D-A0499CB0B92F}"/>
              </a:ext>
            </a:extLst>
          </p:cNvPr>
          <p:cNvGrpSpPr/>
          <p:nvPr/>
        </p:nvGrpSpPr>
        <p:grpSpPr>
          <a:xfrm>
            <a:off x="1577011" y="4498293"/>
            <a:ext cx="533658" cy="392298"/>
            <a:chOff x="4505618" y="1195981"/>
            <a:chExt cx="533658" cy="392298"/>
          </a:xfrm>
        </p:grpSpPr>
        <p:sp>
          <p:nvSpPr>
            <p:cNvPr id="146" name="Freeform 5">
              <a:extLst>
                <a:ext uri="{FF2B5EF4-FFF2-40B4-BE49-F238E27FC236}">
                  <a16:creationId xmlns:a16="http://schemas.microsoft.com/office/drawing/2014/main" id="{E125A3B7-84DB-47C3-FC01-E81C11C78CE8}"/>
                </a:ext>
              </a:extLst>
            </p:cNvPr>
            <p:cNvSpPr>
              <a:spLocks noEditPoints="1"/>
            </p:cNvSpPr>
            <p:nvPr/>
          </p:nvSpPr>
          <p:spPr bwMode="auto">
            <a:xfrm>
              <a:off x="4588140" y="1296271"/>
              <a:ext cx="451136" cy="292008"/>
            </a:xfrm>
            <a:custGeom>
              <a:avLst/>
              <a:gdLst>
                <a:gd name="T0" fmla="*/ 0 w 2483"/>
                <a:gd name="T1" fmla="*/ 0 h 1758"/>
                <a:gd name="T2" fmla="*/ 0 w 2483"/>
                <a:gd name="T3" fmla="*/ 1758 h 1758"/>
                <a:gd name="T4" fmla="*/ 2483 w 2483"/>
                <a:gd name="T5" fmla="*/ 1758 h 1758"/>
                <a:gd name="T6" fmla="*/ 2483 w 2483"/>
                <a:gd name="T7" fmla="*/ 0 h 1758"/>
                <a:gd name="T8" fmla="*/ 0 w 2483"/>
                <a:gd name="T9" fmla="*/ 0 h 1758"/>
                <a:gd name="T10" fmla="*/ 2418 w 2483"/>
                <a:gd name="T11" fmla="*/ 1694 h 1758"/>
                <a:gd name="T12" fmla="*/ 65 w 2483"/>
                <a:gd name="T13" fmla="*/ 1694 h 1758"/>
                <a:gd name="T14" fmla="*/ 65 w 2483"/>
                <a:gd name="T15" fmla="*/ 65 h 1758"/>
                <a:gd name="T16" fmla="*/ 2418 w 2483"/>
                <a:gd name="T17" fmla="*/ 65 h 1758"/>
                <a:gd name="T18" fmla="*/ 2418 w 2483"/>
                <a:gd name="T19" fmla="*/ 1694 h 1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83" h="1758">
                  <a:moveTo>
                    <a:pt x="0" y="0"/>
                  </a:moveTo>
                  <a:lnTo>
                    <a:pt x="0" y="1758"/>
                  </a:lnTo>
                  <a:lnTo>
                    <a:pt x="2483" y="1758"/>
                  </a:lnTo>
                  <a:lnTo>
                    <a:pt x="2483" y="0"/>
                  </a:lnTo>
                  <a:lnTo>
                    <a:pt x="0" y="0"/>
                  </a:lnTo>
                  <a:close/>
                  <a:moveTo>
                    <a:pt x="2418" y="1694"/>
                  </a:moveTo>
                  <a:lnTo>
                    <a:pt x="65" y="1694"/>
                  </a:lnTo>
                  <a:lnTo>
                    <a:pt x="65" y="65"/>
                  </a:lnTo>
                  <a:lnTo>
                    <a:pt x="2418" y="65"/>
                  </a:lnTo>
                  <a:lnTo>
                    <a:pt x="2418" y="1694"/>
                  </a:lnTo>
                  <a:close/>
                </a:path>
              </a:pathLst>
            </a:cu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47" name="Group 146">
              <a:extLst>
                <a:ext uri="{FF2B5EF4-FFF2-40B4-BE49-F238E27FC236}">
                  <a16:creationId xmlns:a16="http://schemas.microsoft.com/office/drawing/2014/main" id="{D6D70EC4-2C6B-36D6-B50B-F3C685CB0E73}"/>
                </a:ext>
              </a:extLst>
            </p:cNvPr>
            <p:cNvGrpSpPr/>
            <p:nvPr/>
          </p:nvGrpSpPr>
          <p:grpSpPr>
            <a:xfrm>
              <a:off x="4621577" y="1326834"/>
              <a:ext cx="384263" cy="231049"/>
              <a:chOff x="1474648" y="4826879"/>
              <a:chExt cx="576585" cy="346688"/>
            </a:xfrm>
          </p:grpSpPr>
          <p:sp>
            <p:nvSpPr>
              <p:cNvPr id="160" name="Oval 6">
                <a:extLst>
                  <a:ext uri="{FF2B5EF4-FFF2-40B4-BE49-F238E27FC236}">
                    <a16:creationId xmlns:a16="http://schemas.microsoft.com/office/drawing/2014/main" id="{804E772B-C53E-7291-E7C2-81B1C80E40E2}"/>
                  </a:ext>
                </a:extLst>
              </p:cNvPr>
              <p:cNvSpPr>
                <a:spLocks noChangeArrowheads="1"/>
              </p:cNvSpPr>
              <p:nvPr/>
            </p:nvSpPr>
            <p:spPr bwMode="auto">
              <a:xfrm>
                <a:off x="1474648" y="4826879"/>
                <a:ext cx="31228" cy="31155"/>
              </a:xfrm>
              <a:prstGeom prst="ellipse">
                <a:avLst/>
              </a:pr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Oval 7">
                <a:extLst>
                  <a:ext uri="{FF2B5EF4-FFF2-40B4-BE49-F238E27FC236}">
                    <a16:creationId xmlns:a16="http://schemas.microsoft.com/office/drawing/2014/main" id="{B3638D64-60F6-F27C-167C-06B767DBC78A}"/>
                  </a:ext>
                </a:extLst>
              </p:cNvPr>
              <p:cNvSpPr>
                <a:spLocks noChangeArrowheads="1"/>
              </p:cNvSpPr>
              <p:nvPr/>
            </p:nvSpPr>
            <p:spPr bwMode="auto">
              <a:xfrm>
                <a:off x="1474648" y="5142412"/>
                <a:ext cx="31228" cy="31155"/>
              </a:xfrm>
              <a:prstGeom prst="ellipse">
                <a:avLst/>
              </a:pr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Oval 8">
                <a:extLst>
                  <a:ext uri="{FF2B5EF4-FFF2-40B4-BE49-F238E27FC236}">
                    <a16:creationId xmlns:a16="http://schemas.microsoft.com/office/drawing/2014/main" id="{35773CCD-8242-FBC8-13B2-B2E9BC2E0950}"/>
                  </a:ext>
                </a:extLst>
              </p:cNvPr>
              <p:cNvSpPr>
                <a:spLocks noChangeArrowheads="1"/>
              </p:cNvSpPr>
              <p:nvPr/>
            </p:nvSpPr>
            <p:spPr bwMode="auto">
              <a:xfrm>
                <a:off x="2020253" y="4826879"/>
                <a:ext cx="30980" cy="31155"/>
              </a:xfrm>
              <a:prstGeom prst="ellipse">
                <a:avLst/>
              </a:pr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3" name="Oval 9">
                <a:extLst>
                  <a:ext uri="{FF2B5EF4-FFF2-40B4-BE49-F238E27FC236}">
                    <a16:creationId xmlns:a16="http://schemas.microsoft.com/office/drawing/2014/main" id="{70CD09B0-4E19-EE05-259E-6AA351F997AD}"/>
                  </a:ext>
                </a:extLst>
              </p:cNvPr>
              <p:cNvSpPr>
                <a:spLocks noChangeArrowheads="1"/>
              </p:cNvSpPr>
              <p:nvPr/>
            </p:nvSpPr>
            <p:spPr bwMode="auto">
              <a:xfrm>
                <a:off x="2020253" y="5142412"/>
                <a:ext cx="30980" cy="31155"/>
              </a:xfrm>
              <a:prstGeom prst="ellipse">
                <a:avLst/>
              </a:pr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48" name="Group 147">
              <a:extLst>
                <a:ext uri="{FF2B5EF4-FFF2-40B4-BE49-F238E27FC236}">
                  <a16:creationId xmlns:a16="http://schemas.microsoft.com/office/drawing/2014/main" id="{6F745913-DC6A-A7D4-91EF-567635731576}"/>
                </a:ext>
              </a:extLst>
            </p:cNvPr>
            <p:cNvGrpSpPr/>
            <p:nvPr/>
          </p:nvGrpSpPr>
          <p:grpSpPr>
            <a:xfrm>
              <a:off x="4713786" y="1407394"/>
              <a:ext cx="199845" cy="69431"/>
              <a:chOff x="1445849" y="4947759"/>
              <a:chExt cx="299866" cy="104181"/>
            </a:xfrm>
          </p:grpSpPr>
          <p:sp>
            <p:nvSpPr>
              <p:cNvPr id="157" name="Freeform 10">
                <a:extLst>
                  <a:ext uri="{FF2B5EF4-FFF2-40B4-BE49-F238E27FC236}">
                    <a16:creationId xmlns:a16="http://schemas.microsoft.com/office/drawing/2014/main" id="{6B012532-5C3F-77B3-FCFB-7931507DBAC3}"/>
                  </a:ext>
                </a:extLst>
              </p:cNvPr>
              <p:cNvSpPr>
                <a:spLocks/>
              </p:cNvSpPr>
              <p:nvPr/>
            </p:nvSpPr>
            <p:spPr bwMode="auto">
              <a:xfrm>
                <a:off x="1550675"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11">
                <a:extLst>
                  <a:ext uri="{FF2B5EF4-FFF2-40B4-BE49-F238E27FC236}">
                    <a16:creationId xmlns:a16="http://schemas.microsoft.com/office/drawing/2014/main" id="{5688E124-D079-E2F4-FC83-7581D3230F78}"/>
                  </a:ext>
                </a:extLst>
              </p:cNvPr>
              <p:cNvSpPr>
                <a:spLocks noEditPoints="1"/>
              </p:cNvSpPr>
              <p:nvPr/>
            </p:nvSpPr>
            <p:spPr bwMode="auto">
              <a:xfrm>
                <a:off x="1655501" y="4949254"/>
                <a:ext cx="90214" cy="101190"/>
              </a:xfrm>
              <a:custGeom>
                <a:avLst/>
                <a:gdLst>
                  <a:gd name="T0" fmla="*/ 534 w 534"/>
                  <a:gd name="T1" fmla="*/ 297 h 596"/>
                  <a:gd name="T2" fmla="*/ 206 w 534"/>
                  <a:gd name="T3" fmla="*/ 0 h 596"/>
                  <a:gd name="T4" fmla="*/ 0 w 534"/>
                  <a:gd name="T5" fmla="*/ 0 h 596"/>
                  <a:gd name="T6" fmla="*/ 0 w 534"/>
                  <a:gd name="T7" fmla="*/ 596 h 596"/>
                  <a:gd name="T8" fmla="*/ 206 w 534"/>
                  <a:gd name="T9" fmla="*/ 596 h 596"/>
                  <a:gd name="T10" fmla="*/ 534 w 534"/>
                  <a:gd name="T11" fmla="*/ 297 h 596"/>
                  <a:gd name="T12" fmla="*/ 88 w 534"/>
                  <a:gd name="T13" fmla="*/ 80 h 596"/>
                  <a:gd name="T14" fmla="*/ 211 w 534"/>
                  <a:gd name="T15" fmla="*/ 80 h 596"/>
                  <a:gd name="T16" fmla="*/ 445 w 534"/>
                  <a:gd name="T17" fmla="*/ 297 h 596"/>
                  <a:gd name="T18" fmla="*/ 211 w 534"/>
                  <a:gd name="T19" fmla="*/ 516 h 596"/>
                  <a:gd name="T20" fmla="*/ 88 w 534"/>
                  <a:gd name="T21" fmla="*/ 516 h 596"/>
                  <a:gd name="T22" fmla="*/ 88 w 534"/>
                  <a:gd name="T23" fmla="*/ 80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4" h="596">
                    <a:moveTo>
                      <a:pt x="534" y="297"/>
                    </a:moveTo>
                    <a:cubicBezTo>
                      <a:pt x="534" y="123"/>
                      <a:pt x="398" y="0"/>
                      <a:pt x="206" y="0"/>
                    </a:cubicBezTo>
                    <a:cubicBezTo>
                      <a:pt x="0" y="0"/>
                      <a:pt x="0" y="0"/>
                      <a:pt x="0" y="0"/>
                    </a:cubicBezTo>
                    <a:cubicBezTo>
                      <a:pt x="0" y="596"/>
                      <a:pt x="0" y="596"/>
                      <a:pt x="0" y="596"/>
                    </a:cubicBezTo>
                    <a:cubicBezTo>
                      <a:pt x="206" y="596"/>
                      <a:pt x="206" y="596"/>
                      <a:pt x="206" y="596"/>
                    </a:cubicBezTo>
                    <a:cubicBezTo>
                      <a:pt x="398" y="596"/>
                      <a:pt x="534" y="472"/>
                      <a:pt x="534" y="297"/>
                    </a:cubicBezTo>
                    <a:close/>
                    <a:moveTo>
                      <a:pt x="88" y="80"/>
                    </a:moveTo>
                    <a:cubicBezTo>
                      <a:pt x="211" y="80"/>
                      <a:pt x="211" y="80"/>
                      <a:pt x="211" y="80"/>
                    </a:cubicBezTo>
                    <a:cubicBezTo>
                      <a:pt x="348" y="80"/>
                      <a:pt x="445" y="170"/>
                      <a:pt x="445" y="297"/>
                    </a:cubicBezTo>
                    <a:cubicBezTo>
                      <a:pt x="445" y="426"/>
                      <a:pt x="348" y="516"/>
                      <a:pt x="211" y="516"/>
                    </a:cubicBezTo>
                    <a:cubicBezTo>
                      <a:pt x="88" y="516"/>
                      <a:pt x="88" y="516"/>
                      <a:pt x="88" y="516"/>
                    </a:cubicBezTo>
                    <a:lnTo>
                      <a:pt x="88" y="80"/>
                    </a:lnTo>
                    <a:close/>
                  </a:path>
                </a:pathLst>
              </a:cu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10">
                <a:extLst>
                  <a:ext uri="{FF2B5EF4-FFF2-40B4-BE49-F238E27FC236}">
                    <a16:creationId xmlns:a16="http://schemas.microsoft.com/office/drawing/2014/main" id="{34EF9511-3913-7649-0BA7-47D5D9414BB9}"/>
                  </a:ext>
                </a:extLst>
              </p:cNvPr>
              <p:cNvSpPr>
                <a:spLocks/>
              </p:cNvSpPr>
              <p:nvPr/>
            </p:nvSpPr>
            <p:spPr bwMode="auto">
              <a:xfrm>
                <a:off x="1445849"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149" name="Straight Connector 148">
              <a:extLst>
                <a:ext uri="{FF2B5EF4-FFF2-40B4-BE49-F238E27FC236}">
                  <a16:creationId xmlns:a16="http://schemas.microsoft.com/office/drawing/2014/main" id="{3626069D-857C-E2CC-CFC7-D2F54B3FCF2C}"/>
                </a:ext>
              </a:extLst>
            </p:cNvPr>
            <p:cNvCxnSpPr>
              <a:cxnSpLocks/>
            </p:cNvCxnSpPr>
            <p:nvPr/>
          </p:nvCxnSpPr>
          <p:spPr bwMode="gray">
            <a:xfrm flipH="1">
              <a:off x="4550146" y="1516262"/>
              <a:ext cx="37996" cy="0"/>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3D116607-C821-9011-B2FE-197049762222}"/>
                </a:ext>
              </a:extLst>
            </p:cNvPr>
            <p:cNvCxnSpPr>
              <a:cxnSpLocks/>
            </p:cNvCxnSpPr>
            <p:nvPr/>
          </p:nvCxnSpPr>
          <p:spPr bwMode="gray">
            <a:xfrm flipH="1">
              <a:off x="4550147" y="1248567"/>
              <a:ext cx="431005" cy="0"/>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C0078508-B144-7DF8-3000-BC78EE8897F7}"/>
                </a:ext>
              </a:extLst>
            </p:cNvPr>
            <p:cNvCxnSpPr>
              <a:cxnSpLocks/>
            </p:cNvCxnSpPr>
            <p:nvPr/>
          </p:nvCxnSpPr>
          <p:spPr bwMode="gray">
            <a:xfrm flipV="1">
              <a:off x="4550146" y="1248569"/>
              <a:ext cx="0" cy="262945"/>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ED4D48C7-3730-5ED6-5D30-FDFC02881A27}"/>
                </a:ext>
              </a:extLst>
            </p:cNvPr>
            <p:cNvCxnSpPr>
              <a:cxnSpLocks/>
            </p:cNvCxnSpPr>
            <p:nvPr/>
          </p:nvCxnSpPr>
          <p:spPr bwMode="gray">
            <a:xfrm flipV="1">
              <a:off x="4981152" y="1248567"/>
              <a:ext cx="0" cy="50422"/>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5208EA2D-D435-5CF4-76BD-D9F8A00F0181}"/>
                </a:ext>
              </a:extLst>
            </p:cNvPr>
            <p:cNvCxnSpPr>
              <a:cxnSpLocks/>
            </p:cNvCxnSpPr>
            <p:nvPr/>
          </p:nvCxnSpPr>
          <p:spPr bwMode="gray">
            <a:xfrm flipH="1">
              <a:off x="4505618" y="1463676"/>
              <a:ext cx="37996" cy="0"/>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F0AB595D-F7A5-91B2-8EBF-BDF640EA287B}"/>
                </a:ext>
              </a:extLst>
            </p:cNvPr>
            <p:cNvCxnSpPr>
              <a:cxnSpLocks/>
            </p:cNvCxnSpPr>
            <p:nvPr/>
          </p:nvCxnSpPr>
          <p:spPr bwMode="gray">
            <a:xfrm flipH="1">
              <a:off x="4505619" y="1195981"/>
              <a:ext cx="431005" cy="0"/>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D4D2CF23-662B-9CD9-683F-22C60217F269}"/>
                </a:ext>
              </a:extLst>
            </p:cNvPr>
            <p:cNvCxnSpPr>
              <a:cxnSpLocks/>
            </p:cNvCxnSpPr>
            <p:nvPr/>
          </p:nvCxnSpPr>
          <p:spPr bwMode="gray">
            <a:xfrm flipV="1">
              <a:off x="4505618" y="1195983"/>
              <a:ext cx="0" cy="262945"/>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C366360C-0E3E-19F6-C5C9-0C700F9B2DD9}"/>
                </a:ext>
              </a:extLst>
            </p:cNvPr>
            <p:cNvCxnSpPr>
              <a:cxnSpLocks/>
            </p:cNvCxnSpPr>
            <p:nvPr/>
          </p:nvCxnSpPr>
          <p:spPr bwMode="gray">
            <a:xfrm flipV="1">
              <a:off x="4936624" y="1195981"/>
              <a:ext cx="0" cy="50422"/>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164" name="Group 163">
            <a:extLst>
              <a:ext uri="{FF2B5EF4-FFF2-40B4-BE49-F238E27FC236}">
                <a16:creationId xmlns:a16="http://schemas.microsoft.com/office/drawing/2014/main" id="{EEAA8BAF-0966-8CF7-46A2-703AFB389E2D}"/>
              </a:ext>
            </a:extLst>
          </p:cNvPr>
          <p:cNvGrpSpPr/>
          <p:nvPr/>
        </p:nvGrpSpPr>
        <p:grpSpPr>
          <a:xfrm>
            <a:off x="3440939" y="4498293"/>
            <a:ext cx="533658" cy="392298"/>
            <a:chOff x="4505618" y="1195981"/>
            <a:chExt cx="533658" cy="392298"/>
          </a:xfrm>
        </p:grpSpPr>
        <p:sp>
          <p:nvSpPr>
            <p:cNvPr id="165" name="Freeform 5">
              <a:extLst>
                <a:ext uri="{FF2B5EF4-FFF2-40B4-BE49-F238E27FC236}">
                  <a16:creationId xmlns:a16="http://schemas.microsoft.com/office/drawing/2014/main" id="{A082AF22-D5C1-115C-31EB-1FC56FC6D641}"/>
                </a:ext>
              </a:extLst>
            </p:cNvPr>
            <p:cNvSpPr>
              <a:spLocks noEditPoints="1"/>
            </p:cNvSpPr>
            <p:nvPr/>
          </p:nvSpPr>
          <p:spPr bwMode="auto">
            <a:xfrm>
              <a:off x="4588140" y="1296271"/>
              <a:ext cx="451136" cy="292008"/>
            </a:xfrm>
            <a:custGeom>
              <a:avLst/>
              <a:gdLst>
                <a:gd name="T0" fmla="*/ 0 w 2483"/>
                <a:gd name="T1" fmla="*/ 0 h 1758"/>
                <a:gd name="T2" fmla="*/ 0 w 2483"/>
                <a:gd name="T3" fmla="*/ 1758 h 1758"/>
                <a:gd name="T4" fmla="*/ 2483 w 2483"/>
                <a:gd name="T5" fmla="*/ 1758 h 1758"/>
                <a:gd name="T6" fmla="*/ 2483 w 2483"/>
                <a:gd name="T7" fmla="*/ 0 h 1758"/>
                <a:gd name="T8" fmla="*/ 0 w 2483"/>
                <a:gd name="T9" fmla="*/ 0 h 1758"/>
                <a:gd name="T10" fmla="*/ 2418 w 2483"/>
                <a:gd name="T11" fmla="*/ 1694 h 1758"/>
                <a:gd name="T12" fmla="*/ 65 w 2483"/>
                <a:gd name="T13" fmla="*/ 1694 h 1758"/>
                <a:gd name="T14" fmla="*/ 65 w 2483"/>
                <a:gd name="T15" fmla="*/ 65 h 1758"/>
                <a:gd name="T16" fmla="*/ 2418 w 2483"/>
                <a:gd name="T17" fmla="*/ 65 h 1758"/>
                <a:gd name="T18" fmla="*/ 2418 w 2483"/>
                <a:gd name="T19" fmla="*/ 1694 h 1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83" h="1758">
                  <a:moveTo>
                    <a:pt x="0" y="0"/>
                  </a:moveTo>
                  <a:lnTo>
                    <a:pt x="0" y="1758"/>
                  </a:lnTo>
                  <a:lnTo>
                    <a:pt x="2483" y="1758"/>
                  </a:lnTo>
                  <a:lnTo>
                    <a:pt x="2483" y="0"/>
                  </a:lnTo>
                  <a:lnTo>
                    <a:pt x="0" y="0"/>
                  </a:lnTo>
                  <a:close/>
                  <a:moveTo>
                    <a:pt x="2418" y="1694"/>
                  </a:moveTo>
                  <a:lnTo>
                    <a:pt x="65" y="1694"/>
                  </a:lnTo>
                  <a:lnTo>
                    <a:pt x="65" y="65"/>
                  </a:lnTo>
                  <a:lnTo>
                    <a:pt x="2418" y="65"/>
                  </a:lnTo>
                  <a:lnTo>
                    <a:pt x="2418" y="169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66" name="Group 165">
              <a:extLst>
                <a:ext uri="{FF2B5EF4-FFF2-40B4-BE49-F238E27FC236}">
                  <a16:creationId xmlns:a16="http://schemas.microsoft.com/office/drawing/2014/main" id="{2AB5E71A-7ECD-3D8D-FB30-6E4FB1E4B114}"/>
                </a:ext>
              </a:extLst>
            </p:cNvPr>
            <p:cNvGrpSpPr/>
            <p:nvPr/>
          </p:nvGrpSpPr>
          <p:grpSpPr>
            <a:xfrm>
              <a:off x="4621577" y="1326834"/>
              <a:ext cx="384263" cy="231049"/>
              <a:chOff x="1474648" y="4826879"/>
              <a:chExt cx="576585" cy="346688"/>
            </a:xfrm>
          </p:grpSpPr>
          <p:sp>
            <p:nvSpPr>
              <p:cNvPr id="179" name="Oval 6">
                <a:extLst>
                  <a:ext uri="{FF2B5EF4-FFF2-40B4-BE49-F238E27FC236}">
                    <a16:creationId xmlns:a16="http://schemas.microsoft.com/office/drawing/2014/main" id="{FAD5F1E4-C70E-941C-DA69-3296411D60B6}"/>
                  </a:ext>
                </a:extLst>
              </p:cNvPr>
              <p:cNvSpPr>
                <a:spLocks noChangeArrowheads="1"/>
              </p:cNvSpPr>
              <p:nvPr/>
            </p:nvSpPr>
            <p:spPr bwMode="auto">
              <a:xfrm>
                <a:off x="1474648" y="4826879"/>
                <a:ext cx="31228"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Oval 7">
                <a:extLst>
                  <a:ext uri="{FF2B5EF4-FFF2-40B4-BE49-F238E27FC236}">
                    <a16:creationId xmlns:a16="http://schemas.microsoft.com/office/drawing/2014/main" id="{990774BC-C4CA-C6A1-6651-3355352C0A3C}"/>
                  </a:ext>
                </a:extLst>
              </p:cNvPr>
              <p:cNvSpPr>
                <a:spLocks noChangeArrowheads="1"/>
              </p:cNvSpPr>
              <p:nvPr/>
            </p:nvSpPr>
            <p:spPr bwMode="auto">
              <a:xfrm>
                <a:off x="1474648" y="5142412"/>
                <a:ext cx="31228"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Oval 8">
                <a:extLst>
                  <a:ext uri="{FF2B5EF4-FFF2-40B4-BE49-F238E27FC236}">
                    <a16:creationId xmlns:a16="http://schemas.microsoft.com/office/drawing/2014/main" id="{22CDF75A-2F0E-710E-67E6-FBF8A453001C}"/>
                  </a:ext>
                </a:extLst>
              </p:cNvPr>
              <p:cNvSpPr>
                <a:spLocks noChangeArrowheads="1"/>
              </p:cNvSpPr>
              <p:nvPr/>
            </p:nvSpPr>
            <p:spPr bwMode="auto">
              <a:xfrm>
                <a:off x="2020253" y="4826879"/>
                <a:ext cx="30980"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Oval 9">
                <a:extLst>
                  <a:ext uri="{FF2B5EF4-FFF2-40B4-BE49-F238E27FC236}">
                    <a16:creationId xmlns:a16="http://schemas.microsoft.com/office/drawing/2014/main" id="{22D4A9F4-093D-2DFC-CC58-26C95FC1AD88}"/>
                  </a:ext>
                </a:extLst>
              </p:cNvPr>
              <p:cNvSpPr>
                <a:spLocks noChangeArrowheads="1"/>
              </p:cNvSpPr>
              <p:nvPr/>
            </p:nvSpPr>
            <p:spPr bwMode="auto">
              <a:xfrm>
                <a:off x="2020253" y="5142412"/>
                <a:ext cx="30980"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67" name="Group 166">
              <a:extLst>
                <a:ext uri="{FF2B5EF4-FFF2-40B4-BE49-F238E27FC236}">
                  <a16:creationId xmlns:a16="http://schemas.microsoft.com/office/drawing/2014/main" id="{DD4708FB-9213-616D-8B1F-A98966DC089E}"/>
                </a:ext>
              </a:extLst>
            </p:cNvPr>
            <p:cNvGrpSpPr/>
            <p:nvPr/>
          </p:nvGrpSpPr>
          <p:grpSpPr>
            <a:xfrm>
              <a:off x="4713786" y="1407394"/>
              <a:ext cx="199845" cy="69431"/>
              <a:chOff x="1445849" y="4947759"/>
              <a:chExt cx="299866" cy="104181"/>
            </a:xfrm>
          </p:grpSpPr>
          <p:sp>
            <p:nvSpPr>
              <p:cNvPr id="176" name="Freeform 10">
                <a:extLst>
                  <a:ext uri="{FF2B5EF4-FFF2-40B4-BE49-F238E27FC236}">
                    <a16:creationId xmlns:a16="http://schemas.microsoft.com/office/drawing/2014/main" id="{C4D0FB09-B771-9902-E86D-699C97293B1B}"/>
                  </a:ext>
                </a:extLst>
              </p:cNvPr>
              <p:cNvSpPr>
                <a:spLocks/>
              </p:cNvSpPr>
              <p:nvPr/>
            </p:nvSpPr>
            <p:spPr bwMode="auto">
              <a:xfrm>
                <a:off x="1550675"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11">
                <a:extLst>
                  <a:ext uri="{FF2B5EF4-FFF2-40B4-BE49-F238E27FC236}">
                    <a16:creationId xmlns:a16="http://schemas.microsoft.com/office/drawing/2014/main" id="{E6791C8F-43AA-23AA-DEF3-0708DD84C3A0}"/>
                  </a:ext>
                </a:extLst>
              </p:cNvPr>
              <p:cNvSpPr>
                <a:spLocks noEditPoints="1"/>
              </p:cNvSpPr>
              <p:nvPr/>
            </p:nvSpPr>
            <p:spPr bwMode="auto">
              <a:xfrm>
                <a:off x="1655501" y="4949254"/>
                <a:ext cx="90214" cy="101190"/>
              </a:xfrm>
              <a:custGeom>
                <a:avLst/>
                <a:gdLst>
                  <a:gd name="T0" fmla="*/ 534 w 534"/>
                  <a:gd name="T1" fmla="*/ 297 h 596"/>
                  <a:gd name="T2" fmla="*/ 206 w 534"/>
                  <a:gd name="T3" fmla="*/ 0 h 596"/>
                  <a:gd name="T4" fmla="*/ 0 w 534"/>
                  <a:gd name="T5" fmla="*/ 0 h 596"/>
                  <a:gd name="T6" fmla="*/ 0 w 534"/>
                  <a:gd name="T7" fmla="*/ 596 h 596"/>
                  <a:gd name="T8" fmla="*/ 206 w 534"/>
                  <a:gd name="T9" fmla="*/ 596 h 596"/>
                  <a:gd name="T10" fmla="*/ 534 w 534"/>
                  <a:gd name="T11" fmla="*/ 297 h 596"/>
                  <a:gd name="T12" fmla="*/ 88 w 534"/>
                  <a:gd name="T13" fmla="*/ 80 h 596"/>
                  <a:gd name="T14" fmla="*/ 211 w 534"/>
                  <a:gd name="T15" fmla="*/ 80 h 596"/>
                  <a:gd name="T16" fmla="*/ 445 w 534"/>
                  <a:gd name="T17" fmla="*/ 297 h 596"/>
                  <a:gd name="T18" fmla="*/ 211 w 534"/>
                  <a:gd name="T19" fmla="*/ 516 h 596"/>
                  <a:gd name="T20" fmla="*/ 88 w 534"/>
                  <a:gd name="T21" fmla="*/ 516 h 596"/>
                  <a:gd name="T22" fmla="*/ 88 w 534"/>
                  <a:gd name="T23" fmla="*/ 80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4" h="596">
                    <a:moveTo>
                      <a:pt x="534" y="297"/>
                    </a:moveTo>
                    <a:cubicBezTo>
                      <a:pt x="534" y="123"/>
                      <a:pt x="398" y="0"/>
                      <a:pt x="206" y="0"/>
                    </a:cubicBezTo>
                    <a:cubicBezTo>
                      <a:pt x="0" y="0"/>
                      <a:pt x="0" y="0"/>
                      <a:pt x="0" y="0"/>
                    </a:cubicBezTo>
                    <a:cubicBezTo>
                      <a:pt x="0" y="596"/>
                      <a:pt x="0" y="596"/>
                      <a:pt x="0" y="596"/>
                    </a:cubicBezTo>
                    <a:cubicBezTo>
                      <a:pt x="206" y="596"/>
                      <a:pt x="206" y="596"/>
                      <a:pt x="206" y="596"/>
                    </a:cubicBezTo>
                    <a:cubicBezTo>
                      <a:pt x="398" y="596"/>
                      <a:pt x="534" y="472"/>
                      <a:pt x="534" y="297"/>
                    </a:cubicBezTo>
                    <a:close/>
                    <a:moveTo>
                      <a:pt x="88" y="80"/>
                    </a:moveTo>
                    <a:cubicBezTo>
                      <a:pt x="211" y="80"/>
                      <a:pt x="211" y="80"/>
                      <a:pt x="211" y="80"/>
                    </a:cubicBezTo>
                    <a:cubicBezTo>
                      <a:pt x="348" y="80"/>
                      <a:pt x="445" y="170"/>
                      <a:pt x="445" y="297"/>
                    </a:cubicBezTo>
                    <a:cubicBezTo>
                      <a:pt x="445" y="426"/>
                      <a:pt x="348" y="516"/>
                      <a:pt x="211" y="516"/>
                    </a:cubicBezTo>
                    <a:cubicBezTo>
                      <a:pt x="88" y="516"/>
                      <a:pt x="88" y="516"/>
                      <a:pt x="88" y="516"/>
                    </a:cubicBezTo>
                    <a:lnTo>
                      <a:pt x="88" y="8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10">
                <a:extLst>
                  <a:ext uri="{FF2B5EF4-FFF2-40B4-BE49-F238E27FC236}">
                    <a16:creationId xmlns:a16="http://schemas.microsoft.com/office/drawing/2014/main" id="{7C07CEBB-C836-E2D3-E519-A0D205E7C84F}"/>
                  </a:ext>
                </a:extLst>
              </p:cNvPr>
              <p:cNvSpPr>
                <a:spLocks/>
              </p:cNvSpPr>
              <p:nvPr/>
            </p:nvSpPr>
            <p:spPr bwMode="auto">
              <a:xfrm>
                <a:off x="1445849"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168" name="Straight Connector 167">
              <a:extLst>
                <a:ext uri="{FF2B5EF4-FFF2-40B4-BE49-F238E27FC236}">
                  <a16:creationId xmlns:a16="http://schemas.microsoft.com/office/drawing/2014/main" id="{E12DE967-A4D7-20F1-940D-63941E117093}"/>
                </a:ext>
              </a:extLst>
            </p:cNvPr>
            <p:cNvCxnSpPr>
              <a:cxnSpLocks/>
            </p:cNvCxnSpPr>
            <p:nvPr/>
          </p:nvCxnSpPr>
          <p:spPr bwMode="gray">
            <a:xfrm flipH="1">
              <a:off x="4550146" y="1516262"/>
              <a:ext cx="37996"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0047CB10-43E6-4CC1-48FF-431C82DEBB67}"/>
                </a:ext>
              </a:extLst>
            </p:cNvPr>
            <p:cNvCxnSpPr>
              <a:cxnSpLocks/>
            </p:cNvCxnSpPr>
            <p:nvPr/>
          </p:nvCxnSpPr>
          <p:spPr bwMode="gray">
            <a:xfrm flipH="1">
              <a:off x="4550147" y="1248567"/>
              <a:ext cx="431005"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05BFB5C9-56E9-7B1D-5153-6C3ABA0D4304}"/>
                </a:ext>
              </a:extLst>
            </p:cNvPr>
            <p:cNvCxnSpPr>
              <a:cxnSpLocks/>
            </p:cNvCxnSpPr>
            <p:nvPr/>
          </p:nvCxnSpPr>
          <p:spPr bwMode="gray">
            <a:xfrm flipV="1">
              <a:off x="4550146" y="1248569"/>
              <a:ext cx="0" cy="262945"/>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B26DD4D3-C04E-1E91-44E0-E8017444D45D}"/>
                </a:ext>
              </a:extLst>
            </p:cNvPr>
            <p:cNvCxnSpPr>
              <a:cxnSpLocks/>
            </p:cNvCxnSpPr>
            <p:nvPr/>
          </p:nvCxnSpPr>
          <p:spPr bwMode="gray">
            <a:xfrm flipV="1">
              <a:off x="4981152" y="1248567"/>
              <a:ext cx="0" cy="50422"/>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9C9CD6F8-87AC-04A5-2D70-5176D3677DCA}"/>
                </a:ext>
              </a:extLst>
            </p:cNvPr>
            <p:cNvCxnSpPr>
              <a:cxnSpLocks/>
            </p:cNvCxnSpPr>
            <p:nvPr/>
          </p:nvCxnSpPr>
          <p:spPr bwMode="gray">
            <a:xfrm flipH="1">
              <a:off x="4505618" y="1463676"/>
              <a:ext cx="37996"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691D024D-6C22-BB65-0982-1206EBAB1911}"/>
                </a:ext>
              </a:extLst>
            </p:cNvPr>
            <p:cNvCxnSpPr>
              <a:cxnSpLocks/>
            </p:cNvCxnSpPr>
            <p:nvPr/>
          </p:nvCxnSpPr>
          <p:spPr bwMode="gray">
            <a:xfrm flipH="1">
              <a:off x="4505619" y="1195981"/>
              <a:ext cx="431005"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3D608B13-D530-058C-14B6-E6EB01F1FAEC}"/>
                </a:ext>
              </a:extLst>
            </p:cNvPr>
            <p:cNvCxnSpPr>
              <a:cxnSpLocks/>
            </p:cNvCxnSpPr>
            <p:nvPr/>
          </p:nvCxnSpPr>
          <p:spPr bwMode="gray">
            <a:xfrm flipV="1">
              <a:off x="4505618" y="1195983"/>
              <a:ext cx="0" cy="262945"/>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335414BF-FCF1-4D63-C30B-7477AC59B80F}"/>
                </a:ext>
              </a:extLst>
            </p:cNvPr>
            <p:cNvCxnSpPr>
              <a:cxnSpLocks/>
            </p:cNvCxnSpPr>
            <p:nvPr/>
          </p:nvCxnSpPr>
          <p:spPr bwMode="gray">
            <a:xfrm flipV="1">
              <a:off x="4936624" y="1195981"/>
              <a:ext cx="0" cy="50422"/>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183" name="Group 182">
            <a:extLst>
              <a:ext uri="{FF2B5EF4-FFF2-40B4-BE49-F238E27FC236}">
                <a16:creationId xmlns:a16="http://schemas.microsoft.com/office/drawing/2014/main" id="{9AD5CFB5-1538-1A33-EED3-255077516124}"/>
              </a:ext>
            </a:extLst>
          </p:cNvPr>
          <p:cNvGrpSpPr/>
          <p:nvPr/>
        </p:nvGrpSpPr>
        <p:grpSpPr>
          <a:xfrm>
            <a:off x="4708040" y="4498293"/>
            <a:ext cx="533658" cy="392298"/>
            <a:chOff x="4505618" y="1195981"/>
            <a:chExt cx="533658" cy="392298"/>
          </a:xfrm>
        </p:grpSpPr>
        <p:sp>
          <p:nvSpPr>
            <p:cNvPr id="184" name="Freeform 5">
              <a:extLst>
                <a:ext uri="{FF2B5EF4-FFF2-40B4-BE49-F238E27FC236}">
                  <a16:creationId xmlns:a16="http://schemas.microsoft.com/office/drawing/2014/main" id="{60E94502-59B4-FABA-C509-BCD2FE2DF062}"/>
                </a:ext>
              </a:extLst>
            </p:cNvPr>
            <p:cNvSpPr>
              <a:spLocks noEditPoints="1"/>
            </p:cNvSpPr>
            <p:nvPr/>
          </p:nvSpPr>
          <p:spPr bwMode="auto">
            <a:xfrm>
              <a:off x="4588140" y="1296271"/>
              <a:ext cx="451136" cy="292008"/>
            </a:xfrm>
            <a:custGeom>
              <a:avLst/>
              <a:gdLst>
                <a:gd name="T0" fmla="*/ 0 w 2483"/>
                <a:gd name="T1" fmla="*/ 0 h 1758"/>
                <a:gd name="T2" fmla="*/ 0 w 2483"/>
                <a:gd name="T3" fmla="*/ 1758 h 1758"/>
                <a:gd name="T4" fmla="*/ 2483 w 2483"/>
                <a:gd name="T5" fmla="*/ 1758 h 1758"/>
                <a:gd name="T6" fmla="*/ 2483 w 2483"/>
                <a:gd name="T7" fmla="*/ 0 h 1758"/>
                <a:gd name="T8" fmla="*/ 0 w 2483"/>
                <a:gd name="T9" fmla="*/ 0 h 1758"/>
                <a:gd name="T10" fmla="*/ 2418 w 2483"/>
                <a:gd name="T11" fmla="*/ 1694 h 1758"/>
                <a:gd name="T12" fmla="*/ 65 w 2483"/>
                <a:gd name="T13" fmla="*/ 1694 h 1758"/>
                <a:gd name="T14" fmla="*/ 65 w 2483"/>
                <a:gd name="T15" fmla="*/ 65 h 1758"/>
                <a:gd name="T16" fmla="*/ 2418 w 2483"/>
                <a:gd name="T17" fmla="*/ 65 h 1758"/>
                <a:gd name="T18" fmla="*/ 2418 w 2483"/>
                <a:gd name="T19" fmla="*/ 1694 h 1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83" h="1758">
                  <a:moveTo>
                    <a:pt x="0" y="0"/>
                  </a:moveTo>
                  <a:lnTo>
                    <a:pt x="0" y="1758"/>
                  </a:lnTo>
                  <a:lnTo>
                    <a:pt x="2483" y="1758"/>
                  </a:lnTo>
                  <a:lnTo>
                    <a:pt x="2483" y="0"/>
                  </a:lnTo>
                  <a:lnTo>
                    <a:pt x="0" y="0"/>
                  </a:lnTo>
                  <a:close/>
                  <a:moveTo>
                    <a:pt x="2418" y="1694"/>
                  </a:moveTo>
                  <a:lnTo>
                    <a:pt x="65" y="1694"/>
                  </a:lnTo>
                  <a:lnTo>
                    <a:pt x="65" y="65"/>
                  </a:lnTo>
                  <a:lnTo>
                    <a:pt x="2418" y="65"/>
                  </a:lnTo>
                  <a:lnTo>
                    <a:pt x="2418" y="169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85" name="Group 184">
              <a:extLst>
                <a:ext uri="{FF2B5EF4-FFF2-40B4-BE49-F238E27FC236}">
                  <a16:creationId xmlns:a16="http://schemas.microsoft.com/office/drawing/2014/main" id="{87F98214-DA06-318B-E4E2-F955A50FAC71}"/>
                </a:ext>
              </a:extLst>
            </p:cNvPr>
            <p:cNvGrpSpPr/>
            <p:nvPr/>
          </p:nvGrpSpPr>
          <p:grpSpPr>
            <a:xfrm>
              <a:off x="4621577" y="1326834"/>
              <a:ext cx="384263" cy="231049"/>
              <a:chOff x="1474648" y="4826879"/>
              <a:chExt cx="576585" cy="346688"/>
            </a:xfrm>
          </p:grpSpPr>
          <p:sp>
            <p:nvSpPr>
              <p:cNvPr id="198" name="Oval 6">
                <a:extLst>
                  <a:ext uri="{FF2B5EF4-FFF2-40B4-BE49-F238E27FC236}">
                    <a16:creationId xmlns:a16="http://schemas.microsoft.com/office/drawing/2014/main" id="{378C2C85-0299-BDE0-04D2-5A7D726E26B0}"/>
                  </a:ext>
                </a:extLst>
              </p:cNvPr>
              <p:cNvSpPr>
                <a:spLocks noChangeArrowheads="1"/>
              </p:cNvSpPr>
              <p:nvPr/>
            </p:nvSpPr>
            <p:spPr bwMode="auto">
              <a:xfrm>
                <a:off x="1474648" y="4826879"/>
                <a:ext cx="31228"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9" name="Oval 7">
                <a:extLst>
                  <a:ext uri="{FF2B5EF4-FFF2-40B4-BE49-F238E27FC236}">
                    <a16:creationId xmlns:a16="http://schemas.microsoft.com/office/drawing/2014/main" id="{13032F33-D494-C33F-07D9-1D98326ED224}"/>
                  </a:ext>
                </a:extLst>
              </p:cNvPr>
              <p:cNvSpPr>
                <a:spLocks noChangeArrowheads="1"/>
              </p:cNvSpPr>
              <p:nvPr/>
            </p:nvSpPr>
            <p:spPr bwMode="auto">
              <a:xfrm>
                <a:off x="1474648" y="5142412"/>
                <a:ext cx="31228"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0" name="Oval 8">
                <a:extLst>
                  <a:ext uri="{FF2B5EF4-FFF2-40B4-BE49-F238E27FC236}">
                    <a16:creationId xmlns:a16="http://schemas.microsoft.com/office/drawing/2014/main" id="{7F9161BB-A05E-2363-C14F-41D6BC21D27A}"/>
                  </a:ext>
                </a:extLst>
              </p:cNvPr>
              <p:cNvSpPr>
                <a:spLocks noChangeArrowheads="1"/>
              </p:cNvSpPr>
              <p:nvPr/>
            </p:nvSpPr>
            <p:spPr bwMode="auto">
              <a:xfrm>
                <a:off x="2020253" y="4826879"/>
                <a:ext cx="30980"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1" name="Oval 9">
                <a:extLst>
                  <a:ext uri="{FF2B5EF4-FFF2-40B4-BE49-F238E27FC236}">
                    <a16:creationId xmlns:a16="http://schemas.microsoft.com/office/drawing/2014/main" id="{BBF02E43-BA44-B83B-01C4-A488171F05E9}"/>
                  </a:ext>
                </a:extLst>
              </p:cNvPr>
              <p:cNvSpPr>
                <a:spLocks noChangeArrowheads="1"/>
              </p:cNvSpPr>
              <p:nvPr/>
            </p:nvSpPr>
            <p:spPr bwMode="auto">
              <a:xfrm>
                <a:off x="2020253" y="5142412"/>
                <a:ext cx="30980"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86" name="Group 185">
              <a:extLst>
                <a:ext uri="{FF2B5EF4-FFF2-40B4-BE49-F238E27FC236}">
                  <a16:creationId xmlns:a16="http://schemas.microsoft.com/office/drawing/2014/main" id="{0A8C296F-7B29-49E9-B5D5-62AFED88947E}"/>
                </a:ext>
              </a:extLst>
            </p:cNvPr>
            <p:cNvGrpSpPr/>
            <p:nvPr/>
          </p:nvGrpSpPr>
          <p:grpSpPr>
            <a:xfrm>
              <a:off x="4713786" y="1407394"/>
              <a:ext cx="199845" cy="69431"/>
              <a:chOff x="1445849" y="4947759"/>
              <a:chExt cx="299866" cy="104181"/>
            </a:xfrm>
          </p:grpSpPr>
          <p:sp>
            <p:nvSpPr>
              <p:cNvPr id="195" name="Freeform 10">
                <a:extLst>
                  <a:ext uri="{FF2B5EF4-FFF2-40B4-BE49-F238E27FC236}">
                    <a16:creationId xmlns:a16="http://schemas.microsoft.com/office/drawing/2014/main" id="{711E0A5B-1AFC-3F09-0C72-5946385420A0}"/>
                  </a:ext>
                </a:extLst>
              </p:cNvPr>
              <p:cNvSpPr>
                <a:spLocks/>
              </p:cNvSpPr>
              <p:nvPr/>
            </p:nvSpPr>
            <p:spPr bwMode="auto">
              <a:xfrm>
                <a:off x="1550675"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11">
                <a:extLst>
                  <a:ext uri="{FF2B5EF4-FFF2-40B4-BE49-F238E27FC236}">
                    <a16:creationId xmlns:a16="http://schemas.microsoft.com/office/drawing/2014/main" id="{4AD1CCBA-8A67-1203-6871-69DA6B601798}"/>
                  </a:ext>
                </a:extLst>
              </p:cNvPr>
              <p:cNvSpPr>
                <a:spLocks noEditPoints="1"/>
              </p:cNvSpPr>
              <p:nvPr/>
            </p:nvSpPr>
            <p:spPr bwMode="auto">
              <a:xfrm>
                <a:off x="1655501" y="4949254"/>
                <a:ext cx="90214" cy="101190"/>
              </a:xfrm>
              <a:custGeom>
                <a:avLst/>
                <a:gdLst>
                  <a:gd name="T0" fmla="*/ 534 w 534"/>
                  <a:gd name="T1" fmla="*/ 297 h 596"/>
                  <a:gd name="T2" fmla="*/ 206 w 534"/>
                  <a:gd name="T3" fmla="*/ 0 h 596"/>
                  <a:gd name="T4" fmla="*/ 0 w 534"/>
                  <a:gd name="T5" fmla="*/ 0 h 596"/>
                  <a:gd name="T6" fmla="*/ 0 w 534"/>
                  <a:gd name="T7" fmla="*/ 596 h 596"/>
                  <a:gd name="T8" fmla="*/ 206 w 534"/>
                  <a:gd name="T9" fmla="*/ 596 h 596"/>
                  <a:gd name="T10" fmla="*/ 534 w 534"/>
                  <a:gd name="T11" fmla="*/ 297 h 596"/>
                  <a:gd name="T12" fmla="*/ 88 w 534"/>
                  <a:gd name="T13" fmla="*/ 80 h 596"/>
                  <a:gd name="T14" fmla="*/ 211 w 534"/>
                  <a:gd name="T15" fmla="*/ 80 h 596"/>
                  <a:gd name="T16" fmla="*/ 445 w 534"/>
                  <a:gd name="T17" fmla="*/ 297 h 596"/>
                  <a:gd name="T18" fmla="*/ 211 w 534"/>
                  <a:gd name="T19" fmla="*/ 516 h 596"/>
                  <a:gd name="T20" fmla="*/ 88 w 534"/>
                  <a:gd name="T21" fmla="*/ 516 h 596"/>
                  <a:gd name="T22" fmla="*/ 88 w 534"/>
                  <a:gd name="T23" fmla="*/ 80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4" h="596">
                    <a:moveTo>
                      <a:pt x="534" y="297"/>
                    </a:moveTo>
                    <a:cubicBezTo>
                      <a:pt x="534" y="123"/>
                      <a:pt x="398" y="0"/>
                      <a:pt x="206" y="0"/>
                    </a:cubicBezTo>
                    <a:cubicBezTo>
                      <a:pt x="0" y="0"/>
                      <a:pt x="0" y="0"/>
                      <a:pt x="0" y="0"/>
                    </a:cubicBezTo>
                    <a:cubicBezTo>
                      <a:pt x="0" y="596"/>
                      <a:pt x="0" y="596"/>
                      <a:pt x="0" y="596"/>
                    </a:cubicBezTo>
                    <a:cubicBezTo>
                      <a:pt x="206" y="596"/>
                      <a:pt x="206" y="596"/>
                      <a:pt x="206" y="596"/>
                    </a:cubicBezTo>
                    <a:cubicBezTo>
                      <a:pt x="398" y="596"/>
                      <a:pt x="534" y="472"/>
                      <a:pt x="534" y="297"/>
                    </a:cubicBezTo>
                    <a:close/>
                    <a:moveTo>
                      <a:pt x="88" y="80"/>
                    </a:moveTo>
                    <a:cubicBezTo>
                      <a:pt x="211" y="80"/>
                      <a:pt x="211" y="80"/>
                      <a:pt x="211" y="80"/>
                    </a:cubicBezTo>
                    <a:cubicBezTo>
                      <a:pt x="348" y="80"/>
                      <a:pt x="445" y="170"/>
                      <a:pt x="445" y="297"/>
                    </a:cubicBezTo>
                    <a:cubicBezTo>
                      <a:pt x="445" y="426"/>
                      <a:pt x="348" y="516"/>
                      <a:pt x="211" y="516"/>
                    </a:cubicBezTo>
                    <a:cubicBezTo>
                      <a:pt x="88" y="516"/>
                      <a:pt x="88" y="516"/>
                      <a:pt x="88" y="516"/>
                    </a:cubicBezTo>
                    <a:lnTo>
                      <a:pt x="88" y="8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7" name="Freeform 10">
                <a:extLst>
                  <a:ext uri="{FF2B5EF4-FFF2-40B4-BE49-F238E27FC236}">
                    <a16:creationId xmlns:a16="http://schemas.microsoft.com/office/drawing/2014/main" id="{6887AE98-B296-12F7-4D10-82A573430427}"/>
                  </a:ext>
                </a:extLst>
              </p:cNvPr>
              <p:cNvSpPr>
                <a:spLocks/>
              </p:cNvSpPr>
              <p:nvPr/>
            </p:nvSpPr>
            <p:spPr bwMode="auto">
              <a:xfrm>
                <a:off x="1445849"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187" name="Straight Connector 186">
              <a:extLst>
                <a:ext uri="{FF2B5EF4-FFF2-40B4-BE49-F238E27FC236}">
                  <a16:creationId xmlns:a16="http://schemas.microsoft.com/office/drawing/2014/main" id="{1FD4488E-F9F2-27AE-9652-24482FB26314}"/>
                </a:ext>
              </a:extLst>
            </p:cNvPr>
            <p:cNvCxnSpPr>
              <a:cxnSpLocks/>
            </p:cNvCxnSpPr>
            <p:nvPr/>
          </p:nvCxnSpPr>
          <p:spPr bwMode="gray">
            <a:xfrm flipH="1">
              <a:off x="4550146" y="1516262"/>
              <a:ext cx="37996"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16470343-DEC7-3B20-8408-691012C58640}"/>
                </a:ext>
              </a:extLst>
            </p:cNvPr>
            <p:cNvCxnSpPr>
              <a:cxnSpLocks/>
            </p:cNvCxnSpPr>
            <p:nvPr/>
          </p:nvCxnSpPr>
          <p:spPr bwMode="gray">
            <a:xfrm flipH="1">
              <a:off x="4550147" y="1248567"/>
              <a:ext cx="431005"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C03C037F-8941-1D70-E743-4E27F4253835}"/>
                </a:ext>
              </a:extLst>
            </p:cNvPr>
            <p:cNvCxnSpPr>
              <a:cxnSpLocks/>
            </p:cNvCxnSpPr>
            <p:nvPr/>
          </p:nvCxnSpPr>
          <p:spPr bwMode="gray">
            <a:xfrm flipV="1">
              <a:off x="4550146" y="1248569"/>
              <a:ext cx="0" cy="262945"/>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94B971E5-5DA5-C426-9C9C-C232F19EE243}"/>
                </a:ext>
              </a:extLst>
            </p:cNvPr>
            <p:cNvCxnSpPr>
              <a:cxnSpLocks/>
            </p:cNvCxnSpPr>
            <p:nvPr/>
          </p:nvCxnSpPr>
          <p:spPr bwMode="gray">
            <a:xfrm flipV="1">
              <a:off x="4981152" y="1248567"/>
              <a:ext cx="0" cy="50422"/>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1D93F6C8-49AA-CEEF-4379-8685FA35D955}"/>
                </a:ext>
              </a:extLst>
            </p:cNvPr>
            <p:cNvCxnSpPr>
              <a:cxnSpLocks/>
            </p:cNvCxnSpPr>
            <p:nvPr/>
          </p:nvCxnSpPr>
          <p:spPr bwMode="gray">
            <a:xfrm flipH="1">
              <a:off x="4505618" y="1463676"/>
              <a:ext cx="37996"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ACF3498E-2B8B-10C9-8535-43DBDCC581A1}"/>
                </a:ext>
              </a:extLst>
            </p:cNvPr>
            <p:cNvCxnSpPr>
              <a:cxnSpLocks/>
            </p:cNvCxnSpPr>
            <p:nvPr/>
          </p:nvCxnSpPr>
          <p:spPr bwMode="gray">
            <a:xfrm flipH="1">
              <a:off x="4505619" y="1195981"/>
              <a:ext cx="431005"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1C6F0C7F-8BED-9438-168B-426CDC2A0FC7}"/>
                </a:ext>
              </a:extLst>
            </p:cNvPr>
            <p:cNvCxnSpPr>
              <a:cxnSpLocks/>
            </p:cNvCxnSpPr>
            <p:nvPr/>
          </p:nvCxnSpPr>
          <p:spPr bwMode="gray">
            <a:xfrm flipV="1">
              <a:off x="4505618" y="1195983"/>
              <a:ext cx="0" cy="262945"/>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A8216829-0E2B-D3FC-5353-75FF11381421}"/>
                </a:ext>
              </a:extLst>
            </p:cNvPr>
            <p:cNvCxnSpPr>
              <a:cxnSpLocks/>
            </p:cNvCxnSpPr>
            <p:nvPr/>
          </p:nvCxnSpPr>
          <p:spPr bwMode="gray">
            <a:xfrm flipV="1">
              <a:off x="4936624" y="1195981"/>
              <a:ext cx="0" cy="50422"/>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02" name="Group 201">
            <a:extLst>
              <a:ext uri="{FF2B5EF4-FFF2-40B4-BE49-F238E27FC236}">
                <a16:creationId xmlns:a16="http://schemas.microsoft.com/office/drawing/2014/main" id="{D9A39801-87DE-B087-248B-46D343DACADD}"/>
              </a:ext>
            </a:extLst>
          </p:cNvPr>
          <p:cNvGrpSpPr/>
          <p:nvPr/>
        </p:nvGrpSpPr>
        <p:grpSpPr>
          <a:xfrm>
            <a:off x="4074489" y="4498293"/>
            <a:ext cx="533658" cy="392298"/>
            <a:chOff x="4505618" y="1195981"/>
            <a:chExt cx="533658" cy="392298"/>
          </a:xfrm>
        </p:grpSpPr>
        <p:sp>
          <p:nvSpPr>
            <p:cNvPr id="203" name="Freeform 5">
              <a:extLst>
                <a:ext uri="{FF2B5EF4-FFF2-40B4-BE49-F238E27FC236}">
                  <a16:creationId xmlns:a16="http://schemas.microsoft.com/office/drawing/2014/main" id="{7D17E8B7-6CD0-EB7F-0ECA-846D61DECA98}"/>
                </a:ext>
              </a:extLst>
            </p:cNvPr>
            <p:cNvSpPr>
              <a:spLocks noEditPoints="1"/>
            </p:cNvSpPr>
            <p:nvPr/>
          </p:nvSpPr>
          <p:spPr bwMode="auto">
            <a:xfrm>
              <a:off x="4588140" y="1296271"/>
              <a:ext cx="451136" cy="292008"/>
            </a:xfrm>
            <a:custGeom>
              <a:avLst/>
              <a:gdLst>
                <a:gd name="T0" fmla="*/ 0 w 2483"/>
                <a:gd name="T1" fmla="*/ 0 h 1758"/>
                <a:gd name="T2" fmla="*/ 0 w 2483"/>
                <a:gd name="T3" fmla="*/ 1758 h 1758"/>
                <a:gd name="T4" fmla="*/ 2483 w 2483"/>
                <a:gd name="T5" fmla="*/ 1758 h 1758"/>
                <a:gd name="T6" fmla="*/ 2483 w 2483"/>
                <a:gd name="T7" fmla="*/ 0 h 1758"/>
                <a:gd name="T8" fmla="*/ 0 w 2483"/>
                <a:gd name="T9" fmla="*/ 0 h 1758"/>
                <a:gd name="T10" fmla="*/ 2418 w 2483"/>
                <a:gd name="T11" fmla="*/ 1694 h 1758"/>
                <a:gd name="T12" fmla="*/ 65 w 2483"/>
                <a:gd name="T13" fmla="*/ 1694 h 1758"/>
                <a:gd name="T14" fmla="*/ 65 w 2483"/>
                <a:gd name="T15" fmla="*/ 65 h 1758"/>
                <a:gd name="T16" fmla="*/ 2418 w 2483"/>
                <a:gd name="T17" fmla="*/ 65 h 1758"/>
                <a:gd name="T18" fmla="*/ 2418 w 2483"/>
                <a:gd name="T19" fmla="*/ 1694 h 1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83" h="1758">
                  <a:moveTo>
                    <a:pt x="0" y="0"/>
                  </a:moveTo>
                  <a:lnTo>
                    <a:pt x="0" y="1758"/>
                  </a:lnTo>
                  <a:lnTo>
                    <a:pt x="2483" y="1758"/>
                  </a:lnTo>
                  <a:lnTo>
                    <a:pt x="2483" y="0"/>
                  </a:lnTo>
                  <a:lnTo>
                    <a:pt x="0" y="0"/>
                  </a:lnTo>
                  <a:close/>
                  <a:moveTo>
                    <a:pt x="2418" y="1694"/>
                  </a:moveTo>
                  <a:lnTo>
                    <a:pt x="65" y="1694"/>
                  </a:lnTo>
                  <a:lnTo>
                    <a:pt x="65" y="65"/>
                  </a:lnTo>
                  <a:lnTo>
                    <a:pt x="2418" y="65"/>
                  </a:lnTo>
                  <a:lnTo>
                    <a:pt x="2418" y="1694"/>
                  </a:lnTo>
                  <a:close/>
                </a:path>
              </a:pathLst>
            </a:cu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204" name="Group 203">
              <a:extLst>
                <a:ext uri="{FF2B5EF4-FFF2-40B4-BE49-F238E27FC236}">
                  <a16:creationId xmlns:a16="http://schemas.microsoft.com/office/drawing/2014/main" id="{DEC23C05-D23C-2C59-1BC6-3446AD977E4F}"/>
                </a:ext>
              </a:extLst>
            </p:cNvPr>
            <p:cNvGrpSpPr/>
            <p:nvPr/>
          </p:nvGrpSpPr>
          <p:grpSpPr>
            <a:xfrm>
              <a:off x="4621577" y="1326834"/>
              <a:ext cx="384263" cy="231049"/>
              <a:chOff x="1474648" y="4826879"/>
              <a:chExt cx="576585" cy="346688"/>
            </a:xfrm>
          </p:grpSpPr>
          <p:sp>
            <p:nvSpPr>
              <p:cNvPr id="217" name="Oval 6">
                <a:extLst>
                  <a:ext uri="{FF2B5EF4-FFF2-40B4-BE49-F238E27FC236}">
                    <a16:creationId xmlns:a16="http://schemas.microsoft.com/office/drawing/2014/main" id="{E9F06362-AD37-E904-D09C-F3C316DB899E}"/>
                  </a:ext>
                </a:extLst>
              </p:cNvPr>
              <p:cNvSpPr>
                <a:spLocks noChangeArrowheads="1"/>
              </p:cNvSpPr>
              <p:nvPr/>
            </p:nvSpPr>
            <p:spPr bwMode="auto">
              <a:xfrm>
                <a:off x="1474648" y="4826879"/>
                <a:ext cx="31228" cy="31155"/>
              </a:xfrm>
              <a:prstGeom prst="ellipse">
                <a:avLst/>
              </a:pr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8" name="Oval 7">
                <a:extLst>
                  <a:ext uri="{FF2B5EF4-FFF2-40B4-BE49-F238E27FC236}">
                    <a16:creationId xmlns:a16="http://schemas.microsoft.com/office/drawing/2014/main" id="{1170C369-9D47-E19C-85BE-67368EEC0C2B}"/>
                  </a:ext>
                </a:extLst>
              </p:cNvPr>
              <p:cNvSpPr>
                <a:spLocks noChangeArrowheads="1"/>
              </p:cNvSpPr>
              <p:nvPr/>
            </p:nvSpPr>
            <p:spPr bwMode="auto">
              <a:xfrm>
                <a:off x="1474648" y="5142412"/>
                <a:ext cx="31228" cy="31155"/>
              </a:xfrm>
              <a:prstGeom prst="ellipse">
                <a:avLst/>
              </a:pr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9" name="Oval 8">
                <a:extLst>
                  <a:ext uri="{FF2B5EF4-FFF2-40B4-BE49-F238E27FC236}">
                    <a16:creationId xmlns:a16="http://schemas.microsoft.com/office/drawing/2014/main" id="{784BE0C2-E939-EFB8-87D0-E2553C35540F}"/>
                  </a:ext>
                </a:extLst>
              </p:cNvPr>
              <p:cNvSpPr>
                <a:spLocks noChangeArrowheads="1"/>
              </p:cNvSpPr>
              <p:nvPr/>
            </p:nvSpPr>
            <p:spPr bwMode="auto">
              <a:xfrm>
                <a:off x="2020253" y="4826879"/>
                <a:ext cx="30980" cy="31155"/>
              </a:xfrm>
              <a:prstGeom prst="ellipse">
                <a:avLst/>
              </a:pr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0" name="Oval 9">
                <a:extLst>
                  <a:ext uri="{FF2B5EF4-FFF2-40B4-BE49-F238E27FC236}">
                    <a16:creationId xmlns:a16="http://schemas.microsoft.com/office/drawing/2014/main" id="{F9A60E77-C6EC-C19A-8717-4D78E8ECA8E9}"/>
                  </a:ext>
                </a:extLst>
              </p:cNvPr>
              <p:cNvSpPr>
                <a:spLocks noChangeArrowheads="1"/>
              </p:cNvSpPr>
              <p:nvPr/>
            </p:nvSpPr>
            <p:spPr bwMode="auto">
              <a:xfrm>
                <a:off x="2020253" y="5142412"/>
                <a:ext cx="30980" cy="31155"/>
              </a:xfrm>
              <a:prstGeom prst="ellipse">
                <a:avLst/>
              </a:pr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05" name="Group 204">
              <a:extLst>
                <a:ext uri="{FF2B5EF4-FFF2-40B4-BE49-F238E27FC236}">
                  <a16:creationId xmlns:a16="http://schemas.microsoft.com/office/drawing/2014/main" id="{BA29BEBB-B5DB-B4AF-1414-82796146124A}"/>
                </a:ext>
              </a:extLst>
            </p:cNvPr>
            <p:cNvGrpSpPr/>
            <p:nvPr/>
          </p:nvGrpSpPr>
          <p:grpSpPr>
            <a:xfrm>
              <a:off x="4713786" y="1407394"/>
              <a:ext cx="199845" cy="69431"/>
              <a:chOff x="1445849" y="4947759"/>
              <a:chExt cx="299866" cy="104181"/>
            </a:xfrm>
          </p:grpSpPr>
          <p:sp>
            <p:nvSpPr>
              <p:cNvPr id="214" name="Freeform 10">
                <a:extLst>
                  <a:ext uri="{FF2B5EF4-FFF2-40B4-BE49-F238E27FC236}">
                    <a16:creationId xmlns:a16="http://schemas.microsoft.com/office/drawing/2014/main" id="{125C6D16-2A6E-297E-12D7-DD265B9840AF}"/>
                  </a:ext>
                </a:extLst>
              </p:cNvPr>
              <p:cNvSpPr>
                <a:spLocks/>
              </p:cNvSpPr>
              <p:nvPr/>
            </p:nvSpPr>
            <p:spPr bwMode="auto">
              <a:xfrm>
                <a:off x="1550675"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5" name="Freeform 11">
                <a:extLst>
                  <a:ext uri="{FF2B5EF4-FFF2-40B4-BE49-F238E27FC236}">
                    <a16:creationId xmlns:a16="http://schemas.microsoft.com/office/drawing/2014/main" id="{77D94A75-13E9-1F89-EB4F-67E28A61DE3E}"/>
                  </a:ext>
                </a:extLst>
              </p:cNvPr>
              <p:cNvSpPr>
                <a:spLocks noEditPoints="1"/>
              </p:cNvSpPr>
              <p:nvPr/>
            </p:nvSpPr>
            <p:spPr bwMode="auto">
              <a:xfrm>
                <a:off x="1655501" y="4949254"/>
                <a:ext cx="90214" cy="101190"/>
              </a:xfrm>
              <a:custGeom>
                <a:avLst/>
                <a:gdLst>
                  <a:gd name="T0" fmla="*/ 534 w 534"/>
                  <a:gd name="T1" fmla="*/ 297 h 596"/>
                  <a:gd name="T2" fmla="*/ 206 w 534"/>
                  <a:gd name="T3" fmla="*/ 0 h 596"/>
                  <a:gd name="T4" fmla="*/ 0 w 534"/>
                  <a:gd name="T5" fmla="*/ 0 h 596"/>
                  <a:gd name="T6" fmla="*/ 0 w 534"/>
                  <a:gd name="T7" fmla="*/ 596 h 596"/>
                  <a:gd name="T8" fmla="*/ 206 w 534"/>
                  <a:gd name="T9" fmla="*/ 596 h 596"/>
                  <a:gd name="T10" fmla="*/ 534 w 534"/>
                  <a:gd name="T11" fmla="*/ 297 h 596"/>
                  <a:gd name="T12" fmla="*/ 88 w 534"/>
                  <a:gd name="T13" fmla="*/ 80 h 596"/>
                  <a:gd name="T14" fmla="*/ 211 w 534"/>
                  <a:gd name="T15" fmla="*/ 80 h 596"/>
                  <a:gd name="T16" fmla="*/ 445 w 534"/>
                  <a:gd name="T17" fmla="*/ 297 h 596"/>
                  <a:gd name="T18" fmla="*/ 211 w 534"/>
                  <a:gd name="T19" fmla="*/ 516 h 596"/>
                  <a:gd name="T20" fmla="*/ 88 w 534"/>
                  <a:gd name="T21" fmla="*/ 516 h 596"/>
                  <a:gd name="T22" fmla="*/ 88 w 534"/>
                  <a:gd name="T23" fmla="*/ 80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4" h="596">
                    <a:moveTo>
                      <a:pt x="534" y="297"/>
                    </a:moveTo>
                    <a:cubicBezTo>
                      <a:pt x="534" y="123"/>
                      <a:pt x="398" y="0"/>
                      <a:pt x="206" y="0"/>
                    </a:cubicBezTo>
                    <a:cubicBezTo>
                      <a:pt x="0" y="0"/>
                      <a:pt x="0" y="0"/>
                      <a:pt x="0" y="0"/>
                    </a:cubicBezTo>
                    <a:cubicBezTo>
                      <a:pt x="0" y="596"/>
                      <a:pt x="0" y="596"/>
                      <a:pt x="0" y="596"/>
                    </a:cubicBezTo>
                    <a:cubicBezTo>
                      <a:pt x="206" y="596"/>
                      <a:pt x="206" y="596"/>
                      <a:pt x="206" y="596"/>
                    </a:cubicBezTo>
                    <a:cubicBezTo>
                      <a:pt x="398" y="596"/>
                      <a:pt x="534" y="472"/>
                      <a:pt x="534" y="297"/>
                    </a:cubicBezTo>
                    <a:close/>
                    <a:moveTo>
                      <a:pt x="88" y="80"/>
                    </a:moveTo>
                    <a:cubicBezTo>
                      <a:pt x="211" y="80"/>
                      <a:pt x="211" y="80"/>
                      <a:pt x="211" y="80"/>
                    </a:cubicBezTo>
                    <a:cubicBezTo>
                      <a:pt x="348" y="80"/>
                      <a:pt x="445" y="170"/>
                      <a:pt x="445" y="297"/>
                    </a:cubicBezTo>
                    <a:cubicBezTo>
                      <a:pt x="445" y="426"/>
                      <a:pt x="348" y="516"/>
                      <a:pt x="211" y="516"/>
                    </a:cubicBezTo>
                    <a:cubicBezTo>
                      <a:pt x="88" y="516"/>
                      <a:pt x="88" y="516"/>
                      <a:pt x="88" y="516"/>
                    </a:cubicBezTo>
                    <a:lnTo>
                      <a:pt x="88" y="80"/>
                    </a:lnTo>
                    <a:close/>
                  </a:path>
                </a:pathLst>
              </a:cu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6" name="Freeform 10">
                <a:extLst>
                  <a:ext uri="{FF2B5EF4-FFF2-40B4-BE49-F238E27FC236}">
                    <a16:creationId xmlns:a16="http://schemas.microsoft.com/office/drawing/2014/main" id="{D25BB013-C67E-5FB9-D61A-652016414D0C}"/>
                  </a:ext>
                </a:extLst>
              </p:cNvPr>
              <p:cNvSpPr>
                <a:spLocks/>
              </p:cNvSpPr>
              <p:nvPr/>
            </p:nvSpPr>
            <p:spPr bwMode="auto">
              <a:xfrm>
                <a:off x="1445849"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206" name="Straight Connector 205">
              <a:extLst>
                <a:ext uri="{FF2B5EF4-FFF2-40B4-BE49-F238E27FC236}">
                  <a16:creationId xmlns:a16="http://schemas.microsoft.com/office/drawing/2014/main" id="{36E0CB8B-174B-598F-B8EE-25E4D651F077}"/>
                </a:ext>
              </a:extLst>
            </p:cNvPr>
            <p:cNvCxnSpPr>
              <a:cxnSpLocks/>
            </p:cNvCxnSpPr>
            <p:nvPr/>
          </p:nvCxnSpPr>
          <p:spPr bwMode="gray">
            <a:xfrm flipH="1">
              <a:off x="4550146" y="1516262"/>
              <a:ext cx="37996" cy="0"/>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4373FF52-3F75-C0B4-818A-FA873B8F04C3}"/>
                </a:ext>
              </a:extLst>
            </p:cNvPr>
            <p:cNvCxnSpPr>
              <a:cxnSpLocks/>
            </p:cNvCxnSpPr>
            <p:nvPr/>
          </p:nvCxnSpPr>
          <p:spPr bwMode="gray">
            <a:xfrm flipH="1">
              <a:off x="4550147" y="1248567"/>
              <a:ext cx="431005" cy="0"/>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A4C20517-1A41-5AFC-5B75-3DC7DDCD50DE}"/>
                </a:ext>
              </a:extLst>
            </p:cNvPr>
            <p:cNvCxnSpPr>
              <a:cxnSpLocks/>
            </p:cNvCxnSpPr>
            <p:nvPr/>
          </p:nvCxnSpPr>
          <p:spPr bwMode="gray">
            <a:xfrm flipV="1">
              <a:off x="4550146" y="1248569"/>
              <a:ext cx="0" cy="262945"/>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AC5D1D35-E1C7-FDB4-259A-94BA3257D830}"/>
                </a:ext>
              </a:extLst>
            </p:cNvPr>
            <p:cNvCxnSpPr>
              <a:cxnSpLocks/>
            </p:cNvCxnSpPr>
            <p:nvPr/>
          </p:nvCxnSpPr>
          <p:spPr bwMode="gray">
            <a:xfrm flipV="1">
              <a:off x="4981152" y="1248567"/>
              <a:ext cx="0" cy="50422"/>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A7BD6E8A-AAC1-864D-2029-54768DE0BFE3}"/>
                </a:ext>
              </a:extLst>
            </p:cNvPr>
            <p:cNvCxnSpPr>
              <a:cxnSpLocks/>
            </p:cNvCxnSpPr>
            <p:nvPr/>
          </p:nvCxnSpPr>
          <p:spPr bwMode="gray">
            <a:xfrm flipH="1">
              <a:off x="4505618" y="1463676"/>
              <a:ext cx="37996" cy="0"/>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6CD464B7-089C-56FE-BC38-6F741B7C4409}"/>
                </a:ext>
              </a:extLst>
            </p:cNvPr>
            <p:cNvCxnSpPr>
              <a:cxnSpLocks/>
            </p:cNvCxnSpPr>
            <p:nvPr/>
          </p:nvCxnSpPr>
          <p:spPr bwMode="gray">
            <a:xfrm flipH="1">
              <a:off x="4505619" y="1195981"/>
              <a:ext cx="431005" cy="0"/>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7CBC918C-BA26-AD32-0AEA-3D28F99E0151}"/>
                </a:ext>
              </a:extLst>
            </p:cNvPr>
            <p:cNvCxnSpPr>
              <a:cxnSpLocks/>
            </p:cNvCxnSpPr>
            <p:nvPr/>
          </p:nvCxnSpPr>
          <p:spPr bwMode="gray">
            <a:xfrm flipV="1">
              <a:off x="4505618" y="1195983"/>
              <a:ext cx="0" cy="262945"/>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7FE5CCB5-4F92-602F-58CD-49039818D7CB}"/>
                </a:ext>
              </a:extLst>
            </p:cNvPr>
            <p:cNvCxnSpPr>
              <a:cxnSpLocks/>
            </p:cNvCxnSpPr>
            <p:nvPr/>
          </p:nvCxnSpPr>
          <p:spPr bwMode="gray">
            <a:xfrm flipV="1">
              <a:off x="4936624" y="1195981"/>
              <a:ext cx="0" cy="50422"/>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21" name="Group 220">
            <a:extLst>
              <a:ext uri="{FF2B5EF4-FFF2-40B4-BE49-F238E27FC236}">
                <a16:creationId xmlns:a16="http://schemas.microsoft.com/office/drawing/2014/main" id="{4174D178-D62F-1D40-BF5B-DCED9F5F5B21}"/>
              </a:ext>
            </a:extLst>
          </p:cNvPr>
          <p:cNvGrpSpPr/>
          <p:nvPr/>
        </p:nvGrpSpPr>
        <p:grpSpPr>
          <a:xfrm>
            <a:off x="6547374" y="4498293"/>
            <a:ext cx="533658" cy="392298"/>
            <a:chOff x="4505618" y="1195981"/>
            <a:chExt cx="533658" cy="392298"/>
          </a:xfrm>
        </p:grpSpPr>
        <p:sp>
          <p:nvSpPr>
            <p:cNvPr id="222" name="Freeform 5">
              <a:extLst>
                <a:ext uri="{FF2B5EF4-FFF2-40B4-BE49-F238E27FC236}">
                  <a16:creationId xmlns:a16="http://schemas.microsoft.com/office/drawing/2014/main" id="{70BB18BF-63E0-A038-24C4-3E527B4381CC}"/>
                </a:ext>
              </a:extLst>
            </p:cNvPr>
            <p:cNvSpPr>
              <a:spLocks noEditPoints="1"/>
            </p:cNvSpPr>
            <p:nvPr/>
          </p:nvSpPr>
          <p:spPr bwMode="auto">
            <a:xfrm>
              <a:off x="4588140" y="1296271"/>
              <a:ext cx="451136" cy="292008"/>
            </a:xfrm>
            <a:custGeom>
              <a:avLst/>
              <a:gdLst>
                <a:gd name="T0" fmla="*/ 0 w 2483"/>
                <a:gd name="T1" fmla="*/ 0 h 1758"/>
                <a:gd name="T2" fmla="*/ 0 w 2483"/>
                <a:gd name="T3" fmla="*/ 1758 h 1758"/>
                <a:gd name="T4" fmla="*/ 2483 w 2483"/>
                <a:gd name="T5" fmla="*/ 1758 h 1758"/>
                <a:gd name="T6" fmla="*/ 2483 w 2483"/>
                <a:gd name="T7" fmla="*/ 0 h 1758"/>
                <a:gd name="T8" fmla="*/ 0 w 2483"/>
                <a:gd name="T9" fmla="*/ 0 h 1758"/>
                <a:gd name="T10" fmla="*/ 2418 w 2483"/>
                <a:gd name="T11" fmla="*/ 1694 h 1758"/>
                <a:gd name="T12" fmla="*/ 65 w 2483"/>
                <a:gd name="T13" fmla="*/ 1694 h 1758"/>
                <a:gd name="T14" fmla="*/ 65 w 2483"/>
                <a:gd name="T15" fmla="*/ 65 h 1758"/>
                <a:gd name="T16" fmla="*/ 2418 w 2483"/>
                <a:gd name="T17" fmla="*/ 65 h 1758"/>
                <a:gd name="T18" fmla="*/ 2418 w 2483"/>
                <a:gd name="T19" fmla="*/ 1694 h 1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83" h="1758">
                  <a:moveTo>
                    <a:pt x="0" y="0"/>
                  </a:moveTo>
                  <a:lnTo>
                    <a:pt x="0" y="1758"/>
                  </a:lnTo>
                  <a:lnTo>
                    <a:pt x="2483" y="1758"/>
                  </a:lnTo>
                  <a:lnTo>
                    <a:pt x="2483" y="0"/>
                  </a:lnTo>
                  <a:lnTo>
                    <a:pt x="0" y="0"/>
                  </a:lnTo>
                  <a:close/>
                  <a:moveTo>
                    <a:pt x="2418" y="1694"/>
                  </a:moveTo>
                  <a:lnTo>
                    <a:pt x="65" y="1694"/>
                  </a:lnTo>
                  <a:lnTo>
                    <a:pt x="65" y="65"/>
                  </a:lnTo>
                  <a:lnTo>
                    <a:pt x="2418" y="65"/>
                  </a:lnTo>
                  <a:lnTo>
                    <a:pt x="2418" y="1694"/>
                  </a:lnTo>
                  <a:close/>
                </a:path>
              </a:pathLst>
            </a:cu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223" name="Group 222">
              <a:extLst>
                <a:ext uri="{FF2B5EF4-FFF2-40B4-BE49-F238E27FC236}">
                  <a16:creationId xmlns:a16="http://schemas.microsoft.com/office/drawing/2014/main" id="{EF3A4519-52E0-41A1-5E86-80F5D584FFBB}"/>
                </a:ext>
              </a:extLst>
            </p:cNvPr>
            <p:cNvGrpSpPr/>
            <p:nvPr/>
          </p:nvGrpSpPr>
          <p:grpSpPr>
            <a:xfrm>
              <a:off x="4621577" y="1326834"/>
              <a:ext cx="384263" cy="231049"/>
              <a:chOff x="1474648" y="4826879"/>
              <a:chExt cx="576585" cy="346688"/>
            </a:xfrm>
          </p:grpSpPr>
          <p:sp>
            <p:nvSpPr>
              <p:cNvPr id="236" name="Oval 6">
                <a:extLst>
                  <a:ext uri="{FF2B5EF4-FFF2-40B4-BE49-F238E27FC236}">
                    <a16:creationId xmlns:a16="http://schemas.microsoft.com/office/drawing/2014/main" id="{E29EE9BD-EDD5-D330-3E89-AB13376DA3D4}"/>
                  </a:ext>
                </a:extLst>
              </p:cNvPr>
              <p:cNvSpPr>
                <a:spLocks noChangeArrowheads="1"/>
              </p:cNvSpPr>
              <p:nvPr/>
            </p:nvSpPr>
            <p:spPr bwMode="auto">
              <a:xfrm>
                <a:off x="1474648" y="4826879"/>
                <a:ext cx="31228" cy="31155"/>
              </a:xfrm>
              <a:prstGeom prst="ellipse">
                <a:avLst/>
              </a:pr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7" name="Oval 7">
                <a:extLst>
                  <a:ext uri="{FF2B5EF4-FFF2-40B4-BE49-F238E27FC236}">
                    <a16:creationId xmlns:a16="http://schemas.microsoft.com/office/drawing/2014/main" id="{EBB4FDA0-FCA1-2EDA-C0DF-03F98246E79E}"/>
                  </a:ext>
                </a:extLst>
              </p:cNvPr>
              <p:cNvSpPr>
                <a:spLocks noChangeArrowheads="1"/>
              </p:cNvSpPr>
              <p:nvPr/>
            </p:nvSpPr>
            <p:spPr bwMode="auto">
              <a:xfrm>
                <a:off x="1474648" y="5142412"/>
                <a:ext cx="31228" cy="31155"/>
              </a:xfrm>
              <a:prstGeom prst="ellipse">
                <a:avLst/>
              </a:pr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8" name="Oval 8">
                <a:extLst>
                  <a:ext uri="{FF2B5EF4-FFF2-40B4-BE49-F238E27FC236}">
                    <a16:creationId xmlns:a16="http://schemas.microsoft.com/office/drawing/2014/main" id="{28539341-94D5-34F4-900E-9561B90D26FE}"/>
                  </a:ext>
                </a:extLst>
              </p:cNvPr>
              <p:cNvSpPr>
                <a:spLocks noChangeArrowheads="1"/>
              </p:cNvSpPr>
              <p:nvPr/>
            </p:nvSpPr>
            <p:spPr bwMode="auto">
              <a:xfrm>
                <a:off x="2020253" y="4826879"/>
                <a:ext cx="30980" cy="31155"/>
              </a:xfrm>
              <a:prstGeom prst="ellipse">
                <a:avLst/>
              </a:pr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9" name="Oval 9">
                <a:extLst>
                  <a:ext uri="{FF2B5EF4-FFF2-40B4-BE49-F238E27FC236}">
                    <a16:creationId xmlns:a16="http://schemas.microsoft.com/office/drawing/2014/main" id="{BA857BA5-357D-1E62-0A98-9C54A6DE5AAB}"/>
                  </a:ext>
                </a:extLst>
              </p:cNvPr>
              <p:cNvSpPr>
                <a:spLocks noChangeArrowheads="1"/>
              </p:cNvSpPr>
              <p:nvPr/>
            </p:nvSpPr>
            <p:spPr bwMode="auto">
              <a:xfrm>
                <a:off x="2020253" y="5142412"/>
                <a:ext cx="30980" cy="31155"/>
              </a:xfrm>
              <a:prstGeom prst="ellipse">
                <a:avLst/>
              </a:pr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24" name="Group 223">
              <a:extLst>
                <a:ext uri="{FF2B5EF4-FFF2-40B4-BE49-F238E27FC236}">
                  <a16:creationId xmlns:a16="http://schemas.microsoft.com/office/drawing/2014/main" id="{B04AE14C-7438-309A-F863-CE0DB13DDE69}"/>
                </a:ext>
              </a:extLst>
            </p:cNvPr>
            <p:cNvGrpSpPr/>
            <p:nvPr/>
          </p:nvGrpSpPr>
          <p:grpSpPr>
            <a:xfrm>
              <a:off x="4713786" y="1407394"/>
              <a:ext cx="199845" cy="69431"/>
              <a:chOff x="1445849" y="4947759"/>
              <a:chExt cx="299866" cy="104181"/>
            </a:xfrm>
          </p:grpSpPr>
          <p:sp>
            <p:nvSpPr>
              <p:cNvPr id="233" name="Freeform 10">
                <a:extLst>
                  <a:ext uri="{FF2B5EF4-FFF2-40B4-BE49-F238E27FC236}">
                    <a16:creationId xmlns:a16="http://schemas.microsoft.com/office/drawing/2014/main" id="{2A9D0540-C8E3-DF0A-86EA-C4EA38C046A1}"/>
                  </a:ext>
                </a:extLst>
              </p:cNvPr>
              <p:cNvSpPr>
                <a:spLocks/>
              </p:cNvSpPr>
              <p:nvPr/>
            </p:nvSpPr>
            <p:spPr bwMode="auto">
              <a:xfrm>
                <a:off x="1550675"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4" name="Freeform 11">
                <a:extLst>
                  <a:ext uri="{FF2B5EF4-FFF2-40B4-BE49-F238E27FC236}">
                    <a16:creationId xmlns:a16="http://schemas.microsoft.com/office/drawing/2014/main" id="{FAAE82F9-8184-1D45-79CC-939B3CBC2528}"/>
                  </a:ext>
                </a:extLst>
              </p:cNvPr>
              <p:cNvSpPr>
                <a:spLocks noEditPoints="1"/>
              </p:cNvSpPr>
              <p:nvPr/>
            </p:nvSpPr>
            <p:spPr bwMode="auto">
              <a:xfrm>
                <a:off x="1655501" y="4949254"/>
                <a:ext cx="90214" cy="101190"/>
              </a:xfrm>
              <a:custGeom>
                <a:avLst/>
                <a:gdLst>
                  <a:gd name="T0" fmla="*/ 534 w 534"/>
                  <a:gd name="T1" fmla="*/ 297 h 596"/>
                  <a:gd name="T2" fmla="*/ 206 w 534"/>
                  <a:gd name="T3" fmla="*/ 0 h 596"/>
                  <a:gd name="T4" fmla="*/ 0 w 534"/>
                  <a:gd name="T5" fmla="*/ 0 h 596"/>
                  <a:gd name="T6" fmla="*/ 0 w 534"/>
                  <a:gd name="T7" fmla="*/ 596 h 596"/>
                  <a:gd name="T8" fmla="*/ 206 w 534"/>
                  <a:gd name="T9" fmla="*/ 596 h 596"/>
                  <a:gd name="T10" fmla="*/ 534 w 534"/>
                  <a:gd name="T11" fmla="*/ 297 h 596"/>
                  <a:gd name="T12" fmla="*/ 88 w 534"/>
                  <a:gd name="T13" fmla="*/ 80 h 596"/>
                  <a:gd name="T14" fmla="*/ 211 w 534"/>
                  <a:gd name="T15" fmla="*/ 80 h 596"/>
                  <a:gd name="T16" fmla="*/ 445 w 534"/>
                  <a:gd name="T17" fmla="*/ 297 h 596"/>
                  <a:gd name="T18" fmla="*/ 211 w 534"/>
                  <a:gd name="T19" fmla="*/ 516 h 596"/>
                  <a:gd name="T20" fmla="*/ 88 w 534"/>
                  <a:gd name="T21" fmla="*/ 516 h 596"/>
                  <a:gd name="T22" fmla="*/ 88 w 534"/>
                  <a:gd name="T23" fmla="*/ 80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4" h="596">
                    <a:moveTo>
                      <a:pt x="534" y="297"/>
                    </a:moveTo>
                    <a:cubicBezTo>
                      <a:pt x="534" y="123"/>
                      <a:pt x="398" y="0"/>
                      <a:pt x="206" y="0"/>
                    </a:cubicBezTo>
                    <a:cubicBezTo>
                      <a:pt x="0" y="0"/>
                      <a:pt x="0" y="0"/>
                      <a:pt x="0" y="0"/>
                    </a:cubicBezTo>
                    <a:cubicBezTo>
                      <a:pt x="0" y="596"/>
                      <a:pt x="0" y="596"/>
                      <a:pt x="0" y="596"/>
                    </a:cubicBezTo>
                    <a:cubicBezTo>
                      <a:pt x="206" y="596"/>
                      <a:pt x="206" y="596"/>
                      <a:pt x="206" y="596"/>
                    </a:cubicBezTo>
                    <a:cubicBezTo>
                      <a:pt x="398" y="596"/>
                      <a:pt x="534" y="472"/>
                      <a:pt x="534" y="297"/>
                    </a:cubicBezTo>
                    <a:close/>
                    <a:moveTo>
                      <a:pt x="88" y="80"/>
                    </a:moveTo>
                    <a:cubicBezTo>
                      <a:pt x="211" y="80"/>
                      <a:pt x="211" y="80"/>
                      <a:pt x="211" y="80"/>
                    </a:cubicBezTo>
                    <a:cubicBezTo>
                      <a:pt x="348" y="80"/>
                      <a:pt x="445" y="170"/>
                      <a:pt x="445" y="297"/>
                    </a:cubicBezTo>
                    <a:cubicBezTo>
                      <a:pt x="445" y="426"/>
                      <a:pt x="348" y="516"/>
                      <a:pt x="211" y="516"/>
                    </a:cubicBezTo>
                    <a:cubicBezTo>
                      <a:pt x="88" y="516"/>
                      <a:pt x="88" y="516"/>
                      <a:pt x="88" y="516"/>
                    </a:cubicBezTo>
                    <a:lnTo>
                      <a:pt x="88" y="80"/>
                    </a:lnTo>
                    <a:close/>
                  </a:path>
                </a:pathLst>
              </a:cu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5" name="Freeform 10">
                <a:extLst>
                  <a:ext uri="{FF2B5EF4-FFF2-40B4-BE49-F238E27FC236}">
                    <a16:creationId xmlns:a16="http://schemas.microsoft.com/office/drawing/2014/main" id="{D16BA2E8-C383-DDED-C783-A32CB64E77B1}"/>
                  </a:ext>
                </a:extLst>
              </p:cNvPr>
              <p:cNvSpPr>
                <a:spLocks/>
              </p:cNvSpPr>
              <p:nvPr/>
            </p:nvSpPr>
            <p:spPr bwMode="auto">
              <a:xfrm>
                <a:off x="1445849"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225" name="Straight Connector 224">
              <a:extLst>
                <a:ext uri="{FF2B5EF4-FFF2-40B4-BE49-F238E27FC236}">
                  <a16:creationId xmlns:a16="http://schemas.microsoft.com/office/drawing/2014/main" id="{03B13F57-8AA7-8D66-92AE-752F81A1AA4A}"/>
                </a:ext>
              </a:extLst>
            </p:cNvPr>
            <p:cNvCxnSpPr>
              <a:cxnSpLocks/>
            </p:cNvCxnSpPr>
            <p:nvPr/>
          </p:nvCxnSpPr>
          <p:spPr bwMode="gray">
            <a:xfrm flipH="1">
              <a:off x="4550146" y="1516262"/>
              <a:ext cx="37996" cy="0"/>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0CAA1E3A-4B9D-FAA9-0EB1-3EB33EFD64C6}"/>
                </a:ext>
              </a:extLst>
            </p:cNvPr>
            <p:cNvCxnSpPr>
              <a:cxnSpLocks/>
            </p:cNvCxnSpPr>
            <p:nvPr/>
          </p:nvCxnSpPr>
          <p:spPr bwMode="gray">
            <a:xfrm flipH="1">
              <a:off x="4550147" y="1248567"/>
              <a:ext cx="431005" cy="0"/>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5BE2D64F-0EB7-BAD3-57E6-0BFD4530BE59}"/>
                </a:ext>
              </a:extLst>
            </p:cNvPr>
            <p:cNvCxnSpPr>
              <a:cxnSpLocks/>
            </p:cNvCxnSpPr>
            <p:nvPr/>
          </p:nvCxnSpPr>
          <p:spPr bwMode="gray">
            <a:xfrm flipV="1">
              <a:off x="4550146" y="1248569"/>
              <a:ext cx="0" cy="262945"/>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BAFED482-246C-61E2-2826-CA36C198951F}"/>
                </a:ext>
              </a:extLst>
            </p:cNvPr>
            <p:cNvCxnSpPr>
              <a:cxnSpLocks/>
            </p:cNvCxnSpPr>
            <p:nvPr/>
          </p:nvCxnSpPr>
          <p:spPr bwMode="gray">
            <a:xfrm flipV="1">
              <a:off x="4981152" y="1248567"/>
              <a:ext cx="0" cy="50422"/>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E70CD5CD-9376-573C-1DAF-E432AF18DF75}"/>
                </a:ext>
              </a:extLst>
            </p:cNvPr>
            <p:cNvCxnSpPr>
              <a:cxnSpLocks/>
            </p:cNvCxnSpPr>
            <p:nvPr/>
          </p:nvCxnSpPr>
          <p:spPr bwMode="gray">
            <a:xfrm flipH="1">
              <a:off x="4505618" y="1463676"/>
              <a:ext cx="37996" cy="0"/>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0689FD06-3BC6-FED1-15B8-F0F243419C91}"/>
                </a:ext>
              </a:extLst>
            </p:cNvPr>
            <p:cNvCxnSpPr>
              <a:cxnSpLocks/>
            </p:cNvCxnSpPr>
            <p:nvPr/>
          </p:nvCxnSpPr>
          <p:spPr bwMode="gray">
            <a:xfrm flipH="1">
              <a:off x="4505619" y="1195981"/>
              <a:ext cx="431005" cy="0"/>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81896FCC-A48E-386B-A026-54317CA90041}"/>
                </a:ext>
              </a:extLst>
            </p:cNvPr>
            <p:cNvCxnSpPr>
              <a:cxnSpLocks/>
            </p:cNvCxnSpPr>
            <p:nvPr/>
          </p:nvCxnSpPr>
          <p:spPr bwMode="gray">
            <a:xfrm flipV="1">
              <a:off x="4505618" y="1195983"/>
              <a:ext cx="0" cy="262945"/>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E223C525-30FD-D22D-5B78-AC5E48572306}"/>
                </a:ext>
              </a:extLst>
            </p:cNvPr>
            <p:cNvCxnSpPr>
              <a:cxnSpLocks/>
            </p:cNvCxnSpPr>
            <p:nvPr/>
          </p:nvCxnSpPr>
          <p:spPr bwMode="gray">
            <a:xfrm flipV="1">
              <a:off x="4936624" y="1195981"/>
              <a:ext cx="0" cy="50422"/>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40" name="Group 239">
            <a:extLst>
              <a:ext uri="{FF2B5EF4-FFF2-40B4-BE49-F238E27FC236}">
                <a16:creationId xmlns:a16="http://schemas.microsoft.com/office/drawing/2014/main" id="{391C8C83-86B2-78FF-D6DD-3672A6B44696}"/>
              </a:ext>
            </a:extLst>
          </p:cNvPr>
          <p:cNvGrpSpPr/>
          <p:nvPr/>
        </p:nvGrpSpPr>
        <p:grpSpPr>
          <a:xfrm>
            <a:off x="5913824" y="4498293"/>
            <a:ext cx="533658" cy="392298"/>
            <a:chOff x="4505618" y="1195981"/>
            <a:chExt cx="533658" cy="392298"/>
          </a:xfrm>
        </p:grpSpPr>
        <p:sp>
          <p:nvSpPr>
            <p:cNvPr id="241" name="Freeform 5">
              <a:extLst>
                <a:ext uri="{FF2B5EF4-FFF2-40B4-BE49-F238E27FC236}">
                  <a16:creationId xmlns:a16="http://schemas.microsoft.com/office/drawing/2014/main" id="{3642F443-DC1F-9548-52A1-FC153AC12A4F}"/>
                </a:ext>
              </a:extLst>
            </p:cNvPr>
            <p:cNvSpPr>
              <a:spLocks noEditPoints="1"/>
            </p:cNvSpPr>
            <p:nvPr/>
          </p:nvSpPr>
          <p:spPr bwMode="auto">
            <a:xfrm>
              <a:off x="4588140" y="1296271"/>
              <a:ext cx="451136" cy="292008"/>
            </a:xfrm>
            <a:custGeom>
              <a:avLst/>
              <a:gdLst>
                <a:gd name="T0" fmla="*/ 0 w 2483"/>
                <a:gd name="T1" fmla="*/ 0 h 1758"/>
                <a:gd name="T2" fmla="*/ 0 w 2483"/>
                <a:gd name="T3" fmla="*/ 1758 h 1758"/>
                <a:gd name="T4" fmla="*/ 2483 w 2483"/>
                <a:gd name="T5" fmla="*/ 1758 h 1758"/>
                <a:gd name="T6" fmla="*/ 2483 w 2483"/>
                <a:gd name="T7" fmla="*/ 0 h 1758"/>
                <a:gd name="T8" fmla="*/ 0 w 2483"/>
                <a:gd name="T9" fmla="*/ 0 h 1758"/>
                <a:gd name="T10" fmla="*/ 2418 w 2483"/>
                <a:gd name="T11" fmla="*/ 1694 h 1758"/>
                <a:gd name="T12" fmla="*/ 65 w 2483"/>
                <a:gd name="T13" fmla="*/ 1694 h 1758"/>
                <a:gd name="T14" fmla="*/ 65 w 2483"/>
                <a:gd name="T15" fmla="*/ 65 h 1758"/>
                <a:gd name="T16" fmla="*/ 2418 w 2483"/>
                <a:gd name="T17" fmla="*/ 65 h 1758"/>
                <a:gd name="T18" fmla="*/ 2418 w 2483"/>
                <a:gd name="T19" fmla="*/ 1694 h 1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83" h="1758">
                  <a:moveTo>
                    <a:pt x="0" y="0"/>
                  </a:moveTo>
                  <a:lnTo>
                    <a:pt x="0" y="1758"/>
                  </a:lnTo>
                  <a:lnTo>
                    <a:pt x="2483" y="1758"/>
                  </a:lnTo>
                  <a:lnTo>
                    <a:pt x="2483" y="0"/>
                  </a:lnTo>
                  <a:lnTo>
                    <a:pt x="0" y="0"/>
                  </a:lnTo>
                  <a:close/>
                  <a:moveTo>
                    <a:pt x="2418" y="1694"/>
                  </a:moveTo>
                  <a:lnTo>
                    <a:pt x="65" y="1694"/>
                  </a:lnTo>
                  <a:lnTo>
                    <a:pt x="65" y="65"/>
                  </a:lnTo>
                  <a:lnTo>
                    <a:pt x="2418" y="65"/>
                  </a:lnTo>
                  <a:lnTo>
                    <a:pt x="2418" y="1694"/>
                  </a:lnTo>
                  <a:close/>
                </a:path>
              </a:pathLst>
            </a:cu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242" name="Group 241">
              <a:extLst>
                <a:ext uri="{FF2B5EF4-FFF2-40B4-BE49-F238E27FC236}">
                  <a16:creationId xmlns:a16="http://schemas.microsoft.com/office/drawing/2014/main" id="{701D5DD6-906F-D966-9A3E-E8D26CC7D6B2}"/>
                </a:ext>
              </a:extLst>
            </p:cNvPr>
            <p:cNvGrpSpPr/>
            <p:nvPr/>
          </p:nvGrpSpPr>
          <p:grpSpPr>
            <a:xfrm>
              <a:off x="4621577" y="1326834"/>
              <a:ext cx="384263" cy="231049"/>
              <a:chOff x="1474648" y="4826879"/>
              <a:chExt cx="576585" cy="346688"/>
            </a:xfrm>
          </p:grpSpPr>
          <p:sp>
            <p:nvSpPr>
              <p:cNvPr id="255" name="Oval 6">
                <a:extLst>
                  <a:ext uri="{FF2B5EF4-FFF2-40B4-BE49-F238E27FC236}">
                    <a16:creationId xmlns:a16="http://schemas.microsoft.com/office/drawing/2014/main" id="{2ABF40DB-EA30-C6BA-3E1B-D247A564ED74}"/>
                  </a:ext>
                </a:extLst>
              </p:cNvPr>
              <p:cNvSpPr>
                <a:spLocks noChangeArrowheads="1"/>
              </p:cNvSpPr>
              <p:nvPr/>
            </p:nvSpPr>
            <p:spPr bwMode="auto">
              <a:xfrm>
                <a:off x="1474648" y="4826879"/>
                <a:ext cx="31228" cy="31155"/>
              </a:xfrm>
              <a:prstGeom prst="ellipse">
                <a:avLst/>
              </a:pr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6" name="Oval 7">
                <a:extLst>
                  <a:ext uri="{FF2B5EF4-FFF2-40B4-BE49-F238E27FC236}">
                    <a16:creationId xmlns:a16="http://schemas.microsoft.com/office/drawing/2014/main" id="{447200A6-BEFF-2301-8060-54967DF5EA5D}"/>
                  </a:ext>
                </a:extLst>
              </p:cNvPr>
              <p:cNvSpPr>
                <a:spLocks noChangeArrowheads="1"/>
              </p:cNvSpPr>
              <p:nvPr/>
            </p:nvSpPr>
            <p:spPr bwMode="auto">
              <a:xfrm>
                <a:off x="1474648" y="5142412"/>
                <a:ext cx="31228" cy="31155"/>
              </a:xfrm>
              <a:prstGeom prst="ellipse">
                <a:avLst/>
              </a:pr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7" name="Oval 8">
                <a:extLst>
                  <a:ext uri="{FF2B5EF4-FFF2-40B4-BE49-F238E27FC236}">
                    <a16:creationId xmlns:a16="http://schemas.microsoft.com/office/drawing/2014/main" id="{C10F09BD-0D98-2312-779A-1C60F2B2E1B1}"/>
                  </a:ext>
                </a:extLst>
              </p:cNvPr>
              <p:cNvSpPr>
                <a:spLocks noChangeArrowheads="1"/>
              </p:cNvSpPr>
              <p:nvPr/>
            </p:nvSpPr>
            <p:spPr bwMode="auto">
              <a:xfrm>
                <a:off x="2020253" y="4826879"/>
                <a:ext cx="30980" cy="31155"/>
              </a:xfrm>
              <a:prstGeom prst="ellipse">
                <a:avLst/>
              </a:pr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8" name="Oval 9">
                <a:extLst>
                  <a:ext uri="{FF2B5EF4-FFF2-40B4-BE49-F238E27FC236}">
                    <a16:creationId xmlns:a16="http://schemas.microsoft.com/office/drawing/2014/main" id="{378D1DCE-E8C1-17B1-9C85-6FE6D78EA3D2}"/>
                  </a:ext>
                </a:extLst>
              </p:cNvPr>
              <p:cNvSpPr>
                <a:spLocks noChangeArrowheads="1"/>
              </p:cNvSpPr>
              <p:nvPr/>
            </p:nvSpPr>
            <p:spPr bwMode="auto">
              <a:xfrm>
                <a:off x="2020253" y="5142412"/>
                <a:ext cx="30980" cy="31155"/>
              </a:xfrm>
              <a:prstGeom prst="ellipse">
                <a:avLst/>
              </a:pr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43" name="Group 242">
              <a:extLst>
                <a:ext uri="{FF2B5EF4-FFF2-40B4-BE49-F238E27FC236}">
                  <a16:creationId xmlns:a16="http://schemas.microsoft.com/office/drawing/2014/main" id="{5D91EA87-7D5D-9562-C95F-E40D5CADD20A}"/>
                </a:ext>
              </a:extLst>
            </p:cNvPr>
            <p:cNvGrpSpPr/>
            <p:nvPr/>
          </p:nvGrpSpPr>
          <p:grpSpPr>
            <a:xfrm>
              <a:off x="4713786" y="1407394"/>
              <a:ext cx="199845" cy="69431"/>
              <a:chOff x="1445849" y="4947759"/>
              <a:chExt cx="299866" cy="104181"/>
            </a:xfrm>
          </p:grpSpPr>
          <p:sp>
            <p:nvSpPr>
              <p:cNvPr id="252" name="Freeform 10">
                <a:extLst>
                  <a:ext uri="{FF2B5EF4-FFF2-40B4-BE49-F238E27FC236}">
                    <a16:creationId xmlns:a16="http://schemas.microsoft.com/office/drawing/2014/main" id="{C016B97E-8405-3FA5-C019-2D97A6B1E476}"/>
                  </a:ext>
                </a:extLst>
              </p:cNvPr>
              <p:cNvSpPr>
                <a:spLocks/>
              </p:cNvSpPr>
              <p:nvPr/>
            </p:nvSpPr>
            <p:spPr bwMode="auto">
              <a:xfrm>
                <a:off x="1550675"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3" name="Freeform 11">
                <a:extLst>
                  <a:ext uri="{FF2B5EF4-FFF2-40B4-BE49-F238E27FC236}">
                    <a16:creationId xmlns:a16="http://schemas.microsoft.com/office/drawing/2014/main" id="{41F34F2B-1DEA-EC7F-6D6B-BFCE1D9B83A7}"/>
                  </a:ext>
                </a:extLst>
              </p:cNvPr>
              <p:cNvSpPr>
                <a:spLocks noEditPoints="1"/>
              </p:cNvSpPr>
              <p:nvPr/>
            </p:nvSpPr>
            <p:spPr bwMode="auto">
              <a:xfrm>
                <a:off x="1655501" y="4949254"/>
                <a:ext cx="90214" cy="101190"/>
              </a:xfrm>
              <a:custGeom>
                <a:avLst/>
                <a:gdLst>
                  <a:gd name="T0" fmla="*/ 534 w 534"/>
                  <a:gd name="T1" fmla="*/ 297 h 596"/>
                  <a:gd name="T2" fmla="*/ 206 w 534"/>
                  <a:gd name="T3" fmla="*/ 0 h 596"/>
                  <a:gd name="T4" fmla="*/ 0 w 534"/>
                  <a:gd name="T5" fmla="*/ 0 h 596"/>
                  <a:gd name="T6" fmla="*/ 0 w 534"/>
                  <a:gd name="T7" fmla="*/ 596 h 596"/>
                  <a:gd name="T8" fmla="*/ 206 w 534"/>
                  <a:gd name="T9" fmla="*/ 596 h 596"/>
                  <a:gd name="T10" fmla="*/ 534 w 534"/>
                  <a:gd name="T11" fmla="*/ 297 h 596"/>
                  <a:gd name="T12" fmla="*/ 88 w 534"/>
                  <a:gd name="T13" fmla="*/ 80 h 596"/>
                  <a:gd name="T14" fmla="*/ 211 w 534"/>
                  <a:gd name="T15" fmla="*/ 80 h 596"/>
                  <a:gd name="T16" fmla="*/ 445 w 534"/>
                  <a:gd name="T17" fmla="*/ 297 h 596"/>
                  <a:gd name="T18" fmla="*/ 211 w 534"/>
                  <a:gd name="T19" fmla="*/ 516 h 596"/>
                  <a:gd name="T20" fmla="*/ 88 w 534"/>
                  <a:gd name="T21" fmla="*/ 516 h 596"/>
                  <a:gd name="T22" fmla="*/ 88 w 534"/>
                  <a:gd name="T23" fmla="*/ 80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4" h="596">
                    <a:moveTo>
                      <a:pt x="534" y="297"/>
                    </a:moveTo>
                    <a:cubicBezTo>
                      <a:pt x="534" y="123"/>
                      <a:pt x="398" y="0"/>
                      <a:pt x="206" y="0"/>
                    </a:cubicBezTo>
                    <a:cubicBezTo>
                      <a:pt x="0" y="0"/>
                      <a:pt x="0" y="0"/>
                      <a:pt x="0" y="0"/>
                    </a:cubicBezTo>
                    <a:cubicBezTo>
                      <a:pt x="0" y="596"/>
                      <a:pt x="0" y="596"/>
                      <a:pt x="0" y="596"/>
                    </a:cubicBezTo>
                    <a:cubicBezTo>
                      <a:pt x="206" y="596"/>
                      <a:pt x="206" y="596"/>
                      <a:pt x="206" y="596"/>
                    </a:cubicBezTo>
                    <a:cubicBezTo>
                      <a:pt x="398" y="596"/>
                      <a:pt x="534" y="472"/>
                      <a:pt x="534" y="297"/>
                    </a:cubicBezTo>
                    <a:close/>
                    <a:moveTo>
                      <a:pt x="88" y="80"/>
                    </a:moveTo>
                    <a:cubicBezTo>
                      <a:pt x="211" y="80"/>
                      <a:pt x="211" y="80"/>
                      <a:pt x="211" y="80"/>
                    </a:cubicBezTo>
                    <a:cubicBezTo>
                      <a:pt x="348" y="80"/>
                      <a:pt x="445" y="170"/>
                      <a:pt x="445" y="297"/>
                    </a:cubicBezTo>
                    <a:cubicBezTo>
                      <a:pt x="445" y="426"/>
                      <a:pt x="348" y="516"/>
                      <a:pt x="211" y="516"/>
                    </a:cubicBezTo>
                    <a:cubicBezTo>
                      <a:pt x="88" y="516"/>
                      <a:pt x="88" y="516"/>
                      <a:pt x="88" y="516"/>
                    </a:cubicBezTo>
                    <a:lnTo>
                      <a:pt x="88" y="80"/>
                    </a:lnTo>
                    <a:close/>
                  </a:path>
                </a:pathLst>
              </a:cu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4" name="Freeform 10">
                <a:extLst>
                  <a:ext uri="{FF2B5EF4-FFF2-40B4-BE49-F238E27FC236}">
                    <a16:creationId xmlns:a16="http://schemas.microsoft.com/office/drawing/2014/main" id="{261B30A6-D907-03BA-B42A-440BDB4494D4}"/>
                  </a:ext>
                </a:extLst>
              </p:cNvPr>
              <p:cNvSpPr>
                <a:spLocks/>
              </p:cNvSpPr>
              <p:nvPr/>
            </p:nvSpPr>
            <p:spPr bwMode="auto">
              <a:xfrm>
                <a:off x="1445849"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244" name="Straight Connector 243">
              <a:extLst>
                <a:ext uri="{FF2B5EF4-FFF2-40B4-BE49-F238E27FC236}">
                  <a16:creationId xmlns:a16="http://schemas.microsoft.com/office/drawing/2014/main" id="{5CCFFB27-6D8F-6864-5F97-5FF4BCABC0D1}"/>
                </a:ext>
              </a:extLst>
            </p:cNvPr>
            <p:cNvCxnSpPr>
              <a:cxnSpLocks/>
            </p:cNvCxnSpPr>
            <p:nvPr/>
          </p:nvCxnSpPr>
          <p:spPr bwMode="gray">
            <a:xfrm flipH="1">
              <a:off x="4550146" y="1516262"/>
              <a:ext cx="37996" cy="0"/>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48A6B574-F717-EC99-4AEF-51145E6BDC14}"/>
                </a:ext>
              </a:extLst>
            </p:cNvPr>
            <p:cNvCxnSpPr>
              <a:cxnSpLocks/>
            </p:cNvCxnSpPr>
            <p:nvPr/>
          </p:nvCxnSpPr>
          <p:spPr bwMode="gray">
            <a:xfrm flipH="1">
              <a:off x="4550147" y="1248567"/>
              <a:ext cx="431005" cy="0"/>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71A419B9-C275-375C-DA2B-D3B86BEB3FAE}"/>
                </a:ext>
              </a:extLst>
            </p:cNvPr>
            <p:cNvCxnSpPr>
              <a:cxnSpLocks/>
            </p:cNvCxnSpPr>
            <p:nvPr/>
          </p:nvCxnSpPr>
          <p:spPr bwMode="gray">
            <a:xfrm flipV="1">
              <a:off x="4550146" y="1248569"/>
              <a:ext cx="0" cy="262945"/>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2B64A721-F661-F622-E48C-A5F387516F45}"/>
                </a:ext>
              </a:extLst>
            </p:cNvPr>
            <p:cNvCxnSpPr>
              <a:cxnSpLocks/>
            </p:cNvCxnSpPr>
            <p:nvPr/>
          </p:nvCxnSpPr>
          <p:spPr bwMode="gray">
            <a:xfrm flipV="1">
              <a:off x="4981152" y="1248567"/>
              <a:ext cx="0" cy="50422"/>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408AC109-EF93-36ED-611F-B6864B38A237}"/>
                </a:ext>
              </a:extLst>
            </p:cNvPr>
            <p:cNvCxnSpPr>
              <a:cxnSpLocks/>
            </p:cNvCxnSpPr>
            <p:nvPr/>
          </p:nvCxnSpPr>
          <p:spPr bwMode="gray">
            <a:xfrm flipH="1">
              <a:off x="4505618" y="1463676"/>
              <a:ext cx="37996" cy="0"/>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72A12ECA-A503-B30D-13B9-88C9389FCB17}"/>
                </a:ext>
              </a:extLst>
            </p:cNvPr>
            <p:cNvCxnSpPr>
              <a:cxnSpLocks/>
            </p:cNvCxnSpPr>
            <p:nvPr/>
          </p:nvCxnSpPr>
          <p:spPr bwMode="gray">
            <a:xfrm flipH="1">
              <a:off x="4505619" y="1195981"/>
              <a:ext cx="431005" cy="0"/>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CE31BB04-F41B-6D23-EA02-284D85193AAC}"/>
                </a:ext>
              </a:extLst>
            </p:cNvPr>
            <p:cNvCxnSpPr>
              <a:cxnSpLocks/>
            </p:cNvCxnSpPr>
            <p:nvPr/>
          </p:nvCxnSpPr>
          <p:spPr bwMode="gray">
            <a:xfrm flipV="1">
              <a:off x="4505618" y="1195983"/>
              <a:ext cx="0" cy="262945"/>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5E35BCEF-B10A-8A5F-2F72-7984593AF7AF}"/>
                </a:ext>
              </a:extLst>
            </p:cNvPr>
            <p:cNvCxnSpPr>
              <a:cxnSpLocks/>
            </p:cNvCxnSpPr>
            <p:nvPr/>
          </p:nvCxnSpPr>
          <p:spPr bwMode="gray">
            <a:xfrm flipV="1">
              <a:off x="4936624" y="1195981"/>
              <a:ext cx="0" cy="50422"/>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59" name="Group 258">
            <a:extLst>
              <a:ext uri="{FF2B5EF4-FFF2-40B4-BE49-F238E27FC236}">
                <a16:creationId xmlns:a16="http://schemas.microsoft.com/office/drawing/2014/main" id="{AEB7E58A-ABEF-49C3-A3E0-F1F9E711A2F4}"/>
              </a:ext>
            </a:extLst>
          </p:cNvPr>
          <p:cNvGrpSpPr/>
          <p:nvPr/>
        </p:nvGrpSpPr>
        <p:grpSpPr>
          <a:xfrm>
            <a:off x="7180925" y="4498293"/>
            <a:ext cx="533658" cy="392298"/>
            <a:chOff x="4505618" y="1195981"/>
            <a:chExt cx="533658" cy="392298"/>
          </a:xfrm>
        </p:grpSpPr>
        <p:sp>
          <p:nvSpPr>
            <p:cNvPr id="260" name="Freeform 5">
              <a:extLst>
                <a:ext uri="{FF2B5EF4-FFF2-40B4-BE49-F238E27FC236}">
                  <a16:creationId xmlns:a16="http://schemas.microsoft.com/office/drawing/2014/main" id="{5C60D934-E0CB-E277-D81D-B861C0A31CD7}"/>
                </a:ext>
              </a:extLst>
            </p:cNvPr>
            <p:cNvSpPr>
              <a:spLocks noEditPoints="1"/>
            </p:cNvSpPr>
            <p:nvPr/>
          </p:nvSpPr>
          <p:spPr bwMode="auto">
            <a:xfrm>
              <a:off x="4588140" y="1296271"/>
              <a:ext cx="451136" cy="292008"/>
            </a:xfrm>
            <a:custGeom>
              <a:avLst/>
              <a:gdLst>
                <a:gd name="T0" fmla="*/ 0 w 2483"/>
                <a:gd name="T1" fmla="*/ 0 h 1758"/>
                <a:gd name="T2" fmla="*/ 0 w 2483"/>
                <a:gd name="T3" fmla="*/ 1758 h 1758"/>
                <a:gd name="T4" fmla="*/ 2483 w 2483"/>
                <a:gd name="T5" fmla="*/ 1758 h 1758"/>
                <a:gd name="T6" fmla="*/ 2483 w 2483"/>
                <a:gd name="T7" fmla="*/ 0 h 1758"/>
                <a:gd name="T8" fmla="*/ 0 w 2483"/>
                <a:gd name="T9" fmla="*/ 0 h 1758"/>
                <a:gd name="T10" fmla="*/ 2418 w 2483"/>
                <a:gd name="T11" fmla="*/ 1694 h 1758"/>
                <a:gd name="T12" fmla="*/ 65 w 2483"/>
                <a:gd name="T13" fmla="*/ 1694 h 1758"/>
                <a:gd name="T14" fmla="*/ 65 w 2483"/>
                <a:gd name="T15" fmla="*/ 65 h 1758"/>
                <a:gd name="T16" fmla="*/ 2418 w 2483"/>
                <a:gd name="T17" fmla="*/ 65 h 1758"/>
                <a:gd name="T18" fmla="*/ 2418 w 2483"/>
                <a:gd name="T19" fmla="*/ 1694 h 1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83" h="1758">
                  <a:moveTo>
                    <a:pt x="0" y="0"/>
                  </a:moveTo>
                  <a:lnTo>
                    <a:pt x="0" y="1758"/>
                  </a:lnTo>
                  <a:lnTo>
                    <a:pt x="2483" y="1758"/>
                  </a:lnTo>
                  <a:lnTo>
                    <a:pt x="2483" y="0"/>
                  </a:lnTo>
                  <a:lnTo>
                    <a:pt x="0" y="0"/>
                  </a:lnTo>
                  <a:close/>
                  <a:moveTo>
                    <a:pt x="2418" y="1694"/>
                  </a:moveTo>
                  <a:lnTo>
                    <a:pt x="65" y="1694"/>
                  </a:lnTo>
                  <a:lnTo>
                    <a:pt x="65" y="65"/>
                  </a:lnTo>
                  <a:lnTo>
                    <a:pt x="2418" y="65"/>
                  </a:lnTo>
                  <a:lnTo>
                    <a:pt x="2418" y="1694"/>
                  </a:lnTo>
                  <a:close/>
                </a:path>
              </a:pathLst>
            </a:cu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261" name="Group 260">
              <a:extLst>
                <a:ext uri="{FF2B5EF4-FFF2-40B4-BE49-F238E27FC236}">
                  <a16:creationId xmlns:a16="http://schemas.microsoft.com/office/drawing/2014/main" id="{E40A6272-1D4C-4F55-3779-408C9C659C2F}"/>
                </a:ext>
              </a:extLst>
            </p:cNvPr>
            <p:cNvGrpSpPr/>
            <p:nvPr/>
          </p:nvGrpSpPr>
          <p:grpSpPr>
            <a:xfrm>
              <a:off x="4621577" y="1326834"/>
              <a:ext cx="384263" cy="231049"/>
              <a:chOff x="1474648" y="4826879"/>
              <a:chExt cx="576585" cy="346688"/>
            </a:xfrm>
          </p:grpSpPr>
          <p:sp>
            <p:nvSpPr>
              <p:cNvPr id="274" name="Oval 6">
                <a:extLst>
                  <a:ext uri="{FF2B5EF4-FFF2-40B4-BE49-F238E27FC236}">
                    <a16:creationId xmlns:a16="http://schemas.microsoft.com/office/drawing/2014/main" id="{D25AEE94-EE63-DE99-13BF-72FD74382607}"/>
                  </a:ext>
                </a:extLst>
              </p:cNvPr>
              <p:cNvSpPr>
                <a:spLocks noChangeArrowheads="1"/>
              </p:cNvSpPr>
              <p:nvPr/>
            </p:nvSpPr>
            <p:spPr bwMode="auto">
              <a:xfrm>
                <a:off x="1474648" y="4826879"/>
                <a:ext cx="31228" cy="31155"/>
              </a:xfrm>
              <a:prstGeom prst="ellipse">
                <a:avLst/>
              </a:pr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Oval 7">
                <a:extLst>
                  <a:ext uri="{FF2B5EF4-FFF2-40B4-BE49-F238E27FC236}">
                    <a16:creationId xmlns:a16="http://schemas.microsoft.com/office/drawing/2014/main" id="{8710175C-9FC9-3203-1418-9124108466B1}"/>
                  </a:ext>
                </a:extLst>
              </p:cNvPr>
              <p:cNvSpPr>
                <a:spLocks noChangeArrowheads="1"/>
              </p:cNvSpPr>
              <p:nvPr/>
            </p:nvSpPr>
            <p:spPr bwMode="auto">
              <a:xfrm>
                <a:off x="1474648" y="5142412"/>
                <a:ext cx="31228" cy="31155"/>
              </a:xfrm>
              <a:prstGeom prst="ellipse">
                <a:avLst/>
              </a:pr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6" name="Oval 8">
                <a:extLst>
                  <a:ext uri="{FF2B5EF4-FFF2-40B4-BE49-F238E27FC236}">
                    <a16:creationId xmlns:a16="http://schemas.microsoft.com/office/drawing/2014/main" id="{5D8B27AF-C5A7-BCEB-433E-166F447AD456}"/>
                  </a:ext>
                </a:extLst>
              </p:cNvPr>
              <p:cNvSpPr>
                <a:spLocks noChangeArrowheads="1"/>
              </p:cNvSpPr>
              <p:nvPr/>
            </p:nvSpPr>
            <p:spPr bwMode="auto">
              <a:xfrm>
                <a:off x="2020253" y="4826879"/>
                <a:ext cx="30980" cy="31155"/>
              </a:xfrm>
              <a:prstGeom prst="ellipse">
                <a:avLst/>
              </a:pr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7" name="Oval 9">
                <a:extLst>
                  <a:ext uri="{FF2B5EF4-FFF2-40B4-BE49-F238E27FC236}">
                    <a16:creationId xmlns:a16="http://schemas.microsoft.com/office/drawing/2014/main" id="{78837141-4180-1241-CC0C-03D9EAC20B49}"/>
                  </a:ext>
                </a:extLst>
              </p:cNvPr>
              <p:cNvSpPr>
                <a:spLocks noChangeArrowheads="1"/>
              </p:cNvSpPr>
              <p:nvPr/>
            </p:nvSpPr>
            <p:spPr bwMode="auto">
              <a:xfrm>
                <a:off x="2020253" y="5142412"/>
                <a:ext cx="30980" cy="31155"/>
              </a:xfrm>
              <a:prstGeom prst="ellipse">
                <a:avLst/>
              </a:pr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62" name="Group 261">
              <a:extLst>
                <a:ext uri="{FF2B5EF4-FFF2-40B4-BE49-F238E27FC236}">
                  <a16:creationId xmlns:a16="http://schemas.microsoft.com/office/drawing/2014/main" id="{57D4132D-B95A-CEEE-3815-2591C1533403}"/>
                </a:ext>
              </a:extLst>
            </p:cNvPr>
            <p:cNvGrpSpPr/>
            <p:nvPr/>
          </p:nvGrpSpPr>
          <p:grpSpPr>
            <a:xfrm>
              <a:off x="4713786" y="1407394"/>
              <a:ext cx="199845" cy="69431"/>
              <a:chOff x="1445849" y="4947759"/>
              <a:chExt cx="299866" cy="104181"/>
            </a:xfrm>
          </p:grpSpPr>
          <p:sp>
            <p:nvSpPr>
              <p:cNvPr id="271" name="Freeform 10">
                <a:extLst>
                  <a:ext uri="{FF2B5EF4-FFF2-40B4-BE49-F238E27FC236}">
                    <a16:creationId xmlns:a16="http://schemas.microsoft.com/office/drawing/2014/main" id="{119E362B-690A-2D91-33EA-7F2C5A4D3A9A}"/>
                  </a:ext>
                </a:extLst>
              </p:cNvPr>
              <p:cNvSpPr>
                <a:spLocks/>
              </p:cNvSpPr>
              <p:nvPr/>
            </p:nvSpPr>
            <p:spPr bwMode="auto">
              <a:xfrm>
                <a:off x="1550675"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Freeform 11">
                <a:extLst>
                  <a:ext uri="{FF2B5EF4-FFF2-40B4-BE49-F238E27FC236}">
                    <a16:creationId xmlns:a16="http://schemas.microsoft.com/office/drawing/2014/main" id="{E9D649A3-C353-1D37-8023-436CD378E08F}"/>
                  </a:ext>
                </a:extLst>
              </p:cNvPr>
              <p:cNvSpPr>
                <a:spLocks noEditPoints="1"/>
              </p:cNvSpPr>
              <p:nvPr/>
            </p:nvSpPr>
            <p:spPr bwMode="auto">
              <a:xfrm>
                <a:off x="1655501" y="4949254"/>
                <a:ext cx="90214" cy="101190"/>
              </a:xfrm>
              <a:custGeom>
                <a:avLst/>
                <a:gdLst>
                  <a:gd name="T0" fmla="*/ 534 w 534"/>
                  <a:gd name="T1" fmla="*/ 297 h 596"/>
                  <a:gd name="T2" fmla="*/ 206 w 534"/>
                  <a:gd name="T3" fmla="*/ 0 h 596"/>
                  <a:gd name="T4" fmla="*/ 0 w 534"/>
                  <a:gd name="T5" fmla="*/ 0 h 596"/>
                  <a:gd name="T6" fmla="*/ 0 w 534"/>
                  <a:gd name="T7" fmla="*/ 596 h 596"/>
                  <a:gd name="T8" fmla="*/ 206 w 534"/>
                  <a:gd name="T9" fmla="*/ 596 h 596"/>
                  <a:gd name="T10" fmla="*/ 534 w 534"/>
                  <a:gd name="T11" fmla="*/ 297 h 596"/>
                  <a:gd name="T12" fmla="*/ 88 w 534"/>
                  <a:gd name="T13" fmla="*/ 80 h 596"/>
                  <a:gd name="T14" fmla="*/ 211 w 534"/>
                  <a:gd name="T15" fmla="*/ 80 h 596"/>
                  <a:gd name="T16" fmla="*/ 445 w 534"/>
                  <a:gd name="T17" fmla="*/ 297 h 596"/>
                  <a:gd name="T18" fmla="*/ 211 w 534"/>
                  <a:gd name="T19" fmla="*/ 516 h 596"/>
                  <a:gd name="T20" fmla="*/ 88 w 534"/>
                  <a:gd name="T21" fmla="*/ 516 h 596"/>
                  <a:gd name="T22" fmla="*/ 88 w 534"/>
                  <a:gd name="T23" fmla="*/ 80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4" h="596">
                    <a:moveTo>
                      <a:pt x="534" y="297"/>
                    </a:moveTo>
                    <a:cubicBezTo>
                      <a:pt x="534" y="123"/>
                      <a:pt x="398" y="0"/>
                      <a:pt x="206" y="0"/>
                    </a:cubicBezTo>
                    <a:cubicBezTo>
                      <a:pt x="0" y="0"/>
                      <a:pt x="0" y="0"/>
                      <a:pt x="0" y="0"/>
                    </a:cubicBezTo>
                    <a:cubicBezTo>
                      <a:pt x="0" y="596"/>
                      <a:pt x="0" y="596"/>
                      <a:pt x="0" y="596"/>
                    </a:cubicBezTo>
                    <a:cubicBezTo>
                      <a:pt x="206" y="596"/>
                      <a:pt x="206" y="596"/>
                      <a:pt x="206" y="596"/>
                    </a:cubicBezTo>
                    <a:cubicBezTo>
                      <a:pt x="398" y="596"/>
                      <a:pt x="534" y="472"/>
                      <a:pt x="534" y="297"/>
                    </a:cubicBezTo>
                    <a:close/>
                    <a:moveTo>
                      <a:pt x="88" y="80"/>
                    </a:moveTo>
                    <a:cubicBezTo>
                      <a:pt x="211" y="80"/>
                      <a:pt x="211" y="80"/>
                      <a:pt x="211" y="80"/>
                    </a:cubicBezTo>
                    <a:cubicBezTo>
                      <a:pt x="348" y="80"/>
                      <a:pt x="445" y="170"/>
                      <a:pt x="445" y="297"/>
                    </a:cubicBezTo>
                    <a:cubicBezTo>
                      <a:pt x="445" y="426"/>
                      <a:pt x="348" y="516"/>
                      <a:pt x="211" y="516"/>
                    </a:cubicBezTo>
                    <a:cubicBezTo>
                      <a:pt x="88" y="516"/>
                      <a:pt x="88" y="516"/>
                      <a:pt x="88" y="516"/>
                    </a:cubicBezTo>
                    <a:lnTo>
                      <a:pt x="88" y="80"/>
                    </a:lnTo>
                    <a:close/>
                  </a:path>
                </a:pathLst>
              </a:cu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10">
                <a:extLst>
                  <a:ext uri="{FF2B5EF4-FFF2-40B4-BE49-F238E27FC236}">
                    <a16:creationId xmlns:a16="http://schemas.microsoft.com/office/drawing/2014/main" id="{0CBDA03A-4710-53AE-5909-D00F6DBF3E90}"/>
                  </a:ext>
                </a:extLst>
              </p:cNvPr>
              <p:cNvSpPr>
                <a:spLocks/>
              </p:cNvSpPr>
              <p:nvPr/>
            </p:nvSpPr>
            <p:spPr bwMode="auto">
              <a:xfrm>
                <a:off x="1445849"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rgbClr val="F898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263" name="Straight Connector 262">
              <a:extLst>
                <a:ext uri="{FF2B5EF4-FFF2-40B4-BE49-F238E27FC236}">
                  <a16:creationId xmlns:a16="http://schemas.microsoft.com/office/drawing/2014/main" id="{D52D50C5-9F83-0B3F-1C52-38ADEC0A6F81}"/>
                </a:ext>
              </a:extLst>
            </p:cNvPr>
            <p:cNvCxnSpPr>
              <a:cxnSpLocks/>
            </p:cNvCxnSpPr>
            <p:nvPr/>
          </p:nvCxnSpPr>
          <p:spPr bwMode="gray">
            <a:xfrm flipH="1">
              <a:off x="4550146" y="1516262"/>
              <a:ext cx="37996" cy="0"/>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6AF5D3A4-1D8E-8EA9-7DDD-C268EAE18DF8}"/>
                </a:ext>
              </a:extLst>
            </p:cNvPr>
            <p:cNvCxnSpPr>
              <a:cxnSpLocks/>
            </p:cNvCxnSpPr>
            <p:nvPr/>
          </p:nvCxnSpPr>
          <p:spPr bwMode="gray">
            <a:xfrm flipH="1">
              <a:off x="4550147" y="1248567"/>
              <a:ext cx="431005" cy="0"/>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7D82C5E3-0E57-44B9-7EF9-881EE244F35A}"/>
                </a:ext>
              </a:extLst>
            </p:cNvPr>
            <p:cNvCxnSpPr>
              <a:cxnSpLocks/>
            </p:cNvCxnSpPr>
            <p:nvPr/>
          </p:nvCxnSpPr>
          <p:spPr bwMode="gray">
            <a:xfrm flipV="1">
              <a:off x="4550146" y="1248569"/>
              <a:ext cx="0" cy="262945"/>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094C33F7-5E24-9BDA-F298-DC095F9B8856}"/>
                </a:ext>
              </a:extLst>
            </p:cNvPr>
            <p:cNvCxnSpPr>
              <a:cxnSpLocks/>
            </p:cNvCxnSpPr>
            <p:nvPr/>
          </p:nvCxnSpPr>
          <p:spPr bwMode="gray">
            <a:xfrm flipV="1">
              <a:off x="4981152" y="1248567"/>
              <a:ext cx="0" cy="50422"/>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CC566D4F-AF1C-B066-F505-14BAFE7A4941}"/>
                </a:ext>
              </a:extLst>
            </p:cNvPr>
            <p:cNvCxnSpPr>
              <a:cxnSpLocks/>
            </p:cNvCxnSpPr>
            <p:nvPr/>
          </p:nvCxnSpPr>
          <p:spPr bwMode="gray">
            <a:xfrm flipH="1">
              <a:off x="4505618" y="1463676"/>
              <a:ext cx="37996" cy="0"/>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84291B3B-01D4-894A-1F1F-E4FCDF79C097}"/>
                </a:ext>
              </a:extLst>
            </p:cNvPr>
            <p:cNvCxnSpPr>
              <a:cxnSpLocks/>
            </p:cNvCxnSpPr>
            <p:nvPr/>
          </p:nvCxnSpPr>
          <p:spPr bwMode="gray">
            <a:xfrm flipH="1">
              <a:off x="4505619" y="1195981"/>
              <a:ext cx="431005" cy="0"/>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46B1BB88-AC49-961D-D1BA-0293AEC7C5D6}"/>
                </a:ext>
              </a:extLst>
            </p:cNvPr>
            <p:cNvCxnSpPr>
              <a:cxnSpLocks/>
            </p:cNvCxnSpPr>
            <p:nvPr/>
          </p:nvCxnSpPr>
          <p:spPr bwMode="gray">
            <a:xfrm flipV="1">
              <a:off x="4505618" y="1195983"/>
              <a:ext cx="0" cy="262945"/>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5E0EEF7C-4C88-1DDC-8192-77A78B6BC22B}"/>
                </a:ext>
              </a:extLst>
            </p:cNvPr>
            <p:cNvCxnSpPr>
              <a:cxnSpLocks/>
            </p:cNvCxnSpPr>
            <p:nvPr/>
          </p:nvCxnSpPr>
          <p:spPr bwMode="gray">
            <a:xfrm flipV="1">
              <a:off x="4936624" y="1195981"/>
              <a:ext cx="0" cy="50422"/>
            </a:xfrm>
            <a:prstGeom prst="line">
              <a:avLst/>
            </a:prstGeom>
            <a:ln w="12700">
              <a:solidFill>
                <a:srgbClr val="F8981D"/>
              </a:solidFill>
              <a:miter lim="800000"/>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97911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500"/>
                                        <p:tgtEl>
                                          <p:spTgt spid="13"/>
                                        </p:tgtEl>
                                      </p:cBhvr>
                                    </p:animEffect>
                                  </p:childTnLst>
                                </p:cTn>
                              </p:par>
                              <p:par>
                                <p:cTn id="12" presetID="22" presetClass="entr" presetSubtype="4"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down)">
                                      <p:cBhvr>
                                        <p:cTn id="14" dur="500"/>
                                        <p:tgtEl>
                                          <p:spTgt spid="12"/>
                                        </p:tgtEl>
                                      </p:cBhvr>
                                    </p:animEffect>
                                  </p:childTnLst>
                                </p:cTn>
                              </p:par>
                              <p:par>
                                <p:cTn id="15" presetID="10" presetClass="entr" presetSubtype="0" fill="hold" nodeType="withEffect">
                                  <p:stCondLst>
                                    <p:cond delay="0"/>
                                  </p:stCondLst>
                                  <p:childTnLst>
                                    <p:set>
                                      <p:cBhvr>
                                        <p:cTn id="16" dur="1" fill="hold">
                                          <p:stCondLst>
                                            <p:cond delay="0"/>
                                          </p:stCondLst>
                                        </p:cTn>
                                        <p:tgtEl>
                                          <p:spTgt spid="145"/>
                                        </p:tgtEl>
                                        <p:attrNameLst>
                                          <p:attrName>style.visibility</p:attrName>
                                        </p:attrNameLst>
                                      </p:cBhvr>
                                      <p:to>
                                        <p:strVal val="visible"/>
                                      </p:to>
                                    </p:set>
                                    <p:animEffect transition="in" filter="fade">
                                      <p:cBhvr>
                                        <p:cTn id="17" dur="500"/>
                                        <p:tgtEl>
                                          <p:spTgt spid="145"/>
                                        </p:tgtEl>
                                      </p:cBhvr>
                                    </p:animEffect>
                                  </p:childTnLst>
                                </p:cTn>
                              </p:par>
                              <p:par>
                                <p:cTn id="18" presetID="10" presetClass="entr" presetSubtype="0" fill="hold" nodeType="withEffect">
                                  <p:stCondLst>
                                    <p:cond delay="0"/>
                                  </p:stCondLst>
                                  <p:childTnLst>
                                    <p:set>
                                      <p:cBhvr>
                                        <p:cTn id="19" dur="1" fill="hold">
                                          <p:stCondLst>
                                            <p:cond delay="0"/>
                                          </p:stCondLst>
                                        </p:cTn>
                                        <p:tgtEl>
                                          <p:spTgt spid="202"/>
                                        </p:tgtEl>
                                        <p:attrNameLst>
                                          <p:attrName>style.visibility</p:attrName>
                                        </p:attrNameLst>
                                      </p:cBhvr>
                                      <p:to>
                                        <p:strVal val="visible"/>
                                      </p:to>
                                    </p:set>
                                    <p:animEffect transition="in" filter="fade">
                                      <p:cBhvr>
                                        <p:cTn id="20" dur="500"/>
                                        <p:tgtEl>
                                          <p:spTgt spid="202"/>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par>
                                <p:cTn id="25" presetID="10"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nodeType="withEffect">
                                  <p:stCondLst>
                                    <p:cond delay="0"/>
                                  </p:stCondLst>
                                  <p:childTnLst>
                                    <p:set>
                                      <p:cBhvr>
                                        <p:cTn id="29" dur="1" fill="hold">
                                          <p:stCondLst>
                                            <p:cond delay="0"/>
                                          </p:stCondLst>
                                        </p:cTn>
                                        <p:tgtEl>
                                          <p:spTgt spid="40"/>
                                        </p:tgtEl>
                                        <p:attrNameLst>
                                          <p:attrName>style.visibility</p:attrName>
                                        </p:attrNameLst>
                                      </p:cBhvr>
                                      <p:to>
                                        <p:strVal val="visible"/>
                                      </p:to>
                                    </p:set>
                                    <p:animEffect transition="in" filter="fade">
                                      <p:cBhvr>
                                        <p:cTn id="30" dur="500"/>
                                        <p:tgtEl>
                                          <p:spTgt spid="40"/>
                                        </p:tgtEl>
                                      </p:cBhvr>
                                    </p:animEffect>
                                  </p:childTnLst>
                                </p:cTn>
                              </p:par>
                              <p:par>
                                <p:cTn id="31" presetID="10" presetClass="entr" presetSubtype="0" fill="hold" nodeType="with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fade">
                                      <p:cBhvr>
                                        <p:cTn id="33" dur="500"/>
                                        <p:tgtEl>
                                          <p:spTgt spid="4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childTnLst>
                          </p:cTn>
                        </p:par>
                        <p:par>
                          <p:cTn id="39" fill="hold">
                            <p:stCondLst>
                              <p:cond delay="500"/>
                            </p:stCondLst>
                            <p:childTnLst>
                              <p:par>
                                <p:cTn id="40" presetID="10" presetClass="entr" presetSubtype="0" fill="hold" nodeType="afterEffect">
                                  <p:stCondLst>
                                    <p:cond delay="0"/>
                                  </p:stCondLst>
                                  <p:childTnLst>
                                    <p:set>
                                      <p:cBhvr>
                                        <p:cTn id="41" dur="1" fill="hold">
                                          <p:stCondLst>
                                            <p:cond delay="0"/>
                                          </p:stCondLst>
                                        </p:cTn>
                                        <p:tgtEl>
                                          <p:spTgt spid="89"/>
                                        </p:tgtEl>
                                        <p:attrNameLst>
                                          <p:attrName>style.visibility</p:attrName>
                                        </p:attrNameLst>
                                      </p:cBhvr>
                                      <p:to>
                                        <p:strVal val="visible"/>
                                      </p:to>
                                    </p:set>
                                    <p:animEffect transition="in" filter="fade">
                                      <p:cBhvr>
                                        <p:cTn id="42" dur="500"/>
                                        <p:tgtEl>
                                          <p:spTgt spid="89"/>
                                        </p:tgtEl>
                                      </p:cBhvr>
                                    </p:animEffect>
                                  </p:child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wipe(left)">
                                      <p:cBhvr>
                                        <p:cTn id="46" dur="1000"/>
                                        <p:tgtEl>
                                          <p:spTgt spid="6"/>
                                        </p:tgtEl>
                                      </p:cBhvr>
                                    </p:animEffect>
                                  </p:childTnLst>
                                </p:cTn>
                              </p:par>
                            </p:childTnLst>
                          </p:cTn>
                        </p:par>
                        <p:par>
                          <p:cTn id="47" fill="hold">
                            <p:stCondLst>
                              <p:cond delay="2000"/>
                            </p:stCondLst>
                            <p:childTnLst>
                              <p:par>
                                <p:cTn id="48" presetID="10" presetClass="entr" presetSubtype="0" fill="hold" grpId="0" nodeType="after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500"/>
                                        <p:tgtEl>
                                          <p:spTgt spid="9"/>
                                        </p:tgtEl>
                                      </p:cBhvr>
                                    </p:animEffect>
                                  </p:childTnLst>
                                </p:cTn>
                              </p:par>
                            </p:childTnLst>
                          </p:cTn>
                        </p:par>
                        <p:par>
                          <p:cTn id="51" fill="hold">
                            <p:stCondLst>
                              <p:cond delay="2500"/>
                            </p:stCondLst>
                            <p:childTnLst>
                              <p:par>
                                <p:cTn id="52" presetID="63" presetClass="path" presetSubtype="0" accel="50000" decel="50000" fill="hold" grpId="0" nodeType="afterEffect">
                                  <p:stCondLst>
                                    <p:cond delay="0"/>
                                  </p:stCondLst>
                                  <p:childTnLst>
                                    <p:animMotion origin="layout" path="M -2.07867E-6 3.7037E-7 L 0.09573 3.7037E-7 " pathEditMode="relative" rAng="0" ptsTypes="AA">
                                      <p:cBhvr>
                                        <p:cTn id="53" dur="500" fill="hold"/>
                                        <p:tgtEl>
                                          <p:spTgt spid="8"/>
                                        </p:tgtEl>
                                        <p:attrNameLst>
                                          <p:attrName>ppt_x</p:attrName>
                                          <p:attrName>ppt_y</p:attrName>
                                        </p:attrNameLst>
                                      </p:cBhvr>
                                      <p:rCtr x="4780" y="0"/>
                                    </p:animMotion>
                                  </p:childTnLst>
                                </p:cTn>
                              </p:par>
                            </p:childTnLst>
                          </p:cTn>
                        </p:par>
                        <p:par>
                          <p:cTn id="54" fill="hold">
                            <p:stCondLst>
                              <p:cond delay="3000"/>
                            </p:stCondLst>
                            <p:childTnLst>
                              <p:par>
                                <p:cTn id="55" presetID="22" presetClass="entr" presetSubtype="2" fill="hold" nodeType="after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right)">
                                      <p:cBhvr>
                                        <p:cTn id="57" dur="500"/>
                                        <p:tgtEl>
                                          <p:spTgt spid="14"/>
                                        </p:tgtEl>
                                      </p:cBhvr>
                                    </p:animEffect>
                                  </p:childTnLst>
                                </p:cTn>
                              </p:par>
                              <p:par>
                                <p:cTn id="58" presetID="22" presetClass="entr" presetSubtype="8" fill="hold" nodeType="with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wipe(left)">
                                      <p:cBhvr>
                                        <p:cTn id="60" dur="500"/>
                                        <p:tgtEl>
                                          <p:spTgt spid="11"/>
                                        </p:tgtEl>
                                      </p:cBhvr>
                                    </p:animEffect>
                                  </p:childTnLst>
                                </p:cTn>
                              </p:par>
                            </p:childTnLst>
                          </p:cTn>
                        </p:par>
                        <p:par>
                          <p:cTn id="61" fill="hold">
                            <p:stCondLst>
                              <p:cond delay="3500"/>
                            </p:stCondLst>
                            <p:childTnLst>
                              <p:par>
                                <p:cTn id="62" presetID="10" presetClass="entr" presetSubtype="0" fill="hold" nodeType="afterEffect">
                                  <p:stCondLst>
                                    <p:cond delay="0"/>
                                  </p:stCondLst>
                                  <p:childTnLst>
                                    <p:set>
                                      <p:cBhvr>
                                        <p:cTn id="63" dur="1" fill="hold">
                                          <p:stCondLst>
                                            <p:cond delay="0"/>
                                          </p:stCondLst>
                                        </p:cTn>
                                        <p:tgtEl>
                                          <p:spTgt spid="259"/>
                                        </p:tgtEl>
                                        <p:attrNameLst>
                                          <p:attrName>style.visibility</p:attrName>
                                        </p:attrNameLst>
                                      </p:cBhvr>
                                      <p:to>
                                        <p:strVal val="visible"/>
                                      </p:to>
                                    </p:set>
                                    <p:animEffect transition="in" filter="fade">
                                      <p:cBhvr>
                                        <p:cTn id="64" dur="500"/>
                                        <p:tgtEl>
                                          <p:spTgt spid="259"/>
                                        </p:tgtEl>
                                      </p:cBhvr>
                                    </p:animEffect>
                                  </p:childTnLst>
                                </p:cTn>
                              </p:par>
                              <p:par>
                                <p:cTn id="65" presetID="10" presetClass="entr" presetSubtype="0" fill="hold" nodeType="withEffect">
                                  <p:stCondLst>
                                    <p:cond delay="0"/>
                                  </p:stCondLst>
                                  <p:childTnLst>
                                    <p:set>
                                      <p:cBhvr>
                                        <p:cTn id="66" dur="1" fill="hold">
                                          <p:stCondLst>
                                            <p:cond delay="0"/>
                                          </p:stCondLst>
                                        </p:cTn>
                                        <p:tgtEl>
                                          <p:spTgt spid="221"/>
                                        </p:tgtEl>
                                        <p:attrNameLst>
                                          <p:attrName>style.visibility</p:attrName>
                                        </p:attrNameLst>
                                      </p:cBhvr>
                                      <p:to>
                                        <p:strVal val="visible"/>
                                      </p:to>
                                    </p:set>
                                    <p:animEffect transition="in" filter="fade">
                                      <p:cBhvr>
                                        <p:cTn id="67" dur="500"/>
                                        <p:tgtEl>
                                          <p:spTgt spid="221"/>
                                        </p:tgtEl>
                                      </p:cBhvr>
                                    </p:animEffect>
                                  </p:childTnLst>
                                </p:cTn>
                              </p:par>
                              <p:par>
                                <p:cTn id="68" presetID="10" presetClass="entr" presetSubtype="0" fill="hold" nodeType="withEffect">
                                  <p:stCondLst>
                                    <p:cond delay="0"/>
                                  </p:stCondLst>
                                  <p:childTnLst>
                                    <p:set>
                                      <p:cBhvr>
                                        <p:cTn id="69" dur="1" fill="hold">
                                          <p:stCondLst>
                                            <p:cond delay="0"/>
                                          </p:stCondLst>
                                        </p:cTn>
                                        <p:tgtEl>
                                          <p:spTgt spid="240"/>
                                        </p:tgtEl>
                                        <p:attrNameLst>
                                          <p:attrName>style.visibility</p:attrName>
                                        </p:attrNameLst>
                                      </p:cBhvr>
                                      <p:to>
                                        <p:strVal val="visible"/>
                                      </p:to>
                                    </p:set>
                                    <p:animEffect transition="in" filter="fade">
                                      <p:cBhvr>
                                        <p:cTn id="70" dur="500"/>
                                        <p:tgtEl>
                                          <p:spTgt spid="240"/>
                                        </p:tgtEl>
                                      </p:cBhvr>
                                    </p:animEffect>
                                  </p:childTnLst>
                                </p:cTn>
                              </p:par>
                            </p:childTnLst>
                          </p:cTn>
                        </p:par>
                        <p:par>
                          <p:cTn id="71" fill="hold">
                            <p:stCondLst>
                              <p:cond delay="4000"/>
                            </p:stCondLst>
                            <p:childTnLst>
                              <p:par>
                                <p:cTn id="72" presetID="10" presetClass="entr" presetSubtype="0" fill="hold" nodeType="afterEffect">
                                  <p:stCondLst>
                                    <p:cond delay="0"/>
                                  </p:stCondLst>
                                  <p:childTnLst>
                                    <p:set>
                                      <p:cBhvr>
                                        <p:cTn id="73" dur="1" fill="hold">
                                          <p:stCondLst>
                                            <p:cond delay="0"/>
                                          </p:stCondLst>
                                        </p:cTn>
                                        <p:tgtEl>
                                          <p:spTgt spid="64"/>
                                        </p:tgtEl>
                                        <p:attrNameLst>
                                          <p:attrName>style.visibility</p:attrName>
                                        </p:attrNameLst>
                                      </p:cBhvr>
                                      <p:to>
                                        <p:strVal val="visible"/>
                                      </p:to>
                                    </p:set>
                                    <p:animEffect transition="in" filter="fade">
                                      <p:cBhvr>
                                        <p:cTn id="74"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9" grpId="0" animBg="1"/>
      <p:bldP spid="10" grpId="0"/>
      <p:bldP spid="1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EF263-C6AF-0FBF-31D4-7810DFDD63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514F0F-E2A7-3B26-BBE0-0996C5026B4E}"/>
              </a:ext>
            </a:extLst>
          </p:cNvPr>
          <p:cNvSpPr>
            <a:spLocks noGrp="1"/>
          </p:cNvSpPr>
          <p:nvPr>
            <p:ph type="title"/>
          </p:nvPr>
        </p:nvSpPr>
        <p:spPr/>
        <p:txBody>
          <a:bodyPr/>
          <a:lstStyle/>
          <a:p>
            <a:r>
              <a:rPr lang="en-US" dirty="0"/>
              <a:t>Additional Data Services to Meet your Business Requirements</a:t>
            </a:r>
          </a:p>
        </p:txBody>
      </p:sp>
      <p:sp>
        <p:nvSpPr>
          <p:cNvPr id="3" name="Subtitle 2">
            <a:extLst>
              <a:ext uri="{FF2B5EF4-FFF2-40B4-BE49-F238E27FC236}">
                <a16:creationId xmlns:a16="http://schemas.microsoft.com/office/drawing/2014/main" id="{16D9037D-88CD-30CA-59EC-8BC83B0A7B6A}"/>
              </a:ext>
            </a:extLst>
          </p:cNvPr>
          <p:cNvSpPr>
            <a:spLocks noGrp="1"/>
          </p:cNvSpPr>
          <p:nvPr>
            <p:ph type="subTitle" idx="10"/>
          </p:nvPr>
        </p:nvSpPr>
        <p:spPr/>
        <p:txBody>
          <a:bodyPr/>
          <a:lstStyle/>
          <a:p>
            <a:r>
              <a:rPr lang="en-US" dirty="0"/>
              <a:t>Easily tailor unique data services on a per cluster basis</a:t>
            </a:r>
          </a:p>
        </p:txBody>
      </p:sp>
      <p:sp>
        <p:nvSpPr>
          <p:cNvPr id="5" name="Text Placeholder 4">
            <a:extLst>
              <a:ext uri="{FF2B5EF4-FFF2-40B4-BE49-F238E27FC236}">
                <a16:creationId xmlns:a16="http://schemas.microsoft.com/office/drawing/2014/main" id="{5AB5AD88-BEA6-A727-3750-67BB06DF80E3}"/>
              </a:ext>
            </a:extLst>
          </p:cNvPr>
          <p:cNvSpPr>
            <a:spLocks noGrp="1"/>
          </p:cNvSpPr>
          <p:nvPr>
            <p:ph type="body" sz="quarter" idx="17"/>
          </p:nvPr>
        </p:nvSpPr>
        <p:spPr/>
        <p:txBody>
          <a:bodyPr/>
          <a:lstStyle/>
          <a:p>
            <a:r>
              <a:rPr lang="en-US" dirty="0"/>
              <a:t>Extend vSAN </a:t>
            </a:r>
            <a:r>
              <a:rPr lang="en-US" b="1" dirty="0"/>
              <a:t>beyond native VM storage</a:t>
            </a:r>
          </a:p>
          <a:p>
            <a:r>
              <a:rPr lang="en-US" dirty="0"/>
              <a:t>Enable/disable based on </a:t>
            </a:r>
            <a:r>
              <a:rPr lang="en-US" b="1" dirty="0"/>
              <a:t>organizational needs</a:t>
            </a:r>
          </a:p>
          <a:p>
            <a:pPr lvl="1"/>
            <a:r>
              <a:rPr lang="en-US" dirty="0"/>
              <a:t>SMB and NFS file services</a:t>
            </a:r>
          </a:p>
          <a:p>
            <a:pPr lvl="1"/>
            <a:r>
              <a:rPr lang="en-US" dirty="0"/>
              <a:t>iSCSI block access for legacy workloads</a:t>
            </a:r>
          </a:p>
          <a:p>
            <a:pPr lvl="1"/>
            <a:r>
              <a:rPr lang="en-US" dirty="0"/>
              <a:t>S3 compatible object storage*</a:t>
            </a:r>
          </a:p>
          <a:p>
            <a:r>
              <a:rPr lang="en-US" dirty="0"/>
              <a:t>Provide FIPS validated </a:t>
            </a:r>
            <a:r>
              <a:rPr lang="en-US" b="1" dirty="0"/>
              <a:t>data-at-rest</a:t>
            </a:r>
            <a:r>
              <a:rPr lang="en-US" dirty="0"/>
              <a:t> and </a:t>
            </a:r>
            <a:r>
              <a:rPr lang="en-US" b="1" dirty="0"/>
              <a:t>data-in-transit encryption</a:t>
            </a:r>
          </a:p>
        </p:txBody>
      </p:sp>
      <p:grpSp>
        <p:nvGrpSpPr>
          <p:cNvPr id="27" name="Group 26">
            <a:extLst>
              <a:ext uri="{FF2B5EF4-FFF2-40B4-BE49-F238E27FC236}">
                <a16:creationId xmlns:a16="http://schemas.microsoft.com/office/drawing/2014/main" id="{61030876-3762-CE77-2EEA-C9EDC9B17145}"/>
              </a:ext>
            </a:extLst>
          </p:cNvPr>
          <p:cNvGrpSpPr/>
          <p:nvPr/>
        </p:nvGrpSpPr>
        <p:grpSpPr>
          <a:xfrm>
            <a:off x="1858485" y="4681617"/>
            <a:ext cx="5044376" cy="337184"/>
            <a:chOff x="1410325" y="3943123"/>
            <a:chExt cx="5044376" cy="337184"/>
          </a:xfrm>
        </p:grpSpPr>
        <p:sp>
          <p:nvSpPr>
            <p:cNvPr id="28" name="Freeform 16">
              <a:extLst>
                <a:ext uri="{FF2B5EF4-FFF2-40B4-BE49-F238E27FC236}">
                  <a16:creationId xmlns:a16="http://schemas.microsoft.com/office/drawing/2014/main" id="{D4F27F3E-49B9-6098-22C8-BFD828430FDA}"/>
                </a:ext>
              </a:extLst>
            </p:cNvPr>
            <p:cNvSpPr/>
            <p:nvPr/>
          </p:nvSpPr>
          <p:spPr>
            <a:xfrm>
              <a:off x="4505619" y="4096137"/>
              <a:ext cx="401436" cy="52386"/>
            </a:xfrm>
            <a:custGeom>
              <a:avLst/>
              <a:gdLst/>
              <a:ahLst/>
              <a:cxnLst/>
              <a:rect l="l" t="t" r="r" b="b"/>
              <a:pathLst>
                <a:path w="233809" h="30510">
                  <a:moveTo>
                    <a:pt x="203151" y="0"/>
                  </a:moveTo>
                  <a:lnTo>
                    <a:pt x="233809" y="0"/>
                  </a:lnTo>
                  <a:lnTo>
                    <a:pt x="233809" y="30510"/>
                  </a:lnTo>
                  <a:lnTo>
                    <a:pt x="203151" y="30510"/>
                  </a:lnTo>
                  <a:close/>
                  <a:moveTo>
                    <a:pt x="101650" y="0"/>
                  </a:moveTo>
                  <a:lnTo>
                    <a:pt x="132160" y="0"/>
                  </a:lnTo>
                  <a:lnTo>
                    <a:pt x="132160" y="30510"/>
                  </a:lnTo>
                  <a:lnTo>
                    <a:pt x="101650" y="30510"/>
                  </a:lnTo>
                  <a:close/>
                  <a:moveTo>
                    <a:pt x="0" y="0"/>
                  </a:moveTo>
                  <a:lnTo>
                    <a:pt x="30510" y="0"/>
                  </a:lnTo>
                  <a:lnTo>
                    <a:pt x="30510" y="30510"/>
                  </a:lnTo>
                  <a:lnTo>
                    <a:pt x="0" y="30510"/>
                  </a:ln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99" dirty="0"/>
            </a:p>
          </p:txBody>
        </p:sp>
        <p:grpSp>
          <p:nvGrpSpPr>
            <p:cNvPr id="29" name="Group 28">
              <a:extLst>
                <a:ext uri="{FF2B5EF4-FFF2-40B4-BE49-F238E27FC236}">
                  <a16:creationId xmlns:a16="http://schemas.microsoft.com/office/drawing/2014/main" id="{6520775D-9EF4-4ED9-FAF7-A4DFC0CA5B42}"/>
                </a:ext>
              </a:extLst>
            </p:cNvPr>
            <p:cNvGrpSpPr>
              <a:grpSpLocks noChangeAspect="1"/>
            </p:cNvGrpSpPr>
            <p:nvPr/>
          </p:nvGrpSpPr>
          <p:grpSpPr>
            <a:xfrm>
              <a:off x="5101389" y="3943123"/>
              <a:ext cx="1353312" cy="337184"/>
              <a:chOff x="5060950" y="5251450"/>
              <a:chExt cx="1236133" cy="332317"/>
            </a:xfrm>
          </p:grpSpPr>
          <p:sp>
            <p:nvSpPr>
              <p:cNvPr id="48" name="Line 5">
                <a:extLst>
                  <a:ext uri="{FF2B5EF4-FFF2-40B4-BE49-F238E27FC236}">
                    <a16:creationId xmlns:a16="http://schemas.microsoft.com/office/drawing/2014/main" id="{D027544D-3769-2FE9-00E9-A6D68766FC36}"/>
                  </a:ext>
                </a:extLst>
              </p:cNvPr>
              <p:cNvSpPr>
                <a:spLocks noChangeShapeType="1"/>
              </p:cNvSpPr>
              <p:nvPr/>
            </p:nvSpPr>
            <p:spPr bwMode="auto">
              <a:xfrm>
                <a:off x="6010427" y="5324175"/>
                <a:ext cx="0" cy="184223"/>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9" name="Line 6">
                <a:extLst>
                  <a:ext uri="{FF2B5EF4-FFF2-40B4-BE49-F238E27FC236}">
                    <a16:creationId xmlns:a16="http://schemas.microsoft.com/office/drawing/2014/main" id="{6C1C7073-B51B-4D08-55A2-83D007304862}"/>
                  </a:ext>
                </a:extLst>
              </p:cNvPr>
              <p:cNvSpPr>
                <a:spLocks noChangeShapeType="1"/>
              </p:cNvSpPr>
              <p:nvPr/>
            </p:nvSpPr>
            <p:spPr bwMode="auto">
              <a:xfrm>
                <a:off x="6097120" y="5324175"/>
                <a:ext cx="0" cy="184223"/>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0" name="Line 7">
                <a:extLst>
                  <a:ext uri="{FF2B5EF4-FFF2-40B4-BE49-F238E27FC236}">
                    <a16:creationId xmlns:a16="http://schemas.microsoft.com/office/drawing/2014/main" id="{50ED102C-CBC3-BFEC-254F-FD90D88633B3}"/>
                  </a:ext>
                </a:extLst>
              </p:cNvPr>
              <p:cNvSpPr>
                <a:spLocks noChangeShapeType="1"/>
              </p:cNvSpPr>
              <p:nvPr/>
            </p:nvSpPr>
            <p:spPr bwMode="auto">
              <a:xfrm>
                <a:off x="6183813" y="5324175"/>
                <a:ext cx="0" cy="184223"/>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1" name="Line 8">
                <a:extLst>
                  <a:ext uri="{FF2B5EF4-FFF2-40B4-BE49-F238E27FC236}">
                    <a16:creationId xmlns:a16="http://schemas.microsoft.com/office/drawing/2014/main" id="{9B5716EB-3DF1-364B-F7D3-5CD32FF28B09}"/>
                  </a:ext>
                </a:extLst>
              </p:cNvPr>
              <p:cNvSpPr>
                <a:spLocks noChangeShapeType="1"/>
              </p:cNvSpPr>
              <p:nvPr/>
            </p:nvSpPr>
            <p:spPr bwMode="auto">
              <a:xfrm>
                <a:off x="5170587" y="5324175"/>
                <a:ext cx="0" cy="184223"/>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2" name="Line 9">
                <a:extLst>
                  <a:ext uri="{FF2B5EF4-FFF2-40B4-BE49-F238E27FC236}">
                    <a16:creationId xmlns:a16="http://schemas.microsoft.com/office/drawing/2014/main" id="{450668C2-9460-15EB-7920-BB5AF8014280}"/>
                  </a:ext>
                </a:extLst>
              </p:cNvPr>
              <p:cNvSpPr>
                <a:spLocks noChangeShapeType="1"/>
              </p:cNvSpPr>
              <p:nvPr/>
            </p:nvSpPr>
            <p:spPr bwMode="auto">
              <a:xfrm>
                <a:off x="5257280" y="5324175"/>
                <a:ext cx="0" cy="184223"/>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3" name="Line 10">
                <a:extLst>
                  <a:ext uri="{FF2B5EF4-FFF2-40B4-BE49-F238E27FC236}">
                    <a16:creationId xmlns:a16="http://schemas.microsoft.com/office/drawing/2014/main" id="{74E7F6D9-9C22-C245-3A75-085D356498E8}"/>
                  </a:ext>
                </a:extLst>
              </p:cNvPr>
              <p:cNvSpPr>
                <a:spLocks noChangeShapeType="1"/>
              </p:cNvSpPr>
              <p:nvPr/>
            </p:nvSpPr>
            <p:spPr bwMode="auto">
              <a:xfrm>
                <a:off x="5346683" y="5324175"/>
                <a:ext cx="0" cy="184223"/>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4" name="Oval 11">
                <a:extLst>
                  <a:ext uri="{FF2B5EF4-FFF2-40B4-BE49-F238E27FC236}">
                    <a16:creationId xmlns:a16="http://schemas.microsoft.com/office/drawing/2014/main" id="{69033B9E-D704-4F06-D68B-DAF7313426DD}"/>
                  </a:ext>
                </a:extLst>
              </p:cNvPr>
              <p:cNvSpPr>
                <a:spLocks noChangeArrowheads="1"/>
              </p:cNvSpPr>
              <p:nvPr/>
            </p:nvSpPr>
            <p:spPr bwMode="auto">
              <a:xfrm>
                <a:off x="5609471" y="5345848"/>
                <a:ext cx="135458" cy="140877"/>
              </a:xfrm>
              <a:prstGeom prst="ellipse">
                <a:avLst/>
              </a:prstGeom>
              <a:noFill/>
              <a:ln w="2540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5" name="Rectangle 54">
                <a:extLst>
                  <a:ext uri="{FF2B5EF4-FFF2-40B4-BE49-F238E27FC236}">
                    <a16:creationId xmlns:a16="http://schemas.microsoft.com/office/drawing/2014/main" id="{815606DE-BDA5-35C9-1D6A-E516A9C2DF1C}"/>
                  </a:ext>
                </a:extLst>
              </p:cNvPr>
              <p:cNvSpPr/>
              <p:nvPr/>
            </p:nvSpPr>
            <p:spPr>
              <a:xfrm>
                <a:off x="5060950" y="5251450"/>
                <a:ext cx="1236133" cy="332317"/>
              </a:xfrm>
              <a:prstGeom prst="rect">
                <a:avLst/>
              </a:prstGeom>
              <a:noFill/>
              <a:ln w="2540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grpSp>
        <p:grpSp>
          <p:nvGrpSpPr>
            <p:cNvPr id="30" name="Group 29">
              <a:extLst>
                <a:ext uri="{FF2B5EF4-FFF2-40B4-BE49-F238E27FC236}">
                  <a16:creationId xmlns:a16="http://schemas.microsoft.com/office/drawing/2014/main" id="{84D4ACDE-D108-3620-3B4B-E6004C28E089}"/>
                </a:ext>
              </a:extLst>
            </p:cNvPr>
            <p:cNvGrpSpPr>
              <a:grpSpLocks noChangeAspect="1"/>
            </p:cNvGrpSpPr>
            <p:nvPr/>
          </p:nvGrpSpPr>
          <p:grpSpPr>
            <a:xfrm>
              <a:off x="1410325" y="3943123"/>
              <a:ext cx="1353312" cy="337184"/>
              <a:chOff x="5060950" y="5251450"/>
              <a:chExt cx="1236133" cy="332317"/>
            </a:xfrm>
          </p:grpSpPr>
          <p:sp>
            <p:nvSpPr>
              <p:cNvPr id="40" name="Line 5">
                <a:extLst>
                  <a:ext uri="{FF2B5EF4-FFF2-40B4-BE49-F238E27FC236}">
                    <a16:creationId xmlns:a16="http://schemas.microsoft.com/office/drawing/2014/main" id="{E6FBAD43-B491-3554-FC60-58E6BA39CCFA}"/>
                  </a:ext>
                </a:extLst>
              </p:cNvPr>
              <p:cNvSpPr>
                <a:spLocks noChangeShapeType="1"/>
              </p:cNvSpPr>
              <p:nvPr/>
            </p:nvSpPr>
            <p:spPr bwMode="auto">
              <a:xfrm>
                <a:off x="6010427" y="5324175"/>
                <a:ext cx="0" cy="184223"/>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1" name="Line 6">
                <a:extLst>
                  <a:ext uri="{FF2B5EF4-FFF2-40B4-BE49-F238E27FC236}">
                    <a16:creationId xmlns:a16="http://schemas.microsoft.com/office/drawing/2014/main" id="{4BD4FD8A-6FB6-C1EE-508D-9DBCA53BAB56}"/>
                  </a:ext>
                </a:extLst>
              </p:cNvPr>
              <p:cNvSpPr>
                <a:spLocks noChangeShapeType="1"/>
              </p:cNvSpPr>
              <p:nvPr/>
            </p:nvSpPr>
            <p:spPr bwMode="auto">
              <a:xfrm>
                <a:off x="6097120" y="5324175"/>
                <a:ext cx="0" cy="184223"/>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2" name="Line 7">
                <a:extLst>
                  <a:ext uri="{FF2B5EF4-FFF2-40B4-BE49-F238E27FC236}">
                    <a16:creationId xmlns:a16="http://schemas.microsoft.com/office/drawing/2014/main" id="{56C0667F-E681-B43E-652F-2B66C1EB5620}"/>
                  </a:ext>
                </a:extLst>
              </p:cNvPr>
              <p:cNvSpPr>
                <a:spLocks noChangeShapeType="1"/>
              </p:cNvSpPr>
              <p:nvPr/>
            </p:nvSpPr>
            <p:spPr bwMode="auto">
              <a:xfrm>
                <a:off x="6183813" y="5324175"/>
                <a:ext cx="0" cy="184223"/>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3" name="Line 8">
                <a:extLst>
                  <a:ext uri="{FF2B5EF4-FFF2-40B4-BE49-F238E27FC236}">
                    <a16:creationId xmlns:a16="http://schemas.microsoft.com/office/drawing/2014/main" id="{1A571B01-F705-C5EE-E9CE-464CB9D08253}"/>
                  </a:ext>
                </a:extLst>
              </p:cNvPr>
              <p:cNvSpPr>
                <a:spLocks noChangeShapeType="1"/>
              </p:cNvSpPr>
              <p:nvPr/>
            </p:nvSpPr>
            <p:spPr bwMode="auto">
              <a:xfrm>
                <a:off x="5170587" y="5324175"/>
                <a:ext cx="0" cy="184223"/>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4" name="Line 9">
                <a:extLst>
                  <a:ext uri="{FF2B5EF4-FFF2-40B4-BE49-F238E27FC236}">
                    <a16:creationId xmlns:a16="http://schemas.microsoft.com/office/drawing/2014/main" id="{2F556C00-4C70-5C84-4E51-F1D7D7F9B38A}"/>
                  </a:ext>
                </a:extLst>
              </p:cNvPr>
              <p:cNvSpPr>
                <a:spLocks noChangeShapeType="1"/>
              </p:cNvSpPr>
              <p:nvPr/>
            </p:nvSpPr>
            <p:spPr bwMode="auto">
              <a:xfrm>
                <a:off x="5257280" y="5324175"/>
                <a:ext cx="0" cy="184223"/>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5" name="Line 10">
                <a:extLst>
                  <a:ext uri="{FF2B5EF4-FFF2-40B4-BE49-F238E27FC236}">
                    <a16:creationId xmlns:a16="http://schemas.microsoft.com/office/drawing/2014/main" id="{A080698C-6AE9-BF6E-02FA-B725648527D6}"/>
                  </a:ext>
                </a:extLst>
              </p:cNvPr>
              <p:cNvSpPr>
                <a:spLocks noChangeShapeType="1"/>
              </p:cNvSpPr>
              <p:nvPr/>
            </p:nvSpPr>
            <p:spPr bwMode="auto">
              <a:xfrm>
                <a:off x="5346683" y="5324175"/>
                <a:ext cx="0" cy="184223"/>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6" name="Oval 11">
                <a:extLst>
                  <a:ext uri="{FF2B5EF4-FFF2-40B4-BE49-F238E27FC236}">
                    <a16:creationId xmlns:a16="http://schemas.microsoft.com/office/drawing/2014/main" id="{556AC73E-DEED-79AF-0492-431AEB734B14}"/>
                  </a:ext>
                </a:extLst>
              </p:cNvPr>
              <p:cNvSpPr>
                <a:spLocks noChangeArrowheads="1"/>
              </p:cNvSpPr>
              <p:nvPr/>
            </p:nvSpPr>
            <p:spPr bwMode="auto">
              <a:xfrm>
                <a:off x="5609471" y="5345848"/>
                <a:ext cx="135458" cy="140877"/>
              </a:xfrm>
              <a:prstGeom prst="ellipse">
                <a:avLst/>
              </a:prstGeom>
              <a:noFill/>
              <a:ln w="2540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7" name="Rectangle 46">
                <a:extLst>
                  <a:ext uri="{FF2B5EF4-FFF2-40B4-BE49-F238E27FC236}">
                    <a16:creationId xmlns:a16="http://schemas.microsoft.com/office/drawing/2014/main" id="{3ED6DF16-3B84-B16D-FD97-E2A9DB297B85}"/>
                  </a:ext>
                </a:extLst>
              </p:cNvPr>
              <p:cNvSpPr/>
              <p:nvPr/>
            </p:nvSpPr>
            <p:spPr>
              <a:xfrm>
                <a:off x="5060950" y="5251450"/>
                <a:ext cx="1236133" cy="332317"/>
              </a:xfrm>
              <a:prstGeom prst="rect">
                <a:avLst/>
              </a:prstGeom>
              <a:noFill/>
              <a:ln w="2540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grpSp>
        <p:grpSp>
          <p:nvGrpSpPr>
            <p:cNvPr id="31" name="Group 30">
              <a:extLst>
                <a:ext uri="{FF2B5EF4-FFF2-40B4-BE49-F238E27FC236}">
                  <a16:creationId xmlns:a16="http://schemas.microsoft.com/office/drawing/2014/main" id="{3499993B-2D77-42F0-03E6-A8385F47B492}"/>
                </a:ext>
              </a:extLst>
            </p:cNvPr>
            <p:cNvGrpSpPr>
              <a:grpSpLocks noChangeAspect="1"/>
            </p:cNvGrpSpPr>
            <p:nvPr/>
          </p:nvGrpSpPr>
          <p:grpSpPr>
            <a:xfrm>
              <a:off x="2957972" y="3943123"/>
              <a:ext cx="1353312" cy="337184"/>
              <a:chOff x="5060950" y="5251450"/>
              <a:chExt cx="1236133" cy="332317"/>
            </a:xfrm>
          </p:grpSpPr>
          <p:sp>
            <p:nvSpPr>
              <p:cNvPr id="32" name="Line 5">
                <a:extLst>
                  <a:ext uri="{FF2B5EF4-FFF2-40B4-BE49-F238E27FC236}">
                    <a16:creationId xmlns:a16="http://schemas.microsoft.com/office/drawing/2014/main" id="{6E9442B8-CA6F-059C-9CA7-F4D37966DD67}"/>
                  </a:ext>
                </a:extLst>
              </p:cNvPr>
              <p:cNvSpPr>
                <a:spLocks noChangeShapeType="1"/>
              </p:cNvSpPr>
              <p:nvPr/>
            </p:nvSpPr>
            <p:spPr bwMode="auto">
              <a:xfrm>
                <a:off x="6010427" y="5324175"/>
                <a:ext cx="0" cy="184223"/>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3" name="Line 6">
                <a:extLst>
                  <a:ext uri="{FF2B5EF4-FFF2-40B4-BE49-F238E27FC236}">
                    <a16:creationId xmlns:a16="http://schemas.microsoft.com/office/drawing/2014/main" id="{1F6B4850-6CC8-366D-FB9B-28258F5CB6A9}"/>
                  </a:ext>
                </a:extLst>
              </p:cNvPr>
              <p:cNvSpPr>
                <a:spLocks noChangeShapeType="1"/>
              </p:cNvSpPr>
              <p:nvPr/>
            </p:nvSpPr>
            <p:spPr bwMode="auto">
              <a:xfrm>
                <a:off x="6097120" y="5324175"/>
                <a:ext cx="0" cy="184223"/>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4" name="Line 7">
                <a:extLst>
                  <a:ext uri="{FF2B5EF4-FFF2-40B4-BE49-F238E27FC236}">
                    <a16:creationId xmlns:a16="http://schemas.microsoft.com/office/drawing/2014/main" id="{51C2CF25-EC4A-7B8A-BB0A-B7DCCE512A41}"/>
                  </a:ext>
                </a:extLst>
              </p:cNvPr>
              <p:cNvSpPr>
                <a:spLocks noChangeShapeType="1"/>
              </p:cNvSpPr>
              <p:nvPr/>
            </p:nvSpPr>
            <p:spPr bwMode="auto">
              <a:xfrm>
                <a:off x="6183813" y="5324175"/>
                <a:ext cx="0" cy="184223"/>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5" name="Line 8">
                <a:extLst>
                  <a:ext uri="{FF2B5EF4-FFF2-40B4-BE49-F238E27FC236}">
                    <a16:creationId xmlns:a16="http://schemas.microsoft.com/office/drawing/2014/main" id="{B8AFBF0E-A2AE-8BBC-8910-7257634E8591}"/>
                  </a:ext>
                </a:extLst>
              </p:cNvPr>
              <p:cNvSpPr>
                <a:spLocks noChangeShapeType="1"/>
              </p:cNvSpPr>
              <p:nvPr/>
            </p:nvSpPr>
            <p:spPr bwMode="auto">
              <a:xfrm>
                <a:off x="5170587" y="5324175"/>
                <a:ext cx="0" cy="184223"/>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6" name="Line 9">
                <a:extLst>
                  <a:ext uri="{FF2B5EF4-FFF2-40B4-BE49-F238E27FC236}">
                    <a16:creationId xmlns:a16="http://schemas.microsoft.com/office/drawing/2014/main" id="{B0D4A674-AC28-1F1B-E846-9D4F32B03050}"/>
                  </a:ext>
                </a:extLst>
              </p:cNvPr>
              <p:cNvSpPr>
                <a:spLocks noChangeShapeType="1"/>
              </p:cNvSpPr>
              <p:nvPr/>
            </p:nvSpPr>
            <p:spPr bwMode="auto">
              <a:xfrm>
                <a:off x="5257280" y="5324175"/>
                <a:ext cx="0" cy="184223"/>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7" name="Line 10">
                <a:extLst>
                  <a:ext uri="{FF2B5EF4-FFF2-40B4-BE49-F238E27FC236}">
                    <a16:creationId xmlns:a16="http://schemas.microsoft.com/office/drawing/2014/main" id="{094A27B1-57A5-0161-D46F-A8971F8AD202}"/>
                  </a:ext>
                </a:extLst>
              </p:cNvPr>
              <p:cNvSpPr>
                <a:spLocks noChangeShapeType="1"/>
              </p:cNvSpPr>
              <p:nvPr/>
            </p:nvSpPr>
            <p:spPr bwMode="auto">
              <a:xfrm>
                <a:off x="5346683" y="5324175"/>
                <a:ext cx="0" cy="184223"/>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8" name="Oval 11">
                <a:extLst>
                  <a:ext uri="{FF2B5EF4-FFF2-40B4-BE49-F238E27FC236}">
                    <a16:creationId xmlns:a16="http://schemas.microsoft.com/office/drawing/2014/main" id="{8FC21DF0-B8ED-6C85-3A69-A1DA10DE60C6}"/>
                  </a:ext>
                </a:extLst>
              </p:cNvPr>
              <p:cNvSpPr>
                <a:spLocks noChangeArrowheads="1"/>
              </p:cNvSpPr>
              <p:nvPr/>
            </p:nvSpPr>
            <p:spPr bwMode="auto">
              <a:xfrm>
                <a:off x="5609471" y="5345848"/>
                <a:ext cx="135458" cy="140877"/>
              </a:xfrm>
              <a:prstGeom prst="ellipse">
                <a:avLst/>
              </a:prstGeom>
              <a:noFill/>
              <a:ln w="2540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9" name="Rectangle 38">
                <a:extLst>
                  <a:ext uri="{FF2B5EF4-FFF2-40B4-BE49-F238E27FC236}">
                    <a16:creationId xmlns:a16="http://schemas.microsoft.com/office/drawing/2014/main" id="{86D4DB0C-883E-D50B-383B-A50AE5587DEE}"/>
                  </a:ext>
                </a:extLst>
              </p:cNvPr>
              <p:cNvSpPr/>
              <p:nvPr/>
            </p:nvSpPr>
            <p:spPr>
              <a:xfrm>
                <a:off x="5060950" y="5251450"/>
                <a:ext cx="1236133" cy="332317"/>
              </a:xfrm>
              <a:prstGeom prst="rect">
                <a:avLst/>
              </a:prstGeom>
              <a:noFill/>
              <a:ln w="2540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grpSp>
      </p:grpSp>
      <p:grpSp>
        <p:nvGrpSpPr>
          <p:cNvPr id="75" name="Group 74">
            <a:extLst>
              <a:ext uri="{FF2B5EF4-FFF2-40B4-BE49-F238E27FC236}">
                <a16:creationId xmlns:a16="http://schemas.microsoft.com/office/drawing/2014/main" id="{4B3E0BD8-F2C6-D3AA-C236-77E221F6C189}"/>
              </a:ext>
            </a:extLst>
          </p:cNvPr>
          <p:cNvGrpSpPr/>
          <p:nvPr/>
        </p:nvGrpSpPr>
        <p:grpSpPr>
          <a:xfrm>
            <a:off x="1858485" y="4265803"/>
            <a:ext cx="5044376" cy="337184"/>
            <a:chOff x="1410325" y="3527309"/>
            <a:chExt cx="5044376" cy="337184"/>
          </a:xfrm>
        </p:grpSpPr>
        <p:sp>
          <p:nvSpPr>
            <p:cNvPr id="76" name="Rectangle 75">
              <a:extLst>
                <a:ext uri="{FF2B5EF4-FFF2-40B4-BE49-F238E27FC236}">
                  <a16:creationId xmlns:a16="http://schemas.microsoft.com/office/drawing/2014/main" id="{D10562B6-09B8-FCB6-64A0-5F889951E427}"/>
                </a:ext>
              </a:extLst>
            </p:cNvPr>
            <p:cNvSpPr/>
            <p:nvPr/>
          </p:nvSpPr>
          <p:spPr>
            <a:xfrm>
              <a:off x="1410325" y="3527309"/>
              <a:ext cx="5044376" cy="337184"/>
            </a:xfrm>
            <a:prstGeom prst="rect">
              <a:avLst/>
            </a:prstGeom>
            <a:noFill/>
            <a:ln w="9525">
              <a:solidFill>
                <a:schemeClr val="accent2"/>
              </a:solidFill>
            </a:ln>
          </p:spPr>
          <p:txBody>
            <a:bodyPr wrap="square" anchor="ctr">
              <a:noAutofit/>
            </a:bodyPr>
            <a:lstStyle/>
            <a:p>
              <a:pPr algn="ctr"/>
              <a:endParaRPr lang="en-US" sz="1200" dirty="0">
                <a:solidFill>
                  <a:prstClr val="white"/>
                </a:solidFill>
              </a:endParaRPr>
            </a:p>
          </p:txBody>
        </p:sp>
        <p:sp>
          <p:nvSpPr>
            <p:cNvPr id="77" name="Rectangle 76">
              <a:extLst>
                <a:ext uri="{FF2B5EF4-FFF2-40B4-BE49-F238E27FC236}">
                  <a16:creationId xmlns:a16="http://schemas.microsoft.com/office/drawing/2014/main" id="{066228BD-3B8D-812C-1889-25340C7EC79D}"/>
                </a:ext>
              </a:extLst>
            </p:cNvPr>
            <p:cNvSpPr/>
            <p:nvPr/>
          </p:nvSpPr>
          <p:spPr>
            <a:xfrm>
              <a:off x="1459107" y="3567421"/>
              <a:ext cx="815040" cy="261610"/>
            </a:xfrm>
            <a:prstGeom prst="rect">
              <a:avLst/>
            </a:prstGeom>
          </p:spPr>
          <p:txBody>
            <a:bodyPr wrap="square" anchor="ctr">
              <a:spAutoFit/>
            </a:bodyPr>
            <a:lstStyle/>
            <a:p>
              <a:pPr algn="ctr" defTabSz="914126">
                <a:defRPr/>
              </a:pPr>
              <a:r>
                <a:rPr lang="en-US" sz="1100" dirty="0">
                  <a:solidFill>
                    <a:schemeClr val="tx2"/>
                  </a:solidFill>
                  <a:latin typeface="Arial" panose="020B0604020202020204" pitchFamily="34" charset="0"/>
                </a:rPr>
                <a:t>vSphere</a:t>
              </a:r>
            </a:p>
          </p:txBody>
        </p:sp>
        <p:sp>
          <p:nvSpPr>
            <p:cNvPr id="78" name="Rectangle 77">
              <a:extLst>
                <a:ext uri="{FF2B5EF4-FFF2-40B4-BE49-F238E27FC236}">
                  <a16:creationId xmlns:a16="http://schemas.microsoft.com/office/drawing/2014/main" id="{E27660BC-E5DA-69EE-9746-210E5A33D76F}"/>
                </a:ext>
              </a:extLst>
            </p:cNvPr>
            <p:cNvSpPr/>
            <p:nvPr/>
          </p:nvSpPr>
          <p:spPr>
            <a:xfrm>
              <a:off x="5757816" y="3567421"/>
              <a:ext cx="671210" cy="261610"/>
            </a:xfrm>
            <a:prstGeom prst="rect">
              <a:avLst/>
            </a:prstGeom>
          </p:spPr>
          <p:txBody>
            <a:bodyPr wrap="square" anchor="ctr">
              <a:spAutoFit/>
            </a:bodyPr>
            <a:lstStyle/>
            <a:p>
              <a:pPr algn="ctr" defTabSz="914126">
                <a:defRPr/>
              </a:pPr>
              <a:r>
                <a:rPr lang="en-US" sz="1100" dirty="0">
                  <a:solidFill>
                    <a:schemeClr val="tx2"/>
                  </a:solidFill>
                  <a:latin typeface="Arial" panose="020B0604020202020204" pitchFamily="34" charset="0"/>
                </a:rPr>
                <a:t>vSAN</a:t>
              </a:r>
            </a:p>
          </p:txBody>
        </p:sp>
        <p:cxnSp>
          <p:nvCxnSpPr>
            <p:cNvPr id="79" name="Straight Connector 78">
              <a:extLst>
                <a:ext uri="{FF2B5EF4-FFF2-40B4-BE49-F238E27FC236}">
                  <a16:creationId xmlns:a16="http://schemas.microsoft.com/office/drawing/2014/main" id="{0FAA78C1-CA5E-3B4F-EBE1-B0C8BCED83E8}"/>
                </a:ext>
              </a:extLst>
            </p:cNvPr>
            <p:cNvCxnSpPr>
              <a:cxnSpLocks/>
            </p:cNvCxnSpPr>
            <p:nvPr/>
          </p:nvCxnSpPr>
          <p:spPr bwMode="gray">
            <a:xfrm flipH="1">
              <a:off x="2271066" y="3698226"/>
              <a:ext cx="1661447" cy="0"/>
            </a:xfrm>
            <a:prstGeom prst="line">
              <a:avLst/>
            </a:prstGeom>
            <a:ln w="9525">
              <a:solidFill>
                <a:schemeClr val="accent2"/>
              </a:solidFill>
              <a:miter lim="800000"/>
              <a:tailEnd type="triangle" w="lg"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E135461C-0552-01BD-7552-0A5641CE919C}"/>
                </a:ext>
              </a:extLst>
            </p:cNvPr>
            <p:cNvCxnSpPr>
              <a:cxnSpLocks/>
              <a:endCxn id="78" idx="1"/>
            </p:cNvCxnSpPr>
            <p:nvPr/>
          </p:nvCxnSpPr>
          <p:spPr bwMode="gray">
            <a:xfrm>
              <a:off x="3932513" y="3698226"/>
              <a:ext cx="1825303" cy="0"/>
            </a:xfrm>
            <a:prstGeom prst="line">
              <a:avLst/>
            </a:prstGeom>
            <a:ln w="9525">
              <a:solidFill>
                <a:schemeClr val="accent2"/>
              </a:solidFill>
              <a:miter lim="800000"/>
              <a:tailEnd type="triangle" w="lg" len="med"/>
            </a:ln>
          </p:spPr>
          <p:style>
            <a:lnRef idx="1">
              <a:schemeClr val="accent1"/>
            </a:lnRef>
            <a:fillRef idx="0">
              <a:schemeClr val="accent1"/>
            </a:fillRef>
            <a:effectRef idx="0">
              <a:schemeClr val="accent1"/>
            </a:effectRef>
            <a:fontRef idx="minor">
              <a:schemeClr val="tx1"/>
            </a:fontRef>
          </p:style>
        </p:cxnSp>
      </p:grpSp>
      <p:grpSp>
        <p:nvGrpSpPr>
          <p:cNvPr id="81" name="Group 80">
            <a:extLst>
              <a:ext uri="{FF2B5EF4-FFF2-40B4-BE49-F238E27FC236}">
                <a16:creationId xmlns:a16="http://schemas.microsoft.com/office/drawing/2014/main" id="{3414E2C2-2150-E4D0-EEF6-D5CC49FB97D8}"/>
              </a:ext>
            </a:extLst>
          </p:cNvPr>
          <p:cNvGrpSpPr/>
          <p:nvPr/>
        </p:nvGrpSpPr>
        <p:grpSpPr>
          <a:xfrm>
            <a:off x="1858485" y="5114583"/>
            <a:ext cx="5047488" cy="977498"/>
            <a:chOff x="1410325" y="4376089"/>
            <a:chExt cx="5047488" cy="977498"/>
          </a:xfrm>
        </p:grpSpPr>
        <p:sp>
          <p:nvSpPr>
            <p:cNvPr id="82" name="Rectangle 81">
              <a:extLst>
                <a:ext uri="{FF2B5EF4-FFF2-40B4-BE49-F238E27FC236}">
                  <a16:creationId xmlns:a16="http://schemas.microsoft.com/office/drawing/2014/main" id="{4B1CB65F-FB0E-A1A7-D8BB-938FC0320761}"/>
                </a:ext>
              </a:extLst>
            </p:cNvPr>
            <p:cNvSpPr/>
            <p:nvPr/>
          </p:nvSpPr>
          <p:spPr>
            <a:xfrm>
              <a:off x="1410325" y="4376089"/>
              <a:ext cx="5047488" cy="977498"/>
            </a:xfrm>
            <a:prstGeom prst="rect">
              <a:avLst/>
            </a:prstGeom>
            <a:solidFill>
              <a:schemeClr val="accent2"/>
            </a:solidFill>
            <a:ln w="12700">
              <a:noFill/>
              <a:prstDash val="sysDot"/>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800" dirty="0">
                <a:solidFill>
                  <a:schemeClr val="bg1"/>
                </a:solidFill>
              </a:endParaRPr>
            </a:p>
          </p:txBody>
        </p:sp>
        <p:sp>
          <p:nvSpPr>
            <p:cNvPr id="83" name="Rectangle 82">
              <a:extLst>
                <a:ext uri="{FF2B5EF4-FFF2-40B4-BE49-F238E27FC236}">
                  <a16:creationId xmlns:a16="http://schemas.microsoft.com/office/drawing/2014/main" id="{AA35D399-59E0-CAC3-8252-335BA230E819}"/>
                </a:ext>
              </a:extLst>
            </p:cNvPr>
            <p:cNvSpPr/>
            <p:nvPr/>
          </p:nvSpPr>
          <p:spPr>
            <a:xfrm>
              <a:off x="3054451" y="5090750"/>
              <a:ext cx="1759236" cy="193899"/>
            </a:xfrm>
            <a:prstGeom prst="rect">
              <a:avLst/>
            </a:prstGeom>
            <a:noFill/>
          </p:spPr>
          <p:txBody>
            <a:bodyPr wrap="square" lIns="0" tIns="0" rIns="0" bIns="0">
              <a:spAutoFit/>
            </a:bodyPr>
            <a:lstStyle/>
            <a:p>
              <a:pPr lvl="0" algn="ctr">
                <a:lnSpc>
                  <a:spcPct val="90000"/>
                </a:lnSpc>
                <a:defRPr/>
              </a:pPr>
              <a:r>
                <a:rPr lang="en-US" sz="1400" kern="0" dirty="0">
                  <a:solidFill>
                    <a:schemeClr val="bg1"/>
                  </a:solidFill>
                </a:rPr>
                <a:t>vSAN Datastore</a:t>
              </a:r>
            </a:p>
          </p:txBody>
        </p:sp>
        <p:sp>
          <p:nvSpPr>
            <p:cNvPr id="84" name="Freeform 16">
              <a:extLst>
                <a:ext uri="{FF2B5EF4-FFF2-40B4-BE49-F238E27FC236}">
                  <a16:creationId xmlns:a16="http://schemas.microsoft.com/office/drawing/2014/main" id="{B416F418-8384-CECD-A6BB-871816AE769D}"/>
                </a:ext>
              </a:extLst>
            </p:cNvPr>
            <p:cNvSpPr/>
            <p:nvPr/>
          </p:nvSpPr>
          <p:spPr>
            <a:xfrm>
              <a:off x="4505619" y="4706620"/>
              <a:ext cx="401436" cy="52386"/>
            </a:xfrm>
            <a:custGeom>
              <a:avLst/>
              <a:gdLst/>
              <a:ahLst/>
              <a:cxnLst/>
              <a:rect l="l" t="t" r="r" b="b"/>
              <a:pathLst>
                <a:path w="233809" h="30510">
                  <a:moveTo>
                    <a:pt x="203151" y="0"/>
                  </a:moveTo>
                  <a:lnTo>
                    <a:pt x="233809" y="0"/>
                  </a:lnTo>
                  <a:lnTo>
                    <a:pt x="233809" y="30510"/>
                  </a:lnTo>
                  <a:lnTo>
                    <a:pt x="203151" y="30510"/>
                  </a:lnTo>
                  <a:close/>
                  <a:moveTo>
                    <a:pt x="101650" y="0"/>
                  </a:moveTo>
                  <a:lnTo>
                    <a:pt x="132160" y="0"/>
                  </a:lnTo>
                  <a:lnTo>
                    <a:pt x="132160" y="30510"/>
                  </a:lnTo>
                  <a:lnTo>
                    <a:pt x="101650" y="30510"/>
                  </a:lnTo>
                  <a:close/>
                  <a:moveTo>
                    <a:pt x="0" y="0"/>
                  </a:moveTo>
                  <a:lnTo>
                    <a:pt x="30510" y="0"/>
                  </a:lnTo>
                  <a:lnTo>
                    <a:pt x="30510" y="30510"/>
                  </a:lnTo>
                  <a:lnTo>
                    <a:pt x="0" y="30510"/>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99" dirty="0"/>
            </a:p>
          </p:txBody>
        </p:sp>
        <p:grpSp>
          <p:nvGrpSpPr>
            <p:cNvPr id="85" name="Group 84">
              <a:extLst>
                <a:ext uri="{FF2B5EF4-FFF2-40B4-BE49-F238E27FC236}">
                  <a16:creationId xmlns:a16="http://schemas.microsoft.com/office/drawing/2014/main" id="{09AEE4E6-9699-889F-50EF-1ECD29078C05}"/>
                </a:ext>
              </a:extLst>
            </p:cNvPr>
            <p:cNvGrpSpPr/>
            <p:nvPr/>
          </p:nvGrpSpPr>
          <p:grpSpPr>
            <a:xfrm>
              <a:off x="3367799" y="4531677"/>
              <a:ext cx="533658" cy="392298"/>
              <a:chOff x="4505618" y="1195981"/>
              <a:chExt cx="533658" cy="392298"/>
            </a:xfrm>
          </p:grpSpPr>
          <p:sp>
            <p:nvSpPr>
              <p:cNvPr id="125" name="Freeform 5">
                <a:extLst>
                  <a:ext uri="{FF2B5EF4-FFF2-40B4-BE49-F238E27FC236}">
                    <a16:creationId xmlns:a16="http://schemas.microsoft.com/office/drawing/2014/main" id="{4CEF8368-F259-2663-DFBE-D2515BFA555E}"/>
                  </a:ext>
                </a:extLst>
              </p:cNvPr>
              <p:cNvSpPr>
                <a:spLocks noEditPoints="1"/>
              </p:cNvSpPr>
              <p:nvPr/>
            </p:nvSpPr>
            <p:spPr bwMode="auto">
              <a:xfrm>
                <a:off x="4588140" y="1296271"/>
                <a:ext cx="451136" cy="292008"/>
              </a:xfrm>
              <a:custGeom>
                <a:avLst/>
                <a:gdLst>
                  <a:gd name="T0" fmla="*/ 0 w 2483"/>
                  <a:gd name="T1" fmla="*/ 0 h 1758"/>
                  <a:gd name="T2" fmla="*/ 0 w 2483"/>
                  <a:gd name="T3" fmla="*/ 1758 h 1758"/>
                  <a:gd name="T4" fmla="*/ 2483 w 2483"/>
                  <a:gd name="T5" fmla="*/ 1758 h 1758"/>
                  <a:gd name="T6" fmla="*/ 2483 w 2483"/>
                  <a:gd name="T7" fmla="*/ 0 h 1758"/>
                  <a:gd name="T8" fmla="*/ 0 w 2483"/>
                  <a:gd name="T9" fmla="*/ 0 h 1758"/>
                  <a:gd name="T10" fmla="*/ 2418 w 2483"/>
                  <a:gd name="T11" fmla="*/ 1694 h 1758"/>
                  <a:gd name="T12" fmla="*/ 65 w 2483"/>
                  <a:gd name="T13" fmla="*/ 1694 h 1758"/>
                  <a:gd name="T14" fmla="*/ 65 w 2483"/>
                  <a:gd name="T15" fmla="*/ 65 h 1758"/>
                  <a:gd name="T16" fmla="*/ 2418 w 2483"/>
                  <a:gd name="T17" fmla="*/ 65 h 1758"/>
                  <a:gd name="T18" fmla="*/ 2418 w 2483"/>
                  <a:gd name="T19" fmla="*/ 1694 h 1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83" h="1758">
                    <a:moveTo>
                      <a:pt x="0" y="0"/>
                    </a:moveTo>
                    <a:lnTo>
                      <a:pt x="0" y="1758"/>
                    </a:lnTo>
                    <a:lnTo>
                      <a:pt x="2483" y="1758"/>
                    </a:lnTo>
                    <a:lnTo>
                      <a:pt x="2483" y="0"/>
                    </a:lnTo>
                    <a:lnTo>
                      <a:pt x="0" y="0"/>
                    </a:lnTo>
                    <a:close/>
                    <a:moveTo>
                      <a:pt x="2418" y="1694"/>
                    </a:moveTo>
                    <a:lnTo>
                      <a:pt x="65" y="1694"/>
                    </a:lnTo>
                    <a:lnTo>
                      <a:pt x="65" y="65"/>
                    </a:lnTo>
                    <a:lnTo>
                      <a:pt x="2418" y="65"/>
                    </a:lnTo>
                    <a:lnTo>
                      <a:pt x="2418" y="169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26" name="Group 125">
                <a:extLst>
                  <a:ext uri="{FF2B5EF4-FFF2-40B4-BE49-F238E27FC236}">
                    <a16:creationId xmlns:a16="http://schemas.microsoft.com/office/drawing/2014/main" id="{42DA6685-B27E-697D-927C-B784A2D827BE}"/>
                  </a:ext>
                </a:extLst>
              </p:cNvPr>
              <p:cNvGrpSpPr/>
              <p:nvPr/>
            </p:nvGrpSpPr>
            <p:grpSpPr>
              <a:xfrm>
                <a:off x="4621577" y="1326834"/>
                <a:ext cx="384263" cy="231049"/>
                <a:chOff x="1474648" y="4826879"/>
                <a:chExt cx="576585" cy="346688"/>
              </a:xfrm>
            </p:grpSpPr>
            <p:sp>
              <p:nvSpPr>
                <p:cNvPr id="139" name="Oval 6">
                  <a:extLst>
                    <a:ext uri="{FF2B5EF4-FFF2-40B4-BE49-F238E27FC236}">
                      <a16:creationId xmlns:a16="http://schemas.microsoft.com/office/drawing/2014/main" id="{FCB6AB98-7C2B-7147-6A67-38E6A3A73B9B}"/>
                    </a:ext>
                  </a:extLst>
                </p:cNvPr>
                <p:cNvSpPr>
                  <a:spLocks noChangeArrowheads="1"/>
                </p:cNvSpPr>
                <p:nvPr/>
              </p:nvSpPr>
              <p:spPr bwMode="auto">
                <a:xfrm>
                  <a:off x="1474648" y="4826879"/>
                  <a:ext cx="31228"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Oval 7">
                  <a:extLst>
                    <a:ext uri="{FF2B5EF4-FFF2-40B4-BE49-F238E27FC236}">
                      <a16:creationId xmlns:a16="http://schemas.microsoft.com/office/drawing/2014/main" id="{9F92E5F7-2D00-BF07-E16D-BF16516713E7}"/>
                    </a:ext>
                  </a:extLst>
                </p:cNvPr>
                <p:cNvSpPr>
                  <a:spLocks noChangeArrowheads="1"/>
                </p:cNvSpPr>
                <p:nvPr/>
              </p:nvSpPr>
              <p:spPr bwMode="auto">
                <a:xfrm>
                  <a:off x="1474648" y="5142412"/>
                  <a:ext cx="31228"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1" name="Oval 8">
                  <a:extLst>
                    <a:ext uri="{FF2B5EF4-FFF2-40B4-BE49-F238E27FC236}">
                      <a16:creationId xmlns:a16="http://schemas.microsoft.com/office/drawing/2014/main" id="{A2D6AC52-78C0-8C82-CEB5-E0C9D07443E7}"/>
                    </a:ext>
                  </a:extLst>
                </p:cNvPr>
                <p:cNvSpPr>
                  <a:spLocks noChangeArrowheads="1"/>
                </p:cNvSpPr>
                <p:nvPr/>
              </p:nvSpPr>
              <p:spPr bwMode="auto">
                <a:xfrm>
                  <a:off x="2020253" y="4826879"/>
                  <a:ext cx="30980"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Oval 9">
                  <a:extLst>
                    <a:ext uri="{FF2B5EF4-FFF2-40B4-BE49-F238E27FC236}">
                      <a16:creationId xmlns:a16="http://schemas.microsoft.com/office/drawing/2014/main" id="{160BA9E2-367B-DEAF-6DE1-C89354D63AFB}"/>
                    </a:ext>
                  </a:extLst>
                </p:cNvPr>
                <p:cNvSpPr>
                  <a:spLocks noChangeArrowheads="1"/>
                </p:cNvSpPr>
                <p:nvPr/>
              </p:nvSpPr>
              <p:spPr bwMode="auto">
                <a:xfrm>
                  <a:off x="2020253" y="5142412"/>
                  <a:ext cx="30980"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7" name="Group 126">
                <a:extLst>
                  <a:ext uri="{FF2B5EF4-FFF2-40B4-BE49-F238E27FC236}">
                    <a16:creationId xmlns:a16="http://schemas.microsoft.com/office/drawing/2014/main" id="{B0DEAB10-72E9-FA5E-0872-0895C13B275B}"/>
                  </a:ext>
                </a:extLst>
              </p:cNvPr>
              <p:cNvGrpSpPr/>
              <p:nvPr/>
            </p:nvGrpSpPr>
            <p:grpSpPr>
              <a:xfrm>
                <a:off x="4713786" y="1407394"/>
                <a:ext cx="199845" cy="69431"/>
                <a:chOff x="1445849" y="4947759"/>
                <a:chExt cx="299866" cy="104181"/>
              </a:xfrm>
            </p:grpSpPr>
            <p:sp>
              <p:nvSpPr>
                <p:cNvPr id="136" name="Freeform 10">
                  <a:extLst>
                    <a:ext uri="{FF2B5EF4-FFF2-40B4-BE49-F238E27FC236}">
                      <a16:creationId xmlns:a16="http://schemas.microsoft.com/office/drawing/2014/main" id="{6F95F17B-724C-5106-3EA7-4486BEC6683B}"/>
                    </a:ext>
                  </a:extLst>
                </p:cNvPr>
                <p:cNvSpPr>
                  <a:spLocks/>
                </p:cNvSpPr>
                <p:nvPr/>
              </p:nvSpPr>
              <p:spPr bwMode="auto">
                <a:xfrm>
                  <a:off x="1550675"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11">
                  <a:extLst>
                    <a:ext uri="{FF2B5EF4-FFF2-40B4-BE49-F238E27FC236}">
                      <a16:creationId xmlns:a16="http://schemas.microsoft.com/office/drawing/2014/main" id="{0C92D1D9-77AA-A827-533F-84D695E98B1D}"/>
                    </a:ext>
                  </a:extLst>
                </p:cNvPr>
                <p:cNvSpPr>
                  <a:spLocks noEditPoints="1"/>
                </p:cNvSpPr>
                <p:nvPr/>
              </p:nvSpPr>
              <p:spPr bwMode="auto">
                <a:xfrm>
                  <a:off x="1655501" y="4949254"/>
                  <a:ext cx="90214" cy="101190"/>
                </a:xfrm>
                <a:custGeom>
                  <a:avLst/>
                  <a:gdLst>
                    <a:gd name="T0" fmla="*/ 534 w 534"/>
                    <a:gd name="T1" fmla="*/ 297 h 596"/>
                    <a:gd name="T2" fmla="*/ 206 w 534"/>
                    <a:gd name="T3" fmla="*/ 0 h 596"/>
                    <a:gd name="T4" fmla="*/ 0 w 534"/>
                    <a:gd name="T5" fmla="*/ 0 h 596"/>
                    <a:gd name="T6" fmla="*/ 0 w 534"/>
                    <a:gd name="T7" fmla="*/ 596 h 596"/>
                    <a:gd name="T8" fmla="*/ 206 w 534"/>
                    <a:gd name="T9" fmla="*/ 596 h 596"/>
                    <a:gd name="T10" fmla="*/ 534 w 534"/>
                    <a:gd name="T11" fmla="*/ 297 h 596"/>
                    <a:gd name="T12" fmla="*/ 88 w 534"/>
                    <a:gd name="T13" fmla="*/ 80 h 596"/>
                    <a:gd name="T14" fmla="*/ 211 w 534"/>
                    <a:gd name="T15" fmla="*/ 80 h 596"/>
                    <a:gd name="T16" fmla="*/ 445 w 534"/>
                    <a:gd name="T17" fmla="*/ 297 h 596"/>
                    <a:gd name="T18" fmla="*/ 211 w 534"/>
                    <a:gd name="T19" fmla="*/ 516 h 596"/>
                    <a:gd name="T20" fmla="*/ 88 w 534"/>
                    <a:gd name="T21" fmla="*/ 516 h 596"/>
                    <a:gd name="T22" fmla="*/ 88 w 534"/>
                    <a:gd name="T23" fmla="*/ 80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4" h="596">
                      <a:moveTo>
                        <a:pt x="534" y="297"/>
                      </a:moveTo>
                      <a:cubicBezTo>
                        <a:pt x="534" y="123"/>
                        <a:pt x="398" y="0"/>
                        <a:pt x="206" y="0"/>
                      </a:cubicBezTo>
                      <a:cubicBezTo>
                        <a:pt x="0" y="0"/>
                        <a:pt x="0" y="0"/>
                        <a:pt x="0" y="0"/>
                      </a:cubicBezTo>
                      <a:cubicBezTo>
                        <a:pt x="0" y="596"/>
                        <a:pt x="0" y="596"/>
                        <a:pt x="0" y="596"/>
                      </a:cubicBezTo>
                      <a:cubicBezTo>
                        <a:pt x="206" y="596"/>
                        <a:pt x="206" y="596"/>
                        <a:pt x="206" y="596"/>
                      </a:cubicBezTo>
                      <a:cubicBezTo>
                        <a:pt x="398" y="596"/>
                        <a:pt x="534" y="472"/>
                        <a:pt x="534" y="297"/>
                      </a:cubicBezTo>
                      <a:close/>
                      <a:moveTo>
                        <a:pt x="88" y="80"/>
                      </a:moveTo>
                      <a:cubicBezTo>
                        <a:pt x="211" y="80"/>
                        <a:pt x="211" y="80"/>
                        <a:pt x="211" y="80"/>
                      </a:cubicBezTo>
                      <a:cubicBezTo>
                        <a:pt x="348" y="80"/>
                        <a:pt x="445" y="170"/>
                        <a:pt x="445" y="297"/>
                      </a:cubicBezTo>
                      <a:cubicBezTo>
                        <a:pt x="445" y="426"/>
                        <a:pt x="348" y="516"/>
                        <a:pt x="211" y="516"/>
                      </a:cubicBezTo>
                      <a:cubicBezTo>
                        <a:pt x="88" y="516"/>
                        <a:pt x="88" y="516"/>
                        <a:pt x="88" y="516"/>
                      </a:cubicBezTo>
                      <a:lnTo>
                        <a:pt x="88" y="8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8" name="Freeform 10">
                  <a:extLst>
                    <a:ext uri="{FF2B5EF4-FFF2-40B4-BE49-F238E27FC236}">
                      <a16:creationId xmlns:a16="http://schemas.microsoft.com/office/drawing/2014/main" id="{205E57C1-34E1-0E59-7FFF-0ED6623F8EDF}"/>
                    </a:ext>
                  </a:extLst>
                </p:cNvPr>
                <p:cNvSpPr>
                  <a:spLocks/>
                </p:cNvSpPr>
                <p:nvPr/>
              </p:nvSpPr>
              <p:spPr bwMode="auto">
                <a:xfrm>
                  <a:off x="1445849"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128" name="Straight Connector 127">
                <a:extLst>
                  <a:ext uri="{FF2B5EF4-FFF2-40B4-BE49-F238E27FC236}">
                    <a16:creationId xmlns:a16="http://schemas.microsoft.com/office/drawing/2014/main" id="{E5B6FA42-A6E7-8E2B-8D87-5A545F5D3647}"/>
                  </a:ext>
                </a:extLst>
              </p:cNvPr>
              <p:cNvCxnSpPr>
                <a:cxnSpLocks/>
              </p:cNvCxnSpPr>
              <p:nvPr/>
            </p:nvCxnSpPr>
            <p:spPr bwMode="gray">
              <a:xfrm flipH="1">
                <a:off x="4550146" y="1516262"/>
                <a:ext cx="37996"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D9C8FD32-E529-39FD-CB5E-B09366FFD58B}"/>
                  </a:ext>
                </a:extLst>
              </p:cNvPr>
              <p:cNvCxnSpPr>
                <a:cxnSpLocks/>
              </p:cNvCxnSpPr>
              <p:nvPr/>
            </p:nvCxnSpPr>
            <p:spPr bwMode="gray">
              <a:xfrm flipH="1">
                <a:off x="4550147" y="1248567"/>
                <a:ext cx="431005"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A7675B4C-82EB-75D3-C225-374650E81DEE}"/>
                  </a:ext>
                </a:extLst>
              </p:cNvPr>
              <p:cNvCxnSpPr>
                <a:cxnSpLocks/>
              </p:cNvCxnSpPr>
              <p:nvPr/>
            </p:nvCxnSpPr>
            <p:spPr bwMode="gray">
              <a:xfrm flipV="1">
                <a:off x="4550146" y="1248569"/>
                <a:ext cx="0" cy="262945"/>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91FA010A-7B54-50F9-9DA4-FD64AF7839A0}"/>
                  </a:ext>
                </a:extLst>
              </p:cNvPr>
              <p:cNvCxnSpPr>
                <a:cxnSpLocks/>
              </p:cNvCxnSpPr>
              <p:nvPr/>
            </p:nvCxnSpPr>
            <p:spPr bwMode="gray">
              <a:xfrm flipV="1">
                <a:off x="4981152" y="1248567"/>
                <a:ext cx="0" cy="50422"/>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BE29B03E-28A0-33E5-02B8-081388EF3FBB}"/>
                  </a:ext>
                </a:extLst>
              </p:cNvPr>
              <p:cNvCxnSpPr>
                <a:cxnSpLocks/>
              </p:cNvCxnSpPr>
              <p:nvPr/>
            </p:nvCxnSpPr>
            <p:spPr bwMode="gray">
              <a:xfrm flipH="1">
                <a:off x="4505618" y="1463676"/>
                <a:ext cx="37996"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D2269EAA-4909-387F-5686-EFB708AEAF18}"/>
                  </a:ext>
                </a:extLst>
              </p:cNvPr>
              <p:cNvCxnSpPr>
                <a:cxnSpLocks/>
              </p:cNvCxnSpPr>
              <p:nvPr/>
            </p:nvCxnSpPr>
            <p:spPr bwMode="gray">
              <a:xfrm flipH="1">
                <a:off x="4505619" y="1195981"/>
                <a:ext cx="431005"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446DF457-CA1F-4F3B-A908-536A01074307}"/>
                  </a:ext>
                </a:extLst>
              </p:cNvPr>
              <p:cNvCxnSpPr>
                <a:cxnSpLocks/>
              </p:cNvCxnSpPr>
              <p:nvPr/>
            </p:nvCxnSpPr>
            <p:spPr bwMode="gray">
              <a:xfrm flipV="1">
                <a:off x="4505618" y="1195983"/>
                <a:ext cx="0" cy="262945"/>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89C35E78-B89D-A451-C9F7-FA832DE9917C}"/>
                  </a:ext>
                </a:extLst>
              </p:cNvPr>
              <p:cNvCxnSpPr>
                <a:cxnSpLocks/>
              </p:cNvCxnSpPr>
              <p:nvPr/>
            </p:nvCxnSpPr>
            <p:spPr bwMode="gray">
              <a:xfrm flipV="1">
                <a:off x="4936624" y="1195981"/>
                <a:ext cx="0" cy="50422"/>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86" name="Group 85">
              <a:extLst>
                <a:ext uri="{FF2B5EF4-FFF2-40B4-BE49-F238E27FC236}">
                  <a16:creationId xmlns:a16="http://schemas.microsoft.com/office/drawing/2014/main" id="{DDDA8FBA-28AA-F336-5C7D-602DA7A13EA5}"/>
                </a:ext>
              </a:extLst>
            </p:cNvPr>
            <p:cNvGrpSpPr/>
            <p:nvPr/>
          </p:nvGrpSpPr>
          <p:grpSpPr>
            <a:xfrm>
              <a:off x="1820152" y="4531677"/>
              <a:ext cx="533658" cy="392298"/>
              <a:chOff x="4505618" y="1195981"/>
              <a:chExt cx="533658" cy="392298"/>
            </a:xfrm>
          </p:grpSpPr>
          <p:sp>
            <p:nvSpPr>
              <p:cNvPr id="107" name="Freeform 5">
                <a:extLst>
                  <a:ext uri="{FF2B5EF4-FFF2-40B4-BE49-F238E27FC236}">
                    <a16:creationId xmlns:a16="http://schemas.microsoft.com/office/drawing/2014/main" id="{418608F1-800D-D0B6-34EB-DB59F447A44D}"/>
                  </a:ext>
                </a:extLst>
              </p:cNvPr>
              <p:cNvSpPr>
                <a:spLocks noEditPoints="1"/>
              </p:cNvSpPr>
              <p:nvPr/>
            </p:nvSpPr>
            <p:spPr bwMode="auto">
              <a:xfrm>
                <a:off x="4588140" y="1296271"/>
                <a:ext cx="451136" cy="292008"/>
              </a:xfrm>
              <a:custGeom>
                <a:avLst/>
                <a:gdLst>
                  <a:gd name="T0" fmla="*/ 0 w 2483"/>
                  <a:gd name="T1" fmla="*/ 0 h 1758"/>
                  <a:gd name="T2" fmla="*/ 0 w 2483"/>
                  <a:gd name="T3" fmla="*/ 1758 h 1758"/>
                  <a:gd name="T4" fmla="*/ 2483 w 2483"/>
                  <a:gd name="T5" fmla="*/ 1758 h 1758"/>
                  <a:gd name="T6" fmla="*/ 2483 w 2483"/>
                  <a:gd name="T7" fmla="*/ 0 h 1758"/>
                  <a:gd name="T8" fmla="*/ 0 w 2483"/>
                  <a:gd name="T9" fmla="*/ 0 h 1758"/>
                  <a:gd name="T10" fmla="*/ 2418 w 2483"/>
                  <a:gd name="T11" fmla="*/ 1694 h 1758"/>
                  <a:gd name="T12" fmla="*/ 65 w 2483"/>
                  <a:gd name="T13" fmla="*/ 1694 h 1758"/>
                  <a:gd name="T14" fmla="*/ 65 w 2483"/>
                  <a:gd name="T15" fmla="*/ 65 h 1758"/>
                  <a:gd name="T16" fmla="*/ 2418 w 2483"/>
                  <a:gd name="T17" fmla="*/ 65 h 1758"/>
                  <a:gd name="T18" fmla="*/ 2418 w 2483"/>
                  <a:gd name="T19" fmla="*/ 1694 h 1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83" h="1758">
                    <a:moveTo>
                      <a:pt x="0" y="0"/>
                    </a:moveTo>
                    <a:lnTo>
                      <a:pt x="0" y="1758"/>
                    </a:lnTo>
                    <a:lnTo>
                      <a:pt x="2483" y="1758"/>
                    </a:lnTo>
                    <a:lnTo>
                      <a:pt x="2483" y="0"/>
                    </a:lnTo>
                    <a:lnTo>
                      <a:pt x="0" y="0"/>
                    </a:lnTo>
                    <a:close/>
                    <a:moveTo>
                      <a:pt x="2418" y="1694"/>
                    </a:moveTo>
                    <a:lnTo>
                      <a:pt x="65" y="1694"/>
                    </a:lnTo>
                    <a:lnTo>
                      <a:pt x="65" y="65"/>
                    </a:lnTo>
                    <a:lnTo>
                      <a:pt x="2418" y="65"/>
                    </a:lnTo>
                    <a:lnTo>
                      <a:pt x="2418" y="169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08" name="Group 107">
                <a:extLst>
                  <a:ext uri="{FF2B5EF4-FFF2-40B4-BE49-F238E27FC236}">
                    <a16:creationId xmlns:a16="http://schemas.microsoft.com/office/drawing/2014/main" id="{62DA537A-C5FC-B380-73CD-8558048989CB}"/>
                  </a:ext>
                </a:extLst>
              </p:cNvPr>
              <p:cNvGrpSpPr/>
              <p:nvPr/>
            </p:nvGrpSpPr>
            <p:grpSpPr>
              <a:xfrm>
                <a:off x="4621577" y="1326834"/>
                <a:ext cx="384263" cy="231049"/>
                <a:chOff x="1474648" y="4826879"/>
                <a:chExt cx="576585" cy="346688"/>
              </a:xfrm>
            </p:grpSpPr>
            <p:sp>
              <p:nvSpPr>
                <p:cNvPr id="121" name="Oval 6">
                  <a:extLst>
                    <a:ext uri="{FF2B5EF4-FFF2-40B4-BE49-F238E27FC236}">
                      <a16:creationId xmlns:a16="http://schemas.microsoft.com/office/drawing/2014/main" id="{F83CAD32-5F2A-CC0A-4D75-C2C15A7351F3}"/>
                    </a:ext>
                  </a:extLst>
                </p:cNvPr>
                <p:cNvSpPr>
                  <a:spLocks noChangeArrowheads="1"/>
                </p:cNvSpPr>
                <p:nvPr/>
              </p:nvSpPr>
              <p:spPr bwMode="auto">
                <a:xfrm>
                  <a:off x="1474648" y="4826879"/>
                  <a:ext cx="31228"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Oval 7">
                  <a:extLst>
                    <a:ext uri="{FF2B5EF4-FFF2-40B4-BE49-F238E27FC236}">
                      <a16:creationId xmlns:a16="http://schemas.microsoft.com/office/drawing/2014/main" id="{7C23F260-1AA9-8B0C-D5FE-7CE2ACE4B8A2}"/>
                    </a:ext>
                  </a:extLst>
                </p:cNvPr>
                <p:cNvSpPr>
                  <a:spLocks noChangeArrowheads="1"/>
                </p:cNvSpPr>
                <p:nvPr/>
              </p:nvSpPr>
              <p:spPr bwMode="auto">
                <a:xfrm>
                  <a:off x="1474648" y="5142412"/>
                  <a:ext cx="31228"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Oval 8">
                  <a:extLst>
                    <a:ext uri="{FF2B5EF4-FFF2-40B4-BE49-F238E27FC236}">
                      <a16:creationId xmlns:a16="http://schemas.microsoft.com/office/drawing/2014/main" id="{362D6751-35A2-9FC0-0E04-BD8D45C48DC3}"/>
                    </a:ext>
                  </a:extLst>
                </p:cNvPr>
                <p:cNvSpPr>
                  <a:spLocks noChangeArrowheads="1"/>
                </p:cNvSpPr>
                <p:nvPr/>
              </p:nvSpPr>
              <p:spPr bwMode="auto">
                <a:xfrm>
                  <a:off x="2020253" y="4826879"/>
                  <a:ext cx="30980"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Oval 9">
                  <a:extLst>
                    <a:ext uri="{FF2B5EF4-FFF2-40B4-BE49-F238E27FC236}">
                      <a16:creationId xmlns:a16="http://schemas.microsoft.com/office/drawing/2014/main" id="{8D11E900-4DEE-24F3-9737-DC683B6504A2}"/>
                    </a:ext>
                  </a:extLst>
                </p:cNvPr>
                <p:cNvSpPr>
                  <a:spLocks noChangeArrowheads="1"/>
                </p:cNvSpPr>
                <p:nvPr/>
              </p:nvSpPr>
              <p:spPr bwMode="auto">
                <a:xfrm>
                  <a:off x="2020253" y="5142412"/>
                  <a:ext cx="30980"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09" name="Group 108">
                <a:extLst>
                  <a:ext uri="{FF2B5EF4-FFF2-40B4-BE49-F238E27FC236}">
                    <a16:creationId xmlns:a16="http://schemas.microsoft.com/office/drawing/2014/main" id="{E1CF2C76-BBC7-EEB9-97D0-5AACCB7D07D9}"/>
                  </a:ext>
                </a:extLst>
              </p:cNvPr>
              <p:cNvGrpSpPr/>
              <p:nvPr/>
            </p:nvGrpSpPr>
            <p:grpSpPr>
              <a:xfrm>
                <a:off x="4713786" y="1407394"/>
                <a:ext cx="199845" cy="69431"/>
                <a:chOff x="1445849" y="4947759"/>
                <a:chExt cx="299866" cy="104181"/>
              </a:xfrm>
            </p:grpSpPr>
            <p:sp>
              <p:nvSpPr>
                <p:cNvPr id="118" name="Freeform 10">
                  <a:extLst>
                    <a:ext uri="{FF2B5EF4-FFF2-40B4-BE49-F238E27FC236}">
                      <a16:creationId xmlns:a16="http://schemas.microsoft.com/office/drawing/2014/main" id="{8427C53D-4B18-950A-0F97-B8BA5B9B570D}"/>
                    </a:ext>
                  </a:extLst>
                </p:cNvPr>
                <p:cNvSpPr>
                  <a:spLocks/>
                </p:cNvSpPr>
                <p:nvPr/>
              </p:nvSpPr>
              <p:spPr bwMode="auto">
                <a:xfrm>
                  <a:off x="1550675"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11">
                  <a:extLst>
                    <a:ext uri="{FF2B5EF4-FFF2-40B4-BE49-F238E27FC236}">
                      <a16:creationId xmlns:a16="http://schemas.microsoft.com/office/drawing/2014/main" id="{B14D86ED-42D8-727C-1506-27FA17978DCF}"/>
                    </a:ext>
                  </a:extLst>
                </p:cNvPr>
                <p:cNvSpPr>
                  <a:spLocks noEditPoints="1"/>
                </p:cNvSpPr>
                <p:nvPr/>
              </p:nvSpPr>
              <p:spPr bwMode="auto">
                <a:xfrm>
                  <a:off x="1655501" y="4949254"/>
                  <a:ext cx="90214" cy="101190"/>
                </a:xfrm>
                <a:custGeom>
                  <a:avLst/>
                  <a:gdLst>
                    <a:gd name="T0" fmla="*/ 534 w 534"/>
                    <a:gd name="T1" fmla="*/ 297 h 596"/>
                    <a:gd name="T2" fmla="*/ 206 w 534"/>
                    <a:gd name="T3" fmla="*/ 0 h 596"/>
                    <a:gd name="T4" fmla="*/ 0 w 534"/>
                    <a:gd name="T5" fmla="*/ 0 h 596"/>
                    <a:gd name="T6" fmla="*/ 0 w 534"/>
                    <a:gd name="T7" fmla="*/ 596 h 596"/>
                    <a:gd name="T8" fmla="*/ 206 w 534"/>
                    <a:gd name="T9" fmla="*/ 596 h 596"/>
                    <a:gd name="T10" fmla="*/ 534 w 534"/>
                    <a:gd name="T11" fmla="*/ 297 h 596"/>
                    <a:gd name="T12" fmla="*/ 88 w 534"/>
                    <a:gd name="T13" fmla="*/ 80 h 596"/>
                    <a:gd name="T14" fmla="*/ 211 w 534"/>
                    <a:gd name="T15" fmla="*/ 80 h 596"/>
                    <a:gd name="T16" fmla="*/ 445 w 534"/>
                    <a:gd name="T17" fmla="*/ 297 h 596"/>
                    <a:gd name="T18" fmla="*/ 211 w 534"/>
                    <a:gd name="T19" fmla="*/ 516 h 596"/>
                    <a:gd name="T20" fmla="*/ 88 w 534"/>
                    <a:gd name="T21" fmla="*/ 516 h 596"/>
                    <a:gd name="T22" fmla="*/ 88 w 534"/>
                    <a:gd name="T23" fmla="*/ 80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4" h="596">
                      <a:moveTo>
                        <a:pt x="534" y="297"/>
                      </a:moveTo>
                      <a:cubicBezTo>
                        <a:pt x="534" y="123"/>
                        <a:pt x="398" y="0"/>
                        <a:pt x="206" y="0"/>
                      </a:cubicBezTo>
                      <a:cubicBezTo>
                        <a:pt x="0" y="0"/>
                        <a:pt x="0" y="0"/>
                        <a:pt x="0" y="0"/>
                      </a:cubicBezTo>
                      <a:cubicBezTo>
                        <a:pt x="0" y="596"/>
                        <a:pt x="0" y="596"/>
                        <a:pt x="0" y="596"/>
                      </a:cubicBezTo>
                      <a:cubicBezTo>
                        <a:pt x="206" y="596"/>
                        <a:pt x="206" y="596"/>
                        <a:pt x="206" y="596"/>
                      </a:cubicBezTo>
                      <a:cubicBezTo>
                        <a:pt x="398" y="596"/>
                        <a:pt x="534" y="472"/>
                        <a:pt x="534" y="297"/>
                      </a:cubicBezTo>
                      <a:close/>
                      <a:moveTo>
                        <a:pt x="88" y="80"/>
                      </a:moveTo>
                      <a:cubicBezTo>
                        <a:pt x="211" y="80"/>
                        <a:pt x="211" y="80"/>
                        <a:pt x="211" y="80"/>
                      </a:cubicBezTo>
                      <a:cubicBezTo>
                        <a:pt x="348" y="80"/>
                        <a:pt x="445" y="170"/>
                        <a:pt x="445" y="297"/>
                      </a:cubicBezTo>
                      <a:cubicBezTo>
                        <a:pt x="445" y="426"/>
                        <a:pt x="348" y="516"/>
                        <a:pt x="211" y="516"/>
                      </a:cubicBezTo>
                      <a:cubicBezTo>
                        <a:pt x="88" y="516"/>
                        <a:pt x="88" y="516"/>
                        <a:pt x="88" y="516"/>
                      </a:cubicBezTo>
                      <a:lnTo>
                        <a:pt x="88" y="8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10">
                  <a:extLst>
                    <a:ext uri="{FF2B5EF4-FFF2-40B4-BE49-F238E27FC236}">
                      <a16:creationId xmlns:a16="http://schemas.microsoft.com/office/drawing/2014/main" id="{B61E446A-8B54-FAA7-6A0D-919E73269DED}"/>
                    </a:ext>
                  </a:extLst>
                </p:cNvPr>
                <p:cNvSpPr>
                  <a:spLocks/>
                </p:cNvSpPr>
                <p:nvPr/>
              </p:nvSpPr>
              <p:spPr bwMode="auto">
                <a:xfrm>
                  <a:off x="1445849"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110" name="Straight Connector 109">
                <a:extLst>
                  <a:ext uri="{FF2B5EF4-FFF2-40B4-BE49-F238E27FC236}">
                    <a16:creationId xmlns:a16="http://schemas.microsoft.com/office/drawing/2014/main" id="{03851898-DE0F-F2D8-6815-55B2F3007A91}"/>
                  </a:ext>
                </a:extLst>
              </p:cNvPr>
              <p:cNvCxnSpPr>
                <a:cxnSpLocks/>
              </p:cNvCxnSpPr>
              <p:nvPr/>
            </p:nvCxnSpPr>
            <p:spPr bwMode="gray">
              <a:xfrm flipH="1">
                <a:off x="4550146" y="1516262"/>
                <a:ext cx="37996"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12EB9E07-3C36-7DED-441A-BF3A0374B1B5}"/>
                  </a:ext>
                </a:extLst>
              </p:cNvPr>
              <p:cNvCxnSpPr>
                <a:cxnSpLocks/>
              </p:cNvCxnSpPr>
              <p:nvPr/>
            </p:nvCxnSpPr>
            <p:spPr bwMode="gray">
              <a:xfrm flipH="1">
                <a:off x="4550147" y="1248567"/>
                <a:ext cx="431005"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138DF897-21D1-4F34-A23B-B14F6283C428}"/>
                  </a:ext>
                </a:extLst>
              </p:cNvPr>
              <p:cNvCxnSpPr>
                <a:cxnSpLocks/>
              </p:cNvCxnSpPr>
              <p:nvPr/>
            </p:nvCxnSpPr>
            <p:spPr bwMode="gray">
              <a:xfrm flipV="1">
                <a:off x="4550146" y="1248569"/>
                <a:ext cx="0" cy="262945"/>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98E7A665-9917-6B15-3F98-5B3699FF1DF4}"/>
                  </a:ext>
                </a:extLst>
              </p:cNvPr>
              <p:cNvCxnSpPr>
                <a:cxnSpLocks/>
              </p:cNvCxnSpPr>
              <p:nvPr/>
            </p:nvCxnSpPr>
            <p:spPr bwMode="gray">
              <a:xfrm flipV="1">
                <a:off x="4981152" y="1248567"/>
                <a:ext cx="0" cy="50422"/>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1F956FA-4AC4-A503-2746-F86EE624A1BF}"/>
                  </a:ext>
                </a:extLst>
              </p:cNvPr>
              <p:cNvCxnSpPr>
                <a:cxnSpLocks/>
              </p:cNvCxnSpPr>
              <p:nvPr/>
            </p:nvCxnSpPr>
            <p:spPr bwMode="gray">
              <a:xfrm flipH="1">
                <a:off x="4505618" y="1463676"/>
                <a:ext cx="37996"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0E301CB9-7C9A-07FB-9635-D4B79EE42484}"/>
                  </a:ext>
                </a:extLst>
              </p:cNvPr>
              <p:cNvCxnSpPr>
                <a:cxnSpLocks/>
              </p:cNvCxnSpPr>
              <p:nvPr/>
            </p:nvCxnSpPr>
            <p:spPr bwMode="gray">
              <a:xfrm flipH="1">
                <a:off x="4505619" y="1195981"/>
                <a:ext cx="431005"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3044FD58-ED80-2E58-E281-368EBBDBE3F6}"/>
                  </a:ext>
                </a:extLst>
              </p:cNvPr>
              <p:cNvCxnSpPr>
                <a:cxnSpLocks/>
              </p:cNvCxnSpPr>
              <p:nvPr/>
            </p:nvCxnSpPr>
            <p:spPr bwMode="gray">
              <a:xfrm flipV="1">
                <a:off x="4505618" y="1195983"/>
                <a:ext cx="0" cy="262945"/>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661465E5-1C22-85A4-54F2-2EB74EF2E250}"/>
                  </a:ext>
                </a:extLst>
              </p:cNvPr>
              <p:cNvCxnSpPr>
                <a:cxnSpLocks/>
              </p:cNvCxnSpPr>
              <p:nvPr/>
            </p:nvCxnSpPr>
            <p:spPr bwMode="gray">
              <a:xfrm flipV="1">
                <a:off x="4936624" y="1195981"/>
                <a:ext cx="0" cy="50422"/>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87" name="Group 86">
              <a:extLst>
                <a:ext uri="{FF2B5EF4-FFF2-40B4-BE49-F238E27FC236}">
                  <a16:creationId xmlns:a16="http://schemas.microsoft.com/office/drawing/2014/main" id="{7A284BD0-119E-F452-2057-FCDBAAF2FDFF}"/>
                </a:ext>
              </a:extLst>
            </p:cNvPr>
            <p:cNvGrpSpPr/>
            <p:nvPr/>
          </p:nvGrpSpPr>
          <p:grpSpPr>
            <a:xfrm>
              <a:off x="5511216" y="4531677"/>
              <a:ext cx="533658" cy="392298"/>
              <a:chOff x="4505618" y="1195981"/>
              <a:chExt cx="533658" cy="392298"/>
            </a:xfrm>
          </p:grpSpPr>
          <p:sp>
            <p:nvSpPr>
              <p:cNvPr id="89" name="Freeform 5">
                <a:extLst>
                  <a:ext uri="{FF2B5EF4-FFF2-40B4-BE49-F238E27FC236}">
                    <a16:creationId xmlns:a16="http://schemas.microsoft.com/office/drawing/2014/main" id="{AE4AD1CE-F9C2-B758-3A0B-168D49D8A593}"/>
                  </a:ext>
                </a:extLst>
              </p:cNvPr>
              <p:cNvSpPr>
                <a:spLocks noEditPoints="1"/>
              </p:cNvSpPr>
              <p:nvPr/>
            </p:nvSpPr>
            <p:spPr bwMode="auto">
              <a:xfrm>
                <a:off x="4588140" y="1296271"/>
                <a:ext cx="451136" cy="292008"/>
              </a:xfrm>
              <a:custGeom>
                <a:avLst/>
                <a:gdLst>
                  <a:gd name="T0" fmla="*/ 0 w 2483"/>
                  <a:gd name="T1" fmla="*/ 0 h 1758"/>
                  <a:gd name="T2" fmla="*/ 0 w 2483"/>
                  <a:gd name="T3" fmla="*/ 1758 h 1758"/>
                  <a:gd name="T4" fmla="*/ 2483 w 2483"/>
                  <a:gd name="T5" fmla="*/ 1758 h 1758"/>
                  <a:gd name="T6" fmla="*/ 2483 w 2483"/>
                  <a:gd name="T7" fmla="*/ 0 h 1758"/>
                  <a:gd name="T8" fmla="*/ 0 w 2483"/>
                  <a:gd name="T9" fmla="*/ 0 h 1758"/>
                  <a:gd name="T10" fmla="*/ 2418 w 2483"/>
                  <a:gd name="T11" fmla="*/ 1694 h 1758"/>
                  <a:gd name="T12" fmla="*/ 65 w 2483"/>
                  <a:gd name="T13" fmla="*/ 1694 h 1758"/>
                  <a:gd name="T14" fmla="*/ 65 w 2483"/>
                  <a:gd name="T15" fmla="*/ 65 h 1758"/>
                  <a:gd name="T16" fmla="*/ 2418 w 2483"/>
                  <a:gd name="T17" fmla="*/ 65 h 1758"/>
                  <a:gd name="T18" fmla="*/ 2418 w 2483"/>
                  <a:gd name="T19" fmla="*/ 1694 h 1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83" h="1758">
                    <a:moveTo>
                      <a:pt x="0" y="0"/>
                    </a:moveTo>
                    <a:lnTo>
                      <a:pt x="0" y="1758"/>
                    </a:lnTo>
                    <a:lnTo>
                      <a:pt x="2483" y="1758"/>
                    </a:lnTo>
                    <a:lnTo>
                      <a:pt x="2483" y="0"/>
                    </a:lnTo>
                    <a:lnTo>
                      <a:pt x="0" y="0"/>
                    </a:lnTo>
                    <a:close/>
                    <a:moveTo>
                      <a:pt x="2418" y="1694"/>
                    </a:moveTo>
                    <a:lnTo>
                      <a:pt x="65" y="1694"/>
                    </a:lnTo>
                    <a:lnTo>
                      <a:pt x="65" y="65"/>
                    </a:lnTo>
                    <a:lnTo>
                      <a:pt x="2418" y="65"/>
                    </a:lnTo>
                    <a:lnTo>
                      <a:pt x="2418" y="169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90" name="Group 89">
                <a:extLst>
                  <a:ext uri="{FF2B5EF4-FFF2-40B4-BE49-F238E27FC236}">
                    <a16:creationId xmlns:a16="http://schemas.microsoft.com/office/drawing/2014/main" id="{70233D44-C094-7519-2CA5-7D438A7415B4}"/>
                  </a:ext>
                </a:extLst>
              </p:cNvPr>
              <p:cNvGrpSpPr/>
              <p:nvPr/>
            </p:nvGrpSpPr>
            <p:grpSpPr>
              <a:xfrm>
                <a:off x="4621577" y="1326834"/>
                <a:ext cx="384263" cy="231049"/>
                <a:chOff x="1474648" y="4826879"/>
                <a:chExt cx="576585" cy="346688"/>
              </a:xfrm>
            </p:grpSpPr>
            <p:sp>
              <p:nvSpPr>
                <p:cNvPr id="103" name="Oval 6">
                  <a:extLst>
                    <a:ext uri="{FF2B5EF4-FFF2-40B4-BE49-F238E27FC236}">
                      <a16:creationId xmlns:a16="http://schemas.microsoft.com/office/drawing/2014/main" id="{48B842D5-E860-4800-2E49-504F19BB412B}"/>
                    </a:ext>
                  </a:extLst>
                </p:cNvPr>
                <p:cNvSpPr>
                  <a:spLocks noChangeArrowheads="1"/>
                </p:cNvSpPr>
                <p:nvPr/>
              </p:nvSpPr>
              <p:spPr bwMode="auto">
                <a:xfrm>
                  <a:off x="1474648" y="4826879"/>
                  <a:ext cx="31228"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Oval 7">
                  <a:extLst>
                    <a:ext uri="{FF2B5EF4-FFF2-40B4-BE49-F238E27FC236}">
                      <a16:creationId xmlns:a16="http://schemas.microsoft.com/office/drawing/2014/main" id="{D1AD3BD5-3B46-042E-200C-242A8AAB837F}"/>
                    </a:ext>
                  </a:extLst>
                </p:cNvPr>
                <p:cNvSpPr>
                  <a:spLocks noChangeArrowheads="1"/>
                </p:cNvSpPr>
                <p:nvPr/>
              </p:nvSpPr>
              <p:spPr bwMode="auto">
                <a:xfrm>
                  <a:off x="1474648" y="5142412"/>
                  <a:ext cx="31228"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Oval 8">
                  <a:extLst>
                    <a:ext uri="{FF2B5EF4-FFF2-40B4-BE49-F238E27FC236}">
                      <a16:creationId xmlns:a16="http://schemas.microsoft.com/office/drawing/2014/main" id="{B60A920D-E930-8926-1CE0-0D31A8C6E1C3}"/>
                    </a:ext>
                  </a:extLst>
                </p:cNvPr>
                <p:cNvSpPr>
                  <a:spLocks noChangeArrowheads="1"/>
                </p:cNvSpPr>
                <p:nvPr/>
              </p:nvSpPr>
              <p:spPr bwMode="auto">
                <a:xfrm>
                  <a:off x="2020253" y="4826879"/>
                  <a:ext cx="30980"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Oval 9">
                  <a:extLst>
                    <a:ext uri="{FF2B5EF4-FFF2-40B4-BE49-F238E27FC236}">
                      <a16:creationId xmlns:a16="http://schemas.microsoft.com/office/drawing/2014/main" id="{D0E2030B-BF0E-A4E1-41E4-B76406258C99}"/>
                    </a:ext>
                  </a:extLst>
                </p:cNvPr>
                <p:cNvSpPr>
                  <a:spLocks noChangeArrowheads="1"/>
                </p:cNvSpPr>
                <p:nvPr/>
              </p:nvSpPr>
              <p:spPr bwMode="auto">
                <a:xfrm>
                  <a:off x="2020253" y="5142412"/>
                  <a:ext cx="30980" cy="3115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91" name="Group 90">
                <a:extLst>
                  <a:ext uri="{FF2B5EF4-FFF2-40B4-BE49-F238E27FC236}">
                    <a16:creationId xmlns:a16="http://schemas.microsoft.com/office/drawing/2014/main" id="{F86824B1-1464-A6CE-B0FF-B7801AA59A4B}"/>
                  </a:ext>
                </a:extLst>
              </p:cNvPr>
              <p:cNvGrpSpPr/>
              <p:nvPr/>
            </p:nvGrpSpPr>
            <p:grpSpPr>
              <a:xfrm>
                <a:off x="4713786" y="1407394"/>
                <a:ext cx="199845" cy="69431"/>
                <a:chOff x="1445849" y="4947759"/>
                <a:chExt cx="299866" cy="104181"/>
              </a:xfrm>
            </p:grpSpPr>
            <p:sp>
              <p:nvSpPr>
                <p:cNvPr id="100" name="Freeform 10">
                  <a:extLst>
                    <a:ext uri="{FF2B5EF4-FFF2-40B4-BE49-F238E27FC236}">
                      <a16:creationId xmlns:a16="http://schemas.microsoft.com/office/drawing/2014/main" id="{1B12A7D5-FC21-1DEA-DC93-E7A92AEE1297}"/>
                    </a:ext>
                  </a:extLst>
                </p:cNvPr>
                <p:cNvSpPr>
                  <a:spLocks/>
                </p:cNvSpPr>
                <p:nvPr/>
              </p:nvSpPr>
              <p:spPr bwMode="auto">
                <a:xfrm>
                  <a:off x="1550675"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11">
                  <a:extLst>
                    <a:ext uri="{FF2B5EF4-FFF2-40B4-BE49-F238E27FC236}">
                      <a16:creationId xmlns:a16="http://schemas.microsoft.com/office/drawing/2014/main" id="{4BB2A6A1-B35C-F819-41F2-1EA7C189111D}"/>
                    </a:ext>
                  </a:extLst>
                </p:cNvPr>
                <p:cNvSpPr>
                  <a:spLocks noEditPoints="1"/>
                </p:cNvSpPr>
                <p:nvPr/>
              </p:nvSpPr>
              <p:spPr bwMode="auto">
                <a:xfrm>
                  <a:off x="1655501" y="4949254"/>
                  <a:ext cx="90214" cy="101190"/>
                </a:xfrm>
                <a:custGeom>
                  <a:avLst/>
                  <a:gdLst>
                    <a:gd name="T0" fmla="*/ 534 w 534"/>
                    <a:gd name="T1" fmla="*/ 297 h 596"/>
                    <a:gd name="T2" fmla="*/ 206 w 534"/>
                    <a:gd name="T3" fmla="*/ 0 h 596"/>
                    <a:gd name="T4" fmla="*/ 0 w 534"/>
                    <a:gd name="T5" fmla="*/ 0 h 596"/>
                    <a:gd name="T6" fmla="*/ 0 w 534"/>
                    <a:gd name="T7" fmla="*/ 596 h 596"/>
                    <a:gd name="T8" fmla="*/ 206 w 534"/>
                    <a:gd name="T9" fmla="*/ 596 h 596"/>
                    <a:gd name="T10" fmla="*/ 534 w 534"/>
                    <a:gd name="T11" fmla="*/ 297 h 596"/>
                    <a:gd name="T12" fmla="*/ 88 w 534"/>
                    <a:gd name="T13" fmla="*/ 80 h 596"/>
                    <a:gd name="T14" fmla="*/ 211 w 534"/>
                    <a:gd name="T15" fmla="*/ 80 h 596"/>
                    <a:gd name="T16" fmla="*/ 445 w 534"/>
                    <a:gd name="T17" fmla="*/ 297 h 596"/>
                    <a:gd name="T18" fmla="*/ 211 w 534"/>
                    <a:gd name="T19" fmla="*/ 516 h 596"/>
                    <a:gd name="T20" fmla="*/ 88 w 534"/>
                    <a:gd name="T21" fmla="*/ 516 h 596"/>
                    <a:gd name="T22" fmla="*/ 88 w 534"/>
                    <a:gd name="T23" fmla="*/ 80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4" h="596">
                      <a:moveTo>
                        <a:pt x="534" y="297"/>
                      </a:moveTo>
                      <a:cubicBezTo>
                        <a:pt x="534" y="123"/>
                        <a:pt x="398" y="0"/>
                        <a:pt x="206" y="0"/>
                      </a:cubicBezTo>
                      <a:cubicBezTo>
                        <a:pt x="0" y="0"/>
                        <a:pt x="0" y="0"/>
                        <a:pt x="0" y="0"/>
                      </a:cubicBezTo>
                      <a:cubicBezTo>
                        <a:pt x="0" y="596"/>
                        <a:pt x="0" y="596"/>
                        <a:pt x="0" y="596"/>
                      </a:cubicBezTo>
                      <a:cubicBezTo>
                        <a:pt x="206" y="596"/>
                        <a:pt x="206" y="596"/>
                        <a:pt x="206" y="596"/>
                      </a:cubicBezTo>
                      <a:cubicBezTo>
                        <a:pt x="398" y="596"/>
                        <a:pt x="534" y="472"/>
                        <a:pt x="534" y="297"/>
                      </a:cubicBezTo>
                      <a:close/>
                      <a:moveTo>
                        <a:pt x="88" y="80"/>
                      </a:moveTo>
                      <a:cubicBezTo>
                        <a:pt x="211" y="80"/>
                        <a:pt x="211" y="80"/>
                        <a:pt x="211" y="80"/>
                      </a:cubicBezTo>
                      <a:cubicBezTo>
                        <a:pt x="348" y="80"/>
                        <a:pt x="445" y="170"/>
                        <a:pt x="445" y="297"/>
                      </a:cubicBezTo>
                      <a:cubicBezTo>
                        <a:pt x="445" y="426"/>
                        <a:pt x="348" y="516"/>
                        <a:pt x="211" y="516"/>
                      </a:cubicBezTo>
                      <a:cubicBezTo>
                        <a:pt x="88" y="516"/>
                        <a:pt x="88" y="516"/>
                        <a:pt x="88" y="516"/>
                      </a:cubicBezTo>
                      <a:lnTo>
                        <a:pt x="88" y="8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10">
                  <a:extLst>
                    <a:ext uri="{FF2B5EF4-FFF2-40B4-BE49-F238E27FC236}">
                      <a16:creationId xmlns:a16="http://schemas.microsoft.com/office/drawing/2014/main" id="{39EDC07C-B045-72AF-DCCB-5226A4E04B3D}"/>
                    </a:ext>
                  </a:extLst>
                </p:cNvPr>
                <p:cNvSpPr>
                  <a:spLocks/>
                </p:cNvSpPr>
                <p:nvPr/>
              </p:nvSpPr>
              <p:spPr bwMode="auto">
                <a:xfrm>
                  <a:off x="1445849" y="4947759"/>
                  <a:ext cx="77822" cy="104181"/>
                </a:xfrm>
                <a:custGeom>
                  <a:avLst/>
                  <a:gdLst>
                    <a:gd name="T0" fmla="*/ 248 w 461"/>
                    <a:gd name="T1" fmla="*/ 538 h 615"/>
                    <a:gd name="T2" fmla="*/ 52 w 461"/>
                    <a:gd name="T3" fmla="*/ 455 h 615"/>
                    <a:gd name="T4" fmla="*/ 0 w 461"/>
                    <a:gd name="T5" fmla="*/ 520 h 615"/>
                    <a:gd name="T6" fmla="*/ 244 w 461"/>
                    <a:gd name="T7" fmla="*/ 615 h 615"/>
                    <a:gd name="T8" fmla="*/ 461 w 461"/>
                    <a:gd name="T9" fmla="*/ 438 h 615"/>
                    <a:gd name="T10" fmla="*/ 260 w 461"/>
                    <a:gd name="T11" fmla="*/ 264 h 615"/>
                    <a:gd name="T12" fmla="*/ 111 w 461"/>
                    <a:gd name="T13" fmla="*/ 166 h 615"/>
                    <a:gd name="T14" fmla="*/ 224 w 461"/>
                    <a:gd name="T15" fmla="*/ 77 h 615"/>
                    <a:gd name="T16" fmla="*/ 395 w 461"/>
                    <a:gd name="T17" fmla="*/ 150 h 615"/>
                    <a:gd name="T18" fmla="*/ 446 w 461"/>
                    <a:gd name="T19" fmla="*/ 84 h 615"/>
                    <a:gd name="T20" fmla="*/ 229 w 461"/>
                    <a:gd name="T21" fmla="*/ 0 h 615"/>
                    <a:gd name="T22" fmla="*/ 22 w 461"/>
                    <a:gd name="T23" fmla="*/ 174 h 615"/>
                    <a:gd name="T24" fmla="*/ 224 w 461"/>
                    <a:gd name="T25" fmla="*/ 347 h 615"/>
                    <a:gd name="T26" fmla="*/ 373 w 461"/>
                    <a:gd name="T27" fmla="*/ 447 h 615"/>
                    <a:gd name="T28" fmla="*/ 248 w 461"/>
                    <a:gd name="T29" fmla="*/ 53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1" h="615">
                      <a:moveTo>
                        <a:pt x="248" y="538"/>
                      </a:moveTo>
                      <a:cubicBezTo>
                        <a:pt x="167" y="538"/>
                        <a:pt x="105" y="505"/>
                        <a:pt x="52" y="455"/>
                      </a:cubicBezTo>
                      <a:cubicBezTo>
                        <a:pt x="0" y="520"/>
                        <a:pt x="0" y="520"/>
                        <a:pt x="0" y="520"/>
                      </a:cubicBezTo>
                      <a:cubicBezTo>
                        <a:pt x="62" y="581"/>
                        <a:pt x="145" y="615"/>
                        <a:pt x="244" y="615"/>
                      </a:cubicBezTo>
                      <a:cubicBezTo>
                        <a:pt x="385" y="615"/>
                        <a:pt x="461" y="539"/>
                        <a:pt x="461" y="438"/>
                      </a:cubicBezTo>
                      <a:cubicBezTo>
                        <a:pt x="461" y="332"/>
                        <a:pt x="379" y="292"/>
                        <a:pt x="260" y="264"/>
                      </a:cubicBezTo>
                      <a:cubicBezTo>
                        <a:pt x="162" y="241"/>
                        <a:pt x="111" y="222"/>
                        <a:pt x="111" y="166"/>
                      </a:cubicBezTo>
                      <a:cubicBezTo>
                        <a:pt x="111" y="118"/>
                        <a:pt x="158" y="77"/>
                        <a:pt x="224" y="77"/>
                      </a:cubicBezTo>
                      <a:cubicBezTo>
                        <a:pt x="285" y="77"/>
                        <a:pt x="345" y="104"/>
                        <a:pt x="395" y="150"/>
                      </a:cubicBezTo>
                      <a:cubicBezTo>
                        <a:pt x="446" y="84"/>
                        <a:pt x="446" y="84"/>
                        <a:pt x="446" y="84"/>
                      </a:cubicBezTo>
                      <a:cubicBezTo>
                        <a:pt x="388" y="33"/>
                        <a:pt x="320" y="0"/>
                        <a:pt x="229" y="0"/>
                      </a:cubicBezTo>
                      <a:cubicBezTo>
                        <a:pt x="108" y="0"/>
                        <a:pt x="22" y="74"/>
                        <a:pt x="22" y="174"/>
                      </a:cubicBezTo>
                      <a:cubicBezTo>
                        <a:pt x="22" y="281"/>
                        <a:pt x="102" y="318"/>
                        <a:pt x="224" y="347"/>
                      </a:cubicBezTo>
                      <a:cubicBezTo>
                        <a:pt x="323" y="369"/>
                        <a:pt x="373" y="391"/>
                        <a:pt x="373" y="447"/>
                      </a:cubicBezTo>
                      <a:cubicBezTo>
                        <a:pt x="373" y="495"/>
                        <a:pt x="330" y="538"/>
                        <a:pt x="248" y="53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92" name="Straight Connector 91">
                <a:extLst>
                  <a:ext uri="{FF2B5EF4-FFF2-40B4-BE49-F238E27FC236}">
                    <a16:creationId xmlns:a16="http://schemas.microsoft.com/office/drawing/2014/main" id="{5EF64DEB-A6CD-0274-4AC6-9FAD1B692978}"/>
                  </a:ext>
                </a:extLst>
              </p:cNvPr>
              <p:cNvCxnSpPr>
                <a:cxnSpLocks/>
              </p:cNvCxnSpPr>
              <p:nvPr/>
            </p:nvCxnSpPr>
            <p:spPr bwMode="gray">
              <a:xfrm flipH="1">
                <a:off x="4550146" y="1516262"/>
                <a:ext cx="37996"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1F368D1-09E0-E22E-C248-23921E1B0B7C}"/>
                  </a:ext>
                </a:extLst>
              </p:cNvPr>
              <p:cNvCxnSpPr>
                <a:cxnSpLocks/>
              </p:cNvCxnSpPr>
              <p:nvPr/>
            </p:nvCxnSpPr>
            <p:spPr bwMode="gray">
              <a:xfrm flipH="1">
                <a:off x="4550147" y="1248567"/>
                <a:ext cx="431005"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AACC5C7-8584-2B85-9769-A3A94802D354}"/>
                  </a:ext>
                </a:extLst>
              </p:cNvPr>
              <p:cNvCxnSpPr>
                <a:cxnSpLocks/>
              </p:cNvCxnSpPr>
              <p:nvPr/>
            </p:nvCxnSpPr>
            <p:spPr bwMode="gray">
              <a:xfrm flipV="1">
                <a:off x="4550146" y="1248569"/>
                <a:ext cx="0" cy="262945"/>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FFFA6F5-1724-A0B0-277A-CA653D492934}"/>
                  </a:ext>
                </a:extLst>
              </p:cNvPr>
              <p:cNvCxnSpPr>
                <a:cxnSpLocks/>
              </p:cNvCxnSpPr>
              <p:nvPr/>
            </p:nvCxnSpPr>
            <p:spPr bwMode="gray">
              <a:xfrm flipV="1">
                <a:off x="4981152" y="1248567"/>
                <a:ext cx="0" cy="50422"/>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C51A1598-7247-CDD8-F15D-CC5B98B08821}"/>
                  </a:ext>
                </a:extLst>
              </p:cNvPr>
              <p:cNvCxnSpPr>
                <a:cxnSpLocks/>
              </p:cNvCxnSpPr>
              <p:nvPr/>
            </p:nvCxnSpPr>
            <p:spPr bwMode="gray">
              <a:xfrm flipH="1">
                <a:off x="4505618" y="1463676"/>
                <a:ext cx="37996"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EFE603D5-5610-4739-B812-FEE26BC14636}"/>
                  </a:ext>
                </a:extLst>
              </p:cNvPr>
              <p:cNvCxnSpPr>
                <a:cxnSpLocks/>
              </p:cNvCxnSpPr>
              <p:nvPr/>
            </p:nvCxnSpPr>
            <p:spPr bwMode="gray">
              <a:xfrm flipH="1">
                <a:off x="4505619" y="1195981"/>
                <a:ext cx="431005"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D576242A-CE74-105A-E7C0-4E28C16826CB}"/>
                  </a:ext>
                </a:extLst>
              </p:cNvPr>
              <p:cNvCxnSpPr>
                <a:cxnSpLocks/>
              </p:cNvCxnSpPr>
              <p:nvPr/>
            </p:nvCxnSpPr>
            <p:spPr bwMode="gray">
              <a:xfrm flipV="1">
                <a:off x="4505618" y="1195983"/>
                <a:ext cx="0" cy="262945"/>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B253B5E-747D-9BAC-754B-DC3B2E1ACDE5}"/>
                  </a:ext>
                </a:extLst>
              </p:cNvPr>
              <p:cNvCxnSpPr>
                <a:cxnSpLocks/>
              </p:cNvCxnSpPr>
              <p:nvPr/>
            </p:nvCxnSpPr>
            <p:spPr bwMode="gray">
              <a:xfrm flipV="1">
                <a:off x="4936624" y="1195981"/>
                <a:ext cx="0" cy="50422"/>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88" name="Rectangle 87">
              <a:extLst>
                <a:ext uri="{FF2B5EF4-FFF2-40B4-BE49-F238E27FC236}">
                  <a16:creationId xmlns:a16="http://schemas.microsoft.com/office/drawing/2014/main" id="{82460D86-2238-431B-4012-0E3999F7CDFA}"/>
                </a:ext>
              </a:extLst>
            </p:cNvPr>
            <p:cNvSpPr/>
            <p:nvPr/>
          </p:nvSpPr>
          <p:spPr>
            <a:xfrm>
              <a:off x="1490687" y="4451350"/>
              <a:ext cx="4886765" cy="562927"/>
            </a:xfrm>
            <a:prstGeom prst="rect">
              <a:avLst/>
            </a:prstGeom>
            <a:noFill/>
            <a:ln w="15875">
              <a:solidFill>
                <a:schemeClr val="accent2"/>
              </a:solidFill>
              <a:prstDash val="sysDot"/>
              <a:extLst>
                <a:ext uri="{C807C97D-BFC1-408E-A445-0C87EB9F89A2}">
                  <ask:lineSketchStyleProps xmlns:ask="http://schemas.microsoft.com/office/drawing/2018/sketchyshapes" sd="1219033472">
                    <a:custGeom>
                      <a:avLst/>
                      <a:gdLst>
                        <a:gd name="connsiteX0" fmla="*/ 0 w 4652539"/>
                        <a:gd name="connsiteY0" fmla="*/ 0 h 562927"/>
                        <a:gd name="connsiteX1" fmla="*/ 4652539 w 4652539"/>
                        <a:gd name="connsiteY1" fmla="*/ 0 h 562927"/>
                        <a:gd name="connsiteX2" fmla="*/ 4652539 w 4652539"/>
                        <a:gd name="connsiteY2" fmla="*/ 562927 h 562927"/>
                        <a:gd name="connsiteX3" fmla="*/ 0 w 4652539"/>
                        <a:gd name="connsiteY3" fmla="*/ 562927 h 562927"/>
                        <a:gd name="connsiteX4" fmla="*/ 0 w 4652539"/>
                        <a:gd name="connsiteY4" fmla="*/ 0 h 562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2539" h="562927" extrusionOk="0">
                          <a:moveTo>
                            <a:pt x="0" y="0"/>
                          </a:moveTo>
                          <a:cubicBezTo>
                            <a:pt x="1167959" y="118645"/>
                            <a:pt x="3548276" y="116012"/>
                            <a:pt x="4652539" y="0"/>
                          </a:cubicBezTo>
                          <a:cubicBezTo>
                            <a:pt x="4654021" y="220172"/>
                            <a:pt x="4692498" y="327870"/>
                            <a:pt x="4652539" y="562927"/>
                          </a:cubicBezTo>
                          <a:cubicBezTo>
                            <a:pt x="3530410" y="697527"/>
                            <a:pt x="1860127" y="405731"/>
                            <a:pt x="0" y="562927"/>
                          </a:cubicBezTo>
                          <a:cubicBezTo>
                            <a:pt x="-171" y="293858"/>
                            <a:pt x="-47892" y="74336"/>
                            <a:pt x="0" y="0"/>
                          </a:cubicBezTo>
                          <a:close/>
                        </a:path>
                      </a:pathLst>
                    </a:custGeom>
                    <ask:type>
                      <ask:lineSketchNone/>
                    </ask:type>
                  </ask:lineSketchStyleProps>
                </a:ext>
              </a:extLs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grpSp>
        <p:nvGrpSpPr>
          <p:cNvPr id="143" name="Group 142">
            <a:extLst>
              <a:ext uri="{FF2B5EF4-FFF2-40B4-BE49-F238E27FC236}">
                <a16:creationId xmlns:a16="http://schemas.microsoft.com/office/drawing/2014/main" id="{BE7A27F6-77F0-620A-7283-436512157D2A}"/>
              </a:ext>
            </a:extLst>
          </p:cNvPr>
          <p:cNvGrpSpPr/>
          <p:nvPr/>
        </p:nvGrpSpPr>
        <p:grpSpPr>
          <a:xfrm>
            <a:off x="944058" y="4189922"/>
            <a:ext cx="479782" cy="479782"/>
            <a:chOff x="-2847764" y="255716"/>
            <a:chExt cx="1828959" cy="1828959"/>
          </a:xfrm>
        </p:grpSpPr>
        <p:sp>
          <p:nvSpPr>
            <p:cNvPr id="144" name="Oval 143">
              <a:extLst>
                <a:ext uri="{FF2B5EF4-FFF2-40B4-BE49-F238E27FC236}">
                  <a16:creationId xmlns:a16="http://schemas.microsoft.com/office/drawing/2014/main" id="{2540A4EA-8DE7-1E0E-34C9-6CC00A83D0A7}"/>
                </a:ext>
              </a:extLst>
            </p:cNvPr>
            <p:cNvSpPr/>
            <p:nvPr/>
          </p:nvSpPr>
          <p:spPr>
            <a:xfrm>
              <a:off x="-2847764" y="255716"/>
              <a:ext cx="1828959" cy="1828959"/>
            </a:xfrm>
            <a:prstGeom prst="ellipse">
              <a:avLst/>
            </a:prstGeom>
            <a:solidFill>
              <a:schemeClr val="accent5"/>
            </a:solidFill>
            <a:ln w="762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145" name="Graphic 144">
              <a:extLst>
                <a:ext uri="{FF2B5EF4-FFF2-40B4-BE49-F238E27FC236}">
                  <a16:creationId xmlns:a16="http://schemas.microsoft.com/office/drawing/2014/main" id="{1D0D6DFA-F2C0-E67D-67A9-672413E2499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06336" y="585946"/>
              <a:ext cx="1155847" cy="1093609"/>
            </a:xfrm>
            <a:prstGeom prst="rect">
              <a:avLst/>
            </a:prstGeom>
          </p:spPr>
        </p:pic>
      </p:grpSp>
      <p:grpSp>
        <p:nvGrpSpPr>
          <p:cNvPr id="146" name="Group 145">
            <a:extLst>
              <a:ext uri="{FF2B5EF4-FFF2-40B4-BE49-F238E27FC236}">
                <a16:creationId xmlns:a16="http://schemas.microsoft.com/office/drawing/2014/main" id="{21D30E0F-C32D-4680-DEC7-F2DC6680C058}"/>
              </a:ext>
            </a:extLst>
          </p:cNvPr>
          <p:cNvGrpSpPr/>
          <p:nvPr/>
        </p:nvGrpSpPr>
        <p:grpSpPr>
          <a:xfrm>
            <a:off x="7254367" y="4189922"/>
            <a:ext cx="479783" cy="479783"/>
            <a:chOff x="5791654" y="6169606"/>
            <a:chExt cx="479783" cy="479783"/>
          </a:xfrm>
        </p:grpSpPr>
        <p:sp>
          <p:nvSpPr>
            <p:cNvPr id="147" name="Oval 146">
              <a:extLst>
                <a:ext uri="{FF2B5EF4-FFF2-40B4-BE49-F238E27FC236}">
                  <a16:creationId xmlns:a16="http://schemas.microsoft.com/office/drawing/2014/main" id="{7074B040-FFDC-06E4-CFF8-4C22F86E03C5}"/>
                </a:ext>
              </a:extLst>
            </p:cNvPr>
            <p:cNvSpPr/>
            <p:nvPr/>
          </p:nvSpPr>
          <p:spPr>
            <a:xfrm>
              <a:off x="5791654" y="6169606"/>
              <a:ext cx="479783" cy="479783"/>
            </a:xfrm>
            <a:prstGeom prst="ellipse">
              <a:avLst/>
            </a:prstGeom>
            <a:solidFill>
              <a:schemeClr val="accent5"/>
            </a:solidFill>
            <a:ln w="762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pic>
          <p:nvPicPr>
            <p:cNvPr id="148" name="Graphic 147">
              <a:extLst>
                <a:ext uri="{FF2B5EF4-FFF2-40B4-BE49-F238E27FC236}">
                  <a16:creationId xmlns:a16="http://schemas.microsoft.com/office/drawing/2014/main" id="{D43F45D5-85E1-8B2D-429B-CD3F5A68DA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06765" y="6263327"/>
              <a:ext cx="249560" cy="292341"/>
            </a:xfrm>
            <a:prstGeom prst="rect">
              <a:avLst/>
            </a:prstGeom>
          </p:spPr>
        </p:pic>
        <p:sp>
          <p:nvSpPr>
            <p:cNvPr id="149" name="TextBox 148">
              <a:extLst>
                <a:ext uri="{FF2B5EF4-FFF2-40B4-BE49-F238E27FC236}">
                  <a16:creationId xmlns:a16="http://schemas.microsoft.com/office/drawing/2014/main" id="{F6D276FB-1F7A-BE4B-B8F5-E5480AF1745F}"/>
                </a:ext>
              </a:extLst>
            </p:cNvPr>
            <p:cNvSpPr txBox="1"/>
            <p:nvPr/>
          </p:nvSpPr>
          <p:spPr>
            <a:xfrm>
              <a:off x="5906765" y="6347942"/>
              <a:ext cx="249560" cy="123111"/>
            </a:xfrm>
            <a:prstGeom prst="rect">
              <a:avLst/>
            </a:prstGeom>
          </p:spPr>
          <p:txBody>
            <a:bodyPr wrap="square" lIns="0" tIns="0" rIns="0" bIns="0" rtlCol="0">
              <a:spAutoFit/>
            </a:bodyPr>
            <a:lstStyle/>
            <a:p>
              <a:pPr algn="ctr">
                <a:spcAft>
                  <a:spcPts val="600"/>
                </a:spcAft>
              </a:pPr>
              <a:r>
                <a:rPr lang="en-US" sz="800" dirty="0">
                  <a:solidFill>
                    <a:schemeClr val="bg1"/>
                  </a:solidFill>
                </a:rPr>
                <a:t>DiT</a:t>
              </a:r>
            </a:p>
          </p:txBody>
        </p:sp>
      </p:grpSp>
      <p:sp>
        <p:nvSpPr>
          <p:cNvPr id="150" name="Text Placeholder 34">
            <a:extLst>
              <a:ext uri="{FF2B5EF4-FFF2-40B4-BE49-F238E27FC236}">
                <a16:creationId xmlns:a16="http://schemas.microsoft.com/office/drawing/2014/main" id="{AAB51C85-D6EB-C789-8A40-311ABFE0BD94}"/>
              </a:ext>
            </a:extLst>
          </p:cNvPr>
          <p:cNvSpPr txBox="1">
            <a:spLocks/>
          </p:cNvSpPr>
          <p:nvPr/>
        </p:nvSpPr>
        <p:spPr>
          <a:xfrm>
            <a:off x="592654" y="4724020"/>
            <a:ext cx="1182590" cy="222234"/>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algn="ctr">
              <a:spcBef>
                <a:spcPts val="0"/>
              </a:spcBef>
            </a:pPr>
            <a:r>
              <a:rPr lang="en-US" sz="1200" dirty="0"/>
              <a:t>Data-at-Rest</a:t>
            </a:r>
            <a:br>
              <a:rPr lang="en-US" sz="1200" dirty="0"/>
            </a:br>
            <a:r>
              <a:rPr lang="en-US" sz="1200" dirty="0"/>
              <a:t>Encryption</a:t>
            </a:r>
          </a:p>
        </p:txBody>
      </p:sp>
      <p:grpSp>
        <p:nvGrpSpPr>
          <p:cNvPr id="305" name="Group 304">
            <a:extLst>
              <a:ext uri="{FF2B5EF4-FFF2-40B4-BE49-F238E27FC236}">
                <a16:creationId xmlns:a16="http://schemas.microsoft.com/office/drawing/2014/main" id="{96135E6A-BB74-5562-6B86-1E69DDDB2975}"/>
              </a:ext>
            </a:extLst>
          </p:cNvPr>
          <p:cNvGrpSpPr/>
          <p:nvPr/>
        </p:nvGrpSpPr>
        <p:grpSpPr>
          <a:xfrm>
            <a:off x="3765219" y="3953350"/>
            <a:ext cx="1230909" cy="236573"/>
            <a:chOff x="3478533" y="3953350"/>
            <a:chExt cx="1230909" cy="236573"/>
          </a:xfrm>
        </p:grpSpPr>
        <p:pic>
          <p:nvPicPr>
            <p:cNvPr id="65" name="Graphic 64">
              <a:extLst>
                <a:ext uri="{FF2B5EF4-FFF2-40B4-BE49-F238E27FC236}">
                  <a16:creationId xmlns:a16="http://schemas.microsoft.com/office/drawing/2014/main" id="{3A9D080B-CED9-732B-F832-C46B5AE6710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78533" y="3953350"/>
              <a:ext cx="334464" cy="236573"/>
            </a:xfrm>
            <a:prstGeom prst="rect">
              <a:avLst/>
            </a:prstGeom>
          </p:spPr>
        </p:pic>
        <p:pic>
          <p:nvPicPr>
            <p:cNvPr id="66" name="Graphic 65">
              <a:extLst>
                <a:ext uri="{FF2B5EF4-FFF2-40B4-BE49-F238E27FC236}">
                  <a16:creationId xmlns:a16="http://schemas.microsoft.com/office/drawing/2014/main" id="{504DF177-9407-3F60-9C67-93E17C1A361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74978" y="3953350"/>
              <a:ext cx="334464" cy="236573"/>
            </a:xfrm>
            <a:prstGeom prst="rect">
              <a:avLst/>
            </a:prstGeom>
          </p:spPr>
        </p:pic>
        <p:pic>
          <p:nvPicPr>
            <p:cNvPr id="154" name="Graphic 153">
              <a:extLst>
                <a:ext uri="{FF2B5EF4-FFF2-40B4-BE49-F238E27FC236}">
                  <a16:creationId xmlns:a16="http://schemas.microsoft.com/office/drawing/2014/main" id="{F55E0E30-34B6-8029-10FF-F4E10AA0329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26756" y="3953350"/>
              <a:ext cx="334464" cy="236573"/>
            </a:xfrm>
            <a:prstGeom prst="rect">
              <a:avLst/>
            </a:prstGeom>
          </p:spPr>
        </p:pic>
      </p:grpSp>
      <p:grpSp>
        <p:nvGrpSpPr>
          <p:cNvPr id="301" name="Group 300">
            <a:extLst>
              <a:ext uri="{FF2B5EF4-FFF2-40B4-BE49-F238E27FC236}">
                <a16:creationId xmlns:a16="http://schemas.microsoft.com/office/drawing/2014/main" id="{774A17EE-E028-1BD2-9CE5-4248A2053B6E}"/>
              </a:ext>
            </a:extLst>
          </p:cNvPr>
          <p:cNvGrpSpPr/>
          <p:nvPr/>
        </p:nvGrpSpPr>
        <p:grpSpPr>
          <a:xfrm>
            <a:off x="5481055" y="3811942"/>
            <a:ext cx="1407630" cy="377981"/>
            <a:chOff x="5481055" y="3811942"/>
            <a:chExt cx="1407630" cy="377981"/>
          </a:xfrm>
        </p:grpSpPr>
        <p:grpSp>
          <p:nvGrpSpPr>
            <p:cNvPr id="156" name="Picture Placeholder 75" descr="vSAN Object Storage&#10;">
              <a:extLst>
                <a:ext uri="{FF2B5EF4-FFF2-40B4-BE49-F238E27FC236}">
                  <a16:creationId xmlns:a16="http://schemas.microsoft.com/office/drawing/2014/main" id="{C2A96A1F-BDED-DECE-1FEC-087584B2C50A}"/>
                </a:ext>
              </a:extLst>
            </p:cNvPr>
            <p:cNvGrpSpPr/>
            <p:nvPr/>
          </p:nvGrpSpPr>
          <p:grpSpPr>
            <a:xfrm>
              <a:off x="5481055" y="3811942"/>
              <a:ext cx="377048" cy="377981"/>
              <a:chOff x="4409948" y="5085582"/>
              <a:chExt cx="666228" cy="667877"/>
            </a:xfrm>
            <a:solidFill>
              <a:schemeClr val="accent2"/>
            </a:solidFill>
          </p:grpSpPr>
          <p:sp>
            <p:nvSpPr>
              <p:cNvPr id="157" name="Picture Placeholder 75">
                <a:extLst>
                  <a:ext uri="{FF2B5EF4-FFF2-40B4-BE49-F238E27FC236}">
                    <a16:creationId xmlns:a16="http://schemas.microsoft.com/office/drawing/2014/main" id="{229DA9EF-E75C-D4DA-ADF3-5699D27B1D15}"/>
                  </a:ext>
                </a:extLst>
              </p:cNvPr>
              <p:cNvSpPr/>
              <p:nvPr/>
            </p:nvSpPr>
            <p:spPr>
              <a:xfrm>
                <a:off x="4609172" y="5442289"/>
                <a:ext cx="146739" cy="153055"/>
              </a:xfrm>
              <a:custGeom>
                <a:avLst/>
                <a:gdLst>
                  <a:gd name="connsiteX0" fmla="*/ 73365 w 146739"/>
                  <a:gd name="connsiteY0" fmla="*/ 15812 h 153055"/>
                  <a:gd name="connsiteX1" fmla="*/ 130919 w 146739"/>
                  <a:gd name="connsiteY1" fmla="*/ 76528 h 153055"/>
                  <a:gd name="connsiteX2" fmla="*/ 73365 w 146739"/>
                  <a:gd name="connsiteY2" fmla="*/ 137244 h 153055"/>
                  <a:gd name="connsiteX3" fmla="*/ 15812 w 146739"/>
                  <a:gd name="connsiteY3" fmla="*/ 76528 h 153055"/>
                  <a:gd name="connsiteX4" fmla="*/ 73365 w 146739"/>
                  <a:gd name="connsiteY4" fmla="*/ 15812 h 153055"/>
                  <a:gd name="connsiteX5" fmla="*/ 73365 w 146739"/>
                  <a:gd name="connsiteY5" fmla="*/ 0 h 153055"/>
                  <a:gd name="connsiteX6" fmla="*/ 0 w 146739"/>
                  <a:gd name="connsiteY6" fmla="*/ 76528 h 153055"/>
                  <a:gd name="connsiteX7" fmla="*/ 73365 w 146739"/>
                  <a:gd name="connsiteY7" fmla="*/ 153055 h 153055"/>
                  <a:gd name="connsiteX8" fmla="*/ 146731 w 146739"/>
                  <a:gd name="connsiteY8" fmla="*/ 76528 h 153055"/>
                  <a:gd name="connsiteX9" fmla="*/ 73365 w 146739"/>
                  <a:gd name="connsiteY9" fmla="*/ 0 h 153055"/>
                  <a:gd name="connsiteX10" fmla="*/ 73365 w 146739"/>
                  <a:gd name="connsiteY10" fmla="*/ 0 h 153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739" h="153055">
                    <a:moveTo>
                      <a:pt x="73365" y="15812"/>
                    </a:moveTo>
                    <a:cubicBezTo>
                      <a:pt x="104988" y="15812"/>
                      <a:pt x="130919" y="43007"/>
                      <a:pt x="130919" y="76528"/>
                    </a:cubicBezTo>
                    <a:cubicBezTo>
                      <a:pt x="130919" y="110048"/>
                      <a:pt x="104988" y="137244"/>
                      <a:pt x="73365" y="137244"/>
                    </a:cubicBezTo>
                    <a:cubicBezTo>
                      <a:pt x="41742" y="137244"/>
                      <a:pt x="15812" y="110048"/>
                      <a:pt x="15812" y="76528"/>
                    </a:cubicBezTo>
                    <a:cubicBezTo>
                      <a:pt x="15812" y="43007"/>
                      <a:pt x="41742" y="15812"/>
                      <a:pt x="73365" y="15812"/>
                    </a:cubicBezTo>
                    <a:moveTo>
                      <a:pt x="73365" y="0"/>
                    </a:moveTo>
                    <a:cubicBezTo>
                      <a:pt x="32888" y="0"/>
                      <a:pt x="0" y="34153"/>
                      <a:pt x="0" y="76528"/>
                    </a:cubicBezTo>
                    <a:cubicBezTo>
                      <a:pt x="0" y="118902"/>
                      <a:pt x="32888" y="153055"/>
                      <a:pt x="73365" y="153055"/>
                    </a:cubicBezTo>
                    <a:cubicBezTo>
                      <a:pt x="113843" y="153055"/>
                      <a:pt x="146731" y="118902"/>
                      <a:pt x="146731" y="76528"/>
                    </a:cubicBezTo>
                    <a:cubicBezTo>
                      <a:pt x="147363" y="34153"/>
                      <a:pt x="113843" y="0"/>
                      <a:pt x="73365" y="0"/>
                    </a:cubicBezTo>
                    <a:lnTo>
                      <a:pt x="73365" y="0"/>
                    </a:lnTo>
                    <a:close/>
                  </a:path>
                </a:pathLst>
              </a:custGeom>
              <a:solidFill>
                <a:schemeClr val="accent2"/>
              </a:solidFill>
              <a:ln w="6271" cap="flat">
                <a:noFill/>
                <a:prstDash val="solid"/>
                <a:miter/>
              </a:ln>
            </p:spPr>
            <p:txBody>
              <a:bodyPr rtlCol="0" anchor="ctr"/>
              <a:lstStyle/>
              <a:p>
                <a:endParaRPr lang="en-US"/>
              </a:p>
            </p:txBody>
          </p:sp>
          <p:sp>
            <p:nvSpPr>
              <p:cNvPr id="158" name="Picture Placeholder 75">
                <a:extLst>
                  <a:ext uri="{FF2B5EF4-FFF2-40B4-BE49-F238E27FC236}">
                    <a16:creationId xmlns:a16="http://schemas.microsoft.com/office/drawing/2014/main" id="{300CAE1C-D3D8-2FA4-C8AB-9B2EFF72864D}"/>
                  </a:ext>
                </a:extLst>
              </p:cNvPr>
              <p:cNvSpPr/>
              <p:nvPr/>
            </p:nvSpPr>
            <p:spPr>
              <a:xfrm>
                <a:off x="4776774" y="5554234"/>
                <a:ext cx="144833" cy="150525"/>
              </a:xfrm>
              <a:custGeom>
                <a:avLst/>
                <a:gdLst>
                  <a:gd name="connsiteX0" fmla="*/ 129022 w 144833"/>
                  <a:gd name="connsiteY0" fmla="*/ 15812 h 150525"/>
                  <a:gd name="connsiteX1" fmla="*/ 129022 w 144833"/>
                  <a:gd name="connsiteY1" fmla="*/ 134714 h 150525"/>
                  <a:gd name="connsiteX2" fmla="*/ 15812 w 144833"/>
                  <a:gd name="connsiteY2" fmla="*/ 134714 h 150525"/>
                  <a:gd name="connsiteX3" fmla="*/ 15812 w 144833"/>
                  <a:gd name="connsiteY3" fmla="*/ 15812 h 150525"/>
                  <a:gd name="connsiteX4" fmla="*/ 129022 w 144833"/>
                  <a:gd name="connsiteY4" fmla="*/ 15812 h 150525"/>
                  <a:gd name="connsiteX5" fmla="*/ 144833 w 144833"/>
                  <a:gd name="connsiteY5" fmla="*/ 0 h 150525"/>
                  <a:gd name="connsiteX6" fmla="*/ 0 w 144833"/>
                  <a:gd name="connsiteY6" fmla="*/ 0 h 150525"/>
                  <a:gd name="connsiteX7" fmla="*/ 0 w 144833"/>
                  <a:gd name="connsiteY7" fmla="*/ 150526 h 150525"/>
                  <a:gd name="connsiteX8" fmla="*/ 144833 w 144833"/>
                  <a:gd name="connsiteY8" fmla="*/ 150526 h 150525"/>
                  <a:gd name="connsiteX9" fmla="*/ 144833 w 144833"/>
                  <a:gd name="connsiteY9" fmla="*/ 0 h 150525"/>
                  <a:gd name="connsiteX10" fmla="*/ 144833 w 144833"/>
                  <a:gd name="connsiteY10" fmla="*/ 0 h 15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833" h="150525">
                    <a:moveTo>
                      <a:pt x="129022" y="15812"/>
                    </a:moveTo>
                    <a:lnTo>
                      <a:pt x="129022" y="134714"/>
                    </a:lnTo>
                    <a:lnTo>
                      <a:pt x="15812" y="134714"/>
                    </a:lnTo>
                    <a:lnTo>
                      <a:pt x="15812" y="15812"/>
                    </a:lnTo>
                    <a:lnTo>
                      <a:pt x="129022" y="15812"/>
                    </a:lnTo>
                    <a:moveTo>
                      <a:pt x="144833" y="0"/>
                    </a:moveTo>
                    <a:lnTo>
                      <a:pt x="0" y="0"/>
                    </a:lnTo>
                    <a:lnTo>
                      <a:pt x="0" y="150526"/>
                    </a:lnTo>
                    <a:lnTo>
                      <a:pt x="144833" y="150526"/>
                    </a:lnTo>
                    <a:lnTo>
                      <a:pt x="144833" y="0"/>
                    </a:lnTo>
                    <a:lnTo>
                      <a:pt x="144833" y="0"/>
                    </a:lnTo>
                    <a:close/>
                  </a:path>
                </a:pathLst>
              </a:custGeom>
              <a:solidFill>
                <a:schemeClr val="accent2"/>
              </a:solidFill>
              <a:ln w="6271" cap="flat">
                <a:noFill/>
                <a:prstDash val="solid"/>
                <a:miter/>
              </a:ln>
            </p:spPr>
            <p:txBody>
              <a:bodyPr rtlCol="0" anchor="ctr"/>
              <a:lstStyle/>
              <a:p>
                <a:endParaRPr lang="en-US"/>
              </a:p>
            </p:txBody>
          </p:sp>
          <p:sp>
            <p:nvSpPr>
              <p:cNvPr id="159" name="Picture Placeholder 75">
                <a:extLst>
                  <a:ext uri="{FF2B5EF4-FFF2-40B4-BE49-F238E27FC236}">
                    <a16:creationId xmlns:a16="http://schemas.microsoft.com/office/drawing/2014/main" id="{B42343FB-3A35-D95E-71EA-3E27E1B83460}"/>
                  </a:ext>
                </a:extLst>
              </p:cNvPr>
              <p:cNvSpPr/>
              <p:nvPr/>
            </p:nvSpPr>
            <p:spPr>
              <a:xfrm>
                <a:off x="4776774" y="5191202"/>
                <a:ext cx="201122" cy="208711"/>
              </a:xfrm>
              <a:custGeom>
                <a:avLst/>
                <a:gdLst>
                  <a:gd name="connsiteX0" fmla="*/ 99929 w 201122"/>
                  <a:gd name="connsiteY0" fmla="*/ 22769 h 208711"/>
                  <a:gd name="connsiteX1" fmla="*/ 178354 w 201122"/>
                  <a:gd name="connsiteY1" fmla="*/ 104356 h 208711"/>
                  <a:gd name="connsiteX2" fmla="*/ 99929 w 201122"/>
                  <a:gd name="connsiteY2" fmla="*/ 185943 h 208711"/>
                  <a:gd name="connsiteX3" fmla="*/ 21504 w 201122"/>
                  <a:gd name="connsiteY3" fmla="*/ 104356 h 208711"/>
                  <a:gd name="connsiteX4" fmla="*/ 99929 w 201122"/>
                  <a:gd name="connsiteY4" fmla="*/ 22769 h 208711"/>
                  <a:gd name="connsiteX5" fmla="*/ 99929 w 201122"/>
                  <a:gd name="connsiteY5" fmla="*/ 0 h 208711"/>
                  <a:gd name="connsiteX6" fmla="*/ 0 w 201122"/>
                  <a:gd name="connsiteY6" fmla="*/ 104356 h 208711"/>
                  <a:gd name="connsiteX7" fmla="*/ 100561 w 201122"/>
                  <a:gd name="connsiteY7" fmla="*/ 208712 h 208711"/>
                  <a:gd name="connsiteX8" fmla="*/ 201122 w 201122"/>
                  <a:gd name="connsiteY8" fmla="*/ 104356 h 208711"/>
                  <a:gd name="connsiteX9" fmla="*/ 99929 w 201122"/>
                  <a:gd name="connsiteY9" fmla="*/ 0 h 208711"/>
                  <a:gd name="connsiteX10" fmla="*/ 99929 w 201122"/>
                  <a:gd name="connsiteY10" fmla="*/ 0 h 20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122" h="208711">
                    <a:moveTo>
                      <a:pt x="99929" y="22769"/>
                    </a:moveTo>
                    <a:lnTo>
                      <a:pt x="178354" y="104356"/>
                    </a:lnTo>
                    <a:lnTo>
                      <a:pt x="99929" y="185943"/>
                    </a:lnTo>
                    <a:lnTo>
                      <a:pt x="21504" y="104356"/>
                    </a:lnTo>
                    <a:lnTo>
                      <a:pt x="99929" y="22769"/>
                    </a:lnTo>
                    <a:moveTo>
                      <a:pt x="99929" y="0"/>
                    </a:moveTo>
                    <a:lnTo>
                      <a:pt x="0" y="104356"/>
                    </a:lnTo>
                    <a:lnTo>
                      <a:pt x="100561" y="208712"/>
                    </a:lnTo>
                    <a:lnTo>
                      <a:pt x="201122" y="104356"/>
                    </a:lnTo>
                    <a:lnTo>
                      <a:pt x="99929" y="0"/>
                    </a:lnTo>
                    <a:lnTo>
                      <a:pt x="99929" y="0"/>
                    </a:lnTo>
                    <a:close/>
                  </a:path>
                </a:pathLst>
              </a:custGeom>
              <a:solidFill>
                <a:schemeClr val="accent2"/>
              </a:solidFill>
              <a:ln w="6271" cap="flat">
                <a:noFill/>
                <a:prstDash val="solid"/>
                <a:miter/>
              </a:ln>
            </p:spPr>
            <p:txBody>
              <a:bodyPr rtlCol="0" anchor="ctr"/>
              <a:lstStyle/>
              <a:p>
                <a:endParaRPr lang="en-US"/>
              </a:p>
            </p:txBody>
          </p:sp>
          <p:sp>
            <p:nvSpPr>
              <p:cNvPr id="160" name="Picture Placeholder 75">
                <a:extLst>
                  <a:ext uri="{FF2B5EF4-FFF2-40B4-BE49-F238E27FC236}">
                    <a16:creationId xmlns:a16="http://schemas.microsoft.com/office/drawing/2014/main" id="{72BF2A5E-6B4C-C114-7508-DE53F1C8080A}"/>
                  </a:ext>
                </a:extLst>
              </p:cNvPr>
              <p:cNvSpPr/>
              <p:nvPr/>
            </p:nvSpPr>
            <p:spPr>
              <a:xfrm>
                <a:off x="4409948" y="5085582"/>
                <a:ext cx="6324" cy="6324"/>
              </a:xfrm>
              <a:custGeom>
                <a:avLst/>
                <a:gdLst/>
                <a:ahLst/>
                <a:cxnLst/>
                <a:rect l="l" t="t" r="r" b="b"/>
                <a:pathLst>
                  <a:path w="6324" h="6324"/>
                </a:pathLst>
              </a:custGeom>
              <a:solidFill>
                <a:schemeClr val="accent2"/>
              </a:solidFill>
              <a:ln w="6271" cap="flat">
                <a:noFill/>
                <a:prstDash val="solid"/>
                <a:miter/>
              </a:ln>
            </p:spPr>
            <p:txBody>
              <a:bodyPr rtlCol="0" anchor="ctr"/>
              <a:lstStyle/>
              <a:p>
                <a:endParaRPr lang="en-US"/>
              </a:p>
            </p:txBody>
          </p:sp>
          <p:sp>
            <p:nvSpPr>
              <p:cNvPr id="161" name="Picture Placeholder 75">
                <a:extLst>
                  <a:ext uri="{FF2B5EF4-FFF2-40B4-BE49-F238E27FC236}">
                    <a16:creationId xmlns:a16="http://schemas.microsoft.com/office/drawing/2014/main" id="{BF8CB7B1-23CC-68F8-9E49-D5978C74432C}"/>
                  </a:ext>
                </a:extLst>
              </p:cNvPr>
              <p:cNvSpPr/>
              <p:nvPr/>
            </p:nvSpPr>
            <p:spPr>
              <a:xfrm>
                <a:off x="4503303" y="5247491"/>
                <a:ext cx="572872" cy="505967"/>
              </a:xfrm>
              <a:custGeom>
                <a:avLst/>
                <a:gdLst>
                  <a:gd name="connsiteX0" fmla="*/ 453722 w 572872"/>
                  <a:gd name="connsiteY0" fmla="*/ 505968 h 505967"/>
                  <a:gd name="connsiteX1" fmla="*/ 119151 w 572872"/>
                  <a:gd name="connsiteY1" fmla="*/ 505968 h 505967"/>
                  <a:gd name="connsiteX2" fmla="*/ 111561 w 572872"/>
                  <a:gd name="connsiteY2" fmla="*/ 499643 h 505967"/>
                  <a:gd name="connsiteX3" fmla="*/ 248 w 572872"/>
                  <a:gd name="connsiteY3" fmla="*/ 10119 h 505967"/>
                  <a:gd name="connsiteX4" fmla="*/ 1513 w 572872"/>
                  <a:gd name="connsiteY4" fmla="*/ 3162 h 505967"/>
                  <a:gd name="connsiteX5" fmla="*/ 7838 w 572872"/>
                  <a:gd name="connsiteY5" fmla="*/ 0 h 505967"/>
                  <a:gd name="connsiteX6" fmla="*/ 272838 w 572872"/>
                  <a:gd name="connsiteY6" fmla="*/ 0 h 505967"/>
                  <a:gd name="connsiteX7" fmla="*/ 280428 w 572872"/>
                  <a:gd name="connsiteY7" fmla="*/ 7590 h 505967"/>
                  <a:gd name="connsiteX8" fmla="*/ 272838 w 572872"/>
                  <a:gd name="connsiteY8" fmla="*/ 15179 h 505967"/>
                  <a:gd name="connsiteX9" fmla="*/ 17957 w 572872"/>
                  <a:gd name="connsiteY9" fmla="*/ 15179 h 505967"/>
                  <a:gd name="connsiteX10" fmla="*/ 126108 w 572872"/>
                  <a:gd name="connsiteY10" fmla="*/ 489524 h 505967"/>
                  <a:gd name="connsiteX11" fmla="*/ 448030 w 572872"/>
                  <a:gd name="connsiteY11" fmla="*/ 489524 h 505967"/>
                  <a:gd name="connsiteX12" fmla="*/ 556180 w 572872"/>
                  <a:gd name="connsiteY12" fmla="*/ 15179 h 505967"/>
                  <a:gd name="connsiteX13" fmla="*/ 474593 w 572872"/>
                  <a:gd name="connsiteY13" fmla="*/ 15179 h 505967"/>
                  <a:gd name="connsiteX14" fmla="*/ 467004 w 572872"/>
                  <a:gd name="connsiteY14" fmla="*/ 7590 h 505967"/>
                  <a:gd name="connsiteX15" fmla="*/ 474593 w 572872"/>
                  <a:gd name="connsiteY15" fmla="*/ 0 h 505967"/>
                  <a:gd name="connsiteX16" fmla="*/ 565035 w 572872"/>
                  <a:gd name="connsiteY16" fmla="*/ 0 h 505967"/>
                  <a:gd name="connsiteX17" fmla="*/ 571360 w 572872"/>
                  <a:gd name="connsiteY17" fmla="*/ 3162 h 505967"/>
                  <a:gd name="connsiteX18" fmla="*/ 572624 w 572872"/>
                  <a:gd name="connsiteY18" fmla="*/ 10119 h 505967"/>
                  <a:gd name="connsiteX19" fmla="*/ 461311 w 572872"/>
                  <a:gd name="connsiteY19" fmla="*/ 500276 h 505967"/>
                  <a:gd name="connsiteX20" fmla="*/ 453722 w 572872"/>
                  <a:gd name="connsiteY20" fmla="*/ 505968 h 505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2872" h="505967">
                    <a:moveTo>
                      <a:pt x="453722" y="505968"/>
                    </a:moveTo>
                    <a:lnTo>
                      <a:pt x="119151" y="505968"/>
                    </a:lnTo>
                    <a:cubicBezTo>
                      <a:pt x="115356" y="505968"/>
                      <a:pt x="112194" y="503438"/>
                      <a:pt x="111561" y="499643"/>
                    </a:cubicBezTo>
                    <a:lnTo>
                      <a:pt x="248" y="10119"/>
                    </a:lnTo>
                    <a:cubicBezTo>
                      <a:pt x="-384" y="7590"/>
                      <a:pt x="248" y="5060"/>
                      <a:pt x="1513" y="3162"/>
                    </a:cubicBezTo>
                    <a:cubicBezTo>
                      <a:pt x="2778" y="1265"/>
                      <a:pt x="5308" y="0"/>
                      <a:pt x="7838" y="0"/>
                    </a:cubicBezTo>
                    <a:lnTo>
                      <a:pt x="272838" y="0"/>
                    </a:lnTo>
                    <a:cubicBezTo>
                      <a:pt x="277266" y="0"/>
                      <a:pt x="280428" y="3795"/>
                      <a:pt x="280428" y="7590"/>
                    </a:cubicBezTo>
                    <a:cubicBezTo>
                      <a:pt x="280428" y="11384"/>
                      <a:pt x="276633" y="15179"/>
                      <a:pt x="272838" y="15179"/>
                    </a:cubicBezTo>
                    <a:lnTo>
                      <a:pt x="17957" y="15179"/>
                    </a:lnTo>
                    <a:lnTo>
                      <a:pt x="126108" y="489524"/>
                    </a:lnTo>
                    <a:lnTo>
                      <a:pt x="448030" y="489524"/>
                    </a:lnTo>
                    <a:lnTo>
                      <a:pt x="556180" y="15179"/>
                    </a:lnTo>
                    <a:lnTo>
                      <a:pt x="474593" y="15179"/>
                    </a:lnTo>
                    <a:cubicBezTo>
                      <a:pt x="470166" y="15179"/>
                      <a:pt x="467004" y="11384"/>
                      <a:pt x="467004" y="7590"/>
                    </a:cubicBezTo>
                    <a:cubicBezTo>
                      <a:pt x="467004" y="3795"/>
                      <a:pt x="470798" y="0"/>
                      <a:pt x="474593" y="0"/>
                    </a:cubicBezTo>
                    <a:lnTo>
                      <a:pt x="565035" y="0"/>
                    </a:lnTo>
                    <a:cubicBezTo>
                      <a:pt x="567565" y="0"/>
                      <a:pt x="569462" y="1265"/>
                      <a:pt x="571360" y="3162"/>
                    </a:cubicBezTo>
                    <a:cubicBezTo>
                      <a:pt x="572624" y="5060"/>
                      <a:pt x="573257" y="7590"/>
                      <a:pt x="572624" y="10119"/>
                    </a:cubicBezTo>
                    <a:lnTo>
                      <a:pt x="461311" y="500276"/>
                    </a:lnTo>
                    <a:cubicBezTo>
                      <a:pt x="460679" y="503438"/>
                      <a:pt x="457517" y="505968"/>
                      <a:pt x="453722" y="505968"/>
                    </a:cubicBezTo>
                    <a:close/>
                  </a:path>
                </a:pathLst>
              </a:custGeom>
              <a:solidFill>
                <a:schemeClr val="accent2"/>
              </a:solidFill>
              <a:ln w="6271" cap="flat">
                <a:noFill/>
                <a:prstDash val="solid"/>
                <a:miter/>
              </a:ln>
            </p:spPr>
            <p:txBody>
              <a:bodyPr rtlCol="0" anchor="ctr"/>
              <a:lstStyle/>
              <a:p>
                <a:endParaRPr lang="en-US"/>
              </a:p>
            </p:txBody>
          </p:sp>
        </p:grpSp>
        <p:grpSp>
          <p:nvGrpSpPr>
            <p:cNvPr id="162" name="Picture Placeholder 75" descr="vSAN Object Storage&#10;">
              <a:extLst>
                <a:ext uri="{FF2B5EF4-FFF2-40B4-BE49-F238E27FC236}">
                  <a16:creationId xmlns:a16="http://schemas.microsoft.com/office/drawing/2014/main" id="{079AB9EA-6304-0F77-A7BA-6DEC1B987A4E}"/>
                </a:ext>
              </a:extLst>
            </p:cNvPr>
            <p:cNvGrpSpPr/>
            <p:nvPr/>
          </p:nvGrpSpPr>
          <p:grpSpPr>
            <a:xfrm>
              <a:off x="6511637" y="3811942"/>
              <a:ext cx="377048" cy="377981"/>
              <a:chOff x="4409948" y="5085582"/>
              <a:chExt cx="666228" cy="667877"/>
            </a:xfrm>
            <a:solidFill>
              <a:schemeClr val="accent2"/>
            </a:solidFill>
          </p:grpSpPr>
          <p:sp>
            <p:nvSpPr>
              <p:cNvPr id="163" name="Picture Placeholder 75">
                <a:extLst>
                  <a:ext uri="{FF2B5EF4-FFF2-40B4-BE49-F238E27FC236}">
                    <a16:creationId xmlns:a16="http://schemas.microsoft.com/office/drawing/2014/main" id="{9F670B99-5C04-D73D-F833-3A14606B8CF9}"/>
                  </a:ext>
                </a:extLst>
              </p:cNvPr>
              <p:cNvSpPr/>
              <p:nvPr/>
            </p:nvSpPr>
            <p:spPr>
              <a:xfrm>
                <a:off x="4609172" y="5442289"/>
                <a:ext cx="146739" cy="153055"/>
              </a:xfrm>
              <a:custGeom>
                <a:avLst/>
                <a:gdLst>
                  <a:gd name="connsiteX0" fmla="*/ 73365 w 146739"/>
                  <a:gd name="connsiteY0" fmla="*/ 15812 h 153055"/>
                  <a:gd name="connsiteX1" fmla="*/ 130919 w 146739"/>
                  <a:gd name="connsiteY1" fmla="*/ 76528 h 153055"/>
                  <a:gd name="connsiteX2" fmla="*/ 73365 w 146739"/>
                  <a:gd name="connsiteY2" fmla="*/ 137244 h 153055"/>
                  <a:gd name="connsiteX3" fmla="*/ 15812 w 146739"/>
                  <a:gd name="connsiteY3" fmla="*/ 76528 h 153055"/>
                  <a:gd name="connsiteX4" fmla="*/ 73365 w 146739"/>
                  <a:gd name="connsiteY4" fmla="*/ 15812 h 153055"/>
                  <a:gd name="connsiteX5" fmla="*/ 73365 w 146739"/>
                  <a:gd name="connsiteY5" fmla="*/ 0 h 153055"/>
                  <a:gd name="connsiteX6" fmla="*/ 0 w 146739"/>
                  <a:gd name="connsiteY6" fmla="*/ 76528 h 153055"/>
                  <a:gd name="connsiteX7" fmla="*/ 73365 w 146739"/>
                  <a:gd name="connsiteY7" fmla="*/ 153055 h 153055"/>
                  <a:gd name="connsiteX8" fmla="*/ 146731 w 146739"/>
                  <a:gd name="connsiteY8" fmla="*/ 76528 h 153055"/>
                  <a:gd name="connsiteX9" fmla="*/ 73365 w 146739"/>
                  <a:gd name="connsiteY9" fmla="*/ 0 h 153055"/>
                  <a:gd name="connsiteX10" fmla="*/ 73365 w 146739"/>
                  <a:gd name="connsiteY10" fmla="*/ 0 h 153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739" h="153055">
                    <a:moveTo>
                      <a:pt x="73365" y="15812"/>
                    </a:moveTo>
                    <a:cubicBezTo>
                      <a:pt x="104988" y="15812"/>
                      <a:pt x="130919" y="43007"/>
                      <a:pt x="130919" y="76528"/>
                    </a:cubicBezTo>
                    <a:cubicBezTo>
                      <a:pt x="130919" y="110048"/>
                      <a:pt x="104988" y="137244"/>
                      <a:pt x="73365" y="137244"/>
                    </a:cubicBezTo>
                    <a:cubicBezTo>
                      <a:pt x="41742" y="137244"/>
                      <a:pt x="15812" y="110048"/>
                      <a:pt x="15812" y="76528"/>
                    </a:cubicBezTo>
                    <a:cubicBezTo>
                      <a:pt x="15812" y="43007"/>
                      <a:pt x="41742" y="15812"/>
                      <a:pt x="73365" y="15812"/>
                    </a:cubicBezTo>
                    <a:moveTo>
                      <a:pt x="73365" y="0"/>
                    </a:moveTo>
                    <a:cubicBezTo>
                      <a:pt x="32888" y="0"/>
                      <a:pt x="0" y="34153"/>
                      <a:pt x="0" y="76528"/>
                    </a:cubicBezTo>
                    <a:cubicBezTo>
                      <a:pt x="0" y="118902"/>
                      <a:pt x="32888" y="153055"/>
                      <a:pt x="73365" y="153055"/>
                    </a:cubicBezTo>
                    <a:cubicBezTo>
                      <a:pt x="113843" y="153055"/>
                      <a:pt x="146731" y="118902"/>
                      <a:pt x="146731" y="76528"/>
                    </a:cubicBezTo>
                    <a:cubicBezTo>
                      <a:pt x="147363" y="34153"/>
                      <a:pt x="113843" y="0"/>
                      <a:pt x="73365" y="0"/>
                    </a:cubicBezTo>
                    <a:lnTo>
                      <a:pt x="73365" y="0"/>
                    </a:lnTo>
                    <a:close/>
                  </a:path>
                </a:pathLst>
              </a:custGeom>
              <a:solidFill>
                <a:schemeClr val="accent2"/>
              </a:solidFill>
              <a:ln w="6271" cap="flat">
                <a:noFill/>
                <a:prstDash val="solid"/>
                <a:miter/>
              </a:ln>
            </p:spPr>
            <p:txBody>
              <a:bodyPr rtlCol="0" anchor="ctr"/>
              <a:lstStyle/>
              <a:p>
                <a:endParaRPr lang="en-US"/>
              </a:p>
            </p:txBody>
          </p:sp>
          <p:sp>
            <p:nvSpPr>
              <p:cNvPr id="164" name="Picture Placeholder 75">
                <a:extLst>
                  <a:ext uri="{FF2B5EF4-FFF2-40B4-BE49-F238E27FC236}">
                    <a16:creationId xmlns:a16="http://schemas.microsoft.com/office/drawing/2014/main" id="{9DF17F85-F2B4-8CAD-C1CE-B9FC58522A28}"/>
                  </a:ext>
                </a:extLst>
              </p:cNvPr>
              <p:cNvSpPr/>
              <p:nvPr/>
            </p:nvSpPr>
            <p:spPr>
              <a:xfrm>
                <a:off x="4776774" y="5554234"/>
                <a:ext cx="144833" cy="150525"/>
              </a:xfrm>
              <a:custGeom>
                <a:avLst/>
                <a:gdLst>
                  <a:gd name="connsiteX0" fmla="*/ 129022 w 144833"/>
                  <a:gd name="connsiteY0" fmla="*/ 15812 h 150525"/>
                  <a:gd name="connsiteX1" fmla="*/ 129022 w 144833"/>
                  <a:gd name="connsiteY1" fmla="*/ 134714 h 150525"/>
                  <a:gd name="connsiteX2" fmla="*/ 15812 w 144833"/>
                  <a:gd name="connsiteY2" fmla="*/ 134714 h 150525"/>
                  <a:gd name="connsiteX3" fmla="*/ 15812 w 144833"/>
                  <a:gd name="connsiteY3" fmla="*/ 15812 h 150525"/>
                  <a:gd name="connsiteX4" fmla="*/ 129022 w 144833"/>
                  <a:gd name="connsiteY4" fmla="*/ 15812 h 150525"/>
                  <a:gd name="connsiteX5" fmla="*/ 144833 w 144833"/>
                  <a:gd name="connsiteY5" fmla="*/ 0 h 150525"/>
                  <a:gd name="connsiteX6" fmla="*/ 0 w 144833"/>
                  <a:gd name="connsiteY6" fmla="*/ 0 h 150525"/>
                  <a:gd name="connsiteX7" fmla="*/ 0 w 144833"/>
                  <a:gd name="connsiteY7" fmla="*/ 150526 h 150525"/>
                  <a:gd name="connsiteX8" fmla="*/ 144833 w 144833"/>
                  <a:gd name="connsiteY8" fmla="*/ 150526 h 150525"/>
                  <a:gd name="connsiteX9" fmla="*/ 144833 w 144833"/>
                  <a:gd name="connsiteY9" fmla="*/ 0 h 150525"/>
                  <a:gd name="connsiteX10" fmla="*/ 144833 w 144833"/>
                  <a:gd name="connsiteY10" fmla="*/ 0 h 15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833" h="150525">
                    <a:moveTo>
                      <a:pt x="129022" y="15812"/>
                    </a:moveTo>
                    <a:lnTo>
                      <a:pt x="129022" y="134714"/>
                    </a:lnTo>
                    <a:lnTo>
                      <a:pt x="15812" y="134714"/>
                    </a:lnTo>
                    <a:lnTo>
                      <a:pt x="15812" y="15812"/>
                    </a:lnTo>
                    <a:lnTo>
                      <a:pt x="129022" y="15812"/>
                    </a:lnTo>
                    <a:moveTo>
                      <a:pt x="144833" y="0"/>
                    </a:moveTo>
                    <a:lnTo>
                      <a:pt x="0" y="0"/>
                    </a:lnTo>
                    <a:lnTo>
                      <a:pt x="0" y="150526"/>
                    </a:lnTo>
                    <a:lnTo>
                      <a:pt x="144833" y="150526"/>
                    </a:lnTo>
                    <a:lnTo>
                      <a:pt x="144833" y="0"/>
                    </a:lnTo>
                    <a:lnTo>
                      <a:pt x="144833" y="0"/>
                    </a:lnTo>
                    <a:close/>
                  </a:path>
                </a:pathLst>
              </a:custGeom>
              <a:solidFill>
                <a:schemeClr val="accent2"/>
              </a:solidFill>
              <a:ln w="6271" cap="flat">
                <a:noFill/>
                <a:prstDash val="solid"/>
                <a:miter/>
              </a:ln>
            </p:spPr>
            <p:txBody>
              <a:bodyPr rtlCol="0" anchor="ctr"/>
              <a:lstStyle/>
              <a:p>
                <a:endParaRPr lang="en-US"/>
              </a:p>
            </p:txBody>
          </p:sp>
          <p:sp>
            <p:nvSpPr>
              <p:cNvPr id="165" name="Picture Placeholder 75">
                <a:extLst>
                  <a:ext uri="{FF2B5EF4-FFF2-40B4-BE49-F238E27FC236}">
                    <a16:creationId xmlns:a16="http://schemas.microsoft.com/office/drawing/2014/main" id="{5323EF6C-CAEE-1A68-32B8-7C6A89324F01}"/>
                  </a:ext>
                </a:extLst>
              </p:cNvPr>
              <p:cNvSpPr/>
              <p:nvPr/>
            </p:nvSpPr>
            <p:spPr>
              <a:xfrm>
                <a:off x="4776774" y="5191202"/>
                <a:ext cx="201122" cy="208711"/>
              </a:xfrm>
              <a:custGeom>
                <a:avLst/>
                <a:gdLst>
                  <a:gd name="connsiteX0" fmla="*/ 99929 w 201122"/>
                  <a:gd name="connsiteY0" fmla="*/ 22769 h 208711"/>
                  <a:gd name="connsiteX1" fmla="*/ 178354 w 201122"/>
                  <a:gd name="connsiteY1" fmla="*/ 104356 h 208711"/>
                  <a:gd name="connsiteX2" fmla="*/ 99929 w 201122"/>
                  <a:gd name="connsiteY2" fmla="*/ 185943 h 208711"/>
                  <a:gd name="connsiteX3" fmla="*/ 21504 w 201122"/>
                  <a:gd name="connsiteY3" fmla="*/ 104356 h 208711"/>
                  <a:gd name="connsiteX4" fmla="*/ 99929 w 201122"/>
                  <a:gd name="connsiteY4" fmla="*/ 22769 h 208711"/>
                  <a:gd name="connsiteX5" fmla="*/ 99929 w 201122"/>
                  <a:gd name="connsiteY5" fmla="*/ 0 h 208711"/>
                  <a:gd name="connsiteX6" fmla="*/ 0 w 201122"/>
                  <a:gd name="connsiteY6" fmla="*/ 104356 h 208711"/>
                  <a:gd name="connsiteX7" fmla="*/ 100561 w 201122"/>
                  <a:gd name="connsiteY7" fmla="*/ 208712 h 208711"/>
                  <a:gd name="connsiteX8" fmla="*/ 201122 w 201122"/>
                  <a:gd name="connsiteY8" fmla="*/ 104356 h 208711"/>
                  <a:gd name="connsiteX9" fmla="*/ 99929 w 201122"/>
                  <a:gd name="connsiteY9" fmla="*/ 0 h 208711"/>
                  <a:gd name="connsiteX10" fmla="*/ 99929 w 201122"/>
                  <a:gd name="connsiteY10" fmla="*/ 0 h 20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122" h="208711">
                    <a:moveTo>
                      <a:pt x="99929" y="22769"/>
                    </a:moveTo>
                    <a:lnTo>
                      <a:pt x="178354" y="104356"/>
                    </a:lnTo>
                    <a:lnTo>
                      <a:pt x="99929" y="185943"/>
                    </a:lnTo>
                    <a:lnTo>
                      <a:pt x="21504" y="104356"/>
                    </a:lnTo>
                    <a:lnTo>
                      <a:pt x="99929" y="22769"/>
                    </a:lnTo>
                    <a:moveTo>
                      <a:pt x="99929" y="0"/>
                    </a:moveTo>
                    <a:lnTo>
                      <a:pt x="0" y="104356"/>
                    </a:lnTo>
                    <a:lnTo>
                      <a:pt x="100561" y="208712"/>
                    </a:lnTo>
                    <a:lnTo>
                      <a:pt x="201122" y="104356"/>
                    </a:lnTo>
                    <a:lnTo>
                      <a:pt x="99929" y="0"/>
                    </a:lnTo>
                    <a:lnTo>
                      <a:pt x="99929" y="0"/>
                    </a:lnTo>
                    <a:close/>
                  </a:path>
                </a:pathLst>
              </a:custGeom>
              <a:solidFill>
                <a:schemeClr val="accent2"/>
              </a:solidFill>
              <a:ln w="6271" cap="flat">
                <a:noFill/>
                <a:prstDash val="solid"/>
                <a:miter/>
              </a:ln>
            </p:spPr>
            <p:txBody>
              <a:bodyPr rtlCol="0" anchor="ctr"/>
              <a:lstStyle/>
              <a:p>
                <a:endParaRPr lang="en-US"/>
              </a:p>
            </p:txBody>
          </p:sp>
          <p:sp>
            <p:nvSpPr>
              <p:cNvPr id="166" name="Picture Placeholder 75">
                <a:extLst>
                  <a:ext uri="{FF2B5EF4-FFF2-40B4-BE49-F238E27FC236}">
                    <a16:creationId xmlns:a16="http://schemas.microsoft.com/office/drawing/2014/main" id="{7520767C-05AE-104C-6862-E11BF3F6FA19}"/>
                  </a:ext>
                </a:extLst>
              </p:cNvPr>
              <p:cNvSpPr/>
              <p:nvPr/>
            </p:nvSpPr>
            <p:spPr>
              <a:xfrm>
                <a:off x="4409948" y="5085582"/>
                <a:ext cx="6324" cy="6324"/>
              </a:xfrm>
              <a:custGeom>
                <a:avLst/>
                <a:gdLst/>
                <a:ahLst/>
                <a:cxnLst/>
                <a:rect l="l" t="t" r="r" b="b"/>
                <a:pathLst>
                  <a:path w="6324" h="6324"/>
                </a:pathLst>
              </a:custGeom>
              <a:solidFill>
                <a:schemeClr val="accent2"/>
              </a:solidFill>
              <a:ln w="6271" cap="flat">
                <a:noFill/>
                <a:prstDash val="solid"/>
                <a:miter/>
              </a:ln>
            </p:spPr>
            <p:txBody>
              <a:bodyPr rtlCol="0" anchor="ctr"/>
              <a:lstStyle/>
              <a:p>
                <a:endParaRPr lang="en-US"/>
              </a:p>
            </p:txBody>
          </p:sp>
          <p:sp>
            <p:nvSpPr>
              <p:cNvPr id="167" name="Picture Placeholder 75">
                <a:extLst>
                  <a:ext uri="{FF2B5EF4-FFF2-40B4-BE49-F238E27FC236}">
                    <a16:creationId xmlns:a16="http://schemas.microsoft.com/office/drawing/2014/main" id="{D6C49F4F-B2D5-3433-6392-02AEED5ECB3F}"/>
                  </a:ext>
                </a:extLst>
              </p:cNvPr>
              <p:cNvSpPr/>
              <p:nvPr/>
            </p:nvSpPr>
            <p:spPr>
              <a:xfrm>
                <a:off x="4503303" y="5247491"/>
                <a:ext cx="572872" cy="505967"/>
              </a:xfrm>
              <a:custGeom>
                <a:avLst/>
                <a:gdLst>
                  <a:gd name="connsiteX0" fmla="*/ 453722 w 572872"/>
                  <a:gd name="connsiteY0" fmla="*/ 505968 h 505967"/>
                  <a:gd name="connsiteX1" fmla="*/ 119151 w 572872"/>
                  <a:gd name="connsiteY1" fmla="*/ 505968 h 505967"/>
                  <a:gd name="connsiteX2" fmla="*/ 111561 w 572872"/>
                  <a:gd name="connsiteY2" fmla="*/ 499643 h 505967"/>
                  <a:gd name="connsiteX3" fmla="*/ 248 w 572872"/>
                  <a:gd name="connsiteY3" fmla="*/ 10119 h 505967"/>
                  <a:gd name="connsiteX4" fmla="*/ 1513 w 572872"/>
                  <a:gd name="connsiteY4" fmla="*/ 3162 h 505967"/>
                  <a:gd name="connsiteX5" fmla="*/ 7838 w 572872"/>
                  <a:gd name="connsiteY5" fmla="*/ 0 h 505967"/>
                  <a:gd name="connsiteX6" fmla="*/ 272838 w 572872"/>
                  <a:gd name="connsiteY6" fmla="*/ 0 h 505967"/>
                  <a:gd name="connsiteX7" fmla="*/ 280428 w 572872"/>
                  <a:gd name="connsiteY7" fmla="*/ 7590 h 505967"/>
                  <a:gd name="connsiteX8" fmla="*/ 272838 w 572872"/>
                  <a:gd name="connsiteY8" fmla="*/ 15179 h 505967"/>
                  <a:gd name="connsiteX9" fmla="*/ 17957 w 572872"/>
                  <a:gd name="connsiteY9" fmla="*/ 15179 h 505967"/>
                  <a:gd name="connsiteX10" fmla="*/ 126108 w 572872"/>
                  <a:gd name="connsiteY10" fmla="*/ 489524 h 505967"/>
                  <a:gd name="connsiteX11" fmla="*/ 448030 w 572872"/>
                  <a:gd name="connsiteY11" fmla="*/ 489524 h 505967"/>
                  <a:gd name="connsiteX12" fmla="*/ 556180 w 572872"/>
                  <a:gd name="connsiteY12" fmla="*/ 15179 h 505967"/>
                  <a:gd name="connsiteX13" fmla="*/ 474593 w 572872"/>
                  <a:gd name="connsiteY13" fmla="*/ 15179 h 505967"/>
                  <a:gd name="connsiteX14" fmla="*/ 467004 w 572872"/>
                  <a:gd name="connsiteY14" fmla="*/ 7590 h 505967"/>
                  <a:gd name="connsiteX15" fmla="*/ 474593 w 572872"/>
                  <a:gd name="connsiteY15" fmla="*/ 0 h 505967"/>
                  <a:gd name="connsiteX16" fmla="*/ 565035 w 572872"/>
                  <a:gd name="connsiteY16" fmla="*/ 0 h 505967"/>
                  <a:gd name="connsiteX17" fmla="*/ 571360 w 572872"/>
                  <a:gd name="connsiteY17" fmla="*/ 3162 h 505967"/>
                  <a:gd name="connsiteX18" fmla="*/ 572624 w 572872"/>
                  <a:gd name="connsiteY18" fmla="*/ 10119 h 505967"/>
                  <a:gd name="connsiteX19" fmla="*/ 461311 w 572872"/>
                  <a:gd name="connsiteY19" fmla="*/ 500276 h 505967"/>
                  <a:gd name="connsiteX20" fmla="*/ 453722 w 572872"/>
                  <a:gd name="connsiteY20" fmla="*/ 505968 h 505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2872" h="505967">
                    <a:moveTo>
                      <a:pt x="453722" y="505968"/>
                    </a:moveTo>
                    <a:lnTo>
                      <a:pt x="119151" y="505968"/>
                    </a:lnTo>
                    <a:cubicBezTo>
                      <a:pt x="115356" y="505968"/>
                      <a:pt x="112194" y="503438"/>
                      <a:pt x="111561" y="499643"/>
                    </a:cubicBezTo>
                    <a:lnTo>
                      <a:pt x="248" y="10119"/>
                    </a:lnTo>
                    <a:cubicBezTo>
                      <a:pt x="-384" y="7590"/>
                      <a:pt x="248" y="5060"/>
                      <a:pt x="1513" y="3162"/>
                    </a:cubicBezTo>
                    <a:cubicBezTo>
                      <a:pt x="2778" y="1265"/>
                      <a:pt x="5308" y="0"/>
                      <a:pt x="7838" y="0"/>
                    </a:cubicBezTo>
                    <a:lnTo>
                      <a:pt x="272838" y="0"/>
                    </a:lnTo>
                    <a:cubicBezTo>
                      <a:pt x="277266" y="0"/>
                      <a:pt x="280428" y="3795"/>
                      <a:pt x="280428" y="7590"/>
                    </a:cubicBezTo>
                    <a:cubicBezTo>
                      <a:pt x="280428" y="11384"/>
                      <a:pt x="276633" y="15179"/>
                      <a:pt x="272838" y="15179"/>
                    </a:cubicBezTo>
                    <a:lnTo>
                      <a:pt x="17957" y="15179"/>
                    </a:lnTo>
                    <a:lnTo>
                      <a:pt x="126108" y="489524"/>
                    </a:lnTo>
                    <a:lnTo>
                      <a:pt x="448030" y="489524"/>
                    </a:lnTo>
                    <a:lnTo>
                      <a:pt x="556180" y="15179"/>
                    </a:lnTo>
                    <a:lnTo>
                      <a:pt x="474593" y="15179"/>
                    </a:lnTo>
                    <a:cubicBezTo>
                      <a:pt x="470166" y="15179"/>
                      <a:pt x="467004" y="11384"/>
                      <a:pt x="467004" y="7590"/>
                    </a:cubicBezTo>
                    <a:cubicBezTo>
                      <a:pt x="467004" y="3795"/>
                      <a:pt x="470798" y="0"/>
                      <a:pt x="474593" y="0"/>
                    </a:cubicBezTo>
                    <a:lnTo>
                      <a:pt x="565035" y="0"/>
                    </a:lnTo>
                    <a:cubicBezTo>
                      <a:pt x="567565" y="0"/>
                      <a:pt x="569462" y="1265"/>
                      <a:pt x="571360" y="3162"/>
                    </a:cubicBezTo>
                    <a:cubicBezTo>
                      <a:pt x="572624" y="5060"/>
                      <a:pt x="573257" y="7590"/>
                      <a:pt x="572624" y="10119"/>
                    </a:cubicBezTo>
                    <a:lnTo>
                      <a:pt x="461311" y="500276"/>
                    </a:lnTo>
                    <a:cubicBezTo>
                      <a:pt x="460679" y="503438"/>
                      <a:pt x="457517" y="505968"/>
                      <a:pt x="453722" y="505968"/>
                    </a:cubicBezTo>
                    <a:close/>
                  </a:path>
                </a:pathLst>
              </a:custGeom>
              <a:solidFill>
                <a:schemeClr val="accent2"/>
              </a:solidFill>
              <a:ln w="6271" cap="flat">
                <a:noFill/>
                <a:prstDash val="solid"/>
                <a:miter/>
              </a:ln>
            </p:spPr>
            <p:txBody>
              <a:bodyPr rtlCol="0" anchor="ctr"/>
              <a:lstStyle/>
              <a:p>
                <a:endParaRPr lang="en-US"/>
              </a:p>
            </p:txBody>
          </p:sp>
        </p:grpSp>
        <p:grpSp>
          <p:nvGrpSpPr>
            <p:cNvPr id="168" name="Picture Placeholder 75" descr="vSAN Object Storage&#10;">
              <a:extLst>
                <a:ext uri="{FF2B5EF4-FFF2-40B4-BE49-F238E27FC236}">
                  <a16:creationId xmlns:a16="http://schemas.microsoft.com/office/drawing/2014/main" id="{5E05939B-EB28-EE79-CC4E-66387D95B100}"/>
                </a:ext>
              </a:extLst>
            </p:cNvPr>
            <p:cNvGrpSpPr/>
            <p:nvPr/>
          </p:nvGrpSpPr>
          <p:grpSpPr>
            <a:xfrm>
              <a:off x="5996346" y="3811942"/>
              <a:ext cx="377048" cy="377981"/>
              <a:chOff x="4409948" y="5085582"/>
              <a:chExt cx="666228" cy="667877"/>
            </a:xfrm>
            <a:solidFill>
              <a:schemeClr val="accent2"/>
            </a:solidFill>
          </p:grpSpPr>
          <p:sp>
            <p:nvSpPr>
              <p:cNvPr id="169" name="Picture Placeholder 75">
                <a:extLst>
                  <a:ext uri="{FF2B5EF4-FFF2-40B4-BE49-F238E27FC236}">
                    <a16:creationId xmlns:a16="http://schemas.microsoft.com/office/drawing/2014/main" id="{FA09F810-3A58-9E46-DB1F-8BBCDDD6DE17}"/>
                  </a:ext>
                </a:extLst>
              </p:cNvPr>
              <p:cNvSpPr/>
              <p:nvPr/>
            </p:nvSpPr>
            <p:spPr>
              <a:xfrm>
                <a:off x="4609172" y="5442289"/>
                <a:ext cx="146739" cy="153055"/>
              </a:xfrm>
              <a:custGeom>
                <a:avLst/>
                <a:gdLst>
                  <a:gd name="connsiteX0" fmla="*/ 73365 w 146739"/>
                  <a:gd name="connsiteY0" fmla="*/ 15812 h 153055"/>
                  <a:gd name="connsiteX1" fmla="*/ 130919 w 146739"/>
                  <a:gd name="connsiteY1" fmla="*/ 76528 h 153055"/>
                  <a:gd name="connsiteX2" fmla="*/ 73365 w 146739"/>
                  <a:gd name="connsiteY2" fmla="*/ 137244 h 153055"/>
                  <a:gd name="connsiteX3" fmla="*/ 15812 w 146739"/>
                  <a:gd name="connsiteY3" fmla="*/ 76528 h 153055"/>
                  <a:gd name="connsiteX4" fmla="*/ 73365 w 146739"/>
                  <a:gd name="connsiteY4" fmla="*/ 15812 h 153055"/>
                  <a:gd name="connsiteX5" fmla="*/ 73365 w 146739"/>
                  <a:gd name="connsiteY5" fmla="*/ 0 h 153055"/>
                  <a:gd name="connsiteX6" fmla="*/ 0 w 146739"/>
                  <a:gd name="connsiteY6" fmla="*/ 76528 h 153055"/>
                  <a:gd name="connsiteX7" fmla="*/ 73365 w 146739"/>
                  <a:gd name="connsiteY7" fmla="*/ 153055 h 153055"/>
                  <a:gd name="connsiteX8" fmla="*/ 146731 w 146739"/>
                  <a:gd name="connsiteY8" fmla="*/ 76528 h 153055"/>
                  <a:gd name="connsiteX9" fmla="*/ 73365 w 146739"/>
                  <a:gd name="connsiteY9" fmla="*/ 0 h 153055"/>
                  <a:gd name="connsiteX10" fmla="*/ 73365 w 146739"/>
                  <a:gd name="connsiteY10" fmla="*/ 0 h 153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739" h="153055">
                    <a:moveTo>
                      <a:pt x="73365" y="15812"/>
                    </a:moveTo>
                    <a:cubicBezTo>
                      <a:pt x="104988" y="15812"/>
                      <a:pt x="130919" y="43007"/>
                      <a:pt x="130919" y="76528"/>
                    </a:cubicBezTo>
                    <a:cubicBezTo>
                      <a:pt x="130919" y="110048"/>
                      <a:pt x="104988" y="137244"/>
                      <a:pt x="73365" y="137244"/>
                    </a:cubicBezTo>
                    <a:cubicBezTo>
                      <a:pt x="41742" y="137244"/>
                      <a:pt x="15812" y="110048"/>
                      <a:pt x="15812" y="76528"/>
                    </a:cubicBezTo>
                    <a:cubicBezTo>
                      <a:pt x="15812" y="43007"/>
                      <a:pt x="41742" y="15812"/>
                      <a:pt x="73365" y="15812"/>
                    </a:cubicBezTo>
                    <a:moveTo>
                      <a:pt x="73365" y="0"/>
                    </a:moveTo>
                    <a:cubicBezTo>
                      <a:pt x="32888" y="0"/>
                      <a:pt x="0" y="34153"/>
                      <a:pt x="0" y="76528"/>
                    </a:cubicBezTo>
                    <a:cubicBezTo>
                      <a:pt x="0" y="118902"/>
                      <a:pt x="32888" y="153055"/>
                      <a:pt x="73365" y="153055"/>
                    </a:cubicBezTo>
                    <a:cubicBezTo>
                      <a:pt x="113843" y="153055"/>
                      <a:pt x="146731" y="118902"/>
                      <a:pt x="146731" y="76528"/>
                    </a:cubicBezTo>
                    <a:cubicBezTo>
                      <a:pt x="147363" y="34153"/>
                      <a:pt x="113843" y="0"/>
                      <a:pt x="73365" y="0"/>
                    </a:cubicBezTo>
                    <a:lnTo>
                      <a:pt x="73365" y="0"/>
                    </a:lnTo>
                    <a:close/>
                  </a:path>
                </a:pathLst>
              </a:custGeom>
              <a:solidFill>
                <a:schemeClr val="accent2"/>
              </a:solidFill>
              <a:ln w="6271" cap="flat">
                <a:noFill/>
                <a:prstDash val="solid"/>
                <a:miter/>
              </a:ln>
            </p:spPr>
            <p:txBody>
              <a:bodyPr rtlCol="0" anchor="ctr"/>
              <a:lstStyle/>
              <a:p>
                <a:endParaRPr lang="en-US"/>
              </a:p>
            </p:txBody>
          </p:sp>
          <p:sp>
            <p:nvSpPr>
              <p:cNvPr id="170" name="Picture Placeholder 75">
                <a:extLst>
                  <a:ext uri="{FF2B5EF4-FFF2-40B4-BE49-F238E27FC236}">
                    <a16:creationId xmlns:a16="http://schemas.microsoft.com/office/drawing/2014/main" id="{2739FE04-78DD-6DB3-2552-8458EB885371}"/>
                  </a:ext>
                </a:extLst>
              </p:cNvPr>
              <p:cNvSpPr/>
              <p:nvPr/>
            </p:nvSpPr>
            <p:spPr>
              <a:xfrm>
                <a:off x="4776774" y="5554234"/>
                <a:ext cx="144833" cy="150525"/>
              </a:xfrm>
              <a:custGeom>
                <a:avLst/>
                <a:gdLst>
                  <a:gd name="connsiteX0" fmla="*/ 129022 w 144833"/>
                  <a:gd name="connsiteY0" fmla="*/ 15812 h 150525"/>
                  <a:gd name="connsiteX1" fmla="*/ 129022 w 144833"/>
                  <a:gd name="connsiteY1" fmla="*/ 134714 h 150525"/>
                  <a:gd name="connsiteX2" fmla="*/ 15812 w 144833"/>
                  <a:gd name="connsiteY2" fmla="*/ 134714 h 150525"/>
                  <a:gd name="connsiteX3" fmla="*/ 15812 w 144833"/>
                  <a:gd name="connsiteY3" fmla="*/ 15812 h 150525"/>
                  <a:gd name="connsiteX4" fmla="*/ 129022 w 144833"/>
                  <a:gd name="connsiteY4" fmla="*/ 15812 h 150525"/>
                  <a:gd name="connsiteX5" fmla="*/ 144833 w 144833"/>
                  <a:gd name="connsiteY5" fmla="*/ 0 h 150525"/>
                  <a:gd name="connsiteX6" fmla="*/ 0 w 144833"/>
                  <a:gd name="connsiteY6" fmla="*/ 0 h 150525"/>
                  <a:gd name="connsiteX7" fmla="*/ 0 w 144833"/>
                  <a:gd name="connsiteY7" fmla="*/ 150526 h 150525"/>
                  <a:gd name="connsiteX8" fmla="*/ 144833 w 144833"/>
                  <a:gd name="connsiteY8" fmla="*/ 150526 h 150525"/>
                  <a:gd name="connsiteX9" fmla="*/ 144833 w 144833"/>
                  <a:gd name="connsiteY9" fmla="*/ 0 h 150525"/>
                  <a:gd name="connsiteX10" fmla="*/ 144833 w 144833"/>
                  <a:gd name="connsiteY10" fmla="*/ 0 h 15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833" h="150525">
                    <a:moveTo>
                      <a:pt x="129022" y="15812"/>
                    </a:moveTo>
                    <a:lnTo>
                      <a:pt x="129022" y="134714"/>
                    </a:lnTo>
                    <a:lnTo>
                      <a:pt x="15812" y="134714"/>
                    </a:lnTo>
                    <a:lnTo>
                      <a:pt x="15812" y="15812"/>
                    </a:lnTo>
                    <a:lnTo>
                      <a:pt x="129022" y="15812"/>
                    </a:lnTo>
                    <a:moveTo>
                      <a:pt x="144833" y="0"/>
                    </a:moveTo>
                    <a:lnTo>
                      <a:pt x="0" y="0"/>
                    </a:lnTo>
                    <a:lnTo>
                      <a:pt x="0" y="150526"/>
                    </a:lnTo>
                    <a:lnTo>
                      <a:pt x="144833" y="150526"/>
                    </a:lnTo>
                    <a:lnTo>
                      <a:pt x="144833" y="0"/>
                    </a:lnTo>
                    <a:lnTo>
                      <a:pt x="144833" y="0"/>
                    </a:lnTo>
                    <a:close/>
                  </a:path>
                </a:pathLst>
              </a:custGeom>
              <a:solidFill>
                <a:schemeClr val="accent2"/>
              </a:solidFill>
              <a:ln w="6271" cap="flat">
                <a:noFill/>
                <a:prstDash val="solid"/>
                <a:miter/>
              </a:ln>
            </p:spPr>
            <p:txBody>
              <a:bodyPr rtlCol="0" anchor="ctr"/>
              <a:lstStyle/>
              <a:p>
                <a:endParaRPr lang="en-US"/>
              </a:p>
            </p:txBody>
          </p:sp>
          <p:sp>
            <p:nvSpPr>
              <p:cNvPr id="171" name="Picture Placeholder 75">
                <a:extLst>
                  <a:ext uri="{FF2B5EF4-FFF2-40B4-BE49-F238E27FC236}">
                    <a16:creationId xmlns:a16="http://schemas.microsoft.com/office/drawing/2014/main" id="{50F6BDDA-0E6C-2A90-42CC-FF62F0227833}"/>
                  </a:ext>
                </a:extLst>
              </p:cNvPr>
              <p:cNvSpPr/>
              <p:nvPr/>
            </p:nvSpPr>
            <p:spPr>
              <a:xfrm>
                <a:off x="4776774" y="5191202"/>
                <a:ext cx="201122" cy="208711"/>
              </a:xfrm>
              <a:custGeom>
                <a:avLst/>
                <a:gdLst>
                  <a:gd name="connsiteX0" fmla="*/ 99929 w 201122"/>
                  <a:gd name="connsiteY0" fmla="*/ 22769 h 208711"/>
                  <a:gd name="connsiteX1" fmla="*/ 178354 w 201122"/>
                  <a:gd name="connsiteY1" fmla="*/ 104356 h 208711"/>
                  <a:gd name="connsiteX2" fmla="*/ 99929 w 201122"/>
                  <a:gd name="connsiteY2" fmla="*/ 185943 h 208711"/>
                  <a:gd name="connsiteX3" fmla="*/ 21504 w 201122"/>
                  <a:gd name="connsiteY3" fmla="*/ 104356 h 208711"/>
                  <a:gd name="connsiteX4" fmla="*/ 99929 w 201122"/>
                  <a:gd name="connsiteY4" fmla="*/ 22769 h 208711"/>
                  <a:gd name="connsiteX5" fmla="*/ 99929 w 201122"/>
                  <a:gd name="connsiteY5" fmla="*/ 0 h 208711"/>
                  <a:gd name="connsiteX6" fmla="*/ 0 w 201122"/>
                  <a:gd name="connsiteY6" fmla="*/ 104356 h 208711"/>
                  <a:gd name="connsiteX7" fmla="*/ 100561 w 201122"/>
                  <a:gd name="connsiteY7" fmla="*/ 208712 h 208711"/>
                  <a:gd name="connsiteX8" fmla="*/ 201122 w 201122"/>
                  <a:gd name="connsiteY8" fmla="*/ 104356 h 208711"/>
                  <a:gd name="connsiteX9" fmla="*/ 99929 w 201122"/>
                  <a:gd name="connsiteY9" fmla="*/ 0 h 208711"/>
                  <a:gd name="connsiteX10" fmla="*/ 99929 w 201122"/>
                  <a:gd name="connsiteY10" fmla="*/ 0 h 20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122" h="208711">
                    <a:moveTo>
                      <a:pt x="99929" y="22769"/>
                    </a:moveTo>
                    <a:lnTo>
                      <a:pt x="178354" y="104356"/>
                    </a:lnTo>
                    <a:lnTo>
                      <a:pt x="99929" y="185943"/>
                    </a:lnTo>
                    <a:lnTo>
                      <a:pt x="21504" y="104356"/>
                    </a:lnTo>
                    <a:lnTo>
                      <a:pt x="99929" y="22769"/>
                    </a:lnTo>
                    <a:moveTo>
                      <a:pt x="99929" y="0"/>
                    </a:moveTo>
                    <a:lnTo>
                      <a:pt x="0" y="104356"/>
                    </a:lnTo>
                    <a:lnTo>
                      <a:pt x="100561" y="208712"/>
                    </a:lnTo>
                    <a:lnTo>
                      <a:pt x="201122" y="104356"/>
                    </a:lnTo>
                    <a:lnTo>
                      <a:pt x="99929" y="0"/>
                    </a:lnTo>
                    <a:lnTo>
                      <a:pt x="99929" y="0"/>
                    </a:lnTo>
                    <a:close/>
                  </a:path>
                </a:pathLst>
              </a:custGeom>
              <a:solidFill>
                <a:schemeClr val="accent2"/>
              </a:solidFill>
              <a:ln w="6271" cap="flat">
                <a:noFill/>
                <a:prstDash val="solid"/>
                <a:miter/>
              </a:ln>
            </p:spPr>
            <p:txBody>
              <a:bodyPr rtlCol="0" anchor="ctr"/>
              <a:lstStyle/>
              <a:p>
                <a:endParaRPr lang="en-US"/>
              </a:p>
            </p:txBody>
          </p:sp>
          <p:sp>
            <p:nvSpPr>
              <p:cNvPr id="172" name="Picture Placeholder 75">
                <a:extLst>
                  <a:ext uri="{FF2B5EF4-FFF2-40B4-BE49-F238E27FC236}">
                    <a16:creationId xmlns:a16="http://schemas.microsoft.com/office/drawing/2014/main" id="{73A43D0A-59EA-CF0F-B075-7E381E5B4FEE}"/>
                  </a:ext>
                </a:extLst>
              </p:cNvPr>
              <p:cNvSpPr/>
              <p:nvPr/>
            </p:nvSpPr>
            <p:spPr>
              <a:xfrm>
                <a:off x="4409948" y="5085582"/>
                <a:ext cx="6324" cy="6324"/>
              </a:xfrm>
              <a:custGeom>
                <a:avLst/>
                <a:gdLst/>
                <a:ahLst/>
                <a:cxnLst/>
                <a:rect l="l" t="t" r="r" b="b"/>
                <a:pathLst>
                  <a:path w="6324" h="6324"/>
                </a:pathLst>
              </a:custGeom>
              <a:solidFill>
                <a:schemeClr val="accent2"/>
              </a:solidFill>
              <a:ln w="6271" cap="flat">
                <a:noFill/>
                <a:prstDash val="solid"/>
                <a:miter/>
              </a:ln>
            </p:spPr>
            <p:txBody>
              <a:bodyPr rtlCol="0" anchor="ctr"/>
              <a:lstStyle/>
              <a:p>
                <a:endParaRPr lang="en-US"/>
              </a:p>
            </p:txBody>
          </p:sp>
          <p:sp>
            <p:nvSpPr>
              <p:cNvPr id="173" name="Picture Placeholder 75">
                <a:extLst>
                  <a:ext uri="{FF2B5EF4-FFF2-40B4-BE49-F238E27FC236}">
                    <a16:creationId xmlns:a16="http://schemas.microsoft.com/office/drawing/2014/main" id="{01C66954-9E89-5B34-75A9-A87D2018AF88}"/>
                  </a:ext>
                </a:extLst>
              </p:cNvPr>
              <p:cNvSpPr/>
              <p:nvPr/>
            </p:nvSpPr>
            <p:spPr>
              <a:xfrm>
                <a:off x="4503303" y="5247491"/>
                <a:ext cx="572872" cy="505967"/>
              </a:xfrm>
              <a:custGeom>
                <a:avLst/>
                <a:gdLst>
                  <a:gd name="connsiteX0" fmla="*/ 453722 w 572872"/>
                  <a:gd name="connsiteY0" fmla="*/ 505968 h 505967"/>
                  <a:gd name="connsiteX1" fmla="*/ 119151 w 572872"/>
                  <a:gd name="connsiteY1" fmla="*/ 505968 h 505967"/>
                  <a:gd name="connsiteX2" fmla="*/ 111561 w 572872"/>
                  <a:gd name="connsiteY2" fmla="*/ 499643 h 505967"/>
                  <a:gd name="connsiteX3" fmla="*/ 248 w 572872"/>
                  <a:gd name="connsiteY3" fmla="*/ 10119 h 505967"/>
                  <a:gd name="connsiteX4" fmla="*/ 1513 w 572872"/>
                  <a:gd name="connsiteY4" fmla="*/ 3162 h 505967"/>
                  <a:gd name="connsiteX5" fmla="*/ 7838 w 572872"/>
                  <a:gd name="connsiteY5" fmla="*/ 0 h 505967"/>
                  <a:gd name="connsiteX6" fmla="*/ 272838 w 572872"/>
                  <a:gd name="connsiteY6" fmla="*/ 0 h 505967"/>
                  <a:gd name="connsiteX7" fmla="*/ 280428 w 572872"/>
                  <a:gd name="connsiteY7" fmla="*/ 7590 h 505967"/>
                  <a:gd name="connsiteX8" fmla="*/ 272838 w 572872"/>
                  <a:gd name="connsiteY8" fmla="*/ 15179 h 505967"/>
                  <a:gd name="connsiteX9" fmla="*/ 17957 w 572872"/>
                  <a:gd name="connsiteY9" fmla="*/ 15179 h 505967"/>
                  <a:gd name="connsiteX10" fmla="*/ 126108 w 572872"/>
                  <a:gd name="connsiteY10" fmla="*/ 489524 h 505967"/>
                  <a:gd name="connsiteX11" fmla="*/ 448030 w 572872"/>
                  <a:gd name="connsiteY11" fmla="*/ 489524 h 505967"/>
                  <a:gd name="connsiteX12" fmla="*/ 556180 w 572872"/>
                  <a:gd name="connsiteY12" fmla="*/ 15179 h 505967"/>
                  <a:gd name="connsiteX13" fmla="*/ 474593 w 572872"/>
                  <a:gd name="connsiteY13" fmla="*/ 15179 h 505967"/>
                  <a:gd name="connsiteX14" fmla="*/ 467004 w 572872"/>
                  <a:gd name="connsiteY14" fmla="*/ 7590 h 505967"/>
                  <a:gd name="connsiteX15" fmla="*/ 474593 w 572872"/>
                  <a:gd name="connsiteY15" fmla="*/ 0 h 505967"/>
                  <a:gd name="connsiteX16" fmla="*/ 565035 w 572872"/>
                  <a:gd name="connsiteY16" fmla="*/ 0 h 505967"/>
                  <a:gd name="connsiteX17" fmla="*/ 571360 w 572872"/>
                  <a:gd name="connsiteY17" fmla="*/ 3162 h 505967"/>
                  <a:gd name="connsiteX18" fmla="*/ 572624 w 572872"/>
                  <a:gd name="connsiteY18" fmla="*/ 10119 h 505967"/>
                  <a:gd name="connsiteX19" fmla="*/ 461311 w 572872"/>
                  <a:gd name="connsiteY19" fmla="*/ 500276 h 505967"/>
                  <a:gd name="connsiteX20" fmla="*/ 453722 w 572872"/>
                  <a:gd name="connsiteY20" fmla="*/ 505968 h 505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2872" h="505967">
                    <a:moveTo>
                      <a:pt x="453722" y="505968"/>
                    </a:moveTo>
                    <a:lnTo>
                      <a:pt x="119151" y="505968"/>
                    </a:lnTo>
                    <a:cubicBezTo>
                      <a:pt x="115356" y="505968"/>
                      <a:pt x="112194" y="503438"/>
                      <a:pt x="111561" y="499643"/>
                    </a:cubicBezTo>
                    <a:lnTo>
                      <a:pt x="248" y="10119"/>
                    </a:lnTo>
                    <a:cubicBezTo>
                      <a:pt x="-384" y="7590"/>
                      <a:pt x="248" y="5060"/>
                      <a:pt x="1513" y="3162"/>
                    </a:cubicBezTo>
                    <a:cubicBezTo>
                      <a:pt x="2778" y="1265"/>
                      <a:pt x="5308" y="0"/>
                      <a:pt x="7838" y="0"/>
                    </a:cubicBezTo>
                    <a:lnTo>
                      <a:pt x="272838" y="0"/>
                    </a:lnTo>
                    <a:cubicBezTo>
                      <a:pt x="277266" y="0"/>
                      <a:pt x="280428" y="3795"/>
                      <a:pt x="280428" y="7590"/>
                    </a:cubicBezTo>
                    <a:cubicBezTo>
                      <a:pt x="280428" y="11384"/>
                      <a:pt x="276633" y="15179"/>
                      <a:pt x="272838" y="15179"/>
                    </a:cubicBezTo>
                    <a:lnTo>
                      <a:pt x="17957" y="15179"/>
                    </a:lnTo>
                    <a:lnTo>
                      <a:pt x="126108" y="489524"/>
                    </a:lnTo>
                    <a:lnTo>
                      <a:pt x="448030" y="489524"/>
                    </a:lnTo>
                    <a:lnTo>
                      <a:pt x="556180" y="15179"/>
                    </a:lnTo>
                    <a:lnTo>
                      <a:pt x="474593" y="15179"/>
                    </a:lnTo>
                    <a:cubicBezTo>
                      <a:pt x="470166" y="15179"/>
                      <a:pt x="467004" y="11384"/>
                      <a:pt x="467004" y="7590"/>
                    </a:cubicBezTo>
                    <a:cubicBezTo>
                      <a:pt x="467004" y="3795"/>
                      <a:pt x="470798" y="0"/>
                      <a:pt x="474593" y="0"/>
                    </a:cubicBezTo>
                    <a:lnTo>
                      <a:pt x="565035" y="0"/>
                    </a:lnTo>
                    <a:cubicBezTo>
                      <a:pt x="567565" y="0"/>
                      <a:pt x="569462" y="1265"/>
                      <a:pt x="571360" y="3162"/>
                    </a:cubicBezTo>
                    <a:cubicBezTo>
                      <a:pt x="572624" y="5060"/>
                      <a:pt x="573257" y="7590"/>
                      <a:pt x="572624" y="10119"/>
                    </a:cubicBezTo>
                    <a:lnTo>
                      <a:pt x="461311" y="500276"/>
                    </a:lnTo>
                    <a:cubicBezTo>
                      <a:pt x="460679" y="503438"/>
                      <a:pt x="457517" y="505968"/>
                      <a:pt x="453722" y="505968"/>
                    </a:cubicBezTo>
                    <a:close/>
                  </a:path>
                </a:pathLst>
              </a:custGeom>
              <a:solidFill>
                <a:schemeClr val="accent2"/>
              </a:solidFill>
              <a:ln w="6271" cap="flat">
                <a:noFill/>
                <a:prstDash val="solid"/>
                <a:miter/>
              </a:ln>
            </p:spPr>
            <p:txBody>
              <a:bodyPr rtlCol="0" anchor="ctr"/>
              <a:lstStyle/>
              <a:p>
                <a:endParaRPr lang="en-US"/>
              </a:p>
            </p:txBody>
          </p:sp>
        </p:grpSp>
      </p:grpSp>
      <p:sp>
        <p:nvSpPr>
          <p:cNvPr id="174" name="Rectangle 173">
            <a:extLst>
              <a:ext uri="{FF2B5EF4-FFF2-40B4-BE49-F238E27FC236}">
                <a16:creationId xmlns:a16="http://schemas.microsoft.com/office/drawing/2014/main" id="{FE8EB343-F593-CDAF-3B68-E8E2CDFF2CC3}"/>
              </a:ext>
            </a:extLst>
          </p:cNvPr>
          <p:cNvSpPr/>
          <p:nvPr/>
        </p:nvSpPr>
        <p:spPr>
          <a:xfrm>
            <a:off x="6962241" y="6343119"/>
            <a:ext cx="4618572" cy="215444"/>
          </a:xfrm>
          <a:prstGeom prst="rect">
            <a:avLst/>
          </a:prstGeom>
        </p:spPr>
        <p:txBody>
          <a:bodyPr wrap="none">
            <a:spAutoFit/>
          </a:bodyPr>
          <a:lstStyle/>
          <a:p>
            <a:r>
              <a:rPr lang="en-US" sz="800" dirty="0"/>
              <a:t>*When using a 3</a:t>
            </a:r>
            <a:r>
              <a:rPr lang="en-US" sz="800" baseline="30000" dirty="0"/>
              <a:t>rd</a:t>
            </a:r>
            <a:r>
              <a:rPr lang="en-US" sz="800" dirty="0"/>
              <a:t> party certified solution through VMware vSAN Data Persistence platform</a:t>
            </a:r>
          </a:p>
        </p:txBody>
      </p:sp>
      <p:sp>
        <p:nvSpPr>
          <p:cNvPr id="214" name="Text Placeholder 34">
            <a:extLst>
              <a:ext uri="{FF2B5EF4-FFF2-40B4-BE49-F238E27FC236}">
                <a16:creationId xmlns:a16="http://schemas.microsoft.com/office/drawing/2014/main" id="{B0810202-2879-C95C-AB87-B1ACC6A01470}"/>
              </a:ext>
            </a:extLst>
          </p:cNvPr>
          <p:cNvSpPr txBox="1">
            <a:spLocks/>
          </p:cNvSpPr>
          <p:nvPr/>
        </p:nvSpPr>
        <p:spPr>
          <a:xfrm>
            <a:off x="592654" y="1612909"/>
            <a:ext cx="2175880" cy="422629"/>
          </a:xfrm>
          <a:prstGeom prst="rect">
            <a:avLst/>
          </a:prstGeom>
        </p:spPr>
        <p:txBody>
          <a:bodyPr/>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algn="ctr"/>
            <a:r>
              <a:rPr lang="en-US" sz="1400" dirty="0">
                <a:solidFill>
                  <a:schemeClr val="accent2"/>
                </a:solidFill>
              </a:rPr>
              <a:t>vSAN iSCSI</a:t>
            </a:r>
            <a:br>
              <a:rPr lang="en-US" sz="1400" dirty="0">
                <a:solidFill>
                  <a:schemeClr val="accent2"/>
                </a:solidFill>
              </a:rPr>
            </a:br>
            <a:r>
              <a:rPr lang="en-US" sz="1400" dirty="0">
                <a:solidFill>
                  <a:schemeClr val="accent2"/>
                </a:solidFill>
              </a:rPr>
              <a:t>target service</a:t>
            </a:r>
            <a:br>
              <a:rPr lang="en-US" sz="1400" dirty="0">
                <a:solidFill>
                  <a:schemeClr val="accent2"/>
                </a:solidFill>
              </a:rPr>
            </a:br>
            <a:endParaRPr lang="en-US" sz="1400" dirty="0">
              <a:solidFill>
                <a:schemeClr val="accent2"/>
              </a:solidFill>
            </a:endParaRPr>
          </a:p>
        </p:txBody>
      </p:sp>
      <p:sp>
        <p:nvSpPr>
          <p:cNvPr id="215" name="Text Placeholder 34">
            <a:extLst>
              <a:ext uri="{FF2B5EF4-FFF2-40B4-BE49-F238E27FC236}">
                <a16:creationId xmlns:a16="http://schemas.microsoft.com/office/drawing/2014/main" id="{910C0841-6DFE-4AF2-5866-B4C8590BB4FD}"/>
              </a:ext>
            </a:extLst>
          </p:cNvPr>
          <p:cNvSpPr txBox="1">
            <a:spLocks/>
          </p:cNvSpPr>
          <p:nvPr/>
        </p:nvSpPr>
        <p:spPr>
          <a:xfrm>
            <a:off x="5770625" y="1612909"/>
            <a:ext cx="2140075" cy="422629"/>
          </a:xfrm>
          <a:prstGeom prst="rect">
            <a:avLst/>
          </a:prstGeom>
        </p:spPr>
        <p:txBody>
          <a:bodyPr/>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algn="ctr"/>
            <a:r>
              <a:rPr lang="en-US" sz="1400" dirty="0">
                <a:solidFill>
                  <a:schemeClr val="accent2"/>
                </a:solidFill>
              </a:rPr>
              <a:t>S3 compatible</a:t>
            </a:r>
            <a:br>
              <a:rPr lang="en-US" sz="1400" dirty="0">
                <a:solidFill>
                  <a:schemeClr val="accent2"/>
                </a:solidFill>
              </a:rPr>
            </a:br>
            <a:r>
              <a:rPr lang="en-US" sz="1400" dirty="0">
                <a:solidFill>
                  <a:schemeClr val="accent2"/>
                </a:solidFill>
              </a:rPr>
              <a:t>object storage*</a:t>
            </a:r>
          </a:p>
        </p:txBody>
      </p:sp>
      <p:sp>
        <p:nvSpPr>
          <p:cNvPr id="216" name="Text Placeholder 34">
            <a:extLst>
              <a:ext uri="{FF2B5EF4-FFF2-40B4-BE49-F238E27FC236}">
                <a16:creationId xmlns:a16="http://schemas.microsoft.com/office/drawing/2014/main" id="{13545413-5E26-4823-701E-8ACA70CD71CA}"/>
              </a:ext>
            </a:extLst>
          </p:cNvPr>
          <p:cNvSpPr txBox="1">
            <a:spLocks/>
          </p:cNvSpPr>
          <p:nvPr/>
        </p:nvSpPr>
        <p:spPr>
          <a:xfrm>
            <a:off x="3292733" y="1612909"/>
            <a:ext cx="2175880" cy="422629"/>
          </a:xfrm>
          <a:prstGeom prst="rect">
            <a:avLst/>
          </a:prstGeom>
        </p:spPr>
        <p:txBody>
          <a:bodyPr/>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algn="ctr"/>
            <a:r>
              <a:rPr lang="en-US" sz="1400" dirty="0">
                <a:solidFill>
                  <a:schemeClr val="accent2"/>
                </a:solidFill>
              </a:rPr>
              <a:t>vSAN File</a:t>
            </a:r>
            <a:br>
              <a:rPr lang="en-US" sz="1400" dirty="0">
                <a:solidFill>
                  <a:schemeClr val="accent2"/>
                </a:solidFill>
              </a:rPr>
            </a:br>
            <a:r>
              <a:rPr lang="en-US" sz="1400" dirty="0">
                <a:solidFill>
                  <a:schemeClr val="accent2"/>
                </a:solidFill>
              </a:rPr>
              <a:t>Services</a:t>
            </a:r>
          </a:p>
        </p:txBody>
      </p:sp>
      <p:grpSp>
        <p:nvGrpSpPr>
          <p:cNvPr id="285" name="Group 284">
            <a:extLst>
              <a:ext uri="{FF2B5EF4-FFF2-40B4-BE49-F238E27FC236}">
                <a16:creationId xmlns:a16="http://schemas.microsoft.com/office/drawing/2014/main" id="{7E6733CD-0C10-DD9F-C409-6BF1C01F9042}"/>
              </a:ext>
            </a:extLst>
          </p:cNvPr>
          <p:cNvGrpSpPr/>
          <p:nvPr/>
        </p:nvGrpSpPr>
        <p:grpSpPr>
          <a:xfrm>
            <a:off x="6233390" y="2173252"/>
            <a:ext cx="1238081" cy="746996"/>
            <a:chOff x="6565676" y="2119703"/>
            <a:chExt cx="1238081" cy="746996"/>
          </a:xfrm>
        </p:grpSpPr>
        <p:pic>
          <p:nvPicPr>
            <p:cNvPr id="73" name="Graphic 72">
              <a:extLst>
                <a:ext uri="{FF2B5EF4-FFF2-40B4-BE49-F238E27FC236}">
                  <a16:creationId xmlns:a16="http://schemas.microsoft.com/office/drawing/2014/main" id="{67A0D82F-3615-A964-F9C5-2EF7E6B2A5D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65676" y="2119703"/>
              <a:ext cx="337185" cy="337185"/>
            </a:xfrm>
            <a:prstGeom prst="rect">
              <a:avLst/>
            </a:prstGeom>
          </p:spPr>
        </p:pic>
        <p:pic>
          <p:nvPicPr>
            <p:cNvPr id="74" name="Graphic 73">
              <a:extLst>
                <a:ext uri="{FF2B5EF4-FFF2-40B4-BE49-F238E27FC236}">
                  <a16:creationId xmlns:a16="http://schemas.microsoft.com/office/drawing/2014/main" id="{D7A598C6-B17B-BC33-F798-08AEA620073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66572" y="2119703"/>
              <a:ext cx="337185" cy="337185"/>
            </a:xfrm>
            <a:prstGeom prst="rect">
              <a:avLst/>
            </a:prstGeom>
          </p:spPr>
        </p:pic>
        <p:pic>
          <p:nvPicPr>
            <p:cNvPr id="155" name="Graphic 154">
              <a:extLst>
                <a:ext uri="{FF2B5EF4-FFF2-40B4-BE49-F238E27FC236}">
                  <a16:creationId xmlns:a16="http://schemas.microsoft.com/office/drawing/2014/main" id="{3EF335F7-93D8-6BEA-788A-5360B62A4A3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016124" y="2119703"/>
              <a:ext cx="337185" cy="337185"/>
            </a:xfrm>
            <a:prstGeom prst="rect">
              <a:avLst/>
            </a:prstGeom>
          </p:spPr>
        </p:pic>
        <p:sp>
          <p:nvSpPr>
            <p:cNvPr id="219" name="Text Placeholder 34">
              <a:extLst>
                <a:ext uri="{FF2B5EF4-FFF2-40B4-BE49-F238E27FC236}">
                  <a16:creationId xmlns:a16="http://schemas.microsoft.com/office/drawing/2014/main" id="{C8638976-6F44-4E68-99B8-C23F45085349}"/>
                </a:ext>
              </a:extLst>
            </p:cNvPr>
            <p:cNvSpPr txBox="1">
              <a:spLocks/>
            </p:cNvSpPr>
            <p:nvPr/>
          </p:nvSpPr>
          <p:spPr>
            <a:xfrm>
              <a:off x="6569893" y="2529516"/>
              <a:ext cx="1233863" cy="337183"/>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algn="ctr">
                <a:spcBef>
                  <a:spcPts val="0"/>
                </a:spcBef>
              </a:pPr>
              <a:r>
                <a:rPr lang="en-US" sz="1200" dirty="0">
                  <a:solidFill>
                    <a:schemeClr val="accent5"/>
                  </a:solidFill>
                </a:rPr>
                <a:t>Cloud native applications</a:t>
              </a:r>
            </a:p>
          </p:txBody>
        </p:sp>
      </p:grpSp>
      <p:grpSp>
        <p:nvGrpSpPr>
          <p:cNvPr id="284" name="Group 283">
            <a:extLst>
              <a:ext uri="{FF2B5EF4-FFF2-40B4-BE49-F238E27FC236}">
                <a16:creationId xmlns:a16="http://schemas.microsoft.com/office/drawing/2014/main" id="{8DC6617F-912B-FA0A-0BE8-FE530EC193F1}"/>
              </a:ext>
            </a:extLst>
          </p:cNvPr>
          <p:cNvGrpSpPr/>
          <p:nvPr/>
        </p:nvGrpSpPr>
        <p:grpSpPr>
          <a:xfrm>
            <a:off x="3206946" y="2173252"/>
            <a:ext cx="2347454" cy="759769"/>
            <a:chOff x="3226394" y="2119703"/>
            <a:chExt cx="2347454" cy="759769"/>
          </a:xfrm>
        </p:grpSpPr>
        <p:sp>
          <p:nvSpPr>
            <p:cNvPr id="236" name="Rectangle 235">
              <a:extLst>
                <a:ext uri="{FF2B5EF4-FFF2-40B4-BE49-F238E27FC236}">
                  <a16:creationId xmlns:a16="http://schemas.microsoft.com/office/drawing/2014/main" id="{126ADD2C-FF16-D2E1-9696-8CD264FA0792}"/>
                </a:ext>
              </a:extLst>
            </p:cNvPr>
            <p:cNvSpPr/>
            <p:nvPr/>
          </p:nvSpPr>
          <p:spPr>
            <a:xfrm>
              <a:off x="4650956" y="2510140"/>
              <a:ext cx="922892" cy="369332"/>
            </a:xfrm>
            <a:prstGeom prst="rect">
              <a:avLst/>
            </a:prstGeom>
          </p:spPr>
          <p:txBody>
            <a:bodyPr wrap="square" lIns="0" tIns="0" rIns="0" bIns="0">
              <a:spAutoFit/>
            </a:bodyPr>
            <a:lstStyle/>
            <a:p>
              <a:pPr algn="ctr"/>
              <a:r>
                <a:rPr lang="en-US" sz="1200" dirty="0">
                  <a:solidFill>
                    <a:schemeClr val="accent5"/>
                  </a:solidFill>
                </a:rPr>
                <a:t>Container</a:t>
              </a:r>
              <a:br>
                <a:rPr lang="en-US" sz="1200" dirty="0">
                  <a:solidFill>
                    <a:schemeClr val="accent5"/>
                  </a:solidFill>
                </a:rPr>
              </a:br>
              <a:r>
                <a:rPr lang="en-US" sz="1200" dirty="0">
                  <a:solidFill>
                    <a:schemeClr val="accent5"/>
                  </a:solidFill>
                </a:rPr>
                <a:t>PVs</a:t>
              </a:r>
            </a:p>
          </p:txBody>
        </p:sp>
        <p:pic>
          <p:nvPicPr>
            <p:cNvPr id="237" name="Graphic 236">
              <a:extLst>
                <a:ext uri="{FF2B5EF4-FFF2-40B4-BE49-F238E27FC236}">
                  <a16:creationId xmlns:a16="http://schemas.microsoft.com/office/drawing/2014/main" id="{12831B8F-4B6F-BB06-57DB-53ACD3995556}"/>
                </a:ext>
              </a:extLst>
            </p:cNvPr>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4943809" y="2119703"/>
              <a:ext cx="337186" cy="337186"/>
            </a:xfrm>
            <a:prstGeom prst="rect">
              <a:avLst/>
            </a:prstGeom>
          </p:spPr>
        </p:pic>
        <p:sp>
          <p:nvSpPr>
            <p:cNvPr id="240" name="Rectangle 239">
              <a:extLst>
                <a:ext uri="{FF2B5EF4-FFF2-40B4-BE49-F238E27FC236}">
                  <a16:creationId xmlns:a16="http://schemas.microsoft.com/office/drawing/2014/main" id="{AE2F463C-AA81-3BB5-B45F-293D955CB37E}"/>
                </a:ext>
              </a:extLst>
            </p:cNvPr>
            <p:cNvSpPr/>
            <p:nvPr/>
          </p:nvSpPr>
          <p:spPr>
            <a:xfrm>
              <a:off x="3226394" y="2510140"/>
              <a:ext cx="819726" cy="369332"/>
            </a:xfrm>
            <a:prstGeom prst="rect">
              <a:avLst/>
            </a:prstGeom>
          </p:spPr>
          <p:txBody>
            <a:bodyPr wrap="square" lIns="0" tIns="0" rIns="0" bIns="0">
              <a:spAutoFit/>
            </a:bodyPr>
            <a:lstStyle/>
            <a:p>
              <a:pPr algn="ctr"/>
              <a:r>
                <a:rPr lang="en-US" sz="1200" dirty="0">
                  <a:solidFill>
                    <a:schemeClr val="accent1"/>
                  </a:solidFill>
                </a:rPr>
                <a:t>Windows clients</a:t>
              </a:r>
            </a:p>
          </p:txBody>
        </p:sp>
        <p:pic>
          <p:nvPicPr>
            <p:cNvPr id="242" name="Graphic 241">
              <a:extLst>
                <a:ext uri="{FF2B5EF4-FFF2-40B4-BE49-F238E27FC236}">
                  <a16:creationId xmlns:a16="http://schemas.microsoft.com/office/drawing/2014/main" id="{8E507509-C7DF-A04F-9CD1-DC4DB5C9016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181023" y="2119703"/>
              <a:ext cx="337187" cy="337186"/>
            </a:xfrm>
            <a:prstGeom prst="rect">
              <a:avLst/>
            </a:prstGeom>
          </p:spPr>
        </p:pic>
        <p:sp>
          <p:nvSpPr>
            <p:cNvPr id="243" name="Rectangle 242">
              <a:extLst>
                <a:ext uri="{FF2B5EF4-FFF2-40B4-BE49-F238E27FC236}">
                  <a16:creationId xmlns:a16="http://schemas.microsoft.com/office/drawing/2014/main" id="{A37839E8-8848-055F-472A-875852FBABCA}"/>
                </a:ext>
              </a:extLst>
            </p:cNvPr>
            <p:cNvSpPr/>
            <p:nvPr/>
          </p:nvSpPr>
          <p:spPr>
            <a:xfrm>
              <a:off x="4006347" y="2510140"/>
              <a:ext cx="686539" cy="369332"/>
            </a:xfrm>
            <a:prstGeom prst="rect">
              <a:avLst/>
            </a:prstGeom>
          </p:spPr>
          <p:txBody>
            <a:bodyPr wrap="square" lIns="0" tIns="0" rIns="0" bIns="0">
              <a:spAutoFit/>
            </a:bodyPr>
            <a:lstStyle/>
            <a:p>
              <a:pPr algn="ctr"/>
              <a:r>
                <a:rPr lang="en-US" sz="1200" dirty="0">
                  <a:solidFill>
                    <a:schemeClr val="accent3">
                      <a:lumMod val="75000"/>
                    </a:schemeClr>
                  </a:solidFill>
                </a:rPr>
                <a:t>Linux</a:t>
              </a:r>
              <a:br>
                <a:rPr lang="en-US" sz="1200" dirty="0">
                  <a:solidFill>
                    <a:schemeClr val="accent3">
                      <a:lumMod val="75000"/>
                    </a:schemeClr>
                  </a:solidFill>
                </a:rPr>
              </a:br>
              <a:r>
                <a:rPr lang="en-US" sz="1200" dirty="0">
                  <a:solidFill>
                    <a:schemeClr val="accent3">
                      <a:lumMod val="75000"/>
                    </a:schemeClr>
                  </a:solidFill>
                </a:rPr>
                <a:t>clients</a:t>
              </a:r>
            </a:p>
          </p:txBody>
        </p:sp>
        <p:grpSp>
          <p:nvGrpSpPr>
            <p:cNvPr id="283" name="Group 282">
              <a:extLst>
                <a:ext uri="{FF2B5EF4-FFF2-40B4-BE49-F238E27FC236}">
                  <a16:creationId xmlns:a16="http://schemas.microsoft.com/office/drawing/2014/main" id="{328EF27B-3E6E-4534-5DC4-174AFB331323}"/>
                </a:ext>
              </a:extLst>
            </p:cNvPr>
            <p:cNvGrpSpPr/>
            <p:nvPr/>
          </p:nvGrpSpPr>
          <p:grpSpPr>
            <a:xfrm>
              <a:off x="3467664" y="2119703"/>
              <a:ext cx="337187" cy="337186"/>
              <a:chOff x="3267178" y="2706471"/>
              <a:chExt cx="337187" cy="337186"/>
            </a:xfrm>
          </p:grpSpPr>
          <p:pic>
            <p:nvPicPr>
              <p:cNvPr id="239" name="Graphic 238">
                <a:extLst>
                  <a:ext uri="{FF2B5EF4-FFF2-40B4-BE49-F238E27FC236}">
                    <a16:creationId xmlns:a16="http://schemas.microsoft.com/office/drawing/2014/main" id="{F0077BAC-2621-0566-8810-716D71A7843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267178" y="2706471"/>
                <a:ext cx="337187" cy="337186"/>
              </a:xfrm>
              <a:prstGeom prst="rect">
                <a:avLst/>
              </a:prstGeom>
            </p:spPr>
          </p:pic>
          <p:pic>
            <p:nvPicPr>
              <p:cNvPr id="244" name="Graphic 243">
                <a:extLst>
                  <a:ext uri="{FF2B5EF4-FFF2-40B4-BE49-F238E27FC236}">
                    <a16:creationId xmlns:a16="http://schemas.microsoft.com/office/drawing/2014/main" id="{521BD791-4E35-E223-0EF6-9C706A44B960}"/>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344576" y="2788341"/>
                <a:ext cx="182389" cy="183121"/>
              </a:xfrm>
              <a:prstGeom prst="rect">
                <a:avLst/>
              </a:prstGeom>
            </p:spPr>
          </p:pic>
        </p:grpSp>
        <p:pic>
          <p:nvPicPr>
            <p:cNvPr id="248" name="Graphic 247">
              <a:extLst>
                <a:ext uri="{FF2B5EF4-FFF2-40B4-BE49-F238E27FC236}">
                  <a16:creationId xmlns:a16="http://schemas.microsoft.com/office/drawing/2014/main" id="{A798923C-FECB-9951-A075-A93DDA13E1A4}"/>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233966" y="2119703"/>
              <a:ext cx="231301" cy="279381"/>
            </a:xfrm>
            <a:prstGeom prst="rect">
              <a:avLst/>
            </a:prstGeom>
          </p:spPr>
        </p:pic>
      </p:grpSp>
      <p:grpSp>
        <p:nvGrpSpPr>
          <p:cNvPr id="277" name="Group 276">
            <a:extLst>
              <a:ext uri="{FF2B5EF4-FFF2-40B4-BE49-F238E27FC236}">
                <a16:creationId xmlns:a16="http://schemas.microsoft.com/office/drawing/2014/main" id="{7D9352AC-B40E-CCAC-4019-9D8B48A19F62}"/>
              </a:ext>
            </a:extLst>
          </p:cNvPr>
          <p:cNvGrpSpPr/>
          <p:nvPr/>
        </p:nvGrpSpPr>
        <p:grpSpPr>
          <a:xfrm>
            <a:off x="881996" y="2173252"/>
            <a:ext cx="1602247" cy="773646"/>
            <a:chOff x="-4689071" y="3015807"/>
            <a:chExt cx="1602247" cy="773646"/>
          </a:xfrm>
        </p:grpSpPr>
        <p:grpSp>
          <p:nvGrpSpPr>
            <p:cNvPr id="257" name="Group 256">
              <a:extLst>
                <a:ext uri="{FF2B5EF4-FFF2-40B4-BE49-F238E27FC236}">
                  <a16:creationId xmlns:a16="http://schemas.microsoft.com/office/drawing/2014/main" id="{C90FF656-8F93-C30B-E2F6-9C90782BF991}"/>
                </a:ext>
              </a:extLst>
            </p:cNvPr>
            <p:cNvGrpSpPr/>
            <p:nvPr/>
          </p:nvGrpSpPr>
          <p:grpSpPr>
            <a:xfrm>
              <a:off x="-4689071" y="3015807"/>
              <a:ext cx="1598670" cy="773646"/>
              <a:chOff x="1348985" y="1814884"/>
              <a:chExt cx="1598670" cy="773646"/>
            </a:xfrm>
          </p:grpSpPr>
          <p:sp>
            <p:nvSpPr>
              <p:cNvPr id="258" name="Rectangle: Rounded Corners 234">
                <a:extLst>
                  <a:ext uri="{FF2B5EF4-FFF2-40B4-BE49-F238E27FC236}">
                    <a16:creationId xmlns:a16="http://schemas.microsoft.com/office/drawing/2014/main" id="{44B5D324-27C8-3DD7-7CE7-C514865CF648}"/>
                  </a:ext>
                </a:extLst>
              </p:cNvPr>
              <p:cNvSpPr/>
              <p:nvPr/>
            </p:nvSpPr>
            <p:spPr>
              <a:xfrm>
                <a:off x="1348985" y="1814884"/>
                <a:ext cx="1598670" cy="773646"/>
              </a:xfrm>
              <a:prstGeom prst="rect">
                <a:avLst/>
              </a:prstGeom>
              <a:solidFill>
                <a:schemeClr val="bg1">
                  <a:alpha val="80000"/>
                </a:schemeClr>
              </a:solidFill>
              <a:ln w="19050">
                <a:solidFill>
                  <a:schemeClr val="accent3"/>
                </a:solidFill>
                <a:prstDash val="sysDot"/>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800">
                  <a:solidFill>
                    <a:schemeClr val="bg1"/>
                  </a:solidFill>
                </a:endParaRPr>
              </a:p>
            </p:txBody>
          </p:sp>
          <p:sp>
            <p:nvSpPr>
              <p:cNvPr id="259" name="TextBox 258">
                <a:extLst>
                  <a:ext uri="{FF2B5EF4-FFF2-40B4-BE49-F238E27FC236}">
                    <a16:creationId xmlns:a16="http://schemas.microsoft.com/office/drawing/2014/main" id="{273F8E7E-38D9-F6BA-FD2C-1402430DD49E}"/>
                  </a:ext>
                </a:extLst>
              </p:cNvPr>
              <p:cNvSpPr txBox="1"/>
              <p:nvPr/>
            </p:nvSpPr>
            <p:spPr>
              <a:xfrm>
                <a:off x="1525306" y="2411751"/>
                <a:ext cx="1155188" cy="150853"/>
              </a:xfrm>
              <a:prstGeom prst="rect">
                <a:avLst/>
              </a:prstGeom>
              <a:noFill/>
            </p:spPr>
            <p:txBody>
              <a:bodyPr wrap="square" lIns="0" tIns="0" rIns="0" bIns="0" rtlCol="0">
                <a:noAutofit/>
              </a:bodyPr>
              <a:lstStyle/>
              <a:p>
                <a:pPr algn="ctr">
                  <a:lnSpc>
                    <a:spcPct val="90000"/>
                  </a:lnSpc>
                </a:pPr>
                <a:r>
                  <a:rPr lang="en-US" sz="1200" dirty="0"/>
                  <a:t>iSCSI Network</a:t>
                </a:r>
              </a:p>
            </p:txBody>
          </p:sp>
        </p:grpSp>
        <p:sp>
          <p:nvSpPr>
            <p:cNvPr id="261" name="TextBox 260">
              <a:extLst>
                <a:ext uri="{FF2B5EF4-FFF2-40B4-BE49-F238E27FC236}">
                  <a16:creationId xmlns:a16="http://schemas.microsoft.com/office/drawing/2014/main" id="{9DC1ACBB-F955-3418-D0A8-65C01E35CC98}"/>
                </a:ext>
              </a:extLst>
            </p:cNvPr>
            <p:cNvSpPr txBox="1"/>
            <p:nvPr/>
          </p:nvSpPr>
          <p:spPr>
            <a:xfrm>
              <a:off x="-4624461" y="3056755"/>
              <a:ext cx="782578" cy="172355"/>
            </a:xfrm>
            <a:prstGeom prst="rect">
              <a:avLst/>
            </a:prstGeom>
            <a:noFill/>
          </p:spPr>
          <p:txBody>
            <a:bodyPr wrap="square" lIns="0" tIns="0" rIns="0" bIns="0" rtlCol="0">
              <a:noAutofit/>
            </a:bodyPr>
            <a:lstStyle/>
            <a:p>
              <a:pPr algn="ctr">
                <a:lnSpc>
                  <a:spcPct val="90000"/>
                </a:lnSpc>
              </a:pPr>
              <a:r>
                <a:rPr lang="en-US" sz="1200" dirty="0"/>
                <a:t>Physical</a:t>
              </a:r>
            </a:p>
          </p:txBody>
        </p:sp>
        <p:pic>
          <p:nvPicPr>
            <p:cNvPr id="264" name="Graphic 263">
              <a:extLst>
                <a:ext uri="{FF2B5EF4-FFF2-40B4-BE49-F238E27FC236}">
                  <a16:creationId xmlns:a16="http://schemas.microsoft.com/office/drawing/2014/main" id="{FF3B325A-8DCF-2F63-B391-F8E79D204FCF}"/>
                </a:ext>
              </a:extLst>
            </p:cNvPr>
            <p:cNvPicPr>
              <a:picLocks noChangeAspect="1"/>
            </p:cNvPicPr>
            <p:nvPr/>
          </p:nvPicPr>
          <p:blipFill>
            <a:blip r:embed="rId12">
              <a:extLst>
                <a:ext uri="{96DAC541-7B7A-43D3-8B79-37D633B846F1}">
                  <asvg:svgBlip xmlns:asvg="http://schemas.microsoft.com/office/drawing/2016/SVG/main" r:embed="rId20"/>
                </a:ext>
              </a:extLst>
            </a:blip>
            <a:stretch>
              <a:fillRect/>
            </a:stretch>
          </p:blipFill>
          <p:spPr>
            <a:xfrm>
              <a:off x="-3551595" y="3262247"/>
              <a:ext cx="278411" cy="278411"/>
            </a:xfrm>
            <a:prstGeom prst="rect">
              <a:avLst/>
            </a:prstGeom>
          </p:spPr>
        </p:pic>
        <p:sp>
          <p:nvSpPr>
            <p:cNvPr id="265" name="TextBox 264">
              <a:extLst>
                <a:ext uri="{FF2B5EF4-FFF2-40B4-BE49-F238E27FC236}">
                  <a16:creationId xmlns:a16="http://schemas.microsoft.com/office/drawing/2014/main" id="{950920CF-2F96-AA4A-4F79-58A728A9DCCF}"/>
                </a:ext>
              </a:extLst>
            </p:cNvPr>
            <p:cNvSpPr txBox="1"/>
            <p:nvPr/>
          </p:nvSpPr>
          <p:spPr>
            <a:xfrm>
              <a:off x="-3737955" y="3056755"/>
              <a:ext cx="651131" cy="172355"/>
            </a:xfrm>
            <a:prstGeom prst="rect">
              <a:avLst/>
            </a:prstGeom>
            <a:noFill/>
          </p:spPr>
          <p:txBody>
            <a:bodyPr wrap="square" lIns="0" tIns="0" rIns="0" bIns="0" rtlCol="0">
              <a:noAutofit/>
            </a:bodyPr>
            <a:lstStyle/>
            <a:p>
              <a:pPr algn="ctr">
                <a:lnSpc>
                  <a:spcPct val="90000"/>
                </a:lnSpc>
              </a:pPr>
              <a:r>
                <a:rPr lang="en-US" sz="1200" dirty="0"/>
                <a:t>Virtual</a:t>
              </a:r>
            </a:p>
          </p:txBody>
        </p:sp>
        <p:grpSp>
          <p:nvGrpSpPr>
            <p:cNvPr id="276" name="Group 275">
              <a:extLst>
                <a:ext uri="{FF2B5EF4-FFF2-40B4-BE49-F238E27FC236}">
                  <a16:creationId xmlns:a16="http://schemas.microsoft.com/office/drawing/2014/main" id="{0C45BF2C-0A56-830A-11EB-3DF7BC274678}"/>
                </a:ext>
              </a:extLst>
            </p:cNvPr>
            <p:cNvGrpSpPr/>
            <p:nvPr/>
          </p:nvGrpSpPr>
          <p:grpSpPr>
            <a:xfrm>
              <a:off x="-4593228" y="3228868"/>
              <a:ext cx="720112" cy="345168"/>
              <a:chOff x="-4593228" y="3228868"/>
              <a:chExt cx="720112" cy="345168"/>
            </a:xfrm>
          </p:grpSpPr>
          <p:pic>
            <p:nvPicPr>
              <p:cNvPr id="262" name="Graphic 261">
                <a:extLst>
                  <a:ext uri="{FF2B5EF4-FFF2-40B4-BE49-F238E27FC236}">
                    <a16:creationId xmlns:a16="http://schemas.microsoft.com/office/drawing/2014/main" id="{6A8F438E-B86B-C412-F4F2-96ACAAD9A8CA}"/>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593228" y="3382394"/>
                <a:ext cx="720112" cy="191642"/>
              </a:xfrm>
              <a:prstGeom prst="rect">
                <a:avLst/>
              </a:prstGeom>
            </p:spPr>
          </p:pic>
          <p:sp>
            <p:nvSpPr>
              <p:cNvPr id="275" name="Rectangle 274">
                <a:extLst>
                  <a:ext uri="{FF2B5EF4-FFF2-40B4-BE49-F238E27FC236}">
                    <a16:creationId xmlns:a16="http://schemas.microsoft.com/office/drawing/2014/main" id="{77405D22-7528-7A84-DB17-E31959F44C76}"/>
                  </a:ext>
                </a:extLst>
              </p:cNvPr>
              <p:cNvSpPr/>
              <p:nvPr/>
            </p:nvSpPr>
            <p:spPr>
              <a:xfrm>
                <a:off x="-4593228" y="3228868"/>
                <a:ext cx="720112" cy="139384"/>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000" dirty="0">
                    <a:solidFill>
                      <a:schemeClr val="bg1"/>
                    </a:solidFill>
                  </a:rPr>
                  <a:t>App</a:t>
                </a:r>
              </a:p>
            </p:txBody>
          </p:sp>
        </p:grpSp>
      </p:grpSp>
      <p:grpSp>
        <p:nvGrpSpPr>
          <p:cNvPr id="299" name="Group 298">
            <a:extLst>
              <a:ext uri="{FF2B5EF4-FFF2-40B4-BE49-F238E27FC236}">
                <a16:creationId xmlns:a16="http://schemas.microsoft.com/office/drawing/2014/main" id="{B97B05E0-738B-EA6D-242D-AE029DE125C4}"/>
              </a:ext>
            </a:extLst>
          </p:cNvPr>
          <p:cNvGrpSpPr/>
          <p:nvPr/>
        </p:nvGrpSpPr>
        <p:grpSpPr>
          <a:xfrm>
            <a:off x="2148885" y="3829671"/>
            <a:ext cx="755047" cy="364116"/>
            <a:chOff x="2148885" y="3829671"/>
            <a:chExt cx="755047" cy="364116"/>
          </a:xfrm>
        </p:grpSpPr>
        <p:sp>
          <p:nvSpPr>
            <p:cNvPr id="256" name="Freeform 82">
              <a:extLst>
                <a:ext uri="{FF2B5EF4-FFF2-40B4-BE49-F238E27FC236}">
                  <a16:creationId xmlns:a16="http://schemas.microsoft.com/office/drawing/2014/main" id="{FBCCD06A-E1A5-E944-594C-7F3E1C953A3C}"/>
                </a:ext>
              </a:extLst>
            </p:cNvPr>
            <p:cNvSpPr>
              <a:spLocks noChangeAspect="1" noEditPoints="1"/>
            </p:cNvSpPr>
            <p:nvPr/>
          </p:nvSpPr>
          <p:spPr bwMode="auto">
            <a:xfrm>
              <a:off x="2148885" y="3829671"/>
              <a:ext cx="298328" cy="364116"/>
            </a:xfrm>
            <a:custGeom>
              <a:avLst/>
              <a:gdLst>
                <a:gd name="T0" fmla="*/ 159 w 318"/>
                <a:gd name="T1" fmla="*/ 0 h 388"/>
                <a:gd name="T2" fmla="*/ 0 w 318"/>
                <a:gd name="T3" fmla="*/ 36 h 388"/>
                <a:gd name="T4" fmla="*/ 0 w 318"/>
                <a:gd name="T5" fmla="*/ 198 h 388"/>
                <a:gd name="T6" fmla="*/ 159 w 318"/>
                <a:gd name="T7" fmla="*/ 234 h 388"/>
                <a:gd name="T8" fmla="*/ 318 w 318"/>
                <a:gd name="T9" fmla="*/ 198 h 388"/>
                <a:gd name="T10" fmla="*/ 318 w 318"/>
                <a:gd name="T11" fmla="*/ 36 h 388"/>
                <a:gd name="T12" fmla="*/ 159 w 318"/>
                <a:gd name="T13" fmla="*/ 0 h 388"/>
                <a:gd name="T14" fmla="*/ 302 w 318"/>
                <a:gd name="T15" fmla="*/ 116 h 388"/>
                <a:gd name="T16" fmla="*/ 159 w 318"/>
                <a:gd name="T17" fmla="*/ 137 h 388"/>
                <a:gd name="T18" fmla="*/ 16 w 318"/>
                <a:gd name="T19" fmla="*/ 116 h 388"/>
                <a:gd name="T20" fmla="*/ 16 w 318"/>
                <a:gd name="T21" fmla="*/ 54 h 388"/>
                <a:gd name="T22" fmla="*/ 159 w 318"/>
                <a:gd name="T23" fmla="*/ 72 h 388"/>
                <a:gd name="T24" fmla="*/ 302 w 318"/>
                <a:gd name="T25" fmla="*/ 54 h 388"/>
                <a:gd name="T26" fmla="*/ 302 w 318"/>
                <a:gd name="T27" fmla="*/ 116 h 388"/>
                <a:gd name="T28" fmla="*/ 159 w 318"/>
                <a:gd name="T29" fmla="*/ 16 h 388"/>
                <a:gd name="T30" fmla="*/ 302 w 318"/>
                <a:gd name="T31" fmla="*/ 36 h 388"/>
                <a:gd name="T32" fmla="*/ 159 w 318"/>
                <a:gd name="T33" fmla="*/ 56 h 388"/>
                <a:gd name="T34" fmla="*/ 16 w 318"/>
                <a:gd name="T35" fmla="*/ 36 h 388"/>
                <a:gd name="T36" fmla="*/ 159 w 318"/>
                <a:gd name="T37" fmla="*/ 16 h 388"/>
                <a:gd name="T38" fmla="*/ 159 w 318"/>
                <a:gd name="T39" fmla="*/ 218 h 388"/>
                <a:gd name="T40" fmla="*/ 16 w 318"/>
                <a:gd name="T41" fmla="*/ 197 h 388"/>
                <a:gd name="T42" fmla="*/ 16 w 318"/>
                <a:gd name="T43" fmla="*/ 135 h 388"/>
                <a:gd name="T44" fmla="*/ 159 w 318"/>
                <a:gd name="T45" fmla="*/ 153 h 388"/>
                <a:gd name="T46" fmla="*/ 302 w 318"/>
                <a:gd name="T47" fmla="*/ 135 h 388"/>
                <a:gd name="T48" fmla="*/ 302 w 318"/>
                <a:gd name="T49" fmla="*/ 197 h 388"/>
                <a:gd name="T50" fmla="*/ 159 w 318"/>
                <a:gd name="T51" fmla="*/ 218 h 388"/>
                <a:gd name="T52" fmla="*/ 314 w 318"/>
                <a:gd name="T53" fmla="*/ 282 h 388"/>
                <a:gd name="T54" fmla="*/ 159 w 318"/>
                <a:gd name="T55" fmla="*/ 311 h 388"/>
                <a:gd name="T56" fmla="*/ 4 w 318"/>
                <a:gd name="T57" fmla="*/ 282 h 388"/>
                <a:gd name="T58" fmla="*/ 159 w 318"/>
                <a:gd name="T59" fmla="*/ 252 h 388"/>
                <a:gd name="T60" fmla="*/ 314 w 318"/>
                <a:gd name="T61" fmla="*/ 282 h 388"/>
                <a:gd name="T62" fmla="*/ 314 w 318"/>
                <a:gd name="T63" fmla="*/ 292 h 388"/>
                <a:gd name="T64" fmla="*/ 314 w 318"/>
                <a:gd name="T65" fmla="*/ 358 h 388"/>
                <a:gd name="T66" fmla="*/ 159 w 318"/>
                <a:gd name="T67" fmla="*/ 388 h 388"/>
                <a:gd name="T68" fmla="*/ 4 w 318"/>
                <a:gd name="T69" fmla="*/ 358 h 388"/>
                <a:gd name="T70" fmla="*/ 4 w 318"/>
                <a:gd name="T71" fmla="*/ 292 h 388"/>
                <a:gd name="T72" fmla="*/ 159 w 318"/>
                <a:gd name="T73" fmla="*/ 322 h 388"/>
                <a:gd name="T74" fmla="*/ 314 w 318"/>
                <a:gd name="T75" fmla="*/ 292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18" h="388">
                  <a:moveTo>
                    <a:pt x="159" y="0"/>
                  </a:moveTo>
                  <a:cubicBezTo>
                    <a:pt x="143" y="0"/>
                    <a:pt x="0" y="1"/>
                    <a:pt x="0" y="36"/>
                  </a:cubicBezTo>
                  <a:cubicBezTo>
                    <a:pt x="0" y="198"/>
                    <a:pt x="0" y="198"/>
                    <a:pt x="0" y="198"/>
                  </a:cubicBezTo>
                  <a:cubicBezTo>
                    <a:pt x="0" y="233"/>
                    <a:pt x="143" y="234"/>
                    <a:pt x="159" y="234"/>
                  </a:cubicBezTo>
                  <a:cubicBezTo>
                    <a:pt x="175" y="234"/>
                    <a:pt x="318" y="233"/>
                    <a:pt x="318" y="198"/>
                  </a:cubicBezTo>
                  <a:cubicBezTo>
                    <a:pt x="318" y="36"/>
                    <a:pt x="318" y="36"/>
                    <a:pt x="318" y="36"/>
                  </a:cubicBezTo>
                  <a:cubicBezTo>
                    <a:pt x="318" y="1"/>
                    <a:pt x="175" y="0"/>
                    <a:pt x="159" y="0"/>
                  </a:cubicBezTo>
                  <a:close/>
                  <a:moveTo>
                    <a:pt x="302" y="116"/>
                  </a:moveTo>
                  <a:cubicBezTo>
                    <a:pt x="297" y="123"/>
                    <a:pt x="250" y="137"/>
                    <a:pt x="159" y="137"/>
                  </a:cubicBezTo>
                  <a:cubicBezTo>
                    <a:pt x="69" y="137"/>
                    <a:pt x="21" y="123"/>
                    <a:pt x="16" y="116"/>
                  </a:cubicBezTo>
                  <a:cubicBezTo>
                    <a:pt x="16" y="54"/>
                    <a:pt x="16" y="54"/>
                    <a:pt x="16" y="54"/>
                  </a:cubicBezTo>
                  <a:cubicBezTo>
                    <a:pt x="54" y="72"/>
                    <a:pt x="146" y="72"/>
                    <a:pt x="159" y="72"/>
                  </a:cubicBezTo>
                  <a:cubicBezTo>
                    <a:pt x="172" y="72"/>
                    <a:pt x="265" y="72"/>
                    <a:pt x="302" y="54"/>
                  </a:cubicBezTo>
                  <a:lnTo>
                    <a:pt x="302" y="116"/>
                  </a:lnTo>
                  <a:close/>
                  <a:moveTo>
                    <a:pt x="159" y="16"/>
                  </a:moveTo>
                  <a:cubicBezTo>
                    <a:pt x="247" y="16"/>
                    <a:pt x="294" y="29"/>
                    <a:pt x="302" y="36"/>
                  </a:cubicBezTo>
                  <a:cubicBezTo>
                    <a:pt x="294" y="44"/>
                    <a:pt x="247" y="56"/>
                    <a:pt x="159" y="56"/>
                  </a:cubicBezTo>
                  <a:cubicBezTo>
                    <a:pt x="72" y="56"/>
                    <a:pt x="24" y="44"/>
                    <a:pt x="16" y="36"/>
                  </a:cubicBezTo>
                  <a:cubicBezTo>
                    <a:pt x="24" y="29"/>
                    <a:pt x="72" y="16"/>
                    <a:pt x="159" y="16"/>
                  </a:cubicBezTo>
                  <a:close/>
                  <a:moveTo>
                    <a:pt x="159" y="218"/>
                  </a:moveTo>
                  <a:cubicBezTo>
                    <a:pt x="69" y="218"/>
                    <a:pt x="21" y="204"/>
                    <a:pt x="16" y="197"/>
                  </a:cubicBezTo>
                  <a:cubicBezTo>
                    <a:pt x="16" y="135"/>
                    <a:pt x="16" y="135"/>
                    <a:pt x="16" y="135"/>
                  </a:cubicBezTo>
                  <a:cubicBezTo>
                    <a:pt x="54" y="152"/>
                    <a:pt x="146" y="153"/>
                    <a:pt x="159" y="153"/>
                  </a:cubicBezTo>
                  <a:cubicBezTo>
                    <a:pt x="172" y="153"/>
                    <a:pt x="265" y="152"/>
                    <a:pt x="302" y="135"/>
                  </a:cubicBezTo>
                  <a:cubicBezTo>
                    <a:pt x="302" y="197"/>
                    <a:pt x="302" y="197"/>
                    <a:pt x="302" y="197"/>
                  </a:cubicBezTo>
                  <a:cubicBezTo>
                    <a:pt x="297" y="204"/>
                    <a:pt x="249" y="218"/>
                    <a:pt x="159" y="218"/>
                  </a:cubicBezTo>
                  <a:close/>
                  <a:moveTo>
                    <a:pt x="314" y="282"/>
                  </a:moveTo>
                  <a:cubicBezTo>
                    <a:pt x="314" y="298"/>
                    <a:pt x="245" y="311"/>
                    <a:pt x="159" y="311"/>
                  </a:cubicBezTo>
                  <a:cubicBezTo>
                    <a:pt x="74" y="311"/>
                    <a:pt x="4" y="298"/>
                    <a:pt x="4" y="282"/>
                  </a:cubicBezTo>
                  <a:cubicBezTo>
                    <a:pt x="4" y="265"/>
                    <a:pt x="74" y="252"/>
                    <a:pt x="159" y="252"/>
                  </a:cubicBezTo>
                  <a:cubicBezTo>
                    <a:pt x="245" y="252"/>
                    <a:pt x="314" y="265"/>
                    <a:pt x="314" y="282"/>
                  </a:cubicBezTo>
                  <a:close/>
                  <a:moveTo>
                    <a:pt x="314" y="292"/>
                  </a:moveTo>
                  <a:cubicBezTo>
                    <a:pt x="314" y="358"/>
                    <a:pt x="314" y="358"/>
                    <a:pt x="314" y="358"/>
                  </a:cubicBezTo>
                  <a:cubicBezTo>
                    <a:pt x="314" y="375"/>
                    <a:pt x="245" y="388"/>
                    <a:pt x="159" y="388"/>
                  </a:cubicBezTo>
                  <a:cubicBezTo>
                    <a:pt x="74" y="388"/>
                    <a:pt x="4" y="375"/>
                    <a:pt x="4" y="358"/>
                  </a:cubicBezTo>
                  <a:cubicBezTo>
                    <a:pt x="4" y="292"/>
                    <a:pt x="4" y="292"/>
                    <a:pt x="4" y="292"/>
                  </a:cubicBezTo>
                  <a:cubicBezTo>
                    <a:pt x="4" y="308"/>
                    <a:pt x="74" y="322"/>
                    <a:pt x="159" y="322"/>
                  </a:cubicBezTo>
                  <a:cubicBezTo>
                    <a:pt x="245" y="322"/>
                    <a:pt x="314" y="308"/>
                    <a:pt x="314" y="29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81" name="Freeform 82">
              <a:extLst>
                <a:ext uri="{FF2B5EF4-FFF2-40B4-BE49-F238E27FC236}">
                  <a16:creationId xmlns:a16="http://schemas.microsoft.com/office/drawing/2014/main" id="{0A9DD2E8-21C1-0307-1689-E990F7B0D8E9}"/>
                </a:ext>
              </a:extLst>
            </p:cNvPr>
            <p:cNvSpPr>
              <a:spLocks noChangeAspect="1" noEditPoints="1"/>
            </p:cNvSpPr>
            <p:nvPr/>
          </p:nvSpPr>
          <p:spPr bwMode="auto">
            <a:xfrm>
              <a:off x="2605604" y="3829671"/>
              <a:ext cx="298328" cy="364116"/>
            </a:xfrm>
            <a:custGeom>
              <a:avLst/>
              <a:gdLst>
                <a:gd name="T0" fmla="*/ 159 w 318"/>
                <a:gd name="T1" fmla="*/ 0 h 388"/>
                <a:gd name="T2" fmla="*/ 0 w 318"/>
                <a:gd name="T3" fmla="*/ 36 h 388"/>
                <a:gd name="T4" fmla="*/ 0 w 318"/>
                <a:gd name="T5" fmla="*/ 198 h 388"/>
                <a:gd name="T6" fmla="*/ 159 w 318"/>
                <a:gd name="T7" fmla="*/ 234 h 388"/>
                <a:gd name="T8" fmla="*/ 318 w 318"/>
                <a:gd name="T9" fmla="*/ 198 h 388"/>
                <a:gd name="T10" fmla="*/ 318 w 318"/>
                <a:gd name="T11" fmla="*/ 36 h 388"/>
                <a:gd name="T12" fmla="*/ 159 w 318"/>
                <a:gd name="T13" fmla="*/ 0 h 388"/>
                <a:gd name="T14" fmla="*/ 302 w 318"/>
                <a:gd name="T15" fmla="*/ 116 h 388"/>
                <a:gd name="T16" fmla="*/ 159 w 318"/>
                <a:gd name="T17" fmla="*/ 137 h 388"/>
                <a:gd name="T18" fmla="*/ 16 w 318"/>
                <a:gd name="T19" fmla="*/ 116 h 388"/>
                <a:gd name="T20" fmla="*/ 16 w 318"/>
                <a:gd name="T21" fmla="*/ 54 h 388"/>
                <a:gd name="T22" fmla="*/ 159 w 318"/>
                <a:gd name="T23" fmla="*/ 72 h 388"/>
                <a:gd name="T24" fmla="*/ 302 w 318"/>
                <a:gd name="T25" fmla="*/ 54 h 388"/>
                <a:gd name="T26" fmla="*/ 302 w 318"/>
                <a:gd name="T27" fmla="*/ 116 h 388"/>
                <a:gd name="T28" fmla="*/ 159 w 318"/>
                <a:gd name="T29" fmla="*/ 16 h 388"/>
                <a:gd name="T30" fmla="*/ 302 w 318"/>
                <a:gd name="T31" fmla="*/ 36 h 388"/>
                <a:gd name="T32" fmla="*/ 159 w 318"/>
                <a:gd name="T33" fmla="*/ 56 h 388"/>
                <a:gd name="T34" fmla="*/ 16 w 318"/>
                <a:gd name="T35" fmla="*/ 36 h 388"/>
                <a:gd name="T36" fmla="*/ 159 w 318"/>
                <a:gd name="T37" fmla="*/ 16 h 388"/>
                <a:gd name="T38" fmla="*/ 159 w 318"/>
                <a:gd name="T39" fmla="*/ 218 h 388"/>
                <a:gd name="T40" fmla="*/ 16 w 318"/>
                <a:gd name="T41" fmla="*/ 197 h 388"/>
                <a:gd name="T42" fmla="*/ 16 w 318"/>
                <a:gd name="T43" fmla="*/ 135 h 388"/>
                <a:gd name="T44" fmla="*/ 159 w 318"/>
                <a:gd name="T45" fmla="*/ 153 h 388"/>
                <a:gd name="T46" fmla="*/ 302 w 318"/>
                <a:gd name="T47" fmla="*/ 135 h 388"/>
                <a:gd name="T48" fmla="*/ 302 w 318"/>
                <a:gd name="T49" fmla="*/ 197 h 388"/>
                <a:gd name="T50" fmla="*/ 159 w 318"/>
                <a:gd name="T51" fmla="*/ 218 h 388"/>
                <a:gd name="T52" fmla="*/ 314 w 318"/>
                <a:gd name="T53" fmla="*/ 282 h 388"/>
                <a:gd name="T54" fmla="*/ 159 w 318"/>
                <a:gd name="T55" fmla="*/ 311 h 388"/>
                <a:gd name="T56" fmla="*/ 4 w 318"/>
                <a:gd name="T57" fmla="*/ 282 h 388"/>
                <a:gd name="T58" fmla="*/ 159 w 318"/>
                <a:gd name="T59" fmla="*/ 252 h 388"/>
                <a:gd name="T60" fmla="*/ 314 w 318"/>
                <a:gd name="T61" fmla="*/ 282 h 388"/>
                <a:gd name="T62" fmla="*/ 314 w 318"/>
                <a:gd name="T63" fmla="*/ 292 h 388"/>
                <a:gd name="T64" fmla="*/ 314 w 318"/>
                <a:gd name="T65" fmla="*/ 358 h 388"/>
                <a:gd name="T66" fmla="*/ 159 w 318"/>
                <a:gd name="T67" fmla="*/ 388 h 388"/>
                <a:gd name="T68" fmla="*/ 4 w 318"/>
                <a:gd name="T69" fmla="*/ 358 h 388"/>
                <a:gd name="T70" fmla="*/ 4 w 318"/>
                <a:gd name="T71" fmla="*/ 292 h 388"/>
                <a:gd name="T72" fmla="*/ 159 w 318"/>
                <a:gd name="T73" fmla="*/ 322 h 388"/>
                <a:gd name="T74" fmla="*/ 314 w 318"/>
                <a:gd name="T75" fmla="*/ 292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18" h="388">
                  <a:moveTo>
                    <a:pt x="159" y="0"/>
                  </a:moveTo>
                  <a:cubicBezTo>
                    <a:pt x="143" y="0"/>
                    <a:pt x="0" y="1"/>
                    <a:pt x="0" y="36"/>
                  </a:cubicBezTo>
                  <a:cubicBezTo>
                    <a:pt x="0" y="198"/>
                    <a:pt x="0" y="198"/>
                    <a:pt x="0" y="198"/>
                  </a:cubicBezTo>
                  <a:cubicBezTo>
                    <a:pt x="0" y="233"/>
                    <a:pt x="143" y="234"/>
                    <a:pt x="159" y="234"/>
                  </a:cubicBezTo>
                  <a:cubicBezTo>
                    <a:pt x="175" y="234"/>
                    <a:pt x="318" y="233"/>
                    <a:pt x="318" y="198"/>
                  </a:cubicBezTo>
                  <a:cubicBezTo>
                    <a:pt x="318" y="36"/>
                    <a:pt x="318" y="36"/>
                    <a:pt x="318" y="36"/>
                  </a:cubicBezTo>
                  <a:cubicBezTo>
                    <a:pt x="318" y="1"/>
                    <a:pt x="175" y="0"/>
                    <a:pt x="159" y="0"/>
                  </a:cubicBezTo>
                  <a:close/>
                  <a:moveTo>
                    <a:pt x="302" y="116"/>
                  </a:moveTo>
                  <a:cubicBezTo>
                    <a:pt x="297" y="123"/>
                    <a:pt x="250" y="137"/>
                    <a:pt x="159" y="137"/>
                  </a:cubicBezTo>
                  <a:cubicBezTo>
                    <a:pt x="69" y="137"/>
                    <a:pt x="21" y="123"/>
                    <a:pt x="16" y="116"/>
                  </a:cubicBezTo>
                  <a:cubicBezTo>
                    <a:pt x="16" y="54"/>
                    <a:pt x="16" y="54"/>
                    <a:pt x="16" y="54"/>
                  </a:cubicBezTo>
                  <a:cubicBezTo>
                    <a:pt x="54" y="72"/>
                    <a:pt x="146" y="72"/>
                    <a:pt x="159" y="72"/>
                  </a:cubicBezTo>
                  <a:cubicBezTo>
                    <a:pt x="172" y="72"/>
                    <a:pt x="265" y="72"/>
                    <a:pt x="302" y="54"/>
                  </a:cubicBezTo>
                  <a:lnTo>
                    <a:pt x="302" y="116"/>
                  </a:lnTo>
                  <a:close/>
                  <a:moveTo>
                    <a:pt x="159" y="16"/>
                  </a:moveTo>
                  <a:cubicBezTo>
                    <a:pt x="247" y="16"/>
                    <a:pt x="294" y="29"/>
                    <a:pt x="302" y="36"/>
                  </a:cubicBezTo>
                  <a:cubicBezTo>
                    <a:pt x="294" y="44"/>
                    <a:pt x="247" y="56"/>
                    <a:pt x="159" y="56"/>
                  </a:cubicBezTo>
                  <a:cubicBezTo>
                    <a:pt x="72" y="56"/>
                    <a:pt x="24" y="44"/>
                    <a:pt x="16" y="36"/>
                  </a:cubicBezTo>
                  <a:cubicBezTo>
                    <a:pt x="24" y="29"/>
                    <a:pt x="72" y="16"/>
                    <a:pt x="159" y="16"/>
                  </a:cubicBezTo>
                  <a:close/>
                  <a:moveTo>
                    <a:pt x="159" y="218"/>
                  </a:moveTo>
                  <a:cubicBezTo>
                    <a:pt x="69" y="218"/>
                    <a:pt x="21" y="204"/>
                    <a:pt x="16" y="197"/>
                  </a:cubicBezTo>
                  <a:cubicBezTo>
                    <a:pt x="16" y="135"/>
                    <a:pt x="16" y="135"/>
                    <a:pt x="16" y="135"/>
                  </a:cubicBezTo>
                  <a:cubicBezTo>
                    <a:pt x="54" y="152"/>
                    <a:pt x="146" y="153"/>
                    <a:pt x="159" y="153"/>
                  </a:cubicBezTo>
                  <a:cubicBezTo>
                    <a:pt x="172" y="153"/>
                    <a:pt x="265" y="152"/>
                    <a:pt x="302" y="135"/>
                  </a:cubicBezTo>
                  <a:cubicBezTo>
                    <a:pt x="302" y="197"/>
                    <a:pt x="302" y="197"/>
                    <a:pt x="302" y="197"/>
                  </a:cubicBezTo>
                  <a:cubicBezTo>
                    <a:pt x="297" y="204"/>
                    <a:pt x="249" y="218"/>
                    <a:pt x="159" y="218"/>
                  </a:cubicBezTo>
                  <a:close/>
                  <a:moveTo>
                    <a:pt x="314" y="282"/>
                  </a:moveTo>
                  <a:cubicBezTo>
                    <a:pt x="314" y="298"/>
                    <a:pt x="245" y="311"/>
                    <a:pt x="159" y="311"/>
                  </a:cubicBezTo>
                  <a:cubicBezTo>
                    <a:pt x="74" y="311"/>
                    <a:pt x="4" y="298"/>
                    <a:pt x="4" y="282"/>
                  </a:cubicBezTo>
                  <a:cubicBezTo>
                    <a:pt x="4" y="265"/>
                    <a:pt x="74" y="252"/>
                    <a:pt x="159" y="252"/>
                  </a:cubicBezTo>
                  <a:cubicBezTo>
                    <a:pt x="245" y="252"/>
                    <a:pt x="314" y="265"/>
                    <a:pt x="314" y="282"/>
                  </a:cubicBezTo>
                  <a:close/>
                  <a:moveTo>
                    <a:pt x="314" y="292"/>
                  </a:moveTo>
                  <a:cubicBezTo>
                    <a:pt x="314" y="358"/>
                    <a:pt x="314" y="358"/>
                    <a:pt x="314" y="358"/>
                  </a:cubicBezTo>
                  <a:cubicBezTo>
                    <a:pt x="314" y="375"/>
                    <a:pt x="245" y="388"/>
                    <a:pt x="159" y="388"/>
                  </a:cubicBezTo>
                  <a:cubicBezTo>
                    <a:pt x="74" y="388"/>
                    <a:pt x="4" y="375"/>
                    <a:pt x="4" y="358"/>
                  </a:cubicBezTo>
                  <a:cubicBezTo>
                    <a:pt x="4" y="292"/>
                    <a:pt x="4" y="292"/>
                    <a:pt x="4" y="292"/>
                  </a:cubicBezTo>
                  <a:cubicBezTo>
                    <a:pt x="4" y="308"/>
                    <a:pt x="74" y="322"/>
                    <a:pt x="159" y="322"/>
                  </a:cubicBezTo>
                  <a:cubicBezTo>
                    <a:pt x="245" y="322"/>
                    <a:pt x="314" y="308"/>
                    <a:pt x="314" y="29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cxnSp>
        <p:nvCxnSpPr>
          <p:cNvPr id="286" name="Straight Connector 285">
            <a:extLst>
              <a:ext uri="{FF2B5EF4-FFF2-40B4-BE49-F238E27FC236}">
                <a16:creationId xmlns:a16="http://schemas.microsoft.com/office/drawing/2014/main" id="{252ECCA2-D738-0A58-61F6-371926AE80FA}"/>
              </a:ext>
            </a:extLst>
          </p:cNvPr>
          <p:cNvCxnSpPr>
            <a:cxnSpLocks/>
          </p:cNvCxnSpPr>
          <p:nvPr/>
        </p:nvCxnSpPr>
        <p:spPr bwMode="gray">
          <a:xfrm flipV="1">
            <a:off x="4380673" y="3067050"/>
            <a:ext cx="0" cy="603288"/>
          </a:xfrm>
          <a:prstGeom prst="line">
            <a:avLst/>
          </a:prstGeom>
          <a:ln w="25400">
            <a:solidFill>
              <a:srgbClr val="EC7700"/>
            </a:solidFill>
            <a:miter lim="800000"/>
            <a:headEnd type="diamond" w="lg" len="lg"/>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A684ABB1-9FF2-1360-AE82-6544FE16313F}"/>
              </a:ext>
            </a:extLst>
          </p:cNvPr>
          <p:cNvCxnSpPr>
            <a:cxnSpLocks/>
          </p:cNvCxnSpPr>
          <p:nvPr/>
        </p:nvCxnSpPr>
        <p:spPr bwMode="gray">
          <a:xfrm>
            <a:off x="3292733" y="3067050"/>
            <a:ext cx="2175880" cy="0"/>
          </a:xfrm>
          <a:prstGeom prst="line">
            <a:avLst/>
          </a:prstGeom>
          <a:ln w="25400">
            <a:solidFill>
              <a:srgbClr val="EC77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DDF99E32-BFB5-8EA7-600E-86C4A02CC0DF}"/>
              </a:ext>
            </a:extLst>
          </p:cNvPr>
          <p:cNvCxnSpPr>
            <a:cxnSpLocks/>
          </p:cNvCxnSpPr>
          <p:nvPr/>
        </p:nvCxnSpPr>
        <p:spPr bwMode="gray">
          <a:xfrm>
            <a:off x="595179" y="3067050"/>
            <a:ext cx="2175880" cy="0"/>
          </a:xfrm>
          <a:prstGeom prst="line">
            <a:avLst/>
          </a:prstGeom>
          <a:ln w="25400">
            <a:solidFill>
              <a:srgbClr val="EC77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5CD0F656-9A1A-3065-BC9B-2069DC3E7DB0}"/>
              </a:ext>
            </a:extLst>
          </p:cNvPr>
          <p:cNvCxnSpPr>
            <a:cxnSpLocks/>
          </p:cNvCxnSpPr>
          <p:nvPr/>
        </p:nvCxnSpPr>
        <p:spPr bwMode="gray">
          <a:xfrm>
            <a:off x="5764490" y="3067050"/>
            <a:ext cx="2175880" cy="0"/>
          </a:xfrm>
          <a:prstGeom prst="line">
            <a:avLst/>
          </a:prstGeom>
          <a:ln w="25400">
            <a:solidFill>
              <a:srgbClr val="EC77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E3C01FBC-E22A-88E6-9F93-37CE7AC1B528}"/>
              </a:ext>
            </a:extLst>
          </p:cNvPr>
          <p:cNvCxnSpPr>
            <a:cxnSpLocks/>
          </p:cNvCxnSpPr>
          <p:nvPr/>
        </p:nvCxnSpPr>
        <p:spPr bwMode="gray">
          <a:xfrm flipV="1">
            <a:off x="6184870" y="3362325"/>
            <a:ext cx="0" cy="308013"/>
          </a:xfrm>
          <a:prstGeom prst="line">
            <a:avLst/>
          </a:prstGeom>
          <a:ln w="25400">
            <a:solidFill>
              <a:srgbClr val="EC7700"/>
            </a:solidFill>
            <a:miter lim="800000"/>
            <a:headEnd type="diamond" w="lg" len="lg"/>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10E5B34F-8410-865A-7391-5EBFD2FFF7EF}"/>
              </a:ext>
            </a:extLst>
          </p:cNvPr>
          <p:cNvCxnSpPr>
            <a:cxnSpLocks/>
          </p:cNvCxnSpPr>
          <p:nvPr/>
        </p:nvCxnSpPr>
        <p:spPr bwMode="gray">
          <a:xfrm flipV="1">
            <a:off x="2526408" y="3362325"/>
            <a:ext cx="0" cy="308013"/>
          </a:xfrm>
          <a:prstGeom prst="line">
            <a:avLst/>
          </a:prstGeom>
          <a:ln w="25400">
            <a:solidFill>
              <a:srgbClr val="EC7700"/>
            </a:solidFill>
            <a:miter lim="800000"/>
            <a:headEnd type="diamond" w="lg" len="lg"/>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470CEF92-C60F-89B3-CDDE-C9F1C4A8B1AD}"/>
              </a:ext>
            </a:extLst>
          </p:cNvPr>
          <p:cNvCxnSpPr>
            <a:cxnSpLocks/>
          </p:cNvCxnSpPr>
          <p:nvPr/>
        </p:nvCxnSpPr>
        <p:spPr bwMode="gray">
          <a:xfrm>
            <a:off x="1683119" y="3362325"/>
            <a:ext cx="843289" cy="0"/>
          </a:xfrm>
          <a:prstGeom prst="line">
            <a:avLst/>
          </a:prstGeom>
          <a:ln w="25400">
            <a:solidFill>
              <a:srgbClr val="EC77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D7E0F953-16FA-6EC3-B96C-76FDBE6662F4}"/>
              </a:ext>
            </a:extLst>
          </p:cNvPr>
          <p:cNvCxnSpPr>
            <a:cxnSpLocks/>
          </p:cNvCxnSpPr>
          <p:nvPr/>
        </p:nvCxnSpPr>
        <p:spPr bwMode="gray">
          <a:xfrm flipV="1">
            <a:off x="1683119" y="3067050"/>
            <a:ext cx="0" cy="295275"/>
          </a:xfrm>
          <a:prstGeom prst="line">
            <a:avLst/>
          </a:prstGeom>
          <a:ln w="25400">
            <a:solidFill>
              <a:srgbClr val="EC77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11" name="Straight Connector 310">
            <a:extLst>
              <a:ext uri="{FF2B5EF4-FFF2-40B4-BE49-F238E27FC236}">
                <a16:creationId xmlns:a16="http://schemas.microsoft.com/office/drawing/2014/main" id="{746A3CD1-ADE4-682B-12D0-3E62DA6AA127}"/>
              </a:ext>
            </a:extLst>
          </p:cNvPr>
          <p:cNvCxnSpPr>
            <a:cxnSpLocks/>
          </p:cNvCxnSpPr>
          <p:nvPr/>
        </p:nvCxnSpPr>
        <p:spPr bwMode="gray">
          <a:xfrm>
            <a:off x="6184870" y="3362325"/>
            <a:ext cx="667560" cy="0"/>
          </a:xfrm>
          <a:prstGeom prst="line">
            <a:avLst/>
          </a:prstGeom>
          <a:ln w="25400">
            <a:solidFill>
              <a:srgbClr val="EC77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12" name="Straight Connector 311">
            <a:extLst>
              <a:ext uri="{FF2B5EF4-FFF2-40B4-BE49-F238E27FC236}">
                <a16:creationId xmlns:a16="http://schemas.microsoft.com/office/drawing/2014/main" id="{14057A34-5734-3D25-3431-A61CBF851504}"/>
              </a:ext>
            </a:extLst>
          </p:cNvPr>
          <p:cNvCxnSpPr>
            <a:cxnSpLocks/>
          </p:cNvCxnSpPr>
          <p:nvPr/>
        </p:nvCxnSpPr>
        <p:spPr bwMode="gray">
          <a:xfrm flipV="1">
            <a:off x="6852430" y="3067050"/>
            <a:ext cx="0" cy="295275"/>
          </a:xfrm>
          <a:prstGeom prst="line">
            <a:avLst/>
          </a:prstGeom>
          <a:ln w="25400">
            <a:solidFill>
              <a:srgbClr val="EC77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14" name="Text Placeholder 34">
            <a:extLst>
              <a:ext uri="{FF2B5EF4-FFF2-40B4-BE49-F238E27FC236}">
                <a16:creationId xmlns:a16="http://schemas.microsoft.com/office/drawing/2014/main" id="{A739A148-9332-3C5A-674B-F52E484BEE2E}"/>
              </a:ext>
            </a:extLst>
          </p:cNvPr>
          <p:cNvSpPr txBox="1">
            <a:spLocks/>
          </p:cNvSpPr>
          <p:nvPr/>
        </p:nvSpPr>
        <p:spPr>
          <a:xfrm>
            <a:off x="6926578" y="4724020"/>
            <a:ext cx="1182590" cy="222234"/>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algn="ctr">
              <a:spcBef>
                <a:spcPts val="0"/>
              </a:spcBef>
            </a:pPr>
            <a:r>
              <a:rPr lang="en-US" sz="1200" dirty="0"/>
              <a:t>Data-in-Transit</a:t>
            </a:r>
            <a:br>
              <a:rPr lang="en-US" sz="1200" dirty="0"/>
            </a:br>
            <a:r>
              <a:rPr lang="en-US" sz="1200" dirty="0"/>
              <a:t>Encryption</a:t>
            </a:r>
          </a:p>
        </p:txBody>
      </p:sp>
    </p:spTree>
    <p:extLst>
      <p:ext uri="{BB962C8B-B14F-4D97-AF65-F5344CB8AC3E}">
        <p14:creationId xmlns:p14="http://schemas.microsoft.com/office/powerpoint/2010/main" val="1722113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nodeType="withEffect">
                                  <p:stCondLst>
                                    <p:cond delay="0"/>
                                  </p:stCondLst>
                                  <p:childTnLst>
                                    <p:set>
                                      <p:cBhvr>
                                        <p:cTn id="9" dur="1" fill="hold">
                                          <p:stCondLst>
                                            <p:cond delay="0"/>
                                          </p:stCondLst>
                                        </p:cTn>
                                        <p:tgtEl>
                                          <p:spTgt spid="75"/>
                                        </p:tgtEl>
                                        <p:attrNameLst>
                                          <p:attrName>style.visibility</p:attrName>
                                        </p:attrNameLst>
                                      </p:cBhvr>
                                      <p:to>
                                        <p:strVal val="visible"/>
                                      </p:to>
                                    </p:set>
                                    <p:animEffect transition="in" filter="fade">
                                      <p:cBhvr>
                                        <p:cTn id="10" dur="500"/>
                                        <p:tgtEl>
                                          <p:spTgt spid="75"/>
                                        </p:tgtEl>
                                      </p:cBhvr>
                                    </p:animEffect>
                                  </p:childTnLst>
                                </p:cTn>
                              </p:par>
                              <p:par>
                                <p:cTn id="11" presetID="10" presetClass="entr" presetSubtype="0" fill="hold" nodeType="withEffect">
                                  <p:stCondLst>
                                    <p:cond delay="0"/>
                                  </p:stCondLst>
                                  <p:childTnLst>
                                    <p:set>
                                      <p:cBhvr>
                                        <p:cTn id="12" dur="1" fill="hold">
                                          <p:stCondLst>
                                            <p:cond delay="0"/>
                                          </p:stCondLst>
                                        </p:cTn>
                                        <p:tgtEl>
                                          <p:spTgt spid="81"/>
                                        </p:tgtEl>
                                        <p:attrNameLst>
                                          <p:attrName>style.visibility</p:attrName>
                                        </p:attrNameLst>
                                      </p:cBhvr>
                                      <p:to>
                                        <p:strVal val="visible"/>
                                      </p:to>
                                    </p:set>
                                    <p:animEffect transition="in" filter="fade">
                                      <p:cBhvr>
                                        <p:cTn id="13" dur="500"/>
                                        <p:tgtEl>
                                          <p:spTgt spid="81"/>
                                        </p:tgtEl>
                                      </p:cBhvr>
                                    </p:animEffect>
                                  </p:childTnLst>
                                </p:cTn>
                              </p:par>
                            </p:childTnLst>
                          </p:cTn>
                        </p:par>
                        <p:par>
                          <p:cTn id="14" fill="hold">
                            <p:stCondLst>
                              <p:cond delay="500"/>
                            </p:stCondLst>
                            <p:childTnLst>
                              <p:par>
                                <p:cTn id="15" presetID="10" presetClass="entr" presetSubtype="0" fill="hold" nodeType="afterEffect">
                                  <p:stCondLst>
                                    <p:cond delay="500"/>
                                  </p:stCondLst>
                                  <p:childTnLst>
                                    <p:set>
                                      <p:cBhvr>
                                        <p:cTn id="16" dur="1" fill="hold">
                                          <p:stCondLst>
                                            <p:cond delay="0"/>
                                          </p:stCondLst>
                                        </p:cTn>
                                        <p:tgtEl>
                                          <p:spTgt spid="299"/>
                                        </p:tgtEl>
                                        <p:attrNameLst>
                                          <p:attrName>style.visibility</p:attrName>
                                        </p:attrNameLst>
                                      </p:cBhvr>
                                      <p:to>
                                        <p:strVal val="visible"/>
                                      </p:to>
                                    </p:set>
                                    <p:animEffect transition="in" filter="fade">
                                      <p:cBhvr>
                                        <p:cTn id="17" dur="500"/>
                                        <p:tgtEl>
                                          <p:spTgt spid="299"/>
                                        </p:tgtEl>
                                      </p:cBhvr>
                                    </p:animEffec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277"/>
                                        </p:tgtEl>
                                        <p:attrNameLst>
                                          <p:attrName>style.visibility</p:attrName>
                                        </p:attrNameLst>
                                      </p:cBhvr>
                                      <p:to>
                                        <p:strVal val="visible"/>
                                      </p:to>
                                    </p:set>
                                    <p:animEffect transition="in" filter="fade">
                                      <p:cBhvr>
                                        <p:cTn id="21" dur="500"/>
                                        <p:tgtEl>
                                          <p:spTgt spid="277"/>
                                        </p:tgtEl>
                                      </p:cBhvr>
                                    </p:animEffect>
                                  </p:childTnLst>
                                </p:cTn>
                              </p:par>
                            </p:childTnLst>
                          </p:cTn>
                        </p:par>
                        <p:par>
                          <p:cTn id="22" fill="hold">
                            <p:stCondLst>
                              <p:cond delay="2000"/>
                            </p:stCondLst>
                            <p:childTnLst>
                              <p:par>
                                <p:cTn id="23" presetID="10" presetClass="entr" presetSubtype="0" fill="hold" grpId="0" nodeType="afterEffect">
                                  <p:stCondLst>
                                    <p:cond delay="0"/>
                                  </p:stCondLst>
                                  <p:childTnLst>
                                    <p:set>
                                      <p:cBhvr>
                                        <p:cTn id="24" dur="1" fill="hold">
                                          <p:stCondLst>
                                            <p:cond delay="0"/>
                                          </p:stCondLst>
                                        </p:cTn>
                                        <p:tgtEl>
                                          <p:spTgt spid="214"/>
                                        </p:tgtEl>
                                        <p:attrNameLst>
                                          <p:attrName>style.visibility</p:attrName>
                                        </p:attrNameLst>
                                      </p:cBhvr>
                                      <p:to>
                                        <p:strVal val="visible"/>
                                      </p:to>
                                    </p:set>
                                    <p:animEffect transition="in" filter="fade">
                                      <p:cBhvr>
                                        <p:cTn id="25" dur="500"/>
                                        <p:tgtEl>
                                          <p:spTgt spid="214"/>
                                        </p:tgtEl>
                                      </p:cBhvr>
                                    </p:animEffect>
                                  </p:childTnLst>
                                </p:cTn>
                              </p:par>
                            </p:childTnLst>
                          </p:cTn>
                        </p:par>
                        <p:par>
                          <p:cTn id="26" fill="hold">
                            <p:stCondLst>
                              <p:cond delay="2500"/>
                            </p:stCondLst>
                            <p:childTnLst>
                              <p:par>
                                <p:cTn id="27" presetID="16" presetClass="entr" presetSubtype="21" fill="hold" nodeType="afterEffect">
                                  <p:stCondLst>
                                    <p:cond delay="0"/>
                                  </p:stCondLst>
                                  <p:childTnLst>
                                    <p:set>
                                      <p:cBhvr>
                                        <p:cTn id="28" dur="1" fill="hold">
                                          <p:stCondLst>
                                            <p:cond delay="0"/>
                                          </p:stCondLst>
                                        </p:cTn>
                                        <p:tgtEl>
                                          <p:spTgt spid="293"/>
                                        </p:tgtEl>
                                        <p:attrNameLst>
                                          <p:attrName>style.visibility</p:attrName>
                                        </p:attrNameLst>
                                      </p:cBhvr>
                                      <p:to>
                                        <p:strVal val="visible"/>
                                      </p:to>
                                    </p:set>
                                    <p:animEffect transition="in" filter="barn(inVertical)">
                                      <p:cBhvr>
                                        <p:cTn id="29" dur="500"/>
                                        <p:tgtEl>
                                          <p:spTgt spid="293"/>
                                        </p:tgtEl>
                                      </p:cBhvr>
                                    </p:animEffect>
                                  </p:childTnLst>
                                </p:cTn>
                              </p:par>
                            </p:childTnLst>
                          </p:cTn>
                        </p:par>
                        <p:par>
                          <p:cTn id="30" fill="hold">
                            <p:stCondLst>
                              <p:cond delay="3000"/>
                            </p:stCondLst>
                            <p:childTnLst>
                              <p:par>
                                <p:cTn id="31" presetID="22" presetClass="entr" presetSubtype="1" fill="hold" nodeType="afterEffect">
                                  <p:stCondLst>
                                    <p:cond delay="0"/>
                                  </p:stCondLst>
                                  <p:childTnLst>
                                    <p:set>
                                      <p:cBhvr>
                                        <p:cTn id="32" dur="1" fill="hold">
                                          <p:stCondLst>
                                            <p:cond delay="0"/>
                                          </p:stCondLst>
                                        </p:cTn>
                                        <p:tgtEl>
                                          <p:spTgt spid="308"/>
                                        </p:tgtEl>
                                        <p:attrNameLst>
                                          <p:attrName>style.visibility</p:attrName>
                                        </p:attrNameLst>
                                      </p:cBhvr>
                                      <p:to>
                                        <p:strVal val="visible"/>
                                      </p:to>
                                    </p:set>
                                    <p:animEffect transition="in" filter="wipe(up)">
                                      <p:cBhvr>
                                        <p:cTn id="33" dur="250"/>
                                        <p:tgtEl>
                                          <p:spTgt spid="308"/>
                                        </p:tgtEl>
                                      </p:cBhvr>
                                    </p:animEffect>
                                  </p:childTnLst>
                                </p:cTn>
                              </p:par>
                            </p:childTnLst>
                          </p:cTn>
                        </p:par>
                        <p:par>
                          <p:cTn id="34" fill="hold">
                            <p:stCondLst>
                              <p:cond delay="3250"/>
                            </p:stCondLst>
                            <p:childTnLst>
                              <p:par>
                                <p:cTn id="35" presetID="22" presetClass="entr" presetSubtype="8" fill="hold" nodeType="afterEffect">
                                  <p:stCondLst>
                                    <p:cond delay="0"/>
                                  </p:stCondLst>
                                  <p:childTnLst>
                                    <p:set>
                                      <p:cBhvr>
                                        <p:cTn id="36" dur="1" fill="hold">
                                          <p:stCondLst>
                                            <p:cond delay="0"/>
                                          </p:stCondLst>
                                        </p:cTn>
                                        <p:tgtEl>
                                          <p:spTgt spid="303"/>
                                        </p:tgtEl>
                                        <p:attrNameLst>
                                          <p:attrName>style.visibility</p:attrName>
                                        </p:attrNameLst>
                                      </p:cBhvr>
                                      <p:to>
                                        <p:strVal val="visible"/>
                                      </p:to>
                                    </p:set>
                                    <p:animEffect transition="in" filter="wipe(left)">
                                      <p:cBhvr>
                                        <p:cTn id="37" dur="250"/>
                                        <p:tgtEl>
                                          <p:spTgt spid="303"/>
                                        </p:tgtEl>
                                      </p:cBhvr>
                                    </p:animEffect>
                                  </p:childTnLst>
                                </p:cTn>
                              </p:par>
                            </p:childTnLst>
                          </p:cTn>
                        </p:par>
                        <p:par>
                          <p:cTn id="38" fill="hold">
                            <p:stCondLst>
                              <p:cond delay="3500"/>
                            </p:stCondLst>
                            <p:childTnLst>
                              <p:par>
                                <p:cTn id="39" presetID="22" presetClass="entr" presetSubtype="1" fill="hold" nodeType="afterEffect">
                                  <p:stCondLst>
                                    <p:cond delay="0"/>
                                  </p:stCondLst>
                                  <p:childTnLst>
                                    <p:set>
                                      <p:cBhvr>
                                        <p:cTn id="40" dur="1" fill="hold">
                                          <p:stCondLst>
                                            <p:cond delay="0"/>
                                          </p:stCondLst>
                                        </p:cTn>
                                        <p:tgtEl>
                                          <p:spTgt spid="298"/>
                                        </p:tgtEl>
                                        <p:attrNameLst>
                                          <p:attrName>style.visibility</p:attrName>
                                        </p:attrNameLst>
                                      </p:cBhvr>
                                      <p:to>
                                        <p:strVal val="visible"/>
                                      </p:to>
                                    </p:set>
                                    <p:animEffect transition="in" filter="wipe(up)">
                                      <p:cBhvr>
                                        <p:cTn id="41" dur="250"/>
                                        <p:tgtEl>
                                          <p:spTgt spid="298"/>
                                        </p:tgtEl>
                                      </p:cBhvr>
                                    </p:animEffect>
                                  </p:childTnLst>
                                </p:cTn>
                              </p:par>
                            </p:childTnLst>
                          </p:cTn>
                        </p:par>
                        <p:par>
                          <p:cTn id="42" fill="hold">
                            <p:stCondLst>
                              <p:cond delay="3750"/>
                            </p:stCondLst>
                            <p:childTnLst>
                              <p:par>
                                <p:cTn id="43" presetID="26" presetClass="emph" presetSubtype="0" fill="hold" grpId="1" nodeType="afterEffect">
                                  <p:stCondLst>
                                    <p:cond delay="500"/>
                                  </p:stCondLst>
                                  <p:childTnLst>
                                    <p:animEffect transition="out" filter="fade">
                                      <p:cBhvr>
                                        <p:cTn id="44" dur="500" tmFilter="0, 0; .2, .5; .8, .5; 1, 0"/>
                                        <p:tgtEl>
                                          <p:spTgt spid="214"/>
                                        </p:tgtEl>
                                      </p:cBhvr>
                                    </p:animEffect>
                                    <p:animScale>
                                      <p:cBhvr>
                                        <p:cTn id="45" dur="250" autoRev="1" fill="hold"/>
                                        <p:tgtEl>
                                          <p:spTgt spid="214"/>
                                        </p:tgtEl>
                                      </p:cBhvr>
                                      <p:by x="105000" y="105000"/>
                                    </p:animScale>
                                  </p:childTnLst>
                                </p:cTn>
                              </p:par>
                            </p:childTnLst>
                          </p:cTn>
                        </p:par>
                        <p:par>
                          <p:cTn id="46" fill="hold">
                            <p:stCondLst>
                              <p:cond delay="4750"/>
                            </p:stCondLst>
                            <p:childTnLst>
                              <p:par>
                                <p:cTn id="47" presetID="10" presetClass="entr" presetSubtype="0" fill="hold" nodeType="afterEffect">
                                  <p:stCondLst>
                                    <p:cond delay="500"/>
                                  </p:stCondLst>
                                  <p:childTnLst>
                                    <p:set>
                                      <p:cBhvr>
                                        <p:cTn id="48" dur="1" fill="hold">
                                          <p:stCondLst>
                                            <p:cond delay="0"/>
                                          </p:stCondLst>
                                        </p:cTn>
                                        <p:tgtEl>
                                          <p:spTgt spid="305"/>
                                        </p:tgtEl>
                                        <p:attrNameLst>
                                          <p:attrName>style.visibility</p:attrName>
                                        </p:attrNameLst>
                                      </p:cBhvr>
                                      <p:to>
                                        <p:strVal val="visible"/>
                                      </p:to>
                                    </p:set>
                                    <p:animEffect transition="in" filter="fade">
                                      <p:cBhvr>
                                        <p:cTn id="49" dur="500"/>
                                        <p:tgtEl>
                                          <p:spTgt spid="305"/>
                                        </p:tgtEl>
                                      </p:cBhvr>
                                    </p:animEffect>
                                  </p:childTnLst>
                                </p:cTn>
                              </p:par>
                            </p:childTnLst>
                          </p:cTn>
                        </p:par>
                        <p:par>
                          <p:cTn id="50" fill="hold">
                            <p:stCondLst>
                              <p:cond delay="5750"/>
                            </p:stCondLst>
                            <p:childTnLst>
                              <p:par>
                                <p:cTn id="51" presetID="10" presetClass="entr" presetSubtype="0" fill="hold" nodeType="afterEffect">
                                  <p:stCondLst>
                                    <p:cond delay="0"/>
                                  </p:stCondLst>
                                  <p:childTnLst>
                                    <p:set>
                                      <p:cBhvr>
                                        <p:cTn id="52" dur="1" fill="hold">
                                          <p:stCondLst>
                                            <p:cond delay="0"/>
                                          </p:stCondLst>
                                        </p:cTn>
                                        <p:tgtEl>
                                          <p:spTgt spid="284"/>
                                        </p:tgtEl>
                                        <p:attrNameLst>
                                          <p:attrName>style.visibility</p:attrName>
                                        </p:attrNameLst>
                                      </p:cBhvr>
                                      <p:to>
                                        <p:strVal val="visible"/>
                                      </p:to>
                                    </p:set>
                                    <p:animEffect transition="in" filter="fade">
                                      <p:cBhvr>
                                        <p:cTn id="53" dur="500"/>
                                        <p:tgtEl>
                                          <p:spTgt spid="284"/>
                                        </p:tgtEl>
                                      </p:cBhvr>
                                    </p:animEffect>
                                  </p:childTnLst>
                                </p:cTn>
                              </p:par>
                            </p:childTnLst>
                          </p:cTn>
                        </p:par>
                        <p:par>
                          <p:cTn id="54" fill="hold">
                            <p:stCondLst>
                              <p:cond delay="6250"/>
                            </p:stCondLst>
                            <p:childTnLst>
                              <p:par>
                                <p:cTn id="55" presetID="10" presetClass="entr" presetSubtype="0" fill="hold" grpId="0" nodeType="afterEffect">
                                  <p:stCondLst>
                                    <p:cond delay="0"/>
                                  </p:stCondLst>
                                  <p:childTnLst>
                                    <p:set>
                                      <p:cBhvr>
                                        <p:cTn id="56" dur="1" fill="hold">
                                          <p:stCondLst>
                                            <p:cond delay="0"/>
                                          </p:stCondLst>
                                        </p:cTn>
                                        <p:tgtEl>
                                          <p:spTgt spid="216"/>
                                        </p:tgtEl>
                                        <p:attrNameLst>
                                          <p:attrName>style.visibility</p:attrName>
                                        </p:attrNameLst>
                                      </p:cBhvr>
                                      <p:to>
                                        <p:strVal val="visible"/>
                                      </p:to>
                                    </p:set>
                                    <p:animEffect transition="in" filter="fade">
                                      <p:cBhvr>
                                        <p:cTn id="57" dur="500"/>
                                        <p:tgtEl>
                                          <p:spTgt spid="216"/>
                                        </p:tgtEl>
                                      </p:cBhvr>
                                    </p:animEffect>
                                  </p:childTnLst>
                                </p:cTn>
                              </p:par>
                            </p:childTnLst>
                          </p:cTn>
                        </p:par>
                        <p:par>
                          <p:cTn id="58" fill="hold">
                            <p:stCondLst>
                              <p:cond delay="6750"/>
                            </p:stCondLst>
                            <p:childTnLst>
                              <p:par>
                                <p:cTn id="59" presetID="16" presetClass="entr" presetSubtype="21" fill="hold" nodeType="afterEffect">
                                  <p:stCondLst>
                                    <p:cond delay="0"/>
                                  </p:stCondLst>
                                  <p:childTnLst>
                                    <p:set>
                                      <p:cBhvr>
                                        <p:cTn id="60" dur="1" fill="hold">
                                          <p:stCondLst>
                                            <p:cond delay="0"/>
                                          </p:stCondLst>
                                        </p:cTn>
                                        <p:tgtEl>
                                          <p:spTgt spid="289"/>
                                        </p:tgtEl>
                                        <p:attrNameLst>
                                          <p:attrName>style.visibility</p:attrName>
                                        </p:attrNameLst>
                                      </p:cBhvr>
                                      <p:to>
                                        <p:strVal val="visible"/>
                                      </p:to>
                                    </p:set>
                                    <p:animEffect transition="in" filter="barn(inVertical)">
                                      <p:cBhvr>
                                        <p:cTn id="61" dur="500"/>
                                        <p:tgtEl>
                                          <p:spTgt spid="289"/>
                                        </p:tgtEl>
                                      </p:cBhvr>
                                    </p:animEffect>
                                  </p:childTnLst>
                                </p:cTn>
                              </p:par>
                            </p:childTnLst>
                          </p:cTn>
                        </p:par>
                        <p:par>
                          <p:cTn id="62" fill="hold">
                            <p:stCondLst>
                              <p:cond delay="7250"/>
                            </p:stCondLst>
                            <p:childTnLst>
                              <p:par>
                                <p:cTn id="63" presetID="22" presetClass="entr" presetSubtype="1" fill="hold" nodeType="afterEffect">
                                  <p:stCondLst>
                                    <p:cond delay="0"/>
                                  </p:stCondLst>
                                  <p:childTnLst>
                                    <p:set>
                                      <p:cBhvr>
                                        <p:cTn id="64" dur="1" fill="hold">
                                          <p:stCondLst>
                                            <p:cond delay="0"/>
                                          </p:stCondLst>
                                        </p:cTn>
                                        <p:tgtEl>
                                          <p:spTgt spid="286"/>
                                        </p:tgtEl>
                                        <p:attrNameLst>
                                          <p:attrName>style.visibility</p:attrName>
                                        </p:attrNameLst>
                                      </p:cBhvr>
                                      <p:to>
                                        <p:strVal val="visible"/>
                                      </p:to>
                                    </p:set>
                                    <p:animEffect transition="in" filter="wipe(up)">
                                      <p:cBhvr>
                                        <p:cTn id="65" dur="500"/>
                                        <p:tgtEl>
                                          <p:spTgt spid="286"/>
                                        </p:tgtEl>
                                      </p:cBhvr>
                                    </p:animEffect>
                                  </p:childTnLst>
                                </p:cTn>
                              </p:par>
                            </p:childTnLst>
                          </p:cTn>
                        </p:par>
                        <p:par>
                          <p:cTn id="66" fill="hold">
                            <p:stCondLst>
                              <p:cond delay="7750"/>
                            </p:stCondLst>
                            <p:childTnLst>
                              <p:par>
                                <p:cTn id="67" presetID="26" presetClass="emph" presetSubtype="0" fill="hold" grpId="1" nodeType="afterEffect">
                                  <p:stCondLst>
                                    <p:cond delay="500"/>
                                  </p:stCondLst>
                                  <p:childTnLst>
                                    <p:animEffect transition="out" filter="fade">
                                      <p:cBhvr>
                                        <p:cTn id="68" dur="500" tmFilter="0, 0; .2, .5; .8, .5; 1, 0"/>
                                        <p:tgtEl>
                                          <p:spTgt spid="216"/>
                                        </p:tgtEl>
                                      </p:cBhvr>
                                    </p:animEffect>
                                    <p:animScale>
                                      <p:cBhvr>
                                        <p:cTn id="69" dur="250" autoRev="1" fill="hold"/>
                                        <p:tgtEl>
                                          <p:spTgt spid="216"/>
                                        </p:tgtEl>
                                      </p:cBhvr>
                                      <p:by x="105000" y="105000"/>
                                    </p:animScale>
                                  </p:childTnLst>
                                </p:cTn>
                              </p:par>
                            </p:childTnLst>
                          </p:cTn>
                        </p:par>
                        <p:par>
                          <p:cTn id="70" fill="hold">
                            <p:stCondLst>
                              <p:cond delay="8750"/>
                            </p:stCondLst>
                            <p:childTnLst>
                              <p:par>
                                <p:cTn id="71" presetID="10" presetClass="entr" presetSubtype="0" fill="hold" nodeType="afterEffect">
                                  <p:stCondLst>
                                    <p:cond delay="500"/>
                                  </p:stCondLst>
                                  <p:childTnLst>
                                    <p:set>
                                      <p:cBhvr>
                                        <p:cTn id="72" dur="1" fill="hold">
                                          <p:stCondLst>
                                            <p:cond delay="0"/>
                                          </p:stCondLst>
                                        </p:cTn>
                                        <p:tgtEl>
                                          <p:spTgt spid="301"/>
                                        </p:tgtEl>
                                        <p:attrNameLst>
                                          <p:attrName>style.visibility</p:attrName>
                                        </p:attrNameLst>
                                      </p:cBhvr>
                                      <p:to>
                                        <p:strVal val="visible"/>
                                      </p:to>
                                    </p:set>
                                    <p:animEffect transition="in" filter="fade">
                                      <p:cBhvr>
                                        <p:cTn id="73" dur="500"/>
                                        <p:tgtEl>
                                          <p:spTgt spid="301"/>
                                        </p:tgtEl>
                                      </p:cBhvr>
                                    </p:animEffect>
                                  </p:childTnLst>
                                </p:cTn>
                              </p:par>
                            </p:childTnLst>
                          </p:cTn>
                        </p:par>
                        <p:par>
                          <p:cTn id="74" fill="hold">
                            <p:stCondLst>
                              <p:cond delay="9750"/>
                            </p:stCondLst>
                            <p:childTnLst>
                              <p:par>
                                <p:cTn id="75" presetID="10" presetClass="entr" presetSubtype="0" fill="hold" nodeType="afterEffect">
                                  <p:stCondLst>
                                    <p:cond delay="0"/>
                                  </p:stCondLst>
                                  <p:childTnLst>
                                    <p:set>
                                      <p:cBhvr>
                                        <p:cTn id="76" dur="1" fill="hold">
                                          <p:stCondLst>
                                            <p:cond delay="0"/>
                                          </p:stCondLst>
                                        </p:cTn>
                                        <p:tgtEl>
                                          <p:spTgt spid="285"/>
                                        </p:tgtEl>
                                        <p:attrNameLst>
                                          <p:attrName>style.visibility</p:attrName>
                                        </p:attrNameLst>
                                      </p:cBhvr>
                                      <p:to>
                                        <p:strVal val="visible"/>
                                      </p:to>
                                    </p:set>
                                    <p:animEffect transition="in" filter="fade">
                                      <p:cBhvr>
                                        <p:cTn id="77" dur="500"/>
                                        <p:tgtEl>
                                          <p:spTgt spid="285"/>
                                        </p:tgtEl>
                                      </p:cBhvr>
                                    </p:animEffect>
                                  </p:childTnLst>
                                </p:cTn>
                              </p:par>
                            </p:childTnLst>
                          </p:cTn>
                        </p:par>
                        <p:par>
                          <p:cTn id="78" fill="hold">
                            <p:stCondLst>
                              <p:cond delay="10250"/>
                            </p:stCondLst>
                            <p:childTnLst>
                              <p:par>
                                <p:cTn id="79" presetID="10" presetClass="entr" presetSubtype="0" fill="hold" grpId="0" nodeType="afterEffect">
                                  <p:stCondLst>
                                    <p:cond delay="0"/>
                                  </p:stCondLst>
                                  <p:childTnLst>
                                    <p:set>
                                      <p:cBhvr>
                                        <p:cTn id="80" dur="1" fill="hold">
                                          <p:stCondLst>
                                            <p:cond delay="0"/>
                                          </p:stCondLst>
                                        </p:cTn>
                                        <p:tgtEl>
                                          <p:spTgt spid="215"/>
                                        </p:tgtEl>
                                        <p:attrNameLst>
                                          <p:attrName>style.visibility</p:attrName>
                                        </p:attrNameLst>
                                      </p:cBhvr>
                                      <p:to>
                                        <p:strVal val="visible"/>
                                      </p:to>
                                    </p:set>
                                    <p:animEffect transition="in" filter="fade">
                                      <p:cBhvr>
                                        <p:cTn id="81" dur="500"/>
                                        <p:tgtEl>
                                          <p:spTgt spid="215"/>
                                        </p:tgtEl>
                                      </p:cBhvr>
                                    </p:animEffect>
                                  </p:childTnLst>
                                </p:cTn>
                              </p:par>
                            </p:childTnLst>
                          </p:cTn>
                        </p:par>
                        <p:par>
                          <p:cTn id="82" fill="hold">
                            <p:stCondLst>
                              <p:cond delay="10750"/>
                            </p:stCondLst>
                            <p:childTnLst>
                              <p:par>
                                <p:cTn id="83" presetID="16" presetClass="entr" presetSubtype="21" fill="hold" nodeType="afterEffect">
                                  <p:stCondLst>
                                    <p:cond delay="0"/>
                                  </p:stCondLst>
                                  <p:childTnLst>
                                    <p:set>
                                      <p:cBhvr>
                                        <p:cTn id="84" dur="1" fill="hold">
                                          <p:stCondLst>
                                            <p:cond delay="0"/>
                                          </p:stCondLst>
                                        </p:cTn>
                                        <p:tgtEl>
                                          <p:spTgt spid="294"/>
                                        </p:tgtEl>
                                        <p:attrNameLst>
                                          <p:attrName>style.visibility</p:attrName>
                                        </p:attrNameLst>
                                      </p:cBhvr>
                                      <p:to>
                                        <p:strVal val="visible"/>
                                      </p:to>
                                    </p:set>
                                    <p:animEffect transition="in" filter="barn(inVertical)">
                                      <p:cBhvr>
                                        <p:cTn id="85" dur="500"/>
                                        <p:tgtEl>
                                          <p:spTgt spid="294"/>
                                        </p:tgtEl>
                                      </p:cBhvr>
                                    </p:animEffect>
                                  </p:childTnLst>
                                </p:cTn>
                              </p:par>
                            </p:childTnLst>
                          </p:cTn>
                        </p:par>
                        <p:par>
                          <p:cTn id="86" fill="hold">
                            <p:stCondLst>
                              <p:cond delay="11250"/>
                            </p:stCondLst>
                            <p:childTnLst>
                              <p:par>
                                <p:cTn id="87" presetID="22" presetClass="entr" presetSubtype="1" fill="hold" nodeType="afterEffect">
                                  <p:stCondLst>
                                    <p:cond delay="0"/>
                                  </p:stCondLst>
                                  <p:childTnLst>
                                    <p:set>
                                      <p:cBhvr>
                                        <p:cTn id="88" dur="1" fill="hold">
                                          <p:stCondLst>
                                            <p:cond delay="0"/>
                                          </p:stCondLst>
                                        </p:cTn>
                                        <p:tgtEl>
                                          <p:spTgt spid="312"/>
                                        </p:tgtEl>
                                        <p:attrNameLst>
                                          <p:attrName>style.visibility</p:attrName>
                                        </p:attrNameLst>
                                      </p:cBhvr>
                                      <p:to>
                                        <p:strVal val="visible"/>
                                      </p:to>
                                    </p:set>
                                    <p:animEffect transition="in" filter="wipe(up)">
                                      <p:cBhvr>
                                        <p:cTn id="89" dur="250"/>
                                        <p:tgtEl>
                                          <p:spTgt spid="312"/>
                                        </p:tgtEl>
                                      </p:cBhvr>
                                    </p:animEffect>
                                  </p:childTnLst>
                                </p:cTn>
                              </p:par>
                            </p:childTnLst>
                          </p:cTn>
                        </p:par>
                        <p:par>
                          <p:cTn id="90" fill="hold">
                            <p:stCondLst>
                              <p:cond delay="11500"/>
                            </p:stCondLst>
                            <p:childTnLst>
                              <p:par>
                                <p:cTn id="91" presetID="22" presetClass="entr" presetSubtype="2" fill="hold" nodeType="afterEffect">
                                  <p:stCondLst>
                                    <p:cond delay="0"/>
                                  </p:stCondLst>
                                  <p:childTnLst>
                                    <p:set>
                                      <p:cBhvr>
                                        <p:cTn id="92" dur="1" fill="hold">
                                          <p:stCondLst>
                                            <p:cond delay="0"/>
                                          </p:stCondLst>
                                        </p:cTn>
                                        <p:tgtEl>
                                          <p:spTgt spid="311"/>
                                        </p:tgtEl>
                                        <p:attrNameLst>
                                          <p:attrName>style.visibility</p:attrName>
                                        </p:attrNameLst>
                                      </p:cBhvr>
                                      <p:to>
                                        <p:strVal val="visible"/>
                                      </p:to>
                                    </p:set>
                                    <p:animEffect transition="in" filter="wipe(right)">
                                      <p:cBhvr>
                                        <p:cTn id="93" dur="250"/>
                                        <p:tgtEl>
                                          <p:spTgt spid="311"/>
                                        </p:tgtEl>
                                      </p:cBhvr>
                                    </p:animEffect>
                                  </p:childTnLst>
                                </p:cTn>
                              </p:par>
                            </p:childTnLst>
                          </p:cTn>
                        </p:par>
                        <p:par>
                          <p:cTn id="94" fill="hold">
                            <p:stCondLst>
                              <p:cond delay="11750"/>
                            </p:stCondLst>
                            <p:childTnLst>
                              <p:par>
                                <p:cTn id="95" presetID="22" presetClass="entr" presetSubtype="1" fill="hold" nodeType="afterEffect">
                                  <p:stCondLst>
                                    <p:cond delay="0"/>
                                  </p:stCondLst>
                                  <p:childTnLst>
                                    <p:set>
                                      <p:cBhvr>
                                        <p:cTn id="96" dur="1" fill="hold">
                                          <p:stCondLst>
                                            <p:cond delay="0"/>
                                          </p:stCondLst>
                                        </p:cTn>
                                        <p:tgtEl>
                                          <p:spTgt spid="297"/>
                                        </p:tgtEl>
                                        <p:attrNameLst>
                                          <p:attrName>style.visibility</p:attrName>
                                        </p:attrNameLst>
                                      </p:cBhvr>
                                      <p:to>
                                        <p:strVal val="visible"/>
                                      </p:to>
                                    </p:set>
                                    <p:animEffect transition="in" filter="wipe(up)">
                                      <p:cBhvr>
                                        <p:cTn id="97" dur="250"/>
                                        <p:tgtEl>
                                          <p:spTgt spid="297"/>
                                        </p:tgtEl>
                                      </p:cBhvr>
                                    </p:animEffect>
                                  </p:childTnLst>
                                </p:cTn>
                              </p:par>
                            </p:childTnLst>
                          </p:cTn>
                        </p:par>
                        <p:par>
                          <p:cTn id="98" fill="hold">
                            <p:stCondLst>
                              <p:cond delay="12000"/>
                            </p:stCondLst>
                            <p:childTnLst>
                              <p:par>
                                <p:cTn id="99" presetID="26" presetClass="emph" presetSubtype="0" fill="hold" grpId="1" nodeType="afterEffect">
                                  <p:stCondLst>
                                    <p:cond delay="500"/>
                                  </p:stCondLst>
                                  <p:childTnLst>
                                    <p:animEffect transition="out" filter="fade">
                                      <p:cBhvr>
                                        <p:cTn id="100" dur="500" tmFilter="0, 0; .2, .5; .8, .5; 1, 0"/>
                                        <p:tgtEl>
                                          <p:spTgt spid="215"/>
                                        </p:tgtEl>
                                      </p:cBhvr>
                                    </p:animEffect>
                                    <p:animScale>
                                      <p:cBhvr>
                                        <p:cTn id="101" dur="250" autoRev="1" fill="hold"/>
                                        <p:tgtEl>
                                          <p:spTgt spid="215"/>
                                        </p:tgtEl>
                                      </p:cBhvr>
                                      <p:by x="105000" y="105000"/>
                                    </p:animScale>
                                  </p:childTnLst>
                                </p:cTn>
                              </p:par>
                            </p:childTnLst>
                          </p:cTn>
                        </p:par>
                        <p:par>
                          <p:cTn id="102" fill="hold">
                            <p:stCondLst>
                              <p:cond delay="13000"/>
                            </p:stCondLst>
                            <p:childTnLst>
                              <p:par>
                                <p:cTn id="103" presetID="10" presetClass="entr" presetSubtype="0" fill="hold" nodeType="afterEffect">
                                  <p:stCondLst>
                                    <p:cond delay="500"/>
                                  </p:stCondLst>
                                  <p:childTnLst>
                                    <p:set>
                                      <p:cBhvr>
                                        <p:cTn id="104" dur="1" fill="hold">
                                          <p:stCondLst>
                                            <p:cond delay="0"/>
                                          </p:stCondLst>
                                        </p:cTn>
                                        <p:tgtEl>
                                          <p:spTgt spid="143"/>
                                        </p:tgtEl>
                                        <p:attrNameLst>
                                          <p:attrName>style.visibility</p:attrName>
                                        </p:attrNameLst>
                                      </p:cBhvr>
                                      <p:to>
                                        <p:strVal val="visible"/>
                                      </p:to>
                                    </p:set>
                                    <p:animEffect transition="in" filter="fade">
                                      <p:cBhvr>
                                        <p:cTn id="105" dur="500"/>
                                        <p:tgtEl>
                                          <p:spTgt spid="143"/>
                                        </p:tgtEl>
                                      </p:cBhvr>
                                    </p:animEffect>
                                  </p:childTnLst>
                                </p:cTn>
                              </p:par>
                              <p:par>
                                <p:cTn id="106" presetID="10" presetClass="entr" presetSubtype="0" fill="hold" grpId="0" nodeType="withEffect">
                                  <p:stCondLst>
                                    <p:cond delay="500"/>
                                  </p:stCondLst>
                                  <p:childTnLst>
                                    <p:set>
                                      <p:cBhvr>
                                        <p:cTn id="107" dur="1" fill="hold">
                                          <p:stCondLst>
                                            <p:cond delay="0"/>
                                          </p:stCondLst>
                                        </p:cTn>
                                        <p:tgtEl>
                                          <p:spTgt spid="150"/>
                                        </p:tgtEl>
                                        <p:attrNameLst>
                                          <p:attrName>style.visibility</p:attrName>
                                        </p:attrNameLst>
                                      </p:cBhvr>
                                      <p:to>
                                        <p:strVal val="visible"/>
                                      </p:to>
                                    </p:set>
                                    <p:animEffect transition="in" filter="fade">
                                      <p:cBhvr>
                                        <p:cTn id="108" dur="500"/>
                                        <p:tgtEl>
                                          <p:spTgt spid="150"/>
                                        </p:tgtEl>
                                      </p:cBhvr>
                                    </p:animEffect>
                                  </p:childTnLst>
                                </p:cTn>
                              </p:par>
                            </p:childTnLst>
                          </p:cTn>
                        </p:par>
                        <p:par>
                          <p:cTn id="109" fill="hold">
                            <p:stCondLst>
                              <p:cond delay="14000"/>
                            </p:stCondLst>
                            <p:childTnLst>
                              <p:par>
                                <p:cTn id="110" presetID="26" presetClass="emph" presetSubtype="0" fill="hold" grpId="1" nodeType="afterEffect">
                                  <p:stCondLst>
                                    <p:cond delay="500"/>
                                  </p:stCondLst>
                                  <p:childTnLst>
                                    <p:animEffect transition="out" filter="fade">
                                      <p:cBhvr>
                                        <p:cTn id="111" dur="500" tmFilter="0, 0; .2, .5; .8, .5; 1, 0"/>
                                        <p:tgtEl>
                                          <p:spTgt spid="150"/>
                                        </p:tgtEl>
                                      </p:cBhvr>
                                    </p:animEffect>
                                    <p:animScale>
                                      <p:cBhvr>
                                        <p:cTn id="112" dur="250" autoRev="1" fill="hold"/>
                                        <p:tgtEl>
                                          <p:spTgt spid="150"/>
                                        </p:tgtEl>
                                      </p:cBhvr>
                                      <p:by x="105000" y="105000"/>
                                    </p:animScale>
                                  </p:childTnLst>
                                </p:cTn>
                              </p:par>
                            </p:childTnLst>
                          </p:cTn>
                        </p:par>
                        <p:par>
                          <p:cTn id="113" fill="hold">
                            <p:stCondLst>
                              <p:cond delay="15000"/>
                            </p:stCondLst>
                            <p:childTnLst>
                              <p:par>
                                <p:cTn id="114" presetID="10" presetClass="entr" presetSubtype="0" fill="hold" nodeType="afterEffect">
                                  <p:stCondLst>
                                    <p:cond delay="0"/>
                                  </p:stCondLst>
                                  <p:childTnLst>
                                    <p:set>
                                      <p:cBhvr>
                                        <p:cTn id="115" dur="1" fill="hold">
                                          <p:stCondLst>
                                            <p:cond delay="0"/>
                                          </p:stCondLst>
                                        </p:cTn>
                                        <p:tgtEl>
                                          <p:spTgt spid="146"/>
                                        </p:tgtEl>
                                        <p:attrNameLst>
                                          <p:attrName>style.visibility</p:attrName>
                                        </p:attrNameLst>
                                      </p:cBhvr>
                                      <p:to>
                                        <p:strVal val="visible"/>
                                      </p:to>
                                    </p:set>
                                    <p:animEffect transition="in" filter="fade">
                                      <p:cBhvr>
                                        <p:cTn id="116" dur="500"/>
                                        <p:tgtEl>
                                          <p:spTgt spid="146"/>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314"/>
                                        </p:tgtEl>
                                        <p:attrNameLst>
                                          <p:attrName>style.visibility</p:attrName>
                                        </p:attrNameLst>
                                      </p:cBhvr>
                                      <p:to>
                                        <p:strVal val="visible"/>
                                      </p:to>
                                    </p:set>
                                    <p:animEffect transition="in" filter="fade">
                                      <p:cBhvr>
                                        <p:cTn id="119" dur="500"/>
                                        <p:tgtEl>
                                          <p:spTgt spid="314"/>
                                        </p:tgtEl>
                                      </p:cBhvr>
                                    </p:animEffect>
                                  </p:childTnLst>
                                </p:cTn>
                              </p:par>
                            </p:childTnLst>
                          </p:cTn>
                        </p:par>
                        <p:par>
                          <p:cTn id="120" fill="hold">
                            <p:stCondLst>
                              <p:cond delay="15500"/>
                            </p:stCondLst>
                            <p:childTnLst>
                              <p:par>
                                <p:cTn id="121" presetID="26" presetClass="emph" presetSubtype="0" fill="hold" grpId="1" nodeType="afterEffect">
                                  <p:stCondLst>
                                    <p:cond delay="500"/>
                                  </p:stCondLst>
                                  <p:childTnLst>
                                    <p:animEffect transition="out" filter="fade">
                                      <p:cBhvr>
                                        <p:cTn id="122" dur="500" tmFilter="0, 0; .2, .5; .8, .5; 1, 0"/>
                                        <p:tgtEl>
                                          <p:spTgt spid="314"/>
                                        </p:tgtEl>
                                      </p:cBhvr>
                                    </p:animEffect>
                                    <p:animScale>
                                      <p:cBhvr>
                                        <p:cTn id="123" dur="250" autoRev="1" fill="hold"/>
                                        <p:tgtEl>
                                          <p:spTgt spid="3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14" grpId="0"/>
      <p:bldP spid="214" grpId="1"/>
      <p:bldP spid="215" grpId="0"/>
      <p:bldP spid="215" grpId="1"/>
      <p:bldP spid="216" grpId="0"/>
      <p:bldP spid="216" grpId="1"/>
      <p:bldP spid="314" grpId="0"/>
      <p:bldP spid="314"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CF2AC-DEB2-C7D6-7ABC-E46D4F8ED7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5ABF8-F1F0-9689-3F79-89AF5D3E7FE0}"/>
              </a:ext>
            </a:extLst>
          </p:cNvPr>
          <p:cNvSpPr>
            <a:spLocks noGrp="1"/>
          </p:cNvSpPr>
          <p:nvPr>
            <p:ph type="title"/>
          </p:nvPr>
        </p:nvSpPr>
        <p:spPr/>
        <p:txBody>
          <a:bodyPr/>
          <a:lstStyle/>
          <a:p>
            <a:r>
              <a:rPr lang="en-US"/>
              <a:t>Simple, Insightful Cluster Health Status and Troubleshooting</a:t>
            </a:r>
            <a:endParaRPr lang="en-US" dirty="0"/>
          </a:p>
        </p:txBody>
      </p:sp>
      <p:sp>
        <p:nvSpPr>
          <p:cNvPr id="3" name="Subtitle 2">
            <a:extLst>
              <a:ext uri="{FF2B5EF4-FFF2-40B4-BE49-F238E27FC236}">
                <a16:creationId xmlns:a16="http://schemas.microsoft.com/office/drawing/2014/main" id="{FF498C69-C014-2F5C-8DE5-3CEAE94639C1}"/>
              </a:ext>
            </a:extLst>
          </p:cNvPr>
          <p:cNvSpPr>
            <a:spLocks noGrp="1"/>
          </p:cNvSpPr>
          <p:nvPr>
            <p:ph type="subTitle" idx="10"/>
          </p:nvPr>
        </p:nvSpPr>
        <p:spPr/>
        <p:txBody>
          <a:bodyPr/>
          <a:lstStyle/>
          <a:p>
            <a:r>
              <a:rPr lang="en-US" dirty="0"/>
              <a:t>Skyline Health intelligent cluster health scoring, diagnostics and remediation</a:t>
            </a:r>
          </a:p>
        </p:txBody>
      </p:sp>
      <p:sp>
        <p:nvSpPr>
          <p:cNvPr id="5" name="Text Placeholder 4">
            <a:extLst>
              <a:ext uri="{FF2B5EF4-FFF2-40B4-BE49-F238E27FC236}">
                <a16:creationId xmlns:a16="http://schemas.microsoft.com/office/drawing/2014/main" id="{26C79655-0895-66A5-13A9-9B8F654842C7}"/>
              </a:ext>
            </a:extLst>
          </p:cNvPr>
          <p:cNvSpPr>
            <a:spLocks noGrp="1"/>
          </p:cNvSpPr>
          <p:nvPr>
            <p:ph type="body" sz="quarter" idx="17"/>
          </p:nvPr>
        </p:nvSpPr>
        <p:spPr/>
        <p:txBody>
          <a:bodyPr/>
          <a:lstStyle/>
          <a:p>
            <a:r>
              <a:rPr lang="en-US" dirty="0"/>
              <a:t>Provides </a:t>
            </a:r>
            <a:r>
              <a:rPr lang="en-US" b="1" dirty="0"/>
              <a:t>cluster health score </a:t>
            </a:r>
            <a:r>
              <a:rPr lang="en-US" dirty="0"/>
              <a:t>for </a:t>
            </a:r>
            <a:r>
              <a:rPr lang="en-US" b="1" dirty="0"/>
              <a:t>at-a-glance</a:t>
            </a:r>
            <a:r>
              <a:rPr lang="en-US" dirty="0"/>
              <a:t> condition of </a:t>
            </a:r>
            <a:r>
              <a:rPr lang="en-US" b="1" dirty="0"/>
              <a:t>cluster</a:t>
            </a:r>
          </a:p>
          <a:p>
            <a:r>
              <a:rPr lang="en-US" b="1" dirty="0"/>
              <a:t>Prioritizes </a:t>
            </a:r>
            <a:r>
              <a:rPr lang="en-US" dirty="0"/>
              <a:t>identified issues to </a:t>
            </a:r>
            <a:r>
              <a:rPr lang="en-US" b="1" dirty="0"/>
              <a:t>help address </a:t>
            </a:r>
            <a:r>
              <a:rPr lang="en-US" dirty="0"/>
              <a:t>most important condition </a:t>
            </a:r>
            <a:r>
              <a:rPr lang="en-US" b="1" dirty="0"/>
              <a:t>first</a:t>
            </a:r>
          </a:p>
          <a:p>
            <a:r>
              <a:rPr lang="en-US" b="1" dirty="0"/>
              <a:t>Weighs issues </a:t>
            </a:r>
            <a:r>
              <a:rPr lang="en-US" dirty="0"/>
              <a:t>using common Administrator </a:t>
            </a:r>
            <a:r>
              <a:rPr lang="en-US" b="1" dirty="0"/>
              <a:t>responsibilities</a:t>
            </a:r>
          </a:p>
          <a:p>
            <a:pPr lvl="1"/>
            <a:r>
              <a:rPr lang="en-US" dirty="0"/>
              <a:t>Data availability</a:t>
            </a:r>
          </a:p>
          <a:p>
            <a:pPr lvl="1"/>
            <a:r>
              <a:rPr lang="en-US" dirty="0"/>
              <a:t>Performance</a:t>
            </a:r>
          </a:p>
          <a:p>
            <a:pPr lvl="1"/>
            <a:r>
              <a:rPr lang="en-US" dirty="0"/>
              <a:t>Capacity utilization</a:t>
            </a:r>
          </a:p>
          <a:p>
            <a:pPr lvl="1"/>
            <a:r>
              <a:rPr lang="en-US" dirty="0"/>
              <a:t>Efficiency &amp; Compliance</a:t>
            </a:r>
          </a:p>
          <a:p>
            <a:r>
              <a:rPr lang="en-US" b="1" dirty="0"/>
              <a:t>Take action </a:t>
            </a:r>
            <a:r>
              <a:rPr lang="en-US" dirty="0"/>
              <a:t>on the </a:t>
            </a:r>
            <a:r>
              <a:rPr lang="en-US" b="1" dirty="0"/>
              <a:t>most important issue</a:t>
            </a:r>
            <a:r>
              <a:rPr lang="en-US" dirty="0"/>
              <a:t>, first</a:t>
            </a:r>
            <a:endParaRPr lang="en-US" b="1" dirty="0"/>
          </a:p>
        </p:txBody>
      </p:sp>
      <p:sp>
        <p:nvSpPr>
          <p:cNvPr id="4" name="Arrow: Down 3">
            <a:extLst>
              <a:ext uri="{FF2B5EF4-FFF2-40B4-BE49-F238E27FC236}">
                <a16:creationId xmlns:a16="http://schemas.microsoft.com/office/drawing/2014/main" id="{7EDAEBE9-2719-3E8C-A3AA-37C62D862889}"/>
              </a:ext>
            </a:extLst>
          </p:cNvPr>
          <p:cNvSpPr/>
          <p:nvPr/>
        </p:nvSpPr>
        <p:spPr>
          <a:xfrm rot="16200000">
            <a:off x="11964110" y="6523490"/>
            <a:ext cx="228343" cy="221087"/>
          </a:xfrm>
          <a:prstGeom prst="downArrow">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nvGrpSpPr>
          <p:cNvPr id="350" name="Group 349">
            <a:extLst>
              <a:ext uri="{FF2B5EF4-FFF2-40B4-BE49-F238E27FC236}">
                <a16:creationId xmlns:a16="http://schemas.microsoft.com/office/drawing/2014/main" id="{8DC056EA-E9C0-27FE-D1DA-97184C5D66C9}"/>
              </a:ext>
            </a:extLst>
          </p:cNvPr>
          <p:cNvGrpSpPr/>
          <p:nvPr/>
        </p:nvGrpSpPr>
        <p:grpSpPr>
          <a:xfrm>
            <a:off x="1843020" y="1660759"/>
            <a:ext cx="4172018" cy="3059797"/>
            <a:chOff x="1959736" y="2089790"/>
            <a:chExt cx="4172018" cy="3059797"/>
          </a:xfrm>
        </p:grpSpPr>
        <p:sp>
          <p:nvSpPr>
            <p:cNvPr id="351" name="Rectangle 350">
              <a:extLst>
                <a:ext uri="{FF2B5EF4-FFF2-40B4-BE49-F238E27FC236}">
                  <a16:creationId xmlns:a16="http://schemas.microsoft.com/office/drawing/2014/main" id="{6D6606CE-D9FE-B72D-70AB-6E8A4B193562}"/>
                </a:ext>
              </a:extLst>
            </p:cNvPr>
            <p:cNvSpPr/>
            <p:nvPr/>
          </p:nvSpPr>
          <p:spPr>
            <a:xfrm>
              <a:off x="1959739" y="2306411"/>
              <a:ext cx="4172015" cy="2843176"/>
            </a:xfrm>
            <a:prstGeom prst="rect">
              <a:avLst/>
            </a:prstGeom>
            <a:solidFill>
              <a:schemeClr val="accent3">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60325" algn="ctr">
                <a:spcAft>
                  <a:spcPts val="800"/>
                </a:spcAft>
              </a:pPr>
              <a:endParaRPr lang="en-US" sz="1400">
                <a:solidFill>
                  <a:schemeClr val="tx1"/>
                </a:solidFill>
              </a:endParaRPr>
            </a:p>
          </p:txBody>
        </p:sp>
        <p:sp>
          <p:nvSpPr>
            <p:cNvPr id="352" name="Rectangle 351">
              <a:extLst>
                <a:ext uri="{FF2B5EF4-FFF2-40B4-BE49-F238E27FC236}">
                  <a16:creationId xmlns:a16="http://schemas.microsoft.com/office/drawing/2014/main" id="{BE4A3D18-72E0-73B9-EB7F-10F03426953B}"/>
                </a:ext>
              </a:extLst>
            </p:cNvPr>
            <p:cNvSpPr/>
            <p:nvPr/>
          </p:nvSpPr>
          <p:spPr>
            <a:xfrm>
              <a:off x="1959736" y="2089790"/>
              <a:ext cx="4172014" cy="204002"/>
            </a:xfrm>
            <a:prstGeom prst="rect">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sp>
          <p:nvSpPr>
            <p:cNvPr id="353" name="Oval 352">
              <a:extLst>
                <a:ext uri="{FF2B5EF4-FFF2-40B4-BE49-F238E27FC236}">
                  <a16:creationId xmlns:a16="http://schemas.microsoft.com/office/drawing/2014/main" id="{C48E56E5-3284-5613-E262-09442F888146}"/>
                </a:ext>
              </a:extLst>
            </p:cNvPr>
            <p:cNvSpPr/>
            <p:nvPr/>
          </p:nvSpPr>
          <p:spPr>
            <a:xfrm>
              <a:off x="2028434" y="2153309"/>
              <a:ext cx="79233" cy="7696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4" name="Oval 353">
              <a:extLst>
                <a:ext uri="{FF2B5EF4-FFF2-40B4-BE49-F238E27FC236}">
                  <a16:creationId xmlns:a16="http://schemas.microsoft.com/office/drawing/2014/main" id="{A9F2CBEE-D8E9-CCDF-E549-8F01C367C70C}"/>
                </a:ext>
              </a:extLst>
            </p:cNvPr>
            <p:cNvSpPr/>
            <p:nvPr/>
          </p:nvSpPr>
          <p:spPr>
            <a:xfrm>
              <a:off x="2181512" y="2153309"/>
              <a:ext cx="79233" cy="7696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5" name="Oval 354">
              <a:extLst>
                <a:ext uri="{FF2B5EF4-FFF2-40B4-BE49-F238E27FC236}">
                  <a16:creationId xmlns:a16="http://schemas.microsoft.com/office/drawing/2014/main" id="{58F3E647-947C-91FB-A163-270FD7006F0D}"/>
                </a:ext>
              </a:extLst>
            </p:cNvPr>
            <p:cNvSpPr/>
            <p:nvPr/>
          </p:nvSpPr>
          <p:spPr>
            <a:xfrm>
              <a:off x="2334590" y="2153309"/>
              <a:ext cx="79233" cy="7696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6" name="Rectangle 355">
              <a:extLst>
                <a:ext uri="{FF2B5EF4-FFF2-40B4-BE49-F238E27FC236}">
                  <a16:creationId xmlns:a16="http://schemas.microsoft.com/office/drawing/2014/main" id="{6239DDE7-003A-D88B-CB56-804C70814A37}"/>
                </a:ext>
              </a:extLst>
            </p:cNvPr>
            <p:cNvSpPr/>
            <p:nvPr/>
          </p:nvSpPr>
          <p:spPr>
            <a:xfrm>
              <a:off x="2078747" y="2441703"/>
              <a:ext cx="3932884" cy="25875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60325" algn="ctr">
                <a:spcAft>
                  <a:spcPts val="800"/>
                </a:spcAft>
              </a:pPr>
              <a:endParaRPr lang="en-US" sz="1400" dirty="0">
                <a:solidFill>
                  <a:schemeClr val="tx1"/>
                </a:solidFill>
              </a:endParaRPr>
            </a:p>
          </p:txBody>
        </p:sp>
        <p:sp>
          <p:nvSpPr>
            <p:cNvPr id="357" name="Rectangle 356">
              <a:extLst>
                <a:ext uri="{FF2B5EF4-FFF2-40B4-BE49-F238E27FC236}">
                  <a16:creationId xmlns:a16="http://schemas.microsoft.com/office/drawing/2014/main" id="{AF505BDB-1777-4F9E-02F0-319936BA1E7A}"/>
                </a:ext>
              </a:extLst>
            </p:cNvPr>
            <p:cNvSpPr/>
            <p:nvPr/>
          </p:nvSpPr>
          <p:spPr>
            <a:xfrm>
              <a:off x="3458716" y="2098652"/>
              <a:ext cx="1045702" cy="1592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60325" algn="ctr">
                <a:spcAft>
                  <a:spcPts val="800"/>
                </a:spcAft>
              </a:pPr>
              <a:r>
                <a:rPr lang="en-US" sz="1100" dirty="0">
                  <a:solidFill>
                    <a:schemeClr val="bg1"/>
                  </a:solidFill>
                </a:rPr>
                <a:t>vCenter</a:t>
              </a:r>
            </a:p>
          </p:txBody>
        </p:sp>
        <p:cxnSp>
          <p:nvCxnSpPr>
            <p:cNvPr id="358" name="Straight Connector 357">
              <a:extLst>
                <a:ext uri="{FF2B5EF4-FFF2-40B4-BE49-F238E27FC236}">
                  <a16:creationId xmlns:a16="http://schemas.microsoft.com/office/drawing/2014/main" id="{AB41DA2D-6684-3EF1-1E12-3A632614A87C}"/>
                </a:ext>
              </a:extLst>
            </p:cNvPr>
            <p:cNvCxnSpPr>
              <a:cxnSpLocks/>
            </p:cNvCxnSpPr>
            <p:nvPr/>
          </p:nvCxnSpPr>
          <p:spPr>
            <a:xfrm flipH="1">
              <a:off x="2181519" y="2692503"/>
              <a:ext cx="3735458" cy="0"/>
            </a:xfrm>
            <a:prstGeom prst="line">
              <a:avLst/>
            </a:prstGeom>
            <a:ln w="9525">
              <a:solidFill>
                <a:schemeClr val="tx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9" name="Rectangle 358">
              <a:extLst>
                <a:ext uri="{FF2B5EF4-FFF2-40B4-BE49-F238E27FC236}">
                  <a16:creationId xmlns:a16="http://schemas.microsoft.com/office/drawing/2014/main" id="{DC11C55A-B122-7AE9-4E07-CEED105F87BE}"/>
                </a:ext>
              </a:extLst>
            </p:cNvPr>
            <p:cNvSpPr/>
            <p:nvPr/>
          </p:nvSpPr>
          <p:spPr>
            <a:xfrm>
              <a:off x="2210737" y="2461047"/>
              <a:ext cx="727979" cy="2216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spcAft>
                  <a:spcPts val="800"/>
                </a:spcAft>
              </a:pPr>
              <a:r>
                <a:rPr lang="en-US" sz="1000">
                  <a:solidFill>
                    <a:schemeClr val="tx2"/>
                  </a:solidFill>
                </a:rPr>
                <a:t>Summary</a:t>
              </a:r>
            </a:p>
          </p:txBody>
        </p:sp>
        <p:sp>
          <p:nvSpPr>
            <p:cNvPr id="360" name="Rectangle 359">
              <a:extLst>
                <a:ext uri="{FF2B5EF4-FFF2-40B4-BE49-F238E27FC236}">
                  <a16:creationId xmlns:a16="http://schemas.microsoft.com/office/drawing/2014/main" id="{97AC794D-C944-A21A-044C-30A87E4F0D28}"/>
                </a:ext>
              </a:extLst>
            </p:cNvPr>
            <p:cNvSpPr/>
            <p:nvPr/>
          </p:nvSpPr>
          <p:spPr>
            <a:xfrm>
              <a:off x="3075906" y="2461047"/>
              <a:ext cx="727979" cy="2216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spcAft>
                  <a:spcPts val="800"/>
                </a:spcAft>
              </a:pPr>
              <a:r>
                <a:rPr lang="en-US" sz="1000">
                  <a:solidFill>
                    <a:schemeClr val="tx2"/>
                  </a:solidFill>
                </a:rPr>
                <a:t>Monitor</a:t>
              </a:r>
            </a:p>
          </p:txBody>
        </p:sp>
        <p:sp>
          <p:nvSpPr>
            <p:cNvPr id="361" name="Rectangle 360">
              <a:extLst>
                <a:ext uri="{FF2B5EF4-FFF2-40B4-BE49-F238E27FC236}">
                  <a16:creationId xmlns:a16="http://schemas.microsoft.com/office/drawing/2014/main" id="{89E36635-F6DE-9E1C-9633-AFB2CACCABCD}"/>
                </a:ext>
              </a:extLst>
            </p:cNvPr>
            <p:cNvSpPr/>
            <p:nvPr/>
          </p:nvSpPr>
          <p:spPr>
            <a:xfrm>
              <a:off x="3868261" y="2461047"/>
              <a:ext cx="628939" cy="2216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spcAft>
                  <a:spcPts val="800"/>
                </a:spcAft>
              </a:pPr>
              <a:r>
                <a:rPr lang="en-US" sz="1000" dirty="0">
                  <a:solidFill>
                    <a:schemeClr val="tx2"/>
                  </a:solidFill>
                </a:rPr>
                <a:t>Configure</a:t>
              </a:r>
            </a:p>
          </p:txBody>
        </p:sp>
        <p:sp>
          <p:nvSpPr>
            <p:cNvPr id="362" name="Rectangle 361">
              <a:extLst>
                <a:ext uri="{FF2B5EF4-FFF2-40B4-BE49-F238E27FC236}">
                  <a16:creationId xmlns:a16="http://schemas.microsoft.com/office/drawing/2014/main" id="{A5A5842B-0A1F-5D4C-CCAA-DDFFDAE90384}"/>
                </a:ext>
              </a:extLst>
            </p:cNvPr>
            <p:cNvSpPr/>
            <p:nvPr/>
          </p:nvSpPr>
          <p:spPr>
            <a:xfrm>
              <a:off x="4789586" y="2461047"/>
              <a:ext cx="808462" cy="2216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spcAft>
                  <a:spcPts val="800"/>
                </a:spcAft>
              </a:pPr>
              <a:r>
                <a:rPr lang="en-US" sz="1000" dirty="0">
                  <a:solidFill>
                    <a:schemeClr val="tx2"/>
                  </a:solidFill>
                </a:rPr>
                <a:t>Permissions</a:t>
              </a:r>
            </a:p>
          </p:txBody>
        </p:sp>
        <p:cxnSp>
          <p:nvCxnSpPr>
            <p:cNvPr id="364" name="Straight Connector 363">
              <a:extLst>
                <a:ext uri="{FF2B5EF4-FFF2-40B4-BE49-F238E27FC236}">
                  <a16:creationId xmlns:a16="http://schemas.microsoft.com/office/drawing/2014/main" id="{30597787-D181-5F72-06EB-4BEC90C4D551}"/>
                </a:ext>
              </a:extLst>
            </p:cNvPr>
            <p:cNvCxnSpPr>
              <a:cxnSpLocks/>
            </p:cNvCxnSpPr>
            <p:nvPr/>
          </p:nvCxnSpPr>
          <p:spPr bwMode="gray">
            <a:xfrm>
              <a:off x="3051280" y="2660112"/>
              <a:ext cx="521273"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374" name="Rectangle 373">
            <a:extLst>
              <a:ext uri="{FF2B5EF4-FFF2-40B4-BE49-F238E27FC236}">
                <a16:creationId xmlns:a16="http://schemas.microsoft.com/office/drawing/2014/main" id="{8FC6A25A-ACE8-8CFC-D02F-79ACA72B5E11}"/>
              </a:ext>
            </a:extLst>
          </p:cNvPr>
          <p:cNvSpPr/>
          <p:nvPr/>
        </p:nvSpPr>
        <p:spPr>
          <a:xfrm>
            <a:off x="2078038" y="2311209"/>
            <a:ext cx="1129200" cy="2216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spcAft>
                <a:spcPts val="800"/>
              </a:spcAft>
            </a:pPr>
            <a:r>
              <a:rPr lang="en-US" sz="1200" dirty="0">
                <a:solidFill>
                  <a:schemeClr val="tx2"/>
                </a:solidFill>
              </a:rPr>
              <a:t>Skyline Health</a:t>
            </a:r>
            <a:endParaRPr lang="en-US" sz="1000" dirty="0">
              <a:solidFill>
                <a:schemeClr val="tx2"/>
              </a:solidFill>
            </a:endParaRPr>
          </a:p>
        </p:txBody>
      </p:sp>
      <p:cxnSp>
        <p:nvCxnSpPr>
          <p:cNvPr id="375" name="Straight Connector 374">
            <a:extLst>
              <a:ext uri="{FF2B5EF4-FFF2-40B4-BE49-F238E27FC236}">
                <a16:creationId xmlns:a16="http://schemas.microsoft.com/office/drawing/2014/main" id="{3350430E-C332-87E9-412C-B349282782EB}"/>
              </a:ext>
            </a:extLst>
          </p:cNvPr>
          <p:cNvCxnSpPr>
            <a:cxnSpLocks/>
          </p:cNvCxnSpPr>
          <p:nvPr/>
        </p:nvCxnSpPr>
        <p:spPr>
          <a:xfrm flipV="1">
            <a:off x="3608927" y="2588720"/>
            <a:ext cx="0" cy="875607"/>
          </a:xfrm>
          <a:prstGeom prst="line">
            <a:avLst/>
          </a:prstGeom>
          <a:ln w="9525">
            <a:solidFill>
              <a:schemeClr val="tx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5" name="Text Placeholder 34">
            <a:extLst>
              <a:ext uri="{FF2B5EF4-FFF2-40B4-BE49-F238E27FC236}">
                <a16:creationId xmlns:a16="http://schemas.microsoft.com/office/drawing/2014/main" id="{6E4C3BDB-369D-7679-1F0B-D323DA1168B8}"/>
              </a:ext>
            </a:extLst>
          </p:cNvPr>
          <p:cNvSpPr txBox="1">
            <a:spLocks/>
          </p:cNvSpPr>
          <p:nvPr/>
        </p:nvSpPr>
        <p:spPr>
          <a:xfrm>
            <a:off x="2078038" y="3628366"/>
            <a:ext cx="1234527" cy="180008"/>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500"/>
              </a:spcBef>
              <a:spcAft>
                <a:spcPts val="0"/>
              </a:spcAft>
              <a:buClr>
                <a:srgbClr val="717074">
                  <a:lumMod val="60000"/>
                  <a:lumOff val="40000"/>
                </a:srgbClr>
              </a:buClr>
              <a:buSzPct val="90000"/>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ea typeface="+mn-ea"/>
                <a:cs typeface="+mn-cs"/>
              </a:rPr>
              <a:t>Health Findings</a:t>
            </a:r>
          </a:p>
        </p:txBody>
      </p:sp>
      <p:grpSp>
        <p:nvGrpSpPr>
          <p:cNvPr id="386" name="Group 385">
            <a:extLst>
              <a:ext uri="{FF2B5EF4-FFF2-40B4-BE49-F238E27FC236}">
                <a16:creationId xmlns:a16="http://schemas.microsoft.com/office/drawing/2014/main" id="{EA2DB3AD-92BA-1143-D538-F8429738EE0E}"/>
              </a:ext>
            </a:extLst>
          </p:cNvPr>
          <p:cNvGrpSpPr/>
          <p:nvPr/>
        </p:nvGrpSpPr>
        <p:grpSpPr>
          <a:xfrm>
            <a:off x="2078038" y="3776817"/>
            <a:ext cx="3595023" cy="177470"/>
            <a:chOff x="2747185" y="4858694"/>
            <a:chExt cx="3595023" cy="177470"/>
          </a:xfrm>
        </p:grpSpPr>
        <p:sp>
          <p:nvSpPr>
            <p:cNvPr id="387" name="Rectangle 386">
              <a:extLst>
                <a:ext uri="{FF2B5EF4-FFF2-40B4-BE49-F238E27FC236}">
                  <a16:creationId xmlns:a16="http://schemas.microsoft.com/office/drawing/2014/main" id="{2B658E29-C7F3-0DE9-F5D2-9CEA197D85EF}"/>
                </a:ext>
              </a:extLst>
            </p:cNvPr>
            <p:cNvSpPr/>
            <p:nvPr/>
          </p:nvSpPr>
          <p:spPr>
            <a:xfrm>
              <a:off x="2747185" y="4858694"/>
              <a:ext cx="1055331" cy="177470"/>
            </a:xfrm>
            <a:prstGeom prst="rect">
              <a:avLst/>
            </a:prstGeom>
            <a:solidFill>
              <a:schemeClr val="accent3"/>
            </a:solid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88" name="TextBox 387">
              <a:extLst>
                <a:ext uri="{FF2B5EF4-FFF2-40B4-BE49-F238E27FC236}">
                  <a16:creationId xmlns:a16="http://schemas.microsoft.com/office/drawing/2014/main" id="{F2576E14-4EE4-68A1-3404-61EA3A0CF087}"/>
                </a:ext>
              </a:extLst>
            </p:cNvPr>
            <p:cNvSpPr txBox="1"/>
            <p:nvPr/>
          </p:nvSpPr>
          <p:spPr>
            <a:xfrm>
              <a:off x="2792849" y="4878180"/>
              <a:ext cx="964002" cy="138499"/>
            </a:xfrm>
            <a:prstGeom prst="rect">
              <a:avLst/>
            </a:prstGeom>
          </p:spPr>
          <p:txBody>
            <a:bodyPr wrap="square" lIns="0" tIns="0" rIns="0" bIns="0" rtlCol="0">
              <a:spAutoFit/>
            </a:bodyPr>
            <a:lstStyle/>
            <a:p>
              <a:pPr algn="ctr">
                <a:spcAft>
                  <a:spcPts val="600"/>
                </a:spcAft>
              </a:pPr>
              <a:r>
                <a:rPr lang="en-US" sz="900" dirty="0">
                  <a:solidFill>
                    <a:schemeClr val="bg1"/>
                  </a:solidFill>
                </a:rPr>
                <a:t>UNHEALTHY (2)</a:t>
              </a:r>
            </a:p>
          </p:txBody>
        </p:sp>
        <p:grpSp>
          <p:nvGrpSpPr>
            <p:cNvPr id="389" name="Group 388">
              <a:extLst>
                <a:ext uri="{FF2B5EF4-FFF2-40B4-BE49-F238E27FC236}">
                  <a16:creationId xmlns:a16="http://schemas.microsoft.com/office/drawing/2014/main" id="{9EE3DF70-170A-D76C-7C57-70813FB7B8E3}"/>
                </a:ext>
              </a:extLst>
            </p:cNvPr>
            <p:cNvGrpSpPr/>
            <p:nvPr/>
          </p:nvGrpSpPr>
          <p:grpSpPr>
            <a:xfrm>
              <a:off x="3803439" y="4858694"/>
              <a:ext cx="892993" cy="177470"/>
              <a:chOff x="2289144" y="1378072"/>
              <a:chExt cx="892993" cy="177470"/>
            </a:xfrm>
          </p:grpSpPr>
          <p:sp>
            <p:nvSpPr>
              <p:cNvPr id="396" name="Rectangle 395">
                <a:extLst>
                  <a:ext uri="{FF2B5EF4-FFF2-40B4-BE49-F238E27FC236}">
                    <a16:creationId xmlns:a16="http://schemas.microsoft.com/office/drawing/2014/main" id="{7CEED9D2-F019-59ED-5A71-6424F6F884E8}"/>
                  </a:ext>
                </a:extLst>
              </p:cNvPr>
              <p:cNvSpPr/>
              <p:nvPr/>
            </p:nvSpPr>
            <p:spPr>
              <a:xfrm>
                <a:off x="2289144" y="1378072"/>
                <a:ext cx="892993" cy="177470"/>
              </a:xfrm>
              <a:prstGeom prst="rect">
                <a:avLst/>
              </a:prstGeom>
              <a:no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97" name="TextBox 396">
                <a:extLst>
                  <a:ext uri="{FF2B5EF4-FFF2-40B4-BE49-F238E27FC236}">
                    <a16:creationId xmlns:a16="http://schemas.microsoft.com/office/drawing/2014/main" id="{DAB12932-384F-5B23-5B43-5FF61DC3157D}"/>
                  </a:ext>
                </a:extLst>
              </p:cNvPr>
              <p:cNvSpPr txBox="1"/>
              <p:nvPr/>
            </p:nvSpPr>
            <p:spPr>
              <a:xfrm>
                <a:off x="2311831" y="1397558"/>
                <a:ext cx="847618" cy="138499"/>
              </a:xfrm>
              <a:prstGeom prst="rect">
                <a:avLst/>
              </a:prstGeom>
            </p:spPr>
            <p:txBody>
              <a:bodyPr wrap="square" lIns="0" tIns="0" rIns="0" bIns="0" rtlCol="0">
                <a:spAutoFit/>
              </a:bodyPr>
              <a:lstStyle/>
              <a:p>
                <a:pPr algn="ctr">
                  <a:spcAft>
                    <a:spcPts val="600"/>
                  </a:spcAft>
                </a:pPr>
                <a:r>
                  <a:rPr lang="en-US" sz="900" dirty="0">
                    <a:solidFill>
                      <a:schemeClr val="accent3"/>
                    </a:solidFill>
                  </a:rPr>
                  <a:t>HEALTHY (49)</a:t>
                </a:r>
              </a:p>
            </p:txBody>
          </p:sp>
        </p:grpSp>
        <p:grpSp>
          <p:nvGrpSpPr>
            <p:cNvPr id="390" name="Group 389">
              <a:extLst>
                <a:ext uri="{FF2B5EF4-FFF2-40B4-BE49-F238E27FC236}">
                  <a16:creationId xmlns:a16="http://schemas.microsoft.com/office/drawing/2014/main" id="{A568FE9C-39F4-EA89-2F69-CA42DE7844C8}"/>
                </a:ext>
              </a:extLst>
            </p:cNvPr>
            <p:cNvGrpSpPr/>
            <p:nvPr/>
          </p:nvGrpSpPr>
          <p:grpSpPr>
            <a:xfrm>
              <a:off x="4696448" y="4858694"/>
              <a:ext cx="720802" cy="177470"/>
              <a:chOff x="2463039" y="1378072"/>
              <a:chExt cx="720802" cy="177470"/>
            </a:xfrm>
          </p:grpSpPr>
          <p:sp>
            <p:nvSpPr>
              <p:cNvPr id="394" name="Rectangle 393">
                <a:extLst>
                  <a:ext uri="{FF2B5EF4-FFF2-40B4-BE49-F238E27FC236}">
                    <a16:creationId xmlns:a16="http://schemas.microsoft.com/office/drawing/2014/main" id="{45ACA1D7-A5FC-CEDB-4E8E-3DE44E6EFD9D}"/>
                  </a:ext>
                </a:extLst>
              </p:cNvPr>
              <p:cNvSpPr/>
              <p:nvPr/>
            </p:nvSpPr>
            <p:spPr>
              <a:xfrm>
                <a:off x="2463039" y="1378072"/>
                <a:ext cx="720802" cy="177470"/>
              </a:xfrm>
              <a:prstGeom prst="rect">
                <a:avLst/>
              </a:prstGeom>
              <a:no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95" name="TextBox 394">
                <a:extLst>
                  <a:ext uri="{FF2B5EF4-FFF2-40B4-BE49-F238E27FC236}">
                    <a16:creationId xmlns:a16="http://schemas.microsoft.com/office/drawing/2014/main" id="{9C379A65-FDE0-1376-9F50-55E1F8C65D3A}"/>
                  </a:ext>
                </a:extLst>
              </p:cNvPr>
              <p:cNvSpPr txBox="1"/>
              <p:nvPr/>
            </p:nvSpPr>
            <p:spPr>
              <a:xfrm>
                <a:off x="2511823" y="1397558"/>
                <a:ext cx="623234" cy="138499"/>
              </a:xfrm>
              <a:prstGeom prst="rect">
                <a:avLst/>
              </a:prstGeom>
            </p:spPr>
            <p:txBody>
              <a:bodyPr wrap="square" lIns="0" tIns="0" rIns="0" bIns="0" rtlCol="0">
                <a:spAutoFit/>
              </a:bodyPr>
              <a:lstStyle/>
              <a:p>
                <a:pPr algn="ctr">
                  <a:spcAft>
                    <a:spcPts val="600"/>
                  </a:spcAft>
                </a:pPr>
                <a:r>
                  <a:rPr lang="en-US" sz="900" dirty="0">
                    <a:solidFill>
                      <a:schemeClr val="accent3"/>
                    </a:solidFill>
                  </a:rPr>
                  <a:t>INFO (2)</a:t>
                </a:r>
              </a:p>
            </p:txBody>
          </p:sp>
        </p:grpSp>
        <p:grpSp>
          <p:nvGrpSpPr>
            <p:cNvPr id="391" name="Group 390">
              <a:extLst>
                <a:ext uri="{FF2B5EF4-FFF2-40B4-BE49-F238E27FC236}">
                  <a16:creationId xmlns:a16="http://schemas.microsoft.com/office/drawing/2014/main" id="{DCB2B44D-7D50-0266-2C46-2D1C17B960DF}"/>
                </a:ext>
              </a:extLst>
            </p:cNvPr>
            <p:cNvGrpSpPr/>
            <p:nvPr/>
          </p:nvGrpSpPr>
          <p:grpSpPr>
            <a:xfrm>
              <a:off x="5417250" y="4858694"/>
              <a:ext cx="924958" cy="177470"/>
              <a:chOff x="2463039" y="1378072"/>
              <a:chExt cx="924958" cy="177470"/>
            </a:xfrm>
          </p:grpSpPr>
          <p:sp>
            <p:nvSpPr>
              <p:cNvPr id="392" name="Rectangle 391">
                <a:extLst>
                  <a:ext uri="{FF2B5EF4-FFF2-40B4-BE49-F238E27FC236}">
                    <a16:creationId xmlns:a16="http://schemas.microsoft.com/office/drawing/2014/main" id="{CA4D8488-0C99-3337-AB89-5DB43201A0B8}"/>
                  </a:ext>
                </a:extLst>
              </p:cNvPr>
              <p:cNvSpPr/>
              <p:nvPr/>
            </p:nvSpPr>
            <p:spPr>
              <a:xfrm>
                <a:off x="2463039" y="1378072"/>
                <a:ext cx="924958" cy="177470"/>
              </a:xfrm>
              <a:prstGeom prst="rect">
                <a:avLst/>
              </a:prstGeom>
              <a:no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93" name="TextBox 392">
                <a:extLst>
                  <a:ext uri="{FF2B5EF4-FFF2-40B4-BE49-F238E27FC236}">
                    <a16:creationId xmlns:a16="http://schemas.microsoft.com/office/drawing/2014/main" id="{A8F9232A-B0B2-CFDD-AFCE-8D639B0B63BB}"/>
                  </a:ext>
                </a:extLst>
              </p:cNvPr>
              <p:cNvSpPr txBox="1"/>
              <p:nvPr/>
            </p:nvSpPr>
            <p:spPr>
              <a:xfrm>
                <a:off x="2511822" y="1397558"/>
                <a:ext cx="838453" cy="138499"/>
              </a:xfrm>
              <a:prstGeom prst="rect">
                <a:avLst/>
              </a:prstGeom>
            </p:spPr>
            <p:txBody>
              <a:bodyPr wrap="square" lIns="0" tIns="0" rIns="0" bIns="0" rtlCol="0">
                <a:spAutoFit/>
              </a:bodyPr>
              <a:lstStyle/>
              <a:p>
                <a:pPr algn="ctr">
                  <a:spcAft>
                    <a:spcPts val="600"/>
                  </a:spcAft>
                </a:pPr>
                <a:r>
                  <a:rPr lang="en-US" sz="900" dirty="0">
                    <a:solidFill>
                      <a:schemeClr val="accent3"/>
                    </a:solidFill>
                  </a:rPr>
                  <a:t>SILENCED (1)</a:t>
                </a:r>
              </a:p>
            </p:txBody>
          </p:sp>
        </p:grpSp>
      </p:grpSp>
      <p:cxnSp>
        <p:nvCxnSpPr>
          <p:cNvPr id="398" name="Straight Connector 397">
            <a:extLst>
              <a:ext uri="{FF2B5EF4-FFF2-40B4-BE49-F238E27FC236}">
                <a16:creationId xmlns:a16="http://schemas.microsoft.com/office/drawing/2014/main" id="{2507898E-697A-3306-F5DF-32B26FDB2B95}"/>
              </a:ext>
            </a:extLst>
          </p:cNvPr>
          <p:cNvCxnSpPr>
            <a:cxnSpLocks/>
          </p:cNvCxnSpPr>
          <p:nvPr/>
        </p:nvCxnSpPr>
        <p:spPr>
          <a:xfrm flipV="1">
            <a:off x="2078038" y="4038614"/>
            <a:ext cx="0" cy="473999"/>
          </a:xfrm>
          <a:prstGeom prst="line">
            <a:avLst/>
          </a:prstGeom>
          <a:ln w="9525">
            <a:solidFill>
              <a:schemeClr val="tx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9" name="Straight Connector 398">
            <a:extLst>
              <a:ext uri="{FF2B5EF4-FFF2-40B4-BE49-F238E27FC236}">
                <a16:creationId xmlns:a16="http://schemas.microsoft.com/office/drawing/2014/main" id="{D8FE1AC1-FC9F-2432-FF28-0A6E73FDF025}"/>
              </a:ext>
            </a:extLst>
          </p:cNvPr>
          <p:cNvCxnSpPr>
            <a:cxnSpLocks/>
          </p:cNvCxnSpPr>
          <p:nvPr/>
        </p:nvCxnSpPr>
        <p:spPr>
          <a:xfrm flipV="1">
            <a:off x="5557085" y="4038614"/>
            <a:ext cx="0" cy="473999"/>
          </a:xfrm>
          <a:prstGeom prst="line">
            <a:avLst/>
          </a:prstGeom>
          <a:ln w="9525">
            <a:solidFill>
              <a:schemeClr val="tx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81268E20-F7A9-5F56-2798-FB0B0A63DC88}"/>
              </a:ext>
            </a:extLst>
          </p:cNvPr>
          <p:cNvCxnSpPr>
            <a:cxnSpLocks/>
          </p:cNvCxnSpPr>
          <p:nvPr/>
        </p:nvCxnSpPr>
        <p:spPr>
          <a:xfrm>
            <a:off x="2078038" y="4038614"/>
            <a:ext cx="3479047" cy="0"/>
          </a:xfrm>
          <a:prstGeom prst="line">
            <a:avLst/>
          </a:prstGeom>
          <a:ln w="9525">
            <a:solidFill>
              <a:schemeClr val="tx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3" name="Rectangle 332">
            <a:extLst>
              <a:ext uri="{FF2B5EF4-FFF2-40B4-BE49-F238E27FC236}">
                <a16:creationId xmlns:a16="http://schemas.microsoft.com/office/drawing/2014/main" id="{F6BA3803-16E1-5181-BB0F-2E8BE2199824}"/>
              </a:ext>
            </a:extLst>
          </p:cNvPr>
          <p:cNvSpPr/>
          <p:nvPr/>
        </p:nvSpPr>
        <p:spPr>
          <a:xfrm>
            <a:off x="580814" y="2852132"/>
            <a:ext cx="1236269" cy="369332"/>
          </a:xfrm>
          <a:prstGeom prst="rect">
            <a:avLst/>
          </a:prstGeom>
        </p:spPr>
        <p:txBody>
          <a:bodyPr wrap="square" lIns="0" tIns="0" rIns="0" bIns="0">
            <a:spAutoFit/>
          </a:bodyPr>
          <a:lstStyle/>
          <a:p>
            <a:r>
              <a:rPr lang="en-US" sz="1200" dirty="0">
                <a:solidFill>
                  <a:srgbClr val="D58B3F"/>
                </a:solidFill>
              </a:rPr>
              <a:t>Weighted</a:t>
            </a:r>
          </a:p>
          <a:p>
            <a:r>
              <a:rPr lang="en-US" sz="1200" dirty="0">
                <a:solidFill>
                  <a:srgbClr val="D58B3F"/>
                </a:solidFill>
              </a:rPr>
              <a:t>score &amp; history</a:t>
            </a:r>
          </a:p>
        </p:txBody>
      </p:sp>
      <p:cxnSp>
        <p:nvCxnSpPr>
          <p:cNvPr id="335" name="Straight Connector 334">
            <a:extLst>
              <a:ext uri="{FF2B5EF4-FFF2-40B4-BE49-F238E27FC236}">
                <a16:creationId xmlns:a16="http://schemas.microsoft.com/office/drawing/2014/main" id="{01281007-B6E1-3E5A-01A7-F13480E04C05}"/>
              </a:ext>
            </a:extLst>
          </p:cNvPr>
          <p:cNvCxnSpPr>
            <a:cxnSpLocks/>
          </p:cNvCxnSpPr>
          <p:nvPr/>
        </p:nvCxnSpPr>
        <p:spPr bwMode="gray">
          <a:xfrm flipH="1">
            <a:off x="1731373" y="4331291"/>
            <a:ext cx="288290" cy="0"/>
          </a:xfrm>
          <a:prstGeom prst="line">
            <a:avLst/>
          </a:prstGeom>
          <a:ln w="25400">
            <a:solidFill>
              <a:srgbClr val="D58B3F"/>
            </a:solidFill>
            <a:miter lim="800000"/>
            <a:headEnd type="diamond" w="lg" len="lg"/>
          </a:ln>
        </p:spPr>
        <p:style>
          <a:lnRef idx="1">
            <a:schemeClr val="accent1"/>
          </a:lnRef>
          <a:fillRef idx="0">
            <a:schemeClr val="accent1"/>
          </a:fillRef>
          <a:effectRef idx="0">
            <a:schemeClr val="accent1"/>
          </a:effectRef>
          <a:fontRef idx="minor">
            <a:schemeClr val="tx1"/>
          </a:fontRef>
        </p:style>
      </p:cxnSp>
      <p:sp>
        <p:nvSpPr>
          <p:cNvPr id="336" name="Rectangle 335">
            <a:extLst>
              <a:ext uri="{FF2B5EF4-FFF2-40B4-BE49-F238E27FC236}">
                <a16:creationId xmlns:a16="http://schemas.microsoft.com/office/drawing/2014/main" id="{48CFDFC5-E2DF-10DA-DA2C-844E60D02063}"/>
              </a:ext>
            </a:extLst>
          </p:cNvPr>
          <p:cNvSpPr/>
          <p:nvPr/>
        </p:nvSpPr>
        <p:spPr>
          <a:xfrm>
            <a:off x="580814" y="4043356"/>
            <a:ext cx="1400630" cy="369332"/>
          </a:xfrm>
          <a:prstGeom prst="rect">
            <a:avLst/>
          </a:prstGeom>
        </p:spPr>
        <p:txBody>
          <a:bodyPr wrap="square" lIns="0" tIns="0" rIns="0" bIns="0">
            <a:spAutoFit/>
          </a:bodyPr>
          <a:lstStyle/>
          <a:p>
            <a:r>
              <a:rPr lang="en-US" sz="1200" dirty="0">
                <a:solidFill>
                  <a:srgbClr val="D58B3F"/>
                </a:solidFill>
              </a:rPr>
              <a:t>Prioritized issues with remedies</a:t>
            </a:r>
          </a:p>
        </p:txBody>
      </p:sp>
      <p:cxnSp>
        <p:nvCxnSpPr>
          <p:cNvPr id="349" name="Straight Connector 348">
            <a:extLst>
              <a:ext uri="{FF2B5EF4-FFF2-40B4-BE49-F238E27FC236}">
                <a16:creationId xmlns:a16="http://schemas.microsoft.com/office/drawing/2014/main" id="{E1178D66-8507-C218-2F98-76A3943E6E85}"/>
              </a:ext>
            </a:extLst>
          </p:cNvPr>
          <p:cNvCxnSpPr>
            <a:cxnSpLocks/>
          </p:cNvCxnSpPr>
          <p:nvPr/>
        </p:nvCxnSpPr>
        <p:spPr bwMode="gray">
          <a:xfrm flipH="1">
            <a:off x="1731373" y="3158400"/>
            <a:ext cx="427766" cy="0"/>
          </a:xfrm>
          <a:prstGeom prst="line">
            <a:avLst/>
          </a:prstGeom>
          <a:ln w="25400">
            <a:solidFill>
              <a:srgbClr val="D58B3F"/>
            </a:solidFill>
            <a:miter lim="800000"/>
            <a:headEnd type="diamond" w="lg" len="lg"/>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70C2129B-833C-1B54-0C52-E7FAB4BDE439}"/>
              </a:ext>
            </a:extLst>
          </p:cNvPr>
          <p:cNvGrpSpPr/>
          <p:nvPr/>
        </p:nvGrpSpPr>
        <p:grpSpPr>
          <a:xfrm>
            <a:off x="2141019" y="4114020"/>
            <a:ext cx="130094" cy="130094"/>
            <a:chOff x="3433640" y="5318191"/>
            <a:chExt cx="270000" cy="270000"/>
          </a:xfrm>
        </p:grpSpPr>
        <p:sp>
          <p:nvSpPr>
            <p:cNvPr id="146" name="Oval 145">
              <a:extLst>
                <a:ext uri="{FF2B5EF4-FFF2-40B4-BE49-F238E27FC236}">
                  <a16:creationId xmlns:a16="http://schemas.microsoft.com/office/drawing/2014/main" id="{AC069682-281D-82EE-AC38-E2E784E4FE96}"/>
                </a:ext>
              </a:extLst>
            </p:cNvPr>
            <p:cNvSpPr/>
            <p:nvPr/>
          </p:nvSpPr>
          <p:spPr>
            <a:xfrm>
              <a:off x="3433640" y="5318191"/>
              <a:ext cx="270000" cy="270000"/>
            </a:xfrm>
            <a:prstGeom prst="ellipse">
              <a:avLst/>
            </a:prstGeom>
            <a:solidFill>
              <a:srgbClr val="9F284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60323" algn="ctr">
                <a:spcAft>
                  <a:spcPts val="800"/>
                </a:spcAft>
              </a:pPr>
              <a:endParaRPr lang="en-US" sz="1500">
                <a:solidFill>
                  <a:prstClr val="white"/>
                </a:solidFill>
                <a:latin typeface="+mj-lt"/>
              </a:endParaRPr>
            </a:p>
          </p:txBody>
        </p:sp>
        <p:sp>
          <p:nvSpPr>
            <p:cNvPr id="152" name="Freeform 2">
              <a:extLst>
                <a:ext uri="{FF2B5EF4-FFF2-40B4-BE49-F238E27FC236}">
                  <a16:creationId xmlns:a16="http://schemas.microsoft.com/office/drawing/2014/main" id="{C0589D1A-5187-1368-211E-76091982EDA8}"/>
                </a:ext>
              </a:extLst>
            </p:cNvPr>
            <p:cNvSpPr>
              <a:spLocks noChangeArrowheads="1"/>
            </p:cNvSpPr>
            <p:nvPr/>
          </p:nvSpPr>
          <p:spPr bwMode="auto">
            <a:xfrm>
              <a:off x="3544056" y="5376477"/>
              <a:ext cx="45719" cy="153428"/>
            </a:xfrm>
            <a:custGeom>
              <a:avLst/>
              <a:gdLst>
                <a:gd name="T0" fmla="*/ 9 w 1994"/>
                <a:gd name="T1" fmla="*/ 565 h 7890"/>
                <a:gd name="T2" fmla="*/ 17 w 1994"/>
                <a:gd name="T3" fmla="*/ 344 h 7890"/>
                <a:gd name="T4" fmla="*/ 79 w 1994"/>
                <a:gd name="T5" fmla="*/ 203 h 7890"/>
                <a:gd name="T6" fmla="*/ 132 w 1994"/>
                <a:gd name="T7" fmla="*/ 123 h 7890"/>
                <a:gd name="T8" fmla="*/ 212 w 1994"/>
                <a:gd name="T9" fmla="*/ 61 h 7890"/>
                <a:gd name="T10" fmla="*/ 300 w 1994"/>
                <a:gd name="T11" fmla="*/ 17 h 7890"/>
                <a:gd name="T12" fmla="*/ 397 w 1994"/>
                <a:gd name="T13" fmla="*/ 0 h 7890"/>
                <a:gd name="T14" fmla="*/ 1543 w 1994"/>
                <a:gd name="T15" fmla="*/ 0 h 7890"/>
                <a:gd name="T16" fmla="*/ 1596 w 1994"/>
                <a:gd name="T17" fmla="*/ 0 h 7890"/>
                <a:gd name="T18" fmla="*/ 1702 w 1994"/>
                <a:gd name="T19" fmla="*/ 17 h 7890"/>
                <a:gd name="T20" fmla="*/ 1781 w 1994"/>
                <a:gd name="T21" fmla="*/ 61 h 7890"/>
                <a:gd name="T22" fmla="*/ 1861 w 1994"/>
                <a:gd name="T23" fmla="*/ 123 h 7890"/>
                <a:gd name="T24" fmla="*/ 1914 w 1994"/>
                <a:gd name="T25" fmla="*/ 203 h 7890"/>
                <a:gd name="T26" fmla="*/ 1976 w 1994"/>
                <a:gd name="T27" fmla="*/ 344 h 7890"/>
                <a:gd name="T28" fmla="*/ 1984 w 1994"/>
                <a:gd name="T29" fmla="*/ 565 h 7890"/>
                <a:gd name="T30" fmla="*/ 1508 w 1994"/>
                <a:gd name="T31" fmla="*/ 4756 h 7890"/>
                <a:gd name="T32" fmla="*/ 1455 w 1994"/>
                <a:gd name="T33" fmla="*/ 4959 h 7890"/>
                <a:gd name="T34" fmla="*/ 1340 w 1994"/>
                <a:gd name="T35" fmla="*/ 5109 h 7890"/>
                <a:gd name="T36" fmla="*/ 1190 w 1994"/>
                <a:gd name="T37" fmla="*/ 5206 h 7890"/>
                <a:gd name="T38" fmla="*/ 997 w 1994"/>
                <a:gd name="T39" fmla="*/ 5241 h 7890"/>
                <a:gd name="T40" fmla="*/ 900 w 1994"/>
                <a:gd name="T41" fmla="*/ 5232 h 7890"/>
                <a:gd name="T42" fmla="*/ 723 w 1994"/>
                <a:gd name="T43" fmla="*/ 5162 h 7890"/>
                <a:gd name="T44" fmla="*/ 591 w 1994"/>
                <a:gd name="T45" fmla="*/ 5038 h 7890"/>
                <a:gd name="T46" fmla="*/ 503 w 1994"/>
                <a:gd name="T47" fmla="*/ 4861 h 7890"/>
                <a:gd name="T48" fmla="*/ 9 w 1994"/>
                <a:gd name="T49" fmla="*/ 565 h 7890"/>
                <a:gd name="T50" fmla="*/ 997 w 1994"/>
                <a:gd name="T51" fmla="*/ 5973 h 7890"/>
                <a:gd name="T52" fmla="*/ 1199 w 1994"/>
                <a:gd name="T53" fmla="*/ 5991 h 7890"/>
                <a:gd name="T54" fmla="*/ 1384 w 1994"/>
                <a:gd name="T55" fmla="*/ 6053 h 7890"/>
                <a:gd name="T56" fmla="*/ 1552 w 1994"/>
                <a:gd name="T57" fmla="*/ 6132 h 7890"/>
                <a:gd name="T58" fmla="*/ 1693 w 1994"/>
                <a:gd name="T59" fmla="*/ 6247 h 7890"/>
                <a:gd name="T60" fmla="*/ 1808 w 1994"/>
                <a:gd name="T61" fmla="*/ 6388 h 7890"/>
                <a:gd name="T62" fmla="*/ 1896 w 1994"/>
                <a:gd name="T63" fmla="*/ 6547 h 7890"/>
                <a:gd name="T64" fmla="*/ 1949 w 1994"/>
                <a:gd name="T65" fmla="*/ 6732 h 7890"/>
                <a:gd name="T66" fmla="*/ 1967 w 1994"/>
                <a:gd name="T67" fmla="*/ 6927 h 7890"/>
                <a:gd name="T68" fmla="*/ 1967 w 1994"/>
                <a:gd name="T69" fmla="*/ 6944 h 7890"/>
                <a:gd name="T70" fmla="*/ 1949 w 1994"/>
                <a:gd name="T71" fmla="*/ 7138 h 7890"/>
                <a:gd name="T72" fmla="*/ 1896 w 1994"/>
                <a:gd name="T73" fmla="*/ 7315 h 7890"/>
                <a:gd name="T74" fmla="*/ 1808 w 1994"/>
                <a:gd name="T75" fmla="*/ 7483 h 7890"/>
                <a:gd name="T76" fmla="*/ 1693 w 1994"/>
                <a:gd name="T77" fmla="*/ 7615 h 7890"/>
                <a:gd name="T78" fmla="*/ 1552 w 1994"/>
                <a:gd name="T79" fmla="*/ 7730 h 7890"/>
                <a:gd name="T80" fmla="*/ 1384 w 1994"/>
                <a:gd name="T81" fmla="*/ 7818 h 7890"/>
                <a:gd name="T82" fmla="*/ 1199 w 1994"/>
                <a:gd name="T83" fmla="*/ 7871 h 7890"/>
                <a:gd name="T84" fmla="*/ 997 w 1994"/>
                <a:gd name="T85" fmla="*/ 7889 h 7890"/>
                <a:gd name="T86" fmla="*/ 891 w 1994"/>
                <a:gd name="T87" fmla="*/ 7889 h 7890"/>
                <a:gd name="T88" fmla="*/ 706 w 1994"/>
                <a:gd name="T89" fmla="*/ 7853 h 7890"/>
                <a:gd name="T90" fmla="*/ 529 w 1994"/>
                <a:gd name="T91" fmla="*/ 7783 h 7890"/>
                <a:gd name="T92" fmla="*/ 370 w 1994"/>
                <a:gd name="T93" fmla="*/ 7677 h 7890"/>
                <a:gd name="T94" fmla="*/ 247 w 1994"/>
                <a:gd name="T95" fmla="*/ 7553 h 7890"/>
                <a:gd name="T96" fmla="*/ 141 w 1994"/>
                <a:gd name="T97" fmla="*/ 7403 h 7890"/>
                <a:gd name="T98" fmla="*/ 70 w 1994"/>
                <a:gd name="T99" fmla="*/ 7236 h 7890"/>
                <a:gd name="T100" fmla="*/ 35 w 1994"/>
                <a:gd name="T101" fmla="*/ 7041 h 7890"/>
                <a:gd name="T102" fmla="*/ 26 w 1994"/>
                <a:gd name="T103" fmla="*/ 6927 h 7890"/>
                <a:gd name="T104" fmla="*/ 35 w 1994"/>
                <a:gd name="T105" fmla="*/ 6821 h 7890"/>
                <a:gd name="T106" fmla="*/ 70 w 1994"/>
                <a:gd name="T107" fmla="*/ 6635 h 7890"/>
                <a:gd name="T108" fmla="*/ 141 w 1994"/>
                <a:gd name="T109" fmla="*/ 6468 h 7890"/>
                <a:gd name="T110" fmla="*/ 247 w 1994"/>
                <a:gd name="T111" fmla="*/ 6318 h 7890"/>
                <a:gd name="T112" fmla="*/ 370 w 1994"/>
                <a:gd name="T113" fmla="*/ 6185 h 7890"/>
                <a:gd name="T114" fmla="*/ 529 w 1994"/>
                <a:gd name="T115" fmla="*/ 6088 h 7890"/>
                <a:gd name="T116" fmla="*/ 706 w 1994"/>
                <a:gd name="T117" fmla="*/ 6018 h 7890"/>
                <a:gd name="T118" fmla="*/ 891 w 1994"/>
                <a:gd name="T119" fmla="*/ 5982 h 78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94" h="7890">
                  <a:moveTo>
                    <a:pt x="9" y="565"/>
                  </a:moveTo>
                  <a:lnTo>
                    <a:pt x="9" y="565"/>
                  </a:lnTo>
                  <a:lnTo>
                    <a:pt x="0" y="450"/>
                  </a:lnTo>
                  <a:lnTo>
                    <a:pt x="17" y="344"/>
                  </a:lnTo>
                  <a:lnTo>
                    <a:pt x="53" y="247"/>
                  </a:lnTo>
                  <a:lnTo>
                    <a:pt x="79" y="203"/>
                  </a:lnTo>
                  <a:lnTo>
                    <a:pt x="106" y="159"/>
                  </a:lnTo>
                  <a:lnTo>
                    <a:pt x="132" y="123"/>
                  </a:lnTo>
                  <a:lnTo>
                    <a:pt x="168" y="88"/>
                  </a:lnTo>
                  <a:lnTo>
                    <a:pt x="212" y="61"/>
                  </a:lnTo>
                  <a:lnTo>
                    <a:pt x="247" y="44"/>
                  </a:lnTo>
                  <a:lnTo>
                    <a:pt x="300" y="17"/>
                  </a:lnTo>
                  <a:lnTo>
                    <a:pt x="344" y="9"/>
                  </a:lnTo>
                  <a:lnTo>
                    <a:pt x="397" y="0"/>
                  </a:lnTo>
                  <a:lnTo>
                    <a:pt x="450" y="0"/>
                  </a:lnTo>
                  <a:lnTo>
                    <a:pt x="1543" y="0"/>
                  </a:lnTo>
                  <a:lnTo>
                    <a:pt x="1543" y="0"/>
                  </a:lnTo>
                  <a:lnTo>
                    <a:pt x="1596" y="0"/>
                  </a:lnTo>
                  <a:lnTo>
                    <a:pt x="1649" y="9"/>
                  </a:lnTo>
                  <a:lnTo>
                    <a:pt x="1702" y="17"/>
                  </a:lnTo>
                  <a:lnTo>
                    <a:pt x="1746" y="44"/>
                  </a:lnTo>
                  <a:lnTo>
                    <a:pt x="1781" y="61"/>
                  </a:lnTo>
                  <a:lnTo>
                    <a:pt x="1825" y="88"/>
                  </a:lnTo>
                  <a:lnTo>
                    <a:pt x="1861" y="123"/>
                  </a:lnTo>
                  <a:lnTo>
                    <a:pt x="1887" y="159"/>
                  </a:lnTo>
                  <a:lnTo>
                    <a:pt x="1914" y="203"/>
                  </a:lnTo>
                  <a:lnTo>
                    <a:pt x="1940" y="247"/>
                  </a:lnTo>
                  <a:lnTo>
                    <a:pt x="1976" y="344"/>
                  </a:lnTo>
                  <a:lnTo>
                    <a:pt x="1993" y="450"/>
                  </a:lnTo>
                  <a:lnTo>
                    <a:pt x="1984" y="565"/>
                  </a:lnTo>
                  <a:lnTo>
                    <a:pt x="1508" y="4756"/>
                  </a:lnTo>
                  <a:lnTo>
                    <a:pt x="1508" y="4756"/>
                  </a:lnTo>
                  <a:lnTo>
                    <a:pt x="1490" y="4861"/>
                  </a:lnTo>
                  <a:lnTo>
                    <a:pt x="1455" y="4959"/>
                  </a:lnTo>
                  <a:lnTo>
                    <a:pt x="1402" y="5038"/>
                  </a:lnTo>
                  <a:lnTo>
                    <a:pt x="1340" y="5109"/>
                  </a:lnTo>
                  <a:lnTo>
                    <a:pt x="1270" y="5162"/>
                  </a:lnTo>
                  <a:lnTo>
                    <a:pt x="1190" y="5206"/>
                  </a:lnTo>
                  <a:lnTo>
                    <a:pt x="1093" y="5232"/>
                  </a:lnTo>
                  <a:lnTo>
                    <a:pt x="997" y="5241"/>
                  </a:lnTo>
                  <a:lnTo>
                    <a:pt x="997" y="5241"/>
                  </a:lnTo>
                  <a:lnTo>
                    <a:pt x="900" y="5232"/>
                  </a:lnTo>
                  <a:lnTo>
                    <a:pt x="803" y="5206"/>
                  </a:lnTo>
                  <a:lnTo>
                    <a:pt x="723" y="5162"/>
                  </a:lnTo>
                  <a:lnTo>
                    <a:pt x="653" y="5109"/>
                  </a:lnTo>
                  <a:lnTo>
                    <a:pt x="591" y="5038"/>
                  </a:lnTo>
                  <a:lnTo>
                    <a:pt x="538" y="4959"/>
                  </a:lnTo>
                  <a:lnTo>
                    <a:pt x="503" y="4861"/>
                  </a:lnTo>
                  <a:lnTo>
                    <a:pt x="485" y="4756"/>
                  </a:lnTo>
                  <a:lnTo>
                    <a:pt x="9" y="565"/>
                  </a:lnTo>
                  <a:close/>
                  <a:moveTo>
                    <a:pt x="997" y="5973"/>
                  </a:moveTo>
                  <a:lnTo>
                    <a:pt x="997" y="5973"/>
                  </a:lnTo>
                  <a:lnTo>
                    <a:pt x="1102" y="5982"/>
                  </a:lnTo>
                  <a:lnTo>
                    <a:pt x="1199" y="5991"/>
                  </a:lnTo>
                  <a:lnTo>
                    <a:pt x="1296" y="6018"/>
                  </a:lnTo>
                  <a:lnTo>
                    <a:pt x="1384" y="6053"/>
                  </a:lnTo>
                  <a:lnTo>
                    <a:pt x="1464" y="6088"/>
                  </a:lnTo>
                  <a:lnTo>
                    <a:pt x="1552" y="6132"/>
                  </a:lnTo>
                  <a:lnTo>
                    <a:pt x="1623" y="6185"/>
                  </a:lnTo>
                  <a:lnTo>
                    <a:pt x="1693" y="6247"/>
                  </a:lnTo>
                  <a:lnTo>
                    <a:pt x="1755" y="6318"/>
                  </a:lnTo>
                  <a:lnTo>
                    <a:pt x="1808" y="6388"/>
                  </a:lnTo>
                  <a:lnTo>
                    <a:pt x="1852" y="6468"/>
                  </a:lnTo>
                  <a:lnTo>
                    <a:pt x="1896" y="6547"/>
                  </a:lnTo>
                  <a:lnTo>
                    <a:pt x="1923" y="6635"/>
                  </a:lnTo>
                  <a:lnTo>
                    <a:pt x="1949" y="6732"/>
                  </a:lnTo>
                  <a:lnTo>
                    <a:pt x="1958" y="6821"/>
                  </a:lnTo>
                  <a:lnTo>
                    <a:pt x="1967" y="6927"/>
                  </a:lnTo>
                  <a:lnTo>
                    <a:pt x="1967" y="6944"/>
                  </a:lnTo>
                  <a:lnTo>
                    <a:pt x="1967" y="6944"/>
                  </a:lnTo>
                  <a:lnTo>
                    <a:pt x="1958" y="7041"/>
                  </a:lnTo>
                  <a:lnTo>
                    <a:pt x="1949" y="7138"/>
                  </a:lnTo>
                  <a:lnTo>
                    <a:pt x="1923" y="7236"/>
                  </a:lnTo>
                  <a:lnTo>
                    <a:pt x="1896" y="7315"/>
                  </a:lnTo>
                  <a:lnTo>
                    <a:pt x="1852" y="7403"/>
                  </a:lnTo>
                  <a:lnTo>
                    <a:pt x="1808" y="7483"/>
                  </a:lnTo>
                  <a:lnTo>
                    <a:pt x="1755" y="7553"/>
                  </a:lnTo>
                  <a:lnTo>
                    <a:pt x="1693" y="7615"/>
                  </a:lnTo>
                  <a:lnTo>
                    <a:pt x="1623" y="7677"/>
                  </a:lnTo>
                  <a:lnTo>
                    <a:pt x="1552" y="7730"/>
                  </a:lnTo>
                  <a:lnTo>
                    <a:pt x="1464" y="7783"/>
                  </a:lnTo>
                  <a:lnTo>
                    <a:pt x="1384" y="7818"/>
                  </a:lnTo>
                  <a:lnTo>
                    <a:pt x="1296" y="7853"/>
                  </a:lnTo>
                  <a:lnTo>
                    <a:pt x="1199" y="7871"/>
                  </a:lnTo>
                  <a:lnTo>
                    <a:pt x="1102" y="7889"/>
                  </a:lnTo>
                  <a:lnTo>
                    <a:pt x="997" y="7889"/>
                  </a:lnTo>
                  <a:lnTo>
                    <a:pt x="997" y="7889"/>
                  </a:lnTo>
                  <a:lnTo>
                    <a:pt x="891" y="7889"/>
                  </a:lnTo>
                  <a:lnTo>
                    <a:pt x="794" y="7871"/>
                  </a:lnTo>
                  <a:lnTo>
                    <a:pt x="706" y="7853"/>
                  </a:lnTo>
                  <a:lnTo>
                    <a:pt x="609" y="7818"/>
                  </a:lnTo>
                  <a:lnTo>
                    <a:pt x="529" y="7783"/>
                  </a:lnTo>
                  <a:lnTo>
                    <a:pt x="450" y="7730"/>
                  </a:lnTo>
                  <a:lnTo>
                    <a:pt x="370" y="7677"/>
                  </a:lnTo>
                  <a:lnTo>
                    <a:pt x="309" y="7615"/>
                  </a:lnTo>
                  <a:lnTo>
                    <a:pt x="247" y="7553"/>
                  </a:lnTo>
                  <a:lnTo>
                    <a:pt x="185" y="7483"/>
                  </a:lnTo>
                  <a:lnTo>
                    <a:pt x="141" y="7403"/>
                  </a:lnTo>
                  <a:lnTo>
                    <a:pt x="106" y="7315"/>
                  </a:lnTo>
                  <a:lnTo>
                    <a:pt x="70" y="7236"/>
                  </a:lnTo>
                  <a:lnTo>
                    <a:pt x="44" y="7138"/>
                  </a:lnTo>
                  <a:lnTo>
                    <a:pt x="35" y="7041"/>
                  </a:lnTo>
                  <a:lnTo>
                    <a:pt x="26" y="6944"/>
                  </a:lnTo>
                  <a:lnTo>
                    <a:pt x="26" y="6927"/>
                  </a:lnTo>
                  <a:lnTo>
                    <a:pt x="26" y="6927"/>
                  </a:lnTo>
                  <a:lnTo>
                    <a:pt x="35" y="6821"/>
                  </a:lnTo>
                  <a:lnTo>
                    <a:pt x="44" y="6732"/>
                  </a:lnTo>
                  <a:lnTo>
                    <a:pt x="70" y="6635"/>
                  </a:lnTo>
                  <a:lnTo>
                    <a:pt x="106" y="6547"/>
                  </a:lnTo>
                  <a:lnTo>
                    <a:pt x="141" y="6468"/>
                  </a:lnTo>
                  <a:lnTo>
                    <a:pt x="185" y="6388"/>
                  </a:lnTo>
                  <a:lnTo>
                    <a:pt x="247" y="6318"/>
                  </a:lnTo>
                  <a:lnTo>
                    <a:pt x="309" y="6247"/>
                  </a:lnTo>
                  <a:lnTo>
                    <a:pt x="370" y="6185"/>
                  </a:lnTo>
                  <a:lnTo>
                    <a:pt x="450" y="6132"/>
                  </a:lnTo>
                  <a:lnTo>
                    <a:pt x="529" y="6088"/>
                  </a:lnTo>
                  <a:lnTo>
                    <a:pt x="609" y="6053"/>
                  </a:lnTo>
                  <a:lnTo>
                    <a:pt x="706" y="6018"/>
                  </a:lnTo>
                  <a:lnTo>
                    <a:pt x="794" y="5991"/>
                  </a:lnTo>
                  <a:lnTo>
                    <a:pt x="891" y="5982"/>
                  </a:lnTo>
                  <a:lnTo>
                    <a:pt x="997" y="5973"/>
                  </a:lnTo>
                  <a:close/>
                </a:path>
              </a:pathLst>
            </a:custGeom>
            <a:solidFill>
              <a:schemeClr val="bg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sp>
        <p:nvSpPr>
          <p:cNvPr id="153" name="Text Placeholder 34">
            <a:extLst>
              <a:ext uri="{FF2B5EF4-FFF2-40B4-BE49-F238E27FC236}">
                <a16:creationId xmlns:a16="http://schemas.microsoft.com/office/drawing/2014/main" id="{4A482672-6EA8-E8E5-5363-B16EC8835A07}"/>
              </a:ext>
            </a:extLst>
          </p:cNvPr>
          <p:cNvSpPr txBox="1">
            <a:spLocks/>
          </p:cNvSpPr>
          <p:nvPr/>
        </p:nvSpPr>
        <p:spPr>
          <a:xfrm>
            <a:off x="2323101" y="4098472"/>
            <a:ext cx="1364068" cy="145642"/>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0"/>
              </a:spcBef>
              <a:spcAft>
                <a:spcPts val="0"/>
              </a:spcAft>
              <a:buClr>
                <a:srgbClr val="717074">
                  <a:lumMod val="60000"/>
                  <a:lumOff val="40000"/>
                </a:srgbClr>
              </a:buClr>
              <a:buSzPct val="90000"/>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ea typeface="+mn-ea"/>
                <a:cs typeface="+mn-cs"/>
              </a:rPr>
              <a:t>vSAN object health</a:t>
            </a:r>
          </a:p>
        </p:txBody>
      </p:sp>
      <p:sp>
        <p:nvSpPr>
          <p:cNvPr id="193" name="Flowchart: Terminator 192">
            <a:extLst>
              <a:ext uri="{FF2B5EF4-FFF2-40B4-BE49-F238E27FC236}">
                <a16:creationId xmlns:a16="http://schemas.microsoft.com/office/drawing/2014/main" id="{0ABC002D-5345-3D1A-C41D-2F32D9FA5F6C}"/>
              </a:ext>
            </a:extLst>
          </p:cNvPr>
          <p:cNvSpPr/>
          <p:nvPr/>
        </p:nvSpPr>
        <p:spPr>
          <a:xfrm>
            <a:off x="2945533" y="4301833"/>
            <a:ext cx="755693" cy="210780"/>
          </a:xfrm>
          <a:prstGeom prst="flowChartTerminator">
            <a:avLst/>
          </a:prstGeom>
          <a:solidFill>
            <a:schemeClr val="accent3">
              <a:alpha val="25000"/>
            </a:schemeClr>
          </a:solid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94" name="Rectangle 193">
            <a:extLst>
              <a:ext uri="{FF2B5EF4-FFF2-40B4-BE49-F238E27FC236}">
                <a16:creationId xmlns:a16="http://schemas.microsoft.com/office/drawing/2014/main" id="{DC062EB2-E238-A455-3B4B-E28CE1ADC500}"/>
              </a:ext>
            </a:extLst>
          </p:cNvPr>
          <p:cNvSpPr/>
          <p:nvPr/>
        </p:nvSpPr>
        <p:spPr>
          <a:xfrm>
            <a:off x="2971108" y="4331321"/>
            <a:ext cx="730117" cy="15180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dirty="0">
                <a:solidFill>
                  <a:schemeClr val="accent3"/>
                </a:solidFill>
              </a:rPr>
              <a:t>Availability</a:t>
            </a:r>
          </a:p>
        </p:txBody>
      </p:sp>
      <p:sp>
        <p:nvSpPr>
          <p:cNvPr id="195" name="Text Placeholder 34">
            <a:extLst>
              <a:ext uri="{FF2B5EF4-FFF2-40B4-BE49-F238E27FC236}">
                <a16:creationId xmlns:a16="http://schemas.microsoft.com/office/drawing/2014/main" id="{4041CCAE-E3F6-9DCA-4971-951C5C03D870}"/>
              </a:ext>
            </a:extLst>
          </p:cNvPr>
          <p:cNvSpPr txBox="1">
            <a:spLocks/>
          </p:cNvSpPr>
          <p:nvPr/>
        </p:nvSpPr>
        <p:spPr>
          <a:xfrm>
            <a:off x="2141019" y="4333065"/>
            <a:ext cx="874358" cy="145642"/>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0"/>
              </a:spcBef>
              <a:spcAft>
                <a:spcPts val="0"/>
              </a:spcAft>
              <a:buClr>
                <a:srgbClr val="717074">
                  <a:lumMod val="60000"/>
                  <a:lumOff val="40000"/>
                </a:srgbClr>
              </a:buClr>
              <a:buSzPct val="90000"/>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ea typeface="+mn-ea"/>
                <a:cs typeface="+mn-cs"/>
              </a:rPr>
              <a:t>Impact area:</a:t>
            </a:r>
          </a:p>
        </p:txBody>
      </p:sp>
      <p:grpSp>
        <p:nvGrpSpPr>
          <p:cNvPr id="213" name="Group 212">
            <a:extLst>
              <a:ext uri="{FF2B5EF4-FFF2-40B4-BE49-F238E27FC236}">
                <a16:creationId xmlns:a16="http://schemas.microsoft.com/office/drawing/2014/main" id="{74827836-C076-20D3-835D-573B92B55482}"/>
              </a:ext>
            </a:extLst>
          </p:cNvPr>
          <p:cNvGrpSpPr/>
          <p:nvPr/>
        </p:nvGrpSpPr>
        <p:grpSpPr>
          <a:xfrm>
            <a:off x="4730071" y="4085992"/>
            <a:ext cx="755693" cy="210780"/>
            <a:chOff x="3702136" y="4879352"/>
            <a:chExt cx="755693" cy="210780"/>
          </a:xfrm>
        </p:grpSpPr>
        <p:sp>
          <p:nvSpPr>
            <p:cNvPr id="338" name="Flowchart: Terminator 337">
              <a:extLst>
                <a:ext uri="{FF2B5EF4-FFF2-40B4-BE49-F238E27FC236}">
                  <a16:creationId xmlns:a16="http://schemas.microsoft.com/office/drawing/2014/main" id="{1D2F626C-415E-9C5B-1FFA-6388F8557C9B}"/>
                </a:ext>
              </a:extLst>
            </p:cNvPr>
            <p:cNvSpPr/>
            <p:nvPr/>
          </p:nvSpPr>
          <p:spPr>
            <a:xfrm>
              <a:off x="3702136" y="4879352"/>
              <a:ext cx="755693" cy="210780"/>
            </a:xfrm>
            <a:prstGeom prst="flowChartTerminator">
              <a:avLst/>
            </a:prstGeom>
            <a:solidFill>
              <a:schemeClr val="bg1">
                <a:lumMod val="75000"/>
                <a:alpha val="2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39" name="Rectangle 338">
              <a:extLst>
                <a:ext uri="{FF2B5EF4-FFF2-40B4-BE49-F238E27FC236}">
                  <a16:creationId xmlns:a16="http://schemas.microsoft.com/office/drawing/2014/main" id="{43702CDD-485D-73F4-F3AA-910F5A341428}"/>
                </a:ext>
              </a:extLst>
            </p:cNvPr>
            <p:cNvSpPr/>
            <p:nvPr/>
          </p:nvSpPr>
          <p:spPr>
            <a:xfrm>
              <a:off x="3727711" y="4908840"/>
              <a:ext cx="730117" cy="15180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dirty="0">
                  <a:solidFill>
                    <a:schemeClr val="tx1"/>
                  </a:solidFill>
                </a:rPr>
                <a:t>Impact -40</a:t>
              </a:r>
            </a:p>
          </p:txBody>
        </p:sp>
      </p:grpSp>
      <p:sp>
        <p:nvSpPr>
          <p:cNvPr id="367" name="Text Placeholder 34">
            <a:extLst>
              <a:ext uri="{FF2B5EF4-FFF2-40B4-BE49-F238E27FC236}">
                <a16:creationId xmlns:a16="http://schemas.microsoft.com/office/drawing/2014/main" id="{2C125452-4DC8-0BDF-6FC6-D91CD7E58A52}"/>
              </a:ext>
            </a:extLst>
          </p:cNvPr>
          <p:cNvSpPr txBox="1">
            <a:spLocks/>
          </p:cNvSpPr>
          <p:nvPr/>
        </p:nvSpPr>
        <p:spPr>
          <a:xfrm>
            <a:off x="3639751" y="2588720"/>
            <a:ext cx="1364068" cy="180008"/>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500"/>
              </a:spcBef>
              <a:spcAft>
                <a:spcPts val="0"/>
              </a:spcAft>
              <a:buClr>
                <a:srgbClr val="717074">
                  <a:lumMod val="60000"/>
                  <a:lumOff val="40000"/>
                </a:srgbClr>
              </a:buClr>
              <a:buSzPct val="90000"/>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ea typeface="+mn-ea"/>
                <a:cs typeface="+mn-cs"/>
              </a:rPr>
              <a:t>Health score trend</a:t>
            </a:r>
          </a:p>
        </p:txBody>
      </p:sp>
      <p:grpSp>
        <p:nvGrpSpPr>
          <p:cNvPr id="612" name="Group 611">
            <a:extLst>
              <a:ext uri="{FF2B5EF4-FFF2-40B4-BE49-F238E27FC236}">
                <a16:creationId xmlns:a16="http://schemas.microsoft.com/office/drawing/2014/main" id="{C1EB5DEC-0762-7310-4FC6-A9BBA1896A87}"/>
              </a:ext>
            </a:extLst>
          </p:cNvPr>
          <p:cNvGrpSpPr/>
          <p:nvPr/>
        </p:nvGrpSpPr>
        <p:grpSpPr>
          <a:xfrm>
            <a:off x="3793488" y="2806754"/>
            <a:ext cx="2006773" cy="657573"/>
            <a:chOff x="3793488" y="2806754"/>
            <a:chExt cx="2006773" cy="657573"/>
          </a:xfrm>
        </p:grpSpPr>
        <p:cxnSp>
          <p:nvCxnSpPr>
            <p:cNvPr id="406" name="Straight Connector 405">
              <a:extLst>
                <a:ext uri="{FF2B5EF4-FFF2-40B4-BE49-F238E27FC236}">
                  <a16:creationId xmlns:a16="http://schemas.microsoft.com/office/drawing/2014/main" id="{BEED6374-1B0D-DBDB-648E-153A643A67DE}"/>
                </a:ext>
              </a:extLst>
            </p:cNvPr>
            <p:cNvCxnSpPr>
              <a:cxnSpLocks/>
            </p:cNvCxnSpPr>
            <p:nvPr/>
          </p:nvCxnSpPr>
          <p:spPr>
            <a:xfrm>
              <a:off x="3793488" y="2806754"/>
              <a:ext cx="2006773" cy="0"/>
            </a:xfrm>
            <a:prstGeom prst="line">
              <a:avLst/>
            </a:prstGeom>
            <a:ln w="3175">
              <a:solidFill>
                <a:schemeClr val="tx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7" name="Straight Connector 406">
              <a:extLst>
                <a:ext uri="{FF2B5EF4-FFF2-40B4-BE49-F238E27FC236}">
                  <a16:creationId xmlns:a16="http://schemas.microsoft.com/office/drawing/2014/main" id="{8DF55900-FB81-529C-A739-C972FCE65F65}"/>
                </a:ext>
              </a:extLst>
            </p:cNvPr>
            <p:cNvCxnSpPr>
              <a:cxnSpLocks/>
            </p:cNvCxnSpPr>
            <p:nvPr/>
          </p:nvCxnSpPr>
          <p:spPr>
            <a:xfrm>
              <a:off x="3793488" y="3025945"/>
              <a:ext cx="2006773" cy="0"/>
            </a:xfrm>
            <a:prstGeom prst="line">
              <a:avLst/>
            </a:prstGeom>
            <a:ln w="3175">
              <a:solidFill>
                <a:schemeClr val="tx1"/>
              </a:solidFill>
              <a:prstDash val="sysDot"/>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988FFCE6-0774-9565-E942-83A6854222AB}"/>
                </a:ext>
              </a:extLst>
            </p:cNvPr>
            <p:cNvCxnSpPr>
              <a:cxnSpLocks/>
            </p:cNvCxnSpPr>
            <p:nvPr/>
          </p:nvCxnSpPr>
          <p:spPr>
            <a:xfrm>
              <a:off x="3793488" y="3245136"/>
              <a:ext cx="2006773" cy="0"/>
            </a:xfrm>
            <a:prstGeom prst="line">
              <a:avLst/>
            </a:prstGeom>
            <a:ln w="3175">
              <a:solidFill>
                <a:schemeClr val="tx1"/>
              </a:solidFill>
              <a:prstDash val="sysDot"/>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09" name="Rectangle 408">
              <a:extLst>
                <a:ext uri="{FF2B5EF4-FFF2-40B4-BE49-F238E27FC236}">
                  <a16:creationId xmlns:a16="http://schemas.microsoft.com/office/drawing/2014/main" id="{8181EA57-438E-8766-1059-DC090B9A8E59}"/>
                </a:ext>
              </a:extLst>
            </p:cNvPr>
            <p:cNvSpPr/>
            <p:nvPr/>
          </p:nvSpPr>
          <p:spPr>
            <a:xfrm>
              <a:off x="3793489" y="3176080"/>
              <a:ext cx="2006772" cy="288247"/>
            </a:xfrm>
            <a:prstGeom prst="rect">
              <a:avLst/>
            </a:prstGeom>
            <a:solidFill>
              <a:srgbClr val="9F2842">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412" name="Rectangle 411">
              <a:extLst>
                <a:ext uri="{FF2B5EF4-FFF2-40B4-BE49-F238E27FC236}">
                  <a16:creationId xmlns:a16="http://schemas.microsoft.com/office/drawing/2014/main" id="{2F5AB67A-AEC6-EE85-8BE5-8EDB057F6680}"/>
                </a:ext>
              </a:extLst>
            </p:cNvPr>
            <p:cNvSpPr/>
            <p:nvPr/>
          </p:nvSpPr>
          <p:spPr>
            <a:xfrm>
              <a:off x="3793488" y="2963657"/>
              <a:ext cx="2006773" cy="214526"/>
            </a:xfrm>
            <a:prstGeom prst="rect">
              <a:avLst/>
            </a:prstGeom>
            <a:solidFill>
              <a:srgbClr val="EC7700">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cxnSp>
          <p:nvCxnSpPr>
            <p:cNvPr id="368" name="Straight Connector 367">
              <a:extLst>
                <a:ext uri="{FF2B5EF4-FFF2-40B4-BE49-F238E27FC236}">
                  <a16:creationId xmlns:a16="http://schemas.microsoft.com/office/drawing/2014/main" id="{154247DC-442F-2C76-A828-8CD3B44A8851}"/>
                </a:ext>
              </a:extLst>
            </p:cNvPr>
            <p:cNvCxnSpPr>
              <a:cxnSpLocks/>
            </p:cNvCxnSpPr>
            <p:nvPr/>
          </p:nvCxnSpPr>
          <p:spPr>
            <a:xfrm>
              <a:off x="3793488" y="3464327"/>
              <a:ext cx="2006773" cy="0"/>
            </a:xfrm>
            <a:prstGeom prst="line">
              <a:avLst/>
            </a:prstGeom>
            <a:ln w="3175">
              <a:solidFill>
                <a:schemeClr val="tx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19" name="Group 418">
            <a:extLst>
              <a:ext uri="{FF2B5EF4-FFF2-40B4-BE49-F238E27FC236}">
                <a16:creationId xmlns:a16="http://schemas.microsoft.com/office/drawing/2014/main" id="{0174C13E-D60E-42AF-AB4F-04B78853AD72}"/>
              </a:ext>
            </a:extLst>
          </p:cNvPr>
          <p:cNvGrpSpPr/>
          <p:nvPr/>
        </p:nvGrpSpPr>
        <p:grpSpPr>
          <a:xfrm>
            <a:off x="3795532" y="2833683"/>
            <a:ext cx="2004729" cy="433389"/>
            <a:chOff x="3924709" y="2833683"/>
            <a:chExt cx="2004729" cy="433389"/>
          </a:xfrm>
        </p:grpSpPr>
        <p:cxnSp>
          <p:nvCxnSpPr>
            <p:cNvPr id="294" name="Straight Connector 293">
              <a:extLst>
                <a:ext uri="{FF2B5EF4-FFF2-40B4-BE49-F238E27FC236}">
                  <a16:creationId xmlns:a16="http://schemas.microsoft.com/office/drawing/2014/main" id="{21A4BAA4-B841-A093-24CA-2D2C08E91629}"/>
                </a:ext>
              </a:extLst>
            </p:cNvPr>
            <p:cNvCxnSpPr>
              <a:cxnSpLocks/>
            </p:cNvCxnSpPr>
            <p:nvPr/>
          </p:nvCxnSpPr>
          <p:spPr bwMode="gray">
            <a:xfrm>
              <a:off x="3924709" y="2838270"/>
              <a:ext cx="214955" cy="0"/>
            </a:xfrm>
            <a:prstGeom prst="line">
              <a:avLst/>
            </a:prstGeom>
            <a:ln w="1270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A9C71AD3-0624-1FB0-57F7-28141DB5D5CC}"/>
                </a:ext>
              </a:extLst>
            </p:cNvPr>
            <p:cNvCxnSpPr>
              <a:cxnSpLocks/>
            </p:cNvCxnSpPr>
            <p:nvPr/>
          </p:nvCxnSpPr>
          <p:spPr bwMode="gray">
            <a:xfrm>
              <a:off x="4132620" y="2837390"/>
              <a:ext cx="214955" cy="0"/>
            </a:xfrm>
            <a:prstGeom prst="line">
              <a:avLst/>
            </a:prstGeom>
            <a:ln w="1270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B606DCE1-7413-E6DC-AFE7-E021DAD5FCC6}"/>
                </a:ext>
              </a:extLst>
            </p:cNvPr>
            <p:cNvCxnSpPr>
              <a:cxnSpLocks/>
            </p:cNvCxnSpPr>
            <p:nvPr/>
          </p:nvCxnSpPr>
          <p:spPr bwMode="gray">
            <a:xfrm>
              <a:off x="4344627" y="2837390"/>
              <a:ext cx="60072" cy="293671"/>
            </a:xfrm>
            <a:prstGeom prst="line">
              <a:avLst/>
            </a:prstGeom>
            <a:ln w="1270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A002B1A0-5699-3073-6125-39A72A095ADA}"/>
                </a:ext>
              </a:extLst>
            </p:cNvPr>
            <p:cNvCxnSpPr>
              <a:cxnSpLocks/>
            </p:cNvCxnSpPr>
            <p:nvPr/>
          </p:nvCxnSpPr>
          <p:spPr bwMode="gray">
            <a:xfrm>
              <a:off x="4401336" y="3124722"/>
              <a:ext cx="180425" cy="82141"/>
            </a:xfrm>
            <a:prstGeom prst="line">
              <a:avLst/>
            </a:prstGeom>
            <a:ln w="1270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DCD0854A-E921-243A-1D01-6EA5A88DD55F}"/>
                </a:ext>
              </a:extLst>
            </p:cNvPr>
            <p:cNvCxnSpPr>
              <a:cxnSpLocks/>
            </p:cNvCxnSpPr>
            <p:nvPr/>
          </p:nvCxnSpPr>
          <p:spPr bwMode="gray">
            <a:xfrm>
              <a:off x="4580636" y="3205962"/>
              <a:ext cx="190893" cy="28481"/>
            </a:xfrm>
            <a:prstGeom prst="line">
              <a:avLst/>
            </a:prstGeom>
            <a:ln w="1270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593B6699-DEB7-3367-57D4-74C9E4BE2C44}"/>
                </a:ext>
              </a:extLst>
            </p:cNvPr>
            <p:cNvCxnSpPr>
              <a:cxnSpLocks/>
            </p:cNvCxnSpPr>
            <p:nvPr/>
          </p:nvCxnSpPr>
          <p:spPr bwMode="gray">
            <a:xfrm>
              <a:off x="5086632" y="2837390"/>
              <a:ext cx="312869" cy="0"/>
            </a:xfrm>
            <a:prstGeom prst="line">
              <a:avLst/>
            </a:prstGeom>
            <a:ln w="1270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F3122DC0-CA5D-0D9F-41EB-6086FDC5105A}"/>
                </a:ext>
              </a:extLst>
            </p:cNvPr>
            <p:cNvCxnSpPr>
              <a:cxnSpLocks/>
            </p:cNvCxnSpPr>
            <p:nvPr/>
          </p:nvCxnSpPr>
          <p:spPr bwMode="gray">
            <a:xfrm>
              <a:off x="5399501" y="2837390"/>
              <a:ext cx="257120" cy="0"/>
            </a:xfrm>
            <a:prstGeom prst="line">
              <a:avLst/>
            </a:prstGeom>
            <a:ln w="1270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7CD9F05D-E897-2EB2-5422-B53C11ED3461}"/>
                </a:ext>
              </a:extLst>
            </p:cNvPr>
            <p:cNvCxnSpPr>
              <a:cxnSpLocks/>
            </p:cNvCxnSpPr>
            <p:nvPr/>
          </p:nvCxnSpPr>
          <p:spPr bwMode="gray">
            <a:xfrm>
              <a:off x="4771137" y="3233974"/>
              <a:ext cx="198840" cy="31599"/>
            </a:xfrm>
            <a:prstGeom prst="line">
              <a:avLst/>
            </a:prstGeom>
            <a:ln w="1270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3F61FF2C-981F-650E-E36A-769276BC6DF2}"/>
                </a:ext>
              </a:extLst>
            </p:cNvPr>
            <p:cNvCxnSpPr>
              <a:cxnSpLocks/>
            </p:cNvCxnSpPr>
            <p:nvPr/>
          </p:nvCxnSpPr>
          <p:spPr bwMode="gray">
            <a:xfrm flipV="1">
              <a:off x="4973125" y="2837390"/>
              <a:ext cx="113507" cy="429682"/>
            </a:xfrm>
            <a:prstGeom prst="line">
              <a:avLst/>
            </a:prstGeom>
            <a:ln w="1270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4396883F-9A45-F2CE-B387-31BD4A13D2A7}"/>
                </a:ext>
              </a:extLst>
            </p:cNvPr>
            <p:cNvCxnSpPr>
              <a:cxnSpLocks/>
            </p:cNvCxnSpPr>
            <p:nvPr/>
          </p:nvCxnSpPr>
          <p:spPr bwMode="gray">
            <a:xfrm>
              <a:off x="5659466" y="2833683"/>
              <a:ext cx="68151" cy="170327"/>
            </a:xfrm>
            <a:prstGeom prst="line">
              <a:avLst/>
            </a:prstGeom>
            <a:ln w="1270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7108910C-FBFD-193C-214C-C304F4CFCB81}"/>
                </a:ext>
              </a:extLst>
            </p:cNvPr>
            <p:cNvCxnSpPr>
              <a:cxnSpLocks/>
            </p:cNvCxnSpPr>
            <p:nvPr/>
          </p:nvCxnSpPr>
          <p:spPr bwMode="gray">
            <a:xfrm flipV="1">
              <a:off x="5727617" y="2836357"/>
              <a:ext cx="150982" cy="175246"/>
            </a:xfrm>
            <a:prstGeom prst="line">
              <a:avLst/>
            </a:prstGeom>
            <a:ln w="1270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5" name="Straight Connector 414">
              <a:extLst>
                <a:ext uri="{FF2B5EF4-FFF2-40B4-BE49-F238E27FC236}">
                  <a16:creationId xmlns:a16="http://schemas.microsoft.com/office/drawing/2014/main" id="{A2D89888-BA19-B39A-2875-7FE03563C424}"/>
                </a:ext>
              </a:extLst>
            </p:cNvPr>
            <p:cNvCxnSpPr>
              <a:cxnSpLocks/>
            </p:cNvCxnSpPr>
            <p:nvPr/>
          </p:nvCxnSpPr>
          <p:spPr bwMode="gray">
            <a:xfrm>
              <a:off x="5877051" y="2837390"/>
              <a:ext cx="52387" cy="0"/>
            </a:xfrm>
            <a:prstGeom prst="line">
              <a:avLst/>
            </a:prstGeom>
            <a:ln w="1270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449" name="Group 448">
            <a:extLst>
              <a:ext uri="{FF2B5EF4-FFF2-40B4-BE49-F238E27FC236}">
                <a16:creationId xmlns:a16="http://schemas.microsoft.com/office/drawing/2014/main" id="{BE8FF917-3EE2-CADA-E83A-256574C3E4AA}"/>
              </a:ext>
            </a:extLst>
          </p:cNvPr>
          <p:cNvGrpSpPr/>
          <p:nvPr/>
        </p:nvGrpSpPr>
        <p:grpSpPr>
          <a:xfrm>
            <a:off x="3191296" y="5829214"/>
            <a:ext cx="1475466" cy="315174"/>
            <a:chOff x="4470618" y="2423849"/>
            <a:chExt cx="1475466" cy="315174"/>
          </a:xfrm>
        </p:grpSpPr>
        <p:grpSp>
          <p:nvGrpSpPr>
            <p:cNvPr id="450" name="Group 449">
              <a:extLst>
                <a:ext uri="{FF2B5EF4-FFF2-40B4-BE49-F238E27FC236}">
                  <a16:creationId xmlns:a16="http://schemas.microsoft.com/office/drawing/2014/main" id="{01DF6BB6-D164-F59A-9154-C0DB29663888}"/>
                </a:ext>
              </a:extLst>
            </p:cNvPr>
            <p:cNvGrpSpPr/>
            <p:nvPr/>
          </p:nvGrpSpPr>
          <p:grpSpPr>
            <a:xfrm>
              <a:off x="4476580" y="2423849"/>
              <a:ext cx="1469504" cy="123398"/>
              <a:chOff x="4476580" y="2519099"/>
              <a:chExt cx="1469504" cy="123398"/>
            </a:xfrm>
            <a:solidFill>
              <a:schemeClr val="accent4"/>
            </a:solidFill>
          </p:grpSpPr>
          <p:pic>
            <p:nvPicPr>
              <p:cNvPr id="457" name="Graphic 456">
                <a:extLst>
                  <a:ext uri="{FF2B5EF4-FFF2-40B4-BE49-F238E27FC236}">
                    <a16:creationId xmlns:a16="http://schemas.microsoft.com/office/drawing/2014/main" id="{7408D0F0-7841-BE6F-1460-EE7148FC93E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76580" y="2519099"/>
                <a:ext cx="463680" cy="123398"/>
              </a:xfrm>
              <a:prstGeom prst="rect">
                <a:avLst/>
              </a:prstGeom>
            </p:spPr>
          </p:pic>
          <p:pic>
            <p:nvPicPr>
              <p:cNvPr id="459" name="Graphic 458">
                <a:extLst>
                  <a:ext uri="{FF2B5EF4-FFF2-40B4-BE49-F238E27FC236}">
                    <a16:creationId xmlns:a16="http://schemas.microsoft.com/office/drawing/2014/main" id="{F946C8A9-2073-E013-74EE-90D416A4F4E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79492" y="2519099"/>
                <a:ext cx="463680" cy="123398"/>
              </a:xfrm>
              <a:prstGeom prst="rect">
                <a:avLst/>
              </a:prstGeom>
            </p:spPr>
          </p:pic>
          <p:pic>
            <p:nvPicPr>
              <p:cNvPr id="460" name="Graphic 459">
                <a:extLst>
                  <a:ext uri="{FF2B5EF4-FFF2-40B4-BE49-F238E27FC236}">
                    <a16:creationId xmlns:a16="http://schemas.microsoft.com/office/drawing/2014/main" id="{50A7D924-75D7-4177-C885-5F1687640E3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2404" y="2519099"/>
                <a:ext cx="463680" cy="123398"/>
              </a:xfrm>
              <a:prstGeom prst="rect">
                <a:avLst/>
              </a:prstGeom>
            </p:spPr>
          </p:pic>
        </p:grpSp>
        <p:grpSp>
          <p:nvGrpSpPr>
            <p:cNvPr id="451" name="Group 450">
              <a:extLst>
                <a:ext uri="{FF2B5EF4-FFF2-40B4-BE49-F238E27FC236}">
                  <a16:creationId xmlns:a16="http://schemas.microsoft.com/office/drawing/2014/main" id="{DED28485-1CE7-FE7A-2C83-911DE40699B0}"/>
                </a:ext>
              </a:extLst>
            </p:cNvPr>
            <p:cNvGrpSpPr/>
            <p:nvPr/>
          </p:nvGrpSpPr>
          <p:grpSpPr>
            <a:xfrm>
              <a:off x="4470618" y="2584475"/>
              <a:ext cx="1475465" cy="154548"/>
              <a:chOff x="4470618" y="2679725"/>
              <a:chExt cx="1475465" cy="154548"/>
            </a:xfrm>
          </p:grpSpPr>
          <p:cxnSp>
            <p:nvCxnSpPr>
              <p:cNvPr id="452" name="Straight Connector 451">
                <a:extLst>
                  <a:ext uri="{FF2B5EF4-FFF2-40B4-BE49-F238E27FC236}">
                    <a16:creationId xmlns:a16="http://schemas.microsoft.com/office/drawing/2014/main" id="{89B469FC-0513-6DBF-5463-C060A44A33E6}"/>
                  </a:ext>
                </a:extLst>
              </p:cNvPr>
              <p:cNvCxnSpPr>
                <a:cxnSpLocks/>
              </p:cNvCxnSpPr>
              <p:nvPr/>
            </p:nvCxnSpPr>
            <p:spPr bwMode="gray">
              <a:xfrm>
                <a:off x="4476580" y="2679725"/>
                <a:ext cx="0" cy="87875"/>
              </a:xfrm>
              <a:prstGeom prst="line">
                <a:avLst/>
              </a:prstGeom>
              <a:solidFill>
                <a:schemeClr val="accent1"/>
              </a:solidFill>
              <a:ln w="1587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53" name="Straight Connector 452">
                <a:extLst>
                  <a:ext uri="{FF2B5EF4-FFF2-40B4-BE49-F238E27FC236}">
                    <a16:creationId xmlns:a16="http://schemas.microsoft.com/office/drawing/2014/main" id="{DCD67B0C-DE6D-ED1B-F1C4-49C136B64DEC}"/>
                  </a:ext>
                </a:extLst>
              </p:cNvPr>
              <p:cNvCxnSpPr>
                <a:cxnSpLocks/>
              </p:cNvCxnSpPr>
              <p:nvPr/>
            </p:nvCxnSpPr>
            <p:spPr bwMode="gray">
              <a:xfrm>
                <a:off x="5443172" y="2767600"/>
                <a:ext cx="502911" cy="0"/>
              </a:xfrm>
              <a:prstGeom prst="line">
                <a:avLst/>
              </a:prstGeom>
              <a:solidFill>
                <a:schemeClr val="accent1"/>
              </a:solidFill>
              <a:ln w="1587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54" name="Straight Connector 453">
                <a:extLst>
                  <a:ext uri="{FF2B5EF4-FFF2-40B4-BE49-F238E27FC236}">
                    <a16:creationId xmlns:a16="http://schemas.microsoft.com/office/drawing/2014/main" id="{12D9FCB3-B90A-87EC-A86F-9EDE248D9E6A}"/>
                  </a:ext>
                </a:extLst>
              </p:cNvPr>
              <p:cNvCxnSpPr>
                <a:cxnSpLocks/>
              </p:cNvCxnSpPr>
              <p:nvPr/>
            </p:nvCxnSpPr>
            <p:spPr bwMode="gray">
              <a:xfrm>
                <a:off x="5946083" y="2679725"/>
                <a:ext cx="0" cy="87875"/>
              </a:xfrm>
              <a:prstGeom prst="line">
                <a:avLst/>
              </a:prstGeom>
              <a:solidFill>
                <a:schemeClr val="accent1"/>
              </a:solidFill>
              <a:ln w="1587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55" name="Straight Connector 454">
                <a:extLst>
                  <a:ext uri="{FF2B5EF4-FFF2-40B4-BE49-F238E27FC236}">
                    <a16:creationId xmlns:a16="http://schemas.microsoft.com/office/drawing/2014/main" id="{65C6F62E-1037-7523-D7D7-4EE44BCCA0AD}"/>
                  </a:ext>
                </a:extLst>
              </p:cNvPr>
              <p:cNvCxnSpPr>
                <a:cxnSpLocks/>
              </p:cNvCxnSpPr>
              <p:nvPr/>
            </p:nvCxnSpPr>
            <p:spPr bwMode="gray">
              <a:xfrm>
                <a:off x="4470618" y="2767600"/>
                <a:ext cx="508874" cy="0"/>
              </a:xfrm>
              <a:prstGeom prst="line">
                <a:avLst/>
              </a:prstGeom>
              <a:solidFill>
                <a:schemeClr val="accent1"/>
              </a:solidFill>
              <a:ln w="1587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56" name="TextBox 455">
                <a:extLst>
                  <a:ext uri="{FF2B5EF4-FFF2-40B4-BE49-F238E27FC236}">
                    <a16:creationId xmlns:a16="http://schemas.microsoft.com/office/drawing/2014/main" id="{6D9D0E0D-9048-F4B8-E932-62CA12624775}"/>
                  </a:ext>
                </a:extLst>
              </p:cNvPr>
              <p:cNvSpPr txBox="1"/>
              <p:nvPr/>
            </p:nvSpPr>
            <p:spPr>
              <a:xfrm>
                <a:off x="4821169" y="2680385"/>
                <a:ext cx="773024" cy="153888"/>
              </a:xfrm>
              <a:prstGeom prst="rect">
                <a:avLst/>
              </a:prstGeom>
              <a:ln>
                <a:noFill/>
              </a:ln>
            </p:spPr>
            <p:txBody>
              <a:bodyPr wrap="square" lIns="0" tIns="0" rIns="0" bIns="0" rtlCol="0">
                <a:spAutoFit/>
              </a:bodyPr>
              <a:lstStyle/>
              <a:p>
                <a:pPr algn="ctr">
                  <a:spcAft>
                    <a:spcPts val="600"/>
                  </a:spcAft>
                </a:pPr>
                <a:r>
                  <a:rPr lang="en-US" sz="1000" dirty="0">
                    <a:solidFill>
                      <a:schemeClr val="accent2"/>
                    </a:solidFill>
                  </a:rPr>
                  <a:t>vSAN</a:t>
                </a:r>
              </a:p>
            </p:txBody>
          </p:sp>
        </p:grpSp>
      </p:grpSp>
      <p:grpSp>
        <p:nvGrpSpPr>
          <p:cNvPr id="463" name="Group 462">
            <a:extLst>
              <a:ext uri="{FF2B5EF4-FFF2-40B4-BE49-F238E27FC236}">
                <a16:creationId xmlns:a16="http://schemas.microsoft.com/office/drawing/2014/main" id="{1A0F917F-3D50-431D-6579-7F81323BF8E4}"/>
              </a:ext>
            </a:extLst>
          </p:cNvPr>
          <p:cNvGrpSpPr/>
          <p:nvPr/>
        </p:nvGrpSpPr>
        <p:grpSpPr>
          <a:xfrm>
            <a:off x="3195650" y="5558823"/>
            <a:ext cx="1466758" cy="209741"/>
            <a:chOff x="4902106" y="3243915"/>
            <a:chExt cx="1466758" cy="209741"/>
          </a:xfrm>
          <a:solidFill>
            <a:schemeClr val="accent1">
              <a:lumMod val="75000"/>
            </a:schemeClr>
          </a:solidFill>
        </p:grpSpPr>
        <p:pic>
          <p:nvPicPr>
            <p:cNvPr id="464" name="Graphic 463">
              <a:extLst>
                <a:ext uri="{FF2B5EF4-FFF2-40B4-BE49-F238E27FC236}">
                  <a16:creationId xmlns:a16="http://schemas.microsoft.com/office/drawing/2014/main" id="{B18D6092-826E-585A-6556-7D0B0250831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54390" y="3243915"/>
              <a:ext cx="209741" cy="209741"/>
            </a:xfrm>
            <a:prstGeom prst="rect">
              <a:avLst/>
            </a:prstGeom>
          </p:spPr>
        </p:pic>
        <p:pic>
          <p:nvPicPr>
            <p:cNvPr id="465" name="Graphic 464">
              <a:extLst>
                <a:ext uri="{FF2B5EF4-FFF2-40B4-BE49-F238E27FC236}">
                  <a16:creationId xmlns:a16="http://schemas.microsoft.com/office/drawing/2014/main" id="{DDDD0110-77CE-7E14-9880-A6C868B3055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02106" y="3243915"/>
              <a:ext cx="209741" cy="209741"/>
            </a:xfrm>
            <a:prstGeom prst="rect">
              <a:avLst/>
            </a:prstGeom>
          </p:spPr>
        </p:pic>
        <p:pic>
          <p:nvPicPr>
            <p:cNvPr id="466" name="Graphic 465">
              <a:extLst>
                <a:ext uri="{FF2B5EF4-FFF2-40B4-BE49-F238E27FC236}">
                  <a16:creationId xmlns:a16="http://schemas.microsoft.com/office/drawing/2014/main" id="{F042D47A-4A0B-3D6F-310D-28DD219AB55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58957" y="3243915"/>
              <a:ext cx="209741" cy="209741"/>
            </a:xfrm>
            <a:prstGeom prst="rect">
              <a:avLst/>
            </a:prstGeom>
          </p:spPr>
        </p:pic>
        <p:pic>
          <p:nvPicPr>
            <p:cNvPr id="467" name="Graphic 466">
              <a:extLst>
                <a:ext uri="{FF2B5EF4-FFF2-40B4-BE49-F238E27FC236}">
                  <a16:creationId xmlns:a16="http://schemas.microsoft.com/office/drawing/2014/main" id="{776E8191-5C2B-4DA6-7341-18A3D613789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06674" y="3243915"/>
              <a:ext cx="209741" cy="209741"/>
            </a:xfrm>
            <a:prstGeom prst="rect">
              <a:avLst/>
            </a:prstGeom>
          </p:spPr>
        </p:pic>
        <p:pic>
          <p:nvPicPr>
            <p:cNvPr id="468" name="Graphic 467">
              <a:extLst>
                <a:ext uri="{FF2B5EF4-FFF2-40B4-BE49-F238E27FC236}">
                  <a16:creationId xmlns:a16="http://schemas.microsoft.com/office/drawing/2014/main" id="{9A644A82-2D05-EDEB-67F3-E139AA88265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59123" y="3243915"/>
              <a:ext cx="209741" cy="209741"/>
            </a:xfrm>
            <a:prstGeom prst="rect">
              <a:avLst/>
            </a:prstGeom>
          </p:spPr>
        </p:pic>
        <p:pic>
          <p:nvPicPr>
            <p:cNvPr id="469" name="Graphic 468">
              <a:extLst>
                <a:ext uri="{FF2B5EF4-FFF2-40B4-BE49-F238E27FC236}">
                  <a16:creationId xmlns:a16="http://schemas.microsoft.com/office/drawing/2014/main" id="{B59733E4-A357-BEE6-AF79-7E47EF69035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06840" y="3243915"/>
              <a:ext cx="209741" cy="209741"/>
            </a:xfrm>
            <a:prstGeom prst="rect">
              <a:avLst/>
            </a:prstGeom>
          </p:spPr>
        </p:pic>
      </p:grpSp>
      <p:sp>
        <p:nvSpPr>
          <p:cNvPr id="482" name="Text Placeholder 34">
            <a:extLst>
              <a:ext uri="{FF2B5EF4-FFF2-40B4-BE49-F238E27FC236}">
                <a16:creationId xmlns:a16="http://schemas.microsoft.com/office/drawing/2014/main" id="{ADAE8FFA-D36B-B376-A837-98894CD95CAA}"/>
              </a:ext>
            </a:extLst>
          </p:cNvPr>
          <p:cNvSpPr txBox="1">
            <a:spLocks/>
          </p:cNvSpPr>
          <p:nvPr/>
        </p:nvSpPr>
        <p:spPr>
          <a:xfrm>
            <a:off x="3124179" y="5095940"/>
            <a:ext cx="1609701" cy="180008"/>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500"/>
              </a:spcBef>
              <a:spcAft>
                <a:spcPts val="0"/>
              </a:spcAft>
              <a:buClr>
                <a:srgbClr val="717074">
                  <a:lumMod val="60000"/>
                  <a:lumOff val="40000"/>
                </a:srgbClr>
              </a:buClr>
              <a:buSzPct val="90000"/>
              <a:buFont typeface="Arial" panose="020B0604020202020204" pitchFamily="34" charset="0"/>
              <a:buChar char="​"/>
              <a:tabLst/>
              <a:defRPr/>
            </a:pPr>
            <a:r>
              <a:rPr kumimoji="0" lang="en-US" sz="1200" b="0" i="0" u="none" strike="noStrike" kern="1200" cap="none" spc="0" normalizeH="0" baseline="0" noProof="0" dirty="0">
                <a:ln>
                  <a:noFill/>
                </a:ln>
                <a:effectLst/>
                <a:uLnTx/>
                <a:uFillTx/>
                <a:latin typeface="Arial" panose="020B0604020202020204" pitchFamily="34" charset="0"/>
                <a:ea typeface="+mn-ea"/>
                <a:cs typeface="+mn-cs"/>
              </a:rPr>
              <a:t>Analyzes </a:t>
            </a:r>
            <a:r>
              <a:rPr kumimoji="0" lang="en-US" sz="1200" b="0" i="0" u="none" strike="noStrike" kern="1200" cap="none" spc="0" normalizeH="0" baseline="0" noProof="0" dirty="0">
                <a:ln>
                  <a:noFill/>
                </a:ln>
                <a:effectLst/>
                <a:uLnTx/>
                <a:uFillTx/>
                <a:ea typeface="+mn-ea"/>
                <a:cs typeface="+mn-cs"/>
              </a:rPr>
              <a:t>Conditions</a:t>
            </a:r>
          </a:p>
        </p:txBody>
      </p:sp>
      <p:sp>
        <p:nvSpPr>
          <p:cNvPr id="483" name="Text Placeholder 34">
            <a:extLst>
              <a:ext uri="{FF2B5EF4-FFF2-40B4-BE49-F238E27FC236}">
                <a16:creationId xmlns:a16="http://schemas.microsoft.com/office/drawing/2014/main" id="{E6DDEF72-A584-3E9A-A618-A755D703E470}"/>
              </a:ext>
            </a:extLst>
          </p:cNvPr>
          <p:cNvSpPr txBox="1">
            <a:spLocks/>
          </p:cNvSpPr>
          <p:nvPr/>
        </p:nvSpPr>
        <p:spPr>
          <a:xfrm>
            <a:off x="6363361" y="4455530"/>
            <a:ext cx="1490167" cy="180008"/>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500"/>
              </a:spcBef>
              <a:spcAft>
                <a:spcPts val="0"/>
              </a:spcAft>
              <a:buClr>
                <a:srgbClr val="717074">
                  <a:lumMod val="60000"/>
                  <a:lumOff val="40000"/>
                </a:srgbClr>
              </a:buClr>
              <a:buSzPct val="90000"/>
              <a:buNone/>
              <a:tabLst/>
              <a:defRPr/>
            </a:pPr>
            <a:r>
              <a:rPr lang="en-US" sz="1200" dirty="0"/>
              <a:t>Calculates Impact</a:t>
            </a:r>
            <a:endParaRPr kumimoji="0" lang="en-US" sz="1200" b="0" i="0" u="none" strike="noStrike" kern="1200" cap="none" spc="0" normalizeH="0" baseline="0" noProof="0" dirty="0">
              <a:ln>
                <a:noFill/>
              </a:ln>
              <a:effectLst/>
              <a:uLnTx/>
              <a:uFillTx/>
            </a:endParaRPr>
          </a:p>
        </p:txBody>
      </p:sp>
      <p:grpSp>
        <p:nvGrpSpPr>
          <p:cNvPr id="499" name="Group 498">
            <a:extLst>
              <a:ext uri="{FF2B5EF4-FFF2-40B4-BE49-F238E27FC236}">
                <a16:creationId xmlns:a16="http://schemas.microsoft.com/office/drawing/2014/main" id="{DA3542B1-9F7B-202D-9603-D807FF80A1C5}"/>
              </a:ext>
            </a:extLst>
          </p:cNvPr>
          <p:cNvGrpSpPr/>
          <p:nvPr/>
        </p:nvGrpSpPr>
        <p:grpSpPr>
          <a:xfrm>
            <a:off x="2479082" y="4797258"/>
            <a:ext cx="2899894" cy="265059"/>
            <a:chOff x="3261905" y="7434427"/>
            <a:chExt cx="2899894" cy="265059"/>
          </a:xfrm>
        </p:grpSpPr>
        <p:sp>
          <p:nvSpPr>
            <p:cNvPr id="420" name="Rectangle 419">
              <a:extLst>
                <a:ext uri="{FF2B5EF4-FFF2-40B4-BE49-F238E27FC236}">
                  <a16:creationId xmlns:a16="http://schemas.microsoft.com/office/drawing/2014/main" id="{4E385D06-6392-C2B0-055D-483B417FA2D8}"/>
                </a:ext>
              </a:extLst>
            </p:cNvPr>
            <p:cNvSpPr/>
            <p:nvPr/>
          </p:nvSpPr>
          <p:spPr>
            <a:xfrm>
              <a:off x="3261905" y="7434427"/>
              <a:ext cx="2899894" cy="265059"/>
            </a:xfrm>
            <a:prstGeom prst="rect">
              <a:avLst/>
            </a:prstGeom>
            <a:solidFill>
              <a:schemeClr val="accent3">
                <a:alpha val="18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421" name="Text Placeholder 34">
              <a:extLst>
                <a:ext uri="{FF2B5EF4-FFF2-40B4-BE49-F238E27FC236}">
                  <a16:creationId xmlns:a16="http://schemas.microsoft.com/office/drawing/2014/main" id="{98A21AED-CC32-AEFE-7E81-57C56250F85E}"/>
                </a:ext>
              </a:extLst>
            </p:cNvPr>
            <p:cNvSpPr txBox="1">
              <a:spLocks/>
            </p:cNvSpPr>
            <p:nvPr/>
          </p:nvSpPr>
          <p:spPr>
            <a:xfrm>
              <a:off x="4386640" y="7495583"/>
              <a:ext cx="762632" cy="142746"/>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500"/>
                </a:spcBef>
                <a:spcAft>
                  <a:spcPts val="0"/>
                </a:spcAft>
                <a:buClr>
                  <a:srgbClr val="717074">
                    <a:lumMod val="60000"/>
                    <a:lumOff val="40000"/>
                  </a:srgbClr>
                </a:buClr>
                <a:buSzPct val="90000"/>
                <a:buFont typeface="Arial" panose="020B0604020202020204" pitchFamily="34" charset="0"/>
                <a:buChar char="​"/>
                <a:tabLst/>
                <a:defRPr/>
              </a:pPr>
              <a:r>
                <a:rPr kumimoji="0" lang="en-US" sz="1000" b="0" i="0" u="none" strike="noStrike" kern="1200" cap="none" spc="0" normalizeH="0" baseline="0" noProof="0" dirty="0">
                  <a:ln>
                    <a:noFill/>
                  </a:ln>
                  <a:solidFill>
                    <a:schemeClr val="accent3"/>
                  </a:solidFill>
                  <a:effectLst/>
                  <a:uLnTx/>
                  <a:uFillTx/>
                  <a:ea typeface="+mn-ea"/>
                  <a:cs typeface="+mn-cs"/>
                </a:rPr>
                <a:t>Category</a:t>
              </a:r>
            </a:p>
          </p:txBody>
        </p:sp>
        <p:sp>
          <p:nvSpPr>
            <p:cNvPr id="423" name="Text Placeholder 34">
              <a:extLst>
                <a:ext uri="{FF2B5EF4-FFF2-40B4-BE49-F238E27FC236}">
                  <a16:creationId xmlns:a16="http://schemas.microsoft.com/office/drawing/2014/main" id="{B53348C3-DB9F-F6F3-C71D-860B18A25ED5}"/>
                </a:ext>
              </a:extLst>
            </p:cNvPr>
            <p:cNvSpPr txBox="1">
              <a:spLocks/>
            </p:cNvSpPr>
            <p:nvPr/>
          </p:nvSpPr>
          <p:spPr>
            <a:xfrm>
              <a:off x="3311838" y="7495583"/>
              <a:ext cx="931552" cy="142746"/>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500"/>
                </a:spcBef>
                <a:spcAft>
                  <a:spcPts val="0"/>
                </a:spcAft>
                <a:buClr>
                  <a:srgbClr val="717074">
                    <a:lumMod val="60000"/>
                    <a:lumOff val="40000"/>
                  </a:srgbClr>
                </a:buClr>
                <a:buSzPct val="90000"/>
                <a:buFont typeface="Arial" panose="020B0604020202020204" pitchFamily="34" charset="0"/>
                <a:buChar char="​"/>
                <a:tabLst/>
                <a:defRPr/>
              </a:pPr>
              <a:r>
                <a:rPr kumimoji="0" lang="en-US" sz="1000" b="0" i="0" u="none" strike="noStrike" kern="1200" cap="none" spc="0" normalizeH="0" baseline="0" noProof="0" dirty="0">
                  <a:ln>
                    <a:noFill/>
                  </a:ln>
                  <a:solidFill>
                    <a:schemeClr val="accent3"/>
                  </a:solidFill>
                  <a:effectLst/>
                  <a:uLnTx/>
                  <a:uFillTx/>
                  <a:ea typeface="+mn-ea"/>
                  <a:cs typeface="+mn-cs"/>
                </a:rPr>
                <a:t>Relationships</a:t>
              </a:r>
            </a:p>
          </p:txBody>
        </p:sp>
        <p:sp>
          <p:nvSpPr>
            <p:cNvPr id="424" name="Text Placeholder 34">
              <a:extLst>
                <a:ext uri="{FF2B5EF4-FFF2-40B4-BE49-F238E27FC236}">
                  <a16:creationId xmlns:a16="http://schemas.microsoft.com/office/drawing/2014/main" id="{31126074-B943-F9DC-2F95-3621BA1CE5B6}"/>
                </a:ext>
              </a:extLst>
            </p:cNvPr>
            <p:cNvSpPr txBox="1">
              <a:spLocks/>
            </p:cNvSpPr>
            <p:nvPr/>
          </p:nvSpPr>
          <p:spPr>
            <a:xfrm>
              <a:off x="5338382" y="7495583"/>
              <a:ext cx="697429" cy="142746"/>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500"/>
                </a:spcBef>
                <a:spcAft>
                  <a:spcPts val="0"/>
                </a:spcAft>
                <a:buClr>
                  <a:srgbClr val="717074">
                    <a:lumMod val="60000"/>
                    <a:lumOff val="40000"/>
                  </a:srgbClr>
                </a:buClr>
                <a:buSzPct val="90000"/>
                <a:buFont typeface="Arial" panose="020B0604020202020204" pitchFamily="34" charset="0"/>
                <a:buChar char="​"/>
                <a:tabLst/>
                <a:defRPr/>
              </a:pPr>
              <a:r>
                <a:rPr kumimoji="0" lang="en-US" sz="1000" b="0" i="0" u="none" strike="noStrike" kern="1200" cap="none" spc="0" normalizeH="0" baseline="0" noProof="0" dirty="0">
                  <a:ln>
                    <a:noFill/>
                  </a:ln>
                  <a:solidFill>
                    <a:schemeClr val="accent3"/>
                  </a:solidFill>
                  <a:effectLst/>
                  <a:uLnTx/>
                  <a:uFillTx/>
                  <a:ea typeface="+mn-ea"/>
                  <a:cs typeface="+mn-cs"/>
                </a:rPr>
                <a:t>Priority</a:t>
              </a:r>
            </a:p>
          </p:txBody>
        </p:sp>
        <p:cxnSp>
          <p:nvCxnSpPr>
            <p:cNvPr id="486" name="Straight Connector 485">
              <a:extLst>
                <a:ext uri="{FF2B5EF4-FFF2-40B4-BE49-F238E27FC236}">
                  <a16:creationId xmlns:a16="http://schemas.microsoft.com/office/drawing/2014/main" id="{47741357-5A87-CB5B-142A-F561F20B9324}"/>
                </a:ext>
              </a:extLst>
            </p:cNvPr>
            <p:cNvCxnSpPr>
              <a:cxnSpLocks/>
            </p:cNvCxnSpPr>
            <p:nvPr/>
          </p:nvCxnSpPr>
          <p:spPr bwMode="gray">
            <a:xfrm>
              <a:off x="5255847" y="7504873"/>
              <a:ext cx="0" cy="124166"/>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87" name="Straight Connector 486">
              <a:extLst>
                <a:ext uri="{FF2B5EF4-FFF2-40B4-BE49-F238E27FC236}">
                  <a16:creationId xmlns:a16="http://schemas.microsoft.com/office/drawing/2014/main" id="{F15A85D0-B2FE-6C93-3B07-88C2CB133D97}"/>
                </a:ext>
              </a:extLst>
            </p:cNvPr>
            <p:cNvCxnSpPr>
              <a:cxnSpLocks/>
            </p:cNvCxnSpPr>
            <p:nvPr/>
          </p:nvCxnSpPr>
          <p:spPr bwMode="gray">
            <a:xfrm>
              <a:off x="4326565" y="7504873"/>
              <a:ext cx="0" cy="124166"/>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513" name="Group 512">
            <a:extLst>
              <a:ext uri="{FF2B5EF4-FFF2-40B4-BE49-F238E27FC236}">
                <a16:creationId xmlns:a16="http://schemas.microsoft.com/office/drawing/2014/main" id="{F2984481-DAB4-F672-F447-B5B11D1767F3}"/>
              </a:ext>
            </a:extLst>
          </p:cNvPr>
          <p:cNvGrpSpPr/>
          <p:nvPr/>
        </p:nvGrpSpPr>
        <p:grpSpPr>
          <a:xfrm>
            <a:off x="6210490" y="3948719"/>
            <a:ext cx="1795908" cy="473188"/>
            <a:chOff x="3571481" y="7068695"/>
            <a:chExt cx="1795908" cy="473188"/>
          </a:xfrm>
        </p:grpSpPr>
        <p:sp>
          <p:nvSpPr>
            <p:cNvPr id="502" name="Rectangle 501">
              <a:extLst>
                <a:ext uri="{FF2B5EF4-FFF2-40B4-BE49-F238E27FC236}">
                  <a16:creationId xmlns:a16="http://schemas.microsoft.com/office/drawing/2014/main" id="{CDDD19FF-3D05-6B27-2FB7-9F5C3E67841C}"/>
                </a:ext>
              </a:extLst>
            </p:cNvPr>
            <p:cNvSpPr/>
            <p:nvPr/>
          </p:nvSpPr>
          <p:spPr>
            <a:xfrm>
              <a:off x="3571481" y="7068695"/>
              <a:ext cx="1772044" cy="473188"/>
            </a:xfrm>
            <a:prstGeom prst="rect">
              <a:avLst/>
            </a:prstGeom>
            <a:solidFill>
              <a:schemeClr val="accent3">
                <a:alpha val="18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03" name="Text Placeholder 34">
              <a:extLst>
                <a:ext uri="{FF2B5EF4-FFF2-40B4-BE49-F238E27FC236}">
                  <a16:creationId xmlns:a16="http://schemas.microsoft.com/office/drawing/2014/main" id="{14D0BFF0-521B-6A33-891F-E13816F2B174}"/>
                </a:ext>
              </a:extLst>
            </p:cNvPr>
            <p:cNvSpPr txBox="1">
              <a:spLocks/>
            </p:cNvSpPr>
            <p:nvPr/>
          </p:nvSpPr>
          <p:spPr>
            <a:xfrm>
              <a:off x="4460271" y="7129851"/>
              <a:ext cx="907118" cy="142746"/>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500"/>
                </a:spcBef>
                <a:spcAft>
                  <a:spcPts val="0"/>
                </a:spcAft>
                <a:buClr>
                  <a:srgbClr val="717074">
                    <a:lumMod val="60000"/>
                    <a:lumOff val="40000"/>
                  </a:srgbClr>
                </a:buClr>
                <a:buSzPct val="90000"/>
                <a:buFont typeface="Arial" panose="020B0604020202020204" pitchFamily="34" charset="0"/>
                <a:buChar char="​"/>
                <a:tabLst/>
                <a:defRPr/>
              </a:pPr>
              <a:r>
                <a:rPr kumimoji="0" lang="en-US" sz="1000" b="0" i="0" u="none" strike="noStrike" kern="1200" cap="none" spc="0" normalizeH="0" baseline="0" noProof="0" dirty="0">
                  <a:ln>
                    <a:noFill/>
                  </a:ln>
                  <a:solidFill>
                    <a:schemeClr val="accent3"/>
                  </a:solidFill>
                  <a:effectLst/>
                  <a:uLnTx/>
                  <a:uFillTx/>
                  <a:ea typeface="+mn-ea"/>
                  <a:cs typeface="+mn-cs"/>
                </a:rPr>
                <a:t>Performance</a:t>
              </a:r>
            </a:p>
          </p:txBody>
        </p:sp>
        <p:sp>
          <p:nvSpPr>
            <p:cNvPr id="504" name="Text Placeholder 34">
              <a:extLst>
                <a:ext uri="{FF2B5EF4-FFF2-40B4-BE49-F238E27FC236}">
                  <a16:creationId xmlns:a16="http://schemas.microsoft.com/office/drawing/2014/main" id="{7A9A2BBC-7AD9-1A76-63A8-B26FB93B2096}"/>
                </a:ext>
              </a:extLst>
            </p:cNvPr>
            <p:cNvSpPr txBox="1">
              <a:spLocks/>
            </p:cNvSpPr>
            <p:nvPr/>
          </p:nvSpPr>
          <p:spPr>
            <a:xfrm>
              <a:off x="3585014" y="7129851"/>
              <a:ext cx="847286" cy="142746"/>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500"/>
                </a:spcBef>
                <a:spcAft>
                  <a:spcPts val="0"/>
                </a:spcAft>
                <a:buClr>
                  <a:srgbClr val="717074">
                    <a:lumMod val="60000"/>
                    <a:lumOff val="40000"/>
                  </a:srgbClr>
                </a:buClr>
                <a:buSzPct val="90000"/>
                <a:buFont typeface="Arial" panose="020B0604020202020204" pitchFamily="34" charset="0"/>
                <a:buChar char="​"/>
                <a:tabLst/>
                <a:defRPr/>
              </a:pPr>
              <a:r>
                <a:rPr kumimoji="0" lang="en-US" sz="1000" b="0" i="0" u="none" strike="noStrike" kern="1200" cap="none" spc="0" normalizeH="0" baseline="0" noProof="0" dirty="0">
                  <a:ln>
                    <a:noFill/>
                  </a:ln>
                  <a:solidFill>
                    <a:schemeClr val="accent3"/>
                  </a:solidFill>
                  <a:effectLst/>
                  <a:uLnTx/>
                  <a:uFillTx/>
                  <a:ea typeface="+mn-ea"/>
                  <a:cs typeface="+mn-cs"/>
                </a:rPr>
                <a:t>Availability</a:t>
              </a:r>
            </a:p>
          </p:txBody>
        </p:sp>
        <p:sp>
          <p:nvSpPr>
            <p:cNvPr id="505" name="Text Placeholder 34">
              <a:extLst>
                <a:ext uri="{FF2B5EF4-FFF2-40B4-BE49-F238E27FC236}">
                  <a16:creationId xmlns:a16="http://schemas.microsoft.com/office/drawing/2014/main" id="{D2828727-187B-A790-74AE-09AB910FBB7E}"/>
                </a:ext>
              </a:extLst>
            </p:cNvPr>
            <p:cNvSpPr txBox="1">
              <a:spLocks/>
            </p:cNvSpPr>
            <p:nvPr/>
          </p:nvSpPr>
          <p:spPr>
            <a:xfrm>
              <a:off x="3659943" y="7347996"/>
              <a:ext cx="697429" cy="142746"/>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500"/>
                </a:spcBef>
                <a:spcAft>
                  <a:spcPts val="0"/>
                </a:spcAft>
                <a:buClr>
                  <a:srgbClr val="717074">
                    <a:lumMod val="60000"/>
                    <a:lumOff val="40000"/>
                  </a:srgbClr>
                </a:buClr>
                <a:buSzPct val="90000"/>
                <a:buFont typeface="Arial" panose="020B0604020202020204" pitchFamily="34" charset="0"/>
                <a:buChar char="​"/>
                <a:tabLst/>
                <a:defRPr/>
              </a:pPr>
              <a:r>
                <a:rPr kumimoji="0" lang="en-US" sz="1000" b="0" i="0" u="none" strike="noStrike" kern="1200" cap="none" spc="0" normalizeH="0" baseline="0" noProof="0" dirty="0">
                  <a:ln>
                    <a:noFill/>
                  </a:ln>
                  <a:solidFill>
                    <a:schemeClr val="accent3"/>
                  </a:solidFill>
                  <a:effectLst/>
                  <a:uLnTx/>
                  <a:uFillTx/>
                  <a:ea typeface="+mn-ea"/>
                  <a:cs typeface="+mn-cs"/>
                </a:rPr>
                <a:t>Capacity</a:t>
              </a:r>
            </a:p>
          </p:txBody>
        </p:sp>
        <p:cxnSp>
          <p:nvCxnSpPr>
            <p:cNvPr id="506" name="Straight Connector 505">
              <a:extLst>
                <a:ext uri="{FF2B5EF4-FFF2-40B4-BE49-F238E27FC236}">
                  <a16:creationId xmlns:a16="http://schemas.microsoft.com/office/drawing/2014/main" id="{58A4986A-7A38-EB22-C5FC-800792D2200C}"/>
                </a:ext>
              </a:extLst>
            </p:cNvPr>
            <p:cNvCxnSpPr>
              <a:cxnSpLocks/>
            </p:cNvCxnSpPr>
            <p:nvPr/>
          </p:nvCxnSpPr>
          <p:spPr bwMode="gray">
            <a:xfrm>
              <a:off x="4442507" y="7366576"/>
              <a:ext cx="0" cy="124166"/>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07" name="Straight Connector 506">
              <a:extLst>
                <a:ext uri="{FF2B5EF4-FFF2-40B4-BE49-F238E27FC236}">
                  <a16:creationId xmlns:a16="http://schemas.microsoft.com/office/drawing/2014/main" id="{7DD71631-A67C-06B9-78FB-6BDE2E62EEEA}"/>
                </a:ext>
              </a:extLst>
            </p:cNvPr>
            <p:cNvCxnSpPr>
              <a:cxnSpLocks/>
            </p:cNvCxnSpPr>
            <p:nvPr/>
          </p:nvCxnSpPr>
          <p:spPr bwMode="gray">
            <a:xfrm>
              <a:off x="4442507" y="7139141"/>
              <a:ext cx="0" cy="124166"/>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08" name="Text Placeholder 34">
              <a:extLst>
                <a:ext uri="{FF2B5EF4-FFF2-40B4-BE49-F238E27FC236}">
                  <a16:creationId xmlns:a16="http://schemas.microsoft.com/office/drawing/2014/main" id="{9E8F3ECE-5604-7CA9-EDDB-D13D91F7D9B8}"/>
                </a:ext>
              </a:extLst>
            </p:cNvPr>
            <p:cNvSpPr txBox="1">
              <a:spLocks/>
            </p:cNvSpPr>
            <p:nvPr/>
          </p:nvSpPr>
          <p:spPr>
            <a:xfrm>
              <a:off x="4525589" y="7347996"/>
              <a:ext cx="786757" cy="142746"/>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500"/>
                </a:spcBef>
                <a:spcAft>
                  <a:spcPts val="0"/>
                </a:spcAft>
                <a:buClr>
                  <a:srgbClr val="717074">
                    <a:lumMod val="60000"/>
                    <a:lumOff val="40000"/>
                  </a:srgbClr>
                </a:buClr>
                <a:buSzPct val="90000"/>
                <a:buFont typeface="Arial" panose="020B0604020202020204" pitchFamily="34" charset="0"/>
                <a:buChar char="​"/>
                <a:tabLst/>
                <a:defRPr/>
              </a:pPr>
              <a:r>
                <a:rPr lang="en-US" sz="1000" dirty="0">
                  <a:solidFill>
                    <a:schemeClr val="accent3"/>
                  </a:solidFill>
                </a:rPr>
                <a:t>Compliance</a:t>
              </a:r>
              <a:endParaRPr kumimoji="0" lang="en-US" sz="1000" b="0" i="0" u="none" strike="noStrike" kern="1200" cap="none" spc="0" normalizeH="0" baseline="0" noProof="0" dirty="0">
                <a:ln>
                  <a:noFill/>
                </a:ln>
                <a:solidFill>
                  <a:schemeClr val="accent3"/>
                </a:solidFill>
                <a:effectLst/>
                <a:uLnTx/>
                <a:uFillTx/>
                <a:ea typeface="+mn-ea"/>
                <a:cs typeface="+mn-cs"/>
              </a:endParaRPr>
            </a:p>
          </p:txBody>
        </p:sp>
        <p:cxnSp>
          <p:nvCxnSpPr>
            <p:cNvPr id="509" name="Straight Connector 508">
              <a:extLst>
                <a:ext uri="{FF2B5EF4-FFF2-40B4-BE49-F238E27FC236}">
                  <a16:creationId xmlns:a16="http://schemas.microsoft.com/office/drawing/2014/main" id="{97B2E982-C014-41E3-906A-677C619E5E49}"/>
                </a:ext>
              </a:extLst>
            </p:cNvPr>
            <p:cNvCxnSpPr>
              <a:cxnSpLocks/>
            </p:cNvCxnSpPr>
            <p:nvPr/>
          </p:nvCxnSpPr>
          <p:spPr bwMode="gray">
            <a:xfrm>
              <a:off x="3642178" y="7314354"/>
              <a:ext cx="732958"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12" name="Straight Connector 511">
              <a:extLst>
                <a:ext uri="{FF2B5EF4-FFF2-40B4-BE49-F238E27FC236}">
                  <a16:creationId xmlns:a16="http://schemas.microsoft.com/office/drawing/2014/main" id="{53DC23E9-CF3A-2F2B-938D-A75B78421746}"/>
                </a:ext>
              </a:extLst>
            </p:cNvPr>
            <p:cNvCxnSpPr>
              <a:cxnSpLocks/>
            </p:cNvCxnSpPr>
            <p:nvPr/>
          </p:nvCxnSpPr>
          <p:spPr bwMode="gray">
            <a:xfrm>
              <a:off x="4547351" y="7314354"/>
              <a:ext cx="732958"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grpSp>
      <p:cxnSp>
        <p:nvCxnSpPr>
          <p:cNvPr id="517" name="Straight Connector 516">
            <a:extLst>
              <a:ext uri="{FF2B5EF4-FFF2-40B4-BE49-F238E27FC236}">
                <a16:creationId xmlns:a16="http://schemas.microsoft.com/office/drawing/2014/main" id="{BED15B77-6EE6-0270-48C5-D9103D49E5A0}"/>
              </a:ext>
            </a:extLst>
          </p:cNvPr>
          <p:cNvCxnSpPr>
            <a:cxnSpLocks/>
            <a:endCxn id="482" idx="2"/>
          </p:cNvCxnSpPr>
          <p:nvPr/>
        </p:nvCxnSpPr>
        <p:spPr bwMode="gray">
          <a:xfrm flipV="1">
            <a:off x="3929029" y="5275948"/>
            <a:ext cx="1" cy="222277"/>
          </a:xfrm>
          <a:prstGeom prst="line">
            <a:avLst/>
          </a:prstGeom>
          <a:ln w="25400">
            <a:solidFill>
              <a:srgbClr val="D58B3F"/>
            </a:solidFill>
            <a:miter lim="800000"/>
            <a:tailEnd type="triangle" w="lg" len="med"/>
          </a:ln>
        </p:spPr>
        <p:style>
          <a:lnRef idx="1">
            <a:schemeClr val="accent1"/>
          </a:lnRef>
          <a:fillRef idx="0">
            <a:schemeClr val="accent1"/>
          </a:fillRef>
          <a:effectRef idx="0">
            <a:schemeClr val="accent1"/>
          </a:effectRef>
          <a:fontRef idx="minor">
            <a:schemeClr val="tx1"/>
          </a:fontRef>
        </p:style>
      </p:cxnSp>
      <p:cxnSp>
        <p:nvCxnSpPr>
          <p:cNvPr id="520" name="Straight Connector 519">
            <a:extLst>
              <a:ext uri="{FF2B5EF4-FFF2-40B4-BE49-F238E27FC236}">
                <a16:creationId xmlns:a16="http://schemas.microsoft.com/office/drawing/2014/main" id="{40A75708-DC35-C07C-93DD-3A82C17810F8}"/>
              </a:ext>
            </a:extLst>
          </p:cNvPr>
          <p:cNvCxnSpPr>
            <a:cxnSpLocks/>
          </p:cNvCxnSpPr>
          <p:nvPr/>
        </p:nvCxnSpPr>
        <p:spPr bwMode="gray">
          <a:xfrm flipV="1">
            <a:off x="7108444" y="4635500"/>
            <a:ext cx="0" cy="294287"/>
          </a:xfrm>
          <a:prstGeom prst="line">
            <a:avLst/>
          </a:prstGeom>
          <a:ln w="25400">
            <a:solidFill>
              <a:srgbClr val="D58B3F"/>
            </a:solidFill>
            <a:miter lim="800000"/>
            <a:tailEnd type="triangle" w="lg" len="med"/>
          </a:ln>
        </p:spPr>
        <p:style>
          <a:lnRef idx="1">
            <a:schemeClr val="accent1"/>
          </a:lnRef>
          <a:fillRef idx="0">
            <a:schemeClr val="accent1"/>
          </a:fillRef>
          <a:effectRef idx="0">
            <a:schemeClr val="accent1"/>
          </a:effectRef>
          <a:fontRef idx="minor">
            <a:schemeClr val="tx1"/>
          </a:fontRef>
        </p:style>
      </p:cxnSp>
      <p:cxnSp>
        <p:nvCxnSpPr>
          <p:cNvPr id="521" name="Straight Connector 520">
            <a:extLst>
              <a:ext uri="{FF2B5EF4-FFF2-40B4-BE49-F238E27FC236}">
                <a16:creationId xmlns:a16="http://schemas.microsoft.com/office/drawing/2014/main" id="{7D6B4E20-CFA4-1BFB-517C-CC2BB02D7ABC}"/>
              </a:ext>
            </a:extLst>
          </p:cNvPr>
          <p:cNvCxnSpPr>
            <a:cxnSpLocks/>
          </p:cNvCxnSpPr>
          <p:nvPr/>
        </p:nvCxnSpPr>
        <p:spPr bwMode="gray">
          <a:xfrm flipH="1">
            <a:off x="5481332" y="4929787"/>
            <a:ext cx="1627112" cy="0"/>
          </a:xfrm>
          <a:prstGeom prst="line">
            <a:avLst/>
          </a:prstGeom>
          <a:ln w="25400">
            <a:solidFill>
              <a:srgbClr val="D58B3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26" name="Straight Connector 525">
            <a:extLst>
              <a:ext uri="{FF2B5EF4-FFF2-40B4-BE49-F238E27FC236}">
                <a16:creationId xmlns:a16="http://schemas.microsoft.com/office/drawing/2014/main" id="{6C8F628B-9BA2-E112-6BA6-C930ADA6EB4D}"/>
              </a:ext>
            </a:extLst>
          </p:cNvPr>
          <p:cNvCxnSpPr>
            <a:cxnSpLocks/>
          </p:cNvCxnSpPr>
          <p:nvPr/>
        </p:nvCxnSpPr>
        <p:spPr bwMode="gray">
          <a:xfrm>
            <a:off x="5692001" y="4191382"/>
            <a:ext cx="489724" cy="0"/>
          </a:xfrm>
          <a:prstGeom prst="line">
            <a:avLst/>
          </a:prstGeom>
          <a:ln w="25400">
            <a:solidFill>
              <a:srgbClr val="D58B3F"/>
            </a:solidFill>
            <a:miter lim="800000"/>
            <a:headEnd type="diamond" w="lg" len="lg"/>
          </a:ln>
        </p:spPr>
        <p:style>
          <a:lnRef idx="1">
            <a:schemeClr val="accent1"/>
          </a:lnRef>
          <a:fillRef idx="0">
            <a:schemeClr val="accent1"/>
          </a:fillRef>
          <a:effectRef idx="0">
            <a:schemeClr val="accent1"/>
          </a:effectRef>
          <a:fontRef idx="minor">
            <a:schemeClr val="tx1"/>
          </a:fontRef>
        </p:style>
      </p:cxnSp>
      <p:cxnSp>
        <p:nvCxnSpPr>
          <p:cNvPr id="539" name="Straight Connector 538">
            <a:extLst>
              <a:ext uri="{FF2B5EF4-FFF2-40B4-BE49-F238E27FC236}">
                <a16:creationId xmlns:a16="http://schemas.microsoft.com/office/drawing/2014/main" id="{E33D81F8-6093-A664-81B3-D79F6F08695C}"/>
              </a:ext>
            </a:extLst>
          </p:cNvPr>
          <p:cNvCxnSpPr>
            <a:cxnSpLocks/>
          </p:cNvCxnSpPr>
          <p:nvPr/>
        </p:nvCxnSpPr>
        <p:spPr bwMode="gray">
          <a:xfrm>
            <a:off x="5692001" y="3158400"/>
            <a:ext cx="402411" cy="0"/>
          </a:xfrm>
          <a:prstGeom prst="line">
            <a:avLst/>
          </a:prstGeom>
          <a:ln w="25400">
            <a:solidFill>
              <a:srgbClr val="D58B3F"/>
            </a:solidFill>
            <a:miter lim="800000"/>
            <a:headEnd type="diamond" w="lg" len="lg"/>
          </a:ln>
        </p:spPr>
        <p:style>
          <a:lnRef idx="1">
            <a:schemeClr val="accent1"/>
          </a:lnRef>
          <a:fillRef idx="0">
            <a:schemeClr val="accent1"/>
          </a:fillRef>
          <a:effectRef idx="0">
            <a:schemeClr val="accent1"/>
          </a:effectRef>
          <a:fontRef idx="minor">
            <a:schemeClr val="tx1"/>
          </a:fontRef>
        </p:style>
      </p:cxnSp>
      <p:cxnSp>
        <p:nvCxnSpPr>
          <p:cNvPr id="540" name="Straight Connector 539">
            <a:extLst>
              <a:ext uri="{FF2B5EF4-FFF2-40B4-BE49-F238E27FC236}">
                <a16:creationId xmlns:a16="http://schemas.microsoft.com/office/drawing/2014/main" id="{0CAA2523-B607-F0E8-F335-3393EF68BEC8}"/>
              </a:ext>
            </a:extLst>
          </p:cNvPr>
          <p:cNvCxnSpPr>
            <a:cxnSpLocks/>
          </p:cNvCxnSpPr>
          <p:nvPr/>
        </p:nvCxnSpPr>
        <p:spPr bwMode="gray">
          <a:xfrm flipV="1">
            <a:off x="6096793" y="3158400"/>
            <a:ext cx="0" cy="1041317"/>
          </a:xfrm>
          <a:prstGeom prst="line">
            <a:avLst/>
          </a:prstGeom>
          <a:ln w="25400">
            <a:solidFill>
              <a:srgbClr val="D58B3F"/>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615" name="Group 614" descr="Automation">
            <a:extLst>
              <a:ext uri="{FF2B5EF4-FFF2-40B4-BE49-F238E27FC236}">
                <a16:creationId xmlns:a16="http://schemas.microsoft.com/office/drawing/2014/main" id="{8C3FC254-0286-BD33-3D7E-5E3CAAF71F08}"/>
              </a:ext>
            </a:extLst>
          </p:cNvPr>
          <p:cNvGrpSpPr/>
          <p:nvPr/>
        </p:nvGrpSpPr>
        <p:grpSpPr>
          <a:xfrm>
            <a:off x="7198510" y="4702837"/>
            <a:ext cx="226926" cy="226950"/>
            <a:chOff x="531730" y="723307"/>
            <a:chExt cx="600773" cy="600837"/>
          </a:xfrm>
          <a:solidFill>
            <a:srgbClr val="D58B3F"/>
          </a:solidFill>
        </p:grpSpPr>
        <p:sp>
          <p:nvSpPr>
            <p:cNvPr id="616" name="Picture Placeholder 74">
              <a:extLst>
                <a:ext uri="{FF2B5EF4-FFF2-40B4-BE49-F238E27FC236}">
                  <a16:creationId xmlns:a16="http://schemas.microsoft.com/office/drawing/2014/main" id="{5063A972-10A1-C675-56B7-3743E8622E89}"/>
                </a:ext>
              </a:extLst>
            </p:cNvPr>
            <p:cNvSpPr/>
            <p:nvPr/>
          </p:nvSpPr>
          <p:spPr>
            <a:xfrm>
              <a:off x="658159" y="849799"/>
              <a:ext cx="347853" cy="347853"/>
            </a:xfrm>
            <a:custGeom>
              <a:avLst/>
              <a:gdLst>
                <a:gd name="connsiteX0" fmla="*/ 173927 w 347853"/>
                <a:gd name="connsiteY0" fmla="*/ 347853 h 347853"/>
                <a:gd name="connsiteX1" fmla="*/ 166021 w 347853"/>
                <a:gd name="connsiteY1" fmla="*/ 339947 h 347853"/>
                <a:gd name="connsiteX2" fmla="*/ 173927 w 347853"/>
                <a:gd name="connsiteY2" fmla="*/ 332042 h 347853"/>
                <a:gd name="connsiteX3" fmla="*/ 332042 w 347853"/>
                <a:gd name="connsiteY3" fmla="*/ 173927 h 347853"/>
                <a:gd name="connsiteX4" fmla="*/ 173927 w 347853"/>
                <a:gd name="connsiteY4" fmla="*/ 15812 h 347853"/>
                <a:gd name="connsiteX5" fmla="*/ 15812 w 347853"/>
                <a:gd name="connsiteY5" fmla="*/ 173927 h 347853"/>
                <a:gd name="connsiteX6" fmla="*/ 7906 w 347853"/>
                <a:gd name="connsiteY6" fmla="*/ 181832 h 347853"/>
                <a:gd name="connsiteX7" fmla="*/ 0 w 347853"/>
                <a:gd name="connsiteY7" fmla="*/ 173927 h 347853"/>
                <a:gd name="connsiteX8" fmla="*/ 173927 w 347853"/>
                <a:gd name="connsiteY8" fmla="*/ 0 h 347853"/>
                <a:gd name="connsiteX9" fmla="*/ 347853 w 347853"/>
                <a:gd name="connsiteY9" fmla="*/ 173927 h 347853"/>
                <a:gd name="connsiteX10" fmla="*/ 173927 w 347853"/>
                <a:gd name="connsiteY10" fmla="*/ 347853 h 347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7853" h="347853">
                  <a:moveTo>
                    <a:pt x="173927" y="347853"/>
                  </a:moveTo>
                  <a:cubicBezTo>
                    <a:pt x="169560" y="347853"/>
                    <a:pt x="166021" y="344314"/>
                    <a:pt x="166021" y="339947"/>
                  </a:cubicBezTo>
                  <a:cubicBezTo>
                    <a:pt x="166021" y="335581"/>
                    <a:pt x="169560" y="332042"/>
                    <a:pt x="173927" y="332042"/>
                  </a:cubicBezTo>
                  <a:cubicBezTo>
                    <a:pt x="261251" y="332042"/>
                    <a:pt x="332042" y="261251"/>
                    <a:pt x="332042" y="173927"/>
                  </a:cubicBezTo>
                  <a:cubicBezTo>
                    <a:pt x="332042" y="86602"/>
                    <a:pt x="261251" y="15812"/>
                    <a:pt x="173927" y="15812"/>
                  </a:cubicBezTo>
                  <a:cubicBezTo>
                    <a:pt x="86602" y="15812"/>
                    <a:pt x="15812" y="86602"/>
                    <a:pt x="15812" y="173927"/>
                  </a:cubicBezTo>
                  <a:cubicBezTo>
                    <a:pt x="15812" y="178293"/>
                    <a:pt x="12272" y="181832"/>
                    <a:pt x="7906" y="181832"/>
                  </a:cubicBezTo>
                  <a:cubicBezTo>
                    <a:pt x="3539" y="181832"/>
                    <a:pt x="0" y="178293"/>
                    <a:pt x="0" y="173927"/>
                  </a:cubicBezTo>
                  <a:cubicBezTo>
                    <a:pt x="0" y="77870"/>
                    <a:pt x="77870" y="0"/>
                    <a:pt x="173927" y="0"/>
                  </a:cubicBezTo>
                  <a:cubicBezTo>
                    <a:pt x="269983" y="0"/>
                    <a:pt x="347853" y="77870"/>
                    <a:pt x="347853" y="173927"/>
                  </a:cubicBezTo>
                  <a:cubicBezTo>
                    <a:pt x="347853" y="269983"/>
                    <a:pt x="269983" y="347853"/>
                    <a:pt x="173927" y="347853"/>
                  </a:cubicBezTo>
                  <a:close/>
                </a:path>
              </a:pathLst>
            </a:custGeom>
            <a:grpFill/>
            <a:ln w="6271" cap="flat">
              <a:noFill/>
              <a:prstDash val="solid"/>
              <a:miter/>
            </a:ln>
          </p:spPr>
          <p:txBody>
            <a:bodyPr rtlCol="0" anchor="ctr"/>
            <a:lstStyle/>
            <a:p>
              <a:endParaRPr lang="en-US"/>
            </a:p>
          </p:txBody>
        </p:sp>
        <p:sp>
          <p:nvSpPr>
            <p:cNvPr id="617" name="Picture Placeholder 74">
              <a:extLst>
                <a:ext uri="{FF2B5EF4-FFF2-40B4-BE49-F238E27FC236}">
                  <a16:creationId xmlns:a16="http://schemas.microsoft.com/office/drawing/2014/main" id="{76C46D4C-ACE5-FC58-642E-10F4A4F9040D}"/>
                </a:ext>
              </a:extLst>
            </p:cNvPr>
            <p:cNvSpPr/>
            <p:nvPr/>
          </p:nvSpPr>
          <p:spPr>
            <a:xfrm>
              <a:off x="531730" y="723307"/>
              <a:ext cx="600773" cy="600837"/>
            </a:xfrm>
            <a:custGeom>
              <a:avLst/>
              <a:gdLst>
                <a:gd name="connsiteX0" fmla="*/ 348928 w 600773"/>
                <a:gd name="connsiteY0" fmla="*/ 600837 h 600837"/>
                <a:gd name="connsiteX1" fmla="*/ 248873 w 600773"/>
                <a:gd name="connsiteY1" fmla="*/ 600837 h 600837"/>
                <a:gd name="connsiteX2" fmla="*/ 246723 w 600773"/>
                <a:gd name="connsiteY2" fmla="*/ 596347 h 600837"/>
                <a:gd name="connsiteX3" fmla="*/ 237109 w 600773"/>
                <a:gd name="connsiteY3" fmla="*/ 565293 h 600837"/>
                <a:gd name="connsiteX4" fmla="*/ 230342 w 600773"/>
                <a:gd name="connsiteY4" fmla="*/ 539615 h 600837"/>
                <a:gd name="connsiteX5" fmla="*/ 179745 w 600773"/>
                <a:gd name="connsiteY5" fmla="*/ 517036 h 600837"/>
                <a:gd name="connsiteX6" fmla="*/ 156913 w 600773"/>
                <a:gd name="connsiteY6" fmla="*/ 528673 h 600837"/>
                <a:gd name="connsiteX7" fmla="*/ 130160 w 600773"/>
                <a:gd name="connsiteY7" fmla="*/ 543852 h 600837"/>
                <a:gd name="connsiteX8" fmla="*/ 126239 w 600773"/>
                <a:gd name="connsiteY8" fmla="*/ 545560 h 600837"/>
                <a:gd name="connsiteX9" fmla="*/ 122444 w 600773"/>
                <a:gd name="connsiteY9" fmla="*/ 543410 h 600837"/>
                <a:gd name="connsiteX10" fmla="*/ 55720 w 600773"/>
                <a:gd name="connsiteY10" fmla="*/ 480164 h 600837"/>
                <a:gd name="connsiteX11" fmla="*/ 52557 w 600773"/>
                <a:gd name="connsiteY11" fmla="*/ 476875 h 600837"/>
                <a:gd name="connsiteX12" fmla="*/ 53759 w 600773"/>
                <a:gd name="connsiteY12" fmla="*/ 472511 h 600837"/>
                <a:gd name="connsiteX13" fmla="*/ 80955 w 600773"/>
                <a:gd name="connsiteY13" fmla="*/ 420459 h 600837"/>
                <a:gd name="connsiteX14" fmla="*/ 69760 w 600773"/>
                <a:gd name="connsiteY14" fmla="*/ 395161 h 600837"/>
                <a:gd name="connsiteX15" fmla="*/ 60526 w 600773"/>
                <a:gd name="connsiteY15" fmla="*/ 366321 h 600837"/>
                <a:gd name="connsiteX16" fmla="*/ 34912 w 600773"/>
                <a:gd name="connsiteY16" fmla="*/ 360502 h 600837"/>
                <a:gd name="connsiteX17" fmla="*/ 6325 w 600773"/>
                <a:gd name="connsiteY17" fmla="*/ 352849 h 600837"/>
                <a:gd name="connsiteX18" fmla="*/ 0 w 600773"/>
                <a:gd name="connsiteY18" fmla="*/ 351585 h 600837"/>
                <a:gd name="connsiteX19" fmla="*/ 0 w 600773"/>
                <a:gd name="connsiteY19" fmla="*/ 246153 h 600837"/>
                <a:gd name="connsiteX20" fmla="*/ 6325 w 600773"/>
                <a:gd name="connsiteY20" fmla="*/ 244699 h 600837"/>
                <a:gd name="connsiteX21" fmla="*/ 33773 w 600773"/>
                <a:gd name="connsiteY21" fmla="*/ 237109 h 600837"/>
                <a:gd name="connsiteX22" fmla="*/ 59514 w 600773"/>
                <a:gd name="connsiteY22" fmla="*/ 230785 h 600837"/>
                <a:gd name="connsiteX23" fmla="*/ 70962 w 600773"/>
                <a:gd name="connsiteY23" fmla="*/ 205170 h 600837"/>
                <a:gd name="connsiteX24" fmla="*/ 83611 w 600773"/>
                <a:gd name="connsiteY24" fmla="*/ 178860 h 600837"/>
                <a:gd name="connsiteX25" fmla="*/ 55720 w 600773"/>
                <a:gd name="connsiteY25" fmla="*/ 133892 h 600837"/>
                <a:gd name="connsiteX26" fmla="*/ 51609 w 600773"/>
                <a:gd name="connsiteY26" fmla="*/ 129275 h 600837"/>
                <a:gd name="connsiteX27" fmla="*/ 55151 w 600773"/>
                <a:gd name="connsiteY27" fmla="*/ 124152 h 600837"/>
                <a:gd name="connsiteX28" fmla="*/ 121306 w 600773"/>
                <a:gd name="connsiteY28" fmla="*/ 55656 h 600837"/>
                <a:gd name="connsiteX29" fmla="*/ 125290 w 600773"/>
                <a:gd name="connsiteY29" fmla="*/ 51798 h 600837"/>
                <a:gd name="connsiteX30" fmla="*/ 130287 w 600773"/>
                <a:gd name="connsiteY30" fmla="*/ 54265 h 600837"/>
                <a:gd name="connsiteX31" fmla="*/ 181516 w 600773"/>
                <a:gd name="connsiteY31" fmla="*/ 83295 h 600837"/>
                <a:gd name="connsiteX32" fmla="*/ 233315 w 600773"/>
                <a:gd name="connsiteY32" fmla="*/ 63056 h 600837"/>
                <a:gd name="connsiteX33" fmla="*/ 240525 w 600773"/>
                <a:gd name="connsiteY33" fmla="*/ 36430 h 600837"/>
                <a:gd name="connsiteX34" fmla="*/ 249252 w 600773"/>
                <a:gd name="connsiteY34" fmla="*/ 5566 h 600837"/>
                <a:gd name="connsiteX35" fmla="*/ 250960 w 600773"/>
                <a:gd name="connsiteY35" fmla="*/ 0 h 600837"/>
                <a:gd name="connsiteX36" fmla="*/ 352154 w 600773"/>
                <a:gd name="connsiteY36" fmla="*/ 0 h 600837"/>
                <a:gd name="connsiteX37" fmla="*/ 354178 w 600773"/>
                <a:gd name="connsiteY37" fmla="*/ 4933 h 600837"/>
                <a:gd name="connsiteX38" fmla="*/ 370748 w 600773"/>
                <a:gd name="connsiteY38" fmla="*/ 61285 h 600837"/>
                <a:gd name="connsiteX39" fmla="*/ 396046 w 600773"/>
                <a:gd name="connsiteY39" fmla="*/ 71089 h 600837"/>
                <a:gd name="connsiteX40" fmla="*/ 422104 w 600773"/>
                <a:gd name="connsiteY40" fmla="*/ 83738 h 600837"/>
                <a:gd name="connsiteX41" fmla="*/ 443860 w 600773"/>
                <a:gd name="connsiteY41" fmla="*/ 72417 h 600837"/>
                <a:gd name="connsiteX42" fmla="*/ 471309 w 600773"/>
                <a:gd name="connsiteY42" fmla="*/ 57048 h 600837"/>
                <a:gd name="connsiteX43" fmla="*/ 475041 w 600773"/>
                <a:gd name="connsiteY43" fmla="*/ 55467 h 600837"/>
                <a:gd name="connsiteX44" fmla="*/ 478519 w 600773"/>
                <a:gd name="connsiteY44" fmla="*/ 57554 h 600837"/>
                <a:gd name="connsiteX45" fmla="*/ 514633 w 600773"/>
                <a:gd name="connsiteY45" fmla="*/ 89177 h 600837"/>
                <a:gd name="connsiteX46" fmla="*/ 546951 w 600773"/>
                <a:gd name="connsiteY46" fmla="*/ 120231 h 600837"/>
                <a:gd name="connsiteX47" fmla="*/ 552138 w 600773"/>
                <a:gd name="connsiteY47" fmla="*/ 124342 h 600837"/>
                <a:gd name="connsiteX48" fmla="*/ 548975 w 600773"/>
                <a:gd name="connsiteY48" fmla="*/ 130160 h 600837"/>
                <a:gd name="connsiteX49" fmla="*/ 519629 w 600773"/>
                <a:gd name="connsiteY49" fmla="*/ 180757 h 600837"/>
                <a:gd name="connsiteX50" fmla="*/ 538603 w 600773"/>
                <a:gd name="connsiteY50" fmla="*/ 233884 h 600837"/>
                <a:gd name="connsiteX51" fmla="*/ 566052 w 600773"/>
                <a:gd name="connsiteY51" fmla="*/ 240208 h 600837"/>
                <a:gd name="connsiteX52" fmla="*/ 594449 w 600773"/>
                <a:gd name="connsiteY52" fmla="*/ 247798 h 600837"/>
                <a:gd name="connsiteX53" fmla="*/ 600774 w 600773"/>
                <a:gd name="connsiteY53" fmla="*/ 249063 h 600837"/>
                <a:gd name="connsiteX54" fmla="*/ 600774 w 600773"/>
                <a:gd name="connsiteY54" fmla="*/ 354431 h 600837"/>
                <a:gd name="connsiteX55" fmla="*/ 594449 w 600773"/>
                <a:gd name="connsiteY55" fmla="*/ 355822 h 600837"/>
                <a:gd name="connsiteX56" fmla="*/ 567000 w 600773"/>
                <a:gd name="connsiteY56" fmla="*/ 363475 h 600837"/>
                <a:gd name="connsiteX57" fmla="*/ 541070 w 600773"/>
                <a:gd name="connsiteY57" fmla="*/ 369799 h 600837"/>
                <a:gd name="connsiteX58" fmla="*/ 530318 w 600773"/>
                <a:gd name="connsiteY58" fmla="*/ 395541 h 600837"/>
                <a:gd name="connsiteX59" fmla="*/ 517669 w 600773"/>
                <a:gd name="connsiteY59" fmla="*/ 421977 h 600837"/>
                <a:gd name="connsiteX60" fmla="*/ 530318 w 600773"/>
                <a:gd name="connsiteY60" fmla="*/ 443481 h 600837"/>
                <a:gd name="connsiteX61" fmla="*/ 545434 w 600773"/>
                <a:gd name="connsiteY61" fmla="*/ 467514 h 600837"/>
                <a:gd name="connsiteX62" fmla="*/ 548975 w 600773"/>
                <a:gd name="connsiteY62" fmla="*/ 472068 h 600837"/>
                <a:gd name="connsiteX63" fmla="*/ 545687 w 600773"/>
                <a:gd name="connsiteY63" fmla="*/ 476875 h 600837"/>
                <a:gd name="connsiteX64" fmla="*/ 479911 w 600773"/>
                <a:gd name="connsiteY64" fmla="*/ 545307 h 600837"/>
                <a:gd name="connsiteX65" fmla="*/ 475989 w 600773"/>
                <a:gd name="connsiteY65" fmla="*/ 549165 h 600837"/>
                <a:gd name="connsiteX66" fmla="*/ 470993 w 600773"/>
                <a:gd name="connsiteY66" fmla="*/ 546825 h 600837"/>
                <a:gd name="connsiteX67" fmla="*/ 420396 w 600773"/>
                <a:gd name="connsiteY67" fmla="*/ 517985 h 600837"/>
                <a:gd name="connsiteX68" fmla="*/ 369357 w 600773"/>
                <a:gd name="connsiteY68" fmla="*/ 538160 h 600837"/>
                <a:gd name="connsiteX69" fmla="*/ 361261 w 600773"/>
                <a:gd name="connsiteY69" fmla="*/ 563459 h 600837"/>
                <a:gd name="connsiteX70" fmla="*/ 351142 w 600773"/>
                <a:gd name="connsiteY70" fmla="*/ 596663 h 600837"/>
                <a:gd name="connsiteX71" fmla="*/ 259056 w 600773"/>
                <a:gd name="connsiteY71" fmla="*/ 585026 h 600837"/>
                <a:gd name="connsiteX72" fmla="*/ 338809 w 600773"/>
                <a:gd name="connsiteY72" fmla="*/ 585026 h 600837"/>
                <a:gd name="connsiteX73" fmla="*/ 345766 w 600773"/>
                <a:gd name="connsiteY73" fmla="*/ 559727 h 600837"/>
                <a:gd name="connsiteX74" fmla="*/ 357403 w 600773"/>
                <a:gd name="connsiteY74" fmla="*/ 526776 h 600837"/>
                <a:gd name="connsiteX75" fmla="*/ 359301 w 600773"/>
                <a:gd name="connsiteY75" fmla="*/ 523803 h 600837"/>
                <a:gd name="connsiteX76" fmla="*/ 362779 w 600773"/>
                <a:gd name="connsiteY76" fmla="*/ 523171 h 600837"/>
                <a:gd name="connsiteX77" fmla="*/ 416791 w 600773"/>
                <a:gd name="connsiteY77" fmla="*/ 501667 h 600837"/>
                <a:gd name="connsiteX78" fmla="*/ 421092 w 600773"/>
                <a:gd name="connsiteY78" fmla="*/ 499137 h 600837"/>
                <a:gd name="connsiteX79" fmla="*/ 425203 w 600773"/>
                <a:gd name="connsiteY79" fmla="*/ 501920 h 600837"/>
                <a:gd name="connsiteX80" fmla="*/ 473143 w 600773"/>
                <a:gd name="connsiteY80" fmla="*/ 529938 h 600837"/>
                <a:gd name="connsiteX81" fmla="*/ 529559 w 600773"/>
                <a:gd name="connsiteY81" fmla="*/ 472005 h 600837"/>
                <a:gd name="connsiteX82" fmla="*/ 516910 w 600773"/>
                <a:gd name="connsiteY82" fmla="*/ 451197 h 600837"/>
                <a:gd name="connsiteX83" fmla="*/ 501920 w 600773"/>
                <a:gd name="connsiteY83" fmla="*/ 425393 h 600837"/>
                <a:gd name="connsiteX84" fmla="*/ 498631 w 600773"/>
                <a:gd name="connsiteY84" fmla="*/ 420206 h 600837"/>
                <a:gd name="connsiteX85" fmla="*/ 502869 w 600773"/>
                <a:gd name="connsiteY85" fmla="*/ 415716 h 600837"/>
                <a:gd name="connsiteX86" fmla="*/ 516340 w 600773"/>
                <a:gd name="connsiteY86" fmla="*/ 389912 h 600837"/>
                <a:gd name="connsiteX87" fmla="*/ 530128 w 600773"/>
                <a:gd name="connsiteY87" fmla="*/ 358289 h 600837"/>
                <a:gd name="connsiteX88" fmla="*/ 532089 w 600773"/>
                <a:gd name="connsiteY88" fmla="*/ 355126 h 600837"/>
                <a:gd name="connsiteX89" fmla="*/ 535820 w 600773"/>
                <a:gd name="connsiteY89" fmla="*/ 354620 h 600837"/>
                <a:gd name="connsiteX90" fmla="*/ 563395 w 600773"/>
                <a:gd name="connsiteY90" fmla="*/ 348296 h 600837"/>
                <a:gd name="connsiteX91" fmla="*/ 585531 w 600773"/>
                <a:gd name="connsiteY91" fmla="*/ 341971 h 600837"/>
                <a:gd name="connsiteX92" fmla="*/ 585531 w 600773"/>
                <a:gd name="connsiteY92" fmla="*/ 261838 h 600837"/>
                <a:gd name="connsiteX93" fmla="*/ 562130 w 600773"/>
                <a:gd name="connsiteY93" fmla="*/ 255514 h 600837"/>
                <a:gd name="connsiteX94" fmla="*/ 535757 w 600773"/>
                <a:gd name="connsiteY94" fmla="*/ 249189 h 600837"/>
                <a:gd name="connsiteX95" fmla="*/ 504134 w 600773"/>
                <a:gd name="connsiteY95" fmla="*/ 182022 h 600837"/>
                <a:gd name="connsiteX96" fmla="*/ 502806 w 600773"/>
                <a:gd name="connsiteY96" fmla="*/ 178290 h 600837"/>
                <a:gd name="connsiteX97" fmla="*/ 505019 w 600773"/>
                <a:gd name="connsiteY97" fmla="*/ 175002 h 600837"/>
                <a:gd name="connsiteX98" fmla="*/ 532721 w 600773"/>
                <a:gd name="connsiteY98" fmla="*/ 127883 h 600837"/>
                <a:gd name="connsiteX99" fmla="*/ 503881 w 600773"/>
                <a:gd name="connsiteY99" fmla="*/ 99739 h 600837"/>
                <a:gd name="connsiteX100" fmla="*/ 474472 w 600773"/>
                <a:gd name="connsiteY100" fmla="*/ 73049 h 600837"/>
                <a:gd name="connsiteX101" fmla="*/ 453031 w 600773"/>
                <a:gd name="connsiteY101" fmla="*/ 85698 h 600837"/>
                <a:gd name="connsiteX102" fmla="*/ 422547 w 600773"/>
                <a:gd name="connsiteY102" fmla="*/ 99992 h 600837"/>
                <a:gd name="connsiteX103" fmla="*/ 418752 w 600773"/>
                <a:gd name="connsiteY103" fmla="*/ 101004 h 600837"/>
                <a:gd name="connsiteX104" fmla="*/ 416222 w 600773"/>
                <a:gd name="connsiteY104" fmla="*/ 98601 h 600837"/>
                <a:gd name="connsiteX105" fmla="*/ 390924 w 600773"/>
                <a:gd name="connsiteY105" fmla="*/ 85951 h 600837"/>
                <a:gd name="connsiteX106" fmla="*/ 361261 w 600773"/>
                <a:gd name="connsiteY106" fmla="*/ 74314 h 600837"/>
                <a:gd name="connsiteX107" fmla="*/ 357846 w 600773"/>
                <a:gd name="connsiteY107" fmla="*/ 72733 h 600837"/>
                <a:gd name="connsiteX108" fmla="*/ 356454 w 600773"/>
                <a:gd name="connsiteY108" fmla="*/ 69065 h 600837"/>
                <a:gd name="connsiteX109" fmla="*/ 341339 w 600773"/>
                <a:gd name="connsiteY109" fmla="*/ 15812 h 600837"/>
                <a:gd name="connsiteX110" fmla="*/ 262597 w 600773"/>
                <a:gd name="connsiteY110" fmla="*/ 15812 h 600837"/>
                <a:gd name="connsiteX111" fmla="*/ 255767 w 600773"/>
                <a:gd name="connsiteY111" fmla="*/ 40477 h 600837"/>
                <a:gd name="connsiteX112" fmla="*/ 247039 w 600773"/>
                <a:gd name="connsiteY112" fmla="*/ 72100 h 600837"/>
                <a:gd name="connsiteX113" fmla="*/ 245395 w 600773"/>
                <a:gd name="connsiteY113" fmla="*/ 77413 h 600837"/>
                <a:gd name="connsiteX114" fmla="*/ 239892 w 600773"/>
                <a:gd name="connsiteY114" fmla="*/ 77413 h 600837"/>
                <a:gd name="connsiteX115" fmla="*/ 183603 w 600773"/>
                <a:gd name="connsiteY115" fmla="*/ 99233 h 600837"/>
                <a:gd name="connsiteX116" fmla="*/ 179429 w 600773"/>
                <a:gd name="connsiteY116" fmla="*/ 101067 h 600837"/>
                <a:gd name="connsiteX117" fmla="*/ 175887 w 600773"/>
                <a:gd name="connsiteY117" fmla="*/ 98664 h 600837"/>
                <a:gd name="connsiteX118" fmla="*/ 128453 w 600773"/>
                <a:gd name="connsiteY118" fmla="*/ 70899 h 600837"/>
                <a:gd name="connsiteX119" fmla="*/ 71847 w 600773"/>
                <a:gd name="connsiteY119" fmla="*/ 128642 h 600837"/>
                <a:gd name="connsiteX120" fmla="*/ 99992 w 600773"/>
                <a:gd name="connsiteY120" fmla="*/ 175950 h 600837"/>
                <a:gd name="connsiteX121" fmla="*/ 102269 w 600773"/>
                <a:gd name="connsiteY121" fmla="*/ 180188 h 600837"/>
                <a:gd name="connsiteX122" fmla="*/ 99549 w 600773"/>
                <a:gd name="connsiteY122" fmla="*/ 184172 h 600837"/>
                <a:gd name="connsiteX123" fmla="*/ 85572 w 600773"/>
                <a:gd name="connsiteY123" fmla="*/ 211684 h 600837"/>
                <a:gd name="connsiteX124" fmla="*/ 71658 w 600773"/>
                <a:gd name="connsiteY124" fmla="*/ 242232 h 600837"/>
                <a:gd name="connsiteX125" fmla="*/ 69760 w 600773"/>
                <a:gd name="connsiteY125" fmla="*/ 245711 h 600837"/>
                <a:gd name="connsiteX126" fmla="*/ 65839 w 600773"/>
                <a:gd name="connsiteY126" fmla="*/ 246217 h 600837"/>
                <a:gd name="connsiteX127" fmla="*/ 38264 w 600773"/>
                <a:gd name="connsiteY127" fmla="*/ 252541 h 600837"/>
                <a:gd name="connsiteX128" fmla="*/ 16064 w 600773"/>
                <a:gd name="connsiteY128" fmla="*/ 258866 h 600837"/>
                <a:gd name="connsiteX129" fmla="*/ 16064 w 600773"/>
                <a:gd name="connsiteY129" fmla="*/ 338999 h 600837"/>
                <a:gd name="connsiteX130" fmla="*/ 39529 w 600773"/>
                <a:gd name="connsiteY130" fmla="*/ 345323 h 600837"/>
                <a:gd name="connsiteX131" fmla="*/ 68622 w 600773"/>
                <a:gd name="connsiteY131" fmla="*/ 351648 h 600837"/>
                <a:gd name="connsiteX132" fmla="*/ 74567 w 600773"/>
                <a:gd name="connsiteY132" fmla="*/ 352407 h 600837"/>
                <a:gd name="connsiteX133" fmla="*/ 75452 w 600773"/>
                <a:gd name="connsiteY133" fmla="*/ 358352 h 600837"/>
                <a:gd name="connsiteX134" fmla="*/ 84750 w 600773"/>
                <a:gd name="connsiteY134" fmla="*/ 388583 h 600837"/>
                <a:gd name="connsiteX135" fmla="*/ 97399 w 600773"/>
                <a:gd name="connsiteY135" fmla="*/ 418625 h 600837"/>
                <a:gd name="connsiteX136" fmla="*/ 98537 w 600773"/>
                <a:gd name="connsiteY136" fmla="*/ 421977 h 600837"/>
                <a:gd name="connsiteX137" fmla="*/ 96766 w 600773"/>
                <a:gd name="connsiteY137" fmla="*/ 425076 h 600837"/>
                <a:gd name="connsiteX138" fmla="*/ 70836 w 600773"/>
                <a:gd name="connsiteY138" fmla="*/ 472637 h 600837"/>
                <a:gd name="connsiteX139" fmla="*/ 127757 w 600773"/>
                <a:gd name="connsiteY139" fmla="*/ 527345 h 600837"/>
                <a:gd name="connsiteX140" fmla="*/ 148628 w 600773"/>
                <a:gd name="connsiteY140" fmla="*/ 515139 h 600837"/>
                <a:gd name="connsiteX141" fmla="*/ 178354 w 600773"/>
                <a:gd name="connsiteY141" fmla="*/ 500845 h 600837"/>
                <a:gd name="connsiteX142" fmla="*/ 181959 w 600773"/>
                <a:gd name="connsiteY142" fmla="*/ 499770 h 600837"/>
                <a:gd name="connsiteX143" fmla="*/ 185058 w 600773"/>
                <a:gd name="connsiteY143" fmla="*/ 501857 h 600837"/>
                <a:gd name="connsiteX144" fmla="*/ 240019 w 600773"/>
                <a:gd name="connsiteY144" fmla="*/ 526460 h 600837"/>
                <a:gd name="connsiteX145" fmla="*/ 243054 w 600773"/>
                <a:gd name="connsiteY145" fmla="*/ 527788 h 600837"/>
                <a:gd name="connsiteX146" fmla="*/ 244193 w 600773"/>
                <a:gd name="connsiteY146" fmla="*/ 530887 h 600837"/>
                <a:gd name="connsiteX147" fmla="*/ 252731 w 600773"/>
                <a:gd name="connsiteY147" fmla="*/ 561688 h 600837"/>
                <a:gd name="connsiteX148" fmla="*/ 259056 w 600773"/>
                <a:gd name="connsiteY148" fmla="*/ 585026 h 60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600773" h="600837">
                  <a:moveTo>
                    <a:pt x="348928" y="600837"/>
                  </a:moveTo>
                  <a:lnTo>
                    <a:pt x="248873" y="600837"/>
                  </a:lnTo>
                  <a:lnTo>
                    <a:pt x="246723" y="596347"/>
                  </a:lnTo>
                  <a:cubicBezTo>
                    <a:pt x="242433" y="586360"/>
                    <a:pt x="239211" y="575956"/>
                    <a:pt x="237109" y="565293"/>
                  </a:cubicBezTo>
                  <a:cubicBezTo>
                    <a:pt x="234453" y="553909"/>
                    <a:pt x="232176" y="545244"/>
                    <a:pt x="230342" y="539615"/>
                  </a:cubicBezTo>
                  <a:cubicBezTo>
                    <a:pt x="197454" y="525132"/>
                    <a:pt x="184931" y="519439"/>
                    <a:pt x="179745" y="517036"/>
                  </a:cubicBezTo>
                  <a:cubicBezTo>
                    <a:pt x="171774" y="520163"/>
                    <a:pt x="164127" y="524061"/>
                    <a:pt x="156913" y="528673"/>
                  </a:cubicBezTo>
                  <a:cubicBezTo>
                    <a:pt x="148304" y="534259"/>
                    <a:pt x="139371" y="539328"/>
                    <a:pt x="130160" y="543852"/>
                  </a:cubicBezTo>
                  <a:lnTo>
                    <a:pt x="126239" y="545560"/>
                  </a:lnTo>
                  <a:lnTo>
                    <a:pt x="122444" y="543410"/>
                  </a:lnTo>
                  <a:cubicBezTo>
                    <a:pt x="113969" y="537718"/>
                    <a:pt x="92213" y="517099"/>
                    <a:pt x="55720" y="480164"/>
                  </a:cubicBezTo>
                  <a:lnTo>
                    <a:pt x="52557" y="476875"/>
                  </a:lnTo>
                  <a:lnTo>
                    <a:pt x="53759" y="472511"/>
                  </a:lnTo>
                  <a:cubicBezTo>
                    <a:pt x="54898" y="468337"/>
                    <a:pt x="59009" y="458407"/>
                    <a:pt x="80955" y="420459"/>
                  </a:cubicBezTo>
                  <a:cubicBezTo>
                    <a:pt x="79374" y="416601"/>
                    <a:pt x="76148" y="409138"/>
                    <a:pt x="69760" y="395161"/>
                  </a:cubicBezTo>
                  <a:cubicBezTo>
                    <a:pt x="65687" y="385895"/>
                    <a:pt x="62593" y="376230"/>
                    <a:pt x="60526" y="366321"/>
                  </a:cubicBezTo>
                  <a:cubicBezTo>
                    <a:pt x="53190" y="365056"/>
                    <a:pt x="44588" y="363095"/>
                    <a:pt x="34912" y="360502"/>
                  </a:cubicBezTo>
                  <a:cubicBezTo>
                    <a:pt x="21061" y="356454"/>
                    <a:pt x="11511" y="354178"/>
                    <a:pt x="6325" y="352849"/>
                  </a:cubicBezTo>
                  <a:lnTo>
                    <a:pt x="0" y="351585"/>
                  </a:lnTo>
                  <a:lnTo>
                    <a:pt x="0" y="246153"/>
                  </a:lnTo>
                  <a:lnTo>
                    <a:pt x="6325" y="244699"/>
                  </a:lnTo>
                  <a:cubicBezTo>
                    <a:pt x="10752" y="243687"/>
                    <a:pt x="19733" y="241220"/>
                    <a:pt x="33773" y="237109"/>
                  </a:cubicBezTo>
                  <a:cubicBezTo>
                    <a:pt x="42224" y="234503"/>
                    <a:pt x="50819" y="232391"/>
                    <a:pt x="59514" y="230785"/>
                  </a:cubicBezTo>
                  <a:cubicBezTo>
                    <a:pt x="62171" y="225535"/>
                    <a:pt x="65839" y="216934"/>
                    <a:pt x="70962" y="205170"/>
                  </a:cubicBezTo>
                  <a:cubicBezTo>
                    <a:pt x="74537" y="196106"/>
                    <a:pt x="78765" y="187313"/>
                    <a:pt x="83611" y="178860"/>
                  </a:cubicBezTo>
                  <a:cubicBezTo>
                    <a:pt x="67800" y="150020"/>
                    <a:pt x="59704" y="138635"/>
                    <a:pt x="55720" y="133892"/>
                  </a:cubicBezTo>
                  <a:lnTo>
                    <a:pt x="51609" y="129275"/>
                  </a:lnTo>
                  <a:lnTo>
                    <a:pt x="55151" y="124152"/>
                  </a:lnTo>
                  <a:cubicBezTo>
                    <a:pt x="60969" y="115803"/>
                    <a:pt x="82599" y="93351"/>
                    <a:pt x="121306" y="55656"/>
                  </a:cubicBezTo>
                  <a:lnTo>
                    <a:pt x="125290" y="51798"/>
                  </a:lnTo>
                  <a:lnTo>
                    <a:pt x="130287" y="54265"/>
                  </a:lnTo>
                  <a:cubicBezTo>
                    <a:pt x="148100" y="62579"/>
                    <a:pt x="165230" y="72286"/>
                    <a:pt x="181516" y="83295"/>
                  </a:cubicBezTo>
                  <a:cubicBezTo>
                    <a:pt x="198335" y="75456"/>
                    <a:pt x="215637" y="68697"/>
                    <a:pt x="233315" y="63056"/>
                  </a:cubicBezTo>
                  <a:cubicBezTo>
                    <a:pt x="234516" y="58692"/>
                    <a:pt x="236730" y="50787"/>
                    <a:pt x="240525" y="36430"/>
                  </a:cubicBezTo>
                  <a:cubicBezTo>
                    <a:pt x="243813" y="23780"/>
                    <a:pt x="246849" y="13535"/>
                    <a:pt x="249252" y="5566"/>
                  </a:cubicBezTo>
                  <a:lnTo>
                    <a:pt x="250960" y="0"/>
                  </a:lnTo>
                  <a:lnTo>
                    <a:pt x="352154" y="0"/>
                  </a:lnTo>
                  <a:lnTo>
                    <a:pt x="354178" y="4933"/>
                  </a:lnTo>
                  <a:cubicBezTo>
                    <a:pt x="357466" y="13155"/>
                    <a:pt x="362906" y="31560"/>
                    <a:pt x="370748" y="61285"/>
                  </a:cubicBezTo>
                  <a:cubicBezTo>
                    <a:pt x="374733" y="62930"/>
                    <a:pt x="382196" y="65902"/>
                    <a:pt x="396046" y="71089"/>
                  </a:cubicBezTo>
                  <a:cubicBezTo>
                    <a:pt x="405168" y="74339"/>
                    <a:pt x="413907" y="78581"/>
                    <a:pt x="422104" y="83738"/>
                  </a:cubicBezTo>
                  <a:cubicBezTo>
                    <a:pt x="429774" y="80828"/>
                    <a:pt x="437076" y="77029"/>
                    <a:pt x="443860" y="72417"/>
                  </a:cubicBezTo>
                  <a:cubicBezTo>
                    <a:pt x="452652" y="66680"/>
                    <a:pt x="461823" y="61545"/>
                    <a:pt x="471309" y="57048"/>
                  </a:cubicBezTo>
                  <a:lnTo>
                    <a:pt x="475041" y="55467"/>
                  </a:lnTo>
                  <a:lnTo>
                    <a:pt x="478519" y="57554"/>
                  </a:lnTo>
                  <a:cubicBezTo>
                    <a:pt x="491900" y="66456"/>
                    <a:pt x="504043" y="77089"/>
                    <a:pt x="514633" y="89177"/>
                  </a:cubicBezTo>
                  <a:cubicBezTo>
                    <a:pt x="524848" y="100093"/>
                    <a:pt x="535636" y="110459"/>
                    <a:pt x="546951" y="120231"/>
                  </a:cubicBezTo>
                  <a:lnTo>
                    <a:pt x="552138" y="124342"/>
                  </a:lnTo>
                  <a:lnTo>
                    <a:pt x="548975" y="130160"/>
                  </a:lnTo>
                  <a:cubicBezTo>
                    <a:pt x="536326" y="153055"/>
                    <a:pt x="526966" y="169752"/>
                    <a:pt x="519629" y="180757"/>
                  </a:cubicBezTo>
                  <a:cubicBezTo>
                    <a:pt x="531140" y="213835"/>
                    <a:pt x="536326" y="228002"/>
                    <a:pt x="538603" y="233884"/>
                  </a:cubicBezTo>
                  <a:cubicBezTo>
                    <a:pt x="547898" y="235304"/>
                    <a:pt x="557071" y="237418"/>
                    <a:pt x="566052" y="240208"/>
                  </a:cubicBezTo>
                  <a:cubicBezTo>
                    <a:pt x="579713" y="244193"/>
                    <a:pt x="589326" y="246533"/>
                    <a:pt x="594449" y="247798"/>
                  </a:cubicBezTo>
                  <a:lnTo>
                    <a:pt x="600774" y="249063"/>
                  </a:lnTo>
                  <a:lnTo>
                    <a:pt x="600774" y="354431"/>
                  </a:lnTo>
                  <a:lnTo>
                    <a:pt x="594449" y="355822"/>
                  </a:lnTo>
                  <a:cubicBezTo>
                    <a:pt x="591224" y="356581"/>
                    <a:pt x="583824" y="358542"/>
                    <a:pt x="567000" y="363475"/>
                  </a:cubicBezTo>
                  <a:cubicBezTo>
                    <a:pt x="558481" y="366068"/>
                    <a:pt x="549825" y="368180"/>
                    <a:pt x="541070" y="369799"/>
                  </a:cubicBezTo>
                  <a:cubicBezTo>
                    <a:pt x="537042" y="378188"/>
                    <a:pt x="533453" y="386780"/>
                    <a:pt x="530318" y="395541"/>
                  </a:cubicBezTo>
                  <a:cubicBezTo>
                    <a:pt x="527320" y="404886"/>
                    <a:pt x="523064" y="413779"/>
                    <a:pt x="517669" y="421977"/>
                  </a:cubicBezTo>
                  <a:cubicBezTo>
                    <a:pt x="520388" y="426594"/>
                    <a:pt x="524562" y="433804"/>
                    <a:pt x="530318" y="443481"/>
                  </a:cubicBezTo>
                  <a:cubicBezTo>
                    <a:pt x="534778" y="451841"/>
                    <a:pt x="539829" y="459873"/>
                    <a:pt x="545434" y="467514"/>
                  </a:cubicBezTo>
                  <a:lnTo>
                    <a:pt x="548975" y="472068"/>
                  </a:lnTo>
                  <a:lnTo>
                    <a:pt x="545687" y="476875"/>
                  </a:lnTo>
                  <a:cubicBezTo>
                    <a:pt x="539868" y="485223"/>
                    <a:pt x="518364" y="507612"/>
                    <a:pt x="479911" y="545307"/>
                  </a:cubicBezTo>
                  <a:lnTo>
                    <a:pt x="475989" y="549165"/>
                  </a:lnTo>
                  <a:lnTo>
                    <a:pt x="470993" y="546825"/>
                  </a:lnTo>
                  <a:cubicBezTo>
                    <a:pt x="453461" y="538432"/>
                    <a:pt x="436552" y="528794"/>
                    <a:pt x="420396" y="517985"/>
                  </a:cubicBezTo>
                  <a:cubicBezTo>
                    <a:pt x="404480" y="527209"/>
                    <a:pt x="387278" y="534009"/>
                    <a:pt x="369357" y="538160"/>
                  </a:cubicBezTo>
                  <a:cubicBezTo>
                    <a:pt x="365738" y="546270"/>
                    <a:pt x="363024" y="554756"/>
                    <a:pt x="361261" y="563459"/>
                  </a:cubicBezTo>
                  <a:cubicBezTo>
                    <a:pt x="359082" y="574856"/>
                    <a:pt x="355690" y="585987"/>
                    <a:pt x="351142" y="596663"/>
                  </a:cubicBezTo>
                  <a:close/>
                  <a:moveTo>
                    <a:pt x="259056" y="585026"/>
                  </a:moveTo>
                  <a:lnTo>
                    <a:pt x="338809" y="585026"/>
                  </a:lnTo>
                  <a:cubicBezTo>
                    <a:pt x="341634" y="576740"/>
                    <a:pt x="343957" y="568291"/>
                    <a:pt x="345766" y="559727"/>
                  </a:cubicBezTo>
                  <a:cubicBezTo>
                    <a:pt x="347926" y="548210"/>
                    <a:pt x="351851" y="537095"/>
                    <a:pt x="357403" y="526776"/>
                  </a:cubicBezTo>
                  <a:lnTo>
                    <a:pt x="359301" y="523803"/>
                  </a:lnTo>
                  <a:lnTo>
                    <a:pt x="362779" y="523171"/>
                  </a:lnTo>
                  <a:cubicBezTo>
                    <a:pt x="381877" y="519133"/>
                    <a:pt x="400144" y="511861"/>
                    <a:pt x="416791" y="501667"/>
                  </a:cubicBezTo>
                  <a:lnTo>
                    <a:pt x="421092" y="499137"/>
                  </a:lnTo>
                  <a:lnTo>
                    <a:pt x="425203" y="501920"/>
                  </a:lnTo>
                  <a:cubicBezTo>
                    <a:pt x="440490" y="512398"/>
                    <a:pt x="456512" y="521761"/>
                    <a:pt x="473143" y="529938"/>
                  </a:cubicBezTo>
                  <a:cubicBezTo>
                    <a:pt x="507612" y="496038"/>
                    <a:pt x="523044" y="479721"/>
                    <a:pt x="529559" y="472005"/>
                  </a:cubicBezTo>
                  <a:cubicBezTo>
                    <a:pt x="525638" y="466376"/>
                    <a:pt x="521274" y="459356"/>
                    <a:pt x="516910" y="451197"/>
                  </a:cubicBezTo>
                  <a:cubicBezTo>
                    <a:pt x="506853" y="433615"/>
                    <a:pt x="503185" y="427480"/>
                    <a:pt x="501920" y="425393"/>
                  </a:cubicBezTo>
                  <a:lnTo>
                    <a:pt x="498631" y="420206"/>
                  </a:lnTo>
                  <a:lnTo>
                    <a:pt x="502869" y="415716"/>
                  </a:lnTo>
                  <a:cubicBezTo>
                    <a:pt x="509006" y="408080"/>
                    <a:pt x="513583" y="399312"/>
                    <a:pt x="516340" y="389912"/>
                  </a:cubicBezTo>
                  <a:cubicBezTo>
                    <a:pt x="520091" y="379022"/>
                    <a:pt x="524702" y="368448"/>
                    <a:pt x="530128" y="358289"/>
                  </a:cubicBezTo>
                  <a:lnTo>
                    <a:pt x="532089" y="355126"/>
                  </a:lnTo>
                  <a:lnTo>
                    <a:pt x="535820" y="354620"/>
                  </a:lnTo>
                  <a:cubicBezTo>
                    <a:pt x="545145" y="353140"/>
                    <a:pt x="554358" y="351027"/>
                    <a:pt x="563395" y="348296"/>
                  </a:cubicBezTo>
                  <a:cubicBezTo>
                    <a:pt x="572756" y="345513"/>
                    <a:pt x="580219" y="343426"/>
                    <a:pt x="585531" y="341971"/>
                  </a:cubicBezTo>
                  <a:lnTo>
                    <a:pt x="585531" y="261838"/>
                  </a:lnTo>
                  <a:cubicBezTo>
                    <a:pt x="579839" y="260447"/>
                    <a:pt x="572123" y="258297"/>
                    <a:pt x="562130" y="255514"/>
                  </a:cubicBezTo>
                  <a:cubicBezTo>
                    <a:pt x="553523" y="252704"/>
                    <a:pt x="544703" y="250590"/>
                    <a:pt x="535757" y="249189"/>
                  </a:cubicBezTo>
                  <a:cubicBezTo>
                    <a:pt x="527978" y="251087"/>
                    <a:pt x="527851" y="250897"/>
                    <a:pt x="504134" y="182022"/>
                  </a:cubicBezTo>
                  <a:lnTo>
                    <a:pt x="502806" y="178290"/>
                  </a:lnTo>
                  <a:lnTo>
                    <a:pt x="505019" y="175002"/>
                  </a:lnTo>
                  <a:cubicBezTo>
                    <a:pt x="511344" y="165325"/>
                    <a:pt x="520957" y="149703"/>
                    <a:pt x="532721" y="127883"/>
                  </a:cubicBezTo>
                  <a:cubicBezTo>
                    <a:pt x="525764" y="121559"/>
                    <a:pt x="516214" y="112451"/>
                    <a:pt x="503881" y="99739"/>
                  </a:cubicBezTo>
                  <a:cubicBezTo>
                    <a:pt x="495063" y="89814"/>
                    <a:pt x="485203" y="80866"/>
                    <a:pt x="474472" y="73049"/>
                  </a:cubicBezTo>
                  <a:cubicBezTo>
                    <a:pt x="469538" y="75516"/>
                    <a:pt x="462328" y="79690"/>
                    <a:pt x="453031" y="85698"/>
                  </a:cubicBezTo>
                  <a:cubicBezTo>
                    <a:pt x="443673" y="92016"/>
                    <a:pt x="433388" y="96838"/>
                    <a:pt x="422547" y="99992"/>
                  </a:cubicBezTo>
                  <a:lnTo>
                    <a:pt x="418752" y="101004"/>
                  </a:lnTo>
                  <a:lnTo>
                    <a:pt x="416222" y="98601"/>
                  </a:lnTo>
                  <a:cubicBezTo>
                    <a:pt x="408397" y="93265"/>
                    <a:pt x="399887" y="89010"/>
                    <a:pt x="390924" y="85951"/>
                  </a:cubicBezTo>
                  <a:cubicBezTo>
                    <a:pt x="374733" y="79627"/>
                    <a:pt x="365056" y="76022"/>
                    <a:pt x="361261" y="74314"/>
                  </a:cubicBezTo>
                  <a:lnTo>
                    <a:pt x="357846" y="72733"/>
                  </a:lnTo>
                  <a:lnTo>
                    <a:pt x="356454" y="69065"/>
                  </a:lnTo>
                  <a:cubicBezTo>
                    <a:pt x="349750" y="43450"/>
                    <a:pt x="344691" y="25551"/>
                    <a:pt x="341339" y="15812"/>
                  </a:cubicBezTo>
                  <a:lnTo>
                    <a:pt x="262597" y="15812"/>
                  </a:lnTo>
                  <a:cubicBezTo>
                    <a:pt x="260574" y="22642"/>
                    <a:pt x="258233" y="30927"/>
                    <a:pt x="255767" y="40477"/>
                  </a:cubicBezTo>
                  <a:cubicBezTo>
                    <a:pt x="252605" y="52368"/>
                    <a:pt x="248494" y="67483"/>
                    <a:pt x="247039" y="72100"/>
                  </a:cubicBezTo>
                  <a:lnTo>
                    <a:pt x="245395" y="77413"/>
                  </a:lnTo>
                  <a:lnTo>
                    <a:pt x="239892" y="77413"/>
                  </a:lnTo>
                  <a:cubicBezTo>
                    <a:pt x="238184" y="77413"/>
                    <a:pt x="229077" y="79374"/>
                    <a:pt x="183603" y="99233"/>
                  </a:cubicBezTo>
                  <a:lnTo>
                    <a:pt x="179429" y="101067"/>
                  </a:lnTo>
                  <a:lnTo>
                    <a:pt x="175887" y="98664"/>
                  </a:lnTo>
                  <a:cubicBezTo>
                    <a:pt x="160909" y="88053"/>
                    <a:pt x="145038" y="78763"/>
                    <a:pt x="128453" y="70899"/>
                  </a:cubicBezTo>
                  <a:cubicBezTo>
                    <a:pt x="94047" y="104546"/>
                    <a:pt x="78552" y="120863"/>
                    <a:pt x="71847" y="128642"/>
                  </a:cubicBezTo>
                  <a:cubicBezTo>
                    <a:pt x="82260" y="143775"/>
                    <a:pt x="91662" y="159579"/>
                    <a:pt x="99992" y="175950"/>
                  </a:cubicBezTo>
                  <a:lnTo>
                    <a:pt x="102269" y="180188"/>
                  </a:lnTo>
                  <a:lnTo>
                    <a:pt x="99549" y="184172"/>
                  </a:lnTo>
                  <a:cubicBezTo>
                    <a:pt x="93979" y="192851"/>
                    <a:pt x="89296" y="202068"/>
                    <a:pt x="85572" y="211684"/>
                  </a:cubicBezTo>
                  <a:cubicBezTo>
                    <a:pt x="79247" y="227116"/>
                    <a:pt x="74504" y="236983"/>
                    <a:pt x="71658" y="242232"/>
                  </a:cubicBezTo>
                  <a:lnTo>
                    <a:pt x="69760" y="245711"/>
                  </a:lnTo>
                  <a:lnTo>
                    <a:pt x="65839" y="246217"/>
                  </a:lnTo>
                  <a:cubicBezTo>
                    <a:pt x="56507" y="247659"/>
                    <a:pt x="47292" y="249773"/>
                    <a:pt x="38264" y="252541"/>
                  </a:cubicBezTo>
                  <a:cubicBezTo>
                    <a:pt x="28650" y="255324"/>
                    <a:pt x="21314" y="257411"/>
                    <a:pt x="16064" y="258866"/>
                  </a:cubicBezTo>
                  <a:lnTo>
                    <a:pt x="16064" y="338999"/>
                  </a:lnTo>
                  <a:cubicBezTo>
                    <a:pt x="21820" y="340390"/>
                    <a:pt x="29536" y="342540"/>
                    <a:pt x="39529" y="345323"/>
                  </a:cubicBezTo>
                  <a:cubicBezTo>
                    <a:pt x="49083" y="348043"/>
                    <a:pt x="58800" y="350156"/>
                    <a:pt x="68622" y="351648"/>
                  </a:cubicBezTo>
                  <a:lnTo>
                    <a:pt x="74567" y="352407"/>
                  </a:lnTo>
                  <a:lnTo>
                    <a:pt x="75452" y="358352"/>
                  </a:lnTo>
                  <a:cubicBezTo>
                    <a:pt x="77200" y="368796"/>
                    <a:pt x="80327" y="378962"/>
                    <a:pt x="84750" y="388583"/>
                  </a:cubicBezTo>
                  <a:cubicBezTo>
                    <a:pt x="94679" y="410593"/>
                    <a:pt x="96893" y="416222"/>
                    <a:pt x="97399" y="418625"/>
                  </a:cubicBezTo>
                  <a:lnTo>
                    <a:pt x="98537" y="421977"/>
                  </a:lnTo>
                  <a:lnTo>
                    <a:pt x="96766" y="425076"/>
                  </a:lnTo>
                  <a:cubicBezTo>
                    <a:pt x="80259" y="453411"/>
                    <a:pt x="73555" y="466566"/>
                    <a:pt x="70836" y="472637"/>
                  </a:cubicBezTo>
                  <a:cubicBezTo>
                    <a:pt x="104672" y="506980"/>
                    <a:pt x="120420" y="521527"/>
                    <a:pt x="127757" y="527345"/>
                  </a:cubicBezTo>
                  <a:cubicBezTo>
                    <a:pt x="132627" y="524815"/>
                    <a:pt x="139584" y="521021"/>
                    <a:pt x="148628" y="515139"/>
                  </a:cubicBezTo>
                  <a:cubicBezTo>
                    <a:pt x="157902" y="509154"/>
                    <a:pt x="167888" y="504351"/>
                    <a:pt x="178354" y="500845"/>
                  </a:cubicBezTo>
                  <a:lnTo>
                    <a:pt x="181959" y="499770"/>
                  </a:lnTo>
                  <a:lnTo>
                    <a:pt x="185058" y="501857"/>
                  </a:lnTo>
                  <a:cubicBezTo>
                    <a:pt x="186196" y="502489"/>
                    <a:pt x="195240" y="506727"/>
                    <a:pt x="240019" y="526460"/>
                  </a:cubicBezTo>
                  <a:lnTo>
                    <a:pt x="243054" y="527788"/>
                  </a:lnTo>
                  <a:lnTo>
                    <a:pt x="244193" y="530887"/>
                  </a:lnTo>
                  <a:cubicBezTo>
                    <a:pt x="247661" y="540971"/>
                    <a:pt x="250512" y="551258"/>
                    <a:pt x="252731" y="561688"/>
                  </a:cubicBezTo>
                  <a:cubicBezTo>
                    <a:pt x="254324" y="569600"/>
                    <a:pt x="256437" y="577392"/>
                    <a:pt x="259056" y="585026"/>
                  </a:cubicBezTo>
                  <a:close/>
                </a:path>
              </a:pathLst>
            </a:custGeom>
            <a:grpFill/>
            <a:ln w="6271" cap="flat">
              <a:noFill/>
              <a:prstDash val="solid"/>
              <a:miter/>
            </a:ln>
          </p:spPr>
          <p:txBody>
            <a:bodyPr rtlCol="0" anchor="ctr"/>
            <a:lstStyle/>
            <a:p>
              <a:endParaRPr lang="en-US"/>
            </a:p>
          </p:txBody>
        </p:sp>
      </p:grpSp>
      <p:grpSp>
        <p:nvGrpSpPr>
          <p:cNvPr id="618" name="Group 617" descr="Automation">
            <a:extLst>
              <a:ext uri="{FF2B5EF4-FFF2-40B4-BE49-F238E27FC236}">
                <a16:creationId xmlns:a16="http://schemas.microsoft.com/office/drawing/2014/main" id="{9D4920ED-36FE-2D6E-E2F5-53B67BC5A99A}"/>
              </a:ext>
            </a:extLst>
          </p:cNvPr>
          <p:cNvGrpSpPr/>
          <p:nvPr/>
        </p:nvGrpSpPr>
        <p:grpSpPr>
          <a:xfrm>
            <a:off x="4045233" y="5271275"/>
            <a:ext cx="226926" cy="226950"/>
            <a:chOff x="531730" y="723307"/>
            <a:chExt cx="600773" cy="600837"/>
          </a:xfrm>
          <a:solidFill>
            <a:srgbClr val="D58B3F"/>
          </a:solidFill>
        </p:grpSpPr>
        <p:sp>
          <p:nvSpPr>
            <p:cNvPr id="619" name="Picture Placeholder 74">
              <a:extLst>
                <a:ext uri="{FF2B5EF4-FFF2-40B4-BE49-F238E27FC236}">
                  <a16:creationId xmlns:a16="http://schemas.microsoft.com/office/drawing/2014/main" id="{6BFF2D18-29DC-CB80-060D-39CA2E097AAF}"/>
                </a:ext>
              </a:extLst>
            </p:cNvPr>
            <p:cNvSpPr/>
            <p:nvPr/>
          </p:nvSpPr>
          <p:spPr>
            <a:xfrm>
              <a:off x="658159" y="849799"/>
              <a:ext cx="347853" cy="347853"/>
            </a:xfrm>
            <a:custGeom>
              <a:avLst/>
              <a:gdLst>
                <a:gd name="connsiteX0" fmla="*/ 173927 w 347853"/>
                <a:gd name="connsiteY0" fmla="*/ 347853 h 347853"/>
                <a:gd name="connsiteX1" fmla="*/ 166021 w 347853"/>
                <a:gd name="connsiteY1" fmla="*/ 339947 h 347853"/>
                <a:gd name="connsiteX2" fmla="*/ 173927 w 347853"/>
                <a:gd name="connsiteY2" fmla="*/ 332042 h 347853"/>
                <a:gd name="connsiteX3" fmla="*/ 332042 w 347853"/>
                <a:gd name="connsiteY3" fmla="*/ 173927 h 347853"/>
                <a:gd name="connsiteX4" fmla="*/ 173927 w 347853"/>
                <a:gd name="connsiteY4" fmla="*/ 15812 h 347853"/>
                <a:gd name="connsiteX5" fmla="*/ 15812 w 347853"/>
                <a:gd name="connsiteY5" fmla="*/ 173927 h 347853"/>
                <a:gd name="connsiteX6" fmla="*/ 7906 w 347853"/>
                <a:gd name="connsiteY6" fmla="*/ 181832 h 347853"/>
                <a:gd name="connsiteX7" fmla="*/ 0 w 347853"/>
                <a:gd name="connsiteY7" fmla="*/ 173927 h 347853"/>
                <a:gd name="connsiteX8" fmla="*/ 173927 w 347853"/>
                <a:gd name="connsiteY8" fmla="*/ 0 h 347853"/>
                <a:gd name="connsiteX9" fmla="*/ 347853 w 347853"/>
                <a:gd name="connsiteY9" fmla="*/ 173927 h 347853"/>
                <a:gd name="connsiteX10" fmla="*/ 173927 w 347853"/>
                <a:gd name="connsiteY10" fmla="*/ 347853 h 347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7853" h="347853">
                  <a:moveTo>
                    <a:pt x="173927" y="347853"/>
                  </a:moveTo>
                  <a:cubicBezTo>
                    <a:pt x="169560" y="347853"/>
                    <a:pt x="166021" y="344314"/>
                    <a:pt x="166021" y="339947"/>
                  </a:cubicBezTo>
                  <a:cubicBezTo>
                    <a:pt x="166021" y="335581"/>
                    <a:pt x="169560" y="332042"/>
                    <a:pt x="173927" y="332042"/>
                  </a:cubicBezTo>
                  <a:cubicBezTo>
                    <a:pt x="261251" y="332042"/>
                    <a:pt x="332042" y="261251"/>
                    <a:pt x="332042" y="173927"/>
                  </a:cubicBezTo>
                  <a:cubicBezTo>
                    <a:pt x="332042" y="86602"/>
                    <a:pt x="261251" y="15812"/>
                    <a:pt x="173927" y="15812"/>
                  </a:cubicBezTo>
                  <a:cubicBezTo>
                    <a:pt x="86602" y="15812"/>
                    <a:pt x="15812" y="86602"/>
                    <a:pt x="15812" y="173927"/>
                  </a:cubicBezTo>
                  <a:cubicBezTo>
                    <a:pt x="15812" y="178293"/>
                    <a:pt x="12272" y="181832"/>
                    <a:pt x="7906" y="181832"/>
                  </a:cubicBezTo>
                  <a:cubicBezTo>
                    <a:pt x="3539" y="181832"/>
                    <a:pt x="0" y="178293"/>
                    <a:pt x="0" y="173927"/>
                  </a:cubicBezTo>
                  <a:cubicBezTo>
                    <a:pt x="0" y="77870"/>
                    <a:pt x="77870" y="0"/>
                    <a:pt x="173927" y="0"/>
                  </a:cubicBezTo>
                  <a:cubicBezTo>
                    <a:pt x="269983" y="0"/>
                    <a:pt x="347853" y="77870"/>
                    <a:pt x="347853" y="173927"/>
                  </a:cubicBezTo>
                  <a:cubicBezTo>
                    <a:pt x="347853" y="269983"/>
                    <a:pt x="269983" y="347853"/>
                    <a:pt x="173927" y="347853"/>
                  </a:cubicBezTo>
                  <a:close/>
                </a:path>
              </a:pathLst>
            </a:custGeom>
            <a:grpFill/>
            <a:ln w="6271" cap="flat">
              <a:noFill/>
              <a:prstDash val="solid"/>
              <a:miter/>
            </a:ln>
          </p:spPr>
          <p:txBody>
            <a:bodyPr rtlCol="0" anchor="ctr"/>
            <a:lstStyle/>
            <a:p>
              <a:endParaRPr lang="en-US"/>
            </a:p>
          </p:txBody>
        </p:sp>
        <p:sp>
          <p:nvSpPr>
            <p:cNvPr id="620" name="Picture Placeholder 74">
              <a:extLst>
                <a:ext uri="{FF2B5EF4-FFF2-40B4-BE49-F238E27FC236}">
                  <a16:creationId xmlns:a16="http://schemas.microsoft.com/office/drawing/2014/main" id="{87004CF3-895E-3289-7F02-248C5A8EACD6}"/>
                </a:ext>
              </a:extLst>
            </p:cNvPr>
            <p:cNvSpPr/>
            <p:nvPr/>
          </p:nvSpPr>
          <p:spPr>
            <a:xfrm>
              <a:off x="531730" y="723307"/>
              <a:ext cx="600773" cy="600837"/>
            </a:xfrm>
            <a:custGeom>
              <a:avLst/>
              <a:gdLst>
                <a:gd name="connsiteX0" fmla="*/ 348928 w 600773"/>
                <a:gd name="connsiteY0" fmla="*/ 600837 h 600837"/>
                <a:gd name="connsiteX1" fmla="*/ 248873 w 600773"/>
                <a:gd name="connsiteY1" fmla="*/ 600837 h 600837"/>
                <a:gd name="connsiteX2" fmla="*/ 246723 w 600773"/>
                <a:gd name="connsiteY2" fmla="*/ 596347 h 600837"/>
                <a:gd name="connsiteX3" fmla="*/ 237109 w 600773"/>
                <a:gd name="connsiteY3" fmla="*/ 565293 h 600837"/>
                <a:gd name="connsiteX4" fmla="*/ 230342 w 600773"/>
                <a:gd name="connsiteY4" fmla="*/ 539615 h 600837"/>
                <a:gd name="connsiteX5" fmla="*/ 179745 w 600773"/>
                <a:gd name="connsiteY5" fmla="*/ 517036 h 600837"/>
                <a:gd name="connsiteX6" fmla="*/ 156913 w 600773"/>
                <a:gd name="connsiteY6" fmla="*/ 528673 h 600837"/>
                <a:gd name="connsiteX7" fmla="*/ 130160 w 600773"/>
                <a:gd name="connsiteY7" fmla="*/ 543852 h 600837"/>
                <a:gd name="connsiteX8" fmla="*/ 126239 w 600773"/>
                <a:gd name="connsiteY8" fmla="*/ 545560 h 600837"/>
                <a:gd name="connsiteX9" fmla="*/ 122444 w 600773"/>
                <a:gd name="connsiteY9" fmla="*/ 543410 h 600837"/>
                <a:gd name="connsiteX10" fmla="*/ 55720 w 600773"/>
                <a:gd name="connsiteY10" fmla="*/ 480164 h 600837"/>
                <a:gd name="connsiteX11" fmla="*/ 52557 w 600773"/>
                <a:gd name="connsiteY11" fmla="*/ 476875 h 600837"/>
                <a:gd name="connsiteX12" fmla="*/ 53759 w 600773"/>
                <a:gd name="connsiteY12" fmla="*/ 472511 h 600837"/>
                <a:gd name="connsiteX13" fmla="*/ 80955 w 600773"/>
                <a:gd name="connsiteY13" fmla="*/ 420459 h 600837"/>
                <a:gd name="connsiteX14" fmla="*/ 69760 w 600773"/>
                <a:gd name="connsiteY14" fmla="*/ 395161 h 600837"/>
                <a:gd name="connsiteX15" fmla="*/ 60526 w 600773"/>
                <a:gd name="connsiteY15" fmla="*/ 366321 h 600837"/>
                <a:gd name="connsiteX16" fmla="*/ 34912 w 600773"/>
                <a:gd name="connsiteY16" fmla="*/ 360502 h 600837"/>
                <a:gd name="connsiteX17" fmla="*/ 6325 w 600773"/>
                <a:gd name="connsiteY17" fmla="*/ 352849 h 600837"/>
                <a:gd name="connsiteX18" fmla="*/ 0 w 600773"/>
                <a:gd name="connsiteY18" fmla="*/ 351585 h 600837"/>
                <a:gd name="connsiteX19" fmla="*/ 0 w 600773"/>
                <a:gd name="connsiteY19" fmla="*/ 246153 h 600837"/>
                <a:gd name="connsiteX20" fmla="*/ 6325 w 600773"/>
                <a:gd name="connsiteY20" fmla="*/ 244699 h 600837"/>
                <a:gd name="connsiteX21" fmla="*/ 33773 w 600773"/>
                <a:gd name="connsiteY21" fmla="*/ 237109 h 600837"/>
                <a:gd name="connsiteX22" fmla="*/ 59514 w 600773"/>
                <a:gd name="connsiteY22" fmla="*/ 230785 h 600837"/>
                <a:gd name="connsiteX23" fmla="*/ 70962 w 600773"/>
                <a:gd name="connsiteY23" fmla="*/ 205170 h 600837"/>
                <a:gd name="connsiteX24" fmla="*/ 83611 w 600773"/>
                <a:gd name="connsiteY24" fmla="*/ 178860 h 600837"/>
                <a:gd name="connsiteX25" fmla="*/ 55720 w 600773"/>
                <a:gd name="connsiteY25" fmla="*/ 133892 h 600837"/>
                <a:gd name="connsiteX26" fmla="*/ 51609 w 600773"/>
                <a:gd name="connsiteY26" fmla="*/ 129275 h 600837"/>
                <a:gd name="connsiteX27" fmla="*/ 55151 w 600773"/>
                <a:gd name="connsiteY27" fmla="*/ 124152 h 600837"/>
                <a:gd name="connsiteX28" fmla="*/ 121306 w 600773"/>
                <a:gd name="connsiteY28" fmla="*/ 55656 h 600837"/>
                <a:gd name="connsiteX29" fmla="*/ 125290 w 600773"/>
                <a:gd name="connsiteY29" fmla="*/ 51798 h 600837"/>
                <a:gd name="connsiteX30" fmla="*/ 130287 w 600773"/>
                <a:gd name="connsiteY30" fmla="*/ 54265 h 600837"/>
                <a:gd name="connsiteX31" fmla="*/ 181516 w 600773"/>
                <a:gd name="connsiteY31" fmla="*/ 83295 h 600837"/>
                <a:gd name="connsiteX32" fmla="*/ 233315 w 600773"/>
                <a:gd name="connsiteY32" fmla="*/ 63056 h 600837"/>
                <a:gd name="connsiteX33" fmla="*/ 240525 w 600773"/>
                <a:gd name="connsiteY33" fmla="*/ 36430 h 600837"/>
                <a:gd name="connsiteX34" fmla="*/ 249252 w 600773"/>
                <a:gd name="connsiteY34" fmla="*/ 5566 h 600837"/>
                <a:gd name="connsiteX35" fmla="*/ 250960 w 600773"/>
                <a:gd name="connsiteY35" fmla="*/ 0 h 600837"/>
                <a:gd name="connsiteX36" fmla="*/ 352154 w 600773"/>
                <a:gd name="connsiteY36" fmla="*/ 0 h 600837"/>
                <a:gd name="connsiteX37" fmla="*/ 354178 w 600773"/>
                <a:gd name="connsiteY37" fmla="*/ 4933 h 600837"/>
                <a:gd name="connsiteX38" fmla="*/ 370748 w 600773"/>
                <a:gd name="connsiteY38" fmla="*/ 61285 h 600837"/>
                <a:gd name="connsiteX39" fmla="*/ 396046 w 600773"/>
                <a:gd name="connsiteY39" fmla="*/ 71089 h 600837"/>
                <a:gd name="connsiteX40" fmla="*/ 422104 w 600773"/>
                <a:gd name="connsiteY40" fmla="*/ 83738 h 600837"/>
                <a:gd name="connsiteX41" fmla="*/ 443860 w 600773"/>
                <a:gd name="connsiteY41" fmla="*/ 72417 h 600837"/>
                <a:gd name="connsiteX42" fmla="*/ 471309 w 600773"/>
                <a:gd name="connsiteY42" fmla="*/ 57048 h 600837"/>
                <a:gd name="connsiteX43" fmla="*/ 475041 w 600773"/>
                <a:gd name="connsiteY43" fmla="*/ 55467 h 600837"/>
                <a:gd name="connsiteX44" fmla="*/ 478519 w 600773"/>
                <a:gd name="connsiteY44" fmla="*/ 57554 h 600837"/>
                <a:gd name="connsiteX45" fmla="*/ 514633 w 600773"/>
                <a:gd name="connsiteY45" fmla="*/ 89177 h 600837"/>
                <a:gd name="connsiteX46" fmla="*/ 546951 w 600773"/>
                <a:gd name="connsiteY46" fmla="*/ 120231 h 600837"/>
                <a:gd name="connsiteX47" fmla="*/ 552138 w 600773"/>
                <a:gd name="connsiteY47" fmla="*/ 124342 h 600837"/>
                <a:gd name="connsiteX48" fmla="*/ 548975 w 600773"/>
                <a:gd name="connsiteY48" fmla="*/ 130160 h 600837"/>
                <a:gd name="connsiteX49" fmla="*/ 519629 w 600773"/>
                <a:gd name="connsiteY49" fmla="*/ 180757 h 600837"/>
                <a:gd name="connsiteX50" fmla="*/ 538603 w 600773"/>
                <a:gd name="connsiteY50" fmla="*/ 233884 h 600837"/>
                <a:gd name="connsiteX51" fmla="*/ 566052 w 600773"/>
                <a:gd name="connsiteY51" fmla="*/ 240208 h 600837"/>
                <a:gd name="connsiteX52" fmla="*/ 594449 w 600773"/>
                <a:gd name="connsiteY52" fmla="*/ 247798 h 600837"/>
                <a:gd name="connsiteX53" fmla="*/ 600774 w 600773"/>
                <a:gd name="connsiteY53" fmla="*/ 249063 h 600837"/>
                <a:gd name="connsiteX54" fmla="*/ 600774 w 600773"/>
                <a:gd name="connsiteY54" fmla="*/ 354431 h 600837"/>
                <a:gd name="connsiteX55" fmla="*/ 594449 w 600773"/>
                <a:gd name="connsiteY55" fmla="*/ 355822 h 600837"/>
                <a:gd name="connsiteX56" fmla="*/ 567000 w 600773"/>
                <a:gd name="connsiteY56" fmla="*/ 363475 h 600837"/>
                <a:gd name="connsiteX57" fmla="*/ 541070 w 600773"/>
                <a:gd name="connsiteY57" fmla="*/ 369799 h 600837"/>
                <a:gd name="connsiteX58" fmla="*/ 530318 w 600773"/>
                <a:gd name="connsiteY58" fmla="*/ 395541 h 600837"/>
                <a:gd name="connsiteX59" fmla="*/ 517669 w 600773"/>
                <a:gd name="connsiteY59" fmla="*/ 421977 h 600837"/>
                <a:gd name="connsiteX60" fmla="*/ 530318 w 600773"/>
                <a:gd name="connsiteY60" fmla="*/ 443481 h 600837"/>
                <a:gd name="connsiteX61" fmla="*/ 545434 w 600773"/>
                <a:gd name="connsiteY61" fmla="*/ 467514 h 600837"/>
                <a:gd name="connsiteX62" fmla="*/ 548975 w 600773"/>
                <a:gd name="connsiteY62" fmla="*/ 472068 h 600837"/>
                <a:gd name="connsiteX63" fmla="*/ 545687 w 600773"/>
                <a:gd name="connsiteY63" fmla="*/ 476875 h 600837"/>
                <a:gd name="connsiteX64" fmla="*/ 479911 w 600773"/>
                <a:gd name="connsiteY64" fmla="*/ 545307 h 600837"/>
                <a:gd name="connsiteX65" fmla="*/ 475989 w 600773"/>
                <a:gd name="connsiteY65" fmla="*/ 549165 h 600837"/>
                <a:gd name="connsiteX66" fmla="*/ 470993 w 600773"/>
                <a:gd name="connsiteY66" fmla="*/ 546825 h 600837"/>
                <a:gd name="connsiteX67" fmla="*/ 420396 w 600773"/>
                <a:gd name="connsiteY67" fmla="*/ 517985 h 600837"/>
                <a:gd name="connsiteX68" fmla="*/ 369357 w 600773"/>
                <a:gd name="connsiteY68" fmla="*/ 538160 h 600837"/>
                <a:gd name="connsiteX69" fmla="*/ 361261 w 600773"/>
                <a:gd name="connsiteY69" fmla="*/ 563459 h 600837"/>
                <a:gd name="connsiteX70" fmla="*/ 351142 w 600773"/>
                <a:gd name="connsiteY70" fmla="*/ 596663 h 600837"/>
                <a:gd name="connsiteX71" fmla="*/ 259056 w 600773"/>
                <a:gd name="connsiteY71" fmla="*/ 585026 h 600837"/>
                <a:gd name="connsiteX72" fmla="*/ 338809 w 600773"/>
                <a:gd name="connsiteY72" fmla="*/ 585026 h 600837"/>
                <a:gd name="connsiteX73" fmla="*/ 345766 w 600773"/>
                <a:gd name="connsiteY73" fmla="*/ 559727 h 600837"/>
                <a:gd name="connsiteX74" fmla="*/ 357403 w 600773"/>
                <a:gd name="connsiteY74" fmla="*/ 526776 h 600837"/>
                <a:gd name="connsiteX75" fmla="*/ 359301 w 600773"/>
                <a:gd name="connsiteY75" fmla="*/ 523803 h 600837"/>
                <a:gd name="connsiteX76" fmla="*/ 362779 w 600773"/>
                <a:gd name="connsiteY76" fmla="*/ 523171 h 600837"/>
                <a:gd name="connsiteX77" fmla="*/ 416791 w 600773"/>
                <a:gd name="connsiteY77" fmla="*/ 501667 h 600837"/>
                <a:gd name="connsiteX78" fmla="*/ 421092 w 600773"/>
                <a:gd name="connsiteY78" fmla="*/ 499137 h 600837"/>
                <a:gd name="connsiteX79" fmla="*/ 425203 w 600773"/>
                <a:gd name="connsiteY79" fmla="*/ 501920 h 600837"/>
                <a:gd name="connsiteX80" fmla="*/ 473143 w 600773"/>
                <a:gd name="connsiteY80" fmla="*/ 529938 h 600837"/>
                <a:gd name="connsiteX81" fmla="*/ 529559 w 600773"/>
                <a:gd name="connsiteY81" fmla="*/ 472005 h 600837"/>
                <a:gd name="connsiteX82" fmla="*/ 516910 w 600773"/>
                <a:gd name="connsiteY82" fmla="*/ 451197 h 600837"/>
                <a:gd name="connsiteX83" fmla="*/ 501920 w 600773"/>
                <a:gd name="connsiteY83" fmla="*/ 425393 h 600837"/>
                <a:gd name="connsiteX84" fmla="*/ 498631 w 600773"/>
                <a:gd name="connsiteY84" fmla="*/ 420206 h 600837"/>
                <a:gd name="connsiteX85" fmla="*/ 502869 w 600773"/>
                <a:gd name="connsiteY85" fmla="*/ 415716 h 600837"/>
                <a:gd name="connsiteX86" fmla="*/ 516340 w 600773"/>
                <a:gd name="connsiteY86" fmla="*/ 389912 h 600837"/>
                <a:gd name="connsiteX87" fmla="*/ 530128 w 600773"/>
                <a:gd name="connsiteY87" fmla="*/ 358289 h 600837"/>
                <a:gd name="connsiteX88" fmla="*/ 532089 w 600773"/>
                <a:gd name="connsiteY88" fmla="*/ 355126 h 600837"/>
                <a:gd name="connsiteX89" fmla="*/ 535820 w 600773"/>
                <a:gd name="connsiteY89" fmla="*/ 354620 h 600837"/>
                <a:gd name="connsiteX90" fmla="*/ 563395 w 600773"/>
                <a:gd name="connsiteY90" fmla="*/ 348296 h 600837"/>
                <a:gd name="connsiteX91" fmla="*/ 585531 w 600773"/>
                <a:gd name="connsiteY91" fmla="*/ 341971 h 600837"/>
                <a:gd name="connsiteX92" fmla="*/ 585531 w 600773"/>
                <a:gd name="connsiteY92" fmla="*/ 261838 h 600837"/>
                <a:gd name="connsiteX93" fmla="*/ 562130 w 600773"/>
                <a:gd name="connsiteY93" fmla="*/ 255514 h 600837"/>
                <a:gd name="connsiteX94" fmla="*/ 535757 w 600773"/>
                <a:gd name="connsiteY94" fmla="*/ 249189 h 600837"/>
                <a:gd name="connsiteX95" fmla="*/ 504134 w 600773"/>
                <a:gd name="connsiteY95" fmla="*/ 182022 h 600837"/>
                <a:gd name="connsiteX96" fmla="*/ 502806 w 600773"/>
                <a:gd name="connsiteY96" fmla="*/ 178290 h 600837"/>
                <a:gd name="connsiteX97" fmla="*/ 505019 w 600773"/>
                <a:gd name="connsiteY97" fmla="*/ 175002 h 600837"/>
                <a:gd name="connsiteX98" fmla="*/ 532721 w 600773"/>
                <a:gd name="connsiteY98" fmla="*/ 127883 h 600837"/>
                <a:gd name="connsiteX99" fmla="*/ 503881 w 600773"/>
                <a:gd name="connsiteY99" fmla="*/ 99739 h 600837"/>
                <a:gd name="connsiteX100" fmla="*/ 474472 w 600773"/>
                <a:gd name="connsiteY100" fmla="*/ 73049 h 600837"/>
                <a:gd name="connsiteX101" fmla="*/ 453031 w 600773"/>
                <a:gd name="connsiteY101" fmla="*/ 85698 h 600837"/>
                <a:gd name="connsiteX102" fmla="*/ 422547 w 600773"/>
                <a:gd name="connsiteY102" fmla="*/ 99992 h 600837"/>
                <a:gd name="connsiteX103" fmla="*/ 418752 w 600773"/>
                <a:gd name="connsiteY103" fmla="*/ 101004 h 600837"/>
                <a:gd name="connsiteX104" fmla="*/ 416222 w 600773"/>
                <a:gd name="connsiteY104" fmla="*/ 98601 h 600837"/>
                <a:gd name="connsiteX105" fmla="*/ 390924 w 600773"/>
                <a:gd name="connsiteY105" fmla="*/ 85951 h 600837"/>
                <a:gd name="connsiteX106" fmla="*/ 361261 w 600773"/>
                <a:gd name="connsiteY106" fmla="*/ 74314 h 600837"/>
                <a:gd name="connsiteX107" fmla="*/ 357846 w 600773"/>
                <a:gd name="connsiteY107" fmla="*/ 72733 h 600837"/>
                <a:gd name="connsiteX108" fmla="*/ 356454 w 600773"/>
                <a:gd name="connsiteY108" fmla="*/ 69065 h 600837"/>
                <a:gd name="connsiteX109" fmla="*/ 341339 w 600773"/>
                <a:gd name="connsiteY109" fmla="*/ 15812 h 600837"/>
                <a:gd name="connsiteX110" fmla="*/ 262597 w 600773"/>
                <a:gd name="connsiteY110" fmla="*/ 15812 h 600837"/>
                <a:gd name="connsiteX111" fmla="*/ 255767 w 600773"/>
                <a:gd name="connsiteY111" fmla="*/ 40477 h 600837"/>
                <a:gd name="connsiteX112" fmla="*/ 247039 w 600773"/>
                <a:gd name="connsiteY112" fmla="*/ 72100 h 600837"/>
                <a:gd name="connsiteX113" fmla="*/ 245395 w 600773"/>
                <a:gd name="connsiteY113" fmla="*/ 77413 h 600837"/>
                <a:gd name="connsiteX114" fmla="*/ 239892 w 600773"/>
                <a:gd name="connsiteY114" fmla="*/ 77413 h 600837"/>
                <a:gd name="connsiteX115" fmla="*/ 183603 w 600773"/>
                <a:gd name="connsiteY115" fmla="*/ 99233 h 600837"/>
                <a:gd name="connsiteX116" fmla="*/ 179429 w 600773"/>
                <a:gd name="connsiteY116" fmla="*/ 101067 h 600837"/>
                <a:gd name="connsiteX117" fmla="*/ 175887 w 600773"/>
                <a:gd name="connsiteY117" fmla="*/ 98664 h 600837"/>
                <a:gd name="connsiteX118" fmla="*/ 128453 w 600773"/>
                <a:gd name="connsiteY118" fmla="*/ 70899 h 600837"/>
                <a:gd name="connsiteX119" fmla="*/ 71847 w 600773"/>
                <a:gd name="connsiteY119" fmla="*/ 128642 h 600837"/>
                <a:gd name="connsiteX120" fmla="*/ 99992 w 600773"/>
                <a:gd name="connsiteY120" fmla="*/ 175950 h 600837"/>
                <a:gd name="connsiteX121" fmla="*/ 102269 w 600773"/>
                <a:gd name="connsiteY121" fmla="*/ 180188 h 600837"/>
                <a:gd name="connsiteX122" fmla="*/ 99549 w 600773"/>
                <a:gd name="connsiteY122" fmla="*/ 184172 h 600837"/>
                <a:gd name="connsiteX123" fmla="*/ 85572 w 600773"/>
                <a:gd name="connsiteY123" fmla="*/ 211684 h 600837"/>
                <a:gd name="connsiteX124" fmla="*/ 71658 w 600773"/>
                <a:gd name="connsiteY124" fmla="*/ 242232 h 600837"/>
                <a:gd name="connsiteX125" fmla="*/ 69760 w 600773"/>
                <a:gd name="connsiteY125" fmla="*/ 245711 h 600837"/>
                <a:gd name="connsiteX126" fmla="*/ 65839 w 600773"/>
                <a:gd name="connsiteY126" fmla="*/ 246217 h 600837"/>
                <a:gd name="connsiteX127" fmla="*/ 38264 w 600773"/>
                <a:gd name="connsiteY127" fmla="*/ 252541 h 600837"/>
                <a:gd name="connsiteX128" fmla="*/ 16064 w 600773"/>
                <a:gd name="connsiteY128" fmla="*/ 258866 h 600837"/>
                <a:gd name="connsiteX129" fmla="*/ 16064 w 600773"/>
                <a:gd name="connsiteY129" fmla="*/ 338999 h 600837"/>
                <a:gd name="connsiteX130" fmla="*/ 39529 w 600773"/>
                <a:gd name="connsiteY130" fmla="*/ 345323 h 600837"/>
                <a:gd name="connsiteX131" fmla="*/ 68622 w 600773"/>
                <a:gd name="connsiteY131" fmla="*/ 351648 h 600837"/>
                <a:gd name="connsiteX132" fmla="*/ 74567 w 600773"/>
                <a:gd name="connsiteY132" fmla="*/ 352407 h 600837"/>
                <a:gd name="connsiteX133" fmla="*/ 75452 w 600773"/>
                <a:gd name="connsiteY133" fmla="*/ 358352 h 600837"/>
                <a:gd name="connsiteX134" fmla="*/ 84750 w 600773"/>
                <a:gd name="connsiteY134" fmla="*/ 388583 h 600837"/>
                <a:gd name="connsiteX135" fmla="*/ 97399 w 600773"/>
                <a:gd name="connsiteY135" fmla="*/ 418625 h 600837"/>
                <a:gd name="connsiteX136" fmla="*/ 98537 w 600773"/>
                <a:gd name="connsiteY136" fmla="*/ 421977 h 600837"/>
                <a:gd name="connsiteX137" fmla="*/ 96766 w 600773"/>
                <a:gd name="connsiteY137" fmla="*/ 425076 h 600837"/>
                <a:gd name="connsiteX138" fmla="*/ 70836 w 600773"/>
                <a:gd name="connsiteY138" fmla="*/ 472637 h 600837"/>
                <a:gd name="connsiteX139" fmla="*/ 127757 w 600773"/>
                <a:gd name="connsiteY139" fmla="*/ 527345 h 600837"/>
                <a:gd name="connsiteX140" fmla="*/ 148628 w 600773"/>
                <a:gd name="connsiteY140" fmla="*/ 515139 h 600837"/>
                <a:gd name="connsiteX141" fmla="*/ 178354 w 600773"/>
                <a:gd name="connsiteY141" fmla="*/ 500845 h 600837"/>
                <a:gd name="connsiteX142" fmla="*/ 181959 w 600773"/>
                <a:gd name="connsiteY142" fmla="*/ 499770 h 600837"/>
                <a:gd name="connsiteX143" fmla="*/ 185058 w 600773"/>
                <a:gd name="connsiteY143" fmla="*/ 501857 h 600837"/>
                <a:gd name="connsiteX144" fmla="*/ 240019 w 600773"/>
                <a:gd name="connsiteY144" fmla="*/ 526460 h 600837"/>
                <a:gd name="connsiteX145" fmla="*/ 243054 w 600773"/>
                <a:gd name="connsiteY145" fmla="*/ 527788 h 600837"/>
                <a:gd name="connsiteX146" fmla="*/ 244193 w 600773"/>
                <a:gd name="connsiteY146" fmla="*/ 530887 h 600837"/>
                <a:gd name="connsiteX147" fmla="*/ 252731 w 600773"/>
                <a:gd name="connsiteY147" fmla="*/ 561688 h 600837"/>
                <a:gd name="connsiteX148" fmla="*/ 259056 w 600773"/>
                <a:gd name="connsiteY148" fmla="*/ 585026 h 60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600773" h="600837">
                  <a:moveTo>
                    <a:pt x="348928" y="600837"/>
                  </a:moveTo>
                  <a:lnTo>
                    <a:pt x="248873" y="600837"/>
                  </a:lnTo>
                  <a:lnTo>
                    <a:pt x="246723" y="596347"/>
                  </a:lnTo>
                  <a:cubicBezTo>
                    <a:pt x="242433" y="586360"/>
                    <a:pt x="239211" y="575956"/>
                    <a:pt x="237109" y="565293"/>
                  </a:cubicBezTo>
                  <a:cubicBezTo>
                    <a:pt x="234453" y="553909"/>
                    <a:pt x="232176" y="545244"/>
                    <a:pt x="230342" y="539615"/>
                  </a:cubicBezTo>
                  <a:cubicBezTo>
                    <a:pt x="197454" y="525132"/>
                    <a:pt x="184931" y="519439"/>
                    <a:pt x="179745" y="517036"/>
                  </a:cubicBezTo>
                  <a:cubicBezTo>
                    <a:pt x="171774" y="520163"/>
                    <a:pt x="164127" y="524061"/>
                    <a:pt x="156913" y="528673"/>
                  </a:cubicBezTo>
                  <a:cubicBezTo>
                    <a:pt x="148304" y="534259"/>
                    <a:pt x="139371" y="539328"/>
                    <a:pt x="130160" y="543852"/>
                  </a:cubicBezTo>
                  <a:lnTo>
                    <a:pt x="126239" y="545560"/>
                  </a:lnTo>
                  <a:lnTo>
                    <a:pt x="122444" y="543410"/>
                  </a:lnTo>
                  <a:cubicBezTo>
                    <a:pt x="113969" y="537718"/>
                    <a:pt x="92213" y="517099"/>
                    <a:pt x="55720" y="480164"/>
                  </a:cubicBezTo>
                  <a:lnTo>
                    <a:pt x="52557" y="476875"/>
                  </a:lnTo>
                  <a:lnTo>
                    <a:pt x="53759" y="472511"/>
                  </a:lnTo>
                  <a:cubicBezTo>
                    <a:pt x="54898" y="468337"/>
                    <a:pt x="59009" y="458407"/>
                    <a:pt x="80955" y="420459"/>
                  </a:cubicBezTo>
                  <a:cubicBezTo>
                    <a:pt x="79374" y="416601"/>
                    <a:pt x="76148" y="409138"/>
                    <a:pt x="69760" y="395161"/>
                  </a:cubicBezTo>
                  <a:cubicBezTo>
                    <a:pt x="65687" y="385895"/>
                    <a:pt x="62593" y="376230"/>
                    <a:pt x="60526" y="366321"/>
                  </a:cubicBezTo>
                  <a:cubicBezTo>
                    <a:pt x="53190" y="365056"/>
                    <a:pt x="44588" y="363095"/>
                    <a:pt x="34912" y="360502"/>
                  </a:cubicBezTo>
                  <a:cubicBezTo>
                    <a:pt x="21061" y="356454"/>
                    <a:pt x="11511" y="354178"/>
                    <a:pt x="6325" y="352849"/>
                  </a:cubicBezTo>
                  <a:lnTo>
                    <a:pt x="0" y="351585"/>
                  </a:lnTo>
                  <a:lnTo>
                    <a:pt x="0" y="246153"/>
                  </a:lnTo>
                  <a:lnTo>
                    <a:pt x="6325" y="244699"/>
                  </a:lnTo>
                  <a:cubicBezTo>
                    <a:pt x="10752" y="243687"/>
                    <a:pt x="19733" y="241220"/>
                    <a:pt x="33773" y="237109"/>
                  </a:cubicBezTo>
                  <a:cubicBezTo>
                    <a:pt x="42224" y="234503"/>
                    <a:pt x="50819" y="232391"/>
                    <a:pt x="59514" y="230785"/>
                  </a:cubicBezTo>
                  <a:cubicBezTo>
                    <a:pt x="62171" y="225535"/>
                    <a:pt x="65839" y="216934"/>
                    <a:pt x="70962" y="205170"/>
                  </a:cubicBezTo>
                  <a:cubicBezTo>
                    <a:pt x="74537" y="196106"/>
                    <a:pt x="78765" y="187313"/>
                    <a:pt x="83611" y="178860"/>
                  </a:cubicBezTo>
                  <a:cubicBezTo>
                    <a:pt x="67800" y="150020"/>
                    <a:pt x="59704" y="138635"/>
                    <a:pt x="55720" y="133892"/>
                  </a:cubicBezTo>
                  <a:lnTo>
                    <a:pt x="51609" y="129275"/>
                  </a:lnTo>
                  <a:lnTo>
                    <a:pt x="55151" y="124152"/>
                  </a:lnTo>
                  <a:cubicBezTo>
                    <a:pt x="60969" y="115803"/>
                    <a:pt x="82599" y="93351"/>
                    <a:pt x="121306" y="55656"/>
                  </a:cubicBezTo>
                  <a:lnTo>
                    <a:pt x="125290" y="51798"/>
                  </a:lnTo>
                  <a:lnTo>
                    <a:pt x="130287" y="54265"/>
                  </a:lnTo>
                  <a:cubicBezTo>
                    <a:pt x="148100" y="62579"/>
                    <a:pt x="165230" y="72286"/>
                    <a:pt x="181516" y="83295"/>
                  </a:cubicBezTo>
                  <a:cubicBezTo>
                    <a:pt x="198335" y="75456"/>
                    <a:pt x="215637" y="68697"/>
                    <a:pt x="233315" y="63056"/>
                  </a:cubicBezTo>
                  <a:cubicBezTo>
                    <a:pt x="234516" y="58692"/>
                    <a:pt x="236730" y="50787"/>
                    <a:pt x="240525" y="36430"/>
                  </a:cubicBezTo>
                  <a:cubicBezTo>
                    <a:pt x="243813" y="23780"/>
                    <a:pt x="246849" y="13535"/>
                    <a:pt x="249252" y="5566"/>
                  </a:cubicBezTo>
                  <a:lnTo>
                    <a:pt x="250960" y="0"/>
                  </a:lnTo>
                  <a:lnTo>
                    <a:pt x="352154" y="0"/>
                  </a:lnTo>
                  <a:lnTo>
                    <a:pt x="354178" y="4933"/>
                  </a:lnTo>
                  <a:cubicBezTo>
                    <a:pt x="357466" y="13155"/>
                    <a:pt x="362906" y="31560"/>
                    <a:pt x="370748" y="61285"/>
                  </a:cubicBezTo>
                  <a:cubicBezTo>
                    <a:pt x="374733" y="62930"/>
                    <a:pt x="382196" y="65902"/>
                    <a:pt x="396046" y="71089"/>
                  </a:cubicBezTo>
                  <a:cubicBezTo>
                    <a:pt x="405168" y="74339"/>
                    <a:pt x="413907" y="78581"/>
                    <a:pt x="422104" y="83738"/>
                  </a:cubicBezTo>
                  <a:cubicBezTo>
                    <a:pt x="429774" y="80828"/>
                    <a:pt x="437076" y="77029"/>
                    <a:pt x="443860" y="72417"/>
                  </a:cubicBezTo>
                  <a:cubicBezTo>
                    <a:pt x="452652" y="66680"/>
                    <a:pt x="461823" y="61545"/>
                    <a:pt x="471309" y="57048"/>
                  </a:cubicBezTo>
                  <a:lnTo>
                    <a:pt x="475041" y="55467"/>
                  </a:lnTo>
                  <a:lnTo>
                    <a:pt x="478519" y="57554"/>
                  </a:lnTo>
                  <a:cubicBezTo>
                    <a:pt x="491900" y="66456"/>
                    <a:pt x="504043" y="77089"/>
                    <a:pt x="514633" y="89177"/>
                  </a:cubicBezTo>
                  <a:cubicBezTo>
                    <a:pt x="524848" y="100093"/>
                    <a:pt x="535636" y="110459"/>
                    <a:pt x="546951" y="120231"/>
                  </a:cubicBezTo>
                  <a:lnTo>
                    <a:pt x="552138" y="124342"/>
                  </a:lnTo>
                  <a:lnTo>
                    <a:pt x="548975" y="130160"/>
                  </a:lnTo>
                  <a:cubicBezTo>
                    <a:pt x="536326" y="153055"/>
                    <a:pt x="526966" y="169752"/>
                    <a:pt x="519629" y="180757"/>
                  </a:cubicBezTo>
                  <a:cubicBezTo>
                    <a:pt x="531140" y="213835"/>
                    <a:pt x="536326" y="228002"/>
                    <a:pt x="538603" y="233884"/>
                  </a:cubicBezTo>
                  <a:cubicBezTo>
                    <a:pt x="547898" y="235304"/>
                    <a:pt x="557071" y="237418"/>
                    <a:pt x="566052" y="240208"/>
                  </a:cubicBezTo>
                  <a:cubicBezTo>
                    <a:pt x="579713" y="244193"/>
                    <a:pt x="589326" y="246533"/>
                    <a:pt x="594449" y="247798"/>
                  </a:cubicBezTo>
                  <a:lnTo>
                    <a:pt x="600774" y="249063"/>
                  </a:lnTo>
                  <a:lnTo>
                    <a:pt x="600774" y="354431"/>
                  </a:lnTo>
                  <a:lnTo>
                    <a:pt x="594449" y="355822"/>
                  </a:lnTo>
                  <a:cubicBezTo>
                    <a:pt x="591224" y="356581"/>
                    <a:pt x="583824" y="358542"/>
                    <a:pt x="567000" y="363475"/>
                  </a:cubicBezTo>
                  <a:cubicBezTo>
                    <a:pt x="558481" y="366068"/>
                    <a:pt x="549825" y="368180"/>
                    <a:pt x="541070" y="369799"/>
                  </a:cubicBezTo>
                  <a:cubicBezTo>
                    <a:pt x="537042" y="378188"/>
                    <a:pt x="533453" y="386780"/>
                    <a:pt x="530318" y="395541"/>
                  </a:cubicBezTo>
                  <a:cubicBezTo>
                    <a:pt x="527320" y="404886"/>
                    <a:pt x="523064" y="413779"/>
                    <a:pt x="517669" y="421977"/>
                  </a:cubicBezTo>
                  <a:cubicBezTo>
                    <a:pt x="520388" y="426594"/>
                    <a:pt x="524562" y="433804"/>
                    <a:pt x="530318" y="443481"/>
                  </a:cubicBezTo>
                  <a:cubicBezTo>
                    <a:pt x="534778" y="451841"/>
                    <a:pt x="539829" y="459873"/>
                    <a:pt x="545434" y="467514"/>
                  </a:cubicBezTo>
                  <a:lnTo>
                    <a:pt x="548975" y="472068"/>
                  </a:lnTo>
                  <a:lnTo>
                    <a:pt x="545687" y="476875"/>
                  </a:lnTo>
                  <a:cubicBezTo>
                    <a:pt x="539868" y="485223"/>
                    <a:pt x="518364" y="507612"/>
                    <a:pt x="479911" y="545307"/>
                  </a:cubicBezTo>
                  <a:lnTo>
                    <a:pt x="475989" y="549165"/>
                  </a:lnTo>
                  <a:lnTo>
                    <a:pt x="470993" y="546825"/>
                  </a:lnTo>
                  <a:cubicBezTo>
                    <a:pt x="453461" y="538432"/>
                    <a:pt x="436552" y="528794"/>
                    <a:pt x="420396" y="517985"/>
                  </a:cubicBezTo>
                  <a:cubicBezTo>
                    <a:pt x="404480" y="527209"/>
                    <a:pt x="387278" y="534009"/>
                    <a:pt x="369357" y="538160"/>
                  </a:cubicBezTo>
                  <a:cubicBezTo>
                    <a:pt x="365738" y="546270"/>
                    <a:pt x="363024" y="554756"/>
                    <a:pt x="361261" y="563459"/>
                  </a:cubicBezTo>
                  <a:cubicBezTo>
                    <a:pt x="359082" y="574856"/>
                    <a:pt x="355690" y="585987"/>
                    <a:pt x="351142" y="596663"/>
                  </a:cubicBezTo>
                  <a:close/>
                  <a:moveTo>
                    <a:pt x="259056" y="585026"/>
                  </a:moveTo>
                  <a:lnTo>
                    <a:pt x="338809" y="585026"/>
                  </a:lnTo>
                  <a:cubicBezTo>
                    <a:pt x="341634" y="576740"/>
                    <a:pt x="343957" y="568291"/>
                    <a:pt x="345766" y="559727"/>
                  </a:cubicBezTo>
                  <a:cubicBezTo>
                    <a:pt x="347926" y="548210"/>
                    <a:pt x="351851" y="537095"/>
                    <a:pt x="357403" y="526776"/>
                  </a:cubicBezTo>
                  <a:lnTo>
                    <a:pt x="359301" y="523803"/>
                  </a:lnTo>
                  <a:lnTo>
                    <a:pt x="362779" y="523171"/>
                  </a:lnTo>
                  <a:cubicBezTo>
                    <a:pt x="381877" y="519133"/>
                    <a:pt x="400144" y="511861"/>
                    <a:pt x="416791" y="501667"/>
                  </a:cubicBezTo>
                  <a:lnTo>
                    <a:pt x="421092" y="499137"/>
                  </a:lnTo>
                  <a:lnTo>
                    <a:pt x="425203" y="501920"/>
                  </a:lnTo>
                  <a:cubicBezTo>
                    <a:pt x="440490" y="512398"/>
                    <a:pt x="456512" y="521761"/>
                    <a:pt x="473143" y="529938"/>
                  </a:cubicBezTo>
                  <a:cubicBezTo>
                    <a:pt x="507612" y="496038"/>
                    <a:pt x="523044" y="479721"/>
                    <a:pt x="529559" y="472005"/>
                  </a:cubicBezTo>
                  <a:cubicBezTo>
                    <a:pt x="525638" y="466376"/>
                    <a:pt x="521274" y="459356"/>
                    <a:pt x="516910" y="451197"/>
                  </a:cubicBezTo>
                  <a:cubicBezTo>
                    <a:pt x="506853" y="433615"/>
                    <a:pt x="503185" y="427480"/>
                    <a:pt x="501920" y="425393"/>
                  </a:cubicBezTo>
                  <a:lnTo>
                    <a:pt x="498631" y="420206"/>
                  </a:lnTo>
                  <a:lnTo>
                    <a:pt x="502869" y="415716"/>
                  </a:lnTo>
                  <a:cubicBezTo>
                    <a:pt x="509006" y="408080"/>
                    <a:pt x="513583" y="399312"/>
                    <a:pt x="516340" y="389912"/>
                  </a:cubicBezTo>
                  <a:cubicBezTo>
                    <a:pt x="520091" y="379022"/>
                    <a:pt x="524702" y="368448"/>
                    <a:pt x="530128" y="358289"/>
                  </a:cubicBezTo>
                  <a:lnTo>
                    <a:pt x="532089" y="355126"/>
                  </a:lnTo>
                  <a:lnTo>
                    <a:pt x="535820" y="354620"/>
                  </a:lnTo>
                  <a:cubicBezTo>
                    <a:pt x="545145" y="353140"/>
                    <a:pt x="554358" y="351027"/>
                    <a:pt x="563395" y="348296"/>
                  </a:cubicBezTo>
                  <a:cubicBezTo>
                    <a:pt x="572756" y="345513"/>
                    <a:pt x="580219" y="343426"/>
                    <a:pt x="585531" y="341971"/>
                  </a:cubicBezTo>
                  <a:lnTo>
                    <a:pt x="585531" y="261838"/>
                  </a:lnTo>
                  <a:cubicBezTo>
                    <a:pt x="579839" y="260447"/>
                    <a:pt x="572123" y="258297"/>
                    <a:pt x="562130" y="255514"/>
                  </a:cubicBezTo>
                  <a:cubicBezTo>
                    <a:pt x="553523" y="252704"/>
                    <a:pt x="544703" y="250590"/>
                    <a:pt x="535757" y="249189"/>
                  </a:cubicBezTo>
                  <a:cubicBezTo>
                    <a:pt x="527978" y="251087"/>
                    <a:pt x="527851" y="250897"/>
                    <a:pt x="504134" y="182022"/>
                  </a:cubicBezTo>
                  <a:lnTo>
                    <a:pt x="502806" y="178290"/>
                  </a:lnTo>
                  <a:lnTo>
                    <a:pt x="505019" y="175002"/>
                  </a:lnTo>
                  <a:cubicBezTo>
                    <a:pt x="511344" y="165325"/>
                    <a:pt x="520957" y="149703"/>
                    <a:pt x="532721" y="127883"/>
                  </a:cubicBezTo>
                  <a:cubicBezTo>
                    <a:pt x="525764" y="121559"/>
                    <a:pt x="516214" y="112451"/>
                    <a:pt x="503881" y="99739"/>
                  </a:cubicBezTo>
                  <a:cubicBezTo>
                    <a:pt x="495063" y="89814"/>
                    <a:pt x="485203" y="80866"/>
                    <a:pt x="474472" y="73049"/>
                  </a:cubicBezTo>
                  <a:cubicBezTo>
                    <a:pt x="469538" y="75516"/>
                    <a:pt x="462328" y="79690"/>
                    <a:pt x="453031" y="85698"/>
                  </a:cubicBezTo>
                  <a:cubicBezTo>
                    <a:pt x="443673" y="92016"/>
                    <a:pt x="433388" y="96838"/>
                    <a:pt x="422547" y="99992"/>
                  </a:cubicBezTo>
                  <a:lnTo>
                    <a:pt x="418752" y="101004"/>
                  </a:lnTo>
                  <a:lnTo>
                    <a:pt x="416222" y="98601"/>
                  </a:lnTo>
                  <a:cubicBezTo>
                    <a:pt x="408397" y="93265"/>
                    <a:pt x="399887" y="89010"/>
                    <a:pt x="390924" y="85951"/>
                  </a:cubicBezTo>
                  <a:cubicBezTo>
                    <a:pt x="374733" y="79627"/>
                    <a:pt x="365056" y="76022"/>
                    <a:pt x="361261" y="74314"/>
                  </a:cubicBezTo>
                  <a:lnTo>
                    <a:pt x="357846" y="72733"/>
                  </a:lnTo>
                  <a:lnTo>
                    <a:pt x="356454" y="69065"/>
                  </a:lnTo>
                  <a:cubicBezTo>
                    <a:pt x="349750" y="43450"/>
                    <a:pt x="344691" y="25551"/>
                    <a:pt x="341339" y="15812"/>
                  </a:cubicBezTo>
                  <a:lnTo>
                    <a:pt x="262597" y="15812"/>
                  </a:lnTo>
                  <a:cubicBezTo>
                    <a:pt x="260574" y="22642"/>
                    <a:pt x="258233" y="30927"/>
                    <a:pt x="255767" y="40477"/>
                  </a:cubicBezTo>
                  <a:cubicBezTo>
                    <a:pt x="252605" y="52368"/>
                    <a:pt x="248494" y="67483"/>
                    <a:pt x="247039" y="72100"/>
                  </a:cubicBezTo>
                  <a:lnTo>
                    <a:pt x="245395" y="77413"/>
                  </a:lnTo>
                  <a:lnTo>
                    <a:pt x="239892" y="77413"/>
                  </a:lnTo>
                  <a:cubicBezTo>
                    <a:pt x="238184" y="77413"/>
                    <a:pt x="229077" y="79374"/>
                    <a:pt x="183603" y="99233"/>
                  </a:cubicBezTo>
                  <a:lnTo>
                    <a:pt x="179429" y="101067"/>
                  </a:lnTo>
                  <a:lnTo>
                    <a:pt x="175887" y="98664"/>
                  </a:lnTo>
                  <a:cubicBezTo>
                    <a:pt x="160909" y="88053"/>
                    <a:pt x="145038" y="78763"/>
                    <a:pt x="128453" y="70899"/>
                  </a:cubicBezTo>
                  <a:cubicBezTo>
                    <a:pt x="94047" y="104546"/>
                    <a:pt x="78552" y="120863"/>
                    <a:pt x="71847" y="128642"/>
                  </a:cubicBezTo>
                  <a:cubicBezTo>
                    <a:pt x="82260" y="143775"/>
                    <a:pt x="91662" y="159579"/>
                    <a:pt x="99992" y="175950"/>
                  </a:cubicBezTo>
                  <a:lnTo>
                    <a:pt x="102269" y="180188"/>
                  </a:lnTo>
                  <a:lnTo>
                    <a:pt x="99549" y="184172"/>
                  </a:lnTo>
                  <a:cubicBezTo>
                    <a:pt x="93979" y="192851"/>
                    <a:pt x="89296" y="202068"/>
                    <a:pt x="85572" y="211684"/>
                  </a:cubicBezTo>
                  <a:cubicBezTo>
                    <a:pt x="79247" y="227116"/>
                    <a:pt x="74504" y="236983"/>
                    <a:pt x="71658" y="242232"/>
                  </a:cubicBezTo>
                  <a:lnTo>
                    <a:pt x="69760" y="245711"/>
                  </a:lnTo>
                  <a:lnTo>
                    <a:pt x="65839" y="246217"/>
                  </a:lnTo>
                  <a:cubicBezTo>
                    <a:pt x="56507" y="247659"/>
                    <a:pt x="47292" y="249773"/>
                    <a:pt x="38264" y="252541"/>
                  </a:cubicBezTo>
                  <a:cubicBezTo>
                    <a:pt x="28650" y="255324"/>
                    <a:pt x="21314" y="257411"/>
                    <a:pt x="16064" y="258866"/>
                  </a:cubicBezTo>
                  <a:lnTo>
                    <a:pt x="16064" y="338999"/>
                  </a:lnTo>
                  <a:cubicBezTo>
                    <a:pt x="21820" y="340390"/>
                    <a:pt x="29536" y="342540"/>
                    <a:pt x="39529" y="345323"/>
                  </a:cubicBezTo>
                  <a:cubicBezTo>
                    <a:pt x="49083" y="348043"/>
                    <a:pt x="58800" y="350156"/>
                    <a:pt x="68622" y="351648"/>
                  </a:cubicBezTo>
                  <a:lnTo>
                    <a:pt x="74567" y="352407"/>
                  </a:lnTo>
                  <a:lnTo>
                    <a:pt x="75452" y="358352"/>
                  </a:lnTo>
                  <a:cubicBezTo>
                    <a:pt x="77200" y="368796"/>
                    <a:pt x="80327" y="378962"/>
                    <a:pt x="84750" y="388583"/>
                  </a:cubicBezTo>
                  <a:cubicBezTo>
                    <a:pt x="94679" y="410593"/>
                    <a:pt x="96893" y="416222"/>
                    <a:pt x="97399" y="418625"/>
                  </a:cubicBezTo>
                  <a:lnTo>
                    <a:pt x="98537" y="421977"/>
                  </a:lnTo>
                  <a:lnTo>
                    <a:pt x="96766" y="425076"/>
                  </a:lnTo>
                  <a:cubicBezTo>
                    <a:pt x="80259" y="453411"/>
                    <a:pt x="73555" y="466566"/>
                    <a:pt x="70836" y="472637"/>
                  </a:cubicBezTo>
                  <a:cubicBezTo>
                    <a:pt x="104672" y="506980"/>
                    <a:pt x="120420" y="521527"/>
                    <a:pt x="127757" y="527345"/>
                  </a:cubicBezTo>
                  <a:cubicBezTo>
                    <a:pt x="132627" y="524815"/>
                    <a:pt x="139584" y="521021"/>
                    <a:pt x="148628" y="515139"/>
                  </a:cubicBezTo>
                  <a:cubicBezTo>
                    <a:pt x="157902" y="509154"/>
                    <a:pt x="167888" y="504351"/>
                    <a:pt x="178354" y="500845"/>
                  </a:cubicBezTo>
                  <a:lnTo>
                    <a:pt x="181959" y="499770"/>
                  </a:lnTo>
                  <a:lnTo>
                    <a:pt x="185058" y="501857"/>
                  </a:lnTo>
                  <a:cubicBezTo>
                    <a:pt x="186196" y="502489"/>
                    <a:pt x="195240" y="506727"/>
                    <a:pt x="240019" y="526460"/>
                  </a:cubicBezTo>
                  <a:lnTo>
                    <a:pt x="243054" y="527788"/>
                  </a:lnTo>
                  <a:lnTo>
                    <a:pt x="244193" y="530887"/>
                  </a:lnTo>
                  <a:cubicBezTo>
                    <a:pt x="247661" y="540971"/>
                    <a:pt x="250512" y="551258"/>
                    <a:pt x="252731" y="561688"/>
                  </a:cubicBezTo>
                  <a:cubicBezTo>
                    <a:pt x="254324" y="569600"/>
                    <a:pt x="256437" y="577392"/>
                    <a:pt x="259056" y="585026"/>
                  </a:cubicBezTo>
                  <a:close/>
                </a:path>
              </a:pathLst>
            </a:custGeom>
            <a:grpFill/>
            <a:ln w="6271" cap="flat">
              <a:noFill/>
              <a:prstDash val="solid"/>
              <a:miter/>
            </a:ln>
          </p:spPr>
          <p:txBody>
            <a:bodyPr rtlCol="0" anchor="ctr"/>
            <a:lstStyle/>
            <a:p>
              <a:endParaRPr lang="en-US"/>
            </a:p>
          </p:txBody>
        </p:sp>
      </p:grpSp>
      <p:grpSp>
        <p:nvGrpSpPr>
          <p:cNvPr id="591" name="Group 590">
            <a:extLst>
              <a:ext uri="{FF2B5EF4-FFF2-40B4-BE49-F238E27FC236}">
                <a16:creationId xmlns:a16="http://schemas.microsoft.com/office/drawing/2014/main" id="{7A2BF3F2-CB68-8A69-4E21-76D73D35EC1E}"/>
              </a:ext>
            </a:extLst>
          </p:cNvPr>
          <p:cNvGrpSpPr/>
          <p:nvPr/>
        </p:nvGrpSpPr>
        <p:grpSpPr>
          <a:xfrm>
            <a:off x="2387808" y="2806754"/>
            <a:ext cx="827027" cy="809283"/>
            <a:chOff x="-994175" y="2806754"/>
            <a:chExt cx="827027" cy="809283"/>
          </a:xfrm>
        </p:grpSpPr>
        <p:grpSp>
          <p:nvGrpSpPr>
            <p:cNvPr id="595" name="Group 594">
              <a:extLst>
                <a:ext uri="{FF2B5EF4-FFF2-40B4-BE49-F238E27FC236}">
                  <a16:creationId xmlns:a16="http://schemas.microsoft.com/office/drawing/2014/main" id="{26553394-A992-C5F4-A41A-797011A1909E}"/>
                </a:ext>
              </a:extLst>
            </p:cNvPr>
            <p:cNvGrpSpPr/>
            <p:nvPr/>
          </p:nvGrpSpPr>
          <p:grpSpPr>
            <a:xfrm>
              <a:off x="-994175" y="2806754"/>
              <a:ext cx="827027" cy="809283"/>
              <a:chOff x="4149692" y="2007646"/>
              <a:chExt cx="827027" cy="809283"/>
            </a:xfrm>
          </p:grpSpPr>
          <p:sp>
            <p:nvSpPr>
              <p:cNvPr id="598" name="Oval 597">
                <a:extLst>
                  <a:ext uri="{FF2B5EF4-FFF2-40B4-BE49-F238E27FC236}">
                    <a16:creationId xmlns:a16="http://schemas.microsoft.com/office/drawing/2014/main" id="{6AA39EA3-9EF3-FEEB-EE40-E88D2EFFE18D}"/>
                  </a:ext>
                </a:extLst>
              </p:cNvPr>
              <p:cNvSpPr/>
              <p:nvPr/>
            </p:nvSpPr>
            <p:spPr>
              <a:xfrm>
                <a:off x="4167067" y="2007646"/>
                <a:ext cx="792277" cy="792277"/>
              </a:xfrm>
              <a:prstGeom prst="ellipse">
                <a:avLst/>
              </a:prstGeom>
              <a:solidFill>
                <a:schemeClr val="bg2"/>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99" name="Oval 598">
                <a:extLst>
                  <a:ext uri="{FF2B5EF4-FFF2-40B4-BE49-F238E27FC236}">
                    <a16:creationId xmlns:a16="http://schemas.microsoft.com/office/drawing/2014/main" id="{21EF673A-2E66-7CD9-C27A-66B94DB73AD9}"/>
                  </a:ext>
                </a:extLst>
              </p:cNvPr>
              <p:cNvSpPr/>
              <p:nvPr/>
            </p:nvSpPr>
            <p:spPr>
              <a:xfrm>
                <a:off x="4223850" y="2064429"/>
                <a:ext cx="678711" cy="678711"/>
              </a:xfrm>
              <a:prstGeom prst="ellipse">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600" name="Rectangle 599">
                <a:extLst>
                  <a:ext uri="{FF2B5EF4-FFF2-40B4-BE49-F238E27FC236}">
                    <a16:creationId xmlns:a16="http://schemas.microsoft.com/office/drawing/2014/main" id="{06BBE42D-8CDB-9B2A-B97C-F840F7B50AB3}"/>
                  </a:ext>
                </a:extLst>
              </p:cNvPr>
              <p:cNvSpPr/>
              <p:nvPr/>
            </p:nvSpPr>
            <p:spPr>
              <a:xfrm>
                <a:off x="4149692" y="2403784"/>
                <a:ext cx="827027" cy="41314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cxnSp>
          <p:nvCxnSpPr>
            <p:cNvPr id="596" name="Straight Connector 595">
              <a:extLst>
                <a:ext uri="{FF2B5EF4-FFF2-40B4-BE49-F238E27FC236}">
                  <a16:creationId xmlns:a16="http://schemas.microsoft.com/office/drawing/2014/main" id="{3EA796DE-B64E-7F4A-883C-C25D4F9B1B06}"/>
                </a:ext>
              </a:extLst>
            </p:cNvPr>
            <p:cNvCxnSpPr>
              <a:cxnSpLocks/>
            </p:cNvCxnSpPr>
            <p:nvPr/>
          </p:nvCxnSpPr>
          <p:spPr bwMode="gray">
            <a:xfrm flipH="1">
              <a:off x="-316706" y="2964108"/>
              <a:ext cx="63904" cy="45792"/>
            </a:xfrm>
            <a:prstGeom prst="line">
              <a:avLst/>
            </a:prstGeom>
            <a:ln w="254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97" name="Straight Connector 596">
              <a:extLst>
                <a:ext uri="{FF2B5EF4-FFF2-40B4-BE49-F238E27FC236}">
                  <a16:creationId xmlns:a16="http://schemas.microsoft.com/office/drawing/2014/main" id="{A4982C34-5C9D-504A-F114-1EAF33C0BDEA}"/>
                </a:ext>
              </a:extLst>
            </p:cNvPr>
            <p:cNvCxnSpPr>
              <a:cxnSpLocks/>
            </p:cNvCxnSpPr>
            <p:nvPr/>
          </p:nvCxnSpPr>
          <p:spPr bwMode="gray">
            <a:xfrm flipH="1">
              <a:off x="-490538" y="2814638"/>
              <a:ext cx="21432" cy="69056"/>
            </a:xfrm>
            <a:prstGeom prst="line">
              <a:avLst/>
            </a:prstGeom>
            <a:ln w="254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672" name="Group 671">
            <a:extLst>
              <a:ext uri="{FF2B5EF4-FFF2-40B4-BE49-F238E27FC236}">
                <a16:creationId xmlns:a16="http://schemas.microsoft.com/office/drawing/2014/main" id="{61B7A533-0C9C-6A08-245E-3B6FE1B505ED}"/>
              </a:ext>
            </a:extLst>
          </p:cNvPr>
          <p:cNvGrpSpPr/>
          <p:nvPr/>
        </p:nvGrpSpPr>
        <p:grpSpPr>
          <a:xfrm>
            <a:off x="2375679" y="2789901"/>
            <a:ext cx="839156" cy="826136"/>
            <a:chOff x="-607649" y="2789901"/>
            <a:chExt cx="839156" cy="826136"/>
          </a:xfrm>
        </p:grpSpPr>
        <p:sp>
          <p:nvSpPr>
            <p:cNvPr id="671" name="Rectangle 670">
              <a:extLst>
                <a:ext uri="{FF2B5EF4-FFF2-40B4-BE49-F238E27FC236}">
                  <a16:creationId xmlns:a16="http://schemas.microsoft.com/office/drawing/2014/main" id="{50745EBC-2A57-BB10-5E64-3A5F89C3F563}"/>
                </a:ext>
              </a:extLst>
            </p:cNvPr>
            <p:cNvSpPr/>
            <p:nvPr/>
          </p:nvSpPr>
          <p:spPr>
            <a:xfrm>
              <a:off x="-607649" y="2789901"/>
              <a:ext cx="827027" cy="41314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nvGrpSpPr>
            <p:cNvPr id="631" name="Group 630">
              <a:extLst>
                <a:ext uri="{FF2B5EF4-FFF2-40B4-BE49-F238E27FC236}">
                  <a16:creationId xmlns:a16="http://schemas.microsoft.com/office/drawing/2014/main" id="{E9C07E62-B253-BF24-0687-734A6CC79026}"/>
                </a:ext>
              </a:extLst>
            </p:cNvPr>
            <p:cNvGrpSpPr/>
            <p:nvPr/>
          </p:nvGrpSpPr>
          <p:grpSpPr>
            <a:xfrm>
              <a:off x="-607649" y="2806754"/>
              <a:ext cx="827027" cy="809283"/>
              <a:chOff x="-994175" y="2806754"/>
              <a:chExt cx="827027" cy="809283"/>
            </a:xfrm>
          </p:grpSpPr>
          <p:grpSp>
            <p:nvGrpSpPr>
              <p:cNvPr id="635" name="Group 634">
                <a:extLst>
                  <a:ext uri="{FF2B5EF4-FFF2-40B4-BE49-F238E27FC236}">
                    <a16:creationId xmlns:a16="http://schemas.microsoft.com/office/drawing/2014/main" id="{53ED3E12-2BDC-D4CC-0E02-8B7A62749E5D}"/>
                  </a:ext>
                </a:extLst>
              </p:cNvPr>
              <p:cNvGrpSpPr/>
              <p:nvPr/>
            </p:nvGrpSpPr>
            <p:grpSpPr>
              <a:xfrm>
                <a:off x="-994175" y="2806754"/>
                <a:ext cx="827027" cy="809283"/>
                <a:chOff x="4149692" y="2007646"/>
                <a:chExt cx="827027" cy="809283"/>
              </a:xfrm>
            </p:grpSpPr>
            <p:sp>
              <p:nvSpPr>
                <p:cNvPr id="638" name="Oval 637">
                  <a:extLst>
                    <a:ext uri="{FF2B5EF4-FFF2-40B4-BE49-F238E27FC236}">
                      <a16:creationId xmlns:a16="http://schemas.microsoft.com/office/drawing/2014/main" id="{93460BAE-F15C-0211-21FD-4F58BB6E9B58}"/>
                    </a:ext>
                  </a:extLst>
                </p:cNvPr>
                <p:cNvSpPr/>
                <p:nvPr/>
              </p:nvSpPr>
              <p:spPr>
                <a:xfrm>
                  <a:off x="4167067" y="2007646"/>
                  <a:ext cx="792277" cy="792277"/>
                </a:xfrm>
                <a:prstGeom prst="ellipse">
                  <a:avLst/>
                </a:prstGeom>
                <a:solidFill>
                  <a:schemeClr val="bg2"/>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639" name="Oval 638">
                  <a:extLst>
                    <a:ext uri="{FF2B5EF4-FFF2-40B4-BE49-F238E27FC236}">
                      <a16:creationId xmlns:a16="http://schemas.microsoft.com/office/drawing/2014/main" id="{603EA088-E55B-325D-FE1A-C88DF8C1E00D}"/>
                    </a:ext>
                  </a:extLst>
                </p:cNvPr>
                <p:cNvSpPr/>
                <p:nvPr/>
              </p:nvSpPr>
              <p:spPr>
                <a:xfrm>
                  <a:off x="4223850" y="2064429"/>
                  <a:ext cx="678711" cy="678711"/>
                </a:xfrm>
                <a:prstGeom prst="ellipse">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640" name="Rectangle 639">
                  <a:extLst>
                    <a:ext uri="{FF2B5EF4-FFF2-40B4-BE49-F238E27FC236}">
                      <a16:creationId xmlns:a16="http://schemas.microsoft.com/office/drawing/2014/main" id="{1E5413AB-AAF2-C8B7-7C05-194EFABE53BE}"/>
                    </a:ext>
                  </a:extLst>
                </p:cNvPr>
                <p:cNvSpPr/>
                <p:nvPr/>
              </p:nvSpPr>
              <p:spPr>
                <a:xfrm>
                  <a:off x="4149692" y="2403784"/>
                  <a:ext cx="827027" cy="41314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cxnSp>
            <p:nvCxnSpPr>
              <p:cNvPr id="636" name="Straight Connector 635">
                <a:extLst>
                  <a:ext uri="{FF2B5EF4-FFF2-40B4-BE49-F238E27FC236}">
                    <a16:creationId xmlns:a16="http://schemas.microsoft.com/office/drawing/2014/main" id="{45E2F6DC-BA4D-14BD-7C94-13BBB9A65D4A}"/>
                  </a:ext>
                </a:extLst>
              </p:cNvPr>
              <p:cNvCxnSpPr>
                <a:cxnSpLocks/>
              </p:cNvCxnSpPr>
              <p:nvPr/>
            </p:nvCxnSpPr>
            <p:spPr bwMode="gray">
              <a:xfrm flipH="1">
                <a:off x="-316706" y="2964108"/>
                <a:ext cx="63904" cy="45792"/>
              </a:xfrm>
              <a:prstGeom prst="line">
                <a:avLst/>
              </a:prstGeom>
              <a:ln w="254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37" name="Straight Connector 636">
                <a:extLst>
                  <a:ext uri="{FF2B5EF4-FFF2-40B4-BE49-F238E27FC236}">
                    <a16:creationId xmlns:a16="http://schemas.microsoft.com/office/drawing/2014/main" id="{639CD30F-9420-CC93-7A44-DE2AB3A4389F}"/>
                  </a:ext>
                </a:extLst>
              </p:cNvPr>
              <p:cNvCxnSpPr>
                <a:cxnSpLocks/>
              </p:cNvCxnSpPr>
              <p:nvPr/>
            </p:nvCxnSpPr>
            <p:spPr bwMode="gray">
              <a:xfrm flipH="1">
                <a:off x="-490538" y="2814638"/>
                <a:ext cx="21432" cy="69056"/>
              </a:xfrm>
              <a:prstGeom prst="line">
                <a:avLst/>
              </a:prstGeom>
              <a:ln w="254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632" name="Text Placeholder 34">
              <a:extLst>
                <a:ext uri="{FF2B5EF4-FFF2-40B4-BE49-F238E27FC236}">
                  <a16:creationId xmlns:a16="http://schemas.microsoft.com/office/drawing/2014/main" id="{603A8A37-9F6B-BF4B-B2AF-E3F1CD5ADE6B}"/>
                </a:ext>
              </a:extLst>
            </p:cNvPr>
            <p:cNvSpPr txBox="1">
              <a:spLocks/>
            </p:cNvSpPr>
            <p:nvPr/>
          </p:nvSpPr>
          <p:spPr>
            <a:xfrm>
              <a:off x="-393005" y="3014926"/>
              <a:ext cx="397738" cy="180008"/>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500"/>
                </a:spcBef>
                <a:spcAft>
                  <a:spcPts val="0"/>
                </a:spcAft>
                <a:buClr>
                  <a:srgbClr val="717074">
                    <a:lumMod val="60000"/>
                    <a:lumOff val="40000"/>
                  </a:srgbClr>
                </a:buClr>
                <a:buSzPct val="90000"/>
                <a:buFont typeface="Arial" panose="020B0604020202020204" pitchFamily="34" charset="0"/>
                <a:buChar char="​"/>
                <a:tabLst/>
                <a:defRPr/>
              </a:pPr>
              <a:r>
                <a:rPr kumimoji="0" lang="en-US" sz="1600" b="0" i="0" u="none" strike="noStrike" kern="1200" cap="none" spc="0" normalizeH="0" baseline="0" noProof="0" dirty="0">
                  <a:ln>
                    <a:noFill/>
                  </a:ln>
                  <a:solidFill>
                    <a:schemeClr val="accent4"/>
                  </a:solidFill>
                  <a:effectLst/>
                  <a:uLnTx/>
                  <a:uFillTx/>
                  <a:latin typeface="Arial" panose="020B0604020202020204" pitchFamily="34" charset="0"/>
                  <a:ea typeface="+mn-ea"/>
                  <a:cs typeface="+mn-cs"/>
                </a:rPr>
                <a:t>92</a:t>
              </a:r>
            </a:p>
          </p:txBody>
        </p:sp>
        <p:sp>
          <p:nvSpPr>
            <p:cNvPr id="633" name="Arc 632">
              <a:extLst>
                <a:ext uri="{FF2B5EF4-FFF2-40B4-BE49-F238E27FC236}">
                  <a16:creationId xmlns:a16="http://schemas.microsoft.com/office/drawing/2014/main" id="{F94A5F8F-24AB-7A11-1B47-0334AAC92259}"/>
                </a:ext>
              </a:extLst>
            </p:cNvPr>
            <p:cNvSpPr/>
            <p:nvPr/>
          </p:nvSpPr>
          <p:spPr bwMode="gray">
            <a:xfrm>
              <a:off x="-560930" y="2834565"/>
              <a:ext cx="735806" cy="731837"/>
            </a:xfrm>
            <a:prstGeom prst="arc">
              <a:avLst>
                <a:gd name="adj1" fmla="val 19614901"/>
                <a:gd name="adj2" fmla="val 34278"/>
              </a:avLst>
            </a:prstGeom>
            <a:ln w="4445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34" name="Oval 633">
              <a:extLst>
                <a:ext uri="{FF2B5EF4-FFF2-40B4-BE49-F238E27FC236}">
                  <a16:creationId xmlns:a16="http://schemas.microsoft.com/office/drawing/2014/main" id="{E7472E99-54A7-31FD-6CB3-CC0719E0B9F5}"/>
                </a:ext>
              </a:extLst>
            </p:cNvPr>
            <p:cNvSpPr/>
            <p:nvPr/>
          </p:nvSpPr>
          <p:spPr>
            <a:xfrm>
              <a:off x="103911" y="3058290"/>
              <a:ext cx="127596" cy="127596"/>
            </a:xfrm>
            <a:prstGeom prst="ellipse">
              <a:avLst/>
            </a:prstGeom>
            <a:solidFill>
              <a:schemeClr val="bg1"/>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grpSp>
        <p:nvGrpSpPr>
          <p:cNvPr id="674" name="Group 673">
            <a:extLst>
              <a:ext uri="{FF2B5EF4-FFF2-40B4-BE49-F238E27FC236}">
                <a16:creationId xmlns:a16="http://schemas.microsoft.com/office/drawing/2014/main" id="{FEA103A1-342B-AB81-15FF-434F4DC8AAE6}"/>
              </a:ext>
            </a:extLst>
          </p:cNvPr>
          <p:cNvGrpSpPr/>
          <p:nvPr/>
        </p:nvGrpSpPr>
        <p:grpSpPr>
          <a:xfrm>
            <a:off x="2387808" y="2789901"/>
            <a:ext cx="827027" cy="848817"/>
            <a:chOff x="-607649" y="3754658"/>
            <a:chExt cx="827027" cy="848817"/>
          </a:xfrm>
        </p:grpSpPr>
        <p:sp>
          <p:nvSpPr>
            <p:cNvPr id="673" name="Rectangle 672">
              <a:extLst>
                <a:ext uri="{FF2B5EF4-FFF2-40B4-BE49-F238E27FC236}">
                  <a16:creationId xmlns:a16="http://schemas.microsoft.com/office/drawing/2014/main" id="{4270F7B8-E34C-26F5-19BA-D8D8936EFB36}"/>
                </a:ext>
              </a:extLst>
            </p:cNvPr>
            <p:cNvSpPr/>
            <p:nvPr/>
          </p:nvSpPr>
          <p:spPr>
            <a:xfrm>
              <a:off x="-607649" y="3776817"/>
              <a:ext cx="827027" cy="41314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nvGrpSpPr>
            <p:cNvPr id="642" name="Group 641">
              <a:extLst>
                <a:ext uri="{FF2B5EF4-FFF2-40B4-BE49-F238E27FC236}">
                  <a16:creationId xmlns:a16="http://schemas.microsoft.com/office/drawing/2014/main" id="{6B7CB23F-E77C-B2B9-6195-1B9CB6266084}"/>
                </a:ext>
              </a:extLst>
            </p:cNvPr>
            <p:cNvGrpSpPr/>
            <p:nvPr/>
          </p:nvGrpSpPr>
          <p:grpSpPr>
            <a:xfrm>
              <a:off x="-607649" y="3794192"/>
              <a:ext cx="827027" cy="809283"/>
              <a:chOff x="-994175" y="2806754"/>
              <a:chExt cx="827027" cy="809283"/>
            </a:xfrm>
          </p:grpSpPr>
          <p:grpSp>
            <p:nvGrpSpPr>
              <p:cNvPr id="646" name="Group 645">
                <a:extLst>
                  <a:ext uri="{FF2B5EF4-FFF2-40B4-BE49-F238E27FC236}">
                    <a16:creationId xmlns:a16="http://schemas.microsoft.com/office/drawing/2014/main" id="{41341D34-BC4D-BF35-A502-9BD3ABFC8008}"/>
                  </a:ext>
                </a:extLst>
              </p:cNvPr>
              <p:cNvGrpSpPr/>
              <p:nvPr/>
            </p:nvGrpSpPr>
            <p:grpSpPr>
              <a:xfrm>
                <a:off x="-994175" y="2806754"/>
                <a:ext cx="827027" cy="809283"/>
                <a:chOff x="4149692" y="2007646"/>
                <a:chExt cx="827027" cy="809283"/>
              </a:xfrm>
            </p:grpSpPr>
            <p:sp>
              <p:nvSpPr>
                <p:cNvPr id="649" name="Oval 648">
                  <a:extLst>
                    <a:ext uri="{FF2B5EF4-FFF2-40B4-BE49-F238E27FC236}">
                      <a16:creationId xmlns:a16="http://schemas.microsoft.com/office/drawing/2014/main" id="{654B1BB1-1A23-6492-6002-B8325AC64432}"/>
                    </a:ext>
                  </a:extLst>
                </p:cNvPr>
                <p:cNvSpPr/>
                <p:nvPr/>
              </p:nvSpPr>
              <p:spPr>
                <a:xfrm>
                  <a:off x="4167067" y="2007646"/>
                  <a:ext cx="792277" cy="792277"/>
                </a:xfrm>
                <a:prstGeom prst="ellipse">
                  <a:avLst/>
                </a:prstGeom>
                <a:solidFill>
                  <a:schemeClr val="bg2"/>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650" name="Oval 649">
                  <a:extLst>
                    <a:ext uri="{FF2B5EF4-FFF2-40B4-BE49-F238E27FC236}">
                      <a16:creationId xmlns:a16="http://schemas.microsoft.com/office/drawing/2014/main" id="{86D712CE-B7C4-C085-411D-57BDE968D553}"/>
                    </a:ext>
                  </a:extLst>
                </p:cNvPr>
                <p:cNvSpPr/>
                <p:nvPr/>
              </p:nvSpPr>
              <p:spPr>
                <a:xfrm>
                  <a:off x="4223850" y="2064429"/>
                  <a:ext cx="678711" cy="678711"/>
                </a:xfrm>
                <a:prstGeom prst="ellipse">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651" name="Rectangle 650">
                  <a:extLst>
                    <a:ext uri="{FF2B5EF4-FFF2-40B4-BE49-F238E27FC236}">
                      <a16:creationId xmlns:a16="http://schemas.microsoft.com/office/drawing/2014/main" id="{6766BDDB-75F4-D6E9-B331-1F216AAF9FC1}"/>
                    </a:ext>
                  </a:extLst>
                </p:cNvPr>
                <p:cNvSpPr/>
                <p:nvPr/>
              </p:nvSpPr>
              <p:spPr>
                <a:xfrm>
                  <a:off x="4149692" y="2403784"/>
                  <a:ext cx="827027" cy="41314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cxnSp>
            <p:nvCxnSpPr>
              <p:cNvPr id="647" name="Straight Connector 646">
                <a:extLst>
                  <a:ext uri="{FF2B5EF4-FFF2-40B4-BE49-F238E27FC236}">
                    <a16:creationId xmlns:a16="http://schemas.microsoft.com/office/drawing/2014/main" id="{3D75DA22-E774-13B9-F9B8-713A8AAA03F1}"/>
                  </a:ext>
                </a:extLst>
              </p:cNvPr>
              <p:cNvCxnSpPr>
                <a:cxnSpLocks/>
              </p:cNvCxnSpPr>
              <p:nvPr/>
            </p:nvCxnSpPr>
            <p:spPr bwMode="gray">
              <a:xfrm flipH="1">
                <a:off x="-316706" y="2964108"/>
                <a:ext cx="63904" cy="45792"/>
              </a:xfrm>
              <a:prstGeom prst="line">
                <a:avLst/>
              </a:prstGeom>
              <a:ln w="254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48" name="Straight Connector 647">
                <a:extLst>
                  <a:ext uri="{FF2B5EF4-FFF2-40B4-BE49-F238E27FC236}">
                    <a16:creationId xmlns:a16="http://schemas.microsoft.com/office/drawing/2014/main" id="{C7770F95-1777-5FF4-890E-02CE30D16208}"/>
                  </a:ext>
                </a:extLst>
              </p:cNvPr>
              <p:cNvCxnSpPr>
                <a:cxnSpLocks/>
              </p:cNvCxnSpPr>
              <p:nvPr/>
            </p:nvCxnSpPr>
            <p:spPr bwMode="gray">
              <a:xfrm flipH="1">
                <a:off x="-490538" y="2814638"/>
                <a:ext cx="21432" cy="69056"/>
              </a:xfrm>
              <a:prstGeom prst="line">
                <a:avLst/>
              </a:prstGeom>
              <a:ln w="254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643" name="Text Placeholder 34">
              <a:extLst>
                <a:ext uri="{FF2B5EF4-FFF2-40B4-BE49-F238E27FC236}">
                  <a16:creationId xmlns:a16="http://schemas.microsoft.com/office/drawing/2014/main" id="{ED038DAF-6577-C257-EDEA-9A4D932AF96D}"/>
                </a:ext>
              </a:extLst>
            </p:cNvPr>
            <p:cNvSpPr txBox="1">
              <a:spLocks/>
            </p:cNvSpPr>
            <p:nvPr/>
          </p:nvSpPr>
          <p:spPr>
            <a:xfrm>
              <a:off x="-393005" y="4002364"/>
              <a:ext cx="397738" cy="180008"/>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500"/>
                </a:spcBef>
                <a:spcAft>
                  <a:spcPts val="0"/>
                </a:spcAft>
                <a:buClr>
                  <a:srgbClr val="717074">
                    <a:lumMod val="60000"/>
                    <a:lumOff val="40000"/>
                  </a:srgbClr>
                </a:buClr>
                <a:buSzPct val="90000"/>
                <a:buFont typeface="Arial" panose="020B0604020202020204" pitchFamily="34" charset="0"/>
                <a:buChar char="​"/>
                <a:tabLst/>
                <a:defRPr/>
              </a:pPr>
              <a:r>
                <a:rPr kumimoji="0" lang="en-US" sz="1600" b="0" i="0" u="none" strike="noStrike" kern="1200" cap="none" spc="0" normalizeH="0" baseline="0" noProof="0" dirty="0">
                  <a:ln>
                    <a:noFill/>
                  </a:ln>
                  <a:solidFill>
                    <a:srgbClr val="9F2842"/>
                  </a:solidFill>
                  <a:effectLst/>
                  <a:uLnTx/>
                  <a:uFillTx/>
                  <a:latin typeface="Arial" panose="020B0604020202020204" pitchFamily="34" charset="0"/>
                  <a:ea typeface="+mn-ea"/>
                  <a:cs typeface="+mn-cs"/>
                </a:rPr>
                <a:t>52</a:t>
              </a:r>
            </a:p>
          </p:txBody>
        </p:sp>
        <p:sp>
          <p:nvSpPr>
            <p:cNvPr id="644" name="Arc 643">
              <a:extLst>
                <a:ext uri="{FF2B5EF4-FFF2-40B4-BE49-F238E27FC236}">
                  <a16:creationId xmlns:a16="http://schemas.microsoft.com/office/drawing/2014/main" id="{35793374-1D7F-EBF5-5DDE-B9483B61A3B0}"/>
                </a:ext>
              </a:extLst>
            </p:cNvPr>
            <p:cNvSpPr/>
            <p:nvPr/>
          </p:nvSpPr>
          <p:spPr bwMode="gray">
            <a:xfrm rot="16200000">
              <a:off x="-563196" y="3824212"/>
              <a:ext cx="735806" cy="731837"/>
            </a:xfrm>
            <a:prstGeom prst="arc">
              <a:avLst>
                <a:gd name="adj1" fmla="val 16221201"/>
                <a:gd name="adj2" fmla="val 845249"/>
              </a:avLst>
            </a:prstGeom>
            <a:ln w="44450">
              <a:solidFill>
                <a:srgbClr val="9F2842"/>
              </a:solidFill>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45" name="Oval 644">
              <a:extLst>
                <a:ext uri="{FF2B5EF4-FFF2-40B4-BE49-F238E27FC236}">
                  <a16:creationId xmlns:a16="http://schemas.microsoft.com/office/drawing/2014/main" id="{E483681A-9379-6C09-16B4-57F1E396D171}"/>
                </a:ext>
              </a:extLst>
            </p:cNvPr>
            <p:cNvSpPr/>
            <p:nvPr/>
          </p:nvSpPr>
          <p:spPr>
            <a:xfrm>
              <a:off x="-252576" y="3754658"/>
              <a:ext cx="127596" cy="127596"/>
            </a:xfrm>
            <a:prstGeom prst="ellipse">
              <a:avLst/>
            </a:prstGeom>
            <a:solidFill>
              <a:schemeClr val="bg1"/>
            </a:solidFill>
            <a:ln>
              <a:solidFill>
                <a:srgbClr val="9F284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grpSp>
        <p:nvGrpSpPr>
          <p:cNvPr id="675" name="Group 674">
            <a:extLst>
              <a:ext uri="{FF2B5EF4-FFF2-40B4-BE49-F238E27FC236}">
                <a16:creationId xmlns:a16="http://schemas.microsoft.com/office/drawing/2014/main" id="{23BCC6CA-9EF6-5470-7E55-03616BB17488}"/>
              </a:ext>
            </a:extLst>
          </p:cNvPr>
          <p:cNvGrpSpPr/>
          <p:nvPr/>
        </p:nvGrpSpPr>
        <p:grpSpPr>
          <a:xfrm>
            <a:off x="2375679" y="2789901"/>
            <a:ext cx="839156" cy="826136"/>
            <a:chOff x="-607649" y="2789901"/>
            <a:chExt cx="839156" cy="826136"/>
          </a:xfrm>
        </p:grpSpPr>
        <p:sp>
          <p:nvSpPr>
            <p:cNvPr id="676" name="Rectangle 675">
              <a:extLst>
                <a:ext uri="{FF2B5EF4-FFF2-40B4-BE49-F238E27FC236}">
                  <a16:creationId xmlns:a16="http://schemas.microsoft.com/office/drawing/2014/main" id="{A0742BA2-A4A9-C420-5E86-09F7D44C0CC1}"/>
                </a:ext>
              </a:extLst>
            </p:cNvPr>
            <p:cNvSpPr/>
            <p:nvPr/>
          </p:nvSpPr>
          <p:spPr>
            <a:xfrm>
              <a:off x="-607649" y="2789901"/>
              <a:ext cx="827027" cy="41314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nvGrpSpPr>
            <p:cNvPr id="677" name="Group 676">
              <a:extLst>
                <a:ext uri="{FF2B5EF4-FFF2-40B4-BE49-F238E27FC236}">
                  <a16:creationId xmlns:a16="http://schemas.microsoft.com/office/drawing/2014/main" id="{9F123CDB-E434-59FB-CF99-5FFE73A82661}"/>
                </a:ext>
              </a:extLst>
            </p:cNvPr>
            <p:cNvGrpSpPr/>
            <p:nvPr/>
          </p:nvGrpSpPr>
          <p:grpSpPr>
            <a:xfrm>
              <a:off x="-607649" y="2806754"/>
              <a:ext cx="827027" cy="809283"/>
              <a:chOff x="-994175" y="2806754"/>
              <a:chExt cx="827027" cy="809283"/>
            </a:xfrm>
          </p:grpSpPr>
          <p:grpSp>
            <p:nvGrpSpPr>
              <p:cNvPr id="681" name="Group 680">
                <a:extLst>
                  <a:ext uri="{FF2B5EF4-FFF2-40B4-BE49-F238E27FC236}">
                    <a16:creationId xmlns:a16="http://schemas.microsoft.com/office/drawing/2014/main" id="{BD0C0F48-13D5-3927-0A8C-FEA840882F3B}"/>
                  </a:ext>
                </a:extLst>
              </p:cNvPr>
              <p:cNvGrpSpPr/>
              <p:nvPr/>
            </p:nvGrpSpPr>
            <p:grpSpPr>
              <a:xfrm>
                <a:off x="-994175" y="2806754"/>
                <a:ext cx="827027" cy="809283"/>
                <a:chOff x="4149692" y="2007646"/>
                <a:chExt cx="827027" cy="809283"/>
              </a:xfrm>
            </p:grpSpPr>
            <p:sp>
              <p:nvSpPr>
                <p:cNvPr id="684" name="Oval 683">
                  <a:extLst>
                    <a:ext uri="{FF2B5EF4-FFF2-40B4-BE49-F238E27FC236}">
                      <a16:creationId xmlns:a16="http://schemas.microsoft.com/office/drawing/2014/main" id="{22151FC1-533F-3F5F-E197-AE2432367466}"/>
                    </a:ext>
                  </a:extLst>
                </p:cNvPr>
                <p:cNvSpPr/>
                <p:nvPr/>
              </p:nvSpPr>
              <p:spPr>
                <a:xfrm>
                  <a:off x="4167067" y="2007646"/>
                  <a:ext cx="792277" cy="792277"/>
                </a:xfrm>
                <a:prstGeom prst="ellipse">
                  <a:avLst/>
                </a:prstGeom>
                <a:solidFill>
                  <a:schemeClr val="bg2"/>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685" name="Oval 684">
                  <a:extLst>
                    <a:ext uri="{FF2B5EF4-FFF2-40B4-BE49-F238E27FC236}">
                      <a16:creationId xmlns:a16="http://schemas.microsoft.com/office/drawing/2014/main" id="{8FF3A5CF-41A5-2B3E-6EC6-731F6991FD38}"/>
                    </a:ext>
                  </a:extLst>
                </p:cNvPr>
                <p:cNvSpPr/>
                <p:nvPr/>
              </p:nvSpPr>
              <p:spPr>
                <a:xfrm>
                  <a:off x="4223850" y="2064429"/>
                  <a:ext cx="678711" cy="678711"/>
                </a:xfrm>
                <a:prstGeom prst="ellipse">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686" name="Rectangle 685">
                  <a:extLst>
                    <a:ext uri="{FF2B5EF4-FFF2-40B4-BE49-F238E27FC236}">
                      <a16:creationId xmlns:a16="http://schemas.microsoft.com/office/drawing/2014/main" id="{DF117AED-1594-EF66-7EFE-E18C1C383FEF}"/>
                    </a:ext>
                  </a:extLst>
                </p:cNvPr>
                <p:cNvSpPr/>
                <p:nvPr/>
              </p:nvSpPr>
              <p:spPr>
                <a:xfrm>
                  <a:off x="4149692" y="2403784"/>
                  <a:ext cx="827027" cy="41314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cxnSp>
            <p:nvCxnSpPr>
              <p:cNvPr id="682" name="Straight Connector 681">
                <a:extLst>
                  <a:ext uri="{FF2B5EF4-FFF2-40B4-BE49-F238E27FC236}">
                    <a16:creationId xmlns:a16="http://schemas.microsoft.com/office/drawing/2014/main" id="{47B28C59-134B-8FCA-85DB-4A2C018980E6}"/>
                  </a:ext>
                </a:extLst>
              </p:cNvPr>
              <p:cNvCxnSpPr>
                <a:cxnSpLocks/>
              </p:cNvCxnSpPr>
              <p:nvPr/>
            </p:nvCxnSpPr>
            <p:spPr bwMode="gray">
              <a:xfrm flipH="1">
                <a:off x="-316706" y="2964108"/>
                <a:ext cx="63904" cy="45792"/>
              </a:xfrm>
              <a:prstGeom prst="line">
                <a:avLst/>
              </a:prstGeom>
              <a:ln w="254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83" name="Straight Connector 682">
                <a:extLst>
                  <a:ext uri="{FF2B5EF4-FFF2-40B4-BE49-F238E27FC236}">
                    <a16:creationId xmlns:a16="http://schemas.microsoft.com/office/drawing/2014/main" id="{ACCCB7D2-E745-02A5-52E2-D23E075EAA67}"/>
                  </a:ext>
                </a:extLst>
              </p:cNvPr>
              <p:cNvCxnSpPr>
                <a:cxnSpLocks/>
              </p:cNvCxnSpPr>
              <p:nvPr/>
            </p:nvCxnSpPr>
            <p:spPr bwMode="gray">
              <a:xfrm flipH="1">
                <a:off x="-490538" y="2814638"/>
                <a:ext cx="21432" cy="69056"/>
              </a:xfrm>
              <a:prstGeom prst="line">
                <a:avLst/>
              </a:prstGeom>
              <a:ln w="254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678" name="Text Placeholder 34">
              <a:extLst>
                <a:ext uri="{FF2B5EF4-FFF2-40B4-BE49-F238E27FC236}">
                  <a16:creationId xmlns:a16="http://schemas.microsoft.com/office/drawing/2014/main" id="{A20B8E78-9DB0-A76D-B942-00D4BD11C413}"/>
                </a:ext>
              </a:extLst>
            </p:cNvPr>
            <p:cNvSpPr txBox="1">
              <a:spLocks/>
            </p:cNvSpPr>
            <p:nvPr/>
          </p:nvSpPr>
          <p:spPr>
            <a:xfrm>
              <a:off x="-393005" y="3014926"/>
              <a:ext cx="397738" cy="180008"/>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500"/>
                </a:spcBef>
                <a:spcAft>
                  <a:spcPts val="0"/>
                </a:spcAft>
                <a:buClr>
                  <a:srgbClr val="717074">
                    <a:lumMod val="60000"/>
                    <a:lumOff val="40000"/>
                  </a:srgbClr>
                </a:buClr>
                <a:buSzPct val="90000"/>
                <a:buFont typeface="Arial" panose="020B0604020202020204" pitchFamily="34" charset="0"/>
                <a:buChar char="​"/>
                <a:tabLst/>
                <a:defRPr/>
              </a:pPr>
              <a:r>
                <a:rPr kumimoji="0" lang="en-US" sz="1600" b="0" i="0" u="none" strike="noStrike" kern="1200" cap="none" spc="0" normalizeH="0" baseline="0" noProof="0" dirty="0">
                  <a:ln>
                    <a:noFill/>
                  </a:ln>
                  <a:solidFill>
                    <a:schemeClr val="accent4"/>
                  </a:solidFill>
                  <a:effectLst/>
                  <a:uLnTx/>
                  <a:uFillTx/>
                  <a:latin typeface="Arial" panose="020B0604020202020204" pitchFamily="34" charset="0"/>
                  <a:ea typeface="+mn-ea"/>
                  <a:cs typeface="+mn-cs"/>
                </a:rPr>
                <a:t>92</a:t>
              </a:r>
            </a:p>
          </p:txBody>
        </p:sp>
        <p:sp>
          <p:nvSpPr>
            <p:cNvPr id="679" name="Arc 678">
              <a:extLst>
                <a:ext uri="{FF2B5EF4-FFF2-40B4-BE49-F238E27FC236}">
                  <a16:creationId xmlns:a16="http://schemas.microsoft.com/office/drawing/2014/main" id="{AACEA31C-4F0C-7489-B7C5-4B4DCE716BD9}"/>
                </a:ext>
              </a:extLst>
            </p:cNvPr>
            <p:cNvSpPr/>
            <p:nvPr/>
          </p:nvSpPr>
          <p:spPr bwMode="gray">
            <a:xfrm>
              <a:off x="-560930" y="2834565"/>
              <a:ext cx="735806" cy="731837"/>
            </a:xfrm>
            <a:prstGeom prst="arc">
              <a:avLst>
                <a:gd name="adj1" fmla="val 19614901"/>
                <a:gd name="adj2" fmla="val 34278"/>
              </a:avLst>
            </a:prstGeom>
            <a:ln w="4445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80" name="Oval 679">
              <a:extLst>
                <a:ext uri="{FF2B5EF4-FFF2-40B4-BE49-F238E27FC236}">
                  <a16:creationId xmlns:a16="http://schemas.microsoft.com/office/drawing/2014/main" id="{B278F1F5-E203-CEC5-2EBC-06575DB29283}"/>
                </a:ext>
              </a:extLst>
            </p:cNvPr>
            <p:cNvSpPr/>
            <p:nvPr/>
          </p:nvSpPr>
          <p:spPr>
            <a:xfrm>
              <a:off x="103911" y="3058290"/>
              <a:ext cx="127596" cy="127596"/>
            </a:xfrm>
            <a:prstGeom prst="ellipse">
              <a:avLst/>
            </a:prstGeom>
            <a:solidFill>
              <a:schemeClr val="bg1"/>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sp>
        <p:nvSpPr>
          <p:cNvPr id="380" name="Text Placeholder 34">
            <a:extLst>
              <a:ext uri="{FF2B5EF4-FFF2-40B4-BE49-F238E27FC236}">
                <a16:creationId xmlns:a16="http://schemas.microsoft.com/office/drawing/2014/main" id="{7EDB64DE-CE89-3580-1461-ECBC34F93BFD}"/>
              </a:ext>
            </a:extLst>
          </p:cNvPr>
          <p:cNvSpPr txBox="1">
            <a:spLocks/>
          </p:cNvSpPr>
          <p:nvPr/>
        </p:nvSpPr>
        <p:spPr>
          <a:xfrm>
            <a:off x="2159139" y="2588720"/>
            <a:ext cx="1364068" cy="180008"/>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500"/>
              </a:spcBef>
              <a:spcAft>
                <a:spcPts val="0"/>
              </a:spcAft>
              <a:buClr>
                <a:srgbClr val="717074">
                  <a:lumMod val="60000"/>
                  <a:lumOff val="40000"/>
                </a:srgbClr>
              </a:buClr>
              <a:buSzPct val="90000"/>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ea typeface="+mn-ea"/>
                <a:cs typeface="+mn-cs"/>
              </a:rPr>
              <a:t>Cluster health score</a:t>
            </a:r>
          </a:p>
        </p:txBody>
      </p:sp>
      <p:sp>
        <p:nvSpPr>
          <p:cNvPr id="381" name="Text Placeholder 34">
            <a:extLst>
              <a:ext uri="{FF2B5EF4-FFF2-40B4-BE49-F238E27FC236}">
                <a16:creationId xmlns:a16="http://schemas.microsoft.com/office/drawing/2014/main" id="{26BE3CFB-1498-8168-A4C6-7C2A46915F88}"/>
              </a:ext>
            </a:extLst>
          </p:cNvPr>
          <p:cNvSpPr txBox="1">
            <a:spLocks/>
          </p:cNvSpPr>
          <p:nvPr/>
        </p:nvSpPr>
        <p:spPr>
          <a:xfrm>
            <a:off x="2097679" y="3284319"/>
            <a:ext cx="615007" cy="180008"/>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500"/>
              </a:spcBef>
              <a:spcAft>
                <a:spcPts val="0"/>
              </a:spcAft>
              <a:buClr>
                <a:srgbClr val="717074">
                  <a:lumMod val="60000"/>
                  <a:lumOff val="40000"/>
                </a:srgbClr>
              </a:buClr>
              <a:buSzPct val="90000"/>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ea typeface="+mn-ea"/>
                <a:cs typeface="+mn-cs"/>
              </a:rPr>
              <a:t>Attention</a:t>
            </a:r>
          </a:p>
        </p:txBody>
      </p:sp>
      <p:sp>
        <p:nvSpPr>
          <p:cNvPr id="382" name="Text Placeholder 34">
            <a:extLst>
              <a:ext uri="{FF2B5EF4-FFF2-40B4-BE49-F238E27FC236}">
                <a16:creationId xmlns:a16="http://schemas.microsoft.com/office/drawing/2014/main" id="{A62EBC38-5A46-71E9-FCDC-5955D2E464BF}"/>
              </a:ext>
            </a:extLst>
          </p:cNvPr>
          <p:cNvSpPr txBox="1">
            <a:spLocks/>
          </p:cNvSpPr>
          <p:nvPr/>
        </p:nvSpPr>
        <p:spPr>
          <a:xfrm>
            <a:off x="2911879" y="3284319"/>
            <a:ext cx="570842" cy="180008"/>
          </a:xfrm>
          <a:prstGeom prst="rect">
            <a:avLst/>
          </a:prstGeom>
        </p:spPr>
        <p:txBody>
          <a:bodyPr lIns="0" tIns="0" rIns="0" bIns="0"/>
          <a:lstStyle>
            <a:lvl1pPr marL="0" indent="0" algn="l" defTabSz="914400" rtl="0" eaLnBrk="1" latinLnBrk="0" hangingPunct="1">
              <a:lnSpc>
                <a:spcPct val="9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90000"/>
              </a:lnSpc>
              <a:spcBef>
                <a:spcPts val="18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90000"/>
              </a:lnSpc>
              <a:spcBef>
                <a:spcPts val="10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90000"/>
              </a:lnSpc>
              <a:spcBef>
                <a:spcPts val="12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90000"/>
              </a:lnSpc>
              <a:spcBef>
                <a:spcPts val="10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500"/>
              </a:spcBef>
              <a:spcAft>
                <a:spcPts val="0"/>
              </a:spcAft>
              <a:buClr>
                <a:srgbClr val="717074">
                  <a:lumMod val="60000"/>
                  <a:lumOff val="40000"/>
                </a:srgbClr>
              </a:buClr>
              <a:buSzPct val="90000"/>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ea typeface="+mn-ea"/>
                <a:cs typeface="+mn-cs"/>
              </a:rPr>
              <a:t>Healthy</a:t>
            </a:r>
          </a:p>
        </p:txBody>
      </p:sp>
      <p:cxnSp>
        <p:nvCxnSpPr>
          <p:cNvPr id="384" name="Straight Connector 383">
            <a:extLst>
              <a:ext uri="{FF2B5EF4-FFF2-40B4-BE49-F238E27FC236}">
                <a16:creationId xmlns:a16="http://schemas.microsoft.com/office/drawing/2014/main" id="{E847C1A6-F01A-6464-8794-63B3205AC7CA}"/>
              </a:ext>
            </a:extLst>
          </p:cNvPr>
          <p:cNvCxnSpPr>
            <a:cxnSpLocks/>
          </p:cNvCxnSpPr>
          <p:nvPr/>
        </p:nvCxnSpPr>
        <p:spPr>
          <a:xfrm>
            <a:off x="2078038" y="3547587"/>
            <a:ext cx="3722223" cy="0"/>
          </a:xfrm>
          <a:prstGeom prst="line">
            <a:avLst/>
          </a:prstGeom>
          <a:ln w="9525">
            <a:solidFill>
              <a:schemeClr val="tx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0351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449"/>
                                        </p:tgtEl>
                                        <p:attrNameLst>
                                          <p:attrName>style.visibility</p:attrName>
                                        </p:attrNameLst>
                                      </p:cBhvr>
                                      <p:to>
                                        <p:strVal val="visible"/>
                                      </p:to>
                                    </p:set>
                                    <p:animEffect transition="in" filter="fade">
                                      <p:cBhvr>
                                        <p:cTn id="7" dur="500"/>
                                        <p:tgtEl>
                                          <p:spTgt spid="449"/>
                                        </p:tgtEl>
                                      </p:cBhvr>
                                    </p:animEffect>
                                  </p:childTnLst>
                                </p:cTn>
                              </p:par>
                              <p:par>
                                <p:cTn id="8" presetID="10" presetClass="entr" presetSubtype="0" fill="hold" nodeType="withEffect">
                                  <p:stCondLst>
                                    <p:cond delay="500"/>
                                  </p:stCondLst>
                                  <p:childTnLst>
                                    <p:set>
                                      <p:cBhvr>
                                        <p:cTn id="9" dur="1" fill="hold">
                                          <p:stCondLst>
                                            <p:cond delay="0"/>
                                          </p:stCondLst>
                                        </p:cTn>
                                        <p:tgtEl>
                                          <p:spTgt spid="463"/>
                                        </p:tgtEl>
                                        <p:attrNameLst>
                                          <p:attrName>style.visibility</p:attrName>
                                        </p:attrNameLst>
                                      </p:cBhvr>
                                      <p:to>
                                        <p:strVal val="visible"/>
                                      </p:to>
                                    </p:set>
                                    <p:animEffect transition="in" filter="fade">
                                      <p:cBhvr>
                                        <p:cTn id="10" dur="500"/>
                                        <p:tgtEl>
                                          <p:spTgt spid="463"/>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350"/>
                                        </p:tgtEl>
                                        <p:attrNameLst>
                                          <p:attrName>style.visibility</p:attrName>
                                        </p:attrNameLst>
                                      </p:cBhvr>
                                      <p:to>
                                        <p:strVal val="visible"/>
                                      </p:to>
                                    </p:set>
                                    <p:animEffect transition="in" filter="fade">
                                      <p:cBhvr>
                                        <p:cTn id="14" dur="500"/>
                                        <p:tgtEl>
                                          <p:spTgt spid="350"/>
                                        </p:tgtEl>
                                      </p:cBhvr>
                                    </p:animEffect>
                                  </p:childTnLst>
                                </p:cTn>
                              </p:par>
                            </p:childTnLst>
                          </p:cTn>
                        </p:par>
                        <p:par>
                          <p:cTn id="15" fill="hold">
                            <p:stCondLst>
                              <p:cond delay="1500"/>
                            </p:stCondLst>
                            <p:childTnLst>
                              <p:par>
                                <p:cTn id="16" presetID="10" presetClass="entr" presetSubtype="0" fill="hold" grpId="0" nodeType="afterEffect">
                                  <p:stCondLst>
                                    <p:cond delay="0"/>
                                  </p:stCondLst>
                                  <p:childTnLst>
                                    <p:set>
                                      <p:cBhvr>
                                        <p:cTn id="17" dur="1" fill="hold">
                                          <p:stCondLst>
                                            <p:cond delay="0"/>
                                          </p:stCondLst>
                                        </p:cTn>
                                        <p:tgtEl>
                                          <p:spTgt spid="374"/>
                                        </p:tgtEl>
                                        <p:attrNameLst>
                                          <p:attrName>style.visibility</p:attrName>
                                        </p:attrNameLst>
                                      </p:cBhvr>
                                      <p:to>
                                        <p:strVal val="visible"/>
                                      </p:to>
                                    </p:set>
                                    <p:animEffect transition="in" filter="fade">
                                      <p:cBhvr>
                                        <p:cTn id="18" dur="500"/>
                                        <p:tgtEl>
                                          <p:spTgt spid="37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80"/>
                                        </p:tgtEl>
                                        <p:attrNameLst>
                                          <p:attrName>style.visibility</p:attrName>
                                        </p:attrNameLst>
                                      </p:cBhvr>
                                      <p:to>
                                        <p:strVal val="visible"/>
                                      </p:to>
                                    </p:set>
                                    <p:animEffect transition="in" filter="fade">
                                      <p:cBhvr>
                                        <p:cTn id="21" dur="500"/>
                                        <p:tgtEl>
                                          <p:spTgt spid="38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67"/>
                                        </p:tgtEl>
                                        <p:attrNameLst>
                                          <p:attrName>style.visibility</p:attrName>
                                        </p:attrNameLst>
                                      </p:cBhvr>
                                      <p:to>
                                        <p:strVal val="visible"/>
                                      </p:to>
                                    </p:set>
                                    <p:animEffect transition="in" filter="fade">
                                      <p:cBhvr>
                                        <p:cTn id="24" dur="500"/>
                                        <p:tgtEl>
                                          <p:spTgt spid="367"/>
                                        </p:tgtEl>
                                      </p:cBhvr>
                                    </p:animEffect>
                                  </p:childTnLst>
                                </p:cTn>
                              </p:par>
                              <p:par>
                                <p:cTn id="25" presetID="10" presetClass="entr" presetSubtype="0" fill="hold" nodeType="withEffect">
                                  <p:stCondLst>
                                    <p:cond delay="0"/>
                                  </p:stCondLst>
                                  <p:childTnLst>
                                    <p:set>
                                      <p:cBhvr>
                                        <p:cTn id="26" dur="1" fill="hold">
                                          <p:stCondLst>
                                            <p:cond delay="0"/>
                                          </p:stCondLst>
                                        </p:cTn>
                                        <p:tgtEl>
                                          <p:spTgt spid="612"/>
                                        </p:tgtEl>
                                        <p:attrNameLst>
                                          <p:attrName>style.visibility</p:attrName>
                                        </p:attrNameLst>
                                      </p:cBhvr>
                                      <p:to>
                                        <p:strVal val="visible"/>
                                      </p:to>
                                    </p:set>
                                    <p:animEffect transition="in" filter="fade">
                                      <p:cBhvr>
                                        <p:cTn id="27" dur="500"/>
                                        <p:tgtEl>
                                          <p:spTgt spid="6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81"/>
                                        </p:tgtEl>
                                        <p:attrNameLst>
                                          <p:attrName>style.visibility</p:attrName>
                                        </p:attrNameLst>
                                      </p:cBhvr>
                                      <p:to>
                                        <p:strVal val="visible"/>
                                      </p:to>
                                    </p:set>
                                    <p:animEffect transition="in" filter="fade">
                                      <p:cBhvr>
                                        <p:cTn id="30" dur="500"/>
                                        <p:tgtEl>
                                          <p:spTgt spid="38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82"/>
                                        </p:tgtEl>
                                        <p:attrNameLst>
                                          <p:attrName>style.visibility</p:attrName>
                                        </p:attrNameLst>
                                      </p:cBhvr>
                                      <p:to>
                                        <p:strVal val="visible"/>
                                      </p:to>
                                    </p:set>
                                    <p:animEffect transition="in" filter="fade">
                                      <p:cBhvr>
                                        <p:cTn id="33" dur="500"/>
                                        <p:tgtEl>
                                          <p:spTgt spid="382"/>
                                        </p:tgtEl>
                                      </p:cBhvr>
                                    </p:animEffect>
                                  </p:childTnLst>
                                </p:cTn>
                              </p:par>
                              <p:par>
                                <p:cTn id="34" presetID="10" presetClass="entr" presetSubtype="0" fill="hold" nodeType="withEffect">
                                  <p:stCondLst>
                                    <p:cond delay="0"/>
                                  </p:stCondLst>
                                  <p:childTnLst>
                                    <p:set>
                                      <p:cBhvr>
                                        <p:cTn id="35" dur="1" fill="hold">
                                          <p:stCondLst>
                                            <p:cond delay="0"/>
                                          </p:stCondLst>
                                        </p:cTn>
                                        <p:tgtEl>
                                          <p:spTgt spid="591"/>
                                        </p:tgtEl>
                                        <p:attrNameLst>
                                          <p:attrName>style.visibility</p:attrName>
                                        </p:attrNameLst>
                                      </p:cBhvr>
                                      <p:to>
                                        <p:strVal val="visible"/>
                                      </p:to>
                                    </p:set>
                                    <p:animEffect transition="in" filter="fade">
                                      <p:cBhvr>
                                        <p:cTn id="36" dur="500"/>
                                        <p:tgtEl>
                                          <p:spTgt spid="591"/>
                                        </p:tgtEl>
                                      </p:cBhvr>
                                    </p:animEffect>
                                  </p:childTnLst>
                                </p:cTn>
                              </p:par>
                              <p:par>
                                <p:cTn id="37" presetID="10" presetClass="entr" presetSubtype="0" fill="hold" nodeType="withEffect">
                                  <p:stCondLst>
                                    <p:cond delay="0"/>
                                  </p:stCondLst>
                                  <p:childTnLst>
                                    <p:set>
                                      <p:cBhvr>
                                        <p:cTn id="38" dur="1" fill="hold">
                                          <p:stCondLst>
                                            <p:cond delay="0"/>
                                          </p:stCondLst>
                                        </p:cTn>
                                        <p:tgtEl>
                                          <p:spTgt spid="384"/>
                                        </p:tgtEl>
                                        <p:attrNameLst>
                                          <p:attrName>style.visibility</p:attrName>
                                        </p:attrNameLst>
                                      </p:cBhvr>
                                      <p:to>
                                        <p:strVal val="visible"/>
                                      </p:to>
                                    </p:set>
                                    <p:animEffect transition="in" filter="fade">
                                      <p:cBhvr>
                                        <p:cTn id="39" dur="500"/>
                                        <p:tgtEl>
                                          <p:spTgt spid="384"/>
                                        </p:tgtEl>
                                      </p:cBhvr>
                                    </p:animEffect>
                                  </p:childTnLst>
                                </p:cTn>
                              </p:par>
                              <p:par>
                                <p:cTn id="40" presetID="10" presetClass="entr" presetSubtype="0" fill="hold" nodeType="withEffect">
                                  <p:stCondLst>
                                    <p:cond delay="0"/>
                                  </p:stCondLst>
                                  <p:childTnLst>
                                    <p:set>
                                      <p:cBhvr>
                                        <p:cTn id="41" dur="1" fill="hold">
                                          <p:stCondLst>
                                            <p:cond delay="0"/>
                                          </p:stCondLst>
                                        </p:cTn>
                                        <p:tgtEl>
                                          <p:spTgt spid="375"/>
                                        </p:tgtEl>
                                        <p:attrNameLst>
                                          <p:attrName>style.visibility</p:attrName>
                                        </p:attrNameLst>
                                      </p:cBhvr>
                                      <p:to>
                                        <p:strVal val="visible"/>
                                      </p:to>
                                    </p:set>
                                    <p:animEffect transition="in" filter="fade">
                                      <p:cBhvr>
                                        <p:cTn id="42" dur="500"/>
                                        <p:tgtEl>
                                          <p:spTgt spid="375"/>
                                        </p:tgtEl>
                                      </p:cBhvr>
                                    </p:animEffect>
                                  </p:childTnLst>
                                </p:cTn>
                              </p:par>
                            </p:childTnLst>
                          </p:cTn>
                        </p:par>
                        <p:par>
                          <p:cTn id="43" fill="hold">
                            <p:stCondLst>
                              <p:cond delay="2000"/>
                            </p:stCondLst>
                            <p:childTnLst>
                              <p:par>
                                <p:cTn id="44" presetID="22" presetClass="entr" presetSubtype="4" fill="hold" nodeType="afterEffect">
                                  <p:stCondLst>
                                    <p:cond delay="1000"/>
                                  </p:stCondLst>
                                  <p:childTnLst>
                                    <p:set>
                                      <p:cBhvr>
                                        <p:cTn id="45" dur="1" fill="hold">
                                          <p:stCondLst>
                                            <p:cond delay="0"/>
                                          </p:stCondLst>
                                        </p:cTn>
                                        <p:tgtEl>
                                          <p:spTgt spid="517"/>
                                        </p:tgtEl>
                                        <p:attrNameLst>
                                          <p:attrName>style.visibility</p:attrName>
                                        </p:attrNameLst>
                                      </p:cBhvr>
                                      <p:to>
                                        <p:strVal val="visible"/>
                                      </p:to>
                                    </p:set>
                                    <p:animEffect transition="in" filter="wipe(down)">
                                      <p:cBhvr>
                                        <p:cTn id="46" dur="500"/>
                                        <p:tgtEl>
                                          <p:spTgt spid="517"/>
                                        </p:tgtEl>
                                      </p:cBhvr>
                                    </p:animEffect>
                                  </p:childTnLst>
                                </p:cTn>
                              </p:par>
                              <p:par>
                                <p:cTn id="47" presetID="1" presetClass="entr" presetSubtype="0" fill="hold" nodeType="withEffect">
                                  <p:stCondLst>
                                    <p:cond delay="1000"/>
                                  </p:stCondLst>
                                  <p:childTnLst>
                                    <p:set>
                                      <p:cBhvr>
                                        <p:cTn id="48" dur="1" fill="hold">
                                          <p:stCondLst>
                                            <p:cond delay="0"/>
                                          </p:stCondLst>
                                        </p:cTn>
                                        <p:tgtEl>
                                          <p:spTgt spid="618"/>
                                        </p:tgtEl>
                                        <p:attrNameLst>
                                          <p:attrName>style.visibility</p:attrName>
                                        </p:attrNameLst>
                                      </p:cBhvr>
                                      <p:to>
                                        <p:strVal val="visible"/>
                                      </p:to>
                                    </p:set>
                                  </p:childTnLst>
                                </p:cTn>
                              </p:par>
                              <p:par>
                                <p:cTn id="49" presetID="8" presetClass="emph" presetSubtype="0" repeatCount="indefinite" fill="hold" nodeType="withEffect">
                                  <p:stCondLst>
                                    <p:cond delay="1000"/>
                                  </p:stCondLst>
                                  <p:childTnLst>
                                    <p:animRot by="21600000">
                                      <p:cBhvr>
                                        <p:cTn id="50" dur="1500" fill="hold"/>
                                        <p:tgtEl>
                                          <p:spTgt spid="618"/>
                                        </p:tgtEl>
                                        <p:attrNameLst>
                                          <p:attrName>r</p:attrName>
                                        </p:attrNameLst>
                                      </p:cBhvr>
                                    </p:animRot>
                                  </p:childTnLst>
                                </p:cTn>
                              </p:par>
                              <p:par>
                                <p:cTn id="51" presetID="10" presetClass="entr" presetSubtype="0" fill="hold" nodeType="withEffect">
                                  <p:stCondLst>
                                    <p:cond delay="1000"/>
                                  </p:stCondLst>
                                  <p:childTnLst>
                                    <p:set>
                                      <p:cBhvr>
                                        <p:cTn id="52" dur="1" fill="hold">
                                          <p:stCondLst>
                                            <p:cond delay="0"/>
                                          </p:stCondLst>
                                        </p:cTn>
                                        <p:tgtEl>
                                          <p:spTgt spid="499"/>
                                        </p:tgtEl>
                                        <p:attrNameLst>
                                          <p:attrName>style.visibility</p:attrName>
                                        </p:attrNameLst>
                                      </p:cBhvr>
                                      <p:to>
                                        <p:strVal val="visible"/>
                                      </p:to>
                                    </p:set>
                                    <p:animEffect transition="in" filter="fade">
                                      <p:cBhvr>
                                        <p:cTn id="53" dur="500"/>
                                        <p:tgtEl>
                                          <p:spTgt spid="499"/>
                                        </p:tgtEl>
                                      </p:cBhvr>
                                    </p:animEffect>
                                  </p:childTnLst>
                                </p:cTn>
                              </p:par>
                              <p:par>
                                <p:cTn id="54" presetID="10" presetClass="entr" presetSubtype="0" fill="hold" grpId="0" nodeType="withEffect">
                                  <p:stCondLst>
                                    <p:cond delay="1000"/>
                                  </p:stCondLst>
                                  <p:childTnLst>
                                    <p:set>
                                      <p:cBhvr>
                                        <p:cTn id="55" dur="1" fill="hold">
                                          <p:stCondLst>
                                            <p:cond delay="0"/>
                                          </p:stCondLst>
                                        </p:cTn>
                                        <p:tgtEl>
                                          <p:spTgt spid="482"/>
                                        </p:tgtEl>
                                        <p:attrNameLst>
                                          <p:attrName>style.visibility</p:attrName>
                                        </p:attrNameLst>
                                      </p:cBhvr>
                                      <p:to>
                                        <p:strVal val="visible"/>
                                      </p:to>
                                    </p:set>
                                    <p:animEffect transition="in" filter="fade">
                                      <p:cBhvr>
                                        <p:cTn id="56" dur="500"/>
                                        <p:tgtEl>
                                          <p:spTgt spid="482"/>
                                        </p:tgtEl>
                                      </p:cBhvr>
                                    </p:animEffect>
                                  </p:childTnLst>
                                </p:cTn>
                              </p:par>
                            </p:childTnLst>
                          </p:cTn>
                        </p:par>
                        <p:par>
                          <p:cTn id="57" fill="hold">
                            <p:stCondLst>
                              <p:cond delay="4500"/>
                            </p:stCondLst>
                            <p:childTnLst>
                              <p:par>
                                <p:cTn id="58" presetID="26" presetClass="emph" presetSubtype="0" fill="hold" nodeType="afterEffect">
                                  <p:stCondLst>
                                    <p:cond delay="0"/>
                                  </p:stCondLst>
                                  <p:childTnLst>
                                    <p:animEffect transition="out" filter="fade">
                                      <p:cBhvr>
                                        <p:cTn id="59" dur="500" tmFilter="0, 0; .2, .5; .8, .5; 1, 0"/>
                                        <p:tgtEl>
                                          <p:spTgt spid="499"/>
                                        </p:tgtEl>
                                      </p:cBhvr>
                                    </p:animEffect>
                                    <p:animScale>
                                      <p:cBhvr>
                                        <p:cTn id="60" dur="250" autoRev="1" fill="hold"/>
                                        <p:tgtEl>
                                          <p:spTgt spid="499"/>
                                        </p:tgtEl>
                                      </p:cBhvr>
                                      <p:by x="105000" y="105000"/>
                                    </p:animScale>
                                  </p:childTnLst>
                                </p:cTn>
                              </p:par>
                              <p:par>
                                <p:cTn id="61" presetID="26" presetClass="emph" presetSubtype="0" fill="hold" grpId="1" nodeType="withEffect">
                                  <p:stCondLst>
                                    <p:cond delay="0"/>
                                  </p:stCondLst>
                                  <p:childTnLst>
                                    <p:animEffect transition="out" filter="fade">
                                      <p:cBhvr>
                                        <p:cTn id="62" dur="500" tmFilter="0, 0; .2, .5; .8, .5; 1, 0"/>
                                        <p:tgtEl>
                                          <p:spTgt spid="482"/>
                                        </p:tgtEl>
                                      </p:cBhvr>
                                    </p:animEffect>
                                    <p:animScale>
                                      <p:cBhvr>
                                        <p:cTn id="63" dur="250" autoRev="1" fill="hold"/>
                                        <p:tgtEl>
                                          <p:spTgt spid="482"/>
                                        </p:tgtEl>
                                      </p:cBhvr>
                                      <p:by x="105000" y="105000"/>
                                    </p:animScale>
                                  </p:childTnLst>
                                </p:cTn>
                              </p:par>
                            </p:childTnLst>
                          </p:cTn>
                        </p:par>
                        <p:par>
                          <p:cTn id="64" fill="hold">
                            <p:stCondLst>
                              <p:cond delay="5000"/>
                            </p:stCondLst>
                            <p:childTnLst>
                              <p:par>
                                <p:cTn id="65" presetID="22" presetClass="entr" presetSubtype="8" fill="hold" nodeType="afterEffect">
                                  <p:stCondLst>
                                    <p:cond delay="0"/>
                                  </p:stCondLst>
                                  <p:childTnLst>
                                    <p:set>
                                      <p:cBhvr>
                                        <p:cTn id="66" dur="1" fill="hold">
                                          <p:stCondLst>
                                            <p:cond delay="0"/>
                                          </p:stCondLst>
                                        </p:cTn>
                                        <p:tgtEl>
                                          <p:spTgt spid="521"/>
                                        </p:tgtEl>
                                        <p:attrNameLst>
                                          <p:attrName>style.visibility</p:attrName>
                                        </p:attrNameLst>
                                      </p:cBhvr>
                                      <p:to>
                                        <p:strVal val="visible"/>
                                      </p:to>
                                    </p:set>
                                    <p:animEffect transition="in" filter="wipe(left)">
                                      <p:cBhvr>
                                        <p:cTn id="67" dur="500"/>
                                        <p:tgtEl>
                                          <p:spTgt spid="521"/>
                                        </p:tgtEl>
                                      </p:cBhvr>
                                    </p:animEffect>
                                  </p:childTnLst>
                                </p:cTn>
                              </p:par>
                            </p:childTnLst>
                          </p:cTn>
                        </p:par>
                        <p:par>
                          <p:cTn id="68" fill="hold">
                            <p:stCondLst>
                              <p:cond delay="5500"/>
                            </p:stCondLst>
                            <p:childTnLst>
                              <p:par>
                                <p:cTn id="69" presetID="22" presetClass="entr" presetSubtype="4" fill="hold" nodeType="afterEffect">
                                  <p:stCondLst>
                                    <p:cond delay="0"/>
                                  </p:stCondLst>
                                  <p:childTnLst>
                                    <p:set>
                                      <p:cBhvr>
                                        <p:cTn id="70" dur="1" fill="hold">
                                          <p:stCondLst>
                                            <p:cond delay="0"/>
                                          </p:stCondLst>
                                        </p:cTn>
                                        <p:tgtEl>
                                          <p:spTgt spid="520"/>
                                        </p:tgtEl>
                                        <p:attrNameLst>
                                          <p:attrName>style.visibility</p:attrName>
                                        </p:attrNameLst>
                                      </p:cBhvr>
                                      <p:to>
                                        <p:strVal val="visible"/>
                                      </p:to>
                                    </p:set>
                                    <p:animEffect transition="in" filter="wipe(down)">
                                      <p:cBhvr>
                                        <p:cTn id="71" dur="500"/>
                                        <p:tgtEl>
                                          <p:spTgt spid="520"/>
                                        </p:tgtEl>
                                      </p:cBhvr>
                                    </p:animEffect>
                                  </p:childTnLst>
                                </p:cTn>
                              </p:par>
                              <p:par>
                                <p:cTn id="72" presetID="1" presetClass="entr" presetSubtype="0" fill="hold" nodeType="withEffect">
                                  <p:stCondLst>
                                    <p:cond delay="0"/>
                                  </p:stCondLst>
                                  <p:childTnLst>
                                    <p:set>
                                      <p:cBhvr>
                                        <p:cTn id="73" dur="1" fill="hold">
                                          <p:stCondLst>
                                            <p:cond delay="0"/>
                                          </p:stCondLst>
                                        </p:cTn>
                                        <p:tgtEl>
                                          <p:spTgt spid="615"/>
                                        </p:tgtEl>
                                        <p:attrNameLst>
                                          <p:attrName>style.visibility</p:attrName>
                                        </p:attrNameLst>
                                      </p:cBhvr>
                                      <p:to>
                                        <p:strVal val="visible"/>
                                      </p:to>
                                    </p:set>
                                  </p:childTnLst>
                                </p:cTn>
                              </p:par>
                              <p:par>
                                <p:cTn id="74" presetID="8" presetClass="emph" presetSubtype="0" repeatCount="indefinite" fill="hold" nodeType="withEffect">
                                  <p:stCondLst>
                                    <p:cond delay="0"/>
                                  </p:stCondLst>
                                  <p:childTnLst>
                                    <p:animRot by="21600000">
                                      <p:cBhvr>
                                        <p:cTn id="75" dur="1500" fill="hold"/>
                                        <p:tgtEl>
                                          <p:spTgt spid="615"/>
                                        </p:tgtEl>
                                        <p:attrNameLst>
                                          <p:attrName>r</p:attrName>
                                        </p:attrNameLst>
                                      </p:cBhvr>
                                    </p:animRot>
                                  </p:childTnLst>
                                </p:cTn>
                              </p:par>
                              <p:par>
                                <p:cTn id="76" presetID="10" presetClass="entr" presetSubtype="0" fill="hold" grpId="0" nodeType="withEffect">
                                  <p:stCondLst>
                                    <p:cond delay="0"/>
                                  </p:stCondLst>
                                  <p:childTnLst>
                                    <p:set>
                                      <p:cBhvr>
                                        <p:cTn id="77" dur="1" fill="hold">
                                          <p:stCondLst>
                                            <p:cond delay="0"/>
                                          </p:stCondLst>
                                        </p:cTn>
                                        <p:tgtEl>
                                          <p:spTgt spid="483"/>
                                        </p:tgtEl>
                                        <p:attrNameLst>
                                          <p:attrName>style.visibility</p:attrName>
                                        </p:attrNameLst>
                                      </p:cBhvr>
                                      <p:to>
                                        <p:strVal val="visible"/>
                                      </p:to>
                                    </p:set>
                                    <p:animEffect transition="in" filter="fade">
                                      <p:cBhvr>
                                        <p:cTn id="78" dur="500"/>
                                        <p:tgtEl>
                                          <p:spTgt spid="483"/>
                                        </p:tgtEl>
                                      </p:cBhvr>
                                    </p:animEffect>
                                  </p:childTnLst>
                                </p:cTn>
                              </p:par>
                              <p:par>
                                <p:cTn id="79" presetID="10" presetClass="entr" presetSubtype="0" fill="hold" nodeType="withEffect">
                                  <p:stCondLst>
                                    <p:cond delay="0"/>
                                  </p:stCondLst>
                                  <p:childTnLst>
                                    <p:set>
                                      <p:cBhvr>
                                        <p:cTn id="80" dur="1" fill="hold">
                                          <p:stCondLst>
                                            <p:cond delay="0"/>
                                          </p:stCondLst>
                                        </p:cTn>
                                        <p:tgtEl>
                                          <p:spTgt spid="513"/>
                                        </p:tgtEl>
                                        <p:attrNameLst>
                                          <p:attrName>style.visibility</p:attrName>
                                        </p:attrNameLst>
                                      </p:cBhvr>
                                      <p:to>
                                        <p:strVal val="visible"/>
                                      </p:to>
                                    </p:set>
                                    <p:animEffect transition="in" filter="fade">
                                      <p:cBhvr>
                                        <p:cTn id="81" dur="500"/>
                                        <p:tgtEl>
                                          <p:spTgt spid="513"/>
                                        </p:tgtEl>
                                      </p:cBhvr>
                                    </p:animEffect>
                                  </p:childTnLst>
                                </p:cTn>
                              </p:par>
                            </p:childTnLst>
                          </p:cTn>
                        </p:par>
                        <p:par>
                          <p:cTn id="82" fill="hold">
                            <p:stCondLst>
                              <p:cond delay="7000"/>
                            </p:stCondLst>
                            <p:childTnLst>
                              <p:par>
                                <p:cTn id="83" presetID="26" presetClass="emph" presetSubtype="0" fill="hold" nodeType="afterEffect">
                                  <p:stCondLst>
                                    <p:cond delay="0"/>
                                  </p:stCondLst>
                                  <p:childTnLst>
                                    <p:animEffect transition="out" filter="fade">
                                      <p:cBhvr>
                                        <p:cTn id="84" dur="500" tmFilter="0, 0; .2, .5; .8, .5; 1, 0"/>
                                        <p:tgtEl>
                                          <p:spTgt spid="513"/>
                                        </p:tgtEl>
                                      </p:cBhvr>
                                    </p:animEffect>
                                    <p:animScale>
                                      <p:cBhvr>
                                        <p:cTn id="85" dur="250" autoRev="1" fill="hold"/>
                                        <p:tgtEl>
                                          <p:spTgt spid="513"/>
                                        </p:tgtEl>
                                      </p:cBhvr>
                                      <p:by x="105000" y="105000"/>
                                    </p:animScale>
                                  </p:childTnLst>
                                </p:cTn>
                              </p:par>
                              <p:par>
                                <p:cTn id="86" presetID="26" presetClass="emph" presetSubtype="0" fill="hold" grpId="1" nodeType="withEffect">
                                  <p:stCondLst>
                                    <p:cond delay="0"/>
                                  </p:stCondLst>
                                  <p:childTnLst>
                                    <p:animEffect transition="out" filter="fade">
                                      <p:cBhvr>
                                        <p:cTn id="87" dur="500" tmFilter="0, 0; .2, .5; .8, .5; 1, 0"/>
                                        <p:tgtEl>
                                          <p:spTgt spid="483"/>
                                        </p:tgtEl>
                                      </p:cBhvr>
                                    </p:animEffect>
                                    <p:animScale>
                                      <p:cBhvr>
                                        <p:cTn id="88" dur="250" autoRev="1" fill="hold"/>
                                        <p:tgtEl>
                                          <p:spTgt spid="483"/>
                                        </p:tgtEl>
                                      </p:cBhvr>
                                      <p:by x="105000" y="105000"/>
                                    </p:animScale>
                                  </p:childTnLst>
                                </p:cTn>
                              </p:par>
                            </p:childTnLst>
                          </p:cTn>
                        </p:par>
                        <p:par>
                          <p:cTn id="89" fill="hold">
                            <p:stCondLst>
                              <p:cond delay="7500"/>
                            </p:stCondLst>
                            <p:childTnLst>
                              <p:par>
                                <p:cTn id="90" presetID="22" presetClass="entr" presetSubtype="2" fill="hold" nodeType="afterEffect">
                                  <p:stCondLst>
                                    <p:cond delay="0"/>
                                  </p:stCondLst>
                                  <p:childTnLst>
                                    <p:set>
                                      <p:cBhvr>
                                        <p:cTn id="91" dur="1" fill="hold">
                                          <p:stCondLst>
                                            <p:cond delay="0"/>
                                          </p:stCondLst>
                                        </p:cTn>
                                        <p:tgtEl>
                                          <p:spTgt spid="526"/>
                                        </p:tgtEl>
                                        <p:attrNameLst>
                                          <p:attrName>style.visibility</p:attrName>
                                        </p:attrNameLst>
                                      </p:cBhvr>
                                      <p:to>
                                        <p:strVal val="visible"/>
                                      </p:to>
                                    </p:set>
                                    <p:animEffect transition="in" filter="wipe(right)">
                                      <p:cBhvr>
                                        <p:cTn id="92" dur="500"/>
                                        <p:tgtEl>
                                          <p:spTgt spid="526"/>
                                        </p:tgtEl>
                                      </p:cBhvr>
                                    </p:animEffect>
                                  </p:childTnLst>
                                </p:cTn>
                              </p:par>
                              <p:par>
                                <p:cTn id="93" presetID="22" presetClass="entr" presetSubtype="4" fill="hold" nodeType="withEffect">
                                  <p:stCondLst>
                                    <p:cond delay="250"/>
                                  </p:stCondLst>
                                  <p:childTnLst>
                                    <p:set>
                                      <p:cBhvr>
                                        <p:cTn id="94" dur="1" fill="hold">
                                          <p:stCondLst>
                                            <p:cond delay="0"/>
                                          </p:stCondLst>
                                        </p:cTn>
                                        <p:tgtEl>
                                          <p:spTgt spid="540"/>
                                        </p:tgtEl>
                                        <p:attrNameLst>
                                          <p:attrName>style.visibility</p:attrName>
                                        </p:attrNameLst>
                                      </p:cBhvr>
                                      <p:to>
                                        <p:strVal val="visible"/>
                                      </p:to>
                                    </p:set>
                                    <p:animEffect transition="in" filter="wipe(down)">
                                      <p:cBhvr>
                                        <p:cTn id="95" dur="500"/>
                                        <p:tgtEl>
                                          <p:spTgt spid="540"/>
                                        </p:tgtEl>
                                      </p:cBhvr>
                                    </p:animEffect>
                                  </p:childTnLst>
                                </p:cTn>
                              </p:par>
                            </p:childTnLst>
                          </p:cTn>
                        </p:par>
                        <p:par>
                          <p:cTn id="96" fill="hold">
                            <p:stCondLst>
                              <p:cond delay="8250"/>
                            </p:stCondLst>
                            <p:childTnLst>
                              <p:par>
                                <p:cTn id="97" presetID="22" presetClass="entr" presetSubtype="2" fill="hold" nodeType="afterEffect">
                                  <p:stCondLst>
                                    <p:cond delay="0"/>
                                  </p:stCondLst>
                                  <p:childTnLst>
                                    <p:set>
                                      <p:cBhvr>
                                        <p:cTn id="98" dur="1" fill="hold">
                                          <p:stCondLst>
                                            <p:cond delay="0"/>
                                          </p:stCondLst>
                                        </p:cTn>
                                        <p:tgtEl>
                                          <p:spTgt spid="539"/>
                                        </p:tgtEl>
                                        <p:attrNameLst>
                                          <p:attrName>style.visibility</p:attrName>
                                        </p:attrNameLst>
                                      </p:cBhvr>
                                      <p:to>
                                        <p:strVal val="visible"/>
                                      </p:to>
                                    </p:set>
                                    <p:animEffect transition="in" filter="wipe(right)">
                                      <p:cBhvr>
                                        <p:cTn id="99" dur="500"/>
                                        <p:tgtEl>
                                          <p:spTgt spid="539"/>
                                        </p:tgtEl>
                                      </p:cBhvr>
                                    </p:animEffect>
                                  </p:childTnLst>
                                </p:cTn>
                              </p:par>
                            </p:childTnLst>
                          </p:cTn>
                        </p:par>
                        <p:par>
                          <p:cTn id="100" fill="hold">
                            <p:stCondLst>
                              <p:cond delay="8750"/>
                            </p:stCondLst>
                            <p:childTnLst>
                              <p:par>
                                <p:cTn id="101" presetID="10" presetClass="entr" presetSubtype="0" fill="hold" grpId="0" nodeType="afterEffect">
                                  <p:stCondLst>
                                    <p:cond delay="0"/>
                                  </p:stCondLst>
                                  <p:childTnLst>
                                    <p:set>
                                      <p:cBhvr>
                                        <p:cTn id="102" dur="1" fill="hold">
                                          <p:stCondLst>
                                            <p:cond delay="0"/>
                                          </p:stCondLst>
                                        </p:cTn>
                                        <p:tgtEl>
                                          <p:spTgt spid="385"/>
                                        </p:tgtEl>
                                        <p:attrNameLst>
                                          <p:attrName>style.visibility</p:attrName>
                                        </p:attrNameLst>
                                      </p:cBhvr>
                                      <p:to>
                                        <p:strVal val="visible"/>
                                      </p:to>
                                    </p:set>
                                    <p:animEffect transition="in" filter="fade">
                                      <p:cBhvr>
                                        <p:cTn id="103" dur="500"/>
                                        <p:tgtEl>
                                          <p:spTgt spid="385"/>
                                        </p:tgtEl>
                                      </p:cBhvr>
                                    </p:animEffect>
                                  </p:childTnLst>
                                </p:cTn>
                              </p:par>
                              <p:par>
                                <p:cTn id="104" presetID="10" presetClass="entr" presetSubtype="0" fill="hold" nodeType="withEffect">
                                  <p:stCondLst>
                                    <p:cond delay="0"/>
                                  </p:stCondLst>
                                  <p:childTnLst>
                                    <p:set>
                                      <p:cBhvr>
                                        <p:cTn id="105" dur="1" fill="hold">
                                          <p:stCondLst>
                                            <p:cond delay="0"/>
                                          </p:stCondLst>
                                        </p:cTn>
                                        <p:tgtEl>
                                          <p:spTgt spid="386"/>
                                        </p:tgtEl>
                                        <p:attrNameLst>
                                          <p:attrName>style.visibility</p:attrName>
                                        </p:attrNameLst>
                                      </p:cBhvr>
                                      <p:to>
                                        <p:strVal val="visible"/>
                                      </p:to>
                                    </p:set>
                                    <p:animEffect transition="in" filter="fade">
                                      <p:cBhvr>
                                        <p:cTn id="106" dur="500"/>
                                        <p:tgtEl>
                                          <p:spTgt spid="386"/>
                                        </p:tgtEl>
                                      </p:cBhvr>
                                    </p:animEffect>
                                  </p:childTnLst>
                                </p:cTn>
                              </p:par>
                            </p:childTnLst>
                          </p:cTn>
                        </p:par>
                        <p:par>
                          <p:cTn id="107" fill="hold">
                            <p:stCondLst>
                              <p:cond delay="9250"/>
                            </p:stCondLst>
                            <p:childTnLst>
                              <p:par>
                                <p:cTn id="108" presetID="10" presetClass="entr" presetSubtype="0" fill="hold" nodeType="afterEffect">
                                  <p:stCondLst>
                                    <p:cond delay="1500"/>
                                  </p:stCondLst>
                                  <p:childTnLst>
                                    <p:set>
                                      <p:cBhvr>
                                        <p:cTn id="109" dur="1" fill="hold">
                                          <p:stCondLst>
                                            <p:cond delay="0"/>
                                          </p:stCondLst>
                                        </p:cTn>
                                        <p:tgtEl>
                                          <p:spTgt spid="672"/>
                                        </p:tgtEl>
                                        <p:attrNameLst>
                                          <p:attrName>style.visibility</p:attrName>
                                        </p:attrNameLst>
                                      </p:cBhvr>
                                      <p:to>
                                        <p:strVal val="visible"/>
                                      </p:to>
                                    </p:set>
                                    <p:animEffect transition="in" filter="fade">
                                      <p:cBhvr>
                                        <p:cTn id="110" dur="500"/>
                                        <p:tgtEl>
                                          <p:spTgt spid="672"/>
                                        </p:tgtEl>
                                      </p:cBhvr>
                                    </p:animEffect>
                                  </p:childTnLst>
                                </p:cTn>
                              </p:par>
                              <p:par>
                                <p:cTn id="111" presetID="10" presetClass="entr" presetSubtype="0" fill="hold" grpId="0" nodeType="withEffect">
                                  <p:stCondLst>
                                    <p:cond delay="1500"/>
                                  </p:stCondLst>
                                  <p:childTnLst>
                                    <p:set>
                                      <p:cBhvr>
                                        <p:cTn id="112" dur="1" fill="hold">
                                          <p:stCondLst>
                                            <p:cond delay="0"/>
                                          </p:stCondLst>
                                        </p:cTn>
                                        <p:tgtEl>
                                          <p:spTgt spid="333"/>
                                        </p:tgtEl>
                                        <p:attrNameLst>
                                          <p:attrName>style.visibility</p:attrName>
                                        </p:attrNameLst>
                                      </p:cBhvr>
                                      <p:to>
                                        <p:strVal val="visible"/>
                                      </p:to>
                                    </p:set>
                                    <p:animEffect transition="in" filter="fade">
                                      <p:cBhvr>
                                        <p:cTn id="113" dur="500"/>
                                        <p:tgtEl>
                                          <p:spTgt spid="333"/>
                                        </p:tgtEl>
                                      </p:cBhvr>
                                    </p:animEffect>
                                  </p:childTnLst>
                                </p:cTn>
                              </p:par>
                              <p:par>
                                <p:cTn id="114" presetID="22" presetClass="entr" presetSubtype="8" fill="hold" nodeType="withEffect">
                                  <p:stCondLst>
                                    <p:cond delay="1500"/>
                                  </p:stCondLst>
                                  <p:childTnLst>
                                    <p:set>
                                      <p:cBhvr>
                                        <p:cTn id="115" dur="1" fill="hold">
                                          <p:stCondLst>
                                            <p:cond delay="0"/>
                                          </p:stCondLst>
                                        </p:cTn>
                                        <p:tgtEl>
                                          <p:spTgt spid="419"/>
                                        </p:tgtEl>
                                        <p:attrNameLst>
                                          <p:attrName>style.visibility</p:attrName>
                                        </p:attrNameLst>
                                      </p:cBhvr>
                                      <p:to>
                                        <p:strVal val="visible"/>
                                      </p:to>
                                    </p:set>
                                    <p:animEffect transition="in" filter="wipe(left)">
                                      <p:cBhvr>
                                        <p:cTn id="116" dur="500"/>
                                        <p:tgtEl>
                                          <p:spTgt spid="419"/>
                                        </p:tgtEl>
                                      </p:cBhvr>
                                    </p:animEffect>
                                  </p:childTnLst>
                                </p:cTn>
                              </p:par>
                            </p:childTnLst>
                          </p:cTn>
                        </p:par>
                        <p:par>
                          <p:cTn id="117" fill="hold">
                            <p:stCondLst>
                              <p:cond delay="11250"/>
                            </p:stCondLst>
                            <p:childTnLst>
                              <p:par>
                                <p:cTn id="118" presetID="22" presetClass="entr" presetSubtype="8" fill="hold" nodeType="afterEffect">
                                  <p:stCondLst>
                                    <p:cond delay="0"/>
                                  </p:stCondLst>
                                  <p:childTnLst>
                                    <p:set>
                                      <p:cBhvr>
                                        <p:cTn id="119" dur="1" fill="hold">
                                          <p:stCondLst>
                                            <p:cond delay="0"/>
                                          </p:stCondLst>
                                        </p:cTn>
                                        <p:tgtEl>
                                          <p:spTgt spid="349"/>
                                        </p:tgtEl>
                                        <p:attrNameLst>
                                          <p:attrName>style.visibility</p:attrName>
                                        </p:attrNameLst>
                                      </p:cBhvr>
                                      <p:to>
                                        <p:strVal val="visible"/>
                                      </p:to>
                                    </p:set>
                                    <p:animEffect transition="in" filter="wipe(left)">
                                      <p:cBhvr>
                                        <p:cTn id="120" dur="250"/>
                                        <p:tgtEl>
                                          <p:spTgt spid="349"/>
                                        </p:tgtEl>
                                      </p:cBhvr>
                                    </p:animEffect>
                                  </p:childTnLst>
                                </p:cTn>
                              </p:par>
                            </p:childTnLst>
                          </p:cTn>
                        </p:par>
                        <p:par>
                          <p:cTn id="121" fill="hold">
                            <p:stCondLst>
                              <p:cond delay="11500"/>
                            </p:stCondLst>
                            <p:childTnLst>
                              <p:par>
                                <p:cTn id="122" presetID="26" presetClass="emph" presetSubtype="0" fill="hold" grpId="1" nodeType="afterEffect">
                                  <p:stCondLst>
                                    <p:cond delay="500"/>
                                  </p:stCondLst>
                                  <p:childTnLst>
                                    <p:animEffect transition="out" filter="fade">
                                      <p:cBhvr>
                                        <p:cTn id="123" dur="500" tmFilter="0, 0; .2, .5; .8, .5; 1, 0"/>
                                        <p:tgtEl>
                                          <p:spTgt spid="333"/>
                                        </p:tgtEl>
                                      </p:cBhvr>
                                    </p:animEffect>
                                    <p:animScale>
                                      <p:cBhvr>
                                        <p:cTn id="124" dur="250" autoRev="1" fill="hold"/>
                                        <p:tgtEl>
                                          <p:spTgt spid="333"/>
                                        </p:tgtEl>
                                      </p:cBhvr>
                                      <p:by x="105000" y="105000"/>
                                    </p:animScale>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nodeType="clickEffect">
                                  <p:stCondLst>
                                    <p:cond delay="0"/>
                                  </p:stCondLst>
                                  <p:childTnLst>
                                    <p:set>
                                      <p:cBhvr>
                                        <p:cTn id="128" dur="1" fill="hold">
                                          <p:stCondLst>
                                            <p:cond delay="0"/>
                                          </p:stCondLst>
                                        </p:cTn>
                                        <p:tgtEl>
                                          <p:spTgt spid="398"/>
                                        </p:tgtEl>
                                        <p:attrNameLst>
                                          <p:attrName>style.visibility</p:attrName>
                                        </p:attrNameLst>
                                      </p:cBhvr>
                                      <p:to>
                                        <p:strVal val="visible"/>
                                      </p:to>
                                    </p:set>
                                    <p:animEffect transition="in" filter="fade">
                                      <p:cBhvr>
                                        <p:cTn id="129" dur="500"/>
                                        <p:tgtEl>
                                          <p:spTgt spid="398"/>
                                        </p:tgtEl>
                                      </p:cBhvr>
                                    </p:animEffect>
                                  </p:childTnLst>
                                </p:cTn>
                              </p:par>
                              <p:par>
                                <p:cTn id="130" presetID="10" presetClass="entr" presetSubtype="0" fill="hold" nodeType="withEffect">
                                  <p:stCondLst>
                                    <p:cond delay="0"/>
                                  </p:stCondLst>
                                  <p:childTnLst>
                                    <p:set>
                                      <p:cBhvr>
                                        <p:cTn id="131" dur="1" fill="hold">
                                          <p:stCondLst>
                                            <p:cond delay="0"/>
                                          </p:stCondLst>
                                        </p:cTn>
                                        <p:tgtEl>
                                          <p:spTgt spid="674"/>
                                        </p:tgtEl>
                                        <p:attrNameLst>
                                          <p:attrName>style.visibility</p:attrName>
                                        </p:attrNameLst>
                                      </p:cBhvr>
                                      <p:to>
                                        <p:strVal val="visible"/>
                                      </p:to>
                                    </p:set>
                                    <p:animEffect transition="in" filter="fade">
                                      <p:cBhvr>
                                        <p:cTn id="132" dur="500"/>
                                        <p:tgtEl>
                                          <p:spTgt spid="674"/>
                                        </p:tgtEl>
                                      </p:cBhvr>
                                    </p:animEffect>
                                  </p:childTnLst>
                                </p:cTn>
                              </p:par>
                              <p:par>
                                <p:cTn id="133" presetID="10" presetClass="entr" presetSubtype="0" fill="hold" nodeType="withEffect">
                                  <p:stCondLst>
                                    <p:cond delay="0"/>
                                  </p:stCondLst>
                                  <p:childTnLst>
                                    <p:set>
                                      <p:cBhvr>
                                        <p:cTn id="134" dur="1" fill="hold">
                                          <p:stCondLst>
                                            <p:cond delay="0"/>
                                          </p:stCondLst>
                                        </p:cTn>
                                        <p:tgtEl>
                                          <p:spTgt spid="401"/>
                                        </p:tgtEl>
                                        <p:attrNameLst>
                                          <p:attrName>style.visibility</p:attrName>
                                        </p:attrNameLst>
                                      </p:cBhvr>
                                      <p:to>
                                        <p:strVal val="visible"/>
                                      </p:to>
                                    </p:set>
                                    <p:animEffect transition="in" filter="fade">
                                      <p:cBhvr>
                                        <p:cTn id="135" dur="500"/>
                                        <p:tgtEl>
                                          <p:spTgt spid="401"/>
                                        </p:tgtEl>
                                      </p:cBhvr>
                                    </p:animEffect>
                                  </p:childTnLst>
                                </p:cTn>
                              </p:par>
                              <p:par>
                                <p:cTn id="136" presetID="10" presetClass="entr" presetSubtype="0" fill="hold" nodeType="withEffect">
                                  <p:stCondLst>
                                    <p:cond delay="0"/>
                                  </p:stCondLst>
                                  <p:childTnLst>
                                    <p:set>
                                      <p:cBhvr>
                                        <p:cTn id="137" dur="1" fill="hold">
                                          <p:stCondLst>
                                            <p:cond delay="0"/>
                                          </p:stCondLst>
                                        </p:cTn>
                                        <p:tgtEl>
                                          <p:spTgt spid="399"/>
                                        </p:tgtEl>
                                        <p:attrNameLst>
                                          <p:attrName>style.visibility</p:attrName>
                                        </p:attrNameLst>
                                      </p:cBhvr>
                                      <p:to>
                                        <p:strVal val="visible"/>
                                      </p:to>
                                    </p:set>
                                    <p:animEffect transition="in" filter="fade">
                                      <p:cBhvr>
                                        <p:cTn id="138" dur="500"/>
                                        <p:tgtEl>
                                          <p:spTgt spid="399"/>
                                        </p:tgtEl>
                                      </p:cBhvr>
                                    </p:animEffect>
                                  </p:childTnLst>
                                </p:cTn>
                              </p:par>
                              <p:par>
                                <p:cTn id="139" presetID="10" presetClass="entr" presetSubtype="0" fill="hold" nodeType="withEffect">
                                  <p:stCondLst>
                                    <p:cond delay="0"/>
                                  </p:stCondLst>
                                  <p:childTnLst>
                                    <p:set>
                                      <p:cBhvr>
                                        <p:cTn id="140" dur="1" fill="hold">
                                          <p:stCondLst>
                                            <p:cond delay="0"/>
                                          </p:stCondLst>
                                        </p:cTn>
                                        <p:tgtEl>
                                          <p:spTgt spid="36"/>
                                        </p:tgtEl>
                                        <p:attrNameLst>
                                          <p:attrName>style.visibility</p:attrName>
                                        </p:attrNameLst>
                                      </p:cBhvr>
                                      <p:to>
                                        <p:strVal val="visible"/>
                                      </p:to>
                                    </p:set>
                                    <p:animEffect transition="in" filter="fade">
                                      <p:cBhvr>
                                        <p:cTn id="141" dur="500"/>
                                        <p:tgtEl>
                                          <p:spTgt spid="36"/>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153"/>
                                        </p:tgtEl>
                                        <p:attrNameLst>
                                          <p:attrName>style.visibility</p:attrName>
                                        </p:attrNameLst>
                                      </p:cBhvr>
                                      <p:to>
                                        <p:strVal val="visible"/>
                                      </p:to>
                                    </p:set>
                                    <p:animEffect transition="in" filter="fade">
                                      <p:cBhvr>
                                        <p:cTn id="144" dur="500"/>
                                        <p:tgtEl>
                                          <p:spTgt spid="153"/>
                                        </p:tgtEl>
                                      </p:cBhvr>
                                    </p:animEffect>
                                  </p:childTnLst>
                                </p:cTn>
                              </p:par>
                              <p:par>
                                <p:cTn id="145" presetID="10" presetClass="entr" presetSubtype="0" fill="hold" nodeType="withEffect">
                                  <p:stCondLst>
                                    <p:cond delay="0"/>
                                  </p:stCondLst>
                                  <p:childTnLst>
                                    <p:set>
                                      <p:cBhvr>
                                        <p:cTn id="146" dur="1" fill="hold">
                                          <p:stCondLst>
                                            <p:cond delay="0"/>
                                          </p:stCondLst>
                                        </p:cTn>
                                        <p:tgtEl>
                                          <p:spTgt spid="213"/>
                                        </p:tgtEl>
                                        <p:attrNameLst>
                                          <p:attrName>style.visibility</p:attrName>
                                        </p:attrNameLst>
                                      </p:cBhvr>
                                      <p:to>
                                        <p:strVal val="visible"/>
                                      </p:to>
                                    </p:set>
                                    <p:animEffect transition="in" filter="fade">
                                      <p:cBhvr>
                                        <p:cTn id="147" dur="500"/>
                                        <p:tgtEl>
                                          <p:spTgt spid="213"/>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193"/>
                                        </p:tgtEl>
                                        <p:attrNameLst>
                                          <p:attrName>style.visibility</p:attrName>
                                        </p:attrNameLst>
                                      </p:cBhvr>
                                      <p:to>
                                        <p:strVal val="visible"/>
                                      </p:to>
                                    </p:set>
                                    <p:animEffect transition="in" filter="fade">
                                      <p:cBhvr>
                                        <p:cTn id="150" dur="500"/>
                                        <p:tgtEl>
                                          <p:spTgt spid="19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194"/>
                                        </p:tgtEl>
                                        <p:attrNameLst>
                                          <p:attrName>style.visibility</p:attrName>
                                        </p:attrNameLst>
                                      </p:cBhvr>
                                      <p:to>
                                        <p:strVal val="visible"/>
                                      </p:to>
                                    </p:set>
                                    <p:animEffect transition="in" filter="fade">
                                      <p:cBhvr>
                                        <p:cTn id="153" dur="500"/>
                                        <p:tgtEl>
                                          <p:spTgt spid="194"/>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195"/>
                                        </p:tgtEl>
                                        <p:attrNameLst>
                                          <p:attrName>style.visibility</p:attrName>
                                        </p:attrNameLst>
                                      </p:cBhvr>
                                      <p:to>
                                        <p:strVal val="visible"/>
                                      </p:to>
                                    </p:set>
                                    <p:animEffect transition="in" filter="fade">
                                      <p:cBhvr>
                                        <p:cTn id="156" dur="500"/>
                                        <p:tgtEl>
                                          <p:spTgt spid="195"/>
                                        </p:tgtEl>
                                      </p:cBhvr>
                                    </p:animEffect>
                                  </p:childTnLst>
                                </p:cTn>
                              </p:par>
                            </p:childTnLst>
                          </p:cTn>
                        </p:par>
                        <p:par>
                          <p:cTn id="157" fill="hold">
                            <p:stCondLst>
                              <p:cond delay="500"/>
                            </p:stCondLst>
                            <p:childTnLst>
                              <p:par>
                                <p:cTn id="158" presetID="10" presetClass="entr" presetSubtype="0" fill="hold" grpId="1" nodeType="afterEffect">
                                  <p:stCondLst>
                                    <p:cond delay="0"/>
                                  </p:stCondLst>
                                  <p:childTnLst>
                                    <p:set>
                                      <p:cBhvr>
                                        <p:cTn id="159" dur="1" fill="hold">
                                          <p:stCondLst>
                                            <p:cond delay="0"/>
                                          </p:stCondLst>
                                        </p:cTn>
                                        <p:tgtEl>
                                          <p:spTgt spid="336"/>
                                        </p:tgtEl>
                                        <p:attrNameLst>
                                          <p:attrName>style.visibility</p:attrName>
                                        </p:attrNameLst>
                                      </p:cBhvr>
                                      <p:to>
                                        <p:strVal val="visible"/>
                                      </p:to>
                                    </p:set>
                                    <p:animEffect transition="in" filter="fade">
                                      <p:cBhvr>
                                        <p:cTn id="160" dur="500"/>
                                        <p:tgtEl>
                                          <p:spTgt spid="336"/>
                                        </p:tgtEl>
                                      </p:cBhvr>
                                    </p:animEffect>
                                  </p:childTnLst>
                                </p:cTn>
                              </p:par>
                            </p:childTnLst>
                          </p:cTn>
                        </p:par>
                        <p:par>
                          <p:cTn id="161" fill="hold">
                            <p:stCondLst>
                              <p:cond delay="1000"/>
                            </p:stCondLst>
                            <p:childTnLst>
                              <p:par>
                                <p:cTn id="162" presetID="22" presetClass="entr" presetSubtype="8" fill="hold" nodeType="afterEffect">
                                  <p:stCondLst>
                                    <p:cond delay="0"/>
                                  </p:stCondLst>
                                  <p:childTnLst>
                                    <p:set>
                                      <p:cBhvr>
                                        <p:cTn id="163" dur="1" fill="hold">
                                          <p:stCondLst>
                                            <p:cond delay="0"/>
                                          </p:stCondLst>
                                        </p:cTn>
                                        <p:tgtEl>
                                          <p:spTgt spid="335"/>
                                        </p:tgtEl>
                                        <p:attrNameLst>
                                          <p:attrName>style.visibility</p:attrName>
                                        </p:attrNameLst>
                                      </p:cBhvr>
                                      <p:to>
                                        <p:strVal val="visible"/>
                                      </p:to>
                                    </p:set>
                                    <p:animEffect transition="in" filter="wipe(left)">
                                      <p:cBhvr>
                                        <p:cTn id="164" dur="250"/>
                                        <p:tgtEl>
                                          <p:spTgt spid="335"/>
                                        </p:tgtEl>
                                      </p:cBhvr>
                                    </p:animEffect>
                                  </p:childTnLst>
                                </p:cTn>
                              </p:par>
                            </p:childTnLst>
                          </p:cTn>
                        </p:par>
                        <p:par>
                          <p:cTn id="165" fill="hold">
                            <p:stCondLst>
                              <p:cond delay="1250"/>
                            </p:stCondLst>
                            <p:childTnLst>
                              <p:par>
                                <p:cTn id="166" presetID="26" presetClass="emph" presetSubtype="0" fill="hold" grpId="0" nodeType="afterEffect">
                                  <p:stCondLst>
                                    <p:cond delay="500"/>
                                  </p:stCondLst>
                                  <p:childTnLst>
                                    <p:animEffect transition="out" filter="fade">
                                      <p:cBhvr>
                                        <p:cTn id="167" dur="500" tmFilter="0, 0; .2, .5; .8, .5; 1, 0"/>
                                        <p:tgtEl>
                                          <p:spTgt spid="336"/>
                                        </p:tgtEl>
                                      </p:cBhvr>
                                    </p:animEffect>
                                    <p:animScale>
                                      <p:cBhvr>
                                        <p:cTn id="168" dur="250" autoRev="1" fill="hold"/>
                                        <p:tgtEl>
                                          <p:spTgt spid="336"/>
                                        </p:tgtEl>
                                      </p:cBhvr>
                                      <p:by x="105000" y="105000"/>
                                    </p:animScale>
                                  </p:childTnLst>
                                </p:cTn>
                              </p:par>
                              <p:par>
                                <p:cTn id="169" presetID="26" presetClass="emph" presetSubtype="0" fill="hold" nodeType="withEffect">
                                  <p:stCondLst>
                                    <p:cond delay="500"/>
                                  </p:stCondLst>
                                  <p:childTnLst>
                                    <p:animEffect transition="out" filter="fade">
                                      <p:cBhvr>
                                        <p:cTn id="170" dur="500" tmFilter="0, 0; .2, .5; .8, .5; 1, 0"/>
                                        <p:tgtEl>
                                          <p:spTgt spid="213"/>
                                        </p:tgtEl>
                                      </p:cBhvr>
                                    </p:animEffect>
                                    <p:animScale>
                                      <p:cBhvr>
                                        <p:cTn id="171" dur="250" autoRev="1" fill="hold"/>
                                        <p:tgtEl>
                                          <p:spTgt spid="213"/>
                                        </p:tgtEl>
                                      </p:cBhvr>
                                      <p:by x="105000" y="105000"/>
                                    </p:animScale>
                                  </p:childTnLst>
                                </p:cTn>
                              </p:par>
                            </p:childTnLst>
                          </p:cTn>
                        </p:par>
                      </p:childTnLst>
                    </p:cTn>
                  </p:par>
                  <p:par>
                    <p:cTn id="172" fill="hold">
                      <p:stCondLst>
                        <p:cond delay="indefinite"/>
                      </p:stCondLst>
                      <p:childTnLst>
                        <p:par>
                          <p:cTn id="173" fill="hold">
                            <p:stCondLst>
                              <p:cond delay="0"/>
                            </p:stCondLst>
                            <p:childTnLst>
                              <p:par>
                                <p:cTn id="174" presetID="10" presetClass="entr" presetSubtype="0" fill="hold" nodeType="clickEffect">
                                  <p:stCondLst>
                                    <p:cond delay="0"/>
                                  </p:stCondLst>
                                  <p:childTnLst>
                                    <p:set>
                                      <p:cBhvr>
                                        <p:cTn id="175" dur="1" fill="hold">
                                          <p:stCondLst>
                                            <p:cond delay="0"/>
                                          </p:stCondLst>
                                        </p:cTn>
                                        <p:tgtEl>
                                          <p:spTgt spid="675"/>
                                        </p:tgtEl>
                                        <p:attrNameLst>
                                          <p:attrName>style.visibility</p:attrName>
                                        </p:attrNameLst>
                                      </p:cBhvr>
                                      <p:to>
                                        <p:strVal val="visible"/>
                                      </p:to>
                                    </p:set>
                                    <p:animEffect transition="in" filter="fade">
                                      <p:cBhvr>
                                        <p:cTn id="176" dur="500"/>
                                        <p:tgtEl>
                                          <p:spTgt spid="675"/>
                                        </p:tgtEl>
                                      </p:cBhvr>
                                    </p:animEffect>
                                  </p:childTnLst>
                                </p:cTn>
                              </p:par>
                            </p:childTnLst>
                          </p:cTn>
                        </p:par>
                        <p:par>
                          <p:cTn id="177" fill="hold">
                            <p:stCondLst>
                              <p:cond delay="500"/>
                            </p:stCondLst>
                            <p:childTnLst>
                              <p:par>
                                <p:cTn id="178" presetID="10" presetClass="exit" presetSubtype="0" fill="hold" nodeType="afterEffect">
                                  <p:stCondLst>
                                    <p:cond delay="250"/>
                                  </p:stCondLst>
                                  <p:childTnLst>
                                    <p:animEffect transition="out" filter="fade">
                                      <p:cBhvr>
                                        <p:cTn id="179" dur="500"/>
                                        <p:tgtEl>
                                          <p:spTgt spid="398"/>
                                        </p:tgtEl>
                                      </p:cBhvr>
                                    </p:animEffect>
                                    <p:set>
                                      <p:cBhvr>
                                        <p:cTn id="180" dur="1" fill="hold">
                                          <p:stCondLst>
                                            <p:cond delay="499"/>
                                          </p:stCondLst>
                                        </p:cTn>
                                        <p:tgtEl>
                                          <p:spTgt spid="398"/>
                                        </p:tgtEl>
                                        <p:attrNameLst>
                                          <p:attrName>style.visibility</p:attrName>
                                        </p:attrNameLst>
                                      </p:cBhvr>
                                      <p:to>
                                        <p:strVal val="hidden"/>
                                      </p:to>
                                    </p:set>
                                  </p:childTnLst>
                                </p:cTn>
                              </p:par>
                              <p:par>
                                <p:cTn id="181" presetID="1" presetClass="exit" presetSubtype="0" fill="hold" grpId="0" nodeType="withEffect">
                                  <p:stCondLst>
                                    <p:cond delay="250"/>
                                  </p:stCondLst>
                                  <p:childTnLst>
                                    <p:set>
                                      <p:cBhvr>
                                        <p:cTn id="182" dur="1" fill="hold">
                                          <p:stCondLst>
                                            <p:cond delay="0"/>
                                          </p:stCondLst>
                                        </p:cTn>
                                        <p:tgtEl>
                                          <p:spTgt spid="4"/>
                                        </p:tgtEl>
                                        <p:attrNameLst>
                                          <p:attrName>style.visibility</p:attrName>
                                        </p:attrNameLst>
                                      </p:cBhvr>
                                      <p:to>
                                        <p:strVal val="hidden"/>
                                      </p:to>
                                    </p:set>
                                  </p:childTnLst>
                                </p:cTn>
                              </p:par>
                              <p:par>
                                <p:cTn id="183" presetID="10" presetClass="exit" presetSubtype="0" fill="hold" nodeType="withEffect">
                                  <p:stCondLst>
                                    <p:cond delay="250"/>
                                  </p:stCondLst>
                                  <p:childTnLst>
                                    <p:animEffect transition="out" filter="fade">
                                      <p:cBhvr>
                                        <p:cTn id="184" dur="500"/>
                                        <p:tgtEl>
                                          <p:spTgt spid="401"/>
                                        </p:tgtEl>
                                      </p:cBhvr>
                                    </p:animEffect>
                                    <p:set>
                                      <p:cBhvr>
                                        <p:cTn id="185" dur="1" fill="hold">
                                          <p:stCondLst>
                                            <p:cond delay="499"/>
                                          </p:stCondLst>
                                        </p:cTn>
                                        <p:tgtEl>
                                          <p:spTgt spid="401"/>
                                        </p:tgtEl>
                                        <p:attrNameLst>
                                          <p:attrName>style.visibility</p:attrName>
                                        </p:attrNameLst>
                                      </p:cBhvr>
                                      <p:to>
                                        <p:strVal val="hidden"/>
                                      </p:to>
                                    </p:set>
                                  </p:childTnLst>
                                </p:cTn>
                              </p:par>
                              <p:par>
                                <p:cTn id="186" presetID="10" presetClass="exit" presetSubtype="0" fill="hold" nodeType="withEffect">
                                  <p:stCondLst>
                                    <p:cond delay="250"/>
                                  </p:stCondLst>
                                  <p:childTnLst>
                                    <p:animEffect transition="out" filter="fade">
                                      <p:cBhvr>
                                        <p:cTn id="187" dur="500"/>
                                        <p:tgtEl>
                                          <p:spTgt spid="399"/>
                                        </p:tgtEl>
                                      </p:cBhvr>
                                    </p:animEffect>
                                    <p:set>
                                      <p:cBhvr>
                                        <p:cTn id="188" dur="1" fill="hold">
                                          <p:stCondLst>
                                            <p:cond delay="499"/>
                                          </p:stCondLst>
                                        </p:cTn>
                                        <p:tgtEl>
                                          <p:spTgt spid="399"/>
                                        </p:tgtEl>
                                        <p:attrNameLst>
                                          <p:attrName>style.visibility</p:attrName>
                                        </p:attrNameLst>
                                      </p:cBhvr>
                                      <p:to>
                                        <p:strVal val="hidden"/>
                                      </p:to>
                                    </p:set>
                                  </p:childTnLst>
                                </p:cTn>
                              </p:par>
                              <p:par>
                                <p:cTn id="189" presetID="10" presetClass="exit" presetSubtype="0" fill="hold" nodeType="withEffect">
                                  <p:stCondLst>
                                    <p:cond delay="250"/>
                                  </p:stCondLst>
                                  <p:childTnLst>
                                    <p:animEffect transition="out" filter="fade">
                                      <p:cBhvr>
                                        <p:cTn id="190" dur="500"/>
                                        <p:tgtEl>
                                          <p:spTgt spid="36"/>
                                        </p:tgtEl>
                                      </p:cBhvr>
                                    </p:animEffect>
                                    <p:set>
                                      <p:cBhvr>
                                        <p:cTn id="191" dur="1" fill="hold">
                                          <p:stCondLst>
                                            <p:cond delay="499"/>
                                          </p:stCondLst>
                                        </p:cTn>
                                        <p:tgtEl>
                                          <p:spTgt spid="36"/>
                                        </p:tgtEl>
                                        <p:attrNameLst>
                                          <p:attrName>style.visibility</p:attrName>
                                        </p:attrNameLst>
                                      </p:cBhvr>
                                      <p:to>
                                        <p:strVal val="hidden"/>
                                      </p:to>
                                    </p:set>
                                  </p:childTnLst>
                                </p:cTn>
                              </p:par>
                              <p:par>
                                <p:cTn id="192" presetID="10" presetClass="exit" presetSubtype="0" fill="hold" grpId="1" nodeType="withEffect">
                                  <p:stCondLst>
                                    <p:cond delay="250"/>
                                  </p:stCondLst>
                                  <p:childTnLst>
                                    <p:animEffect transition="out" filter="fade">
                                      <p:cBhvr>
                                        <p:cTn id="193" dur="500"/>
                                        <p:tgtEl>
                                          <p:spTgt spid="153"/>
                                        </p:tgtEl>
                                      </p:cBhvr>
                                    </p:animEffect>
                                    <p:set>
                                      <p:cBhvr>
                                        <p:cTn id="194" dur="1" fill="hold">
                                          <p:stCondLst>
                                            <p:cond delay="499"/>
                                          </p:stCondLst>
                                        </p:cTn>
                                        <p:tgtEl>
                                          <p:spTgt spid="153"/>
                                        </p:tgtEl>
                                        <p:attrNameLst>
                                          <p:attrName>style.visibility</p:attrName>
                                        </p:attrNameLst>
                                      </p:cBhvr>
                                      <p:to>
                                        <p:strVal val="hidden"/>
                                      </p:to>
                                    </p:set>
                                  </p:childTnLst>
                                </p:cTn>
                              </p:par>
                              <p:par>
                                <p:cTn id="195" presetID="10" presetClass="exit" presetSubtype="0" fill="hold" nodeType="withEffect">
                                  <p:stCondLst>
                                    <p:cond delay="250"/>
                                  </p:stCondLst>
                                  <p:childTnLst>
                                    <p:animEffect transition="out" filter="fade">
                                      <p:cBhvr>
                                        <p:cTn id="196" dur="500"/>
                                        <p:tgtEl>
                                          <p:spTgt spid="213"/>
                                        </p:tgtEl>
                                      </p:cBhvr>
                                    </p:animEffect>
                                    <p:set>
                                      <p:cBhvr>
                                        <p:cTn id="197" dur="1" fill="hold">
                                          <p:stCondLst>
                                            <p:cond delay="499"/>
                                          </p:stCondLst>
                                        </p:cTn>
                                        <p:tgtEl>
                                          <p:spTgt spid="213"/>
                                        </p:tgtEl>
                                        <p:attrNameLst>
                                          <p:attrName>style.visibility</p:attrName>
                                        </p:attrNameLst>
                                      </p:cBhvr>
                                      <p:to>
                                        <p:strVal val="hidden"/>
                                      </p:to>
                                    </p:set>
                                  </p:childTnLst>
                                </p:cTn>
                              </p:par>
                              <p:par>
                                <p:cTn id="198" presetID="10" presetClass="exit" presetSubtype="0" fill="hold" grpId="1" nodeType="withEffect">
                                  <p:stCondLst>
                                    <p:cond delay="250"/>
                                  </p:stCondLst>
                                  <p:childTnLst>
                                    <p:animEffect transition="out" filter="fade">
                                      <p:cBhvr>
                                        <p:cTn id="199" dur="500"/>
                                        <p:tgtEl>
                                          <p:spTgt spid="193"/>
                                        </p:tgtEl>
                                      </p:cBhvr>
                                    </p:animEffect>
                                    <p:set>
                                      <p:cBhvr>
                                        <p:cTn id="200" dur="1" fill="hold">
                                          <p:stCondLst>
                                            <p:cond delay="499"/>
                                          </p:stCondLst>
                                        </p:cTn>
                                        <p:tgtEl>
                                          <p:spTgt spid="193"/>
                                        </p:tgtEl>
                                        <p:attrNameLst>
                                          <p:attrName>style.visibility</p:attrName>
                                        </p:attrNameLst>
                                      </p:cBhvr>
                                      <p:to>
                                        <p:strVal val="hidden"/>
                                      </p:to>
                                    </p:set>
                                  </p:childTnLst>
                                </p:cTn>
                              </p:par>
                              <p:par>
                                <p:cTn id="201" presetID="10" presetClass="exit" presetSubtype="0" fill="hold" grpId="1" nodeType="withEffect">
                                  <p:stCondLst>
                                    <p:cond delay="250"/>
                                  </p:stCondLst>
                                  <p:childTnLst>
                                    <p:animEffect transition="out" filter="fade">
                                      <p:cBhvr>
                                        <p:cTn id="202" dur="500"/>
                                        <p:tgtEl>
                                          <p:spTgt spid="194"/>
                                        </p:tgtEl>
                                      </p:cBhvr>
                                    </p:animEffect>
                                    <p:set>
                                      <p:cBhvr>
                                        <p:cTn id="203" dur="1" fill="hold">
                                          <p:stCondLst>
                                            <p:cond delay="499"/>
                                          </p:stCondLst>
                                        </p:cTn>
                                        <p:tgtEl>
                                          <p:spTgt spid="194"/>
                                        </p:tgtEl>
                                        <p:attrNameLst>
                                          <p:attrName>style.visibility</p:attrName>
                                        </p:attrNameLst>
                                      </p:cBhvr>
                                      <p:to>
                                        <p:strVal val="hidden"/>
                                      </p:to>
                                    </p:set>
                                  </p:childTnLst>
                                </p:cTn>
                              </p:par>
                              <p:par>
                                <p:cTn id="204" presetID="10" presetClass="exit" presetSubtype="0" fill="hold" grpId="1" nodeType="withEffect">
                                  <p:stCondLst>
                                    <p:cond delay="250"/>
                                  </p:stCondLst>
                                  <p:childTnLst>
                                    <p:animEffect transition="out" filter="fade">
                                      <p:cBhvr>
                                        <p:cTn id="205" dur="500"/>
                                        <p:tgtEl>
                                          <p:spTgt spid="195"/>
                                        </p:tgtEl>
                                      </p:cBhvr>
                                    </p:animEffect>
                                    <p:set>
                                      <p:cBhvr>
                                        <p:cTn id="206" dur="1" fill="hold">
                                          <p:stCondLst>
                                            <p:cond delay="499"/>
                                          </p:stCondLst>
                                        </p:cTn>
                                        <p:tgtEl>
                                          <p:spTgt spid="19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74" grpId="0"/>
      <p:bldP spid="385" grpId="0"/>
      <p:bldP spid="333" grpId="0"/>
      <p:bldP spid="333" grpId="1"/>
      <p:bldP spid="336" grpId="0"/>
      <p:bldP spid="336" grpId="1"/>
      <p:bldP spid="153" grpId="0"/>
      <p:bldP spid="153" grpId="1"/>
      <p:bldP spid="193" grpId="0" animBg="1"/>
      <p:bldP spid="193" grpId="1" animBg="1"/>
      <p:bldP spid="194" grpId="0"/>
      <p:bldP spid="194" grpId="1"/>
      <p:bldP spid="195" grpId="0"/>
      <p:bldP spid="195" grpId="1"/>
      <p:bldP spid="367" grpId="0"/>
      <p:bldP spid="482" grpId="0"/>
      <p:bldP spid="482" grpId="1"/>
      <p:bldP spid="483" grpId="0"/>
      <p:bldP spid="483" grpId="1"/>
      <p:bldP spid="380" grpId="0"/>
      <p:bldP spid="381" grpId="0"/>
      <p:bldP spid="38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08497-B724-3337-E164-0F8E74826D9A}"/>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0C636714-4911-8D09-4FF0-1263CF26D442}"/>
              </a:ext>
            </a:extLst>
          </p:cNvPr>
          <p:cNvSpPr/>
          <p:nvPr/>
        </p:nvSpPr>
        <p:spPr>
          <a:xfrm>
            <a:off x="2499758" y="1392005"/>
            <a:ext cx="2762019" cy="2762019"/>
          </a:xfrm>
          <a:prstGeom prst="ellipse">
            <a:avLst/>
          </a:prstGeom>
          <a:gradFill flip="none" rotWithShape="1">
            <a:gsLst>
              <a:gs pos="26000">
                <a:srgbClr val="CCEEFF"/>
              </a:gs>
              <a:gs pos="0">
                <a:schemeClr val="accent1">
                  <a:lumMod val="5000"/>
                  <a:lumOff val="95000"/>
                </a:schemeClr>
              </a:gs>
              <a:gs pos="58000">
                <a:schemeClr val="bg1"/>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Title 1">
            <a:extLst>
              <a:ext uri="{FF2B5EF4-FFF2-40B4-BE49-F238E27FC236}">
                <a16:creationId xmlns:a16="http://schemas.microsoft.com/office/drawing/2014/main" id="{F9FD8954-C017-68AA-C885-2640C67FB635}"/>
              </a:ext>
            </a:extLst>
          </p:cNvPr>
          <p:cNvSpPr>
            <a:spLocks noGrp="1"/>
          </p:cNvSpPr>
          <p:nvPr>
            <p:ph type="title"/>
          </p:nvPr>
        </p:nvSpPr>
        <p:spPr/>
        <p:txBody>
          <a:bodyPr/>
          <a:lstStyle/>
          <a:p>
            <a:r>
              <a:rPr lang="en-US" dirty="0"/>
              <a:t>Run Multiple Workloads and Topologies Simultaneously</a:t>
            </a:r>
          </a:p>
        </p:txBody>
      </p:sp>
      <p:sp>
        <p:nvSpPr>
          <p:cNvPr id="3" name="Subtitle 2">
            <a:extLst>
              <a:ext uri="{FF2B5EF4-FFF2-40B4-BE49-F238E27FC236}">
                <a16:creationId xmlns:a16="http://schemas.microsoft.com/office/drawing/2014/main" id="{D8FD621F-909D-408B-ED4A-C8FC69C48B6B}"/>
              </a:ext>
            </a:extLst>
          </p:cNvPr>
          <p:cNvSpPr>
            <a:spLocks noGrp="1"/>
          </p:cNvSpPr>
          <p:nvPr>
            <p:ph type="subTitle" idx="10"/>
          </p:nvPr>
        </p:nvSpPr>
        <p:spPr/>
        <p:txBody>
          <a:bodyPr/>
          <a:lstStyle/>
          <a:p>
            <a:r>
              <a:rPr lang="en-US" dirty="0"/>
              <a:t>Provides flexibility in powering many types of workloads across different environments</a:t>
            </a:r>
          </a:p>
          <a:p>
            <a:endParaRPr lang="en-US" dirty="0"/>
          </a:p>
        </p:txBody>
      </p:sp>
      <p:sp>
        <p:nvSpPr>
          <p:cNvPr id="5" name="Text Placeholder 4">
            <a:extLst>
              <a:ext uri="{FF2B5EF4-FFF2-40B4-BE49-F238E27FC236}">
                <a16:creationId xmlns:a16="http://schemas.microsoft.com/office/drawing/2014/main" id="{3895CCAF-2292-D82A-7EEC-5DDE646F9EF8}"/>
              </a:ext>
            </a:extLst>
          </p:cNvPr>
          <p:cNvSpPr>
            <a:spLocks noGrp="1"/>
          </p:cNvSpPr>
          <p:nvPr>
            <p:ph type="body" sz="quarter" idx="17"/>
          </p:nvPr>
        </p:nvSpPr>
        <p:spPr/>
        <p:txBody>
          <a:bodyPr/>
          <a:lstStyle/>
          <a:p>
            <a:r>
              <a:rPr lang="en-US" dirty="0"/>
              <a:t>Power </a:t>
            </a:r>
            <a:r>
              <a:rPr lang="en-US" b="1" dirty="0"/>
              <a:t>multiple application types </a:t>
            </a:r>
            <a:r>
              <a:rPr lang="en-US" dirty="0"/>
              <a:t>using vSAN</a:t>
            </a:r>
          </a:p>
          <a:p>
            <a:pPr lvl="1"/>
            <a:r>
              <a:rPr lang="en-US" dirty="0"/>
              <a:t>Business Critical Apps (BCA)</a:t>
            </a:r>
          </a:p>
          <a:p>
            <a:pPr lvl="1"/>
            <a:r>
              <a:rPr lang="en-US" dirty="0"/>
              <a:t>Cloud Native Apps (CNA)</a:t>
            </a:r>
          </a:p>
          <a:p>
            <a:pPr lvl="1"/>
            <a:r>
              <a:rPr lang="en-US" dirty="0"/>
              <a:t>IT Core Infrastructure svcs.</a:t>
            </a:r>
          </a:p>
          <a:p>
            <a:pPr lvl="1"/>
            <a:r>
              <a:rPr lang="en-US" dirty="0"/>
              <a:t>Virtual desktops (VDI)</a:t>
            </a:r>
          </a:p>
          <a:p>
            <a:pPr lvl="1"/>
            <a:r>
              <a:rPr lang="en-US" dirty="0"/>
              <a:t>Edge (2-Node Clusters)</a:t>
            </a:r>
          </a:p>
          <a:p>
            <a:r>
              <a:rPr lang="en-US" b="1" dirty="0"/>
              <a:t>Easily adapt</a:t>
            </a:r>
            <a:r>
              <a:rPr lang="en-US" dirty="0"/>
              <a:t> configuration to evolving needs</a:t>
            </a:r>
          </a:p>
          <a:p>
            <a:r>
              <a:rPr lang="en-US" dirty="0"/>
              <a:t>Use </a:t>
            </a:r>
            <a:r>
              <a:rPr lang="en-US" b="1" dirty="0"/>
              <a:t>multiple topologies </a:t>
            </a:r>
            <a:r>
              <a:rPr lang="en-US" dirty="0"/>
              <a:t>across environment</a:t>
            </a:r>
          </a:p>
          <a:p>
            <a:r>
              <a:rPr lang="en-US" dirty="0"/>
              <a:t>Manage through single interface</a:t>
            </a:r>
          </a:p>
          <a:p>
            <a:endParaRPr lang="en-US" dirty="0"/>
          </a:p>
        </p:txBody>
      </p:sp>
      <p:sp>
        <p:nvSpPr>
          <p:cNvPr id="6" name="Rectangle 5">
            <a:extLst>
              <a:ext uri="{FF2B5EF4-FFF2-40B4-BE49-F238E27FC236}">
                <a16:creationId xmlns:a16="http://schemas.microsoft.com/office/drawing/2014/main" id="{4692F2F2-9610-A1E9-6D96-48AC86CB1C15}"/>
              </a:ext>
            </a:extLst>
          </p:cNvPr>
          <p:cNvSpPr/>
          <p:nvPr/>
        </p:nvSpPr>
        <p:spPr>
          <a:xfrm>
            <a:off x="3672850" y="5851851"/>
            <a:ext cx="1891865" cy="215444"/>
          </a:xfrm>
          <a:prstGeom prst="rect">
            <a:avLst/>
          </a:prstGeom>
        </p:spPr>
        <p:txBody>
          <a:bodyPr wrap="none" lIns="91440" tIns="0" rIns="91440" bIns="0">
            <a:spAutoFit/>
          </a:bodyPr>
          <a:lstStyle/>
          <a:p>
            <a:pPr algn="ctr"/>
            <a:r>
              <a:rPr lang="en-US" sz="1400" dirty="0">
                <a:solidFill>
                  <a:schemeClr val="tx2"/>
                </a:solidFill>
              </a:rPr>
              <a:t>Primary Data center</a:t>
            </a:r>
          </a:p>
        </p:txBody>
      </p:sp>
      <p:grpSp>
        <p:nvGrpSpPr>
          <p:cNvPr id="7" name="Group 6">
            <a:extLst>
              <a:ext uri="{FF2B5EF4-FFF2-40B4-BE49-F238E27FC236}">
                <a16:creationId xmlns:a16="http://schemas.microsoft.com/office/drawing/2014/main" id="{2A368129-2EB8-2213-414A-95AEFC88A69C}"/>
              </a:ext>
            </a:extLst>
          </p:cNvPr>
          <p:cNvGrpSpPr/>
          <p:nvPr/>
        </p:nvGrpSpPr>
        <p:grpSpPr>
          <a:xfrm>
            <a:off x="1013078" y="5629027"/>
            <a:ext cx="2813010" cy="170206"/>
            <a:chOff x="1013078" y="5629027"/>
            <a:chExt cx="2813010" cy="170206"/>
          </a:xfrm>
        </p:grpSpPr>
        <p:cxnSp>
          <p:nvCxnSpPr>
            <p:cNvPr id="8" name="Straight Connector 7">
              <a:extLst>
                <a:ext uri="{FF2B5EF4-FFF2-40B4-BE49-F238E27FC236}">
                  <a16:creationId xmlns:a16="http://schemas.microsoft.com/office/drawing/2014/main" id="{46A3F9D4-B5D8-43BE-F583-4B37AD839EB3}"/>
                </a:ext>
              </a:extLst>
            </p:cNvPr>
            <p:cNvCxnSpPr>
              <a:cxnSpLocks/>
            </p:cNvCxnSpPr>
            <p:nvPr/>
          </p:nvCxnSpPr>
          <p:spPr bwMode="gray">
            <a:xfrm>
              <a:off x="1013078" y="5629027"/>
              <a:ext cx="0" cy="88069"/>
            </a:xfrm>
            <a:prstGeom prst="line">
              <a:avLst/>
            </a:prstGeom>
            <a:solidFill>
              <a:schemeClr val="accent1"/>
            </a:solidFill>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1EAAF5A-F38C-6EF0-EC9E-D757558C151C}"/>
                </a:ext>
              </a:extLst>
            </p:cNvPr>
            <p:cNvCxnSpPr>
              <a:cxnSpLocks/>
              <a:stCxn id="12" idx="3"/>
            </p:cNvCxnSpPr>
            <p:nvPr/>
          </p:nvCxnSpPr>
          <p:spPr bwMode="gray">
            <a:xfrm>
              <a:off x="2631805" y="5714595"/>
              <a:ext cx="1194283" cy="2500"/>
            </a:xfrm>
            <a:prstGeom prst="line">
              <a:avLst/>
            </a:prstGeom>
            <a:solidFill>
              <a:schemeClr val="accent1"/>
            </a:solidFill>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6524497-91DD-1B6D-9EBA-8780849BD6C0}"/>
                </a:ext>
              </a:extLst>
            </p:cNvPr>
            <p:cNvCxnSpPr>
              <a:cxnSpLocks/>
            </p:cNvCxnSpPr>
            <p:nvPr/>
          </p:nvCxnSpPr>
          <p:spPr bwMode="gray">
            <a:xfrm>
              <a:off x="3826088" y="5629027"/>
              <a:ext cx="0" cy="88069"/>
            </a:xfrm>
            <a:prstGeom prst="line">
              <a:avLst/>
            </a:prstGeom>
            <a:solidFill>
              <a:schemeClr val="accent1"/>
            </a:solidFill>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72C8F0A-010F-EF52-6735-F0139B16D091}"/>
                </a:ext>
              </a:extLst>
            </p:cNvPr>
            <p:cNvCxnSpPr>
              <a:cxnSpLocks/>
            </p:cNvCxnSpPr>
            <p:nvPr/>
          </p:nvCxnSpPr>
          <p:spPr bwMode="gray">
            <a:xfrm>
              <a:off x="1013078" y="5717095"/>
              <a:ext cx="1154708" cy="0"/>
            </a:xfrm>
            <a:prstGeom prst="line">
              <a:avLst/>
            </a:prstGeom>
            <a:solidFill>
              <a:schemeClr val="accent1"/>
            </a:solidFill>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4C5076-18C8-5BA4-E18E-B5D5302D94D2}"/>
                </a:ext>
              </a:extLst>
            </p:cNvPr>
            <p:cNvSpPr txBox="1"/>
            <p:nvPr/>
          </p:nvSpPr>
          <p:spPr>
            <a:xfrm>
              <a:off x="2207361" y="5629956"/>
              <a:ext cx="424444" cy="169277"/>
            </a:xfrm>
            <a:prstGeom prst="rect">
              <a:avLst/>
            </a:prstGeom>
          </p:spPr>
          <p:txBody>
            <a:bodyPr wrap="square" lIns="0" tIns="0" rIns="0" bIns="0" rtlCol="0">
              <a:spAutoFit/>
            </a:bodyPr>
            <a:lstStyle/>
            <a:p>
              <a:pPr algn="ctr">
                <a:spcAft>
                  <a:spcPts val="600"/>
                </a:spcAft>
              </a:pPr>
              <a:r>
                <a:rPr lang="en-US" sz="1100" dirty="0">
                  <a:solidFill>
                    <a:schemeClr val="accent3"/>
                  </a:solidFill>
                </a:rPr>
                <a:t>vSAN</a:t>
              </a:r>
            </a:p>
          </p:txBody>
        </p:sp>
      </p:grpSp>
      <p:grpSp>
        <p:nvGrpSpPr>
          <p:cNvPr id="13" name="Group 12">
            <a:extLst>
              <a:ext uri="{FF2B5EF4-FFF2-40B4-BE49-F238E27FC236}">
                <a16:creationId xmlns:a16="http://schemas.microsoft.com/office/drawing/2014/main" id="{58C76C40-7AA4-853D-B539-4702746449B0}"/>
              </a:ext>
            </a:extLst>
          </p:cNvPr>
          <p:cNvGrpSpPr/>
          <p:nvPr/>
        </p:nvGrpSpPr>
        <p:grpSpPr>
          <a:xfrm>
            <a:off x="3173382" y="4936803"/>
            <a:ext cx="652706" cy="639854"/>
            <a:chOff x="3173382" y="4936803"/>
            <a:chExt cx="652706" cy="639854"/>
          </a:xfrm>
        </p:grpSpPr>
        <p:pic>
          <p:nvPicPr>
            <p:cNvPr id="14" name="Graphic 13">
              <a:extLst>
                <a:ext uri="{FF2B5EF4-FFF2-40B4-BE49-F238E27FC236}">
                  <a16:creationId xmlns:a16="http://schemas.microsoft.com/office/drawing/2014/main" id="{6294730B-04B9-7F2A-B807-E35D8C1CE4F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3382" y="5402955"/>
              <a:ext cx="652706" cy="173702"/>
            </a:xfrm>
            <a:prstGeom prst="rect">
              <a:avLst/>
            </a:prstGeom>
          </p:spPr>
        </p:pic>
        <p:pic>
          <p:nvPicPr>
            <p:cNvPr id="15" name="Graphic 14">
              <a:extLst>
                <a:ext uri="{FF2B5EF4-FFF2-40B4-BE49-F238E27FC236}">
                  <a16:creationId xmlns:a16="http://schemas.microsoft.com/office/drawing/2014/main" id="{1B9A30C4-00A8-0B4E-367B-C09A200A6BA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3382" y="5169197"/>
              <a:ext cx="652706" cy="173702"/>
            </a:xfrm>
            <a:prstGeom prst="rect">
              <a:avLst/>
            </a:prstGeom>
          </p:spPr>
        </p:pic>
        <p:pic>
          <p:nvPicPr>
            <p:cNvPr id="16" name="Graphic 15">
              <a:extLst>
                <a:ext uri="{FF2B5EF4-FFF2-40B4-BE49-F238E27FC236}">
                  <a16:creationId xmlns:a16="http://schemas.microsoft.com/office/drawing/2014/main" id="{C130AEE4-259B-885B-86A8-79827F03B2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3382" y="4936803"/>
              <a:ext cx="652706" cy="173702"/>
            </a:xfrm>
            <a:prstGeom prst="rect">
              <a:avLst/>
            </a:prstGeom>
          </p:spPr>
        </p:pic>
      </p:grpSp>
      <p:sp>
        <p:nvSpPr>
          <p:cNvPr id="17" name="Rectangle 16">
            <a:extLst>
              <a:ext uri="{FF2B5EF4-FFF2-40B4-BE49-F238E27FC236}">
                <a16:creationId xmlns:a16="http://schemas.microsoft.com/office/drawing/2014/main" id="{DF0F102A-0786-F1D3-1F7B-DD2B8B5A2443}"/>
              </a:ext>
            </a:extLst>
          </p:cNvPr>
          <p:cNvSpPr/>
          <p:nvPr/>
        </p:nvSpPr>
        <p:spPr>
          <a:xfrm>
            <a:off x="5907256" y="3253019"/>
            <a:ext cx="2056974" cy="215444"/>
          </a:xfrm>
          <a:prstGeom prst="rect">
            <a:avLst/>
          </a:prstGeom>
        </p:spPr>
        <p:txBody>
          <a:bodyPr wrap="none" lIns="91440" tIns="0" rIns="91440" bIns="0">
            <a:spAutoFit/>
          </a:bodyPr>
          <a:lstStyle/>
          <a:p>
            <a:pPr algn="ctr"/>
            <a:r>
              <a:rPr lang="en-US" sz="1400" dirty="0">
                <a:solidFill>
                  <a:schemeClr val="tx2"/>
                </a:solidFill>
              </a:rPr>
              <a:t>Edge / Branch Offices</a:t>
            </a:r>
          </a:p>
        </p:txBody>
      </p:sp>
      <p:grpSp>
        <p:nvGrpSpPr>
          <p:cNvPr id="18" name="Group 17">
            <a:extLst>
              <a:ext uri="{FF2B5EF4-FFF2-40B4-BE49-F238E27FC236}">
                <a16:creationId xmlns:a16="http://schemas.microsoft.com/office/drawing/2014/main" id="{A0FF0FF3-626D-08FF-C967-A633C5377041}"/>
              </a:ext>
            </a:extLst>
          </p:cNvPr>
          <p:cNvGrpSpPr/>
          <p:nvPr/>
        </p:nvGrpSpPr>
        <p:grpSpPr>
          <a:xfrm>
            <a:off x="5442988" y="4936803"/>
            <a:ext cx="655180" cy="862430"/>
            <a:chOff x="4542233" y="4825529"/>
            <a:chExt cx="655180" cy="862430"/>
          </a:xfrm>
        </p:grpSpPr>
        <p:pic>
          <p:nvPicPr>
            <p:cNvPr id="19" name="Graphic 18">
              <a:extLst>
                <a:ext uri="{FF2B5EF4-FFF2-40B4-BE49-F238E27FC236}">
                  <a16:creationId xmlns:a16="http://schemas.microsoft.com/office/drawing/2014/main" id="{78ACA602-7A80-E8E5-EA1C-DB12EB7A50F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48716" y="5057923"/>
              <a:ext cx="644903" cy="171626"/>
            </a:xfrm>
            <a:prstGeom prst="rect">
              <a:avLst/>
            </a:prstGeom>
          </p:spPr>
        </p:pic>
        <p:pic>
          <p:nvPicPr>
            <p:cNvPr id="20" name="Graphic 19">
              <a:extLst>
                <a:ext uri="{FF2B5EF4-FFF2-40B4-BE49-F238E27FC236}">
                  <a16:creationId xmlns:a16="http://schemas.microsoft.com/office/drawing/2014/main" id="{69F7E15E-E896-A590-2CF3-4705A96AAB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48716" y="5293757"/>
              <a:ext cx="644903" cy="171626"/>
            </a:xfrm>
            <a:prstGeom prst="rect">
              <a:avLst/>
            </a:prstGeom>
          </p:spPr>
        </p:pic>
        <p:cxnSp>
          <p:nvCxnSpPr>
            <p:cNvPr id="21" name="Straight Connector 20">
              <a:extLst>
                <a:ext uri="{FF2B5EF4-FFF2-40B4-BE49-F238E27FC236}">
                  <a16:creationId xmlns:a16="http://schemas.microsoft.com/office/drawing/2014/main" id="{BF04EE00-150D-7953-01A5-77098D08F1A4}"/>
                </a:ext>
              </a:extLst>
            </p:cNvPr>
            <p:cNvCxnSpPr>
              <a:cxnSpLocks/>
            </p:cNvCxnSpPr>
            <p:nvPr/>
          </p:nvCxnSpPr>
          <p:spPr bwMode="gray">
            <a:xfrm>
              <a:off x="4546643" y="5517750"/>
              <a:ext cx="0" cy="88403"/>
            </a:xfrm>
            <a:prstGeom prst="line">
              <a:avLst/>
            </a:prstGeom>
            <a:solidFill>
              <a:schemeClr val="accent1"/>
            </a:solidFill>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1BBABFE-D369-4C74-0481-55DBA96689E0}"/>
                </a:ext>
              </a:extLst>
            </p:cNvPr>
            <p:cNvCxnSpPr>
              <a:cxnSpLocks/>
            </p:cNvCxnSpPr>
            <p:nvPr/>
          </p:nvCxnSpPr>
          <p:spPr bwMode="gray">
            <a:xfrm>
              <a:off x="5071450" y="5606153"/>
              <a:ext cx="125963" cy="0"/>
            </a:xfrm>
            <a:prstGeom prst="line">
              <a:avLst/>
            </a:prstGeom>
            <a:solidFill>
              <a:schemeClr val="accent1"/>
            </a:solidFill>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263D7F4-E33F-FCA0-1214-90C3A763CF0E}"/>
                </a:ext>
              </a:extLst>
            </p:cNvPr>
            <p:cNvCxnSpPr>
              <a:cxnSpLocks/>
            </p:cNvCxnSpPr>
            <p:nvPr/>
          </p:nvCxnSpPr>
          <p:spPr bwMode="gray">
            <a:xfrm>
              <a:off x="5192642" y="5517750"/>
              <a:ext cx="0" cy="88403"/>
            </a:xfrm>
            <a:prstGeom prst="line">
              <a:avLst/>
            </a:prstGeom>
            <a:solidFill>
              <a:schemeClr val="accent1"/>
            </a:solidFill>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5E1A160-9C97-3137-9441-6392EB63DB71}"/>
                </a:ext>
              </a:extLst>
            </p:cNvPr>
            <p:cNvCxnSpPr>
              <a:cxnSpLocks/>
            </p:cNvCxnSpPr>
            <p:nvPr/>
          </p:nvCxnSpPr>
          <p:spPr bwMode="gray">
            <a:xfrm>
              <a:off x="4542233" y="5606153"/>
              <a:ext cx="125963" cy="0"/>
            </a:xfrm>
            <a:prstGeom prst="line">
              <a:avLst/>
            </a:prstGeom>
            <a:solidFill>
              <a:schemeClr val="accent1"/>
            </a:solidFill>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AC54E91-E3D7-9609-E251-B5A67CFE0881}"/>
                </a:ext>
              </a:extLst>
            </p:cNvPr>
            <p:cNvSpPr txBox="1"/>
            <p:nvPr/>
          </p:nvSpPr>
          <p:spPr>
            <a:xfrm>
              <a:off x="4663960" y="5518682"/>
              <a:ext cx="426054" cy="169277"/>
            </a:xfrm>
            <a:prstGeom prst="rect">
              <a:avLst/>
            </a:prstGeom>
          </p:spPr>
          <p:txBody>
            <a:bodyPr wrap="square" lIns="0" tIns="0" rIns="0" bIns="0" rtlCol="0">
              <a:spAutoFit/>
            </a:bodyPr>
            <a:lstStyle/>
            <a:p>
              <a:pPr algn="ctr">
                <a:spcAft>
                  <a:spcPts val="600"/>
                </a:spcAft>
              </a:pPr>
              <a:r>
                <a:rPr lang="en-US" sz="1100" dirty="0">
                  <a:solidFill>
                    <a:schemeClr val="accent3"/>
                  </a:solidFill>
                </a:rPr>
                <a:t>vSAN</a:t>
              </a:r>
            </a:p>
          </p:txBody>
        </p:sp>
        <p:pic>
          <p:nvPicPr>
            <p:cNvPr id="26" name="Graphic 25">
              <a:extLst>
                <a:ext uri="{FF2B5EF4-FFF2-40B4-BE49-F238E27FC236}">
                  <a16:creationId xmlns:a16="http://schemas.microsoft.com/office/drawing/2014/main" id="{E603E33B-E581-7BFB-CD74-8237E4711A5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48716" y="4825529"/>
              <a:ext cx="644903" cy="171626"/>
            </a:xfrm>
            <a:prstGeom prst="rect">
              <a:avLst/>
            </a:prstGeom>
          </p:spPr>
        </p:pic>
      </p:grpSp>
      <p:grpSp>
        <p:nvGrpSpPr>
          <p:cNvPr id="27" name="Group 26">
            <a:extLst>
              <a:ext uri="{FF2B5EF4-FFF2-40B4-BE49-F238E27FC236}">
                <a16:creationId xmlns:a16="http://schemas.microsoft.com/office/drawing/2014/main" id="{D007A248-3479-EE1F-1513-AC2E1934759A}"/>
              </a:ext>
            </a:extLst>
          </p:cNvPr>
          <p:cNvGrpSpPr/>
          <p:nvPr/>
        </p:nvGrpSpPr>
        <p:grpSpPr>
          <a:xfrm>
            <a:off x="3953129" y="4936803"/>
            <a:ext cx="1360637" cy="862430"/>
            <a:chOff x="3048149" y="4825529"/>
            <a:chExt cx="1360637" cy="862430"/>
          </a:xfrm>
        </p:grpSpPr>
        <p:grpSp>
          <p:nvGrpSpPr>
            <p:cNvPr id="28" name="Group 27">
              <a:extLst>
                <a:ext uri="{FF2B5EF4-FFF2-40B4-BE49-F238E27FC236}">
                  <a16:creationId xmlns:a16="http://schemas.microsoft.com/office/drawing/2014/main" id="{EF058420-972D-45AA-CCD3-C12E391737C7}"/>
                </a:ext>
              </a:extLst>
            </p:cNvPr>
            <p:cNvGrpSpPr/>
            <p:nvPr/>
          </p:nvGrpSpPr>
          <p:grpSpPr>
            <a:xfrm>
              <a:off x="3048149" y="5291681"/>
              <a:ext cx="1360637" cy="173702"/>
              <a:chOff x="5030904" y="4970294"/>
              <a:chExt cx="1917765" cy="244827"/>
            </a:xfrm>
          </p:grpSpPr>
          <p:pic>
            <p:nvPicPr>
              <p:cNvPr id="41" name="Graphic 40">
                <a:extLst>
                  <a:ext uri="{FF2B5EF4-FFF2-40B4-BE49-F238E27FC236}">
                    <a16:creationId xmlns:a16="http://schemas.microsoft.com/office/drawing/2014/main" id="{83338B04-C959-A7E3-B000-A767CF2DB10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30904" y="4970294"/>
                <a:ext cx="919964" cy="244827"/>
              </a:xfrm>
              <a:prstGeom prst="rect">
                <a:avLst/>
              </a:prstGeom>
            </p:spPr>
          </p:pic>
          <p:pic>
            <p:nvPicPr>
              <p:cNvPr id="42" name="Graphic 41">
                <a:extLst>
                  <a:ext uri="{FF2B5EF4-FFF2-40B4-BE49-F238E27FC236}">
                    <a16:creationId xmlns:a16="http://schemas.microsoft.com/office/drawing/2014/main" id="{92C018F6-CFA6-A8B0-722D-E242474FBE8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28705" y="4970294"/>
                <a:ext cx="919964" cy="244827"/>
              </a:xfrm>
              <a:prstGeom prst="rect">
                <a:avLst/>
              </a:prstGeom>
            </p:spPr>
          </p:pic>
        </p:grpSp>
        <p:grpSp>
          <p:nvGrpSpPr>
            <p:cNvPr id="29" name="Group 28">
              <a:extLst>
                <a:ext uri="{FF2B5EF4-FFF2-40B4-BE49-F238E27FC236}">
                  <a16:creationId xmlns:a16="http://schemas.microsoft.com/office/drawing/2014/main" id="{78BD50FB-F2AC-FFA3-D42A-CD826FF34D02}"/>
                </a:ext>
              </a:extLst>
            </p:cNvPr>
            <p:cNvGrpSpPr/>
            <p:nvPr/>
          </p:nvGrpSpPr>
          <p:grpSpPr>
            <a:xfrm>
              <a:off x="3048149" y="5057923"/>
              <a:ext cx="1360637" cy="173702"/>
              <a:chOff x="5030904" y="4640821"/>
              <a:chExt cx="1917765" cy="244827"/>
            </a:xfrm>
          </p:grpSpPr>
          <p:pic>
            <p:nvPicPr>
              <p:cNvPr id="39" name="Graphic 38">
                <a:extLst>
                  <a:ext uri="{FF2B5EF4-FFF2-40B4-BE49-F238E27FC236}">
                    <a16:creationId xmlns:a16="http://schemas.microsoft.com/office/drawing/2014/main" id="{05462AE9-5210-A428-F3E1-14D99B2627B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30904" y="4640821"/>
                <a:ext cx="919964" cy="244827"/>
              </a:xfrm>
              <a:prstGeom prst="rect">
                <a:avLst/>
              </a:prstGeom>
            </p:spPr>
          </p:pic>
          <p:pic>
            <p:nvPicPr>
              <p:cNvPr id="40" name="Graphic 39">
                <a:extLst>
                  <a:ext uri="{FF2B5EF4-FFF2-40B4-BE49-F238E27FC236}">
                    <a16:creationId xmlns:a16="http://schemas.microsoft.com/office/drawing/2014/main" id="{E60D51AA-2978-7FFE-0745-DC604F5CBF7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28705" y="4640821"/>
                <a:ext cx="919964" cy="244827"/>
              </a:xfrm>
              <a:prstGeom prst="rect">
                <a:avLst/>
              </a:prstGeom>
            </p:spPr>
          </p:pic>
        </p:grpSp>
        <p:grpSp>
          <p:nvGrpSpPr>
            <p:cNvPr id="30" name="Group 29">
              <a:extLst>
                <a:ext uri="{FF2B5EF4-FFF2-40B4-BE49-F238E27FC236}">
                  <a16:creationId xmlns:a16="http://schemas.microsoft.com/office/drawing/2014/main" id="{D4DA71B3-8346-3BF2-0CFF-9B5064815928}"/>
                </a:ext>
              </a:extLst>
            </p:cNvPr>
            <p:cNvGrpSpPr/>
            <p:nvPr/>
          </p:nvGrpSpPr>
          <p:grpSpPr>
            <a:xfrm>
              <a:off x="3048149" y="5517753"/>
              <a:ext cx="1360637" cy="170206"/>
              <a:chOff x="1171761" y="5660610"/>
              <a:chExt cx="1917765" cy="239899"/>
            </a:xfrm>
          </p:grpSpPr>
          <p:cxnSp>
            <p:nvCxnSpPr>
              <p:cNvPr id="34" name="Straight Connector 33">
                <a:extLst>
                  <a:ext uri="{FF2B5EF4-FFF2-40B4-BE49-F238E27FC236}">
                    <a16:creationId xmlns:a16="http://schemas.microsoft.com/office/drawing/2014/main" id="{173C706B-766A-47CB-9BAB-17EDD17754B4}"/>
                  </a:ext>
                </a:extLst>
              </p:cNvPr>
              <p:cNvCxnSpPr>
                <a:cxnSpLocks/>
              </p:cNvCxnSpPr>
              <p:nvPr/>
            </p:nvCxnSpPr>
            <p:spPr bwMode="gray">
              <a:xfrm>
                <a:off x="1177953" y="5660610"/>
                <a:ext cx="0" cy="124130"/>
              </a:xfrm>
              <a:prstGeom prst="line">
                <a:avLst/>
              </a:prstGeom>
              <a:solidFill>
                <a:schemeClr val="accent1"/>
              </a:solidFill>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D05C5A9-916C-FA39-43E1-0AD8AD2D379E}"/>
                  </a:ext>
                </a:extLst>
              </p:cNvPr>
              <p:cNvCxnSpPr>
                <a:cxnSpLocks/>
              </p:cNvCxnSpPr>
              <p:nvPr/>
            </p:nvCxnSpPr>
            <p:spPr bwMode="gray">
              <a:xfrm>
                <a:off x="2424113" y="5784739"/>
                <a:ext cx="665413" cy="0"/>
              </a:xfrm>
              <a:prstGeom prst="line">
                <a:avLst/>
              </a:prstGeom>
              <a:solidFill>
                <a:schemeClr val="accent1"/>
              </a:solidFill>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77BF82B-DC1E-EEDB-55AB-250C7473FD92}"/>
                  </a:ext>
                </a:extLst>
              </p:cNvPr>
              <p:cNvCxnSpPr>
                <a:cxnSpLocks/>
              </p:cNvCxnSpPr>
              <p:nvPr/>
            </p:nvCxnSpPr>
            <p:spPr bwMode="gray">
              <a:xfrm>
                <a:off x="3089526" y="5660610"/>
                <a:ext cx="0" cy="124130"/>
              </a:xfrm>
              <a:prstGeom prst="line">
                <a:avLst/>
              </a:prstGeom>
              <a:solidFill>
                <a:schemeClr val="accent1"/>
              </a:solidFill>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9A2B7D5-7969-8CB4-9332-455433730E30}"/>
                  </a:ext>
                </a:extLst>
              </p:cNvPr>
              <p:cNvCxnSpPr>
                <a:cxnSpLocks/>
              </p:cNvCxnSpPr>
              <p:nvPr/>
            </p:nvCxnSpPr>
            <p:spPr bwMode="gray">
              <a:xfrm>
                <a:off x="1171761" y="5784739"/>
                <a:ext cx="647514" cy="0"/>
              </a:xfrm>
              <a:prstGeom prst="line">
                <a:avLst/>
              </a:prstGeom>
              <a:solidFill>
                <a:schemeClr val="accent1"/>
              </a:solidFill>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6DA59F9-835A-FFEF-352D-7C365BFC6AEA}"/>
                  </a:ext>
                </a:extLst>
              </p:cNvPr>
              <p:cNvSpPr txBox="1"/>
              <p:nvPr/>
            </p:nvSpPr>
            <p:spPr>
              <a:xfrm>
                <a:off x="1829972" y="5661919"/>
                <a:ext cx="598237" cy="238590"/>
              </a:xfrm>
              <a:prstGeom prst="rect">
                <a:avLst/>
              </a:prstGeom>
            </p:spPr>
            <p:txBody>
              <a:bodyPr wrap="square" lIns="0" tIns="0" rIns="0" bIns="0" rtlCol="0">
                <a:spAutoFit/>
              </a:bodyPr>
              <a:lstStyle/>
              <a:p>
                <a:pPr algn="ctr">
                  <a:spcAft>
                    <a:spcPts val="600"/>
                  </a:spcAft>
                </a:pPr>
                <a:r>
                  <a:rPr lang="en-US" sz="1100" dirty="0">
                    <a:solidFill>
                      <a:schemeClr val="accent3"/>
                    </a:solidFill>
                  </a:rPr>
                  <a:t>vSAN</a:t>
                </a:r>
              </a:p>
            </p:txBody>
          </p:sp>
        </p:grpSp>
        <p:grpSp>
          <p:nvGrpSpPr>
            <p:cNvPr id="31" name="Group 30">
              <a:extLst>
                <a:ext uri="{FF2B5EF4-FFF2-40B4-BE49-F238E27FC236}">
                  <a16:creationId xmlns:a16="http://schemas.microsoft.com/office/drawing/2014/main" id="{1E8B85C7-98DB-D722-54B6-A6549B5AA696}"/>
                </a:ext>
              </a:extLst>
            </p:cNvPr>
            <p:cNvGrpSpPr/>
            <p:nvPr/>
          </p:nvGrpSpPr>
          <p:grpSpPr>
            <a:xfrm>
              <a:off x="3048149" y="4825529"/>
              <a:ext cx="1360637" cy="173702"/>
              <a:chOff x="5030904" y="4640821"/>
              <a:chExt cx="1917765" cy="244827"/>
            </a:xfrm>
          </p:grpSpPr>
          <p:pic>
            <p:nvPicPr>
              <p:cNvPr id="32" name="Graphic 31">
                <a:extLst>
                  <a:ext uri="{FF2B5EF4-FFF2-40B4-BE49-F238E27FC236}">
                    <a16:creationId xmlns:a16="http://schemas.microsoft.com/office/drawing/2014/main" id="{716C8BAF-1324-0339-488D-D3586D959F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30904" y="4640821"/>
                <a:ext cx="919964" cy="244827"/>
              </a:xfrm>
              <a:prstGeom prst="rect">
                <a:avLst/>
              </a:prstGeom>
            </p:spPr>
          </p:pic>
          <p:pic>
            <p:nvPicPr>
              <p:cNvPr id="33" name="Graphic 32">
                <a:extLst>
                  <a:ext uri="{FF2B5EF4-FFF2-40B4-BE49-F238E27FC236}">
                    <a16:creationId xmlns:a16="http://schemas.microsoft.com/office/drawing/2014/main" id="{DF6F9B40-D008-A2D1-0BCB-DF1A4094156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28705" y="4640821"/>
                <a:ext cx="919964" cy="244827"/>
              </a:xfrm>
              <a:prstGeom prst="rect">
                <a:avLst/>
              </a:prstGeom>
            </p:spPr>
          </p:pic>
        </p:grpSp>
      </p:grpSp>
      <p:grpSp>
        <p:nvGrpSpPr>
          <p:cNvPr id="43" name="Group 42">
            <a:extLst>
              <a:ext uri="{FF2B5EF4-FFF2-40B4-BE49-F238E27FC236}">
                <a16:creationId xmlns:a16="http://schemas.microsoft.com/office/drawing/2014/main" id="{DEB2C664-B275-5AB2-16BD-B9AD3C4CD788}"/>
              </a:ext>
            </a:extLst>
          </p:cNvPr>
          <p:cNvGrpSpPr/>
          <p:nvPr/>
        </p:nvGrpSpPr>
        <p:grpSpPr>
          <a:xfrm>
            <a:off x="5458658" y="4277145"/>
            <a:ext cx="623840" cy="585369"/>
            <a:chOff x="5988186" y="4165871"/>
            <a:chExt cx="623840" cy="585369"/>
          </a:xfrm>
        </p:grpSpPr>
        <p:grpSp>
          <p:nvGrpSpPr>
            <p:cNvPr id="44" name="Group 43">
              <a:extLst>
                <a:ext uri="{FF2B5EF4-FFF2-40B4-BE49-F238E27FC236}">
                  <a16:creationId xmlns:a16="http://schemas.microsoft.com/office/drawing/2014/main" id="{C3250B2D-1DDB-79AF-6AA6-CD8DB8986959}"/>
                </a:ext>
              </a:extLst>
            </p:cNvPr>
            <p:cNvGrpSpPr/>
            <p:nvPr/>
          </p:nvGrpSpPr>
          <p:grpSpPr>
            <a:xfrm>
              <a:off x="5988186" y="4495798"/>
              <a:ext cx="623840" cy="255442"/>
              <a:chOff x="5219455" y="4399878"/>
              <a:chExt cx="623840" cy="255442"/>
            </a:xfrm>
          </p:grpSpPr>
          <p:pic>
            <p:nvPicPr>
              <p:cNvPr id="48" name="Graphic 47">
                <a:extLst>
                  <a:ext uri="{FF2B5EF4-FFF2-40B4-BE49-F238E27FC236}">
                    <a16:creationId xmlns:a16="http://schemas.microsoft.com/office/drawing/2014/main" id="{D06AD07C-3DEC-13E7-77FC-19B7B4F3C7B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19455" y="4399878"/>
                <a:ext cx="255442" cy="255442"/>
              </a:xfrm>
              <a:prstGeom prst="rect">
                <a:avLst/>
              </a:prstGeom>
            </p:spPr>
          </p:pic>
          <p:pic>
            <p:nvPicPr>
              <p:cNvPr id="49" name="Graphic 48">
                <a:extLst>
                  <a:ext uri="{FF2B5EF4-FFF2-40B4-BE49-F238E27FC236}">
                    <a16:creationId xmlns:a16="http://schemas.microsoft.com/office/drawing/2014/main" id="{4A71AC6B-4758-9019-511B-98E87AC10D3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87853" y="4399878"/>
                <a:ext cx="255442" cy="255442"/>
              </a:xfrm>
              <a:prstGeom prst="rect">
                <a:avLst/>
              </a:prstGeom>
            </p:spPr>
          </p:pic>
        </p:grpSp>
        <p:grpSp>
          <p:nvGrpSpPr>
            <p:cNvPr id="45" name="Group 44">
              <a:extLst>
                <a:ext uri="{FF2B5EF4-FFF2-40B4-BE49-F238E27FC236}">
                  <a16:creationId xmlns:a16="http://schemas.microsoft.com/office/drawing/2014/main" id="{9D59F8B4-B4FA-F6FA-2DAE-5A06D8E243F3}"/>
                </a:ext>
              </a:extLst>
            </p:cNvPr>
            <p:cNvGrpSpPr/>
            <p:nvPr/>
          </p:nvGrpSpPr>
          <p:grpSpPr>
            <a:xfrm>
              <a:off x="5988186" y="4165871"/>
              <a:ext cx="623840" cy="255442"/>
              <a:chOff x="5219455" y="4399878"/>
              <a:chExt cx="623840" cy="255442"/>
            </a:xfrm>
          </p:grpSpPr>
          <p:pic>
            <p:nvPicPr>
              <p:cNvPr id="46" name="Graphic 45">
                <a:extLst>
                  <a:ext uri="{FF2B5EF4-FFF2-40B4-BE49-F238E27FC236}">
                    <a16:creationId xmlns:a16="http://schemas.microsoft.com/office/drawing/2014/main" id="{AC2A00BD-A8DA-E569-3D53-E64F8EE0929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19455" y="4399878"/>
                <a:ext cx="255442" cy="255442"/>
              </a:xfrm>
              <a:prstGeom prst="rect">
                <a:avLst/>
              </a:prstGeom>
            </p:spPr>
          </p:pic>
          <p:pic>
            <p:nvPicPr>
              <p:cNvPr id="47" name="Graphic 46">
                <a:extLst>
                  <a:ext uri="{FF2B5EF4-FFF2-40B4-BE49-F238E27FC236}">
                    <a16:creationId xmlns:a16="http://schemas.microsoft.com/office/drawing/2014/main" id="{0AB61930-82CB-842C-7AAF-35CA28A8F5E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87853" y="4399878"/>
                <a:ext cx="255442" cy="255442"/>
              </a:xfrm>
              <a:prstGeom prst="rect">
                <a:avLst/>
              </a:prstGeom>
            </p:spPr>
          </p:pic>
        </p:grpSp>
      </p:grpSp>
      <p:grpSp>
        <p:nvGrpSpPr>
          <p:cNvPr id="50" name="Group 49">
            <a:extLst>
              <a:ext uri="{FF2B5EF4-FFF2-40B4-BE49-F238E27FC236}">
                <a16:creationId xmlns:a16="http://schemas.microsoft.com/office/drawing/2014/main" id="{98283C0D-B5C5-BA83-7F83-81A35002C500}"/>
              </a:ext>
            </a:extLst>
          </p:cNvPr>
          <p:cNvGrpSpPr/>
          <p:nvPr/>
        </p:nvGrpSpPr>
        <p:grpSpPr>
          <a:xfrm>
            <a:off x="3202248" y="4277145"/>
            <a:ext cx="623840" cy="585369"/>
            <a:chOff x="3202248" y="4277145"/>
            <a:chExt cx="623840" cy="585369"/>
          </a:xfrm>
        </p:grpSpPr>
        <p:pic>
          <p:nvPicPr>
            <p:cNvPr id="51" name="Graphic 50">
              <a:extLst>
                <a:ext uri="{FF2B5EF4-FFF2-40B4-BE49-F238E27FC236}">
                  <a16:creationId xmlns:a16="http://schemas.microsoft.com/office/drawing/2014/main" id="{F09EE7AE-A00A-A5D3-44A0-2ED81F9F590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202248" y="4611224"/>
              <a:ext cx="255444" cy="251290"/>
            </a:xfrm>
            <a:prstGeom prst="rect">
              <a:avLst/>
            </a:prstGeom>
          </p:spPr>
        </p:pic>
        <p:sp>
          <p:nvSpPr>
            <p:cNvPr id="52" name="Freeform 34">
              <a:extLst>
                <a:ext uri="{FF2B5EF4-FFF2-40B4-BE49-F238E27FC236}">
                  <a16:creationId xmlns:a16="http://schemas.microsoft.com/office/drawing/2014/main" id="{ABC1B5AD-7B6E-A844-E8CD-8F668CF499E8}"/>
                </a:ext>
              </a:extLst>
            </p:cNvPr>
            <p:cNvSpPr>
              <a:spLocks noChangeAspect="1" noEditPoints="1"/>
            </p:cNvSpPr>
            <p:nvPr/>
          </p:nvSpPr>
          <p:spPr bwMode="auto">
            <a:xfrm>
              <a:off x="3570644" y="4607072"/>
              <a:ext cx="255444" cy="255442"/>
            </a:xfrm>
            <a:custGeom>
              <a:avLst/>
              <a:gdLst>
                <a:gd name="T0" fmla="*/ 368 w 384"/>
                <a:gd name="T1" fmla="*/ 29 h 384"/>
                <a:gd name="T2" fmla="*/ 355 w 384"/>
                <a:gd name="T3" fmla="*/ 368 h 384"/>
                <a:gd name="T4" fmla="*/ 16 w 384"/>
                <a:gd name="T5" fmla="*/ 355 h 384"/>
                <a:gd name="T6" fmla="*/ 29 w 384"/>
                <a:gd name="T7" fmla="*/ 16 h 384"/>
                <a:gd name="T8" fmla="*/ 355 w 384"/>
                <a:gd name="T9" fmla="*/ 0 h 384"/>
                <a:gd name="T10" fmla="*/ 0 w 384"/>
                <a:gd name="T11" fmla="*/ 29 h 384"/>
                <a:gd name="T12" fmla="*/ 29 w 384"/>
                <a:gd name="T13" fmla="*/ 384 h 384"/>
                <a:gd name="T14" fmla="*/ 384 w 384"/>
                <a:gd name="T15" fmla="*/ 355 h 384"/>
                <a:gd name="T16" fmla="*/ 355 w 384"/>
                <a:gd name="T17" fmla="*/ 0 h 384"/>
                <a:gd name="T18" fmla="*/ 114 w 384"/>
                <a:gd name="T19" fmla="*/ 164 h 384"/>
                <a:gd name="T20" fmla="*/ 122 w 384"/>
                <a:gd name="T21" fmla="*/ 159 h 384"/>
                <a:gd name="T22" fmla="*/ 156 w 384"/>
                <a:gd name="T23" fmla="*/ 223 h 384"/>
                <a:gd name="T24" fmla="*/ 151 w 384"/>
                <a:gd name="T25" fmla="*/ 231 h 384"/>
                <a:gd name="T26" fmla="*/ 139 w 384"/>
                <a:gd name="T27" fmla="*/ 214 h 384"/>
                <a:gd name="T28" fmla="*/ 98 w 384"/>
                <a:gd name="T29" fmla="*/ 227 h 384"/>
                <a:gd name="T30" fmla="*/ 87 w 384"/>
                <a:gd name="T31" fmla="*/ 226 h 384"/>
                <a:gd name="T32" fmla="*/ 134 w 384"/>
                <a:gd name="T33" fmla="*/ 203 h 384"/>
                <a:gd name="T34" fmla="*/ 109 w 384"/>
                <a:gd name="T35" fmla="*/ 203 h 384"/>
                <a:gd name="T36" fmla="*/ 170 w 384"/>
                <a:gd name="T37" fmla="*/ 165 h 384"/>
                <a:gd name="T38" fmla="*/ 198 w 384"/>
                <a:gd name="T39" fmla="*/ 160 h 384"/>
                <a:gd name="T40" fmla="*/ 225 w 384"/>
                <a:gd name="T41" fmla="*/ 184 h 384"/>
                <a:gd name="T42" fmla="*/ 182 w 384"/>
                <a:gd name="T43" fmla="*/ 208 h 384"/>
                <a:gd name="T44" fmla="*/ 176 w 384"/>
                <a:gd name="T45" fmla="*/ 231 h 384"/>
                <a:gd name="T46" fmla="*/ 170 w 384"/>
                <a:gd name="T47" fmla="*/ 165 h 384"/>
                <a:gd name="T48" fmla="*/ 212 w 384"/>
                <a:gd name="T49" fmla="*/ 184 h 384"/>
                <a:gd name="T50" fmla="*/ 197 w 384"/>
                <a:gd name="T51" fmla="*/ 171 h 384"/>
                <a:gd name="T52" fmla="*/ 182 w 384"/>
                <a:gd name="T53" fmla="*/ 197 h 384"/>
                <a:gd name="T54" fmla="*/ 238 w 384"/>
                <a:gd name="T55" fmla="*/ 165 h 384"/>
                <a:gd name="T56" fmla="*/ 265 w 384"/>
                <a:gd name="T57" fmla="*/ 160 h 384"/>
                <a:gd name="T58" fmla="*/ 292 w 384"/>
                <a:gd name="T59" fmla="*/ 184 h 384"/>
                <a:gd name="T60" fmla="*/ 250 w 384"/>
                <a:gd name="T61" fmla="*/ 208 h 384"/>
                <a:gd name="T62" fmla="*/ 244 w 384"/>
                <a:gd name="T63" fmla="*/ 231 h 384"/>
                <a:gd name="T64" fmla="*/ 238 w 384"/>
                <a:gd name="T65" fmla="*/ 165 h 384"/>
                <a:gd name="T66" fmla="*/ 280 w 384"/>
                <a:gd name="T67" fmla="*/ 184 h 384"/>
                <a:gd name="T68" fmla="*/ 264 w 384"/>
                <a:gd name="T69" fmla="*/ 171 h 384"/>
                <a:gd name="T70" fmla="*/ 250 w 384"/>
                <a:gd name="T71" fmla="*/ 197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84" h="384">
                  <a:moveTo>
                    <a:pt x="355" y="16"/>
                  </a:moveTo>
                  <a:cubicBezTo>
                    <a:pt x="362" y="16"/>
                    <a:pt x="368" y="22"/>
                    <a:pt x="368" y="29"/>
                  </a:cubicBezTo>
                  <a:cubicBezTo>
                    <a:pt x="368" y="355"/>
                    <a:pt x="368" y="355"/>
                    <a:pt x="368" y="355"/>
                  </a:cubicBezTo>
                  <a:cubicBezTo>
                    <a:pt x="368" y="362"/>
                    <a:pt x="362" y="368"/>
                    <a:pt x="355" y="368"/>
                  </a:cubicBezTo>
                  <a:cubicBezTo>
                    <a:pt x="29" y="368"/>
                    <a:pt x="29" y="368"/>
                    <a:pt x="29" y="368"/>
                  </a:cubicBezTo>
                  <a:cubicBezTo>
                    <a:pt x="22" y="368"/>
                    <a:pt x="16" y="362"/>
                    <a:pt x="16" y="355"/>
                  </a:cubicBezTo>
                  <a:cubicBezTo>
                    <a:pt x="16" y="29"/>
                    <a:pt x="16" y="29"/>
                    <a:pt x="16" y="29"/>
                  </a:cubicBezTo>
                  <a:cubicBezTo>
                    <a:pt x="16" y="22"/>
                    <a:pt x="22" y="16"/>
                    <a:pt x="29" y="16"/>
                  </a:cubicBezTo>
                  <a:cubicBezTo>
                    <a:pt x="355" y="16"/>
                    <a:pt x="355" y="16"/>
                    <a:pt x="355" y="16"/>
                  </a:cubicBezTo>
                  <a:moveTo>
                    <a:pt x="355" y="0"/>
                  </a:moveTo>
                  <a:cubicBezTo>
                    <a:pt x="29" y="0"/>
                    <a:pt x="29" y="0"/>
                    <a:pt x="29" y="0"/>
                  </a:cubicBezTo>
                  <a:cubicBezTo>
                    <a:pt x="13" y="0"/>
                    <a:pt x="0" y="13"/>
                    <a:pt x="0" y="29"/>
                  </a:cubicBezTo>
                  <a:cubicBezTo>
                    <a:pt x="0" y="355"/>
                    <a:pt x="0" y="355"/>
                    <a:pt x="0" y="355"/>
                  </a:cubicBezTo>
                  <a:cubicBezTo>
                    <a:pt x="0" y="371"/>
                    <a:pt x="13" y="384"/>
                    <a:pt x="29" y="384"/>
                  </a:cubicBezTo>
                  <a:cubicBezTo>
                    <a:pt x="355" y="384"/>
                    <a:pt x="355" y="384"/>
                    <a:pt x="355" y="384"/>
                  </a:cubicBezTo>
                  <a:cubicBezTo>
                    <a:pt x="371" y="384"/>
                    <a:pt x="384" y="371"/>
                    <a:pt x="384" y="355"/>
                  </a:cubicBezTo>
                  <a:cubicBezTo>
                    <a:pt x="384" y="29"/>
                    <a:pt x="384" y="29"/>
                    <a:pt x="384" y="29"/>
                  </a:cubicBezTo>
                  <a:cubicBezTo>
                    <a:pt x="384" y="13"/>
                    <a:pt x="371" y="0"/>
                    <a:pt x="355" y="0"/>
                  </a:cubicBezTo>
                  <a:close/>
                  <a:moveTo>
                    <a:pt x="88" y="223"/>
                  </a:moveTo>
                  <a:cubicBezTo>
                    <a:pt x="114" y="164"/>
                    <a:pt x="114" y="164"/>
                    <a:pt x="114" y="164"/>
                  </a:cubicBezTo>
                  <a:cubicBezTo>
                    <a:pt x="115" y="161"/>
                    <a:pt x="118" y="159"/>
                    <a:pt x="121" y="159"/>
                  </a:cubicBezTo>
                  <a:cubicBezTo>
                    <a:pt x="122" y="159"/>
                    <a:pt x="122" y="159"/>
                    <a:pt x="122" y="159"/>
                  </a:cubicBezTo>
                  <a:cubicBezTo>
                    <a:pt x="126" y="159"/>
                    <a:pt x="128" y="161"/>
                    <a:pt x="129" y="164"/>
                  </a:cubicBezTo>
                  <a:cubicBezTo>
                    <a:pt x="156" y="223"/>
                    <a:pt x="156" y="223"/>
                    <a:pt x="156" y="223"/>
                  </a:cubicBezTo>
                  <a:cubicBezTo>
                    <a:pt x="156" y="224"/>
                    <a:pt x="156" y="225"/>
                    <a:pt x="156" y="225"/>
                  </a:cubicBezTo>
                  <a:cubicBezTo>
                    <a:pt x="156" y="229"/>
                    <a:pt x="154" y="231"/>
                    <a:pt x="151" y="231"/>
                  </a:cubicBezTo>
                  <a:cubicBezTo>
                    <a:pt x="148" y="231"/>
                    <a:pt x="146" y="230"/>
                    <a:pt x="145" y="227"/>
                  </a:cubicBezTo>
                  <a:cubicBezTo>
                    <a:pt x="139" y="214"/>
                    <a:pt x="139" y="214"/>
                    <a:pt x="139" y="214"/>
                  </a:cubicBezTo>
                  <a:cubicBezTo>
                    <a:pt x="104" y="214"/>
                    <a:pt x="104" y="214"/>
                    <a:pt x="104" y="214"/>
                  </a:cubicBezTo>
                  <a:cubicBezTo>
                    <a:pt x="98" y="227"/>
                    <a:pt x="98" y="227"/>
                    <a:pt x="98" y="227"/>
                  </a:cubicBezTo>
                  <a:cubicBezTo>
                    <a:pt x="97" y="230"/>
                    <a:pt x="95" y="231"/>
                    <a:pt x="93" y="231"/>
                  </a:cubicBezTo>
                  <a:cubicBezTo>
                    <a:pt x="89" y="231"/>
                    <a:pt x="87" y="229"/>
                    <a:pt x="87" y="226"/>
                  </a:cubicBezTo>
                  <a:cubicBezTo>
                    <a:pt x="87" y="225"/>
                    <a:pt x="87" y="224"/>
                    <a:pt x="88" y="223"/>
                  </a:cubicBezTo>
                  <a:close/>
                  <a:moveTo>
                    <a:pt x="134" y="203"/>
                  </a:moveTo>
                  <a:cubicBezTo>
                    <a:pt x="122" y="174"/>
                    <a:pt x="122" y="174"/>
                    <a:pt x="122" y="174"/>
                  </a:cubicBezTo>
                  <a:cubicBezTo>
                    <a:pt x="109" y="203"/>
                    <a:pt x="109" y="203"/>
                    <a:pt x="109" y="203"/>
                  </a:cubicBezTo>
                  <a:lnTo>
                    <a:pt x="134" y="203"/>
                  </a:lnTo>
                  <a:close/>
                  <a:moveTo>
                    <a:pt x="170" y="165"/>
                  </a:moveTo>
                  <a:cubicBezTo>
                    <a:pt x="170" y="162"/>
                    <a:pt x="172" y="160"/>
                    <a:pt x="175" y="160"/>
                  </a:cubicBezTo>
                  <a:cubicBezTo>
                    <a:pt x="198" y="160"/>
                    <a:pt x="198" y="160"/>
                    <a:pt x="198" y="160"/>
                  </a:cubicBezTo>
                  <a:cubicBezTo>
                    <a:pt x="214" y="160"/>
                    <a:pt x="225" y="169"/>
                    <a:pt x="225" y="184"/>
                  </a:cubicBezTo>
                  <a:cubicBezTo>
                    <a:pt x="225" y="184"/>
                    <a:pt x="225" y="184"/>
                    <a:pt x="225" y="184"/>
                  </a:cubicBezTo>
                  <a:cubicBezTo>
                    <a:pt x="225" y="200"/>
                    <a:pt x="212" y="208"/>
                    <a:pt x="196" y="208"/>
                  </a:cubicBezTo>
                  <a:cubicBezTo>
                    <a:pt x="182" y="208"/>
                    <a:pt x="182" y="208"/>
                    <a:pt x="182" y="208"/>
                  </a:cubicBezTo>
                  <a:cubicBezTo>
                    <a:pt x="182" y="225"/>
                    <a:pt x="182" y="225"/>
                    <a:pt x="182" y="225"/>
                  </a:cubicBezTo>
                  <a:cubicBezTo>
                    <a:pt x="182" y="229"/>
                    <a:pt x="180" y="231"/>
                    <a:pt x="176" y="231"/>
                  </a:cubicBezTo>
                  <a:cubicBezTo>
                    <a:pt x="173" y="231"/>
                    <a:pt x="170" y="229"/>
                    <a:pt x="170" y="225"/>
                  </a:cubicBezTo>
                  <a:lnTo>
                    <a:pt x="170" y="165"/>
                  </a:lnTo>
                  <a:close/>
                  <a:moveTo>
                    <a:pt x="197" y="197"/>
                  </a:moveTo>
                  <a:cubicBezTo>
                    <a:pt x="206" y="197"/>
                    <a:pt x="212" y="192"/>
                    <a:pt x="212" y="184"/>
                  </a:cubicBezTo>
                  <a:cubicBezTo>
                    <a:pt x="212" y="184"/>
                    <a:pt x="212" y="184"/>
                    <a:pt x="212" y="184"/>
                  </a:cubicBezTo>
                  <a:cubicBezTo>
                    <a:pt x="212" y="176"/>
                    <a:pt x="206" y="171"/>
                    <a:pt x="197" y="171"/>
                  </a:cubicBezTo>
                  <a:cubicBezTo>
                    <a:pt x="182" y="171"/>
                    <a:pt x="182" y="171"/>
                    <a:pt x="182" y="171"/>
                  </a:cubicBezTo>
                  <a:cubicBezTo>
                    <a:pt x="182" y="197"/>
                    <a:pt x="182" y="197"/>
                    <a:pt x="182" y="197"/>
                  </a:cubicBezTo>
                  <a:lnTo>
                    <a:pt x="197" y="197"/>
                  </a:lnTo>
                  <a:close/>
                  <a:moveTo>
                    <a:pt x="238" y="165"/>
                  </a:moveTo>
                  <a:cubicBezTo>
                    <a:pt x="238" y="162"/>
                    <a:pt x="240" y="160"/>
                    <a:pt x="243" y="160"/>
                  </a:cubicBezTo>
                  <a:cubicBezTo>
                    <a:pt x="265" y="160"/>
                    <a:pt x="265" y="160"/>
                    <a:pt x="265" y="160"/>
                  </a:cubicBezTo>
                  <a:cubicBezTo>
                    <a:pt x="282" y="160"/>
                    <a:pt x="292" y="169"/>
                    <a:pt x="292" y="184"/>
                  </a:cubicBezTo>
                  <a:cubicBezTo>
                    <a:pt x="292" y="184"/>
                    <a:pt x="292" y="184"/>
                    <a:pt x="292" y="184"/>
                  </a:cubicBezTo>
                  <a:cubicBezTo>
                    <a:pt x="292" y="200"/>
                    <a:pt x="280" y="208"/>
                    <a:pt x="264" y="208"/>
                  </a:cubicBezTo>
                  <a:cubicBezTo>
                    <a:pt x="250" y="208"/>
                    <a:pt x="250" y="208"/>
                    <a:pt x="250" y="208"/>
                  </a:cubicBezTo>
                  <a:cubicBezTo>
                    <a:pt x="250" y="225"/>
                    <a:pt x="250" y="225"/>
                    <a:pt x="250" y="225"/>
                  </a:cubicBezTo>
                  <a:cubicBezTo>
                    <a:pt x="250" y="229"/>
                    <a:pt x="247" y="231"/>
                    <a:pt x="244" y="231"/>
                  </a:cubicBezTo>
                  <a:cubicBezTo>
                    <a:pt x="240" y="231"/>
                    <a:pt x="238" y="229"/>
                    <a:pt x="238" y="225"/>
                  </a:cubicBezTo>
                  <a:lnTo>
                    <a:pt x="238" y="165"/>
                  </a:lnTo>
                  <a:close/>
                  <a:moveTo>
                    <a:pt x="264" y="197"/>
                  </a:moveTo>
                  <a:cubicBezTo>
                    <a:pt x="274" y="197"/>
                    <a:pt x="280" y="192"/>
                    <a:pt x="280" y="184"/>
                  </a:cubicBezTo>
                  <a:cubicBezTo>
                    <a:pt x="280" y="184"/>
                    <a:pt x="280" y="184"/>
                    <a:pt x="280" y="184"/>
                  </a:cubicBezTo>
                  <a:cubicBezTo>
                    <a:pt x="280" y="176"/>
                    <a:pt x="274" y="171"/>
                    <a:pt x="264" y="171"/>
                  </a:cubicBezTo>
                  <a:cubicBezTo>
                    <a:pt x="250" y="171"/>
                    <a:pt x="250" y="171"/>
                    <a:pt x="250" y="171"/>
                  </a:cubicBezTo>
                  <a:cubicBezTo>
                    <a:pt x="250" y="197"/>
                    <a:pt x="250" y="197"/>
                    <a:pt x="250" y="197"/>
                  </a:cubicBezTo>
                  <a:lnTo>
                    <a:pt x="264" y="197"/>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pic>
          <p:nvPicPr>
            <p:cNvPr id="53" name="Graphic 52">
              <a:extLst>
                <a:ext uri="{FF2B5EF4-FFF2-40B4-BE49-F238E27FC236}">
                  <a16:creationId xmlns:a16="http://schemas.microsoft.com/office/drawing/2014/main" id="{5E5437AB-E67D-29FE-20B7-EE94F02E684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202248" y="4281297"/>
              <a:ext cx="255444" cy="251290"/>
            </a:xfrm>
            <a:prstGeom prst="rect">
              <a:avLst/>
            </a:prstGeom>
          </p:spPr>
        </p:pic>
        <p:sp>
          <p:nvSpPr>
            <p:cNvPr id="54" name="Freeform 34">
              <a:extLst>
                <a:ext uri="{FF2B5EF4-FFF2-40B4-BE49-F238E27FC236}">
                  <a16:creationId xmlns:a16="http://schemas.microsoft.com/office/drawing/2014/main" id="{A04A9E87-51D6-076B-5588-821CBD582B9E}"/>
                </a:ext>
              </a:extLst>
            </p:cNvPr>
            <p:cNvSpPr>
              <a:spLocks noChangeAspect="1" noEditPoints="1"/>
            </p:cNvSpPr>
            <p:nvPr/>
          </p:nvSpPr>
          <p:spPr bwMode="auto">
            <a:xfrm>
              <a:off x="3570644" y="4277145"/>
              <a:ext cx="255444" cy="255442"/>
            </a:xfrm>
            <a:custGeom>
              <a:avLst/>
              <a:gdLst>
                <a:gd name="T0" fmla="*/ 368 w 384"/>
                <a:gd name="T1" fmla="*/ 29 h 384"/>
                <a:gd name="T2" fmla="*/ 355 w 384"/>
                <a:gd name="T3" fmla="*/ 368 h 384"/>
                <a:gd name="T4" fmla="*/ 16 w 384"/>
                <a:gd name="T5" fmla="*/ 355 h 384"/>
                <a:gd name="T6" fmla="*/ 29 w 384"/>
                <a:gd name="T7" fmla="*/ 16 h 384"/>
                <a:gd name="T8" fmla="*/ 355 w 384"/>
                <a:gd name="T9" fmla="*/ 0 h 384"/>
                <a:gd name="T10" fmla="*/ 0 w 384"/>
                <a:gd name="T11" fmla="*/ 29 h 384"/>
                <a:gd name="T12" fmla="*/ 29 w 384"/>
                <a:gd name="T13" fmla="*/ 384 h 384"/>
                <a:gd name="T14" fmla="*/ 384 w 384"/>
                <a:gd name="T15" fmla="*/ 355 h 384"/>
                <a:gd name="T16" fmla="*/ 355 w 384"/>
                <a:gd name="T17" fmla="*/ 0 h 384"/>
                <a:gd name="T18" fmla="*/ 114 w 384"/>
                <a:gd name="T19" fmla="*/ 164 h 384"/>
                <a:gd name="T20" fmla="*/ 122 w 384"/>
                <a:gd name="T21" fmla="*/ 159 h 384"/>
                <a:gd name="T22" fmla="*/ 156 w 384"/>
                <a:gd name="T23" fmla="*/ 223 h 384"/>
                <a:gd name="T24" fmla="*/ 151 w 384"/>
                <a:gd name="T25" fmla="*/ 231 h 384"/>
                <a:gd name="T26" fmla="*/ 139 w 384"/>
                <a:gd name="T27" fmla="*/ 214 h 384"/>
                <a:gd name="T28" fmla="*/ 98 w 384"/>
                <a:gd name="T29" fmla="*/ 227 h 384"/>
                <a:gd name="T30" fmla="*/ 87 w 384"/>
                <a:gd name="T31" fmla="*/ 226 h 384"/>
                <a:gd name="T32" fmla="*/ 134 w 384"/>
                <a:gd name="T33" fmla="*/ 203 h 384"/>
                <a:gd name="T34" fmla="*/ 109 w 384"/>
                <a:gd name="T35" fmla="*/ 203 h 384"/>
                <a:gd name="T36" fmla="*/ 170 w 384"/>
                <a:gd name="T37" fmla="*/ 165 h 384"/>
                <a:gd name="T38" fmla="*/ 198 w 384"/>
                <a:gd name="T39" fmla="*/ 160 h 384"/>
                <a:gd name="T40" fmla="*/ 225 w 384"/>
                <a:gd name="T41" fmla="*/ 184 h 384"/>
                <a:gd name="T42" fmla="*/ 182 w 384"/>
                <a:gd name="T43" fmla="*/ 208 h 384"/>
                <a:gd name="T44" fmla="*/ 176 w 384"/>
                <a:gd name="T45" fmla="*/ 231 h 384"/>
                <a:gd name="T46" fmla="*/ 170 w 384"/>
                <a:gd name="T47" fmla="*/ 165 h 384"/>
                <a:gd name="T48" fmla="*/ 212 w 384"/>
                <a:gd name="T49" fmla="*/ 184 h 384"/>
                <a:gd name="T50" fmla="*/ 197 w 384"/>
                <a:gd name="T51" fmla="*/ 171 h 384"/>
                <a:gd name="T52" fmla="*/ 182 w 384"/>
                <a:gd name="T53" fmla="*/ 197 h 384"/>
                <a:gd name="T54" fmla="*/ 238 w 384"/>
                <a:gd name="T55" fmla="*/ 165 h 384"/>
                <a:gd name="T56" fmla="*/ 265 w 384"/>
                <a:gd name="T57" fmla="*/ 160 h 384"/>
                <a:gd name="T58" fmla="*/ 292 w 384"/>
                <a:gd name="T59" fmla="*/ 184 h 384"/>
                <a:gd name="T60" fmla="*/ 250 w 384"/>
                <a:gd name="T61" fmla="*/ 208 h 384"/>
                <a:gd name="T62" fmla="*/ 244 w 384"/>
                <a:gd name="T63" fmla="*/ 231 h 384"/>
                <a:gd name="T64" fmla="*/ 238 w 384"/>
                <a:gd name="T65" fmla="*/ 165 h 384"/>
                <a:gd name="T66" fmla="*/ 280 w 384"/>
                <a:gd name="T67" fmla="*/ 184 h 384"/>
                <a:gd name="T68" fmla="*/ 264 w 384"/>
                <a:gd name="T69" fmla="*/ 171 h 384"/>
                <a:gd name="T70" fmla="*/ 250 w 384"/>
                <a:gd name="T71" fmla="*/ 197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84" h="384">
                  <a:moveTo>
                    <a:pt x="355" y="16"/>
                  </a:moveTo>
                  <a:cubicBezTo>
                    <a:pt x="362" y="16"/>
                    <a:pt x="368" y="22"/>
                    <a:pt x="368" y="29"/>
                  </a:cubicBezTo>
                  <a:cubicBezTo>
                    <a:pt x="368" y="355"/>
                    <a:pt x="368" y="355"/>
                    <a:pt x="368" y="355"/>
                  </a:cubicBezTo>
                  <a:cubicBezTo>
                    <a:pt x="368" y="362"/>
                    <a:pt x="362" y="368"/>
                    <a:pt x="355" y="368"/>
                  </a:cubicBezTo>
                  <a:cubicBezTo>
                    <a:pt x="29" y="368"/>
                    <a:pt x="29" y="368"/>
                    <a:pt x="29" y="368"/>
                  </a:cubicBezTo>
                  <a:cubicBezTo>
                    <a:pt x="22" y="368"/>
                    <a:pt x="16" y="362"/>
                    <a:pt x="16" y="355"/>
                  </a:cubicBezTo>
                  <a:cubicBezTo>
                    <a:pt x="16" y="29"/>
                    <a:pt x="16" y="29"/>
                    <a:pt x="16" y="29"/>
                  </a:cubicBezTo>
                  <a:cubicBezTo>
                    <a:pt x="16" y="22"/>
                    <a:pt x="22" y="16"/>
                    <a:pt x="29" y="16"/>
                  </a:cubicBezTo>
                  <a:cubicBezTo>
                    <a:pt x="355" y="16"/>
                    <a:pt x="355" y="16"/>
                    <a:pt x="355" y="16"/>
                  </a:cubicBezTo>
                  <a:moveTo>
                    <a:pt x="355" y="0"/>
                  </a:moveTo>
                  <a:cubicBezTo>
                    <a:pt x="29" y="0"/>
                    <a:pt x="29" y="0"/>
                    <a:pt x="29" y="0"/>
                  </a:cubicBezTo>
                  <a:cubicBezTo>
                    <a:pt x="13" y="0"/>
                    <a:pt x="0" y="13"/>
                    <a:pt x="0" y="29"/>
                  </a:cubicBezTo>
                  <a:cubicBezTo>
                    <a:pt x="0" y="355"/>
                    <a:pt x="0" y="355"/>
                    <a:pt x="0" y="355"/>
                  </a:cubicBezTo>
                  <a:cubicBezTo>
                    <a:pt x="0" y="371"/>
                    <a:pt x="13" y="384"/>
                    <a:pt x="29" y="384"/>
                  </a:cubicBezTo>
                  <a:cubicBezTo>
                    <a:pt x="355" y="384"/>
                    <a:pt x="355" y="384"/>
                    <a:pt x="355" y="384"/>
                  </a:cubicBezTo>
                  <a:cubicBezTo>
                    <a:pt x="371" y="384"/>
                    <a:pt x="384" y="371"/>
                    <a:pt x="384" y="355"/>
                  </a:cubicBezTo>
                  <a:cubicBezTo>
                    <a:pt x="384" y="29"/>
                    <a:pt x="384" y="29"/>
                    <a:pt x="384" y="29"/>
                  </a:cubicBezTo>
                  <a:cubicBezTo>
                    <a:pt x="384" y="13"/>
                    <a:pt x="371" y="0"/>
                    <a:pt x="355" y="0"/>
                  </a:cubicBezTo>
                  <a:close/>
                  <a:moveTo>
                    <a:pt x="88" y="223"/>
                  </a:moveTo>
                  <a:cubicBezTo>
                    <a:pt x="114" y="164"/>
                    <a:pt x="114" y="164"/>
                    <a:pt x="114" y="164"/>
                  </a:cubicBezTo>
                  <a:cubicBezTo>
                    <a:pt x="115" y="161"/>
                    <a:pt x="118" y="159"/>
                    <a:pt x="121" y="159"/>
                  </a:cubicBezTo>
                  <a:cubicBezTo>
                    <a:pt x="122" y="159"/>
                    <a:pt x="122" y="159"/>
                    <a:pt x="122" y="159"/>
                  </a:cubicBezTo>
                  <a:cubicBezTo>
                    <a:pt x="126" y="159"/>
                    <a:pt x="128" y="161"/>
                    <a:pt x="129" y="164"/>
                  </a:cubicBezTo>
                  <a:cubicBezTo>
                    <a:pt x="156" y="223"/>
                    <a:pt x="156" y="223"/>
                    <a:pt x="156" y="223"/>
                  </a:cubicBezTo>
                  <a:cubicBezTo>
                    <a:pt x="156" y="224"/>
                    <a:pt x="156" y="225"/>
                    <a:pt x="156" y="225"/>
                  </a:cubicBezTo>
                  <a:cubicBezTo>
                    <a:pt x="156" y="229"/>
                    <a:pt x="154" y="231"/>
                    <a:pt x="151" y="231"/>
                  </a:cubicBezTo>
                  <a:cubicBezTo>
                    <a:pt x="148" y="231"/>
                    <a:pt x="146" y="230"/>
                    <a:pt x="145" y="227"/>
                  </a:cubicBezTo>
                  <a:cubicBezTo>
                    <a:pt x="139" y="214"/>
                    <a:pt x="139" y="214"/>
                    <a:pt x="139" y="214"/>
                  </a:cubicBezTo>
                  <a:cubicBezTo>
                    <a:pt x="104" y="214"/>
                    <a:pt x="104" y="214"/>
                    <a:pt x="104" y="214"/>
                  </a:cubicBezTo>
                  <a:cubicBezTo>
                    <a:pt x="98" y="227"/>
                    <a:pt x="98" y="227"/>
                    <a:pt x="98" y="227"/>
                  </a:cubicBezTo>
                  <a:cubicBezTo>
                    <a:pt x="97" y="230"/>
                    <a:pt x="95" y="231"/>
                    <a:pt x="93" y="231"/>
                  </a:cubicBezTo>
                  <a:cubicBezTo>
                    <a:pt x="89" y="231"/>
                    <a:pt x="87" y="229"/>
                    <a:pt x="87" y="226"/>
                  </a:cubicBezTo>
                  <a:cubicBezTo>
                    <a:pt x="87" y="225"/>
                    <a:pt x="87" y="224"/>
                    <a:pt x="88" y="223"/>
                  </a:cubicBezTo>
                  <a:close/>
                  <a:moveTo>
                    <a:pt x="134" y="203"/>
                  </a:moveTo>
                  <a:cubicBezTo>
                    <a:pt x="122" y="174"/>
                    <a:pt x="122" y="174"/>
                    <a:pt x="122" y="174"/>
                  </a:cubicBezTo>
                  <a:cubicBezTo>
                    <a:pt x="109" y="203"/>
                    <a:pt x="109" y="203"/>
                    <a:pt x="109" y="203"/>
                  </a:cubicBezTo>
                  <a:lnTo>
                    <a:pt x="134" y="203"/>
                  </a:lnTo>
                  <a:close/>
                  <a:moveTo>
                    <a:pt x="170" y="165"/>
                  </a:moveTo>
                  <a:cubicBezTo>
                    <a:pt x="170" y="162"/>
                    <a:pt x="172" y="160"/>
                    <a:pt x="175" y="160"/>
                  </a:cubicBezTo>
                  <a:cubicBezTo>
                    <a:pt x="198" y="160"/>
                    <a:pt x="198" y="160"/>
                    <a:pt x="198" y="160"/>
                  </a:cubicBezTo>
                  <a:cubicBezTo>
                    <a:pt x="214" y="160"/>
                    <a:pt x="225" y="169"/>
                    <a:pt x="225" y="184"/>
                  </a:cubicBezTo>
                  <a:cubicBezTo>
                    <a:pt x="225" y="184"/>
                    <a:pt x="225" y="184"/>
                    <a:pt x="225" y="184"/>
                  </a:cubicBezTo>
                  <a:cubicBezTo>
                    <a:pt x="225" y="200"/>
                    <a:pt x="212" y="208"/>
                    <a:pt x="196" y="208"/>
                  </a:cubicBezTo>
                  <a:cubicBezTo>
                    <a:pt x="182" y="208"/>
                    <a:pt x="182" y="208"/>
                    <a:pt x="182" y="208"/>
                  </a:cubicBezTo>
                  <a:cubicBezTo>
                    <a:pt x="182" y="225"/>
                    <a:pt x="182" y="225"/>
                    <a:pt x="182" y="225"/>
                  </a:cubicBezTo>
                  <a:cubicBezTo>
                    <a:pt x="182" y="229"/>
                    <a:pt x="180" y="231"/>
                    <a:pt x="176" y="231"/>
                  </a:cubicBezTo>
                  <a:cubicBezTo>
                    <a:pt x="173" y="231"/>
                    <a:pt x="170" y="229"/>
                    <a:pt x="170" y="225"/>
                  </a:cubicBezTo>
                  <a:lnTo>
                    <a:pt x="170" y="165"/>
                  </a:lnTo>
                  <a:close/>
                  <a:moveTo>
                    <a:pt x="197" y="197"/>
                  </a:moveTo>
                  <a:cubicBezTo>
                    <a:pt x="206" y="197"/>
                    <a:pt x="212" y="192"/>
                    <a:pt x="212" y="184"/>
                  </a:cubicBezTo>
                  <a:cubicBezTo>
                    <a:pt x="212" y="184"/>
                    <a:pt x="212" y="184"/>
                    <a:pt x="212" y="184"/>
                  </a:cubicBezTo>
                  <a:cubicBezTo>
                    <a:pt x="212" y="176"/>
                    <a:pt x="206" y="171"/>
                    <a:pt x="197" y="171"/>
                  </a:cubicBezTo>
                  <a:cubicBezTo>
                    <a:pt x="182" y="171"/>
                    <a:pt x="182" y="171"/>
                    <a:pt x="182" y="171"/>
                  </a:cubicBezTo>
                  <a:cubicBezTo>
                    <a:pt x="182" y="197"/>
                    <a:pt x="182" y="197"/>
                    <a:pt x="182" y="197"/>
                  </a:cubicBezTo>
                  <a:lnTo>
                    <a:pt x="197" y="197"/>
                  </a:lnTo>
                  <a:close/>
                  <a:moveTo>
                    <a:pt x="238" y="165"/>
                  </a:moveTo>
                  <a:cubicBezTo>
                    <a:pt x="238" y="162"/>
                    <a:pt x="240" y="160"/>
                    <a:pt x="243" y="160"/>
                  </a:cubicBezTo>
                  <a:cubicBezTo>
                    <a:pt x="265" y="160"/>
                    <a:pt x="265" y="160"/>
                    <a:pt x="265" y="160"/>
                  </a:cubicBezTo>
                  <a:cubicBezTo>
                    <a:pt x="282" y="160"/>
                    <a:pt x="292" y="169"/>
                    <a:pt x="292" y="184"/>
                  </a:cubicBezTo>
                  <a:cubicBezTo>
                    <a:pt x="292" y="184"/>
                    <a:pt x="292" y="184"/>
                    <a:pt x="292" y="184"/>
                  </a:cubicBezTo>
                  <a:cubicBezTo>
                    <a:pt x="292" y="200"/>
                    <a:pt x="280" y="208"/>
                    <a:pt x="264" y="208"/>
                  </a:cubicBezTo>
                  <a:cubicBezTo>
                    <a:pt x="250" y="208"/>
                    <a:pt x="250" y="208"/>
                    <a:pt x="250" y="208"/>
                  </a:cubicBezTo>
                  <a:cubicBezTo>
                    <a:pt x="250" y="225"/>
                    <a:pt x="250" y="225"/>
                    <a:pt x="250" y="225"/>
                  </a:cubicBezTo>
                  <a:cubicBezTo>
                    <a:pt x="250" y="229"/>
                    <a:pt x="247" y="231"/>
                    <a:pt x="244" y="231"/>
                  </a:cubicBezTo>
                  <a:cubicBezTo>
                    <a:pt x="240" y="231"/>
                    <a:pt x="238" y="229"/>
                    <a:pt x="238" y="225"/>
                  </a:cubicBezTo>
                  <a:lnTo>
                    <a:pt x="238" y="165"/>
                  </a:lnTo>
                  <a:close/>
                  <a:moveTo>
                    <a:pt x="264" y="197"/>
                  </a:moveTo>
                  <a:cubicBezTo>
                    <a:pt x="274" y="197"/>
                    <a:pt x="280" y="192"/>
                    <a:pt x="280" y="184"/>
                  </a:cubicBezTo>
                  <a:cubicBezTo>
                    <a:pt x="280" y="184"/>
                    <a:pt x="280" y="184"/>
                    <a:pt x="280" y="184"/>
                  </a:cubicBezTo>
                  <a:cubicBezTo>
                    <a:pt x="280" y="176"/>
                    <a:pt x="274" y="171"/>
                    <a:pt x="264" y="171"/>
                  </a:cubicBezTo>
                  <a:cubicBezTo>
                    <a:pt x="250" y="171"/>
                    <a:pt x="250" y="171"/>
                    <a:pt x="250" y="171"/>
                  </a:cubicBezTo>
                  <a:cubicBezTo>
                    <a:pt x="250" y="197"/>
                    <a:pt x="250" y="197"/>
                    <a:pt x="250" y="197"/>
                  </a:cubicBezTo>
                  <a:lnTo>
                    <a:pt x="264" y="19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55" name="Group 54">
            <a:extLst>
              <a:ext uri="{FF2B5EF4-FFF2-40B4-BE49-F238E27FC236}">
                <a16:creationId xmlns:a16="http://schemas.microsoft.com/office/drawing/2014/main" id="{1AA69B06-CF23-02DA-B2A5-48924912823A}"/>
              </a:ext>
            </a:extLst>
          </p:cNvPr>
          <p:cNvGrpSpPr/>
          <p:nvPr/>
        </p:nvGrpSpPr>
        <p:grpSpPr>
          <a:xfrm>
            <a:off x="1013078" y="4936803"/>
            <a:ext cx="652706" cy="639854"/>
            <a:chOff x="1013078" y="4936803"/>
            <a:chExt cx="652706" cy="639854"/>
          </a:xfrm>
        </p:grpSpPr>
        <p:pic>
          <p:nvPicPr>
            <p:cNvPr id="56" name="Graphic 55">
              <a:extLst>
                <a:ext uri="{FF2B5EF4-FFF2-40B4-BE49-F238E27FC236}">
                  <a16:creationId xmlns:a16="http://schemas.microsoft.com/office/drawing/2014/main" id="{2DFFC5E6-470A-EC9F-297D-C6D4C59F676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3078" y="5402955"/>
              <a:ext cx="652706" cy="173702"/>
            </a:xfrm>
            <a:prstGeom prst="rect">
              <a:avLst/>
            </a:prstGeom>
          </p:spPr>
        </p:pic>
        <p:pic>
          <p:nvPicPr>
            <p:cNvPr id="57" name="Graphic 56">
              <a:extLst>
                <a:ext uri="{FF2B5EF4-FFF2-40B4-BE49-F238E27FC236}">
                  <a16:creationId xmlns:a16="http://schemas.microsoft.com/office/drawing/2014/main" id="{4749951A-B2BC-7FE3-B9D3-F05210ABF8E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3078" y="5169197"/>
              <a:ext cx="652706" cy="173702"/>
            </a:xfrm>
            <a:prstGeom prst="rect">
              <a:avLst/>
            </a:prstGeom>
          </p:spPr>
        </p:pic>
        <p:pic>
          <p:nvPicPr>
            <p:cNvPr id="58" name="Graphic 57">
              <a:extLst>
                <a:ext uri="{FF2B5EF4-FFF2-40B4-BE49-F238E27FC236}">
                  <a16:creationId xmlns:a16="http://schemas.microsoft.com/office/drawing/2014/main" id="{3EB2678B-456B-8F5E-39A9-0EAD380D093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3078" y="4936803"/>
              <a:ext cx="652706" cy="173702"/>
            </a:xfrm>
            <a:prstGeom prst="rect">
              <a:avLst/>
            </a:prstGeom>
          </p:spPr>
        </p:pic>
      </p:grpSp>
      <p:grpSp>
        <p:nvGrpSpPr>
          <p:cNvPr id="59" name="Group 58">
            <a:extLst>
              <a:ext uri="{FF2B5EF4-FFF2-40B4-BE49-F238E27FC236}">
                <a16:creationId xmlns:a16="http://schemas.microsoft.com/office/drawing/2014/main" id="{42BCB1C1-3FAF-BBBC-2BBB-B222AE56F773}"/>
              </a:ext>
            </a:extLst>
          </p:cNvPr>
          <p:cNvGrpSpPr/>
          <p:nvPr/>
        </p:nvGrpSpPr>
        <p:grpSpPr>
          <a:xfrm>
            <a:off x="1013079" y="4277146"/>
            <a:ext cx="623840" cy="582323"/>
            <a:chOff x="1013079" y="4277146"/>
            <a:chExt cx="623840" cy="582323"/>
          </a:xfrm>
        </p:grpSpPr>
        <p:pic>
          <p:nvPicPr>
            <p:cNvPr id="60" name="Graphic 59">
              <a:extLst>
                <a:ext uri="{FF2B5EF4-FFF2-40B4-BE49-F238E27FC236}">
                  <a16:creationId xmlns:a16="http://schemas.microsoft.com/office/drawing/2014/main" id="{25B0BB5C-71B6-8C7D-CEF9-5B8AAA3FB41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84523" y="4607073"/>
              <a:ext cx="252396" cy="252396"/>
            </a:xfrm>
            <a:prstGeom prst="rect">
              <a:avLst/>
            </a:prstGeom>
          </p:spPr>
        </p:pic>
        <p:pic>
          <p:nvPicPr>
            <p:cNvPr id="61" name="Graphic 60">
              <a:extLst>
                <a:ext uri="{FF2B5EF4-FFF2-40B4-BE49-F238E27FC236}">
                  <a16:creationId xmlns:a16="http://schemas.microsoft.com/office/drawing/2014/main" id="{89770A9B-B4EB-8A76-1410-CFF9BBCED6B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13079" y="4607073"/>
              <a:ext cx="252396" cy="252396"/>
            </a:xfrm>
            <a:prstGeom prst="rect">
              <a:avLst/>
            </a:prstGeom>
          </p:spPr>
        </p:pic>
        <p:pic>
          <p:nvPicPr>
            <p:cNvPr id="62" name="Graphic 61">
              <a:extLst>
                <a:ext uri="{FF2B5EF4-FFF2-40B4-BE49-F238E27FC236}">
                  <a16:creationId xmlns:a16="http://schemas.microsoft.com/office/drawing/2014/main" id="{D05E83F4-E1FF-1DDC-DFA5-599E10B87DB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384523" y="4277146"/>
              <a:ext cx="252396" cy="252396"/>
            </a:xfrm>
            <a:prstGeom prst="rect">
              <a:avLst/>
            </a:prstGeom>
          </p:spPr>
        </p:pic>
        <p:pic>
          <p:nvPicPr>
            <p:cNvPr id="63" name="Graphic 62">
              <a:extLst>
                <a:ext uri="{FF2B5EF4-FFF2-40B4-BE49-F238E27FC236}">
                  <a16:creationId xmlns:a16="http://schemas.microsoft.com/office/drawing/2014/main" id="{DFBD1780-6CE6-0B22-CB9A-8265E775ABEE}"/>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13079" y="4277146"/>
              <a:ext cx="252396" cy="252396"/>
            </a:xfrm>
            <a:prstGeom prst="rect">
              <a:avLst/>
            </a:prstGeom>
          </p:spPr>
        </p:pic>
      </p:grpSp>
      <p:sp>
        <p:nvSpPr>
          <p:cNvPr id="75" name="Rectangle 74">
            <a:extLst>
              <a:ext uri="{FF2B5EF4-FFF2-40B4-BE49-F238E27FC236}">
                <a16:creationId xmlns:a16="http://schemas.microsoft.com/office/drawing/2014/main" id="{C6787CE3-EE88-B8F2-0C1B-AE7409B6F833}"/>
              </a:ext>
            </a:extLst>
          </p:cNvPr>
          <p:cNvSpPr/>
          <p:nvPr/>
        </p:nvSpPr>
        <p:spPr>
          <a:xfrm>
            <a:off x="1283516" y="3973256"/>
            <a:ext cx="2262158" cy="184666"/>
          </a:xfrm>
          <a:prstGeom prst="rect">
            <a:avLst/>
          </a:prstGeom>
        </p:spPr>
        <p:txBody>
          <a:bodyPr wrap="none" lIns="91440" tIns="0" rIns="91440" bIns="0">
            <a:spAutoFit/>
          </a:bodyPr>
          <a:lstStyle/>
          <a:p>
            <a:pPr algn="ctr"/>
            <a:r>
              <a:rPr lang="en-US" sz="1200" dirty="0">
                <a:solidFill>
                  <a:schemeClr val="accent5"/>
                </a:solidFill>
              </a:rPr>
              <a:t>Business Critical Apps (BCA)</a:t>
            </a:r>
          </a:p>
        </p:txBody>
      </p:sp>
      <p:sp>
        <p:nvSpPr>
          <p:cNvPr id="76" name="Rectangle 75">
            <a:extLst>
              <a:ext uri="{FF2B5EF4-FFF2-40B4-BE49-F238E27FC236}">
                <a16:creationId xmlns:a16="http://schemas.microsoft.com/office/drawing/2014/main" id="{63126C7D-81A2-97C0-D036-AFB1F6721C12}"/>
              </a:ext>
            </a:extLst>
          </p:cNvPr>
          <p:cNvSpPr/>
          <p:nvPr/>
        </p:nvSpPr>
        <p:spPr>
          <a:xfrm>
            <a:off x="4052130" y="3973256"/>
            <a:ext cx="461986" cy="184666"/>
          </a:xfrm>
          <a:prstGeom prst="rect">
            <a:avLst/>
          </a:prstGeom>
        </p:spPr>
        <p:txBody>
          <a:bodyPr wrap="none" lIns="91440" tIns="0" rIns="91440" bIns="0">
            <a:spAutoFit/>
          </a:bodyPr>
          <a:lstStyle/>
          <a:p>
            <a:pPr algn="ctr"/>
            <a:r>
              <a:rPr lang="en-US" sz="1200" dirty="0">
                <a:solidFill>
                  <a:schemeClr val="accent5"/>
                </a:solidFill>
              </a:rPr>
              <a:t>VDI</a:t>
            </a:r>
          </a:p>
        </p:txBody>
      </p:sp>
      <p:sp>
        <p:nvSpPr>
          <p:cNvPr id="77" name="Rectangle 76">
            <a:extLst>
              <a:ext uri="{FF2B5EF4-FFF2-40B4-BE49-F238E27FC236}">
                <a16:creationId xmlns:a16="http://schemas.microsoft.com/office/drawing/2014/main" id="{3DC3F15F-51B6-E561-E3AB-9BC03ADB2B19}"/>
              </a:ext>
            </a:extLst>
          </p:cNvPr>
          <p:cNvSpPr/>
          <p:nvPr/>
        </p:nvSpPr>
        <p:spPr>
          <a:xfrm>
            <a:off x="5610117" y="3973256"/>
            <a:ext cx="320922" cy="184666"/>
          </a:xfrm>
          <a:prstGeom prst="rect">
            <a:avLst/>
          </a:prstGeom>
        </p:spPr>
        <p:txBody>
          <a:bodyPr wrap="none" lIns="91440" tIns="0" rIns="91440" bIns="0">
            <a:spAutoFit/>
          </a:bodyPr>
          <a:lstStyle/>
          <a:p>
            <a:pPr algn="ctr"/>
            <a:r>
              <a:rPr lang="en-US" sz="1200" dirty="0">
                <a:solidFill>
                  <a:schemeClr val="accent5"/>
                </a:solidFill>
              </a:rPr>
              <a:t>IT</a:t>
            </a:r>
          </a:p>
        </p:txBody>
      </p:sp>
      <p:grpSp>
        <p:nvGrpSpPr>
          <p:cNvPr id="78" name="Group 77">
            <a:extLst>
              <a:ext uri="{FF2B5EF4-FFF2-40B4-BE49-F238E27FC236}">
                <a16:creationId xmlns:a16="http://schemas.microsoft.com/office/drawing/2014/main" id="{AA5E3887-252D-E492-00D3-423A7ACF8BA2}"/>
              </a:ext>
            </a:extLst>
          </p:cNvPr>
          <p:cNvGrpSpPr/>
          <p:nvPr/>
        </p:nvGrpSpPr>
        <p:grpSpPr>
          <a:xfrm>
            <a:off x="6104501" y="2624001"/>
            <a:ext cx="655180" cy="618607"/>
            <a:chOff x="6952164" y="1781979"/>
            <a:chExt cx="655180" cy="618607"/>
          </a:xfrm>
        </p:grpSpPr>
        <p:pic>
          <p:nvPicPr>
            <p:cNvPr id="79" name="Graphic 78">
              <a:extLst>
                <a:ext uri="{FF2B5EF4-FFF2-40B4-BE49-F238E27FC236}">
                  <a16:creationId xmlns:a16="http://schemas.microsoft.com/office/drawing/2014/main" id="{F8C20AD7-C1DF-045E-7075-54288A85934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58647" y="1781979"/>
              <a:ext cx="644903" cy="171626"/>
            </a:xfrm>
            <a:prstGeom prst="rect">
              <a:avLst/>
            </a:prstGeom>
          </p:spPr>
        </p:pic>
        <p:pic>
          <p:nvPicPr>
            <p:cNvPr id="80" name="Graphic 79">
              <a:extLst>
                <a:ext uri="{FF2B5EF4-FFF2-40B4-BE49-F238E27FC236}">
                  <a16:creationId xmlns:a16="http://schemas.microsoft.com/office/drawing/2014/main" id="{E8228D84-0B1E-5438-CE6F-2C40496F3C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58647" y="1997167"/>
              <a:ext cx="644903" cy="171626"/>
            </a:xfrm>
            <a:prstGeom prst="rect">
              <a:avLst/>
            </a:prstGeom>
          </p:spPr>
        </p:pic>
        <p:cxnSp>
          <p:nvCxnSpPr>
            <p:cNvPr id="81" name="Straight Connector 80">
              <a:extLst>
                <a:ext uri="{FF2B5EF4-FFF2-40B4-BE49-F238E27FC236}">
                  <a16:creationId xmlns:a16="http://schemas.microsoft.com/office/drawing/2014/main" id="{C37EEA7A-61BA-F29F-51A6-DF786F0EF391}"/>
                </a:ext>
              </a:extLst>
            </p:cNvPr>
            <p:cNvCxnSpPr>
              <a:cxnSpLocks/>
            </p:cNvCxnSpPr>
            <p:nvPr/>
          </p:nvCxnSpPr>
          <p:spPr bwMode="gray">
            <a:xfrm>
              <a:off x="6956574" y="2230377"/>
              <a:ext cx="0" cy="88403"/>
            </a:xfrm>
            <a:prstGeom prst="line">
              <a:avLst/>
            </a:prstGeom>
            <a:solidFill>
              <a:schemeClr val="accent1"/>
            </a:solidFill>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0813E292-804C-4066-D755-DD32493D0568}"/>
                </a:ext>
              </a:extLst>
            </p:cNvPr>
            <p:cNvCxnSpPr>
              <a:cxnSpLocks/>
            </p:cNvCxnSpPr>
            <p:nvPr/>
          </p:nvCxnSpPr>
          <p:spPr bwMode="gray">
            <a:xfrm>
              <a:off x="7481381" y="2318780"/>
              <a:ext cx="125963" cy="0"/>
            </a:xfrm>
            <a:prstGeom prst="line">
              <a:avLst/>
            </a:prstGeom>
            <a:solidFill>
              <a:schemeClr val="accent1"/>
            </a:solidFill>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33D7220-5706-14D6-EBE9-E3841C03DADA}"/>
                </a:ext>
              </a:extLst>
            </p:cNvPr>
            <p:cNvCxnSpPr>
              <a:cxnSpLocks/>
            </p:cNvCxnSpPr>
            <p:nvPr/>
          </p:nvCxnSpPr>
          <p:spPr bwMode="gray">
            <a:xfrm>
              <a:off x="7602573" y="2230377"/>
              <a:ext cx="0" cy="88403"/>
            </a:xfrm>
            <a:prstGeom prst="line">
              <a:avLst/>
            </a:prstGeom>
            <a:solidFill>
              <a:schemeClr val="accent1"/>
            </a:solidFill>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B0E7AB36-26B1-0DAB-5313-8FB20025235D}"/>
                </a:ext>
              </a:extLst>
            </p:cNvPr>
            <p:cNvCxnSpPr>
              <a:cxnSpLocks/>
            </p:cNvCxnSpPr>
            <p:nvPr/>
          </p:nvCxnSpPr>
          <p:spPr bwMode="gray">
            <a:xfrm>
              <a:off x="6952164" y="2318780"/>
              <a:ext cx="125963" cy="0"/>
            </a:xfrm>
            <a:prstGeom prst="line">
              <a:avLst/>
            </a:prstGeom>
            <a:solidFill>
              <a:schemeClr val="accent1"/>
            </a:solidFill>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DE688101-E295-243C-7B7A-1B7A963FA3EF}"/>
                </a:ext>
              </a:extLst>
            </p:cNvPr>
            <p:cNvSpPr txBox="1"/>
            <p:nvPr/>
          </p:nvSpPr>
          <p:spPr>
            <a:xfrm>
              <a:off x="7073891" y="2231309"/>
              <a:ext cx="426054" cy="169277"/>
            </a:xfrm>
            <a:prstGeom prst="rect">
              <a:avLst/>
            </a:prstGeom>
          </p:spPr>
          <p:txBody>
            <a:bodyPr wrap="square" lIns="0" tIns="0" rIns="0" bIns="0" rtlCol="0">
              <a:spAutoFit/>
            </a:bodyPr>
            <a:lstStyle/>
            <a:p>
              <a:pPr algn="ctr">
                <a:spcAft>
                  <a:spcPts val="600"/>
                </a:spcAft>
              </a:pPr>
              <a:r>
                <a:rPr lang="en-US" sz="1100" dirty="0">
                  <a:solidFill>
                    <a:schemeClr val="accent3"/>
                  </a:solidFill>
                </a:rPr>
                <a:t>vSAN</a:t>
              </a:r>
            </a:p>
          </p:txBody>
        </p:sp>
      </p:grpSp>
      <p:grpSp>
        <p:nvGrpSpPr>
          <p:cNvPr id="86" name="Group 85">
            <a:extLst>
              <a:ext uri="{FF2B5EF4-FFF2-40B4-BE49-F238E27FC236}">
                <a16:creationId xmlns:a16="http://schemas.microsoft.com/office/drawing/2014/main" id="{35326C52-C01D-67EC-5260-E89322CE15C4}"/>
              </a:ext>
            </a:extLst>
          </p:cNvPr>
          <p:cNvGrpSpPr/>
          <p:nvPr/>
        </p:nvGrpSpPr>
        <p:grpSpPr>
          <a:xfrm>
            <a:off x="7111805" y="2624001"/>
            <a:ext cx="655180" cy="618607"/>
            <a:chOff x="6952164" y="1781979"/>
            <a:chExt cx="655180" cy="618607"/>
          </a:xfrm>
        </p:grpSpPr>
        <p:pic>
          <p:nvPicPr>
            <p:cNvPr id="87" name="Graphic 86">
              <a:extLst>
                <a:ext uri="{FF2B5EF4-FFF2-40B4-BE49-F238E27FC236}">
                  <a16:creationId xmlns:a16="http://schemas.microsoft.com/office/drawing/2014/main" id="{60AA943F-F94D-2E48-4802-4EEA225BC3B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58647" y="1781979"/>
              <a:ext cx="644903" cy="171626"/>
            </a:xfrm>
            <a:prstGeom prst="rect">
              <a:avLst/>
            </a:prstGeom>
          </p:spPr>
        </p:pic>
        <p:pic>
          <p:nvPicPr>
            <p:cNvPr id="88" name="Graphic 87">
              <a:extLst>
                <a:ext uri="{FF2B5EF4-FFF2-40B4-BE49-F238E27FC236}">
                  <a16:creationId xmlns:a16="http://schemas.microsoft.com/office/drawing/2014/main" id="{51FF3F88-04D7-18D3-2F9F-DC6009C45A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58647" y="1997167"/>
              <a:ext cx="644903" cy="171626"/>
            </a:xfrm>
            <a:prstGeom prst="rect">
              <a:avLst/>
            </a:prstGeom>
          </p:spPr>
        </p:pic>
        <p:cxnSp>
          <p:nvCxnSpPr>
            <p:cNvPr id="89" name="Straight Connector 88">
              <a:extLst>
                <a:ext uri="{FF2B5EF4-FFF2-40B4-BE49-F238E27FC236}">
                  <a16:creationId xmlns:a16="http://schemas.microsoft.com/office/drawing/2014/main" id="{31111B90-978D-8897-6B4C-DD3C7D7BF5BB}"/>
                </a:ext>
              </a:extLst>
            </p:cNvPr>
            <p:cNvCxnSpPr>
              <a:cxnSpLocks/>
            </p:cNvCxnSpPr>
            <p:nvPr/>
          </p:nvCxnSpPr>
          <p:spPr bwMode="gray">
            <a:xfrm>
              <a:off x="6956574" y="2230377"/>
              <a:ext cx="0" cy="88403"/>
            </a:xfrm>
            <a:prstGeom prst="line">
              <a:avLst/>
            </a:prstGeom>
            <a:solidFill>
              <a:schemeClr val="accent1"/>
            </a:solidFill>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4AFCF12-14CE-66FE-507A-337FB43D44A1}"/>
                </a:ext>
              </a:extLst>
            </p:cNvPr>
            <p:cNvCxnSpPr>
              <a:cxnSpLocks/>
            </p:cNvCxnSpPr>
            <p:nvPr/>
          </p:nvCxnSpPr>
          <p:spPr bwMode="gray">
            <a:xfrm>
              <a:off x="7481381" y="2318780"/>
              <a:ext cx="125963" cy="0"/>
            </a:xfrm>
            <a:prstGeom prst="line">
              <a:avLst/>
            </a:prstGeom>
            <a:solidFill>
              <a:schemeClr val="accent1"/>
            </a:solidFill>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546D39DC-4A0F-8041-764C-596FC32EFBD5}"/>
                </a:ext>
              </a:extLst>
            </p:cNvPr>
            <p:cNvCxnSpPr>
              <a:cxnSpLocks/>
            </p:cNvCxnSpPr>
            <p:nvPr/>
          </p:nvCxnSpPr>
          <p:spPr bwMode="gray">
            <a:xfrm>
              <a:off x="7602573" y="2230377"/>
              <a:ext cx="0" cy="88403"/>
            </a:xfrm>
            <a:prstGeom prst="line">
              <a:avLst/>
            </a:prstGeom>
            <a:solidFill>
              <a:schemeClr val="accent1"/>
            </a:solidFill>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D29D7578-560D-AA3A-8134-409D6D4A44AC}"/>
                </a:ext>
              </a:extLst>
            </p:cNvPr>
            <p:cNvCxnSpPr>
              <a:cxnSpLocks/>
            </p:cNvCxnSpPr>
            <p:nvPr/>
          </p:nvCxnSpPr>
          <p:spPr bwMode="gray">
            <a:xfrm>
              <a:off x="6952164" y="2318780"/>
              <a:ext cx="125963" cy="0"/>
            </a:xfrm>
            <a:prstGeom prst="line">
              <a:avLst/>
            </a:prstGeom>
            <a:solidFill>
              <a:schemeClr val="accent1"/>
            </a:solidFill>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ED8AAA13-747A-63AF-6857-7A6A2906F2B7}"/>
                </a:ext>
              </a:extLst>
            </p:cNvPr>
            <p:cNvSpPr txBox="1"/>
            <p:nvPr/>
          </p:nvSpPr>
          <p:spPr>
            <a:xfrm>
              <a:off x="7073891" y="2231309"/>
              <a:ext cx="426054" cy="169277"/>
            </a:xfrm>
            <a:prstGeom prst="rect">
              <a:avLst/>
            </a:prstGeom>
          </p:spPr>
          <p:txBody>
            <a:bodyPr wrap="square" lIns="0" tIns="0" rIns="0" bIns="0" rtlCol="0">
              <a:spAutoFit/>
            </a:bodyPr>
            <a:lstStyle/>
            <a:p>
              <a:pPr algn="ctr">
                <a:spcAft>
                  <a:spcPts val="600"/>
                </a:spcAft>
              </a:pPr>
              <a:r>
                <a:rPr lang="en-US" sz="1100" dirty="0">
                  <a:solidFill>
                    <a:schemeClr val="accent3"/>
                  </a:solidFill>
                </a:rPr>
                <a:t>vSAN</a:t>
              </a:r>
            </a:p>
          </p:txBody>
        </p:sp>
      </p:grpSp>
      <p:grpSp>
        <p:nvGrpSpPr>
          <p:cNvPr id="94" name="Group 93">
            <a:extLst>
              <a:ext uri="{FF2B5EF4-FFF2-40B4-BE49-F238E27FC236}">
                <a16:creationId xmlns:a16="http://schemas.microsoft.com/office/drawing/2014/main" id="{33417A9D-2FE9-2453-1FCB-81F35C36CE7F}"/>
              </a:ext>
            </a:extLst>
          </p:cNvPr>
          <p:cNvGrpSpPr/>
          <p:nvPr/>
        </p:nvGrpSpPr>
        <p:grpSpPr>
          <a:xfrm>
            <a:off x="7121840" y="1953564"/>
            <a:ext cx="623840" cy="585369"/>
            <a:chOff x="6852080" y="1674132"/>
            <a:chExt cx="623840" cy="585369"/>
          </a:xfrm>
        </p:grpSpPr>
        <p:pic>
          <p:nvPicPr>
            <p:cNvPr id="95" name="Graphic 94">
              <a:extLst>
                <a:ext uri="{FF2B5EF4-FFF2-40B4-BE49-F238E27FC236}">
                  <a16:creationId xmlns:a16="http://schemas.microsoft.com/office/drawing/2014/main" id="{E6859E5B-6D98-4BDB-59A4-A8C4D0E6E7B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52080" y="2008211"/>
              <a:ext cx="255444" cy="251290"/>
            </a:xfrm>
            <a:prstGeom prst="rect">
              <a:avLst/>
            </a:prstGeom>
          </p:spPr>
        </p:pic>
        <p:sp>
          <p:nvSpPr>
            <p:cNvPr id="96" name="Freeform 34">
              <a:extLst>
                <a:ext uri="{FF2B5EF4-FFF2-40B4-BE49-F238E27FC236}">
                  <a16:creationId xmlns:a16="http://schemas.microsoft.com/office/drawing/2014/main" id="{AAFA5FBE-3D2F-6C55-6690-F2D7AF15EAF6}"/>
                </a:ext>
              </a:extLst>
            </p:cNvPr>
            <p:cNvSpPr>
              <a:spLocks noChangeAspect="1" noEditPoints="1"/>
            </p:cNvSpPr>
            <p:nvPr/>
          </p:nvSpPr>
          <p:spPr bwMode="auto">
            <a:xfrm>
              <a:off x="7220476" y="2004059"/>
              <a:ext cx="255444" cy="255442"/>
            </a:xfrm>
            <a:custGeom>
              <a:avLst/>
              <a:gdLst>
                <a:gd name="T0" fmla="*/ 368 w 384"/>
                <a:gd name="T1" fmla="*/ 29 h 384"/>
                <a:gd name="T2" fmla="*/ 355 w 384"/>
                <a:gd name="T3" fmla="*/ 368 h 384"/>
                <a:gd name="T4" fmla="*/ 16 w 384"/>
                <a:gd name="T5" fmla="*/ 355 h 384"/>
                <a:gd name="T6" fmla="*/ 29 w 384"/>
                <a:gd name="T7" fmla="*/ 16 h 384"/>
                <a:gd name="T8" fmla="*/ 355 w 384"/>
                <a:gd name="T9" fmla="*/ 0 h 384"/>
                <a:gd name="T10" fmla="*/ 0 w 384"/>
                <a:gd name="T11" fmla="*/ 29 h 384"/>
                <a:gd name="T12" fmla="*/ 29 w 384"/>
                <a:gd name="T13" fmla="*/ 384 h 384"/>
                <a:gd name="T14" fmla="*/ 384 w 384"/>
                <a:gd name="T15" fmla="*/ 355 h 384"/>
                <a:gd name="T16" fmla="*/ 355 w 384"/>
                <a:gd name="T17" fmla="*/ 0 h 384"/>
                <a:gd name="T18" fmla="*/ 114 w 384"/>
                <a:gd name="T19" fmla="*/ 164 h 384"/>
                <a:gd name="T20" fmla="*/ 122 w 384"/>
                <a:gd name="T21" fmla="*/ 159 h 384"/>
                <a:gd name="T22" fmla="*/ 156 w 384"/>
                <a:gd name="T23" fmla="*/ 223 h 384"/>
                <a:gd name="T24" fmla="*/ 151 w 384"/>
                <a:gd name="T25" fmla="*/ 231 h 384"/>
                <a:gd name="T26" fmla="*/ 139 w 384"/>
                <a:gd name="T27" fmla="*/ 214 h 384"/>
                <a:gd name="T28" fmla="*/ 98 w 384"/>
                <a:gd name="T29" fmla="*/ 227 h 384"/>
                <a:gd name="T30" fmla="*/ 87 w 384"/>
                <a:gd name="T31" fmla="*/ 226 h 384"/>
                <a:gd name="T32" fmla="*/ 134 w 384"/>
                <a:gd name="T33" fmla="*/ 203 h 384"/>
                <a:gd name="T34" fmla="*/ 109 w 384"/>
                <a:gd name="T35" fmla="*/ 203 h 384"/>
                <a:gd name="T36" fmla="*/ 170 w 384"/>
                <a:gd name="T37" fmla="*/ 165 h 384"/>
                <a:gd name="T38" fmla="*/ 198 w 384"/>
                <a:gd name="T39" fmla="*/ 160 h 384"/>
                <a:gd name="T40" fmla="*/ 225 w 384"/>
                <a:gd name="T41" fmla="*/ 184 h 384"/>
                <a:gd name="T42" fmla="*/ 182 w 384"/>
                <a:gd name="T43" fmla="*/ 208 h 384"/>
                <a:gd name="T44" fmla="*/ 176 w 384"/>
                <a:gd name="T45" fmla="*/ 231 h 384"/>
                <a:gd name="T46" fmla="*/ 170 w 384"/>
                <a:gd name="T47" fmla="*/ 165 h 384"/>
                <a:gd name="T48" fmla="*/ 212 w 384"/>
                <a:gd name="T49" fmla="*/ 184 h 384"/>
                <a:gd name="T50" fmla="*/ 197 w 384"/>
                <a:gd name="T51" fmla="*/ 171 h 384"/>
                <a:gd name="T52" fmla="*/ 182 w 384"/>
                <a:gd name="T53" fmla="*/ 197 h 384"/>
                <a:gd name="T54" fmla="*/ 238 w 384"/>
                <a:gd name="T55" fmla="*/ 165 h 384"/>
                <a:gd name="T56" fmla="*/ 265 w 384"/>
                <a:gd name="T57" fmla="*/ 160 h 384"/>
                <a:gd name="T58" fmla="*/ 292 w 384"/>
                <a:gd name="T59" fmla="*/ 184 h 384"/>
                <a:gd name="T60" fmla="*/ 250 w 384"/>
                <a:gd name="T61" fmla="*/ 208 h 384"/>
                <a:gd name="T62" fmla="*/ 244 w 384"/>
                <a:gd name="T63" fmla="*/ 231 h 384"/>
                <a:gd name="T64" fmla="*/ 238 w 384"/>
                <a:gd name="T65" fmla="*/ 165 h 384"/>
                <a:gd name="T66" fmla="*/ 280 w 384"/>
                <a:gd name="T67" fmla="*/ 184 h 384"/>
                <a:gd name="T68" fmla="*/ 264 w 384"/>
                <a:gd name="T69" fmla="*/ 171 h 384"/>
                <a:gd name="T70" fmla="*/ 250 w 384"/>
                <a:gd name="T71" fmla="*/ 197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84" h="384">
                  <a:moveTo>
                    <a:pt x="355" y="16"/>
                  </a:moveTo>
                  <a:cubicBezTo>
                    <a:pt x="362" y="16"/>
                    <a:pt x="368" y="22"/>
                    <a:pt x="368" y="29"/>
                  </a:cubicBezTo>
                  <a:cubicBezTo>
                    <a:pt x="368" y="355"/>
                    <a:pt x="368" y="355"/>
                    <a:pt x="368" y="355"/>
                  </a:cubicBezTo>
                  <a:cubicBezTo>
                    <a:pt x="368" y="362"/>
                    <a:pt x="362" y="368"/>
                    <a:pt x="355" y="368"/>
                  </a:cubicBezTo>
                  <a:cubicBezTo>
                    <a:pt x="29" y="368"/>
                    <a:pt x="29" y="368"/>
                    <a:pt x="29" y="368"/>
                  </a:cubicBezTo>
                  <a:cubicBezTo>
                    <a:pt x="22" y="368"/>
                    <a:pt x="16" y="362"/>
                    <a:pt x="16" y="355"/>
                  </a:cubicBezTo>
                  <a:cubicBezTo>
                    <a:pt x="16" y="29"/>
                    <a:pt x="16" y="29"/>
                    <a:pt x="16" y="29"/>
                  </a:cubicBezTo>
                  <a:cubicBezTo>
                    <a:pt x="16" y="22"/>
                    <a:pt x="22" y="16"/>
                    <a:pt x="29" y="16"/>
                  </a:cubicBezTo>
                  <a:cubicBezTo>
                    <a:pt x="355" y="16"/>
                    <a:pt x="355" y="16"/>
                    <a:pt x="355" y="16"/>
                  </a:cubicBezTo>
                  <a:moveTo>
                    <a:pt x="355" y="0"/>
                  </a:moveTo>
                  <a:cubicBezTo>
                    <a:pt x="29" y="0"/>
                    <a:pt x="29" y="0"/>
                    <a:pt x="29" y="0"/>
                  </a:cubicBezTo>
                  <a:cubicBezTo>
                    <a:pt x="13" y="0"/>
                    <a:pt x="0" y="13"/>
                    <a:pt x="0" y="29"/>
                  </a:cubicBezTo>
                  <a:cubicBezTo>
                    <a:pt x="0" y="355"/>
                    <a:pt x="0" y="355"/>
                    <a:pt x="0" y="355"/>
                  </a:cubicBezTo>
                  <a:cubicBezTo>
                    <a:pt x="0" y="371"/>
                    <a:pt x="13" y="384"/>
                    <a:pt x="29" y="384"/>
                  </a:cubicBezTo>
                  <a:cubicBezTo>
                    <a:pt x="355" y="384"/>
                    <a:pt x="355" y="384"/>
                    <a:pt x="355" y="384"/>
                  </a:cubicBezTo>
                  <a:cubicBezTo>
                    <a:pt x="371" y="384"/>
                    <a:pt x="384" y="371"/>
                    <a:pt x="384" y="355"/>
                  </a:cubicBezTo>
                  <a:cubicBezTo>
                    <a:pt x="384" y="29"/>
                    <a:pt x="384" y="29"/>
                    <a:pt x="384" y="29"/>
                  </a:cubicBezTo>
                  <a:cubicBezTo>
                    <a:pt x="384" y="13"/>
                    <a:pt x="371" y="0"/>
                    <a:pt x="355" y="0"/>
                  </a:cubicBezTo>
                  <a:close/>
                  <a:moveTo>
                    <a:pt x="88" y="223"/>
                  </a:moveTo>
                  <a:cubicBezTo>
                    <a:pt x="114" y="164"/>
                    <a:pt x="114" y="164"/>
                    <a:pt x="114" y="164"/>
                  </a:cubicBezTo>
                  <a:cubicBezTo>
                    <a:pt x="115" y="161"/>
                    <a:pt x="118" y="159"/>
                    <a:pt x="121" y="159"/>
                  </a:cubicBezTo>
                  <a:cubicBezTo>
                    <a:pt x="122" y="159"/>
                    <a:pt x="122" y="159"/>
                    <a:pt x="122" y="159"/>
                  </a:cubicBezTo>
                  <a:cubicBezTo>
                    <a:pt x="126" y="159"/>
                    <a:pt x="128" y="161"/>
                    <a:pt x="129" y="164"/>
                  </a:cubicBezTo>
                  <a:cubicBezTo>
                    <a:pt x="156" y="223"/>
                    <a:pt x="156" y="223"/>
                    <a:pt x="156" y="223"/>
                  </a:cubicBezTo>
                  <a:cubicBezTo>
                    <a:pt x="156" y="224"/>
                    <a:pt x="156" y="225"/>
                    <a:pt x="156" y="225"/>
                  </a:cubicBezTo>
                  <a:cubicBezTo>
                    <a:pt x="156" y="229"/>
                    <a:pt x="154" y="231"/>
                    <a:pt x="151" y="231"/>
                  </a:cubicBezTo>
                  <a:cubicBezTo>
                    <a:pt x="148" y="231"/>
                    <a:pt x="146" y="230"/>
                    <a:pt x="145" y="227"/>
                  </a:cubicBezTo>
                  <a:cubicBezTo>
                    <a:pt x="139" y="214"/>
                    <a:pt x="139" y="214"/>
                    <a:pt x="139" y="214"/>
                  </a:cubicBezTo>
                  <a:cubicBezTo>
                    <a:pt x="104" y="214"/>
                    <a:pt x="104" y="214"/>
                    <a:pt x="104" y="214"/>
                  </a:cubicBezTo>
                  <a:cubicBezTo>
                    <a:pt x="98" y="227"/>
                    <a:pt x="98" y="227"/>
                    <a:pt x="98" y="227"/>
                  </a:cubicBezTo>
                  <a:cubicBezTo>
                    <a:pt x="97" y="230"/>
                    <a:pt x="95" y="231"/>
                    <a:pt x="93" y="231"/>
                  </a:cubicBezTo>
                  <a:cubicBezTo>
                    <a:pt x="89" y="231"/>
                    <a:pt x="87" y="229"/>
                    <a:pt x="87" y="226"/>
                  </a:cubicBezTo>
                  <a:cubicBezTo>
                    <a:pt x="87" y="225"/>
                    <a:pt x="87" y="224"/>
                    <a:pt x="88" y="223"/>
                  </a:cubicBezTo>
                  <a:close/>
                  <a:moveTo>
                    <a:pt x="134" y="203"/>
                  </a:moveTo>
                  <a:cubicBezTo>
                    <a:pt x="122" y="174"/>
                    <a:pt x="122" y="174"/>
                    <a:pt x="122" y="174"/>
                  </a:cubicBezTo>
                  <a:cubicBezTo>
                    <a:pt x="109" y="203"/>
                    <a:pt x="109" y="203"/>
                    <a:pt x="109" y="203"/>
                  </a:cubicBezTo>
                  <a:lnTo>
                    <a:pt x="134" y="203"/>
                  </a:lnTo>
                  <a:close/>
                  <a:moveTo>
                    <a:pt x="170" y="165"/>
                  </a:moveTo>
                  <a:cubicBezTo>
                    <a:pt x="170" y="162"/>
                    <a:pt x="172" y="160"/>
                    <a:pt x="175" y="160"/>
                  </a:cubicBezTo>
                  <a:cubicBezTo>
                    <a:pt x="198" y="160"/>
                    <a:pt x="198" y="160"/>
                    <a:pt x="198" y="160"/>
                  </a:cubicBezTo>
                  <a:cubicBezTo>
                    <a:pt x="214" y="160"/>
                    <a:pt x="225" y="169"/>
                    <a:pt x="225" y="184"/>
                  </a:cubicBezTo>
                  <a:cubicBezTo>
                    <a:pt x="225" y="184"/>
                    <a:pt x="225" y="184"/>
                    <a:pt x="225" y="184"/>
                  </a:cubicBezTo>
                  <a:cubicBezTo>
                    <a:pt x="225" y="200"/>
                    <a:pt x="212" y="208"/>
                    <a:pt x="196" y="208"/>
                  </a:cubicBezTo>
                  <a:cubicBezTo>
                    <a:pt x="182" y="208"/>
                    <a:pt x="182" y="208"/>
                    <a:pt x="182" y="208"/>
                  </a:cubicBezTo>
                  <a:cubicBezTo>
                    <a:pt x="182" y="225"/>
                    <a:pt x="182" y="225"/>
                    <a:pt x="182" y="225"/>
                  </a:cubicBezTo>
                  <a:cubicBezTo>
                    <a:pt x="182" y="229"/>
                    <a:pt x="180" y="231"/>
                    <a:pt x="176" y="231"/>
                  </a:cubicBezTo>
                  <a:cubicBezTo>
                    <a:pt x="173" y="231"/>
                    <a:pt x="170" y="229"/>
                    <a:pt x="170" y="225"/>
                  </a:cubicBezTo>
                  <a:lnTo>
                    <a:pt x="170" y="165"/>
                  </a:lnTo>
                  <a:close/>
                  <a:moveTo>
                    <a:pt x="197" y="197"/>
                  </a:moveTo>
                  <a:cubicBezTo>
                    <a:pt x="206" y="197"/>
                    <a:pt x="212" y="192"/>
                    <a:pt x="212" y="184"/>
                  </a:cubicBezTo>
                  <a:cubicBezTo>
                    <a:pt x="212" y="184"/>
                    <a:pt x="212" y="184"/>
                    <a:pt x="212" y="184"/>
                  </a:cubicBezTo>
                  <a:cubicBezTo>
                    <a:pt x="212" y="176"/>
                    <a:pt x="206" y="171"/>
                    <a:pt x="197" y="171"/>
                  </a:cubicBezTo>
                  <a:cubicBezTo>
                    <a:pt x="182" y="171"/>
                    <a:pt x="182" y="171"/>
                    <a:pt x="182" y="171"/>
                  </a:cubicBezTo>
                  <a:cubicBezTo>
                    <a:pt x="182" y="197"/>
                    <a:pt x="182" y="197"/>
                    <a:pt x="182" y="197"/>
                  </a:cubicBezTo>
                  <a:lnTo>
                    <a:pt x="197" y="197"/>
                  </a:lnTo>
                  <a:close/>
                  <a:moveTo>
                    <a:pt x="238" y="165"/>
                  </a:moveTo>
                  <a:cubicBezTo>
                    <a:pt x="238" y="162"/>
                    <a:pt x="240" y="160"/>
                    <a:pt x="243" y="160"/>
                  </a:cubicBezTo>
                  <a:cubicBezTo>
                    <a:pt x="265" y="160"/>
                    <a:pt x="265" y="160"/>
                    <a:pt x="265" y="160"/>
                  </a:cubicBezTo>
                  <a:cubicBezTo>
                    <a:pt x="282" y="160"/>
                    <a:pt x="292" y="169"/>
                    <a:pt x="292" y="184"/>
                  </a:cubicBezTo>
                  <a:cubicBezTo>
                    <a:pt x="292" y="184"/>
                    <a:pt x="292" y="184"/>
                    <a:pt x="292" y="184"/>
                  </a:cubicBezTo>
                  <a:cubicBezTo>
                    <a:pt x="292" y="200"/>
                    <a:pt x="280" y="208"/>
                    <a:pt x="264" y="208"/>
                  </a:cubicBezTo>
                  <a:cubicBezTo>
                    <a:pt x="250" y="208"/>
                    <a:pt x="250" y="208"/>
                    <a:pt x="250" y="208"/>
                  </a:cubicBezTo>
                  <a:cubicBezTo>
                    <a:pt x="250" y="225"/>
                    <a:pt x="250" y="225"/>
                    <a:pt x="250" y="225"/>
                  </a:cubicBezTo>
                  <a:cubicBezTo>
                    <a:pt x="250" y="229"/>
                    <a:pt x="247" y="231"/>
                    <a:pt x="244" y="231"/>
                  </a:cubicBezTo>
                  <a:cubicBezTo>
                    <a:pt x="240" y="231"/>
                    <a:pt x="238" y="229"/>
                    <a:pt x="238" y="225"/>
                  </a:cubicBezTo>
                  <a:lnTo>
                    <a:pt x="238" y="165"/>
                  </a:lnTo>
                  <a:close/>
                  <a:moveTo>
                    <a:pt x="264" y="197"/>
                  </a:moveTo>
                  <a:cubicBezTo>
                    <a:pt x="274" y="197"/>
                    <a:pt x="280" y="192"/>
                    <a:pt x="280" y="184"/>
                  </a:cubicBezTo>
                  <a:cubicBezTo>
                    <a:pt x="280" y="184"/>
                    <a:pt x="280" y="184"/>
                    <a:pt x="280" y="184"/>
                  </a:cubicBezTo>
                  <a:cubicBezTo>
                    <a:pt x="280" y="176"/>
                    <a:pt x="274" y="171"/>
                    <a:pt x="264" y="171"/>
                  </a:cubicBezTo>
                  <a:cubicBezTo>
                    <a:pt x="250" y="171"/>
                    <a:pt x="250" y="171"/>
                    <a:pt x="250" y="171"/>
                  </a:cubicBezTo>
                  <a:cubicBezTo>
                    <a:pt x="250" y="197"/>
                    <a:pt x="250" y="197"/>
                    <a:pt x="250" y="197"/>
                  </a:cubicBezTo>
                  <a:lnTo>
                    <a:pt x="264" y="197"/>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pic>
          <p:nvPicPr>
            <p:cNvPr id="97" name="Graphic 96">
              <a:extLst>
                <a:ext uri="{FF2B5EF4-FFF2-40B4-BE49-F238E27FC236}">
                  <a16:creationId xmlns:a16="http://schemas.microsoft.com/office/drawing/2014/main" id="{C9A20744-86C6-F976-74AB-BCFBA7CB124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52080" y="1678284"/>
              <a:ext cx="255444" cy="251290"/>
            </a:xfrm>
            <a:prstGeom prst="rect">
              <a:avLst/>
            </a:prstGeom>
          </p:spPr>
        </p:pic>
        <p:sp>
          <p:nvSpPr>
            <p:cNvPr id="98" name="Freeform 34">
              <a:extLst>
                <a:ext uri="{FF2B5EF4-FFF2-40B4-BE49-F238E27FC236}">
                  <a16:creationId xmlns:a16="http://schemas.microsoft.com/office/drawing/2014/main" id="{1EDBC13E-E972-3104-69F7-4B31C736BC42}"/>
                </a:ext>
              </a:extLst>
            </p:cNvPr>
            <p:cNvSpPr>
              <a:spLocks noChangeAspect="1" noEditPoints="1"/>
            </p:cNvSpPr>
            <p:nvPr/>
          </p:nvSpPr>
          <p:spPr bwMode="auto">
            <a:xfrm>
              <a:off x="7220476" y="1674132"/>
              <a:ext cx="255444" cy="255442"/>
            </a:xfrm>
            <a:custGeom>
              <a:avLst/>
              <a:gdLst>
                <a:gd name="T0" fmla="*/ 368 w 384"/>
                <a:gd name="T1" fmla="*/ 29 h 384"/>
                <a:gd name="T2" fmla="*/ 355 w 384"/>
                <a:gd name="T3" fmla="*/ 368 h 384"/>
                <a:gd name="T4" fmla="*/ 16 w 384"/>
                <a:gd name="T5" fmla="*/ 355 h 384"/>
                <a:gd name="T6" fmla="*/ 29 w 384"/>
                <a:gd name="T7" fmla="*/ 16 h 384"/>
                <a:gd name="T8" fmla="*/ 355 w 384"/>
                <a:gd name="T9" fmla="*/ 0 h 384"/>
                <a:gd name="T10" fmla="*/ 0 w 384"/>
                <a:gd name="T11" fmla="*/ 29 h 384"/>
                <a:gd name="T12" fmla="*/ 29 w 384"/>
                <a:gd name="T13" fmla="*/ 384 h 384"/>
                <a:gd name="T14" fmla="*/ 384 w 384"/>
                <a:gd name="T15" fmla="*/ 355 h 384"/>
                <a:gd name="T16" fmla="*/ 355 w 384"/>
                <a:gd name="T17" fmla="*/ 0 h 384"/>
                <a:gd name="T18" fmla="*/ 114 w 384"/>
                <a:gd name="T19" fmla="*/ 164 h 384"/>
                <a:gd name="T20" fmla="*/ 122 w 384"/>
                <a:gd name="T21" fmla="*/ 159 h 384"/>
                <a:gd name="T22" fmla="*/ 156 w 384"/>
                <a:gd name="T23" fmla="*/ 223 h 384"/>
                <a:gd name="T24" fmla="*/ 151 w 384"/>
                <a:gd name="T25" fmla="*/ 231 h 384"/>
                <a:gd name="T26" fmla="*/ 139 w 384"/>
                <a:gd name="T27" fmla="*/ 214 h 384"/>
                <a:gd name="T28" fmla="*/ 98 w 384"/>
                <a:gd name="T29" fmla="*/ 227 h 384"/>
                <a:gd name="T30" fmla="*/ 87 w 384"/>
                <a:gd name="T31" fmla="*/ 226 h 384"/>
                <a:gd name="T32" fmla="*/ 134 w 384"/>
                <a:gd name="T33" fmla="*/ 203 h 384"/>
                <a:gd name="T34" fmla="*/ 109 w 384"/>
                <a:gd name="T35" fmla="*/ 203 h 384"/>
                <a:gd name="T36" fmla="*/ 170 w 384"/>
                <a:gd name="T37" fmla="*/ 165 h 384"/>
                <a:gd name="T38" fmla="*/ 198 w 384"/>
                <a:gd name="T39" fmla="*/ 160 h 384"/>
                <a:gd name="T40" fmla="*/ 225 w 384"/>
                <a:gd name="T41" fmla="*/ 184 h 384"/>
                <a:gd name="T42" fmla="*/ 182 w 384"/>
                <a:gd name="T43" fmla="*/ 208 h 384"/>
                <a:gd name="T44" fmla="*/ 176 w 384"/>
                <a:gd name="T45" fmla="*/ 231 h 384"/>
                <a:gd name="T46" fmla="*/ 170 w 384"/>
                <a:gd name="T47" fmla="*/ 165 h 384"/>
                <a:gd name="T48" fmla="*/ 212 w 384"/>
                <a:gd name="T49" fmla="*/ 184 h 384"/>
                <a:gd name="T50" fmla="*/ 197 w 384"/>
                <a:gd name="T51" fmla="*/ 171 h 384"/>
                <a:gd name="T52" fmla="*/ 182 w 384"/>
                <a:gd name="T53" fmla="*/ 197 h 384"/>
                <a:gd name="T54" fmla="*/ 238 w 384"/>
                <a:gd name="T55" fmla="*/ 165 h 384"/>
                <a:gd name="T56" fmla="*/ 265 w 384"/>
                <a:gd name="T57" fmla="*/ 160 h 384"/>
                <a:gd name="T58" fmla="*/ 292 w 384"/>
                <a:gd name="T59" fmla="*/ 184 h 384"/>
                <a:gd name="T60" fmla="*/ 250 w 384"/>
                <a:gd name="T61" fmla="*/ 208 h 384"/>
                <a:gd name="T62" fmla="*/ 244 w 384"/>
                <a:gd name="T63" fmla="*/ 231 h 384"/>
                <a:gd name="T64" fmla="*/ 238 w 384"/>
                <a:gd name="T65" fmla="*/ 165 h 384"/>
                <a:gd name="T66" fmla="*/ 280 w 384"/>
                <a:gd name="T67" fmla="*/ 184 h 384"/>
                <a:gd name="T68" fmla="*/ 264 w 384"/>
                <a:gd name="T69" fmla="*/ 171 h 384"/>
                <a:gd name="T70" fmla="*/ 250 w 384"/>
                <a:gd name="T71" fmla="*/ 197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84" h="384">
                  <a:moveTo>
                    <a:pt x="355" y="16"/>
                  </a:moveTo>
                  <a:cubicBezTo>
                    <a:pt x="362" y="16"/>
                    <a:pt x="368" y="22"/>
                    <a:pt x="368" y="29"/>
                  </a:cubicBezTo>
                  <a:cubicBezTo>
                    <a:pt x="368" y="355"/>
                    <a:pt x="368" y="355"/>
                    <a:pt x="368" y="355"/>
                  </a:cubicBezTo>
                  <a:cubicBezTo>
                    <a:pt x="368" y="362"/>
                    <a:pt x="362" y="368"/>
                    <a:pt x="355" y="368"/>
                  </a:cubicBezTo>
                  <a:cubicBezTo>
                    <a:pt x="29" y="368"/>
                    <a:pt x="29" y="368"/>
                    <a:pt x="29" y="368"/>
                  </a:cubicBezTo>
                  <a:cubicBezTo>
                    <a:pt x="22" y="368"/>
                    <a:pt x="16" y="362"/>
                    <a:pt x="16" y="355"/>
                  </a:cubicBezTo>
                  <a:cubicBezTo>
                    <a:pt x="16" y="29"/>
                    <a:pt x="16" y="29"/>
                    <a:pt x="16" y="29"/>
                  </a:cubicBezTo>
                  <a:cubicBezTo>
                    <a:pt x="16" y="22"/>
                    <a:pt x="22" y="16"/>
                    <a:pt x="29" y="16"/>
                  </a:cubicBezTo>
                  <a:cubicBezTo>
                    <a:pt x="355" y="16"/>
                    <a:pt x="355" y="16"/>
                    <a:pt x="355" y="16"/>
                  </a:cubicBezTo>
                  <a:moveTo>
                    <a:pt x="355" y="0"/>
                  </a:moveTo>
                  <a:cubicBezTo>
                    <a:pt x="29" y="0"/>
                    <a:pt x="29" y="0"/>
                    <a:pt x="29" y="0"/>
                  </a:cubicBezTo>
                  <a:cubicBezTo>
                    <a:pt x="13" y="0"/>
                    <a:pt x="0" y="13"/>
                    <a:pt x="0" y="29"/>
                  </a:cubicBezTo>
                  <a:cubicBezTo>
                    <a:pt x="0" y="355"/>
                    <a:pt x="0" y="355"/>
                    <a:pt x="0" y="355"/>
                  </a:cubicBezTo>
                  <a:cubicBezTo>
                    <a:pt x="0" y="371"/>
                    <a:pt x="13" y="384"/>
                    <a:pt x="29" y="384"/>
                  </a:cubicBezTo>
                  <a:cubicBezTo>
                    <a:pt x="355" y="384"/>
                    <a:pt x="355" y="384"/>
                    <a:pt x="355" y="384"/>
                  </a:cubicBezTo>
                  <a:cubicBezTo>
                    <a:pt x="371" y="384"/>
                    <a:pt x="384" y="371"/>
                    <a:pt x="384" y="355"/>
                  </a:cubicBezTo>
                  <a:cubicBezTo>
                    <a:pt x="384" y="29"/>
                    <a:pt x="384" y="29"/>
                    <a:pt x="384" y="29"/>
                  </a:cubicBezTo>
                  <a:cubicBezTo>
                    <a:pt x="384" y="13"/>
                    <a:pt x="371" y="0"/>
                    <a:pt x="355" y="0"/>
                  </a:cubicBezTo>
                  <a:close/>
                  <a:moveTo>
                    <a:pt x="88" y="223"/>
                  </a:moveTo>
                  <a:cubicBezTo>
                    <a:pt x="114" y="164"/>
                    <a:pt x="114" y="164"/>
                    <a:pt x="114" y="164"/>
                  </a:cubicBezTo>
                  <a:cubicBezTo>
                    <a:pt x="115" y="161"/>
                    <a:pt x="118" y="159"/>
                    <a:pt x="121" y="159"/>
                  </a:cubicBezTo>
                  <a:cubicBezTo>
                    <a:pt x="122" y="159"/>
                    <a:pt x="122" y="159"/>
                    <a:pt x="122" y="159"/>
                  </a:cubicBezTo>
                  <a:cubicBezTo>
                    <a:pt x="126" y="159"/>
                    <a:pt x="128" y="161"/>
                    <a:pt x="129" y="164"/>
                  </a:cubicBezTo>
                  <a:cubicBezTo>
                    <a:pt x="156" y="223"/>
                    <a:pt x="156" y="223"/>
                    <a:pt x="156" y="223"/>
                  </a:cubicBezTo>
                  <a:cubicBezTo>
                    <a:pt x="156" y="224"/>
                    <a:pt x="156" y="225"/>
                    <a:pt x="156" y="225"/>
                  </a:cubicBezTo>
                  <a:cubicBezTo>
                    <a:pt x="156" y="229"/>
                    <a:pt x="154" y="231"/>
                    <a:pt x="151" y="231"/>
                  </a:cubicBezTo>
                  <a:cubicBezTo>
                    <a:pt x="148" y="231"/>
                    <a:pt x="146" y="230"/>
                    <a:pt x="145" y="227"/>
                  </a:cubicBezTo>
                  <a:cubicBezTo>
                    <a:pt x="139" y="214"/>
                    <a:pt x="139" y="214"/>
                    <a:pt x="139" y="214"/>
                  </a:cubicBezTo>
                  <a:cubicBezTo>
                    <a:pt x="104" y="214"/>
                    <a:pt x="104" y="214"/>
                    <a:pt x="104" y="214"/>
                  </a:cubicBezTo>
                  <a:cubicBezTo>
                    <a:pt x="98" y="227"/>
                    <a:pt x="98" y="227"/>
                    <a:pt x="98" y="227"/>
                  </a:cubicBezTo>
                  <a:cubicBezTo>
                    <a:pt x="97" y="230"/>
                    <a:pt x="95" y="231"/>
                    <a:pt x="93" y="231"/>
                  </a:cubicBezTo>
                  <a:cubicBezTo>
                    <a:pt x="89" y="231"/>
                    <a:pt x="87" y="229"/>
                    <a:pt x="87" y="226"/>
                  </a:cubicBezTo>
                  <a:cubicBezTo>
                    <a:pt x="87" y="225"/>
                    <a:pt x="87" y="224"/>
                    <a:pt x="88" y="223"/>
                  </a:cubicBezTo>
                  <a:close/>
                  <a:moveTo>
                    <a:pt x="134" y="203"/>
                  </a:moveTo>
                  <a:cubicBezTo>
                    <a:pt x="122" y="174"/>
                    <a:pt x="122" y="174"/>
                    <a:pt x="122" y="174"/>
                  </a:cubicBezTo>
                  <a:cubicBezTo>
                    <a:pt x="109" y="203"/>
                    <a:pt x="109" y="203"/>
                    <a:pt x="109" y="203"/>
                  </a:cubicBezTo>
                  <a:lnTo>
                    <a:pt x="134" y="203"/>
                  </a:lnTo>
                  <a:close/>
                  <a:moveTo>
                    <a:pt x="170" y="165"/>
                  </a:moveTo>
                  <a:cubicBezTo>
                    <a:pt x="170" y="162"/>
                    <a:pt x="172" y="160"/>
                    <a:pt x="175" y="160"/>
                  </a:cubicBezTo>
                  <a:cubicBezTo>
                    <a:pt x="198" y="160"/>
                    <a:pt x="198" y="160"/>
                    <a:pt x="198" y="160"/>
                  </a:cubicBezTo>
                  <a:cubicBezTo>
                    <a:pt x="214" y="160"/>
                    <a:pt x="225" y="169"/>
                    <a:pt x="225" y="184"/>
                  </a:cubicBezTo>
                  <a:cubicBezTo>
                    <a:pt x="225" y="184"/>
                    <a:pt x="225" y="184"/>
                    <a:pt x="225" y="184"/>
                  </a:cubicBezTo>
                  <a:cubicBezTo>
                    <a:pt x="225" y="200"/>
                    <a:pt x="212" y="208"/>
                    <a:pt x="196" y="208"/>
                  </a:cubicBezTo>
                  <a:cubicBezTo>
                    <a:pt x="182" y="208"/>
                    <a:pt x="182" y="208"/>
                    <a:pt x="182" y="208"/>
                  </a:cubicBezTo>
                  <a:cubicBezTo>
                    <a:pt x="182" y="225"/>
                    <a:pt x="182" y="225"/>
                    <a:pt x="182" y="225"/>
                  </a:cubicBezTo>
                  <a:cubicBezTo>
                    <a:pt x="182" y="229"/>
                    <a:pt x="180" y="231"/>
                    <a:pt x="176" y="231"/>
                  </a:cubicBezTo>
                  <a:cubicBezTo>
                    <a:pt x="173" y="231"/>
                    <a:pt x="170" y="229"/>
                    <a:pt x="170" y="225"/>
                  </a:cubicBezTo>
                  <a:lnTo>
                    <a:pt x="170" y="165"/>
                  </a:lnTo>
                  <a:close/>
                  <a:moveTo>
                    <a:pt x="197" y="197"/>
                  </a:moveTo>
                  <a:cubicBezTo>
                    <a:pt x="206" y="197"/>
                    <a:pt x="212" y="192"/>
                    <a:pt x="212" y="184"/>
                  </a:cubicBezTo>
                  <a:cubicBezTo>
                    <a:pt x="212" y="184"/>
                    <a:pt x="212" y="184"/>
                    <a:pt x="212" y="184"/>
                  </a:cubicBezTo>
                  <a:cubicBezTo>
                    <a:pt x="212" y="176"/>
                    <a:pt x="206" y="171"/>
                    <a:pt x="197" y="171"/>
                  </a:cubicBezTo>
                  <a:cubicBezTo>
                    <a:pt x="182" y="171"/>
                    <a:pt x="182" y="171"/>
                    <a:pt x="182" y="171"/>
                  </a:cubicBezTo>
                  <a:cubicBezTo>
                    <a:pt x="182" y="197"/>
                    <a:pt x="182" y="197"/>
                    <a:pt x="182" y="197"/>
                  </a:cubicBezTo>
                  <a:lnTo>
                    <a:pt x="197" y="197"/>
                  </a:lnTo>
                  <a:close/>
                  <a:moveTo>
                    <a:pt x="238" y="165"/>
                  </a:moveTo>
                  <a:cubicBezTo>
                    <a:pt x="238" y="162"/>
                    <a:pt x="240" y="160"/>
                    <a:pt x="243" y="160"/>
                  </a:cubicBezTo>
                  <a:cubicBezTo>
                    <a:pt x="265" y="160"/>
                    <a:pt x="265" y="160"/>
                    <a:pt x="265" y="160"/>
                  </a:cubicBezTo>
                  <a:cubicBezTo>
                    <a:pt x="282" y="160"/>
                    <a:pt x="292" y="169"/>
                    <a:pt x="292" y="184"/>
                  </a:cubicBezTo>
                  <a:cubicBezTo>
                    <a:pt x="292" y="184"/>
                    <a:pt x="292" y="184"/>
                    <a:pt x="292" y="184"/>
                  </a:cubicBezTo>
                  <a:cubicBezTo>
                    <a:pt x="292" y="200"/>
                    <a:pt x="280" y="208"/>
                    <a:pt x="264" y="208"/>
                  </a:cubicBezTo>
                  <a:cubicBezTo>
                    <a:pt x="250" y="208"/>
                    <a:pt x="250" y="208"/>
                    <a:pt x="250" y="208"/>
                  </a:cubicBezTo>
                  <a:cubicBezTo>
                    <a:pt x="250" y="225"/>
                    <a:pt x="250" y="225"/>
                    <a:pt x="250" y="225"/>
                  </a:cubicBezTo>
                  <a:cubicBezTo>
                    <a:pt x="250" y="229"/>
                    <a:pt x="247" y="231"/>
                    <a:pt x="244" y="231"/>
                  </a:cubicBezTo>
                  <a:cubicBezTo>
                    <a:pt x="240" y="231"/>
                    <a:pt x="238" y="229"/>
                    <a:pt x="238" y="225"/>
                  </a:cubicBezTo>
                  <a:lnTo>
                    <a:pt x="238" y="165"/>
                  </a:lnTo>
                  <a:close/>
                  <a:moveTo>
                    <a:pt x="264" y="197"/>
                  </a:moveTo>
                  <a:cubicBezTo>
                    <a:pt x="274" y="197"/>
                    <a:pt x="280" y="192"/>
                    <a:pt x="280" y="184"/>
                  </a:cubicBezTo>
                  <a:cubicBezTo>
                    <a:pt x="280" y="184"/>
                    <a:pt x="280" y="184"/>
                    <a:pt x="280" y="184"/>
                  </a:cubicBezTo>
                  <a:cubicBezTo>
                    <a:pt x="280" y="176"/>
                    <a:pt x="274" y="171"/>
                    <a:pt x="264" y="171"/>
                  </a:cubicBezTo>
                  <a:cubicBezTo>
                    <a:pt x="250" y="171"/>
                    <a:pt x="250" y="171"/>
                    <a:pt x="250" y="171"/>
                  </a:cubicBezTo>
                  <a:cubicBezTo>
                    <a:pt x="250" y="197"/>
                    <a:pt x="250" y="197"/>
                    <a:pt x="250" y="197"/>
                  </a:cubicBezTo>
                  <a:lnTo>
                    <a:pt x="264" y="19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99" name="Group 98">
            <a:extLst>
              <a:ext uri="{FF2B5EF4-FFF2-40B4-BE49-F238E27FC236}">
                <a16:creationId xmlns:a16="http://schemas.microsoft.com/office/drawing/2014/main" id="{983D5903-65B1-7817-FFA2-55E3FA1DEB12}"/>
              </a:ext>
            </a:extLst>
          </p:cNvPr>
          <p:cNvGrpSpPr/>
          <p:nvPr/>
        </p:nvGrpSpPr>
        <p:grpSpPr>
          <a:xfrm>
            <a:off x="6114536" y="1953565"/>
            <a:ext cx="623840" cy="582323"/>
            <a:chOff x="6115284" y="1674133"/>
            <a:chExt cx="623840" cy="582323"/>
          </a:xfrm>
        </p:grpSpPr>
        <p:pic>
          <p:nvPicPr>
            <p:cNvPr id="100" name="Graphic 99">
              <a:extLst>
                <a:ext uri="{FF2B5EF4-FFF2-40B4-BE49-F238E27FC236}">
                  <a16:creationId xmlns:a16="http://schemas.microsoft.com/office/drawing/2014/main" id="{D10E207E-C6E5-23A9-4563-03235911530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86728" y="2004060"/>
              <a:ext cx="252396" cy="252396"/>
            </a:xfrm>
            <a:prstGeom prst="rect">
              <a:avLst/>
            </a:prstGeom>
          </p:spPr>
        </p:pic>
        <p:pic>
          <p:nvPicPr>
            <p:cNvPr id="101" name="Graphic 100">
              <a:extLst>
                <a:ext uri="{FF2B5EF4-FFF2-40B4-BE49-F238E27FC236}">
                  <a16:creationId xmlns:a16="http://schemas.microsoft.com/office/drawing/2014/main" id="{0B3E13C9-1DF6-DCE5-8F14-034D03904F2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115284" y="2004060"/>
              <a:ext cx="252396" cy="252396"/>
            </a:xfrm>
            <a:prstGeom prst="rect">
              <a:avLst/>
            </a:prstGeom>
          </p:spPr>
        </p:pic>
        <p:pic>
          <p:nvPicPr>
            <p:cNvPr id="102" name="Graphic 101">
              <a:extLst>
                <a:ext uri="{FF2B5EF4-FFF2-40B4-BE49-F238E27FC236}">
                  <a16:creationId xmlns:a16="http://schemas.microsoft.com/office/drawing/2014/main" id="{5602D5AA-041F-6A1F-8A57-F2660E3222BA}"/>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486728" y="1674133"/>
              <a:ext cx="252396" cy="252396"/>
            </a:xfrm>
            <a:prstGeom prst="rect">
              <a:avLst/>
            </a:prstGeom>
          </p:spPr>
        </p:pic>
        <p:pic>
          <p:nvPicPr>
            <p:cNvPr id="103" name="Graphic 102">
              <a:extLst>
                <a:ext uri="{FF2B5EF4-FFF2-40B4-BE49-F238E27FC236}">
                  <a16:creationId xmlns:a16="http://schemas.microsoft.com/office/drawing/2014/main" id="{17ED200A-AC4F-789E-E97D-3B4913C793C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115284" y="1674133"/>
              <a:ext cx="252396" cy="252396"/>
            </a:xfrm>
            <a:prstGeom prst="rect">
              <a:avLst/>
            </a:prstGeom>
          </p:spPr>
        </p:pic>
      </p:grpSp>
      <p:cxnSp>
        <p:nvCxnSpPr>
          <p:cNvPr id="104" name="Straight Connector 103">
            <a:extLst>
              <a:ext uri="{FF2B5EF4-FFF2-40B4-BE49-F238E27FC236}">
                <a16:creationId xmlns:a16="http://schemas.microsoft.com/office/drawing/2014/main" id="{EBDD3399-A9A9-9CF2-9175-893879E93F89}"/>
              </a:ext>
            </a:extLst>
          </p:cNvPr>
          <p:cNvCxnSpPr>
            <a:cxnSpLocks/>
          </p:cNvCxnSpPr>
          <p:nvPr/>
        </p:nvCxnSpPr>
        <p:spPr bwMode="gray">
          <a:xfrm>
            <a:off x="6935743" y="3525934"/>
            <a:ext cx="0" cy="1729076"/>
          </a:xfrm>
          <a:prstGeom prst="line">
            <a:avLst/>
          </a:prstGeom>
          <a:ln w="19050">
            <a:solidFill>
              <a:schemeClr val="accent1"/>
            </a:solidFill>
            <a:prstDash val="sysDot"/>
            <a:miter lim="800000"/>
            <a:tailEnd type="none"/>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A0E40D86-64C2-A7A3-1C50-802EC83AC4F4}"/>
              </a:ext>
            </a:extLst>
          </p:cNvPr>
          <p:cNvCxnSpPr>
            <a:cxnSpLocks/>
          </p:cNvCxnSpPr>
          <p:nvPr/>
        </p:nvCxnSpPr>
        <p:spPr bwMode="gray">
          <a:xfrm flipH="1">
            <a:off x="6226228" y="5256048"/>
            <a:ext cx="709516" cy="0"/>
          </a:xfrm>
          <a:prstGeom prst="line">
            <a:avLst/>
          </a:prstGeom>
          <a:ln w="19050">
            <a:solidFill>
              <a:schemeClr val="accent1"/>
            </a:solidFill>
            <a:prstDash val="sysDot"/>
            <a:miter lim="800000"/>
            <a:tailEnd type="none"/>
          </a:ln>
        </p:spPr>
        <p:style>
          <a:lnRef idx="1">
            <a:schemeClr val="accent1"/>
          </a:lnRef>
          <a:fillRef idx="0">
            <a:schemeClr val="accent1"/>
          </a:fillRef>
          <a:effectRef idx="0">
            <a:schemeClr val="accent1"/>
          </a:effectRef>
          <a:fontRef idx="minor">
            <a:schemeClr val="tx1"/>
          </a:fontRef>
        </p:style>
      </p:cxnSp>
      <p:sp>
        <p:nvSpPr>
          <p:cNvPr id="106" name="Rectangle 105">
            <a:extLst>
              <a:ext uri="{FF2B5EF4-FFF2-40B4-BE49-F238E27FC236}">
                <a16:creationId xmlns:a16="http://schemas.microsoft.com/office/drawing/2014/main" id="{5523149B-41A1-3B98-712D-1D4A84125F21}"/>
              </a:ext>
            </a:extLst>
          </p:cNvPr>
          <p:cNvSpPr/>
          <p:nvPr/>
        </p:nvSpPr>
        <p:spPr>
          <a:xfrm>
            <a:off x="1791661" y="5070803"/>
            <a:ext cx="1245855" cy="153888"/>
          </a:xfrm>
          <a:prstGeom prst="rect">
            <a:avLst/>
          </a:prstGeom>
        </p:spPr>
        <p:txBody>
          <a:bodyPr wrap="none" lIns="91440" tIns="0" rIns="91440" bIns="0">
            <a:spAutoFit/>
          </a:bodyPr>
          <a:lstStyle/>
          <a:p>
            <a:pPr algn="ctr"/>
            <a:r>
              <a:rPr lang="en-US" sz="1000" dirty="0">
                <a:solidFill>
                  <a:schemeClr val="accent3"/>
                </a:solidFill>
              </a:rPr>
              <a:t>Stretched Cluster</a:t>
            </a:r>
          </a:p>
        </p:txBody>
      </p:sp>
      <p:cxnSp>
        <p:nvCxnSpPr>
          <p:cNvPr id="107" name="Straight Connector 106">
            <a:extLst>
              <a:ext uri="{FF2B5EF4-FFF2-40B4-BE49-F238E27FC236}">
                <a16:creationId xmlns:a16="http://schemas.microsoft.com/office/drawing/2014/main" id="{5CE098A6-062A-6897-BE5F-63313B51A390}"/>
              </a:ext>
            </a:extLst>
          </p:cNvPr>
          <p:cNvCxnSpPr>
            <a:cxnSpLocks/>
          </p:cNvCxnSpPr>
          <p:nvPr/>
        </p:nvCxnSpPr>
        <p:spPr bwMode="gray">
          <a:xfrm flipH="1">
            <a:off x="1743075" y="5256048"/>
            <a:ext cx="1343026" cy="0"/>
          </a:xfrm>
          <a:prstGeom prst="line">
            <a:avLst/>
          </a:prstGeom>
          <a:ln w="19050">
            <a:solidFill>
              <a:schemeClr val="accent3"/>
            </a:solidFill>
            <a:prstDash val="sysDot"/>
            <a:miter lim="800000"/>
            <a:tailEnd type="none"/>
          </a:ln>
        </p:spPr>
        <p:style>
          <a:lnRef idx="1">
            <a:schemeClr val="accent1"/>
          </a:lnRef>
          <a:fillRef idx="0">
            <a:schemeClr val="accent1"/>
          </a:fillRef>
          <a:effectRef idx="0">
            <a:schemeClr val="accent1"/>
          </a:effectRef>
          <a:fontRef idx="minor">
            <a:schemeClr val="tx1"/>
          </a:fontRef>
        </p:style>
      </p:cxnSp>
      <p:sp>
        <p:nvSpPr>
          <p:cNvPr id="108" name="Rectangle 107">
            <a:extLst>
              <a:ext uri="{FF2B5EF4-FFF2-40B4-BE49-F238E27FC236}">
                <a16:creationId xmlns:a16="http://schemas.microsoft.com/office/drawing/2014/main" id="{4019DD51-211F-2EB8-D871-E1E1040E61B8}"/>
              </a:ext>
            </a:extLst>
          </p:cNvPr>
          <p:cNvSpPr/>
          <p:nvPr/>
        </p:nvSpPr>
        <p:spPr>
          <a:xfrm>
            <a:off x="982602" y="5851851"/>
            <a:ext cx="713658" cy="215444"/>
          </a:xfrm>
          <a:prstGeom prst="rect">
            <a:avLst/>
          </a:prstGeom>
        </p:spPr>
        <p:txBody>
          <a:bodyPr wrap="none" lIns="91440" tIns="0" rIns="91440" bIns="0">
            <a:spAutoFit/>
          </a:bodyPr>
          <a:lstStyle/>
          <a:p>
            <a:pPr algn="ctr"/>
            <a:r>
              <a:rPr lang="en-US" sz="1400" dirty="0">
                <a:solidFill>
                  <a:schemeClr val="tx2"/>
                </a:solidFill>
              </a:rPr>
              <a:t>Co-Lo</a:t>
            </a:r>
          </a:p>
        </p:txBody>
      </p:sp>
      <p:sp>
        <p:nvSpPr>
          <p:cNvPr id="125" name="Rectangle 124">
            <a:extLst>
              <a:ext uri="{FF2B5EF4-FFF2-40B4-BE49-F238E27FC236}">
                <a16:creationId xmlns:a16="http://schemas.microsoft.com/office/drawing/2014/main" id="{DD814FDF-6362-C736-B604-97388A17593D}"/>
              </a:ext>
            </a:extLst>
          </p:cNvPr>
          <p:cNvSpPr/>
          <p:nvPr/>
        </p:nvSpPr>
        <p:spPr>
          <a:xfrm>
            <a:off x="6141762" y="1680746"/>
            <a:ext cx="569387" cy="184666"/>
          </a:xfrm>
          <a:prstGeom prst="rect">
            <a:avLst/>
          </a:prstGeom>
        </p:spPr>
        <p:txBody>
          <a:bodyPr wrap="none" lIns="91440" tIns="0" rIns="91440" bIns="0">
            <a:spAutoFit/>
          </a:bodyPr>
          <a:lstStyle/>
          <a:p>
            <a:pPr algn="ctr"/>
            <a:r>
              <a:rPr lang="en-US" sz="1200" dirty="0">
                <a:solidFill>
                  <a:schemeClr val="accent5"/>
                </a:solidFill>
              </a:rPr>
              <a:t>Edge</a:t>
            </a:r>
          </a:p>
        </p:txBody>
      </p:sp>
      <p:sp>
        <p:nvSpPr>
          <p:cNvPr id="126" name="Rectangle 125">
            <a:extLst>
              <a:ext uri="{FF2B5EF4-FFF2-40B4-BE49-F238E27FC236}">
                <a16:creationId xmlns:a16="http://schemas.microsoft.com/office/drawing/2014/main" id="{21CBCCE0-B2AA-4CF4-4F36-339093756498}"/>
              </a:ext>
            </a:extLst>
          </p:cNvPr>
          <p:cNvSpPr/>
          <p:nvPr/>
        </p:nvSpPr>
        <p:spPr>
          <a:xfrm>
            <a:off x="7149066" y="1680746"/>
            <a:ext cx="569387" cy="184666"/>
          </a:xfrm>
          <a:prstGeom prst="rect">
            <a:avLst/>
          </a:prstGeom>
        </p:spPr>
        <p:txBody>
          <a:bodyPr wrap="none" lIns="91440" tIns="0" rIns="91440" bIns="0">
            <a:spAutoFit/>
          </a:bodyPr>
          <a:lstStyle/>
          <a:p>
            <a:pPr algn="ctr"/>
            <a:r>
              <a:rPr lang="en-US" sz="1200" dirty="0">
                <a:solidFill>
                  <a:schemeClr val="accent5"/>
                </a:solidFill>
              </a:rPr>
              <a:t>Edge</a:t>
            </a:r>
          </a:p>
        </p:txBody>
      </p:sp>
      <p:cxnSp>
        <p:nvCxnSpPr>
          <p:cNvPr id="131" name="Straight Connector 130">
            <a:extLst>
              <a:ext uri="{FF2B5EF4-FFF2-40B4-BE49-F238E27FC236}">
                <a16:creationId xmlns:a16="http://schemas.microsoft.com/office/drawing/2014/main" id="{556E98FB-486E-7D30-E005-8D7FC6148309}"/>
              </a:ext>
            </a:extLst>
          </p:cNvPr>
          <p:cNvCxnSpPr>
            <a:cxnSpLocks/>
          </p:cNvCxnSpPr>
          <p:nvPr/>
        </p:nvCxnSpPr>
        <p:spPr bwMode="gray">
          <a:xfrm flipH="1">
            <a:off x="4412534" y="2839189"/>
            <a:ext cx="1494722" cy="0"/>
          </a:xfrm>
          <a:prstGeom prst="line">
            <a:avLst/>
          </a:prstGeom>
          <a:ln w="25400">
            <a:solidFill>
              <a:schemeClr val="accent2"/>
            </a:solidFill>
            <a:prstDash val="solid"/>
            <a:miter lim="800000"/>
            <a:headEnd type="diamond" w="lg" len="lg"/>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7FEC6793-0AFA-03F8-F6DD-5798041CC9ED}"/>
              </a:ext>
            </a:extLst>
          </p:cNvPr>
          <p:cNvCxnSpPr>
            <a:cxnSpLocks/>
          </p:cNvCxnSpPr>
          <p:nvPr/>
        </p:nvCxnSpPr>
        <p:spPr bwMode="gray">
          <a:xfrm flipV="1">
            <a:off x="3885612" y="3360741"/>
            <a:ext cx="0" cy="703259"/>
          </a:xfrm>
          <a:prstGeom prst="line">
            <a:avLst/>
          </a:prstGeom>
          <a:ln w="25400">
            <a:solidFill>
              <a:schemeClr val="accent2"/>
            </a:solidFill>
            <a:prstDash val="solid"/>
            <a:miter lim="800000"/>
            <a:headEnd type="diamond" w="lg" len="lg"/>
          </a:ln>
        </p:spPr>
        <p:style>
          <a:lnRef idx="1">
            <a:schemeClr val="accent1"/>
          </a:lnRef>
          <a:fillRef idx="0">
            <a:schemeClr val="accent1"/>
          </a:fillRef>
          <a:effectRef idx="0">
            <a:schemeClr val="accent1"/>
          </a:effectRef>
          <a:fontRef idx="minor">
            <a:schemeClr val="tx1"/>
          </a:fontRef>
        </p:style>
      </p:cxnSp>
      <p:sp>
        <p:nvSpPr>
          <p:cNvPr id="148" name="Rectangle 147">
            <a:extLst>
              <a:ext uri="{FF2B5EF4-FFF2-40B4-BE49-F238E27FC236}">
                <a16:creationId xmlns:a16="http://schemas.microsoft.com/office/drawing/2014/main" id="{253AE57B-70D5-A43D-B80E-1E0D657188F8}"/>
              </a:ext>
            </a:extLst>
          </p:cNvPr>
          <p:cNvSpPr/>
          <p:nvPr/>
        </p:nvSpPr>
        <p:spPr>
          <a:xfrm>
            <a:off x="4727205" y="3973256"/>
            <a:ext cx="527709" cy="184666"/>
          </a:xfrm>
          <a:prstGeom prst="rect">
            <a:avLst/>
          </a:prstGeom>
        </p:spPr>
        <p:txBody>
          <a:bodyPr wrap="none" lIns="91440" tIns="0" rIns="91440" bIns="0">
            <a:spAutoFit/>
          </a:bodyPr>
          <a:lstStyle/>
          <a:p>
            <a:pPr algn="ctr"/>
            <a:r>
              <a:rPr lang="en-US" sz="1200" dirty="0">
                <a:solidFill>
                  <a:schemeClr val="accent5"/>
                </a:solidFill>
              </a:rPr>
              <a:t>CNA</a:t>
            </a:r>
          </a:p>
        </p:txBody>
      </p:sp>
      <p:grpSp>
        <p:nvGrpSpPr>
          <p:cNvPr id="153" name="Group 152">
            <a:extLst>
              <a:ext uri="{FF2B5EF4-FFF2-40B4-BE49-F238E27FC236}">
                <a16:creationId xmlns:a16="http://schemas.microsoft.com/office/drawing/2014/main" id="{B72E7689-C21B-3DC3-0D5C-04473F2B1F74}"/>
              </a:ext>
            </a:extLst>
          </p:cNvPr>
          <p:cNvGrpSpPr/>
          <p:nvPr/>
        </p:nvGrpSpPr>
        <p:grpSpPr>
          <a:xfrm>
            <a:off x="3953130" y="4277145"/>
            <a:ext cx="626886" cy="585369"/>
            <a:chOff x="3953130" y="4277145"/>
            <a:chExt cx="626886" cy="585369"/>
          </a:xfrm>
        </p:grpSpPr>
        <p:pic>
          <p:nvPicPr>
            <p:cNvPr id="72" name="Graphic 71">
              <a:extLst>
                <a:ext uri="{FF2B5EF4-FFF2-40B4-BE49-F238E27FC236}">
                  <a16:creationId xmlns:a16="http://schemas.microsoft.com/office/drawing/2014/main" id="{E4EC12C2-D3DA-D135-3E73-B41A0B1A180C}"/>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324574" y="4607072"/>
              <a:ext cx="255442" cy="255442"/>
            </a:xfrm>
            <a:prstGeom prst="rect">
              <a:avLst/>
            </a:prstGeom>
          </p:spPr>
        </p:pic>
        <p:pic>
          <p:nvPicPr>
            <p:cNvPr id="73" name="Graphic 72">
              <a:extLst>
                <a:ext uri="{FF2B5EF4-FFF2-40B4-BE49-F238E27FC236}">
                  <a16:creationId xmlns:a16="http://schemas.microsoft.com/office/drawing/2014/main" id="{3EBAF7B0-95F9-159B-800B-F7B103299E99}"/>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3953130" y="4607072"/>
              <a:ext cx="255442" cy="255442"/>
            </a:xfrm>
            <a:prstGeom prst="rect">
              <a:avLst/>
            </a:prstGeom>
          </p:spPr>
        </p:pic>
        <p:pic>
          <p:nvPicPr>
            <p:cNvPr id="68" name="Graphic 67">
              <a:extLst>
                <a:ext uri="{FF2B5EF4-FFF2-40B4-BE49-F238E27FC236}">
                  <a16:creationId xmlns:a16="http://schemas.microsoft.com/office/drawing/2014/main" id="{E659DD2F-A71F-0AA7-2A68-0175A7A918CE}"/>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324574" y="4277145"/>
              <a:ext cx="255442" cy="255442"/>
            </a:xfrm>
            <a:prstGeom prst="rect">
              <a:avLst/>
            </a:prstGeom>
          </p:spPr>
        </p:pic>
        <p:pic>
          <p:nvPicPr>
            <p:cNvPr id="69" name="Graphic 68">
              <a:extLst>
                <a:ext uri="{FF2B5EF4-FFF2-40B4-BE49-F238E27FC236}">
                  <a16:creationId xmlns:a16="http://schemas.microsoft.com/office/drawing/2014/main" id="{1DF66ACF-89FE-3981-2675-6E35B35AE173}"/>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3953130" y="4277145"/>
              <a:ext cx="255442" cy="255442"/>
            </a:xfrm>
            <a:prstGeom prst="rect">
              <a:avLst/>
            </a:prstGeom>
          </p:spPr>
        </p:pic>
      </p:grpSp>
      <p:grpSp>
        <p:nvGrpSpPr>
          <p:cNvPr id="154" name="Group 153">
            <a:extLst>
              <a:ext uri="{FF2B5EF4-FFF2-40B4-BE49-F238E27FC236}">
                <a16:creationId xmlns:a16="http://schemas.microsoft.com/office/drawing/2014/main" id="{9C0501F2-64B6-A4C8-6689-304093670336}"/>
              </a:ext>
            </a:extLst>
          </p:cNvPr>
          <p:cNvGrpSpPr/>
          <p:nvPr/>
        </p:nvGrpSpPr>
        <p:grpSpPr>
          <a:xfrm>
            <a:off x="4689926" y="4277144"/>
            <a:ext cx="623840" cy="585370"/>
            <a:chOff x="4689926" y="4277144"/>
            <a:chExt cx="623840" cy="585370"/>
          </a:xfrm>
        </p:grpSpPr>
        <p:pic>
          <p:nvPicPr>
            <p:cNvPr id="144" name="Graphic 143">
              <a:extLst>
                <a:ext uri="{FF2B5EF4-FFF2-40B4-BE49-F238E27FC236}">
                  <a16:creationId xmlns:a16="http://schemas.microsoft.com/office/drawing/2014/main" id="{68D8EFAB-392C-A552-0A8D-B3648F277B9E}"/>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689926" y="4277144"/>
              <a:ext cx="255437" cy="255437"/>
            </a:xfrm>
            <a:prstGeom prst="rect">
              <a:avLst/>
            </a:prstGeom>
          </p:spPr>
        </p:pic>
        <p:pic>
          <p:nvPicPr>
            <p:cNvPr id="149" name="Graphic 148">
              <a:extLst>
                <a:ext uri="{FF2B5EF4-FFF2-40B4-BE49-F238E27FC236}">
                  <a16:creationId xmlns:a16="http://schemas.microsoft.com/office/drawing/2014/main" id="{63AD4C29-7275-3782-9F06-62A88D2426C9}"/>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689926" y="4607077"/>
              <a:ext cx="255437" cy="255437"/>
            </a:xfrm>
            <a:prstGeom prst="rect">
              <a:avLst/>
            </a:prstGeom>
          </p:spPr>
        </p:pic>
        <p:pic>
          <p:nvPicPr>
            <p:cNvPr id="150" name="Graphic 149">
              <a:extLst>
                <a:ext uri="{FF2B5EF4-FFF2-40B4-BE49-F238E27FC236}">
                  <a16:creationId xmlns:a16="http://schemas.microsoft.com/office/drawing/2014/main" id="{750CA8F9-A489-2E59-EF01-D1081C0EB3CD}"/>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5058329" y="4277144"/>
              <a:ext cx="255437" cy="255437"/>
            </a:xfrm>
            <a:prstGeom prst="rect">
              <a:avLst/>
            </a:prstGeom>
          </p:spPr>
        </p:pic>
        <p:pic>
          <p:nvPicPr>
            <p:cNvPr id="151" name="Graphic 150">
              <a:extLst>
                <a:ext uri="{FF2B5EF4-FFF2-40B4-BE49-F238E27FC236}">
                  <a16:creationId xmlns:a16="http://schemas.microsoft.com/office/drawing/2014/main" id="{E5B9A48B-E4BC-0A08-91E1-72B1CA5926E1}"/>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5058329" y="4607077"/>
              <a:ext cx="255437" cy="255437"/>
            </a:xfrm>
            <a:prstGeom prst="rect">
              <a:avLst/>
            </a:prstGeom>
          </p:spPr>
        </p:pic>
      </p:grpSp>
      <p:pic>
        <p:nvPicPr>
          <p:cNvPr id="65" name="Graphic 64">
            <a:extLst>
              <a:ext uri="{FF2B5EF4-FFF2-40B4-BE49-F238E27FC236}">
                <a16:creationId xmlns:a16="http://schemas.microsoft.com/office/drawing/2014/main" id="{64EFECC6-EA82-11A5-A15B-52311120E8AF}"/>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2587302" y="2562008"/>
            <a:ext cx="342834" cy="398807"/>
          </a:xfrm>
          <a:prstGeom prst="rect">
            <a:avLst/>
          </a:prstGeom>
        </p:spPr>
      </p:pic>
      <p:grpSp>
        <p:nvGrpSpPr>
          <p:cNvPr id="66" name="Group 65">
            <a:extLst>
              <a:ext uri="{FF2B5EF4-FFF2-40B4-BE49-F238E27FC236}">
                <a16:creationId xmlns:a16="http://schemas.microsoft.com/office/drawing/2014/main" id="{439AEE47-EF36-6542-EAB5-827075686C8D}"/>
              </a:ext>
            </a:extLst>
          </p:cNvPr>
          <p:cNvGrpSpPr/>
          <p:nvPr/>
        </p:nvGrpSpPr>
        <p:grpSpPr>
          <a:xfrm>
            <a:off x="3266694" y="2595979"/>
            <a:ext cx="1237836" cy="644737"/>
            <a:chOff x="2406496" y="2595979"/>
            <a:chExt cx="1237836" cy="644737"/>
          </a:xfrm>
        </p:grpSpPr>
        <p:pic>
          <p:nvPicPr>
            <p:cNvPr id="67" name="Graphic 66">
              <a:extLst>
                <a:ext uri="{FF2B5EF4-FFF2-40B4-BE49-F238E27FC236}">
                  <a16:creationId xmlns:a16="http://schemas.microsoft.com/office/drawing/2014/main" id="{5010212C-78A0-B30B-13AF-165C35B81CB6}"/>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2784545" y="2595979"/>
              <a:ext cx="481738" cy="439003"/>
            </a:xfrm>
            <a:prstGeom prst="rect">
              <a:avLst/>
            </a:prstGeom>
          </p:spPr>
        </p:pic>
        <p:sp>
          <p:nvSpPr>
            <p:cNvPr id="70" name="TextBox 69">
              <a:extLst>
                <a:ext uri="{FF2B5EF4-FFF2-40B4-BE49-F238E27FC236}">
                  <a16:creationId xmlns:a16="http://schemas.microsoft.com/office/drawing/2014/main" id="{0521A265-5A22-655B-6F18-23DE192DE803}"/>
                </a:ext>
              </a:extLst>
            </p:cNvPr>
            <p:cNvSpPr txBox="1"/>
            <p:nvPr/>
          </p:nvSpPr>
          <p:spPr>
            <a:xfrm>
              <a:off x="2406496" y="3056050"/>
              <a:ext cx="1237836" cy="184666"/>
            </a:xfrm>
            <a:prstGeom prst="rect">
              <a:avLst/>
            </a:prstGeom>
          </p:spPr>
          <p:txBody>
            <a:bodyPr wrap="square" lIns="0" tIns="0" rIns="0" bIns="0" rtlCol="0">
              <a:spAutoFit/>
            </a:bodyPr>
            <a:lstStyle/>
            <a:p>
              <a:pPr algn="ctr">
                <a:spcAft>
                  <a:spcPts val="600"/>
                </a:spcAft>
              </a:pPr>
              <a:r>
                <a:rPr lang="en-US" sz="1200" dirty="0">
                  <a:solidFill>
                    <a:schemeClr val="accent2"/>
                  </a:solidFill>
                </a:rPr>
                <a:t>vCenter Server</a:t>
              </a:r>
            </a:p>
          </p:txBody>
        </p:sp>
      </p:grpSp>
      <p:cxnSp>
        <p:nvCxnSpPr>
          <p:cNvPr id="71" name="Straight Connector 70">
            <a:extLst>
              <a:ext uri="{FF2B5EF4-FFF2-40B4-BE49-F238E27FC236}">
                <a16:creationId xmlns:a16="http://schemas.microsoft.com/office/drawing/2014/main" id="{9555FB43-2902-32C1-902B-DAC9117939CC}"/>
              </a:ext>
            </a:extLst>
          </p:cNvPr>
          <p:cNvCxnSpPr>
            <a:cxnSpLocks/>
          </p:cNvCxnSpPr>
          <p:nvPr/>
        </p:nvCxnSpPr>
        <p:spPr bwMode="gray">
          <a:xfrm>
            <a:off x="3024757" y="2839189"/>
            <a:ext cx="365909"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7723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53"/>
                                        </p:tgtEl>
                                        <p:attrNameLst>
                                          <p:attrName>style.visibility</p:attrName>
                                        </p:attrNameLst>
                                      </p:cBhvr>
                                      <p:to>
                                        <p:strVal val="visible"/>
                                      </p:to>
                                    </p:set>
                                    <p:animEffect transition="in" filter="fade">
                                      <p:cBhvr>
                                        <p:cTn id="11" dur="500"/>
                                        <p:tgtEl>
                                          <p:spTgt spid="15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76"/>
                                        </p:tgtEl>
                                        <p:attrNameLst>
                                          <p:attrName>style.visibility</p:attrName>
                                        </p:attrNameLst>
                                      </p:cBhvr>
                                      <p:to>
                                        <p:strVal val="visible"/>
                                      </p:to>
                                    </p:set>
                                    <p:animEffect transition="in" filter="fade">
                                      <p:cBhvr>
                                        <p:cTn id="15" dur="500"/>
                                        <p:tgtEl>
                                          <p:spTgt spid="76"/>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54"/>
                                        </p:tgtEl>
                                        <p:attrNameLst>
                                          <p:attrName>style.visibility</p:attrName>
                                        </p:attrNameLst>
                                      </p:cBhvr>
                                      <p:to>
                                        <p:strVal val="visible"/>
                                      </p:to>
                                    </p:set>
                                    <p:animEffect transition="in" filter="fade">
                                      <p:cBhvr>
                                        <p:cTn id="19" dur="500"/>
                                        <p:tgtEl>
                                          <p:spTgt spid="154"/>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48"/>
                                        </p:tgtEl>
                                        <p:attrNameLst>
                                          <p:attrName>style.visibility</p:attrName>
                                        </p:attrNameLst>
                                      </p:cBhvr>
                                      <p:to>
                                        <p:strVal val="visible"/>
                                      </p:to>
                                    </p:set>
                                    <p:animEffect transition="in" filter="fade">
                                      <p:cBhvr>
                                        <p:cTn id="23" dur="500"/>
                                        <p:tgtEl>
                                          <p:spTgt spid="148"/>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par>
                          <p:cTn id="28" fill="hold">
                            <p:stCondLst>
                              <p:cond delay="3000"/>
                            </p:stCondLst>
                            <p:childTnLst>
                              <p:par>
                                <p:cTn id="29" presetID="10" presetClass="entr" presetSubtype="0" fill="hold" nodeType="afterEffect">
                                  <p:stCondLst>
                                    <p:cond delay="50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childTnLst>
                          </p:cTn>
                        </p:par>
                        <p:par>
                          <p:cTn id="32" fill="hold">
                            <p:stCondLst>
                              <p:cond delay="4000"/>
                            </p:stCondLst>
                            <p:childTnLst>
                              <p:par>
                                <p:cTn id="33" presetID="10" presetClass="entr" presetSubtype="0" fill="hold" nodeType="after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fade">
                                      <p:cBhvr>
                                        <p:cTn id="35" dur="500"/>
                                        <p:tgtEl>
                                          <p:spTgt spid="43"/>
                                        </p:tgtEl>
                                      </p:cBhvr>
                                    </p:animEffect>
                                  </p:childTnLst>
                                </p:cTn>
                              </p:par>
                            </p:childTnLst>
                          </p:cTn>
                        </p:par>
                        <p:par>
                          <p:cTn id="36" fill="hold">
                            <p:stCondLst>
                              <p:cond delay="4500"/>
                            </p:stCondLst>
                            <p:childTnLst>
                              <p:par>
                                <p:cTn id="37" presetID="10" presetClass="entr" presetSubtype="0" fill="hold" grpId="0" nodeType="afterEffect">
                                  <p:stCondLst>
                                    <p:cond delay="0"/>
                                  </p:stCondLst>
                                  <p:childTnLst>
                                    <p:set>
                                      <p:cBhvr>
                                        <p:cTn id="38" dur="1" fill="hold">
                                          <p:stCondLst>
                                            <p:cond delay="0"/>
                                          </p:stCondLst>
                                        </p:cTn>
                                        <p:tgtEl>
                                          <p:spTgt spid="77"/>
                                        </p:tgtEl>
                                        <p:attrNameLst>
                                          <p:attrName>style.visibility</p:attrName>
                                        </p:attrNameLst>
                                      </p:cBhvr>
                                      <p:to>
                                        <p:strVal val="visible"/>
                                      </p:to>
                                    </p:set>
                                    <p:animEffect transition="in" filter="fade">
                                      <p:cBhvr>
                                        <p:cTn id="39" dur="500"/>
                                        <p:tgtEl>
                                          <p:spTgt spid="77"/>
                                        </p:tgtEl>
                                      </p:cBhvr>
                                    </p:animEffect>
                                  </p:childTnLst>
                                </p:cTn>
                              </p:par>
                            </p:childTnLst>
                          </p:cTn>
                        </p:par>
                        <p:par>
                          <p:cTn id="40" fill="hold">
                            <p:stCondLst>
                              <p:cond delay="5000"/>
                            </p:stCondLst>
                            <p:childTnLst>
                              <p:par>
                                <p:cTn id="41" presetID="10" presetClass="entr" presetSubtype="0" fill="hold" nodeType="afterEffect">
                                  <p:stCondLst>
                                    <p:cond delay="75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10" presetClass="entr" presetSubtype="0" fill="hold" nodeType="withEffect">
                                  <p:stCondLst>
                                    <p:cond delay="750"/>
                                  </p:stCondLst>
                                  <p:childTnLst>
                                    <p:set>
                                      <p:cBhvr>
                                        <p:cTn id="45" dur="1" fill="hold">
                                          <p:stCondLst>
                                            <p:cond delay="0"/>
                                          </p:stCondLst>
                                        </p:cTn>
                                        <p:tgtEl>
                                          <p:spTgt spid="55"/>
                                        </p:tgtEl>
                                        <p:attrNameLst>
                                          <p:attrName>style.visibility</p:attrName>
                                        </p:attrNameLst>
                                      </p:cBhvr>
                                      <p:to>
                                        <p:strVal val="visible"/>
                                      </p:to>
                                    </p:set>
                                    <p:animEffect transition="in" filter="fade">
                                      <p:cBhvr>
                                        <p:cTn id="46" dur="500"/>
                                        <p:tgtEl>
                                          <p:spTgt spid="55"/>
                                        </p:tgtEl>
                                      </p:cBhvr>
                                    </p:animEffect>
                                  </p:childTnLst>
                                </p:cTn>
                              </p:par>
                              <p:par>
                                <p:cTn id="47" presetID="10" presetClass="entr" presetSubtype="0" fill="hold" nodeType="withEffect">
                                  <p:stCondLst>
                                    <p:cond delay="750"/>
                                  </p:stCondLst>
                                  <p:childTnLst>
                                    <p:set>
                                      <p:cBhvr>
                                        <p:cTn id="48" dur="1" fill="hold">
                                          <p:stCondLst>
                                            <p:cond delay="0"/>
                                          </p:stCondLst>
                                        </p:cTn>
                                        <p:tgtEl>
                                          <p:spTgt spid="7"/>
                                        </p:tgtEl>
                                        <p:attrNameLst>
                                          <p:attrName>style.visibility</p:attrName>
                                        </p:attrNameLst>
                                      </p:cBhvr>
                                      <p:to>
                                        <p:strVal val="visible"/>
                                      </p:to>
                                    </p:set>
                                    <p:animEffect transition="in" filter="fade">
                                      <p:cBhvr>
                                        <p:cTn id="49" dur="500"/>
                                        <p:tgtEl>
                                          <p:spTgt spid="7"/>
                                        </p:tgtEl>
                                      </p:cBhvr>
                                    </p:animEffect>
                                  </p:childTnLst>
                                </p:cTn>
                              </p:par>
                              <p:par>
                                <p:cTn id="50" presetID="10" presetClass="entr" presetSubtype="0" fill="hold" grpId="0" nodeType="withEffect">
                                  <p:stCondLst>
                                    <p:cond delay="750"/>
                                  </p:stCondLst>
                                  <p:childTnLst>
                                    <p:set>
                                      <p:cBhvr>
                                        <p:cTn id="51" dur="1" fill="hold">
                                          <p:stCondLst>
                                            <p:cond delay="0"/>
                                          </p:stCondLst>
                                        </p:cTn>
                                        <p:tgtEl>
                                          <p:spTgt spid="108"/>
                                        </p:tgtEl>
                                        <p:attrNameLst>
                                          <p:attrName>style.visibility</p:attrName>
                                        </p:attrNameLst>
                                      </p:cBhvr>
                                      <p:to>
                                        <p:strVal val="visible"/>
                                      </p:to>
                                    </p:set>
                                    <p:animEffect transition="in" filter="fade">
                                      <p:cBhvr>
                                        <p:cTn id="52" dur="500"/>
                                        <p:tgtEl>
                                          <p:spTgt spid="108"/>
                                        </p:tgtEl>
                                      </p:cBhvr>
                                    </p:animEffect>
                                  </p:childTnLst>
                                </p:cTn>
                              </p:par>
                            </p:childTnLst>
                          </p:cTn>
                        </p:par>
                        <p:par>
                          <p:cTn id="53" fill="hold">
                            <p:stCondLst>
                              <p:cond delay="6250"/>
                            </p:stCondLst>
                            <p:childTnLst>
                              <p:par>
                                <p:cTn id="54" presetID="16" presetClass="entr" presetSubtype="37" fill="hold" nodeType="afterEffect">
                                  <p:stCondLst>
                                    <p:cond delay="0"/>
                                  </p:stCondLst>
                                  <p:childTnLst>
                                    <p:set>
                                      <p:cBhvr>
                                        <p:cTn id="55" dur="1" fill="hold">
                                          <p:stCondLst>
                                            <p:cond delay="0"/>
                                          </p:stCondLst>
                                        </p:cTn>
                                        <p:tgtEl>
                                          <p:spTgt spid="107"/>
                                        </p:tgtEl>
                                        <p:attrNameLst>
                                          <p:attrName>style.visibility</p:attrName>
                                        </p:attrNameLst>
                                      </p:cBhvr>
                                      <p:to>
                                        <p:strVal val="visible"/>
                                      </p:to>
                                    </p:set>
                                    <p:animEffect transition="in" filter="barn(outVertical)">
                                      <p:cBhvr>
                                        <p:cTn id="56" dur="500"/>
                                        <p:tgtEl>
                                          <p:spTgt spid="10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06"/>
                                        </p:tgtEl>
                                        <p:attrNameLst>
                                          <p:attrName>style.visibility</p:attrName>
                                        </p:attrNameLst>
                                      </p:cBhvr>
                                      <p:to>
                                        <p:strVal val="visible"/>
                                      </p:to>
                                    </p:set>
                                    <p:animEffect transition="in" filter="fade">
                                      <p:cBhvr>
                                        <p:cTn id="59" dur="500"/>
                                        <p:tgtEl>
                                          <p:spTgt spid="106"/>
                                        </p:tgtEl>
                                      </p:cBhvr>
                                    </p:animEffect>
                                  </p:childTnLst>
                                </p:cTn>
                              </p:par>
                            </p:childTnLst>
                          </p:cTn>
                        </p:par>
                        <p:par>
                          <p:cTn id="60" fill="hold">
                            <p:stCondLst>
                              <p:cond delay="6750"/>
                            </p:stCondLst>
                            <p:childTnLst>
                              <p:par>
                                <p:cTn id="61" presetID="10" presetClass="entr" presetSubtype="0" fill="hold" nodeType="afterEffect">
                                  <p:stCondLst>
                                    <p:cond delay="0"/>
                                  </p:stCondLst>
                                  <p:childTnLst>
                                    <p:set>
                                      <p:cBhvr>
                                        <p:cTn id="62" dur="1" fill="hold">
                                          <p:stCondLst>
                                            <p:cond delay="0"/>
                                          </p:stCondLst>
                                        </p:cTn>
                                        <p:tgtEl>
                                          <p:spTgt spid="59"/>
                                        </p:tgtEl>
                                        <p:attrNameLst>
                                          <p:attrName>style.visibility</p:attrName>
                                        </p:attrNameLst>
                                      </p:cBhvr>
                                      <p:to>
                                        <p:strVal val="visible"/>
                                      </p:to>
                                    </p:set>
                                    <p:animEffect transition="in" filter="fade">
                                      <p:cBhvr>
                                        <p:cTn id="63" dur="500"/>
                                        <p:tgtEl>
                                          <p:spTgt spid="59"/>
                                        </p:tgtEl>
                                      </p:cBhvr>
                                    </p:animEffect>
                                  </p:childTnLst>
                                </p:cTn>
                              </p:par>
                              <p:par>
                                <p:cTn id="64" presetID="10" presetClass="entr" presetSubtype="0" fill="hold" nodeType="withEffect">
                                  <p:stCondLst>
                                    <p:cond delay="0"/>
                                  </p:stCondLst>
                                  <p:childTnLst>
                                    <p:set>
                                      <p:cBhvr>
                                        <p:cTn id="65" dur="1" fill="hold">
                                          <p:stCondLst>
                                            <p:cond delay="0"/>
                                          </p:stCondLst>
                                        </p:cTn>
                                        <p:tgtEl>
                                          <p:spTgt spid="50"/>
                                        </p:tgtEl>
                                        <p:attrNameLst>
                                          <p:attrName>style.visibility</p:attrName>
                                        </p:attrNameLst>
                                      </p:cBhvr>
                                      <p:to>
                                        <p:strVal val="visible"/>
                                      </p:to>
                                    </p:set>
                                    <p:animEffect transition="in" filter="fade">
                                      <p:cBhvr>
                                        <p:cTn id="66" dur="500"/>
                                        <p:tgtEl>
                                          <p:spTgt spid="50"/>
                                        </p:tgtEl>
                                      </p:cBhvr>
                                    </p:animEffect>
                                  </p:childTnLst>
                                </p:cTn>
                              </p:par>
                            </p:childTnLst>
                          </p:cTn>
                        </p:par>
                        <p:par>
                          <p:cTn id="67" fill="hold">
                            <p:stCondLst>
                              <p:cond delay="7250"/>
                            </p:stCondLst>
                            <p:childTnLst>
                              <p:par>
                                <p:cTn id="68" presetID="10" presetClass="entr" presetSubtype="0" fill="hold" grpId="0" nodeType="afterEffect">
                                  <p:stCondLst>
                                    <p:cond delay="0"/>
                                  </p:stCondLst>
                                  <p:childTnLst>
                                    <p:set>
                                      <p:cBhvr>
                                        <p:cTn id="69" dur="1" fill="hold">
                                          <p:stCondLst>
                                            <p:cond delay="0"/>
                                          </p:stCondLst>
                                        </p:cTn>
                                        <p:tgtEl>
                                          <p:spTgt spid="75"/>
                                        </p:tgtEl>
                                        <p:attrNameLst>
                                          <p:attrName>style.visibility</p:attrName>
                                        </p:attrNameLst>
                                      </p:cBhvr>
                                      <p:to>
                                        <p:strVal val="visible"/>
                                      </p:to>
                                    </p:set>
                                    <p:animEffect transition="in" filter="fade">
                                      <p:cBhvr>
                                        <p:cTn id="70" dur="500"/>
                                        <p:tgtEl>
                                          <p:spTgt spid="75"/>
                                        </p:tgtEl>
                                      </p:cBhvr>
                                    </p:animEffect>
                                  </p:childTnLst>
                                </p:cTn>
                              </p:par>
                            </p:childTnLst>
                          </p:cTn>
                        </p:par>
                        <p:par>
                          <p:cTn id="71" fill="hold">
                            <p:stCondLst>
                              <p:cond delay="7750"/>
                            </p:stCondLst>
                            <p:childTnLst>
                              <p:par>
                                <p:cTn id="72" presetID="22" presetClass="entr" presetSubtype="8" fill="hold" nodeType="afterEffect">
                                  <p:stCondLst>
                                    <p:cond delay="750"/>
                                  </p:stCondLst>
                                  <p:childTnLst>
                                    <p:set>
                                      <p:cBhvr>
                                        <p:cTn id="73" dur="1" fill="hold">
                                          <p:stCondLst>
                                            <p:cond delay="0"/>
                                          </p:stCondLst>
                                        </p:cTn>
                                        <p:tgtEl>
                                          <p:spTgt spid="105"/>
                                        </p:tgtEl>
                                        <p:attrNameLst>
                                          <p:attrName>style.visibility</p:attrName>
                                        </p:attrNameLst>
                                      </p:cBhvr>
                                      <p:to>
                                        <p:strVal val="visible"/>
                                      </p:to>
                                    </p:set>
                                    <p:animEffect transition="in" filter="wipe(left)">
                                      <p:cBhvr>
                                        <p:cTn id="74" dur="500"/>
                                        <p:tgtEl>
                                          <p:spTgt spid="105"/>
                                        </p:tgtEl>
                                      </p:cBhvr>
                                    </p:animEffect>
                                  </p:childTnLst>
                                </p:cTn>
                              </p:par>
                            </p:childTnLst>
                          </p:cTn>
                        </p:par>
                        <p:par>
                          <p:cTn id="75" fill="hold">
                            <p:stCondLst>
                              <p:cond delay="9000"/>
                            </p:stCondLst>
                            <p:childTnLst>
                              <p:par>
                                <p:cTn id="76" presetID="22" presetClass="entr" presetSubtype="4" fill="hold" nodeType="afterEffect">
                                  <p:stCondLst>
                                    <p:cond delay="0"/>
                                  </p:stCondLst>
                                  <p:childTnLst>
                                    <p:set>
                                      <p:cBhvr>
                                        <p:cTn id="77" dur="1" fill="hold">
                                          <p:stCondLst>
                                            <p:cond delay="0"/>
                                          </p:stCondLst>
                                        </p:cTn>
                                        <p:tgtEl>
                                          <p:spTgt spid="104"/>
                                        </p:tgtEl>
                                        <p:attrNameLst>
                                          <p:attrName>style.visibility</p:attrName>
                                        </p:attrNameLst>
                                      </p:cBhvr>
                                      <p:to>
                                        <p:strVal val="visible"/>
                                      </p:to>
                                    </p:set>
                                    <p:animEffect transition="in" filter="wipe(down)">
                                      <p:cBhvr>
                                        <p:cTn id="78" dur="500"/>
                                        <p:tgtEl>
                                          <p:spTgt spid="104"/>
                                        </p:tgtEl>
                                      </p:cBhvr>
                                    </p:animEffect>
                                  </p:childTnLst>
                                </p:cTn>
                              </p:par>
                            </p:childTnLst>
                          </p:cTn>
                        </p:par>
                        <p:par>
                          <p:cTn id="79" fill="hold">
                            <p:stCondLst>
                              <p:cond delay="9500"/>
                            </p:stCondLst>
                            <p:childTnLst>
                              <p:par>
                                <p:cTn id="80" presetID="10" presetClass="entr" presetSubtype="0" fill="hold" grpId="0" nodeType="after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500"/>
                                        <p:tgtEl>
                                          <p:spTgt spid="17"/>
                                        </p:tgtEl>
                                      </p:cBhvr>
                                    </p:animEffect>
                                  </p:childTnLst>
                                </p:cTn>
                              </p:par>
                            </p:childTnLst>
                          </p:cTn>
                        </p:par>
                        <p:par>
                          <p:cTn id="83" fill="hold">
                            <p:stCondLst>
                              <p:cond delay="10000"/>
                            </p:stCondLst>
                            <p:childTnLst>
                              <p:par>
                                <p:cTn id="84" presetID="10" presetClass="entr" presetSubtype="0" fill="hold" nodeType="afterEffect">
                                  <p:stCondLst>
                                    <p:cond delay="0"/>
                                  </p:stCondLst>
                                  <p:childTnLst>
                                    <p:set>
                                      <p:cBhvr>
                                        <p:cTn id="85" dur="1" fill="hold">
                                          <p:stCondLst>
                                            <p:cond delay="0"/>
                                          </p:stCondLst>
                                        </p:cTn>
                                        <p:tgtEl>
                                          <p:spTgt spid="78"/>
                                        </p:tgtEl>
                                        <p:attrNameLst>
                                          <p:attrName>style.visibility</p:attrName>
                                        </p:attrNameLst>
                                      </p:cBhvr>
                                      <p:to>
                                        <p:strVal val="visible"/>
                                      </p:to>
                                    </p:set>
                                    <p:animEffect transition="in" filter="fade">
                                      <p:cBhvr>
                                        <p:cTn id="86" dur="500"/>
                                        <p:tgtEl>
                                          <p:spTgt spid="78"/>
                                        </p:tgtEl>
                                      </p:cBhvr>
                                    </p:animEffect>
                                  </p:childTnLst>
                                </p:cTn>
                              </p:par>
                              <p:par>
                                <p:cTn id="87" presetID="10" presetClass="entr" presetSubtype="0" fill="hold" nodeType="withEffect">
                                  <p:stCondLst>
                                    <p:cond delay="0"/>
                                  </p:stCondLst>
                                  <p:childTnLst>
                                    <p:set>
                                      <p:cBhvr>
                                        <p:cTn id="88" dur="1" fill="hold">
                                          <p:stCondLst>
                                            <p:cond delay="0"/>
                                          </p:stCondLst>
                                        </p:cTn>
                                        <p:tgtEl>
                                          <p:spTgt spid="86"/>
                                        </p:tgtEl>
                                        <p:attrNameLst>
                                          <p:attrName>style.visibility</p:attrName>
                                        </p:attrNameLst>
                                      </p:cBhvr>
                                      <p:to>
                                        <p:strVal val="visible"/>
                                      </p:to>
                                    </p:set>
                                    <p:animEffect transition="in" filter="fade">
                                      <p:cBhvr>
                                        <p:cTn id="89" dur="500"/>
                                        <p:tgtEl>
                                          <p:spTgt spid="86"/>
                                        </p:tgtEl>
                                      </p:cBhvr>
                                    </p:animEffect>
                                  </p:childTnLst>
                                </p:cTn>
                              </p:par>
                            </p:childTnLst>
                          </p:cTn>
                        </p:par>
                        <p:par>
                          <p:cTn id="90" fill="hold">
                            <p:stCondLst>
                              <p:cond delay="10500"/>
                            </p:stCondLst>
                            <p:childTnLst>
                              <p:par>
                                <p:cTn id="91" presetID="10" presetClass="entr" presetSubtype="0" fill="hold" nodeType="afterEffect">
                                  <p:stCondLst>
                                    <p:cond delay="0"/>
                                  </p:stCondLst>
                                  <p:childTnLst>
                                    <p:set>
                                      <p:cBhvr>
                                        <p:cTn id="92" dur="1" fill="hold">
                                          <p:stCondLst>
                                            <p:cond delay="0"/>
                                          </p:stCondLst>
                                        </p:cTn>
                                        <p:tgtEl>
                                          <p:spTgt spid="99"/>
                                        </p:tgtEl>
                                        <p:attrNameLst>
                                          <p:attrName>style.visibility</p:attrName>
                                        </p:attrNameLst>
                                      </p:cBhvr>
                                      <p:to>
                                        <p:strVal val="visible"/>
                                      </p:to>
                                    </p:set>
                                    <p:animEffect transition="in" filter="fade">
                                      <p:cBhvr>
                                        <p:cTn id="93" dur="500"/>
                                        <p:tgtEl>
                                          <p:spTgt spid="99"/>
                                        </p:tgtEl>
                                      </p:cBhvr>
                                    </p:animEffect>
                                  </p:childTnLst>
                                </p:cTn>
                              </p:par>
                              <p:par>
                                <p:cTn id="94" presetID="10" presetClass="entr" presetSubtype="0" fill="hold" nodeType="withEffect">
                                  <p:stCondLst>
                                    <p:cond delay="0"/>
                                  </p:stCondLst>
                                  <p:childTnLst>
                                    <p:set>
                                      <p:cBhvr>
                                        <p:cTn id="95" dur="1" fill="hold">
                                          <p:stCondLst>
                                            <p:cond delay="0"/>
                                          </p:stCondLst>
                                        </p:cTn>
                                        <p:tgtEl>
                                          <p:spTgt spid="94"/>
                                        </p:tgtEl>
                                        <p:attrNameLst>
                                          <p:attrName>style.visibility</p:attrName>
                                        </p:attrNameLst>
                                      </p:cBhvr>
                                      <p:to>
                                        <p:strVal val="visible"/>
                                      </p:to>
                                    </p:set>
                                    <p:animEffect transition="in" filter="fade">
                                      <p:cBhvr>
                                        <p:cTn id="96" dur="500"/>
                                        <p:tgtEl>
                                          <p:spTgt spid="94"/>
                                        </p:tgtEl>
                                      </p:cBhvr>
                                    </p:animEffect>
                                  </p:childTnLst>
                                </p:cTn>
                              </p:par>
                            </p:childTnLst>
                          </p:cTn>
                        </p:par>
                        <p:par>
                          <p:cTn id="97" fill="hold">
                            <p:stCondLst>
                              <p:cond delay="11000"/>
                            </p:stCondLst>
                            <p:childTnLst>
                              <p:par>
                                <p:cTn id="98" presetID="10" presetClass="entr" presetSubtype="0" fill="hold" grpId="0" nodeType="afterEffect">
                                  <p:stCondLst>
                                    <p:cond delay="0"/>
                                  </p:stCondLst>
                                  <p:childTnLst>
                                    <p:set>
                                      <p:cBhvr>
                                        <p:cTn id="99" dur="1" fill="hold">
                                          <p:stCondLst>
                                            <p:cond delay="0"/>
                                          </p:stCondLst>
                                        </p:cTn>
                                        <p:tgtEl>
                                          <p:spTgt spid="125"/>
                                        </p:tgtEl>
                                        <p:attrNameLst>
                                          <p:attrName>style.visibility</p:attrName>
                                        </p:attrNameLst>
                                      </p:cBhvr>
                                      <p:to>
                                        <p:strVal val="visible"/>
                                      </p:to>
                                    </p:set>
                                    <p:animEffect transition="in" filter="fade">
                                      <p:cBhvr>
                                        <p:cTn id="100" dur="500"/>
                                        <p:tgtEl>
                                          <p:spTgt spid="12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26"/>
                                        </p:tgtEl>
                                        <p:attrNameLst>
                                          <p:attrName>style.visibility</p:attrName>
                                        </p:attrNameLst>
                                      </p:cBhvr>
                                      <p:to>
                                        <p:strVal val="visible"/>
                                      </p:to>
                                    </p:set>
                                    <p:animEffect transition="in" filter="fade">
                                      <p:cBhvr>
                                        <p:cTn id="103" dur="500"/>
                                        <p:tgtEl>
                                          <p:spTgt spid="126"/>
                                        </p:tgtEl>
                                      </p:cBhvr>
                                    </p:animEffect>
                                  </p:childTnLst>
                                </p:cTn>
                              </p:par>
                            </p:childTnLst>
                          </p:cTn>
                        </p:par>
                        <p:par>
                          <p:cTn id="104" fill="hold">
                            <p:stCondLst>
                              <p:cond delay="11500"/>
                            </p:stCondLst>
                            <p:childTnLst>
                              <p:par>
                                <p:cTn id="105" presetID="10" presetClass="entr" presetSubtype="0" fill="hold" nodeType="afterEffect">
                                  <p:stCondLst>
                                    <p:cond delay="0"/>
                                  </p:stCondLst>
                                  <p:childTnLst>
                                    <p:set>
                                      <p:cBhvr>
                                        <p:cTn id="106" dur="1" fill="hold">
                                          <p:stCondLst>
                                            <p:cond delay="0"/>
                                          </p:stCondLst>
                                        </p:cTn>
                                        <p:tgtEl>
                                          <p:spTgt spid="66"/>
                                        </p:tgtEl>
                                        <p:attrNameLst>
                                          <p:attrName>style.visibility</p:attrName>
                                        </p:attrNameLst>
                                      </p:cBhvr>
                                      <p:to>
                                        <p:strVal val="visible"/>
                                      </p:to>
                                    </p:set>
                                    <p:animEffect transition="in" filter="fade">
                                      <p:cBhvr>
                                        <p:cTn id="107" dur="500"/>
                                        <p:tgtEl>
                                          <p:spTgt spid="66"/>
                                        </p:tgtEl>
                                      </p:cBhvr>
                                    </p:animEffect>
                                  </p:childTnLst>
                                </p:cTn>
                              </p:par>
                              <p:par>
                                <p:cTn id="108" presetID="6" presetClass="entr" presetSubtype="32" fill="hold" grpId="0" nodeType="withEffect">
                                  <p:stCondLst>
                                    <p:cond delay="0"/>
                                  </p:stCondLst>
                                  <p:childTnLst>
                                    <p:set>
                                      <p:cBhvr>
                                        <p:cTn id="109" dur="1" fill="hold">
                                          <p:stCondLst>
                                            <p:cond delay="0"/>
                                          </p:stCondLst>
                                        </p:cTn>
                                        <p:tgtEl>
                                          <p:spTgt spid="4"/>
                                        </p:tgtEl>
                                        <p:attrNameLst>
                                          <p:attrName>style.visibility</p:attrName>
                                        </p:attrNameLst>
                                      </p:cBhvr>
                                      <p:to>
                                        <p:strVal val="visible"/>
                                      </p:to>
                                    </p:set>
                                    <p:animEffect transition="in" filter="circle(out)">
                                      <p:cBhvr>
                                        <p:cTn id="110" dur="1500"/>
                                        <p:tgtEl>
                                          <p:spTgt spid="4"/>
                                        </p:tgtEl>
                                      </p:cBhvr>
                                    </p:animEffect>
                                  </p:childTnLst>
                                </p:cTn>
                              </p:par>
                              <p:par>
                                <p:cTn id="111" presetID="10" presetClass="entr" presetSubtype="0" fill="hold" nodeType="withEffect">
                                  <p:stCondLst>
                                    <p:cond delay="500"/>
                                  </p:stCondLst>
                                  <p:childTnLst>
                                    <p:set>
                                      <p:cBhvr>
                                        <p:cTn id="112" dur="1" fill="hold">
                                          <p:stCondLst>
                                            <p:cond delay="0"/>
                                          </p:stCondLst>
                                        </p:cTn>
                                        <p:tgtEl>
                                          <p:spTgt spid="65"/>
                                        </p:tgtEl>
                                        <p:attrNameLst>
                                          <p:attrName>style.visibility</p:attrName>
                                        </p:attrNameLst>
                                      </p:cBhvr>
                                      <p:to>
                                        <p:strVal val="visible"/>
                                      </p:to>
                                    </p:set>
                                    <p:animEffect transition="in" filter="fade">
                                      <p:cBhvr>
                                        <p:cTn id="113" dur="500"/>
                                        <p:tgtEl>
                                          <p:spTgt spid="65"/>
                                        </p:tgtEl>
                                      </p:cBhvr>
                                    </p:animEffect>
                                  </p:childTnLst>
                                </p:cTn>
                              </p:par>
                              <p:par>
                                <p:cTn id="114" presetID="22" presetClass="entr" presetSubtype="8" fill="hold" nodeType="withEffect">
                                  <p:stCondLst>
                                    <p:cond delay="1000"/>
                                  </p:stCondLst>
                                  <p:childTnLst>
                                    <p:set>
                                      <p:cBhvr>
                                        <p:cTn id="115" dur="1" fill="hold">
                                          <p:stCondLst>
                                            <p:cond delay="0"/>
                                          </p:stCondLst>
                                        </p:cTn>
                                        <p:tgtEl>
                                          <p:spTgt spid="71"/>
                                        </p:tgtEl>
                                        <p:attrNameLst>
                                          <p:attrName>style.visibility</p:attrName>
                                        </p:attrNameLst>
                                      </p:cBhvr>
                                      <p:to>
                                        <p:strVal val="visible"/>
                                      </p:to>
                                    </p:set>
                                    <p:animEffect transition="in" filter="wipe(left)">
                                      <p:cBhvr>
                                        <p:cTn id="116" dur="250"/>
                                        <p:tgtEl>
                                          <p:spTgt spid="71"/>
                                        </p:tgtEl>
                                      </p:cBhvr>
                                    </p:animEffect>
                                  </p:childTnLst>
                                </p:cTn>
                              </p:par>
                            </p:childTnLst>
                          </p:cTn>
                        </p:par>
                        <p:par>
                          <p:cTn id="117" fill="hold">
                            <p:stCondLst>
                              <p:cond delay="13000"/>
                            </p:stCondLst>
                            <p:childTnLst>
                              <p:par>
                                <p:cTn id="118" presetID="22" presetClass="entr" presetSubtype="8" fill="hold" nodeType="afterEffect">
                                  <p:stCondLst>
                                    <p:cond delay="0"/>
                                  </p:stCondLst>
                                  <p:childTnLst>
                                    <p:set>
                                      <p:cBhvr>
                                        <p:cTn id="119" dur="1" fill="hold">
                                          <p:stCondLst>
                                            <p:cond delay="0"/>
                                          </p:stCondLst>
                                        </p:cTn>
                                        <p:tgtEl>
                                          <p:spTgt spid="131"/>
                                        </p:tgtEl>
                                        <p:attrNameLst>
                                          <p:attrName>style.visibility</p:attrName>
                                        </p:attrNameLst>
                                      </p:cBhvr>
                                      <p:to>
                                        <p:strVal val="visible"/>
                                      </p:to>
                                    </p:set>
                                    <p:animEffect transition="in" filter="wipe(left)">
                                      <p:cBhvr>
                                        <p:cTn id="120" dur="500"/>
                                        <p:tgtEl>
                                          <p:spTgt spid="131"/>
                                        </p:tgtEl>
                                      </p:cBhvr>
                                    </p:animEffect>
                                  </p:childTnLst>
                                </p:cTn>
                              </p:par>
                              <p:par>
                                <p:cTn id="121" presetID="22" presetClass="entr" presetSubtype="1" fill="hold" nodeType="withEffect">
                                  <p:stCondLst>
                                    <p:cond delay="0"/>
                                  </p:stCondLst>
                                  <p:childTnLst>
                                    <p:set>
                                      <p:cBhvr>
                                        <p:cTn id="122" dur="1" fill="hold">
                                          <p:stCondLst>
                                            <p:cond delay="0"/>
                                          </p:stCondLst>
                                        </p:cTn>
                                        <p:tgtEl>
                                          <p:spTgt spid="132"/>
                                        </p:tgtEl>
                                        <p:attrNameLst>
                                          <p:attrName>style.visibility</p:attrName>
                                        </p:attrNameLst>
                                      </p:cBhvr>
                                      <p:to>
                                        <p:strVal val="visible"/>
                                      </p:to>
                                    </p:set>
                                    <p:animEffect transition="in" filter="wipe(up)">
                                      <p:cBhvr>
                                        <p:cTn id="123"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17" grpId="0"/>
      <p:bldP spid="75" grpId="0"/>
      <p:bldP spid="76" grpId="0"/>
      <p:bldP spid="77" grpId="0"/>
      <p:bldP spid="106" grpId="0"/>
      <p:bldP spid="108" grpId="0"/>
      <p:bldP spid="125" grpId="0"/>
      <p:bldP spid="126" grpId="0"/>
      <p:bldP spid="14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07DDD-397C-FBEA-31A2-A0CE3C661F33}"/>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37D3E2E6-E88F-44CB-D013-2F3D5F5EF1B6}"/>
              </a:ext>
            </a:extLst>
          </p:cNvPr>
          <p:cNvSpPr/>
          <p:nvPr/>
        </p:nvSpPr>
        <p:spPr>
          <a:xfrm>
            <a:off x="1323975" y="1379912"/>
            <a:ext cx="9293225" cy="4666258"/>
          </a:xfrm>
          <a:prstGeom prst="rect">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8" name="Rectangle 27">
            <a:extLst>
              <a:ext uri="{FF2B5EF4-FFF2-40B4-BE49-F238E27FC236}">
                <a16:creationId xmlns:a16="http://schemas.microsoft.com/office/drawing/2014/main" id="{1F19C06E-74DD-D075-8EDB-FF2DED08D24F}"/>
              </a:ext>
            </a:extLst>
          </p:cNvPr>
          <p:cNvSpPr/>
          <p:nvPr/>
        </p:nvSpPr>
        <p:spPr>
          <a:xfrm>
            <a:off x="1571625" y="1591012"/>
            <a:ext cx="8810625" cy="160664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9" name="Rectangle 28">
            <a:extLst>
              <a:ext uri="{FF2B5EF4-FFF2-40B4-BE49-F238E27FC236}">
                <a16:creationId xmlns:a16="http://schemas.microsoft.com/office/drawing/2014/main" id="{5DDD4114-BB9A-E86B-D3DF-8786FD09925F}"/>
              </a:ext>
            </a:extLst>
          </p:cNvPr>
          <p:cNvSpPr/>
          <p:nvPr/>
        </p:nvSpPr>
        <p:spPr>
          <a:xfrm>
            <a:off x="1571625" y="3434322"/>
            <a:ext cx="8810625" cy="222527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Title 1">
            <a:extLst>
              <a:ext uri="{FF2B5EF4-FFF2-40B4-BE49-F238E27FC236}">
                <a16:creationId xmlns:a16="http://schemas.microsoft.com/office/drawing/2014/main" id="{2B20CB62-4E76-D719-09F9-9F8B75AFC37F}"/>
              </a:ext>
            </a:extLst>
          </p:cNvPr>
          <p:cNvSpPr>
            <a:spLocks noGrp="1"/>
          </p:cNvSpPr>
          <p:nvPr>
            <p:ph type="title"/>
          </p:nvPr>
        </p:nvSpPr>
        <p:spPr/>
        <p:txBody>
          <a:bodyPr/>
          <a:lstStyle/>
          <a:p>
            <a:r>
              <a:rPr lang="en-US" dirty="0"/>
              <a:t>One Solution – Multiple Deployment Options</a:t>
            </a:r>
          </a:p>
        </p:txBody>
      </p:sp>
      <p:sp>
        <p:nvSpPr>
          <p:cNvPr id="3" name="Subtitle 2">
            <a:extLst>
              <a:ext uri="{FF2B5EF4-FFF2-40B4-BE49-F238E27FC236}">
                <a16:creationId xmlns:a16="http://schemas.microsoft.com/office/drawing/2014/main" id="{561D553C-BC6A-2682-6B00-25E46A94E148}"/>
              </a:ext>
            </a:extLst>
          </p:cNvPr>
          <p:cNvSpPr>
            <a:spLocks noGrp="1"/>
          </p:cNvSpPr>
          <p:nvPr>
            <p:ph type="subTitle" idx="10"/>
          </p:nvPr>
        </p:nvSpPr>
        <p:spPr/>
        <p:txBody>
          <a:bodyPr/>
          <a:lstStyle/>
          <a:p>
            <a:r>
              <a:rPr lang="en-US" dirty="0"/>
              <a:t>Aggregated resources using vSAN HCI or disaggregated resources using vSAN storage clusters</a:t>
            </a:r>
          </a:p>
        </p:txBody>
      </p:sp>
      <p:sp>
        <p:nvSpPr>
          <p:cNvPr id="5" name="TextBox 4">
            <a:extLst>
              <a:ext uri="{FF2B5EF4-FFF2-40B4-BE49-F238E27FC236}">
                <a16:creationId xmlns:a16="http://schemas.microsoft.com/office/drawing/2014/main" id="{F37B6B45-A0A9-44B8-8746-C3E4A46B7E0A}"/>
              </a:ext>
            </a:extLst>
          </p:cNvPr>
          <p:cNvSpPr txBox="1"/>
          <p:nvPr/>
        </p:nvSpPr>
        <p:spPr>
          <a:xfrm>
            <a:off x="2228638" y="1957851"/>
            <a:ext cx="984471" cy="369332"/>
          </a:xfrm>
          <a:prstGeom prst="rect">
            <a:avLst/>
          </a:prstGeom>
        </p:spPr>
        <p:txBody>
          <a:bodyPr wrap="square" lIns="0" tIns="0" rIns="0" bIns="0" rtlCol="0">
            <a:spAutoFit/>
          </a:bodyPr>
          <a:lstStyle/>
          <a:p>
            <a:pPr algn="ctr">
              <a:spcAft>
                <a:spcPts val="600"/>
              </a:spcAft>
            </a:pPr>
            <a:r>
              <a:rPr lang="en-US" sz="1200" dirty="0">
                <a:solidFill>
                  <a:schemeClr val="tx2"/>
                </a:solidFill>
              </a:rPr>
              <a:t>Compute</a:t>
            </a:r>
            <a:br>
              <a:rPr lang="en-US" sz="1200" dirty="0">
                <a:solidFill>
                  <a:schemeClr val="tx2"/>
                </a:solidFill>
              </a:rPr>
            </a:br>
            <a:r>
              <a:rPr lang="en-US" sz="1200" dirty="0">
                <a:solidFill>
                  <a:schemeClr val="tx2"/>
                </a:solidFill>
              </a:rPr>
              <a:t>&amp; storage</a:t>
            </a:r>
          </a:p>
        </p:txBody>
      </p:sp>
      <p:pic>
        <p:nvPicPr>
          <p:cNvPr id="6" name="Graphic 5">
            <a:extLst>
              <a:ext uri="{FF2B5EF4-FFF2-40B4-BE49-F238E27FC236}">
                <a16:creationId xmlns:a16="http://schemas.microsoft.com/office/drawing/2014/main" id="{337054B3-108A-A536-1648-D565DBFBC67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43267" y="2524957"/>
            <a:ext cx="190410" cy="223781"/>
          </a:xfrm>
          <a:prstGeom prst="rect">
            <a:avLst/>
          </a:prstGeom>
        </p:spPr>
      </p:pic>
      <p:grpSp>
        <p:nvGrpSpPr>
          <p:cNvPr id="7" name="Group 6">
            <a:extLst>
              <a:ext uri="{FF2B5EF4-FFF2-40B4-BE49-F238E27FC236}">
                <a16:creationId xmlns:a16="http://schemas.microsoft.com/office/drawing/2014/main" id="{F3A96D7B-007B-35D1-26A9-684F3B0D4658}"/>
              </a:ext>
            </a:extLst>
          </p:cNvPr>
          <p:cNvGrpSpPr/>
          <p:nvPr/>
        </p:nvGrpSpPr>
        <p:grpSpPr>
          <a:xfrm>
            <a:off x="3143755" y="2332363"/>
            <a:ext cx="2189434" cy="184666"/>
            <a:chOff x="7950077" y="3379353"/>
            <a:chExt cx="2189434" cy="184666"/>
          </a:xfrm>
        </p:grpSpPr>
        <p:cxnSp>
          <p:nvCxnSpPr>
            <p:cNvPr id="8" name="Straight Connector 7">
              <a:extLst>
                <a:ext uri="{FF2B5EF4-FFF2-40B4-BE49-F238E27FC236}">
                  <a16:creationId xmlns:a16="http://schemas.microsoft.com/office/drawing/2014/main" id="{97FCC90B-BB07-BC7E-7B3F-55058E406C32}"/>
                </a:ext>
              </a:extLst>
            </p:cNvPr>
            <p:cNvCxnSpPr>
              <a:cxnSpLocks/>
            </p:cNvCxnSpPr>
            <p:nvPr/>
          </p:nvCxnSpPr>
          <p:spPr bwMode="gray">
            <a:xfrm>
              <a:off x="7954667" y="3387515"/>
              <a:ext cx="0" cy="88010"/>
            </a:xfrm>
            <a:prstGeom prst="line">
              <a:avLst/>
            </a:prstGeom>
            <a:solidFill>
              <a:schemeClr val="accent1"/>
            </a:solidFill>
            <a:ln w="15875">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F5CFD87-1F8E-0BB9-B98E-F3405E3FDBFF}"/>
                </a:ext>
              </a:extLst>
            </p:cNvPr>
            <p:cNvCxnSpPr>
              <a:cxnSpLocks/>
            </p:cNvCxnSpPr>
            <p:nvPr/>
          </p:nvCxnSpPr>
          <p:spPr bwMode="gray">
            <a:xfrm>
              <a:off x="9575674" y="3475525"/>
              <a:ext cx="563837" cy="0"/>
            </a:xfrm>
            <a:prstGeom prst="line">
              <a:avLst/>
            </a:prstGeom>
            <a:solidFill>
              <a:schemeClr val="accent1"/>
            </a:solidFill>
            <a:ln w="15875">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CC47305-4739-7F0F-A601-0847407A837B}"/>
                </a:ext>
              </a:extLst>
            </p:cNvPr>
            <p:cNvCxnSpPr>
              <a:cxnSpLocks/>
            </p:cNvCxnSpPr>
            <p:nvPr/>
          </p:nvCxnSpPr>
          <p:spPr bwMode="gray">
            <a:xfrm>
              <a:off x="10139511" y="3387515"/>
              <a:ext cx="0" cy="88010"/>
            </a:xfrm>
            <a:prstGeom prst="line">
              <a:avLst/>
            </a:prstGeom>
            <a:solidFill>
              <a:schemeClr val="accent1"/>
            </a:solidFill>
            <a:ln w="15875">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E3F7283-DF6C-66A6-567D-F2A496424E84}"/>
                </a:ext>
              </a:extLst>
            </p:cNvPr>
            <p:cNvCxnSpPr>
              <a:cxnSpLocks/>
            </p:cNvCxnSpPr>
            <p:nvPr/>
          </p:nvCxnSpPr>
          <p:spPr bwMode="gray">
            <a:xfrm>
              <a:off x="7950077" y="3475525"/>
              <a:ext cx="563837" cy="0"/>
            </a:xfrm>
            <a:prstGeom prst="line">
              <a:avLst/>
            </a:prstGeom>
            <a:solidFill>
              <a:schemeClr val="accent1"/>
            </a:solidFill>
            <a:ln w="15875">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3DB233D-2DD2-B6C4-0ECE-43B177F8B3BE}"/>
                </a:ext>
              </a:extLst>
            </p:cNvPr>
            <p:cNvSpPr txBox="1"/>
            <p:nvPr/>
          </p:nvSpPr>
          <p:spPr>
            <a:xfrm>
              <a:off x="8628053" y="3379353"/>
              <a:ext cx="839570" cy="184666"/>
            </a:xfrm>
            <a:prstGeom prst="rect">
              <a:avLst/>
            </a:prstGeom>
            <a:ln>
              <a:noFill/>
            </a:ln>
          </p:spPr>
          <p:txBody>
            <a:bodyPr wrap="square" lIns="0" tIns="0" rIns="0" bIns="0" rtlCol="0">
              <a:spAutoFit/>
            </a:bodyPr>
            <a:lstStyle/>
            <a:p>
              <a:pPr algn="ctr">
                <a:spcAft>
                  <a:spcPts val="600"/>
                </a:spcAft>
              </a:pPr>
              <a:r>
                <a:rPr lang="en-US" sz="1200" dirty="0">
                  <a:solidFill>
                    <a:schemeClr val="accent1"/>
                  </a:solidFill>
                </a:rPr>
                <a:t>vSAN HCI</a:t>
              </a:r>
            </a:p>
          </p:txBody>
        </p:sp>
      </p:grpSp>
      <p:grpSp>
        <p:nvGrpSpPr>
          <p:cNvPr id="14" name="Group 13">
            <a:extLst>
              <a:ext uri="{FF2B5EF4-FFF2-40B4-BE49-F238E27FC236}">
                <a16:creationId xmlns:a16="http://schemas.microsoft.com/office/drawing/2014/main" id="{FE119FDB-362F-7E84-E769-312D2D1CCA2B}"/>
              </a:ext>
            </a:extLst>
          </p:cNvPr>
          <p:cNvGrpSpPr/>
          <p:nvPr/>
        </p:nvGrpSpPr>
        <p:grpSpPr>
          <a:xfrm>
            <a:off x="3143755" y="2017274"/>
            <a:ext cx="2189434" cy="283867"/>
            <a:chOff x="7950077" y="3385398"/>
            <a:chExt cx="2189434" cy="283867"/>
          </a:xfrm>
        </p:grpSpPr>
        <p:grpSp>
          <p:nvGrpSpPr>
            <p:cNvPr id="15" name="Group 14">
              <a:extLst>
                <a:ext uri="{FF2B5EF4-FFF2-40B4-BE49-F238E27FC236}">
                  <a16:creationId xmlns:a16="http://schemas.microsoft.com/office/drawing/2014/main" id="{D34DD064-3751-5C54-E859-26549EC35490}"/>
                </a:ext>
              </a:extLst>
            </p:cNvPr>
            <p:cNvGrpSpPr/>
            <p:nvPr/>
          </p:nvGrpSpPr>
          <p:grpSpPr>
            <a:xfrm>
              <a:off x="7950077" y="3385398"/>
              <a:ext cx="2189434" cy="113067"/>
              <a:chOff x="9883178" y="3095486"/>
              <a:chExt cx="2189434" cy="113067"/>
            </a:xfrm>
            <a:solidFill>
              <a:schemeClr val="accent1">
                <a:lumMod val="20000"/>
                <a:lumOff val="80000"/>
              </a:schemeClr>
            </a:solidFill>
          </p:grpSpPr>
          <p:sp>
            <p:nvSpPr>
              <p:cNvPr id="25" name="Rectangle 24">
                <a:extLst>
                  <a:ext uri="{FF2B5EF4-FFF2-40B4-BE49-F238E27FC236}">
                    <a16:creationId xmlns:a16="http://schemas.microsoft.com/office/drawing/2014/main" id="{6C0A1ADA-4322-0F70-992C-8772CE6C6C8F}"/>
                  </a:ext>
                </a:extLst>
              </p:cNvPr>
              <p:cNvSpPr/>
              <p:nvPr/>
            </p:nvSpPr>
            <p:spPr>
              <a:xfrm>
                <a:off x="9883178"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95" name="Rectangle 94">
                <a:extLst>
                  <a:ext uri="{FF2B5EF4-FFF2-40B4-BE49-F238E27FC236}">
                    <a16:creationId xmlns:a16="http://schemas.microsoft.com/office/drawing/2014/main" id="{6D423E4B-8625-A02A-B15D-51388E189353}"/>
                  </a:ext>
                </a:extLst>
              </p:cNvPr>
              <p:cNvSpPr/>
              <p:nvPr/>
            </p:nvSpPr>
            <p:spPr>
              <a:xfrm>
                <a:off x="10447015"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96" name="Rectangle 95">
                <a:extLst>
                  <a:ext uri="{FF2B5EF4-FFF2-40B4-BE49-F238E27FC236}">
                    <a16:creationId xmlns:a16="http://schemas.microsoft.com/office/drawing/2014/main" id="{2F52EACC-D38F-BE3B-2EFE-BB8EABD75BE4}"/>
                  </a:ext>
                </a:extLst>
              </p:cNvPr>
              <p:cNvSpPr/>
              <p:nvPr/>
            </p:nvSpPr>
            <p:spPr>
              <a:xfrm>
                <a:off x="11010852"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97" name="Rectangle 96">
                <a:extLst>
                  <a:ext uri="{FF2B5EF4-FFF2-40B4-BE49-F238E27FC236}">
                    <a16:creationId xmlns:a16="http://schemas.microsoft.com/office/drawing/2014/main" id="{32EDA5DE-8D4D-88AB-75B6-F8953461D285}"/>
                  </a:ext>
                </a:extLst>
              </p:cNvPr>
              <p:cNvSpPr/>
              <p:nvPr/>
            </p:nvSpPr>
            <p:spPr>
              <a:xfrm>
                <a:off x="11574689"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grpSp>
          <p:nvGrpSpPr>
            <p:cNvPr id="16" name="Group 15">
              <a:extLst>
                <a:ext uri="{FF2B5EF4-FFF2-40B4-BE49-F238E27FC236}">
                  <a16:creationId xmlns:a16="http://schemas.microsoft.com/office/drawing/2014/main" id="{DF88FD8B-7D9C-A254-1F25-61C1FD1F389E}"/>
                </a:ext>
              </a:extLst>
            </p:cNvPr>
            <p:cNvGrpSpPr/>
            <p:nvPr/>
          </p:nvGrpSpPr>
          <p:grpSpPr>
            <a:xfrm>
              <a:off x="7950077" y="3556198"/>
              <a:ext cx="2189434" cy="113067"/>
              <a:chOff x="9883178" y="3095486"/>
              <a:chExt cx="2189434" cy="113067"/>
            </a:xfrm>
            <a:solidFill>
              <a:schemeClr val="accent1">
                <a:lumMod val="20000"/>
                <a:lumOff val="80000"/>
              </a:schemeClr>
            </a:solidFill>
          </p:grpSpPr>
          <p:sp>
            <p:nvSpPr>
              <p:cNvPr id="17" name="Rectangle 16">
                <a:extLst>
                  <a:ext uri="{FF2B5EF4-FFF2-40B4-BE49-F238E27FC236}">
                    <a16:creationId xmlns:a16="http://schemas.microsoft.com/office/drawing/2014/main" id="{7483269A-D789-78BE-C1DC-B58CCA1C1F26}"/>
                  </a:ext>
                </a:extLst>
              </p:cNvPr>
              <p:cNvSpPr/>
              <p:nvPr/>
            </p:nvSpPr>
            <p:spPr>
              <a:xfrm>
                <a:off x="9883178"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8" name="Rectangle 17">
                <a:extLst>
                  <a:ext uri="{FF2B5EF4-FFF2-40B4-BE49-F238E27FC236}">
                    <a16:creationId xmlns:a16="http://schemas.microsoft.com/office/drawing/2014/main" id="{1519F583-0266-FB58-ACA1-C5D3545FFF00}"/>
                  </a:ext>
                </a:extLst>
              </p:cNvPr>
              <p:cNvSpPr/>
              <p:nvPr/>
            </p:nvSpPr>
            <p:spPr>
              <a:xfrm>
                <a:off x="10447015"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9" name="Rectangle 18">
                <a:extLst>
                  <a:ext uri="{FF2B5EF4-FFF2-40B4-BE49-F238E27FC236}">
                    <a16:creationId xmlns:a16="http://schemas.microsoft.com/office/drawing/2014/main" id="{BE9A421E-B6B1-8823-B6D9-DB0092C0649C}"/>
                  </a:ext>
                </a:extLst>
              </p:cNvPr>
              <p:cNvSpPr/>
              <p:nvPr/>
            </p:nvSpPr>
            <p:spPr>
              <a:xfrm>
                <a:off x="11010852"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2" name="Rectangle 21">
                <a:extLst>
                  <a:ext uri="{FF2B5EF4-FFF2-40B4-BE49-F238E27FC236}">
                    <a16:creationId xmlns:a16="http://schemas.microsoft.com/office/drawing/2014/main" id="{59421522-7EAC-BFCB-64E2-959B829D9469}"/>
                  </a:ext>
                </a:extLst>
              </p:cNvPr>
              <p:cNvSpPr/>
              <p:nvPr/>
            </p:nvSpPr>
            <p:spPr>
              <a:xfrm>
                <a:off x="11574689" y="3095486"/>
                <a:ext cx="497923" cy="113067"/>
              </a:xfrm>
              <a:prstGeom prst="rect">
                <a:avLst/>
              </a:prstGeom>
              <a:grp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grpSp>
      <p:grpSp>
        <p:nvGrpSpPr>
          <p:cNvPr id="98" name="Group 97">
            <a:extLst>
              <a:ext uri="{FF2B5EF4-FFF2-40B4-BE49-F238E27FC236}">
                <a16:creationId xmlns:a16="http://schemas.microsoft.com/office/drawing/2014/main" id="{B8B31CF7-0D1A-BBCF-CC3F-8A805534AAA0}"/>
              </a:ext>
            </a:extLst>
          </p:cNvPr>
          <p:cNvGrpSpPr/>
          <p:nvPr/>
        </p:nvGrpSpPr>
        <p:grpSpPr>
          <a:xfrm>
            <a:off x="3143755" y="1734585"/>
            <a:ext cx="2189434" cy="230392"/>
            <a:chOff x="7950077" y="3102709"/>
            <a:chExt cx="2189434" cy="230392"/>
          </a:xfrm>
        </p:grpSpPr>
        <p:grpSp>
          <p:nvGrpSpPr>
            <p:cNvPr id="99" name="Group 98">
              <a:extLst>
                <a:ext uri="{FF2B5EF4-FFF2-40B4-BE49-F238E27FC236}">
                  <a16:creationId xmlns:a16="http://schemas.microsoft.com/office/drawing/2014/main" id="{A8DD9F6F-EEA0-1713-9F51-58740D705435}"/>
                </a:ext>
              </a:extLst>
            </p:cNvPr>
            <p:cNvGrpSpPr/>
            <p:nvPr/>
          </p:nvGrpSpPr>
          <p:grpSpPr>
            <a:xfrm>
              <a:off x="7950077" y="3102709"/>
              <a:ext cx="1061760" cy="230392"/>
              <a:chOff x="6535453" y="2852959"/>
              <a:chExt cx="966592" cy="209741"/>
            </a:xfrm>
            <a:solidFill>
              <a:schemeClr val="accent1"/>
            </a:solidFill>
          </p:grpSpPr>
          <p:pic>
            <p:nvPicPr>
              <p:cNvPr id="105" name="Graphic 104">
                <a:extLst>
                  <a:ext uri="{FF2B5EF4-FFF2-40B4-BE49-F238E27FC236}">
                    <a16:creationId xmlns:a16="http://schemas.microsoft.com/office/drawing/2014/main" id="{0F2AD205-CE79-8288-A9D4-2B0F6B06D80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87737" y="2852959"/>
                <a:ext cx="209741" cy="209741"/>
              </a:xfrm>
              <a:prstGeom prst="rect">
                <a:avLst/>
              </a:prstGeom>
            </p:spPr>
          </p:pic>
          <p:pic>
            <p:nvPicPr>
              <p:cNvPr id="106" name="Graphic 105">
                <a:extLst>
                  <a:ext uri="{FF2B5EF4-FFF2-40B4-BE49-F238E27FC236}">
                    <a16:creationId xmlns:a16="http://schemas.microsoft.com/office/drawing/2014/main" id="{52BE0971-1BD0-0106-5916-E6E47EB8598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35453" y="2852959"/>
                <a:ext cx="209741" cy="209741"/>
              </a:xfrm>
              <a:prstGeom prst="rect">
                <a:avLst/>
              </a:prstGeom>
            </p:spPr>
          </p:pic>
          <p:pic>
            <p:nvPicPr>
              <p:cNvPr id="107" name="Graphic 106">
                <a:extLst>
                  <a:ext uri="{FF2B5EF4-FFF2-40B4-BE49-F238E27FC236}">
                    <a16:creationId xmlns:a16="http://schemas.microsoft.com/office/drawing/2014/main" id="{57141B12-C07F-211B-6683-17AEF85730E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92304" y="2852959"/>
                <a:ext cx="209741" cy="209741"/>
              </a:xfrm>
              <a:prstGeom prst="rect">
                <a:avLst/>
              </a:prstGeom>
            </p:spPr>
          </p:pic>
          <p:pic>
            <p:nvPicPr>
              <p:cNvPr id="108" name="Graphic 107">
                <a:extLst>
                  <a:ext uri="{FF2B5EF4-FFF2-40B4-BE49-F238E27FC236}">
                    <a16:creationId xmlns:a16="http://schemas.microsoft.com/office/drawing/2014/main" id="{A4BE1AE4-289F-330E-ADF4-0162D2B5377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40021" y="2852959"/>
                <a:ext cx="209741" cy="209741"/>
              </a:xfrm>
              <a:prstGeom prst="rect">
                <a:avLst/>
              </a:prstGeom>
            </p:spPr>
          </p:pic>
        </p:grpSp>
        <p:grpSp>
          <p:nvGrpSpPr>
            <p:cNvPr id="100" name="Group 99">
              <a:extLst>
                <a:ext uri="{FF2B5EF4-FFF2-40B4-BE49-F238E27FC236}">
                  <a16:creationId xmlns:a16="http://schemas.microsoft.com/office/drawing/2014/main" id="{05C0127D-FEB1-447F-789D-2828D2B50323}"/>
                </a:ext>
              </a:extLst>
            </p:cNvPr>
            <p:cNvGrpSpPr/>
            <p:nvPr/>
          </p:nvGrpSpPr>
          <p:grpSpPr>
            <a:xfrm>
              <a:off x="9077751" y="3102709"/>
              <a:ext cx="1061760" cy="230392"/>
              <a:chOff x="6535453" y="2852959"/>
              <a:chExt cx="966592" cy="209741"/>
            </a:xfrm>
            <a:solidFill>
              <a:schemeClr val="accent1"/>
            </a:solidFill>
          </p:grpSpPr>
          <p:pic>
            <p:nvPicPr>
              <p:cNvPr id="101" name="Graphic 100">
                <a:extLst>
                  <a:ext uri="{FF2B5EF4-FFF2-40B4-BE49-F238E27FC236}">
                    <a16:creationId xmlns:a16="http://schemas.microsoft.com/office/drawing/2014/main" id="{1231F169-96ED-1530-80FF-991B26E43A8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87737" y="2852959"/>
                <a:ext cx="209741" cy="209741"/>
              </a:xfrm>
              <a:prstGeom prst="rect">
                <a:avLst/>
              </a:prstGeom>
            </p:spPr>
          </p:pic>
          <p:pic>
            <p:nvPicPr>
              <p:cNvPr id="102" name="Graphic 101">
                <a:extLst>
                  <a:ext uri="{FF2B5EF4-FFF2-40B4-BE49-F238E27FC236}">
                    <a16:creationId xmlns:a16="http://schemas.microsoft.com/office/drawing/2014/main" id="{A01D416D-B362-DDE2-544A-233330DFCB6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35453" y="2852959"/>
                <a:ext cx="209741" cy="209741"/>
              </a:xfrm>
              <a:prstGeom prst="rect">
                <a:avLst/>
              </a:prstGeom>
            </p:spPr>
          </p:pic>
          <p:pic>
            <p:nvPicPr>
              <p:cNvPr id="103" name="Graphic 102">
                <a:extLst>
                  <a:ext uri="{FF2B5EF4-FFF2-40B4-BE49-F238E27FC236}">
                    <a16:creationId xmlns:a16="http://schemas.microsoft.com/office/drawing/2014/main" id="{5C1B5058-A18B-2EDB-0C3B-229F98228C7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92304" y="2852959"/>
                <a:ext cx="209741" cy="209741"/>
              </a:xfrm>
              <a:prstGeom prst="rect">
                <a:avLst/>
              </a:prstGeom>
            </p:spPr>
          </p:pic>
          <p:pic>
            <p:nvPicPr>
              <p:cNvPr id="104" name="Graphic 103">
                <a:extLst>
                  <a:ext uri="{FF2B5EF4-FFF2-40B4-BE49-F238E27FC236}">
                    <a16:creationId xmlns:a16="http://schemas.microsoft.com/office/drawing/2014/main" id="{2362F0AF-FF7F-60F5-C4B7-E69E6D319F5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40021" y="2852959"/>
                <a:ext cx="209741" cy="209741"/>
              </a:xfrm>
              <a:prstGeom prst="rect">
                <a:avLst/>
              </a:prstGeom>
            </p:spPr>
          </p:pic>
        </p:grpSp>
      </p:grpSp>
      <p:sp>
        <p:nvSpPr>
          <p:cNvPr id="109" name="TextBox 108">
            <a:extLst>
              <a:ext uri="{FF2B5EF4-FFF2-40B4-BE49-F238E27FC236}">
                <a16:creationId xmlns:a16="http://schemas.microsoft.com/office/drawing/2014/main" id="{643FE72C-0AC3-4863-7AED-B42D92B39EC8}"/>
              </a:ext>
            </a:extLst>
          </p:cNvPr>
          <p:cNvSpPr txBox="1"/>
          <p:nvPr/>
        </p:nvSpPr>
        <p:spPr>
          <a:xfrm>
            <a:off x="2309412" y="4597160"/>
            <a:ext cx="822923" cy="369332"/>
          </a:xfrm>
          <a:prstGeom prst="rect">
            <a:avLst/>
          </a:prstGeom>
        </p:spPr>
        <p:txBody>
          <a:bodyPr wrap="square" lIns="0" tIns="0" rIns="0" bIns="0" rtlCol="0">
            <a:spAutoFit/>
          </a:bodyPr>
          <a:lstStyle/>
          <a:p>
            <a:pPr algn="ctr">
              <a:spcAft>
                <a:spcPts val="600"/>
              </a:spcAft>
            </a:pPr>
            <a:r>
              <a:rPr lang="en-US" sz="1200">
                <a:solidFill>
                  <a:schemeClr val="tx2"/>
                </a:solidFill>
              </a:rPr>
              <a:t>Storage</a:t>
            </a:r>
            <a:br>
              <a:rPr lang="en-US" sz="1200">
                <a:solidFill>
                  <a:schemeClr val="tx2"/>
                </a:solidFill>
              </a:rPr>
            </a:br>
            <a:r>
              <a:rPr lang="en-US" sz="1200">
                <a:solidFill>
                  <a:schemeClr val="tx2"/>
                </a:solidFill>
              </a:rPr>
              <a:t>only</a:t>
            </a:r>
          </a:p>
        </p:txBody>
      </p:sp>
      <p:pic>
        <p:nvPicPr>
          <p:cNvPr id="110" name="Graphic 109">
            <a:extLst>
              <a:ext uri="{FF2B5EF4-FFF2-40B4-BE49-F238E27FC236}">
                <a16:creationId xmlns:a16="http://schemas.microsoft.com/office/drawing/2014/main" id="{82F65A24-AD4D-DA6F-AC7C-AC946A0AAD7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143267" y="4985184"/>
            <a:ext cx="190410" cy="223781"/>
          </a:xfrm>
          <a:prstGeom prst="rect">
            <a:avLst/>
          </a:prstGeom>
        </p:spPr>
      </p:pic>
      <p:grpSp>
        <p:nvGrpSpPr>
          <p:cNvPr id="111" name="Group 110">
            <a:extLst>
              <a:ext uri="{FF2B5EF4-FFF2-40B4-BE49-F238E27FC236}">
                <a16:creationId xmlns:a16="http://schemas.microsoft.com/office/drawing/2014/main" id="{0AECDE5A-22C2-487A-659E-F83BC7F47A9D}"/>
              </a:ext>
            </a:extLst>
          </p:cNvPr>
          <p:cNvGrpSpPr/>
          <p:nvPr/>
        </p:nvGrpSpPr>
        <p:grpSpPr>
          <a:xfrm>
            <a:off x="3143755" y="4792590"/>
            <a:ext cx="2189434" cy="184666"/>
            <a:chOff x="7950077" y="3379353"/>
            <a:chExt cx="2189434" cy="184666"/>
          </a:xfrm>
        </p:grpSpPr>
        <p:cxnSp>
          <p:nvCxnSpPr>
            <p:cNvPr id="112" name="Straight Connector 111">
              <a:extLst>
                <a:ext uri="{FF2B5EF4-FFF2-40B4-BE49-F238E27FC236}">
                  <a16:creationId xmlns:a16="http://schemas.microsoft.com/office/drawing/2014/main" id="{16E09D8F-1ECC-AFAD-7A57-34078CBB6BCE}"/>
                </a:ext>
              </a:extLst>
            </p:cNvPr>
            <p:cNvCxnSpPr>
              <a:cxnSpLocks/>
            </p:cNvCxnSpPr>
            <p:nvPr/>
          </p:nvCxnSpPr>
          <p:spPr bwMode="gray">
            <a:xfrm>
              <a:off x="7954667" y="3387515"/>
              <a:ext cx="0" cy="88010"/>
            </a:xfrm>
            <a:prstGeom prst="line">
              <a:avLst/>
            </a:prstGeom>
            <a:solidFill>
              <a:schemeClr val="accent1"/>
            </a:solidFill>
            <a:ln w="1587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833DC843-EBA4-5946-F94E-39F537B6AA21}"/>
                </a:ext>
              </a:extLst>
            </p:cNvPr>
            <p:cNvCxnSpPr>
              <a:cxnSpLocks/>
            </p:cNvCxnSpPr>
            <p:nvPr/>
          </p:nvCxnSpPr>
          <p:spPr bwMode="gray">
            <a:xfrm>
              <a:off x="9862389" y="3475525"/>
              <a:ext cx="277122" cy="0"/>
            </a:xfrm>
            <a:prstGeom prst="line">
              <a:avLst/>
            </a:prstGeom>
            <a:solidFill>
              <a:schemeClr val="accent1"/>
            </a:solidFill>
            <a:ln w="1587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360D3D0A-58FF-01BF-D34F-792BEE787068}"/>
                </a:ext>
              </a:extLst>
            </p:cNvPr>
            <p:cNvCxnSpPr>
              <a:cxnSpLocks/>
            </p:cNvCxnSpPr>
            <p:nvPr/>
          </p:nvCxnSpPr>
          <p:spPr bwMode="gray">
            <a:xfrm>
              <a:off x="10139511" y="3387515"/>
              <a:ext cx="0" cy="88010"/>
            </a:xfrm>
            <a:prstGeom prst="line">
              <a:avLst/>
            </a:prstGeom>
            <a:solidFill>
              <a:schemeClr val="accent1"/>
            </a:solidFill>
            <a:ln w="1587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B6706510-969D-D36C-68B4-E6C9023B4473}"/>
                </a:ext>
              </a:extLst>
            </p:cNvPr>
            <p:cNvCxnSpPr>
              <a:cxnSpLocks/>
            </p:cNvCxnSpPr>
            <p:nvPr/>
          </p:nvCxnSpPr>
          <p:spPr bwMode="gray">
            <a:xfrm>
              <a:off x="7950077" y="3475525"/>
              <a:ext cx="260309" cy="0"/>
            </a:xfrm>
            <a:prstGeom prst="line">
              <a:avLst/>
            </a:prstGeom>
            <a:solidFill>
              <a:schemeClr val="accent1"/>
            </a:solidFill>
            <a:ln w="1587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F0B0B221-9ABA-2D14-C306-EF5B18F46B91}"/>
                </a:ext>
              </a:extLst>
            </p:cNvPr>
            <p:cNvSpPr txBox="1"/>
            <p:nvPr/>
          </p:nvSpPr>
          <p:spPr>
            <a:xfrm>
              <a:off x="8287714" y="3379353"/>
              <a:ext cx="1533518" cy="184666"/>
            </a:xfrm>
            <a:prstGeom prst="rect">
              <a:avLst/>
            </a:prstGeom>
            <a:ln>
              <a:noFill/>
            </a:ln>
          </p:spPr>
          <p:txBody>
            <a:bodyPr wrap="square" lIns="0" tIns="0" rIns="0" bIns="0" rtlCol="0">
              <a:spAutoFit/>
            </a:bodyPr>
            <a:lstStyle/>
            <a:p>
              <a:pPr algn="ctr">
                <a:spcAft>
                  <a:spcPts val="600"/>
                </a:spcAft>
              </a:pPr>
              <a:r>
                <a:rPr lang="en-US" sz="1200" dirty="0">
                  <a:solidFill>
                    <a:schemeClr val="accent2"/>
                  </a:solidFill>
                </a:rPr>
                <a:t>vSAN storage cluster</a:t>
              </a:r>
            </a:p>
          </p:txBody>
        </p:sp>
      </p:grpSp>
      <p:grpSp>
        <p:nvGrpSpPr>
          <p:cNvPr id="117" name="Group 116">
            <a:extLst>
              <a:ext uri="{FF2B5EF4-FFF2-40B4-BE49-F238E27FC236}">
                <a16:creationId xmlns:a16="http://schemas.microsoft.com/office/drawing/2014/main" id="{1ED7A9F5-A558-40D5-09ED-A06545D30C15}"/>
              </a:ext>
            </a:extLst>
          </p:cNvPr>
          <p:cNvGrpSpPr/>
          <p:nvPr/>
        </p:nvGrpSpPr>
        <p:grpSpPr>
          <a:xfrm>
            <a:off x="3143755" y="4648301"/>
            <a:ext cx="2189434" cy="113067"/>
            <a:chOff x="9883178" y="3095486"/>
            <a:chExt cx="2189434" cy="113067"/>
          </a:xfrm>
          <a:solidFill>
            <a:schemeClr val="accent2">
              <a:lumMod val="20000"/>
              <a:lumOff val="80000"/>
            </a:schemeClr>
          </a:solidFill>
        </p:grpSpPr>
        <p:sp>
          <p:nvSpPr>
            <p:cNvPr id="118" name="Rectangle 117">
              <a:extLst>
                <a:ext uri="{FF2B5EF4-FFF2-40B4-BE49-F238E27FC236}">
                  <a16:creationId xmlns:a16="http://schemas.microsoft.com/office/drawing/2014/main" id="{A40FA6C6-8B0B-EDBD-0E23-691703BA1D22}"/>
                </a:ext>
              </a:extLst>
            </p:cNvPr>
            <p:cNvSpPr/>
            <p:nvPr/>
          </p:nvSpPr>
          <p:spPr>
            <a:xfrm>
              <a:off x="9883178" y="3095486"/>
              <a:ext cx="497923" cy="113067"/>
            </a:xfrm>
            <a:prstGeom prst="rect">
              <a:avLst/>
            </a:prstGeom>
            <a:grp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19" name="Rectangle 118">
              <a:extLst>
                <a:ext uri="{FF2B5EF4-FFF2-40B4-BE49-F238E27FC236}">
                  <a16:creationId xmlns:a16="http://schemas.microsoft.com/office/drawing/2014/main" id="{1A3C144D-4303-4DB4-5CDE-5EF02D67CB37}"/>
                </a:ext>
              </a:extLst>
            </p:cNvPr>
            <p:cNvSpPr/>
            <p:nvPr/>
          </p:nvSpPr>
          <p:spPr>
            <a:xfrm>
              <a:off x="10447015" y="3095486"/>
              <a:ext cx="497923" cy="113067"/>
            </a:xfrm>
            <a:prstGeom prst="rect">
              <a:avLst/>
            </a:prstGeom>
            <a:grp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20" name="Rectangle 119">
              <a:extLst>
                <a:ext uri="{FF2B5EF4-FFF2-40B4-BE49-F238E27FC236}">
                  <a16:creationId xmlns:a16="http://schemas.microsoft.com/office/drawing/2014/main" id="{1F7942D9-ABF8-DD7B-75D0-6465EBC4369E}"/>
                </a:ext>
              </a:extLst>
            </p:cNvPr>
            <p:cNvSpPr/>
            <p:nvPr/>
          </p:nvSpPr>
          <p:spPr>
            <a:xfrm>
              <a:off x="11010852" y="3095486"/>
              <a:ext cx="497923" cy="113067"/>
            </a:xfrm>
            <a:prstGeom prst="rect">
              <a:avLst/>
            </a:prstGeom>
            <a:grp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21" name="Rectangle 120">
              <a:extLst>
                <a:ext uri="{FF2B5EF4-FFF2-40B4-BE49-F238E27FC236}">
                  <a16:creationId xmlns:a16="http://schemas.microsoft.com/office/drawing/2014/main" id="{1F08DFA4-3787-7B46-AB46-AAD8D13530B8}"/>
                </a:ext>
              </a:extLst>
            </p:cNvPr>
            <p:cNvSpPr/>
            <p:nvPr/>
          </p:nvSpPr>
          <p:spPr>
            <a:xfrm>
              <a:off x="11574689" y="3095486"/>
              <a:ext cx="497923" cy="113067"/>
            </a:xfrm>
            <a:prstGeom prst="rect">
              <a:avLst/>
            </a:prstGeom>
            <a:grp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grpSp>
        <p:nvGrpSpPr>
          <p:cNvPr id="122" name="Group 121">
            <a:extLst>
              <a:ext uri="{FF2B5EF4-FFF2-40B4-BE49-F238E27FC236}">
                <a16:creationId xmlns:a16="http://schemas.microsoft.com/office/drawing/2014/main" id="{1B59D95E-D835-FF1E-84EB-07C1F81384D4}"/>
              </a:ext>
            </a:extLst>
          </p:cNvPr>
          <p:cNvGrpSpPr/>
          <p:nvPr/>
        </p:nvGrpSpPr>
        <p:grpSpPr>
          <a:xfrm>
            <a:off x="3143755" y="3893200"/>
            <a:ext cx="2189434" cy="113067"/>
            <a:chOff x="9883178" y="3095486"/>
            <a:chExt cx="2189434" cy="113067"/>
          </a:xfrm>
          <a:solidFill>
            <a:schemeClr val="accent4">
              <a:lumMod val="20000"/>
              <a:lumOff val="80000"/>
            </a:schemeClr>
          </a:solidFill>
        </p:grpSpPr>
        <p:sp>
          <p:nvSpPr>
            <p:cNvPr id="123" name="Rectangle 122">
              <a:extLst>
                <a:ext uri="{FF2B5EF4-FFF2-40B4-BE49-F238E27FC236}">
                  <a16:creationId xmlns:a16="http://schemas.microsoft.com/office/drawing/2014/main" id="{84C7846C-6264-8D2A-3504-885B305C0BCA}"/>
                </a:ext>
              </a:extLst>
            </p:cNvPr>
            <p:cNvSpPr/>
            <p:nvPr/>
          </p:nvSpPr>
          <p:spPr>
            <a:xfrm>
              <a:off x="9883178" y="3095486"/>
              <a:ext cx="497923" cy="113067"/>
            </a:xfrm>
            <a:prstGeom prst="rect">
              <a:avLst/>
            </a:prstGeom>
            <a:grp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24" name="Rectangle 123">
              <a:extLst>
                <a:ext uri="{FF2B5EF4-FFF2-40B4-BE49-F238E27FC236}">
                  <a16:creationId xmlns:a16="http://schemas.microsoft.com/office/drawing/2014/main" id="{63AE578E-AFCB-8B79-8317-9137CB04CBEF}"/>
                </a:ext>
              </a:extLst>
            </p:cNvPr>
            <p:cNvSpPr/>
            <p:nvPr/>
          </p:nvSpPr>
          <p:spPr>
            <a:xfrm>
              <a:off x="10447015" y="3095486"/>
              <a:ext cx="497923" cy="113067"/>
            </a:xfrm>
            <a:prstGeom prst="rect">
              <a:avLst/>
            </a:prstGeom>
            <a:grp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25" name="Rectangle 124">
              <a:extLst>
                <a:ext uri="{FF2B5EF4-FFF2-40B4-BE49-F238E27FC236}">
                  <a16:creationId xmlns:a16="http://schemas.microsoft.com/office/drawing/2014/main" id="{D6681774-6666-8CB2-B268-BB70C4072DEC}"/>
                </a:ext>
              </a:extLst>
            </p:cNvPr>
            <p:cNvSpPr/>
            <p:nvPr/>
          </p:nvSpPr>
          <p:spPr>
            <a:xfrm>
              <a:off x="11010852" y="3095486"/>
              <a:ext cx="497923" cy="113067"/>
            </a:xfrm>
            <a:prstGeom prst="rect">
              <a:avLst/>
            </a:prstGeom>
            <a:grp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26" name="Rectangle 125">
              <a:extLst>
                <a:ext uri="{FF2B5EF4-FFF2-40B4-BE49-F238E27FC236}">
                  <a16:creationId xmlns:a16="http://schemas.microsoft.com/office/drawing/2014/main" id="{B32A1DE2-2F3C-0D41-849E-83AE585C7E51}"/>
                </a:ext>
              </a:extLst>
            </p:cNvPr>
            <p:cNvSpPr/>
            <p:nvPr/>
          </p:nvSpPr>
          <p:spPr>
            <a:xfrm>
              <a:off x="11574689" y="3095486"/>
              <a:ext cx="497923" cy="113067"/>
            </a:xfrm>
            <a:prstGeom prst="rect">
              <a:avLst/>
            </a:prstGeom>
            <a:grp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grpSp>
        <p:nvGrpSpPr>
          <p:cNvPr id="127" name="Group 126">
            <a:extLst>
              <a:ext uri="{FF2B5EF4-FFF2-40B4-BE49-F238E27FC236}">
                <a16:creationId xmlns:a16="http://schemas.microsoft.com/office/drawing/2014/main" id="{9A285E9C-E48B-B7EE-1FC6-BDAF19EC149D}"/>
              </a:ext>
            </a:extLst>
          </p:cNvPr>
          <p:cNvGrpSpPr/>
          <p:nvPr/>
        </p:nvGrpSpPr>
        <p:grpSpPr>
          <a:xfrm>
            <a:off x="3143755" y="3610511"/>
            <a:ext cx="2189434" cy="230392"/>
            <a:chOff x="7950077" y="4524183"/>
            <a:chExt cx="2189434" cy="230392"/>
          </a:xfrm>
        </p:grpSpPr>
        <p:grpSp>
          <p:nvGrpSpPr>
            <p:cNvPr id="128" name="Group 127">
              <a:extLst>
                <a:ext uri="{FF2B5EF4-FFF2-40B4-BE49-F238E27FC236}">
                  <a16:creationId xmlns:a16="http://schemas.microsoft.com/office/drawing/2014/main" id="{A47F0A96-63FA-1141-18EC-78E16A79C7B0}"/>
                </a:ext>
              </a:extLst>
            </p:cNvPr>
            <p:cNvGrpSpPr/>
            <p:nvPr/>
          </p:nvGrpSpPr>
          <p:grpSpPr>
            <a:xfrm>
              <a:off x="7950077" y="4524183"/>
              <a:ext cx="1061760" cy="230392"/>
              <a:chOff x="6535453" y="2852959"/>
              <a:chExt cx="966592" cy="209741"/>
            </a:xfrm>
            <a:solidFill>
              <a:schemeClr val="accent2"/>
            </a:solidFill>
          </p:grpSpPr>
          <p:pic>
            <p:nvPicPr>
              <p:cNvPr id="134" name="Graphic 133">
                <a:extLst>
                  <a:ext uri="{FF2B5EF4-FFF2-40B4-BE49-F238E27FC236}">
                    <a16:creationId xmlns:a16="http://schemas.microsoft.com/office/drawing/2014/main" id="{422079F3-F208-1561-5F28-6F2210E746F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87737" y="2852959"/>
                <a:ext cx="209741" cy="209741"/>
              </a:xfrm>
              <a:prstGeom prst="rect">
                <a:avLst/>
              </a:prstGeom>
            </p:spPr>
          </p:pic>
          <p:pic>
            <p:nvPicPr>
              <p:cNvPr id="135" name="Graphic 134">
                <a:extLst>
                  <a:ext uri="{FF2B5EF4-FFF2-40B4-BE49-F238E27FC236}">
                    <a16:creationId xmlns:a16="http://schemas.microsoft.com/office/drawing/2014/main" id="{169B54A2-C1ED-0513-2A9E-AD7BF69902D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35453" y="2852959"/>
                <a:ext cx="209741" cy="209741"/>
              </a:xfrm>
              <a:prstGeom prst="rect">
                <a:avLst/>
              </a:prstGeom>
            </p:spPr>
          </p:pic>
          <p:pic>
            <p:nvPicPr>
              <p:cNvPr id="136" name="Graphic 135">
                <a:extLst>
                  <a:ext uri="{FF2B5EF4-FFF2-40B4-BE49-F238E27FC236}">
                    <a16:creationId xmlns:a16="http://schemas.microsoft.com/office/drawing/2014/main" id="{C1E85541-E4DC-4197-09BB-82EDC2541E5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92304" y="2852959"/>
                <a:ext cx="209741" cy="209741"/>
              </a:xfrm>
              <a:prstGeom prst="rect">
                <a:avLst/>
              </a:prstGeom>
            </p:spPr>
          </p:pic>
          <p:pic>
            <p:nvPicPr>
              <p:cNvPr id="137" name="Graphic 136">
                <a:extLst>
                  <a:ext uri="{FF2B5EF4-FFF2-40B4-BE49-F238E27FC236}">
                    <a16:creationId xmlns:a16="http://schemas.microsoft.com/office/drawing/2014/main" id="{73888FC8-015F-F724-2929-3F770104EE4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040021" y="2852959"/>
                <a:ext cx="209741" cy="209741"/>
              </a:xfrm>
              <a:prstGeom prst="rect">
                <a:avLst/>
              </a:prstGeom>
            </p:spPr>
          </p:pic>
        </p:grpSp>
        <p:grpSp>
          <p:nvGrpSpPr>
            <p:cNvPr id="129" name="Group 128">
              <a:extLst>
                <a:ext uri="{FF2B5EF4-FFF2-40B4-BE49-F238E27FC236}">
                  <a16:creationId xmlns:a16="http://schemas.microsoft.com/office/drawing/2014/main" id="{DD945630-5D84-36A0-2620-C03FF6C22E9C}"/>
                </a:ext>
              </a:extLst>
            </p:cNvPr>
            <p:cNvGrpSpPr/>
            <p:nvPr/>
          </p:nvGrpSpPr>
          <p:grpSpPr>
            <a:xfrm>
              <a:off x="9077751" y="4524183"/>
              <a:ext cx="1061760" cy="230392"/>
              <a:chOff x="6535453" y="2852959"/>
              <a:chExt cx="966592" cy="209741"/>
            </a:xfrm>
            <a:solidFill>
              <a:schemeClr val="accent2"/>
            </a:solidFill>
          </p:grpSpPr>
          <p:pic>
            <p:nvPicPr>
              <p:cNvPr id="130" name="Graphic 129">
                <a:extLst>
                  <a:ext uri="{FF2B5EF4-FFF2-40B4-BE49-F238E27FC236}">
                    <a16:creationId xmlns:a16="http://schemas.microsoft.com/office/drawing/2014/main" id="{5DD055C3-700F-E79E-F82F-52644E9C98E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87737" y="2852959"/>
                <a:ext cx="209741" cy="209741"/>
              </a:xfrm>
              <a:prstGeom prst="rect">
                <a:avLst/>
              </a:prstGeom>
            </p:spPr>
          </p:pic>
          <p:pic>
            <p:nvPicPr>
              <p:cNvPr id="131" name="Graphic 130">
                <a:extLst>
                  <a:ext uri="{FF2B5EF4-FFF2-40B4-BE49-F238E27FC236}">
                    <a16:creationId xmlns:a16="http://schemas.microsoft.com/office/drawing/2014/main" id="{5AD7BF21-2AC1-4830-9F2E-10BD8E2C3F8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35453" y="2852959"/>
                <a:ext cx="209741" cy="209741"/>
              </a:xfrm>
              <a:prstGeom prst="rect">
                <a:avLst/>
              </a:prstGeom>
            </p:spPr>
          </p:pic>
          <p:pic>
            <p:nvPicPr>
              <p:cNvPr id="132" name="Graphic 131">
                <a:extLst>
                  <a:ext uri="{FF2B5EF4-FFF2-40B4-BE49-F238E27FC236}">
                    <a16:creationId xmlns:a16="http://schemas.microsoft.com/office/drawing/2014/main" id="{0965CF15-1AE7-EF82-BAF1-65AA9AA8848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92304" y="2852959"/>
                <a:ext cx="209741" cy="209741"/>
              </a:xfrm>
              <a:prstGeom prst="rect">
                <a:avLst/>
              </a:prstGeom>
            </p:spPr>
          </p:pic>
          <p:pic>
            <p:nvPicPr>
              <p:cNvPr id="133" name="Graphic 132">
                <a:extLst>
                  <a:ext uri="{FF2B5EF4-FFF2-40B4-BE49-F238E27FC236}">
                    <a16:creationId xmlns:a16="http://schemas.microsoft.com/office/drawing/2014/main" id="{ADBA92E0-DD01-BA23-7D6F-930D52C9E95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040021" y="2852959"/>
                <a:ext cx="209741" cy="209741"/>
              </a:xfrm>
              <a:prstGeom prst="rect">
                <a:avLst/>
              </a:prstGeom>
            </p:spPr>
          </p:pic>
        </p:grpSp>
      </p:grpSp>
      <p:sp>
        <p:nvSpPr>
          <p:cNvPr id="138" name="TextBox 137">
            <a:extLst>
              <a:ext uri="{FF2B5EF4-FFF2-40B4-BE49-F238E27FC236}">
                <a16:creationId xmlns:a16="http://schemas.microsoft.com/office/drawing/2014/main" id="{4D54EBCE-26A4-1670-F299-58FA13AC6D98}"/>
              </a:ext>
            </a:extLst>
          </p:cNvPr>
          <p:cNvSpPr txBox="1"/>
          <p:nvPr/>
        </p:nvSpPr>
        <p:spPr>
          <a:xfrm>
            <a:off x="2240777" y="3616038"/>
            <a:ext cx="960192" cy="369332"/>
          </a:xfrm>
          <a:prstGeom prst="rect">
            <a:avLst/>
          </a:prstGeom>
        </p:spPr>
        <p:txBody>
          <a:bodyPr wrap="square" lIns="0" tIns="0" rIns="0" bIns="0" rtlCol="0">
            <a:spAutoFit/>
          </a:bodyPr>
          <a:lstStyle/>
          <a:p>
            <a:pPr algn="ctr">
              <a:spcAft>
                <a:spcPts val="600"/>
              </a:spcAft>
            </a:pPr>
            <a:r>
              <a:rPr lang="en-US" sz="1200">
                <a:solidFill>
                  <a:schemeClr val="tx2"/>
                </a:solidFill>
              </a:rPr>
              <a:t>Compute</a:t>
            </a:r>
            <a:br>
              <a:rPr lang="en-US" sz="1200">
                <a:solidFill>
                  <a:schemeClr val="tx2"/>
                </a:solidFill>
              </a:rPr>
            </a:br>
            <a:r>
              <a:rPr lang="en-US" sz="1200">
                <a:solidFill>
                  <a:schemeClr val="tx2"/>
                </a:solidFill>
              </a:rPr>
              <a:t>only</a:t>
            </a:r>
          </a:p>
        </p:txBody>
      </p:sp>
      <p:cxnSp>
        <p:nvCxnSpPr>
          <p:cNvPr id="139" name="Straight Connector 138">
            <a:extLst>
              <a:ext uri="{FF2B5EF4-FFF2-40B4-BE49-F238E27FC236}">
                <a16:creationId xmlns:a16="http://schemas.microsoft.com/office/drawing/2014/main" id="{9AEFCAC0-6690-3A29-1022-36CB5A23F794}"/>
              </a:ext>
            </a:extLst>
          </p:cNvPr>
          <p:cNvCxnSpPr>
            <a:cxnSpLocks/>
          </p:cNvCxnSpPr>
          <p:nvPr/>
        </p:nvCxnSpPr>
        <p:spPr bwMode="gray">
          <a:xfrm flipV="1">
            <a:off x="4238472" y="4322875"/>
            <a:ext cx="0" cy="239818"/>
          </a:xfrm>
          <a:prstGeom prst="line">
            <a:avLst/>
          </a:prstGeom>
          <a:ln w="25400">
            <a:solidFill>
              <a:schemeClr val="accent2"/>
            </a:solidFill>
            <a:prstDash val="sysDot"/>
            <a:miter lim="800000"/>
            <a:headEnd type="diamond" w="lg" len="lg"/>
          </a:ln>
        </p:spPr>
        <p:style>
          <a:lnRef idx="1">
            <a:schemeClr val="accent1"/>
          </a:lnRef>
          <a:fillRef idx="0">
            <a:schemeClr val="accent1"/>
          </a:fillRef>
          <a:effectRef idx="0">
            <a:schemeClr val="accent1"/>
          </a:effectRef>
          <a:fontRef idx="minor">
            <a:schemeClr val="tx1"/>
          </a:fontRef>
        </p:style>
      </p:cxnSp>
      <p:pic>
        <p:nvPicPr>
          <p:cNvPr id="140" name="Graphic 139">
            <a:extLst>
              <a:ext uri="{FF2B5EF4-FFF2-40B4-BE49-F238E27FC236}">
                <a16:creationId xmlns:a16="http://schemas.microsoft.com/office/drawing/2014/main" id="{3756F0AB-6807-6376-D2AE-1A337E17187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143267" y="4040552"/>
            <a:ext cx="190410" cy="223781"/>
          </a:xfrm>
          <a:prstGeom prst="rect">
            <a:avLst/>
          </a:prstGeom>
        </p:spPr>
      </p:pic>
      <p:sp>
        <p:nvSpPr>
          <p:cNvPr id="143" name="TextBox 142">
            <a:extLst>
              <a:ext uri="{FF2B5EF4-FFF2-40B4-BE49-F238E27FC236}">
                <a16:creationId xmlns:a16="http://schemas.microsoft.com/office/drawing/2014/main" id="{EC3CDAF3-BE77-3733-FF77-22AF95F9657F}"/>
              </a:ext>
            </a:extLst>
          </p:cNvPr>
          <p:cNvSpPr txBox="1"/>
          <p:nvPr/>
        </p:nvSpPr>
        <p:spPr>
          <a:xfrm>
            <a:off x="3374147" y="4399938"/>
            <a:ext cx="762679" cy="153888"/>
          </a:xfrm>
          <a:prstGeom prst="rect">
            <a:avLst/>
          </a:prstGeom>
        </p:spPr>
        <p:txBody>
          <a:bodyPr wrap="square" lIns="0" tIns="0" rIns="0" bIns="0" rtlCol="0">
            <a:spAutoFit/>
          </a:bodyPr>
          <a:lstStyle/>
          <a:p>
            <a:pPr algn="ctr">
              <a:spcAft>
                <a:spcPts val="600"/>
              </a:spcAft>
            </a:pPr>
            <a:r>
              <a:rPr lang="en-US" sz="1000">
                <a:solidFill>
                  <a:schemeClr val="accent2"/>
                </a:solidFill>
              </a:rPr>
              <a:t>Scale out</a:t>
            </a:r>
          </a:p>
        </p:txBody>
      </p:sp>
      <p:cxnSp>
        <p:nvCxnSpPr>
          <p:cNvPr id="144" name="Straight Connector 143">
            <a:extLst>
              <a:ext uri="{FF2B5EF4-FFF2-40B4-BE49-F238E27FC236}">
                <a16:creationId xmlns:a16="http://schemas.microsoft.com/office/drawing/2014/main" id="{15AA9732-B171-1942-D30D-43AA45657CC1}"/>
              </a:ext>
            </a:extLst>
          </p:cNvPr>
          <p:cNvCxnSpPr>
            <a:cxnSpLocks/>
          </p:cNvCxnSpPr>
          <p:nvPr/>
        </p:nvCxnSpPr>
        <p:spPr bwMode="gray">
          <a:xfrm flipH="1">
            <a:off x="3143755" y="4476882"/>
            <a:ext cx="230392" cy="0"/>
          </a:xfrm>
          <a:prstGeom prst="line">
            <a:avLst/>
          </a:prstGeom>
          <a:ln w="25400">
            <a:solidFill>
              <a:schemeClr val="accent2"/>
            </a:solidFill>
            <a:miter lim="800000"/>
            <a:tailEnd type="triangle" w="lg" len="med"/>
          </a:ln>
        </p:spPr>
        <p:style>
          <a:lnRef idx="1">
            <a:schemeClr val="accent1"/>
          </a:lnRef>
          <a:fillRef idx="0">
            <a:schemeClr val="accent1"/>
          </a:fillRef>
          <a:effectRef idx="0">
            <a:schemeClr val="accent1"/>
          </a:effectRef>
          <a:fontRef idx="minor">
            <a:schemeClr val="tx1"/>
          </a:fontRef>
        </p:style>
      </p:cxnSp>
      <p:sp>
        <p:nvSpPr>
          <p:cNvPr id="145" name="TextBox 144">
            <a:extLst>
              <a:ext uri="{FF2B5EF4-FFF2-40B4-BE49-F238E27FC236}">
                <a16:creationId xmlns:a16="http://schemas.microsoft.com/office/drawing/2014/main" id="{65DBA845-C917-787C-A233-C2DE8875DD60}"/>
              </a:ext>
            </a:extLst>
          </p:cNvPr>
          <p:cNvSpPr txBox="1"/>
          <p:nvPr/>
        </p:nvSpPr>
        <p:spPr>
          <a:xfrm>
            <a:off x="4351467" y="4399938"/>
            <a:ext cx="762679" cy="153888"/>
          </a:xfrm>
          <a:prstGeom prst="rect">
            <a:avLst/>
          </a:prstGeom>
        </p:spPr>
        <p:txBody>
          <a:bodyPr wrap="square" lIns="0" tIns="0" rIns="0" bIns="0" rtlCol="0">
            <a:spAutoFit/>
          </a:bodyPr>
          <a:lstStyle/>
          <a:p>
            <a:pPr algn="ctr">
              <a:spcAft>
                <a:spcPts val="600"/>
              </a:spcAft>
            </a:pPr>
            <a:r>
              <a:rPr lang="en-US" sz="1000">
                <a:solidFill>
                  <a:schemeClr val="accent2"/>
                </a:solidFill>
              </a:rPr>
              <a:t>Scale out</a:t>
            </a:r>
          </a:p>
        </p:txBody>
      </p:sp>
      <p:cxnSp>
        <p:nvCxnSpPr>
          <p:cNvPr id="146" name="Straight Connector 145">
            <a:extLst>
              <a:ext uri="{FF2B5EF4-FFF2-40B4-BE49-F238E27FC236}">
                <a16:creationId xmlns:a16="http://schemas.microsoft.com/office/drawing/2014/main" id="{6F566D90-1E0E-B06F-C6B2-66EA0DE1F65D}"/>
              </a:ext>
            </a:extLst>
          </p:cNvPr>
          <p:cNvCxnSpPr>
            <a:cxnSpLocks/>
          </p:cNvCxnSpPr>
          <p:nvPr/>
        </p:nvCxnSpPr>
        <p:spPr bwMode="gray">
          <a:xfrm>
            <a:off x="5105050" y="4476882"/>
            <a:ext cx="228139" cy="0"/>
          </a:xfrm>
          <a:prstGeom prst="line">
            <a:avLst/>
          </a:prstGeom>
          <a:ln w="25400">
            <a:solidFill>
              <a:schemeClr val="accent2"/>
            </a:solidFill>
            <a:miter lim="800000"/>
            <a:tailEnd type="triangle" w="lg" len="me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1007C079-A315-AAD8-C654-F44E7C2EB1A5}"/>
              </a:ext>
            </a:extLst>
          </p:cNvPr>
          <p:cNvSpPr txBox="1"/>
          <p:nvPr/>
        </p:nvSpPr>
        <p:spPr>
          <a:xfrm>
            <a:off x="5990201" y="3610511"/>
            <a:ext cx="4230121" cy="1738938"/>
          </a:xfrm>
          <a:prstGeom prst="rect">
            <a:avLst/>
          </a:prstGeom>
        </p:spPr>
        <p:txBody>
          <a:bodyPr wrap="square" lIns="0" tIns="0" rIns="0" bIns="0" rtlCol="0">
            <a:spAutoFit/>
          </a:bodyPr>
          <a:lstStyle/>
          <a:p>
            <a:pPr marL="171450" indent="-171450">
              <a:spcAft>
                <a:spcPts val="600"/>
              </a:spcAft>
              <a:buFont typeface="Arial" panose="020B0604020202020204" pitchFamily="34" charset="0"/>
              <a:buChar char="•"/>
            </a:pPr>
            <a:r>
              <a:rPr lang="en-US" sz="1400" b="1" dirty="0">
                <a:solidFill>
                  <a:schemeClr val="accent2"/>
                </a:solidFill>
              </a:rPr>
              <a:t>Independent lifecycle management </a:t>
            </a:r>
            <a:r>
              <a:rPr lang="en-US" sz="1400" dirty="0">
                <a:solidFill>
                  <a:schemeClr val="tx2"/>
                </a:solidFill>
              </a:rPr>
              <a:t>of storage and compute resources</a:t>
            </a:r>
          </a:p>
          <a:p>
            <a:pPr marL="171450" indent="-171450">
              <a:spcAft>
                <a:spcPts val="600"/>
              </a:spcAft>
              <a:buFont typeface="Arial" panose="020B0604020202020204" pitchFamily="34" charset="0"/>
              <a:buChar char="•"/>
            </a:pPr>
            <a:r>
              <a:rPr lang="en-US" sz="1400" b="1" dirty="0">
                <a:solidFill>
                  <a:schemeClr val="accent2"/>
                </a:solidFill>
              </a:rPr>
              <a:t>Asymmetrical scaling </a:t>
            </a:r>
            <a:r>
              <a:rPr lang="en-US" sz="1400" dirty="0">
                <a:solidFill>
                  <a:schemeClr val="tx2"/>
                </a:solidFill>
              </a:rPr>
              <a:t>of storage and compute resources</a:t>
            </a:r>
          </a:p>
          <a:p>
            <a:pPr marL="171450" indent="-171450">
              <a:spcAft>
                <a:spcPts val="600"/>
              </a:spcAft>
              <a:buFont typeface="Arial" panose="020B0604020202020204" pitchFamily="34" charset="0"/>
              <a:buChar char="•"/>
            </a:pPr>
            <a:r>
              <a:rPr lang="en-US" sz="1400" b="1" dirty="0">
                <a:solidFill>
                  <a:schemeClr val="accent2"/>
                </a:solidFill>
              </a:rPr>
              <a:t>Extreme capacity </a:t>
            </a:r>
            <a:r>
              <a:rPr lang="en-US" sz="1400" dirty="0">
                <a:solidFill>
                  <a:schemeClr val="tx2"/>
                </a:solidFill>
              </a:rPr>
              <a:t>can serve many clusters</a:t>
            </a:r>
          </a:p>
          <a:p>
            <a:pPr marL="171450" indent="-171450">
              <a:spcAft>
                <a:spcPts val="600"/>
              </a:spcAft>
              <a:buFont typeface="Arial" panose="020B0604020202020204" pitchFamily="34" charset="0"/>
              <a:buChar char="•"/>
            </a:pPr>
            <a:r>
              <a:rPr lang="en-US" sz="1400" dirty="0">
                <a:solidFill>
                  <a:schemeClr val="tx2"/>
                </a:solidFill>
              </a:rPr>
              <a:t>Decoupled vSphere clusters can be sized to </a:t>
            </a:r>
            <a:r>
              <a:rPr lang="en-US" sz="1400" b="1" dirty="0">
                <a:solidFill>
                  <a:schemeClr val="accent2"/>
                </a:solidFill>
              </a:rPr>
              <a:t>optimize application licensing</a:t>
            </a:r>
          </a:p>
        </p:txBody>
      </p:sp>
      <p:sp>
        <p:nvSpPr>
          <p:cNvPr id="27" name="TextBox 26">
            <a:extLst>
              <a:ext uri="{FF2B5EF4-FFF2-40B4-BE49-F238E27FC236}">
                <a16:creationId xmlns:a16="http://schemas.microsoft.com/office/drawing/2014/main" id="{12B6A25B-6B81-67F2-F29C-15F168BD67FF}"/>
              </a:ext>
            </a:extLst>
          </p:cNvPr>
          <p:cNvSpPr txBox="1"/>
          <p:nvPr/>
        </p:nvSpPr>
        <p:spPr>
          <a:xfrm>
            <a:off x="5990201" y="1734585"/>
            <a:ext cx="4230121" cy="1231106"/>
          </a:xfrm>
          <a:prstGeom prst="rect">
            <a:avLst/>
          </a:prstGeom>
        </p:spPr>
        <p:txBody>
          <a:bodyPr wrap="square" lIns="0" tIns="0" rIns="0" bIns="0" rtlCol="0">
            <a:spAutoFit/>
          </a:bodyPr>
          <a:lstStyle/>
          <a:p>
            <a:pPr marL="171450" indent="-171450">
              <a:spcAft>
                <a:spcPts val="600"/>
              </a:spcAft>
              <a:buFont typeface="Arial" panose="020B0604020202020204" pitchFamily="34" charset="0"/>
              <a:buChar char="•"/>
            </a:pPr>
            <a:r>
              <a:rPr lang="en-US" sz="1400" b="1" dirty="0">
                <a:solidFill>
                  <a:schemeClr val="accent2"/>
                </a:solidFill>
              </a:rPr>
              <a:t>Unified lifecycle management </a:t>
            </a:r>
            <a:r>
              <a:rPr lang="en-US" sz="1400" dirty="0">
                <a:solidFill>
                  <a:schemeClr val="tx2"/>
                </a:solidFill>
              </a:rPr>
              <a:t>of storage and compute resources</a:t>
            </a:r>
          </a:p>
          <a:p>
            <a:pPr marL="171450" indent="-171450">
              <a:spcAft>
                <a:spcPts val="600"/>
              </a:spcAft>
              <a:buFont typeface="Arial" panose="020B0604020202020204" pitchFamily="34" charset="0"/>
              <a:buChar char="•"/>
            </a:pPr>
            <a:r>
              <a:rPr lang="en-US" sz="1400" b="1" dirty="0">
                <a:solidFill>
                  <a:schemeClr val="accent2"/>
                </a:solidFill>
              </a:rPr>
              <a:t>Symmetrical scaling </a:t>
            </a:r>
            <a:r>
              <a:rPr lang="en-US" sz="1400" dirty="0">
                <a:solidFill>
                  <a:schemeClr val="tx2"/>
                </a:solidFill>
              </a:rPr>
              <a:t>of storage and compute resources</a:t>
            </a:r>
          </a:p>
          <a:p>
            <a:pPr marL="171450" indent="-171450">
              <a:spcAft>
                <a:spcPts val="600"/>
              </a:spcAft>
              <a:buFont typeface="Arial" panose="020B0604020202020204" pitchFamily="34" charset="0"/>
              <a:buChar char="•"/>
            </a:pPr>
            <a:r>
              <a:rPr lang="en-US" sz="1400" dirty="0">
                <a:solidFill>
                  <a:schemeClr val="tx2"/>
                </a:solidFill>
              </a:rPr>
              <a:t>Treats storage as a </a:t>
            </a:r>
            <a:r>
              <a:rPr lang="en-US" sz="1400" b="1" dirty="0">
                <a:solidFill>
                  <a:schemeClr val="accent2"/>
                </a:solidFill>
              </a:rPr>
              <a:t>resource of the cluster</a:t>
            </a:r>
          </a:p>
        </p:txBody>
      </p:sp>
      <p:sp>
        <p:nvSpPr>
          <p:cNvPr id="4" name="TextBox 3">
            <a:extLst>
              <a:ext uri="{FF2B5EF4-FFF2-40B4-BE49-F238E27FC236}">
                <a16:creationId xmlns:a16="http://schemas.microsoft.com/office/drawing/2014/main" id="{0476F895-615E-FA14-8E50-402305CB3A4D}"/>
              </a:ext>
            </a:extLst>
          </p:cNvPr>
          <p:cNvSpPr txBox="1"/>
          <p:nvPr/>
        </p:nvSpPr>
        <p:spPr>
          <a:xfrm>
            <a:off x="2401467" y="5758447"/>
            <a:ext cx="1932210" cy="184666"/>
          </a:xfrm>
          <a:prstGeom prst="rect">
            <a:avLst/>
          </a:prstGeom>
        </p:spPr>
        <p:txBody>
          <a:bodyPr wrap="square" lIns="0" tIns="0" rIns="0" bIns="0" rtlCol="0">
            <a:spAutoFit/>
          </a:bodyPr>
          <a:lstStyle/>
          <a:p>
            <a:pPr algn="ctr">
              <a:spcAft>
                <a:spcPts val="600"/>
              </a:spcAft>
            </a:pPr>
            <a:r>
              <a:rPr lang="en-US" sz="1200" dirty="0">
                <a:solidFill>
                  <a:schemeClr val="bg1"/>
                </a:solidFill>
              </a:rPr>
              <a:t>Powered by vSAN ESA</a:t>
            </a:r>
          </a:p>
        </p:txBody>
      </p:sp>
      <p:sp>
        <p:nvSpPr>
          <p:cNvPr id="30" name="TextBox 29">
            <a:extLst>
              <a:ext uri="{FF2B5EF4-FFF2-40B4-BE49-F238E27FC236}">
                <a16:creationId xmlns:a16="http://schemas.microsoft.com/office/drawing/2014/main" id="{60BA3501-B8E1-ED8A-0924-A1718AE47339}"/>
              </a:ext>
            </a:extLst>
          </p:cNvPr>
          <p:cNvSpPr txBox="1"/>
          <p:nvPr/>
        </p:nvSpPr>
        <p:spPr>
          <a:xfrm>
            <a:off x="2880967" y="5285988"/>
            <a:ext cx="2715010" cy="307777"/>
          </a:xfrm>
          <a:prstGeom prst="rect">
            <a:avLst/>
          </a:prstGeom>
        </p:spPr>
        <p:txBody>
          <a:bodyPr wrap="square" lIns="0" tIns="0" rIns="0" bIns="0" rtlCol="0">
            <a:spAutoFit/>
          </a:bodyPr>
          <a:lstStyle/>
          <a:p>
            <a:pPr algn="ctr">
              <a:spcAft>
                <a:spcPts val="600"/>
              </a:spcAft>
            </a:pPr>
            <a:r>
              <a:rPr lang="en-US" sz="2000" dirty="0">
                <a:solidFill>
                  <a:schemeClr val="accent2"/>
                </a:solidFill>
              </a:rPr>
              <a:t>vSAN Storage Cluster</a:t>
            </a:r>
          </a:p>
        </p:txBody>
      </p:sp>
      <p:sp>
        <p:nvSpPr>
          <p:cNvPr id="31" name="TextBox 30">
            <a:extLst>
              <a:ext uri="{FF2B5EF4-FFF2-40B4-BE49-F238E27FC236}">
                <a16:creationId xmlns:a16="http://schemas.microsoft.com/office/drawing/2014/main" id="{88422DCF-4FA8-67E0-BE0E-5BAB758FCF3E}"/>
              </a:ext>
            </a:extLst>
          </p:cNvPr>
          <p:cNvSpPr txBox="1"/>
          <p:nvPr/>
        </p:nvSpPr>
        <p:spPr>
          <a:xfrm>
            <a:off x="3404064" y="2821921"/>
            <a:ext cx="1668817" cy="307777"/>
          </a:xfrm>
          <a:prstGeom prst="rect">
            <a:avLst/>
          </a:prstGeom>
        </p:spPr>
        <p:txBody>
          <a:bodyPr wrap="square" lIns="0" tIns="0" rIns="0" bIns="0" rtlCol="0">
            <a:spAutoFit/>
          </a:bodyPr>
          <a:lstStyle/>
          <a:p>
            <a:pPr algn="ctr">
              <a:spcAft>
                <a:spcPts val="600"/>
              </a:spcAft>
            </a:pPr>
            <a:r>
              <a:rPr lang="en-US" sz="2000" dirty="0">
                <a:solidFill>
                  <a:schemeClr val="accent2"/>
                </a:solidFill>
              </a:rPr>
              <a:t>vSAN HCI</a:t>
            </a:r>
          </a:p>
        </p:txBody>
      </p:sp>
      <p:sp>
        <p:nvSpPr>
          <p:cNvPr id="33" name="TextBox 32">
            <a:extLst>
              <a:ext uri="{FF2B5EF4-FFF2-40B4-BE49-F238E27FC236}">
                <a16:creationId xmlns:a16="http://schemas.microsoft.com/office/drawing/2014/main" id="{F6FC05BF-2390-E2AC-575A-BE45D42BCD94}"/>
              </a:ext>
            </a:extLst>
          </p:cNvPr>
          <p:cNvSpPr txBox="1"/>
          <p:nvPr/>
        </p:nvSpPr>
        <p:spPr>
          <a:xfrm>
            <a:off x="4900305" y="5758447"/>
            <a:ext cx="2099131" cy="184666"/>
          </a:xfrm>
          <a:prstGeom prst="rect">
            <a:avLst/>
          </a:prstGeom>
        </p:spPr>
        <p:txBody>
          <a:bodyPr wrap="square" lIns="0" tIns="0" rIns="0" bIns="0" rtlCol="0">
            <a:spAutoFit/>
          </a:bodyPr>
          <a:lstStyle/>
          <a:p>
            <a:pPr algn="ctr">
              <a:spcAft>
                <a:spcPts val="600"/>
              </a:spcAft>
            </a:pPr>
            <a:r>
              <a:rPr lang="en-US" sz="1200" dirty="0">
                <a:solidFill>
                  <a:schemeClr val="bg1"/>
                </a:solidFill>
              </a:rPr>
              <a:t>Centralized Management</a:t>
            </a:r>
          </a:p>
        </p:txBody>
      </p:sp>
      <p:sp>
        <p:nvSpPr>
          <p:cNvPr id="34" name="TextBox 33">
            <a:extLst>
              <a:ext uri="{FF2B5EF4-FFF2-40B4-BE49-F238E27FC236}">
                <a16:creationId xmlns:a16="http://schemas.microsoft.com/office/drawing/2014/main" id="{039D7B68-00A2-5BF1-9FD9-85601B748EB6}"/>
              </a:ext>
            </a:extLst>
          </p:cNvPr>
          <p:cNvSpPr txBox="1"/>
          <p:nvPr/>
        </p:nvSpPr>
        <p:spPr>
          <a:xfrm>
            <a:off x="7602577" y="5758447"/>
            <a:ext cx="2679489" cy="184666"/>
          </a:xfrm>
          <a:prstGeom prst="rect">
            <a:avLst/>
          </a:prstGeom>
        </p:spPr>
        <p:txBody>
          <a:bodyPr wrap="square" lIns="0" tIns="0" rIns="0" bIns="0" rtlCol="0">
            <a:spAutoFit/>
          </a:bodyPr>
          <a:lstStyle/>
          <a:p>
            <a:pPr algn="ctr">
              <a:spcAft>
                <a:spcPts val="600"/>
              </a:spcAft>
            </a:pPr>
            <a:r>
              <a:rPr lang="en-US" sz="1200" dirty="0">
                <a:solidFill>
                  <a:schemeClr val="bg1"/>
                </a:solidFill>
              </a:rPr>
              <a:t>Storage integrated into hypervisor</a:t>
            </a:r>
          </a:p>
        </p:txBody>
      </p:sp>
      <p:grpSp>
        <p:nvGrpSpPr>
          <p:cNvPr id="76" name="Group 75">
            <a:extLst>
              <a:ext uri="{FF2B5EF4-FFF2-40B4-BE49-F238E27FC236}">
                <a16:creationId xmlns:a16="http://schemas.microsoft.com/office/drawing/2014/main" id="{155C00FC-E292-B5A7-46CC-CBD815D5D1E8}"/>
              </a:ext>
            </a:extLst>
          </p:cNvPr>
          <p:cNvGrpSpPr/>
          <p:nvPr/>
        </p:nvGrpSpPr>
        <p:grpSpPr>
          <a:xfrm>
            <a:off x="2223064" y="5758447"/>
            <a:ext cx="153890" cy="153888"/>
            <a:chOff x="3779761" y="2443085"/>
            <a:chExt cx="272588" cy="272587"/>
          </a:xfrm>
        </p:grpSpPr>
        <p:sp>
          <p:nvSpPr>
            <p:cNvPr id="77" name="Oval 76">
              <a:extLst>
                <a:ext uri="{FF2B5EF4-FFF2-40B4-BE49-F238E27FC236}">
                  <a16:creationId xmlns:a16="http://schemas.microsoft.com/office/drawing/2014/main" id="{80DC2DCB-9D57-A5E2-E956-F30DE1017BCA}"/>
                </a:ext>
              </a:extLst>
            </p:cNvPr>
            <p:cNvSpPr/>
            <p:nvPr/>
          </p:nvSpPr>
          <p:spPr>
            <a:xfrm>
              <a:off x="3779761" y="2443085"/>
              <a:ext cx="272588" cy="272587"/>
            </a:xfrm>
            <a:prstGeom prst="ellipse">
              <a:avLst/>
            </a:prstGeom>
            <a:solidFill>
              <a:schemeClr val="accent4"/>
            </a:solidFill>
            <a:ln w="2857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60323" algn="ctr">
                <a:spcAft>
                  <a:spcPts val="800"/>
                </a:spcAft>
              </a:pPr>
              <a:endParaRPr lang="en-US" sz="1000">
                <a:solidFill>
                  <a:prstClr val="white"/>
                </a:solidFill>
                <a:latin typeface="+mj-lt"/>
              </a:endParaRPr>
            </a:p>
          </p:txBody>
        </p:sp>
        <p:sp>
          <p:nvSpPr>
            <p:cNvPr id="78" name="L-Shape 77">
              <a:extLst>
                <a:ext uri="{FF2B5EF4-FFF2-40B4-BE49-F238E27FC236}">
                  <a16:creationId xmlns:a16="http://schemas.microsoft.com/office/drawing/2014/main" id="{7DB29F44-51E6-520B-87B5-520679EC1817}"/>
                </a:ext>
              </a:extLst>
            </p:cNvPr>
            <p:cNvSpPr/>
            <p:nvPr/>
          </p:nvSpPr>
          <p:spPr bwMode="gray">
            <a:xfrm rot="18900000">
              <a:off x="3832637" y="2523785"/>
              <a:ext cx="164461" cy="79795"/>
            </a:xfrm>
            <a:prstGeom prst="corner">
              <a:avLst>
                <a:gd name="adj1" fmla="val 43503"/>
                <a:gd name="adj2" fmla="val 4716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00">
                <a:solidFill>
                  <a:schemeClr val="bg1"/>
                </a:solidFill>
              </a:endParaRPr>
            </a:p>
          </p:txBody>
        </p:sp>
      </p:grpSp>
      <p:grpSp>
        <p:nvGrpSpPr>
          <p:cNvPr id="91" name="Group 90">
            <a:extLst>
              <a:ext uri="{FF2B5EF4-FFF2-40B4-BE49-F238E27FC236}">
                <a16:creationId xmlns:a16="http://schemas.microsoft.com/office/drawing/2014/main" id="{695FB443-D912-B476-D699-9BDC6542FDF2}"/>
              </a:ext>
            </a:extLst>
          </p:cNvPr>
          <p:cNvGrpSpPr/>
          <p:nvPr/>
        </p:nvGrpSpPr>
        <p:grpSpPr>
          <a:xfrm>
            <a:off x="4764321" y="5758447"/>
            <a:ext cx="153890" cy="153888"/>
            <a:chOff x="3779761" y="2443085"/>
            <a:chExt cx="272588" cy="272587"/>
          </a:xfrm>
        </p:grpSpPr>
        <p:sp>
          <p:nvSpPr>
            <p:cNvPr id="92" name="Oval 91">
              <a:extLst>
                <a:ext uri="{FF2B5EF4-FFF2-40B4-BE49-F238E27FC236}">
                  <a16:creationId xmlns:a16="http://schemas.microsoft.com/office/drawing/2014/main" id="{BD5B7667-8377-9735-95B4-2FB2C8E17975}"/>
                </a:ext>
              </a:extLst>
            </p:cNvPr>
            <p:cNvSpPr/>
            <p:nvPr/>
          </p:nvSpPr>
          <p:spPr>
            <a:xfrm>
              <a:off x="3779761" y="2443085"/>
              <a:ext cx="272588" cy="272587"/>
            </a:xfrm>
            <a:prstGeom prst="ellipse">
              <a:avLst/>
            </a:prstGeom>
            <a:solidFill>
              <a:schemeClr val="accent4"/>
            </a:solidFill>
            <a:ln w="2857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60323" algn="ctr">
                <a:spcAft>
                  <a:spcPts val="800"/>
                </a:spcAft>
              </a:pPr>
              <a:endParaRPr lang="en-US" sz="1000">
                <a:solidFill>
                  <a:prstClr val="white"/>
                </a:solidFill>
                <a:latin typeface="+mj-lt"/>
              </a:endParaRPr>
            </a:p>
          </p:txBody>
        </p:sp>
        <p:sp>
          <p:nvSpPr>
            <p:cNvPr id="93" name="L-Shape 92">
              <a:extLst>
                <a:ext uri="{FF2B5EF4-FFF2-40B4-BE49-F238E27FC236}">
                  <a16:creationId xmlns:a16="http://schemas.microsoft.com/office/drawing/2014/main" id="{0883DEED-9F60-FE5A-B1EF-F4248CD66E85}"/>
                </a:ext>
              </a:extLst>
            </p:cNvPr>
            <p:cNvSpPr/>
            <p:nvPr/>
          </p:nvSpPr>
          <p:spPr bwMode="gray">
            <a:xfrm rot="18900000">
              <a:off x="3832637" y="2523785"/>
              <a:ext cx="164461" cy="79795"/>
            </a:xfrm>
            <a:prstGeom prst="corner">
              <a:avLst>
                <a:gd name="adj1" fmla="val 43503"/>
                <a:gd name="adj2" fmla="val 4716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00">
                <a:solidFill>
                  <a:schemeClr val="bg1"/>
                </a:solidFill>
              </a:endParaRPr>
            </a:p>
          </p:txBody>
        </p:sp>
      </p:grpSp>
      <p:grpSp>
        <p:nvGrpSpPr>
          <p:cNvPr id="94" name="Group 93">
            <a:extLst>
              <a:ext uri="{FF2B5EF4-FFF2-40B4-BE49-F238E27FC236}">
                <a16:creationId xmlns:a16="http://schemas.microsoft.com/office/drawing/2014/main" id="{F4862450-DD68-7166-46F3-11D029EFF9D8}"/>
              </a:ext>
            </a:extLst>
          </p:cNvPr>
          <p:cNvGrpSpPr/>
          <p:nvPr/>
        </p:nvGrpSpPr>
        <p:grpSpPr>
          <a:xfrm>
            <a:off x="7421166" y="5758447"/>
            <a:ext cx="153890" cy="153888"/>
            <a:chOff x="3779761" y="2443085"/>
            <a:chExt cx="272588" cy="272587"/>
          </a:xfrm>
        </p:grpSpPr>
        <p:sp>
          <p:nvSpPr>
            <p:cNvPr id="141" name="Oval 140">
              <a:extLst>
                <a:ext uri="{FF2B5EF4-FFF2-40B4-BE49-F238E27FC236}">
                  <a16:creationId xmlns:a16="http://schemas.microsoft.com/office/drawing/2014/main" id="{E319942A-B3FF-59E1-AE86-ED75DE73943E}"/>
                </a:ext>
              </a:extLst>
            </p:cNvPr>
            <p:cNvSpPr/>
            <p:nvPr/>
          </p:nvSpPr>
          <p:spPr>
            <a:xfrm>
              <a:off x="3779761" y="2443085"/>
              <a:ext cx="272588" cy="272587"/>
            </a:xfrm>
            <a:prstGeom prst="ellipse">
              <a:avLst/>
            </a:prstGeom>
            <a:solidFill>
              <a:schemeClr val="accent4"/>
            </a:solidFill>
            <a:ln w="2857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60323" algn="ctr">
                <a:spcAft>
                  <a:spcPts val="800"/>
                </a:spcAft>
              </a:pPr>
              <a:endParaRPr lang="en-US" sz="1000">
                <a:solidFill>
                  <a:prstClr val="white"/>
                </a:solidFill>
                <a:latin typeface="+mj-lt"/>
              </a:endParaRPr>
            </a:p>
          </p:txBody>
        </p:sp>
        <p:sp>
          <p:nvSpPr>
            <p:cNvPr id="142" name="L-Shape 141">
              <a:extLst>
                <a:ext uri="{FF2B5EF4-FFF2-40B4-BE49-F238E27FC236}">
                  <a16:creationId xmlns:a16="http://schemas.microsoft.com/office/drawing/2014/main" id="{271E20DA-9EC6-B767-3501-F6F2997830E7}"/>
                </a:ext>
              </a:extLst>
            </p:cNvPr>
            <p:cNvSpPr/>
            <p:nvPr/>
          </p:nvSpPr>
          <p:spPr bwMode="gray">
            <a:xfrm rot="18900000">
              <a:off x="3832637" y="2523785"/>
              <a:ext cx="164461" cy="79795"/>
            </a:xfrm>
            <a:prstGeom prst="corner">
              <a:avLst>
                <a:gd name="adj1" fmla="val 43503"/>
                <a:gd name="adj2" fmla="val 4716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00">
                <a:solidFill>
                  <a:schemeClr val="bg1"/>
                </a:solidFill>
              </a:endParaRPr>
            </a:p>
          </p:txBody>
        </p:sp>
      </p:grpSp>
    </p:spTree>
    <p:extLst>
      <p:ext uri="{BB962C8B-B14F-4D97-AF65-F5344CB8AC3E}">
        <p14:creationId xmlns:p14="http://schemas.microsoft.com/office/powerpoint/2010/main" val="3004531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500"/>
                                        <p:tgtEl>
                                          <p:spTgt spid="2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par>
                          <p:cTn id="26" fill="hold">
                            <p:stCondLst>
                              <p:cond delay="2000"/>
                            </p:stCondLst>
                            <p:childTnLst>
                              <p:par>
                                <p:cTn id="27" presetID="10" presetClass="entr" presetSubtype="0" fill="hold" nodeType="afterEffect">
                                  <p:stCondLst>
                                    <p:cond delay="0"/>
                                  </p:stCondLst>
                                  <p:childTnLst>
                                    <p:set>
                                      <p:cBhvr>
                                        <p:cTn id="28" dur="1" fill="hold">
                                          <p:stCondLst>
                                            <p:cond delay="0"/>
                                          </p:stCondLst>
                                        </p:cTn>
                                        <p:tgtEl>
                                          <p:spTgt spid="98"/>
                                        </p:tgtEl>
                                        <p:attrNameLst>
                                          <p:attrName>style.visibility</p:attrName>
                                        </p:attrNameLst>
                                      </p:cBhvr>
                                      <p:to>
                                        <p:strVal val="visible"/>
                                      </p:to>
                                    </p:set>
                                    <p:animEffect transition="in" filter="fade">
                                      <p:cBhvr>
                                        <p:cTn id="29" dur="500"/>
                                        <p:tgtEl>
                                          <p:spTgt spid="98"/>
                                        </p:tgtEl>
                                      </p:cBhvr>
                                    </p:animEffect>
                                  </p:childTnLst>
                                </p:cTn>
                              </p:par>
                            </p:childTnLst>
                          </p:cTn>
                        </p:par>
                        <p:par>
                          <p:cTn id="30" fill="hold">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par>
                          <p:cTn id="38" fill="hold">
                            <p:stCondLst>
                              <p:cond delay="3500"/>
                            </p:stCondLst>
                            <p:childTnLst>
                              <p:par>
                                <p:cTn id="39" presetID="10" presetClass="entr" presetSubtype="0" fill="hold" grpId="0" nodeType="afterEffect">
                                  <p:stCondLst>
                                    <p:cond delay="100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00"/>
                                        <p:tgtEl>
                                          <p:spTgt spid="29"/>
                                        </p:tgtEl>
                                      </p:cBhvr>
                                    </p:animEffect>
                                  </p:childTnLst>
                                </p:cTn>
                              </p:par>
                            </p:childTnLst>
                          </p:cTn>
                        </p:par>
                        <p:par>
                          <p:cTn id="42" fill="hold">
                            <p:stCondLst>
                              <p:cond delay="5000"/>
                            </p:stCondLst>
                            <p:childTnLst>
                              <p:par>
                                <p:cTn id="43" presetID="10" presetClass="entr" presetSubtype="0" fill="hold" nodeType="afterEffect">
                                  <p:stCondLst>
                                    <p:cond delay="0"/>
                                  </p:stCondLst>
                                  <p:childTnLst>
                                    <p:set>
                                      <p:cBhvr>
                                        <p:cTn id="44" dur="1" fill="hold">
                                          <p:stCondLst>
                                            <p:cond delay="0"/>
                                          </p:stCondLst>
                                        </p:cTn>
                                        <p:tgtEl>
                                          <p:spTgt spid="117"/>
                                        </p:tgtEl>
                                        <p:attrNameLst>
                                          <p:attrName>style.visibility</p:attrName>
                                        </p:attrNameLst>
                                      </p:cBhvr>
                                      <p:to>
                                        <p:strVal val="visible"/>
                                      </p:to>
                                    </p:set>
                                    <p:animEffect transition="in" filter="fade">
                                      <p:cBhvr>
                                        <p:cTn id="45" dur="500"/>
                                        <p:tgtEl>
                                          <p:spTgt spid="117"/>
                                        </p:tgtEl>
                                      </p:cBhvr>
                                    </p:animEffect>
                                  </p:childTnLst>
                                </p:cTn>
                              </p:par>
                              <p:par>
                                <p:cTn id="46" presetID="10" presetClass="entr" presetSubtype="0" fill="hold" nodeType="withEffect">
                                  <p:stCondLst>
                                    <p:cond delay="500"/>
                                  </p:stCondLst>
                                  <p:childTnLst>
                                    <p:set>
                                      <p:cBhvr>
                                        <p:cTn id="47" dur="1" fill="hold">
                                          <p:stCondLst>
                                            <p:cond delay="0"/>
                                          </p:stCondLst>
                                        </p:cTn>
                                        <p:tgtEl>
                                          <p:spTgt spid="111"/>
                                        </p:tgtEl>
                                        <p:attrNameLst>
                                          <p:attrName>style.visibility</p:attrName>
                                        </p:attrNameLst>
                                      </p:cBhvr>
                                      <p:to>
                                        <p:strVal val="visible"/>
                                      </p:to>
                                    </p:set>
                                    <p:animEffect transition="in" filter="fade">
                                      <p:cBhvr>
                                        <p:cTn id="48" dur="500"/>
                                        <p:tgtEl>
                                          <p:spTgt spid="111"/>
                                        </p:tgtEl>
                                      </p:cBhvr>
                                    </p:animEffect>
                                  </p:childTnLst>
                                </p:cTn>
                              </p:par>
                            </p:childTnLst>
                          </p:cTn>
                        </p:par>
                        <p:par>
                          <p:cTn id="49" fill="hold">
                            <p:stCondLst>
                              <p:cond delay="6000"/>
                            </p:stCondLst>
                            <p:childTnLst>
                              <p:par>
                                <p:cTn id="50" presetID="10" presetClass="entr" presetSubtype="0" fill="hold" nodeType="afterEffect">
                                  <p:stCondLst>
                                    <p:cond delay="0"/>
                                  </p:stCondLst>
                                  <p:childTnLst>
                                    <p:set>
                                      <p:cBhvr>
                                        <p:cTn id="51" dur="1" fill="hold">
                                          <p:stCondLst>
                                            <p:cond delay="0"/>
                                          </p:stCondLst>
                                        </p:cTn>
                                        <p:tgtEl>
                                          <p:spTgt spid="110"/>
                                        </p:tgtEl>
                                        <p:attrNameLst>
                                          <p:attrName>style.visibility</p:attrName>
                                        </p:attrNameLst>
                                      </p:cBhvr>
                                      <p:to>
                                        <p:strVal val="visible"/>
                                      </p:to>
                                    </p:set>
                                    <p:animEffect transition="in" filter="fade">
                                      <p:cBhvr>
                                        <p:cTn id="52" dur="500"/>
                                        <p:tgtEl>
                                          <p:spTgt spid="110"/>
                                        </p:tgtEl>
                                      </p:cBhvr>
                                    </p:animEffect>
                                  </p:childTnLst>
                                </p:cTn>
                              </p:par>
                            </p:childTnLst>
                          </p:cTn>
                        </p:par>
                        <p:par>
                          <p:cTn id="53" fill="hold">
                            <p:stCondLst>
                              <p:cond delay="6500"/>
                            </p:stCondLst>
                            <p:childTnLst>
                              <p:par>
                                <p:cTn id="54" presetID="10" presetClass="entr" presetSubtype="0" fill="hold" grpId="0" nodeType="afterEffect">
                                  <p:stCondLst>
                                    <p:cond delay="0"/>
                                  </p:stCondLst>
                                  <p:childTnLst>
                                    <p:set>
                                      <p:cBhvr>
                                        <p:cTn id="55" dur="1" fill="hold">
                                          <p:stCondLst>
                                            <p:cond delay="0"/>
                                          </p:stCondLst>
                                        </p:cTn>
                                        <p:tgtEl>
                                          <p:spTgt spid="109"/>
                                        </p:tgtEl>
                                        <p:attrNameLst>
                                          <p:attrName>style.visibility</p:attrName>
                                        </p:attrNameLst>
                                      </p:cBhvr>
                                      <p:to>
                                        <p:strVal val="visible"/>
                                      </p:to>
                                    </p:set>
                                    <p:animEffect transition="in" filter="fade">
                                      <p:cBhvr>
                                        <p:cTn id="56" dur="500"/>
                                        <p:tgtEl>
                                          <p:spTgt spid="109"/>
                                        </p:tgtEl>
                                      </p:cBhvr>
                                    </p:animEffect>
                                  </p:childTnLst>
                                </p:cTn>
                              </p:par>
                            </p:childTnLst>
                          </p:cTn>
                        </p:par>
                        <p:par>
                          <p:cTn id="57" fill="hold">
                            <p:stCondLst>
                              <p:cond delay="7000"/>
                            </p:stCondLst>
                            <p:childTnLst>
                              <p:par>
                                <p:cTn id="58" presetID="10" presetClass="entr" presetSubtype="0" fill="hold" nodeType="afterEffect">
                                  <p:stCondLst>
                                    <p:cond delay="0"/>
                                  </p:stCondLst>
                                  <p:childTnLst>
                                    <p:set>
                                      <p:cBhvr>
                                        <p:cTn id="59" dur="1" fill="hold">
                                          <p:stCondLst>
                                            <p:cond delay="0"/>
                                          </p:stCondLst>
                                        </p:cTn>
                                        <p:tgtEl>
                                          <p:spTgt spid="122"/>
                                        </p:tgtEl>
                                        <p:attrNameLst>
                                          <p:attrName>style.visibility</p:attrName>
                                        </p:attrNameLst>
                                      </p:cBhvr>
                                      <p:to>
                                        <p:strVal val="visible"/>
                                      </p:to>
                                    </p:set>
                                    <p:animEffect transition="in" filter="fade">
                                      <p:cBhvr>
                                        <p:cTn id="60" dur="500"/>
                                        <p:tgtEl>
                                          <p:spTgt spid="122"/>
                                        </p:tgtEl>
                                      </p:cBhvr>
                                    </p:animEffect>
                                  </p:childTnLst>
                                </p:cTn>
                              </p:par>
                            </p:childTnLst>
                          </p:cTn>
                        </p:par>
                        <p:par>
                          <p:cTn id="61" fill="hold">
                            <p:stCondLst>
                              <p:cond delay="7500"/>
                            </p:stCondLst>
                            <p:childTnLst>
                              <p:par>
                                <p:cTn id="62" presetID="22" presetClass="entr" presetSubtype="4" fill="hold" nodeType="afterEffect">
                                  <p:stCondLst>
                                    <p:cond delay="0"/>
                                  </p:stCondLst>
                                  <p:childTnLst>
                                    <p:set>
                                      <p:cBhvr>
                                        <p:cTn id="63" dur="1" fill="hold">
                                          <p:stCondLst>
                                            <p:cond delay="0"/>
                                          </p:stCondLst>
                                        </p:cTn>
                                        <p:tgtEl>
                                          <p:spTgt spid="139"/>
                                        </p:tgtEl>
                                        <p:attrNameLst>
                                          <p:attrName>style.visibility</p:attrName>
                                        </p:attrNameLst>
                                      </p:cBhvr>
                                      <p:to>
                                        <p:strVal val="visible"/>
                                      </p:to>
                                    </p:set>
                                    <p:animEffect transition="in" filter="wipe(down)">
                                      <p:cBhvr>
                                        <p:cTn id="64" dur="500"/>
                                        <p:tgtEl>
                                          <p:spTgt spid="139"/>
                                        </p:tgtEl>
                                      </p:cBhvr>
                                    </p:animEffect>
                                  </p:childTnLst>
                                </p:cTn>
                              </p:par>
                            </p:childTnLst>
                          </p:cTn>
                        </p:par>
                        <p:par>
                          <p:cTn id="65" fill="hold">
                            <p:stCondLst>
                              <p:cond delay="8000"/>
                            </p:stCondLst>
                            <p:childTnLst>
                              <p:par>
                                <p:cTn id="66" presetID="10" presetClass="entr" presetSubtype="0" fill="hold" nodeType="afterEffect">
                                  <p:stCondLst>
                                    <p:cond delay="0"/>
                                  </p:stCondLst>
                                  <p:childTnLst>
                                    <p:set>
                                      <p:cBhvr>
                                        <p:cTn id="67" dur="1" fill="hold">
                                          <p:stCondLst>
                                            <p:cond delay="0"/>
                                          </p:stCondLst>
                                        </p:cTn>
                                        <p:tgtEl>
                                          <p:spTgt spid="140"/>
                                        </p:tgtEl>
                                        <p:attrNameLst>
                                          <p:attrName>style.visibility</p:attrName>
                                        </p:attrNameLst>
                                      </p:cBhvr>
                                      <p:to>
                                        <p:strVal val="visible"/>
                                      </p:to>
                                    </p:set>
                                    <p:animEffect transition="in" filter="fade">
                                      <p:cBhvr>
                                        <p:cTn id="68" dur="500"/>
                                        <p:tgtEl>
                                          <p:spTgt spid="140"/>
                                        </p:tgtEl>
                                      </p:cBhvr>
                                    </p:animEffect>
                                  </p:childTnLst>
                                </p:cTn>
                              </p:par>
                            </p:childTnLst>
                          </p:cTn>
                        </p:par>
                        <p:par>
                          <p:cTn id="69" fill="hold">
                            <p:stCondLst>
                              <p:cond delay="8500"/>
                            </p:stCondLst>
                            <p:childTnLst>
                              <p:par>
                                <p:cTn id="70" presetID="10" presetClass="entr" presetSubtype="0" fill="hold" grpId="0" nodeType="afterEffect">
                                  <p:stCondLst>
                                    <p:cond delay="0"/>
                                  </p:stCondLst>
                                  <p:childTnLst>
                                    <p:set>
                                      <p:cBhvr>
                                        <p:cTn id="71" dur="1" fill="hold">
                                          <p:stCondLst>
                                            <p:cond delay="0"/>
                                          </p:stCondLst>
                                        </p:cTn>
                                        <p:tgtEl>
                                          <p:spTgt spid="143"/>
                                        </p:tgtEl>
                                        <p:attrNameLst>
                                          <p:attrName>style.visibility</p:attrName>
                                        </p:attrNameLst>
                                      </p:cBhvr>
                                      <p:to>
                                        <p:strVal val="visible"/>
                                      </p:to>
                                    </p:set>
                                    <p:animEffect transition="in" filter="fade">
                                      <p:cBhvr>
                                        <p:cTn id="72" dur="500"/>
                                        <p:tgtEl>
                                          <p:spTgt spid="14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45"/>
                                        </p:tgtEl>
                                        <p:attrNameLst>
                                          <p:attrName>style.visibility</p:attrName>
                                        </p:attrNameLst>
                                      </p:cBhvr>
                                      <p:to>
                                        <p:strVal val="visible"/>
                                      </p:to>
                                    </p:set>
                                    <p:animEffect transition="in" filter="fade">
                                      <p:cBhvr>
                                        <p:cTn id="75" dur="500"/>
                                        <p:tgtEl>
                                          <p:spTgt spid="145"/>
                                        </p:tgtEl>
                                      </p:cBhvr>
                                    </p:animEffect>
                                  </p:childTnLst>
                                </p:cTn>
                              </p:par>
                            </p:childTnLst>
                          </p:cTn>
                        </p:par>
                        <p:par>
                          <p:cTn id="76" fill="hold">
                            <p:stCondLst>
                              <p:cond delay="9000"/>
                            </p:stCondLst>
                            <p:childTnLst>
                              <p:par>
                                <p:cTn id="77" presetID="10" presetClass="entr" presetSubtype="0" fill="hold" nodeType="afterEffect">
                                  <p:stCondLst>
                                    <p:cond delay="0"/>
                                  </p:stCondLst>
                                  <p:childTnLst>
                                    <p:set>
                                      <p:cBhvr>
                                        <p:cTn id="78" dur="1" fill="hold">
                                          <p:stCondLst>
                                            <p:cond delay="0"/>
                                          </p:stCondLst>
                                        </p:cTn>
                                        <p:tgtEl>
                                          <p:spTgt spid="127"/>
                                        </p:tgtEl>
                                        <p:attrNameLst>
                                          <p:attrName>style.visibility</p:attrName>
                                        </p:attrNameLst>
                                      </p:cBhvr>
                                      <p:to>
                                        <p:strVal val="visible"/>
                                      </p:to>
                                    </p:set>
                                    <p:animEffect transition="in" filter="fade">
                                      <p:cBhvr>
                                        <p:cTn id="79" dur="500"/>
                                        <p:tgtEl>
                                          <p:spTgt spid="12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38"/>
                                        </p:tgtEl>
                                        <p:attrNameLst>
                                          <p:attrName>style.visibility</p:attrName>
                                        </p:attrNameLst>
                                      </p:cBhvr>
                                      <p:to>
                                        <p:strVal val="visible"/>
                                      </p:to>
                                    </p:set>
                                    <p:animEffect transition="in" filter="fade">
                                      <p:cBhvr>
                                        <p:cTn id="82" dur="500"/>
                                        <p:tgtEl>
                                          <p:spTgt spid="138"/>
                                        </p:tgtEl>
                                      </p:cBhvr>
                                    </p:animEffect>
                                  </p:childTnLst>
                                </p:cTn>
                              </p:par>
                            </p:childTnLst>
                          </p:cTn>
                        </p:par>
                        <p:par>
                          <p:cTn id="83" fill="hold">
                            <p:stCondLst>
                              <p:cond delay="9500"/>
                            </p:stCondLst>
                            <p:childTnLst>
                              <p:par>
                                <p:cTn id="84" presetID="22" presetClass="entr" presetSubtype="8" fill="hold" nodeType="afterEffect">
                                  <p:stCondLst>
                                    <p:cond delay="0"/>
                                  </p:stCondLst>
                                  <p:childTnLst>
                                    <p:set>
                                      <p:cBhvr>
                                        <p:cTn id="85" dur="1" fill="hold">
                                          <p:stCondLst>
                                            <p:cond delay="0"/>
                                          </p:stCondLst>
                                        </p:cTn>
                                        <p:tgtEl>
                                          <p:spTgt spid="146"/>
                                        </p:tgtEl>
                                        <p:attrNameLst>
                                          <p:attrName>style.visibility</p:attrName>
                                        </p:attrNameLst>
                                      </p:cBhvr>
                                      <p:to>
                                        <p:strVal val="visible"/>
                                      </p:to>
                                    </p:set>
                                    <p:animEffect transition="in" filter="wipe(left)">
                                      <p:cBhvr>
                                        <p:cTn id="86" dur="250"/>
                                        <p:tgtEl>
                                          <p:spTgt spid="146"/>
                                        </p:tgtEl>
                                      </p:cBhvr>
                                    </p:animEffect>
                                  </p:childTnLst>
                                </p:cTn>
                              </p:par>
                              <p:par>
                                <p:cTn id="87" presetID="22" presetClass="entr" presetSubtype="2" fill="hold" nodeType="withEffect">
                                  <p:stCondLst>
                                    <p:cond delay="0"/>
                                  </p:stCondLst>
                                  <p:childTnLst>
                                    <p:set>
                                      <p:cBhvr>
                                        <p:cTn id="88" dur="1" fill="hold">
                                          <p:stCondLst>
                                            <p:cond delay="0"/>
                                          </p:stCondLst>
                                        </p:cTn>
                                        <p:tgtEl>
                                          <p:spTgt spid="144"/>
                                        </p:tgtEl>
                                        <p:attrNameLst>
                                          <p:attrName>style.visibility</p:attrName>
                                        </p:attrNameLst>
                                      </p:cBhvr>
                                      <p:to>
                                        <p:strVal val="visible"/>
                                      </p:to>
                                    </p:set>
                                    <p:animEffect transition="in" filter="wipe(right)">
                                      <p:cBhvr>
                                        <p:cTn id="89" dur="250"/>
                                        <p:tgtEl>
                                          <p:spTgt spid="144"/>
                                        </p:tgtEl>
                                      </p:cBhvr>
                                    </p:animEffect>
                                  </p:childTnLst>
                                </p:cTn>
                              </p:par>
                            </p:childTnLst>
                          </p:cTn>
                        </p:par>
                        <p:par>
                          <p:cTn id="90" fill="hold">
                            <p:stCondLst>
                              <p:cond delay="9750"/>
                            </p:stCondLst>
                            <p:childTnLst>
                              <p:par>
                                <p:cTn id="91" presetID="10" presetClass="entr" presetSubtype="0" fill="hold" grpId="0" nodeType="after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fade">
                                      <p:cBhvr>
                                        <p:cTn id="93" dur="500"/>
                                        <p:tgtEl>
                                          <p:spTgt spid="30"/>
                                        </p:tgtEl>
                                      </p:cBhvr>
                                    </p:animEffect>
                                  </p:childTnLst>
                                </p:cTn>
                              </p:par>
                            </p:childTnLst>
                          </p:cTn>
                        </p:par>
                        <p:par>
                          <p:cTn id="94" fill="hold">
                            <p:stCondLst>
                              <p:cond delay="10250"/>
                            </p:stCondLst>
                            <p:childTnLst>
                              <p:par>
                                <p:cTn id="95" presetID="10" presetClass="entr" presetSubtype="0" fill="hold" grpId="0" nodeType="afterEffect">
                                  <p:stCondLst>
                                    <p:cond delay="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500"/>
                                        <p:tgtEl>
                                          <p:spTgt spid="26"/>
                                        </p:tgtEl>
                                      </p:cBhvr>
                                    </p:animEffect>
                                  </p:childTnLst>
                                </p:cTn>
                              </p:par>
                            </p:childTnLst>
                          </p:cTn>
                        </p:par>
                        <p:par>
                          <p:cTn id="98" fill="hold">
                            <p:stCondLst>
                              <p:cond delay="10750"/>
                            </p:stCondLst>
                            <p:childTnLst>
                              <p:par>
                                <p:cTn id="99" presetID="10" presetClass="entr" presetSubtype="0" fill="hold" grpId="0" nodeType="afterEffect">
                                  <p:stCondLst>
                                    <p:cond delay="1000"/>
                                  </p:stCondLst>
                                  <p:childTnLst>
                                    <p:set>
                                      <p:cBhvr>
                                        <p:cTn id="100" dur="1" fill="hold">
                                          <p:stCondLst>
                                            <p:cond delay="0"/>
                                          </p:stCondLst>
                                        </p:cTn>
                                        <p:tgtEl>
                                          <p:spTgt spid="4"/>
                                        </p:tgtEl>
                                        <p:attrNameLst>
                                          <p:attrName>style.visibility</p:attrName>
                                        </p:attrNameLst>
                                      </p:cBhvr>
                                      <p:to>
                                        <p:strVal val="visible"/>
                                      </p:to>
                                    </p:set>
                                    <p:animEffect transition="in" filter="fade">
                                      <p:cBhvr>
                                        <p:cTn id="101" dur="500"/>
                                        <p:tgtEl>
                                          <p:spTgt spid="4"/>
                                        </p:tgtEl>
                                      </p:cBhvr>
                                    </p:animEffect>
                                  </p:childTnLst>
                                </p:cTn>
                              </p:par>
                              <p:par>
                                <p:cTn id="102" presetID="10" presetClass="entr" presetSubtype="0" fill="hold" nodeType="withEffect">
                                  <p:stCondLst>
                                    <p:cond delay="1000"/>
                                  </p:stCondLst>
                                  <p:childTnLst>
                                    <p:set>
                                      <p:cBhvr>
                                        <p:cTn id="103" dur="1" fill="hold">
                                          <p:stCondLst>
                                            <p:cond delay="0"/>
                                          </p:stCondLst>
                                        </p:cTn>
                                        <p:tgtEl>
                                          <p:spTgt spid="76"/>
                                        </p:tgtEl>
                                        <p:attrNameLst>
                                          <p:attrName>style.visibility</p:attrName>
                                        </p:attrNameLst>
                                      </p:cBhvr>
                                      <p:to>
                                        <p:strVal val="visible"/>
                                      </p:to>
                                    </p:set>
                                    <p:animEffect transition="in" filter="fade">
                                      <p:cBhvr>
                                        <p:cTn id="104" dur="500"/>
                                        <p:tgtEl>
                                          <p:spTgt spid="76"/>
                                        </p:tgtEl>
                                      </p:cBhvr>
                                    </p:animEffect>
                                  </p:childTnLst>
                                </p:cTn>
                              </p:par>
                            </p:childTnLst>
                          </p:cTn>
                        </p:par>
                        <p:par>
                          <p:cTn id="105" fill="hold">
                            <p:stCondLst>
                              <p:cond delay="12250"/>
                            </p:stCondLst>
                            <p:childTnLst>
                              <p:par>
                                <p:cTn id="106" presetID="10" presetClass="entr" presetSubtype="0" fill="hold" grpId="0" nodeType="afterEffect">
                                  <p:stCondLst>
                                    <p:cond delay="0"/>
                                  </p:stCondLst>
                                  <p:childTnLst>
                                    <p:set>
                                      <p:cBhvr>
                                        <p:cTn id="107" dur="1" fill="hold">
                                          <p:stCondLst>
                                            <p:cond delay="0"/>
                                          </p:stCondLst>
                                        </p:cTn>
                                        <p:tgtEl>
                                          <p:spTgt spid="33"/>
                                        </p:tgtEl>
                                        <p:attrNameLst>
                                          <p:attrName>style.visibility</p:attrName>
                                        </p:attrNameLst>
                                      </p:cBhvr>
                                      <p:to>
                                        <p:strVal val="visible"/>
                                      </p:to>
                                    </p:set>
                                    <p:animEffect transition="in" filter="fade">
                                      <p:cBhvr>
                                        <p:cTn id="108" dur="500"/>
                                        <p:tgtEl>
                                          <p:spTgt spid="33"/>
                                        </p:tgtEl>
                                      </p:cBhvr>
                                    </p:animEffect>
                                  </p:childTnLst>
                                </p:cTn>
                              </p:par>
                              <p:par>
                                <p:cTn id="109" presetID="10" presetClass="entr" presetSubtype="0" fill="hold" nodeType="withEffect">
                                  <p:stCondLst>
                                    <p:cond delay="0"/>
                                  </p:stCondLst>
                                  <p:childTnLst>
                                    <p:set>
                                      <p:cBhvr>
                                        <p:cTn id="110" dur="1" fill="hold">
                                          <p:stCondLst>
                                            <p:cond delay="0"/>
                                          </p:stCondLst>
                                        </p:cTn>
                                        <p:tgtEl>
                                          <p:spTgt spid="91"/>
                                        </p:tgtEl>
                                        <p:attrNameLst>
                                          <p:attrName>style.visibility</p:attrName>
                                        </p:attrNameLst>
                                      </p:cBhvr>
                                      <p:to>
                                        <p:strVal val="visible"/>
                                      </p:to>
                                    </p:set>
                                    <p:animEffect transition="in" filter="fade">
                                      <p:cBhvr>
                                        <p:cTn id="111" dur="500"/>
                                        <p:tgtEl>
                                          <p:spTgt spid="91"/>
                                        </p:tgtEl>
                                      </p:cBhvr>
                                    </p:animEffect>
                                  </p:childTnLst>
                                </p:cTn>
                              </p:par>
                            </p:childTnLst>
                          </p:cTn>
                        </p:par>
                        <p:par>
                          <p:cTn id="112" fill="hold">
                            <p:stCondLst>
                              <p:cond delay="12750"/>
                            </p:stCondLst>
                            <p:childTnLst>
                              <p:par>
                                <p:cTn id="113" presetID="10" presetClass="entr" presetSubtype="0" fill="hold" grpId="0" nodeType="afterEffect">
                                  <p:stCondLst>
                                    <p:cond delay="0"/>
                                  </p:stCondLst>
                                  <p:childTnLst>
                                    <p:set>
                                      <p:cBhvr>
                                        <p:cTn id="114" dur="1" fill="hold">
                                          <p:stCondLst>
                                            <p:cond delay="0"/>
                                          </p:stCondLst>
                                        </p:cTn>
                                        <p:tgtEl>
                                          <p:spTgt spid="34"/>
                                        </p:tgtEl>
                                        <p:attrNameLst>
                                          <p:attrName>style.visibility</p:attrName>
                                        </p:attrNameLst>
                                      </p:cBhvr>
                                      <p:to>
                                        <p:strVal val="visible"/>
                                      </p:to>
                                    </p:set>
                                    <p:animEffect transition="in" filter="fade">
                                      <p:cBhvr>
                                        <p:cTn id="115" dur="500"/>
                                        <p:tgtEl>
                                          <p:spTgt spid="34"/>
                                        </p:tgtEl>
                                      </p:cBhvr>
                                    </p:animEffect>
                                  </p:childTnLst>
                                </p:cTn>
                              </p:par>
                              <p:par>
                                <p:cTn id="116" presetID="10" presetClass="entr" presetSubtype="0" fill="hold" nodeType="withEffect">
                                  <p:stCondLst>
                                    <p:cond delay="0"/>
                                  </p:stCondLst>
                                  <p:childTnLst>
                                    <p:set>
                                      <p:cBhvr>
                                        <p:cTn id="117" dur="1" fill="hold">
                                          <p:stCondLst>
                                            <p:cond delay="0"/>
                                          </p:stCondLst>
                                        </p:cTn>
                                        <p:tgtEl>
                                          <p:spTgt spid="94"/>
                                        </p:tgtEl>
                                        <p:attrNameLst>
                                          <p:attrName>style.visibility</p:attrName>
                                        </p:attrNameLst>
                                      </p:cBhvr>
                                      <p:to>
                                        <p:strVal val="visible"/>
                                      </p:to>
                                    </p:set>
                                    <p:animEffect transition="in" filter="fade">
                                      <p:cBhvr>
                                        <p:cTn id="118"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28" grpId="0" animBg="1"/>
      <p:bldP spid="29" grpId="0" animBg="1"/>
      <p:bldP spid="5" grpId="0"/>
      <p:bldP spid="109" grpId="0"/>
      <p:bldP spid="138" grpId="0"/>
      <p:bldP spid="143" grpId="0"/>
      <p:bldP spid="145" grpId="0"/>
      <p:bldP spid="26" grpId="0"/>
      <p:bldP spid="27" grpId="0"/>
      <p:bldP spid="4" grpId="0"/>
      <p:bldP spid="30" grpId="0"/>
      <p:bldP spid="31" grpId="0"/>
      <p:bldP spid="33" grpId="0"/>
      <p:bldP spid="3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2A000-EF03-D115-7C8C-EFAA0603C8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8AF9D-D7CD-61FC-8424-E8D504509BDE}"/>
              </a:ext>
            </a:extLst>
          </p:cNvPr>
          <p:cNvSpPr>
            <a:spLocks noGrp="1"/>
          </p:cNvSpPr>
          <p:nvPr>
            <p:ph type="title"/>
          </p:nvPr>
        </p:nvSpPr>
        <p:spPr/>
        <p:txBody>
          <a:bodyPr/>
          <a:lstStyle/>
          <a:p>
            <a:r>
              <a:rPr lang="en-US"/>
              <a:t>A New Way to Process and Store Data Efficiently</a:t>
            </a:r>
          </a:p>
        </p:txBody>
      </p:sp>
      <p:sp>
        <p:nvSpPr>
          <p:cNvPr id="3" name="Subtitle 2">
            <a:extLst>
              <a:ext uri="{FF2B5EF4-FFF2-40B4-BE49-F238E27FC236}">
                <a16:creationId xmlns:a16="http://schemas.microsoft.com/office/drawing/2014/main" id="{06D373BC-4965-B17B-B298-A5A3F5A7F8AE}"/>
              </a:ext>
            </a:extLst>
          </p:cNvPr>
          <p:cNvSpPr>
            <a:spLocks noGrp="1"/>
          </p:cNvSpPr>
          <p:nvPr>
            <p:ph type="subTitle" idx="10"/>
          </p:nvPr>
        </p:nvSpPr>
        <p:spPr/>
        <p:txBody>
          <a:bodyPr/>
          <a:lstStyle/>
          <a:p>
            <a:r>
              <a:rPr lang="en-US" dirty="0"/>
              <a:t>vSAN Express Storage Architecture</a:t>
            </a:r>
          </a:p>
          <a:p>
            <a:endParaRPr lang="en-US" dirty="0"/>
          </a:p>
        </p:txBody>
      </p:sp>
      <p:sp>
        <p:nvSpPr>
          <p:cNvPr id="6" name="TextBox 5">
            <a:extLst>
              <a:ext uri="{FF2B5EF4-FFF2-40B4-BE49-F238E27FC236}">
                <a16:creationId xmlns:a16="http://schemas.microsoft.com/office/drawing/2014/main" id="{0AA15779-946E-A438-BA19-6EAF0FA18C1C}"/>
              </a:ext>
            </a:extLst>
          </p:cNvPr>
          <p:cNvSpPr txBox="1"/>
          <p:nvPr/>
        </p:nvSpPr>
        <p:spPr>
          <a:xfrm>
            <a:off x="5465465" y="2227406"/>
            <a:ext cx="1023212" cy="338554"/>
          </a:xfrm>
          <a:prstGeom prst="rect">
            <a:avLst/>
          </a:prstGeom>
        </p:spPr>
        <p:txBody>
          <a:bodyPr wrap="square" lIns="0" tIns="0" rIns="0" bIns="0" rtlCol="0">
            <a:spAutoFit/>
          </a:bodyPr>
          <a:lstStyle/>
          <a:p>
            <a:pPr algn="ctr">
              <a:spcAft>
                <a:spcPts val="600"/>
              </a:spcAft>
            </a:pPr>
            <a:r>
              <a:rPr lang="en-US" sz="1100">
                <a:solidFill>
                  <a:schemeClr val="accent4"/>
                </a:solidFill>
              </a:rPr>
              <a:t>Native scalable</a:t>
            </a:r>
            <a:br>
              <a:rPr lang="en-US" sz="1100">
                <a:solidFill>
                  <a:schemeClr val="accent4"/>
                </a:solidFill>
              </a:rPr>
            </a:br>
            <a:r>
              <a:rPr lang="en-US" sz="1100">
                <a:solidFill>
                  <a:schemeClr val="accent4"/>
                </a:solidFill>
              </a:rPr>
              <a:t>snapshots</a:t>
            </a:r>
          </a:p>
        </p:txBody>
      </p:sp>
      <p:grpSp>
        <p:nvGrpSpPr>
          <p:cNvPr id="7" name="Group 6">
            <a:extLst>
              <a:ext uri="{FF2B5EF4-FFF2-40B4-BE49-F238E27FC236}">
                <a16:creationId xmlns:a16="http://schemas.microsoft.com/office/drawing/2014/main" id="{21FB74F2-815A-F61E-002D-9BE08C5D66B9}"/>
              </a:ext>
            </a:extLst>
          </p:cNvPr>
          <p:cNvGrpSpPr/>
          <p:nvPr/>
        </p:nvGrpSpPr>
        <p:grpSpPr>
          <a:xfrm>
            <a:off x="3454883" y="3186942"/>
            <a:ext cx="5044376" cy="337184"/>
            <a:chOff x="1410325" y="3943123"/>
            <a:chExt cx="5044376" cy="337184"/>
          </a:xfrm>
        </p:grpSpPr>
        <p:sp>
          <p:nvSpPr>
            <p:cNvPr id="8" name="Freeform 16">
              <a:extLst>
                <a:ext uri="{FF2B5EF4-FFF2-40B4-BE49-F238E27FC236}">
                  <a16:creationId xmlns:a16="http://schemas.microsoft.com/office/drawing/2014/main" id="{AEFFEA52-83AF-6BBC-34E5-321125BE4BA2}"/>
                </a:ext>
              </a:extLst>
            </p:cNvPr>
            <p:cNvSpPr/>
            <p:nvPr/>
          </p:nvSpPr>
          <p:spPr>
            <a:xfrm>
              <a:off x="4505619" y="4096137"/>
              <a:ext cx="401436" cy="52386"/>
            </a:xfrm>
            <a:custGeom>
              <a:avLst/>
              <a:gdLst/>
              <a:ahLst/>
              <a:cxnLst/>
              <a:rect l="l" t="t" r="r" b="b"/>
              <a:pathLst>
                <a:path w="233809" h="30510">
                  <a:moveTo>
                    <a:pt x="203151" y="0"/>
                  </a:moveTo>
                  <a:lnTo>
                    <a:pt x="233809" y="0"/>
                  </a:lnTo>
                  <a:lnTo>
                    <a:pt x="233809" y="30510"/>
                  </a:lnTo>
                  <a:lnTo>
                    <a:pt x="203151" y="30510"/>
                  </a:lnTo>
                  <a:close/>
                  <a:moveTo>
                    <a:pt x="101650" y="0"/>
                  </a:moveTo>
                  <a:lnTo>
                    <a:pt x="132160" y="0"/>
                  </a:lnTo>
                  <a:lnTo>
                    <a:pt x="132160" y="30510"/>
                  </a:lnTo>
                  <a:lnTo>
                    <a:pt x="101650" y="30510"/>
                  </a:lnTo>
                  <a:close/>
                  <a:moveTo>
                    <a:pt x="0" y="0"/>
                  </a:moveTo>
                  <a:lnTo>
                    <a:pt x="30510" y="0"/>
                  </a:lnTo>
                  <a:lnTo>
                    <a:pt x="30510" y="30510"/>
                  </a:lnTo>
                  <a:lnTo>
                    <a:pt x="0" y="30510"/>
                  </a:lnTo>
                  <a:close/>
                </a:path>
              </a:pathLst>
            </a:custGeom>
            <a:solidFill>
              <a:schemeClr val="accent4">
                <a:lumMod val="75000"/>
              </a:schemeClr>
            </a:solidFill>
            <a:ln>
              <a:solidFill>
                <a:schemeClr val="accent4">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99"/>
            </a:p>
          </p:txBody>
        </p:sp>
        <p:grpSp>
          <p:nvGrpSpPr>
            <p:cNvPr id="9" name="Group 8">
              <a:extLst>
                <a:ext uri="{FF2B5EF4-FFF2-40B4-BE49-F238E27FC236}">
                  <a16:creationId xmlns:a16="http://schemas.microsoft.com/office/drawing/2014/main" id="{3A0312AB-A80B-9EED-14FA-BEC568E5ADD3}"/>
                </a:ext>
              </a:extLst>
            </p:cNvPr>
            <p:cNvGrpSpPr>
              <a:grpSpLocks noChangeAspect="1"/>
            </p:cNvGrpSpPr>
            <p:nvPr/>
          </p:nvGrpSpPr>
          <p:grpSpPr>
            <a:xfrm>
              <a:off x="5101389" y="3943123"/>
              <a:ext cx="1353312" cy="337184"/>
              <a:chOff x="5060950" y="5251450"/>
              <a:chExt cx="1236133" cy="332317"/>
            </a:xfrm>
          </p:grpSpPr>
          <p:sp>
            <p:nvSpPr>
              <p:cNvPr id="28" name="Line 5">
                <a:extLst>
                  <a:ext uri="{FF2B5EF4-FFF2-40B4-BE49-F238E27FC236}">
                    <a16:creationId xmlns:a16="http://schemas.microsoft.com/office/drawing/2014/main" id="{6096B1BF-1F83-EF7F-A49D-7600F33847DC}"/>
                  </a:ext>
                </a:extLst>
              </p:cNvPr>
              <p:cNvSpPr>
                <a:spLocks noChangeShapeType="1"/>
              </p:cNvSpPr>
              <p:nvPr/>
            </p:nvSpPr>
            <p:spPr bwMode="auto">
              <a:xfrm>
                <a:off x="6010427" y="5324175"/>
                <a:ext cx="0" cy="184223"/>
              </a:xfrm>
              <a:prstGeom prst="lin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29" name="Line 6">
                <a:extLst>
                  <a:ext uri="{FF2B5EF4-FFF2-40B4-BE49-F238E27FC236}">
                    <a16:creationId xmlns:a16="http://schemas.microsoft.com/office/drawing/2014/main" id="{E63B7DE3-8B90-0A76-29F3-831AF318C652}"/>
                  </a:ext>
                </a:extLst>
              </p:cNvPr>
              <p:cNvSpPr>
                <a:spLocks noChangeShapeType="1"/>
              </p:cNvSpPr>
              <p:nvPr/>
            </p:nvSpPr>
            <p:spPr bwMode="auto">
              <a:xfrm>
                <a:off x="6097120" y="5324175"/>
                <a:ext cx="0" cy="184223"/>
              </a:xfrm>
              <a:prstGeom prst="lin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30" name="Line 7">
                <a:extLst>
                  <a:ext uri="{FF2B5EF4-FFF2-40B4-BE49-F238E27FC236}">
                    <a16:creationId xmlns:a16="http://schemas.microsoft.com/office/drawing/2014/main" id="{02E16A34-467F-0520-C5D2-3A6A915D77CB}"/>
                  </a:ext>
                </a:extLst>
              </p:cNvPr>
              <p:cNvSpPr>
                <a:spLocks noChangeShapeType="1"/>
              </p:cNvSpPr>
              <p:nvPr/>
            </p:nvSpPr>
            <p:spPr bwMode="auto">
              <a:xfrm>
                <a:off x="6183813" y="5324175"/>
                <a:ext cx="0" cy="184223"/>
              </a:xfrm>
              <a:prstGeom prst="lin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31" name="Line 8">
                <a:extLst>
                  <a:ext uri="{FF2B5EF4-FFF2-40B4-BE49-F238E27FC236}">
                    <a16:creationId xmlns:a16="http://schemas.microsoft.com/office/drawing/2014/main" id="{47210811-A13F-757A-0394-35B427E0BAD7}"/>
                  </a:ext>
                </a:extLst>
              </p:cNvPr>
              <p:cNvSpPr>
                <a:spLocks noChangeShapeType="1"/>
              </p:cNvSpPr>
              <p:nvPr/>
            </p:nvSpPr>
            <p:spPr bwMode="auto">
              <a:xfrm>
                <a:off x="5170587" y="5324175"/>
                <a:ext cx="0" cy="184223"/>
              </a:xfrm>
              <a:prstGeom prst="lin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32" name="Line 9">
                <a:extLst>
                  <a:ext uri="{FF2B5EF4-FFF2-40B4-BE49-F238E27FC236}">
                    <a16:creationId xmlns:a16="http://schemas.microsoft.com/office/drawing/2014/main" id="{6C8918AE-B201-8619-A72F-78C92130273B}"/>
                  </a:ext>
                </a:extLst>
              </p:cNvPr>
              <p:cNvSpPr>
                <a:spLocks noChangeShapeType="1"/>
              </p:cNvSpPr>
              <p:nvPr/>
            </p:nvSpPr>
            <p:spPr bwMode="auto">
              <a:xfrm>
                <a:off x="5257280" y="5324175"/>
                <a:ext cx="0" cy="184223"/>
              </a:xfrm>
              <a:prstGeom prst="lin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33" name="Line 10">
                <a:extLst>
                  <a:ext uri="{FF2B5EF4-FFF2-40B4-BE49-F238E27FC236}">
                    <a16:creationId xmlns:a16="http://schemas.microsoft.com/office/drawing/2014/main" id="{8B32D176-A111-7BEA-0B0E-4F010F1AE3D6}"/>
                  </a:ext>
                </a:extLst>
              </p:cNvPr>
              <p:cNvSpPr>
                <a:spLocks noChangeShapeType="1"/>
              </p:cNvSpPr>
              <p:nvPr/>
            </p:nvSpPr>
            <p:spPr bwMode="auto">
              <a:xfrm>
                <a:off x="5346683" y="5324175"/>
                <a:ext cx="0" cy="184223"/>
              </a:xfrm>
              <a:prstGeom prst="lin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34" name="Oval 11">
                <a:extLst>
                  <a:ext uri="{FF2B5EF4-FFF2-40B4-BE49-F238E27FC236}">
                    <a16:creationId xmlns:a16="http://schemas.microsoft.com/office/drawing/2014/main" id="{6AFC7767-03EE-8BB3-F038-469B2C20CE93}"/>
                  </a:ext>
                </a:extLst>
              </p:cNvPr>
              <p:cNvSpPr>
                <a:spLocks noChangeArrowheads="1"/>
              </p:cNvSpPr>
              <p:nvPr/>
            </p:nvSpPr>
            <p:spPr bwMode="auto">
              <a:xfrm>
                <a:off x="5609471" y="5345848"/>
                <a:ext cx="135458" cy="140877"/>
              </a:xfrm>
              <a:prstGeom prst="ellips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35" name="Rectangle 34">
                <a:extLst>
                  <a:ext uri="{FF2B5EF4-FFF2-40B4-BE49-F238E27FC236}">
                    <a16:creationId xmlns:a16="http://schemas.microsoft.com/office/drawing/2014/main" id="{B3C9C817-A43B-5362-1C0D-D0E758B0D02E}"/>
                  </a:ext>
                </a:extLst>
              </p:cNvPr>
              <p:cNvSpPr/>
              <p:nvPr/>
            </p:nvSpPr>
            <p:spPr>
              <a:xfrm>
                <a:off x="5060950" y="5251450"/>
                <a:ext cx="1236133" cy="332317"/>
              </a:xfrm>
              <a:prstGeom prst="rect">
                <a:avLst/>
              </a:prstGeom>
              <a:noFill/>
              <a:ln w="25400">
                <a:solidFill>
                  <a:schemeClr val="accent4">
                    <a:lumMod val="75000"/>
                  </a:schemeClr>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white"/>
                  </a:solidFill>
                  <a:effectLst/>
                  <a:uLnTx/>
                  <a:uFillTx/>
                  <a:latin typeface="Metropolis"/>
                  <a:ea typeface="+mn-ea"/>
                  <a:cs typeface="+mn-cs"/>
                </a:endParaRPr>
              </a:p>
            </p:txBody>
          </p:sp>
        </p:grpSp>
        <p:grpSp>
          <p:nvGrpSpPr>
            <p:cNvPr id="10" name="Group 9">
              <a:extLst>
                <a:ext uri="{FF2B5EF4-FFF2-40B4-BE49-F238E27FC236}">
                  <a16:creationId xmlns:a16="http://schemas.microsoft.com/office/drawing/2014/main" id="{0F040FC8-EC01-CA8F-542B-B3759187D918}"/>
                </a:ext>
              </a:extLst>
            </p:cNvPr>
            <p:cNvGrpSpPr>
              <a:grpSpLocks noChangeAspect="1"/>
            </p:cNvGrpSpPr>
            <p:nvPr/>
          </p:nvGrpSpPr>
          <p:grpSpPr>
            <a:xfrm>
              <a:off x="1410325" y="3943123"/>
              <a:ext cx="1353312" cy="337184"/>
              <a:chOff x="5060950" y="5251450"/>
              <a:chExt cx="1236133" cy="332317"/>
            </a:xfrm>
          </p:grpSpPr>
          <p:sp>
            <p:nvSpPr>
              <p:cNvPr id="20" name="Line 5">
                <a:extLst>
                  <a:ext uri="{FF2B5EF4-FFF2-40B4-BE49-F238E27FC236}">
                    <a16:creationId xmlns:a16="http://schemas.microsoft.com/office/drawing/2014/main" id="{75A297A4-1B08-480F-D97C-B161AECACBA0}"/>
                  </a:ext>
                </a:extLst>
              </p:cNvPr>
              <p:cNvSpPr>
                <a:spLocks noChangeShapeType="1"/>
              </p:cNvSpPr>
              <p:nvPr/>
            </p:nvSpPr>
            <p:spPr bwMode="auto">
              <a:xfrm>
                <a:off x="6010427" y="5324175"/>
                <a:ext cx="0" cy="184223"/>
              </a:xfrm>
              <a:prstGeom prst="lin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21" name="Line 6">
                <a:extLst>
                  <a:ext uri="{FF2B5EF4-FFF2-40B4-BE49-F238E27FC236}">
                    <a16:creationId xmlns:a16="http://schemas.microsoft.com/office/drawing/2014/main" id="{0E609B33-71F6-6390-1465-AE4AD851B283}"/>
                  </a:ext>
                </a:extLst>
              </p:cNvPr>
              <p:cNvSpPr>
                <a:spLocks noChangeShapeType="1"/>
              </p:cNvSpPr>
              <p:nvPr/>
            </p:nvSpPr>
            <p:spPr bwMode="auto">
              <a:xfrm>
                <a:off x="6097120" y="5324175"/>
                <a:ext cx="0" cy="184223"/>
              </a:xfrm>
              <a:prstGeom prst="lin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22" name="Line 7">
                <a:extLst>
                  <a:ext uri="{FF2B5EF4-FFF2-40B4-BE49-F238E27FC236}">
                    <a16:creationId xmlns:a16="http://schemas.microsoft.com/office/drawing/2014/main" id="{2A9996AC-4E5A-81EB-B196-A382BAA6F339}"/>
                  </a:ext>
                </a:extLst>
              </p:cNvPr>
              <p:cNvSpPr>
                <a:spLocks noChangeShapeType="1"/>
              </p:cNvSpPr>
              <p:nvPr/>
            </p:nvSpPr>
            <p:spPr bwMode="auto">
              <a:xfrm>
                <a:off x="6183813" y="5324175"/>
                <a:ext cx="0" cy="184223"/>
              </a:xfrm>
              <a:prstGeom prst="lin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23" name="Line 8">
                <a:extLst>
                  <a:ext uri="{FF2B5EF4-FFF2-40B4-BE49-F238E27FC236}">
                    <a16:creationId xmlns:a16="http://schemas.microsoft.com/office/drawing/2014/main" id="{C842C94F-DC22-9233-18FD-4DCAF315EA94}"/>
                  </a:ext>
                </a:extLst>
              </p:cNvPr>
              <p:cNvSpPr>
                <a:spLocks noChangeShapeType="1"/>
              </p:cNvSpPr>
              <p:nvPr/>
            </p:nvSpPr>
            <p:spPr bwMode="auto">
              <a:xfrm>
                <a:off x="5170587" y="5324175"/>
                <a:ext cx="0" cy="184223"/>
              </a:xfrm>
              <a:prstGeom prst="lin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24" name="Line 9">
                <a:extLst>
                  <a:ext uri="{FF2B5EF4-FFF2-40B4-BE49-F238E27FC236}">
                    <a16:creationId xmlns:a16="http://schemas.microsoft.com/office/drawing/2014/main" id="{6A3FC53F-AE91-7E7E-8FA5-D02261C7CC8A}"/>
                  </a:ext>
                </a:extLst>
              </p:cNvPr>
              <p:cNvSpPr>
                <a:spLocks noChangeShapeType="1"/>
              </p:cNvSpPr>
              <p:nvPr/>
            </p:nvSpPr>
            <p:spPr bwMode="auto">
              <a:xfrm>
                <a:off x="5257280" y="5324175"/>
                <a:ext cx="0" cy="184223"/>
              </a:xfrm>
              <a:prstGeom prst="lin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25" name="Line 10">
                <a:extLst>
                  <a:ext uri="{FF2B5EF4-FFF2-40B4-BE49-F238E27FC236}">
                    <a16:creationId xmlns:a16="http://schemas.microsoft.com/office/drawing/2014/main" id="{A6720142-3C24-3A60-915E-017ED43D23C8}"/>
                  </a:ext>
                </a:extLst>
              </p:cNvPr>
              <p:cNvSpPr>
                <a:spLocks noChangeShapeType="1"/>
              </p:cNvSpPr>
              <p:nvPr/>
            </p:nvSpPr>
            <p:spPr bwMode="auto">
              <a:xfrm>
                <a:off x="5346683" y="5324175"/>
                <a:ext cx="0" cy="184223"/>
              </a:xfrm>
              <a:prstGeom prst="lin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26" name="Oval 11">
                <a:extLst>
                  <a:ext uri="{FF2B5EF4-FFF2-40B4-BE49-F238E27FC236}">
                    <a16:creationId xmlns:a16="http://schemas.microsoft.com/office/drawing/2014/main" id="{7E921920-9771-7E8B-F1AE-C398D22EA10F}"/>
                  </a:ext>
                </a:extLst>
              </p:cNvPr>
              <p:cNvSpPr>
                <a:spLocks noChangeArrowheads="1"/>
              </p:cNvSpPr>
              <p:nvPr/>
            </p:nvSpPr>
            <p:spPr bwMode="auto">
              <a:xfrm>
                <a:off x="5609471" y="5345848"/>
                <a:ext cx="135458" cy="140877"/>
              </a:xfrm>
              <a:prstGeom prst="ellips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27" name="Rectangle 26">
                <a:extLst>
                  <a:ext uri="{FF2B5EF4-FFF2-40B4-BE49-F238E27FC236}">
                    <a16:creationId xmlns:a16="http://schemas.microsoft.com/office/drawing/2014/main" id="{DFE54791-D7D6-FFDA-EACC-8E3E5E34E65D}"/>
                  </a:ext>
                </a:extLst>
              </p:cNvPr>
              <p:cNvSpPr/>
              <p:nvPr/>
            </p:nvSpPr>
            <p:spPr>
              <a:xfrm>
                <a:off x="5060950" y="5251450"/>
                <a:ext cx="1236133" cy="332317"/>
              </a:xfrm>
              <a:prstGeom prst="rect">
                <a:avLst/>
              </a:prstGeom>
              <a:noFill/>
              <a:ln w="25400">
                <a:solidFill>
                  <a:schemeClr val="accent4">
                    <a:lumMod val="75000"/>
                  </a:schemeClr>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white"/>
                  </a:solidFill>
                  <a:effectLst/>
                  <a:uLnTx/>
                  <a:uFillTx/>
                  <a:latin typeface="Metropolis"/>
                  <a:ea typeface="+mn-ea"/>
                  <a:cs typeface="+mn-cs"/>
                </a:endParaRPr>
              </a:p>
            </p:txBody>
          </p:sp>
        </p:grpSp>
        <p:grpSp>
          <p:nvGrpSpPr>
            <p:cNvPr id="11" name="Group 10">
              <a:extLst>
                <a:ext uri="{FF2B5EF4-FFF2-40B4-BE49-F238E27FC236}">
                  <a16:creationId xmlns:a16="http://schemas.microsoft.com/office/drawing/2014/main" id="{4FB74741-22DF-3A8D-91D7-F493A1DFF998}"/>
                </a:ext>
              </a:extLst>
            </p:cNvPr>
            <p:cNvGrpSpPr>
              <a:grpSpLocks noChangeAspect="1"/>
            </p:cNvGrpSpPr>
            <p:nvPr/>
          </p:nvGrpSpPr>
          <p:grpSpPr>
            <a:xfrm>
              <a:off x="2957972" y="3943123"/>
              <a:ext cx="1353312" cy="337184"/>
              <a:chOff x="5060950" y="5251450"/>
              <a:chExt cx="1236133" cy="332317"/>
            </a:xfrm>
          </p:grpSpPr>
          <p:sp>
            <p:nvSpPr>
              <p:cNvPr id="12" name="Line 5">
                <a:extLst>
                  <a:ext uri="{FF2B5EF4-FFF2-40B4-BE49-F238E27FC236}">
                    <a16:creationId xmlns:a16="http://schemas.microsoft.com/office/drawing/2014/main" id="{DB8DCC92-43A5-5442-93D7-E924A3B90BC0}"/>
                  </a:ext>
                </a:extLst>
              </p:cNvPr>
              <p:cNvSpPr>
                <a:spLocks noChangeShapeType="1"/>
              </p:cNvSpPr>
              <p:nvPr/>
            </p:nvSpPr>
            <p:spPr bwMode="auto">
              <a:xfrm>
                <a:off x="6010427" y="5324175"/>
                <a:ext cx="0" cy="184223"/>
              </a:xfrm>
              <a:prstGeom prst="lin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13" name="Line 6">
                <a:extLst>
                  <a:ext uri="{FF2B5EF4-FFF2-40B4-BE49-F238E27FC236}">
                    <a16:creationId xmlns:a16="http://schemas.microsoft.com/office/drawing/2014/main" id="{97CFC030-3166-23A9-94D4-363BD78DB311}"/>
                  </a:ext>
                </a:extLst>
              </p:cNvPr>
              <p:cNvSpPr>
                <a:spLocks noChangeShapeType="1"/>
              </p:cNvSpPr>
              <p:nvPr/>
            </p:nvSpPr>
            <p:spPr bwMode="auto">
              <a:xfrm>
                <a:off x="6097120" y="5324175"/>
                <a:ext cx="0" cy="184223"/>
              </a:xfrm>
              <a:prstGeom prst="lin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14" name="Line 7">
                <a:extLst>
                  <a:ext uri="{FF2B5EF4-FFF2-40B4-BE49-F238E27FC236}">
                    <a16:creationId xmlns:a16="http://schemas.microsoft.com/office/drawing/2014/main" id="{DB432054-72BA-FB39-D85A-4EA8C5443DCA}"/>
                  </a:ext>
                </a:extLst>
              </p:cNvPr>
              <p:cNvSpPr>
                <a:spLocks noChangeShapeType="1"/>
              </p:cNvSpPr>
              <p:nvPr/>
            </p:nvSpPr>
            <p:spPr bwMode="auto">
              <a:xfrm>
                <a:off x="6183813" y="5324175"/>
                <a:ext cx="0" cy="184223"/>
              </a:xfrm>
              <a:prstGeom prst="lin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15" name="Line 8">
                <a:extLst>
                  <a:ext uri="{FF2B5EF4-FFF2-40B4-BE49-F238E27FC236}">
                    <a16:creationId xmlns:a16="http://schemas.microsoft.com/office/drawing/2014/main" id="{75271B50-DF97-D39C-3ED8-D259C6406103}"/>
                  </a:ext>
                </a:extLst>
              </p:cNvPr>
              <p:cNvSpPr>
                <a:spLocks noChangeShapeType="1"/>
              </p:cNvSpPr>
              <p:nvPr/>
            </p:nvSpPr>
            <p:spPr bwMode="auto">
              <a:xfrm>
                <a:off x="5170587" y="5324175"/>
                <a:ext cx="0" cy="184223"/>
              </a:xfrm>
              <a:prstGeom prst="lin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16" name="Line 9">
                <a:extLst>
                  <a:ext uri="{FF2B5EF4-FFF2-40B4-BE49-F238E27FC236}">
                    <a16:creationId xmlns:a16="http://schemas.microsoft.com/office/drawing/2014/main" id="{6D3CE2EE-44D4-B4F2-389B-50D8A5980BFA}"/>
                  </a:ext>
                </a:extLst>
              </p:cNvPr>
              <p:cNvSpPr>
                <a:spLocks noChangeShapeType="1"/>
              </p:cNvSpPr>
              <p:nvPr/>
            </p:nvSpPr>
            <p:spPr bwMode="auto">
              <a:xfrm>
                <a:off x="5257280" y="5324175"/>
                <a:ext cx="0" cy="184223"/>
              </a:xfrm>
              <a:prstGeom prst="lin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17" name="Line 10">
                <a:extLst>
                  <a:ext uri="{FF2B5EF4-FFF2-40B4-BE49-F238E27FC236}">
                    <a16:creationId xmlns:a16="http://schemas.microsoft.com/office/drawing/2014/main" id="{60F43977-C5EF-3922-883B-B42646902A7D}"/>
                  </a:ext>
                </a:extLst>
              </p:cNvPr>
              <p:cNvSpPr>
                <a:spLocks noChangeShapeType="1"/>
              </p:cNvSpPr>
              <p:nvPr/>
            </p:nvSpPr>
            <p:spPr bwMode="auto">
              <a:xfrm>
                <a:off x="5346683" y="5324175"/>
                <a:ext cx="0" cy="184223"/>
              </a:xfrm>
              <a:prstGeom prst="lin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18" name="Oval 11">
                <a:extLst>
                  <a:ext uri="{FF2B5EF4-FFF2-40B4-BE49-F238E27FC236}">
                    <a16:creationId xmlns:a16="http://schemas.microsoft.com/office/drawing/2014/main" id="{2A06E16F-8A7C-FC84-A1E7-64ED3BA19ED7}"/>
                  </a:ext>
                </a:extLst>
              </p:cNvPr>
              <p:cNvSpPr>
                <a:spLocks noChangeArrowheads="1"/>
              </p:cNvSpPr>
              <p:nvPr/>
            </p:nvSpPr>
            <p:spPr bwMode="auto">
              <a:xfrm>
                <a:off x="5609471" y="5345848"/>
                <a:ext cx="135458" cy="140877"/>
              </a:xfrm>
              <a:prstGeom prst="ellipse">
                <a:avLst/>
              </a:prstGeom>
              <a:noFill/>
              <a:ln w="25400" cap="flat">
                <a:solidFill>
                  <a:schemeClr val="accent4">
                    <a:lumMod val="7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17074"/>
                  </a:solidFill>
                  <a:effectLst/>
                  <a:uLnTx/>
                  <a:uFillTx/>
                  <a:latin typeface="Metropolis"/>
                  <a:ea typeface="+mn-ea"/>
                  <a:cs typeface="+mn-cs"/>
                </a:endParaRPr>
              </a:p>
            </p:txBody>
          </p:sp>
          <p:sp>
            <p:nvSpPr>
              <p:cNvPr id="19" name="Rectangle 18">
                <a:extLst>
                  <a:ext uri="{FF2B5EF4-FFF2-40B4-BE49-F238E27FC236}">
                    <a16:creationId xmlns:a16="http://schemas.microsoft.com/office/drawing/2014/main" id="{343A67B5-2E39-285C-A132-F613D636B494}"/>
                  </a:ext>
                </a:extLst>
              </p:cNvPr>
              <p:cNvSpPr/>
              <p:nvPr/>
            </p:nvSpPr>
            <p:spPr>
              <a:xfrm>
                <a:off x="5060950" y="5251450"/>
                <a:ext cx="1236133" cy="332317"/>
              </a:xfrm>
              <a:prstGeom prst="rect">
                <a:avLst/>
              </a:prstGeom>
              <a:noFill/>
              <a:ln w="25400">
                <a:solidFill>
                  <a:schemeClr val="accent4">
                    <a:lumMod val="75000"/>
                  </a:schemeClr>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white"/>
                  </a:solidFill>
                  <a:effectLst/>
                  <a:uLnTx/>
                  <a:uFillTx/>
                  <a:latin typeface="Metropolis"/>
                  <a:ea typeface="+mn-ea"/>
                  <a:cs typeface="+mn-cs"/>
                </a:endParaRPr>
              </a:p>
            </p:txBody>
          </p:sp>
        </p:grpSp>
      </p:grpSp>
      <p:sp>
        <p:nvSpPr>
          <p:cNvPr id="36" name="Rectangle 35">
            <a:extLst>
              <a:ext uri="{FF2B5EF4-FFF2-40B4-BE49-F238E27FC236}">
                <a16:creationId xmlns:a16="http://schemas.microsoft.com/office/drawing/2014/main" id="{1812458B-A1EE-D1F1-A6E1-7D2FB3C99CB5}"/>
              </a:ext>
            </a:extLst>
          </p:cNvPr>
          <p:cNvSpPr/>
          <p:nvPr/>
        </p:nvSpPr>
        <p:spPr>
          <a:xfrm>
            <a:off x="3454883" y="1600201"/>
            <a:ext cx="5044376" cy="1508112"/>
          </a:xfrm>
          <a:prstGeom prst="rect">
            <a:avLst/>
          </a:prstGeom>
          <a:noFill/>
          <a:ln w="9525">
            <a:gradFill flip="none" rotWithShape="1">
              <a:gsLst>
                <a:gs pos="60000">
                  <a:srgbClr val="316E60"/>
                </a:gs>
                <a:gs pos="100000">
                  <a:schemeClr val="accent2"/>
                </a:gs>
                <a:gs pos="0">
                  <a:schemeClr val="accent4"/>
                </a:gs>
              </a:gsLst>
              <a:lin ang="10800000" scaled="1"/>
              <a:tileRect/>
            </a:gradFill>
          </a:ln>
          <a:effectLst/>
        </p:spPr>
        <p:txBody>
          <a:bodyPr wrap="square" anchor="ctr">
            <a:noAutofit/>
          </a:bodyPr>
          <a:lstStyle/>
          <a:p>
            <a:pPr algn="ctr"/>
            <a:endParaRPr lang="en-US" sz="1200">
              <a:solidFill>
                <a:prstClr val="white"/>
              </a:solidFill>
            </a:endParaRPr>
          </a:p>
        </p:txBody>
      </p:sp>
      <p:grpSp>
        <p:nvGrpSpPr>
          <p:cNvPr id="37" name="Group 36">
            <a:extLst>
              <a:ext uri="{FF2B5EF4-FFF2-40B4-BE49-F238E27FC236}">
                <a16:creationId xmlns:a16="http://schemas.microsoft.com/office/drawing/2014/main" id="{713F7DC4-4B26-CB68-38CC-0D2420D2779D}"/>
              </a:ext>
            </a:extLst>
          </p:cNvPr>
          <p:cNvGrpSpPr/>
          <p:nvPr/>
        </p:nvGrpSpPr>
        <p:grpSpPr>
          <a:xfrm>
            <a:off x="3503665" y="2634511"/>
            <a:ext cx="4969919" cy="261610"/>
            <a:chOff x="1459107" y="3405840"/>
            <a:chExt cx="4969919" cy="261610"/>
          </a:xfrm>
        </p:grpSpPr>
        <p:sp>
          <p:nvSpPr>
            <p:cNvPr id="38" name="Rectangle 37">
              <a:extLst>
                <a:ext uri="{FF2B5EF4-FFF2-40B4-BE49-F238E27FC236}">
                  <a16:creationId xmlns:a16="http://schemas.microsoft.com/office/drawing/2014/main" id="{34F64A47-2F97-2FE3-F47E-F24711D2D9F3}"/>
                </a:ext>
              </a:extLst>
            </p:cNvPr>
            <p:cNvSpPr/>
            <p:nvPr/>
          </p:nvSpPr>
          <p:spPr>
            <a:xfrm>
              <a:off x="1459107" y="3405840"/>
              <a:ext cx="815040" cy="261610"/>
            </a:xfrm>
            <a:prstGeom prst="rect">
              <a:avLst/>
            </a:prstGeom>
          </p:spPr>
          <p:txBody>
            <a:bodyPr wrap="square" anchor="ctr">
              <a:spAutoFit/>
            </a:bodyPr>
            <a:lstStyle/>
            <a:p>
              <a:pPr algn="ctr" defTabSz="914126">
                <a:defRPr/>
              </a:pPr>
              <a:r>
                <a:rPr lang="en-US" sz="1100">
                  <a:solidFill>
                    <a:schemeClr val="tx2"/>
                  </a:solidFill>
                  <a:latin typeface="Metropolis"/>
                </a:rPr>
                <a:t>vSphere</a:t>
              </a:r>
            </a:p>
          </p:txBody>
        </p:sp>
        <p:sp>
          <p:nvSpPr>
            <p:cNvPr id="39" name="Rectangle 38">
              <a:extLst>
                <a:ext uri="{FF2B5EF4-FFF2-40B4-BE49-F238E27FC236}">
                  <a16:creationId xmlns:a16="http://schemas.microsoft.com/office/drawing/2014/main" id="{161680DF-7968-89AB-6FF7-4E420C74B45B}"/>
                </a:ext>
              </a:extLst>
            </p:cNvPr>
            <p:cNvSpPr/>
            <p:nvPr/>
          </p:nvSpPr>
          <p:spPr>
            <a:xfrm>
              <a:off x="5511216" y="3405840"/>
              <a:ext cx="917810" cy="261610"/>
            </a:xfrm>
            <a:prstGeom prst="rect">
              <a:avLst/>
            </a:prstGeom>
          </p:spPr>
          <p:txBody>
            <a:bodyPr wrap="square" anchor="ctr">
              <a:spAutoFit/>
            </a:bodyPr>
            <a:lstStyle/>
            <a:p>
              <a:pPr algn="ctr" defTabSz="914126">
                <a:defRPr/>
              </a:pPr>
              <a:r>
                <a:rPr lang="en-US" sz="1100" dirty="0">
                  <a:solidFill>
                    <a:schemeClr val="tx2"/>
                  </a:solidFill>
                  <a:latin typeface="Metropolis"/>
                </a:rPr>
                <a:t>vSAN ESA</a:t>
              </a:r>
            </a:p>
          </p:txBody>
        </p:sp>
        <p:cxnSp>
          <p:nvCxnSpPr>
            <p:cNvPr id="40" name="Straight Connector 39">
              <a:extLst>
                <a:ext uri="{FF2B5EF4-FFF2-40B4-BE49-F238E27FC236}">
                  <a16:creationId xmlns:a16="http://schemas.microsoft.com/office/drawing/2014/main" id="{D91A3A1E-1951-8AB7-4EE7-74DFF5C080AF}"/>
                </a:ext>
              </a:extLst>
            </p:cNvPr>
            <p:cNvCxnSpPr>
              <a:cxnSpLocks/>
            </p:cNvCxnSpPr>
            <p:nvPr/>
          </p:nvCxnSpPr>
          <p:spPr bwMode="gray">
            <a:xfrm flipH="1">
              <a:off x="2271066" y="3536645"/>
              <a:ext cx="1661447" cy="0"/>
            </a:xfrm>
            <a:prstGeom prst="line">
              <a:avLst/>
            </a:prstGeom>
            <a:ln w="9525">
              <a:solidFill>
                <a:schemeClr val="accent2"/>
              </a:solidFill>
              <a:miter lim="800000"/>
              <a:tailEnd type="triangle" w="lg"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813E816-B418-9E7B-325A-98E2CC287A15}"/>
                </a:ext>
              </a:extLst>
            </p:cNvPr>
            <p:cNvCxnSpPr>
              <a:cxnSpLocks/>
              <a:endCxn id="39" idx="1"/>
            </p:cNvCxnSpPr>
            <p:nvPr/>
          </p:nvCxnSpPr>
          <p:spPr bwMode="gray">
            <a:xfrm>
              <a:off x="3932513" y="3536645"/>
              <a:ext cx="1578703" cy="0"/>
            </a:xfrm>
            <a:prstGeom prst="line">
              <a:avLst/>
            </a:prstGeom>
            <a:ln w="9525">
              <a:gradFill flip="none" rotWithShape="1">
                <a:gsLst>
                  <a:gs pos="100000">
                    <a:schemeClr val="accent2"/>
                  </a:gs>
                  <a:gs pos="0">
                    <a:schemeClr val="accent4"/>
                  </a:gs>
                </a:gsLst>
                <a:lin ang="10800000" scaled="1"/>
                <a:tileRect/>
              </a:gradFill>
              <a:miter lim="800000"/>
              <a:tailEnd type="triangle" w="lg" len="med"/>
            </a:ln>
          </p:spPr>
          <p:style>
            <a:lnRef idx="1">
              <a:schemeClr val="accent1"/>
            </a:lnRef>
            <a:fillRef idx="0">
              <a:schemeClr val="accent1"/>
            </a:fillRef>
            <a:effectRef idx="0">
              <a:schemeClr val="accent1"/>
            </a:effectRef>
            <a:fontRef idx="minor">
              <a:schemeClr val="tx1"/>
            </a:fontRef>
          </p:style>
        </p:cxnSp>
      </p:grpSp>
      <p:sp>
        <p:nvSpPr>
          <p:cNvPr id="42" name="Rectangle 41">
            <a:extLst>
              <a:ext uri="{FF2B5EF4-FFF2-40B4-BE49-F238E27FC236}">
                <a16:creationId xmlns:a16="http://schemas.microsoft.com/office/drawing/2014/main" id="{B40627BD-5E09-C8E4-2CFE-E7EA0FFDD668}"/>
              </a:ext>
            </a:extLst>
          </p:cNvPr>
          <p:cNvSpPr/>
          <p:nvPr/>
        </p:nvSpPr>
        <p:spPr>
          <a:xfrm>
            <a:off x="3454883" y="3619907"/>
            <a:ext cx="5047488" cy="1355941"/>
          </a:xfrm>
          <a:prstGeom prst="rect">
            <a:avLst/>
          </a:prstGeom>
          <a:solidFill>
            <a:schemeClr val="accent2"/>
          </a:solidFill>
          <a:ln w="12700">
            <a:noFill/>
            <a:prstDash val="sysDot"/>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800" dirty="0">
              <a:solidFill>
                <a:schemeClr val="bg1"/>
              </a:solidFill>
            </a:endParaRPr>
          </a:p>
        </p:txBody>
      </p:sp>
      <p:sp>
        <p:nvSpPr>
          <p:cNvPr id="43" name="Rectangle 42">
            <a:extLst>
              <a:ext uri="{FF2B5EF4-FFF2-40B4-BE49-F238E27FC236}">
                <a16:creationId xmlns:a16="http://schemas.microsoft.com/office/drawing/2014/main" id="{C5162B67-1AA4-8D29-C2CB-9FBD2D6A20DB}"/>
              </a:ext>
            </a:extLst>
          </p:cNvPr>
          <p:cNvSpPr/>
          <p:nvPr/>
        </p:nvSpPr>
        <p:spPr>
          <a:xfrm>
            <a:off x="4990755" y="4757531"/>
            <a:ext cx="1975745" cy="193899"/>
          </a:xfrm>
          <a:prstGeom prst="rect">
            <a:avLst/>
          </a:prstGeom>
          <a:noFill/>
        </p:spPr>
        <p:txBody>
          <a:bodyPr wrap="square" lIns="0" tIns="0" rIns="0" bIns="0">
            <a:spAutoFit/>
          </a:bodyPr>
          <a:lstStyle/>
          <a:p>
            <a:pPr lvl="0" algn="ctr">
              <a:lnSpc>
                <a:spcPct val="90000"/>
              </a:lnSpc>
              <a:defRPr/>
            </a:pPr>
            <a:r>
              <a:rPr lang="en-US" sz="1400" kern="0" dirty="0">
                <a:solidFill>
                  <a:schemeClr val="bg1"/>
                </a:solidFill>
              </a:rPr>
              <a:t>vSAN ESA Datastore</a:t>
            </a:r>
          </a:p>
        </p:txBody>
      </p:sp>
      <p:sp>
        <p:nvSpPr>
          <p:cNvPr id="44" name="Freeform 16">
            <a:extLst>
              <a:ext uri="{FF2B5EF4-FFF2-40B4-BE49-F238E27FC236}">
                <a16:creationId xmlns:a16="http://schemas.microsoft.com/office/drawing/2014/main" id="{94C72A5E-8B4F-DABB-CF38-9CDC26E18096}"/>
              </a:ext>
            </a:extLst>
          </p:cNvPr>
          <p:cNvSpPr/>
          <p:nvPr/>
        </p:nvSpPr>
        <p:spPr>
          <a:xfrm>
            <a:off x="6550177" y="4085865"/>
            <a:ext cx="401436" cy="52386"/>
          </a:xfrm>
          <a:custGeom>
            <a:avLst/>
            <a:gdLst/>
            <a:ahLst/>
            <a:cxnLst/>
            <a:rect l="l" t="t" r="r" b="b"/>
            <a:pathLst>
              <a:path w="233809" h="30510">
                <a:moveTo>
                  <a:pt x="203151" y="0"/>
                </a:moveTo>
                <a:lnTo>
                  <a:pt x="233809" y="0"/>
                </a:lnTo>
                <a:lnTo>
                  <a:pt x="233809" y="30510"/>
                </a:lnTo>
                <a:lnTo>
                  <a:pt x="203151" y="30510"/>
                </a:lnTo>
                <a:close/>
                <a:moveTo>
                  <a:pt x="101650" y="0"/>
                </a:moveTo>
                <a:lnTo>
                  <a:pt x="132160" y="0"/>
                </a:lnTo>
                <a:lnTo>
                  <a:pt x="132160" y="30510"/>
                </a:lnTo>
                <a:lnTo>
                  <a:pt x="101650" y="30510"/>
                </a:lnTo>
                <a:close/>
                <a:moveTo>
                  <a:pt x="0" y="0"/>
                </a:moveTo>
                <a:lnTo>
                  <a:pt x="30510" y="0"/>
                </a:lnTo>
                <a:lnTo>
                  <a:pt x="30510" y="30510"/>
                </a:lnTo>
                <a:lnTo>
                  <a:pt x="0" y="30510"/>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99"/>
          </a:p>
        </p:txBody>
      </p:sp>
      <p:sp>
        <p:nvSpPr>
          <p:cNvPr id="45" name="Rectangle 44">
            <a:extLst>
              <a:ext uri="{FF2B5EF4-FFF2-40B4-BE49-F238E27FC236}">
                <a16:creationId xmlns:a16="http://schemas.microsoft.com/office/drawing/2014/main" id="{DC2030B7-451C-10A4-2AD2-D4D1FA38F890}"/>
              </a:ext>
            </a:extLst>
          </p:cNvPr>
          <p:cNvSpPr/>
          <p:nvPr/>
        </p:nvSpPr>
        <p:spPr>
          <a:xfrm>
            <a:off x="3549351" y="3704984"/>
            <a:ext cx="1164376" cy="921932"/>
          </a:xfrm>
          <a:prstGeom prst="rect">
            <a:avLst/>
          </a:prstGeom>
          <a:noFill/>
          <a:ln w="15875">
            <a:solidFill>
              <a:schemeClr val="bg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marL="60325" algn="ctr">
              <a:spcAft>
                <a:spcPts val="800"/>
              </a:spcAft>
            </a:pPr>
            <a:endParaRPr lang="en-US" sz="1400">
              <a:solidFill>
                <a:schemeClr val="tx1"/>
              </a:solidFill>
            </a:endParaRPr>
          </a:p>
        </p:txBody>
      </p:sp>
      <p:pic>
        <p:nvPicPr>
          <p:cNvPr id="46" name="Graphic 45">
            <a:extLst>
              <a:ext uri="{FF2B5EF4-FFF2-40B4-BE49-F238E27FC236}">
                <a16:creationId xmlns:a16="http://schemas.microsoft.com/office/drawing/2014/main" id="{40D67CC0-F61C-C6C1-0AA8-FB88823753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97909" y="3807938"/>
            <a:ext cx="350735" cy="257395"/>
          </a:xfrm>
          <a:prstGeom prst="rect">
            <a:avLst/>
          </a:prstGeom>
        </p:spPr>
      </p:pic>
      <p:pic>
        <p:nvPicPr>
          <p:cNvPr id="47" name="Graphic 46">
            <a:extLst>
              <a:ext uri="{FF2B5EF4-FFF2-40B4-BE49-F238E27FC236}">
                <a16:creationId xmlns:a16="http://schemas.microsoft.com/office/drawing/2014/main" id="{F7014228-2220-C6B6-586C-CB1BDC3A5BF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11473" y="3807938"/>
            <a:ext cx="350735" cy="257395"/>
          </a:xfrm>
          <a:prstGeom prst="rect">
            <a:avLst/>
          </a:prstGeom>
        </p:spPr>
      </p:pic>
      <p:pic>
        <p:nvPicPr>
          <p:cNvPr id="48" name="Graphic 47">
            <a:extLst>
              <a:ext uri="{FF2B5EF4-FFF2-40B4-BE49-F238E27FC236}">
                <a16:creationId xmlns:a16="http://schemas.microsoft.com/office/drawing/2014/main" id="{8A67619F-B0A3-2414-0334-DA34F65B869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97909" y="4238340"/>
            <a:ext cx="350735" cy="257395"/>
          </a:xfrm>
          <a:prstGeom prst="rect">
            <a:avLst/>
          </a:prstGeom>
        </p:spPr>
      </p:pic>
      <p:pic>
        <p:nvPicPr>
          <p:cNvPr id="49" name="Graphic 48">
            <a:extLst>
              <a:ext uri="{FF2B5EF4-FFF2-40B4-BE49-F238E27FC236}">
                <a16:creationId xmlns:a16="http://schemas.microsoft.com/office/drawing/2014/main" id="{05D7B28B-0002-01EB-D392-772DFE819DD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11473" y="4238340"/>
            <a:ext cx="350735" cy="257395"/>
          </a:xfrm>
          <a:prstGeom prst="rect">
            <a:avLst/>
          </a:prstGeom>
        </p:spPr>
      </p:pic>
      <p:sp>
        <p:nvSpPr>
          <p:cNvPr id="50" name="Rectangle 49">
            <a:extLst>
              <a:ext uri="{FF2B5EF4-FFF2-40B4-BE49-F238E27FC236}">
                <a16:creationId xmlns:a16="http://schemas.microsoft.com/office/drawing/2014/main" id="{992E8C19-EF60-979C-9263-AEAD691B9A19}"/>
              </a:ext>
            </a:extLst>
          </p:cNvPr>
          <p:cNvSpPr/>
          <p:nvPr/>
        </p:nvSpPr>
        <p:spPr>
          <a:xfrm>
            <a:off x="5096998" y="3704984"/>
            <a:ext cx="1164376" cy="921932"/>
          </a:xfrm>
          <a:prstGeom prst="rect">
            <a:avLst/>
          </a:prstGeom>
          <a:noFill/>
          <a:ln w="15875">
            <a:solidFill>
              <a:schemeClr val="bg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marL="60325" algn="ctr">
              <a:spcAft>
                <a:spcPts val="800"/>
              </a:spcAft>
            </a:pPr>
            <a:endParaRPr lang="en-US" sz="1400">
              <a:solidFill>
                <a:schemeClr val="tx1"/>
              </a:solidFill>
            </a:endParaRPr>
          </a:p>
        </p:txBody>
      </p:sp>
      <p:pic>
        <p:nvPicPr>
          <p:cNvPr id="51" name="Graphic 50">
            <a:extLst>
              <a:ext uri="{FF2B5EF4-FFF2-40B4-BE49-F238E27FC236}">
                <a16:creationId xmlns:a16="http://schemas.microsoft.com/office/drawing/2014/main" id="{FEDA0A30-F370-CB41-247D-35D9F97112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45556" y="3807938"/>
            <a:ext cx="350735" cy="257395"/>
          </a:xfrm>
          <a:prstGeom prst="rect">
            <a:avLst/>
          </a:prstGeom>
        </p:spPr>
      </p:pic>
      <p:pic>
        <p:nvPicPr>
          <p:cNvPr id="52" name="Graphic 51">
            <a:extLst>
              <a:ext uri="{FF2B5EF4-FFF2-40B4-BE49-F238E27FC236}">
                <a16:creationId xmlns:a16="http://schemas.microsoft.com/office/drawing/2014/main" id="{1BFECE41-EAC0-DAE7-5584-8AC1BEA1D5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59120" y="3807938"/>
            <a:ext cx="350735" cy="257395"/>
          </a:xfrm>
          <a:prstGeom prst="rect">
            <a:avLst/>
          </a:prstGeom>
        </p:spPr>
      </p:pic>
      <p:pic>
        <p:nvPicPr>
          <p:cNvPr id="53" name="Graphic 52">
            <a:extLst>
              <a:ext uri="{FF2B5EF4-FFF2-40B4-BE49-F238E27FC236}">
                <a16:creationId xmlns:a16="http://schemas.microsoft.com/office/drawing/2014/main" id="{202116E2-0C5A-536C-22AC-D17663C740D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45556" y="4238340"/>
            <a:ext cx="350735" cy="257395"/>
          </a:xfrm>
          <a:prstGeom prst="rect">
            <a:avLst/>
          </a:prstGeom>
        </p:spPr>
      </p:pic>
      <p:pic>
        <p:nvPicPr>
          <p:cNvPr id="54" name="Graphic 53">
            <a:extLst>
              <a:ext uri="{FF2B5EF4-FFF2-40B4-BE49-F238E27FC236}">
                <a16:creationId xmlns:a16="http://schemas.microsoft.com/office/drawing/2014/main" id="{5433D313-BF17-D1B9-6357-249C03BFAD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59120" y="4238340"/>
            <a:ext cx="350735" cy="257395"/>
          </a:xfrm>
          <a:prstGeom prst="rect">
            <a:avLst/>
          </a:prstGeom>
        </p:spPr>
      </p:pic>
      <p:sp>
        <p:nvSpPr>
          <p:cNvPr id="55" name="Rectangle 54">
            <a:extLst>
              <a:ext uri="{FF2B5EF4-FFF2-40B4-BE49-F238E27FC236}">
                <a16:creationId xmlns:a16="http://schemas.microsoft.com/office/drawing/2014/main" id="{824C4FC8-588A-D4E9-6D87-1E74D7A5F899}"/>
              </a:ext>
            </a:extLst>
          </p:cNvPr>
          <p:cNvSpPr/>
          <p:nvPr/>
        </p:nvSpPr>
        <p:spPr>
          <a:xfrm>
            <a:off x="7240415" y="3704984"/>
            <a:ext cx="1164376" cy="921932"/>
          </a:xfrm>
          <a:prstGeom prst="rect">
            <a:avLst/>
          </a:prstGeom>
          <a:noFill/>
          <a:ln w="15875">
            <a:solidFill>
              <a:schemeClr val="bg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marL="60325" algn="ctr">
              <a:spcAft>
                <a:spcPts val="800"/>
              </a:spcAft>
            </a:pPr>
            <a:endParaRPr lang="en-US" sz="1400">
              <a:solidFill>
                <a:schemeClr val="tx1"/>
              </a:solidFill>
            </a:endParaRPr>
          </a:p>
        </p:txBody>
      </p:sp>
      <p:pic>
        <p:nvPicPr>
          <p:cNvPr id="56" name="Graphic 55">
            <a:extLst>
              <a:ext uri="{FF2B5EF4-FFF2-40B4-BE49-F238E27FC236}">
                <a16:creationId xmlns:a16="http://schemas.microsoft.com/office/drawing/2014/main" id="{758CA911-744E-DE73-A9ED-0AD8E4174A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88973" y="3807938"/>
            <a:ext cx="350735" cy="257395"/>
          </a:xfrm>
          <a:prstGeom prst="rect">
            <a:avLst/>
          </a:prstGeom>
        </p:spPr>
      </p:pic>
      <p:pic>
        <p:nvPicPr>
          <p:cNvPr id="57" name="Graphic 56">
            <a:extLst>
              <a:ext uri="{FF2B5EF4-FFF2-40B4-BE49-F238E27FC236}">
                <a16:creationId xmlns:a16="http://schemas.microsoft.com/office/drawing/2014/main" id="{C4193428-4EC4-6861-A9FA-CE3BAC40C78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02537" y="3807938"/>
            <a:ext cx="350735" cy="257395"/>
          </a:xfrm>
          <a:prstGeom prst="rect">
            <a:avLst/>
          </a:prstGeom>
        </p:spPr>
      </p:pic>
      <p:pic>
        <p:nvPicPr>
          <p:cNvPr id="58" name="Graphic 57">
            <a:extLst>
              <a:ext uri="{FF2B5EF4-FFF2-40B4-BE49-F238E27FC236}">
                <a16:creationId xmlns:a16="http://schemas.microsoft.com/office/drawing/2014/main" id="{97264002-0F00-5645-0B83-B5948B8FF1C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88973" y="4238340"/>
            <a:ext cx="350735" cy="257395"/>
          </a:xfrm>
          <a:prstGeom prst="rect">
            <a:avLst/>
          </a:prstGeom>
        </p:spPr>
      </p:pic>
      <p:pic>
        <p:nvPicPr>
          <p:cNvPr id="59" name="Graphic 58">
            <a:extLst>
              <a:ext uri="{FF2B5EF4-FFF2-40B4-BE49-F238E27FC236}">
                <a16:creationId xmlns:a16="http://schemas.microsoft.com/office/drawing/2014/main" id="{0FEC5311-61BA-3625-6253-43C4F30723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02537" y="4238340"/>
            <a:ext cx="350735" cy="257395"/>
          </a:xfrm>
          <a:prstGeom prst="rect">
            <a:avLst/>
          </a:prstGeom>
        </p:spPr>
      </p:pic>
      <p:sp>
        <p:nvSpPr>
          <p:cNvPr id="60" name="Rectangle 59">
            <a:extLst>
              <a:ext uri="{FF2B5EF4-FFF2-40B4-BE49-F238E27FC236}">
                <a16:creationId xmlns:a16="http://schemas.microsoft.com/office/drawing/2014/main" id="{FFD41DF6-03BD-1D29-991F-C19DFA90502C}"/>
              </a:ext>
            </a:extLst>
          </p:cNvPr>
          <p:cNvSpPr/>
          <p:nvPr/>
        </p:nvSpPr>
        <p:spPr>
          <a:xfrm>
            <a:off x="7346351" y="4091864"/>
            <a:ext cx="952505" cy="138499"/>
          </a:xfrm>
          <a:prstGeom prst="rect">
            <a:avLst/>
          </a:prstGeom>
          <a:noFill/>
        </p:spPr>
        <p:txBody>
          <a:bodyPr wrap="square" lIns="0" tIns="0" rIns="0" bIns="0">
            <a:spAutoFit/>
          </a:bodyPr>
          <a:lstStyle/>
          <a:p>
            <a:pPr lvl="0" algn="ctr">
              <a:lnSpc>
                <a:spcPct val="90000"/>
              </a:lnSpc>
              <a:defRPr/>
            </a:pPr>
            <a:r>
              <a:rPr lang="en-US" sz="1000" kern="0" dirty="0">
                <a:solidFill>
                  <a:schemeClr val="bg1"/>
                </a:solidFill>
              </a:rPr>
              <a:t>Single tier</a:t>
            </a:r>
          </a:p>
        </p:txBody>
      </p:sp>
      <p:sp>
        <p:nvSpPr>
          <p:cNvPr id="61" name="Rectangle 60">
            <a:extLst>
              <a:ext uri="{FF2B5EF4-FFF2-40B4-BE49-F238E27FC236}">
                <a16:creationId xmlns:a16="http://schemas.microsoft.com/office/drawing/2014/main" id="{C78AFFB8-E13F-1FD1-157E-91C75F0C3667}"/>
              </a:ext>
            </a:extLst>
          </p:cNvPr>
          <p:cNvSpPr/>
          <p:nvPr/>
        </p:nvSpPr>
        <p:spPr>
          <a:xfrm>
            <a:off x="5202934" y="4091864"/>
            <a:ext cx="952505" cy="138499"/>
          </a:xfrm>
          <a:prstGeom prst="rect">
            <a:avLst/>
          </a:prstGeom>
          <a:noFill/>
        </p:spPr>
        <p:txBody>
          <a:bodyPr wrap="square" lIns="0" tIns="0" rIns="0" bIns="0">
            <a:spAutoFit/>
          </a:bodyPr>
          <a:lstStyle/>
          <a:p>
            <a:pPr lvl="0" algn="ctr">
              <a:lnSpc>
                <a:spcPct val="90000"/>
              </a:lnSpc>
              <a:defRPr/>
            </a:pPr>
            <a:r>
              <a:rPr lang="en-US" sz="1000" kern="0" dirty="0">
                <a:solidFill>
                  <a:schemeClr val="bg1"/>
                </a:solidFill>
              </a:rPr>
              <a:t>Single tier</a:t>
            </a:r>
          </a:p>
        </p:txBody>
      </p:sp>
      <p:sp>
        <p:nvSpPr>
          <p:cNvPr id="62" name="Rectangle 61">
            <a:extLst>
              <a:ext uri="{FF2B5EF4-FFF2-40B4-BE49-F238E27FC236}">
                <a16:creationId xmlns:a16="http://schemas.microsoft.com/office/drawing/2014/main" id="{A9E8595A-E0E4-3158-AF6F-74401CE4EBDE}"/>
              </a:ext>
            </a:extLst>
          </p:cNvPr>
          <p:cNvSpPr/>
          <p:nvPr/>
        </p:nvSpPr>
        <p:spPr>
          <a:xfrm>
            <a:off x="3655287" y="4091864"/>
            <a:ext cx="952505" cy="138499"/>
          </a:xfrm>
          <a:prstGeom prst="rect">
            <a:avLst/>
          </a:prstGeom>
          <a:noFill/>
        </p:spPr>
        <p:txBody>
          <a:bodyPr wrap="square" lIns="0" tIns="0" rIns="0" bIns="0">
            <a:spAutoFit/>
          </a:bodyPr>
          <a:lstStyle/>
          <a:p>
            <a:pPr lvl="0" algn="ctr">
              <a:lnSpc>
                <a:spcPct val="90000"/>
              </a:lnSpc>
              <a:defRPr/>
            </a:pPr>
            <a:r>
              <a:rPr lang="en-US" sz="1000" kern="0" dirty="0">
                <a:solidFill>
                  <a:schemeClr val="bg1"/>
                </a:solidFill>
              </a:rPr>
              <a:t>Single tier</a:t>
            </a:r>
          </a:p>
        </p:txBody>
      </p:sp>
      <p:grpSp>
        <p:nvGrpSpPr>
          <p:cNvPr id="72" name="Picture Placeholder 84" descr="Snapshot&#10;">
            <a:extLst>
              <a:ext uri="{FF2B5EF4-FFF2-40B4-BE49-F238E27FC236}">
                <a16:creationId xmlns:a16="http://schemas.microsoft.com/office/drawing/2014/main" id="{18502398-C8FC-FF63-EAA7-716AD46BF727}"/>
              </a:ext>
            </a:extLst>
          </p:cNvPr>
          <p:cNvGrpSpPr/>
          <p:nvPr/>
        </p:nvGrpSpPr>
        <p:grpSpPr>
          <a:xfrm>
            <a:off x="5696270" y="1754940"/>
            <a:ext cx="561602" cy="381542"/>
            <a:chOff x="533691" y="5814442"/>
            <a:chExt cx="613486" cy="416791"/>
          </a:xfrm>
          <a:solidFill>
            <a:schemeClr val="accent4"/>
          </a:solidFill>
        </p:grpSpPr>
        <p:sp>
          <p:nvSpPr>
            <p:cNvPr id="73" name="Picture Placeholder 84">
              <a:extLst>
                <a:ext uri="{FF2B5EF4-FFF2-40B4-BE49-F238E27FC236}">
                  <a16:creationId xmlns:a16="http://schemas.microsoft.com/office/drawing/2014/main" id="{7291D371-7A0E-BEA4-340B-0FBEDA18FDBD}"/>
                </a:ext>
              </a:extLst>
            </p:cNvPr>
            <p:cNvSpPr/>
            <p:nvPr/>
          </p:nvSpPr>
          <p:spPr>
            <a:xfrm>
              <a:off x="677259" y="5947259"/>
              <a:ext cx="241599" cy="234010"/>
            </a:xfrm>
            <a:custGeom>
              <a:avLst/>
              <a:gdLst>
                <a:gd name="connsiteX0" fmla="*/ 0 w 241599"/>
                <a:gd name="connsiteY0" fmla="*/ 117005 h 234010"/>
                <a:gd name="connsiteX1" fmla="*/ 120800 w 241599"/>
                <a:gd name="connsiteY1" fmla="*/ 234010 h 234010"/>
                <a:gd name="connsiteX2" fmla="*/ 241600 w 241599"/>
                <a:gd name="connsiteY2" fmla="*/ 117005 h 234010"/>
                <a:gd name="connsiteX3" fmla="*/ 120800 w 241599"/>
                <a:gd name="connsiteY3" fmla="*/ 0 h 234010"/>
                <a:gd name="connsiteX4" fmla="*/ 0 w 241599"/>
                <a:gd name="connsiteY4" fmla="*/ 117005 h 234010"/>
                <a:gd name="connsiteX5" fmla="*/ 226421 w 241599"/>
                <a:gd name="connsiteY5" fmla="*/ 117005 h 234010"/>
                <a:gd name="connsiteX6" fmla="*/ 121432 w 241599"/>
                <a:gd name="connsiteY6" fmla="*/ 218199 h 234010"/>
                <a:gd name="connsiteX7" fmla="*/ 16444 w 241599"/>
                <a:gd name="connsiteY7" fmla="*/ 117005 h 234010"/>
                <a:gd name="connsiteX8" fmla="*/ 121432 w 241599"/>
                <a:gd name="connsiteY8" fmla="*/ 15812 h 234010"/>
                <a:gd name="connsiteX9" fmla="*/ 226421 w 241599"/>
                <a:gd name="connsiteY9" fmla="*/ 117005 h 234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1599" h="234010">
                  <a:moveTo>
                    <a:pt x="0" y="117005"/>
                  </a:moveTo>
                  <a:cubicBezTo>
                    <a:pt x="0" y="181516"/>
                    <a:pt x="54392" y="234010"/>
                    <a:pt x="120800" y="234010"/>
                  </a:cubicBezTo>
                  <a:cubicBezTo>
                    <a:pt x="187208" y="234010"/>
                    <a:pt x="241600" y="181516"/>
                    <a:pt x="241600" y="117005"/>
                  </a:cubicBezTo>
                  <a:cubicBezTo>
                    <a:pt x="241600" y="52494"/>
                    <a:pt x="187208" y="0"/>
                    <a:pt x="120800" y="0"/>
                  </a:cubicBezTo>
                  <a:cubicBezTo>
                    <a:pt x="54392" y="0"/>
                    <a:pt x="0" y="52494"/>
                    <a:pt x="0" y="117005"/>
                  </a:cubicBezTo>
                  <a:close/>
                  <a:moveTo>
                    <a:pt x="226421" y="117005"/>
                  </a:moveTo>
                  <a:cubicBezTo>
                    <a:pt x="226421" y="172662"/>
                    <a:pt x="178986" y="218199"/>
                    <a:pt x="121432" y="218199"/>
                  </a:cubicBezTo>
                  <a:cubicBezTo>
                    <a:pt x="63878" y="218199"/>
                    <a:pt x="16444" y="172662"/>
                    <a:pt x="16444" y="117005"/>
                  </a:cubicBezTo>
                  <a:cubicBezTo>
                    <a:pt x="16444" y="61349"/>
                    <a:pt x="63878" y="15812"/>
                    <a:pt x="121432" y="15812"/>
                  </a:cubicBezTo>
                  <a:cubicBezTo>
                    <a:pt x="178986" y="15812"/>
                    <a:pt x="226421" y="61349"/>
                    <a:pt x="226421" y="117005"/>
                  </a:cubicBezTo>
                  <a:close/>
                </a:path>
              </a:pathLst>
            </a:custGeom>
            <a:grpFill/>
            <a:ln w="6271" cap="flat">
              <a:noFill/>
              <a:prstDash val="solid"/>
              <a:miter/>
            </a:ln>
          </p:spPr>
          <p:txBody>
            <a:bodyPr rtlCol="0" anchor="ctr"/>
            <a:lstStyle/>
            <a:p>
              <a:endParaRPr lang="en-US"/>
            </a:p>
          </p:txBody>
        </p:sp>
        <p:sp>
          <p:nvSpPr>
            <p:cNvPr id="74" name="Picture Placeholder 84">
              <a:extLst>
                <a:ext uri="{FF2B5EF4-FFF2-40B4-BE49-F238E27FC236}">
                  <a16:creationId xmlns:a16="http://schemas.microsoft.com/office/drawing/2014/main" id="{2275207C-68FE-0A70-AE26-5D207DB4AD06}"/>
                </a:ext>
              </a:extLst>
            </p:cNvPr>
            <p:cNvSpPr/>
            <p:nvPr/>
          </p:nvSpPr>
          <p:spPr>
            <a:xfrm>
              <a:off x="736711" y="6003548"/>
              <a:ext cx="122697" cy="118902"/>
            </a:xfrm>
            <a:custGeom>
              <a:avLst/>
              <a:gdLst>
                <a:gd name="connsiteX0" fmla="*/ 0 w 122697"/>
                <a:gd name="connsiteY0" fmla="*/ 60084 h 118902"/>
                <a:gd name="connsiteX1" fmla="*/ 15812 w 122697"/>
                <a:gd name="connsiteY1" fmla="*/ 60084 h 118902"/>
                <a:gd name="connsiteX2" fmla="*/ 61349 w 122697"/>
                <a:gd name="connsiteY2" fmla="*/ 16444 h 118902"/>
                <a:gd name="connsiteX3" fmla="*/ 106886 w 122697"/>
                <a:gd name="connsiteY3" fmla="*/ 60084 h 118902"/>
                <a:gd name="connsiteX4" fmla="*/ 61349 w 122697"/>
                <a:gd name="connsiteY4" fmla="*/ 103723 h 118902"/>
                <a:gd name="connsiteX5" fmla="*/ 55024 w 122697"/>
                <a:gd name="connsiteY5" fmla="*/ 103091 h 118902"/>
                <a:gd name="connsiteX6" fmla="*/ 55024 w 122697"/>
                <a:gd name="connsiteY6" fmla="*/ 118902 h 118902"/>
                <a:gd name="connsiteX7" fmla="*/ 61349 w 122697"/>
                <a:gd name="connsiteY7" fmla="*/ 118902 h 118902"/>
                <a:gd name="connsiteX8" fmla="*/ 122697 w 122697"/>
                <a:gd name="connsiteY8" fmla="*/ 59451 h 118902"/>
                <a:gd name="connsiteX9" fmla="*/ 61349 w 122697"/>
                <a:gd name="connsiteY9" fmla="*/ 0 h 118902"/>
                <a:gd name="connsiteX10" fmla="*/ 0 w 122697"/>
                <a:gd name="connsiteY10" fmla="*/ 60084 h 118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697" h="118902">
                  <a:moveTo>
                    <a:pt x="0" y="60084"/>
                  </a:moveTo>
                  <a:lnTo>
                    <a:pt x="15812" y="60084"/>
                  </a:lnTo>
                  <a:cubicBezTo>
                    <a:pt x="15812" y="36050"/>
                    <a:pt x="36683" y="16444"/>
                    <a:pt x="61349" y="16444"/>
                  </a:cubicBezTo>
                  <a:cubicBezTo>
                    <a:pt x="86647" y="16444"/>
                    <a:pt x="106886" y="36050"/>
                    <a:pt x="106886" y="60084"/>
                  </a:cubicBezTo>
                  <a:cubicBezTo>
                    <a:pt x="106886" y="84117"/>
                    <a:pt x="86647" y="103723"/>
                    <a:pt x="61349" y="103723"/>
                  </a:cubicBezTo>
                  <a:cubicBezTo>
                    <a:pt x="59451" y="103723"/>
                    <a:pt x="56921" y="103723"/>
                    <a:pt x="55024" y="103091"/>
                  </a:cubicBezTo>
                  <a:lnTo>
                    <a:pt x="55024" y="118902"/>
                  </a:lnTo>
                  <a:cubicBezTo>
                    <a:pt x="56921" y="118902"/>
                    <a:pt x="59451" y="118902"/>
                    <a:pt x="61349" y="118902"/>
                  </a:cubicBezTo>
                  <a:cubicBezTo>
                    <a:pt x="95501" y="118902"/>
                    <a:pt x="122697" y="92339"/>
                    <a:pt x="122697" y="59451"/>
                  </a:cubicBezTo>
                  <a:cubicBezTo>
                    <a:pt x="122697" y="26563"/>
                    <a:pt x="94869" y="0"/>
                    <a:pt x="61349" y="0"/>
                  </a:cubicBezTo>
                  <a:cubicBezTo>
                    <a:pt x="27828" y="1265"/>
                    <a:pt x="0" y="27828"/>
                    <a:pt x="0" y="60084"/>
                  </a:cubicBezTo>
                  <a:close/>
                </a:path>
              </a:pathLst>
            </a:custGeom>
            <a:grpFill/>
            <a:ln w="6271" cap="flat">
              <a:noFill/>
              <a:prstDash val="solid"/>
              <a:miter/>
            </a:ln>
          </p:spPr>
          <p:txBody>
            <a:bodyPr rtlCol="0" anchor="ctr"/>
            <a:lstStyle/>
            <a:p>
              <a:endParaRPr lang="en-US"/>
            </a:p>
          </p:txBody>
        </p:sp>
        <p:sp>
          <p:nvSpPr>
            <p:cNvPr id="75" name="Picture Placeholder 84">
              <a:extLst>
                <a:ext uri="{FF2B5EF4-FFF2-40B4-BE49-F238E27FC236}">
                  <a16:creationId xmlns:a16="http://schemas.microsoft.com/office/drawing/2014/main" id="{730D8E63-A86C-B8C8-8E6F-61E98B024C31}"/>
                </a:ext>
              </a:extLst>
            </p:cNvPr>
            <p:cNvSpPr/>
            <p:nvPr/>
          </p:nvSpPr>
          <p:spPr>
            <a:xfrm>
              <a:off x="533691" y="5897927"/>
              <a:ext cx="533163" cy="333306"/>
            </a:xfrm>
            <a:custGeom>
              <a:avLst/>
              <a:gdLst>
                <a:gd name="connsiteX0" fmla="*/ 524309 w 533163"/>
                <a:gd name="connsiteY0" fmla="*/ 126492 h 333306"/>
                <a:gd name="connsiteX1" fmla="*/ 516720 w 533163"/>
                <a:gd name="connsiteY1" fmla="*/ 125860 h 333306"/>
                <a:gd name="connsiteX2" fmla="*/ 516720 w 533163"/>
                <a:gd name="connsiteY2" fmla="*/ 317495 h 333306"/>
                <a:gd name="connsiteX3" fmla="*/ 15812 w 533163"/>
                <a:gd name="connsiteY3" fmla="*/ 317495 h 333306"/>
                <a:gd name="connsiteX4" fmla="*/ 15812 w 533163"/>
                <a:gd name="connsiteY4" fmla="*/ 15812 h 333306"/>
                <a:gd name="connsiteX5" fmla="*/ 404774 w 533163"/>
                <a:gd name="connsiteY5" fmla="*/ 15812 h 333306"/>
                <a:gd name="connsiteX6" fmla="*/ 404142 w 533163"/>
                <a:gd name="connsiteY6" fmla="*/ 5692 h 333306"/>
                <a:gd name="connsiteX7" fmla="*/ 404142 w 533163"/>
                <a:gd name="connsiteY7" fmla="*/ 0 h 333306"/>
                <a:gd name="connsiteX8" fmla="*/ 10119 w 533163"/>
                <a:gd name="connsiteY8" fmla="*/ 0 h 333306"/>
                <a:gd name="connsiteX9" fmla="*/ 0 w 533163"/>
                <a:gd name="connsiteY9" fmla="*/ 10119 h 333306"/>
                <a:gd name="connsiteX10" fmla="*/ 0 w 533163"/>
                <a:gd name="connsiteY10" fmla="*/ 323187 h 333306"/>
                <a:gd name="connsiteX11" fmla="*/ 10119 w 533163"/>
                <a:gd name="connsiteY11" fmla="*/ 333306 h 333306"/>
                <a:gd name="connsiteX12" fmla="*/ 523044 w 533163"/>
                <a:gd name="connsiteY12" fmla="*/ 333306 h 333306"/>
                <a:gd name="connsiteX13" fmla="*/ 533164 w 533163"/>
                <a:gd name="connsiteY13" fmla="*/ 323187 h 333306"/>
                <a:gd name="connsiteX14" fmla="*/ 533164 w 533163"/>
                <a:gd name="connsiteY14" fmla="*/ 125860 h 333306"/>
                <a:gd name="connsiteX15" fmla="*/ 524309 w 533163"/>
                <a:gd name="connsiteY15" fmla="*/ 126492 h 333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33163" h="333306">
                  <a:moveTo>
                    <a:pt x="524309" y="126492"/>
                  </a:moveTo>
                  <a:cubicBezTo>
                    <a:pt x="521780" y="126492"/>
                    <a:pt x="519250" y="126492"/>
                    <a:pt x="516720" y="125860"/>
                  </a:cubicBezTo>
                  <a:lnTo>
                    <a:pt x="516720" y="317495"/>
                  </a:lnTo>
                  <a:lnTo>
                    <a:pt x="15812" y="317495"/>
                  </a:lnTo>
                  <a:lnTo>
                    <a:pt x="15812" y="15812"/>
                  </a:lnTo>
                  <a:lnTo>
                    <a:pt x="404774" y="15812"/>
                  </a:lnTo>
                  <a:cubicBezTo>
                    <a:pt x="404774" y="12649"/>
                    <a:pt x="404142" y="9487"/>
                    <a:pt x="404142" y="5692"/>
                  </a:cubicBezTo>
                  <a:cubicBezTo>
                    <a:pt x="404142" y="3795"/>
                    <a:pt x="404142" y="1897"/>
                    <a:pt x="404142" y="0"/>
                  </a:cubicBezTo>
                  <a:lnTo>
                    <a:pt x="10119" y="0"/>
                  </a:lnTo>
                  <a:cubicBezTo>
                    <a:pt x="4427" y="0"/>
                    <a:pt x="0" y="4427"/>
                    <a:pt x="0" y="10119"/>
                  </a:cubicBezTo>
                  <a:lnTo>
                    <a:pt x="0" y="323187"/>
                  </a:lnTo>
                  <a:cubicBezTo>
                    <a:pt x="0" y="328879"/>
                    <a:pt x="4427" y="333306"/>
                    <a:pt x="10119" y="333306"/>
                  </a:cubicBezTo>
                  <a:lnTo>
                    <a:pt x="523044" y="333306"/>
                  </a:lnTo>
                  <a:cubicBezTo>
                    <a:pt x="528737" y="333306"/>
                    <a:pt x="533164" y="328879"/>
                    <a:pt x="533164" y="323187"/>
                  </a:cubicBezTo>
                  <a:lnTo>
                    <a:pt x="533164" y="125860"/>
                  </a:lnTo>
                  <a:cubicBezTo>
                    <a:pt x="530002" y="126492"/>
                    <a:pt x="527472" y="126492"/>
                    <a:pt x="524309" y="126492"/>
                  </a:cubicBezTo>
                  <a:close/>
                </a:path>
              </a:pathLst>
            </a:custGeom>
            <a:grpFill/>
            <a:ln w="6271" cap="flat">
              <a:noFill/>
              <a:prstDash val="solid"/>
              <a:miter/>
            </a:ln>
          </p:spPr>
          <p:txBody>
            <a:bodyPr rtlCol="0" anchor="ctr"/>
            <a:lstStyle/>
            <a:p>
              <a:endParaRPr lang="en-US"/>
            </a:p>
          </p:txBody>
        </p:sp>
        <p:sp>
          <p:nvSpPr>
            <p:cNvPr id="76" name="Picture Placeholder 84">
              <a:extLst>
                <a:ext uri="{FF2B5EF4-FFF2-40B4-BE49-F238E27FC236}">
                  <a16:creationId xmlns:a16="http://schemas.microsoft.com/office/drawing/2014/main" id="{5E87F911-5CF0-39D1-DDFD-271E24E31CA2}"/>
                </a:ext>
              </a:extLst>
            </p:cNvPr>
            <p:cNvSpPr/>
            <p:nvPr/>
          </p:nvSpPr>
          <p:spPr>
            <a:xfrm>
              <a:off x="968823" y="5814442"/>
              <a:ext cx="178353" cy="178353"/>
            </a:xfrm>
            <a:custGeom>
              <a:avLst/>
              <a:gdLst>
                <a:gd name="connsiteX0" fmla="*/ 89177 w 178353"/>
                <a:gd name="connsiteY0" fmla="*/ 15812 h 178353"/>
                <a:gd name="connsiteX1" fmla="*/ 162542 w 178353"/>
                <a:gd name="connsiteY1" fmla="*/ 89177 h 178353"/>
                <a:gd name="connsiteX2" fmla="*/ 89177 w 178353"/>
                <a:gd name="connsiteY2" fmla="*/ 162542 h 178353"/>
                <a:gd name="connsiteX3" fmla="*/ 15812 w 178353"/>
                <a:gd name="connsiteY3" fmla="*/ 89177 h 178353"/>
                <a:gd name="connsiteX4" fmla="*/ 89177 w 178353"/>
                <a:gd name="connsiteY4" fmla="*/ 15812 h 178353"/>
                <a:gd name="connsiteX5" fmla="*/ 89177 w 178353"/>
                <a:gd name="connsiteY5" fmla="*/ 0 h 178353"/>
                <a:gd name="connsiteX6" fmla="*/ 0 w 178353"/>
                <a:gd name="connsiteY6" fmla="*/ 89177 h 178353"/>
                <a:gd name="connsiteX7" fmla="*/ 89177 w 178353"/>
                <a:gd name="connsiteY7" fmla="*/ 178354 h 178353"/>
                <a:gd name="connsiteX8" fmla="*/ 178354 w 178353"/>
                <a:gd name="connsiteY8" fmla="*/ 89177 h 178353"/>
                <a:gd name="connsiteX9" fmla="*/ 89177 w 178353"/>
                <a:gd name="connsiteY9" fmla="*/ 0 h 178353"/>
                <a:gd name="connsiteX10" fmla="*/ 89177 w 178353"/>
                <a:gd name="connsiteY10" fmla="*/ 0 h 178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353" h="178353">
                  <a:moveTo>
                    <a:pt x="89177" y="15812"/>
                  </a:moveTo>
                  <a:cubicBezTo>
                    <a:pt x="129654" y="15812"/>
                    <a:pt x="162542" y="48699"/>
                    <a:pt x="162542" y="89177"/>
                  </a:cubicBezTo>
                  <a:cubicBezTo>
                    <a:pt x="162542" y="129654"/>
                    <a:pt x="129654" y="162542"/>
                    <a:pt x="89177" y="162542"/>
                  </a:cubicBezTo>
                  <a:cubicBezTo>
                    <a:pt x="48699" y="162542"/>
                    <a:pt x="15812" y="129654"/>
                    <a:pt x="15812" y="89177"/>
                  </a:cubicBezTo>
                  <a:cubicBezTo>
                    <a:pt x="15812" y="48699"/>
                    <a:pt x="48699" y="15812"/>
                    <a:pt x="89177" y="15812"/>
                  </a:cubicBezTo>
                  <a:moveTo>
                    <a:pt x="89177" y="0"/>
                  </a:moveTo>
                  <a:cubicBezTo>
                    <a:pt x="39845" y="0"/>
                    <a:pt x="0" y="39845"/>
                    <a:pt x="0" y="89177"/>
                  </a:cubicBezTo>
                  <a:cubicBezTo>
                    <a:pt x="0" y="138509"/>
                    <a:pt x="40477" y="178354"/>
                    <a:pt x="89177" y="178354"/>
                  </a:cubicBezTo>
                  <a:cubicBezTo>
                    <a:pt x="138509" y="178354"/>
                    <a:pt x="178354" y="138509"/>
                    <a:pt x="178354" y="89177"/>
                  </a:cubicBezTo>
                  <a:cubicBezTo>
                    <a:pt x="178354" y="39845"/>
                    <a:pt x="138509" y="0"/>
                    <a:pt x="89177" y="0"/>
                  </a:cubicBezTo>
                  <a:lnTo>
                    <a:pt x="89177" y="0"/>
                  </a:lnTo>
                  <a:close/>
                </a:path>
              </a:pathLst>
            </a:custGeom>
            <a:grpFill/>
            <a:ln w="6271" cap="flat">
              <a:noFill/>
              <a:prstDash val="solid"/>
              <a:miter/>
            </a:ln>
          </p:spPr>
          <p:txBody>
            <a:bodyPr rtlCol="0" anchor="ctr"/>
            <a:lstStyle/>
            <a:p>
              <a:endParaRPr lang="en-US"/>
            </a:p>
          </p:txBody>
        </p:sp>
        <p:sp>
          <p:nvSpPr>
            <p:cNvPr id="77" name="Picture Placeholder 84">
              <a:extLst>
                <a:ext uri="{FF2B5EF4-FFF2-40B4-BE49-F238E27FC236}">
                  <a16:creationId xmlns:a16="http://schemas.microsoft.com/office/drawing/2014/main" id="{0ABDC337-F96D-C206-EE0B-E121079F72F5}"/>
                </a:ext>
              </a:extLst>
            </p:cNvPr>
            <p:cNvSpPr/>
            <p:nvPr/>
          </p:nvSpPr>
          <p:spPr>
            <a:xfrm>
              <a:off x="1050411" y="5854287"/>
              <a:ext cx="39844" cy="59451"/>
            </a:xfrm>
            <a:custGeom>
              <a:avLst/>
              <a:gdLst>
                <a:gd name="connsiteX0" fmla="*/ 32888 w 39844"/>
                <a:gd name="connsiteY0" fmla="*/ 59451 h 59451"/>
                <a:gd name="connsiteX1" fmla="*/ 0 w 39844"/>
                <a:gd name="connsiteY1" fmla="*/ 59451 h 59451"/>
                <a:gd name="connsiteX2" fmla="*/ 0 w 39844"/>
                <a:gd name="connsiteY2" fmla="*/ 7590 h 59451"/>
                <a:gd name="connsiteX3" fmla="*/ 7590 w 39844"/>
                <a:gd name="connsiteY3" fmla="*/ 0 h 59451"/>
                <a:gd name="connsiteX4" fmla="*/ 15179 w 39844"/>
                <a:gd name="connsiteY4" fmla="*/ 7590 h 59451"/>
                <a:gd name="connsiteX5" fmla="*/ 15179 w 39844"/>
                <a:gd name="connsiteY5" fmla="*/ 43640 h 59451"/>
                <a:gd name="connsiteX6" fmla="*/ 32255 w 39844"/>
                <a:gd name="connsiteY6" fmla="*/ 43640 h 59451"/>
                <a:gd name="connsiteX7" fmla="*/ 39845 w 39844"/>
                <a:gd name="connsiteY7" fmla="*/ 51229 h 59451"/>
                <a:gd name="connsiteX8" fmla="*/ 32888 w 39844"/>
                <a:gd name="connsiteY8" fmla="*/ 59451 h 59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44" h="59451">
                  <a:moveTo>
                    <a:pt x="32888" y="59451"/>
                  </a:moveTo>
                  <a:lnTo>
                    <a:pt x="0" y="59451"/>
                  </a:lnTo>
                  <a:lnTo>
                    <a:pt x="0" y="7590"/>
                  </a:lnTo>
                  <a:cubicBezTo>
                    <a:pt x="0" y="3162"/>
                    <a:pt x="3795" y="0"/>
                    <a:pt x="7590" y="0"/>
                  </a:cubicBezTo>
                  <a:cubicBezTo>
                    <a:pt x="11384" y="0"/>
                    <a:pt x="15179" y="3795"/>
                    <a:pt x="15179" y="7590"/>
                  </a:cubicBezTo>
                  <a:lnTo>
                    <a:pt x="15179" y="43640"/>
                  </a:lnTo>
                  <a:lnTo>
                    <a:pt x="32255" y="43640"/>
                  </a:lnTo>
                  <a:cubicBezTo>
                    <a:pt x="36683" y="43640"/>
                    <a:pt x="39845" y="47435"/>
                    <a:pt x="39845" y="51229"/>
                  </a:cubicBezTo>
                  <a:cubicBezTo>
                    <a:pt x="39845" y="55024"/>
                    <a:pt x="37315" y="59451"/>
                    <a:pt x="32888" y="59451"/>
                  </a:cubicBezTo>
                  <a:close/>
                </a:path>
              </a:pathLst>
            </a:custGeom>
            <a:grpFill/>
            <a:ln w="6271" cap="flat">
              <a:noFill/>
              <a:prstDash val="solid"/>
              <a:miter/>
            </a:ln>
          </p:spPr>
          <p:txBody>
            <a:bodyPr rtlCol="0" anchor="ctr"/>
            <a:lstStyle/>
            <a:p>
              <a:endParaRPr lang="en-US"/>
            </a:p>
          </p:txBody>
        </p:sp>
      </p:grpSp>
      <p:sp>
        <p:nvSpPr>
          <p:cNvPr id="78" name="TextBox 77">
            <a:extLst>
              <a:ext uri="{FF2B5EF4-FFF2-40B4-BE49-F238E27FC236}">
                <a16:creationId xmlns:a16="http://schemas.microsoft.com/office/drawing/2014/main" id="{CC8BF897-F87E-4664-3BDC-B09E2EF39E6F}"/>
              </a:ext>
            </a:extLst>
          </p:cNvPr>
          <p:cNvSpPr txBox="1"/>
          <p:nvPr/>
        </p:nvSpPr>
        <p:spPr>
          <a:xfrm>
            <a:off x="7015524" y="2227406"/>
            <a:ext cx="1016750" cy="338554"/>
          </a:xfrm>
          <a:prstGeom prst="rect">
            <a:avLst/>
          </a:prstGeom>
        </p:spPr>
        <p:txBody>
          <a:bodyPr wrap="square" lIns="0" tIns="0" rIns="0" bIns="0" rtlCol="0">
            <a:spAutoFit/>
          </a:bodyPr>
          <a:lstStyle/>
          <a:p>
            <a:pPr algn="ctr">
              <a:spcAft>
                <a:spcPts val="600"/>
              </a:spcAft>
            </a:pPr>
            <a:r>
              <a:rPr lang="en-US" sz="1100">
                <a:solidFill>
                  <a:schemeClr val="accent4"/>
                </a:solidFill>
              </a:rPr>
              <a:t>Simplified</a:t>
            </a:r>
            <a:br>
              <a:rPr lang="en-US" sz="1100">
                <a:solidFill>
                  <a:schemeClr val="accent4"/>
                </a:solidFill>
              </a:rPr>
            </a:br>
            <a:r>
              <a:rPr lang="en-US" sz="1100">
                <a:solidFill>
                  <a:schemeClr val="accent4"/>
                </a:solidFill>
              </a:rPr>
              <a:t>Administration</a:t>
            </a:r>
          </a:p>
        </p:txBody>
      </p:sp>
      <p:sp>
        <p:nvSpPr>
          <p:cNvPr id="79" name="TextBox 78">
            <a:extLst>
              <a:ext uri="{FF2B5EF4-FFF2-40B4-BE49-F238E27FC236}">
                <a16:creationId xmlns:a16="http://schemas.microsoft.com/office/drawing/2014/main" id="{16001A70-2A4B-C049-88DC-B9A34DC7B9D0}"/>
              </a:ext>
            </a:extLst>
          </p:cNvPr>
          <p:cNvSpPr txBox="1"/>
          <p:nvPr/>
        </p:nvSpPr>
        <p:spPr>
          <a:xfrm>
            <a:off x="3870271" y="2227406"/>
            <a:ext cx="1016750" cy="338554"/>
          </a:xfrm>
          <a:prstGeom prst="rect">
            <a:avLst/>
          </a:prstGeom>
        </p:spPr>
        <p:txBody>
          <a:bodyPr wrap="square" lIns="0" tIns="0" rIns="0" bIns="0" rtlCol="0">
            <a:spAutoFit/>
          </a:bodyPr>
          <a:lstStyle/>
          <a:p>
            <a:pPr algn="ctr">
              <a:spcAft>
                <a:spcPts val="600"/>
              </a:spcAft>
            </a:pPr>
            <a:r>
              <a:rPr lang="en-US" sz="1100">
                <a:solidFill>
                  <a:schemeClr val="accent4"/>
                </a:solidFill>
              </a:rPr>
              <a:t>Fast &amp; efficient data path</a:t>
            </a:r>
          </a:p>
        </p:txBody>
      </p:sp>
      <p:grpSp>
        <p:nvGrpSpPr>
          <p:cNvPr id="80" name="Picture Placeholder 75" descr="AI Engineer&#10;">
            <a:extLst>
              <a:ext uri="{FF2B5EF4-FFF2-40B4-BE49-F238E27FC236}">
                <a16:creationId xmlns:a16="http://schemas.microsoft.com/office/drawing/2014/main" id="{50DC5883-71FE-E6BE-4F07-9AA7E2A65EBF}"/>
              </a:ext>
            </a:extLst>
          </p:cNvPr>
          <p:cNvGrpSpPr/>
          <p:nvPr/>
        </p:nvGrpSpPr>
        <p:grpSpPr>
          <a:xfrm>
            <a:off x="7298596" y="1738294"/>
            <a:ext cx="450606" cy="398187"/>
            <a:chOff x="1857821" y="775295"/>
            <a:chExt cx="592615" cy="523676"/>
          </a:xfrm>
          <a:solidFill>
            <a:schemeClr val="accent4"/>
          </a:solidFill>
        </p:grpSpPr>
        <p:sp>
          <p:nvSpPr>
            <p:cNvPr id="81" name="Picture Placeholder 75">
              <a:extLst>
                <a:ext uri="{FF2B5EF4-FFF2-40B4-BE49-F238E27FC236}">
                  <a16:creationId xmlns:a16="http://schemas.microsoft.com/office/drawing/2014/main" id="{72F7666F-820E-C300-A3DB-9EDA4F02D88F}"/>
                </a:ext>
              </a:extLst>
            </p:cNvPr>
            <p:cNvSpPr/>
            <p:nvPr/>
          </p:nvSpPr>
          <p:spPr>
            <a:xfrm>
              <a:off x="2112070" y="775295"/>
              <a:ext cx="338366" cy="418688"/>
            </a:xfrm>
            <a:custGeom>
              <a:avLst/>
              <a:gdLst>
                <a:gd name="connsiteX0" fmla="*/ 0 w 338366"/>
                <a:gd name="connsiteY0" fmla="*/ 0 h 418688"/>
                <a:gd name="connsiteX1" fmla="*/ 0 w 338366"/>
                <a:gd name="connsiteY1" fmla="*/ 39845 h 418688"/>
                <a:gd name="connsiteX2" fmla="*/ 15812 w 338366"/>
                <a:gd name="connsiteY2" fmla="*/ 39845 h 418688"/>
                <a:gd name="connsiteX3" fmla="*/ 15812 w 338366"/>
                <a:gd name="connsiteY3" fmla="*/ 15812 h 418688"/>
                <a:gd name="connsiteX4" fmla="*/ 322555 w 338366"/>
                <a:gd name="connsiteY4" fmla="*/ 15812 h 418688"/>
                <a:gd name="connsiteX5" fmla="*/ 322555 w 338366"/>
                <a:gd name="connsiteY5" fmla="*/ 402877 h 418688"/>
                <a:gd name="connsiteX6" fmla="*/ 187208 w 338366"/>
                <a:gd name="connsiteY6" fmla="*/ 402877 h 418688"/>
                <a:gd name="connsiteX7" fmla="*/ 187208 w 338366"/>
                <a:gd name="connsiteY7" fmla="*/ 418689 h 418688"/>
                <a:gd name="connsiteX8" fmla="*/ 338366 w 338366"/>
                <a:gd name="connsiteY8" fmla="*/ 418689 h 418688"/>
                <a:gd name="connsiteX9" fmla="*/ 338366 w 338366"/>
                <a:gd name="connsiteY9" fmla="*/ 0 h 418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8366" h="418688">
                  <a:moveTo>
                    <a:pt x="0" y="0"/>
                  </a:moveTo>
                  <a:lnTo>
                    <a:pt x="0" y="39845"/>
                  </a:lnTo>
                  <a:lnTo>
                    <a:pt x="15812" y="39845"/>
                  </a:lnTo>
                  <a:lnTo>
                    <a:pt x="15812" y="15812"/>
                  </a:lnTo>
                  <a:lnTo>
                    <a:pt x="322555" y="15812"/>
                  </a:lnTo>
                  <a:lnTo>
                    <a:pt x="322555" y="402877"/>
                  </a:lnTo>
                  <a:lnTo>
                    <a:pt x="187208" y="402877"/>
                  </a:lnTo>
                  <a:lnTo>
                    <a:pt x="187208" y="418689"/>
                  </a:lnTo>
                  <a:lnTo>
                    <a:pt x="338366" y="418689"/>
                  </a:lnTo>
                  <a:lnTo>
                    <a:pt x="338366" y="0"/>
                  </a:lnTo>
                  <a:close/>
                </a:path>
              </a:pathLst>
            </a:custGeom>
            <a:grpFill/>
            <a:ln w="6271" cap="flat">
              <a:noFill/>
              <a:prstDash val="solid"/>
              <a:miter/>
            </a:ln>
          </p:spPr>
          <p:txBody>
            <a:bodyPr rtlCol="0" anchor="ctr"/>
            <a:lstStyle/>
            <a:p>
              <a:endParaRPr lang="en-US"/>
            </a:p>
          </p:txBody>
        </p:sp>
        <p:grpSp>
          <p:nvGrpSpPr>
            <p:cNvPr id="82" name="Picture Placeholder 75">
              <a:extLst>
                <a:ext uri="{FF2B5EF4-FFF2-40B4-BE49-F238E27FC236}">
                  <a16:creationId xmlns:a16="http://schemas.microsoft.com/office/drawing/2014/main" id="{9107BD86-AC43-6064-6DD4-E4559EF4F9DE}"/>
                </a:ext>
              </a:extLst>
            </p:cNvPr>
            <p:cNvGrpSpPr/>
            <p:nvPr/>
          </p:nvGrpSpPr>
          <p:grpSpPr>
            <a:xfrm>
              <a:off x="1857821" y="834114"/>
              <a:ext cx="418056" cy="464858"/>
              <a:chOff x="1857821" y="834114"/>
              <a:chExt cx="418056" cy="464858"/>
            </a:xfrm>
            <a:grpFill/>
          </p:grpSpPr>
          <p:sp>
            <p:nvSpPr>
              <p:cNvPr id="90" name="Picture Placeholder 75">
                <a:extLst>
                  <a:ext uri="{FF2B5EF4-FFF2-40B4-BE49-F238E27FC236}">
                    <a16:creationId xmlns:a16="http://schemas.microsoft.com/office/drawing/2014/main" id="{F6035021-A340-8BD6-4924-32514C30A722}"/>
                  </a:ext>
                </a:extLst>
              </p:cNvPr>
              <p:cNvSpPr/>
              <p:nvPr/>
            </p:nvSpPr>
            <p:spPr>
              <a:xfrm>
                <a:off x="1857821" y="1083936"/>
                <a:ext cx="418056" cy="215036"/>
              </a:xfrm>
              <a:custGeom>
                <a:avLst/>
                <a:gdLst>
                  <a:gd name="connsiteX0" fmla="*/ 209344 w 418056"/>
                  <a:gd name="connsiteY0" fmla="*/ 15812 h 215036"/>
                  <a:gd name="connsiteX1" fmla="*/ 396552 w 418056"/>
                  <a:gd name="connsiteY1" fmla="*/ 106253 h 215036"/>
                  <a:gd name="connsiteX2" fmla="*/ 401612 w 418056"/>
                  <a:gd name="connsiteY2" fmla="*/ 120167 h 215036"/>
                  <a:gd name="connsiteX3" fmla="*/ 401612 w 418056"/>
                  <a:gd name="connsiteY3" fmla="*/ 179619 h 215036"/>
                  <a:gd name="connsiteX4" fmla="*/ 383271 w 418056"/>
                  <a:gd name="connsiteY4" fmla="*/ 199225 h 215036"/>
                  <a:gd name="connsiteX5" fmla="*/ 34153 w 418056"/>
                  <a:gd name="connsiteY5" fmla="*/ 199225 h 215036"/>
                  <a:gd name="connsiteX6" fmla="*/ 15812 w 418056"/>
                  <a:gd name="connsiteY6" fmla="*/ 179619 h 215036"/>
                  <a:gd name="connsiteX7" fmla="*/ 15812 w 418056"/>
                  <a:gd name="connsiteY7" fmla="*/ 120167 h 215036"/>
                  <a:gd name="connsiteX8" fmla="*/ 20871 w 418056"/>
                  <a:gd name="connsiteY8" fmla="*/ 106253 h 215036"/>
                  <a:gd name="connsiteX9" fmla="*/ 31623 w 418056"/>
                  <a:gd name="connsiteY9" fmla="*/ 94869 h 215036"/>
                  <a:gd name="connsiteX10" fmla="*/ 209344 w 418056"/>
                  <a:gd name="connsiteY10" fmla="*/ 15812 h 215036"/>
                  <a:gd name="connsiteX11" fmla="*/ 209344 w 418056"/>
                  <a:gd name="connsiteY11" fmla="*/ 0 h 215036"/>
                  <a:gd name="connsiteX12" fmla="*/ 20239 w 418056"/>
                  <a:gd name="connsiteY12" fmla="*/ 83485 h 215036"/>
                  <a:gd name="connsiteX13" fmla="*/ 8854 w 418056"/>
                  <a:gd name="connsiteY13" fmla="*/ 95501 h 215036"/>
                  <a:gd name="connsiteX14" fmla="*/ 0 w 418056"/>
                  <a:gd name="connsiteY14" fmla="*/ 120167 h 215036"/>
                  <a:gd name="connsiteX15" fmla="*/ 0 w 418056"/>
                  <a:gd name="connsiteY15" fmla="*/ 179619 h 215036"/>
                  <a:gd name="connsiteX16" fmla="*/ 34153 w 418056"/>
                  <a:gd name="connsiteY16" fmla="*/ 215036 h 215036"/>
                  <a:gd name="connsiteX17" fmla="*/ 383903 w 418056"/>
                  <a:gd name="connsiteY17" fmla="*/ 215036 h 215036"/>
                  <a:gd name="connsiteX18" fmla="*/ 418056 w 418056"/>
                  <a:gd name="connsiteY18" fmla="*/ 179619 h 215036"/>
                  <a:gd name="connsiteX19" fmla="*/ 418056 w 418056"/>
                  <a:gd name="connsiteY19" fmla="*/ 120167 h 215036"/>
                  <a:gd name="connsiteX20" fmla="*/ 409202 w 418056"/>
                  <a:gd name="connsiteY20" fmla="*/ 95501 h 215036"/>
                  <a:gd name="connsiteX21" fmla="*/ 209344 w 418056"/>
                  <a:gd name="connsiteY21" fmla="*/ 0 h 215036"/>
                  <a:gd name="connsiteX22" fmla="*/ 209344 w 418056"/>
                  <a:gd name="connsiteY22" fmla="*/ 0 h 21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18056" h="215036">
                    <a:moveTo>
                      <a:pt x="209344" y="15812"/>
                    </a:moveTo>
                    <a:cubicBezTo>
                      <a:pt x="277650" y="15812"/>
                      <a:pt x="344058" y="48067"/>
                      <a:pt x="396552" y="106253"/>
                    </a:cubicBezTo>
                    <a:cubicBezTo>
                      <a:pt x="399715" y="110048"/>
                      <a:pt x="401612" y="115108"/>
                      <a:pt x="401612" y="120167"/>
                    </a:cubicBezTo>
                    <a:lnTo>
                      <a:pt x="401612" y="179619"/>
                    </a:lnTo>
                    <a:cubicBezTo>
                      <a:pt x="401612" y="190370"/>
                      <a:pt x="393390" y="199225"/>
                      <a:pt x="383271" y="199225"/>
                    </a:cubicBezTo>
                    <a:lnTo>
                      <a:pt x="34153" y="199225"/>
                    </a:lnTo>
                    <a:cubicBezTo>
                      <a:pt x="24033" y="199225"/>
                      <a:pt x="15812" y="190370"/>
                      <a:pt x="15812" y="179619"/>
                    </a:cubicBezTo>
                    <a:lnTo>
                      <a:pt x="15812" y="120167"/>
                    </a:lnTo>
                    <a:cubicBezTo>
                      <a:pt x="15812" y="115108"/>
                      <a:pt x="17709" y="110048"/>
                      <a:pt x="20871" y="106253"/>
                    </a:cubicBezTo>
                    <a:cubicBezTo>
                      <a:pt x="24033" y="102459"/>
                      <a:pt x="27828" y="98664"/>
                      <a:pt x="31623" y="94869"/>
                    </a:cubicBezTo>
                    <a:cubicBezTo>
                      <a:pt x="84117" y="43007"/>
                      <a:pt x="145466" y="15812"/>
                      <a:pt x="209344" y="15812"/>
                    </a:cubicBezTo>
                    <a:moveTo>
                      <a:pt x="209344" y="0"/>
                    </a:moveTo>
                    <a:cubicBezTo>
                      <a:pt x="142936" y="0"/>
                      <a:pt x="76528" y="27828"/>
                      <a:pt x="20239" y="83485"/>
                    </a:cubicBezTo>
                    <a:cubicBezTo>
                      <a:pt x="16444" y="87280"/>
                      <a:pt x="12649" y="91074"/>
                      <a:pt x="8854" y="95501"/>
                    </a:cubicBezTo>
                    <a:cubicBezTo>
                      <a:pt x="3162" y="101826"/>
                      <a:pt x="0" y="110681"/>
                      <a:pt x="0" y="120167"/>
                    </a:cubicBezTo>
                    <a:lnTo>
                      <a:pt x="0" y="179619"/>
                    </a:lnTo>
                    <a:cubicBezTo>
                      <a:pt x="0" y="199225"/>
                      <a:pt x="15179" y="215036"/>
                      <a:pt x="34153" y="215036"/>
                    </a:cubicBezTo>
                    <a:lnTo>
                      <a:pt x="383903" y="215036"/>
                    </a:lnTo>
                    <a:cubicBezTo>
                      <a:pt x="402877" y="215036"/>
                      <a:pt x="418056" y="199225"/>
                      <a:pt x="418056" y="179619"/>
                    </a:cubicBezTo>
                    <a:lnTo>
                      <a:pt x="418056" y="120167"/>
                    </a:lnTo>
                    <a:cubicBezTo>
                      <a:pt x="418056" y="111313"/>
                      <a:pt x="414894" y="102459"/>
                      <a:pt x="409202" y="95501"/>
                    </a:cubicBezTo>
                    <a:cubicBezTo>
                      <a:pt x="351648" y="32255"/>
                      <a:pt x="280812" y="0"/>
                      <a:pt x="209344" y="0"/>
                    </a:cubicBezTo>
                    <a:lnTo>
                      <a:pt x="209344" y="0"/>
                    </a:lnTo>
                    <a:close/>
                  </a:path>
                </a:pathLst>
              </a:custGeom>
              <a:grpFill/>
              <a:ln w="6271" cap="flat">
                <a:noFill/>
                <a:prstDash val="solid"/>
                <a:miter/>
              </a:ln>
            </p:spPr>
            <p:txBody>
              <a:bodyPr rtlCol="0" anchor="ctr"/>
              <a:lstStyle/>
              <a:p>
                <a:endParaRPr lang="en-US"/>
              </a:p>
            </p:txBody>
          </p:sp>
          <p:sp>
            <p:nvSpPr>
              <p:cNvPr id="91" name="Picture Placeholder 75">
                <a:extLst>
                  <a:ext uri="{FF2B5EF4-FFF2-40B4-BE49-F238E27FC236}">
                    <a16:creationId xmlns:a16="http://schemas.microsoft.com/office/drawing/2014/main" id="{97886DA9-364C-B0BF-39D5-036A822849F3}"/>
                  </a:ext>
                </a:extLst>
              </p:cNvPr>
              <p:cNvSpPr/>
              <p:nvPr/>
            </p:nvSpPr>
            <p:spPr>
              <a:xfrm>
                <a:off x="1947630" y="834114"/>
                <a:ext cx="237804" cy="237804"/>
              </a:xfrm>
              <a:custGeom>
                <a:avLst/>
                <a:gdLst>
                  <a:gd name="connsiteX0" fmla="*/ 118902 w 237804"/>
                  <a:gd name="connsiteY0" fmla="*/ 15811 h 237804"/>
                  <a:gd name="connsiteX1" fmla="*/ 221993 w 237804"/>
                  <a:gd name="connsiteY1" fmla="*/ 118902 h 237804"/>
                  <a:gd name="connsiteX2" fmla="*/ 118902 w 237804"/>
                  <a:gd name="connsiteY2" fmla="*/ 221993 h 237804"/>
                  <a:gd name="connsiteX3" fmla="*/ 15812 w 237804"/>
                  <a:gd name="connsiteY3" fmla="*/ 118902 h 237804"/>
                  <a:gd name="connsiteX4" fmla="*/ 118902 w 237804"/>
                  <a:gd name="connsiteY4" fmla="*/ 15811 h 237804"/>
                  <a:gd name="connsiteX5" fmla="*/ 118902 w 237804"/>
                  <a:gd name="connsiteY5" fmla="*/ 0 h 237804"/>
                  <a:gd name="connsiteX6" fmla="*/ 0 w 237804"/>
                  <a:gd name="connsiteY6" fmla="*/ 118902 h 237804"/>
                  <a:gd name="connsiteX7" fmla="*/ 118902 w 237804"/>
                  <a:gd name="connsiteY7" fmla="*/ 237805 h 237804"/>
                  <a:gd name="connsiteX8" fmla="*/ 237805 w 237804"/>
                  <a:gd name="connsiteY8" fmla="*/ 118902 h 237804"/>
                  <a:gd name="connsiteX9" fmla="*/ 118902 w 237804"/>
                  <a:gd name="connsiteY9" fmla="*/ 0 h 237804"/>
                  <a:gd name="connsiteX10" fmla="*/ 118902 w 237804"/>
                  <a:gd name="connsiteY10" fmla="*/ 0 h 23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7804" h="237804">
                    <a:moveTo>
                      <a:pt x="118902" y="15811"/>
                    </a:moveTo>
                    <a:cubicBezTo>
                      <a:pt x="175824" y="15811"/>
                      <a:pt x="221993" y="61981"/>
                      <a:pt x="221993" y="118902"/>
                    </a:cubicBezTo>
                    <a:cubicBezTo>
                      <a:pt x="221993" y="175824"/>
                      <a:pt x="175824" y="221993"/>
                      <a:pt x="118902" y="221993"/>
                    </a:cubicBezTo>
                    <a:cubicBezTo>
                      <a:pt x="61981" y="221993"/>
                      <a:pt x="15812" y="175824"/>
                      <a:pt x="15812" y="118902"/>
                    </a:cubicBezTo>
                    <a:cubicBezTo>
                      <a:pt x="16444" y="61981"/>
                      <a:pt x="62614" y="15811"/>
                      <a:pt x="118902" y="15811"/>
                    </a:cubicBezTo>
                    <a:moveTo>
                      <a:pt x="118902" y="0"/>
                    </a:moveTo>
                    <a:cubicBezTo>
                      <a:pt x="53127" y="0"/>
                      <a:pt x="0" y="53127"/>
                      <a:pt x="0" y="118902"/>
                    </a:cubicBezTo>
                    <a:cubicBezTo>
                      <a:pt x="0" y="184678"/>
                      <a:pt x="53127" y="237805"/>
                      <a:pt x="118902" y="237805"/>
                    </a:cubicBezTo>
                    <a:cubicBezTo>
                      <a:pt x="184678" y="237805"/>
                      <a:pt x="237805" y="184678"/>
                      <a:pt x="237805" y="118902"/>
                    </a:cubicBezTo>
                    <a:cubicBezTo>
                      <a:pt x="237805" y="53127"/>
                      <a:pt x="184678" y="0"/>
                      <a:pt x="118902" y="0"/>
                    </a:cubicBezTo>
                    <a:lnTo>
                      <a:pt x="118902" y="0"/>
                    </a:lnTo>
                    <a:close/>
                  </a:path>
                </a:pathLst>
              </a:custGeom>
              <a:grpFill/>
              <a:ln w="6271" cap="flat">
                <a:noFill/>
                <a:prstDash val="solid"/>
                <a:miter/>
              </a:ln>
            </p:spPr>
            <p:txBody>
              <a:bodyPr rtlCol="0" anchor="ctr"/>
              <a:lstStyle/>
              <a:p>
                <a:endParaRPr lang="en-US"/>
              </a:p>
            </p:txBody>
          </p:sp>
        </p:grpSp>
        <p:grpSp>
          <p:nvGrpSpPr>
            <p:cNvPr id="83" name="Picture Placeholder 75">
              <a:extLst>
                <a:ext uri="{FF2B5EF4-FFF2-40B4-BE49-F238E27FC236}">
                  <a16:creationId xmlns:a16="http://schemas.microsoft.com/office/drawing/2014/main" id="{D263F226-DD89-874B-A451-B2FCDD2C3129}"/>
                </a:ext>
              </a:extLst>
            </p:cNvPr>
            <p:cNvGrpSpPr/>
            <p:nvPr/>
          </p:nvGrpSpPr>
          <p:grpSpPr>
            <a:xfrm>
              <a:off x="2210279" y="884079"/>
              <a:ext cx="204739" cy="191635"/>
              <a:chOff x="2210279" y="884079"/>
              <a:chExt cx="204739" cy="191635"/>
            </a:xfrm>
            <a:grpFill/>
          </p:grpSpPr>
          <p:grpSp>
            <p:nvGrpSpPr>
              <p:cNvPr id="84" name="Picture Placeholder 75">
                <a:extLst>
                  <a:ext uri="{FF2B5EF4-FFF2-40B4-BE49-F238E27FC236}">
                    <a16:creationId xmlns:a16="http://schemas.microsoft.com/office/drawing/2014/main" id="{18457FCD-5DC5-CF6F-801C-5EE0978467DB}"/>
                  </a:ext>
                </a:extLst>
              </p:cNvPr>
              <p:cNvGrpSpPr/>
              <p:nvPr/>
            </p:nvGrpSpPr>
            <p:grpSpPr>
              <a:xfrm>
                <a:off x="2210279" y="885344"/>
                <a:ext cx="102913" cy="189737"/>
                <a:chOff x="2210279" y="885344"/>
                <a:chExt cx="102913" cy="189737"/>
              </a:xfrm>
              <a:grpFill/>
            </p:grpSpPr>
            <p:sp>
              <p:nvSpPr>
                <p:cNvPr id="87" name="Picture Placeholder 75">
                  <a:extLst>
                    <a:ext uri="{FF2B5EF4-FFF2-40B4-BE49-F238E27FC236}">
                      <a16:creationId xmlns:a16="http://schemas.microsoft.com/office/drawing/2014/main" id="{B2610A5C-6476-5F97-89BA-A6C62F01A24B}"/>
                    </a:ext>
                  </a:extLst>
                </p:cNvPr>
                <p:cNvSpPr/>
                <p:nvPr/>
              </p:nvSpPr>
              <p:spPr>
                <a:xfrm>
                  <a:off x="2210459" y="913669"/>
                  <a:ext cx="57828" cy="71602"/>
                </a:xfrm>
                <a:custGeom>
                  <a:avLst/>
                  <a:gdLst>
                    <a:gd name="connsiteX0" fmla="*/ 8497 w 57828"/>
                    <a:gd name="connsiteY0" fmla="*/ 71603 h 71602"/>
                    <a:gd name="connsiteX1" fmla="*/ 275 w 57828"/>
                    <a:gd name="connsiteY1" fmla="*/ 41245 h 71602"/>
                    <a:gd name="connsiteX2" fmla="*/ 48974 w 57828"/>
                    <a:gd name="connsiteY2" fmla="*/ 135 h 71602"/>
                    <a:gd name="connsiteX3" fmla="*/ 57829 w 57828"/>
                    <a:gd name="connsiteY3" fmla="*/ 2032 h 71602"/>
                    <a:gd name="connsiteX4" fmla="*/ 53402 w 57828"/>
                    <a:gd name="connsiteY4" fmla="*/ 17211 h 71602"/>
                    <a:gd name="connsiteX5" fmla="*/ 47709 w 57828"/>
                    <a:gd name="connsiteY5" fmla="*/ 15946 h 71602"/>
                    <a:gd name="connsiteX6" fmla="*/ 16086 w 57828"/>
                    <a:gd name="connsiteY6" fmla="*/ 42510 h 71602"/>
                    <a:gd name="connsiteX7" fmla="*/ 21779 w 57828"/>
                    <a:gd name="connsiteY7" fmla="*/ 62116 h 71602"/>
                    <a:gd name="connsiteX8" fmla="*/ 8497 w 57828"/>
                    <a:gd name="connsiteY8" fmla="*/ 71603 h 7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828" h="71602">
                      <a:moveTo>
                        <a:pt x="8497" y="71603"/>
                      </a:moveTo>
                      <a:cubicBezTo>
                        <a:pt x="2172" y="62748"/>
                        <a:pt x="-990" y="51997"/>
                        <a:pt x="275" y="41245"/>
                      </a:cubicBezTo>
                      <a:cubicBezTo>
                        <a:pt x="2172" y="16579"/>
                        <a:pt x="24308" y="-1762"/>
                        <a:pt x="48974" y="135"/>
                      </a:cubicBezTo>
                      <a:cubicBezTo>
                        <a:pt x="52137" y="135"/>
                        <a:pt x="55299" y="767"/>
                        <a:pt x="57829" y="2032"/>
                      </a:cubicBezTo>
                      <a:lnTo>
                        <a:pt x="53402" y="17211"/>
                      </a:lnTo>
                      <a:cubicBezTo>
                        <a:pt x="51504" y="16579"/>
                        <a:pt x="49607" y="16579"/>
                        <a:pt x="47709" y="15946"/>
                      </a:cubicBezTo>
                      <a:cubicBezTo>
                        <a:pt x="31898" y="14681"/>
                        <a:pt x="17351" y="26698"/>
                        <a:pt x="16086" y="42510"/>
                      </a:cubicBezTo>
                      <a:cubicBezTo>
                        <a:pt x="15454" y="49467"/>
                        <a:pt x="17351" y="56424"/>
                        <a:pt x="21779" y="62116"/>
                      </a:cubicBezTo>
                      <a:lnTo>
                        <a:pt x="8497" y="71603"/>
                      </a:lnTo>
                      <a:close/>
                    </a:path>
                  </a:pathLst>
                </a:custGeom>
                <a:grpFill/>
                <a:ln w="6271" cap="flat">
                  <a:noFill/>
                  <a:prstDash val="solid"/>
                  <a:miter/>
                </a:ln>
              </p:spPr>
              <p:txBody>
                <a:bodyPr rtlCol="0" anchor="ctr"/>
                <a:lstStyle/>
                <a:p>
                  <a:endParaRPr lang="en-US"/>
                </a:p>
              </p:txBody>
            </p:sp>
            <p:sp>
              <p:nvSpPr>
                <p:cNvPr id="88" name="Picture Placeholder 75">
                  <a:extLst>
                    <a:ext uri="{FF2B5EF4-FFF2-40B4-BE49-F238E27FC236}">
                      <a16:creationId xmlns:a16="http://schemas.microsoft.com/office/drawing/2014/main" id="{74843DBC-AB7B-21F6-6D3B-CE4023CBDE94}"/>
                    </a:ext>
                  </a:extLst>
                </p:cNvPr>
                <p:cNvSpPr/>
                <p:nvPr/>
              </p:nvSpPr>
              <p:spPr>
                <a:xfrm>
                  <a:off x="2210279" y="957444"/>
                  <a:ext cx="37137" cy="85382"/>
                </a:xfrm>
                <a:custGeom>
                  <a:avLst/>
                  <a:gdLst>
                    <a:gd name="connsiteX0" fmla="*/ 31446 w 37137"/>
                    <a:gd name="connsiteY0" fmla="*/ 85382 h 85382"/>
                    <a:gd name="connsiteX1" fmla="*/ 6780 w 37137"/>
                    <a:gd name="connsiteY1" fmla="*/ 65776 h 85382"/>
                    <a:gd name="connsiteX2" fmla="*/ 21326 w 37137"/>
                    <a:gd name="connsiteY2" fmla="*/ 3795 h 85382"/>
                    <a:gd name="connsiteX3" fmla="*/ 29548 w 37137"/>
                    <a:gd name="connsiteY3" fmla="*/ 0 h 85382"/>
                    <a:gd name="connsiteX4" fmla="*/ 35240 w 37137"/>
                    <a:gd name="connsiteY4" fmla="*/ 14547 h 85382"/>
                    <a:gd name="connsiteX5" fmla="*/ 30181 w 37137"/>
                    <a:gd name="connsiteY5" fmla="*/ 17076 h 85382"/>
                    <a:gd name="connsiteX6" fmla="*/ 20694 w 37137"/>
                    <a:gd name="connsiteY6" fmla="*/ 57554 h 85382"/>
                    <a:gd name="connsiteX7" fmla="*/ 37138 w 37137"/>
                    <a:gd name="connsiteY7" fmla="*/ 70203 h 85382"/>
                    <a:gd name="connsiteX8" fmla="*/ 31446 w 37137"/>
                    <a:gd name="connsiteY8" fmla="*/ 85382 h 8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37" h="85382">
                      <a:moveTo>
                        <a:pt x="31446" y="85382"/>
                      </a:moveTo>
                      <a:cubicBezTo>
                        <a:pt x="21326" y="82220"/>
                        <a:pt x="12472" y="75263"/>
                        <a:pt x="6780" y="65776"/>
                      </a:cubicBezTo>
                      <a:cubicBezTo>
                        <a:pt x="-6502" y="44905"/>
                        <a:pt x="455" y="17076"/>
                        <a:pt x="21326" y="3795"/>
                      </a:cubicBezTo>
                      <a:cubicBezTo>
                        <a:pt x="23856" y="1897"/>
                        <a:pt x="26386" y="632"/>
                        <a:pt x="29548" y="0"/>
                      </a:cubicBezTo>
                      <a:lnTo>
                        <a:pt x="35240" y="14547"/>
                      </a:lnTo>
                      <a:cubicBezTo>
                        <a:pt x="33343" y="15179"/>
                        <a:pt x="31446" y="15812"/>
                        <a:pt x="30181" y="17076"/>
                      </a:cubicBezTo>
                      <a:cubicBezTo>
                        <a:pt x="16267" y="25298"/>
                        <a:pt x="12472" y="43640"/>
                        <a:pt x="20694" y="57554"/>
                      </a:cubicBezTo>
                      <a:cubicBezTo>
                        <a:pt x="24489" y="63246"/>
                        <a:pt x="30181" y="67673"/>
                        <a:pt x="37138" y="70203"/>
                      </a:cubicBezTo>
                      <a:lnTo>
                        <a:pt x="31446" y="85382"/>
                      </a:lnTo>
                      <a:close/>
                    </a:path>
                  </a:pathLst>
                </a:custGeom>
                <a:grpFill/>
                <a:ln w="6271" cap="flat">
                  <a:noFill/>
                  <a:prstDash val="solid"/>
                  <a:miter/>
                </a:ln>
              </p:spPr>
              <p:txBody>
                <a:bodyPr rtlCol="0" anchor="ctr"/>
                <a:lstStyle/>
                <a:p>
                  <a:endParaRPr lang="en-US"/>
                </a:p>
              </p:txBody>
            </p:sp>
            <p:sp>
              <p:nvSpPr>
                <p:cNvPr id="89" name="Picture Placeholder 75">
                  <a:extLst>
                    <a:ext uri="{FF2B5EF4-FFF2-40B4-BE49-F238E27FC236}">
                      <a16:creationId xmlns:a16="http://schemas.microsoft.com/office/drawing/2014/main" id="{4E957C7E-7E3F-C335-AF1D-B11E1F56F8C0}"/>
                    </a:ext>
                  </a:extLst>
                </p:cNvPr>
                <p:cNvSpPr/>
                <p:nvPr/>
              </p:nvSpPr>
              <p:spPr>
                <a:xfrm>
                  <a:off x="2237297" y="885344"/>
                  <a:ext cx="75895" cy="189737"/>
                </a:xfrm>
                <a:custGeom>
                  <a:avLst/>
                  <a:gdLst>
                    <a:gd name="connsiteX0" fmla="*/ 44905 w 75895"/>
                    <a:gd name="connsiteY0" fmla="*/ 189738 h 189737"/>
                    <a:gd name="connsiteX1" fmla="*/ 0 w 75895"/>
                    <a:gd name="connsiteY1" fmla="*/ 144833 h 189737"/>
                    <a:gd name="connsiteX2" fmla="*/ 15812 w 75895"/>
                    <a:gd name="connsiteY2" fmla="*/ 144833 h 189737"/>
                    <a:gd name="connsiteX3" fmla="*/ 44905 w 75895"/>
                    <a:gd name="connsiteY3" fmla="*/ 173926 h 189737"/>
                    <a:gd name="connsiteX4" fmla="*/ 59451 w 75895"/>
                    <a:gd name="connsiteY4" fmla="*/ 170132 h 189737"/>
                    <a:gd name="connsiteX5" fmla="*/ 59451 w 75895"/>
                    <a:gd name="connsiteY5" fmla="*/ 19606 h 189737"/>
                    <a:gd name="connsiteX6" fmla="*/ 44905 w 75895"/>
                    <a:gd name="connsiteY6" fmla="*/ 15812 h 189737"/>
                    <a:gd name="connsiteX7" fmla="*/ 16444 w 75895"/>
                    <a:gd name="connsiteY7" fmla="*/ 39213 h 189737"/>
                    <a:gd name="connsiteX8" fmla="*/ 1265 w 75895"/>
                    <a:gd name="connsiteY8" fmla="*/ 36050 h 189737"/>
                    <a:gd name="connsiteX9" fmla="*/ 45537 w 75895"/>
                    <a:gd name="connsiteY9" fmla="*/ 0 h 189737"/>
                    <a:gd name="connsiteX10" fmla="*/ 72733 w 75895"/>
                    <a:gd name="connsiteY10" fmla="*/ 9487 h 189737"/>
                    <a:gd name="connsiteX11" fmla="*/ 75895 w 75895"/>
                    <a:gd name="connsiteY11" fmla="*/ 12017 h 189737"/>
                    <a:gd name="connsiteX12" fmla="*/ 75895 w 75895"/>
                    <a:gd name="connsiteY12" fmla="*/ 178986 h 189737"/>
                    <a:gd name="connsiteX13" fmla="*/ 72733 w 75895"/>
                    <a:gd name="connsiteY13" fmla="*/ 181516 h 189737"/>
                    <a:gd name="connsiteX14" fmla="*/ 44905 w 75895"/>
                    <a:gd name="connsiteY14" fmla="*/ 189738 h 189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895" h="189737">
                      <a:moveTo>
                        <a:pt x="44905" y="189738"/>
                      </a:moveTo>
                      <a:cubicBezTo>
                        <a:pt x="20239" y="189738"/>
                        <a:pt x="0" y="169499"/>
                        <a:pt x="0" y="144833"/>
                      </a:cubicBezTo>
                      <a:lnTo>
                        <a:pt x="15812" y="144833"/>
                      </a:lnTo>
                      <a:cubicBezTo>
                        <a:pt x="15812" y="160645"/>
                        <a:pt x="29093" y="173926"/>
                        <a:pt x="44905" y="173926"/>
                      </a:cubicBezTo>
                      <a:cubicBezTo>
                        <a:pt x="49964" y="173926"/>
                        <a:pt x="55024" y="172662"/>
                        <a:pt x="59451" y="170132"/>
                      </a:cubicBezTo>
                      <a:lnTo>
                        <a:pt x="59451" y="19606"/>
                      </a:lnTo>
                      <a:cubicBezTo>
                        <a:pt x="55024" y="17076"/>
                        <a:pt x="49964" y="15812"/>
                        <a:pt x="44905" y="15812"/>
                      </a:cubicBezTo>
                      <a:cubicBezTo>
                        <a:pt x="30991" y="15812"/>
                        <a:pt x="18974" y="25931"/>
                        <a:pt x="16444" y="39213"/>
                      </a:cubicBezTo>
                      <a:lnTo>
                        <a:pt x="1265" y="36050"/>
                      </a:lnTo>
                      <a:cubicBezTo>
                        <a:pt x="5692" y="15179"/>
                        <a:pt x="24033" y="0"/>
                        <a:pt x="45537" y="0"/>
                      </a:cubicBezTo>
                      <a:cubicBezTo>
                        <a:pt x="55656" y="0"/>
                        <a:pt x="65143" y="3162"/>
                        <a:pt x="72733" y="9487"/>
                      </a:cubicBezTo>
                      <a:lnTo>
                        <a:pt x="75895" y="12017"/>
                      </a:lnTo>
                      <a:lnTo>
                        <a:pt x="75895" y="178986"/>
                      </a:lnTo>
                      <a:lnTo>
                        <a:pt x="72733" y="181516"/>
                      </a:lnTo>
                      <a:cubicBezTo>
                        <a:pt x="64511" y="186576"/>
                        <a:pt x="55024" y="189738"/>
                        <a:pt x="44905" y="189738"/>
                      </a:cubicBezTo>
                      <a:close/>
                    </a:path>
                  </a:pathLst>
                </a:custGeom>
                <a:grpFill/>
                <a:ln w="6271" cap="flat">
                  <a:noFill/>
                  <a:prstDash val="solid"/>
                  <a:miter/>
                </a:ln>
              </p:spPr>
              <p:txBody>
                <a:bodyPr rtlCol="0" anchor="ctr"/>
                <a:lstStyle/>
                <a:p>
                  <a:endParaRPr lang="en-US"/>
                </a:p>
              </p:txBody>
            </p:sp>
          </p:grpSp>
          <p:sp>
            <p:nvSpPr>
              <p:cNvPr id="85" name="Picture Placeholder 75">
                <a:extLst>
                  <a:ext uri="{FF2B5EF4-FFF2-40B4-BE49-F238E27FC236}">
                    <a16:creationId xmlns:a16="http://schemas.microsoft.com/office/drawing/2014/main" id="{5A6D805B-77C6-68F1-47D4-261CD10F7CB1}"/>
                  </a:ext>
                </a:extLst>
              </p:cNvPr>
              <p:cNvSpPr/>
              <p:nvPr/>
            </p:nvSpPr>
            <p:spPr>
              <a:xfrm>
                <a:off x="2301808" y="884079"/>
                <a:ext cx="113210" cy="191635"/>
              </a:xfrm>
              <a:custGeom>
                <a:avLst/>
                <a:gdLst>
                  <a:gd name="connsiteX0" fmla="*/ 35418 w 113210"/>
                  <a:gd name="connsiteY0" fmla="*/ 191635 h 191635"/>
                  <a:gd name="connsiteX1" fmla="*/ 632 w 113210"/>
                  <a:gd name="connsiteY1" fmla="*/ 191635 h 191635"/>
                  <a:gd name="connsiteX2" fmla="*/ 632 w 113210"/>
                  <a:gd name="connsiteY2" fmla="*/ 175824 h 191635"/>
                  <a:gd name="connsiteX3" fmla="*/ 24666 w 113210"/>
                  <a:gd name="connsiteY3" fmla="*/ 175824 h 191635"/>
                  <a:gd name="connsiteX4" fmla="*/ 31623 w 113210"/>
                  <a:gd name="connsiteY4" fmla="*/ 157483 h 191635"/>
                  <a:gd name="connsiteX5" fmla="*/ 35418 w 113210"/>
                  <a:gd name="connsiteY5" fmla="*/ 156218 h 191635"/>
                  <a:gd name="connsiteX6" fmla="*/ 47435 w 113210"/>
                  <a:gd name="connsiteY6" fmla="*/ 151158 h 191635"/>
                  <a:gd name="connsiteX7" fmla="*/ 51229 w 113210"/>
                  <a:gd name="connsiteY7" fmla="*/ 148628 h 191635"/>
                  <a:gd name="connsiteX8" fmla="*/ 69571 w 113210"/>
                  <a:gd name="connsiteY8" fmla="*/ 156850 h 191635"/>
                  <a:gd name="connsiteX9" fmla="*/ 79058 w 113210"/>
                  <a:gd name="connsiteY9" fmla="*/ 147363 h 191635"/>
                  <a:gd name="connsiteX10" fmla="*/ 70836 w 113210"/>
                  <a:gd name="connsiteY10" fmla="*/ 129654 h 191635"/>
                  <a:gd name="connsiteX11" fmla="*/ 73365 w 113210"/>
                  <a:gd name="connsiteY11" fmla="*/ 125860 h 191635"/>
                  <a:gd name="connsiteX12" fmla="*/ 78425 w 113210"/>
                  <a:gd name="connsiteY12" fmla="*/ 113843 h 191635"/>
                  <a:gd name="connsiteX13" fmla="*/ 79690 w 113210"/>
                  <a:gd name="connsiteY13" fmla="*/ 110048 h 191635"/>
                  <a:gd name="connsiteX14" fmla="*/ 98031 w 113210"/>
                  <a:gd name="connsiteY14" fmla="*/ 103091 h 191635"/>
                  <a:gd name="connsiteX15" fmla="*/ 98031 w 113210"/>
                  <a:gd name="connsiteY15" fmla="*/ 89809 h 191635"/>
                  <a:gd name="connsiteX16" fmla="*/ 79690 w 113210"/>
                  <a:gd name="connsiteY16" fmla="*/ 82852 h 191635"/>
                  <a:gd name="connsiteX17" fmla="*/ 78425 w 113210"/>
                  <a:gd name="connsiteY17" fmla="*/ 78425 h 191635"/>
                  <a:gd name="connsiteX18" fmla="*/ 73365 w 113210"/>
                  <a:gd name="connsiteY18" fmla="*/ 65776 h 191635"/>
                  <a:gd name="connsiteX19" fmla="*/ 71468 w 113210"/>
                  <a:gd name="connsiteY19" fmla="*/ 61981 h 191635"/>
                  <a:gd name="connsiteX20" fmla="*/ 79690 w 113210"/>
                  <a:gd name="connsiteY20" fmla="*/ 43640 h 191635"/>
                  <a:gd name="connsiteX21" fmla="*/ 69571 w 113210"/>
                  <a:gd name="connsiteY21" fmla="*/ 34785 h 191635"/>
                  <a:gd name="connsiteX22" fmla="*/ 51229 w 113210"/>
                  <a:gd name="connsiteY22" fmla="*/ 43007 h 191635"/>
                  <a:gd name="connsiteX23" fmla="*/ 47435 w 113210"/>
                  <a:gd name="connsiteY23" fmla="*/ 40477 h 191635"/>
                  <a:gd name="connsiteX24" fmla="*/ 34153 w 113210"/>
                  <a:gd name="connsiteY24" fmla="*/ 34785 h 191635"/>
                  <a:gd name="connsiteX25" fmla="*/ 30991 w 113210"/>
                  <a:gd name="connsiteY25" fmla="*/ 33520 h 191635"/>
                  <a:gd name="connsiteX26" fmla="*/ 24034 w 113210"/>
                  <a:gd name="connsiteY26" fmla="*/ 15812 h 191635"/>
                  <a:gd name="connsiteX27" fmla="*/ 0 w 113210"/>
                  <a:gd name="connsiteY27" fmla="*/ 15812 h 191635"/>
                  <a:gd name="connsiteX28" fmla="*/ 0 w 113210"/>
                  <a:gd name="connsiteY28" fmla="*/ 0 h 191635"/>
                  <a:gd name="connsiteX29" fmla="*/ 34785 w 113210"/>
                  <a:gd name="connsiteY29" fmla="*/ 0 h 191635"/>
                  <a:gd name="connsiteX30" fmla="*/ 43007 w 113210"/>
                  <a:gd name="connsiteY30" fmla="*/ 21504 h 191635"/>
                  <a:gd name="connsiteX31" fmla="*/ 51862 w 113210"/>
                  <a:gd name="connsiteY31" fmla="*/ 25298 h 191635"/>
                  <a:gd name="connsiteX32" fmla="*/ 72733 w 113210"/>
                  <a:gd name="connsiteY32" fmla="*/ 15812 h 191635"/>
                  <a:gd name="connsiteX33" fmla="*/ 98031 w 113210"/>
                  <a:gd name="connsiteY33" fmla="*/ 39845 h 191635"/>
                  <a:gd name="connsiteX34" fmla="*/ 88544 w 113210"/>
                  <a:gd name="connsiteY34" fmla="*/ 60716 h 191635"/>
                  <a:gd name="connsiteX35" fmla="*/ 92339 w 113210"/>
                  <a:gd name="connsiteY35" fmla="*/ 69571 h 191635"/>
                  <a:gd name="connsiteX36" fmla="*/ 113210 w 113210"/>
                  <a:gd name="connsiteY36" fmla="*/ 77793 h 191635"/>
                  <a:gd name="connsiteX37" fmla="*/ 113210 w 113210"/>
                  <a:gd name="connsiteY37" fmla="*/ 112578 h 191635"/>
                  <a:gd name="connsiteX38" fmla="*/ 92339 w 113210"/>
                  <a:gd name="connsiteY38" fmla="*/ 120167 h 191635"/>
                  <a:gd name="connsiteX39" fmla="*/ 88544 w 113210"/>
                  <a:gd name="connsiteY39" fmla="*/ 129654 h 191635"/>
                  <a:gd name="connsiteX40" fmla="*/ 98031 w 113210"/>
                  <a:gd name="connsiteY40" fmla="*/ 150525 h 191635"/>
                  <a:gd name="connsiteX41" fmla="*/ 72733 w 113210"/>
                  <a:gd name="connsiteY41" fmla="*/ 175824 h 191635"/>
                  <a:gd name="connsiteX42" fmla="*/ 51862 w 113210"/>
                  <a:gd name="connsiteY42" fmla="*/ 166337 h 191635"/>
                  <a:gd name="connsiteX43" fmla="*/ 42375 w 113210"/>
                  <a:gd name="connsiteY43" fmla="*/ 170132 h 191635"/>
                  <a:gd name="connsiteX44" fmla="*/ 35418 w 113210"/>
                  <a:gd name="connsiteY44" fmla="*/ 191635 h 191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13210" h="191635">
                    <a:moveTo>
                      <a:pt x="35418" y="191635"/>
                    </a:moveTo>
                    <a:lnTo>
                      <a:pt x="632" y="191635"/>
                    </a:lnTo>
                    <a:lnTo>
                      <a:pt x="632" y="175824"/>
                    </a:lnTo>
                    <a:lnTo>
                      <a:pt x="24666" y="175824"/>
                    </a:lnTo>
                    <a:lnTo>
                      <a:pt x="31623" y="157483"/>
                    </a:lnTo>
                    <a:lnTo>
                      <a:pt x="35418" y="156218"/>
                    </a:lnTo>
                    <a:cubicBezTo>
                      <a:pt x="40477" y="154953"/>
                      <a:pt x="44905" y="153055"/>
                      <a:pt x="47435" y="151158"/>
                    </a:cubicBezTo>
                    <a:lnTo>
                      <a:pt x="51229" y="148628"/>
                    </a:lnTo>
                    <a:lnTo>
                      <a:pt x="69571" y="156850"/>
                    </a:lnTo>
                    <a:lnTo>
                      <a:pt x="79058" y="147363"/>
                    </a:lnTo>
                    <a:lnTo>
                      <a:pt x="70836" y="129654"/>
                    </a:lnTo>
                    <a:lnTo>
                      <a:pt x="73365" y="125860"/>
                    </a:lnTo>
                    <a:cubicBezTo>
                      <a:pt x="75263" y="122697"/>
                      <a:pt x="77160" y="118902"/>
                      <a:pt x="78425" y="113843"/>
                    </a:cubicBezTo>
                    <a:lnTo>
                      <a:pt x="79690" y="110048"/>
                    </a:lnTo>
                    <a:lnTo>
                      <a:pt x="98031" y="103091"/>
                    </a:lnTo>
                    <a:lnTo>
                      <a:pt x="98031" y="89809"/>
                    </a:lnTo>
                    <a:lnTo>
                      <a:pt x="79690" y="82852"/>
                    </a:lnTo>
                    <a:lnTo>
                      <a:pt x="78425" y="78425"/>
                    </a:lnTo>
                    <a:cubicBezTo>
                      <a:pt x="77160" y="73998"/>
                      <a:pt x="75895" y="70203"/>
                      <a:pt x="73365" y="65776"/>
                    </a:cubicBezTo>
                    <a:lnTo>
                      <a:pt x="71468" y="61981"/>
                    </a:lnTo>
                    <a:lnTo>
                      <a:pt x="79690" y="43640"/>
                    </a:lnTo>
                    <a:lnTo>
                      <a:pt x="69571" y="34785"/>
                    </a:lnTo>
                    <a:lnTo>
                      <a:pt x="51229" y="43007"/>
                    </a:lnTo>
                    <a:lnTo>
                      <a:pt x="47435" y="40477"/>
                    </a:lnTo>
                    <a:cubicBezTo>
                      <a:pt x="44272" y="38580"/>
                      <a:pt x="39213" y="36683"/>
                      <a:pt x="34153" y="34785"/>
                    </a:cubicBezTo>
                    <a:lnTo>
                      <a:pt x="30991" y="33520"/>
                    </a:lnTo>
                    <a:lnTo>
                      <a:pt x="24034" y="15812"/>
                    </a:lnTo>
                    <a:lnTo>
                      <a:pt x="0" y="15812"/>
                    </a:lnTo>
                    <a:lnTo>
                      <a:pt x="0" y="0"/>
                    </a:lnTo>
                    <a:lnTo>
                      <a:pt x="34785" y="0"/>
                    </a:lnTo>
                    <a:lnTo>
                      <a:pt x="43007" y="21504"/>
                    </a:lnTo>
                    <a:cubicBezTo>
                      <a:pt x="46170" y="22769"/>
                      <a:pt x="49332" y="24033"/>
                      <a:pt x="51862" y="25298"/>
                    </a:cubicBezTo>
                    <a:lnTo>
                      <a:pt x="72733" y="15812"/>
                    </a:lnTo>
                    <a:lnTo>
                      <a:pt x="98031" y="39845"/>
                    </a:lnTo>
                    <a:lnTo>
                      <a:pt x="88544" y="60716"/>
                    </a:lnTo>
                    <a:cubicBezTo>
                      <a:pt x="89809" y="63878"/>
                      <a:pt x="91074" y="67041"/>
                      <a:pt x="92339" y="69571"/>
                    </a:cubicBezTo>
                    <a:lnTo>
                      <a:pt x="113210" y="77793"/>
                    </a:lnTo>
                    <a:lnTo>
                      <a:pt x="113210" y="112578"/>
                    </a:lnTo>
                    <a:lnTo>
                      <a:pt x="92339" y="120167"/>
                    </a:lnTo>
                    <a:cubicBezTo>
                      <a:pt x="91707" y="123330"/>
                      <a:pt x="90442" y="126492"/>
                      <a:pt x="88544" y="129654"/>
                    </a:cubicBezTo>
                    <a:lnTo>
                      <a:pt x="98031" y="150525"/>
                    </a:lnTo>
                    <a:lnTo>
                      <a:pt x="72733" y="175824"/>
                    </a:lnTo>
                    <a:lnTo>
                      <a:pt x="51862" y="166337"/>
                    </a:lnTo>
                    <a:cubicBezTo>
                      <a:pt x="48699" y="168234"/>
                      <a:pt x="45537" y="168867"/>
                      <a:pt x="42375" y="170132"/>
                    </a:cubicBezTo>
                    <a:lnTo>
                      <a:pt x="35418" y="191635"/>
                    </a:lnTo>
                    <a:close/>
                  </a:path>
                </a:pathLst>
              </a:custGeom>
              <a:grpFill/>
              <a:ln w="6271" cap="flat">
                <a:noFill/>
                <a:prstDash val="solid"/>
                <a:miter/>
              </a:ln>
            </p:spPr>
            <p:txBody>
              <a:bodyPr rtlCol="0" anchor="ctr"/>
              <a:lstStyle/>
              <a:p>
                <a:endParaRPr lang="en-US"/>
              </a:p>
            </p:txBody>
          </p:sp>
          <p:sp>
            <p:nvSpPr>
              <p:cNvPr id="86" name="Picture Placeholder 75">
                <a:extLst>
                  <a:ext uri="{FF2B5EF4-FFF2-40B4-BE49-F238E27FC236}">
                    <a16:creationId xmlns:a16="http://schemas.microsoft.com/office/drawing/2014/main" id="{FBC71A1E-D03C-29ED-C1D4-4C855DB911F5}"/>
                  </a:ext>
                </a:extLst>
              </p:cNvPr>
              <p:cNvSpPr/>
              <p:nvPr/>
            </p:nvSpPr>
            <p:spPr>
              <a:xfrm>
                <a:off x="2305603" y="922026"/>
                <a:ext cx="58186" cy="116372"/>
              </a:xfrm>
              <a:custGeom>
                <a:avLst/>
                <a:gdLst>
                  <a:gd name="connsiteX0" fmla="*/ 0 w 58186"/>
                  <a:gd name="connsiteY0" fmla="*/ 116373 h 116372"/>
                  <a:gd name="connsiteX1" fmla="*/ 0 w 58186"/>
                  <a:gd name="connsiteY1" fmla="*/ 100561 h 116372"/>
                  <a:gd name="connsiteX2" fmla="*/ 42375 w 58186"/>
                  <a:gd name="connsiteY2" fmla="*/ 58186 h 116372"/>
                  <a:gd name="connsiteX3" fmla="*/ 0 w 58186"/>
                  <a:gd name="connsiteY3" fmla="*/ 15812 h 116372"/>
                  <a:gd name="connsiteX4" fmla="*/ 0 w 58186"/>
                  <a:gd name="connsiteY4" fmla="*/ 0 h 116372"/>
                  <a:gd name="connsiteX5" fmla="*/ 58186 w 58186"/>
                  <a:gd name="connsiteY5" fmla="*/ 58186 h 116372"/>
                  <a:gd name="connsiteX6" fmla="*/ 0 w 58186"/>
                  <a:gd name="connsiteY6" fmla="*/ 116373 h 11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86" h="116372">
                    <a:moveTo>
                      <a:pt x="0" y="116373"/>
                    </a:moveTo>
                    <a:lnTo>
                      <a:pt x="0" y="100561"/>
                    </a:lnTo>
                    <a:cubicBezTo>
                      <a:pt x="23401" y="100561"/>
                      <a:pt x="42375" y="81587"/>
                      <a:pt x="42375" y="58186"/>
                    </a:cubicBezTo>
                    <a:cubicBezTo>
                      <a:pt x="42375" y="34785"/>
                      <a:pt x="23401" y="15812"/>
                      <a:pt x="0" y="15812"/>
                    </a:cubicBezTo>
                    <a:lnTo>
                      <a:pt x="0" y="0"/>
                    </a:lnTo>
                    <a:cubicBezTo>
                      <a:pt x="32255" y="0"/>
                      <a:pt x="58186" y="25931"/>
                      <a:pt x="58186" y="58186"/>
                    </a:cubicBezTo>
                    <a:cubicBezTo>
                      <a:pt x="58186" y="90442"/>
                      <a:pt x="32255" y="116373"/>
                      <a:pt x="0" y="116373"/>
                    </a:cubicBezTo>
                    <a:close/>
                  </a:path>
                </a:pathLst>
              </a:custGeom>
              <a:grpFill/>
              <a:ln w="6271" cap="flat">
                <a:noFill/>
                <a:prstDash val="solid"/>
                <a:miter/>
              </a:ln>
            </p:spPr>
            <p:txBody>
              <a:bodyPr rtlCol="0" anchor="ctr"/>
              <a:lstStyle/>
              <a:p>
                <a:endParaRPr lang="en-US"/>
              </a:p>
            </p:txBody>
          </p:sp>
        </p:grpSp>
      </p:grpSp>
      <p:grpSp>
        <p:nvGrpSpPr>
          <p:cNvPr id="92" name="Picture Placeholder 100" descr="Smooth Activity Bursts&#10;">
            <a:extLst>
              <a:ext uri="{FF2B5EF4-FFF2-40B4-BE49-F238E27FC236}">
                <a16:creationId xmlns:a16="http://schemas.microsoft.com/office/drawing/2014/main" id="{63B3DF20-FF09-7336-EDEF-BADAD1B41ED0}"/>
              </a:ext>
            </a:extLst>
          </p:cNvPr>
          <p:cNvGrpSpPr/>
          <p:nvPr/>
        </p:nvGrpSpPr>
        <p:grpSpPr>
          <a:xfrm rot="5400000">
            <a:off x="4192220" y="1764983"/>
            <a:ext cx="372853" cy="370144"/>
            <a:chOff x="9756584" y="1949843"/>
            <a:chExt cx="609695" cy="605264"/>
          </a:xfrm>
          <a:solidFill>
            <a:schemeClr val="accent4"/>
          </a:solidFill>
        </p:grpSpPr>
        <p:sp>
          <p:nvSpPr>
            <p:cNvPr id="93" name="Picture Placeholder 100">
              <a:extLst>
                <a:ext uri="{FF2B5EF4-FFF2-40B4-BE49-F238E27FC236}">
                  <a16:creationId xmlns:a16="http://schemas.microsoft.com/office/drawing/2014/main" id="{9A0FE6C4-0574-8FBF-0AFF-967F8C85217B}"/>
                </a:ext>
              </a:extLst>
            </p:cNvPr>
            <p:cNvSpPr/>
            <p:nvPr/>
          </p:nvSpPr>
          <p:spPr>
            <a:xfrm>
              <a:off x="10005025" y="1949843"/>
              <a:ext cx="58307" cy="605264"/>
            </a:xfrm>
            <a:custGeom>
              <a:avLst/>
              <a:gdLst>
                <a:gd name="connsiteX0" fmla="*/ 48801 w 58307"/>
                <a:gd name="connsiteY0" fmla="*/ 605264 h 605264"/>
                <a:gd name="connsiteX1" fmla="*/ 0 w 58307"/>
                <a:gd name="connsiteY1" fmla="*/ 605264 h 605264"/>
                <a:gd name="connsiteX2" fmla="*/ 0 w 58307"/>
                <a:gd name="connsiteY2" fmla="*/ 586290 h 605264"/>
                <a:gd name="connsiteX3" fmla="*/ 39294 w 58307"/>
                <a:gd name="connsiteY3" fmla="*/ 586290 h 605264"/>
                <a:gd name="connsiteX4" fmla="*/ 39294 w 58307"/>
                <a:gd name="connsiteY4" fmla="*/ 18974 h 605264"/>
                <a:gd name="connsiteX5" fmla="*/ 0 w 58307"/>
                <a:gd name="connsiteY5" fmla="*/ 18974 h 605264"/>
                <a:gd name="connsiteX6" fmla="*/ 0 w 58307"/>
                <a:gd name="connsiteY6" fmla="*/ 0 h 605264"/>
                <a:gd name="connsiteX7" fmla="*/ 48801 w 58307"/>
                <a:gd name="connsiteY7" fmla="*/ 0 h 605264"/>
                <a:gd name="connsiteX8" fmla="*/ 58308 w 58307"/>
                <a:gd name="connsiteY8" fmla="*/ 9487 h 605264"/>
                <a:gd name="connsiteX9" fmla="*/ 58308 w 58307"/>
                <a:gd name="connsiteY9" fmla="*/ 595777 h 605264"/>
                <a:gd name="connsiteX10" fmla="*/ 48801 w 58307"/>
                <a:gd name="connsiteY10" fmla="*/ 605264 h 605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307" h="605264">
                  <a:moveTo>
                    <a:pt x="48801" y="605264"/>
                  </a:moveTo>
                  <a:lnTo>
                    <a:pt x="0" y="605264"/>
                  </a:lnTo>
                  <a:lnTo>
                    <a:pt x="0" y="586290"/>
                  </a:lnTo>
                  <a:lnTo>
                    <a:pt x="39294" y="586290"/>
                  </a:lnTo>
                  <a:lnTo>
                    <a:pt x="39294" y="18974"/>
                  </a:lnTo>
                  <a:lnTo>
                    <a:pt x="0" y="18974"/>
                  </a:lnTo>
                  <a:lnTo>
                    <a:pt x="0" y="0"/>
                  </a:lnTo>
                  <a:lnTo>
                    <a:pt x="48801" y="0"/>
                  </a:lnTo>
                  <a:cubicBezTo>
                    <a:pt x="53871" y="0"/>
                    <a:pt x="58308" y="4427"/>
                    <a:pt x="58308" y="9487"/>
                  </a:cubicBezTo>
                  <a:lnTo>
                    <a:pt x="58308" y="595777"/>
                  </a:lnTo>
                  <a:cubicBezTo>
                    <a:pt x="58308" y="601469"/>
                    <a:pt x="53871" y="605264"/>
                    <a:pt x="48801" y="605264"/>
                  </a:cubicBezTo>
                  <a:close/>
                </a:path>
              </a:pathLst>
            </a:custGeom>
            <a:grpFill/>
            <a:ln w="6271" cap="flat">
              <a:noFill/>
              <a:prstDash val="solid"/>
              <a:miter/>
            </a:ln>
          </p:spPr>
          <p:txBody>
            <a:bodyPr rtlCol="0" anchor="ctr"/>
            <a:lstStyle/>
            <a:p>
              <a:endParaRPr lang="en-US"/>
            </a:p>
          </p:txBody>
        </p:sp>
        <p:grpSp>
          <p:nvGrpSpPr>
            <p:cNvPr id="94" name="Picture Placeholder 100">
              <a:extLst>
                <a:ext uri="{FF2B5EF4-FFF2-40B4-BE49-F238E27FC236}">
                  <a16:creationId xmlns:a16="http://schemas.microsoft.com/office/drawing/2014/main" id="{A21DD116-68B1-F415-3077-0105D7331CF6}"/>
                </a:ext>
              </a:extLst>
            </p:cNvPr>
            <p:cNvGrpSpPr/>
            <p:nvPr/>
          </p:nvGrpSpPr>
          <p:grpSpPr>
            <a:xfrm>
              <a:off x="9756584" y="1986051"/>
              <a:ext cx="609695" cy="529843"/>
              <a:chOff x="9756584" y="1986051"/>
              <a:chExt cx="609695" cy="529843"/>
            </a:xfrm>
            <a:grpFill/>
          </p:grpSpPr>
          <p:grpSp>
            <p:nvGrpSpPr>
              <p:cNvPr id="95" name="Picture Placeholder 100">
                <a:extLst>
                  <a:ext uri="{FF2B5EF4-FFF2-40B4-BE49-F238E27FC236}">
                    <a16:creationId xmlns:a16="http://schemas.microsoft.com/office/drawing/2014/main" id="{8CB2A4DC-FE84-CFF8-3448-95DEE223F76E}"/>
                  </a:ext>
                </a:extLst>
              </p:cNvPr>
              <p:cNvGrpSpPr/>
              <p:nvPr/>
            </p:nvGrpSpPr>
            <p:grpSpPr>
              <a:xfrm>
                <a:off x="10056361" y="2045592"/>
                <a:ext cx="309293" cy="410218"/>
                <a:chOff x="10056361" y="2045592"/>
                <a:chExt cx="309293" cy="410218"/>
              </a:xfrm>
              <a:grpFill/>
            </p:grpSpPr>
            <p:grpSp>
              <p:nvGrpSpPr>
                <p:cNvPr id="116" name="Picture Placeholder 100">
                  <a:extLst>
                    <a:ext uri="{FF2B5EF4-FFF2-40B4-BE49-F238E27FC236}">
                      <a16:creationId xmlns:a16="http://schemas.microsoft.com/office/drawing/2014/main" id="{82CBF940-EDAA-A4D0-C983-88F41F758621}"/>
                    </a:ext>
                  </a:extLst>
                </p:cNvPr>
                <p:cNvGrpSpPr/>
                <p:nvPr/>
              </p:nvGrpSpPr>
              <p:grpSpPr>
                <a:xfrm>
                  <a:off x="10056995" y="2416124"/>
                  <a:ext cx="308658" cy="39686"/>
                  <a:chOff x="10056995" y="2416124"/>
                  <a:chExt cx="308658" cy="39686"/>
                </a:xfrm>
                <a:grpFill/>
              </p:grpSpPr>
              <p:sp>
                <p:nvSpPr>
                  <p:cNvPr id="129" name="Picture Placeholder 100">
                    <a:extLst>
                      <a:ext uri="{FF2B5EF4-FFF2-40B4-BE49-F238E27FC236}">
                        <a16:creationId xmlns:a16="http://schemas.microsoft.com/office/drawing/2014/main" id="{2C27D0F8-7C50-E13F-6144-3DA069FEEC2D}"/>
                      </a:ext>
                    </a:extLst>
                  </p:cNvPr>
                  <p:cNvSpPr/>
                  <p:nvPr/>
                </p:nvSpPr>
                <p:spPr>
                  <a:xfrm>
                    <a:off x="10056995" y="2416124"/>
                    <a:ext cx="40561" cy="39686"/>
                  </a:xfrm>
                  <a:custGeom>
                    <a:avLst/>
                    <a:gdLst>
                      <a:gd name="connsiteX0" fmla="*/ 19647 w 40561"/>
                      <a:gd name="connsiteY0" fmla="*/ 39687 h 39686"/>
                      <a:gd name="connsiteX1" fmla="*/ 15844 w 40561"/>
                      <a:gd name="connsiteY1" fmla="*/ 39054 h 39686"/>
                      <a:gd name="connsiteX2" fmla="*/ 12042 w 40561"/>
                      <a:gd name="connsiteY2" fmla="*/ 37789 h 39686"/>
                      <a:gd name="connsiteX3" fmla="*/ 8873 w 40561"/>
                      <a:gd name="connsiteY3" fmla="*/ 35892 h 39686"/>
                      <a:gd name="connsiteX4" fmla="*/ 5704 w 40561"/>
                      <a:gd name="connsiteY4" fmla="*/ 33362 h 39686"/>
                      <a:gd name="connsiteX5" fmla="*/ 3169 w 40561"/>
                      <a:gd name="connsiteY5" fmla="*/ 30200 h 39686"/>
                      <a:gd name="connsiteX6" fmla="*/ 1268 w 40561"/>
                      <a:gd name="connsiteY6" fmla="*/ 27038 h 39686"/>
                      <a:gd name="connsiteX7" fmla="*/ 634 w 40561"/>
                      <a:gd name="connsiteY7" fmla="*/ 23875 h 39686"/>
                      <a:gd name="connsiteX8" fmla="*/ 0 w 40561"/>
                      <a:gd name="connsiteY8" fmla="*/ 20081 h 39686"/>
                      <a:gd name="connsiteX9" fmla="*/ 634 w 40561"/>
                      <a:gd name="connsiteY9" fmla="*/ 16286 h 39686"/>
                      <a:gd name="connsiteX10" fmla="*/ 1901 w 40561"/>
                      <a:gd name="connsiteY10" fmla="*/ 12491 h 39686"/>
                      <a:gd name="connsiteX11" fmla="*/ 3803 w 40561"/>
                      <a:gd name="connsiteY11" fmla="*/ 9329 h 39686"/>
                      <a:gd name="connsiteX12" fmla="*/ 6338 w 40561"/>
                      <a:gd name="connsiteY12" fmla="*/ 6166 h 39686"/>
                      <a:gd name="connsiteX13" fmla="*/ 9507 w 40561"/>
                      <a:gd name="connsiteY13" fmla="*/ 3637 h 39686"/>
                      <a:gd name="connsiteX14" fmla="*/ 12676 w 40561"/>
                      <a:gd name="connsiteY14" fmla="*/ 1739 h 39686"/>
                      <a:gd name="connsiteX15" fmla="*/ 16478 w 40561"/>
                      <a:gd name="connsiteY15" fmla="*/ 474 h 39686"/>
                      <a:gd name="connsiteX16" fmla="*/ 24084 w 40561"/>
                      <a:gd name="connsiteY16" fmla="*/ 474 h 39686"/>
                      <a:gd name="connsiteX17" fmla="*/ 27886 w 40561"/>
                      <a:gd name="connsiteY17" fmla="*/ 1739 h 39686"/>
                      <a:gd name="connsiteX18" fmla="*/ 31055 w 40561"/>
                      <a:gd name="connsiteY18" fmla="*/ 3637 h 39686"/>
                      <a:gd name="connsiteX19" fmla="*/ 34224 w 40561"/>
                      <a:gd name="connsiteY19" fmla="*/ 6166 h 39686"/>
                      <a:gd name="connsiteX20" fmla="*/ 36759 w 40561"/>
                      <a:gd name="connsiteY20" fmla="*/ 9329 h 39686"/>
                      <a:gd name="connsiteX21" fmla="*/ 38660 w 40561"/>
                      <a:gd name="connsiteY21" fmla="*/ 12491 h 39686"/>
                      <a:gd name="connsiteX22" fmla="*/ 39928 w 40561"/>
                      <a:gd name="connsiteY22" fmla="*/ 16286 h 39686"/>
                      <a:gd name="connsiteX23" fmla="*/ 40562 w 40561"/>
                      <a:gd name="connsiteY23" fmla="*/ 20081 h 39686"/>
                      <a:gd name="connsiteX24" fmla="*/ 39928 w 40561"/>
                      <a:gd name="connsiteY24" fmla="*/ 23875 h 39686"/>
                      <a:gd name="connsiteX25" fmla="*/ 38660 w 40561"/>
                      <a:gd name="connsiteY25" fmla="*/ 27670 h 39686"/>
                      <a:gd name="connsiteX26" fmla="*/ 36759 w 40561"/>
                      <a:gd name="connsiteY26" fmla="*/ 30832 h 39686"/>
                      <a:gd name="connsiteX27" fmla="*/ 34224 w 40561"/>
                      <a:gd name="connsiteY27" fmla="*/ 33995 h 39686"/>
                      <a:gd name="connsiteX28" fmla="*/ 31055 w 40561"/>
                      <a:gd name="connsiteY28" fmla="*/ 36525 h 39686"/>
                      <a:gd name="connsiteX29" fmla="*/ 27886 w 40561"/>
                      <a:gd name="connsiteY29" fmla="*/ 38422 h 39686"/>
                      <a:gd name="connsiteX30" fmla="*/ 24084 w 40561"/>
                      <a:gd name="connsiteY30" fmla="*/ 39687 h 39686"/>
                      <a:gd name="connsiteX31" fmla="*/ 19647 w 40561"/>
                      <a:gd name="connsiteY31" fmla="*/ 39687 h 3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0561" h="39686">
                        <a:moveTo>
                          <a:pt x="19647" y="39687"/>
                        </a:moveTo>
                        <a:cubicBezTo>
                          <a:pt x="18380" y="39687"/>
                          <a:pt x="17112" y="39687"/>
                          <a:pt x="15844" y="39054"/>
                        </a:cubicBezTo>
                        <a:cubicBezTo>
                          <a:pt x="14577" y="39054"/>
                          <a:pt x="13309" y="38422"/>
                          <a:pt x="12042" y="37789"/>
                        </a:cubicBezTo>
                        <a:cubicBezTo>
                          <a:pt x="10774" y="37157"/>
                          <a:pt x="9507" y="36525"/>
                          <a:pt x="8873" y="35892"/>
                        </a:cubicBezTo>
                        <a:cubicBezTo>
                          <a:pt x="7605" y="35260"/>
                          <a:pt x="6972" y="34627"/>
                          <a:pt x="5704" y="33362"/>
                        </a:cubicBezTo>
                        <a:cubicBezTo>
                          <a:pt x="4436" y="32097"/>
                          <a:pt x="3803" y="31465"/>
                          <a:pt x="3169" y="30200"/>
                        </a:cubicBezTo>
                        <a:cubicBezTo>
                          <a:pt x="2535" y="28935"/>
                          <a:pt x="1901" y="27670"/>
                          <a:pt x="1268" y="27038"/>
                        </a:cubicBezTo>
                        <a:cubicBezTo>
                          <a:pt x="1268" y="26405"/>
                          <a:pt x="634" y="25140"/>
                          <a:pt x="634" y="23875"/>
                        </a:cubicBezTo>
                        <a:cubicBezTo>
                          <a:pt x="634" y="22610"/>
                          <a:pt x="0" y="21346"/>
                          <a:pt x="0" y="20081"/>
                        </a:cubicBezTo>
                        <a:cubicBezTo>
                          <a:pt x="0" y="18816"/>
                          <a:pt x="0" y="17551"/>
                          <a:pt x="634" y="16286"/>
                        </a:cubicBezTo>
                        <a:cubicBezTo>
                          <a:pt x="634" y="15021"/>
                          <a:pt x="1268" y="13756"/>
                          <a:pt x="1901" y="12491"/>
                        </a:cubicBezTo>
                        <a:cubicBezTo>
                          <a:pt x="2535" y="11226"/>
                          <a:pt x="3169" y="9961"/>
                          <a:pt x="3803" y="9329"/>
                        </a:cubicBezTo>
                        <a:cubicBezTo>
                          <a:pt x="4436" y="8064"/>
                          <a:pt x="5070" y="7431"/>
                          <a:pt x="6338" y="6166"/>
                        </a:cubicBezTo>
                        <a:cubicBezTo>
                          <a:pt x="6972" y="5534"/>
                          <a:pt x="8239" y="4269"/>
                          <a:pt x="9507" y="3637"/>
                        </a:cubicBezTo>
                        <a:cubicBezTo>
                          <a:pt x="10774" y="3004"/>
                          <a:pt x="12042" y="2372"/>
                          <a:pt x="12676" y="1739"/>
                        </a:cubicBezTo>
                        <a:cubicBezTo>
                          <a:pt x="13943" y="1107"/>
                          <a:pt x="15211" y="1107"/>
                          <a:pt x="16478" y="474"/>
                        </a:cubicBezTo>
                        <a:cubicBezTo>
                          <a:pt x="19013" y="-158"/>
                          <a:pt x="21548" y="-158"/>
                          <a:pt x="24084" y="474"/>
                        </a:cubicBezTo>
                        <a:cubicBezTo>
                          <a:pt x="25351" y="474"/>
                          <a:pt x="26619" y="1107"/>
                          <a:pt x="27886" y="1739"/>
                        </a:cubicBezTo>
                        <a:cubicBezTo>
                          <a:pt x="29154" y="2372"/>
                          <a:pt x="30421" y="3004"/>
                          <a:pt x="31055" y="3637"/>
                        </a:cubicBezTo>
                        <a:cubicBezTo>
                          <a:pt x="32323" y="4269"/>
                          <a:pt x="32956" y="4902"/>
                          <a:pt x="34224" y="6166"/>
                        </a:cubicBezTo>
                        <a:cubicBezTo>
                          <a:pt x="34858" y="7431"/>
                          <a:pt x="36125" y="8064"/>
                          <a:pt x="36759" y="9329"/>
                        </a:cubicBezTo>
                        <a:cubicBezTo>
                          <a:pt x="37393" y="10594"/>
                          <a:pt x="38027" y="11226"/>
                          <a:pt x="38660" y="12491"/>
                        </a:cubicBezTo>
                        <a:cubicBezTo>
                          <a:pt x="39294" y="13756"/>
                          <a:pt x="39294" y="15021"/>
                          <a:pt x="39928" y="16286"/>
                        </a:cubicBezTo>
                        <a:cubicBezTo>
                          <a:pt x="39928" y="17551"/>
                          <a:pt x="40562" y="18816"/>
                          <a:pt x="40562" y="20081"/>
                        </a:cubicBezTo>
                        <a:cubicBezTo>
                          <a:pt x="40562" y="21346"/>
                          <a:pt x="40562" y="22610"/>
                          <a:pt x="39928" y="23875"/>
                        </a:cubicBezTo>
                        <a:cubicBezTo>
                          <a:pt x="39928" y="25140"/>
                          <a:pt x="39294" y="26405"/>
                          <a:pt x="38660" y="27670"/>
                        </a:cubicBezTo>
                        <a:cubicBezTo>
                          <a:pt x="38027" y="28935"/>
                          <a:pt x="37393" y="30200"/>
                          <a:pt x="36759" y="30832"/>
                        </a:cubicBezTo>
                        <a:cubicBezTo>
                          <a:pt x="36125" y="32097"/>
                          <a:pt x="35492" y="32730"/>
                          <a:pt x="34224" y="33995"/>
                        </a:cubicBezTo>
                        <a:cubicBezTo>
                          <a:pt x="32956" y="34627"/>
                          <a:pt x="32323" y="35892"/>
                          <a:pt x="31055" y="36525"/>
                        </a:cubicBezTo>
                        <a:cubicBezTo>
                          <a:pt x="29788" y="37157"/>
                          <a:pt x="28520" y="37789"/>
                          <a:pt x="27886" y="38422"/>
                        </a:cubicBezTo>
                        <a:cubicBezTo>
                          <a:pt x="26619" y="39054"/>
                          <a:pt x="25351" y="39054"/>
                          <a:pt x="24084" y="39687"/>
                        </a:cubicBezTo>
                        <a:cubicBezTo>
                          <a:pt x="22182" y="39687"/>
                          <a:pt x="20915" y="39687"/>
                          <a:pt x="19647" y="39687"/>
                        </a:cubicBezTo>
                        <a:close/>
                      </a:path>
                    </a:pathLst>
                  </a:custGeom>
                  <a:grpFill/>
                  <a:ln w="6271" cap="flat">
                    <a:noFill/>
                    <a:prstDash val="solid"/>
                    <a:miter/>
                  </a:ln>
                </p:spPr>
                <p:txBody>
                  <a:bodyPr rtlCol="0" anchor="ctr"/>
                  <a:lstStyle/>
                  <a:p>
                    <a:endParaRPr lang="en-US"/>
                  </a:p>
                </p:txBody>
              </p:sp>
              <p:sp>
                <p:nvSpPr>
                  <p:cNvPr id="130" name="Picture Placeholder 100">
                    <a:extLst>
                      <a:ext uri="{FF2B5EF4-FFF2-40B4-BE49-F238E27FC236}">
                        <a16:creationId xmlns:a16="http://schemas.microsoft.com/office/drawing/2014/main" id="{A78D5B45-8B47-49F9-7941-99A99A6F0EB8}"/>
                      </a:ext>
                    </a:extLst>
                  </p:cNvPr>
                  <p:cNvSpPr/>
                  <p:nvPr/>
                </p:nvSpPr>
                <p:spPr>
                  <a:xfrm>
                    <a:off x="10124175" y="2416598"/>
                    <a:ext cx="172387" cy="39212"/>
                  </a:xfrm>
                  <a:custGeom>
                    <a:avLst/>
                    <a:gdLst>
                      <a:gd name="connsiteX0" fmla="*/ 133093 w 172387"/>
                      <a:gd name="connsiteY0" fmla="*/ 19606 h 39212"/>
                      <a:gd name="connsiteX1" fmla="*/ 152741 w 172387"/>
                      <a:gd name="connsiteY1" fmla="*/ 0 h 39212"/>
                      <a:gd name="connsiteX2" fmla="*/ 152741 w 172387"/>
                      <a:gd name="connsiteY2" fmla="*/ 0 h 39212"/>
                      <a:gd name="connsiteX3" fmla="*/ 172388 w 172387"/>
                      <a:gd name="connsiteY3" fmla="*/ 19606 h 39212"/>
                      <a:gd name="connsiteX4" fmla="*/ 172388 w 172387"/>
                      <a:gd name="connsiteY4" fmla="*/ 19606 h 39212"/>
                      <a:gd name="connsiteX5" fmla="*/ 152741 w 172387"/>
                      <a:gd name="connsiteY5" fmla="*/ 39213 h 39212"/>
                      <a:gd name="connsiteX6" fmla="*/ 152741 w 172387"/>
                      <a:gd name="connsiteY6" fmla="*/ 39213 h 39212"/>
                      <a:gd name="connsiteX7" fmla="*/ 133093 w 172387"/>
                      <a:gd name="connsiteY7" fmla="*/ 19606 h 39212"/>
                      <a:gd name="connsiteX8" fmla="*/ 66547 w 172387"/>
                      <a:gd name="connsiteY8" fmla="*/ 19606 h 39212"/>
                      <a:gd name="connsiteX9" fmla="*/ 86194 w 172387"/>
                      <a:gd name="connsiteY9" fmla="*/ 0 h 39212"/>
                      <a:gd name="connsiteX10" fmla="*/ 86194 w 172387"/>
                      <a:gd name="connsiteY10" fmla="*/ 0 h 39212"/>
                      <a:gd name="connsiteX11" fmla="*/ 105841 w 172387"/>
                      <a:gd name="connsiteY11" fmla="*/ 19606 h 39212"/>
                      <a:gd name="connsiteX12" fmla="*/ 105841 w 172387"/>
                      <a:gd name="connsiteY12" fmla="*/ 19606 h 39212"/>
                      <a:gd name="connsiteX13" fmla="*/ 86194 w 172387"/>
                      <a:gd name="connsiteY13" fmla="*/ 39213 h 39212"/>
                      <a:gd name="connsiteX14" fmla="*/ 86194 w 172387"/>
                      <a:gd name="connsiteY14" fmla="*/ 39213 h 39212"/>
                      <a:gd name="connsiteX15" fmla="*/ 66547 w 172387"/>
                      <a:gd name="connsiteY15" fmla="*/ 19606 h 39212"/>
                      <a:gd name="connsiteX16" fmla="*/ 0 w 172387"/>
                      <a:gd name="connsiteY16" fmla="*/ 19606 h 39212"/>
                      <a:gd name="connsiteX17" fmla="*/ 19647 w 172387"/>
                      <a:gd name="connsiteY17" fmla="*/ 0 h 39212"/>
                      <a:gd name="connsiteX18" fmla="*/ 19647 w 172387"/>
                      <a:gd name="connsiteY18" fmla="*/ 0 h 39212"/>
                      <a:gd name="connsiteX19" fmla="*/ 39294 w 172387"/>
                      <a:gd name="connsiteY19" fmla="*/ 19606 h 39212"/>
                      <a:gd name="connsiteX20" fmla="*/ 39294 w 172387"/>
                      <a:gd name="connsiteY20" fmla="*/ 19606 h 39212"/>
                      <a:gd name="connsiteX21" fmla="*/ 19647 w 172387"/>
                      <a:gd name="connsiteY21" fmla="*/ 39213 h 39212"/>
                      <a:gd name="connsiteX22" fmla="*/ 19647 w 172387"/>
                      <a:gd name="connsiteY22" fmla="*/ 39213 h 39212"/>
                      <a:gd name="connsiteX23" fmla="*/ 0 w 172387"/>
                      <a:gd name="connsiteY23" fmla="*/ 19606 h 3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2387" h="39212">
                        <a:moveTo>
                          <a:pt x="133093" y="19606"/>
                        </a:moveTo>
                        <a:cubicBezTo>
                          <a:pt x="133093" y="8854"/>
                          <a:pt x="141966" y="0"/>
                          <a:pt x="152741" y="0"/>
                        </a:cubicBezTo>
                        <a:lnTo>
                          <a:pt x="152741" y="0"/>
                        </a:lnTo>
                        <a:cubicBezTo>
                          <a:pt x="163515" y="0"/>
                          <a:pt x="172388" y="8854"/>
                          <a:pt x="172388" y="19606"/>
                        </a:cubicBezTo>
                        <a:lnTo>
                          <a:pt x="172388" y="19606"/>
                        </a:lnTo>
                        <a:cubicBezTo>
                          <a:pt x="172388" y="30358"/>
                          <a:pt x="163515" y="39213"/>
                          <a:pt x="152741" y="39213"/>
                        </a:cubicBezTo>
                        <a:lnTo>
                          <a:pt x="152741" y="39213"/>
                        </a:lnTo>
                        <a:cubicBezTo>
                          <a:pt x="141966" y="39213"/>
                          <a:pt x="133093" y="30358"/>
                          <a:pt x="133093" y="19606"/>
                        </a:cubicBezTo>
                        <a:close/>
                        <a:moveTo>
                          <a:pt x="66547" y="19606"/>
                        </a:moveTo>
                        <a:cubicBezTo>
                          <a:pt x="66547" y="8854"/>
                          <a:pt x="75420" y="0"/>
                          <a:pt x="86194" y="0"/>
                        </a:cubicBezTo>
                        <a:lnTo>
                          <a:pt x="86194" y="0"/>
                        </a:lnTo>
                        <a:cubicBezTo>
                          <a:pt x="96968" y="0"/>
                          <a:pt x="105841" y="8854"/>
                          <a:pt x="105841" y="19606"/>
                        </a:cubicBezTo>
                        <a:lnTo>
                          <a:pt x="105841" y="19606"/>
                        </a:lnTo>
                        <a:cubicBezTo>
                          <a:pt x="105841" y="30358"/>
                          <a:pt x="96968" y="39213"/>
                          <a:pt x="86194" y="39213"/>
                        </a:cubicBezTo>
                        <a:lnTo>
                          <a:pt x="86194" y="39213"/>
                        </a:lnTo>
                        <a:cubicBezTo>
                          <a:pt x="75420" y="39213"/>
                          <a:pt x="66547" y="30358"/>
                          <a:pt x="66547" y="19606"/>
                        </a:cubicBezTo>
                        <a:close/>
                        <a:moveTo>
                          <a:pt x="0" y="19606"/>
                        </a:moveTo>
                        <a:cubicBezTo>
                          <a:pt x="0" y="8854"/>
                          <a:pt x="8873" y="0"/>
                          <a:pt x="19647" y="0"/>
                        </a:cubicBezTo>
                        <a:lnTo>
                          <a:pt x="19647" y="0"/>
                        </a:lnTo>
                        <a:cubicBezTo>
                          <a:pt x="30421" y="0"/>
                          <a:pt x="39294" y="8854"/>
                          <a:pt x="39294" y="19606"/>
                        </a:cubicBezTo>
                        <a:lnTo>
                          <a:pt x="39294" y="19606"/>
                        </a:lnTo>
                        <a:cubicBezTo>
                          <a:pt x="39294" y="30358"/>
                          <a:pt x="30421" y="39213"/>
                          <a:pt x="19647" y="39213"/>
                        </a:cubicBezTo>
                        <a:lnTo>
                          <a:pt x="19647" y="39213"/>
                        </a:lnTo>
                        <a:cubicBezTo>
                          <a:pt x="8873" y="39213"/>
                          <a:pt x="0" y="30358"/>
                          <a:pt x="0" y="19606"/>
                        </a:cubicBezTo>
                        <a:close/>
                      </a:path>
                    </a:pathLst>
                  </a:custGeom>
                  <a:grpFill/>
                  <a:ln w="6271" cap="flat">
                    <a:noFill/>
                    <a:prstDash val="solid"/>
                    <a:miter/>
                  </a:ln>
                </p:spPr>
                <p:txBody>
                  <a:bodyPr rtlCol="0" anchor="ctr"/>
                  <a:lstStyle/>
                  <a:p>
                    <a:endParaRPr lang="en-US"/>
                  </a:p>
                </p:txBody>
              </p:sp>
              <p:sp>
                <p:nvSpPr>
                  <p:cNvPr id="131" name="Picture Placeholder 100">
                    <a:extLst>
                      <a:ext uri="{FF2B5EF4-FFF2-40B4-BE49-F238E27FC236}">
                        <a16:creationId xmlns:a16="http://schemas.microsoft.com/office/drawing/2014/main" id="{8FCF0E05-775F-900C-1DC9-3A98B99A452A}"/>
                      </a:ext>
                    </a:extLst>
                  </p:cNvPr>
                  <p:cNvSpPr/>
                  <p:nvPr/>
                </p:nvSpPr>
                <p:spPr>
                  <a:xfrm>
                    <a:off x="10324449" y="2416273"/>
                    <a:ext cx="40561" cy="39538"/>
                  </a:xfrm>
                  <a:custGeom>
                    <a:avLst/>
                    <a:gdLst>
                      <a:gd name="connsiteX0" fmla="*/ 19647 w 40561"/>
                      <a:gd name="connsiteY0" fmla="*/ 39538 h 39538"/>
                      <a:gd name="connsiteX1" fmla="*/ 5704 w 40561"/>
                      <a:gd name="connsiteY1" fmla="*/ 33846 h 39538"/>
                      <a:gd name="connsiteX2" fmla="*/ 0 w 40561"/>
                      <a:gd name="connsiteY2" fmla="*/ 19932 h 39538"/>
                      <a:gd name="connsiteX3" fmla="*/ 634 w 40561"/>
                      <a:gd name="connsiteY3" fmla="*/ 16137 h 39538"/>
                      <a:gd name="connsiteX4" fmla="*/ 1901 w 40561"/>
                      <a:gd name="connsiteY4" fmla="*/ 12342 h 39538"/>
                      <a:gd name="connsiteX5" fmla="*/ 3803 w 40561"/>
                      <a:gd name="connsiteY5" fmla="*/ 9180 h 39538"/>
                      <a:gd name="connsiteX6" fmla="*/ 6338 w 40561"/>
                      <a:gd name="connsiteY6" fmla="*/ 6018 h 39538"/>
                      <a:gd name="connsiteX7" fmla="*/ 24084 w 40561"/>
                      <a:gd name="connsiteY7" fmla="*/ 326 h 39538"/>
                      <a:gd name="connsiteX8" fmla="*/ 27886 w 40561"/>
                      <a:gd name="connsiteY8" fmla="*/ 1591 h 39538"/>
                      <a:gd name="connsiteX9" fmla="*/ 31055 w 40561"/>
                      <a:gd name="connsiteY9" fmla="*/ 3488 h 39538"/>
                      <a:gd name="connsiteX10" fmla="*/ 34224 w 40561"/>
                      <a:gd name="connsiteY10" fmla="*/ 6018 h 39538"/>
                      <a:gd name="connsiteX11" fmla="*/ 36759 w 40561"/>
                      <a:gd name="connsiteY11" fmla="*/ 9180 h 39538"/>
                      <a:gd name="connsiteX12" fmla="*/ 38660 w 40561"/>
                      <a:gd name="connsiteY12" fmla="*/ 12342 h 39538"/>
                      <a:gd name="connsiteX13" fmla="*/ 39928 w 40561"/>
                      <a:gd name="connsiteY13" fmla="*/ 16137 h 39538"/>
                      <a:gd name="connsiteX14" fmla="*/ 40562 w 40561"/>
                      <a:gd name="connsiteY14" fmla="*/ 19932 h 39538"/>
                      <a:gd name="connsiteX15" fmla="*/ 34858 w 40561"/>
                      <a:gd name="connsiteY15" fmla="*/ 33846 h 39538"/>
                      <a:gd name="connsiteX16" fmla="*/ 31689 w 40561"/>
                      <a:gd name="connsiteY16" fmla="*/ 36376 h 39538"/>
                      <a:gd name="connsiteX17" fmla="*/ 28520 w 40561"/>
                      <a:gd name="connsiteY17" fmla="*/ 38273 h 39538"/>
                      <a:gd name="connsiteX18" fmla="*/ 24717 w 40561"/>
                      <a:gd name="connsiteY18" fmla="*/ 39538 h 39538"/>
                      <a:gd name="connsiteX19" fmla="*/ 19647 w 40561"/>
                      <a:gd name="connsiteY19" fmla="*/ 39538 h 3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561" h="39538">
                        <a:moveTo>
                          <a:pt x="19647" y="39538"/>
                        </a:moveTo>
                        <a:cubicBezTo>
                          <a:pt x="14577" y="39538"/>
                          <a:pt x="9507" y="37641"/>
                          <a:pt x="5704" y="33846"/>
                        </a:cubicBezTo>
                        <a:cubicBezTo>
                          <a:pt x="1901" y="30051"/>
                          <a:pt x="0" y="24992"/>
                          <a:pt x="0" y="19932"/>
                        </a:cubicBezTo>
                        <a:cubicBezTo>
                          <a:pt x="0" y="18667"/>
                          <a:pt x="0" y="17402"/>
                          <a:pt x="634" y="16137"/>
                        </a:cubicBezTo>
                        <a:cubicBezTo>
                          <a:pt x="634" y="14872"/>
                          <a:pt x="1268" y="13607"/>
                          <a:pt x="1901" y="12342"/>
                        </a:cubicBezTo>
                        <a:cubicBezTo>
                          <a:pt x="2535" y="11077"/>
                          <a:pt x="3169" y="9813"/>
                          <a:pt x="3803" y="9180"/>
                        </a:cubicBezTo>
                        <a:cubicBezTo>
                          <a:pt x="4436" y="7915"/>
                          <a:pt x="5070" y="7283"/>
                          <a:pt x="6338" y="6018"/>
                        </a:cubicBezTo>
                        <a:cubicBezTo>
                          <a:pt x="10774" y="1591"/>
                          <a:pt x="17746" y="-939"/>
                          <a:pt x="24084" y="326"/>
                        </a:cubicBezTo>
                        <a:cubicBezTo>
                          <a:pt x="25351" y="958"/>
                          <a:pt x="26619" y="958"/>
                          <a:pt x="27886" y="1591"/>
                        </a:cubicBezTo>
                        <a:cubicBezTo>
                          <a:pt x="29154" y="2223"/>
                          <a:pt x="30421" y="2855"/>
                          <a:pt x="31055" y="3488"/>
                        </a:cubicBezTo>
                        <a:cubicBezTo>
                          <a:pt x="32323" y="4120"/>
                          <a:pt x="32957" y="4753"/>
                          <a:pt x="34224" y="6018"/>
                        </a:cubicBezTo>
                        <a:cubicBezTo>
                          <a:pt x="34858" y="6650"/>
                          <a:pt x="36125" y="7915"/>
                          <a:pt x="36759" y="9180"/>
                        </a:cubicBezTo>
                        <a:cubicBezTo>
                          <a:pt x="37393" y="10445"/>
                          <a:pt x="38027" y="11077"/>
                          <a:pt x="38660" y="12342"/>
                        </a:cubicBezTo>
                        <a:cubicBezTo>
                          <a:pt x="39294" y="13607"/>
                          <a:pt x="39294" y="14872"/>
                          <a:pt x="39928" y="16137"/>
                        </a:cubicBezTo>
                        <a:cubicBezTo>
                          <a:pt x="39928" y="17402"/>
                          <a:pt x="40562" y="18667"/>
                          <a:pt x="40562" y="19932"/>
                        </a:cubicBezTo>
                        <a:cubicBezTo>
                          <a:pt x="40562" y="24992"/>
                          <a:pt x="38660" y="30051"/>
                          <a:pt x="34858" y="33846"/>
                        </a:cubicBezTo>
                        <a:cubicBezTo>
                          <a:pt x="33590" y="34478"/>
                          <a:pt x="32957" y="35743"/>
                          <a:pt x="31689" y="36376"/>
                        </a:cubicBezTo>
                        <a:cubicBezTo>
                          <a:pt x="30421" y="37008"/>
                          <a:pt x="29154" y="37641"/>
                          <a:pt x="28520" y="38273"/>
                        </a:cubicBezTo>
                        <a:cubicBezTo>
                          <a:pt x="27252" y="38906"/>
                          <a:pt x="25985" y="38906"/>
                          <a:pt x="24717" y="39538"/>
                        </a:cubicBezTo>
                        <a:cubicBezTo>
                          <a:pt x="22182" y="39538"/>
                          <a:pt x="20915" y="39538"/>
                          <a:pt x="19647" y="39538"/>
                        </a:cubicBezTo>
                        <a:close/>
                      </a:path>
                    </a:pathLst>
                  </a:custGeom>
                  <a:grpFill/>
                  <a:ln w="6271" cap="flat">
                    <a:noFill/>
                    <a:prstDash val="solid"/>
                    <a:miter/>
                  </a:ln>
                </p:spPr>
                <p:txBody>
                  <a:bodyPr rtlCol="0" anchor="ctr"/>
                  <a:lstStyle/>
                  <a:p>
                    <a:endParaRPr lang="en-US"/>
                  </a:p>
                </p:txBody>
              </p:sp>
            </p:grpSp>
            <p:grpSp>
              <p:nvGrpSpPr>
                <p:cNvPr id="117" name="Picture Placeholder 100">
                  <a:extLst>
                    <a:ext uri="{FF2B5EF4-FFF2-40B4-BE49-F238E27FC236}">
                      <a16:creationId xmlns:a16="http://schemas.microsoft.com/office/drawing/2014/main" id="{38384678-E18E-AC40-DCD9-7FB645F95FEA}"/>
                    </a:ext>
                  </a:extLst>
                </p:cNvPr>
                <p:cNvGrpSpPr/>
                <p:nvPr/>
              </p:nvGrpSpPr>
              <p:grpSpPr>
                <a:xfrm>
                  <a:off x="10056361" y="2288367"/>
                  <a:ext cx="309293" cy="40319"/>
                  <a:chOff x="10056361" y="2288367"/>
                  <a:chExt cx="309293" cy="40319"/>
                </a:xfrm>
                <a:grpFill/>
              </p:grpSpPr>
              <p:sp>
                <p:nvSpPr>
                  <p:cNvPr id="126" name="Picture Placeholder 100">
                    <a:extLst>
                      <a:ext uri="{FF2B5EF4-FFF2-40B4-BE49-F238E27FC236}">
                        <a16:creationId xmlns:a16="http://schemas.microsoft.com/office/drawing/2014/main" id="{339198C1-0066-C44F-CF06-53CAAACCBC6D}"/>
                      </a:ext>
                    </a:extLst>
                  </p:cNvPr>
                  <p:cNvSpPr/>
                  <p:nvPr/>
                </p:nvSpPr>
                <p:spPr>
                  <a:xfrm>
                    <a:off x="10056361" y="2288367"/>
                    <a:ext cx="40561" cy="40319"/>
                  </a:xfrm>
                  <a:custGeom>
                    <a:avLst/>
                    <a:gdLst>
                      <a:gd name="connsiteX0" fmla="*/ 20281 w 40561"/>
                      <a:gd name="connsiteY0" fmla="*/ 40319 h 40319"/>
                      <a:gd name="connsiteX1" fmla="*/ 16478 w 40561"/>
                      <a:gd name="connsiteY1" fmla="*/ 39687 h 40319"/>
                      <a:gd name="connsiteX2" fmla="*/ 12676 w 40561"/>
                      <a:gd name="connsiteY2" fmla="*/ 38422 h 40319"/>
                      <a:gd name="connsiteX3" fmla="*/ 9507 w 40561"/>
                      <a:gd name="connsiteY3" fmla="*/ 36525 h 40319"/>
                      <a:gd name="connsiteX4" fmla="*/ 6338 w 40561"/>
                      <a:gd name="connsiteY4" fmla="*/ 33995 h 40319"/>
                      <a:gd name="connsiteX5" fmla="*/ 3803 w 40561"/>
                      <a:gd name="connsiteY5" fmla="*/ 30832 h 40319"/>
                      <a:gd name="connsiteX6" fmla="*/ 1901 w 40561"/>
                      <a:gd name="connsiteY6" fmla="*/ 27670 h 40319"/>
                      <a:gd name="connsiteX7" fmla="*/ 634 w 40561"/>
                      <a:gd name="connsiteY7" fmla="*/ 23875 h 40319"/>
                      <a:gd name="connsiteX8" fmla="*/ 0 w 40561"/>
                      <a:gd name="connsiteY8" fmla="*/ 20081 h 40319"/>
                      <a:gd name="connsiteX9" fmla="*/ 634 w 40561"/>
                      <a:gd name="connsiteY9" fmla="*/ 16286 h 40319"/>
                      <a:gd name="connsiteX10" fmla="*/ 1901 w 40561"/>
                      <a:gd name="connsiteY10" fmla="*/ 12491 h 40319"/>
                      <a:gd name="connsiteX11" fmla="*/ 3803 w 40561"/>
                      <a:gd name="connsiteY11" fmla="*/ 9329 h 40319"/>
                      <a:gd name="connsiteX12" fmla="*/ 6338 w 40561"/>
                      <a:gd name="connsiteY12" fmla="*/ 6166 h 40319"/>
                      <a:gd name="connsiteX13" fmla="*/ 9507 w 40561"/>
                      <a:gd name="connsiteY13" fmla="*/ 3637 h 40319"/>
                      <a:gd name="connsiteX14" fmla="*/ 12676 w 40561"/>
                      <a:gd name="connsiteY14" fmla="*/ 1739 h 40319"/>
                      <a:gd name="connsiteX15" fmla="*/ 16478 w 40561"/>
                      <a:gd name="connsiteY15" fmla="*/ 474 h 40319"/>
                      <a:gd name="connsiteX16" fmla="*/ 24084 w 40561"/>
                      <a:gd name="connsiteY16" fmla="*/ 474 h 40319"/>
                      <a:gd name="connsiteX17" fmla="*/ 27886 w 40561"/>
                      <a:gd name="connsiteY17" fmla="*/ 1739 h 40319"/>
                      <a:gd name="connsiteX18" fmla="*/ 31055 w 40561"/>
                      <a:gd name="connsiteY18" fmla="*/ 3637 h 40319"/>
                      <a:gd name="connsiteX19" fmla="*/ 34224 w 40561"/>
                      <a:gd name="connsiteY19" fmla="*/ 6166 h 40319"/>
                      <a:gd name="connsiteX20" fmla="*/ 36759 w 40561"/>
                      <a:gd name="connsiteY20" fmla="*/ 9329 h 40319"/>
                      <a:gd name="connsiteX21" fmla="*/ 38660 w 40561"/>
                      <a:gd name="connsiteY21" fmla="*/ 12491 h 40319"/>
                      <a:gd name="connsiteX22" fmla="*/ 39928 w 40561"/>
                      <a:gd name="connsiteY22" fmla="*/ 16286 h 40319"/>
                      <a:gd name="connsiteX23" fmla="*/ 40562 w 40561"/>
                      <a:gd name="connsiteY23" fmla="*/ 20081 h 40319"/>
                      <a:gd name="connsiteX24" fmla="*/ 39928 w 40561"/>
                      <a:gd name="connsiteY24" fmla="*/ 23875 h 40319"/>
                      <a:gd name="connsiteX25" fmla="*/ 38660 w 40561"/>
                      <a:gd name="connsiteY25" fmla="*/ 27670 h 40319"/>
                      <a:gd name="connsiteX26" fmla="*/ 36759 w 40561"/>
                      <a:gd name="connsiteY26" fmla="*/ 30832 h 40319"/>
                      <a:gd name="connsiteX27" fmla="*/ 34224 w 40561"/>
                      <a:gd name="connsiteY27" fmla="*/ 33995 h 40319"/>
                      <a:gd name="connsiteX28" fmla="*/ 31055 w 40561"/>
                      <a:gd name="connsiteY28" fmla="*/ 36525 h 40319"/>
                      <a:gd name="connsiteX29" fmla="*/ 27886 w 40561"/>
                      <a:gd name="connsiteY29" fmla="*/ 38422 h 40319"/>
                      <a:gd name="connsiteX30" fmla="*/ 24084 w 40561"/>
                      <a:gd name="connsiteY30" fmla="*/ 39687 h 40319"/>
                      <a:gd name="connsiteX31" fmla="*/ 20281 w 40561"/>
                      <a:gd name="connsiteY31" fmla="*/ 40319 h 4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0561" h="40319">
                        <a:moveTo>
                          <a:pt x="20281" y="40319"/>
                        </a:moveTo>
                        <a:cubicBezTo>
                          <a:pt x="19013" y="40319"/>
                          <a:pt x="17746" y="40319"/>
                          <a:pt x="16478" y="39687"/>
                        </a:cubicBezTo>
                        <a:cubicBezTo>
                          <a:pt x="15211" y="39687"/>
                          <a:pt x="13943" y="39054"/>
                          <a:pt x="12676" y="38422"/>
                        </a:cubicBezTo>
                        <a:cubicBezTo>
                          <a:pt x="11408" y="37789"/>
                          <a:pt x="10140" y="37157"/>
                          <a:pt x="9507" y="36525"/>
                        </a:cubicBezTo>
                        <a:cubicBezTo>
                          <a:pt x="8239" y="35892"/>
                          <a:pt x="7605" y="35260"/>
                          <a:pt x="6338" y="33995"/>
                        </a:cubicBezTo>
                        <a:cubicBezTo>
                          <a:pt x="5070" y="32730"/>
                          <a:pt x="4436" y="32097"/>
                          <a:pt x="3803" y="30832"/>
                        </a:cubicBezTo>
                        <a:cubicBezTo>
                          <a:pt x="3169" y="29567"/>
                          <a:pt x="2535" y="28303"/>
                          <a:pt x="1901" y="27670"/>
                        </a:cubicBezTo>
                        <a:cubicBezTo>
                          <a:pt x="1268" y="26405"/>
                          <a:pt x="1268" y="25140"/>
                          <a:pt x="634" y="23875"/>
                        </a:cubicBezTo>
                        <a:cubicBezTo>
                          <a:pt x="634" y="22610"/>
                          <a:pt x="0" y="21346"/>
                          <a:pt x="0" y="20081"/>
                        </a:cubicBezTo>
                        <a:cubicBezTo>
                          <a:pt x="0" y="18816"/>
                          <a:pt x="0" y="17551"/>
                          <a:pt x="634" y="16286"/>
                        </a:cubicBezTo>
                        <a:cubicBezTo>
                          <a:pt x="634" y="15021"/>
                          <a:pt x="1268" y="13756"/>
                          <a:pt x="1901" y="12491"/>
                        </a:cubicBezTo>
                        <a:cubicBezTo>
                          <a:pt x="2535" y="11226"/>
                          <a:pt x="3169" y="9961"/>
                          <a:pt x="3803" y="9329"/>
                        </a:cubicBezTo>
                        <a:cubicBezTo>
                          <a:pt x="4436" y="8064"/>
                          <a:pt x="5070" y="7431"/>
                          <a:pt x="6338" y="6166"/>
                        </a:cubicBezTo>
                        <a:cubicBezTo>
                          <a:pt x="7605" y="4902"/>
                          <a:pt x="8239" y="4269"/>
                          <a:pt x="9507" y="3637"/>
                        </a:cubicBezTo>
                        <a:cubicBezTo>
                          <a:pt x="10774" y="3004"/>
                          <a:pt x="12042" y="2372"/>
                          <a:pt x="12676" y="1739"/>
                        </a:cubicBezTo>
                        <a:cubicBezTo>
                          <a:pt x="13943" y="1107"/>
                          <a:pt x="15211" y="1107"/>
                          <a:pt x="16478" y="474"/>
                        </a:cubicBezTo>
                        <a:cubicBezTo>
                          <a:pt x="19013" y="-158"/>
                          <a:pt x="21548" y="-158"/>
                          <a:pt x="24084" y="474"/>
                        </a:cubicBezTo>
                        <a:cubicBezTo>
                          <a:pt x="25351" y="474"/>
                          <a:pt x="26619" y="1107"/>
                          <a:pt x="27886" y="1739"/>
                        </a:cubicBezTo>
                        <a:cubicBezTo>
                          <a:pt x="29154" y="2372"/>
                          <a:pt x="30421" y="3004"/>
                          <a:pt x="31055" y="3637"/>
                        </a:cubicBezTo>
                        <a:cubicBezTo>
                          <a:pt x="32323" y="4269"/>
                          <a:pt x="32956" y="4902"/>
                          <a:pt x="34224" y="6166"/>
                        </a:cubicBezTo>
                        <a:cubicBezTo>
                          <a:pt x="34858" y="6799"/>
                          <a:pt x="36125" y="8064"/>
                          <a:pt x="36759" y="9329"/>
                        </a:cubicBezTo>
                        <a:cubicBezTo>
                          <a:pt x="37393" y="10594"/>
                          <a:pt x="38027" y="11226"/>
                          <a:pt x="38660" y="12491"/>
                        </a:cubicBezTo>
                        <a:cubicBezTo>
                          <a:pt x="39294" y="13756"/>
                          <a:pt x="39294" y="15021"/>
                          <a:pt x="39928" y="16286"/>
                        </a:cubicBezTo>
                        <a:cubicBezTo>
                          <a:pt x="39928" y="17551"/>
                          <a:pt x="40562" y="18816"/>
                          <a:pt x="40562" y="20081"/>
                        </a:cubicBezTo>
                        <a:cubicBezTo>
                          <a:pt x="40562" y="21346"/>
                          <a:pt x="40562" y="22610"/>
                          <a:pt x="39928" y="23875"/>
                        </a:cubicBezTo>
                        <a:cubicBezTo>
                          <a:pt x="39928" y="25140"/>
                          <a:pt x="39294" y="26405"/>
                          <a:pt x="38660" y="27670"/>
                        </a:cubicBezTo>
                        <a:cubicBezTo>
                          <a:pt x="38027" y="28935"/>
                          <a:pt x="37393" y="30200"/>
                          <a:pt x="36759" y="30832"/>
                        </a:cubicBezTo>
                        <a:cubicBezTo>
                          <a:pt x="36125" y="32097"/>
                          <a:pt x="35492" y="32730"/>
                          <a:pt x="34224" y="33995"/>
                        </a:cubicBezTo>
                        <a:cubicBezTo>
                          <a:pt x="32956" y="34627"/>
                          <a:pt x="32323" y="35892"/>
                          <a:pt x="31055" y="36525"/>
                        </a:cubicBezTo>
                        <a:cubicBezTo>
                          <a:pt x="29788" y="37157"/>
                          <a:pt x="28520" y="37789"/>
                          <a:pt x="27886" y="38422"/>
                        </a:cubicBezTo>
                        <a:cubicBezTo>
                          <a:pt x="26619" y="39054"/>
                          <a:pt x="25351" y="39054"/>
                          <a:pt x="24084" y="39687"/>
                        </a:cubicBezTo>
                        <a:cubicBezTo>
                          <a:pt x="22816" y="40319"/>
                          <a:pt x="21548" y="40319"/>
                          <a:pt x="20281" y="40319"/>
                        </a:cubicBezTo>
                        <a:close/>
                      </a:path>
                    </a:pathLst>
                  </a:custGeom>
                  <a:grpFill/>
                  <a:ln w="6271" cap="flat">
                    <a:noFill/>
                    <a:prstDash val="solid"/>
                    <a:miter/>
                  </a:ln>
                </p:spPr>
                <p:txBody>
                  <a:bodyPr rtlCol="0" anchor="ctr"/>
                  <a:lstStyle/>
                  <a:p>
                    <a:endParaRPr lang="en-US"/>
                  </a:p>
                </p:txBody>
              </p:sp>
              <p:sp>
                <p:nvSpPr>
                  <p:cNvPr id="127" name="Picture Placeholder 100">
                    <a:extLst>
                      <a:ext uri="{FF2B5EF4-FFF2-40B4-BE49-F238E27FC236}">
                        <a16:creationId xmlns:a16="http://schemas.microsoft.com/office/drawing/2014/main" id="{79E71A8A-83B9-2994-693B-C9CD61030EEB}"/>
                      </a:ext>
                    </a:extLst>
                  </p:cNvPr>
                  <p:cNvSpPr/>
                  <p:nvPr/>
                </p:nvSpPr>
                <p:spPr>
                  <a:xfrm>
                    <a:off x="10124175" y="2289474"/>
                    <a:ext cx="172387" cy="39212"/>
                  </a:xfrm>
                  <a:custGeom>
                    <a:avLst/>
                    <a:gdLst>
                      <a:gd name="connsiteX0" fmla="*/ 133093 w 172387"/>
                      <a:gd name="connsiteY0" fmla="*/ 19606 h 39212"/>
                      <a:gd name="connsiteX1" fmla="*/ 152741 w 172387"/>
                      <a:gd name="connsiteY1" fmla="*/ 0 h 39212"/>
                      <a:gd name="connsiteX2" fmla="*/ 152741 w 172387"/>
                      <a:gd name="connsiteY2" fmla="*/ 0 h 39212"/>
                      <a:gd name="connsiteX3" fmla="*/ 172388 w 172387"/>
                      <a:gd name="connsiteY3" fmla="*/ 19606 h 39212"/>
                      <a:gd name="connsiteX4" fmla="*/ 172388 w 172387"/>
                      <a:gd name="connsiteY4" fmla="*/ 19606 h 39212"/>
                      <a:gd name="connsiteX5" fmla="*/ 152741 w 172387"/>
                      <a:gd name="connsiteY5" fmla="*/ 39213 h 39212"/>
                      <a:gd name="connsiteX6" fmla="*/ 152741 w 172387"/>
                      <a:gd name="connsiteY6" fmla="*/ 39213 h 39212"/>
                      <a:gd name="connsiteX7" fmla="*/ 133093 w 172387"/>
                      <a:gd name="connsiteY7" fmla="*/ 19606 h 39212"/>
                      <a:gd name="connsiteX8" fmla="*/ 66547 w 172387"/>
                      <a:gd name="connsiteY8" fmla="*/ 19606 h 39212"/>
                      <a:gd name="connsiteX9" fmla="*/ 86194 w 172387"/>
                      <a:gd name="connsiteY9" fmla="*/ 0 h 39212"/>
                      <a:gd name="connsiteX10" fmla="*/ 86194 w 172387"/>
                      <a:gd name="connsiteY10" fmla="*/ 0 h 39212"/>
                      <a:gd name="connsiteX11" fmla="*/ 105841 w 172387"/>
                      <a:gd name="connsiteY11" fmla="*/ 19606 h 39212"/>
                      <a:gd name="connsiteX12" fmla="*/ 105841 w 172387"/>
                      <a:gd name="connsiteY12" fmla="*/ 19606 h 39212"/>
                      <a:gd name="connsiteX13" fmla="*/ 86194 w 172387"/>
                      <a:gd name="connsiteY13" fmla="*/ 39213 h 39212"/>
                      <a:gd name="connsiteX14" fmla="*/ 86194 w 172387"/>
                      <a:gd name="connsiteY14" fmla="*/ 39213 h 39212"/>
                      <a:gd name="connsiteX15" fmla="*/ 66547 w 172387"/>
                      <a:gd name="connsiteY15" fmla="*/ 19606 h 39212"/>
                      <a:gd name="connsiteX16" fmla="*/ 0 w 172387"/>
                      <a:gd name="connsiteY16" fmla="*/ 19606 h 39212"/>
                      <a:gd name="connsiteX17" fmla="*/ 19647 w 172387"/>
                      <a:gd name="connsiteY17" fmla="*/ 0 h 39212"/>
                      <a:gd name="connsiteX18" fmla="*/ 19647 w 172387"/>
                      <a:gd name="connsiteY18" fmla="*/ 0 h 39212"/>
                      <a:gd name="connsiteX19" fmla="*/ 39294 w 172387"/>
                      <a:gd name="connsiteY19" fmla="*/ 19606 h 39212"/>
                      <a:gd name="connsiteX20" fmla="*/ 39294 w 172387"/>
                      <a:gd name="connsiteY20" fmla="*/ 19606 h 39212"/>
                      <a:gd name="connsiteX21" fmla="*/ 19647 w 172387"/>
                      <a:gd name="connsiteY21" fmla="*/ 39213 h 39212"/>
                      <a:gd name="connsiteX22" fmla="*/ 19647 w 172387"/>
                      <a:gd name="connsiteY22" fmla="*/ 39213 h 39212"/>
                      <a:gd name="connsiteX23" fmla="*/ 0 w 172387"/>
                      <a:gd name="connsiteY23" fmla="*/ 19606 h 3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2387" h="39212">
                        <a:moveTo>
                          <a:pt x="133093" y="19606"/>
                        </a:moveTo>
                        <a:cubicBezTo>
                          <a:pt x="133093" y="8854"/>
                          <a:pt x="141966" y="0"/>
                          <a:pt x="152741" y="0"/>
                        </a:cubicBezTo>
                        <a:lnTo>
                          <a:pt x="152741" y="0"/>
                        </a:lnTo>
                        <a:cubicBezTo>
                          <a:pt x="163515" y="0"/>
                          <a:pt x="172388" y="8854"/>
                          <a:pt x="172388" y="19606"/>
                        </a:cubicBezTo>
                        <a:lnTo>
                          <a:pt x="172388" y="19606"/>
                        </a:lnTo>
                        <a:cubicBezTo>
                          <a:pt x="172388" y="30358"/>
                          <a:pt x="163515" y="39213"/>
                          <a:pt x="152741" y="39213"/>
                        </a:cubicBezTo>
                        <a:lnTo>
                          <a:pt x="152741" y="39213"/>
                        </a:lnTo>
                        <a:cubicBezTo>
                          <a:pt x="141966" y="39213"/>
                          <a:pt x="133093" y="30358"/>
                          <a:pt x="133093" y="19606"/>
                        </a:cubicBezTo>
                        <a:close/>
                        <a:moveTo>
                          <a:pt x="66547" y="19606"/>
                        </a:moveTo>
                        <a:cubicBezTo>
                          <a:pt x="66547" y="8854"/>
                          <a:pt x="75420" y="0"/>
                          <a:pt x="86194" y="0"/>
                        </a:cubicBezTo>
                        <a:lnTo>
                          <a:pt x="86194" y="0"/>
                        </a:lnTo>
                        <a:cubicBezTo>
                          <a:pt x="96968" y="0"/>
                          <a:pt x="105841" y="8854"/>
                          <a:pt x="105841" y="19606"/>
                        </a:cubicBezTo>
                        <a:lnTo>
                          <a:pt x="105841" y="19606"/>
                        </a:lnTo>
                        <a:cubicBezTo>
                          <a:pt x="105841" y="30358"/>
                          <a:pt x="96968" y="39213"/>
                          <a:pt x="86194" y="39213"/>
                        </a:cubicBezTo>
                        <a:lnTo>
                          <a:pt x="86194" y="39213"/>
                        </a:lnTo>
                        <a:cubicBezTo>
                          <a:pt x="75420" y="39213"/>
                          <a:pt x="66547" y="30358"/>
                          <a:pt x="66547" y="19606"/>
                        </a:cubicBezTo>
                        <a:close/>
                        <a:moveTo>
                          <a:pt x="0" y="19606"/>
                        </a:moveTo>
                        <a:cubicBezTo>
                          <a:pt x="0" y="8854"/>
                          <a:pt x="8873" y="0"/>
                          <a:pt x="19647" y="0"/>
                        </a:cubicBezTo>
                        <a:lnTo>
                          <a:pt x="19647" y="0"/>
                        </a:lnTo>
                        <a:cubicBezTo>
                          <a:pt x="30421" y="0"/>
                          <a:pt x="39294" y="8854"/>
                          <a:pt x="39294" y="19606"/>
                        </a:cubicBezTo>
                        <a:lnTo>
                          <a:pt x="39294" y="19606"/>
                        </a:lnTo>
                        <a:cubicBezTo>
                          <a:pt x="39294" y="30358"/>
                          <a:pt x="30421" y="39213"/>
                          <a:pt x="19647" y="39213"/>
                        </a:cubicBezTo>
                        <a:lnTo>
                          <a:pt x="19647" y="39213"/>
                        </a:lnTo>
                        <a:cubicBezTo>
                          <a:pt x="8873" y="39213"/>
                          <a:pt x="0" y="30358"/>
                          <a:pt x="0" y="19606"/>
                        </a:cubicBezTo>
                        <a:close/>
                      </a:path>
                    </a:pathLst>
                  </a:custGeom>
                  <a:grpFill/>
                  <a:ln w="6271" cap="flat">
                    <a:noFill/>
                    <a:prstDash val="solid"/>
                    <a:miter/>
                  </a:ln>
                </p:spPr>
                <p:txBody>
                  <a:bodyPr rtlCol="0" anchor="ctr"/>
                  <a:lstStyle/>
                  <a:p>
                    <a:endParaRPr lang="en-US"/>
                  </a:p>
                </p:txBody>
              </p:sp>
              <p:sp>
                <p:nvSpPr>
                  <p:cNvPr id="128" name="Picture Placeholder 100">
                    <a:extLst>
                      <a:ext uri="{FF2B5EF4-FFF2-40B4-BE49-F238E27FC236}">
                        <a16:creationId xmlns:a16="http://schemas.microsoft.com/office/drawing/2014/main" id="{0CF5FF32-D877-798B-F82C-1C29CB9FB895}"/>
                      </a:ext>
                    </a:extLst>
                  </p:cNvPr>
                  <p:cNvSpPr/>
                  <p:nvPr/>
                </p:nvSpPr>
                <p:spPr>
                  <a:xfrm>
                    <a:off x="10324449" y="2289089"/>
                    <a:ext cx="40561" cy="39597"/>
                  </a:xfrm>
                  <a:custGeom>
                    <a:avLst/>
                    <a:gdLst>
                      <a:gd name="connsiteX0" fmla="*/ 19647 w 40561"/>
                      <a:gd name="connsiteY0" fmla="*/ 39597 h 39597"/>
                      <a:gd name="connsiteX1" fmla="*/ 5704 w 40561"/>
                      <a:gd name="connsiteY1" fmla="*/ 33905 h 39597"/>
                      <a:gd name="connsiteX2" fmla="*/ 0 w 40561"/>
                      <a:gd name="connsiteY2" fmla="*/ 19991 h 39597"/>
                      <a:gd name="connsiteX3" fmla="*/ 634 w 40561"/>
                      <a:gd name="connsiteY3" fmla="*/ 16196 h 39597"/>
                      <a:gd name="connsiteX4" fmla="*/ 1901 w 40561"/>
                      <a:gd name="connsiteY4" fmla="*/ 12401 h 39597"/>
                      <a:gd name="connsiteX5" fmla="*/ 3803 w 40561"/>
                      <a:gd name="connsiteY5" fmla="*/ 9239 h 39597"/>
                      <a:gd name="connsiteX6" fmla="*/ 6338 w 40561"/>
                      <a:gd name="connsiteY6" fmla="*/ 6077 h 39597"/>
                      <a:gd name="connsiteX7" fmla="*/ 9507 w 40561"/>
                      <a:gd name="connsiteY7" fmla="*/ 3547 h 39597"/>
                      <a:gd name="connsiteX8" fmla="*/ 12676 w 40561"/>
                      <a:gd name="connsiteY8" fmla="*/ 1650 h 39597"/>
                      <a:gd name="connsiteX9" fmla="*/ 16478 w 40561"/>
                      <a:gd name="connsiteY9" fmla="*/ 385 h 39597"/>
                      <a:gd name="connsiteX10" fmla="*/ 34224 w 40561"/>
                      <a:gd name="connsiteY10" fmla="*/ 5444 h 39597"/>
                      <a:gd name="connsiteX11" fmla="*/ 36759 w 40561"/>
                      <a:gd name="connsiteY11" fmla="*/ 8607 h 39597"/>
                      <a:gd name="connsiteX12" fmla="*/ 38660 w 40561"/>
                      <a:gd name="connsiteY12" fmla="*/ 11769 h 39597"/>
                      <a:gd name="connsiteX13" fmla="*/ 39928 w 40561"/>
                      <a:gd name="connsiteY13" fmla="*/ 15564 h 39597"/>
                      <a:gd name="connsiteX14" fmla="*/ 40562 w 40561"/>
                      <a:gd name="connsiteY14" fmla="*/ 19358 h 39597"/>
                      <a:gd name="connsiteX15" fmla="*/ 34858 w 40561"/>
                      <a:gd name="connsiteY15" fmla="*/ 33273 h 39597"/>
                      <a:gd name="connsiteX16" fmla="*/ 31689 w 40561"/>
                      <a:gd name="connsiteY16" fmla="*/ 35802 h 39597"/>
                      <a:gd name="connsiteX17" fmla="*/ 28520 w 40561"/>
                      <a:gd name="connsiteY17" fmla="*/ 37700 h 39597"/>
                      <a:gd name="connsiteX18" fmla="*/ 24717 w 40561"/>
                      <a:gd name="connsiteY18" fmla="*/ 38965 h 39597"/>
                      <a:gd name="connsiteX19" fmla="*/ 19647 w 40561"/>
                      <a:gd name="connsiteY19" fmla="*/ 39597 h 3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561" h="39597">
                        <a:moveTo>
                          <a:pt x="19647" y="39597"/>
                        </a:moveTo>
                        <a:cubicBezTo>
                          <a:pt x="14577" y="39597"/>
                          <a:pt x="9507" y="37700"/>
                          <a:pt x="5704" y="33905"/>
                        </a:cubicBezTo>
                        <a:cubicBezTo>
                          <a:pt x="1901" y="30110"/>
                          <a:pt x="0" y="25051"/>
                          <a:pt x="0" y="19991"/>
                        </a:cubicBezTo>
                        <a:cubicBezTo>
                          <a:pt x="0" y="18726"/>
                          <a:pt x="0" y="17461"/>
                          <a:pt x="634" y="16196"/>
                        </a:cubicBezTo>
                        <a:cubicBezTo>
                          <a:pt x="634" y="14931"/>
                          <a:pt x="1268" y="13666"/>
                          <a:pt x="1901" y="12401"/>
                        </a:cubicBezTo>
                        <a:cubicBezTo>
                          <a:pt x="2535" y="11137"/>
                          <a:pt x="3169" y="9872"/>
                          <a:pt x="3803" y="9239"/>
                        </a:cubicBezTo>
                        <a:cubicBezTo>
                          <a:pt x="4436" y="7974"/>
                          <a:pt x="5070" y="7342"/>
                          <a:pt x="6338" y="6077"/>
                        </a:cubicBezTo>
                        <a:cubicBezTo>
                          <a:pt x="7605" y="4812"/>
                          <a:pt x="8239" y="4179"/>
                          <a:pt x="9507" y="3547"/>
                        </a:cubicBezTo>
                        <a:cubicBezTo>
                          <a:pt x="10774" y="2915"/>
                          <a:pt x="12042" y="2282"/>
                          <a:pt x="12676" y="1650"/>
                        </a:cubicBezTo>
                        <a:cubicBezTo>
                          <a:pt x="13943" y="1017"/>
                          <a:pt x="15211" y="1017"/>
                          <a:pt x="16478" y="385"/>
                        </a:cubicBezTo>
                        <a:cubicBezTo>
                          <a:pt x="22816" y="-880"/>
                          <a:pt x="29788" y="1017"/>
                          <a:pt x="34224" y="5444"/>
                        </a:cubicBezTo>
                        <a:cubicBezTo>
                          <a:pt x="34858" y="6077"/>
                          <a:pt x="36125" y="7342"/>
                          <a:pt x="36759" y="8607"/>
                        </a:cubicBezTo>
                        <a:cubicBezTo>
                          <a:pt x="37393" y="9872"/>
                          <a:pt x="38027" y="10504"/>
                          <a:pt x="38660" y="11769"/>
                        </a:cubicBezTo>
                        <a:cubicBezTo>
                          <a:pt x="39294" y="13034"/>
                          <a:pt x="39294" y="14299"/>
                          <a:pt x="39928" y="15564"/>
                        </a:cubicBezTo>
                        <a:cubicBezTo>
                          <a:pt x="39928" y="16829"/>
                          <a:pt x="40562" y="18094"/>
                          <a:pt x="40562" y="19358"/>
                        </a:cubicBezTo>
                        <a:cubicBezTo>
                          <a:pt x="40562" y="24418"/>
                          <a:pt x="38660" y="29478"/>
                          <a:pt x="34858" y="33273"/>
                        </a:cubicBezTo>
                        <a:cubicBezTo>
                          <a:pt x="33590" y="33905"/>
                          <a:pt x="32957" y="35170"/>
                          <a:pt x="31689" y="35802"/>
                        </a:cubicBezTo>
                        <a:cubicBezTo>
                          <a:pt x="30421" y="36435"/>
                          <a:pt x="29154" y="37067"/>
                          <a:pt x="28520" y="37700"/>
                        </a:cubicBezTo>
                        <a:cubicBezTo>
                          <a:pt x="27252" y="38332"/>
                          <a:pt x="25985" y="38332"/>
                          <a:pt x="24717" y="38965"/>
                        </a:cubicBezTo>
                        <a:cubicBezTo>
                          <a:pt x="22182" y="39597"/>
                          <a:pt x="20915" y="39597"/>
                          <a:pt x="19647" y="39597"/>
                        </a:cubicBezTo>
                        <a:close/>
                      </a:path>
                    </a:pathLst>
                  </a:custGeom>
                  <a:grpFill/>
                  <a:ln w="6271" cap="flat">
                    <a:noFill/>
                    <a:prstDash val="solid"/>
                    <a:miter/>
                  </a:ln>
                </p:spPr>
                <p:txBody>
                  <a:bodyPr rtlCol="0" anchor="ctr"/>
                  <a:lstStyle/>
                  <a:p>
                    <a:endParaRPr lang="en-US"/>
                  </a:p>
                </p:txBody>
              </p:sp>
            </p:grpSp>
            <p:grpSp>
              <p:nvGrpSpPr>
                <p:cNvPr id="118" name="Picture Placeholder 100">
                  <a:extLst>
                    <a:ext uri="{FF2B5EF4-FFF2-40B4-BE49-F238E27FC236}">
                      <a16:creationId xmlns:a16="http://schemas.microsoft.com/office/drawing/2014/main" id="{2D9C8A66-5E84-05CC-8514-2F438DABC84D}"/>
                    </a:ext>
                  </a:extLst>
                </p:cNvPr>
                <p:cNvGrpSpPr/>
                <p:nvPr/>
              </p:nvGrpSpPr>
              <p:grpSpPr>
                <a:xfrm>
                  <a:off x="10056361" y="2045592"/>
                  <a:ext cx="308658" cy="40862"/>
                  <a:chOff x="10056361" y="2045592"/>
                  <a:chExt cx="308658" cy="40862"/>
                </a:xfrm>
                <a:grpFill/>
              </p:grpSpPr>
              <p:sp>
                <p:nvSpPr>
                  <p:cNvPr id="123" name="Picture Placeholder 100">
                    <a:extLst>
                      <a:ext uri="{FF2B5EF4-FFF2-40B4-BE49-F238E27FC236}">
                        <a16:creationId xmlns:a16="http://schemas.microsoft.com/office/drawing/2014/main" id="{58AB778F-859A-5997-7920-C44C647EB875}"/>
                      </a:ext>
                    </a:extLst>
                  </p:cNvPr>
                  <p:cNvSpPr/>
                  <p:nvPr/>
                </p:nvSpPr>
                <p:spPr>
                  <a:xfrm>
                    <a:off x="10056361" y="2045592"/>
                    <a:ext cx="40561" cy="40229"/>
                  </a:xfrm>
                  <a:custGeom>
                    <a:avLst/>
                    <a:gdLst>
                      <a:gd name="connsiteX0" fmla="*/ 20281 w 40561"/>
                      <a:gd name="connsiteY0" fmla="*/ 40230 h 40229"/>
                      <a:gd name="connsiteX1" fmla="*/ 16478 w 40561"/>
                      <a:gd name="connsiteY1" fmla="*/ 39597 h 40229"/>
                      <a:gd name="connsiteX2" fmla="*/ 12676 w 40561"/>
                      <a:gd name="connsiteY2" fmla="*/ 38332 h 40229"/>
                      <a:gd name="connsiteX3" fmla="*/ 9507 w 40561"/>
                      <a:gd name="connsiteY3" fmla="*/ 36435 h 40229"/>
                      <a:gd name="connsiteX4" fmla="*/ 6338 w 40561"/>
                      <a:gd name="connsiteY4" fmla="*/ 33905 h 40229"/>
                      <a:gd name="connsiteX5" fmla="*/ 3803 w 40561"/>
                      <a:gd name="connsiteY5" fmla="*/ 30743 h 40229"/>
                      <a:gd name="connsiteX6" fmla="*/ 1901 w 40561"/>
                      <a:gd name="connsiteY6" fmla="*/ 27580 h 40229"/>
                      <a:gd name="connsiteX7" fmla="*/ 634 w 40561"/>
                      <a:gd name="connsiteY7" fmla="*/ 23786 h 40229"/>
                      <a:gd name="connsiteX8" fmla="*/ 0 w 40561"/>
                      <a:gd name="connsiteY8" fmla="*/ 19991 h 40229"/>
                      <a:gd name="connsiteX9" fmla="*/ 634 w 40561"/>
                      <a:gd name="connsiteY9" fmla="*/ 16196 h 40229"/>
                      <a:gd name="connsiteX10" fmla="*/ 1901 w 40561"/>
                      <a:gd name="connsiteY10" fmla="*/ 12401 h 40229"/>
                      <a:gd name="connsiteX11" fmla="*/ 3803 w 40561"/>
                      <a:gd name="connsiteY11" fmla="*/ 9239 h 40229"/>
                      <a:gd name="connsiteX12" fmla="*/ 6338 w 40561"/>
                      <a:gd name="connsiteY12" fmla="*/ 6077 h 40229"/>
                      <a:gd name="connsiteX13" fmla="*/ 9507 w 40561"/>
                      <a:gd name="connsiteY13" fmla="*/ 3547 h 40229"/>
                      <a:gd name="connsiteX14" fmla="*/ 12676 w 40561"/>
                      <a:gd name="connsiteY14" fmla="*/ 1650 h 40229"/>
                      <a:gd name="connsiteX15" fmla="*/ 16478 w 40561"/>
                      <a:gd name="connsiteY15" fmla="*/ 385 h 40229"/>
                      <a:gd name="connsiteX16" fmla="*/ 34224 w 40561"/>
                      <a:gd name="connsiteY16" fmla="*/ 5444 h 40229"/>
                      <a:gd name="connsiteX17" fmla="*/ 36759 w 40561"/>
                      <a:gd name="connsiteY17" fmla="*/ 8607 h 40229"/>
                      <a:gd name="connsiteX18" fmla="*/ 38660 w 40561"/>
                      <a:gd name="connsiteY18" fmla="*/ 11769 h 40229"/>
                      <a:gd name="connsiteX19" fmla="*/ 39928 w 40561"/>
                      <a:gd name="connsiteY19" fmla="*/ 15564 h 40229"/>
                      <a:gd name="connsiteX20" fmla="*/ 40562 w 40561"/>
                      <a:gd name="connsiteY20" fmla="*/ 19358 h 40229"/>
                      <a:gd name="connsiteX21" fmla="*/ 39928 w 40561"/>
                      <a:gd name="connsiteY21" fmla="*/ 23153 h 40229"/>
                      <a:gd name="connsiteX22" fmla="*/ 38660 w 40561"/>
                      <a:gd name="connsiteY22" fmla="*/ 26948 h 40229"/>
                      <a:gd name="connsiteX23" fmla="*/ 36759 w 40561"/>
                      <a:gd name="connsiteY23" fmla="*/ 30110 h 40229"/>
                      <a:gd name="connsiteX24" fmla="*/ 34224 w 40561"/>
                      <a:gd name="connsiteY24" fmla="*/ 33273 h 40229"/>
                      <a:gd name="connsiteX25" fmla="*/ 31055 w 40561"/>
                      <a:gd name="connsiteY25" fmla="*/ 35802 h 40229"/>
                      <a:gd name="connsiteX26" fmla="*/ 27886 w 40561"/>
                      <a:gd name="connsiteY26" fmla="*/ 37700 h 40229"/>
                      <a:gd name="connsiteX27" fmla="*/ 24084 w 40561"/>
                      <a:gd name="connsiteY27" fmla="*/ 38965 h 40229"/>
                      <a:gd name="connsiteX28" fmla="*/ 20281 w 40561"/>
                      <a:gd name="connsiteY28" fmla="*/ 40230 h 4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0561" h="40229">
                        <a:moveTo>
                          <a:pt x="20281" y="40230"/>
                        </a:moveTo>
                        <a:cubicBezTo>
                          <a:pt x="19013" y="40230"/>
                          <a:pt x="17746" y="40230"/>
                          <a:pt x="16478" y="39597"/>
                        </a:cubicBezTo>
                        <a:cubicBezTo>
                          <a:pt x="15211" y="39597"/>
                          <a:pt x="13943" y="38965"/>
                          <a:pt x="12676" y="38332"/>
                        </a:cubicBezTo>
                        <a:cubicBezTo>
                          <a:pt x="11408" y="37700"/>
                          <a:pt x="10140" y="37067"/>
                          <a:pt x="9507" y="36435"/>
                        </a:cubicBezTo>
                        <a:cubicBezTo>
                          <a:pt x="8239" y="35802"/>
                          <a:pt x="7605" y="35170"/>
                          <a:pt x="6338" y="33905"/>
                        </a:cubicBezTo>
                        <a:cubicBezTo>
                          <a:pt x="5070" y="32640"/>
                          <a:pt x="4436" y="32008"/>
                          <a:pt x="3803" y="30743"/>
                        </a:cubicBezTo>
                        <a:cubicBezTo>
                          <a:pt x="3169" y="29478"/>
                          <a:pt x="2535" y="28213"/>
                          <a:pt x="1901" y="27580"/>
                        </a:cubicBezTo>
                        <a:cubicBezTo>
                          <a:pt x="1268" y="26316"/>
                          <a:pt x="1268" y="25051"/>
                          <a:pt x="634" y="23786"/>
                        </a:cubicBezTo>
                        <a:cubicBezTo>
                          <a:pt x="634" y="22521"/>
                          <a:pt x="0" y="21256"/>
                          <a:pt x="0" y="19991"/>
                        </a:cubicBezTo>
                        <a:cubicBezTo>
                          <a:pt x="0" y="18726"/>
                          <a:pt x="0" y="17461"/>
                          <a:pt x="634" y="16196"/>
                        </a:cubicBezTo>
                        <a:cubicBezTo>
                          <a:pt x="634" y="14931"/>
                          <a:pt x="1268" y="13666"/>
                          <a:pt x="1901" y="12401"/>
                        </a:cubicBezTo>
                        <a:cubicBezTo>
                          <a:pt x="2535" y="11137"/>
                          <a:pt x="3169" y="9872"/>
                          <a:pt x="3803" y="9239"/>
                        </a:cubicBezTo>
                        <a:cubicBezTo>
                          <a:pt x="4436" y="7974"/>
                          <a:pt x="5070" y="7342"/>
                          <a:pt x="6338" y="6077"/>
                        </a:cubicBezTo>
                        <a:cubicBezTo>
                          <a:pt x="6972" y="5444"/>
                          <a:pt x="8239" y="4179"/>
                          <a:pt x="9507" y="3547"/>
                        </a:cubicBezTo>
                        <a:cubicBezTo>
                          <a:pt x="10774" y="2915"/>
                          <a:pt x="12042" y="2282"/>
                          <a:pt x="12676" y="1650"/>
                        </a:cubicBezTo>
                        <a:cubicBezTo>
                          <a:pt x="13943" y="1017"/>
                          <a:pt x="15211" y="1017"/>
                          <a:pt x="16478" y="385"/>
                        </a:cubicBezTo>
                        <a:cubicBezTo>
                          <a:pt x="22816" y="-880"/>
                          <a:pt x="29788" y="1017"/>
                          <a:pt x="34224" y="5444"/>
                        </a:cubicBezTo>
                        <a:cubicBezTo>
                          <a:pt x="34858" y="6709"/>
                          <a:pt x="36125" y="7342"/>
                          <a:pt x="36759" y="8607"/>
                        </a:cubicBezTo>
                        <a:cubicBezTo>
                          <a:pt x="37393" y="9872"/>
                          <a:pt x="38027" y="11137"/>
                          <a:pt x="38660" y="11769"/>
                        </a:cubicBezTo>
                        <a:cubicBezTo>
                          <a:pt x="39294" y="13034"/>
                          <a:pt x="39294" y="14299"/>
                          <a:pt x="39928" y="15564"/>
                        </a:cubicBezTo>
                        <a:cubicBezTo>
                          <a:pt x="39928" y="16829"/>
                          <a:pt x="40562" y="18094"/>
                          <a:pt x="40562" y="19358"/>
                        </a:cubicBezTo>
                        <a:cubicBezTo>
                          <a:pt x="40562" y="20623"/>
                          <a:pt x="40562" y="21888"/>
                          <a:pt x="39928" y="23153"/>
                        </a:cubicBezTo>
                        <a:cubicBezTo>
                          <a:pt x="39928" y="24418"/>
                          <a:pt x="39294" y="25683"/>
                          <a:pt x="38660" y="26948"/>
                        </a:cubicBezTo>
                        <a:cubicBezTo>
                          <a:pt x="38027" y="28213"/>
                          <a:pt x="37393" y="29478"/>
                          <a:pt x="36759" y="30110"/>
                        </a:cubicBezTo>
                        <a:cubicBezTo>
                          <a:pt x="36125" y="31375"/>
                          <a:pt x="35492" y="32008"/>
                          <a:pt x="34224" y="33273"/>
                        </a:cubicBezTo>
                        <a:cubicBezTo>
                          <a:pt x="32956" y="33905"/>
                          <a:pt x="32323" y="35170"/>
                          <a:pt x="31055" y="35802"/>
                        </a:cubicBezTo>
                        <a:cubicBezTo>
                          <a:pt x="29788" y="36435"/>
                          <a:pt x="28520" y="37067"/>
                          <a:pt x="27886" y="37700"/>
                        </a:cubicBezTo>
                        <a:cubicBezTo>
                          <a:pt x="26619" y="38332"/>
                          <a:pt x="25351" y="38332"/>
                          <a:pt x="24084" y="38965"/>
                        </a:cubicBezTo>
                        <a:cubicBezTo>
                          <a:pt x="22816" y="40230"/>
                          <a:pt x="21548" y="40230"/>
                          <a:pt x="20281" y="40230"/>
                        </a:cubicBezTo>
                        <a:close/>
                      </a:path>
                    </a:pathLst>
                  </a:custGeom>
                  <a:grpFill/>
                  <a:ln w="6271" cap="flat">
                    <a:noFill/>
                    <a:prstDash val="solid"/>
                    <a:miter/>
                  </a:ln>
                </p:spPr>
                <p:txBody>
                  <a:bodyPr rtlCol="0" anchor="ctr"/>
                  <a:lstStyle/>
                  <a:p>
                    <a:endParaRPr lang="en-US"/>
                  </a:p>
                </p:txBody>
              </p:sp>
              <p:sp>
                <p:nvSpPr>
                  <p:cNvPr id="124" name="Picture Placeholder 100">
                    <a:extLst>
                      <a:ext uri="{FF2B5EF4-FFF2-40B4-BE49-F238E27FC236}">
                        <a16:creationId xmlns:a16="http://schemas.microsoft.com/office/drawing/2014/main" id="{16A25C98-6268-98F4-30BB-28C774D199C7}"/>
                      </a:ext>
                    </a:extLst>
                  </p:cNvPr>
                  <p:cNvSpPr/>
                  <p:nvPr/>
                </p:nvSpPr>
                <p:spPr>
                  <a:xfrm>
                    <a:off x="10124175" y="2046609"/>
                    <a:ext cx="172387" cy="39212"/>
                  </a:xfrm>
                  <a:custGeom>
                    <a:avLst/>
                    <a:gdLst>
                      <a:gd name="connsiteX0" fmla="*/ 133093 w 172387"/>
                      <a:gd name="connsiteY0" fmla="*/ 19606 h 39212"/>
                      <a:gd name="connsiteX1" fmla="*/ 152741 w 172387"/>
                      <a:gd name="connsiteY1" fmla="*/ 0 h 39212"/>
                      <a:gd name="connsiteX2" fmla="*/ 152741 w 172387"/>
                      <a:gd name="connsiteY2" fmla="*/ 0 h 39212"/>
                      <a:gd name="connsiteX3" fmla="*/ 172388 w 172387"/>
                      <a:gd name="connsiteY3" fmla="*/ 19606 h 39212"/>
                      <a:gd name="connsiteX4" fmla="*/ 172388 w 172387"/>
                      <a:gd name="connsiteY4" fmla="*/ 19606 h 39212"/>
                      <a:gd name="connsiteX5" fmla="*/ 152741 w 172387"/>
                      <a:gd name="connsiteY5" fmla="*/ 39213 h 39212"/>
                      <a:gd name="connsiteX6" fmla="*/ 152741 w 172387"/>
                      <a:gd name="connsiteY6" fmla="*/ 39213 h 39212"/>
                      <a:gd name="connsiteX7" fmla="*/ 133093 w 172387"/>
                      <a:gd name="connsiteY7" fmla="*/ 19606 h 39212"/>
                      <a:gd name="connsiteX8" fmla="*/ 66547 w 172387"/>
                      <a:gd name="connsiteY8" fmla="*/ 19606 h 39212"/>
                      <a:gd name="connsiteX9" fmla="*/ 86194 w 172387"/>
                      <a:gd name="connsiteY9" fmla="*/ 0 h 39212"/>
                      <a:gd name="connsiteX10" fmla="*/ 86194 w 172387"/>
                      <a:gd name="connsiteY10" fmla="*/ 0 h 39212"/>
                      <a:gd name="connsiteX11" fmla="*/ 105841 w 172387"/>
                      <a:gd name="connsiteY11" fmla="*/ 19606 h 39212"/>
                      <a:gd name="connsiteX12" fmla="*/ 105841 w 172387"/>
                      <a:gd name="connsiteY12" fmla="*/ 19606 h 39212"/>
                      <a:gd name="connsiteX13" fmla="*/ 86194 w 172387"/>
                      <a:gd name="connsiteY13" fmla="*/ 39213 h 39212"/>
                      <a:gd name="connsiteX14" fmla="*/ 86194 w 172387"/>
                      <a:gd name="connsiteY14" fmla="*/ 39213 h 39212"/>
                      <a:gd name="connsiteX15" fmla="*/ 66547 w 172387"/>
                      <a:gd name="connsiteY15" fmla="*/ 19606 h 39212"/>
                      <a:gd name="connsiteX16" fmla="*/ 0 w 172387"/>
                      <a:gd name="connsiteY16" fmla="*/ 19606 h 39212"/>
                      <a:gd name="connsiteX17" fmla="*/ 19647 w 172387"/>
                      <a:gd name="connsiteY17" fmla="*/ 0 h 39212"/>
                      <a:gd name="connsiteX18" fmla="*/ 19647 w 172387"/>
                      <a:gd name="connsiteY18" fmla="*/ 0 h 39212"/>
                      <a:gd name="connsiteX19" fmla="*/ 39294 w 172387"/>
                      <a:gd name="connsiteY19" fmla="*/ 19606 h 39212"/>
                      <a:gd name="connsiteX20" fmla="*/ 39294 w 172387"/>
                      <a:gd name="connsiteY20" fmla="*/ 19606 h 39212"/>
                      <a:gd name="connsiteX21" fmla="*/ 19647 w 172387"/>
                      <a:gd name="connsiteY21" fmla="*/ 39213 h 39212"/>
                      <a:gd name="connsiteX22" fmla="*/ 19647 w 172387"/>
                      <a:gd name="connsiteY22" fmla="*/ 39213 h 39212"/>
                      <a:gd name="connsiteX23" fmla="*/ 0 w 172387"/>
                      <a:gd name="connsiteY23" fmla="*/ 19606 h 3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2387" h="39212">
                        <a:moveTo>
                          <a:pt x="133093" y="19606"/>
                        </a:moveTo>
                        <a:cubicBezTo>
                          <a:pt x="133093" y="8854"/>
                          <a:pt x="141966" y="0"/>
                          <a:pt x="152741" y="0"/>
                        </a:cubicBezTo>
                        <a:lnTo>
                          <a:pt x="152741" y="0"/>
                        </a:lnTo>
                        <a:cubicBezTo>
                          <a:pt x="163515" y="0"/>
                          <a:pt x="172388" y="8854"/>
                          <a:pt x="172388" y="19606"/>
                        </a:cubicBezTo>
                        <a:lnTo>
                          <a:pt x="172388" y="19606"/>
                        </a:lnTo>
                        <a:cubicBezTo>
                          <a:pt x="172388" y="30358"/>
                          <a:pt x="163515" y="39213"/>
                          <a:pt x="152741" y="39213"/>
                        </a:cubicBezTo>
                        <a:lnTo>
                          <a:pt x="152741" y="39213"/>
                        </a:lnTo>
                        <a:cubicBezTo>
                          <a:pt x="141966" y="39213"/>
                          <a:pt x="133093" y="30358"/>
                          <a:pt x="133093" y="19606"/>
                        </a:cubicBezTo>
                        <a:close/>
                        <a:moveTo>
                          <a:pt x="66547" y="19606"/>
                        </a:moveTo>
                        <a:cubicBezTo>
                          <a:pt x="66547" y="8854"/>
                          <a:pt x="75420" y="0"/>
                          <a:pt x="86194" y="0"/>
                        </a:cubicBezTo>
                        <a:lnTo>
                          <a:pt x="86194" y="0"/>
                        </a:lnTo>
                        <a:cubicBezTo>
                          <a:pt x="96968" y="0"/>
                          <a:pt x="105841" y="8854"/>
                          <a:pt x="105841" y="19606"/>
                        </a:cubicBezTo>
                        <a:lnTo>
                          <a:pt x="105841" y="19606"/>
                        </a:lnTo>
                        <a:cubicBezTo>
                          <a:pt x="105841" y="30358"/>
                          <a:pt x="96968" y="39213"/>
                          <a:pt x="86194" y="39213"/>
                        </a:cubicBezTo>
                        <a:lnTo>
                          <a:pt x="86194" y="39213"/>
                        </a:lnTo>
                        <a:cubicBezTo>
                          <a:pt x="75420" y="39213"/>
                          <a:pt x="66547" y="30358"/>
                          <a:pt x="66547" y="19606"/>
                        </a:cubicBezTo>
                        <a:close/>
                        <a:moveTo>
                          <a:pt x="0" y="19606"/>
                        </a:moveTo>
                        <a:cubicBezTo>
                          <a:pt x="0" y="8854"/>
                          <a:pt x="8873" y="0"/>
                          <a:pt x="19647" y="0"/>
                        </a:cubicBezTo>
                        <a:lnTo>
                          <a:pt x="19647" y="0"/>
                        </a:lnTo>
                        <a:cubicBezTo>
                          <a:pt x="30421" y="0"/>
                          <a:pt x="39294" y="8854"/>
                          <a:pt x="39294" y="19606"/>
                        </a:cubicBezTo>
                        <a:lnTo>
                          <a:pt x="39294" y="19606"/>
                        </a:lnTo>
                        <a:cubicBezTo>
                          <a:pt x="39294" y="30358"/>
                          <a:pt x="30421" y="39213"/>
                          <a:pt x="19647" y="39213"/>
                        </a:cubicBezTo>
                        <a:lnTo>
                          <a:pt x="19647" y="39213"/>
                        </a:lnTo>
                        <a:cubicBezTo>
                          <a:pt x="8873" y="39213"/>
                          <a:pt x="0" y="30358"/>
                          <a:pt x="0" y="19606"/>
                        </a:cubicBezTo>
                        <a:close/>
                      </a:path>
                    </a:pathLst>
                  </a:custGeom>
                  <a:grpFill/>
                  <a:ln w="6271" cap="flat">
                    <a:noFill/>
                    <a:prstDash val="solid"/>
                    <a:miter/>
                  </a:ln>
                </p:spPr>
                <p:txBody>
                  <a:bodyPr rtlCol="0" anchor="ctr"/>
                  <a:lstStyle/>
                  <a:p>
                    <a:endParaRPr lang="en-US"/>
                  </a:p>
                </p:txBody>
              </p:sp>
              <p:sp>
                <p:nvSpPr>
                  <p:cNvPr id="125" name="Picture Placeholder 100">
                    <a:extLst>
                      <a:ext uri="{FF2B5EF4-FFF2-40B4-BE49-F238E27FC236}">
                        <a16:creationId xmlns:a16="http://schemas.microsoft.com/office/drawing/2014/main" id="{631A93B4-9EC8-D249-6C83-104B40F40991}"/>
                      </a:ext>
                    </a:extLst>
                  </p:cNvPr>
                  <p:cNvSpPr/>
                  <p:nvPr/>
                </p:nvSpPr>
                <p:spPr>
                  <a:xfrm>
                    <a:off x="10324449" y="2046857"/>
                    <a:ext cx="39928" cy="39597"/>
                  </a:xfrm>
                  <a:custGeom>
                    <a:avLst/>
                    <a:gdLst>
                      <a:gd name="connsiteX0" fmla="*/ 19647 w 39928"/>
                      <a:gd name="connsiteY0" fmla="*/ 38965 h 39597"/>
                      <a:gd name="connsiteX1" fmla="*/ 5704 w 39928"/>
                      <a:gd name="connsiteY1" fmla="*/ 33273 h 39597"/>
                      <a:gd name="connsiteX2" fmla="*/ 0 w 39928"/>
                      <a:gd name="connsiteY2" fmla="*/ 19358 h 39597"/>
                      <a:gd name="connsiteX3" fmla="*/ 5704 w 39928"/>
                      <a:gd name="connsiteY3" fmla="*/ 5444 h 39597"/>
                      <a:gd name="connsiteX4" fmla="*/ 23450 w 39928"/>
                      <a:gd name="connsiteY4" fmla="*/ 385 h 39597"/>
                      <a:gd name="connsiteX5" fmla="*/ 27252 w 39928"/>
                      <a:gd name="connsiteY5" fmla="*/ 1650 h 39597"/>
                      <a:gd name="connsiteX6" fmla="*/ 30421 w 39928"/>
                      <a:gd name="connsiteY6" fmla="*/ 3547 h 39597"/>
                      <a:gd name="connsiteX7" fmla="*/ 33590 w 39928"/>
                      <a:gd name="connsiteY7" fmla="*/ 6077 h 39597"/>
                      <a:gd name="connsiteX8" fmla="*/ 36125 w 39928"/>
                      <a:gd name="connsiteY8" fmla="*/ 9239 h 39597"/>
                      <a:gd name="connsiteX9" fmla="*/ 38027 w 39928"/>
                      <a:gd name="connsiteY9" fmla="*/ 12401 h 39597"/>
                      <a:gd name="connsiteX10" fmla="*/ 39294 w 39928"/>
                      <a:gd name="connsiteY10" fmla="*/ 16196 h 39597"/>
                      <a:gd name="connsiteX11" fmla="*/ 39928 w 39928"/>
                      <a:gd name="connsiteY11" fmla="*/ 19991 h 39597"/>
                      <a:gd name="connsiteX12" fmla="*/ 34224 w 39928"/>
                      <a:gd name="connsiteY12" fmla="*/ 33905 h 39597"/>
                      <a:gd name="connsiteX13" fmla="*/ 31055 w 39928"/>
                      <a:gd name="connsiteY13" fmla="*/ 36435 h 39597"/>
                      <a:gd name="connsiteX14" fmla="*/ 27886 w 39928"/>
                      <a:gd name="connsiteY14" fmla="*/ 38332 h 39597"/>
                      <a:gd name="connsiteX15" fmla="*/ 24084 w 39928"/>
                      <a:gd name="connsiteY15" fmla="*/ 39597 h 39597"/>
                      <a:gd name="connsiteX16" fmla="*/ 19647 w 39928"/>
                      <a:gd name="connsiteY16" fmla="*/ 38965 h 3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928" h="39597">
                        <a:moveTo>
                          <a:pt x="19647" y="38965"/>
                        </a:moveTo>
                        <a:cubicBezTo>
                          <a:pt x="14577" y="38965"/>
                          <a:pt x="9507" y="37067"/>
                          <a:pt x="5704" y="33273"/>
                        </a:cubicBezTo>
                        <a:cubicBezTo>
                          <a:pt x="1901" y="29478"/>
                          <a:pt x="0" y="24418"/>
                          <a:pt x="0" y="19358"/>
                        </a:cubicBezTo>
                        <a:cubicBezTo>
                          <a:pt x="0" y="14299"/>
                          <a:pt x="1901" y="9239"/>
                          <a:pt x="5704" y="5444"/>
                        </a:cubicBezTo>
                        <a:cubicBezTo>
                          <a:pt x="10140" y="1017"/>
                          <a:pt x="17112" y="-880"/>
                          <a:pt x="23450" y="385"/>
                        </a:cubicBezTo>
                        <a:cubicBezTo>
                          <a:pt x="24717" y="385"/>
                          <a:pt x="25985" y="1017"/>
                          <a:pt x="27252" y="1650"/>
                        </a:cubicBezTo>
                        <a:cubicBezTo>
                          <a:pt x="28520" y="2282"/>
                          <a:pt x="29788" y="2915"/>
                          <a:pt x="30421" y="3547"/>
                        </a:cubicBezTo>
                        <a:cubicBezTo>
                          <a:pt x="31689" y="4179"/>
                          <a:pt x="32323" y="4812"/>
                          <a:pt x="33590" y="6077"/>
                        </a:cubicBezTo>
                        <a:cubicBezTo>
                          <a:pt x="34224" y="6709"/>
                          <a:pt x="35492" y="7974"/>
                          <a:pt x="36125" y="9239"/>
                        </a:cubicBezTo>
                        <a:cubicBezTo>
                          <a:pt x="36759" y="10504"/>
                          <a:pt x="37393" y="11769"/>
                          <a:pt x="38027" y="12401"/>
                        </a:cubicBezTo>
                        <a:cubicBezTo>
                          <a:pt x="38660" y="13666"/>
                          <a:pt x="38660" y="14931"/>
                          <a:pt x="39294" y="16196"/>
                        </a:cubicBezTo>
                        <a:cubicBezTo>
                          <a:pt x="39294" y="17461"/>
                          <a:pt x="39928" y="18726"/>
                          <a:pt x="39928" y="19991"/>
                        </a:cubicBezTo>
                        <a:cubicBezTo>
                          <a:pt x="39928" y="25051"/>
                          <a:pt x="38027" y="30110"/>
                          <a:pt x="34224" y="33905"/>
                        </a:cubicBezTo>
                        <a:cubicBezTo>
                          <a:pt x="32957" y="34538"/>
                          <a:pt x="32323" y="35802"/>
                          <a:pt x="31055" y="36435"/>
                        </a:cubicBezTo>
                        <a:cubicBezTo>
                          <a:pt x="29788" y="37067"/>
                          <a:pt x="28520" y="37700"/>
                          <a:pt x="27886" y="38332"/>
                        </a:cubicBezTo>
                        <a:cubicBezTo>
                          <a:pt x="26619" y="38965"/>
                          <a:pt x="25351" y="38965"/>
                          <a:pt x="24084" y="39597"/>
                        </a:cubicBezTo>
                        <a:cubicBezTo>
                          <a:pt x="22182" y="38965"/>
                          <a:pt x="20915" y="38965"/>
                          <a:pt x="19647" y="38965"/>
                        </a:cubicBezTo>
                        <a:close/>
                      </a:path>
                    </a:pathLst>
                  </a:custGeom>
                  <a:grpFill/>
                  <a:ln w="6271" cap="flat">
                    <a:noFill/>
                    <a:prstDash val="solid"/>
                    <a:miter/>
                  </a:ln>
                </p:spPr>
                <p:txBody>
                  <a:bodyPr rtlCol="0" anchor="ctr"/>
                  <a:lstStyle/>
                  <a:p>
                    <a:endParaRPr lang="en-US"/>
                  </a:p>
                </p:txBody>
              </p:sp>
            </p:grpSp>
            <p:grpSp>
              <p:nvGrpSpPr>
                <p:cNvPr id="119" name="Picture Placeholder 100">
                  <a:extLst>
                    <a:ext uri="{FF2B5EF4-FFF2-40B4-BE49-F238E27FC236}">
                      <a16:creationId xmlns:a16="http://schemas.microsoft.com/office/drawing/2014/main" id="{DB3B35B1-B407-FDCA-AD34-7F0F2EE1A155}"/>
                    </a:ext>
                  </a:extLst>
                </p:cNvPr>
                <p:cNvGrpSpPr/>
                <p:nvPr/>
              </p:nvGrpSpPr>
              <p:grpSpPr>
                <a:xfrm>
                  <a:off x="10056995" y="2161965"/>
                  <a:ext cx="306752" cy="40862"/>
                  <a:chOff x="10056995" y="2161965"/>
                  <a:chExt cx="306752" cy="40862"/>
                </a:xfrm>
                <a:grpFill/>
              </p:grpSpPr>
              <p:sp>
                <p:nvSpPr>
                  <p:cNvPr id="120" name="Picture Placeholder 100">
                    <a:extLst>
                      <a:ext uri="{FF2B5EF4-FFF2-40B4-BE49-F238E27FC236}">
                        <a16:creationId xmlns:a16="http://schemas.microsoft.com/office/drawing/2014/main" id="{45B61558-8951-9B9E-C2D6-4B1860B2B253}"/>
                      </a:ext>
                    </a:extLst>
                  </p:cNvPr>
                  <p:cNvSpPr/>
                  <p:nvPr/>
                </p:nvSpPr>
                <p:spPr>
                  <a:xfrm>
                    <a:off x="10056995" y="2161965"/>
                    <a:ext cx="40561" cy="40229"/>
                  </a:xfrm>
                  <a:custGeom>
                    <a:avLst/>
                    <a:gdLst>
                      <a:gd name="connsiteX0" fmla="*/ 19647 w 40561"/>
                      <a:gd name="connsiteY0" fmla="*/ 40230 h 40229"/>
                      <a:gd name="connsiteX1" fmla="*/ 15844 w 40561"/>
                      <a:gd name="connsiteY1" fmla="*/ 39597 h 40229"/>
                      <a:gd name="connsiteX2" fmla="*/ 12042 w 40561"/>
                      <a:gd name="connsiteY2" fmla="*/ 38332 h 40229"/>
                      <a:gd name="connsiteX3" fmla="*/ 8873 w 40561"/>
                      <a:gd name="connsiteY3" fmla="*/ 36435 h 40229"/>
                      <a:gd name="connsiteX4" fmla="*/ 5704 w 40561"/>
                      <a:gd name="connsiteY4" fmla="*/ 33905 h 40229"/>
                      <a:gd name="connsiteX5" fmla="*/ 0 w 40561"/>
                      <a:gd name="connsiteY5" fmla="*/ 19991 h 40229"/>
                      <a:gd name="connsiteX6" fmla="*/ 634 w 40561"/>
                      <a:gd name="connsiteY6" fmla="*/ 16196 h 40229"/>
                      <a:gd name="connsiteX7" fmla="*/ 1901 w 40561"/>
                      <a:gd name="connsiteY7" fmla="*/ 12401 h 40229"/>
                      <a:gd name="connsiteX8" fmla="*/ 3803 w 40561"/>
                      <a:gd name="connsiteY8" fmla="*/ 9239 h 40229"/>
                      <a:gd name="connsiteX9" fmla="*/ 6338 w 40561"/>
                      <a:gd name="connsiteY9" fmla="*/ 6077 h 40229"/>
                      <a:gd name="connsiteX10" fmla="*/ 9507 w 40561"/>
                      <a:gd name="connsiteY10" fmla="*/ 3547 h 40229"/>
                      <a:gd name="connsiteX11" fmla="*/ 12676 w 40561"/>
                      <a:gd name="connsiteY11" fmla="*/ 1650 h 40229"/>
                      <a:gd name="connsiteX12" fmla="*/ 16478 w 40561"/>
                      <a:gd name="connsiteY12" fmla="*/ 385 h 40229"/>
                      <a:gd name="connsiteX13" fmla="*/ 34224 w 40561"/>
                      <a:gd name="connsiteY13" fmla="*/ 5444 h 40229"/>
                      <a:gd name="connsiteX14" fmla="*/ 36759 w 40561"/>
                      <a:gd name="connsiteY14" fmla="*/ 8607 h 40229"/>
                      <a:gd name="connsiteX15" fmla="*/ 38660 w 40561"/>
                      <a:gd name="connsiteY15" fmla="*/ 11769 h 40229"/>
                      <a:gd name="connsiteX16" fmla="*/ 39928 w 40561"/>
                      <a:gd name="connsiteY16" fmla="*/ 15564 h 40229"/>
                      <a:gd name="connsiteX17" fmla="*/ 40562 w 40561"/>
                      <a:gd name="connsiteY17" fmla="*/ 19358 h 40229"/>
                      <a:gd name="connsiteX18" fmla="*/ 34858 w 40561"/>
                      <a:gd name="connsiteY18" fmla="*/ 33273 h 40229"/>
                      <a:gd name="connsiteX19" fmla="*/ 19647 w 40561"/>
                      <a:gd name="connsiteY19" fmla="*/ 40230 h 4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561" h="40229">
                        <a:moveTo>
                          <a:pt x="19647" y="40230"/>
                        </a:moveTo>
                        <a:cubicBezTo>
                          <a:pt x="18380" y="40230"/>
                          <a:pt x="17112" y="40230"/>
                          <a:pt x="15844" y="39597"/>
                        </a:cubicBezTo>
                        <a:cubicBezTo>
                          <a:pt x="14577" y="38965"/>
                          <a:pt x="13309" y="38965"/>
                          <a:pt x="12042" y="38332"/>
                        </a:cubicBezTo>
                        <a:cubicBezTo>
                          <a:pt x="10774" y="37700"/>
                          <a:pt x="9507" y="37067"/>
                          <a:pt x="8873" y="36435"/>
                        </a:cubicBezTo>
                        <a:cubicBezTo>
                          <a:pt x="7605" y="35802"/>
                          <a:pt x="6972" y="35170"/>
                          <a:pt x="5704" y="33905"/>
                        </a:cubicBezTo>
                        <a:cubicBezTo>
                          <a:pt x="1901" y="30110"/>
                          <a:pt x="0" y="25051"/>
                          <a:pt x="0" y="19991"/>
                        </a:cubicBezTo>
                        <a:cubicBezTo>
                          <a:pt x="0" y="18726"/>
                          <a:pt x="0" y="17461"/>
                          <a:pt x="634" y="16196"/>
                        </a:cubicBezTo>
                        <a:cubicBezTo>
                          <a:pt x="634" y="14931"/>
                          <a:pt x="1268" y="13666"/>
                          <a:pt x="1901" y="12401"/>
                        </a:cubicBezTo>
                        <a:cubicBezTo>
                          <a:pt x="2535" y="11137"/>
                          <a:pt x="3169" y="9872"/>
                          <a:pt x="3803" y="9239"/>
                        </a:cubicBezTo>
                        <a:cubicBezTo>
                          <a:pt x="4436" y="7974"/>
                          <a:pt x="5070" y="7342"/>
                          <a:pt x="6338" y="6077"/>
                        </a:cubicBezTo>
                        <a:cubicBezTo>
                          <a:pt x="7605" y="4812"/>
                          <a:pt x="8239" y="4179"/>
                          <a:pt x="9507" y="3547"/>
                        </a:cubicBezTo>
                        <a:cubicBezTo>
                          <a:pt x="10774" y="2915"/>
                          <a:pt x="12042" y="2282"/>
                          <a:pt x="12676" y="1650"/>
                        </a:cubicBezTo>
                        <a:cubicBezTo>
                          <a:pt x="13943" y="1017"/>
                          <a:pt x="15211" y="1017"/>
                          <a:pt x="16478" y="385"/>
                        </a:cubicBezTo>
                        <a:cubicBezTo>
                          <a:pt x="22816" y="-880"/>
                          <a:pt x="29788" y="1017"/>
                          <a:pt x="34224" y="5444"/>
                        </a:cubicBezTo>
                        <a:cubicBezTo>
                          <a:pt x="34858" y="6077"/>
                          <a:pt x="36125" y="7342"/>
                          <a:pt x="36759" y="8607"/>
                        </a:cubicBezTo>
                        <a:cubicBezTo>
                          <a:pt x="37393" y="9872"/>
                          <a:pt x="38027" y="11137"/>
                          <a:pt x="38660" y="11769"/>
                        </a:cubicBezTo>
                        <a:cubicBezTo>
                          <a:pt x="39294" y="13034"/>
                          <a:pt x="39294" y="14299"/>
                          <a:pt x="39928" y="15564"/>
                        </a:cubicBezTo>
                        <a:cubicBezTo>
                          <a:pt x="39928" y="16829"/>
                          <a:pt x="40562" y="18094"/>
                          <a:pt x="40562" y="19358"/>
                        </a:cubicBezTo>
                        <a:cubicBezTo>
                          <a:pt x="40562" y="24418"/>
                          <a:pt x="38660" y="29478"/>
                          <a:pt x="34858" y="33273"/>
                        </a:cubicBezTo>
                        <a:cubicBezTo>
                          <a:pt x="29788" y="37700"/>
                          <a:pt x="24717" y="40230"/>
                          <a:pt x="19647" y="40230"/>
                        </a:cubicBezTo>
                        <a:close/>
                      </a:path>
                    </a:pathLst>
                  </a:custGeom>
                  <a:grpFill/>
                  <a:ln w="6271" cap="flat">
                    <a:noFill/>
                    <a:prstDash val="solid"/>
                    <a:miter/>
                  </a:ln>
                </p:spPr>
                <p:txBody>
                  <a:bodyPr rtlCol="0" anchor="ctr"/>
                  <a:lstStyle/>
                  <a:p>
                    <a:endParaRPr lang="en-US"/>
                  </a:p>
                </p:txBody>
              </p:sp>
              <p:sp>
                <p:nvSpPr>
                  <p:cNvPr id="121" name="Picture Placeholder 100">
                    <a:extLst>
                      <a:ext uri="{FF2B5EF4-FFF2-40B4-BE49-F238E27FC236}">
                        <a16:creationId xmlns:a16="http://schemas.microsoft.com/office/drawing/2014/main" id="{09B94625-7ED9-E7A8-D8D3-20FC7E3DC684}"/>
                      </a:ext>
                    </a:extLst>
                  </p:cNvPr>
                  <p:cNvSpPr/>
                  <p:nvPr/>
                </p:nvSpPr>
                <p:spPr>
                  <a:xfrm>
                    <a:off x="10124175" y="2162982"/>
                    <a:ext cx="172387" cy="39212"/>
                  </a:xfrm>
                  <a:custGeom>
                    <a:avLst/>
                    <a:gdLst>
                      <a:gd name="connsiteX0" fmla="*/ 133093 w 172387"/>
                      <a:gd name="connsiteY0" fmla="*/ 19606 h 39212"/>
                      <a:gd name="connsiteX1" fmla="*/ 152741 w 172387"/>
                      <a:gd name="connsiteY1" fmla="*/ 0 h 39212"/>
                      <a:gd name="connsiteX2" fmla="*/ 152741 w 172387"/>
                      <a:gd name="connsiteY2" fmla="*/ 0 h 39212"/>
                      <a:gd name="connsiteX3" fmla="*/ 172388 w 172387"/>
                      <a:gd name="connsiteY3" fmla="*/ 19606 h 39212"/>
                      <a:gd name="connsiteX4" fmla="*/ 172388 w 172387"/>
                      <a:gd name="connsiteY4" fmla="*/ 19606 h 39212"/>
                      <a:gd name="connsiteX5" fmla="*/ 152741 w 172387"/>
                      <a:gd name="connsiteY5" fmla="*/ 39213 h 39212"/>
                      <a:gd name="connsiteX6" fmla="*/ 152741 w 172387"/>
                      <a:gd name="connsiteY6" fmla="*/ 39213 h 39212"/>
                      <a:gd name="connsiteX7" fmla="*/ 133093 w 172387"/>
                      <a:gd name="connsiteY7" fmla="*/ 19606 h 39212"/>
                      <a:gd name="connsiteX8" fmla="*/ 66547 w 172387"/>
                      <a:gd name="connsiteY8" fmla="*/ 19606 h 39212"/>
                      <a:gd name="connsiteX9" fmla="*/ 86194 w 172387"/>
                      <a:gd name="connsiteY9" fmla="*/ 0 h 39212"/>
                      <a:gd name="connsiteX10" fmla="*/ 86194 w 172387"/>
                      <a:gd name="connsiteY10" fmla="*/ 0 h 39212"/>
                      <a:gd name="connsiteX11" fmla="*/ 105841 w 172387"/>
                      <a:gd name="connsiteY11" fmla="*/ 19606 h 39212"/>
                      <a:gd name="connsiteX12" fmla="*/ 105841 w 172387"/>
                      <a:gd name="connsiteY12" fmla="*/ 19606 h 39212"/>
                      <a:gd name="connsiteX13" fmla="*/ 86194 w 172387"/>
                      <a:gd name="connsiteY13" fmla="*/ 39213 h 39212"/>
                      <a:gd name="connsiteX14" fmla="*/ 86194 w 172387"/>
                      <a:gd name="connsiteY14" fmla="*/ 39213 h 39212"/>
                      <a:gd name="connsiteX15" fmla="*/ 66547 w 172387"/>
                      <a:gd name="connsiteY15" fmla="*/ 19606 h 39212"/>
                      <a:gd name="connsiteX16" fmla="*/ 0 w 172387"/>
                      <a:gd name="connsiteY16" fmla="*/ 19606 h 39212"/>
                      <a:gd name="connsiteX17" fmla="*/ 19647 w 172387"/>
                      <a:gd name="connsiteY17" fmla="*/ 0 h 39212"/>
                      <a:gd name="connsiteX18" fmla="*/ 19647 w 172387"/>
                      <a:gd name="connsiteY18" fmla="*/ 0 h 39212"/>
                      <a:gd name="connsiteX19" fmla="*/ 39294 w 172387"/>
                      <a:gd name="connsiteY19" fmla="*/ 19606 h 39212"/>
                      <a:gd name="connsiteX20" fmla="*/ 39294 w 172387"/>
                      <a:gd name="connsiteY20" fmla="*/ 19606 h 39212"/>
                      <a:gd name="connsiteX21" fmla="*/ 19647 w 172387"/>
                      <a:gd name="connsiteY21" fmla="*/ 39213 h 39212"/>
                      <a:gd name="connsiteX22" fmla="*/ 19647 w 172387"/>
                      <a:gd name="connsiteY22" fmla="*/ 39213 h 39212"/>
                      <a:gd name="connsiteX23" fmla="*/ 0 w 172387"/>
                      <a:gd name="connsiteY23" fmla="*/ 19606 h 3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2387" h="39212">
                        <a:moveTo>
                          <a:pt x="133093" y="19606"/>
                        </a:moveTo>
                        <a:cubicBezTo>
                          <a:pt x="133093" y="8854"/>
                          <a:pt x="141966" y="0"/>
                          <a:pt x="152741" y="0"/>
                        </a:cubicBezTo>
                        <a:lnTo>
                          <a:pt x="152741" y="0"/>
                        </a:lnTo>
                        <a:cubicBezTo>
                          <a:pt x="163515" y="0"/>
                          <a:pt x="172388" y="8854"/>
                          <a:pt x="172388" y="19606"/>
                        </a:cubicBezTo>
                        <a:lnTo>
                          <a:pt x="172388" y="19606"/>
                        </a:lnTo>
                        <a:cubicBezTo>
                          <a:pt x="172388" y="30358"/>
                          <a:pt x="163515" y="39213"/>
                          <a:pt x="152741" y="39213"/>
                        </a:cubicBezTo>
                        <a:lnTo>
                          <a:pt x="152741" y="39213"/>
                        </a:lnTo>
                        <a:cubicBezTo>
                          <a:pt x="141966" y="39213"/>
                          <a:pt x="133093" y="30358"/>
                          <a:pt x="133093" y="19606"/>
                        </a:cubicBezTo>
                        <a:close/>
                        <a:moveTo>
                          <a:pt x="66547" y="19606"/>
                        </a:moveTo>
                        <a:cubicBezTo>
                          <a:pt x="66547" y="8854"/>
                          <a:pt x="75420" y="0"/>
                          <a:pt x="86194" y="0"/>
                        </a:cubicBezTo>
                        <a:lnTo>
                          <a:pt x="86194" y="0"/>
                        </a:lnTo>
                        <a:cubicBezTo>
                          <a:pt x="96968" y="0"/>
                          <a:pt x="105841" y="8854"/>
                          <a:pt x="105841" y="19606"/>
                        </a:cubicBezTo>
                        <a:lnTo>
                          <a:pt x="105841" y="19606"/>
                        </a:lnTo>
                        <a:cubicBezTo>
                          <a:pt x="105841" y="30358"/>
                          <a:pt x="96968" y="39213"/>
                          <a:pt x="86194" y="39213"/>
                        </a:cubicBezTo>
                        <a:lnTo>
                          <a:pt x="86194" y="39213"/>
                        </a:lnTo>
                        <a:cubicBezTo>
                          <a:pt x="75420" y="39213"/>
                          <a:pt x="66547" y="30358"/>
                          <a:pt x="66547" y="19606"/>
                        </a:cubicBezTo>
                        <a:close/>
                        <a:moveTo>
                          <a:pt x="0" y="19606"/>
                        </a:moveTo>
                        <a:cubicBezTo>
                          <a:pt x="0" y="8854"/>
                          <a:pt x="8873" y="0"/>
                          <a:pt x="19647" y="0"/>
                        </a:cubicBezTo>
                        <a:lnTo>
                          <a:pt x="19647" y="0"/>
                        </a:lnTo>
                        <a:cubicBezTo>
                          <a:pt x="30421" y="0"/>
                          <a:pt x="39294" y="8854"/>
                          <a:pt x="39294" y="19606"/>
                        </a:cubicBezTo>
                        <a:lnTo>
                          <a:pt x="39294" y="19606"/>
                        </a:lnTo>
                        <a:cubicBezTo>
                          <a:pt x="39294" y="30358"/>
                          <a:pt x="30421" y="39213"/>
                          <a:pt x="19647" y="39213"/>
                        </a:cubicBezTo>
                        <a:lnTo>
                          <a:pt x="19647" y="39213"/>
                        </a:lnTo>
                        <a:cubicBezTo>
                          <a:pt x="8873" y="39213"/>
                          <a:pt x="0" y="30358"/>
                          <a:pt x="0" y="19606"/>
                        </a:cubicBezTo>
                        <a:close/>
                      </a:path>
                    </a:pathLst>
                  </a:custGeom>
                  <a:grpFill/>
                  <a:ln w="6271" cap="flat">
                    <a:noFill/>
                    <a:prstDash val="solid"/>
                    <a:miter/>
                  </a:ln>
                </p:spPr>
                <p:txBody>
                  <a:bodyPr rtlCol="0" anchor="ctr"/>
                  <a:lstStyle/>
                  <a:p>
                    <a:endParaRPr lang="en-US"/>
                  </a:p>
                </p:txBody>
              </p:sp>
              <p:sp>
                <p:nvSpPr>
                  <p:cNvPr id="122" name="Picture Placeholder 100">
                    <a:extLst>
                      <a:ext uri="{FF2B5EF4-FFF2-40B4-BE49-F238E27FC236}">
                        <a16:creationId xmlns:a16="http://schemas.microsoft.com/office/drawing/2014/main" id="{5BDDFCAA-1E1E-AC5E-1788-536992F4106B}"/>
                      </a:ext>
                    </a:extLst>
                  </p:cNvPr>
                  <p:cNvSpPr/>
                  <p:nvPr/>
                </p:nvSpPr>
                <p:spPr>
                  <a:xfrm>
                    <a:off x="10323816" y="2163230"/>
                    <a:ext cx="39294" cy="39597"/>
                  </a:xfrm>
                  <a:custGeom>
                    <a:avLst/>
                    <a:gdLst>
                      <a:gd name="connsiteX0" fmla="*/ 20281 w 39294"/>
                      <a:gd name="connsiteY0" fmla="*/ 38965 h 39597"/>
                      <a:gd name="connsiteX1" fmla="*/ 6338 w 39294"/>
                      <a:gd name="connsiteY1" fmla="*/ 33273 h 39597"/>
                      <a:gd name="connsiteX2" fmla="*/ 3803 w 39294"/>
                      <a:gd name="connsiteY2" fmla="*/ 30110 h 39597"/>
                      <a:gd name="connsiteX3" fmla="*/ 1901 w 39294"/>
                      <a:gd name="connsiteY3" fmla="*/ 26948 h 39597"/>
                      <a:gd name="connsiteX4" fmla="*/ 634 w 39294"/>
                      <a:gd name="connsiteY4" fmla="*/ 23153 h 39597"/>
                      <a:gd name="connsiteX5" fmla="*/ 0 w 39294"/>
                      <a:gd name="connsiteY5" fmla="*/ 19358 h 39597"/>
                      <a:gd name="connsiteX6" fmla="*/ 5704 w 39294"/>
                      <a:gd name="connsiteY6" fmla="*/ 5444 h 39597"/>
                      <a:gd name="connsiteX7" fmla="*/ 23450 w 39294"/>
                      <a:gd name="connsiteY7" fmla="*/ 385 h 39597"/>
                      <a:gd name="connsiteX8" fmla="*/ 27252 w 39294"/>
                      <a:gd name="connsiteY8" fmla="*/ 1650 h 39597"/>
                      <a:gd name="connsiteX9" fmla="*/ 30421 w 39294"/>
                      <a:gd name="connsiteY9" fmla="*/ 3547 h 39597"/>
                      <a:gd name="connsiteX10" fmla="*/ 33590 w 39294"/>
                      <a:gd name="connsiteY10" fmla="*/ 6077 h 39597"/>
                      <a:gd name="connsiteX11" fmla="*/ 39294 w 39294"/>
                      <a:gd name="connsiteY11" fmla="*/ 19991 h 39597"/>
                      <a:gd name="connsiteX12" fmla="*/ 38660 w 39294"/>
                      <a:gd name="connsiteY12" fmla="*/ 23786 h 39597"/>
                      <a:gd name="connsiteX13" fmla="*/ 37393 w 39294"/>
                      <a:gd name="connsiteY13" fmla="*/ 27580 h 39597"/>
                      <a:gd name="connsiteX14" fmla="*/ 35492 w 39294"/>
                      <a:gd name="connsiteY14" fmla="*/ 30743 h 39597"/>
                      <a:gd name="connsiteX15" fmla="*/ 32956 w 39294"/>
                      <a:gd name="connsiteY15" fmla="*/ 33905 h 39597"/>
                      <a:gd name="connsiteX16" fmla="*/ 29788 w 39294"/>
                      <a:gd name="connsiteY16" fmla="*/ 36435 h 39597"/>
                      <a:gd name="connsiteX17" fmla="*/ 26619 w 39294"/>
                      <a:gd name="connsiteY17" fmla="*/ 38332 h 39597"/>
                      <a:gd name="connsiteX18" fmla="*/ 22816 w 39294"/>
                      <a:gd name="connsiteY18" fmla="*/ 39597 h 39597"/>
                      <a:gd name="connsiteX19" fmla="*/ 20281 w 39294"/>
                      <a:gd name="connsiteY19" fmla="*/ 38965 h 3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294" h="39597">
                        <a:moveTo>
                          <a:pt x="20281" y="38965"/>
                        </a:moveTo>
                        <a:cubicBezTo>
                          <a:pt x="15211" y="38965"/>
                          <a:pt x="10140" y="37067"/>
                          <a:pt x="6338" y="33273"/>
                        </a:cubicBezTo>
                        <a:cubicBezTo>
                          <a:pt x="5704" y="32640"/>
                          <a:pt x="4436" y="31375"/>
                          <a:pt x="3803" y="30110"/>
                        </a:cubicBezTo>
                        <a:cubicBezTo>
                          <a:pt x="3169" y="28845"/>
                          <a:pt x="2535" y="27580"/>
                          <a:pt x="1901" y="26948"/>
                        </a:cubicBezTo>
                        <a:cubicBezTo>
                          <a:pt x="1268" y="25683"/>
                          <a:pt x="1268" y="24418"/>
                          <a:pt x="634" y="23153"/>
                        </a:cubicBezTo>
                        <a:cubicBezTo>
                          <a:pt x="634" y="21888"/>
                          <a:pt x="0" y="20623"/>
                          <a:pt x="0" y="19358"/>
                        </a:cubicBezTo>
                        <a:cubicBezTo>
                          <a:pt x="0" y="14299"/>
                          <a:pt x="1901" y="9239"/>
                          <a:pt x="5704" y="5444"/>
                        </a:cubicBezTo>
                        <a:cubicBezTo>
                          <a:pt x="10140" y="1017"/>
                          <a:pt x="17112" y="-880"/>
                          <a:pt x="23450" y="385"/>
                        </a:cubicBezTo>
                        <a:cubicBezTo>
                          <a:pt x="24717" y="385"/>
                          <a:pt x="25985" y="1017"/>
                          <a:pt x="27252" y="1650"/>
                        </a:cubicBezTo>
                        <a:cubicBezTo>
                          <a:pt x="28520" y="2282"/>
                          <a:pt x="29788" y="2915"/>
                          <a:pt x="30421" y="3547"/>
                        </a:cubicBezTo>
                        <a:cubicBezTo>
                          <a:pt x="31689" y="4179"/>
                          <a:pt x="32323" y="4812"/>
                          <a:pt x="33590" y="6077"/>
                        </a:cubicBezTo>
                        <a:cubicBezTo>
                          <a:pt x="37393" y="9872"/>
                          <a:pt x="39294" y="14931"/>
                          <a:pt x="39294" y="19991"/>
                        </a:cubicBezTo>
                        <a:cubicBezTo>
                          <a:pt x="39294" y="21256"/>
                          <a:pt x="39294" y="22521"/>
                          <a:pt x="38660" y="23786"/>
                        </a:cubicBezTo>
                        <a:cubicBezTo>
                          <a:pt x="38660" y="25051"/>
                          <a:pt x="38027" y="26316"/>
                          <a:pt x="37393" y="27580"/>
                        </a:cubicBezTo>
                        <a:cubicBezTo>
                          <a:pt x="36759" y="28845"/>
                          <a:pt x="36125" y="30110"/>
                          <a:pt x="35492" y="30743"/>
                        </a:cubicBezTo>
                        <a:cubicBezTo>
                          <a:pt x="34858" y="32008"/>
                          <a:pt x="34224" y="32640"/>
                          <a:pt x="32956" y="33905"/>
                        </a:cubicBezTo>
                        <a:cubicBezTo>
                          <a:pt x="31689" y="35170"/>
                          <a:pt x="31055" y="35802"/>
                          <a:pt x="29788" y="36435"/>
                        </a:cubicBezTo>
                        <a:cubicBezTo>
                          <a:pt x="28520" y="37067"/>
                          <a:pt x="27252" y="37700"/>
                          <a:pt x="26619" y="38332"/>
                        </a:cubicBezTo>
                        <a:cubicBezTo>
                          <a:pt x="25351" y="38965"/>
                          <a:pt x="24084" y="38965"/>
                          <a:pt x="22816" y="39597"/>
                        </a:cubicBezTo>
                        <a:cubicBezTo>
                          <a:pt x="22816" y="38332"/>
                          <a:pt x="21548" y="38965"/>
                          <a:pt x="20281" y="38965"/>
                        </a:cubicBezTo>
                        <a:close/>
                      </a:path>
                    </a:pathLst>
                  </a:custGeom>
                  <a:grpFill/>
                  <a:ln w="6271" cap="flat">
                    <a:noFill/>
                    <a:prstDash val="solid"/>
                    <a:miter/>
                  </a:ln>
                </p:spPr>
                <p:txBody>
                  <a:bodyPr rtlCol="0" anchor="ctr"/>
                  <a:lstStyle/>
                  <a:p>
                    <a:endParaRPr lang="en-US"/>
                  </a:p>
                </p:txBody>
              </p:sp>
            </p:grpSp>
          </p:grpSp>
          <p:grpSp>
            <p:nvGrpSpPr>
              <p:cNvPr id="96" name="Picture Placeholder 100">
                <a:extLst>
                  <a:ext uri="{FF2B5EF4-FFF2-40B4-BE49-F238E27FC236}">
                    <a16:creationId xmlns:a16="http://schemas.microsoft.com/office/drawing/2014/main" id="{99F0F68D-F537-2D8D-ACFC-7E0F3B250764}"/>
                  </a:ext>
                </a:extLst>
              </p:cNvPr>
              <p:cNvGrpSpPr/>
              <p:nvPr/>
            </p:nvGrpSpPr>
            <p:grpSpPr>
              <a:xfrm>
                <a:off x="9789540" y="1986051"/>
                <a:ext cx="218416" cy="129496"/>
                <a:chOff x="9789540" y="1986051"/>
                <a:chExt cx="218416" cy="129496"/>
              </a:xfrm>
              <a:grpFill/>
            </p:grpSpPr>
            <p:sp>
              <p:nvSpPr>
                <p:cNvPr id="112" name="Picture Placeholder 100">
                  <a:extLst>
                    <a:ext uri="{FF2B5EF4-FFF2-40B4-BE49-F238E27FC236}">
                      <a16:creationId xmlns:a16="http://schemas.microsoft.com/office/drawing/2014/main" id="{610AC206-4EE6-6FD7-C36D-BD25A0B56DFE}"/>
                    </a:ext>
                  </a:extLst>
                </p:cNvPr>
                <p:cNvSpPr/>
                <p:nvPr/>
              </p:nvSpPr>
              <p:spPr>
                <a:xfrm>
                  <a:off x="9789540" y="2075950"/>
                  <a:ext cx="40561" cy="39597"/>
                </a:xfrm>
                <a:custGeom>
                  <a:avLst/>
                  <a:gdLst>
                    <a:gd name="connsiteX0" fmla="*/ 20281 w 40561"/>
                    <a:gd name="connsiteY0" fmla="*/ 39597 h 39597"/>
                    <a:gd name="connsiteX1" fmla="*/ 16478 w 40561"/>
                    <a:gd name="connsiteY1" fmla="*/ 38965 h 39597"/>
                    <a:gd name="connsiteX2" fmla="*/ 12676 w 40561"/>
                    <a:gd name="connsiteY2" fmla="*/ 37700 h 39597"/>
                    <a:gd name="connsiteX3" fmla="*/ 9507 w 40561"/>
                    <a:gd name="connsiteY3" fmla="*/ 35802 h 39597"/>
                    <a:gd name="connsiteX4" fmla="*/ 6338 w 40561"/>
                    <a:gd name="connsiteY4" fmla="*/ 33273 h 39597"/>
                    <a:gd name="connsiteX5" fmla="*/ 3803 w 40561"/>
                    <a:gd name="connsiteY5" fmla="*/ 30110 h 39597"/>
                    <a:gd name="connsiteX6" fmla="*/ 1901 w 40561"/>
                    <a:gd name="connsiteY6" fmla="*/ 26948 h 39597"/>
                    <a:gd name="connsiteX7" fmla="*/ 634 w 40561"/>
                    <a:gd name="connsiteY7" fmla="*/ 23153 h 39597"/>
                    <a:gd name="connsiteX8" fmla="*/ 0 w 40561"/>
                    <a:gd name="connsiteY8" fmla="*/ 19358 h 39597"/>
                    <a:gd name="connsiteX9" fmla="*/ 634 w 40561"/>
                    <a:gd name="connsiteY9" fmla="*/ 15564 h 39597"/>
                    <a:gd name="connsiteX10" fmla="*/ 1901 w 40561"/>
                    <a:gd name="connsiteY10" fmla="*/ 11769 h 39597"/>
                    <a:gd name="connsiteX11" fmla="*/ 3803 w 40561"/>
                    <a:gd name="connsiteY11" fmla="*/ 8607 h 39597"/>
                    <a:gd name="connsiteX12" fmla="*/ 6338 w 40561"/>
                    <a:gd name="connsiteY12" fmla="*/ 5444 h 39597"/>
                    <a:gd name="connsiteX13" fmla="*/ 24084 w 40561"/>
                    <a:gd name="connsiteY13" fmla="*/ 385 h 39597"/>
                    <a:gd name="connsiteX14" fmla="*/ 27886 w 40561"/>
                    <a:gd name="connsiteY14" fmla="*/ 1650 h 39597"/>
                    <a:gd name="connsiteX15" fmla="*/ 31055 w 40561"/>
                    <a:gd name="connsiteY15" fmla="*/ 3547 h 39597"/>
                    <a:gd name="connsiteX16" fmla="*/ 34224 w 40561"/>
                    <a:gd name="connsiteY16" fmla="*/ 6077 h 39597"/>
                    <a:gd name="connsiteX17" fmla="*/ 36759 w 40561"/>
                    <a:gd name="connsiteY17" fmla="*/ 9239 h 39597"/>
                    <a:gd name="connsiteX18" fmla="*/ 38660 w 40561"/>
                    <a:gd name="connsiteY18" fmla="*/ 12401 h 39597"/>
                    <a:gd name="connsiteX19" fmla="*/ 39928 w 40561"/>
                    <a:gd name="connsiteY19" fmla="*/ 16196 h 39597"/>
                    <a:gd name="connsiteX20" fmla="*/ 40562 w 40561"/>
                    <a:gd name="connsiteY20" fmla="*/ 19991 h 39597"/>
                    <a:gd name="connsiteX21" fmla="*/ 39928 w 40561"/>
                    <a:gd name="connsiteY21" fmla="*/ 23786 h 39597"/>
                    <a:gd name="connsiteX22" fmla="*/ 38660 w 40561"/>
                    <a:gd name="connsiteY22" fmla="*/ 27580 h 39597"/>
                    <a:gd name="connsiteX23" fmla="*/ 36759 w 40561"/>
                    <a:gd name="connsiteY23" fmla="*/ 30743 h 39597"/>
                    <a:gd name="connsiteX24" fmla="*/ 34224 w 40561"/>
                    <a:gd name="connsiteY24" fmla="*/ 33905 h 39597"/>
                    <a:gd name="connsiteX25" fmla="*/ 31055 w 40561"/>
                    <a:gd name="connsiteY25" fmla="*/ 36435 h 39597"/>
                    <a:gd name="connsiteX26" fmla="*/ 27886 w 40561"/>
                    <a:gd name="connsiteY26" fmla="*/ 38332 h 39597"/>
                    <a:gd name="connsiteX27" fmla="*/ 24084 w 40561"/>
                    <a:gd name="connsiteY27" fmla="*/ 39597 h 39597"/>
                    <a:gd name="connsiteX28" fmla="*/ 20281 w 40561"/>
                    <a:gd name="connsiteY28" fmla="*/ 39597 h 3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0561" h="39597">
                      <a:moveTo>
                        <a:pt x="20281" y="39597"/>
                      </a:moveTo>
                      <a:cubicBezTo>
                        <a:pt x="19013" y="39597"/>
                        <a:pt x="17746" y="39597"/>
                        <a:pt x="16478" y="38965"/>
                      </a:cubicBezTo>
                      <a:cubicBezTo>
                        <a:pt x="15211" y="38965"/>
                        <a:pt x="13943" y="38332"/>
                        <a:pt x="12676" y="37700"/>
                      </a:cubicBezTo>
                      <a:cubicBezTo>
                        <a:pt x="11408" y="37067"/>
                        <a:pt x="10774" y="36435"/>
                        <a:pt x="9507" y="35802"/>
                      </a:cubicBezTo>
                      <a:cubicBezTo>
                        <a:pt x="8239" y="35170"/>
                        <a:pt x="7605" y="34538"/>
                        <a:pt x="6338" y="33273"/>
                      </a:cubicBezTo>
                      <a:cubicBezTo>
                        <a:pt x="5704" y="32640"/>
                        <a:pt x="4436" y="31375"/>
                        <a:pt x="3803" y="30110"/>
                      </a:cubicBezTo>
                      <a:cubicBezTo>
                        <a:pt x="3169" y="28845"/>
                        <a:pt x="2535" y="27580"/>
                        <a:pt x="1901" y="26948"/>
                      </a:cubicBezTo>
                      <a:cubicBezTo>
                        <a:pt x="1268" y="25683"/>
                        <a:pt x="1268" y="24418"/>
                        <a:pt x="634" y="23153"/>
                      </a:cubicBezTo>
                      <a:cubicBezTo>
                        <a:pt x="634" y="21888"/>
                        <a:pt x="0" y="20623"/>
                        <a:pt x="0" y="19358"/>
                      </a:cubicBezTo>
                      <a:cubicBezTo>
                        <a:pt x="0" y="18094"/>
                        <a:pt x="0" y="16829"/>
                        <a:pt x="634" y="15564"/>
                      </a:cubicBezTo>
                      <a:cubicBezTo>
                        <a:pt x="634" y="14299"/>
                        <a:pt x="1268" y="13034"/>
                        <a:pt x="1901" y="11769"/>
                      </a:cubicBezTo>
                      <a:cubicBezTo>
                        <a:pt x="2535" y="10504"/>
                        <a:pt x="3169" y="9239"/>
                        <a:pt x="3803" y="8607"/>
                      </a:cubicBezTo>
                      <a:cubicBezTo>
                        <a:pt x="4436" y="7342"/>
                        <a:pt x="5070" y="6709"/>
                        <a:pt x="6338" y="5444"/>
                      </a:cubicBezTo>
                      <a:cubicBezTo>
                        <a:pt x="10774" y="1017"/>
                        <a:pt x="17746" y="-880"/>
                        <a:pt x="24084" y="385"/>
                      </a:cubicBezTo>
                      <a:cubicBezTo>
                        <a:pt x="25351" y="385"/>
                        <a:pt x="26619" y="1017"/>
                        <a:pt x="27886" y="1650"/>
                      </a:cubicBezTo>
                      <a:cubicBezTo>
                        <a:pt x="29154" y="2282"/>
                        <a:pt x="30421" y="2915"/>
                        <a:pt x="31055" y="3547"/>
                      </a:cubicBezTo>
                      <a:cubicBezTo>
                        <a:pt x="32323" y="4179"/>
                        <a:pt x="32956" y="4812"/>
                        <a:pt x="34224" y="6077"/>
                      </a:cubicBezTo>
                      <a:cubicBezTo>
                        <a:pt x="34858" y="7342"/>
                        <a:pt x="36125" y="7974"/>
                        <a:pt x="36759" y="9239"/>
                      </a:cubicBezTo>
                      <a:cubicBezTo>
                        <a:pt x="37393" y="10504"/>
                        <a:pt x="38027" y="11769"/>
                        <a:pt x="38660" y="12401"/>
                      </a:cubicBezTo>
                      <a:cubicBezTo>
                        <a:pt x="39294" y="13666"/>
                        <a:pt x="39294" y="14931"/>
                        <a:pt x="39928" y="16196"/>
                      </a:cubicBezTo>
                      <a:cubicBezTo>
                        <a:pt x="39928" y="17461"/>
                        <a:pt x="40562" y="18726"/>
                        <a:pt x="40562" y="19991"/>
                      </a:cubicBezTo>
                      <a:cubicBezTo>
                        <a:pt x="40562" y="21256"/>
                        <a:pt x="40562" y="22521"/>
                        <a:pt x="39928" y="23786"/>
                      </a:cubicBezTo>
                      <a:cubicBezTo>
                        <a:pt x="39928" y="25051"/>
                        <a:pt x="39294" y="26316"/>
                        <a:pt x="38660" y="27580"/>
                      </a:cubicBezTo>
                      <a:cubicBezTo>
                        <a:pt x="38027" y="28845"/>
                        <a:pt x="37393" y="30110"/>
                        <a:pt x="36759" y="30743"/>
                      </a:cubicBezTo>
                      <a:cubicBezTo>
                        <a:pt x="36125" y="32008"/>
                        <a:pt x="35492" y="32640"/>
                        <a:pt x="34224" y="33905"/>
                      </a:cubicBezTo>
                      <a:cubicBezTo>
                        <a:pt x="33590" y="34538"/>
                        <a:pt x="32323" y="35802"/>
                        <a:pt x="31055" y="36435"/>
                      </a:cubicBezTo>
                      <a:cubicBezTo>
                        <a:pt x="29788" y="37067"/>
                        <a:pt x="28520" y="37700"/>
                        <a:pt x="27886" y="38332"/>
                      </a:cubicBezTo>
                      <a:cubicBezTo>
                        <a:pt x="26619" y="38965"/>
                        <a:pt x="25351" y="38965"/>
                        <a:pt x="24084" y="39597"/>
                      </a:cubicBezTo>
                      <a:cubicBezTo>
                        <a:pt x="22816" y="38965"/>
                        <a:pt x="21548" y="39597"/>
                        <a:pt x="20281" y="39597"/>
                      </a:cubicBezTo>
                      <a:close/>
                    </a:path>
                  </a:pathLst>
                </a:custGeom>
                <a:grpFill/>
                <a:ln w="6271" cap="flat">
                  <a:noFill/>
                  <a:prstDash val="solid"/>
                  <a:miter/>
                </a:ln>
              </p:spPr>
              <p:txBody>
                <a:bodyPr rtlCol="0" anchor="ctr"/>
                <a:lstStyle/>
                <a:p>
                  <a:endParaRPr lang="en-US"/>
                </a:p>
              </p:txBody>
            </p:sp>
            <p:sp>
              <p:nvSpPr>
                <p:cNvPr id="113" name="Picture Placeholder 100">
                  <a:extLst>
                    <a:ext uri="{FF2B5EF4-FFF2-40B4-BE49-F238E27FC236}">
                      <a16:creationId xmlns:a16="http://schemas.microsoft.com/office/drawing/2014/main" id="{86B86E8F-7373-1611-FF65-30F05723291A}"/>
                    </a:ext>
                  </a:extLst>
                </p:cNvPr>
                <p:cNvSpPr/>
                <p:nvPr/>
              </p:nvSpPr>
              <p:spPr>
                <a:xfrm>
                  <a:off x="9845473" y="2031590"/>
                  <a:ext cx="39608" cy="39685"/>
                </a:xfrm>
                <a:custGeom>
                  <a:avLst/>
                  <a:gdLst>
                    <a:gd name="connsiteX0" fmla="*/ 4277 w 39608"/>
                    <a:gd name="connsiteY0" fmla="*/ 32096 h 39685"/>
                    <a:gd name="connsiteX1" fmla="*/ 7445 w 39608"/>
                    <a:gd name="connsiteY1" fmla="*/ 4268 h 39685"/>
                    <a:gd name="connsiteX2" fmla="*/ 7445 w 39608"/>
                    <a:gd name="connsiteY2" fmla="*/ 4268 h 39685"/>
                    <a:gd name="connsiteX3" fmla="*/ 35332 w 39608"/>
                    <a:gd name="connsiteY3" fmla="*/ 7430 h 39685"/>
                    <a:gd name="connsiteX4" fmla="*/ 35332 w 39608"/>
                    <a:gd name="connsiteY4" fmla="*/ 7430 h 39685"/>
                    <a:gd name="connsiteX5" fmla="*/ 32163 w 39608"/>
                    <a:gd name="connsiteY5" fmla="*/ 35258 h 39685"/>
                    <a:gd name="connsiteX6" fmla="*/ 32163 w 39608"/>
                    <a:gd name="connsiteY6" fmla="*/ 35258 h 39685"/>
                    <a:gd name="connsiteX7" fmla="*/ 20121 w 39608"/>
                    <a:gd name="connsiteY7" fmla="*/ 39685 h 39685"/>
                    <a:gd name="connsiteX8" fmla="*/ 20121 w 39608"/>
                    <a:gd name="connsiteY8" fmla="*/ 39685 h 39685"/>
                    <a:gd name="connsiteX9" fmla="*/ 4277 w 39608"/>
                    <a:gd name="connsiteY9" fmla="*/ 32096 h 39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608" h="39685">
                      <a:moveTo>
                        <a:pt x="4277" y="32096"/>
                      </a:moveTo>
                      <a:cubicBezTo>
                        <a:pt x="-2695" y="23874"/>
                        <a:pt x="-794" y="11225"/>
                        <a:pt x="7445" y="4268"/>
                      </a:cubicBezTo>
                      <a:lnTo>
                        <a:pt x="7445" y="4268"/>
                      </a:lnTo>
                      <a:cubicBezTo>
                        <a:pt x="15685" y="-2689"/>
                        <a:pt x="28360" y="-792"/>
                        <a:pt x="35332" y="7430"/>
                      </a:cubicBezTo>
                      <a:lnTo>
                        <a:pt x="35332" y="7430"/>
                      </a:lnTo>
                      <a:cubicBezTo>
                        <a:pt x="42303" y="15652"/>
                        <a:pt x="40402" y="28301"/>
                        <a:pt x="32163" y="35258"/>
                      </a:cubicBezTo>
                      <a:lnTo>
                        <a:pt x="32163" y="35258"/>
                      </a:lnTo>
                      <a:cubicBezTo>
                        <a:pt x="28360" y="38421"/>
                        <a:pt x="24557" y="39685"/>
                        <a:pt x="20121" y="39685"/>
                      </a:cubicBezTo>
                      <a:lnTo>
                        <a:pt x="20121" y="39685"/>
                      </a:lnTo>
                      <a:cubicBezTo>
                        <a:pt x="13783" y="39053"/>
                        <a:pt x="8079" y="37156"/>
                        <a:pt x="4277" y="32096"/>
                      </a:cubicBezTo>
                      <a:close/>
                    </a:path>
                  </a:pathLst>
                </a:custGeom>
                <a:grpFill/>
                <a:ln w="6271" cap="flat">
                  <a:noFill/>
                  <a:prstDash val="solid"/>
                  <a:miter/>
                </a:ln>
              </p:spPr>
              <p:txBody>
                <a:bodyPr rtlCol="0" anchor="ctr"/>
                <a:lstStyle/>
                <a:p>
                  <a:endParaRPr lang="en-US"/>
                </a:p>
              </p:txBody>
            </p:sp>
            <p:sp>
              <p:nvSpPr>
                <p:cNvPr id="114" name="Picture Placeholder 100">
                  <a:extLst>
                    <a:ext uri="{FF2B5EF4-FFF2-40B4-BE49-F238E27FC236}">
                      <a16:creationId xmlns:a16="http://schemas.microsoft.com/office/drawing/2014/main" id="{E6AC5564-73E2-59BF-D8A2-A615818BE528}"/>
                    </a:ext>
                  </a:extLst>
                </p:cNvPr>
                <p:cNvSpPr/>
                <p:nvPr/>
              </p:nvSpPr>
              <p:spPr>
                <a:xfrm>
                  <a:off x="9900452" y="1986051"/>
                  <a:ext cx="39928" cy="40319"/>
                </a:xfrm>
                <a:custGeom>
                  <a:avLst/>
                  <a:gdLst>
                    <a:gd name="connsiteX0" fmla="*/ 20281 w 39928"/>
                    <a:gd name="connsiteY0" fmla="*/ 40319 h 40319"/>
                    <a:gd name="connsiteX1" fmla="*/ 16478 w 39928"/>
                    <a:gd name="connsiteY1" fmla="*/ 39687 h 40319"/>
                    <a:gd name="connsiteX2" fmla="*/ 12676 w 39928"/>
                    <a:gd name="connsiteY2" fmla="*/ 38422 h 40319"/>
                    <a:gd name="connsiteX3" fmla="*/ 9507 w 39928"/>
                    <a:gd name="connsiteY3" fmla="*/ 36525 h 40319"/>
                    <a:gd name="connsiteX4" fmla="*/ 6338 w 39928"/>
                    <a:gd name="connsiteY4" fmla="*/ 33995 h 40319"/>
                    <a:gd name="connsiteX5" fmla="*/ 3803 w 39928"/>
                    <a:gd name="connsiteY5" fmla="*/ 30832 h 40319"/>
                    <a:gd name="connsiteX6" fmla="*/ 1901 w 39928"/>
                    <a:gd name="connsiteY6" fmla="*/ 27670 h 40319"/>
                    <a:gd name="connsiteX7" fmla="*/ 634 w 39928"/>
                    <a:gd name="connsiteY7" fmla="*/ 23875 h 40319"/>
                    <a:gd name="connsiteX8" fmla="*/ 0 w 39928"/>
                    <a:gd name="connsiteY8" fmla="*/ 20081 h 40319"/>
                    <a:gd name="connsiteX9" fmla="*/ 5704 w 39928"/>
                    <a:gd name="connsiteY9" fmla="*/ 6166 h 40319"/>
                    <a:gd name="connsiteX10" fmla="*/ 8873 w 39928"/>
                    <a:gd name="connsiteY10" fmla="*/ 3637 h 40319"/>
                    <a:gd name="connsiteX11" fmla="*/ 12042 w 39928"/>
                    <a:gd name="connsiteY11" fmla="*/ 1739 h 40319"/>
                    <a:gd name="connsiteX12" fmla="*/ 15844 w 39928"/>
                    <a:gd name="connsiteY12" fmla="*/ 474 h 40319"/>
                    <a:gd name="connsiteX13" fmla="*/ 23450 w 39928"/>
                    <a:gd name="connsiteY13" fmla="*/ 474 h 40319"/>
                    <a:gd name="connsiteX14" fmla="*/ 27252 w 39928"/>
                    <a:gd name="connsiteY14" fmla="*/ 1739 h 40319"/>
                    <a:gd name="connsiteX15" fmla="*/ 30421 w 39928"/>
                    <a:gd name="connsiteY15" fmla="*/ 3637 h 40319"/>
                    <a:gd name="connsiteX16" fmla="*/ 33590 w 39928"/>
                    <a:gd name="connsiteY16" fmla="*/ 6166 h 40319"/>
                    <a:gd name="connsiteX17" fmla="*/ 36125 w 39928"/>
                    <a:gd name="connsiteY17" fmla="*/ 9329 h 40319"/>
                    <a:gd name="connsiteX18" fmla="*/ 38027 w 39928"/>
                    <a:gd name="connsiteY18" fmla="*/ 12491 h 40319"/>
                    <a:gd name="connsiteX19" fmla="*/ 39294 w 39928"/>
                    <a:gd name="connsiteY19" fmla="*/ 16286 h 40319"/>
                    <a:gd name="connsiteX20" fmla="*/ 39928 w 39928"/>
                    <a:gd name="connsiteY20" fmla="*/ 20081 h 40319"/>
                    <a:gd name="connsiteX21" fmla="*/ 39294 w 39928"/>
                    <a:gd name="connsiteY21" fmla="*/ 23875 h 40319"/>
                    <a:gd name="connsiteX22" fmla="*/ 38027 w 39928"/>
                    <a:gd name="connsiteY22" fmla="*/ 27670 h 40319"/>
                    <a:gd name="connsiteX23" fmla="*/ 36125 w 39928"/>
                    <a:gd name="connsiteY23" fmla="*/ 30832 h 40319"/>
                    <a:gd name="connsiteX24" fmla="*/ 33590 w 39928"/>
                    <a:gd name="connsiteY24" fmla="*/ 33995 h 40319"/>
                    <a:gd name="connsiteX25" fmla="*/ 30421 w 39928"/>
                    <a:gd name="connsiteY25" fmla="*/ 36525 h 40319"/>
                    <a:gd name="connsiteX26" fmla="*/ 27252 w 39928"/>
                    <a:gd name="connsiteY26" fmla="*/ 38422 h 40319"/>
                    <a:gd name="connsiteX27" fmla="*/ 23450 w 39928"/>
                    <a:gd name="connsiteY27" fmla="*/ 39687 h 40319"/>
                    <a:gd name="connsiteX28" fmla="*/ 20281 w 39928"/>
                    <a:gd name="connsiteY28" fmla="*/ 40319 h 4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9928" h="40319">
                      <a:moveTo>
                        <a:pt x="20281" y="40319"/>
                      </a:moveTo>
                      <a:cubicBezTo>
                        <a:pt x="19013" y="40319"/>
                        <a:pt x="17746" y="40319"/>
                        <a:pt x="16478" y="39687"/>
                      </a:cubicBezTo>
                      <a:cubicBezTo>
                        <a:pt x="15211" y="39687"/>
                        <a:pt x="13943" y="39054"/>
                        <a:pt x="12676" y="38422"/>
                      </a:cubicBezTo>
                      <a:cubicBezTo>
                        <a:pt x="11408" y="37789"/>
                        <a:pt x="10140" y="37157"/>
                        <a:pt x="9507" y="36525"/>
                      </a:cubicBezTo>
                      <a:cubicBezTo>
                        <a:pt x="8239" y="35892"/>
                        <a:pt x="7605" y="35260"/>
                        <a:pt x="6338" y="33995"/>
                      </a:cubicBezTo>
                      <a:cubicBezTo>
                        <a:pt x="5704" y="33362"/>
                        <a:pt x="4436" y="32097"/>
                        <a:pt x="3803" y="30832"/>
                      </a:cubicBezTo>
                      <a:cubicBezTo>
                        <a:pt x="3169" y="29568"/>
                        <a:pt x="2535" y="28303"/>
                        <a:pt x="1901" y="27670"/>
                      </a:cubicBezTo>
                      <a:cubicBezTo>
                        <a:pt x="1268" y="26405"/>
                        <a:pt x="1268" y="25140"/>
                        <a:pt x="634" y="23875"/>
                      </a:cubicBezTo>
                      <a:cubicBezTo>
                        <a:pt x="634" y="22610"/>
                        <a:pt x="0" y="21346"/>
                        <a:pt x="0" y="20081"/>
                      </a:cubicBezTo>
                      <a:cubicBezTo>
                        <a:pt x="0" y="15021"/>
                        <a:pt x="1901" y="9961"/>
                        <a:pt x="5704" y="6166"/>
                      </a:cubicBezTo>
                      <a:cubicBezTo>
                        <a:pt x="6338" y="5534"/>
                        <a:pt x="7605" y="4269"/>
                        <a:pt x="8873" y="3637"/>
                      </a:cubicBezTo>
                      <a:cubicBezTo>
                        <a:pt x="10140" y="3004"/>
                        <a:pt x="11408" y="2372"/>
                        <a:pt x="12042" y="1739"/>
                      </a:cubicBezTo>
                      <a:cubicBezTo>
                        <a:pt x="13309" y="1107"/>
                        <a:pt x="14577" y="1107"/>
                        <a:pt x="15844" y="474"/>
                      </a:cubicBezTo>
                      <a:cubicBezTo>
                        <a:pt x="18380" y="-158"/>
                        <a:pt x="20915" y="-158"/>
                        <a:pt x="23450" y="474"/>
                      </a:cubicBezTo>
                      <a:cubicBezTo>
                        <a:pt x="24717" y="474"/>
                        <a:pt x="25985" y="1107"/>
                        <a:pt x="27252" y="1739"/>
                      </a:cubicBezTo>
                      <a:cubicBezTo>
                        <a:pt x="28520" y="2372"/>
                        <a:pt x="29788" y="3004"/>
                        <a:pt x="30421" y="3637"/>
                      </a:cubicBezTo>
                      <a:cubicBezTo>
                        <a:pt x="31689" y="4269"/>
                        <a:pt x="32323" y="4902"/>
                        <a:pt x="33590" y="6166"/>
                      </a:cubicBezTo>
                      <a:cubicBezTo>
                        <a:pt x="34224" y="6799"/>
                        <a:pt x="35492" y="8064"/>
                        <a:pt x="36125" y="9329"/>
                      </a:cubicBezTo>
                      <a:cubicBezTo>
                        <a:pt x="36759" y="10594"/>
                        <a:pt x="37393" y="11859"/>
                        <a:pt x="38027" y="12491"/>
                      </a:cubicBezTo>
                      <a:cubicBezTo>
                        <a:pt x="38660" y="13756"/>
                        <a:pt x="38660" y="15021"/>
                        <a:pt x="39294" y="16286"/>
                      </a:cubicBezTo>
                      <a:cubicBezTo>
                        <a:pt x="39294" y="17551"/>
                        <a:pt x="39928" y="18816"/>
                        <a:pt x="39928" y="20081"/>
                      </a:cubicBezTo>
                      <a:cubicBezTo>
                        <a:pt x="39928" y="21346"/>
                        <a:pt x="39928" y="22610"/>
                        <a:pt x="39294" y="23875"/>
                      </a:cubicBezTo>
                      <a:cubicBezTo>
                        <a:pt x="39294" y="25140"/>
                        <a:pt x="38660" y="26405"/>
                        <a:pt x="38027" y="27670"/>
                      </a:cubicBezTo>
                      <a:cubicBezTo>
                        <a:pt x="37393" y="28935"/>
                        <a:pt x="36759" y="30200"/>
                        <a:pt x="36125" y="30832"/>
                      </a:cubicBezTo>
                      <a:cubicBezTo>
                        <a:pt x="35492" y="32097"/>
                        <a:pt x="34858" y="32730"/>
                        <a:pt x="33590" y="33995"/>
                      </a:cubicBezTo>
                      <a:cubicBezTo>
                        <a:pt x="32323" y="34627"/>
                        <a:pt x="31689" y="35892"/>
                        <a:pt x="30421" y="36525"/>
                      </a:cubicBezTo>
                      <a:cubicBezTo>
                        <a:pt x="29154" y="37157"/>
                        <a:pt x="27886" y="37789"/>
                        <a:pt x="27252" y="38422"/>
                      </a:cubicBezTo>
                      <a:cubicBezTo>
                        <a:pt x="25985" y="39054"/>
                        <a:pt x="24717" y="39054"/>
                        <a:pt x="23450" y="39687"/>
                      </a:cubicBezTo>
                      <a:cubicBezTo>
                        <a:pt x="22816" y="40319"/>
                        <a:pt x="21548" y="40319"/>
                        <a:pt x="20281" y="40319"/>
                      </a:cubicBezTo>
                      <a:close/>
                    </a:path>
                  </a:pathLst>
                </a:custGeom>
                <a:grpFill/>
                <a:ln w="6271" cap="flat">
                  <a:noFill/>
                  <a:prstDash val="solid"/>
                  <a:miter/>
                </a:ln>
              </p:spPr>
              <p:txBody>
                <a:bodyPr rtlCol="0" anchor="ctr"/>
                <a:lstStyle/>
                <a:p>
                  <a:endParaRPr lang="en-US"/>
                </a:p>
              </p:txBody>
            </p:sp>
            <p:sp>
              <p:nvSpPr>
                <p:cNvPr id="115" name="Picture Placeholder 100">
                  <a:extLst>
                    <a:ext uri="{FF2B5EF4-FFF2-40B4-BE49-F238E27FC236}">
                      <a16:creationId xmlns:a16="http://schemas.microsoft.com/office/drawing/2014/main" id="{57A5C447-DE09-3911-656F-467191E993A4}"/>
                    </a:ext>
                  </a:extLst>
                </p:cNvPr>
                <p:cNvSpPr/>
                <p:nvPr/>
              </p:nvSpPr>
              <p:spPr>
                <a:xfrm>
                  <a:off x="9968323" y="2020735"/>
                  <a:ext cx="39180" cy="39155"/>
                </a:xfrm>
                <a:custGeom>
                  <a:avLst/>
                  <a:gdLst>
                    <a:gd name="connsiteX0" fmla="*/ 10717 w 39180"/>
                    <a:gd name="connsiteY0" fmla="*/ 37258 h 39155"/>
                    <a:gd name="connsiteX1" fmla="*/ 1844 w 39180"/>
                    <a:gd name="connsiteY1" fmla="*/ 10695 h 39155"/>
                    <a:gd name="connsiteX2" fmla="*/ 1844 w 39180"/>
                    <a:gd name="connsiteY2" fmla="*/ 10695 h 39155"/>
                    <a:gd name="connsiteX3" fmla="*/ 28463 w 39180"/>
                    <a:gd name="connsiteY3" fmla="*/ 1841 h 39155"/>
                    <a:gd name="connsiteX4" fmla="*/ 28463 w 39180"/>
                    <a:gd name="connsiteY4" fmla="*/ 1841 h 39155"/>
                    <a:gd name="connsiteX5" fmla="*/ 37336 w 39180"/>
                    <a:gd name="connsiteY5" fmla="*/ 28404 h 39155"/>
                    <a:gd name="connsiteX6" fmla="*/ 37336 w 39180"/>
                    <a:gd name="connsiteY6" fmla="*/ 28404 h 39155"/>
                    <a:gd name="connsiteX7" fmla="*/ 19590 w 39180"/>
                    <a:gd name="connsiteY7" fmla="*/ 39156 h 39155"/>
                    <a:gd name="connsiteX8" fmla="*/ 19590 w 39180"/>
                    <a:gd name="connsiteY8" fmla="*/ 39156 h 39155"/>
                    <a:gd name="connsiteX9" fmla="*/ 10717 w 39180"/>
                    <a:gd name="connsiteY9" fmla="*/ 37258 h 3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180" h="39155">
                      <a:moveTo>
                        <a:pt x="10717" y="37258"/>
                      </a:moveTo>
                      <a:cubicBezTo>
                        <a:pt x="1211" y="32199"/>
                        <a:pt x="-2592" y="20814"/>
                        <a:pt x="1844" y="10695"/>
                      </a:cubicBezTo>
                      <a:lnTo>
                        <a:pt x="1844" y="10695"/>
                      </a:lnTo>
                      <a:cubicBezTo>
                        <a:pt x="6915" y="1208"/>
                        <a:pt x="18323" y="-2587"/>
                        <a:pt x="28463" y="1841"/>
                      </a:cubicBezTo>
                      <a:lnTo>
                        <a:pt x="28463" y="1841"/>
                      </a:lnTo>
                      <a:cubicBezTo>
                        <a:pt x="37970" y="6900"/>
                        <a:pt x="41773" y="18285"/>
                        <a:pt x="37336" y="28404"/>
                      </a:cubicBezTo>
                      <a:lnTo>
                        <a:pt x="37336" y="28404"/>
                      </a:lnTo>
                      <a:cubicBezTo>
                        <a:pt x="34167" y="35361"/>
                        <a:pt x="27196" y="39156"/>
                        <a:pt x="19590" y="39156"/>
                      </a:cubicBezTo>
                      <a:lnTo>
                        <a:pt x="19590" y="39156"/>
                      </a:lnTo>
                      <a:cubicBezTo>
                        <a:pt x="16421" y="39156"/>
                        <a:pt x="13252" y="38523"/>
                        <a:pt x="10717" y="37258"/>
                      </a:cubicBezTo>
                      <a:close/>
                    </a:path>
                  </a:pathLst>
                </a:custGeom>
                <a:grpFill/>
                <a:ln w="6271" cap="flat">
                  <a:noFill/>
                  <a:prstDash val="solid"/>
                  <a:miter/>
                </a:ln>
              </p:spPr>
              <p:txBody>
                <a:bodyPr rtlCol="0" anchor="ctr"/>
                <a:lstStyle/>
                <a:p>
                  <a:endParaRPr lang="en-US"/>
                </a:p>
              </p:txBody>
            </p:sp>
          </p:grpSp>
          <p:grpSp>
            <p:nvGrpSpPr>
              <p:cNvPr id="97" name="Picture Placeholder 100">
                <a:extLst>
                  <a:ext uri="{FF2B5EF4-FFF2-40B4-BE49-F238E27FC236}">
                    <a16:creationId xmlns:a16="http://schemas.microsoft.com/office/drawing/2014/main" id="{0BF64328-CDC3-AC39-73A5-635387EDF106}"/>
                  </a:ext>
                </a:extLst>
              </p:cNvPr>
              <p:cNvGrpSpPr/>
              <p:nvPr/>
            </p:nvGrpSpPr>
            <p:grpSpPr>
              <a:xfrm>
                <a:off x="9800948" y="2330832"/>
                <a:ext cx="204583" cy="185063"/>
                <a:chOff x="9800948" y="2330832"/>
                <a:chExt cx="204583" cy="185063"/>
              </a:xfrm>
              <a:grpFill/>
            </p:grpSpPr>
            <p:sp>
              <p:nvSpPr>
                <p:cNvPr id="108" name="Picture Placeholder 100">
                  <a:extLst>
                    <a:ext uri="{FF2B5EF4-FFF2-40B4-BE49-F238E27FC236}">
                      <a16:creationId xmlns:a16="http://schemas.microsoft.com/office/drawing/2014/main" id="{BB3BFD20-8276-B309-2098-76DFF1DBDDD0}"/>
                    </a:ext>
                  </a:extLst>
                </p:cNvPr>
                <p:cNvSpPr/>
                <p:nvPr/>
              </p:nvSpPr>
              <p:spPr>
                <a:xfrm>
                  <a:off x="9800948" y="2330832"/>
                  <a:ext cx="39928" cy="40229"/>
                </a:xfrm>
                <a:custGeom>
                  <a:avLst/>
                  <a:gdLst>
                    <a:gd name="connsiteX0" fmla="*/ 19647 w 39928"/>
                    <a:gd name="connsiteY0" fmla="*/ 40230 h 40229"/>
                    <a:gd name="connsiteX1" fmla="*/ 15844 w 39928"/>
                    <a:gd name="connsiteY1" fmla="*/ 39597 h 40229"/>
                    <a:gd name="connsiteX2" fmla="*/ 12042 w 39928"/>
                    <a:gd name="connsiteY2" fmla="*/ 38332 h 40229"/>
                    <a:gd name="connsiteX3" fmla="*/ 8873 w 39928"/>
                    <a:gd name="connsiteY3" fmla="*/ 36435 h 40229"/>
                    <a:gd name="connsiteX4" fmla="*/ 5704 w 39928"/>
                    <a:gd name="connsiteY4" fmla="*/ 33905 h 40229"/>
                    <a:gd name="connsiteX5" fmla="*/ 0 w 39928"/>
                    <a:gd name="connsiteY5" fmla="*/ 19991 h 40229"/>
                    <a:gd name="connsiteX6" fmla="*/ 634 w 39928"/>
                    <a:gd name="connsiteY6" fmla="*/ 16196 h 40229"/>
                    <a:gd name="connsiteX7" fmla="*/ 1901 w 39928"/>
                    <a:gd name="connsiteY7" fmla="*/ 12401 h 40229"/>
                    <a:gd name="connsiteX8" fmla="*/ 3803 w 39928"/>
                    <a:gd name="connsiteY8" fmla="*/ 9239 h 40229"/>
                    <a:gd name="connsiteX9" fmla="*/ 6338 w 39928"/>
                    <a:gd name="connsiteY9" fmla="*/ 6077 h 40229"/>
                    <a:gd name="connsiteX10" fmla="*/ 9507 w 39928"/>
                    <a:gd name="connsiteY10" fmla="*/ 3547 h 40229"/>
                    <a:gd name="connsiteX11" fmla="*/ 12676 w 39928"/>
                    <a:gd name="connsiteY11" fmla="*/ 1650 h 40229"/>
                    <a:gd name="connsiteX12" fmla="*/ 16478 w 39928"/>
                    <a:gd name="connsiteY12" fmla="*/ 385 h 40229"/>
                    <a:gd name="connsiteX13" fmla="*/ 34224 w 39928"/>
                    <a:gd name="connsiteY13" fmla="*/ 5444 h 40229"/>
                    <a:gd name="connsiteX14" fmla="*/ 39928 w 39928"/>
                    <a:gd name="connsiteY14" fmla="*/ 19359 h 40229"/>
                    <a:gd name="connsiteX15" fmla="*/ 39294 w 39928"/>
                    <a:gd name="connsiteY15" fmla="*/ 23153 h 40229"/>
                    <a:gd name="connsiteX16" fmla="*/ 38027 w 39928"/>
                    <a:gd name="connsiteY16" fmla="*/ 26948 h 40229"/>
                    <a:gd name="connsiteX17" fmla="*/ 36125 w 39928"/>
                    <a:gd name="connsiteY17" fmla="*/ 30110 h 40229"/>
                    <a:gd name="connsiteX18" fmla="*/ 33590 w 39928"/>
                    <a:gd name="connsiteY18" fmla="*/ 33273 h 40229"/>
                    <a:gd name="connsiteX19" fmla="*/ 30421 w 39928"/>
                    <a:gd name="connsiteY19" fmla="*/ 35802 h 40229"/>
                    <a:gd name="connsiteX20" fmla="*/ 27252 w 39928"/>
                    <a:gd name="connsiteY20" fmla="*/ 37700 h 40229"/>
                    <a:gd name="connsiteX21" fmla="*/ 23450 w 39928"/>
                    <a:gd name="connsiteY21" fmla="*/ 38965 h 40229"/>
                    <a:gd name="connsiteX22" fmla="*/ 19647 w 39928"/>
                    <a:gd name="connsiteY22" fmla="*/ 40230 h 4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928" h="40229">
                      <a:moveTo>
                        <a:pt x="19647" y="40230"/>
                      </a:moveTo>
                      <a:cubicBezTo>
                        <a:pt x="18380" y="40230"/>
                        <a:pt x="17112" y="40230"/>
                        <a:pt x="15844" y="39597"/>
                      </a:cubicBezTo>
                      <a:cubicBezTo>
                        <a:pt x="14577" y="39597"/>
                        <a:pt x="13309" y="38965"/>
                        <a:pt x="12042" y="38332"/>
                      </a:cubicBezTo>
                      <a:cubicBezTo>
                        <a:pt x="10774" y="37700"/>
                        <a:pt x="9507" y="37067"/>
                        <a:pt x="8873" y="36435"/>
                      </a:cubicBezTo>
                      <a:cubicBezTo>
                        <a:pt x="7605" y="35802"/>
                        <a:pt x="6972" y="35170"/>
                        <a:pt x="5704" y="33905"/>
                      </a:cubicBezTo>
                      <a:cubicBezTo>
                        <a:pt x="1901" y="30110"/>
                        <a:pt x="0" y="25051"/>
                        <a:pt x="0" y="19991"/>
                      </a:cubicBezTo>
                      <a:cubicBezTo>
                        <a:pt x="0" y="18726"/>
                        <a:pt x="0" y="17461"/>
                        <a:pt x="634" y="16196"/>
                      </a:cubicBezTo>
                      <a:cubicBezTo>
                        <a:pt x="634" y="14931"/>
                        <a:pt x="1268" y="13666"/>
                        <a:pt x="1901" y="12401"/>
                      </a:cubicBezTo>
                      <a:cubicBezTo>
                        <a:pt x="2535" y="11137"/>
                        <a:pt x="3169" y="10504"/>
                        <a:pt x="3803" y="9239"/>
                      </a:cubicBezTo>
                      <a:cubicBezTo>
                        <a:pt x="4436" y="7974"/>
                        <a:pt x="5070" y="7342"/>
                        <a:pt x="6338" y="6077"/>
                      </a:cubicBezTo>
                      <a:cubicBezTo>
                        <a:pt x="6972" y="5444"/>
                        <a:pt x="8239" y="4179"/>
                        <a:pt x="9507" y="3547"/>
                      </a:cubicBezTo>
                      <a:cubicBezTo>
                        <a:pt x="10774" y="2915"/>
                        <a:pt x="12042" y="2282"/>
                        <a:pt x="12676" y="1650"/>
                      </a:cubicBezTo>
                      <a:cubicBezTo>
                        <a:pt x="13943" y="1017"/>
                        <a:pt x="15211" y="1017"/>
                        <a:pt x="16478" y="385"/>
                      </a:cubicBezTo>
                      <a:cubicBezTo>
                        <a:pt x="22816" y="-880"/>
                        <a:pt x="29788" y="1017"/>
                        <a:pt x="34224" y="5444"/>
                      </a:cubicBezTo>
                      <a:cubicBezTo>
                        <a:pt x="38027" y="9239"/>
                        <a:pt x="39928" y="14299"/>
                        <a:pt x="39928" y="19359"/>
                      </a:cubicBezTo>
                      <a:cubicBezTo>
                        <a:pt x="39928" y="20623"/>
                        <a:pt x="39928" y="21888"/>
                        <a:pt x="39294" y="23153"/>
                      </a:cubicBezTo>
                      <a:cubicBezTo>
                        <a:pt x="39294" y="24418"/>
                        <a:pt x="38660" y="25683"/>
                        <a:pt x="38027" y="26948"/>
                      </a:cubicBezTo>
                      <a:cubicBezTo>
                        <a:pt x="37393" y="28213"/>
                        <a:pt x="36759" y="29478"/>
                        <a:pt x="36125" y="30110"/>
                      </a:cubicBezTo>
                      <a:cubicBezTo>
                        <a:pt x="35492" y="31375"/>
                        <a:pt x="34858" y="32008"/>
                        <a:pt x="33590" y="33273"/>
                      </a:cubicBezTo>
                      <a:cubicBezTo>
                        <a:pt x="32323" y="34538"/>
                        <a:pt x="31689" y="35170"/>
                        <a:pt x="30421" y="35802"/>
                      </a:cubicBezTo>
                      <a:cubicBezTo>
                        <a:pt x="29154" y="36435"/>
                        <a:pt x="27886" y="37067"/>
                        <a:pt x="27252" y="37700"/>
                      </a:cubicBezTo>
                      <a:cubicBezTo>
                        <a:pt x="25985" y="38332"/>
                        <a:pt x="24717" y="38332"/>
                        <a:pt x="23450" y="38965"/>
                      </a:cubicBezTo>
                      <a:cubicBezTo>
                        <a:pt x="22182" y="39597"/>
                        <a:pt x="20915" y="40230"/>
                        <a:pt x="19647" y="40230"/>
                      </a:cubicBezTo>
                      <a:close/>
                    </a:path>
                  </a:pathLst>
                </a:custGeom>
                <a:grpFill/>
                <a:ln w="6271" cap="flat">
                  <a:noFill/>
                  <a:prstDash val="solid"/>
                  <a:miter/>
                </a:ln>
              </p:spPr>
              <p:txBody>
                <a:bodyPr rtlCol="0" anchor="ctr"/>
                <a:lstStyle/>
                <a:p>
                  <a:endParaRPr lang="en-US"/>
                </a:p>
              </p:txBody>
            </p:sp>
            <p:sp>
              <p:nvSpPr>
                <p:cNvPr id="109" name="Picture Placeholder 100">
                  <a:extLst>
                    <a:ext uri="{FF2B5EF4-FFF2-40B4-BE49-F238E27FC236}">
                      <a16:creationId xmlns:a16="http://schemas.microsoft.com/office/drawing/2014/main" id="{6FD84861-02F2-6CDD-3BB0-4098127AB39D}"/>
                    </a:ext>
                  </a:extLst>
                </p:cNvPr>
                <p:cNvSpPr/>
                <p:nvPr/>
              </p:nvSpPr>
              <p:spPr>
                <a:xfrm>
                  <a:off x="9833232" y="2380039"/>
                  <a:ext cx="71062" cy="87156"/>
                </a:xfrm>
                <a:custGeom>
                  <a:avLst/>
                  <a:gdLst>
                    <a:gd name="connsiteX0" fmla="*/ 34897 w 71062"/>
                    <a:gd name="connsiteY0" fmla="*/ 78302 h 87156"/>
                    <a:gd name="connsiteX1" fmla="*/ 40601 w 71062"/>
                    <a:gd name="connsiteY1" fmla="*/ 51106 h 87156"/>
                    <a:gd name="connsiteX2" fmla="*/ 40601 w 71062"/>
                    <a:gd name="connsiteY2" fmla="*/ 51106 h 87156"/>
                    <a:gd name="connsiteX3" fmla="*/ 67854 w 71062"/>
                    <a:gd name="connsiteY3" fmla="*/ 56798 h 87156"/>
                    <a:gd name="connsiteX4" fmla="*/ 67854 w 71062"/>
                    <a:gd name="connsiteY4" fmla="*/ 56798 h 87156"/>
                    <a:gd name="connsiteX5" fmla="*/ 62150 w 71062"/>
                    <a:gd name="connsiteY5" fmla="*/ 83994 h 87156"/>
                    <a:gd name="connsiteX6" fmla="*/ 62150 w 71062"/>
                    <a:gd name="connsiteY6" fmla="*/ 83994 h 87156"/>
                    <a:gd name="connsiteX7" fmla="*/ 51376 w 71062"/>
                    <a:gd name="connsiteY7" fmla="*/ 87157 h 87156"/>
                    <a:gd name="connsiteX8" fmla="*/ 51376 w 71062"/>
                    <a:gd name="connsiteY8" fmla="*/ 87157 h 87156"/>
                    <a:gd name="connsiteX9" fmla="*/ 34897 w 71062"/>
                    <a:gd name="connsiteY9" fmla="*/ 78302 h 87156"/>
                    <a:gd name="connsiteX10" fmla="*/ 3209 w 71062"/>
                    <a:gd name="connsiteY10" fmla="*/ 30235 h 87156"/>
                    <a:gd name="connsiteX11" fmla="*/ 8913 w 71062"/>
                    <a:gd name="connsiteY11" fmla="*/ 3039 h 87156"/>
                    <a:gd name="connsiteX12" fmla="*/ 8913 w 71062"/>
                    <a:gd name="connsiteY12" fmla="*/ 3039 h 87156"/>
                    <a:gd name="connsiteX13" fmla="*/ 36165 w 71062"/>
                    <a:gd name="connsiteY13" fmla="*/ 8732 h 87156"/>
                    <a:gd name="connsiteX14" fmla="*/ 36165 w 71062"/>
                    <a:gd name="connsiteY14" fmla="*/ 8732 h 87156"/>
                    <a:gd name="connsiteX15" fmla="*/ 30461 w 71062"/>
                    <a:gd name="connsiteY15" fmla="*/ 35927 h 87156"/>
                    <a:gd name="connsiteX16" fmla="*/ 30461 w 71062"/>
                    <a:gd name="connsiteY16" fmla="*/ 35927 h 87156"/>
                    <a:gd name="connsiteX17" fmla="*/ 19687 w 71062"/>
                    <a:gd name="connsiteY17" fmla="*/ 39090 h 87156"/>
                    <a:gd name="connsiteX18" fmla="*/ 19687 w 71062"/>
                    <a:gd name="connsiteY18" fmla="*/ 39090 h 87156"/>
                    <a:gd name="connsiteX19" fmla="*/ 3209 w 71062"/>
                    <a:gd name="connsiteY19" fmla="*/ 30235 h 87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062" h="87156">
                      <a:moveTo>
                        <a:pt x="34897" y="78302"/>
                      </a:moveTo>
                      <a:cubicBezTo>
                        <a:pt x="29193" y="69448"/>
                        <a:pt x="31095" y="56798"/>
                        <a:pt x="40601" y="51106"/>
                      </a:cubicBezTo>
                      <a:lnTo>
                        <a:pt x="40601" y="51106"/>
                      </a:lnTo>
                      <a:cubicBezTo>
                        <a:pt x="49474" y="45414"/>
                        <a:pt x="61516" y="47312"/>
                        <a:pt x="67854" y="56798"/>
                      </a:cubicBezTo>
                      <a:lnTo>
                        <a:pt x="67854" y="56798"/>
                      </a:lnTo>
                      <a:cubicBezTo>
                        <a:pt x="73558" y="65653"/>
                        <a:pt x="71657" y="78302"/>
                        <a:pt x="62150" y="83994"/>
                      </a:cubicBezTo>
                      <a:lnTo>
                        <a:pt x="62150" y="83994"/>
                      </a:lnTo>
                      <a:cubicBezTo>
                        <a:pt x="58981" y="85892"/>
                        <a:pt x="55178" y="87157"/>
                        <a:pt x="51376" y="87157"/>
                      </a:cubicBezTo>
                      <a:lnTo>
                        <a:pt x="51376" y="87157"/>
                      </a:lnTo>
                      <a:cubicBezTo>
                        <a:pt x="45038" y="87157"/>
                        <a:pt x="38700" y="83994"/>
                        <a:pt x="34897" y="78302"/>
                      </a:cubicBezTo>
                      <a:close/>
                      <a:moveTo>
                        <a:pt x="3209" y="30235"/>
                      </a:moveTo>
                      <a:cubicBezTo>
                        <a:pt x="-2495" y="21381"/>
                        <a:pt x="-594" y="8732"/>
                        <a:pt x="8913" y="3039"/>
                      </a:cubicBezTo>
                      <a:lnTo>
                        <a:pt x="8913" y="3039"/>
                      </a:lnTo>
                      <a:cubicBezTo>
                        <a:pt x="17785" y="-2653"/>
                        <a:pt x="30461" y="-123"/>
                        <a:pt x="36165" y="8732"/>
                      </a:cubicBezTo>
                      <a:lnTo>
                        <a:pt x="36165" y="8732"/>
                      </a:lnTo>
                      <a:cubicBezTo>
                        <a:pt x="41869" y="17586"/>
                        <a:pt x="39334" y="30235"/>
                        <a:pt x="30461" y="35927"/>
                      </a:cubicBezTo>
                      <a:lnTo>
                        <a:pt x="30461" y="35927"/>
                      </a:lnTo>
                      <a:cubicBezTo>
                        <a:pt x="27292" y="38457"/>
                        <a:pt x="23489" y="39090"/>
                        <a:pt x="19687" y="39090"/>
                      </a:cubicBezTo>
                      <a:lnTo>
                        <a:pt x="19687" y="39090"/>
                      </a:lnTo>
                      <a:cubicBezTo>
                        <a:pt x="13349" y="39090"/>
                        <a:pt x="7011" y="35927"/>
                        <a:pt x="3209" y="30235"/>
                      </a:cubicBezTo>
                      <a:close/>
                    </a:path>
                  </a:pathLst>
                </a:custGeom>
                <a:grpFill/>
                <a:ln w="6271" cap="flat">
                  <a:noFill/>
                  <a:prstDash val="solid"/>
                  <a:miter/>
                </a:ln>
              </p:spPr>
              <p:txBody>
                <a:bodyPr rtlCol="0" anchor="ctr"/>
                <a:lstStyle/>
                <a:p>
                  <a:endParaRPr lang="en-US"/>
                </a:p>
              </p:txBody>
            </p:sp>
            <p:sp>
              <p:nvSpPr>
                <p:cNvPr id="110" name="Picture Placeholder 100">
                  <a:extLst>
                    <a:ext uri="{FF2B5EF4-FFF2-40B4-BE49-F238E27FC236}">
                      <a16:creationId xmlns:a16="http://schemas.microsoft.com/office/drawing/2014/main" id="{FAD5B0FF-4FC3-8F23-822F-02337BC8F51F}"/>
                    </a:ext>
                  </a:extLst>
                </p:cNvPr>
                <p:cNvSpPr/>
                <p:nvPr/>
              </p:nvSpPr>
              <p:spPr>
                <a:xfrm>
                  <a:off x="9897283" y="2476045"/>
                  <a:ext cx="40561" cy="39849"/>
                </a:xfrm>
                <a:custGeom>
                  <a:avLst/>
                  <a:gdLst>
                    <a:gd name="connsiteX0" fmla="*/ 19647 w 40561"/>
                    <a:gd name="connsiteY0" fmla="*/ 39217 h 39849"/>
                    <a:gd name="connsiteX1" fmla="*/ 5704 w 40561"/>
                    <a:gd name="connsiteY1" fmla="*/ 33525 h 39849"/>
                    <a:gd name="connsiteX2" fmla="*/ 0 w 40561"/>
                    <a:gd name="connsiteY2" fmla="*/ 19611 h 39849"/>
                    <a:gd name="connsiteX3" fmla="*/ 634 w 40561"/>
                    <a:gd name="connsiteY3" fmla="*/ 15816 h 39849"/>
                    <a:gd name="connsiteX4" fmla="*/ 1901 w 40561"/>
                    <a:gd name="connsiteY4" fmla="*/ 12022 h 39849"/>
                    <a:gd name="connsiteX5" fmla="*/ 3803 w 40561"/>
                    <a:gd name="connsiteY5" fmla="*/ 8859 h 39849"/>
                    <a:gd name="connsiteX6" fmla="*/ 6338 w 40561"/>
                    <a:gd name="connsiteY6" fmla="*/ 5697 h 39849"/>
                    <a:gd name="connsiteX7" fmla="*/ 24084 w 40561"/>
                    <a:gd name="connsiteY7" fmla="*/ 637 h 39849"/>
                    <a:gd name="connsiteX8" fmla="*/ 27886 w 40561"/>
                    <a:gd name="connsiteY8" fmla="*/ 1902 h 39849"/>
                    <a:gd name="connsiteX9" fmla="*/ 31055 w 40561"/>
                    <a:gd name="connsiteY9" fmla="*/ 3800 h 39849"/>
                    <a:gd name="connsiteX10" fmla="*/ 34224 w 40561"/>
                    <a:gd name="connsiteY10" fmla="*/ 6329 h 39849"/>
                    <a:gd name="connsiteX11" fmla="*/ 36759 w 40561"/>
                    <a:gd name="connsiteY11" fmla="*/ 9492 h 39849"/>
                    <a:gd name="connsiteX12" fmla="*/ 38660 w 40561"/>
                    <a:gd name="connsiteY12" fmla="*/ 12654 h 39849"/>
                    <a:gd name="connsiteX13" fmla="*/ 39928 w 40561"/>
                    <a:gd name="connsiteY13" fmla="*/ 16449 h 39849"/>
                    <a:gd name="connsiteX14" fmla="*/ 40562 w 40561"/>
                    <a:gd name="connsiteY14" fmla="*/ 20244 h 39849"/>
                    <a:gd name="connsiteX15" fmla="*/ 39928 w 40561"/>
                    <a:gd name="connsiteY15" fmla="*/ 24038 h 39849"/>
                    <a:gd name="connsiteX16" fmla="*/ 38660 w 40561"/>
                    <a:gd name="connsiteY16" fmla="*/ 27833 h 39849"/>
                    <a:gd name="connsiteX17" fmla="*/ 36759 w 40561"/>
                    <a:gd name="connsiteY17" fmla="*/ 30995 h 39849"/>
                    <a:gd name="connsiteX18" fmla="*/ 34224 w 40561"/>
                    <a:gd name="connsiteY18" fmla="*/ 34158 h 39849"/>
                    <a:gd name="connsiteX19" fmla="*/ 31055 w 40561"/>
                    <a:gd name="connsiteY19" fmla="*/ 36688 h 39849"/>
                    <a:gd name="connsiteX20" fmla="*/ 27886 w 40561"/>
                    <a:gd name="connsiteY20" fmla="*/ 38585 h 39849"/>
                    <a:gd name="connsiteX21" fmla="*/ 24084 w 40561"/>
                    <a:gd name="connsiteY21" fmla="*/ 39850 h 39849"/>
                    <a:gd name="connsiteX22" fmla="*/ 19647 w 40561"/>
                    <a:gd name="connsiteY22" fmla="*/ 39217 h 39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561" h="39849">
                      <a:moveTo>
                        <a:pt x="19647" y="39217"/>
                      </a:moveTo>
                      <a:cubicBezTo>
                        <a:pt x="14577" y="39217"/>
                        <a:pt x="9507" y="37320"/>
                        <a:pt x="5704" y="33525"/>
                      </a:cubicBezTo>
                      <a:cubicBezTo>
                        <a:pt x="1901" y="29731"/>
                        <a:pt x="0" y="24671"/>
                        <a:pt x="0" y="19611"/>
                      </a:cubicBezTo>
                      <a:cubicBezTo>
                        <a:pt x="0" y="18346"/>
                        <a:pt x="0" y="17081"/>
                        <a:pt x="634" y="15816"/>
                      </a:cubicBezTo>
                      <a:cubicBezTo>
                        <a:pt x="1268" y="14551"/>
                        <a:pt x="1268" y="13287"/>
                        <a:pt x="1901" y="12022"/>
                      </a:cubicBezTo>
                      <a:cubicBezTo>
                        <a:pt x="2535" y="10757"/>
                        <a:pt x="3169" y="9492"/>
                        <a:pt x="3803" y="8859"/>
                      </a:cubicBezTo>
                      <a:cubicBezTo>
                        <a:pt x="4436" y="7594"/>
                        <a:pt x="5070" y="6962"/>
                        <a:pt x="6338" y="5697"/>
                      </a:cubicBezTo>
                      <a:cubicBezTo>
                        <a:pt x="10774" y="1270"/>
                        <a:pt x="17746" y="-1260"/>
                        <a:pt x="24084" y="637"/>
                      </a:cubicBezTo>
                      <a:cubicBezTo>
                        <a:pt x="25351" y="637"/>
                        <a:pt x="26619" y="1270"/>
                        <a:pt x="27886" y="1902"/>
                      </a:cubicBezTo>
                      <a:cubicBezTo>
                        <a:pt x="29154" y="2535"/>
                        <a:pt x="30421" y="3167"/>
                        <a:pt x="31055" y="3800"/>
                      </a:cubicBezTo>
                      <a:cubicBezTo>
                        <a:pt x="32323" y="4432"/>
                        <a:pt x="32956" y="5065"/>
                        <a:pt x="34224" y="6329"/>
                      </a:cubicBezTo>
                      <a:cubicBezTo>
                        <a:pt x="34858" y="7594"/>
                        <a:pt x="36125" y="8227"/>
                        <a:pt x="36759" y="9492"/>
                      </a:cubicBezTo>
                      <a:cubicBezTo>
                        <a:pt x="37393" y="10757"/>
                        <a:pt x="38027" y="12022"/>
                        <a:pt x="38660" y="12654"/>
                      </a:cubicBezTo>
                      <a:cubicBezTo>
                        <a:pt x="39294" y="13919"/>
                        <a:pt x="39294" y="15184"/>
                        <a:pt x="39928" y="16449"/>
                      </a:cubicBezTo>
                      <a:cubicBezTo>
                        <a:pt x="40562" y="17714"/>
                        <a:pt x="40562" y="18979"/>
                        <a:pt x="40562" y="20244"/>
                      </a:cubicBezTo>
                      <a:cubicBezTo>
                        <a:pt x="40562" y="21509"/>
                        <a:pt x="40562" y="22773"/>
                        <a:pt x="39928" y="24038"/>
                      </a:cubicBezTo>
                      <a:cubicBezTo>
                        <a:pt x="39928" y="25303"/>
                        <a:pt x="39294" y="26568"/>
                        <a:pt x="38660" y="27833"/>
                      </a:cubicBezTo>
                      <a:cubicBezTo>
                        <a:pt x="38027" y="29098"/>
                        <a:pt x="37393" y="30363"/>
                        <a:pt x="36759" y="30995"/>
                      </a:cubicBezTo>
                      <a:cubicBezTo>
                        <a:pt x="36125" y="32260"/>
                        <a:pt x="35492" y="32893"/>
                        <a:pt x="34224" y="34158"/>
                      </a:cubicBezTo>
                      <a:cubicBezTo>
                        <a:pt x="33590" y="35423"/>
                        <a:pt x="32323" y="36055"/>
                        <a:pt x="31055" y="36688"/>
                      </a:cubicBezTo>
                      <a:cubicBezTo>
                        <a:pt x="29788" y="37320"/>
                        <a:pt x="29154" y="37952"/>
                        <a:pt x="27886" y="38585"/>
                      </a:cubicBezTo>
                      <a:cubicBezTo>
                        <a:pt x="26619" y="39217"/>
                        <a:pt x="25351" y="39217"/>
                        <a:pt x="24084" y="39850"/>
                      </a:cubicBezTo>
                      <a:cubicBezTo>
                        <a:pt x="22182" y="39217"/>
                        <a:pt x="20915" y="39217"/>
                        <a:pt x="19647" y="39217"/>
                      </a:cubicBezTo>
                      <a:close/>
                    </a:path>
                  </a:pathLst>
                </a:custGeom>
                <a:grpFill/>
                <a:ln w="6271" cap="flat">
                  <a:noFill/>
                  <a:prstDash val="solid"/>
                  <a:miter/>
                </a:ln>
              </p:spPr>
              <p:txBody>
                <a:bodyPr rtlCol="0" anchor="ctr"/>
                <a:lstStyle/>
                <a:p>
                  <a:endParaRPr lang="en-US"/>
                </a:p>
              </p:txBody>
            </p:sp>
            <p:sp>
              <p:nvSpPr>
                <p:cNvPr id="111" name="Picture Placeholder 100">
                  <a:extLst>
                    <a:ext uri="{FF2B5EF4-FFF2-40B4-BE49-F238E27FC236}">
                      <a16:creationId xmlns:a16="http://schemas.microsoft.com/office/drawing/2014/main" id="{BF204765-226D-C3E0-1DBE-8DC737DD9E1C}"/>
                    </a:ext>
                  </a:extLst>
                </p:cNvPr>
                <p:cNvSpPr/>
                <p:nvPr/>
              </p:nvSpPr>
              <p:spPr>
                <a:xfrm>
                  <a:off x="9966018" y="2448772"/>
                  <a:ext cx="39088" cy="38661"/>
                </a:xfrm>
                <a:custGeom>
                  <a:avLst/>
                  <a:gdLst>
                    <a:gd name="connsiteX0" fmla="*/ 1614 w 39088"/>
                    <a:gd name="connsiteY0" fmla="*/ 26645 h 38661"/>
                    <a:gd name="connsiteX1" fmla="*/ 12389 w 39088"/>
                    <a:gd name="connsiteY1" fmla="*/ 1346 h 38661"/>
                    <a:gd name="connsiteX2" fmla="*/ 12389 w 39088"/>
                    <a:gd name="connsiteY2" fmla="*/ 1346 h 38661"/>
                    <a:gd name="connsiteX3" fmla="*/ 37740 w 39088"/>
                    <a:gd name="connsiteY3" fmla="*/ 12098 h 38661"/>
                    <a:gd name="connsiteX4" fmla="*/ 37740 w 39088"/>
                    <a:gd name="connsiteY4" fmla="*/ 12098 h 38661"/>
                    <a:gd name="connsiteX5" fmla="*/ 26965 w 39088"/>
                    <a:gd name="connsiteY5" fmla="*/ 37397 h 38661"/>
                    <a:gd name="connsiteX6" fmla="*/ 26965 w 39088"/>
                    <a:gd name="connsiteY6" fmla="*/ 37397 h 38661"/>
                    <a:gd name="connsiteX7" fmla="*/ 19994 w 39088"/>
                    <a:gd name="connsiteY7" fmla="*/ 38662 h 38661"/>
                    <a:gd name="connsiteX8" fmla="*/ 19994 w 39088"/>
                    <a:gd name="connsiteY8" fmla="*/ 38662 h 38661"/>
                    <a:gd name="connsiteX9" fmla="*/ 1614 w 39088"/>
                    <a:gd name="connsiteY9" fmla="*/ 26645 h 38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088" h="38661">
                      <a:moveTo>
                        <a:pt x="1614" y="26645"/>
                      </a:moveTo>
                      <a:cubicBezTo>
                        <a:pt x="-2822" y="16525"/>
                        <a:pt x="2248" y="5141"/>
                        <a:pt x="12389" y="1346"/>
                      </a:cubicBezTo>
                      <a:lnTo>
                        <a:pt x="12389" y="1346"/>
                      </a:lnTo>
                      <a:cubicBezTo>
                        <a:pt x="22529" y="-2448"/>
                        <a:pt x="33937" y="1979"/>
                        <a:pt x="37740" y="12098"/>
                      </a:cubicBezTo>
                      <a:lnTo>
                        <a:pt x="37740" y="12098"/>
                      </a:lnTo>
                      <a:cubicBezTo>
                        <a:pt x="41542" y="22218"/>
                        <a:pt x="37106" y="33602"/>
                        <a:pt x="26965" y="37397"/>
                      </a:cubicBezTo>
                      <a:lnTo>
                        <a:pt x="26965" y="37397"/>
                      </a:lnTo>
                      <a:cubicBezTo>
                        <a:pt x="24430" y="38029"/>
                        <a:pt x="21895" y="38662"/>
                        <a:pt x="19994" y="38662"/>
                      </a:cubicBezTo>
                      <a:lnTo>
                        <a:pt x="19994" y="38662"/>
                      </a:lnTo>
                      <a:cubicBezTo>
                        <a:pt x="11755" y="38662"/>
                        <a:pt x="4783" y="34234"/>
                        <a:pt x="1614" y="26645"/>
                      </a:cubicBezTo>
                      <a:close/>
                    </a:path>
                  </a:pathLst>
                </a:custGeom>
                <a:grpFill/>
                <a:ln w="6271" cap="flat">
                  <a:noFill/>
                  <a:prstDash val="solid"/>
                  <a:miter/>
                </a:ln>
              </p:spPr>
              <p:txBody>
                <a:bodyPr rtlCol="0" anchor="ctr"/>
                <a:lstStyle/>
                <a:p>
                  <a:endParaRPr lang="en-US"/>
                </a:p>
              </p:txBody>
            </p:sp>
          </p:grpSp>
          <p:grpSp>
            <p:nvGrpSpPr>
              <p:cNvPr id="98" name="Picture Placeholder 100">
                <a:extLst>
                  <a:ext uri="{FF2B5EF4-FFF2-40B4-BE49-F238E27FC236}">
                    <a16:creationId xmlns:a16="http://schemas.microsoft.com/office/drawing/2014/main" id="{2F34AC8B-42E1-6822-EBFE-5A171DD0983F}"/>
                  </a:ext>
                </a:extLst>
              </p:cNvPr>
              <p:cNvGrpSpPr/>
              <p:nvPr/>
            </p:nvGrpSpPr>
            <p:grpSpPr>
              <a:xfrm>
                <a:off x="9756584" y="2119590"/>
                <a:ext cx="240305" cy="173678"/>
                <a:chOff x="9756584" y="2119590"/>
                <a:chExt cx="240305" cy="173678"/>
              </a:xfrm>
              <a:grpFill/>
            </p:grpSpPr>
            <p:sp>
              <p:nvSpPr>
                <p:cNvPr id="104" name="Picture Placeholder 100">
                  <a:extLst>
                    <a:ext uri="{FF2B5EF4-FFF2-40B4-BE49-F238E27FC236}">
                      <a16:creationId xmlns:a16="http://schemas.microsoft.com/office/drawing/2014/main" id="{E20EC444-20A8-B3EB-0B29-FD942D8CAFD9}"/>
                    </a:ext>
                  </a:extLst>
                </p:cNvPr>
                <p:cNvSpPr/>
                <p:nvPr/>
              </p:nvSpPr>
              <p:spPr>
                <a:xfrm>
                  <a:off x="9756584" y="2253582"/>
                  <a:ext cx="39928" cy="39686"/>
                </a:xfrm>
                <a:custGeom>
                  <a:avLst/>
                  <a:gdLst>
                    <a:gd name="connsiteX0" fmla="*/ 19647 w 39928"/>
                    <a:gd name="connsiteY0" fmla="*/ 39687 h 39686"/>
                    <a:gd name="connsiteX1" fmla="*/ 5704 w 39928"/>
                    <a:gd name="connsiteY1" fmla="*/ 33995 h 39686"/>
                    <a:gd name="connsiteX2" fmla="*/ 0 w 39928"/>
                    <a:gd name="connsiteY2" fmla="*/ 20081 h 39686"/>
                    <a:gd name="connsiteX3" fmla="*/ 634 w 39928"/>
                    <a:gd name="connsiteY3" fmla="*/ 16286 h 39686"/>
                    <a:gd name="connsiteX4" fmla="*/ 1901 w 39928"/>
                    <a:gd name="connsiteY4" fmla="*/ 12491 h 39686"/>
                    <a:gd name="connsiteX5" fmla="*/ 3803 w 39928"/>
                    <a:gd name="connsiteY5" fmla="*/ 9329 h 39686"/>
                    <a:gd name="connsiteX6" fmla="*/ 6338 w 39928"/>
                    <a:gd name="connsiteY6" fmla="*/ 6166 h 39686"/>
                    <a:gd name="connsiteX7" fmla="*/ 9507 w 39928"/>
                    <a:gd name="connsiteY7" fmla="*/ 3637 h 39686"/>
                    <a:gd name="connsiteX8" fmla="*/ 12676 w 39928"/>
                    <a:gd name="connsiteY8" fmla="*/ 1739 h 39686"/>
                    <a:gd name="connsiteX9" fmla="*/ 16478 w 39928"/>
                    <a:gd name="connsiteY9" fmla="*/ 474 h 39686"/>
                    <a:gd name="connsiteX10" fmla="*/ 24084 w 39928"/>
                    <a:gd name="connsiteY10" fmla="*/ 474 h 39686"/>
                    <a:gd name="connsiteX11" fmla="*/ 27886 w 39928"/>
                    <a:gd name="connsiteY11" fmla="*/ 1739 h 39686"/>
                    <a:gd name="connsiteX12" fmla="*/ 31055 w 39928"/>
                    <a:gd name="connsiteY12" fmla="*/ 3637 h 39686"/>
                    <a:gd name="connsiteX13" fmla="*/ 34224 w 39928"/>
                    <a:gd name="connsiteY13" fmla="*/ 6166 h 39686"/>
                    <a:gd name="connsiteX14" fmla="*/ 39928 w 39928"/>
                    <a:gd name="connsiteY14" fmla="*/ 20081 h 39686"/>
                    <a:gd name="connsiteX15" fmla="*/ 39294 w 39928"/>
                    <a:gd name="connsiteY15" fmla="*/ 23875 h 39686"/>
                    <a:gd name="connsiteX16" fmla="*/ 38027 w 39928"/>
                    <a:gd name="connsiteY16" fmla="*/ 27670 h 39686"/>
                    <a:gd name="connsiteX17" fmla="*/ 36125 w 39928"/>
                    <a:gd name="connsiteY17" fmla="*/ 30832 h 39686"/>
                    <a:gd name="connsiteX18" fmla="*/ 33590 w 39928"/>
                    <a:gd name="connsiteY18" fmla="*/ 33995 h 39686"/>
                    <a:gd name="connsiteX19" fmla="*/ 19647 w 39928"/>
                    <a:gd name="connsiteY19" fmla="*/ 39687 h 3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928" h="39686">
                      <a:moveTo>
                        <a:pt x="19647" y="39687"/>
                      </a:moveTo>
                      <a:cubicBezTo>
                        <a:pt x="14577" y="39687"/>
                        <a:pt x="9507" y="37789"/>
                        <a:pt x="5704" y="33995"/>
                      </a:cubicBezTo>
                      <a:cubicBezTo>
                        <a:pt x="1901" y="30200"/>
                        <a:pt x="0" y="25140"/>
                        <a:pt x="0" y="20081"/>
                      </a:cubicBezTo>
                      <a:cubicBezTo>
                        <a:pt x="0" y="18816"/>
                        <a:pt x="0" y="17551"/>
                        <a:pt x="634" y="16286"/>
                      </a:cubicBezTo>
                      <a:cubicBezTo>
                        <a:pt x="634" y="15021"/>
                        <a:pt x="1268" y="13756"/>
                        <a:pt x="1901" y="12491"/>
                      </a:cubicBezTo>
                      <a:cubicBezTo>
                        <a:pt x="2535" y="11226"/>
                        <a:pt x="3169" y="9961"/>
                        <a:pt x="3803" y="9329"/>
                      </a:cubicBezTo>
                      <a:cubicBezTo>
                        <a:pt x="4436" y="8064"/>
                        <a:pt x="5070" y="7431"/>
                        <a:pt x="6338" y="6166"/>
                      </a:cubicBezTo>
                      <a:cubicBezTo>
                        <a:pt x="6972" y="5534"/>
                        <a:pt x="8239" y="4269"/>
                        <a:pt x="9507" y="3637"/>
                      </a:cubicBezTo>
                      <a:cubicBezTo>
                        <a:pt x="10774" y="3004"/>
                        <a:pt x="12042" y="2372"/>
                        <a:pt x="12676" y="1739"/>
                      </a:cubicBezTo>
                      <a:cubicBezTo>
                        <a:pt x="13943" y="1107"/>
                        <a:pt x="15211" y="1107"/>
                        <a:pt x="16478" y="474"/>
                      </a:cubicBezTo>
                      <a:cubicBezTo>
                        <a:pt x="19013" y="-158"/>
                        <a:pt x="21548" y="-158"/>
                        <a:pt x="24084" y="474"/>
                      </a:cubicBezTo>
                      <a:cubicBezTo>
                        <a:pt x="25351" y="474"/>
                        <a:pt x="26619" y="1107"/>
                        <a:pt x="27886" y="1739"/>
                      </a:cubicBezTo>
                      <a:cubicBezTo>
                        <a:pt x="29154" y="2372"/>
                        <a:pt x="30421" y="3004"/>
                        <a:pt x="31055" y="3637"/>
                      </a:cubicBezTo>
                      <a:cubicBezTo>
                        <a:pt x="32323" y="4269"/>
                        <a:pt x="32956" y="4902"/>
                        <a:pt x="34224" y="6166"/>
                      </a:cubicBezTo>
                      <a:cubicBezTo>
                        <a:pt x="38027" y="9961"/>
                        <a:pt x="39928" y="15021"/>
                        <a:pt x="39928" y="20081"/>
                      </a:cubicBezTo>
                      <a:cubicBezTo>
                        <a:pt x="39928" y="21346"/>
                        <a:pt x="39928" y="22610"/>
                        <a:pt x="39294" y="23875"/>
                      </a:cubicBezTo>
                      <a:cubicBezTo>
                        <a:pt x="39294" y="25140"/>
                        <a:pt x="38660" y="26405"/>
                        <a:pt x="38027" y="27670"/>
                      </a:cubicBezTo>
                      <a:cubicBezTo>
                        <a:pt x="37393" y="28935"/>
                        <a:pt x="36759" y="30200"/>
                        <a:pt x="36125" y="30832"/>
                      </a:cubicBezTo>
                      <a:cubicBezTo>
                        <a:pt x="35492" y="32097"/>
                        <a:pt x="34858" y="32730"/>
                        <a:pt x="33590" y="33995"/>
                      </a:cubicBezTo>
                      <a:cubicBezTo>
                        <a:pt x="29788" y="37157"/>
                        <a:pt x="24717" y="39687"/>
                        <a:pt x="19647" y="39687"/>
                      </a:cubicBezTo>
                      <a:close/>
                    </a:path>
                  </a:pathLst>
                </a:custGeom>
                <a:grpFill/>
                <a:ln w="6271" cap="flat">
                  <a:noFill/>
                  <a:prstDash val="solid"/>
                  <a:miter/>
                </a:ln>
              </p:spPr>
              <p:txBody>
                <a:bodyPr rtlCol="0" anchor="ctr"/>
                <a:lstStyle/>
                <a:p>
                  <a:endParaRPr lang="en-US"/>
                </a:p>
              </p:txBody>
            </p:sp>
            <p:sp>
              <p:nvSpPr>
                <p:cNvPr id="105" name="Picture Placeholder 100">
                  <a:extLst>
                    <a:ext uri="{FF2B5EF4-FFF2-40B4-BE49-F238E27FC236}">
                      <a16:creationId xmlns:a16="http://schemas.microsoft.com/office/drawing/2014/main" id="{8EEDC541-DD44-47C0-C045-E32DD0701989}"/>
                    </a:ext>
                  </a:extLst>
                </p:cNvPr>
                <p:cNvSpPr/>
                <p:nvPr/>
              </p:nvSpPr>
              <p:spPr>
                <a:xfrm>
                  <a:off x="9797360" y="2164621"/>
                  <a:ext cx="80534" cy="83743"/>
                </a:xfrm>
                <a:custGeom>
                  <a:avLst/>
                  <a:gdLst>
                    <a:gd name="connsiteX0" fmla="*/ 6123 w 80534"/>
                    <a:gd name="connsiteY0" fmla="*/ 78684 h 83743"/>
                    <a:gd name="connsiteX1" fmla="*/ 4856 w 80534"/>
                    <a:gd name="connsiteY1" fmla="*/ 50855 h 83743"/>
                    <a:gd name="connsiteX2" fmla="*/ 4856 w 80534"/>
                    <a:gd name="connsiteY2" fmla="*/ 50855 h 83743"/>
                    <a:gd name="connsiteX3" fmla="*/ 32742 w 80534"/>
                    <a:gd name="connsiteY3" fmla="*/ 49590 h 83743"/>
                    <a:gd name="connsiteX4" fmla="*/ 32742 w 80534"/>
                    <a:gd name="connsiteY4" fmla="*/ 49590 h 83743"/>
                    <a:gd name="connsiteX5" fmla="*/ 34010 w 80534"/>
                    <a:gd name="connsiteY5" fmla="*/ 77419 h 83743"/>
                    <a:gd name="connsiteX6" fmla="*/ 34010 w 80534"/>
                    <a:gd name="connsiteY6" fmla="*/ 77419 h 83743"/>
                    <a:gd name="connsiteX7" fmla="*/ 19433 w 80534"/>
                    <a:gd name="connsiteY7" fmla="*/ 83743 h 83743"/>
                    <a:gd name="connsiteX8" fmla="*/ 19433 w 80534"/>
                    <a:gd name="connsiteY8" fmla="*/ 83743 h 83743"/>
                    <a:gd name="connsiteX9" fmla="*/ 6123 w 80534"/>
                    <a:gd name="connsiteY9" fmla="*/ 78684 h 83743"/>
                    <a:gd name="connsiteX10" fmla="*/ 47319 w 80534"/>
                    <a:gd name="connsiteY10" fmla="*/ 34411 h 83743"/>
                    <a:gd name="connsiteX11" fmla="*/ 46051 w 80534"/>
                    <a:gd name="connsiteY11" fmla="*/ 6583 h 83743"/>
                    <a:gd name="connsiteX12" fmla="*/ 46051 w 80534"/>
                    <a:gd name="connsiteY12" fmla="*/ 6583 h 83743"/>
                    <a:gd name="connsiteX13" fmla="*/ 73938 w 80534"/>
                    <a:gd name="connsiteY13" fmla="*/ 5318 h 83743"/>
                    <a:gd name="connsiteX14" fmla="*/ 73938 w 80534"/>
                    <a:gd name="connsiteY14" fmla="*/ 5318 h 83743"/>
                    <a:gd name="connsiteX15" fmla="*/ 75205 w 80534"/>
                    <a:gd name="connsiteY15" fmla="*/ 33146 h 83743"/>
                    <a:gd name="connsiteX16" fmla="*/ 75205 w 80534"/>
                    <a:gd name="connsiteY16" fmla="*/ 33146 h 83743"/>
                    <a:gd name="connsiteX17" fmla="*/ 60628 w 80534"/>
                    <a:gd name="connsiteY17" fmla="*/ 39471 h 83743"/>
                    <a:gd name="connsiteX18" fmla="*/ 60628 w 80534"/>
                    <a:gd name="connsiteY18" fmla="*/ 39471 h 83743"/>
                    <a:gd name="connsiteX19" fmla="*/ 47319 w 80534"/>
                    <a:gd name="connsiteY19" fmla="*/ 34411 h 8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534" h="83743">
                      <a:moveTo>
                        <a:pt x="6123" y="78684"/>
                      </a:moveTo>
                      <a:cubicBezTo>
                        <a:pt x="-1482" y="71094"/>
                        <a:pt x="-2116" y="59077"/>
                        <a:pt x="4856" y="50855"/>
                      </a:cubicBezTo>
                      <a:lnTo>
                        <a:pt x="4856" y="50855"/>
                      </a:lnTo>
                      <a:cubicBezTo>
                        <a:pt x="11827" y="42633"/>
                        <a:pt x="24503" y="42001"/>
                        <a:pt x="32742" y="49590"/>
                      </a:cubicBezTo>
                      <a:lnTo>
                        <a:pt x="32742" y="49590"/>
                      </a:lnTo>
                      <a:cubicBezTo>
                        <a:pt x="40981" y="57180"/>
                        <a:pt x="40981" y="69197"/>
                        <a:pt x="34010" y="77419"/>
                      </a:cubicBezTo>
                      <a:lnTo>
                        <a:pt x="34010" y="77419"/>
                      </a:lnTo>
                      <a:cubicBezTo>
                        <a:pt x="30207" y="81846"/>
                        <a:pt x="25137" y="83743"/>
                        <a:pt x="19433" y="83743"/>
                      </a:cubicBezTo>
                      <a:lnTo>
                        <a:pt x="19433" y="83743"/>
                      </a:lnTo>
                      <a:cubicBezTo>
                        <a:pt x="14996" y="83743"/>
                        <a:pt x="9926" y="82478"/>
                        <a:pt x="6123" y="78684"/>
                      </a:cubicBezTo>
                      <a:close/>
                      <a:moveTo>
                        <a:pt x="47319" y="34411"/>
                      </a:moveTo>
                      <a:cubicBezTo>
                        <a:pt x="39080" y="26822"/>
                        <a:pt x="38446" y="14805"/>
                        <a:pt x="46051" y="6583"/>
                      </a:cubicBezTo>
                      <a:lnTo>
                        <a:pt x="46051" y="6583"/>
                      </a:lnTo>
                      <a:cubicBezTo>
                        <a:pt x="53657" y="-1639"/>
                        <a:pt x="65698" y="-2271"/>
                        <a:pt x="73938" y="5318"/>
                      </a:cubicBezTo>
                      <a:lnTo>
                        <a:pt x="73938" y="5318"/>
                      </a:lnTo>
                      <a:cubicBezTo>
                        <a:pt x="82177" y="12908"/>
                        <a:pt x="82811" y="24924"/>
                        <a:pt x="75205" y="33146"/>
                      </a:cubicBezTo>
                      <a:lnTo>
                        <a:pt x="75205" y="33146"/>
                      </a:lnTo>
                      <a:cubicBezTo>
                        <a:pt x="71403" y="37574"/>
                        <a:pt x="66332" y="39471"/>
                        <a:pt x="60628" y="39471"/>
                      </a:cubicBezTo>
                      <a:lnTo>
                        <a:pt x="60628" y="39471"/>
                      </a:lnTo>
                      <a:cubicBezTo>
                        <a:pt x="55558" y="39471"/>
                        <a:pt x="51122" y="37574"/>
                        <a:pt x="47319" y="34411"/>
                      </a:cubicBezTo>
                      <a:close/>
                    </a:path>
                  </a:pathLst>
                </a:custGeom>
                <a:grpFill/>
                <a:ln w="6271" cap="flat">
                  <a:noFill/>
                  <a:prstDash val="solid"/>
                  <a:miter/>
                </a:ln>
              </p:spPr>
              <p:txBody>
                <a:bodyPr rtlCol="0" anchor="ctr"/>
                <a:lstStyle/>
                <a:p>
                  <a:endParaRPr lang="en-US"/>
                </a:p>
              </p:txBody>
            </p:sp>
            <p:sp>
              <p:nvSpPr>
                <p:cNvPr id="106" name="Picture Placeholder 100">
                  <a:extLst>
                    <a:ext uri="{FF2B5EF4-FFF2-40B4-BE49-F238E27FC236}">
                      <a16:creationId xmlns:a16="http://schemas.microsoft.com/office/drawing/2014/main" id="{120F193C-79AA-8FDE-7696-5A93C22B117B}"/>
                    </a:ext>
                  </a:extLst>
                </p:cNvPr>
                <p:cNvSpPr/>
                <p:nvPr/>
              </p:nvSpPr>
              <p:spPr>
                <a:xfrm>
                  <a:off x="9878903" y="2119590"/>
                  <a:ext cx="40561" cy="40229"/>
                </a:xfrm>
                <a:custGeom>
                  <a:avLst/>
                  <a:gdLst>
                    <a:gd name="connsiteX0" fmla="*/ 19647 w 40561"/>
                    <a:gd name="connsiteY0" fmla="*/ 40230 h 40229"/>
                    <a:gd name="connsiteX1" fmla="*/ 15844 w 40561"/>
                    <a:gd name="connsiteY1" fmla="*/ 39597 h 40229"/>
                    <a:gd name="connsiteX2" fmla="*/ 12042 w 40561"/>
                    <a:gd name="connsiteY2" fmla="*/ 38332 h 40229"/>
                    <a:gd name="connsiteX3" fmla="*/ 8873 w 40561"/>
                    <a:gd name="connsiteY3" fmla="*/ 36435 h 40229"/>
                    <a:gd name="connsiteX4" fmla="*/ 5704 w 40561"/>
                    <a:gd name="connsiteY4" fmla="*/ 33905 h 40229"/>
                    <a:gd name="connsiteX5" fmla="*/ 0 w 40561"/>
                    <a:gd name="connsiteY5" fmla="*/ 19991 h 40229"/>
                    <a:gd name="connsiteX6" fmla="*/ 634 w 40561"/>
                    <a:gd name="connsiteY6" fmla="*/ 16196 h 40229"/>
                    <a:gd name="connsiteX7" fmla="*/ 1901 w 40561"/>
                    <a:gd name="connsiteY7" fmla="*/ 12401 h 40229"/>
                    <a:gd name="connsiteX8" fmla="*/ 3803 w 40561"/>
                    <a:gd name="connsiteY8" fmla="*/ 9239 h 40229"/>
                    <a:gd name="connsiteX9" fmla="*/ 6338 w 40561"/>
                    <a:gd name="connsiteY9" fmla="*/ 6077 h 40229"/>
                    <a:gd name="connsiteX10" fmla="*/ 9507 w 40561"/>
                    <a:gd name="connsiteY10" fmla="*/ 3547 h 40229"/>
                    <a:gd name="connsiteX11" fmla="*/ 12676 w 40561"/>
                    <a:gd name="connsiteY11" fmla="*/ 1650 h 40229"/>
                    <a:gd name="connsiteX12" fmla="*/ 16478 w 40561"/>
                    <a:gd name="connsiteY12" fmla="*/ 385 h 40229"/>
                    <a:gd name="connsiteX13" fmla="*/ 34224 w 40561"/>
                    <a:gd name="connsiteY13" fmla="*/ 5444 h 40229"/>
                    <a:gd name="connsiteX14" fmla="*/ 36759 w 40561"/>
                    <a:gd name="connsiteY14" fmla="*/ 8607 h 40229"/>
                    <a:gd name="connsiteX15" fmla="*/ 38660 w 40561"/>
                    <a:gd name="connsiteY15" fmla="*/ 11769 h 40229"/>
                    <a:gd name="connsiteX16" fmla="*/ 39928 w 40561"/>
                    <a:gd name="connsiteY16" fmla="*/ 15564 h 40229"/>
                    <a:gd name="connsiteX17" fmla="*/ 40562 w 40561"/>
                    <a:gd name="connsiteY17" fmla="*/ 19358 h 40229"/>
                    <a:gd name="connsiteX18" fmla="*/ 39928 w 40561"/>
                    <a:gd name="connsiteY18" fmla="*/ 23153 h 40229"/>
                    <a:gd name="connsiteX19" fmla="*/ 38660 w 40561"/>
                    <a:gd name="connsiteY19" fmla="*/ 26948 h 40229"/>
                    <a:gd name="connsiteX20" fmla="*/ 36759 w 40561"/>
                    <a:gd name="connsiteY20" fmla="*/ 30110 h 40229"/>
                    <a:gd name="connsiteX21" fmla="*/ 34224 w 40561"/>
                    <a:gd name="connsiteY21" fmla="*/ 33273 h 40229"/>
                    <a:gd name="connsiteX22" fmla="*/ 19647 w 40561"/>
                    <a:gd name="connsiteY22" fmla="*/ 40230 h 4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561" h="40229">
                      <a:moveTo>
                        <a:pt x="19647" y="40230"/>
                      </a:moveTo>
                      <a:cubicBezTo>
                        <a:pt x="18380" y="40230"/>
                        <a:pt x="17112" y="40230"/>
                        <a:pt x="15844" y="39597"/>
                      </a:cubicBezTo>
                      <a:cubicBezTo>
                        <a:pt x="14577" y="39597"/>
                        <a:pt x="13309" y="38965"/>
                        <a:pt x="12042" y="38332"/>
                      </a:cubicBezTo>
                      <a:cubicBezTo>
                        <a:pt x="10774" y="37700"/>
                        <a:pt x="9507" y="37067"/>
                        <a:pt x="8873" y="36435"/>
                      </a:cubicBezTo>
                      <a:cubicBezTo>
                        <a:pt x="7605" y="35802"/>
                        <a:pt x="6972" y="35170"/>
                        <a:pt x="5704" y="33905"/>
                      </a:cubicBezTo>
                      <a:cubicBezTo>
                        <a:pt x="1901" y="30110"/>
                        <a:pt x="0" y="25051"/>
                        <a:pt x="0" y="19991"/>
                      </a:cubicBezTo>
                      <a:cubicBezTo>
                        <a:pt x="0" y="18726"/>
                        <a:pt x="0" y="17461"/>
                        <a:pt x="634" y="16196"/>
                      </a:cubicBezTo>
                      <a:cubicBezTo>
                        <a:pt x="634" y="14931"/>
                        <a:pt x="1268" y="13666"/>
                        <a:pt x="1901" y="12401"/>
                      </a:cubicBezTo>
                      <a:cubicBezTo>
                        <a:pt x="2535" y="11136"/>
                        <a:pt x="3169" y="9872"/>
                        <a:pt x="3803" y="9239"/>
                      </a:cubicBezTo>
                      <a:cubicBezTo>
                        <a:pt x="4436" y="7974"/>
                        <a:pt x="5070" y="7342"/>
                        <a:pt x="6338" y="6077"/>
                      </a:cubicBezTo>
                      <a:cubicBezTo>
                        <a:pt x="6972" y="5444"/>
                        <a:pt x="8239" y="4179"/>
                        <a:pt x="9507" y="3547"/>
                      </a:cubicBezTo>
                      <a:cubicBezTo>
                        <a:pt x="10774" y="2915"/>
                        <a:pt x="12042" y="2282"/>
                        <a:pt x="12676" y="1650"/>
                      </a:cubicBezTo>
                      <a:cubicBezTo>
                        <a:pt x="13943" y="1017"/>
                        <a:pt x="15211" y="1017"/>
                        <a:pt x="16478" y="385"/>
                      </a:cubicBezTo>
                      <a:cubicBezTo>
                        <a:pt x="22816" y="-880"/>
                        <a:pt x="29788" y="1017"/>
                        <a:pt x="34224" y="5444"/>
                      </a:cubicBezTo>
                      <a:cubicBezTo>
                        <a:pt x="34858" y="6709"/>
                        <a:pt x="36125" y="7342"/>
                        <a:pt x="36759" y="8607"/>
                      </a:cubicBezTo>
                      <a:cubicBezTo>
                        <a:pt x="37393" y="9872"/>
                        <a:pt x="38027" y="11136"/>
                        <a:pt x="38660" y="11769"/>
                      </a:cubicBezTo>
                      <a:cubicBezTo>
                        <a:pt x="39294" y="13034"/>
                        <a:pt x="39294" y="14299"/>
                        <a:pt x="39928" y="15564"/>
                      </a:cubicBezTo>
                      <a:cubicBezTo>
                        <a:pt x="39928" y="16829"/>
                        <a:pt x="40562" y="18094"/>
                        <a:pt x="40562" y="19358"/>
                      </a:cubicBezTo>
                      <a:cubicBezTo>
                        <a:pt x="40562" y="20623"/>
                        <a:pt x="40562" y="21888"/>
                        <a:pt x="39928" y="23153"/>
                      </a:cubicBezTo>
                      <a:cubicBezTo>
                        <a:pt x="39928" y="24418"/>
                        <a:pt x="39294" y="25683"/>
                        <a:pt x="38660" y="26948"/>
                      </a:cubicBezTo>
                      <a:cubicBezTo>
                        <a:pt x="38027" y="28213"/>
                        <a:pt x="37393" y="29478"/>
                        <a:pt x="36759" y="30110"/>
                      </a:cubicBezTo>
                      <a:cubicBezTo>
                        <a:pt x="36125" y="31375"/>
                        <a:pt x="35492" y="32008"/>
                        <a:pt x="34224" y="33273"/>
                      </a:cubicBezTo>
                      <a:cubicBezTo>
                        <a:pt x="29788" y="38332"/>
                        <a:pt x="24717" y="40230"/>
                        <a:pt x="19647" y="40230"/>
                      </a:cubicBezTo>
                      <a:close/>
                    </a:path>
                  </a:pathLst>
                </a:custGeom>
                <a:grpFill/>
                <a:ln w="6271" cap="flat">
                  <a:noFill/>
                  <a:prstDash val="solid"/>
                  <a:miter/>
                </a:ln>
              </p:spPr>
              <p:txBody>
                <a:bodyPr rtlCol="0" anchor="ctr"/>
                <a:lstStyle/>
                <a:p>
                  <a:endParaRPr lang="en-US"/>
                </a:p>
              </p:txBody>
            </p:sp>
            <p:sp>
              <p:nvSpPr>
                <p:cNvPr id="107" name="Picture Placeholder 100">
                  <a:extLst>
                    <a:ext uri="{FF2B5EF4-FFF2-40B4-BE49-F238E27FC236}">
                      <a16:creationId xmlns:a16="http://schemas.microsoft.com/office/drawing/2014/main" id="{E28B3090-FF36-1863-241C-38494F0DD7A6}"/>
                    </a:ext>
                  </a:extLst>
                </p:cNvPr>
                <p:cNvSpPr/>
                <p:nvPr/>
              </p:nvSpPr>
              <p:spPr>
                <a:xfrm>
                  <a:off x="9957305" y="2143189"/>
                  <a:ext cx="39085" cy="38766"/>
                </a:xfrm>
                <a:custGeom>
                  <a:avLst/>
                  <a:gdLst>
                    <a:gd name="connsiteX0" fmla="*/ 14130 w 39085"/>
                    <a:gd name="connsiteY0" fmla="*/ 38134 h 38766"/>
                    <a:gd name="connsiteX1" fmla="*/ 821 w 39085"/>
                    <a:gd name="connsiteY1" fmla="*/ 14101 h 38766"/>
                    <a:gd name="connsiteX2" fmla="*/ 821 w 39085"/>
                    <a:gd name="connsiteY2" fmla="*/ 14101 h 38766"/>
                    <a:gd name="connsiteX3" fmla="*/ 24904 w 39085"/>
                    <a:gd name="connsiteY3" fmla="*/ 819 h 38766"/>
                    <a:gd name="connsiteX4" fmla="*/ 24904 w 39085"/>
                    <a:gd name="connsiteY4" fmla="*/ 819 h 38766"/>
                    <a:gd name="connsiteX5" fmla="*/ 38214 w 39085"/>
                    <a:gd name="connsiteY5" fmla="*/ 24853 h 38766"/>
                    <a:gd name="connsiteX6" fmla="*/ 38214 w 39085"/>
                    <a:gd name="connsiteY6" fmla="*/ 24853 h 38766"/>
                    <a:gd name="connsiteX7" fmla="*/ 19200 w 39085"/>
                    <a:gd name="connsiteY7" fmla="*/ 38767 h 38766"/>
                    <a:gd name="connsiteX8" fmla="*/ 19200 w 39085"/>
                    <a:gd name="connsiteY8" fmla="*/ 38767 h 38766"/>
                    <a:gd name="connsiteX9" fmla="*/ 14130 w 39085"/>
                    <a:gd name="connsiteY9" fmla="*/ 38134 h 38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085" h="38766">
                      <a:moveTo>
                        <a:pt x="14130" y="38134"/>
                      </a:moveTo>
                      <a:cubicBezTo>
                        <a:pt x="3990" y="34972"/>
                        <a:pt x="-2348" y="24220"/>
                        <a:pt x="821" y="14101"/>
                      </a:cubicBezTo>
                      <a:lnTo>
                        <a:pt x="821" y="14101"/>
                      </a:lnTo>
                      <a:cubicBezTo>
                        <a:pt x="3990" y="3981"/>
                        <a:pt x="14764" y="-2343"/>
                        <a:pt x="24904" y="819"/>
                      </a:cubicBezTo>
                      <a:lnTo>
                        <a:pt x="24904" y="819"/>
                      </a:lnTo>
                      <a:cubicBezTo>
                        <a:pt x="35679" y="3981"/>
                        <a:pt x="41383" y="14733"/>
                        <a:pt x="38214" y="24853"/>
                      </a:cubicBezTo>
                      <a:lnTo>
                        <a:pt x="38214" y="24853"/>
                      </a:lnTo>
                      <a:cubicBezTo>
                        <a:pt x="35679" y="33707"/>
                        <a:pt x="28073" y="38767"/>
                        <a:pt x="19200" y="38767"/>
                      </a:cubicBezTo>
                      <a:lnTo>
                        <a:pt x="19200" y="38767"/>
                      </a:lnTo>
                      <a:cubicBezTo>
                        <a:pt x="17299" y="38767"/>
                        <a:pt x="16032" y="38767"/>
                        <a:pt x="14130" y="38134"/>
                      </a:cubicBezTo>
                      <a:close/>
                    </a:path>
                  </a:pathLst>
                </a:custGeom>
                <a:grpFill/>
                <a:ln w="6271" cap="flat">
                  <a:noFill/>
                  <a:prstDash val="solid"/>
                  <a:miter/>
                </a:ln>
              </p:spPr>
              <p:txBody>
                <a:bodyPr rtlCol="0" anchor="ctr"/>
                <a:lstStyle/>
                <a:p>
                  <a:endParaRPr lang="en-US"/>
                </a:p>
              </p:txBody>
            </p:sp>
          </p:grpSp>
          <p:grpSp>
            <p:nvGrpSpPr>
              <p:cNvPr id="99" name="Picture Placeholder 100">
                <a:extLst>
                  <a:ext uri="{FF2B5EF4-FFF2-40B4-BE49-F238E27FC236}">
                    <a16:creationId xmlns:a16="http://schemas.microsoft.com/office/drawing/2014/main" id="{71E7F15A-8E9D-A326-F25E-C2AB75990925}"/>
                  </a:ext>
                </a:extLst>
              </p:cNvPr>
              <p:cNvGrpSpPr/>
              <p:nvPr/>
            </p:nvGrpSpPr>
            <p:grpSpPr>
              <a:xfrm>
                <a:off x="9878269" y="2253039"/>
                <a:ext cx="150446" cy="140158"/>
                <a:chOff x="9878269" y="2253039"/>
                <a:chExt cx="150446" cy="140158"/>
              </a:xfrm>
              <a:grpFill/>
            </p:grpSpPr>
            <p:sp>
              <p:nvSpPr>
                <p:cNvPr id="100" name="Picture Placeholder 100">
                  <a:extLst>
                    <a:ext uri="{FF2B5EF4-FFF2-40B4-BE49-F238E27FC236}">
                      <a16:creationId xmlns:a16="http://schemas.microsoft.com/office/drawing/2014/main" id="{875D05EC-318F-BC7A-4306-A452BE8D4932}"/>
                    </a:ext>
                  </a:extLst>
                </p:cNvPr>
                <p:cNvSpPr/>
                <p:nvPr/>
              </p:nvSpPr>
              <p:spPr>
                <a:xfrm>
                  <a:off x="9878269" y="2253039"/>
                  <a:ext cx="39928" cy="40229"/>
                </a:xfrm>
                <a:custGeom>
                  <a:avLst/>
                  <a:gdLst>
                    <a:gd name="connsiteX0" fmla="*/ 20281 w 39928"/>
                    <a:gd name="connsiteY0" fmla="*/ 40230 h 40229"/>
                    <a:gd name="connsiteX1" fmla="*/ 16478 w 39928"/>
                    <a:gd name="connsiteY1" fmla="*/ 39597 h 40229"/>
                    <a:gd name="connsiteX2" fmla="*/ 12676 w 39928"/>
                    <a:gd name="connsiteY2" fmla="*/ 38332 h 40229"/>
                    <a:gd name="connsiteX3" fmla="*/ 9507 w 39928"/>
                    <a:gd name="connsiteY3" fmla="*/ 36435 h 40229"/>
                    <a:gd name="connsiteX4" fmla="*/ 6338 w 39928"/>
                    <a:gd name="connsiteY4" fmla="*/ 33905 h 40229"/>
                    <a:gd name="connsiteX5" fmla="*/ 3803 w 39928"/>
                    <a:gd name="connsiteY5" fmla="*/ 30743 h 40229"/>
                    <a:gd name="connsiteX6" fmla="*/ 1901 w 39928"/>
                    <a:gd name="connsiteY6" fmla="*/ 27580 h 40229"/>
                    <a:gd name="connsiteX7" fmla="*/ 634 w 39928"/>
                    <a:gd name="connsiteY7" fmla="*/ 23786 h 40229"/>
                    <a:gd name="connsiteX8" fmla="*/ 0 w 39928"/>
                    <a:gd name="connsiteY8" fmla="*/ 19991 h 40229"/>
                    <a:gd name="connsiteX9" fmla="*/ 634 w 39928"/>
                    <a:gd name="connsiteY9" fmla="*/ 16196 h 40229"/>
                    <a:gd name="connsiteX10" fmla="*/ 1901 w 39928"/>
                    <a:gd name="connsiteY10" fmla="*/ 12401 h 40229"/>
                    <a:gd name="connsiteX11" fmla="*/ 3803 w 39928"/>
                    <a:gd name="connsiteY11" fmla="*/ 9239 h 40229"/>
                    <a:gd name="connsiteX12" fmla="*/ 6338 w 39928"/>
                    <a:gd name="connsiteY12" fmla="*/ 6077 h 40229"/>
                    <a:gd name="connsiteX13" fmla="*/ 9507 w 39928"/>
                    <a:gd name="connsiteY13" fmla="*/ 3547 h 40229"/>
                    <a:gd name="connsiteX14" fmla="*/ 12676 w 39928"/>
                    <a:gd name="connsiteY14" fmla="*/ 1650 h 40229"/>
                    <a:gd name="connsiteX15" fmla="*/ 16478 w 39928"/>
                    <a:gd name="connsiteY15" fmla="*/ 385 h 40229"/>
                    <a:gd name="connsiteX16" fmla="*/ 34224 w 39928"/>
                    <a:gd name="connsiteY16" fmla="*/ 5444 h 40229"/>
                    <a:gd name="connsiteX17" fmla="*/ 39928 w 39928"/>
                    <a:gd name="connsiteY17" fmla="*/ 19358 h 40229"/>
                    <a:gd name="connsiteX18" fmla="*/ 39294 w 39928"/>
                    <a:gd name="connsiteY18" fmla="*/ 23153 h 40229"/>
                    <a:gd name="connsiteX19" fmla="*/ 38027 w 39928"/>
                    <a:gd name="connsiteY19" fmla="*/ 26948 h 40229"/>
                    <a:gd name="connsiteX20" fmla="*/ 36125 w 39928"/>
                    <a:gd name="connsiteY20" fmla="*/ 30110 h 40229"/>
                    <a:gd name="connsiteX21" fmla="*/ 33590 w 39928"/>
                    <a:gd name="connsiteY21" fmla="*/ 33273 h 40229"/>
                    <a:gd name="connsiteX22" fmla="*/ 30421 w 39928"/>
                    <a:gd name="connsiteY22" fmla="*/ 35802 h 40229"/>
                    <a:gd name="connsiteX23" fmla="*/ 27252 w 39928"/>
                    <a:gd name="connsiteY23" fmla="*/ 37700 h 40229"/>
                    <a:gd name="connsiteX24" fmla="*/ 23450 w 39928"/>
                    <a:gd name="connsiteY24" fmla="*/ 38965 h 40229"/>
                    <a:gd name="connsiteX25" fmla="*/ 20281 w 39928"/>
                    <a:gd name="connsiteY25" fmla="*/ 40230 h 40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9928" h="40229">
                      <a:moveTo>
                        <a:pt x="20281" y="40230"/>
                      </a:moveTo>
                      <a:cubicBezTo>
                        <a:pt x="19013" y="40230"/>
                        <a:pt x="17746" y="40230"/>
                        <a:pt x="16478" y="39597"/>
                      </a:cubicBezTo>
                      <a:cubicBezTo>
                        <a:pt x="15211" y="39597"/>
                        <a:pt x="13943" y="38965"/>
                        <a:pt x="12676" y="38332"/>
                      </a:cubicBezTo>
                      <a:cubicBezTo>
                        <a:pt x="11408" y="37700"/>
                        <a:pt x="10140" y="37067"/>
                        <a:pt x="9507" y="36435"/>
                      </a:cubicBezTo>
                      <a:cubicBezTo>
                        <a:pt x="8239" y="35802"/>
                        <a:pt x="7605" y="35170"/>
                        <a:pt x="6338" y="33905"/>
                      </a:cubicBezTo>
                      <a:cubicBezTo>
                        <a:pt x="5704" y="32640"/>
                        <a:pt x="4436" y="32008"/>
                        <a:pt x="3803" y="30743"/>
                      </a:cubicBezTo>
                      <a:cubicBezTo>
                        <a:pt x="3169" y="29478"/>
                        <a:pt x="2535" y="28845"/>
                        <a:pt x="1901" y="27580"/>
                      </a:cubicBezTo>
                      <a:cubicBezTo>
                        <a:pt x="1268" y="26316"/>
                        <a:pt x="1268" y="25051"/>
                        <a:pt x="634" y="23786"/>
                      </a:cubicBezTo>
                      <a:cubicBezTo>
                        <a:pt x="634" y="22521"/>
                        <a:pt x="0" y="21256"/>
                        <a:pt x="0" y="19991"/>
                      </a:cubicBezTo>
                      <a:cubicBezTo>
                        <a:pt x="0" y="18726"/>
                        <a:pt x="0" y="17461"/>
                        <a:pt x="634" y="16196"/>
                      </a:cubicBezTo>
                      <a:cubicBezTo>
                        <a:pt x="634" y="14931"/>
                        <a:pt x="1268" y="13666"/>
                        <a:pt x="1901" y="12401"/>
                      </a:cubicBezTo>
                      <a:cubicBezTo>
                        <a:pt x="2535" y="11137"/>
                        <a:pt x="3169" y="10504"/>
                        <a:pt x="3803" y="9239"/>
                      </a:cubicBezTo>
                      <a:cubicBezTo>
                        <a:pt x="4436" y="7974"/>
                        <a:pt x="5070" y="7342"/>
                        <a:pt x="6338" y="6077"/>
                      </a:cubicBezTo>
                      <a:cubicBezTo>
                        <a:pt x="6972" y="5444"/>
                        <a:pt x="8239" y="4179"/>
                        <a:pt x="9507" y="3547"/>
                      </a:cubicBezTo>
                      <a:cubicBezTo>
                        <a:pt x="10774" y="2915"/>
                        <a:pt x="12042" y="2282"/>
                        <a:pt x="12676" y="1650"/>
                      </a:cubicBezTo>
                      <a:cubicBezTo>
                        <a:pt x="13943" y="1017"/>
                        <a:pt x="15211" y="1017"/>
                        <a:pt x="16478" y="385"/>
                      </a:cubicBezTo>
                      <a:cubicBezTo>
                        <a:pt x="22816" y="-880"/>
                        <a:pt x="29788" y="1017"/>
                        <a:pt x="34224" y="5444"/>
                      </a:cubicBezTo>
                      <a:cubicBezTo>
                        <a:pt x="38027" y="9239"/>
                        <a:pt x="39928" y="14299"/>
                        <a:pt x="39928" y="19358"/>
                      </a:cubicBezTo>
                      <a:cubicBezTo>
                        <a:pt x="39928" y="20623"/>
                        <a:pt x="39928" y="21888"/>
                        <a:pt x="39294" y="23153"/>
                      </a:cubicBezTo>
                      <a:cubicBezTo>
                        <a:pt x="39294" y="24418"/>
                        <a:pt x="38660" y="25683"/>
                        <a:pt x="38027" y="26948"/>
                      </a:cubicBezTo>
                      <a:cubicBezTo>
                        <a:pt x="37393" y="28213"/>
                        <a:pt x="36759" y="29478"/>
                        <a:pt x="36125" y="30110"/>
                      </a:cubicBezTo>
                      <a:cubicBezTo>
                        <a:pt x="35492" y="31375"/>
                        <a:pt x="34858" y="32008"/>
                        <a:pt x="33590" y="33273"/>
                      </a:cubicBezTo>
                      <a:cubicBezTo>
                        <a:pt x="32956" y="33905"/>
                        <a:pt x="31689" y="35170"/>
                        <a:pt x="30421" y="35802"/>
                      </a:cubicBezTo>
                      <a:cubicBezTo>
                        <a:pt x="29154" y="36435"/>
                        <a:pt x="27886" y="37067"/>
                        <a:pt x="27252" y="37700"/>
                      </a:cubicBezTo>
                      <a:cubicBezTo>
                        <a:pt x="25985" y="38332"/>
                        <a:pt x="24717" y="38332"/>
                        <a:pt x="23450" y="38965"/>
                      </a:cubicBezTo>
                      <a:cubicBezTo>
                        <a:pt x="22816" y="39597"/>
                        <a:pt x="21548" y="40230"/>
                        <a:pt x="20281" y="40230"/>
                      </a:cubicBezTo>
                      <a:close/>
                    </a:path>
                  </a:pathLst>
                </a:custGeom>
                <a:grpFill/>
                <a:ln w="6271" cap="flat">
                  <a:noFill/>
                  <a:prstDash val="solid"/>
                  <a:miter/>
                </a:ln>
              </p:spPr>
              <p:txBody>
                <a:bodyPr rtlCol="0" anchor="ctr"/>
                <a:lstStyle/>
                <a:p>
                  <a:endParaRPr lang="en-US"/>
                </a:p>
              </p:txBody>
            </p:sp>
            <p:sp>
              <p:nvSpPr>
                <p:cNvPr id="101" name="Picture Placeholder 100">
                  <a:extLst>
                    <a:ext uri="{FF2B5EF4-FFF2-40B4-BE49-F238E27FC236}">
                      <a16:creationId xmlns:a16="http://schemas.microsoft.com/office/drawing/2014/main" id="{6AD0D5BB-758F-0670-C7ED-B64CA2EC61DB}"/>
                    </a:ext>
                  </a:extLst>
                </p:cNvPr>
                <p:cNvSpPr/>
                <p:nvPr/>
              </p:nvSpPr>
              <p:spPr>
                <a:xfrm>
                  <a:off x="9911349" y="2303511"/>
                  <a:ext cx="39047" cy="39168"/>
                </a:xfrm>
                <a:custGeom>
                  <a:avLst/>
                  <a:gdLst>
                    <a:gd name="connsiteX0" fmla="*/ 3046 w 39047"/>
                    <a:gd name="connsiteY0" fmla="*/ 30235 h 39168"/>
                    <a:gd name="connsiteX1" fmla="*/ 8750 w 39047"/>
                    <a:gd name="connsiteY1" fmla="*/ 3039 h 39168"/>
                    <a:gd name="connsiteX2" fmla="*/ 8750 w 39047"/>
                    <a:gd name="connsiteY2" fmla="*/ 3039 h 39168"/>
                    <a:gd name="connsiteX3" fmla="*/ 36002 w 39047"/>
                    <a:gd name="connsiteY3" fmla="*/ 8732 h 39168"/>
                    <a:gd name="connsiteX4" fmla="*/ 36002 w 39047"/>
                    <a:gd name="connsiteY4" fmla="*/ 8732 h 39168"/>
                    <a:gd name="connsiteX5" fmla="*/ 30298 w 39047"/>
                    <a:gd name="connsiteY5" fmla="*/ 35927 h 39168"/>
                    <a:gd name="connsiteX6" fmla="*/ 30298 w 39047"/>
                    <a:gd name="connsiteY6" fmla="*/ 35927 h 39168"/>
                    <a:gd name="connsiteX7" fmla="*/ 19524 w 39047"/>
                    <a:gd name="connsiteY7" fmla="*/ 39090 h 39168"/>
                    <a:gd name="connsiteX8" fmla="*/ 19524 w 39047"/>
                    <a:gd name="connsiteY8" fmla="*/ 39090 h 39168"/>
                    <a:gd name="connsiteX9" fmla="*/ 3046 w 39047"/>
                    <a:gd name="connsiteY9" fmla="*/ 30235 h 39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047" h="39168">
                      <a:moveTo>
                        <a:pt x="3046" y="30235"/>
                      </a:moveTo>
                      <a:cubicBezTo>
                        <a:pt x="-2658" y="21381"/>
                        <a:pt x="-123" y="8732"/>
                        <a:pt x="8750" y="3039"/>
                      </a:cubicBezTo>
                      <a:lnTo>
                        <a:pt x="8750" y="3039"/>
                      </a:lnTo>
                      <a:cubicBezTo>
                        <a:pt x="18256" y="-2653"/>
                        <a:pt x="30298" y="-123"/>
                        <a:pt x="36002" y="8732"/>
                      </a:cubicBezTo>
                      <a:lnTo>
                        <a:pt x="36002" y="8732"/>
                      </a:lnTo>
                      <a:cubicBezTo>
                        <a:pt x="41706" y="17586"/>
                        <a:pt x="39171" y="30235"/>
                        <a:pt x="30298" y="35927"/>
                      </a:cubicBezTo>
                      <a:lnTo>
                        <a:pt x="30298" y="35927"/>
                      </a:lnTo>
                      <a:cubicBezTo>
                        <a:pt x="27129" y="37825"/>
                        <a:pt x="23327" y="39090"/>
                        <a:pt x="19524" y="39090"/>
                      </a:cubicBezTo>
                      <a:lnTo>
                        <a:pt x="19524" y="39090"/>
                      </a:lnTo>
                      <a:cubicBezTo>
                        <a:pt x="12552" y="39722"/>
                        <a:pt x="6848" y="36560"/>
                        <a:pt x="3046" y="30235"/>
                      </a:cubicBezTo>
                      <a:close/>
                    </a:path>
                  </a:pathLst>
                </a:custGeom>
                <a:grpFill/>
                <a:ln w="6271" cap="flat">
                  <a:noFill/>
                  <a:prstDash val="solid"/>
                  <a:miter/>
                </a:ln>
              </p:spPr>
              <p:txBody>
                <a:bodyPr rtlCol="0" anchor="ctr"/>
                <a:lstStyle/>
                <a:p>
                  <a:endParaRPr lang="en-US"/>
                </a:p>
              </p:txBody>
            </p:sp>
            <p:sp>
              <p:nvSpPr>
                <p:cNvPr id="102" name="Picture Placeholder 100">
                  <a:extLst>
                    <a:ext uri="{FF2B5EF4-FFF2-40B4-BE49-F238E27FC236}">
                      <a16:creationId xmlns:a16="http://schemas.microsoft.com/office/drawing/2014/main" id="{33B3E928-D72C-545D-777E-49AD43D77442}"/>
                    </a:ext>
                  </a:extLst>
                </p:cNvPr>
                <p:cNvSpPr/>
                <p:nvPr/>
              </p:nvSpPr>
              <p:spPr>
                <a:xfrm>
                  <a:off x="9942281" y="2352878"/>
                  <a:ext cx="39928" cy="40319"/>
                </a:xfrm>
                <a:custGeom>
                  <a:avLst/>
                  <a:gdLst>
                    <a:gd name="connsiteX0" fmla="*/ 20281 w 39928"/>
                    <a:gd name="connsiteY0" fmla="*/ 40319 h 40319"/>
                    <a:gd name="connsiteX1" fmla="*/ 16478 w 39928"/>
                    <a:gd name="connsiteY1" fmla="*/ 39687 h 40319"/>
                    <a:gd name="connsiteX2" fmla="*/ 12676 w 39928"/>
                    <a:gd name="connsiteY2" fmla="*/ 38422 h 40319"/>
                    <a:gd name="connsiteX3" fmla="*/ 9507 w 39928"/>
                    <a:gd name="connsiteY3" fmla="*/ 36525 h 40319"/>
                    <a:gd name="connsiteX4" fmla="*/ 6338 w 39928"/>
                    <a:gd name="connsiteY4" fmla="*/ 33995 h 40319"/>
                    <a:gd name="connsiteX5" fmla="*/ 3803 w 39928"/>
                    <a:gd name="connsiteY5" fmla="*/ 30832 h 40319"/>
                    <a:gd name="connsiteX6" fmla="*/ 1901 w 39928"/>
                    <a:gd name="connsiteY6" fmla="*/ 27670 h 40319"/>
                    <a:gd name="connsiteX7" fmla="*/ 634 w 39928"/>
                    <a:gd name="connsiteY7" fmla="*/ 23875 h 40319"/>
                    <a:gd name="connsiteX8" fmla="*/ 0 w 39928"/>
                    <a:gd name="connsiteY8" fmla="*/ 20081 h 40319"/>
                    <a:gd name="connsiteX9" fmla="*/ 634 w 39928"/>
                    <a:gd name="connsiteY9" fmla="*/ 16286 h 40319"/>
                    <a:gd name="connsiteX10" fmla="*/ 1901 w 39928"/>
                    <a:gd name="connsiteY10" fmla="*/ 12491 h 40319"/>
                    <a:gd name="connsiteX11" fmla="*/ 3803 w 39928"/>
                    <a:gd name="connsiteY11" fmla="*/ 9329 h 40319"/>
                    <a:gd name="connsiteX12" fmla="*/ 6338 w 39928"/>
                    <a:gd name="connsiteY12" fmla="*/ 6166 h 40319"/>
                    <a:gd name="connsiteX13" fmla="*/ 9507 w 39928"/>
                    <a:gd name="connsiteY13" fmla="*/ 3637 h 40319"/>
                    <a:gd name="connsiteX14" fmla="*/ 12676 w 39928"/>
                    <a:gd name="connsiteY14" fmla="*/ 1739 h 40319"/>
                    <a:gd name="connsiteX15" fmla="*/ 16478 w 39928"/>
                    <a:gd name="connsiteY15" fmla="*/ 474 h 40319"/>
                    <a:gd name="connsiteX16" fmla="*/ 24084 w 39928"/>
                    <a:gd name="connsiteY16" fmla="*/ 474 h 40319"/>
                    <a:gd name="connsiteX17" fmla="*/ 27886 w 39928"/>
                    <a:gd name="connsiteY17" fmla="*/ 1739 h 40319"/>
                    <a:gd name="connsiteX18" fmla="*/ 31055 w 39928"/>
                    <a:gd name="connsiteY18" fmla="*/ 3637 h 40319"/>
                    <a:gd name="connsiteX19" fmla="*/ 34224 w 39928"/>
                    <a:gd name="connsiteY19" fmla="*/ 6166 h 40319"/>
                    <a:gd name="connsiteX20" fmla="*/ 39928 w 39928"/>
                    <a:gd name="connsiteY20" fmla="*/ 20081 h 40319"/>
                    <a:gd name="connsiteX21" fmla="*/ 34224 w 39928"/>
                    <a:gd name="connsiteY21" fmla="*/ 33995 h 40319"/>
                    <a:gd name="connsiteX22" fmla="*/ 31055 w 39928"/>
                    <a:gd name="connsiteY22" fmla="*/ 36525 h 40319"/>
                    <a:gd name="connsiteX23" fmla="*/ 27886 w 39928"/>
                    <a:gd name="connsiteY23" fmla="*/ 38422 h 40319"/>
                    <a:gd name="connsiteX24" fmla="*/ 24084 w 39928"/>
                    <a:gd name="connsiteY24" fmla="*/ 39687 h 40319"/>
                    <a:gd name="connsiteX25" fmla="*/ 20281 w 39928"/>
                    <a:gd name="connsiteY25" fmla="*/ 40319 h 4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9928" h="40319">
                      <a:moveTo>
                        <a:pt x="20281" y="40319"/>
                      </a:moveTo>
                      <a:cubicBezTo>
                        <a:pt x="19013" y="40319"/>
                        <a:pt x="17746" y="40319"/>
                        <a:pt x="16478" y="39687"/>
                      </a:cubicBezTo>
                      <a:cubicBezTo>
                        <a:pt x="15211" y="39687"/>
                        <a:pt x="13943" y="39054"/>
                        <a:pt x="12676" y="38422"/>
                      </a:cubicBezTo>
                      <a:cubicBezTo>
                        <a:pt x="11408" y="37789"/>
                        <a:pt x="10140" y="37157"/>
                        <a:pt x="9507" y="36525"/>
                      </a:cubicBezTo>
                      <a:cubicBezTo>
                        <a:pt x="8239" y="35892"/>
                        <a:pt x="7605" y="35260"/>
                        <a:pt x="6338" y="33995"/>
                      </a:cubicBezTo>
                      <a:cubicBezTo>
                        <a:pt x="5704" y="33362"/>
                        <a:pt x="4436" y="32097"/>
                        <a:pt x="3803" y="30832"/>
                      </a:cubicBezTo>
                      <a:cubicBezTo>
                        <a:pt x="3169" y="29568"/>
                        <a:pt x="2535" y="28935"/>
                        <a:pt x="1901" y="27670"/>
                      </a:cubicBezTo>
                      <a:cubicBezTo>
                        <a:pt x="1268" y="26405"/>
                        <a:pt x="1268" y="25140"/>
                        <a:pt x="634" y="23875"/>
                      </a:cubicBezTo>
                      <a:cubicBezTo>
                        <a:pt x="634" y="22610"/>
                        <a:pt x="0" y="21346"/>
                        <a:pt x="0" y="20081"/>
                      </a:cubicBezTo>
                      <a:cubicBezTo>
                        <a:pt x="0" y="18816"/>
                        <a:pt x="0" y="17551"/>
                        <a:pt x="634" y="16286"/>
                      </a:cubicBezTo>
                      <a:cubicBezTo>
                        <a:pt x="634" y="15021"/>
                        <a:pt x="1268" y="13756"/>
                        <a:pt x="1901" y="12491"/>
                      </a:cubicBezTo>
                      <a:cubicBezTo>
                        <a:pt x="2535" y="11226"/>
                        <a:pt x="3169" y="10594"/>
                        <a:pt x="3803" y="9329"/>
                      </a:cubicBezTo>
                      <a:cubicBezTo>
                        <a:pt x="4436" y="8064"/>
                        <a:pt x="5070" y="7431"/>
                        <a:pt x="6338" y="6166"/>
                      </a:cubicBezTo>
                      <a:cubicBezTo>
                        <a:pt x="7605" y="5534"/>
                        <a:pt x="8239" y="4269"/>
                        <a:pt x="9507" y="3637"/>
                      </a:cubicBezTo>
                      <a:cubicBezTo>
                        <a:pt x="10774" y="3004"/>
                        <a:pt x="12042" y="2372"/>
                        <a:pt x="12676" y="1739"/>
                      </a:cubicBezTo>
                      <a:cubicBezTo>
                        <a:pt x="13943" y="1107"/>
                        <a:pt x="15211" y="1107"/>
                        <a:pt x="16478" y="474"/>
                      </a:cubicBezTo>
                      <a:cubicBezTo>
                        <a:pt x="19013" y="-158"/>
                        <a:pt x="21548" y="-158"/>
                        <a:pt x="24084" y="474"/>
                      </a:cubicBezTo>
                      <a:cubicBezTo>
                        <a:pt x="25351" y="474"/>
                        <a:pt x="26619" y="1107"/>
                        <a:pt x="27886" y="1739"/>
                      </a:cubicBezTo>
                      <a:cubicBezTo>
                        <a:pt x="29154" y="2372"/>
                        <a:pt x="30421" y="3004"/>
                        <a:pt x="31055" y="3637"/>
                      </a:cubicBezTo>
                      <a:cubicBezTo>
                        <a:pt x="32323" y="4269"/>
                        <a:pt x="32956" y="4902"/>
                        <a:pt x="34224" y="6166"/>
                      </a:cubicBezTo>
                      <a:cubicBezTo>
                        <a:pt x="38027" y="9961"/>
                        <a:pt x="39928" y="15021"/>
                        <a:pt x="39928" y="20081"/>
                      </a:cubicBezTo>
                      <a:cubicBezTo>
                        <a:pt x="39928" y="25140"/>
                        <a:pt x="38027" y="30200"/>
                        <a:pt x="34224" y="33995"/>
                      </a:cubicBezTo>
                      <a:cubicBezTo>
                        <a:pt x="32956" y="35260"/>
                        <a:pt x="32323" y="35892"/>
                        <a:pt x="31055" y="36525"/>
                      </a:cubicBezTo>
                      <a:cubicBezTo>
                        <a:pt x="29788" y="37157"/>
                        <a:pt x="28520" y="37789"/>
                        <a:pt x="27886" y="38422"/>
                      </a:cubicBezTo>
                      <a:cubicBezTo>
                        <a:pt x="26619" y="39054"/>
                        <a:pt x="25351" y="39054"/>
                        <a:pt x="24084" y="39687"/>
                      </a:cubicBezTo>
                      <a:cubicBezTo>
                        <a:pt x="22816" y="40319"/>
                        <a:pt x="21548" y="40319"/>
                        <a:pt x="20281" y="40319"/>
                      </a:cubicBezTo>
                      <a:close/>
                    </a:path>
                  </a:pathLst>
                </a:custGeom>
                <a:grpFill/>
                <a:ln w="6271" cap="flat">
                  <a:noFill/>
                  <a:prstDash val="solid"/>
                  <a:miter/>
                </a:ln>
              </p:spPr>
              <p:txBody>
                <a:bodyPr rtlCol="0" anchor="ctr"/>
                <a:lstStyle/>
                <a:p>
                  <a:endParaRPr lang="en-US"/>
                </a:p>
              </p:txBody>
            </p:sp>
            <p:sp>
              <p:nvSpPr>
                <p:cNvPr id="103" name="Picture Placeholder 100">
                  <a:extLst>
                    <a:ext uri="{FF2B5EF4-FFF2-40B4-BE49-F238E27FC236}">
                      <a16:creationId xmlns:a16="http://schemas.microsoft.com/office/drawing/2014/main" id="{7AAD183D-4A02-E74E-305C-C91EBAB3EDD8}"/>
                    </a:ext>
                  </a:extLst>
                </p:cNvPr>
                <p:cNvSpPr/>
                <p:nvPr/>
              </p:nvSpPr>
              <p:spPr>
                <a:xfrm>
                  <a:off x="9989251" y="2320535"/>
                  <a:ext cx="39152" cy="39141"/>
                </a:xfrm>
                <a:custGeom>
                  <a:avLst/>
                  <a:gdLst>
                    <a:gd name="connsiteX0" fmla="*/ 3732 w 39152"/>
                    <a:gd name="connsiteY0" fmla="*/ 30920 h 39141"/>
                    <a:gd name="connsiteX1" fmla="*/ 8168 w 39152"/>
                    <a:gd name="connsiteY1" fmla="*/ 3724 h 39141"/>
                    <a:gd name="connsiteX2" fmla="*/ 8168 w 39152"/>
                    <a:gd name="connsiteY2" fmla="*/ 3724 h 39141"/>
                    <a:gd name="connsiteX3" fmla="*/ 35421 w 39152"/>
                    <a:gd name="connsiteY3" fmla="*/ 8151 h 39141"/>
                    <a:gd name="connsiteX4" fmla="*/ 35421 w 39152"/>
                    <a:gd name="connsiteY4" fmla="*/ 8151 h 39141"/>
                    <a:gd name="connsiteX5" fmla="*/ 30984 w 39152"/>
                    <a:gd name="connsiteY5" fmla="*/ 35347 h 39141"/>
                    <a:gd name="connsiteX6" fmla="*/ 30984 w 39152"/>
                    <a:gd name="connsiteY6" fmla="*/ 35347 h 39141"/>
                    <a:gd name="connsiteX7" fmla="*/ 19576 w 39152"/>
                    <a:gd name="connsiteY7" fmla="*/ 39142 h 39141"/>
                    <a:gd name="connsiteX8" fmla="*/ 19576 w 39152"/>
                    <a:gd name="connsiteY8" fmla="*/ 39142 h 39141"/>
                    <a:gd name="connsiteX9" fmla="*/ 3732 w 39152"/>
                    <a:gd name="connsiteY9" fmla="*/ 30920 h 39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152" h="39141">
                      <a:moveTo>
                        <a:pt x="3732" y="30920"/>
                      </a:moveTo>
                      <a:cubicBezTo>
                        <a:pt x="-2606" y="22066"/>
                        <a:pt x="-705" y="10049"/>
                        <a:pt x="8168" y="3724"/>
                      </a:cubicBezTo>
                      <a:lnTo>
                        <a:pt x="8168" y="3724"/>
                      </a:lnTo>
                      <a:cubicBezTo>
                        <a:pt x="17041" y="-2600"/>
                        <a:pt x="29083" y="-703"/>
                        <a:pt x="35421" y="8151"/>
                      </a:cubicBezTo>
                      <a:lnTo>
                        <a:pt x="35421" y="8151"/>
                      </a:lnTo>
                      <a:cubicBezTo>
                        <a:pt x="41759" y="17006"/>
                        <a:pt x="39857" y="29023"/>
                        <a:pt x="30984" y="35347"/>
                      </a:cubicBezTo>
                      <a:lnTo>
                        <a:pt x="30984" y="35347"/>
                      </a:lnTo>
                      <a:cubicBezTo>
                        <a:pt x="27816" y="37877"/>
                        <a:pt x="23379" y="39142"/>
                        <a:pt x="19576" y="39142"/>
                      </a:cubicBezTo>
                      <a:lnTo>
                        <a:pt x="19576" y="39142"/>
                      </a:lnTo>
                      <a:cubicBezTo>
                        <a:pt x="13239" y="39142"/>
                        <a:pt x="7535" y="36612"/>
                        <a:pt x="3732" y="30920"/>
                      </a:cubicBezTo>
                      <a:close/>
                    </a:path>
                  </a:pathLst>
                </a:custGeom>
                <a:grpFill/>
                <a:ln w="6271" cap="flat">
                  <a:noFill/>
                  <a:prstDash val="solid"/>
                  <a:miter/>
                </a:ln>
              </p:spPr>
              <p:txBody>
                <a:bodyPr rtlCol="0" anchor="ctr"/>
                <a:lstStyle/>
                <a:p>
                  <a:endParaRPr lang="en-US"/>
                </a:p>
              </p:txBody>
            </p:sp>
          </p:grpSp>
        </p:grpSp>
      </p:grpSp>
      <p:sp>
        <p:nvSpPr>
          <p:cNvPr id="132" name="TextBox 131">
            <a:extLst>
              <a:ext uri="{FF2B5EF4-FFF2-40B4-BE49-F238E27FC236}">
                <a16:creationId xmlns:a16="http://schemas.microsoft.com/office/drawing/2014/main" id="{BC733DD9-A8BF-88B4-0ED4-8CD5D457D00F}"/>
              </a:ext>
            </a:extLst>
          </p:cNvPr>
          <p:cNvSpPr txBox="1"/>
          <p:nvPr/>
        </p:nvSpPr>
        <p:spPr>
          <a:xfrm>
            <a:off x="4611604" y="2858764"/>
            <a:ext cx="2730934" cy="169277"/>
          </a:xfrm>
          <a:prstGeom prst="rect">
            <a:avLst/>
          </a:prstGeom>
        </p:spPr>
        <p:txBody>
          <a:bodyPr wrap="square" lIns="0" tIns="0" rIns="0" bIns="0" rtlCol="0">
            <a:spAutoFit/>
          </a:bodyPr>
          <a:lstStyle/>
          <a:p>
            <a:pPr algn="ctr">
              <a:spcAft>
                <a:spcPts val="600"/>
              </a:spcAft>
            </a:pPr>
            <a:r>
              <a:rPr lang="en-US" sz="1100">
                <a:solidFill>
                  <a:schemeClr val="accent4"/>
                </a:solidFill>
              </a:rPr>
              <a:t>Efficient and resilient data structure</a:t>
            </a:r>
          </a:p>
        </p:txBody>
      </p:sp>
      <p:sp>
        <p:nvSpPr>
          <p:cNvPr id="133" name="Picture Placeholder 79" descr="Decision Tree&#10;">
            <a:extLst>
              <a:ext uri="{FF2B5EF4-FFF2-40B4-BE49-F238E27FC236}">
                <a16:creationId xmlns:a16="http://schemas.microsoft.com/office/drawing/2014/main" id="{117F9759-E84A-49A6-66C2-A353E34921A7}"/>
              </a:ext>
            </a:extLst>
          </p:cNvPr>
          <p:cNvSpPr/>
          <p:nvPr/>
        </p:nvSpPr>
        <p:spPr>
          <a:xfrm rot="5400000">
            <a:off x="4512587" y="2845822"/>
            <a:ext cx="232195" cy="195161"/>
          </a:xfrm>
          <a:custGeom>
            <a:avLst/>
            <a:gdLst>
              <a:gd name="connsiteX0" fmla="*/ 492054 w 602734"/>
              <a:gd name="connsiteY0" fmla="*/ 263736 h 506600"/>
              <a:gd name="connsiteX1" fmla="*/ 546445 w 602734"/>
              <a:gd name="connsiteY1" fmla="*/ 308640 h 506600"/>
              <a:gd name="connsiteX2" fmla="*/ 602102 w 602734"/>
              <a:gd name="connsiteY2" fmla="*/ 252984 h 506600"/>
              <a:gd name="connsiteX3" fmla="*/ 546445 w 602734"/>
              <a:gd name="connsiteY3" fmla="*/ 197960 h 506600"/>
              <a:gd name="connsiteX4" fmla="*/ 492686 w 602734"/>
              <a:gd name="connsiteY4" fmla="*/ 240967 h 506600"/>
              <a:gd name="connsiteX5" fmla="*/ 363665 w 602734"/>
              <a:gd name="connsiteY5" fmla="*/ 153688 h 506600"/>
              <a:gd name="connsiteX6" fmla="*/ 492686 w 602734"/>
              <a:gd name="connsiteY6" fmla="*/ 66408 h 506600"/>
              <a:gd name="connsiteX7" fmla="*/ 547078 w 602734"/>
              <a:gd name="connsiteY7" fmla="*/ 111313 h 506600"/>
              <a:gd name="connsiteX8" fmla="*/ 602734 w 602734"/>
              <a:gd name="connsiteY8" fmla="*/ 55656 h 506600"/>
              <a:gd name="connsiteX9" fmla="*/ 547078 w 602734"/>
              <a:gd name="connsiteY9" fmla="*/ 0 h 506600"/>
              <a:gd name="connsiteX10" fmla="*/ 492054 w 602734"/>
              <a:gd name="connsiteY10" fmla="*/ 47435 h 506600"/>
              <a:gd name="connsiteX11" fmla="*/ 492054 w 602734"/>
              <a:gd name="connsiteY11" fmla="*/ 47435 h 506600"/>
              <a:gd name="connsiteX12" fmla="*/ 354810 w 602734"/>
              <a:gd name="connsiteY12" fmla="*/ 140406 h 506600"/>
              <a:gd name="connsiteX13" fmla="*/ 301051 w 602734"/>
              <a:gd name="connsiteY13" fmla="*/ 97399 h 506600"/>
              <a:gd name="connsiteX14" fmla="*/ 246027 w 602734"/>
              <a:gd name="connsiteY14" fmla="*/ 147996 h 506600"/>
              <a:gd name="connsiteX15" fmla="*/ 109416 w 602734"/>
              <a:gd name="connsiteY15" fmla="*/ 240335 h 506600"/>
              <a:gd name="connsiteX16" fmla="*/ 55656 w 602734"/>
              <a:gd name="connsiteY16" fmla="*/ 197960 h 506600"/>
              <a:gd name="connsiteX17" fmla="*/ 0 w 602734"/>
              <a:gd name="connsiteY17" fmla="*/ 253616 h 506600"/>
              <a:gd name="connsiteX18" fmla="*/ 55656 w 602734"/>
              <a:gd name="connsiteY18" fmla="*/ 309273 h 506600"/>
              <a:gd name="connsiteX19" fmla="*/ 110048 w 602734"/>
              <a:gd name="connsiteY19" fmla="*/ 265001 h 506600"/>
              <a:gd name="connsiteX20" fmla="*/ 246027 w 602734"/>
              <a:gd name="connsiteY20" fmla="*/ 357340 h 506600"/>
              <a:gd name="connsiteX21" fmla="*/ 301051 w 602734"/>
              <a:gd name="connsiteY21" fmla="*/ 406672 h 506600"/>
              <a:gd name="connsiteX22" fmla="*/ 354810 w 602734"/>
              <a:gd name="connsiteY22" fmla="*/ 363664 h 506600"/>
              <a:gd name="connsiteX23" fmla="*/ 490789 w 602734"/>
              <a:gd name="connsiteY23" fmla="*/ 456004 h 506600"/>
              <a:gd name="connsiteX24" fmla="*/ 545813 w 602734"/>
              <a:gd name="connsiteY24" fmla="*/ 506600 h 506600"/>
              <a:gd name="connsiteX25" fmla="*/ 601469 w 602734"/>
              <a:gd name="connsiteY25" fmla="*/ 450944 h 506600"/>
              <a:gd name="connsiteX26" fmla="*/ 545813 w 602734"/>
              <a:gd name="connsiteY26" fmla="*/ 395287 h 506600"/>
              <a:gd name="connsiteX27" fmla="*/ 492054 w 602734"/>
              <a:gd name="connsiteY27" fmla="*/ 437662 h 506600"/>
              <a:gd name="connsiteX28" fmla="*/ 364297 w 602734"/>
              <a:gd name="connsiteY28" fmla="*/ 350383 h 506600"/>
              <a:gd name="connsiteX29" fmla="*/ 492054 w 602734"/>
              <a:gd name="connsiteY29" fmla="*/ 263736 h 506600"/>
              <a:gd name="connsiteX30" fmla="*/ 301051 w 602734"/>
              <a:gd name="connsiteY30" fmla="*/ 295359 h 506600"/>
              <a:gd name="connsiteX31" fmla="*/ 247292 w 602734"/>
              <a:gd name="connsiteY31" fmla="*/ 338366 h 506600"/>
              <a:gd name="connsiteX32" fmla="*/ 120800 w 602734"/>
              <a:gd name="connsiteY32" fmla="*/ 252352 h 506600"/>
              <a:gd name="connsiteX33" fmla="*/ 247292 w 602734"/>
              <a:gd name="connsiteY33" fmla="*/ 166337 h 506600"/>
              <a:gd name="connsiteX34" fmla="*/ 301051 w 602734"/>
              <a:gd name="connsiteY34" fmla="*/ 208712 h 506600"/>
              <a:gd name="connsiteX35" fmla="*/ 354810 w 602734"/>
              <a:gd name="connsiteY35" fmla="*/ 166969 h 506600"/>
              <a:gd name="connsiteX36" fmla="*/ 480670 w 602734"/>
              <a:gd name="connsiteY36" fmla="*/ 252352 h 506600"/>
              <a:gd name="connsiteX37" fmla="*/ 354810 w 602734"/>
              <a:gd name="connsiteY37" fmla="*/ 337734 h 506600"/>
              <a:gd name="connsiteX38" fmla="*/ 301051 w 602734"/>
              <a:gd name="connsiteY38" fmla="*/ 295359 h 506600"/>
              <a:gd name="connsiteX39" fmla="*/ 546445 w 602734"/>
              <a:gd name="connsiteY39" fmla="*/ 213771 h 506600"/>
              <a:gd name="connsiteX40" fmla="*/ 586290 w 602734"/>
              <a:gd name="connsiteY40" fmla="*/ 253616 h 506600"/>
              <a:gd name="connsiteX41" fmla="*/ 546445 w 602734"/>
              <a:gd name="connsiteY41" fmla="*/ 293461 h 506600"/>
              <a:gd name="connsiteX42" fmla="*/ 506600 w 602734"/>
              <a:gd name="connsiteY42" fmla="*/ 253616 h 506600"/>
              <a:gd name="connsiteX43" fmla="*/ 546445 w 602734"/>
              <a:gd name="connsiteY43" fmla="*/ 213771 h 506600"/>
              <a:gd name="connsiteX44" fmla="*/ 546445 w 602734"/>
              <a:gd name="connsiteY44" fmla="*/ 16444 h 506600"/>
              <a:gd name="connsiteX45" fmla="*/ 586290 w 602734"/>
              <a:gd name="connsiteY45" fmla="*/ 56289 h 506600"/>
              <a:gd name="connsiteX46" fmla="*/ 546445 w 602734"/>
              <a:gd name="connsiteY46" fmla="*/ 96134 h 506600"/>
              <a:gd name="connsiteX47" fmla="*/ 507233 w 602734"/>
              <a:gd name="connsiteY47" fmla="*/ 55656 h 506600"/>
              <a:gd name="connsiteX48" fmla="*/ 546445 w 602734"/>
              <a:gd name="connsiteY48" fmla="*/ 16444 h 506600"/>
              <a:gd name="connsiteX49" fmla="*/ 301051 w 602734"/>
              <a:gd name="connsiteY49" fmla="*/ 113210 h 506600"/>
              <a:gd name="connsiteX50" fmla="*/ 340896 w 602734"/>
              <a:gd name="connsiteY50" fmla="*/ 153055 h 506600"/>
              <a:gd name="connsiteX51" fmla="*/ 301051 w 602734"/>
              <a:gd name="connsiteY51" fmla="*/ 192900 h 506600"/>
              <a:gd name="connsiteX52" fmla="*/ 261206 w 602734"/>
              <a:gd name="connsiteY52" fmla="*/ 153055 h 506600"/>
              <a:gd name="connsiteX53" fmla="*/ 301051 w 602734"/>
              <a:gd name="connsiteY53" fmla="*/ 113210 h 506600"/>
              <a:gd name="connsiteX54" fmla="*/ 55656 w 602734"/>
              <a:gd name="connsiteY54" fmla="*/ 292829 h 506600"/>
              <a:gd name="connsiteX55" fmla="*/ 15812 w 602734"/>
              <a:gd name="connsiteY55" fmla="*/ 252984 h 506600"/>
              <a:gd name="connsiteX56" fmla="*/ 55656 w 602734"/>
              <a:gd name="connsiteY56" fmla="*/ 213139 h 506600"/>
              <a:gd name="connsiteX57" fmla="*/ 95501 w 602734"/>
              <a:gd name="connsiteY57" fmla="*/ 252984 h 506600"/>
              <a:gd name="connsiteX58" fmla="*/ 55656 w 602734"/>
              <a:gd name="connsiteY58" fmla="*/ 292829 h 506600"/>
              <a:gd name="connsiteX59" fmla="*/ 301051 w 602734"/>
              <a:gd name="connsiteY59" fmla="*/ 390228 h 506600"/>
              <a:gd name="connsiteX60" fmla="*/ 261206 w 602734"/>
              <a:gd name="connsiteY60" fmla="*/ 350383 h 506600"/>
              <a:gd name="connsiteX61" fmla="*/ 301051 w 602734"/>
              <a:gd name="connsiteY61" fmla="*/ 310538 h 506600"/>
              <a:gd name="connsiteX62" fmla="*/ 340896 w 602734"/>
              <a:gd name="connsiteY62" fmla="*/ 350383 h 506600"/>
              <a:gd name="connsiteX63" fmla="*/ 301051 w 602734"/>
              <a:gd name="connsiteY63" fmla="*/ 390228 h 506600"/>
              <a:gd name="connsiteX64" fmla="*/ 546445 w 602734"/>
              <a:gd name="connsiteY64" fmla="*/ 411099 h 506600"/>
              <a:gd name="connsiteX65" fmla="*/ 586290 w 602734"/>
              <a:gd name="connsiteY65" fmla="*/ 450944 h 506600"/>
              <a:gd name="connsiteX66" fmla="*/ 546445 w 602734"/>
              <a:gd name="connsiteY66" fmla="*/ 490789 h 506600"/>
              <a:gd name="connsiteX67" fmla="*/ 506600 w 602734"/>
              <a:gd name="connsiteY67" fmla="*/ 450944 h 506600"/>
              <a:gd name="connsiteX68" fmla="*/ 546445 w 602734"/>
              <a:gd name="connsiteY68" fmla="*/ 411099 h 50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02734" h="506600">
                <a:moveTo>
                  <a:pt x="492054" y="263736"/>
                </a:moveTo>
                <a:cubicBezTo>
                  <a:pt x="497114" y="289034"/>
                  <a:pt x="519250" y="308640"/>
                  <a:pt x="546445" y="308640"/>
                </a:cubicBezTo>
                <a:cubicBezTo>
                  <a:pt x="576804" y="308640"/>
                  <a:pt x="602102" y="283975"/>
                  <a:pt x="602102" y="252984"/>
                </a:cubicBezTo>
                <a:cubicBezTo>
                  <a:pt x="602102" y="221993"/>
                  <a:pt x="576804" y="197960"/>
                  <a:pt x="546445" y="197960"/>
                </a:cubicBezTo>
                <a:cubicBezTo>
                  <a:pt x="519882" y="197960"/>
                  <a:pt x="497746" y="216301"/>
                  <a:pt x="492686" y="240967"/>
                </a:cubicBezTo>
                <a:lnTo>
                  <a:pt x="363665" y="153688"/>
                </a:lnTo>
                <a:lnTo>
                  <a:pt x="492686" y="66408"/>
                </a:lnTo>
                <a:cubicBezTo>
                  <a:pt x="497746" y="91707"/>
                  <a:pt x="519882" y="111313"/>
                  <a:pt x="547078" y="111313"/>
                </a:cubicBezTo>
                <a:cubicBezTo>
                  <a:pt x="577436" y="111313"/>
                  <a:pt x="602734" y="86647"/>
                  <a:pt x="602734" y="55656"/>
                </a:cubicBezTo>
                <a:cubicBezTo>
                  <a:pt x="602734" y="25298"/>
                  <a:pt x="578068" y="0"/>
                  <a:pt x="547078" y="0"/>
                </a:cubicBezTo>
                <a:cubicBezTo>
                  <a:pt x="519250" y="0"/>
                  <a:pt x="496481" y="20239"/>
                  <a:pt x="492054" y="47435"/>
                </a:cubicBezTo>
                <a:lnTo>
                  <a:pt x="492054" y="47435"/>
                </a:lnTo>
                <a:lnTo>
                  <a:pt x="354810" y="140406"/>
                </a:lnTo>
                <a:cubicBezTo>
                  <a:pt x="349118" y="115740"/>
                  <a:pt x="326982" y="97399"/>
                  <a:pt x="301051" y="97399"/>
                </a:cubicBezTo>
                <a:cubicBezTo>
                  <a:pt x="271958" y="97399"/>
                  <a:pt x="248557" y="119535"/>
                  <a:pt x="246027" y="147996"/>
                </a:cubicBezTo>
                <a:lnTo>
                  <a:pt x="109416" y="240335"/>
                </a:lnTo>
                <a:cubicBezTo>
                  <a:pt x="103723" y="215669"/>
                  <a:pt x="81587" y="197960"/>
                  <a:pt x="55656" y="197960"/>
                </a:cubicBezTo>
                <a:cubicBezTo>
                  <a:pt x="25298" y="197960"/>
                  <a:pt x="0" y="222626"/>
                  <a:pt x="0" y="253616"/>
                </a:cubicBezTo>
                <a:cubicBezTo>
                  <a:pt x="0" y="284607"/>
                  <a:pt x="24666" y="309273"/>
                  <a:pt x="55656" y="309273"/>
                </a:cubicBezTo>
                <a:cubicBezTo>
                  <a:pt x="82220" y="309273"/>
                  <a:pt x="104988" y="290299"/>
                  <a:pt x="110048" y="265001"/>
                </a:cubicBezTo>
                <a:lnTo>
                  <a:pt x="246027" y="357340"/>
                </a:lnTo>
                <a:cubicBezTo>
                  <a:pt x="249189" y="385168"/>
                  <a:pt x="272590" y="406672"/>
                  <a:pt x="301051" y="406672"/>
                </a:cubicBezTo>
                <a:cubicBezTo>
                  <a:pt x="327614" y="406672"/>
                  <a:pt x="349118" y="388330"/>
                  <a:pt x="354810" y="363664"/>
                </a:cubicBezTo>
                <a:lnTo>
                  <a:pt x="490789" y="456004"/>
                </a:lnTo>
                <a:cubicBezTo>
                  <a:pt x="493319" y="484464"/>
                  <a:pt x="516720" y="506600"/>
                  <a:pt x="545813" y="506600"/>
                </a:cubicBezTo>
                <a:cubicBezTo>
                  <a:pt x="576171" y="506600"/>
                  <a:pt x="601469" y="481935"/>
                  <a:pt x="601469" y="450944"/>
                </a:cubicBezTo>
                <a:cubicBezTo>
                  <a:pt x="601469" y="419953"/>
                  <a:pt x="576804" y="395287"/>
                  <a:pt x="545813" y="395287"/>
                </a:cubicBezTo>
                <a:cubicBezTo>
                  <a:pt x="519882" y="395287"/>
                  <a:pt x="497746" y="412996"/>
                  <a:pt x="492054" y="437662"/>
                </a:cubicBezTo>
                <a:lnTo>
                  <a:pt x="364297" y="350383"/>
                </a:lnTo>
                <a:lnTo>
                  <a:pt x="492054" y="263736"/>
                </a:lnTo>
                <a:close/>
                <a:moveTo>
                  <a:pt x="301051" y="295359"/>
                </a:moveTo>
                <a:cubicBezTo>
                  <a:pt x="274488" y="295359"/>
                  <a:pt x="252984" y="313700"/>
                  <a:pt x="247292" y="338366"/>
                </a:cubicBezTo>
                <a:lnTo>
                  <a:pt x="120800" y="252352"/>
                </a:lnTo>
                <a:lnTo>
                  <a:pt x="247292" y="166337"/>
                </a:lnTo>
                <a:cubicBezTo>
                  <a:pt x="252984" y="190370"/>
                  <a:pt x="275120" y="208712"/>
                  <a:pt x="301051" y="208712"/>
                </a:cubicBezTo>
                <a:cubicBezTo>
                  <a:pt x="326982" y="208712"/>
                  <a:pt x="348485" y="191003"/>
                  <a:pt x="354810" y="166969"/>
                </a:cubicBezTo>
                <a:lnTo>
                  <a:pt x="480670" y="252352"/>
                </a:lnTo>
                <a:lnTo>
                  <a:pt x="354810" y="337734"/>
                </a:lnTo>
                <a:cubicBezTo>
                  <a:pt x="349118" y="313700"/>
                  <a:pt x="326982" y="295359"/>
                  <a:pt x="301051" y="295359"/>
                </a:cubicBezTo>
                <a:close/>
                <a:moveTo>
                  <a:pt x="546445" y="213771"/>
                </a:moveTo>
                <a:cubicBezTo>
                  <a:pt x="568582" y="213771"/>
                  <a:pt x="586290" y="231480"/>
                  <a:pt x="586290" y="253616"/>
                </a:cubicBezTo>
                <a:cubicBezTo>
                  <a:pt x="586290" y="275753"/>
                  <a:pt x="568582" y="293461"/>
                  <a:pt x="546445" y="293461"/>
                </a:cubicBezTo>
                <a:cubicBezTo>
                  <a:pt x="524309" y="293461"/>
                  <a:pt x="506600" y="275753"/>
                  <a:pt x="506600" y="253616"/>
                </a:cubicBezTo>
                <a:cubicBezTo>
                  <a:pt x="506600" y="231480"/>
                  <a:pt x="524309" y="213771"/>
                  <a:pt x="546445" y="213771"/>
                </a:cubicBezTo>
                <a:close/>
                <a:moveTo>
                  <a:pt x="546445" y="16444"/>
                </a:moveTo>
                <a:cubicBezTo>
                  <a:pt x="568582" y="16444"/>
                  <a:pt x="586290" y="34153"/>
                  <a:pt x="586290" y="56289"/>
                </a:cubicBezTo>
                <a:cubicBezTo>
                  <a:pt x="586290" y="78425"/>
                  <a:pt x="568582" y="96134"/>
                  <a:pt x="546445" y="96134"/>
                </a:cubicBezTo>
                <a:cubicBezTo>
                  <a:pt x="524309" y="96134"/>
                  <a:pt x="507233" y="77793"/>
                  <a:pt x="507233" y="55656"/>
                </a:cubicBezTo>
                <a:cubicBezTo>
                  <a:pt x="507233" y="34153"/>
                  <a:pt x="524942" y="16444"/>
                  <a:pt x="546445" y="16444"/>
                </a:cubicBezTo>
                <a:close/>
                <a:moveTo>
                  <a:pt x="301051" y="113210"/>
                </a:moveTo>
                <a:cubicBezTo>
                  <a:pt x="323187" y="113210"/>
                  <a:pt x="340896" y="130919"/>
                  <a:pt x="340896" y="153055"/>
                </a:cubicBezTo>
                <a:cubicBezTo>
                  <a:pt x="340896" y="175191"/>
                  <a:pt x="323187" y="192900"/>
                  <a:pt x="301051" y="192900"/>
                </a:cubicBezTo>
                <a:cubicBezTo>
                  <a:pt x="278915" y="192900"/>
                  <a:pt x="261206" y="175191"/>
                  <a:pt x="261206" y="153055"/>
                </a:cubicBezTo>
                <a:cubicBezTo>
                  <a:pt x="261206" y="130919"/>
                  <a:pt x="278915" y="113210"/>
                  <a:pt x="301051" y="113210"/>
                </a:cubicBezTo>
                <a:close/>
                <a:moveTo>
                  <a:pt x="55656" y="292829"/>
                </a:moveTo>
                <a:cubicBezTo>
                  <a:pt x="33520" y="292829"/>
                  <a:pt x="15812" y="275120"/>
                  <a:pt x="15812" y="252984"/>
                </a:cubicBezTo>
                <a:cubicBezTo>
                  <a:pt x="15812" y="230848"/>
                  <a:pt x="33520" y="213139"/>
                  <a:pt x="55656" y="213139"/>
                </a:cubicBezTo>
                <a:cubicBezTo>
                  <a:pt x="77793" y="213139"/>
                  <a:pt x="95501" y="230848"/>
                  <a:pt x="95501" y="252984"/>
                </a:cubicBezTo>
                <a:cubicBezTo>
                  <a:pt x="95501" y="275120"/>
                  <a:pt x="77793" y="292829"/>
                  <a:pt x="55656" y="292829"/>
                </a:cubicBezTo>
                <a:close/>
                <a:moveTo>
                  <a:pt x="301051" y="390228"/>
                </a:moveTo>
                <a:cubicBezTo>
                  <a:pt x="278915" y="390228"/>
                  <a:pt x="261206" y="372519"/>
                  <a:pt x="261206" y="350383"/>
                </a:cubicBezTo>
                <a:cubicBezTo>
                  <a:pt x="261206" y="328247"/>
                  <a:pt x="278915" y="310538"/>
                  <a:pt x="301051" y="310538"/>
                </a:cubicBezTo>
                <a:cubicBezTo>
                  <a:pt x="323187" y="310538"/>
                  <a:pt x="340896" y="328247"/>
                  <a:pt x="340896" y="350383"/>
                </a:cubicBezTo>
                <a:cubicBezTo>
                  <a:pt x="340263" y="372519"/>
                  <a:pt x="322555" y="390228"/>
                  <a:pt x="301051" y="390228"/>
                </a:cubicBezTo>
                <a:close/>
                <a:moveTo>
                  <a:pt x="546445" y="411099"/>
                </a:moveTo>
                <a:cubicBezTo>
                  <a:pt x="568582" y="411099"/>
                  <a:pt x="586290" y="428808"/>
                  <a:pt x="586290" y="450944"/>
                </a:cubicBezTo>
                <a:cubicBezTo>
                  <a:pt x="586290" y="473080"/>
                  <a:pt x="568582" y="490789"/>
                  <a:pt x="546445" y="490789"/>
                </a:cubicBezTo>
                <a:cubicBezTo>
                  <a:pt x="524309" y="490789"/>
                  <a:pt x="506600" y="473080"/>
                  <a:pt x="506600" y="450944"/>
                </a:cubicBezTo>
                <a:cubicBezTo>
                  <a:pt x="506600" y="428808"/>
                  <a:pt x="524309" y="411099"/>
                  <a:pt x="546445" y="411099"/>
                </a:cubicBezTo>
                <a:close/>
              </a:path>
            </a:pathLst>
          </a:custGeom>
          <a:solidFill>
            <a:schemeClr val="accent4"/>
          </a:solidFill>
          <a:ln w="6271" cap="flat">
            <a:noFill/>
            <a:prstDash val="solid"/>
            <a:miter/>
          </a:ln>
        </p:spPr>
        <p:txBody>
          <a:bodyPr rtlCol="0" anchor="ctr"/>
          <a:lstStyle/>
          <a:p>
            <a:endParaRPr lang="en-US"/>
          </a:p>
        </p:txBody>
      </p:sp>
      <p:sp>
        <p:nvSpPr>
          <p:cNvPr id="154" name="TextBox 153">
            <a:extLst>
              <a:ext uri="{FF2B5EF4-FFF2-40B4-BE49-F238E27FC236}">
                <a16:creationId xmlns:a16="http://schemas.microsoft.com/office/drawing/2014/main" id="{302D9790-058E-0574-E2C1-517B243F7A73}"/>
              </a:ext>
            </a:extLst>
          </p:cNvPr>
          <p:cNvSpPr txBox="1"/>
          <p:nvPr/>
        </p:nvSpPr>
        <p:spPr>
          <a:xfrm>
            <a:off x="1066708" y="5020630"/>
            <a:ext cx="2042496" cy="435825"/>
          </a:xfrm>
          <a:prstGeom prst="rect">
            <a:avLst/>
          </a:prstGeom>
          <a:noFill/>
        </p:spPr>
        <p:txBody>
          <a:bodyPr wrap="square" lIns="0" tIns="0" rIns="0" bIns="0" rtlCol="0">
            <a:spAutoFit/>
          </a:bodyPr>
          <a:lstStyle/>
          <a:p>
            <a:pPr algn="ctr">
              <a:lnSpc>
                <a:spcPct val="130000"/>
              </a:lnSpc>
            </a:pPr>
            <a:r>
              <a:rPr lang="en-US" sz="2400" dirty="0"/>
              <a:t>Performance</a:t>
            </a:r>
          </a:p>
        </p:txBody>
      </p:sp>
      <p:sp>
        <p:nvSpPr>
          <p:cNvPr id="155" name="TextBox 154">
            <a:extLst>
              <a:ext uri="{FF2B5EF4-FFF2-40B4-BE49-F238E27FC236}">
                <a16:creationId xmlns:a16="http://schemas.microsoft.com/office/drawing/2014/main" id="{950B4901-B633-DF70-B70B-C158E6BFC42D}"/>
              </a:ext>
            </a:extLst>
          </p:cNvPr>
          <p:cNvSpPr txBox="1"/>
          <p:nvPr/>
        </p:nvSpPr>
        <p:spPr>
          <a:xfrm>
            <a:off x="4957379" y="5020630"/>
            <a:ext cx="2042496" cy="435825"/>
          </a:xfrm>
          <a:prstGeom prst="rect">
            <a:avLst/>
          </a:prstGeom>
          <a:noFill/>
        </p:spPr>
        <p:txBody>
          <a:bodyPr wrap="square" lIns="0" tIns="0" rIns="0" bIns="0" rtlCol="0">
            <a:spAutoFit/>
          </a:bodyPr>
          <a:lstStyle/>
          <a:p>
            <a:pPr algn="ctr">
              <a:lnSpc>
                <a:spcPct val="130000"/>
              </a:lnSpc>
            </a:pPr>
            <a:r>
              <a:rPr lang="en-US" sz="2400" dirty="0"/>
              <a:t>Efficiency</a:t>
            </a:r>
          </a:p>
        </p:txBody>
      </p:sp>
      <p:sp>
        <p:nvSpPr>
          <p:cNvPr id="156" name="TextBox 155">
            <a:extLst>
              <a:ext uri="{FF2B5EF4-FFF2-40B4-BE49-F238E27FC236}">
                <a16:creationId xmlns:a16="http://schemas.microsoft.com/office/drawing/2014/main" id="{8CDC5986-58D7-DA77-0C4B-3E23B5614115}"/>
              </a:ext>
            </a:extLst>
          </p:cNvPr>
          <p:cNvSpPr txBox="1"/>
          <p:nvPr/>
        </p:nvSpPr>
        <p:spPr>
          <a:xfrm>
            <a:off x="8596383" y="5020630"/>
            <a:ext cx="3027898" cy="435825"/>
          </a:xfrm>
          <a:prstGeom prst="rect">
            <a:avLst/>
          </a:prstGeom>
          <a:noFill/>
        </p:spPr>
        <p:txBody>
          <a:bodyPr wrap="square" lIns="0" tIns="0" rIns="0" bIns="0" rtlCol="0">
            <a:spAutoFit/>
          </a:bodyPr>
          <a:lstStyle/>
          <a:p>
            <a:pPr algn="ctr">
              <a:lnSpc>
                <a:spcPct val="130000"/>
              </a:lnSpc>
            </a:pPr>
            <a:r>
              <a:rPr lang="en-US" sz="2400" dirty="0"/>
              <a:t>New Capabilities</a:t>
            </a:r>
          </a:p>
        </p:txBody>
      </p:sp>
      <p:cxnSp>
        <p:nvCxnSpPr>
          <p:cNvPr id="158" name="Straight Connector 157">
            <a:extLst>
              <a:ext uri="{FF2B5EF4-FFF2-40B4-BE49-F238E27FC236}">
                <a16:creationId xmlns:a16="http://schemas.microsoft.com/office/drawing/2014/main" id="{CDDDC501-B7D0-B6C4-C9B7-3CFE3EFB19FF}"/>
              </a:ext>
            </a:extLst>
          </p:cNvPr>
          <p:cNvCxnSpPr>
            <a:cxnSpLocks/>
          </p:cNvCxnSpPr>
          <p:nvPr/>
        </p:nvCxnSpPr>
        <p:spPr bwMode="gray">
          <a:xfrm>
            <a:off x="1066708" y="5537488"/>
            <a:ext cx="2042496" cy="0"/>
          </a:xfrm>
          <a:prstGeom prst="line">
            <a:avLst/>
          </a:prstGeom>
          <a:ln w="381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AF2B6DA8-8F2E-2267-440A-54770751EF6E}"/>
              </a:ext>
            </a:extLst>
          </p:cNvPr>
          <p:cNvCxnSpPr>
            <a:cxnSpLocks/>
          </p:cNvCxnSpPr>
          <p:nvPr/>
        </p:nvCxnSpPr>
        <p:spPr bwMode="gray">
          <a:xfrm>
            <a:off x="4649452" y="5537488"/>
            <a:ext cx="2658350" cy="0"/>
          </a:xfrm>
          <a:prstGeom prst="line">
            <a:avLst/>
          </a:prstGeom>
          <a:ln w="381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F0496273-3D36-E152-6318-25409E560334}"/>
              </a:ext>
            </a:extLst>
          </p:cNvPr>
          <p:cNvCxnSpPr>
            <a:cxnSpLocks/>
          </p:cNvCxnSpPr>
          <p:nvPr/>
        </p:nvCxnSpPr>
        <p:spPr bwMode="gray">
          <a:xfrm>
            <a:off x="8837349" y="5537488"/>
            <a:ext cx="2544302" cy="0"/>
          </a:xfrm>
          <a:prstGeom prst="line">
            <a:avLst/>
          </a:prstGeom>
          <a:ln w="381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4" name="TextBox 163">
            <a:extLst>
              <a:ext uri="{FF2B5EF4-FFF2-40B4-BE49-F238E27FC236}">
                <a16:creationId xmlns:a16="http://schemas.microsoft.com/office/drawing/2014/main" id="{C5652CAE-C0D7-B55F-A890-30C576FAD3BD}"/>
              </a:ext>
            </a:extLst>
          </p:cNvPr>
          <p:cNvSpPr txBox="1"/>
          <p:nvPr/>
        </p:nvSpPr>
        <p:spPr>
          <a:xfrm>
            <a:off x="8837349" y="5584296"/>
            <a:ext cx="2544302" cy="530979"/>
          </a:xfrm>
          <a:prstGeom prst="rect">
            <a:avLst/>
          </a:prstGeom>
          <a:noFill/>
        </p:spPr>
        <p:txBody>
          <a:bodyPr wrap="square" lIns="0" tIns="0" rIns="0" bIns="0" rtlCol="0">
            <a:spAutoFit/>
          </a:bodyPr>
          <a:lstStyle/>
          <a:p>
            <a:pPr algn="ctr">
              <a:lnSpc>
                <a:spcPct val="130000"/>
              </a:lnSpc>
            </a:pPr>
            <a:r>
              <a:rPr lang="en-US" sz="1400" dirty="0">
                <a:solidFill>
                  <a:schemeClr val="accent2"/>
                </a:solidFill>
              </a:rPr>
              <a:t>vSAN Data Protection</a:t>
            </a:r>
            <a:br>
              <a:rPr lang="en-US" sz="1400" dirty="0">
                <a:solidFill>
                  <a:schemeClr val="accent2"/>
                </a:solidFill>
              </a:rPr>
            </a:br>
            <a:r>
              <a:rPr lang="en-US" sz="1400" dirty="0">
                <a:solidFill>
                  <a:schemeClr val="accent2"/>
                </a:solidFill>
              </a:rPr>
              <a:t>vSAN storage clusters, etc.</a:t>
            </a:r>
          </a:p>
        </p:txBody>
      </p:sp>
      <p:sp>
        <p:nvSpPr>
          <p:cNvPr id="165" name="TextBox 164">
            <a:extLst>
              <a:ext uri="{FF2B5EF4-FFF2-40B4-BE49-F238E27FC236}">
                <a16:creationId xmlns:a16="http://schemas.microsoft.com/office/drawing/2014/main" id="{7CB20166-E372-9A76-4401-EC46771A0B99}"/>
              </a:ext>
            </a:extLst>
          </p:cNvPr>
          <p:cNvSpPr txBox="1"/>
          <p:nvPr/>
        </p:nvSpPr>
        <p:spPr>
          <a:xfrm>
            <a:off x="4541627" y="5584296"/>
            <a:ext cx="2874000" cy="534313"/>
          </a:xfrm>
          <a:prstGeom prst="rect">
            <a:avLst/>
          </a:prstGeom>
          <a:noFill/>
        </p:spPr>
        <p:txBody>
          <a:bodyPr wrap="square" lIns="0" tIns="0" rIns="0" bIns="0" rtlCol="0">
            <a:spAutoFit/>
          </a:bodyPr>
          <a:lstStyle/>
          <a:p>
            <a:pPr algn="ctr">
              <a:lnSpc>
                <a:spcPct val="130000"/>
              </a:lnSpc>
            </a:pPr>
            <a:r>
              <a:rPr lang="en-US" sz="1400" dirty="0">
                <a:solidFill>
                  <a:schemeClr val="accent2"/>
                </a:solidFill>
              </a:rPr>
              <a:t>More capacity on less hardware</a:t>
            </a:r>
          </a:p>
          <a:p>
            <a:pPr algn="ctr">
              <a:lnSpc>
                <a:spcPct val="130000"/>
              </a:lnSpc>
            </a:pPr>
            <a:r>
              <a:rPr lang="en-US" sz="1400" dirty="0">
                <a:solidFill>
                  <a:schemeClr val="accent2"/>
                </a:solidFill>
              </a:rPr>
              <a:t>Fewer hosts to process data</a:t>
            </a:r>
          </a:p>
        </p:txBody>
      </p:sp>
      <p:sp>
        <p:nvSpPr>
          <p:cNvPr id="166" name="TextBox 165">
            <a:extLst>
              <a:ext uri="{FF2B5EF4-FFF2-40B4-BE49-F238E27FC236}">
                <a16:creationId xmlns:a16="http://schemas.microsoft.com/office/drawing/2014/main" id="{CC51EBA1-B259-A858-0E35-C8EF2E80A04D}"/>
              </a:ext>
            </a:extLst>
          </p:cNvPr>
          <p:cNvSpPr txBox="1"/>
          <p:nvPr/>
        </p:nvSpPr>
        <p:spPr>
          <a:xfrm>
            <a:off x="815041" y="5584296"/>
            <a:ext cx="2545830" cy="534313"/>
          </a:xfrm>
          <a:prstGeom prst="rect">
            <a:avLst/>
          </a:prstGeom>
          <a:noFill/>
        </p:spPr>
        <p:txBody>
          <a:bodyPr wrap="square" lIns="0" tIns="0" rIns="0" bIns="0" rtlCol="0">
            <a:spAutoFit/>
          </a:bodyPr>
          <a:lstStyle/>
          <a:p>
            <a:pPr algn="ctr">
              <a:lnSpc>
                <a:spcPct val="130000"/>
              </a:lnSpc>
            </a:pPr>
            <a:r>
              <a:rPr lang="en-US" sz="1400" dirty="0">
                <a:solidFill>
                  <a:schemeClr val="accent2"/>
                </a:solidFill>
              </a:rPr>
              <a:t>More data on less hardware</a:t>
            </a:r>
          </a:p>
          <a:p>
            <a:pPr algn="ctr">
              <a:lnSpc>
                <a:spcPct val="130000"/>
              </a:lnSpc>
            </a:pPr>
            <a:r>
              <a:rPr lang="en-US" sz="1400" dirty="0">
                <a:solidFill>
                  <a:schemeClr val="accent2"/>
                </a:solidFill>
              </a:rPr>
              <a:t>Fewer hosts to process data</a:t>
            </a:r>
          </a:p>
        </p:txBody>
      </p:sp>
    </p:spTree>
    <p:extLst>
      <p:ext uri="{BB962C8B-B14F-4D97-AF65-F5344CB8AC3E}">
        <p14:creationId xmlns:p14="http://schemas.microsoft.com/office/powerpoint/2010/main" val="2582967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7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1250"/>
                            </p:stCondLst>
                            <p:childTnLst>
                              <p:par>
                                <p:cTn id="9" presetID="10" presetClass="entr" presetSubtype="0" fill="hold" grpId="0" nodeType="after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fade">
                                      <p:cBhvr>
                                        <p:cTn id="11" dur="500"/>
                                        <p:tgtEl>
                                          <p:spTgt spid="4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5"/>
                                        </p:tgtEl>
                                        <p:attrNameLst>
                                          <p:attrName>style.visibility</p:attrName>
                                        </p:attrNameLst>
                                      </p:cBhvr>
                                      <p:to>
                                        <p:strVal val="visible"/>
                                      </p:to>
                                    </p:set>
                                    <p:animEffect transition="in" filter="fade">
                                      <p:cBhvr>
                                        <p:cTn id="14" dur="500"/>
                                        <p:tgtEl>
                                          <p:spTgt spid="45"/>
                                        </p:tgtEl>
                                      </p:cBhvr>
                                    </p:animEffect>
                                  </p:childTnLst>
                                </p:cTn>
                              </p:par>
                              <p:par>
                                <p:cTn id="15" presetID="10" presetClass="entr" presetSubtype="0" fill="hold" nodeType="with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fade">
                                      <p:cBhvr>
                                        <p:cTn id="17" dur="500"/>
                                        <p:tgtEl>
                                          <p:spTgt spid="46"/>
                                        </p:tgtEl>
                                      </p:cBhvr>
                                    </p:animEffect>
                                  </p:childTnLst>
                                </p:cTn>
                              </p:par>
                              <p:par>
                                <p:cTn id="18" presetID="10" presetClass="entr" presetSubtype="0" fill="hold" nodeType="withEffect">
                                  <p:stCondLst>
                                    <p:cond delay="0"/>
                                  </p:stCondLst>
                                  <p:childTnLst>
                                    <p:set>
                                      <p:cBhvr>
                                        <p:cTn id="19" dur="1" fill="hold">
                                          <p:stCondLst>
                                            <p:cond delay="0"/>
                                          </p:stCondLst>
                                        </p:cTn>
                                        <p:tgtEl>
                                          <p:spTgt spid="47"/>
                                        </p:tgtEl>
                                        <p:attrNameLst>
                                          <p:attrName>style.visibility</p:attrName>
                                        </p:attrNameLst>
                                      </p:cBhvr>
                                      <p:to>
                                        <p:strVal val="visible"/>
                                      </p:to>
                                    </p:set>
                                    <p:animEffect transition="in" filter="fade">
                                      <p:cBhvr>
                                        <p:cTn id="20" dur="500"/>
                                        <p:tgtEl>
                                          <p:spTgt spid="47"/>
                                        </p:tgtEl>
                                      </p:cBhvr>
                                    </p:animEffect>
                                  </p:childTnLst>
                                </p:cTn>
                              </p:par>
                              <p:par>
                                <p:cTn id="21" presetID="10" presetClass="entr" presetSubtype="0"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500"/>
                                        <p:tgtEl>
                                          <p:spTgt spid="48"/>
                                        </p:tgtEl>
                                      </p:cBhvr>
                                    </p:animEffect>
                                  </p:childTnLst>
                                </p:cTn>
                              </p:par>
                              <p:par>
                                <p:cTn id="24" presetID="10" presetClass="entr" presetSubtype="0" fill="hold" nodeType="withEffect">
                                  <p:stCondLst>
                                    <p:cond delay="0"/>
                                  </p:stCondLst>
                                  <p:childTnLst>
                                    <p:set>
                                      <p:cBhvr>
                                        <p:cTn id="25" dur="1" fill="hold">
                                          <p:stCondLst>
                                            <p:cond delay="0"/>
                                          </p:stCondLst>
                                        </p:cTn>
                                        <p:tgtEl>
                                          <p:spTgt spid="49"/>
                                        </p:tgtEl>
                                        <p:attrNameLst>
                                          <p:attrName>style.visibility</p:attrName>
                                        </p:attrNameLst>
                                      </p:cBhvr>
                                      <p:to>
                                        <p:strVal val="visible"/>
                                      </p:to>
                                    </p:set>
                                    <p:animEffect transition="in" filter="fade">
                                      <p:cBhvr>
                                        <p:cTn id="26" dur="500"/>
                                        <p:tgtEl>
                                          <p:spTgt spid="4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0"/>
                                        </p:tgtEl>
                                        <p:attrNameLst>
                                          <p:attrName>style.visibility</p:attrName>
                                        </p:attrNameLst>
                                      </p:cBhvr>
                                      <p:to>
                                        <p:strVal val="visible"/>
                                      </p:to>
                                    </p:set>
                                    <p:animEffect transition="in" filter="fade">
                                      <p:cBhvr>
                                        <p:cTn id="29" dur="500"/>
                                        <p:tgtEl>
                                          <p:spTgt spid="50"/>
                                        </p:tgtEl>
                                      </p:cBhvr>
                                    </p:animEffect>
                                  </p:childTnLst>
                                </p:cTn>
                              </p:par>
                              <p:par>
                                <p:cTn id="30" presetID="10" presetClass="entr" presetSubtype="0" fill="hold" nodeType="with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fade">
                                      <p:cBhvr>
                                        <p:cTn id="32" dur="500"/>
                                        <p:tgtEl>
                                          <p:spTgt spid="51"/>
                                        </p:tgtEl>
                                      </p:cBhvr>
                                    </p:animEffect>
                                  </p:childTnLst>
                                </p:cTn>
                              </p:par>
                              <p:par>
                                <p:cTn id="33" presetID="10" presetClass="entr" presetSubtype="0" fill="hold" nodeType="withEffect">
                                  <p:stCondLst>
                                    <p:cond delay="0"/>
                                  </p:stCondLst>
                                  <p:childTnLst>
                                    <p:set>
                                      <p:cBhvr>
                                        <p:cTn id="34" dur="1" fill="hold">
                                          <p:stCondLst>
                                            <p:cond delay="0"/>
                                          </p:stCondLst>
                                        </p:cTn>
                                        <p:tgtEl>
                                          <p:spTgt spid="52"/>
                                        </p:tgtEl>
                                        <p:attrNameLst>
                                          <p:attrName>style.visibility</p:attrName>
                                        </p:attrNameLst>
                                      </p:cBhvr>
                                      <p:to>
                                        <p:strVal val="visible"/>
                                      </p:to>
                                    </p:set>
                                    <p:animEffect transition="in" filter="fade">
                                      <p:cBhvr>
                                        <p:cTn id="35" dur="500"/>
                                        <p:tgtEl>
                                          <p:spTgt spid="52"/>
                                        </p:tgtEl>
                                      </p:cBhvr>
                                    </p:animEffect>
                                  </p:childTnLst>
                                </p:cTn>
                              </p:par>
                              <p:par>
                                <p:cTn id="36" presetID="10" presetClass="entr" presetSubtype="0" fill="hold" nodeType="withEffect">
                                  <p:stCondLst>
                                    <p:cond delay="0"/>
                                  </p:stCondLst>
                                  <p:childTnLst>
                                    <p:set>
                                      <p:cBhvr>
                                        <p:cTn id="37" dur="1" fill="hold">
                                          <p:stCondLst>
                                            <p:cond delay="0"/>
                                          </p:stCondLst>
                                        </p:cTn>
                                        <p:tgtEl>
                                          <p:spTgt spid="53"/>
                                        </p:tgtEl>
                                        <p:attrNameLst>
                                          <p:attrName>style.visibility</p:attrName>
                                        </p:attrNameLst>
                                      </p:cBhvr>
                                      <p:to>
                                        <p:strVal val="visible"/>
                                      </p:to>
                                    </p:set>
                                    <p:animEffect transition="in" filter="fade">
                                      <p:cBhvr>
                                        <p:cTn id="38" dur="500"/>
                                        <p:tgtEl>
                                          <p:spTgt spid="53"/>
                                        </p:tgtEl>
                                      </p:cBhvr>
                                    </p:animEffect>
                                  </p:childTnLst>
                                </p:cTn>
                              </p:par>
                              <p:par>
                                <p:cTn id="39" presetID="10" presetClass="entr" presetSubtype="0" fill="hold" nodeType="withEffect">
                                  <p:stCondLst>
                                    <p:cond delay="0"/>
                                  </p:stCondLst>
                                  <p:childTnLst>
                                    <p:set>
                                      <p:cBhvr>
                                        <p:cTn id="40" dur="1" fill="hold">
                                          <p:stCondLst>
                                            <p:cond delay="0"/>
                                          </p:stCondLst>
                                        </p:cTn>
                                        <p:tgtEl>
                                          <p:spTgt spid="54"/>
                                        </p:tgtEl>
                                        <p:attrNameLst>
                                          <p:attrName>style.visibility</p:attrName>
                                        </p:attrNameLst>
                                      </p:cBhvr>
                                      <p:to>
                                        <p:strVal val="visible"/>
                                      </p:to>
                                    </p:set>
                                    <p:animEffect transition="in" filter="fade">
                                      <p:cBhvr>
                                        <p:cTn id="41" dur="500"/>
                                        <p:tgtEl>
                                          <p:spTgt spid="5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5"/>
                                        </p:tgtEl>
                                        <p:attrNameLst>
                                          <p:attrName>style.visibility</p:attrName>
                                        </p:attrNameLst>
                                      </p:cBhvr>
                                      <p:to>
                                        <p:strVal val="visible"/>
                                      </p:to>
                                    </p:set>
                                    <p:animEffect transition="in" filter="fade">
                                      <p:cBhvr>
                                        <p:cTn id="44" dur="500"/>
                                        <p:tgtEl>
                                          <p:spTgt spid="55"/>
                                        </p:tgtEl>
                                      </p:cBhvr>
                                    </p:animEffect>
                                  </p:childTnLst>
                                </p:cTn>
                              </p:par>
                              <p:par>
                                <p:cTn id="45" presetID="10" presetClass="entr" presetSubtype="0" fill="hold" nodeType="with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fade">
                                      <p:cBhvr>
                                        <p:cTn id="47" dur="500"/>
                                        <p:tgtEl>
                                          <p:spTgt spid="56"/>
                                        </p:tgtEl>
                                      </p:cBhvr>
                                    </p:animEffect>
                                  </p:childTnLst>
                                </p:cTn>
                              </p:par>
                              <p:par>
                                <p:cTn id="48" presetID="10" presetClass="entr" presetSubtype="0" fill="hold" nodeType="withEffect">
                                  <p:stCondLst>
                                    <p:cond delay="0"/>
                                  </p:stCondLst>
                                  <p:childTnLst>
                                    <p:set>
                                      <p:cBhvr>
                                        <p:cTn id="49" dur="1" fill="hold">
                                          <p:stCondLst>
                                            <p:cond delay="0"/>
                                          </p:stCondLst>
                                        </p:cTn>
                                        <p:tgtEl>
                                          <p:spTgt spid="57"/>
                                        </p:tgtEl>
                                        <p:attrNameLst>
                                          <p:attrName>style.visibility</p:attrName>
                                        </p:attrNameLst>
                                      </p:cBhvr>
                                      <p:to>
                                        <p:strVal val="visible"/>
                                      </p:to>
                                    </p:set>
                                    <p:animEffect transition="in" filter="fade">
                                      <p:cBhvr>
                                        <p:cTn id="50" dur="500"/>
                                        <p:tgtEl>
                                          <p:spTgt spid="57"/>
                                        </p:tgtEl>
                                      </p:cBhvr>
                                    </p:animEffect>
                                  </p:childTnLst>
                                </p:cTn>
                              </p:par>
                              <p:par>
                                <p:cTn id="51" presetID="10" presetClass="entr" presetSubtype="0" fill="hold" nodeType="withEffect">
                                  <p:stCondLst>
                                    <p:cond delay="0"/>
                                  </p:stCondLst>
                                  <p:childTnLst>
                                    <p:set>
                                      <p:cBhvr>
                                        <p:cTn id="52" dur="1" fill="hold">
                                          <p:stCondLst>
                                            <p:cond delay="0"/>
                                          </p:stCondLst>
                                        </p:cTn>
                                        <p:tgtEl>
                                          <p:spTgt spid="58"/>
                                        </p:tgtEl>
                                        <p:attrNameLst>
                                          <p:attrName>style.visibility</p:attrName>
                                        </p:attrNameLst>
                                      </p:cBhvr>
                                      <p:to>
                                        <p:strVal val="visible"/>
                                      </p:to>
                                    </p:set>
                                    <p:animEffect transition="in" filter="fade">
                                      <p:cBhvr>
                                        <p:cTn id="53" dur="500"/>
                                        <p:tgtEl>
                                          <p:spTgt spid="58"/>
                                        </p:tgtEl>
                                      </p:cBhvr>
                                    </p:animEffect>
                                  </p:childTnLst>
                                </p:cTn>
                              </p:par>
                              <p:par>
                                <p:cTn id="54" presetID="10" presetClass="entr" presetSubtype="0" fill="hold" nodeType="withEffect">
                                  <p:stCondLst>
                                    <p:cond delay="0"/>
                                  </p:stCondLst>
                                  <p:childTnLst>
                                    <p:set>
                                      <p:cBhvr>
                                        <p:cTn id="55" dur="1" fill="hold">
                                          <p:stCondLst>
                                            <p:cond delay="0"/>
                                          </p:stCondLst>
                                        </p:cTn>
                                        <p:tgtEl>
                                          <p:spTgt spid="59"/>
                                        </p:tgtEl>
                                        <p:attrNameLst>
                                          <p:attrName>style.visibility</p:attrName>
                                        </p:attrNameLst>
                                      </p:cBhvr>
                                      <p:to>
                                        <p:strVal val="visible"/>
                                      </p:to>
                                    </p:set>
                                    <p:animEffect transition="in" filter="fade">
                                      <p:cBhvr>
                                        <p:cTn id="56" dur="500"/>
                                        <p:tgtEl>
                                          <p:spTgt spid="5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0"/>
                                        </p:tgtEl>
                                        <p:attrNameLst>
                                          <p:attrName>style.visibility</p:attrName>
                                        </p:attrNameLst>
                                      </p:cBhvr>
                                      <p:to>
                                        <p:strVal val="visible"/>
                                      </p:to>
                                    </p:set>
                                    <p:animEffect transition="in" filter="fade">
                                      <p:cBhvr>
                                        <p:cTn id="59" dur="500"/>
                                        <p:tgtEl>
                                          <p:spTgt spid="6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fade">
                                      <p:cBhvr>
                                        <p:cTn id="62" dur="500"/>
                                        <p:tgtEl>
                                          <p:spTgt spid="6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62"/>
                                        </p:tgtEl>
                                        <p:attrNameLst>
                                          <p:attrName>style.visibility</p:attrName>
                                        </p:attrNameLst>
                                      </p:cBhvr>
                                      <p:to>
                                        <p:strVal val="visible"/>
                                      </p:to>
                                    </p:set>
                                    <p:animEffect transition="in" filter="fade">
                                      <p:cBhvr>
                                        <p:cTn id="65" dur="500"/>
                                        <p:tgtEl>
                                          <p:spTgt spid="6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2"/>
                                        </p:tgtEl>
                                        <p:attrNameLst>
                                          <p:attrName>style.visibility</p:attrName>
                                        </p:attrNameLst>
                                      </p:cBhvr>
                                      <p:to>
                                        <p:strVal val="visible"/>
                                      </p:to>
                                    </p:set>
                                    <p:animEffect transition="in" filter="fade">
                                      <p:cBhvr>
                                        <p:cTn id="68" dur="500"/>
                                        <p:tgtEl>
                                          <p:spTgt spid="42"/>
                                        </p:tgtEl>
                                      </p:cBhvr>
                                    </p:animEffect>
                                  </p:childTnLst>
                                </p:cTn>
                              </p:par>
                            </p:childTnLst>
                          </p:cTn>
                        </p:par>
                        <p:par>
                          <p:cTn id="69" fill="hold">
                            <p:stCondLst>
                              <p:cond delay="1750"/>
                            </p:stCondLst>
                            <p:childTnLst>
                              <p:par>
                                <p:cTn id="70" presetID="10" presetClass="entr" presetSubtype="0" fill="hold" grpId="0" nodeType="afterEffect">
                                  <p:stCondLst>
                                    <p:cond delay="0"/>
                                  </p:stCondLst>
                                  <p:childTnLst>
                                    <p:set>
                                      <p:cBhvr>
                                        <p:cTn id="71" dur="1" fill="hold">
                                          <p:stCondLst>
                                            <p:cond delay="0"/>
                                          </p:stCondLst>
                                        </p:cTn>
                                        <p:tgtEl>
                                          <p:spTgt spid="43"/>
                                        </p:tgtEl>
                                        <p:attrNameLst>
                                          <p:attrName>style.visibility</p:attrName>
                                        </p:attrNameLst>
                                      </p:cBhvr>
                                      <p:to>
                                        <p:strVal val="visible"/>
                                      </p:to>
                                    </p:set>
                                    <p:animEffect transition="in" filter="fade">
                                      <p:cBhvr>
                                        <p:cTn id="72" dur="500"/>
                                        <p:tgtEl>
                                          <p:spTgt spid="43"/>
                                        </p:tgtEl>
                                      </p:cBhvr>
                                    </p:animEffect>
                                  </p:childTnLst>
                                </p:cTn>
                              </p:par>
                            </p:childTnLst>
                          </p:cTn>
                        </p:par>
                        <p:par>
                          <p:cTn id="73" fill="hold">
                            <p:stCondLst>
                              <p:cond delay="2250"/>
                            </p:stCondLst>
                            <p:childTnLst>
                              <p:par>
                                <p:cTn id="74" presetID="10" presetClass="entr" presetSubtype="0" fill="hold" grpId="0" nodeType="afterEffect">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fade">
                                      <p:cBhvr>
                                        <p:cTn id="76" dur="500"/>
                                        <p:tgtEl>
                                          <p:spTgt spid="36"/>
                                        </p:tgtEl>
                                      </p:cBhvr>
                                    </p:animEffect>
                                  </p:childTnLst>
                                </p:cTn>
                              </p:par>
                            </p:childTnLst>
                          </p:cTn>
                        </p:par>
                        <p:par>
                          <p:cTn id="77" fill="hold">
                            <p:stCondLst>
                              <p:cond delay="2750"/>
                            </p:stCondLst>
                            <p:childTnLst>
                              <p:par>
                                <p:cTn id="78" presetID="16" presetClass="entr" presetSubtype="37" fill="hold" nodeType="afterEffect">
                                  <p:stCondLst>
                                    <p:cond delay="0"/>
                                  </p:stCondLst>
                                  <p:childTnLst>
                                    <p:set>
                                      <p:cBhvr>
                                        <p:cTn id="79" dur="1" fill="hold">
                                          <p:stCondLst>
                                            <p:cond delay="0"/>
                                          </p:stCondLst>
                                        </p:cTn>
                                        <p:tgtEl>
                                          <p:spTgt spid="37"/>
                                        </p:tgtEl>
                                        <p:attrNameLst>
                                          <p:attrName>style.visibility</p:attrName>
                                        </p:attrNameLst>
                                      </p:cBhvr>
                                      <p:to>
                                        <p:strVal val="visible"/>
                                      </p:to>
                                    </p:set>
                                    <p:animEffect transition="in" filter="barn(outVertical)">
                                      <p:cBhvr>
                                        <p:cTn id="80" dur="500"/>
                                        <p:tgtEl>
                                          <p:spTgt spid="37"/>
                                        </p:tgtEl>
                                      </p:cBhvr>
                                    </p:animEffect>
                                  </p:childTnLst>
                                </p:cTn>
                              </p:par>
                            </p:childTnLst>
                          </p:cTn>
                        </p:par>
                        <p:par>
                          <p:cTn id="81" fill="hold">
                            <p:stCondLst>
                              <p:cond delay="3250"/>
                            </p:stCondLst>
                            <p:childTnLst>
                              <p:par>
                                <p:cTn id="82" presetID="10" presetClass="entr" presetSubtype="0" fill="hold" nodeType="afterEffect">
                                  <p:stCondLst>
                                    <p:cond delay="500"/>
                                  </p:stCondLst>
                                  <p:childTnLst>
                                    <p:set>
                                      <p:cBhvr>
                                        <p:cTn id="83" dur="1" fill="hold">
                                          <p:stCondLst>
                                            <p:cond delay="0"/>
                                          </p:stCondLst>
                                        </p:cTn>
                                        <p:tgtEl>
                                          <p:spTgt spid="92"/>
                                        </p:tgtEl>
                                        <p:attrNameLst>
                                          <p:attrName>style.visibility</p:attrName>
                                        </p:attrNameLst>
                                      </p:cBhvr>
                                      <p:to>
                                        <p:strVal val="visible"/>
                                      </p:to>
                                    </p:set>
                                    <p:animEffect transition="in" filter="fade">
                                      <p:cBhvr>
                                        <p:cTn id="84" dur="500"/>
                                        <p:tgtEl>
                                          <p:spTgt spid="92"/>
                                        </p:tgtEl>
                                      </p:cBhvr>
                                    </p:animEffect>
                                  </p:childTnLst>
                                </p:cTn>
                              </p:par>
                              <p:par>
                                <p:cTn id="85" presetID="10" presetClass="entr" presetSubtype="0" fill="hold" grpId="0" nodeType="withEffect">
                                  <p:stCondLst>
                                    <p:cond delay="500"/>
                                  </p:stCondLst>
                                  <p:childTnLst>
                                    <p:set>
                                      <p:cBhvr>
                                        <p:cTn id="86" dur="1" fill="hold">
                                          <p:stCondLst>
                                            <p:cond delay="0"/>
                                          </p:stCondLst>
                                        </p:cTn>
                                        <p:tgtEl>
                                          <p:spTgt spid="79"/>
                                        </p:tgtEl>
                                        <p:attrNameLst>
                                          <p:attrName>style.visibility</p:attrName>
                                        </p:attrNameLst>
                                      </p:cBhvr>
                                      <p:to>
                                        <p:strVal val="visible"/>
                                      </p:to>
                                    </p:set>
                                    <p:animEffect transition="in" filter="fade">
                                      <p:cBhvr>
                                        <p:cTn id="87" dur="500"/>
                                        <p:tgtEl>
                                          <p:spTgt spid="79"/>
                                        </p:tgtEl>
                                      </p:cBhvr>
                                    </p:animEffect>
                                  </p:childTnLst>
                                </p:cTn>
                              </p:par>
                            </p:childTnLst>
                          </p:cTn>
                        </p:par>
                        <p:par>
                          <p:cTn id="88" fill="hold">
                            <p:stCondLst>
                              <p:cond delay="4250"/>
                            </p:stCondLst>
                            <p:childTnLst>
                              <p:par>
                                <p:cTn id="89" presetID="10" presetClass="entr" presetSubtype="0" fill="hold" nodeType="afterEffect">
                                  <p:stCondLst>
                                    <p:cond delay="500"/>
                                  </p:stCondLst>
                                  <p:childTnLst>
                                    <p:set>
                                      <p:cBhvr>
                                        <p:cTn id="90" dur="1" fill="hold">
                                          <p:stCondLst>
                                            <p:cond delay="0"/>
                                          </p:stCondLst>
                                        </p:cTn>
                                        <p:tgtEl>
                                          <p:spTgt spid="72"/>
                                        </p:tgtEl>
                                        <p:attrNameLst>
                                          <p:attrName>style.visibility</p:attrName>
                                        </p:attrNameLst>
                                      </p:cBhvr>
                                      <p:to>
                                        <p:strVal val="visible"/>
                                      </p:to>
                                    </p:set>
                                    <p:animEffect transition="in" filter="fade">
                                      <p:cBhvr>
                                        <p:cTn id="91" dur="500"/>
                                        <p:tgtEl>
                                          <p:spTgt spid="72"/>
                                        </p:tgtEl>
                                      </p:cBhvr>
                                    </p:animEffect>
                                  </p:childTnLst>
                                </p:cTn>
                              </p:par>
                              <p:par>
                                <p:cTn id="92" presetID="10" presetClass="entr" presetSubtype="0" fill="hold" grpId="0" nodeType="withEffect">
                                  <p:stCondLst>
                                    <p:cond delay="500"/>
                                  </p:stCondLst>
                                  <p:childTnLst>
                                    <p:set>
                                      <p:cBhvr>
                                        <p:cTn id="93" dur="1" fill="hold">
                                          <p:stCondLst>
                                            <p:cond delay="0"/>
                                          </p:stCondLst>
                                        </p:cTn>
                                        <p:tgtEl>
                                          <p:spTgt spid="6"/>
                                        </p:tgtEl>
                                        <p:attrNameLst>
                                          <p:attrName>style.visibility</p:attrName>
                                        </p:attrNameLst>
                                      </p:cBhvr>
                                      <p:to>
                                        <p:strVal val="visible"/>
                                      </p:to>
                                    </p:set>
                                    <p:animEffect transition="in" filter="fade">
                                      <p:cBhvr>
                                        <p:cTn id="94" dur="500"/>
                                        <p:tgtEl>
                                          <p:spTgt spid="6"/>
                                        </p:tgtEl>
                                      </p:cBhvr>
                                    </p:animEffect>
                                  </p:childTnLst>
                                </p:cTn>
                              </p:par>
                            </p:childTnLst>
                          </p:cTn>
                        </p:par>
                        <p:par>
                          <p:cTn id="95" fill="hold">
                            <p:stCondLst>
                              <p:cond delay="5250"/>
                            </p:stCondLst>
                            <p:childTnLst>
                              <p:par>
                                <p:cTn id="96" presetID="10" presetClass="entr" presetSubtype="0" fill="hold" nodeType="afterEffect">
                                  <p:stCondLst>
                                    <p:cond delay="500"/>
                                  </p:stCondLst>
                                  <p:childTnLst>
                                    <p:set>
                                      <p:cBhvr>
                                        <p:cTn id="97" dur="1" fill="hold">
                                          <p:stCondLst>
                                            <p:cond delay="0"/>
                                          </p:stCondLst>
                                        </p:cTn>
                                        <p:tgtEl>
                                          <p:spTgt spid="80"/>
                                        </p:tgtEl>
                                        <p:attrNameLst>
                                          <p:attrName>style.visibility</p:attrName>
                                        </p:attrNameLst>
                                      </p:cBhvr>
                                      <p:to>
                                        <p:strVal val="visible"/>
                                      </p:to>
                                    </p:set>
                                    <p:animEffect transition="in" filter="fade">
                                      <p:cBhvr>
                                        <p:cTn id="98" dur="500"/>
                                        <p:tgtEl>
                                          <p:spTgt spid="80"/>
                                        </p:tgtEl>
                                      </p:cBhvr>
                                    </p:animEffect>
                                  </p:childTnLst>
                                </p:cTn>
                              </p:par>
                              <p:par>
                                <p:cTn id="99" presetID="10" presetClass="entr" presetSubtype="0" fill="hold" grpId="0" nodeType="withEffect">
                                  <p:stCondLst>
                                    <p:cond delay="500"/>
                                  </p:stCondLst>
                                  <p:childTnLst>
                                    <p:set>
                                      <p:cBhvr>
                                        <p:cTn id="100" dur="1" fill="hold">
                                          <p:stCondLst>
                                            <p:cond delay="0"/>
                                          </p:stCondLst>
                                        </p:cTn>
                                        <p:tgtEl>
                                          <p:spTgt spid="78"/>
                                        </p:tgtEl>
                                        <p:attrNameLst>
                                          <p:attrName>style.visibility</p:attrName>
                                        </p:attrNameLst>
                                      </p:cBhvr>
                                      <p:to>
                                        <p:strVal val="visible"/>
                                      </p:to>
                                    </p:set>
                                    <p:animEffect transition="in" filter="fade">
                                      <p:cBhvr>
                                        <p:cTn id="101" dur="500"/>
                                        <p:tgtEl>
                                          <p:spTgt spid="78"/>
                                        </p:tgtEl>
                                      </p:cBhvr>
                                    </p:animEffect>
                                  </p:childTnLst>
                                </p:cTn>
                              </p:par>
                            </p:childTnLst>
                          </p:cTn>
                        </p:par>
                        <p:par>
                          <p:cTn id="102" fill="hold">
                            <p:stCondLst>
                              <p:cond delay="6250"/>
                            </p:stCondLst>
                            <p:childTnLst>
                              <p:par>
                                <p:cTn id="103" presetID="10" presetClass="entr" presetSubtype="0" fill="hold" grpId="0" nodeType="afterEffect">
                                  <p:stCondLst>
                                    <p:cond delay="500"/>
                                  </p:stCondLst>
                                  <p:childTnLst>
                                    <p:set>
                                      <p:cBhvr>
                                        <p:cTn id="104" dur="1" fill="hold">
                                          <p:stCondLst>
                                            <p:cond delay="0"/>
                                          </p:stCondLst>
                                        </p:cTn>
                                        <p:tgtEl>
                                          <p:spTgt spid="133"/>
                                        </p:tgtEl>
                                        <p:attrNameLst>
                                          <p:attrName>style.visibility</p:attrName>
                                        </p:attrNameLst>
                                      </p:cBhvr>
                                      <p:to>
                                        <p:strVal val="visible"/>
                                      </p:to>
                                    </p:set>
                                    <p:animEffect transition="in" filter="fade">
                                      <p:cBhvr>
                                        <p:cTn id="105" dur="500"/>
                                        <p:tgtEl>
                                          <p:spTgt spid="133"/>
                                        </p:tgtEl>
                                      </p:cBhvr>
                                    </p:animEffect>
                                  </p:childTnLst>
                                </p:cTn>
                              </p:par>
                              <p:par>
                                <p:cTn id="106" presetID="10" presetClass="entr" presetSubtype="0" fill="hold" grpId="0" nodeType="withEffect">
                                  <p:stCondLst>
                                    <p:cond delay="500"/>
                                  </p:stCondLst>
                                  <p:childTnLst>
                                    <p:set>
                                      <p:cBhvr>
                                        <p:cTn id="107" dur="1" fill="hold">
                                          <p:stCondLst>
                                            <p:cond delay="0"/>
                                          </p:stCondLst>
                                        </p:cTn>
                                        <p:tgtEl>
                                          <p:spTgt spid="132"/>
                                        </p:tgtEl>
                                        <p:attrNameLst>
                                          <p:attrName>style.visibility</p:attrName>
                                        </p:attrNameLst>
                                      </p:cBhvr>
                                      <p:to>
                                        <p:strVal val="visible"/>
                                      </p:to>
                                    </p:set>
                                    <p:animEffect transition="in" filter="fade">
                                      <p:cBhvr>
                                        <p:cTn id="108" dur="500"/>
                                        <p:tgtEl>
                                          <p:spTgt spid="132"/>
                                        </p:tgtEl>
                                      </p:cBhvr>
                                    </p:animEffect>
                                  </p:childTnLst>
                                </p:cTn>
                              </p:par>
                            </p:childTnLst>
                          </p:cTn>
                        </p:par>
                        <p:par>
                          <p:cTn id="109" fill="hold">
                            <p:stCondLst>
                              <p:cond delay="7250"/>
                            </p:stCondLst>
                            <p:childTnLst>
                              <p:par>
                                <p:cTn id="110" presetID="26" presetClass="emph" presetSubtype="0" fill="hold" nodeType="afterEffect">
                                  <p:stCondLst>
                                    <p:cond delay="500"/>
                                  </p:stCondLst>
                                  <p:childTnLst>
                                    <p:animEffect transition="out" filter="fade">
                                      <p:cBhvr>
                                        <p:cTn id="111" dur="500" tmFilter="0, 0; .2, .5; .8, .5; 1, 0"/>
                                        <p:tgtEl>
                                          <p:spTgt spid="37"/>
                                        </p:tgtEl>
                                      </p:cBhvr>
                                    </p:animEffect>
                                    <p:animScale>
                                      <p:cBhvr>
                                        <p:cTn id="112" dur="250" autoRev="1" fill="hold"/>
                                        <p:tgtEl>
                                          <p:spTgt spid="37"/>
                                        </p:tgtEl>
                                      </p:cBhvr>
                                      <p:by x="105000" y="105000"/>
                                    </p:animScale>
                                  </p:childTnLst>
                                </p:cTn>
                              </p:par>
                            </p:childTnLst>
                          </p:cTn>
                        </p:par>
                        <p:par>
                          <p:cTn id="113" fill="hold">
                            <p:stCondLst>
                              <p:cond delay="8250"/>
                            </p:stCondLst>
                            <p:childTnLst>
                              <p:par>
                                <p:cTn id="114" presetID="10" presetClass="entr" presetSubtype="0" fill="hold" grpId="0" nodeType="afterEffect">
                                  <p:stCondLst>
                                    <p:cond delay="0"/>
                                  </p:stCondLst>
                                  <p:childTnLst>
                                    <p:set>
                                      <p:cBhvr>
                                        <p:cTn id="115" dur="1" fill="hold">
                                          <p:stCondLst>
                                            <p:cond delay="0"/>
                                          </p:stCondLst>
                                        </p:cTn>
                                        <p:tgtEl>
                                          <p:spTgt spid="154"/>
                                        </p:tgtEl>
                                        <p:attrNameLst>
                                          <p:attrName>style.visibility</p:attrName>
                                        </p:attrNameLst>
                                      </p:cBhvr>
                                      <p:to>
                                        <p:strVal val="visible"/>
                                      </p:to>
                                    </p:set>
                                    <p:animEffect transition="in" filter="fade">
                                      <p:cBhvr>
                                        <p:cTn id="116" dur="500"/>
                                        <p:tgtEl>
                                          <p:spTgt spid="154"/>
                                        </p:tgtEl>
                                      </p:cBhvr>
                                    </p:animEffect>
                                  </p:childTnLst>
                                </p:cTn>
                              </p:par>
                              <p:par>
                                <p:cTn id="117" presetID="16" presetClass="entr" presetSubtype="37" fill="hold" nodeType="withEffect">
                                  <p:stCondLst>
                                    <p:cond delay="0"/>
                                  </p:stCondLst>
                                  <p:childTnLst>
                                    <p:set>
                                      <p:cBhvr>
                                        <p:cTn id="118" dur="1" fill="hold">
                                          <p:stCondLst>
                                            <p:cond delay="0"/>
                                          </p:stCondLst>
                                        </p:cTn>
                                        <p:tgtEl>
                                          <p:spTgt spid="158"/>
                                        </p:tgtEl>
                                        <p:attrNameLst>
                                          <p:attrName>style.visibility</p:attrName>
                                        </p:attrNameLst>
                                      </p:cBhvr>
                                      <p:to>
                                        <p:strVal val="visible"/>
                                      </p:to>
                                    </p:set>
                                    <p:animEffect transition="in" filter="barn(outVertical)">
                                      <p:cBhvr>
                                        <p:cTn id="119" dur="500"/>
                                        <p:tgtEl>
                                          <p:spTgt spid="158"/>
                                        </p:tgtEl>
                                      </p:cBhvr>
                                    </p:animEffect>
                                  </p:childTnLst>
                                </p:cTn>
                              </p:par>
                            </p:childTnLst>
                          </p:cTn>
                        </p:par>
                        <p:par>
                          <p:cTn id="120" fill="hold">
                            <p:stCondLst>
                              <p:cond delay="8750"/>
                            </p:stCondLst>
                            <p:childTnLst>
                              <p:par>
                                <p:cTn id="121" presetID="10" presetClass="entr" presetSubtype="0" fill="hold" grpId="0" nodeType="afterEffect">
                                  <p:stCondLst>
                                    <p:cond delay="0"/>
                                  </p:stCondLst>
                                  <p:childTnLst>
                                    <p:set>
                                      <p:cBhvr>
                                        <p:cTn id="122" dur="1" fill="hold">
                                          <p:stCondLst>
                                            <p:cond delay="0"/>
                                          </p:stCondLst>
                                        </p:cTn>
                                        <p:tgtEl>
                                          <p:spTgt spid="166"/>
                                        </p:tgtEl>
                                        <p:attrNameLst>
                                          <p:attrName>style.visibility</p:attrName>
                                        </p:attrNameLst>
                                      </p:cBhvr>
                                      <p:to>
                                        <p:strVal val="visible"/>
                                      </p:to>
                                    </p:set>
                                    <p:animEffect transition="in" filter="fade">
                                      <p:cBhvr>
                                        <p:cTn id="123" dur="500"/>
                                        <p:tgtEl>
                                          <p:spTgt spid="166"/>
                                        </p:tgtEl>
                                      </p:cBhvr>
                                    </p:animEffect>
                                  </p:childTnLst>
                                </p:cTn>
                              </p:par>
                            </p:childTnLst>
                          </p:cTn>
                        </p:par>
                        <p:par>
                          <p:cTn id="124" fill="hold">
                            <p:stCondLst>
                              <p:cond delay="9250"/>
                            </p:stCondLst>
                            <p:childTnLst>
                              <p:par>
                                <p:cTn id="125" presetID="26" presetClass="emph" presetSubtype="0" fill="hold" grpId="1" nodeType="afterEffect">
                                  <p:stCondLst>
                                    <p:cond delay="500"/>
                                  </p:stCondLst>
                                  <p:childTnLst>
                                    <p:animEffect transition="out" filter="fade">
                                      <p:cBhvr>
                                        <p:cTn id="126" dur="500" tmFilter="0, 0; .2, .5; .8, .5; 1, 0"/>
                                        <p:tgtEl>
                                          <p:spTgt spid="154"/>
                                        </p:tgtEl>
                                      </p:cBhvr>
                                    </p:animEffect>
                                    <p:animScale>
                                      <p:cBhvr>
                                        <p:cTn id="127" dur="250" autoRev="1" fill="hold"/>
                                        <p:tgtEl>
                                          <p:spTgt spid="154"/>
                                        </p:tgtEl>
                                      </p:cBhvr>
                                      <p:by x="105000" y="105000"/>
                                    </p:animScale>
                                  </p:childTnLst>
                                </p:cTn>
                              </p:par>
                            </p:childTnLst>
                          </p:cTn>
                        </p:par>
                        <p:par>
                          <p:cTn id="128" fill="hold">
                            <p:stCondLst>
                              <p:cond delay="10250"/>
                            </p:stCondLst>
                            <p:childTnLst>
                              <p:par>
                                <p:cTn id="129" presetID="10" presetClass="entr" presetSubtype="0" fill="hold" grpId="0" nodeType="afterEffect">
                                  <p:stCondLst>
                                    <p:cond delay="500"/>
                                  </p:stCondLst>
                                  <p:childTnLst>
                                    <p:set>
                                      <p:cBhvr>
                                        <p:cTn id="130" dur="1" fill="hold">
                                          <p:stCondLst>
                                            <p:cond delay="0"/>
                                          </p:stCondLst>
                                        </p:cTn>
                                        <p:tgtEl>
                                          <p:spTgt spid="155"/>
                                        </p:tgtEl>
                                        <p:attrNameLst>
                                          <p:attrName>style.visibility</p:attrName>
                                        </p:attrNameLst>
                                      </p:cBhvr>
                                      <p:to>
                                        <p:strVal val="visible"/>
                                      </p:to>
                                    </p:set>
                                    <p:animEffect transition="in" filter="fade">
                                      <p:cBhvr>
                                        <p:cTn id="131" dur="500"/>
                                        <p:tgtEl>
                                          <p:spTgt spid="155"/>
                                        </p:tgtEl>
                                      </p:cBhvr>
                                    </p:animEffect>
                                  </p:childTnLst>
                                </p:cTn>
                              </p:par>
                              <p:par>
                                <p:cTn id="132" presetID="16" presetClass="entr" presetSubtype="37" fill="hold" nodeType="withEffect">
                                  <p:stCondLst>
                                    <p:cond delay="500"/>
                                  </p:stCondLst>
                                  <p:childTnLst>
                                    <p:set>
                                      <p:cBhvr>
                                        <p:cTn id="133" dur="1" fill="hold">
                                          <p:stCondLst>
                                            <p:cond delay="0"/>
                                          </p:stCondLst>
                                        </p:cTn>
                                        <p:tgtEl>
                                          <p:spTgt spid="159"/>
                                        </p:tgtEl>
                                        <p:attrNameLst>
                                          <p:attrName>style.visibility</p:attrName>
                                        </p:attrNameLst>
                                      </p:cBhvr>
                                      <p:to>
                                        <p:strVal val="visible"/>
                                      </p:to>
                                    </p:set>
                                    <p:animEffect transition="in" filter="barn(outVertical)">
                                      <p:cBhvr>
                                        <p:cTn id="134" dur="500"/>
                                        <p:tgtEl>
                                          <p:spTgt spid="159"/>
                                        </p:tgtEl>
                                      </p:cBhvr>
                                    </p:animEffect>
                                  </p:childTnLst>
                                </p:cTn>
                              </p:par>
                            </p:childTnLst>
                          </p:cTn>
                        </p:par>
                        <p:par>
                          <p:cTn id="135" fill="hold">
                            <p:stCondLst>
                              <p:cond delay="11250"/>
                            </p:stCondLst>
                            <p:childTnLst>
                              <p:par>
                                <p:cTn id="136" presetID="10" presetClass="entr" presetSubtype="0" fill="hold" grpId="0" nodeType="afterEffect">
                                  <p:stCondLst>
                                    <p:cond delay="0"/>
                                  </p:stCondLst>
                                  <p:childTnLst>
                                    <p:set>
                                      <p:cBhvr>
                                        <p:cTn id="137" dur="1" fill="hold">
                                          <p:stCondLst>
                                            <p:cond delay="0"/>
                                          </p:stCondLst>
                                        </p:cTn>
                                        <p:tgtEl>
                                          <p:spTgt spid="165"/>
                                        </p:tgtEl>
                                        <p:attrNameLst>
                                          <p:attrName>style.visibility</p:attrName>
                                        </p:attrNameLst>
                                      </p:cBhvr>
                                      <p:to>
                                        <p:strVal val="visible"/>
                                      </p:to>
                                    </p:set>
                                    <p:animEffect transition="in" filter="fade">
                                      <p:cBhvr>
                                        <p:cTn id="138" dur="500"/>
                                        <p:tgtEl>
                                          <p:spTgt spid="165"/>
                                        </p:tgtEl>
                                      </p:cBhvr>
                                    </p:animEffect>
                                  </p:childTnLst>
                                </p:cTn>
                              </p:par>
                            </p:childTnLst>
                          </p:cTn>
                        </p:par>
                        <p:par>
                          <p:cTn id="139" fill="hold">
                            <p:stCondLst>
                              <p:cond delay="11750"/>
                            </p:stCondLst>
                            <p:childTnLst>
                              <p:par>
                                <p:cTn id="140" presetID="26" presetClass="emph" presetSubtype="0" fill="hold" grpId="1" nodeType="afterEffect">
                                  <p:stCondLst>
                                    <p:cond delay="500"/>
                                  </p:stCondLst>
                                  <p:childTnLst>
                                    <p:animEffect transition="out" filter="fade">
                                      <p:cBhvr>
                                        <p:cTn id="141" dur="500" tmFilter="0, 0; .2, .5; .8, .5; 1, 0"/>
                                        <p:tgtEl>
                                          <p:spTgt spid="155"/>
                                        </p:tgtEl>
                                      </p:cBhvr>
                                    </p:animEffect>
                                    <p:animScale>
                                      <p:cBhvr>
                                        <p:cTn id="142" dur="250" autoRev="1" fill="hold"/>
                                        <p:tgtEl>
                                          <p:spTgt spid="155"/>
                                        </p:tgtEl>
                                      </p:cBhvr>
                                      <p:by x="105000" y="105000"/>
                                    </p:animScale>
                                  </p:childTnLst>
                                </p:cTn>
                              </p:par>
                            </p:childTnLst>
                          </p:cTn>
                        </p:par>
                        <p:par>
                          <p:cTn id="143" fill="hold">
                            <p:stCondLst>
                              <p:cond delay="12750"/>
                            </p:stCondLst>
                            <p:childTnLst>
                              <p:par>
                                <p:cTn id="144" presetID="10" presetClass="entr" presetSubtype="0" fill="hold" grpId="0" nodeType="afterEffect">
                                  <p:stCondLst>
                                    <p:cond delay="500"/>
                                  </p:stCondLst>
                                  <p:childTnLst>
                                    <p:set>
                                      <p:cBhvr>
                                        <p:cTn id="145" dur="1" fill="hold">
                                          <p:stCondLst>
                                            <p:cond delay="0"/>
                                          </p:stCondLst>
                                        </p:cTn>
                                        <p:tgtEl>
                                          <p:spTgt spid="156"/>
                                        </p:tgtEl>
                                        <p:attrNameLst>
                                          <p:attrName>style.visibility</p:attrName>
                                        </p:attrNameLst>
                                      </p:cBhvr>
                                      <p:to>
                                        <p:strVal val="visible"/>
                                      </p:to>
                                    </p:set>
                                    <p:animEffect transition="in" filter="fade">
                                      <p:cBhvr>
                                        <p:cTn id="146" dur="500"/>
                                        <p:tgtEl>
                                          <p:spTgt spid="156"/>
                                        </p:tgtEl>
                                      </p:cBhvr>
                                    </p:animEffect>
                                  </p:childTnLst>
                                </p:cTn>
                              </p:par>
                              <p:par>
                                <p:cTn id="147" presetID="16" presetClass="entr" presetSubtype="37" fill="hold" nodeType="withEffect">
                                  <p:stCondLst>
                                    <p:cond delay="500"/>
                                  </p:stCondLst>
                                  <p:childTnLst>
                                    <p:set>
                                      <p:cBhvr>
                                        <p:cTn id="148" dur="1" fill="hold">
                                          <p:stCondLst>
                                            <p:cond delay="0"/>
                                          </p:stCondLst>
                                        </p:cTn>
                                        <p:tgtEl>
                                          <p:spTgt spid="162"/>
                                        </p:tgtEl>
                                        <p:attrNameLst>
                                          <p:attrName>style.visibility</p:attrName>
                                        </p:attrNameLst>
                                      </p:cBhvr>
                                      <p:to>
                                        <p:strVal val="visible"/>
                                      </p:to>
                                    </p:set>
                                    <p:animEffect transition="in" filter="barn(outVertical)">
                                      <p:cBhvr>
                                        <p:cTn id="149" dur="500"/>
                                        <p:tgtEl>
                                          <p:spTgt spid="162"/>
                                        </p:tgtEl>
                                      </p:cBhvr>
                                    </p:animEffect>
                                  </p:childTnLst>
                                </p:cTn>
                              </p:par>
                            </p:childTnLst>
                          </p:cTn>
                        </p:par>
                        <p:par>
                          <p:cTn id="150" fill="hold">
                            <p:stCondLst>
                              <p:cond delay="13750"/>
                            </p:stCondLst>
                            <p:childTnLst>
                              <p:par>
                                <p:cTn id="151" presetID="10" presetClass="entr" presetSubtype="0" fill="hold" grpId="0" nodeType="afterEffect">
                                  <p:stCondLst>
                                    <p:cond delay="0"/>
                                  </p:stCondLst>
                                  <p:childTnLst>
                                    <p:set>
                                      <p:cBhvr>
                                        <p:cTn id="152" dur="1" fill="hold">
                                          <p:stCondLst>
                                            <p:cond delay="0"/>
                                          </p:stCondLst>
                                        </p:cTn>
                                        <p:tgtEl>
                                          <p:spTgt spid="164"/>
                                        </p:tgtEl>
                                        <p:attrNameLst>
                                          <p:attrName>style.visibility</p:attrName>
                                        </p:attrNameLst>
                                      </p:cBhvr>
                                      <p:to>
                                        <p:strVal val="visible"/>
                                      </p:to>
                                    </p:set>
                                    <p:animEffect transition="in" filter="fade">
                                      <p:cBhvr>
                                        <p:cTn id="153" dur="500"/>
                                        <p:tgtEl>
                                          <p:spTgt spid="164"/>
                                        </p:tgtEl>
                                      </p:cBhvr>
                                    </p:animEffect>
                                  </p:childTnLst>
                                </p:cTn>
                              </p:par>
                            </p:childTnLst>
                          </p:cTn>
                        </p:par>
                        <p:par>
                          <p:cTn id="154" fill="hold">
                            <p:stCondLst>
                              <p:cond delay="14250"/>
                            </p:stCondLst>
                            <p:childTnLst>
                              <p:par>
                                <p:cTn id="155" presetID="26" presetClass="emph" presetSubtype="0" repeatCount="indefinite" fill="hold" grpId="1" nodeType="afterEffect">
                                  <p:stCondLst>
                                    <p:cond delay="500"/>
                                  </p:stCondLst>
                                  <p:childTnLst>
                                    <p:animEffect transition="out" filter="fade">
                                      <p:cBhvr>
                                        <p:cTn id="156" dur="500" tmFilter="0, 0; .2, .5; .8, .5; 1, 0"/>
                                        <p:tgtEl>
                                          <p:spTgt spid="156"/>
                                        </p:tgtEl>
                                      </p:cBhvr>
                                    </p:animEffect>
                                    <p:animScale>
                                      <p:cBhvr>
                                        <p:cTn id="157" dur="250" autoRev="1" fill="hold"/>
                                        <p:tgtEl>
                                          <p:spTgt spid="15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6" grpId="0" animBg="1"/>
      <p:bldP spid="42" grpId="0" animBg="1"/>
      <p:bldP spid="43" grpId="0"/>
      <p:bldP spid="44" grpId="0" animBg="1"/>
      <p:bldP spid="45" grpId="0" animBg="1"/>
      <p:bldP spid="50" grpId="0" animBg="1"/>
      <p:bldP spid="55" grpId="0" animBg="1"/>
      <p:bldP spid="60" grpId="0"/>
      <p:bldP spid="61" grpId="0"/>
      <p:bldP spid="62" grpId="0"/>
      <p:bldP spid="78" grpId="0"/>
      <p:bldP spid="79" grpId="0"/>
      <p:bldP spid="132" grpId="0"/>
      <p:bldP spid="133" grpId="0" animBg="1"/>
      <p:bldP spid="154" grpId="0"/>
      <p:bldP spid="154" grpId="1"/>
      <p:bldP spid="155" grpId="0"/>
      <p:bldP spid="155" grpId="1"/>
      <p:bldP spid="156" grpId="0"/>
      <p:bldP spid="156" grpId="1"/>
      <p:bldP spid="164" grpId="0"/>
      <p:bldP spid="165" grpId="0"/>
      <p:bldP spid="16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68979-7262-7D6E-2FDD-3F7E2602F2D2}"/>
              </a:ext>
            </a:extLst>
          </p:cNvPr>
          <p:cNvSpPr>
            <a:spLocks noGrp="1"/>
          </p:cNvSpPr>
          <p:nvPr>
            <p:ph type="title"/>
          </p:nvPr>
        </p:nvSpPr>
        <p:spPr/>
        <p:txBody>
          <a:bodyPr/>
          <a:lstStyle/>
          <a:p>
            <a:r>
              <a:rPr lang="en-US"/>
              <a:t>Do More with What You Already Have to Reduce TCO</a:t>
            </a:r>
          </a:p>
        </p:txBody>
      </p:sp>
      <p:sp>
        <p:nvSpPr>
          <p:cNvPr id="3" name="Subtitle 2">
            <a:extLst>
              <a:ext uri="{FF2B5EF4-FFF2-40B4-BE49-F238E27FC236}">
                <a16:creationId xmlns:a16="http://schemas.microsoft.com/office/drawing/2014/main" id="{22FA4BE1-D1A3-1A82-E20F-DE30BEB46F14}"/>
              </a:ext>
            </a:extLst>
          </p:cNvPr>
          <p:cNvSpPr>
            <a:spLocks noGrp="1"/>
          </p:cNvSpPr>
          <p:nvPr>
            <p:ph type="subTitle" idx="10"/>
          </p:nvPr>
        </p:nvSpPr>
        <p:spPr/>
        <p:txBody>
          <a:bodyPr/>
          <a:lstStyle/>
          <a:p>
            <a:r>
              <a:rPr lang="en-US" dirty="0"/>
              <a:t>Rapid innovation with vSAN Express Storage Architecture™</a:t>
            </a:r>
          </a:p>
          <a:p>
            <a:endParaRPr lang="en-US" dirty="0"/>
          </a:p>
        </p:txBody>
      </p:sp>
      <p:grpSp>
        <p:nvGrpSpPr>
          <p:cNvPr id="178" name="Group 177">
            <a:extLst>
              <a:ext uri="{FF2B5EF4-FFF2-40B4-BE49-F238E27FC236}">
                <a16:creationId xmlns:a16="http://schemas.microsoft.com/office/drawing/2014/main" id="{9356D610-EE5F-1481-85C2-813D1414D855}"/>
              </a:ext>
            </a:extLst>
          </p:cNvPr>
          <p:cNvGrpSpPr/>
          <p:nvPr/>
        </p:nvGrpSpPr>
        <p:grpSpPr>
          <a:xfrm>
            <a:off x="616505" y="1600201"/>
            <a:ext cx="5334000" cy="377904"/>
            <a:chOff x="616505" y="2198581"/>
            <a:chExt cx="5334000" cy="377904"/>
          </a:xfrm>
        </p:grpSpPr>
        <p:sp>
          <p:nvSpPr>
            <p:cNvPr id="92" name="Isosceles Triangle 166">
              <a:extLst>
                <a:ext uri="{FF2B5EF4-FFF2-40B4-BE49-F238E27FC236}">
                  <a16:creationId xmlns:a16="http://schemas.microsoft.com/office/drawing/2014/main" id="{EFBAA09C-8282-CDC0-7554-5513B1C2E012}"/>
                </a:ext>
              </a:extLst>
            </p:cNvPr>
            <p:cNvSpPr/>
            <p:nvPr/>
          </p:nvSpPr>
          <p:spPr>
            <a:xfrm>
              <a:off x="616505" y="2201812"/>
              <a:ext cx="670560" cy="374673"/>
            </a:xfrm>
            <a:prstGeom prst="triangle">
              <a:avLst/>
            </a:prstGeom>
            <a:solidFill>
              <a:schemeClr val="accent4">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93" name="Rectangle 92">
              <a:extLst>
                <a:ext uri="{FF2B5EF4-FFF2-40B4-BE49-F238E27FC236}">
                  <a16:creationId xmlns:a16="http://schemas.microsoft.com/office/drawing/2014/main" id="{9D5D8523-2D36-49FC-8AFE-B797D28128E9}"/>
                </a:ext>
              </a:extLst>
            </p:cNvPr>
            <p:cNvSpPr/>
            <p:nvPr/>
          </p:nvSpPr>
          <p:spPr>
            <a:xfrm>
              <a:off x="951785" y="2198581"/>
              <a:ext cx="4661616" cy="377904"/>
            </a:xfrm>
            <a:prstGeom prst="rect">
              <a:avLst/>
            </a:prstGeom>
            <a:solidFill>
              <a:schemeClr val="accent4">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chemeClr val="bg1"/>
                  </a:solidFill>
                </a:rPr>
                <a:t>Greater Performance &amp; Scalability</a:t>
              </a:r>
            </a:p>
          </p:txBody>
        </p:sp>
        <p:sp>
          <p:nvSpPr>
            <p:cNvPr id="94" name="Isosceles Triangle 166">
              <a:extLst>
                <a:ext uri="{FF2B5EF4-FFF2-40B4-BE49-F238E27FC236}">
                  <a16:creationId xmlns:a16="http://schemas.microsoft.com/office/drawing/2014/main" id="{FD0C40B2-E910-1047-C269-48059A75317A}"/>
                </a:ext>
              </a:extLst>
            </p:cNvPr>
            <p:cNvSpPr/>
            <p:nvPr/>
          </p:nvSpPr>
          <p:spPr>
            <a:xfrm rot="10800000">
              <a:off x="5279945" y="2198581"/>
              <a:ext cx="670560" cy="374673"/>
            </a:xfrm>
            <a:prstGeom prst="triangle">
              <a:avLst/>
            </a:prstGeom>
            <a:solidFill>
              <a:schemeClr val="accent4">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nvGrpSpPr>
            <p:cNvPr id="95" name="Picture Placeholder 88" descr="Usage Meter&#10;">
              <a:extLst>
                <a:ext uri="{FF2B5EF4-FFF2-40B4-BE49-F238E27FC236}">
                  <a16:creationId xmlns:a16="http://schemas.microsoft.com/office/drawing/2014/main" id="{670A9E2F-7A1E-FDFD-B378-0243F216FCE1}"/>
                </a:ext>
              </a:extLst>
            </p:cNvPr>
            <p:cNvGrpSpPr/>
            <p:nvPr/>
          </p:nvGrpSpPr>
          <p:grpSpPr>
            <a:xfrm>
              <a:off x="1278611" y="2252003"/>
              <a:ext cx="291764" cy="271061"/>
              <a:chOff x="5804281" y="1956979"/>
              <a:chExt cx="600204" cy="557616"/>
            </a:xfrm>
            <a:solidFill>
              <a:schemeClr val="bg1"/>
            </a:solidFill>
          </p:grpSpPr>
          <p:grpSp>
            <p:nvGrpSpPr>
              <p:cNvPr id="96" name="Picture Placeholder 88">
                <a:extLst>
                  <a:ext uri="{FF2B5EF4-FFF2-40B4-BE49-F238E27FC236}">
                    <a16:creationId xmlns:a16="http://schemas.microsoft.com/office/drawing/2014/main" id="{17DC3293-A111-E3C1-F31F-E00B1E4B953D}"/>
                  </a:ext>
                </a:extLst>
              </p:cNvPr>
              <p:cNvGrpSpPr/>
              <p:nvPr/>
            </p:nvGrpSpPr>
            <p:grpSpPr>
              <a:xfrm>
                <a:off x="5844126" y="1956979"/>
                <a:ext cx="529369" cy="266106"/>
                <a:chOff x="5844126" y="1956979"/>
                <a:chExt cx="529369" cy="266106"/>
              </a:xfrm>
              <a:grpFill/>
            </p:grpSpPr>
            <p:sp>
              <p:nvSpPr>
                <p:cNvPr id="111" name="Picture Placeholder 88">
                  <a:extLst>
                    <a:ext uri="{FF2B5EF4-FFF2-40B4-BE49-F238E27FC236}">
                      <a16:creationId xmlns:a16="http://schemas.microsoft.com/office/drawing/2014/main" id="{60C510A9-CAAF-1613-ECEF-ADE23D7FECFB}"/>
                    </a:ext>
                  </a:extLst>
                </p:cNvPr>
                <p:cNvSpPr/>
                <p:nvPr/>
              </p:nvSpPr>
              <p:spPr>
                <a:xfrm>
                  <a:off x="5844126" y="1956979"/>
                  <a:ext cx="529369" cy="265553"/>
                </a:xfrm>
                <a:custGeom>
                  <a:avLst/>
                  <a:gdLst>
                    <a:gd name="connsiteX0" fmla="*/ 529369 w 529369"/>
                    <a:gd name="connsiteY0" fmla="*/ 265553 h 265553"/>
                    <a:gd name="connsiteX1" fmla="*/ 513558 w 529369"/>
                    <a:gd name="connsiteY1" fmla="*/ 265553 h 265553"/>
                    <a:gd name="connsiteX2" fmla="*/ 264368 w 529369"/>
                    <a:gd name="connsiteY2" fmla="*/ 15844 h 265553"/>
                    <a:gd name="connsiteX3" fmla="*/ 15812 w 529369"/>
                    <a:gd name="connsiteY3" fmla="*/ 265553 h 265553"/>
                    <a:gd name="connsiteX4" fmla="*/ 0 w 529369"/>
                    <a:gd name="connsiteY4" fmla="*/ 265553 h 265553"/>
                    <a:gd name="connsiteX5" fmla="*/ 265001 w 529369"/>
                    <a:gd name="connsiteY5" fmla="*/ 0 h 265553"/>
                    <a:gd name="connsiteX6" fmla="*/ 529369 w 529369"/>
                    <a:gd name="connsiteY6" fmla="*/ 265553 h 265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9369" h="265553">
                      <a:moveTo>
                        <a:pt x="529369" y="265553"/>
                      </a:moveTo>
                      <a:lnTo>
                        <a:pt x="513558" y="265553"/>
                      </a:lnTo>
                      <a:cubicBezTo>
                        <a:pt x="513558" y="128023"/>
                        <a:pt x="401612" y="15844"/>
                        <a:pt x="264368" y="15844"/>
                      </a:cubicBezTo>
                      <a:cubicBezTo>
                        <a:pt x="127124" y="15844"/>
                        <a:pt x="15812" y="128023"/>
                        <a:pt x="15812" y="265553"/>
                      </a:cubicBezTo>
                      <a:lnTo>
                        <a:pt x="0" y="265553"/>
                      </a:lnTo>
                      <a:cubicBezTo>
                        <a:pt x="0" y="119150"/>
                        <a:pt x="118902" y="0"/>
                        <a:pt x="265001" y="0"/>
                      </a:cubicBezTo>
                      <a:cubicBezTo>
                        <a:pt x="411099" y="0"/>
                        <a:pt x="529369" y="119150"/>
                        <a:pt x="529369" y="265553"/>
                      </a:cubicBezTo>
                      <a:close/>
                    </a:path>
                  </a:pathLst>
                </a:custGeom>
                <a:grpFill/>
                <a:ln w="6271" cap="flat">
                  <a:noFill/>
                  <a:prstDash val="solid"/>
                  <a:miter/>
                </a:ln>
              </p:spPr>
              <p:txBody>
                <a:bodyPr rtlCol="0" anchor="ctr"/>
                <a:lstStyle/>
                <a:p>
                  <a:endParaRPr lang="en-US"/>
                </a:p>
              </p:txBody>
            </p:sp>
            <p:grpSp>
              <p:nvGrpSpPr>
                <p:cNvPr id="112" name="Picture Placeholder 88">
                  <a:extLst>
                    <a:ext uri="{FF2B5EF4-FFF2-40B4-BE49-F238E27FC236}">
                      <a16:creationId xmlns:a16="http://schemas.microsoft.com/office/drawing/2014/main" id="{678F4273-B859-2443-0353-A59E0336EF94}"/>
                    </a:ext>
                  </a:extLst>
                </p:cNvPr>
                <p:cNvGrpSpPr/>
                <p:nvPr/>
              </p:nvGrpSpPr>
              <p:grpSpPr>
                <a:xfrm>
                  <a:off x="6043229" y="1993617"/>
                  <a:ext cx="17318" cy="31876"/>
                  <a:chOff x="6043229" y="1993617"/>
                  <a:chExt cx="17318" cy="31876"/>
                </a:xfrm>
                <a:grpFill/>
              </p:grpSpPr>
              <p:sp>
                <p:nvSpPr>
                  <p:cNvPr id="130" name="Picture Placeholder 88">
                    <a:extLst>
                      <a:ext uri="{FF2B5EF4-FFF2-40B4-BE49-F238E27FC236}">
                        <a16:creationId xmlns:a16="http://schemas.microsoft.com/office/drawing/2014/main" id="{8907024C-43B3-7F86-E608-9B62891556F4}"/>
                      </a:ext>
                    </a:extLst>
                  </p:cNvPr>
                  <p:cNvSpPr/>
                  <p:nvPr/>
                </p:nvSpPr>
                <p:spPr>
                  <a:xfrm>
                    <a:off x="6049675" y="1999442"/>
                    <a:ext cx="5059" cy="19647"/>
                  </a:xfrm>
                  <a:custGeom>
                    <a:avLst/>
                    <a:gdLst>
                      <a:gd name="connsiteX0" fmla="*/ 0 w 5059"/>
                      <a:gd name="connsiteY0" fmla="*/ 0 h 19647"/>
                      <a:gd name="connsiteX1" fmla="*/ 5060 w 5059"/>
                      <a:gd name="connsiteY1" fmla="*/ 19647 h 19647"/>
                    </a:gdLst>
                    <a:ahLst/>
                    <a:cxnLst>
                      <a:cxn ang="0">
                        <a:pos x="connsiteX0" y="connsiteY0"/>
                      </a:cxn>
                      <a:cxn ang="0">
                        <a:pos x="connsiteX1" y="connsiteY1"/>
                      </a:cxn>
                    </a:cxnLst>
                    <a:rect l="l" t="t" r="r" b="b"/>
                    <a:pathLst>
                      <a:path w="5059" h="19647">
                        <a:moveTo>
                          <a:pt x="0" y="0"/>
                        </a:moveTo>
                        <a:lnTo>
                          <a:pt x="5060" y="19647"/>
                        </a:lnTo>
                      </a:path>
                    </a:pathLst>
                  </a:custGeom>
                  <a:grpFill/>
                  <a:ln w="6271" cap="flat">
                    <a:noFill/>
                    <a:prstDash val="solid"/>
                    <a:miter/>
                  </a:ln>
                </p:spPr>
                <p:txBody>
                  <a:bodyPr rtlCol="0" anchor="ctr"/>
                  <a:lstStyle/>
                  <a:p>
                    <a:endParaRPr lang="en-US"/>
                  </a:p>
                </p:txBody>
              </p:sp>
              <p:sp>
                <p:nvSpPr>
                  <p:cNvPr id="131" name="Picture Placeholder 88">
                    <a:extLst>
                      <a:ext uri="{FF2B5EF4-FFF2-40B4-BE49-F238E27FC236}">
                        <a16:creationId xmlns:a16="http://schemas.microsoft.com/office/drawing/2014/main" id="{33C44E27-589C-46B1-BD38-9D852348C8A3}"/>
                      </a:ext>
                    </a:extLst>
                  </p:cNvPr>
                  <p:cNvSpPr/>
                  <p:nvPr/>
                </p:nvSpPr>
                <p:spPr>
                  <a:xfrm>
                    <a:off x="6043229" y="1993617"/>
                    <a:ext cx="17318" cy="31810"/>
                  </a:xfrm>
                  <a:custGeom>
                    <a:avLst/>
                    <a:gdLst>
                      <a:gd name="connsiteX0" fmla="*/ 11505 w 17318"/>
                      <a:gd name="connsiteY0" fmla="*/ 31810 h 31810"/>
                      <a:gd name="connsiteX1" fmla="*/ 5181 w 17318"/>
                      <a:gd name="connsiteY1" fmla="*/ 27374 h 31810"/>
                      <a:gd name="connsiteX2" fmla="*/ 121 w 17318"/>
                      <a:gd name="connsiteY2" fmla="*/ 7727 h 31810"/>
                      <a:gd name="connsiteX3" fmla="*/ 4548 w 17318"/>
                      <a:gd name="connsiteY3" fmla="*/ 121 h 31810"/>
                      <a:gd name="connsiteX4" fmla="*/ 12138 w 17318"/>
                      <a:gd name="connsiteY4" fmla="*/ 4558 h 31810"/>
                      <a:gd name="connsiteX5" fmla="*/ 17198 w 17318"/>
                      <a:gd name="connsiteY5" fmla="*/ 24205 h 31810"/>
                      <a:gd name="connsiteX6" fmla="*/ 12770 w 17318"/>
                      <a:gd name="connsiteY6" fmla="*/ 31810 h 31810"/>
                      <a:gd name="connsiteX7" fmla="*/ 11505 w 17318"/>
                      <a:gd name="connsiteY7" fmla="*/ 31810 h 3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18" h="31810">
                        <a:moveTo>
                          <a:pt x="11505" y="31810"/>
                        </a:moveTo>
                        <a:cubicBezTo>
                          <a:pt x="8976" y="31810"/>
                          <a:pt x="6446" y="29909"/>
                          <a:pt x="5181" y="27374"/>
                        </a:cubicBezTo>
                        <a:lnTo>
                          <a:pt x="121" y="7727"/>
                        </a:lnTo>
                        <a:cubicBezTo>
                          <a:pt x="-511" y="4558"/>
                          <a:pt x="1386" y="755"/>
                          <a:pt x="4548" y="121"/>
                        </a:cubicBezTo>
                        <a:cubicBezTo>
                          <a:pt x="7711" y="-512"/>
                          <a:pt x="11505" y="1389"/>
                          <a:pt x="12138" y="4558"/>
                        </a:cubicBezTo>
                        <a:lnTo>
                          <a:pt x="17198" y="24205"/>
                        </a:lnTo>
                        <a:cubicBezTo>
                          <a:pt x="17830" y="27374"/>
                          <a:pt x="15933" y="31177"/>
                          <a:pt x="12770" y="31810"/>
                        </a:cubicBezTo>
                        <a:cubicBezTo>
                          <a:pt x="12770" y="31810"/>
                          <a:pt x="12138" y="31810"/>
                          <a:pt x="11505" y="31810"/>
                        </a:cubicBezTo>
                        <a:close/>
                      </a:path>
                    </a:pathLst>
                  </a:custGeom>
                  <a:grpFill/>
                  <a:ln w="6271" cap="flat">
                    <a:noFill/>
                    <a:prstDash val="solid"/>
                    <a:miter/>
                  </a:ln>
                </p:spPr>
                <p:txBody>
                  <a:bodyPr rtlCol="0" anchor="ctr"/>
                  <a:lstStyle/>
                  <a:p>
                    <a:endParaRPr lang="en-US"/>
                  </a:p>
                </p:txBody>
              </p:sp>
            </p:grpSp>
            <p:grpSp>
              <p:nvGrpSpPr>
                <p:cNvPr id="113" name="Picture Placeholder 88">
                  <a:extLst>
                    <a:ext uri="{FF2B5EF4-FFF2-40B4-BE49-F238E27FC236}">
                      <a16:creationId xmlns:a16="http://schemas.microsoft.com/office/drawing/2014/main" id="{E9C72A25-DE5D-AB05-2CF0-81DBC74A5D0E}"/>
                    </a:ext>
                  </a:extLst>
                </p:cNvPr>
                <p:cNvGrpSpPr/>
                <p:nvPr/>
              </p:nvGrpSpPr>
              <p:grpSpPr>
                <a:xfrm>
                  <a:off x="5942789" y="2050145"/>
                  <a:ext cx="27195" cy="27308"/>
                  <a:chOff x="5942789" y="2050145"/>
                  <a:chExt cx="27195" cy="27308"/>
                </a:xfrm>
                <a:grpFill/>
              </p:grpSpPr>
              <p:sp>
                <p:nvSpPr>
                  <p:cNvPr id="128" name="Picture Placeholder 88">
                    <a:extLst>
                      <a:ext uri="{FF2B5EF4-FFF2-40B4-BE49-F238E27FC236}">
                        <a16:creationId xmlns:a16="http://schemas.microsoft.com/office/drawing/2014/main" id="{533C975D-7DF7-BD5A-20A1-DBC52A50AA1F}"/>
                      </a:ext>
                    </a:extLst>
                  </p:cNvPr>
                  <p:cNvSpPr/>
                  <p:nvPr/>
                </p:nvSpPr>
                <p:spPr>
                  <a:xfrm>
                    <a:off x="5949114" y="2056483"/>
                    <a:ext cx="14546" cy="14576"/>
                  </a:xfrm>
                  <a:custGeom>
                    <a:avLst/>
                    <a:gdLst>
                      <a:gd name="connsiteX0" fmla="*/ 0 w 14546"/>
                      <a:gd name="connsiteY0" fmla="*/ 0 h 14576"/>
                      <a:gd name="connsiteX1" fmla="*/ 14547 w 14546"/>
                      <a:gd name="connsiteY1" fmla="*/ 14577 h 14576"/>
                    </a:gdLst>
                    <a:ahLst/>
                    <a:cxnLst>
                      <a:cxn ang="0">
                        <a:pos x="connsiteX0" y="connsiteY0"/>
                      </a:cxn>
                      <a:cxn ang="0">
                        <a:pos x="connsiteX1" y="connsiteY1"/>
                      </a:cxn>
                    </a:cxnLst>
                    <a:rect l="l" t="t" r="r" b="b"/>
                    <a:pathLst>
                      <a:path w="14546" h="14576">
                        <a:moveTo>
                          <a:pt x="0" y="0"/>
                        </a:moveTo>
                        <a:lnTo>
                          <a:pt x="14547" y="14577"/>
                        </a:lnTo>
                      </a:path>
                    </a:pathLst>
                  </a:custGeom>
                  <a:grpFill/>
                  <a:ln w="6271" cap="flat">
                    <a:noFill/>
                    <a:prstDash val="solid"/>
                    <a:miter/>
                  </a:ln>
                </p:spPr>
                <p:txBody>
                  <a:bodyPr rtlCol="0" anchor="ctr"/>
                  <a:lstStyle/>
                  <a:p>
                    <a:endParaRPr lang="en-US"/>
                  </a:p>
                </p:txBody>
              </p:sp>
              <p:sp>
                <p:nvSpPr>
                  <p:cNvPr id="129" name="Picture Placeholder 88">
                    <a:extLst>
                      <a:ext uri="{FF2B5EF4-FFF2-40B4-BE49-F238E27FC236}">
                        <a16:creationId xmlns:a16="http://schemas.microsoft.com/office/drawing/2014/main" id="{9D0FB3B4-82AB-64E5-9CEF-B7D233E487BC}"/>
                      </a:ext>
                    </a:extLst>
                  </p:cNvPr>
                  <p:cNvSpPr/>
                  <p:nvPr/>
                </p:nvSpPr>
                <p:spPr>
                  <a:xfrm>
                    <a:off x="5942789" y="2050145"/>
                    <a:ext cx="27195" cy="27252"/>
                  </a:xfrm>
                  <a:custGeom>
                    <a:avLst/>
                    <a:gdLst>
                      <a:gd name="connsiteX0" fmla="*/ 20871 w 27195"/>
                      <a:gd name="connsiteY0" fmla="*/ 27252 h 27252"/>
                      <a:gd name="connsiteX1" fmla="*/ 16444 w 27195"/>
                      <a:gd name="connsiteY1" fmla="*/ 25351 h 27252"/>
                      <a:gd name="connsiteX2" fmla="*/ 1897 w 27195"/>
                      <a:gd name="connsiteY2" fmla="*/ 10774 h 27252"/>
                      <a:gd name="connsiteX3" fmla="*/ 1897 w 27195"/>
                      <a:gd name="connsiteY3" fmla="*/ 1901 h 27252"/>
                      <a:gd name="connsiteX4" fmla="*/ 10752 w 27195"/>
                      <a:gd name="connsiteY4" fmla="*/ 1901 h 27252"/>
                      <a:gd name="connsiteX5" fmla="*/ 25298 w 27195"/>
                      <a:gd name="connsiteY5" fmla="*/ 16478 h 27252"/>
                      <a:gd name="connsiteX6" fmla="*/ 25298 w 27195"/>
                      <a:gd name="connsiteY6" fmla="*/ 25351 h 27252"/>
                      <a:gd name="connsiteX7" fmla="*/ 20871 w 27195"/>
                      <a:gd name="connsiteY7" fmla="*/ 27252 h 27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195" h="27252">
                        <a:moveTo>
                          <a:pt x="20871" y="27252"/>
                        </a:moveTo>
                        <a:cubicBezTo>
                          <a:pt x="18974" y="27252"/>
                          <a:pt x="17709" y="26619"/>
                          <a:pt x="16444" y="25351"/>
                        </a:cubicBezTo>
                        <a:lnTo>
                          <a:pt x="1897" y="10774"/>
                        </a:lnTo>
                        <a:cubicBezTo>
                          <a:pt x="-632" y="8239"/>
                          <a:pt x="-632" y="4436"/>
                          <a:pt x="1897" y="1901"/>
                        </a:cubicBezTo>
                        <a:cubicBezTo>
                          <a:pt x="4427" y="-634"/>
                          <a:pt x="8222" y="-634"/>
                          <a:pt x="10752" y="1901"/>
                        </a:cubicBezTo>
                        <a:lnTo>
                          <a:pt x="25298" y="16478"/>
                        </a:lnTo>
                        <a:cubicBezTo>
                          <a:pt x="27828" y="19013"/>
                          <a:pt x="27828" y="22816"/>
                          <a:pt x="25298" y="25351"/>
                        </a:cubicBezTo>
                        <a:cubicBezTo>
                          <a:pt x="24033" y="26619"/>
                          <a:pt x="22136" y="27252"/>
                          <a:pt x="20871" y="27252"/>
                        </a:cubicBezTo>
                        <a:close/>
                      </a:path>
                    </a:pathLst>
                  </a:custGeom>
                  <a:grpFill/>
                  <a:ln w="6271" cap="flat">
                    <a:noFill/>
                    <a:prstDash val="solid"/>
                    <a:miter/>
                  </a:ln>
                </p:spPr>
                <p:txBody>
                  <a:bodyPr rtlCol="0" anchor="ctr"/>
                  <a:lstStyle/>
                  <a:p>
                    <a:endParaRPr lang="en-US"/>
                  </a:p>
                </p:txBody>
              </p:sp>
            </p:grpSp>
            <p:grpSp>
              <p:nvGrpSpPr>
                <p:cNvPr id="114" name="Picture Placeholder 88">
                  <a:extLst>
                    <a:ext uri="{FF2B5EF4-FFF2-40B4-BE49-F238E27FC236}">
                      <a16:creationId xmlns:a16="http://schemas.microsoft.com/office/drawing/2014/main" id="{304BB773-C237-B827-7232-DB5AA53A9113}"/>
                    </a:ext>
                  </a:extLst>
                </p:cNvPr>
                <p:cNvGrpSpPr/>
                <p:nvPr/>
              </p:nvGrpSpPr>
              <p:grpSpPr>
                <a:xfrm>
                  <a:off x="6303170" y="2152062"/>
                  <a:ext cx="31865" cy="17268"/>
                  <a:chOff x="6303170" y="2152062"/>
                  <a:chExt cx="31865" cy="17268"/>
                </a:xfrm>
                <a:grpFill/>
              </p:grpSpPr>
              <p:sp>
                <p:nvSpPr>
                  <p:cNvPr id="126" name="Picture Placeholder 88">
                    <a:extLst>
                      <a:ext uri="{FF2B5EF4-FFF2-40B4-BE49-F238E27FC236}">
                        <a16:creationId xmlns:a16="http://schemas.microsoft.com/office/drawing/2014/main" id="{1282125D-E57D-5546-4112-CD488CDE4D0E}"/>
                      </a:ext>
                    </a:extLst>
                  </p:cNvPr>
                  <p:cNvSpPr/>
                  <p:nvPr/>
                </p:nvSpPr>
                <p:spPr>
                  <a:xfrm>
                    <a:off x="6309616" y="2157253"/>
                    <a:ext cx="19606" cy="5704"/>
                  </a:xfrm>
                  <a:custGeom>
                    <a:avLst/>
                    <a:gdLst>
                      <a:gd name="connsiteX0" fmla="*/ 19606 w 19606"/>
                      <a:gd name="connsiteY0" fmla="*/ 0 h 5704"/>
                      <a:gd name="connsiteX1" fmla="*/ 0 w 19606"/>
                      <a:gd name="connsiteY1" fmla="*/ 5704 h 5704"/>
                    </a:gdLst>
                    <a:ahLst/>
                    <a:cxnLst>
                      <a:cxn ang="0">
                        <a:pos x="connsiteX0" y="connsiteY0"/>
                      </a:cxn>
                      <a:cxn ang="0">
                        <a:pos x="connsiteX1" y="connsiteY1"/>
                      </a:cxn>
                    </a:cxnLst>
                    <a:rect l="l" t="t" r="r" b="b"/>
                    <a:pathLst>
                      <a:path w="19606" h="5704">
                        <a:moveTo>
                          <a:pt x="19606" y="0"/>
                        </a:moveTo>
                        <a:lnTo>
                          <a:pt x="0" y="5704"/>
                        </a:lnTo>
                      </a:path>
                    </a:pathLst>
                  </a:custGeom>
                  <a:grpFill/>
                  <a:ln w="6271" cap="flat">
                    <a:noFill/>
                    <a:prstDash val="solid"/>
                    <a:miter/>
                  </a:ln>
                </p:spPr>
                <p:txBody>
                  <a:bodyPr rtlCol="0" anchor="ctr"/>
                  <a:lstStyle/>
                  <a:p>
                    <a:endParaRPr lang="en-US"/>
                  </a:p>
                </p:txBody>
              </p:sp>
              <p:sp>
                <p:nvSpPr>
                  <p:cNvPr id="127" name="Picture Placeholder 88">
                    <a:extLst>
                      <a:ext uri="{FF2B5EF4-FFF2-40B4-BE49-F238E27FC236}">
                        <a16:creationId xmlns:a16="http://schemas.microsoft.com/office/drawing/2014/main" id="{236DFEEE-01D6-67F3-3497-4FA7E80D1CC0}"/>
                      </a:ext>
                    </a:extLst>
                  </p:cNvPr>
                  <p:cNvSpPr/>
                  <p:nvPr/>
                </p:nvSpPr>
                <p:spPr>
                  <a:xfrm>
                    <a:off x="6303170" y="2152062"/>
                    <a:ext cx="31865" cy="17233"/>
                  </a:xfrm>
                  <a:custGeom>
                    <a:avLst/>
                    <a:gdLst>
                      <a:gd name="connsiteX0" fmla="*/ 6446 w 31865"/>
                      <a:gd name="connsiteY0" fmla="*/ 17233 h 17233"/>
                      <a:gd name="connsiteX1" fmla="*/ 121 w 31865"/>
                      <a:gd name="connsiteY1" fmla="*/ 12797 h 17233"/>
                      <a:gd name="connsiteX2" fmla="*/ 4548 w 31865"/>
                      <a:gd name="connsiteY2" fmla="*/ 5192 h 17233"/>
                      <a:gd name="connsiteX3" fmla="*/ 24155 w 31865"/>
                      <a:gd name="connsiteY3" fmla="*/ 121 h 17233"/>
                      <a:gd name="connsiteX4" fmla="*/ 31744 w 31865"/>
                      <a:gd name="connsiteY4" fmla="*/ 4558 h 17233"/>
                      <a:gd name="connsiteX5" fmla="*/ 27317 w 31865"/>
                      <a:gd name="connsiteY5" fmla="*/ 12163 h 17233"/>
                      <a:gd name="connsiteX6" fmla="*/ 7711 w 31865"/>
                      <a:gd name="connsiteY6" fmla="*/ 16600 h 17233"/>
                      <a:gd name="connsiteX7" fmla="*/ 6446 w 31865"/>
                      <a:gd name="connsiteY7" fmla="*/ 17233 h 17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865" h="17233">
                        <a:moveTo>
                          <a:pt x="6446" y="17233"/>
                        </a:moveTo>
                        <a:cubicBezTo>
                          <a:pt x="3916" y="17233"/>
                          <a:pt x="1386" y="15332"/>
                          <a:pt x="121" y="12797"/>
                        </a:cubicBezTo>
                        <a:cubicBezTo>
                          <a:pt x="-511" y="9628"/>
                          <a:pt x="1386" y="5825"/>
                          <a:pt x="4548" y="5192"/>
                        </a:cubicBezTo>
                        <a:lnTo>
                          <a:pt x="24155" y="121"/>
                        </a:lnTo>
                        <a:cubicBezTo>
                          <a:pt x="27317" y="-512"/>
                          <a:pt x="31112" y="1389"/>
                          <a:pt x="31744" y="4558"/>
                        </a:cubicBezTo>
                        <a:cubicBezTo>
                          <a:pt x="32377" y="7727"/>
                          <a:pt x="30479" y="11529"/>
                          <a:pt x="27317" y="12163"/>
                        </a:cubicBezTo>
                        <a:lnTo>
                          <a:pt x="7711" y="16600"/>
                        </a:lnTo>
                        <a:cubicBezTo>
                          <a:pt x="7078" y="17233"/>
                          <a:pt x="7078" y="17233"/>
                          <a:pt x="6446" y="17233"/>
                        </a:cubicBezTo>
                        <a:close/>
                      </a:path>
                    </a:pathLst>
                  </a:custGeom>
                  <a:grpFill/>
                  <a:ln w="6271" cap="flat">
                    <a:noFill/>
                    <a:prstDash val="solid"/>
                    <a:miter/>
                  </a:ln>
                </p:spPr>
                <p:txBody>
                  <a:bodyPr rtlCol="0" anchor="ctr"/>
                  <a:lstStyle/>
                  <a:p>
                    <a:endParaRPr lang="en-US"/>
                  </a:p>
                </p:txBody>
              </p:sp>
            </p:grpSp>
            <p:grpSp>
              <p:nvGrpSpPr>
                <p:cNvPr id="115" name="Picture Placeholder 88">
                  <a:extLst>
                    <a:ext uri="{FF2B5EF4-FFF2-40B4-BE49-F238E27FC236}">
                      <a16:creationId xmlns:a16="http://schemas.microsoft.com/office/drawing/2014/main" id="{48442AB6-DA34-1831-00B9-9658FABC134F}"/>
                    </a:ext>
                  </a:extLst>
                </p:cNvPr>
                <p:cNvGrpSpPr/>
                <p:nvPr/>
              </p:nvGrpSpPr>
              <p:grpSpPr>
                <a:xfrm>
                  <a:off x="5890595" y="2134316"/>
                  <a:ext cx="32288" cy="17268"/>
                  <a:chOff x="5890595" y="2134316"/>
                  <a:chExt cx="32288" cy="17268"/>
                </a:xfrm>
                <a:grpFill/>
              </p:grpSpPr>
              <p:sp>
                <p:nvSpPr>
                  <p:cNvPr id="124" name="Picture Placeholder 88">
                    <a:extLst>
                      <a:ext uri="{FF2B5EF4-FFF2-40B4-BE49-F238E27FC236}">
                        <a16:creationId xmlns:a16="http://schemas.microsoft.com/office/drawing/2014/main" id="{3E4E0129-F0A0-18E9-6C01-767D7C07B771}"/>
                      </a:ext>
                    </a:extLst>
                  </p:cNvPr>
                  <p:cNvSpPr/>
                  <p:nvPr/>
                </p:nvSpPr>
                <p:spPr>
                  <a:xfrm>
                    <a:off x="5897252" y="2139507"/>
                    <a:ext cx="19606" cy="5704"/>
                  </a:xfrm>
                  <a:custGeom>
                    <a:avLst/>
                    <a:gdLst>
                      <a:gd name="connsiteX0" fmla="*/ 0 w 19606"/>
                      <a:gd name="connsiteY0" fmla="*/ 0 h 5704"/>
                      <a:gd name="connsiteX1" fmla="*/ 19606 w 19606"/>
                      <a:gd name="connsiteY1" fmla="*/ 5704 h 5704"/>
                    </a:gdLst>
                    <a:ahLst/>
                    <a:cxnLst>
                      <a:cxn ang="0">
                        <a:pos x="connsiteX0" y="connsiteY0"/>
                      </a:cxn>
                      <a:cxn ang="0">
                        <a:pos x="connsiteX1" y="connsiteY1"/>
                      </a:cxn>
                    </a:cxnLst>
                    <a:rect l="l" t="t" r="r" b="b"/>
                    <a:pathLst>
                      <a:path w="19606" h="5704">
                        <a:moveTo>
                          <a:pt x="0" y="0"/>
                        </a:moveTo>
                        <a:lnTo>
                          <a:pt x="19606" y="5704"/>
                        </a:lnTo>
                      </a:path>
                    </a:pathLst>
                  </a:custGeom>
                  <a:grpFill/>
                  <a:ln w="6271" cap="flat">
                    <a:noFill/>
                    <a:prstDash val="solid"/>
                    <a:miter/>
                  </a:ln>
                </p:spPr>
                <p:txBody>
                  <a:bodyPr rtlCol="0" anchor="ctr"/>
                  <a:lstStyle/>
                  <a:p>
                    <a:endParaRPr lang="en-US"/>
                  </a:p>
                </p:txBody>
              </p:sp>
              <p:sp>
                <p:nvSpPr>
                  <p:cNvPr id="125" name="Picture Placeholder 88">
                    <a:extLst>
                      <a:ext uri="{FF2B5EF4-FFF2-40B4-BE49-F238E27FC236}">
                        <a16:creationId xmlns:a16="http://schemas.microsoft.com/office/drawing/2014/main" id="{4397ECF5-E100-439E-6D24-2C1B4DA6ECC9}"/>
                      </a:ext>
                    </a:extLst>
                  </p:cNvPr>
                  <p:cNvSpPr/>
                  <p:nvPr/>
                </p:nvSpPr>
                <p:spPr>
                  <a:xfrm>
                    <a:off x="5890595" y="2134316"/>
                    <a:ext cx="32288" cy="17233"/>
                  </a:xfrm>
                  <a:custGeom>
                    <a:avLst/>
                    <a:gdLst>
                      <a:gd name="connsiteX0" fmla="*/ 26264 w 32288"/>
                      <a:gd name="connsiteY0" fmla="*/ 17233 h 17233"/>
                      <a:gd name="connsiteX1" fmla="*/ 24366 w 32288"/>
                      <a:gd name="connsiteY1" fmla="*/ 17233 h 17233"/>
                      <a:gd name="connsiteX2" fmla="*/ 4760 w 32288"/>
                      <a:gd name="connsiteY2" fmla="*/ 12163 h 17233"/>
                      <a:gd name="connsiteX3" fmla="*/ 333 w 32288"/>
                      <a:gd name="connsiteY3" fmla="*/ 4558 h 17233"/>
                      <a:gd name="connsiteX4" fmla="*/ 7922 w 32288"/>
                      <a:gd name="connsiteY4" fmla="*/ 121 h 17233"/>
                      <a:gd name="connsiteX5" fmla="*/ 27528 w 32288"/>
                      <a:gd name="connsiteY5" fmla="*/ 5192 h 17233"/>
                      <a:gd name="connsiteX6" fmla="*/ 31956 w 32288"/>
                      <a:gd name="connsiteY6" fmla="*/ 12797 h 17233"/>
                      <a:gd name="connsiteX7" fmla="*/ 26264 w 32288"/>
                      <a:gd name="connsiteY7" fmla="*/ 17233 h 17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288" h="17233">
                        <a:moveTo>
                          <a:pt x="26264" y="17233"/>
                        </a:moveTo>
                        <a:cubicBezTo>
                          <a:pt x="25631" y="17233"/>
                          <a:pt x="24999" y="17233"/>
                          <a:pt x="24366" y="17233"/>
                        </a:cubicBezTo>
                        <a:lnTo>
                          <a:pt x="4760" y="12163"/>
                        </a:lnTo>
                        <a:cubicBezTo>
                          <a:pt x="1598" y="11529"/>
                          <a:pt x="-932" y="7727"/>
                          <a:pt x="333" y="4558"/>
                        </a:cubicBezTo>
                        <a:cubicBezTo>
                          <a:pt x="965" y="1389"/>
                          <a:pt x="4760" y="-512"/>
                          <a:pt x="7922" y="121"/>
                        </a:cubicBezTo>
                        <a:lnTo>
                          <a:pt x="27528" y="5192"/>
                        </a:lnTo>
                        <a:cubicBezTo>
                          <a:pt x="30691" y="5825"/>
                          <a:pt x="33221" y="9628"/>
                          <a:pt x="31956" y="12797"/>
                        </a:cubicBezTo>
                        <a:cubicBezTo>
                          <a:pt x="31956" y="15332"/>
                          <a:pt x="29426" y="17233"/>
                          <a:pt x="26264" y="17233"/>
                        </a:cubicBezTo>
                        <a:close/>
                      </a:path>
                    </a:pathLst>
                  </a:custGeom>
                  <a:grpFill/>
                  <a:ln w="6271" cap="flat">
                    <a:noFill/>
                    <a:prstDash val="solid"/>
                    <a:miter/>
                  </a:ln>
                </p:spPr>
                <p:txBody>
                  <a:bodyPr rtlCol="0" anchor="ctr"/>
                  <a:lstStyle/>
                  <a:p>
                    <a:endParaRPr lang="en-US"/>
                  </a:p>
                </p:txBody>
              </p:sp>
            </p:grpSp>
            <p:grpSp>
              <p:nvGrpSpPr>
                <p:cNvPr id="116" name="Picture Placeholder 88">
                  <a:extLst>
                    <a:ext uri="{FF2B5EF4-FFF2-40B4-BE49-F238E27FC236}">
                      <a16:creationId xmlns:a16="http://schemas.microsoft.com/office/drawing/2014/main" id="{CEAC7720-D6AC-A65D-D5E2-7FB2FC7A2FA5}"/>
                    </a:ext>
                  </a:extLst>
                </p:cNvPr>
                <p:cNvGrpSpPr/>
                <p:nvPr/>
              </p:nvGrpSpPr>
              <p:grpSpPr>
                <a:xfrm>
                  <a:off x="6250797" y="2050145"/>
                  <a:ext cx="27195" cy="27308"/>
                  <a:chOff x="6250797" y="2050145"/>
                  <a:chExt cx="27195" cy="27308"/>
                </a:xfrm>
                <a:grpFill/>
              </p:grpSpPr>
              <p:sp>
                <p:nvSpPr>
                  <p:cNvPr id="122" name="Picture Placeholder 88">
                    <a:extLst>
                      <a:ext uri="{FF2B5EF4-FFF2-40B4-BE49-F238E27FC236}">
                        <a16:creationId xmlns:a16="http://schemas.microsoft.com/office/drawing/2014/main" id="{989FB09E-A02E-BB46-3C2E-6F4C8BCF60B4}"/>
                      </a:ext>
                    </a:extLst>
                  </p:cNvPr>
                  <p:cNvSpPr/>
                  <p:nvPr/>
                </p:nvSpPr>
                <p:spPr>
                  <a:xfrm>
                    <a:off x="6257122" y="2056483"/>
                    <a:ext cx="14546" cy="14576"/>
                  </a:xfrm>
                  <a:custGeom>
                    <a:avLst/>
                    <a:gdLst>
                      <a:gd name="connsiteX0" fmla="*/ 14547 w 14546"/>
                      <a:gd name="connsiteY0" fmla="*/ 0 h 14576"/>
                      <a:gd name="connsiteX1" fmla="*/ 0 w 14546"/>
                      <a:gd name="connsiteY1" fmla="*/ 14577 h 14576"/>
                    </a:gdLst>
                    <a:ahLst/>
                    <a:cxnLst>
                      <a:cxn ang="0">
                        <a:pos x="connsiteX0" y="connsiteY0"/>
                      </a:cxn>
                      <a:cxn ang="0">
                        <a:pos x="connsiteX1" y="connsiteY1"/>
                      </a:cxn>
                    </a:cxnLst>
                    <a:rect l="l" t="t" r="r" b="b"/>
                    <a:pathLst>
                      <a:path w="14546" h="14576">
                        <a:moveTo>
                          <a:pt x="14547" y="0"/>
                        </a:moveTo>
                        <a:lnTo>
                          <a:pt x="0" y="14577"/>
                        </a:lnTo>
                      </a:path>
                    </a:pathLst>
                  </a:custGeom>
                  <a:grpFill/>
                  <a:ln w="6271" cap="flat">
                    <a:noFill/>
                    <a:prstDash val="solid"/>
                    <a:miter/>
                  </a:ln>
                </p:spPr>
                <p:txBody>
                  <a:bodyPr rtlCol="0" anchor="ctr"/>
                  <a:lstStyle/>
                  <a:p>
                    <a:endParaRPr lang="en-US"/>
                  </a:p>
                </p:txBody>
              </p:sp>
              <p:sp>
                <p:nvSpPr>
                  <p:cNvPr id="123" name="Picture Placeholder 88">
                    <a:extLst>
                      <a:ext uri="{FF2B5EF4-FFF2-40B4-BE49-F238E27FC236}">
                        <a16:creationId xmlns:a16="http://schemas.microsoft.com/office/drawing/2014/main" id="{469B2C10-9A50-C976-7239-34A314008BAA}"/>
                      </a:ext>
                    </a:extLst>
                  </p:cNvPr>
                  <p:cNvSpPr/>
                  <p:nvPr/>
                </p:nvSpPr>
                <p:spPr>
                  <a:xfrm>
                    <a:off x="6250797" y="2050145"/>
                    <a:ext cx="27195" cy="27252"/>
                  </a:xfrm>
                  <a:custGeom>
                    <a:avLst/>
                    <a:gdLst>
                      <a:gd name="connsiteX0" fmla="*/ 6325 w 27195"/>
                      <a:gd name="connsiteY0" fmla="*/ 27252 h 27252"/>
                      <a:gd name="connsiteX1" fmla="*/ 1897 w 27195"/>
                      <a:gd name="connsiteY1" fmla="*/ 25351 h 27252"/>
                      <a:gd name="connsiteX2" fmla="*/ 1897 w 27195"/>
                      <a:gd name="connsiteY2" fmla="*/ 16478 h 27252"/>
                      <a:gd name="connsiteX3" fmla="*/ 16444 w 27195"/>
                      <a:gd name="connsiteY3" fmla="*/ 1901 h 27252"/>
                      <a:gd name="connsiteX4" fmla="*/ 25298 w 27195"/>
                      <a:gd name="connsiteY4" fmla="*/ 1901 h 27252"/>
                      <a:gd name="connsiteX5" fmla="*/ 25298 w 27195"/>
                      <a:gd name="connsiteY5" fmla="*/ 10774 h 27252"/>
                      <a:gd name="connsiteX6" fmla="*/ 10752 w 27195"/>
                      <a:gd name="connsiteY6" fmla="*/ 25351 h 27252"/>
                      <a:gd name="connsiteX7" fmla="*/ 6325 w 27195"/>
                      <a:gd name="connsiteY7" fmla="*/ 27252 h 27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195" h="27252">
                        <a:moveTo>
                          <a:pt x="6325" y="27252"/>
                        </a:moveTo>
                        <a:cubicBezTo>
                          <a:pt x="4427" y="27252"/>
                          <a:pt x="3162" y="26619"/>
                          <a:pt x="1897" y="25351"/>
                        </a:cubicBezTo>
                        <a:cubicBezTo>
                          <a:pt x="-632" y="22816"/>
                          <a:pt x="-632" y="19013"/>
                          <a:pt x="1897" y="16478"/>
                        </a:cubicBezTo>
                        <a:lnTo>
                          <a:pt x="16444" y="1901"/>
                        </a:lnTo>
                        <a:cubicBezTo>
                          <a:pt x="18974" y="-634"/>
                          <a:pt x="22769" y="-634"/>
                          <a:pt x="25298" y="1901"/>
                        </a:cubicBezTo>
                        <a:cubicBezTo>
                          <a:pt x="27828" y="4436"/>
                          <a:pt x="27828" y="8239"/>
                          <a:pt x="25298" y="10774"/>
                        </a:cubicBezTo>
                        <a:lnTo>
                          <a:pt x="10752" y="25351"/>
                        </a:lnTo>
                        <a:cubicBezTo>
                          <a:pt x="9487" y="26619"/>
                          <a:pt x="8222" y="27252"/>
                          <a:pt x="6325" y="27252"/>
                        </a:cubicBezTo>
                        <a:close/>
                      </a:path>
                    </a:pathLst>
                  </a:custGeom>
                  <a:grpFill/>
                  <a:ln w="6271" cap="flat">
                    <a:noFill/>
                    <a:prstDash val="solid"/>
                    <a:miter/>
                  </a:ln>
                </p:spPr>
                <p:txBody>
                  <a:bodyPr rtlCol="0" anchor="ctr"/>
                  <a:lstStyle/>
                  <a:p>
                    <a:endParaRPr lang="en-US"/>
                  </a:p>
                </p:txBody>
              </p:sp>
            </p:grpSp>
            <p:grpSp>
              <p:nvGrpSpPr>
                <p:cNvPr id="117" name="Picture Placeholder 88">
                  <a:extLst>
                    <a:ext uri="{FF2B5EF4-FFF2-40B4-BE49-F238E27FC236}">
                      <a16:creationId xmlns:a16="http://schemas.microsoft.com/office/drawing/2014/main" id="{E14723D6-1F08-870B-73DA-36E544B6DCCF}"/>
                    </a:ext>
                  </a:extLst>
                </p:cNvPr>
                <p:cNvGrpSpPr/>
                <p:nvPr/>
              </p:nvGrpSpPr>
              <p:grpSpPr>
                <a:xfrm>
                  <a:off x="6156861" y="1989181"/>
                  <a:ext cx="17741" cy="31876"/>
                  <a:chOff x="6156861" y="1989181"/>
                  <a:chExt cx="17741" cy="31876"/>
                </a:xfrm>
                <a:grpFill/>
              </p:grpSpPr>
              <p:sp>
                <p:nvSpPr>
                  <p:cNvPr id="120" name="Picture Placeholder 88">
                    <a:extLst>
                      <a:ext uri="{FF2B5EF4-FFF2-40B4-BE49-F238E27FC236}">
                        <a16:creationId xmlns:a16="http://schemas.microsoft.com/office/drawing/2014/main" id="{7F705AAB-EC0D-8FB1-8836-3A296FEF4928}"/>
                      </a:ext>
                    </a:extLst>
                  </p:cNvPr>
                  <p:cNvSpPr/>
                  <p:nvPr/>
                </p:nvSpPr>
                <p:spPr>
                  <a:xfrm>
                    <a:off x="6163518" y="1995006"/>
                    <a:ext cx="5059" cy="19647"/>
                  </a:xfrm>
                  <a:custGeom>
                    <a:avLst/>
                    <a:gdLst>
                      <a:gd name="connsiteX0" fmla="*/ 5060 w 5059"/>
                      <a:gd name="connsiteY0" fmla="*/ 0 h 19647"/>
                      <a:gd name="connsiteX1" fmla="*/ 0 w 5059"/>
                      <a:gd name="connsiteY1" fmla="*/ 19647 h 19647"/>
                    </a:gdLst>
                    <a:ahLst/>
                    <a:cxnLst>
                      <a:cxn ang="0">
                        <a:pos x="connsiteX0" y="connsiteY0"/>
                      </a:cxn>
                      <a:cxn ang="0">
                        <a:pos x="connsiteX1" y="connsiteY1"/>
                      </a:cxn>
                    </a:cxnLst>
                    <a:rect l="l" t="t" r="r" b="b"/>
                    <a:pathLst>
                      <a:path w="5059" h="19647">
                        <a:moveTo>
                          <a:pt x="5060" y="0"/>
                        </a:moveTo>
                        <a:lnTo>
                          <a:pt x="0" y="19647"/>
                        </a:lnTo>
                      </a:path>
                    </a:pathLst>
                  </a:custGeom>
                  <a:grpFill/>
                  <a:ln w="6271" cap="flat">
                    <a:noFill/>
                    <a:prstDash val="solid"/>
                    <a:miter/>
                  </a:ln>
                </p:spPr>
                <p:txBody>
                  <a:bodyPr rtlCol="0" anchor="ctr"/>
                  <a:lstStyle/>
                  <a:p>
                    <a:endParaRPr lang="en-US"/>
                  </a:p>
                </p:txBody>
              </p:sp>
              <p:sp>
                <p:nvSpPr>
                  <p:cNvPr id="121" name="Picture Placeholder 88">
                    <a:extLst>
                      <a:ext uri="{FF2B5EF4-FFF2-40B4-BE49-F238E27FC236}">
                        <a16:creationId xmlns:a16="http://schemas.microsoft.com/office/drawing/2014/main" id="{64A9BA8E-9234-0F51-15E0-1897007AE4E0}"/>
                      </a:ext>
                    </a:extLst>
                  </p:cNvPr>
                  <p:cNvSpPr/>
                  <p:nvPr/>
                </p:nvSpPr>
                <p:spPr>
                  <a:xfrm>
                    <a:off x="6156861" y="1989181"/>
                    <a:ext cx="17741" cy="31810"/>
                  </a:xfrm>
                  <a:custGeom>
                    <a:avLst/>
                    <a:gdLst>
                      <a:gd name="connsiteX0" fmla="*/ 6657 w 17741"/>
                      <a:gd name="connsiteY0" fmla="*/ 31810 h 31810"/>
                      <a:gd name="connsiteX1" fmla="*/ 4760 w 17741"/>
                      <a:gd name="connsiteY1" fmla="*/ 31810 h 31810"/>
                      <a:gd name="connsiteX2" fmla="*/ 333 w 17741"/>
                      <a:gd name="connsiteY2" fmla="*/ 24205 h 31810"/>
                      <a:gd name="connsiteX3" fmla="*/ 5392 w 17741"/>
                      <a:gd name="connsiteY3" fmla="*/ 4558 h 31810"/>
                      <a:gd name="connsiteX4" fmla="*/ 12982 w 17741"/>
                      <a:gd name="connsiteY4" fmla="*/ 121 h 31810"/>
                      <a:gd name="connsiteX5" fmla="*/ 17409 w 17741"/>
                      <a:gd name="connsiteY5" fmla="*/ 7727 h 31810"/>
                      <a:gd name="connsiteX6" fmla="*/ 12349 w 17741"/>
                      <a:gd name="connsiteY6" fmla="*/ 27374 h 31810"/>
                      <a:gd name="connsiteX7" fmla="*/ 6657 w 17741"/>
                      <a:gd name="connsiteY7" fmla="*/ 31810 h 3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741" h="31810">
                        <a:moveTo>
                          <a:pt x="6657" y="31810"/>
                        </a:moveTo>
                        <a:cubicBezTo>
                          <a:pt x="6025" y="31810"/>
                          <a:pt x="5392" y="31810"/>
                          <a:pt x="4760" y="31810"/>
                        </a:cubicBezTo>
                        <a:cubicBezTo>
                          <a:pt x="1598" y="31177"/>
                          <a:pt x="-932" y="27374"/>
                          <a:pt x="333" y="24205"/>
                        </a:cubicBezTo>
                        <a:lnTo>
                          <a:pt x="5392" y="4558"/>
                        </a:lnTo>
                        <a:cubicBezTo>
                          <a:pt x="6025" y="1389"/>
                          <a:pt x="9820" y="-512"/>
                          <a:pt x="12982" y="121"/>
                        </a:cubicBezTo>
                        <a:cubicBezTo>
                          <a:pt x="16144" y="755"/>
                          <a:pt x="18674" y="4558"/>
                          <a:pt x="17409" y="7727"/>
                        </a:cubicBezTo>
                        <a:lnTo>
                          <a:pt x="12349" y="27374"/>
                        </a:lnTo>
                        <a:cubicBezTo>
                          <a:pt x="11717" y="29909"/>
                          <a:pt x="9187" y="31810"/>
                          <a:pt x="6657" y="31810"/>
                        </a:cubicBezTo>
                        <a:close/>
                      </a:path>
                    </a:pathLst>
                  </a:custGeom>
                  <a:grpFill/>
                  <a:ln w="6271" cap="flat">
                    <a:noFill/>
                    <a:prstDash val="solid"/>
                    <a:miter/>
                  </a:ln>
                </p:spPr>
                <p:txBody>
                  <a:bodyPr rtlCol="0" anchor="ctr"/>
                  <a:lstStyle/>
                  <a:p>
                    <a:endParaRPr lang="en-US"/>
                  </a:p>
                </p:txBody>
              </p:sp>
            </p:grpSp>
            <p:sp>
              <p:nvSpPr>
                <p:cNvPr id="118" name="Picture Placeholder 88">
                  <a:extLst>
                    <a:ext uri="{FF2B5EF4-FFF2-40B4-BE49-F238E27FC236}">
                      <a16:creationId xmlns:a16="http://schemas.microsoft.com/office/drawing/2014/main" id="{2D9A00BD-8ED0-C8DC-87F8-2878E70482F5}"/>
                    </a:ext>
                  </a:extLst>
                </p:cNvPr>
                <p:cNvSpPr/>
                <p:nvPr/>
              </p:nvSpPr>
              <p:spPr>
                <a:xfrm>
                  <a:off x="6121143" y="2153329"/>
                  <a:ext cx="133474" cy="61597"/>
                </a:xfrm>
                <a:custGeom>
                  <a:avLst/>
                  <a:gdLst>
                    <a:gd name="connsiteX0" fmla="*/ 0 w 133474"/>
                    <a:gd name="connsiteY0" fmla="*/ 38782 h 61597"/>
                    <a:gd name="connsiteX1" fmla="*/ 127124 w 133474"/>
                    <a:gd name="connsiteY1" fmla="*/ 121 h 61597"/>
                    <a:gd name="connsiteX2" fmla="*/ 132817 w 133474"/>
                    <a:gd name="connsiteY2" fmla="*/ 4558 h 61597"/>
                    <a:gd name="connsiteX3" fmla="*/ 131552 w 133474"/>
                    <a:gd name="connsiteY3" fmla="*/ 11529 h 61597"/>
                    <a:gd name="connsiteX4" fmla="*/ 11384 w 133474"/>
                    <a:gd name="connsiteY4" fmla="*/ 61598 h 61597"/>
                    <a:gd name="connsiteX5" fmla="*/ 0 w 133474"/>
                    <a:gd name="connsiteY5" fmla="*/ 38782 h 6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474" h="61597">
                      <a:moveTo>
                        <a:pt x="0" y="38782"/>
                      </a:moveTo>
                      <a:lnTo>
                        <a:pt x="127124" y="121"/>
                      </a:lnTo>
                      <a:cubicBezTo>
                        <a:pt x="129022" y="-512"/>
                        <a:pt x="131552" y="1389"/>
                        <a:pt x="132817" y="4558"/>
                      </a:cubicBezTo>
                      <a:cubicBezTo>
                        <a:pt x="134082" y="7727"/>
                        <a:pt x="133449" y="10896"/>
                        <a:pt x="131552" y="11529"/>
                      </a:cubicBezTo>
                      <a:lnTo>
                        <a:pt x="11384" y="61598"/>
                      </a:lnTo>
                      <a:lnTo>
                        <a:pt x="0" y="38782"/>
                      </a:lnTo>
                      <a:close/>
                    </a:path>
                  </a:pathLst>
                </a:custGeom>
                <a:grpFill/>
                <a:ln w="6271" cap="flat">
                  <a:noFill/>
                  <a:prstDash val="solid"/>
                  <a:miter/>
                </a:ln>
              </p:spPr>
              <p:txBody>
                <a:bodyPr rtlCol="0" anchor="ctr"/>
                <a:lstStyle/>
                <a:p>
                  <a:endParaRPr lang="en-US"/>
                </a:p>
              </p:txBody>
            </p:sp>
            <p:sp>
              <p:nvSpPr>
                <p:cNvPr id="119" name="Picture Placeholder 88">
                  <a:extLst>
                    <a:ext uri="{FF2B5EF4-FFF2-40B4-BE49-F238E27FC236}">
                      <a16:creationId xmlns:a16="http://schemas.microsoft.com/office/drawing/2014/main" id="{40771BFE-491E-15F3-8BC7-6CB1A73216E3}"/>
                    </a:ext>
                  </a:extLst>
                </p:cNvPr>
                <p:cNvSpPr/>
                <p:nvPr/>
              </p:nvSpPr>
              <p:spPr>
                <a:xfrm>
                  <a:off x="6076871" y="2188942"/>
                  <a:ext cx="63246" cy="31688"/>
                </a:xfrm>
                <a:custGeom>
                  <a:avLst/>
                  <a:gdLst>
                    <a:gd name="connsiteX0" fmla="*/ 0 w 63246"/>
                    <a:gd name="connsiteY0" fmla="*/ 31689 h 31688"/>
                    <a:gd name="connsiteX1" fmla="*/ 31623 w 63246"/>
                    <a:gd name="connsiteY1" fmla="*/ 0 h 31688"/>
                    <a:gd name="connsiteX2" fmla="*/ 63246 w 63246"/>
                    <a:gd name="connsiteY2" fmla="*/ 31689 h 31688"/>
                  </a:gdLst>
                  <a:ahLst/>
                  <a:cxnLst>
                    <a:cxn ang="0">
                      <a:pos x="connsiteX0" y="connsiteY0"/>
                    </a:cxn>
                    <a:cxn ang="0">
                      <a:pos x="connsiteX1" y="connsiteY1"/>
                    </a:cxn>
                    <a:cxn ang="0">
                      <a:pos x="connsiteX2" y="connsiteY2"/>
                    </a:cxn>
                  </a:cxnLst>
                  <a:rect l="l" t="t" r="r" b="b"/>
                  <a:pathLst>
                    <a:path w="63246" h="31688">
                      <a:moveTo>
                        <a:pt x="0" y="31689"/>
                      </a:moveTo>
                      <a:cubicBezTo>
                        <a:pt x="0" y="13943"/>
                        <a:pt x="13914" y="0"/>
                        <a:pt x="31623" y="0"/>
                      </a:cubicBezTo>
                      <a:cubicBezTo>
                        <a:pt x="49332" y="0"/>
                        <a:pt x="63246" y="13943"/>
                        <a:pt x="63246" y="31689"/>
                      </a:cubicBezTo>
                    </a:path>
                  </a:pathLst>
                </a:custGeom>
                <a:grpFill/>
                <a:ln w="6271" cap="flat">
                  <a:noFill/>
                  <a:prstDash val="solid"/>
                  <a:miter/>
                </a:ln>
              </p:spPr>
              <p:txBody>
                <a:bodyPr rtlCol="0" anchor="ctr"/>
                <a:lstStyle/>
                <a:p>
                  <a:endParaRPr lang="en-US"/>
                </a:p>
              </p:txBody>
            </p:sp>
          </p:grpSp>
          <p:sp>
            <p:nvSpPr>
              <p:cNvPr id="97" name="Picture Placeholder 88">
                <a:extLst>
                  <a:ext uri="{FF2B5EF4-FFF2-40B4-BE49-F238E27FC236}">
                    <a16:creationId xmlns:a16="http://schemas.microsoft.com/office/drawing/2014/main" id="{02C57B5D-D357-426B-C378-ECE1C0B848F4}"/>
                  </a:ext>
                </a:extLst>
              </p:cNvPr>
              <p:cNvSpPr/>
              <p:nvPr/>
            </p:nvSpPr>
            <p:spPr>
              <a:xfrm>
                <a:off x="6279891" y="2290981"/>
                <a:ext cx="124594" cy="142600"/>
              </a:xfrm>
              <a:custGeom>
                <a:avLst/>
                <a:gdLst>
                  <a:gd name="connsiteX0" fmla="*/ 124595 w 124594"/>
                  <a:gd name="connsiteY0" fmla="*/ 142600 h 142600"/>
                  <a:gd name="connsiteX1" fmla="*/ 0 w 124594"/>
                  <a:gd name="connsiteY1" fmla="*/ 142600 h 142600"/>
                  <a:gd name="connsiteX2" fmla="*/ 0 w 124594"/>
                  <a:gd name="connsiteY2" fmla="*/ 126756 h 142600"/>
                  <a:gd name="connsiteX3" fmla="*/ 108783 w 124594"/>
                  <a:gd name="connsiteY3" fmla="*/ 126756 h 142600"/>
                  <a:gd name="connsiteX4" fmla="*/ 108783 w 124594"/>
                  <a:gd name="connsiteY4" fmla="*/ 15844 h 142600"/>
                  <a:gd name="connsiteX5" fmla="*/ 0 w 124594"/>
                  <a:gd name="connsiteY5" fmla="*/ 15844 h 142600"/>
                  <a:gd name="connsiteX6" fmla="*/ 0 w 124594"/>
                  <a:gd name="connsiteY6" fmla="*/ 0 h 142600"/>
                  <a:gd name="connsiteX7" fmla="*/ 124595 w 124594"/>
                  <a:gd name="connsiteY7" fmla="*/ 0 h 142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594" h="142600">
                    <a:moveTo>
                      <a:pt x="124595" y="142600"/>
                    </a:moveTo>
                    <a:lnTo>
                      <a:pt x="0" y="142600"/>
                    </a:lnTo>
                    <a:lnTo>
                      <a:pt x="0" y="126756"/>
                    </a:lnTo>
                    <a:lnTo>
                      <a:pt x="108783" y="126756"/>
                    </a:lnTo>
                    <a:lnTo>
                      <a:pt x="108783" y="15844"/>
                    </a:lnTo>
                    <a:lnTo>
                      <a:pt x="0" y="15844"/>
                    </a:lnTo>
                    <a:lnTo>
                      <a:pt x="0" y="0"/>
                    </a:lnTo>
                    <a:lnTo>
                      <a:pt x="124595" y="0"/>
                    </a:lnTo>
                    <a:close/>
                  </a:path>
                </a:pathLst>
              </a:custGeom>
              <a:grpFill/>
              <a:ln w="6271" cap="flat">
                <a:noFill/>
                <a:prstDash val="solid"/>
                <a:miter/>
              </a:ln>
            </p:spPr>
            <p:txBody>
              <a:bodyPr rtlCol="0" anchor="ctr"/>
              <a:lstStyle/>
              <a:p>
                <a:endParaRPr lang="en-US"/>
              </a:p>
            </p:txBody>
          </p:sp>
          <p:sp>
            <p:nvSpPr>
              <p:cNvPr id="98" name="Picture Placeholder 88">
                <a:extLst>
                  <a:ext uri="{FF2B5EF4-FFF2-40B4-BE49-F238E27FC236}">
                    <a16:creationId xmlns:a16="http://schemas.microsoft.com/office/drawing/2014/main" id="{2E47F29A-30D8-1384-4019-0C04F08FD463}"/>
                  </a:ext>
                </a:extLst>
              </p:cNvPr>
              <p:cNvSpPr/>
              <p:nvPr/>
            </p:nvSpPr>
            <p:spPr>
              <a:xfrm>
                <a:off x="6357051" y="2313797"/>
                <a:ext cx="25298" cy="25351"/>
              </a:xfrm>
              <a:custGeom>
                <a:avLst/>
                <a:gdLst>
                  <a:gd name="connsiteX0" fmla="*/ 25298 w 25298"/>
                  <a:gd name="connsiteY0" fmla="*/ 12676 h 25351"/>
                  <a:gd name="connsiteX1" fmla="*/ 12649 w 25298"/>
                  <a:gd name="connsiteY1" fmla="*/ 25351 h 25351"/>
                  <a:gd name="connsiteX2" fmla="*/ 0 w 25298"/>
                  <a:gd name="connsiteY2" fmla="*/ 12676 h 25351"/>
                  <a:gd name="connsiteX3" fmla="*/ 12649 w 25298"/>
                  <a:gd name="connsiteY3" fmla="*/ 0 h 25351"/>
                  <a:gd name="connsiteX4" fmla="*/ 25298 w 25298"/>
                  <a:gd name="connsiteY4" fmla="*/ 12676 h 25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98" h="25351">
                    <a:moveTo>
                      <a:pt x="25298" y="12676"/>
                    </a:moveTo>
                    <a:cubicBezTo>
                      <a:pt x="25298" y="19676"/>
                      <a:pt x="19635" y="25351"/>
                      <a:pt x="12649" y="25351"/>
                    </a:cubicBezTo>
                    <a:cubicBezTo>
                      <a:pt x="5663" y="25351"/>
                      <a:pt x="0" y="19676"/>
                      <a:pt x="0" y="12676"/>
                    </a:cubicBezTo>
                    <a:cubicBezTo>
                      <a:pt x="0" y="5675"/>
                      <a:pt x="5663" y="0"/>
                      <a:pt x="12649" y="0"/>
                    </a:cubicBezTo>
                    <a:cubicBezTo>
                      <a:pt x="19635" y="0"/>
                      <a:pt x="25298" y="5675"/>
                      <a:pt x="25298" y="12676"/>
                    </a:cubicBezTo>
                    <a:close/>
                  </a:path>
                </a:pathLst>
              </a:custGeom>
              <a:grpFill/>
              <a:ln w="6271" cap="flat">
                <a:noFill/>
                <a:prstDash val="solid"/>
                <a:miter/>
              </a:ln>
            </p:spPr>
            <p:txBody>
              <a:bodyPr rtlCol="0" anchor="ctr"/>
              <a:lstStyle/>
              <a:p>
                <a:endParaRPr lang="en-US"/>
              </a:p>
            </p:txBody>
          </p:sp>
          <p:sp>
            <p:nvSpPr>
              <p:cNvPr id="99" name="Picture Placeholder 88">
                <a:extLst>
                  <a:ext uri="{FF2B5EF4-FFF2-40B4-BE49-F238E27FC236}">
                    <a16:creationId xmlns:a16="http://schemas.microsoft.com/office/drawing/2014/main" id="{FB303CF0-72C9-9158-3A4E-A1C286EF07C3}"/>
                  </a:ext>
                </a:extLst>
              </p:cNvPr>
              <p:cNvSpPr/>
              <p:nvPr/>
            </p:nvSpPr>
            <p:spPr>
              <a:xfrm>
                <a:off x="6315308" y="2355626"/>
                <a:ext cx="25298" cy="25351"/>
              </a:xfrm>
              <a:custGeom>
                <a:avLst/>
                <a:gdLst>
                  <a:gd name="connsiteX0" fmla="*/ 25298 w 25298"/>
                  <a:gd name="connsiteY0" fmla="*/ 12676 h 25351"/>
                  <a:gd name="connsiteX1" fmla="*/ 12649 w 25298"/>
                  <a:gd name="connsiteY1" fmla="*/ 25351 h 25351"/>
                  <a:gd name="connsiteX2" fmla="*/ 0 w 25298"/>
                  <a:gd name="connsiteY2" fmla="*/ 12676 h 25351"/>
                  <a:gd name="connsiteX3" fmla="*/ 12649 w 25298"/>
                  <a:gd name="connsiteY3" fmla="*/ 0 h 25351"/>
                  <a:gd name="connsiteX4" fmla="*/ 25298 w 25298"/>
                  <a:gd name="connsiteY4" fmla="*/ 12676 h 25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98" h="25351">
                    <a:moveTo>
                      <a:pt x="25298" y="12676"/>
                    </a:moveTo>
                    <a:cubicBezTo>
                      <a:pt x="25298" y="19676"/>
                      <a:pt x="19635" y="25351"/>
                      <a:pt x="12649" y="25351"/>
                    </a:cubicBezTo>
                    <a:cubicBezTo>
                      <a:pt x="5663" y="25351"/>
                      <a:pt x="0" y="19676"/>
                      <a:pt x="0" y="12676"/>
                    </a:cubicBezTo>
                    <a:cubicBezTo>
                      <a:pt x="0" y="5675"/>
                      <a:pt x="5663" y="0"/>
                      <a:pt x="12649" y="0"/>
                    </a:cubicBezTo>
                    <a:cubicBezTo>
                      <a:pt x="19635" y="0"/>
                      <a:pt x="25298" y="5675"/>
                      <a:pt x="25298" y="12676"/>
                    </a:cubicBezTo>
                    <a:close/>
                  </a:path>
                </a:pathLst>
              </a:custGeom>
              <a:grpFill/>
              <a:ln w="6271" cap="flat">
                <a:noFill/>
                <a:prstDash val="solid"/>
                <a:miter/>
              </a:ln>
            </p:spPr>
            <p:txBody>
              <a:bodyPr rtlCol="0" anchor="ctr"/>
              <a:lstStyle/>
              <a:p>
                <a:endParaRPr lang="en-US"/>
              </a:p>
            </p:txBody>
          </p:sp>
          <p:sp>
            <p:nvSpPr>
              <p:cNvPr id="100" name="Picture Placeholder 88">
                <a:extLst>
                  <a:ext uri="{FF2B5EF4-FFF2-40B4-BE49-F238E27FC236}">
                    <a16:creationId xmlns:a16="http://schemas.microsoft.com/office/drawing/2014/main" id="{CFC04A7F-6867-C387-114D-A99BB75186C0}"/>
                  </a:ext>
                </a:extLst>
              </p:cNvPr>
              <p:cNvSpPr/>
              <p:nvPr/>
            </p:nvSpPr>
            <p:spPr>
              <a:xfrm>
                <a:off x="6284950" y="2322669"/>
                <a:ext cx="89176" cy="55138"/>
              </a:xfrm>
              <a:custGeom>
                <a:avLst/>
                <a:gdLst>
                  <a:gd name="connsiteX0" fmla="*/ 46802 w 89176"/>
                  <a:gd name="connsiteY0" fmla="*/ 55139 h 55138"/>
                  <a:gd name="connsiteX1" fmla="*/ 0 w 89176"/>
                  <a:gd name="connsiteY1" fmla="*/ 55139 h 55138"/>
                  <a:gd name="connsiteX2" fmla="*/ 0 w 89176"/>
                  <a:gd name="connsiteY2" fmla="*/ 39294 h 55138"/>
                  <a:gd name="connsiteX3" fmla="*/ 39845 w 89176"/>
                  <a:gd name="connsiteY3" fmla="*/ 39294 h 55138"/>
                  <a:gd name="connsiteX4" fmla="*/ 77793 w 89176"/>
                  <a:gd name="connsiteY4" fmla="*/ 0 h 55138"/>
                  <a:gd name="connsiteX5" fmla="*/ 89177 w 89176"/>
                  <a:gd name="connsiteY5" fmla="*/ 10774 h 55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176" h="55138">
                    <a:moveTo>
                      <a:pt x="46802" y="55139"/>
                    </a:moveTo>
                    <a:lnTo>
                      <a:pt x="0" y="55139"/>
                    </a:lnTo>
                    <a:lnTo>
                      <a:pt x="0" y="39294"/>
                    </a:lnTo>
                    <a:lnTo>
                      <a:pt x="39845" y="39294"/>
                    </a:lnTo>
                    <a:lnTo>
                      <a:pt x="77793" y="0"/>
                    </a:lnTo>
                    <a:lnTo>
                      <a:pt x="89177" y="10774"/>
                    </a:lnTo>
                    <a:close/>
                  </a:path>
                </a:pathLst>
              </a:custGeom>
              <a:grpFill/>
              <a:ln w="6271" cap="flat">
                <a:noFill/>
                <a:prstDash val="solid"/>
                <a:miter/>
              </a:ln>
            </p:spPr>
            <p:txBody>
              <a:bodyPr rtlCol="0" anchor="ctr"/>
              <a:lstStyle/>
              <a:p>
                <a:endParaRPr lang="en-US"/>
              </a:p>
            </p:txBody>
          </p:sp>
          <p:sp>
            <p:nvSpPr>
              <p:cNvPr id="101" name="Picture Placeholder 88">
                <a:extLst>
                  <a:ext uri="{FF2B5EF4-FFF2-40B4-BE49-F238E27FC236}">
                    <a16:creationId xmlns:a16="http://schemas.microsoft.com/office/drawing/2014/main" id="{49C21F73-9D8D-88D5-72ED-F675ABB99942}"/>
                  </a:ext>
                </a:extLst>
              </p:cNvPr>
              <p:cNvSpPr/>
              <p:nvPr/>
            </p:nvSpPr>
            <p:spPr>
              <a:xfrm>
                <a:off x="5804281" y="2290981"/>
                <a:ext cx="122697" cy="142600"/>
              </a:xfrm>
              <a:custGeom>
                <a:avLst/>
                <a:gdLst>
                  <a:gd name="connsiteX0" fmla="*/ 122697 w 122697"/>
                  <a:gd name="connsiteY0" fmla="*/ 142600 h 142600"/>
                  <a:gd name="connsiteX1" fmla="*/ 0 w 122697"/>
                  <a:gd name="connsiteY1" fmla="*/ 142600 h 142600"/>
                  <a:gd name="connsiteX2" fmla="*/ 0 w 122697"/>
                  <a:gd name="connsiteY2" fmla="*/ 0 h 142600"/>
                  <a:gd name="connsiteX3" fmla="*/ 122697 w 122697"/>
                  <a:gd name="connsiteY3" fmla="*/ 0 h 142600"/>
                  <a:gd name="connsiteX4" fmla="*/ 122697 w 122697"/>
                  <a:gd name="connsiteY4" fmla="*/ 15844 h 142600"/>
                  <a:gd name="connsiteX5" fmla="*/ 15812 w 122697"/>
                  <a:gd name="connsiteY5" fmla="*/ 15844 h 142600"/>
                  <a:gd name="connsiteX6" fmla="*/ 15812 w 122697"/>
                  <a:gd name="connsiteY6" fmla="*/ 126756 h 142600"/>
                  <a:gd name="connsiteX7" fmla="*/ 122697 w 122697"/>
                  <a:gd name="connsiteY7" fmla="*/ 126756 h 142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697" h="142600">
                    <a:moveTo>
                      <a:pt x="122697" y="142600"/>
                    </a:moveTo>
                    <a:lnTo>
                      <a:pt x="0" y="142600"/>
                    </a:lnTo>
                    <a:lnTo>
                      <a:pt x="0" y="0"/>
                    </a:lnTo>
                    <a:lnTo>
                      <a:pt x="122697" y="0"/>
                    </a:lnTo>
                    <a:lnTo>
                      <a:pt x="122697" y="15844"/>
                    </a:lnTo>
                    <a:lnTo>
                      <a:pt x="15812" y="15844"/>
                    </a:lnTo>
                    <a:lnTo>
                      <a:pt x="15812" y="126756"/>
                    </a:lnTo>
                    <a:lnTo>
                      <a:pt x="122697" y="126756"/>
                    </a:lnTo>
                    <a:close/>
                  </a:path>
                </a:pathLst>
              </a:custGeom>
              <a:grpFill/>
              <a:ln w="6271" cap="flat">
                <a:noFill/>
                <a:prstDash val="solid"/>
                <a:miter/>
              </a:ln>
            </p:spPr>
            <p:txBody>
              <a:bodyPr rtlCol="0" anchor="ctr"/>
              <a:lstStyle/>
              <a:p>
                <a:endParaRPr lang="en-US"/>
              </a:p>
            </p:txBody>
          </p:sp>
          <p:sp>
            <p:nvSpPr>
              <p:cNvPr id="102" name="Picture Placeholder 88">
                <a:extLst>
                  <a:ext uri="{FF2B5EF4-FFF2-40B4-BE49-F238E27FC236}">
                    <a16:creationId xmlns:a16="http://schemas.microsoft.com/office/drawing/2014/main" id="{E3663A5B-D977-D9EA-6C23-38DE90A7B222}"/>
                  </a:ext>
                </a:extLst>
              </p:cNvPr>
              <p:cNvSpPr/>
              <p:nvPr/>
            </p:nvSpPr>
            <p:spPr>
              <a:xfrm>
                <a:off x="6279891" y="2355626"/>
                <a:ext cx="13281" cy="25351"/>
              </a:xfrm>
              <a:custGeom>
                <a:avLst/>
                <a:gdLst>
                  <a:gd name="connsiteX0" fmla="*/ 632 w 13281"/>
                  <a:gd name="connsiteY0" fmla="*/ 0 h 25351"/>
                  <a:gd name="connsiteX1" fmla="*/ 0 w 13281"/>
                  <a:gd name="connsiteY1" fmla="*/ 0 h 25351"/>
                  <a:gd name="connsiteX2" fmla="*/ 0 w 13281"/>
                  <a:gd name="connsiteY2" fmla="*/ 25351 h 25351"/>
                  <a:gd name="connsiteX3" fmla="*/ 632 w 13281"/>
                  <a:gd name="connsiteY3" fmla="*/ 25351 h 25351"/>
                  <a:gd name="connsiteX4" fmla="*/ 13282 w 13281"/>
                  <a:gd name="connsiteY4" fmla="*/ 12676 h 25351"/>
                  <a:gd name="connsiteX5" fmla="*/ 632 w 13281"/>
                  <a:gd name="connsiteY5" fmla="*/ 0 h 25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81" h="25351">
                    <a:moveTo>
                      <a:pt x="632" y="0"/>
                    </a:moveTo>
                    <a:cubicBezTo>
                      <a:pt x="632" y="0"/>
                      <a:pt x="0" y="0"/>
                      <a:pt x="0" y="0"/>
                    </a:cubicBezTo>
                    <a:lnTo>
                      <a:pt x="0" y="25351"/>
                    </a:lnTo>
                    <a:cubicBezTo>
                      <a:pt x="0" y="25351"/>
                      <a:pt x="632" y="25351"/>
                      <a:pt x="632" y="25351"/>
                    </a:cubicBezTo>
                    <a:cubicBezTo>
                      <a:pt x="7590" y="25351"/>
                      <a:pt x="13282" y="19647"/>
                      <a:pt x="13282" y="12676"/>
                    </a:cubicBezTo>
                    <a:cubicBezTo>
                      <a:pt x="13282" y="5704"/>
                      <a:pt x="7590" y="0"/>
                      <a:pt x="632" y="0"/>
                    </a:cubicBezTo>
                    <a:close/>
                  </a:path>
                </a:pathLst>
              </a:custGeom>
              <a:grpFill/>
              <a:ln w="6271" cap="flat">
                <a:noFill/>
                <a:prstDash val="solid"/>
                <a:miter/>
              </a:ln>
            </p:spPr>
            <p:txBody>
              <a:bodyPr rtlCol="0" anchor="ctr"/>
              <a:lstStyle/>
              <a:p>
                <a:endParaRPr lang="en-US"/>
              </a:p>
            </p:txBody>
          </p:sp>
          <p:sp>
            <p:nvSpPr>
              <p:cNvPr id="103" name="Picture Placeholder 88">
                <a:extLst>
                  <a:ext uri="{FF2B5EF4-FFF2-40B4-BE49-F238E27FC236}">
                    <a16:creationId xmlns:a16="http://schemas.microsoft.com/office/drawing/2014/main" id="{20BBFF93-33B8-1C6C-4398-24E582147A72}"/>
                  </a:ext>
                </a:extLst>
              </p:cNvPr>
              <p:cNvSpPr/>
              <p:nvPr/>
            </p:nvSpPr>
            <p:spPr>
              <a:xfrm>
                <a:off x="5829579" y="2322036"/>
                <a:ext cx="97398" cy="85560"/>
              </a:xfrm>
              <a:custGeom>
                <a:avLst/>
                <a:gdLst>
                  <a:gd name="connsiteX0" fmla="*/ 97399 w 97398"/>
                  <a:gd name="connsiteY0" fmla="*/ 0 h 85560"/>
                  <a:gd name="connsiteX1" fmla="*/ 61981 w 97398"/>
                  <a:gd name="connsiteY1" fmla="*/ 5704 h 85560"/>
                  <a:gd name="connsiteX2" fmla="*/ 70836 w 97398"/>
                  <a:gd name="connsiteY2" fmla="*/ 15844 h 85560"/>
                  <a:gd name="connsiteX3" fmla="*/ 0 w 97398"/>
                  <a:gd name="connsiteY3" fmla="*/ 73518 h 85560"/>
                  <a:gd name="connsiteX4" fmla="*/ 10119 w 97398"/>
                  <a:gd name="connsiteY4" fmla="*/ 85560 h 85560"/>
                  <a:gd name="connsiteX5" fmla="*/ 80322 w 97398"/>
                  <a:gd name="connsiteY5" fmla="*/ 28520 h 85560"/>
                  <a:gd name="connsiteX6" fmla="*/ 89177 w 97398"/>
                  <a:gd name="connsiteY6" fmla="*/ 38661 h 85560"/>
                  <a:gd name="connsiteX7" fmla="*/ 97399 w 97398"/>
                  <a:gd name="connsiteY7" fmla="*/ 17746 h 8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398" h="85560">
                    <a:moveTo>
                      <a:pt x="97399" y="0"/>
                    </a:moveTo>
                    <a:lnTo>
                      <a:pt x="61981" y="5704"/>
                    </a:lnTo>
                    <a:lnTo>
                      <a:pt x="70836" y="15844"/>
                    </a:lnTo>
                    <a:lnTo>
                      <a:pt x="0" y="73518"/>
                    </a:lnTo>
                    <a:lnTo>
                      <a:pt x="10119" y="85560"/>
                    </a:lnTo>
                    <a:lnTo>
                      <a:pt x="80322" y="28520"/>
                    </a:lnTo>
                    <a:lnTo>
                      <a:pt x="89177" y="38661"/>
                    </a:lnTo>
                    <a:lnTo>
                      <a:pt x="97399" y="17746"/>
                    </a:lnTo>
                    <a:close/>
                  </a:path>
                </a:pathLst>
              </a:custGeom>
              <a:grpFill/>
              <a:ln w="6271" cap="flat">
                <a:noFill/>
                <a:prstDash val="solid"/>
                <a:miter/>
              </a:ln>
            </p:spPr>
            <p:txBody>
              <a:bodyPr rtlCol="0" anchor="ctr"/>
              <a:lstStyle/>
              <a:p>
                <a:endParaRPr lang="en-US"/>
              </a:p>
            </p:txBody>
          </p:sp>
          <p:sp>
            <p:nvSpPr>
              <p:cNvPr id="104" name="Picture Placeholder 88">
                <a:extLst>
                  <a:ext uri="{FF2B5EF4-FFF2-40B4-BE49-F238E27FC236}">
                    <a16:creationId xmlns:a16="http://schemas.microsoft.com/office/drawing/2014/main" id="{B40F456F-3F00-E342-C957-37DEF1E40D6A}"/>
                  </a:ext>
                </a:extLst>
              </p:cNvPr>
              <p:cNvSpPr/>
              <p:nvPr/>
            </p:nvSpPr>
            <p:spPr>
              <a:xfrm>
                <a:off x="5945319" y="2269432"/>
                <a:ext cx="316230" cy="244004"/>
              </a:xfrm>
              <a:custGeom>
                <a:avLst/>
                <a:gdLst>
                  <a:gd name="connsiteX0" fmla="*/ 316230 w 316230"/>
                  <a:gd name="connsiteY0" fmla="*/ 244005 h 244004"/>
                  <a:gd name="connsiteX1" fmla="*/ 0 w 316230"/>
                  <a:gd name="connsiteY1" fmla="*/ 244005 h 244004"/>
                  <a:gd name="connsiteX2" fmla="*/ 0 w 316230"/>
                  <a:gd name="connsiteY2" fmla="*/ 0 h 244004"/>
                  <a:gd name="connsiteX3" fmla="*/ 316230 w 316230"/>
                  <a:gd name="connsiteY3" fmla="*/ 0 h 244004"/>
                  <a:gd name="connsiteX4" fmla="*/ 316230 w 316230"/>
                  <a:gd name="connsiteY4" fmla="*/ 244005 h 244004"/>
                  <a:gd name="connsiteX5" fmla="*/ 15812 w 316230"/>
                  <a:gd name="connsiteY5" fmla="*/ 228160 h 244004"/>
                  <a:gd name="connsiteX6" fmla="*/ 300419 w 316230"/>
                  <a:gd name="connsiteY6" fmla="*/ 228160 h 244004"/>
                  <a:gd name="connsiteX7" fmla="*/ 300419 w 316230"/>
                  <a:gd name="connsiteY7" fmla="*/ 15844 h 244004"/>
                  <a:gd name="connsiteX8" fmla="*/ 15812 w 316230"/>
                  <a:gd name="connsiteY8" fmla="*/ 15844 h 244004"/>
                  <a:gd name="connsiteX9" fmla="*/ 15812 w 316230"/>
                  <a:gd name="connsiteY9" fmla="*/ 228160 h 24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230" h="244004">
                    <a:moveTo>
                      <a:pt x="316230" y="244005"/>
                    </a:moveTo>
                    <a:lnTo>
                      <a:pt x="0" y="244005"/>
                    </a:lnTo>
                    <a:lnTo>
                      <a:pt x="0" y="0"/>
                    </a:lnTo>
                    <a:lnTo>
                      <a:pt x="316230" y="0"/>
                    </a:lnTo>
                    <a:lnTo>
                      <a:pt x="316230" y="244005"/>
                    </a:lnTo>
                    <a:close/>
                    <a:moveTo>
                      <a:pt x="15812" y="228160"/>
                    </a:moveTo>
                    <a:lnTo>
                      <a:pt x="300419" y="228160"/>
                    </a:lnTo>
                    <a:lnTo>
                      <a:pt x="300419" y="15844"/>
                    </a:lnTo>
                    <a:lnTo>
                      <a:pt x="15812" y="15844"/>
                    </a:lnTo>
                    <a:lnTo>
                      <a:pt x="15812" y="228160"/>
                    </a:lnTo>
                    <a:close/>
                  </a:path>
                </a:pathLst>
              </a:custGeom>
              <a:grpFill/>
              <a:ln w="6271" cap="flat">
                <a:noFill/>
                <a:prstDash val="solid"/>
                <a:miter/>
              </a:ln>
            </p:spPr>
            <p:txBody>
              <a:bodyPr rtlCol="0" anchor="ctr"/>
              <a:lstStyle/>
              <a:p>
                <a:endParaRPr lang="en-US"/>
              </a:p>
            </p:txBody>
          </p:sp>
          <p:sp>
            <p:nvSpPr>
              <p:cNvPr id="105" name="Picture Placeholder 88">
                <a:extLst>
                  <a:ext uri="{FF2B5EF4-FFF2-40B4-BE49-F238E27FC236}">
                    <a16:creationId xmlns:a16="http://schemas.microsoft.com/office/drawing/2014/main" id="{A6893B4C-A710-537A-5ED9-181B9E08FFC8}"/>
                  </a:ext>
                </a:extLst>
              </p:cNvPr>
              <p:cNvSpPr/>
              <p:nvPr/>
            </p:nvSpPr>
            <p:spPr>
              <a:xfrm>
                <a:off x="5957968" y="2323937"/>
                <a:ext cx="254248" cy="15844"/>
              </a:xfrm>
              <a:custGeom>
                <a:avLst/>
                <a:gdLst>
                  <a:gd name="connsiteX0" fmla="*/ 0 w 254248"/>
                  <a:gd name="connsiteY0" fmla="*/ 0 h 15844"/>
                  <a:gd name="connsiteX1" fmla="*/ 254249 w 254248"/>
                  <a:gd name="connsiteY1" fmla="*/ 0 h 15844"/>
                  <a:gd name="connsiteX2" fmla="*/ 254249 w 254248"/>
                  <a:gd name="connsiteY2" fmla="*/ 15844 h 15844"/>
                  <a:gd name="connsiteX3" fmla="*/ 0 w 254248"/>
                  <a:gd name="connsiteY3" fmla="*/ 15844 h 15844"/>
                </a:gdLst>
                <a:ahLst/>
                <a:cxnLst>
                  <a:cxn ang="0">
                    <a:pos x="connsiteX0" y="connsiteY0"/>
                  </a:cxn>
                  <a:cxn ang="0">
                    <a:pos x="connsiteX1" y="connsiteY1"/>
                  </a:cxn>
                  <a:cxn ang="0">
                    <a:pos x="connsiteX2" y="connsiteY2"/>
                  </a:cxn>
                  <a:cxn ang="0">
                    <a:pos x="connsiteX3" y="connsiteY3"/>
                  </a:cxn>
                </a:cxnLst>
                <a:rect l="l" t="t" r="r" b="b"/>
                <a:pathLst>
                  <a:path w="254248" h="15844">
                    <a:moveTo>
                      <a:pt x="0" y="0"/>
                    </a:moveTo>
                    <a:lnTo>
                      <a:pt x="254249" y="0"/>
                    </a:lnTo>
                    <a:lnTo>
                      <a:pt x="254249" y="15844"/>
                    </a:lnTo>
                    <a:lnTo>
                      <a:pt x="0" y="15844"/>
                    </a:lnTo>
                    <a:close/>
                  </a:path>
                </a:pathLst>
              </a:custGeom>
              <a:grpFill/>
              <a:ln w="6271" cap="flat">
                <a:noFill/>
                <a:prstDash val="solid"/>
                <a:miter/>
              </a:ln>
            </p:spPr>
            <p:txBody>
              <a:bodyPr rtlCol="0" anchor="ctr"/>
              <a:lstStyle/>
              <a:p>
                <a:endParaRPr lang="en-US"/>
              </a:p>
            </p:txBody>
          </p:sp>
          <p:sp>
            <p:nvSpPr>
              <p:cNvPr id="106" name="Picture Placeholder 88">
                <a:extLst>
                  <a:ext uri="{FF2B5EF4-FFF2-40B4-BE49-F238E27FC236}">
                    <a16:creationId xmlns:a16="http://schemas.microsoft.com/office/drawing/2014/main" id="{EF11F5AB-7DDF-C33A-B53C-36584490FAC2}"/>
                  </a:ext>
                </a:extLst>
              </p:cNvPr>
              <p:cNvSpPr/>
              <p:nvPr/>
            </p:nvSpPr>
            <p:spPr>
              <a:xfrm>
                <a:off x="6033231" y="2380977"/>
                <a:ext cx="37947" cy="101404"/>
              </a:xfrm>
              <a:custGeom>
                <a:avLst/>
                <a:gdLst>
                  <a:gd name="connsiteX0" fmla="*/ 37948 w 37947"/>
                  <a:gd name="connsiteY0" fmla="*/ 101405 h 101404"/>
                  <a:gd name="connsiteX1" fmla="*/ 0 w 37947"/>
                  <a:gd name="connsiteY1" fmla="*/ 101405 h 101404"/>
                  <a:gd name="connsiteX2" fmla="*/ 0 w 37947"/>
                  <a:gd name="connsiteY2" fmla="*/ 0 h 101404"/>
                  <a:gd name="connsiteX3" fmla="*/ 37948 w 37947"/>
                  <a:gd name="connsiteY3" fmla="*/ 0 h 101404"/>
                  <a:gd name="connsiteX4" fmla="*/ 37948 w 37947"/>
                  <a:gd name="connsiteY4" fmla="*/ 101405 h 101404"/>
                  <a:gd name="connsiteX5" fmla="*/ 13914 w 37947"/>
                  <a:gd name="connsiteY5" fmla="*/ 87461 h 101404"/>
                  <a:gd name="connsiteX6" fmla="*/ 23401 w 37947"/>
                  <a:gd name="connsiteY6" fmla="*/ 87461 h 101404"/>
                  <a:gd name="connsiteX7" fmla="*/ 23401 w 37947"/>
                  <a:gd name="connsiteY7" fmla="*/ 14577 h 101404"/>
                  <a:gd name="connsiteX8" fmla="*/ 13914 w 37947"/>
                  <a:gd name="connsiteY8" fmla="*/ 14577 h 101404"/>
                  <a:gd name="connsiteX9" fmla="*/ 13914 w 37947"/>
                  <a:gd name="connsiteY9" fmla="*/ 87461 h 101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47" h="101404">
                    <a:moveTo>
                      <a:pt x="37948" y="101405"/>
                    </a:moveTo>
                    <a:lnTo>
                      <a:pt x="0" y="101405"/>
                    </a:lnTo>
                    <a:lnTo>
                      <a:pt x="0" y="0"/>
                    </a:lnTo>
                    <a:lnTo>
                      <a:pt x="37948" y="0"/>
                    </a:lnTo>
                    <a:lnTo>
                      <a:pt x="37948" y="101405"/>
                    </a:lnTo>
                    <a:close/>
                    <a:moveTo>
                      <a:pt x="13914" y="87461"/>
                    </a:moveTo>
                    <a:lnTo>
                      <a:pt x="23401" y="87461"/>
                    </a:lnTo>
                    <a:lnTo>
                      <a:pt x="23401" y="14577"/>
                    </a:lnTo>
                    <a:lnTo>
                      <a:pt x="13914" y="14577"/>
                    </a:lnTo>
                    <a:lnTo>
                      <a:pt x="13914" y="87461"/>
                    </a:lnTo>
                    <a:close/>
                  </a:path>
                </a:pathLst>
              </a:custGeom>
              <a:grpFill/>
              <a:ln w="6271" cap="flat">
                <a:noFill/>
                <a:prstDash val="solid"/>
                <a:miter/>
              </a:ln>
            </p:spPr>
            <p:txBody>
              <a:bodyPr rtlCol="0" anchor="ctr"/>
              <a:lstStyle/>
              <a:p>
                <a:endParaRPr lang="en-US"/>
              </a:p>
            </p:txBody>
          </p:sp>
          <p:sp>
            <p:nvSpPr>
              <p:cNvPr id="107" name="Picture Placeholder 88">
                <a:extLst>
                  <a:ext uri="{FF2B5EF4-FFF2-40B4-BE49-F238E27FC236}">
                    <a16:creationId xmlns:a16="http://schemas.microsoft.com/office/drawing/2014/main" id="{7D94642C-EC7B-5B18-F592-5C3D24505F67}"/>
                  </a:ext>
                </a:extLst>
              </p:cNvPr>
              <p:cNvSpPr/>
              <p:nvPr/>
            </p:nvSpPr>
            <p:spPr>
              <a:xfrm>
                <a:off x="5983267" y="2444355"/>
                <a:ext cx="37947" cy="38026"/>
              </a:xfrm>
              <a:custGeom>
                <a:avLst/>
                <a:gdLst>
                  <a:gd name="connsiteX0" fmla="*/ 37948 w 37947"/>
                  <a:gd name="connsiteY0" fmla="*/ 38027 h 38026"/>
                  <a:gd name="connsiteX1" fmla="*/ 0 w 37947"/>
                  <a:gd name="connsiteY1" fmla="*/ 38027 h 38026"/>
                  <a:gd name="connsiteX2" fmla="*/ 0 w 37947"/>
                  <a:gd name="connsiteY2" fmla="*/ 0 h 38026"/>
                  <a:gd name="connsiteX3" fmla="*/ 37948 w 37947"/>
                  <a:gd name="connsiteY3" fmla="*/ 0 h 38026"/>
                  <a:gd name="connsiteX4" fmla="*/ 37948 w 37947"/>
                  <a:gd name="connsiteY4" fmla="*/ 38027 h 38026"/>
                  <a:gd name="connsiteX5" fmla="*/ 13914 w 37947"/>
                  <a:gd name="connsiteY5" fmla="*/ 24084 h 38026"/>
                  <a:gd name="connsiteX6" fmla="*/ 23401 w 37947"/>
                  <a:gd name="connsiteY6" fmla="*/ 24084 h 38026"/>
                  <a:gd name="connsiteX7" fmla="*/ 23401 w 37947"/>
                  <a:gd name="connsiteY7" fmla="*/ 14577 h 38026"/>
                  <a:gd name="connsiteX8" fmla="*/ 13914 w 37947"/>
                  <a:gd name="connsiteY8" fmla="*/ 14577 h 38026"/>
                  <a:gd name="connsiteX9" fmla="*/ 13914 w 37947"/>
                  <a:gd name="connsiteY9" fmla="*/ 24084 h 38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47" h="38026">
                    <a:moveTo>
                      <a:pt x="37948" y="38027"/>
                    </a:moveTo>
                    <a:lnTo>
                      <a:pt x="0" y="38027"/>
                    </a:lnTo>
                    <a:lnTo>
                      <a:pt x="0" y="0"/>
                    </a:lnTo>
                    <a:lnTo>
                      <a:pt x="37948" y="0"/>
                    </a:lnTo>
                    <a:lnTo>
                      <a:pt x="37948" y="38027"/>
                    </a:lnTo>
                    <a:close/>
                    <a:moveTo>
                      <a:pt x="13914" y="24084"/>
                    </a:moveTo>
                    <a:lnTo>
                      <a:pt x="23401" y="24084"/>
                    </a:lnTo>
                    <a:lnTo>
                      <a:pt x="23401" y="14577"/>
                    </a:lnTo>
                    <a:lnTo>
                      <a:pt x="13914" y="14577"/>
                    </a:lnTo>
                    <a:lnTo>
                      <a:pt x="13914" y="24084"/>
                    </a:lnTo>
                    <a:close/>
                  </a:path>
                </a:pathLst>
              </a:custGeom>
              <a:grpFill/>
              <a:ln w="6271" cap="flat">
                <a:noFill/>
                <a:prstDash val="solid"/>
                <a:miter/>
              </a:ln>
            </p:spPr>
            <p:txBody>
              <a:bodyPr rtlCol="0" anchor="ctr"/>
              <a:lstStyle/>
              <a:p>
                <a:endParaRPr lang="en-US"/>
              </a:p>
            </p:txBody>
          </p:sp>
          <p:sp>
            <p:nvSpPr>
              <p:cNvPr id="108" name="Picture Placeholder 88">
                <a:extLst>
                  <a:ext uri="{FF2B5EF4-FFF2-40B4-BE49-F238E27FC236}">
                    <a16:creationId xmlns:a16="http://schemas.microsoft.com/office/drawing/2014/main" id="{9CEA59AF-72B8-A09B-744D-A62C652F7124}"/>
                  </a:ext>
                </a:extLst>
              </p:cNvPr>
              <p:cNvSpPr/>
              <p:nvPr/>
            </p:nvSpPr>
            <p:spPr>
              <a:xfrm>
                <a:off x="6083196" y="2428510"/>
                <a:ext cx="37947" cy="53871"/>
              </a:xfrm>
              <a:custGeom>
                <a:avLst/>
                <a:gdLst>
                  <a:gd name="connsiteX0" fmla="*/ 37948 w 37947"/>
                  <a:gd name="connsiteY0" fmla="*/ 53871 h 53871"/>
                  <a:gd name="connsiteX1" fmla="*/ 0 w 37947"/>
                  <a:gd name="connsiteY1" fmla="*/ 53871 h 53871"/>
                  <a:gd name="connsiteX2" fmla="*/ 0 w 37947"/>
                  <a:gd name="connsiteY2" fmla="*/ 0 h 53871"/>
                  <a:gd name="connsiteX3" fmla="*/ 37948 w 37947"/>
                  <a:gd name="connsiteY3" fmla="*/ 0 h 53871"/>
                  <a:gd name="connsiteX4" fmla="*/ 37948 w 37947"/>
                  <a:gd name="connsiteY4" fmla="*/ 53871 h 53871"/>
                  <a:gd name="connsiteX5" fmla="*/ 13914 w 37947"/>
                  <a:gd name="connsiteY5" fmla="*/ 39928 h 53871"/>
                  <a:gd name="connsiteX6" fmla="*/ 23401 w 37947"/>
                  <a:gd name="connsiteY6" fmla="*/ 39928 h 53871"/>
                  <a:gd name="connsiteX7" fmla="*/ 23401 w 37947"/>
                  <a:gd name="connsiteY7" fmla="*/ 14577 h 53871"/>
                  <a:gd name="connsiteX8" fmla="*/ 13914 w 37947"/>
                  <a:gd name="connsiteY8" fmla="*/ 14577 h 53871"/>
                  <a:gd name="connsiteX9" fmla="*/ 13914 w 37947"/>
                  <a:gd name="connsiteY9" fmla="*/ 39928 h 5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47" h="53871">
                    <a:moveTo>
                      <a:pt x="37948" y="53871"/>
                    </a:moveTo>
                    <a:lnTo>
                      <a:pt x="0" y="53871"/>
                    </a:lnTo>
                    <a:lnTo>
                      <a:pt x="0" y="0"/>
                    </a:lnTo>
                    <a:lnTo>
                      <a:pt x="37948" y="0"/>
                    </a:lnTo>
                    <a:lnTo>
                      <a:pt x="37948" y="53871"/>
                    </a:lnTo>
                    <a:close/>
                    <a:moveTo>
                      <a:pt x="13914" y="39928"/>
                    </a:moveTo>
                    <a:lnTo>
                      <a:pt x="23401" y="39928"/>
                    </a:lnTo>
                    <a:lnTo>
                      <a:pt x="23401" y="14577"/>
                    </a:lnTo>
                    <a:lnTo>
                      <a:pt x="13914" y="14577"/>
                    </a:lnTo>
                    <a:lnTo>
                      <a:pt x="13914" y="39928"/>
                    </a:lnTo>
                    <a:close/>
                  </a:path>
                </a:pathLst>
              </a:custGeom>
              <a:grpFill/>
              <a:ln w="6271" cap="flat">
                <a:noFill/>
                <a:prstDash val="solid"/>
                <a:miter/>
              </a:ln>
            </p:spPr>
            <p:txBody>
              <a:bodyPr rtlCol="0" anchor="ctr"/>
              <a:lstStyle/>
              <a:p>
                <a:endParaRPr lang="en-US"/>
              </a:p>
            </p:txBody>
          </p:sp>
          <p:sp>
            <p:nvSpPr>
              <p:cNvPr id="109" name="Picture Placeholder 88">
                <a:extLst>
                  <a:ext uri="{FF2B5EF4-FFF2-40B4-BE49-F238E27FC236}">
                    <a16:creationId xmlns:a16="http://schemas.microsoft.com/office/drawing/2014/main" id="{CE1CB8CC-51AE-6747-6B6C-69F0F5E00B55}"/>
                  </a:ext>
                </a:extLst>
              </p:cNvPr>
              <p:cNvSpPr/>
              <p:nvPr/>
            </p:nvSpPr>
            <p:spPr>
              <a:xfrm>
                <a:off x="6183124" y="2428510"/>
                <a:ext cx="37947" cy="53871"/>
              </a:xfrm>
              <a:custGeom>
                <a:avLst/>
                <a:gdLst>
                  <a:gd name="connsiteX0" fmla="*/ 37948 w 37947"/>
                  <a:gd name="connsiteY0" fmla="*/ 53871 h 53871"/>
                  <a:gd name="connsiteX1" fmla="*/ 0 w 37947"/>
                  <a:gd name="connsiteY1" fmla="*/ 53871 h 53871"/>
                  <a:gd name="connsiteX2" fmla="*/ 0 w 37947"/>
                  <a:gd name="connsiteY2" fmla="*/ 0 h 53871"/>
                  <a:gd name="connsiteX3" fmla="*/ 37948 w 37947"/>
                  <a:gd name="connsiteY3" fmla="*/ 0 h 53871"/>
                  <a:gd name="connsiteX4" fmla="*/ 37948 w 37947"/>
                  <a:gd name="connsiteY4" fmla="*/ 53871 h 53871"/>
                  <a:gd name="connsiteX5" fmla="*/ 13914 w 37947"/>
                  <a:gd name="connsiteY5" fmla="*/ 39928 h 53871"/>
                  <a:gd name="connsiteX6" fmla="*/ 23401 w 37947"/>
                  <a:gd name="connsiteY6" fmla="*/ 39928 h 53871"/>
                  <a:gd name="connsiteX7" fmla="*/ 23401 w 37947"/>
                  <a:gd name="connsiteY7" fmla="*/ 14577 h 53871"/>
                  <a:gd name="connsiteX8" fmla="*/ 13914 w 37947"/>
                  <a:gd name="connsiteY8" fmla="*/ 14577 h 53871"/>
                  <a:gd name="connsiteX9" fmla="*/ 13914 w 37947"/>
                  <a:gd name="connsiteY9" fmla="*/ 39928 h 5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47" h="53871">
                    <a:moveTo>
                      <a:pt x="37948" y="53871"/>
                    </a:moveTo>
                    <a:lnTo>
                      <a:pt x="0" y="53871"/>
                    </a:lnTo>
                    <a:lnTo>
                      <a:pt x="0" y="0"/>
                    </a:lnTo>
                    <a:lnTo>
                      <a:pt x="37948" y="0"/>
                    </a:lnTo>
                    <a:lnTo>
                      <a:pt x="37948" y="53871"/>
                    </a:lnTo>
                    <a:close/>
                    <a:moveTo>
                      <a:pt x="13914" y="39928"/>
                    </a:moveTo>
                    <a:lnTo>
                      <a:pt x="23401" y="39928"/>
                    </a:lnTo>
                    <a:lnTo>
                      <a:pt x="23401" y="14577"/>
                    </a:lnTo>
                    <a:lnTo>
                      <a:pt x="13914" y="14577"/>
                    </a:lnTo>
                    <a:lnTo>
                      <a:pt x="13914" y="39928"/>
                    </a:lnTo>
                    <a:close/>
                  </a:path>
                </a:pathLst>
              </a:custGeom>
              <a:grpFill/>
              <a:ln w="6271" cap="flat">
                <a:noFill/>
                <a:prstDash val="solid"/>
                <a:miter/>
              </a:ln>
            </p:spPr>
            <p:txBody>
              <a:bodyPr rtlCol="0" anchor="ctr"/>
              <a:lstStyle/>
              <a:p>
                <a:endParaRPr lang="en-US"/>
              </a:p>
            </p:txBody>
          </p:sp>
          <p:sp>
            <p:nvSpPr>
              <p:cNvPr id="110" name="Picture Placeholder 88">
                <a:extLst>
                  <a:ext uri="{FF2B5EF4-FFF2-40B4-BE49-F238E27FC236}">
                    <a16:creationId xmlns:a16="http://schemas.microsoft.com/office/drawing/2014/main" id="{F986AB38-9FC9-ABE8-53AE-7A5FAD4D29E0}"/>
                  </a:ext>
                </a:extLst>
              </p:cNvPr>
              <p:cNvSpPr/>
              <p:nvPr/>
            </p:nvSpPr>
            <p:spPr>
              <a:xfrm>
                <a:off x="6133160" y="2380977"/>
                <a:ext cx="37947" cy="101404"/>
              </a:xfrm>
              <a:custGeom>
                <a:avLst/>
                <a:gdLst>
                  <a:gd name="connsiteX0" fmla="*/ 37948 w 37947"/>
                  <a:gd name="connsiteY0" fmla="*/ 101405 h 101404"/>
                  <a:gd name="connsiteX1" fmla="*/ 0 w 37947"/>
                  <a:gd name="connsiteY1" fmla="*/ 101405 h 101404"/>
                  <a:gd name="connsiteX2" fmla="*/ 0 w 37947"/>
                  <a:gd name="connsiteY2" fmla="*/ 0 h 101404"/>
                  <a:gd name="connsiteX3" fmla="*/ 37948 w 37947"/>
                  <a:gd name="connsiteY3" fmla="*/ 0 h 101404"/>
                  <a:gd name="connsiteX4" fmla="*/ 37948 w 37947"/>
                  <a:gd name="connsiteY4" fmla="*/ 101405 h 101404"/>
                  <a:gd name="connsiteX5" fmla="*/ 13914 w 37947"/>
                  <a:gd name="connsiteY5" fmla="*/ 87461 h 101404"/>
                  <a:gd name="connsiteX6" fmla="*/ 23401 w 37947"/>
                  <a:gd name="connsiteY6" fmla="*/ 87461 h 101404"/>
                  <a:gd name="connsiteX7" fmla="*/ 23401 w 37947"/>
                  <a:gd name="connsiteY7" fmla="*/ 14577 h 101404"/>
                  <a:gd name="connsiteX8" fmla="*/ 13914 w 37947"/>
                  <a:gd name="connsiteY8" fmla="*/ 14577 h 101404"/>
                  <a:gd name="connsiteX9" fmla="*/ 13914 w 37947"/>
                  <a:gd name="connsiteY9" fmla="*/ 87461 h 101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47" h="101404">
                    <a:moveTo>
                      <a:pt x="37948" y="101405"/>
                    </a:moveTo>
                    <a:lnTo>
                      <a:pt x="0" y="101405"/>
                    </a:lnTo>
                    <a:lnTo>
                      <a:pt x="0" y="0"/>
                    </a:lnTo>
                    <a:lnTo>
                      <a:pt x="37948" y="0"/>
                    </a:lnTo>
                    <a:lnTo>
                      <a:pt x="37948" y="101405"/>
                    </a:lnTo>
                    <a:close/>
                    <a:moveTo>
                      <a:pt x="13914" y="87461"/>
                    </a:moveTo>
                    <a:lnTo>
                      <a:pt x="23401" y="87461"/>
                    </a:lnTo>
                    <a:lnTo>
                      <a:pt x="23401" y="14577"/>
                    </a:lnTo>
                    <a:lnTo>
                      <a:pt x="13914" y="14577"/>
                    </a:lnTo>
                    <a:lnTo>
                      <a:pt x="13914" y="87461"/>
                    </a:lnTo>
                    <a:close/>
                  </a:path>
                </a:pathLst>
              </a:custGeom>
              <a:grpFill/>
              <a:ln w="6271" cap="flat">
                <a:noFill/>
                <a:prstDash val="solid"/>
                <a:miter/>
              </a:ln>
            </p:spPr>
            <p:txBody>
              <a:bodyPr rtlCol="0" anchor="ctr"/>
              <a:lstStyle/>
              <a:p>
                <a:endParaRPr lang="en-US"/>
              </a:p>
            </p:txBody>
          </p:sp>
        </p:grpSp>
      </p:grpSp>
      <p:grpSp>
        <p:nvGrpSpPr>
          <p:cNvPr id="177" name="Group 176">
            <a:extLst>
              <a:ext uri="{FF2B5EF4-FFF2-40B4-BE49-F238E27FC236}">
                <a16:creationId xmlns:a16="http://schemas.microsoft.com/office/drawing/2014/main" id="{3D622DEA-1CC1-0784-D7E2-A8F7B876A612}"/>
              </a:ext>
            </a:extLst>
          </p:cNvPr>
          <p:cNvGrpSpPr/>
          <p:nvPr/>
        </p:nvGrpSpPr>
        <p:grpSpPr>
          <a:xfrm>
            <a:off x="6255305" y="1600201"/>
            <a:ext cx="5334000" cy="377904"/>
            <a:chOff x="6255305" y="2857972"/>
            <a:chExt cx="5334000" cy="377904"/>
          </a:xfrm>
        </p:grpSpPr>
        <p:sp>
          <p:nvSpPr>
            <p:cNvPr id="133" name="Isosceles Triangle 166">
              <a:extLst>
                <a:ext uri="{FF2B5EF4-FFF2-40B4-BE49-F238E27FC236}">
                  <a16:creationId xmlns:a16="http://schemas.microsoft.com/office/drawing/2014/main" id="{263020BC-95AC-674D-9BC6-809676C876FF}"/>
                </a:ext>
              </a:extLst>
            </p:cNvPr>
            <p:cNvSpPr/>
            <p:nvPr/>
          </p:nvSpPr>
          <p:spPr>
            <a:xfrm>
              <a:off x="6255305" y="2861203"/>
              <a:ext cx="670560" cy="374673"/>
            </a:xfrm>
            <a:prstGeom prst="triangle">
              <a:avLst/>
            </a:prstGeom>
            <a:solidFill>
              <a:schemeClr val="accent3">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34" name="Rectangle 133">
              <a:extLst>
                <a:ext uri="{FF2B5EF4-FFF2-40B4-BE49-F238E27FC236}">
                  <a16:creationId xmlns:a16="http://schemas.microsoft.com/office/drawing/2014/main" id="{0579BB02-342F-F059-5C7C-137C36DBDD66}"/>
                </a:ext>
              </a:extLst>
            </p:cNvPr>
            <p:cNvSpPr/>
            <p:nvPr/>
          </p:nvSpPr>
          <p:spPr>
            <a:xfrm>
              <a:off x="6591300" y="2857972"/>
              <a:ext cx="4662724" cy="377904"/>
            </a:xfrm>
            <a:prstGeom prst="rect">
              <a:avLst/>
            </a:prstGeom>
            <a:solidFill>
              <a:schemeClr val="accent3">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chemeClr val="bg1"/>
                  </a:solidFill>
                </a:rPr>
                <a:t>Supreme Resource &amp; Space Efficiency</a:t>
              </a:r>
            </a:p>
          </p:txBody>
        </p:sp>
        <p:sp>
          <p:nvSpPr>
            <p:cNvPr id="135" name="Isosceles Triangle 166">
              <a:extLst>
                <a:ext uri="{FF2B5EF4-FFF2-40B4-BE49-F238E27FC236}">
                  <a16:creationId xmlns:a16="http://schemas.microsoft.com/office/drawing/2014/main" id="{F91F8CFA-B259-5446-9FDA-5EDEDE7D1780}"/>
                </a:ext>
              </a:extLst>
            </p:cNvPr>
            <p:cNvSpPr/>
            <p:nvPr/>
          </p:nvSpPr>
          <p:spPr>
            <a:xfrm rot="10800000">
              <a:off x="10918745" y="2857972"/>
              <a:ext cx="670560" cy="374673"/>
            </a:xfrm>
            <a:prstGeom prst="triangle">
              <a:avLst/>
            </a:prstGeom>
            <a:solidFill>
              <a:schemeClr val="accent3">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nvGrpSpPr>
            <p:cNvPr id="136" name="Picture Placeholder 108" descr="Compression&#10;">
              <a:extLst>
                <a:ext uri="{FF2B5EF4-FFF2-40B4-BE49-F238E27FC236}">
                  <a16:creationId xmlns:a16="http://schemas.microsoft.com/office/drawing/2014/main" id="{6A52391E-0A02-AD9A-4979-21B6BB586BCB}"/>
                </a:ext>
              </a:extLst>
            </p:cNvPr>
            <p:cNvGrpSpPr/>
            <p:nvPr/>
          </p:nvGrpSpPr>
          <p:grpSpPr>
            <a:xfrm>
              <a:off x="6924457" y="2919791"/>
              <a:ext cx="295594" cy="254267"/>
              <a:chOff x="9765919" y="4464462"/>
              <a:chExt cx="592615" cy="509762"/>
            </a:xfrm>
            <a:solidFill>
              <a:schemeClr val="bg1"/>
            </a:solidFill>
          </p:grpSpPr>
          <p:sp>
            <p:nvSpPr>
              <p:cNvPr id="137" name="Picture Placeholder 108">
                <a:extLst>
                  <a:ext uri="{FF2B5EF4-FFF2-40B4-BE49-F238E27FC236}">
                    <a16:creationId xmlns:a16="http://schemas.microsoft.com/office/drawing/2014/main" id="{F4015432-0736-ACDC-C6EB-5D7D8628352E}"/>
                  </a:ext>
                </a:extLst>
              </p:cNvPr>
              <p:cNvSpPr/>
              <p:nvPr/>
            </p:nvSpPr>
            <p:spPr>
              <a:xfrm>
                <a:off x="10223820" y="4535298"/>
                <a:ext cx="6324" cy="149260"/>
              </a:xfrm>
              <a:custGeom>
                <a:avLst/>
                <a:gdLst>
                  <a:gd name="connsiteX0" fmla="*/ 0 w 6324"/>
                  <a:gd name="connsiteY0" fmla="*/ 0 h 149260"/>
                  <a:gd name="connsiteX1" fmla="*/ 0 w 6324"/>
                  <a:gd name="connsiteY1" fmla="*/ 149261 h 149260"/>
                </a:gdLst>
                <a:ahLst/>
                <a:cxnLst>
                  <a:cxn ang="0">
                    <a:pos x="connsiteX0" y="connsiteY0"/>
                  </a:cxn>
                  <a:cxn ang="0">
                    <a:pos x="connsiteX1" y="connsiteY1"/>
                  </a:cxn>
                </a:cxnLst>
                <a:rect l="l" t="t" r="r" b="b"/>
                <a:pathLst>
                  <a:path w="6324" h="149260">
                    <a:moveTo>
                      <a:pt x="0" y="0"/>
                    </a:moveTo>
                    <a:lnTo>
                      <a:pt x="0" y="149261"/>
                    </a:lnTo>
                  </a:path>
                </a:pathLst>
              </a:custGeom>
              <a:grpFill/>
              <a:ln w="6271" cap="flat">
                <a:noFill/>
                <a:prstDash val="solid"/>
                <a:miter/>
              </a:ln>
            </p:spPr>
            <p:txBody>
              <a:bodyPr rtlCol="0" anchor="ctr"/>
              <a:lstStyle/>
              <a:p>
                <a:endParaRPr lang="en-US"/>
              </a:p>
            </p:txBody>
          </p:sp>
          <p:grpSp>
            <p:nvGrpSpPr>
              <p:cNvPr id="138" name="Picture Placeholder 108">
                <a:extLst>
                  <a:ext uri="{FF2B5EF4-FFF2-40B4-BE49-F238E27FC236}">
                    <a16:creationId xmlns:a16="http://schemas.microsoft.com/office/drawing/2014/main" id="{CB3E724E-1407-3D83-67FC-C85FDDB3F736}"/>
                  </a:ext>
                </a:extLst>
              </p:cNvPr>
              <p:cNvGrpSpPr/>
              <p:nvPr/>
            </p:nvGrpSpPr>
            <p:grpSpPr>
              <a:xfrm>
                <a:off x="10193462" y="4535298"/>
                <a:ext cx="60083" cy="149260"/>
                <a:chOff x="10193462" y="4535298"/>
                <a:chExt cx="60083" cy="149260"/>
              </a:xfrm>
              <a:grpFill/>
            </p:grpSpPr>
            <p:sp>
              <p:nvSpPr>
                <p:cNvPr id="154" name="Picture Placeholder 108">
                  <a:extLst>
                    <a:ext uri="{FF2B5EF4-FFF2-40B4-BE49-F238E27FC236}">
                      <a16:creationId xmlns:a16="http://schemas.microsoft.com/office/drawing/2014/main" id="{71746256-D5D1-D944-A45B-599AD6536D87}"/>
                    </a:ext>
                  </a:extLst>
                </p:cNvPr>
                <p:cNvSpPr/>
                <p:nvPr/>
              </p:nvSpPr>
              <p:spPr>
                <a:xfrm>
                  <a:off x="10215598" y="4535298"/>
                  <a:ext cx="15811" cy="106253"/>
                </a:xfrm>
                <a:custGeom>
                  <a:avLst/>
                  <a:gdLst>
                    <a:gd name="connsiteX0" fmla="*/ 0 w 15811"/>
                    <a:gd name="connsiteY0" fmla="*/ 0 h 106253"/>
                    <a:gd name="connsiteX1" fmla="*/ 15811 w 15811"/>
                    <a:gd name="connsiteY1" fmla="*/ 0 h 106253"/>
                    <a:gd name="connsiteX2" fmla="*/ 15811 w 15811"/>
                    <a:gd name="connsiteY2" fmla="*/ 106253 h 106253"/>
                    <a:gd name="connsiteX3" fmla="*/ 0 w 15811"/>
                    <a:gd name="connsiteY3" fmla="*/ 106253 h 106253"/>
                  </a:gdLst>
                  <a:ahLst/>
                  <a:cxnLst>
                    <a:cxn ang="0">
                      <a:pos x="connsiteX0" y="connsiteY0"/>
                    </a:cxn>
                    <a:cxn ang="0">
                      <a:pos x="connsiteX1" y="connsiteY1"/>
                    </a:cxn>
                    <a:cxn ang="0">
                      <a:pos x="connsiteX2" y="connsiteY2"/>
                    </a:cxn>
                    <a:cxn ang="0">
                      <a:pos x="connsiteX3" y="connsiteY3"/>
                    </a:cxn>
                  </a:cxnLst>
                  <a:rect l="l" t="t" r="r" b="b"/>
                  <a:pathLst>
                    <a:path w="15811" h="106253">
                      <a:moveTo>
                        <a:pt x="0" y="0"/>
                      </a:moveTo>
                      <a:lnTo>
                        <a:pt x="15811" y="0"/>
                      </a:lnTo>
                      <a:lnTo>
                        <a:pt x="15811" y="106253"/>
                      </a:lnTo>
                      <a:lnTo>
                        <a:pt x="0" y="106253"/>
                      </a:lnTo>
                      <a:close/>
                    </a:path>
                  </a:pathLst>
                </a:custGeom>
                <a:grpFill/>
                <a:ln w="6271" cap="flat">
                  <a:noFill/>
                  <a:prstDash val="solid"/>
                  <a:miter/>
                </a:ln>
              </p:spPr>
              <p:txBody>
                <a:bodyPr rtlCol="0" anchor="ctr"/>
                <a:lstStyle/>
                <a:p>
                  <a:endParaRPr lang="en-US"/>
                </a:p>
              </p:txBody>
            </p:sp>
            <p:sp>
              <p:nvSpPr>
                <p:cNvPr id="155" name="Picture Placeholder 108">
                  <a:extLst>
                    <a:ext uri="{FF2B5EF4-FFF2-40B4-BE49-F238E27FC236}">
                      <a16:creationId xmlns:a16="http://schemas.microsoft.com/office/drawing/2014/main" id="{D83464DE-8D45-25DA-A7E9-14505DBDEABF}"/>
                    </a:ext>
                  </a:extLst>
                </p:cNvPr>
                <p:cNvSpPr/>
                <p:nvPr/>
              </p:nvSpPr>
              <p:spPr>
                <a:xfrm>
                  <a:off x="10193462" y="4632697"/>
                  <a:ext cx="60083" cy="51861"/>
                </a:xfrm>
                <a:custGeom>
                  <a:avLst/>
                  <a:gdLst>
                    <a:gd name="connsiteX0" fmla="*/ 0 w 60083"/>
                    <a:gd name="connsiteY0" fmla="*/ 0 h 51861"/>
                    <a:gd name="connsiteX1" fmla="*/ 30358 w 60083"/>
                    <a:gd name="connsiteY1" fmla="*/ 51862 h 51861"/>
                    <a:gd name="connsiteX2" fmla="*/ 60084 w 60083"/>
                    <a:gd name="connsiteY2" fmla="*/ 0 h 51861"/>
                  </a:gdLst>
                  <a:ahLst/>
                  <a:cxnLst>
                    <a:cxn ang="0">
                      <a:pos x="connsiteX0" y="connsiteY0"/>
                    </a:cxn>
                    <a:cxn ang="0">
                      <a:pos x="connsiteX1" y="connsiteY1"/>
                    </a:cxn>
                    <a:cxn ang="0">
                      <a:pos x="connsiteX2" y="connsiteY2"/>
                    </a:cxn>
                  </a:cxnLst>
                  <a:rect l="l" t="t" r="r" b="b"/>
                  <a:pathLst>
                    <a:path w="60083" h="51861">
                      <a:moveTo>
                        <a:pt x="0" y="0"/>
                      </a:moveTo>
                      <a:lnTo>
                        <a:pt x="30358" y="51862"/>
                      </a:lnTo>
                      <a:lnTo>
                        <a:pt x="60084" y="0"/>
                      </a:lnTo>
                      <a:close/>
                    </a:path>
                  </a:pathLst>
                </a:custGeom>
                <a:grpFill/>
                <a:ln w="6271" cap="flat">
                  <a:noFill/>
                  <a:prstDash val="solid"/>
                  <a:miter/>
                </a:ln>
              </p:spPr>
              <p:txBody>
                <a:bodyPr rtlCol="0" anchor="ctr"/>
                <a:lstStyle/>
                <a:p>
                  <a:endParaRPr lang="en-US"/>
                </a:p>
              </p:txBody>
            </p:sp>
          </p:grpSp>
          <p:grpSp>
            <p:nvGrpSpPr>
              <p:cNvPr id="139" name="Picture Placeholder 108">
                <a:extLst>
                  <a:ext uri="{FF2B5EF4-FFF2-40B4-BE49-F238E27FC236}">
                    <a16:creationId xmlns:a16="http://schemas.microsoft.com/office/drawing/2014/main" id="{1C049CE3-3407-D3DA-949A-268C58C06177}"/>
                  </a:ext>
                </a:extLst>
              </p:cNvPr>
              <p:cNvGrpSpPr/>
              <p:nvPr/>
            </p:nvGrpSpPr>
            <p:grpSpPr>
              <a:xfrm>
                <a:off x="9765919" y="4464462"/>
                <a:ext cx="277017" cy="509762"/>
                <a:chOff x="9765919" y="4464462"/>
                <a:chExt cx="277017" cy="509762"/>
              </a:xfrm>
              <a:grpFill/>
            </p:grpSpPr>
            <p:grpSp>
              <p:nvGrpSpPr>
                <p:cNvPr id="146" name="Picture Placeholder 108">
                  <a:extLst>
                    <a:ext uri="{FF2B5EF4-FFF2-40B4-BE49-F238E27FC236}">
                      <a16:creationId xmlns:a16="http://schemas.microsoft.com/office/drawing/2014/main" id="{81F04C05-0449-66AF-72DC-AEAD352FD2C0}"/>
                    </a:ext>
                  </a:extLst>
                </p:cNvPr>
                <p:cNvGrpSpPr/>
                <p:nvPr/>
              </p:nvGrpSpPr>
              <p:grpSpPr>
                <a:xfrm>
                  <a:off x="9765919" y="4464462"/>
                  <a:ext cx="277017" cy="509762"/>
                  <a:chOff x="9765919" y="4464462"/>
                  <a:chExt cx="277017" cy="509762"/>
                </a:xfrm>
                <a:grpFill/>
              </p:grpSpPr>
              <p:sp>
                <p:nvSpPr>
                  <p:cNvPr id="148" name="Picture Placeholder 108">
                    <a:extLst>
                      <a:ext uri="{FF2B5EF4-FFF2-40B4-BE49-F238E27FC236}">
                        <a16:creationId xmlns:a16="http://schemas.microsoft.com/office/drawing/2014/main" id="{A7592088-4EBA-4FDC-8F66-AB06B905C7AF}"/>
                      </a:ext>
                    </a:extLst>
                  </p:cNvPr>
                  <p:cNvSpPr/>
                  <p:nvPr/>
                </p:nvSpPr>
                <p:spPr>
                  <a:xfrm>
                    <a:off x="9765919" y="4464462"/>
                    <a:ext cx="277017" cy="88544"/>
                  </a:xfrm>
                  <a:custGeom>
                    <a:avLst/>
                    <a:gdLst>
                      <a:gd name="connsiteX0" fmla="*/ 138509 w 277017"/>
                      <a:gd name="connsiteY0" fmla="*/ 88544 h 88544"/>
                      <a:gd name="connsiteX1" fmla="*/ 0 w 277017"/>
                      <a:gd name="connsiteY1" fmla="*/ 44272 h 88544"/>
                      <a:gd name="connsiteX2" fmla="*/ 138509 w 277017"/>
                      <a:gd name="connsiteY2" fmla="*/ 0 h 88544"/>
                      <a:gd name="connsiteX3" fmla="*/ 277017 w 277017"/>
                      <a:gd name="connsiteY3" fmla="*/ 44272 h 88544"/>
                      <a:gd name="connsiteX4" fmla="*/ 138509 w 277017"/>
                      <a:gd name="connsiteY4" fmla="*/ 88544 h 88544"/>
                      <a:gd name="connsiteX5" fmla="*/ 138509 w 277017"/>
                      <a:gd name="connsiteY5" fmla="*/ 19606 h 88544"/>
                      <a:gd name="connsiteX6" fmla="*/ 18974 w 277017"/>
                      <a:gd name="connsiteY6" fmla="*/ 44905 h 88544"/>
                      <a:gd name="connsiteX7" fmla="*/ 138509 w 277017"/>
                      <a:gd name="connsiteY7" fmla="*/ 70203 h 88544"/>
                      <a:gd name="connsiteX8" fmla="*/ 258044 w 277017"/>
                      <a:gd name="connsiteY8" fmla="*/ 44905 h 88544"/>
                      <a:gd name="connsiteX9" fmla="*/ 138509 w 277017"/>
                      <a:gd name="connsiteY9" fmla="*/ 19606 h 88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7017" h="88544">
                        <a:moveTo>
                          <a:pt x="138509" y="88544"/>
                        </a:moveTo>
                        <a:cubicBezTo>
                          <a:pt x="72100" y="88544"/>
                          <a:pt x="0" y="74630"/>
                          <a:pt x="0" y="44272"/>
                        </a:cubicBezTo>
                        <a:cubicBezTo>
                          <a:pt x="0" y="13914"/>
                          <a:pt x="71468" y="0"/>
                          <a:pt x="138509" y="0"/>
                        </a:cubicBezTo>
                        <a:cubicBezTo>
                          <a:pt x="205550" y="0"/>
                          <a:pt x="277017" y="13914"/>
                          <a:pt x="277017" y="44272"/>
                        </a:cubicBezTo>
                        <a:cubicBezTo>
                          <a:pt x="276385" y="74630"/>
                          <a:pt x="204917" y="88544"/>
                          <a:pt x="138509" y="88544"/>
                        </a:cubicBezTo>
                        <a:close/>
                        <a:moveTo>
                          <a:pt x="138509" y="19606"/>
                        </a:moveTo>
                        <a:cubicBezTo>
                          <a:pt x="61349" y="19606"/>
                          <a:pt x="19606" y="37315"/>
                          <a:pt x="18974" y="44905"/>
                        </a:cubicBezTo>
                        <a:cubicBezTo>
                          <a:pt x="19606" y="52494"/>
                          <a:pt x="60716" y="70203"/>
                          <a:pt x="138509" y="70203"/>
                        </a:cubicBezTo>
                        <a:cubicBezTo>
                          <a:pt x="215669" y="70203"/>
                          <a:pt x="257411" y="52494"/>
                          <a:pt x="258044" y="44905"/>
                        </a:cubicBezTo>
                        <a:cubicBezTo>
                          <a:pt x="256779" y="36683"/>
                          <a:pt x="215669" y="19606"/>
                          <a:pt x="138509" y="19606"/>
                        </a:cubicBezTo>
                        <a:close/>
                      </a:path>
                    </a:pathLst>
                  </a:custGeom>
                  <a:grpFill/>
                  <a:ln w="6271" cap="flat">
                    <a:noFill/>
                    <a:prstDash val="solid"/>
                    <a:miter/>
                  </a:ln>
                </p:spPr>
                <p:txBody>
                  <a:bodyPr rtlCol="0" anchor="ctr"/>
                  <a:lstStyle/>
                  <a:p>
                    <a:endParaRPr lang="en-US"/>
                  </a:p>
                </p:txBody>
              </p:sp>
              <p:sp>
                <p:nvSpPr>
                  <p:cNvPr id="149" name="Picture Placeholder 108">
                    <a:extLst>
                      <a:ext uri="{FF2B5EF4-FFF2-40B4-BE49-F238E27FC236}">
                        <a16:creationId xmlns:a16="http://schemas.microsoft.com/office/drawing/2014/main" id="{084F290C-7EAD-8D67-BA97-BB1B94E73906}"/>
                      </a:ext>
                    </a:extLst>
                  </p:cNvPr>
                  <p:cNvSpPr/>
                  <p:nvPr/>
                </p:nvSpPr>
                <p:spPr>
                  <a:xfrm>
                    <a:off x="9765919" y="4546050"/>
                    <a:ext cx="277017" cy="82219"/>
                  </a:xfrm>
                  <a:custGeom>
                    <a:avLst/>
                    <a:gdLst>
                      <a:gd name="connsiteX0" fmla="*/ 138509 w 277017"/>
                      <a:gd name="connsiteY0" fmla="*/ 82220 h 82219"/>
                      <a:gd name="connsiteX1" fmla="*/ 0 w 277017"/>
                      <a:gd name="connsiteY1" fmla="*/ 37948 h 82219"/>
                      <a:gd name="connsiteX2" fmla="*/ 0 w 277017"/>
                      <a:gd name="connsiteY2" fmla="*/ 0 h 82219"/>
                      <a:gd name="connsiteX3" fmla="*/ 18974 w 277017"/>
                      <a:gd name="connsiteY3" fmla="*/ 0 h 82219"/>
                      <a:gd name="connsiteX4" fmla="*/ 18974 w 277017"/>
                      <a:gd name="connsiteY4" fmla="*/ 37948 h 82219"/>
                      <a:gd name="connsiteX5" fmla="*/ 138509 w 277017"/>
                      <a:gd name="connsiteY5" fmla="*/ 63246 h 82219"/>
                      <a:gd name="connsiteX6" fmla="*/ 258044 w 277017"/>
                      <a:gd name="connsiteY6" fmla="*/ 37948 h 82219"/>
                      <a:gd name="connsiteX7" fmla="*/ 277017 w 277017"/>
                      <a:gd name="connsiteY7" fmla="*/ 37948 h 82219"/>
                      <a:gd name="connsiteX8" fmla="*/ 138509 w 277017"/>
                      <a:gd name="connsiteY8" fmla="*/ 82220 h 82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017" h="82219">
                        <a:moveTo>
                          <a:pt x="138509" y="82220"/>
                        </a:moveTo>
                        <a:cubicBezTo>
                          <a:pt x="72100" y="82220"/>
                          <a:pt x="0" y="68306"/>
                          <a:pt x="0" y="37948"/>
                        </a:cubicBezTo>
                        <a:lnTo>
                          <a:pt x="0" y="0"/>
                        </a:lnTo>
                        <a:lnTo>
                          <a:pt x="18974" y="0"/>
                        </a:lnTo>
                        <a:lnTo>
                          <a:pt x="18974" y="37948"/>
                        </a:lnTo>
                        <a:cubicBezTo>
                          <a:pt x="19606" y="45537"/>
                          <a:pt x="60716" y="63246"/>
                          <a:pt x="138509" y="63246"/>
                        </a:cubicBezTo>
                        <a:cubicBezTo>
                          <a:pt x="216301" y="63246"/>
                          <a:pt x="257411" y="45537"/>
                          <a:pt x="258044" y="37948"/>
                        </a:cubicBezTo>
                        <a:lnTo>
                          <a:pt x="277017" y="37948"/>
                        </a:lnTo>
                        <a:cubicBezTo>
                          <a:pt x="276385" y="68306"/>
                          <a:pt x="204917" y="82220"/>
                          <a:pt x="138509" y="82220"/>
                        </a:cubicBezTo>
                        <a:close/>
                      </a:path>
                    </a:pathLst>
                  </a:custGeom>
                  <a:grpFill/>
                  <a:ln w="6271" cap="flat">
                    <a:noFill/>
                    <a:prstDash val="solid"/>
                    <a:miter/>
                  </a:ln>
                </p:spPr>
                <p:txBody>
                  <a:bodyPr rtlCol="0" anchor="ctr"/>
                  <a:lstStyle/>
                  <a:p>
                    <a:endParaRPr lang="en-US"/>
                  </a:p>
                </p:txBody>
              </p:sp>
              <p:sp>
                <p:nvSpPr>
                  <p:cNvPr id="150" name="Picture Placeholder 108">
                    <a:extLst>
                      <a:ext uri="{FF2B5EF4-FFF2-40B4-BE49-F238E27FC236}">
                        <a16:creationId xmlns:a16="http://schemas.microsoft.com/office/drawing/2014/main" id="{A256EFBC-2373-A2AF-B61B-B9ECE315E690}"/>
                      </a:ext>
                    </a:extLst>
                  </p:cNvPr>
                  <p:cNvSpPr/>
                  <p:nvPr/>
                </p:nvSpPr>
                <p:spPr>
                  <a:xfrm>
                    <a:off x="9765919" y="4630167"/>
                    <a:ext cx="277017" cy="82219"/>
                  </a:xfrm>
                  <a:custGeom>
                    <a:avLst/>
                    <a:gdLst>
                      <a:gd name="connsiteX0" fmla="*/ 138509 w 277017"/>
                      <a:gd name="connsiteY0" fmla="*/ 82220 h 82219"/>
                      <a:gd name="connsiteX1" fmla="*/ 0 w 277017"/>
                      <a:gd name="connsiteY1" fmla="*/ 37948 h 82219"/>
                      <a:gd name="connsiteX2" fmla="*/ 0 w 277017"/>
                      <a:gd name="connsiteY2" fmla="*/ 0 h 82219"/>
                      <a:gd name="connsiteX3" fmla="*/ 18974 w 277017"/>
                      <a:gd name="connsiteY3" fmla="*/ 0 h 82219"/>
                      <a:gd name="connsiteX4" fmla="*/ 18974 w 277017"/>
                      <a:gd name="connsiteY4" fmla="*/ 37948 h 82219"/>
                      <a:gd name="connsiteX5" fmla="*/ 138509 w 277017"/>
                      <a:gd name="connsiteY5" fmla="*/ 63246 h 82219"/>
                      <a:gd name="connsiteX6" fmla="*/ 258044 w 277017"/>
                      <a:gd name="connsiteY6" fmla="*/ 37948 h 82219"/>
                      <a:gd name="connsiteX7" fmla="*/ 277017 w 277017"/>
                      <a:gd name="connsiteY7" fmla="*/ 37948 h 82219"/>
                      <a:gd name="connsiteX8" fmla="*/ 138509 w 277017"/>
                      <a:gd name="connsiteY8" fmla="*/ 82220 h 82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017" h="82219">
                        <a:moveTo>
                          <a:pt x="138509" y="82220"/>
                        </a:moveTo>
                        <a:cubicBezTo>
                          <a:pt x="72100" y="82220"/>
                          <a:pt x="0" y="68306"/>
                          <a:pt x="0" y="37948"/>
                        </a:cubicBezTo>
                        <a:lnTo>
                          <a:pt x="0" y="0"/>
                        </a:lnTo>
                        <a:lnTo>
                          <a:pt x="18974" y="0"/>
                        </a:lnTo>
                        <a:lnTo>
                          <a:pt x="18974" y="37948"/>
                        </a:lnTo>
                        <a:cubicBezTo>
                          <a:pt x="19606" y="45537"/>
                          <a:pt x="60716" y="63246"/>
                          <a:pt x="138509" y="63246"/>
                        </a:cubicBezTo>
                        <a:cubicBezTo>
                          <a:pt x="216301" y="63246"/>
                          <a:pt x="257411" y="45537"/>
                          <a:pt x="258044" y="37948"/>
                        </a:cubicBezTo>
                        <a:lnTo>
                          <a:pt x="277017" y="37948"/>
                        </a:lnTo>
                        <a:cubicBezTo>
                          <a:pt x="276385" y="68306"/>
                          <a:pt x="204917" y="82220"/>
                          <a:pt x="138509" y="82220"/>
                        </a:cubicBezTo>
                        <a:close/>
                      </a:path>
                    </a:pathLst>
                  </a:custGeom>
                  <a:grpFill/>
                  <a:ln w="6271" cap="flat">
                    <a:noFill/>
                    <a:prstDash val="solid"/>
                    <a:miter/>
                  </a:ln>
                </p:spPr>
                <p:txBody>
                  <a:bodyPr rtlCol="0" anchor="ctr"/>
                  <a:lstStyle/>
                  <a:p>
                    <a:endParaRPr lang="en-US"/>
                  </a:p>
                </p:txBody>
              </p:sp>
              <p:sp>
                <p:nvSpPr>
                  <p:cNvPr id="151" name="Picture Placeholder 108">
                    <a:extLst>
                      <a:ext uri="{FF2B5EF4-FFF2-40B4-BE49-F238E27FC236}">
                        <a16:creationId xmlns:a16="http://schemas.microsoft.com/office/drawing/2014/main" id="{183161D9-0F03-72CE-6FFB-FAB0C3576223}"/>
                      </a:ext>
                    </a:extLst>
                  </p:cNvPr>
                  <p:cNvSpPr/>
                  <p:nvPr/>
                </p:nvSpPr>
                <p:spPr>
                  <a:xfrm>
                    <a:off x="9765919" y="4713651"/>
                    <a:ext cx="277017" cy="82219"/>
                  </a:xfrm>
                  <a:custGeom>
                    <a:avLst/>
                    <a:gdLst>
                      <a:gd name="connsiteX0" fmla="*/ 138509 w 277017"/>
                      <a:gd name="connsiteY0" fmla="*/ 82220 h 82219"/>
                      <a:gd name="connsiteX1" fmla="*/ 0 w 277017"/>
                      <a:gd name="connsiteY1" fmla="*/ 37948 h 82219"/>
                      <a:gd name="connsiteX2" fmla="*/ 0 w 277017"/>
                      <a:gd name="connsiteY2" fmla="*/ 0 h 82219"/>
                      <a:gd name="connsiteX3" fmla="*/ 18974 w 277017"/>
                      <a:gd name="connsiteY3" fmla="*/ 0 h 82219"/>
                      <a:gd name="connsiteX4" fmla="*/ 18974 w 277017"/>
                      <a:gd name="connsiteY4" fmla="*/ 37948 h 82219"/>
                      <a:gd name="connsiteX5" fmla="*/ 138509 w 277017"/>
                      <a:gd name="connsiteY5" fmla="*/ 63246 h 82219"/>
                      <a:gd name="connsiteX6" fmla="*/ 258044 w 277017"/>
                      <a:gd name="connsiteY6" fmla="*/ 37948 h 82219"/>
                      <a:gd name="connsiteX7" fmla="*/ 277017 w 277017"/>
                      <a:gd name="connsiteY7" fmla="*/ 37948 h 82219"/>
                      <a:gd name="connsiteX8" fmla="*/ 138509 w 277017"/>
                      <a:gd name="connsiteY8" fmla="*/ 82220 h 82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017" h="82219">
                        <a:moveTo>
                          <a:pt x="138509" y="82220"/>
                        </a:moveTo>
                        <a:cubicBezTo>
                          <a:pt x="72100" y="82220"/>
                          <a:pt x="0" y="68306"/>
                          <a:pt x="0" y="37948"/>
                        </a:cubicBezTo>
                        <a:lnTo>
                          <a:pt x="0" y="0"/>
                        </a:lnTo>
                        <a:lnTo>
                          <a:pt x="18974" y="0"/>
                        </a:lnTo>
                        <a:lnTo>
                          <a:pt x="18974" y="37948"/>
                        </a:lnTo>
                        <a:cubicBezTo>
                          <a:pt x="19606" y="45537"/>
                          <a:pt x="60716" y="63246"/>
                          <a:pt x="138509" y="63246"/>
                        </a:cubicBezTo>
                        <a:cubicBezTo>
                          <a:pt x="216301" y="63246"/>
                          <a:pt x="257411" y="45537"/>
                          <a:pt x="258044" y="37948"/>
                        </a:cubicBezTo>
                        <a:lnTo>
                          <a:pt x="277017" y="37948"/>
                        </a:lnTo>
                        <a:cubicBezTo>
                          <a:pt x="276385" y="68306"/>
                          <a:pt x="204917" y="82220"/>
                          <a:pt x="138509" y="82220"/>
                        </a:cubicBezTo>
                        <a:close/>
                      </a:path>
                    </a:pathLst>
                  </a:custGeom>
                  <a:grpFill/>
                  <a:ln w="6271" cap="flat">
                    <a:noFill/>
                    <a:prstDash val="solid"/>
                    <a:miter/>
                  </a:ln>
                </p:spPr>
                <p:txBody>
                  <a:bodyPr rtlCol="0" anchor="ctr"/>
                  <a:lstStyle/>
                  <a:p>
                    <a:endParaRPr lang="en-US"/>
                  </a:p>
                </p:txBody>
              </p:sp>
              <p:sp>
                <p:nvSpPr>
                  <p:cNvPr id="152" name="Picture Placeholder 108">
                    <a:extLst>
                      <a:ext uri="{FF2B5EF4-FFF2-40B4-BE49-F238E27FC236}">
                        <a16:creationId xmlns:a16="http://schemas.microsoft.com/office/drawing/2014/main" id="{D987254A-5EB5-BA47-4AE9-8720C13E48DF}"/>
                      </a:ext>
                    </a:extLst>
                  </p:cNvPr>
                  <p:cNvSpPr/>
                  <p:nvPr/>
                </p:nvSpPr>
                <p:spPr>
                  <a:xfrm>
                    <a:off x="9765919" y="4726301"/>
                    <a:ext cx="277017" cy="160012"/>
                  </a:xfrm>
                  <a:custGeom>
                    <a:avLst/>
                    <a:gdLst>
                      <a:gd name="connsiteX0" fmla="*/ 138509 w 277017"/>
                      <a:gd name="connsiteY0" fmla="*/ 160012 h 160012"/>
                      <a:gd name="connsiteX1" fmla="*/ 0 w 277017"/>
                      <a:gd name="connsiteY1" fmla="*/ 115740 h 160012"/>
                      <a:gd name="connsiteX2" fmla="*/ 0 w 277017"/>
                      <a:gd name="connsiteY2" fmla="*/ 77793 h 160012"/>
                      <a:gd name="connsiteX3" fmla="*/ 18974 w 277017"/>
                      <a:gd name="connsiteY3" fmla="*/ 77793 h 160012"/>
                      <a:gd name="connsiteX4" fmla="*/ 18974 w 277017"/>
                      <a:gd name="connsiteY4" fmla="*/ 115740 h 160012"/>
                      <a:gd name="connsiteX5" fmla="*/ 138509 w 277017"/>
                      <a:gd name="connsiteY5" fmla="*/ 141039 h 160012"/>
                      <a:gd name="connsiteX6" fmla="*/ 258044 w 277017"/>
                      <a:gd name="connsiteY6" fmla="*/ 115740 h 160012"/>
                      <a:gd name="connsiteX7" fmla="*/ 258044 w 277017"/>
                      <a:gd name="connsiteY7" fmla="*/ 0 h 160012"/>
                      <a:gd name="connsiteX8" fmla="*/ 277017 w 277017"/>
                      <a:gd name="connsiteY8" fmla="*/ 0 h 160012"/>
                      <a:gd name="connsiteX9" fmla="*/ 277017 w 277017"/>
                      <a:gd name="connsiteY9" fmla="*/ 115740 h 160012"/>
                      <a:gd name="connsiteX10" fmla="*/ 138509 w 277017"/>
                      <a:gd name="connsiteY10" fmla="*/ 160012 h 16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7017" h="160012">
                        <a:moveTo>
                          <a:pt x="138509" y="160012"/>
                        </a:moveTo>
                        <a:cubicBezTo>
                          <a:pt x="72100" y="160012"/>
                          <a:pt x="0" y="146098"/>
                          <a:pt x="0" y="115740"/>
                        </a:cubicBezTo>
                        <a:lnTo>
                          <a:pt x="0" y="77793"/>
                        </a:lnTo>
                        <a:lnTo>
                          <a:pt x="18974" y="77793"/>
                        </a:lnTo>
                        <a:lnTo>
                          <a:pt x="18974" y="115740"/>
                        </a:lnTo>
                        <a:cubicBezTo>
                          <a:pt x="19606" y="123330"/>
                          <a:pt x="60716" y="141039"/>
                          <a:pt x="138509" y="141039"/>
                        </a:cubicBezTo>
                        <a:cubicBezTo>
                          <a:pt x="216301" y="141039"/>
                          <a:pt x="257411" y="123330"/>
                          <a:pt x="258044" y="115740"/>
                        </a:cubicBezTo>
                        <a:lnTo>
                          <a:pt x="258044" y="0"/>
                        </a:lnTo>
                        <a:lnTo>
                          <a:pt x="277017" y="0"/>
                        </a:lnTo>
                        <a:lnTo>
                          <a:pt x="277017" y="115740"/>
                        </a:lnTo>
                        <a:cubicBezTo>
                          <a:pt x="276385" y="146098"/>
                          <a:pt x="204917" y="160012"/>
                          <a:pt x="138509" y="160012"/>
                        </a:cubicBezTo>
                        <a:close/>
                      </a:path>
                    </a:pathLst>
                  </a:custGeom>
                  <a:grpFill/>
                  <a:ln w="6271" cap="flat">
                    <a:noFill/>
                    <a:prstDash val="solid"/>
                    <a:miter/>
                  </a:ln>
                </p:spPr>
                <p:txBody>
                  <a:bodyPr rtlCol="0" anchor="ctr"/>
                  <a:lstStyle/>
                  <a:p>
                    <a:endParaRPr lang="en-US"/>
                  </a:p>
                </p:txBody>
              </p:sp>
              <p:sp>
                <p:nvSpPr>
                  <p:cNvPr id="153" name="Picture Placeholder 108">
                    <a:extLst>
                      <a:ext uri="{FF2B5EF4-FFF2-40B4-BE49-F238E27FC236}">
                        <a16:creationId xmlns:a16="http://schemas.microsoft.com/office/drawing/2014/main" id="{EE395228-069A-775D-213C-470FD869C77F}"/>
                      </a:ext>
                    </a:extLst>
                  </p:cNvPr>
                  <p:cNvSpPr/>
                  <p:nvPr/>
                </p:nvSpPr>
                <p:spPr>
                  <a:xfrm>
                    <a:off x="9765919" y="4814845"/>
                    <a:ext cx="277017" cy="159379"/>
                  </a:xfrm>
                  <a:custGeom>
                    <a:avLst/>
                    <a:gdLst>
                      <a:gd name="connsiteX0" fmla="*/ 138509 w 277017"/>
                      <a:gd name="connsiteY0" fmla="*/ 159380 h 159379"/>
                      <a:gd name="connsiteX1" fmla="*/ 0 w 277017"/>
                      <a:gd name="connsiteY1" fmla="*/ 115108 h 159379"/>
                      <a:gd name="connsiteX2" fmla="*/ 0 w 277017"/>
                      <a:gd name="connsiteY2" fmla="*/ 77160 h 159379"/>
                      <a:gd name="connsiteX3" fmla="*/ 18974 w 277017"/>
                      <a:gd name="connsiteY3" fmla="*/ 77160 h 159379"/>
                      <a:gd name="connsiteX4" fmla="*/ 18974 w 277017"/>
                      <a:gd name="connsiteY4" fmla="*/ 115108 h 159379"/>
                      <a:gd name="connsiteX5" fmla="*/ 138509 w 277017"/>
                      <a:gd name="connsiteY5" fmla="*/ 140406 h 159379"/>
                      <a:gd name="connsiteX6" fmla="*/ 258044 w 277017"/>
                      <a:gd name="connsiteY6" fmla="*/ 115108 h 159379"/>
                      <a:gd name="connsiteX7" fmla="*/ 258044 w 277017"/>
                      <a:gd name="connsiteY7" fmla="*/ 0 h 159379"/>
                      <a:gd name="connsiteX8" fmla="*/ 277017 w 277017"/>
                      <a:gd name="connsiteY8" fmla="*/ 0 h 159379"/>
                      <a:gd name="connsiteX9" fmla="*/ 277017 w 277017"/>
                      <a:gd name="connsiteY9" fmla="*/ 115740 h 159379"/>
                      <a:gd name="connsiteX10" fmla="*/ 138509 w 277017"/>
                      <a:gd name="connsiteY10" fmla="*/ 159380 h 15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7017" h="159379">
                        <a:moveTo>
                          <a:pt x="138509" y="159380"/>
                        </a:moveTo>
                        <a:cubicBezTo>
                          <a:pt x="72100" y="159380"/>
                          <a:pt x="0" y="145466"/>
                          <a:pt x="0" y="115108"/>
                        </a:cubicBezTo>
                        <a:lnTo>
                          <a:pt x="0" y="77160"/>
                        </a:lnTo>
                        <a:lnTo>
                          <a:pt x="18974" y="77160"/>
                        </a:lnTo>
                        <a:lnTo>
                          <a:pt x="18974" y="115108"/>
                        </a:lnTo>
                        <a:cubicBezTo>
                          <a:pt x="19606" y="122697"/>
                          <a:pt x="60716" y="140406"/>
                          <a:pt x="138509" y="140406"/>
                        </a:cubicBezTo>
                        <a:cubicBezTo>
                          <a:pt x="216301" y="140406"/>
                          <a:pt x="257411" y="122697"/>
                          <a:pt x="258044" y="115108"/>
                        </a:cubicBezTo>
                        <a:lnTo>
                          <a:pt x="258044" y="0"/>
                        </a:lnTo>
                        <a:lnTo>
                          <a:pt x="277017" y="0"/>
                        </a:lnTo>
                        <a:lnTo>
                          <a:pt x="277017" y="115740"/>
                        </a:lnTo>
                        <a:cubicBezTo>
                          <a:pt x="276385" y="145466"/>
                          <a:pt x="204917" y="159380"/>
                          <a:pt x="138509" y="159380"/>
                        </a:cubicBezTo>
                        <a:close/>
                      </a:path>
                    </a:pathLst>
                  </a:custGeom>
                  <a:grpFill/>
                  <a:ln w="6271" cap="flat">
                    <a:noFill/>
                    <a:prstDash val="solid"/>
                    <a:miter/>
                  </a:ln>
                </p:spPr>
                <p:txBody>
                  <a:bodyPr rtlCol="0" anchor="ctr"/>
                  <a:lstStyle/>
                  <a:p>
                    <a:endParaRPr lang="en-US"/>
                  </a:p>
                </p:txBody>
              </p:sp>
            </p:grpSp>
            <p:sp>
              <p:nvSpPr>
                <p:cNvPr id="147" name="Picture Placeholder 108">
                  <a:extLst>
                    <a:ext uri="{FF2B5EF4-FFF2-40B4-BE49-F238E27FC236}">
                      <a16:creationId xmlns:a16="http://schemas.microsoft.com/office/drawing/2014/main" id="{5ECED68E-9C6C-BF02-2ADB-983683D00D39}"/>
                    </a:ext>
                  </a:extLst>
                </p:cNvPr>
                <p:cNvSpPr/>
                <p:nvPr/>
              </p:nvSpPr>
              <p:spPr>
                <a:xfrm>
                  <a:off x="10023331" y="4508734"/>
                  <a:ext cx="18973" cy="278282"/>
                </a:xfrm>
                <a:custGeom>
                  <a:avLst/>
                  <a:gdLst>
                    <a:gd name="connsiteX0" fmla="*/ 0 w 18973"/>
                    <a:gd name="connsiteY0" fmla="*/ 0 h 278282"/>
                    <a:gd name="connsiteX1" fmla="*/ 18974 w 18973"/>
                    <a:gd name="connsiteY1" fmla="*/ 0 h 278282"/>
                    <a:gd name="connsiteX2" fmla="*/ 18974 w 18973"/>
                    <a:gd name="connsiteY2" fmla="*/ 278282 h 278282"/>
                    <a:gd name="connsiteX3" fmla="*/ 0 w 18973"/>
                    <a:gd name="connsiteY3" fmla="*/ 278282 h 278282"/>
                  </a:gdLst>
                  <a:ahLst/>
                  <a:cxnLst>
                    <a:cxn ang="0">
                      <a:pos x="connsiteX0" y="connsiteY0"/>
                    </a:cxn>
                    <a:cxn ang="0">
                      <a:pos x="connsiteX1" y="connsiteY1"/>
                    </a:cxn>
                    <a:cxn ang="0">
                      <a:pos x="connsiteX2" y="connsiteY2"/>
                    </a:cxn>
                    <a:cxn ang="0">
                      <a:pos x="connsiteX3" y="connsiteY3"/>
                    </a:cxn>
                  </a:cxnLst>
                  <a:rect l="l" t="t" r="r" b="b"/>
                  <a:pathLst>
                    <a:path w="18973" h="278282">
                      <a:moveTo>
                        <a:pt x="0" y="0"/>
                      </a:moveTo>
                      <a:lnTo>
                        <a:pt x="18974" y="0"/>
                      </a:lnTo>
                      <a:lnTo>
                        <a:pt x="18974" y="278282"/>
                      </a:lnTo>
                      <a:lnTo>
                        <a:pt x="0" y="278282"/>
                      </a:lnTo>
                      <a:close/>
                    </a:path>
                  </a:pathLst>
                </a:custGeom>
                <a:grpFill/>
                <a:ln w="6271" cap="flat">
                  <a:noFill/>
                  <a:prstDash val="solid"/>
                  <a:miter/>
                </a:ln>
              </p:spPr>
              <p:txBody>
                <a:bodyPr rtlCol="0" anchor="ctr"/>
                <a:lstStyle/>
                <a:p>
                  <a:endParaRPr lang="en-US"/>
                </a:p>
              </p:txBody>
            </p:sp>
          </p:grpSp>
          <p:grpSp>
            <p:nvGrpSpPr>
              <p:cNvPr id="140" name="Picture Placeholder 108">
                <a:extLst>
                  <a:ext uri="{FF2B5EF4-FFF2-40B4-BE49-F238E27FC236}">
                    <a16:creationId xmlns:a16="http://schemas.microsoft.com/office/drawing/2014/main" id="{46B54204-06E6-76B0-68C6-FFE20C067937}"/>
                  </a:ext>
                </a:extLst>
              </p:cNvPr>
              <p:cNvGrpSpPr/>
              <p:nvPr/>
            </p:nvGrpSpPr>
            <p:grpSpPr>
              <a:xfrm>
                <a:off x="10081517" y="4643448"/>
                <a:ext cx="277017" cy="328246"/>
                <a:chOff x="10081517" y="4643448"/>
                <a:chExt cx="277017" cy="328246"/>
              </a:xfrm>
              <a:grpFill/>
            </p:grpSpPr>
            <p:sp>
              <p:nvSpPr>
                <p:cNvPr id="141" name="Picture Placeholder 108">
                  <a:extLst>
                    <a:ext uri="{FF2B5EF4-FFF2-40B4-BE49-F238E27FC236}">
                      <a16:creationId xmlns:a16="http://schemas.microsoft.com/office/drawing/2014/main" id="{A3F039A2-5C27-0804-9EC4-BFE8AE570AD0}"/>
                    </a:ext>
                  </a:extLst>
                </p:cNvPr>
                <p:cNvSpPr/>
                <p:nvPr/>
              </p:nvSpPr>
              <p:spPr>
                <a:xfrm>
                  <a:off x="10081517" y="4643448"/>
                  <a:ext cx="277017" cy="85382"/>
                </a:xfrm>
                <a:custGeom>
                  <a:avLst/>
                  <a:gdLst>
                    <a:gd name="connsiteX0" fmla="*/ 138509 w 277017"/>
                    <a:gd name="connsiteY0" fmla="*/ 85382 h 85382"/>
                    <a:gd name="connsiteX1" fmla="*/ 0 w 277017"/>
                    <a:gd name="connsiteY1" fmla="*/ 41110 h 85382"/>
                    <a:gd name="connsiteX2" fmla="*/ 84750 w 277017"/>
                    <a:gd name="connsiteY2" fmla="*/ 0 h 85382"/>
                    <a:gd name="connsiteX3" fmla="*/ 87279 w 277017"/>
                    <a:gd name="connsiteY3" fmla="*/ 18974 h 85382"/>
                    <a:gd name="connsiteX4" fmla="*/ 18974 w 277017"/>
                    <a:gd name="connsiteY4" fmla="*/ 41110 h 85382"/>
                    <a:gd name="connsiteX5" fmla="*/ 138509 w 277017"/>
                    <a:gd name="connsiteY5" fmla="*/ 66408 h 85382"/>
                    <a:gd name="connsiteX6" fmla="*/ 258044 w 277017"/>
                    <a:gd name="connsiteY6" fmla="*/ 41110 h 85382"/>
                    <a:gd name="connsiteX7" fmla="*/ 199225 w 277017"/>
                    <a:gd name="connsiteY7" fmla="*/ 20239 h 85382"/>
                    <a:gd name="connsiteX8" fmla="*/ 201755 w 277017"/>
                    <a:gd name="connsiteY8" fmla="*/ 1265 h 85382"/>
                    <a:gd name="connsiteX9" fmla="*/ 277017 w 277017"/>
                    <a:gd name="connsiteY9" fmla="*/ 41110 h 85382"/>
                    <a:gd name="connsiteX10" fmla="*/ 138509 w 277017"/>
                    <a:gd name="connsiteY10" fmla="*/ 85382 h 8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7017" h="85382">
                      <a:moveTo>
                        <a:pt x="138509" y="85382"/>
                      </a:moveTo>
                      <a:cubicBezTo>
                        <a:pt x="72100" y="85382"/>
                        <a:pt x="0" y="71468"/>
                        <a:pt x="0" y="41110"/>
                      </a:cubicBezTo>
                      <a:cubicBezTo>
                        <a:pt x="0" y="14547"/>
                        <a:pt x="53127" y="3795"/>
                        <a:pt x="84750" y="0"/>
                      </a:cubicBezTo>
                      <a:lnTo>
                        <a:pt x="87279" y="18974"/>
                      </a:lnTo>
                      <a:cubicBezTo>
                        <a:pt x="36683" y="25298"/>
                        <a:pt x="19606" y="37315"/>
                        <a:pt x="18974" y="41110"/>
                      </a:cubicBezTo>
                      <a:cubicBezTo>
                        <a:pt x="19606" y="48699"/>
                        <a:pt x="60716" y="66408"/>
                        <a:pt x="138509" y="66408"/>
                      </a:cubicBezTo>
                      <a:cubicBezTo>
                        <a:pt x="216301" y="66408"/>
                        <a:pt x="257411" y="48699"/>
                        <a:pt x="258044" y="41110"/>
                      </a:cubicBezTo>
                      <a:cubicBezTo>
                        <a:pt x="258044" y="37948"/>
                        <a:pt x="243497" y="26563"/>
                        <a:pt x="199225" y="20239"/>
                      </a:cubicBezTo>
                      <a:lnTo>
                        <a:pt x="201755" y="1265"/>
                      </a:lnTo>
                      <a:cubicBezTo>
                        <a:pt x="235908" y="6325"/>
                        <a:pt x="277017" y="17076"/>
                        <a:pt x="277017" y="41110"/>
                      </a:cubicBezTo>
                      <a:cubicBezTo>
                        <a:pt x="276385" y="71468"/>
                        <a:pt x="204917" y="85382"/>
                        <a:pt x="138509" y="85382"/>
                      </a:cubicBezTo>
                      <a:close/>
                    </a:path>
                  </a:pathLst>
                </a:custGeom>
                <a:grpFill/>
                <a:ln w="6271" cap="flat">
                  <a:noFill/>
                  <a:prstDash val="solid"/>
                  <a:miter/>
                </a:ln>
              </p:spPr>
              <p:txBody>
                <a:bodyPr rtlCol="0" anchor="ctr"/>
                <a:lstStyle/>
                <a:p>
                  <a:endParaRPr lang="en-US"/>
                </a:p>
              </p:txBody>
            </p:sp>
            <p:sp>
              <p:nvSpPr>
                <p:cNvPr id="142" name="Picture Placeholder 108">
                  <a:extLst>
                    <a:ext uri="{FF2B5EF4-FFF2-40B4-BE49-F238E27FC236}">
                      <a16:creationId xmlns:a16="http://schemas.microsoft.com/office/drawing/2014/main" id="{B67BEAEE-D98C-D8D5-310D-28B06749642B}"/>
                    </a:ext>
                  </a:extLst>
                </p:cNvPr>
                <p:cNvSpPr/>
                <p:nvPr/>
              </p:nvSpPr>
              <p:spPr>
                <a:xfrm>
                  <a:off x="10081517" y="4721873"/>
                  <a:ext cx="277017" cy="82219"/>
                </a:xfrm>
                <a:custGeom>
                  <a:avLst/>
                  <a:gdLst>
                    <a:gd name="connsiteX0" fmla="*/ 138509 w 277017"/>
                    <a:gd name="connsiteY0" fmla="*/ 82220 h 82219"/>
                    <a:gd name="connsiteX1" fmla="*/ 0 w 277017"/>
                    <a:gd name="connsiteY1" fmla="*/ 37948 h 82219"/>
                    <a:gd name="connsiteX2" fmla="*/ 0 w 277017"/>
                    <a:gd name="connsiteY2" fmla="*/ 0 h 82219"/>
                    <a:gd name="connsiteX3" fmla="*/ 18974 w 277017"/>
                    <a:gd name="connsiteY3" fmla="*/ 0 h 82219"/>
                    <a:gd name="connsiteX4" fmla="*/ 18974 w 277017"/>
                    <a:gd name="connsiteY4" fmla="*/ 37948 h 82219"/>
                    <a:gd name="connsiteX5" fmla="*/ 138509 w 277017"/>
                    <a:gd name="connsiteY5" fmla="*/ 63246 h 82219"/>
                    <a:gd name="connsiteX6" fmla="*/ 258044 w 277017"/>
                    <a:gd name="connsiteY6" fmla="*/ 37948 h 82219"/>
                    <a:gd name="connsiteX7" fmla="*/ 277017 w 277017"/>
                    <a:gd name="connsiteY7" fmla="*/ 37948 h 82219"/>
                    <a:gd name="connsiteX8" fmla="*/ 138509 w 277017"/>
                    <a:gd name="connsiteY8" fmla="*/ 82220 h 82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017" h="82219">
                      <a:moveTo>
                        <a:pt x="138509" y="82220"/>
                      </a:moveTo>
                      <a:cubicBezTo>
                        <a:pt x="72100" y="82220"/>
                        <a:pt x="0" y="68306"/>
                        <a:pt x="0" y="37948"/>
                      </a:cubicBezTo>
                      <a:lnTo>
                        <a:pt x="0" y="0"/>
                      </a:lnTo>
                      <a:lnTo>
                        <a:pt x="18974" y="0"/>
                      </a:lnTo>
                      <a:lnTo>
                        <a:pt x="18974" y="37948"/>
                      </a:lnTo>
                      <a:cubicBezTo>
                        <a:pt x="19606" y="45537"/>
                        <a:pt x="60716" y="63246"/>
                        <a:pt x="138509" y="63246"/>
                      </a:cubicBezTo>
                      <a:cubicBezTo>
                        <a:pt x="216301" y="63246"/>
                        <a:pt x="257411" y="45537"/>
                        <a:pt x="258044" y="37948"/>
                      </a:cubicBezTo>
                      <a:lnTo>
                        <a:pt x="277017" y="37948"/>
                      </a:lnTo>
                      <a:cubicBezTo>
                        <a:pt x="276385" y="68306"/>
                        <a:pt x="204917" y="82220"/>
                        <a:pt x="138509" y="82220"/>
                      </a:cubicBezTo>
                      <a:close/>
                    </a:path>
                  </a:pathLst>
                </a:custGeom>
                <a:grpFill/>
                <a:ln w="6271" cap="flat">
                  <a:noFill/>
                  <a:prstDash val="solid"/>
                  <a:miter/>
                </a:ln>
              </p:spPr>
              <p:txBody>
                <a:bodyPr rtlCol="0" anchor="ctr"/>
                <a:lstStyle/>
                <a:p>
                  <a:endParaRPr lang="en-US"/>
                </a:p>
              </p:txBody>
            </p:sp>
            <p:sp>
              <p:nvSpPr>
                <p:cNvPr id="143" name="Picture Placeholder 108">
                  <a:extLst>
                    <a:ext uri="{FF2B5EF4-FFF2-40B4-BE49-F238E27FC236}">
                      <a16:creationId xmlns:a16="http://schemas.microsoft.com/office/drawing/2014/main" id="{8E2C2CF1-C09A-6FCF-C4EB-8D34065BE686}"/>
                    </a:ext>
                  </a:extLst>
                </p:cNvPr>
                <p:cNvSpPr/>
                <p:nvPr/>
              </p:nvSpPr>
              <p:spPr>
                <a:xfrm>
                  <a:off x="10081517" y="4805991"/>
                  <a:ext cx="277017" cy="82219"/>
                </a:xfrm>
                <a:custGeom>
                  <a:avLst/>
                  <a:gdLst>
                    <a:gd name="connsiteX0" fmla="*/ 138509 w 277017"/>
                    <a:gd name="connsiteY0" fmla="*/ 82220 h 82219"/>
                    <a:gd name="connsiteX1" fmla="*/ 0 w 277017"/>
                    <a:gd name="connsiteY1" fmla="*/ 37948 h 82219"/>
                    <a:gd name="connsiteX2" fmla="*/ 0 w 277017"/>
                    <a:gd name="connsiteY2" fmla="*/ 0 h 82219"/>
                    <a:gd name="connsiteX3" fmla="*/ 18974 w 277017"/>
                    <a:gd name="connsiteY3" fmla="*/ 0 h 82219"/>
                    <a:gd name="connsiteX4" fmla="*/ 18974 w 277017"/>
                    <a:gd name="connsiteY4" fmla="*/ 37948 h 82219"/>
                    <a:gd name="connsiteX5" fmla="*/ 138509 w 277017"/>
                    <a:gd name="connsiteY5" fmla="*/ 63246 h 82219"/>
                    <a:gd name="connsiteX6" fmla="*/ 258044 w 277017"/>
                    <a:gd name="connsiteY6" fmla="*/ 37948 h 82219"/>
                    <a:gd name="connsiteX7" fmla="*/ 277017 w 277017"/>
                    <a:gd name="connsiteY7" fmla="*/ 37948 h 82219"/>
                    <a:gd name="connsiteX8" fmla="*/ 138509 w 277017"/>
                    <a:gd name="connsiteY8" fmla="*/ 82220 h 82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017" h="82219">
                      <a:moveTo>
                        <a:pt x="138509" y="82220"/>
                      </a:moveTo>
                      <a:cubicBezTo>
                        <a:pt x="72100" y="82220"/>
                        <a:pt x="0" y="68306"/>
                        <a:pt x="0" y="37948"/>
                      </a:cubicBezTo>
                      <a:lnTo>
                        <a:pt x="0" y="0"/>
                      </a:lnTo>
                      <a:lnTo>
                        <a:pt x="18974" y="0"/>
                      </a:lnTo>
                      <a:lnTo>
                        <a:pt x="18974" y="37948"/>
                      </a:lnTo>
                      <a:cubicBezTo>
                        <a:pt x="19606" y="45537"/>
                        <a:pt x="60716" y="63246"/>
                        <a:pt x="138509" y="63246"/>
                      </a:cubicBezTo>
                      <a:cubicBezTo>
                        <a:pt x="216301" y="63246"/>
                        <a:pt x="257411" y="45537"/>
                        <a:pt x="258044" y="37948"/>
                      </a:cubicBezTo>
                      <a:lnTo>
                        <a:pt x="277017" y="37948"/>
                      </a:lnTo>
                      <a:cubicBezTo>
                        <a:pt x="276385" y="68306"/>
                        <a:pt x="204917" y="82220"/>
                        <a:pt x="138509" y="82220"/>
                      </a:cubicBezTo>
                      <a:close/>
                    </a:path>
                  </a:pathLst>
                </a:custGeom>
                <a:grpFill/>
                <a:ln w="6271" cap="flat">
                  <a:noFill/>
                  <a:prstDash val="solid"/>
                  <a:miter/>
                </a:ln>
              </p:spPr>
              <p:txBody>
                <a:bodyPr rtlCol="0" anchor="ctr"/>
                <a:lstStyle/>
                <a:p>
                  <a:endParaRPr lang="en-US"/>
                </a:p>
              </p:txBody>
            </p:sp>
            <p:sp>
              <p:nvSpPr>
                <p:cNvPr id="144" name="Picture Placeholder 108">
                  <a:extLst>
                    <a:ext uri="{FF2B5EF4-FFF2-40B4-BE49-F238E27FC236}">
                      <a16:creationId xmlns:a16="http://schemas.microsoft.com/office/drawing/2014/main" id="{06E28465-96A4-A1B3-5A2B-98F577DC339D}"/>
                    </a:ext>
                  </a:extLst>
                </p:cNvPr>
                <p:cNvSpPr/>
                <p:nvPr/>
              </p:nvSpPr>
              <p:spPr>
                <a:xfrm>
                  <a:off x="10081517" y="4889475"/>
                  <a:ext cx="277017" cy="82219"/>
                </a:xfrm>
                <a:custGeom>
                  <a:avLst/>
                  <a:gdLst>
                    <a:gd name="connsiteX0" fmla="*/ 138509 w 277017"/>
                    <a:gd name="connsiteY0" fmla="*/ 82220 h 82219"/>
                    <a:gd name="connsiteX1" fmla="*/ 0 w 277017"/>
                    <a:gd name="connsiteY1" fmla="*/ 37948 h 82219"/>
                    <a:gd name="connsiteX2" fmla="*/ 0 w 277017"/>
                    <a:gd name="connsiteY2" fmla="*/ 0 h 82219"/>
                    <a:gd name="connsiteX3" fmla="*/ 18974 w 277017"/>
                    <a:gd name="connsiteY3" fmla="*/ 0 h 82219"/>
                    <a:gd name="connsiteX4" fmla="*/ 18974 w 277017"/>
                    <a:gd name="connsiteY4" fmla="*/ 37948 h 82219"/>
                    <a:gd name="connsiteX5" fmla="*/ 138509 w 277017"/>
                    <a:gd name="connsiteY5" fmla="*/ 63246 h 82219"/>
                    <a:gd name="connsiteX6" fmla="*/ 258044 w 277017"/>
                    <a:gd name="connsiteY6" fmla="*/ 37948 h 82219"/>
                    <a:gd name="connsiteX7" fmla="*/ 277017 w 277017"/>
                    <a:gd name="connsiteY7" fmla="*/ 37948 h 82219"/>
                    <a:gd name="connsiteX8" fmla="*/ 138509 w 277017"/>
                    <a:gd name="connsiteY8" fmla="*/ 82220 h 82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017" h="82219">
                      <a:moveTo>
                        <a:pt x="138509" y="82220"/>
                      </a:moveTo>
                      <a:cubicBezTo>
                        <a:pt x="72100" y="82220"/>
                        <a:pt x="0" y="68306"/>
                        <a:pt x="0" y="37948"/>
                      </a:cubicBezTo>
                      <a:lnTo>
                        <a:pt x="0" y="0"/>
                      </a:lnTo>
                      <a:lnTo>
                        <a:pt x="18974" y="0"/>
                      </a:lnTo>
                      <a:lnTo>
                        <a:pt x="18974" y="37948"/>
                      </a:lnTo>
                      <a:cubicBezTo>
                        <a:pt x="19606" y="45537"/>
                        <a:pt x="60716" y="63246"/>
                        <a:pt x="138509" y="63246"/>
                      </a:cubicBezTo>
                      <a:cubicBezTo>
                        <a:pt x="216301" y="63246"/>
                        <a:pt x="257411" y="45537"/>
                        <a:pt x="258044" y="37948"/>
                      </a:cubicBezTo>
                      <a:lnTo>
                        <a:pt x="277017" y="37948"/>
                      </a:lnTo>
                      <a:cubicBezTo>
                        <a:pt x="276385" y="68938"/>
                        <a:pt x="204917" y="82220"/>
                        <a:pt x="138509" y="82220"/>
                      </a:cubicBezTo>
                      <a:close/>
                    </a:path>
                  </a:pathLst>
                </a:custGeom>
                <a:grpFill/>
                <a:ln w="6271" cap="flat">
                  <a:noFill/>
                  <a:prstDash val="solid"/>
                  <a:miter/>
                </a:ln>
              </p:spPr>
              <p:txBody>
                <a:bodyPr rtlCol="0" anchor="ctr"/>
                <a:lstStyle/>
                <a:p>
                  <a:endParaRPr lang="en-US"/>
                </a:p>
              </p:txBody>
            </p:sp>
            <p:sp>
              <p:nvSpPr>
                <p:cNvPr id="145" name="Picture Placeholder 108">
                  <a:extLst>
                    <a:ext uri="{FF2B5EF4-FFF2-40B4-BE49-F238E27FC236}">
                      <a16:creationId xmlns:a16="http://schemas.microsoft.com/office/drawing/2014/main" id="{5EAD7AE6-40EA-6FC4-4C0C-6460C26B867F}"/>
                    </a:ext>
                  </a:extLst>
                </p:cNvPr>
                <p:cNvSpPr/>
                <p:nvPr/>
              </p:nvSpPr>
              <p:spPr>
                <a:xfrm>
                  <a:off x="10338928" y="4684558"/>
                  <a:ext cx="18973" cy="242864"/>
                </a:xfrm>
                <a:custGeom>
                  <a:avLst/>
                  <a:gdLst>
                    <a:gd name="connsiteX0" fmla="*/ 0 w 18973"/>
                    <a:gd name="connsiteY0" fmla="*/ 0 h 242864"/>
                    <a:gd name="connsiteX1" fmla="*/ 18974 w 18973"/>
                    <a:gd name="connsiteY1" fmla="*/ 0 h 242864"/>
                    <a:gd name="connsiteX2" fmla="*/ 18974 w 18973"/>
                    <a:gd name="connsiteY2" fmla="*/ 242865 h 242864"/>
                    <a:gd name="connsiteX3" fmla="*/ 0 w 18973"/>
                    <a:gd name="connsiteY3" fmla="*/ 242865 h 242864"/>
                  </a:gdLst>
                  <a:ahLst/>
                  <a:cxnLst>
                    <a:cxn ang="0">
                      <a:pos x="connsiteX0" y="connsiteY0"/>
                    </a:cxn>
                    <a:cxn ang="0">
                      <a:pos x="connsiteX1" y="connsiteY1"/>
                    </a:cxn>
                    <a:cxn ang="0">
                      <a:pos x="connsiteX2" y="connsiteY2"/>
                    </a:cxn>
                    <a:cxn ang="0">
                      <a:pos x="connsiteX3" y="connsiteY3"/>
                    </a:cxn>
                  </a:cxnLst>
                  <a:rect l="l" t="t" r="r" b="b"/>
                  <a:pathLst>
                    <a:path w="18973" h="242864">
                      <a:moveTo>
                        <a:pt x="0" y="0"/>
                      </a:moveTo>
                      <a:lnTo>
                        <a:pt x="18974" y="0"/>
                      </a:lnTo>
                      <a:lnTo>
                        <a:pt x="18974" y="242865"/>
                      </a:lnTo>
                      <a:lnTo>
                        <a:pt x="0" y="242865"/>
                      </a:lnTo>
                      <a:close/>
                    </a:path>
                  </a:pathLst>
                </a:custGeom>
                <a:grpFill/>
                <a:ln w="6271" cap="flat">
                  <a:noFill/>
                  <a:prstDash val="solid"/>
                  <a:miter/>
                </a:ln>
              </p:spPr>
              <p:txBody>
                <a:bodyPr rtlCol="0" anchor="ctr"/>
                <a:lstStyle/>
                <a:p>
                  <a:endParaRPr lang="en-US"/>
                </a:p>
              </p:txBody>
            </p:sp>
          </p:grpSp>
        </p:grpSp>
      </p:grpSp>
      <p:grpSp>
        <p:nvGrpSpPr>
          <p:cNvPr id="245" name="Group 244">
            <a:extLst>
              <a:ext uri="{FF2B5EF4-FFF2-40B4-BE49-F238E27FC236}">
                <a16:creationId xmlns:a16="http://schemas.microsoft.com/office/drawing/2014/main" id="{DEEEEBB7-B90D-202A-C518-C16B50847FBD}"/>
              </a:ext>
            </a:extLst>
          </p:cNvPr>
          <p:cNvGrpSpPr/>
          <p:nvPr/>
        </p:nvGrpSpPr>
        <p:grpSpPr>
          <a:xfrm>
            <a:off x="616505" y="3955027"/>
            <a:ext cx="5334000" cy="377904"/>
            <a:chOff x="616505" y="2489935"/>
            <a:chExt cx="5334000" cy="377904"/>
          </a:xfrm>
        </p:grpSpPr>
        <p:sp>
          <p:nvSpPr>
            <p:cNvPr id="181" name="Isosceles Triangle 166">
              <a:extLst>
                <a:ext uri="{FF2B5EF4-FFF2-40B4-BE49-F238E27FC236}">
                  <a16:creationId xmlns:a16="http://schemas.microsoft.com/office/drawing/2014/main" id="{8C9CD0FF-FE4D-C3DD-A6C0-3E17DE1F24FB}"/>
                </a:ext>
              </a:extLst>
            </p:cNvPr>
            <p:cNvSpPr/>
            <p:nvPr/>
          </p:nvSpPr>
          <p:spPr>
            <a:xfrm>
              <a:off x="616505" y="2493166"/>
              <a:ext cx="670560" cy="374673"/>
            </a:xfrm>
            <a:prstGeom prst="triangle">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82" name="Rectangle 181">
              <a:extLst>
                <a:ext uri="{FF2B5EF4-FFF2-40B4-BE49-F238E27FC236}">
                  <a16:creationId xmlns:a16="http://schemas.microsoft.com/office/drawing/2014/main" id="{A9B86576-551C-F9A5-5AA1-2246B7BABEB3}"/>
                </a:ext>
              </a:extLst>
            </p:cNvPr>
            <p:cNvSpPr/>
            <p:nvPr/>
          </p:nvSpPr>
          <p:spPr>
            <a:xfrm>
              <a:off x="951785" y="2489935"/>
              <a:ext cx="4661616" cy="377904"/>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chemeClr val="bg1"/>
                  </a:solidFill>
                </a:rPr>
                <a:t>Better Resilience</a:t>
              </a:r>
            </a:p>
          </p:txBody>
        </p:sp>
        <p:sp>
          <p:nvSpPr>
            <p:cNvPr id="183" name="Isosceles Triangle 166">
              <a:extLst>
                <a:ext uri="{FF2B5EF4-FFF2-40B4-BE49-F238E27FC236}">
                  <a16:creationId xmlns:a16="http://schemas.microsoft.com/office/drawing/2014/main" id="{3B7673FC-E849-A07E-C6E7-5EB571FE871B}"/>
                </a:ext>
              </a:extLst>
            </p:cNvPr>
            <p:cNvSpPr/>
            <p:nvPr/>
          </p:nvSpPr>
          <p:spPr>
            <a:xfrm rot="10800000">
              <a:off x="5279945" y="2489935"/>
              <a:ext cx="670560" cy="374673"/>
            </a:xfrm>
            <a:prstGeom prst="triangle">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nvGrpSpPr>
            <p:cNvPr id="160" name="Group 159" descr="Data Protection&#10;">
              <a:extLst>
                <a:ext uri="{FF2B5EF4-FFF2-40B4-BE49-F238E27FC236}">
                  <a16:creationId xmlns:a16="http://schemas.microsoft.com/office/drawing/2014/main" id="{5F93AA97-7E7A-6EA9-7AD0-51007A942254}"/>
                </a:ext>
              </a:extLst>
            </p:cNvPr>
            <p:cNvGrpSpPr/>
            <p:nvPr/>
          </p:nvGrpSpPr>
          <p:grpSpPr>
            <a:xfrm>
              <a:off x="1274675" y="2536438"/>
              <a:ext cx="283523" cy="284899"/>
              <a:chOff x="535250" y="1943265"/>
              <a:chExt cx="602089" cy="605011"/>
            </a:xfrm>
            <a:solidFill>
              <a:schemeClr val="bg1"/>
            </a:solidFill>
          </p:grpSpPr>
          <p:sp>
            <p:nvSpPr>
              <p:cNvPr id="161" name="Picture Placeholder 83">
                <a:extLst>
                  <a:ext uri="{FF2B5EF4-FFF2-40B4-BE49-F238E27FC236}">
                    <a16:creationId xmlns:a16="http://schemas.microsoft.com/office/drawing/2014/main" id="{C0718AAB-8994-7E06-A576-577493736EE8}"/>
                  </a:ext>
                </a:extLst>
              </p:cNvPr>
              <p:cNvSpPr/>
              <p:nvPr/>
            </p:nvSpPr>
            <p:spPr>
              <a:xfrm>
                <a:off x="580248" y="1990067"/>
                <a:ext cx="15844" cy="15811"/>
              </a:xfrm>
              <a:custGeom>
                <a:avLst/>
                <a:gdLst>
                  <a:gd name="connsiteX0" fmla="*/ 15844 w 15844"/>
                  <a:gd name="connsiteY0" fmla="*/ 7906 h 15811"/>
                  <a:gd name="connsiteX1" fmla="*/ 7922 w 15844"/>
                  <a:gd name="connsiteY1" fmla="*/ 15812 h 15811"/>
                  <a:gd name="connsiteX2" fmla="*/ 0 w 15844"/>
                  <a:gd name="connsiteY2" fmla="*/ 7906 h 15811"/>
                  <a:gd name="connsiteX3" fmla="*/ 7922 w 15844"/>
                  <a:gd name="connsiteY3" fmla="*/ 0 h 15811"/>
                  <a:gd name="connsiteX4" fmla="*/ 15844 w 15844"/>
                  <a:gd name="connsiteY4" fmla="*/ 7906 h 15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4" h="15811">
                    <a:moveTo>
                      <a:pt x="15844" y="7906"/>
                    </a:moveTo>
                    <a:cubicBezTo>
                      <a:pt x="15844" y="12272"/>
                      <a:pt x="12298" y="15812"/>
                      <a:pt x="7922" y="15812"/>
                    </a:cubicBezTo>
                    <a:cubicBezTo>
                      <a:pt x="3547" y="15812"/>
                      <a:pt x="0" y="12272"/>
                      <a:pt x="0" y="7906"/>
                    </a:cubicBezTo>
                    <a:cubicBezTo>
                      <a:pt x="0" y="3540"/>
                      <a:pt x="3547" y="0"/>
                      <a:pt x="7922" y="0"/>
                    </a:cubicBezTo>
                    <a:cubicBezTo>
                      <a:pt x="12298" y="0"/>
                      <a:pt x="15844" y="3540"/>
                      <a:pt x="15844" y="7906"/>
                    </a:cubicBezTo>
                    <a:close/>
                  </a:path>
                </a:pathLst>
              </a:custGeom>
              <a:grpFill/>
              <a:ln w="6271" cap="flat">
                <a:noFill/>
                <a:prstDash val="solid"/>
                <a:miter/>
              </a:ln>
            </p:spPr>
            <p:txBody>
              <a:bodyPr rtlCol="0" anchor="ctr"/>
              <a:lstStyle/>
              <a:p>
                <a:endParaRPr lang="en-US"/>
              </a:p>
            </p:txBody>
          </p:sp>
          <p:sp>
            <p:nvSpPr>
              <p:cNvPr id="162" name="Picture Placeholder 83">
                <a:extLst>
                  <a:ext uri="{FF2B5EF4-FFF2-40B4-BE49-F238E27FC236}">
                    <a16:creationId xmlns:a16="http://schemas.microsoft.com/office/drawing/2014/main" id="{41174D3C-DF83-4B91-AEA9-04D237EE37E4}"/>
                  </a:ext>
                </a:extLst>
              </p:cNvPr>
              <p:cNvSpPr/>
              <p:nvPr/>
            </p:nvSpPr>
            <p:spPr>
              <a:xfrm>
                <a:off x="611937" y="1990067"/>
                <a:ext cx="15844" cy="15811"/>
              </a:xfrm>
              <a:custGeom>
                <a:avLst/>
                <a:gdLst>
                  <a:gd name="connsiteX0" fmla="*/ 15844 w 15844"/>
                  <a:gd name="connsiteY0" fmla="*/ 7906 h 15811"/>
                  <a:gd name="connsiteX1" fmla="*/ 7922 w 15844"/>
                  <a:gd name="connsiteY1" fmla="*/ 15812 h 15811"/>
                  <a:gd name="connsiteX2" fmla="*/ 0 w 15844"/>
                  <a:gd name="connsiteY2" fmla="*/ 7906 h 15811"/>
                  <a:gd name="connsiteX3" fmla="*/ 7922 w 15844"/>
                  <a:gd name="connsiteY3" fmla="*/ 0 h 15811"/>
                  <a:gd name="connsiteX4" fmla="*/ 15844 w 15844"/>
                  <a:gd name="connsiteY4" fmla="*/ 7906 h 15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4" h="15811">
                    <a:moveTo>
                      <a:pt x="15844" y="7906"/>
                    </a:moveTo>
                    <a:cubicBezTo>
                      <a:pt x="15844" y="12272"/>
                      <a:pt x="12298" y="15812"/>
                      <a:pt x="7922" y="15812"/>
                    </a:cubicBezTo>
                    <a:cubicBezTo>
                      <a:pt x="3547" y="15812"/>
                      <a:pt x="0" y="12272"/>
                      <a:pt x="0" y="7906"/>
                    </a:cubicBezTo>
                    <a:cubicBezTo>
                      <a:pt x="0" y="3540"/>
                      <a:pt x="3547" y="0"/>
                      <a:pt x="7922" y="0"/>
                    </a:cubicBezTo>
                    <a:cubicBezTo>
                      <a:pt x="12298" y="0"/>
                      <a:pt x="15844" y="3540"/>
                      <a:pt x="15844" y="7906"/>
                    </a:cubicBezTo>
                    <a:close/>
                  </a:path>
                </a:pathLst>
              </a:custGeom>
              <a:grpFill/>
              <a:ln w="6271" cap="flat">
                <a:noFill/>
                <a:prstDash val="solid"/>
                <a:miter/>
              </a:ln>
            </p:spPr>
            <p:txBody>
              <a:bodyPr rtlCol="0" anchor="ctr"/>
              <a:lstStyle/>
              <a:p>
                <a:endParaRPr lang="en-US"/>
              </a:p>
            </p:txBody>
          </p:sp>
          <p:sp>
            <p:nvSpPr>
              <p:cNvPr id="163" name="Picture Placeholder 83">
                <a:extLst>
                  <a:ext uri="{FF2B5EF4-FFF2-40B4-BE49-F238E27FC236}">
                    <a16:creationId xmlns:a16="http://schemas.microsoft.com/office/drawing/2014/main" id="{00C44FB4-65D2-FBC7-E796-CF27AF6E90BF}"/>
                  </a:ext>
                </a:extLst>
              </p:cNvPr>
              <p:cNvSpPr/>
              <p:nvPr/>
            </p:nvSpPr>
            <p:spPr>
              <a:xfrm>
                <a:off x="643626" y="1990067"/>
                <a:ext cx="15844" cy="15811"/>
              </a:xfrm>
              <a:custGeom>
                <a:avLst/>
                <a:gdLst>
                  <a:gd name="connsiteX0" fmla="*/ 15844 w 15844"/>
                  <a:gd name="connsiteY0" fmla="*/ 7906 h 15811"/>
                  <a:gd name="connsiteX1" fmla="*/ 7922 w 15844"/>
                  <a:gd name="connsiteY1" fmla="*/ 15812 h 15811"/>
                  <a:gd name="connsiteX2" fmla="*/ 0 w 15844"/>
                  <a:gd name="connsiteY2" fmla="*/ 7906 h 15811"/>
                  <a:gd name="connsiteX3" fmla="*/ 7922 w 15844"/>
                  <a:gd name="connsiteY3" fmla="*/ 0 h 15811"/>
                  <a:gd name="connsiteX4" fmla="*/ 15844 w 15844"/>
                  <a:gd name="connsiteY4" fmla="*/ 7906 h 15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4" h="15811">
                    <a:moveTo>
                      <a:pt x="15844" y="7906"/>
                    </a:moveTo>
                    <a:cubicBezTo>
                      <a:pt x="15844" y="12272"/>
                      <a:pt x="12298" y="15812"/>
                      <a:pt x="7922" y="15812"/>
                    </a:cubicBezTo>
                    <a:cubicBezTo>
                      <a:pt x="3547" y="15812"/>
                      <a:pt x="0" y="12272"/>
                      <a:pt x="0" y="7906"/>
                    </a:cubicBezTo>
                    <a:cubicBezTo>
                      <a:pt x="0" y="3540"/>
                      <a:pt x="3547" y="0"/>
                      <a:pt x="7922" y="0"/>
                    </a:cubicBezTo>
                    <a:cubicBezTo>
                      <a:pt x="12298" y="0"/>
                      <a:pt x="15844" y="3540"/>
                      <a:pt x="15844" y="7906"/>
                    </a:cubicBezTo>
                    <a:close/>
                  </a:path>
                </a:pathLst>
              </a:custGeom>
              <a:grpFill/>
              <a:ln w="6271" cap="flat">
                <a:noFill/>
                <a:prstDash val="solid"/>
                <a:miter/>
              </a:ln>
            </p:spPr>
            <p:txBody>
              <a:bodyPr rtlCol="0" anchor="ctr"/>
              <a:lstStyle/>
              <a:p>
                <a:endParaRPr lang="en-US"/>
              </a:p>
            </p:txBody>
          </p:sp>
          <p:sp>
            <p:nvSpPr>
              <p:cNvPr id="164" name="Picture Placeholder 83">
                <a:extLst>
                  <a:ext uri="{FF2B5EF4-FFF2-40B4-BE49-F238E27FC236}">
                    <a16:creationId xmlns:a16="http://schemas.microsoft.com/office/drawing/2014/main" id="{77FCEE9A-4E9E-69E2-6CEF-549D76070CFF}"/>
                  </a:ext>
                </a:extLst>
              </p:cNvPr>
              <p:cNvSpPr/>
              <p:nvPr/>
            </p:nvSpPr>
            <p:spPr>
              <a:xfrm>
                <a:off x="535250" y="1943265"/>
                <a:ext cx="602089" cy="442974"/>
              </a:xfrm>
              <a:custGeom>
                <a:avLst/>
                <a:gdLst>
                  <a:gd name="connsiteX0" fmla="*/ 0 w 602089"/>
                  <a:gd name="connsiteY0" fmla="*/ 0 h 442974"/>
                  <a:gd name="connsiteX1" fmla="*/ 0 w 602089"/>
                  <a:gd name="connsiteY1" fmla="*/ 442722 h 442974"/>
                  <a:gd name="connsiteX2" fmla="*/ 142093 w 602089"/>
                  <a:gd name="connsiteY2" fmla="*/ 442722 h 442974"/>
                  <a:gd name="connsiteX3" fmla="*/ 141713 w 602089"/>
                  <a:gd name="connsiteY3" fmla="*/ 426911 h 442974"/>
                  <a:gd name="connsiteX4" fmla="*/ 15844 w 602089"/>
                  <a:gd name="connsiteY4" fmla="*/ 426911 h 442974"/>
                  <a:gd name="connsiteX5" fmla="*/ 15844 w 602089"/>
                  <a:gd name="connsiteY5" fmla="*/ 106696 h 442974"/>
                  <a:gd name="connsiteX6" fmla="*/ 550056 w 602089"/>
                  <a:gd name="connsiteY6" fmla="*/ 106696 h 442974"/>
                  <a:gd name="connsiteX7" fmla="*/ 550056 w 602089"/>
                  <a:gd name="connsiteY7" fmla="*/ 90885 h 442974"/>
                  <a:gd name="connsiteX8" fmla="*/ 15844 w 602089"/>
                  <a:gd name="connsiteY8" fmla="*/ 90885 h 442974"/>
                  <a:gd name="connsiteX9" fmla="*/ 15844 w 602089"/>
                  <a:gd name="connsiteY9" fmla="*/ 16064 h 442974"/>
                  <a:gd name="connsiteX10" fmla="*/ 586245 w 602089"/>
                  <a:gd name="connsiteY10" fmla="*/ 16064 h 442974"/>
                  <a:gd name="connsiteX11" fmla="*/ 586245 w 602089"/>
                  <a:gd name="connsiteY11" fmla="*/ 427163 h 442974"/>
                  <a:gd name="connsiteX12" fmla="*/ 461961 w 602089"/>
                  <a:gd name="connsiteY12" fmla="*/ 427163 h 442974"/>
                  <a:gd name="connsiteX13" fmla="*/ 461581 w 602089"/>
                  <a:gd name="connsiteY13" fmla="*/ 442975 h 442974"/>
                  <a:gd name="connsiteX14" fmla="*/ 602089 w 602089"/>
                  <a:gd name="connsiteY14" fmla="*/ 442975 h 442974"/>
                  <a:gd name="connsiteX15" fmla="*/ 602089 w 602089"/>
                  <a:gd name="connsiteY15" fmla="*/ 253 h 442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02089" h="442974">
                    <a:moveTo>
                      <a:pt x="0" y="0"/>
                    </a:moveTo>
                    <a:lnTo>
                      <a:pt x="0" y="442722"/>
                    </a:lnTo>
                    <a:lnTo>
                      <a:pt x="142093" y="442722"/>
                    </a:lnTo>
                    <a:cubicBezTo>
                      <a:pt x="142093" y="437346"/>
                      <a:pt x="142093" y="432033"/>
                      <a:pt x="141713" y="426911"/>
                    </a:cubicBezTo>
                    <a:lnTo>
                      <a:pt x="15844" y="426911"/>
                    </a:lnTo>
                    <a:lnTo>
                      <a:pt x="15844" y="106696"/>
                    </a:lnTo>
                    <a:lnTo>
                      <a:pt x="550056" y="106696"/>
                    </a:lnTo>
                    <a:lnTo>
                      <a:pt x="550056" y="90885"/>
                    </a:lnTo>
                    <a:lnTo>
                      <a:pt x="15844" y="90885"/>
                    </a:lnTo>
                    <a:lnTo>
                      <a:pt x="15844" y="16064"/>
                    </a:lnTo>
                    <a:lnTo>
                      <a:pt x="586245" y="16064"/>
                    </a:lnTo>
                    <a:lnTo>
                      <a:pt x="586245" y="427163"/>
                    </a:lnTo>
                    <a:lnTo>
                      <a:pt x="461961" y="427163"/>
                    </a:lnTo>
                    <a:cubicBezTo>
                      <a:pt x="461961" y="432286"/>
                      <a:pt x="461961" y="437599"/>
                      <a:pt x="461581" y="442975"/>
                    </a:cubicBezTo>
                    <a:lnTo>
                      <a:pt x="602089" y="442975"/>
                    </a:lnTo>
                    <a:lnTo>
                      <a:pt x="602089" y="253"/>
                    </a:lnTo>
                    <a:close/>
                  </a:path>
                </a:pathLst>
              </a:custGeom>
              <a:grpFill/>
              <a:ln w="6271" cap="flat">
                <a:noFill/>
                <a:prstDash val="solid"/>
                <a:miter/>
              </a:ln>
            </p:spPr>
            <p:txBody>
              <a:bodyPr rtlCol="0" anchor="ctr"/>
              <a:lstStyle/>
              <a:p>
                <a:endParaRPr lang="en-US"/>
              </a:p>
            </p:txBody>
          </p:sp>
          <p:sp>
            <p:nvSpPr>
              <p:cNvPr id="165" name="Picture Placeholder 83">
                <a:extLst>
                  <a:ext uri="{FF2B5EF4-FFF2-40B4-BE49-F238E27FC236}">
                    <a16:creationId xmlns:a16="http://schemas.microsoft.com/office/drawing/2014/main" id="{0702069F-9D07-9AEA-799D-389E1EA7F3AB}"/>
                  </a:ext>
                </a:extLst>
              </p:cNvPr>
              <p:cNvSpPr/>
              <p:nvPr/>
            </p:nvSpPr>
            <p:spPr>
              <a:xfrm>
                <a:off x="706117" y="2242988"/>
                <a:ext cx="260672" cy="305288"/>
              </a:xfrm>
              <a:custGeom>
                <a:avLst/>
                <a:gdLst>
                  <a:gd name="connsiteX0" fmla="*/ 130178 w 260672"/>
                  <a:gd name="connsiteY0" fmla="*/ 305288 h 305288"/>
                  <a:gd name="connsiteX1" fmla="*/ 124601 w 260672"/>
                  <a:gd name="connsiteY1" fmla="*/ 303328 h 305288"/>
                  <a:gd name="connsiteX2" fmla="*/ 0 w 260672"/>
                  <a:gd name="connsiteY2" fmla="*/ 135093 h 305288"/>
                  <a:gd name="connsiteX3" fmla="*/ 0 w 260672"/>
                  <a:gd name="connsiteY3" fmla="*/ 56226 h 305288"/>
                  <a:gd name="connsiteX4" fmla="*/ 12676 w 260672"/>
                  <a:gd name="connsiteY4" fmla="*/ 53063 h 305288"/>
                  <a:gd name="connsiteX5" fmla="*/ 69272 w 260672"/>
                  <a:gd name="connsiteY5" fmla="*/ 33141 h 305288"/>
                  <a:gd name="connsiteX6" fmla="*/ 121369 w 260672"/>
                  <a:gd name="connsiteY6" fmla="*/ 5692 h 305288"/>
                  <a:gd name="connsiteX7" fmla="*/ 130241 w 260672"/>
                  <a:gd name="connsiteY7" fmla="*/ 0 h 305288"/>
                  <a:gd name="connsiteX8" fmla="*/ 139304 w 260672"/>
                  <a:gd name="connsiteY8" fmla="*/ 5566 h 305288"/>
                  <a:gd name="connsiteX9" fmla="*/ 191401 w 260672"/>
                  <a:gd name="connsiteY9" fmla="*/ 33014 h 305288"/>
                  <a:gd name="connsiteX10" fmla="*/ 247997 w 260672"/>
                  <a:gd name="connsiteY10" fmla="*/ 53127 h 305288"/>
                  <a:gd name="connsiteX11" fmla="*/ 260673 w 260672"/>
                  <a:gd name="connsiteY11" fmla="*/ 56226 h 305288"/>
                  <a:gd name="connsiteX12" fmla="*/ 260673 w 260672"/>
                  <a:gd name="connsiteY12" fmla="*/ 135093 h 305288"/>
                  <a:gd name="connsiteX13" fmla="*/ 136072 w 260672"/>
                  <a:gd name="connsiteY13" fmla="*/ 303201 h 305288"/>
                  <a:gd name="connsiteX14" fmla="*/ 136072 w 260672"/>
                  <a:gd name="connsiteY14" fmla="*/ 303201 h 305288"/>
                  <a:gd name="connsiteX15" fmla="*/ 16098 w 260672"/>
                  <a:gd name="connsiteY15" fmla="*/ 68559 h 305288"/>
                  <a:gd name="connsiteX16" fmla="*/ 16098 w 260672"/>
                  <a:gd name="connsiteY16" fmla="*/ 135093 h 305288"/>
                  <a:gd name="connsiteX17" fmla="*/ 130178 w 260672"/>
                  <a:gd name="connsiteY17" fmla="*/ 288465 h 305288"/>
                  <a:gd name="connsiteX18" fmla="*/ 130178 w 260672"/>
                  <a:gd name="connsiteY18" fmla="*/ 288465 h 305288"/>
                  <a:gd name="connsiteX19" fmla="*/ 131826 w 260672"/>
                  <a:gd name="connsiteY19" fmla="*/ 287896 h 305288"/>
                  <a:gd name="connsiteX20" fmla="*/ 244512 w 260672"/>
                  <a:gd name="connsiteY20" fmla="*/ 135030 h 305288"/>
                  <a:gd name="connsiteX21" fmla="*/ 244512 w 260672"/>
                  <a:gd name="connsiteY21" fmla="*/ 68559 h 305288"/>
                  <a:gd name="connsiteX22" fmla="*/ 243878 w 260672"/>
                  <a:gd name="connsiteY22" fmla="*/ 68559 h 305288"/>
                  <a:gd name="connsiteX23" fmla="*/ 184873 w 260672"/>
                  <a:gd name="connsiteY23" fmla="*/ 47687 h 305288"/>
                  <a:gd name="connsiteX24" fmla="*/ 130748 w 260672"/>
                  <a:gd name="connsiteY24" fmla="*/ 19164 h 305288"/>
                  <a:gd name="connsiteX25" fmla="*/ 130305 w 260672"/>
                  <a:gd name="connsiteY25" fmla="*/ 19164 h 305288"/>
                  <a:gd name="connsiteX26" fmla="*/ 129798 w 260672"/>
                  <a:gd name="connsiteY26" fmla="*/ 19164 h 305288"/>
                  <a:gd name="connsiteX27" fmla="*/ 75546 w 260672"/>
                  <a:gd name="connsiteY27" fmla="*/ 47751 h 305288"/>
                  <a:gd name="connsiteX28" fmla="*/ 16542 w 260672"/>
                  <a:gd name="connsiteY28" fmla="*/ 68495 h 305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60672" h="305288">
                    <a:moveTo>
                      <a:pt x="130178" y="305288"/>
                    </a:moveTo>
                    <a:lnTo>
                      <a:pt x="124601" y="303328"/>
                    </a:lnTo>
                    <a:cubicBezTo>
                      <a:pt x="119277" y="301304"/>
                      <a:pt x="0" y="254881"/>
                      <a:pt x="0" y="135093"/>
                    </a:cubicBezTo>
                    <a:lnTo>
                      <a:pt x="0" y="56226"/>
                    </a:lnTo>
                    <a:lnTo>
                      <a:pt x="12676" y="53063"/>
                    </a:lnTo>
                    <a:cubicBezTo>
                      <a:pt x="32053" y="47970"/>
                      <a:pt x="50981" y="41307"/>
                      <a:pt x="69272" y="33141"/>
                    </a:cubicBezTo>
                    <a:cubicBezTo>
                      <a:pt x="87314" y="25332"/>
                      <a:pt x="104731" y="16156"/>
                      <a:pt x="121369" y="5692"/>
                    </a:cubicBezTo>
                    <a:lnTo>
                      <a:pt x="130241" y="0"/>
                    </a:lnTo>
                    <a:lnTo>
                      <a:pt x="139304" y="5566"/>
                    </a:lnTo>
                    <a:cubicBezTo>
                      <a:pt x="155943" y="16028"/>
                      <a:pt x="173359" y="25204"/>
                      <a:pt x="191401" y="33014"/>
                    </a:cubicBezTo>
                    <a:cubicBezTo>
                      <a:pt x="209699" y="41215"/>
                      <a:pt x="228625" y="47940"/>
                      <a:pt x="247997" y="53127"/>
                    </a:cubicBezTo>
                    <a:lnTo>
                      <a:pt x="260673" y="56226"/>
                    </a:lnTo>
                    <a:lnTo>
                      <a:pt x="260673" y="135093"/>
                    </a:lnTo>
                    <a:cubicBezTo>
                      <a:pt x="260673" y="247292"/>
                      <a:pt x="155529" y="297636"/>
                      <a:pt x="136072" y="303201"/>
                    </a:cubicBezTo>
                    <a:lnTo>
                      <a:pt x="136072" y="303201"/>
                    </a:lnTo>
                    <a:close/>
                    <a:moveTo>
                      <a:pt x="16098" y="68559"/>
                    </a:moveTo>
                    <a:lnTo>
                      <a:pt x="16098" y="135093"/>
                    </a:lnTo>
                    <a:cubicBezTo>
                      <a:pt x="16098" y="244066"/>
                      <a:pt x="125551" y="286884"/>
                      <a:pt x="130178" y="288465"/>
                    </a:cubicBezTo>
                    <a:lnTo>
                      <a:pt x="130178" y="288465"/>
                    </a:lnTo>
                    <a:lnTo>
                      <a:pt x="131826" y="287896"/>
                    </a:lnTo>
                    <a:cubicBezTo>
                      <a:pt x="141903" y="283911"/>
                      <a:pt x="244512" y="240461"/>
                      <a:pt x="244512" y="135030"/>
                    </a:cubicBezTo>
                    <a:lnTo>
                      <a:pt x="244512" y="68559"/>
                    </a:lnTo>
                    <a:lnTo>
                      <a:pt x="243878" y="68559"/>
                    </a:lnTo>
                    <a:cubicBezTo>
                      <a:pt x="223688" y="63168"/>
                      <a:pt x="203958" y="56190"/>
                      <a:pt x="184873" y="47687"/>
                    </a:cubicBezTo>
                    <a:cubicBezTo>
                      <a:pt x="166137" y="39555"/>
                      <a:pt x="148043" y="30020"/>
                      <a:pt x="130748" y="19164"/>
                    </a:cubicBezTo>
                    <a:lnTo>
                      <a:pt x="130305" y="19164"/>
                    </a:lnTo>
                    <a:lnTo>
                      <a:pt x="129798" y="19164"/>
                    </a:lnTo>
                    <a:cubicBezTo>
                      <a:pt x="112468" y="30054"/>
                      <a:pt x="94332" y="39611"/>
                      <a:pt x="75546" y="47751"/>
                    </a:cubicBezTo>
                    <a:cubicBezTo>
                      <a:pt x="56463" y="56221"/>
                      <a:pt x="36732" y="63158"/>
                      <a:pt x="16542" y="68495"/>
                    </a:cubicBezTo>
                    <a:close/>
                  </a:path>
                </a:pathLst>
              </a:custGeom>
              <a:grpFill/>
              <a:ln w="6271" cap="flat">
                <a:noFill/>
                <a:prstDash val="solid"/>
                <a:miter/>
              </a:ln>
            </p:spPr>
            <p:txBody>
              <a:bodyPr rtlCol="0" anchor="ctr"/>
              <a:lstStyle/>
              <a:p>
                <a:endParaRPr lang="en-US"/>
              </a:p>
            </p:txBody>
          </p:sp>
        </p:grpSp>
      </p:grpSp>
      <p:grpSp>
        <p:nvGrpSpPr>
          <p:cNvPr id="246" name="Group 245">
            <a:extLst>
              <a:ext uri="{FF2B5EF4-FFF2-40B4-BE49-F238E27FC236}">
                <a16:creationId xmlns:a16="http://schemas.microsoft.com/office/drawing/2014/main" id="{3D2A59B6-9902-E49F-A78A-977583A2AB0A}"/>
              </a:ext>
            </a:extLst>
          </p:cNvPr>
          <p:cNvGrpSpPr/>
          <p:nvPr/>
        </p:nvGrpSpPr>
        <p:grpSpPr>
          <a:xfrm>
            <a:off x="6255305" y="3955027"/>
            <a:ext cx="5334000" cy="377904"/>
            <a:chOff x="6255305" y="2489935"/>
            <a:chExt cx="5334000" cy="377904"/>
          </a:xfrm>
        </p:grpSpPr>
        <p:sp>
          <p:nvSpPr>
            <p:cNvPr id="222" name="Isosceles Triangle 166">
              <a:extLst>
                <a:ext uri="{FF2B5EF4-FFF2-40B4-BE49-F238E27FC236}">
                  <a16:creationId xmlns:a16="http://schemas.microsoft.com/office/drawing/2014/main" id="{00D45251-1377-AAF0-02EC-1A77BB5A28D0}"/>
                </a:ext>
              </a:extLst>
            </p:cNvPr>
            <p:cNvSpPr/>
            <p:nvPr/>
          </p:nvSpPr>
          <p:spPr>
            <a:xfrm>
              <a:off x="6255305" y="2493166"/>
              <a:ext cx="670560" cy="374673"/>
            </a:xfrm>
            <a:prstGeom prst="triangl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23" name="Rectangle 222">
              <a:extLst>
                <a:ext uri="{FF2B5EF4-FFF2-40B4-BE49-F238E27FC236}">
                  <a16:creationId xmlns:a16="http://schemas.microsoft.com/office/drawing/2014/main" id="{426AF14C-432C-ED0B-E09F-FFE1EEB3426B}"/>
                </a:ext>
              </a:extLst>
            </p:cNvPr>
            <p:cNvSpPr/>
            <p:nvPr/>
          </p:nvSpPr>
          <p:spPr>
            <a:xfrm>
              <a:off x="6591300" y="2489935"/>
              <a:ext cx="4662724" cy="377904"/>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chemeClr val="bg1"/>
                  </a:solidFill>
                </a:rPr>
                <a:t>Easier to Use</a:t>
              </a:r>
            </a:p>
          </p:txBody>
        </p:sp>
        <p:sp>
          <p:nvSpPr>
            <p:cNvPr id="224" name="Isosceles Triangle 166">
              <a:extLst>
                <a:ext uri="{FF2B5EF4-FFF2-40B4-BE49-F238E27FC236}">
                  <a16:creationId xmlns:a16="http://schemas.microsoft.com/office/drawing/2014/main" id="{423EB2E3-3AD9-462D-1824-703CBA19930F}"/>
                </a:ext>
              </a:extLst>
            </p:cNvPr>
            <p:cNvSpPr/>
            <p:nvPr/>
          </p:nvSpPr>
          <p:spPr>
            <a:xfrm rot="10800000">
              <a:off x="10918745" y="2489935"/>
              <a:ext cx="670560" cy="374673"/>
            </a:xfrm>
            <a:prstGeom prst="triangl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pic>
          <p:nvPicPr>
            <p:cNvPr id="170" name="Graphic 169">
              <a:extLst>
                <a:ext uri="{FF2B5EF4-FFF2-40B4-BE49-F238E27FC236}">
                  <a16:creationId xmlns:a16="http://schemas.microsoft.com/office/drawing/2014/main" id="{CC4F0848-5AA2-D32A-93D2-40EE62FD162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20863" y="2547824"/>
              <a:ext cx="298873" cy="262126"/>
            </a:xfrm>
            <a:prstGeom prst="rect">
              <a:avLst/>
            </a:prstGeom>
          </p:spPr>
        </p:pic>
      </p:grpSp>
      <p:sp>
        <p:nvSpPr>
          <p:cNvPr id="250" name="TextBox 249">
            <a:extLst>
              <a:ext uri="{FF2B5EF4-FFF2-40B4-BE49-F238E27FC236}">
                <a16:creationId xmlns:a16="http://schemas.microsoft.com/office/drawing/2014/main" id="{913B8C74-BE1D-2A8D-36F4-05F5A892AE9C}"/>
              </a:ext>
            </a:extLst>
          </p:cNvPr>
          <p:cNvSpPr txBox="1"/>
          <p:nvPr/>
        </p:nvSpPr>
        <p:spPr>
          <a:xfrm>
            <a:off x="951783" y="2075056"/>
            <a:ext cx="4661617" cy="1692771"/>
          </a:xfrm>
          <a:prstGeom prst="rect">
            <a:avLst/>
          </a:prstGeom>
        </p:spPr>
        <p:txBody>
          <a:bodyPr wrap="square" lIns="0" tIns="0" rIns="0" bIns="0" rtlCol="0">
            <a:spAutoFit/>
          </a:bodyPr>
          <a:lstStyle/>
          <a:p>
            <a:pPr>
              <a:spcAft>
                <a:spcPts val="1200"/>
              </a:spcAft>
            </a:pPr>
            <a:r>
              <a:rPr lang="en-US" sz="1400" dirty="0">
                <a:solidFill>
                  <a:schemeClr val="tx2"/>
                </a:solidFill>
              </a:rPr>
              <a:t>Store data using RAID-6 at the </a:t>
            </a:r>
            <a:r>
              <a:rPr lang="en-US" sz="1400" b="1" dirty="0">
                <a:solidFill>
                  <a:schemeClr val="accent4">
                    <a:lumMod val="75000"/>
                  </a:schemeClr>
                </a:solidFill>
              </a:rPr>
              <a:t>performance of RAID-1</a:t>
            </a:r>
          </a:p>
          <a:p>
            <a:pPr>
              <a:spcAft>
                <a:spcPts val="1200"/>
              </a:spcAft>
            </a:pPr>
            <a:r>
              <a:rPr lang="en-US" sz="1400" dirty="0">
                <a:solidFill>
                  <a:schemeClr val="tx2"/>
                </a:solidFill>
              </a:rPr>
              <a:t>Consistent and scalable performance</a:t>
            </a:r>
          </a:p>
          <a:p>
            <a:pPr>
              <a:spcAft>
                <a:spcPts val="1200"/>
              </a:spcAft>
            </a:pPr>
            <a:r>
              <a:rPr lang="en-US" sz="1400" dirty="0">
                <a:solidFill>
                  <a:schemeClr val="tx2"/>
                </a:solidFill>
              </a:rPr>
              <a:t>Adaptive write path for maximum throughput</a:t>
            </a:r>
          </a:p>
          <a:p>
            <a:pPr>
              <a:spcAft>
                <a:spcPts val="1200"/>
              </a:spcAft>
            </a:pPr>
            <a:r>
              <a:rPr lang="en-US" sz="1400" dirty="0">
                <a:solidFill>
                  <a:schemeClr val="tx2"/>
                </a:solidFill>
              </a:rPr>
              <a:t>Snapshots with minimal performance impact</a:t>
            </a:r>
          </a:p>
          <a:p>
            <a:pPr>
              <a:spcAft>
                <a:spcPts val="1200"/>
              </a:spcAft>
            </a:pPr>
            <a:r>
              <a:rPr lang="en-US" sz="1400" dirty="0">
                <a:solidFill>
                  <a:schemeClr val="tx2"/>
                </a:solidFill>
              </a:rPr>
              <a:t>vSAN storage clusters</a:t>
            </a:r>
          </a:p>
        </p:txBody>
      </p:sp>
      <p:sp>
        <p:nvSpPr>
          <p:cNvPr id="251" name="TextBox 250">
            <a:extLst>
              <a:ext uri="{FF2B5EF4-FFF2-40B4-BE49-F238E27FC236}">
                <a16:creationId xmlns:a16="http://schemas.microsoft.com/office/drawing/2014/main" id="{A6EE3AFF-201A-4EDD-A0A0-23903FE66278}"/>
              </a:ext>
            </a:extLst>
          </p:cNvPr>
          <p:cNvSpPr txBox="1"/>
          <p:nvPr/>
        </p:nvSpPr>
        <p:spPr>
          <a:xfrm>
            <a:off x="6591300" y="2075056"/>
            <a:ext cx="4662723" cy="1692771"/>
          </a:xfrm>
          <a:prstGeom prst="rect">
            <a:avLst/>
          </a:prstGeom>
        </p:spPr>
        <p:txBody>
          <a:bodyPr wrap="square" lIns="0" tIns="0" rIns="0" bIns="0" rtlCol="0">
            <a:spAutoFit/>
          </a:bodyPr>
          <a:lstStyle/>
          <a:p>
            <a:pPr>
              <a:spcAft>
                <a:spcPts val="1200"/>
              </a:spcAft>
            </a:pPr>
            <a:r>
              <a:rPr lang="en-US" sz="1400" b="1" dirty="0">
                <a:solidFill>
                  <a:schemeClr val="accent3">
                    <a:lumMod val="75000"/>
                  </a:schemeClr>
                </a:solidFill>
              </a:rPr>
              <a:t>Lower CPU usage </a:t>
            </a:r>
            <a:r>
              <a:rPr lang="en-US" sz="1400" dirty="0">
                <a:solidFill>
                  <a:schemeClr val="tx2"/>
                </a:solidFill>
              </a:rPr>
              <a:t>per I/O processed</a:t>
            </a:r>
          </a:p>
          <a:p>
            <a:pPr>
              <a:spcAft>
                <a:spcPts val="1200"/>
              </a:spcAft>
            </a:pPr>
            <a:r>
              <a:rPr lang="en-US" sz="1400" dirty="0">
                <a:solidFill>
                  <a:schemeClr val="tx2"/>
                </a:solidFill>
              </a:rPr>
              <a:t>Up to 70% more usable capacity</a:t>
            </a:r>
          </a:p>
          <a:p>
            <a:pPr>
              <a:spcAft>
                <a:spcPts val="1200"/>
              </a:spcAft>
            </a:pPr>
            <a:r>
              <a:rPr lang="en-US" sz="1400" dirty="0">
                <a:solidFill>
                  <a:schemeClr val="tx2"/>
                </a:solidFill>
              </a:rPr>
              <a:t>Up to 500 VMs per host</a:t>
            </a:r>
          </a:p>
          <a:p>
            <a:pPr>
              <a:spcAft>
                <a:spcPts val="1200"/>
              </a:spcAft>
            </a:pPr>
            <a:r>
              <a:rPr lang="en-US" sz="1400" dirty="0">
                <a:solidFill>
                  <a:schemeClr val="tx2"/>
                </a:solidFill>
              </a:rPr>
              <a:t>Non-invasive, more efficient compression</a:t>
            </a:r>
          </a:p>
          <a:p>
            <a:pPr>
              <a:spcAft>
                <a:spcPts val="1200"/>
              </a:spcAft>
            </a:pPr>
            <a:r>
              <a:rPr lang="en-US" sz="1400" dirty="0">
                <a:solidFill>
                  <a:schemeClr val="tx2"/>
                </a:solidFill>
              </a:rPr>
              <a:t>Combination of efficiencies dramatically reduce TCO</a:t>
            </a:r>
          </a:p>
        </p:txBody>
      </p:sp>
      <p:sp>
        <p:nvSpPr>
          <p:cNvPr id="252" name="TextBox 251">
            <a:extLst>
              <a:ext uri="{FF2B5EF4-FFF2-40B4-BE49-F238E27FC236}">
                <a16:creationId xmlns:a16="http://schemas.microsoft.com/office/drawing/2014/main" id="{1F40563B-6DCC-07D2-86D1-313E6F2379C4}"/>
              </a:ext>
            </a:extLst>
          </p:cNvPr>
          <p:cNvSpPr txBox="1"/>
          <p:nvPr/>
        </p:nvSpPr>
        <p:spPr>
          <a:xfrm>
            <a:off x="951783" y="4414293"/>
            <a:ext cx="4661616" cy="1538883"/>
          </a:xfrm>
          <a:prstGeom prst="rect">
            <a:avLst/>
          </a:prstGeom>
        </p:spPr>
        <p:txBody>
          <a:bodyPr wrap="square" lIns="0" tIns="0" rIns="0" bIns="0" rtlCol="0">
            <a:spAutoFit/>
          </a:bodyPr>
          <a:lstStyle/>
          <a:p>
            <a:pPr>
              <a:spcAft>
                <a:spcPts val="1200"/>
              </a:spcAft>
            </a:pPr>
            <a:r>
              <a:rPr lang="en-US" sz="1400" b="1" dirty="0">
                <a:solidFill>
                  <a:schemeClr val="accent1">
                    <a:lumMod val="75000"/>
                  </a:schemeClr>
                </a:solidFill>
              </a:rPr>
              <a:t>Reduced failure domains </a:t>
            </a:r>
            <a:r>
              <a:rPr lang="en-US" sz="1400" dirty="0">
                <a:solidFill>
                  <a:schemeClr val="tx2"/>
                </a:solidFill>
              </a:rPr>
              <a:t>improve availability upon device failure</a:t>
            </a:r>
          </a:p>
          <a:p>
            <a:pPr>
              <a:spcAft>
                <a:spcPts val="1200"/>
              </a:spcAft>
            </a:pPr>
            <a:r>
              <a:rPr lang="en-US" sz="1400" dirty="0">
                <a:solidFill>
                  <a:schemeClr val="tx2"/>
                </a:solidFill>
              </a:rPr>
              <a:t>All new native, scalable snapshots and data protection</a:t>
            </a:r>
          </a:p>
          <a:p>
            <a:pPr>
              <a:spcAft>
                <a:spcPts val="1200"/>
              </a:spcAft>
            </a:pPr>
            <a:r>
              <a:rPr lang="en-US" sz="1400" dirty="0">
                <a:solidFill>
                  <a:schemeClr val="tx2"/>
                </a:solidFill>
              </a:rPr>
              <a:t>Durable data during planned and unplanned events</a:t>
            </a:r>
          </a:p>
          <a:p>
            <a:pPr>
              <a:spcAft>
                <a:spcPts val="1200"/>
              </a:spcAft>
            </a:pPr>
            <a:r>
              <a:rPr lang="en-US" sz="1400" dirty="0">
                <a:solidFill>
                  <a:schemeClr val="tx2"/>
                </a:solidFill>
              </a:rPr>
              <a:t>Unique protection against device errors</a:t>
            </a:r>
          </a:p>
        </p:txBody>
      </p:sp>
      <p:sp>
        <p:nvSpPr>
          <p:cNvPr id="253" name="TextBox 252">
            <a:extLst>
              <a:ext uri="{FF2B5EF4-FFF2-40B4-BE49-F238E27FC236}">
                <a16:creationId xmlns:a16="http://schemas.microsoft.com/office/drawing/2014/main" id="{794C6B7B-3B3A-904D-89E8-6C7BADCAB3EE}"/>
              </a:ext>
            </a:extLst>
          </p:cNvPr>
          <p:cNvSpPr txBox="1"/>
          <p:nvPr/>
        </p:nvSpPr>
        <p:spPr>
          <a:xfrm>
            <a:off x="6591300" y="4414293"/>
            <a:ext cx="4645742" cy="1754326"/>
          </a:xfrm>
          <a:prstGeom prst="rect">
            <a:avLst/>
          </a:prstGeom>
        </p:spPr>
        <p:txBody>
          <a:bodyPr wrap="square" lIns="0" tIns="0" rIns="0" bIns="0" rtlCol="0">
            <a:spAutoFit/>
          </a:bodyPr>
          <a:lstStyle/>
          <a:p>
            <a:pPr>
              <a:spcAft>
                <a:spcPts val="1200"/>
              </a:spcAft>
            </a:pPr>
            <a:r>
              <a:rPr lang="en-US" sz="1400" b="1" dirty="0">
                <a:solidFill>
                  <a:schemeClr val="accent5">
                    <a:lumMod val="75000"/>
                  </a:schemeClr>
                </a:solidFill>
              </a:rPr>
              <a:t>Simplified storage device provisioning </a:t>
            </a:r>
            <a:r>
              <a:rPr lang="en-US" sz="1400" dirty="0">
                <a:solidFill>
                  <a:schemeClr val="tx2"/>
                </a:solidFill>
              </a:rPr>
              <a:t>and servicing</a:t>
            </a:r>
          </a:p>
          <a:p>
            <a:pPr>
              <a:spcAft>
                <a:spcPts val="1200"/>
              </a:spcAft>
            </a:pPr>
            <a:r>
              <a:rPr lang="en-US" sz="1400" dirty="0">
                <a:solidFill>
                  <a:schemeClr val="tx2"/>
                </a:solidFill>
              </a:rPr>
              <a:t>Auto-policy management for set-it-and forget it resilience</a:t>
            </a:r>
          </a:p>
          <a:p>
            <a:pPr>
              <a:spcAft>
                <a:spcPts val="1200"/>
              </a:spcAft>
            </a:pPr>
            <a:r>
              <a:rPr lang="en-US" sz="1400" dirty="0">
                <a:solidFill>
                  <a:schemeClr val="tx2"/>
                </a:solidFill>
              </a:rPr>
              <a:t>Improved storage policies for simplified operations</a:t>
            </a:r>
          </a:p>
          <a:p>
            <a:pPr>
              <a:spcAft>
                <a:spcPts val="1200"/>
              </a:spcAft>
            </a:pPr>
            <a:r>
              <a:rPr lang="en-US" sz="1400" dirty="0">
                <a:solidFill>
                  <a:schemeClr val="tx2"/>
                </a:solidFill>
              </a:rPr>
              <a:t>Proactive Insights detects anomalies to prevent potential issues</a:t>
            </a:r>
          </a:p>
        </p:txBody>
      </p:sp>
    </p:spTree>
    <p:extLst>
      <p:ext uri="{BB962C8B-B14F-4D97-AF65-F5344CB8AC3E}">
        <p14:creationId xmlns:p14="http://schemas.microsoft.com/office/powerpoint/2010/main" val="3527509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8"/>
                                        </p:tgtEl>
                                        <p:attrNameLst>
                                          <p:attrName>style.visibility</p:attrName>
                                        </p:attrNameLst>
                                      </p:cBhvr>
                                      <p:to>
                                        <p:strVal val="visible"/>
                                      </p:to>
                                    </p:set>
                                    <p:animEffect transition="in" filter="wipe(left)">
                                      <p:cBhvr>
                                        <p:cTn id="7" dur="750"/>
                                        <p:tgtEl>
                                          <p:spTgt spid="178"/>
                                        </p:tgtEl>
                                      </p:cBhvr>
                                    </p:animEffect>
                                  </p:childTnLst>
                                </p:cTn>
                              </p:par>
                              <p:par>
                                <p:cTn id="8" presetID="22" presetClass="entr" presetSubtype="8" fill="hold" nodeType="withEffect">
                                  <p:stCondLst>
                                    <p:cond delay="0"/>
                                  </p:stCondLst>
                                  <p:childTnLst>
                                    <p:set>
                                      <p:cBhvr>
                                        <p:cTn id="9" dur="1" fill="hold">
                                          <p:stCondLst>
                                            <p:cond delay="0"/>
                                          </p:stCondLst>
                                        </p:cTn>
                                        <p:tgtEl>
                                          <p:spTgt spid="177"/>
                                        </p:tgtEl>
                                        <p:attrNameLst>
                                          <p:attrName>style.visibility</p:attrName>
                                        </p:attrNameLst>
                                      </p:cBhvr>
                                      <p:to>
                                        <p:strVal val="visible"/>
                                      </p:to>
                                    </p:set>
                                    <p:animEffect transition="in" filter="wipe(left)">
                                      <p:cBhvr>
                                        <p:cTn id="10" dur="750"/>
                                        <p:tgtEl>
                                          <p:spTgt spid="177"/>
                                        </p:tgtEl>
                                      </p:cBhvr>
                                    </p:animEffect>
                                  </p:childTnLst>
                                </p:cTn>
                              </p:par>
                              <p:par>
                                <p:cTn id="11" presetID="22" presetClass="entr" presetSubtype="8" fill="hold" nodeType="withEffect">
                                  <p:stCondLst>
                                    <p:cond delay="0"/>
                                  </p:stCondLst>
                                  <p:childTnLst>
                                    <p:set>
                                      <p:cBhvr>
                                        <p:cTn id="12" dur="1" fill="hold">
                                          <p:stCondLst>
                                            <p:cond delay="0"/>
                                          </p:stCondLst>
                                        </p:cTn>
                                        <p:tgtEl>
                                          <p:spTgt spid="245"/>
                                        </p:tgtEl>
                                        <p:attrNameLst>
                                          <p:attrName>style.visibility</p:attrName>
                                        </p:attrNameLst>
                                      </p:cBhvr>
                                      <p:to>
                                        <p:strVal val="visible"/>
                                      </p:to>
                                    </p:set>
                                    <p:animEffect transition="in" filter="wipe(left)">
                                      <p:cBhvr>
                                        <p:cTn id="13" dur="750"/>
                                        <p:tgtEl>
                                          <p:spTgt spid="245"/>
                                        </p:tgtEl>
                                      </p:cBhvr>
                                    </p:animEffect>
                                  </p:childTnLst>
                                </p:cTn>
                              </p:par>
                              <p:par>
                                <p:cTn id="14" presetID="22" presetClass="entr" presetSubtype="8" fill="hold" nodeType="withEffect">
                                  <p:stCondLst>
                                    <p:cond delay="0"/>
                                  </p:stCondLst>
                                  <p:childTnLst>
                                    <p:set>
                                      <p:cBhvr>
                                        <p:cTn id="15" dur="1" fill="hold">
                                          <p:stCondLst>
                                            <p:cond delay="0"/>
                                          </p:stCondLst>
                                        </p:cTn>
                                        <p:tgtEl>
                                          <p:spTgt spid="246"/>
                                        </p:tgtEl>
                                        <p:attrNameLst>
                                          <p:attrName>style.visibility</p:attrName>
                                        </p:attrNameLst>
                                      </p:cBhvr>
                                      <p:to>
                                        <p:strVal val="visible"/>
                                      </p:to>
                                    </p:set>
                                    <p:animEffect transition="in" filter="wipe(left)">
                                      <p:cBhvr>
                                        <p:cTn id="16" dur="750"/>
                                        <p:tgtEl>
                                          <p:spTgt spid="246"/>
                                        </p:tgtEl>
                                      </p:cBhvr>
                                    </p:animEffect>
                                  </p:childTnLst>
                                </p:cTn>
                              </p:par>
                            </p:childTnLst>
                          </p:cTn>
                        </p:par>
                        <p:par>
                          <p:cTn id="17" fill="hold">
                            <p:stCondLst>
                              <p:cond delay="750"/>
                            </p:stCondLst>
                            <p:childTnLst>
                              <p:par>
                                <p:cTn id="18" presetID="10" presetClass="entr" presetSubtype="0" fill="hold" grpId="0" nodeType="afterEffect">
                                  <p:stCondLst>
                                    <p:cond delay="500"/>
                                  </p:stCondLst>
                                  <p:childTnLst>
                                    <p:set>
                                      <p:cBhvr>
                                        <p:cTn id="19" dur="1" fill="hold">
                                          <p:stCondLst>
                                            <p:cond delay="0"/>
                                          </p:stCondLst>
                                        </p:cTn>
                                        <p:tgtEl>
                                          <p:spTgt spid="250"/>
                                        </p:tgtEl>
                                        <p:attrNameLst>
                                          <p:attrName>style.visibility</p:attrName>
                                        </p:attrNameLst>
                                      </p:cBhvr>
                                      <p:to>
                                        <p:strVal val="visible"/>
                                      </p:to>
                                    </p:set>
                                    <p:animEffect transition="in" filter="fade">
                                      <p:cBhvr>
                                        <p:cTn id="20" dur="750"/>
                                        <p:tgtEl>
                                          <p:spTgt spid="250"/>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251"/>
                                        </p:tgtEl>
                                        <p:attrNameLst>
                                          <p:attrName>style.visibility</p:attrName>
                                        </p:attrNameLst>
                                      </p:cBhvr>
                                      <p:to>
                                        <p:strVal val="visible"/>
                                      </p:to>
                                    </p:set>
                                    <p:animEffect transition="in" filter="fade">
                                      <p:cBhvr>
                                        <p:cTn id="23" dur="750"/>
                                        <p:tgtEl>
                                          <p:spTgt spid="251"/>
                                        </p:tgtEl>
                                      </p:cBhvr>
                                    </p:animEffect>
                                  </p:childTnLst>
                                </p:cTn>
                              </p:par>
                              <p:par>
                                <p:cTn id="24" presetID="10" presetClass="entr" presetSubtype="0" fill="hold" grpId="0" nodeType="withEffect">
                                  <p:stCondLst>
                                    <p:cond delay="500"/>
                                  </p:stCondLst>
                                  <p:childTnLst>
                                    <p:set>
                                      <p:cBhvr>
                                        <p:cTn id="25" dur="1" fill="hold">
                                          <p:stCondLst>
                                            <p:cond delay="0"/>
                                          </p:stCondLst>
                                        </p:cTn>
                                        <p:tgtEl>
                                          <p:spTgt spid="252"/>
                                        </p:tgtEl>
                                        <p:attrNameLst>
                                          <p:attrName>style.visibility</p:attrName>
                                        </p:attrNameLst>
                                      </p:cBhvr>
                                      <p:to>
                                        <p:strVal val="visible"/>
                                      </p:to>
                                    </p:set>
                                    <p:animEffect transition="in" filter="fade">
                                      <p:cBhvr>
                                        <p:cTn id="26" dur="750"/>
                                        <p:tgtEl>
                                          <p:spTgt spid="252"/>
                                        </p:tgtEl>
                                      </p:cBhvr>
                                    </p:animEffect>
                                  </p:childTnLst>
                                </p:cTn>
                              </p:par>
                              <p:par>
                                <p:cTn id="27" presetID="10" presetClass="entr" presetSubtype="0" fill="hold" grpId="0" nodeType="withEffect">
                                  <p:stCondLst>
                                    <p:cond delay="500"/>
                                  </p:stCondLst>
                                  <p:childTnLst>
                                    <p:set>
                                      <p:cBhvr>
                                        <p:cTn id="28" dur="1" fill="hold">
                                          <p:stCondLst>
                                            <p:cond delay="0"/>
                                          </p:stCondLst>
                                        </p:cTn>
                                        <p:tgtEl>
                                          <p:spTgt spid="253"/>
                                        </p:tgtEl>
                                        <p:attrNameLst>
                                          <p:attrName>style.visibility</p:attrName>
                                        </p:attrNameLst>
                                      </p:cBhvr>
                                      <p:to>
                                        <p:strVal val="visible"/>
                                      </p:to>
                                    </p:set>
                                    <p:animEffect transition="in" filter="fade">
                                      <p:cBhvr>
                                        <p:cTn id="29" dur="750"/>
                                        <p:tgtEl>
                                          <p:spTgt spid="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 grpId="0"/>
      <p:bldP spid="251" grpId="0"/>
      <p:bldP spid="252" grpId="0"/>
      <p:bldP spid="25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A0480-9E81-2A98-DE8C-DACDFA7A458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B1AF53B-EC45-0FA4-8C8F-11E4FFE6C6E6}"/>
              </a:ext>
            </a:extLst>
          </p:cNvPr>
          <p:cNvSpPr>
            <a:spLocks/>
          </p:cNvSpPr>
          <p:nvPr/>
        </p:nvSpPr>
        <p:spPr>
          <a:xfrm>
            <a:off x="0" y="0"/>
            <a:ext cx="12188825" cy="6858000"/>
          </a:xfrm>
          <a:prstGeom prst="rect">
            <a:avLst/>
          </a:prstGeom>
          <a:gradFill flip="none" rotWithShape="1">
            <a:gsLst>
              <a:gs pos="0">
                <a:schemeClr val="accent2">
                  <a:lumMod val="40000"/>
                  <a:lumOff val="60000"/>
                </a:schemeClr>
              </a:gs>
              <a:gs pos="49000">
                <a:schemeClr val="accent2">
                  <a:lumMod val="95000"/>
                  <a:lumOff val="5000"/>
                </a:schemeClr>
              </a:gs>
              <a:gs pos="100000">
                <a:schemeClr val="accent2">
                  <a:lumMod val="60000"/>
                </a:schemeClr>
              </a:gs>
            </a:gsLst>
            <a:path path="circle">
              <a:fillToRect l="50000" t="130000" r="50000" b="-30000"/>
            </a:path>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accent3">
                  <a:lumMod val="60000"/>
                  <a:lumOff val="40000"/>
                </a:schemeClr>
              </a:solidFill>
              <a:latin typeface="Arial" panose="020B0604020202020204" pitchFamily="34" charset="0"/>
            </a:endParaRPr>
          </a:p>
        </p:txBody>
      </p:sp>
      <p:sp>
        <p:nvSpPr>
          <p:cNvPr id="4" name="Subtitle 2">
            <a:extLst>
              <a:ext uri="{FF2B5EF4-FFF2-40B4-BE49-F238E27FC236}">
                <a16:creationId xmlns:a16="http://schemas.microsoft.com/office/drawing/2014/main" id="{32EA3EAF-D398-DF3E-B00C-86FC3BCC39AF}"/>
              </a:ext>
            </a:extLst>
          </p:cNvPr>
          <p:cNvSpPr txBox="1">
            <a:spLocks/>
          </p:cNvSpPr>
          <p:nvPr/>
        </p:nvSpPr>
        <p:spPr>
          <a:xfrm>
            <a:off x="683390" y="1493110"/>
            <a:ext cx="4777828" cy="1769252"/>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Clr>
                <a:schemeClr val="tx1">
                  <a:lumMod val="60000"/>
                  <a:lumOff val="40000"/>
                </a:schemeClr>
              </a:buClr>
              <a:buSzPct val="90000"/>
              <a:buFont typeface="Arial" panose="020B0604020202020204" pitchFamily="34" charset="0"/>
              <a:buNone/>
              <a:defRPr sz="2400" kern="1200">
                <a:solidFill>
                  <a:schemeClr val="tx1"/>
                </a:solidFill>
                <a:latin typeface="+mj-lt"/>
                <a:ea typeface="+mn-ea"/>
                <a:cs typeface="+mn-cs"/>
              </a:defRPr>
            </a:lvl1pPr>
            <a:lvl2pPr marL="457200" indent="0" algn="ctr"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None/>
              <a:tabLst/>
              <a:defRPr sz="1600" kern="1200">
                <a:solidFill>
                  <a:schemeClr val="tx1"/>
                </a:solidFill>
                <a:latin typeface="+mn-lt"/>
                <a:ea typeface="+mn-ea"/>
                <a:cs typeface="+mn-cs"/>
              </a:defRPr>
            </a:lvl5pPr>
            <a:lvl6pPr marL="2286000" indent="0" algn="ctr"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None/>
              <a:tabLst/>
              <a:defRPr sz="1600" kern="1200">
                <a:solidFill>
                  <a:schemeClr val="tx1"/>
                </a:solidFill>
                <a:latin typeface="+mn-lt"/>
                <a:ea typeface="+mn-ea"/>
                <a:cs typeface="+mn-cs"/>
              </a:defRPr>
            </a:lvl6pPr>
            <a:lvl7pPr marL="2743200" indent="0" algn="ctr" defTabSz="914400" rtl="0" eaLnBrk="1" latinLnBrk="0" hangingPunct="1">
              <a:lnSpc>
                <a:spcPct val="100000"/>
              </a:lnSpc>
              <a:spcBef>
                <a:spcPts val="0"/>
              </a:spcBef>
              <a:spcAft>
                <a:spcPts val="1200"/>
              </a:spcAft>
              <a:buClr>
                <a:schemeClr val="bg2">
                  <a:lumMod val="25000"/>
                </a:schemeClr>
              </a:buClr>
              <a:buSzPct val="90000"/>
              <a:buFont typeface="System Font Regular"/>
              <a:buNone/>
              <a:tabLst/>
              <a:defRPr sz="1600" kern="1200">
                <a:solidFill>
                  <a:schemeClr val="tx1"/>
                </a:solidFill>
                <a:latin typeface="+mn-lt"/>
                <a:ea typeface="+mn-ea"/>
                <a:cs typeface="+mn-cs"/>
              </a:defRPr>
            </a:lvl7pPr>
            <a:lvl8pPr marL="3200400" indent="0" algn="ctr"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None/>
              <a:tabLst/>
              <a:defRPr sz="1600" kern="1200">
                <a:solidFill>
                  <a:schemeClr val="tx1"/>
                </a:solidFill>
                <a:latin typeface="+mn-lt"/>
                <a:ea typeface="+mn-ea"/>
                <a:cs typeface="+mn-cs"/>
              </a:defRPr>
            </a:lvl8pPr>
            <a:lvl9pPr marL="3657600" indent="0" algn="ctr" defTabSz="914400" rtl="0" eaLnBrk="1" latinLnBrk="0" hangingPunct="1">
              <a:lnSpc>
                <a:spcPct val="100000"/>
              </a:lnSpc>
              <a:spcBef>
                <a:spcPts val="0"/>
              </a:spcBef>
              <a:spcAft>
                <a:spcPts val="1200"/>
              </a:spcAft>
              <a:buClr>
                <a:schemeClr val="bg2">
                  <a:lumMod val="25000"/>
                </a:schemeClr>
              </a:buClr>
              <a:buSzPct val="90000"/>
              <a:buFont typeface="System Font Regular"/>
              <a:buNone/>
              <a:tabLst/>
              <a:defRPr sz="1600" kern="1200">
                <a:solidFill>
                  <a:schemeClr val="tx1"/>
                </a:solidFill>
                <a:latin typeface="+mn-lt"/>
                <a:ea typeface="+mn-ea"/>
                <a:cs typeface="+mn-cs"/>
              </a:defRPr>
            </a:lvl9pPr>
          </a:lstStyle>
          <a:p>
            <a:r>
              <a:rPr lang="en-US" i="1" dirty="0">
                <a:solidFill>
                  <a:schemeClr val="bg1"/>
                </a:solidFill>
              </a:rPr>
              <a:t>You’ve trusted the hypervisor to manage your workloads.  Why not let it manage your storage?</a:t>
            </a:r>
          </a:p>
        </p:txBody>
      </p:sp>
      <p:sp>
        <p:nvSpPr>
          <p:cNvPr id="5" name="Subtitle 2">
            <a:extLst>
              <a:ext uri="{FF2B5EF4-FFF2-40B4-BE49-F238E27FC236}">
                <a16:creationId xmlns:a16="http://schemas.microsoft.com/office/drawing/2014/main" id="{535CC5C2-7070-18A1-B9F6-54AFF66EC232}"/>
              </a:ext>
            </a:extLst>
          </p:cNvPr>
          <p:cNvSpPr txBox="1">
            <a:spLocks/>
          </p:cNvSpPr>
          <p:nvPr/>
        </p:nvSpPr>
        <p:spPr>
          <a:xfrm>
            <a:off x="3328714" y="5208428"/>
            <a:ext cx="5983383" cy="132306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Clr>
                <a:schemeClr val="tx1">
                  <a:lumMod val="60000"/>
                  <a:lumOff val="40000"/>
                </a:schemeClr>
              </a:buClr>
              <a:buSzPct val="90000"/>
              <a:buFont typeface="Arial" panose="020B0604020202020204" pitchFamily="34" charset="0"/>
              <a:buNone/>
              <a:defRPr sz="2400" kern="1200">
                <a:solidFill>
                  <a:schemeClr val="tx1"/>
                </a:solidFill>
                <a:latin typeface="+mj-lt"/>
                <a:ea typeface="+mn-ea"/>
                <a:cs typeface="+mn-cs"/>
              </a:defRPr>
            </a:lvl1pPr>
            <a:lvl2pPr marL="457200" indent="0" algn="ctr"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None/>
              <a:tabLst/>
              <a:defRPr sz="1600" kern="1200">
                <a:solidFill>
                  <a:schemeClr val="tx1"/>
                </a:solidFill>
                <a:latin typeface="+mn-lt"/>
                <a:ea typeface="+mn-ea"/>
                <a:cs typeface="+mn-cs"/>
              </a:defRPr>
            </a:lvl5pPr>
            <a:lvl6pPr marL="2286000" indent="0" algn="ctr"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None/>
              <a:tabLst/>
              <a:defRPr sz="1600" kern="1200">
                <a:solidFill>
                  <a:schemeClr val="tx1"/>
                </a:solidFill>
                <a:latin typeface="+mn-lt"/>
                <a:ea typeface="+mn-ea"/>
                <a:cs typeface="+mn-cs"/>
              </a:defRPr>
            </a:lvl6pPr>
            <a:lvl7pPr marL="2743200" indent="0" algn="ctr" defTabSz="914400" rtl="0" eaLnBrk="1" latinLnBrk="0" hangingPunct="1">
              <a:lnSpc>
                <a:spcPct val="100000"/>
              </a:lnSpc>
              <a:spcBef>
                <a:spcPts val="0"/>
              </a:spcBef>
              <a:spcAft>
                <a:spcPts val="1200"/>
              </a:spcAft>
              <a:buClr>
                <a:schemeClr val="bg2">
                  <a:lumMod val="25000"/>
                </a:schemeClr>
              </a:buClr>
              <a:buSzPct val="90000"/>
              <a:buFont typeface="System Font Regular"/>
              <a:buNone/>
              <a:tabLst/>
              <a:defRPr sz="1600" kern="1200">
                <a:solidFill>
                  <a:schemeClr val="tx1"/>
                </a:solidFill>
                <a:latin typeface="+mn-lt"/>
                <a:ea typeface="+mn-ea"/>
                <a:cs typeface="+mn-cs"/>
              </a:defRPr>
            </a:lvl7pPr>
            <a:lvl8pPr marL="3200400" indent="0" algn="ctr"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None/>
              <a:tabLst/>
              <a:defRPr sz="1600" kern="1200">
                <a:solidFill>
                  <a:schemeClr val="tx1"/>
                </a:solidFill>
                <a:latin typeface="+mn-lt"/>
                <a:ea typeface="+mn-ea"/>
                <a:cs typeface="+mn-cs"/>
              </a:defRPr>
            </a:lvl8pPr>
            <a:lvl9pPr marL="3657600" indent="0" algn="ctr" defTabSz="914400" rtl="0" eaLnBrk="1" latinLnBrk="0" hangingPunct="1">
              <a:lnSpc>
                <a:spcPct val="100000"/>
              </a:lnSpc>
              <a:spcBef>
                <a:spcPts val="0"/>
              </a:spcBef>
              <a:spcAft>
                <a:spcPts val="1200"/>
              </a:spcAft>
              <a:buClr>
                <a:schemeClr val="bg2">
                  <a:lumMod val="25000"/>
                </a:schemeClr>
              </a:buClr>
              <a:buSzPct val="90000"/>
              <a:buFont typeface="System Font Regular"/>
              <a:buNone/>
              <a:tabLst/>
              <a:defRPr sz="1600" kern="1200">
                <a:solidFill>
                  <a:schemeClr val="tx1"/>
                </a:solidFill>
                <a:latin typeface="+mn-lt"/>
                <a:ea typeface="+mn-ea"/>
                <a:cs typeface="+mn-cs"/>
              </a:defRPr>
            </a:lvl9pPr>
          </a:lstStyle>
          <a:p>
            <a:r>
              <a:rPr lang="en-US" i="1" dirty="0">
                <a:solidFill>
                  <a:schemeClr val="bg1"/>
                </a:solidFill>
              </a:rPr>
              <a:t>Manage and protect your workloads at the VM level for unprecedented levels of control, visibility, and protection</a:t>
            </a:r>
          </a:p>
        </p:txBody>
      </p:sp>
      <p:sp>
        <p:nvSpPr>
          <p:cNvPr id="6" name="Subtitle 2">
            <a:extLst>
              <a:ext uri="{FF2B5EF4-FFF2-40B4-BE49-F238E27FC236}">
                <a16:creationId xmlns:a16="http://schemas.microsoft.com/office/drawing/2014/main" id="{F5D445F2-9B91-181A-3DD0-4FB5FF05885D}"/>
              </a:ext>
            </a:extLst>
          </p:cNvPr>
          <p:cNvSpPr txBox="1">
            <a:spLocks/>
          </p:cNvSpPr>
          <p:nvPr/>
        </p:nvSpPr>
        <p:spPr>
          <a:xfrm>
            <a:off x="6802985" y="1710525"/>
            <a:ext cx="4777828" cy="142799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Clr>
                <a:schemeClr val="tx1">
                  <a:lumMod val="60000"/>
                  <a:lumOff val="40000"/>
                </a:schemeClr>
              </a:buClr>
              <a:buSzPct val="90000"/>
              <a:buFont typeface="Arial" panose="020B0604020202020204" pitchFamily="34" charset="0"/>
              <a:buNone/>
              <a:defRPr sz="2400" kern="1200">
                <a:solidFill>
                  <a:schemeClr val="tx1"/>
                </a:solidFill>
                <a:latin typeface="+mj-lt"/>
                <a:ea typeface="+mn-ea"/>
                <a:cs typeface="+mn-cs"/>
              </a:defRPr>
            </a:lvl1pPr>
            <a:lvl2pPr marL="457200" indent="0" algn="ctr"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None/>
              <a:tabLst/>
              <a:defRPr sz="1600" kern="1200">
                <a:solidFill>
                  <a:schemeClr val="tx1"/>
                </a:solidFill>
                <a:latin typeface="+mn-lt"/>
                <a:ea typeface="+mn-ea"/>
                <a:cs typeface="+mn-cs"/>
              </a:defRPr>
            </a:lvl5pPr>
            <a:lvl6pPr marL="2286000" indent="0" algn="ctr"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None/>
              <a:tabLst/>
              <a:defRPr sz="1600" kern="1200">
                <a:solidFill>
                  <a:schemeClr val="tx1"/>
                </a:solidFill>
                <a:latin typeface="+mn-lt"/>
                <a:ea typeface="+mn-ea"/>
                <a:cs typeface="+mn-cs"/>
              </a:defRPr>
            </a:lvl6pPr>
            <a:lvl7pPr marL="2743200" indent="0" algn="ctr" defTabSz="914400" rtl="0" eaLnBrk="1" latinLnBrk="0" hangingPunct="1">
              <a:lnSpc>
                <a:spcPct val="100000"/>
              </a:lnSpc>
              <a:spcBef>
                <a:spcPts val="0"/>
              </a:spcBef>
              <a:spcAft>
                <a:spcPts val="1200"/>
              </a:spcAft>
              <a:buClr>
                <a:schemeClr val="bg2">
                  <a:lumMod val="25000"/>
                </a:schemeClr>
              </a:buClr>
              <a:buSzPct val="90000"/>
              <a:buFont typeface="System Font Regular"/>
              <a:buNone/>
              <a:tabLst/>
              <a:defRPr sz="1600" kern="1200">
                <a:solidFill>
                  <a:schemeClr val="tx1"/>
                </a:solidFill>
                <a:latin typeface="+mn-lt"/>
                <a:ea typeface="+mn-ea"/>
                <a:cs typeface="+mn-cs"/>
              </a:defRPr>
            </a:lvl7pPr>
            <a:lvl8pPr marL="3200400" indent="0" algn="ctr"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None/>
              <a:tabLst/>
              <a:defRPr sz="1600" kern="1200">
                <a:solidFill>
                  <a:schemeClr val="tx1"/>
                </a:solidFill>
                <a:latin typeface="+mn-lt"/>
                <a:ea typeface="+mn-ea"/>
                <a:cs typeface="+mn-cs"/>
              </a:defRPr>
            </a:lvl8pPr>
            <a:lvl9pPr marL="3657600" indent="0" algn="ctr" defTabSz="914400" rtl="0" eaLnBrk="1" latinLnBrk="0" hangingPunct="1">
              <a:lnSpc>
                <a:spcPct val="100000"/>
              </a:lnSpc>
              <a:spcBef>
                <a:spcPts val="0"/>
              </a:spcBef>
              <a:spcAft>
                <a:spcPts val="1200"/>
              </a:spcAft>
              <a:buClr>
                <a:schemeClr val="bg2">
                  <a:lumMod val="25000"/>
                </a:schemeClr>
              </a:buClr>
              <a:buSzPct val="90000"/>
              <a:buFont typeface="System Font Regular"/>
              <a:buNone/>
              <a:tabLst/>
              <a:defRPr sz="1600" kern="1200">
                <a:solidFill>
                  <a:schemeClr val="tx1"/>
                </a:solidFill>
                <a:latin typeface="+mn-lt"/>
                <a:ea typeface="+mn-ea"/>
                <a:cs typeface="+mn-cs"/>
              </a:defRPr>
            </a:lvl9pPr>
          </a:lstStyle>
          <a:p>
            <a:r>
              <a:rPr lang="en-US" i="1" dirty="0">
                <a:solidFill>
                  <a:schemeClr val="bg1"/>
                </a:solidFill>
              </a:rPr>
              <a:t>vSAN is a part of the hypervisor and licensing.   Why not use it?</a:t>
            </a:r>
          </a:p>
        </p:txBody>
      </p:sp>
      <p:sp>
        <p:nvSpPr>
          <p:cNvPr id="64" name="Title 3">
            <a:extLst>
              <a:ext uri="{FF2B5EF4-FFF2-40B4-BE49-F238E27FC236}">
                <a16:creationId xmlns:a16="http://schemas.microsoft.com/office/drawing/2014/main" id="{D0DA9846-AFC6-346E-8A03-FBF3E32C9729}"/>
              </a:ext>
            </a:extLst>
          </p:cNvPr>
          <p:cNvSpPr txBox="1">
            <a:spLocks/>
          </p:cNvSpPr>
          <p:nvPr/>
        </p:nvSpPr>
        <p:spPr>
          <a:xfrm>
            <a:off x="579809" y="412751"/>
            <a:ext cx="11001004" cy="381000"/>
          </a:xfrm>
          <a:prstGeom prst="rect">
            <a:avLst/>
          </a:prstGeom>
        </p:spPr>
        <p:txBody>
          <a:bodyPr/>
          <a:lstStyle>
            <a:lvl1pPr algn="l" defTabSz="914400" rtl="0" eaLnBrk="1" latinLnBrk="0" hangingPunct="1">
              <a:lnSpc>
                <a:spcPct val="90000"/>
              </a:lnSpc>
              <a:spcBef>
                <a:spcPct val="0"/>
              </a:spcBef>
              <a:buNone/>
              <a:defRPr sz="2800" b="0" kern="1200">
                <a:solidFill>
                  <a:schemeClr val="tx1"/>
                </a:solidFill>
                <a:latin typeface="Metropolis Light" panose="00000400000000000000" pitchFamily="2" charset="0"/>
                <a:ea typeface="+mj-ea"/>
                <a:cs typeface="+mj-cs"/>
              </a:defRPr>
            </a:lvl1pPr>
          </a:lstStyle>
          <a:p>
            <a:pPr algn="ctr"/>
            <a:r>
              <a:rPr lang="en-US" sz="2800" dirty="0">
                <a:solidFill>
                  <a:schemeClr val="bg1"/>
                </a:solidFill>
                <a:latin typeface="+mj-lt"/>
              </a:rPr>
              <a:t>vSAN - The premier storage for VMware Cloud Foundation</a:t>
            </a:r>
          </a:p>
        </p:txBody>
      </p:sp>
      <p:pic>
        <p:nvPicPr>
          <p:cNvPr id="65" name="Graphic 64">
            <a:extLst>
              <a:ext uri="{FF2B5EF4-FFF2-40B4-BE49-F238E27FC236}">
                <a16:creationId xmlns:a16="http://schemas.microsoft.com/office/drawing/2014/main" id="{8739D99B-9D20-4F24-E382-298B9658E67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41912" y="2643139"/>
            <a:ext cx="1905000" cy="1905000"/>
          </a:xfrm>
          <a:prstGeom prst="rect">
            <a:avLst/>
          </a:prstGeom>
        </p:spPr>
      </p:pic>
      <p:sp>
        <p:nvSpPr>
          <p:cNvPr id="119" name="TextBox 118">
            <a:extLst>
              <a:ext uri="{FF2B5EF4-FFF2-40B4-BE49-F238E27FC236}">
                <a16:creationId xmlns:a16="http://schemas.microsoft.com/office/drawing/2014/main" id="{66A760DF-57F2-0AD3-42C6-ED6D11B533CB}"/>
              </a:ext>
            </a:extLst>
          </p:cNvPr>
          <p:cNvSpPr txBox="1"/>
          <p:nvPr/>
        </p:nvSpPr>
        <p:spPr>
          <a:xfrm>
            <a:off x="6751094" y="4213996"/>
            <a:ext cx="2045682" cy="184666"/>
          </a:xfrm>
          <a:prstGeom prst="rect">
            <a:avLst/>
          </a:prstGeom>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i="0" u="none" strike="noStrike" kern="1200" cap="none" spc="0" normalizeH="0" baseline="0" noProof="0" dirty="0">
                <a:ln>
                  <a:noFill/>
                </a:ln>
                <a:solidFill>
                  <a:schemeClr val="bg2">
                    <a:lumMod val="90000"/>
                  </a:schemeClr>
                </a:solidFill>
                <a:effectLst/>
                <a:uLnTx/>
                <a:uFillTx/>
                <a:latin typeface="Arial" panose="020B0604020202020204" pitchFamily="34" charset="0"/>
                <a:ea typeface="+mn-ea"/>
                <a:cs typeface="+mn-cs"/>
              </a:rPr>
              <a:t>vSAN </a:t>
            </a:r>
            <a:r>
              <a:rPr lang="en-US" sz="1200" dirty="0">
                <a:solidFill>
                  <a:schemeClr val="bg2">
                    <a:lumMod val="90000"/>
                  </a:schemeClr>
                </a:solidFill>
                <a:latin typeface="Arial" panose="020B0604020202020204" pitchFamily="34" charset="0"/>
              </a:rPr>
              <a:t>storage clusters</a:t>
            </a:r>
            <a:endParaRPr kumimoji="0" lang="en-US" sz="1200" i="0" u="none" strike="noStrike" kern="1200" cap="none" spc="0" normalizeH="0" baseline="0" noProof="0" dirty="0">
              <a:ln>
                <a:noFill/>
              </a:ln>
              <a:solidFill>
                <a:schemeClr val="bg2">
                  <a:lumMod val="90000"/>
                </a:schemeClr>
              </a:solidFill>
              <a:effectLst/>
              <a:uLnTx/>
              <a:uFillTx/>
              <a:latin typeface="Arial" panose="020B0604020202020204" pitchFamily="34" charset="0"/>
              <a:ea typeface="+mn-ea"/>
              <a:cs typeface="+mn-cs"/>
            </a:endParaRPr>
          </a:p>
        </p:txBody>
      </p:sp>
      <p:grpSp>
        <p:nvGrpSpPr>
          <p:cNvPr id="120" name="Group 119">
            <a:extLst>
              <a:ext uri="{FF2B5EF4-FFF2-40B4-BE49-F238E27FC236}">
                <a16:creationId xmlns:a16="http://schemas.microsoft.com/office/drawing/2014/main" id="{E0BEA214-06CF-D7B4-39CC-7CDCC8477541}"/>
              </a:ext>
            </a:extLst>
          </p:cNvPr>
          <p:cNvGrpSpPr/>
          <p:nvPr/>
        </p:nvGrpSpPr>
        <p:grpSpPr>
          <a:xfrm>
            <a:off x="7384749" y="3738523"/>
            <a:ext cx="777769" cy="428496"/>
            <a:chOff x="1378394" y="57655"/>
            <a:chExt cx="500463" cy="275720"/>
          </a:xfrm>
          <a:noFill/>
        </p:grpSpPr>
        <p:grpSp>
          <p:nvGrpSpPr>
            <p:cNvPr id="121" name="Group 120">
              <a:extLst>
                <a:ext uri="{FF2B5EF4-FFF2-40B4-BE49-F238E27FC236}">
                  <a16:creationId xmlns:a16="http://schemas.microsoft.com/office/drawing/2014/main" id="{AB182031-9E56-DC6C-8B26-E19561DECA0B}"/>
                </a:ext>
              </a:extLst>
            </p:cNvPr>
            <p:cNvGrpSpPr/>
            <p:nvPr/>
          </p:nvGrpSpPr>
          <p:grpSpPr>
            <a:xfrm>
              <a:off x="1378394" y="57655"/>
              <a:ext cx="205188" cy="138973"/>
              <a:chOff x="1233088" y="57655"/>
              <a:chExt cx="205188" cy="138973"/>
            </a:xfrm>
            <a:grpFill/>
          </p:grpSpPr>
          <p:sp>
            <p:nvSpPr>
              <p:cNvPr id="130" name="Rectangle 129">
                <a:extLst>
                  <a:ext uri="{FF2B5EF4-FFF2-40B4-BE49-F238E27FC236}">
                    <a16:creationId xmlns:a16="http://schemas.microsoft.com/office/drawing/2014/main" id="{9FDD1CE3-94E6-8E29-9B94-2C9FE6757425}"/>
                  </a:ext>
                </a:extLst>
              </p:cNvPr>
              <p:cNvSpPr/>
              <p:nvPr/>
            </p:nvSpPr>
            <p:spPr>
              <a:xfrm>
                <a:off x="1233088" y="150909"/>
                <a:ext cx="205188" cy="45719"/>
              </a:xfrm>
              <a:prstGeom prst="rect">
                <a:avLst/>
              </a:prstGeom>
              <a:grpFill/>
              <a:ln>
                <a:solidFill>
                  <a:schemeClr val="accent3">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grpSp>
            <p:nvGrpSpPr>
              <p:cNvPr id="131" name="Group 130">
                <a:extLst>
                  <a:ext uri="{FF2B5EF4-FFF2-40B4-BE49-F238E27FC236}">
                    <a16:creationId xmlns:a16="http://schemas.microsoft.com/office/drawing/2014/main" id="{7786595A-9509-AB1F-B922-31D167823636}"/>
                  </a:ext>
                </a:extLst>
              </p:cNvPr>
              <p:cNvGrpSpPr/>
              <p:nvPr/>
            </p:nvGrpSpPr>
            <p:grpSpPr>
              <a:xfrm>
                <a:off x="1247162" y="57655"/>
                <a:ext cx="177040" cy="59882"/>
                <a:chOff x="874169" y="57655"/>
                <a:chExt cx="177040" cy="59882"/>
              </a:xfrm>
              <a:grpFill/>
            </p:grpSpPr>
            <p:sp>
              <p:nvSpPr>
                <p:cNvPr id="132" name="Rectangle 131">
                  <a:extLst>
                    <a:ext uri="{FF2B5EF4-FFF2-40B4-BE49-F238E27FC236}">
                      <a16:creationId xmlns:a16="http://schemas.microsoft.com/office/drawing/2014/main" id="{F8EFE01C-D6E5-CDA9-680B-79FCE87AC925}"/>
                    </a:ext>
                  </a:extLst>
                </p:cNvPr>
                <p:cNvSpPr/>
                <p:nvPr/>
              </p:nvSpPr>
              <p:spPr>
                <a:xfrm>
                  <a:off x="874169" y="57655"/>
                  <a:ext cx="59882" cy="59882"/>
                </a:xfrm>
                <a:prstGeom prst="rect">
                  <a:avLst/>
                </a:prstGeom>
                <a:grpFill/>
                <a:ln w="6350">
                  <a:solidFill>
                    <a:schemeClr val="accent3">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33" name="Rectangle 132">
                  <a:extLst>
                    <a:ext uri="{FF2B5EF4-FFF2-40B4-BE49-F238E27FC236}">
                      <a16:creationId xmlns:a16="http://schemas.microsoft.com/office/drawing/2014/main" id="{DB65F38A-D128-F9A1-10C1-DCB974AF818D}"/>
                    </a:ext>
                  </a:extLst>
                </p:cNvPr>
                <p:cNvSpPr/>
                <p:nvPr/>
              </p:nvSpPr>
              <p:spPr>
                <a:xfrm>
                  <a:off x="991327" y="57655"/>
                  <a:ext cx="59882" cy="59882"/>
                </a:xfrm>
                <a:prstGeom prst="rect">
                  <a:avLst/>
                </a:prstGeom>
                <a:grpFill/>
                <a:ln w="6350">
                  <a:solidFill>
                    <a:schemeClr val="accent3">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grpSp>
        <p:sp>
          <p:nvSpPr>
            <p:cNvPr id="122" name="Rectangle 121">
              <a:extLst>
                <a:ext uri="{FF2B5EF4-FFF2-40B4-BE49-F238E27FC236}">
                  <a16:creationId xmlns:a16="http://schemas.microsoft.com/office/drawing/2014/main" id="{FEC3F7CD-7680-3114-7875-E99BCEE5A685}"/>
                </a:ext>
              </a:extLst>
            </p:cNvPr>
            <p:cNvSpPr/>
            <p:nvPr/>
          </p:nvSpPr>
          <p:spPr>
            <a:xfrm>
              <a:off x="1410936" y="287656"/>
              <a:ext cx="435768" cy="45719"/>
            </a:xfrm>
            <a:prstGeom prst="rect">
              <a:avLst/>
            </a:prstGeom>
            <a:grpFill/>
            <a:ln>
              <a:solidFill>
                <a:schemeClr val="accent3">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grpSp>
          <p:nvGrpSpPr>
            <p:cNvPr id="123" name="Group 122">
              <a:extLst>
                <a:ext uri="{FF2B5EF4-FFF2-40B4-BE49-F238E27FC236}">
                  <a16:creationId xmlns:a16="http://schemas.microsoft.com/office/drawing/2014/main" id="{71720CAB-5711-ACE0-867A-6AFE9535069B}"/>
                </a:ext>
              </a:extLst>
            </p:cNvPr>
            <p:cNvGrpSpPr/>
            <p:nvPr/>
          </p:nvGrpSpPr>
          <p:grpSpPr>
            <a:xfrm>
              <a:off x="1673669" y="57655"/>
              <a:ext cx="205188" cy="138973"/>
              <a:chOff x="1233088" y="57655"/>
              <a:chExt cx="205188" cy="138973"/>
            </a:xfrm>
            <a:grpFill/>
          </p:grpSpPr>
          <p:sp>
            <p:nvSpPr>
              <p:cNvPr id="126" name="Rectangle 125">
                <a:extLst>
                  <a:ext uri="{FF2B5EF4-FFF2-40B4-BE49-F238E27FC236}">
                    <a16:creationId xmlns:a16="http://schemas.microsoft.com/office/drawing/2014/main" id="{BD325E4B-9EDF-5A9F-A71C-3AD01561ED6D}"/>
                  </a:ext>
                </a:extLst>
              </p:cNvPr>
              <p:cNvSpPr/>
              <p:nvPr/>
            </p:nvSpPr>
            <p:spPr>
              <a:xfrm>
                <a:off x="1233088" y="150909"/>
                <a:ext cx="205188" cy="45719"/>
              </a:xfrm>
              <a:prstGeom prst="rect">
                <a:avLst/>
              </a:prstGeom>
              <a:grpFill/>
              <a:ln>
                <a:solidFill>
                  <a:schemeClr val="accent3">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grpSp>
            <p:nvGrpSpPr>
              <p:cNvPr id="127" name="Group 126">
                <a:extLst>
                  <a:ext uri="{FF2B5EF4-FFF2-40B4-BE49-F238E27FC236}">
                    <a16:creationId xmlns:a16="http://schemas.microsoft.com/office/drawing/2014/main" id="{6235096B-2D99-2B3D-237A-AD1DCA1A298B}"/>
                  </a:ext>
                </a:extLst>
              </p:cNvPr>
              <p:cNvGrpSpPr/>
              <p:nvPr/>
            </p:nvGrpSpPr>
            <p:grpSpPr>
              <a:xfrm>
                <a:off x="1247162" y="57655"/>
                <a:ext cx="177040" cy="59882"/>
                <a:chOff x="874169" y="57655"/>
                <a:chExt cx="177040" cy="59882"/>
              </a:xfrm>
              <a:grpFill/>
            </p:grpSpPr>
            <p:sp>
              <p:nvSpPr>
                <p:cNvPr id="128" name="Rectangle 127">
                  <a:extLst>
                    <a:ext uri="{FF2B5EF4-FFF2-40B4-BE49-F238E27FC236}">
                      <a16:creationId xmlns:a16="http://schemas.microsoft.com/office/drawing/2014/main" id="{E9250953-CFFA-271D-B553-45AD5AAE556A}"/>
                    </a:ext>
                  </a:extLst>
                </p:cNvPr>
                <p:cNvSpPr/>
                <p:nvPr/>
              </p:nvSpPr>
              <p:spPr>
                <a:xfrm>
                  <a:off x="874169" y="57655"/>
                  <a:ext cx="59882" cy="59882"/>
                </a:xfrm>
                <a:prstGeom prst="rect">
                  <a:avLst/>
                </a:prstGeom>
                <a:grpFill/>
                <a:ln w="6350">
                  <a:solidFill>
                    <a:schemeClr val="accent3">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29" name="Rectangle 128">
                  <a:extLst>
                    <a:ext uri="{FF2B5EF4-FFF2-40B4-BE49-F238E27FC236}">
                      <a16:creationId xmlns:a16="http://schemas.microsoft.com/office/drawing/2014/main" id="{23096DB0-C770-B9E7-2601-16E73F4A0707}"/>
                    </a:ext>
                  </a:extLst>
                </p:cNvPr>
                <p:cNvSpPr/>
                <p:nvPr/>
              </p:nvSpPr>
              <p:spPr>
                <a:xfrm>
                  <a:off x="991327" y="57655"/>
                  <a:ext cx="59882" cy="59882"/>
                </a:xfrm>
                <a:prstGeom prst="rect">
                  <a:avLst/>
                </a:prstGeom>
                <a:grpFill/>
                <a:ln w="6350">
                  <a:solidFill>
                    <a:schemeClr val="accent3">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grpSp>
        <p:cxnSp>
          <p:nvCxnSpPr>
            <p:cNvPr id="124" name="Straight Connector 123">
              <a:extLst>
                <a:ext uri="{FF2B5EF4-FFF2-40B4-BE49-F238E27FC236}">
                  <a16:creationId xmlns:a16="http://schemas.microsoft.com/office/drawing/2014/main" id="{F9C6B5AE-22CC-3BEC-2889-AB48CB28298C}"/>
                </a:ext>
              </a:extLst>
            </p:cNvPr>
            <p:cNvCxnSpPr>
              <a:cxnSpLocks/>
            </p:cNvCxnSpPr>
            <p:nvPr/>
          </p:nvCxnSpPr>
          <p:spPr bwMode="gray">
            <a:xfrm flipV="1">
              <a:off x="1628820" y="230000"/>
              <a:ext cx="0" cy="34406"/>
            </a:xfrm>
            <a:prstGeom prst="line">
              <a:avLst/>
            </a:prstGeom>
            <a:grpFill/>
            <a:ln w="6350">
              <a:solidFill>
                <a:schemeClr val="accent3">
                  <a:lumMod val="60000"/>
                  <a:lumOff val="40000"/>
                </a:schemeClr>
              </a:solidFill>
              <a:prstDash val="sysDot"/>
              <a:miter lim="800000"/>
              <a:tailEnd type="none"/>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7EBD16C7-BF11-DF2E-DA74-78F7835D9F4C}"/>
                </a:ext>
              </a:extLst>
            </p:cNvPr>
            <p:cNvCxnSpPr>
              <a:cxnSpLocks/>
            </p:cNvCxnSpPr>
            <p:nvPr/>
          </p:nvCxnSpPr>
          <p:spPr bwMode="gray">
            <a:xfrm>
              <a:off x="1466864" y="230000"/>
              <a:ext cx="323913" cy="0"/>
            </a:xfrm>
            <a:prstGeom prst="line">
              <a:avLst/>
            </a:prstGeom>
            <a:grpFill/>
            <a:ln w="6350">
              <a:solidFill>
                <a:schemeClr val="accent3">
                  <a:lumMod val="60000"/>
                  <a:lumOff val="40000"/>
                </a:schemeClr>
              </a:solidFill>
              <a:prstDash val="sysDot"/>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134" name="Group 133">
            <a:extLst>
              <a:ext uri="{FF2B5EF4-FFF2-40B4-BE49-F238E27FC236}">
                <a16:creationId xmlns:a16="http://schemas.microsoft.com/office/drawing/2014/main" id="{31C03590-D242-0A13-8964-97196BCA4AD9}"/>
              </a:ext>
            </a:extLst>
          </p:cNvPr>
          <p:cNvGrpSpPr/>
          <p:nvPr/>
        </p:nvGrpSpPr>
        <p:grpSpPr>
          <a:xfrm>
            <a:off x="4084369" y="3737577"/>
            <a:ext cx="711695" cy="429444"/>
            <a:chOff x="392556" y="57655"/>
            <a:chExt cx="435768" cy="262947"/>
          </a:xfrm>
        </p:grpSpPr>
        <p:sp>
          <p:nvSpPr>
            <p:cNvPr id="135" name="Rectangle 134">
              <a:extLst>
                <a:ext uri="{FF2B5EF4-FFF2-40B4-BE49-F238E27FC236}">
                  <a16:creationId xmlns:a16="http://schemas.microsoft.com/office/drawing/2014/main" id="{02A918D7-0AF0-5819-D3FD-6D3ADBC0721D}"/>
                </a:ext>
              </a:extLst>
            </p:cNvPr>
            <p:cNvSpPr/>
            <p:nvPr/>
          </p:nvSpPr>
          <p:spPr>
            <a:xfrm>
              <a:off x="392556" y="150910"/>
              <a:ext cx="435768" cy="169692"/>
            </a:xfrm>
            <a:prstGeom prst="rect">
              <a:avLst/>
            </a:prstGeom>
            <a:noFill/>
            <a:ln>
              <a:solidFill>
                <a:schemeClr val="accent3">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nvGrpSpPr>
            <p:cNvPr id="136" name="Group 135">
              <a:extLst>
                <a:ext uri="{FF2B5EF4-FFF2-40B4-BE49-F238E27FC236}">
                  <a16:creationId xmlns:a16="http://schemas.microsoft.com/office/drawing/2014/main" id="{4A9D4C56-BC22-1685-2C0C-227117ED1EBC}"/>
                </a:ext>
              </a:extLst>
            </p:cNvPr>
            <p:cNvGrpSpPr/>
            <p:nvPr/>
          </p:nvGrpSpPr>
          <p:grpSpPr>
            <a:xfrm>
              <a:off x="404763" y="57655"/>
              <a:ext cx="411355" cy="59882"/>
              <a:chOff x="874169" y="57655"/>
              <a:chExt cx="411355" cy="59882"/>
            </a:xfrm>
          </p:grpSpPr>
          <p:sp>
            <p:nvSpPr>
              <p:cNvPr id="137" name="Rectangle 136">
                <a:extLst>
                  <a:ext uri="{FF2B5EF4-FFF2-40B4-BE49-F238E27FC236}">
                    <a16:creationId xmlns:a16="http://schemas.microsoft.com/office/drawing/2014/main" id="{054457E9-D34C-1DFA-ED47-2EA65DB75520}"/>
                  </a:ext>
                </a:extLst>
              </p:cNvPr>
              <p:cNvSpPr/>
              <p:nvPr/>
            </p:nvSpPr>
            <p:spPr>
              <a:xfrm>
                <a:off x="874169" y="57655"/>
                <a:ext cx="59882" cy="59882"/>
              </a:xfrm>
              <a:prstGeom prst="rect">
                <a:avLst/>
              </a:prstGeom>
              <a:noFill/>
              <a:ln w="6350">
                <a:solidFill>
                  <a:schemeClr val="accent3">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38" name="Rectangle 137">
                <a:extLst>
                  <a:ext uri="{FF2B5EF4-FFF2-40B4-BE49-F238E27FC236}">
                    <a16:creationId xmlns:a16="http://schemas.microsoft.com/office/drawing/2014/main" id="{80F7A49E-50E9-27C7-9B7E-96CE4A086B85}"/>
                  </a:ext>
                </a:extLst>
              </p:cNvPr>
              <p:cNvSpPr/>
              <p:nvPr/>
            </p:nvSpPr>
            <p:spPr>
              <a:xfrm>
                <a:off x="991327" y="57655"/>
                <a:ext cx="59882" cy="59882"/>
              </a:xfrm>
              <a:prstGeom prst="rect">
                <a:avLst/>
              </a:prstGeom>
              <a:noFill/>
              <a:ln w="6350">
                <a:solidFill>
                  <a:schemeClr val="accent3">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39" name="Rectangle 138">
                <a:extLst>
                  <a:ext uri="{FF2B5EF4-FFF2-40B4-BE49-F238E27FC236}">
                    <a16:creationId xmlns:a16="http://schemas.microsoft.com/office/drawing/2014/main" id="{5357EDE6-36BE-E72E-52F1-D42007AC6751}"/>
                  </a:ext>
                </a:extLst>
              </p:cNvPr>
              <p:cNvSpPr/>
              <p:nvPr/>
            </p:nvSpPr>
            <p:spPr>
              <a:xfrm>
                <a:off x="1108485" y="57655"/>
                <a:ext cx="59882" cy="59882"/>
              </a:xfrm>
              <a:prstGeom prst="rect">
                <a:avLst/>
              </a:prstGeom>
              <a:noFill/>
              <a:ln w="6350">
                <a:solidFill>
                  <a:schemeClr val="accent3">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40" name="Rectangle 139">
                <a:extLst>
                  <a:ext uri="{FF2B5EF4-FFF2-40B4-BE49-F238E27FC236}">
                    <a16:creationId xmlns:a16="http://schemas.microsoft.com/office/drawing/2014/main" id="{D0AAB048-E584-FB12-15AB-8BD01972AE3E}"/>
                  </a:ext>
                </a:extLst>
              </p:cNvPr>
              <p:cNvSpPr/>
              <p:nvPr/>
            </p:nvSpPr>
            <p:spPr>
              <a:xfrm>
                <a:off x="1225642" y="57655"/>
                <a:ext cx="59882" cy="59882"/>
              </a:xfrm>
              <a:prstGeom prst="rect">
                <a:avLst/>
              </a:prstGeom>
              <a:noFill/>
              <a:ln w="6350">
                <a:solidFill>
                  <a:schemeClr val="accent3">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grpSp>
      </p:grpSp>
      <p:sp>
        <p:nvSpPr>
          <p:cNvPr id="141" name="TextBox 140">
            <a:extLst>
              <a:ext uri="{FF2B5EF4-FFF2-40B4-BE49-F238E27FC236}">
                <a16:creationId xmlns:a16="http://schemas.microsoft.com/office/drawing/2014/main" id="{F041A626-BC06-C67F-C0C3-A1B9A24B75FD}"/>
              </a:ext>
            </a:extLst>
          </p:cNvPr>
          <p:cNvSpPr txBox="1"/>
          <p:nvPr/>
        </p:nvSpPr>
        <p:spPr>
          <a:xfrm>
            <a:off x="3830822" y="4213996"/>
            <a:ext cx="1266951" cy="184666"/>
          </a:xfrm>
          <a:prstGeom prst="rect">
            <a:avLst/>
          </a:prstGeom>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i="0" u="none" strike="noStrike" kern="1200" cap="none" spc="0" normalizeH="0" baseline="0" noProof="0" dirty="0">
                <a:ln>
                  <a:noFill/>
                </a:ln>
                <a:solidFill>
                  <a:schemeClr val="bg2">
                    <a:lumMod val="90000"/>
                  </a:schemeClr>
                </a:solidFill>
                <a:effectLst/>
                <a:uLnTx/>
                <a:uFillTx/>
                <a:latin typeface="Arial" panose="020B0604020202020204" pitchFamily="34" charset="0"/>
                <a:ea typeface="+mn-ea"/>
                <a:cs typeface="+mn-cs"/>
              </a:rPr>
              <a:t>vSAN </a:t>
            </a:r>
            <a:r>
              <a:rPr lang="en-US" sz="1200" dirty="0">
                <a:solidFill>
                  <a:schemeClr val="bg2">
                    <a:lumMod val="90000"/>
                  </a:schemeClr>
                </a:solidFill>
                <a:latin typeface="Arial" panose="020B0604020202020204" pitchFamily="34" charset="0"/>
              </a:rPr>
              <a:t>HCI</a:t>
            </a:r>
            <a:endParaRPr kumimoji="0" lang="en-US" sz="1200" i="0" u="none" strike="noStrike" kern="1200" cap="none" spc="0" normalizeH="0" baseline="0" noProof="0" dirty="0">
              <a:ln>
                <a:noFill/>
              </a:ln>
              <a:solidFill>
                <a:schemeClr val="bg2">
                  <a:lumMod val="90000"/>
                </a:schemeClr>
              </a:solidFill>
              <a:effectLst/>
              <a:uLnTx/>
              <a:uFillTx/>
              <a:latin typeface="Arial" panose="020B0604020202020204" pitchFamily="34" charset="0"/>
              <a:ea typeface="+mn-ea"/>
              <a:cs typeface="+mn-cs"/>
            </a:endParaRPr>
          </a:p>
        </p:txBody>
      </p:sp>
      <p:sp>
        <p:nvSpPr>
          <p:cNvPr id="142" name="Rounded Rectangle 4">
            <a:extLst>
              <a:ext uri="{FF2B5EF4-FFF2-40B4-BE49-F238E27FC236}">
                <a16:creationId xmlns:a16="http://schemas.microsoft.com/office/drawing/2014/main" id="{6C6CC9AE-A45B-DA36-3B97-96AEF497EDB3}"/>
              </a:ext>
            </a:extLst>
          </p:cNvPr>
          <p:cNvSpPr>
            <a:spLocks noChangeAspect="1"/>
          </p:cNvSpPr>
          <p:nvPr/>
        </p:nvSpPr>
        <p:spPr>
          <a:xfrm>
            <a:off x="3296179" y="4588413"/>
            <a:ext cx="5596467" cy="23202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defTabSz="914126">
              <a:lnSpc>
                <a:spcPct val="90000"/>
              </a:lnSpc>
            </a:pPr>
            <a:r>
              <a:rPr lang="en-US" sz="2400" dirty="0">
                <a:solidFill>
                  <a:schemeClr val="bg2">
                    <a:lumMod val="90000"/>
                  </a:schemeClr>
                </a:solidFill>
                <a:latin typeface="+mj-lt"/>
              </a:rPr>
              <a:t>VMware Cloud Foundation</a:t>
            </a:r>
          </a:p>
        </p:txBody>
      </p:sp>
    </p:spTree>
    <p:extLst>
      <p:ext uri="{BB962C8B-B14F-4D97-AF65-F5344CB8AC3E}">
        <p14:creationId xmlns:p14="http://schemas.microsoft.com/office/powerpoint/2010/main" val="3314537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6" presetClass="emph" presetSubtype="0" fill="hold" grpId="1" nodeType="afterEffect">
                                  <p:stCondLst>
                                    <p:cond delay="500"/>
                                  </p:stCondLst>
                                  <p:childTnLst>
                                    <p:animEffect transition="out" filter="fade">
                                      <p:cBhvr>
                                        <p:cTn id="10" dur="500" tmFilter="0, 0; .2, .5; .8, .5; 1, 0"/>
                                        <p:tgtEl>
                                          <p:spTgt spid="4"/>
                                        </p:tgtEl>
                                      </p:cBhvr>
                                    </p:animEffect>
                                    <p:animScale>
                                      <p:cBhvr>
                                        <p:cTn id="11" dur="250" autoRev="1" fill="hold"/>
                                        <p:tgtEl>
                                          <p:spTgt spid="4"/>
                                        </p:tgtEl>
                                      </p:cBhvr>
                                      <p:by x="105000" y="105000"/>
                                    </p:animScale>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2000"/>
                            </p:stCondLst>
                            <p:childTnLst>
                              <p:par>
                                <p:cTn id="17" presetID="26" presetClass="emph" presetSubtype="0" fill="hold" grpId="1" nodeType="afterEffect">
                                  <p:stCondLst>
                                    <p:cond delay="500"/>
                                  </p:stCondLst>
                                  <p:childTnLst>
                                    <p:animEffect transition="out" filter="fade">
                                      <p:cBhvr>
                                        <p:cTn id="18" dur="500" tmFilter="0, 0; .2, .5; .8, .5; 1, 0"/>
                                        <p:tgtEl>
                                          <p:spTgt spid="6"/>
                                        </p:tgtEl>
                                      </p:cBhvr>
                                    </p:animEffect>
                                    <p:animScale>
                                      <p:cBhvr>
                                        <p:cTn id="19" dur="250" autoRev="1" fill="hold"/>
                                        <p:tgtEl>
                                          <p:spTgt spid="6"/>
                                        </p:tgtEl>
                                      </p:cBhvr>
                                      <p:by x="105000" y="105000"/>
                                    </p:animScale>
                                  </p:childTnLst>
                                </p:cTn>
                              </p:par>
                            </p:childTnLst>
                          </p:cTn>
                        </p:par>
                        <p:par>
                          <p:cTn id="20" fill="hold">
                            <p:stCondLst>
                              <p:cond delay="300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par>
                          <p:cTn id="24" fill="hold">
                            <p:stCondLst>
                              <p:cond delay="3500"/>
                            </p:stCondLst>
                            <p:childTnLst>
                              <p:par>
                                <p:cTn id="25" presetID="26" presetClass="emph" presetSubtype="0" fill="hold" grpId="1" nodeType="afterEffect">
                                  <p:stCondLst>
                                    <p:cond delay="500"/>
                                  </p:stCondLst>
                                  <p:childTnLst>
                                    <p:animEffect transition="out" filter="fade">
                                      <p:cBhvr>
                                        <p:cTn id="26" dur="500" tmFilter="0, 0; .2, .5; .8, .5; 1, 0"/>
                                        <p:tgtEl>
                                          <p:spTgt spid="5"/>
                                        </p:tgtEl>
                                      </p:cBhvr>
                                    </p:animEffect>
                                    <p:animScale>
                                      <p:cBhvr>
                                        <p:cTn id="2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822">
          <a:extLst>
            <a:ext uri="{FF2B5EF4-FFF2-40B4-BE49-F238E27FC236}">
              <a16:creationId xmlns:a16="http://schemas.microsoft.com/office/drawing/2014/main" id="{AA8BDF69-C273-A532-CA3B-BBCF498402F5}"/>
            </a:ext>
          </a:extLst>
        </p:cNvPr>
        <p:cNvGrpSpPr/>
        <p:nvPr/>
      </p:nvGrpSpPr>
      <p:grpSpPr>
        <a:xfrm>
          <a:off x="0" y="0"/>
          <a:ext cx="0" cy="0"/>
          <a:chOff x="0" y="0"/>
          <a:chExt cx="0" cy="0"/>
        </a:xfrm>
      </p:grpSpPr>
      <p:sp>
        <p:nvSpPr>
          <p:cNvPr id="4823" name="Google Shape;4823;p59">
            <a:extLst>
              <a:ext uri="{FF2B5EF4-FFF2-40B4-BE49-F238E27FC236}">
                <a16:creationId xmlns:a16="http://schemas.microsoft.com/office/drawing/2014/main" id="{0316F3EE-E08D-1F54-0F8E-75D3A18EFFEB}"/>
              </a:ext>
            </a:extLst>
          </p:cNvPr>
          <p:cNvSpPr txBox="1">
            <a:spLocks noGrp="1"/>
          </p:cNvSpPr>
          <p:nvPr>
            <p:ph type="title"/>
          </p:nvPr>
        </p:nvSpPr>
        <p:spPr>
          <a:xfrm>
            <a:off x="589107" y="938794"/>
            <a:ext cx="6555971" cy="1229360"/>
          </a:xfrm>
        </p:spPr>
        <p:txBody>
          <a:bodyPr spcFirstLastPara="1" wrap="square" lIns="0" tIns="0" rIns="0" bIns="0" anchor="b" anchorCtr="0">
            <a:normAutofit/>
          </a:bodyPr>
          <a:lstStyle/>
          <a:p>
            <a:pPr marL="0" lvl="0" indent="0" rtl="0">
              <a:spcBef>
                <a:spcPts val="0"/>
              </a:spcBef>
              <a:spcAft>
                <a:spcPts val="0"/>
              </a:spcAft>
              <a:buClr>
                <a:schemeClr val="accent2"/>
              </a:buClr>
              <a:buSzPts val="3600"/>
              <a:buFont typeface="Arial"/>
              <a:buNone/>
            </a:pPr>
            <a:r>
              <a:rPr lang="en-US" dirty="0"/>
              <a:t>Modernize Infrastructure</a:t>
            </a:r>
          </a:p>
        </p:txBody>
      </p:sp>
      <p:sp>
        <p:nvSpPr>
          <p:cNvPr id="4824" name="Google Shape;4824;p59">
            <a:extLst>
              <a:ext uri="{FF2B5EF4-FFF2-40B4-BE49-F238E27FC236}">
                <a16:creationId xmlns:a16="http://schemas.microsoft.com/office/drawing/2014/main" id="{AC60C197-A120-35E6-AC4C-972EE43D16E7}"/>
              </a:ext>
            </a:extLst>
          </p:cNvPr>
          <p:cNvSpPr txBox="1">
            <a:spLocks noGrp="1"/>
          </p:cNvSpPr>
          <p:nvPr>
            <p:ph type="subTitle" idx="10"/>
          </p:nvPr>
        </p:nvSpPr>
        <p:spPr>
          <a:xfrm>
            <a:off x="602966" y="2267712"/>
            <a:ext cx="6542112" cy="700882"/>
          </a:xfrm>
        </p:spPr>
        <p:txBody>
          <a:bodyPr spcFirstLastPara="1" lIns="0" tIns="0" rIns="0" bIns="0" anchorCtr="0">
            <a:normAutofit/>
          </a:bodyPr>
          <a:lstStyle/>
          <a:p>
            <a:pPr marL="0" lvl="0" indent="0" rtl="0">
              <a:spcBef>
                <a:spcPts val="0"/>
              </a:spcBef>
              <a:spcAft>
                <a:spcPts val="600"/>
              </a:spcAft>
              <a:buSzPts val="2160"/>
              <a:buNone/>
            </a:pPr>
            <a:r>
              <a:rPr lang="en-US" dirty="0"/>
              <a:t>Networking - NSX</a:t>
            </a:r>
            <a:endParaRPr lang="en-AU" dirty="0"/>
          </a:p>
        </p:txBody>
      </p:sp>
    </p:spTree>
    <p:extLst>
      <p:ext uri="{BB962C8B-B14F-4D97-AF65-F5344CB8AC3E}">
        <p14:creationId xmlns:p14="http://schemas.microsoft.com/office/powerpoint/2010/main" val="2032070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64929-1A07-D08B-B567-2606FF5CFCC0}"/>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7A5372C4-9585-124A-1108-DD39F1AA59BD}"/>
              </a:ext>
            </a:extLst>
          </p:cNvPr>
          <p:cNvGrpSpPr/>
          <p:nvPr/>
        </p:nvGrpSpPr>
        <p:grpSpPr>
          <a:xfrm>
            <a:off x="8734568" y="2731841"/>
            <a:ext cx="3021113" cy="3894754"/>
            <a:chOff x="8734568" y="2731841"/>
            <a:chExt cx="3021113" cy="3894754"/>
          </a:xfrm>
        </p:grpSpPr>
        <p:grpSp>
          <p:nvGrpSpPr>
            <p:cNvPr id="238" name="Group 237">
              <a:extLst>
                <a:ext uri="{FF2B5EF4-FFF2-40B4-BE49-F238E27FC236}">
                  <a16:creationId xmlns:a16="http://schemas.microsoft.com/office/drawing/2014/main" id="{C606E3E1-0F7C-BB96-8964-AF0EA251DD16}"/>
                </a:ext>
              </a:extLst>
            </p:cNvPr>
            <p:cNvGrpSpPr/>
            <p:nvPr/>
          </p:nvGrpSpPr>
          <p:grpSpPr>
            <a:xfrm>
              <a:off x="9541202" y="2731841"/>
              <a:ext cx="2214479" cy="3894754"/>
              <a:chOff x="390496" y="2735181"/>
              <a:chExt cx="2214479" cy="3894754"/>
            </a:xfrm>
          </p:grpSpPr>
          <p:sp>
            <p:nvSpPr>
              <p:cNvPr id="239" name="Google Shape;1703;g3345324a5da_0_5673">
                <a:extLst>
                  <a:ext uri="{FF2B5EF4-FFF2-40B4-BE49-F238E27FC236}">
                    <a16:creationId xmlns:a16="http://schemas.microsoft.com/office/drawing/2014/main" id="{CE9A8C49-6028-3AA2-A6B8-7CBE4FD54DC3}"/>
                  </a:ext>
                </a:extLst>
              </p:cNvPr>
              <p:cNvSpPr/>
              <p:nvPr/>
            </p:nvSpPr>
            <p:spPr>
              <a:xfrm>
                <a:off x="390496" y="2735181"/>
                <a:ext cx="2214479" cy="3894754"/>
              </a:xfrm>
              <a:prstGeom prst="roundRect">
                <a:avLst>
                  <a:gd name="adj" fmla="val 6272"/>
                </a:avLst>
              </a:prstGeom>
              <a:gradFill>
                <a:gsLst>
                  <a:gs pos="0">
                    <a:srgbClr val="E8F0F4">
                      <a:alpha val="67144"/>
                    </a:srgbClr>
                  </a:gs>
                  <a:gs pos="100000">
                    <a:srgbClr val="E8F0F4">
                      <a:alpha val="159"/>
                    </a:srgbClr>
                  </a:gs>
                </a:gsLst>
                <a:lin ang="5400012" scaled="0"/>
              </a:gradFill>
              <a:ln>
                <a:noFill/>
              </a:ln>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0" name="Google Shape;1707;g3345324a5da_0_5673">
                <a:extLst>
                  <a:ext uri="{FF2B5EF4-FFF2-40B4-BE49-F238E27FC236}">
                    <a16:creationId xmlns:a16="http://schemas.microsoft.com/office/drawing/2014/main" id="{FDE005E7-4BB4-A2F3-1D17-5037A0230A99}"/>
                  </a:ext>
                </a:extLst>
              </p:cNvPr>
              <p:cNvPicPr preferRelativeResize="0"/>
              <p:nvPr/>
            </p:nvPicPr>
            <p:blipFill rotWithShape="1">
              <a:blip r:embed="rId3">
                <a:alphaModFix amt="20000"/>
              </a:blip>
              <a:srcRect l="1472" t="65195" r="2708" b="-31277"/>
              <a:stretch/>
            </p:blipFill>
            <p:spPr>
              <a:xfrm>
                <a:off x="455732" y="4010135"/>
                <a:ext cx="2092866" cy="407658"/>
              </a:xfrm>
              <a:prstGeom prst="rect">
                <a:avLst/>
              </a:prstGeom>
              <a:noFill/>
              <a:ln>
                <a:noFill/>
              </a:ln>
            </p:spPr>
          </p:pic>
          <p:pic>
            <p:nvPicPr>
              <p:cNvPr id="241" name="Google Shape;1707;g3345324a5da_0_5673">
                <a:extLst>
                  <a:ext uri="{FF2B5EF4-FFF2-40B4-BE49-F238E27FC236}">
                    <a16:creationId xmlns:a16="http://schemas.microsoft.com/office/drawing/2014/main" id="{239E1C94-BE6B-060B-27CE-97609FC5C7E6}"/>
                  </a:ext>
                </a:extLst>
              </p:cNvPr>
              <p:cNvPicPr preferRelativeResize="0"/>
              <p:nvPr/>
            </p:nvPicPr>
            <p:blipFill rotWithShape="1">
              <a:blip r:embed="rId3">
                <a:alphaModFix amt="20000"/>
              </a:blip>
              <a:srcRect l="1472" t="65195" r="2708" b="-31277"/>
              <a:stretch/>
            </p:blipFill>
            <p:spPr>
              <a:xfrm>
                <a:off x="455732" y="4649031"/>
                <a:ext cx="2092866" cy="407658"/>
              </a:xfrm>
              <a:prstGeom prst="rect">
                <a:avLst/>
              </a:prstGeom>
              <a:noFill/>
              <a:ln>
                <a:noFill/>
              </a:ln>
            </p:spPr>
          </p:pic>
          <p:pic>
            <p:nvPicPr>
              <p:cNvPr id="242" name="Google Shape;1707;g3345324a5da_0_5673">
                <a:extLst>
                  <a:ext uri="{FF2B5EF4-FFF2-40B4-BE49-F238E27FC236}">
                    <a16:creationId xmlns:a16="http://schemas.microsoft.com/office/drawing/2014/main" id="{7EE629B2-9C30-E75E-631A-F29AC445874C}"/>
                  </a:ext>
                </a:extLst>
              </p:cNvPr>
              <p:cNvPicPr preferRelativeResize="0"/>
              <p:nvPr/>
            </p:nvPicPr>
            <p:blipFill rotWithShape="1">
              <a:blip r:embed="rId3">
                <a:alphaModFix amt="20000"/>
              </a:blip>
              <a:srcRect l="1472" t="65195" r="2708" b="-31277"/>
              <a:stretch/>
            </p:blipFill>
            <p:spPr>
              <a:xfrm>
                <a:off x="455732" y="5251918"/>
                <a:ext cx="2092866" cy="407658"/>
              </a:xfrm>
              <a:prstGeom prst="rect">
                <a:avLst/>
              </a:prstGeom>
              <a:noFill/>
              <a:ln>
                <a:noFill/>
              </a:ln>
            </p:spPr>
          </p:pic>
        </p:grpSp>
        <p:sp>
          <p:nvSpPr>
            <p:cNvPr id="253" name="Text Placeholder 23">
              <a:extLst>
                <a:ext uri="{FF2B5EF4-FFF2-40B4-BE49-F238E27FC236}">
                  <a16:creationId xmlns:a16="http://schemas.microsoft.com/office/drawing/2014/main" id="{BD98C26D-279A-2EF0-850E-39643A8199CD}"/>
                </a:ext>
              </a:extLst>
            </p:cNvPr>
            <p:cNvSpPr txBox="1">
              <a:spLocks/>
            </p:cNvSpPr>
            <p:nvPr/>
          </p:nvSpPr>
          <p:spPr>
            <a:xfrm>
              <a:off x="9719429" y="4164859"/>
              <a:ext cx="1858024" cy="405509"/>
            </a:xfrm>
            <a:prstGeom prst="rect">
              <a:avLst/>
            </a:prstGeom>
          </p:spPr>
          <p:txBody>
            <a:bodyPr vert="horz" lIns="0" tIns="0" rIns="0" bIns="0" rtlCol="0">
              <a:noAutofit/>
            </a:bodyPr>
            <a:lstStyle>
              <a:lvl1pPr marL="0" indent="0" algn="ctr" defTabSz="914400" rtl="0" eaLnBrk="1" latinLnBrk="0" hangingPunct="1">
                <a:lnSpc>
                  <a:spcPct val="100000"/>
                </a:lnSpc>
                <a:spcBef>
                  <a:spcPts val="600"/>
                </a:spcBef>
                <a:spcAft>
                  <a:spcPts val="1200"/>
                </a:spcAft>
                <a:buClr>
                  <a:schemeClr val="tx1">
                    <a:lumMod val="60000"/>
                    <a:lumOff val="40000"/>
                  </a:schemeClr>
                </a:buClr>
                <a:buSzPct val="90000"/>
                <a:buFont typeface="Arial" panose="020B0604020202020204" pitchFamily="34" charset="0"/>
                <a:buChar char="​"/>
                <a:defRPr sz="2000" b="0" i="0" kern="1200">
                  <a:solidFill>
                    <a:schemeClr val="bg2">
                      <a:lumMod val="25000"/>
                    </a:schemeClr>
                  </a:solidFill>
                  <a:latin typeface="Arial" panose="020B0604020202020204" pitchFamily="34" charset="0"/>
                  <a:ea typeface="+mn-ea"/>
                  <a:cs typeface="Arial" panose="020B0604020202020204" pitchFamily="34" charset="0"/>
                </a:defRPr>
              </a:lvl1pPr>
              <a:lvl2pPr marL="285750" indent="-285750" algn="ctr" defTabSz="914400" rtl="0" eaLnBrk="1" latinLnBrk="0" hangingPunct="1">
                <a:lnSpc>
                  <a:spcPct val="100000"/>
                </a:lnSpc>
                <a:spcBef>
                  <a:spcPts val="600"/>
                </a:spcBef>
                <a:spcAft>
                  <a:spcPts val="1200"/>
                </a:spcAft>
                <a:buClr>
                  <a:schemeClr val="bg2">
                    <a:lumMod val="25000"/>
                  </a:schemeClr>
                </a:buClr>
                <a:buSzPct val="90000"/>
                <a:buFont typeface="Open Sans" panose="020B0606030504020204" pitchFamily="34" charset="0"/>
                <a:buChar char="​"/>
                <a:defRPr lang="en-US" sz="1600" b="0" i="0" kern="1200" dirty="0">
                  <a:solidFill>
                    <a:schemeClr val="tx1"/>
                  </a:solidFill>
                  <a:latin typeface="Arial" panose="020B0604020202020204" pitchFamily="34" charset="0"/>
                  <a:ea typeface="+mn-ea"/>
                  <a:cs typeface="Arial" panose="020B0604020202020204" pitchFamily="34" charset="0"/>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b="0" i="0" kern="1200">
                  <a:solidFill>
                    <a:schemeClr val="tx1"/>
                  </a:solidFill>
                  <a:latin typeface="Arial" panose="020B0604020202020204" pitchFamily="34" charset="0"/>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b="0" i="0" kern="1200">
                  <a:solidFill>
                    <a:schemeClr val="tx1"/>
                  </a:solidFill>
                  <a:latin typeface="Arial" panose="020B0604020202020204" pitchFamily="34" charset="0"/>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b="0" i="0" kern="1200">
                  <a:solidFill>
                    <a:schemeClr val="tx1"/>
                  </a:solidFill>
                  <a:latin typeface="Arial" panose="020B0604020202020204" pitchFamily="34" charset="0"/>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200" b="0" i="0" u="none" strike="noStrike" kern="1200" cap="none" spc="0" normalizeH="0" baseline="0" noProof="0" dirty="0">
                  <a:ln>
                    <a:noFill/>
                  </a:ln>
                  <a:solidFill>
                    <a:srgbClr val="3C3C3C"/>
                  </a:solidFill>
                  <a:effectLst/>
                  <a:uLnTx/>
                  <a:uFillTx/>
                  <a:latin typeface="Arial"/>
                  <a:ea typeface="Arial"/>
                  <a:cs typeface="Arial"/>
                  <a:sym typeface="Arial"/>
                </a:rPr>
                <a:t>Stateful L7</a:t>
              </a:r>
            </a:p>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200" b="0" i="0" u="none" strike="noStrike" kern="1200" cap="none" spc="0" normalizeH="0" baseline="0" noProof="0" dirty="0">
                  <a:ln>
                    <a:noFill/>
                  </a:ln>
                  <a:solidFill>
                    <a:srgbClr val="3C3C3C"/>
                  </a:solidFill>
                  <a:effectLst/>
                  <a:uLnTx/>
                  <a:uFillTx/>
                  <a:latin typeface="Arial"/>
                  <a:ea typeface="Arial"/>
                  <a:cs typeface="Arial"/>
                  <a:sym typeface="Arial"/>
                </a:rPr>
                <a:t>Distributed FW</a:t>
              </a:r>
              <a:endParaRPr kumimoji="0" lang="en-US" sz="1000" b="0" i="0" u="none" strike="noStrike" kern="1200" cap="none" spc="0" normalizeH="0" baseline="0" noProof="0" dirty="0">
                <a:ln>
                  <a:noFill/>
                </a:ln>
                <a:solidFill>
                  <a:srgbClr val="EEEEEE">
                    <a:lumMod val="25000"/>
                  </a:srgbClr>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600"/>
                </a:spcBef>
                <a:spcAft>
                  <a:spcPts val="1200"/>
                </a:spcAft>
                <a:buClr>
                  <a:srgbClr val="000000">
                    <a:lumMod val="60000"/>
                    <a:lumOff val="40000"/>
                  </a:srgbClr>
                </a:buClr>
                <a:buSzPct val="90000"/>
                <a:buFont typeface="Arial" panose="020B0604020202020204" pitchFamily="34" charset="0"/>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600"/>
                </a:spcBef>
                <a:spcAft>
                  <a:spcPts val="1200"/>
                </a:spcAft>
                <a:buClr>
                  <a:srgbClr val="000000">
                    <a:lumMod val="60000"/>
                    <a:lumOff val="40000"/>
                  </a:srgbClr>
                </a:buClr>
                <a:buSzPct val="90000"/>
                <a:buFont typeface="Arial" panose="020B0604020202020204" pitchFamily="34" charset="0"/>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10" name="Text Placeholder 19">
              <a:extLst>
                <a:ext uri="{FF2B5EF4-FFF2-40B4-BE49-F238E27FC236}">
                  <a16:creationId xmlns:a16="http://schemas.microsoft.com/office/drawing/2014/main" id="{E8CC48D9-5825-3B4C-CACF-FE69F6ED8D79}"/>
                </a:ext>
              </a:extLst>
            </p:cNvPr>
            <p:cNvSpPr txBox="1">
              <a:spLocks/>
            </p:cNvSpPr>
            <p:nvPr/>
          </p:nvSpPr>
          <p:spPr>
            <a:xfrm>
              <a:off x="9625767" y="3128301"/>
              <a:ext cx="2045348" cy="1100138"/>
            </a:xfrm>
            <a:prstGeom prst="rect">
              <a:avLst/>
            </a:prstGeom>
          </p:spPr>
          <p:txBody>
            <a:bodyPr vert="horz" lIns="0" tIns="0" rIns="0" bIns="0" rtlCol="0" anchor="ctr" anchorCtr="0">
              <a:noAutofit/>
            </a:bodyPr>
            <a:lstStyle>
              <a:lvl1pPr marL="0" indent="0" algn="ctr" defTabSz="914400" rtl="0" eaLnBrk="1" latinLnBrk="0" hangingPunct="1">
                <a:lnSpc>
                  <a:spcPct val="100000"/>
                </a:lnSpc>
                <a:spcBef>
                  <a:spcPts val="600"/>
                </a:spcBef>
                <a:spcAft>
                  <a:spcPts val="1200"/>
                </a:spcAft>
                <a:buClr>
                  <a:schemeClr val="tx1">
                    <a:lumMod val="60000"/>
                    <a:lumOff val="40000"/>
                  </a:schemeClr>
                </a:buClr>
                <a:buSzPct val="90000"/>
                <a:buFont typeface="Arial" panose="020B0604020202020204" pitchFamily="34" charset="0"/>
                <a:buChar char="​"/>
                <a:defRPr sz="1800" b="0" i="0" kern="1200">
                  <a:solidFill>
                    <a:schemeClr val="bg2">
                      <a:lumMod val="25000"/>
                    </a:schemeClr>
                  </a:solidFill>
                  <a:latin typeface="Arial" panose="020B0604020202020204" pitchFamily="34" charset="0"/>
                  <a:ea typeface="+mn-ea"/>
                  <a:cs typeface="Arial" panose="020B0604020202020204" pitchFamily="34" charset="0"/>
                </a:defRPr>
              </a:lvl1pPr>
              <a:lvl2pPr marL="0" indent="0" algn="ctr" defTabSz="914400" rtl="0" eaLnBrk="1" latinLnBrk="0" hangingPunct="1">
                <a:lnSpc>
                  <a:spcPct val="100000"/>
                </a:lnSpc>
                <a:spcBef>
                  <a:spcPts val="600"/>
                </a:spcBef>
                <a:spcAft>
                  <a:spcPts val="1200"/>
                </a:spcAft>
                <a:buClr>
                  <a:schemeClr val="bg2">
                    <a:lumMod val="25000"/>
                  </a:schemeClr>
                </a:buClr>
                <a:buSzPct val="90000"/>
                <a:buFont typeface="Open Sans" panose="020B0606030504020204" pitchFamily="34" charset="0"/>
                <a:buChar char="​"/>
                <a:defRPr sz="1800" b="0" i="0" kern="1200">
                  <a:solidFill>
                    <a:schemeClr val="tx1"/>
                  </a:solidFill>
                  <a:latin typeface="Arial" panose="020B0604020202020204" pitchFamily="34" charset="0"/>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b="0" i="0" kern="1200">
                  <a:solidFill>
                    <a:schemeClr val="tx1"/>
                  </a:solidFill>
                  <a:latin typeface="Arial" panose="020B0604020202020204" pitchFamily="34" charset="0"/>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b="0" i="0" kern="1200">
                  <a:solidFill>
                    <a:schemeClr val="tx1"/>
                  </a:solidFill>
                  <a:latin typeface="Arial" panose="020B0604020202020204" pitchFamily="34" charset="0"/>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b="0" i="0" kern="1200">
                  <a:solidFill>
                    <a:schemeClr val="tx1"/>
                  </a:solidFill>
                  <a:latin typeface="Arial" panose="020B0604020202020204" pitchFamily="34" charset="0"/>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600" b="0" i="0" u="none" strike="noStrike" kern="1200" cap="none" spc="0" normalizeH="0" baseline="0" noProof="0" dirty="0">
                  <a:ln>
                    <a:noFill/>
                  </a:ln>
                  <a:solidFill>
                    <a:srgbClr val="6C4B93"/>
                  </a:solidFill>
                  <a:effectLst/>
                  <a:uLnTx/>
                  <a:uFillTx/>
                  <a:latin typeface="Arial"/>
                  <a:ea typeface="Arial"/>
                  <a:cs typeface="Arial"/>
                  <a:sym typeface="Arial"/>
                </a:rPr>
                <a:t>E-W Traffic</a:t>
              </a:r>
            </a:p>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600" b="0" i="0" u="none" strike="noStrike" kern="1200" cap="none" spc="0" normalizeH="0" baseline="0" noProof="0" dirty="0">
                  <a:ln>
                    <a:noFill/>
                  </a:ln>
                  <a:solidFill>
                    <a:srgbClr val="6C4B93"/>
                  </a:solidFill>
                  <a:effectLst/>
                  <a:uLnTx/>
                  <a:uFillTx/>
                  <a:latin typeface="Arial"/>
                  <a:ea typeface="Arial"/>
                  <a:cs typeface="Arial"/>
                  <a:sym typeface="Arial"/>
                </a:rPr>
                <a:t>Protection</a:t>
              </a:r>
              <a:endParaRPr kumimoji="0" lang="en-US" sz="1200" b="0" i="0" u="none" strike="noStrike" kern="1200" cap="none" spc="0" normalizeH="0" baseline="0" noProof="0" dirty="0">
                <a:ln>
                  <a:noFill/>
                </a:ln>
                <a:solidFill>
                  <a:srgbClr val="EEEEEE">
                    <a:lumMod val="25000"/>
                  </a:srgbClr>
                </a:solidFill>
                <a:effectLst/>
                <a:uLnTx/>
                <a:uFillTx/>
                <a:latin typeface="Arial" panose="020B0604020202020204" pitchFamily="34" charset="0"/>
                <a:ea typeface="+mn-ea"/>
                <a:cs typeface="Arial" panose="020B0604020202020204" pitchFamily="34" charset="0"/>
              </a:endParaRPr>
            </a:p>
          </p:txBody>
        </p:sp>
        <p:sp>
          <p:nvSpPr>
            <p:cNvPr id="311" name="Google Shape;2647;p19">
              <a:extLst>
                <a:ext uri="{FF2B5EF4-FFF2-40B4-BE49-F238E27FC236}">
                  <a16:creationId xmlns:a16="http://schemas.microsoft.com/office/drawing/2014/main" id="{6F24321E-9E0F-A891-7AC8-3292F56201AC}"/>
                </a:ext>
              </a:extLst>
            </p:cNvPr>
            <p:cNvSpPr txBox="1"/>
            <p:nvPr/>
          </p:nvSpPr>
          <p:spPr>
            <a:xfrm>
              <a:off x="8734568" y="6059601"/>
              <a:ext cx="2826727" cy="15388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C4B94"/>
                  </a:solidFill>
                  <a:effectLst/>
                  <a:uLnTx/>
                  <a:uFillTx/>
                  <a:latin typeface="Arial"/>
                  <a:ea typeface="Arial"/>
                  <a:cs typeface="Arial"/>
                  <a:sym typeface="Arial"/>
                </a:rPr>
                <a:t>*Add-on advanced services not included with VCF</a:t>
              </a:r>
              <a:endParaRPr kumimoji="0" sz="1000" b="0" i="0" u="none" strike="noStrike" kern="1200" cap="none" spc="0" normalizeH="0" baseline="0" noProof="0" dirty="0">
                <a:ln>
                  <a:noFill/>
                </a:ln>
                <a:solidFill>
                  <a:srgbClr val="1B1D36"/>
                </a:solidFill>
                <a:effectLst/>
                <a:uLnTx/>
                <a:uFillTx/>
                <a:latin typeface="Arial"/>
                <a:ea typeface="Arial"/>
                <a:cs typeface="Arial"/>
                <a:sym typeface="Arial"/>
              </a:endParaRPr>
            </a:p>
          </p:txBody>
        </p:sp>
        <p:sp>
          <p:nvSpPr>
            <p:cNvPr id="315" name="TextBox 314">
              <a:extLst>
                <a:ext uri="{FF2B5EF4-FFF2-40B4-BE49-F238E27FC236}">
                  <a16:creationId xmlns:a16="http://schemas.microsoft.com/office/drawing/2014/main" id="{C56E0FA9-CF9C-964E-7E62-C9135687168E}"/>
                </a:ext>
              </a:extLst>
            </p:cNvPr>
            <p:cNvSpPr txBox="1"/>
            <p:nvPr/>
          </p:nvSpPr>
          <p:spPr>
            <a:xfrm>
              <a:off x="9665794" y="5318647"/>
              <a:ext cx="1965295"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3C3C3C"/>
                  </a:solidFill>
                  <a:effectLst/>
                  <a:uLnTx/>
                  <a:uFillTx/>
                  <a:latin typeface="Arial"/>
                  <a:ea typeface="Arial"/>
                  <a:cs typeface="Arial"/>
                  <a:sym typeface="Arial"/>
                </a:rPr>
                <a:t>Security analytics and rule recommendations</a:t>
              </a:r>
              <a:endPar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20" name="TextBox 319">
              <a:extLst>
                <a:ext uri="{FF2B5EF4-FFF2-40B4-BE49-F238E27FC236}">
                  <a16:creationId xmlns:a16="http://schemas.microsoft.com/office/drawing/2014/main" id="{83DC3860-7870-DC3B-2037-2CFD348ED0AE}"/>
                </a:ext>
              </a:extLst>
            </p:cNvPr>
            <p:cNvSpPr txBox="1"/>
            <p:nvPr/>
          </p:nvSpPr>
          <p:spPr>
            <a:xfrm>
              <a:off x="9585694" y="4728944"/>
              <a:ext cx="2125494"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3C3C3C"/>
                  </a:solidFill>
                  <a:effectLst/>
                  <a:uLnTx/>
                  <a:uFillTx/>
                  <a:latin typeface="Arial"/>
                  <a:ea typeface="Arial"/>
                  <a:cs typeface="Arial"/>
                  <a:sym typeface="Arial"/>
                </a:rPr>
                <a:t>ATP with IDS/IPS, Network Sandbox, NTA/NDR</a:t>
              </a:r>
              <a:endPar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nvGrpSpPr>
          <p:cNvPr id="7" name="Group 6">
            <a:extLst>
              <a:ext uri="{FF2B5EF4-FFF2-40B4-BE49-F238E27FC236}">
                <a16:creationId xmlns:a16="http://schemas.microsoft.com/office/drawing/2014/main" id="{E27BB4D4-2CA7-712B-4309-F4FEB29EBD86}"/>
              </a:ext>
            </a:extLst>
          </p:cNvPr>
          <p:cNvGrpSpPr/>
          <p:nvPr/>
        </p:nvGrpSpPr>
        <p:grpSpPr>
          <a:xfrm>
            <a:off x="7258549" y="2740212"/>
            <a:ext cx="2214479" cy="3894754"/>
            <a:chOff x="7258549" y="2740212"/>
            <a:chExt cx="2214479" cy="3894754"/>
          </a:xfrm>
        </p:grpSpPr>
        <p:grpSp>
          <p:nvGrpSpPr>
            <p:cNvPr id="228" name="Group 227">
              <a:extLst>
                <a:ext uri="{FF2B5EF4-FFF2-40B4-BE49-F238E27FC236}">
                  <a16:creationId xmlns:a16="http://schemas.microsoft.com/office/drawing/2014/main" id="{19B0F4A7-07D7-7E08-C7BC-1375D73AACCC}"/>
                </a:ext>
              </a:extLst>
            </p:cNvPr>
            <p:cNvGrpSpPr/>
            <p:nvPr/>
          </p:nvGrpSpPr>
          <p:grpSpPr>
            <a:xfrm>
              <a:off x="7258549" y="2740212"/>
              <a:ext cx="2214479" cy="3894754"/>
              <a:chOff x="390496" y="2735181"/>
              <a:chExt cx="2214479" cy="3894754"/>
            </a:xfrm>
          </p:grpSpPr>
          <p:sp>
            <p:nvSpPr>
              <p:cNvPr id="234" name="Google Shape;1703;g3345324a5da_0_5673">
                <a:extLst>
                  <a:ext uri="{FF2B5EF4-FFF2-40B4-BE49-F238E27FC236}">
                    <a16:creationId xmlns:a16="http://schemas.microsoft.com/office/drawing/2014/main" id="{90CDCFB1-0430-0CAB-7AD9-B26494898F09}"/>
                  </a:ext>
                </a:extLst>
              </p:cNvPr>
              <p:cNvSpPr/>
              <p:nvPr/>
            </p:nvSpPr>
            <p:spPr>
              <a:xfrm>
                <a:off x="390496" y="2735181"/>
                <a:ext cx="2214479" cy="3894754"/>
              </a:xfrm>
              <a:prstGeom prst="roundRect">
                <a:avLst>
                  <a:gd name="adj" fmla="val 6272"/>
                </a:avLst>
              </a:prstGeom>
              <a:gradFill>
                <a:gsLst>
                  <a:gs pos="0">
                    <a:srgbClr val="E8F0F4">
                      <a:alpha val="67144"/>
                    </a:srgbClr>
                  </a:gs>
                  <a:gs pos="100000">
                    <a:srgbClr val="E8F0F4">
                      <a:alpha val="159"/>
                    </a:srgbClr>
                  </a:gs>
                </a:gsLst>
                <a:lin ang="5400012" scaled="0"/>
              </a:gradFill>
              <a:ln>
                <a:noFill/>
              </a:ln>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35" name="Google Shape;1707;g3345324a5da_0_5673">
                <a:extLst>
                  <a:ext uri="{FF2B5EF4-FFF2-40B4-BE49-F238E27FC236}">
                    <a16:creationId xmlns:a16="http://schemas.microsoft.com/office/drawing/2014/main" id="{9D1569CD-ACAD-6B0E-BEDC-032CD1C90486}"/>
                  </a:ext>
                </a:extLst>
              </p:cNvPr>
              <p:cNvPicPr preferRelativeResize="0"/>
              <p:nvPr/>
            </p:nvPicPr>
            <p:blipFill rotWithShape="1">
              <a:blip r:embed="rId3">
                <a:alphaModFix amt="20000"/>
              </a:blip>
              <a:srcRect l="1472" t="65195" r="2708" b="-31277"/>
              <a:stretch/>
            </p:blipFill>
            <p:spPr>
              <a:xfrm>
                <a:off x="455732" y="4010135"/>
                <a:ext cx="2092866" cy="407658"/>
              </a:xfrm>
              <a:prstGeom prst="rect">
                <a:avLst/>
              </a:prstGeom>
              <a:noFill/>
              <a:ln>
                <a:noFill/>
              </a:ln>
            </p:spPr>
          </p:pic>
          <p:pic>
            <p:nvPicPr>
              <p:cNvPr id="236" name="Google Shape;1707;g3345324a5da_0_5673">
                <a:extLst>
                  <a:ext uri="{FF2B5EF4-FFF2-40B4-BE49-F238E27FC236}">
                    <a16:creationId xmlns:a16="http://schemas.microsoft.com/office/drawing/2014/main" id="{3D855B88-80D2-9790-F250-EB40384F4D9F}"/>
                  </a:ext>
                </a:extLst>
              </p:cNvPr>
              <p:cNvPicPr preferRelativeResize="0"/>
              <p:nvPr/>
            </p:nvPicPr>
            <p:blipFill rotWithShape="1">
              <a:blip r:embed="rId3">
                <a:alphaModFix amt="20000"/>
              </a:blip>
              <a:srcRect l="1472" t="65195" r="2708" b="-31277"/>
              <a:stretch/>
            </p:blipFill>
            <p:spPr>
              <a:xfrm>
                <a:off x="455732" y="4649031"/>
                <a:ext cx="2092866" cy="407658"/>
              </a:xfrm>
              <a:prstGeom prst="rect">
                <a:avLst/>
              </a:prstGeom>
              <a:noFill/>
              <a:ln>
                <a:noFill/>
              </a:ln>
            </p:spPr>
          </p:pic>
          <p:pic>
            <p:nvPicPr>
              <p:cNvPr id="237" name="Google Shape;1707;g3345324a5da_0_5673">
                <a:extLst>
                  <a:ext uri="{FF2B5EF4-FFF2-40B4-BE49-F238E27FC236}">
                    <a16:creationId xmlns:a16="http://schemas.microsoft.com/office/drawing/2014/main" id="{76EF3C92-2D86-C274-B3A8-D9817DC7F556}"/>
                  </a:ext>
                </a:extLst>
              </p:cNvPr>
              <p:cNvPicPr preferRelativeResize="0"/>
              <p:nvPr/>
            </p:nvPicPr>
            <p:blipFill rotWithShape="1">
              <a:blip r:embed="rId3">
                <a:alphaModFix amt="20000"/>
              </a:blip>
              <a:srcRect l="1472" t="65195" r="2708" b="-31277"/>
              <a:stretch/>
            </p:blipFill>
            <p:spPr>
              <a:xfrm>
                <a:off x="455732" y="5251918"/>
                <a:ext cx="2092866" cy="407658"/>
              </a:xfrm>
              <a:prstGeom prst="rect">
                <a:avLst/>
              </a:prstGeom>
              <a:noFill/>
              <a:ln>
                <a:noFill/>
              </a:ln>
            </p:spPr>
          </p:pic>
        </p:grpSp>
        <p:sp>
          <p:nvSpPr>
            <p:cNvPr id="252" name="Text Placeholder 25">
              <a:extLst>
                <a:ext uri="{FF2B5EF4-FFF2-40B4-BE49-F238E27FC236}">
                  <a16:creationId xmlns:a16="http://schemas.microsoft.com/office/drawing/2014/main" id="{259635E7-F4BA-B118-2BB8-8270FEF38C77}"/>
                </a:ext>
              </a:extLst>
            </p:cNvPr>
            <p:cNvSpPr txBox="1">
              <a:spLocks/>
            </p:cNvSpPr>
            <p:nvPr/>
          </p:nvSpPr>
          <p:spPr>
            <a:xfrm>
              <a:off x="7504930" y="4164859"/>
              <a:ext cx="1721716" cy="405509"/>
            </a:xfrm>
            <a:prstGeom prst="rect">
              <a:avLst/>
            </a:prstGeom>
          </p:spPr>
          <p:txBody>
            <a:bodyPr vert="horz" lIns="0" tIns="0" rIns="0" bIns="0" rtlCol="0">
              <a:noAutofit/>
            </a:bodyPr>
            <a:lstStyle>
              <a:lvl1pPr marL="0" indent="0" algn="ctr" defTabSz="914400" rtl="0" eaLnBrk="1" latinLnBrk="0" hangingPunct="1">
                <a:lnSpc>
                  <a:spcPct val="100000"/>
                </a:lnSpc>
                <a:spcBef>
                  <a:spcPts val="600"/>
                </a:spcBef>
                <a:spcAft>
                  <a:spcPts val="1200"/>
                </a:spcAft>
                <a:buClr>
                  <a:schemeClr val="tx1">
                    <a:lumMod val="60000"/>
                    <a:lumOff val="40000"/>
                  </a:schemeClr>
                </a:buClr>
                <a:buSzPct val="90000"/>
                <a:buFont typeface="Arial" panose="020B0604020202020204" pitchFamily="34" charset="0"/>
                <a:buChar char="​"/>
                <a:defRPr sz="2000" b="0" i="0" kern="1200">
                  <a:solidFill>
                    <a:schemeClr val="accent5"/>
                  </a:solidFill>
                  <a:latin typeface="Arial" panose="020B0604020202020204" pitchFamily="34" charset="0"/>
                  <a:ea typeface="+mn-ea"/>
                  <a:cs typeface="Arial" panose="020B0604020202020204" pitchFamily="34" charset="0"/>
                </a:defRPr>
              </a:lvl1pPr>
              <a:lvl2pPr marL="285750" indent="-285750" algn="ctr" defTabSz="914400" rtl="0" eaLnBrk="1" latinLnBrk="0" hangingPunct="1">
                <a:lnSpc>
                  <a:spcPct val="100000"/>
                </a:lnSpc>
                <a:spcBef>
                  <a:spcPts val="600"/>
                </a:spcBef>
                <a:spcAft>
                  <a:spcPts val="1200"/>
                </a:spcAft>
                <a:buClr>
                  <a:schemeClr val="bg2">
                    <a:lumMod val="25000"/>
                  </a:schemeClr>
                </a:buClr>
                <a:buSzPct val="90000"/>
                <a:buFont typeface="Open Sans" panose="020B0606030504020204" pitchFamily="34" charset="0"/>
                <a:buChar char="​"/>
                <a:defRPr lang="en-US" sz="1600" b="0" i="0" kern="1200" dirty="0">
                  <a:solidFill>
                    <a:schemeClr val="tx1"/>
                  </a:solidFill>
                  <a:latin typeface="Arial" panose="020B0604020202020204" pitchFamily="34" charset="0"/>
                  <a:ea typeface="+mn-ea"/>
                  <a:cs typeface="Arial" panose="020B0604020202020204" pitchFamily="34" charset="0"/>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b="0" i="0" kern="1200">
                  <a:solidFill>
                    <a:schemeClr val="tx1"/>
                  </a:solidFill>
                  <a:latin typeface="Arial" panose="020B0604020202020204" pitchFamily="34" charset="0"/>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b="0" i="0" kern="1200">
                  <a:solidFill>
                    <a:schemeClr val="tx1"/>
                  </a:solidFill>
                  <a:latin typeface="Arial" panose="020B0604020202020204" pitchFamily="34" charset="0"/>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b="0" i="0" kern="1200">
                  <a:solidFill>
                    <a:schemeClr val="tx1"/>
                  </a:solidFill>
                  <a:latin typeface="Arial" panose="020B0604020202020204" pitchFamily="34" charset="0"/>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200" b="0" i="0" u="none" strike="noStrike" kern="1200" cap="none" spc="0" normalizeH="0" baseline="0" noProof="0" dirty="0">
                  <a:ln>
                    <a:noFill/>
                  </a:ln>
                  <a:solidFill>
                    <a:srgbClr val="3C3C3C"/>
                  </a:solidFill>
                  <a:effectLst/>
                  <a:uLnTx/>
                  <a:uFillTx/>
                  <a:latin typeface="Arial"/>
                  <a:ea typeface="Arial"/>
                  <a:cs typeface="Arial"/>
                  <a:sym typeface="Arial"/>
                </a:rPr>
                <a:t>Any-to-any vSphere version</a:t>
              </a:r>
              <a:endParaRPr kumimoji="0" lang="en-US" sz="1000" b="0" i="0" u="none" strike="noStrike" kern="1200" cap="none" spc="0" normalizeH="0" baseline="0" noProof="0" dirty="0">
                <a:ln>
                  <a:noFill/>
                </a:ln>
                <a:solidFill>
                  <a:srgbClr val="6C4B94"/>
                </a:solidFill>
                <a:effectLst/>
                <a:uLnTx/>
                <a:uFillTx/>
                <a:latin typeface="Arial" panose="020B0604020202020204" pitchFamily="34" charset="0"/>
                <a:ea typeface="+mn-ea"/>
                <a:cs typeface="Arial" panose="020B0604020202020204" pitchFamily="34" charset="0"/>
              </a:endParaRPr>
            </a:p>
          </p:txBody>
        </p:sp>
        <p:sp>
          <p:nvSpPr>
            <p:cNvPr id="309" name="Text Placeholder 21">
              <a:extLst>
                <a:ext uri="{FF2B5EF4-FFF2-40B4-BE49-F238E27FC236}">
                  <a16:creationId xmlns:a16="http://schemas.microsoft.com/office/drawing/2014/main" id="{5A47521A-01F4-E475-8EA5-BA9BD37206A5}"/>
                </a:ext>
              </a:extLst>
            </p:cNvPr>
            <p:cNvSpPr txBox="1">
              <a:spLocks/>
            </p:cNvSpPr>
            <p:nvPr/>
          </p:nvSpPr>
          <p:spPr>
            <a:xfrm>
              <a:off x="7343114" y="3128301"/>
              <a:ext cx="2045348" cy="1100138"/>
            </a:xfrm>
            <a:prstGeom prst="rect">
              <a:avLst/>
            </a:prstGeom>
          </p:spPr>
          <p:txBody>
            <a:bodyPr vert="horz" lIns="0" tIns="0" rIns="0" bIns="0" rtlCol="0" anchor="ctr" anchorCtr="0">
              <a:noAutofit/>
            </a:bodyPr>
            <a:lstStyle>
              <a:lvl1pPr marL="0" indent="0" algn="ctr" defTabSz="914400" rtl="0" eaLnBrk="1" latinLnBrk="0" hangingPunct="1">
                <a:lnSpc>
                  <a:spcPct val="100000"/>
                </a:lnSpc>
                <a:spcBef>
                  <a:spcPts val="600"/>
                </a:spcBef>
                <a:spcAft>
                  <a:spcPts val="1200"/>
                </a:spcAft>
                <a:buClr>
                  <a:schemeClr val="tx1">
                    <a:lumMod val="60000"/>
                    <a:lumOff val="40000"/>
                  </a:schemeClr>
                </a:buClr>
                <a:buSzPct val="90000"/>
                <a:buFont typeface="Arial" panose="020B0604020202020204" pitchFamily="34" charset="0"/>
                <a:buChar char="​"/>
                <a:defRPr sz="1800" b="0" i="0" kern="1200">
                  <a:solidFill>
                    <a:schemeClr val="accent5"/>
                  </a:solidFill>
                  <a:latin typeface="Arial" panose="020B0604020202020204" pitchFamily="34" charset="0"/>
                  <a:ea typeface="+mn-ea"/>
                  <a:cs typeface="Arial" panose="020B0604020202020204" pitchFamily="34" charset="0"/>
                </a:defRPr>
              </a:lvl1pPr>
              <a:lvl2pPr marL="0" indent="0" algn="ctr" defTabSz="914400" rtl="0" eaLnBrk="1" latinLnBrk="0" hangingPunct="1">
                <a:lnSpc>
                  <a:spcPct val="100000"/>
                </a:lnSpc>
                <a:spcBef>
                  <a:spcPts val="600"/>
                </a:spcBef>
                <a:spcAft>
                  <a:spcPts val="1200"/>
                </a:spcAft>
                <a:buClr>
                  <a:schemeClr val="bg2">
                    <a:lumMod val="25000"/>
                  </a:schemeClr>
                </a:buClr>
                <a:buSzPct val="90000"/>
                <a:buFont typeface="Open Sans" panose="020B0606030504020204" pitchFamily="34" charset="0"/>
                <a:buChar char="​"/>
                <a:defRPr sz="1800" b="0" i="0" kern="1200">
                  <a:solidFill>
                    <a:schemeClr val="tx1"/>
                  </a:solidFill>
                  <a:latin typeface="Arial" panose="020B0604020202020204" pitchFamily="34" charset="0"/>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b="0" i="0" kern="1200">
                  <a:solidFill>
                    <a:schemeClr val="tx1"/>
                  </a:solidFill>
                  <a:latin typeface="Arial" panose="020B0604020202020204" pitchFamily="34" charset="0"/>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b="0" i="0" kern="1200">
                  <a:solidFill>
                    <a:schemeClr val="tx1"/>
                  </a:solidFill>
                  <a:latin typeface="Arial" panose="020B0604020202020204" pitchFamily="34" charset="0"/>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b="0" i="0" kern="1200">
                  <a:solidFill>
                    <a:schemeClr val="tx1"/>
                  </a:solidFill>
                  <a:latin typeface="Arial" panose="020B0604020202020204" pitchFamily="34" charset="0"/>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600" b="0" i="0" u="none" strike="noStrike" kern="1200" cap="none" spc="0" normalizeH="0" baseline="0" noProof="0" dirty="0">
                  <a:ln>
                    <a:noFill/>
                  </a:ln>
                  <a:solidFill>
                    <a:srgbClr val="005C8A"/>
                  </a:solidFill>
                  <a:effectLst/>
                  <a:uLnTx/>
                  <a:uFillTx/>
                  <a:latin typeface="Arial"/>
                  <a:ea typeface="Arial"/>
                  <a:cs typeface="Arial"/>
                  <a:sym typeface="Arial"/>
                </a:rPr>
                <a:t>Large-scale</a:t>
              </a:r>
              <a:endParaRPr kumimoji="0" lang="en-US" sz="1200" b="0" i="0" u="none" strike="noStrike" kern="1200" cap="none" spc="0" normalizeH="0" baseline="0" noProof="0" dirty="0">
                <a:ln>
                  <a:noFill/>
                </a:ln>
                <a:solidFill>
                  <a:srgbClr val="6C4B94"/>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600" b="0" i="0" u="none" strike="noStrike" kern="1200" cap="none" spc="0" normalizeH="0" baseline="0" noProof="0" dirty="0">
                  <a:ln>
                    <a:noFill/>
                  </a:ln>
                  <a:solidFill>
                    <a:srgbClr val="005C8A"/>
                  </a:solidFill>
                  <a:effectLst/>
                  <a:uLnTx/>
                  <a:uFillTx/>
                  <a:latin typeface="Arial"/>
                  <a:ea typeface="Arial"/>
                  <a:cs typeface="Arial"/>
                  <a:sym typeface="Arial"/>
                </a:rPr>
                <a:t>Mobility</a:t>
              </a:r>
              <a:endParaRPr kumimoji="0" lang="en-US" sz="1200" b="0" i="0" u="none" strike="noStrike" kern="1200" cap="none" spc="0" normalizeH="0" baseline="0" noProof="0" dirty="0">
                <a:ln>
                  <a:noFill/>
                </a:ln>
                <a:solidFill>
                  <a:srgbClr val="6C4B94"/>
                </a:solidFill>
                <a:effectLst/>
                <a:uLnTx/>
                <a:uFillTx/>
                <a:latin typeface="Arial" panose="020B0604020202020204" pitchFamily="34" charset="0"/>
                <a:ea typeface="+mn-ea"/>
                <a:cs typeface="Arial" panose="020B0604020202020204" pitchFamily="34" charset="0"/>
              </a:endParaRPr>
            </a:p>
          </p:txBody>
        </p:sp>
        <p:sp>
          <p:nvSpPr>
            <p:cNvPr id="314" name="TextBox 313">
              <a:extLst>
                <a:ext uri="{FF2B5EF4-FFF2-40B4-BE49-F238E27FC236}">
                  <a16:creationId xmlns:a16="http://schemas.microsoft.com/office/drawing/2014/main" id="{567FBE1C-4CD2-5398-E33A-42155789B226}"/>
                </a:ext>
              </a:extLst>
            </p:cNvPr>
            <p:cNvSpPr txBox="1"/>
            <p:nvPr/>
          </p:nvSpPr>
          <p:spPr>
            <a:xfrm>
              <a:off x="7383141" y="5318647"/>
              <a:ext cx="1965295"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3C3C3C"/>
                  </a:solidFill>
                  <a:effectLst/>
                  <a:uLnTx/>
                  <a:uFillTx/>
                  <a:latin typeface="Arial"/>
                  <a:ea typeface="Arial"/>
                  <a:cs typeface="Arial"/>
                  <a:sym typeface="Arial"/>
                </a:rPr>
                <a:t>Various migration modes</a:t>
              </a:r>
              <a:endPar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19" name="TextBox 318">
              <a:extLst>
                <a:ext uri="{FF2B5EF4-FFF2-40B4-BE49-F238E27FC236}">
                  <a16:creationId xmlns:a16="http://schemas.microsoft.com/office/drawing/2014/main" id="{DE5A11F1-77A3-D3E8-DED2-600D1B6639FC}"/>
                </a:ext>
              </a:extLst>
            </p:cNvPr>
            <p:cNvSpPr txBox="1"/>
            <p:nvPr/>
          </p:nvSpPr>
          <p:spPr>
            <a:xfrm>
              <a:off x="7383141" y="4728944"/>
              <a:ext cx="1965295"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3C3C3C"/>
                  </a:solidFill>
                  <a:effectLst/>
                  <a:uLnTx/>
                  <a:uFillTx/>
                  <a:latin typeface="Arial"/>
                  <a:ea typeface="Arial"/>
                  <a:cs typeface="Arial"/>
                  <a:sym typeface="Arial"/>
                </a:rPr>
                <a:t>Zero-downtime migration</a:t>
              </a:r>
              <a:endPar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nvGrpSpPr>
          <p:cNvPr id="6" name="Group 5">
            <a:extLst>
              <a:ext uri="{FF2B5EF4-FFF2-40B4-BE49-F238E27FC236}">
                <a16:creationId xmlns:a16="http://schemas.microsoft.com/office/drawing/2014/main" id="{81B3066A-078F-5314-486A-8FC6F59E96CE}"/>
              </a:ext>
            </a:extLst>
          </p:cNvPr>
          <p:cNvGrpSpPr/>
          <p:nvPr/>
        </p:nvGrpSpPr>
        <p:grpSpPr>
          <a:xfrm>
            <a:off x="4975894" y="2738536"/>
            <a:ext cx="2214479" cy="3894754"/>
            <a:chOff x="4975894" y="2738536"/>
            <a:chExt cx="2214479" cy="3894754"/>
          </a:xfrm>
        </p:grpSpPr>
        <p:grpSp>
          <p:nvGrpSpPr>
            <p:cNvPr id="213" name="Group 212">
              <a:extLst>
                <a:ext uri="{FF2B5EF4-FFF2-40B4-BE49-F238E27FC236}">
                  <a16:creationId xmlns:a16="http://schemas.microsoft.com/office/drawing/2014/main" id="{3BD986E6-59A2-B097-0976-9ECC6B05216E}"/>
                </a:ext>
              </a:extLst>
            </p:cNvPr>
            <p:cNvGrpSpPr/>
            <p:nvPr/>
          </p:nvGrpSpPr>
          <p:grpSpPr>
            <a:xfrm>
              <a:off x="4975894" y="2738536"/>
              <a:ext cx="2214479" cy="3894754"/>
              <a:chOff x="390496" y="2735181"/>
              <a:chExt cx="2214479" cy="3894754"/>
            </a:xfrm>
          </p:grpSpPr>
          <p:sp>
            <p:nvSpPr>
              <p:cNvPr id="220" name="Google Shape;1703;g3345324a5da_0_5673">
                <a:extLst>
                  <a:ext uri="{FF2B5EF4-FFF2-40B4-BE49-F238E27FC236}">
                    <a16:creationId xmlns:a16="http://schemas.microsoft.com/office/drawing/2014/main" id="{CEF9413A-FB1B-65C5-285B-EFCD66416F91}"/>
                  </a:ext>
                </a:extLst>
              </p:cNvPr>
              <p:cNvSpPr/>
              <p:nvPr/>
            </p:nvSpPr>
            <p:spPr>
              <a:xfrm>
                <a:off x="390496" y="2735181"/>
                <a:ext cx="2214479" cy="3894754"/>
              </a:xfrm>
              <a:prstGeom prst="roundRect">
                <a:avLst>
                  <a:gd name="adj" fmla="val 6272"/>
                </a:avLst>
              </a:prstGeom>
              <a:gradFill>
                <a:gsLst>
                  <a:gs pos="0">
                    <a:srgbClr val="E8F0F4">
                      <a:alpha val="67144"/>
                    </a:srgbClr>
                  </a:gs>
                  <a:gs pos="100000">
                    <a:srgbClr val="E8F0F4">
                      <a:alpha val="159"/>
                    </a:srgbClr>
                  </a:gs>
                </a:gsLst>
                <a:lin ang="5400012" scaled="0"/>
              </a:gradFill>
              <a:ln>
                <a:noFill/>
              </a:ln>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21" name="Google Shape;1707;g3345324a5da_0_5673">
                <a:extLst>
                  <a:ext uri="{FF2B5EF4-FFF2-40B4-BE49-F238E27FC236}">
                    <a16:creationId xmlns:a16="http://schemas.microsoft.com/office/drawing/2014/main" id="{E279B40D-3FF4-4E9A-B68F-FA8B717F5121}"/>
                  </a:ext>
                </a:extLst>
              </p:cNvPr>
              <p:cNvPicPr preferRelativeResize="0"/>
              <p:nvPr/>
            </p:nvPicPr>
            <p:blipFill rotWithShape="1">
              <a:blip r:embed="rId3">
                <a:alphaModFix amt="20000"/>
              </a:blip>
              <a:srcRect l="1472" t="65195" r="2708" b="-31277"/>
              <a:stretch/>
            </p:blipFill>
            <p:spPr>
              <a:xfrm>
                <a:off x="455732" y="4010135"/>
                <a:ext cx="2092866" cy="407658"/>
              </a:xfrm>
              <a:prstGeom prst="rect">
                <a:avLst/>
              </a:prstGeom>
              <a:noFill/>
              <a:ln>
                <a:noFill/>
              </a:ln>
            </p:spPr>
          </p:pic>
          <p:pic>
            <p:nvPicPr>
              <p:cNvPr id="225" name="Google Shape;1707;g3345324a5da_0_5673">
                <a:extLst>
                  <a:ext uri="{FF2B5EF4-FFF2-40B4-BE49-F238E27FC236}">
                    <a16:creationId xmlns:a16="http://schemas.microsoft.com/office/drawing/2014/main" id="{80ACC2AE-BBAB-921F-6C12-6BC92F1A3E13}"/>
                  </a:ext>
                </a:extLst>
              </p:cNvPr>
              <p:cNvPicPr preferRelativeResize="0"/>
              <p:nvPr/>
            </p:nvPicPr>
            <p:blipFill rotWithShape="1">
              <a:blip r:embed="rId3">
                <a:alphaModFix amt="20000"/>
              </a:blip>
              <a:srcRect l="1472" t="65195" r="2708" b="-31277"/>
              <a:stretch/>
            </p:blipFill>
            <p:spPr>
              <a:xfrm>
                <a:off x="455732" y="4649031"/>
                <a:ext cx="2092866" cy="407658"/>
              </a:xfrm>
              <a:prstGeom prst="rect">
                <a:avLst/>
              </a:prstGeom>
              <a:noFill/>
              <a:ln>
                <a:noFill/>
              </a:ln>
            </p:spPr>
          </p:pic>
          <p:pic>
            <p:nvPicPr>
              <p:cNvPr id="227" name="Google Shape;1707;g3345324a5da_0_5673">
                <a:extLst>
                  <a:ext uri="{FF2B5EF4-FFF2-40B4-BE49-F238E27FC236}">
                    <a16:creationId xmlns:a16="http://schemas.microsoft.com/office/drawing/2014/main" id="{94020623-278D-096C-6C0C-8723018C8FCC}"/>
                  </a:ext>
                </a:extLst>
              </p:cNvPr>
              <p:cNvPicPr preferRelativeResize="0"/>
              <p:nvPr/>
            </p:nvPicPr>
            <p:blipFill rotWithShape="1">
              <a:blip r:embed="rId3">
                <a:alphaModFix amt="20000"/>
              </a:blip>
              <a:srcRect l="1472" t="65195" r="2708" b="-31277"/>
              <a:stretch/>
            </p:blipFill>
            <p:spPr>
              <a:xfrm>
                <a:off x="455732" y="5251918"/>
                <a:ext cx="2092866" cy="407658"/>
              </a:xfrm>
              <a:prstGeom prst="rect">
                <a:avLst/>
              </a:prstGeom>
              <a:noFill/>
              <a:ln>
                <a:noFill/>
              </a:ln>
            </p:spPr>
          </p:pic>
        </p:grpSp>
        <p:sp>
          <p:nvSpPr>
            <p:cNvPr id="251" name="Text Placeholder 27">
              <a:extLst>
                <a:ext uri="{FF2B5EF4-FFF2-40B4-BE49-F238E27FC236}">
                  <a16:creationId xmlns:a16="http://schemas.microsoft.com/office/drawing/2014/main" id="{FF06B91F-EF86-DCF1-7CC8-22B81D3B168D}"/>
                </a:ext>
              </a:extLst>
            </p:cNvPr>
            <p:cNvSpPr txBox="1">
              <a:spLocks/>
            </p:cNvSpPr>
            <p:nvPr/>
          </p:nvSpPr>
          <p:spPr>
            <a:xfrm>
              <a:off x="5251860" y="4164859"/>
              <a:ext cx="1662546" cy="362698"/>
            </a:xfrm>
            <a:prstGeom prst="rect">
              <a:avLst/>
            </a:prstGeom>
          </p:spPr>
          <p:txBody>
            <a:bodyPr vert="horz" lIns="0" tIns="0" rIns="0" bIns="0" rtlCol="0">
              <a:noAutofit/>
            </a:bodyPr>
            <a:lstStyle>
              <a:lvl1pPr marL="0" indent="0" algn="ctr" defTabSz="914400" rtl="0" eaLnBrk="1" latinLnBrk="0" hangingPunct="1">
                <a:lnSpc>
                  <a:spcPct val="100000"/>
                </a:lnSpc>
                <a:spcBef>
                  <a:spcPts val="600"/>
                </a:spcBef>
                <a:spcAft>
                  <a:spcPts val="1200"/>
                </a:spcAft>
                <a:buClr>
                  <a:schemeClr val="tx1">
                    <a:lumMod val="60000"/>
                    <a:lumOff val="40000"/>
                  </a:schemeClr>
                </a:buClr>
                <a:buSzPct val="90000"/>
                <a:buFont typeface="Arial" panose="020B0604020202020204" pitchFamily="34" charset="0"/>
                <a:buChar char="​"/>
                <a:defRPr sz="2000" b="0" i="0" kern="1200">
                  <a:solidFill>
                    <a:schemeClr val="accent2"/>
                  </a:solidFill>
                  <a:latin typeface="Arial" panose="020B0604020202020204" pitchFamily="34" charset="0"/>
                  <a:ea typeface="+mn-ea"/>
                  <a:cs typeface="Arial" panose="020B0604020202020204" pitchFamily="34" charset="0"/>
                </a:defRPr>
              </a:lvl1pPr>
              <a:lvl2pPr marL="285750" indent="-285750" algn="ctr" defTabSz="914400" rtl="0" eaLnBrk="1" latinLnBrk="0" hangingPunct="1">
                <a:lnSpc>
                  <a:spcPct val="100000"/>
                </a:lnSpc>
                <a:spcBef>
                  <a:spcPts val="600"/>
                </a:spcBef>
                <a:spcAft>
                  <a:spcPts val="1200"/>
                </a:spcAft>
                <a:buClr>
                  <a:schemeClr val="bg2">
                    <a:lumMod val="25000"/>
                  </a:schemeClr>
                </a:buClr>
                <a:buSzPct val="90000"/>
                <a:buFont typeface="Open Sans" panose="020B0606030504020204" pitchFamily="34" charset="0"/>
                <a:buChar char="​"/>
                <a:defRPr lang="en-US" sz="1600" b="0" i="0" kern="1200" dirty="0">
                  <a:solidFill>
                    <a:schemeClr val="tx1"/>
                  </a:solidFill>
                  <a:latin typeface="Arial" panose="020B0604020202020204" pitchFamily="34" charset="0"/>
                  <a:ea typeface="+mn-ea"/>
                  <a:cs typeface="Arial" panose="020B0604020202020204" pitchFamily="34" charset="0"/>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b="0" i="0" kern="1200">
                  <a:solidFill>
                    <a:schemeClr val="tx1"/>
                  </a:solidFill>
                  <a:latin typeface="Arial" panose="020B0604020202020204" pitchFamily="34" charset="0"/>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b="0" i="0" kern="1200">
                  <a:solidFill>
                    <a:schemeClr val="tx1"/>
                  </a:solidFill>
                  <a:latin typeface="Arial" panose="020B0604020202020204" pitchFamily="34" charset="0"/>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b="0" i="0" kern="1200">
                  <a:solidFill>
                    <a:schemeClr val="tx1"/>
                  </a:solidFill>
                  <a:latin typeface="Arial" panose="020B0604020202020204" pitchFamily="34" charset="0"/>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200" b="0" i="0" u="none" strike="noStrike" kern="1200" cap="none" spc="0" normalizeH="0" baseline="0" noProof="0" dirty="0">
                  <a:ln>
                    <a:noFill/>
                  </a:ln>
                  <a:solidFill>
                    <a:srgbClr val="3C3C3C"/>
                  </a:solidFill>
                  <a:effectLst/>
                  <a:uLnTx/>
                  <a:uFillTx/>
                  <a:latin typeface="Arial"/>
                  <a:ea typeface="Arial"/>
                  <a:cs typeface="Arial"/>
                  <a:sym typeface="Arial"/>
                </a:rPr>
                <a:t>Pre-deployment assessment</a:t>
              </a:r>
              <a:endParaRPr kumimoji="0" lang="en-US" sz="1000" b="0" i="0" u="none" strike="noStrike" kern="1200" cap="none" spc="0" normalizeH="0" baseline="0" noProof="0" dirty="0">
                <a:ln>
                  <a:noFill/>
                </a:ln>
                <a:solidFill>
                  <a:srgbClr val="005C8A"/>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1000"/>
                </a:spcBef>
                <a:spcAft>
                  <a:spcPts val="0"/>
                </a:spcAft>
                <a:buClr>
                  <a:srgbClr val="000000">
                    <a:lumMod val="60000"/>
                    <a:lumOff val="40000"/>
                  </a:srgbClr>
                </a:buClr>
                <a:buSzPct val="90000"/>
                <a:buFont typeface="Arial" panose="020B0604020202020204" pitchFamily="34" charset="0"/>
                <a:buNone/>
                <a:tabLst/>
                <a:defRPr/>
              </a:pPr>
              <a:endParaRPr kumimoji="0" lang="en-US" sz="1200" b="0" i="0" u="none" strike="noStrike" kern="1200" cap="none" spc="0" normalizeH="0" baseline="0" noProof="0" dirty="0">
                <a:ln>
                  <a:noFill/>
                </a:ln>
                <a:solidFill>
                  <a:srgbClr val="3C3C3C"/>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1000"/>
                </a:spcBef>
                <a:spcAft>
                  <a:spcPts val="0"/>
                </a:spcAft>
                <a:buClr>
                  <a:srgbClr val="000000">
                    <a:lumMod val="60000"/>
                    <a:lumOff val="40000"/>
                  </a:srgbClr>
                </a:buClr>
                <a:buSzPct val="90000"/>
                <a:buFont typeface="Arial" panose="020B0604020202020204" pitchFamily="34" charset="0"/>
                <a:buNone/>
                <a:tabLst/>
                <a:defRPr/>
              </a:pPr>
              <a:endParaRPr kumimoji="0" lang="en-US" sz="1200" b="0" i="0" u="none" strike="noStrike" kern="1200" cap="none" spc="0" normalizeH="0" baseline="0" noProof="0" dirty="0">
                <a:ln>
                  <a:noFill/>
                </a:ln>
                <a:solidFill>
                  <a:srgbClr val="3C3C3C"/>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600"/>
                </a:spcBef>
                <a:spcAft>
                  <a:spcPts val="1200"/>
                </a:spcAft>
                <a:buClr>
                  <a:srgbClr val="000000">
                    <a:lumMod val="60000"/>
                    <a:lumOff val="40000"/>
                  </a:srgbClr>
                </a:buClr>
                <a:buSzPct val="90000"/>
                <a:buFont typeface="Arial" panose="020B0604020202020204" pitchFamily="34" charset="0"/>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08" name="Text Placeholder 17">
              <a:extLst>
                <a:ext uri="{FF2B5EF4-FFF2-40B4-BE49-F238E27FC236}">
                  <a16:creationId xmlns:a16="http://schemas.microsoft.com/office/drawing/2014/main" id="{34F0493C-0D28-25A2-7DAB-3C88C30728FF}"/>
                </a:ext>
              </a:extLst>
            </p:cNvPr>
            <p:cNvSpPr txBox="1">
              <a:spLocks/>
            </p:cNvSpPr>
            <p:nvPr/>
          </p:nvSpPr>
          <p:spPr>
            <a:xfrm>
              <a:off x="5061622" y="3128301"/>
              <a:ext cx="2043023" cy="1100138"/>
            </a:xfrm>
            <a:prstGeom prst="rect">
              <a:avLst/>
            </a:prstGeom>
          </p:spPr>
          <p:txBody>
            <a:bodyPr vert="horz" lIns="0" tIns="0" rIns="0" bIns="0" rtlCol="0" anchor="ctr" anchorCtr="0">
              <a:noAutofit/>
            </a:bodyPr>
            <a:lstStyle>
              <a:lvl1pPr marL="0" indent="0" algn="ctr" defTabSz="914400" rtl="0" eaLnBrk="1" latinLnBrk="0" hangingPunct="1">
                <a:lnSpc>
                  <a:spcPct val="100000"/>
                </a:lnSpc>
                <a:spcBef>
                  <a:spcPts val="600"/>
                </a:spcBef>
                <a:spcAft>
                  <a:spcPts val="1200"/>
                </a:spcAft>
                <a:buClr>
                  <a:schemeClr val="tx1">
                    <a:lumMod val="60000"/>
                    <a:lumOff val="40000"/>
                  </a:schemeClr>
                </a:buClr>
                <a:buSzPct val="90000"/>
                <a:buFont typeface="Arial" panose="020B0604020202020204" pitchFamily="34" charset="0"/>
                <a:buChar char="​"/>
                <a:defRPr sz="1800" b="0" i="0" kern="1200">
                  <a:solidFill>
                    <a:schemeClr val="accent2"/>
                  </a:solidFill>
                  <a:latin typeface="Arial" panose="020B0604020202020204" pitchFamily="34" charset="0"/>
                  <a:ea typeface="+mn-ea"/>
                  <a:cs typeface="Arial" panose="020B0604020202020204" pitchFamily="34" charset="0"/>
                </a:defRPr>
              </a:lvl1pPr>
              <a:lvl2pPr marL="0" indent="0" algn="ctr" defTabSz="914400" rtl="0" eaLnBrk="1" latinLnBrk="0" hangingPunct="1">
                <a:lnSpc>
                  <a:spcPct val="100000"/>
                </a:lnSpc>
                <a:spcBef>
                  <a:spcPts val="600"/>
                </a:spcBef>
                <a:spcAft>
                  <a:spcPts val="1200"/>
                </a:spcAft>
                <a:buClr>
                  <a:schemeClr val="bg2">
                    <a:lumMod val="25000"/>
                  </a:schemeClr>
                </a:buClr>
                <a:buSzPct val="90000"/>
                <a:buFont typeface="Open Sans" panose="020B0606030504020204" pitchFamily="34" charset="0"/>
                <a:buChar char="​"/>
                <a:defRPr sz="1800" b="0" i="0" kern="1200">
                  <a:solidFill>
                    <a:schemeClr val="tx1"/>
                  </a:solidFill>
                  <a:latin typeface="Arial" panose="020B0604020202020204" pitchFamily="34" charset="0"/>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b="0" i="0" kern="1200">
                  <a:solidFill>
                    <a:schemeClr val="tx1"/>
                  </a:solidFill>
                  <a:latin typeface="Arial" panose="020B0604020202020204" pitchFamily="34" charset="0"/>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b="0" i="0" kern="1200">
                  <a:solidFill>
                    <a:schemeClr val="tx1"/>
                  </a:solidFill>
                  <a:latin typeface="Arial" panose="020B0604020202020204" pitchFamily="34" charset="0"/>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b="0" i="0" kern="1200">
                  <a:solidFill>
                    <a:schemeClr val="tx1"/>
                  </a:solidFill>
                  <a:latin typeface="Arial" panose="020B0604020202020204" pitchFamily="34" charset="0"/>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600" b="0" i="0" u="none" strike="noStrike" kern="1200" cap="none" spc="0" normalizeH="0" baseline="0" noProof="0" dirty="0">
                  <a:ln>
                    <a:noFill/>
                  </a:ln>
                  <a:solidFill>
                    <a:srgbClr val="007B8C"/>
                  </a:solidFill>
                  <a:effectLst/>
                  <a:uLnTx/>
                  <a:uFillTx/>
                  <a:latin typeface="Arial"/>
                  <a:ea typeface="Arial"/>
                  <a:cs typeface="Arial"/>
                  <a:sym typeface="Arial"/>
                </a:rPr>
                <a:t>Powerful </a:t>
              </a:r>
              <a:br>
                <a:rPr kumimoji="0" lang="en-US" sz="1600" b="0" i="0" u="none" strike="noStrike" kern="1200" cap="none" spc="0" normalizeH="0" baseline="0" noProof="0" dirty="0">
                  <a:ln>
                    <a:noFill/>
                  </a:ln>
                  <a:solidFill>
                    <a:srgbClr val="007B8C"/>
                  </a:solidFill>
                  <a:effectLst/>
                  <a:uLnTx/>
                  <a:uFillTx/>
                  <a:latin typeface="Arial"/>
                  <a:ea typeface="Arial"/>
                  <a:cs typeface="Arial"/>
                  <a:sym typeface="Arial"/>
                </a:rPr>
              </a:br>
              <a:r>
                <a:rPr kumimoji="0" lang="en-US" sz="1600" b="0" i="0" u="none" strike="noStrike" kern="1200" cap="none" spc="0" normalizeH="0" baseline="0" noProof="0" dirty="0">
                  <a:ln>
                    <a:noFill/>
                  </a:ln>
                  <a:solidFill>
                    <a:srgbClr val="007B8C"/>
                  </a:solidFill>
                  <a:effectLst/>
                  <a:uLnTx/>
                  <a:uFillTx/>
                  <a:latin typeface="Arial"/>
                  <a:ea typeface="Arial"/>
                  <a:cs typeface="Arial"/>
                  <a:sym typeface="Arial"/>
                </a:rPr>
                <a:t>Monitoring</a:t>
              </a:r>
              <a:endParaRPr kumimoji="0" lang="en-US" sz="1200" b="0" i="0" u="none" strike="noStrike" kern="1200" cap="none" spc="0" normalizeH="0" baseline="0" noProof="0" dirty="0">
                <a:ln>
                  <a:noFill/>
                </a:ln>
                <a:solidFill>
                  <a:srgbClr val="005C8A"/>
                </a:solidFill>
                <a:effectLst/>
                <a:uLnTx/>
                <a:uFillTx/>
                <a:latin typeface="Arial" panose="020B0604020202020204" pitchFamily="34" charset="0"/>
                <a:ea typeface="+mn-ea"/>
                <a:cs typeface="Arial" panose="020B0604020202020204" pitchFamily="34" charset="0"/>
              </a:endParaRPr>
            </a:p>
          </p:txBody>
        </p:sp>
        <p:sp>
          <p:nvSpPr>
            <p:cNvPr id="313" name="TextBox 312">
              <a:extLst>
                <a:ext uri="{FF2B5EF4-FFF2-40B4-BE49-F238E27FC236}">
                  <a16:creationId xmlns:a16="http://schemas.microsoft.com/office/drawing/2014/main" id="{57A1A2AF-B401-52AC-8B4A-A8B8F8BF3667}"/>
                </a:ext>
              </a:extLst>
            </p:cNvPr>
            <p:cNvSpPr txBox="1"/>
            <p:nvPr/>
          </p:nvSpPr>
          <p:spPr>
            <a:xfrm>
              <a:off x="5100486" y="5318647"/>
              <a:ext cx="1965295"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3C3C3C"/>
                  </a:solidFill>
                  <a:effectLst/>
                  <a:uLnTx/>
                  <a:uFillTx/>
                  <a:latin typeface="Arial"/>
                  <a:ea typeface="Arial"/>
                  <a:cs typeface="Arial"/>
                  <a:sym typeface="Arial"/>
                </a:rPr>
                <a:t>Network topology and metrics visualization</a:t>
              </a:r>
              <a:endPar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18" name="TextBox 317">
              <a:extLst>
                <a:ext uri="{FF2B5EF4-FFF2-40B4-BE49-F238E27FC236}">
                  <a16:creationId xmlns:a16="http://schemas.microsoft.com/office/drawing/2014/main" id="{42BE1C2A-6A0B-BCFC-165B-6558066B5434}"/>
                </a:ext>
              </a:extLst>
            </p:cNvPr>
            <p:cNvSpPr txBox="1"/>
            <p:nvPr/>
          </p:nvSpPr>
          <p:spPr>
            <a:xfrm>
              <a:off x="5100486" y="4728944"/>
              <a:ext cx="1965295"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3C3C3C"/>
                  </a:solidFill>
                  <a:effectLst/>
                  <a:uLnTx/>
                  <a:uFillTx/>
                  <a:latin typeface="Arial"/>
                  <a:ea typeface="Arial"/>
                  <a:cs typeface="Arial"/>
                  <a:sym typeface="Arial"/>
                </a:rPr>
                <a:t>Application discovery</a:t>
              </a:r>
              <a:endPar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nvGrpSpPr>
          <p:cNvPr id="5" name="Group 4">
            <a:extLst>
              <a:ext uri="{FF2B5EF4-FFF2-40B4-BE49-F238E27FC236}">
                <a16:creationId xmlns:a16="http://schemas.microsoft.com/office/drawing/2014/main" id="{9D706A55-7469-38E6-6A84-BBE50E4B5B07}"/>
              </a:ext>
            </a:extLst>
          </p:cNvPr>
          <p:cNvGrpSpPr/>
          <p:nvPr/>
        </p:nvGrpSpPr>
        <p:grpSpPr>
          <a:xfrm>
            <a:off x="2683193" y="2736860"/>
            <a:ext cx="2214479" cy="3894754"/>
            <a:chOff x="2683193" y="2736860"/>
            <a:chExt cx="2214479" cy="3894754"/>
          </a:xfrm>
        </p:grpSpPr>
        <p:grpSp>
          <p:nvGrpSpPr>
            <p:cNvPr id="204" name="Group 203">
              <a:extLst>
                <a:ext uri="{FF2B5EF4-FFF2-40B4-BE49-F238E27FC236}">
                  <a16:creationId xmlns:a16="http://schemas.microsoft.com/office/drawing/2014/main" id="{B8321807-3B40-95D3-D4C3-5F9065CA4CF8}"/>
                </a:ext>
              </a:extLst>
            </p:cNvPr>
            <p:cNvGrpSpPr/>
            <p:nvPr/>
          </p:nvGrpSpPr>
          <p:grpSpPr>
            <a:xfrm>
              <a:off x="2683193" y="2736860"/>
              <a:ext cx="2214479" cy="3894754"/>
              <a:chOff x="390496" y="2735181"/>
              <a:chExt cx="2214479" cy="3894754"/>
            </a:xfrm>
          </p:grpSpPr>
          <p:sp>
            <p:nvSpPr>
              <p:cNvPr id="205" name="Google Shape;1703;g3345324a5da_0_5673">
                <a:extLst>
                  <a:ext uri="{FF2B5EF4-FFF2-40B4-BE49-F238E27FC236}">
                    <a16:creationId xmlns:a16="http://schemas.microsoft.com/office/drawing/2014/main" id="{52925DD2-6065-2948-01E0-DBFE35DCDB48}"/>
                  </a:ext>
                </a:extLst>
              </p:cNvPr>
              <p:cNvSpPr/>
              <p:nvPr/>
            </p:nvSpPr>
            <p:spPr>
              <a:xfrm>
                <a:off x="390496" y="2735181"/>
                <a:ext cx="2214479" cy="3894754"/>
              </a:xfrm>
              <a:prstGeom prst="roundRect">
                <a:avLst>
                  <a:gd name="adj" fmla="val 6272"/>
                </a:avLst>
              </a:prstGeom>
              <a:gradFill>
                <a:gsLst>
                  <a:gs pos="0">
                    <a:srgbClr val="E8F0F4">
                      <a:alpha val="67144"/>
                    </a:srgbClr>
                  </a:gs>
                  <a:gs pos="100000">
                    <a:srgbClr val="E8F0F4">
                      <a:alpha val="159"/>
                    </a:srgbClr>
                  </a:gs>
                </a:gsLst>
                <a:lin ang="5400012" scaled="0"/>
              </a:gradFill>
              <a:ln>
                <a:noFill/>
              </a:ln>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06" name="Google Shape;1707;g3345324a5da_0_5673">
                <a:extLst>
                  <a:ext uri="{FF2B5EF4-FFF2-40B4-BE49-F238E27FC236}">
                    <a16:creationId xmlns:a16="http://schemas.microsoft.com/office/drawing/2014/main" id="{86B232AD-D52D-0FD3-8A67-9E5F973CE301}"/>
                  </a:ext>
                </a:extLst>
              </p:cNvPr>
              <p:cNvPicPr preferRelativeResize="0"/>
              <p:nvPr/>
            </p:nvPicPr>
            <p:blipFill rotWithShape="1">
              <a:blip r:embed="rId3">
                <a:alphaModFix amt="20000"/>
              </a:blip>
              <a:srcRect l="1472" t="65195" r="2708" b="-31277"/>
              <a:stretch/>
            </p:blipFill>
            <p:spPr>
              <a:xfrm>
                <a:off x="455732" y="4010135"/>
                <a:ext cx="2092866" cy="407658"/>
              </a:xfrm>
              <a:prstGeom prst="rect">
                <a:avLst/>
              </a:prstGeom>
              <a:noFill/>
              <a:ln>
                <a:noFill/>
              </a:ln>
            </p:spPr>
          </p:pic>
          <p:pic>
            <p:nvPicPr>
              <p:cNvPr id="207" name="Google Shape;1707;g3345324a5da_0_5673">
                <a:extLst>
                  <a:ext uri="{FF2B5EF4-FFF2-40B4-BE49-F238E27FC236}">
                    <a16:creationId xmlns:a16="http://schemas.microsoft.com/office/drawing/2014/main" id="{71CE55BA-2926-73C5-1D1C-BA40D2EDD30C}"/>
                  </a:ext>
                </a:extLst>
              </p:cNvPr>
              <p:cNvPicPr preferRelativeResize="0"/>
              <p:nvPr/>
            </p:nvPicPr>
            <p:blipFill rotWithShape="1">
              <a:blip r:embed="rId3">
                <a:alphaModFix amt="20000"/>
              </a:blip>
              <a:srcRect l="1472" t="65195" r="2708" b="-31277"/>
              <a:stretch/>
            </p:blipFill>
            <p:spPr>
              <a:xfrm>
                <a:off x="455732" y="4649031"/>
                <a:ext cx="2092866" cy="407658"/>
              </a:xfrm>
              <a:prstGeom prst="rect">
                <a:avLst/>
              </a:prstGeom>
              <a:noFill/>
              <a:ln>
                <a:noFill/>
              </a:ln>
            </p:spPr>
          </p:pic>
          <p:pic>
            <p:nvPicPr>
              <p:cNvPr id="208" name="Google Shape;1707;g3345324a5da_0_5673">
                <a:extLst>
                  <a:ext uri="{FF2B5EF4-FFF2-40B4-BE49-F238E27FC236}">
                    <a16:creationId xmlns:a16="http://schemas.microsoft.com/office/drawing/2014/main" id="{BE72CB19-A01B-3F4B-6560-7A42046B999C}"/>
                  </a:ext>
                </a:extLst>
              </p:cNvPr>
              <p:cNvPicPr preferRelativeResize="0"/>
              <p:nvPr/>
            </p:nvPicPr>
            <p:blipFill rotWithShape="1">
              <a:blip r:embed="rId3">
                <a:alphaModFix amt="20000"/>
              </a:blip>
              <a:srcRect l="1472" t="65195" r="2708" b="-31277"/>
              <a:stretch/>
            </p:blipFill>
            <p:spPr>
              <a:xfrm>
                <a:off x="455732" y="5251918"/>
                <a:ext cx="2092866" cy="407658"/>
              </a:xfrm>
              <a:prstGeom prst="rect">
                <a:avLst/>
              </a:prstGeom>
              <a:noFill/>
              <a:ln>
                <a:noFill/>
              </a:ln>
            </p:spPr>
          </p:pic>
        </p:grpSp>
        <p:sp>
          <p:nvSpPr>
            <p:cNvPr id="250" name="Text Placeholder 29">
              <a:extLst>
                <a:ext uri="{FF2B5EF4-FFF2-40B4-BE49-F238E27FC236}">
                  <a16:creationId xmlns:a16="http://schemas.microsoft.com/office/drawing/2014/main" id="{14B00062-CDCF-A344-B074-084EEB1DE198}"/>
                </a:ext>
              </a:extLst>
            </p:cNvPr>
            <p:cNvSpPr txBox="1">
              <a:spLocks/>
            </p:cNvSpPr>
            <p:nvPr/>
          </p:nvSpPr>
          <p:spPr>
            <a:xfrm>
              <a:off x="2876032" y="4164859"/>
              <a:ext cx="1828800" cy="405508"/>
            </a:xfrm>
            <a:prstGeom prst="rect">
              <a:avLst/>
            </a:prstGeom>
          </p:spPr>
          <p:txBody>
            <a:bodyPr vert="horz" lIns="0" tIns="0" rIns="0" bIns="0" rtlCol="0">
              <a:noAutofit/>
            </a:bodyPr>
            <a:lstStyle>
              <a:lvl1pPr marL="0" indent="0" algn="ctr" defTabSz="914400" rtl="0" eaLnBrk="1" latinLnBrk="0" hangingPunct="1">
                <a:lnSpc>
                  <a:spcPct val="100000"/>
                </a:lnSpc>
                <a:spcBef>
                  <a:spcPts val="600"/>
                </a:spcBef>
                <a:spcAft>
                  <a:spcPts val="1200"/>
                </a:spcAft>
                <a:buClr>
                  <a:schemeClr val="tx1">
                    <a:lumMod val="60000"/>
                    <a:lumOff val="40000"/>
                  </a:schemeClr>
                </a:buClr>
                <a:buSzPct val="90000"/>
                <a:buFont typeface="Arial" panose="020B0604020202020204" pitchFamily="34" charset="0"/>
                <a:buChar char="​"/>
                <a:defRPr sz="2000" b="0" i="0" kern="1200">
                  <a:solidFill>
                    <a:schemeClr val="accent3"/>
                  </a:solidFill>
                  <a:latin typeface="Arial" panose="020B0604020202020204" pitchFamily="34" charset="0"/>
                  <a:ea typeface="+mn-ea"/>
                  <a:cs typeface="Arial" panose="020B0604020202020204" pitchFamily="34" charset="0"/>
                </a:defRPr>
              </a:lvl1pPr>
              <a:lvl2pPr marL="285750" indent="-285750" algn="ctr" defTabSz="914400" rtl="0" eaLnBrk="1" latinLnBrk="0" hangingPunct="1">
                <a:lnSpc>
                  <a:spcPct val="100000"/>
                </a:lnSpc>
                <a:spcBef>
                  <a:spcPts val="600"/>
                </a:spcBef>
                <a:spcAft>
                  <a:spcPts val="1200"/>
                </a:spcAft>
                <a:buClr>
                  <a:schemeClr val="bg2">
                    <a:lumMod val="25000"/>
                  </a:schemeClr>
                </a:buClr>
                <a:buSzPct val="90000"/>
                <a:buFont typeface="Open Sans" panose="020B0606030504020204" pitchFamily="34" charset="0"/>
                <a:buChar char="​"/>
                <a:defRPr lang="en-US" sz="1600" b="0" i="0" kern="1200" dirty="0">
                  <a:solidFill>
                    <a:schemeClr val="tx1"/>
                  </a:solidFill>
                  <a:latin typeface="Arial" panose="020B0604020202020204" pitchFamily="34" charset="0"/>
                  <a:ea typeface="+mn-ea"/>
                  <a:cs typeface="Arial" panose="020B0604020202020204" pitchFamily="34" charset="0"/>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b="0" i="0" kern="1200">
                  <a:solidFill>
                    <a:schemeClr val="tx1"/>
                  </a:solidFill>
                  <a:latin typeface="Arial" panose="020B0604020202020204" pitchFamily="34" charset="0"/>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b="0" i="0" kern="1200">
                  <a:solidFill>
                    <a:schemeClr val="tx1"/>
                  </a:solidFill>
                  <a:latin typeface="Arial" panose="020B0604020202020204" pitchFamily="34" charset="0"/>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b="0" i="0" kern="1200">
                  <a:solidFill>
                    <a:schemeClr val="tx1"/>
                  </a:solidFill>
                  <a:latin typeface="Arial" panose="020B0604020202020204" pitchFamily="34" charset="0"/>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200" b="0" i="0" u="none" strike="noStrike" kern="1200" cap="none" spc="0" normalizeH="0" baseline="0" noProof="0" dirty="0">
                  <a:ln>
                    <a:noFill/>
                  </a:ln>
                  <a:solidFill>
                    <a:srgbClr val="3C3C3C"/>
                  </a:solidFill>
                  <a:effectLst/>
                  <a:uLnTx/>
                  <a:uFillTx/>
                  <a:latin typeface="Arial"/>
                  <a:ea typeface="Arial"/>
                  <a:cs typeface="Arial"/>
                  <a:sym typeface="Arial"/>
                </a:rPr>
                <a:t>Comprehensive network</a:t>
              </a:r>
            </a:p>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200" b="0" i="0" u="none" strike="noStrike" kern="1200" cap="none" spc="0" normalizeH="0" baseline="0" noProof="0" dirty="0">
                  <a:ln>
                    <a:noFill/>
                  </a:ln>
                  <a:solidFill>
                    <a:srgbClr val="3C3C3C"/>
                  </a:solidFill>
                  <a:effectLst/>
                  <a:uLnTx/>
                  <a:uFillTx/>
                  <a:latin typeface="Arial"/>
                  <a:ea typeface="Arial"/>
                  <a:cs typeface="Arial"/>
                  <a:sym typeface="Arial"/>
                </a:rPr>
                <a:t>policy model</a:t>
              </a:r>
              <a:endParaRPr kumimoji="0" lang="en-US" sz="1000" b="0" i="0" u="none" strike="noStrike" kern="1200" cap="none" spc="0" normalizeH="0" baseline="0" noProof="0" dirty="0">
                <a:ln>
                  <a:noFill/>
                </a:ln>
                <a:solidFill>
                  <a:srgbClr val="0098C7"/>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1000"/>
                </a:spcBef>
                <a:spcAft>
                  <a:spcPts val="0"/>
                </a:spcAft>
                <a:buClr>
                  <a:srgbClr val="000000">
                    <a:lumMod val="60000"/>
                    <a:lumOff val="40000"/>
                  </a:srgbClr>
                </a:buClr>
                <a:buSzPct val="90000"/>
                <a:buFont typeface="Arial" panose="020B0604020202020204" pitchFamily="34" charset="0"/>
                <a:buNone/>
                <a:tabLst/>
                <a:defRPr/>
              </a:pPr>
              <a:endParaRPr kumimoji="0" lang="en-US" sz="1200" b="0" i="0" u="none" strike="noStrike" kern="1200" cap="none" spc="0" normalizeH="0" baseline="0" noProof="0" dirty="0">
                <a:ln>
                  <a:noFill/>
                </a:ln>
                <a:solidFill>
                  <a:srgbClr val="3C3C3C"/>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600"/>
                </a:spcBef>
                <a:spcAft>
                  <a:spcPts val="1200"/>
                </a:spcAft>
                <a:buClr>
                  <a:srgbClr val="000000">
                    <a:lumMod val="60000"/>
                    <a:lumOff val="40000"/>
                  </a:srgbClr>
                </a:buClr>
                <a:buSzPct val="90000"/>
                <a:buFont typeface="Arial" panose="020B0604020202020204" pitchFamily="34" charset="0"/>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07" name="Text Placeholder 15">
              <a:extLst>
                <a:ext uri="{FF2B5EF4-FFF2-40B4-BE49-F238E27FC236}">
                  <a16:creationId xmlns:a16="http://schemas.microsoft.com/office/drawing/2014/main" id="{130E153E-6F46-04EB-5881-1F389AC86F6E}"/>
                </a:ext>
              </a:extLst>
            </p:cNvPr>
            <p:cNvSpPr txBox="1">
              <a:spLocks/>
            </p:cNvSpPr>
            <p:nvPr/>
          </p:nvSpPr>
          <p:spPr>
            <a:xfrm>
              <a:off x="2767758" y="3128301"/>
              <a:ext cx="2045348" cy="1100138"/>
            </a:xfrm>
            <a:prstGeom prst="rect">
              <a:avLst/>
            </a:prstGeom>
          </p:spPr>
          <p:txBody>
            <a:bodyPr vert="horz" lIns="0" tIns="0" rIns="0" bIns="0" rtlCol="0" anchor="ctr" anchorCtr="0">
              <a:noAutofit/>
            </a:bodyPr>
            <a:lstStyle>
              <a:lvl1pPr marL="0" indent="0" algn="ctr" defTabSz="914400" rtl="0" eaLnBrk="1" latinLnBrk="0" hangingPunct="1">
                <a:lnSpc>
                  <a:spcPct val="100000"/>
                </a:lnSpc>
                <a:spcBef>
                  <a:spcPts val="600"/>
                </a:spcBef>
                <a:spcAft>
                  <a:spcPts val="1200"/>
                </a:spcAft>
                <a:buClr>
                  <a:schemeClr val="tx1">
                    <a:lumMod val="60000"/>
                    <a:lumOff val="40000"/>
                  </a:schemeClr>
                </a:buClr>
                <a:buSzPct val="90000"/>
                <a:buFont typeface="Arial" panose="020B0604020202020204" pitchFamily="34" charset="0"/>
                <a:buChar char="​"/>
                <a:defRPr sz="1800" b="0" i="0" kern="1200">
                  <a:solidFill>
                    <a:schemeClr val="accent3"/>
                  </a:solidFill>
                  <a:latin typeface="Arial" panose="020B0604020202020204" pitchFamily="34" charset="0"/>
                  <a:ea typeface="+mn-ea"/>
                  <a:cs typeface="Arial" panose="020B0604020202020204" pitchFamily="34" charset="0"/>
                </a:defRPr>
              </a:lvl1pPr>
              <a:lvl2pPr marL="0" indent="0" algn="ctr" defTabSz="914400" rtl="0" eaLnBrk="1" latinLnBrk="0" hangingPunct="1">
                <a:lnSpc>
                  <a:spcPct val="100000"/>
                </a:lnSpc>
                <a:spcBef>
                  <a:spcPts val="600"/>
                </a:spcBef>
                <a:spcAft>
                  <a:spcPts val="1200"/>
                </a:spcAft>
                <a:buClr>
                  <a:schemeClr val="bg2">
                    <a:lumMod val="25000"/>
                  </a:schemeClr>
                </a:buClr>
                <a:buSzPct val="90000"/>
                <a:buFont typeface="Open Sans" panose="020B0606030504020204" pitchFamily="34" charset="0"/>
                <a:buChar char="​"/>
                <a:defRPr sz="1800" b="0" i="0" kern="1200">
                  <a:solidFill>
                    <a:schemeClr val="tx1"/>
                  </a:solidFill>
                  <a:latin typeface="Arial" panose="020B0604020202020204" pitchFamily="34" charset="0"/>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b="0" i="0" kern="1200">
                  <a:solidFill>
                    <a:schemeClr val="tx1"/>
                  </a:solidFill>
                  <a:latin typeface="Arial" panose="020B0604020202020204" pitchFamily="34" charset="0"/>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b="0" i="0" kern="1200">
                  <a:solidFill>
                    <a:schemeClr val="tx1"/>
                  </a:solidFill>
                  <a:latin typeface="Arial" panose="020B0604020202020204" pitchFamily="34" charset="0"/>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b="0" i="0" kern="1200">
                  <a:solidFill>
                    <a:schemeClr val="tx1"/>
                  </a:solidFill>
                  <a:latin typeface="Arial" panose="020B0604020202020204" pitchFamily="34" charset="0"/>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600" b="0" i="0" u="none" strike="noStrike" kern="1200" cap="none" spc="0" normalizeH="0" baseline="0" noProof="0" dirty="0">
                  <a:ln>
                    <a:noFill/>
                  </a:ln>
                  <a:solidFill>
                    <a:srgbClr val="61A60E"/>
                  </a:solidFill>
                  <a:effectLst/>
                  <a:uLnTx/>
                  <a:uFillTx/>
                  <a:latin typeface="Arial"/>
                  <a:ea typeface="Arial"/>
                  <a:cs typeface="Arial"/>
                  <a:sym typeface="Arial"/>
                </a:rPr>
                <a:t>Simplified K8s Networking</a:t>
              </a:r>
              <a:endParaRPr kumimoji="0" lang="en-US" sz="1200" b="0" i="0" u="none" strike="noStrike" kern="1200" cap="none" spc="0" normalizeH="0" baseline="0" noProof="0" dirty="0">
                <a:ln>
                  <a:noFill/>
                </a:ln>
                <a:solidFill>
                  <a:srgbClr val="0098C7"/>
                </a:solidFill>
                <a:effectLst/>
                <a:uLnTx/>
                <a:uFillTx/>
                <a:latin typeface="Arial" panose="020B0604020202020204" pitchFamily="34" charset="0"/>
                <a:ea typeface="+mn-ea"/>
                <a:cs typeface="Arial" panose="020B0604020202020204" pitchFamily="34" charset="0"/>
              </a:endParaRPr>
            </a:p>
          </p:txBody>
        </p:sp>
        <p:sp>
          <p:nvSpPr>
            <p:cNvPr id="312" name="TextBox 311">
              <a:extLst>
                <a:ext uri="{FF2B5EF4-FFF2-40B4-BE49-F238E27FC236}">
                  <a16:creationId xmlns:a16="http://schemas.microsoft.com/office/drawing/2014/main" id="{6BCED895-286F-C2DF-4ADE-0F527AEB7A59}"/>
                </a:ext>
              </a:extLst>
            </p:cNvPr>
            <p:cNvSpPr txBox="1"/>
            <p:nvPr/>
          </p:nvSpPr>
          <p:spPr>
            <a:xfrm>
              <a:off x="2807785" y="5318647"/>
              <a:ext cx="1965295"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3C3C3C"/>
                  </a:solidFill>
                  <a:effectLst/>
                  <a:uLnTx/>
                  <a:uFillTx/>
                  <a:latin typeface="Arial" panose="020B0604020202020204"/>
                  <a:ea typeface="+mn-ea"/>
                  <a:cs typeface="+mn-cs"/>
                </a:rPr>
                <a:t>Integration</a:t>
              </a:r>
              <a:r>
                <a:rPr kumimoji="0" lang="en-US" sz="1200" b="0" i="0" u="none" strike="noStrike" kern="1200" cap="none" spc="0" normalizeH="0" baseline="0" noProof="0" dirty="0">
                  <a:ln>
                    <a:noFill/>
                  </a:ln>
                  <a:solidFill>
                    <a:srgbClr val="3C3C3C"/>
                  </a:solidFill>
                  <a:effectLst/>
                  <a:uLnTx/>
                  <a:uFillTx/>
                  <a:latin typeface="Arial"/>
                  <a:ea typeface="Arial"/>
                  <a:cs typeface="Arial"/>
                  <a:sym typeface="Arial"/>
                </a:rPr>
                <a:t> with NSX offers a single pane of glass</a:t>
              </a: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17" name="TextBox 316">
              <a:extLst>
                <a:ext uri="{FF2B5EF4-FFF2-40B4-BE49-F238E27FC236}">
                  <a16:creationId xmlns:a16="http://schemas.microsoft.com/office/drawing/2014/main" id="{845122C0-3FCD-69EC-9ED1-F4FDDD005EB6}"/>
                </a:ext>
              </a:extLst>
            </p:cNvPr>
            <p:cNvSpPr txBox="1"/>
            <p:nvPr/>
          </p:nvSpPr>
          <p:spPr>
            <a:xfrm>
              <a:off x="2807785" y="4728944"/>
              <a:ext cx="1965295"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3C3C3C"/>
                  </a:solidFill>
                  <a:effectLst/>
                  <a:uLnTx/>
                  <a:uFillTx/>
                  <a:latin typeface="Arial"/>
                  <a:ea typeface="Arial"/>
                  <a:cs typeface="Arial"/>
                  <a:sym typeface="Arial"/>
                </a:rPr>
                <a:t>K8s platform agnostic </a:t>
              </a:r>
              <a:endPar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nvGrpSpPr>
          <p:cNvPr id="4" name="Group 3">
            <a:extLst>
              <a:ext uri="{FF2B5EF4-FFF2-40B4-BE49-F238E27FC236}">
                <a16:creationId xmlns:a16="http://schemas.microsoft.com/office/drawing/2014/main" id="{AE002EA6-447B-24C0-4CE6-2F88BB792F18}"/>
              </a:ext>
            </a:extLst>
          </p:cNvPr>
          <p:cNvGrpSpPr/>
          <p:nvPr/>
        </p:nvGrpSpPr>
        <p:grpSpPr>
          <a:xfrm>
            <a:off x="390496" y="2735181"/>
            <a:ext cx="2214479" cy="3894754"/>
            <a:chOff x="390496" y="2735181"/>
            <a:chExt cx="2214479" cy="3894754"/>
          </a:xfrm>
        </p:grpSpPr>
        <p:grpSp>
          <p:nvGrpSpPr>
            <p:cNvPr id="243" name="Group 242">
              <a:extLst>
                <a:ext uri="{FF2B5EF4-FFF2-40B4-BE49-F238E27FC236}">
                  <a16:creationId xmlns:a16="http://schemas.microsoft.com/office/drawing/2014/main" id="{96CD8B95-98D3-87C0-FEC7-4BC38F0BC700}"/>
                </a:ext>
              </a:extLst>
            </p:cNvPr>
            <p:cNvGrpSpPr/>
            <p:nvPr/>
          </p:nvGrpSpPr>
          <p:grpSpPr>
            <a:xfrm>
              <a:off x="390496" y="2735181"/>
              <a:ext cx="2214479" cy="3894754"/>
              <a:chOff x="390496" y="2735181"/>
              <a:chExt cx="2214479" cy="3894754"/>
            </a:xfrm>
          </p:grpSpPr>
          <p:sp>
            <p:nvSpPr>
              <p:cNvPr id="244" name="Google Shape;1703;g3345324a5da_0_5673">
                <a:extLst>
                  <a:ext uri="{FF2B5EF4-FFF2-40B4-BE49-F238E27FC236}">
                    <a16:creationId xmlns:a16="http://schemas.microsoft.com/office/drawing/2014/main" id="{20C042E3-54D8-DDE4-E609-4401C29FB652}"/>
                  </a:ext>
                </a:extLst>
              </p:cNvPr>
              <p:cNvSpPr/>
              <p:nvPr/>
            </p:nvSpPr>
            <p:spPr>
              <a:xfrm>
                <a:off x="390496" y="2735181"/>
                <a:ext cx="2214479" cy="3894754"/>
              </a:xfrm>
              <a:prstGeom prst="roundRect">
                <a:avLst>
                  <a:gd name="adj" fmla="val 6272"/>
                </a:avLst>
              </a:prstGeom>
              <a:gradFill>
                <a:gsLst>
                  <a:gs pos="0">
                    <a:srgbClr val="E8F0F4">
                      <a:alpha val="67144"/>
                    </a:srgbClr>
                  </a:gs>
                  <a:gs pos="100000">
                    <a:srgbClr val="E8F0F4">
                      <a:alpha val="159"/>
                    </a:srgbClr>
                  </a:gs>
                </a:gsLst>
                <a:lin ang="5400012" scaled="0"/>
              </a:gradFill>
              <a:ln>
                <a:noFill/>
              </a:ln>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5" name="Google Shape;1707;g3345324a5da_0_5673">
                <a:extLst>
                  <a:ext uri="{FF2B5EF4-FFF2-40B4-BE49-F238E27FC236}">
                    <a16:creationId xmlns:a16="http://schemas.microsoft.com/office/drawing/2014/main" id="{F9FE46AB-E089-92A3-A1A6-14E3EED6D32E}"/>
                  </a:ext>
                </a:extLst>
              </p:cNvPr>
              <p:cNvPicPr preferRelativeResize="0"/>
              <p:nvPr/>
            </p:nvPicPr>
            <p:blipFill rotWithShape="1">
              <a:blip r:embed="rId3">
                <a:alphaModFix amt="20000"/>
              </a:blip>
              <a:srcRect l="1472" t="65195" r="2708" b="-31277"/>
              <a:stretch/>
            </p:blipFill>
            <p:spPr>
              <a:xfrm>
                <a:off x="455732" y="4010135"/>
                <a:ext cx="2092866" cy="407658"/>
              </a:xfrm>
              <a:prstGeom prst="rect">
                <a:avLst/>
              </a:prstGeom>
              <a:noFill/>
              <a:ln>
                <a:noFill/>
              </a:ln>
            </p:spPr>
          </p:pic>
          <p:pic>
            <p:nvPicPr>
              <p:cNvPr id="246" name="Google Shape;1707;g3345324a5da_0_5673">
                <a:extLst>
                  <a:ext uri="{FF2B5EF4-FFF2-40B4-BE49-F238E27FC236}">
                    <a16:creationId xmlns:a16="http://schemas.microsoft.com/office/drawing/2014/main" id="{591E00D2-A46D-5C42-CBFE-E620EE4B7B68}"/>
                  </a:ext>
                </a:extLst>
              </p:cNvPr>
              <p:cNvPicPr preferRelativeResize="0"/>
              <p:nvPr/>
            </p:nvPicPr>
            <p:blipFill rotWithShape="1">
              <a:blip r:embed="rId3">
                <a:alphaModFix amt="20000"/>
              </a:blip>
              <a:srcRect l="1472" t="65195" r="2708" b="-31277"/>
              <a:stretch/>
            </p:blipFill>
            <p:spPr>
              <a:xfrm>
                <a:off x="455732" y="4649031"/>
                <a:ext cx="2092866" cy="407658"/>
              </a:xfrm>
              <a:prstGeom prst="rect">
                <a:avLst/>
              </a:prstGeom>
              <a:noFill/>
              <a:ln>
                <a:noFill/>
              </a:ln>
            </p:spPr>
          </p:pic>
          <p:pic>
            <p:nvPicPr>
              <p:cNvPr id="247" name="Google Shape;1707;g3345324a5da_0_5673">
                <a:extLst>
                  <a:ext uri="{FF2B5EF4-FFF2-40B4-BE49-F238E27FC236}">
                    <a16:creationId xmlns:a16="http://schemas.microsoft.com/office/drawing/2014/main" id="{F20D8BB0-4508-1A75-5C37-E97462966122}"/>
                  </a:ext>
                </a:extLst>
              </p:cNvPr>
              <p:cNvPicPr preferRelativeResize="0"/>
              <p:nvPr/>
            </p:nvPicPr>
            <p:blipFill rotWithShape="1">
              <a:blip r:embed="rId3">
                <a:alphaModFix amt="20000"/>
              </a:blip>
              <a:srcRect l="1472" t="65195" r="2708" b="-31277"/>
              <a:stretch/>
            </p:blipFill>
            <p:spPr>
              <a:xfrm>
                <a:off x="455732" y="5251918"/>
                <a:ext cx="2092866" cy="407658"/>
              </a:xfrm>
              <a:prstGeom prst="rect">
                <a:avLst/>
              </a:prstGeom>
              <a:noFill/>
              <a:ln>
                <a:noFill/>
              </a:ln>
            </p:spPr>
          </p:pic>
        </p:grpSp>
        <p:sp>
          <p:nvSpPr>
            <p:cNvPr id="249" name="Text Placeholder 31">
              <a:extLst>
                <a:ext uri="{FF2B5EF4-FFF2-40B4-BE49-F238E27FC236}">
                  <a16:creationId xmlns:a16="http://schemas.microsoft.com/office/drawing/2014/main" id="{D3EF3F05-4006-FCB8-2E67-E2A608398B25}"/>
                </a:ext>
              </a:extLst>
            </p:cNvPr>
            <p:cNvSpPr txBox="1">
              <a:spLocks/>
            </p:cNvSpPr>
            <p:nvPr/>
          </p:nvSpPr>
          <p:spPr>
            <a:xfrm>
              <a:off x="565547" y="4164859"/>
              <a:ext cx="1864376" cy="378676"/>
            </a:xfrm>
            <a:prstGeom prst="rect">
              <a:avLst/>
            </a:prstGeom>
          </p:spPr>
          <p:txBody>
            <a:bodyPr vert="horz" lIns="0" tIns="0" rIns="0" bIns="0" rtlCol="0">
              <a:noAutofit/>
            </a:bodyPr>
            <a:lstStyle>
              <a:lvl1pPr marL="0" indent="0" algn="ctr" defTabSz="914400" rtl="0" eaLnBrk="1" latinLnBrk="0" hangingPunct="1">
                <a:lnSpc>
                  <a:spcPct val="100000"/>
                </a:lnSpc>
                <a:spcBef>
                  <a:spcPts val="600"/>
                </a:spcBef>
                <a:spcAft>
                  <a:spcPts val="1200"/>
                </a:spcAft>
                <a:buClr>
                  <a:schemeClr val="tx1">
                    <a:lumMod val="60000"/>
                    <a:lumOff val="40000"/>
                  </a:schemeClr>
                </a:buClr>
                <a:buSzPct val="90000"/>
                <a:buFont typeface="Arial" panose="020B0604020202020204" pitchFamily="34" charset="0"/>
                <a:buChar char="​"/>
                <a:defRPr sz="2000" b="0" i="0" kern="1200">
                  <a:solidFill>
                    <a:schemeClr val="accent4"/>
                  </a:solidFill>
                  <a:latin typeface="Arial" panose="020B0604020202020204" pitchFamily="34" charset="0"/>
                  <a:ea typeface="+mn-ea"/>
                  <a:cs typeface="Arial" panose="020B0604020202020204" pitchFamily="34" charset="0"/>
                </a:defRPr>
              </a:lvl1pPr>
              <a:lvl2pPr marL="0" indent="0" algn="ctr" defTabSz="914400" rtl="0" eaLnBrk="1" latinLnBrk="0" hangingPunct="1">
                <a:lnSpc>
                  <a:spcPct val="100000"/>
                </a:lnSpc>
                <a:spcBef>
                  <a:spcPts val="600"/>
                </a:spcBef>
                <a:spcAft>
                  <a:spcPts val="1200"/>
                </a:spcAft>
                <a:buClr>
                  <a:schemeClr val="bg2">
                    <a:lumMod val="25000"/>
                  </a:schemeClr>
                </a:buClr>
                <a:buSzPct val="90000"/>
                <a:buFont typeface="Open Sans" panose="020B0606030504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b="0" i="0" kern="1200">
                  <a:solidFill>
                    <a:schemeClr val="tx1"/>
                  </a:solidFill>
                  <a:latin typeface="Arial" panose="020B0604020202020204" pitchFamily="34" charset="0"/>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b="0" i="0" kern="1200">
                  <a:solidFill>
                    <a:schemeClr val="tx1"/>
                  </a:solidFill>
                  <a:latin typeface="Arial" panose="020B0604020202020204" pitchFamily="34" charset="0"/>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b="0" i="0" kern="1200">
                  <a:solidFill>
                    <a:schemeClr val="tx1"/>
                  </a:solidFill>
                  <a:latin typeface="Arial" panose="020B0604020202020204" pitchFamily="34" charset="0"/>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200" b="0" i="0" u="none" strike="noStrike" kern="1200" cap="none" spc="0" normalizeH="0" baseline="0" noProof="0" dirty="0">
                  <a:ln>
                    <a:noFill/>
                  </a:ln>
                  <a:solidFill>
                    <a:srgbClr val="3C3C3C"/>
                  </a:solidFill>
                  <a:effectLst/>
                  <a:uLnTx/>
                  <a:uFillTx/>
                  <a:latin typeface="Arial"/>
                  <a:ea typeface="Arial"/>
                  <a:cs typeface="Arial"/>
                  <a:sym typeface="Arial"/>
                </a:rPr>
                <a:t>Self-service networks </a:t>
              </a:r>
              <a:br>
                <a:rPr kumimoji="0" lang="en-US" sz="1200" b="0" i="0" u="none" strike="noStrike" kern="1200" cap="none" spc="0" normalizeH="0" baseline="0" noProof="0" dirty="0">
                  <a:ln>
                    <a:noFill/>
                  </a:ln>
                  <a:solidFill>
                    <a:srgbClr val="3C3C3C"/>
                  </a:solidFill>
                  <a:effectLst/>
                  <a:uLnTx/>
                  <a:uFillTx/>
                  <a:latin typeface="Arial"/>
                  <a:ea typeface="Arial"/>
                  <a:cs typeface="Arial"/>
                  <a:sym typeface="Arial"/>
                </a:rPr>
              </a:br>
              <a:r>
                <a:rPr kumimoji="0" lang="en-US" sz="1200" b="0" i="0" u="none" strike="noStrike" kern="1200" cap="none" spc="0" normalizeH="0" baseline="0" noProof="0" dirty="0">
                  <a:ln>
                    <a:noFill/>
                  </a:ln>
                  <a:solidFill>
                    <a:srgbClr val="3C3C3C"/>
                  </a:solidFill>
                  <a:effectLst/>
                  <a:uLnTx/>
                  <a:uFillTx/>
                  <a:latin typeface="Arial"/>
                  <a:ea typeface="Arial"/>
                  <a:cs typeface="Arial"/>
                  <a:sym typeface="Arial"/>
                </a:rPr>
                <a:t>with Virtual Private Cloud</a:t>
              </a:r>
              <a:endParaRPr kumimoji="0" lang="en-US" sz="1000" b="0" i="0" u="none" strike="noStrike" kern="1200" cap="none" spc="0" normalizeH="0" baseline="0" noProof="0" dirty="0">
                <a:ln>
                  <a:noFill/>
                </a:ln>
                <a:solidFill>
                  <a:srgbClr val="61A60E"/>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600"/>
                </a:spcBef>
                <a:spcAft>
                  <a:spcPts val="1200"/>
                </a:spcAft>
                <a:buClr>
                  <a:srgbClr val="000000">
                    <a:lumMod val="60000"/>
                    <a:lumOff val="40000"/>
                  </a:srgbClr>
                </a:buClr>
                <a:buSzPct val="90000"/>
                <a:buFont typeface="Arial" panose="020B0604020202020204" pitchFamily="34" charset="0"/>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600"/>
                </a:spcBef>
                <a:spcAft>
                  <a:spcPts val="1200"/>
                </a:spcAft>
                <a:buClr>
                  <a:srgbClr val="000000">
                    <a:lumMod val="60000"/>
                    <a:lumOff val="40000"/>
                  </a:srgbClr>
                </a:buClr>
                <a:buSzPct val="90000"/>
                <a:buFont typeface="Arial" panose="020B0604020202020204" pitchFamily="34" charset="0"/>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600"/>
                </a:spcBef>
                <a:spcAft>
                  <a:spcPts val="1200"/>
                </a:spcAft>
                <a:buClr>
                  <a:srgbClr val="000000">
                    <a:lumMod val="60000"/>
                    <a:lumOff val="40000"/>
                  </a:srgbClr>
                </a:buClr>
                <a:buSzPct val="90000"/>
                <a:buFont typeface="Arial" panose="020B0604020202020204" pitchFamily="34" charset="0"/>
                <a:buNone/>
                <a:tabLst/>
                <a:defRPr/>
              </a:pPr>
              <a:endParaRPr kumimoji="0" lang="en-US" sz="12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06" name="Text Placeholder 13">
              <a:extLst>
                <a:ext uri="{FF2B5EF4-FFF2-40B4-BE49-F238E27FC236}">
                  <a16:creationId xmlns:a16="http://schemas.microsoft.com/office/drawing/2014/main" id="{3FA24F92-91DB-A272-711A-062A2BC22CE9}"/>
                </a:ext>
              </a:extLst>
            </p:cNvPr>
            <p:cNvSpPr txBox="1">
              <a:spLocks/>
            </p:cNvSpPr>
            <p:nvPr/>
          </p:nvSpPr>
          <p:spPr>
            <a:xfrm>
              <a:off x="475061" y="3128301"/>
              <a:ext cx="2045348" cy="1100138"/>
            </a:xfrm>
            <a:prstGeom prst="rect">
              <a:avLst/>
            </a:prstGeom>
          </p:spPr>
          <p:txBody>
            <a:bodyPr vert="horz" lIns="0" tIns="0" rIns="0" bIns="0" rtlCol="0" anchor="ctr" anchorCtr="0">
              <a:noAutofit/>
            </a:bodyPr>
            <a:lstStyle>
              <a:lvl1pPr marL="0" indent="0" algn="ctr" defTabSz="914400" rtl="0" eaLnBrk="1" latinLnBrk="0" hangingPunct="1">
                <a:lnSpc>
                  <a:spcPct val="100000"/>
                </a:lnSpc>
                <a:spcBef>
                  <a:spcPts val="600"/>
                </a:spcBef>
                <a:spcAft>
                  <a:spcPts val="1200"/>
                </a:spcAft>
                <a:buClr>
                  <a:schemeClr val="tx1">
                    <a:lumMod val="60000"/>
                    <a:lumOff val="40000"/>
                  </a:schemeClr>
                </a:buClr>
                <a:buSzPct val="90000"/>
                <a:buFont typeface="Arial" panose="020B0604020202020204" pitchFamily="34" charset="0"/>
                <a:buChar char="​"/>
                <a:defRPr sz="1800" b="0" i="0" kern="1200">
                  <a:solidFill>
                    <a:schemeClr val="accent4"/>
                  </a:solidFill>
                  <a:latin typeface="Arial" panose="020B0604020202020204" pitchFamily="34" charset="0"/>
                  <a:ea typeface="+mn-ea"/>
                  <a:cs typeface="Arial" panose="020B0604020202020204" pitchFamily="34" charset="0"/>
                </a:defRPr>
              </a:lvl1pPr>
              <a:lvl2pPr marL="0" indent="0" algn="ctr" defTabSz="914400" rtl="0" eaLnBrk="1" latinLnBrk="0" hangingPunct="1">
                <a:lnSpc>
                  <a:spcPct val="100000"/>
                </a:lnSpc>
                <a:spcBef>
                  <a:spcPts val="600"/>
                </a:spcBef>
                <a:spcAft>
                  <a:spcPts val="1200"/>
                </a:spcAft>
                <a:buClr>
                  <a:schemeClr val="bg2">
                    <a:lumMod val="25000"/>
                  </a:schemeClr>
                </a:buClr>
                <a:buSzPct val="90000"/>
                <a:buFont typeface="Open Sans" panose="020B0606030504020204" pitchFamily="34" charset="0"/>
                <a:buChar char="​"/>
                <a:defRPr sz="1800" b="0" i="0" kern="1200">
                  <a:solidFill>
                    <a:schemeClr val="tx1"/>
                  </a:solidFill>
                  <a:latin typeface="Arial" panose="020B0604020202020204" pitchFamily="34" charset="0"/>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b="0" i="0" kern="1200">
                  <a:solidFill>
                    <a:schemeClr val="tx1"/>
                  </a:solidFill>
                  <a:latin typeface="Arial" panose="020B0604020202020204" pitchFamily="34" charset="0"/>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b="0" i="0" kern="1200">
                  <a:solidFill>
                    <a:schemeClr val="tx1"/>
                  </a:solidFill>
                  <a:latin typeface="Arial" panose="020B0604020202020204" pitchFamily="34" charset="0"/>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b="0" i="0" kern="1200">
                  <a:solidFill>
                    <a:schemeClr val="tx1"/>
                  </a:solidFill>
                  <a:latin typeface="Arial" panose="020B0604020202020204" pitchFamily="34" charset="0"/>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600" b="0" i="0" u="none" strike="noStrike" kern="1200" cap="none" spc="0" normalizeH="0" baseline="0" noProof="0" dirty="0">
                  <a:ln>
                    <a:noFill/>
                  </a:ln>
                  <a:solidFill>
                    <a:srgbClr val="0098C7"/>
                  </a:solidFill>
                  <a:effectLst/>
                  <a:uLnTx/>
                  <a:uFillTx/>
                  <a:latin typeface="Arial"/>
                  <a:ea typeface="Arial"/>
                  <a:cs typeface="Arial"/>
                  <a:sym typeface="Arial"/>
                </a:rPr>
                <a:t>Integrated</a:t>
              </a:r>
              <a:endParaRPr kumimoji="0" lang="en-US" sz="1200" b="0" i="0" u="none" strike="noStrike" kern="1200" cap="none" spc="0" normalizeH="0" baseline="0" noProof="0" dirty="0">
                <a:ln>
                  <a:noFill/>
                </a:ln>
                <a:solidFill>
                  <a:srgbClr val="61A60E"/>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600" b="0" i="0" u="none" strike="noStrike" kern="1200" cap="none" spc="0" normalizeH="0" baseline="0" noProof="0" dirty="0">
                  <a:ln>
                    <a:noFill/>
                  </a:ln>
                  <a:solidFill>
                    <a:srgbClr val="0098C7"/>
                  </a:solidFill>
                  <a:effectLst/>
                  <a:uLnTx/>
                  <a:uFillTx/>
                  <a:latin typeface="Arial"/>
                  <a:ea typeface="Arial"/>
                  <a:cs typeface="Arial"/>
                  <a:sym typeface="Arial"/>
                </a:rPr>
                <a:t>SDN</a:t>
              </a:r>
              <a:endParaRPr kumimoji="0" lang="en-US" sz="1200" b="0" i="0" u="none" strike="noStrike" kern="1200" cap="none" spc="0" normalizeH="0" baseline="0" noProof="0" dirty="0">
                <a:ln>
                  <a:noFill/>
                </a:ln>
                <a:solidFill>
                  <a:srgbClr val="61A60E"/>
                </a:solidFill>
                <a:effectLst/>
                <a:uLnTx/>
                <a:uFillTx/>
                <a:latin typeface="Arial" panose="020B0604020202020204" pitchFamily="34" charset="0"/>
                <a:ea typeface="+mn-ea"/>
                <a:cs typeface="Arial" panose="020B0604020202020204" pitchFamily="34" charset="0"/>
              </a:endParaRPr>
            </a:p>
          </p:txBody>
        </p:sp>
        <p:sp>
          <p:nvSpPr>
            <p:cNvPr id="316" name="TextBox 315">
              <a:extLst>
                <a:ext uri="{FF2B5EF4-FFF2-40B4-BE49-F238E27FC236}">
                  <a16:creationId xmlns:a16="http://schemas.microsoft.com/office/drawing/2014/main" id="{62C00C58-AB82-8975-81E3-FF5A035F9836}"/>
                </a:ext>
              </a:extLst>
            </p:cNvPr>
            <p:cNvSpPr txBox="1"/>
            <p:nvPr/>
          </p:nvSpPr>
          <p:spPr>
            <a:xfrm>
              <a:off x="515088" y="5318647"/>
              <a:ext cx="1965295"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3C3C3C"/>
                  </a:solidFill>
                  <a:effectLst/>
                  <a:uLnTx/>
                  <a:uFillTx/>
                  <a:latin typeface="Arial"/>
                  <a:ea typeface="Arial"/>
                  <a:cs typeface="Arial"/>
                  <a:sym typeface="Arial"/>
                </a:rPr>
                <a:t>Consistent networking policies across sites</a:t>
              </a:r>
              <a:endPar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21" name="TextBox 320">
              <a:extLst>
                <a:ext uri="{FF2B5EF4-FFF2-40B4-BE49-F238E27FC236}">
                  <a16:creationId xmlns:a16="http://schemas.microsoft.com/office/drawing/2014/main" id="{BC675C99-4AF5-328E-4EEC-EF22F3FE38EE}"/>
                </a:ext>
              </a:extLst>
            </p:cNvPr>
            <p:cNvSpPr txBox="1"/>
            <p:nvPr/>
          </p:nvSpPr>
          <p:spPr>
            <a:xfrm>
              <a:off x="515088" y="4728944"/>
              <a:ext cx="1965295"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3C3C3C"/>
                  </a:solidFill>
                  <a:effectLst/>
                  <a:uLnTx/>
                  <a:uFillTx/>
                  <a:latin typeface="Arial"/>
                  <a:ea typeface="Arial"/>
                  <a:cs typeface="Arial"/>
                  <a:sym typeface="Arial"/>
                </a:rPr>
                <a:t>Virtual distributed switching &amp; routing</a:t>
              </a:r>
              <a:endPar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sp>
        <p:nvSpPr>
          <p:cNvPr id="2" name="Title 1">
            <a:extLst>
              <a:ext uri="{FF2B5EF4-FFF2-40B4-BE49-F238E27FC236}">
                <a16:creationId xmlns:a16="http://schemas.microsoft.com/office/drawing/2014/main" id="{072F8079-D652-82C9-C044-C7B1EB341F08}"/>
              </a:ext>
            </a:extLst>
          </p:cNvPr>
          <p:cNvSpPr>
            <a:spLocks noGrp="1"/>
          </p:cNvSpPr>
          <p:nvPr>
            <p:ph type="title"/>
          </p:nvPr>
        </p:nvSpPr>
        <p:spPr/>
        <p:txBody>
          <a:bodyPr/>
          <a:lstStyle/>
          <a:p>
            <a:r>
              <a:rPr lang="en-US" dirty="0"/>
              <a:t>Network Virtualization is Required to Deliver a Modern Private Cloud</a:t>
            </a:r>
          </a:p>
        </p:txBody>
      </p:sp>
      <p:sp>
        <p:nvSpPr>
          <p:cNvPr id="248" name="Google Shape;2591;p19">
            <a:extLst>
              <a:ext uri="{FF2B5EF4-FFF2-40B4-BE49-F238E27FC236}">
                <a16:creationId xmlns:a16="http://schemas.microsoft.com/office/drawing/2014/main" id="{73A134BD-D6FB-3BD0-58AB-A3DA6DE7E2B6}"/>
              </a:ext>
            </a:extLst>
          </p:cNvPr>
          <p:cNvSpPr/>
          <p:nvPr/>
        </p:nvSpPr>
        <p:spPr>
          <a:xfrm>
            <a:off x="1005934" y="2194193"/>
            <a:ext cx="983602" cy="985802"/>
          </a:xfrm>
          <a:prstGeom prst="ellipse">
            <a:avLst/>
          </a:prstGeom>
          <a:solidFill>
            <a:schemeClr val="accent3"/>
          </a:solidFill>
          <a:ln w="25400" cap="flat" cmpd="sng">
            <a:solidFill>
              <a:schemeClr val="accent3"/>
            </a:solidFill>
            <a:prstDash val="solid"/>
            <a:round/>
            <a:headEnd type="none" w="sm" len="sm"/>
            <a:tailEnd type="none" w="sm" len="sm"/>
          </a:ln>
          <a:effectLst>
            <a:outerShdw sx="120000" sy="120000" algn="ctr" rotWithShape="0">
              <a:schemeClr val="bg1"/>
            </a:outerShdw>
          </a:effectLst>
        </p:spPr>
        <p:txBody>
          <a:bodyPr spcFirstLastPara="1" wrap="square" lIns="82200" tIns="41075" rIns="82200" bIns="410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54" name="Text Placeholder 13">
            <a:extLst>
              <a:ext uri="{FF2B5EF4-FFF2-40B4-BE49-F238E27FC236}">
                <a16:creationId xmlns:a16="http://schemas.microsoft.com/office/drawing/2014/main" id="{7CB23F62-42D0-B17B-8104-9ECE9DB8562B}"/>
              </a:ext>
            </a:extLst>
          </p:cNvPr>
          <p:cNvSpPr txBox="1">
            <a:spLocks/>
          </p:cNvSpPr>
          <p:nvPr/>
        </p:nvSpPr>
        <p:spPr>
          <a:xfrm>
            <a:off x="475061" y="1019973"/>
            <a:ext cx="2045348" cy="1100138"/>
          </a:xfrm>
          <a:prstGeom prst="rect">
            <a:avLst/>
          </a:prstGeom>
        </p:spPr>
        <p:txBody>
          <a:bodyPr vert="horz" lIns="0" tIns="0" rIns="0" bIns="0" rtlCol="0" anchor="ctr" anchorCtr="0">
            <a:noAutofit/>
          </a:bodyPr>
          <a:lstStyle>
            <a:lvl1pPr marL="0" indent="0" algn="ctr" defTabSz="914400" rtl="0" eaLnBrk="1" latinLnBrk="0" hangingPunct="1">
              <a:lnSpc>
                <a:spcPct val="100000"/>
              </a:lnSpc>
              <a:spcBef>
                <a:spcPts val="600"/>
              </a:spcBef>
              <a:spcAft>
                <a:spcPts val="1200"/>
              </a:spcAft>
              <a:buClr>
                <a:schemeClr val="tx1">
                  <a:lumMod val="60000"/>
                  <a:lumOff val="40000"/>
                </a:schemeClr>
              </a:buClr>
              <a:buSzPct val="90000"/>
              <a:buFont typeface="Arial" panose="020B0604020202020204" pitchFamily="34" charset="0"/>
              <a:buChar char="​"/>
              <a:defRPr sz="1800" b="0" i="0" kern="1200">
                <a:solidFill>
                  <a:schemeClr val="accent4"/>
                </a:solidFill>
                <a:latin typeface="Arial" panose="020B0604020202020204" pitchFamily="34" charset="0"/>
                <a:ea typeface="+mn-ea"/>
                <a:cs typeface="Arial" panose="020B0604020202020204" pitchFamily="34" charset="0"/>
              </a:defRPr>
            </a:lvl1pPr>
            <a:lvl2pPr marL="0" indent="0" algn="ctr" defTabSz="914400" rtl="0" eaLnBrk="1" latinLnBrk="0" hangingPunct="1">
              <a:lnSpc>
                <a:spcPct val="100000"/>
              </a:lnSpc>
              <a:spcBef>
                <a:spcPts val="600"/>
              </a:spcBef>
              <a:spcAft>
                <a:spcPts val="1200"/>
              </a:spcAft>
              <a:buClr>
                <a:schemeClr val="bg2">
                  <a:lumMod val="25000"/>
                </a:schemeClr>
              </a:buClr>
              <a:buSzPct val="90000"/>
              <a:buFont typeface="Open Sans" panose="020B0606030504020204" pitchFamily="34" charset="0"/>
              <a:buChar char="​"/>
              <a:defRPr sz="1800" b="0" i="0" kern="1200">
                <a:solidFill>
                  <a:schemeClr val="tx1"/>
                </a:solidFill>
                <a:latin typeface="Arial" panose="020B0604020202020204" pitchFamily="34" charset="0"/>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b="0" i="0" kern="1200">
                <a:solidFill>
                  <a:schemeClr val="tx1"/>
                </a:solidFill>
                <a:latin typeface="Arial" panose="020B0604020202020204" pitchFamily="34" charset="0"/>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b="0" i="0" kern="1200">
                <a:solidFill>
                  <a:schemeClr val="tx1"/>
                </a:solidFill>
                <a:latin typeface="Arial" panose="020B0604020202020204" pitchFamily="34" charset="0"/>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b="0" i="0" kern="1200">
                <a:solidFill>
                  <a:schemeClr val="tx1"/>
                </a:solidFill>
                <a:latin typeface="Arial" panose="020B0604020202020204" pitchFamily="34" charset="0"/>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600" b="0" i="0" u="none" strike="noStrike" kern="1200" cap="none" spc="0" normalizeH="0" baseline="0" noProof="0" dirty="0">
                <a:ln>
                  <a:noFill/>
                </a:ln>
                <a:solidFill>
                  <a:srgbClr val="0098C7"/>
                </a:solidFill>
                <a:effectLst/>
                <a:uLnTx/>
                <a:uFillTx/>
                <a:latin typeface="Arial"/>
                <a:ea typeface="Arial"/>
                <a:cs typeface="Arial"/>
                <a:sym typeface="Arial"/>
              </a:rPr>
              <a:t>Network </a:t>
            </a:r>
            <a:br>
              <a:rPr kumimoji="0" lang="en-US" sz="1600" b="0" i="0" u="none" strike="noStrike" kern="1200" cap="none" spc="0" normalizeH="0" baseline="0" noProof="0" dirty="0">
                <a:ln>
                  <a:noFill/>
                </a:ln>
                <a:solidFill>
                  <a:srgbClr val="0098C7"/>
                </a:solidFill>
                <a:effectLst/>
                <a:uLnTx/>
                <a:uFillTx/>
                <a:latin typeface="Arial"/>
                <a:ea typeface="Arial"/>
                <a:cs typeface="Arial"/>
                <a:sym typeface="Arial"/>
              </a:rPr>
            </a:br>
            <a:r>
              <a:rPr kumimoji="0" lang="en-US" sz="1600" b="0" i="0" u="none" strike="noStrike" kern="1200" cap="none" spc="0" normalizeH="0" baseline="0" noProof="0" dirty="0">
                <a:ln>
                  <a:noFill/>
                </a:ln>
                <a:solidFill>
                  <a:srgbClr val="0098C7"/>
                </a:solidFill>
                <a:effectLst/>
                <a:uLnTx/>
                <a:uFillTx/>
                <a:latin typeface="Arial"/>
                <a:ea typeface="Arial"/>
                <a:cs typeface="Arial"/>
                <a:sym typeface="Arial"/>
              </a:rPr>
              <a:t>Virtualization</a:t>
            </a:r>
            <a:endParaRPr kumimoji="0" lang="en-US" sz="1200" b="0" i="0" u="none" strike="noStrike" kern="1200" cap="none" spc="0" normalizeH="0" baseline="0" noProof="0" dirty="0">
              <a:ln>
                <a:noFill/>
              </a:ln>
              <a:solidFill>
                <a:srgbClr val="61A60E"/>
              </a:solidFill>
              <a:effectLst/>
              <a:uLnTx/>
              <a:uFillTx/>
              <a:latin typeface="Arial" panose="020B0604020202020204" pitchFamily="34" charset="0"/>
              <a:ea typeface="+mn-ea"/>
              <a:cs typeface="Arial" panose="020B0604020202020204" pitchFamily="34" charset="0"/>
            </a:endParaRPr>
          </a:p>
        </p:txBody>
      </p:sp>
      <p:sp>
        <p:nvSpPr>
          <p:cNvPr id="255" name="Text Placeholder 15">
            <a:extLst>
              <a:ext uri="{FF2B5EF4-FFF2-40B4-BE49-F238E27FC236}">
                <a16:creationId xmlns:a16="http://schemas.microsoft.com/office/drawing/2014/main" id="{04255C10-CF8C-9F2F-300C-2484772EDB13}"/>
              </a:ext>
            </a:extLst>
          </p:cNvPr>
          <p:cNvSpPr txBox="1">
            <a:spLocks/>
          </p:cNvSpPr>
          <p:nvPr/>
        </p:nvSpPr>
        <p:spPr>
          <a:xfrm>
            <a:off x="2767758" y="1019973"/>
            <a:ext cx="2045348" cy="1100138"/>
          </a:xfrm>
          <a:prstGeom prst="rect">
            <a:avLst/>
          </a:prstGeom>
        </p:spPr>
        <p:txBody>
          <a:bodyPr vert="horz" lIns="0" tIns="0" rIns="0" bIns="0" rtlCol="0" anchor="ctr" anchorCtr="0">
            <a:noAutofit/>
          </a:bodyPr>
          <a:lstStyle>
            <a:lvl1pPr marL="0" indent="0" algn="ctr" defTabSz="914400" rtl="0" eaLnBrk="1" latinLnBrk="0" hangingPunct="1">
              <a:lnSpc>
                <a:spcPct val="100000"/>
              </a:lnSpc>
              <a:spcBef>
                <a:spcPts val="600"/>
              </a:spcBef>
              <a:spcAft>
                <a:spcPts val="1200"/>
              </a:spcAft>
              <a:buClr>
                <a:schemeClr val="tx1">
                  <a:lumMod val="60000"/>
                  <a:lumOff val="40000"/>
                </a:schemeClr>
              </a:buClr>
              <a:buSzPct val="90000"/>
              <a:buFont typeface="Arial" panose="020B0604020202020204" pitchFamily="34" charset="0"/>
              <a:buChar char="​"/>
              <a:defRPr sz="1800" b="0" i="0" kern="1200">
                <a:solidFill>
                  <a:schemeClr val="accent3"/>
                </a:solidFill>
                <a:latin typeface="Arial" panose="020B0604020202020204" pitchFamily="34" charset="0"/>
                <a:ea typeface="+mn-ea"/>
                <a:cs typeface="Arial" panose="020B0604020202020204" pitchFamily="34" charset="0"/>
              </a:defRPr>
            </a:lvl1pPr>
            <a:lvl2pPr marL="0" indent="0" algn="ctr" defTabSz="914400" rtl="0" eaLnBrk="1" latinLnBrk="0" hangingPunct="1">
              <a:lnSpc>
                <a:spcPct val="100000"/>
              </a:lnSpc>
              <a:spcBef>
                <a:spcPts val="600"/>
              </a:spcBef>
              <a:spcAft>
                <a:spcPts val="1200"/>
              </a:spcAft>
              <a:buClr>
                <a:schemeClr val="bg2">
                  <a:lumMod val="25000"/>
                </a:schemeClr>
              </a:buClr>
              <a:buSzPct val="90000"/>
              <a:buFont typeface="Open Sans" panose="020B0606030504020204" pitchFamily="34" charset="0"/>
              <a:buChar char="​"/>
              <a:defRPr sz="1800" b="0" i="0" kern="1200">
                <a:solidFill>
                  <a:schemeClr val="tx1"/>
                </a:solidFill>
                <a:latin typeface="Arial" panose="020B0604020202020204" pitchFamily="34" charset="0"/>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b="0" i="0" kern="1200">
                <a:solidFill>
                  <a:schemeClr val="tx1"/>
                </a:solidFill>
                <a:latin typeface="Arial" panose="020B0604020202020204" pitchFamily="34" charset="0"/>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b="0" i="0" kern="1200">
                <a:solidFill>
                  <a:schemeClr val="tx1"/>
                </a:solidFill>
                <a:latin typeface="Arial" panose="020B0604020202020204" pitchFamily="34" charset="0"/>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b="0" i="0" kern="1200">
                <a:solidFill>
                  <a:schemeClr val="tx1"/>
                </a:solidFill>
                <a:latin typeface="Arial" panose="020B0604020202020204" pitchFamily="34" charset="0"/>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600" b="0" i="0" u="none" strike="noStrike" kern="1200" cap="none" spc="0" normalizeH="0" baseline="0" noProof="0" dirty="0">
                <a:ln>
                  <a:noFill/>
                </a:ln>
                <a:solidFill>
                  <a:srgbClr val="61A60E"/>
                </a:solidFill>
                <a:effectLst/>
                <a:uLnTx/>
                <a:uFillTx/>
                <a:latin typeface="Arial"/>
                <a:ea typeface="Arial"/>
                <a:cs typeface="Arial"/>
                <a:sym typeface="Arial"/>
              </a:rPr>
              <a:t>Modern Apps </a:t>
            </a:r>
            <a:br>
              <a:rPr kumimoji="0" lang="en-US" sz="1600" b="0" i="0" u="none" strike="noStrike" kern="1200" cap="none" spc="0" normalizeH="0" baseline="0" noProof="0" dirty="0">
                <a:ln>
                  <a:noFill/>
                </a:ln>
                <a:solidFill>
                  <a:srgbClr val="61A60E"/>
                </a:solidFill>
                <a:effectLst/>
                <a:uLnTx/>
                <a:uFillTx/>
                <a:latin typeface="Arial"/>
                <a:ea typeface="Arial"/>
                <a:cs typeface="Arial"/>
                <a:sym typeface="Arial"/>
              </a:rPr>
            </a:br>
            <a:r>
              <a:rPr kumimoji="0" lang="en-US" sz="1600" b="0" i="0" u="none" strike="noStrike" kern="1200" cap="none" spc="0" normalizeH="0" baseline="0" noProof="0" dirty="0">
                <a:ln>
                  <a:noFill/>
                </a:ln>
                <a:solidFill>
                  <a:srgbClr val="61A60E"/>
                </a:solidFill>
                <a:effectLst/>
                <a:uLnTx/>
                <a:uFillTx/>
                <a:latin typeface="Arial"/>
                <a:ea typeface="Arial"/>
                <a:cs typeface="Arial"/>
                <a:sym typeface="Arial"/>
              </a:rPr>
              <a:t>Networking </a:t>
            </a:r>
            <a:endParaRPr kumimoji="0" lang="en-US" sz="1200" b="0" i="0" u="none" strike="noStrike" kern="1200" cap="none" spc="0" normalizeH="0" baseline="0" noProof="0" dirty="0">
              <a:ln>
                <a:noFill/>
              </a:ln>
              <a:solidFill>
                <a:srgbClr val="0098C7"/>
              </a:solidFill>
              <a:effectLst/>
              <a:uLnTx/>
              <a:uFillTx/>
              <a:latin typeface="Arial" panose="020B0604020202020204" pitchFamily="34" charset="0"/>
              <a:ea typeface="+mn-ea"/>
              <a:cs typeface="Arial" panose="020B0604020202020204" pitchFamily="34" charset="0"/>
            </a:endParaRPr>
          </a:p>
        </p:txBody>
      </p:sp>
      <p:sp>
        <p:nvSpPr>
          <p:cNvPr id="256" name="Text Placeholder 17">
            <a:extLst>
              <a:ext uri="{FF2B5EF4-FFF2-40B4-BE49-F238E27FC236}">
                <a16:creationId xmlns:a16="http://schemas.microsoft.com/office/drawing/2014/main" id="{E18166D0-68D8-DAD7-B962-128878CEBBFB}"/>
              </a:ext>
            </a:extLst>
          </p:cNvPr>
          <p:cNvSpPr txBox="1">
            <a:spLocks/>
          </p:cNvSpPr>
          <p:nvPr/>
        </p:nvSpPr>
        <p:spPr>
          <a:xfrm>
            <a:off x="5061622" y="1019973"/>
            <a:ext cx="2043023" cy="1100138"/>
          </a:xfrm>
          <a:prstGeom prst="rect">
            <a:avLst/>
          </a:prstGeom>
        </p:spPr>
        <p:txBody>
          <a:bodyPr vert="horz" lIns="0" tIns="0" rIns="0" bIns="0" rtlCol="0" anchor="ctr" anchorCtr="0">
            <a:noAutofit/>
          </a:bodyPr>
          <a:lstStyle>
            <a:lvl1pPr marL="0" indent="0" algn="ctr" defTabSz="914400" rtl="0" eaLnBrk="1" latinLnBrk="0" hangingPunct="1">
              <a:lnSpc>
                <a:spcPct val="100000"/>
              </a:lnSpc>
              <a:spcBef>
                <a:spcPts val="600"/>
              </a:spcBef>
              <a:spcAft>
                <a:spcPts val="1200"/>
              </a:spcAft>
              <a:buClr>
                <a:schemeClr val="tx1">
                  <a:lumMod val="60000"/>
                  <a:lumOff val="40000"/>
                </a:schemeClr>
              </a:buClr>
              <a:buSzPct val="90000"/>
              <a:buFont typeface="Arial" panose="020B0604020202020204" pitchFamily="34" charset="0"/>
              <a:buChar char="​"/>
              <a:defRPr sz="1800" b="0" i="0" kern="1200">
                <a:solidFill>
                  <a:schemeClr val="accent2"/>
                </a:solidFill>
                <a:latin typeface="Arial" panose="020B0604020202020204" pitchFamily="34" charset="0"/>
                <a:ea typeface="+mn-ea"/>
                <a:cs typeface="Arial" panose="020B0604020202020204" pitchFamily="34" charset="0"/>
              </a:defRPr>
            </a:lvl1pPr>
            <a:lvl2pPr marL="0" indent="0" algn="ctr" defTabSz="914400" rtl="0" eaLnBrk="1" latinLnBrk="0" hangingPunct="1">
              <a:lnSpc>
                <a:spcPct val="100000"/>
              </a:lnSpc>
              <a:spcBef>
                <a:spcPts val="600"/>
              </a:spcBef>
              <a:spcAft>
                <a:spcPts val="1200"/>
              </a:spcAft>
              <a:buClr>
                <a:schemeClr val="bg2">
                  <a:lumMod val="25000"/>
                </a:schemeClr>
              </a:buClr>
              <a:buSzPct val="90000"/>
              <a:buFont typeface="Open Sans" panose="020B0606030504020204" pitchFamily="34" charset="0"/>
              <a:buChar char="​"/>
              <a:defRPr sz="1800" b="0" i="0" kern="1200">
                <a:solidFill>
                  <a:schemeClr val="tx1"/>
                </a:solidFill>
                <a:latin typeface="Arial" panose="020B0604020202020204" pitchFamily="34" charset="0"/>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b="0" i="0" kern="1200">
                <a:solidFill>
                  <a:schemeClr val="tx1"/>
                </a:solidFill>
                <a:latin typeface="Arial" panose="020B0604020202020204" pitchFamily="34" charset="0"/>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b="0" i="0" kern="1200">
                <a:solidFill>
                  <a:schemeClr val="tx1"/>
                </a:solidFill>
                <a:latin typeface="Arial" panose="020B0604020202020204" pitchFamily="34" charset="0"/>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b="0" i="0" kern="1200">
                <a:solidFill>
                  <a:schemeClr val="tx1"/>
                </a:solidFill>
                <a:latin typeface="Arial" panose="020B0604020202020204" pitchFamily="34" charset="0"/>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600" b="0" i="0" u="none" strike="noStrike" kern="1200" cap="none" spc="0" normalizeH="0" baseline="0" noProof="0" dirty="0">
                <a:ln>
                  <a:noFill/>
                </a:ln>
                <a:solidFill>
                  <a:srgbClr val="007B8C"/>
                </a:solidFill>
                <a:effectLst/>
                <a:uLnTx/>
                <a:uFillTx/>
                <a:latin typeface="Arial"/>
                <a:ea typeface="Arial"/>
                <a:cs typeface="Arial"/>
                <a:sym typeface="Arial"/>
              </a:rPr>
              <a:t>Network Visibility </a:t>
            </a:r>
            <a:br>
              <a:rPr kumimoji="0" lang="en-US" sz="1600" b="0" i="0" u="none" strike="noStrike" kern="1200" cap="none" spc="0" normalizeH="0" baseline="0" noProof="0" dirty="0">
                <a:ln>
                  <a:noFill/>
                </a:ln>
                <a:solidFill>
                  <a:srgbClr val="007B8C"/>
                </a:solidFill>
                <a:effectLst/>
                <a:uLnTx/>
                <a:uFillTx/>
                <a:latin typeface="Arial"/>
                <a:ea typeface="Arial"/>
                <a:cs typeface="Arial"/>
                <a:sym typeface="Arial"/>
              </a:rPr>
            </a:br>
            <a:r>
              <a:rPr kumimoji="0" lang="en-US" sz="1600" b="0" i="0" u="none" strike="noStrike" kern="1200" cap="none" spc="0" normalizeH="0" baseline="0" noProof="0" dirty="0">
                <a:ln>
                  <a:noFill/>
                </a:ln>
                <a:solidFill>
                  <a:srgbClr val="007B8C"/>
                </a:solidFill>
                <a:effectLst/>
                <a:uLnTx/>
                <a:uFillTx/>
                <a:latin typeface="Arial"/>
                <a:ea typeface="Arial"/>
                <a:cs typeface="Arial"/>
                <a:sym typeface="Arial"/>
              </a:rPr>
              <a:t>and Troubleshooting</a:t>
            </a:r>
            <a:endParaRPr kumimoji="0" lang="en-US" sz="1200" b="0" i="0" u="none" strike="noStrike" kern="1200" cap="none" spc="0" normalizeH="0" baseline="0" noProof="0" dirty="0">
              <a:ln>
                <a:noFill/>
              </a:ln>
              <a:solidFill>
                <a:srgbClr val="005C8A"/>
              </a:solidFill>
              <a:effectLst/>
              <a:uLnTx/>
              <a:uFillTx/>
              <a:latin typeface="Arial" panose="020B0604020202020204" pitchFamily="34" charset="0"/>
              <a:ea typeface="+mn-ea"/>
              <a:cs typeface="Arial" panose="020B0604020202020204" pitchFamily="34" charset="0"/>
            </a:endParaRPr>
          </a:p>
        </p:txBody>
      </p:sp>
      <p:sp>
        <p:nvSpPr>
          <p:cNvPr id="257" name="Text Placeholder 21">
            <a:extLst>
              <a:ext uri="{FF2B5EF4-FFF2-40B4-BE49-F238E27FC236}">
                <a16:creationId xmlns:a16="http://schemas.microsoft.com/office/drawing/2014/main" id="{98985B20-7AC7-430F-FE3F-2B9DE71A1CD1}"/>
              </a:ext>
            </a:extLst>
          </p:cNvPr>
          <p:cNvSpPr txBox="1">
            <a:spLocks/>
          </p:cNvSpPr>
          <p:nvPr/>
        </p:nvSpPr>
        <p:spPr>
          <a:xfrm>
            <a:off x="7343114" y="1019973"/>
            <a:ext cx="2045348" cy="1100138"/>
          </a:xfrm>
          <a:prstGeom prst="rect">
            <a:avLst/>
          </a:prstGeom>
        </p:spPr>
        <p:txBody>
          <a:bodyPr vert="horz" lIns="0" tIns="0" rIns="0" bIns="0" rtlCol="0" anchor="ctr" anchorCtr="0">
            <a:noAutofit/>
          </a:bodyPr>
          <a:lstStyle>
            <a:lvl1pPr marL="0" indent="0" algn="ctr" defTabSz="914400" rtl="0" eaLnBrk="1" latinLnBrk="0" hangingPunct="1">
              <a:lnSpc>
                <a:spcPct val="100000"/>
              </a:lnSpc>
              <a:spcBef>
                <a:spcPts val="600"/>
              </a:spcBef>
              <a:spcAft>
                <a:spcPts val="1200"/>
              </a:spcAft>
              <a:buClr>
                <a:schemeClr val="tx1">
                  <a:lumMod val="60000"/>
                  <a:lumOff val="40000"/>
                </a:schemeClr>
              </a:buClr>
              <a:buSzPct val="90000"/>
              <a:buFont typeface="Arial" panose="020B0604020202020204" pitchFamily="34" charset="0"/>
              <a:buChar char="​"/>
              <a:defRPr sz="1800" b="0" i="0" kern="1200">
                <a:solidFill>
                  <a:schemeClr val="accent5"/>
                </a:solidFill>
                <a:latin typeface="Arial" panose="020B0604020202020204" pitchFamily="34" charset="0"/>
                <a:ea typeface="+mn-ea"/>
                <a:cs typeface="Arial" panose="020B0604020202020204" pitchFamily="34" charset="0"/>
              </a:defRPr>
            </a:lvl1pPr>
            <a:lvl2pPr marL="0" indent="0" algn="ctr" defTabSz="914400" rtl="0" eaLnBrk="1" latinLnBrk="0" hangingPunct="1">
              <a:lnSpc>
                <a:spcPct val="100000"/>
              </a:lnSpc>
              <a:spcBef>
                <a:spcPts val="600"/>
              </a:spcBef>
              <a:spcAft>
                <a:spcPts val="1200"/>
              </a:spcAft>
              <a:buClr>
                <a:schemeClr val="bg2">
                  <a:lumMod val="25000"/>
                </a:schemeClr>
              </a:buClr>
              <a:buSzPct val="90000"/>
              <a:buFont typeface="Open Sans" panose="020B0606030504020204" pitchFamily="34" charset="0"/>
              <a:buChar char="​"/>
              <a:defRPr sz="1800" b="0" i="0" kern="1200">
                <a:solidFill>
                  <a:schemeClr val="tx1"/>
                </a:solidFill>
                <a:latin typeface="Arial" panose="020B0604020202020204" pitchFamily="34" charset="0"/>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b="0" i="0" kern="1200">
                <a:solidFill>
                  <a:schemeClr val="tx1"/>
                </a:solidFill>
                <a:latin typeface="Arial" panose="020B0604020202020204" pitchFamily="34" charset="0"/>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b="0" i="0" kern="1200">
                <a:solidFill>
                  <a:schemeClr val="tx1"/>
                </a:solidFill>
                <a:latin typeface="Arial" panose="020B0604020202020204" pitchFamily="34" charset="0"/>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b="0" i="0" kern="1200">
                <a:solidFill>
                  <a:schemeClr val="tx1"/>
                </a:solidFill>
                <a:latin typeface="Arial" panose="020B0604020202020204" pitchFamily="34" charset="0"/>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600" b="0" i="0" u="none" strike="noStrike" kern="1200" cap="none" spc="0" normalizeH="0" baseline="0" noProof="0" dirty="0">
                <a:ln>
                  <a:noFill/>
                </a:ln>
                <a:solidFill>
                  <a:srgbClr val="005C8A"/>
                </a:solidFill>
                <a:effectLst/>
                <a:uLnTx/>
                <a:uFillTx/>
                <a:latin typeface="Arial"/>
                <a:ea typeface="Arial"/>
                <a:cs typeface="Arial"/>
                <a:sym typeface="Arial"/>
              </a:rPr>
              <a:t>Workload </a:t>
            </a:r>
            <a:endParaRPr kumimoji="0" lang="en-US" sz="1200" b="0" i="0" u="none" strike="noStrike" kern="1200" cap="none" spc="0" normalizeH="0" baseline="0" noProof="0" dirty="0">
              <a:ln>
                <a:noFill/>
              </a:ln>
              <a:solidFill>
                <a:srgbClr val="6C4B94"/>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600" b="0" i="0" u="none" strike="noStrike" kern="1200" cap="none" spc="0" normalizeH="0" baseline="0" noProof="0" dirty="0">
                <a:ln>
                  <a:noFill/>
                </a:ln>
                <a:solidFill>
                  <a:srgbClr val="005C8A"/>
                </a:solidFill>
                <a:effectLst/>
                <a:uLnTx/>
                <a:uFillTx/>
                <a:latin typeface="Arial"/>
                <a:ea typeface="Arial"/>
                <a:cs typeface="Arial"/>
                <a:sym typeface="Arial"/>
              </a:rPr>
              <a:t>Mobility</a:t>
            </a:r>
            <a:endParaRPr kumimoji="0" lang="en-US" sz="1200" b="0" i="0" u="none" strike="noStrike" kern="1200" cap="none" spc="0" normalizeH="0" baseline="0" noProof="0" dirty="0">
              <a:ln>
                <a:noFill/>
              </a:ln>
              <a:solidFill>
                <a:srgbClr val="6C4B94"/>
              </a:solidFill>
              <a:effectLst/>
              <a:uLnTx/>
              <a:uFillTx/>
              <a:latin typeface="Arial" panose="020B0604020202020204" pitchFamily="34" charset="0"/>
              <a:ea typeface="+mn-ea"/>
              <a:cs typeface="Arial" panose="020B0604020202020204" pitchFamily="34" charset="0"/>
            </a:endParaRPr>
          </a:p>
        </p:txBody>
      </p:sp>
      <p:sp>
        <p:nvSpPr>
          <p:cNvPr id="258" name="Text Placeholder 19">
            <a:extLst>
              <a:ext uri="{FF2B5EF4-FFF2-40B4-BE49-F238E27FC236}">
                <a16:creationId xmlns:a16="http://schemas.microsoft.com/office/drawing/2014/main" id="{EE1C393E-D422-42BB-06F2-009E7014454D}"/>
              </a:ext>
            </a:extLst>
          </p:cNvPr>
          <p:cNvSpPr txBox="1">
            <a:spLocks/>
          </p:cNvSpPr>
          <p:nvPr/>
        </p:nvSpPr>
        <p:spPr>
          <a:xfrm>
            <a:off x="9625767" y="1019973"/>
            <a:ext cx="2045348" cy="1100138"/>
          </a:xfrm>
          <a:prstGeom prst="rect">
            <a:avLst/>
          </a:prstGeom>
        </p:spPr>
        <p:txBody>
          <a:bodyPr vert="horz" lIns="0" tIns="0" rIns="0" bIns="0" rtlCol="0" anchor="ctr" anchorCtr="0">
            <a:noAutofit/>
          </a:bodyPr>
          <a:lstStyle>
            <a:lvl1pPr marL="0" indent="0" algn="ctr" defTabSz="914400" rtl="0" eaLnBrk="1" latinLnBrk="0" hangingPunct="1">
              <a:lnSpc>
                <a:spcPct val="100000"/>
              </a:lnSpc>
              <a:spcBef>
                <a:spcPts val="600"/>
              </a:spcBef>
              <a:spcAft>
                <a:spcPts val="1200"/>
              </a:spcAft>
              <a:buClr>
                <a:schemeClr val="tx1">
                  <a:lumMod val="60000"/>
                  <a:lumOff val="40000"/>
                </a:schemeClr>
              </a:buClr>
              <a:buSzPct val="90000"/>
              <a:buFont typeface="Arial" panose="020B0604020202020204" pitchFamily="34" charset="0"/>
              <a:buChar char="​"/>
              <a:defRPr sz="1800" b="0" i="0" kern="1200">
                <a:solidFill>
                  <a:schemeClr val="bg2">
                    <a:lumMod val="25000"/>
                  </a:schemeClr>
                </a:solidFill>
                <a:latin typeface="Arial" panose="020B0604020202020204" pitchFamily="34" charset="0"/>
                <a:ea typeface="+mn-ea"/>
                <a:cs typeface="Arial" panose="020B0604020202020204" pitchFamily="34" charset="0"/>
              </a:defRPr>
            </a:lvl1pPr>
            <a:lvl2pPr marL="0" indent="0" algn="ctr" defTabSz="914400" rtl="0" eaLnBrk="1" latinLnBrk="0" hangingPunct="1">
              <a:lnSpc>
                <a:spcPct val="100000"/>
              </a:lnSpc>
              <a:spcBef>
                <a:spcPts val="600"/>
              </a:spcBef>
              <a:spcAft>
                <a:spcPts val="1200"/>
              </a:spcAft>
              <a:buClr>
                <a:schemeClr val="bg2">
                  <a:lumMod val="25000"/>
                </a:schemeClr>
              </a:buClr>
              <a:buSzPct val="90000"/>
              <a:buFont typeface="Open Sans" panose="020B0606030504020204" pitchFamily="34" charset="0"/>
              <a:buChar char="​"/>
              <a:defRPr sz="1800" b="0" i="0" kern="1200">
                <a:solidFill>
                  <a:schemeClr val="tx1"/>
                </a:solidFill>
                <a:latin typeface="Arial" panose="020B0604020202020204" pitchFamily="34" charset="0"/>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b="0" i="0" kern="1200">
                <a:solidFill>
                  <a:schemeClr val="tx1"/>
                </a:solidFill>
                <a:latin typeface="Arial" panose="020B0604020202020204" pitchFamily="34" charset="0"/>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b="0" i="0" kern="1200">
                <a:solidFill>
                  <a:schemeClr val="tx1"/>
                </a:solidFill>
                <a:latin typeface="Arial" panose="020B0604020202020204" pitchFamily="34" charset="0"/>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b="0" i="0" kern="1200">
                <a:solidFill>
                  <a:schemeClr val="tx1"/>
                </a:solidFill>
                <a:latin typeface="Arial" panose="020B0604020202020204" pitchFamily="34" charset="0"/>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600" b="0" i="0" u="none" strike="noStrike" kern="1200" cap="none" spc="0" normalizeH="0" baseline="0" noProof="0" dirty="0">
                <a:ln>
                  <a:noFill/>
                </a:ln>
                <a:solidFill>
                  <a:srgbClr val="6C4B94"/>
                </a:solidFill>
                <a:effectLst/>
                <a:uLnTx/>
                <a:uFillTx/>
                <a:latin typeface="Arial"/>
                <a:ea typeface="Arial"/>
                <a:cs typeface="Arial"/>
                <a:sym typeface="Arial"/>
              </a:rPr>
              <a:t>Lateral</a:t>
            </a:r>
            <a:endParaRPr kumimoji="0" lang="en-US" sz="1200" b="0" i="0" u="none" strike="noStrike" kern="1200" cap="none" spc="0" normalizeH="0" baseline="0" noProof="0" dirty="0">
              <a:ln>
                <a:noFill/>
              </a:ln>
              <a:solidFill>
                <a:srgbClr val="EEEEEE">
                  <a:lumMod val="25000"/>
                </a:srgbClr>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000000">
                  <a:lumMod val="60000"/>
                  <a:lumOff val="40000"/>
                </a:srgbClr>
              </a:buClr>
              <a:buSzPct val="90000"/>
              <a:buFont typeface="Arial" panose="020B0604020202020204" pitchFamily="34" charset="0"/>
              <a:buNone/>
              <a:tabLst/>
              <a:defRPr/>
            </a:pPr>
            <a:r>
              <a:rPr kumimoji="0" lang="en-US" sz="1600" b="0" i="0" u="none" strike="noStrike" kern="1200" cap="none" spc="0" normalizeH="0" baseline="0" noProof="0" dirty="0">
                <a:ln>
                  <a:noFill/>
                </a:ln>
                <a:solidFill>
                  <a:srgbClr val="6C4B94"/>
                </a:solidFill>
                <a:effectLst/>
                <a:uLnTx/>
                <a:uFillTx/>
                <a:latin typeface="Arial"/>
                <a:ea typeface="Arial"/>
                <a:cs typeface="Arial"/>
                <a:sym typeface="Arial"/>
              </a:rPr>
              <a:t>Security*</a:t>
            </a:r>
            <a:endParaRPr kumimoji="0" lang="en-US" sz="1200" b="0" i="0" u="none" strike="noStrike" kern="1200" cap="none" spc="0" normalizeH="0" baseline="0" noProof="0" dirty="0">
              <a:ln>
                <a:noFill/>
              </a:ln>
              <a:solidFill>
                <a:srgbClr val="EEEEEE">
                  <a:lumMod val="25000"/>
                </a:srgbClr>
              </a:solidFill>
              <a:effectLst/>
              <a:uLnTx/>
              <a:uFillTx/>
              <a:latin typeface="Arial" panose="020B0604020202020204" pitchFamily="34" charset="0"/>
              <a:ea typeface="+mn-ea"/>
              <a:cs typeface="Arial" panose="020B0604020202020204" pitchFamily="34" charset="0"/>
            </a:endParaRPr>
          </a:p>
        </p:txBody>
      </p:sp>
      <p:grpSp>
        <p:nvGrpSpPr>
          <p:cNvPr id="259" name="Google Shape;2590;p19">
            <a:extLst>
              <a:ext uri="{FF2B5EF4-FFF2-40B4-BE49-F238E27FC236}">
                <a16:creationId xmlns:a16="http://schemas.microsoft.com/office/drawing/2014/main" id="{7939429D-8C63-2FDF-60B7-3C539906558B}"/>
              </a:ext>
            </a:extLst>
          </p:cNvPr>
          <p:cNvGrpSpPr/>
          <p:nvPr/>
        </p:nvGrpSpPr>
        <p:grpSpPr>
          <a:xfrm>
            <a:off x="1005934" y="2194193"/>
            <a:ext cx="983602" cy="985802"/>
            <a:chOff x="964956" y="1631191"/>
            <a:chExt cx="983602" cy="985802"/>
          </a:xfrm>
        </p:grpSpPr>
        <p:sp>
          <p:nvSpPr>
            <p:cNvPr id="260" name="Google Shape;2591;p19">
              <a:extLst>
                <a:ext uri="{FF2B5EF4-FFF2-40B4-BE49-F238E27FC236}">
                  <a16:creationId xmlns:a16="http://schemas.microsoft.com/office/drawing/2014/main" id="{C273794B-7F47-07CB-9D01-57A83A04DC17}"/>
                </a:ext>
              </a:extLst>
            </p:cNvPr>
            <p:cNvSpPr/>
            <p:nvPr/>
          </p:nvSpPr>
          <p:spPr>
            <a:xfrm>
              <a:off x="964956" y="1631191"/>
              <a:ext cx="983602" cy="985802"/>
            </a:xfrm>
            <a:prstGeom prst="ellipse">
              <a:avLst/>
            </a:prstGeom>
            <a:solidFill>
              <a:schemeClr val="accent3"/>
            </a:solidFill>
            <a:ln w="25400" cap="flat" cmpd="sng">
              <a:solidFill>
                <a:schemeClr val="accent3"/>
              </a:solidFill>
              <a:prstDash val="solid"/>
              <a:round/>
              <a:headEnd type="none" w="sm" len="sm"/>
              <a:tailEnd type="none" w="sm" len="sm"/>
            </a:ln>
            <a:effectLst>
              <a:outerShdw sx="120000" sy="120000" algn="ctr" rotWithShape="0">
                <a:schemeClr val="accent3">
                  <a:alpha val="23921"/>
                </a:schemeClr>
              </a:outerShdw>
            </a:effectLst>
          </p:spPr>
          <p:txBody>
            <a:bodyPr spcFirstLastPara="1" wrap="square" lIns="82200" tIns="41075" rIns="82200" bIns="410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261" name="Google Shape;2592;p19">
              <a:extLst>
                <a:ext uri="{FF2B5EF4-FFF2-40B4-BE49-F238E27FC236}">
                  <a16:creationId xmlns:a16="http://schemas.microsoft.com/office/drawing/2014/main" id="{46F127ED-CB4E-B727-CFEB-B6CFE3BE06AB}"/>
                </a:ext>
              </a:extLst>
            </p:cNvPr>
            <p:cNvGrpSpPr/>
            <p:nvPr/>
          </p:nvGrpSpPr>
          <p:grpSpPr>
            <a:xfrm>
              <a:off x="1174622" y="1841368"/>
              <a:ext cx="564271" cy="565448"/>
              <a:chOff x="7933486" y="3950685"/>
              <a:chExt cx="512974" cy="514044"/>
            </a:xfrm>
          </p:grpSpPr>
          <p:sp>
            <p:nvSpPr>
              <p:cNvPr id="262" name="Google Shape;2593;p19">
                <a:extLst>
                  <a:ext uri="{FF2B5EF4-FFF2-40B4-BE49-F238E27FC236}">
                    <a16:creationId xmlns:a16="http://schemas.microsoft.com/office/drawing/2014/main" id="{155AD740-2634-A7C6-9D46-9635307ED308}"/>
                  </a:ext>
                </a:extLst>
              </p:cNvPr>
              <p:cNvSpPr/>
              <p:nvPr/>
            </p:nvSpPr>
            <p:spPr>
              <a:xfrm>
                <a:off x="7933486" y="3950685"/>
                <a:ext cx="512974" cy="514044"/>
              </a:xfrm>
              <a:custGeom>
                <a:avLst/>
                <a:gdLst/>
                <a:ahLst/>
                <a:cxnLst/>
                <a:rect l="l" t="t" r="r" b="b"/>
                <a:pathLst>
                  <a:path w="600837" h="602089" extrusionOk="0">
                    <a:moveTo>
                      <a:pt x="300419" y="15844"/>
                    </a:moveTo>
                    <a:cubicBezTo>
                      <a:pt x="457603" y="15844"/>
                      <a:pt x="585026" y="143533"/>
                      <a:pt x="585026" y="301045"/>
                    </a:cubicBezTo>
                    <a:cubicBezTo>
                      <a:pt x="585026" y="458556"/>
                      <a:pt x="457603" y="586245"/>
                      <a:pt x="300419" y="586245"/>
                    </a:cubicBezTo>
                    <a:cubicBezTo>
                      <a:pt x="143234" y="586245"/>
                      <a:pt x="15812" y="458556"/>
                      <a:pt x="15812" y="301045"/>
                    </a:cubicBezTo>
                    <a:cubicBezTo>
                      <a:pt x="15986" y="143605"/>
                      <a:pt x="143307" y="16019"/>
                      <a:pt x="300419" y="15844"/>
                    </a:cubicBezTo>
                    <a:moveTo>
                      <a:pt x="300419" y="0"/>
                    </a:moveTo>
                    <a:cubicBezTo>
                      <a:pt x="134502" y="0"/>
                      <a:pt x="0" y="134782"/>
                      <a:pt x="0" y="301045"/>
                    </a:cubicBezTo>
                    <a:cubicBezTo>
                      <a:pt x="0" y="467307"/>
                      <a:pt x="134502" y="602089"/>
                      <a:pt x="300419" y="602089"/>
                    </a:cubicBezTo>
                    <a:cubicBezTo>
                      <a:pt x="466335" y="602089"/>
                      <a:pt x="600837" y="467307"/>
                      <a:pt x="600837" y="301045"/>
                    </a:cubicBezTo>
                    <a:cubicBezTo>
                      <a:pt x="600837" y="134782"/>
                      <a:pt x="466335" y="0"/>
                      <a:pt x="300419"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63" name="Google Shape;2594;p19">
                <a:extLst>
                  <a:ext uri="{FF2B5EF4-FFF2-40B4-BE49-F238E27FC236}">
                    <a16:creationId xmlns:a16="http://schemas.microsoft.com/office/drawing/2014/main" id="{DC2CA480-C784-3C06-8260-568FAB7B86BB}"/>
                  </a:ext>
                </a:extLst>
              </p:cNvPr>
              <p:cNvSpPr/>
              <p:nvPr/>
            </p:nvSpPr>
            <p:spPr>
              <a:xfrm>
                <a:off x="8323616" y="4170371"/>
                <a:ext cx="80996" cy="81164"/>
              </a:xfrm>
              <a:custGeom>
                <a:avLst/>
                <a:gdLst/>
                <a:ahLst/>
                <a:cxnLst/>
                <a:rect l="l" t="t" r="r" b="b"/>
                <a:pathLst>
                  <a:path w="94869" h="95066" extrusionOk="0">
                    <a:moveTo>
                      <a:pt x="94869" y="47533"/>
                    </a:moveTo>
                    <a:cubicBezTo>
                      <a:pt x="94869" y="73785"/>
                      <a:pt x="73632" y="95067"/>
                      <a:pt x="47435" y="95067"/>
                    </a:cubicBezTo>
                    <a:cubicBezTo>
                      <a:pt x="21237" y="95067"/>
                      <a:pt x="0" y="73785"/>
                      <a:pt x="0" y="47533"/>
                    </a:cubicBezTo>
                    <a:cubicBezTo>
                      <a:pt x="0" y="21281"/>
                      <a:pt x="21237" y="0"/>
                      <a:pt x="47435" y="0"/>
                    </a:cubicBezTo>
                    <a:cubicBezTo>
                      <a:pt x="73632" y="0"/>
                      <a:pt x="94869" y="21281"/>
                      <a:pt x="94869" y="475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64" name="Google Shape;2595;p19">
                <a:extLst>
                  <a:ext uri="{FF2B5EF4-FFF2-40B4-BE49-F238E27FC236}">
                    <a16:creationId xmlns:a16="http://schemas.microsoft.com/office/drawing/2014/main" id="{BB2EF111-EA0B-4001-D311-DFF756430934}"/>
                  </a:ext>
                </a:extLst>
              </p:cNvPr>
              <p:cNvSpPr/>
              <p:nvPr/>
            </p:nvSpPr>
            <p:spPr>
              <a:xfrm>
                <a:off x="7978034" y="4170371"/>
                <a:ext cx="80996" cy="81164"/>
              </a:xfrm>
              <a:custGeom>
                <a:avLst/>
                <a:gdLst/>
                <a:ahLst/>
                <a:cxnLst/>
                <a:rect l="l" t="t" r="r" b="b"/>
                <a:pathLst>
                  <a:path w="94869" h="95066" extrusionOk="0">
                    <a:moveTo>
                      <a:pt x="94869" y="47533"/>
                    </a:moveTo>
                    <a:cubicBezTo>
                      <a:pt x="94869" y="73785"/>
                      <a:pt x="73632" y="95067"/>
                      <a:pt x="47435" y="95067"/>
                    </a:cubicBezTo>
                    <a:cubicBezTo>
                      <a:pt x="21237" y="95067"/>
                      <a:pt x="0" y="73785"/>
                      <a:pt x="0" y="47533"/>
                    </a:cubicBezTo>
                    <a:cubicBezTo>
                      <a:pt x="0" y="21281"/>
                      <a:pt x="21237" y="0"/>
                      <a:pt x="47435" y="0"/>
                    </a:cubicBezTo>
                    <a:cubicBezTo>
                      <a:pt x="73632" y="0"/>
                      <a:pt x="94869" y="21281"/>
                      <a:pt x="94869" y="475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65" name="Google Shape;2596;p19">
                <a:extLst>
                  <a:ext uri="{FF2B5EF4-FFF2-40B4-BE49-F238E27FC236}">
                    <a16:creationId xmlns:a16="http://schemas.microsoft.com/office/drawing/2014/main" id="{190137BB-F9B6-9743-B10A-771BC5C5A9AF}"/>
                  </a:ext>
                </a:extLst>
              </p:cNvPr>
              <p:cNvSpPr/>
              <p:nvPr/>
            </p:nvSpPr>
            <p:spPr>
              <a:xfrm>
                <a:off x="8150825" y="3995326"/>
                <a:ext cx="80996" cy="81164"/>
              </a:xfrm>
              <a:custGeom>
                <a:avLst/>
                <a:gdLst/>
                <a:ahLst/>
                <a:cxnLst/>
                <a:rect l="l" t="t" r="r" b="b"/>
                <a:pathLst>
                  <a:path w="94869" h="95066" extrusionOk="0">
                    <a:moveTo>
                      <a:pt x="94869" y="47533"/>
                    </a:moveTo>
                    <a:cubicBezTo>
                      <a:pt x="94869" y="73785"/>
                      <a:pt x="73632" y="95067"/>
                      <a:pt x="47435" y="95067"/>
                    </a:cubicBezTo>
                    <a:cubicBezTo>
                      <a:pt x="21237" y="95067"/>
                      <a:pt x="0" y="73785"/>
                      <a:pt x="0" y="47533"/>
                    </a:cubicBezTo>
                    <a:cubicBezTo>
                      <a:pt x="0" y="21281"/>
                      <a:pt x="21237" y="0"/>
                      <a:pt x="47435" y="0"/>
                    </a:cubicBezTo>
                    <a:cubicBezTo>
                      <a:pt x="73632" y="0"/>
                      <a:pt x="94869" y="21281"/>
                      <a:pt x="94869" y="475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66" name="Google Shape;2597;p19">
                <a:extLst>
                  <a:ext uri="{FF2B5EF4-FFF2-40B4-BE49-F238E27FC236}">
                    <a16:creationId xmlns:a16="http://schemas.microsoft.com/office/drawing/2014/main" id="{FF408FDC-E618-EC3D-07F5-5A112A43FB61}"/>
                  </a:ext>
                </a:extLst>
              </p:cNvPr>
              <p:cNvSpPr/>
              <p:nvPr/>
            </p:nvSpPr>
            <p:spPr>
              <a:xfrm>
                <a:off x="8150825" y="4338707"/>
                <a:ext cx="80996" cy="81164"/>
              </a:xfrm>
              <a:custGeom>
                <a:avLst/>
                <a:gdLst/>
                <a:ahLst/>
                <a:cxnLst/>
                <a:rect l="l" t="t" r="r" b="b"/>
                <a:pathLst>
                  <a:path w="94869" h="95066" extrusionOk="0">
                    <a:moveTo>
                      <a:pt x="94869" y="47533"/>
                    </a:moveTo>
                    <a:cubicBezTo>
                      <a:pt x="94869" y="73785"/>
                      <a:pt x="73632" y="95067"/>
                      <a:pt x="47435" y="95067"/>
                    </a:cubicBezTo>
                    <a:cubicBezTo>
                      <a:pt x="21237" y="95067"/>
                      <a:pt x="0" y="73785"/>
                      <a:pt x="0" y="47533"/>
                    </a:cubicBezTo>
                    <a:cubicBezTo>
                      <a:pt x="0" y="21281"/>
                      <a:pt x="21237" y="0"/>
                      <a:pt x="47435" y="0"/>
                    </a:cubicBezTo>
                    <a:cubicBezTo>
                      <a:pt x="73632" y="0"/>
                      <a:pt x="94869" y="21281"/>
                      <a:pt x="94869" y="475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67" name="Google Shape;2598;p19">
                <a:extLst>
                  <a:ext uri="{FF2B5EF4-FFF2-40B4-BE49-F238E27FC236}">
                    <a16:creationId xmlns:a16="http://schemas.microsoft.com/office/drawing/2014/main" id="{A84C4901-E6D1-FF1B-5B93-EF83912A1087}"/>
                  </a:ext>
                </a:extLst>
              </p:cNvPr>
              <p:cNvSpPr/>
              <p:nvPr/>
            </p:nvSpPr>
            <p:spPr>
              <a:xfrm>
                <a:off x="8150825" y="4169397"/>
                <a:ext cx="80996" cy="81164"/>
              </a:xfrm>
              <a:custGeom>
                <a:avLst/>
                <a:gdLst/>
                <a:ahLst/>
                <a:cxnLst/>
                <a:rect l="l" t="t" r="r" b="b"/>
                <a:pathLst>
                  <a:path w="94869" h="95066" extrusionOk="0">
                    <a:moveTo>
                      <a:pt x="94869" y="47533"/>
                    </a:moveTo>
                    <a:cubicBezTo>
                      <a:pt x="94869" y="73785"/>
                      <a:pt x="73632" y="95067"/>
                      <a:pt x="47435" y="95067"/>
                    </a:cubicBezTo>
                    <a:cubicBezTo>
                      <a:pt x="21237" y="95067"/>
                      <a:pt x="0" y="73785"/>
                      <a:pt x="0" y="47533"/>
                    </a:cubicBezTo>
                    <a:cubicBezTo>
                      <a:pt x="0" y="21281"/>
                      <a:pt x="21237" y="0"/>
                      <a:pt x="47435" y="0"/>
                    </a:cubicBezTo>
                    <a:cubicBezTo>
                      <a:pt x="73632" y="0"/>
                      <a:pt x="94869" y="21281"/>
                      <a:pt x="94869" y="475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68" name="Google Shape;2599;p19">
                <a:extLst>
                  <a:ext uri="{FF2B5EF4-FFF2-40B4-BE49-F238E27FC236}">
                    <a16:creationId xmlns:a16="http://schemas.microsoft.com/office/drawing/2014/main" id="{D554423C-A0B8-6631-1D10-154DD41C48C6}"/>
                  </a:ext>
                </a:extLst>
              </p:cNvPr>
              <p:cNvSpPr/>
              <p:nvPr/>
            </p:nvSpPr>
            <p:spPr>
              <a:xfrm rot="-2700000">
                <a:off x="8037869" y="4108819"/>
                <a:ext cx="120954" cy="13527"/>
              </a:xfrm>
              <a:custGeom>
                <a:avLst/>
                <a:gdLst/>
                <a:ahLst/>
                <a:cxnLst/>
                <a:rect l="l" t="t" r="r" b="b"/>
                <a:pathLst>
                  <a:path w="141671" h="15844" extrusionOk="0">
                    <a:moveTo>
                      <a:pt x="0" y="0"/>
                    </a:moveTo>
                    <a:lnTo>
                      <a:pt x="141671" y="0"/>
                    </a:lnTo>
                    <a:lnTo>
                      <a:pt x="141671" y="15844"/>
                    </a:lnTo>
                    <a:lnTo>
                      <a:pt x="0" y="15844"/>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69" name="Google Shape;2600;p19">
                <a:extLst>
                  <a:ext uri="{FF2B5EF4-FFF2-40B4-BE49-F238E27FC236}">
                    <a16:creationId xmlns:a16="http://schemas.microsoft.com/office/drawing/2014/main" id="{A65B8B36-1324-6D7C-D9B1-15C148E555AD}"/>
                  </a:ext>
                </a:extLst>
              </p:cNvPr>
              <p:cNvSpPr/>
              <p:nvPr/>
            </p:nvSpPr>
            <p:spPr>
              <a:xfrm rot="-2700000">
                <a:off x="8091594" y="4240521"/>
                <a:ext cx="13499" cy="121206"/>
              </a:xfrm>
              <a:custGeom>
                <a:avLst/>
                <a:gdLst/>
                <a:ahLst/>
                <a:cxnLst/>
                <a:rect l="l" t="t" r="r" b="b"/>
                <a:pathLst>
                  <a:path w="15811" h="141966" extrusionOk="0">
                    <a:moveTo>
                      <a:pt x="0" y="0"/>
                    </a:moveTo>
                    <a:lnTo>
                      <a:pt x="15811" y="0"/>
                    </a:lnTo>
                    <a:lnTo>
                      <a:pt x="15811" y="141966"/>
                    </a:lnTo>
                    <a:lnTo>
                      <a:pt x="0" y="141966"/>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70" name="Google Shape;2601;p19">
                <a:extLst>
                  <a:ext uri="{FF2B5EF4-FFF2-40B4-BE49-F238E27FC236}">
                    <a16:creationId xmlns:a16="http://schemas.microsoft.com/office/drawing/2014/main" id="{114AC583-2DE3-7965-E7C1-307AC639262F}"/>
                  </a:ext>
                </a:extLst>
              </p:cNvPr>
              <p:cNvSpPr/>
              <p:nvPr/>
            </p:nvSpPr>
            <p:spPr>
              <a:xfrm rot="-2700000">
                <a:off x="8282755" y="4055026"/>
                <a:ext cx="13499" cy="121206"/>
              </a:xfrm>
              <a:custGeom>
                <a:avLst/>
                <a:gdLst/>
                <a:ahLst/>
                <a:cxnLst/>
                <a:rect l="l" t="t" r="r" b="b"/>
                <a:pathLst>
                  <a:path w="15811" h="141966" extrusionOk="0">
                    <a:moveTo>
                      <a:pt x="0" y="0"/>
                    </a:moveTo>
                    <a:lnTo>
                      <a:pt x="15812" y="0"/>
                    </a:lnTo>
                    <a:lnTo>
                      <a:pt x="15812" y="141966"/>
                    </a:lnTo>
                    <a:lnTo>
                      <a:pt x="0" y="141966"/>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71" name="Google Shape;2602;p19">
                <a:extLst>
                  <a:ext uri="{FF2B5EF4-FFF2-40B4-BE49-F238E27FC236}">
                    <a16:creationId xmlns:a16="http://schemas.microsoft.com/office/drawing/2014/main" id="{0766188D-752A-B003-F9B8-38DBB41B38C9}"/>
                  </a:ext>
                </a:extLst>
              </p:cNvPr>
              <p:cNvSpPr/>
              <p:nvPr/>
            </p:nvSpPr>
            <p:spPr>
              <a:xfrm rot="-2700000">
                <a:off x="8229026" y="4294351"/>
                <a:ext cx="120954" cy="13527"/>
              </a:xfrm>
              <a:custGeom>
                <a:avLst/>
                <a:gdLst/>
                <a:ahLst/>
                <a:cxnLst/>
                <a:rect l="l" t="t" r="r" b="b"/>
                <a:pathLst>
                  <a:path w="141671" h="15844" extrusionOk="0">
                    <a:moveTo>
                      <a:pt x="0" y="0"/>
                    </a:moveTo>
                    <a:lnTo>
                      <a:pt x="141671" y="0"/>
                    </a:lnTo>
                    <a:lnTo>
                      <a:pt x="141671" y="15844"/>
                    </a:lnTo>
                    <a:lnTo>
                      <a:pt x="0" y="15844"/>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72" name="Google Shape;2603;p19">
                <a:extLst>
                  <a:ext uri="{FF2B5EF4-FFF2-40B4-BE49-F238E27FC236}">
                    <a16:creationId xmlns:a16="http://schemas.microsoft.com/office/drawing/2014/main" id="{FF6AF5FD-3BA2-8779-5B55-02D482CAA2FB}"/>
                  </a:ext>
                </a:extLst>
              </p:cNvPr>
              <p:cNvSpPr/>
              <p:nvPr/>
            </p:nvSpPr>
            <p:spPr>
              <a:xfrm>
                <a:off x="8076308" y="4205542"/>
                <a:ext cx="54915" cy="13527"/>
              </a:xfrm>
              <a:custGeom>
                <a:avLst/>
                <a:gdLst/>
                <a:ahLst/>
                <a:cxnLst/>
                <a:rect l="l" t="t" r="r" b="b"/>
                <a:pathLst>
                  <a:path w="64321" h="15844" extrusionOk="0">
                    <a:moveTo>
                      <a:pt x="0" y="0"/>
                    </a:moveTo>
                    <a:lnTo>
                      <a:pt x="64321" y="0"/>
                    </a:lnTo>
                    <a:lnTo>
                      <a:pt x="64321" y="15844"/>
                    </a:lnTo>
                    <a:lnTo>
                      <a:pt x="0" y="15844"/>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73" name="Google Shape;2604;p19">
                <a:extLst>
                  <a:ext uri="{FF2B5EF4-FFF2-40B4-BE49-F238E27FC236}">
                    <a16:creationId xmlns:a16="http://schemas.microsoft.com/office/drawing/2014/main" id="{48332D5A-420E-5545-C5F5-FCE96C5DE22D}"/>
                  </a:ext>
                </a:extLst>
              </p:cNvPr>
              <p:cNvSpPr/>
              <p:nvPr/>
            </p:nvSpPr>
            <p:spPr>
              <a:xfrm>
                <a:off x="8254230" y="4205542"/>
                <a:ext cx="54915" cy="13527"/>
              </a:xfrm>
              <a:custGeom>
                <a:avLst/>
                <a:gdLst/>
                <a:ahLst/>
                <a:cxnLst/>
                <a:rect l="l" t="t" r="r" b="b"/>
                <a:pathLst>
                  <a:path w="64321" h="15844" extrusionOk="0">
                    <a:moveTo>
                      <a:pt x="0" y="0"/>
                    </a:moveTo>
                    <a:lnTo>
                      <a:pt x="64321" y="0"/>
                    </a:lnTo>
                    <a:lnTo>
                      <a:pt x="64321" y="15844"/>
                    </a:lnTo>
                    <a:lnTo>
                      <a:pt x="0" y="15844"/>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grpSp>
        <p:nvGrpSpPr>
          <p:cNvPr id="274" name="Google Shape;2580;p19">
            <a:extLst>
              <a:ext uri="{FF2B5EF4-FFF2-40B4-BE49-F238E27FC236}">
                <a16:creationId xmlns:a16="http://schemas.microsoft.com/office/drawing/2014/main" id="{F8CF59CE-0CB2-2BFC-F36B-80DCA78D6A2F}"/>
              </a:ext>
            </a:extLst>
          </p:cNvPr>
          <p:cNvGrpSpPr/>
          <p:nvPr/>
        </p:nvGrpSpPr>
        <p:grpSpPr>
          <a:xfrm>
            <a:off x="3298631" y="2203591"/>
            <a:ext cx="983602" cy="985802"/>
            <a:chOff x="3284577" y="1631191"/>
            <a:chExt cx="983602" cy="985802"/>
          </a:xfrm>
        </p:grpSpPr>
        <p:sp>
          <p:nvSpPr>
            <p:cNvPr id="275" name="Google Shape;2581;p19">
              <a:extLst>
                <a:ext uri="{FF2B5EF4-FFF2-40B4-BE49-F238E27FC236}">
                  <a16:creationId xmlns:a16="http://schemas.microsoft.com/office/drawing/2014/main" id="{1D912785-7A73-E734-BE63-A2494A3A1582}"/>
                </a:ext>
              </a:extLst>
            </p:cNvPr>
            <p:cNvSpPr/>
            <p:nvPr/>
          </p:nvSpPr>
          <p:spPr>
            <a:xfrm>
              <a:off x="3284577" y="1631191"/>
              <a:ext cx="983602" cy="985802"/>
            </a:xfrm>
            <a:prstGeom prst="ellipse">
              <a:avLst/>
            </a:prstGeom>
            <a:solidFill>
              <a:schemeClr val="accent4"/>
            </a:solidFill>
            <a:ln w="25400" cap="flat" cmpd="sng">
              <a:solidFill>
                <a:schemeClr val="accent4"/>
              </a:solidFill>
              <a:prstDash val="solid"/>
              <a:round/>
              <a:headEnd type="none" w="sm" len="sm"/>
              <a:tailEnd type="none" w="sm" len="sm"/>
            </a:ln>
            <a:effectLst>
              <a:outerShdw sx="120000" sy="120000" algn="ctr" rotWithShape="0">
                <a:schemeClr val="accent4">
                  <a:alpha val="23921"/>
                </a:schemeClr>
              </a:outerShdw>
            </a:effectLst>
          </p:spPr>
          <p:txBody>
            <a:bodyPr spcFirstLastPara="1" wrap="square" lIns="82200" tIns="41075" rIns="82200" bIns="410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276" name="Google Shape;2582;p19" descr="Kubernetes&#10;">
              <a:extLst>
                <a:ext uri="{FF2B5EF4-FFF2-40B4-BE49-F238E27FC236}">
                  <a16:creationId xmlns:a16="http://schemas.microsoft.com/office/drawing/2014/main" id="{A4B367C5-3176-54AF-3836-EA4B6C00F4F7}"/>
                </a:ext>
              </a:extLst>
            </p:cNvPr>
            <p:cNvGrpSpPr/>
            <p:nvPr/>
          </p:nvGrpSpPr>
          <p:grpSpPr>
            <a:xfrm>
              <a:off x="3474379" y="1818531"/>
              <a:ext cx="603999" cy="588820"/>
              <a:chOff x="9760860" y="4425882"/>
              <a:chExt cx="603999" cy="588820"/>
            </a:xfrm>
          </p:grpSpPr>
          <p:sp>
            <p:nvSpPr>
              <p:cNvPr id="277" name="Google Shape;2583;p19">
                <a:extLst>
                  <a:ext uri="{FF2B5EF4-FFF2-40B4-BE49-F238E27FC236}">
                    <a16:creationId xmlns:a16="http://schemas.microsoft.com/office/drawing/2014/main" id="{0F9C1DAD-E839-F7A8-CBE2-515E556E3B74}"/>
                  </a:ext>
                </a:extLst>
              </p:cNvPr>
              <p:cNvSpPr/>
              <p:nvPr/>
            </p:nvSpPr>
            <p:spPr>
              <a:xfrm>
                <a:off x="9760860" y="4425882"/>
                <a:ext cx="603999" cy="588820"/>
              </a:xfrm>
              <a:custGeom>
                <a:avLst/>
                <a:gdLst/>
                <a:ahLst/>
                <a:cxnLst/>
                <a:rect l="l" t="t" r="r" b="b"/>
                <a:pathLst>
                  <a:path w="603999" h="588820" extrusionOk="0">
                    <a:moveTo>
                      <a:pt x="302316" y="17709"/>
                    </a:moveTo>
                    <a:lnTo>
                      <a:pt x="530634" y="127757"/>
                    </a:lnTo>
                    <a:lnTo>
                      <a:pt x="586923" y="375049"/>
                    </a:lnTo>
                    <a:lnTo>
                      <a:pt x="428808" y="573009"/>
                    </a:lnTo>
                    <a:lnTo>
                      <a:pt x="175824" y="573009"/>
                    </a:lnTo>
                    <a:lnTo>
                      <a:pt x="17709" y="375049"/>
                    </a:lnTo>
                    <a:lnTo>
                      <a:pt x="73998" y="127757"/>
                    </a:lnTo>
                    <a:lnTo>
                      <a:pt x="302316" y="17709"/>
                    </a:lnTo>
                    <a:moveTo>
                      <a:pt x="302316" y="0"/>
                    </a:moveTo>
                    <a:lnTo>
                      <a:pt x="60084" y="117005"/>
                    </a:lnTo>
                    <a:lnTo>
                      <a:pt x="0" y="378844"/>
                    </a:lnTo>
                    <a:lnTo>
                      <a:pt x="167602" y="588820"/>
                    </a:lnTo>
                    <a:lnTo>
                      <a:pt x="436397" y="588820"/>
                    </a:lnTo>
                    <a:lnTo>
                      <a:pt x="603999" y="378844"/>
                    </a:lnTo>
                    <a:lnTo>
                      <a:pt x="543916" y="117005"/>
                    </a:lnTo>
                    <a:lnTo>
                      <a:pt x="302316" y="0"/>
                    </a:lnTo>
                    <a:lnTo>
                      <a:pt x="302316" y="0"/>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78" name="Google Shape;2584;p19">
                <a:extLst>
                  <a:ext uri="{FF2B5EF4-FFF2-40B4-BE49-F238E27FC236}">
                    <a16:creationId xmlns:a16="http://schemas.microsoft.com/office/drawing/2014/main" id="{5209FD34-6425-5E7A-0D5E-345954E0308D}"/>
                  </a:ext>
                </a:extLst>
              </p:cNvPr>
              <p:cNvSpPr/>
              <p:nvPr/>
            </p:nvSpPr>
            <p:spPr>
              <a:xfrm>
                <a:off x="9843347" y="4504273"/>
                <a:ext cx="440592" cy="432636"/>
              </a:xfrm>
              <a:custGeom>
                <a:avLst/>
                <a:gdLst/>
                <a:ahLst/>
                <a:cxnLst/>
                <a:rect l="l" t="t" r="r" b="b"/>
                <a:pathLst>
                  <a:path w="440592" h="432636" extrusionOk="0">
                    <a:moveTo>
                      <a:pt x="130019" y="432637"/>
                    </a:moveTo>
                    <a:cubicBezTo>
                      <a:pt x="127489" y="432637"/>
                      <a:pt x="124327" y="432004"/>
                      <a:pt x="121797" y="430739"/>
                    </a:cubicBezTo>
                    <a:cubicBezTo>
                      <a:pt x="112310" y="426312"/>
                      <a:pt x="108516" y="414928"/>
                      <a:pt x="112310" y="404809"/>
                    </a:cubicBezTo>
                    <a:cubicBezTo>
                      <a:pt x="113575" y="401014"/>
                      <a:pt x="115473" y="397219"/>
                      <a:pt x="118635" y="392792"/>
                    </a:cubicBezTo>
                    <a:cubicBezTo>
                      <a:pt x="123695" y="385835"/>
                      <a:pt x="127489" y="379510"/>
                      <a:pt x="130652" y="373186"/>
                    </a:cubicBezTo>
                    <a:cubicBezTo>
                      <a:pt x="131284" y="371921"/>
                      <a:pt x="131284" y="371921"/>
                      <a:pt x="131284" y="371921"/>
                    </a:cubicBezTo>
                    <a:cubicBezTo>
                      <a:pt x="130019" y="369391"/>
                      <a:pt x="130019" y="366861"/>
                      <a:pt x="130652" y="364964"/>
                    </a:cubicBezTo>
                    <a:cubicBezTo>
                      <a:pt x="100294" y="344725"/>
                      <a:pt x="78157" y="317529"/>
                      <a:pt x="65508" y="283376"/>
                    </a:cubicBezTo>
                    <a:cubicBezTo>
                      <a:pt x="62978" y="283376"/>
                      <a:pt x="60449" y="282111"/>
                      <a:pt x="59184" y="281479"/>
                    </a:cubicBezTo>
                    <a:cubicBezTo>
                      <a:pt x="58551" y="281479"/>
                      <a:pt x="57919" y="281479"/>
                      <a:pt x="57919" y="282111"/>
                    </a:cubicBezTo>
                    <a:lnTo>
                      <a:pt x="57286" y="282111"/>
                    </a:lnTo>
                    <a:cubicBezTo>
                      <a:pt x="50962" y="283376"/>
                      <a:pt x="44637" y="285906"/>
                      <a:pt x="37048" y="289068"/>
                    </a:cubicBezTo>
                    <a:cubicBezTo>
                      <a:pt x="31988" y="290966"/>
                      <a:pt x="26928" y="292863"/>
                      <a:pt x="20604" y="292863"/>
                    </a:cubicBezTo>
                    <a:cubicBezTo>
                      <a:pt x="10484" y="292863"/>
                      <a:pt x="2262" y="286539"/>
                      <a:pt x="365" y="277052"/>
                    </a:cubicBezTo>
                    <a:cubicBezTo>
                      <a:pt x="-1532" y="268197"/>
                      <a:pt x="4160" y="258078"/>
                      <a:pt x="13014" y="254283"/>
                    </a:cubicBezTo>
                    <a:cubicBezTo>
                      <a:pt x="17441" y="252386"/>
                      <a:pt x="21869" y="251753"/>
                      <a:pt x="27561" y="251121"/>
                    </a:cubicBezTo>
                    <a:cubicBezTo>
                      <a:pt x="35150" y="251121"/>
                      <a:pt x="42740" y="249856"/>
                      <a:pt x="50329" y="248591"/>
                    </a:cubicBezTo>
                    <a:cubicBezTo>
                      <a:pt x="52227" y="247959"/>
                      <a:pt x="52227" y="247959"/>
                      <a:pt x="52227" y="247959"/>
                    </a:cubicBezTo>
                    <a:cubicBezTo>
                      <a:pt x="52859" y="246694"/>
                      <a:pt x="54124" y="244796"/>
                      <a:pt x="56654" y="242899"/>
                    </a:cubicBezTo>
                    <a:cubicBezTo>
                      <a:pt x="52227" y="206216"/>
                      <a:pt x="59816" y="172063"/>
                      <a:pt x="78790" y="140440"/>
                    </a:cubicBezTo>
                    <a:cubicBezTo>
                      <a:pt x="77525" y="138543"/>
                      <a:pt x="76893" y="136646"/>
                      <a:pt x="76893" y="134116"/>
                    </a:cubicBezTo>
                    <a:cubicBezTo>
                      <a:pt x="76893" y="133483"/>
                      <a:pt x="75628" y="132851"/>
                      <a:pt x="74363" y="132218"/>
                    </a:cubicBezTo>
                    <a:cubicBezTo>
                      <a:pt x="69303" y="128424"/>
                      <a:pt x="63611" y="124629"/>
                      <a:pt x="57286" y="120834"/>
                    </a:cubicBezTo>
                    <a:cubicBezTo>
                      <a:pt x="53492" y="118304"/>
                      <a:pt x="49064" y="115774"/>
                      <a:pt x="45270" y="111980"/>
                    </a:cubicBezTo>
                    <a:cubicBezTo>
                      <a:pt x="37680" y="104390"/>
                      <a:pt x="37048" y="93006"/>
                      <a:pt x="42740" y="85416"/>
                    </a:cubicBezTo>
                    <a:cubicBezTo>
                      <a:pt x="49064" y="77194"/>
                      <a:pt x="60449" y="75297"/>
                      <a:pt x="69936" y="80989"/>
                    </a:cubicBezTo>
                    <a:cubicBezTo>
                      <a:pt x="74995" y="84151"/>
                      <a:pt x="78790" y="88579"/>
                      <a:pt x="81952" y="91741"/>
                    </a:cubicBezTo>
                    <a:cubicBezTo>
                      <a:pt x="87644" y="98065"/>
                      <a:pt x="92704" y="102493"/>
                      <a:pt x="97764" y="106920"/>
                    </a:cubicBezTo>
                    <a:cubicBezTo>
                      <a:pt x="98396" y="107552"/>
                      <a:pt x="99029" y="107552"/>
                      <a:pt x="99029" y="107552"/>
                    </a:cubicBezTo>
                    <a:cubicBezTo>
                      <a:pt x="100926" y="106920"/>
                      <a:pt x="103456" y="106920"/>
                      <a:pt x="105353" y="108185"/>
                    </a:cubicBezTo>
                    <a:cubicBezTo>
                      <a:pt x="131917" y="82886"/>
                      <a:pt x="163540" y="67707"/>
                      <a:pt x="199590" y="62648"/>
                    </a:cubicBezTo>
                    <a:cubicBezTo>
                      <a:pt x="200222" y="60750"/>
                      <a:pt x="201487" y="58853"/>
                      <a:pt x="203385" y="56956"/>
                    </a:cubicBezTo>
                    <a:cubicBezTo>
                      <a:pt x="203385" y="56956"/>
                      <a:pt x="203385" y="56323"/>
                      <a:pt x="203385" y="55691"/>
                    </a:cubicBezTo>
                    <a:cubicBezTo>
                      <a:pt x="203385" y="47469"/>
                      <a:pt x="202120" y="39879"/>
                      <a:pt x="200855" y="32290"/>
                    </a:cubicBezTo>
                    <a:cubicBezTo>
                      <a:pt x="200222" y="27230"/>
                      <a:pt x="199590" y="22803"/>
                      <a:pt x="200222" y="18376"/>
                    </a:cubicBezTo>
                    <a:cubicBezTo>
                      <a:pt x="201487" y="7624"/>
                      <a:pt x="210342" y="-598"/>
                      <a:pt x="221093" y="34"/>
                    </a:cubicBezTo>
                    <a:cubicBezTo>
                      <a:pt x="230580" y="667"/>
                      <a:pt x="238170" y="7624"/>
                      <a:pt x="240067" y="17111"/>
                    </a:cubicBezTo>
                    <a:lnTo>
                      <a:pt x="240067" y="19640"/>
                    </a:lnTo>
                    <a:lnTo>
                      <a:pt x="239435" y="31657"/>
                    </a:lnTo>
                    <a:cubicBezTo>
                      <a:pt x="238802" y="36717"/>
                      <a:pt x="238170" y="41777"/>
                      <a:pt x="237537" y="46836"/>
                    </a:cubicBezTo>
                    <a:cubicBezTo>
                      <a:pt x="236905" y="49366"/>
                      <a:pt x="236905" y="52528"/>
                      <a:pt x="236905" y="55691"/>
                    </a:cubicBezTo>
                    <a:lnTo>
                      <a:pt x="236905" y="56956"/>
                    </a:lnTo>
                    <a:cubicBezTo>
                      <a:pt x="238170" y="58221"/>
                      <a:pt x="239435" y="60118"/>
                      <a:pt x="240700" y="62648"/>
                    </a:cubicBezTo>
                    <a:cubicBezTo>
                      <a:pt x="252084" y="64545"/>
                      <a:pt x="262836" y="66442"/>
                      <a:pt x="272323" y="70237"/>
                    </a:cubicBezTo>
                    <a:cubicBezTo>
                      <a:pt x="296356" y="78459"/>
                      <a:pt x="317227" y="91108"/>
                      <a:pt x="334936" y="108185"/>
                    </a:cubicBezTo>
                    <a:cubicBezTo>
                      <a:pt x="336834" y="106920"/>
                      <a:pt x="339364" y="106920"/>
                      <a:pt x="341893" y="107552"/>
                    </a:cubicBezTo>
                    <a:cubicBezTo>
                      <a:pt x="341893" y="107552"/>
                      <a:pt x="342526" y="107552"/>
                      <a:pt x="343791" y="106287"/>
                    </a:cubicBezTo>
                    <a:cubicBezTo>
                      <a:pt x="348850" y="101860"/>
                      <a:pt x="353910" y="96801"/>
                      <a:pt x="358970" y="91741"/>
                    </a:cubicBezTo>
                    <a:cubicBezTo>
                      <a:pt x="362132" y="87946"/>
                      <a:pt x="365927" y="84151"/>
                      <a:pt x="370354" y="81622"/>
                    </a:cubicBezTo>
                    <a:cubicBezTo>
                      <a:pt x="376679" y="77827"/>
                      <a:pt x="383636" y="77194"/>
                      <a:pt x="389960" y="80357"/>
                    </a:cubicBezTo>
                    <a:cubicBezTo>
                      <a:pt x="395652" y="82886"/>
                      <a:pt x="400080" y="87946"/>
                      <a:pt x="400712" y="94903"/>
                    </a:cubicBezTo>
                    <a:cubicBezTo>
                      <a:pt x="401345" y="99963"/>
                      <a:pt x="401345" y="106920"/>
                      <a:pt x="393755" y="113877"/>
                    </a:cubicBezTo>
                    <a:cubicBezTo>
                      <a:pt x="389960" y="117672"/>
                      <a:pt x="386166" y="119569"/>
                      <a:pt x="381738" y="122099"/>
                    </a:cubicBezTo>
                    <a:cubicBezTo>
                      <a:pt x="374149" y="126526"/>
                      <a:pt x="368457" y="130321"/>
                      <a:pt x="363397" y="134116"/>
                    </a:cubicBezTo>
                    <a:cubicBezTo>
                      <a:pt x="362765" y="134116"/>
                      <a:pt x="362765" y="134116"/>
                      <a:pt x="362765" y="134116"/>
                    </a:cubicBezTo>
                    <a:cubicBezTo>
                      <a:pt x="362765" y="136646"/>
                      <a:pt x="362132" y="138543"/>
                      <a:pt x="360867" y="140440"/>
                    </a:cubicBezTo>
                    <a:cubicBezTo>
                      <a:pt x="375414" y="164474"/>
                      <a:pt x="383636" y="190405"/>
                      <a:pt x="384901" y="217600"/>
                    </a:cubicBezTo>
                    <a:cubicBezTo>
                      <a:pt x="385533" y="225190"/>
                      <a:pt x="384901" y="233412"/>
                      <a:pt x="384268" y="241634"/>
                    </a:cubicBezTo>
                    <a:cubicBezTo>
                      <a:pt x="386166" y="242899"/>
                      <a:pt x="387430" y="244796"/>
                      <a:pt x="388063" y="246061"/>
                    </a:cubicBezTo>
                    <a:cubicBezTo>
                      <a:pt x="388695" y="247326"/>
                      <a:pt x="389328" y="247326"/>
                      <a:pt x="393755" y="247959"/>
                    </a:cubicBezTo>
                    <a:lnTo>
                      <a:pt x="395020" y="247959"/>
                    </a:lnTo>
                    <a:cubicBezTo>
                      <a:pt x="399447" y="248591"/>
                      <a:pt x="403874" y="249223"/>
                      <a:pt x="408302" y="249223"/>
                    </a:cubicBezTo>
                    <a:cubicBezTo>
                      <a:pt x="412729" y="249856"/>
                      <a:pt x="417156" y="249856"/>
                      <a:pt x="421583" y="250488"/>
                    </a:cubicBezTo>
                    <a:cubicBezTo>
                      <a:pt x="429173" y="251753"/>
                      <a:pt x="435497" y="256181"/>
                      <a:pt x="438660" y="263138"/>
                    </a:cubicBezTo>
                    <a:cubicBezTo>
                      <a:pt x="441822" y="270095"/>
                      <a:pt x="441190" y="277052"/>
                      <a:pt x="436130" y="282744"/>
                    </a:cubicBezTo>
                    <a:cubicBezTo>
                      <a:pt x="431070" y="289068"/>
                      <a:pt x="424113" y="291598"/>
                      <a:pt x="415891" y="290333"/>
                    </a:cubicBezTo>
                    <a:cubicBezTo>
                      <a:pt x="410831" y="289701"/>
                      <a:pt x="405772" y="287804"/>
                      <a:pt x="401345" y="285906"/>
                    </a:cubicBezTo>
                    <a:cubicBezTo>
                      <a:pt x="399447" y="285274"/>
                      <a:pt x="397550" y="284009"/>
                      <a:pt x="395020" y="283376"/>
                    </a:cubicBezTo>
                    <a:lnTo>
                      <a:pt x="394388" y="283376"/>
                    </a:lnTo>
                    <a:cubicBezTo>
                      <a:pt x="389960" y="282111"/>
                      <a:pt x="385533" y="280214"/>
                      <a:pt x="381106" y="279582"/>
                    </a:cubicBezTo>
                    <a:cubicBezTo>
                      <a:pt x="380473" y="279582"/>
                      <a:pt x="380473" y="279582"/>
                      <a:pt x="380473" y="279582"/>
                    </a:cubicBezTo>
                    <a:cubicBezTo>
                      <a:pt x="378576" y="280846"/>
                      <a:pt x="376679" y="281479"/>
                      <a:pt x="374781" y="282111"/>
                    </a:cubicBezTo>
                    <a:cubicBezTo>
                      <a:pt x="369089" y="298555"/>
                      <a:pt x="360867" y="313734"/>
                      <a:pt x="350115" y="327016"/>
                    </a:cubicBezTo>
                    <a:cubicBezTo>
                      <a:pt x="338731" y="341563"/>
                      <a:pt x="324817" y="354212"/>
                      <a:pt x="309638" y="363699"/>
                    </a:cubicBezTo>
                    <a:cubicBezTo>
                      <a:pt x="310270" y="366229"/>
                      <a:pt x="309638" y="368126"/>
                      <a:pt x="309005" y="369391"/>
                    </a:cubicBezTo>
                    <a:cubicBezTo>
                      <a:pt x="309005" y="369391"/>
                      <a:pt x="309005" y="370023"/>
                      <a:pt x="310270" y="373186"/>
                    </a:cubicBezTo>
                    <a:cubicBezTo>
                      <a:pt x="313433" y="378878"/>
                      <a:pt x="317227" y="385202"/>
                      <a:pt x="321655" y="391527"/>
                    </a:cubicBezTo>
                    <a:cubicBezTo>
                      <a:pt x="324184" y="395322"/>
                      <a:pt x="327347" y="399749"/>
                      <a:pt x="328612" y="405441"/>
                    </a:cubicBezTo>
                    <a:cubicBezTo>
                      <a:pt x="331142" y="414296"/>
                      <a:pt x="327347" y="423782"/>
                      <a:pt x="319757" y="428210"/>
                    </a:cubicBezTo>
                    <a:cubicBezTo>
                      <a:pt x="311535" y="432637"/>
                      <a:pt x="302048" y="431372"/>
                      <a:pt x="295091" y="424415"/>
                    </a:cubicBezTo>
                    <a:cubicBezTo>
                      <a:pt x="290664" y="419355"/>
                      <a:pt x="288767" y="413663"/>
                      <a:pt x="286869" y="409236"/>
                    </a:cubicBezTo>
                    <a:cubicBezTo>
                      <a:pt x="284972" y="402279"/>
                      <a:pt x="282442" y="394057"/>
                      <a:pt x="278647" y="386467"/>
                    </a:cubicBezTo>
                    <a:cubicBezTo>
                      <a:pt x="278015" y="385835"/>
                      <a:pt x="278015" y="385202"/>
                      <a:pt x="278015" y="385202"/>
                    </a:cubicBezTo>
                    <a:cubicBezTo>
                      <a:pt x="275485" y="384570"/>
                      <a:pt x="273588" y="383305"/>
                      <a:pt x="272323" y="382040"/>
                    </a:cubicBezTo>
                    <a:cubicBezTo>
                      <a:pt x="237537" y="393424"/>
                      <a:pt x="202120" y="393424"/>
                      <a:pt x="167967" y="382040"/>
                    </a:cubicBezTo>
                    <a:cubicBezTo>
                      <a:pt x="166702" y="383937"/>
                      <a:pt x="164172" y="385202"/>
                      <a:pt x="162275" y="385835"/>
                    </a:cubicBezTo>
                    <a:cubicBezTo>
                      <a:pt x="162275" y="385835"/>
                      <a:pt x="161642" y="386467"/>
                      <a:pt x="161010" y="387732"/>
                    </a:cubicBezTo>
                    <a:cubicBezTo>
                      <a:pt x="157847" y="394057"/>
                      <a:pt x="155318" y="401014"/>
                      <a:pt x="153420" y="409236"/>
                    </a:cubicBezTo>
                    <a:cubicBezTo>
                      <a:pt x="152155" y="413663"/>
                      <a:pt x="150258" y="417458"/>
                      <a:pt x="148361" y="421253"/>
                    </a:cubicBezTo>
                    <a:cubicBezTo>
                      <a:pt x="143933" y="428210"/>
                      <a:pt x="136976" y="432637"/>
                      <a:pt x="130019" y="432637"/>
                    </a:cubicBezTo>
                    <a:close/>
                    <a:moveTo>
                      <a:pt x="146463" y="366861"/>
                    </a:moveTo>
                    <a:cubicBezTo>
                      <a:pt x="148361" y="372553"/>
                      <a:pt x="145831" y="377613"/>
                      <a:pt x="145198" y="379510"/>
                    </a:cubicBezTo>
                    <a:cubicBezTo>
                      <a:pt x="142036" y="386467"/>
                      <a:pt x="137609" y="393424"/>
                      <a:pt x="131917" y="401646"/>
                    </a:cubicBezTo>
                    <a:cubicBezTo>
                      <a:pt x="129387" y="404809"/>
                      <a:pt x="128122" y="407338"/>
                      <a:pt x="127489" y="409868"/>
                    </a:cubicBezTo>
                    <a:cubicBezTo>
                      <a:pt x="126224" y="412398"/>
                      <a:pt x="127489" y="415560"/>
                      <a:pt x="129387" y="416193"/>
                    </a:cubicBezTo>
                    <a:cubicBezTo>
                      <a:pt x="131284" y="416825"/>
                      <a:pt x="133814" y="416193"/>
                      <a:pt x="135079" y="413663"/>
                    </a:cubicBezTo>
                    <a:cubicBezTo>
                      <a:pt x="136344" y="411766"/>
                      <a:pt x="137609" y="408603"/>
                      <a:pt x="138241" y="405441"/>
                    </a:cubicBezTo>
                    <a:cubicBezTo>
                      <a:pt x="140771" y="396587"/>
                      <a:pt x="143301" y="388997"/>
                      <a:pt x="146463" y="382040"/>
                    </a:cubicBezTo>
                    <a:cubicBezTo>
                      <a:pt x="147728" y="379510"/>
                      <a:pt x="150258" y="374451"/>
                      <a:pt x="155950" y="371921"/>
                    </a:cubicBezTo>
                    <a:cubicBezTo>
                      <a:pt x="157215" y="370023"/>
                      <a:pt x="158480" y="368126"/>
                      <a:pt x="161010" y="366861"/>
                    </a:cubicBezTo>
                    <a:cubicBezTo>
                      <a:pt x="165437" y="364964"/>
                      <a:pt x="169232" y="366229"/>
                      <a:pt x="170497" y="366861"/>
                    </a:cubicBezTo>
                    <a:cubicBezTo>
                      <a:pt x="202752" y="378245"/>
                      <a:pt x="235640" y="378245"/>
                      <a:pt x="268528" y="367493"/>
                    </a:cubicBezTo>
                    <a:cubicBezTo>
                      <a:pt x="271058" y="366861"/>
                      <a:pt x="275485" y="364964"/>
                      <a:pt x="279280" y="367493"/>
                    </a:cubicBezTo>
                    <a:cubicBezTo>
                      <a:pt x="281177" y="368758"/>
                      <a:pt x="282442" y="370023"/>
                      <a:pt x="283707" y="371921"/>
                    </a:cubicBezTo>
                    <a:cubicBezTo>
                      <a:pt x="287502" y="373186"/>
                      <a:pt x="290664" y="376348"/>
                      <a:pt x="292561" y="380775"/>
                    </a:cubicBezTo>
                    <a:cubicBezTo>
                      <a:pt x="296989" y="389630"/>
                      <a:pt x="299519" y="398484"/>
                      <a:pt x="302048" y="406074"/>
                    </a:cubicBezTo>
                    <a:cubicBezTo>
                      <a:pt x="303313" y="409868"/>
                      <a:pt x="304578" y="413031"/>
                      <a:pt x="306476" y="414928"/>
                    </a:cubicBezTo>
                    <a:cubicBezTo>
                      <a:pt x="308373" y="416825"/>
                      <a:pt x="310270" y="416825"/>
                      <a:pt x="311535" y="416193"/>
                    </a:cubicBezTo>
                    <a:cubicBezTo>
                      <a:pt x="312800" y="415560"/>
                      <a:pt x="314065" y="413031"/>
                      <a:pt x="313433" y="411133"/>
                    </a:cubicBezTo>
                    <a:cubicBezTo>
                      <a:pt x="312800" y="407971"/>
                      <a:pt x="310903" y="404809"/>
                      <a:pt x="308373" y="402279"/>
                    </a:cubicBezTo>
                    <a:cubicBezTo>
                      <a:pt x="303313" y="395322"/>
                      <a:pt x="299519" y="388997"/>
                      <a:pt x="295724" y="382040"/>
                    </a:cubicBezTo>
                    <a:cubicBezTo>
                      <a:pt x="294459" y="379510"/>
                      <a:pt x="291297" y="373818"/>
                      <a:pt x="293194" y="367493"/>
                    </a:cubicBezTo>
                    <a:cubicBezTo>
                      <a:pt x="291297" y="363066"/>
                      <a:pt x="291929" y="358007"/>
                      <a:pt x="298254" y="354212"/>
                    </a:cubicBezTo>
                    <a:cubicBezTo>
                      <a:pt x="313433" y="345357"/>
                      <a:pt x="326082" y="333341"/>
                      <a:pt x="337466" y="319427"/>
                    </a:cubicBezTo>
                    <a:cubicBezTo>
                      <a:pt x="347585" y="306145"/>
                      <a:pt x="355807" y="291598"/>
                      <a:pt x="360867" y="275787"/>
                    </a:cubicBezTo>
                    <a:cubicBezTo>
                      <a:pt x="363397" y="268830"/>
                      <a:pt x="368457" y="266932"/>
                      <a:pt x="372884" y="267565"/>
                    </a:cubicBezTo>
                    <a:cubicBezTo>
                      <a:pt x="376046" y="265667"/>
                      <a:pt x="380473" y="265035"/>
                      <a:pt x="384901" y="265667"/>
                    </a:cubicBezTo>
                    <a:cubicBezTo>
                      <a:pt x="389960" y="266932"/>
                      <a:pt x="395020" y="268197"/>
                      <a:pt x="400080" y="270095"/>
                    </a:cubicBezTo>
                    <a:lnTo>
                      <a:pt x="400712" y="270095"/>
                    </a:lnTo>
                    <a:cubicBezTo>
                      <a:pt x="403242" y="270727"/>
                      <a:pt x="405772" y="271992"/>
                      <a:pt x="407669" y="272624"/>
                    </a:cubicBezTo>
                    <a:cubicBezTo>
                      <a:pt x="411464" y="273889"/>
                      <a:pt x="414626" y="275787"/>
                      <a:pt x="418421" y="276419"/>
                    </a:cubicBezTo>
                    <a:cubicBezTo>
                      <a:pt x="421583" y="277052"/>
                      <a:pt x="422848" y="275787"/>
                      <a:pt x="424113" y="274522"/>
                    </a:cubicBezTo>
                    <a:cubicBezTo>
                      <a:pt x="424746" y="273257"/>
                      <a:pt x="425378" y="272624"/>
                      <a:pt x="424746" y="271360"/>
                    </a:cubicBezTo>
                    <a:lnTo>
                      <a:pt x="424746" y="271360"/>
                    </a:lnTo>
                    <a:cubicBezTo>
                      <a:pt x="423481" y="269462"/>
                      <a:pt x="422216" y="268197"/>
                      <a:pt x="419686" y="268197"/>
                    </a:cubicBezTo>
                    <a:cubicBezTo>
                      <a:pt x="415259" y="267565"/>
                      <a:pt x="411464" y="266932"/>
                      <a:pt x="407037" y="266932"/>
                    </a:cubicBezTo>
                    <a:cubicBezTo>
                      <a:pt x="402610" y="266300"/>
                      <a:pt x="397550" y="265667"/>
                      <a:pt x="393123" y="265035"/>
                    </a:cubicBezTo>
                    <a:lnTo>
                      <a:pt x="391858" y="265035"/>
                    </a:lnTo>
                    <a:cubicBezTo>
                      <a:pt x="387430" y="264402"/>
                      <a:pt x="379841" y="263770"/>
                      <a:pt x="375414" y="256813"/>
                    </a:cubicBezTo>
                    <a:cubicBezTo>
                      <a:pt x="372884" y="256181"/>
                      <a:pt x="370987" y="254916"/>
                      <a:pt x="370354" y="253651"/>
                    </a:cubicBezTo>
                    <a:cubicBezTo>
                      <a:pt x="367824" y="250488"/>
                      <a:pt x="367824" y="246061"/>
                      <a:pt x="368457" y="244796"/>
                    </a:cubicBezTo>
                    <a:cubicBezTo>
                      <a:pt x="369722" y="235942"/>
                      <a:pt x="369722" y="227720"/>
                      <a:pt x="369089" y="220130"/>
                    </a:cubicBezTo>
                    <a:cubicBezTo>
                      <a:pt x="367824" y="194199"/>
                      <a:pt x="359602" y="169533"/>
                      <a:pt x="345688" y="148030"/>
                    </a:cubicBezTo>
                    <a:cubicBezTo>
                      <a:pt x="344423" y="146132"/>
                      <a:pt x="342526" y="142338"/>
                      <a:pt x="343791" y="138543"/>
                    </a:cubicBezTo>
                    <a:cubicBezTo>
                      <a:pt x="344423" y="136646"/>
                      <a:pt x="345688" y="134748"/>
                      <a:pt x="347585" y="132851"/>
                    </a:cubicBezTo>
                    <a:cubicBezTo>
                      <a:pt x="348218" y="129056"/>
                      <a:pt x="350115" y="125261"/>
                      <a:pt x="353910" y="122099"/>
                    </a:cubicBezTo>
                    <a:cubicBezTo>
                      <a:pt x="359602" y="117672"/>
                      <a:pt x="365927" y="113245"/>
                      <a:pt x="374781" y="108185"/>
                    </a:cubicBezTo>
                    <a:cubicBezTo>
                      <a:pt x="377944" y="106287"/>
                      <a:pt x="381106" y="104390"/>
                      <a:pt x="383003" y="102493"/>
                    </a:cubicBezTo>
                    <a:cubicBezTo>
                      <a:pt x="385533" y="99963"/>
                      <a:pt x="385533" y="98065"/>
                      <a:pt x="384901" y="97433"/>
                    </a:cubicBezTo>
                    <a:cubicBezTo>
                      <a:pt x="384901" y="96168"/>
                      <a:pt x="384268" y="94903"/>
                      <a:pt x="383003" y="94903"/>
                    </a:cubicBezTo>
                    <a:cubicBezTo>
                      <a:pt x="381738" y="94271"/>
                      <a:pt x="379841" y="94271"/>
                      <a:pt x="377944" y="95536"/>
                    </a:cubicBezTo>
                    <a:cubicBezTo>
                      <a:pt x="375414" y="97433"/>
                      <a:pt x="372884" y="99330"/>
                      <a:pt x="370354" y="102493"/>
                    </a:cubicBezTo>
                    <a:cubicBezTo>
                      <a:pt x="365294" y="108817"/>
                      <a:pt x="359602" y="113877"/>
                      <a:pt x="353278" y="118937"/>
                    </a:cubicBezTo>
                    <a:cubicBezTo>
                      <a:pt x="350748" y="121467"/>
                      <a:pt x="346321" y="123996"/>
                      <a:pt x="340628" y="123996"/>
                    </a:cubicBezTo>
                    <a:cubicBezTo>
                      <a:pt x="338731" y="125261"/>
                      <a:pt x="336201" y="126526"/>
                      <a:pt x="334304" y="126526"/>
                    </a:cubicBezTo>
                    <a:cubicBezTo>
                      <a:pt x="329877" y="126526"/>
                      <a:pt x="326714" y="123364"/>
                      <a:pt x="325449" y="122099"/>
                    </a:cubicBezTo>
                    <a:cubicBezTo>
                      <a:pt x="309005" y="105655"/>
                      <a:pt x="289399" y="93638"/>
                      <a:pt x="267263" y="86049"/>
                    </a:cubicBezTo>
                    <a:cubicBezTo>
                      <a:pt x="257776" y="82886"/>
                      <a:pt x="247024" y="80357"/>
                      <a:pt x="235008" y="79092"/>
                    </a:cubicBezTo>
                    <a:cubicBezTo>
                      <a:pt x="233743" y="79092"/>
                      <a:pt x="230580" y="79092"/>
                      <a:pt x="227418" y="75929"/>
                    </a:cubicBezTo>
                    <a:cubicBezTo>
                      <a:pt x="226153" y="74032"/>
                      <a:pt x="224888" y="71502"/>
                      <a:pt x="225521" y="68972"/>
                    </a:cubicBezTo>
                    <a:cubicBezTo>
                      <a:pt x="225521" y="68972"/>
                      <a:pt x="225521" y="68972"/>
                      <a:pt x="224888" y="68340"/>
                    </a:cubicBezTo>
                    <a:cubicBezTo>
                      <a:pt x="222358" y="65810"/>
                      <a:pt x="221093" y="62015"/>
                      <a:pt x="221093" y="58221"/>
                    </a:cubicBezTo>
                    <a:lnTo>
                      <a:pt x="221093" y="56323"/>
                    </a:lnTo>
                    <a:cubicBezTo>
                      <a:pt x="221093" y="52528"/>
                      <a:pt x="221093" y="49366"/>
                      <a:pt x="221726" y="44939"/>
                    </a:cubicBezTo>
                    <a:cubicBezTo>
                      <a:pt x="222358" y="39879"/>
                      <a:pt x="222991" y="34819"/>
                      <a:pt x="223623" y="29760"/>
                    </a:cubicBezTo>
                    <a:lnTo>
                      <a:pt x="224256" y="25333"/>
                    </a:lnTo>
                    <a:lnTo>
                      <a:pt x="224256" y="24700"/>
                    </a:lnTo>
                    <a:lnTo>
                      <a:pt x="224256" y="23435"/>
                    </a:lnTo>
                    <a:cubicBezTo>
                      <a:pt x="224256" y="22803"/>
                      <a:pt x="224256" y="22170"/>
                      <a:pt x="224256" y="21538"/>
                    </a:cubicBezTo>
                    <a:cubicBezTo>
                      <a:pt x="224256" y="19008"/>
                      <a:pt x="222358" y="16478"/>
                      <a:pt x="220461" y="16478"/>
                    </a:cubicBezTo>
                    <a:cubicBezTo>
                      <a:pt x="217931" y="16478"/>
                      <a:pt x="216034" y="18376"/>
                      <a:pt x="216034" y="20905"/>
                    </a:cubicBezTo>
                    <a:cubicBezTo>
                      <a:pt x="215401" y="23435"/>
                      <a:pt x="216034" y="26598"/>
                      <a:pt x="216666" y="30392"/>
                    </a:cubicBezTo>
                    <a:cubicBezTo>
                      <a:pt x="217931" y="38614"/>
                      <a:pt x="219196" y="47469"/>
                      <a:pt x="219196" y="56323"/>
                    </a:cubicBezTo>
                    <a:cubicBezTo>
                      <a:pt x="219196" y="58853"/>
                      <a:pt x="219196" y="63913"/>
                      <a:pt x="214769" y="68340"/>
                    </a:cubicBezTo>
                    <a:cubicBezTo>
                      <a:pt x="214769" y="68340"/>
                      <a:pt x="214769" y="68340"/>
                      <a:pt x="214769" y="68340"/>
                    </a:cubicBezTo>
                    <a:cubicBezTo>
                      <a:pt x="214769" y="70870"/>
                      <a:pt x="214136" y="73400"/>
                      <a:pt x="212871" y="75297"/>
                    </a:cubicBezTo>
                    <a:cubicBezTo>
                      <a:pt x="210974" y="77194"/>
                      <a:pt x="208444" y="78459"/>
                      <a:pt x="205282" y="78459"/>
                    </a:cubicBezTo>
                    <a:cubicBezTo>
                      <a:pt x="204649" y="78459"/>
                      <a:pt x="204649" y="78459"/>
                      <a:pt x="204017" y="78459"/>
                    </a:cubicBezTo>
                    <a:cubicBezTo>
                      <a:pt x="203385" y="78459"/>
                      <a:pt x="202752" y="78459"/>
                      <a:pt x="202120" y="78459"/>
                    </a:cubicBezTo>
                    <a:cubicBezTo>
                      <a:pt x="167967" y="82886"/>
                      <a:pt x="138874" y="96801"/>
                      <a:pt x="114840" y="120834"/>
                    </a:cubicBezTo>
                    <a:cubicBezTo>
                      <a:pt x="113575" y="122099"/>
                      <a:pt x="110413" y="125261"/>
                      <a:pt x="105353" y="125261"/>
                    </a:cubicBezTo>
                    <a:cubicBezTo>
                      <a:pt x="103456" y="125261"/>
                      <a:pt x="101559" y="124629"/>
                      <a:pt x="99661" y="123364"/>
                    </a:cubicBezTo>
                    <a:cubicBezTo>
                      <a:pt x="95866" y="123364"/>
                      <a:pt x="92072" y="122099"/>
                      <a:pt x="88277" y="119569"/>
                    </a:cubicBezTo>
                    <a:cubicBezTo>
                      <a:pt x="82585" y="115142"/>
                      <a:pt x="76893" y="109450"/>
                      <a:pt x="70568" y="102493"/>
                    </a:cubicBezTo>
                    <a:cubicBezTo>
                      <a:pt x="67406" y="99330"/>
                      <a:pt x="64876" y="96801"/>
                      <a:pt x="62346" y="94903"/>
                    </a:cubicBezTo>
                    <a:cubicBezTo>
                      <a:pt x="59816" y="93638"/>
                      <a:pt x="57286" y="93638"/>
                      <a:pt x="56021" y="95536"/>
                    </a:cubicBezTo>
                    <a:cubicBezTo>
                      <a:pt x="54756" y="97433"/>
                      <a:pt x="55389" y="99963"/>
                      <a:pt x="57286" y="101860"/>
                    </a:cubicBezTo>
                    <a:cubicBezTo>
                      <a:pt x="59816" y="104390"/>
                      <a:pt x="62978" y="106287"/>
                      <a:pt x="65508" y="107552"/>
                    </a:cubicBezTo>
                    <a:cubicBezTo>
                      <a:pt x="72465" y="111347"/>
                      <a:pt x="78790" y="115774"/>
                      <a:pt x="85115" y="120202"/>
                    </a:cubicBezTo>
                    <a:cubicBezTo>
                      <a:pt x="87644" y="122099"/>
                      <a:pt x="92072" y="125894"/>
                      <a:pt x="93337" y="132218"/>
                    </a:cubicBezTo>
                    <a:cubicBezTo>
                      <a:pt x="95234" y="133483"/>
                      <a:pt x="95866" y="135381"/>
                      <a:pt x="96499" y="137278"/>
                    </a:cubicBezTo>
                    <a:cubicBezTo>
                      <a:pt x="97764" y="141705"/>
                      <a:pt x="95234" y="145500"/>
                      <a:pt x="93969" y="147397"/>
                    </a:cubicBezTo>
                    <a:cubicBezTo>
                      <a:pt x="75628" y="177123"/>
                      <a:pt x="68038" y="210011"/>
                      <a:pt x="72465" y="244164"/>
                    </a:cubicBezTo>
                    <a:cubicBezTo>
                      <a:pt x="73730" y="253018"/>
                      <a:pt x="68038" y="256181"/>
                      <a:pt x="64876" y="256813"/>
                    </a:cubicBezTo>
                    <a:cubicBezTo>
                      <a:pt x="61081" y="262505"/>
                      <a:pt x="55389" y="263138"/>
                      <a:pt x="52859" y="263770"/>
                    </a:cubicBezTo>
                    <a:cubicBezTo>
                      <a:pt x="44637" y="265667"/>
                      <a:pt x="35783" y="266300"/>
                      <a:pt x="27561" y="266932"/>
                    </a:cubicBezTo>
                    <a:cubicBezTo>
                      <a:pt x="23766" y="266932"/>
                      <a:pt x="20604" y="267565"/>
                      <a:pt x="18074" y="268830"/>
                    </a:cubicBezTo>
                    <a:cubicBezTo>
                      <a:pt x="15544" y="269462"/>
                      <a:pt x="14912" y="271992"/>
                      <a:pt x="14912" y="273889"/>
                    </a:cubicBezTo>
                    <a:cubicBezTo>
                      <a:pt x="15544" y="275787"/>
                      <a:pt x="17441" y="277052"/>
                      <a:pt x="19971" y="277052"/>
                    </a:cubicBezTo>
                    <a:cubicBezTo>
                      <a:pt x="23133" y="277052"/>
                      <a:pt x="26928" y="275787"/>
                      <a:pt x="30091" y="274522"/>
                    </a:cubicBezTo>
                    <a:cubicBezTo>
                      <a:pt x="38313" y="271360"/>
                      <a:pt x="45902" y="268830"/>
                      <a:pt x="52859" y="266932"/>
                    </a:cubicBezTo>
                    <a:lnTo>
                      <a:pt x="53492" y="266932"/>
                    </a:lnTo>
                    <a:cubicBezTo>
                      <a:pt x="56654" y="266300"/>
                      <a:pt x="61081" y="265035"/>
                      <a:pt x="66141" y="267565"/>
                    </a:cubicBezTo>
                    <a:cubicBezTo>
                      <a:pt x="66773" y="268197"/>
                      <a:pt x="67406" y="268197"/>
                      <a:pt x="67406" y="268197"/>
                    </a:cubicBezTo>
                    <a:cubicBezTo>
                      <a:pt x="69303" y="267565"/>
                      <a:pt x="72465" y="267565"/>
                      <a:pt x="74363" y="268830"/>
                    </a:cubicBezTo>
                    <a:cubicBezTo>
                      <a:pt x="78157" y="270727"/>
                      <a:pt x="78790" y="273889"/>
                      <a:pt x="79422" y="275154"/>
                    </a:cubicBezTo>
                    <a:cubicBezTo>
                      <a:pt x="91439" y="308675"/>
                      <a:pt x="112310" y="335238"/>
                      <a:pt x="142668" y="354212"/>
                    </a:cubicBezTo>
                    <a:cubicBezTo>
                      <a:pt x="147728" y="357374"/>
                      <a:pt x="148361" y="363066"/>
                      <a:pt x="146463" y="366861"/>
                    </a:cubicBezTo>
                    <a:close/>
                    <a:moveTo>
                      <a:pt x="284972" y="374451"/>
                    </a:moveTo>
                    <a:cubicBezTo>
                      <a:pt x="284972" y="374451"/>
                      <a:pt x="284972" y="374451"/>
                      <a:pt x="284972" y="374451"/>
                    </a:cubicBezTo>
                    <a:cubicBezTo>
                      <a:pt x="284972" y="374451"/>
                      <a:pt x="284972" y="374451"/>
                      <a:pt x="284972" y="374451"/>
                    </a:cubicBezTo>
                    <a:close/>
                    <a:moveTo>
                      <a:pt x="155318" y="373818"/>
                    </a:moveTo>
                    <a:cubicBezTo>
                      <a:pt x="155318" y="373818"/>
                      <a:pt x="155318" y="373818"/>
                      <a:pt x="155318" y="373818"/>
                    </a:cubicBezTo>
                    <a:cubicBezTo>
                      <a:pt x="155318" y="373818"/>
                      <a:pt x="155318" y="373818"/>
                      <a:pt x="155318" y="373818"/>
                    </a:cubicBezTo>
                    <a:close/>
                    <a:moveTo>
                      <a:pt x="145198" y="364964"/>
                    </a:moveTo>
                    <a:cubicBezTo>
                      <a:pt x="145198" y="364964"/>
                      <a:pt x="145198" y="364964"/>
                      <a:pt x="145198" y="364964"/>
                    </a:cubicBezTo>
                    <a:cubicBezTo>
                      <a:pt x="145198" y="364964"/>
                      <a:pt x="145198" y="364964"/>
                      <a:pt x="145198" y="364964"/>
                    </a:cubicBezTo>
                    <a:close/>
                    <a:moveTo>
                      <a:pt x="294459" y="364331"/>
                    </a:moveTo>
                    <a:cubicBezTo>
                      <a:pt x="294459" y="364331"/>
                      <a:pt x="294459" y="364331"/>
                      <a:pt x="294459" y="364331"/>
                    </a:cubicBezTo>
                    <a:cubicBezTo>
                      <a:pt x="294459" y="364331"/>
                      <a:pt x="294459" y="364331"/>
                      <a:pt x="294459" y="364331"/>
                    </a:cubicBezTo>
                    <a:close/>
                    <a:moveTo>
                      <a:pt x="65508" y="254283"/>
                    </a:moveTo>
                    <a:cubicBezTo>
                      <a:pt x="65508" y="254283"/>
                      <a:pt x="65508" y="254283"/>
                      <a:pt x="65508" y="254283"/>
                    </a:cubicBezTo>
                    <a:cubicBezTo>
                      <a:pt x="65508" y="254283"/>
                      <a:pt x="65508" y="254283"/>
                      <a:pt x="65508" y="254283"/>
                    </a:cubicBezTo>
                    <a:close/>
                    <a:moveTo>
                      <a:pt x="89542" y="129688"/>
                    </a:moveTo>
                    <a:cubicBezTo>
                      <a:pt x="89542" y="129688"/>
                      <a:pt x="89542" y="129688"/>
                      <a:pt x="89542" y="129688"/>
                    </a:cubicBezTo>
                    <a:cubicBezTo>
                      <a:pt x="89542" y="129688"/>
                      <a:pt x="89542" y="129688"/>
                      <a:pt x="89542" y="129688"/>
                    </a:cubicBezTo>
                    <a:close/>
                    <a:moveTo>
                      <a:pt x="219829" y="359904"/>
                    </a:moveTo>
                    <a:cubicBezTo>
                      <a:pt x="206547" y="359904"/>
                      <a:pt x="193265" y="358007"/>
                      <a:pt x="180616" y="353579"/>
                    </a:cubicBezTo>
                    <a:cubicBezTo>
                      <a:pt x="179351" y="352947"/>
                      <a:pt x="174924" y="351682"/>
                      <a:pt x="173659" y="347887"/>
                    </a:cubicBezTo>
                    <a:cubicBezTo>
                      <a:pt x="171762" y="343460"/>
                      <a:pt x="174291" y="339665"/>
                      <a:pt x="174924" y="338400"/>
                    </a:cubicBezTo>
                    <a:cubicBezTo>
                      <a:pt x="180616" y="328281"/>
                      <a:pt x="186308" y="317529"/>
                      <a:pt x="192000" y="307410"/>
                    </a:cubicBezTo>
                    <a:lnTo>
                      <a:pt x="203385" y="286539"/>
                    </a:lnTo>
                    <a:cubicBezTo>
                      <a:pt x="207179" y="280214"/>
                      <a:pt x="212871" y="276419"/>
                      <a:pt x="219829" y="276419"/>
                    </a:cubicBezTo>
                    <a:cubicBezTo>
                      <a:pt x="226786" y="276419"/>
                      <a:pt x="232478" y="280214"/>
                      <a:pt x="236272" y="286539"/>
                    </a:cubicBezTo>
                    <a:cubicBezTo>
                      <a:pt x="241332" y="295393"/>
                      <a:pt x="245759" y="304247"/>
                      <a:pt x="250819" y="312469"/>
                    </a:cubicBezTo>
                    <a:lnTo>
                      <a:pt x="259041" y="327648"/>
                    </a:lnTo>
                    <a:cubicBezTo>
                      <a:pt x="260938" y="330811"/>
                      <a:pt x="262836" y="334606"/>
                      <a:pt x="264733" y="337768"/>
                    </a:cubicBezTo>
                    <a:cubicBezTo>
                      <a:pt x="265366" y="339033"/>
                      <a:pt x="267896" y="343460"/>
                      <a:pt x="265998" y="347887"/>
                    </a:cubicBezTo>
                    <a:cubicBezTo>
                      <a:pt x="264101" y="352314"/>
                      <a:pt x="259674" y="353579"/>
                      <a:pt x="258409" y="354212"/>
                    </a:cubicBezTo>
                    <a:lnTo>
                      <a:pt x="258409" y="354212"/>
                    </a:lnTo>
                    <a:cubicBezTo>
                      <a:pt x="245759" y="357374"/>
                      <a:pt x="232478" y="359271"/>
                      <a:pt x="219829" y="359904"/>
                    </a:cubicBezTo>
                    <a:close/>
                    <a:moveTo>
                      <a:pt x="191368" y="340298"/>
                    </a:moveTo>
                    <a:cubicBezTo>
                      <a:pt x="200855" y="342828"/>
                      <a:pt x="210342" y="344092"/>
                      <a:pt x="219829" y="344092"/>
                    </a:cubicBezTo>
                    <a:cubicBezTo>
                      <a:pt x="229315" y="344092"/>
                      <a:pt x="238170" y="342828"/>
                      <a:pt x="247657" y="340298"/>
                    </a:cubicBezTo>
                    <a:cubicBezTo>
                      <a:pt x="246392" y="338400"/>
                      <a:pt x="245759" y="336503"/>
                      <a:pt x="244494" y="335238"/>
                    </a:cubicBezTo>
                    <a:lnTo>
                      <a:pt x="236272" y="320059"/>
                    </a:lnTo>
                    <a:cubicBezTo>
                      <a:pt x="231213" y="311205"/>
                      <a:pt x="226786" y="302983"/>
                      <a:pt x="221726" y="294128"/>
                    </a:cubicBezTo>
                    <a:cubicBezTo>
                      <a:pt x="221093" y="292863"/>
                      <a:pt x="219829" y="291598"/>
                      <a:pt x="219196" y="292231"/>
                    </a:cubicBezTo>
                    <a:cubicBezTo>
                      <a:pt x="218564" y="292231"/>
                      <a:pt x="217299" y="292863"/>
                      <a:pt x="216666" y="294128"/>
                    </a:cubicBezTo>
                    <a:lnTo>
                      <a:pt x="205282" y="314999"/>
                    </a:lnTo>
                    <a:cubicBezTo>
                      <a:pt x="200855" y="323221"/>
                      <a:pt x="196428" y="331443"/>
                      <a:pt x="191368" y="340298"/>
                    </a:cubicBezTo>
                    <a:close/>
                    <a:moveTo>
                      <a:pt x="288134" y="339033"/>
                    </a:moveTo>
                    <a:cubicBezTo>
                      <a:pt x="287502" y="339033"/>
                      <a:pt x="286237" y="339033"/>
                      <a:pt x="285604" y="338400"/>
                    </a:cubicBezTo>
                    <a:cubicBezTo>
                      <a:pt x="281177" y="337135"/>
                      <a:pt x="279912" y="333341"/>
                      <a:pt x="279280" y="332076"/>
                    </a:cubicBezTo>
                    <a:cubicBezTo>
                      <a:pt x="273588" y="317529"/>
                      <a:pt x="267263" y="302983"/>
                      <a:pt x="261571" y="289068"/>
                    </a:cubicBezTo>
                    <a:lnTo>
                      <a:pt x="256511" y="276419"/>
                    </a:lnTo>
                    <a:cubicBezTo>
                      <a:pt x="255879" y="274522"/>
                      <a:pt x="254614" y="271992"/>
                      <a:pt x="255246" y="268830"/>
                    </a:cubicBezTo>
                    <a:cubicBezTo>
                      <a:pt x="255246" y="263770"/>
                      <a:pt x="257776" y="258710"/>
                      <a:pt x="262203" y="254916"/>
                    </a:cubicBezTo>
                    <a:cubicBezTo>
                      <a:pt x="266631" y="251753"/>
                      <a:pt x="271690" y="249856"/>
                      <a:pt x="276750" y="251121"/>
                    </a:cubicBezTo>
                    <a:cubicBezTo>
                      <a:pt x="289399" y="253018"/>
                      <a:pt x="302048" y="255548"/>
                      <a:pt x="314698" y="257445"/>
                    </a:cubicBezTo>
                    <a:lnTo>
                      <a:pt x="336201" y="261240"/>
                    </a:lnTo>
                    <a:cubicBezTo>
                      <a:pt x="337466" y="261240"/>
                      <a:pt x="341893" y="261873"/>
                      <a:pt x="343791" y="266300"/>
                    </a:cubicBezTo>
                    <a:cubicBezTo>
                      <a:pt x="345056" y="268830"/>
                      <a:pt x="345688" y="271992"/>
                      <a:pt x="343791" y="275787"/>
                    </a:cubicBezTo>
                    <a:lnTo>
                      <a:pt x="343791" y="275787"/>
                    </a:lnTo>
                    <a:cubicBezTo>
                      <a:pt x="333671" y="301718"/>
                      <a:pt x="317227" y="322589"/>
                      <a:pt x="294459" y="337768"/>
                    </a:cubicBezTo>
                    <a:cubicBezTo>
                      <a:pt x="293826" y="337135"/>
                      <a:pt x="291297" y="339033"/>
                      <a:pt x="288134" y="339033"/>
                    </a:cubicBezTo>
                    <a:close/>
                    <a:moveTo>
                      <a:pt x="270425" y="268830"/>
                    </a:moveTo>
                    <a:cubicBezTo>
                      <a:pt x="270425" y="268830"/>
                      <a:pt x="270425" y="269462"/>
                      <a:pt x="270425" y="269462"/>
                    </a:cubicBezTo>
                    <a:lnTo>
                      <a:pt x="275485" y="282111"/>
                    </a:lnTo>
                    <a:cubicBezTo>
                      <a:pt x="280545" y="294128"/>
                      <a:pt x="285604" y="306777"/>
                      <a:pt x="290664" y="318794"/>
                    </a:cubicBezTo>
                    <a:cubicBezTo>
                      <a:pt x="306476" y="306777"/>
                      <a:pt x="317860" y="291598"/>
                      <a:pt x="326082" y="273889"/>
                    </a:cubicBezTo>
                    <a:lnTo>
                      <a:pt x="310903" y="271360"/>
                    </a:lnTo>
                    <a:cubicBezTo>
                      <a:pt x="298254" y="269462"/>
                      <a:pt x="285604" y="266932"/>
                      <a:pt x="272955" y="265035"/>
                    </a:cubicBezTo>
                    <a:cubicBezTo>
                      <a:pt x="271690" y="265035"/>
                      <a:pt x="271058" y="265035"/>
                      <a:pt x="271058" y="265667"/>
                    </a:cubicBezTo>
                    <a:cubicBezTo>
                      <a:pt x="271058" y="266932"/>
                      <a:pt x="270425" y="267565"/>
                      <a:pt x="270425" y="268830"/>
                    </a:cubicBezTo>
                    <a:lnTo>
                      <a:pt x="270425" y="268830"/>
                    </a:lnTo>
                    <a:close/>
                    <a:moveTo>
                      <a:pt x="151523" y="338400"/>
                    </a:moveTo>
                    <a:cubicBezTo>
                      <a:pt x="148361" y="338400"/>
                      <a:pt x="145831" y="336503"/>
                      <a:pt x="144566" y="335870"/>
                    </a:cubicBezTo>
                    <a:cubicBezTo>
                      <a:pt x="122430" y="320691"/>
                      <a:pt x="106618" y="300453"/>
                      <a:pt x="96499" y="275154"/>
                    </a:cubicBezTo>
                    <a:cubicBezTo>
                      <a:pt x="95866" y="273257"/>
                      <a:pt x="93969" y="269462"/>
                      <a:pt x="96499" y="265667"/>
                    </a:cubicBezTo>
                    <a:cubicBezTo>
                      <a:pt x="97764" y="263138"/>
                      <a:pt x="100926" y="261240"/>
                      <a:pt x="104088" y="260608"/>
                    </a:cubicBezTo>
                    <a:cubicBezTo>
                      <a:pt x="119267" y="258078"/>
                      <a:pt x="135079" y="255548"/>
                      <a:pt x="150258" y="253018"/>
                    </a:cubicBezTo>
                    <a:lnTo>
                      <a:pt x="166702" y="250488"/>
                    </a:lnTo>
                    <a:cubicBezTo>
                      <a:pt x="172394" y="250488"/>
                      <a:pt x="177454" y="253018"/>
                      <a:pt x="181248" y="257445"/>
                    </a:cubicBezTo>
                    <a:cubicBezTo>
                      <a:pt x="185043" y="261873"/>
                      <a:pt x="186308" y="267565"/>
                      <a:pt x="185043" y="272624"/>
                    </a:cubicBezTo>
                    <a:lnTo>
                      <a:pt x="185043" y="272624"/>
                    </a:lnTo>
                    <a:cubicBezTo>
                      <a:pt x="184411" y="275154"/>
                      <a:pt x="183778" y="277052"/>
                      <a:pt x="183146" y="278949"/>
                    </a:cubicBezTo>
                    <a:lnTo>
                      <a:pt x="176821" y="294761"/>
                    </a:lnTo>
                    <a:cubicBezTo>
                      <a:pt x="171762" y="306777"/>
                      <a:pt x="166702" y="318794"/>
                      <a:pt x="161642" y="331443"/>
                    </a:cubicBezTo>
                    <a:cubicBezTo>
                      <a:pt x="161010" y="332708"/>
                      <a:pt x="159112" y="337135"/>
                      <a:pt x="154685" y="338400"/>
                    </a:cubicBezTo>
                    <a:cubicBezTo>
                      <a:pt x="153420" y="338400"/>
                      <a:pt x="152155" y="338400"/>
                      <a:pt x="151523" y="338400"/>
                    </a:cubicBezTo>
                    <a:close/>
                    <a:moveTo>
                      <a:pt x="113575" y="275154"/>
                    </a:moveTo>
                    <a:cubicBezTo>
                      <a:pt x="121797" y="292863"/>
                      <a:pt x="133814" y="307410"/>
                      <a:pt x="148993" y="319427"/>
                    </a:cubicBezTo>
                    <a:cubicBezTo>
                      <a:pt x="153420" y="308675"/>
                      <a:pt x="157215" y="298555"/>
                      <a:pt x="161642" y="288436"/>
                    </a:cubicBezTo>
                    <a:lnTo>
                      <a:pt x="167967" y="272624"/>
                    </a:lnTo>
                    <a:cubicBezTo>
                      <a:pt x="168599" y="271360"/>
                      <a:pt x="168599" y="270095"/>
                      <a:pt x="169232" y="269462"/>
                    </a:cubicBezTo>
                    <a:cubicBezTo>
                      <a:pt x="169232" y="268830"/>
                      <a:pt x="169232" y="268197"/>
                      <a:pt x="168599" y="267565"/>
                    </a:cubicBezTo>
                    <a:cubicBezTo>
                      <a:pt x="167967" y="266932"/>
                      <a:pt x="167334" y="266932"/>
                      <a:pt x="167334" y="266300"/>
                    </a:cubicBezTo>
                    <a:lnTo>
                      <a:pt x="152788" y="268830"/>
                    </a:lnTo>
                    <a:cubicBezTo>
                      <a:pt x="139506" y="270727"/>
                      <a:pt x="126224" y="273257"/>
                      <a:pt x="113575" y="275154"/>
                    </a:cubicBezTo>
                    <a:close/>
                    <a:moveTo>
                      <a:pt x="89542" y="249223"/>
                    </a:moveTo>
                    <a:lnTo>
                      <a:pt x="87644" y="241001"/>
                    </a:lnTo>
                    <a:cubicBezTo>
                      <a:pt x="85747" y="232147"/>
                      <a:pt x="86379" y="223925"/>
                      <a:pt x="87012" y="216968"/>
                    </a:cubicBezTo>
                    <a:cubicBezTo>
                      <a:pt x="88277" y="196729"/>
                      <a:pt x="94601" y="177755"/>
                      <a:pt x="104088" y="160047"/>
                    </a:cubicBezTo>
                    <a:cubicBezTo>
                      <a:pt x="104721" y="158782"/>
                      <a:pt x="107251" y="154987"/>
                      <a:pt x="111678" y="154354"/>
                    </a:cubicBezTo>
                    <a:cubicBezTo>
                      <a:pt x="114840" y="153722"/>
                      <a:pt x="117370" y="154987"/>
                      <a:pt x="120532" y="157517"/>
                    </a:cubicBezTo>
                    <a:cubicBezTo>
                      <a:pt x="135079" y="170798"/>
                      <a:pt x="149625" y="183448"/>
                      <a:pt x="164172" y="196729"/>
                    </a:cubicBezTo>
                    <a:cubicBezTo>
                      <a:pt x="170497" y="202421"/>
                      <a:pt x="173026" y="208746"/>
                      <a:pt x="171129" y="216336"/>
                    </a:cubicBezTo>
                    <a:cubicBezTo>
                      <a:pt x="169232" y="223293"/>
                      <a:pt x="164805" y="228352"/>
                      <a:pt x="156583" y="230250"/>
                    </a:cubicBezTo>
                    <a:cubicBezTo>
                      <a:pt x="142036" y="234677"/>
                      <a:pt x="127489" y="238472"/>
                      <a:pt x="112943" y="242899"/>
                    </a:cubicBezTo>
                    <a:lnTo>
                      <a:pt x="89542" y="249223"/>
                    </a:lnTo>
                    <a:close/>
                    <a:moveTo>
                      <a:pt x="114840" y="173328"/>
                    </a:moveTo>
                    <a:cubicBezTo>
                      <a:pt x="107883" y="187242"/>
                      <a:pt x="103456" y="202421"/>
                      <a:pt x="102823" y="217600"/>
                    </a:cubicBezTo>
                    <a:lnTo>
                      <a:pt x="102823" y="217600"/>
                    </a:lnTo>
                    <a:cubicBezTo>
                      <a:pt x="102823" y="221395"/>
                      <a:pt x="102191" y="225190"/>
                      <a:pt x="102191" y="228352"/>
                    </a:cubicBezTo>
                    <a:lnTo>
                      <a:pt x="108516" y="226455"/>
                    </a:lnTo>
                    <a:cubicBezTo>
                      <a:pt x="123062" y="222028"/>
                      <a:pt x="137609" y="218233"/>
                      <a:pt x="152155" y="213806"/>
                    </a:cubicBezTo>
                    <a:cubicBezTo>
                      <a:pt x="155318" y="213173"/>
                      <a:pt x="155318" y="211908"/>
                      <a:pt x="155950" y="211276"/>
                    </a:cubicBezTo>
                    <a:cubicBezTo>
                      <a:pt x="155950" y="210643"/>
                      <a:pt x="156583" y="209378"/>
                      <a:pt x="154053" y="207481"/>
                    </a:cubicBezTo>
                    <a:cubicBezTo>
                      <a:pt x="140771" y="196729"/>
                      <a:pt x="128122" y="184713"/>
                      <a:pt x="114840" y="173328"/>
                    </a:cubicBezTo>
                    <a:close/>
                    <a:moveTo>
                      <a:pt x="343158" y="246694"/>
                    </a:moveTo>
                    <a:cubicBezTo>
                      <a:pt x="341261" y="246694"/>
                      <a:pt x="339996" y="246061"/>
                      <a:pt x="339364" y="246061"/>
                    </a:cubicBezTo>
                    <a:lnTo>
                      <a:pt x="321022" y="241001"/>
                    </a:lnTo>
                    <a:cubicBezTo>
                      <a:pt x="307741" y="237207"/>
                      <a:pt x="294459" y="233412"/>
                      <a:pt x="281177" y="229617"/>
                    </a:cubicBezTo>
                    <a:cubicBezTo>
                      <a:pt x="274220" y="227720"/>
                      <a:pt x="269160" y="222660"/>
                      <a:pt x="267896" y="215703"/>
                    </a:cubicBezTo>
                    <a:cubicBezTo>
                      <a:pt x="266631" y="209378"/>
                      <a:pt x="268528" y="202421"/>
                      <a:pt x="274220" y="197362"/>
                    </a:cubicBezTo>
                    <a:cubicBezTo>
                      <a:pt x="281177" y="191037"/>
                      <a:pt x="288767" y="184080"/>
                      <a:pt x="295724" y="177755"/>
                    </a:cubicBezTo>
                    <a:cubicBezTo>
                      <a:pt x="303313" y="170798"/>
                      <a:pt x="310903" y="164474"/>
                      <a:pt x="318492" y="157517"/>
                    </a:cubicBezTo>
                    <a:cubicBezTo>
                      <a:pt x="319757" y="156884"/>
                      <a:pt x="322920" y="153722"/>
                      <a:pt x="327347" y="154354"/>
                    </a:cubicBezTo>
                    <a:cubicBezTo>
                      <a:pt x="331774" y="154987"/>
                      <a:pt x="334304" y="158782"/>
                      <a:pt x="334936" y="160047"/>
                    </a:cubicBezTo>
                    <a:cubicBezTo>
                      <a:pt x="345056" y="177755"/>
                      <a:pt x="350748" y="196097"/>
                      <a:pt x="352645" y="215703"/>
                    </a:cubicBezTo>
                    <a:lnTo>
                      <a:pt x="352645" y="216968"/>
                    </a:lnTo>
                    <a:cubicBezTo>
                      <a:pt x="352645" y="220130"/>
                      <a:pt x="353278" y="223925"/>
                      <a:pt x="353278" y="227720"/>
                    </a:cubicBezTo>
                    <a:cubicBezTo>
                      <a:pt x="353278" y="231515"/>
                      <a:pt x="353278" y="234677"/>
                      <a:pt x="352645" y="237839"/>
                    </a:cubicBezTo>
                    <a:lnTo>
                      <a:pt x="352645" y="237839"/>
                    </a:lnTo>
                    <a:cubicBezTo>
                      <a:pt x="352013" y="242266"/>
                      <a:pt x="350115" y="244164"/>
                      <a:pt x="348218" y="245429"/>
                    </a:cubicBezTo>
                    <a:cubicBezTo>
                      <a:pt x="346953" y="246061"/>
                      <a:pt x="345056" y="246694"/>
                      <a:pt x="343158" y="246694"/>
                    </a:cubicBezTo>
                    <a:close/>
                    <a:moveTo>
                      <a:pt x="324184" y="173328"/>
                    </a:moveTo>
                    <a:cubicBezTo>
                      <a:pt x="318492" y="178388"/>
                      <a:pt x="312168" y="184080"/>
                      <a:pt x="306476" y="189140"/>
                    </a:cubicBezTo>
                    <a:cubicBezTo>
                      <a:pt x="299519" y="195464"/>
                      <a:pt x="291929" y="202421"/>
                      <a:pt x="284972" y="208746"/>
                    </a:cubicBezTo>
                    <a:cubicBezTo>
                      <a:pt x="283707" y="210011"/>
                      <a:pt x="283075" y="210643"/>
                      <a:pt x="283075" y="211908"/>
                    </a:cubicBezTo>
                    <a:cubicBezTo>
                      <a:pt x="283075" y="212541"/>
                      <a:pt x="284339" y="213173"/>
                      <a:pt x="285604" y="213806"/>
                    </a:cubicBezTo>
                    <a:cubicBezTo>
                      <a:pt x="298886" y="217600"/>
                      <a:pt x="312168" y="221395"/>
                      <a:pt x="325449" y="225190"/>
                    </a:cubicBezTo>
                    <a:lnTo>
                      <a:pt x="336834" y="228352"/>
                    </a:lnTo>
                    <a:cubicBezTo>
                      <a:pt x="336834" y="227720"/>
                      <a:pt x="336834" y="227087"/>
                      <a:pt x="336834" y="227087"/>
                    </a:cubicBezTo>
                    <a:lnTo>
                      <a:pt x="336834" y="226455"/>
                    </a:lnTo>
                    <a:cubicBezTo>
                      <a:pt x="336834" y="223925"/>
                      <a:pt x="336834" y="220763"/>
                      <a:pt x="336201" y="217600"/>
                    </a:cubicBezTo>
                    <a:lnTo>
                      <a:pt x="336201" y="216336"/>
                    </a:lnTo>
                    <a:cubicBezTo>
                      <a:pt x="335569" y="201789"/>
                      <a:pt x="331142" y="187242"/>
                      <a:pt x="324184" y="173328"/>
                    </a:cubicBezTo>
                    <a:close/>
                    <a:moveTo>
                      <a:pt x="128754" y="129056"/>
                    </a:moveTo>
                    <a:cubicBezTo>
                      <a:pt x="147096" y="111980"/>
                      <a:pt x="169232" y="100595"/>
                      <a:pt x="194530" y="95536"/>
                    </a:cubicBezTo>
                    <a:lnTo>
                      <a:pt x="195163" y="95536"/>
                    </a:lnTo>
                    <a:cubicBezTo>
                      <a:pt x="196428" y="95536"/>
                      <a:pt x="197060" y="94903"/>
                      <a:pt x="198325" y="94903"/>
                    </a:cubicBezTo>
                    <a:cubicBezTo>
                      <a:pt x="201487" y="94271"/>
                      <a:pt x="205282" y="93638"/>
                      <a:pt x="209077" y="96801"/>
                    </a:cubicBezTo>
                    <a:cubicBezTo>
                      <a:pt x="212239" y="99963"/>
                      <a:pt x="212239" y="103758"/>
                      <a:pt x="212239" y="106920"/>
                    </a:cubicBezTo>
                    <a:lnTo>
                      <a:pt x="210974" y="123364"/>
                    </a:lnTo>
                    <a:cubicBezTo>
                      <a:pt x="210342" y="137910"/>
                      <a:pt x="209077" y="151825"/>
                      <a:pt x="208444" y="166371"/>
                    </a:cubicBezTo>
                    <a:cubicBezTo>
                      <a:pt x="207812" y="173328"/>
                      <a:pt x="204017" y="179020"/>
                      <a:pt x="198325" y="182183"/>
                    </a:cubicBezTo>
                    <a:cubicBezTo>
                      <a:pt x="195795" y="183448"/>
                      <a:pt x="193265" y="184080"/>
                      <a:pt x="190735" y="184080"/>
                    </a:cubicBezTo>
                    <a:cubicBezTo>
                      <a:pt x="186941" y="184080"/>
                      <a:pt x="183146" y="182815"/>
                      <a:pt x="179984" y="180918"/>
                    </a:cubicBezTo>
                    <a:cubicBezTo>
                      <a:pt x="171762" y="175226"/>
                      <a:pt x="163540" y="168901"/>
                      <a:pt x="154685" y="163209"/>
                    </a:cubicBezTo>
                    <a:cubicBezTo>
                      <a:pt x="146463" y="157517"/>
                      <a:pt x="138241" y="151192"/>
                      <a:pt x="129387" y="145500"/>
                    </a:cubicBezTo>
                    <a:cubicBezTo>
                      <a:pt x="126857" y="142970"/>
                      <a:pt x="124960" y="140440"/>
                      <a:pt x="124960" y="137278"/>
                    </a:cubicBezTo>
                    <a:cubicBezTo>
                      <a:pt x="124327" y="132851"/>
                      <a:pt x="127489" y="130321"/>
                      <a:pt x="128754" y="129056"/>
                    </a:cubicBezTo>
                    <a:moveTo>
                      <a:pt x="144566" y="136013"/>
                    </a:moveTo>
                    <a:cubicBezTo>
                      <a:pt x="150890" y="140440"/>
                      <a:pt x="157215" y="144868"/>
                      <a:pt x="163540" y="149295"/>
                    </a:cubicBezTo>
                    <a:cubicBezTo>
                      <a:pt x="171762" y="154987"/>
                      <a:pt x="179984" y="161311"/>
                      <a:pt x="188206" y="167004"/>
                    </a:cubicBezTo>
                    <a:cubicBezTo>
                      <a:pt x="189470" y="167636"/>
                      <a:pt x="190103" y="167636"/>
                      <a:pt x="190735" y="167636"/>
                    </a:cubicBezTo>
                    <a:cubicBezTo>
                      <a:pt x="191368" y="167636"/>
                      <a:pt x="192000" y="167004"/>
                      <a:pt x="192000" y="165106"/>
                    </a:cubicBezTo>
                    <a:cubicBezTo>
                      <a:pt x="192633" y="150560"/>
                      <a:pt x="193898" y="136646"/>
                      <a:pt x="194530" y="122099"/>
                    </a:cubicBezTo>
                    <a:lnTo>
                      <a:pt x="195163" y="111347"/>
                    </a:lnTo>
                    <a:cubicBezTo>
                      <a:pt x="176821" y="115142"/>
                      <a:pt x="159745" y="123996"/>
                      <a:pt x="144566" y="136013"/>
                    </a:cubicBezTo>
                    <a:close/>
                    <a:moveTo>
                      <a:pt x="248922" y="183448"/>
                    </a:moveTo>
                    <a:cubicBezTo>
                      <a:pt x="245759" y="183448"/>
                      <a:pt x="243230" y="182815"/>
                      <a:pt x="241332" y="181550"/>
                    </a:cubicBezTo>
                    <a:cubicBezTo>
                      <a:pt x="236905" y="179653"/>
                      <a:pt x="231213" y="174593"/>
                      <a:pt x="230580" y="164474"/>
                    </a:cubicBezTo>
                    <a:lnTo>
                      <a:pt x="227418" y="110082"/>
                    </a:lnTo>
                    <a:cubicBezTo>
                      <a:pt x="227418" y="104390"/>
                      <a:pt x="227418" y="100595"/>
                      <a:pt x="230580" y="97433"/>
                    </a:cubicBezTo>
                    <a:cubicBezTo>
                      <a:pt x="234375" y="94271"/>
                      <a:pt x="238170" y="94903"/>
                      <a:pt x="242597" y="95536"/>
                    </a:cubicBezTo>
                    <a:lnTo>
                      <a:pt x="242597" y="95536"/>
                    </a:lnTo>
                    <a:cubicBezTo>
                      <a:pt x="267263" y="99963"/>
                      <a:pt x="289399" y="111347"/>
                      <a:pt x="309005" y="128424"/>
                    </a:cubicBezTo>
                    <a:cubicBezTo>
                      <a:pt x="310270" y="129688"/>
                      <a:pt x="313433" y="132851"/>
                      <a:pt x="313433" y="137278"/>
                    </a:cubicBezTo>
                    <a:cubicBezTo>
                      <a:pt x="313433" y="142338"/>
                      <a:pt x="309638" y="144868"/>
                      <a:pt x="307741" y="145500"/>
                    </a:cubicBezTo>
                    <a:cubicBezTo>
                      <a:pt x="291929" y="156252"/>
                      <a:pt x="276118" y="167636"/>
                      <a:pt x="260306" y="179020"/>
                    </a:cubicBezTo>
                    <a:cubicBezTo>
                      <a:pt x="257144" y="182183"/>
                      <a:pt x="252716" y="183448"/>
                      <a:pt x="248922" y="183448"/>
                    </a:cubicBezTo>
                    <a:close/>
                    <a:moveTo>
                      <a:pt x="243862" y="111347"/>
                    </a:moveTo>
                    <a:lnTo>
                      <a:pt x="247024" y="163209"/>
                    </a:lnTo>
                    <a:cubicBezTo>
                      <a:pt x="247024" y="166371"/>
                      <a:pt x="247657" y="166371"/>
                      <a:pt x="248289" y="167004"/>
                    </a:cubicBezTo>
                    <a:cubicBezTo>
                      <a:pt x="248922" y="167636"/>
                      <a:pt x="250187" y="167636"/>
                      <a:pt x="252716" y="165739"/>
                    </a:cubicBezTo>
                    <a:cubicBezTo>
                      <a:pt x="266631" y="155619"/>
                      <a:pt x="280545" y="145500"/>
                      <a:pt x="295091" y="136013"/>
                    </a:cubicBezTo>
                    <a:cubicBezTo>
                      <a:pt x="278647" y="123364"/>
                      <a:pt x="262203" y="115774"/>
                      <a:pt x="243862" y="11134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79" name="Google Shape;2585;p19">
                <a:extLst>
                  <a:ext uri="{FF2B5EF4-FFF2-40B4-BE49-F238E27FC236}">
                    <a16:creationId xmlns:a16="http://schemas.microsoft.com/office/drawing/2014/main" id="{BAE435B4-DC4E-CDDE-2556-D1352E34F385}"/>
                  </a:ext>
                </a:extLst>
              </p:cNvPr>
              <p:cNvSpPr/>
              <p:nvPr/>
            </p:nvSpPr>
            <p:spPr>
              <a:xfrm>
                <a:off x="10032185" y="4702267"/>
                <a:ext cx="60716" cy="60083"/>
              </a:xfrm>
              <a:custGeom>
                <a:avLst/>
                <a:gdLst/>
                <a:ahLst/>
                <a:cxnLst/>
                <a:rect l="l" t="t" r="r" b="b"/>
                <a:pathLst>
                  <a:path w="60716" h="60083" extrusionOk="0">
                    <a:moveTo>
                      <a:pt x="30991" y="60084"/>
                    </a:moveTo>
                    <a:lnTo>
                      <a:pt x="6325" y="48067"/>
                    </a:lnTo>
                    <a:lnTo>
                      <a:pt x="0" y="21504"/>
                    </a:lnTo>
                    <a:lnTo>
                      <a:pt x="17076" y="0"/>
                    </a:lnTo>
                    <a:lnTo>
                      <a:pt x="44272" y="0"/>
                    </a:lnTo>
                    <a:lnTo>
                      <a:pt x="60716" y="21504"/>
                    </a:lnTo>
                    <a:lnTo>
                      <a:pt x="55024" y="48067"/>
                    </a:lnTo>
                    <a:lnTo>
                      <a:pt x="30991" y="60084"/>
                    </a:lnTo>
                    <a:close/>
                    <a:moveTo>
                      <a:pt x="20239" y="37315"/>
                    </a:moveTo>
                    <a:lnTo>
                      <a:pt x="30991" y="42375"/>
                    </a:lnTo>
                    <a:lnTo>
                      <a:pt x="41742" y="37315"/>
                    </a:lnTo>
                    <a:lnTo>
                      <a:pt x="44272" y="25931"/>
                    </a:lnTo>
                    <a:lnTo>
                      <a:pt x="37315" y="17076"/>
                    </a:lnTo>
                    <a:lnTo>
                      <a:pt x="24666" y="17076"/>
                    </a:lnTo>
                    <a:lnTo>
                      <a:pt x="17076" y="26563"/>
                    </a:lnTo>
                    <a:lnTo>
                      <a:pt x="20239" y="37315"/>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grpSp>
        <p:nvGrpSpPr>
          <p:cNvPr id="280" name="Google Shape;2610;p19">
            <a:extLst>
              <a:ext uri="{FF2B5EF4-FFF2-40B4-BE49-F238E27FC236}">
                <a16:creationId xmlns:a16="http://schemas.microsoft.com/office/drawing/2014/main" id="{5D8E5DFF-75BB-E311-3401-2639D708B49A}"/>
              </a:ext>
            </a:extLst>
          </p:cNvPr>
          <p:cNvGrpSpPr/>
          <p:nvPr/>
        </p:nvGrpSpPr>
        <p:grpSpPr>
          <a:xfrm>
            <a:off x="5591332" y="2203591"/>
            <a:ext cx="983602" cy="985802"/>
            <a:chOff x="5604198" y="1631191"/>
            <a:chExt cx="983602" cy="985802"/>
          </a:xfrm>
        </p:grpSpPr>
        <p:sp>
          <p:nvSpPr>
            <p:cNvPr id="281" name="Google Shape;2611;p19">
              <a:extLst>
                <a:ext uri="{FF2B5EF4-FFF2-40B4-BE49-F238E27FC236}">
                  <a16:creationId xmlns:a16="http://schemas.microsoft.com/office/drawing/2014/main" id="{60F180F6-5B06-05C2-021C-F3778D6CE8F5}"/>
                </a:ext>
              </a:extLst>
            </p:cNvPr>
            <p:cNvSpPr/>
            <p:nvPr/>
          </p:nvSpPr>
          <p:spPr>
            <a:xfrm>
              <a:off x="5604198" y="1631191"/>
              <a:ext cx="983602" cy="985802"/>
            </a:xfrm>
            <a:prstGeom prst="ellipse">
              <a:avLst/>
            </a:prstGeom>
            <a:solidFill>
              <a:schemeClr val="accent1"/>
            </a:solidFill>
            <a:ln w="25400" cap="flat" cmpd="sng">
              <a:solidFill>
                <a:schemeClr val="accent1"/>
              </a:solidFill>
              <a:prstDash val="solid"/>
              <a:round/>
              <a:headEnd type="none" w="sm" len="sm"/>
              <a:tailEnd type="none" w="sm" len="sm"/>
            </a:ln>
            <a:effectLst>
              <a:outerShdw sx="120000" sy="120000" algn="ctr" rotWithShape="0">
                <a:schemeClr val="accent1">
                  <a:alpha val="23921"/>
                </a:schemeClr>
              </a:outerShdw>
            </a:effectLst>
          </p:spPr>
          <p:txBody>
            <a:bodyPr spcFirstLastPara="1" wrap="square" lIns="82200" tIns="41075" rIns="82200" bIns="410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282" name="Google Shape;2612;p19" descr="Search">
              <a:extLst>
                <a:ext uri="{FF2B5EF4-FFF2-40B4-BE49-F238E27FC236}">
                  <a16:creationId xmlns:a16="http://schemas.microsoft.com/office/drawing/2014/main" id="{D69CCA4E-CA82-1ACB-D53E-84E4CB1C381E}"/>
                </a:ext>
              </a:extLst>
            </p:cNvPr>
            <p:cNvPicPr preferRelativeResize="0"/>
            <p:nvPr/>
          </p:nvPicPr>
          <p:blipFill rotWithShape="1">
            <a:blip r:embed="rId4">
              <a:alphaModFix/>
            </a:blip>
            <a:srcRect/>
            <a:stretch/>
          </p:blipFill>
          <p:spPr>
            <a:xfrm>
              <a:off x="5782383" y="1810476"/>
              <a:ext cx="627233" cy="627233"/>
            </a:xfrm>
            <a:prstGeom prst="rect">
              <a:avLst/>
            </a:prstGeom>
            <a:noFill/>
            <a:ln>
              <a:noFill/>
            </a:ln>
          </p:spPr>
        </p:pic>
      </p:grpSp>
      <p:grpSp>
        <p:nvGrpSpPr>
          <p:cNvPr id="283" name="Google Shape;2618;p19">
            <a:extLst>
              <a:ext uri="{FF2B5EF4-FFF2-40B4-BE49-F238E27FC236}">
                <a16:creationId xmlns:a16="http://schemas.microsoft.com/office/drawing/2014/main" id="{54F115E7-1F7A-DD7B-8228-9E3682FE3912}"/>
              </a:ext>
            </a:extLst>
          </p:cNvPr>
          <p:cNvGrpSpPr/>
          <p:nvPr/>
        </p:nvGrpSpPr>
        <p:grpSpPr>
          <a:xfrm>
            <a:off x="7873987" y="2203591"/>
            <a:ext cx="983602" cy="985802"/>
            <a:chOff x="7923819" y="1631191"/>
            <a:chExt cx="983602" cy="985802"/>
          </a:xfrm>
        </p:grpSpPr>
        <p:sp>
          <p:nvSpPr>
            <p:cNvPr id="284" name="Google Shape;2619;p19">
              <a:extLst>
                <a:ext uri="{FF2B5EF4-FFF2-40B4-BE49-F238E27FC236}">
                  <a16:creationId xmlns:a16="http://schemas.microsoft.com/office/drawing/2014/main" id="{4F670394-4B79-5468-44E4-2FC1D43434F8}"/>
                </a:ext>
              </a:extLst>
            </p:cNvPr>
            <p:cNvSpPr/>
            <p:nvPr/>
          </p:nvSpPr>
          <p:spPr>
            <a:xfrm>
              <a:off x="7923819" y="1631191"/>
              <a:ext cx="983602" cy="985802"/>
            </a:xfrm>
            <a:prstGeom prst="ellipse">
              <a:avLst/>
            </a:prstGeom>
            <a:solidFill>
              <a:schemeClr val="accent2"/>
            </a:solidFill>
            <a:ln w="25400" cap="flat" cmpd="sng">
              <a:solidFill>
                <a:schemeClr val="accent2"/>
              </a:solidFill>
              <a:prstDash val="solid"/>
              <a:round/>
              <a:headEnd type="none" w="sm" len="sm"/>
              <a:tailEnd type="none" w="sm" len="sm"/>
            </a:ln>
            <a:effectLst>
              <a:outerShdw sx="120000" sy="120000" algn="ctr" rotWithShape="0">
                <a:schemeClr val="accent2">
                  <a:alpha val="23921"/>
                </a:schemeClr>
              </a:outerShdw>
            </a:effectLst>
          </p:spPr>
          <p:txBody>
            <a:bodyPr spcFirstLastPara="1" wrap="square" lIns="82200" tIns="41075" rIns="82200" bIns="410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285" name="Google Shape;2620;p19">
              <a:extLst>
                <a:ext uri="{FF2B5EF4-FFF2-40B4-BE49-F238E27FC236}">
                  <a16:creationId xmlns:a16="http://schemas.microsoft.com/office/drawing/2014/main" id="{FEED149D-E8D0-2D7D-E90B-31CEB4C179C2}"/>
                </a:ext>
              </a:extLst>
            </p:cNvPr>
            <p:cNvGrpSpPr/>
            <p:nvPr/>
          </p:nvGrpSpPr>
          <p:grpSpPr>
            <a:xfrm>
              <a:off x="8170698" y="1878748"/>
              <a:ext cx="489844" cy="490688"/>
              <a:chOff x="8522025" y="2016051"/>
              <a:chExt cx="398787" cy="399474"/>
            </a:xfrm>
          </p:grpSpPr>
          <p:grpSp>
            <p:nvGrpSpPr>
              <p:cNvPr id="286" name="Google Shape;2621;p19">
                <a:extLst>
                  <a:ext uri="{FF2B5EF4-FFF2-40B4-BE49-F238E27FC236}">
                    <a16:creationId xmlns:a16="http://schemas.microsoft.com/office/drawing/2014/main" id="{027CA539-6F9E-FCFD-2174-1F3150160C54}"/>
                  </a:ext>
                </a:extLst>
              </p:cNvPr>
              <p:cNvGrpSpPr/>
              <p:nvPr/>
            </p:nvGrpSpPr>
            <p:grpSpPr>
              <a:xfrm>
                <a:off x="8522025" y="2016051"/>
                <a:ext cx="398787" cy="399474"/>
                <a:chOff x="653669" y="4606564"/>
                <a:chExt cx="476684" cy="477506"/>
              </a:xfrm>
            </p:grpSpPr>
            <p:sp>
              <p:nvSpPr>
                <p:cNvPr id="290" name="Google Shape;2622;p19">
                  <a:extLst>
                    <a:ext uri="{FF2B5EF4-FFF2-40B4-BE49-F238E27FC236}">
                      <a16:creationId xmlns:a16="http://schemas.microsoft.com/office/drawing/2014/main" id="{F077A31B-BC12-C146-BB8D-385261792E48}"/>
                    </a:ext>
                  </a:extLst>
                </p:cNvPr>
                <p:cNvSpPr/>
                <p:nvPr/>
              </p:nvSpPr>
              <p:spPr>
                <a:xfrm>
                  <a:off x="719634" y="4935317"/>
                  <a:ext cx="37947" cy="15811"/>
                </a:xfrm>
                <a:custGeom>
                  <a:avLst/>
                  <a:gdLst/>
                  <a:ahLst/>
                  <a:cxnLst/>
                  <a:rect l="l" t="t" r="r" b="b"/>
                  <a:pathLst>
                    <a:path w="37947" h="15811" extrusionOk="0">
                      <a:moveTo>
                        <a:pt x="0" y="0"/>
                      </a:moveTo>
                      <a:lnTo>
                        <a:pt x="37948" y="0"/>
                      </a:lnTo>
                      <a:lnTo>
                        <a:pt x="37948" y="15811"/>
                      </a:lnTo>
                      <a:lnTo>
                        <a:pt x="0" y="15811"/>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717074"/>
                    </a:solidFill>
                    <a:effectLst/>
                    <a:uLnTx/>
                    <a:uFillTx/>
                    <a:latin typeface="Arial"/>
                    <a:ea typeface="Arial"/>
                    <a:cs typeface="Arial"/>
                    <a:sym typeface="Arial"/>
                  </a:endParaRPr>
                </a:p>
              </p:txBody>
            </p:sp>
            <p:sp>
              <p:nvSpPr>
                <p:cNvPr id="291" name="Google Shape;2623;p19">
                  <a:extLst>
                    <a:ext uri="{FF2B5EF4-FFF2-40B4-BE49-F238E27FC236}">
                      <a16:creationId xmlns:a16="http://schemas.microsoft.com/office/drawing/2014/main" id="{B34CBDC6-1B42-0DC3-6943-01E1AD9E97FC}"/>
                    </a:ext>
                  </a:extLst>
                </p:cNvPr>
                <p:cNvSpPr/>
                <p:nvPr/>
              </p:nvSpPr>
              <p:spPr>
                <a:xfrm>
                  <a:off x="653669" y="4905275"/>
                  <a:ext cx="45853" cy="45853"/>
                </a:xfrm>
                <a:custGeom>
                  <a:avLst/>
                  <a:gdLst/>
                  <a:ahLst/>
                  <a:cxnLst/>
                  <a:rect l="l" t="t" r="r" b="b"/>
                  <a:pathLst>
                    <a:path w="45853" h="45853" extrusionOk="0">
                      <a:moveTo>
                        <a:pt x="45853" y="45853"/>
                      </a:moveTo>
                      <a:lnTo>
                        <a:pt x="0" y="45853"/>
                      </a:lnTo>
                      <a:lnTo>
                        <a:pt x="0" y="0"/>
                      </a:lnTo>
                      <a:lnTo>
                        <a:pt x="15812" y="0"/>
                      </a:lnTo>
                      <a:lnTo>
                        <a:pt x="15812" y="30042"/>
                      </a:lnTo>
                      <a:lnTo>
                        <a:pt x="45853" y="30042"/>
                      </a:lnTo>
                      <a:lnTo>
                        <a:pt x="45853" y="45853"/>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717074"/>
                    </a:solidFill>
                    <a:effectLst/>
                    <a:uLnTx/>
                    <a:uFillTx/>
                    <a:latin typeface="Arial"/>
                    <a:ea typeface="Arial"/>
                    <a:cs typeface="Arial"/>
                    <a:sym typeface="Arial"/>
                  </a:endParaRPr>
                </a:p>
              </p:txBody>
            </p:sp>
            <p:sp>
              <p:nvSpPr>
                <p:cNvPr id="292" name="Google Shape;2624;p19">
                  <a:extLst>
                    <a:ext uri="{FF2B5EF4-FFF2-40B4-BE49-F238E27FC236}">
                      <a16:creationId xmlns:a16="http://schemas.microsoft.com/office/drawing/2014/main" id="{6BC3DE16-33A2-15F6-30CD-69F67923D0B9}"/>
                    </a:ext>
                  </a:extLst>
                </p:cNvPr>
                <p:cNvSpPr/>
                <p:nvPr/>
              </p:nvSpPr>
              <p:spPr>
                <a:xfrm>
                  <a:off x="653858" y="4680372"/>
                  <a:ext cx="15811" cy="196821"/>
                </a:xfrm>
                <a:custGeom>
                  <a:avLst/>
                  <a:gdLst/>
                  <a:ahLst/>
                  <a:cxnLst/>
                  <a:rect l="l" t="t" r="r" b="b"/>
                  <a:pathLst>
                    <a:path w="15811" h="196821" extrusionOk="0">
                      <a:moveTo>
                        <a:pt x="15812" y="196822"/>
                      </a:moveTo>
                      <a:lnTo>
                        <a:pt x="0" y="196822"/>
                      </a:lnTo>
                      <a:lnTo>
                        <a:pt x="0" y="112515"/>
                      </a:lnTo>
                      <a:lnTo>
                        <a:pt x="15812" y="112515"/>
                      </a:lnTo>
                      <a:close/>
                      <a:moveTo>
                        <a:pt x="15812" y="84433"/>
                      </a:moveTo>
                      <a:lnTo>
                        <a:pt x="0" y="84433"/>
                      </a:lnTo>
                      <a:lnTo>
                        <a:pt x="0" y="0"/>
                      </a:lnTo>
                      <a:lnTo>
                        <a:pt x="15812" y="0"/>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717074"/>
                    </a:solidFill>
                    <a:effectLst/>
                    <a:uLnTx/>
                    <a:uFillTx/>
                    <a:latin typeface="Arial"/>
                    <a:ea typeface="Arial"/>
                    <a:cs typeface="Arial"/>
                    <a:sym typeface="Arial"/>
                  </a:endParaRPr>
                </a:p>
              </p:txBody>
            </p:sp>
            <p:sp>
              <p:nvSpPr>
                <p:cNvPr id="293" name="Google Shape;2625;p19">
                  <a:extLst>
                    <a:ext uri="{FF2B5EF4-FFF2-40B4-BE49-F238E27FC236}">
                      <a16:creationId xmlns:a16="http://schemas.microsoft.com/office/drawing/2014/main" id="{D8BB1C2A-D31D-5B6F-2E43-04A85EBAE128}"/>
                    </a:ext>
                  </a:extLst>
                </p:cNvPr>
                <p:cNvSpPr/>
                <p:nvPr/>
              </p:nvSpPr>
              <p:spPr>
                <a:xfrm>
                  <a:off x="653669" y="4606564"/>
                  <a:ext cx="45853" cy="45853"/>
                </a:xfrm>
                <a:custGeom>
                  <a:avLst/>
                  <a:gdLst/>
                  <a:ahLst/>
                  <a:cxnLst/>
                  <a:rect l="l" t="t" r="r" b="b"/>
                  <a:pathLst>
                    <a:path w="45853" h="45853" extrusionOk="0">
                      <a:moveTo>
                        <a:pt x="15812" y="45853"/>
                      </a:moveTo>
                      <a:lnTo>
                        <a:pt x="0" y="45853"/>
                      </a:lnTo>
                      <a:lnTo>
                        <a:pt x="0" y="0"/>
                      </a:lnTo>
                      <a:lnTo>
                        <a:pt x="45853" y="0"/>
                      </a:lnTo>
                      <a:lnTo>
                        <a:pt x="45853" y="15812"/>
                      </a:lnTo>
                      <a:lnTo>
                        <a:pt x="15812" y="15812"/>
                      </a:lnTo>
                      <a:lnTo>
                        <a:pt x="15812" y="45853"/>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717074"/>
                    </a:solidFill>
                    <a:effectLst/>
                    <a:uLnTx/>
                    <a:uFillTx/>
                    <a:latin typeface="Arial"/>
                    <a:ea typeface="Arial"/>
                    <a:cs typeface="Arial"/>
                    <a:sym typeface="Arial"/>
                  </a:endParaRPr>
                </a:p>
              </p:txBody>
            </p:sp>
            <p:sp>
              <p:nvSpPr>
                <p:cNvPr id="294" name="Google Shape;2626;p19">
                  <a:extLst>
                    <a:ext uri="{FF2B5EF4-FFF2-40B4-BE49-F238E27FC236}">
                      <a16:creationId xmlns:a16="http://schemas.microsoft.com/office/drawing/2014/main" id="{849C01CE-055E-7D5F-3001-5D83959663C1}"/>
                    </a:ext>
                  </a:extLst>
                </p:cNvPr>
                <p:cNvSpPr/>
                <p:nvPr/>
              </p:nvSpPr>
              <p:spPr>
                <a:xfrm>
                  <a:off x="727793" y="4606564"/>
                  <a:ext cx="197517" cy="15811"/>
                </a:xfrm>
                <a:custGeom>
                  <a:avLst/>
                  <a:gdLst/>
                  <a:ahLst/>
                  <a:cxnLst/>
                  <a:rect l="l" t="t" r="r" b="b"/>
                  <a:pathLst>
                    <a:path w="197517" h="15811" extrusionOk="0">
                      <a:moveTo>
                        <a:pt x="197517" y="15812"/>
                      </a:moveTo>
                      <a:lnTo>
                        <a:pt x="112641" y="15812"/>
                      </a:lnTo>
                      <a:lnTo>
                        <a:pt x="112641" y="0"/>
                      </a:lnTo>
                      <a:lnTo>
                        <a:pt x="197517" y="0"/>
                      </a:lnTo>
                      <a:close/>
                      <a:moveTo>
                        <a:pt x="84623" y="15812"/>
                      </a:moveTo>
                      <a:lnTo>
                        <a:pt x="0" y="15812"/>
                      </a:lnTo>
                      <a:lnTo>
                        <a:pt x="0" y="0"/>
                      </a:lnTo>
                      <a:lnTo>
                        <a:pt x="84623" y="0"/>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717074"/>
                    </a:solidFill>
                    <a:effectLst/>
                    <a:uLnTx/>
                    <a:uFillTx/>
                    <a:latin typeface="Arial"/>
                    <a:ea typeface="Arial"/>
                    <a:cs typeface="Arial"/>
                    <a:sym typeface="Arial"/>
                  </a:endParaRPr>
                </a:p>
              </p:txBody>
            </p:sp>
            <p:sp>
              <p:nvSpPr>
                <p:cNvPr id="295" name="Google Shape;2627;p19">
                  <a:extLst>
                    <a:ext uri="{FF2B5EF4-FFF2-40B4-BE49-F238E27FC236}">
                      <a16:creationId xmlns:a16="http://schemas.microsoft.com/office/drawing/2014/main" id="{4E556FB3-8887-2B96-108E-D8C3FE54F14D}"/>
                    </a:ext>
                  </a:extLst>
                </p:cNvPr>
                <p:cNvSpPr/>
                <p:nvPr/>
              </p:nvSpPr>
              <p:spPr>
                <a:xfrm>
                  <a:off x="953581" y="4606564"/>
                  <a:ext cx="45853" cy="45853"/>
                </a:xfrm>
                <a:custGeom>
                  <a:avLst/>
                  <a:gdLst/>
                  <a:ahLst/>
                  <a:cxnLst/>
                  <a:rect l="l" t="t" r="r" b="b"/>
                  <a:pathLst>
                    <a:path w="45853" h="45853" extrusionOk="0">
                      <a:moveTo>
                        <a:pt x="45853" y="45853"/>
                      </a:moveTo>
                      <a:lnTo>
                        <a:pt x="30042" y="45853"/>
                      </a:lnTo>
                      <a:lnTo>
                        <a:pt x="30042" y="15812"/>
                      </a:lnTo>
                      <a:lnTo>
                        <a:pt x="0" y="15812"/>
                      </a:lnTo>
                      <a:lnTo>
                        <a:pt x="0" y="0"/>
                      </a:lnTo>
                      <a:lnTo>
                        <a:pt x="45853" y="0"/>
                      </a:lnTo>
                      <a:lnTo>
                        <a:pt x="45853" y="45853"/>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717074"/>
                    </a:solidFill>
                    <a:effectLst/>
                    <a:uLnTx/>
                    <a:uFillTx/>
                    <a:latin typeface="Arial"/>
                    <a:ea typeface="Arial"/>
                    <a:cs typeface="Arial"/>
                    <a:sym typeface="Arial"/>
                  </a:endParaRPr>
                </a:p>
              </p:txBody>
            </p:sp>
            <p:sp>
              <p:nvSpPr>
                <p:cNvPr id="296" name="Google Shape;2628;p19">
                  <a:extLst>
                    <a:ext uri="{FF2B5EF4-FFF2-40B4-BE49-F238E27FC236}">
                      <a16:creationId xmlns:a16="http://schemas.microsoft.com/office/drawing/2014/main" id="{12F19559-2CA8-487C-1334-E336E383BCA6}"/>
                    </a:ext>
                  </a:extLst>
                </p:cNvPr>
                <p:cNvSpPr/>
                <p:nvPr/>
              </p:nvSpPr>
              <p:spPr>
                <a:xfrm>
                  <a:off x="983623" y="4674427"/>
                  <a:ext cx="15811" cy="37947"/>
                </a:xfrm>
                <a:custGeom>
                  <a:avLst/>
                  <a:gdLst/>
                  <a:ahLst/>
                  <a:cxnLst/>
                  <a:rect l="l" t="t" r="r" b="b"/>
                  <a:pathLst>
                    <a:path w="15811" h="37947" extrusionOk="0">
                      <a:moveTo>
                        <a:pt x="0" y="0"/>
                      </a:moveTo>
                      <a:lnTo>
                        <a:pt x="15811" y="0"/>
                      </a:lnTo>
                      <a:lnTo>
                        <a:pt x="15811" y="37948"/>
                      </a:lnTo>
                      <a:lnTo>
                        <a:pt x="0" y="37948"/>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717074"/>
                    </a:solidFill>
                    <a:effectLst/>
                    <a:uLnTx/>
                    <a:uFillTx/>
                    <a:latin typeface="Arial"/>
                    <a:ea typeface="Arial"/>
                    <a:cs typeface="Arial"/>
                    <a:sym typeface="Arial"/>
                  </a:endParaRPr>
                </a:p>
              </p:txBody>
            </p:sp>
            <p:sp>
              <p:nvSpPr>
                <p:cNvPr id="297" name="Google Shape;2629;p19">
                  <a:extLst>
                    <a:ext uri="{FF2B5EF4-FFF2-40B4-BE49-F238E27FC236}">
                      <a16:creationId xmlns:a16="http://schemas.microsoft.com/office/drawing/2014/main" id="{594729BB-6D8D-A344-E4CD-00F880ECC3B0}"/>
                    </a:ext>
                  </a:extLst>
                </p:cNvPr>
                <p:cNvSpPr/>
                <p:nvPr/>
              </p:nvSpPr>
              <p:spPr>
                <a:xfrm>
                  <a:off x="773646" y="4728565"/>
                  <a:ext cx="356707" cy="355505"/>
                </a:xfrm>
                <a:custGeom>
                  <a:avLst/>
                  <a:gdLst/>
                  <a:ahLst/>
                  <a:cxnLst/>
                  <a:rect l="l" t="t" r="r" b="b"/>
                  <a:pathLst>
                    <a:path w="356707" h="355505" extrusionOk="0">
                      <a:moveTo>
                        <a:pt x="340896" y="15812"/>
                      </a:moveTo>
                      <a:lnTo>
                        <a:pt x="340896" y="339694"/>
                      </a:lnTo>
                      <a:lnTo>
                        <a:pt x="15812" y="339694"/>
                      </a:lnTo>
                      <a:lnTo>
                        <a:pt x="15812" y="15812"/>
                      </a:lnTo>
                      <a:lnTo>
                        <a:pt x="340896" y="15812"/>
                      </a:lnTo>
                      <a:moveTo>
                        <a:pt x="356707" y="0"/>
                      </a:moveTo>
                      <a:lnTo>
                        <a:pt x="0" y="0"/>
                      </a:lnTo>
                      <a:lnTo>
                        <a:pt x="0" y="355506"/>
                      </a:lnTo>
                      <a:lnTo>
                        <a:pt x="356707" y="355506"/>
                      </a:lnTo>
                      <a:lnTo>
                        <a:pt x="356707" y="0"/>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717074"/>
                    </a:solidFill>
                    <a:effectLst/>
                    <a:uLnTx/>
                    <a:uFillTx/>
                    <a:latin typeface="Arial"/>
                    <a:ea typeface="Arial"/>
                    <a:cs typeface="Arial"/>
                    <a:sym typeface="Arial"/>
                  </a:endParaRPr>
                </a:p>
              </p:txBody>
            </p:sp>
            <p:sp>
              <p:nvSpPr>
                <p:cNvPr id="298" name="Google Shape;2630;p19">
                  <a:extLst>
                    <a:ext uri="{FF2B5EF4-FFF2-40B4-BE49-F238E27FC236}">
                      <a16:creationId xmlns:a16="http://schemas.microsoft.com/office/drawing/2014/main" id="{523F9887-6669-03A5-F79F-8DDFDE81C856}"/>
                    </a:ext>
                  </a:extLst>
                </p:cNvPr>
                <p:cNvSpPr/>
                <p:nvPr/>
              </p:nvSpPr>
              <p:spPr>
                <a:xfrm>
                  <a:off x="844988" y="4799858"/>
                  <a:ext cx="213265" cy="213265"/>
                </a:xfrm>
                <a:custGeom>
                  <a:avLst/>
                  <a:gdLst/>
                  <a:ahLst/>
                  <a:cxnLst/>
                  <a:rect l="l" t="t" r="r" b="b"/>
                  <a:pathLst>
                    <a:path w="213265" h="213265" extrusionOk="0">
                      <a:moveTo>
                        <a:pt x="194418" y="83660"/>
                      </a:moveTo>
                      <a:cubicBezTo>
                        <a:pt x="196430" y="91104"/>
                        <a:pt x="197451" y="98781"/>
                        <a:pt x="197453" y="106492"/>
                      </a:cubicBezTo>
                      <a:cubicBezTo>
                        <a:pt x="197565" y="156860"/>
                        <a:pt x="156824" y="197782"/>
                        <a:pt x="106455" y="197894"/>
                      </a:cubicBezTo>
                      <a:cubicBezTo>
                        <a:pt x="56086" y="198006"/>
                        <a:pt x="15164" y="157264"/>
                        <a:pt x="15053" y="106895"/>
                      </a:cubicBezTo>
                      <a:cubicBezTo>
                        <a:pt x="14941" y="56527"/>
                        <a:pt x="55683" y="15605"/>
                        <a:pt x="106051" y="15493"/>
                      </a:cubicBezTo>
                      <a:cubicBezTo>
                        <a:pt x="129981" y="15440"/>
                        <a:pt x="152973" y="24794"/>
                        <a:pt x="170068" y="41538"/>
                      </a:cubicBezTo>
                      <a:lnTo>
                        <a:pt x="181199" y="30407"/>
                      </a:lnTo>
                      <a:cubicBezTo>
                        <a:pt x="139101" y="-10775"/>
                        <a:pt x="71589" y="-10032"/>
                        <a:pt x="30407" y="32066"/>
                      </a:cubicBezTo>
                      <a:cubicBezTo>
                        <a:pt x="-10775" y="74164"/>
                        <a:pt x="-10032" y="141677"/>
                        <a:pt x="32066" y="182859"/>
                      </a:cubicBezTo>
                      <a:cubicBezTo>
                        <a:pt x="74165" y="224040"/>
                        <a:pt x="141677" y="223298"/>
                        <a:pt x="182859" y="181199"/>
                      </a:cubicBezTo>
                      <a:cubicBezTo>
                        <a:pt x="202431" y="161191"/>
                        <a:pt x="213352" y="134291"/>
                        <a:pt x="213265" y="106302"/>
                      </a:cubicBezTo>
                      <a:cubicBezTo>
                        <a:pt x="213225" y="94198"/>
                        <a:pt x="211086" y="82193"/>
                        <a:pt x="206940" y="708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717074"/>
                    </a:solidFill>
                    <a:effectLst/>
                    <a:uLnTx/>
                    <a:uFillTx/>
                    <a:latin typeface="Arial"/>
                    <a:ea typeface="Arial"/>
                    <a:cs typeface="Arial"/>
                    <a:sym typeface="Arial"/>
                  </a:endParaRPr>
                </a:p>
              </p:txBody>
            </p:sp>
            <p:sp>
              <p:nvSpPr>
                <p:cNvPr id="299" name="Google Shape;2631;p19">
                  <a:extLst>
                    <a:ext uri="{FF2B5EF4-FFF2-40B4-BE49-F238E27FC236}">
                      <a16:creationId xmlns:a16="http://schemas.microsoft.com/office/drawing/2014/main" id="{B6A4D772-53AC-DA56-D96B-B0E92AA2B715}"/>
                    </a:ext>
                  </a:extLst>
                </p:cNvPr>
                <p:cNvSpPr/>
                <p:nvPr/>
              </p:nvSpPr>
              <p:spPr>
                <a:xfrm rot="10800000">
                  <a:off x="844988" y="4799858"/>
                  <a:ext cx="213264" cy="213265"/>
                </a:xfrm>
                <a:custGeom>
                  <a:avLst/>
                  <a:gdLst/>
                  <a:ahLst/>
                  <a:cxnLst/>
                  <a:rect l="l" t="t" r="r" b="b"/>
                  <a:pathLst>
                    <a:path w="213265" h="213265" extrusionOk="0">
                      <a:moveTo>
                        <a:pt x="194418" y="83660"/>
                      </a:moveTo>
                      <a:cubicBezTo>
                        <a:pt x="196430" y="91104"/>
                        <a:pt x="197451" y="98781"/>
                        <a:pt x="197453" y="106492"/>
                      </a:cubicBezTo>
                      <a:cubicBezTo>
                        <a:pt x="197565" y="156860"/>
                        <a:pt x="156824" y="197782"/>
                        <a:pt x="106455" y="197894"/>
                      </a:cubicBezTo>
                      <a:cubicBezTo>
                        <a:pt x="56086" y="198006"/>
                        <a:pt x="15164" y="157264"/>
                        <a:pt x="15053" y="106895"/>
                      </a:cubicBezTo>
                      <a:cubicBezTo>
                        <a:pt x="14941" y="56527"/>
                        <a:pt x="55683" y="15605"/>
                        <a:pt x="106051" y="15493"/>
                      </a:cubicBezTo>
                      <a:cubicBezTo>
                        <a:pt x="129981" y="15440"/>
                        <a:pt x="152973" y="24794"/>
                        <a:pt x="170068" y="41538"/>
                      </a:cubicBezTo>
                      <a:lnTo>
                        <a:pt x="181199" y="30407"/>
                      </a:lnTo>
                      <a:cubicBezTo>
                        <a:pt x="139101" y="-10775"/>
                        <a:pt x="71589" y="-10032"/>
                        <a:pt x="30407" y="32066"/>
                      </a:cubicBezTo>
                      <a:cubicBezTo>
                        <a:pt x="-10775" y="74164"/>
                        <a:pt x="-10032" y="141677"/>
                        <a:pt x="32066" y="182859"/>
                      </a:cubicBezTo>
                      <a:cubicBezTo>
                        <a:pt x="74165" y="224040"/>
                        <a:pt x="141677" y="223298"/>
                        <a:pt x="182859" y="181199"/>
                      </a:cubicBezTo>
                      <a:cubicBezTo>
                        <a:pt x="202431" y="161191"/>
                        <a:pt x="213352" y="134291"/>
                        <a:pt x="213265" y="106302"/>
                      </a:cubicBezTo>
                      <a:cubicBezTo>
                        <a:pt x="213225" y="94198"/>
                        <a:pt x="211086" y="82193"/>
                        <a:pt x="206940" y="708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717074"/>
                    </a:solidFill>
                    <a:effectLst/>
                    <a:uLnTx/>
                    <a:uFillTx/>
                    <a:latin typeface="Arial"/>
                    <a:ea typeface="Arial"/>
                    <a:cs typeface="Arial"/>
                    <a:sym typeface="Arial"/>
                  </a:endParaRPr>
                </a:p>
              </p:txBody>
            </p:sp>
          </p:grpSp>
          <p:grpSp>
            <p:nvGrpSpPr>
              <p:cNvPr id="287" name="Google Shape;2632;p19">
                <a:extLst>
                  <a:ext uri="{FF2B5EF4-FFF2-40B4-BE49-F238E27FC236}">
                    <a16:creationId xmlns:a16="http://schemas.microsoft.com/office/drawing/2014/main" id="{ED9576F1-C65D-7E7A-DFC9-3103FBB46BE3}"/>
                  </a:ext>
                </a:extLst>
              </p:cNvPr>
              <p:cNvGrpSpPr/>
              <p:nvPr/>
            </p:nvGrpSpPr>
            <p:grpSpPr>
              <a:xfrm>
                <a:off x="8760959" y="2209564"/>
                <a:ext cx="56627" cy="75371"/>
                <a:chOff x="8459452" y="355744"/>
                <a:chExt cx="100932" cy="134341"/>
              </a:xfrm>
            </p:grpSpPr>
            <p:sp>
              <p:nvSpPr>
                <p:cNvPr id="288" name="Google Shape;2633;p19">
                  <a:extLst>
                    <a:ext uri="{FF2B5EF4-FFF2-40B4-BE49-F238E27FC236}">
                      <a16:creationId xmlns:a16="http://schemas.microsoft.com/office/drawing/2014/main" id="{DFA92B05-261D-90E1-1C25-F0EA0A6EA196}"/>
                    </a:ext>
                  </a:extLst>
                </p:cNvPr>
                <p:cNvSpPr/>
                <p:nvPr/>
              </p:nvSpPr>
              <p:spPr>
                <a:xfrm>
                  <a:off x="8459452" y="355744"/>
                  <a:ext cx="24516" cy="1343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9" name="Google Shape;2634;p19">
                  <a:extLst>
                    <a:ext uri="{FF2B5EF4-FFF2-40B4-BE49-F238E27FC236}">
                      <a16:creationId xmlns:a16="http://schemas.microsoft.com/office/drawing/2014/main" id="{49696DB0-1219-CF9A-32B9-DDB450555306}"/>
                    </a:ext>
                  </a:extLst>
                </p:cNvPr>
                <p:cNvSpPr/>
                <p:nvPr/>
              </p:nvSpPr>
              <p:spPr>
                <a:xfrm rot="5400000">
                  <a:off x="8497660" y="427361"/>
                  <a:ext cx="24516" cy="10093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grpSp>
      </p:grpSp>
      <p:grpSp>
        <p:nvGrpSpPr>
          <p:cNvPr id="300" name="Google Shape;2640;p19">
            <a:extLst>
              <a:ext uri="{FF2B5EF4-FFF2-40B4-BE49-F238E27FC236}">
                <a16:creationId xmlns:a16="http://schemas.microsoft.com/office/drawing/2014/main" id="{A9B8D541-38D2-9535-85F7-AF2E6B1F053C}"/>
              </a:ext>
            </a:extLst>
          </p:cNvPr>
          <p:cNvGrpSpPr/>
          <p:nvPr/>
        </p:nvGrpSpPr>
        <p:grpSpPr>
          <a:xfrm>
            <a:off x="10156640" y="2203591"/>
            <a:ext cx="983602" cy="985802"/>
            <a:chOff x="10243442" y="1631191"/>
            <a:chExt cx="983602" cy="985802"/>
          </a:xfrm>
        </p:grpSpPr>
        <p:sp>
          <p:nvSpPr>
            <p:cNvPr id="301" name="Google Shape;2641;p19">
              <a:extLst>
                <a:ext uri="{FF2B5EF4-FFF2-40B4-BE49-F238E27FC236}">
                  <a16:creationId xmlns:a16="http://schemas.microsoft.com/office/drawing/2014/main" id="{F2EA0D09-4754-CEDC-C673-75FB6737F53E}"/>
                </a:ext>
              </a:extLst>
            </p:cNvPr>
            <p:cNvSpPr/>
            <p:nvPr/>
          </p:nvSpPr>
          <p:spPr>
            <a:xfrm>
              <a:off x="10243442" y="1631191"/>
              <a:ext cx="983602" cy="985802"/>
            </a:xfrm>
            <a:prstGeom prst="ellipse">
              <a:avLst/>
            </a:prstGeom>
            <a:solidFill>
              <a:schemeClr val="accent5"/>
            </a:solidFill>
            <a:ln w="25400" cap="flat" cmpd="sng">
              <a:solidFill>
                <a:schemeClr val="accent5"/>
              </a:solidFill>
              <a:prstDash val="solid"/>
              <a:round/>
              <a:headEnd type="none" w="sm" len="sm"/>
              <a:tailEnd type="none" w="sm" len="sm"/>
            </a:ln>
            <a:effectLst>
              <a:outerShdw sx="120000" sy="120000" algn="ctr" rotWithShape="0">
                <a:schemeClr val="accent5">
                  <a:alpha val="23921"/>
                </a:schemeClr>
              </a:outerShdw>
            </a:effectLst>
          </p:spPr>
          <p:txBody>
            <a:bodyPr spcFirstLastPara="1" wrap="square" lIns="82200" tIns="41075" rIns="82200" bIns="410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302" name="Google Shape;2642;p19">
              <a:extLst>
                <a:ext uri="{FF2B5EF4-FFF2-40B4-BE49-F238E27FC236}">
                  <a16:creationId xmlns:a16="http://schemas.microsoft.com/office/drawing/2014/main" id="{E32D4E9F-6D1F-807A-ACB8-B853DC5D90CB}"/>
                </a:ext>
              </a:extLst>
            </p:cNvPr>
            <p:cNvGrpSpPr/>
            <p:nvPr/>
          </p:nvGrpSpPr>
          <p:grpSpPr>
            <a:xfrm>
              <a:off x="10556466" y="1862310"/>
              <a:ext cx="357555" cy="523565"/>
              <a:chOff x="3405310" y="4118933"/>
              <a:chExt cx="766453" cy="1122306"/>
            </a:xfrm>
          </p:grpSpPr>
          <p:sp>
            <p:nvSpPr>
              <p:cNvPr id="303" name="Google Shape;2643;p19">
                <a:extLst>
                  <a:ext uri="{FF2B5EF4-FFF2-40B4-BE49-F238E27FC236}">
                    <a16:creationId xmlns:a16="http://schemas.microsoft.com/office/drawing/2014/main" id="{0106E090-0E31-55A9-B5C2-23B910243A98}"/>
                  </a:ext>
                </a:extLst>
              </p:cNvPr>
              <p:cNvSpPr/>
              <p:nvPr/>
            </p:nvSpPr>
            <p:spPr>
              <a:xfrm>
                <a:off x="3491353" y="4548512"/>
                <a:ext cx="310231" cy="310231"/>
              </a:xfrm>
              <a:custGeom>
                <a:avLst/>
                <a:gdLst/>
                <a:ahLst/>
                <a:cxnLst/>
                <a:rect l="l" t="t" r="r" b="b"/>
                <a:pathLst>
                  <a:path w="310230" h="310230" extrusionOk="0">
                    <a:moveTo>
                      <a:pt x="14873" y="312695"/>
                    </a:moveTo>
                    <a:cubicBezTo>
                      <a:pt x="6661" y="312695"/>
                      <a:pt x="0" y="306034"/>
                      <a:pt x="0" y="297822"/>
                    </a:cubicBezTo>
                    <a:cubicBezTo>
                      <a:pt x="0" y="133582"/>
                      <a:pt x="133582" y="0"/>
                      <a:pt x="297822" y="0"/>
                    </a:cubicBezTo>
                    <a:cubicBezTo>
                      <a:pt x="306034" y="0"/>
                      <a:pt x="312694" y="6661"/>
                      <a:pt x="312694" y="14873"/>
                    </a:cubicBezTo>
                    <a:cubicBezTo>
                      <a:pt x="312694" y="23085"/>
                      <a:pt x="306034" y="29746"/>
                      <a:pt x="297822" y="29746"/>
                    </a:cubicBezTo>
                    <a:cubicBezTo>
                      <a:pt x="150006" y="29746"/>
                      <a:pt x="29654" y="150006"/>
                      <a:pt x="29654" y="297913"/>
                    </a:cubicBezTo>
                    <a:cubicBezTo>
                      <a:pt x="29746" y="306034"/>
                      <a:pt x="23085" y="312695"/>
                      <a:pt x="14873" y="31269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04" name="Google Shape;2644;p19">
                <a:extLst>
                  <a:ext uri="{FF2B5EF4-FFF2-40B4-BE49-F238E27FC236}">
                    <a16:creationId xmlns:a16="http://schemas.microsoft.com/office/drawing/2014/main" id="{E4431683-24A5-98D2-2A0C-AA36114F5002}"/>
                  </a:ext>
                </a:extLst>
              </p:cNvPr>
              <p:cNvSpPr/>
              <p:nvPr/>
            </p:nvSpPr>
            <p:spPr>
              <a:xfrm>
                <a:off x="3405310" y="4118933"/>
                <a:ext cx="766453" cy="1122306"/>
              </a:xfrm>
              <a:custGeom>
                <a:avLst/>
                <a:gdLst/>
                <a:ahLst/>
                <a:cxnLst/>
                <a:rect l="l" t="t" r="r" b="b"/>
                <a:pathLst>
                  <a:path w="766452" h="1122306" extrusionOk="0">
                    <a:moveTo>
                      <a:pt x="593088" y="412698"/>
                    </a:moveTo>
                    <a:lnTo>
                      <a:pt x="593088" y="196632"/>
                    </a:lnTo>
                    <a:cubicBezTo>
                      <a:pt x="593088" y="88233"/>
                      <a:pt x="507866" y="0"/>
                      <a:pt x="403118" y="0"/>
                    </a:cubicBezTo>
                    <a:lnTo>
                      <a:pt x="367897" y="0"/>
                    </a:lnTo>
                    <a:cubicBezTo>
                      <a:pt x="263149" y="0"/>
                      <a:pt x="177926" y="88233"/>
                      <a:pt x="177926" y="196632"/>
                    </a:cubicBezTo>
                    <a:lnTo>
                      <a:pt x="177926" y="412698"/>
                    </a:lnTo>
                    <a:cubicBezTo>
                      <a:pt x="70988" y="481223"/>
                      <a:pt x="0" y="601027"/>
                      <a:pt x="0" y="737437"/>
                    </a:cubicBezTo>
                    <a:cubicBezTo>
                      <a:pt x="0" y="950310"/>
                      <a:pt x="172634" y="1122945"/>
                      <a:pt x="385507" y="1122945"/>
                    </a:cubicBezTo>
                    <a:cubicBezTo>
                      <a:pt x="598381" y="1122945"/>
                      <a:pt x="771015" y="950310"/>
                      <a:pt x="771015" y="737437"/>
                    </a:cubicBezTo>
                    <a:cubicBezTo>
                      <a:pt x="771015" y="601027"/>
                      <a:pt x="700027" y="481223"/>
                      <a:pt x="593088" y="412698"/>
                    </a:cubicBezTo>
                    <a:close/>
                    <a:moveTo>
                      <a:pt x="207581" y="196632"/>
                    </a:moveTo>
                    <a:cubicBezTo>
                      <a:pt x="207581" y="104566"/>
                      <a:pt x="279481" y="29654"/>
                      <a:pt x="367897" y="29654"/>
                    </a:cubicBezTo>
                    <a:lnTo>
                      <a:pt x="403118" y="29654"/>
                    </a:lnTo>
                    <a:cubicBezTo>
                      <a:pt x="491533" y="29654"/>
                      <a:pt x="563434" y="104566"/>
                      <a:pt x="563434" y="196632"/>
                    </a:cubicBezTo>
                    <a:lnTo>
                      <a:pt x="563434" y="395453"/>
                    </a:lnTo>
                    <a:cubicBezTo>
                      <a:pt x="510147" y="367715"/>
                      <a:pt x="449743" y="351930"/>
                      <a:pt x="385507" y="351930"/>
                    </a:cubicBezTo>
                    <a:cubicBezTo>
                      <a:pt x="321271" y="351930"/>
                      <a:pt x="260868" y="367715"/>
                      <a:pt x="207581" y="395453"/>
                    </a:cubicBezTo>
                    <a:lnTo>
                      <a:pt x="207581" y="196632"/>
                    </a:lnTo>
                    <a:close/>
                    <a:moveTo>
                      <a:pt x="385507" y="1093290"/>
                    </a:moveTo>
                    <a:cubicBezTo>
                      <a:pt x="189332" y="1093290"/>
                      <a:pt x="29654" y="933613"/>
                      <a:pt x="29654" y="737437"/>
                    </a:cubicBezTo>
                    <a:cubicBezTo>
                      <a:pt x="29654" y="541262"/>
                      <a:pt x="189332" y="381584"/>
                      <a:pt x="385507" y="381584"/>
                    </a:cubicBezTo>
                    <a:cubicBezTo>
                      <a:pt x="581683" y="381584"/>
                      <a:pt x="741360" y="541262"/>
                      <a:pt x="741360" y="737437"/>
                    </a:cubicBezTo>
                    <a:cubicBezTo>
                      <a:pt x="741360" y="933613"/>
                      <a:pt x="581683" y="1093290"/>
                      <a:pt x="385507" y="109329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05" name="Google Shape;2645;p19">
                <a:extLst>
                  <a:ext uri="{FF2B5EF4-FFF2-40B4-BE49-F238E27FC236}">
                    <a16:creationId xmlns:a16="http://schemas.microsoft.com/office/drawing/2014/main" id="{8C6037AF-AC4A-008A-3D11-9C39DBE1F940}"/>
                  </a:ext>
                </a:extLst>
              </p:cNvPr>
              <p:cNvSpPr/>
              <p:nvPr/>
            </p:nvSpPr>
            <p:spPr>
              <a:xfrm>
                <a:off x="3727494" y="4756001"/>
                <a:ext cx="118618" cy="200738"/>
              </a:xfrm>
              <a:custGeom>
                <a:avLst/>
                <a:gdLst/>
                <a:ahLst/>
                <a:cxnLst/>
                <a:rect l="l" t="t" r="r" b="b"/>
                <a:pathLst>
                  <a:path w="118617" h="200737" extrusionOk="0">
                    <a:moveTo>
                      <a:pt x="63324" y="0"/>
                    </a:moveTo>
                    <a:cubicBezTo>
                      <a:pt x="28377" y="0"/>
                      <a:pt x="0" y="28377"/>
                      <a:pt x="0" y="63324"/>
                    </a:cubicBezTo>
                    <a:cubicBezTo>
                      <a:pt x="0" y="86773"/>
                      <a:pt x="12774" y="107212"/>
                      <a:pt x="31662" y="118161"/>
                    </a:cubicBezTo>
                    <a:lnTo>
                      <a:pt x="31662" y="183949"/>
                    </a:lnTo>
                    <a:cubicBezTo>
                      <a:pt x="31662" y="193256"/>
                      <a:pt x="39235" y="200829"/>
                      <a:pt x="48542" y="200829"/>
                    </a:cubicBezTo>
                    <a:lnTo>
                      <a:pt x="78105" y="200829"/>
                    </a:lnTo>
                    <a:cubicBezTo>
                      <a:pt x="87412" y="200829"/>
                      <a:pt x="94985" y="193256"/>
                      <a:pt x="94985" y="183949"/>
                    </a:cubicBezTo>
                    <a:lnTo>
                      <a:pt x="94985" y="118161"/>
                    </a:lnTo>
                    <a:cubicBezTo>
                      <a:pt x="113873" y="107212"/>
                      <a:pt x="126647" y="86773"/>
                      <a:pt x="126647" y="63324"/>
                    </a:cubicBezTo>
                    <a:cubicBezTo>
                      <a:pt x="126647" y="28286"/>
                      <a:pt x="98270" y="0"/>
                      <a:pt x="63324"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spTree>
    <p:extLst>
      <p:ext uri="{BB962C8B-B14F-4D97-AF65-F5344CB8AC3E}">
        <p14:creationId xmlns:p14="http://schemas.microsoft.com/office/powerpoint/2010/main" val="824543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296">
          <a:extLst>
            <a:ext uri="{FF2B5EF4-FFF2-40B4-BE49-F238E27FC236}">
              <a16:creationId xmlns:a16="http://schemas.microsoft.com/office/drawing/2014/main" id="{BE4E5E38-D440-9DD6-4FA1-366337A09A3C}"/>
            </a:ext>
          </a:extLst>
        </p:cNvPr>
        <p:cNvGrpSpPr/>
        <p:nvPr/>
      </p:nvGrpSpPr>
      <p:grpSpPr>
        <a:xfrm>
          <a:off x="0" y="0"/>
          <a:ext cx="0" cy="0"/>
          <a:chOff x="0" y="0"/>
          <a:chExt cx="0" cy="0"/>
        </a:xfrm>
      </p:grpSpPr>
      <p:sp>
        <p:nvSpPr>
          <p:cNvPr id="10299" name="Google Shape;10299;p69">
            <a:extLst>
              <a:ext uri="{FF2B5EF4-FFF2-40B4-BE49-F238E27FC236}">
                <a16:creationId xmlns:a16="http://schemas.microsoft.com/office/drawing/2014/main" id="{00CFE393-CC07-C235-B7F6-841616FC4096}"/>
              </a:ext>
            </a:extLst>
          </p:cNvPr>
          <p:cNvSpPr/>
          <p:nvPr/>
        </p:nvSpPr>
        <p:spPr>
          <a:xfrm>
            <a:off x="1588" y="1600679"/>
            <a:ext cx="8187372" cy="4569757"/>
          </a:xfrm>
          <a:prstGeom prst="rect">
            <a:avLst/>
          </a:prstGeom>
          <a:solidFill>
            <a:schemeClr val="accent2">
              <a:alpha val="10000"/>
            </a:schemeClr>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0254" name="Rounded Rectangle 10253">
            <a:extLst>
              <a:ext uri="{FF2B5EF4-FFF2-40B4-BE49-F238E27FC236}">
                <a16:creationId xmlns:a16="http://schemas.microsoft.com/office/drawing/2014/main" id="{05554ADC-9029-FA1E-D071-F55A2B2D7AAA}"/>
              </a:ext>
            </a:extLst>
          </p:cNvPr>
          <p:cNvSpPr/>
          <p:nvPr/>
        </p:nvSpPr>
        <p:spPr>
          <a:xfrm>
            <a:off x="421641" y="2149652"/>
            <a:ext cx="7594599" cy="3824427"/>
          </a:xfrm>
          <a:prstGeom prst="roundRect">
            <a:avLst>
              <a:gd name="adj" fmla="val 1923"/>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297" name="Google Shape;10297;p69">
            <a:extLst>
              <a:ext uri="{FF2B5EF4-FFF2-40B4-BE49-F238E27FC236}">
                <a16:creationId xmlns:a16="http://schemas.microsoft.com/office/drawing/2014/main" id="{8162A27C-4310-AFA9-AF9E-B9C5B22BA9C5}"/>
              </a:ext>
            </a:extLst>
          </p:cNvPr>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2800"/>
              <a:buFont typeface="Arial"/>
              <a:buNone/>
            </a:pPr>
            <a:r>
              <a:rPr lang="en-US" dirty="0">
                <a:solidFill>
                  <a:schemeClr val="accent2"/>
                </a:solidFill>
                <a:latin typeface="+mn-lt"/>
              </a:rPr>
              <a:t>Software Defined Networking in VMware Cloud Foundation</a:t>
            </a:r>
            <a:endParaRPr dirty="0">
              <a:solidFill>
                <a:schemeClr val="accent2"/>
              </a:solidFill>
              <a:latin typeface="+mn-lt"/>
            </a:endParaRPr>
          </a:p>
        </p:txBody>
      </p:sp>
      <p:sp>
        <p:nvSpPr>
          <p:cNvPr id="2" name="Subtitle 1">
            <a:extLst>
              <a:ext uri="{FF2B5EF4-FFF2-40B4-BE49-F238E27FC236}">
                <a16:creationId xmlns:a16="http://schemas.microsoft.com/office/drawing/2014/main" id="{00727E43-6914-D346-2F7A-5D1E2B1DD47F}"/>
              </a:ext>
            </a:extLst>
          </p:cNvPr>
          <p:cNvSpPr>
            <a:spLocks noGrp="1"/>
          </p:cNvSpPr>
          <p:nvPr>
            <p:ph type="subTitle" idx="10"/>
          </p:nvPr>
        </p:nvSpPr>
        <p:spPr/>
        <p:txBody>
          <a:bodyPr/>
          <a:lstStyle/>
          <a:p>
            <a:r>
              <a:rPr lang="en-US" dirty="0"/>
              <a:t>Networking has changed…</a:t>
            </a:r>
          </a:p>
        </p:txBody>
      </p:sp>
      <p:cxnSp>
        <p:nvCxnSpPr>
          <p:cNvPr id="10298" name="Google Shape;10298;p69">
            <a:extLst>
              <a:ext uri="{FF2B5EF4-FFF2-40B4-BE49-F238E27FC236}">
                <a16:creationId xmlns:a16="http://schemas.microsoft.com/office/drawing/2014/main" id="{C541F4CC-7FF9-0084-EB76-9699EEF65552}"/>
              </a:ext>
            </a:extLst>
          </p:cNvPr>
          <p:cNvCxnSpPr/>
          <p:nvPr/>
        </p:nvCxnSpPr>
        <p:spPr>
          <a:xfrm>
            <a:off x="8379818" y="3872326"/>
            <a:ext cx="3807420" cy="0"/>
          </a:xfrm>
          <a:prstGeom prst="straightConnector1">
            <a:avLst/>
          </a:prstGeom>
          <a:noFill/>
          <a:ln w="57150" cap="flat" cmpd="sng">
            <a:solidFill>
              <a:schemeClr val="accent1"/>
            </a:solidFill>
            <a:prstDash val="solid"/>
            <a:miter lim="800000"/>
            <a:headEnd type="none" w="sm" len="sm"/>
            <a:tailEnd type="none" w="sm" len="sm"/>
          </a:ln>
        </p:spPr>
      </p:cxnSp>
      <p:sp>
        <p:nvSpPr>
          <p:cNvPr id="10300" name="Google Shape;10300;p69">
            <a:extLst>
              <a:ext uri="{FF2B5EF4-FFF2-40B4-BE49-F238E27FC236}">
                <a16:creationId xmlns:a16="http://schemas.microsoft.com/office/drawing/2014/main" id="{F7EBB7ED-A7FF-B16D-8FA0-D27B6647AD56}"/>
              </a:ext>
            </a:extLst>
          </p:cNvPr>
          <p:cNvSpPr txBox="1"/>
          <p:nvPr/>
        </p:nvSpPr>
        <p:spPr>
          <a:xfrm>
            <a:off x="581246" y="1761408"/>
            <a:ext cx="6733637" cy="369236"/>
          </a:xfrm>
          <a:prstGeom prst="rect">
            <a:avLst/>
          </a:prstGeom>
          <a:noFill/>
          <a:ln>
            <a:noFill/>
          </a:ln>
        </p:spPr>
        <p:txBody>
          <a:bodyPr spcFirstLastPara="1" wrap="square" lIns="0" tIns="45700" rIns="0"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005C8A"/>
                </a:solidFill>
                <a:effectLst/>
                <a:uLnTx/>
                <a:uFillTx/>
                <a:latin typeface="Arial" panose="020B0604020202020204"/>
                <a:ea typeface="Arial"/>
                <a:cs typeface="Arial"/>
                <a:sym typeface="Arial"/>
              </a:rPr>
              <a:t>Software-Defined Networking is Built for the Application</a:t>
            </a:r>
            <a:endParaRPr kumimoji="0" sz="1800" b="0" i="0" u="none" strike="noStrike" kern="1200" cap="none" spc="0" normalizeH="0" baseline="0" noProof="0" dirty="0">
              <a:ln>
                <a:noFill/>
              </a:ln>
              <a:solidFill>
                <a:srgbClr val="005C8A"/>
              </a:solidFill>
              <a:effectLst/>
              <a:uLnTx/>
              <a:uFillTx/>
              <a:latin typeface="Arial" panose="020B0604020202020204"/>
              <a:ea typeface="+mn-ea"/>
              <a:cs typeface="+mn-cs"/>
            </a:endParaRPr>
          </a:p>
        </p:txBody>
      </p:sp>
      <p:cxnSp>
        <p:nvCxnSpPr>
          <p:cNvPr id="10301" name="Google Shape;10301;p69">
            <a:extLst>
              <a:ext uri="{FF2B5EF4-FFF2-40B4-BE49-F238E27FC236}">
                <a16:creationId xmlns:a16="http://schemas.microsoft.com/office/drawing/2014/main" id="{01A83A6A-8ECE-1EB2-FF5A-6C976768080C}"/>
              </a:ext>
            </a:extLst>
          </p:cNvPr>
          <p:cNvCxnSpPr/>
          <p:nvPr/>
        </p:nvCxnSpPr>
        <p:spPr>
          <a:xfrm>
            <a:off x="8379818" y="1609142"/>
            <a:ext cx="3807420" cy="0"/>
          </a:xfrm>
          <a:prstGeom prst="straightConnector1">
            <a:avLst/>
          </a:prstGeom>
          <a:noFill/>
          <a:ln w="57150" cap="flat" cmpd="sng">
            <a:solidFill>
              <a:schemeClr val="accent2"/>
            </a:solidFill>
            <a:prstDash val="solid"/>
            <a:miter lim="800000"/>
            <a:headEnd type="none" w="sm" len="sm"/>
            <a:tailEnd type="none" w="sm" len="sm"/>
          </a:ln>
        </p:spPr>
      </p:cxnSp>
      <p:sp>
        <p:nvSpPr>
          <p:cNvPr id="10302" name="Google Shape;10302;p69">
            <a:extLst>
              <a:ext uri="{FF2B5EF4-FFF2-40B4-BE49-F238E27FC236}">
                <a16:creationId xmlns:a16="http://schemas.microsoft.com/office/drawing/2014/main" id="{5BF54A19-8BCD-BAEB-0872-3ECCCAB60E3E}"/>
              </a:ext>
            </a:extLst>
          </p:cNvPr>
          <p:cNvSpPr txBox="1"/>
          <p:nvPr/>
        </p:nvSpPr>
        <p:spPr>
          <a:xfrm>
            <a:off x="8379818" y="1700138"/>
            <a:ext cx="2935882" cy="1935648"/>
          </a:xfrm>
          <a:prstGeom prst="rect">
            <a:avLst/>
          </a:prstGeom>
          <a:noFill/>
          <a:ln>
            <a:noFill/>
          </a:ln>
        </p:spPr>
        <p:txBody>
          <a:bodyPr spcFirstLastPara="1" wrap="square" lIns="0" tIns="45700" rIns="0" bIns="45700" anchor="t" anchorCtr="0">
            <a:noAutofit/>
          </a:bodyPr>
          <a:lstStyle/>
          <a:p>
            <a:pPr marL="0" marR="0" lvl="0" indent="0" algn="l" defTabSz="914400" rtl="0" eaLnBrk="1" fontAlgn="auto" latinLnBrk="0" hangingPunct="1">
              <a:lnSpc>
                <a:spcPct val="100000"/>
              </a:lnSpc>
              <a:spcBef>
                <a:spcPts val="0"/>
              </a:spcBef>
              <a:spcAft>
                <a:spcPts val="0"/>
              </a:spcAft>
              <a:buClr>
                <a:srgbClr val="A8A8AB"/>
              </a:buClr>
              <a:buSzPts val="1620"/>
              <a:buFontTx/>
              <a:buNone/>
              <a:tabLst/>
              <a:defRPr/>
            </a:pPr>
            <a:r>
              <a:rPr kumimoji="0" lang="en-US" sz="1800" b="0" i="0" u="none" strike="noStrike" kern="1200" cap="none" spc="0" normalizeH="0" baseline="0" noProof="0" dirty="0">
                <a:ln>
                  <a:noFill/>
                </a:ln>
                <a:solidFill>
                  <a:srgbClr val="1B1E35"/>
                </a:solidFill>
                <a:effectLst/>
                <a:uLnTx/>
                <a:uFillTx/>
                <a:latin typeface="Arial" panose="020B0604020202020204"/>
                <a:ea typeface="Arial"/>
                <a:cs typeface="Arial"/>
                <a:sym typeface="Arial"/>
              </a:rPr>
              <a:t>Applications in Focus</a:t>
            </a:r>
            <a:endParaRPr kumimoji="0" sz="2000" b="0" i="0" u="none" strike="noStrike" kern="1200" cap="none" spc="0" normalizeH="0" baseline="0" noProof="0" dirty="0">
              <a:ln>
                <a:noFill/>
              </a:ln>
              <a:solidFill>
                <a:srgbClr val="1B1E35"/>
              </a:solidFill>
              <a:effectLst/>
              <a:uLnTx/>
              <a:uFillTx/>
              <a:latin typeface="Arial" panose="020B0604020202020204"/>
              <a:ea typeface="Arial"/>
              <a:cs typeface="Arial"/>
              <a:sym typeface="Arial"/>
            </a:endParaRPr>
          </a:p>
          <a:p>
            <a:pPr marL="0" marR="0" lvl="0" indent="0" algn="l" defTabSz="914400" rtl="0" eaLnBrk="1" fontAlgn="auto" latinLnBrk="0" hangingPunct="1">
              <a:lnSpc>
                <a:spcPct val="100000"/>
              </a:lnSpc>
              <a:spcBef>
                <a:spcPts val="1200"/>
              </a:spcBef>
              <a:spcAft>
                <a:spcPts val="0"/>
              </a:spcAft>
              <a:buClr>
                <a:srgbClr val="A8A8AB"/>
              </a:buClr>
              <a:buSzPts val="1440"/>
              <a:buFontTx/>
              <a:buNone/>
              <a:tabLst/>
              <a:defRPr/>
            </a:pPr>
            <a:r>
              <a:rPr kumimoji="0" lang="en-US" sz="1600" b="0" i="0" u="none" strike="noStrike" kern="1200" cap="none" spc="0" normalizeH="0" baseline="0" noProof="0" dirty="0">
                <a:ln>
                  <a:noFill/>
                </a:ln>
                <a:solidFill>
                  <a:srgbClr val="005B84"/>
                </a:solidFill>
                <a:effectLst/>
                <a:uLnTx/>
                <a:uFillTx/>
                <a:latin typeface="Arial" panose="020B0604020202020204"/>
                <a:ea typeface="Arial"/>
                <a:cs typeface="Arial"/>
                <a:sym typeface="Arial"/>
              </a:rPr>
              <a:t>Building a repeatable infrastructure for applications</a:t>
            </a:r>
            <a:endParaRPr kumimoji="0" sz="2000" b="0" i="0" u="none" strike="noStrike" kern="1200" cap="none" spc="0" normalizeH="0" baseline="0" noProof="0" dirty="0">
              <a:ln>
                <a:noFill/>
              </a:ln>
              <a:solidFill>
                <a:srgbClr val="005B84"/>
              </a:solidFill>
              <a:effectLst/>
              <a:uLnTx/>
              <a:uFillTx/>
              <a:latin typeface="Arial" panose="020B0604020202020204"/>
              <a:ea typeface="Arial"/>
              <a:cs typeface="Arial"/>
              <a:sym typeface="Arial"/>
            </a:endParaRPr>
          </a:p>
          <a:p>
            <a:pPr marL="0" marR="0" lvl="0" indent="0" algn="l" defTabSz="914400" rtl="0" eaLnBrk="1" fontAlgn="auto" latinLnBrk="0" hangingPunct="1">
              <a:lnSpc>
                <a:spcPct val="100000"/>
              </a:lnSpc>
              <a:spcBef>
                <a:spcPts val="1200"/>
              </a:spcBef>
              <a:spcAft>
                <a:spcPts val="0"/>
              </a:spcAft>
              <a:buClr>
                <a:srgbClr val="A8A8AB"/>
              </a:buClr>
              <a:buSzPts val="1440"/>
              <a:buFontTx/>
              <a:buNone/>
              <a:tabLst/>
              <a:defRPr/>
            </a:pPr>
            <a:r>
              <a:rPr kumimoji="0" lang="en-US" sz="1600" b="0" i="0" u="none" strike="noStrike" kern="1200" cap="none" spc="0" normalizeH="0" baseline="0" noProof="0" dirty="0">
                <a:ln>
                  <a:noFill/>
                </a:ln>
                <a:solidFill>
                  <a:srgbClr val="005B84"/>
                </a:solidFill>
                <a:effectLst/>
                <a:uLnTx/>
                <a:uFillTx/>
                <a:latin typeface="Arial" panose="020B0604020202020204"/>
                <a:ea typeface="Arial"/>
                <a:cs typeface="Arial"/>
                <a:sym typeface="Arial"/>
              </a:rPr>
              <a:t>Abstracts the hardware layer and virtualizes network resources</a:t>
            </a:r>
            <a:endParaRPr kumimoji="0" sz="2000" b="0" i="0" u="none" strike="noStrike" kern="1200" cap="none" spc="0" normalizeH="0" baseline="0" noProof="0" dirty="0">
              <a:ln>
                <a:noFill/>
              </a:ln>
              <a:solidFill>
                <a:srgbClr val="005B84"/>
              </a:solidFill>
              <a:effectLst/>
              <a:uLnTx/>
              <a:uFillTx/>
              <a:latin typeface="Arial" panose="020B0604020202020204"/>
              <a:ea typeface="Arial"/>
              <a:cs typeface="Arial"/>
              <a:sym typeface="Arial"/>
            </a:endParaRPr>
          </a:p>
        </p:txBody>
      </p:sp>
      <p:sp>
        <p:nvSpPr>
          <p:cNvPr id="10303" name="Google Shape;10303;p69">
            <a:extLst>
              <a:ext uri="{FF2B5EF4-FFF2-40B4-BE49-F238E27FC236}">
                <a16:creationId xmlns:a16="http://schemas.microsoft.com/office/drawing/2014/main" id="{A8CBA7DF-2A3F-B634-313C-4BCBB69134F2}"/>
              </a:ext>
            </a:extLst>
          </p:cNvPr>
          <p:cNvSpPr txBox="1"/>
          <p:nvPr/>
        </p:nvSpPr>
        <p:spPr>
          <a:xfrm>
            <a:off x="8379819" y="3972328"/>
            <a:ext cx="2935882" cy="2122978"/>
          </a:xfrm>
          <a:prstGeom prst="rect">
            <a:avLst/>
          </a:prstGeom>
          <a:noFill/>
          <a:ln>
            <a:noFill/>
          </a:ln>
        </p:spPr>
        <p:txBody>
          <a:bodyPr spcFirstLastPara="1" wrap="square" lIns="0" tIns="45700" rIns="0" bIns="45700" anchor="t" anchorCtr="0">
            <a:noAutofit/>
          </a:bodyPr>
          <a:lstStyle/>
          <a:p>
            <a:pPr marL="0" marR="0" lvl="0" indent="0" algn="l" defTabSz="914400" rtl="0" eaLnBrk="1" fontAlgn="auto" latinLnBrk="0" hangingPunct="1">
              <a:lnSpc>
                <a:spcPct val="100000"/>
              </a:lnSpc>
              <a:spcBef>
                <a:spcPts val="0"/>
              </a:spcBef>
              <a:spcAft>
                <a:spcPts val="0"/>
              </a:spcAft>
              <a:buClr>
                <a:srgbClr val="A8A8AB"/>
              </a:buClr>
              <a:buSzPts val="1620"/>
              <a:buFontTx/>
              <a:buNone/>
              <a:tabLst/>
              <a:defRPr/>
            </a:pPr>
            <a:r>
              <a:rPr kumimoji="0" lang="en-US" sz="1800" b="0" i="0" u="none" strike="noStrike" kern="1200" cap="none" spc="0" normalizeH="0" baseline="0" noProof="0" dirty="0">
                <a:ln>
                  <a:noFill/>
                </a:ln>
                <a:solidFill>
                  <a:srgbClr val="1B1E35"/>
                </a:solidFill>
                <a:effectLst/>
                <a:uLnTx/>
                <a:uFillTx/>
                <a:latin typeface="Arial" panose="020B0604020202020204"/>
                <a:ea typeface="Arial"/>
                <a:cs typeface="Arial"/>
                <a:sym typeface="Arial"/>
              </a:rPr>
              <a:t>Operations</a:t>
            </a:r>
            <a:endParaRPr kumimoji="0" sz="1800" b="0" i="0" u="none" strike="noStrike" kern="1200" cap="none" spc="0" normalizeH="0" baseline="0" noProof="0" dirty="0">
              <a:ln>
                <a:noFill/>
              </a:ln>
              <a:solidFill>
                <a:srgbClr val="1B1E35"/>
              </a:solidFill>
              <a:effectLst/>
              <a:uLnTx/>
              <a:uFillTx/>
              <a:latin typeface="Arial" panose="020B0604020202020204"/>
              <a:ea typeface="Arial"/>
              <a:cs typeface="Arial"/>
              <a:sym typeface="Arial"/>
            </a:endParaRPr>
          </a:p>
          <a:p>
            <a:pPr marL="0" marR="0" lvl="0" indent="0" algn="l" defTabSz="914400" rtl="0" eaLnBrk="1" fontAlgn="auto" latinLnBrk="0" hangingPunct="1">
              <a:lnSpc>
                <a:spcPct val="100000"/>
              </a:lnSpc>
              <a:spcBef>
                <a:spcPts val="1200"/>
              </a:spcBef>
              <a:spcAft>
                <a:spcPts val="0"/>
              </a:spcAft>
              <a:buClr>
                <a:srgbClr val="A8A8AB"/>
              </a:buClr>
              <a:buSzPts val="1440"/>
              <a:buFontTx/>
              <a:buNone/>
              <a:tabLst/>
              <a:defRPr/>
            </a:pPr>
            <a:r>
              <a:rPr kumimoji="0" lang="en-US" sz="1600" b="0" i="0" u="none" strike="noStrike" kern="1200" cap="none" spc="0" normalizeH="0" baseline="0" noProof="0" dirty="0">
                <a:ln>
                  <a:noFill/>
                </a:ln>
                <a:solidFill>
                  <a:srgbClr val="005B84"/>
                </a:solidFill>
                <a:effectLst/>
                <a:uLnTx/>
                <a:uFillTx/>
                <a:latin typeface="Arial" panose="020B0604020202020204"/>
                <a:ea typeface="Arial"/>
                <a:cs typeface="Arial"/>
                <a:sym typeface="Arial"/>
              </a:rPr>
              <a:t>Policy-based enforcement based on application behavior</a:t>
            </a:r>
            <a:endParaRPr kumimoji="0" sz="1800" b="0" i="0" u="none" strike="noStrike" kern="1200" cap="none" spc="0" normalizeH="0" baseline="0" noProof="0" dirty="0">
              <a:ln>
                <a:noFill/>
              </a:ln>
              <a:solidFill>
                <a:srgbClr val="005B84"/>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1200"/>
              </a:spcBef>
              <a:spcAft>
                <a:spcPts val="0"/>
              </a:spcAft>
              <a:buClr>
                <a:srgbClr val="A8A8AB"/>
              </a:buClr>
              <a:buSzPts val="1440"/>
              <a:buFontTx/>
              <a:buNone/>
              <a:tabLst/>
              <a:defRPr/>
            </a:pPr>
            <a:r>
              <a:rPr kumimoji="0" lang="en-US" sz="1600" b="0" i="0" u="none" strike="noStrike" kern="1200" cap="none" spc="0" normalizeH="0" baseline="0" noProof="0" dirty="0">
                <a:ln>
                  <a:noFill/>
                </a:ln>
                <a:solidFill>
                  <a:srgbClr val="005B84"/>
                </a:solidFill>
                <a:effectLst/>
                <a:uLnTx/>
                <a:uFillTx/>
                <a:latin typeface="Arial" panose="020B0604020202020204"/>
                <a:ea typeface="Arial"/>
                <a:cs typeface="Arial"/>
                <a:sym typeface="Arial"/>
              </a:rPr>
              <a:t>Enforcement at application level and not at multiple points in the infrastructure</a:t>
            </a:r>
            <a:endParaRPr kumimoji="0" sz="1800" b="0" i="0" u="none" strike="noStrike" kern="1200" cap="none" spc="0" normalizeH="0" baseline="0" noProof="0" dirty="0">
              <a:ln>
                <a:noFill/>
              </a:ln>
              <a:solidFill>
                <a:srgbClr val="005B84"/>
              </a:solidFill>
              <a:effectLst/>
              <a:uLnTx/>
              <a:uFillTx/>
              <a:latin typeface="Arial" panose="020B0604020202020204"/>
              <a:ea typeface="+mn-ea"/>
              <a:cs typeface="+mn-cs"/>
            </a:endParaRPr>
          </a:p>
        </p:txBody>
      </p:sp>
      <p:sp>
        <p:nvSpPr>
          <p:cNvPr id="10304" name="Google Shape;10304;p69">
            <a:extLst>
              <a:ext uri="{FF2B5EF4-FFF2-40B4-BE49-F238E27FC236}">
                <a16:creationId xmlns:a16="http://schemas.microsoft.com/office/drawing/2014/main" id="{BBFBE045-54B3-541D-6CD3-313719955935}"/>
              </a:ext>
            </a:extLst>
          </p:cNvPr>
          <p:cNvSpPr/>
          <p:nvPr/>
        </p:nvSpPr>
        <p:spPr>
          <a:xfrm>
            <a:off x="579809" y="2331170"/>
            <a:ext cx="6328991" cy="974748"/>
          </a:xfrm>
          <a:prstGeom prst="roundRect">
            <a:avLst>
              <a:gd name="adj" fmla="val 5410"/>
            </a:avLst>
          </a:prstGeom>
          <a:solidFill>
            <a:schemeClr val="accent2">
              <a:alpha val="10000"/>
            </a:schemeClr>
          </a:solidFill>
          <a:ln w="25400" cap="flat" cmpd="sng">
            <a:solidFill>
              <a:schemeClr val="accent3"/>
            </a:solidFill>
            <a:prstDash val="solid"/>
            <a:miter lim="800000"/>
            <a:headEnd type="none" w="sm" len="sm"/>
            <a:tailEnd type="none" w="sm" len="sm"/>
          </a:ln>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0305" name="Google Shape;10305;p69">
            <a:extLst>
              <a:ext uri="{FF2B5EF4-FFF2-40B4-BE49-F238E27FC236}">
                <a16:creationId xmlns:a16="http://schemas.microsoft.com/office/drawing/2014/main" id="{B7826C8E-2AB0-801E-FD40-4253DBBEDFD4}"/>
              </a:ext>
            </a:extLst>
          </p:cNvPr>
          <p:cNvSpPr/>
          <p:nvPr/>
        </p:nvSpPr>
        <p:spPr>
          <a:xfrm>
            <a:off x="732376" y="2668588"/>
            <a:ext cx="1644040" cy="307777"/>
          </a:xfrm>
          <a:prstGeom prst="rect">
            <a:avLst/>
          </a:prstGeom>
          <a:noFill/>
          <a:ln>
            <a:noFill/>
          </a:ln>
        </p:spPr>
        <p:txBody>
          <a:bodyPr spcFirstLastPara="1" wrap="square" lIns="0"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EEEEE">
                    <a:lumMod val="10000"/>
                  </a:srgbClr>
                </a:solidFill>
                <a:effectLst/>
                <a:uLnTx/>
                <a:uFillTx/>
                <a:latin typeface="Arial" panose="020B0604020202020204"/>
                <a:ea typeface="Arial"/>
                <a:cs typeface="Arial"/>
                <a:sym typeface="Arial"/>
              </a:rPr>
              <a:t>Application Layer</a:t>
            </a:r>
            <a:endParaRPr kumimoji="0" sz="1800" b="0" i="0" u="none" strike="noStrike" kern="1200" cap="none" spc="0" normalizeH="0" baseline="0" noProof="0" dirty="0">
              <a:ln>
                <a:noFill/>
              </a:ln>
              <a:solidFill>
                <a:srgbClr val="EEEEEE">
                  <a:lumMod val="10000"/>
                </a:srgbClr>
              </a:solidFill>
              <a:effectLst/>
              <a:uLnTx/>
              <a:uFillTx/>
              <a:latin typeface="Arial" panose="020B0604020202020204"/>
              <a:ea typeface="+mn-ea"/>
              <a:cs typeface="+mn-cs"/>
            </a:endParaRPr>
          </a:p>
        </p:txBody>
      </p:sp>
      <p:grpSp>
        <p:nvGrpSpPr>
          <p:cNvPr id="10306" name="Google Shape;10306;p69" descr="app">
            <a:extLst>
              <a:ext uri="{FF2B5EF4-FFF2-40B4-BE49-F238E27FC236}">
                <a16:creationId xmlns:a16="http://schemas.microsoft.com/office/drawing/2014/main" id="{A0CF6AAE-D1C1-8871-6FC1-5FCE0F07CE54}"/>
              </a:ext>
            </a:extLst>
          </p:cNvPr>
          <p:cNvGrpSpPr/>
          <p:nvPr/>
        </p:nvGrpSpPr>
        <p:grpSpPr>
          <a:xfrm>
            <a:off x="3240687" y="2527578"/>
            <a:ext cx="581934" cy="581932"/>
            <a:chOff x="1226691" y="4955658"/>
            <a:chExt cx="582086" cy="582084"/>
          </a:xfrm>
        </p:grpSpPr>
        <p:sp>
          <p:nvSpPr>
            <p:cNvPr id="10307" name="Google Shape;10307;p69">
              <a:extLst>
                <a:ext uri="{FF2B5EF4-FFF2-40B4-BE49-F238E27FC236}">
                  <a16:creationId xmlns:a16="http://schemas.microsoft.com/office/drawing/2014/main" id="{D98AADFF-65F6-F280-7987-AF6DA481A38A}"/>
                </a:ext>
              </a:extLst>
            </p:cNvPr>
            <p:cNvSpPr/>
            <p:nvPr/>
          </p:nvSpPr>
          <p:spPr>
            <a:xfrm>
              <a:off x="1226691" y="4955658"/>
              <a:ext cx="582086" cy="582084"/>
            </a:xfrm>
            <a:prstGeom prst="ellipse">
              <a:avLst/>
            </a:prstGeom>
            <a:solidFill>
              <a:schemeClr val="lt1"/>
            </a:solidFill>
            <a:ln w="1905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nvGrpSpPr>
            <p:cNvPr id="10308" name="Google Shape;10308;p69">
              <a:extLst>
                <a:ext uri="{FF2B5EF4-FFF2-40B4-BE49-F238E27FC236}">
                  <a16:creationId xmlns:a16="http://schemas.microsoft.com/office/drawing/2014/main" id="{79122600-E500-353D-CC62-66AD30E4280F}"/>
                </a:ext>
              </a:extLst>
            </p:cNvPr>
            <p:cNvGrpSpPr/>
            <p:nvPr/>
          </p:nvGrpSpPr>
          <p:grpSpPr>
            <a:xfrm>
              <a:off x="1353456" y="5072847"/>
              <a:ext cx="336964" cy="336964"/>
              <a:chOff x="988779" y="1554296"/>
              <a:chExt cx="1035620" cy="1035620"/>
            </a:xfrm>
          </p:grpSpPr>
          <p:grpSp>
            <p:nvGrpSpPr>
              <p:cNvPr id="10309" name="Google Shape;10309;p69">
                <a:extLst>
                  <a:ext uri="{FF2B5EF4-FFF2-40B4-BE49-F238E27FC236}">
                    <a16:creationId xmlns:a16="http://schemas.microsoft.com/office/drawing/2014/main" id="{02DBF19D-0FC7-DA57-D84B-FC0E76C66B86}"/>
                  </a:ext>
                </a:extLst>
              </p:cNvPr>
              <p:cNvGrpSpPr/>
              <p:nvPr/>
            </p:nvGrpSpPr>
            <p:grpSpPr>
              <a:xfrm>
                <a:off x="1165295" y="1944645"/>
                <a:ext cx="663299" cy="217354"/>
                <a:chOff x="1165295" y="1944645"/>
                <a:chExt cx="663299" cy="217354"/>
              </a:xfrm>
            </p:grpSpPr>
            <p:sp>
              <p:nvSpPr>
                <p:cNvPr id="10310" name="Google Shape;10310;p69">
                  <a:extLst>
                    <a:ext uri="{FF2B5EF4-FFF2-40B4-BE49-F238E27FC236}">
                      <a16:creationId xmlns:a16="http://schemas.microsoft.com/office/drawing/2014/main" id="{39517C5C-30B7-54FC-266D-111FA57BC153}"/>
                    </a:ext>
                  </a:extLst>
                </p:cNvPr>
                <p:cNvSpPr/>
                <p:nvPr/>
              </p:nvSpPr>
              <p:spPr>
                <a:xfrm>
                  <a:off x="1165295" y="1944645"/>
                  <a:ext cx="218612" cy="217270"/>
                </a:xfrm>
                <a:custGeom>
                  <a:avLst/>
                  <a:gdLst/>
                  <a:ahLst/>
                  <a:cxnLst/>
                  <a:rect l="l" t="t" r="r" b="b"/>
                  <a:pathLst>
                    <a:path w="218612" h="217270" extrusionOk="0">
                      <a:moveTo>
                        <a:pt x="169808" y="167963"/>
                      </a:moveTo>
                      <a:lnTo>
                        <a:pt x="48720" y="167963"/>
                      </a:lnTo>
                      <a:lnTo>
                        <a:pt x="26918" y="217271"/>
                      </a:lnTo>
                      <a:lnTo>
                        <a:pt x="0" y="217271"/>
                      </a:lnTo>
                      <a:lnTo>
                        <a:pt x="95847" y="0"/>
                      </a:lnTo>
                      <a:lnTo>
                        <a:pt x="122765" y="0"/>
                      </a:lnTo>
                      <a:lnTo>
                        <a:pt x="218612" y="217271"/>
                      </a:lnTo>
                      <a:lnTo>
                        <a:pt x="191695" y="217271"/>
                      </a:lnTo>
                      <a:lnTo>
                        <a:pt x="169808" y="167963"/>
                      </a:lnTo>
                      <a:close/>
                      <a:moveTo>
                        <a:pt x="159745" y="144568"/>
                      </a:moveTo>
                      <a:lnTo>
                        <a:pt x="109432" y="30440"/>
                      </a:lnTo>
                      <a:lnTo>
                        <a:pt x="58867" y="144568"/>
                      </a:lnTo>
                      <a:lnTo>
                        <a:pt x="159745" y="14456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311" name="Google Shape;10311;p69">
                  <a:extLst>
                    <a:ext uri="{FF2B5EF4-FFF2-40B4-BE49-F238E27FC236}">
                      <a16:creationId xmlns:a16="http://schemas.microsoft.com/office/drawing/2014/main" id="{8A60A5CA-7484-4155-C4BA-368D67ED4561}"/>
                    </a:ext>
                  </a:extLst>
                </p:cNvPr>
                <p:cNvSpPr/>
                <p:nvPr/>
              </p:nvSpPr>
              <p:spPr>
                <a:xfrm>
                  <a:off x="1437827" y="1944729"/>
                  <a:ext cx="168214" cy="217270"/>
                </a:xfrm>
                <a:custGeom>
                  <a:avLst/>
                  <a:gdLst/>
                  <a:ahLst/>
                  <a:cxnLst/>
                  <a:rect l="l" t="t" r="r" b="b"/>
                  <a:pathLst>
                    <a:path w="168214" h="217270" extrusionOk="0">
                      <a:moveTo>
                        <a:pt x="0" y="0"/>
                      </a:moveTo>
                      <a:lnTo>
                        <a:pt x="88216" y="0"/>
                      </a:lnTo>
                      <a:cubicBezTo>
                        <a:pt x="133079" y="0"/>
                        <a:pt x="168215" y="28763"/>
                        <a:pt x="168215" y="69600"/>
                      </a:cubicBezTo>
                      <a:cubicBezTo>
                        <a:pt x="168215" y="110354"/>
                        <a:pt x="133079" y="139201"/>
                        <a:pt x="88216" y="139201"/>
                      </a:cubicBezTo>
                      <a:lnTo>
                        <a:pt x="24654" y="139201"/>
                      </a:lnTo>
                      <a:lnTo>
                        <a:pt x="24654" y="217271"/>
                      </a:lnTo>
                      <a:lnTo>
                        <a:pt x="0" y="217271"/>
                      </a:lnTo>
                      <a:lnTo>
                        <a:pt x="0" y="0"/>
                      </a:lnTo>
                      <a:close/>
                      <a:moveTo>
                        <a:pt x="83772" y="115721"/>
                      </a:moveTo>
                      <a:cubicBezTo>
                        <a:pt x="119159" y="115721"/>
                        <a:pt x="143226" y="98615"/>
                        <a:pt x="143226" y="69600"/>
                      </a:cubicBezTo>
                      <a:cubicBezTo>
                        <a:pt x="143226" y="40502"/>
                        <a:pt x="119159" y="23396"/>
                        <a:pt x="83772" y="23396"/>
                      </a:cubicBezTo>
                      <a:lnTo>
                        <a:pt x="24654" y="23396"/>
                      </a:lnTo>
                      <a:lnTo>
                        <a:pt x="24654" y="115721"/>
                      </a:lnTo>
                      <a:lnTo>
                        <a:pt x="83772" y="11572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312" name="Google Shape;10312;p69">
                  <a:extLst>
                    <a:ext uri="{FF2B5EF4-FFF2-40B4-BE49-F238E27FC236}">
                      <a16:creationId xmlns:a16="http://schemas.microsoft.com/office/drawing/2014/main" id="{AAD67BB8-7A8F-DDA0-0905-9B28CD45B1C7}"/>
                    </a:ext>
                  </a:extLst>
                </p:cNvPr>
                <p:cNvSpPr/>
                <p:nvPr/>
              </p:nvSpPr>
              <p:spPr>
                <a:xfrm>
                  <a:off x="1660380" y="1944729"/>
                  <a:ext cx="168214" cy="217270"/>
                </a:xfrm>
                <a:custGeom>
                  <a:avLst/>
                  <a:gdLst/>
                  <a:ahLst/>
                  <a:cxnLst/>
                  <a:rect l="l" t="t" r="r" b="b"/>
                  <a:pathLst>
                    <a:path w="168214" h="217270" extrusionOk="0">
                      <a:moveTo>
                        <a:pt x="0" y="0"/>
                      </a:moveTo>
                      <a:lnTo>
                        <a:pt x="88216" y="0"/>
                      </a:lnTo>
                      <a:cubicBezTo>
                        <a:pt x="133079" y="0"/>
                        <a:pt x="168215" y="28763"/>
                        <a:pt x="168215" y="69600"/>
                      </a:cubicBezTo>
                      <a:cubicBezTo>
                        <a:pt x="168215" y="110354"/>
                        <a:pt x="133079" y="139201"/>
                        <a:pt x="88216" y="139201"/>
                      </a:cubicBezTo>
                      <a:lnTo>
                        <a:pt x="24654" y="139201"/>
                      </a:lnTo>
                      <a:lnTo>
                        <a:pt x="24654" y="217271"/>
                      </a:lnTo>
                      <a:lnTo>
                        <a:pt x="0" y="217271"/>
                      </a:lnTo>
                      <a:lnTo>
                        <a:pt x="0" y="0"/>
                      </a:lnTo>
                      <a:close/>
                      <a:moveTo>
                        <a:pt x="83856" y="115721"/>
                      </a:moveTo>
                      <a:cubicBezTo>
                        <a:pt x="119243" y="115721"/>
                        <a:pt x="143310" y="98615"/>
                        <a:pt x="143310" y="69600"/>
                      </a:cubicBezTo>
                      <a:cubicBezTo>
                        <a:pt x="143310" y="40502"/>
                        <a:pt x="119243" y="23396"/>
                        <a:pt x="83856" y="23396"/>
                      </a:cubicBezTo>
                      <a:lnTo>
                        <a:pt x="24738" y="23396"/>
                      </a:lnTo>
                      <a:lnTo>
                        <a:pt x="24738" y="115721"/>
                      </a:lnTo>
                      <a:lnTo>
                        <a:pt x="83856" y="11572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grpSp>
          <p:sp>
            <p:nvSpPr>
              <p:cNvPr id="10313" name="Google Shape;10313;p69">
                <a:extLst>
                  <a:ext uri="{FF2B5EF4-FFF2-40B4-BE49-F238E27FC236}">
                    <a16:creationId xmlns:a16="http://schemas.microsoft.com/office/drawing/2014/main" id="{23C755D4-3EC9-664D-26E3-78B8B0BA9F23}"/>
                  </a:ext>
                </a:extLst>
              </p:cNvPr>
              <p:cNvSpPr/>
              <p:nvPr/>
            </p:nvSpPr>
            <p:spPr>
              <a:xfrm>
                <a:off x="988779" y="1554296"/>
                <a:ext cx="1035620" cy="1035620"/>
              </a:xfrm>
              <a:custGeom>
                <a:avLst/>
                <a:gdLst/>
                <a:ahLst/>
                <a:cxnLst/>
                <a:rect l="l" t="t" r="r" b="b"/>
                <a:pathLst>
                  <a:path w="1035620" h="1035620" extrusionOk="0">
                    <a:moveTo>
                      <a:pt x="956544" y="27253"/>
                    </a:moveTo>
                    <a:cubicBezTo>
                      <a:pt x="985139" y="27253"/>
                      <a:pt x="1008367" y="50481"/>
                      <a:pt x="1008367" y="79076"/>
                    </a:cubicBezTo>
                    <a:lnTo>
                      <a:pt x="1008367" y="956544"/>
                    </a:lnTo>
                    <a:cubicBezTo>
                      <a:pt x="1008367" y="985139"/>
                      <a:pt x="985139" y="1008367"/>
                      <a:pt x="956544" y="1008367"/>
                    </a:cubicBezTo>
                    <a:lnTo>
                      <a:pt x="79076" y="1008367"/>
                    </a:lnTo>
                    <a:cubicBezTo>
                      <a:pt x="50481" y="1008367"/>
                      <a:pt x="27253" y="985139"/>
                      <a:pt x="27253" y="956544"/>
                    </a:cubicBezTo>
                    <a:lnTo>
                      <a:pt x="27253" y="79076"/>
                    </a:lnTo>
                    <a:cubicBezTo>
                      <a:pt x="27253" y="50481"/>
                      <a:pt x="50481" y="27253"/>
                      <a:pt x="79076" y="27253"/>
                    </a:cubicBezTo>
                    <a:lnTo>
                      <a:pt x="956544" y="27253"/>
                    </a:lnTo>
                    <a:moveTo>
                      <a:pt x="956544" y="0"/>
                    </a:moveTo>
                    <a:lnTo>
                      <a:pt x="79076" y="0"/>
                    </a:lnTo>
                    <a:cubicBezTo>
                      <a:pt x="35387" y="0"/>
                      <a:pt x="0" y="35387"/>
                      <a:pt x="0" y="79076"/>
                    </a:cubicBezTo>
                    <a:lnTo>
                      <a:pt x="0" y="956544"/>
                    </a:lnTo>
                    <a:cubicBezTo>
                      <a:pt x="0" y="1000233"/>
                      <a:pt x="35387" y="1035620"/>
                      <a:pt x="79076" y="1035620"/>
                    </a:cubicBezTo>
                    <a:lnTo>
                      <a:pt x="956544" y="1035620"/>
                    </a:lnTo>
                    <a:cubicBezTo>
                      <a:pt x="1000233" y="1035620"/>
                      <a:pt x="1035620" y="1000233"/>
                      <a:pt x="1035620" y="956544"/>
                    </a:cubicBezTo>
                    <a:lnTo>
                      <a:pt x="1035620" y="79076"/>
                    </a:lnTo>
                    <a:cubicBezTo>
                      <a:pt x="1035620" y="35387"/>
                      <a:pt x="1000233" y="0"/>
                      <a:pt x="956544" y="0"/>
                    </a:cubicBezTo>
                    <a:lnTo>
                      <a:pt x="956544"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grpSp>
      </p:grpSp>
      <p:grpSp>
        <p:nvGrpSpPr>
          <p:cNvPr id="10314" name="Google Shape;10314;p69" descr="app">
            <a:extLst>
              <a:ext uri="{FF2B5EF4-FFF2-40B4-BE49-F238E27FC236}">
                <a16:creationId xmlns:a16="http://schemas.microsoft.com/office/drawing/2014/main" id="{DEBAA3B8-72D6-A9F1-6888-CD492AB1B3BE}"/>
              </a:ext>
            </a:extLst>
          </p:cNvPr>
          <p:cNvGrpSpPr/>
          <p:nvPr/>
        </p:nvGrpSpPr>
        <p:grpSpPr>
          <a:xfrm>
            <a:off x="4050310" y="2527578"/>
            <a:ext cx="581934" cy="581932"/>
            <a:chOff x="2869224" y="4955658"/>
            <a:chExt cx="582086" cy="582084"/>
          </a:xfrm>
        </p:grpSpPr>
        <p:sp>
          <p:nvSpPr>
            <p:cNvPr id="10315" name="Google Shape;10315;p69">
              <a:extLst>
                <a:ext uri="{FF2B5EF4-FFF2-40B4-BE49-F238E27FC236}">
                  <a16:creationId xmlns:a16="http://schemas.microsoft.com/office/drawing/2014/main" id="{E00BAA1A-F1EF-8551-92D8-5AEDA5551785}"/>
                </a:ext>
              </a:extLst>
            </p:cNvPr>
            <p:cNvSpPr/>
            <p:nvPr/>
          </p:nvSpPr>
          <p:spPr>
            <a:xfrm>
              <a:off x="2869224" y="4955658"/>
              <a:ext cx="582086" cy="582084"/>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nvGrpSpPr>
            <p:cNvPr id="10316" name="Google Shape;10316;p69">
              <a:extLst>
                <a:ext uri="{FF2B5EF4-FFF2-40B4-BE49-F238E27FC236}">
                  <a16:creationId xmlns:a16="http://schemas.microsoft.com/office/drawing/2014/main" id="{B61871D0-F44E-85C0-45BF-4FB466AC3AC7}"/>
                </a:ext>
              </a:extLst>
            </p:cNvPr>
            <p:cNvGrpSpPr/>
            <p:nvPr/>
          </p:nvGrpSpPr>
          <p:grpSpPr>
            <a:xfrm>
              <a:off x="2995989" y="5072847"/>
              <a:ext cx="336964" cy="336964"/>
              <a:chOff x="988779" y="1554296"/>
              <a:chExt cx="1035620" cy="1035620"/>
            </a:xfrm>
          </p:grpSpPr>
          <p:grpSp>
            <p:nvGrpSpPr>
              <p:cNvPr id="10317" name="Google Shape;10317;p69">
                <a:extLst>
                  <a:ext uri="{FF2B5EF4-FFF2-40B4-BE49-F238E27FC236}">
                    <a16:creationId xmlns:a16="http://schemas.microsoft.com/office/drawing/2014/main" id="{C7F94D2F-0953-4BBA-43CF-A184EC96828B}"/>
                  </a:ext>
                </a:extLst>
              </p:cNvPr>
              <p:cNvGrpSpPr/>
              <p:nvPr/>
            </p:nvGrpSpPr>
            <p:grpSpPr>
              <a:xfrm>
                <a:off x="1165295" y="1944645"/>
                <a:ext cx="663299" cy="217354"/>
                <a:chOff x="1165295" y="1944645"/>
                <a:chExt cx="663299" cy="217354"/>
              </a:xfrm>
            </p:grpSpPr>
            <p:sp>
              <p:nvSpPr>
                <p:cNvPr id="10318" name="Google Shape;10318;p69">
                  <a:extLst>
                    <a:ext uri="{FF2B5EF4-FFF2-40B4-BE49-F238E27FC236}">
                      <a16:creationId xmlns:a16="http://schemas.microsoft.com/office/drawing/2014/main" id="{AB1015C9-8CC6-D469-9546-14219F051CD8}"/>
                    </a:ext>
                  </a:extLst>
                </p:cNvPr>
                <p:cNvSpPr/>
                <p:nvPr/>
              </p:nvSpPr>
              <p:spPr>
                <a:xfrm>
                  <a:off x="1165295" y="1944645"/>
                  <a:ext cx="218612" cy="217270"/>
                </a:xfrm>
                <a:custGeom>
                  <a:avLst/>
                  <a:gdLst/>
                  <a:ahLst/>
                  <a:cxnLst/>
                  <a:rect l="l" t="t" r="r" b="b"/>
                  <a:pathLst>
                    <a:path w="218612" h="217270" extrusionOk="0">
                      <a:moveTo>
                        <a:pt x="169808" y="167963"/>
                      </a:moveTo>
                      <a:lnTo>
                        <a:pt x="48720" y="167963"/>
                      </a:lnTo>
                      <a:lnTo>
                        <a:pt x="26918" y="217271"/>
                      </a:lnTo>
                      <a:lnTo>
                        <a:pt x="0" y="217271"/>
                      </a:lnTo>
                      <a:lnTo>
                        <a:pt x="95847" y="0"/>
                      </a:lnTo>
                      <a:lnTo>
                        <a:pt x="122765" y="0"/>
                      </a:lnTo>
                      <a:lnTo>
                        <a:pt x="218612" y="217271"/>
                      </a:lnTo>
                      <a:lnTo>
                        <a:pt x="191695" y="217271"/>
                      </a:lnTo>
                      <a:lnTo>
                        <a:pt x="169808" y="167963"/>
                      </a:lnTo>
                      <a:close/>
                      <a:moveTo>
                        <a:pt x="159745" y="144568"/>
                      </a:moveTo>
                      <a:lnTo>
                        <a:pt x="109432" y="30440"/>
                      </a:lnTo>
                      <a:lnTo>
                        <a:pt x="58867" y="144568"/>
                      </a:lnTo>
                      <a:lnTo>
                        <a:pt x="159745" y="14456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319" name="Google Shape;10319;p69">
                  <a:extLst>
                    <a:ext uri="{FF2B5EF4-FFF2-40B4-BE49-F238E27FC236}">
                      <a16:creationId xmlns:a16="http://schemas.microsoft.com/office/drawing/2014/main" id="{2B939645-DF68-D868-3147-B0C883F93FBC}"/>
                    </a:ext>
                  </a:extLst>
                </p:cNvPr>
                <p:cNvSpPr/>
                <p:nvPr/>
              </p:nvSpPr>
              <p:spPr>
                <a:xfrm>
                  <a:off x="1437827" y="1944729"/>
                  <a:ext cx="168214" cy="217270"/>
                </a:xfrm>
                <a:custGeom>
                  <a:avLst/>
                  <a:gdLst/>
                  <a:ahLst/>
                  <a:cxnLst/>
                  <a:rect l="l" t="t" r="r" b="b"/>
                  <a:pathLst>
                    <a:path w="168214" h="217270" extrusionOk="0">
                      <a:moveTo>
                        <a:pt x="0" y="0"/>
                      </a:moveTo>
                      <a:lnTo>
                        <a:pt x="88216" y="0"/>
                      </a:lnTo>
                      <a:cubicBezTo>
                        <a:pt x="133079" y="0"/>
                        <a:pt x="168215" y="28763"/>
                        <a:pt x="168215" y="69600"/>
                      </a:cubicBezTo>
                      <a:cubicBezTo>
                        <a:pt x="168215" y="110354"/>
                        <a:pt x="133079" y="139201"/>
                        <a:pt x="88216" y="139201"/>
                      </a:cubicBezTo>
                      <a:lnTo>
                        <a:pt x="24654" y="139201"/>
                      </a:lnTo>
                      <a:lnTo>
                        <a:pt x="24654" y="217271"/>
                      </a:lnTo>
                      <a:lnTo>
                        <a:pt x="0" y="217271"/>
                      </a:lnTo>
                      <a:lnTo>
                        <a:pt x="0" y="0"/>
                      </a:lnTo>
                      <a:close/>
                      <a:moveTo>
                        <a:pt x="83772" y="115721"/>
                      </a:moveTo>
                      <a:cubicBezTo>
                        <a:pt x="119159" y="115721"/>
                        <a:pt x="143226" y="98615"/>
                        <a:pt x="143226" y="69600"/>
                      </a:cubicBezTo>
                      <a:cubicBezTo>
                        <a:pt x="143226" y="40502"/>
                        <a:pt x="119159" y="23396"/>
                        <a:pt x="83772" y="23396"/>
                      </a:cubicBezTo>
                      <a:lnTo>
                        <a:pt x="24654" y="23396"/>
                      </a:lnTo>
                      <a:lnTo>
                        <a:pt x="24654" y="115721"/>
                      </a:lnTo>
                      <a:lnTo>
                        <a:pt x="83772" y="11572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320" name="Google Shape;10320;p69">
                  <a:extLst>
                    <a:ext uri="{FF2B5EF4-FFF2-40B4-BE49-F238E27FC236}">
                      <a16:creationId xmlns:a16="http://schemas.microsoft.com/office/drawing/2014/main" id="{EE8849C5-6823-63B0-881C-0E9ACAD7468D}"/>
                    </a:ext>
                  </a:extLst>
                </p:cNvPr>
                <p:cNvSpPr/>
                <p:nvPr/>
              </p:nvSpPr>
              <p:spPr>
                <a:xfrm>
                  <a:off x="1660380" y="1944729"/>
                  <a:ext cx="168214" cy="217270"/>
                </a:xfrm>
                <a:custGeom>
                  <a:avLst/>
                  <a:gdLst/>
                  <a:ahLst/>
                  <a:cxnLst/>
                  <a:rect l="l" t="t" r="r" b="b"/>
                  <a:pathLst>
                    <a:path w="168214" h="217270" extrusionOk="0">
                      <a:moveTo>
                        <a:pt x="0" y="0"/>
                      </a:moveTo>
                      <a:lnTo>
                        <a:pt x="88216" y="0"/>
                      </a:lnTo>
                      <a:cubicBezTo>
                        <a:pt x="133079" y="0"/>
                        <a:pt x="168215" y="28763"/>
                        <a:pt x="168215" y="69600"/>
                      </a:cubicBezTo>
                      <a:cubicBezTo>
                        <a:pt x="168215" y="110354"/>
                        <a:pt x="133079" y="139201"/>
                        <a:pt x="88216" y="139201"/>
                      </a:cubicBezTo>
                      <a:lnTo>
                        <a:pt x="24654" y="139201"/>
                      </a:lnTo>
                      <a:lnTo>
                        <a:pt x="24654" y="217271"/>
                      </a:lnTo>
                      <a:lnTo>
                        <a:pt x="0" y="217271"/>
                      </a:lnTo>
                      <a:lnTo>
                        <a:pt x="0" y="0"/>
                      </a:lnTo>
                      <a:close/>
                      <a:moveTo>
                        <a:pt x="83856" y="115721"/>
                      </a:moveTo>
                      <a:cubicBezTo>
                        <a:pt x="119243" y="115721"/>
                        <a:pt x="143310" y="98615"/>
                        <a:pt x="143310" y="69600"/>
                      </a:cubicBezTo>
                      <a:cubicBezTo>
                        <a:pt x="143310" y="40502"/>
                        <a:pt x="119243" y="23396"/>
                        <a:pt x="83856" y="23396"/>
                      </a:cubicBezTo>
                      <a:lnTo>
                        <a:pt x="24738" y="23396"/>
                      </a:lnTo>
                      <a:lnTo>
                        <a:pt x="24738" y="115721"/>
                      </a:lnTo>
                      <a:lnTo>
                        <a:pt x="83856" y="11572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grpSp>
          <p:sp>
            <p:nvSpPr>
              <p:cNvPr id="10321" name="Google Shape;10321;p69">
                <a:extLst>
                  <a:ext uri="{FF2B5EF4-FFF2-40B4-BE49-F238E27FC236}">
                    <a16:creationId xmlns:a16="http://schemas.microsoft.com/office/drawing/2014/main" id="{EEEF4AEB-C98A-359E-87F0-0F82ED433327}"/>
                  </a:ext>
                </a:extLst>
              </p:cNvPr>
              <p:cNvSpPr/>
              <p:nvPr/>
            </p:nvSpPr>
            <p:spPr>
              <a:xfrm>
                <a:off x="988779" y="1554296"/>
                <a:ext cx="1035620" cy="1035620"/>
              </a:xfrm>
              <a:custGeom>
                <a:avLst/>
                <a:gdLst/>
                <a:ahLst/>
                <a:cxnLst/>
                <a:rect l="l" t="t" r="r" b="b"/>
                <a:pathLst>
                  <a:path w="1035620" h="1035620" extrusionOk="0">
                    <a:moveTo>
                      <a:pt x="956544" y="27253"/>
                    </a:moveTo>
                    <a:cubicBezTo>
                      <a:pt x="985139" y="27253"/>
                      <a:pt x="1008367" y="50481"/>
                      <a:pt x="1008367" y="79076"/>
                    </a:cubicBezTo>
                    <a:lnTo>
                      <a:pt x="1008367" y="956544"/>
                    </a:lnTo>
                    <a:cubicBezTo>
                      <a:pt x="1008367" y="985139"/>
                      <a:pt x="985139" y="1008367"/>
                      <a:pt x="956544" y="1008367"/>
                    </a:cubicBezTo>
                    <a:lnTo>
                      <a:pt x="79076" y="1008367"/>
                    </a:lnTo>
                    <a:cubicBezTo>
                      <a:pt x="50481" y="1008367"/>
                      <a:pt x="27253" y="985139"/>
                      <a:pt x="27253" y="956544"/>
                    </a:cubicBezTo>
                    <a:lnTo>
                      <a:pt x="27253" y="79076"/>
                    </a:lnTo>
                    <a:cubicBezTo>
                      <a:pt x="27253" y="50481"/>
                      <a:pt x="50481" y="27253"/>
                      <a:pt x="79076" y="27253"/>
                    </a:cubicBezTo>
                    <a:lnTo>
                      <a:pt x="956544" y="27253"/>
                    </a:lnTo>
                    <a:moveTo>
                      <a:pt x="956544" y="0"/>
                    </a:moveTo>
                    <a:lnTo>
                      <a:pt x="79076" y="0"/>
                    </a:lnTo>
                    <a:cubicBezTo>
                      <a:pt x="35387" y="0"/>
                      <a:pt x="0" y="35387"/>
                      <a:pt x="0" y="79076"/>
                    </a:cubicBezTo>
                    <a:lnTo>
                      <a:pt x="0" y="956544"/>
                    </a:lnTo>
                    <a:cubicBezTo>
                      <a:pt x="0" y="1000233"/>
                      <a:pt x="35387" y="1035620"/>
                      <a:pt x="79076" y="1035620"/>
                    </a:cubicBezTo>
                    <a:lnTo>
                      <a:pt x="956544" y="1035620"/>
                    </a:lnTo>
                    <a:cubicBezTo>
                      <a:pt x="1000233" y="1035620"/>
                      <a:pt x="1035620" y="1000233"/>
                      <a:pt x="1035620" y="956544"/>
                    </a:cubicBezTo>
                    <a:lnTo>
                      <a:pt x="1035620" y="79076"/>
                    </a:lnTo>
                    <a:cubicBezTo>
                      <a:pt x="1035620" y="35387"/>
                      <a:pt x="1000233" y="0"/>
                      <a:pt x="956544" y="0"/>
                    </a:cubicBezTo>
                    <a:lnTo>
                      <a:pt x="956544"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grpSp>
      </p:grpSp>
      <p:grpSp>
        <p:nvGrpSpPr>
          <p:cNvPr id="10322" name="Google Shape;10322;p69" descr="DB">
            <a:extLst>
              <a:ext uri="{FF2B5EF4-FFF2-40B4-BE49-F238E27FC236}">
                <a16:creationId xmlns:a16="http://schemas.microsoft.com/office/drawing/2014/main" id="{FD140A57-8CB9-17F5-732B-4DCAD1004770}"/>
              </a:ext>
            </a:extLst>
          </p:cNvPr>
          <p:cNvGrpSpPr/>
          <p:nvPr/>
        </p:nvGrpSpPr>
        <p:grpSpPr>
          <a:xfrm>
            <a:off x="4857326" y="2527578"/>
            <a:ext cx="581934" cy="581932"/>
            <a:chOff x="4494824" y="4955658"/>
            <a:chExt cx="582086" cy="582084"/>
          </a:xfrm>
        </p:grpSpPr>
        <p:sp>
          <p:nvSpPr>
            <p:cNvPr id="10323" name="Google Shape;10323;p69">
              <a:extLst>
                <a:ext uri="{FF2B5EF4-FFF2-40B4-BE49-F238E27FC236}">
                  <a16:creationId xmlns:a16="http://schemas.microsoft.com/office/drawing/2014/main" id="{119FDB91-493F-C9D3-009C-042F060B4B81}"/>
                </a:ext>
              </a:extLst>
            </p:cNvPr>
            <p:cNvSpPr/>
            <p:nvPr/>
          </p:nvSpPr>
          <p:spPr>
            <a:xfrm>
              <a:off x="4494824" y="4955658"/>
              <a:ext cx="582086" cy="582084"/>
            </a:xfrm>
            <a:prstGeom prst="ellipse">
              <a:avLst/>
            </a:prstGeom>
            <a:solidFill>
              <a:schemeClr val="lt1"/>
            </a:solidFill>
            <a:ln w="1905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nvGrpSpPr>
            <p:cNvPr id="10324" name="Google Shape;10324;p69">
              <a:extLst>
                <a:ext uri="{FF2B5EF4-FFF2-40B4-BE49-F238E27FC236}">
                  <a16:creationId xmlns:a16="http://schemas.microsoft.com/office/drawing/2014/main" id="{4615B10C-D1C4-FEBB-C9B1-AF3AC6E1BFC2}"/>
                </a:ext>
              </a:extLst>
            </p:cNvPr>
            <p:cNvGrpSpPr/>
            <p:nvPr/>
          </p:nvGrpSpPr>
          <p:grpSpPr>
            <a:xfrm>
              <a:off x="4626539" y="5083870"/>
              <a:ext cx="336964" cy="336964"/>
              <a:chOff x="7845192" y="1553112"/>
              <a:chExt cx="1035620" cy="1035620"/>
            </a:xfrm>
          </p:grpSpPr>
          <p:grpSp>
            <p:nvGrpSpPr>
              <p:cNvPr id="10325" name="Google Shape;10325;p69">
                <a:extLst>
                  <a:ext uri="{FF2B5EF4-FFF2-40B4-BE49-F238E27FC236}">
                    <a16:creationId xmlns:a16="http://schemas.microsoft.com/office/drawing/2014/main" id="{6F24F059-FC69-7338-0BCE-1E64AB1B4B95}"/>
                  </a:ext>
                </a:extLst>
              </p:cNvPr>
              <p:cNvGrpSpPr/>
              <p:nvPr/>
            </p:nvGrpSpPr>
            <p:grpSpPr>
              <a:xfrm>
                <a:off x="8145479" y="1943545"/>
                <a:ext cx="427749" cy="217270"/>
                <a:chOff x="8145479" y="1943545"/>
                <a:chExt cx="427749" cy="217270"/>
              </a:xfrm>
            </p:grpSpPr>
            <p:sp>
              <p:nvSpPr>
                <p:cNvPr id="10326" name="Google Shape;10326;p69">
                  <a:extLst>
                    <a:ext uri="{FF2B5EF4-FFF2-40B4-BE49-F238E27FC236}">
                      <a16:creationId xmlns:a16="http://schemas.microsoft.com/office/drawing/2014/main" id="{F8DF92ED-F947-E842-4C20-3695E5452736}"/>
                    </a:ext>
                  </a:extLst>
                </p:cNvPr>
                <p:cNvSpPr/>
                <p:nvPr/>
              </p:nvSpPr>
              <p:spPr>
                <a:xfrm>
                  <a:off x="8145479" y="1943545"/>
                  <a:ext cx="191023" cy="217186"/>
                </a:xfrm>
                <a:custGeom>
                  <a:avLst/>
                  <a:gdLst/>
                  <a:ahLst/>
                  <a:cxnLst/>
                  <a:rect l="l" t="t" r="r" b="b"/>
                  <a:pathLst>
                    <a:path w="191023" h="217186" extrusionOk="0">
                      <a:moveTo>
                        <a:pt x="0" y="0"/>
                      </a:moveTo>
                      <a:lnTo>
                        <a:pt x="73374" y="0"/>
                      </a:lnTo>
                      <a:cubicBezTo>
                        <a:pt x="142303" y="0"/>
                        <a:pt x="191024" y="44863"/>
                        <a:pt x="191024" y="108426"/>
                      </a:cubicBezTo>
                      <a:cubicBezTo>
                        <a:pt x="191024" y="171988"/>
                        <a:pt x="142303" y="217187"/>
                        <a:pt x="73374" y="217187"/>
                      </a:cubicBezTo>
                      <a:lnTo>
                        <a:pt x="0" y="217187"/>
                      </a:lnTo>
                      <a:lnTo>
                        <a:pt x="0" y="0"/>
                      </a:lnTo>
                      <a:close/>
                      <a:moveTo>
                        <a:pt x="73374" y="194797"/>
                      </a:moveTo>
                      <a:cubicBezTo>
                        <a:pt x="127796" y="194797"/>
                        <a:pt x="166035" y="159075"/>
                        <a:pt x="166035" y="108510"/>
                      </a:cubicBezTo>
                      <a:cubicBezTo>
                        <a:pt x="166035" y="58196"/>
                        <a:pt x="127796" y="22473"/>
                        <a:pt x="73374" y="22473"/>
                      </a:cubicBezTo>
                      <a:lnTo>
                        <a:pt x="24654" y="22473"/>
                      </a:lnTo>
                      <a:lnTo>
                        <a:pt x="24654" y="194797"/>
                      </a:lnTo>
                      <a:lnTo>
                        <a:pt x="73374" y="194797"/>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327" name="Google Shape;10327;p69">
                  <a:extLst>
                    <a:ext uri="{FF2B5EF4-FFF2-40B4-BE49-F238E27FC236}">
                      <a16:creationId xmlns:a16="http://schemas.microsoft.com/office/drawing/2014/main" id="{BD3191F5-67A7-898D-7FAA-9CFD868B1278}"/>
                    </a:ext>
                  </a:extLst>
                </p:cNvPr>
                <p:cNvSpPr/>
                <p:nvPr/>
              </p:nvSpPr>
              <p:spPr>
                <a:xfrm>
                  <a:off x="8405349" y="1943545"/>
                  <a:ext cx="167879" cy="217270"/>
                </a:xfrm>
                <a:custGeom>
                  <a:avLst/>
                  <a:gdLst/>
                  <a:ahLst/>
                  <a:cxnLst/>
                  <a:rect l="l" t="t" r="r" b="b"/>
                  <a:pathLst>
                    <a:path w="167879" h="217270" extrusionOk="0">
                      <a:moveTo>
                        <a:pt x="0" y="0"/>
                      </a:moveTo>
                      <a:lnTo>
                        <a:pt x="99621" y="0"/>
                      </a:lnTo>
                      <a:cubicBezTo>
                        <a:pt x="134756" y="0"/>
                        <a:pt x="159410" y="22473"/>
                        <a:pt x="159410" y="54087"/>
                      </a:cubicBezTo>
                      <a:cubicBezTo>
                        <a:pt x="159410" y="77147"/>
                        <a:pt x="148006" y="90480"/>
                        <a:pt x="128383" y="101801"/>
                      </a:cubicBezTo>
                      <a:cubicBezTo>
                        <a:pt x="153372" y="114463"/>
                        <a:pt x="167879" y="134086"/>
                        <a:pt x="167879" y="157817"/>
                      </a:cubicBezTo>
                      <a:cubicBezTo>
                        <a:pt x="167879" y="192617"/>
                        <a:pt x="140962" y="217271"/>
                        <a:pt x="103394" y="217271"/>
                      </a:cubicBezTo>
                      <a:lnTo>
                        <a:pt x="0" y="217271"/>
                      </a:lnTo>
                      <a:lnTo>
                        <a:pt x="0" y="0"/>
                      </a:lnTo>
                      <a:close/>
                      <a:moveTo>
                        <a:pt x="93332" y="91990"/>
                      </a:moveTo>
                      <a:cubicBezTo>
                        <a:pt x="117398" y="91990"/>
                        <a:pt x="134421" y="77399"/>
                        <a:pt x="134421" y="57190"/>
                      </a:cubicBezTo>
                      <a:cubicBezTo>
                        <a:pt x="134421" y="36980"/>
                        <a:pt x="117314" y="22390"/>
                        <a:pt x="93332" y="22390"/>
                      </a:cubicBezTo>
                      <a:lnTo>
                        <a:pt x="24737" y="22390"/>
                      </a:lnTo>
                      <a:lnTo>
                        <a:pt x="24737" y="91990"/>
                      </a:lnTo>
                      <a:lnTo>
                        <a:pt x="93332" y="91990"/>
                      </a:lnTo>
                      <a:close/>
                      <a:moveTo>
                        <a:pt x="97105" y="194797"/>
                      </a:moveTo>
                      <a:cubicBezTo>
                        <a:pt x="123939" y="194797"/>
                        <a:pt x="142974" y="178026"/>
                        <a:pt x="142974" y="154630"/>
                      </a:cubicBezTo>
                      <a:cubicBezTo>
                        <a:pt x="142974" y="131234"/>
                        <a:pt x="124023" y="114463"/>
                        <a:pt x="97105" y="114463"/>
                      </a:cubicBezTo>
                      <a:lnTo>
                        <a:pt x="24654" y="114463"/>
                      </a:lnTo>
                      <a:lnTo>
                        <a:pt x="24654" y="194797"/>
                      </a:lnTo>
                      <a:lnTo>
                        <a:pt x="97105" y="194797"/>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grpSp>
          <p:sp>
            <p:nvSpPr>
              <p:cNvPr id="10328" name="Google Shape;10328;p69">
                <a:extLst>
                  <a:ext uri="{FF2B5EF4-FFF2-40B4-BE49-F238E27FC236}">
                    <a16:creationId xmlns:a16="http://schemas.microsoft.com/office/drawing/2014/main" id="{160733B4-F1B5-14FA-60B5-045BA6DD51FE}"/>
                  </a:ext>
                </a:extLst>
              </p:cNvPr>
              <p:cNvSpPr/>
              <p:nvPr/>
            </p:nvSpPr>
            <p:spPr>
              <a:xfrm>
                <a:off x="7845192" y="1553112"/>
                <a:ext cx="1035620" cy="1035620"/>
              </a:xfrm>
              <a:custGeom>
                <a:avLst/>
                <a:gdLst/>
                <a:ahLst/>
                <a:cxnLst/>
                <a:rect l="l" t="t" r="r" b="b"/>
                <a:pathLst>
                  <a:path w="1035620" h="1035620" extrusionOk="0">
                    <a:moveTo>
                      <a:pt x="956544" y="27253"/>
                    </a:moveTo>
                    <a:cubicBezTo>
                      <a:pt x="985139" y="27253"/>
                      <a:pt x="1008367" y="50481"/>
                      <a:pt x="1008367" y="79076"/>
                    </a:cubicBezTo>
                    <a:lnTo>
                      <a:pt x="1008367" y="956544"/>
                    </a:lnTo>
                    <a:cubicBezTo>
                      <a:pt x="1008367" y="985139"/>
                      <a:pt x="985139" y="1008367"/>
                      <a:pt x="956544" y="1008367"/>
                    </a:cubicBezTo>
                    <a:lnTo>
                      <a:pt x="79076" y="1008367"/>
                    </a:lnTo>
                    <a:cubicBezTo>
                      <a:pt x="50481" y="1008367"/>
                      <a:pt x="27253" y="985139"/>
                      <a:pt x="27253" y="956544"/>
                    </a:cubicBezTo>
                    <a:lnTo>
                      <a:pt x="27253" y="79076"/>
                    </a:lnTo>
                    <a:cubicBezTo>
                      <a:pt x="27253" y="50481"/>
                      <a:pt x="50481" y="27253"/>
                      <a:pt x="79076" y="27253"/>
                    </a:cubicBezTo>
                    <a:lnTo>
                      <a:pt x="956544" y="27253"/>
                    </a:lnTo>
                    <a:moveTo>
                      <a:pt x="956544" y="0"/>
                    </a:moveTo>
                    <a:lnTo>
                      <a:pt x="79076" y="0"/>
                    </a:lnTo>
                    <a:cubicBezTo>
                      <a:pt x="35387" y="0"/>
                      <a:pt x="0" y="35387"/>
                      <a:pt x="0" y="79076"/>
                    </a:cubicBezTo>
                    <a:lnTo>
                      <a:pt x="0" y="956544"/>
                    </a:lnTo>
                    <a:cubicBezTo>
                      <a:pt x="0" y="1000233"/>
                      <a:pt x="35387" y="1035620"/>
                      <a:pt x="79076" y="1035620"/>
                    </a:cubicBezTo>
                    <a:lnTo>
                      <a:pt x="956544" y="1035620"/>
                    </a:lnTo>
                    <a:cubicBezTo>
                      <a:pt x="1000233" y="1035620"/>
                      <a:pt x="1035620" y="1000233"/>
                      <a:pt x="1035620" y="956544"/>
                    </a:cubicBezTo>
                    <a:lnTo>
                      <a:pt x="1035620" y="79076"/>
                    </a:lnTo>
                    <a:cubicBezTo>
                      <a:pt x="1035620" y="35387"/>
                      <a:pt x="1000233" y="0"/>
                      <a:pt x="956544" y="0"/>
                    </a:cubicBezTo>
                    <a:lnTo>
                      <a:pt x="956544"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grpSp>
      </p:grpSp>
      <p:sp>
        <p:nvSpPr>
          <p:cNvPr id="10329" name="Google Shape;10329;p69">
            <a:extLst>
              <a:ext uri="{FF2B5EF4-FFF2-40B4-BE49-F238E27FC236}">
                <a16:creationId xmlns:a16="http://schemas.microsoft.com/office/drawing/2014/main" id="{3F5E42E3-7EFF-3AF2-E137-9CD5E67EB4CE}"/>
              </a:ext>
            </a:extLst>
          </p:cNvPr>
          <p:cNvSpPr/>
          <p:nvPr/>
        </p:nvSpPr>
        <p:spPr>
          <a:xfrm>
            <a:off x="7025013" y="2603244"/>
            <a:ext cx="712448" cy="461665"/>
          </a:xfrm>
          <a:prstGeom prst="rect">
            <a:avLst/>
          </a:prstGeom>
          <a:noFill/>
          <a:ln>
            <a:noFill/>
          </a:ln>
        </p:spPr>
        <p:txBody>
          <a:bodyPr spcFirstLastPara="1" wrap="square" lIns="0"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F3F3F"/>
                </a:solidFill>
                <a:effectLst/>
                <a:uLnTx/>
                <a:uFillTx/>
                <a:latin typeface="Arial" panose="020B0604020202020204"/>
                <a:ea typeface="Arial"/>
                <a:cs typeface="Arial"/>
                <a:sym typeface="Arial"/>
              </a:rPr>
              <a:t>Hosted on VMS</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6" name="Group 5">
            <a:extLst>
              <a:ext uri="{FF2B5EF4-FFF2-40B4-BE49-F238E27FC236}">
                <a16:creationId xmlns:a16="http://schemas.microsoft.com/office/drawing/2014/main" id="{430B38D6-0205-525C-E445-6DCFACF765E1}"/>
              </a:ext>
            </a:extLst>
          </p:cNvPr>
          <p:cNvGrpSpPr/>
          <p:nvPr/>
        </p:nvGrpSpPr>
        <p:grpSpPr>
          <a:xfrm>
            <a:off x="579809" y="4851008"/>
            <a:ext cx="7674526" cy="974748"/>
            <a:chOff x="579809" y="4851008"/>
            <a:chExt cx="7674526" cy="974748"/>
          </a:xfrm>
        </p:grpSpPr>
        <p:sp>
          <p:nvSpPr>
            <p:cNvPr id="10331" name="Google Shape;10331;p69">
              <a:extLst>
                <a:ext uri="{FF2B5EF4-FFF2-40B4-BE49-F238E27FC236}">
                  <a16:creationId xmlns:a16="http://schemas.microsoft.com/office/drawing/2014/main" id="{5C58F2B5-B782-BAC1-CFF2-5A7838E45880}"/>
                </a:ext>
              </a:extLst>
            </p:cNvPr>
            <p:cNvSpPr/>
            <p:nvPr/>
          </p:nvSpPr>
          <p:spPr>
            <a:xfrm>
              <a:off x="579809" y="4851008"/>
              <a:ext cx="6328991" cy="974748"/>
            </a:xfrm>
            <a:prstGeom prst="roundRect">
              <a:avLst>
                <a:gd name="adj" fmla="val 7286"/>
              </a:avLst>
            </a:prstGeom>
            <a:solidFill>
              <a:schemeClr val="accent2">
                <a:alpha val="10000"/>
              </a:schemeClr>
            </a:solidFill>
            <a:ln w="25400" cap="flat" cmpd="sng">
              <a:solidFill>
                <a:schemeClr val="accent3"/>
              </a:solidFill>
              <a:prstDash val="solid"/>
              <a:miter lim="800000"/>
              <a:headEnd type="none" w="sm" len="sm"/>
              <a:tailEnd type="none" w="sm" len="sm"/>
            </a:ln>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0338" name="Google Shape;10338;p69">
              <a:extLst>
                <a:ext uri="{FF2B5EF4-FFF2-40B4-BE49-F238E27FC236}">
                  <a16:creationId xmlns:a16="http://schemas.microsoft.com/office/drawing/2014/main" id="{13850F90-35A4-2320-396D-B9A751E46807}"/>
                </a:ext>
              </a:extLst>
            </p:cNvPr>
            <p:cNvSpPr/>
            <p:nvPr/>
          </p:nvSpPr>
          <p:spPr>
            <a:xfrm>
              <a:off x="732374" y="5184494"/>
              <a:ext cx="1839606" cy="307777"/>
            </a:xfrm>
            <a:prstGeom prst="rect">
              <a:avLst/>
            </a:prstGeom>
            <a:noFill/>
            <a:ln>
              <a:noFill/>
            </a:ln>
          </p:spPr>
          <p:txBody>
            <a:bodyPr spcFirstLastPara="1" wrap="square" lIns="0"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EEEEE">
                      <a:lumMod val="10000"/>
                    </a:srgbClr>
                  </a:solidFill>
                  <a:effectLst/>
                  <a:uLnTx/>
                  <a:uFillTx/>
                  <a:latin typeface="Arial" panose="020B0604020202020204"/>
                  <a:ea typeface="Arial"/>
                  <a:cs typeface="Arial"/>
                  <a:sym typeface="Arial"/>
                </a:rPr>
                <a:t>Infrastructure Layer</a:t>
              </a:r>
              <a:endParaRPr kumimoji="0" sz="1800" b="0" i="0" u="none" strike="noStrike" kern="1200" cap="none" spc="0" normalizeH="0" baseline="0" noProof="0" dirty="0">
                <a:ln>
                  <a:noFill/>
                </a:ln>
                <a:solidFill>
                  <a:srgbClr val="EEEEEE">
                    <a:lumMod val="10000"/>
                  </a:srgbClr>
                </a:solidFill>
                <a:effectLst/>
                <a:uLnTx/>
                <a:uFillTx/>
                <a:latin typeface="Arial" panose="020B0604020202020204"/>
                <a:ea typeface="+mn-ea"/>
                <a:cs typeface="+mn-cs"/>
              </a:endParaRPr>
            </a:p>
          </p:txBody>
        </p:sp>
        <p:sp>
          <p:nvSpPr>
            <p:cNvPr id="10339" name="Google Shape;10339;p69">
              <a:extLst>
                <a:ext uri="{FF2B5EF4-FFF2-40B4-BE49-F238E27FC236}">
                  <a16:creationId xmlns:a16="http://schemas.microsoft.com/office/drawing/2014/main" id="{A683111A-92AC-E4B8-DC85-1035DE4C79FC}"/>
                </a:ext>
              </a:extLst>
            </p:cNvPr>
            <p:cNvSpPr/>
            <p:nvPr/>
          </p:nvSpPr>
          <p:spPr>
            <a:xfrm>
              <a:off x="7025015" y="5009620"/>
              <a:ext cx="1229320" cy="646331"/>
            </a:xfrm>
            <a:prstGeom prst="rect">
              <a:avLst/>
            </a:prstGeom>
            <a:noFill/>
            <a:ln>
              <a:noFill/>
            </a:ln>
          </p:spPr>
          <p:txBody>
            <a:bodyPr spcFirstLastPara="1" wrap="square" lIns="0"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F3F3F"/>
                  </a:solidFill>
                  <a:effectLst/>
                  <a:uLnTx/>
                  <a:uFillTx/>
                  <a:latin typeface="Arial" panose="020B0604020202020204"/>
                  <a:ea typeface="Arial"/>
                  <a:cs typeface="Arial"/>
                  <a:sym typeface="Arial"/>
                </a:rPr>
                <a:t>Physical Infrastructure</a:t>
              </a:r>
              <a:br>
                <a:rPr kumimoji="0" lang="en-US" sz="1200" b="0" i="0" u="none" strike="noStrike" kern="1200" cap="none" spc="0" normalizeH="0" baseline="0" noProof="0" dirty="0">
                  <a:ln>
                    <a:noFill/>
                  </a:ln>
                  <a:solidFill>
                    <a:srgbClr val="3F3F3F"/>
                  </a:solidFill>
                  <a:effectLst/>
                  <a:uLnTx/>
                  <a:uFillTx/>
                  <a:latin typeface="Arial" panose="020B0604020202020204"/>
                  <a:ea typeface="Arial"/>
                  <a:cs typeface="Arial"/>
                  <a:sym typeface="Arial"/>
                </a:rPr>
              </a:br>
              <a:r>
                <a:rPr kumimoji="0" lang="en-US" sz="1200" b="0" i="0" u="none" strike="noStrike" kern="1200" cap="none" spc="0" normalizeH="0" baseline="0" noProof="0" dirty="0">
                  <a:ln>
                    <a:noFill/>
                  </a:ln>
                  <a:solidFill>
                    <a:srgbClr val="3F3F3F"/>
                  </a:solidFill>
                  <a:effectLst/>
                  <a:uLnTx/>
                  <a:uFillTx/>
                  <a:latin typeface="Arial" panose="020B0604020202020204"/>
                  <a:ea typeface="Arial"/>
                  <a:cs typeface="Arial"/>
                  <a:sym typeface="Arial"/>
                </a:rPr>
                <a:t>as Transport</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10379" name="Google Shape;10379;p69">
              <a:extLst>
                <a:ext uri="{FF2B5EF4-FFF2-40B4-BE49-F238E27FC236}">
                  <a16:creationId xmlns:a16="http://schemas.microsoft.com/office/drawing/2014/main" id="{622A11E1-BFB8-AF54-AB92-9D799C59E4F1}"/>
                </a:ext>
              </a:extLst>
            </p:cNvPr>
            <p:cNvGrpSpPr/>
            <p:nvPr/>
          </p:nvGrpSpPr>
          <p:grpSpPr>
            <a:xfrm>
              <a:off x="3240687" y="5046602"/>
              <a:ext cx="581934" cy="581932"/>
              <a:chOff x="3612718" y="5047023"/>
              <a:chExt cx="582086" cy="582084"/>
            </a:xfrm>
          </p:grpSpPr>
          <p:sp>
            <p:nvSpPr>
              <p:cNvPr id="10380" name="Google Shape;10380;p69">
                <a:extLst>
                  <a:ext uri="{FF2B5EF4-FFF2-40B4-BE49-F238E27FC236}">
                    <a16:creationId xmlns:a16="http://schemas.microsoft.com/office/drawing/2014/main" id="{48CD13DE-6F21-1DBC-5CE4-F7DD6CD74D8B}"/>
                  </a:ext>
                </a:extLst>
              </p:cNvPr>
              <p:cNvSpPr/>
              <p:nvPr/>
            </p:nvSpPr>
            <p:spPr>
              <a:xfrm>
                <a:off x="3612718" y="5047023"/>
                <a:ext cx="582086" cy="582084"/>
              </a:xfrm>
              <a:prstGeom prst="ellipse">
                <a:avLst/>
              </a:prstGeom>
              <a:solidFill>
                <a:schemeClr val="lt1"/>
              </a:solidFill>
              <a:ln w="1905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0381" name="Google Shape;10381;p69">
                <a:extLst>
                  <a:ext uri="{FF2B5EF4-FFF2-40B4-BE49-F238E27FC236}">
                    <a16:creationId xmlns:a16="http://schemas.microsoft.com/office/drawing/2014/main" id="{8E72317D-EA54-8686-92F9-7C69661A253A}"/>
                  </a:ext>
                </a:extLst>
              </p:cNvPr>
              <p:cNvSpPr/>
              <p:nvPr/>
            </p:nvSpPr>
            <p:spPr>
              <a:xfrm>
                <a:off x="3682462" y="5282503"/>
                <a:ext cx="454528" cy="119612"/>
              </a:xfrm>
              <a:custGeom>
                <a:avLst/>
                <a:gdLst/>
                <a:ahLst/>
                <a:cxnLst/>
                <a:rect l="l" t="t" r="r" b="b"/>
                <a:pathLst>
                  <a:path w="1298516" h="341714" extrusionOk="0">
                    <a:moveTo>
                      <a:pt x="1028720" y="170857"/>
                    </a:moveTo>
                    <a:cubicBezTo>
                      <a:pt x="1028720" y="189678"/>
                      <a:pt x="1013369" y="205029"/>
                      <a:pt x="994548" y="205029"/>
                    </a:cubicBezTo>
                    <a:cubicBezTo>
                      <a:pt x="975728" y="205029"/>
                      <a:pt x="960377" y="189678"/>
                      <a:pt x="960377" y="170857"/>
                    </a:cubicBezTo>
                    <a:cubicBezTo>
                      <a:pt x="960377" y="152037"/>
                      <a:pt x="975623" y="136686"/>
                      <a:pt x="994548" y="136686"/>
                    </a:cubicBezTo>
                    <a:cubicBezTo>
                      <a:pt x="1013369" y="136686"/>
                      <a:pt x="1028720" y="152037"/>
                      <a:pt x="1028720" y="170857"/>
                    </a:cubicBezTo>
                    <a:close/>
                    <a:moveTo>
                      <a:pt x="1134389" y="136686"/>
                    </a:moveTo>
                    <a:cubicBezTo>
                      <a:pt x="1115568" y="136686"/>
                      <a:pt x="1100217" y="152037"/>
                      <a:pt x="1100217" y="170857"/>
                    </a:cubicBezTo>
                    <a:cubicBezTo>
                      <a:pt x="1100217" y="189678"/>
                      <a:pt x="1115568" y="205029"/>
                      <a:pt x="1134389" y="205029"/>
                    </a:cubicBezTo>
                    <a:cubicBezTo>
                      <a:pt x="1153209" y="205029"/>
                      <a:pt x="1168560" y="189678"/>
                      <a:pt x="1168560" y="170857"/>
                    </a:cubicBezTo>
                    <a:cubicBezTo>
                      <a:pt x="1168560" y="152037"/>
                      <a:pt x="1153209" y="136686"/>
                      <a:pt x="1134389" y="136686"/>
                    </a:cubicBezTo>
                    <a:close/>
                    <a:moveTo>
                      <a:pt x="1264345" y="34171"/>
                    </a:moveTo>
                    <a:lnTo>
                      <a:pt x="34171" y="34171"/>
                    </a:lnTo>
                    <a:lnTo>
                      <a:pt x="34171" y="307543"/>
                    </a:lnTo>
                    <a:lnTo>
                      <a:pt x="1264345" y="307543"/>
                    </a:lnTo>
                    <a:lnTo>
                      <a:pt x="1264345" y="34171"/>
                    </a:lnTo>
                    <a:moveTo>
                      <a:pt x="1298517" y="0"/>
                    </a:moveTo>
                    <a:lnTo>
                      <a:pt x="1298517" y="341715"/>
                    </a:lnTo>
                    <a:lnTo>
                      <a:pt x="0" y="341715"/>
                    </a:lnTo>
                    <a:lnTo>
                      <a:pt x="0" y="0"/>
                    </a:lnTo>
                    <a:lnTo>
                      <a:pt x="1298517" y="0"/>
                    </a:lnTo>
                    <a:lnTo>
                      <a:pt x="1298517" y="0"/>
                    </a:lnTo>
                    <a:close/>
                    <a:moveTo>
                      <a:pt x="136581" y="119653"/>
                    </a:moveTo>
                    <a:lnTo>
                      <a:pt x="102409" y="119653"/>
                    </a:lnTo>
                    <a:lnTo>
                      <a:pt x="102409" y="153824"/>
                    </a:lnTo>
                    <a:lnTo>
                      <a:pt x="136581" y="153824"/>
                    </a:lnTo>
                    <a:lnTo>
                      <a:pt x="136581" y="119653"/>
                    </a:lnTo>
                    <a:close/>
                    <a:moveTo>
                      <a:pt x="136581" y="187996"/>
                    </a:moveTo>
                    <a:lnTo>
                      <a:pt x="102409" y="187996"/>
                    </a:lnTo>
                    <a:lnTo>
                      <a:pt x="102409" y="222167"/>
                    </a:lnTo>
                    <a:lnTo>
                      <a:pt x="136581" y="222167"/>
                    </a:lnTo>
                    <a:lnTo>
                      <a:pt x="136581" y="187996"/>
                    </a:lnTo>
                    <a:close/>
                    <a:moveTo>
                      <a:pt x="204924" y="119653"/>
                    </a:moveTo>
                    <a:lnTo>
                      <a:pt x="170752" y="119653"/>
                    </a:lnTo>
                    <a:lnTo>
                      <a:pt x="170752" y="153824"/>
                    </a:lnTo>
                    <a:lnTo>
                      <a:pt x="204924" y="153824"/>
                    </a:lnTo>
                    <a:lnTo>
                      <a:pt x="204924" y="119653"/>
                    </a:lnTo>
                    <a:close/>
                    <a:moveTo>
                      <a:pt x="204924" y="187996"/>
                    </a:moveTo>
                    <a:lnTo>
                      <a:pt x="170752" y="187996"/>
                    </a:lnTo>
                    <a:lnTo>
                      <a:pt x="170752" y="222167"/>
                    </a:lnTo>
                    <a:lnTo>
                      <a:pt x="204924" y="222167"/>
                    </a:lnTo>
                    <a:lnTo>
                      <a:pt x="204924" y="187996"/>
                    </a:lnTo>
                    <a:close/>
                    <a:moveTo>
                      <a:pt x="273267" y="119653"/>
                    </a:moveTo>
                    <a:lnTo>
                      <a:pt x="239095" y="119653"/>
                    </a:lnTo>
                    <a:lnTo>
                      <a:pt x="239095" y="153824"/>
                    </a:lnTo>
                    <a:lnTo>
                      <a:pt x="273267" y="153824"/>
                    </a:lnTo>
                    <a:lnTo>
                      <a:pt x="273267" y="119653"/>
                    </a:lnTo>
                    <a:close/>
                    <a:moveTo>
                      <a:pt x="273267" y="187996"/>
                    </a:moveTo>
                    <a:lnTo>
                      <a:pt x="239095" y="187996"/>
                    </a:lnTo>
                    <a:lnTo>
                      <a:pt x="239095" y="222167"/>
                    </a:lnTo>
                    <a:lnTo>
                      <a:pt x="273267" y="222167"/>
                    </a:lnTo>
                    <a:lnTo>
                      <a:pt x="273267" y="187996"/>
                    </a:lnTo>
                    <a:close/>
                    <a:moveTo>
                      <a:pt x="341610" y="119653"/>
                    </a:moveTo>
                    <a:lnTo>
                      <a:pt x="307438" y="119653"/>
                    </a:lnTo>
                    <a:lnTo>
                      <a:pt x="307438" y="153824"/>
                    </a:lnTo>
                    <a:lnTo>
                      <a:pt x="341610" y="153824"/>
                    </a:lnTo>
                    <a:lnTo>
                      <a:pt x="341610" y="119653"/>
                    </a:lnTo>
                    <a:close/>
                    <a:moveTo>
                      <a:pt x="341610" y="187996"/>
                    </a:moveTo>
                    <a:lnTo>
                      <a:pt x="307438" y="187996"/>
                    </a:lnTo>
                    <a:lnTo>
                      <a:pt x="307438" y="222167"/>
                    </a:lnTo>
                    <a:lnTo>
                      <a:pt x="341610" y="222167"/>
                    </a:lnTo>
                    <a:lnTo>
                      <a:pt x="341610" y="187996"/>
                    </a:lnTo>
                    <a:close/>
                    <a:moveTo>
                      <a:pt x="409953" y="119653"/>
                    </a:moveTo>
                    <a:lnTo>
                      <a:pt x="375781" y="119653"/>
                    </a:lnTo>
                    <a:lnTo>
                      <a:pt x="375781" y="153824"/>
                    </a:lnTo>
                    <a:lnTo>
                      <a:pt x="409953" y="153824"/>
                    </a:lnTo>
                    <a:lnTo>
                      <a:pt x="409953" y="119653"/>
                    </a:lnTo>
                    <a:close/>
                    <a:moveTo>
                      <a:pt x="409953" y="187996"/>
                    </a:moveTo>
                    <a:lnTo>
                      <a:pt x="375781" y="187996"/>
                    </a:lnTo>
                    <a:lnTo>
                      <a:pt x="375781" y="222167"/>
                    </a:lnTo>
                    <a:lnTo>
                      <a:pt x="409953" y="222167"/>
                    </a:lnTo>
                    <a:lnTo>
                      <a:pt x="409953" y="187996"/>
                    </a:lnTo>
                    <a:close/>
                    <a:moveTo>
                      <a:pt x="478296" y="119653"/>
                    </a:moveTo>
                    <a:lnTo>
                      <a:pt x="444124" y="119653"/>
                    </a:lnTo>
                    <a:lnTo>
                      <a:pt x="444124" y="153824"/>
                    </a:lnTo>
                    <a:lnTo>
                      <a:pt x="478296" y="153824"/>
                    </a:lnTo>
                    <a:lnTo>
                      <a:pt x="478296" y="119653"/>
                    </a:lnTo>
                    <a:close/>
                    <a:moveTo>
                      <a:pt x="478296" y="187996"/>
                    </a:moveTo>
                    <a:lnTo>
                      <a:pt x="444124" y="187996"/>
                    </a:lnTo>
                    <a:lnTo>
                      <a:pt x="444124" y="222167"/>
                    </a:lnTo>
                    <a:lnTo>
                      <a:pt x="478296" y="222167"/>
                    </a:lnTo>
                    <a:lnTo>
                      <a:pt x="478296" y="187996"/>
                    </a:lnTo>
                    <a:close/>
                    <a:moveTo>
                      <a:pt x="546639" y="119653"/>
                    </a:moveTo>
                    <a:lnTo>
                      <a:pt x="512467" y="119653"/>
                    </a:lnTo>
                    <a:lnTo>
                      <a:pt x="512467" y="153824"/>
                    </a:lnTo>
                    <a:lnTo>
                      <a:pt x="546639" y="153824"/>
                    </a:lnTo>
                    <a:lnTo>
                      <a:pt x="546639" y="119653"/>
                    </a:lnTo>
                    <a:close/>
                    <a:moveTo>
                      <a:pt x="546639" y="187996"/>
                    </a:moveTo>
                    <a:lnTo>
                      <a:pt x="512467" y="187996"/>
                    </a:lnTo>
                    <a:lnTo>
                      <a:pt x="512467" y="222167"/>
                    </a:lnTo>
                    <a:lnTo>
                      <a:pt x="546639" y="222167"/>
                    </a:lnTo>
                    <a:lnTo>
                      <a:pt x="546639" y="1879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grpSp>
        <p:grpSp>
          <p:nvGrpSpPr>
            <p:cNvPr id="10382" name="Google Shape;10382;p69">
              <a:extLst>
                <a:ext uri="{FF2B5EF4-FFF2-40B4-BE49-F238E27FC236}">
                  <a16:creationId xmlns:a16="http://schemas.microsoft.com/office/drawing/2014/main" id="{A208D925-9D8E-F631-FD75-23821F16C92A}"/>
                </a:ext>
              </a:extLst>
            </p:cNvPr>
            <p:cNvGrpSpPr/>
            <p:nvPr/>
          </p:nvGrpSpPr>
          <p:grpSpPr>
            <a:xfrm>
              <a:off x="4050310" y="5046602"/>
              <a:ext cx="581934" cy="581932"/>
              <a:chOff x="4488927" y="5047023"/>
              <a:chExt cx="582086" cy="582084"/>
            </a:xfrm>
          </p:grpSpPr>
          <p:sp>
            <p:nvSpPr>
              <p:cNvPr id="10383" name="Google Shape;10383;p69">
                <a:extLst>
                  <a:ext uri="{FF2B5EF4-FFF2-40B4-BE49-F238E27FC236}">
                    <a16:creationId xmlns:a16="http://schemas.microsoft.com/office/drawing/2014/main" id="{DE1DC852-1BE9-B027-DFC9-AC946ACDFB99}"/>
                  </a:ext>
                </a:extLst>
              </p:cNvPr>
              <p:cNvSpPr/>
              <p:nvPr/>
            </p:nvSpPr>
            <p:spPr>
              <a:xfrm>
                <a:off x="4488927" y="5047023"/>
                <a:ext cx="582086" cy="582084"/>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0384" name="Google Shape;10384;p69">
                <a:extLst>
                  <a:ext uri="{FF2B5EF4-FFF2-40B4-BE49-F238E27FC236}">
                    <a16:creationId xmlns:a16="http://schemas.microsoft.com/office/drawing/2014/main" id="{280DB205-326C-1658-61D6-6EE980296FEA}"/>
                  </a:ext>
                </a:extLst>
              </p:cNvPr>
              <p:cNvSpPr/>
              <p:nvPr/>
            </p:nvSpPr>
            <p:spPr>
              <a:xfrm>
                <a:off x="4559048" y="5282503"/>
                <a:ext cx="454528" cy="119612"/>
              </a:xfrm>
              <a:custGeom>
                <a:avLst/>
                <a:gdLst/>
                <a:ahLst/>
                <a:cxnLst/>
                <a:rect l="l" t="t" r="r" b="b"/>
                <a:pathLst>
                  <a:path w="1298516" h="341714" extrusionOk="0">
                    <a:moveTo>
                      <a:pt x="1028720" y="170857"/>
                    </a:moveTo>
                    <a:cubicBezTo>
                      <a:pt x="1028720" y="189678"/>
                      <a:pt x="1013369" y="205029"/>
                      <a:pt x="994548" y="205029"/>
                    </a:cubicBezTo>
                    <a:cubicBezTo>
                      <a:pt x="975728" y="205029"/>
                      <a:pt x="960377" y="189678"/>
                      <a:pt x="960377" y="170857"/>
                    </a:cubicBezTo>
                    <a:cubicBezTo>
                      <a:pt x="960377" y="152037"/>
                      <a:pt x="975623" y="136686"/>
                      <a:pt x="994548" y="136686"/>
                    </a:cubicBezTo>
                    <a:cubicBezTo>
                      <a:pt x="1013369" y="136686"/>
                      <a:pt x="1028720" y="152037"/>
                      <a:pt x="1028720" y="170857"/>
                    </a:cubicBezTo>
                    <a:close/>
                    <a:moveTo>
                      <a:pt x="1134389" y="136686"/>
                    </a:moveTo>
                    <a:cubicBezTo>
                      <a:pt x="1115568" y="136686"/>
                      <a:pt x="1100217" y="152037"/>
                      <a:pt x="1100217" y="170857"/>
                    </a:cubicBezTo>
                    <a:cubicBezTo>
                      <a:pt x="1100217" y="189678"/>
                      <a:pt x="1115568" y="205029"/>
                      <a:pt x="1134389" y="205029"/>
                    </a:cubicBezTo>
                    <a:cubicBezTo>
                      <a:pt x="1153209" y="205029"/>
                      <a:pt x="1168560" y="189678"/>
                      <a:pt x="1168560" y="170857"/>
                    </a:cubicBezTo>
                    <a:cubicBezTo>
                      <a:pt x="1168560" y="152037"/>
                      <a:pt x="1153209" y="136686"/>
                      <a:pt x="1134389" y="136686"/>
                    </a:cubicBezTo>
                    <a:close/>
                    <a:moveTo>
                      <a:pt x="1264345" y="34171"/>
                    </a:moveTo>
                    <a:lnTo>
                      <a:pt x="34171" y="34171"/>
                    </a:lnTo>
                    <a:lnTo>
                      <a:pt x="34171" y="307543"/>
                    </a:lnTo>
                    <a:lnTo>
                      <a:pt x="1264345" y="307543"/>
                    </a:lnTo>
                    <a:lnTo>
                      <a:pt x="1264345" y="34171"/>
                    </a:lnTo>
                    <a:moveTo>
                      <a:pt x="1298517" y="0"/>
                    </a:moveTo>
                    <a:lnTo>
                      <a:pt x="1298517" y="341715"/>
                    </a:lnTo>
                    <a:lnTo>
                      <a:pt x="0" y="341715"/>
                    </a:lnTo>
                    <a:lnTo>
                      <a:pt x="0" y="0"/>
                    </a:lnTo>
                    <a:lnTo>
                      <a:pt x="1298517" y="0"/>
                    </a:lnTo>
                    <a:lnTo>
                      <a:pt x="1298517" y="0"/>
                    </a:lnTo>
                    <a:close/>
                    <a:moveTo>
                      <a:pt x="136581" y="119653"/>
                    </a:moveTo>
                    <a:lnTo>
                      <a:pt x="102409" y="119653"/>
                    </a:lnTo>
                    <a:lnTo>
                      <a:pt x="102409" y="153824"/>
                    </a:lnTo>
                    <a:lnTo>
                      <a:pt x="136581" y="153824"/>
                    </a:lnTo>
                    <a:lnTo>
                      <a:pt x="136581" y="119653"/>
                    </a:lnTo>
                    <a:close/>
                    <a:moveTo>
                      <a:pt x="136581" y="187996"/>
                    </a:moveTo>
                    <a:lnTo>
                      <a:pt x="102409" y="187996"/>
                    </a:lnTo>
                    <a:lnTo>
                      <a:pt x="102409" y="222167"/>
                    </a:lnTo>
                    <a:lnTo>
                      <a:pt x="136581" y="222167"/>
                    </a:lnTo>
                    <a:lnTo>
                      <a:pt x="136581" y="187996"/>
                    </a:lnTo>
                    <a:close/>
                    <a:moveTo>
                      <a:pt x="204924" y="119653"/>
                    </a:moveTo>
                    <a:lnTo>
                      <a:pt x="170752" y="119653"/>
                    </a:lnTo>
                    <a:lnTo>
                      <a:pt x="170752" y="153824"/>
                    </a:lnTo>
                    <a:lnTo>
                      <a:pt x="204924" y="153824"/>
                    </a:lnTo>
                    <a:lnTo>
                      <a:pt x="204924" y="119653"/>
                    </a:lnTo>
                    <a:close/>
                    <a:moveTo>
                      <a:pt x="204924" y="187996"/>
                    </a:moveTo>
                    <a:lnTo>
                      <a:pt x="170752" y="187996"/>
                    </a:lnTo>
                    <a:lnTo>
                      <a:pt x="170752" y="222167"/>
                    </a:lnTo>
                    <a:lnTo>
                      <a:pt x="204924" y="222167"/>
                    </a:lnTo>
                    <a:lnTo>
                      <a:pt x="204924" y="187996"/>
                    </a:lnTo>
                    <a:close/>
                    <a:moveTo>
                      <a:pt x="273267" y="119653"/>
                    </a:moveTo>
                    <a:lnTo>
                      <a:pt x="239095" y="119653"/>
                    </a:lnTo>
                    <a:lnTo>
                      <a:pt x="239095" y="153824"/>
                    </a:lnTo>
                    <a:lnTo>
                      <a:pt x="273267" y="153824"/>
                    </a:lnTo>
                    <a:lnTo>
                      <a:pt x="273267" y="119653"/>
                    </a:lnTo>
                    <a:close/>
                    <a:moveTo>
                      <a:pt x="273267" y="187996"/>
                    </a:moveTo>
                    <a:lnTo>
                      <a:pt x="239095" y="187996"/>
                    </a:lnTo>
                    <a:lnTo>
                      <a:pt x="239095" y="222167"/>
                    </a:lnTo>
                    <a:lnTo>
                      <a:pt x="273267" y="222167"/>
                    </a:lnTo>
                    <a:lnTo>
                      <a:pt x="273267" y="187996"/>
                    </a:lnTo>
                    <a:close/>
                    <a:moveTo>
                      <a:pt x="341610" y="119653"/>
                    </a:moveTo>
                    <a:lnTo>
                      <a:pt x="307438" y="119653"/>
                    </a:lnTo>
                    <a:lnTo>
                      <a:pt x="307438" y="153824"/>
                    </a:lnTo>
                    <a:lnTo>
                      <a:pt x="341610" y="153824"/>
                    </a:lnTo>
                    <a:lnTo>
                      <a:pt x="341610" y="119653"/>
                    </a:lnTo>
                    <a:close/>
                    <a:moveTo>
                      <a:pt x="341610" y="187996"/>
                    </a:moveTo>
                    <a:lnTo>
                      <a:pt x="307438" y="187996"/>
                    </a:lnTo>
                    <a:lnTo>
                      <a:pt x="307438" y="222167"/>
                    </a:lnTo>
                    <a:lnTo>
                      <a:pt x="341610" y="222167"/>
                    </a:lnTo>
                    <a:lnTo>
                      <a:pt x="341610" y="187996"/>
                    </a:lnTo>
                    <a:close/>
                    <a:moveTo>
                      <a:pt x="409953" y="119653"/>
                    </a:moveTo>
                    <a:lnTo>
                      <a:pt x="375781" y="119653"/>
                    </a:lnTo>
                    <a:lnTo>
                      <a:pt x="375781" y="153824"/>
                    </a:lnTo>
                    <a:lnTo>
                      <a:pt x="409953" y="153824"/>
                    </a:lnTo>
                    <a:lnTo>
                      <a:pt x="409953" y="119653"/>
                    </a:lnTo>
                    <a:close/>
                    <a:moveTo>
                      <a:pt x="409953" y="187996"/>
                    </a:moveTo>
                    <a:lnTo>
                      <a:pt x="375781" y="187996"/>
                    </a:lnTo>
                    <a:lnTo>
                      <a:pt x="375781" y="222167"/>
                    </a:lnTo>
                    <a:lnTo>
                      <a:pt x="409953" y="222167"/>
                    </a:lnTo>
                    <a:lnTo>
                      <a:pt x="409953" y="187996"/>
                    </a:lnTo>
                    <a:close/>
                    <a:moveTo>
                      <a:pt x="478296" y="119653"/>
                    </a:moveTo>
                    <a:lnTo>
                      <a:pt x="444124" y="119653"/>
                    </a:lnTo>
                    <a:lnTo>
                      <a:pt x="444124" y="153824"/>
                    </a:lnTo>
                    <a:lnTo>
                      <a:pt x="478296" y="153824"/>
                    </a:lnTo>
                    <a:lnTo>
                      <a:pt x="478296" y="119653"/>
                    </a:lnTo>
                    <a:close/>
                    <a:moveTo>
                      <a:pt x="478296" y="187996"/>
                    </a:moveTo>
                    <a:lnTo>
                      <a:pt x="444124" y="187996"/>
                    </a:lnTo>
                    <a:lnTo>
                      <a:pt x="444124" y="222167"/>
                    </a:lnTo>
                    <a:lnTo>
                      <a:pt x="478296" y="222167"/>
                    </a:lnTo>
                    <a:lnTo>
                      <a:pt x="478296" y="187996"/>
                    </a:lnTo>
                    <a:close/>
                    <a:moveTo>
                      <a:pt x="546639" y="119653"/>
                    </a:moveTo>
                    <a:lnTo>
                      <a:pt x="512467" y="119653"/>
                    </a:lnTo>
                    <a:lnTo>
                      <a:pt x="512467" y="153824"/>
                    </a:lnTo>
                    <a:lnTo>
                      <a:pt x="546639" y="153824"/>
                    </a:lnTo>
                    <a:lnTo>
                      <a:pt x="546639" y="119653"/>
                    </a:lnTo>
                    <a:close/>
                    <a:moveTo>
                      <a:pt x="546639" y="187996"/>
                    </a:moveTo>
                    <a:lnTo>
                      <a:pt x="512467" y="187996"/>
                    </a:lnTo>
                    <a:lnTo>
                      <a:pt x="512467" y="222167"/>
                    </a:lnTo>
                    <a:lnTo>
                      <a:pt x="546639" y="222167"/>
                    </a:lnTo>
                    <a:lnTo>
                      <a:pt x="546639" y="18799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grpSp>
        <p:grpSp>
          <p:nvGrpSpPr>
            <p:cNvPr id="10385" name="Google Shape;10385;p69">
              <a:extLst>
                <a:ext uri="{FF2B5EF4-FFF2-40B4-BE49-F238E27FC236}">
                  <a16:creationId xmlns:a16="http://schemas.microsoft.com/office/drawing/2014/main" id="{3B1DB164-F217-846B-523F-F03A854A6ECB}"/>
                </a:ext>
              </a:extLst>
            </p:cNvPr>
            <p:cNvGrpSpPr/>
            <p:nvPr/>
          </p:nvGrpSpPr>
          <p:grpSpPr>
            <a:xfrm>
              <a:off x="4857326" y="5046602"/>
              <a:ext cx="581934" cy="581932"/>
              <a:chOff x="5365136" y="5047023"/>
              <a:chExt cx="582086" cy="582084"/>
            </a:xfrm>
          </p:grpSpPr>
          <p:sp>
            <p:nvSpPr>
              <p:cNvPr id="10386" name="Google Shape;10386;p69">
                <a:extLst>
                  <a:ext uri="{FF2B5EF4-FFF2-40B4-BE49-F238E27FC236}">
                    <a16:creationId xmlns:a16="http://schemas.microsoft.com/office/drawing/2014/main" id="{792E958D-8800-9971-877A-18DE0AB15E25}"/>
                  </a:ext>
                </a:extLst>
              </p:cNvPr>
              <p:cNvSpPr/>
              <p:nvPr/>
            </p:nvSpPr>
            <p:spPr>
              <a:xfrm>
                <a:off x="5365136" y="5047023"/>
                <a:ext cx="582086" cy="582084"/>
              </a:xfrm>
              <a:prstGeom prst="ellipse">
                <a:avLst/>
              </a:prstGeom>
              <a:solidFill>
                <a:schemeClr val="lt1"/>
              </a:solidFill>
              <a:ln w="1905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0387" name="Google Shape;10387;p69">
                <a:extLst>
                  <a:ext uri="{FF2B5EF4-FFF2-40B4-BE49-F238E27FC236}">
                    <a16:creationId xmlns:a16="http://schemas.microsoft.com/office/drawing/2014/main" id="{9E6E6EF2-F6DF-81D8-7DB2-C61E5A677962}"/>
                  </a:ext>
                </a:extLst>
              </p:cNvPr>
              <p:cNvSpPr/>
              <p:nvPr/>
            </p:nvSpPr>
            <p:spPr>
              <a:xfrm>
                <a:off x="5435635" y="5282503"/>
                <a:ext cx="454528" cy="119612"/>
              </a:xfrm>
              <a:custGeom>
                <a:avLst/>
                <a:gdLst/>
                <a:ahLst/>
                <a:cxnLst/>
                <a:rect l="l" t="t" r="r" b="b"/>
                <a:pathLst>
                  <a:path w="1298516" h="341714" extrusionOk="0">
                    <a:moveTo>
                      <a:pt x="1028720" y="170857"/>
                    </a:moveTo>
                    <a:cubicBezTo>
                      <a:pt x="1028720" y="189678"/>
                      <a:pt x="1013369" y="205029"/>
                      <a:pt x="994548" y="205029"/>
                    </a:cubicBezTo>
                    <a:cubicBezTo>
                      <a:pt x="975728" y="205029"/>
                      <a:pt x="960377" y="189678"/>
                      <a:pt x="960377" y="170857"/>
                    </a:cubicBezTo>
                    <a:cubicBezTo>
                      <a:pt x="960377" y="152037"/>
                      <a:pt x="975623" y="136686"/>
                      <a:pt x="994548" y="136686"/>
                    </a:cubicBezTo>
                    <a:cubicBezTo>
                      <a:pt x="1013369" y="136686"/>
                      <a:pt x="1028720" y="152037"/>
                      <a:pt x="1028720" y="170857"/>
                    </a:cubicBezTo>
                    <a:close/>
                    <a:moveTo>
                      <a:pt x="1134389" y="136686"/>
                    </a:moveTo>
                    <a:cubicBezTo>
                      <a:pt x="1115568" y="136686"/>
                      <a:pt x="1100217" y="152037"/>
                      <a:pt x="1100217" y="170857"/>
                    </a:cubicBezTo>
                    <a:cubicBezTo>
                      <a:pt x="1100217" y="189678"/>
                      <a:pt x="1115568" y="205029"/>
                      <a:pt x="1134389" y="205029"/>
                    </a:cubicBezTo>
                    <a:cubicBezTo>
                      <a:pt x="1153209" y="205029"/>
                      <a:pt x="1168560" y="189678"/>
                      <a:pt x="1168560" y="170857"/>
                    </a:cubicBezTo>
                    <a:cubicBezTo>
                      <a:pt x="1168560" y="152037"/>
                      <a:pt x="1153209" y="136686"/>
                      <a:pt x="1134389" y="136686"/>
                    </a:cubicBezTo>
                    <a:close/>
                    <a:moveTo>
                      <a:pt x="1264345" y="34171"/>
                    </a:moveTo>
                    <a:lnTo>
                      <a:pt x="34171" y="34171"/>
                    </a:lnTo>
                    <a:lnTo>
                      <a:pt x="34171" y="307543"/>
                    </a:lnTo>
                    <a:lnTo>
                      <a:pt x="1264345" y="307543"/>
                    </a:lnTo>
                    <a:lnTo>
                      <a:pt x="1264345" y="34171"/>
                    </a:lnTo>
                    <a:moveTo>
                      <a:pt x="1298517" y="0"/>
                    </a:moveTo>
                    <a:lnTo>
                      <a:pt x="1298517" y="341715"/>
                    </a:lnTo>
                    <a:lnTo>
                      <a:pt x="0" y="341715"/>
                    </a:lnTo>
                    <a:lnTo>
                      <a:pt x="0" y="0"/>
                    </a:lnTo>
                    <a:lnTo>
                      <a:pt x="1298517" y="0"/>
                    </a:lnTo>
                    <a:lnTo>
                      <a:pt x="1298517" y="0"/>
                    </a:lnTo>
                    <a:close/>
                    <a:moveTo>
                      <a:pt x="136581" y="119653"/>
                    </a:moveTo>
                    <a:lnTo>
                      <a:pt x="102409" y="119653"/>
                    </a:lnTo>
                    <a:lnTo>
                      <a:pt x="102409" y="153824"/>
                    </a:lnTo>
                    <a:lnTo>
                      <a:pt x="136581" y="153824"/>
                    </a:lnTo>
                    <a:lnTo>
                      <a:pt x="136581" y="119653"/>
                    </a:lnTo>
                    <a:close/>
                    <a:moveTo>
                      <a:pt x="136581" y="187996"/>
                    </a:moveTo>
                    <a:lnTo>
                      <a:pt x="102409" y="187996"/>
                    </a:lnTo>
                    <a:lnTo>
                      <a:pt x="102409" y="222167"/>
                    </a:lnTo>
                    <a:lnTo>
                      <a:pt x="136581" y="222167"/>
                    </a:lnTo>
                    <a:lnTo>
                      <a:pt x="136581" y="187996"/>
                    </a:lnTo>
                    <a:close/>
                    <a:moveTo>
                      <a:pt x="204924" y="119653"/>
                    </a:moveTo>
                    <a:lnTo>
                      <a:pt x="170752" y="119653"/>
                    </a:lnTo>
                    <a:lnTo>
                      <a:pt x="170752" y="153824"/>
                    </a:lnTo>
                    <a:lnTo>
                      <a:pt x="204924" y="153824"/>
                    </a:lnTo>
                    <a:lnTo>
                      <a:pt x="204924" y="119653"/>
                    </a:lnTo>
                    <a:close/>
                    <a:moveTo>
                      <a:pt x="204924" y="187996"/>
                    </a:moveTo>
                    <a:lnTo>
                      <a:pt x="170752" y="187996"/>
                    </a:lnTo>
                    <a:lnTo>
                      <a:pt x="170752" y="222167"/>
                    </a:lnTo>
                    <a:lnTo>
                      <a:pt x="204924" y="222167"/>
                    </a:lnTo>
                    <a:lnTo>
                      <a:pt x="204924" y="187996"/>
                    </a:lnTo>
                    <a:close/>
                    <a:moveTo>
                      <a:pt x="273267" y="119653"/>
                    </a:moveTo>
                    <a:lnTo>
                      <a:pt x="239095" y="119653"/>
                    </a:lnTo>
                    <a:lnTo>
                      <a:pt x="239095" y="153824"/>
                    </a:lnTo>
                    <a:lnTo>
                      <a:pt x="273267" y="153824"/>
                    </a:lnTo>
                    <a:lnTo>
                      <a:pt x="273267" y="119653"/>
                    </a:lnTo>
                    <a:close/>
                    <a:moveTo>
                      <a:pt x="273267" y="187996"/>
                    </a:moveTo>
                    <a:lnTo>
                      <a:pt x="239095" y="187996"/>
                    </a:lnTo>
                    <a:lnTo>
                      <a:pt x="239095" y="222167"/>
                    </a:lnTo>
                    <a:lnTo>
                      <a:pt x="273267" y="222167"/>
                    </a:lnTo>
                    <a:lnTo>
                      <a:pt x="273267" y="187996"/>
                    </a:lnTo>
                    <a:close/>
                    <a:moveTo>
                      <a:pt x="341610" y="119653"/>
                    </a:moveTo>
                    <a:lnTo>
                      <a:pt x="307438" y="119653"/>
                    </a:lnTo>
                    <a:lnTo>
                      <a:pt x="307438" y="153824"/>
                    </a:lnTo>
                    <a:lnTo>
                      <a:pt x="341610" y="153824"/>
                    </a:lnTo>
                    <a:lnTo>
                      <a:pt x="341610" y="119653"/>
                    </a:lnTo>
                    <a:close/>
                    <a:moveTo>
                      <a:pt x="341610" y="187996"/>
                    </a:moveTo>
                    <a:lnTo>
                      <a:pt x="307438" y="187996"/>
                    </a:lnTo>
                    <a:lnTo>
                      <a:pt x="307438" y="222167"/>
                    </a:lnTo>
                    <a:lnTo>
                      <a:pt x="341610" y="222167"/>
                    </a:lnTo>
                    <a:lnTo>
                      <a:pt x="341610" y="187996"/>
                    </a:lnTo>
                    <a:close/>
                    <a:moveTo>
                      <a:pt x="409953" y="119653"/>
                    </a:moveTo>
                    <a:lnTo>
                      <a:pt x="375781" y="119653"/>
                    </a:lnTo>
                    <a:lnTo>
                      <a:pt x="375781" y="153824"/>
                    </a:lnTo>
                    <a:lnTo>
                      <a:pt x="409953" y="153824"/>
                    </a:lnTo>
                    <a:lnTo>
                      <a:pt x="409953" y="119653"/>
                    </a:lnTo>
                    <a:close/>
                    <a:moveTo>
                      <a:pt x="409953" y="187996"/>
                    </a:moveTo>
                    <a:lnTo>
                      <a:pt x="375781" y="187996"/>
                    </a:lnTo>
                    <a:lnTo>
                      <a:pt x="375781" y="222167"/>
                    </a:lnTo>
                    <a:lnTo>
                      <a:pt x="409953" y="222167"/>
                    </a:lnTo>
                    <a:lnTo>
                      <a:pt x="409953" y="187996"/>
                    </a:lnTo>
                    <a:close/>
                    <a:moveTo>
                      <a:pt x="478296" y="119653"/>
                    </a:moveTo>
                    <a:lnTo>
                      <a:pt x="444124" y="119653"/>
                    </a:lnTo>
                    <a:lnTo>
                      <a:pt x="444124" y="153824"/>
                    </a:lnTo>
                    <a:lnTo>
                      <a:pt x="478296" y="153824"/>
                    </a:lnTo>
                    <a:lnTo>
                      <a:pt x="478296" y="119653"/>
                    </a:lnTo>
                    <a:close/>
                    <a:moveTo>
                      <a:pt x="478296" y="187996"/>
                    </a:moveTo>
                    <a:lnTo>
                      <a:pt x="444124" y="187996"/>
                    </a:lnTo>
                    <a:lnTo>
                      <a:pt x="444124" y="222167"/>
                    </a:lnTo>
                    <a:lnTo>
                      <a:pt x="478296" y="222167"/>
                    </a:lnTo>
                    <a:lnTo>
                      <a:pt x="478296" y="187996"/>
                    </a:lnTo>
                    <a:close/>
                    <a:moveTo>
                      <a:pt x="546639" y="119653"/>
                    </a:moveTo>
                    <a:lnTo>
                      <a:pt x="512467" y="119653"/>
                    </a:lnTo>
                    <a:lnTo>
                      <a:pt x="512467" y="153824"/>
                    </a:lnTo>
                    <a:lnTo>
                      <a:pt x="546639" y="153824"/>
                    </a:lnTo>
                    <a:lnTo>
                      <a:pt x="546639" y="119653"/>
                    </a:lnTo>
                    <a:close/>
                    <a:moveTo>
                      <a:pt x="546639" y="187996"/>
                    </a:moveTo>
                    <a:lnTo>
                      <a:pt x="512467" y="187996"/>
                    </a:lnTo>
                    <a:lnTo>
                      <a:pt x="512467" y="222167"/>
                    </a:lnTo>
                    <a:lnTo>
                      <a:pt x="546639" y="222167"/>
                    </a:lnTo>
                    <a:lnTo>
                      <a:pt x="546639" y="18799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grpSp>
      </p:grpSp>
      <p:grpSp>
        <p:nvGrpSpPr>
          <p:cNvPr id="5" name="Group 4">
            <a:extLst>
              <a:ext uri="{FF2B5EF4-FFF2-40B4-BE49-F238E27FC236}">
                <a16:creationId xmlns:a16="http://schemas.microsoft.com/office/drawing/2014/main" id="{EDBDE823-F789-331F-349C-94FD3549A86D}"/>
              </a:ext>
            </a:extLst>
          </p:cNvPr>
          <p:cNvGrpSpPr/>
          <p:nvPr/>
        </p:nvGrpSpPr>
        <p:grpSpPr>
          <a:xfrm>
            <a:off x="579809" y="3591232"/>
            <a:ext cx="7573812" cy="974748"/>
            <a:chOff x="579809" y="3591232"/>
            <a:chExt cx="7573812" cy="974748"/>
          </a:xfrm>
        </p:grpSpPr>
        <p:sp>
          <p:nvSpPr>
            <p:cNvPr id="10330" name="sdn box">
              <a:extLst>
                <a:ext uri="{FF2B5EF4-FFF2-40B4-BE49-F238E27FC236}">
                  <a16:creationId xmlns:a16="http://schemas.microsoft.com/office/drawing/2014/main" id="{370C2A42-99A3-63C8-56A8-10E5692F5309}"/>
                </a:ext>
              </a:extLst>
            </p:cNvPr>
            <p:cNvSpPr/>
            <p:nvPr/>
          </p:nvSpPr>
          <p:spPr>
            <a:xfrm>
              <a:off x="579809" y="3591232"/>
              <a:ext cx="6328991" cy="974748"/>
            </a:xfrm>
            <a:prstGeom prst="roundRect">
              <a:avLst>
                <a:gd name="adj" fmla="val 8224"/>
              </a:avLst>
            </a:prstGeom>
            <a:solidFill>
              <a:schemeClr val="accent2">
                <a:alpha val="10000"/>
              </a:schemeClr>
            </a:solidFill>
            <a:ln w="25400" cap="flat" cmpd="sng">
              <a:solidFill>
                <a:schemeClr val="accent3"/>
              </a:solidFill>
              <a:prstDash val="solid"/>
              <a:miter lim="800000"/>
              <a:headEnd type="none" w="sm" len="sm"/>
              <a:tailEnd type="none" w="sm" len="sm"/>
            </a:ln>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0332" name="Google Shape;10332;p69">
              <a:extLst>
                <a:ext uri="{FF2B5EF4-FFF2-40B4-BE49-F238E27FC236}">
                  <a16:creationId xmlns:a16="http://schemas.microsoft.com/office/drawing/2014/main" id="{DF4DF5FA-0D01-A897-B54D-1D467D0FA7E5}"/>
                </a:ext>
              </a:extLst>
            </p:cNvPr>
            <p:cNvSpPr/>
            <p:nvPr/>
          </p:nvSpPr>
          <p:spPr>
            <a:xfrm>
              <a:off x="732374" y="3924717"/>
              <a:ext cx="1033296" cy="307777"/>
            </a:xfrm>
            <a:prstGeom prst="rect">
              <a:avLst/>
            </a:prstGeom>
            <a:noFill/>
            <a:ln>
              <a:noFill/>
            </a:ln>
          </p:spPr>
          <p:txBody>
            <a:bodyPr spcFirstLastPara="1" wrap="square" lIns="0"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EEEEE">
                      <a:lumMod val="10000"/>
                    </a:srgbClr>
                  </a:solidFill>
                  <a:effectLst/>
                  <a:uLnTx/>
                  <a:uFillTx/>
                  <a:latin typeface="Arial" panose="020B0604020202020204"/>
                  <a:ea typeface="Arial"/>
                  <a:cs typeface="Arial"/>
                  <a:sym typeface="Arial"/>
                </a:rPr>
                <a:t>SDN Layer</a:t>
              </a:r>
              <a:endParaRPr kumimoji="0" sz="1800" b="0" i="0" u="none" strike="noStrike" kern="1200" cap="none" spc="0" normalizeH="0" baseline="0" noProof="0" dirty="0">
                <a:ln>
                  <a:noFill/>
                </a:ln>
                <a:solidFill>
                  <a:srgbClr val="EEEEEE">
                    <a:lumMod val="10000"/>
                  </a:srgbClr>
                </a:solidFill>
                <a:effectLst/>
                <a:uLnTx/>
                <a:uFillTx/>
                <a:latin typeface="Arial" panose="020B0604020202020204"/>
                <a:ea typeface="+mn-ea"/>
                <a:cs typeface="+mn-cs"/>
              </a:endParaRPr>
            </a:p>
          </p:txBody>
        </p:sp>
        <p:sp>
          <p:nvSpPr>
            <p:cNvPr id="10335" name="Google Shape;10335;p69">
              <a:extLst>
                <a:ext uri="{FF2B5EF4-FFF2-40B4-BE49-F238E27FC236}">
                  <a16:creationId xmlns:a16="http://schemas.microsoft.com/office/drawing/2014/main" id="{CDFEA025-5028-E6E3-BF2F-C40287A00F79}"/>
                </a:ext>
              </a:extLst>
            </p:cNvPr>
            <p:cNvSpPr/>
            <p:nvPr/>
          </p:nvSpPr>
          <p:spPr>
            <a:xfrm>
              <a:off x="4999441" y="4300382"/>
              <a:ext cx="1109332" cy="215388"/>
            </a:xfrm>
            <a:prstGeom prst="rect">
              <a:avLst/>
            </a:prstGeom>
            <a:noFill/>
            <a:ln>
              <a:noFill/>
            </a:ln>
          </p:spPr>
          <p:txBody>
            <a:bodyPr spcFirstLastPara="1" wrap="square" lIns="0" tIns="45700" rIns="0"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F3F3F"/>
                  </a:solidFill>
                  <a:effectLst/>
                  <a:uLnTx/>
                  <a:uFillTx/>
                  <a:latin typeface="Arial" panose="020B0604020202020204"/>
                  <a:ea typeface="Arial"/>
                  <a:cs typeface="Arial"/>
                  <a:sym typeface="Arial"/>
                </a:rPr>
                <a:t>NAT</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0336" name="Google Shape;10336;p69">
              <a:extLst>
                <a:ext uri="{FF2B5EF4-FFF2-40B4-BE49-F238E27FC236}">
                  <a16:creationId xmlns:a16="http://schemas.microsoft.com/office/drawing/2014/main" id="{555EB2CA-0645-0B53-CB18-66956D81B3C7}"/>
                </a:ext>
              </a:extLst>
            </p:cNvPr>
            <p:cNvSpPr/>
            <p:nvPr/>
          </p:nvSpPr>
          <p:spPr>
            <a:xfrm>
              <a:off x="5913479" y="4300382"/>
              <a:ext cx="911230" cy="215403"/>
            </a:xfrm>
            <a:prstGeom prst="rect">
              <a:avLst/>
            </a:prstGeom>
            <a:noFill/>
            <a:ln>
              <a:noFill/>
            </a:ln>
          </p:spPr>
          <p:txBody>
            <a:bodyPr spcFirstLastPara="1" wrap="square" lIns="0" tIns="45700" rIns="0"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F3F3F"/>
                  </a:solidFill>
                  <a:effectLst/>
                  <a:uLnTx/>
                  <a:uFillTx/>
                  <a:latin typeface="Arial" panose="020B0604020202020204"/>
                  <a:ea typeface="+mn-ea"/>
                  <a:cs typeface="Arial"/>
                  <a:sym typeface="Arial"/>
                </a:rPr>
                <a:t>VPN</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0337" name="centrally controlled">
              <a:extLst>
                <a:ext uri="{FF2B5EF4-FFF2-40B4-BE49-F238E27FC236}">
                  <a16:creationId xmlns:a16="http://schemas.microsoft.com/office/drawing/2014/main" id="{A3DD3EAF-CA96-0B97-ED06-74DBCB6ADA59}"/>
                </a:ext>
              </a:extLst>
            </p:cNvPr>
            <p:cNvSpPr/>
            <p:nvPr/>
          </p:nvSpPr>
          <p:spPr>
            <a:xfrm>
              <a:off x="7025014" y="3760266"/>
              <a:ext cx="1128607" cy="646331"/>
            </a:xfrm>
            <a:prstGeom prst="rect">
              <a:avLst/>
            </a:prstGeom>
            <a:noFill/>
            <a:ln>
              <a:noFill/>
            </a:ln>
          </p:spPr>
          <p:txBody>
            <a:bodyPr spcFirstLastPara="1" wrap="square" lIns="0"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F3F3F"/>
                  </a:solidFill>
                  <a:effectLst/>
                  <a:uLnTx/>
                  <a:uFillTx/>
                  <a:latin typeface="Arial" panose="020B0604020202020204"/>
                  <a:ea typeface="Arial"/>
                  <a:cs typeface="Arial"/>
                  <a:sym typeface="Arial"/>
                </a:rPr>
                <a:t>Centrally Controlled </a:t>
              </a:r>
              <a:br>
                <a:rPr kumimoji="0" lang="en-US" sz="1200" b="0" i="0" u="none" strike="noStrike" kern="1200" cap="none" spc="0" normalizeH="0" baseline="0" noProof="0" dirty="0">
                  <a:ln>
                    <a:noFill/>
                  </a:ln>
                  <a:solidFill>
                    <a:srgbClr val="3F3F3F"/>
                  </a:solidFill>
                  <a:effectLst/>
                  <a:uLnTx/>
                  <a:uFillTx/>
                  <a:latin typeface="Arial" panose="020B0604020202020204"/>
                  <a:ea typeface="Arial"/>
                  <a:cs typeface="Arial"/>
                  <a:sym typeface="Arial"/>
                </a:rPr>
              </a:br>
              <a:r>
                <a:rPr kumimoji="0" lang="en-US" sz="1200" b="0" i="0" u="none" strike="noStrike" kern="1200" cap="none" spc="0" normalizeH="0" baseline="0" noProof="0" dirty="0">
                  <a:ln>
                    <a:noFill/>
                  </a:ln>
                  <a:solidFill>
                    <a:srgbClr val="3F3F3F"/>
                  </a:solidFill>
                  <a:effectLst/>
                  <a:uLnTx/>
                  <a:uFillTx/>
                  <a:latin typeface="Arial" panose="020B0604020202020204"/>
                  <a:ea typeface="Arial"/>
                  <a:cs typeface="Arial"/>
                  <a:sym typeface="Arial"/>
                </a:rPr>
                <a:t>and Deployed</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0400" name="Google Shape;10333;p69">
              <a:extLst>
                <a:ext uri="{FF2B5EF4-FFF2-40B4-BE49-F238E27FC236}">
                  <a16:creationId xmlns:a16="http://schemas.microsoft.com/office/drawing/2014/main" id="{DA86C2DF-9EBF-4705-1FDF-9473F2DAE9B7}"/>
                </a:ext>
              </a:extLst>
            </p:cNvPr>
            <p:cNvSpPr/>
            <p:nvPr/>
          </p:nvSpPr>
          <p:spPr>
            <a:xfrm>
              <a:off x="1924792" y="4300382"/>
              <a:ext cx="818921" cy="215388"/>
            </a:xfrm>
            <a:prstGeom prst="rect">
              <a:avLst/>
            </a:prstGeom>
            <a:noFill/>
            <a:ln>
              <a:noFill/>
            </a:ln>
          </p:spPr>
          <p:txBody>
            <a:bodyPr spcFirstLastPara="1" wrap="square" lIns="0" tIns="45700" rIns="0"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F3F3F"/>
                  </a:solidFill>
                  <a:effectLst/>
                  <a:uLnTx/>
                  <a:uFillTx/>
                  <a:latin typeface="Arial" panose="020B0604020202020204"/>
                  <a:ea typeface="Arial"/>
                  <a:cs typeface="Arial"/>
                  <a:sym typeface="Arial"/>
                </a:rPr>
                <a:t>Switching</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0401" name="Google Shape;10334;p69">
              <a:extLst>
                <a:ext uri="{FF2B5EF4-FFF2-40B4-BE49-F238E27FC236}">
                  <a16:creationId xmlns:a16="http://schemas.microsoft.com/office/drawing/2014/main" id="{1A056724-7582-68BC-989E-260D433D44C1}"/>
                </a:ext>
              </a:extLst>
            </p:cNvPr>
            <p:cNvSpPr/>
            <p:nvPr/>
          </p:nvSpPr>
          <p:spPr>
            <a:xfrm>
              <a:off x="2691320" y="4300382"/>
              <a:ext cx="911230" cy="215388"/>
            </a:xfrm>
            <a:prstGeom prst="rect">
              <a:avLst/>
            </a:prstGeom>
            <a:noFill/>
            <a:ln>
              <a:noFill/>
            </a:ln>
          </p:spPr>
          <p:txBody>
            <a:bodyPr spcFirstLastPara="1" wrap="square" lIns="0" tIns="45700" rIns="0"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F3F3F"/>
                  </a:solidFill>
                  <a:effectLst/>
                  <a:uLnTx/>
                  <a:uFillTx/>
                  <a:latin typeface="Arial" panose="020B0604020202020204"/>
                  <a:ea typeface="Arial"/>
                  <a:cs typeface="Arial"/>
                  <a:sym typeface="Arial"/>
                </a:rPr>
                <a:t>Routing</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0402" name="Google Shape;10335;p69">
              <a:extLst>
                <a:ext uri="{FF2B5EF4-FFF2-40B4-BE49-F238E27FC236}">
                  <a16:creationId xmlns:a16="http://schemas.microsoft.com/office/drawing/2014/main" id="{4DF98F9D-FA93-5E1B-ACD3-7C1B7374A95E}"/>
                </a:ext>
              </a:extLst>
            </p:cNvPr>
            <p:cNvSpPr/>
            <p:nvPr/>
          </p:nvSpPr>
          <p:spPr>
            <a:xfrm>
              <a:off x="3373841" y="4300382"/>
              <a:ext cx="1109332" cy="215388"/>
            </a:xfrm>
            <a:prstGeom prst="rect">
              <a:avLst/>
            </a:prstGeom>
            <a:noFill/>
            <a:ln>
              <a:noFill/>
            </a:ln>
          </p:spPr>
          <p:txBody>
            <a:bodyPr spcFirstLastPara="1" wrap="square" lIns="0" tIns="45700" rIns="0"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F3F3F"/>
                  </a:solidFill>
                  <a:effectLst/>
                  <a:uLnTx/>
                  <a:uFillTx/>
                  <a:latin typeface="Arial" panose="020B0604020202020204"/>
                  <a:ea typeface="Arial"/>
                  <a:cs typeface="Arial"/>
                  <a:sym typeface="Arial"/>
                </a:rPr>
                <a:t>Stateful Firewalling</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0403" name="Google Shape;10336;p69">
              <a:extLst>
                <a:ext uri="{FF2B5EF4-FFF2-40B4-BE49-F238E27FC236}">
                  <a16:creationId xmlns:a16="http://schemas.microsoft.com/office/drawing/2014/main" id="{EDDE72FA-3B44-E699-C1C1-895CA1640287}"/>
                </a:ext>
              </a:extLst>
            </p:cNvPr>
            <p:cNvSpPr/>
            <p:nvPr/>
          </p:nvSpPr>
          <p:spPr>
            <a:xfrm>
              <a:off x="4287879" y="4300382"/>
              <a:ext cx="911230" cy="215388"/>
            </a:xfrm>
            <a:prstGeom prst="rect">
              <a:avLst/>
            </a:prstGeom>
            <a:noFill/>
            <a:ln>
              <a:noFill/>
            </a:ln>
          </p:spPr>
          <p:txBody>
            <a:bodyPr spcFirstLastPara="1" wrap="square" lIns="0" tIns="45700" rIns="0"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F3F3F"/>
                  </a:solidFill>
                  <a:effectLst/>
                  <a:uLnTx/>
                  <a:uFillTx/>
                  <a:latin typeface="Arial" panose="020B0604020202020204"/>
                  <a:ea typeface="Arial"/>
                  <a:cs typeface="Arial"/>
                  <a:sym typeface="Arial"/>
                </a:rPr>
                <a:t>LB</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10404" name="s4">
              <a:extLst>
                <a:ext uri="{FF2B5EF4-FFF2-40B4-BE49-F238E27FC236}">
                  <a16:creationId xmlns:a16="http://schemas.microsoft.com/office/drawing/2014/main" id="{3773F5D8-ABC4-459C-65B9-9262EC3F26FE}"/>
                </a:ext>
              </a:extLst>
            </p:cNvPr>
            <p:cNvGrpSpPr/>
            <p:nvPr/>
          </p:nvGrpSpPr>
          <p:grpSpPr>
            <a:xfrm>
              <a:off x="4471246" y="3714783"/>
              <a:ext cx="581934" cy="581932"/>
              <a:chOff x="5365136" y="3787183"/>
              <a:chExt cx="582086" cy="582084"/>
            </a:xfrm>
          </p:grpSpPr>
          <p:sp>
            <p:nvSpPr>
              <p:cNvPr id="10405" name="Google Shape;10341;p69">
                <a:extLst>
                  <a:ext uri="{FF2B5EF4-FFF2-40B4-BE49-F238E27FC236}">
                    <a16:creationId xmlns:a16="http://schemas.microsoft.com/office/drawing/2014/main" id="{464FA3E4-97A2-6B1C-B41C-B94D9539F17E}"/>
                  </a:ext>
                </a:extLst>
              </p:cNvPr>
              <p:cNvSpPr/>
              <p:nvPr/>
            </p:nvSpPr>
            <p:spPr>
              <a:xfrm>
                <a:off x="5365136" y="3787183"/>
                <a:ext cx="582086" cy="582084"/>
              </a:xfrm>
              <a:prstGeom prst="ellipse">
                <a:avLst/>
              </a:prstGeom>
              <a:solidFill>
                <a:schemeClr val="lt1"/>
              </a:solidFill>
              <a:ln w="1905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nvGrpSpPr>
              <p:cNvPr id="10406" name="Google Shape;10342;p69">
                <a:extLst>
                  <a:ext uri="{FF2B5EF4-FFF2-40B4-BE49-F238E27FC236}">
                    <a16:creationId xmlns:a16="http://schemas.microsoft.com/office/drawing/2014/main" id="{60E48A4E-15CF-8EB4-8193-F07A3ECA637E}"/>
                  </a:ext>
                </a:extLst>
              </p:cNvPr>
              <p:cNvGrpSpPr/>
              <p:nvPr/>
            </p:nvGrpSpPr>
            <p:grpSpPr>
              <a:xfrm>
                <a:off x="5459436" y="3898647"/>
                <a:ext cx="351294" cy="351294"/>
                <a:chOff x="7817903" y="1558637"/>
                <a:chExt cx="1037102" cy="1037102"/>
              </a:xfrm>
            </p:grpSpPr>
            <p:sp>
              <p:nvSpPr>
                <p:cNvPr id="10407" name="Google Shape;10343;p69">
                  <a:extLst>
                    <a:ext uri="{FF2B5EF4-FFF2-40B4-BE49-F238E27FC236}">
                      <a16:creationId xmlns:a16="http://schemas.microsoft.com/office/drawing/2014/main" id="{6E0AD388-4D73-4FC4-0CA9-0889EDC9D957}"/>
                    </a:ext>
                  </a:extLst>
                </p:cNvPr>
                <p:cNvSpPr/>
                <p:nvPr/>
              </p:nvSpPr>
              <p:spPr>
                <a:xfrm>
                  <a:off x="7817903" y="1558637"/>
                  <a:ext cx="1037102" cy="1037102"/>
                </a:xfrm>
                <a:custGeom>
                  <a:avLst/>
                  <a:gdLst/>
                  <a:ahLst/>
                  <a:cxnLst/>
                  <a:rect l="l" t="t" r="r" b="b"/>
                  <a:pathLst>
                    <a:path w="1037102" h="1037102" extrusionOk="0">
                      <a:moveTo>
                        <a:pt x="1037102" y="1037102"/>
                      </a:moveTo>
                      <a:lnTo>
                        <a:pt x="336491" y="1037102"/>
                      </a:lnTo>
                      <a:lnTo>
                        <a:pt x="0" y="683984"/>
                      </a:lnTo>
                      <a:lnTo>
                        <a:pt x="0" y="357905"/>
                      </a:lnTo>
                      <a:lnTo>
                        <a:pt x="323979" y="0"/>
                      </a:lnTo>
                      <a:lnTo>
                        <a:pt x="1037102" y="0"/>
                      </a:lnTo>
                      <a:lnTo>
                        <a:pt x="1037102" y="1037102"/>
                      </a:lnTo>
                      <a:close/>
                      <a:moveTo>
                        <a:pt x="348164" y="1009810"/>
                      </a:moveTo>
                      <a:lnTo>
                        <a:pt x="1009810" y="1009810"/>
                      </a:lnTo>
                      <a:lnTo>
                        <a:pt x="1009810" y="27292"/>
                      </a:lnTo>
                      <a:lnTo>
                        <a:pt x="336072" y="27292"/>
                      </a:lnTo>
                      <a:lnTo>
                        <a:pt x="27292" y="368402"/>
                      </a:lnTo>
                      <a:lnTo>
                        <a:pt x="27292" y="672983"/>
                      </a:lnTo>
                      <a:lnTo>
                        <a:pt x="348164" y="100981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408" name="Google Shape;10344;p69">
                  <a:extLst>
                    <a:ext uri="{FF2B5EF4-FFF2-40B4-BE49-F238E27FC236}">
                      <a16:creationId xmlns:a16="http://schemas.microsoft.com/office/drawing/2014/main" id="{B746B437-E9F7-3287-A42D-1700EE715E62}"/>
                    </a:ext>
                  </a:extLst>
                </p:cNvPr>
                <p:cNvSpPr/>
                <p:nvPr/>
              </p:nvSpPr>
              <p:spPr>
                <a:xfrm>
                  <a:off x="8231568" y="1690311"/>
                  <a:ext cx="163752" cy="163752"/>
                </a:xfrm>
                <a:custGeom>
                  <a:avLst/>
                  <a:gdLst/>
                  <a:ahLst/>
                  <a:cxnLst/>
                  <a:rect l="l" t="t" r="r" b="b"/>
                  <a:pathLst>
                    <a:path w="163752" h="163752" extrusionOk="0">
                      <a:moveTo>
                        <a:pt x="163753" y="81876"/>
                      </a:moveTo>
                      <a:cubicBezTo>
                        <a:pt x="163753" y="127096"/>
                        <a:pt x="127096" y="163753"/>
                        <a:pt x="81877" y="163753"/>
                      </a:cubicBezTo>
                      <a:cubicBezTo>
                        <a:pt x="36657" y="163753"/>
                        <a:pt x="0" y="127096"/>
                        <a:pt x="0" y="81876"/>
                      </a:cubicBezTo>
                      <a:cubicBezTo>
                        <a:pt x="0" y="36657"/>
                        <a:pt x="36657" y="0"/>
                        <a:pt x="81877" y="0"/>
                      </a:cubicBezTo>
                      <a:cubicBezTo>
                        <a:pt x="127096" y="0"/>
                        <a:pt x="163753" y="36657"/>
                        <a:pt x="163753" y="8187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409" name="Google Shape;10345;p69">
                  <a:extLst>
                    <a:ext uri="{FF2B5EF4-FFF2-40B4-BE49-F238E27FC236}">
                      <a16:creationId xmlns:a16="http://schemas.microsoft.com/office/drawing/2014/main" id="{285E027B-DD67-7E08-DDC0-B5E02A4A3BAF}"/>
                    </a:ext>
                  </a:extLst>
                </p:cNvPr>
                <p:cNvSpPr/>
                <p:nvPr/>
              </p:nvSpPr>
              <p:spPr>
                <a:xfrm>
                  <a:off x="8231568" y="2012526"/>
                  <a:ext cx="163752" cy="163752"/>
                </a:xfrm>
                <a:custGeom>
                  <a:avLst/>
                  <a:gdLst/>
                  <a:ahLst/>
                  <a:cxnLst/>
                  <a:rect l="l" t="t" r="r" b="b"/>
                  <a:pathLst>
                    <a:path w="163752" h="163752" extrusionOk="0">
                      <a:moveTo>
                        <a:pt x="163753" y="81876"/>
                      </a:moveTo>
                      <a:cubicBezTo>
                        <a:pt x="163753" y="127096"/>
                        <a:pt x="127096" y="163753"/>
                        <a:pt x="81877" y="163753"/>
                      </a:cubicBezTo>
                      <a:cubicBezTo>
                        <a:pt x="36657" y="163753"/>
                        <a:pt x="0" y="127096"/>
                        <a:pt x="0" y="81877"/>
                      </a:cubicBezTo>
                      <a:cubicBezTo>
                        <a:pt x="0" y="36657"/>
                        <a:pt x="36657" y="0"/>
                        <a:pt x="81877" y="0"/>
                      </a:cubicBezTo>
                      <a:cubicBezTo>
                        <a:pt x="127096" y="0"/>
                        <a:pt x="163753" y="36657"/>
                        <a:pt x="163753" y="8187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410" name="Google Shape;10346;p69">
                  <a:extLst>
                    <a:ext uri="{FF2B5EF4-FFF2-40B4-BE49-F238E27FC236}">
                      <a16:creationId xmlns:a16="http://schemas.microsoft.com/office/drawing/2014/main" id="{EFFB0D33-AE8E-2812-BAA3-153E13B00720}"/>
                    </a:ext>
                  </a:extLst>
                </p:cNvPr>
                <p:cNvSpPr/>
                <p:nvPr/>
              </p:nvSpPr>
              <p:spPr>
                <a:xfrm>
                  <a:off x="7911872" y="2012526"/>
                  <a:ext cx="163752" cy="163752"/>
                </a:xfrm>
                <a:custGeom>
                  <a:avLst/>
                  <a:gdLst/>
                  <a:ahLst/>
                  <a:cxnLst/>
                  <a:rect l="l" t="t" r="r" b="b"/>
                  <a:pathLst>
                    <a:path w="163752" h="163752" extrusionOk="0">
                      <a:moveTo>
                        <a:pt x="163753" y="81876"/>
                      </a:moveTo>
                      <a:cubicBezTo>
                        <a:pt x="163753" y="127096"/>
                        <a:pt x="127096" y="163753"/>
                        <a:pt x="81876" y="163753"/>
                      </a:cubicBezTo>
                      <a:cubicBezTo>
                        <a:pt x="36657" y="163753"/>
                        <a:pt x="0" y="127096"/>
                        <a:pt x="0" y="81877"/>
                      </a:cubicBezTo>
                      <a:cubicBezTo>
                        <a:pt x="0" y="36657"/>
                        <a:pt x="36657" y="0"/>
                        <a:pt x="81876" y="0"/>
                      </a:cubicBezTo>
                      <a:cubicBezTo>
                        <a:pt x="127096" y="0"/>
                        <a:pt x="163753" y="36657"/>
                        <a:pt x="163753" y="8187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411" name="Google Shape;10347;p69">
                  <a:extLst>
                    <a:ext uri="{FF2B5EF4-FFF2-40B4-BE49-F238E27FC236}">
                      <a16:creationId xmlns:a16="http://schemas.microsoft.com/office/drawing/2014/main" id="{09A697B1-C417-CF5C-F29F-66D1D9FC842E}"/>
                    </a:ext>
                  </a:extLst>
                </p:cNvPr>
                <p:cNvSpPr/>
                <p:nvPr/>
              </p:nvSpPr>
              <p:spPr>
                <a:xfrm>
                  <a:off x="8231568" y="2332558"/>
                  <a:ext cx="163752" cy="163752"/>
                </a:xfrm>
                <a:custGeom>
                  <a:avLst/>
                  <a:gdLst/>
                  <a:ahLst/>
                  <a:cxnLst/>
                  <a:rect l="l" t="t" r="r" b="b"/>
                  <a:pathLst>
                    <a:path w="163752" h="163752" extrusionOk="0">
                      <a:moveTo>
                        <a:pt x="163753" y="81877"/>
                      </a:moveTo>
                      <a:cubicBezTo>
                        <a:pt x="163753" y="127096"/>
                        <a:pt x="127096" y="163753"/>
                        <a:pt x="81877" y="163753"/>
                      </a:cubicBezTo>
                      <a:cubicBezTo>
                        <a:pt x="36657" y="163753"/>
                        <a:pt x="0" y="127096"/>
                        <a:pt x="0" y="81877"/>
                      </a:cubicBezTo>
                      <a:cubicBezTo>
                        <a:pt x="0" y="36657"/>
                        <a:pt x="36657" y="0"/>
                        <a:pt x="81877" y="0"/>
                      </a:cubicBezTo>
                      <a:cubicBezTo>
                        <a:pt x="127096" y="0"/>
                        <a:pt x="163753" y="36657"/>
                        <a:pt x="163753" y="8187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412" name="Google Shape;10348;p69">
                  <a:extLst>
                    <a:ext uri="{FF2B5EF4-FFF2-40B4-BE49-F238E27FC236}">
                      <a16:creationId xmlns:a16="http://schemas.microsoft.com/office/drawing/2014/main" id="{3D122248-9DC9-0619-FF97-ED062EB40F89}"/>
                    </a:ext>
                  </a:extLst>
                </p:cNvPr>
                <p:cNvSpPr/>
                <p:nvPr/>
              </p:nvSpPr>
              <p:spPr>
                <a:xfrm rot="-2700000">
                  <a:off x="8076133" y="1924551"/>
                  <a:ext cx="177103" cy="27291"/>
                </a:xfrm>
                <a:custGeom>
                  <a:avLst/>
                  <a:gdLst/>
                  <a:ahLst/>
                  <a:cxnLst/>
                  <a:rect l="l" t="t" r="r" b="b"/>
                  <a:pathLst>
                    <a:path w="177103" h="27291" extrusionOk="0">
                      <a:moveTo>
                        <a:pt x="0" y="0"/>
                      </a:moveTo>
                      <a:lnTo>
                        <a:pt x="177103" y="0"/>
                      </a:lnTo>
                      <a:lnTo>
                        <a:pt x="177103" y="27292"/>
                      </a:lnTo>
                      <a:lnTo>
                        <a:pt x="0" y="2729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413" name="Google Shape;10349;p69">
                  <a:extLst>
                    <a:ext uri="{FF2B5EF4-FFF2-40B4-BE49-F238E27FC236}">
                      <a16:creationId xmlns:a16="http://schemas.microsoft.com/office/drawing/2014/main" id="{5E58FB0A-3DA8-6B35-C327-D822B081B138}"/>
                    </a:ext>
                  </a:extLst>
                </p:cNvPr>
                <p:cNvSpPr/>
                <p:nvPr/>
              </p:nvSpPr>
              <p:spPr>
                <a:xfrm rot="-2700000">
                  <a:off x="8151103" y="2173741"/>
                  <a:ext cx="27291" cy="177103"/>
                </a:xfrm>
                <a:custGeom>
                  <a:avLst/>
                  <a:gdLst/>
                  <a:ahLst/>
                  <a:cxnLst/>
                  <a:rect l="l" t="t" r="r" b="b"/>
                  <a:pathLst>
                    <a:path w="27291" h="177103" extrusionOk="0">
                      <a:moveTo>
                        <a:pt x="0" y="0"/>
                      </a:moveTo>
                      <a:lnTo>
                        <a:pt x="27292" y="0"/>
                      </a:lnTo>
                      <a:lnTo>
                        <a:pt x="27292" y="177103"/>
                      </a:lnTo>
                      <a:lnTo>
                        <a:pt x="0" y="17710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414" name="Google Shape;10350;p69">
                  <a:extLst>
                    <a:ext uri="{FF2B5EF4-FFF2-40B4-BE49-F238E27FC236}">
                      <a16:creationId xmlns:a16="http://schemas.microsoft.com/office/drawing/2014/main" id="{056399C8-EA15-9119-697A-224F720FA821}"/>
                    </a:ext>
                  </a:extLst>
                </p:cNvPr>
                <p:cNvSpPr/>
                <p:nvPr/>
              </p:nvSpPr>
              <p:spPr>
                <a:xfrm>
                  <a:off x="8119628" y="2080799"/>
                  <a:ext cx="96908" cy="27292"/>
                </a:xfrm>
                <a:custGeom>
                  <a:avLst/>
                  <a:gdLst/>
                  <a:ahLst/>
                  <a:cxnLst/>
                  <a:rect l="l" t="t" r="r" b="b"/>
                  <a:pathLst>
                    <a:path w="96908" h="27292" extrusionOk="0">
                      <a:moveTo>
                        <a:pt x="0" y="0"/>
                      </a:moveTo>
                      <a:lnTo>
                        <a:pt x="96908" y="0"/>
                      </a:lnTo>
                      <a:lnTo>
                        <a:pt x="96908" y="27292"/>
                      </a:lnTo>
                      <a:lnTo>
                        <a:pt x="0" y="2729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grpSp>
              <p:nvGrpSpPr>
                <p:cNvPr id="10415" name="Google Shape;10351;p69">
                  <a:extLst>
                    <a:ext uri="{FF2B5EF4-FFF2-40B4-BE49-F238E27FC236}">
                      <a16:creationId xmlns:a16="http://schemas.microsoft.com/office/drawing/2014/main" id="{7B38A67F-97B9-80B6-3524-9911E229C594}"/>
                    </a:ext>
                  </a:extLst>
                </p:cNvPr>
                <p:cNvGrpSpPr/>
                <p:nvPr/>
              </p:nvGrpSpPr>
              <p:grpSpPr>
                <a:xfrm>
                  <a:off x="8436889" y="1698708"/>
                  <a:ext cx="327505" cy="789205"/>
                  <a:chOff x="8436889" y="1698708"/>
                  <a:chExt cx="327505" cy="789205"/>
                </a:xfrm>
              </p:grpSpPr>
              <p:sp>
                <p:nvSpPr>
                  <p:cNvPr id="10416" name="Google Shape;10352;p69">
                    <a:extLst>
                      <a:ext uri="{FF2B5EF4-FFF2-40B4-BE49-F238E27FC236}">
                        <a16:creationId xmlns:a16="http://schemas.microsoft.com/office/drawing/2014/main" id="{60FFD33E-D345-8F15-86F7-390CC3632094}"/>
                      </a:ext>
                    </a:extLst>
                  </p:cNvPr>
                  <p:cNvSpPr/>
                  <p:nvPr/>
                </p:nvSpPr>
                <p:spPr>
                  <a:xfrm>
                    <a:off x="8436889" y="1698708"/>
                    <a:ext cx="327505" cy="146957"/>
                  </a:xfrm>
                  <a:custGeom>
                    <a:avLst/>
                    <a:gdLst/>
                    <a:ahLst/>
                    <a:cxnLst/>
                    <a:rect l="l" t="t" r="r" b="b"/>
                    <a:pathLst>
                      <a:path w="327505" h="146957" extrusionOk="0">
                        <a:moveTo>
                          <a:pt x="200199" y="146958"/>
                        </a:moveTo>
                        <a:lnTo>
                          <a:pt x="327506" y="73479"/>
                        </a:lnTo>
                        <a:lnTo>
                          <a:pt x="200199" y="0"/>
                        </a:lnTo>
                        <a:lnTo>
                          <a:pt x="200199" y="46187"/>
                        </a:lnTo>
                        <a:lnTo>
                          <a:pt x="0" y="46187"/>
                        </a:lnTo>
                        <a:lnTo>
                          <a:pt x="0" y="100771"/>
                        </a:lnTo>
                        <a:lnTo>
                          <a:pt x="200199" y="10077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417" name="Google Shape;10353;p69">
                    <a:extLst>
                      <a:ext uri="{FF2B5EF4-FFF2-40B4-BE49-F238E27FC236}">
                        <a16:creationId xmlns:a16="http://schemas.microsoft.com/office/drawing/2014/main" id="{4517EF58-ACBF-6F0E-966C-2DB4FF5977B5}"/>
                      </a:ext>
                    </a:extLst>
                  </p:cNvPr>
                  <p:cNvSpPr/>
                  <p:nvPr/>
                </p:nvSpPr>
                <p:spPr>
                  <a:xfrm>
                    <a:off x="8436889" y="2020840"/>
                    <a:ext cx="327505" cy="147041"/>
                  </a:xfrm>
                  <a:custGeom>
                    <a:avLst/>
                    <a:gdLst/>
                    <a:ahLst/>
                    <a:cxnLst/>
                    <a:rect l="l" t="t" r="r" b="b"/>
                    <a:pathLst>
                      <a:path w="327505" h="147041" extrusionOk="0">
                        <a:moveTo>
                          <a:pt x="200199" y="46271"/>
                        </a:moveTo>
                        <a:lnTo>
                          <a:pt x="0" y="46271"/>
                        </a:lnTo>
                        <a:lnTo>
                          <a:pt x="0" y="100855"/>
                        </a:lnTo>
                        <a:lnTo>
                          <a:pt x="200199" y="100855"/>
                        </a:lnTo>
                        <a:lnTo>
                          <a:pt x="200199" y="147042"/>
                        </a:lnTo>
                        <a:lnTo>
                          <a:pt x="327506" y="73563"/>
                        </a:lnTo>
                        <a:lnTo>
                          <a:pt x="200199"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418" name="Google Shape;10354;p69">
                    <a:extLst>
                      <a:ext uri="{FF2B5EF4-FFF2-40B4-BE49-F238E27FC236}">
                        <a16:creationId xmlns:a16="http://schemas.microsoft.com/office/drawing/2014/main" id="{7A0D0BE0-EDE0-ACDB-6331-4B150A5CE566}"/>
                      </a:ext>
                    </a:extLst>
                  </p:cNvPr>
                  <p:cNvSpPr/>
                  <p:nvPr/>
                </p:nvSpPr>
                <p:spPr>
                  <a:xfrm>
                    <a:off x="8436889" y="2340956"/>
                    <a:ext cx="327505" cy="146957"/>
                  </a:xfrm>
                  <a:custGeom>
                    <a:avLst/>
                    <a:gdLst/>
                    <a:ahLst/>
                    <a:cxnLst/>
                    <a:rect l="l" t="t" r="r" b="b"/>
                    <a:pathLst>
                      <a:path w="327505" h="146957" extrusionOk="0">
                        <a:moveTo>
                          <a:pt x="200199" y="46187"/>
                        </a:moveTo>
                        <a:lnTo>
                          <a:pt x="0" y="46187"/>
                        </a:lnTo>
                        <a:lnTo>
                          <a:pt x="0" y="100771"/>
                        </a:lnTo>
                        <a:lnTo>
                          <a:pt x="200199" y="100771"/>
                        </a:lnTo>
                        <a:lnTo>
                          <a:pt x="200199" y="146958"/>
                        </a:lnTo>
                        <a:lnTo>
                          <a:pt x="327506" y="73479"/>
                        </a:lnTo>
                        <a:lnTo>
                          <a:pt x="200199"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grpSp>
          </p:grpSp>
        </p:grpSp>
        <p:grpSp>
          <p:nvGrpSpPr>
            <p:cNvPr id="10419" name="s3">
              <a:extLst>
                <a:ext uri="{FF2B5EF4-FFF2-40B4-BE49-F238E27FC236}">
                  <a16:creationId xmlns:a16="http://schemas.microsoft.com/office/drawing/2014/main" id="{A1301899-8B47-578E-0E1C-BFEAAD151EA4}"/>
                </a:ext>
              </a:extLst>
            </p:cNvPr>
            <p:cNvGrpSpPr/>
            <p:nvPr/>
          </p:nvGrpSpPr>
          <p:grpSpPr>
            <a:xfrm>
              <a:off x="3667886" y="3714783"/>
              <a:ext cx="581934" cy="581932"/>
              <a:chOff x="4488927" y="3787183"/>
              <a:chExt cx="582086" cy="582084"/>
            </a:xfrm>
          </p:grpSpPr>
          <p:sp>
            <p:nvSpPr>
              <p:cNvPr id="10420" name="Google Shape;10356;p69">
                <a:extLst>
                  <a:ext uri="{FF2B5EF4-FFF2-40B4-BE49-F238E27FC236}">
                    <a16:creationId xmlns:a16="http://schemas.microsoft.com/office/drawing/2014/main" id="{23DE64A0-A79C-BB15-115D-90F05A85F9D2}"/>
                  </a:ext>
                </a:extLst>
              </p:cNvPr>
              <p:cNvSpPr/>
              <p:nvPr/>
            </p:nvSpPr>
            <p:spPr>
              <a:xfrm>
                <a:off x="4488927" y="3787183"/>
                <a:ext cx="582086" cy="582084"/>
              </a:xfrm>
              <a:prstGeom prst="ellipse">
                <a:avLst/>
              </a:prstGeom>
              <a:solidFill>
                <a:schemeClr val="lt1"/>
              </a:solidFill>
              <a:ln w="1905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nvGrpSpPr>
              <p:cNvPr id="10421" name="Google Shape;10357;p69">
                <a:extLst>
                  <a:ext uri="{FF2B5EF4-FFF2-40B4-BE49-F238E27FC236}">
                    <a16:creationId xmlns:a16="http://schemas.microsoft.com/office/drawing/2014/main" id="{EE6B31F5-3B8D-900B-39DF-E3BF08CBDF4B}"/>
                  </a:ext>
                </a:extLst>
              </p:cNvPr>
              <p:cNvGrpSpPr/>
              <p:nvPr/>
            </p:nvGrpSpPr>
            <p:grpSpPr>
              <a:xfrm>
                <a:off x="4593640" y="3963179"/>
                <a:ext cx="353116" cy="273695"/>
                <a:chOff x="5503033" y="1634472"/>
                <a:chExt cx="1152583" cy="893349"/>
              </a:xfrm>
            </p:grpSpPr>
            <p:sp>
              <p:nvSpPr>
                <p:cNvPr id="10422" name="Google Shape;10358;p69">
                  <a:extLst>
                    <a:ext uri="{FF2B5EF4-FFF2-40B4-BE49-F238E27FC236}">
                      <a16:creationId xmlns:a16="http://schemas.microsoft.com/office/drawing/2014/main" id="{7D440977-6FD3-59E6-5113-8CDBE9A0A941}"/>
                    </a:ext>
                  </a:extLst>
                </p:cNvPr>
                <p:cNvSpPr/>
                <p:nvPr/>
              </p:nvSpPr>
              <p:spPr>
                <a:xfrm>
                  <a:off x="5503033" y="1634472"/>
                  <a:ext cx="1150905" cy="653891"/>
                </a:xfrm>
                <a:custGeom>
                  <a:avLst/>
                  <a:gdLst/>
                  <a:ahLst/>
                  <a:cxnLst/>
                  <a:rect l="l" t="t" r="r" b="b"/>
                  <a:pathLst>
                    <a:path w="1150905" h="653891" extrusionOk="0">
                      <a:moveTo>
                        <a:pt x="566261" y="622840"/>
                      </a:moveTo>
                      <a:lnTo>
                        <a:pt x="246698" y="622840"/>
                      </a:lnTo>
                      <a:lnTo>
                        <a:pt x="246698" y="446151"/>
                      </a:lnTo>
                      <a:lnTo>
                        <a:pt x="587216" y="446151"/>
                      </a:lnTo>
                      <a:lnTo>
                        <a:pt x="587216" y="575215"/>
                      </a:lnTo>
                      <a:cubicBezTo>
                        <a:pt x="594074" y="561118"/>
                        <a:pt x="605219" y="538258"/>
                        <a:pt x="618173" y="511778"/>
                      </a:cubicBezTo>
                      <a:lnTo>
                        <a:pt x="618173" y="446151"/>
                      </a:lnTo>
                      <a:lnTo>
                        <a:pt x="650177" y="446151"/>
                      </a:lnTo>
                      <a:cubicBezTo>
                        <a:pt x="655320" y="435674"/>
                        <a:pt x="660273" y="425291"/>
                        <a:pt x="665226" y="415195"/>
                      </a:cubicBezTo>
                      <a:lnTo>
                        <a:pt x="499300" y="415195"/>
                      </a:lnTo>
                      <a:lnTo>
                        <a:pt x="499300" y="238601"/>
                      </a:lnTo>
                      <a:lnTo>
                        <a:pt x="839819" y="238601"/>
                      </a:lnTo>
                      <a:lnTo>
                        <a:pt x="839819" y="371285"/>
                      </a:lnTo>
                      <a:lnTo>
                        <a:pt x="870776" y="307086"/>
                      </a:lnTo>
                      <a:lnTo>
                        <a:pt x="870776" y="238506"/>
                      </a:lnTo>
                      <a:lnTo>
                        <a:pt x="903827" y="238506"/>
                      </a:lnTo>
                      <a:lnTo>
                        <a:pt x="918782" y="207550"/>
                      </a:lnTo>
                      <a:lnTo>
                        <a:pt x="689038" y="207550"/>
                      </a:lnTo>
                      <a:lnTo>
                        <a:pt x="689038" y="30956"/>
                      </a:lnTo>
                      <a:lnTo>
                        <a:pt x="1029557" y="30956"/>
                      </a:lnTo>
                      <a:lnTo>
                        <a:pt x="1029557" y="207645"/>
                      </a:lnTo>
                      <a:lnTo>
                        <a:pt x="1015270" y="207645"/>
                      </a:lnTo>
                      <a:lnTo>
                        <a:pt x="1025366" y="228505"/>
                      </a:lnTo>
                      <a:cubicBezTo>
                        <a:pt x="1026890" y="231743"/>
                        <a:pt x="1028605" y="235172"/>
                        <a:pt x="1030224" y="238601"/>
                      </a:cubicBezTo>
                      <a:lnTo>
                        <a:pt x="1119950" y="238601"/>
                      </a:lnTo>
                      <a:lnTo>
                        <a:pt x="1119950" y="415290"/>
                      </a:lnTo>
                      <a:lnTo>
                        <a:pt x="1116044" y="415290"/>
                      </a:lnTo>
                      <a:cubicBezTo>
                        <a:pt x="1129379" y="442722"/>
                        <a:pt x="1141571" y="467678"/>
                        <a:pt x="1150906" y="486728"/>
                      </a:cubicBezTo>
                      <a:lnTo>
                        <a:pt x="1150906" y="446246"/>
                      </a:lnTo>
                      <a:lnTo>
                        <a:pt x="1150906" y="415290"/>
                      </a:lnTo>
                      <a:lnTo>
                        <a:pt x="1150906" y="238601"/>
                      </a:lnTo>
                      <a:lnTo>
                        <a:pt x="1150906" y="207645"/>
                      </a:lnTo>
                      <a:lnTo>
                        <a:pt x="1150906" y="0"/>
                      </a:lnTo>
                      <a:lnTo>
                        <a:pt x="0" y="0"/>
                      </a:lnTo>
                      <a:lnTo>
                        <a:pt x="0" y="207645"/>
                      </a:lnTo>
                      <a:lnTo>
                        <a:pt x="0" y="238601"/>
                      </a:lnTo>
                      <a:lnTo>
                        <a:pt x="0" y="415290"/>
                      </a:lnTo>
                      <a:lnTo>
                        <a:pt x="0" y="446246"/>
                      </a:lnTo>
                      <a:lnTo>
                        <a:pt x="0" y="653891"/>
                      </a:lnTo>
                      <a:lnTo>
                        <a:pt x="557975" y="653891"/>
                      </a:lnTo>
                      <a:cubicBezTo>
                        <a:pt x="560070" y="643319"/>
                        <a:pt x="562832" y="632936"/>
                        <a:pt x="566261" y="622840"/>
                      </a:cubicBezTo>
                      <a:close/>
                      <a:moveTo>
                        <a:pt x="1060514" y="30956"/>
                      </a:moveTo>
                      <a:lnTo>
                        <a:pt x="1120045" y="30956"/>
                      </a:lnTo>
                      <a:lnTo>
                        <a:pt x="1120045" y="207645"/>
                      </a:lnTo>
                      <a:lnTo>
                        <a:pt x="1060514" y="207645"/>
                      </a:lnTo>
                      <a:lnTo>
                        <a:pt x="1060514" y="30956"/>
                      </a:lnTo>
                      <a:close/>
                      <a:moveTo>
                        <a:pt x="468344" y="415195"/>
                      </a:moveTo>
                      <a:lnTo>
                        <a:pt x="127826" y="415195"/>
                      </a:lnTo>
                      <a:lnTo>
                        <a:pt x="127826" y="238601"/>
                      </a:lnTo>
                      <a:lnTo>
                        <a:pt x="468344" y="238601"/>
                      </a:lnTo>
                      <a:lnTo>
                        <a:pt x="468344" y="415195"/>
                      </a:lnTo>
                      <a:close/>
                      <a:moveTo>
                        <a:pt x="317564" y="30956"/>
                      </a:moveTo>
                      <a:lnTo>
                        <a:pt x="658082" y="30956"/>
                      </a:lnTo>
                      <a:lnTo>
                        <a:pt x="658082" y="207645"/>
                      </a:lnTo>
                      <a:lnTo>
                        <a:pt x="317564" y="207645"/>
                      </a:lnTo>
                      <a:lnTo>
                        <a:pt x="317564" y="30956"/>
                      </a:lnTo>
                      <a:close/>
                      <a:moveTo>
                        <a:pt x="30956" y="30956"/>
                      </a:moveTo>
                      <a:lnTo>
                        <a:pt x="286607" y="30956"/>
                      </a:lnTo>
                      <a:lnTo>
                        <a:pt x="286607" y="207645"/>
                      </a:lnTo>
                      <a:lnTo>
                        <a:pt x="30956" y="207645"/>
                      </a:lnTo>
                      <a:lnTo>
                        <a:pt x="30956" y="30956"/>
                      </a:lnTo>
                      <a:close/>
                      <a:moveTo>
                        <a:pt x="30956" y="238601"/>
                      </a:moveTo>
                      <a:lnTo>
                        <a:pt x="96869" y="238601"/>
                      </a:lnTo>
                      <a:lnTo>
                        <a:pt x="96869" y="415290"/>
                      </a:lnTo>
                      <a:lnTo>
                        <a:pt x="30956" y="415290"/>
                      </a:lnTo>
                      <a:lnTo>
                        <a:pt x="30956" y="238601"/>
                      </a:lnTo>
                      <a:close/>
                      <a:moveTo>
                        <a:pt x="215741" y="622840"/>
                      </a:moveTo>
                      <a:lnTo>
                        <a:pt x="30956" y="622840"/>
                      </a:lnTo>
                      <a:lnTo>
                        <a:pt x="30956" y="446151"/>
                      </a:lnTo>
                      <a:lnTo>
                        <a:pt x="215741" y="446151"/>
                      </a:lnTo>
                      <a:lnTo>
                        <a:pt x="215741" y="62284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423" name="Google Shape;10359;p69">
                  <a:extLst>
                    <a:ext uri="{FF2B5EF4-FFF2-40B4-BE49-F238E27FC236}">
                      <a16:creationId xmlns:a16="http://schemas.microsoft.com/office/drawing/2014/main" id="{9702963C-F277-7DD4-3416-D2C779C372EB}"/>
                    </a:ext>
                  </a:extLst>
                </p:cNvPr>
                <p:cNvSpPr/>
                <p:nvPr/>
              </p:nvSpPr>
              <p:spPr>
                <a:xfrm>
                  <a:off x="6105272" y="1875835"/>
                  <a:ext cx="550344" cy="651986"/>
                </a:xfrm>
                <a:custGeom>
                  <a:avLst/>
                  <a:gdLst/>
                  <a:ahLst/>
                  <a:cxnLst/>
                  <a:rect l="l" t="t" r="r" b="b"/>
                  <a:pathLst>
                    <a:path w="550344" h="651986" extrusionOk="0">
                      <a:moveTo>
                        <a:pt x="364644" y="651986"/>
                      </a:moveTo>
                      <a:lnTo>
                        <a:pt x="150712" y="651986"/>
                      </a:lnTo>
                      <a:cubicBezTo>
                        <a:pt x="68988" y="651986"/>
                        <a:pt x="27" y="567023"/>
                        <a:pt x="27" y="466535"/>
                      </a:cubicBezTo>
                      <a:cubicBezTo>
                        <a:pt x="-545" y="430339"/>
                        <a:pt x="8123" y="394811"/>
                        <a:pt x="25077" y="364046"/>
                      </a:cubicBezTo>
                      <a:cubicBezTo>
                        <a:pt x="39270" y="334994"/>
                        <a:pt x="105564" y="198882"/>
                        <a:pt x="137568" y="133064"/>
                      </a:cubicBezTo>
                      <a:cubicBezTo>
                        <a:pt x="140139" y="127730"/>
                        <a:pt x="145569" y="124397"/>
                        <a:pt x="151474" y="124397"/>
                      </a:cubicBezTo>
                      <a:cubicBezTo>
                        <a:pt x="151474" y="124397"/>
                        <a:pt x="151474" y="124397"/>
                        <a:pt x="151569" y="124397"/>
                      </a:cubicBezTo>
                      <a:cubicBezTo>
                        <a:pt x="157475" y="124397"/>
                        <a:pt x="162809" y="127730"/>
                        <a:pt x="165476" y="133064"/>
                      </a:cubicBezTo>
                      <a:lnTo>
                        <a:pt x="225388" y="254508"/>
                      </a:lnTo>
                      <a:cubicBezTo>
                        <a:pt x="227198" y="258223"/>
                        <a:pt x="230532" y="258318"/>
                        <a:pt x="232341" y="254603"/>
                      </a:cubicBezTo>
                      <a:lnTo>
                        <a:pt x="350928" y="8763"/>
                      </a:lnTo>
                      <a:cubicBezTo>
                        <a:pt x="353499" y="3429"/>
                        <a:pt x="358929" y="0"/>
                        <a:pt x="364834" y="0"/>
                      </a:cubicBezTo>
                      <a:cubicBezTo>
                        <a:pt x="364834" y="0"/>
                        <a:pt x="364834" y="0"/>
                        <a:pt x="364834" y="0"/>
                      </a:cubicBezTo>
                      <a:cubicBezTo>
                        <a:pt x="370740" y="0"/>
                        <a:pt x="376169" y="3429"/>
                        <a:pt x="378741" y="8763"/>
                      </a:cubicBezTo>
                      <a:cubicBezTo>
                        <a:pt x="422937" y="99822"/>
                        <a:pt x="502280" y="263271"/>
                        <a:pt x="519901" y="298514"/>
                      </a:cubicBezTo>
                      <a:cubicBezTo>
                        <a:pt x="540666" y="336042"/>
                        <a:pt x="551238" y="379952"/>
                        <a:pt x="550286" y="424910"/>
                      </a:cubicBezTo>
                      <a:cubicBezTo>
                        <a:pt x="550286" y="549878"/>
                        <a:pt x="467037" y="651986"/>
                        <a:pt x="364644" y="651986"/>
                      </a:cubicBezTo>
                      <a:close/>
                      <a:moveTo>
                        <a:pt x="151665" y="175070"/>
                      </a:moveTo>
                      <a:cubicBezTo>
                        <a:pt x="117375" y="245650"/>
                        <a:pt x="65368" y="352520"/>
                        <a:pt x="52605" y="378333"/>
                      </a:cubicBezTo>
                      <a:cubicBezTo>
                        <a:pt x="37841" y="405098"/>
                        <a:pt x="30507" y="435293"/>
                        <a:pt x="30983" y="466249"/>
                      </a:cubicBezTo>
                      <a:cubicBezTo>
                        <a:pt x="30983" y="550259"/>
                        <a:pt x="85847" y="621030"/>
                        <a:pt x="150712" y="621030"/>
                      </a:cubicBezTo>
                      <a:lnTo>
                        <a:pt x="364644" y="621030"/>
                      </a:lnTo>
                      <a:cubicBezTo>
                        <a:pt x="449892" y="621030"/>
                        <a:pt x="519330" y="532829"/>
                        <a:pt x="519330" y="424434"/>
                      </a:cubicBezTo>
                      <a:cubicBezTo>
                        <a:pt x="520187" y="384524"/>
                        <a:pt x="510852" y="346043"/>
                        <a:pt x="492469" y="312706"/>
                      </a:cubicBezTo>
                      <a:cubicBezTo>
                        <a:pt x="476277" y="280321"/>
                        <a:pt x="410078" y="144209"/>
                        <a:pt x="364834" y="50864"/>
                      </a:cubicBezTo>
                      <a:lnTo>
                        <a:pt x="260154" y="268034"/>
                      </a:lnTo>
                      <a:cubicBezTo>
                        <a:pt x="253963" y="280702"/>
                        <a:pt x="242057" y="288512"/>
                        <a:pt x="228817" y="288512"/>
                      </a:cubicBezTo>
                      <a:cubicBezTo>
                        <a:pt x="215577" y="288512"/>
                        <a:pt x="203671" y="280702"/>
                        <a:pt x="197480" y="268129"/>
                      </a:cubicBezTo>
                      <a:lnTo>
                        <a:pt x="151665" y="17507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424" name="Google Shape;10360;p69">
                  <a:extLst>
                    <a:ext uri="{FF2B5EF4-FFF2-40B4-BE49-F238E27FC236}">
                      <a16:creationId xmlns:a16="http://schemas.microsoft.com/office/drawing/2014/main" id="{00257958-64DF-B27F-5A46-88DBEFCD8099}"/>
                    </a:ext>
                  </a:extLst>
                </p:cNvPr>
                <p:cNvSpPr/>
                <p:nvPr/>
              </p:nvSpPr>
              <p:spPr>
                <a:xfrm>
                  <a:off x="6229350" y="2164356"/>
                  <a:ext cx="302054" cy="301076"/>
                </a:xfrm>
                <a:custGeom>
                  <a:avLst/>
                  <a:gdLst/>
                  <a:ahLst/>
                  <a:cxnLst/>
                  <a:rect l="l" t="t" r="r" b="b"/>
                  <a:pathLst>
                    <a:path w="302054" h="301076" extrusionOk="0">
                      <a:moveTo>
                        <a:pt x="52066" y="301077"/>
                      </a:moveTo>
                      <a:cubicBezTo>
                        <a:pt x="49208" y="301077"/>
                        <a:pt x="46255" y="300315"/>
                        <a:pt x="43684" y="298600"/>
                      </a:cubicBezTo>
                      <a:cubicBezTo>
                        <a:pt x="-18610" y="258405"/>
                        <a:pt x="-2989" y="170299"/>
                        <a:pt x="21490" y="124198"/>
                      </a:cubicBezTo>
                      <a:cubicBezTo>
                        <a:pt x="24062" y="119435"/>
                        <a:pt x="28825" y="116292"/>
                        <a:pt x="34254" y="116006"/>
                      </a:cubicBezTo>
                      <a:cubicBezTo>
                        <a:pt x="39588" y="115720"/>
                        <a:pt x="44827" y="118197"/>
                        <a:pt x="47875" y="122578"/>
                      </a:cubicBezTo>
                      <a:cubicBezTo>
                        <a:pt x="57400" y="136199"/>
                        <a:pt x="90356" y="175061"/>
                        <a:pt x="115978" y="175537"/>
                      </a:cubicBezTo>
                      <a:cubicBezTo>
                        <a:pt x="116359" y="175537"/>
                        <a:pt x="116740" y="175537"/>
                        <a:pt x="117121" y="175537"/>
                      </a:cubicBezTo>
                      <a:cubicBezTo>
                        <a:pt x="158841" y="175537"/>
                        <a:pt x="184177" y="132294"/>
                        <a:pt x="210181" y="17137"/>
                      </a:cubicBezTo>
                      <a:lnTo>
                        <a:pt x="210276" y="15041"/>
                      </a:lnTo>
                      <a:cubicBezTo>
                        <a:pt x="210466" y="9231"/>
                        <a:pt x="213800" y="3992"/>
                        <a:pt x="219039" y="1516"/>
                      </a:cubicBezTo>
                      <a:cubicBezTo>
                        <a:pt x="224278" y="-961"/>
                        <a:pt x="230469" y="-389"/>
                        <a:pt x="235136" y="3135"/>
                      </a:cubicBezTo>
                      <a:cubicBezTo>
                        <a:pt x="294477" y="48379"/>
                        <a:pt x="336863" y="171727"/>
                        <a:pt x="261997" y="285551"/>
                      </a:cubicBezTo>
                      <a:cubicBezTo>
                        <a:pt x="257329" y="292695"/>
                        <a:pt x="247709" y="294695"/>
                        <a:pt x="240565" y="289933"/>
                      </a:cubicBezTo>
                      <a:cubicBezTo>
                        <a:pt x="233422" y="285265"/>
                        <a:pt x="231421" y="275645"/>
                        <a:pt x="236184" y="268501"/>
                      </a:cubicBezTo>
                      <a:cubicBezTo>
                        <a:pt x="295525" y="178300"/>
                        <a:pt x="269617" y="90384"/>
                        <a:pt x="235136" y="46569"/>
                      </a:cubicBezTo>
                      <a:cubicBezTo>
                        <a:pt x="210562" y="146772"/>
                        <a:pt x="180272" y="207256"/>
                        <a:pt x="115597" y="206398"/>
                      </a:cubicBezTo>
                      <a:cubicBezTo>
                        <a:pt x="85498" y="205827"/>
                        <a:pt x="57019" y="180586"/>
                        <a:pt x="39683" y="161250"/>
                      </a:cubicBezTo>
                      <a:cubicBezTo>
                        <a:pt x="27967" y="196683"/>
                        <a:pt x="23491" y="248499"/>
                        <a:pt x="60733" y="272502"/>
                      </a:cubicBezTo>
                      <a:cubicBezTo>
                        <a:pt x="67877" y="277169"/>
                        <a:pt x="69973" y="286694"/>
                        <a:pt x="65305" y="293933"/>
                      </a:cubicBezTo>
                      <a:cubicBezTo>
                        <a:pt x="62067" y="298505"/>
                        <a:pt x="57114" y="301077"/>
                        <a:pt x="52066" y="30107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grpSp>
        </p:grpSp>
        <p:grpSp>
          <p:nvGrpSpPr>
            <p:cNvPr id="10425" name="s1">
              <a:extLst>
                <a:ext uri="{FF2B5EF4-FFF2-40B4-BE49-F238E27FC236}">
                  <a16:creationId xmlns:a16="http://schemas.microsoft.com/office/drawing/2014/main" id="{1C16C8F8-65EB-EAA4-989A-B5EDFBAA4CED}"/>
                </a:ext>
              </a:extLst>
            </p:cNvPr>
            <p:cNvGrpSpPr/>
            <p:nvPr/>
          </p:nvGrpSpPr>
          <p:grpSpPr>
            <a:xfrm>
              <a:off x="2061166" y="3714783"/>
              <a:ext cx="581934" cy="581932"/>
              <a:chOff x="2736509" y="3787183"/>
              <a:chExt cx="582086" cy="582084"/>
            </a:xfrm>
          </p:grpSpPr>
          <p:sp>
            <p:nvSpPr>
              <p:cNvPr id="10426" name="Google Shape;10362;p69">
                <a:extLst>
                  <a:ext uri="{FF2B5EF4-FFF2-40B4-BE49-F238E27FC236}">
                    <a16:creationId xmlns:a16="http://schemas.microsoft.com/office/drawing/2014/main" id="{29021CAE-774F-3088-AC05-21D9BB6D4111}"/>
                  </a:ext>
                </a:extLst>
              </p:cNvPr>
              <p:cNvSpPr/>
              <p:nvPr/>
            </p:nvSpPr>
            <p:spPr>
              <a:xfrm>
                <a:off x="2736509" y="3787183"/>
                <a:ext cx="582086" cy="582084"/>
              </a:xfrm>
              <a:prstGeom prst="ellipse">
                <a:avLst/>
              </a:prstGeom>
              <a:solidFill>
                <a:schemeClr val="lt1"/>
              </a:solidFill>
              <a:ln w="1905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nvGrpSpPr>
              <p:cNvPr id="10427" name="Google Shape;10363;p69">
                <a:extLst>
                  <a:ext uri="{FF2B5EF4-FFF2-40B4-BE49-F238E27FC236}">
                    <a16:creationId xmlns:a16="http://schemas.microsoft.com/office/drawing/2014/main" id="{71F9BFFF-B917-4094-5D7A-6BA3C553563E}"/>
                  </a:ext>
                </a:extLst>
              </p:cNvPr>
              <p:cNvGrpSpPr/>
              <p:nvPr/>
            </p:nvGrpSpPr>
            <p:grpSpPr>
              <a:xfrm>
                <a:off x="2860020" y="3912579"/>
                <a:ext cx="333713" cy="333711"/>
                <a:chOff x="1008670" y="1522211"/>
                <a:chExt cx="1053587" cy="1053587"/>
              </a:xfrm>
            </p:grpSpPr>
            <p:sp>
              <p:nvSpPr>
                <p:cNvPr id="10428" name="Google Shape;10364;p69">
                  <a:extLst>
                    <a:ext uri="{FF2B5EF4-FFF2-40B4-BE49-F238E27FC236}">
                      <a16:creationId xmlns:a16="http://schemas.microsoft.com/office/drawing/2014/main" id="{CB806D46-1121-481C-9A8E-56FF0582AE14}"/>
                    </a:ext>
                  </a:extLst>
                </p:cNvPr>
                <p:cNvSpPr/>
                <p:nvPr/>
              </p:nvSpPr>
              <p:spPr>
                <a:xfrm>
                  <a:off x="1008670" y="1522211"/>
                  <a:ext cx="1053587" cy="1053587"/>
                </a:xfrm>
                <a:custGeom>
                  <a:avLst/>
                  <a:gdLst/>
                  <a:ahLst/>
                  <a:cxnLst/>
                  <a:rect l="l" t="t" r="r" b="b"/>
                  <a:pathLst>
                    <a:path w="1053587" h="1053587" extrusionOk="0">
                      <a:moveTo>
                        <a:pt x="1025862" y="27726"/>
                      </a:moveTo>
                      <a:lnTo>
                        <a:pt x="1025862" y="1025862"/>
                      </a:lnTo>
                      <a:lnTo>
                        <a:pt x="27726" y="1025862"/>
                      </a:lnTo>
                      <a:lnTo>
                        <a:pt x="27726" y="27726"/>
                      </a:lnTo>
                      <a:lnTo>
                        <a:pt x="1025862" y="27726"/>
                      </a:lnTo>
                      <a:moveTo>
                        <a:pt x="1053588" y="0"/>
                      </a:moveTo>
                      <a:lnTo>
                        <a:pt x="0" y="0"/>
                      </a:lnTo>
                      <a:lnTo>
                        <a:pt x="0" y="1053588"/>
                      </a:lnTo>
                      <a:lnTo>
                        <a:pt x="1053588" y="1053588"/>
                      </a:lnTo>
                      <a:lnTo>
                        <a:pt x="1053588" y="0"/>
                      </a:lnTo>
                      <a:lnTo>
                        <a:pt x="1053588"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grpSp>
              <p:nvGrpSpPr>
                <p:cNvPr id="10429" name="Google Shape;10365;p69">
                  <a:extLst>
                    <a:ext uri="{FF2B5EF4-FFF2-40B4-BE49-F238E27FC236}">
                      <a16:creationId xmlns:a16="http://schemas.microsoft.com/office/drawing/2014/main" id="{B512087D-8AEC-54F7-C638-256E919A4393}"/>
                    </a:ext>
                  </a:extLst>
                </p:cNvPr>
                <p:cNvGrpSpPr/>
                <p:nvPr/>
              </p:nvGrpSpPr>
              <p:grpSpPr>
                <a:xfrm>
                  <a:off x="1173746" y="1654527"/>
                  <a:ext cx="720875" cy="814803"/>
                  <a:chOff x="1173746" y="1654527"/>
                  <a:chExt cx="720875" cy="814803"/>
                </a:xfrm>
              </p:grpSpPr>
              <p:sp>
                <p:nvSpPr>
                  <p:cNvPr id="10430" name="Google Shape;10366;p69">
                    <a:extLst>
                      <a:ext uri="{FF2B5EF4-FFF2-40B4-BE49-F238E27FC236}">
                        <a16:creationId xmlns:a16="http://schemas.microsoft.com/office/drawing/2014/main" id="{6FD752ED-E92E-DAA4-5F9F-7663E9157A83}"/>
                      </a:ext>
                    </a:extLst>
                  </p:cNvPr>
                  <p:cNvSpPr/>
                  <p:nvPr/>
                </p:nvSpPr>
                <p:spPr>
                  <a:xfrm>
                    <a:off x="1173746" y="1654527"/>
                    <a:ext cx="720875" cy="149379"/>
                  </a:xfrm>
                  <a:custGeom>
                    <a:avLst/>
                    <a:gdLst/>
                    <a:ahLst/>
                    <a:cxnLst/>
                    <a:rect l="l" t="t" r="r" b="b"/>
                    <a:pathLst>
                      <a:path w="720875" h="149379" extrusionOk="0">
                        <a:moveTo>
                          <a:pt x="591545" y="149379"/>
                        </a:moveTo>
                        <a:lnTo>
                          <a:pt x="720876" y="74732"/>
                        </a:lnTo>
                        <a:lnTo>
                          <a:pt x="591545" y="0"/>
                        </a:lnTo>
                        <a:lnTo>
                          <a:pt x="591545" y="47006"/>
                        </a:lnTo>
                        <a:lnTo>
                          <a:pt x="0" y="47006"/>
                        </a:lnTo>
                        <a:lnTo>
                          <a:pt x="0" y="102458"/>
                        </a:lnTo>
                        <a:lnTo>
                          <a:pt x="591545" y="10245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431" name="Google Shape;10367;p69">
                    <a:extLst>
                      <a:ext uri="{FF2B5EF4-FFF2-40B4-BE49-F238E27FC236}">
                        <a16:creationId xmlns:a16="http://schemas.microsoft.com/office/drawing/2014/main" id="{12FEFC14-31A5-A807-3607-26D50F712F28}"/>
                      </a:ext>
                    </a:extLst>
                  </p:cNvPr>
                  <p:cNvSpPr/>
                  <p:nvPr/>
                </p:nvSpPr>
                <p:spPr>
                  <a:xfrm>
                    <a:off x="1173746" y="2319951"/>
                    <a:ext cx="720875" cy="149379"/>
                  </a:xfrm>
                  <a:custGeom>
                    <a:avLst/>
                    <a:gdLst/>
                    <a:ahLst/>
                    <a:cxnLst/>
                    <a:rect l="l" t="t" r="r" b="b"/>
                    <a:pathLst>
                      <a:path w="720875" h="149379" extrusionOk="0">
                        <a:moveTo>
                          <a:pt x="129246" y="0"/>
                        </a:moveTo>
                        <a:lnTo>
                          <a:pt x="0" y="74732"/>
                        </a:lnTo>
                        <a:lnTo>
                          <a:pt x="129246" y="149379"/>
                        </a:lnTo>
                        <a:lnTo>
                          <a:pt x="129246" y="102458"/>
                        </a:lnTo>
                        <a:lnTo>
                          <a:pt x="720876" y="102458"/>
                        </a:lnTo>
                        <a:lnTo>
                          <a:pt x="720876" y="47006"/>
                        </a:lnTo>
                        <a:lnTo>
                          <a:pt x="129246" y="4700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240" name="Google Shape;10368;p69">
                    <a:extLst>
                      <a:ext uri="{FF2B5EF4-FFF2-40B4-BE49-F238E27FC236}">
                        <a16:creationId xmlns:a16="http://schemas.microsoft.com/office/drawing/2014/main" id="{8F6A0E50-79A7-7853-6C63-B5E58C7D2DBE}"/>
                      </a:ext>
                    </a:extLst>
                  </p:cNvPr>
                  <p:cNvSpPr/>
                  <p:nvPr/>
                </p:nvSpPr>
                <p:spPr>
                  <a:xfrm>
                    <a:off x="1173746" y="2098143"/>
                    <a:ext cx="720875" cy="149379"/>
                  </a:xfrm>
                  <a:custGeom>
                    <a:avLst/>
                    <a:gdLst/>
                    <a:ahLst/>
                    <a:cxnLst/>
                    <a:rect l="l" t="t" r="r" b="b"/>
                    <a:pathLst>
                      <a:path w="720875" h="149379" extrusionOk="0">
                        <a:moveTo>
                          <a:pt x="591545" y="47006"/>
                        </a:moveTo>
                        <a:lnTo>
                          <a:pt x="0" y="47006"/>
                        </a:lnTo>
                        <a:lnTo>
                          <a:pt x="0" y="102458"/>
                        </a:lnTo>
                        <a:lnTo>
                          <a:pt x="591545" y="102458"/>
                        </a:lnTo>
                        <a:lnTo>
                          <a:pt x="591545" y="149379"/>
                        </a:lnTo>
                        <a:lnTo>
                          <a:pt x="720876" y="74732"/>
                        </a:lnTo>
                        <a:lnTo>
                          <a:pt x="591545"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241" name="Google Shape;10369;p69">
                    <a:extLst>
                      <a:ext uri="{FF2B5EF4-FFF2-40B4-BE49-F238E27FC236}">
                        <a16:creationId xmlns:a16="http://schemas.microsoft.com/office/drawing/2014/main" id="{989D77B4-E3BA-FEBC-FEEE-FAF9BA26F313}"/>
                      </a:ext>
                    </a:extLst>
                  </p:cNvPr>
                  <p:cNvSpPr/>
                  <p:nvPr/>
                </p:nvSpPr>
                <p:spPr>
                  <a:xfrm>
                    <a:off x="1173746" y="1876335"/>
                    <a:ext cx="720875" cy="149379"/>
                  </a:xfrm>
                  <a:custGeom>
                    <a:avLst/>
                    <a:gdLst/>
                    <a:ahLst/>
                    <a:cxnLst/>
                    <a:rect l="l" t="t" r="r" b="b"/>
                    <a:pathLst>
                      <a:path w="720875" h="149379" extrusionOk="0">
                        <a:moveTo>
                          <a:pt x="0" y="74732"/>
                        </a:moveTo>
                        <a:lnTo>
                          <a:pt x="129246" y="149379"/>
                        </a:lnTo>
                        <a:lnTo>
                          <a:pt x="129246" y="102458"/>
                        </a:lnTo>
                        <a:lnTo>
                          <a:pt x="720876" y="102458"/>
                        </a:lnTo>
                        <a:lnTo>
                          <a:pt x="720876" y="47006"/>
                        </a:lnTo>
                        <a:lnTo>
                          <a:pt x="129246" y="47006"/>
                        </a:lnTo>
                        <a:lnTo>
                          <a:pt x="12924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grpSp>
          </p:grpSp>
        </p:grpSp>
        <p:grpSp>
          <p:nvGrpSpPr>
            <p:cNvPr id="10242" name="s2">
              <a:extLst>
                <a:ext uri="{FF2B5EF4-FFF2-40B4-BE49-F238E27FC236}">
                  <a16:creationId xmlns:a16="http://schemas.microsoft.com/office/drawing/2014/main" id="{CA10CD1C-5547-D884-8FC8-F4029A451CFA}"/>
                </a:ext>
              </a:extLst>
            </p:cNvPr>
            <p:cNvGrpSpPr/>
            <p:nvPr/>
          </p:nvGrpSpPr>
          <p:grpSpPr>
            <a:xfrm>
              <a:off x="2864526" y="3714783"/>
              <a:ext cx="581934" cy="581932"/>
              <a:chOff x="3612718" y="3787183"/>
              <a:chExt cx="582086" cy="582084"/>
            </a:xfrm>
          </p:grpSpPr>
          <p:sp>
            <p:nvSpPr>
              <p:cNvPr id="10243" name="Google Shape;10371;p69">
                <a:extLst>
                  <a:ext uri="{FF2B5EF4-FFF2-40B4-BE49-F238E27FC236}">
                    <a16:creationId xmlns:a16="http://schemas.microsoft.com/office/drawing/2014/main" id="{4BCCB7D7-C963-D53D-E501-E51E241006CD}"/>
                  </a:ext>
                </a:extLst>
              </p:cNvPr>
              <p:cNvSpPr/>
              <p:nvPr/>
            </p:nvSpPr>
            <p:spPr>
              <a:xfrm>
                <a:off x="3612718" y="3787183"/>
                <a:ext cx="582086" cy="582084"/>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nvGrpSpPr>
              <p:cNvPr id="10244" name="Google Shape;10372;p69">
                <a:extLst>
                  <a:ext uri="{FF2B5EF4-FFF2-40B4-BE49-F238E27FC236}">
                    <a16:creationId xmlns:a16="http://schemas.microsoft.com/office/drawing/2014/main" id="{BDAB2D75-A1C1-AF2C-0441-7F7C2D420763}"/>
                  </a:ext>
                </a:extLst>
              </p:cNvPr>
              <p:cNvGrpSpPr/>
              <p:nvPr/>
            </p:nvGrpSpPr>
            <p:grpSpPr>
              <a:xfrm>
                <a:off x="3710232" y="3877011"/>
                <a:ext cx="393228" cy="393228"/>
                <a:chOff x="3215733" y="1508956"/>
                <a:chExt cx="1141759" cy="1141759"/>
              </a:xfrm>
            </p:grpSpPr>
            <p:sp>
              <p:nvSpPr>
                <p:cNvPr id="10245" name="Google Shape;10373;p69">
                  <a:extLst>
                    <a:ext uri="{FF2B5EF4-FFF2-40B4-BE49-F238E27FC236}">
                      <a16:creationId xmlns:a16="http://schemas.microsoft.com/office/drawing/2014/main" id="{59B77778-80AF-6FB7-8673-2B68A8079A72}"/>
                    </a:ext>
                  </a:extLst>
                </p:cNvPr>
                <p:cNvSpPr/>
                <p:nvPr/>
              </p:nvSpPr>
              <p:spPr>
                <a:xfrm>
                  <a:off x="3215733" y="1508956"/>
                  <a:ext cx="1141759" cy="1141759"/>
                </a:xfrm>
                <a:custGeom>
                  <a:avLst/>
                  <a:gdLst/>
                  <a:ahLst/>
                  <a:cxnLst/>
                  <a:rect l="l" t="t" r="r" b="b"/>
                  <a:pathLst>
                    <a:path w="1141759" h="1141759" extrusionOk="0">
                      <a:moveTo>
                        <a:pt x="570880" y="30046"/>
                      </a:moveTo>
                      <a:cubicBezTo>
                        <a:pt x="869124" y="30046"/>
                        <a:pt x="1111713" y="272636"/>
                        <a:pt x="1111713" y="570880"/>
                      </a:cubicBezTo>
                      <a:cubicBezTo>
                        <a:pt x="1111713" y="869124"/>
                        <a:pt x="869124" y="1111713"/>
                        <a:pt x="570880" y="1111713"/>
                      </a:cubicBezTo>
                      <a:cubicBezTo>
                        <a:pt x="272636" y="1111713"/>
                        <a:pt x="30046" y="869124"/>
                        <a:pt x="30046" y="570880"/>
                      </a:cubicBezTo>
                      <a:cubicBezTo>
                        <a:pt x="30046" y="272636"/>
                        <a:pt x="272636" y="30046"/>
                        <a:pt x="570880" y="30046"/>
                      </a:cubicBezTo>
                      <a:moveTo>
                        <a:pt x="570880" y="0"/>
                      </a:moveTo>
                      <a:cubicBezTo>
                        <a:pt x="255625" y="0"/>
                        <a:pt x="0" y="255625"/>
                        <a:pt x="0" y="570880"/>
                      </a:cubicBezTo>
                      <a:cubicBezTo>
                        <a:pt x="0" y="886135"/>
                        <a:pt x="255625" y="1141760"/>
                        <a:pt x="570880" y="1141760"/>
                      </a:cubicBezTo>
                      <a:cubicBezTo>
                        <a:pt x="886135" y="1141760"/>
                        <a:pt x="1141760" y="886135"/>
                        <a:pt x="1141760" y="570880"/>
                      </a:cubicBezTo>
                      <a:cubicBezTo>
                        <a:pt x="1141760" y="255625"/>
                        <a:pt x="886135" y="0"/>
                        <a:pt x="570880" y="0"/>
                      </a:cubicBezTo>
                      <a:lnTo>
                        <a:pt x="57088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grpSp>
              <p:nvGrpSpPr>
                <p:cNvPr id="10246" name="Google Shape;10374;p69">
                  <a:extLst>
                    <a:ext uri="{FF2B5EF4-FFF2-40B4-BE49-F238E27FC236}">
                      <a16:creationId xmlns:a16="http://schemas.microsoft.com/office/drawing/2014/main" id="{3AAF6988-2DB8-6ADA-0EFA-5E9DF474057C}"/>
                    </a:ext>
                  </a:extLst>
                </p:cNvPr>
                <p:cNvGrpSpPr/>
                <p:nvPr/>
              </p:nvGrpSpPr>
              <p:grpSpPr>
                <a:xfrm>
                  <a:off x="3332774" y="1635612"/>
                  <a:ext cx="907675" cy="888446"/>
                  <a:chOff x="3332774" y="1635612"/>
                  <a:chExt cx="907675" cy="888446"/>
                </a:xfrm>
              </p:grpSpPr>
              <p:sp>
                <p:nvSpPr>
                  <p:cNvPr id="10247" name="Google Shape;10375;p69">
                    <a:extLst>
                      <a:ext uri="{FF2B5EF4-FFF2-40B4-BE49-F238E27FC236}">
                        <a16:creationId xmlns:a16="http://schemas.microsoft.com/office/drawing/2014/main" id="{E6CC0665-F361-C8CC-B4F2-4F9B10D82B9F}"/>
                      </a:ext>
                    </a:extLst>
                  </p:cNvPr>
                  <p:cNvSpPr/>
                  <p:nvPr/>
                </p:nvSpPr>
                <p:spPr>
                  <a:xfrm>
                    <a:off x="3332774" y="1998941"/>
                    <a:ext cx="360555" cy="161787"/>
                  </a:xfrm>
                  <a:custGeom>
                    <a:avLst/>
                    <a:gdLst/>
                    <a:ahLst/>
                    <a:cxnLst/>
                    <a:rect l="l" t="t" r="r" b="b"/>
                    <a:pathLst>
                      <a:path w="360555" h="161787" extrusionOk="0">
                        <a:moveTo>
                          <a:pt x="220494" y="50848"/>
                        </a:moveTo>
                        <a:lnTo>
                          <a:pt x="0" y="50848"/>
                        </a:lnTo>
                        <a:lnTo>
                          <a:pt x="0" y="110940"/>
                        </a:lnTo>
                        <a:lnTo>
                          <a:pt x="220494" y="110940"/>
                        </a:lnTo>
                        <a:lnTo>
                          <a:pt x="220494" y="161788"/>
                        </a:lnTo>
                        <a:lnTo>
                          <a:pt x="360556" y="80894"/>
                        </a:lnTo>
                        <a:lnTo>
                          <a:pt x="220494"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248" name="Google Shape;10376;p69">
                    <a:extLst>
                      <a:ext uri="{FF2B5EF4-FFF2-40B4-BE49-F238E27FC236}">
                        <a16:creationId xmlns:a16="http://schemas.microsoft.com/office/drawing/2014/main" id="{4CBC6A9D-4537-AB9B-911A-DD56CE5F782C}"/>
                      </a:ext>
                    </a:extLst>
                  </p:cNvPr>
                  <p:cNvSpPr/>
                  <p:nvPr/>
                </p:nvSpPr>
                <p:spPr>
                  <a:xfrm>
                    <a:off x="3879894" y="1998941"/>
                    <a:ext cx="360555" cy="161787"/>
                  </a:xfrm>
                  <a:custGeom>
                    <a:avLst/>
                    <a:gdLst/>
                    <a:ahLst/>
                    <a:cxnLst/>
                    <a:rect l="l" t="t" r="r" b="b"/>
                    <a:pathLst>
                      <a:path w="360555" h="161787" extrusionOk="0">
                        <a:moveTo>
                          <a:pt x="360556" y="50848"/>
                        </a:moveTo>
                        <a:lnTo>
                          <a:pt x="140062" y="50848"/>
                        </a:lnTo>
                        <a:lnTo>
                          <a:pt x="140062" y="0"/>
                        </a:lnTo>
                        <a:lnTo>
                          <a:pt x="0" y="80894"/>
                        </a:lnTo>
                        <a:lnTo>
                          <a:pt x="140062" y="161788"/>
                        </a:lnTo>
                        <a:lnTo>
                          <a:pt x="140062" y="110940"/>
                        </a:lnTo>
                        <a:lnTo>
                          <a:pt x="360556" y="11094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249" name="Google Shape;10377;p69">
                    <a:extLst>
                      <a:ext uri="{FF2B5EF4-FFF2-40B4-BE49-F238E27FC236}">
                        <a16:creationId xmlns:a16="http://schemas.microsoft.com/office/drawing/2014/main" id="{A88754E3-D72E-B397-051E-C559687F2B87}"/>
                      </a:ext>
                    </a:extLst>
                  </p:cNvPr>
                  <p:cNvSpPr/>
                  <p:nvPr/>
                </p:nvSpPr>
                <p:spPr>
                  <a:xfrm>
                    <a:off x="3705718" y="1635612"/>
                    <a:ext cx="161787" cy="360555"/>
                  </a:xfrm>
                  <a:custGeom>
                    <a:avLst/>
                    <a:gdLst/>
                    <a:ahLst/>
                    <a:cxnLst/>
                    <a:rect l="l" t="t" r="r" b="b"/>
                    <a:pathLst>
                      <a:path w="161787" h="360555" extrusionOk="0">
                        <a:moveTo>
                          <a:pt x="0" y="140062"/>
                        </a:moveTo>
                        <a:lnTo>
                          <a:pt x="50848" y="140062"/>
                        </a:lnTo>
                        <a:lnTo>
                          <a:pt x="50848" y="360556"/>
                        </a:lnTo>
                        <a:lnTo>
                          <a:pt x="110940" y="360556"/>
                        </a:lnTo>
                        <a:lnTo>
                          <a:pt x="110940" y="140062"/>
                        </a:lnTo>
                        <a:lnTo>
                          <a:pt x="161788" y="140062"/>
                        </a:lnTo>
                        <a:lnTo>
                          <a:pt x="80894"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sp>
                <p:nvSpPr>
                  <p:cNvPr id="10250" name="Google Shape;10378;p69">
                    <a:extLst>
                      <a:ext uri="{FF2B5EF4-FFF2-40B4-BE49-F238E27FC236}">
                        <a16:creationId xmlns:a16="http://schemas.microsoft.com/office/drawing/2014/main" id="{B231BA62-F915-3D28-7798-920676056E54}"/>
                      </a:ext>
                    </a:extLst>
                  </p:cNvPr>
                  <p:cNvSpPr/>
                  <p:nvPr/>
                </p:nvSpPr>
                <p:spPr>
                  <a:xfrm>
                    <a:off x="3705718" y="2163503"/>
                    <a:ext cx="161787" cy="360555"/>
                  </a:xfrm>
                  <a:custGeom>
                    <a:avLst/>
                    <a:gdLst/>
                    <a:ahLst/>
                    <a:cxnLst/>
                    <a:rect l="l" t="t" r="r" b="b"/>
                    <a:pathLst>
                      <a:path w="161787" h="360555" extrusionOk="0">
                        <a:moveTo>
                          <a:pt x="110940" y="0"/>
                        </a:moveTo>
                        <a:lnTo>
                          <a:pt x="50848" y="0"/>
                        </a:lnTo>
                        <a:lnTo>
                          <a:pt x="50848" y="220494"/>
                        </a:lnTo>
                        <a:lnTo>
                          <a:pt x="0" y="220494"/>
                        </a:lnTo>
                        <a:lnTo>
                          <a:pt x="80894" y="360556"/>
                        </a:lnTo>
                        <a:lnTo>
                          <a:pt x="161788" y="220494"/>
                        </a:lnTo>
                        <a:lnTo>
                          <a:pt x="110940" y="22049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717074"/>
                      </a:solidFill>
                      <a:effectLst/>
                      <a:uLnTx/>
                      <a:uFillTx/>
                      <a:latin typeface="Arial" panose="020B0604020202020204"/>
                      <a:ea typeface="Arial"/>
                      <a:cs typeface="Arial"/>
                      <a:sym typeface="Arial"/>
                    </a:endParaRPr>
                  </a:p>
                </p:txBody>
              </p:sp>
            </p:grpSp>
          </p:grpSp>
        </p:grpSp>
        <p:sp>
          <p:nvSpPr>
            <p:cNvPr id="10251" name="Google Shape;10356;p69">
              <a:extLst>
                <a:ext uri="{FF2B5EF4-FFF2-40B4-BE49-F238E27FC236}">
                  <a16:creationId xmlns:a16="http://schemas.microsoft.com/office/drawing/2014/main" id="{BC203A3C-E7B0-34E3-60D5-6842BA94FB47}"/>
                </a:ext>
              </a:extLst>
            </p:cNvPr>
            <p:cNvSpPr/>
            <p:nvPr/>
          </p:nvSpPr>
          <p:spPr>
            <a:xfrm>
              <a:off x="5273166" y="3714783"/>
              <a:ext cx="581934" cy="581932"/>
            </a:xfrm>
            <a:prstGeom prst="ellipse">
              <a:avLst/>
            </a:prstGeom>
            <a:solidFill>
              <a:schemeClr val="lt1"/>
            </a:solidFill>
            <a:ln w="1905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0252" name="Google Shape;10341;p69">
              <a:extLst>
                <a:ext uri="{FF2B5EF4-FFF2-40B4-BE49-F238E27FC236}">
                  <a16:creationId xmlns:a16="http://schemas.microsoft.com/office/drawing/2014/main" id="{313EA2F3-1E3B-5849-4C95-416F36822287}"/>
                </a:ext>
              </a:extLst>
            </p:cNvPr>
            <p:cNvSpPr/>
            <p:nvPr/>
          </p:nvSpPr>
          <p:spPr>
            <a:xfrm>
              <a:off x="6076526" y="3714783"/>
              <a:ext cx="581934" cy="581932"/>
            </a:xfrm>
            <a:prstGeom prst="ellipse">
              <a:avLst/>
            </a:prstGeom>
            <a:solidFill>
              <a:schemeClr val="lt1"/>
            </a:solidFill>
            <a:ln w="1905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pic>
          <p:nvPicPr>
            <p:cNvPr id="3" name="Graphic 2">
              <a:extLst>
                <a:ext uri="{FF2B5EF4-FFF2-40B4-BE49-F238E27FC236}">
                  <a16:creationId xmlns:a16="http://schemas.microsoft.com/office/drawing/2014/main" id="{16DDD572-099D-97FA-D38B-AEFA5EE948C4}"/>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5398546" y="3826218"/>
              <a:ext cx="332613" cy="357251"/>
            </a:xfrm>
            <a:prstGeom prst="rect">
              <a:avLst/>
            </a:prstGeom>
          </p:spPr>
        </p:pic>
        <p:pic>
          <p:nvPicPr>
            <p:cNvPr id="4" name="Graphic 3">
              <a:extLst>
                <a:ext uri="{FF2B5EF4-FFF2-40B4-BE49-F238E27FC236}">
                  <a16:creationId xmlns:a16="http://schemas.microsoft.com/office/drawing/2014/main" id="{B2A090A2-F883-1A28-DD80-2ADBDCDB8D19}"/>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6209676" y="3827379"/>
              <a:ext cx="332613" cy="357251"/>
            </a:xfrm>
            <a:prstGeom prst="rect">
              <a:avLst/>
            </a:prstGeom>
          </p:spPr>
        </p:pic>
      </p:grpSp>
    </p:spTree>
    <p:extLst>
      <p:ext uri="{BB962C8B-B14F-4D97-AF65-F5344CB8AC3E}">
        <p14:creationId xmlns:p14="http://schemas.microsoft.com/office/powerpoint/2010/main" val="1015516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E0CC5-62E1-B5FD-93A3-4EB037421657}"/>
            </a:ext>
          </a:extLst>
        </p:cNvPr>
        <p:cNvGrpSpPr/>
        <p:nvPr/>
      </p:nvGrpSpPr>
      <p:grpSpPr>
        <a:xfrm>
          <a:off x="0" y="0"/>
          <a:ext cx="0" cy="0"/>
          <a:chOff x="0" y="0"/>
          <a:chExt cx="0" cy="0"/>
        </a:xfrm>
      </p:grpSpPr>
      <p:grpSp>
        <p:nvGrpSpPr>
          <p:cNvPr id="102" name="g1">
            <a:extLst>
              <a:ext uri="{FF2B5EF4-FFF2-40B4-BE49-F238E27FC236}">
                <a16:creationId xmlns:a16="http://schemas.microsoft.com/office/drawing/2014/main" id="{1D1F1B08-1080-239F-81AE-B2EEC516A092}"/>
              </a:ext>
            </a:extLst>
          </p:cNvPr>
          <p:cNvGrpSpPr/>
          <p:nvPr/>
        </p:nvGrpSpPr>
        <p:grpSpPr>
          <a:xfrm>
            <a:off x="6801707" y="2159776"/>
            <a:ext cx="3030663" cy="457200"/>
            <a:chOff x="6801707" y="2190938"/>
            <a:chExt cx="3030663" cy="457200"/>
          </a:xfrm>
        </p:grpSpPr>
        <p:sp>
          <p:nvSpPr>
            <p:cNvPr id="97" name="Freeform: Shape 24">
              <a:extLst>
                <a:ext uri="{FF2B5EF4-FFF2-40B4-BE49-F238E27FC236}">
                  <a16:creationId xmlns:a16="http://schemas.microsoft.com/office/drawing/2014/main" id="{14D91B66-574C-CABD-D936-91B18A131E9A}"/>
                </a:ext>
              </a:extLst>
            </p:cNvPr>
            <p:cNvSpPr/>
            <p:nvPr/>
          </p:nvSpPr>
          <p:spPr>
            <a:xfrm flipH="1">
              <a:off x="6801707" y="2190938"/>
              <a:ext cx="3030663" cy="457200"/>
            </a:xfrm>
            <a:custGeom>
              <a:avLst/>
              <a:gdLst>
                <a:gd name="connsiteX0" fmla="*/ 0 w 3030663"/>
                <a:gd name="connsiteY0" fmla="*/ 0 h 457200"/>
                <a:gd name="connsiteX1" fmla="*/ 2520956 w 3030663"/>
                <a:gd name="connsiteY1" fmla="*/ 0 h 457200"/>
                <a:gd name="connsiteX2" fmla="*/ 2539224 w 3030663"/>
                <a:gd name="connsiteY2" fmla="*/ 0 h 457200"/>
                <a:gd name="connsiteX3" fmla="*/ 2856223 w 3030663"/>
                <a:gd name="connsiteY3" fmla="*/ 0 h 457200"/>
                <a:gd name="connsiteX4" fmla="*/ 2886476 w 3030663"/>
                <a:gd name="connsiteY4" fmla="*/ 15527 h 457200"/>
                <a:gd name="connsiteX5" fmla="*/ 3023732 w 3030663"/>
                <a:gd name="connsiteY5" fmla="*/ 207028 h 457200"/>
                <a:gd name="connsiteX6" fmla="*/ 3023732 w 3030663"/>
                <a:gd name="connsiteY6" fmla="*/ 250171 h 457200"/>
                <a:gd name="connsiteX7" fmla="*/ 2886476 w 3030663"/>
                <a:gd name="connsiteY7" fmla="*/ 441673 h 457200"/>
                <a:gd name="connsiteX8" fmla="*/ 2856223 w 3030663"/>
                <a:gd name="connsiteY8" fmla="*/ 457200 h 457200"/>
                <a:gd name="connsiteX9" fmla="*/ 2539224 w 3030663"/>
                <a:gd name="connsiteY9" fmla="*/ 457200 h 457200"/>
                <a:gd name="connsiteX10" fmla="*/ 2520956 w 3030663"/>
                <a:gd name="connsiteY10" fmla="*/ 457200 h 457200"/>
                <a:gd name="connsiteX11" fmla="*/ 0 w 3030663"/>
                <a:gd name="connsiteY11"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30663" h="457200">
                  <a:moveTo>
                    <a:pt x="0" y="0"/>
                  </a:moveTo>
                  <a:lnTo>
                    <a:pt x="2520956" y="0"/>
                  </a:lnTo>
                  <a:lnTo>
                    <a:pt x="2539224" y="0"/>
                  </a:lnTo>
                  <a:lnTo>
                    <a:pt x="2856223" y="0"/>
                  </a:lnTo>
                  <a:cubicBezTo>
                    <a:pt x="2868239" y="0"/>
                    <a:pt x="2879509" y="5778"/>
                    <a:pt x="2886476" y="15527"/>
                  </a:cubicBezTo>
                  <a:lnTo>
                    <a:pt x="3023732" y="207028"/>
                  </a:lnTo>
                  <a:cubicBezTo>
                    <a:pt x="3032974" y="219932"/>
                    <a:pt x="3032974" y="237268"/>
                    <a:pt x="3023732" y="250171"/>
                  </a:cubicBezTo>
                  <a:lnTo>
                    <a:pt x="2886476" y="441673"/>
                  </a:lnTo>
                  <a:cubicBezTo>
                    <a:pt x="2879509" y="451421"/>
                    <a:pt x="2868204" y="457200"/>
                    <a:pt x="2856223" y="457200"/>
                  </a:cubicBezTo>
                  <a:lnTo>
                    <a:pt x="2539224" y="457200"/>
                  </a:lnTo>
                  <a:lnTo>
                    <a:pt x="2520956" y="457200"/>
                  </a:lnTo>
                  <a:lnTo>
                    <a:pt x="0" y="457200"/>
                  </a:lnTo>
                  <a:close/>
                </a:path>
              </a:pathLst>
            </a:custGeom>
            <a:gradFill>
              <a:gsLst>
                <a:gs pos="0">
                  <a:schemeClr val="bg2">
                    <a:lumMod val="90000"/>
                  </a:schemeClr>
                </a:gs>
                <a:gs pos="100000">
                  <a:schemeClr val="bg2">
                    <a:lumMod val="90000"/>
                    <a:alpha val="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8" name="Striped Right Arrow 225">
              <a:extLst>
                <a:ext uri="{FF2B5EF4-FFF2-40B4-BE49-F238E27FC236}">
                  <a16:creationId xmlns:a16="http://schemas.microsoft.com/office/drawing/2014/main" id="{BBCCC58F-916E-0138-1E96-A989354CD120}"/>
                </a:ext>
              </a:extLst>
            </p:cNvPr>
            <p:cNvSpPr/>
            <p:nvPr/>
          </p:nvSpPr>
          <p:spPr>
            <a:xfrm flipH="1">
              <a:off x="7209211" y="2233918"/>
              <a:ext cx="2368967" cy="3691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1B1D36"/>
                  </a:solidFill>
                  <a:effectLst/>
                  <a:uLnTx/>
                  <a:uFillTx/>
                  <a:latin typeface="Arial" panose="020B0604020202020204"/>
                  <a:ea typeface="+mn-ea"/>
                  <a:cs typeface="+mn-cs"/>
                </a:rPr>
                <a:t>Vendor #1 configuration/API</a:t>
              </a:r>
            </a:p>
          </p:txBody>
        </p:sp>
        <p:sp>
          <p:nvSpPr>
            <p:cNvPr id="99" name="Graphic 6096">
              <a:extLst>
                <a:ext uri="{FF2B5EF4-FFF2-40B4-BE49-F238E27FC236}">
                  <a16:creationId xmlns:a16="http://schemas.microsoft.com/office/drawing/2014/main" id="{A57D7A59-00B0-D57F-71F6-63E796F066A0}"/>
                </a:ext>
              </a:extLst>
            </p:cNvPr>
            <p:cNvSpPr/>
            <p:nvPr/>
          </p:nvSpPr>
          <p:spPr>
            <a:xfrm flipH="1">
              <a:off x="6816283" y="2234303"/>
              <a:ext cx="258311" cy="370470"/>
            </a:xfrm>
            <a:custGeom>
              <a:avLst/>
              <a:gdLst>
                <a:gd name="connsiteX0" fmla="*/ 0 w 469820"/>
                <a:gd name="connsiteY0" fmla="*/ 675704 h 675703"/>
                <a:gd name="connsiteX1" fmla="*/ 210503 w 469820"/>
                <a:gd name="connsiteY1" fmla="*/ 675704 h 675703"/>
                <a:gd name="connsiteX2" fmla="*/ 258699 w 469820"/>
                <a:gd name="connsiteY2" fmla="*/ 650843 h 675703"/>
                <a:gd name="connsiteX3" fmla="*/ 459962 w 469820"/>
                <a:gd name="connsiteY3" fmla="*/ 368713 h 675703"/>
                <a:gd name="connsiteX4" fmla="*/ 459962 w 469820"/>
                <a:gd name="connsiteY4" fmla="*/ 306896 h 675703"/>
                <a:gd name="connsiteX5" fmla="*/ 260033 w 469820"/>
                <a:gd name="connsiteY5" fmla="*/ 26670 h 675703"/>
                <a:gd name="connsiteX6" fmla="*/ 208217 w 469820"/>
                <a:gd name="connsiteY6" fmla="*/ 0 h 675703"/>
                <a:gd name="connsiteX7" fmla="*/ 0 w 469820"/>
                <a:gd name="connsiteY7" fmla="*/ 0 h 675703"/>
                <a:gd name="connsiteX8" fmla="*/ 223266 w 469820"/>
                <a:gd name="connsiteY8" fmla="*/ 312992 h 675703"/>
                <a:gd name="connsiteX9" fmla="*/ 223266 w 469820"/>
                <a:gd name="connsiteY9" fmla="*/ 362712 h 675703"/>
                <a:gd name="connsiteX10" fmla="*/ 0 w 469820"/>
                <a:gd name="connsiteY10" fmla="*/ 675704 h 675703"/>
                <a:gd name="connsiteX11" fmla="*/ 0 w 469820"/>
                <a:gd name="connsiteY11" fmla="*/ 675704 h 675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9820" h="675703">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lang="en-US" sz="1200" b="0" i="0" u="none" strike="noStrike" kern="1200" cap="none" spc="0" normalizeH="0" baseline="0" noProof="0" dirty="0">
                <a:ln>
                  <a:noFill/>
                </a:ln>
                <a:solidFill>
                  <a:srgbClr val="3C3C3C"/>
                </a:solidFill>
                <a:effectLst/>
                <a:uLnTx/>
                <a:uFillTx/>
                <a:latin typeface="Arial" panose="020B0604020202020204"/>
                <a:ea typeface="+mn-ea"/>
                <a:cs typeface="Arial"/>
              </a:endParaRPr>
            </a:p>
          </p:txBody>
        </p:sp>
      </p:grpSp>
      <p:sp>
        <p:nvSpPr>
          <p:cNvPr id="3" name="!!BOTTOM">
            <a:extLst>
              <a:ext uri="{FF2B5EF4-FFF2-40B4-BE49-F238E27FC236}">
                <a16:creationId xmlns:a16="http://schemas.microsoft.com/office/drawing/2014/main" id="{144AB5F9-FD03-828B-B3F6-569204A6A917}"/>
              </a:ext>
            </a:extLst>
          </p:cNvPr>
          <p:cNvSpPr/>
          <p:nvPr/>
        </p:nvSpPr>
        <p:spPr>
          <a:xfrm rot="10800000" flipV="1">
            <a:off x="627405" y="1600200"/>
            <a:ext cx="5924208" cy="2071149"/>
          </a:xfrm>
          <a:prstGeom prst="round2SameRect">
            <a:avLst>
              <a:gd name="adj1" fmla="val 7233"/>
              <a:gd name="adj2" fmla="val 0"/>
            </a:avLst>
          </a:prstGeom>
          <a:solidFill>
            <a:srgbClr val="E8E8EA"/>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endParaRPr>
          </a:p>
        </p:txBody>
      </p:sp>
      <p:sp>
        <p:nvSpPr>
          <p:cNvPr id="4" name="!!TOP">
            <a:extLst>
              <a:ext uri="{FF2B5EF4-FFF2-40B4-BE49-F238E27FC236}">
                <a16:creationId xmlns:a16="http://schemas.microsoft.com/office/drawing/2014/main" id="{542BE31C-FDDE-7E15-2EAC-B3E82AAD0F7A}"/>
              </a:ext>
            </a:extLst>
          </p:cNvPr>
          <p:cNvSpPr/>
          <p:nvPr/>
        </p:nvSpPr>
        <p:spPr>
          <a:xfrm flipV="1">
            <a:off x="627406" y="3886200"/>
            <a:ext cx="5924207" cy="2285996"/>
          </a:xfrm>
          <a:prstGeom prst="round2SameRect">
            <a:avLst>
              <a:gd name="adj1" fmla="val 7233"/>
              <a:gd name="adj2" fmla="val 0"/>
            </a:avLst>
          </a:prstGeom>
          <a:solidFill>
            <a:schemeClr val="accent2">
              <a:alpha val="10000"/>
            </a:schemeClr>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endParaRPr>
          </a:p>
        </p:txBody>
      </p:sp>
      <p:grpSp>
        <p:nvGrpSpPr>
          <p:cNvPr id="5" name="Group 4">
            <a:extLst>
              <a:ext uri="{FF2B5EF4-FFF2-40B4-BE49-F238E27FC236}">
                <a16:creationId xmlns:a16="http://schemas.microsoft.com/office/drawing/2014/main" id="{A6B51BEC-FD5A-70FD-5DA1-435CBB0D55A3}"/>
              </a:ext>
            </a:extLst>
          </p:cNvPr>
          <p:cNvGrpSpPr/>
          <p:nvPr/>
        </p:nvGrpSpPr>
        <p:grpSpPr>
          <a:xfrm>
            <a:off x="2292252" y="2515495"/>
            <a:ext cx="1203522" cy="543290"/>
            <a:chOff x="2247375" y="4148923"/>
            <a:chExt cx="1203522" cy="543290"/>
          </a:xfrm>
        </p:grpSpPr>
        <p:sp>
          <p:nvSpPr>
            <p:cNvPr id="6" name="Rectangle: Rounded Corners 5">
              <a:extLst>
                <a:ext uri="{FF2B5EF4-FFF2-40B4-BE49-F238E27FC236}">
                  <a16:creationId xmlns:a16="http://schemas.microsoft.com/office/drawing/2014/main" id="{F440273F-040A-684D-B5A9-A2F833BDEDFA}"/>
                </a:ext>
              </a:extLst>
            </p:cNvPr>
            <p:cNvSpPr>
              <a:spLocks noChangeAspect="1"/>
            </p:cNvSpPr>
            <p:nvPr/>
          </p:nvSpPr>
          <p:spPr>
            <a:xfrm>
              <a:off x="2247375" y="4148923"/>
              <a:ext cx="1203522" cy="543290"/>
            </a:xfrm>
            <a:prstGeom prst="roundRect">
              <a:avLst>
                <a:gd name="adj" fmla="val 10033"/>
              </a:avLst>
            </a:prstGeom>
            <a:solidFill>
              <a:schemeClr val="bg1"/>
            </a:solidFill>
            <a:ln w="1905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Graphic 9">
              <a:extLst>
                <a:ext uri="{FF2B5EF4-FFF2-40B4-BE49-F238E27FC236}">
                  <a16:creationId xmlns:a16="http://schemas.microsoft.com/office/drawing/2014/main" id="{B2AACACE-D034-A4BE-54E2-8E0D629E1898}"/>
                </a:ext>
              </a:extLst>
            </p:cNvPr>
            <p:cNvSpPr>
              <a:spLocks noChangeAspect="1"/>
            </p:cNvSpPr>
            <p:nvPr/>
          </p:nvSpPr>
          <p:spPr>
            <a:xfrm>
              <a:off x="2481912" y="4323931"/>
              <a:ext cx="734448" cy="193273"/>
            </a:xfrm>
            <a:custGeom>
              <a:avLst/>
              <a:gdLst>
                <a:gd name="connsiteX0" fmla="*/ 0 w 763913"/>
                <a:gd name="connsiteY0" fmla="*/ 0 h 201029"/>
                <a:gd name="connsiteX1" fmla="*/ 0 w 763913"/>
                <a:gd name="connsiteY1" fmla="*/ 201030 h 201029"/>
                <a:gd name="connsiteX2" fmla="*/ 763913 w 763913"/>
                <a:gd name="connsiteY2" fmla="*/ 201030 h 201029"/>
                <a:gd name="connsiteX3" fmla="*/ 763913 w 763913"/>
                <a:gd name="connsiteY3" fmla="*/ 0 h 201029"/>
                <a:gd name="connsiteX4" fmla="*/ 0 w 763913"/>
                <a:gd name="connsiteY4" fmla="*/ 0 h 201029"/>
                <a:gd name="connsiteX5" fmla="*/ 80357 w 763913"/>
                <a:gd name="connsiteY5" fmla="*/ 130683 h 201029"/>
                <a:gd name="connsiteX6" fmla="*/ 60282 w 763913"/>
                <a:gd name="connsiteY6" fmla="*/ 130683 h 201029"/>
                <a:gd name="connsiteX7" fmla="*/ 60282 w 763913"/>
                <a:gd name="connsiteY7" fmla="*/ 110607 h 201029"/>
                <a:gd name="connsiteX8" fmla="*/ 80357 w 763913"/>
                <a:gd name="connsiteY8" fmla="*/ 110607 h 201029"/>
                <a:gd name="connsiteX9" fmla="*/ 80357 w 763913"/>
                <a:gd name="connsiteY9" fmla="*/ 130683 h 201029"/>
                <a:gd name="connsiteX10" fmla="*/ 80357 w 763913"/>
                <a:gd name="connsiteY10" fmla="*/ 90477 h 201029"/>
                <a:gd name="connsiteX11" fmla="*/ 60282 w 763913"/>
                <a:gd name="connsiteY11" fmla="*/ 90477 h 201029"/>
                <a:gd name="connsiteX12" fmla="*/ 60282 w 763913"/>
                <a:gd name="connsiteY12" fmla="*/ 70401 h 201029"/>
                <a:gd name="connsiteX13" fmla="*/ 80357 w 763913"/>
                <a:gd name="connsiteY13" fmla="*/ 70401 h 201029"/>
                <a:gd name="connsiteX14" fmla="*/ 80357 w 763913"/>
                <a:gd name="connsiteY14" fmla="*/ 90477 h 201029"/>
                <a:gd name="connsiteX15" fmla="*/ 120563 w 763913"/>
                <a:gd name="connsiteY15" fmla="*/ 130683 h 201029"/>
                <a:gd name="connsiteX16" fmla="*/ 100488 w 763913"/>
                <a:gd name="connsiteY16" fmla="*/ 130683 h 201029"/>
                <a:gd name="connsiteX17" fmla="*/ 100488 w 763913"/>
                <a:gd name="connsiteY17" fmla="*/ 110607 h 201029"/>
                <a:gd name="connsiteX18" fmla="*/ 120563 w 763913"/>
                <a:gd name="connsiteY18" fmla="*/ 110607 h 201029"/>
                <a:gd name="connsiteX19" fmla="*/ 120563 w 763913"/>
                <a:gd name="connsiteY19" fmla="*/ 130683 h 201029"/>
                <a:gd name="connsiteX20" fmla="*/ 120563 w 763913"/>
                <a:gd name="connsiteY20" fmla="*/ 90477 h 201029"/>
                <a:gd name="connsiteX21" fmla="*/ 100488 w 763913"/>
                <a:gd name="connsiteY21" fmla="*/ 90477 h 201029"/>
                <a:gd name="connsiteX22" fmla="*/ 100488 w 763913"/>
                <a:gd name="connsiteY22" fmla="*/ 70401 h 201029"/>
                <a:gd name="connsiteX23" fmla="*/ 120563 w 763913"/>
                <a:gd name="connsiteY23" fmla="*/ 70401 h 201029"/>
                <a:gd name="connsiteX24" fmla="*/ 120563 w 763913"/>
                <a:gd name="connsiteY24" fmla="*/ 90477 h 201029"/>
                <a:gd name="connsiteX25" fmla="*/ 160769 w 763913"/>
                <a:gd name="connsiteY25" fmla="*/ 130683 h 201029"/>
                <a:gd name="connsiteX26" fmla="*/ 140694 w 763913"/>
                <a:gd name="connsiteY26" fmla="*/ 130683 h 201029"/>
                <a:gd name="connsiteX27" fmla="*/ 140694 w 763913"/>
                <a:gd name="connsiteY27" fmla="*/ 110607 h 201029"/>
                <a:gd name="connsiteX28" fmla="*/ 160769 w 763913"/>
                <a:gd name="connsiteY28" fmla="*/ 110607 h 201029"/>
                <a:gd name="connsiteX29" fmla="*/ 160769 w 763913"/>
                <a:gd name="connsiteY29" fmla="*/ 130683 h 201029"/>
                <a:gd name="connsiteX30" fmla="*/ 160769 w 763913"/>
                <a:gd name="connsiteY30" fmla="*/ 90477 h 201029"/>
                <a:gd name="connsiteX31" fmla="*/ 140694 w 763913"/>
                <a:gd name="connsiteY31" fmla="*/ 90477 h 201029"/>
                <a:gd name="connsiteX32" fmla="*/ 140694 w 763913"/>
                <a:gd name="connsiteY32" fmla="*/ 70401 h 201029"/>
                <a:gd name="connsiteX33" fmla="*/ 160769 w 763913"/>
                <a:gd name="connsiteY33" fmla="*/ 70401 h 201029"/>
                <a:gd name="connsiteX34" fmla="*/ 160769 w 763913"/>
                <a:gd name="connsiteY34" fmla="*/ 90477 h 201029"/>
                <a:gd name="connsiteX35" fmla="*/ 200975 w 763913"/>
                <a:gd name="connsiteY35" fmla="*/ 130683 h 201029"/>
                <a:gd name="connsiteX36" fmla="*/ 180900 w 763913"/>
                <a:gd name="connsiteY36" fmla="*/ 130683 h 201029"/>
                <a:gd name="connsiteX37" fmla="*/ 180900 w 763913"/>
                <a:gd name="connsiteY37" fmla="*/ 110607 h 201029"/>
                <a:gd name="connsiteX38" fmla="*/ 200975 w 763913"/>
                <a:gd name="connsiteY38" fmla="*/ 110607 h 201029"/>
                <a:gd name="connsiteX39" fmla="*/ 200975 w 763913"/>
                <a:gd name="connsiteY39" fmla="*/ 130683 h 201029"/>
                <a:gd name="connsiteX40" fmla="*/ 200975 w 763913"/>
                <a:gd name="connsiteY40" fmla="*/ 90477 h 201029"/>
                <a:gd name="connsiteX41" fmla="*/ 180900 w 763913"/>
                <a:gd name="connsiteY41" fmla="*/ 90477 h 201029"/>
                <a:gd name="connsiteX42" fmla="*/ 180900 w 763913"/>
                <a:gd name="connsiteY42" fmla="*/ 70401 h 201029"/>
                <a:gd name="connsiteX43" fmla="*/ 200975 w 763913"/>
                <a:gd name="connsiteY43" fmla="*/ 70401 h 201029"/>
                <a:gd name="connsiteX44" fmla="*/ 200975 w 763913"/>
                <a:gd name="connsiteY44" fmla="*/ 90477 h 201029"/>
                <a:gd name="connsiteX45" fmla="*/ 241181 w 763913"/>
                <a:gd name="connsiteY45" fmla="*/ 130683 h 201029"/>
                <a:gd name="connsiteX46" fmla="*/ 221051 w 763913"/>
                <a:gd name="connsiteY46" fmla="*/ 130683 h 201029"/>
                <a:gd name="connsiteX47" fmla="*/ 221051 w 763913"/>
                <a:gd name="connsiteY47" fmla="*/ 110607 h 201029"/>
                <a:gd name="connsiteX48" fmla="*/ 241181 w 763913"/>
                <a:gd name="connsiteY48" fmla="*/ 110607 h 201029"/>
                <a:gd name="connsiteX49" fmla="*/ 241181 w 763913"/>
                <a:gd name="connsiteY49" fmla="*/ 130683 h 201029"/>
                <a:gd name="connsiteX50" fmla="*/ 241181 w 763913"/>
                <a:gd name="connsiteY50" fmla="*/ 90477 h 201029"/>
                <a:gd name="connsiteX51" fmla="*/ 221051 w 763913"/>
                <a:gd name="connsiteY51" fmla="*/ 90477 h 201029"/>
                <a:gd name="connsiteX52" fmla="*/ 221051 w 763913"/>
                <a:gd name="connsiteY52" fmla="*/ 70401 h 201029"/>
                <a:gd name="connsiteX53" fmla="*/ 241181 w 763913"/>
                <a:gd name="connsiteY53" fmla="*/ 70401 h 201029"/>
                <a:gd name="connsiteX54" fmla="*/ 241181 w 763913"/>
                <a:gd name="connsiteY54" fmla="*/ 90477 h 201029"/>
                <a:gd name="connsiteX55" fmla="*/ 281387 w 763913"/>
                <a:gd name="connsiteY55" fmla="*/ 130683 h 201029"/>
                <a:gd name="connsiteX56" fmla="*/ 261311 w 763913"/>
                <a:gd name="connsiteY56" fmla="*/ 130683 h 201029"/>
                <a:gd name="connsiteX57" fmla="*/ 261311 w 763913"/>
                <a:gd name="connsiteY57" fmla="*/ 110607 h 201029"/>
                <a:gd name="connsiteX58" fmla="*/ 281387 w 763913"/>
                <a:gd name="connsiteY58" fmla="*/ 110607 h 201029"/>
                <a:gd name="connsiteX59" fmla="*/ 281387 w 763913"/>
                <a:gd name="connsiteY59" fmla="*/ 130683 h 201029"/>
                <a:gd name="connsiteX60" fmla="*/ 281387 w 763913"/>
                <a:gd name="connsiteY60" fmla="*/ 90477 h 201029"/>
                <a:gd name="connsiteX61" fmla="*/ 261311 w 763913"/>
                <a:gd name="connsiteY61" fmla="*/ 90477 h 201029"/>
                <a:gd name="connsiteX62" fmla="*/ 261311 w 763913"/>
                <a:gd name="connsiteY62" fmla="*/ 70401 h 201029"/>
                <a:gd name="connsiteX63" fmla="*/ 281387 w 763913"/>
                <a:gd name="connsiteY63" fmla="*/ 70401 h 201029"/>
                <a:gd name="connsiteX64" fmla="*/ 281387 w 763913"/>
                <a:gd name="connsiteY64" fmla="*/ 90477 h 201029"/>
                <a:gd name="connsiteX65" fmla="*/ 321593 w 763913"/>
                <a:gd name="connsiteY65" fmla="*/ 130683 h 201029"/>
                <a:gd name="connsiteX66" fmla="*/ 301517 w 763913"/>
                <a:gd name="connsiteY66" fmla="*/ 130683 h 201029"/>
                <a:gd name="connsiteX67" fmla="*/ 301517 w 763913"/>
                <a:gd name="connsiteY67" fmla="*/ 110607 h 201029"/>
                <a:gd name="connsiteX68" fmla="*/ 321593 w 763913"/>
                <a:gd name="connsiteY68" fmla="*/ 110607 h 201029"/>
                <a:gd name="connsiteX69" fmla="*/ 321593 w 763913"/>
                <a:gd name="connsiteY69" fmla="*/ 130683 h 201029"/>
                <a:gd name="connsiteX70" fmla="*/ 321593 w 763913"/>
                <a:gd name="connsiteY70" fmla="*/ 90477 h 201029"/>
                <a:gd name="connsiteX71" fmla="*/ 301517 w 763913"/>
                <a:gd name="connsiteY71" fmla="*/ 90477 h 201029"/>
                <a:gd name="connsiteX72" fmla="*/ 301517 w 763913"/>
                <a:gd name="connsiteY72" fmla="*/ 70401 h 201029"/>
                <a:gd name="connsiteX73" fmla="*/ 321593 w 763913"/>
                <a:gd name="connsiteY73" fmla="*/ 70401 h 201029"/>
                <a:gd name="connsiteX74" fmla="*/ 321593 w 763913"/>
                <a:gd name="connsiteY74" fmla="*/ 90477 h 201029"/>
                <a:gd name="connsiteX75" fmla="*/ 585093 w 763913"/>
                <a:gd name="connsiteY75" fmla="*/ 120673 h 201029"/>
                <a:gd name="connsiteX76" fmla="*/ 565017 w 763913"/>
                <a:gd name="connsiteY76" fmla="*/ 100542 h 201029"/>
                <a:gd name="connsiteX77" fmla="*/ 585093 w 763913"/>
                <a:gd name="connsiteY77" fmla="*/ 80467 h 201029"/>
                <a:gd name="connsiteX78" fmla="*/ 605168 w 763913"/>
                <a:gd name="connsiteY78" fmla="*/ 100542 h 201029"/>
                <a:gd name="connsiteX79" fmla="*/ 585093 w 763913"/>
                <a:gd name="connsiteY79" fmla="*/ 120673 h 201029"/>
                <a:gd name="connsiteX80" fmla="*/ 667364 w 763913"/>
                <a:gd name="connsiteY80" fmla="*/ 120673 h 201029"/>
                <a:gd name="connsiteX81" fmla="*/ 647289 w 763913"/>
                <a:gd name="connsiteY81" fmla="*/ 100542 h 201029"/>
                <a:gd name="connsiteX82" fmla="*/ 667364 w 763913"/>
                <a:gd name="connsiteY82" fmla="*/ 80467 h 201029"/>
                <a:gd name="connsiteX83" fmla="*/ 687440 w 763913"/>
                <a:gd name="connsiteY83" fmla="*/ 100542 h 201029"/>
                <a:gd name="connsiteX84" fmla="*/ 667364 w 763913"/>
                <a:gd name="connsiteY84" fmla="*/ 120673 h 201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763913" h="201029">
                  <a:moveTo>
                    <a:pt x="0" y="0"/>
                  </a:moveTo>
                  <a:lnTo>
                    <a:pt x="0" y="201030"/>
                  </a:lnTo>
                  <a:lnTo>
                    <a:pt x="763913" y="201030"/>
                  </a:lnTo>
                  <a:lnTo>
                    <a:pt x="763913" y="0"/>
                  </a:lnTo>
                  <a:lnTo>
                    <a:pt x="0" y="0"/>
                  </a:lnTo>
                  <a:close/>
                  <a:moveTo>
                    <a:pt x="80357" y="130683"/>
                  </a:moveTo>
                  <a:lnTo>
                    <a:pt x="60282" y="130683"/>
                  </a:lnTo>
                  <a:lnTo>
                    <a:pt x="60282" y="110607"/>
                  </a:lnTo>
                  <a:lnTo>
                    <a:pt x="80357" y="110607"/>
                  </a:lnTo>
                  <a:lnTo>
                    <a:pt x="80357" y="130683"/>
                  </a:lnTo>
                  <a:close/>
                  <a:moveTo>
                    <a:pt x="80357" y="90477"/>
                  </a:moveTo>
                  <a:lnTo>
                    <a:pt x="60282" y="90477"/>
                  </a:lnTo>
                  <a:lnTo>
                    <a:pt x="60282" y="70401"/>
                  </a:lnTo>
                  <a:lnTo>
                    <a:pt x="80357" y="70401"/>
                  </a:lnTo>
                  <a:lnTo>
                    <a:pt x="80357" y="90477"/>
                  </a:lnTo>
                  <a:close/>
                  <a:moveTo>
                    <a:pt x="120563" y="130683"/>
                  </a:moveTo>
                  <a:lnTo>
                    <a:pt x="100488" y="130683"/>
                  </a:lnTo>
                  <a:lnTo>
                    <a:pt x="100488" y="110607"/>
                  </a:lnTo>
                  <a:lnTo>
                    <a:pt x="120563" y="110607"/>
                  </a:lnTo>
                  <a:lnTo>
                    <a:pt x="120563" y="130683"/>
                  </a:lnTo>
                  <a:close/>
                  <a:moveTo>
                    <a:pt x="120563" y="90477"/>
                  </a:moveTo>
                  <a:lnTo>
                    <a:pt x="100488" y="90477"/>
                  </a:lnTo>
                  <a:lnTo>
                    <a:pt x="100488" y="70401"/>
                  </a:lnTo>
                  <a:lnTo>
                    <a:pt x="120563" y="70401"/>
                  </a:lnTo>
                  <a:lnTo>
                    <a:pt x="120563" y="90477"/>
                  </a:lnTo>
                  <a:close/>
                  <a:moveTo>
                    <a:pt x="160769" y="130683"/>
                  </a:moveTo>
                  <a:lnTo>
                    <a:pt x="140694" y="130683"/>
                  </a:lnTo>
                  <a:lnTo>
                    <a:pt x="140694" y="110607"/>
                  </a:lnTo>
                  <a:lnTo>
                    <a:pt x="160769" y="110607"/>
                  </a:lnTo>
                  <a:lnTo>
                    <a:pt x="160769" y="130683"/>
                  </a:lnTo>
                  <a:close/>
                  <a:moveTo>
                    <a:pt x="160769" y="90477"/>
                  </a:moveTo>
                  <a:lnTo>
                    <a:pt x="140694" y="90477"/>
                  </a:lnTo>
                  <a:lnTo>
                    <a:pt x="140694" y="70401"/>
                  </a:lnTo>
                  <a:lnTo>
                    <a:pt x="160769" y="70401"/>
                  </a:lnTo>
                  <a:lnTo>
                    <a:pt x="160769" y="90477"/>
                  </a:lnTo>
                  <a:close/>
                  <a:moveTo>
                    <a:pt x="200975" y="130683"/>
                  </a:moveTo>
                  <a:lnTo>
                    <a:pt x="180900" y="130683"/>
                  </a:lnTo>
                  <a:lnTo>
                    <a:pt x="180900" y="110607"/>
                  </a:lnTo>
                  <a:lnTo>
                    <a:pt x="200975" y="110607"/>
                  </a:lnTo>
                  <a:lnTo>
                    <a:pt x="200975" y="130683"/>
                  </a:lnTo>
                  <a:close/>
                  <a:moveTo>
                    <a:pt x="200975" y="90477"/>
                  </a:moveTo>
                  <a:lnTo>
                    <a:pt x="180900" y="90477"/>
                  </a:lnTo>
                  <a:lnTo>
                    <a:pt x="180900" y="70401"/>
                  </a:lnTo>
                  <a:lnTo>
                    <a:pt x="200975" y="70401"/>
                  </a:lnTo>
                  <a:lnTo>
                    <a:pt x="200975" y="90477"/>
                  </a:lnTo>
                  <a:close/>
                  <a:moveTo>
                    <a:pt x="241181" y="130683"/>
                  </a:moveTo>
                  <a:lnTo>
                    <a:pt x="221051" y="130683"/>
                  </a:lnTo>
                  <a:lnTo>
                    <a:pt x="221051" y="110607"/>
                  </a:lnTo>
                  <a:lnTo>
                    <a:pt x="241181" y="110607"/>
                  </a:lnTo>
                  <a:lnTo>
                    <a:pt x="241181" y="130683"/>
                  </a:lnTo>
                  <a:close/>
                  <a:moveTo>
                    <a:pt x="241181" y="90477"/>
                  </a:moveTo>
                  <a:lnTo>
                    <a:pt x="221051" y="90477"/>
                  </a:lnTo>
                  <a:lnTo>
                    <a:pt x="221051" y="70401"/>
                  </a:lnTo>
                  <a:lnTo>
                    <a:pt x="241181" y="70401"/>
                  </a:lnTo>
                  <a:lnTo>
                    <a:pt x="241181" y="90477"/>
                  </a:lnTo>
                  <a:close/>
                  <a:moveTo>
                    <a:pt x="281387" y="130683"/>
                  </a:moveTo>
                  <a:lnTo>
                    <a:pt x="261311" y="130683"/>
                  </a:lnTo>
                  <a:lnTo>
                    <a:pt x="261311" y="110607"/>
                  </a:lnTo>
                  <a:lnTo>
                    <a:pt x="281387" y="110607"/>
                  </a:lnTo>
                  <a:lnTo>
                    <a:pt x="281387" y="130683"/>
                  </a:lnTo>
                  <a:close/>
                  <a:moveTo>
                    <a:pt x="281387" y="90477"/>
                  </a:moveTo>
                  <a:lnTo>
                    <a:pt x="261311" y="90477"/>
                  </a:lnTo>
                  <a:lnTo>
                    <a:pt x="261311" y="70401"/>
                  </a:lnTo>
                  <a:lnTo>
                    <a:pt x="281387" y="70401"/>
                  </a:lnTo>
                  <a:lnTo>
                    <a:pt x="281387" y="90477"/>
                  </a:lnTo>
                  <a:close/>
                  <a:moveTo>
                    <a:pt x="321593" y="130683"/>
                  </a:moveTo>
                  <a:lnTo>
                    <a:pt x="301517" y="130683"/>
                  </a:lnTo>
                  <a:lnTo>
                    <a:pt x="301517" y="110607"/>
                  </a:lnTo>
                  <a:lnTo>
                    <a:pt x="321593" y="110607"/>
                  </a:lnTo>
                  <a:lnTo>
                    <a:pt x="321593" y="130683"/>
                  </a:lnTo>
                  <a:close/>
                  <a:moveTo>
                    <a:pt x="321593" y="90477"/>
                  </a:moveTo>
                  <a:lnTo>
                    <a:pt x="301517" y="90477"/>
                  </a:lnTo>
                  <a:lnTo>
                    <a:pt x="301517" y="70401"/>
                  </a:lnTo>
                  <a:lnTo>
                    <a:pt x="321593" y="70401"/>
                  </a:lnTo>
                  <a:lnTo>
                    <a:pt x="321593" y="90477"/>
                  </a:lnTo>
                  <a:close/>
                  <a:moveTo>
                    <a:pt x="585093" y="120673"/>
                  </a:moveTo>
                  <a:cubicBezTo>
                    <a:pt x="573988" y="120673"/>
                    <a:pt x="565017" y="111647"/>
                    <a:pt x="565017" y="100542"/>
                  </a:cubicBezTo>
                  <a:cubicBezTo>
                    <a:pt x="565017" y="89438"/>
                    <a:pt x="574043" y="80467"/>
                    <a:pt x="585093" y="80467"/>
                  </a:cubicBezTo>
                  <a:cubicBezTo>
                    <a:pt x="596142" y="80467"/>
                    <a:pt x="605168" y="89492"/>
                    <a:pt x="605168" y="100542"/>
                  </a:cubicBezTo>
                  <a:cubicBezTo>
                    <a:pt x="605168" y="111592"/>
                    <a:pt x="596142" y="120673"/>
                    <a:pt x="585093" y="120673"/>
                  </a:cubicBezTo>
                  <a:close/>
                  <a:moveTo>
                    <a:pt x="667364" y="120673"/>
                  </a:moveTo>
                  <a:cubicBezTo>
                    <a:pt x="656260" y="120673"/>
                    <a:pt x="647289" y="111647"/>
                    <a:pt x="647289" y="100542"/>
                  </a:cubicBezTo>
                  <a:cubicBezTo>
                    <a:pt x="647289" y="89438"/>
                    <a:pt x="656315" y="80467"/>
                    <a:pt x="667364" y="80467"/>
                  </a:cubicBezTo>
                  <a:cubicBezTo>
                    <a:pt x="678414" y="80467"/>
                    <a:pt x="687440" y="89492"/>
                    <a:pt x="687440" y="100542"/>
                  </a:cubicBezTo>
                  <a:cubicBezTo>
                    <a:pt x="687440" y="111592"/>
                    <a:pt x="678414" y="120673"/>
                    <a:pt x="667364" y="120673"/>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grpSp>
        <p:nvGrpSpPr>
          <p:cNvPr id="8" name="Group 7">
            <a:extLst>
              <a:ext uri="{FF2B5EF4-FFF2-40B4-BE49-F238E27FC236}">
                <a16:creationId xmlns:a16="http://schemas.microsoft.com/office/drawing/2014/main" id="{6E6D7032-DC62-F166-41BB-BEB3BA64D322}"/>
              </a:ext>
            </a:extLst>
          </p:cNvPr>
          <p:cNvGrpSpPr/>
          <p:nvPr/>
        </p:nvGrpSpPr>
        <p:grpSpPr>
          <a:xfrm>
            <a:off x="826995" y="2514600"/>
            <a:ext cx="1200052" cy="545078"/>
            <a:chOff x="782118" y="4148028"/>
            <a:chExt cx="1200052" cy="545078"/>
          </a:xfrm>
        </p:grpSpPr>
        <p:sp>
          <p:nvSpPr>
            <p:cNvPr id="9" name="Rectangle: Rounded Corners 8">
              <a:extLst>
                <a:ext uri="{FF2B5EF4-FFF2-40B4-BE49-F238E27FC236}">
                  <a16:creationId xmlns:a16="http://schemas.microsoft.com/office/drawing/2014/main" id="{9F71FE2D-B1A4-3788-C8B8-2A6A8FC1B619}"/>
                </a:ext>
              </a:extLst>
            </p:cNvPr>
            <p:cNvSpPr>
              <a:spLocks noChangeAspect="1"/>
            </p:cNvSpPr>
            <p:nvPr/>
          </p:nvSpPr>
          <p:spPr>
            <a:xfrm>
              <a:off x="782118" y="4148028"/>
              <a:ext cx="1200052" cy="545078"/>
            </a:xfrm>
            <a:prstGeom prst="roundRect">
              <a:avLst>
                <a:gd name="adj" fmla="val 10000"/>
              </a:avLst>
            </a:prstGeom>
            <a:solidFill>
              <a:schemeClr val="bg1"/>
            </a:solidFill>
            <a:ln w="1905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Graphic 9">
              <a:extLst>
                <a:ext uri="{FF2B5EF4-FFF2-40B4-BE49-F238E27FC236}">
                  <a16:creationId xmlns:a16="http://schemas.microsoft.com/office/drawing/2014/main" id="{1537EFEE-981B-107A-C846-A196EB869DBF}"/>
                </a:ext>
              </a:extLst>
            </p:cNvPr>
            <p:cNvSpPr>
              <a:spLocks noChangeAspect="1"/>
            </p:cNvSpPr>
            <p:nvPr/>
          </p:nvSpPr>
          <p:spPr>
            <a:xfrm>
              <a:off x="1014920" y="4323931"/>
              <a:ext cx="734448" cy="193273"/>
            </a:xfrm>
            <a:custGeom>
              <a:avLst/>
              <a:gdLst>
                <a:gd name="connsiteX0" fmla="*/ 0 w 763913"/>
                <a:gd name="connsiteY0" fmla="*/ 0 h 201029"/>
                <a:gd name="connsiteX1" fmla="*/ 0 w 763913"/>
                <a:gd name="connsiteY1" fmla="*/ 201030 h 201029"/>
                <a:gd name="connsiteX2" fmla="*/ 763913 w 763913"/>
                <a:gd name="connsiteY2" fmla="*/ 201030 h 201029"/>
                <a:gd name="connsiteX3" fmla="*/ 763913 w 763913"/>
                <a:gd name="connsiteY3" fmla="*/ 0 h 201029"/>
                <a:gd name="connsiteX4" fmla="*/ 0 w 763913"/>
                <a:gd name="connsiteY4" fmla="*/ 0 h 201029"/>
                <a:gd name="connsiteX5" fmla="*/ 80357 w 763913"/>
                <a:gd name="connsiteY5" fmla="*/ 130683 h 201029"/>
                <a:gd name="connsiteX6" fmla="*/ 60282 w 763913"/>
                <a:gd name="connsiteY6" fmla="*/ 130683 h 201029"/>
                <a:gd name="connsiteX7" fmla="*/ 60282 w 763913"/>
                <a:gd name="connsiteY7" fmla="*/ 110607 h 201029"/>
                <a:gd name="connsiteX8" fmla="*/ 80357 w 763913"/>
                <a:gd name="connsiteY8" fmla="*/ 110607 h 201029"/>
                <a:gd name="connsiteX9" fmla="*/ 80357 w 763913"/>
                <a:gd name="connsiteY9" fmla="*/ 130683 h 201029"/>
                <a:gd name="connsiteX10" fmla="*/ 80357 w 763913"/>
                <a:gd name="connsiteY10" fmla="*/ 90477 h 201029"/>
                <a:gd name="connsiteX11" fmla="*/ 60282 w 763913"/>
                <a:gd name="connsiteY11" fmla="*/ 90477 h 201029"/>
                <a:gd name="connsiteX12" fmla="*/ 60282 w 763913"/>
                <a:gd name="connsiteY12" fmla="*/ 70401 h 201029"/>
                <a:gd name="connsiteX13" fmla="*/ 80357 w 763913"/>
                <a:gd name="connsiteY13" fmla="*/ 70401 h 201029"/>
                <a:gd name="connsiteX14" fmla="*/ 80357 w 763913"/>
                <a:gd name="connsiteY14" fmla="*/ 90477 h 201029"/>
                <a:gd name="connsiteX15" fmla="*/ 120563 w 763913"/>
                <a:gd name="connsiteY15" fmla="*/ 130683 h 201029"/>
                <a:gd name="connsiteX16" fmla="*/ 100488 w 763913"/>
                <a:gd name="connsiteY16" fmla="*/ 130683 h 201029"/>
                <a:gd name="connsiteX17" fmla="*/ 100488 w 763913"/>
                <a:gd name="connsiteY17" fmla="*/ 110607 h 201029"/>
                <a:gd name="connsiteX18" fmla="*/ 120563 w 763913"/>
                <a:gd name="connsiteY18" fmla="*/ 110607 h 201029"/>
                <a:gd name="connsiteX19" fmla="*/ 120563 w 763913"/>
                <a:gd name="connsiteY19" fmla="*/ 130683 h 201029"/>
                <a:gd name="connsiteX20" fmla="*/ 120563 w 763913"/>
                <a:gd name="connsiteY20" fmla="*/ 90477 h 201029"/>
                <a:gd name="connsiteX21" fmla="*/ 100488 w 763913"/>
                <a:gd name="connsiteY21" fmla="*/ 90477 h 201029"/>
                <a:gd name="connsiteX22" fmla="*/ 100488 w 763913"/>
                <a:gd name="connsiteY22" fmla="*/ 70401 h 201029"/>
                <a:gd name="connsiteX23" fmla="*/ 120563 w 763913"/>
                <a:gd name="connsiteY23" fmla="*/ 70401 h 201029"/>
                <a:gd name="connsiteX24" fmla="*/ 120563 w 763913"/>
                <a:gd name="connsiteY24" fmla="*/ 90477 h 201029"/>
                <a:gd name="connsiteX25" fmla="*/ 160769 w 763913"/>
                <a:gd name="connsiteY25" fmla="*/ 130683 h 201029"/>
                <a:gd name="connsiteX26" fmla="*/ 140694 w 763913"/>
                <a:gd name="connsiteY26" fmla="*/ 130683 h 201029"/>
                <a:gd name="connsiteX27" fmla="*/ 140694 w 763913"/>
                <a:gd name="connsiteY27" fmla="*/ 110607 h 201029"/>
                <a:gd name="connsiteX28" fmla="*/ 160769 w 763913"/>
                <a:gd name="connsiteY28" fmla="*/ 110607 h 201029"/>
                <a:gd name="connsiteX29" fmla="*/ 160769 w 763913"/>
                <a:gd name="connsiteY29" fmla="*/ 130683 h 201029"/>
                <a:gd name="connsiteX30" fmla="*/ 160769 w 763913"/>
                <a:gd name="connsiteY30" fmla="*/ 90477 h 201029"/>
                <a:gd name="connsiteX31" fmla="*/ 140694 w 763913"/>
                <a:gd name="connsiteY31" fmla="*/ 90477 h 201029"/>
                <a:gd name="connsiteX32" fmla="*/ 140694 w 763913"/>
                <a:gd name="connsiteY32" fmla="*/ 70401 h 201029"/>
                <a:gd name="connsiteX33" fmla="*/ 160769 w 763913"/>
                <a:gd name="connsiteY33" fmla="*/ 70401 h 201029"/>
                <a:gd name="connsiteX34" fmla="*/ 160769 w 763913"/>
                <a:gd name="connsiteY34" fmla="*/ 90477 h 201029"/>
                <a:gd name="connsiteX35" fmla="*/ 200975 w 763913"/>
                <a:gd name="connsiteY35" fmla="*/ 130683 h 201029"/>
                <a:gd name="connsiteX36" fmla="*/ 180900 w 763913"/>
                <a:gd name="connsiteY36" fmla="*/ 130683 h 201029"/>
                <a:gd name="connsiteX37" fmla="*/ 180900 w 763913"/>
                <a:gd name="connsiteY37" fmla="*/ 110607 h 201029"/>
                <a:gd name="connsiteX38" fmla="*/ 200975 w 763913"/>
                <a:gd name="connsiteY38" fmla="*/ 110607 h 201029"/>
                <a:gd name="connsiteX39" fmla="*/ 200975 w 763913"/>
                <a:gd name="connsiteY39" fmla="*/ 130683 h 201029"/>
                <a:gd name="connsiteX40" fmla="*/ 200975 w 763913"/>
                <a:gd name="connsiteY40" fmla="*/ 90477 h 201029"/>
                <a:gd name="connsiteX41" fmla="*/ 180900 w 763913"/>
                <a:gd name="connsiteY41" fmla="*/ 90477 h 201029"/>
                <a:gd name="connsiteX42" fmla="*/ 180900 w 763913"/>
                <a:gd name="connsiteY42" fmla="*/ 70401 h 201029"/>
                <a:gd name="connsiteX43" fmla="*/ 200975 w 763913"/>
                <a:gd name="connsiteY43" fmla="*/ 70401 h 201029"/>
                <a:gd name="connsiteX44" fmla="*/ 200975 w 763913"/>
                <a:gd name="connsiteY44" fmla="*/ 90477 h 201029"/>
                <a:gd name="connsiteX45" fmla="*/ 241181 w 763913"/>
                <a:gd name="connsiteY45" fmla="*/ 130683 h 201029"/>
                <a:gd name="connsiteX46" fmla="*/ 221051 w 763913"/>
                <a:gd name="connsiteY46" fmla="*/ 130683 h 201029"/>
                <a:gd name="connsiteX47" fmla="*/ 221051 w 763913"/>
                <a:gd name="connsiteY47" fmla="*/ 110607 h 201029"/>
                <a:gd name="connsiteX48" fmla="*/ 241181 w 763913"/>
                <a:gd name="connsiteY48" fmla="*/ 110607 h 201029"/>
                <a:gd name="connsiteX49" fmla="*/ 241181 w 763913"/>
                <a:gd name="connsiteY49" fmla="*/ 130683 h 201029"/>
                <a:gd name="connsiteX50" fmla="*/ 241181 w 763913"/>
                <a:gd name="connsiteY50" fmla="*/ 90477 h 201029"/>
                <a:gd name="connsiteX51" fmla="*/ 221051 w 763913"/>
                <a:gd name="connsiteY51" fmla="*/ 90477 h 201029"/>
                <a:gd name="connsiteX52" fmla="*/ 221051 w 763913"/>
                <a:gd name="connsiteY52" fmla="*/ 70401 h 201029"/>
                <a:gd name="connsiteX53" fmla="*/ 241181 w 763913"/>
                <a:gd name="connsiteY53" fmla="*/ 70401 h 201029"/>
                <a:gd name="connsiteX54" fmla="*/ 241181 w 763913"/>
                <a:gd name="connsiteY54" fmla="*/ 90477 h 201029"/>
                <a:gd name="connsiteX55" fmla="*/ 281387 w 763913"/>
                <a:gd name="connsiteY55" fmla="*/ 130683 h 201029"/>
                <a:gd name="connsiteX56" fmla="*/ 261311 w 763913"/>
                <a:gd name="connsiteY56" fmla="*/ 130683 h 201029"/>
                <a:gd name="connsiteX57" fmla="*/ 261311 w 763913"/>
                <a:gd name="connsiteY57" fmla="*/ 110607 h 201029"/>
                <a:gd name="connsiteX58" fmla="*/ 281387 w 763913"/>
                <a:gd name="connsiteY58" fmla="*/ 110607 h 201029"/>
                <a:gd name="connsiteX59" fmla="*/ 281387 w 763913"/>
                <a:gd name="connsiteY59" fmla="*/ 130683 h 201029"/>
                <a:gd name="connsiteX60" fmla="*/ 281387 w 763913"/>
                <a:gd name="connsiteY60" fmla="*/ 90477 h 201029"/>
                <a:gd name="connsiteX61" fmla="*/ 261311 w 763913"/>
                <a:gd name="connsiteY61" fmla="*/ 90477 h 201029"/>
                <a:gd name="connsiteX62" fmla="*/ 261311 w 763913"/>
                <a:gd name="connsiteY62" fmla="*/ 70401 h 201029"/>
                <a:gd name="connsiteX63" fmla="*/ 281387 w 763913"/>
                <a:gd name="connsiteY63" fmla="*/ 70401 h 201029"/>
                <a:gd name="connsiteX64" fmla="*/ 281387 w 763913"/>
                <a:gd name="connsiteY64" fmla="*/ 90477 h 201029"/>
                <a:gd name="connsiteX65" fmla="*/ 321593 w 763913"/>
                <a:gd name="connsiteY65" fmla="*/ 130683 h 201029"/>
                <a:gd name="connsiteX66" fmla="*/ 301517 w 763913"/>
                <a:gd name="connsiteY66" fmla="*/ 130683 h 201029"/>
                <a:gd name="connsiteX67" fmla="*/ 301517 w 763913"/>
                <a:gd name="connsiteY67" fmla="*/ 110607 h 201029"/>
                <a:gd name="connsiteX68" fmla="*/ 321593 w 763913"/>
                <a:gd name="connsiteY68" fmla="*/ 110607 h 201029"/>
                <a:gd name="connsiteX69" fmla="*/ 321593 w 763913"/>
                <a:gd name="connsiteY69" fmla="*/ 130683 h 201029"/>
                <a:gd name="connsiteX70" fmla="*/ 321593 w 763913"/>
                <a:gd name="connsiteY70" fmla="*/ 90477 h 201029"/>
                <a:gd name="connsiteX71" fmla="*/ 301517 w 763913"/>
                <a:gd name="connsiteY71" fmla="*/ 90477 h 201029"/>
                <a:gd name="connsiteX72" fmla="*/ 301517 w 763913"/>
                <a:gd name="connsiteY72" fmla="*/ 70401 h 201029"/>
                <a:gd name="connsiteX73" fmla="*/ 321593 w 763913"/>
                <a:gd name="connsiteY73" fmla="*/ 70401 h 201029"/>
                <a:gd name="connsiteX74" fmla="*/ 321593 w 763913"/>
                <a:gd name="connsiteY74" fmla="*/ 90477 h 201029"/>
                <a:gd name="connsiteX75" fmla="*/ 585093 w 763913"/>
                <a:gd name="connsiteY75" fmla="*/ 120673 h 201029"/>
                <a:gd name="connsiteX76" fmla="*/ 565017 w 763913"/>
                <a:gd name="connsiteY76" fmla="*/ 100542 h 201029"/>
                <a:gd name="connsiteX77" fmla="*/ 585093 w 763913"/>
                <a:gd name="connsiteY77" fmla="*/ 80467 h 201029"/>
                <a:gd name="connsiteX78" fmla="*/ 605168 w 763913"/>
                <a:gd name="connsiteY78" fmla="*/ 100542 h 201029"/>
                <a:gd name="connsiteX79" fmla="*/ 585093 w 763913"/>
                <a:gd name="connsiteY79" fmla="*/ 120673 h 201029"/>
                <a:gd name="connsiteX80" fmla="*/ 667364 w 763913"/>
                <a:gd name="connsiteY80" fmla="*/ 120673 h 201029"/>
                <a:gd name="connsiteX81" fmla="*/ 647289 w 763913"/>
                <a:gd name="connsiteY81" fmla="*/ 100542 h 201029"/>
                <a:gd name="connsiteX82" fmla="*/ 667364 w 763913"/>
                <a:gd name="connsiteY82" fmla="*/ 80467 h 201029"/>
                <a:gd name="connsiteX83" fmla="*/ 687440 w 763913"/>
                <a:gd name="connsiteY83" fmla="*/ 100542 h 201029"/>
                <a:gd name="connsiteX84" fmla="*/ 667364 w 763913"/>
                <a:gd name="connsiteY84" fmla="*/ 120673 h 201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763913" h="201029">
                  <a:moveTo>
                    <a:pt x="0" y="0"/>
                  </a:moveTo>
                  <a:lnTo>
                    <a:pt x="0" y="201030"/>
                  </a:lnTo>
                  <a:lnTo>
                    <a:pt x="763913" y="201030"/>
                  </a:lnTo>
                  <a:lnTo>
                    <a:pt x="763913" y="0"/>
                  </a:lnTo>
                  <a:lnTo>
                    <a:pt x="0" y="0"/>
                  </a:lnTo>
                  <a:close/>
                  <a:moveTo>
                    <a:pt x="80357" y="130683"/>
                  </a:moveTo>
                  <a:lnTo>
                    <a:pt x="60282" y="130683"/>
                  </a:lnTo>
                  <a:lnTo>
                    <a:pt x="60282" y="110607"/>
                  </a:lnTo>
                  <a:lnTo>
                    <a:pt x="80357" y="110607"/>
                  </a:lnTo>
                  <a:lnTo>
                    <a:pt x="80357" y="130683"/>
                  </a:lnTo>
                  <a:close/>
                  <a:moveTo>
                    <a:pt x="80357" y="90477"/>
                  </a:moveTo>
                  <a:lnTo>
                    <a:pt x="60282" y="90477"/>
                  </a:lnTo>
                  <a:lnTo>
                    <a:pt x="60282" y="70401"/>
                  </a:lnTo>
                  <a:lnTo>
                    <a:pt x="80357" y="70401"/>
                  </a:lnTo>
                  <a:lnTo>
                    <a:pt x="80357" y="90477"/>
                  </a:lnTo>
                  <a:close/>
                  <a:moveTo>
                    <a:pt x="120563" y="130683"/>
                  </a:moveTo>
                  <a:lnTo>
                    <a:pt x="100488" y="130683"/>
                  </a:lnTo>
                  <a:lnTo>
                    <a:pt x="100488" y="110607"/>
                  </a:lnTo>
                  <a:lnTo>
                    <a:pt x="120563" y="110607"/>
                  </a:lnTo>
                  <a:lnTo>
                    <a:pt x="120563" y="130683"/>
                  </a:lnTo>
                  <a:close/>
                  <a:moveTo>
                    <a:pt x="120563" y="90477"/>
                  </a:moveTo>
                  <a:lnTo>
                    <a:pt x="100488" y="90477"/>
                  </a:lnTo>
                  <a:lnTo>
                    <a:pt x="100488" y="70401"/>
                  </a:lnTo>
                  <a:lnTo>
                    <a:pt x="120563" y="70401"/>
                  </a:lnTo>
                  <a:lnTo>
                    <a:pt x="120563" y="90477"/>
                  </a:lnTo>
                  <a:close/>
                  <a:moveTo>
                    <a:pt x="160769" y="130683"/>
                  </a:moveTo>
                  <a:lnTo>
                    <a:pt x="140694" y="130683"/>
                  </a:lnTo>
                  <a:lnTo>
                    <a:pt x="140694" y="110607"/>
                  </a:lnTo>
                  <a:lnTo>
                    <a:pt x="160769" y="110607"/>
                  </a:lnTo>
                  <a:lnTo>
                    <a:pt x="160769" y="130683"/>
                  </a:lnTo>
                  <a:close/>
                  <a:moveTo>
                    <a:pt x="160769" y="90477"/>
                  </a:moveTo>
                  <a:lnTo>
                    <a:pt x="140694" y="90477"/>
                  </a:lnTo>
                  <a:lnTo>
                    <a:pt x="140694" y="70401"/>
                  </a:lnTo>
                  <a:lnTo>
                    <a:pt x="160769" y="70401"/>
                  </a:lnTo>
                  <a:lnTo>
                    <a:pt x="160769" y="90477"/>
                  </a:lnTo>
                  <a:close/>
                  <a:moveTo>
                    <a:pt x="200975" y="130683"/>
                  </a:moveTo>
                  <a:lnTo>
                    <a:pt x="180900" y="130683"/>
                  </a:lnTo>
                  <a:lnTo>
                    <a:pt x="180900" y="110607"/>
                  </a:lnTo>
                  <a:lnTo>
                    <a:pt x="200975" y="110607"/>
                  </a:lnTo>
                  <a:lnTo>
                    <a:pt x="200975" y="130683"/>
                  </a:lnTo>
                  <a:close/>
                  <a:moveTo>
                    <a:pt x="200975" y="90477"/>
                  </a:moveTo>
                  <a:lnTo>
                    <a:pt x="180900" y="90477"/>
                  </a:lnTo>
                  <a:lnTo>
                    <a:pt x="180900" y="70401"/>
                  </a:lnTo>
                  <a:lnTo>
                    <a:pt x="200975" y="70401"/>
                  </a:lnTo>
                  <a:lnTo>
                    <a:pt x="200975" y="90477"/>
                  </a:lnTo>
                  <a:close/>
                  <a:moveTo>
                    <a:pt x="241181" y="130683"/>
                  </a:moveTo>
                  <a:lnTo>
                    <a:pt x="221051" y="130683"/>
                  </a:lnTo>
                  <a:lnTo>
                    <a:pt x="221051" y="110607"/>
                  </a:lnTo>
                  <a:lnTo>
                    <a:pt x="241181" y="110607"/>
                  </a:lnTo>
                  <a:lnTo>
                    <a:pt x="241181" y="130683"/>
                  </a:lnTo>
                  <a:close/>
                  <a:moveTo>
                    <a:pt x="241181" y="90477"/>
                  </a:moveTo>
                  <a:lnTo>
                    <a:pt x="221051" y="90477"/>
                  </a:lnTo>
                  <a:lnTo>
                    <a:pt x="221051" y="70401"/>
                  </a:lnTo>
                  <a:lnTo>
                    <a:pt x="241181" y="70401"/>
                  </a:lnTo>
                  <a:lnTo>
                    <a:pt x="241181" y="90477"/>
                  </a:lnTo>
                  <a:close/>
                  <a:moveTo>
                    <a:pt x="281387" y="130683"/>
                  </a:moveTo>
                  <a:lnTo>
                    <a:pt x="261311" y="130683"/>
                  </a:lnTo>
                  <a:lnTo>
                    <a:pt x="261311" y="110607"/>
                  </a:lnTo>
                  <a:lnTo>
                    <a:pt x="281387" y="110607"/>
                  </a:lnTo>
                  <a:lnTo>
                    <a:pt x="281387" y="130683"/>
                  </a:lnTo>
                  <a:close/>
                  <a:moveTo>
                    <a:pt x="281387" y="90477"/>
                  </a:moveTo>
                  <a:lnTo>
                    <a:pt x="261311" y="90477"/>
                  </a:lnTo>
                  <a:lnTo>
                    <a:pt x="261311" y="70401"/>
                  </a:lnTo>
                  <a:lnTo>
                    <a:pt x="281387" y="70401"/>
                  </a:lnTo>
                  <a:lnTo>
                    <a:pt x="281387" y="90477"/>
                  </a:lnTo>
                  <a:close/>
                  <a:moveTo>
                    <a:pt x="321593" y="130683"/>
                  </a:moveTo>
                  <a:lnTo>
                    <a:pt x="301517" y="130683"/>
                  </a:lnTo>
                  <a:lnTo>
                    <a:pt x="301517" y="110607"/>
                  </a:lnTo>
                  <a:lnTo>
                    <a:pt x="321593" y="110607"/>
                  </a:lnTo>
                  <a:lnTo>
                    <a:pt x="321593" y="130683"/>
                  </a:lnTo>
                  <a:close/>
                  <a:moveTo>
                    <a:pt x="321593" y="90477"/>
                  </a:moveTo>
                  <a:lnTo>
                    <a:pt x="301517" y="90477"/>
                  </a:lnTo>
                  <a:lnTo>
                    <a:pt x="301517" y="70401"/>
                  </a:lnTo>
                  <a:lnTo>
                    <a:pt x="321593" y="70401"/>
                  </a:lnTo>
                  <a:lnTo>
                    <a:pt x="321593" y="90477"/>
                  </a:lnTo>
                  <a:close/>
                  <a:moveTo>
                    <a:pt x="585093" y="120673"/>
                  </a:moveTo>
                  <a:cubicBezTo>
                    <a:pt x="573988" y="120673"/>
                    <a:pt x="565017" y="111647"/>
                    <a:pt x="565017" y="100542"/>
                  </a:cubicBezTo>
                  <a:cubicBezTo>
                    <a:pt x="565017" y="89438"/>
                    <a:pt x="574043" y="80467"/>
                    <a:pt x="585093" y="80467"/>
                  </a:cubicBezTo>
                  <a:cubicBezTo>
                    <a:pt x="596142" y="80467"/>
                    <a:pt x="605168" y="89492"/>
                    <a:pt x="605168" y="100542"/>
                  </a:cubicBezTo>
                  <a:cubicBezTo>
                    <a:pt x="605168" y="111592"/>
                    <a:pt x="596142" y="120673"/>
                    <a:pt x="585093" y="120673"/>
                  </a:cubicBezTo>
                  <a:close/>
                  <a:moveTo>
                    <a:pt x="667364" y="120673"/>
                  </a:moveTo>
                  <a:cubicBezTo>
                    <a:pt x="656260" y="120673"/>
                    <a:pt x="647289" y="111647"/>
                    <a:pt x="647289" y="100542"/>
                  </a:cubicBezTo>
                  <a:cubicBezTo>
                    <a:pt x="647289" y="89438"/>
                    <a:pt x="656315" y="80467"/>
                    <a:pt x="667364" y="80467"/>
                  </a:cubicBezTo>
                  <a:cubicBezTo>
                    <a:pt x="678414" y="80467"/>
                    <a:pt x="687440" y="89492"/>
                    <a:pt x="687440" y="100542"/>
                  </a:cubicBezTo>
                  <a:cubicBezTo>
                    <a:pt x="687440" y="111592"/>
                    <a:pt x="678414" y="120673"/>
                    <a:pt x="667364" y="120673"/>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grpSp>
        <p:nvGrpSpPr>
          <p:cNvPr id="11" name="Group 10">
            <a:extLst>
              <a:ext uri="{FF2B5EF4-FFF2-40B4-BE49-F238E27FC236}">
                <a16:creationId xmlns:a16="http://schemas.microsoft.com/office/drawing/2014/main" id="{0D7CE463-509E-42E4-17D0-1D6670B25401}"/>
              </a:ext>
            </a:extLst>
          </p:cNvPr>
          <p:cNvGrpSpPr/>
          <p:nvPr/>
        </p:nvGrpSpPr>
        <p:grpSpPr>
          <a:xfrm>
            <a:off x="5228818" y="2514600"/>
            <a:ext cx="1202590" cy="545078"/>
            <a:chOff x="5183941" y="4148028"/>
            <a:chExt cx="1202590" cy="545078"/>
          </a:xfrm>
        </p:grpSpPr>
        <p:sp>
          <p:nvSpPr>
            <p:cNvPr id="12" name="Rectangle: Rounded Corners 25">
              <a:extLst>
                <a:ext uri="{FF2B5EF4-FFF2-40B4-BE49-F238E27FC236}">
                  <a16:creationId xmlns:a16="http://schemas.microsoft.com/office/drawing/2014/main" id="{19FAAC35-6D41-DA35-66CA-A073CAC7F299}"/>
                </a:ext>
              </a:extLst>
            </p:cNvPr>
            <p:cNvSpPr>
              <a:spLocks noChangeAspect="1"/>
            </p:cNvSpPr>
            <p:nvPr/>
          </p:nvSpPr>
          <p:spPr>
            <a:xfrm>
              <a:off x="5183941" y="4148028"/>
              <a:ext cx="1202590" cy="545078"/>
            </a:xfrm>
            <a:prstGeom prst="roundRect">
              <a:avLst>
                <a:gd name="adj" fmla="val 10000"/>
              </a:avLst>
            </a:prstGeom>
            <a:solidFill>
              <a:schemeClr val="bg1"/>
            </a:solidFill>
            <a:ln w="1905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Graphic 9">
              <a:extLst>
                <a:ext uri="{FF2B5EF4-FFF2-40B4-BE49-F238E27FC236}">
                  <a16:creationId xmlns:a16="http://schemas.microsoft.com/office/drawing/2014/main" id="{EE8ABD51-E4F1-32BB-2333-4A17F9C2AA79}"/>
                </a:ext>
              </a:extLst>
            </p:cNvPr>
            <p:cNvSpPr>
              <a:spLocks noChangeAspect="1"/>
            </p:cNvSpPr>
            <p:nvPr/>
          </p:nvSpPr>
          <p:spPr>
            <a:xfrm>
              <a:off x="5418012" y="4323931"/>
              <a:ext cx="734448" cy="193273"/>
            </a:xfrm>
            <a:custGeom>
              <a:avLst/>
              <a:gdLst>
                <a:gd name="connsiteX0" fmla="*/ 0 w 763913"/>
                <a:gd name="connsiteY0" fmla="*/ 0 h 201029"/>
                <a:gd name="connsiteX1" fmla="*/ 0 w 763913"/>
                <a:gd name="connsiteY1" fmla="*/ 201030 h 201029"/>
                <a:gd name="connsiteX2" fmla="*/ 763913 w 763913"/>
                <a:gd name="connsiteY2" fmla="*/ 201030 h 201029"/>
                <a:gd name="connsiteX3" fmla="*/ 763913 w 763913"/>
                <a:gd name="connsiteY3" fmla="*/ 0 h 201029"/>
                <a:gd name="connsiteX4" fmla="*/ 0 w 763913"/>
                <a:gd name="connsiteY4" fmla="*/ 0 h 201029"/>
                <a:gd name="connsiteX5" fmla="*/ 80357 w 763913"/>
                <a:gd name="connsiteY5" fmla="*/ 130683 h 201029"/>
                <a:gd name="connsiteX6" fmla="*/ 60282 w 763913"/>
                <a:gd name="connsiteY6" fmla="*/ 130683 h 201029"/>
                <a:gd name="connsiteX7" fmla="*/ 60282 w 763913"/>
                <a:gd name="connsiteY7" fmla="*/ 110607 h 201029"/>
                <a:gd name="connsiteX8" fmla="*/ 80357 w 763913"/>
                <a:gd name="connsiteY8" fmla="*/ 110607 h 201029"/>
                <a:gd name="connsiteX9" fmla="*/ 80357 w 763913"/>
                <a:gd name="connsiteY9" fmla="*/ 130683 h 201029"/>
                <a:gd name="connsiteX10" fmla="*/ 80357 w 763913"/>
                <a:gd name="connsiteY10" fmla="*/ 90477 h 201029"/>
                <a:gd name="connsiteX11" fmla="*/ 60282 w 763913"/>
                <a:gd name="connsiteY11" fmla="*/ 90477 h 201029"/>
                <a:gd name="connsiteX12" fmla="*/ 60282 w 763913"/>
                <a:gd name="connsiteY12" fmla="*/ 70401 h 201029"/>
                <a:gd name="connsiteX13" fmla="*/ 80357 w 763913"/>
                <a:gd name="connsiteY13" fmla="*/ 70401 h 201029"/>
                <a:gd name="connsiteX14" fmla="*/ 80357 w 763913"/>
                <a:gd name="connsiteY14" fmla="*/ 90477 h 201029"/>
                <a:gd name="connsiteX15" fmla="*/ 120563 w 763913"/>
                <a:gd name="connsiteY15" fmla="*/ 130683 h 201029"/>
                <a:gd name="connsiteX16" fmla="*/ 100488 w 763913"/>
                <a:gd name="connsiteY16" fmla="*/ 130683 h 201029"/>
                <a:gd name="connsiteX17" fmla="*/ 100488 w 763913"/>
                <a:gd name="connsiteY17" fmla="*/ 110607 h 201029"/>
                <a:gd name="connsiteX18" fmla="*/ 120563 w 763913"/>
                <a:gd name="connsiteY18" fmla="*/ 110607 h 201029"/>
                <a:gd name="connsiteX19" fmla="*/ 120563 w 763913"/>
                <a:gd name="connsiteY19" fmla="*/ 130683 h 201029"/>
                <a:gd name="connsiteX20" fmla="*/ 120563 w 763913"/>
                <a:gd name="connsiteY20" fmla="*/ 90477 h 201029"/>
                <a:gd name="connsiteX21" fmla="*/ 100488 w 763913"/>
                <a:gd name="connsiteY21" fmla="*/ 90477 h 201029"/>
                <a:gd name="connsiteX22" fmla="*/ 100488 w 763913"/>
                <a:gd name="connsiteY22" fmla="*/ 70401 h 201029"/>
                <a:gd name="connsiteX23" fmla="*/ 120563 w 763913"/>
                <a:gd name="connsiteY23" fmla="*/ 70401 h 201029"/>
                <a:gd name="connsiteX24" fmla="*/ 120563 w 763913"/>
                <a:gd name="connsiteY24" fmla="*/ 90477 h 201029"/>
                <a:gd name="connsiteX25" fmla="*/ 160769 w 763913"/>
                <a:gd name="connsiteY25" fmla="*/ 130683 h 201029"/>
                <a:gd name="connsiteX26" fmla="*/ 140694 w 763913"/>
                <a:gd name="connsiteY26" fmla="*/ 130683 h 201029"/>
                <a:gd name="connsiteX27" fmla="*/ 140694 w 763913"/>
                <a:gd name="connsiteY27" fmla="*/ 110607 h 201029"/>
                <a:gd name="connsiteX28" fmla="*/ 160769 w 763913"/>
                <a:gd name="connsiteY28" fmla="*/ 110607 h 201029"/>
                <a:gd name="connsiteX29" fmla="*/ 160769 w 763913"/>
                <a:gd name="connsiteY29" fmla="*/ 130683 h 201029"/>
                <a:gd name="connsiteX30" fmla="*/ 160769 w 763913"/>
                <a:gd name="connsiteY30" fmla="*/ 90477 h 201029"/>
                <a:gd name="connsiteX31" fmla="*/ 140694 w 763913"/>
                <a:gd name="connsiteY31" fmla="*/ 90477 h 201029"/>
                <a:gd name="connsiteX32" fmla="*/ 140694 w 763913"/>
                <a:gd name="connsiteY32" fmla="*/ 70401 h 201029"/>
                <a:gd name="connsiteX33" fmla="*/ 160769 w 763913"/>
                <a:gd name="connsiteY33" fmla="*/ 70401 h 201029"/>
                <a:gd name="connsiteX34" fmla="*/ 160769 w 763913"/>
                <a:gd name="connsiteY34" fmla="*/ 90477 h 201029"/>
                <a:gd name="connsiteX35" fmla="*/ 200975 w 763913"/>
                <a:gd name="connsiteY35" fmla="*/ 130683 h 201029"/>
                <a:gd name="connsiteX36" fmla="*/ 180900 w 763913"/>
                <a:gd name="connsiteY36" fmla="*/ 130683 h 201029"/>
                <a:gd name="connsiteX37" fmla="*/ 180900 w 763913"/>
                <a:gd name="connsiteY37" fmla="*/ 110607 h 201029"/>
                <a:gd name="connsiteX38" fmla="*/ 200975 w 763913"/>
                <a:gd name="connsiteY38" fmla="*/ 110607 h 201029"/>
                <a:gd name="connsiteX39" fmla="*/ 200975 w 763913"/>
                <a:gd name="connsiteY39" fmla="*/ 130683 h 201029"/>
                <a:gd name="connsiteX40" fmla="*/ 200975 w 763913"/>
                <a:gd name="connsiteY40" fmla="*/ 90477 h 201029"/>
                <a:gd name="connsiteX41" fmla="*/ 180900 w 763913"/>
                <a:gd name="connsiteY41" fmla="*/ 90477 h 201029"/>
                <a:gd name="connsiteX42" fmla="*/ 180900 w 763913"/>
                <a:gd name="connsiteY42" fmla="*/ 70401 h 201029"/>
                <a:gd name="connsiteX43" fmla="*/ 200975 w 763913"/>
                <a:gd name="connsiteY43" fmla="*/ 70401 h 201029"/>
                <a:gd name="connsiteX44" fmla="*/ 200975 w 763913"/>
                <a:gd name="connsiteY44" fmla="*/ 90477 h 201029"/>
                <a:gd name="connsiteX45" fmla="*/ 241181 w 763913"/>
                <a:gd name="connsiteY45" fmla="*/ 130683 h 201029"/>
                <a:gd name="connsiteX46" fmla="*/ 221051 w 763913"/>
                <a:gd name="connsiteY46" fmla="*/ 130683 h 201029"/>
                <a:gd name="connsiteX47" fmla="*/ 221051 w 763913"/>
                <a:gd name="connsiteY47" fmla="*/ 110607 h 201029"/>
                <a:gd name="connsiteX48" fmla="*/ 241181 w 763913"/>
                <a:gd name="connsiteY48" fmla="*/ 110607 h 201029"/>
                <a:gd name="connsiteX49" fmla="*/ 241181 w 763913"/>
                <a:gd name="connsiteY49" fmla="*/ 130683 h 201029"/>
                <a:gd name="connsiteX50" fmla="*/ 241181 w 763913"/>
                <a:gd name="connsiteY50" fmla="*/ 90477 h 201029"/>
                <a:gd name="connsiteX51" fmla="*/ 221051 w 763913"/>
                <a:gd name="connsiteY51" fmla="*/ 90477 h 201029"/>
                <a:gd name="connsiteX52" fmla="*/ 221051 w 763913"/>
                <a:gd name="connsiteY52" fmla="*/ 70401 h 201029"/>
                <a:gd name="connsiteX53" fmla="*/ 241181 w 763913"/>
                <a:gd name="connsiteY53" fmla="*/ 70401 h 201029"/>
                <a:gd name="connsiteX54" fmla="*/ 241181 w 763913"/>
                <a:gd name="connsiteY54" fmla="*/ 90477 h 201029"/>
                <a:gd name="connsiteX55" fmla="*/ 281387 w 763913"/>
                <a:gd name="connsiteY55" fmla="*/ 130683 h 201029"/>
                <a:gd name="connsiteX56" fmla="*/ 261311 w 763913"/>
                <a:gd name="connsiteY56" fmla="*/ 130683 h 201029"/>
                <a:gd name="connsiteX57" fmla="*/ 261311 w 763913"/>
                <a:gd name="connsiteY57" fmla="*/ 110607 h 201029"/>
                <a:gd name="connsiteX58" fmla="*/ 281387 w 763913"/>
                <a:gd name="connsiteY58" fmla="*/ 110607 h 201029"/>
                <a:gd name="connsiteX59" fmla="*/ 281387 w 763913"/>
                <a:gd name="connsiteY59" fmla="*/ 130683 h 201029"/>
                <a:gd name="connsiteX60" fmla="*/ 281387 w 763913"/>
                <a:gd name="connsiteY60" fmla="*/ 90477 h 201029"/>
                <a:gd name="connsiteX61" fmla="*/ 261311 w 763913"/>
                <a:gd name="connsiteY61" fmla="*/ 90477 h 201029"/>
                <a:gd name="connsiteX62" fmla="*/ 261311 w 763913"/>
                <a:gd name="connsiteY62" fmla="*/ 70401 h 201029"/>
                <a:gd name="connsiteX63" fmla="*/ 281387 w 763913"/>
                <a:gd name="connsiteY63" fmla="*/ 70401 h 201029"/>
                <a:gd name="connsiteX64" fmla="*/ 281387 w 763913"/>
                <a:gd name="connsiteY64" fmla="*/ 90477 h 201029"/>
                <a:gd name="connsiteX65" fmla="*/ 321593 w 763913"/>
                <a:gd name="connsiteY65" fmla="*/ 130683 h 201029"/>
                <a:gd name="connsiteX66" fmla="*/ 301517 w 763913"/>
                <a:gd name="connsiteY66" fmla="*/ 130683 h 201029"/>
                <a:gd name="connsiteX67" fmla="*/ 301517 w 763913"/>
                <a:gd name="connsiteY67" fmla="*/ 110607 h 201029"/>
                <a:gd name="connsiteX68" fmla="*/ 321593 w 763913"/>
                <a:gd name="connsiteY68" fmla="*/ 110607 h 201029"/>
                <a:gd name="connsiteX69" fmla="*/ 321593 w 763913"/>
                <a:gd name="connsiteY69" fmla="*/ 130683 h 201029"/>
                <a:gd name="connsiteX70" fmla="*/ 321593 w 763913"/>
                <a:gd name="connsiteY70" fmla="*/ 90477 h 201029"/>
                <a:gd name="connsiteX71" fmla="*/ 301517 w 763913"/>
                <a:gd name="connsiteY71" fmla="*/ 90477 h 201029"/>
                <a:gd name="connsiteX72" fmla="*/ 301517 w 763913"/>
                <a:gd name="connsiteY72" fmla="*/ 70401 h 201029"/>
                <a:gd name="connsiteX73" fmla="*/ 321593 w 763913"/>
                <a:gd name="connsiteY73" fmla="*/ 70401 h 201029"/>
                <a:gd name="connsiteX74" fmla="*/ 321593 w 763913"/>
                <a:gd name="connsiteY74" fmla="*/ 90477 h 201029"/>
                <a:gd name="connsiteX75" fmla="*/ 585093 w 763913"/>
                <a:gd name="connsiteY75" fmla="*/ 120673 h 201029"/>
                <a:gd name="connsiteX76" fmla="*/ 565017 w 763913"/>
                <a:gd name="connsiteY76" fmla="*/ 100542 h 201029"/>
                <a:gd name="connsiteX77" fmla="*/ 585093 w 763913"/>
                <a:gd name="connsiteY77" fmla="*/ 80467 h 201029"/>
                <a:gd name="connsiteX78" fmla="*/ 605168 w 763913"/>
                <a:gd name="connsiteY78" fmla="*/ 100542 h 201029"/>
                <a:gd name="connsiteX79" fmla="*/ 585093 w 763913"/>
                <a:gd name="connsiteY79" fmla="*/ 120673 h 201029"/>
                <a:gd name="connsiteX80" fmla="*/ 667364 w 763913"/>
                <a:gd name="connsiteY80" fmla="*/ 120673 h 201029"/>
                <a:gd name="connsiteX81" fmla="*/ 647289 w 763913"/>
                <a:gd name="connsiteY81" fmla="*/ 100542 h 201029"/>
                <a:gd name="connsiteX82" fmla="*/ 667364 w 763913"/>
                <a:gd name="connsiteY82" fmla="*/ 80467 h 201029"/>
                <a:gd name="connsiteX83" fmla="*/ 687440 w 763913"/>
                <a:gd name="connsiteY83" fmla="*/ 100542 h 201029"/>
                <a:gd name="connsiteX84" fmla="*/ 667364 w 763913"/>
                <a:gd name="connsiteY84" fmla="*/ 120673 h 201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763913" h="201029">
                  <a:moveTo>
                    <a:pt x="0" y="0"/>
                  </a:moveTo>
                  <a:lnTo>
                    <a:pt x="0" y="201030"/>
                  </a:lnTo>
                  <a:lnTo>
                    <a:pt x="763913" y="201030"/>
                  </a:lnTo>
                  <a:lnTo>
                    <a:pt x="763913" y="0"/>
                  </a:lnTo>
                  <a:lnTo>
                    <a:pt x="0" y="0"/>
                  </a:lnTo>
                  <a:close/>
                  <a:moveTo>
                    <a:pt x="80357" y="130683"/>
                  </a:moveTo>
                  <a:lnTo>
                    <a:pt x="60282" y="130683"/>
                  </a:lnTo>
                  <a:lnTo>
                    <a:pt x="60282" y="110607"/>
                  </a:lnTo>
                  <a:lnTo>
                    <a:pt x="80357" y="110607"/>
                  </a:lnTo>
                  <a:lnTo>
                    <a:pt x="80357" y="130683"/>
                  </a:lnTo>
                  <a:close/>
                  <a:moveTo>
                    <a:pt x="80357" y="90477"/>
                  </a:moveTo>
                  <a:lnTo>
                    <a:pt x="60282" y="90477"/>
                  </a:lnTo>
                  <a:lnTo>
                    <a:pt x="60282" y="70401"/>
                  </a:lnTo>
                  <a:lnTo>
                    <a:pt x="80357" y="70401"/>
                  </a:lnTo>
                  <a:lnTo>
                    <a:pt x="80357" y="90477"/>
                  </a:lnTo>
                  <a:close/>
                  <a:moveTo>
                    <a:pt x="120563" y="130683"/>
                  </a:moveTo>
                  <a:lnTo>
                    <a:pt x="100488" y="130683"/>
                  </a:lnTo>
                  <a:lnTo>
                    <a:pt x="100488" y="110607"/>
                  </a:lnTo>
                  <a:lnTo>
                    <a:pt x="120563" y="110607"/>
                  </a:lnTo>
                  <a:lnTo>
                    <a:pt x="120563" y="130683"/>
                  </a:lnTo>
                  <a:close/>
                  <a:moveTo>
                    <a:pt x="120563" y="90477"/>
                  </a:moveTo>
                  <a:lnTo>
                    <a:pt x="100488" y="90477"/>
                  </a:lnTo>
                  <a:lnTo>
                    <a:pt x="100488" y="70401"/>
                  </a:lnTo>
                  <a:lnTo>
                    <a:pt x="120563" y="70401"/>
                  </a:lnTo>
                  <a:lnTo>
                    <a:pt x="120563" y="90477"/>
                  </a:lnTo>
                  <a:close/>
                  <a:moveTo>
                    <a:pt x="160769" y="130683"/>
                  </a:moveTo>
                  <a:lnTo>
                    <a:pt x="140694" y="130683"/>
                  </a:lnTo>
                  <a:lnTo>
                    <a:pt x="140694" y="110607"/>
                  </a:lnTo>
                  <a:lnTo>
                    <a:pt x="160769" y="110607"/>
                  </a:lnTo>
                  <a:lnTo>
                    <a:pt x="160769" y="130683"/>
                  </a:lnTo>
                  <a:close/>
                  <a:moveTo>
                    <a:pt x="160769" y="90477"/>
                  </a:moveTo>
                  <a:lnTo>
                    <a:pt x="140694" y="90477"/>
                  </a:lnTo>
                  <a:lnTo>
                    <a:pt x="140694" y="70401"/>
                  </a:lnTo>
                  <a:lnTo>
                    <a:pt x="160769" y="70401"/>
                  </a:lnTo>
                  <a:lnTo>
                    <a:pt x="160769" y="90477"/>
                  </a:lnTo>
                  <a:close/>
                  <a:moveTo>
                    <a:pt x="200975" y="130683"/>
                  </a:moveTo>
                  <a:lnTo>
                    <a:pt x="180900" y="130683"/>
                  </a:lnTo>
                  <a:lnTo>
                    <a:pt x="180900" y="110607"/>
                  </a:lnTo>
                  <a:lnTo>
                    <a:pt x="200975" y="110607"/>
                  </a:lnTo>
                  <a:lnTo>
                    <a:pt x="200975" y="130683"/>
                  </a:lnTo>
                  <a:close/>
                  <a:moveTo>
                    <a:pt x="200975" y="90477"/>
                  </a:moveTo>
                  <a:lnTo>
                    <a:pt x="180900" y="90477"/>
                  </a:lnTo>
                  <a:lnTo>
                    <a:pt x="180900" y="70401"/>
                  </a:lnTo>
                  <a:lnTo>
                    <a:pt x="200975" y="70401"/>
                  </a:lnTo>
                  <a:lnTo>
                    <a:pt x="200975" y="90477"/>
                  </a:lnTo>
                  <a:close/>
                  <a:moveTo>
                    <a:pt x="241181" y="130683"/>
                  </a:moveTo>
                  <a:lnTo>
                    <a:pt x="221051" y="130683"/>
                  </a:lnTo>
                  <a:lnTo>
                    <a:pt x="221051" y="110607"/>
                  </a:lnTo>
                  <a:lnTo>
                    <a:pt x="241181" y="110607"/>
                  </a:lnTo>
                  <a:lnTo>
                    <a:pt x="241181" y="130683"/>
                  </a:lnTo>
                  <a:close/>
                  <a:moveTo>
                    <a:pt x="241181" y="90477"/>
                  </a:moveTo>
                  <a:lnTo>
                    <a:pt x="221051" y="90477"/>
                  </a:lnTo>
                  <a:lnTo>
                    <a:pt x="221051" y="70401"/>
                  </a:lnTo>
                  <a:lnTo>
                    <a:pt x="241181" y="70401"/>
                  </a:lnTo>
                  <a:lnTo>
                    <a:pt x="241181" y="90477"/>
                  </a:lnTo>
                  <a:close/>
                  <a:moveTo>
                    <a:pt x="281387" y="130683"/>
                  </a:moveTo>
                  <a:lnTo>
                    <a:pt x="261311" y="130683"/>
                  </a:lnTo>
                  <a:lnTo>
                    <a:pt x="261311" y="110607"/>
                  </a:lnTo>
                  <a:lnTo>
                    <a:pt x="281387" y="110607"/>
                  </a:lnTo>
                  <a:lnTo>
                    <a:pt x="281387" y="130683"/>
                  </a:lnTo>
                  <a:close/>
                  <a:moveTo>
                    <a:pt x="281387" y="90477"/>
                  </a:moveTo>
                  <a:lnTo>
                    <a:pt x="261311" y="90477"/>
                  </a:lnTo>
                  <a:lnTo>
                    <a:pt x="261311" y="70401"/>
                  </a:lnTo>
                  <a:lnTo>
                    <a:pt x="281387" y="70401"/>
                  </a:lnTo>
                  <a:lnTo>
                    <a:pt x="281387" y="90477"/>
                  </a:lnTo>
                  <a:close/>
                  <a:moveTo>
                    <a:pt x="321593" y="130683"/>
                  </a:moveTo>
                  <a:lnTo>
                    <a:pt x="301517" y="130683"/>
                  </a:lnTo>
                  <a:lnTo>
                    <a:pt x="301517" y="110607"/>
                  </a:lnTo>
                  <a:lnTo>
                    <a:pt x="321593" y="110607"/>
                  </a:lnTo>
                  <a:lnTo>
                    <a:pt x="321593" y="130683"/>
                  </a:lnTo>
                  <a:close/>
                  <a:moveTo>
                    <a:pt x="321593" y="90477"/>
                  </a:moveTo>
                  <a:lnTo>
                    <a:pt x="301517" y="90477"/>
                  </a:lnTo>
                  <a:lnTo>
                    <a:pt x="301517" y="70401"/>
                  </a:lnTo>
                  <a:lnTo>
                    <a:pt x="321593" y="70401"/>
                  </a:lnTo>
                  <a:lnTo>
                    <a:pt x="321593" y="90477"/>
                  </a:lnTo>
                  <a:close/>
                  <a:moveTo>
                    <a:pt x="585093" y="120673"/>
                  </a:moveTo>
                  <a:cubicBezTo>
                    <a:pt x="573988" y="120673"/>
                    <a:pt x="565017" y="111647"/>
                    <a:pt x="565017" y="100542"/>
                  </a:cubicBezTo>
                  <a:cubicBezTo>
                    <a:pt x="565017" y="89438"/>
                    <a:pt x="574043" y="80467"/>
                    <a:pt x="585093" y="80467"/>
                  </a:cubicBezTo>
                  <a:cubicBezTo>
                    <a:pt x="596142" y="80467"/>
                    <a:pt x="605168" y="89492"/>
                    <a:pt x="605168" y="100542"/>
                  </a:cubicBezTo>
                  <a:cubicBezTo>
                    <a:pt x="605168" y="111592"/>
                    <a:pt x="596142" y="120673"/>
                    <a:pt x="585093" y="120673"/>
                  </a:cubicBezTo>
                  <a:close/>
                  <a:moveTo>
                    <a:pt x="667364" y="120673"/>
                  </a:moveTo>
                  <a:cubicBezTo>
                    <a:pt x="656260" y="120673"/>
                    <a:pt x="647289" y="111647"/>
                    <a:pt x="647289" y="100542"/>
                  </a:cubicBezTo>
                  <a:cubicBezTo>
                    <a:pt x="647289" y="89438"/>
                    <a:pt x="656315" y="80467"/>
                    <a:pt x="667364" y="80467"/>
                  </a:cubicBezTo>
                  <a:cubicBezTo>
                    <a:pt x="678414" y="80467"/>
                    <a:pt x="687440" y="89492"/>
                    <a:pt x="687440" y="100542"/>
                  </a:cubicBezTo>
                  <a:cubicBezTo>
                    <a:pt x="687440" y="111592"/>
                    <a:pt x="678414" y="120673"/>
                    <a:pt x="667364" y="120673"/>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grpSp>
        <p:nvGrpSpPr>
          <p:cNvPr id="14" name="Group 13">
            <a:extLst>
              <a:ext uri="{FF2B5EF4-FFF2-40B4-BE49-F238E27FC236}">
                <a16:creationId xmlns:a16="http://schemas.microsoft.com/office/drawing/2014/main" id="{8F08238C-9DAA-2D17-C7F5-108D8108E1F2}"/>
              </a:ext>
            </a:extLst>
          </p:cNvPr>
          <p:cNvGrpSpPr/>
          <p:nvPr/>
        </p:nvGrpSpPr>
        <p:grpSpPr>
          <a:xfrm>
            <a:off x="3761005" y="2514600"/>
            <a:ext cx="1202590" cy="545078"/>
            <a:chOff x="3716128" y="4148028"/>
            <a:chExt cx="1202590" cy="545078"/>
          </a:xfrm>
        </p:grpSpPr>
        <p:sp>
          <p:nvSpPr>
            <p:cNvPr id="15" name="Rectangle: Rounded Corners 28">
              <a:extLst>
                <a:ext uri="{FF2B5EF4-FFF2-40B4-BE49-F238E27FC236}">
                  <a16:creationId xmlns:a16="http://schemas.microsoft.com/office/drawing/2014/main" id="{3463F0DF-FF9E-6B8D-2AAF-969ADF219BAE}"/>
                </a:ext>
              </a:extLst>
            </p:cNvPr>
            <p:cNvSpPr>
              <a:spLocks noChangeAspect="1"/>
            </p:cNvSpPr>
            <p:nvPr/>
          </p:nvSpPr>
          <p:spPr>
            <a:xfrm>
              <a:off x="3716128" y="4148028"/>
              <a:ext cx="1202590" cy="545078"/>
            </a:xfrm>
            <a:prstGeom prst="roundRect">
              <a:avLst>
                <a:gd name="adj" fmla="val 10000"/>
              </a:avLst>
            </a:prstGeom>
            <a:solidFill>
              <a:schemeClr val="bg1"/>
            </a:solidFill>
            <a:ln w="1905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Graphic 9">
              <a:extLst>
                <a:ext uri="{FF2B5EF4-FFF2-40B4-BE49-F238E27FC236}">
                  <a16:creationId xmlns:a16="http://schemas.microsoft.com/office/drawing/2014/main" id="{68CDE4D3-CDBC-C80E-D95A-3A6F821052D2}"/>
                </a:ext>
              </a:extLst>
            </p:cNvPr>
            <p:cNvSpPr>
              <a:spLocks noChangeAspect="1"/>
            </p:cNvSpPr>
            <p:nvPr/>
          </p:nvSpPr>
          <p:spPr>
            <a:xfrm>
              <a:off x="3950199" y="4323931"/>
              <a:ext cx="734448" cy="193273"/>
            </a:xfrm>
            <a:custGeom>
              <a:avLst/>
              <a:gdLst>
                <a:gd name="connsiteX0" fmla="*/ 0 w 763913"/>
                <a:gd name="connsiteY0" fmla="*/ 0 h 201029"/>
                <a:gd name="connsiteX1" fmla="*/ 0 w 763913"/>
                <a:gd name="connsiteY1" fmla="*/ 201030 h 201029"/>
                <a:gd name="connsiteX2" fmla="*/ 763913 w 763913"/>
                <a:gd name="connsiteY2" fmla="*/ 201030 h 201029"/>
                <a:gd name="connsiteX3" fmla="*/ 763913 w 763913"/>
                <a:gd name="connsiteY3" fmla="*/ 0 h 201029"/>
                <a:gd name="connsiteX4" fmla="*/ 0 w 763913"/>
                <a:gd name="connsiteY4" fmla="*/ 0 h 201029"/>
                <a:gd name="connsiteX5" fmla="*/ 80357 w 763913"/>
                <a:gd name="connsiteY5" fmla="*/ 130683 h 201029"/>
                <a:gd name="connsiteX6" fmla="*/ 60282 w 763913"/>
                <a:gd name="connsiteY6" fmla="*/ 130683 h 201029"/>
                <a:gd name="connsiteX7" fmla="*/ 60282 w 763913"/>
                <a:gd name="connsiteY7" fmla="*/ 110607 h 201029"/>
                <a:gd name="connsiteX8" fmla="*/ 80357 w 763913"/>
                <a:gd name="connsiteY8" fmla="*/ 110607 h 201029"/>
                <a:gd name="connsiteX9" fmla="*/ 80357 w 763913"/>
                <a:gd name="connsiteY9" fmla="*/ 130683 h 201029"/>
                <a:gd name="connsiteX10" fmla="*/ 80357 w 763913"/>
                <a:gd name="connsiteY10" fmla="*/ 90477 h 201029"/>
                <a:gd name="connsiteX11" fmla="*/ 60282 w 763913"/>
                <a:gd name="connsiteY11" fmla="*/ 90477 h 201029"/>
                <a:gd name="connsiteX12" fmla="*/ 60282 w 763913"/>
                <a:gd name="connsiteY12" fmla="*/ 70401 h 201029"/>
                <a:gd name="connsiteX13" fmla="*/ 80357 w 763913"/>
                <a:gd name="connsiteY13" fmla="*/ 70401 h 201029"/>
                <a:gd name="connsiteX14" fmla="*/ 80357 w 763913"/>
                <a:gd name="connsiteY14" fmla="*/ 90477 h 201029"/>
                <a:gd name="connsiteX15" fmla="*/ 120563 w 763913"/>
                <a:gd name="connsiteY15" fmla="*/ 130683 h 201029"/>
                <a:gd name="connsiteX16" fmla="*/ 100488 w 763913"/>
                <a:gd name="connsiteY16" fmla="*/ 130683 h 201029"/>
                <a:gd name="connsiteX17" fmla="*/ 100488 w 763913"/>
                <a:gd name="connsiteY17" fmla="*/ 110607 h 201029"/>
                <a:gd name="connsiteX18" fmla="*/ 120563 w 763913"/>
                <a:gd name="connsiteY18" fmla="*/ 110607 h 201029"/>
                <a:gd name="connsiteX19" fmla="*/ 120563 w 763913"/>
                <a:gd name="connsiteY19" fmla="*/ 130683 h 201029"/>
                <a:gd name="connsiteX20" fmla="*/ 120563 w 763913"/>
                <a:gd name="connsiteY20" fmla="*/ 90477 h 201029"/>
                <a:gd name="connsiteX21" fmla="*/ 100488 w 763913"/>
                <a:gd name="connsiteY21" fmla="*/ 90477 h 201029"/>
                <a:gd name="connsiteX22" fmla="*/ 100488 w 763913"/>
                <a:gd name="connsiteY22" fmla="*/ 70401 h 201029"/>
                <a:gd name="connsiteX23" fmla="*/ 120563 w 763913"/>
                <a:gd name="connsiteY23" fmla="*/ 70401 h 201029"/>
                <a:gd name="connsiteX24" fmla="*/ 120563 w 763913"/>
                <a:gd name="connsiteY24" fmla="*/ 90477 h 201029"/>
                <a:gd name="connsiteX25" fmla="*/ 160769 w 763913"/>
                <a:gd name="connsiteY25" fmla="*/ 130683 h 201029"/>
                <a:gd name="connsiteX26" fmla="*/ 140694 w 763913"/>
                <a:gd name="connsiteY26" fmla="*/ 130683 h 201029"/>
                <a:gd name="connsiteX27" fmla="*/ 140694 w 763913"/>
                <a:gd name="connsiteY27" fmla="*/ 110607 h 201029"/>
                <a:gd name="connsiteX28" fmla="*/ 160769 w 763913"/>
                <a:gd name="connsiteY28" fmla="*/ 110607 h 201029"/>
                <a:gd name="connsiteX29" fmla="*/ 160769 w 763913"/>
                <a:gd name="connsiteY29" fmla="*/ 130683 h 201029"/>
                <a:gd name="connsiteX30" fmla="*/ 160769 w 763913"/>
                <a:gd name="connsiteY30" fmla="*/ 90477 h 201029"/>
                <a:gd name="connsiteX31" fmla="*/ 140694 w 763913"/>
                <a:gd name="connsiteY31" fmla="*/ 90477 h 201029"/>
                <a:gd name="connsiteX32" fmla="*/ 140694 w 763913"/>
                <a:gd name="connsiteY32" fmla="*/ 70401 h 201029"/>
                <a:gd name="connsiteX33" fmla="*/ 160769 w 763913"/>
                <a:gd name="connsiteY33" fmla="*/ 70401 h 201029"/>
                <a:gd name="connsiteX34" fmla="*/ 160769 w 763913"/>
                <a:gd name="connsiteY34" fmla="*/ 90477 h 201029"/>
                <a:gd name="connsiteX35" fmla="*/ 200975 w 763913"/>
                <a:gd name="connsiteY35" fmla="*/ 130683 h 201029"/>
                <a:gd name="connsiteX36" fmla="*/ 180900 w 763913"/>
                <a:gd name="connsiteY36" fmla="*/ 130683 h 201029"/>
                <a:gd name="connsiteX37" fmla="*/ 180900 w 763913"/>
                <a:gd name="connsiteY37" fmla="*/ 110607 h 201029"/>
                <a:gd name="connsiteX38" fmla="*/ 200975 w 763913"/>
                <a:gd name="connsiteY38" fmla="*/ 110607 h 201029"/>
                <a:gd name="connsiteX39" fmla="*/ 200975 w 763913"/>
                <a:gd name="connsiteY39" fmla="*/ 130683 h 201029"/>
                <a:gd name="connsiteX40" fmla="*/ 200975 w 763913"/>
                <a:gd name="connsiteY40" fmla="*/ 90477 h 201029"/>
                <a:gd name="connsiteX41" fmla="*/ 180900 w 763913"/>
                <a:gd name="connsiteY41" fmla="*/ 90477 h 201029"/>
                <a:gd name="connsiteX42" fmla="*/ 180900 w 763913"/>
                <a:gd name="connsiteY42" fmla="*/ 70401 h 201029"/>
                <a:gd name="connsiteX43" fmla="*/ 200975 w 763913"/>
                <a:gd name="connsiteY43" fmla="*/ 70401 h 201029"/>
                <a:gd name="connsiteX44" fmla="*/ 200975 w 763913"/>
                <a:gd name="connsiteY44" fmla="*/ 90477 h 201029"/>
                <a:gd name="connsiteX45" fmla="*/ 241181 w 763913"/>
                <a:gd name="connsiteY45" fmla="*/ 130683 h 201029"/>
                <a:gd name="connsiteX46" fmla="*/ 221051 w 763913"/>
                <a:gd name="connsiteY46" fmla="*/ 130683 h 201029"/>
                <a:gd name="connsiteX47" fmla="*/ 221051 w 763913"/>
                <a:gd name="connsiteY47" fmla="*/ 110607 h 201029"/>
                <a:gd name="connsiteX48" fmla="*/ 241181 w 763913"/>
                <a:gd name="connsiteY48" fmla="*/ 110607 h 201029"/>
                <a:gd name="connsiteX49" fmla="*/ 241181 w 763913"/>
                <a:gd name="connsiteY49" fmla="*/ 130683 h 201029"/>
                <a:gd name="connsiteX50" fmla="*/ 241181 w 763913"/>
                <a:gd name="connsiteY50" fmla="*/ 90477 h 201029"/>
                <a:gd name="connsiteX51" fmla="*/ 221051 w 763913"/>
                <a:gd name="connsiteY51" fmla="*/ 90477 h 201029"/>
                <a:gd name="connsiteX52" fmla="*/ 221051 w 763913"/>
                <a:gd name="connsiteY52" fmla="*/ 70401 h 201029"/>
                <a:gd name="connsiteX53" fmla="*/ 241181 w 763913"/>
                <a:gd name="connsiteY53" fmla="*/ 70401 h 201029"/>
                <a:gd name="connsiteX54" fmla="*/ 241181 w 763913"/>
                <a:gd name="connsiteY54" fmla="*/ 90477 h 201029"/>
                <a:gd name="connsiteX55" fmla="*/ 281387 w 763913"/>
                <a:gd name="connsiteY55" fmla="*/ 130683 h 201029"/>
                <a:gd name="connsiteX56" fmla="*/ 261311 w 763913"/>
                <a:gd name="connsiteY56" fmla="*/ 130683 h 201029"/>
                <a:gd name="connsiteX57" fmla="*/ 261311 w 763913"/>
                <a:gd name="connsiteY57" fmla="*/ 110607 h 201029"/>
                <a:gd name="connsiteX58" fmla="*/ 281387 w 763913"/>
                <a:gd name="connsiteY58" fmla="*/ 110607 h 201029"/>
                <a:gd name="connsiteX59" fmla="*/ 281387 w 763913"/>
                <a:gd name="connsiteY59" fmla="*/ 130683 h 201029"/>
                <a:gd name="connsiteX60" fmla="*/ 281387 w 763913"/>
                <a:gd name="connsiteY60" fmla="*/ 90477 h 201029"/>
                <a:gd name="connsiteX61" fmla="*/ 261311 w 763913"/>
                <a:gd name="connsiteY61" fmla="*/ 90477 h 201029"/>
                <a:gd name="connsiteX62" fmla="*/ 261311 w 763913"/>
                <a:gd name="connsiteY62" fmla="*/ 70401 h 201029"/>
                <a:gd name="connsiteX63" fmla="*/ 281387 w 763913"/>
                <a:gd name="connsiteY63" fmla="*/ 70401 h 201029"/>
                <a:gd name="connsiteX64" fmla="*/ 281387 w 763913"/>
                <a:gd name="connsiteY64" fmla="*/ 90477 h 201029"/>
                <a:gd name="connsiteX65" fmla="*/ 321593 w 763913"/>
                <a:gd name="connsiteY65" fmla="*/ 130683 h 201029"/>
                <a:gd name="connsiteX66" fmla="*/ 301517 w 763913"/>
                <a:gd name="connsiteY66" fmla="*/ 130683 h 201029"/>
                <a:gd name="connsiteX67" fmla="*/ 301517 w 763913"/>
                <a:gd name="connsiteY67" fmla="*/ 110607 h 201029"/>
                <a:gd name="connsiteX68" fmla="*/ 321593 w 763913"/>
                <a:gd name="connsiteY68" fmla="*/ 110607 h 201029"/>
                <a:gd name="connsiteX69" fmla="*/ 321593 w 763913"/>
                <a:gd name="connsiteY69" fmla="*/ 130683 h 201029"/>
                <a:gd name="connsiteX70" fmla="*/ 321593 w 763913"/>
                <a:gd name="connsiteY70" fmla="*/ 90477 h 201029"/>
                <a:gd name="connsiteX71" fmla="*/ 301517 w 763913"/>
                <a:gd name="connsiteY71" fmla="*/ 90477 h 201029"/>
                <a:gd name="connsiteX72" fmla="*/ 301517 w 763913"/>
                <a:gd name="connsiteY72" fmla="*/ 70401 h 201029"/>
                <a:gd name="connsiteX73" fmla="*/ 321593 w 763913"/>
                <a:gd name="connsiteY73" fmla="*/ 70401 h 201029"/>
                <a:gd name="connsiteX74" fmla="*/ 321593 w 763913"/>
                <a:gd name="connsiteY74" fmla="*/ 90477 h 201029"/>
                <a:gd name="connsiteX75" fmla="*/ 585093 w 763913"/>
                <a:gd name="connsiteY75" fmla="*/ 120673 h 201029"/>
                <a:gd name="connsiteX76" fmla="*/ 565017 w 763913"/>
                <a:gd name="connsiteY76" fmla="*/ 100542 h 201029"/>
                <a:gd name="connsiteX77" fmla="*/ 585093 w 763913"/>
                <a:gd name="connsiteY77" fmla="*/ 80467 h 201029"/>
                <a:gd name="connsiteX78" fmla="*/ 605168 w 763913"/>
                <a:gd name="connsiteY78" fmla="*/ 100542 h 201029"/>
                <a:gd name="connsiteX79" fmla="*/ 585093 w 763913"/>
                <a:gd name="connsiteY79" fmla="*/ 120673 h 201029"/>
                <a:gd name="connsiteX80" fmla="*/ 667364 w 763913"/>
                <a:gd name="connsiteY80" fmla="*/ 120673 h 201029"/>
                <a:gd name="connsiteX81" fmla="*/ 647289 w 763913"/>
                <a:gd name="connsiteY81" fmla="*/ 100542 h 201029"/>
                <a:gd name="connsiteX82" fmla="*/ 667364 w 763913"/>
                <a:gd name="connsiteY82" fmla="*/ 80467 h 201029"/>
                <a:gd name="connsiteX83" fmla="*/ 687440 w 763913"/>
                <a:gd name="connsiteY83" fmla="*/ 100542 h 201029"/>
                <a:gd name="connsiteX84" fmla="*/ 667364 w 763913"/>
                <a:gd name="connsiteY84" fmla="*/ 120673 h 201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763913" h="201029">
                  <a:moveTo>
                    <a:pt x="0" y="0"/>
                  </a:moveTo>
                  <a:lnTo>
                    <a:pt x="0" y="201030"/>
                  </a:lnTo>
                  <a:lnTo>
                    <a:pt x="763913" y="201030"/>
                  </a:lnTo>
                  <a:lnTo>
                    <a:pt x="763913" y="0"/>
                  </a:lnTo>
                  <a:lnTo>
                    <a:pt x="0" y="0"/>
                  </a:lnTo>
                  <a:close/>
                  <a:moveTo>
                    <a:pt x="80357" y="130683"/>
                  </a:moveTo>
                  <a:lnTo>
                    <a:pt x="60282" y="130683"/>
                  </a:lnTo>
                  <a:lnTo>
                    <a:pt x="60282" y="110607"/>
                  </a:lnTo>
                  <a:lnTo>
                    <a:pt x="80357" y="110607"/>
                  </a:lnTo>
                  <a:lnTo>
                    <a:pt x="80357" y="130683"/>
                  </a:lnTo>
                  <a:close/>
                  <a:moveTo>
                    <a:pt x="80357" y="90477"/>
                  </a:moveTo>
                  <a:lnTo>
                    <a:pt x="60282" y="90477"/>
                  </a:lnTo>
                  <a:lnTo>
                    <a:pt x="60282" y="70401"/>
                  </a:lnTo>
                  <a:lnTo>
                    <a:pt x="80357" y="70401"/>
                  </a:lnTo>
                  <a:lnTo>
                    <a:pt x="80357" y="90477"/>
                  </a:lnTo>
                  <a:close/>
                  <a:moveTo>
                    <a:pt x="120563" y="130683"/>
                  </a:moveTo>
                  <a:lnTo>
                    <a:pt x="100488" y="130683"/>
                  </a:lnTo>
                  <a:lnTo>
                    <a:pt x="100488" y="110607"/>
                  </a:lnTo>
                  <a:lnTo>
                    <a:pt x="120563" y="110607"/>
                  </a:lnTo>
                  <a:lnTo>
                    <a:pt x="120563" y="130683"/>
                  </a:lnTo>
                  <a:close/>
                  <a:moveTo>
                    <a:pt x="120563" y="90477"/>
                  </a:moveTo>
                  <a:lnTo>
                    <a:pt x="100488" y="90477"/>
                  </a:lnTo>
                  <a:lnTo>
                    <a:pt x="100488" y="70401"/>
                  </a:lnTo>
                  <a:lnTo>
                    <a:pt x="120563" y="70401"/>
                  </a:lnTo>
                  <a:lnTo>
                    <a:pt x="120563" y="90477"/>
                  </a:lnTo>
                  <a:close/>
                  <a:moveTo>
                    <a:pt x="160769" y="130683"/>
                  </a:moveTo>
                  <a:lnTo>
                    <a:pt x="140694" y="130683"/>
                  </a:lnTo>
                  <a:lnTo>
                    <a:pt x="140694" y="110607"/>
                  </a:lnTo>
                  <a:lnTo>
                    <a:pt x="160769" y="110607"/>
                  </a:lnTo>
                  <a:lnTo>
                    <a:pt x="160769" y="130683"/>
                  </a:lnTo>
                  <a:close/>
                  <a:moveTo>
                    <a:pt x="160769" y="90477"/>
                  </a:moveTo>
                  <a:lnTo>
                    <a:pt x="140694" y="90477"/>
                  </a:lnTo>
                  <a:lnTo>
                    <a:pt x="140694" y="70401"/>
                  </a:lnTo>
                  <a:lnTo>
                    <a:pt x="160769" y="70401"/>
                  </a:lnTo>
                  <a:lnTo>
                    <a:pt x="160769" y="90477"/>
                  </a:lnTo>
                  <a:close/>
                  <a:moveTo>
                    <a:pt x="200975" y="130683"/>
                  </a:moveTo>
                  <a:lnTo>
                    <a:pt x="180900" y="130683"/>
                  </a:lnTo>
                  <a:lnTo>
                    <a:pt x="180900" y="110607"/>
                  </a:lnTo>
                  <a:lnTo>
                    <a:pt x="200975" y="110607"/>
                  </a:lnTo>
                  <a:lnTo>
                    <a:pt x="200975" y="130683"/>
                  </a:lnTo>
                  <a:close/>
                  <a:moveTo>
                    <a:pt x="200975" y="90477"/>
                  </a:moveTo>
                  <a:lnTo>
                    <a:pt x="180900" y="90477"/>
                  </a:lnTo>
                  <a:lnTo>
                    <a:pt x="180900" y="70401"/>
                  </a:lnTo>
                  <a:lnTo>
                    <a:pt x="200975" y="70401"/>
                  </a:lnTo>
                  <a:lnTo>
                    <a:pt x="200975" y="90477"/>
                  </a:lnTo>
                  <a:close/>
                  <a:moveTo>
                    <a:pt x="241181" y="130683"/>
                  </a:moveTo>
                  <a:lnTo>
                    <a:pt x="221051" y="130683"/>
                  </a:lnTo>
                  <a:lnTo>
                    <a:pt x="221051" y="110607"/>
                  </a:lnTo>
                  <a:lnTo>
                    <a:pt x="241181" y="110607"/>
                  </a:lnTo>
                  <a:lnTo>
                    <a:pt x="241181" y="130683"/>
                  </a:lnTo>
                  <a:close/>
                  <a:moveTo>
                    <a:pt x="241181" y="90477"/>
                  </a:moveTo>
                  <a:lnTo>
                    <a:pt x="221051" y="90477"/>
                  </a:lnTo>
                  <a:lnTo>
                    <a:pt x="221051" y="70401"/>
                  </a:lnTo>
                  <a:lnTo>
                    <a:pt x="241181" y="70401"/>
                  </a:lnTo>
                  <a:lnTo>
                    <a:pt x="241181" y="90477"/>
                  </a:lnTo>
                  <a:close/>
                  <a:moveTo>
                    <a:pt x="281387" y="130683"/>
                  </a:moveTo>
                  <a:lnTo>
                    <a:pt x="261311" y="130683"/>
                  </a:lnTo>
                  <a:lnTo>
                    <a:pt x="261311" y="110607"/>
                  </a:lnTo>
                  <a:lnTo>
                    <a:pt x="281387" y="110607"/>
                  </a:lnTo>
                  <a:lnTo>
                    <a:pt x="281387" y="130683"/>
                  </a:lnTo>
                  <a:close/>
                  <a:moveTo>
                    <a:pt x="281387" y="90477"/>
                  </a:moveTo>
                  <a:lnTo>
                    <a:pt x="261311" y="90477"/>
                  </a:lnTo>
                  <a:lnTo>
                    <a:pt x="261311" y="70401"/>
                  </a:lnTo>
                  <a:lnTo>
                    <a:pt x="281387" y="70401"/>
                  </a:lnTo>
                  <a:lnTo>
                    <a:pt x="281387" y="90477"/>
                  </a:lnTo>
                  <a:close/>
                  <a:moveTo>
                    <a:pt x="321593" y="130683"/>
                  </a:moveTo>
                  <a:lnTo>
                    <a:pt x="301517" y="130683"/>
                  </a:lnTo>
                  <a:lnTo>
                    <a:pt x="301517" y="110607"/>
                  </a:lnTo>
                  <a:lnTo>
                    <a:pt x="321593" y="110607"/>
                  </a:lnTo>
                  <a:lnTo>
                    <a:pt x="321593" y="130683"/>
                  </a:lnTo>
                  <a:close/>
                  <a:moveTo>
                    <a:pt x="321593" y="90477"/>
                  </a:moveTo>
                  <a:lnTo>
                    <a:pt x="301517" y="90477"/>
                  </a:lnTo>
                  <a:lnTo>
                    <a:pt x="301517" y="70401"/>
                  </a:lnTo>
                  <a:lnTo>
                    <a:pt x="321593" y="70401"/>
                  </a:lnTo>
                  <a:lnTo>
                    <a:pt x="321593" y="90477"/>
                  </a:lnTo>
                  <a:close/>
                  <a:moveTo>
                    <a:pt x="585093" y="120673"/>
                  </a:moveTo>
                  <a:cubicBezTo>
                    <a:pt x="573988" y="120673"/>
                    <a:pt x="565017" y="111647"/>
                    <a:pt x="565017" y="100542"/>
                  </a:cubicBezTo>
                  <a:cubicBezTo>
                    <a:pt x="565017" y="89438"/>
                    <a:pt x="574043" y="80467"/>
                    <a:pt x="585093" y="80467"/>
                  </a:cubicBezTo>
                  <a:cubicBezTo>
                    <a:pt x="596142" y="80467"/>
                    <a:pt x="605168" y="89492"/>
                    <a:pt x="605168" y="100542"/>
                  </a:cubicBezTo>
                  <a:cubicBezTo>
                    <a:pt x="605168" y="111592"/>
                    <a:pt x="596142" y="120673"/>
                    <a:pt x="585093" y="120673"/>
                  </a:cubicBezTo>
                  <a:close/>
                  <a:moveTo>
                    <a:pt x="667364" y="120673"/>
                  </a:moveTo>
                  <a:cubicBezTo>
                    <a:pt x="656260" y="120673"/>
                    <a:pt x="647289" y="111647"/>
                    <a:pt x="647289" y="100542"/>
                  </a:cubicBezTo>
                  <a:cubicBezTo>
                    <a:pt x="647289" y="89438"/>
                    <a:pt x="656315" y="80467"/>
                    <a:pt x="667364" y="80467"/>
                  </a:cubicBezTo>
                  <a:cubicBezTo>
                    <a:pt x="678414" y="80467"/>
                    <a:pt x="687440" y="89492"/>
                    <a:pt x="687440" y="100542"/>
                  </a:cubicBezTo>
                  <a:cubicBezTo>
                    <a:pt x="687440" y="111592"/>
                    <a:pt x="678414" y="120673"/>
                    <a:pt x="667364" y="120673"/>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sp>
        <p:nvSpPr>
          <p:cNvPr id="43" name="Rectangle: Rounded Corners 42">
            <a:extLst>
              <a:ext uri="{FF2B5EF4-FFF2-40B4-BE49-F238E27FC236}">
                <a16:creationId xmlns:a16="http://schemas.microsoft.com/office/drawing/2014/main" id="{BD31CDA8-A31F-FD72-05DA-C9CC4A4C6218}"/>
              </a:ext>
            </a:extLst>
          </p:cNvPr>
          <p:cNvSpPr/>
          <p:nvPr/>
        </p:nvSpPr>
        <p:spPr>
          <a:xfrm>
            <a:off x="1068209" y="4335490"/>
            <a:ext cx="1380879" cy="1380879"/>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109" name="Title 108">
            <a:extLst>
              <a:ext uri="{FF2B5EF4-FFF2-40B4-BE49-F238E27FC236}">
                <a16:creationId xmlns:a16="http://schemas.microsoft.com/office/drawing/2014/main" id="{CB185129-0704-BC2A-828E-729EFCAE10D1}"/>
              </a:ext>
            </a:extLst>
          </p:cNvPr>
          <p:cNvSpPr>
            <a:spLocks noGrp="1"/>
          </p:cNvSpPr>
          <p:nvPr>
            <p:ph type="title"/>
          </p:nvPr>
        </p:nvSpPr>
        <p:spPr/>
        <p:txBody>
          <a:bodyPr/>
          <a:lstStyle/>
          <a:p>
            <a:r>
              <a:rPr lang="en-US" dirty="0">
                <a:latin typeface="+mn-lt"/>
              </a:rPr>
              <a:t>VCF with Physical Networking</a:t>
            </a:r>
          </a:p>
        </p:txBody>
      </p:sp>
      <p:sp>
        <p:nvSpPr>
          <p:cNvPr id="82" name="Subtitle 81">
            <a:extLst>
              <a:ext uri="{FF2B5EF4-FFF2-40B4-BE49-F238E27FC236}">
                <a16:creationId xmlns:a16="http://schemas.microsoft.com/office/drawing/2014/main" id="{284A53C7-566E-7004-9B0E-73B675D47A09}"/>
              </a:ext>
            </a:extLst>
          </p:cNvPr>
          <p:cNvSpPr>
            <a:spLocks noGrp="1"/>
          </p:cNvSpPr>
          <p:nvPr>
            <p:ph type="subTitle" idx="10"/>
          </p:nvPr>
        </p:nvSpPr>
        <p:spPr/>
        <p:txBody>
          <a:bodyPr/>
          <a:lstStyle/>
          <a:p>
            <a:endParaRPr lang="en-US" dirty="0"/>
          </a:p>
        </p:txBody>
      </p:sp>
      <p:sp>
        <p:nvSpPr>
          <p:cNvPr id="88" name="Rectangle: Rounded Corners 42">
            <a:extLst>
              <a:ext uri="{FF2B5EF4-FFF2-40B4-BE49-F238E27FC236}">
                <a16:creationId xmlns:a16="http://schemas.microsoft.com/office/drawing/2014/main" id="{6DE9EB56-BD97-1252-B520-E94FD2D0F48A}"/>
              </a:ext>
            </a:extLst>
          </p:cNvPr>
          <p:cNvSpPr/>
          <p:nvPr/>
        </p:nvSpPr>
        <p:spPr>
          <a:xfrm>
            <a:off x="2884734" y="4326211"/>
            <a:ext cx="1380879" cy="1380879"/>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89" name="Rectangle: Rounded Corners 42">
            <a:extLst>
              <a:ext uri="{FF2B5EF4-FFF2-40B4-BE49-F238E27FC236}">
                <a16:creationId xmlns:a16="http://schemas.microsoft.com/office/drawing/2014/main" id="{561C7AAD-F1DE-A1E7-04CA-5C3192AB12FA}"/>
              </a:ext>
            </a:extLst>
          </p:cNvPr>
          <p:cNvSpPr/>
          <p:nvPr/>
        </p:nvSpPr>
        <p:spPr>
          <a:xfrm>
            <a:off x="4713534" y="4324492"/>
            <a:ext cx="1380879" cy="1380879"/>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91" name="Rectangle 90">
            <a:extLst>
              <a:ext uri="{FF2B5EF4-FFF2-40B4-BE49-F238E27FC236}">
                <a16:creationId xmlns:a16="http://schemas.microsoft.com/office/drawing/2014/main" id="{6E9EB999-DF97-A882-96DB-B251089F4EC7}"/>
              </a:ext>
            </a:extLst>
          </p:cNvPr>
          <p:cNvSpPr/>
          <p:nvPr/>
        </p:nvSpPr>
        <p:spPr>
          <a:xfrm>
            <a:off x="900108" y="5915991"/>
            <a:ext cx="5360611" cy="145424"/>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50" b="1" i="0" u="none" strike="noStrike" kern="1200" cap="all" spc="50" normalizeH="0" baseline="0" noProof="0" dirty="0">
                <a:ln>
                  <a:noFill/>
                </a:ln>
                <a:solidFill>
                  <a:prstClr val="black"/>
                </a:solidFill>
                <a:effectLst/>
                <a:uLnTx/>
                <a:uFillTx/>
                <a:latin typeface="Arial" panose="020B0604020202020204"/>
                <a:ea typeface="+mn-ea"/>
                <a:cs typeface="Arial"/>
              </a:rPr>
              <a:t>Vmware Cloud Foundation</a:t>
            </a:r>
          </a:p>
        </p:txBody>
      </p:sp>
      <p:pic>
        <p:nvPicPr>
          <p:cNvPr id="92" name="Picture 91">
            <a:extLst>
              <a:ext uri="{FF2B5EF4-FFF2-40B4-BE49-F238E27FC236}">
                <a16:creationId xmlns:a16="http://schemas.microsoft.com/office/drawing/2014/main" id="{7BAC420A-CF69-F3FB-8900-F3FB7B610EF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979613" y="5840173"/>
            <a:ext cx="348488" cy="295148"/>
          </a:xfrm>
          <a:prstGeom prst="rect">
            <a:avLst/>
          </a:prstGeom>
        </p:spPr>
      </p:pic>
      <p:sp>
        <p:nvSpPr>
          <p:cNvPr id="45" name="Content Placeholder 9">
            <a:extLst>
              <a:ext uri="{FF2B5EF4-FFF2-40B4-BE49-F238E27FC236}">
                <a16:creationId xmlns:a16="http://schemas.microsoft.com/office/drawing/2014/main" id="{035E2D23-32D8-8CB5-1395-10AEC47A51A3}"/>
              </a:ext>
            </a:extLst>
          </p:cNvPr>
          <p:cNvSpPr txBox="1">
            <a:spLocks/>
          </p:cNvSpPr>
          <p:nvPr/>
        </p:nvSpPr>
        <p:spPr>
          <a:xfrm>
            <a:off x="9855505" y="4971082"/>
            <a:ext cx="1764000" cy="202243"/>
          </a:xfrm>
          <a:prstGeom prst="rect">
            <a:avLst/>
          </a:prstGeom>
        </p:spPr>
        <p:txBody>
          <a:bodyPr vert="horz" lIns="0" tIns="0" rIns="0" bIns="0" rtlCol="0" anchor="ctr">
            <a:noAutofit/>
          </a:bodyPr>
          <a:lstStyle>
            <a:lvl1pPr marL="0" indent="0" algn="ctr" defTabSz="914400" rtl="0" eaLnBrk="1" latinLnBrk="0" hangingPunct="1">
              <a:lnSpc>
                <a:spcPct val="100000"/>
              </a:lnSpc>
              <a:spcBef>
                <a:spcPts val="600"/>
              </a:spcBef>
              <a:buClr>
                <a:schemeClr val="tx1">
                  <a:lumMod val="60000"/>
                  <a:lumOff val="40000"/>
                </a:schemeClr>
              </a:buClr>
              <a:buSzPct val="90000"/>
              <a:buFont typeface="Arial" panose="020B0604020202020204" pitchFamily="34" charset="0"/>
              <a:buChar char="​"/>
              <a:defRPr sz="2400" kern="1200">
                <a:solidFill>
                  <a:schemeClr val="accent5"/>
                </a:solidFill>
                <a:latin typeface="+mn-lt"/>
                <a:ea typeface="+mn-ea"/>
                <a:cs typeface="+mn-cs"/>
              </a:defRPr>
            </a:lvl1pPr>
            <a:lvl2pPr marL="0" indent="0" algn="ctr" defTabSz="914400" rtl="0" eaLnBrk="1" latinLnBrk="0" hangingPunct="1">
              <a:lnSpc>
                <a:spcPct val="100000"/>
              </a:lnSpc>
              <a:spcBef>
                <a:spcPts val="600"/>
              </a:spcBef>
              <a:buClr>
                <a:schemeClr val="tx2"/>
              </a:buClr>
              <a:buSzPct val="90000"/>
              <a:buFont typeface="Open Sans" panose="020B0606030504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6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6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6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0000">
                  <a:lumMod val="60000"/>
                  <a:lumOff val="40000"/>
                </a:srgbClr>
              </a:buClr>
              <a:buSzPct val="90000"/>
              <a:buFont typeface="Arial" panose="020B0604020202020204" pitchFamily="34" charset="0"/>
              <a:buChar char="​"/>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Monitoring and Analytics</a:t>
            </a:r>
          </a:p>
        </p:txBody>
      </p:sp>
      <p:grpSp>
        <p:nvGrpSpPr>
          <p:cNvPr id="96" name="Group 95">
            <a:extLst>
              <a:ext uri="{FF2B5EF4-FFF2-40B4-BE49-F238E27FC236}">
                <a16:creationId xmlns:a16="http://schemas.microsoft.com/office/drawing/2014/main" id="{89B2CDFA-EBDA-BE36-DD71-F67DAE774532}"/>
              </a:ext>
            </a:extLst>
          </p:cNvPr>
          <p:cNvGrpSpPr/>
          <p:nvPr/>
        </p:nvGrpSpPr>
        <p:grpSpPr>
          <a:xfrm>
            <a:off x="9294813" y="3442318"/>
            <a:ext cx="2286000" cy="575945"/>
            <a:chOff x="9294813" y="2703803"/>
            <a:chExt cx="2286000" cy="575945"/>
          </a:xfrm>
        </p:grpSpPr>
        <p:sp>
          <p:nvSpPr>
            <p:cNvPr id="53" name="Rectangle: Rounded Corners 612">
              <a:extLst>
                <a:ext uri="{FF2B5EF4-FFF2-40B4-BE49-F238E27FC236}">
                  <a16:creationId xmlns:a16="http://schemas.microsoft.com/office/drawing/2014/main" id="{121DED75-92B3-4F40-D9FD-B96EF3B0A913}"/>
                </a:ext>
              </a:extLst>
            </p:cNvPr>
            <p:cNvSpPr/>
            <p:nvPr/>
          </p:nvSpPr>
          <p:spPr>
            <a:xfrm>
              <a:off x="9294813" y="2703803"/>
              <a:ext cx="2286000" cy="575945"/>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4" name="Content Placeholder 9">
              <a:extLst>
                <a:ext uri="{FF2B5EF4-FFF2-40B4-BE49-F238E27FC236}">
                  <a16:creationId xmlns:a16="http://schemas.microsoft.com/office/drawing/2014/main" id="{8CF66B6E-02FE-3596-FC00-58108AA0C64B}"/>
                </a:ext>
              </a:extLst>
            </p:cNvPr>
            <p:cNvSpPr txBox="1">
              <a:spLocks/>
            </p:cNvSpPr>
            <p:nvPr/>
          </p:nvSpPr>
          <p:spPr>
            <a:xfrm>
              <a:off x="9922670" y="2890654"/>
              <a:ext cx="1620000" cy="202243"/>
            </a:xfrm>
            <a:prstGeom prst="rect">
              <a:avLst/>
            </a:prstGeom>
          </p:spPr>
          <p:txBody>
            <a:bodyPr vert="horz" lIns="0" tIns="0" rIns="0" bIns="0" rtlCol="0" anchor="ctr">
              <a:noAutofit/>
            </a:bodyPr>
            <a:lstStyle>
              <a:lvl1pPr marL="0" indent="0" algn="ctr" defTabSz="914400" rtl="0" eaLnBrk="1" latinLnBrk="0" hangingPunct="1">
                <a:lnSpc>
                  <a:spcPct val="100000"/>
                </a:lnSpc>
                <a:spcBef>
                  <a:spcPts val="600"/>
                </a:spcBef>
                <a:buClr>
                  <a:schemeClr val="tx1">
                    <a:lumMod val="60000"/>
                    <a:lumOff val="40000"/>
                  </a:schemeClr>
                </a:buClr>
                <a:buSzPct val="90000"/>
                <a:buFont typeface="Arial" panose="020B0604020202020204" pitchFamily="34" charset="0"/>
                <a:buChar char="​"/>
                <a:defRPr sz="2400" kern="1200">
                  <a:solidFill>
                    <a:schemeClr val="accent5"/>
                  </a:solidFill>
                  <a:latin typeface="+mn-lt"/>
                  <a:ea typeface="+mn-ea"/>
                  <a:cs typeface="+mn-cs"/>
                </a:defRPr>
              </a:lvl1pPr>
              <a:lvl2pPr marL="0" indent="0" algn="ctr" defTabSz="914400" rtl="0" eaLnBrk="1" latinLnBrk="0" hangingPunct="1">
                <a:lnSpc>
                  <a:spcPct val="100000"/>
                </a:lnSpc>
                <a:spcBef>
                  <a:spcPts val="600"/>
                </a:spcBef>
                <a:buClr>
                  <a:schemeClr val="tx2"/>
                </a:buClr>
                <a:buSzPct val="90000"/>
                <a:buFont typeface="Open Sans" panose="020B0606030504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6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6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6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0000">
                    <a:lumMod val="60000"/>
                    <a:lumOff val="40000"/>
                  </a:srgbClr>
                </a:buClr>
                <a:buSzPct val="90000"/>
                <a:buFont typeface="Arial" panose="020B0604020202020204" pitchFamily="34" charset="0"/>
                <a:buChar char="​"/>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Load Balancing</a:t>
              </a:r>
            </a:p>
          </p:txBody>
        </p:sp>
        <p:grpSp>
          <p:nvGrpSpPr>
            <p:cNvPr id="55" name="Group 54">
              <a:extLst>
                <a:ext uri="{FF2B5EF4-FFF2-40B4-BE49-F238E27FC236}">
                  <a16:creationId xmlns:a16="http://schemas.microsoft.com/office/drawing/2014/main" id="{361768FB-A4AA-5C6E-2241-F6E2E7E194FC}"/>
                </a:ext>
              </a:extLst>
            </p:cNvPr>
            <p:cNvGrpSpPr>
              <a:grpSpLocks noChangeAspect="1"/>
            </p:cNvGrpSpPr>
            <p:nvPr/>
          </p:nvGrpSpPr>
          <p:grpSpPr>
            <a:xfrm>
              <a:off x="9345407" y="2763175"/>
              <a:ext cx="461084" cy="457200"/>
              <a:chOff x="6306684" y="2484407"/>
              <a:chExt cx="902850" cy="902850"/>
            </a:xfrm>
          </p:grpSpPr>
          <p:sp>
            <p:nvSpPr>
              <p:cNvPr id="56" name="Oval 25">
                <a:extLst>
                  <a:ext uri="{FF2B5EF4-FFF2-40B4-BE49-F238E27FC236}">
                    <a16:creationId xmlns:a16="http://schemas.microsoft.com/office/drawing/2014/main" id="{A598607E-01A9-FBB3-5BBC-EA4238F7E496}"/>
                  </a:ext>
                </a:extLst>
              </p:cNvPr>
              <p:cNvSpPr>
                <a:spLocks noChangeAspect="1"/>
              </p:cNvSpPr>
              <p:nvPr/>
            </p:nvSpPr>
            <p:spPr bwMode="gray">
              <a:xfrm>
                <a:off x="6306684" y="2484407"/>
                <a:ext cx="902850" cy="902850"/>
              </a:xfrm>
              <a:prstGeom prst="ellipse">
                <a:avLst/>
              </a:prstGeom>
              <a:solidFill>
                <a:schemeClr val="tx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7" name="Graphic 62">
                <a:extLst>
                  <a:ext uri="{FF2B5EF4-FFF2-40B4-BE49-F238E27FC236}">
                    <a16:creationId xmlns:a16="http://schemas.microsoft.com/office/drawing/2014/main" id="{0F234F47-019E-B6B1-5452-A99E22A89597}"/>
                  </a:ext>
                </a:extLst>
              </p:cNvPr>
              <p:cNvSpPr/>
              <p:nvPr/>
            </p:nvSpPr>
            <p:spPr>
              <a:xfrm>
                <a:off x="6449156" y="2663422"/>
                <a:ext cx="537323" cy="537323"/>
              </a:xfrm>
              <a:custGeom>
                <a:avLst/>
                <a:gdLst>
                  <a:gd name="connsiteX0" fmla="*/ 168355 w 537323"/>
                  <a:gd name="connsiteY0" fmla="*/ 0 h 537323"/>
                  <a:gd name="connsiteX1" fmla="*/ 0 w 537323"/>
                  <a:gd name="connsiteY1" fmla="*/ 185968 h 537323"/>
                  <a:gd name="connsiteX2" fmla="*/ 0 w 537323"/>
                  <a:gd name="connsiteY2" fmla="*/ 353777 h 537323"/>
                  <a:gd name="connsiteX3" fmla="*/ 174877 w 537323"/>
                  <a:gd name="connsiteY3" fmla="*/ 537324 h 537323"/>
                  <a:gd name="connsiteX4" fmla="*/ 537324 w 537323"/>
                  <a:gd name="connsiteY4" fmla="*/ 537324 h 537323"/>
                  <a:gd name="connsiteX5" fmla="*/ 537324 w 537323"/>
                  <a:gd name="connsiteY5" fmla="*/ 0 h 537323"/>
                  <a:gd name="connsiteX6" fmla="*/ 168355 w 537323"/>
                  <a:gd name="connsiteY6" fmla="*/ 0 h 537323"/>
                  <a:gd name="connsiteX7" fmla="*/ 200964 w 537323"/>
                  <a:gd name="connsiteY7" fmla="*/ 151680 h 537323"/>
                  <a:gd name="connsiteX8" fmla="*/ 220295 w 537323"/>
                  <a:gd name="connsiteY8" fmla="*/ 171011 h 537323"/>
                  <a:gd name="connsiteX9" fmla="*/ 153633 w 537323"/>
                  <a:gd name="connsiteY9" fmla="*/ 237674 h 537323"/>
                  <a:gd name="connsiteX10" fmla="*/ 134302 w 537323"/>
                  <a:gd name="connsiteY10" fmla="*/ 218343 h 537323"/>
                  <a:gd name="connsiteX11" fmla="*/ 200964 w 537323"/>
                  <a:gd name="connsiteY11" fmla="*/ 151680 h 537323"/>
                  <a:gd name="connsiteX12" fmla="*/ 204870 w 537323"/>
                  <a:gd name="connsiteY12" fmla="*/ 264151 h 537323"/>
                  <a:gd name="connsiteX13" fmla="*/ 204870 w 537323"/>
                  <a:gd name="connsiteY13" fmla="*/ 291488 h 537323"/>
                  <a:gd name="connsiteX14" fmla="*/ 153320 w 537323"/>
                  <a:gd name="connsiteY14" fmla="*/ 291488 h 537323"/>
                  <a:gd name="connsiteX15" fmla="*/ 153320 w 537323"/>
                  <a:gd name="connsiteY15" fmla="*/ 264151 h 537323"/>
                  <a:gd name="connsiteX16" fmla="*/ 204870 w 537323"/>
                  <a:gd name="connsiteY16" fmla="*/ 264151 h 537323"/>
                  <a:gd name="connsiteX17" fmla="*/ 117119 w 537323"/>
                  <a:gd name="connsiteY17" fmla="*/ 308632 h 537323"/>
                  <a:gd name="connsiteX18" fmla="*/ 55494 w 537323"/>
                  <a:gd name="connsiteY18" fmla="*/ 308632 h 537323"/>
                  <a:gd name="connsiteX19" fmla="*/ 55494 w 537323"/>
                  <a:gd name="connsiteY19" fmla="*/ 247007 h 537323"/>
                  <a:gd name="connsiteX20" fmla="*/ 117119 w 537323"/>
                  <a:gd name="connsiteY20" fmla="*/ 247007 h 537323"/>
                  <a:gd name="connsiteX21" fmla="*/ 117119 w 537323"/>
                  <a:gd name="connsiteY21" fmla="*/ 308632 h 537323"/>
                  <a:gd name="connsiteX22" fmla="*/ 134302 w 537323"/>
                  <a:gd name="connsiteY22" fmla="*/ 343506 h 537323"/>
                  <a:gd name="connsiteX23" fmla="*/ 153633 w 537323"/>
                  <a:gd name="connsiteY23" fmla="*/ 324175 h 537323"/>
                  <a:gd name="connsiteX24" fmla="*/ 220295 w 537323"/>
                  <a:gd name="connsiteY24" fmla="*/ 390838 h 537323"/>
                  <a:gd name="connsiteX25" fmla="*/ 200964 w 537323"/>
                  <a:gd name="connsiteY25" fmla="*/ 410169 h 537323"/>
                  <a:gd name="connsiteX26" fmla="*/ 134302 w 537323"/>
                  <a:gd name="connsiteY26" fmla="*/ 343506 h 537323"/>
                  <a:gd name="connsiteX27" fmla="*/ 287231 w 537323"/>
                  <a:gd name="connsiteY27" fmla="*/ 478901 h 537323"/>
                  <a:gd name="connsiteX28" fmla="*/ 225606 w 537323"/>
                  <a:gd name="connsiteY28" fmla="*/ 478901 h 537323"/>
                  <a:gd name="connsiteX29" fmla="*/ 225606 w 537323"/>
                  <a:gd name="connsiteY29" fmla="*/ 417276 h 537323"/>
                  <a:gd name="connsiteX30" fmla="*/ 287231 w 537323"/>
                  <a:gd name="connsiteY30" fmla="*/ 417276 h 537323"/>
                  <a:gd name="connsiteX31" fmla="*/ 287231 w 537323"/>
                  <a:gd name="connsiteY31" fmla="*/ 478901 h 537323"/>
                  <a:gd name="connsiteX32" fmla="*/ 287231 w 537323"/>
                  <a:gd name="connsiteY32" fmla="*/ 308593 h 537323"/>
                  <a:gd name="connsiteX33" fmla="*/ 225606 w 537323"/>
                  <a:gd name="connsiteY33" fmla="*/ 308593 h 537323"/>
                  <a:gd name="connsiteX34" fmla="*/ 225606 w 537323"/>
                  <a:gd name="connsiteY34" fmla="*/ 246968 h 537323"/>
                  <a:gd name="connsiteX35" fmla="*/ 287231 w 537323"/>
                  <a:gd name="connsiteY35" fmla="*/ 246968 h 537323"/>
                  <a:gd name="connsiteX36" fmla="*/ 287231 w 537323"/>
                  <a:gd name="connsiteY36" fmla="*/ 308593 h 537323"/>
                  <a:gd name="connsiteX37" fmla="*/ 287231 w 537323"/>
                  <a:gd name="connsiteY37" fmla="*/ 137192 h 537323"/>
                  <a:gd name="connsiteX38" fmla="*/ 225606 w 537323"/>
                  <a:gd name="connsiteY38" fmla="*/ 137192 h 537323"/>
                  <a:gd name="connsiteX39" fmla="*/ 225606 w 537323"/>
                  <a:gd name="connsiteY39" fmla="*/ 75567 h 537323"/>
                  <a:gd name="connsiteX40" fmla="*/ 287231 w 537323"/>
                  <a:gd name="connsiteY40" fmla="*/ 75567 h 537323"/>
                  <a:gd name="connsiteX41" fmla="*/ 287231 w 537323"/>
                  <a:gd name="connsiteY41" fmla="*/ 137192 h 537323"/>
                  <a:gd name="connsiteX42" fmla="*/ 449143 w 537323"/>
                  <a:gd name="connsiteY42" fmla="*/ 475386 h 537323"/>
                  <a:gd name="connsiteX43" fmla="*/ 449143 w 537323"/>
                  <a:gd name="connsiteY43" fmla="*/ 461796 h 537323"/>
                  <a:gd name="connsiteX44" fmla="*/ 322105 w 537323"/>
                  <a:gd name="connsiteY44" fmla="*/ 461796 h 537323"/>
                  <a:gd name="connsiteX45" fmla="*/ 322105 w 537323"/>
                  <a:gd name="connsiteY45" fmla="*/ 434459 h 537323"/>
                  <a:gd name="connsiteX46" fmla="*/ 449143 w 537323"/>
                  <a:gd name="connsiteY46" fmla="*/ 434459 h 537323"/>
                  <a:gd name="connsiteX47" fmla="*/ 449143 w 537323"/>
                  <a:gd name="connsiteY47" fmla="*/ 420869 h 537323"/>
                  <a:gd name="connsiteX48" fmla="*/ 496358 w 537323"/>
                  <a:gd name="connsiteY48" fmla="*/ 448128 h 537323"/>
                  <a:gd name="connsiteX49" fmla="*/ 449143 w 537323"/>
                  <a:gd name="connsiteY49" fmla="*/ 475386 h 537323"/>
                  <a:gd name="connsiteX50" fmla="*/ 449143 w 537323"/>
                  <a:gd name="connsiteY50" fmla="*/ 305039 h 537323"/>
                  <a:gd name="connsiteX51" fmla="*/ 449143 w 537323"/>
                  <a:gd name="connsiteY51" fmla="*/ 291449 h 537323"/>
                  <a:gd name="connsiteX52" fmla="*/ 322105 w 537323"/>
                  <a:gd name="connsiteY52" fmla="*/ 291449 h 537323"/>
                  <a:gd name="connsiteX53" fmla="*/ 322105 w 537323"/>
                  <a:gd name="connsiteY53" fmla="*/ 264112 h 537323"/>
                  <a:gd name="connsiteX54" fmla="*/ 449143 w 537323"/>
                  <a:gd name="connsiteY54" fmla="*/ 264112 h 537323"/>
                  <a:gd name="connsiteX55" fmla="*/ 449143 w 537323"/>
                  <a:gd name="connsiteY55" fmla="*/ 250522 h 537323"/>
                  <a:gd name="connsiteX56" fmla="*/ 496358 w 537323"/>
                  <a:gd name="connsiteY56" fmla="*/ 277781 h 537323"/>
                  <a:gd name="connsiteX57" fmla="*/ 449143 w 537323"/>
                  <a:gd name="connsiteY57" fmla="*/ 305039 h 537323"/>
                  <a:gd name="connsiteX58" fmla="*/ 449143 w 537323"/>
                  <a:gd name="connsiteY58" fmla="*/ 133638 h 537323"/>
                  <a:gd name="connsiteX59" fmla="*/ 449143 w 537323"/>
                  <a:gd name="connsiteY59" fmla="*/ 120047 h 537323"/>
                  <a:gd name="connsiteX60" fmla="*/ 322105 w 537323"/>
                  <a:gd name="connsiteY60" fmla="*/ 120047 h 537323"/>
                  <a:gd name="connsiteX61" fmla="*/ 322105 w 537323"/>
                  <a:gd name="connsiteY61" fmla="*/ 92711 h 537323"/>
                  <a:gd name="connsiteX62" fmla="*/ 449143 w 537323"/>
                  <a:gd name="connsiteY62" fmla="*/ 92711 h 537323"/>
                  <a:gd name="connsiteX63" fmla="*/ 449143 w 537323"/>
                  <a:gd name="connsiteY63" fmla="*/ 79120 h 537323"/>
                  <a:gd name="connsiteX64" fmla="*/ 496358 w 537323"/>
                  <a:gd name="connsiteY64" fmla="*/ 106379 h 537323"/>
                  <a:gd name="connsiteX65" fmla="*/ 449143 w 537323"/>
                  <a:gd name="connsiteY65" fmla="*/ 133638 h 537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37323" h="537323">
                    <a:moveTo>
                      <a:pt x="168355" y="0"/>
                    </a:moveTo>
                    <a:lnTo>
                      <a:pt x="0" y="185968"/>
                    </a:lnTo>
                    <a:lnTo>
                      <a:pt x="0" y="353777"/>
                    </a:lnTo>
                    <a:lnTo>
                      <a:pt x="174877" y="537324"/>
                    </a:lnTo>
                    <a:lnTo>
                      <a:pt x="537324" y="537324"/>
                    </a:lnTo>
                    <a:lnTo>
                      <a:pt x="537324" y="0"/>
                    </a:lnTo>
                    <a:lnTo>
                      <a:pt x="168355" y="0"/>
                    </a:lnTo>
                    <a:close/>
                    <a:moveTo>
                      <a:pt x="200964" y="151680"/>
                    </a:moveTo>
                    <a:lnTo>
                      <a:pt x="220295" y="171011"/>
                    </a:lnTo>
                    <a:lnTo>
                      <a:pt x="153633" y="237674"/>
                    </a:lnTo>
                    <a:lnTo>
                      <a:pt x="134302" y="218343"/>
                    </a:lnTo>
                    <a:lnTo>
                      <a:pt x="200964" y="151680"/>
                    </a:lnTo>
                    <a:close/>
                    <a:moveTo>
                      <a:pt x="204870" y="264151"/>
                    </a:moveTo>
                    <a:lnTo>
                      <a:pt x="204870" y="291488"/>
                    </a:lnTo>
                    <a:lnTo>
                      <a:pt x="153320" y="291488"/>
                    </a:lnTo>
                    <a:lnTo>
                      <a:pt x="153320" y="264151"/>
                    </a:lnTo>
                    <a:lnTo>
                      <a:pt x="204870" y="264151"/>
                    </a:lnTo>
                    <a:close/>
                    <a:moveTo>
                      <a:pt x="117119" y="308632"/>
                    </a:moveTo>
                    <a:cubicBezTo>
                      <a:pt x="100092" y="325659"/>
                      <a:pt x="72521" y="325659"/>
                      <a:pt x="55494" y="308632"/>
                    </a:cubicBezTo>
                    <a:cubicBezTo>
                      <a:pt x="38467" y="291605"/>
                      <a:pt x="38467" y="264034"/>
                      <a:pt x="55494" y="247007"/>
                    </a:cubicBezTo>
                    <a:cubicBezTo>
                      <a:pt x="72521" y="229980"/>
                      <a:pt x="100092" y="229980"/>
                      <a:pt x="117119" y="247007"/>
                    </a:cubicBezTo>
                    <a:cubicBezTo>
                      <a:pt x="134145" y="264034"/>
                      <a:pt x="134145" y="291605"/>
                      <a:pt x="117119" y="308632"/>
                    </a:cubicBezTo>
                    <a:close/>
                    <a:moveTo>
                      <a:pt x="134302" y="343506"/>
                    </a:moveTo>
                    <a:lnTo>
                      <a:pt x="153633" y="324175"/>
                    </a:lnTo>
                    <a:lnTo>
                      <a:pt x="220295" y="390838"/>
                    </a:lnTo>
                    <a:lnTo>
                      <a:pt x="200964" y="410169"/>
                    </a:lnTo>
                    <a:lnTo>
                      <a:pt x="134302" y="343506"/>
                    </a:lnTo>
                    <a:close/>
                    <a:moveTo>
                      <a:pt x="287231" y="478901"/>
                    </a:moveTo>
                    <a:cubicBezTo>
                      <a:pt x="270204" y="495928"/>
                      <a:pt x="242633" y="495928"/>
                      <a:pt x="225606" y="478901"/>
                    </a:cubicBezTo>
                    <a:cubicBezTo>
                      <a:pt x="208580" y="461874"/>
                      <a:pt x="208580" y="434303"/>
                      <a:pt x="225606" y="417276"/>
                    </a:cubicBezTo>
                    <a:cubicBezTo>
                      <a:pt x="242633" y="400249"/>
                      <a:pt x="270204" y="400249"/>
                      <a:pt x="287231" y="417276"/>
                    </a:cubicBezTo>
                    <a:cubicBezTo>
                      <a:pt x="304258" y="434303"/>
                      <a:pt x="304258" y="461874"/>
                      <a:pt x="287231" y="478901"/>
                    </a:cubicBezTo>
                    <a:close/>
                    <a:moveTo>
                      <a:pt x="287231" y="308593"/>
                    </a:moveTo>
                    <a:cubicBezTo>
                      <a:pt x="270204" y="325620"/>
                      <a:pt x="242633" y="325620"/>
                      <a:pt x="225606" y="308593"/>
                    </a:cubicBezTo>
                    <a:cubicBezTo>
                      <a:pt x="208580" y="291566"/>
                      <a:pt x="208580" y="263995"/>
                      <a:pt x="225606" y="246968"/>
                    </a:cubicBezTo>
                    <a:cubicBezTo>
                      <a:pt x="242633" y="229941"/>
                      <a:pt x="270204" y="229941"/>
                      <a:pt x="287231" y="246968"/>
                    </a:cubicBezTo>
                    <a:cubicBezTo>
                      <a:pt x="304258" y="263995"/>
                      <a:pt x="304258" y="291566"/>
                      <a:pt x="287231" y="308593"/>
                    </a:cubicBezTo>
                    <a:close/>
                    <a:moveTo>
                      <a:pt x="287231" y="137192"/>
                    </a:moveTo>
                    <a:cubicBezTo>
                      <a:pt x="270204" y="154218"/>
                      <a:pt x="242633" y="154218"/>
                      <a:pt x="225606" y="137192"/>
                    </a:cubicBezTo>
                    <a:cubicBezTo>
                      <a:pt x="208580" y="120165"/>
                      <a:pt x="208580" y="92594"/>
                      <a:pt x="225606" y="75567"/>
                    </a:cubicBezTo>
                    <a:cubicBezTo>
                      <a:pt x="242633" y="58540"/>
                      <a:pt x="270204" y="58540"/>
                      <a:pt x="287231" y="75567"/>
                    </a:cubicBezTo>
                    <a:cubicBezTo>
                      <a:pt x="304258" y="92594"/>
                      <a:pt x="304258" y="120165"/>
                      <a:pt x="287231" y="137192"/>
                    </a:cubicBezTo>
                    <a:close/>
                    <a:moveTo>
                      <a:pt x="449143" y="475386"/>
                    </a:moveTo>
                    <a:lnTo>
                      <a:pt x="449143" y="461796"/>
                    </a:lnTo>
                    <a:lnTo>
                      <a:pt x="322105" y="461796"/>
                    </a:lnTo>
                    <a:lnTo>
                      <a:pt x="322105" y="434459"/>
                    </a:lnTo>
                    <a:lnTo>
                      <a:pt x="449143" y="434459"/>
                    </a:lnTo>
                    <a:lnTo>
                      <a:pt x="449143" y="420869"/>
                    </a:lnTo>
                    <a:lnTo>
                      <a:pt x="496358" y="448128"/>
                    </a:lnTo>
                    <a:lnTo>
                      <a:pt x="449143" y="475386"/>
                    </a:lnTo>
                    <a:close/>
                    <a:moveTo>
                      <a:pt x="449143" y="305039"/>
                    </a:moveTo>
                    <a:lnTo>
                      <a:pt x="449143" y="291449"/>
                    </a:lnTo>
                    <a:lnTo>
                      <a:pt x="322105" y="291449"/>
                    </a:lnTo>
                    <a:lnTo>
                      <a:pt x="322105" y="264112"/>
                    </a:lnTo>
                    <a:lnTo>
                      <a:pt x="449143" y="264112"/>
                    </a:lnTo>
                    <a:lnTo>
                      <a:pt x="449143" y="250522"/>
                    </a:lnTo>
                    <a:lnTo>
                      <a:pt x="496358" y="277781"/>
                    </a:lnTo>
                    <a:lnTo>
                      <a:pt x="449143" y="305039"/>
                    </a:lnTo>
                    <a:close/>
                    <a:moveTo>
                      <a:pt x="449143" y="133638"/>
                    </a:moveTo>
                    <a:lnTo>
                      <a:pt x="449143" y="120047"/>
                    </a:lnTo>
                    <a:lnTo>
                      <a:pt x="322105" y="120047"/>
                    </a:lnTo>
                    <a:lnTo>
                      <a:pt x="322105" y="92711"/>
                    </a:lnTo>
                    <a:lnTo>
                      <a:pt x="449143" y="92711"/>
                    </a:lnTo>
                    <a:lnTo>
                      <a:pt x="449143" y="79120"/>
                    </a:lnTo>
                    <a:lnTo>
                      <a:pt x="496358" y="106379"/>
                    </a:lnTo>
                    <a:lnTo>
                      <a:pt x="449143" y="133638"/>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grpSp>
        <p:nvGrpSpPr>
          <p:cNvPr id="90" name="Group 89">
            <a:extLst>
              <a:ext uri="{FF2B5EF4-FFF2-40B4-BE49-F238E27FC236}">
                <a16:creationId xmlns:a16="http://schemas.microsoft.com/office/drawing/2014/main" id="{D79BA256-DEDC-EAC8-58F0-A09817AFE73B}"/>
              </a:ext>
            </a:extLst>
          </p:cNvPr>
          <p:cNvGrpSpPr/>
          <p:nvPr/>
        </p:nvGrpSpPr>
        <p:grpSpPr>
          <a:xfrm>
            <a:off x="9294813" y="4113275"/>
            <a:ext cx="2334335" cy="575945"/>
            <a:chOff x="9294813" y="3364531"/>
            <a:chExt cx="2334335" cy="575945"/>
          </a:xfrm>
        </p:grpSpPr>
        <p:sp>
          <p:nvSpPr>
            <p:cNvPr id="58" name="Rectangle: Rounded Corners 623">
              <a:extLst>
                <a:ext uri="{FF2B5EF4-FFF2-40B4-BE49-F238E27FC236}">
                  <a16:creationId xmlns:a16="http://schemas.microsoft.com/office/drawing/2014/main" id="{0DA64004-4282-6F1A-EB9B-7AF55123A266}"/>
                </a:ext>
              </a:extLst>
            </p:cNvPr>
            <p:cNvSpPr/>
            <p:nvPr/>
          </p:nvSpPr>
          <p:spPr>
            <a:xfrm>
              <a:off x="9294813" y="3364531"/>
              <a:ext cx="2286000" cy="575945"/>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9" name="Content Placeholder 9">
              <a:extLst>
                <a:ext uri="{FF2B5EF4-FFF2-40B4-BE49-F238E27FC236}">
                  <a16:creationId xmlns:a16="http://schemas.microsoft.com/office/drawing/2014/main" id="{EE8B4E27-CB87-578E-0506-0E1544A31CD3}"/>
                </a:ext>
              </a:extLst>
            </p:cNvPr>
            <p:cNvSpPr txBox="1">
              <a:spLocks/>
            </p:cNvSpPr>
            <p:nvPr/>
          </p:nvSpPr>
          <p:spPr>
            <a:xfrm>
              <a:off x="9860794" y="3551382"/>
              <a:ext cx="1768354" cy="202243"/>
            </a:xfrm>
            <a:prstGeom prst="rect">
              <a:avLst/>
            </a:prstGeom>
          </p:spPr>
          <p:txBody>
            <a:bodyPr vert="horz" lIns="0" tIns="0" rIns="0" bIns="0" rtlCol="0" anchor="ctr">
              <a:noAutofit/>
            </a:bodyPr>
            <a:lstStyle>
              <a:lvl1pPr marL="0" indent="0" algn="ctr" defTabSz="914400" rtl="0" eaLnBrk="1" latinLnBrk="0" hangingPunct="1">
                <a:lnSpc>
                  <a:spcPct val="100000"/>
                </a:lnSpc>
                <a:spcBef>
                  <a:spcPts val="600"/>
                </a:spcBef>
                <a:buClr>
                  <a:schemeClr val="tx1">
                    <a:lumMod val="60000"/>
                    <a:lumOff val="40000"/>
                  </a:schemeClr>
                </a:buClr>
                <a:buSzPct val="90000"/>
                <a:buFont typeface="Arial" panose="020B0604020202020204" pitchFamily="34" charset="0"/>
                <a:buChar char="​"/>
                <a:defRPr sz="2400" kern="1200">
                  <a:solidFill>
                    <a:schemeClr val="accent5"/>
                  </a:solidFill>
                  <a:latin typeface="+mn-lt"/>
                  <a:ea typeface="+mn-ea"/>
                  <a:cs typeface="+mn-cs"/>
                </a:defRPr>
              </a:lvl1pPr>
              <a:lvl2pPr marL="0" indent="0" algn="ctr" defTabSz="914400" rtl="0" eaLnBrk="1" latinLnBrk="0" hangingPunct="1">
                <a:lnSpc>
                  <a:spcPct val="100000"/>
                </a:lnSpc>
                <a:spcBef>
                  <a:spcPts val="600"/>
                </a:spcBef>
                <a:buClr>
                  <a:schemeClr val="tx2"/>
                </a:buClr>
                <a:buSzPct val="90000"/>
                <a:buFont typeface="Open Sans" panose="020B0606030504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6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6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6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0000">
                    <a:lumMod val="60000"/>
                    <a:lumOff val="40000"/>
                  </a:srgbClr>
                </a:buClr>
                <a:buSzPct val="90000"/>
                <a:buFont typeface="Arial" panose="020B0604020202020204" pitchFamily="34" charset="0"/>
                <a:buChar char="​"/>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Firewall, IDS/IPS, ATP</a:t>
              </a:r>
            </a:p>
          </p:txBody>
        </p:sp>
        <p:grpSp>
          <p:nvGrpSpPr>
            <p:cNvPr id="60" name="Group 59">
              <a:extLst>
                <a:ext uri="{FF2B5EF4-FFF2-40B4-BE49-F238E27FC236}">
                  <a16:creationId xmlns:a16="http://schemas.microsoft.com/office/drawing/2014/main" id="{EEE24F41-8183-4C82-D7BD-74F5E924370B}"/>
                </a:ext>
              </a:extLst>
            </p:cNvPr>
            <p:cNvGrpSpPr>
              <a:grpSpLocks noChangeAspect="1"/>
            </p:cNvGrpSpPr>
            <p:nvPr/>
          </p:nvGrpSpPr>
          <p:grpSpPr>
            <a:xfrm>
              <a:off x="9345406" y="3423904"/>
              <a:ext cx="461084" cy="457200"/>
              <a:chOff x="9206590" y="1111625"/>
              <a:chExt cx="902850" cy="902850"/>
            </a:xfrm>
          </p:grpSpPr>
          <p:sp>
            <p:nvSpPr>
              <p:cNvPr id="61" name="Oval 7">
                <a:extLst>
                  <a:ext uri="{FF2B5EF4-FFF2-40B4-BE49-F238E27FC236}">
                    <a16:creationId xmlns:a16="http://schemas.microsoft.com/office/drawing/2014/main" id="{95F8BBDF-E9DF-D5A4-D59B-8C1469BDE2A9}"/>
                  </a:ext>
                </a:extLst>
              </p:cNvPr>
              <p:cNvSpPr>
                <a:spLocks noChangeAspect="1"/>
              </p:cNvSpPr>
              <p:nvPr/>
            </p:nvSpPr>
            <p:spPr bwMode="gray">
              <a:xfrm>
                <a:off x="9206590" y="1111625"/>
                <a:ext cx="902850" cy="902850"/>
              </a:xfrm>
              <a:prstGeom prst="ellipse">
                <a:avLst/>
              </a:prstGeom>
              <a:solidFill>
                <a:schemeClr val="tx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62" name="Group 61">
                <a:extLst>
                  <a:ext uri="{FF2B5EF4-FFF2-40B4-BE49-F238E27FC236}">
                    <a16:creationId xmlns:a16="http://schemas.microsoft.com/office/drawing/2014/main" id="{15A605FC-A900-C768-B9DB-093417EF6FDB}"/>
                  </a:ext>
                </a:extLst>
              </p:cNvPr>
              <p:cNvGrpSpPr/>
              <p:nvPr/>
            </p:nvGrpSpPr>
            <p:grpSpPr>
              <a:xfrm>
                <a:off x="9370580" y="1353439"/>
                <a:ext cx="586735" cy="398365"/>
                <a:chOff x="9370580" y="1353439"/>
                <a:chExt cx="586735" cy="398365"/>
              </a:xfrm>
            </p:grpSpPr>
            <p:sp>
              <p:nvSpPr>
                <p:cNvPr id="63" name="Freeform: Shape 214">
                  <a:extLst>
                    <a:ext uri="{FF2B5EF4-FFF2-40B4-BE49-F238E27FC236}">
                      <a16:creationId xmlns:a16="http://schemas.microsoft.com/office/drawing/2014/main" id="{72219EA2-91EF-E357-7C53-B313BBC40373}"/>
                    </a:ext>
                  </a:extLst>
                </p:cNvPr>
                <p:cNvSpPr/>
                <p:nvPr/>
              </p:nvSpPr>
              <p:spPr>
                <a:xfrm>
                  <a:off x="9845237" y="1465737"/>
                  <a:ext cx="112078" cy="82722"/>
                </a:xfrm>
                <a:custGeom>
                  <a:avLst/>
                  <a:gdLst>
                    <a:gd name="connsiteX0" fmla="*/ 6046 w 112078"/>
                    <a:gd name="connsiteY0" fmla="*/ 0 h 82722"/>
                    <a:gd name="connsiteX1" fmla="*/ 106032 w 112078"/>
                    <a:gd name="connsiteY1" fmla="*/ 0 h 82722"/>
                    <a:gd name="connsiteX2" fmla="*/ 112079 w 112078"/>
                    <a:gd name="connsiteY2" fmla="*/ 6046 h 82722"/>
                    <a:gd name="connsiteX3" fmla="*/ 112079 w 112078"/>
                    <a:gd name="connsiteY3" fmla="*/ 76676 h 82722"/>
                    <a:gd name="connsiteX4" fmla="*/ 106032 w 112078"/>
                    <a:gd name="connsiteY4" fmla="*/ 82723 h 82722"/>
                    <a:gd name="connsiteX5" fmla="*/ 6046 w 112078"/>
                    <a:gd name="connsiteY5" fmla="*/ 82723 h 82722"/>
                    <a:gd name="connsiteX6" fmla="*/ 0 w 112078"/>
                    <a:gd name="connsiteY6" fmla="*/ 76676 h 82722"/>
                    <a:gd name="connsiteX7" fmla="*/ 0 w 112078"/>
                    <a:gd name="connsiteY7" fmla="*/ 6046 h 82722"/>
                    <a:gd name="connsiteX8" fmla="*/ 6046 w 112078"/>
                    <a:gd name="connsiteY8" fmla="*/ 0 h 82722"/>
                    <a:gd name="connsiteX9" fmla="*/ 6046 w 112078"/>
                    <a:gd name="connsiteY9" fmla="*/ 0 h 8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078" h="82722">
                      <a:moveTo>
                        <a:pt x="6046" y="0"/>
                      </a:moveTo>
                      <a:lnTo>
                        <a:pt x="106032" y="0"/>
                      </a:lnTo>
                      <a:cubicBezTo>
                        <a:pt x="109362" y="0"/>
                        <a:pt x="112079" y="3330"/>
                        <a:pt x="112079" y="6046"/>
                      </a:cubicBezTo>
                      <a:lnTo>
                        <a:pt x="112079" y="76676"/>
                      </a:lnTo>
                      <a:cubicBezTo>
                        <a:pt x="112079" y="80006"/>
                        <a:pt x="109362" y="82723"/>
                        <a:pt x="106032" y="82723"/>
                      </a:cubicBezTo>
                      <a:lnTo>
                        <a:pt x="6046" y="82723"/>
                      </a:lnTo>
                      <a:cubicBezTo>
                        <a:pt x="2717" y="82723"/>
                        <a:pt x="0" y="79393"/>
                        <a:pt x="0" y="76676"/>
                      </a:cubicBezTo>
                      <a:lnTo>
                        <a:pt x="0" y="6046"/>
                      </a:lnTo>
                      <a:cubicBezTo>
                        <a:pt x="0" y="2717"/>
                        <a:pt x="2717" y="0"/>
                        <a:pt x="6046" y="0"/>
                      </a:cubicBezTo>
                      <a:lnTo>
                        <a:pt x="6046" y="0"/>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4" name="Freeform: Shape 215">
                  <a:extLst>
                    <a:ext uri="{FF2B5EF4-FFF2-40B4-BE49-F238E27FC236}">
                      <a16:creationId xmlns:a16="http://schemas.microsoft.com/office/drawing/2014/main" id="{5B995331-231F-DF71-4110-4F9AB959666F}"/>
                    </a:ext>
                  </a:extLst>
                </p:cNvPr>
                <p:cNvSpPr/>
                <p:nvPr/>
              </p:nvSpPr>
              <p:spPr>
                <a:xfrm>
                  <a:off x="9845237" y="1669082"/>
                  <a:ext cx="112078" cy="82722"/>
                </a:xfrm>
                <a:custGeom>
                  <a:avLst/>
                  <a:gdLst>
                    <a:gd name="connsiteX0" fmla="*/ 6046 w 112078"/>
                    <a:gd name="connsiteY0" fmla="*/ 0 h 82722"/>
                    <a:gd name="connsiteX1" fmla="*/ 106032 w 112078"/>
                    <a:gd name="connsiteY1" fmla="*/ 0 h 82722"/>
                    <a:gd name="connsiteX2" fmla="*/ 112079 w 112078"/>
                    <a:gd name="connsiteY2" fmla="*/ 6046 h 82722"/>
                    <a:gd name="connsiteX3" fmla="*/ 112079 w 112078"/>
                    <a:gd name="connsiteY3" fmla="*/ 76676 h 82722"/>
                    <a:gd name="connsiteX4" fmla="*/ 106032 w 112078"/>
                    <a:gd name="connsiteY4" fmla="*/ 82723 h 82722"/>
                    <a:gd name="connsiteX5" fmla="*/ 6046 w 112078"/>
                    <a:gd name="connsiteY5" fmla="*/ 82723 h 82722"/>
                    <a:gd name="connsiteX6" fmla="*/ 0 w 112078"/>
                    <a:gd name="connsiteY6" fmla="*/ 76676 h 82722"/>
                    <a:gd name="connsiteX7" fmla="*/ 0 w 112078"/>
                    <a:gd name="connsiteY7" fmla="*/ 6046 h 82722"/>
                    <a:gd name="connsiteX8" fmla="*/ 6046 w 112078"/>
                    <a:gd name="connsiteY8" fmla="*/ 0 h 82722"/>
                    <a:gd name="connsiteX9" fmla="*/ 6046 w 112078"/>
                    <a:gd name="connsiteY9" fmla="*/ 0 h 8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078" h="82722">
                      <a:moveTo>
                        <a:pt x="6046" y="0"/>
                      </a:moveTo>
                      <a:lnTo>
                        <a:pt x="106032" y="0"/>
                      </a:lnTo>
                      <a:cubicBezTo>
                        <a:pt x="109362" y="0"/>
                        <a:pt x="112079" y="3330"/>
                        <a:pt x="112079" y="6046"/>
                      </a:cubicBezTo>
                      <a:lnTo>
                        <a:pt x="112079" y="76676"/>
                      </a:lnTo>
                      <a:cubicBezTo>
                        <a:pt x="112079" y="80006"/>
                        <a:pt x="109362" y="82723"/>
                        <a:pt x="106032" y="82723"/>
                      </a:cubicBezTo>
                      <a:lnTo>
                        <a:pt x="6046" y="82723"/>
                      </a:lnTo>
                      <a:cubicBezTo>
                        <a:pt x="2717" y="82723"/>
                        <a:pt x="0" y="79393"/>
                        <a:pt x="0" y="76676"/>
                      </a:cubicBezTo>
                      <a:lnTo>
                        <a:pt x="0" y="6046"/>
                      </a:lnTo>
                      <a:cubicBezTo>
                        <a:pt x="0" y="2717"/>
                        <a:pt x="2717" y="0"/>
                        <a:pt x="6046" y="0"/>
                      </a:cubicBezTo>
                      <a:lnTo>
                        <a:pt x="6046" y="0"/>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 name="Freeform: Shape 216">
                  <a:extLst>
                    <a:ext uri="{FF2B5EF4-FFF2-40B4-BE49-F238E27FC236}">
                      <a16:creationId xmlns:a16="http://schemas.microsoft.com/office/drawing/2014/main" id="{A7316E37-B8DF-6F8C-5EAC-EC33858E2CBC}"/>
                    </a:ext>
                  </a:extLst>
                </p:cNvPr>
                <p:cNvSpPr/>
                <p:nvPr/>
              </p:nvSpPr>
              <p:spPr>
                <a:xfrm>
                  <a:off x="9715281" y="1364086"/>
                  <a:ext cx="241990" cy="82722"/>
                </a:xfrm>
                <a:custGeom>
                  <a:avLst/>
                  <a:gdLst>
                    <a:gd name="connsiteX0" fmla="*/ 6046 w 241990"/>
                    <a:gd name="connsiteY0" fmla="*/ 0 h 82722"/>
                    <a:gd name="connsiteX1" fmla="*/ 235944 w 241990"/>
                    <a:gd name="connsiteY1" fmla="*/ 0 h 82722"/>
                    <a:gd name="connsiteX2" fmla="*/ 241990 w 241990"/>
                    <a:gd name="connsiteY2" fmla="*/ 6046 h 82722"/>
                    <a:gd name="connsiteX3" fmla="*/ 241990 w 241990"/>
                    <a:gd name="connsiteY3" fmla="*/ 76676 h 82722"/>
                    <a:gd name="connsiteX4" fmla="*/ 235944 w 241990"/>
                    <a:gd name="connsiteY4" fmla="*/ 82723 h 82722"/>
                    <a:gd name="connsiteX5" fmla="*/ 6046 w 241990"/>
                    <a:gd name="connsiteY5" fmla="*/ 82723 h 82722"/>
                    <a:gd name="connsiteX6" fmla="*/ 0 w 241990"/>
                    <a:gd name="connsiteY6" fmla="*/ 76676 h 82722"/>
                    <a:gd name="connsiteX7" fmla="*/ 0 w 241990"/>
                    <a:gd name="connsiteY7" fmla="*/ 6046 h 82722"/>
                    <a:gd name="connsiteX8" fmla="*/ 6046 w 241990"/>
                    <a:gd name="connsiteY8" fmla="*/ 0 h 8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990" h="82722">
                      <a:moveTo>
                        <a:pt x="6046" y="0"/>
                      </a:moveTo>
                      <a:lnTo>
                        <a:pt x="235944" y="0"/>
                      </a:lnTo>
                      <a:cubicBezTo>
                        <a:pt x="239274" y="0"/>
                        <a:pt x="241990" y="3330"/>
                        <a:pt x="241990" y="6046"/>
                      </a:cubicBezTo>
                      <a:lnTo>
                        <a:pt x="241990" y="76676"/>
                      </a:lnTo>
                      <a:cubicBezTo>
                        <a:pt x="241990" y="80006"/>
                        <a:pt x="239274" y="82723"/>
                        <a:pt x="235944" y="82723"/>
                      </a:cubicBezTo>
                      <a:lnTo>
                        <a:pt x="6046" y="82723"/>
                      </a:lnTo>
                      <a:cubicBezTo>
                        <a:pt x="2717" y="82723"/>
                        <a:pt x="0" y="79393"/>
                        <a:pt x="0" y="76676"/>
                      </a:cubicBezTo>
                      <a:lnTo>
                        <a:pt x="0" y="6046"/>
                      </a:lnTo>
                      <a:cubicBezTo>
                        <a:pt x="0" y="2717"/>
                        <a:pt x="2717" y="0"/>
                        <a:pt x="6046" y="0"/>
                      </a:cubicBez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6" name="Freeform: Shape 217">
                  <a:extLst>
                    <a:ext uri="{FF2B5EF4-FFF2-40B4-BE49-F238E27FC236}">
                      <a16:creationId xmlns:a16="http://schemas.microsoft.com/office/drawing/2014/main" id="{10D4F704-DCB9-FA04-8956-1BC44B0D1945}"/>
                    </a:ext>
                  </a:extLst>
                </p:cNvPr>
                <p:cNvSpPr/>
                <p:nvPr/>
              </p:nvSpPr>
              <p:spPr>
                <a:xfrm>
                  <a:off x="9370580" y="1353439"/>
                  <a:ext cx="351959" cy="398278"/>
                </a:xfrm>
                <a:custGeom>
                  <a:avLst/>
                  <a:gdLst>
                    <a:gd name="connsiteX0" fmla="*/ 351756 w 351959"/>
                    <a:gd name="connsiteY0" fmla="*/ 243086 h 398278"/>
                    <a:gd name="connsiteX1" fmla="*/ 351668 w 351959"/>
                    <a:gd name="connsiteY1" fmla="*/ 241815 h 398278"/>
                    <a:gd name="connsiteX2" fmla="*/ 277358 w 351959"/>
                    <a:gd name="connsiteY2" fmla="*/ 84344 h 398278"/>
                    <a:gd name="connsiteX3" fmla="*/ 263381 w 351959"/>
                    <a:gd name="connsiteY3" fmla="*/ 149234 h 398278"/>
                    <a:gd name="connsiteX4" fmla="*/ 258079 w 351959"/>
                    <a:gd name="connsiteY4" fmla="*/ 153834 h 398278"/>
                    <a:gd name="connsiteX5" fmla="*/ 256239 w 351959"/>
                    <a:gd name="connsiteY5" fmla="*/ 147043 h 398278"/>
                    <a:gd name="connsiteX6" fmla="*/ 187011 w 351959"/>
                    <a:gd name="connsiteY6" fmla="*/ 26377 h 398278"/>
                    <a:gd name="connsiteX7" fmla="*/ 149330 w 351959"/>
                    <a:gd name="connsiteY7" fmla="*/ 0 h 398278"/>
                    <a:gd name="connsiteX8" fmla="*/ 114410 w 351959"/>
                    <a:gd name="connsiteY8" fmla="*/ 121850 h 398278"/>
                    <a:gd name="connsiteX9" fmla="*/ 69149 w 351959"/>
                    <a:gd name="connsiteY9" fmla="*/ 186039 h 398278"/>
                    <a:gd name="connsiteX10" fmla="*/ 62577 w 351959"/>
                    <a:gd name="connsiteY10" fmla="*/ 193443 h 398278"/>
                    <a:gd name="connsiteX11" fmla="*/ 61481 w 351959"/>
                    <a:gd name="connsiteY11" fmla="*/ 183585 h 398278"/>
                    <a:gd name="connsiteX12" fmla="*/ 49169 w 351959"/>
                    <a:gd name="connsiteY12" fmla="*/ 124259 h 398278"/>
                    <a:gd name="connsiteX13" fmla="*/ 12452 w 351959"/>
                    <a:gd name="connsiteY13" fmla="*/ 221047 h 398278"/>
                    <a:gd name="connsiteX14" fmla="*/ 6888 w 351959"/>
                    <a:gd name="connsiteY14" fmla="*/ 311919 h 398278"/>
                    <a:gd name="connsiteX15" fmla="*/ 87858 w 351959"/>
                    <a:gd name="connsiteY15" fmla="*/ 397577 h 398278"/>
                    <a:gd name="connsiteX16" fmla="*/ 89786 w 351959"/>
                    <a:gd name="connsiteY16" fmla="*/ 303331 h 398278"/>
                    <a:gd name="connsiteX17" fmla="*/ 109415 w 351959"/>
                    <a:gd name="connsiteY17" fmla="*/ 271303 h 398278"/>
                    <a:gd name="connsiteX18" fmla="*/ 130402 w 351959"/>
                    <a:gd name="connsiteY18" fmla="*/ 218111 h 398278"/>
                    <a:gd name="connsiteX19" fmla="*/ 132155 w 351959"/>
                    <a:gd name="connsiteY19" fmla="*/ 212240 h 398278"/>
                    <a:gd name="connsiteX20" fmla="*/ 137150 w 351959"/>
                    <a:gd name="connsiteY20" fmla="*/ 215833 h 398278"/>
                    <a:gd name="connsiteX21" fmla="*/ 150995 w 351959"/>
                    <a:gd name="connsiteY21" fmla="*/ 266220 h 398278"/>
                    <a:gd name="connsiteX22" fmla="*/ 175313 w 351959"/>
                    <a:gd name="connsiteY22" fmla="*/ 165402 h 398278"/>
                    <a:gd name="connsiteX23" fmla="*/ 174568 w 351959"/>
                    <a:gd name="connsiteY23" fmla="*/ 156288 h 398278"/>
                    <a:gd name="connsiteX24" fmla="*/ 182148 w 351959"/>
                    <a:gd name="connsiteY24" fmla="*/ 161414 h 398278"/>
                    <a:gd name="connsiteX25" fmla="*/ 247257 w 351959"/>
                    <a:gd name="connsiteY25" fmla="*/ 242647 h 398278"/>
                    <a:gd name="connsiteX26" fmla="*/ 250193 w 351959"/>
                    <a:gd name="connsiteY26" fmla="*/ 398278 h 398278"/>
                    <a:gd name="connsiteX27" fmla="*/ 351668 w 351959"/>
                    <a:gd name="connsiteY27" fmla="*/ 243173 h 398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51959" h="398278">
                      <a:moveTo>
                        <a:pt x="351756" y="243086"/>
                      </a:moveTo>
                      <a:lnTo>
                        <a:pt x="351668" y="241815"/>
                      </a:lnTo>
                      <a:cubicBezTo>
                        <a:pt x="345972" y="162291"/>
                        <a:pt x="299397" y="106514"/>
                        <a:pt x="277358" y="84344"/>
                      </a:cubicBezTo>
                      <a:cubicBezTo>
                        <a:pt x="287085" y="127852"/>
                        <a:pt x="264476" y="148270"/>
                        <a:pt x="263381" y="149234"/>
                      </a:cubicBezTo>
                      <a:lnTo>
                        <a:pt x="258079" y="153834"/>
                      </a:lnTo>
                      <a:lnTo>
                        <a:pt x="256239" y="147043"/>
                      </a:lnTo>
                      <a:cubicBezTo>
                        <a:pt x="239239" y="84212"/>
                        <a:pt x="209226" y="46751"/>
                        <a:pt x="187011" y="26377"/>
                      </a:cubicBezTo>
                      <a:cubicBezTo>
                        <a:pt x="171369" y="12049"/>
                        <a:pt x="157305" y="3943"/>
                        <a:pt x="149330" y="0"/>
                      </a:cubicBezTo>
                      <a:cubicBezTo>
                        <a:pt x="153011" y="34482"/>
                        <a:pt x="141268" y="75449"/>
                        <a:pt x="114410" y="121850"/>
                      </a:cubicBezTo>
                      <a:cubicBezTo>
                        <a:pt x="93028" y="158829"/>
                        <a:pt x="69368" y="185732"/>
                        <a:pt x="69149" y="186039"/>
                      </a:cubicBezTo>
                      <a:lnTo>
                        <a:pt x="62577" y="193443"/>
                      </a:lnTo>
                      <a:lnTo>
                        <a:pt x="61481" y="183585"/>
                      </a:lnTo>
                      <a:cubicBezTo>
                        <a:pt x="57450" y="146912"/>
                        <a:pt x="52455" y="131051"/>
                        <a:pt x="49169" y="124259"/>
                      </a:cubicBezTo>
                      <a:cubicBezTo>
                        <a:pt x="39661" y="163430"/>
                        <a:pt x="13635" y="218549"/>
                        <a:pt x="12452" y="221047"/>
                      </a:cubicBezTo>
                      <a:cubicBezTo>
                        <a:pt x="-2007" y="252681"/>
                        <a:pt x="-3891" y="283264"/>
                        <a:pt x="6888" y="311919"/>
                      </a:cubicBezTo>
                      <a:cubicBezTo>
                        <a:pt x="23625" y="356479"/>
                        <a:pt x="66914" y="385616"/>
                        <a:pt x="87858" y="397577"/>
                      </a:cubicBezTo>
                      <a:cubicBezTo>
                        <a:pt x="79840" y="378649"/>
                        <a:pt x="69237" y="340881"/>
                        <a:pt x="89786" y="303331"/>
                      </a:cubicBezTo>
                      <a:cubicBezTo>
                        <a:pt x="99644" y="285323"/>
                        <a:pt x="105296" y="277218"/>
                        <a:pt x="109415" y="271303"/>
                      </a:cubicBezTo>
                      <a:cubicBezTo>
                        <a:pt x="116469" y="261181"/>
                        <a:pt x="118397" y="258421"/>
                        <a:pt x="130402" y="218111"/>
                      </a:cubicBezTo>
                      <a:lnTo>
                        <a:pt x="132155" y="212240"/>
                      </a:lnTo>
                      <a:lnTo>
                        <a:pt x="137150" y="215833"/>
                      </a:lnTo>
                      <a:cubicBezTo>
                        <a:pt x="138683" y="216928"/>
                        <a:pt x="151039" y="227006"/>
                        <a:pt x="150995" y="266220"/>
                      </a:cubicBezTo>
                      <a:cubicBezTo>
                        <a:pt x="161818" y="251235"/>
                        <a:pt x="179650" y="217936"/>
                        <a:pt x="175313" y="165402"/>
                      </a:cubicBezTo>
                      <a:lnTo>
                        <a:pt x="174568" y="156288"/>
                      </a:lnTo>
                      <a:lnTo>
                        <a:pt x="182148" y="161414"/>
                      </a:lnTo>
                      <a:cubicBezTo>
                        <a:pt x="211679" y="181350"/>
                        <a:pt x="234200" y="209436"/>
                        <a:pt x="247257" y="242647"/>
                      </a:cubicBezTo>
                      <a:cubicBezTo>
                        <a:pt x="266404" y="292903"/>
                        <a:pt x="273502" y="337156"/>
                        <a:pt x="250193" y="398278"/>
                      </a:cubicBezTo>
                      <a:cubicBezTo>
                        <a:pt x="279198" y="381716"/>
                        <a:pt x="357320" y="328919"/>
                        <a:pt x="351668" y="243173"/>
                      </a:cubicBez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7" name="Freeform: Shape 219">
                  <a:extLst>
                    <a:ext uri="{FF2B5EF4-FFF2-40B4-BE49-F238E27FC236}">
                      <a16:creationId xmlns:a16="http://schemas.microsoft.com/office/drawing/2014/main" id="{7220B2CE-B6ED-F58D-8C2C-63AA67620091}"/>
                    </a:ext>
                  </a:extLst>
                </p:cNvPr>
                <p:cNvSpPr/>
                <p:nvPr/>
              </p:nvSpPr>
              <p:spPr>
                <a:xfrm>
                  <a:off x="9573627" y="1364174"/>
                  <a:ext cx="123733" cy="82722"/>
                </a:xfrm>
                <a:custGeom>
                  <a:avLst/>
                  <a:gdLst>
                    <a:gd name="connsiteX0" fmla="*/ 55996 w 123733"/>
                    <a:gd name="connsiteY0" fmla="*/ 82679 h 82722"/>
                    <a:gd name="connsiteX1" fmla="*/ 57792 w 123733"/>
                    <a:gd name="connsiteY1" fmla="*/ 82679 h 82722"/>
                    <a:gd name="connsiteX2" fmla="*/ 52271 w 123733"/>
                    <a:gd name="connsiteY2" fmla="*/ 59150 h 82722"/>
                    <a:gd name="connsiteX3" fmla="*/ 34964 w 123733"/>
                    <a:gd name="connsiteY3" fmla="*/ 11567 h 82722"/>
                    <a:gd name="connsiteX4" fmla="*/ 74485 w 123733"/>
                    <a:gd name="connsiteY4" fmla="*/ 43245 h 82722"/>
                    <a:gd name="connsiteX5" fmla="*/ 111641 w 123733"/>
                    <a:gd name="connsiteY5" fmla="*/ 82723 h 82722"/>
                    <a:gd name="connsiteX6" fmla="*/ 115014 w 123733"/>
                    <a:gd name="connsiteY6" fmla="*/ 82723 h 82722"/>
                    <a:gd name="connsiteX7" fmla="*/ 121192 w 123733"/>
                    <a:gd name="connsiteY7" fmla="*/ 80181 h 82722"/>
                    <a:gd name="connsiteX8" fmla="*/ 123734 w 123733"/>
                    <a:gd name="connsiteY8" fmla="*/ 74004 h 82722"/>
                    <a:gd name="connsiteX9" fmla="*/ 123734 w 123733"/>
                    <a:gd name="connsiteY9" fmla="*/ 8719 h 82722"/>
                    <a:gd name="connsiteX10" fmla="*/ 121192 w 123733"/>
                    <a:gd name="connsiteY10" fmla="*/ 2541 h 82722"/>
                    <a:gd name="connsiteX11" fmla="*/ 115014 w 123733"/>
                    <a:gd name="connsiteY11" fmla="*/ 0 h 82722"/>
                    <a:gd name="connsiteX12" fmla="*/ 0 w 123733"/>
                    <a:gd name="connsiteY12" fmla="*/ 0 h 82722"/>
                    <a:gd name="connsiteX13" fmla="*/ 55996 w 123733"/>
                    <a:gd name="connsiteY13" fmla="*/ 82723 h 82722"/>
                    <a:gd name="connsiteX14" fmla="*/ 55996 w 123733"/>
                    <a:gd name="connsiteY14" fmla="*/ 82723 h 8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3733" h="82722">
                      <a:moveTo>
                        <a:pt x="55996" y="82679"/>
                      </a:moveTo>
                      <a:lnTo>
                        <a:pt x="57792" y="82679"/>
                      </a:lnTo>
                      <a:cubicBezTo>
                        <a:pt x="56959" y="74617"/>
                        <a:pt x="55119" y="66730"/>
                        <a:pt x="52271" y="59150"/>
                      </a:cubicBezTo>
                      <a:lnTo>
                        <a:pt x="34964" y="11567"/>
                      </a:lnTo>
                      <a:lnTo>
                        <a:pt x="74485" y="43245"/>
                      </a:lnTo>
                      <a:cubicBezTo>
                        <a:pt x="88287" y="54988"/>
                        <a:pt x="100731" y="68220"/>
                        <a:pt x="111641" y="82723"/>
                      </a:cubicBezTo>
                      <a:lnTo>
                        <a:pt x="115014" y="82723"/>
                      </a:lnTo>
                      <a:cubicBezTo>
                        <a:pt x="117337" y="82723"/>
                        <a:pt x="119527" y="81803"/>
                        <a:pt x="121192" y="80181"/>
                      </a:cubicBezTo>
                      <a:cubicBezTo>
                        <a:pt x="122813" y="78560"/>
                        <a:pt x="123734" y="76326"/>
                        <a:pt x="123734" y="74004"/>
                      </a:cubicBezTo>
                      <a:lnTo>
                        <a:pt x="123734" y="8719"/>
                      </a:lnTo>
                      <a:cubicBezTo>
                        <a:pt x="123734" y="6397"/>
                        <a:pt x="122813" y="4206"/>
                        <a:pt x="121192" y="2541"/>
                      </a:cubicBezTo>
                      <a:cubicBezTo>
                        <a:pt x="119571" y="920"/>
                        <a:pt x="117337" y="0"/>
                        <a:pt x="115014" y="0"/>
                      </a:cubicBezTo>
                      <a:lnTo>
                        <a:pt x="0" y="0"/>
                      </a:lnTo>
                      <a:cubicBezTo>
                        <a:pt x="24054" y="23529"/>
                        <a:pt x="43114" y="51658"/>
                        <a:pt x="55996" y="82723"/>
                      </a:cubicBezTo>
                      <a:lnTo>
                        <a:pt x="55996" y="82723"/>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8" name="Freeform: Shape 220">
                  <a:extLst>
                    <a:ext uri="{FF2B5EF4-FFF2-40B4-BE49-F238E27FC236}">
                      <a16:creationId xmlns:a16="http://schemas.microsoft.com/office/drawing/2014/main" id="{9D094206-78B1-5DBA-9925-941B320884CE}"/>
                    </a:ext>
                  </a:extLst>
                </p:cNvPr>
                <p:cNvSpPr/>
                <p:nvPr/>
              </p:nvSpPr>
              <p:spPr>
                <a:xfrm>
                  <a:off x="9698588" y="1465737"/>
                  <a:ext cx="129122" cy="82722"/>
                </a:xfrm>
                <a:custGeom>
                  <a:avLst/>
                  <a:gdLst>
                    <a:gd name="connsiteX0" fmla="*/ 120404 w 129122"/>
                    <a:gd name="connsiteY0" fmla="*/ 0 h 82722"/>
                    <a:gd name="connsiteX1" fmla="*/ 0 w 129122"/>
                    <a:gd name="connsiteY1" fmla="*/ 0 h 82722"/>
                    <a:gd name="connsiteX2" fmla="*/ 35972 w 129122"/>
                    <a:gd name="connsiteY2" fmla="*/ 82723 h 82722"/>
                    <a:gd name="connsiteX3" fmla="*/ 120404 w 129122"/>
                    <a:gd name="connsiteY3" fmla="*/ 82723 h 82722"/>
                    <a:gd name="connsiteX4" fmla="*/ 126582 w 129122"/>
                    <a:gd name="connsiteY4" fmla="*/ 80181 h 82722"/>
                    <a:gd name="connsiteX5" fmla="*/ 129123 w 129122"/>
                    <a:gd name="connsiteY5" fmla="*/ 74004 h 82722"/>
                    <a:gd name="connsiteX6" fmla="*/ 129123 w 129122"/>
                    <a:gd name="connsiteY6" fmla="*/ 8719 h 82722"/>
                    <a:gd name="connsiteX7" fmla="*/ 126582 w 129122"/>
                    <a:gd name="connsiteY7" fmla="*/ 2541 h 82722"/>
                    <a:gd name="connsiteX8" fmla="*/ 120404 w 129122"/>
                    <a:gd name="connsiteY8" fmla="*/ 0 h 82722"/>
                    <a:gd name="connsiteX9" fmla="*/ 120404 w 129122"/>
                    <a:gd name="connsiteY9" fmla="*/ 0 h 8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9122" h="82722">
                      <a:moveTo>
                        <a:pt x="120404" y="0"/>
                      </a:moveTo>
                      <a:lnTo>
                        <a:pt x="0" y="0"/>
                      </a:lnTo>
                      <a:cubicBezTo>
                        <a:pt x="16606" y="25325"/>
                        <a:pt x="28786" y="53323"/>
                        <a:pt x="35972" y="82723"/>
                      </a:cubicBezTo>
                      <a:lnTo>
                        <a:pt x="120404" y="82723"/>
                      </a:lnTo>
                      <a:cubicBezTo>
                        <a:pt x="122726" y="82723"/>
                        <a:pt x="124917" y="81803"/>
                        <a:pt x="126582" y="80181"/>
                      </a:cubicBezTo>
                      <a:cubicBezTo>
                        <a:pt x="128203" y="78560"/>
                        <a:pt x="129123" y="76326"/>
                        <a:pt x="129123" y="74004"/>
                      </a:cubicBezTo>
                      <a:lnTo>
                        <a:pt x="129123" y="8719"/>
                      </a:lnTo>
                      <a:cubicBezTo>
                        <a:pt x="129123" y="6397"/>
                        <a:pt x="128203" y="4162"/>
                        <a:pt x="126582" y="2541"/>
                      </a:cubicBezTo>
                      <a:cubicBezTo>
                        <a:pt x="124960" y="920"/>
                        <a:pt x="122726" y="0"/>
                        <a:pt x="120404" y="0"/>
                      </a:cubicBezTo>
                      <a:lnTo>
                        <a:pt x="120404" y="0"/>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9" name="Freeform: Shape 221">
                  <a:extLst>
                    <a:ext uri="{FF2B5EF4-FFF2-40B4-BE49-F238E27FC236}">
                      <a16:creationId xmlns:a16="http://schemas.microsoft.com/office/drawing/2014/main" id="{3B49F11D-5B5D-CE3F-859F-013D1882F3A1}"/>
                    </a:ext>
                  </a:extLst>
                </p:cNvPr>
                <p:cNvSpPr/>
                <p:nvPr/>
              </p:nvSpPr>
              <p:spPr>
                <a:xfrm>
                  <a:off x="9732676" y="1567432"/>
                  <a:ext cx="224595" cy="82766"/>
                </a:xfrm>
                <a:custGeom>
                  <a:avLst/>
                  <a:gdLst>
                    <a:gd name="connsiteX0" fmla="*/ 215920 w 224595"/>
                    <a:gd name="connsiteY0" fmla="*/ 0 h 82766"/>
                    <a:gd name="connsiteX1" fmla="*/ 5608 w 224595"/>
                    <a:gd name="connsiteY1" fmla="*/ 0 h 82766"/>
                    <a:gd name="connsiteX2" fmla="*/ 8237 w 224595"/>
                    <a:gd name="connsiteY2" fmla="*/ 22696 h 82766"/>
                    <a:gd name="connsiteX3" fmla="*/ 8237 w 224595"/>
                    <a:gd name="connsiteY3" fmla="*/ 22696 h 82766"/>
                    <a:gd name="connsiteX4" fmla="*/ 0 w 224595"/>
                    <a:gd name="connsiteY4" fmla="*/ 82767 h 82766"/>
                    <a:gd name="connsiteX5" fmla="*/ 215920 w 224595"/>
                    <a:gd name="connsiteY5" fmla="*/ 82767 h 82766"/>
                    <a:gd name="connsiteX6" fmla="*/ 222054 w 224595"/>
                    <a:gd name="connsiteY6" fmla="*/ 80225 h 82766"/>
                    <a:gd name="connsiteX7" fmla="*/ 224596 w 224595"/>
                    <a:gd name="connsiteY7" fmla="*/ 74091 h 82766"/>
                    <a:gd name="connsiteX8" fmla="*/ 224596 w 224595"/>
                    <a:gd name="connsiteY8" fmla="*/ 8763 h 82766"/>
                    <a:gd name="connsiteX9" fmla="*/ 222054 w 224595"/>
                    <a:gd name="connsiteY9" fmla="*/ 2585 h 82766"/>
                    <a:gd name="connsiteX10" fmla="*/ 215876 w 224595"/>
                    <a:gd name="connsiteY10" fmla="*/ 44 h 82766"/>
                    <a:gd name="connsiteX11" fmla="*/ 215876 w 224595"/>
                    <a:gd name="connsiteY11" fmla="*/ 44 h 8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4595" h="82766">
                      <a:moveTo>
                        <a:pt x="215920" y="0"/>
                      </a:moveTo>
                      <a:lnTo>
                        <a:pt x="5608" y="0"/>
                      </a:lnTo>
                      <a:cubicBezTo>
                        <a:pt x="6791" y="7361"/>
                        <a:pt x="7711" y="14897"/>
                        <a:pt x="8237" y="22696"/>
                      </a:cubicBezTo>
                      <a:lnTo>
                        <a:pt x="8237" y="22696"/>
                      </a:lnTo>
                      <a:cubicBezTo>
                        <a:pt x="9639" y="43070"/>
                        <a:pt x="6835" y="63488"/>
                        <a:pt x="0" y="82767"/>
                      </a:cubicBezTo>
                      <a:lnTo>
                        <a:pt x="215920" y="82767"/>
                      </a:lnTo>
                      <a:cubicBezTo>
                        <a:pt x="218243" y="82767"/>
                        <a:pt x="220433" y="81846"/>
                        <a:pt x="222054" y="80225"/>
                      </a:cubicBezTo>
                      <a:cubicBezTo>
                        <a:pt x="223676" y="78604"/>
                        <a:pt x="224596" y="76370"/>
                        <a:pt x="224596" y="74091"/>
                      </a:cubicBezTo>
                      <a:lnTo>
                        <a:pt x="224596" y="8763"/>
                      </a:lnTo>
                      <a:cubicBezTo>
                        <a:pt x="224596" y="6441"/>
                        <a:pt x="223676" y="4250"/>
                        <a:pt x="222054" y="2585"/>
                      </a:cubicBezTo>
                      <a:cubicBezTo>
                        <a:pt x="220433" y="964"/>
                        <a:pt x="218199" y="44"/>
                        <a:pt x="215876" y="44"/>
                      </a:cubicBezTo>
                      <a:lnTo>
                        <a:pt x="215876" y="44"/>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0" name="Freeform: Shape 222">
                  <a:extLst>
                    <a:ext uri="{FF2B5EF4-FFF2-40B4-BE49-F238E27FC236}">
                      <a16:creationId xmlns:a16="http://schemas.microsoft.com/office/drawing/2014/main" id="{86ED07F0-997C-939B-FB26-E7BE478BD030}"/>
                    </a:ext>
                  </a:extLst>
                </p:cNvPr>
                <p:cNvSpPr/>
                <p:nvPr/>
              </p:nvSpPr>
              <p:spPr>
                <a:xfrm>
                  <a:off x="9647499" y="1669082"/>
                  <a:ext cx="179816" cy="82722"/>
                </a:xfrm>
                <a:custGeom>
                  <a:avLst/>
                  <a:gdLst>
                    <a:gd name="connsiteX0" fmla="*/ 171141 w 179816"/>
                    <a:gd name="connsiteY0" fmla="*/ 0 h 82722"/>
                    <a:gd name="connsiteX1" fmla="*/ 77027 w 179816"/>
                    <a:gd name="connsiteY1" fmla="*/ 0 h 82722"/>
                    <a:gd name="connsiteX2" fmla="*/ 0 w 179816"/>
                    <a:gd name="connsiteY2" fmla="*/ 82723 h 82722"/>
                    <a:gd name="connsiteX3" fmla="*/ 171098 w 179816"/>
                    <a:gd name="connsiteY3" fmla="*/ 82723 h 82722"/>
                    <a:gd name="connsiteX4" fmla="*/ 177275 w 179816"/>
                    <a:gd name="connsiteY4" fmla="*/ 80181 h 82722"/>
                    <a:gd name="connsiteX5" fmla="*/ 179817 w 179816"/>
                    <a:gd name="connsiteY5" fmla="*/ 74004 h 82722"/>
                    <a:gd name="connsiteX6" fmla="*/ 179817 w 179816"/>
                    <a:gd name="connsiteY6" fmla="*/ 8719 h 82722"/>
                    <a:gd name="connsiteX7" fmla="*/ 177275 w 179816"/>
                    <a:gd name="connsiteY7" fmla="*/ 2541 h 82722"/>
                    <a:gd name="connsiteX8" fmla="*/ 171098 w 179816"/>
                    <a:gd name="connsiteY8" fmla="*/ 0 h 82722"/>
                    <a:gd name="connsiteX9" fmla="*/ 171098 w 179816"/>
                    <a:gd name="connsiteY9" fmla="*/ 0 h 8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9816" h="82722">
                      <a:moveTo>
                        <a:pt x="171141" y="0"/>
                      </a:moveTo>
                      <a:lnTo>
                        <a:pt x="77027" y="0"/>
                      </a:lnTo>
                      <a:cubicBezTo>
                        <a:pt x="57310" y="38995"/>
                        <a:pt x="24098" y="66599"/>
                        <a:pt x="0" y="82723"/>
                      </a:cubicBezTo>
                      <a:lnTo>
                        <a:pt x="171098" y="82723"/>
                      </a:lnTo>
                      <a:cubicBezTo>
                        <a:pt x="173420" y="82723"/>
                        <a:pt x="175611" y="81803"/>
                        <a:pt x="177275" y="80181"/>
                      </a:cubicBezTo>
                      <a:cubicBezTo>
                        <a:pt x="178897" y="78560"/>
                        <a:pt x="179817" y="76326"/>
                        <a:pt x="179817" y="74004"/>
                      </a:cubicBezTo>
                      <a:lnTo>
                        <a:pt x="179817" y="8719"/>
                      </a:lnTo>
                      <a:cubicBezTo>
                        <a:pt x="179817" y="6397"/>
                        <a:pt x="178897" y="4206"/>
                        <a:pt x="177275" y="2541"/>
                      </a:cubicBezTo>
                      <a:cubicBezTo>
                        <a:pt x="175654" y="920"/>
                        <a:pt x="173420" y="0"/>
                        <a:pt x="171098" y="0"/>
                      </a:cubicBezTo>
                      <a:lnTo>
                        <a:pt x="171098" y="0"/>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grpSp>
      <p:grpSp>
        <p:nvGrpSpPr>
          <p:cNvPr id="83" name="Group 82">
            <a:extLst>
              <a:ext uri="{FF2B5EF4-FFF2-40B4-BE49-F238E27FC236}">
                <a16:creationId xmlns:a16="http://schemas.microsoft.com/office/drawing/2014/main" id="{1297AD69-3683-29B3-DC02-01D486E84D2D}"/>
              </a:ext>
            </a:extLst>
          </p:cNvPr>
          <p:cNvGrpSpPr/>
          <p:nvPr/>
        </p:nvGrpSpPr>
        <p:grpSpPr>
          <a:xfrm>
            <a:off x="9294813" y="2771361"/>
            <a:ext cx="2314149" cy="575945"/>
            <a:chOff x="9294813" y="4025259"/>
            <a:chExt cx="2314149" cy="575945"/>
          </a:xfrm>
        </p:grpSpPr>
        <p:sp>
          <p:nvSpPr>
            <p:cNvPr id="71" name="Rectangle: Rounded Corners 634">
              <a:extLst>
                <a:ext uri="{FF2B5EF4-FFF2-40B4-BE49-F238E27FC236}">
                  <a16:creationId xmlns:a16="http://schemas.microsoft.com/office/drawing/2014/main" id="{3FE4524C-EF2F-66E4-ADC0-95630C6C7ADE}"/>
                </a:ext>
              </a:extLst>
            </p:cNvPr>
            <p:cNvSpPr/>
            <p:nvPr/>
          </p:nvSpPr>
          <p:spPr>
            <a:xfrm>
              <a:off x="9294813" y="4025259"/>
              <a:ext cx="2286000" cy="575945"/>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2" name="Content Placeholder 9">
              <a:extLst>
                <a:ext uri="{FF2B5EF4-FFF2-40B4-BE49-F238E27FC236}">
                  <a16:creationId xmlns:a16="http://schemas.microsoft.com/office/drawing/2014/main" id="{62E5BD5B-AC2C-AB25-FE1B-207BE1032E92}"/>
                </a:ext>
              </a:extLst>
            </p:cNvPr>
            <p:cNvSpPr txBox="1">
              <a:spLocks/>
            </p:cNvSpPr>
            <p:nvPr/>
          </p:nvSpPr>
          <p:spPr>
            <a:xfrm>
              <a:off x="9855505" y="4212110"/>
              <a:ext cx="1753457" cy="202243"/>
            </a:xfrm>
            <a:prstGeom prst="rect">
              <a:avLst/>
            </a:prstGeom>
          </p:spPr>
          <p:txBody>
            <a:bodyPr vert="horz" lIns="0" tIns="0" rIns="0" bIns="0" rtlCol="0" anchor="ctr">
              <a:noAutofit/>
            </a:bodyPr>
            <a:lstStyle>
              <a:lvl1pPr marL="0" indent="0" algn="ctr" defTabSz="914400" rtl="0" eaLnBrk="1" latinLnBrk="0" hangingPunct="1">
                <a:lnSpc>
                  <a:spcPct val="100000"/>
                </a:lnSpc>
                <a:spcBef>
                  <a:spcPts val="600"/>
                </a:spcBef>
                <a:buClr>
                  <a:schemeClr val="tx1">
                    <a:lumMod val="60000"/>
                    <a:lumOff val="40000"/>
                  </a:schemeClr>
                </a:buClr>
                <a:buSzPct val="90000"/>
                <a:buFont typeface="Arial" panose="020B0604020202020204" pitchFamily="34" charset="0"/>
                <a:buChar char="​"/>
                <a:defRPr sz="2400" kern="1200">
                  <a:solidFill>
                    <a:schemeClr val="accent5"/>
                  </a:solidFill>
                  <a:latin typeface="+mn-lt"/>
                  <a:ea typeface="+mn-ea"/>
                  <a:cs typeface="+mn-cs"/>
                </a:defRPr>
              </a:lvl1pPr>
              <a:lvl2pPr marL="0" indent="0" algn="ctr" defTabSz="914400" rtl="0" eaLnBrk="1" latinLnBrk="0" hangingPunct="1">
                <a:lnSpc>
                  <a:spcPct val="100000"/>
                </a:lnSpc>
                <a:spcBef>
                  <a:spcPts val="600"/>
                </a:spcBef>
                <a:buClr>
                  <a:schemeClr val="tx2"/>
                </a:buClr>
                <a:buSzPct val="90000"/>
                <a:buFont typeface="Open Sans" panose="020B0606030504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6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6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6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0000">
                    <a:lumMod val="60000"/>
                    <a:lumOff val="40000"/>
                  </a:srgbClr>
                </a:buClr>
                <a:buSzPct val="90000"/>
                <a:buFont typeface="Arial" panose="020B0604020202020204" pitchFamily="34" charset="0"/>
                <a:buChar char="​"/>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Routing/NAT</a:t>
              </a:r>
            </a:p>
          </p:txBody>
        </p:sp>
        <p:grpSp>
          <p:nvGrpSpPr>
            <p:cNvPr id="73" name="Group 72">
              <a:extLst>
                <a:ext uri="{FF2B5EF4-FFF2-40B4-BE49-F238E27FC236}">
                  <a16:creationId xmlns:a16="http://schemas.microsoft.com/office/drawing/2014/main" id="{5A254924-F65B-2A07-E96B-A7873ADBDE38}"/>
                </a:ext>
              </a:extLst>
            </p:cNvPr>
            <p:cNvGrpSpPr>
              <a:grpSpLocks noChangeAspect="1"/>
            </p:cNvGrpSpPr>
            <p:nvPr/>
          </p:nvGrpSpPr>
          <p:grpSpPr>
            <a:xfrm>
              <a:off x="9344980" y="4084632"/>
              <a:ext cx="457200" cy="457200"/>
              <a:chOff x="4856731" y="3857189"/>
              <a:chExt cx="902850" cy="902850"/>
            </a:xfrm>
          </p:grpSpPr>
          <p:sp>
            <p:nvSpPr>
              <p:cNvPr id="74" name="Oval 34">
                <a:extLst>
                  <a:ext uri="{FF2B5EF4-FFF2-40B4-BE49-F238E27FC236}">
                    <a16:creationId xmlns:a16="http://schemas.microsoft.com/office/drawing/2014/main" id="{0930CA90-BF72-9E2F-CAEE-6277512690EC}"/>
                  </a:ext>
                </a:extLst>
              </p:cNvPr>
              <p:cNvSpPr>
                <a:spLocks noChangeAspect="1"/>
              </p:cNvSpPr>
              <p:nvPr/>
            </p:nvSpPr>
            <p:spPr bwMode="gray">
              <a:xfrm>
                <a:off x="4856731" y="3857189"/>
                <a:ext cx="902850" cy="902850"/>
              </a:xfrm>
              <a:prstGeom prst="ellipse">
                <a:avLst/>
              </a:prstGeom>
              <a:solidFill>
                <a:schemeClr val="tx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5" name="Graphic 579">
                <a:extLst>
                  <a:ext uri="{FF2B5EF4-FFF2-40B4-BE49-F238E27FC236}">
                    <a16:creationId xmlns:a16="http://schemas.microsoft.com/office/drawing/2014/main" id="{1B87F75E-9F4C-3251-8DA7-FB32C637EFE7}"/>
                  </a:ext>
                </a:extLst>
              </p:cNvPr>
              <p:cNvSpPr/>
              <p:nvPr/>
            </p:nvSpPr>
            <p:spPr>
              <a:xfrm>
                <a:off x="5015911" y="4016368"/>
                <a:ext cx="584492" cy="584492"/>
              </a:xfrm>
              <a:custGeom>
                <a:avLst/>
                <a:gdLst>
                  <a:gd name="connsiteX0" fmla="*/ 292246 w 584492"/>
                  <a:gd name="connsiteY0" fmla="*/ 0 h 584492"/>
                  <a:gd name="connsiteX1" fmla="*/ 0 w 584492"/>
                  <a:gd name="connsiteY1" fmla="*/ 292246 h 584492"/>
                  <a:gd name="connsiteX2" fmla="*/ 292246 w 584492"/>
                  <a:gd name="connsiteY2" fmla="*/ 584492 h 584492"/>
                  <a:gd name="connsiteX3" fmla="*/ 584492 w 584492"/>
                  <a:gd name="connsiteY3" fmla="*/ 292246 h 584492"/>
                  <a:gd name="connsiteX4" fmla="*/ 292246 w 584492"/>
                  <a:gd name="connsiteY4" fmla="*/ 0 h 584492"/>
                  <a:gd name="connsiteX5" fmla="*/ 172982 w 584492"/>
                  <a:gd name="connsiteY5" fmla="*/ 333520 h 584492"/>
                  <a:gd name="connsiteX6" fmla="*/ 172982 w 584492"/>
                  <a:gd name="connsiteY6" fmla="*/ 307581 h 584492"/>
                  <a:gd name="connsiteX7" fmla="*/ 59895 w 584492"/>
                  <a:gd name="connsiteY7" fmla="*/ 307581 h 584492"/>
                  <a:gd name="connsiteX8" fmla="*/ 59895 w 584492"/>
                  <a:gd name="connsiteY8" fmla="*/ 276911 h 584492"/>
                  <a:gd name="connsiteX9" fmla="*/ 172982 w 584492"/>
                  <a:gd name="connsiteY9" fmla="*/ 276911 h 584492"/>
                  <a:gd name="connsiteX10" fmla="*/ 172982 w 584492"/>
                  <a:gd name="connsiteY10" fmla="*/ 250972 h 584492"/>
                  <a:gd name="connsiteX11" fmla="*/ 244488 w 584492"/>
                  <a:gd name="connsiteY11" fmla="*/ 292246 h 584492"/>
                  <a:gd name="connsiteX12" fmla="*/ 172982 w 584492"/>
                  <a:gd name="connsiteY12" fmla="*/ 333520 h 584492"/>
                  <a:gd name="connsiteX13" fmla="*/ 292246 w 584492"/>
                  <a:gd name="connsiteY13" fmla="*/ 519646 h 584492"/>
                  <a:gd name="connsiteX14" fmla="*/ 250972 w 584492"/>
                  <a:gd name="connsiteY14" fmla="*/ 448140 h 584492"/>
                  <a:gd name="connsiteX15" fmla="*/ 276911 w 584492"/>
                  <a:gd name="connsiteY15" fmla="*/ 448140 h 584492"/>
                  <a:gd name="connsiteX16" fmla="*/ 276911 w 584492"/>
                  <a:gd name="connsiteY16" fmla="*/ 335053 h 584492"/>
                  <a:gd name="connsiteX17" fmla="*/ 307581 w 584492"/>
                  <a:gd name="connsiteY17" fmla="*/ 335053 h 584492"/>
                  <a:gd name="connsiteX18" fmla="*/ 307581 w 584492"/>
                  <a:gd name="connsiteY18" fmla="*/ 448140 h 584492"/>
                  <a:gd name="connsiteX19" fmla="*/ 333520 w 584492"/>
                  <a:gd name="connsiteY19" fmla="*/ 448140 h 584492"/>
                  <a:gd name="connsiteX20" fmla="*/ 292246 w 584492"/>
                  <a:gd name="connsiteY20" fmla="*/ 519646 h 584492"/>
                  <a:gd name="connsiteX21" fmla="*/ 307581 w 584492"/>
                  <a:gd name="connsiteY21" fmla="*/ 136352 h 584492"/>
                  <a:gd name="connsiteX22" fmla="*/ 307581 w 584492"/>
                  <a:gd name="connsiteY22" fmla="*/ 249439 h 584492"/>
                  <a:gd name="connsiteX23" fmla="*/ 276911 w 584492"/>
                  <a:gd name="connsiteY23" fmla="*/ 249439 h 584492"/>
                  <a:gd name="connsiteX24" fmla="*/ 276911 w 584492"/>
                  <a:gd name="connsiteY24" fmla="*/ 136352 h 584492"/>
                  <a:gd name="connsiteX25" fmla="*/ 250972 w 584492"/>
                  <a:gd name="connsiteY25" fmla="*/ 136352 h 584492"/>
                  <a:gd name="connsiteX26" fmla="*/ 292246 w 584492"/>
                  <a:gd name="connsiteY26" fmla="*/ 64846 h 584492"/>
                  <a:gd name="connsiteX27" fmla="*/ 333520 w 584492"/>
                  <a:gd name="connsiteY27" fmla="*/ 136352 h 584492"/>
                  <a:gd name="connsiteX28" fmla="*/ 307581 w 584492"/>
                  <a:gd name="connsiteY28" fmla="*/ 136352 h 584492"/>
                  <a:gd name="connsiteX29" fmla="*/ 411511 w 584492"/>
                  <a:gd name="connsiteY29" fmla="*/ 307581 h 584492"/>
                  <a:gd name="connsiteX30" fmla="*/ 411511 w 584492"/>
                  <a:gd name="connsiteY30" fmla="*/ 333520 h 584492"/>
                  <a:gd name="connsiteX31" fmla="*/ 340004 w 584492"/>
                  <a:gd name="connsiteY31" fmla="*/ 292246 h 584492"/>
                  <a:gd name="connsiteX32" fmla="*/ 411511 w 584492"/>
                  <a:gd name="connsiteY32" fmla="*/ 250972 h 584492"/>
                  <a:gd name="connsiteX33" fmla="*/ 411511 w 584492"/>
                  <a:gd name="connsiteY33" fmla="*/ 276911 h 584492"/>
                  <a:gd name="connsiteX34" fmla="*/ 524597 w 584492"/>
                  <a:gd name="connsiteY34" fmla="*/ 276911 h 584492"/>
                  <a:gd name="connsiteX35" fmla="*/ 524597 w 584492"/>
                  <a:gd name="connsiteY35" fmla="*/ 307581 h 584492"/>
                  <a:gd name="connsiteX36" fmla="*/ 411511 w 584492"/>
                  <a:gd name="connsiteY36" fmla="*/ 307581 h 58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84492" h="584492">
                    <a:moveTo>
                      <a:pt x="292246" y="0"/>
                    </a:moveTo>
                    <a:cubicBezTo>
                      <a:pt x="130832" y="0"/>
                      <a:pt x="0" y="130832"/>
                      <a:pt x="0" y="292246"/>
                    </a:cubicBezTo>
                    <a:cubicBezTo>
                      <a:pt x="0" y="453661"/>
                      <a:pt x="130832" y="584492"/>
                      <a:pt x="292246" y="584492"/>
                    </a:cubicBezTo>
                    <a:cubicBezTo>
                      <a:pt x="453661" y="584492"/>
                      <a:pt x="584492" y="453661"/>
                      <a:pt x="584492" y="292246"/>
                    </a:cubicBezTo>
                    <a:cubicBezTo>
                      <a:pt x="584492" y="130832"/>
                      <a:pt x="453617" y="0"/>
                      <a:pt x="292246" y="0"/>
                    </a:cubicBezTo>
                    <a:close/>
                    <a:moveTo>
                      <a:pt x="172982" y="333520"/>
                    </a:moveTo>
                    <a:lnTo>
                      <a:pt x="172982" y="307581"/>
                    </a:lnTo>
                    <a:lnTo>
                      <a:pt x="59895" y="307581"/>
                    </a:lnTo>
                    <a:lnTo>
                      <a:pt x="59895" y="276911"/>
                    </a:lnTo>
                    <a:lnTo>
                      <a:pt x="172982" y="276911"/>
                    </a:lnTo>
                    <a:lnTo>
                      <a:pt x="172982" y="250972"/>
                    </a:lnTo>
                    <a:lnTo>
                      <a:pt x="244488" y="292246"/>
                    </a:lnTo>
                    <a:lnTo>
                      <a:pt x="172982" y="333520"/>
                    </a:lnTo>
                    <a:close/>
                    <a:moveTo>
                      <a:pt x="292246" y="519646"/>
                    </a:moveTo>
                    <a:lnTo>
                      <a:pt x="250972" y="448140"/>
                    </a:lnTo>
                    <a:lnTo>
                      <a:pt x="276911" y="448140"/>
                    </a:lnTo>
                    <a:lnTo>
                      <a:pt x="276911" y="335053"/>
                    </a:lnTo>
                    <a:lnTo>
                      <a:pt x="307581" y="335053"/>
                    </a:lnTo>
                    <a:lnTo>
                      <a:pt x="307581" y="448140"/>
                    </a:lnTo>
                    <a:lnTo>
                      <a:pt x="333520" y="448140"/>
                    </a:lnTo>
                    <a:lnTo>
                      <a:pt x="292246" y="519646"/>
                    </a:lnTo>
                    <a:close/>
                    <a:moveTo>
                      <a:pt x="307581" y="136352"/>
                    </a:moveTo>
                    <a:lnTo>
                      <a:pt x="307581" y="249439"/>
                    </a:lnTo>
                    <a:lnTo>
                      <a:pt x="276911" y="249439"/>
                    </a:lnTo>
                    <a:lnTo>
                      <a:pt x="276911" y="136352"/>
                    </a:lnTo>
                    <a:lnTo>
                      <a:pt x="250972" y="136352"/>
                    </a:lnTo>
                    <a:lnTo>
                      <a:pt x="292246" y="64846"/>
                    </a:lnTo>
                    <a:lnTo>
                      <a:pt x="333520" y="136352"/>
                    </a:lnTo>
                    <a:lnTo>
                      <a:pt x="307581" y="136352"/>
                    </a:lnTo>
                    <a:close/>
                    <a:moveTo>
                      <a:pt x="411511" y="307581"/>
                    </a:moveTo>
                    <a:lnTo>
                      <a:pt x="411511" y="333520"/>
                    </a:lnTo>
                    <a:lnTo>
                      <a:pt x="340004" y="292246"/>
                    </a:lnTo>
                    <a:lnTo>
                      <a:pt x="411511" y="250972"/>
                    </a:lnTo>
                    <a:lnTo>
                      <a:pt x="411511" y="276911"/>
                    </a:lnTo>
                    <a:lnTo>
                      <a:pt x="524597" y="276911"/>
                    </a:lnTo>
                    <a:lnTo>
                      <a:pt x="524597" y="307581"/>
                    </a:lnTo>
                    <a:lnTo>
                      <a:pt x="411511" y="307581"/>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grpSp>
        <p:nvGrpSpPr>
          <p:cNvPr id="124" name="Group 123">
            <a:extLst>
              <a:ext uri="{FF2B5EF4-FFF2-40B4-BE49-F238E27FC236}">
                <a16:creationId xmlns:a16="http://schemas.microsoft.com/office/drawing/2014/main" id="{AEC40D3E-3D46-840F-DEE3-44CAC90102A8}"/>
              </a:ext>
            </a:extLst>
          </p:cNvPr>
          <p:cNvGrpSpPr/>
          <p:nvPr/>
        </p:nvGrpSpPr>
        <p:grpSpPr>
          <a:xfrm>
            <a:off x="9294813" y="2100404"/>
            <a:ext cx="2314149" cy="575945"/>
            <a:chOff x="9294813" y="2100404"/>
            <a:chExt cx="2314149" cy="575945"/>
          </a:xfrm>
        </p:grpSpPr>
        <p:sp>
          <p:nvSpPr>
            <p:cNvPr id="76" name="Rectangle: Rounded Corners 645">
              <a:extLst>
                <a:ext uri="{FF2B5EF4-FFF2-40B4-BE49-F238E27FC236}">
                  <a16:creationId xmlns:a16="http://schemas.microsoft.com/office/drawing/2014/main" id="{727CF6D8-79F4-3388-9ED9-C783F4721A83}"/>
                </a:ext>
              </a:extLst>
            </p:cNvPr>
            <p:cNvSpPr/>
            <p:nvPr/>
          </p:nvSpPr>
          <p:spPr>
            <a:xfrm>
              <a:off x="9294813" y="2100404"/>
              <a:ext cx="2286000" cy="575945"/>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7" name="Content Placeholder 9">
              <a:extLst>
                <a:ext uri="{FF2B5EF4-FFF2-40B4-BE49-F238E27FC236}">
                  <a16:creationId xmlns:a16="http://schemas.microsoft.com/office/drawing/2014/main" id="{6253C610-13A7-3B78-4A64-8E643CD8B4CF}"/>
                </a:ext>
              </a:extLst>
            </p:cNvPr>
            <p:cNvSpPr txBox="1">
              <a:spLocks/>
            </p:cNvSpPr>
            <p:nvPr/>
          </p:nvSpPr>
          <p:spPr>
            <a:xfrm>
              <a:off x="9855505" y="2287255"/>
              <a:ext cx="1753457" cy="202243"/>
            </a:xfrm>
            <a:prstGeom prst="rect">
              <a:avLst/>
            </a:prstGeom>
          </p:spPr>
          <p:txBody>
            <a:bodyPr vert="horz" lIns="0" tIns="0" rIns="0" bIns="0" rtlCol="0" anchor="ctr">
              <a:noAutofit/>
            </a:bodyPr>
            <a:lstStyle>
              <a:lvl1pPr marL="0" indent="0" algn="ctr" defTabSz="914400" rtl="0" eaLnBrk="1" latinLnBrk="0" hangingPunct="1">
                <a:lnSpc>
                  <a:spcPct val="100000"/>
                </a:lnSpc>
                <a:spcBef>
                  <a:spcPts val="600"/>
                </a:spcBef>
                <a:buClr>
                  <a:schemeClr val="tx1">
                    <a:lumMod val="60000"/>
                    <a:lumOff val="40000"/>
                  </a:schemeClr>
                </a:buClr>
                <a:buSzPct val="90000"/>
                <a:buFont typeface="Arial" panose="020B0604020202020204" pitchFamily="34" charset="0"/>
                <a:buChar char="​"/>
                <a:defRPr sz="2400" kern="1200">
                  <a:solidFill>
                    <a:schemeClr val="accent5"/>
                  </a:solidFill>
                  <a:latin typeface="+mn-lt"/>
                  <a:ea typeface="+mn-ea"/>
                  <a:cs typeface="+mn-cs"/>
                </a:defRPr>
              </a:lvl1pPr>
              <a:lvl2pPr marL="0" indent="0" algn="ctr" defTabSz="914400" rtl="0" eaLnBrk="1" latinLnBrk="0" hangingPunct="1">
                <a:lnSpc>
                  <a:spcPct val="100000"/>
                </a:lnSpc>
                <a:spcBef>
                  <a:spcPts val="600"/>
                </a:spcBef>
                <a:buClr>
                  <a:schemeClr val="tx2"/>
                </a:buClr>
                <a:buSzPct val="90000"/>
                <a:buFont typeface="Open Sans" panose="020B0606030504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6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6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6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0000">
                    <a:lumMod val="60000"/>
                    <a:lumOff val="40000"/>
                  </a:srgbClr>
                </a:buClr>
                <a:buSzPct val="90000"/>
                <a:buFont typeface="Arial" panose="020B0604020202020204" pitchFamily="34" charset="0"/>
                <a:buChar char="​"/>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Switching</a:t>
              </a:r>
            </a:p>
          </p:txBody>
        </p:sp>
        <p:grpSp>
          <p:nvGrpSpPr>
            <p:cNvPr id="78" name="Group 77">
              <a:extLst>
                <a:ext uri="{FF2B5EF4-FFF2-40B4-BE49-F238E27FC236}">
                  <a16:creationId xmlns:a16="http://schemas.microsoft.com/office/drawing/2014/main" id="{C66347E4-AB33-E0E7-1F12-DA81AF0C2A76}"/>
                </a:ext>
              </a:extLst>
            </p:cNvPr>
            <p:cNvGrpSpPr>
              <a:grpSpLocks noChangeAspect="1"/>
            </p:cNvGrpSpPr>
            <p:nvPr/>
          </p:nvGrpSpPr>
          <p:grpSpPr>
            <a:xfrm>
              <a:off x="9344980" y="2159776"/>
              <a:ext cx="457200" cy="457200"/>
              <a:chOff x="4856731" y="5229970"/>
              <a:chExt cx="902850" cy="902850"/>
            </a:xfrm>
          </p:grpSpPr>
          <p:sp>
            <p:nvSpPr>
              <p:cNvPr id="79" name="Oval 44">
                <a:extLst>
                  <a:ext uri="{FF2B5EF4-FFF2-40B4-BE49-F238E27FC236}">
                    <a16:creationId xmlns:a16="http://schemas.microsoft.com/office/drawing/2014/main" id="{8C62B4B6-A084-E683-787D-B318F45B4596}"/>
                  </a:ext>
                </a:extLst>
              </p:cNvPr>
              <p:cNvSpPr>
                <a:spLocks noChangeAspect="1"/>
              </p:cNvSpPr>
              <p:nvPr/>
            </p:nvSpPr>
            <p:spPr bwMode="gray">
              <a:xfrm>
                <a:off x="4856731" y="5229970"/>
                <a:ext cx="902850" cy="902850"/>
              </a:xfrm>
              <a:prstGeom prst="ellipse">
                <a:avLst/>
              </a:prstGeom>
              <a:solidFill>
                <a:schemeClr val="tx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0" name="Graphic 249">
                <a:extLst>
                  <a:ext uri="{FF2B5EF4-FFF2-40B4-BE49-F238E27FC236}">
                    <a16:creationId xmlns:a16="http://schemas.microsoft.com/office/drawing/2014/main" id="{FCD5890F-EE4F-FFA0-8967-3BC3A0A04313}"/>
                  </a:ext>
                </a:extLst>
              </p:cNvPr>
              <p:cNvSpPr/>
              <p:nvPr/>
            </p:nvSpPr>
            <p:spPr>
              <a:xfrm>
                <a:off x="5013745" y="5480096"/>
                <a:ext cx="594328" cy="406891"/>
              </a:xfrm>
              <a:custGeom>
                <a:avLst/>
                <a:gdLst>
                  <a:gd name="connsiteX0" fmla="*/ 515311 w 594328"/>
                  <a:gd name="connsiteY0" fmla="*/ 344910 h 406891"/>
                  <a:gd name="connsiteX1" fmla="*/ 470272 w 594328"/>
                  <a:gd name="connsiteY1" fmla="*/ 344910 h 406891"/>
                  <a:gd name="connsiteX2" fmla="*/ 328808 w 594328"/>
                  <a:gd name="connsiteY2" fmla="*/ 203446 h 406891"/>
                  <a:gd name="connsiteX3" fmla="*/ 470272 w 594328"/>
                  <a:gd name="connsiteY3" fmla="*/ 61934 h 406891"/>
                  <a:gd name="connsiteX4" fmla="*/ 515311 w 594328"/>
                  <a:gd name="connsiteY4" fmla="*/ 61934 h 406891"/>
                  <a:gd name="connsiteX5" fmla="*/ 515311 w 594328"/>
                  <a:gd name="connsiteY5" fmla="*/ 91245 h 406891"/>
                  <a:gd name="connsiteX6" fmla="*/ 594328 w 594328"/>
                  <a:gd name="connsiteY6" fmla="*/ 45599 h 406891"/>
                  <a:gd name="connsiteX7" fmla="*/ 515311 w 594328"/>
                  <a:gd name="connsiteY7" fmla="*/ 0 h 406891"/>
                  <a:gd name="connsiteX8" fmla="*/ 515311 w 594328"/>
                  <a:gd name="connsiteY8" fmla="*/ 29264 h 406891"/>
                  <a:gd name="connsiteX9" fmla="*/ 456737 w 594328"/>
                  <a:gd name="connsiteY9" fmla="*/ 29264 h 406891"/>
                  <a:gd name="connsiteX10" fmla="*/ 305658 w 594328"/>
                  <a:gd name="connsiteY10" fmla="*/ 180343 h 406891"/>
                  <a:gd name="connsiteX11" fmla="*/ 154626 w 594328"/>
                  <a:gd name="connsiteY11" fmla="*/ 29264 h 406891"/>
                  <a:gd name="connsiteX12" fmla="*/ 78970 w 594328"/>
                  <a:gd name="connsiteY12" fmla="*/ 29264 h 406891"/>
                  <a:gd name="connsiteX13" fmla="*/ 78970 w 594328"/>
                  <a:gd name="connsiteY13" fmla="*/ 0 h 406891"/>
                  <a:gd name="connsiteX14" fmla="*/ 0 w 594328"/>
                  <a:gd name="connsiteY14" fmla="*/ 45599 h 406891"/>
                  <a:gd name="connsiteX15" fmla="*/ 78970 w 594328"/>
                  <a:gd name="connsiteY15" fmla="*/ 91245 h 406891"/>
                  <a:gd name="connsiteX16" fmla="*/ 78970 w 594328"/>
                  <a:gd name="connsiteY16" fmla="*/ 61934 h 406891"/>
                  <a:gd name="connsiteX17" fmla="*/ 141091 w 594328"/>
                  <a:gd name="connsiteY17" fmla="*/ 61934 h 406891"/>
                  <a:gd name="connsiteX18" fmla="*/ 282556 w 594328"/>
                  <a:gd name="connsiteY18" fmla="*/ 203446 h 406891"/>
                  <a:gd name="connsiteX19" fmla="*/ 141091 w 594328"/>
                  <a:gd name="connsiteY19" fmla="*/ 344910 h 406891"/>
                  <a:gd name="connsiteX20" fmla="*/ 78970 w 594328"/>
                  <a:gd name="connsiteY20" fmla="*/ 344910 h 406891"/>
                  <a:gd name="connsiteX21" fmla="*/ 78970 w 594328"/>
                  <a:gd name="connsiteY21" fmla="*/ 315646 h 406891"/>
                  <a:gd name="connsiteX22" fmla="*/ 0 w 594328"/>
                  <a:gd name="connsiteY22" fmla="*/ 361245 h 406891"/>
                  <a:gd name="connsiteX23" fmla="*/ 78970 w 594328"/>
                  <a:gd name="connsiteY23" fmla="*/ 406891 h 406891"/>
                  <a:gd name="connsiteX24" fmla="*/ 78970 w 594328"/>
                  <a:gd name="connsiteY24" fmla="*/ 377581 h 406891"/>
                  <a:gd name="connsiteX25" fmla="*/ 154626 w 594328"/>
                  <a:gd name="connsiteY25" fmla="*/ 377581 h 406891"/>
                  <a:gd name="connsiteX26" fmla="*/ 305658 w 594328"/>
                  <a:gd name="connsiteY26" fmla="*/ 226548 h 406891"/>
                  <a:gd name="connsiteX27" fmla="*/ 456737 w 594328"/>
                  <a:gd name="connsiteY27" fmla="*/ 377581 h 406891"/>
                  <a:gd name="connsiteX28" fmla="*/ 515311 w 594328"/>
                  <a:gd name="connsiteY28" fmla="*/ 377581 h 406891"/>
                  <a:gd name="connsiteX29" fmla="*/ 515311 w 594328"/>
                  <a:gd name="connsiteY29" fmla="*/ 406891 h 406891"/>
                  <a:gd name="connsiteX30" fmla="*/ 594328 w 594328"/>
                  <a:gd name="connsiteY30" fmla="*/ 361245 h 406891"/>
                  <a:gd name="connsiteX31" fmla="*/ 515311 w 594328"/>
                  <a:gd name="connsiteY31" fmla="*/ 315646 h 406891"/>
                  <a:gd name="connsiteX32" fmla="*/ 515311 w 594328"/>
                  <a:gd name="connsiteY32" fmla="*/ 344910 h 40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94328" h="406891">
                    <a:moveTo>
                      <a:pt x="515311" y="344910"/>
                    </a:moveTo>
                    <a:lnTo>
                      <a:pt x="470272" y="344910"/>
                    </a:lnTo>
                    <a:lnTo>
                      <a:pt x="328808" y="203446"/>
                    </a:lnTo>
                    <a:lnTo>
                      <a:pt x="470272" y="61934"/>
                    </a:lnTo>
                    <a:lnTo>
                      <a:pt x="515311" y="61934"/>
                    </a:lnTo>
                    <a:lnTo>
                      <a:pt x="515311" y="91245"/>
                    </a:lnTo>
                    <a:lnTo>
                      <a:pt x="594328" y="45599"/>
                    </a:lnTo>
                    <a:lnTo>
                      <a:pt x="515311" y="0"/>
                    </a:lnTo>
                    <a:lnTo>
                      <a:pt x="515311" y="29264"/>
                    </a:lnTo>
                    <a:lnTo>
                      <a:pt x="456737" y="29264"/>
                    </a:lnTo>
                    <a:lnTo>
                      <a:pt x="305658" y="180343"/>
                    </a:lnTo>
                    <a:lnTo>
                      <a:pt x="154626" y="29264"/>
                    </a:lnTo>
                    <a:lnTo>
                      <a:pt x="78970" y="29264"/>
                    </a:lnTo>
                    <a:lnTo>
                      <a:pt x="78970" y="0"/>
                    </a:lnTo>
                    <a:lnTo>
                      <a:pt x="0" y="45599"/>
                    </a:lnTo>
                    <a:lnTo>
                      <a:pt x="78970" y="91245"/>
                    </a:lnTo>
                    <a:lnTo>
                      <a:pt x="78970" y="61934"/>
                    </a:lnTo>
                    <a:lnTo>
                      <a:pt x="141091" y="61934"/>
                    </a:lnTo>
                    <a:lnTo>
                      <a:pt x="282556" y="203446"/>
                    </a:lnTo>
                    <a:lnTo>
                      <a:pt x="141091" y="344910"/>
                    </a:lnTo>
                    <a:lnTo>
                      <a:pt x="78970" y="344910"/>
                    </a:lnTo>
                    <a:lnTo>
                      <a:pt x="78970" y="315646"/>
                    </a:lnTo>
                    <a:lnTo>
                      <a:pt x="0" y="361245"/>
                    </a:lnTo>
                    <a:lnTo>
                      <a:pt x="78970" y="406891"/>
                    </a:lnTo>
                    <a:lnTo>
                      <a:pt x="78970" y="377581"/>
                    </a:lnTo>
                    <a:lnTo>
                      <a:pt x="154626" y="377581"/>
                    </a:lnTo>
                    <a:lnTo>
                      <a:pt x="305658" y="226548"/>
                    </a:lnTo>
                    <a:lnTo>
                      <a:pt x="456737" y="377581"/>
                    </a:lnTo>
                    <a:lnTo>
                      <a:pt x="515311" y="377581"/>
                    </a:lnTo>
                    <a:lnTo>
                      <a:pt x="515311" y="406891"/>
                    </a:lnTo>
                    <a:lnTo>
                      <a:pt x="594328" y="361245"/>
                    </a:lnTo>
                    <a:lnTo>
                      <a:pt x="515311" y="315646"/>
                    </a:lnTo>
                    <a:lnTo>
                      <a:pt x="515311" y="344910"/>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grpSp>
        <p:nvGrpSpPr>
          <p:cNvPr id="107" name="g2">
            <a:extLst>
              <a:ext uri="{FF2B5EF4-FFF2-40B4-BE49-F238E27FC236}">
                <a16:creationId xmlns:a16="http://schemas.microsoft.com/office/drawing/2014/main" id="{A2F6B196-36CC-AD2B-4741-3810C3187B0E}"/>
              </a:ext>
            </a:extLst>
          </p:cNvPr>
          <p:cNvGrpSpPr/>
          <p:nvPr/>
        </p:nvGrpSpPr>
        <p:grpSpPr>
          <a:xfrm>
            <a:off x="6801707" y="2830733"/>
            <a:ext cx="3030663" cy="457200"/>
            <a:chOff x="6801707" y="2190938"/>
            <a:chExt cx="3030663" cy="457200"/>
          </a:xfrm>
        </p:grpSpPr>
        <p:sp>
          <p:nvSpPr>
            <p:cNvPr id="108" name="Freeform: Shape 24">
              <a:extLst>
                <a:ext uri="{FF2B5EF4-FFF2-40B4-BE49-F238E27FC236}">
                  <a16:creationId xmlns:a16="http://schemas.microsoft.com/office/drawing/2014/main" id="{2D89D156-3ADD-87E5-B08D-DF350CFA9DCC}"/>
                </a:ext>
              </a:extLst>
            </p:cNvPr>
            <p:cNvSpPr/>
            <p:nvPr/>
          </p:nvSpPr>
          <p:spPr>
            <a:xfrm flipH="1">
              <a:off x="6801707" y="2190938"/>
              <a:ext cx="3030663" cy="457200"/>
            </a:xfrm>
            <a:custGeom>
              <a:avLst/>
              <a:gdLst>
                <a:gd name="connsiteX0" fmla="*/ 0 w 3030663"/>
                <a:gd name="connsiteY0" fmla="*/ 0 h 457200"/>
                <a:gd name="connsiteX1" fmla="*/ 2520956 w 3030663"/>
                <a:gd name="connsiteY1" fmla="*/ 0 h 457200"/>
                <a:gd name="connsiteX2" fmla="*/ 2539224 w 3030663"/>
                <a:gd name="connsiteY2" fmla="*/ 0 h 457200"/>
                <a:gd name="connsiteX3" fmla="*/ 2856223 w 3030663"/>
                <a:gd name="connsiteY3" fmla="*/ 0 h 457200"/>
                <a:gd name="connsiteX4" fmla="*/ 2886476 w 3030663"/>
                <a:gd name="connsiteY4" fmla="*/ 15527 h 457200"/>
                <a:gd name="connsiteX5" fmla="*/ 3023732 w 3030663"/>
                <a:gd name="connsiteY5" fmla="*/ 207028 h 457200"/>
                <a:gd name="connsiteX6" fmla="*/ 3023732 w 3030663"/>
                <a:gd name="connsiteY6" fmla="*/ 250171 h 457200"/>
                <a:gd name="connsiteX7" fmla="*/ 2886476 w 3030663"/>
                <a:gd name="connsiteY7" fmla="*/ 441673 h 457200"/>
                <a:gd name="connsiteX8" fmla="*/ 2856223 w 3030663"/>
                <a:gd name="connsiteY8" fmla="*/ 457200 h 457200"/>
                <a:gd name="connsiteX9" fmla="*/ 2539224 w 3030663"/>
                <a:gd name="connsiteY9" fmla="*/ 457200 h 457200"/>
                <a:gd name="connsiteX10" fmla="*/ 2520956 w 3030663"/>
                <a:gd name="connsiteY10" fmla="*/ 457200 h 457200"/>
                <a:gd name="connsiteX11" fmla="*/ 0 w 3030663"/>
                <a:gd name="connsiteY11"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30663" h="457200">
                  <a:moveTo>
                    <a:pt x="0" y="0"/>
                  </a:moveTo>
                  <a:lnTo>
                    <a:pt x="2520956" y="0"/>
                  </a:lnTo>
                  <a:lnTo>
                    <a:pt x="2539224" y="0"/>
                  </a:lnTo>
                  <a:lnTo>
                    <a:pt x="2856223" y="0"/>
                  </a:lnTo>
                  <a:cubicBezTo>
                    <a:pt x="2868239" y="0"/>
                    <a:pt x="2879509" y="5778"/>
                    <a:pt x="2886476" y="15527"/>
                  </a:cubicBezTo>
                  <a:lnTo>
                    <a:pt x="3023732" y="207028"/>
                  </a:lnTo>
                  <a:cubicBezTo>
                    <a:pt x="3032974" y="219932"/>
                    <a:pt x="3032974" y="237268"/>
                    <a:pt x="3023732" y="250171"/>
                  </a:cubicBezTo>
                  <a:lnTo>
                    <a:pt x="2886476" y="441673"/>
                  </a:lnTo>
                  <a:cubicBezTo>
                    <a:pt x="2879509" y="451421"/>
                    <a:pt x="2868204" y="457200"/>
                    <a:pt x="2856223" y="457200"/>
                  </a:cubicBezTo>
                  <a:lnTo>
                    <a:pt x="2539224" y="457200"/>
                  </a:lnTo>
                  <a:lnTo>
                    <a:pt x="2520956" y="457200"/>
                  </a:lnTo>
                  <a:lnTo>
                    <a:pt x="0" y="457200"/>
                  </a:lnTo>
                  <a:close/>
                </a:path>
              </a:pathLst>
            </a:custGeom>
            <a:gradFill>
              <a:gsLst>
                <a:gs pos="0">
                  <a:schemeClr val="bg2">
                    <a:lumMod val="90000"/>
                  </a:schemeClr>
                </a:gs>
                <a:gs pos="100000">
                  <a:schemeClr val="bg2">
                    <a:lumMod val="90000"/>
                    <a:alpha val="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0" name="Striped Right Arrow 225">
              <a:extLst>
                <a:ext uri="{FF2B5EF4-FFF2-40B4-BE49-F238E27FC236}">
                  <a16:creationId xmlns:a16="http://schemas.microsoft.com/office/drawing/2014/main" id="{CCFB2C7E-A4E0-A05D-3D99-790885F37979}"/>
                </a:ext>
              </a:extLst>
            </p:cNvPr>
            <p:cNvSpPr/>
            <p:nvPr/>
          </p:nvSpPr>
          <p:spPr>
            <a:xfrm flipH="1">
              <a:off x="7209211" y="2233918"/>
              <a:ext cx="2368967" cy="3691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1B1D36"/>
                  </a:solidFill>
                  <a:effectLst/>
                  <a:uLnTx/>
                  <a:uFillTx/>
                  <a:latin typeface="Arial" panose="020B0604020202020204"/>
                  <a:ea typeface="+mn-ea"/>
                  <a:cs typeface="+mn-cs"/>
                </a:rPr>
                <a:t>Vendor #2 configuration/API</a:t>
              </a:r>
            </a:p>
          </p:txBody>
        </p:sp>
        <p:sp>
          <p:nvSpPr>
            <p:cNvPr id="111" name="Graphic 6096">
              <a:extLst>
                <a:ext uri="{FF2B5EF4-FFF2-40B4-BE49-F238E27FC236}">
                  <a16:creationId xmlns:a16="http://schemas.microsoft.com/office/drawing/2014/main" id="{83B4E862-751B-0A51-B988-EEFCC755BC55}"/>
                </a:ext>
              </a:extLst>
            </p:cNvPr>
            <p:cNvSpPr/>
            <p:nvPr/>
          </p:nvSpPr>
          <p:spPr>
            <a:xfrm flipH="1">
              <a:off x="6816283" y="2234303"/>
              <a:ext cx="258311" cy="370470"/>
            </a:xfrm>
            <a:custGeom>
              <a:avLst/>
              <a:gdLst>
                <a:gd name="connsiteX0" fmla="*/ 0 w 469820"/>
                <a:gd name="connsiteY0" fmla="*/ 675704 h 675703"/>
                <a:gd name="connsiteX1" fmla="*/ 210503 w 469820"/>
                <a:gd name="connsiteY1" fmla="*/ 675704 h 675703"/>
                <a:gd name="connsiteX2" fmla="*/ 258699 w 469820"/>
                <a:gd name="connsiteY2" fmla="*/ 650843 h 675703"/>
                <a:gd name="connsiteX3" fmla="*/ 459962 w 469820"/>
                <a:gd name="connsiteY3" fmla="*/ 368713 h 675703"/>
                <a:gd name="connsiteX4" fmla="*/ 459962 w 469820"/>
                <a:gd name="connsiteY4" fmla="*/ 306896 h 675703"/>
                <a:gd name="connsiteX5" fmla="*/ 260033 w 469820"/>
                <a:gd name="connsiteY5" fmla="*/ 26670 h 675703"/>
                <a:gd name="connsiteX6" fmla="*/ 208217 w 469820"/>
                <a:gd name="connsiteY6" fmla="*/ 0 h 675703"/>
                <a:gd name="connsiteX7" fmla="*/ 0 w 469820"/>
                <a:gd name="connsiteY7" fmla="*/ 0 h 675703"/>
                <a:gd name="connsiteX8" fmla="*/ 223266 w 469820"/>
                <a:gd name="connsiteY8" fmla="*/ 312992 h 675703"/>
                <a:gd name="connsiteX9" fmla="*/ 223266 w 469820"/>
                <a:gd name="connsiteY9" fmla="*/ 362712 h 675703"/>
                <a:gd name="connsiteX10" fmla="*/ 0 w 469820"/>
                <a:gd name="connsiteY10" fmla="*/ 675704 h 675703"/>
                <a:gd name="connsiteX11" fmla="*/ 0 w 469820"/>
                <a:gd name="connsiteY11" fmla="*/ 675704 h 675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9820" h="675703">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4"/>
            </a:solidFill>
            <a:ln>
              <a:noFill/>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lang="en-US" sz="1200" b="0" i="0" u="none" strike="noStrike" kern="1200" cap="none" spc="0" normalizeH="0" baseline="0" noProof="0">
                <a:ln>
                  <a:noFill/>
                </a:ln>
                <a:solidFill>
                  <a:srgbClr val="3C3C3C"/>
                </a:solidFill>
                <a:effectLst/>
                <a:uLnTx/>
                <a:uFillTx/>
                <a:latin typeface="Arial" panose="020B0604020202020204"/>
                <a:ea typeface="+mn-ea"/>
                <a:cs typeface="Arial"/>
              </a:endParaRPr>
            </a:p>
          </p:txBody>
        </p:sp>
      </p:grpSp>
      <p:grpSp>
        <p:nvGrpSpPr>
          <p:cNvPr id="112" name="g3">
            <a:extLst>
              <a:ext uri="{FF2B5EF4-FFF2-40B4-BE49-F238E27FC236}">
                <a16:creationId xmlns:a16="http://schemas.microsoft.com/office/drawing/2014/main" id="{ADFDD117-2BE6-F54D-7FE4-9F6C76FC45E0}"/>
              </a:ext>
            </a:extLst>
          </p:cNvPr>
          <p:cNvGrpSpPr/>
          <p:nvPr/>
        </p:nvGrpSpPr>
        <p:grpSpPr>
          <a:xfrm>
            <a:off x="6801707" y="3501690"/>
            <a:ext cx="3030663" cy="457200"/>
            <a:chOff x="6801707" y="2190938"/>
            <a:chExt cx="3030663" cy="457200"/>
          </a:xfrm>
        </p:grpSpPr>
        <p:sp>
          <p:nvSpPr>
            <p:cNvPr id="113" name="Freeform: Shape 24">
              <a:extLst>
                <a:ext uri="{FF2B5EF4-FFF2-40B4-BE49-F238E27FC236}">
                  <a16:creationId xmlns:a16="http://schemas.microsoft.com/office/drawing/2014/main" id="{1653DBC4-560F-3FF1-0129-93373DEDA203}"/>
                </a:ext>
              </a:extLst>
            </p:cNvPr>
            <p:cNvSpPr/>
            <p:nvPr/>
          </p:nvSpPr>
          <p:spPr>
            <a:xfrm flipH="1">
              <a:off x="6801707" y="2190938"/>
              <a:ext cx="3030663" cy="457200"/>
            </a:xfrm>
            <a:custGeom>
              <a:avLst/>
              <a:gdLst>
                <a:gd name="connsiteX0" fmla="*/ 0 w 3030663"/>
                <a:gd name="connsiteY0" fmla="*/ 0 h 457200"/>
                <a:gd name="connsiteX1" fmla="*/ 2520956 w 3030663"/>
                <a:gd name="connsiteY1" fmla="*/ 0 h 457200"/>
                <a:gd name="connsiteX2" fmla="*/ 2539224 w 3030663"/>
                <a:gd name="connsiteY2" fmla="*/ 0 h 457200"/>
                <a:gd name="connsiteX3" fmla="*/ 2856223 w 3030663"/>
                <a:gd name="connsiteY3" fmla="*/ 0 h 457200"/>
                <a:gd name="connsiteX4" fmla="*/ 2886476 w 3030663"/>
                <a:gd name="connsiteY4" fmla="*/ 15527 h 457200"/>
                <a:gd name="connsiteX5" fmla="*/ 3023732 w 3030663"/>
                <a:gd name="connsiteY5" fmla="*/ 207028 h 457200"/>
                <a:gd name="connsiteX6" fmla="*/ 3023732 w 3030663"/>
                <a:gd name="connsiteY6" fmla="*/ 250171 h 457200"/>
                <a:gd name="connsiteX7" fmla="*/ 2886476 w 3030663"/>
                <a:gd name="connsiteY7" fmla="*/ 441673 h 457200"/>
                <a:gd name="connsiteX8" fmla="*/ 2856223 w 3030663"/>
                <a:gd name="connsiteY8" fmla="*/ 457200 h 457200"/>
                <a:gd name="connsiteX9" fmla="*/ 2539224 w 3030663"/>
                <a:gd name="connsiteY9" fmla="*/ 457200 h 457200"/>
                <a:gd name="connsiteX10" fmla="*/ 2520956 w 3030663"/>
                <a:gd name="connsiteY10" fmla="*/ 457200 h 457200"/>
                <a:gd name="connsiteX11" fmla="*/ 0 w 3030663"/>
                <a:gd name="connsiteY11"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30663" h="457200">
                  <a:moveTo>
                    <a:pt x="0" y="0"/>
                  </a:moveTo>
                  <a:lnTo>
                    <a:pt x="2520956" y="0"/>
                  </a:lnTo>
                  <a:lnTo>
                    <a:pt x="2539224" y="0"/>
                  </a:lnTo>
                  <a:lnTo>
                    <a:pt x="2856223" y="0"/>
                  </a:lnTo>
                  <a:cubicBezTo>
                    <a:pt x="2868239" y="0"/>
                    <a:pt x="2879509" y="5778"/>
                    <a:pt x="2886476" y="15527"/>
                  </a:cubicBezTo>
                  <a:lnTo>
                    <a:pt x="3023732" y="207028"/>
                  </a:lnTo>
                  <a:cubicBezTo>
                    <a:pt x="3032974" y="219932"/>
                    <a:pt x="3032974" y="237268"/>
                    <a:pt x="3023732" y="250171"/>
                  </a:cubicBezTo>
                  <a:lnTo>
                    <a:pt x="2886476" y="441673"/>
                  </a:lnTo>
                  <a:cubicBezTo>
                    <a:pt x="2879509" y="451421"/>
                    <a:pt x="2868204" y="457200"/>
                    <a:pt x="2856223" y="457200"/>
                  </a:cubicBezTo>
                  <a:lnTo>
                    <a:pt x="2539224" y="457200"/>
                  </a:lnTo>
                  <a:lnTo>
                    <a:pt x="2520956" y="457200"/>
                  </a:lnTo>
                  <a:lnTo>
                    <a:pt x="0" y="457200"/>
                  </a:lnTo>
                  <a:close/>
                </a:path>
              </a:pathLst>
            </a:custGeom>
            <a:gradFill>
              <a:gsLst>
                <a:gs pos="0">
                  <a:schemeClr val="bg2">
                    <a:lumMod val="90000"/>
                  </a:schemeClr>
                </a:gs>
                <a:gs pos="100000">
                  <a:schemeClr val="bg2">
                    <a:lumMod val="90000"/>
                    <a:alpha val="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4" name="Striped Right Arrow 225">
              <a:extLst>
                <a:ext uri="{FF2B5EF4-FFF2-40B4-BE49-F238E27FC236}">
                  <a16:creationId xmlns:a16="http://schemas.microsoft.com/office/drawing/2014/main" id="{6FABB5DA-50DA-3373-65E6-F3DB8C0A6E8F}"/>
                </a:ext>
              </a:extLst>
            </p:cNvPr>
            <p:cNvSpPr/>
            <p:nvPr/>
          </p:nvSpPr>
          <p:spPr>
            <a:xfrm flipH="1">
              <a:off x="7209211" y="2233918"/>
              <a:ext cx="2368967" cy="3691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1B1D36"/>
                  </a:solidFill>
                  <a:effectLst/>
                  <a:uLnTx/>
                  <a:uFillTx/>
                  <a:latin typeface="Arial" panose="020B0604020202020204"/>
                  <a:ea typeface="+mn-ea"/>
                  <a:cs typeface="+mn-cs"/>
                </a:rPr>
                <a:t>Vendor #3 configuration/API</a:t>
              </a:r>
            </a:p>
          </p:txBody>
        </p:sp>
        <p:sp>
          <p:nvSpPr>
            <p:cNvPr id="115" name="Graphic 6096">
              <a:extLst>
                <a:ext uri="{FF2B5EF4-FFF2-40B4-BE49-F238E27FC236}">
                  <a16:creationId xmlns:a16="http://schemas.microsoft.com/office/drawing/2014/main" id="{9067C050-6516-2510-7216-8C2138A66747}"/>
                </a:ext>
              </a:extLst>
            </p:cNvPr>
            <p:cNvSpPr/>
            <p:nvPr/>
          </p:nvSpPr>
          <p:spPr>
            <a:xfrm flipH="1">
              <a:off x="6816283" y="2234303"/>
              <a:ext cx="258311" cy="370470"/>
            </a:xfrm>
            <a:custGeom>
              <a:avLst/>
              <a:gdLst>
                <a:gd name="connsiteX0" fmla="*/ 0 w 469820"/>
                <a:gd name="connsiteY0" fmla="*/ 675704 h 675703"/>
                <a:gd name="connsiteX1" fmla="*/ 210503 w 469820"/>
                <a:gd name="connsiteY1" fmla="*/ 675704 h 675703"/>
                <a:gd name="connsiteX2" fmla="*/ 258699 w 469820"/>
                <a:gd name="connsiteY2" fmla="*/ 650843 h 675703"/>
                <a:gd name="connsiteX3" fmla="*/ 459962 w 469820"/>
                <a:gd name="connsiteY3" fmla="*/ 368713 h 675703"/>
                <a:gd name="connsiteX4" fmla="*/ 459962 w 469820"/>
                <a:gd name="connsiteY4" fmla="*/ 306896 h 675703"/>
                <a:gd name="connsiteX5" fmla="*/ 260033 w 469820"/>
                <a:gd name="connsiteY5" fmla="*/ 26670 h 675703"/>
                <a:gd name="connsiteX6" fmla="*/ 208217 w 469820"/>
                <a:gd name="connsiteY6" fmla="*/ 0 h 675703"/>
                <a:gd name="connsiteX7" fmla="*/ 0 w 469820"/>
                <a:gd name="connsiteY7" fmla="*/ 0 h 675703"/>
                <a:gd name="connsiteX8" fmla="*/ 223266 w 469820"/>
                <a:gd name="connsiteY8" fmla="*/ 312992 h 675703"/>
                <a:gd name="connsiteX9" fmla="*/ 223266 w 469820"/>
                <a:gd name="connsiteY9" fmla="*/ 362712 h 675703"/>
                <a:gd name="connsiteX10" fmla="*/ 0 w 469820"/>
                <a:gd name="connsiteY10" fmla="*/ 675704 h 675703"/>
                <a:gd name="connsiteX11" fmla="*/ 0 w 469820"/>
                <a:gd name="connsiteY11" fmla="*/ 675704 h 675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9820" h="675703">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solidFill>
            <a:ln>
              <a:noFill/>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lang="en-US" sz="1200" b="0" i="0" u="none" strike="noStrike" kern="1200" cap="none" spc="0" normalizeH="0" baseline="0" noProof="0">
                <a:ln>
                  <a:noFill/>
                </a:ln>
                <a:solidFill>
                  <a:srgbClr val="3C3C3C"/>
                </a:solidFill>
                <a:effectLst/>
                <a:uLnTx/>
                <a:uFillTx/>
                <a:latin typeface="Arial" panose="020B0604020202020204"/>
                <a:ea typeface="+mn-ea"/>
                <a:cs typeface="Arial"/>
              </a:endParaRPr>
            </a:p>
          </p:txBody>
        </p:sp>
      </p:grpSp>
      <p:grpSp>
        <p:nvGrpSpPr>
          <p:cNvPr id="116" name="g4">
            <a:extLst>
              <a:ext uri="{FF2B5EF4-FFF2-40B4-BE49-F238E27FC236}">
                <a16:creationId xmlns:a16="http://schemas.microsoft.com/office/drawing/2014/main" id="{EF7C02AD-D001-F7D7-9E7F-BA81716AD707}"/>
              </a:ext>
            </a:extLst>
          </p:cNvPr>
          <p:cNvGrpSpPr/>
          <p:nvPr/>
        </p:nvGrpSpPr>
        <p:grpSpPr>
          <a:xfrm>
            <a:off x="6801707" y="4172647"/>
            <a:ext cx="3030663" cy="457200"/>
            <a:chOff x="6801707" y="2190938"/>
            <a:chExt cx="3030663" cy="457200"/>
          </a:xfrm>
        </p:grpSpPr>
        <p:sp>
          <p:nvSpPr>
            <p:cNvPr id="117" name="Freeform: Shape 24">
              <a:extLst>
                <a:ext uri="{FF2B5EF4-FFF2-40B4-BE49-F238E27FC236}">
                  <a16:creationId xmlns:a16="http://schemas.microsoft.com/office/drawing/2014/main" id="{8BE286B8-5AD6-D847-98A0-0C18F26F837D}"/>
                </a:ext>
              </a:extLst>
            </p:cNvPr>
            <p:cNvSpPr/>
            <p:nvPr/>
          </p:nvSpPr>
          <p:spPr>
            <a:xfrm flipH="1">
              <a:off x="6801707" y="2190938"/>
              <a:ext cx="3030663" cy="457200"/>
            </a:xfrm>
            <a:custGeom>
              <a:avLst/>
              <a:gdLst>
                <a:gd name="connsiteX0" fmla="*/ 0 w 3030663"/>
                <a:gd name="connsiteY0" fmla="*/ 0 h 457200"/>
                <a:gd name="connsiteX1" fmla="*/ 2520956 w 3030663"/>
                <a:gd name="connsiteY1" fmla="*/ 0 h 457200"/>
                <a:gd name="connsiteX2" fmla="*/ 2539224 w 3030663"/>
                <a:gd name="connsiteY2" fmla="*/ 0 h 457200"/>
                <a:gd name="connsiteX3" fmla="*/ 2856223 w 3030663"/>
                <a:gd name="connsiteY3" fmla="*/ 0 h 457200"/>
                <a:gd name="connsiteX4" fmla="*/ 2886476 w 3030663"/>
                <a:gd name="connsiteY4" fmla="*/ 15527 h 457200"/>
                <a:gd name="connsiteX5" fmla="*/ 3023732 w 3030663"/>
                <a:gd name="connsiteY5" fmla="*/ 207028 h 457200"/>
                <a:gd name="connsiteX6" fmla="*/ 3023732 w 3030663"/>
                <a:gd name="connsiteY6" fmla="*/ 250171 h 457200"/>
                <a:gd name="connsiteX7" fmla="*/ 2886476 w 3030663"/>
                <a:gd name="connsiteY7" fmla="*/ 441673 h 457200"/>
                <a:gd name="connsiteX8" fmla="*/ 2856223 w 3030663"/>
                <a:gd name="connsiteY8" fmla="*/ 457200 h 457200"/>
                <a:gd name="connsiteX9" fmla="*/ 2539224 w 3030663"/>
                <a:gd name="connsiteY9" fmla="*/ 457200 h 457200"/>
                <a:gd name="connsiteX10" fmla="*/ 2520956 w 3030663"/>
                <a:gd name="connsiteY10" fmla="*/ 457200 h 457200"/>
                <a:gd name="connsiteX11" fmla="*/ 0 w 3030663"/>
                <a:gd name="connsiteY11"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30663" h="457200">
                  <a:moveTo>
                    <a:pt x="0" y="0"/>
                  </a:moveTo>
                  <a:lnTo>
                    <a:pt x="2520956" y="0"/>
                  </a:lnTo>
                  <a:lnTo>
                    <a:pt x="2539224" y="0"/>
                  </a:lnTo>
                  <a:lnTo>
                    <a:pt x="2856223" y="0"/>
                  </a:lnTo>
                  <a:cubicBezTo>
                    <a:pt x="2868239" y="0"/>
                    <a:pt x="2879509" y="5778"/>
                    <a:pt x="2886476" y="15527"/>
                  </a:cubicBezTo>
                  <a:lnTo>
                    <a:pt x="3023732" y="207028"/>
                  </a:lnTo>
                  <a:cubicBezTo>
                    <a:pt x="3032974" y="219932"/>
                    <a:pt x="3032974" y="237268"/>
                    <a:pt x="3023732" y="250171"/>
                  </a:cubicBezTo>
                  <a:lnTo>
                    <a:pt x="2886476" y="441673"/>
                  </a:lnTo>
                  <a:cubicBezTo>
                    <a:pt x="2879509" y="451421"/>
                    <a:pt x="2868204" y="457200"/>
                    <a:pt x="2856223" y="457200"/>
                  </a:cubicBezTo>
                  <a:lnTo>
                    <a:pt x="2539224" y="457200"/>
                  </a:lnTo>
                  <a:lnTo>
                    <a:pt x="2520956" y="457200"/>
                  </a:lnTo>
                  <a:lnTo>
                    <a:pt x="0" y="457200"/>
                  </a:lnTo>
                  <a:close/>
                </a:path>
              </a:pathLst>
            </a:custGeom>
            <a:gradFill>
              <a:gsLst>
                <a:gs pos="0">
                  <a:schemeClr val="bg2">
                    <a:lumMod val="90000"/>
                  </a:schemeClr>
                </a:gs>
                <a:gs pos="100000">
                  <a:schemeClr val="bg2">
                    <a:lumMod val="90000"/>
                    <a:alpha val="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8" name="Striped Right Arrow 225">
              <a:extLst>
                <a:ext uri="{FF2B5EF4-FFF2-40B4-BE49-F238E27FC236}">
                  <a16:creationId xmlns:a16="http://schemas.microsoft.com/office/drawing/2014/main" id="{74E2C4B2-67BB-059E-6A4F-D5D5FFEDA5E5}"/>
                </a:ext>
              </a:extLst>
            </p:cNvPr>
            <p:cNvSpPr/>
            <p:nvPr/>
          </p:nvSpPr>
          <p:spPr>
            <a:xfrm flipH="1">
              <a:off x="7209211" y="2233918"/>
              <a:ext cx="2368967" cy="3691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1B1D36"/>
                  </a:solidFill>
                  <a:effectLst/>
                  <a:uLnTx/>
                  <a:uFillTx/>
                  <a:latin typeface="Arial" panose="020B0604020202020204"/>
                  <a:ea typeface="+mn-ea"/>
                  <a:cs typeface="+mn-cs"/>
                </a:rPr>
                <a:t>Vendor #4 configuration/API</a:t>
              </a:r>
            </a:p>
          </p:txBody>
        </p:sp>
        <p:sp>
          <p:nvSpPr>
            <p:cNvPr id="119" name="Graphic 6096">
              <a:extLst>
                <a:ext uri="{FF2B5EF4-FFF2-40B4-BE49-F238E27FC236}">
                  <a16:creationId xmlns:a16="http://schemas.microsoft.com/office/drawing/2014/main" id="{34205841-6159-32AA-18A2-99A7EE2E73FC}"/>
                </a:ext>
              </a:extLst>
            </p:cNvPr>
            <p:cNvSpPr/>
            <p:nvPr/>
          </p:nvSpPr>
          <p:spPr>
            <a:xfrm flipH="1">
              <a:off x="6816283" y="2234303"/>
              <a:ext cx="258311" cy="370470"/>
            </a:xfrm>
            <a:custGeom>
              <a:avLst/>
              <a:gdLst>
                <a:gd name="connsiteX0" fmla="*/ 0 w 469820"/>
                <a:gd name="connsiteY0" fmla="*/ 675704 h 675703"/>
                <a:gd name="connsiteX1" fmla="*/ 210503 w 469820"/>
                <a:gd name="connsiteY1" fmla="*/ 675704 h 675703"/>
                <a:gd name="connsiteX2" fmla="*/ 258699 w 469820"/>
                <a:gd name="connsiteY2" fmla="*/ 650843 h 675703"/>
                <a:gd name="connsiteX3" fmla="*/ 459962 w 469820"/>
                <a:gd name="connsiteY3" fmla="*/ 368713 h 675703"/>
                <a:gd name="connsiteX4" fmla="*/ 459962 w 469820"/>
                <a:gd name="connsiteY4" fmla="*/ 306896 h 675703"/>
                <a:gd name="connsiteX5" fmla="*/ 260033 w 469820"/>
                <a:gd name="connsiteY5" fmla="*/ 26670 h 675703"/>
                <a:gd name="connsiteX6" fmla="*/ 208217 w 469820"/>
                <a:gd name="connsiteY6" fmla="*/ 0 h 675703"/>
                <a:gd name="connsiteX7" fmla="*/ 0 w 469820"/>
                <a:gd name="connsiteY7" fmla="*/ 0 h 675703"/>
                <a:gd name="connsiteX8" fmla="*/ 223266 w 469820"/>
                <a:gd name="connsiteY8" fmla="*/ 312992 h 675703"/>
                <a:gd name="connsiteX9" fmla="*/ 223266 w 469820"/>
                <a:gd name="connsiteY9" fmla="*/ 362712 h 675703"/>
                <a:gd name="connsiteX10" fmla="*/ 0 w 469820"/>
                <a:gd name="connsiteY10" fmla="*/ 675704 h 675703"/>
                <a:gd name="connsiteX11" fmla="*/ 0 w 469820"/>
                <a:gd name="connsiteY11" fmla="*/ 675704 h 675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9820" h="675703">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rgbClr val="A6192E"/>
            </a:solidFill>
            <a:ln>
              <a:noFill/>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lang="en-US" sz="1200" b="0" i="0" u="none" strike="noStrike" kern="1200" cap="none" spc="0" normalizeH="0" baseline="0" noProof="0" dirty="0">
                <a:ln>
                  <a:noFill/>
                </a:ln>
                <a:solidFill>
                  <a:srgbClr val="3C3C3C"/>
                </a:solidFill>
                <a:effectLst/>
                <a:uLnTx/>
                <a:uFillTx/>
                <a:latin typeface="Arial" panose="020B0604020202020204"/>
                <a:ea typeface="+mn-ea"/>
                <a:cs typeface="Arial"/>
              </a:endParaRPr>
            </a:p>
          </p:txBody>
        </p:sp>
      </p:grpSp>
      <p:grpSp>
        <p:nvGrpSpPr>
          <p:cNvPr id="151" name="Group 150">
            <a:extLst>
              <a:ext uri="{FF2B5EF4-FFF2-40B4-BE49-F238E27FC236}">
                <a16:creationId xmlns:a16="http://schemas.microsoft.com/office/drawing/2014/main" id="{7A6B0DC6-1B10-8842-8350-43BBAD4E5249}"/>
              </a:ext>
            </a:extLst>
          </p:cNvPr>
          <p:cNvGrpSpPr>
            <a:grpSpLocks noChangeAspect="1"/>
          </p:cNvGrpSpPr>
          <p:nvPr/>
        </p:nvGrpSpPr>
        <p:grpSpPr>
          <a:xfrm>
            <a:off x="1904965" y="5028964"/>
            <a:ext cx="438912" cy="438912"/>
            <a:chOff x="2008163" y="2122216"/>
            <a:chExt cx="530226" cy="530226"/>
          </a:xfrm>
        </p:grpSpPr>
        <p:sp>
          <p:nvSpPr>
            <p:cNvPr id="152" name="Google Shape;1802;p69">
              <a:extLst>
                <a:ext uri="{FF2B5EF4-FFF2-40B4-BE49-F238E27FC236}">
                  <a16:creationId xmlns:a16="http://schemas.microsoft.com/office/drawing/2014/main" id="{AAC19DE8-8701-489E-CA4F-7DE69FBC8EED}"/>
                </a:ext>
              </a:extLst>
            </p:cNvPr>
            <p:cNvSpPr/>
            <p:nvPr/>
          </p:nvSpPr>
          <p:spPr>
            <a:xfrm>
              <a:off x="2008163" y="2122216"/>
              <a:ext cx="530226" cy="5302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mn-ea"/>
                <a:cs typeface="Arial"/>
                <a:sym typeface="Arial"/>
              </a:endParaRPr>
            </a:p>
          </p:txBody>
        </p:sp>
        <p:sp>
          <p:nvSpPr>
            <p:cNvPr id="153" name="Google Shape;1803;p69">
              <a:extLst>
                <a:ext uri="{FF2B5EF4-FFF2-40B4-BE49-F238E27FC236}">
                  <a16:creationId xmlns:a16="http://schemas.microsoft.com/office/drawing/2014/main" id="{CCC1933B-E078-DE9C-1EC1-A5011DC253D4}"/>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154" name="Group 153">
            <a:extLst>
              <a:ext uri="{FF2B5EF4-FFF2-40B4-BE49-F238E27FC236}">
                <a16:creationId xmlns:a16="http://schemas.microsoft.com/office/drawing/2014/main" id="{16E2E701-F430-A072-79E6-796BB0A4184B}"/>
              </a:ext>
            </a:extLst>
          </p:cNvPr>
          <p:cNvGrpSpPr>
            <a:grpSpLocks noChangeAspect="1"/>
          </p:cNvGrpSpPr>
          <p:nvPr/>
        </p:nvGrpSpPr>
        <p:grpSpPr>
          <a:xfrm>
            <a:off x="2981039" y="5028964"/>
            <a:ext cx="438912" cy="438912"/>
            <a:chOff x="2008163" y="2122216"/>
            <a:chExt cx="530226" cy="530226"/>
          </a:xfrm>
        </p:grpSpPr>
        <p:sp>
          <p:nvSpPr>
            <p:cNvPr id="155" name="Google Shape;1802;p69">
              <a:extLst>
                <a:ext uri="{FF2B5EF4-FFF2-40B4-BE49-F238E27FC236}">
                  <a16:creationId xmlns:a16="http://schemas.microsoft.com/office/drawing/2014/main" id="{B56BCC76-A742-BEE7-D94D-366F1E5A37B9}"/>
                </a:ext>
              </a:extLst>
            </p:cNvPr>
            <p:cNvSpPr/>
            <p:nvPr/>
          </p:nvSpPr>
          <p:spPr>
            <a:xfrm>
              <a:off x="2008163" y="2122216"/>
              <a:ext cx="530226" cy="53022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56" name="Google Shape;1803;p69">
              <a:extLst>
                <a:ext uri="{FF2B5EF4-FFF2-40B4-BE49-F238E27FC236}">
                  <a16:creationId xmlns:a16="http://schemas.microsoft.com/office/drawing/2014/main" id="{A3F800A7-AC73-17D3-4111-F84AFD4200F7}"/>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157" name="Group 156">
            <a:extLst>
              <a:ext uri="{FF2B5EF4-FFF2-40B4-BE49-F238E27FC236}">
                <a16:creationId xmlns:a16="http://schemas.microsoft.com/office/drawing/2014/main" id="{01CA4831-A2B5-D9F6-4DCB-A5D9E0D3FEF4}"/>
              </a:ext>
            </a:extLst>
          </p:cNvPr>
          <p:cNvGrpSpPr>
            <a:grpSpLocks noChangeAspect="1"/>
          </p:cNvGrpSpPr>
          <p:nvPr/>
        </p:nvGrpSpPr>
        <p:grpSpPr>
          <a:xfrm>
            <a:off x="1145335" y="5028964"/>
            <a:ext cx="438912" cy="438912"/>
            <a:chOff x="2008163" y="2122216"/>
            <a:chExt cx="530226" cy="530226"/>
          </a:xfrm>
        </p:grpSpPr>
        <p:sp>
          <p:nvSpPr>
            <p:cNvPr id="158" name="Google Shape;1802;p69">
              <a:extLst>
                <a:ext uri="{FF2B5EF4-FFF2-40B4-BE49-F238E27FC236}">
                  <a16:creationId xmlns:a16="http://schemas.microsoft.com/office/drawing/2014/main" id="{C8A5B4CC-D3B1-7986-E0D3-D52E1B48F492}"/>
                </a:ext>
              </a:extLst>
            </p:cNvPr>
            <p:cNvSpPr/>
            <p:nvPr/>
          </p:nvSpPr>
          <p:spPr>
            <a:xfrm>
              <a:off x="2008163" y="2122216"/>
              <a:ext cx="530226" cy="530226"/>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mn-ea"/>
                <a:cs typeface="Arial"/>
                <a:sym typeface="Arial"/>
              </a:endParaRPr>
            </a:p>
          </p:txBody>
        </p:sp>
        <p:sp>
          <p:nvSpPr>
            <p:cNvPr id="159" name="Google Shape;1803;p69">
              <a:extLst>
                <a:ext uri="{FF2B5EF4-FFF2-40B4-BE49-F238E27FC236}">
                  <a16:creationId xmlns:a16="http://schemas.microsoft.com/office/drawing/2014/main" id="{6A4EACE4-4437-3B54-8552-60DF59A815DA}"/>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160" name="Group 159">
            <a:extLst>
              <a:ext uri="{FF2B5EF4-FFF2-40B4-BE49-F238E27FC236}">
                <a16:creationId xmlns:a16="http://schemas.microsoft.com/office/drawing/2014/main" id="{A0DE4FE0-CADF-161C-1E6F-6F868213F655}"/>
              </a:ext>
            </a:extLst>
          </p:cNvPr>
          <p:cNvGrpSpPr>
            <a:grpSpLocks noChangeAspect="1"/>
          </p:cNvGrpSpPr>
          <p:nvPr/>
        </p:nvGrpSpPr>
        <p:grpSpPr>
          <a:xfrm>
            <a:off x="5563935" y="5028964"/>
            <a:ext cx="438912" cy="438912"/>
            <a:chOff x="2008163" y="2122216"/>
            <a:chExt cx="530226" cy="530226"/>
          </a:xfrm>
        </p:grpSpPr>
        <p:sp>
          <p:nvSpPr>
            <p:cNvPr id="161" name="Google Shape;1802;p69">
              <a:extLst>
                <a:ext uri="{FF2B5EF4-FFF2-40B4-BE49-F238E27FC236}">
                  <a16:creationId xmlns:a16="http://schemas.microsoft.com/office/drawing/2014/main" id="{4DBCE1D2-ACDC-B4CF-381A-968CD3E9D4A1}"/>
                </a:ext>
              </a:extLst>
            </p:cNvPr>
            <p:cNvSpPr/>
            <p:nvPr/>
          </p:nvSpPr>
          <p:spPr>
            <a:xfrm>
              <a:off x="2008163" y="2122216"/>
              <a:ext cx="530226" cy="53022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62" name="Google Shape;1803;p69">
              <a:extLst>
                <a:ext uri="{FF2B5EF4-FFF2-40B4-BE49-F238E27FC236}">
                  <a16:creationId xmlns:a16="http://schemas.microsoft.com/office/drawing/2014/main" id="{62FF6400-6655-BACF-4566-A29613A386E0}"/>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163" name="Group 162">
            <a:extLst>
              <a:ext uri="{FF2B5EF4-FFF2-40B4-BE49-F238E27FC236}">
                <a16:creationId xmlns:a16="http://schemas.microsoft.com/office/drawing/2014/main" id="{9DB175AA-05A6-769D-B564-BE1ECDF692C3}"/>
              </a:ext>
            </a:extLst>
          </p:cNvPr>
          <p:cNvGrpSpPr>
            <a:grpSpLocks noChangeAspect="1"/>
          </p:cNvGrpSpPr>
          <p:nvPr/>
        </p:nvGrpSpPr>
        <p:grpSpPr>
          <a:xfrm>
            <a:off x="3724035" y="5028964"/>
            <a:ext cx="438912" cy="438912"/>
            <a:chOff x="2008163" y="2122216"/>
            <a:chExt cx="530226" cy="530226"/>
          </a:xfrm>
        </p:grpSpPr>
        <p:sp>
          <p:nvSpPr>
            <p:cNvPr id="164" name="Google Shape;1802;p69">
              <a:extLst>
                <a:ext uri="{FF2B5EF4-FFF2-40B4-BE49-F238E27FC236}">
                  <a16:creationId xmlns:a16="http://schemas.microsoft.com/office/drawing/2014/main" id="{50232E30-3BB3-A0D3-A9E9-BB50A106235E}"/>
                </a:ext>
              </a:extLst>
            </p:cNvPr>
            <p:cNvSpPr/>
            <p:nvPr/>
          </p:nvSpPr>
          <p:spPr>
            <a:xfrm>
              <a:off x="2008163" y="2122216"/>
              <a:ext cx="530226" cy="530226"/>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mn-ea"/>
                <a:cs typeface="Arial"/>
                <a:sym typeface="Arial"/>
              </a:endParaRPr>
            </a:p>
          </p:txBody>
        </p:sp>
        <p:sp>
          <p:nvSpPr>
            <p:cNvPr id="165" name="Google Shape;1803;p69">
              <a:extLst>
                <a:ext uri="{FF2B5EF4-FFF2-40B4-BE49-F238E27FC236}">
                  <a16:creationId xmlns:a16="http://schemas.microsoft.com/office/drawing/2014/main" id="{210FFB49-C118-E4ED-17BE-40295E0DBD89}"/>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166" name="Group 165">
            <a:extLst>
              <a:ext uri="{FF2B5EF4-FFF2-40B4-BE49-F238E27FC236}">
                <a16:creationId xmlns:a16="http://schemas.microsoft.com/office/drawing/2014/main" id="{BB92C581-B3AB-2B47-A5DC-42EA906C862C}"/>
              </a:ext>
            </a:extLst>
          </p:cNvPr>
          <p:cNvGrpSpPr>
            <a:grpSpLocks noChangeAspect="1"/>
          </p:cNvGrpSpPr>
          <p:nvPr/>
        </p:nvGrpSpPr>
        <p:grpSpPr>
          <a:xfrm>
            <a:off x="4813645" y="5028964"/>
            <a:ext cx="438912" cy="438912"/>
            <a:chOff x="2008163" y="2122216"/>
            <a:chExt cx="530226" cy="530226"/>
          </a:xfrm>
        </p:grpSpPr>
        <p:sp>
          <p:nvSpPr>
            <p:cNvPr id="167" name="Google Shape;1802;p69">
              <a:extLst>
                <a:ext uri="{FF2B5EF4-FFF2-40B4-BE49-F238E27FC236}">
                  <a16:creationId xmlns:a16="http://schemas.microsoft.com/office/drawing/2014/main" id="{7E0A2DDE-1FE7-CAE1-3C9E-BCF072481790}"/>
                </a:ext>
              </a:extLst>
            </p:cNvPr>
            <p:cNvSpPr/>
            <p:nvPr/>
          </p:nvSpPr>
          <p:spPr>
            <a:xfrm>
              <a:off x="2008163" y="2122216"/>
              <a:ext cx="530226" cy="5302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mn-ea"/>
                <a:cs typeface="Arial"/>
                <a:sym typeface="Arial"/>
              </a:endParaRPr>
            </a:p>
          </p:txBody>
        </p:sp>
        <p:sp>
          <p:nvSpPr>
            <p:cNvPr id="168" name="Google Shape;1803;p69">
              <a:extLst>
                <a:ext uri="{FF2B5EF4-FFF2-40B4-BE49-F238E27FC236}">
                  <a16:creationId xmlns:a16="http://schemas.microsoft.com/office/drawing/2014/main" id="{C56AA8F0-4C90-CDF1-8912-B488A2BC9E1B}"/>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sp>
        <p:nvSpPr>
          <p:cNvPr id="169" name="Rectangle: Rounded Corners 92">
            <a:extLst>
              <a:ext uri="{FF2B5EF4-FFF2-40B4-BE49-F238E27FC236}">
                <a16:creationId xmlns:a16="http://schemas.microsoft.com/office/drawing/2014/main" id="{A4992FC6-6C7C-40C7-3F30-7F74A1CC0BB1}"/>
              </a:ext>
            </a:extLst>
          </p:cNvPr>
          <p:cNvSpPr/>
          <p:nvPr/>
        </p:nvSpPr>
        <p:spPr>
          <a:xfrm>
            <a:off x="1851220" y="4678758"/>
            <a:ext cx="540000" cy="243683"/>
          </a:xfrm>
          <a:prstGeom prst="roundRect">
            <a:avLst>
              <a:gd name="adj" fmla="val 18762"/>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err="1">
                <a:ln>
                  <a:noFill/>
                </a:ln>
                <a:solidFill>
                  <a:srgbClr val="FFFFFF"/>
                </a:solidFill>
                <a:effectLst/>
                <a:uLnTx/>
                <a:uFillTx/>
                <a:latin typeface="Arial" panose="020B0604020202020204"/>
                <a:ea typeface="+mn-ea"/>
                <a:cs typeface="+mn-cs"/>
              </a:rPr>
              <a:t>DvPG</a:t>
            </a:r>
            <a:r>
              <a:rPr kumimoji="0" lang="en-US" sz="1050" b="0" i="0" u="none" strike="noStrike" kern="1200" cap="none" spc="0" normalizeH="0" baseline="0" noProof="0" dirty="0">
                <a:ln>
                  <a:noFill/>
                </a:ln>
                <a:solidFill>
                  <a:srgbClr val="FFFFFF"/>
                </a:solidFill>
                <a:effectLst/>
                <a:uLnTx/>
                <a:uFillTx/>
                <a:latin typeface="Arial" panose="020B0604020202020204"/>
                <a:ea typeface="+mn-ea"/>
                <a:cs typeface="+mn-cs"/>
              </a:rPr>
              <a:t> y</a:t>
            </a:r>
          </a:p>
        </p:txBody>
      </p:sp>
      <p:sp>
        <p:nvSpPr>
          <p:cNvPr id="170" name="Rectangle: Rounded Corners 93">
            <a:extLst>
              <a:ext uri="{FF2B5EF4-FFF2-40B4-BE49-F238E27FC236}">
                <a16:creationId xmlns:a16="http://schemas.microsoft.com/office/drawing/2014/main" id="{EF5A44FE-BA30-E4C5-76FF-8FA1292B8F66}"/>
              </a:ext>
            </a:extLst>
          </p:cNvPr>
          <p:cNvSpPr/>
          <p:nvPr/>
        </p:nvSpPr>
        <p:spPr>
          <a:xfrm>
            <a:off x="2929739" y="4678758"/>
            <a:ext cx="540000" cy="243683"/>
          </a:xfrm>
          <a:prstGeom prst="roundRect">
            <a:avLst>
              <a:gd name="adj" fmla="val 18762"/>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err="1">
                <a:ln>
                  <a:noFill/>
                </a:ln>
                <a:solidFill>
                  <a:srgbClr val="FFFFFF"/>
                </a:solidFill>
                <a:effectLst/>
                <a:uLnTx/>
                <a:uFillTx/>
                <a:latin typeface="Arial" panose="020B0604020202020204"/>
                <a:ea typeface="+mn-ea"/>
                <a:cs typeface="+mn-cs"/>
              </a:rPr>
              <a:t>DvPG</a:t>
            </a:r>
            <a:r>
              <a:rPr kumimoji="0" lang="en-US" sz="1050" b="0" i="0" u="none" strike="noStrike" kern="1200" cap="none" spc="0" normalizeH="0" baseline="0" noProof="0" dirty="0">
                <a:ln>
                  <a:noFill/>
                </a:ln>
                <a:solidFill>
                  <a:srgbClr val="FFFFFF"/>
                </a:solidFill>
                <a:effectLst/>
                <a:uLnTx/>
                <a:uFillTx/>
                <a:latin typeface="Arial" panose="020B0604020202020204"/>
                <a:ea typeface="+mn-ea"/>
                <a:cs typeface="+mn-cs"/>
              </a:rPr>
              <a:t> z</a:t>
            </a:r>
          </a:p>
        </p:txBody>
      </p:sp>
      <p:sp>
        <p:nvSpPr>
          <p:cNvPr id="171" name="Rectangle: Rounded Corners 93">
            <a:extLst>
              <a:ext uri="{FF2B5EF4-FFF2-40B4-BE49-F238E27FC236}">
                <a16:creationId xmlns:a16="http://schemas.microsoft.com/office/drawing/2014/main" id="{B1283DE5-7A0D-5EB4-094C-1852A149835F}"/>
              </a:ext>
            </a:extLst>
          </p:cNvPr>
          <p:cNvSpPr/>
          <p:nvPr/>
        </p:nvSpPr>
        <p:spPr>
          <a:xfrm>
            <a:off x="5512730" y="4678758"/>
            <a:ext cx="540000" cy="243683"/>
          </a:xfrm>
          <a:prstGeom prst="roundRect">
            <a:avLst>
              <a:gd name="adj" fmla="val 18762"/>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err="1">
                <a:ln>
                  <a:noFill/>
                </a:ln>
                <a:solidFill>
                  <a:srgbClr val="FFFFFF"/>
                </a:solidFill>
                <a:effectLst/>
                <a:uLnTx/>
                <a:uFillTx/>
                <a:latin typeface="Arial" panose="020B0604020202020204"/>
                <a:ea typeface="+mn-ea"/>
                <a:cs typeface="+mn-cs"/>
              </a:rPr>
              <a:t>DvPG</a:t>
            </a:r>
            <a:r>
              <a:rPr kumimoji="0" lang="en-US" sz="1050" b="0" i="0" u="none" strike="noStrike" kern="1200" cap="none" spc="0" normalizeH="0" baseline="0" noProof="0" dirty="0">
                <a:ln>
                  <a:noFill/>
                </a:ln>
                <a:solidFill>
                  <a:srgbClr val="FFFFFF"/>
                </a:solidFill>
                <a:effectLst/>
                <a:uLnTx/>
                <a:uFillTx/>
                <a:latin typeface="Arial" panose="020B0604020202020204"/>
                <a:ea typeface="+mn-ea"/>
                <a:cs typeface="+mn-cs"/>
              </a:rPr>
              <a:t> z</a:t>
            </a:r>
          </a:p>
        </p:txBody>
      </p:sp>
      <p:sp>
        <p:nvSpPr>
          <p:cNvPr id="172" name="Rectangle: Rounded Corners 92">
            <a:extLst>
              <a:ext uri="{FF2B5EF4-FFF2-40B4-BE49-F238E27FC236}">
                <a16:creationId xmlns:a16="http://schemas.microsoft.com/office/drawing/2014/main" id="{97B3DA26-D2D2-4217-3836-AA149F62459A}"/>
              </a:ext>
            </a:extLst>
          </p:cNvPr>
          <p:cNvSpPr/>
          <p:nvPr/>
        </p:nvSpPr>
        <p:spPr>
          <a:xfrm>
            <a:off x="4763163" y="4678758"/>
            <a:ext cx="540000" cy="243683"/>
          </a:xfrm>
          <a:prstGeom prst="roundRect">
            <a:avLst>
              <a:gd name="adj" fmla="val 18762"/>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err="1">
                <a:ln>
                  <a:noFill/>
                </a:ln>
                <a:solidFill>
                  <a:srgbClr val="FFFFFF"/>
                </a:solidFill>
                <a:effectLst/>
                <a:uLnTx/>
                <a:uFillTx/>
                <a:latin typeface="Arial" panose="020B0604020202020204"/>
                <a:ea typeface="+mn-ea"/>
                <a:cs typeface="+mn-cs"/>
              </a:rPr>
              <a:t>DvPG</a:t>
            </a:r>
            <a:r>
              <a:rPr kumimoji="0" lang="en-US" sz="1050" b="0" i="0" u="none" strike="noStrike" kern="1200" cap="none" spc="0" normalizeH="0" baseline="0" noProof="0" dirty="0">
                <a:ln>
                  <a:noFill/>
                </a:ln>
                <a:solidFill>
                  <a:srgbClr val="FFFFFF"/>
                </a:solidFill>
                <a:effectLst/>
                <a:uLnTx/>
                <a:uFillTx/>
                <a:latin typeface="Arial" panose="020B0604020202020204"/>
                <a:ea typeface="+mn-ea"/>
                <a:cs typeface="+mn-cs"/>
              </a:rPr>
              <a:t> y</a:t>
            </a:r>
          </a:p>
        </p:txBody>
      </p:sp>
      <p:sp>
        <p:nvSpPr>
          <p:cNvPr id="173" name="Rectangle: Rounded Corners 93">
            <a:extLst>
              <a:ext uri="{FF2B5EF4-FFF2-40B4-BE49-F238E27FC236}">
                <a16:creationId xmlns:a16="http://schemas.microsoft.com/office/drawing/2014/main" id="{7DECD242-B1B8-DA5C-3B63-CE2DC5F609FB}"/>
              </a:ext>
            </a:extLst>
          </p:cNvPr>
          <p:cNvSpPr/>
          <p:nvPr/>
        </p:nvSpPr>
        <p:spPr>
          <a:xfrm>
            <a:off x="3672977" y="4678758"/>
            <a:ext cx="540000" cy="243683"/>
          </a:xfrm>
          <a:prstGeom prst="roundRect">
            <a:avLst>
              <a:gd name="adj" fmla="val 18762"/>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err="1">
                <a:ln>
                  <a:noFill/>
                </a:ln>
                <a:solidFill>
                  <a:srgbClr val="FFFFFF"/>
                </a:solidFill>
                <a:effectLst/>
                <a:uLnTx/>
                <a:uFillTx/>
                <a:latin typeface="Arial" panose="020B0604020202020204"/>
                <a:ea typeface="+mn-ea"/>
                <a:cs typeface="+mn-cs"/>
              </a:rPr>
              <a:t>DvPG</a:t>
            </a:r>
            <a:r>
              <a:rPr kumimoji="0" lang="en-US" sz="1050" b="0" i="0" u="none" strike="noStrike" kern="1200" cap="none" spc="0" normalizeH="0" baseline="0" noProof="0" dirty="0">
                <a:ln>
                  <a:noFill/>
                </a:ln>
                <a:solidFill>
                  <a:srgbClr val="FFFFFF"/>
                </a:solidFill>
                <a:effectLst/>
                <a:uLnTx/>
                <a:uFillTx/>
                <a:latin typeface="Arial" panose="020B0604020202020204"/>
                <a:ea typeface="+mn-ea"/>
                <a:cs typeface="+mn-cs"/>
              </a:rPr>
              <a:t> x</a:t>
            </a:r>
          </a:p>
        </p:txBody>
      </p:sp>
      <p:sp>
        <p:nvSpPr>
          <p:cNvPr id="174" name="Rectangle: Rounded Corners 93">
            <a:extLst>
              <a:ext uri="{FF2B5EF4-FFF2-40B4-BE49-F238E27FC236}">
                <a16:creationId xmlns:a16="http://schemas.microsoft.com/office/drawing/2014/main" id="{BDF7ED02-4D95-D2FC-CDE5-F6CF1F7DAF37}"/>
              </a:ext>
            </a:extLst>
          </p:cNvPr>
          <p:cNvSpPr/>
          <p:nvPr/>
        </p:nvSpPr>
        <p:spPr>
          <a:xfrm>
            <a:off x="1094791" y="4678758"/>
            <a:ext cx="540000" cy="243683"/>
          </a:xfrm>
          <a:prstGeom prst="roundRect">
            <a:avLst>
              <a:gd name="adj" fmla="val 18762"/>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err="1">
                <a:ln>
                  <a:noFill/>
                </a:ln>
                <a:solidFill>
                  <a:srgbClr val="FFFFFF"/>
                </a:solidFill>
                <a:effectLst/>
                <a:uLnTx/>
                <a:uFillTx/>
                <a:latin typeface="Arial" panose="020B0604020202020204"/>
                <a:ea typeface="+mn-ea"/>
                <a:cs typeface="+mn-cs"/>
              </a:rPr>
              <a:t>DvPG</a:t>
            </a:r>
            <a:r>
              <a:rPr kumimoji="0" lang="en-US" sz="1050" b="0" i="0" u="none" strike="noStrike" kern="1200" cap="none" spc="0" normalizeH="0" baseline="0" noProof="0" dirty="0">
                <a:ln>
                  <a:noFill/>
                </a:ln>
                <a:solidFill>
                  <a:srgbClr val="FFFFFF"/>
                </a:solidFill>
                <a:effectLst/>
                <a:uLnTx/>
                <a:uFillTx/>
                <a:latin typeface="Arial" panose="020B0604020202020204"/>
                <a:ea typeface="+mn-ea"/>
                <a:cs typeface="+mn-cs"/>
              </a:rPr>
              <a:t> x</a:t>
            </a:r>
          </a:p>
        </p:txBody>
      </p:sp>
      <p:sp>
        <p:nvSpPr>
          <p:cNvPr id="200" name="Rectangle 199">
            <a:extLst>
              <a:ext uri="{FF2B5EF4-FFF2-40B4-BE49-F238E27FC236}">
                <a16:creationId xmlns:a16="http://schemas.microsoft.com/office/drawing/2014/main" id="{DD5D0314-1FEF-7251-FD25-7FC1345BB938}"/>
              </a:ext>
            </a:extLst>
          </p:cNvPr>
          <p:cNvSpPr/>
          <p:nvPr/>
        </p:nvSpPr>
        <p:spPr>
          <a:xfrm>
            <a:off x="608014" y="1710756"/>
            <a:ext cx="5943600" cy="145424"/>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50" b="1" i="0" u="none" strike="noStrike" kern="1200" cap="all" spc="50" normalizeH="0" baseline="0" noProof="0" dirty="0">
                <a:ln>
                  <a:noFill/>
                </a:ln>
                <a:solidFill>
                  <a:prstClr val="black"/>
                </a:solidFill>
                <a:effectLst/>
                <a:uLnTx/>
                <a:uFillTx/>
                <a:latin typeface="Arial" panose="020B0604020202020204"/>
                <a:ea typeface="+mn-ea"/>
                <a:cs typeface="Arial"/>
              </a:rPr>
              <a:t>IP Fabric with service appliances</a:t>
            </a:r>
          </a:p>
        </p:txBody>
      </p:sp>
      <p:cxnSp>
        <p:nvCxnSpPr>
          <p:cNvPr id="179" name="Straight Connector 178">
            <a:extLst>
              <a:ext uri="{FF2B5EF4-FFF2-40B4-BE49-F238E27FC236}">
                <a16:creationId xmlns:a16="http://schemas.microsoft.com/office/drawing/2014/main" id="{071D8730-00C0-3915-907E-69A5B6ED1382}"/>
              </a:ext>
            </a:extLst>
          </p:cNvPr>
          <p:cNvCxnSpPr>
            <a:cxnSpLocks/>
            <a:stCxn id="158" idx="0"/>
            <a:endCxn id="174" idx="2"/>
          </p:cNvCxnSpPr>
          <p:nvPr/>
        </p:nvCxnSpPr>
        <p:spPr bwMode="gray">
          <a:xfrm flipV="1">
            <a:off x="1364791" y="4922441"/>
            <a:ext cx="0" cy="106523"/>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A48C291D-21BD-06F2-EB50-122142E24AB3}"/>
              </a:ext>
            </a:extLst>
          </p:cNvPr>
          <p:cNvCxnSpPr>
            <a:cxnSpLocks/>
            <a:stCxn id="152" idx="0"/>
            <a:endCxn id="169" idx="2"/>
          </p:cNvCxnSpPr>
          <p:nvPr/>
        </p:nvCxnSpPr>
        <p:spPr bwMode="gray">
          <a:xfrm flipH="1" flipV="1">
            <a:off x="2121220" y="4922441"/>
            <a:ext cx="3201" cy="106523"/>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2D34DDA0-9E9E-075D-B71F-B964D872E57B}"/>
              </a:ext>
            </a:extLst>
          </p:cNvPr>
          <p:cNvCxnSpPr>
            <a:cxnSpLocks/>
            <a:stCxn id="155" idx="0"/>
            <a:endCxn id="170" idx="2"/>
          </p:cNvCxnSpPr>
          <p:nvPr/>
        </p:nvCxnSpPr>
        <p:spPr bwMode="gray">
          <a:xfrm flipH="1" flipV="1">
            <a:off x="3199739" y="4922441"/>
            <a:ext cx="756" cy="106523"/>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281EC50E-BC3D-14FE-50EC-F8BA3F23D4E7}"/>
              </a:ext>
            </a:extLst>
          </p:cNvPr>
          <p:cNvCxnSpPr>
            <a:cxnSpLocks/>
            <a:stCxn id="164" idx="0"/>
            <a:endCxn id="173" idx="2"/>
          </p:cNvCxnSpPr>
          <p:nvPr/>
        </p:nvCxnSpPr>
        <p:spPr bwMode="gray">
          <a:xfrm flipH="1" flipV="1">
            <a:off x="3942977" y="4922441"/>
            <a:ext cx="514" cy="106523"/>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6588F4EB-7264-8501-3348-AC8D87791035}"/>
              </a:ext>
            </a:extLst>
          </p:cNvPr>
          <p:cNvCxnSpPr>
            <a:cxnSpLocks/>
            <a:stCxn id="167" idx="0"/>
            <a:endCxn id="172" idx="2"/>
          </p:cNvCxnSpPr>
          <p:nvPr/>
        </p:nvCxnSpPr>
        <p:spPr bwMode="gray">
          <a:xfrm flipV="1">
            <a:off x="5033101" y="4922441"/>
            <a:ext cx="62" cy="106523"/>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11D53AD7-396A-8CB9-A55F-E81259A5C7C5}"/>
              </a:ext>
            </a:extLst>
          </p:cNvPr>
          <p:cNvCxnSpPr>
            <a:cxnSpLocks/>
            <a:stCxn id="161" idx="0"/>
            <a:endCxn id="171" idx="2"/>
          </p:cNvCxnSpPr>
          <p:nvPr/>
        </p:nvCxnSpPr>
        <p:spPr bwMode="gray">
          <a:xfrm flipH="1" flipV="1">
            <a:off x="5782730" y="4922441"/>
            <a:ext cx="661" cy="106523"/>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569494A8-0034-17DE-C768-73514958BA8D}"/>
              </a:ext>
            </a:extLst>
          </p:cNvPr>
          <p:cNvGrpSpPr>
            <a:grpSpLocks noChangeAspect="1"/>
          </p:cNvGrpSpPr>
          <p:nvPr/>
        </p:nvGrpSpPr>
        <p:grpSpPr>
          <a:xfrm>
            <a:off x="2879202" y="1951839"/>
            <a:ext cx="457202" cy="457200"/>
            <a:chOff x="7498117" y="3244694"/>
            <a:chExt cx="615026" cy="615024"/>
          </a:xfrm>
        </p:grpSpPr>
        <p:sp>
          <p:nvSpPr>
            <p:cNvPr id="41" name="Oval 40">
              <a:extLst>
                <a:ext uri="{FF2B5EF4-FFF2-40B4-BE49-F238E27FC236}">
                  <a16:creationId xmlns:a16="http://schemas.microsoft.com/office/drawing/2014/main" id="{5C408B1C-46B9-4A8B-EFB8-076BBCA2154F}"/>
                </a:ext>
              </a:extLst>
            </p:cNvPr>
            <p:cNvSpPr>
              <a:spLocks noChangeAspect="1"/>
            </p:cNvSpPr>
            <p:nvPr/>
          </p:nvSpPr>
          <p:spPr>
            <a:xfrm>
              <a:off x="7498117" y="3244694"/>
              <a:ext cx="615026" cy="615024"/>
            </a:xfrm>
            <a:prstGeom prst="ellipse">
              <a:avLst/>
            </a:pr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2" name="Graphic 62">
              <a:extLst>
                <a:ext uri="{FF2B5EF4-FFF2-40B4-BE49-F238E27FC236}">
                  <a16:creationId xmlns:a16="http://schemas.microsoft.com/office/drawing/2014/main" id="{23756DDC-1278-C14C-EB49-BA3EF601468E}"/>
                </a:ext>
              </a:extLst>
            </p:cNvPr>
            <p:cNvSpPr/>
            <p:nvPr/>
          </p:nvSpPr>
          <p:spPr>
            <a:xfrm>
              <a:off x="7601547" y="3369194"/>
              <a:ext cx="366027" cy="366026"/>
            </a:xfrm>
            <a:custGeom>
              <a:avLst/>
              <a:gdLst>
                <a:gd name="connsiteX0" fmla="*/ 168355 w 537323"/>
                <a:gd name="connsiteY0" fmla="*/ 0 h 537323"/>
                <a:gd name="connsiteX1" fmla="*/ 0 w 537323"/>
                <a:gd name="connsiteY1" fmla="*/ 185968 h 537323"/>
                <a:gd name="connsiteX2" fmla="*/ 0 w 537323"/>
                <a:gd name="connsiteY2" fmla="*/ 353777 h 537323"/>
                <a:gd name="connsiteX3" fmla="*/ 174877 w 537323"/>
                <a:gd name="connsiteY3" fmla="*/ 537324 h 537323"/>
                <a:gd name="connsiteX4" fmla="*/ 537324 w 537323"/>
                <a:gd name="connsiteY4" fmla="*/ 537324 h 537323"/>
                <a:gd name="connsiteX5" fmla="*/ 537324 w 537323"/>
                <a:gd name="connsiteY5" fmla="*/ 0 h 537323"/>
                <a:gd name="connsiteX6" fmla="*/ 168355 w 537323"/>
                <a:gd name="connsiteY6" fmla="*/ 0 h 537323"/>
                <a:gd name="connsiteX7" fmla="*/ 200964 w 537323"/>
                <a:gd name="connsiteY7" fmla="*/ 151680 h 537323"/>
                <a:gd name="connsiteX8" fmla="*/ 220295 w 537323"/>
                <a:gd name="connsiteY8" fmla="*/ 171011 h 537323"/>
                <a:gd name="connsiteX9" fmla="*/ 153633 w 537323"/>
                <a:gd name="connsiteY9" fmla="*/ 237674 h 537323"/>
                <a:gd name="connsiteX10" fmla="*/ 134302 w 537323"/>
                <a:gd name="connsiteY10" fmla="*/ 218343 h 537323"/>
                <a:gd name="connsiteX11" fmla="*/ 200964 w 537323"/>
                <a:gd name="connsiteY11" fmla="*/ 151680 h 537323"/>
                <a:gd name="connsiteX12" fmla="*/ 204870 w 537323"/>
                <a:gd name="connsiteY12" fmla="*/ 264151 h 537323"/>
                <a:gd name="connsiteX13" fmla="*/ 204870 w 537323"/>
                <a:gd name="connsiteY13" fmla="*/ 291488 h 537323"/>
                <a:gd name="connsiteX14" fmla="*/ 153320 w 537323"/>
                <a:gd name="connsiteY14" fmla="*/ 291488 h 537323"/>
                <a:gd name="connsiteX15" fmla="*/ 153320 w 537323"/>
                <a:gd name="connsiteY15" fmla="*/ 264151 h 537323"/>
                <a:gd name="connsiteX16" fmla="*/ 204870 w 537323"/>
                <a:gd name="connsiteY16" fmla="*/ 264151 h 537323"/>
                <a:gd name="connsiteX17" fmla="*/ 117119 w 537323"/>
                <a:gd name="connsiteY17" fmla="*/ 308632 h 537323"/>
                <a:gd name="connsiteX18" fmla="*/ 55494 w 537323"/>
                <a:gd name="connsiteY18" fmla="*/ 308632 h 537323"/>
                <a:gd name="connsiteX19" fmla="*/ 55494 w 537323"/>
                <a:gd name="connsiteY19" fmla="*/ 247007 h 537323"/>
                <a:gd name="connsiteX20" fmla="*/ 117119 w 537323"/>
                <a:gd name="connsiteY20" fmla="*/ 247007 h 537323"/>
                <a:gd name="connsiteX21" fmla="*/ 117119 w 537323"/>
                <a:gd name="connsiteY21" fmla="*/ 308632 h 537323"/>
                <a:gd name="connsiteX22" fmla="*/ 134302 w 537323"/>
                <a:gd name="connsiteY22" fmla="*/ 343506 h 537323"/>
                <a:gd name="connsiteX23" fmla="*/ 153633 w 537323"/>
                <a:gd name="connsiteY23" fmla="*/ 324175 h 537323"/>
                <a:gd name="connsiteX24" fmla="*/ 220295 w 537323"/>
                <a:gd name="connsiteY24" fmla="*/ 390838 h 537323"/>
                <a:gd name="connsiteX25" fmla="*/ 200964 w 537323"/>
                <a:gd name="connsiteY25" fmla="*/ 410169 h 537323"/>
                <a:gd name="connsiteX26" fmla="*/ 134302 w 537323"/>
                <a:gd name="connsiteY26" fmla="*/ 343506 h 537323"/>
                <a:gd name="connsiteX27" fmla="*/ 287231 w 537323"/>
                <a:gd name="connsiteY27" fmla="*/ 478901 h 537323"/>
                <a:gd name="connsiteX28" fmla="*/ 225606 w 537323"/>
                <a:gd name="connsiteY28" fmla="*/ 478901 h 537323"/>
                <a:gd name="connsiteX29" fmla="*/ 225606 w 537323"/>
                <a:gd name="connsiteY29" fmla="*/ 417276 h 537323"/>
                <a:gd name="connsiteX30" fmla="*/ 287231 w 537323"/>
                <a:gd name="connsiteY30" fmla="*/ 417276 h 537323"/>
                <a:gd name="connsiteX31" fmla="*/ 287231 w 537323"/>
                <a:gd name="connsiteY31" fmla="*/ 478901 h 537323"/>
                <a:gd name="connsiteX32" fmla="*/ 287231 w 537323"/>
                <a:gd name="connsiteY32" fmla="*/ 308593 h 537323"/>
                <a:gd name="connsiteX33" fmla="*/ 225606 w 537323"/>
                <a:gd name="connsiteY33" fmla="*/ 308593 h 537323"/>
                <a:gd name="connsiteX34" fmla="*/ 225606 w 537323"/>
                <a:gd name="connsiteY34" fmla="*/ 246968 h 537323"/>
                <a:gd name="connsiteX35" fmla="*/ 287231 w 537323"/>
                <a:gd name="connsiteY35" fmla="*/ 246968 h 537323"/>
                <a:gd name="connsiteX36" fmla="*/ 287231 w 537323"/>
                <a:gd name="connsiteY36" fmla="*/ 308593 h 537323"/>
                <a:gd name="connsiteX37" fmla="*/ 287231 w 537323"/>
                <a:gd name="connsiteY37" fmla="*/ 137192 h 537323"/>
                <a:gd name="connsiteX38" fmla="*/ 225606 w 537323"/>
                <a:gd name="connsiteY38" fmla="*/ 137192 h 537323"/>
                <a:gd name="connsiteX39" fmla="*/ 225606 w 537323"/>
                <a:gd name="connsiteY39" fmla="*/ 75567 h 537323"/>
                <a:gd name="connsiteX40" fmla="*/ 287231 w 537323"/>
                <a:gd name="connsiteY40" fmla="*/ 75567 h 537323"/>
                <a:gd name="connsiteX41" fmla="*/ 287231 w 537323"/>
                <a:gd name="connsiteY41" fmla="*/ 137192 h 537323"/>
                <a:gd name="connsiteX42" fmla="*/ 449143 w 537323"/>
                <a:gd name="connsiteY42" fmla="*/ 475386 h 537323"/>
                <a:gd name="connsiteX43" fmla="*/ 449143 w 537323"/>
                <a:gd name="connsiteY43" fmla="*/ 461796 h 537323"/>
                <a:gd name="connsiteX44" fmla="*/ 322105 w 537323"/>
                <a:gd name="connsiteY44" fmla="*/ 461796 h 537323"/>
                <a:gd name="connsiteX45" fmla="*/ 322105 w 537323"/>
                <a:gd name="connsiteY45" fmla="*/ 434459 h 537323"/>
                <a:gd name="connsiteX46" fmla="*/ 449143 w 537323"/>
                <a:gd name="connsiteY46" fmla="*/ 434459 h 537323"/>
                <a:gd name="connsiteX47" fmla="*/ 449143 w 537323"/>
                <a:gd name="connsiteY47" fmla="*/ 420869 h 537323"/>
                <a:gd name="connsiteX48" fmla="*/ 496358 w 537323"/>
                <a:gd name="connsiteY48" fmla="*/ 448128 h 537323"/>
                <a:gd name="connsiteX49" fmla="*/ 449143 w 537323"/>
                <a:gd name="connsiteY49" fmla="*/ 475386 h 537323"/>
                <a:gd name="connsiteX50" fmla="*/ 449143 w 537323"/>
                <a:gd name="connsiteY50" fmla="*/ 305039 h 537323"/>
                <a:gd name="connsiteX51" fmla="*/ 449143 w 537323"/>
                <a:gd name="connsiteY51" fmla="*/ 291449 h 537323"/>
                <a:gd name="connsiteX52" fmla="*/ 322105 w 537323"/>
                <a:gd name="connsiteY52" fmla="*/ 291449 h 537323"/>
                <a:gd name="connsiteX53" fmla="*/ 322105 w 537323"/>
                <a:gd name="connsiteY53" fmla="*/ 264112 h 537323"/>
                <a:gd name="connsiteX54" fmla="*/ 449143 w 537323"/>
                <a:gd name="connsiteY54" fmla="*/ 264112 h 537323"/>
                <a:gd name="connsiteX55" fmla="*/ 449143 w 537323"/>
                <a:gd name="connsiteY55" fmla="*/ 250522 h 537323"/>
                <a:gd name="connsiteX56" fmla="*/ 496358 w 537323"/>
                <a:gd name="connsiteY56" fmla="*/ 277781 h 537323"/>
                <a:gd name="connsiteX57" fmla="*/ 449143 w 537323"/>
                <a:gd name="connsiteY57" fmla="*/ 305039 h 537323"/>
                <a:gd name="connsiteX58" fmla="*/ 449143 w 537323"/>
                <a:gd name="connsiteY58" fmla="*/ 133638 h 537323"/>
                <a:gd name="connsiteX59" fmla="*/ 449143 w 537323"/>
                <a:gd name="connsiteY59" fmla="*/ 120047 h 537323"/>
                <a:gd name="connsiteX60" fmla="*/ 322105 w 537323"/>
                <a:gd name="connsiteY60" fmla="*/ 120047 h 537323"/>
                <a:gd name="connsiteX61" fmla="*/ 322105 w 537323"/>
                <a:gd name="connsiteY61" fmla="*/ 92711 h 537323"/>
                <a:gd name="connsiteX62" fmla="*/ 449143 w 537323"/>
                <a:gd name="connsiteY62" fmla="*/ 92711 h 537323"/>
                <a:gd name="connsiteX63" fmla="*/ 449143 w 537323"/>
                <a:gd name="connsiteY63" fmla="*/ 79120 h 537323"/>
                <a:gd name="connsiteX64" fmla="*/ 496358 w 537323"/>
                <a:gd name="connsiteY64" fmla="*/ 106379 h 537323"/>
                <a:gd name="connsiteX65" fmla="*/ 449143 w 537323"/>
                <a:gd name="connsiteY65" fmla="*/ 133638 h 537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37323" h="537323">
                  <a:moveTo>
                    <a:pt x="168355" y="0"/>
                  </a:moveTo>
                  <a:lnTo>
                    <a:pt x="0" y="185968"/>
                  </a:lnTo>
                  <a:lnTo>
                    <a:pt x="0" y="353777"/>
                  </a:lnTo>
                  <a:lnTo>
                    <a:pt x="174877" y="537324"/>
                  </a:lnTo>
                  <a:lnTo>
                    <a:pt x="537324" y="537324"/>
                  </a:lnTo>
                  <a:lnTo>
                    <a:pt x="537324" y="0"/>
                  </a:lnTo>
                  <a:lnTo>
                    <a:pt x="168355" y="0"/>
                  </a:lnTo>
                  <a:close/>
                  <a:moveTo>
                    <a:pt x="200964" y="151680"/>
                  </a:moveTo>
                  <a:lnTo>
                    <a:pt x="220295" y="171011"/>
                  </a:lnTo>
                  <a:lnTo>
                    <a:pt x="153633" y="237674"/>
                  </a:lnTo>
                  <a:lnTo>
                    <a:pt x="134302" y="218343"/>
                  </a:lnTo>
                  <a:lnTo>
                    <a:pt x="200964" y="151680"/>
                  </a:lnTo>
                  <a:close/>
                  <a:moveTo>
                    <a:pt x="204870" y="264151"/>
                  </a:moveTo>
                  <a:lnTo>
                    <a:pt x="204870" y="291488"/>
                  </a:lnTo>
                  <a:lnTo>
                    <a:pt x="153320" y="291488"/>
                  </a:lnTo>
                  <a:lnTo>
                    <a:pt x="153320" y="264151"/>
                  </a:lnTo>
                  <a:lnTo>
                    <a:pt x="204870" y="264151"/>
                  </a:lnTo>
                  <a:close/>
                  <a:moveTo>
                    <a:pt x="117119" y="308632"/>
                  </a:moveTo>
                  <a:cubicBezTo>
                    <a:pt x="100092" y="325659"/>
                    <a:pt x="72521" y="325659"/>
                    <a:pt x="55494" y="308632"/>
                  </a:cubicBezTo>
                  <a:cubicBezTo>
                    <a:pt x="38467" y="291605"/>
                    <a:pt x="38467" y="264034"/>
                    <a:pt x="55494" y="247007"/>
                  </a:cubicBezTo>
                  <a:cubicBezTo>
                    <a:pt x="72521" y="229980"/>
                    <a:pt x="100092" y="229980"/>
                    <a:pt x="117119" y="247007"/>
                  </a:cubicBezTo>
                  <a:cubicBezTo>
                    <a:pt x="134145" y="264034"/>
                    <a:pt x="134145" y="291605"/>
                    <a:pt x="117119" y="308632"/>
                  </a:cubicBezTo>
                  <a:close/>
                  <a:moveTo>
                    <a:pt x="134302" y="343506"/>
                  </a:moveTo>
                  <a:lnTo>
                    <a:pt x="153633" y="324175"/>
                  </a:lnTo>
                  <a:lnTo>
                    <a:pt x="220295" y="390838"/>
                  </a:lnTo>
                  <a:lnTo>
                    <a:pt x="200964" y="410169"/>
                  </a:lnTo>
                  <a:lnTo>
                    <a:pt x="134302" y="343506"/>
                  </a:lnTo>
                  <a:close/>
                  <a:moveTo>
                    <a:pt x="287231" y="478901"/>
                  </a:moveTo>
                  <a:cubicBezTo>
                    <a:pt x="270204" y="495928"/>
                    <a:pt x="242633" y="495928"/>
                    <a:pt x="225606" y="478901"/>
                  </a:cubicBezTo>
                  <a:cubicBezTo>
                    <a:pt x="208580" y="461874"/>
                    <a:pt x="208580" y="434303"/>
                    <a:pt x="225606" y="417276"/>
                  </a:cubicBezTo>
                  <a:cubicBezTo>
                    <a:pt x="242633" y="400249"/>
                    <a:pt x="270204" y="400249"/>
                    <a:pt x="287231" y="417276"/>
                  </a:cubicBezTo>
                  <a:cubicBezTo>
                    <a:pt x="304258" y="434303"/>
                    <a:pt x="304258" y="461874"/>
                    <a:pt x="287231" y="478901"/>
                  </a:cubicBezTo>
                  <a:close/>
                  <a:moveTo>
                    <a:pt x="287231" y="308593"/>
                  </a:moveTo>
                  <a:cubicBezTo>
                    <a:pt x="270204" y="325620"/>
                    <a:pt x="242633" y="325620"/>
                    <a:pt x="225606" y="308593"/>
                  </a:cubicBezTo>
                  <a:cubicBezTo>
                    <a:pt x="208580" y="291566"/>
                    <a:pt x="208580" y="263995"/>
                    <a:pt x="225606" y="246968"/>
                  </a:cubicBezTo>
                  <a:cubicBezTo>
                    <a:pt x="242633" y="229941"/>
                    <a:pt x="270204" y="229941"/>
                    <a:pt x="287231" y="246968"/>
                  </a:cubicBezTo>
                  <a:cubicBezTo>
                    <a:pt x="304258" y="263995"/>
                    <a:pt x="304258" y="291566"/>
                    <a:pt x="287231" y="308593"/>
                  </a:cubicBezTo>
                  <a:close/>
                  <a:moveTo>
                    <a:pt x="287231" y="137192"/>
                  </a:moveTo>
                  <a:cubicBezTo>
                    <a:pt x="270204" y="154218"/>
                    <a:pt x="242633" y="154218"/>
                    <a:pt x="225606" y="137192"/>
                  </a:cubicBezTo>
                  <a:cubicBezTo>
                    <a:pt x="208580" y="120165"/>
                    <a:pt x="208580" y="92594"/>
                    <a:pt x="225606" y="75567"/>
                  </a:cubicBezTo>
                  <a:cubicBezTo>
                    <a:pt x="242633" y="58540"/>
                    <a:pt x="270204" y="58540"/>
                    <a:pt x="287231" y="75567"/>
                  </a:cubicBezTo>
                  <a:cubicBezTo>
                    <a:pt x="304258" y="92594"/>
                    <a:pt x="304258" y="120165"/>
                    <a:pt x="287231" y="137192"/>
                  </a:cubicBezTo>
                  <a:close/>
                  <a:moveTo>
                    <a:pt x="449143" y="475386"/>
                  </a:moveTo>
                  <a:lnTo>
                    <a:pt x="449143" y="461796"/>
                  </a:lnTo>
                  <a:lnTo>
                    <a:pt x="322105" y="461796"/>
                  </a:lnTo>
                  <a:lnTo>
                    <a:pt x="322105" y="434459"/>
                  </a:lnTo>
                  <a:lnTo>
                    <a:pt x="449143" y="434459"/>
                  </a:lnTo>
                  <a:lnTo>
                    <a:pt x="449143" y="420869"/>
                  </a:lnTo>
                  <a:lnTo>
                    <a:pt x="496358" y="448128"/>
                  </a:lnTo>
                  <a:lnTo>
                    <a:pt x="449143" y="475386"/>
                  </a:lnTo>
                  <a:close/>
                  <a:moveTo>
                    <a:pt x="449143" y="305039"/>
                  </a:moveTo>
                  <a:lnTo>
                    <a:pt x="449143" y="291449"/>
                  </a:lnTo>
                  <a:lnTo>
                    <a:pt x="322105" y="291449"/>
                  </a:lnTo>
                  <a:lnTo>
                    <a:pt x="322105" y="264112"/>
                  </a:lnTo>
                  <a:lnTo>
                    <a:pt x="449143" y="264112"/>
                  </a:lnTo>
                  <a:lnTo>
                    <a:pt x="449143" y="250522"/>
                  </a:lnTo>
                  <a:lnTo>
                    <a:pt x="496358" y="277781"/>
                  </a:lnTo>
                  <a:lnTo>
                    <a:pt x="449143" y="305039"/>
                  </a:lnTo>
                  <a:close/>
                  <a:moveTo>
                    <a:pt x="449143" y="133638"/>
                  </a:moveTo>
                  <a:lnTo>
                    <a:pt x="449143" y="120047"/>
                  </a:lnTo>
                  <a:lnTo>
                    <a:pt x="322105" y="120047"/>
                  </a:lnTo>
                  <a:lnTo>
                    <a:pt x="322105" y="92711"/>
                  </a:lnTo>
                  <a:lnTo>
                    <a:pt x="449143" y="92711"/>
                  </a:lnTo>
                  <a:lnTo>
                    <a:pt x="449143" y="79120"/>
                  </a:lnTo>
                  <a:lnTo>
                    <a:pt x="496358" y="106379"/>
                  </a:lnTo>
                  <a:lnTo>
                    <a:pt x="449143" y="133638"/>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19" name="Group 18">
            <a:extLst>
              <a:ext uri="{FF2B5EF4-FFF2-40B4-BE49-F238E27FC236}">
                <a16:creationId xmlns:a16="http://schemas.microsoft.com/office/drawing/2014/main" id="{842A32F1-228A-BAE6-A68B-1BA320AD4DF7}"/>
              </a:ext>
            </a:extLst>
          </p:cNvPr>
          <p:cNvGrpSpPr>
            <a:grpSpLocks noChangeAspect="1"/>
          </p:cNvGrpSpPr>
          <p:nvPr/>
        </p:nvGrpSpPr>
        <p:grpSpPr>
          <a:xfrm>
            <a:off x="2075198" y="1951839"/>
            <a:ext cx="457202" cy="457200"/>
            <a:chOff x="6236527" y="4282407"/>
            <a:chExt cx="615026" cy="615024"/>
          </a:xfrm>
        </p:grpSpPr>
        <p:sp>
          <p:nvSpPr>
            <p:cNvPr id="37" name="Oval 36">
              <a:extLst>
                <a:ext uri="{FF2B5EF4-FFF2-40B4-BE49-F238E27FC236}">
                  <a16:creationId xmlns:a16="http://schemas.microsoft.com/office/drawing/2014/main" id="{A6BB11BF-EDA4-597E-54DB-941B918FA12A}"/>
                </a:ext>
              </a:extLst>
            </p:cNvPr>
            <p:cNvSpPr>
              <a:spLocks noChangeAspect="1"/>
            </p:cNvSpPr>
            <p:nvPr/>
          </p:nvSpPr>
          <p:spPr>
            <a:xfrm>
              <a:off x="6236527" y="4282407"/>
              <a:ext cx="615026" cy="615024"/>
            </a:xfrm>
            <a:prstGeom prst="ellipse">
              <a:avLst/>
            </a:pr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nvGrpSpPr>
            <p:cNvPr id="38" name="Group 37">
              <a:extLst>
                <a:ext uri="{FF2B5EF4-FFF2-40B4-BE49-F238E27FC236}">
                  <a16:creationId xmlns:a16="http://schemas.microsoft.com/office/drawing/2014/main" id="{60C71EFF-9859-81FB-0ED1-669E7A9C48F5}"/>
                </a:ext>
              </a:extLst>
            </p:cNvPr>
            <p:cNvGrpSpPr/>
            <p:nvPr/>
          </p:nvGrpSpPr>
          <p:grpSpPr>
            <a:xfrm>
              <a:off x="6341349" y="4462363"/>
              <a:ext cx="395473" cy="299841"/>
              <a:chOff x="3560655" y="2748581"/>
              <a:chExt cx="580548" cy="440165"/>
            </a:xfrm>
          </p:grpSpPr>
          <p:sp>
            <p:nvSpPr>
              <p:cNvPr id="39" name="Freeform: Shape 155">
                <a:extLst>
                  <a:ext uri="{FF2B5EF4-FFF2-40B4-BE49-F238E27FC236}">
                    <a16:creationId xmlns:a16="http://schemas.microsoft.com/office/drawing/2014/main" id="{F6B17A82-C265-3883-B94E-A5F64F4E2E22}"/>
                  </a:ext>
                </a:extLst>
              </p:cNvPr>
              <p:cNvSpPr/>
              <p:nvPr/>
            </p:nvSpPr>
            <p:spPr>
              <a:xfrm>
                <a:off x="3560655" y="2748581"/>
                <a:ext cx="580548" cy="336411"/>
              </a:xfrm>
              <a:custGeom>
                <a:avLst/>
                <a:gdLst>
                  <a:gd name="connsiteX0" fmla="*/ 284140 w 580548"/>
                  <a:gd name="connsiteY0" fmla="*/ 305741 h 336411"/>
                  <a:gd name="connsiteX1" fmla="*/ 134381 w 580548"/>
                  <a:gd name="connsiteY1" fmla="*/ 305741 h 336411"/>
                  <a:gd name="connsiteX2" fmla="*/ 134381 w 580548"/>
                  <a:gd name="connsiteY2" fmla="*/ 234498 h 336411"/>
                  <a:gd name="connsiteX3" fmla="*/ 290450 w 580548"/>
                  <a:gd name="connsiteY3" fmla="*/ 234498 h 336411"/>
                  <a:gd name="connsiteX4" fmla="*/ 290450 w 580548"/>
                  <a:gd name="connsiteY4" fmla="*/ 292597 h 336411"/>
                  <a:gd name="connsiteX5" fmla="*/ 316739 w 580548"/>
                  <a:gd name="connsiteY5" fmla="*/ 238660 h 336411"/>
                  <a:gd name="connsiteX6" fmla="*/ 316739 w 580548"/>
                  <a:gd name="connsiteY6" fmla="*/ 234498 h 336411"/>
                  <a:gd name="connsiteX7" fmla="*/ 318754 w 580548"/>
                  <a:gd name="connsiteY7" fmla="*/ 234498 h 336411"/>
                  <a:gd name="connsiteX8" fmla="*/ 333695 w 580548"/>
                  <a:gd name="connsiteY8" fmla="*/ 203827 h 336411"/>
                  <a:gd name="connsiteX9" fmla="*/ 258421 w 580548"/>
                  <a:gd name="connsiteY9" fmla="*/ 203827 h 336411"/>
                  <a:gd name="connsiteX10" fmla="*/ 258421 w 580548"/>
                  <a:gd name="connsiteY10" fmla="*/ 132584 h 336411"/>
                  <a:gd name="connsiteX11" fmla="*/ 414490 w 580548"/>
                  <a:gd name="connsiteY11" fmla="*/ 132584 h 336411"/>
                  <a:gd name="connsiteX12" fmla="*/ 414490 w 580548"/>
                  <a:gd name="connsiteY12" fmla="*/ 192479 h 336411"/>
                  <a:gd name="connsiteX13" fmla="*/ 440779 w 580548"/>
                  <a:gd name="connsiteY13" fmla="*/ 137973 h 336411"/>
                  <a:gd name="connsiteX14" fmla="*/ 440779 w 580548"/>
                  <a:gd name="connsiteY14" fmla="*/ 132584 h 336411"/>
                  <a:gd name="connsiteX15" fmla="*/ 443364 w 580548"/>
                  <a:gd name="connsiteY15" fmla="*/ 132584 h 336411"/>
                  <a:gd name="connsiteX16" fmla="*/ 458173 w 580548"/>
                  <a:gd name="connsiteY16" fmla="*/ 101914 h 336411"/>
                  <a:gd name="connsiteX17" fmla="*/ 351528 w 580548"/>
                  <a:gd name="connsiteY17" fmla="*/ 101914 h 336411"/>
                  <a:gd name="connsiteX18" fmla="*/ 351528 w 580548"/>
                  <a:gd name="connsiteY18" fmla="*/ 30671 h 336411"/>
                  <a:gd name="connsiteX19" fmla="*/ 507597 w 580548"/>
                  <a:gd name="connsiteY19" fmla="*/ 30671 h 336411"/>
                  <a:gd name="connsiteX20" fmla="*/ 507597 w 580548"/>
                  <a:gd name="connsiteY20" fmla="*/ 101914 h 336411"/>
                  <a:gd name="connsiteX21" fmla="*/ 496643 w 580548"/>
                  <a:gd name="connsiteY21" fmla="*/ 101914 h 336411"/>
                  <a:gd name="connsiteX22" fmla="*/ 506063 w 580548"/>
                  <a:gd name="connsiteY22" fmla="*/ 121324 h 336411"/>
                  <a:gd name="connsiteX23" fmla="*/ 511540 w 580548"/>
                  <a:gd name="connsiteY23" fmla="*/ 132584 h 336411"/>
                  <a:gd name="connsiteX24" fmla="*/ 549834 w 580548"/>
                  <a:gd name="connsiteY24" fmla="*/ 132584 h 336411"/>
                  <a:gd name="connsiteX25" fmla="*/ 549834 w 580548"/>
                  <a:gd name="connsiteY25" fmla="*/ 203827 h 336411"/>
                  <a:gd name="connsiteX26" fmla="*/ 546154 w 580548"/>
                  <a:gd name="connsiteY26" fmla="*/ 203827 h 336411"/>
                  <a:gd name="connsiteX27" fmla="*/ 574984 w 580548"/>
                  <a:gd name="connsiteY27" fmla="*/ 262759 h 336411"/>
                  <a:gd name="connsiteX28" fmla="*/ 580549 w 580548"/>
                  <a:gd name="connsiteY28" fmla="*/ 274326 h 336411"/>
                  <a:gd name="connsiteX29" fmla="*/ 580549 w 580548"/>
                  <a:gd name="connsiteY29" fmla="*/ 0 h 336411"/>
                  <a:gd name="connsiteX30" fmla="*/ 0 w 580548"/>
                  <a:gd name="connsiteY30" fmla="*/ 0 h 336411"/>
                  <a:gd name="connsiteX31" fmla="*/ 0 w 580548"/>
                  <a:gd name="connsiteY31" fmla="*/ 336412 h 336411"/>
                  <a:gd name="connsiteX32" fmla="*/ 275509 w 580548"/>
                  <a:gd name="connsiteY32" fmla="*/ 336412 h 336411"/>
                  <a:gd name="connsiteX33" fmla="*/ 284140 w 580548"/>
                  <a:gd name="connsiteY33" fmla="*/ 305741 h 336411"/>
                  <a:gd name="connsiteX34" fmla="*/ 533886 w 580548"/>
                  <a:gd name="connsiteY34" fmla="*/ 30671 h 336411"/>
                  <a:gd name="connsiteX35" fmla="*/ 549834 w 580548"/>
                  <a:gd name="connsiteY35" fmla="*/ 30671 h 336411"/>
                  <a:gd name="connsiteX36" fmla="*/ 549834 w 580548"/>
                  <a:gd name="connsiteY36" fmla="*/ 101914 h 336411"/>
                  <a:gd name="connsiteX37" fmla="*/ 533886 w 580548"/>
                  <a:gd name="connsiteY37" fmla="*/ 101914 h 336411"/>
                  <a:gd name="connsiteX38" fmla="*/ 533886 w 580548"/>
                  <a:gd name="connsiteY38" fmla="*/ 30671 h 336411"/>
                  <a:gd name="connsiteX39" fmla="*/ 232132 w 580548"/>
                  <a:gd name="connsiteY39" fmla="*/ 203827 h 336411"/>
                  <a:gd name="connsiteX40" fmla="*/ 76063 w 580548"/>
                  <a:gd name="connsiteY40" fmla="*/ 203827 h 336411"/>
                  <a:gd name="connsiteX41" fmla="*/ 76063 w 580548"/>
                  <a:gd name="connsiteY41" fmla="*/ 132584 h 336411"/>
                  <a:gd name="connsiteX42" fmla="*/ 232132 w 580548"/>
                  <a:gd name="connsiteY42" fmla="*/ 132584 h 336411"/>
                  <a:gd name="connsiteX43" fmla="*/ 232132 w 580548"/>
                  <a:gd name="connsiteY43" fmla="*/ 203827 h 336411"/>
                  <a:gd name="connsiteX44" fmla="*/ 169170 w 580548"/>
                  <a:gd name="connsiteY44" fmla="*/ 30671 h 336411"/>
                  <a:gd name="connsiteX45" fmla="*/ 325239 w 580548"/>
                  <a:gd name="connsiteY45" fmla="*/ 30671 h 336411"/>
                  <a:gd name="connsiteX46" fmla="*/ 325239 w 580548"/>
                  <a:gd name="connsiteY46" fmla="*/ 101914 h 336411"/>
                  <a:gd name="connsiteX47" fmla="*/ 169170 w 580548"/>
                  <a:gd name="connsiteY47" fmla="*/ 101914 h 336411"/>
                  <a:gd name="connsiteX48" fmla="*/ 169170 w 580548"/>
                  <a:gd name="connsiteY48" fmla="*/ 30671 h 336411"/>
                  <a:gd name="connsiteX49" fmla="*/ 30671 w 580548"/>
                  <a:gd name="connsiteY49" fmla="*/ 30671 h 336411"/>
                  <a:gd name="connsiteX50" fmla="*/ 142881 w 580548"/>
                  <a:gd name="connsiteY50" fmla="*/ 30671 h 336411"/>
                  <a:gd name="connsiteX51" fmla="*/ 142881 w 580548"/>
                  <a:gd name="connsiteY51" fmla="*/ 101914 h 336411"/>
                  <a:gd name="connsiteX52" fmla="*/ 30671 w 580548"/>
                  <a:gd name="connsiteY52" fmla="*/ 101914 h 336411"/>
                  <a:gd name="connsiteX53" fmla="*/ 30671 w 580548"/>
                  <a:gd name="connsiteY53" fmla="*/ 30671 h 336411"/>
                  <a:gd name="connsiteX54" fmla="*/ 30671 w 580548"/>
                  <a:gd name="connsiteY54" fmla="*/ 132584 h 336411"/>
                  <a:gd name="connsiteX55" fmla="*/ 49774 w 580548"/>
                  <a:gd name="connsiteY55" fmla="*/ 132584 h 336411"/>
                  <a:gd name="connsiteX56" fmla="*/ 49774 w 580548"/>
                  <a:gd name="connsiteY56" fmla="*/ 203827 h 336411"/>
                  <a:gd name="connsiteX57" fmla="*/ 30671 w 580548"/>
                  <a:gd name="connsiteY57" fmla="*/ 203827 h 336411"/>
                  <a:gd name="connsiteX58" fmla="*/ 30671 w 580548"/>
                  <a:gd name="connsiteY58" fmla="*/ 132584 h 336411"/>
                  <a:gd name="connsiteX59" fmla="*/ 108092 w 580548"/>
                  <a:gd name="connsiteY59" fmla="*/ 305741 h 336411"/>
                  <a:gd name="connsiteX60" fmla="*/ 30671 w 580548"/>
                  <a:gd name="connsiteY60" fmla="*/ 305741 h 336411"/>
                  <a:gd name="connsiteX61" fmla="*/ 30671 w 580548"/>
                  <a:gd name="connsiteY61" fmla="*/ 234498 h 336411"/>
                  <a:gd name="connsiteX62" fmla="*/ 108092 w 580548"/>
                  <a:gd name="connsiteY62" fmla="*/ 234498 h 336411"/>
                  <a:gd name="connsiteX63" fmla="*/ 108092 w 580548"/>
                  <a:gd name="connsiteY63" fmla="*/ 305741 h 33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80548" h="336411">
                    <a:moveTo>
                      <a:pt x="284140" y="305741"/>
                    </a:moveTo>
                    <a:lnTo>
                      <a:pt x="134381" y="305741"/>
                    </a:lnTo>
                    <a:lnTo>
                      <a:pt x="134381" y="234498"/>
                    </a:lnTo>
                    <a:lnTo>
                      <a:pt x="290450" y="234498"/>
                    </a:lnTo>
                    <a:lnTo>
                      <a:pt x="290450" y="292597"/>
                    </a:lnTo>
                    <a:cubicBezTo>
                      <a:pt x="295445" y="282432"/>
                      <a:pt x="305829" y="261094"/>
                      <a:pt x="316739" y="238660"/>
                    </a:cubicBezTo>
                    <a:lnTo>
                      <a:pt x="316739" y="234498"/>
                    </a:lnTo>
                    <a:lnTo>
                      <a:pt x="318754" y="234498"/>
                    </a:lnTo>
                    <a:cubicBezTo>
                      <a:pt x="323837" y="224026"/>
                      <a:pt x="329007" y="213467"/>
                      <a:pt x="333695" y="203827"/>
                    </a:cubicBezTo>
                    <a:lnTo>
                      <a:pt x="258421" y="203827"/>
                    </a:lnTo>
                    <a:lnTo>
                      <a:pt x="258421" y="132584"/>
                    </a:lnTo>
                    <a:lnTo>
                      <a:pt x="414490" y="132584"/>
                    </a:lnTo>
                    <a:lnTo>
                      <a:pt x="414490" y="192479"/>
                    </a:lnTo>
                    <a:lnTo>
                      <a:pt x="440779" y="137973"/>
                    </a:lnTo>
                    <a:lnTo>
                      <a:pt x="440779" y="132584"/>
                    </a:lnTo>
                    <a:lnTo>
                      <a:pt x="443364" y="132584"/>
                    </a:lnTo>
                    <a:lnTo>
                      <a:pt x="458173" y="101914"/>
                    </a:lnTo>
                    <a:lnTo>
                      <a:pt x="351528" y="101914"/>
                    </a:lnTo>
                    <a:lnTo>
                      <a:pt x="351528" y="30671"/>
                    </a:lnTo>
                    <a:lnTo>
                      <a:pt x="507597" y="30671"/>
                    </a:lnTo>
                    <a:lnTo>
                      <a:pt x="507597" y="101914"/>
                    </a:lnTo>
                    <a:lnTo>
                      <a:pt x="496643" y="101914"/>
                    </a:lnTo>
                    <a:lnTo>
                      <a:pt x="506063" y="121324"/>
                    </a:lnTo>
                    <a:cubicBezTo>
                      <a:pt x="507728" y="124785"/>
                      <a:pt x="509568" y="128597"/>
                      <a:pt x="511540" y="132584"/>
                    </a:cubicBezTo>
                    <a:lnTo>
                      <a:pt x="549834" y="132584"/>
                    </a:lnTo>
                    <a:lnTo>
                      <a:pt x="549834" y="203827"/>
                    </a:lnTo>
                    <a:lnTo>
                      <a:pt x="546154" y="203827"/>
                    </a:lnTo>
                    <a:cubicBezTo>
                      <a:pt x="559079" y="230379"/>
                      <a:pt x="570559" y="253908"/>
                      <a:pt x="574984" y="262759"/>
                    </a:cubicBezTo>
                    <a:cubicBezTo>
                      <a:pt x="577044" y="266527"/>
                      <a:pt x="578840" y="270382"/>
                      <a:pt x="580549" y="274326"/>
                    </a:cubicBezTo>
                    <a:lnTo>
                      <a:pt x="580549" y="0"/>
                    </a:lnTo>
                    <a:lnTo>
                      <a:pt x="0" y="0"/>
                    </a:lnTo>
                    <a:lnTo>
                      <a:pt x="0" y="336412"/>
                    </a:lnTo>
                    <a:lnTo>
                      <a:pt x="275509" y="336412"/>
                    </a:lnTo>
                    <a:cubicBezTo>
                      <a:pt x="277042" y="325852"/>
                      <a:pt x="279978" y="315512"/>
                      <a:pt x="284140" y="305741"/>
                    </a:cubicBezTo>
                    <a:close/>
                    <a:moveTo>
                      <a:pt x="533886" y="30671"/>
                    </a:moveTo>
                    <a:lnTo>
                      <a:pt x="549834" y="30671"/>
                    </a:lnTo>
                    <a:lnTo>
                      <a:pt x="549834" y="101914"/>
                    </a:lnTo>
                    <a:lnTo>
                      <a:pt x="533886" y="101914"/>
                    </a:lnTo>
                    <a:lnTo>
                      <a:pt x="533886" y="30671"/>
                    </a:lnTo>
                    <a:close/>
                    <a:moveTo>
                      <a:pt x="232132" y="203827"/>
                    </a:moveTo>
                    <a:lnTo>
                      <a:pt x="76063" y="203827"/>
                    </a:lnTo>
                    <a:lnTo>
                      <a:pt x="76063" y="132584"/>
                    </a:lnTo>
                    <a:lnTo>
                      <a:pt x="232132" y="132584"/>
                    </a:lnTo>
                    <a:lnTo>
                      <a:pt x="232132" y="203827"/>
                    </a:lnTo>
                    <a:close/>
                    <a:moveTo>
                      <a:pt x="169170" y="30671"/>
                    </a:moveTo>
                    <a:lnTo>
                      <a:pt x="325239" y="30671"/>
                    </a:lnTo>
                    <a:lnTo>
                      <a:pt x="325239" y="101914"/>
                    </a:lnTo>
                    <a:lnTo>
                      <a:pt x="169170" y="101914"/>
                    </a:lnTo>
                    <a:lnTo>
                      <a:pt x="169170" y="30671"/>
                    </a:lnTo>
                    <a:close/>
                    <a:moveTo>
                      <a:pt x="30671" y="30671"/>
                    </a:moveTo>
                    <a:lnTo>
                      <a:pt x="142881" y="30671"/>
                    </a:lnTo>
                    <a:lnTo>
                      <a:pt x="142881" y="101914"/>
                    </a:lnTo>
                    <a:lnTo>
                      <a:pt x="30671" y="101914"/>
                    </a:lnTo>
                    <a:lnTo>
                      <a:pt x="30671" y="30671"/>
                    </a:lnTo>
                    <a:close/>
                    <a:moveTo>
                      <a:pt x="30671" y="132584"/>
                    </a:moveTo>
                    <a:lnTo>
                      <a:pt x="49774" y="132584"/>
                    </a:lnTo>
                    <a:lnTo>
                      <a:pt x="49774" y="203827"/>
                    </a:lnTo>
                    <a:lnTo>
                      <a:pt x="30671" y="203827"/>
                    </a:lnTo>
                    <a:lnTo>
                      <a:pt x="30671" y="132584"/>
                    </a:lnTo>
                    <a:close/>
                    <a:moveTo>
                      <a:pt x="108092" y="305741"/>
                    </a:moveTo>
                    <a:lnTo>
                      <a:pt x="30671" y="305741"/>
                    </a:lnTo>
                    <a:lnTo>
                      <a:pt x="30671" y="234498"/>
                    </a:lnTo>
                    <a:lnTo>
                      <a:pt x="108092" y="234498"/>
                    </a:lnTo>
                    <a:lnTo>
                      <a:pt x="108092" y="305741"/>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0" name="Freeform: Shape 156">
                <a:extLst>
                  <a:ext uri="{FF2B5EF4-FFF2-40B4-BE49-F238E27FC236}">
                    <a16:creationId xmlns:a16="http://schemas.microsoft.com/office/drawing/2014/main" id="{82E93F3A-A48D-3235-AADF-3C6C138F0109}"/>
                  </a:ext>
                </a:extLst>
              </p:cNvPr>
              <p:cNvSpPr/>
              <p:nvPr/>
            </p:nvSpPr>
            <p:spPr>
              <a:xfrm>
                <a:off x="3866603" y="2883794"/>
                <a:ext cx="254911" cy="304952"/>
              </a:xfrm>
              <a:custGeom>
                <a:avLst/>
                <a:gdLst>
                  <a:gd name="connsiteX0" fmla="*/ 240819 w 254911"/>
                  <a:gd name="connsiteY0" fmla="*/ 142311 h 304952"/>
                  <a:gd name="connsiteX1" fmla="*/ 171504 w 254911"/>
                  <a:gd name="connsiteY1" fmla="*/ 0 h 304952"/>
                  <a:gd name="connsiteX2" fmla="*/ 113274 w 254911"/>
                  <a:gd name="connsiteY2" fmla="*/ 120710 h 304952"/>
                  <a:gd name="connsiteX3" fmla="*/ 104730 w 254911"/>
                  <a:gd name="connsiteY3" fmla="*/ 126450 h 304952"/>
                  <a:gd name="connsiteX4" fmla="*/ 96186 w 254911"/>
                  <a:gd name="connsiteY4" fmla="*/ 120710 h 304952"/>
                  <a:gd name="connsiteX5" fmla="*/ 66786 w 254911"/>
                  <a:gd name="connsiteY5" fmla="*/ 61078 h 304952"/>
                  <a:gd name="connsiteX6" fmla="*/ 11404 w 254911"/>
                  <a:gd name="connsiteY6" fmla="*/ 174822 h 304952"/>
                  <a:gd name="connsiteX7" fmla="*/ 12 w 254911"/>
                  <a:gd name="connsiteY7" fmla="*/ 221485 h 304952"/>
                  <a:gd name="connsiteX8" fmla="*/ 66392 w 254911"/>
                  <a:gd name="connsiteY8" fmla="*/ 304952 h 304952"/>
                  <a:gd name="connsiteX9" fmla="*/ 102802 w 254911"/>
                  <a:gd name="connsiteY9" fmla="*/ 304952 h 304952"/>
                  <a:gd name="connsiteX10" fmla="*/ 75549 w 254911"/>
                  <a:gd name="connsiteY10" fmla="*/ 196116 h 304952"/>
                  <a:gd name="connsiteX11" fmla="*/ 115070 w 254911"/>
                  <a:gd name="connsiteY11" fmla="*/ 225341 h 304952"/>
                  <a:gd name="connsiteX12" fmla="*/ 169007 w 254911"/>
                  <a:gd name="connsiteY12" fmla="*/ 140953 h 304952"/>
                  <a:gd name="connsiteX13" fmla="*/ 169007 w 254911"/>
                  <a:gd name="connsiteY13" fmla="*/ 139200 h 304952"/>
                  <a:gd name="connsiteX14" fmla="*/ 164581 w 254911"/>
                  <a:gd name="connsiteY14" fmla="*/ 304952 h 304952"/>
                  <a:gd name="connsiteX15" fmla="*/ 171373 w 254911"/>
                  <a:gd name="connsiteY15" fmla="*/ 304952 h 304952"/>
                  <a:gd name="connsiteX16" fmla="*/ 254884 w 254911"/>
                  <a:gd name="connsiteY16" fmla="*/ 200848 h 304952"/>
                  <a:gd name="connsiteX17" fmla="*/ 240776 w 254911"/>
                  <a:gd name="connsiteY17" fmla="*/ 142355 h 304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4911" h="304952">
                    <a:moveTo>
                      <a:pt x="240819" y="142311"/>
                    </a:moveTo>
                    <a:cubicBezTo>
                      <a:pt x="231794" y="124259"/>
                      <a:pt x="189731" y="37637"/>
                      <a:pt x="171504" y="0"/>
                    </a:cubicBezTo>
                    <a:lnTo>
                      <a:pt x="113274" y="120710"/>
                    </a:lnTo>
                    <a:cubicBezTo>
                      <a:pt x="111521" y="124259"/>
                      <a:pt x="108279" y="126450"/>
                      <a:pt x="104730" y="126450"/>
                    </a:cubicBezTo>
                    <a:cubicBezTo>
                      <a:pt x="101181" y="126450"/>
                      <a:pt x="97939" y="124259"/>
                      <a:pt x="96186" y="120710"/>
                    </a:cubicBezTo>
                    <a:lnTo>
                      <a:pt x="66786" y="61078"/>
                    </a:lnTo>
                    <a:cubicBezTo>
                      <a:pt x="51101" y="93370"/>
                      <a:pt x="18546" y="160231"/>
                      <a:pt x="11404" y="174822"/>
                    </a:cubicBezTo>
                    <a:cubicBezTo>
                      <a:pt x="3736" y="188755"/>
                      <a:pt x="-251" y="204967"/>
                      <a:pt x="12" y="221485"/>
                    </a:cubicBezTo>
                    <a:cubicBezTo>
                      <a:pt x="12" y="267228"/>
                      <a:pt x="30683" y="304952"/>
                      <a:pt x="66392" y="304952"/>
                    </a:cubicBezTo>
                    <a:lnTo>
                      <a:pt x="102802" y="304952"/>
                    </a:lnTo>
                    <a:cubicBezTo>
                      <a:pt x="62142" y="268060"/>
                      <a:pt x="66567" y="213072"/>
                      <a:pt x="75549" y="196116"/>
                    </a:cubicBezTo>
                    <a:cubicBezTo>
                      <a:pt x="75549" y="196116"/>
                      <a:pt x="95704" y="224990"/>
                      <a:pt x="115070" y="225341"/>
                    </a:cubicBezTo>
                    <a:cubicBezTo>
                      <a:pt x="142367" y="225823"/>
                      <a:pt x="156213" y="197869"/>
                      <a:pt x="169007" y="140953"/>
                    </a:cubicBezTo>
                    <a:lnTo>
                      <a:pt x="169007" y="139200"/>
                    </a:lnTo>
                    <a:cubicBezTo>
                      <a:pt x="193061" y="157471"/>
                      <a:pt x="220139" y="242297"/>
                      <a:pt x="164581" y="304952"/>
                    </a:cubicBezTo>
                    <a:lnTo>
                      <a:pt x="171373" y="304952"/>
                    </a:lnTo>
                    <a:cubicBezTo>
                      <a:pt x="217466" y="304952"/>
                      <a:pt x="254884" y="258289"/>
                      <a:pt x="254884" y="200848"/>
                    </a:cubicBezTo>
                    <a:cubicBezTo>
                      <a:pt x="255322" y="180167"/>
                      <a:pt x="250415" y="159793"/>
                      <a:pt x="240776" y="142355"/>
                    </a:cubicBez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grpSp>
        <p:nvGrpSpPr>
          <p:cNvPr id="20" name="Group 19">
            <a:extLst>
              <a:ext uri="{FF2B5EF4-FFF2-40B4-BE49-F238E27FC236}">
                <a16:creationId xmlns:a16="http://schemas.microsoft.com/office/drawing/2014/main" id="{C59F00B6-2315-2552-20BF-EF56E78E93DB}"/>
              </a:ext>
            </a:extLst>
          </p:cNvPr>
          <p:cNvGrpSpPr>
            <a:grpSpLocks noChangeAspect="1"/>
          </p:cNvGrpSpPr>
          <p:nvPr/>
        </p:nvGrpSpPr>
        <p:grpSpPr>
          <a:xfrm>
            <a:off x="4487210" y="1951839"/>
            <a:ext cx="457202" cy="457200"/>
            <a:chOff x="4686723" y="1587682"/>
            <a:chExt cx="547621" cy="547619"/>
          </a:xfrm>
        </p:grpSpPr>
        <p:sp>
          <p:nvSpPr>
            <p:cNvPr id="35" name="Oval 34">
              <a:extLst>
                <a:ext uri="{FF2B5EF4-FFF2-40B4-BE49-F238E27FC236}">
                  <a16:creationId xmlns:a16="http://schemas.microsoft.com/office/drawing/2014/main" id="{695D26F2-78DC-3A50-7E1E-24612C6BD256}"/>
                </a:ext>
              </a:extLst>
            </p:cNvPr>
            <p:cNvSpPr>
              <a:spLocks noChangeAspect="1"/>
            </p:cNvSpPr>
            <p:nvPr/>
          </p:nvSpPr>
          <p:spPr>
            <a:xfrm>
              <a:off x="4686723" y="1587682"/>
              <a:ext cx="547621" cy="547619"/>
            </a:xfrm>
            <a:prstGeom prst="ellipse">
              <a:avLst/>
            </a:pr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6" name="Google Shape;3149;p83">
              <a:extLst>
                <a:ext uri="{FF2B5EF4-FFF2-40B4-BE49-F238E27FC236}">
                  <a16:creationId xmlns:a16="http://schemas.microsoft.com/office/drawing/2014/main" id="{992993F9-466F-537E-16B2-09074CB360B3}"/>
                </a:ext>
              </a:extLst>
            </p:cNvPr>
            <p:cNvSpPr>
              <a:spLocks noChangeAspect="1"/>
            </p:cNvSpPr>
            <p:nvPr/>
          </p:nvSpPr>
          <p:spPr>
            <a:xfrm>
              <a:off x="4775072" y="1678710"/>
              <a:ext cx="365562" cy="365562"/>
            </a:xfrm>
            <a:custGeom>
              <a:avLst/>
              <a:gdLst/>
              <a:ahLst/>
              <a:cxnLst/>
              <a:rect l="l" t="t" r="r" b="b"/>
              <a:pathLst>
                <a:path w="584492" h="584492" extrusionOk="0">
                  <a:moveTo>
                    <a:pt x="292246" y="0"/>
                  </a:moveTo>
                  <a:cubicBezTo>
                    <a:pt x="130832" y="0"/>
                    <a:pt x="0" y="130832"/>
                    <a:pt x="0" y="292246"/>
                  </a:cubicBezTo>
                  <a:cubicBezTo>
                    <a:pt x="0" y="453661"/>
                    <a:pt x="130832" y="584492"/>
                    <a:pt x="292246" y="584492"/>
                  </a:cubicBezTo>
                  <a:cubicBezTo>
                    <a:pt x="453661" y="584492"/>
                    <a:pt x="584492" y="453661"/>
                    <a:pt x="584492" y="292246"/>
                  </a:cubicBezTo>
                  <a:cubicBezTo>
                    <a:pt x="584492" y="130832"/>
                    <a:pt x="453617" y="0"/>
                    <a:pt x="292246" y="0"/>
                  </a:cubicBezTo>
                  <a:close/>
                  <a:moveTo>
                    <a:pt x="172982" y="333520"/>
                  </a:moveTo>
                  <a:lnTo>
                    <a:pt x="172982" y="307581"/>
                  </a:lnTo>
                  <a:lnTo>
                    <a:pt x="59895" y="307581"/>
                  </a:lnTo>
                  <a:lnTo>
                    <a:pt x="59895" y="276911"/>
                  </a:lnTo>
                  <a:lnTo>
                    <a:pt x="172982" y="276911"/>
                  </a:lnTo>
                  <a:lnTo>
                    <a:pt x="172982" y="250972"/>
                  </a:lnTo>
                  <a:lnTo>
                    <a:pt x="244488" y="292246"/>
                  </a:lnTo>
                  <a:lnTo>
                    <a:pt x="172982" y="333520"/>
                  </a:lnTo>
                  <a:close/>
                  <a:moveTo>
                    <a:pt x="292246" y="519646"/>
                  </a:moveTo>
                  <a:lnTo>
                    <a:pt x="250972" y="448140"/>
                  </a:lnTo>
                  <a:lnTo>
                    <a:pt x="276911" y="448140"/>
                  </a:lnTo>
                  <a:lnTo>
                    <a:pt x="276911" y="335053"/>
                  </a:lnTo>
                  <a:lnTo>
                    <a:pt x="307581" y="335053"/>
                  </a:lnTo>
                  <a:lnTo>
                    <a:pt x="307581" y="448140"/>
                  </a:lnTo>
                  <a:lnTo>
                    <a:pt x="333520" y="448140"/>
                  </a:lnTo>
                  <a:lnTo>
                    <a:pt x="292246" y="519646"/>
                  </a:lnTo>
                  <a:close/>
                  <a:moveTo>
                    <a:pt x="307581" y="136352"/>
                  </a:moveTo>
                  <a:lnTo>
                    <a:pt x="307581" y="249439"/>
                  </a:lnTo>
                  <a:lnTo>
                    <a:pt x="276911" y="249439"/>
                  </a:lnTo>
                  <a:lnTo>
                    <a:pt x="276911" y="136352"/>
                  </a:lnTo>
                  <a:lnTo>
                    <a:pt x="250972" y="136352"/>
                  </a:lnTo>
                  <a:lnTo>
                    <a:pt x="292246" y="64846"/>
                  </a:lnTo>
                  <a:lnTo>
                    <a:pt x="333520" y="136352"/>
                  </a:lnTo>
                  <a:lnTo>
                    <a:pt x="307581" y="136352"/>
                  </a:lnTo>
                  <a:close/>
                  <a:moveTo>
                    <a:pt x="411511" y="307581"/>
                  </a:moveTo>
                  <a:lnTo>
                    <a:pt x="411511" y="333520"/>
                  </a:lnTo>
                  <a:lnTo>
                    <a:pt x="340004" y="292246"/>
                  </a:lnTo>
                  <a:lnTo>
                    <a:pt x="411511" y="250972"/>
                  </a:lnTo>
                  <a:lnTo>
                    <a:pt x="411511" y="276911"/>
                  </a:lnTo>
                  <a:lnTo>
                    <a:pt x="524597" y="276911"/>
                  </a:lnTo>
                  <a:lnTo>
                    <a:pt x="524597" y="307581"/>
                  </a:lnTo>
                  <a:lnTo>
                    <a:pt x="411511" y="307581"/>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mn-ea"/>
                <a:cs typeface="+mn-cs"/>
                <a:sym typeface="Arial"/>
              </a:endParaRPr>
            </a:p>
          </p:txBody>
        </p:sp>
      </p:grpSp>
      <p:grpSp>
        <p:nvGrpSpPr>
          <p:cNvPr id="22" name="Group 21">
            <a:extLst>
              <a:ext uri="{FF2B5EF4-FFF2-40B4-BE49-F238E27FC236}">
                <a16:creationId xmlns:a16="http://schemas.microsoft.com/office/drawing/2014/main" id="{8A0E8BDA-773B-5E79-66CD-ED04BE6C5B06}"/>
              </a:ext>
            </a:extLst>
          </p:cNvPr>
          <p:cNvGrpSpPr>
            <a:grpSpLocks noChangeAspect="1"/>
          </p:cNvGrpSpPr>
          <p:nvPr/>
        </p:nvGrpSpPr>
        <p:grpSpPr>
          <a:xfrm>
            <a:off x="3683206" y="1951839"/>
            <a:ext cx="457202" cy="457200"/>
            <a:chOff x="5341314" y="5151711"/>
            <a:chExt cx="547621" cy="547619"/>
          </a:xfrm>
        </p:grpSpPr>
        <p:sp>
          <p:nvSpPr>
            <p:cNvPr id="26" name="Oval 25">
              <a:extLst>
                <a:ext uri="{FF2B5EF4-FFF2-40B4-BE49-F238E27FC236}">
                  <a16:creationId xmlns:a16="http://schemas.microsoft.com/office/drawing/2014/main" id="{2AD4482E-FBFB-1FBA-B7FD-F3FCE2FC8737}"/>
                </a:ext>
              </a:extLst>
            </p:cNvPr>
            <p:cNvSpPr>
              <a:spLocks noChangeAspect="1"/>
            </p:cNvSpPr>
            <p:nvPr/>
          </p:nvSpPr>
          <p:spPr>
            <a:xfrm>
              <a:off x="5341314" y="5151711"/>
              <a:ext cx="547621" cy="547619"/>
            </a:xfrm>
            <a:prstGeom prst="ellipse">
              <a:avLst/>
            </a:pr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nvGrpSpPr>
            <p:cNvPr id="27" name="Group 26">
              <a:extLst>
                <a:ext uri="{FF2B5EF4-FFF2-40B4-BE49-F238E27FC236}">
                  <a16:creationId xmlns:a16="http://schemas.microsoft.com/office/drawing/2014/main" id="{FCD014BC-8945-006A-CFAB-0F6D0B5A764E}"/>
                </a:ext>
              </a:extLst>
            </p:cNvPr>
            <p:cNvGrpSpPr/>
            <p:nvPr/>
          </p:nvGrpSpPr>
          <p:grpSpPr>
            <a:xfrm>
              <a:off x="5475978" y="5286375"/>
              <a:ext cx="278292" cy="278290"/>
              <a:chOff x="7453826" y="4235509"/>
              <a:chExt cx="199845" cy="199844"/>
            </a:xfrm>
            <a:solidFill>
              <a:schemeClr val="bg1"/>
            </a:solidFill>
          </p:grpSpPr>
          <p:sp>
            <p:nvSpPr>
              <p:cNvPr id="28" name="Freeform: Shape 110">
                <a:extLst>
                  <a:ext uri="{FF2B5EF4-FFF2-40B4-BE49-F238E27FC236}">
                    <a16:creationId xmlns:a16="http://schemas.microsoft.com/office/drawing/2014/main" id="{ED73A3F0-F843-36B3-3091-91CCDA4DF2E5}"/>
                  </a:ext>
                </a:extLst>
              </p:cNvPr>
              <p:cNvSpPr/>
              <p:nvPr/>
            </p:nvSpPr>
            <p:spPr>
              <a:xfrm>
                <a:off x="7453826" y="4235509"/>
                <a:ext cx="199845" cy="199844"/>
              </a:xfrm>
              <a:custGeom>
                <a:avLst/>
                <a:gdLst>
                  <a:gd name="connsiteX0" fmla="*/ 539067 w 539067"/>
                  <a:gd name="connsiteY0" fmla="*/ 539067 h 539067"/>
                  <a:gd name="connsiteX1" fmla="*/ 366846 w 539067"/>
                  <a:gd name="connsiteY1" fmla="*/ 539067 h 539067"/>
                  <a:gd name="connsiteX2" fmla="*/ 366846 w 539067"/>
                  <a:gd name="connsiteY2" fmla="*/ 511064 h 539067"/>
                  <a:gd name="connsiteX3" fmla="*/ 511064 w 539067"/>
                  <a:gd name="connsiteY3" fmla="*/ 511064 h 539067"/>
                  <a:gd name="connsiteX4" fmla="*/ 511064 w 539067"/>
                  <a:gd name="connsiteY4" fmla="*/ 28004 h 539067"/>
                  <a:gd name="connsiteX5" fmla="*/ 28004 w 539067"/>
                  <a:gd name="connsiteY5" fmla="*/ 28004 h 539067"/>
                  <a:gd name="connsiteX6" fmla="*/ 28004 w 539067"/>
                  <a:gd name="connsiteY6" fmla="*/ 511064 h 539067"/>
                  <a:gd name="connsiteX7" fmla="*/ 173462 w 539067"/>
                  <a:gd name="connsiteY7" fmla="*/ 511064 h 539067"/>
                  <a:gd name="connsiteX8" fmla="*/ 173462 w 539067"/>
                  <a:gd name="connsiteY8" fmla="*/ 539067 h 539067"/>
                  <a:gd name="connsiteX9" fmla="*/ 0 w 539067"/>
                  <a:gd name="connsiteY9" fmla="*/ 539067 h 539067"/>
                  <a:gd name="connsiteX10" fmla="*/ 0 w 539067"/>
                  <a:gd name="connsiteY10" fmla="*/ 0 h 539067"/>
                  <a:gd name="connsiteX11" fmla="*/ 539067 w 539067"/>
                  <a:gd name="connsiteY11" fmla="*/ 0 h 539067"/>
                  <a:gd name="connsiteX12" fmla="*/ 539067 w 539067"/>
                  <a:gd name="connsiteY12" fmla="*/ 539067 h 539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67" h="539067">
                    <a:moveTo>
                      <a:pt x="539067" y="539067"/>
                    </a:moveTo>
                    <a:lnTo>
                      <a:pt x="366846" y="539067"/>
                    </a:lnTo>
                    <a:lnTo>
                      <a:pt x="366846" y="511064"/>
                    </a:lnTo>
                    <a:lnTo>
                      <a:pt x="511064" y="511064"/>
                    </a:lnTo>
                    <a:lnTo>
                      <a:pt x="511064" y="28004"/>
                    </a:lnTo>
                    <a:lnTo>
                      <a:pt x="28004" y="28004"/>
                    </a:lnTo>
                    <a:lnTo>
                      <a:pt x="28004" y="511064"/>
                    </a:lnTo>
                    <a:lnTo>
                      <a:pt x="173462" y="511064"/>
                    </a:lnTo>
                    <a:lnTo>
                      <a:pt x="173462" y="539067"/>
                    </a:lnTo>
                    <a:lnTo>
                      <a:pt x="0" y="539067"/>
                    </a:lnTo>
                    <a:lnTo>
                      <a:pt x="0" y="0"/>
                    </a:lnTo>
                    <a:lnTo>
                      <a:pt x="539067" y="0"/>
                    </a:lnTo>
                    <a:lnTo>
                      <a:pt x="539067" y="539067"/>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Freeform: Shape 115">
                <a:extLst>
                  <a:ext uri="{FF2B5EF4-FFF2-40B4-BE49-F238E27FC236}">
                    <a16:creationId xmlns:a16="http://schemas.microsoft.com/office/drawing/2014/main" id="{72A5720F-B511-E332-A37D-9417EFA68164}"/>
                  </a:ext>
                </a:extLst>
              </p:cNvPr>
              <p:cNvSpPr/>
              <p:nvPr/>
            </p:nvSpPr>
            <p:spPr>
              <a:xfrm>
                <a:off x="7491571" y="4315610"/>
                <a:ext cx="51745" cy="27941"/>
              </a:xfrm>
              <a:custGeom>
                <a:avLst/>
                <a:gdLst>
                  <a:gd name="connsiteX0" fmla="*/ 74289 w 139577"/>
                  <a:gd name="connsiteY0" fmla="*/ 23683 h 75369"/>
                  <a:gd name="connsiteX1" fmla="*/ 0 w 139577"/>
                  <a:gd name="connsiteY1" fmla="*/ 23683 h 75369"/>
                  <a:gd name="connsiteX2" fmla="*/ 0 w 139577"/>
                  <a:gd name="connsiteY2" fmla="*/ 51686 h 75369"/>
                  <a:gd name="connsiteX3" fmla="*/ 74289 w 139577"/>
                  <a:gd name="connsiteY3" fmla="*/ 51686 h 75369"/>
                  <a:gd name="connsiteX4" fmla="*/ 74289 w 139577"/>
                  <a:gd name="connsiteY4" fmla="*/ 75369 h 75369"/>
                  <a:gd name="connsiteX5" fmla="*/ 139577 w 139577"/>
                  <a:gd name="connsiteY5" fmla="*/ 37685 h 75369"/>
                  <a:gd name="connsiteX6" fmla="*/ 74289 w 139577"/>
                  <a:gd name="connsiteY6" fmla="*/ 0 h 75369"/>
                  <a:gd name="connsiteX7" fmla="*/ 74289 w 139577"/>
                  <a:gd name="connsiteY7" fmla="*/ 23683 h 75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577" h="75369">
                    <a:moveTo>
                      <a:pt x="74289" y="23683"/>
                    </a:moveTo>
                    <a:lnTo>
                      <a:pt x="0" y="23683"/>
                    </a:lnTo>
                    <a:lnTo>
                      <a:pt x="0" y="51686"/>
                    </a:lnTo>
                    <a:lnTo>
                      <a:pt x="74289" y="51686"/>
                    </a:lnTo>
                    <a:lnTo>
                      <a:pt x="74289" y="75369"/>
                    </a:lnTo>
                    <a:lnTo>
                      <a:pt x="139577" y="37685"/>
                    </a:lnTo>
                    <a:lnTo>
                      <a:pt x="74289" y="0"/>
                    </a:lnTo>
                    <a:lnTo>
                      <a:pt x="74289" y="23683"/>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Freeform: Shape 116">
                <a:extLst>
                  <a:ext uri="{FF2B5EF4-FFF2-40B4-BE49-F238E27FC236}">
                    <a16:creationId xmlns:a16="http://schemas.microsoft.com/office/drawing/2014/main" id="{54EC41A9-BC35-CAB3-3940-0DA759BFFC90}"/>
                  </a:ext>
                </a:extLst>
              </p:cNvPr>
              <p:cNvSpPr/>
              <p:nvPr/>
            </p:nvSpPr>
            <p:spPr>
              <a:xfrm>
                <a:off x="7550583" y="4276590"/>
                <a:ext cx="71247" cy="108695"/>
              </a:xfrm>
              <a:custGeom>
                <a:avLst/>
                <a:gdLst>
                  <a:gd name="connsiteX0" fmla="*/ 192184 w 192184"/>
                  <a:gd name="connsiteY0" fmla="*/ 142938 h 293196"/>
                  <a:gd name="connsiteX1" fmla="*/ 126896 w 192184"/>
                  <a:gd name="connsiteY1" fmla="*/ 105253 h 293196"/>
                  <a:gd name="connsiteX2" fmla="*/ 126896 w 192184"/>
                  <a:gd name="connsiteY2" fmla="*/ 128936 h 293196"/>
                  <a:gd name="connsiteX3" fmla="*/ 104973 w 192184"/>
                  <a:gd name="connsiteY3" fmla="*/ 128936 h 293196"/>
                  <a:gd name="connsiteX4" fmla="*/ 104973 w 192184"/>
                  <a:gd name="connsiteY4" fmla="*/ 0 h 293196"/>
                  <a:gd name="connsiteX5" fmla="*/ 0 w 192184"/>
                  <a:gd name="connsiteY5" fmla="*/ 0 h 293196"/>
                  <a:gd name="connsiteX6" fmla="*/ 0 w 192184"/>
                  <a:gd name="connsiteY6" fmla="*/ 28004 h 293196"/>
                  <a:gd name="connsiteX7" fmla="*/ 76970 w 192184"/>
                  <a:gd name="connsiteY7" fmla="*/ 28004 h 293196"/>
                  <a:gd name="connsiteX8" fmla="*/ 76970 w 192184"/>
                  <a:gd name="connsiteY8" fmla="*/ 128936 h 293196"/>
                  <a:gd name="connsiteX9" fmla="*/ 22123 w 192184"/>
                  <a:gd name="connsiteY9" fmla="*/ 128936 h 293196"/>
                  <a:gd name="connsiteX10" fmla="*/ 22123 w 192184"/>
                  <a:gd name="connsiteY10" fmla="*/ 156940 h 293196"/>
                  <a:gd name="connsiteX11" fmla="*/ 76970 w 192184"/>
                  <a:gd name="connsiteY11" fmla="*/ 156940 h 293196"/>
                  <a:gd name="connsiteX12" fmla="*/ 76970 w 192184"/>
                  <a:gd name="connsiteY12" fmla="*/ 265193 h 293196"/>
                  <a:gd name="connsiteX13" fmla="*/ 0 w 192184"/>
                  <a:gd name="connsiteY13" fmla="*/ 265193 h 293196"/>
                  <a:gd name="connsiteX14" fmla="*/ 0 w 192184"/>
                  <a:gd name="connsiteY14" fmla="*/ 293197 h 293196"/>
                  <a:gd name="connsiteX15" fmla="*/ 104973 w 192184"/>
                  <a:gd name="connsiteY15" fmla="*/ 293197 h 293196"/>
                  <a:gd name="connsiteX16" fmla="*/ 104973 w 192184"/>
                  <a:gd name="connsiteY16" fmla="*/ 156940 h 293196"/>
                  <a:gd name="connsiteX17" fmla="*/ 126896 w 192184"/>
                  <a:gd name="connsiteY17" fmla="*/ 156940 h 293196"/>
                  <a:gd name="connsiteX18" fmla="*/ 126896 w 192184"/>
                  <a:gd name="connsiteY18" fmla="*/ 180623 h 293196"/>
                  <a:gd name="connsiteX19" fmla="*/ 192184 w 192184"/>
                  <a:gd name="connsiteY19" fmla="*/ 142938 h 293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2184" h="293196">
                    <a:moveTo>
                      <a:pt x="192184" y="142938"/>
                    </a:moveTo>
                    <a:lnTo>
                      <a:pt x="126896" y="105253"/>
                    </a:lnTo>
                    <a:lnTo>
                      <a:pt x="126896" y="128936"/>
                    </a:lnTo>
                    <a:lnTo>
                      <a:pt x="104973" y="128936"/>
                    </a:lnTo>
                    <a:lnTo>
                      <a:pt x="104973" y="0"/>
                    </a:lnTo>
                    <a:lnTo>
                      <a:pt x="0" y="0"/>
                    </a:lnTo>
                    <a:lnTo>
                      <a:pt x="0" y="28004"/>
                    </a:lnTo>
                    <a:lnTo>
                      <a:pt x="76970" y="28004"/>
                    </a:lnTo>
                    <a:lnTo>
                      <a:pt x="76970" y="128936"/>
                    </a:lnTo>
                    <a:lnTo>
                      <a:pt x="22123" y="128936"/>
                    </a:lnTo>
                    <a:lnTo>
                      <a:pt x="22123" y="156940"/>
                    </a:lnTo>
                    <a:lnTo>
                      <a:pt x="76970" y="156940"/>
                    </a:lnTo>
                    <a:lnTo>
                      <a:pt x="76970" y="265193"/>
                    </a:lnTo>
                    <a:lnTo>
                      <a:pt x="0" y="265193"/>
                    </a:lnTo>
                    <a:lnTo>
                      <a:pt x="0" y="293197"/>
                    </a:lnTo>
                    <a:lnTo>
                      <a:pt x="104973" y="293197"/>
                    </a:lnTo>
                    <a:lnTo>
                      <a:pt x="104973" y="156940"/>
                    </a:lnTo>
                    <a:lnTo>
                      <a:pt x="126896" y="156940"/>
                    </a:lnTo>
                    <a:lnTo>
                      <a:pt x="126896" y="180623"/>
                    </a:lnTo>
                    <a:lnTo>
                      <a:pt x="192184" y="142938"/>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1" name="Freeform: Shape 124">
                <a:extLst>
                  <a:ext uri="{FF2B5EF4-FFF2-40B4-BE49-F238E27FC236}">
                    <a16:creationId xmlns:a16="http://schemas.microsoft.com/office/drawing/2014/main" id="{36CF6B0F-8873-B105-CA49-18BEEB59C17F}"/>
                  </a:ext>
                </a:extLst>
              </p:cNvPr>
              <p:cNvSpPr/>
              <p:nvPr/>
            </p:nvSpPr>
            <p:spPr>
              <a:xfrm>
                <a:off x="7491571" y="4266446"/>
                <a:ext cx="51745" cy="27956"/>
              </a:xfrm>
              <a:custGeom>
                <a:avLst/>
                <a:gdLst>
                  <a:gd name="connsiteX0" fmla="*/ 74289 w 139577"/>
                  <a:gd name="connsiteY0" fmla="*/ 23723 h 75409"/>
                  <a:gd name="connsiteX1" fmla="*/ 0 w 139577"/>
                  <a:gd name="connsiteY1" fmla="*/ 23723 h 75409"/>
                  <a:gd name="connsiteX2" fmla="*/ 0 w 139577"/>
                  <a:gd name="connsiteY2" fmla="*/ 51726 h 75409"/>
                  <a:gd name="connsiteX3" fmla="*/ 74289 w 139577"/>
                  <a:gd name="connsiteY3" fmla="*/ 51726 h 75409"/>
                  <a:gd name="connsiteX4" fmla="*/ 74289 w 139577"/>
                  <a:gd name="connsiteY4" fmla="*/ 75409 h 75409"/>
                  <a:gd name="connsiteX5" fmla="*/ 139577 w 139577"/>
                  <a:gd name="connsiteY5" fmla="*/ 37725 h 75409"/>
                  <a:gd name="connsiteX6" fmla="*/ 74289 w 139577"/>
                  <a:gd name="connsiteY6" fmla="*/ 0 h 75409"/>
                  <a:gd name="connsiteX7" fmla="*/ 74289 w 139577"/>
                  <a:gd name="connsiteY7" fmla="*/ 23723 h 7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577" h="75409">
                    <a:moveTo>
                      <a:pt x="74289" y="23723"/>
                    </a:moveTo>
                    <a:lnTo>
                      <a:pt x="0" y="23723"/>
                    </a:lnTo>
                    <a:lnTo>
                      <a:pt x="0" y="51726"/>
                    </a:lnTo>
                    <a:lnTo>
                      <a:pt x="74289" y="51726"/>
                    </a:lnTo>
                    <a:lnTo>
                      <a:pt x="74289" y="75409"/>
                    </a:lnTo>
                    <a:lnTo>
                      <a:pt x="139577" y="37725"/>
                    </a:lnTo>
                    <a:lnTo>
                      <a:pt x="74289" y="0"/>
                    </a:lnTo>
                    <a:lnTo>
                      <a:pt x="74289" y="23723"/>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2" name="Freeform: Shape 170">
                <a:extLst>
                  <a:ext uri="{FF2B5EF4-FFF2-40B4-BE49-F238E27FC236}">
                    <a16:creationId xmlns:a16="http://schemas.microsoft.com/office/drawing/2014/main" id="{718BBDF0-1EC1-F5FC-1EA2-F2B81B0FA1CE}"/>
                  </a:ext>
                </a:extLst>
              </p:cNvPr>
              <p:cNvSpPr/>
              <p:nvPr/>
            </p:nvSpPr>
            <p:spPr>
              <a:xfrm>
                <a:off x="7491571" y="4364759"/>
                <a:ext cx="51745" cy="27956"/>
              </a:xfrm>
              <a:custGeom>
                <a:avLst/>
                <a:gdLst>
                  <a:gd name="connsiteX0" fmla="*/ 74289 w 139577"/>
                  <a:gd name="connsiteY0" fmla="*/ 23683 h 75409"/>
                  <a:gd name="connsiteX1" fmla="*/ 0 w 139577"/>
                  <a:gd name="connsiteY1" fmla="*/ 23683 h 75409"/>
                  <a:gd name="connsiteX2" fmla="*/ 0 w 139577"/>
                  <a:gd name="connsiteY2" fmla="*/ 51686 h 75409"/>
                  <a:gd name="connsiteX3" fmla="*/ 74289 w 139577"/>
                  <a:gd name="connsiteY3" fmla="*/ 51686 h 75409"/>
                  <a:gd name="connsiteX4" fmla="*/ 74289 w 139577"/>
                  <a:gd name="connsiteY4" fmla="*/ 75409 h 75409"/>
                  <a:gd name="connsiteX5" fmla="*/ 139577 w 139577"/>
                  <a:gd name="connsiteY5" fmla="*/ 37685 h 75409"/>
                  <a:gd name="connsiteX6" fmla="*/ 74289 w 139577"/>
                  <a:gd name="connsiteY6" fmla="*/ 0 h 75409"/>
                  <a:gd name="connsiteX7" fmla="*/ 74289 w 139577"/>
                  <a:gd name="connsiteY7" fmla="*/ 23683 h 7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577" h="75409">
                    <a:moveTo>
                      <a:pt x="74289" y="23683"/>
                    </a:moveTo>
                    <a:lnTo>
                      <a:pt x="0" y="23683"/>
                    </a:lnTo>
                    <a:lnTo>
                      <a:pt x="0" y="51686"/>
                    </a:lnTo>
                    <a:lnTo>
                      <a:pt x="74289" y="51686"/>
                    </a:lnTo>
                    <a:lnTo>
                      <a:pt x="74289" y="75409"/>
                    </a:lnTo>
                    <a:lnTo>
                      <a:pt x="139577" y="37685"/>
                    </a:lnTo>
                    <a:lnTo>
                      <a:pt x="74289" y="0"/>
                    </a:lnTo>
                    <a:lnTo>
                      <a:pt x="74289" y="23683"/>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106" name="Group 105">
            <a:extLst>
              <a:ext uri="{FF2B5EF4-FFF2-40B4-BE49-F238E27FC236}">
                <a16:creationId xmlns:a16="http://schemas.microsoft.com/office/drawing/2014/main" id="{66903D8B-C1E9-8761-D5FF-F471658424B3}"/>
              </a:ext>
            </a:extLst>
          </p:cNvPr>
          <p:cNvGrpSpPr/>
          <p:nvPr/>
        </p:nvGrpSpPr>
        <p:grpSpPr>
          <a:xfrm>
            <a:off x="5291213" y="1951839"/>
            <a:ext cx="457202" cy="457200"/>
            <a:chOff x="4637608" y="1958564"/>
            <a:chExt cx="457202" cy="457200"/>
          </a:xfrm>
        </p:grpSpPr>
        <p:sp>
          <p:nvSpPr>
            <p:cNvPr id="24" name="Oval 23">
              <a:extLst>
                <a:ext uri="{FF2B5EF4-FFF2-40B4-BE49-F238E27FC236}">
                  <a16:creationId xmlns:a16="http://schemas.microsoft.com/office/drawing/2014/main" id="{B1E6C947-32B1-7182-4AFF-2AAD85CB0A85}"/>
                </a:ext>
              </a:extLst>
            </p:cNvPr>
            <p:cNvSpPr>
              <a:spLocks noChangeAspect="1"/>
            </p:cNvSpPr>
            <p:nvPr/>
          </p:nvSpPr>
          <p:spPr>
            <a:xfrm>
              <a:off x="4637608" y="1958564"/>
              <a:ext cx="457202" cy="457200"/>
            </a:xfrm>
            <a:prstGeom prst="ellipse">
              <a:avLst/>
            </a:pr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05" name="Graphic 249">
              <a:extLst>
                <a:ext uri="{FF2B5EF4-FFF2-40B4-BE49-F238E27FC236}">
                  <a16:creationId xmlns:a16="http://schemas.microsoft.com/office/drawing/2014/main" id="{C54F541B-07E2-8952-A75F-158DB89C87A0}"/>
                </a:ext>
              </a:extLst>
            </p:cNvPr>
            <p:cNvSpPr/>
            <p:nvPr/>
          </p:nvSpPr>
          <p:spPr>
            <a:xfrm>
              <a:off x="4718148" y="2085390"/>
              <a:ext cx="300966" cy="206048"/>
            </a:xfrm>
            <a:custGeom>
              <a:avLst/>
              <a:gdLst>
                <a:gd name="connsiteX0" fmla="*/ 515311 w 594328"/>
                <a:gd name="connsiteY0" fmla="*/ 344910 h 406891"/>
                <a:gd name="connsiteX1" fmla="*/ 470272 w 594328"/>
                <a:gd name="connsiteY1" fmla="*/ 344910 h 406891"/>
                <a:gd name="connsiteX2" fmla="*/ 328808 w 594328"/>
                <a:gd name="connsiteY2" fmla="*/ 203446 h 406891"/>
                <a:gd name="connsiteX3" fmla="*/ 470272 w 594328"/>
                <a:gd name="connsiteY3" fmla="*/ 61934 h 406891"/>
                <a:gd name="connsiteX4" fmla="*/ 515311 w 594328"/>
                <a:gd name="connsiteY4" fmla="*/ 61934 h 406891"/>
                <a:gd name="connsiteX5" fmla="*/ 515311 w 594328"/>
                <a:gd name="connsiteY5" fmla="*/ 91245 h 406891"/>
                <a:gd name="connsiteX6" fmla="*/ 594328 w 594328"/>
                <a:gd name="connsiteY6" fmla="*/ 45599 h 406891"/>
                <a:gd name="connsiteX7" fmla="*/ 515311 w 594328"/>
                <a:gd name="connsiteY7" fmla="*/ 0 h 406891"/>
                <a:gd name="connsiteX8" fmla="*/ 515311 w 594328"/>
                <a:gd name="connsiteY8" fmla="*/ 29264 h 406891"/>
                <a:gd name="connsiteX9" fmla="*/ 456737 w 594328"/>
                <a:gd name="connsiteY9" fmla="*/ 29264 h 406891"/>
                <a:gd name="connsiteX10" fmla="*/ 305658 w 594328"/>
                <a:gd name="connsiteY10" fmla="*/ 180343 h 406891"/>
                <a:gd name="connsiteX11" fmla="*/ 154626 w 594328"/>
                <a:gd name="connsiteY11" fmla="*/ 29264 h 406891"/>
                <a:gd name="connsiteX12" fmla="*/ 78970 w 594328"/>
                <a:gd name="connsiteY12" fmla="*/ 29264 h 406891"/>
                <a:gd name="connsiteX13" fmla="*/ 78970 w 594328"/>
                <a:gd name="connsiteY13" fmla="*/ 0 h 406891"/>
                <a:gd name="connsiteX14" fmla="*/ 0 w 594328"/>
                <a:gd name="connsiteY14" fmla="*/ 45599 h 406891"/>
                <a:gd name="connsiteX15" fmla="*/ 78970 w 594328"/>
                <a:gd name="connsiteY15" fmla="*/ 91245 h 406891"/>
                <a:gd name="connsiteX16" fmla="*/ 78970 w 594328"/>
                <a:gd name="connsiteY16" fmla="*/ 61934 h 406891"/>
                <a:gd name="connsiteX17" fmla="*/ 141091 w 594328"/>
                <a:gd name="connsiteY17" fmla="*/ 61934 h 406891"/>
                <a:gd name="connsiteX18" fmla="*/ 282556 w 594328"/>
                <a:gd name="connsiteY18" fmla="*/ 203446 h 406891"/>
                <a:gd name="connsiteX19" fmla="*/ 141091 w 594328"/>
                <a:gd name="connsiteY19" fmla="*/ 344910 h 406891"/>
                <a:gd name="connsiteX20" fmla="*/ 78970 w 594328"/>
                <a:gd name="connsiteY20" fmla="*/ 344910 h 406891"/>
                <a:gd name="connsiteX21" fmla="*/ 78970 w 594328"/>
                <a:gd name="connsiteY21" fmla="*/ 315646 h 406891"/>
                <a:gd name="connsiteX22" fmla="*/ 0 w 594328"/>
                <a:gd name="connsiteY22" fmla="*/ 361245 h 406891"/>
                <a:gd name="connsiteX23" fmla="*/ 78970 w 594328"/>
                <a:gd name="connsiteY23" fmla="*/ 406891 h 406891"/>
                <a:gd name="connsiteX24" fmla="*/ 78970 w 594328"/>
                <a:gd name="connsiteY24" fmla="*/ 377581 h 406891"/>
                <a:gd name="connsiteX25" fmla="*/ 154626 w 594328"/>
                <a:gd name="connsiteY25" fmla="*/ 377581 h 406891"/>
                <a:gd name="connsiteX26" fmla="*/ 305658 w 594328"/>
                <a:gd name="connsiteY26" fmla="*/ 226548 h 406891"/>
                <a:gd name="connsiteX27" fmla="*/ 456737 w 594328"/>
                <a:gd name="connsiteY27" fmla="*/ 377581 h 406891"/>
                <a:gd name="connsiteX28" fmla="*/ 515311 w 594328"/>
                <a:gd name="connsiteY28" fmla="*/ 377581 h 406891"/>
                <a:gd name="connsiteX29" fmla="*/ 515311 w 594328"/>
                <a:gd name="connsiteY29" fmla="*/ 406891 h 406891"/>
                <a:gd name="connsiteX30" fmla="*/ 594328 w 594328"/>
                <a:gd name="connsiteY30" fmla="*/ 361245 h 406891"/>
                <a:gd name="connsiteX31" fmla="*/ 515311 w 594328"/>
                <a:gd name="connsiteY31" fmla="*/ 315646 h 406891"/>
                <a:gd name="connsiteX32" fmla="*/ 515311 w 594328"/>
                <a:gd name="connsiteY32" fmla="*/ 344910 h 40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94328" h="406891">
                  <a:moveTo>
                    <a:pt x="515311" y="344910"/>
                  </a:moveTo>
                  <a:lnTo>
                    <a:pt x="470272" y="344910"/>
                  </a:lnTo>
                  <a:lnTo>
                    <a:pt x="328808" y="203446"/>
                  </a:lnTo>
                  <a:lnTo>
                    <a:pt x="470272" y="61934"/>
                  </a:lnTo>
                  <a:lnTo>
                    <a:pt x="515311" y="61934"/>
                  </a:lnTo>
                  <a:lnTo>
                    <a:pt x="515311" y="91245"/>
                  </a:lnTo>
                  <a:lnTo>
                    <a:pt x="594328" y="45599"/>
                  </a:lnTo>
                  <a:lnTo>
                    <a:pt x="515311" y="0"/>
                  </a:lnTo>
                  <a:lnTo>
                    <a:pt x="515311" y="29264"/>
                  </a:lnTo>
                  <a:lnTo>
                    <a:pt x="456737" y="29264"/>
                  </a:lnTo>
                  <a:lnTo>
                    <a:pt x="305658" y="180343"/>
                  </a:lnTo>
                  <a:lnTo>
                    <a:pt x="154626" y="29264"/>
                  </a:lnTo>
                  <a:lnTo>
                    <a:pt x="78970" y="29264"/>
                  </a:lnTo>
                  <a:lnTo>
                    <a:pt x="78970" y="0"/>
                  </a:lnTo>
                  <a:lnTo>
                    <a:pt x="0" y="45599"/>
                  </a:lnTo>
                  <a:lnTo>
                    <a:pt x="78970" y="91245"/>
                  </a:lnTo>
                  <a:lnTo>
                    <a:pt x="78970" y="61934"/>
                  </a:lnTo>
                  <a:lnTo>
                    <a:pt x="141091" y="61934"/>
                  </a:lnTo>
                  <a:lnTo>
                    <a:pt x="282556" y="203446"/>
                  </a:lnTo>
                  <a:lnTo>
                    <a:pt x="141091" y="344910"/>
                  </a:lnTo>
                  <a:lnTo>
                    <a:pt x="78970" y="344910"/>
                  </a:lnTo>
                  <a:lnTo>
                    <a:pt x="78970" y="315646"/>
                  </a:lnTo>
                  <a:lnTo>
                    <a:pt x="0" y="361245"/>
                  </a:lnTo>
                  <a:lnTo>
                    <a:pt x="78970" y="406891"/>
                  </a:lnTo>
                  <a:lnTo>
                    <a:pt x="78970" y="377581"/>
                  </a:lnTo>
                  <a:lnTo>
                    <a:pt x="154626" y="377581"/>
                  </a:lnTo>
                  <a:lnTo>
                    <a:pt x="305658" y="226548"/>
                  </a:lnTo>
                  <a:lnTo>
                    <a:pt x="456737" y="377581"/>
                  </a:lnTo>
                  <a:lnTo>
                    <a:pt x="515311" y="377581"/>
                  </a:lnTo>
                  <a:lnTo>
                    <a:pt x="515311" y="406891"/>
                  </a:lnTo>
                  <a:lnTo>
                    <a:pt x="594328" y="361245"/>
                  </a:lnTo>
                  <a:lnTo>
                    <a:pt x="515311" y="315646"/>
                  </a:lnTo>
                  <a:lnTo>
                    <a:pt x="515311" y="344910"/>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220" name="Group 219">
            <a:extLst>
              <a:ext uri="{FF2B5EF4-FFF2-40B4-BE49-F238E27FC236}">
                <a16:creationId xmlns:a16="http://schemas.microsoft.com/office/drawing/2014/main" id="{EE99F160-CD5C-95E0-3805-D40594D1B39E}"/>
              </a:ext>
            </a:extLst>
          </p:cNvPr>
          <p:cNvGrpSpPr>
            <a:grpSpLocks noChangeAspect="1"/>
          </p:cNvGrpSpPr>
          <p:nvPr/>
        </p:nvGrpSpPr>
        <p:grpSpPr>
          <a:xfrm>
            <a:off x="1271196" y="1951839"/>
            <a:ext cx="457200" cy="457200"/>
            <a:chOff x="7756637" y="2484407"/>
            <a:chExt cx="902850" cy="902850"/>
          </a:xfrm>
        </p:grpSpPr>
        <p:sp>
          <p:nvSpPr>
            <p:cNvPr id="221" name="Oval 26">
              <a:extLst>
                <a:ext uri="{FF2B5EF4-FFF2-40B4-BE49-F238E27FC236}">
                  <a16:creationId xmlns:a16="http://schemas.microsoft.com/office/drawing/2014/main" id="{288F9292-1541-38D2-6DDC-F351E540279E}"/>
                </a:ext>
              </a:extLst>
            </p:cNvPr>
            <p:cNvSpPr>
              <a:spLocks noChangeAspect="1"/>
            </p:cNvSpPr>
            <p:nvPr/>
          </p:nvSpPr>
          <p:spPr bwMode="gray">
            <a:xfrm>
              <a:off x="7756637" y="2484407"/>
              <a:ext cx="902850" cy="90285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222" name="Group 221">
              <a:extLst>
                <a:ext uri="{FF2B5EF4-FFF2-40B4-BE49-F238E27FC236}">
                  <a16:creationId xmlns:a16="http://schemas.microsoft.com/office/drawing/2014/main" id="{D32FEB9B-BEAE-3B69-ACC4-1EF899C2A871}"/>
                </a:ext>
              </a:extLst>
            </p:cNvPr>
            <p:cNvGrpSpPr/>
            <p:nvPr/>
          </p:nvGrpSpPr>
          <p:grpSpPr>
            <a:xfrm>
              <a:off x="7930273" y="2670781"/>
              <a:ext cx="558302" cy="538093"/>
              <a:chOff x="7930273" y="2670781"/>
              <a:chExt cx="558302" cy="538093"/>
            </a:xfrm>
          </p:grpSpPr>
          <p:sp>
            <p:nvSpPr>
              <p:cNvPr id="223" name="Freeform: Shape 201">
                <a:extLst>
                  <a:ext uri="{FF2B5EF4-FFF2-40B4-BE49-F238E27FC236}">
                    <a16:creationId xmlns:a16="http://schemas.microsoft.com/office/drawing/2014/main" id="{6CE4625B-5961-5EA1-E77E-9613918D6522}"/>
                  </a:ext>
                </a:extLst>
              </p:cNvPr>
              <p:cNvSpPr/>
              <p:nvPr/>
            </p:nvSpPr>
            <p:spPr>
              <a:xfrm>
                <a:off x="7930273" y="2670781"/>
                <a:ext cx="432694" cy="432694"/>
              </a:xfrm>
              <a:custGeom>
                <a:avLst/>
                <a:gdLst>
                  <a:gd name="connsiteX0" fmla="*/ 0 w 432694"/>
                  <a:gd name="connsiteY0" fmla="*/ 0 h 432694"/>
                  <a:gd name="connsiteX1" fmla="*/ 0 w 432694"/>
                  <a:gd name="connsiteY1" fmla="*/ 432694 h 432694"/>
                  <a:gd name="connsiteX2" fmla="*/ 295991 w 432694"/>
                  <a:gd name="connsiteY2" fmla="*/ 432694 h 432694"/>
                  <a:gd name="connsiteX3" fmla="*/ 295991 w 432694"/>
                  <a:gd name="connsiteY3" fmla="*/ 393070 h 432694"/>
                  <a:gd name="connsiteX4" fmla="*/ 165232 w 432694"/>
                  <a:gd name="connsiteY4" fmla="*/ 393070 h 432694"/>
                  <a:gd name="connsiteX5" fmla="*/ 206441 w 432694"/>
                  <a:gd name="connsiteY5" fmla="*/ 214762 h 432694"/>
                  <a:gd name="connsiteX6" fmla="*/ 236159 w 432694"/>
                  <a:gd name="connsiteY6" fmla="*/ 323728 h 432694"/>
                  <a:gd name="connsiteX7" fmla="*/ 285689 w 432694"/>
                  <a:gd name="connsiteY7" fmla="*/ 135514 h 432694"/>
                  <a:gd name="connsiteX8" fmla="*/ 306294 w 432694"/>
                  <a:gd name="connsiteY8" fmla="*/ 237744 h 432694"/>
                  <a:gd name="connsiteX9" fmla="*/ 393070 w 432694"/>
                  <a:gd name="connsiteY9" fmla="*/ 237744 h 432694"/>
                  <a:gd name="connsiteX10" fmla="*/ 393070 w 432694"/>
                  <a:gd name="connsiteY10" fmla="*/ 326106 h 432694"/>
                  <a:gd name="connsiteX11" fmla="*/ 432694 w 432694"/>
                  <a:gd name="connsiteY11" fmla="*/ 326106 h 432694"/>
                  <a:gd name="connsiteX12" fmla="*/ 432694 w 432694"/>
                  <a:gd name="connsiteY12" fmla="*/ 0 h 432694"/>
                  <a:gd name="connsiteX13" fmla="*/ 0 w 432694"/>
                  <a:gd name="connsiteY13" fmla="*/ 0 h 432694"/>
                  <a:gd name="connsiteX14" fmla="*/ 39624 w 432694"/>
                  <a:gd name="connsiteY14" fmla="*/ 393070 h 432694"/>
                  <a:gd name="connsiteX15" fmla="*/ 39624 w 432694"/>
                  <a:gd name="connsiteY15" fmla="*/ 237744 h 432694"/>
                  <a:gd name="connsiteX16" fmla="*/ 111740 w 432694"/>
                  <a:gd name="connsiteY16" fmla="*/ 237744 h 432694"/>
                  <a:gd name="connsiteX17" fmla="*/ 130759 w 432694"/>
                  <a:gd name="connsiteY17" fmla="*/ 168798 h 432694"/>
                  <a:gd name="connsiteX18" fmla="*/ 162458 w 432694"/>
                  <a:gd name="connsiteY18" fmla="*/ 393070 h 432694"/>
                  <a:gd name="connsiteX19" fmla="*/ 39624 w 432694"/>
                  <a:gd name="connsiteY19" fmla="*/ 393070 h 432694"/>
                  <a:gd name="connsiteX20" fmla="*/ 322539 w 432694"/>
                  <a:gd name="connsiteY20" fmla="*/ 217932 h 432694"/>
                  <a:gd name="connsiteX21" fmla="*/ 288066 w 432694"/>
                  <a:gd name="connsiteY21" fmla="*/ 47945 h 432694"/>
                  <a:gd name="connsiteX22" fmla="*/ 235763 w 432694"/>
                  <a:gd name="connsiteY22" fmla="*/ 246858 h 432694"/>
                  <a:gd name="connsiteX23" fmla="*/ 204856 w 432694"/>
                  <a:gd name="connsiteY23" fmla="*/ 133533 h 432694"/>
                  <a:gd name="connsiteX24" fmla="*/ 168006 w 432694"/>
                  <a:gd name="connsiteY24" fmla="*/ 292029 h 432694"/>
                  <a:gd name="connsiteX25" fmla="*/ 136703 w 432694"/>
                  <a:gd name="connsiteY25" fmla="*/ 72116 h 432694"/>
                  <a:gd name="connsiteX26" fmla="*/ 96683 w 432694"/>
                  <a:gd name="connsiteY26" fmla="*/ 217932 h 432694"/>
                  <a:gd name="connsiteX27" fmla="*/ 39624 w 432694"/>
                  <a:gd name="connsiteY27" fmla="*/ 217932 h 432694"/>
                  <a:gd name="connsiteX28" fmla="*/ 39624 w 432694"/>
                  <a:gd name="connsiteY28" fmla="*/ 39624 h 432694"/>
                  <a:gd name="connsiteX29" fmla="*/ 393070 w 432694"/>
                  <a:gd name="connsiteY29" fmla="*/ 39624 h 432694"/>
                  <a:gd name="connsiteX30" fmla="*/ 393070 w 432694"/>
                  <a:gd name="connsiteY30" fmla="*/ 217932 h 432694"/>
                  <a:gd name="connsiteX31" fmla="*/ 322539 w 432694"/>
                  <a:gd name="connsiteY31" fmla="*/ 217932 h 432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32694" h="432694">
                    <a:moveTo>
                      <a:pt x="0" y="0"/>
                    </a:moveTo>
                    <a:lnTo>
                      <a:pt x="0" y="432694"/>
                    </a:lnTo>
                    <a:lnTo>
                      <a:pt x="295991" y="432694"/>
                    </a:lnTo>
                    <a:lnTo>
                      <a:pt x="295991" y="393070"/>
                    </a:lnTo>
                    <a:lnTo>
                      <a:pt x="165232" y="393070"/>
                    </a:lnTo>
                    <a:lnTo>
                      <a:pt x="206441" y="214762"/>
                    </a:lnTo>
                    <a:lnTo>
                      <a:pt x="236159" y="323728"/>
                    </a:lnTo>
                    <a:lnTo>
                      <a:pt x="285689" y="135514"/>
                    </a:lnTo>
                    <a:lnTo>
                      <a:pt x="306294" y="237744"/>
                    </a:lnTo>
                    <a:lnTo>
                      <a:pt x="393070" y="237744"/>
                    </a:lnTo>
                    <a:lnTo>
                      <a:pt x="393070" y="326106"/>
                    </a:lnTo>
                    <a:lnTo>
                      <a:pt x="432694" y="326106"/>
                    </a:lnTo>
                    <a:lnTo>
                      <a:pt x="432694" y="0"/>
                    </a:lnTo>
                    <a:lnTo>
                      <a:pt x="0" y="0"/>
                    </a:lnTo>
                    <a:close/>
                    <a:moveTo>
                      <a:pt x="39624" y="393070"/>
                    </a:moveTo>
                    <a:lnTo>
                      <a:pt x="39624" y="237744"/>
                    </a:lnTo>
                    <a:lnTo>
                      <a:pt x="111740" y="237744"/>
                    </a:lnTo>
                    <a:lnTo>
                      <a:pt x="130759" y="168798"/>
                    </a:lnTo>
                    <a:lnTo>
                      <a:pt x="162458" y="393070"/>
                    </a:lnTo>
                    <a:lnTo>
                      <a:pt x="39624" y="393070"/>
                    </a:lnTo>
                    <a:close/>
                    <a:moveTo>
                      <a:pt x="322539" y="217932"/>
                    </a:moveTo>
                    <a:lnTo>
                      <a:pt x="288066" y="47945"/>
                    </a:lnTo>
                    <a:lnTo>
                      <a:pt x="235763" y="246858"/>
                    </a:lnTo>
                    <a:lnTo>
                      <a:pt x="204856" y="133533"/>
                    </a:lnTo>
                    <a:lnTo>
                      <a:pt x="168006" y="292029"/>
                    </a:lnTo>
                    <a:lnTo>
                      <a:pt x="136703" y="72116"/>
                    </a:lnTo>
                    <a:lnTo>
                      <a:pt x="96683" y="217932"/>
                    </a:lnTo>
                    <a:lnTo>
                      <a:pt x="39624" y="217932"/>
                    </a:lnTo>
                    <a:lnTo>
                      <a:pt x="39624" y="39624"/>
                    </a:lnTo>
                    <a:lnTo>
                      <a:pt x="393070" y="39624"/>
                    </a:lnTo>
                    <a:lnTo>
                      <a:pt x="393070" y="217932"/>
                    </a:lnTo>
                    <a:lnTo>
                      <a:pt x="322539" y="217932"/>
                    </a:ln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224" name="Graphic 41">
                <a:extLst>
                  <a:ext uri="{FF2B5EF4-FFF2-40B4-BE49-F238E27FC236}">
                    <a16:creationId xmlns:a16="http://schemas.microsoft.com/office/drawing/2014/main" id="{E47F93E3-AF9B-A9D5-8CCE-5B26ED5F5CA0}"/>
                  </a:ext>
                </a:extLst>
              </p:cNvPr>
              <p:cNvGrpSpPr/>
              <p:nvPr/>
            </p:nvGrpSpPr>
            <p:grpSpPr>
              <a:xfrm>
                <a:off x="8250435" y="3017491"/>
                <a:ext cx="238140" cy="191383"/>
                <a:chOff x="8250435" y="3017491"/>
                <a:chExt cx="238140" cy="191383"/>
              </a:xfrm>
              <a:solidFill>
                <a:schemeClr val="bg1"/>
              </a:solidFill>
            </p:grpSpPr>
            <p:sp>
              <p:nvSpPr>
                <p:cNvPr id="225" name="Freeform: Shape 203">
                  <a:extLst>
                    <a:ext uri="{FF2B5EF4-FFF2-40B4-BE49-F238E27FC236}">
                      <a16:creationId xmlns:a16="http://schemas.microsoft.com/office/drawing/2014/main" id="{AAF3E088-7E59-E9E6-EACA-E51C655D6A11}"/>
                    </a:ext>
                  </a:extLst>
                </p:cNvPr>
                <p:cNvSpPr/>
                <p:nvPr/>
              </p:nvSpPr>
              <p:spPr>
                <a:xfrm>
                  <a:off x="8250435" y="3017491"/>
                  <a:ext cx="238140" cy="30510"/>
                </a:xfrm>
                <a:custGeom>
                  <a:avLst/>
                  <a:gdLst>
                    <a:gd name="connsiteX0" fmla="*/ 238140 w 238140"/>
                    <a:gd name="connsiteY0" fmla="*/ 0 h 30510"/>
                    <a:gd name="connsiteX1" fmla="*/ 0 w 238140"/>
                    <a:gd name="connsiteY1" fmla="*/ 0 h 30510"/>
                    <a:gd name="connsiteX2" fmla="*/ 0 w 238140"/>
                    <a:gd name="connsiteY2" fmla="*/ 30510 h 30510"/>
                    <a:gd name="connsiteX3" fmla="*/ 238140 w 238140"/>
                    <a:gd name="connsiteY3" fmla="*/ 30510 h 30510"/>
                    <a:gd name="connsiteX4" fmla="*/ 238140 w 238140"/>
                    <a:gd name="connsiteY4" fmla="*/ 0 h 30510"/>
                    <a:gd name="connsiteX5" fmla="*/ 15057 w 238140"/>
                    <a:gd name="connsiteY5" fmla="*/ 21793 h 30510"/>
                    <a:gd name="connsiteX6" fmla="*/ 8321 w 238140"/>
                    <a:gd name="connsiteY6" fmla="*/ 15057 h 30510"/>
                    <a:gd name="connsiteX7" fmla="*/ 15057 w 238140"/>
                    <a:gd name="connsiteY7" fmla="*/ 8321 h 30510"/>
                    <a:gd name="connsiteX8" fmla="*/ 22586 w 238140"/>
                    <a:gd name="connsiteY8" fmla="*/ 15057 h 30510"/>
                    <a:gd name="connsiteX9" fmla="*/ 15057 w 238140"/>
                    <a:gd name="connsiteY9" fmla="*/ 21793 h 30510"/>
                    <a:gd name="connsiteX10" fmla="*/ 37247 w 238140"/>
                    <a:gd name="connsiteY10" fmla="*/ 21793 h 30510"/>
                    <a:gd name="connsiteX11" fmla="*/ 30510 w 238140"/>
                    <a:gd name="connsiteY11" fmla="*/ 15057 h 30510"/>
                    <a:gd name="connsiteX12" fmla="*/ 37247 w 238140"/>
                    <a:gd name="connsiteY12" fmla="*/ 8321 h 30510"/>
                    <a:gd name="connsiteX13" fmla="*/ 43983 w 238140"/>
                    <a:gd name="connsiteY13" fmla="*/ 15057 h 30510"/>
                    <a:gd name="connsiteX14" fmla="*/ 37247 w 238140"/>
                    <a:gd name="connsiteY14" fmla="*/ 21793 h 30510"/>
                    <a:gd name="connsiteX15" fmla="*/ 58644 w 238140"/>
                    <a:gd name="connsiteY15" fmla="*/ 21793 h 30510"/>
                    <a:gd name="connsiteX16" fmla="*/ 51907 w 238140"/>
                    <a:gd name="connsiteY16" fmla="*/ 15057 h 30510"/>
                    <a:gd name="connsiteX17" fmla="*/ 58644 w 238140"/>
                    <a:gd name="connsiteY17" fmla="*/ 8321 h 30510"/>
                    <a:gd name="connsiteX18" fmla="*/ 65380 w 238140"/>
                    <a:gd name="connsiteY18" fmla="*/ 15057 h 30510"/>
                    <a:gd name="connsiteX19" fmla="*/ 58644 w 238140"/>
                    <a:gd name="connsiteY19" fmla="*/ 21793 h 30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8140" h="30510">
                      <a:moveTo>
                        <a:pt x="238140" y="0"/>
                      </a:moveTo>
                      <a:lnTo>
                        <a:pt x="0" y="0"/>
                      </a:lnTo>
                      <a:cubicBezTo>
                        <a:pt x="0" y="30510"/>
                        <a:pt x="0" y="30510"/>
                        <a:pt x="0" y="30510"/>
                      </a:cubicBezTo>
                      <a:cubicBezTo>
                        <a:pt x="238140" y="30510"/>
                        <a:pt x="238140" y="30510"/>
                        <a:pt x="238140" y="30510"/>
                      </a:cubicBezTo>
                      <a:cubicBezTo>
                        <a:pt x="238140" y="0"/>
                        <a:pt x="238140" y="0"/>
                        <a:pt x="238140" y="0"/>
                      </a:cubicBezTo>
                      <a:close/>
                      <a:moveTo>
                        <a:pt x="15057" y="21793"/>
                      </a:moveTo>
                      <a:cubicBezTo>
                        <a:pt x="11491" y="21793"/>
                        <a:pt x="8321" y="18227"/>
                        <a:pt x="8321" y="15057"/>
                      </a:cubicBezTo>
                      <a:cubicBezTo>
                        <a:pt x="8321" y="11095"/>
                        <a:pt x="11887" y="8321"/>
                        <a:pt x="15057" y="8321"/>
                      </a:cubicBezTo>
                      <a:cubicBezTo>
                        <a:pt x="19020" y="8321"/>
                        <a:pt x="22586" y="11095"/>
                        <a:pt x="22586" y="15057"/>
                      </a:cubicBezTo>
                      <a:cubicBezTo>
                        <a:pt x="22189" y="18623"/>
                        <a:pt x="19020" y="21793"/>
                        <a:pt x="15057" y="21793"/>
                      </a:cubicBezTo>
                      <a:close/>
                      <a:moveTo>
                        <a:pt x="37247" y="21793"/>
                      </a:moveTo>
                      <a:cubicBezTo>
                        <a:pt x="33284" y="21793"/>
                        <a:pt x="30510" y="18227"/>
                        <a:pt x="30510" y="15057"/>
                      </a:cubicBezTo>
                      <a:cubicBezTo>
                        <a:pt x="30510" y="11095"/>
                        <a:pt x="33284" y="8321"/>
                        <a:pt x="37247" y="8321"/>
                      </a:cubicBezTo>
                      <a:cubicBezTo>
                        <a:pt x="40813" y="8321"/>
                        <a:pt x="43983" y="11095"/>
                        <a:pt x="43983" y="15057"/>
                      </a:cubicBezTo>
                      <a:cubicBezTo>
                        <a:pt x="43983" y="18623"/>
                        <a:pt x="40417" y="21793"/>
                        <a:pt x="37247" y="21793"/>
                      </a:cubicBezTo>
                      <a:close/>
                      <a:moveTo>
                        <a:pt x="58644" y="21793"/>
                      </a:moveTo>
                      <a:cubicBezTo>
                        <a:pt x="55077" y="21793"/>
                        <a:pt x="51907" y="18227"/>
                        <a:pt x="51907" y="15057"/>
                      </a:cubicBezTo>
                      <a:cubicBezTo>
                        <a:pt x="51907" y="11095"/>
                        <a:pt x="55474" y="8321"/>
                        <a:pt x="58644" y="8321"/>
                      </a:cubicBezTo>
                      <a:cubicBezTo>
                        <a:pt x="62606" y="8321"/>
                        <a:pt x="65380" y="11095"/>
                        <a:pt x="65380" y="15057"/>
                      </a:cubicBezTo>
                      <a:cubicBezTo>
                        <a:pt x="65380" y="18623"/>
                        <a:pt x="63002" y="21793"/>
                        <a:pt x="58644" y="21793"/>
                      </a:cubicBez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26" name="Freeform: Shape 204">
                  <a:extLst>
                    <a:ext uri="{FF2B5EF4-FFF2-40B4-BE49-F238E27FC236}">
                      <a16:creationId xmlns:a16="http://schemas.microsoft.com/office/drawing/2014/main" id="{A23E7528-07BA-2FCB-1117-3551D6749403}"/>
                    </a:ext>
                  </a:extLst>
                </p:cNvPr>
                <p:cNvSpPr/>
                <p:nvPr/>
              </p:nvSpPr>
              <p:spPr>
                <a:xfrm>
                  <a:off x="8250435" y="3057907"/>
                  <a:ext cx="238140" cy="150967"/>
                </a:xfrm>
                <a:custGeom>
                  <a:avLst/>
                  <a:gdLst>
                    <a:gd name="connsiteX0" fmla="*/ 0 w 238140"/>
                    <a:gd name="connsiteY0" fmla="*/ 0 h 150967"/>
                    <a:gd name="connsiteX1" fmla="*/ 0 w 238140"/>
                    <a:gd name="connsiteY1" fmla="*/ 143439 h 150967"/>
                    <a:gd name="connsiteX2" fmla="*/ 6736 w 238140"/>
                    <a:gd name="connsiteY2" fmla="*/ 150967 h 150967"/>
                    <a:gd name="connsiteX3" fmla="*/ 230612 w 238140"/>
                    <a:gd name="connsiteY3" fmla="*/ 150967 h 150967"/>
                    <a:gd name="connsiteX4" fmla="*/ 238140 w 238140"/>
                    <a:gd name="connsiteY4" fmla="*/ 143439 h 150967"/>
                    <a:gd name="connsiteX5" fmla="*/ 238140 w 238140"/>
                    <a:gd name="connsiteY5" fmla="*/ 0 h 150967"/>
                    <a:gd name="connsiteX6" fmla="*/ 0 w 238140"/>
                    <a:gd name="connsiteY6" fmla="*/ 0 h 15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140" h="150967">
                      <a:moveTo>
                        <a:pt x="0" y="0"/>
                      </a:moveTo>
                      <a:cubicBezTo>
                        <a:pt x="0" y="143439"/>
                        <a:pt x="0" y="143439"/>
                        <a:pt x="0" y="143439"/>
                      </a:cubicBezTo>
                      <a:cubicBezTo>
                        <a:pt x="0" y="147401"/>
                        <a:pt x="2774" y="150967"/>
                        <a:pt x="6736" y="150967"/>
                      </a:cubicBezTo>
                      <a:cubicBezTo>
                        <a:pt x="230612" y="150967"/>
                        <a:pt x="230612" y="150967"/>
                        <a:pt x="230612" y="150967"/>
                      </a:cubicBezTo>
                      <a:cubicBezTo>
                        <a:pt x="234574" y="150967"/>
                        <a:pt x="238140" y="147798"/>
                        <a:pt x="238140" y="143439"/>
                      </a:cubicBezTo>
                      <a:cubicBezTo>
                        <a:pt x="238140" y="0"/>
                        <a:pt x="238140" y="0"/>
                        <a:pt x="238140" y="0"/>
                      </a:cubicBezTo>
                      <a:lnTo>
                        <a:pt x="0" y="0"/>
                      </a:ln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grpSp>
      <p:grpSp>
        <p:nvGrpSpPr>
          <p:cNvPr id="212" name="switching">
            <a:extLst>
              <a:ext uri="{FF2B5EF4-FFF2-40B4-BE49-F238E27FC236}">
                <a16:creationId xmlns:a16="http://schemas.microsoft.com/office/drawing/2014/main" id="{496F046F-A68C-09AD-5EEB-6C2F935E4607}"/>
              </a:ext>
            </a:extLst>
          </p:cNvPr>
          <p:cNvGrpSpPr/>
          <p:nvPr/>
        </p:nvGrpSpPr>
        <p:grpSpPr>
          <a:xfrm>
            <a:off x="808660" y="1951812"/>
            <a:ext cx="5415801" cy="2726946"/>
            <a:chOff x="808660" y="1951812"/>
            <a:chExt cx="5415801" cy="2726946"/>
          </a:xfrm>
        </p:grpSpPr>
        <p:grpSp>
          <p:nvGrpSpPr>
            <p:cNvPr id="148" name="Group 147">
              <a:extLst>
                <a:ext uri="{FF2B5EF4-FFF2-40B4-BE49-F238E27FC236}">
                  <a16:creationId xmlns:a16="http://schemas.microsoft.com/office/drawing/2014/main" id="{E2DD1A0B-301F-5C1D-F838-4CD6E19B781B}"/>
                </a:ext>
              </a:extLst>
            </p:cNvPr>
            <p:cNvGrpSpPr/>
            <p:nvPr/>
          </p:nvGrpSpPr>
          <p:grpSpPr>
            <a:xfrm>
              <a:off x="5287648" y="1951812"/>
              <a:ext cx="457202" cy="457200"/>
              <a:chOff x="4967584" y="1954463"/>
              <a:chExt cx="457202" cy="457200"/>
            </a:xfrm>
          </p:grpSpPr>
          <p:sp>
            <p:nvSpPr>
              <p:cNvPr id="149" name="Oval 148">
                <a:extLst>
                  <a:ext uri="{FF2B5EF4-FFF2-40B4-BE49-F238E27FC236}">
                    <a16:creationId xmlns:a16="http://schemas.microsoft.com/office/drawing/2014/main" id="{821A0AA1-CC45-936D-4D52-D31C03457C1F}"/>
                  </a:ext>
                </a:extLst>
              </p:cNvPr>
              <p:cNvSpPr>
                <a:spLocks noChangeAspect="1"/>
              </p:cNvSpPr>
              <p:nvPr/>
            </p:nvSpPr>
            <p:spPr>
              <a:xfrm>
                <a:off x="4967584" y="1954463"/>
                <a:ext cx="457202" cy="457200"/>
              </a:xfrm>
              <a:prstGeom prst="ellipse">
                <a:avLst/>
              </a:prstGeom>
              <a:solidFill>
                <a:schemeClr val="accent3"/>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50" name="Graphic 249">
                <a:extLst>
                  <a:ext uri="{FF2B5EF4-FFF2-40B4-BE49-F238E27FC236}">
                    <a16:creationId xmlns:a16="http://schemas.microsoft.com/office/drawing/2014/main" id="{6C89B6E1-40A4-E573-F348-C6CC0CFB8A0A}"/>
                  </a:ext>
                </a:extLst>
              </p:cNvPr>
              <p:cNvSpPr/>
              <p:nvPr/>
            </p:nvSpPr>
            <p:spPr>
              <a:xfrm>
                <a:off x="5054384" y="2089490"/>
                <a:ext cx="300966" cy="206048"/>
              </a:xfrm>
              <a:custGeom>
                <a:avLst/>
                <a:gdLst>
                  <a:gd name="connsiteX0" fmla="*/ 515311 w 594328"/>
                  <a:gd name="connsiteY0" fmla="*/ 344910 h 406891"/>
                  <a:gd name="connsiteX1" fmla="*/ 470272 w 594328"/>
                  <a:gd name="connsiteY1" fmla="*/ 344910 h 406891"/>
                  <a:gd name="connsiteX2" fmla="*/ 328808 w 594328"/>
                  <a:gd name="connsiteY2" fmla="*/ 203446 h 406891"/>
                  <a:gd name="connsiteX3" fmla="*/ 470272 w 594328"/>
                  <a:gd name="connsiteY3" fmla="*/ 61934 h 406891"/>
                  <a:gd name="connsiteX4" fmla="*/ 515311 w 594328"/>
                  <a:gd name="connsiteY4" fmla="*/ 61934 h 406891"/>
                  <a:gd name="connsiteX5" fmla="*/ 515311 w 594328"/>
                  <a:gd name="connsiteY5" fmla="*/ 91245 h 406891"/>
                  <a:gd name="connsiteX6" fmla="*/ 594328 w 594328"/>
                  <a:gd name="connsiteY6" fmla="*/ 45599 h 406891"/>
                  <a:gd name="connsiteX7" fmla="*/ 515311 w 594328"/>
                  <a:gd name="connsiteY7" fmla="*/ 0 h 406891"/>
                  <a:gd name="connsiteX8" fmla="*/ 515311 w 594328"/>
                  <a:gd name="connsiteY8" fmla="*/ 29264 h 406891"/>
                  <a:gd name="connsiteX9" fmla="*/ 456737 w 594328"/>
                  <a:gd name="connsiteY9" fmla="*/ 29264 h 406891"/>
                  <a:gd name="connsiteX10" fmla="*/ 305658 w 594328"/>
                  <a:gd name="connsiteY10" fmla="*/ 180343 h 406891"/>
                  <a:gd name="connsiteX11" fmla="*/ 154626 w 594328"/>
                  <a:gd name="connsiteY11" fmla="*/ 29264 h 406891"/>
                  <a:gd name="connsiteX12" fmla="*/ 78970 w 594328"/>
                  <a:gd name="connsiteY12" fmla="*/ 29264 h 406891"/>
                  <a:gd name="connsiteX13" fmla="*/ 78970 w 594328"/>
                  <a:gd name="connsiteY13" fmla="*/ 0 h 406891"/>
                  <a:gd name="connsiteX14" fmla="*/ 0 w 594328"/>
                  <a:gd name="connsiteY14" fmla="*/ 45599 h 406891"/>
                  <a:gd name="connsiteX15" fmla="*/ 78970 w 594328"/>
                  <a:gd name="connsiteY15" fmla="*/ 91245 h 406891"/>
                  <a:gd name="connsiteX16" fmla="*/ 78970 w 594328"/>
                  <a:gd name="connsiteY16" fmla="*/ 61934 h 406891"/>
                  <a:gd name="connsiteX17" fmla="*/ 141091 w 594328"/>
                  <a:gd name="connsiteY17" fmla="*/ 61934 h 406891"/>
                  <a:gd name="connsiteX18" fmla="*/ 282556 w 594328"/>
                  <a:gd name="connsiteY18" fmla="*/ 203446 h 406891"/>
                  <a:gd name="connsiteX19" fmla="*/ 141091 w 594328"/>
                  <a:gd name="connsiteY19" fmla="*/ 344910 h 406891"/>
                  <a:gd name="connsiteX20" fmla="*/ 78970 w 594328"/>
                  <a:gd name="connsiteY20" fmla="*/ 344910 h 406891"/>
                  <a:gd name="connsiteX21" fmla="*/ 78970 w 594328"/>
                  <a:gd name="connsiteY21" fmla="*/ 315646 h 406891"/>
                  <a:gd name="connsiteX22" fmla="*/ 0 w 594328"/>
                  <a:gd name="connsiteY22" fmla="*/ 361245 h 406891"/>
                  <a:gd name="connsiteX23" fmla="*/ 78970 w 594328"/>
                  <a:gd name="connsiteY23" fmla="*/ 406891 h 406891"/>
                  <a:gd name="connsiteX24" fmla="*/ 78970 w 594328"/>
                  <a:gd name="connsiteY24" fmla="*/ 377581 h 406891"/>
                  <a:gd name="connsiteX25" fmla="*/ 154626 w 594328"/>
                  <a:gd name="connsiteY25" fmla="*/ 377581 h 406891"/>
                  <a:gd name="connsiteX26" fmla="*/ 305658 w 594328"/>
                  <a:gd name="connsiteY26" fmla="*/ 226548 h 406891"/>
                  <a:gd name="connsiteX27" fmla="*/ 456737 w 594328"/>
                  <a:gd name="connsiteY27" fmla="*/ 377581 h 406891"/>
                  <a:gd name="connsiteX28" fmla="*/ 515311 w 594328"/>
                  <a:gd name="connsiteY28" fmla="*/ 377581 h 406891"/>
                  <a:gd name="connsiteX29" fmla="*/ 515311 w 594328"/>
                  <a:gd name="connsiteY29" fmla="*/ 406891 h 406891"/>
                  <a:gd name="connsiteX30" fmla="*/ 594328 w 594328"/>
                  <a:gd name="connsiteY30" fmla="*/ 361245 h 406891"/>
                  <a:gd name="connsiteX31" fmla="*/ 515311 w 594328"/>
                  <a:gd name="connsiteY31" fmla="*/ 315646 h 406891"/>
                  <a:gd name="connsiteX32" fmla="*/ 515311 w 594328"/>
                  <a:gd name="connsiteY32" fmla="*/ 344910 h 40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94328" h="406891">
                    <a:moveTo>
                      <a:pt x="515311" y="344910"/>
                    </a:moveTo>
                    <a:lnTo>
                      <a:pt x="470272" y="344910"/>
                    </a:lnTo>
                    <a:lnTo>
                      <a:pt x="328808" y="203446"/>
                    </a:lnTo>
                    <a:lnTo>
                      <a:pt x="470272" y="61934"/>
                    </a:lnTo>
                    <a:lnTo>
                      <a:pt x="515311" y="61934"/>
                    </a:lnTo>
                    <a:lnTo>
                      <a:pt x="515311" y="91245"/>
                    </a:lnTo>
                    <a:lnTo>
                      <a:pt x="594328" y="45599"/>
                    </a:lnTo>
                    <a:lnTo>
                      <a:pt x="515311" y="0"/>
                    </a:lnTo>
                    <a:lnTo>
                      <a:pt x="515311" y="29264"/>
                    </a:lnTo>
                    <a:lnTo>
                      <a:pt x="456737" y="29264"/>
                    </a:lnTo>
                    <a:lnTo>
                      <a:pt x="305658" y="180343"/>
                    </a:lnTo>
                    <a:lnTo>
                      <a:pt x="154626" y="29264"/>
                    </a:lnTo>
                    <a:lnTo>
                      <a:pt x="78970" y="29264"/>
                    </a:lnTo>
                    <a:lnTo>
                      <a:pt x="78970" y="0"/>
                    </a:lnTo>
                    <a:lnTo>
                      <a:pt x="0" y="45599"/>
                    </a:lnTo>
                    <a:lnTo>
                      <a:pt x="78970" y="91245"/>
                    </a:lnTo>
                    <a:lnTo>
                      <a:pt x="78970" y="61934"/>
                    </a:lnTo>
                    <a:lnTo>
                      <a:pt x="141091" y="61934"/>
                    </a:lnTo>
                    <a:lnTo>
                      <a:pt x="282556" y="203446"/>
                    </a:lnTo>
                    <a:lnTo>
                      <a:pt x="141091" y="344910"/>
                    </a:lnTo>
                    <a:lnTo>
                      <a:pt x="78970" y="344910"/>
                    </a:lnTo>
                    <a:lnTo>
                      <a:pt x="78970" y="315646"/>
                    </a:lnTo>
                    <a:lnTo>
                      <a:pt x="0" y="361245"/>
                    </a:lnTo>
                    <a:lnTo>
                      <a:pt x="78970" y="406891"/>
                    </a:lnTo>
                    <a:lnTo>
                      <a:pt x="78970" y="377581"/>
                    </a:lnTo>
                    <a:lnTo>
                      <a:pt x="154626" y="377581"/>
                    </a:lnTo>
                    <a:lnTo>
                      <a:pt x="305658" y="226548"/>
                    </a:lnTo>
                    <a:lnTo>
                      <a:pt x="456737" y="377581"/>
                    </a:lnTo>
                    <a:lnTo>
                      <a:pt x="515311" y="377581"/>
                    </a:lnTo>
                    <a:lnTo>
                      <a:pt x="515311" y="406891"/>
                    </a:lnTo>
                    <a:lnTo>
                      <a:pt x="594328" y="361245"/>
                    </a:lnTo>
                    <a:lnTo>
                      <a:pt x="515311" y="315646"/>
                    </a:lnTo>
                    <a:lnTo>
                      <a:pt x="515311" y="344910"/>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211" name="Group 210">
              <a:extLst>
                <a:ext uri="{FF2B5EF4-FFF2-40B4-BE49-F238E27FC236}">
                  <a16:creationId xmlns:a16="http://schemas.microsoft.com/office/drawing/2014/main" id="{6DCADB82-9131-B469-C659-76FCCD037C5F}"/>
                </a:ext>
              </a:extLst>
            </p:cNvPr>
            <p:cNvGrpSpPr/>
            <p:nvPr/>
          </p:nvGrpSpPr>
          <p:grpSpPr>
            <a:xfrm>
              <a:off x="808660" y="3087513"/>
              <a:ext cx="5415801" cy="1591245"/>
              <a:chOff x="808660" y="3087513"/>
              <a:chExt cx="5415801" cy="1591245"/>
            </a:xfrm>
          </p:grpSpPr>
          <p:cxnSp>
            <p:nvCxnSpPr>
              <p:cNvPr id="177" name="Straight Connector 176">
                <a:extLst>
                  <a:ext uri="{FF2B5EF4-FFF2-40B4-BE49-F238E27FC236}">
                    <a16:creationId xmlns:a16="http://schemas.microsoft.com/office/drawing/2014/main" id="{ABFE32D8-AA8F-D922-6124-A1C8DDAE7350}"/>
                  </a:ext>
                </a:extLst>
              </p:cNvPr>
              <p:cNvCxnSpPr>
                <a:cxnSpLocks/>
                <a:stCxn id="174" idx="0"/>
              </p:cNvCxnSpPr>
              <p:nvPr/>
            </p:nvCxnSpPr>
            <p:spPr bwMode="gray">
              <a:xfrm flipV="1">
                <a:off x="1364791" y="3470656"/>
                <a:ext cx="0" cy="1208102"/>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C1E20D5C-A97F-7FA3-DB98-5AFA0C2B26C5}"/>
                  </a:ext>
                </a:extLst>
              </p:cNvPr>
              <p:cNvCxnSpPr>
                <a:cxnSpLocks/>
                <a:stCxn id="173" idx="0"/>
              </p:cNvCxnSpPr>
              <p:nvPr/>
            </p:nvCxnSpPr>
            <p:spPr bwMode="gray">
              <a:xfrm flipV="1">
                <a:off x="3942977" y="3461657"/>
                <a:ext cx="0" cy="1217101"/>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593F1F75-A372-B4AC-BA00-5B393306A20E}"/>
                  </a:ext>
                </a:extLst>
              </p:cNvPr>
              <p:cNvCxnSpPr>
                <a:cxnSpLocks/>
                <a:stCxn id="169" idx="0"/>
              </p:cNvCxnSpPr>
              <p:nvPr/>
            </p:nvCxnSpPr>
            <p:spPr bwMode="gray">
              <a:xfrm flipV="1">
                <a:off x="2121220" y="3315956"/>
                <a:ext cx="3201" cy="1362802"/>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A62B85DA-9391-771B-C551-E8A57300344C}"/>
                  </a:ext>
                </a:extLst>
              </p:cNvPr>
              <p:cNvCxnSpPr>
                <a:cxnSpLocks/>
                <a:stCxn id="172" idx="0"/>
              </p:cNvCxnSpPr>
              <p:nvPr/>
            </p:nvCxnSpPr>
            <p:spPr bwMode="gray">
              <a:xfrm flipV="1">
                <a:off x="5033163" y="3324497"/>
                <a:ext cx="0" cy="1354261"/>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E7A6B61E-70C9-8032-B7D5-C98992F65876}"/>
                  </a:ext>
                </a:extLst>
              </p:cNvPr>
              <p:cNvCxnSpPr>
                <a:cxnSpLocks/>
                <a:stCxn id="23" idx="3"/>
              </p:cNvCxnSpPr>
              <p:nvPr/>
            </p:nvCxnSpPr>
            <p:spPr bwMode="gray">
              <a:xfrm>
                <a:off x="1291739" y="3311106"/>
                <a:ext cx="4932722" cy="485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A00BE394-AB9D-5EA3-8EC6-06AF046318A1}"/>
                  </a:ext>
                </a:extLst>
              </p:cNvPr>
              <p:cNvCxnSpPr>
                <a:cxnSpLocks/>
                <a:stCxn id="2" idx="3"/>
              </p:cNvCxnSpPr>
              <p:nvPr/>
            </p:nvCxnSpPr>
            <p:spPr bwMode="gray">
              <a:xfrm>
                <a:off x="1291739" y="3457755"/>
                <a:ext cx="366335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ABB12D99-2D19-42F9-7D85-D86CF0E84891}"/>
                  </a:ext>
                </a:extLst>
              </p:cNvPr>
              <p:cNvCxnSpPr>
                <a:cxnSpLocks/>
                <a:stCxn id="170" idx="0"/>
              </p:cNvCxnSpPr>
              <p:nvPr/>
            </p:nvCxnSpPr>
            <p:spPr bwMode="gray">
              <a:xfrm flipV="1">
                <a:off x="3199739" y="3167743"/>
                <a:ext cx="0" cy="1511015"/>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C1517DEA-5A3F-4C13-1369-947AA6ADE06F}"/>
                  </a:ext>
                </a:extLst>
              </p:cNvPr>
              <p:cNvCxnSpPr>
                <a:cxnSpLocks/>
                <a:stCxn id="17" idx="3"/>
              </p:cNvCxnSpPr>
              <p:nvPr/>
            </p:nvCxnSpPr>
            <p:spPr bwMode="gray">
              <a:xfrm>
                <a:off x="1291739" y="3164457"/>
                <a:ext cx="4932722"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FBD3DD14-AE9E-F4CB-7B0E-3B5B1E38F161}"/>
                  </a:ext>
                </a:extLst>
              </p:cNvPr>
              <p:cNvCxnSpPr>
                <a:cxnSpLocks/>
                <a:stCxn id="171" idx="0"/>
              </p:cNvCxnSpPr>
              <p:nvPr/>
            </p:nvCxnSpPr>
            <p:spPr bwMode="gray">
              <a:xfrm flipV="1">
                <a:off x="5782730" y="3164477"/>
                <a:ext cx="0" cy="1514281"/>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3CEFC12B-68A4-8BCE-CE30-ADFAE4376315}"/>
                  </a:ext>
                </a:extLst>
              </p:cNvPr>
              <p:cNvSpPr txBox="1"/>
              <p:nvPr/>
            </p:nvSpPr>
            <p:spPr>
              <a:xfrm>
                <a:off x="808660" y="3380811"/>
                <a:ext cx="48307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98C7"/>
                    </a:solidFill>
                    <a:effectLst/>
                    <a:uLnTx/>
                    <a:uFillTx/>
                    <a:latin typeface="Arial" panose="020B0604020202020204"/>
                    <a:ea typeface="+mn-ea"/>
                    <a:cs typeface="+mn-cs"/>
                  </a:rPr>
                  <a:t>VLAN x</a:t>
                </a:r>
              </a:p>
            </p:txBody>
          </p:sp>
          <p:sp>
            <p:nvSpPr>
              <p:cNvPr id="17" name="TextBox 16">
                <a:extLst>
                  <a:ext uri="{FF2B5EF4-FFF2-40B4-BE49-F238E27FC236}">
                    <a16:creationId xmlns:a16="http://schemas.microsoft.com/office/drawing/2014/main" id="{94071360-F203-E189-262F-F8E1873AC949}"/>
                  </a:ext>
                </a:extLst>
              </p:cNvPr>
              <p:cNvSpPr txBox="1"/>
              <p:nvPr/>
            </p:nvSpPr>
            <p:spPr>
              <a:xfrm>
                <a:off x="808660" y="3087513"/>
                <a:ext cx="48307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C4B94"/>
                    </a:solidFill>
                    <a:effectLst/>
                    <a:uLnTx/>
                    <a:uFillTx/>
                    <a:latin typeface="Arial" panose="020B0604020202020204"/>
                    <a:ea typeface="+mn-ea"/>
                    <a:cs typeface="+mn-cs"/>
                  </a:rPr>
                  <a:t>VLAN z</a:t>
                </a:r>
              </a:p>
            </p:txBody>
          </p:sp>
          <p:sp>
            <p:nvSpPr>
              <p:cNvPr id="23" name="TextBox 22">
                <a:extLst>
                  <a:ext uri="{FF2B5EF4-FFF2-40B4-BE49-F238E27FC236}">
                    <a16:creationId xmlns:a16="http://schemas.microsoft.com/office/drawing/2014/main" id="{F1537048-B809-60A9-295D-4B9931CD991B}"/>
                  </a:ext>
                </a:extLst>
              </p:cNvPr>
              <p:cNvSpPr txBox="1"/>
              <p:nvPr/>
            </p:nvSpPr>
            <p:spPr>
              <a:xfrm>
                <a:off x="808660" y="3234162"/>
                <a:ext cx="48307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1A60E"/>
                    </a:solidFill>
                    <a:effectLst/>
                    <a:uLnTx/>
                    <a:uFillTx/>
                    <a:latin typeface="Arial" panose="020B0604020202020204"/>
                    <a:ea typeface="+mn-ea"/>
                    <a:cs typeface="+mn-cs"/>
                  </a:rPr>
                  <a:t>VLAN y</a:t>
                </a:r>
              </a:p>
            </p:txBody>
          </p:sp>
        </p:grpSp>
      </p:grpSp>
      <p:sp>
        <p:nvSpPr>
          <p:cNvPr id="93" name="Rectangle: Rounded Corners 144">
            <a:extLst>
              <a:ext uri="{FF2B5EF4-FFF2-40B4-BE49-F238E27FC236}">
                <a16:creationId xmlns:a16="http://schemas.microsoft.com/office/drawing/2014/main" id="{EA0B45B9-1F7E-0CFE-86AC-18FE1048B837}"/>
              </a:ext>
            </a:extLst>
          </p:cNvPr>
          <p:cNvSpPr/>
          <p:nvPr/>
        </p:nvSpPr>
        <p:spPr>
          <a:xfrm>
            <a:off x="869486" y="3567173"/>
            <a:ext cx="5421854" cy="393192"/>
          </a:xfrm>
          <a:prstGeom prst="roundRect">
            <a:avLst>
              <a:gd name="adj" fmla="val 50000"/>
            </a:avLst>
          </a:prstGeom>
          <a:solidFill>
            <a:schemeClr val="tx2"/>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VCF with vSphere Networking</a:t>
            </a:r>
          </a:p>
        </p:txBody>
      </p:sp>
      <p:grpSp>
        <p:nvGrpSpPr>
          <p:cNvPr id="129" name="Group 128">
            <a:extLst>
              <a:ext uri="{FF2B5EF4-FFF2-40B4-BE49-F238E27FC236}">
                <a16:creationId xmlns:a16="http://schemas.microsoft.com/office/drawing/2014/main" id="{017A1B74-74CD-1ABE-A030-F99ECDC2874D}"/>
              </a:ext>
            </a:extLst>
          </p:cNvPr>
          <p:cNvGrpSpPr>
            <a:grpSpLocks noChangeAspect="1"/>
          </p:cNvGrpSpPr>
          <p:nvPr/>
        </p:nvGrpSpPr>
        <p:grpSpPr>
          <a:xfrm>
            <a:off x="2074436" y="1950788"/>
            <a:ext cx="457202" cy="457200"/>
            <a:chOff x="6236527" y="4282407"/>
            <a:chExt cx="615026" cy="615024"/>
          </a:xfrm>
        </p:grpSpPr>
        <p:sp>
          <p:nvSpPr>
            <p:cNvPr id="130" name="Oval 129">
              <a:extLst>
                <a:ext uri="{FF2B5EF4-FFF2-40B4-BE49-F238E27FC236}">
                  <a16:creationId xmlns:a16="http://schemas.microsoft.com/office/drawing/2014/main" id="{D27EA683-7B01-49B7-DB5C-BDFE74E76D5D}"/>
                </a:ext>
              </a:extLst>
            </p:cNvPr>
            <p:cNvSpPr>
              <a:spLocks noChangeAspect="1"/>
            </p:cNvSpPr>
            <p:nvPr/>
          </p:nvSpPr>
          <p:spPr>
            <a:xfrm>
              <a:off x="6236527" y="4282407"/>
              <a:ext cx="615026" cy="615024"/>
            </a:xfrm>
            <a:prstGeom prst="ellipse">
              <a:avLst/>
            </a:prstGeom>
            <a:solidFill>
              <a:srgbClr val="C00000"/>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nvGrpSpPr>
            <p:cNvPr id="131" name="Group 130">
              <a:extLst>
                <a:ext uri="{FF2B5EF4-FFF2-40B4-BE49-F238E27FC236}">
                  <a16:creationId xmlns:a16="http://schemas.microsoft.com/office/drawing/2014/main" id="{52E5FA09-3ECB-1AEA-FEEE-EF258FCE41FC}"/>
                </a:ext>
              </a:extLst>
            </p:cNvPr>
            <p:cNvGrpSpPr/>
            <p:nvPr/>
          </p:nvGrpSpPr>
          <p:grpSpPr>
            <a:xfrm>
              <a:off x="6341349" y="4462363"/>
              <a:ext cx="395473" cy="299841"/>
              <a:chOff x="3560655" y="2748581"/>
              <a:chExt cx="580548" cy="440165"/>
            </a:xfrm>
          </p:grpSpPr>
          <p:sp>
            <p:nvSpPr>
              <p:cNvPr id="132" name="Freeform: Shape 155">
                <a:extLst>
                  <a:ext uri="{FF2B5EF4-FFF2-40B4-BE49-F238E27FC236}">
                    <a16:creationId xmlns:a16="http://schemas.microsoft.com/office/drawing/2014/main" id="{18022690-F272-8305-6D04-6C6E5EBD58CE}"/>
                  </a:ext>
                </a:extLst>
              </p:cNvPr>
              <p:cNvSpPr/>
              <p:nvPr/>
            </p:nvSpPr>
            <p:spPr>
              <a:xfrm>
                <a:off x="3560655" y="2748581"/>
                <a:ext cx="580548" cy="336411"/>
              </a:xfrm>
              <a:custGeom>
                <a:avLst/>
                <a:gdLst>
                  <a:gd name="connsiteX0" fmla="*/ 284140 w 580548"/>
                  <a:gd name="connsiteY0" fmla="*/ 305741 h 336411"/>
                  <a:gd name="connsiteX1" fmla="*/ 134381 w 580548"/>
                  <a:gd name="connsiteY1" fmla="*/ 305741 h 336411"/>
                  <a:gd name="connsiteX2" fmla="*/ 134381 w 580548"/>
                  <a:gd name="connsiteY2" fmla="*/ 234498 h 336411"/>
                  <a:gd name="connsiteX3" fmla="*/ 290450 w 580548"/>
                  <a:gd name="connsiteY3" fmla="*/ 234498 h 336411"/>
                  <a:gd name="connsiteX4" fmla="*/ 290450 w 580548"/>
                  <a:gd name="connsiteY4" fmla="*/ 292597 h 336411"/>
                  <a:gd name="connsiteX5" fmla="*/ 316739 w 580548"/>
                  <a:gd name="connsiteY5" fmla="*/ 238660 h 336411"/>
                  <a:gd name="connsiteX6" fmla="*/ 316739 w 580548"/>
                  <a:gd name="connsiteY6" fmla="*/ 234498 h 336411"/>
                  <a:gd name="connsiteX7" fmla="*/ 318754 w 580548"/>
                  <a:gd name="connsiteY7" fmla="*/ 234498 h 336411"/>
                  <a:gd name="connsiteX8" fmla="*/ 333695 w 580548"/>
                  <a:gd name="connsiteY8" fmla="*/ 203827 h 336411"/>
                  <a:gd name="connsiteX9" fmla="*/ 258421 w 580548"/>
                  <a:gd name="connsiteY9" fmla="*/ 203827 h 336411"/>
                  <a:gd name="connsiteX10" fmla="*/ 258421 w 580548"/>
                  <a:gd name="connsiteY10" fmla="*/ 132584 h 336411"/>
                  <a:gd name="connsiteX11" fmla="*/ 414490 w 580548"/>
                  <a:gd name="connsiteY11" fmla="*/ 132584 h 336411"/>
                  <a:gd name="connsiteX12" fmla="*/ 414490 w 580548"/>
                  <a:gd name="connsiteY12" fmla="*/ 192479 h 336411"/>
                  <a:gd name="connsiteX13" fmla="*/ 440779 w 580548"/>
                  <a:gd name="connsiteY13" fmla="*/ 137973 h 336411"/>
                  <a:gd name="connsiteX14" fmla="*/ 440779 w 580548"/>
                  <a:gd name="connsiteY14" fmla="*/ 132584 h 336411"/>
                  <a:gd name="connsiteX15" fmla="*/ 443364 w 580548"/>
                  <a:gd name="connsiteY15" fmla="*/ 132584 h 336411"/>
                  <a:gd name="connsiteX16" fmla="*/ 458173 w 580548"/>
                  <a:gd name="connsiteY16" fmla="*/ 101914 h 336411"/>
                  <a:gd name="connsiteX17" fmla="*/ 351528 w 580548"/>
                  <a:gd name="connsiteY17" fmla="*/ 101914 h 336411"/>
                  <a:gd name="connsiteX18" fmla="*/ 351528 w 580548"/>
                  <a:gd name="connsiteY18" fmla="*/ 30671 h 336411"/>
                  <a:gd name="connsiteX19" fmla="*/ 507597 w 580548"/>
                  <a:gd name="connsiteY19" fmla="*/ 30671 h 336411"/>
                  <a:gd name="connsiteX20" fmla="*/ 507597 w 580548"/>
                  <a:gd name="connsiteY20" fmla="*/ 101914 h 336411"/>
                  <a:gd name="connsiteX21" fmla="*/ 496643 w 580548"/>
                  <a:gd name="connsiteY21" fmla="*/ 101914 h 336411"/>
                  <a:gd name="connsiteX22" fmla="*/ 506063 w 580548"/>
                  <a:gd name="connsiteY22" fmla="*/ 121324 h 336411"/>
                  <a:gd name="connsiteX23" fmla="*/ 511540 w 580548"/>
                  <a:gd name="connsiteY23" fmla="*/ 132584 h 336411"/>
                  <a:gd name="connsiteX24" fmla="*/ 549834 w 580548"/>
                  <a:gd name="connsiteY24" fmla="*/ 132584 h 336411"/>
                  <a:gd name="connsiteX25" fmla="*/ 549834 w 580548"/>
                  <a:gd name="connsiteY25" fmla="*/ 203827 h 336411"/>
                  <a:gd name="connsiteX26" fmla="*/ 546154 w 580548"/>
                  <a:gd name="connsiteY26" fmla="*/ 203827 h 336411"/>
                  <a:gd name="connsiteX27" fmla="*/ 574984 w 580548"/>
                  <a:gd name="connsiteY27" fmla="*/ 262759 h 336411"/>
                  <a:gd name="connsiteX28" fmla="*/ 580549 w 580548"/>
                  <a:gd name="connsiteY28" fmla="*/ 274326 h 336411"/>
                  <a:gd name="connsiteX29" fmla="*/ 580549 w 580548"/>
                  <a:gd name="connsiteY29" fmla="*/ 0 h 336411"/>
                  <a:gd name="connsiteX30" fmla="*/ 0 w 580548"/>
                  <a:gd name="connsiteY30" fmla="*/ 0 h 336411"/>
                  <a:gd name="connsiteX31" fmla="*/ 0 w 580548"/>
                  <a:gd name="connsiteY31" fmla="*/ 336412 h 336411"/>
                  <a:gd name="connsiteX32" fmla="*/ 275509 w 580548"/>
                  <a:gd name="connsiteY32" fmla="*/ 336412 h 336411"/>
                  <a:gd name="connsiteX33" fmla="*/ 284140 w 580548"/>
                  <a:gd name="connsiteY33" fmla="*/ 305741 h 336411"/>
                  <a:gd name="connsiteX34" fmla="*/ 533886 w 580548"/>
                  <a:gd name="connsiteY34" fmla="*/ 30671 h 336411"/>
                  <a:gd name="connsiteX35" fmla="*/ 549834 w 580548"/>
                  <a:gd name="connsiteY35" fmla="*/ 30671 h 336411"/>
                  <a:gd name="connsiteX36" fmla="*/ 549834 w 580548"/>
                  <a:gd name="connsiteY36" fmla="*/ 101914 h 336411"/>
                  <a:gd name="connsiteX37" fmla="*/ 533886 w 580548"/>
                  <a:gd name="connsiteY37" fmla="*/ 101914 h 336411"/>
                  <a:gd name="connsiteX38" fmla="*/ 533886 w 580548"/>
                  <a:gd name="connsiteY38" fmla="*/ 30671 h 336411"/>
                  <a:gd name="connsiteX39" fmla="*/ 232132 w 580548"/>
                  <a:gd name="connsiteY39" fmla="*/ 203827 h 336411"/>
                  <a:gd name="connsiteX40" fmla="*/ 76063 w 580548"/>
                  <a:gd name="connsiteY40" fmla="*/ 203827 h 336411"/>
                  <a:gd name="connsiteX41" fmla="*/ 76063 w 580548"/>
                  <a:gd name="connsiteY41" fmla="*/ 132584 h 336411"/>
                  <a:gd name="connsiteX42" fmla="*/ 232132 w 580548"/>
                  <a:gd name="connsiteY42" fmla="*/ 132584 h 336411"/>
                  <a:gd name="connsiteX43" fmla="*/ 232132 w 580548"/>
                  <a:gd name="connsiteY43" fmla="*/ 203827 h 336411"/>
                  <a:gd name="connsiteX44" fmla="*/ 169170 w 580548"/>
                  <a:gd name="connsiteY44" fmla="*/ 30671 h 336411"/>
                  <a:gd name="connsiteX45" fmla="*/ 325239 w 580548"/>
                  <a:gd name="connsiteY45" fmla="*/ 30671 h 336411"/>
                  <a:gd name="connsiteX46" fmla="*/ 325239 w 580548"/>
                  <a:gd name="connsiteY46" fmla="*/ 101914 h 336411"/>
                  <a:gd name="connsiteX47" fmla="*/ 169170 w 580548"/>
                  <a:gd name="connsiteY47" fmla="*/ 101914 h 336411"/>
                  <a:gd name="connsiteX48" fmla="*/ 169170 w 580548"/>
                  <a:gd name="connsiteY48" fmla="*/ 30671 h 336411"/>
                  <a:gd name="connsiteX49" fmla="*/ 30671 w 580548"/>
                  <a:gd name="connsiteY49" fmla="*/ 30671 h 336411"/>
                  <a:gd name="connsiteX50" fmla="*/ 142881 w 580548"/>
                  <a:gd name="connsiteY50" fmla="*/ 30671 h 336411"/>
                  <a:gd name="connsiteX51" fmla="*/ 142881 w 580548"/>
                  <a:gd name="connsiteY51" fmla="*/ 101914 h 336411"/>
                  <a:gd name="connsiteX52" fmla="*/ 30671 w 580548"/>
                  <a:gd name="connsiteY52" fmla="*/ 101914 h 336411"/>
                  <a:gd name="connsiteX53" fmla="*/ 30671 w 580548"/>
                  <a:gd name="connsiteY53" fmla="*/ 30671 h 336411"/>
                  <a:gd name="connsiteX54" fmla="*/ 30671 w 580548"/>
                  <a:gd name="connsiteY54" fmla="*/ 132584 h 336411"/>
                  <a:gd name="connsiteX55" fmla="*/ 49774 w 580548"/>
                  <a:gd name="connsiteY55" fmla="*/ 132584 h 336411"/>
                  <a:gd name="connsiteX56" fmla="*/ 49774 w 580548"/>
                  <a:gd name="connsiteY56" fmla="*/ 203827 h 336411"/>
                  <a:gd name="connsiteX57" fmla="*/ 30671 w 580548"/>
                  <a:gd name="connsiteY57" fmla="*/ 203827 h 336411"/>
                  <a:gd name="connsiteX58" fmla="*/ 30671 w 580548"/>
                  <a:gd name="connsiteY58" fmla="*/ 132584 h 336411"/>
                  <a:gd name="connsiteX59" fmla="*/ 108092 w 580548"/>
                  <a:gd name="connsiteY59" fmla="*/ 305741 h 336411"/>
                  <a:gd name="connsiteX60" fmla="*/ 30671 w 580548"/>
                  <a:gd name="connsiteY60" fmla="*/ 305741 h 336411"/>
                  <a:gd name="connsiteX61" fmla="*/ 30671 w 580548"/>
                  <a:gd name="connsiteY61" fmla="*/ 234498 h 336411"/>
                  <a:gd name="connsiteX62" fmla="*/ 108092 w 580548"/>
                  <a:gd name="connsiteY62" fmla="*/ 234498 h 336411"/>
                  <a:gd name="connsiteX63" fmla="*/ 108092 w 580548"/>
                  <a:gd name="connsiteY63" fmla="*/ 305741 h 33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80548" h="336411">
                    <a:moveTo>
                      <a:pt x="284140" y="305741"/>
                    </a:moveTo>
                    <a:lnTo>
                      <a:pt x="134381" y="305741"/>
                    </a:lnTo>
                    <a:lnTo>
                      <a:pt x="134381" y="234498"/>
                    </a:lnTo>
                    <a:lnTo>
                      <a:pt x="290450" y="234498"/>
                    </a:lnTo>
                    <a:lnTo>
                      <a:pt x="290450" y="292597"/>
                    </a:lnTo>
                    <a:cubicBezTo>
                      <a:pt x="295445" y="282432"/>
                      <a:pt x="305829" y="261094"/>
                      <a:pt x="316739" y="238660"/>
                    </a:cubicBezTo>
                    <a:lnTo>
                      <a:pt x="316739" y="234498"/>
                    </a:lnTo>
                    <a:lnTo>
                      <a:pt x="318754" y="234498"/>
                    </a:lnTo>
                    <a:cubicBezTo>
                      <a:pt x="323837" y="224026"/>
                      <a:pt x="329007" y="213467"/>
                      <a:pt x="333695" y="203827"/>
                    </a:cubicBezTo>
                    <a:lnTo>
                      <a:pt x="258421" y="203827"/>
                    </a:lnTo>
                    <a:lnTo>
                      <a:pt x="258421" y="132584"/>
                    </a:lnTo>
                    <a:lnTo>
                      <a:pt x="414490" y="132584"/>
                    </a:lnTo>
                    <a:lnTo>
                      <a:pt x="414490" y="192479"/>
                    </a:lnTo>
                    <a:lnTo>
                      <a:pt x="440779" y="137973"/>
                    </a:lnTo>
                    <a:lnTo>
                      <a:pt x="440779" y="132584"/>
                    </a:lnTo>
                    <a:lnTo>
                      <a:pt x="443364" y="132584"/>
                    </a:lnTo>
                    <a:lnTo>
                      <a:pt x="458173" y="101914"/>
                    </a:lnTo>
                    <a:lnTo>
                      <a:pt x="351528" y="101914"/>
                    </a:lnTo>
                    <a:lnTo>
                      <a:pt x="351528" y="30671"/>
                    </a:lnTo>
                    <a:lnTo>
                      <a:pt x="507597" y="30671"/>
                    </a:lnTo>
                    <a:lnTo>
                      <a:pt x="507597" y="101914"/>
                    </a:lnTo>
                    <a:lnTo>
                      <a:pt x="496643" y="101914"/>
                    </a:lnTo>
                    <a:lnTo>
                      <a:pt x="506063" y="121324"/>
                    </a:lnTo>
                    <a:cubicBezTo>
                      <a:pt x="507728" y="124785"/>
                      <a:pt x="509568" y="128597"/>
                      <a:pt x="511540" y="132584"/>
                    </a:cubicBezTo>
                    <a:lnTo>
                      <a:pt x="549834" y="132584"/>
                    </a:lnTo>
                    <a:lnTo>
                      <a:pt x="549834" y="203827"/>
                    </a:lnTo>
                    <a:lnTo>
                      <a:pt x="546154" y="203827"/>
                    </a:lnTo>
                    <a:cubicBezTo>
                      <a:pt x="559079" y="230379"/>
                      <a:pt x="570559" y="253908"/>
                      <a:pt x="574984" y="262759"/>
                    </a:cubicBezTo>
                    <a:cubicBezTo>
                      <a:pt x="577044" y="266527"/>
                      <a:pt x="578840" y="270382"/>
                      <a:pt x="580549" y="274326"/>
                    </a:cubicBezTo>
                    <a:lnTo>
                      <a:pt x="580549" y="0"/>
                    </a:lnTo>
                    <a:lnTo>
                      <a:pt x="0" y="0"/>
                    </a:lnTo>
                    <a:lnTo>
                      <a:pt x="0" y="336412"/>
                    </a:lnTo>
                    <a:lnTo>
                      <a:pt x="275509" y="336412"/>
                    </a:lnTo>
                    <a:cubicBezTo>
                      <a:pt x="277042" y="325852"/>
                      <a:pt x="279978" y="315512"/>
                      <a:pt x="284140" y="305741"/>
                    </a:cubicBezTo>
                    <a:close/>
                    <a:moveTo>
                      <a:pt x="533886" y="30671"/>
                    </a:moveTo>
                    <a:lnTo>
                      <a:pt x="549834" y="30671"/>
                    </a:lnTo>
                    <a:lnTo>
                      <a:pt x="549834" y="101914"/>
                    </a:lnTo>
                    <a:lnTo>
                      <a:pt x="533886" y="101914"/>
                    </a:lnTo>
                    <a:lnTo>
                      <a:pt x="533886" y="30671"/>
                    </a:lnTo>
                    <a:close/>
                    <a:moveTo>
                      <a:pt x="232132" y="203827"/>
                    </a:moveTo>
                    <a:lnTo>
                      <a:pt x="76063" y="203827"/>
                    </a:lnTo>
                    <a:lnTo>
                      <a:pt x="76063" y="132584"/>
                    </a:lnTo>
                    <a:lnTo>
                      <a:pt x="232132" y="132584"/>
                    </a:lnTo>
                    <a:lnTo>
                      <a:pt x="232132" y="203827"/>
                    </a:lnTo>
                    <a:close/>
                    <a:moveTo>
                      <a:pt x="169170" y="30671"/>
                    </a:moveTo>
                    <a:lnTo>
                      <a:pt x="325239" y="30671"/>
                    </a:lnTo>
                    <a:lnTo>
                      <a:pt x="325239" y="101914"/>
                    </a:lnTo>
                    <a:lnTo>
                      <a:pt x="169170" y="101914"/>
                    </a:lnTo>
                    <a:lnTo>
                      <a:pt x="169170" y="30671"/>
                    </a:lnTo>
                    <a:close/>
                    <a:moveTo>
                      <a:pt x="30671" y="30671"/>
                    </a:moveTo>
                    <a:lnTo>
                      <a:pt x="142881" y="30671"/>
                    </a:lnTo>
                    <a:lnTo>
                      <a:pt x="142881" y="101914"/>
                    </a:lnTo>
                    <a:lnTo>
                      <a:pt x="30671" y="101914"/>
                    </a:lnTo>
                    <a:lnTo>
                      <a:pt x="30671" y="30671"/>
                    </a:lnTo>
                    <a:close/>
                    <a:moveTo>
                      <a:pt x="30671" y="132584"/>
                    </a:moveTo>
                    <a:lnTo>
                      <a:pt x="49774" y="132584"/>
                    </a:lnTo>
                    <a:lnTo>
                      <a:pt x="49774" y="203827"/>
                    </a:lnTo>
                    <a:lnTo>
                      <a:pt x="30671" y="203827"/>
                    </a:lnTo>
                    <a:lnTo>
                      <a:pt x="30671" y="132584"/>
                    </a:lnTo>
                    <a:close/>
                    <a:moveTo>
                      <a:pt x="108092" y="305741"/>
                    </a:moveTo>
                    <a:lnTo>
                      <a:pt x="30671" y="305741"/>
                    </a:lnTo>
                    <a:lnTo>
                      <a:pt x="30671" y="234498"/>
                    </a:lnTo>
                    <a:lnTo>
                      <a:pt x="108092" y="234498"/>
                    </a:lnTo>
                    <a:lnTo>
                      <a:pt x="108092" y="305741"/>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3" name="Freeform: Shape 156">
                <a:extLst>
                  <a:ext uri="{FF2B5EF4-FFF2-40B4-BE49-F238E27FC236}">
                    <a16:creationId xmlns:a16="http://schemas.microsoft.com/office/drawing/2014/main" id="{0F0DFD28-1E31-9B10-EAE9-E2A7A3BBBA2E}"/>
                  </a:ext>
                </a:extLst>
              </p:cNvPr>
              <p:cNvSpPr/>
              <p:nvPr/>
            </p:nvSpPr>
            <p:spPr>
              <a:xfrm>
                <a:off x="3866603" y="2883794"/>
                <a:ext cx="254911" cy="304952"/>
              </a:xfrm>
              <a:custGeom>
                <a:avLst/>
                <a:gdLst>
                  <a:gd name="connsiteX0" fmla="*/ 240819 w 254911"/>
                  <a:gd name="connsiteY0" fmla="*/ 142311 h 304952"/>
                  <a:gd name="connsiteX1" fmla="*/ 171504 w 254911"/>
                  <a:gd name="connsiteY1" fmla="*/ 0 h 304952"/>
                  <a:gd name="connsiteX2" fmla="*/ 113274 w 254911"/>
                  <a:gd name="connsiteY2" fmla="*/ 120710 h 304952"/>
                  <a:gd name="connsiteX3" fmla="*/ 104730 w 254911"/>
                  <a:gd name="connsiteY3" fmla="*/ 126450 h 304952"/>
                  <a:gd name="connsiteX4" fmla="*/ 96186 w 254911"/>
                  <a:gd name="connsiteY4" fmla="*/ 120710 h 304952"/>
                  <a:gd name="connsiteX5" fmla="*/ 66786 w 254911"/>
                  <a:gd name="connsiteY5" fmla="*/ 61078 h 304952"/>
                  <a:gd name="connsiteX6" fmla="*/ 11404 w 254911"/>
                  <a:gd name="connsiteY6" fmla="*/ 174822 h 304952"/>
                  <a:gd name="connsiteX7" fmla="*/ 12 w 254911"/>
                  <a:gd name="connsiteY7" fmla="*/ 221485 h 304952"/>
                  <a:gd name="connsiteX8" fmla="*/ 66392 w 254911"/>
                  <a:gd name="connsiteY8" fmla="*/ 304952 h 304952"/>
                  <a:gd name="connsiteX9" fmla="*/ 102802 w 254911"/>
                  <a:gd name="connsiteY9" fmla="*/ 304952 h 304952"/>
                  <a:gd name="connsiteX10" fmla="*/ 75549 w 254911"/>
                  <a:gd name="connsiteY10" fmla="*/ 196116 h 304952"/>
                  <a:gd name="connsiteX11" fmla="*/ 115070 w 254911"/>
                  <a:gd name="connsiteY11" fmla="*/ 225341 h 304952"/>
                  <a:gd name="connsiteX12" fmla="*/ 169007 w 254911"/>
                  <a:gd name="connsiteY12" fmla="*/ 140953 h 304952"/>
                  <a:gd name="connsiteX13" fmla="*/ 169007 w 254911"/>
                  <a:gd name="connsiteY13" fmla="*/ 139200 h 304952"/>
                  <a:gd name="connsiteX14" fmla="*/ 164581 w 254911"/>
                  <a:gd name="connsiteY14" fmla="*/ 304952 h 304952"/>
                  <a:gd name="connsiteX15" fmla="*/ 171373 w 254911"/>
                  <a:gd name="connsiteY15" fmla="*/ 304952 h 304952"/>
                  <a:gd name="connsiteX16" fmla="*/ 254884 w 254911"/>
                  <a:gd name="connsiteY16" fmla="*/ 200848 h 304952"/>
                  <a:gd name="connsiteX17" fmla="*/ 240776 w 254911"/>
                  <a:gd name="connsiteY17" fmla="*/ 142355 h 304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4911" h="304952">
                    <a:moveTo>
                      <a:pt x="240819" y="142311"/>
                    </a:moveTo>
                    <a:cubicBezTo>
                      <a:pt x="231794" y="124259"/>
                      <a:pt x="189731" y="37637"/>
                      <a:pt x="171504" y="0"/>
                    </a:cubicBezTo>
                    <a:lnTo>
                      <a:pt x="113274" y="120710"/>
                    </a:lnTo>
                    <a:cubicBezTo>
                      <a:pt x="111521" y="124259"/>
                      <a:pt x="108279" y="126450"/>
                      <a:pt x="104730" y="126450"/>
                    </a:cubicBezTo>
                    <a:cubicBezTo>
                      <a:pt x="101181" y="126450"/>
                      <a:pt x="97939" y="124259"/>
                      <a:pt x="96186" y="120710"/>
                    </a:cubicBezTo>
                    <a:lnTo>
                      <a:pt x="66786" y="61078"/>
                    </a:lnTo>
                    <a:cubicBezTo>
                      <a:pt x="51101" y="93370"/>
                      <a:pt x="18546" y="160231"/>
                      <a:pt x="11404" y="174822"/>
                    </a:cubicBezTo>
                    <a:cubicBezTo>
                      <a:pt x="3736" y="188755"/>
                      <a:pt x="-251" y="204967"/>
                      <a:pt x="12" y="221485"/>
                    </a:cubicBezTo>
                    <a:cubicBezTo>
                      <a:pt x="12" y="267228"/>
                      <a:pt x="30683" y="304952"/>
                      <a:pt x="66392" y="304952"/>
                    </a:cubicBezTo>
                    <a:lnTo>
                      <a:pt x="102802" y="304952"/>
                    </a:lnTo>
                    <a:cubicBezTo>
                      <a:pt x="62142" y="268060"/>
                      <a:pt x="66567" y="213072"/>
                      <a:pt x="75549" y="196116"/>
                    </a:cubicBezTo>
                    <a:cubicBezTo>
                      <a:pt x="75549" y="196116"/>
                      <a:pt x="95704" y="224990"/>
                      <a:pt x="115070" y="225341"/>
                    </a:cubicBezTo>
                    <a:cubicBezTo>
                      <a:pt x="142367" y="225823"/>
                      <a:pt x="156213" y="197869"/>
                      <a:pt x="169007" y="140953"/>
                    </a:cubicBezTo>
                    <a:lnTo>
                      <a:pt x="169007" y="139200"/>
                    </a:lnTo>
                    <a:cubicBezTo>
                      <a:pt x="193061" y="157471"/>
                      <a:pt x="220139" y="242297"/>
                      <a:pt x="164581" y="304952"/>
                    </a:cubicBezTo>
                    <a:lnTo>
                      <a:pt x="171373" y="304952"/>
                    </a:lnTo>
                    <a:cubicBezTo>
                      <a:pt x="217466" y="304952"/>
                      <a:pt x="254884" y="258289"/>
                      <a:pt x="254884" y="200848"/>
                    </a:cubicBezTo>
                    <a:cubicBezTo>
                      <a:pt x="255322" y="180167"/>
                      <a:pt x="250415" y="159793"/>
                      <a:pt x="240776" y="142355"/>
                    </a:cubicBez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grpSp>
        <p:nvGrpSpPr>
          <p:cNvPr id="134" name="Group 133">
            <a:extLst>
              <a:ext uri="{FF2B5EF4-FFF2-40B4-BE49-F238E27FC236}">
                <a16:creationId xmlns:a16="http://schemas.microsoft.com/office/drawing/2014/main" id="{C2E010A5-6C3F-0DA6-B388-618BD00465C8}"/>
              </a:ext>
            </a:extLst>
          </p:cNvPr>
          <p:cNvGrpSpPr>
            <a:grpSpLocks noChangeAspect="1"/>
          </p:cNvGrpSpPr>
          <p:nvPr/>
        </p:nvGrpSpPr>
        <p:grpSpPr>
          <a:xfrm>
            <a:off x="4490112" y="1950788"/>
            <a:ext cx="457202" cy="457200"/>
            <a:chOff x="4686723" y="1587682"/>
            <a:chExt cx="547621" cy="547619"/>
          </a:xfrm>
        </p:grpSpPr>
        <p:sp>
          <p:nvSpPr>
            <p:cNvPr id="135" name="Oval 134">
              <a:extLst>
                <a:ext uri="{FF2B5EF4-FFF2-40B4-BE49-F238E27FC236}">
                  <a16:creationId xmlns:a16="http://schemas.microsoft.com/office/drawing/2014/main" id="{E22B8328-CD67-4587-E30B-4B60B08A6CEA}"/>
                </a:ext>
              </a:extLst>
            </p:cNvPr>
            <p:cNvSpPr>
              <a:spLocks noChangeAspect="1"/>
            </p:cNvSpPr>
            <p:nvPr/>
          </p:nvSpPr>
          <p:spPr>
            <a:xfrm>
              <a:off x="4686723" y="1587682"/>
              <a:ext cx="547621" cy="547619"/>
            </a:xfrm>
            <a:prstGeom prst="ellipse">
              <a:avLst/>
            </a:prstGeom>
            <a:solidFill>
              <a:schemeClr val="accent4"/>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36" name="Google Shape;3149;p83">
              <a:extLst>
                <a:ext uri="{FF2B5EF4-FFF2-40B4-BE49-F238E27FC236}">
                  <a16:creationId xmlns:a16="http://schemas.microsoft.com/office/drawing/2014/main" id="{A3869C03-4C40-5B9D-D8F7-B0EE92448DCB}"/>
                </a:ext>
              </a:extLst>
            </p:cNvPr>
            <p:cNvSpPr>
              <a:spLocks noChangeAspect="1"/>
            </p:cNvSpPr>
            <p:nvPr/>
          </p:nvSpPr>
          <p:spPr>
            <a:xfrm>
              <a:off x="4775072" y="1678710"/>
              <a:ext cx="365562" cy="365562"/>
            </a:xfrm>
            <a:custGeom>
              <a:avLst/>
              <a:gdLst/>
              <a:ahLst/>
              <a:cxnLst/>
              <a:rect l="l" t="t" r="r" b="b"/>
              <a:pathLst>
                <a:path w="584492" h="584492" extrusionOk="0">
                  <a:moveTo>
                    <a:pt x="292246" y="0"/>
                  </a:moveTo>
                  <a:cubicBezTo>
                    <a:pt x="130832" y="0"/>
                    <a:pt x="0" y="130832"/>
                    <a:pt x="0" y="292246"/>
                  </a:cubicBezTo>
                  <a:cubicBezTo>
                    <a:pt x="0" y="453661"/>
                    <a:pt x="130832" y="584492"/>
                    <a:pt x="292246" y="584492"/>
                  </a:cubicBezTo>
                  <a:cubicBezTo>
                    <a:pt x="453661" y="584492"/>
                    <a:pt x="584492" y="453661"/>
                    <a:pt x="584492" y="292246"/>
                  </a:cubicBezTo>
                  <a:cubicBezTo>
                    <a:pt x="584492" y="130832"/>
                    <a:pt x="453617" y="0"/>
                    <a:pt x="292246" y="0"/>
                  </a:cubicBezTo>
                  <a:close/>
                  <a:moveTo>
                    <a:pt x="172982" y="333520"/>
                  </a:moveTo>
                  <a:lnTo>
                    <a:pt x="172982" y="307581"/>
                  </a:lnTo>
                  <a:lnTo>
                    <a:pt x="59895" y="307581"/>
                  </a:lnTo>
                  <a:lnTo>
                    <a:pt x="59895" y="276911"/>
                  </a:lnTo>
                  <a:lnTo>
                    <a:pt x="172982" y="276911"/>
                  </a:lnTo>
                  <a:lnTo>
                    <a:pt x="172982" y="250972"/>
                  </a:lnTo>
                  <a:lnTo>
                    <a:pt x="244488" y="292246"/>
                  </a:lnTo>
                  <a:lnTo>
                    <a:pt x="172982" y="333520"/>
                  </a:lnTo>
                  <a:close/>
                  <a:moveTo>
                    <a:pt x="292246" y="519646"/>
                  </a:moveTo>
                  <a:lnTo>
                    <a:pt x="250972" y="448140"/>
                  </a:lnTo>
                  <a:lnTo>
                    <a:pt x="276911" y="448140"/>
                  </a:lnTo>
                  <a:lnTo>
                    <a:pt x="276911" y="335053"/>
                  </a:lnTo>
                  <a:lnTo>
                    <a:pt x="307581" y="335053"/>
                  </a:lnTo>
                  <a:lnTo>
                    <a:pt x="307581" y="448140"/>
                  </a:lnTo>
                  <a:lnTo>
                    <a:pt x="333520" y="448140"/>
                  </a:lnTo>
                  <a:lnTo>
                    <a:pt x="292246" y="519646"/>
                  </a:lnTo>
                  <a:close/>
                  <a:moveTo>
                    <a:pt x="307581" y="136352"/>
                  </a:moveTo>
                  <a:lnTo>
                    <a:pt x="307581" y="249439"/>
                  </a:lnTo>
                  <a:lnTo>
                    <a:pt x="276911" y="249439"/>
                  </a:lnTo>
                  <a:lnTo>
                    <a:pt x="276911" y="136352"/>
                  </a:lnTo>
                  <a:lnTo>
                    <a:pt x="250972" y="136352"/>
                  </a:lnTo>
                  <a:lnTo>
                    <a:pt x="292246" y="64846"/>
                  </a:lnTo>
                  <a:lnTo>
                    <a:pt x="333520" y="136352"/>
                  </a:lnTo>
                  <a:lnTo>
                    <a:pt x="307581" y="136352"/>
                  </a:lnTo>
                  <a:close/>
                  <a:moveTo>
                    <a:pt x="411511" y="307581"/>
                  </a:moveTo>
                  <a:lnTo>
                    <a:pt x="411511" y="333520"/>
                  </a:lnTo>
                  <a:lnTo>
                    <a:pt x="340004" y="292246"/>
                  </a:lnTo>
                  <a:lnTo>
                    <a:pt x="411511" y="250972"/>
                  </a:lnTo>
                  <a:lnTo>
                    <a:pt x="411511" y="276911"/>
                  </a:lnTo>
                  <a:lnTo>
                    <a:pt x="524597" y="276911"/>
                  </a:lnTo>
                  <a:lnTo>
                    <a:pt x="524597" y="307581"/>
                  </a:lnTo>
                  <a:lnTo>
                    <a:pt x="411511" y="307581"/>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mn-ea"/>
                <a:cs typeface="+mn-cs"/>
                <a:sym typeface="Arial"/>
              </a:endParaRPr>
            </a:p>
          </p:txBody>
        </p:sp>
      </p:grpSp>
      <p:grpSp>
        <p:nvGrpSpPr>
          <p:cNvPr id="140" name="Group 139">
            <a:extLst>
              <a:ext uri="{FF2B5EF4-FFF2-40B4-BE49-F238E27FC236}">
                <a16:creationId xmlns:a16="http://schemas.microsoft.com/office/drawing/2014/main" id="{3D6E43E9-054E-541F-53AD-4EB97DA4DEBA}"/>
              </a:ext>
            </a:extLst>
          </p:cNvPr>
          <p:cNvGrpSpPr>
            <a:grpSpLocks noChangeAspect="1"/>
          </p:cNvGrpSpPr>
          <p:nvPr/>
        </p:nvGrpSpPr>
        <p:grpSpPr>
          <a:xfrm>
            <a:off x="3684886" y="1950788"/>
            <a:ext cx="457202" cy="457200"/>
            <a:chOff x="5341314" y="5151711"/>
            <a:chExt cx="547621" cy="547619"/>
          </a:xfrm>
        </p:grpSpPr>
        <p:sp>
          <p:nvSpPr>
            <p:cNvPr id="141" name="Oval 140">
              <a:extLst>
                <a:ext uri="{FF2B5EF4-FFF2-40B4-BE49-F238E27FC236}">
                  <a16:creationId xmlns:a16="http://schemas.microsoft.com/office/drawing/2014/main" id="{AAA077F3-4046-E0DD-571B-47485EEA90FF}"/>
                </a:ext>
              </a:extLst>
            </p:cNvPr>
            <p:cNvSpPr>
              <a:spLocks noChangeAspect="1"/>
            </p:cNvSpPr>
            <p:nvPr/>
          </p:nvSpPr>
          <p:spPr>
            <a:xfrm>
              <a:off x="5341314" y="5151711"/>
              <a:ext cx="547621" cy="547619"/>
            </a:xfrm>
            <a:prstGeom prst="ellipse">
              <a:avLst/>
            </a:prstGeom>
            <a:solidFill>
              <a:schemeClr val="accent4"/>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nvGrpSpPr>
            <p:cNvPr id="142" name="Group 141">
              <a:extLst>
                <a:ext uri="{FF2B5EF4-FFF2-40B4-BE49-F238E27FC236}">
                  <a16:creationId xmlns:a16="http://schemas.microsoft.com/office/drawing/2014/main" id="{54CD25BF-ED58-05C5-20E4-4D0742524B21}"/>
                </a:ext>
              </a:extLst>
            </p:cNvPr>
            <p:cNvGrpSpPr/>
            <p:nvPr/>
          </p:nvGrpSpPr>
          <p:grpSpPr>
            <a:xfrm>
              <a:off x="5475978" y="5286375"/>
              <a:ext cx="278292" cy="278290"/>
              <a:chOff x="7453826" y="4235509"/>
              <a:chExt cx="199845" cy="199844"/>
            </a:xfrm>
            <a:solidFill>
              <a:schemeClr val="bg1"/>
            </a:solidFill>
          </p:grpSpPr>
          <p:sp>
            <p:nvSpPr>
              <p:cNvPr id="143" name="Freeform: Shape 110">
                <a:extLst>
                  <a:ext uri="{FF2B5EF4-FFF2-40B4-BE49-F238E27FC236}">
                    <a16:creationId xmlns:a16="http://schemas.microsoft.com/office/drawing/2014/main" id="{CDCCD3D8-EFBB-52F0-D002-0E4B1BE824D9}"/>
                  </a:ext>
                </a:extLst>
              </p:cNvPr>
              <p:cNvSpPr/>
              <p:nvPr/>
            </p:nvSpPr>
            <p:spPr>
              <a:xfrm>
                <a:off x="7453826" y="4235509"/>
                <a:ext cx="199845" cy="199844"/>
              </a:xfrm>
              <a:custGeom>
                <a:avLst/>
                <a:gdLst>
                  <a:gd name="connsiteX0" fmla="*/ 539067 w 539067"/>
                  <a:gd name="connsiteY0" fmla="*/ 539067 h 539067"/>
                  <a:gd name="connsiteX1" fmla="*/ 366846 w 539067"/>
                  <a:gd name="connsiteY1" fmla="*/ 539067 h 539067"/>
                  <a:gd name="connsiteX2" fmla="*/ 366846 w 539067"/>
                  <a:gd name="connsiteY2" fmla="*/ 511064 h 539067"/>
                  <a:gd name="connsiteX3" fmla="*/ 511064 w 539067"/>
                  <a:gd name="connsiteY3" fmla="*/ 511064 h 539067"/>
                  <a:gd name="connsiteX4" fmla="*/ 511064 w 539067"/>
                  <a:gd name="connsiteY4" fmla="*/ 28004 h 539067"/>
                  <a:gd name="connsiteX5" fmla="*/ 28004 w 539067"/>
                  <a:gd name="connsiteY5" fmla="*/ 28004 h 539067"/>
                  <a:gd name="connsiteX6" fmla="*/ 28004 w 539067"/>
                  <a:gd name="connsiteY6" fmla="*/ 511064 h 539067"/>
                  <a:gd name="connsiteX7" fmla="*/ 173462 w 539067"/>
                  <a:gd name="connsiteY7" fmla="*/ 511064 h 539067"/>
                  <a:gd name="connsiteX8" fmla="*/ 173462 w 539067"/>
                  <a:gd name="connsiteY8" fmla="*/ 539067 h 539067"/>
                  <a:gd name="connsiteX9" fmla="*/ 0 w 539067"/>
                  <a:gd name="connsiteY9" fmla="*/ 539067 h 539067"/>
                  <a:gd name="connsiteX10" fmla="*/ 0 w 539067"/>
                  <a:gd name="connsiteY10" fmla="*/ 0 h 539067"/>
                  <a:gd name="connsiteX11" fmla="*/ 539067 w 539067"/>
                  <a:gd name="connsiteY11" fmla="*/ 0 h 539067"/>
                  <a:gd name="connsiteX12" fmla="*/ 539067 w 539067"/>
                  <a:gd name="connsiteY12" fmla="*/ 539067 h 539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67" h="539067">
                    <a:moveTo>
                      <a:pt x="539067" y="539067"/>
                    </a:moveTo>
                    <a:lnTo>
                      <a:pt x="366846" y="539067"/>
                    </a:lnTo>
                    <a:lnTo>
                      <a:pt x="366846" y="511064"/>
                    </a:lnTo>
                    <a:lnTo>
                      <a:pt x="511064" y="511064"/>
                    </a:lnTo>
                    <a:lnTo>
                      <a:pt x="511064" y="28004"/>
                    </a:lnTo>
                    <a:lnTo>
                      <a:pt x="28004" y="28004"/>
                    </a:lnTo>
                    <a:lnTo>
                      <a:pt x="28004" y="511064"/>
                    </a:lnTo>
                    <a:lnTo>
                      <a:pt x="173462" y="511064"/>
                    </a:lnTo>
                    <a:lnTo>
                      <a:pt x="173462" y="539067"/>
                    </a:lnTo>
                    <a:lnTo>
                      <a:pt x="0" y="539067"/>
                    </a:lnTo>
                    <a:lnTo>
                      <a:pt x="0" y="0"/>
                    </a:lnTo>
                    <a:lnTo>
                      <a:pt x="539067" y="0"/>
                    </a:lnTo>
                    <a:lnTo>
                      <a:pt x="539067" y="539067"/>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4" name="Freeform: Shape 115">
                <a:extLst>
                  <a:ext uri="{FF2B5EF4-FFF2-40B4-BE49-F238E27FC236}">
                    <a16:creationId xmlns:a16="http://schemas.microsoft.com/office/drawing/2014/main" id="{5175E21E-2EC4-12D1-9CE4-4E09D0D10535}"/>
                  </a:ext>
                </a:extLst>
              </p:cNvPr>
              <p:cNvSpPr/>
              <p:nvPr/>
            </p:nvSpPr>
            <p:spPr>
              <a:xfrm>
                <a:off x="7491571" y="4315610"/>
                <a:ext cx="51745" cy="27941"/>
              </a:xfrm>
              <a:custGeom>
                <a:avLst/>
                <a:gdLst>
                  <a:gd name="connsiteX0" fmla="*/ 74289 w 139577"/>
                  <a:gd name="connsiteY0" fmla="*/ 23683 h 75369"/>
                  <a:gd name="connsiteX1" fmla="*/ 0 w 139577"/>
                  <a:gd name="connsiteY1" fmla="*/ 23683 h 75369"/>
                  <a:gd name="connsiteX2" fmla="*/ 0 w 139577"/>
                  <a:gd name="connsiteY2" fmla="*/ 51686 h 75369"/>
                  <a:gd name="connsiteX3" fmla="*/ 74289 w 139577"/>
                  <a:gd name="connsiteY3" fmla="*/ 51686 h 75369"/>
                  <a:gd name="connsiteX4" fmla="*/ 74289 w 139577"/>
                  <a:gd name="connsiteY4" fmla="*/ 75369 h 75369"/>
                  <a:gd name="connsiteX5" fmla="*/ 139577 w 139577"/>
                  <a:gd name="connsiteY5" fmla="*/ 37685 h 75369"/>
                  <a:gd name="connsiteX6" fmla="*/ 74289 w 139577"/>
                  <a:gd name="connsiteY6" fmla="*/ 0 h 75369"/>
                  <a:gd name="connsiteX7" fmla="*/ 74289 w 139577"/>
                  <a:gd name="connsiteY7" fmla="*/ 23683 h 75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577" h="75369">
                    <a:moveTo>
                      <a:pt x="74289" y="23683"/>
                    </a:moveTo>
                    <a:lnTo>
                      <a:pt x="0" y="23683"/>
                    </a:lnTo>
                    <a:lnTo>
                      <a:pt x="0" y="51686"/>
                    </a:lnTo>
                    <a:lnTo>
                      <a:pt x="74289" y="51686"/>
                    </a:lnTo>
                    <a:lnTo>
                      <a:pt x="74289" y="75369"/>
                    </a:lnTo>
                    <a:lnTo>
                      <a:pt x="139577" y="37685"/>
                    </a:lnTo>
                    <a:lnTo>
                      <a:pt x="74289" y="0"/>
                    </a:lnTo>
                    <a:lnTo>
                      <a:pt x="74289" y="23683"/>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5" name="Freeform: Shape 116">
                <a:extLst>
                  <a:ext uri="{FF2B5EF4-FFF2-40B4-BE49-F238E27FC236}">
                    <a16:creationId xmlns:a16="http://schemas.microsoft.com/office/drawing/2014/main" id="{35517881-A36B-C7E2-6ED0-048EB5C43EBC}"/>
                  </a:ext>
                </a:extLst>
              </p:cNvPr>
              <p:cNvSpPr/>
              <p:nvPr/>
            </p:nvSpPr>
            <p:spPr>
              <a:xfrm>
                <a:off x="7550583" y="4276590"/>
                <a:ext cx="71247" cy="108695"/>
              </a:xfrm>
              <a:custGeom>
                <a:avLst/>
                <a:gdLst>
                  <a:gd name="connsiteX0" fmla="*/ 192184 w 192184"/>
                  <a:gd name="connsiteY0" fmla="*/ 142938 h 293196"/>
                  <a:gd name="connsiteX1" fmla="*/ 126896 w 192184"/>
                  <a:gd name="connsiteY1" fmla="*/ 105253 h 293196"/>
                  <a:gd name="connsiteX2" fmla="*/ 126896 w 192184"/>
                  <a:gd name="connsiteY2" fmla="*/ 128936 h 293196"/>
                  <a:gd name="connsiteX3" fmla="*/ 104973 w 192184"/>
                  <a:gd name="connsiteY3" fmla="*/ 128936 h 293196"/>
                  <a:gd name="connsiteX4" fmla="*/ 104973 w 192184"/>
                  <a:gd name="connsiteY4" fmla="*/ 0 h 293196"/>
                  <a:gd name="connsiteX5" fmla="*/ 0 w 192184"/>
                  <a:gd name="connsiteY5" fmla="*/ 0 h 293196"/>
                  <a:gd name="connsiteX6" fmla="*/ 0 w 192184"/>
                  <a:gd name="connsiteY6" fmla="*/ 28004 h 293196"/>
                  <a:gd name="connsiteX7" fmla="*/ 76970 w 192184"/>
                  <a:gd name="connsiteY7" fmla="*/ 28004 h 293196"/>
                  <a:gd name="connsiteX8" fmla="*/ 76970 w 192184"/>
                  <a:gd name="connsiteY8" fmla="*/ 128936 h 293196"/>
                  <a:gd name="connsiteX9" fmla="*/ 22123 w 192184"/>
                  <a:gd name="connsiteY9" fmla="*/ 128936 h 293196"/>
                  <a:gd name="connsiteX10" fmla="*/ 22123 w 192184"/>
                  <a:gd name="connsiteY10" fmla="*/ 156940 h 293196"/>
                  <a:gd name="connsiteX11" fmla="*/ 76970 w 192184"/>
                  <a:gd name="connsiteY11" fmla="*/ 156940 h 293196"/>
                  <a:gd name="connsiteX12" fmla="*/ 76970 w 192184"/>
                  <a:gd name="connsiteY12" fmla="*/ 265193 h 293196"/>
                  <a:gd name="connsiteX13" fmla="*/ 0 w 192184"/>
                  <a:gd name="connsiteY13" fmla="*/ 265193 h 293196"/>
                  <a:gd name="connsiteX14" fmla="*/ 0 w 192184"/>
                  <a:gd name="connsiteY14" fmla="*/ 293197 h 293196"/>
                  <a:gd name="connsiteX15" fmla="*/ 104973 w 192184"/>
                  <a:gd name="connsiteY15" fmla="*/ 293197 h 293196"/>
                  <a:gd name="connsiteX16" fmla="*/ 104973 w 192184"/>
                  <a:gd name="connsiteY16" fmla="*/ 156940 h 293196"/>
                  <a:gd name="connsiteX17" fmla="*/ 126896 w 192184"/>
                  <a:gd name="connsiteY17" fmla="*/ 156940 h 293196"/>
                  <a:gd name="connsiteX18" fmla="*/ 126896 w 192184"/>
                  <a:gd name="connsiteY18" fmla="*/ 180623 h 293196"/>
                  <a:gd name="connsiteX19" fmla="*/ 192184 w 192184"/>
                  <a:gd name="connsiteY19" fmla="*/ 142938 h 293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2184" h="293196">
                    <a:moveTo>
                      <a:pt x="192184" y="142938"/>
                    </a:moveTo>
                    <a:lnTo>
                      <a:pt x="126896" y="105253"/>
                    </a:lnTo>
                    <a:lnTo>
                      <a:pt x="126896" y="128936"/>
                    </a:lnTo>
                    <a:lnTo>
                      <a:pt x="104973" y="128936"/>
                    </a:lnTo>
                    <a:lnTo>
                      <a:pt x="104973" y="0"/>
                    </a:lnTo>
                    <a:lnTo>
                      <a:pt x="0" y="0"/>
                    </a:lnTo>
                    <a:lnTo>
                      <a:pt x="0" y="28004"/>
                    </a:lnTo>
                    <a:lnTo>
                      <a:pt x="76970" y="28004"/>
                    </a:lnTo>
                    <a:lnTo>
                      <a:pt x="76970" y="128936"/>
                    </a:lnTo>
                    <a:lnTo>
                      <a:pt x="22123" y="128936"/>
                    </a:lnTo>
                    <a:lnTo>
                      <a:pt x="22123" y="156940"/>
                    </a:lnTo>
                    <a:lnTo>
                      <a:pt x="76970" y="156940"/>
                    </a:lnTo>
                    <a:lnTo>
                      <a:pt x="76970" y="265193"/>
                    </a:lnTo>
                    <a:lnTo>
                      <a:pt x="0" y="265193"/>
                    </a:lnTo>
                    <a:lnTo>
                      <a:pt x="0" y="293197"/>
                    </a:lnTo>
                    <a:lnTo>
                      <a:pt x="104973" y="293197"/>
                    </a:lnTo>
                    <a:lnTo>
                      <a:pt x="104973" y="156940"/>
                    </a:lnTo>
                    <a:lnTo>
                      <a:pt x="126896" y="156940"/>
                    </a:lnTo>
                    <a:lnTo>
                      <a:pt x="126896" y="180623"/>
                    </a:lnTo>
                    <a:lnTo>
                      <a:pt x="192184" y="142938"/>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6" name="Freeform: Shape 124">
                <a:extLst>
                  <a:ext uri="{FF2B5EF4-FFF2-40B4-BE49-F238E27FC236}">
                    <a16:creationId xmlns:a16="http://schemas.microsoft.com/office/drawing/2014/main" id="{A8A4724B-7280-BE88-47FA-51A7E556858A}"/>
                  </a:ext>
                </a:extLst>
              </p:cNvPr>
              <p:cNvSpPr/>
              <p:nvPr/>
            </p:nvSpPr>
            <p:spPr>
              <a:xfrm>
                <a:off x="7491571" y="4266446"/>
                <a:ext cx="51745" cy="27956"/>
              </a:xfrm>
              <a:custGeom>
                <a:avLst/>
                <a:gdLst>
                  <a:gd name="connsiteX0" fmla="*/ 74289 w 139577"/>
                  <a:gd name="connsiteY0" fmla="*/ 23723 h 75409"/>
                  <a:gd name="connsiteX1" fmla="*/ 0 w 139577"/>
                  <a:gd name="connsiteY1" fmla="*/ 23723 h 75409"/>
                  <a:gd name="connsiteX2" fmla="*/ 0 w 139577"/>
                  <a:gd name="connsiteY2" fmla="*/ 51726 h 75409"/>
                  <a:gd name="connsiteX3" fmla="*/ 74289 w 139577"/>
                  <a:gd name="connsiteY3" fmla="*/ 51726 h 75409"/>
                  <a:gd name="connsiteX4" fmla="*/ 74289 w 139577"/>
                  <a:gd name="connsiteY4" fmla="*/ 75409 h 75409"/>
                  <a:gd name="connsiteX5" fmla="*/ 139577 w 139577"/>
                  <a:gd name="connsiteY5" fmla="*/ 37725 h 75409"/>
                  <a:gd name="connsiteX6" fmla="*/ 74289 w 139577"/>
                  <a:gd name="connsiteY6" fmla="*/ 0 h 75409"/>
                  <a:gd name="connsiteX7" fmla="*/ 74289 w 139577"/>
                  <a:gd name="connsiteY7" fmla="*/ 23723 h 7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577" h="75409">
                    <a:moveTo>
                      <a:pt x="74289" y="23723"/>
                    </a:moveTo>
                    <a:lnTo>
                      <a:pt x="0" y="23723"/>
                    </a:lnTo>
                    <a:lnTo>
                      <a:pt x="0" y="51726"/>
                    </a:lnTo>
                    <a:lnTo>
                      <a:pt x="74289" y="51726"/>
                    </a:lnTo>
                    <a:lnTo>
                      <a:pt x="74289" y="75409"/>
                    </a:lnTo>
                    <a:lnTo>
                      <a:pt x="139577" y="37725"/>
                    </a:lnTo>
                    <a:lnTo>
                      <a:pt x="74289" y="0"/>
                    </a:lnTo>
                    <a:lnTo>
                      <a:pt x="74289" y="23723"/>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7" name="Freeform: Shape 170">
                <a:extLst>
                  <a:ext uri="{FF2B5EF4-FFF2-40B4-BE49-F238E27FC236}">
                    <a16:creationId xmlns:a16="http://schemas.microsoft.com/office/drawing/2014/main" id="{A42E1D60-2B6A-50B8-488E-308104FC4725}"/>
                  </a:ext>
                </a:extLst>
              </p:cNvPr>
              <p:cNvSpPr/>
              <p:nvPr/>
            </p:nvSpPr>
            <p:spPr>
              <a:xfrm>
                <a:off x="7491571" y="4364759"/>
                <a:ext cx="51745" cy="27956"/>
              </a:xfrm>
              <a:custGeom>
                <a:avLst/>
                <a:gdLst>
                  <a:gd name="connsiteX0" fmla="*/ 74289 w 139577"/>
                  <a:gd name="connsiteY0" fmla="*/ 23683 h 75409"/>
                  <a:gd name="connsiteX1" fmla="*/ 0 w 139577"/>
                  <a:gd name="connsiteY1" fmla="*/ 23683 h 75409"/>
                  <a:gd name="connsiteX2" fmla="*/ 0 w 139577"/>
                  <a:gd name="connsiteY2" fmla="*/ 51686 h 75409"/>
                  <a:gd name="connsiteX3" fmla="*/ 74289 w 139577"/>
                  <a:gd name="connsiteY3" fmla="*/ 51686 h 75409"/>
                  <a:gd name="connsiteX4" fmla="*/ 74289 w 139577"/>
                  <a:gd name="connsiteY4" fmla="*/ 75409 h 75409"/>
                  <a:gd name="connsiteX5" fmla="*/ 139577 w 139577"/>
                  <a:gd name="connsiteY5" fmla="*/ 37685 h 75409"/>
                  <a:gd name="connsiteX6" fmla="*/ 74289 w 139577"/>
                  <a:gd name="connsiteY6" fmla="*/ 0 h 75409"/>
                  <a:gd name="connsiteX7" fmla="*/ 74289 w 139577"/>
                  <a:gd name="connsiteY7" fmla="*/ 23683 h 7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577" h="75409">
                    <a:moveTo>
                      <a:pt x="74289" y="23683"/>
                    </a:moveTo>
                    <a:lnTo>
                      <a:pt x="0" y="23683"/>
                    </a:lnTo>
                    <a:lnTo>
                      <a:pt x="0" y="51686"/>
                    </a:lnTo>
                    <a:lnTo>
                      <a:pt x="74289" y="51686"/>
                    </a:lnTo>
                    <a:lnTo>
                      <a:pt x="74289" y="75409"/>
                    </a:lnTo>
                    <a:lnTo>
                      <a:pt x="139577" y="37685"/>
                    </a:lnTo>
                    <a:lnTo>
                      <a:pt x="74289" y="0"/>
                    </a:lnTo>
                    <a:lnTo>
                      <a:pt x="74289" y="23683"/>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234" name="Group 233">
            <a:extLst>
              <a:ext uri="{FF2B5EF4-FFF2-40B4-BE49-F238E27FC236}">
                <a16:creationId xmlns:a16="http://schemas.microsoft.com/office/drawing/2014/main" id="{3430A49A-DA47-3B54-5677-1594AAB69A27}"/>
              </a:ext>
            </a:extLst>
          </p:cNvPr>
          <p:cNvGrpSpPr>
            <a:grpSpLocks noChangeAspect="1"/>
          </p:cNvGrpSpPr>
          <p:nvPr/>
        </p:nvGrpSpPr>
        <p:grpSpPr>
          <a:xfrm>
            <a:off x="1269213" y="1950788"/>
            <a:ext cx="457200" cy="457200"/>
            <a:chOff x="7756637" y="2484407"/>
            <a:chExt cx="902850" cy="902850"/>
          </a:xfrm>
        </p:grpSpPr>
        <p:sp>
          <p:nvSpPr>
            <p:cNvPr id="235" name="Oval 26">
              <a:extLst>
                <a:ext uri="{FF2B5EF4-FFF2-40B4-BE49-F238E27FC236}">
                  <a16:creationId xmlns:a16="http://schemas.microsoft.com/office/drawing/2014/main" id="{0FB795E9-2EA4-25EC-244B-70C099420D49}"/>
                </a:ext>
              </a:extLst>
            </p:cNvPr>
            <p:cNvSpPr>
              <a:spLocks noChangeAspect="1"/>
            </p:cNvSpPr>
            <p:nvPr/>
          </p:nvSpPr>
          <p:spPr bwMode="gray">
            <a:xfrm>
              <a:off x="7756637" y="2484407"/>
              <a:ext cx="902850" cy="902850"/>
            </a:xfrm>
            <a:prstGeom prst="ellipse">
              <a:avLst/>
            </a:prstGeom>
            <a:solidFill>
              <a:srgbClr val="E68C28"/>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236" name="Group 235">
              <a:extLst>
                <a:ext uri="{FF2B5EF4-FFF2-40B4-BE49-F238E27FC236}">
                  <a16:creationId xmlns:a16="http://schemas.microsoft.com/office/drawing/2014/main" id="{6CF5B35B-E3B4-D960-A22C-23CFFF7EA1EF}"/>
                </a:ext>
              </a:extLst>
            </p:cNvPr>
            <p:cNvGrpSpPr/>
            <p:nvPr/>
          </p:nvGrpSpPr>
          <p:grpSpPr>
            <a:xfrm>
              <a:off x="7930273" y="2670781"/>
              <a:ext cx="558302" cy="538093"/>
              <a:chOff x="7930273" y="2670781"/>
              <a:chExt cx="558302" cy="538093"/>
            </a:xfrm>
          </p:grpSpPr>
          <p:sp>
            <p:nvSpPr>
              <p:cNvPr id="237" name="Freeform: Shape 201">
                <a:extLst>
                  <a:ext uri="{FF2B5EF4-FFF2-40B4-BE49-F238E27FC236}">
                    <a16:creationId xmlns:a16="http://schemas.microsoft.com/office/drawing/2014/main" id="{DD665B55-2A9E-CB22-D2F5-2DAA76DD36BE}"/>
                  </a:ext>
                </a:extLst>
              </p:cNvPr>
              <p:cNvSpPr/>
              <p:nvPr/>
            </p:nvSpPr>
            <p:spPr>
              <a:xfrm>
                <a:off x="7930273" y="2670781"/>
                <a:ext cx="432694" cy="432694"/>
              </a:xfrm>
              <a:custGeom>
                <a:avLst/>
                <a:gdLst>
                  <a:gd name="connsiteX0" fmla="*/ 0 w 432694"/>
                  <a:gd name="connsiteY0" fmla="*/ 0 h 432694"/>
                  <a:gd name="connsiteX1" fmla="*/ 0 w 432694"/>
                  <a:gd name="connsiteY1" fmla="*/ 432694 h 432694"/>
                  <a:gd name="connsiteX2" fmla="*/ 295991 w 432694"/>
                  <a:gd name="connsiteY2" fmla="*/ 432694 h 432694"/>
                  <a:gd name="connsiteX3" fmla="*/ 295991 w 432694"/>
                  <a:gd name="connsiteY3" fmla="*/ 393070 h 432694"/>
                  <a:gd name="connsiteX4" fmla="*/ 165232 w 432694"/>
                  <a:gd name="connsiteY4" fmla="*/ 393070 h 432694"/>
                  <a:gd name="connsiteX5" fmla="*/ 206441 w 432694"/>
                  <a:gd name="connsiteY5" fmla="*/ 214762 h 432694"/>
                  <a:gd name="connsiteX6" fmla="*/ 236159 w 432694"/>
                  <a:gd name="connsiteY6" fmla="*/ 323728 h 432694"/>
                  <a:gd name="connsiteX7" fmla="*/ 285689 w 432694"/>
                  <a:gd name="connsiteY7" fmla="*/ 135514 h 432694"/>
                  <a:gd name="connsiteX8" fmla="*/ 306294 w 432694"/>
                  <a:gd name="connsiteY8" fmla="*/ 237744 h 432694"/>
                  <a:gd name="connsiteX9" fmla="*/ 393070 w 432694"/>
                  <a:gd name="connsiteY9" fmla="*/ 237744 h 432694"/>
                  <a:gd name="connsiteX10" fmla="*/ 393070 w 432694"/>
                  <a:gd name="connsiteY10" fmla="*/ 326106 h 432694"/>
                  <a:gd name="connsiteX11" fmla="*/ 432694 w 432694"/>
                  <a:gd name="connsiteY11" fmla="*/ 326106 h 432694"/>
                  <a:gd name="connsiteX12" fmla="*/ 432694 w 432694"/>
                  <a:gd name="connsiteY12" fmla="*/ 0 h 432694"/>
                  <a:gd name="connsiteX13" fmla="*/ 0 w 432694"/>
                  <a:gd name="connsiteY13" fmla="*/ 0 h 432694"/>
                  <a:gd name="connsiteX14" fmla="*/ 39624 w 432694"/>
                  <a:gd name="connsiteY14" fmla="*/ 393070 h 432694"/>
                  <a:gd name="connsiteX15" fmla="*/ 39624 w 432694"/>
                  <a:gd name="connsiteY15" fmla="*/ 237744 h 432694"/>
                  <a:gd name="connsiteX16" fmla="*/ 111740 w 432694"/>
                  <a:gd name="connsiteY16" fmla="*/ 237744 h 432694"/>
                  <a:gd name="connsiteX17" fmla="*/ 130759 w 432694"/>
                  <a:gd name="connsiteY17" fmla="*/ 168798 h 432694"/>
                  <a:gd name="connsiteX18" fmla="*/ 162458 w 432694"/>
                  <a:gd name="connsiteY18" fmla="*/ 393070 h 432694"/>
                  <a:gd name="connsiteX19" fmla="*/ 39624 w 432694"/>
                  <a:gd name="connsiteY19" fmla="*/ 393070 h 432694"/>
                  <a:gd name="connsiteX20" fmla="*/ 322539 w 432694"/>
                  <a:gd name="connsiteY20" fmla="*/ 217932 h 432694"/>
                  <a:gd name="connsiteX21" fmla="*/ 288066 w 432694"/>
                  <a:gd name="connsiteY21" fmla="*/ 47945 h 432694"/>
                  <a:gd name="connsiteX22" fmla="*/ 235763 w 432694"/>
                  <a:gd name="connsiteY22" fmla="*/ 246858 h 432694"/>
                  <a:gd name="connsiteX23" fmla="*/ 204856 w 432694"/>
                  <a:gd name="connsiteY23" fmla="*/ 133533 h 432694"/>
                  <a:gd name="connsiteX24" fmla="*/ 168006 w 432694"/>
                  <a:gd name="connsiteY24" fmla="*/ 292029 h 432694"/>
                  <a:gd name="connsiteX25" fmla="*/ 136703 w 432694"/>
                  <a:gd name="connsiteY25" fmla="*/ 72116 h 432694"/>
                  <a:gd name="connsiteX26" fmla="*/ 96683 w 432694"/>
                  <a:gd name="connsiteY26" fmla="*/ 217932 h 432694"/>
                  <a:gd name="connsiteX27" fmla="*/ 39624 w 432694"/>
                  <a:gd name="connsiteY27" fmla="*/ 217932 h 432694"/>
                  <a:gd name="connsiteX28" fmla="*/ 39624 w 432694"/>
                  <a:gd name="connsiteY28" fmla="*/ 39624 h 432694"/>
                  <a:gd name="connsiteX29" fmla="*/ 393070 w 432694"/>
                  <a:gd name="connsiteY29" fmla="*/ 39624 h 432694"/>
                  <a:gd name="connsiteX30" fmla="*/ 393070 w 432694"/>
                  <a:gd name="connsiteY30" fmla="*/ 217932 h 432694"/>
                  <a:gd name="connsiteX31" fmla="*/ 322539 w 432694"/>
                  <a:gd name="connsiteY31" fmla="*/ 217932 h 432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32694" h="432694">
                    <a:moveTo>
                      <a:pt x="0" y="0"/>
                    </a:moveTo>
                    <a:lnTo>
                      <a:pt x="0" y="432694"/>
                    </a:lnTo>
                    <a:lnTo>
                      <a:pt x="295991" y="432694"/>
                    </a:lnTo>
                    <a:lnTo>
                      <a:pt x="295991" y="393070"/>
                    </a:lnTo>
                    <a:lnTo>
                      <a:pt x="165232" y="393070"/>
                    </a:lnTo>
                    <a:lnTo>
                      <a:pt x="206441" y="214762"/>
                    </a:lnTo>
                    <a:lnTo>
                      <a:pt x="236159" y="323728"/>
                    </a:lnTo>
                    <a:lnTo>
                      <a:pt x="285689" y="135514"/>
                    </a:lnTo>
                    <a:lnTo>
                      <a:pt x="306294" y="237744"/>
                    </a:lnTo>
                    <a:lnTo>
                      <a:pt x="393070" y="237744"/>
                    </a:lnTo>
                    <a:lnTo>
                      <a:pt x="393070" y="326106"/>
                    </a:lnTo>
                    <a:lnTo>
                      <a:pt x="432694" y="326106"/>
                    </a:lnTo>
                    <a:lnTo>
                      <a:pt x="432694" y="0"/>
                    </a:lnTo>
                    <a:lnTo>
                      <a:pt x="0" y="0"/>
                    </a:lnTo>
                    <a:close/>
                    <a:moveTo>
                      <a:pt x="39624" y="393070"/>
                    </a:moveTo>
                    <a:lnTo>
                      <a:pt x="39624" y="237744"/>
                    </a:lnTo>
                    <a:lnTo>
                      <a:pt x="111740" y="237744"/>
                    </a:lnTo>
                    <a:lnTo>
                      <a:pt x="130759" y="168798"/>
                    </a:lnTo>
                    <a:lnTo>
                      <a:pt x="162458" y="393070"/>
                    </a:lnTo>
                    <a:lnTo>
                      <a:pt x="39624" y="393070"/>
                    </a:lnTo>
                    <a:close/>
                    <a:moveTo>
                      <a:pt x="322539" y="217932"/>
                    </a:moveTo>
                    <a:lnTo>
                      <a:pt x="288066" y="47945"/>
                    </a:lnTo>
                    <a:lnTo>
                      <a:pt x="235763" y="246858"/>
                    </a:lnTo>
                    <a:lnTo>
                      <a:pt x="204856" y="133533"/>
                    </a:lnTo>
                    <a:lnTo>
                      <a:pt x="168006" y="292029"/>
                    </a:lnTo>
                    <a:lnTo>
                      <a:pt x="136703" y="72116"/>
                    </a:lnTo>
                    <a:lnTo>
                      <a:pt x="96683" y="217932"/>
                    </a:lnTo>
                    <a:lnTo>
                      <a:pt x="39624" y="217932"/>
                    </a:lnTo>
                    <a:lnTo>
                      <a:pt x="39624" y="39624"/>
                    </a:lnTo>
                    <a:lnTo>
                      <a:pt x="393070" y="39624"/>
                    </a:lnTo>
                    <a:lnTo>
                      <a:pt x="393070" y="217932"/>
                    </a:lnTo>
                    <a:lnTo>
                      <a:pt x="322539" y="217932"/>
                    </a:ln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238" name="Graphic 41">
                <a:extLst>
                  <a:ext uri="{FF2B5EF4-FFF2-40B4-BE49-F238E27FC236}">
                    <a16:creationId xmlns:a16="http://schemas.microsoft.com/office/drawing/2014/main" id="{57E212EE-90AE-6166-B73F-A334404404F9}"/>
                  </a:ext>
                </a:extLst>
              </p:cNvPr>
              <p:cNvGrpSpPr/>
              <p:nvPr/>
            </p:nvGrpSpPr>
            <p:grpSpPr>
              <a:xfrm>
                <a:off x="8250435" y="3017491"/>
                <a:ext cx="238140" cy="191383"/>
                <a:chOff x="8250435" y="3017491"/>
                <a:chExt cx="238140" cy="191383"/>
              </a:xfrm>
              <a:solidFill>
                <a:schemeClr val="bg1"/>
              </a:solidFill>
            </p:grpSpPr>
            <p:sp>
              <p:nvSpPr>
                <p:cNvPr id="239" name="Freeform: Shape 203">
                  <a:extLst>
                    <a:ext uri="{FF2B5EF4-FFF2-40B4-BE49-F238E27FC236}">
                      <a16:creationId xmlns:a16="http://schemas.microsoft.com/office/drawing/2014/main" id="{AC56DA57-1AB1-0238-6C23-E6331051040C}"/>
                    </a:ext>
                  </a:extLst>
                </p:cNvPr>
                <p:cNvSpPr/>
                <p:nvPr/>
              </p:nvSpPr>
              <p:spPr>
                <a:xfrm>
                  <a:off x="8250435" y="3017491"/>
                  <a:ext cx="238140" cy="30510"/>
                </a:xfrm>
                <a:custGeom>
                  <a:avLst/>
                  <a:gdLst>
                    <a:gd name="connsiteX0" fmla="*/ 238140 w 238140"/>
                    <a:gd name="connsiteY0" fmla="*/ 0 h 30510"/>
                    <a:gd name="connsiteX1" fmla="*/ 0 w 238140"/>
                    <a:gd name="connsiteY1" fmla="*/ 0 h 30510"/>
                    <a:gd name="connsiteX2" fmla="*/ 0 w 238140"/>
                    <a:gd name="connsiteY2" fmla="*/ 30510 h 30510"/>
                    <a:gd name="connsiteX3" fmla="*/ 238140 w 238140"/>
                    <a:gd name="connsiteY3" fmla="*/ 30510 h 30510"/>
                    <a:gd name="connsiteX4" fmla="*/ 238140 w 238140"/>
                    <a:gd name="connsiteY4" fmla="*/ 0 h 30510"/>
                    <a:gd name="connsiteX5" fmla="*/ 15057 w 238140"/>
                    <a:gd name="connsiteY5" fmla="*/ 21793 h 30510"/>
                    <a:gd name="connsiteX6" fmla="*/ 8321 w 238140"/>
                    <a:gd name="connsiteY6" fmla="*/ 15057 h 30510"/>
                    <a:gd name="connsiteX7" fmla="*/ 15057 w 238140"/>
                    <a:gd name="connsiteY7" fmla="*/ 8321 h 30510"/>
                    <a:gd name="connsiteX8" fmla="*/ 22586 w 238140"/>
                    <a:gd name="connsiteY8" fmla="*/ 15057 h 30510"/>
                    <a:gd name="connsiteX9" fmla="*/ 15057 w 238140"/>
                    <a:gd name="connsiteY9" fmla="*/ 21793 h 30510"/>
                    <a:gd name="connsiteX10" fmla="*/ 37247 w 238140"/>
                    <a:gd name="connsiteY10" fmla="*/ 21793 h 30510"/>
                    <a:gd name="connsiteX11" fmla="*/ 30510 w 238140"/>
                    <a:gd name="connsiteY11" fmla="*/ 15057 h 30510"/>
                    <a:gd name="connsiteX12" fmla="*/ 37247 w 238140"/>
                    <a:gd name="connsiteY12" fmla="*/ 8321 h 30510"/>
                    <a:gd name="connsiteX13" fmla="*/ 43983 w 238140"/>
                    <a:gd name="connsiteY13" fmla="*/ 15057 h 30510"/>
                    <a:gd name="connsiteX14" fmla="*/ 37247 w 238140"/>
                    <a:gd name="connsiteY14" fmla="*/ 21793 h 30510"/>
                    <a:gd name="connsiteX15" fmla="*/ 58644 w 238140"/>
                    <a:gd name="connsiteY15" fmla="*/ 21793 h 30510"/>
                    <a:gd name="connsiteX16" fmla="*/ 51907 w 238140"/>
                    <a:gd name="connsiteY16" fmla="*/ 15057 h 30510"/>
                    <a:gd name="connsiteX17" fmla="*/ 58644 w 238140"/>
                    <a:gd name="connsiteY17" fmla="*/ 8321 h 30510"/>
                    <a:gd name="connsiteX18" fmla="*/ 65380 w 238140"/>
                    <a:gd name="connsiteY18" fmla="*/ 15057 h 30510"/>
                    <a:gd name="connsiteX19" fmla="*/ 58644 w 238140"/>
                    <a:gd name="connsiteY19" fmla="*/ 21793 h 30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8140" h="30510">
                      <a:moveTo>
                        <a:pt x="238140" y="0"/>
                      </a:moveTo>
                      <a:lnTo>
                        <a:pt x="0" y="0"/>
                      </a:lnTo>
                      <a:cubicBezTo>
                        <a:pt x="0" y="30510"/>
                        <a:pt x="0" y="30510"/>
                        <a:pt x="0" y="30510"/>
                      </a:cubicBezTo>
                      <a:cubicBezTo>
                        <a:pt x="238140" y="30510"/>
                        <a:pt x="238140" y="30510"/>
                        <a:pt x="238140" y="30510"/>
                      </a:cubicBezTo>
                      <a:cubicBezTo>
                        <a:pt x="238140" y="0"/>
                        <a:pt x="238140" y="0"/>
                        <a:pt x="238140" y="0"/>
                      </a:cubicBezTo>
                      <a:close/>
                      <a:moveTo>
                        <a:pt x="15057" y="21793"/>
                      </a:moveTo>
                      <a:cubicBezTo>
                        <a:pt x="11491" y="21793"/>
                        <a:pt x="8321" y="18227"/>
                        <a:pt x="8321" y="15057"/>
                      </a:cubicBezTo>
                      <a:cubicBezTo>
                        <a:pt x="8321" y="11095"/>
                        <a:pt x="11887" y="8321"/>
                        <a:pt x="15057" y="8321"/>
                      </a:cubicBezTo>
                      <a:cubicBezTo>
                        <a:pt x="19020" y="8321"/>
                        <a:pt x="22586" y="11095"/>
                        <a:pt x="22586" y="15057"/>
                      </a:cubicBezTo>
                      <a:cubicBezTo>
                        <a:pt x="22189" y="18623"/>
                        <a:pt x="19020" y="21793"/>
                        <a:pt x="15057" y="21793"/>
                      </a:cubicBezTo>
                      <a:close/>
                      <a:moveTo>
                        <a:pt x="37247" y="21793"/>
                      </a:moveTo>
                      <a:cubicBezTo>
                        <a:pt x="33284" y="21793"/>
                        <a:pt x="30510" y="18227"/>
                        <a:pt x="30510" y="15057"/>
                      </a:cubicBezTo>
                      <a:cubicBezTo>
                        <a:pt x="30510" y="11095"/>
                        <a:pt x="33284" y="8321"/>
                        <a:pt x="37247" y="8321"/>
                      </a:cubicBezTo>
                      <a:cubicBezTo>
                        <a:pt x="40813" y="8321"/>
                        <a:pt x="43983" y="11095"/>
                        <a:pt x="43983" y="15057"/>
                      </a:cubicBezTo>
                      <a:cubicBezTo>
                        <a:pt x="43983" y="18623"/>
                        <a:pt x="40417" y="21793"/>
                        <a:pt x="37247" y="21793"/>
                      </a:cubicBezTo>
                      <a:close/>
                      <a:moveTo>
                        <a:pt x="58644" y="21793"/>
                      </a:moveTo>
                      <a:cubicBezTo>
                        <a:pt x="55077" y="21793"/>
                        <a:pt x="51907" y="18227"/>
                        <a:pt x="51907" y="15057"/>
                      </a:cubicBezTo>
                      <a:cubicBezTo>
                        <a:pt x="51907" y="11095"/>
                        <a:pt x="55474" y="8321"/>
                        <a:pt x="58644" y="8321"/>
                      </a:cubicBezTo>
                      <a:cubicBezTo>
                        <a:pt x="62606" y="8321"/>
                        <a:pt x="65380" y="11095"/>
                        <a:pt x="65380" y="15057"/>
                      </a:cubicBezTo>
                      <a:cubicBezTo>
                        <a:pt x="65380" y="18623"/>
                        <a:pt x="63002" y="21793"/>
                        <a:pt x="58644" y="21793"/>
                      </a:cubicBez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0" name="Freeform: Shape 204">
                  <a:extLst>
                    <a:ext uri="{FF2B5EF4-FFF2-40B4-BE49-F238E27FC236}">
                      <a16:creationId xmlns:a16="http://schemas.microsoft.com/office/drawing/2014/main" id="{F5628B27-83A0-007E-7D2F-7879666CAAA6}"/>
                    </a:ext>
                  </a:extLst>
                </p:cNvPr>
                <p:cNvSpPr/>
                <p:nvPr/>
              </p:nvSpPr>
              <p:spPr>
                <a:xfrm>
                  <a:off x="8250435" y="3057907"/>
                  <a:ext cx="238140" cy="150967"/>
                </a:xfrm>
                <a:custGeom>
                  <a:avLst/>
                  <a:gdLst>
                    <a:gd name="connsiteX0" fmla="*/ 0 w 238140"/>
                    <a:gd name="connsiteY0" fmla="*/ 0 h 150967"/>
                    <a:gd name="connsiteX1" fmla="*/ 0 w 238140"/>
                    <a:gd name="connsiteY1" fmla="*/ 143439 h 150967"/>
                    <a:gd name="connsiteX2" fmla="*/ 6736 w 238140"/>
                    <a:gd name="connsiteY2" fmla="*/ 150967 h 150967"/>
                    <a:gd name="connsiteX3" fmla="*/ 230612 w 238140"/>
                    <a:gd name="connsiteY3" fmla="*/ 150967 h 150967"/>
                    <a:gd name="connsiteX4" fmla="*/ 238140 w 238140"/>
                    <a:gd name="connsiteY4" fmla="*/ 143439 h 150967"/>
                    <a:gd name="connsiteX5" fmla="*/ 238140 w 238140"/>
                    <a:gd name="connsiteY5" fmla="*/ 0 h 150967"/>
                    <a:gd name="connsiteX6" fmla="*/ 0 w 238140"/>
                    <a:gd name="connsiteY6" fmla="*/ 0 h 15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140" h="150967">
                      <a:moveTo>
                        <a:pt x="0" y="0"/>
                      </a:moveTo>
                      <a:cubicBezTo>
                        <a:pt x="0" y="143439"/>
                        <a:pt x="0" y="143439"/>
                        <a:pt x="0" y="143439"/>
                      </a:cubicBezTo>
                      <a:cubicBezTo>
                        <a:pt x="0" y="147401"/>
                        <a:pt x="2774" y="150967"/>
                        <a:pt x="6736" y="150967"/>
                      </a:cubicBezTo>
                      <a:cubicBezTo>
                        <a:pt x="230612" y="150967"/>
                        <a:pt x="230612" y="150967"/>
                        <a:pt x="230612" y="150967"/>
                      </a:cubicBezTo>
                      <a:cubicBezTo>
                        <a:pt x="234574" y="150967"/>
                        <a:pt x="238140" y="147798"/>
                        <a:pt x="238140" y="143439"/>
                      </a:cubicBezTo>
                      <a:cubicBezTo>
                        <a:pt x="238140" y="0"/>
                        <a:pt x="238140" y="0"/>
                        <a:pt x="238140" y="0"/>
                      </a:cubicBezTo>
                      <a:lnTo>
                        <a:pt x="0" y="0"/>
                      </a:ln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grpSp>
      <p:grpSp>
        <p:nvGrpSpPr>
          <p:cNvPr id="126" name="Group 125">
            <a:extLst>
              <a:ext uri="{FF2B5EF4-FFF2-40B4-BE49-F238E27FC236}">
                <a16:creationId xmlns:a16="http://schemas.microsoft.com/office/drawing/2014/main" id="{B4DE6C7E-6EFD-32AC-345D-9CAA66EBE348}"/>
              </a:ext>
            </a:extLst>
          </p:cNvPr>
          <p:cNvGrpSpPr>
            <a:grpSpLocks noChangeAspect="1"/>
          </p:cNvGrpSpPr>
          <p:nvPr/>
        </p:nvGrpSpPr>
        <p:grpSpPr>
          <a:xfrm>
            <a:off x="2879661" y="1950788"/>
            <a:ext cx="457202" cy="457200"/>
            <a:chOff x="7498117" y="3244694"/>
            <a:chExt cx="615026" cy="615024"/>
          </a:xfrm>
        </p:grpSpPr>
        <p:sp>
          <p:nvSpPr>
            <p:cNvPr id="127" name="Oval 126">
              <a:extLst>
                <a:ext uri="{FF2B5EF4-FFF2-40B4-BE49-F238E27FC236}">
                  <a16:creationId xmlns:a16="http://schemas.microsoft.com/office/drawing/2014/main" id="{BEB10F7D-9BC2-2CB3-C712-989D29FFDF60}"/>
                </a:ext>
              </a:extLst>
            </p:cNvPr>
            <p:cNvSpPr>
              <a:spLocks noChangeAspect="1"/>
            </p:cNvSpPr>
            <p:nvPr/>
          </p:nvSpPr>
          <p:spPr>
            <a:xfrm>
              <a:off x="7498117" y="3244694"/>
              <a:ext cx="615026" cy="615024"/>
            </a:xfrm>
            <a:prstGeom prst="ellipse">
              <a:avLst/>
            </a:prstGeom>
            <a:solidFill>
              <a:schemeClr val="accent5"/>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28" name="Graphic 62">
              <a:extLst>
                <a:ext uri="{FF2B5EF4-FFF2-40B4-BE49-F238E27FC236}">
                  <a16:creationId xmlns:a16="http://schemas.microsoft.com/office/drawing/2014/main" id="{54C8AB5E-C018-7D72-0718-B09190CFE9A7}"/>
                </a:ext>
              </a:extLst>
            </p:cNvPr>
            <p:cNvSpPr/>
            <p:nvPr/>
          </p:nvSpPr>
          <p:spPr>
            <a:xfrm>
              <a:off x="7601547" y="3369194"/>
              <a:ext cx="366027" cy="366026"/>
            </a:xfrm>
            <a:custGeom>
              <a:avLst/>
              <a:gdLst>
                <a:gd name="connsiteX0" fmla="*/ 168355 w 537323"/>
                <a:gd name="connsiteY0" fmla="*/ 0 h 537323"/>
                <a:gd name="connsiteX1" fmla="*/ 0 w 537323"/>
                <a:gd name="connsiteY1" fmla="*/ 185968 h 537323"/>
                <a:gd name="connsiteX2" fmla="*/ 0 w 537323"/>
                <a:gd name="connsiteY2" fmla="*/ 353777 h 537323"/>
                <a:gd name="connsiteX3" fmla="*/ 174877 w 537323"/>
                <a:gd name="connsiteY3" fmla="*/ 537324 h 537323"/>
                <a:gd name="connsiteX4" fmla="*/ 537324 w 537323"/>
                <a:gd name="connsiteY4" fmla="*/ 537324 h 537323"/>
                <a:gd name="connsiteX5" fmla="*/ 537324 w 537323"/>
                <a:gd name="connsiteY5" fmla="*/ 0 h 537323"/>
                <a:gd name="connsiteX6" fmla="*/ 168355 w 537323"/>
                <a:gd name="connsiteY6" fmla="*/ 0 h 537323"/>
                <a:gd name="connsiteX7" fmla="*/ 200964 w 537323"/>
                <a:gd name="connsiteY7" fmla="*/ 151680 h 537323"/>
                <a:gd name="connsiteX8" fmla="*/ 220295 w 537323"/>
                <a:gd name="connsiteY8" fmla="*/ 171011 h 537323"/>
                <a:gd name="connsiteX9" fmla="*/ 153633 w 537323"/>
                <a:gd name="connsiteY9" fmla="*/ 237674 h 537323"/>
                <a:gd name="connsiteX10" fmla="*/ 134302 w 537323"/>
                <a:gd name="connsiteY10" fmla="*/ 218343 h 537323"/>
                <a:gd name="connsiteX11" fmla="*/ 200964 w 537323"/>
                <a:gd name="connsiteY11" fmla="*/ 151680 h 537323"/>
                <a:gd name="connsiteX12" fmla="*/ 204870 w 537323"/>
                <a:gd name="connsiteY12" fmla="*/ 264151 h 537323"/>
                <a:gd name="connsiteX13" fmla="*/ 204870 w 537323"/>
                <a:gd name="connsiteY13" fmla="*/ 291488 h 537323"/>
                <a:gd name="connsiteX14" fmla="*/ 153320 w 537323"/>
                <a:gd name="connsiteY14" fmla="*/ 291488 h 537323"/>
                <a:gd name="connsiteX15" fmla="*/ 153320 w 537323"/>
                <a:gd name="connsiteY15" fmla="*/ 264151 h 537323"/>
                <a:gd name="connsiteX16" fmla="*/ 204870 w 537323"/>
                <a:gd name="connsiteY16" fmla="*/ 264151 h 537323"/>
                <a:gd name="connsiteX17" fmla="*/ 117119 w 537323"/>
                <a:gd name="connsiteY17" fmla="*/ 308632 h 537323"/>
                <a:gd name="connsiteX18" fmla="*/ 55494 w 537323"/>
                <a:gd name="connsiteY18" fmla="*/ 308632 h 537323"/>
                <a:gd name="connsiteX19" fmla="*/ 55494 w 537323"/>
                <a:gd name="connsiteY19" fmla="*/ 247007 h 537323"/>
                <a:gd name="connsiteX20" fmla="*/ 117119 w 537323"/>
                <a:gd name="connsiteY20" fmla="*/ 247007 h 537323"/>
                <a:gd name="connsiteX21" fmla="*/ 117119 w 537323"/>
                <a:gd name="connsiteY21" fmla="*/ 308632 h 537323"/>
                <a:gd name="connsiteX22" fmla="*/ 134302 w 537323"/>
                <a:gd name="connsiteY22" fmla="*/ 343506 h 537323"/>
                <a:gd name="connsiteX23" fmla="*/ 153633 w 537323"/>
                <a:gd name="connsiteY23" fmla="*/ 324175 h 537323"/>
                <a:gd name="connsiteX24" fmla="*/ 220295 w 537323"/>
                <a:gd name="connsiteY24" fmla="*/ 390838 h 537323"/>
                <a:gd name="connsiteX25" fmla="*/ 200964 w 537323"/>
                <a:gd name="connsiteY25" fmla="*/ 410169 h 537323"/>
                <a:gd name="connsiteX26" fmla="*/ 134302 w 537323"/>
                <a:gd name="connsiteY26" fmla="*/ 343506 h 537323"/>
                <a:gd name="connsiteX27" fmla="*/ 287231 w 537323"/>
                <a:gd name="connsiteY27" fmla="*/ 478901 h 537323"/>
                <a:gd name="connsiteX28" fmla="*/ 225606 w 537323"/>
                <a:gd name="connsiteY28" fmla="*/ 478901 h 537323"/>
                <a:gd name="connsiteX29" fmla="*/ 225606 w 537323"/>
                <a:gd name="connsiteY29" fmla="*/ 417276 h 537323"/>
                <a:gd name="connsiteX30" fmla="*/ 287231 w 537323"/>
                <a:gd name="connsiteY30" fmla="*/ 417276 h 537323"/>
                <a:gd name="connsiteX31" fmla="*/ 287231 w 537323"/>
                <a:gd name="connsiteY31" fmla="*/ 478901 h 537323"/>
                <a:gd name="connsiteX32" fmla="*/ 287231 w 537323"/>
                <a:gd name="connsiteY32" fmla="*/ 308593 h 537323"/>
                <a:gd name="connsiteX33" fmla="*/ 225606 w 537323"/>
                <a:gd name="connsiteY33" fmla="*/ 308593 h 537323"/>
                <a:gd name="connsiteX34" fmla="*/ 225606 w 537323"/>
                <a:gd name="connsiteY34" fmla="*/ 246968 h 537323"/>
                <a:gd name="connsiteX35" fmla="*/ 287231 w 537323"/>
                <a:gd name="connsiteY35" fmla="*/ 246968 h 537323"/>
                <a:gd name="connsiteX36" fmla="*/ 287231 w 537323"/>
                <a:gd name="connsiteY36" fmla="*/ 308593 h 537323"/>
                <a:gd name="connsiteX37" fmla="*/ 287231 w 537323"/>
                <a:gd name="connsiteY37" fmla="*/ 137192 h 537323"/>
                <a:gd name="connsiteX38" fmla="*/ 225606 w 537323"/>
                <a:gd name="connsiteY38" fmla="*/ 137192 h 537323"/>
                <a:gd name="connsiteX39" fmla="*/ 225606 w 537323"/>
                <a:gd name="connsiteY39" fmla="*/ 75567 h 537323"/>
                <a:gd name="connsiteX40" fmla="*/ 287231 w 537323"/>
                <a:gd name="connsiteY40" fmla="*/ 75567 h 537323"/>
                <a:gd name="connsiteX41" fmla="*/ 287231 w 537323"/>
                <a:gd name="connsiteY41" fmla="*/ 137192 h 537323"/>
                <a:gd name="connsiteX42" fmla="*/ 449143 w 537323"/>
                <a:gd name="connsiteY42" fmla="*/ 475386 h 537323"/>
                <a:gd name="connsiteX43" fmla="*/ 449143 w 537323"/>
                <a:gd name="connsiteY43" fmla="*/ 461796 h 537323"/>
                <a:gd name="connsiteX44" fmla="*/ 322105 w 537323"/>
                <a:gd name="connsiteY44" fmla="*/ 461796 h 537323"/>
                <a:gd name="connsiteX45" fmla="*/ 322105 w 537323"/>
                <a:gd name="connsiteY45" fmla="*/ 434459 h 537323"/>
                <a:gd name="connsiteX46" fmla="*/ 449143 w 537323"/>
                <a:gd name="connsiteY46" fmla="*/ 434459 h 537323"/>
                <a:gd name="connsiteX47" fmla="*/ 449143 w 537323"/>
                <a:gd name="connsiteY47" fmla="*/ 420869 h 537323"/>
                <a:gd name="connsiteX48" fmla="*/ 496358 w 537323"/>
                <a:gd name="connsiteY48" fmla="*/ 448128 h 537323"/>
                <a:gd name="connsiteX49" fmla="*/ 449143 w 537323"/>
                <a:gd name="connsiteY49" fmla="*/ 475386 h 537323"/>
                <a:gd name="connsiteX50" fmla="*/ 449143 w 537323"/>
                <a:gd name="connsiteY50" fmla="*/ 305039 h 537323"/>
                <a:gd name="connsiteX51" fmla="*/ 449143 w 537323"/>
                <a:gd name="connsiteY51" fmla="*/ 291449 h 537323"/>
                <a:gd name="connsiteX52" fmla="*/ 322105 w 537323"/>
                <a:gd name="connsiteY52" fmla="*/ 291449 h 537323"/>
                <a:gd name="connsiteX53" fmla="*/ 322105 w 537323"/>
                <a:gd name="connsiteY53" fmla="*/ 264112 h 537323"/>
                <a:gd name="connsiteX54" fmla="*/ 449143 w 537323"/>
                <a:gd name="connsiteY54" fmla="*/ 264112 h 537323"/>
                <a:gd name="connsiteX55" fmla="*/ 449143 w 537323"/>
                <a:gd name="connsiteY55" fmla="*/ 250522 h 537323"/>
                <a:gd name="connsiteX56" fmla="*/ 496358 w 537323"/>
                <a:gd name="connsiteY56" fmla="*/ 277781 h 537323"/>
                <a:gd name="connsiteX57" fmla="*/ 449143 w 537323"/>
                <a:gd name="connsiteY57" fmla="*/ 305039 h 537323"/>
                <a:gd name="connsiteX58" fmla="*/ 449143 w 537323"/>
                <a:gd name="connsiteY58" fmla="*/ 133638 h 537323"/>
                <a:gd name="connsiteX59" fmla="*/ 449143 w 537323"/>
                <a:gd name="connsiteY59" fmla="*/ 120047 h 537323"/>
                <a:gd name="connsiteX60" fmla="*/ 322105 w 537323"/>
                <a:gd name="connsiteY60" fmla="*/ 120047 h 537323"/>
                <a:gd name="connsiteX61" fmla="*/ 322105 w 537323"/>
                <a:gd name="connsiteY61" fmla="*/ 92711 h 537323"/>
                <a:gd name="connsiteX62" fmla="*/ 449143 w 537323"/>
                <a:gd name="connsiteY62" fmla="*/ 92711 h 537323"/>
                <a:gd name="connsiteX63" fmla="*/ 449143 w 537323"/>
                <a:gd name="connsiteY63" fmla="*/ 79120 h 537323"/>
                <a:gd name="connsiteX64" fmla="*/ 496358 w 537323"/>
                <a:gd name="connsiteY64" fmla="*/ 106379 h 537323"/>
                <a:gd name="connsiteX65" fmla="*/ 449143 w 537323"/>
                <a:gd name="connsiteY65" fmla="*/ 133638 h 537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37323" h="537323">
                  <a:moveTo>
                    <a:pt x="168355" y="0"/>
                  </a:moveTo>
                  <a:lnTo>
                    <a:pt x="0" y="185968"/>
                  </a:lnTo>
                  <a:lnTo>
                    <a:pt x="0" y="353777"/>
                  </a:lnTo>
                  <a:lnTo>
                    <a:pt x="174877" y="537324"/>
                  </a:lnTo>
                  <a:lnTo>
                    <a:pt x="537324" y="537324"/>
                  </a:lnTo>
                  <a:lnTo>
                    <a:pt x="537324" y="0"/>
                  </a:lnTo>
                  <a:lnTo>
                    <a:pt x="168355" y="0"/>
                  </a:lnTo>
                  <a:close/>
                  <a:moveTo>
                    <a:pt x="200964" y="151680"/>
                  </a:moveTo>
                  <a:lnTo>
                    <a:pt x="220295" y="171011"/>
                  </a:lnTo>
                  <a:lnTo>
                    <a:pt x="153633" y="237674"/>
                  </a:lnTo>
                  <a:lnTo>
                    <a:pt x="134302" y="218343"/>
                  </a:lnTo>
                  <a:lnTo>
                    <a:pt x="200964" y="151680"/>
                  </a:lnTo>
                  <a:close/>
                  <a:moveTo>
                    <a:pt x="204870" y="264151"/>
                  </a:moveTo>
                  <a:lnTo>
                    <a:pt x="204870" y="291488"/>
                  </a:lnTo>
                  <a:lnTo>
                    <a:pt x="153320" y="291488"/>
                  </a:lnTo>
                  <a:lnTo>
                    <a:pt x="153320" y="264151"/>
                  </a:lnTo>
                  <a:lnTo>
                    <a:pt x="204870" y="264151"/>
                  </a:lnTo>
                  <a:close/>
                  <a:moveTo>
                    <a:pt x="117119" y="308632"/>
                  </a:moveTo>
                  <a:cubicBezTo>
                    <a:pt x="100092" y="325659"/>
                    <a:pt x="72521" y="325659"/>
                    <a:pt x="55494" y="308632"/>
                  </a:cubicBezTo>
                  <a:cubicBezTo>
                    <a:pt x="38467" y="291605"/>
                    <a:pt x="38467" y="264034"/>
                    <a:pt x="55494" y="247007"/>
                  </a:cubicBezTo>
                  <a:cubicBezTo>
                    <a:pt x="72521" y="229980"/>
                    <a:pt x="100092" y="229980"/>
                    <a:pt x="117119" y="247007"/>
                  </a:cubicBezTo>
                  <a:cubicBezTo>
                    <a:pt x="134145" y="264034"/>
                    <a:pt x="134145" y="291605"/>
                    <a:pt x="117119" y="308632"/>
                  </a:cubicBezTo>
                  <a:close/>
                  <a:moveTo>
                    <a:pt x="134302" y="343506"/>
                  </a:moveTo>
                  <a:lnTo>
                    <a:pt x="153633" y="324175"/>
                  </a:lnTo>
                  <a:lnTo>
                    <a:pt x="220295" y="390838"/>
                  </a:lnTo>
                  <a:lnTo>
                    <a:pt x="200964" y="410169"/>
                  </a:lnTo>
                  <a:lnTo>
                    <a:pt x="134302" y="343506"/>
                  </a:lnTo>
                  <a:close/>
                  <a:moveTo>
                    <a:pt x="287231" y="478901"/>
                  </a:moveTo>
                  <a:cubicBezTo>
                    <a:pt x="270204" y="495928"/>
                    <a:pt x="242633" y="495928"/>
                    <a:pt x="225606" y="478901"/>
                  </a:cubicBezTo>
                  <a:cubicBezTo>
                    <a:pt x="208580" y="461874"/>
                    <a:pt x="208580" y="434303"/>
                    <a:pt x="225606" y="417276"/>
                  </a:cubicBezTo>
                  <a:cubicBezTo>
                    <a:pt x="242633" y="400249"/>
                    <a:pt x="270204" y="400249"/>
                    <a:pt x="287231" y="417276"/>
                  </a:cubicBezTo>
                  <a:cubicBezTo>
                    <a:pt x="304258" y="434303"/>
                    <a:pt x="304258" y="461874"/>
                    <a:pt x="287231" y="478901"/>
                  </a:cubicBezTo>
                  <a:close/>
                  <a:moveTo>
                    <a:pt x="287231" y="308593"/>
                  </a:moveTo>
                  <a:cubicBezTo>
                    <a:pt x="270204" y="325620"/>
                    <a:pt x="242633" y="325620"/>
                    <a:pt x="225606" y="308593"/>
                  </a:cubicBezTo>
                  <a:cubicBezTo>
                    <a:pt x="208580" y="291566"/>
                    <a:pt x="208580" y="263995"/>
                    <a:pt x="225606" y="246968"/>
                  </a:cubicBezTo>
                  <a:cubicBezTo>
                    <a:pt x="242633" y="229941"/>
                    <a:pt x="270204" y="229941"/>
                    <a:pt x="287231" y="246968"/>
                  </a:cubicBezTo>
                  <a:cubicBezTo>
                    <a:pt x="304258" y="263995"/>
                    <a:pt x="304258" y="291566"/>
                    <a:pt x="287231" y="308593"/>
                  </a:cubicBezTo>
                  <a:close/>
                  <a:moveTo>
                    <a:pt x="287231" y="137192"/>
                  </a:moveTo>
                  <a:cubicBezTo>
                    <a:pt x="270204" y="154218"/>
                    <a:pt x="242633" y="154218"/>
                    <a:pt x="225606" y="137192"/>
                  </a:cubicBezTo>
                  <a:cubicBezTo>
                    <a:pt x="208580" y="120165"/>
                    <a:pt x="208580" y="92594"/>
                    <a:pt x="225606" y="75567"/>
                  </a:cubicBezTo>
                  <a:cubicBezTo>
                    <a:pt x="242633" y="58540"/>
                    <a:pt x="270204" y="58540"/>
                    <a:pt x="287231" y="75567"/>
                  </a:cubicBezTo>
                  <a:cubicBezTo>
                    <a:pt x="304258" y="92594"/>
                    <a:pt x="304258" y="120165"/>
                    <a:pt x="287231" y="137192"/>
                  </a:cubicBezTo>
                  <a:close/>
                  <a:moveTo>
                    <a:pt x="449143" y="475386"/>
                  </a:moveTo>
                  <a:lnTo>
                    <a:pt x="449143" y="461796"/>
                  </a:lnTo>
                  <a:lnTo>
                    <a:pt x="322105" y="461796"/>
                  </a:lnTo>
                  <a:lnTo>
                    <a:pt x="322105" y="434459"/>
                  </a:lnTo>
                  <a:lnTo>
                    <a:pt x="449143" y="434459"/>
                  </a:lnTo>
                  <a:lnTo>
                    <a:pt x="449143" y="420869"/>
                  </a:lnTo>
                  <a:lnTo>
                    <a:pt x="496358" y="448128"/>
                  </a:lnTo>
                  <a:lnTo>
                    <a:pt x="449143" y="475386"/>
                  </a:lnTo>
                  <a:close/>
                  <a:moveTo>
                    <a:pt x="449143" y="305039"/>
                  </a:moveTo>
                  <a:lnTo>
                    <a:pt x="449143" y="291449"/>
                  </a:lnTo>
                  <a:lnTo>
                    <a:pt x="322105" y="291449"/>
                  </a:lnTo>
                  <a:lnTo>
                    <a:pt x="322105" y="264112"/>
                  </a:lnTo>
                  <a:lnTo>
                    <a:pt x="449143" y="264112"/>
                  </a:lnTo>
                  <a:lnTo>
                    <a:pt x="449143" y="250522"/>
                  </a:lnTo>
                  <a:lnTo>
                    <a:pt x="496358" y="277781"/>
                  </a:lnTo>
                  <a:lnTo>
                    <a:pt x="449143" y="305039"/>
                  </a:lnTo>
                  <a:close/>
                  <a:moveTo>
                    <a:pt x="449143" y="133638"/>
                  </a:moveTo>
                  <a:lnTo>
                    <a:pt x="449143" y="120047"/>
                  </a:lnTo>
                  <a:lnTo>
                    <a:pt x="322105" y="120047"/>
                  </a:lnTo>
                  <a:lnTo>
                    <a:pt x="322105" y="92711"/>
                  </a:lnTo>
                  <a:lnTo>
                    <a:pt x="449143" y="92711"/>
                  </a:lnTo>
                  <a:lnTo>
                    <a:pt x="449143" y="79120"/>
                  </a:lnTo>
                  <a:lnTo>
                    <a:pt x="496358" y="106379"/>
                  </a:lnTo>
                  <a:lnTo>
                    <a:pt x="449143" y="133638"/>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259" name="g5">
            <a:extLst>
              <a:ext uri="{FF2B5EF4-FFF2-40B4-BE49-F238E27FC236}">
                <a16:creationId xmlns:a16="http://schemas.microsoft.com/office/drawing/2014/main" id="{C1B57F5F-BBC5-63F8-D141-BF862309A855}"/>
              </a:ext>
            </a:extLst>
          </p:cNvPr>
          <p:cNvGrpSpPr/>
          <p:nvPr/>
        </p:nvGrpSpPr>
        <p:grpSpPr>
          <a:xfrm>
            <a:off x="6801707" y="4843603"/>
            <a:ext cx="3030663" cy="457200"/>
            <a:chOff x="6801707" y="2190938"/>
            <a:chExt cx="3030663" cy="457200"/>
          </a:xfrm>
        </p:grpSpPr>
        <p:sp>
          <p:nvSpPr>
            <p:cNvPr id="260" name="Freeform: Shape 24">
              <a:extLst>
                <a:ext uri="{FF2B5EF4-FFF2-40B4-BE49-F238E27FC236}">
                  <a16:creationId xmlns:a16="http://schemas.microsoft.com/office/drawing/2014/main" id="{CBA04376-6715-FC28-DD2A-E18DDF15A802}"/>
                </a:ext>
              </a:extLst>
            </p:cNvPr>
            <p:cNvSpPr/>
            <p:nvPr/>
          </p:nvSpPr>
          <p:spPr>
            <a:xfrm flipH="1">
              <a:off x="6801707" y="2190938"/>
              <a:ext cx="3030663" cy="457200"/>
            </a:xfrm>
            <a:custGeom>
              <a:avLst/>
              <a:gdLst>
                <a:gd name="connsiteX0" fmla="*/ 0 w 3030663"/>
                <a:gd name="connsiteY0" fmla="*/ 0 h 457200"/>
                <a:gd name="connsiteX1" fmla="*/ 2520956 w 3030663"/>
                <a:gd name="connsiteY1" fmla="*/ 0 h 457200"/>
                <a:gd name="connsiteX2" fmla="*/ 2539224 w 3030663"/>
                <a:gd name="connsiteY2" fmla="*/ 0 h 457200"/>
                <a:gd name="connsiteX3" fmla="*/ 2856223 w 3030663"/>
                <a:gd name="connsiteY3" fmla="*/ 0 h 457200"/>
                <a:gd name="connsiteX4" fmla="*/ 2886476 w 3030663"/>
                <a:gd name="connsiteY4" fmla="*/ 15527 h 457200"/>
                <a:gd name="connsiteX5" fmla="*/ 3023732 w 3030663"/>
                <a:gd name="connsiteY5" fmla="*/ 207028 h 457200"/>
                <a:gd name="connsiteX6" fmla="*/ 3023732 w 3030663"/>
                <a:gd name="connsiteY6" fmla="*/ 250171 h 457200"/>
                <a:gd name="connsiteX7" fmla="*/ 2886476 w 3030663"/>
                <a:gd name="connsiteY7" fmla="*/ 441673 h 457200"/>
                <a:gd name="connsiteX8" fmla="*/ 2856223 w 3030663"/>
                <a:gd name="connsiteY8" fmla="*/ 457200 h 457200"/>
                <a:gd name="connsiteX9" fmla="*/ 2539224 w 3030663"/>
                <a:gd name="connsiteY9" fmla="*/ 457200 h 457200"/>
                <a:gd name="connsiteX10" fmla="*/ 2520956 w 3030663"/>
                <a:gd name="connsiteY10" fmla="*/ 457200 h 457200"/>
                <a:gd name="connsiteX11" fmla="*/ 0 w 3030663"/>
                <a:gd name="connsiteY11"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30663" h="457200">
                  <a:moveTo>
                    <a:pt x="0" y="0"/>
                  </a:moveTo>
                  <a:lnTo>
                    <a:pt x="2520956" y="0"/>
                  </a:lnTo>
                  <a:lnTo>
                    <a:pt x="2539224" y="0"/>
                  </a:lnTo>
                  <a:lnTo>
                    <a:pt x="2856223" y="0"/>
                  </a:lnTo>
                  <a:cubicBezTo>
                    <a:pt x="2868239" y="0"/>
                    <a:pt x="2879509" y="5778"/>
                    <a:pt x="2886476" y="15527"/>
                  </a:cubicBezTo>
                  <a:lnTo>
                    <a:pt x="3023732" y="207028"/>
                  </a:lnTo>
                  <a:cubicBezTo>
                    <a:pt x="3032974" y="219932"/>
                    <a:pt x="3032974" y="237268"/>
                    <a:pt x="3023732" y="250171"/>
                  </a:cubicBezTo>
                  <a:lnTo>
                    <a:pt x="2886476" y="441673"/>
                  </a:lnTo>
                  <a:cubicBezTo>
                    <a:pt x="2879509" y="451421"/>
                    <a:pt x="2868204" y="457200"/>
                    <a:pt x="2856223" y="457200"/>
                  </a:cubicBezTo>
                  <a:lnTo>
                    <a:pt x="2539224" y="457200"/>
                  </a:lnTo>
                  <a:lnTo>
                    <a:pt x="2520956" y="457200"/>
                  </a:lnTo>
                  <a:lnTo>
                    <a:pt x="0" y="457200"/>
                  </a:lnTo>
                  <a:close/>
                </a:path>
              </a:pathLst>
            </a:custGeom>
            <a:gradFill>
              <a:gsLst>
                <a:gs pos="0">
                  <a:schemeClr val="bg2">
                    <a:lumMod val="90000"/>
                  </a:schemeClr>
                </a:gs>
                <a:gs pos="100000">
                  <a:schemeClr val="bg2">
                    <a:lumMod val="90000"/>
                    <a:alpha val="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1" name="Striped Right Arrow 225">
              <a:extLst>
                <a:ext uri="{FF2B5EF4-FFF2-40B4-BE49-F238E27FC236}">
                  <a16:creationId xmlns:a16="http://schemas.microsoft.com/office/drawing/2014/main" id="{07482B37-97AA-6DA0-641D-DCD4D3D3ED1B}"/>
                </a:ext>
              </a:extLst>
            </p:cNvPr>
            <p:cNvSpPr/>
            <p:nvPr/>
          </p:nvSpPr>
          <p:spPr>
            <a:xfrm flipH="1">
              <a:off x="7209211" y="2233918"/>
              <a:ext cx="2368967" cy="3691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1B1D36"/>
                  </a:solidFill>
                  <a:effectLst/>
                  <a:uLnTx/>
                  <a:uFillTx/>
                  <a:latin typeface="Arial" panose="020B0604020202020204"/>
                  <a:ea typeface="+mn-ea"/>
                  <a:cs typeface="+mn-cs"/>
                </a:rPr>
                <a:t>Vendor #5 configuration/API</a:t>
              </a:r>
            </a:p>
          </p:txBody>
        </p:sp>
        <p:sp>
          <p:nvSpPr>
            <p:cNvPr id="262" name="Graphic 6096">
              <a:extLst>
                <a:ext uri="{FF2B5EF4-FFF2-40B4-BE49-F238E27FC236}">
                  <a16:creationId xmlns:a16="http://schemas.microsoft.com/office/drawing/2014/main" id="{045246E6-0A64-0B31-F721-72CFDE41C3DB}"/>
                </a:ext>
              </a:extLst>
            </p:cNvPr>
            <p:cNvSpPr/>
            <p:nvPr/>
          </p:nvSpPr>
          <p:spPr>
            <a:xfrm flipH="1">
              <a:off x="6816283" y="2234303"/>
              <a:ext cx="258311" cy="370470"/>
            </a:xfrm>
            <a:custGeom>
              <a:avLst/>
              <a:gdLst>
                <a:gd name="connsiteX0" fmla="*/ 0 w 469820"/>
                <a:gd name="connsiteY0" fmla="*/ 675704 h 675703"/>
                <a:gd name="connsiteX1" fmla="*/ 210503 w 469820"/>
                <a:gd name="connsiteY1" fmla="*/ 675704 h 675703"/>
                <a:gd name="connsiteX2" fmla="*/ 258699 w 469820"/>
                <a:gd name="connsiteY2" fmla="*/ 650843 h 675703"/>
                <a:gd name="connsiteX3" fmla="*/ 459962 w 469820"/>
                <a:gd name="connsiteY3" fmla="*/ 368713 h 675703"/>
                <a:gd name="connsiteX4" fmla="*/ 459962 w 469820"/>
                <a:gd name="connsiteY4" fmla="*/ 306896 h 675703"/>
                <a:gd name="connsiteX5" fmla="*/ 260033 w 469820"/>
                <a:gd name="connsiteY5" fmla="*/ 26670 h 675703"/>
                <a:gd name="connsiteX6" fmla="*/ 208217 w 469820"/>
                <a:gd name="connsiteY6" fmla="*/ 0 h 675703"/>
                <a:gd name="connsiteX7" fmla="*/ 0 w 469820"/>
                <a:gd name="connsiteY7" fmla="*/ 0 h 675703"/>
                <a:gd name="connsiteX8" fmla="*/ 223266 w 469820"/>
                <a:gd name="connsiteY8" fmla="*/ 312992 h 675703"/>
                <a:gd name="connsiteX9" fmla="*/ 223266 w 469820"/>
                <a:gd name="connsiteY9" fmla="*/ 362712 h 675703"/>
                <a:gd name="connsiteX10" fmla="*/ 0 w 469820"/>
                <a:gd name="connsiteY10" fmla="*/ 675704 h 675703"/>
                <a:gd name="connsiteX11" fmla="*/ 0 w 469820"/>
                <a:gd name="connsiteY11" fmla="*/ 675704 h 675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9820" h="675703">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rgbClr val="E68C28"/>
            </a:solidFill>
            <a:ln>
              <a:noFill/>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lang="en-US" sz="1200" b="0" i="0" u="none" strike="noStrike" kern="1200" cap="none" spc="0" normalizeH="0" baseline="0" noProof="0">
                <a:ln>
                  <a:noFill/>
                </a:ln>
                <a:solidFill>
                  <a:srgbClr val="3C3C3C"/>
                </a:solidFill>
                <a:effectLst/>
                <a:uLnTx/>
                <a:uFillTx/>
                <a:latin typeface="Arial" panose="020B0604020202020204"/>
                <a:ea typeface="+mn-ea"/>
                <a:cs typeface="Arial"/>
              </a:endParaRPr>
            </a:p>
          </p:txBody>
        </p:sp>
      </p:grpSp>
      <p:grpSp>
        <p:nvGrpSpPr>
          <p:cNvPr id="263" name="Group 262">
            <a:extLst>
              <a:ext uri="{FF2B5EF4-FFF2-40B4-BE49-F238E27FC236}">
                <a16:creationId xmlns:a16="http://schemas.microsoft.com/office/drawing/2014/main" id="{EE6A7040-A951-33DB-D27B-9DF8C5435170}"/>
              </a:ext>
            </a:extLst>
          </p:cNvPr>
          <p:cNvGrpSpPr/>
          <p:nvPr/>
        </p:nvGrpSpPr>
        <p:grpSpPr>
          <a:xfrm>
            <a:off x="9294813" y="4784231"/>
            <a:ext cx="2324692" cy="575945"/>
            <a:chOff x="9294813" y="2043075"/>
            <a:chExt cx="2324692" cy="575945"/>
          </a:xfrm>
        </p:grpSpPr>
        <p:sp>
          <p:nvSpPr>
            <p:cNvPr id="264" name="Rectangle: Rounded Corners 557">
              <a:extLst>
                <a:ext uri="{FF2B5EF4-FFF2-40B4-BE49-F238E27FC236}">
                  <a16:creationId xmlns:a16="http://schemas.microsoft.com/office/drawing/2014/main" id="{17E43D22-39C6-2DC2-EFC9-A531044A6CF3}"/>
                </a:ext>
              </a:extLst>
            </p:cNvPr>
            <p:cNvSpPr/>
            <p:nvPr/>
          </p:nvSpPr>
          <p:spPr>
            <a:xfrm>
              <a:off x="9294813" y="2043075"/>
              <a:ext cx="2286000" cy="575945"/>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5" name="Content Placeholder 9">
              <a:extLst>
                <a:ext uri="{FF2B5EF4-FFF2-40B4-BE49-F238E27FC236}">
                  <a16:creationId xmlns:a16="http://schemas.microsoft.com/office/drawing/2014/main" id="{91D2BECB-7C87-1B0A-CA27-A86564F0EF71}"/>
                </a:ext>
              </a:extLst>
            </p:cNvPr>
            <p:cNvSpPr txBox="1">
              <a:spLocks/>
            </p:cNvSpPr>
            <p:nvPr/>
          </p:nvSpPr>
          <p:spPr>
            <a:xfrm>
              <a:off x="9855505" y="2229926"/>
              <a:ext cx="1764000" cy="202243"/>
            </a:xfrm>
            <a:prstGeom prst="rect">
              <a:avLst/>
            </a:prstGeom>
          </p:spPr>
          <p:txBody>
            <a:bodyPr vert="horz" lIns="0" tIns="0" rIns="0" bIns="0" rtlCol="0" anchor="ctr">
              <a:noAutofit/>
            </a:bodyPr>
            <a:lstStyle>
              <a:lvl1pPr marL="0" indent="0" algn="ctr" defTabSz="914400" rtl="0" eaLnBrk="1" latinLnBrk="0" hangingPunct="1">
                <a:lnSpc>
                  <a:spcPct val="100000"/>
                </a:lnSpc>
                <a:spcBef>
                  <a:spcPts val="600"/>
                </a:spcBef>
                <a:buClr>
                  <a:schemeClr val="tx1">
                    <a:lumMod val="60000"/>
                    <a:lumOff val="40000"/>
                  </a:schemeClr>
                </a:buClr>
                <a:buSzPct val="90000"/>
                <a:buFont typeface="Arial" panose="020B0604020202020204" pitchFamily="34" charset="0"/>
                <a:buChar char="​"/>
                <a:defRPr sz="2400" kern="1200">
                  <a:solidFill>
                    <a:schemeClr val="accent5"/>
                  </a:solidFill>
                  <a:latin typeface="+mn-lt"/>
                  <a:ea typeface="+mn-ea"/>
                  <a:cs typeface="+mn-cs"/>
                </a:defRPr>
              </a:lvl1pPr>
              <a:lvl2pPr marL="0" indent="0" algn="ctr" defTabSz="914400" rtl="0" eaLnBrk="1" latinLnBrk="0" hangingPunct="1">
                <a:lnSpc>
                  <a:spcPct val="100000"/>
                </a:lnSpc>
                <a:spcBef>
                  <a:spcPts val="600"/>
                </a:spcBef>
                <a:buClr>
                  <a:schemeClr val="tx2"/>
                </a:buClr>
                <a:buSzPct val="90000"/>
                <a:buFont typeface="Open Sans" panose="020B0606030504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6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6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6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0000">
                    <a:lumMod val="60000"/>
                    <a:lumOff val="40000"/>
                  </a:srgbClr>
                </a:buClr>
                <a:buSzPct val="90000"/>
                <a:buFont typeface="Arial" panose="020B0604020202020204" pitchFamily="34" charset="0"/>
                <a:buChar char="​"/>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Monitoring and Analytics</a:t>
              </a:r>
            </a:p>
          </p:txBody>
        </p:sp>
        <p:grpSp>
          <p:nvGrpSpPr>
            <p:cNvPr id="266" name="Group 265">
              <a:extLst>
                <a:ext uri="{FF2B5EF4-FFF2-40B4-BE49-F238E27FC236}">
                  <a16:creationId xmlns:a16="http://schemas.microsoft.com/office/drawing/2014/main" id="{6ABD47D3-5FCF-59E2-AD1A-81A393B3B15A}"/>
                </a:ext>
              </a:extLst>
            </p:cNvPr>
            <p:cNvGrpSpPr>
              <a:grpSpLocks noChangeAspect="1"/>
            </p:cNvGrpSpPr>
            <p:nvPr/>
          </p:nvGrpSpPr>
          <p:grpSpPr>
            <a:xfrm>
              <a:off x="9344980" y="2102447"/>
              <a:ext cx="457200" cy="457200"/>
              <a:chOff x="7756637" y="2484407"/>
              <a:chExt cx="902850" cy="902850"/>
            </a:xfrm>
          </p:grpSpPr>
          <p:sp>
            <p:nvSpPr>
              <p:cNvPr id="267" name="Oval 26">
                <a:extLst>
                  <a:ext uri="{FF2B5EF4-FFF2-40B4-BE49-F238E27FC236}">
                    <a16:creationId xmlns:a16="http://schemas.microsoft.com/office/drawing/2014/main" id="{12ABE2BA-2CDD-6B22-B9FE-318111682458}"/>
                  </a:ext>
                </a:extLst>
              </p:cNvPr>
              <p:cNvSpPr>
                <a:spLocks noChangeAspect="1"/>
              </p:cNvSpPr>
              <p:nvPr/>
            </p:nvSpPr>
            <p:spPr bwMode="gray">
              <a:xfrm>
                <a:off x="7756637" y="2484407"/>
                <a:ext cx="902850" cy="902850"/>
              </a:xfrm>
              <a:prstGeom prst="ellipse">
                <a:avLst/>
              </a:prstGeom>
              <a:solidFill>
                <a:schemeClr val="tx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268" name="Group 267">
                <a:extLst>
                  <a:ext uri="{FF2B5EF4-FFF2-40B4-BE49-F238E27FC236}">
                    <a16:creationId xmlns:a16="http://schemas.microsoft.com/office/drawing/2014/main" id="{2599C7CD-403C-EAD8-7E98-F9E25A0CF903}"/>
                  </a:ext>
                </a:extLst>
              </p:cNvPr>
              <p:cNvGrpSpPr/>
              <p:nvPr/>
            </p:nvGrpSpPr>
            <p:grpSpPr>
              <a:xfrm>
                <a:off x="7930273" y="2670781"/>
                <a:ext cx="558302" cy="538093"/>
                <a:chOff x="7930273" y="2670781"/>
                <a:chExt cx="558302" cy="538093"/>
              </a:xfrm>
            </p:grpSpPr>
            <p:sp>
              <p:nvSpPr>
                <p:cNvPr id="269" name="Freeform: Shape 201">
                  <a:extLst>
                    <a:ext uri="{FF2B5EF4-FFF2-40B4-BE49-F238E27FC236}">
                      <a16:creationId xmlns:a16="http://schemas.microsoft.com/office/drawing/2014/main" id="{2B00B8A5-9535-0083-1C5D-C841897EF2FF}"/>
                    </a:ext>
                  </a:extLst>
                </p:cNvPr>
                <p:cNvSpPr/>
                <p:nvPr/>
              </p:nvSpPr>
              <p:spPr>
                <a:xfrm>
                  <a:off x="7930273" y="2670781"/>
                  <a:ext cx="432694" cy="432694"/>
                </a:xfrm>
                <a:custGeom>
                  <a:avLst/>
                  <a:gdLst>
                    <a:gd name="connsiteX0" fmla="*/ 0 w 432694"/>
                    <a:gd name="connsiteY0" fmla="*/ 0 h 432694"/>
                    <a:gd name="connsiteX1" fmla="*/ 0 w 432694"/>
                    <a:gd name="connsiteY1" fmla="*/ 432694 h 432694"/>
                    <a:gd name="connsiteX2" fmla="*/ 295991 w 432694"/>
                    <a:gd name="connsiteY2" fmla="*/ 432694 h 432694"/>
                    <a:gd name="connsiteX3" fmla="*/ 295991 w 432694"/>
                    <a:gd name="connsiteY3" fmla="*/ 393070 h 432694"/>
                    <a:gd name="connsiteX4" fmla="*/ 165232 w 432694"/>
                    <a:gd name="connsiteY4" fmla="*/ 393070 h 432694"/>
                    <a:gd name="connsiteX5" fmla="*/ 206441 w 432694"/>
                    <a:gd name="connsiteY5" fmla="*/ 214762 h 432694"/>
                    <a:gd name="connsiteX6" fmla="*/ 236159 w 432694"/>
                    <a:gd name="connsiteY6" fmla="*/ 323728 h 432694"/>
                    <a:gd name="connsiteX7" fmla="*/ 285689 w 432694"/>
                    <a:gd name="connsiteY7" fmla="*/ 135514 h 432694"/>
                    <a:gd name="connsiteX8" fmla="*/ 306294 w 432694"/>
                    <a:gd name="connsiteY8" fmla="*/ 237744 h 432694"/>
                    <a:gd name="connsiteX9" fmla="*/ 393070 w 432694"/>
                    <a:gd name="connsiteY9" fmla="*/ 237744 h 432694"/>
                    <a:gd name="connsiteX10" fmla="*/ 393070 w 432694"/>
                    <a:gd name="connsiteY10" fmla="*/ 326106 h 432694"/>
                    <a:gd name="connsiteX11" fmla="*/ 432694 w 432694"/>
                    <a:gd name="connsiteY11" fmla="*/ 326106 h 432694"/>
                    <a:gd name="connsiteX12" fmla="*/ 432694 w 432694"/>
                    <a:gd name="connsiteY12" fmla="*/ 0 h 432694"/>
                    <a:gd name="connsiteX13" fmla="*/ 0 w 432694"/>
                    <a:gd name="connsiteY13" fmla="*/ 0 h 432694"/>
                    <a:gd name="connsiteX14" fmla="*/ 39624 w 432694"/>
                    <a:gd name="connsiteY14" fmla="*/ 393070 h 432694"/>
                    <a:gd name="connsiteX15" fmla="*/ 39624 w 432694"/>
                    <a:gd name="connsiteY15" fmla="*/ 237744 h 432694"/>
                    <a:gd name="connsiteX16" fmla="*/ 111740 w 432694"/>
                    <a:gd name="connsiteY16" fmla="*/ 237744 h 432694"/>
                    <a:gd name="connsiteX17" fmla="*/ 130759 w 432694"/>
                    <a:gd name="connsiteY17" fmla="*/ 168798 h 432694"/>
                    <a:gd name="connsiteX18" fmla="*/ 162458 w 432694"/>
                    <a:gd name="connsiteY18" fmla="*/ 393070 h 432694"/>
                    <a:gd name="connsiteX19" fmla="*/ 39624 w 432694"/>
                    <a:gd name="connsiteY19" fmla="*/ 393070 h 432694"/>
                    <a:gd name="connsiteX20" fmla="*/ 322539 w 432694"/>
                    <a:gd name="connsiteY20" fmla="*/ 217932 h 432694"/>
                    <a:gd name="connsiteX21" fmla="*/ 288066 w 432694"/>
                    <a:gd name="connsiteY21" fmla="*/ 47945 h 432694"/>
                    <a:gd name="connsiteX22" fmla="*/ 235763 w 432694"/>
                    <a:gd name="connsiteY22" fmla="*/ 246858 h 432694"/>
                    <a:gd name="connsiteX23" fmla="*/ 204856 w 432694"/>
                    <a:gd name="connsiteY23" fmla="*/ 133533 h 432694"/>
                    <a:gd name="connsiteX24" fmla="*/ 168006 w 432694"/>
                    <a:gd name="connsiteY24" fmla="*/ 292029 h 432694"/>
                    <a:gd name="connsiteX25" fmla="*/ 136703 w 432694"/>
                    <a:gd name="connsiteY25" fmla="*/ 72116 h 432694"/>
                    <a:gd name="connsiteX26" fmla="*/ 96683 w 432694"/>
                    <a:gd name="connsiteY26" fmla="*/ 217932 h 432694"/>
                    <a:gd name="connsiteX27" fmla="*/ 39624 w 432694"/>
                    <a:gd name="connsiteY27" fmla="*/ 217932 h 432694"/>
                    <a:gd name="connsiteX28" fmla="*/ 39624 w 432694"/>
                    <a:gd name="connsiteY28" fmla="*/ 39624 h 432694"/>
                    <a:gd name="connsiteX29" fmla="*/ 393070 w 432694"/>
                    <a:gd name="connsiteY29" fmla="*/ 39624 h 432694"/>
                    <a:gd name="connsiteX30" fmla="*/ 393070 w 432694"/>
                    <a:gd name="connsiteY30" fmla="*/ 217932 h 432694"/>
                    <a:gd name="connsiteX31" fmla="*/ 322539 w 432694"/>
                    <a:gd name="connsiteY31" fmla="*/ 217932 h 432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32694" h="432694">
                      <a:moveTo>
                        <a:pt x="0" y="0"/>
                      </a:moveTo>
                      <a:lnTo>
                        <a:pt x="0" y="432694"/>
                      </a:lnTo>
                      <a:lnTo>
                        <a:pt x="295991" y="432694"/>
                      </a:lnTo>
                      <a:lnTo>
                        <a:pt x="295991" y="393070"/>
                      </a:lnTo>
                      <a:lnTo>
                        <a:pt x="165232" y="393070"/>
                      </a:lnTo>
                      <a:lnTo>
                        <a:pt x="206441" y="214762"/>
                      </a:lnTo>
                      <a:lnTo>
                        <a:pt x="236159" y="323728"/>
                      </a:lnTo>
                      <a:lnTo>
                        <a:pt x="285689" y="135514"/>
                      </a:lnTo>
                      <a:lnTo>
                        <a:pt x="306294" y="237744"/>
                      </a:lnTo>
                      <a:lnTo>
                        <a:pt x="393070" y="237744"/>
                      </a:lnTo>
                      <a:lnTo>
                        <a:pt x="393070" y="326106"/>
                      </a:lnTo>
                      <a:lnTo>
                        <a:pt x="432694" y="326106"/>
                      </a:lnTo>
                      <a:lnTo>
                        <a:pt x="432694" y="0"/>
                      </a:lnTo>
                      <a:lnTo>
                        <a:pt x="0" y="0"/>
                      </a:lnTo>
                      <a:close/>
                      <a:moveTo>
                        <a:pt x="39624" y="393070"/>
                      </a:moveTo>
                      <a:lnTo>
                        <a:pt x="39624" y="237744"/>
                      </a:lnTo>
                      <a:lnTo>
                        <a:pt x="111740" y="237744"/>
                      </a:lnTo>
                      <a:lnTo>
                        <a:pt x="130759" y="168798"/>
                      </a:lnTo>
                      <a:lnTo>
                        <a:pt x="162458" y="393070"/>
                      </a:lnTo>
                      <a:lnTo>
                        <a:pt x="39624" y="393070"/>
                      </a:lnTo>
                      <a:close/>
                      <a:moveTo>
                        <a:pt x="322539" y="217932"/>
                      </a:moveTo>
                      <a:lnTo>
                        <a:pt x="288066" y="47945"/>
                      </a:lnTo>
                      <a:lnTo>
                        <a:pt x="235763" y="246858"/>
                      </a:lnTo>
                      <a:lnTo>
                        <a:pt x="204856" y="133533"/>
                      </a:lnTo>
                      <a:lnTo>
                        <a:pt x="168006" y="292029"/>
                      </a:lnTo>
                      <a:lnTo>
                        <a:pt x="136703" y="72116"/>
                      </a:lnTo>
                      <a:lnTo>
                        <a:pt x="96683" y="217932"/>
                      </a:lnTo>
                      <a:lnTo>
                        <a:pt x="39624" y="217932"/>
                      </a:lnTo>
                      <a:lnTo>
                        <a:pt x="39624" y="39624"/>
                      </a:lnTo>
                      <a:lnTo>
                        <a:pt x="393070" y="39624"/>
                      </a:lnTo>
                      <a:lnTo>
                        <a:pt x="393070" y="217932"/>
                      </a:lnTo>
                      <a:lnTo>
                        <a:pt x="322539" y="217932"/>
                      </a:ln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270" name="Graphic 41">
                  <a:extLst>
                    <a:ext uri="{FF2B5EF4-FFF2-40B4-BE49-F238E27FC236}">
                      <a16:creationId xmlns:a16="http://schemas.microsoft.com/office/drawing/2014/main" id="{F0FA68E5-7E0D-6FBA-E2AC-F177E8728DE9}"/>
                    </a:ext>
                  </a:extLst>
                </p:cNvPr>
                <p:cNvGrpSpPr/>
                <p:nvPr/>
              </p:nvGrpSpPr>
              <p:grpSpPr>
                <a:xfrm>
                  <a:off x="8250435" y="3017491"/>
                  <a:ext cx="238140" cy="191383"/>
                  <a:chOff x="8250435" y="3017491"/>
                  <a:chExt cx="238140" cy="191383"/>
                </a:xfrm>
                <a:solidFill>
                  <a:schemeClr val="bg1"/>
                </a:solidFill>
              </p:grpSpPr>
              <p:sp>
                <p:nvSpPr>
                  <p:cNvPr id="271" name="Freeform: Shape 203">
                    <a:extLst>
                      <a:ext uri="{FF2B5EF4-FFF2-40B4-BE49-F238E27FC236}">
                        <a16:creationId xmlns:a16="http://schemas.microsoft.com/office/drawing/2014/main" id="{AA88B343-65FC-92B9-D1F2-A3202188B5FC}"/>
                      </a:ext>
                    </a:extLst>
                  </p:cNvPr>
                  <p:cNvSpPr/>
                  <p:nvPr/>
                </p:nvSpPr>
                <p:spPr>
                  <a:xfrm>
                    <a:off x="8250435" y="3017491"/>
                    <a:ext cx="238140" cy="30510"/>
                  </a:xfrm>
                  <a:custGeom>
                    <a:avLst/>
                    <a:gdLst>
                      <a:gd name="connsiteX0" fmla="*/ 238140 w 238140"/>
                      <a:gd name="connsiteY0" fmla="*/ 0 h 30510"/>
                      <a:gd name="connsiteX1" fmla="*/ 0 w 238140"/>
                      <a:gd name="connsiteY1" fmla="*/ 0 h 30510"/>
                      <a:gd name="connsiteX2" fmla="*/ 0 w 238140"/>
                      <a:gd name="connsiteY2" fmla="*/ 30510 h 30510"/>
                      <a:gd name="connsiteX3" fmla="*/ 238140 w 238140"/>
                      <a:gd name="connsiteY3" fmla="*/ 30510 h 30510"/>
                      <a:gd name="connsiteX4" fmla="*/ 238140 w 238140"/>
                      <a:gd name="connsiteY4" fmla="*/ 0 h 30510"/>
                      <a:gd name="connsiteX5" fmla="*/ 15057 w 238140"/>
                      <a:gd name="connsiteY5" fmla="*/ 21793 h 30510"/>
                      <a:gd name="connsiteX6" fmla="*/ 8321 w 238140"/>
                      <a:gd name="connsiteY6" fmla="*/ 15057 h 30510"/>
                      <a:gd name="connsiteX7" fmla="*/ 15057 w 238140"/>
                      <a:gd name="connsiteY7" fmla="*/ 8321 h 30510"/>
                      <a:gd name="connsiteX8" fmla="*/ 22586 w 238140"/>
                      <a:gd name="connsiteY8" fmla="*/ 15057 h 30510"/>
                      <a:gd name="connsiteX9" fmla="*/ 15057 w 238140"/>
                      <a:gd name="connsiteY9" fmla="*/ 21793 h 30510"/>
                      <a:gd name="connsiteX10" fmla="*/ 37247 w 238140"/>
                      <a:gd name="connsiteY10" fmla="*/ 21793 h 30510"/>
                      <a:gd name="connsiteX11" fmla="*/ 30510 w 238140"/>
                      <a:gd name="connsiteY11" fmla="*/ 15057 h 30510"/>
                      <a:gd name="connsiteX12" fmla="*/ 37247 w 238140"/>
                      <a:gd name="connsiteY12" fmla="*/ 8321 h 30510"/>
                      <a:gd name="connsiteX13" fmla="*/ 43983 w 238140"/>
                      <a:gd name="connsiteY13" fmla="*/ 15057 h 30510"/>
                      <a:gd name="connsiteX14" fmla="*/ 37247 w 238140"/>
                      <a:gd name="connsiteY14" fmla="*/ 21793 h 30510"/>
                      <a:gd name="connsiteX15" fmla="*/ 58644 w 238140"/>
                      <a:gd name="connsiteY15" fmla="*/ 21793 h 30510"/>
                      <a:gd name="connsiteX16" fmla="*/ 51907 w 238140"/>
                      <a:gd name="connsiteY16" fmla="*/ 15057 h 30510"/>
                      <a:gd name="connsiteX17" fmla="*/ 58644 w 238140"/>
                      <a:gd name="connsiteY17" fmla="*/ 8321 h 30510"/>
                      <a:gd name="connsiteX18" fmla="*/ 65380 w 238140"/>
                      <a:gd name="connsiteY18" fmla="*/ 15057 h 30510"/>
                      <a:gd name="connsiteX19" fmla="*/ 58644 w 238140"/>
                      <a:gd name="connsiteY19" fmla="*/ 21793 h 30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8140" h="30510">
                        <a:moveTo>
                          <a:pt x="238140" y="0"/>
                        </a:moveTo>
                        <a:lnTo>
                          <a:pt x="0" y="0"/>
                        </a:lnTo>
                        <a:cubicBezTo>
                          <a:pt x="0" y="30510"/>
                          <a:pt x="0" y="30510"/>
                          <a:pt x="0" y="30510"/>
                        </a:cubicBezTo>
                        <a:cubicBezTo>
                          <a:pt x="238140" y="30510"/>
                          <a:pt x="238140" y="30510"/>
                          <a:pt x="238140" y="30510"/>
                        </a:cubicBezTo>
                        <a:cubicBezTo>
                          <a:pt x="238140" y="0"/>
                          <a:pt x="238140" y="0"/>
                          <a:pt x="238140" y="0"/>
                        </a:cubicBezTo>
                        <a:close/>
                        <a:moveTo>
                          <a:pt x="15057" y="21793"/>
                        </a:moveTo>
                        <a:cubicBezTo>
                          <a:pt x="11491" y="21793"/>
                          <a:pt x="8321" y="18227"/>
                          <a:pt x="8321" y="15057"/>
                        </a:cubicBezTo>
                        <a:cubicBezTo>
                          <a:pt x="8321" y="11095"/>
                          <a:pt x="11887" y="8321"/>
                          <a:pt x="15057" y="8321"/>
                        </a:cubicBezTo>
                        <a:cubicBezTo>
                          <a:pt x="19020" y="8321"/>
                          <a:pt x="22586" y="11095"/>
                          <a:pt x="22586" y="15057"/>
                        </a:cubicBezTo>
                        <a:cubicBezTo>
                          <a:pt x="22189" y="18623"/>
                          <a:pt x="19020" y="21793"/>
                          <a:pt x="15057" y="21793"/>
                        </a:cubicBezTo>
                        <a:close/>
                        <a:moveTo>
                          <a:pt x="37247" y="21793"/>
                        </a:moveTo>
                        <a:cubicBezTo>
                          <a:pt x="33284" y="21793"/>
                          <a:pt x="30510" y="18227"/>
                          <a:pt x="30510" y="15057"/>
                        </a:cubicBezTo>
                        <a:cubicBezTo>
                          <a:pt x="30510" y="11095"/>
                          <a:pt x="33284" y="8321"/>
                          <a:pt x="37247" y="8321"/>
                        </a:cubicBezTo>
                        <a:cubicBezTo>
                          <a:pt x="40813" y="8321"/>
                          <a:pt x="43983" y="11095"/>
                          <a:pt x="43983" y="15057"/>
                        </a:cubicBezTo>
                        <a:cubicBezTo>
                          <a:pt x="43983" y="18623"/>
                          <a:pt x="40417" y="21793"/>
                          <a:pt x="37247" y="21793"/>
                        </a:cubicBezTo>
                        <a:close/>
                        <a:moveTo>
                          <a:pt x="58644" y="21793"/>
                        </a:moveTo>
                        <a:cubicBezTo>
                          <a:pt x="55077" y="21793"/>
                          <a:pt x="51907" y="18227"/>
                          <a:pt x="51907" y="15057"/>
                        </a:cubicBezTo>
                        <a:cubicBezTo>
                          <a:pt x="51907" y="11095"/>
                          <a:pt x="55474" y="8321"/>
                          <a:pt x="58644" y="8321"/>
                        </a:cubicBezTo>
                        <a:cubicBezTo>
                          <a:pt x="62606" y="8321"/>
                          <a:pt x="65380" y="11095"/>
                          <a:pt x="65380" y="15057"/>
                        </a:cubicBezTo>
                        <a:cubicBezTo>
                          <a:pt x="65380" y="18623"/>
                          <a:pt x="63002" y="21793"/>
                          <a:pt x="58644" y="21793"/>
                        </a:cubicBez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72" name="Freeform: Shape 204">
                    <a:extLst>
                      <a:ext uri="{FF2B5EF4-FFF2-40B4-BE49-F238E27FC236}">
                        <a16:creationId xmlns:a16="http://schemas.microsoft.com/office/drawing/2014/main" id="{01EC811A-B1BE-38B6-C59D-D053067AEB74}"/>
                      </a:ext>
                    </a:extLst>
                  </p:cNvPr>
                  <p:cNvSpPr/>
                  <p:nvPr/>
                </p:nvSpPr>
                <p:spPr>
                  <a:xfrm>
                    <a:off x="8250435" y="3057907"/>
                    <a:ext cx="238140" cy="150967"/>
                  </a:xfrm>
                  <a:custGeom>
                    <a:avLst/>
                    <a:gdLst>
                      <a:gd name="connsiteX0" fmla="*/ 0 w 238140"/>
                      <a:gd name="connsiteY0" fmla="*/ 0 h 150967"/>
                      <a:gd name="connsiteX1" fmla="*/ 0 w 238140"/>
                      <a:gd name="connsiteY1" fmla="*/ 143439 h 150967"/>
                      <a:gd name="connsiteX2" fmla="*/ 6736 w 238140"/>
                      <a:gd name="connsiteY2" fmla="*/ 150967 h 150967"/>
                      <a:gd name="connsiteX3" fmla="*/ 230612 w 238140"/>
                      <a:gd name="connsiteY3" fmla="*/ 150967 h 150967"/>
                      <a:gd name="connsiteX4" fmla="*/ 238140 w 238140"/>
                      <a:gd name="connsiteY4" fmla="*/ 143439 h 150967"/>
                      <a:gd name="connsiteX5" fmla="*/ 238140 w 238140"/>
                      <a:gd name="connsiteY5" fmla="*/ 0 h 150967"/>
                      <a:gd name="connsiteX6" fmla="*/ 0 w 238140"/>
                      <a:gd name="connsiteY6" fmla="*/ 0 h 15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140" h="150967">
                        <a:moveTo>
                          <a:pt x="0" y="0"/>
                        </a:moveTo>
                        <a:cubicBezTo>
                          <a:pt x="0" y="143439"/>
                          <a:pt x="0" y="143439"/>
                          <a:pt x="0" y="143439"/>
                        </a:cubicBezTo>
                        <a:cubicBezTo>
                          <a:pt x="0" y="147401"/>
                          <a:pt x="2774" y="150967"/>
                          <a:pt x="6736" y="150967"/>
                        </a:cubicBezTo>
                        <a:cubicBezTo>
                          <a:pt x="230612" y="150967"/>
                          <a:pt x="230612" y="150967"/>
                          <a:pt x="230612" y="150967"/>
                        </a:cubicBezTo>
                        <a:cubicBezTo>
                          <a:pt x="234574" y="150967"/>
                          <a:pt x="238140" y="147798"/>
                          <a:pt x="238140" y="143439"/>
                        </a:cubicBezTo>
                        <a:cubicBezTo>
                          <a:pt x="238140" y="0"/>
                          <a:pt x="238140" y="0"/>
                          <a:pt x="238140" y="0"/>
                        </a:cubicBezTo>
                        <a:lnTo>
                          <a:pt x="0" y="0"/>
                        </a:ln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grpSp>
      </p:grpSp>
    </p:spTree>
    <p:extLst>
      <p:ext uri="{BB962C8B-B14F-4D97-AF65-F5344CB8AC3E}">
        <p14:creationId xmlns:p14="http://schemas.microsoft.com/office/powerpoint/2010/main" val="3370558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wipe(right)">
                                      <p:cBhvr>
                                        <p:cTn id="7" dur="500"/>
                                        <p:tgtEl>
                                          <p:spTgt spid="102"/>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212"/>
                                        </p:tgtEl>
                                        <p:attrNameLst>
                                          <p:attrName>style.visibility</p:attrName>
                                        </p:attrNameLst>
                                      </p:cBhvr>
                                      <p:to>
                                        <p:strVal val="visible"/>
                                      </p:to>
                                    </p:set>
                                  </p:childTnLst>
                                </p:cTn>
                              </p:par>
                            </p:childTnLst>
                          </p:cTn>
                        </p:par>
                        <p:par>
                          <p:cTn id="11" fill="hold">
                            <p:stCondLst>
                              <p:cond delay="500"/>
                            </p:stCondLst>
                            <p:childTnLst>
                              <p:par>
                                <p:cTn id="12" presetID="26" presetClass="emph" presetSubtype="0" fill="hold" nodeType="afterEffect">
                                  <p:stCondLst>
                                    <p:cond delay="0"/>
                                  </p:stCondLst>
                                  <p:childTnLst>
                                    <p:animEffect transition="out" filter="fade">
                                      <p:cBhvr>
                                        <p:cTn id="13" dur="200" tmFilter="0, 0; .2, .5; .8, .5; 1, 0"/>
                                        <p:tgtEl>
                                          <p:spTgt spid="212"/>
                                        </p:tgtEl>
                                      </p:cBhvr>
                                    </p:animEffect>
                                    <p:animScale>
                                      <p:cBhvr>
                                        <p:cTn id="14" dur="100" autoRev="1" fill="hold"/>
                                        <p:tgtEl>
                                          <p:spTgt spid="212"/>
                                        </p:tgtEl>
                                      </p:cBhvr>
                                      <p:by x="105000" y="105000"/>
                                    </p:animScale>
                                  </p:childTnLst>
                                </p:cTn>
                              </p:par>
                              <p:par>
                                <p:cTn id="15" presetID="1" presetClass="exit" presetSubtype="0" fill="hold" nodeType="withEffect">
                                  <p:stCondLst>
                                    <p:cond delay="0"/>
                                  </p:stCondLst>
                                  <p:childTnLst>
                                    <p:set>
                                      <p:cBhvr>
                                        <p:cTn id="16" dur="1" fill="hold">
                                          <p:stCondLst>
                                            <p:cond delay="0"/>
                                          </p:stCondLst>
                                        </p:cTn>
                                        <p:tgtEl>
                                          <p:spTgt spid="10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107"/>
                                        </p:tgtEl>
                                        <p:attrNameLst>
                                          <p:attrName>style.visibility</p:attrName>
                                        </p:attrNameLst>
                                      </p:cBhvr>
                                      <p:to>
                                        <p:strVal val="visible"/>
                                      </p:to>
                                    </p:set>
                                    <p:animEffect transition="in" filter="wipe(right)">
                                      <p:cBhvr>
                                        <p:cTn id="21" dur="500"/>
                                        <p:tgtEl>
                                          <p:spTgt spid="107"/>
                                        </p:tgtEl>
                                      </p:cBhvr>
                                    </p:animEffect>
                                  </p:childTnLst>
                                </p:cTn>
                              </p:par>
                            </p:childTnLst>
                          </p:cTn>
                        </p:par>
                        <p:par>
                          <p:cTn id="22" fill="hold">
                            <p:stCondLst>
                              <p:cond delay="500"/>
                            </p:stCondLst>
                            <p:childTnLst>
                              <p:par>
                                <p:cTn id="23" presetID="1" presetClass="entr" presetSubtype="0" fill="hold" nodeType="afterEffect">
                                  <p:stCondLst>
                                    <p:cond delay="0"/>
                                  </p:stCondLst>
                                  <p:childTnLst>
                                    <p:set>
                                      <p:cBhvr>
                                        <p:cTn id="24" dur="1" fill="hold">
                                          <p:stCondLst>
                                            <p:cond delay="0"/>
                                          </p:stCondLst>
                                        </p:cTn>
                                        <p:tgtEl>
                                          <p:spTgt spid="134"/>
                                        </p:tgtEl>
                                        <p:attrNameLst>
                                          <p:attrName>style.visibility</p:attrName>
                                        </p:attrNameLst>
                                      </p:cBhvr>
                                      <p:to>
                                        <p:strVal val="visible"/>
                                      </p:to>
                                    </p:set>
                                  </p:childTnLst>
                                </p:cTn>
                              </p:par>
                              <p:par>
                                <p:cTn id="25" presetID="26" presetClass="emph" presetSubtype="0" fill="hold" nodeType="withEffect">
                                  <p:stCondLst>
                                    <p:cond delay="0"/>
                                  </p:stCondLst>
                                  <p:childTnLst>
                                    <p:animEffect transition="out" filter="fade">
                                      <p:cBhvr>
                                        <p:cTn id="26" dur="500" tmFilter="0, 0; .2, .5; .8, .5; 1, 0"/>
                                        <p:tgtEl>
                                          <p:spTgt spid="134"/>
                                        </p:tgtEl>
                                      </p:cBhvr>
                                    </p:animEffect>
                                    <p:animScale>
                                      <p:cBhvr>
                                        <p:cTn id="27" dur="250" autoRev="1" fill="hold"/>
                                        <p:tgtEl>
                                          <p:spTgt spid="134"/>
                                        </p:tgtEl>
                                      </p:cBhvr>
                                      <p:by x="105000" y="105000"/>
                                    </p:animScale>
                                  </p:childTnLst>
                                </p:cTn>
                              </p:par>
                            </p:childTnLst>
                          </p:cTn>
                        </p:par>
                        <p:par>
                          <p:cTn id="28" fill="hold">
                            <p:stCondLst>
                              <p:cond delay="1000"/>
                            </p:stCondLst>
                            <p:childTnLst>
                              <p:par>
                                <p:cTn id="29" presetID="1" presetClass="entr" presetSubtype="0" fill="hold" nodeType="afterEffect">
                                  <p:stCondLst>
                                    <p:cond delay="0"/>
                                  </p:stCondLst>
                                  <p:childTnLst>
                                    <p:set>
                                      <p:cBhvr>
                                        <p:cTn id="30" dur="1" fill="hold">
                                          <p:stCondLst>
                                            <p:cond delay="0"/>
                                          </p:stCondLst>
                                        </p:cTn>
                                        <p:tgtEl>
                                          <p:spTgt spid="140"/>
                                        </p:tgtEl>
                                        <p:attrNameLst>
                                          <p:attrName>style.visibility</p:attrName>
                                        </p:attrNameLst>
                                      </p:cBhvr>
                                      <p:to>
                                        <p:strVal val="visible"/>
                                      </p:to>
                                    </p:set>
                                  </p:childTnLst>
                                </p:cTn>
                              </p:par>
                              <p:par>
                                <p:cTn id="31" presetID="26" presetClass="emph" presetSubtype="0" fill="hold" nodeType="withEffect">
                                  <p:stCondLst>
                                    <p:cond delay="0"/>
                                  </p:stCondLst>
                                  <p:childTnLst>
                                    <p:animEffect transition="out" filter="fade">
                                      <p:cBhvr>
                                        <p:cTn id="32" dur="500" tmFilter="0, 0; .2, .5; .8, .5; 1, 0"/>
                                        <p:tgtEl>
                                          <p:spTgt spid="134"/>
                                        </p:tgtEl>
                                      </p:cBhvr>
                                    </p:animEffect>
                                    <p:animScale>
                                      <p:cBhvr>
                                        <p:cTn id="33" dur="250" autoRev="1" fill="hold"/>
                                        <p:tgtEl>
                                          <p:spTgt spid="134"/>
                                        </p:tgtEl>
                                      </p:cBhvr>
                                      <p:by x="105000" y="105000"/>
                                    </p:animScale>
                                  </p:childTnLst>
                                </p:cTn>
                              </p:par>
                              <p:par>
                                <p:cTn id="34" presetID="26" presetClass="emph" presetSubtype="0" fill="hold" nodeType="withEffect">
                                  <p:stCondLst>
                                    <p:cond delay="0"/>
                                  </p:stCondLst>
                                  <p:childTnLst>
                                    <p:animEffect transition="out" filter="fade">
                                      <p:cBhvr>
                                        <p:cTn id="35" dur="500" tmFilter="0, 0; .2, .5; .8, .5; 1, 0"/>
                                        <p:tgtEl>
                                          <p:spTgt spid="140"/>
                                        </p:tgtEl>
                                      </p:cBhvr>
                                    </p:animEffect>
                                    <p:animScale>
                                      <p:cBhvr>
                                        <p:cTn id="36" dur="250" autoRev="1" fill="hold"/>
                                        <p:tgtEl>
                                          <p:spTgt spid="140"/>
                                        </p:tgtEl>
                                      </p:cBhvr>
                                      <p:by x="105000" y="105000"/>
                                    </p:animScale>
                                  </p:childTnLst>
                                </p:cTn>
                              </p:par>
                              <p:par>
                                <p:cTn id="37" presetID="1" presetClass="exit" presetSubtype="0" fill="hold" nodeType="withEffect">
                                  <p:stCondLst>
                                    <p:cond delay="0"/>
                                  </p:stCondLst>
                                  <p:childTnLst>
                                    <p:set>
                                      <p:cBhvr>
                                        <p:cTn id="38" dur="1" fill="hold">
                                          <p:stCondLst>
                                            <p:cond delay="0"/>
                                          </p:stCondLst>
                                        </p:cTn>
                                        <p:tgtEl>
                                          <p:spTgt spid="20"/>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22"/>
                                        </p:tgtEl>
                                        <p:attrNameLst>
                                          <p:attrName>style.visibility</p:attrName>
                                        </p:attrNameLst>
                                      </p:cBhvr>
                                      <p:to>
                                        <p:strVal val="hidden"/>
                                      </p:to>
                                    </p:set>
                                  </p:childTnLst>
                                </p:cTn>
                              </p:par>
                            </p:childTnLst>
                          </p:cTn>
                        </p:par>
                        <p:par>
                          <p:cTn id="41" fill="hold">
                            <p:stCondLst>
                              <p:cond delay="1500"/>
                            </p:stCondLst>
                            <p:childTnLst>
                              <p:par>
                                <p:cTn id="42" presetID="22" presetClass="entr" presetSubtype="2" fill="hold" nodeType="afterEffect">
                                  <p:stCondLst>
                                    <p:cond delay="0"/>
                                  </p:stCondLst>
                                  <p:childTnLst>
                                    <p:set>
                                      <p:cBhvr>
                                        <p:cTn id="43" dur="1" fill="hold">
                                          <p:stCondLst>
                                            <p:cond delay="0"/>
                                          </p:stCondLst>
                                        </p:cTn>
                                        <p:tgtEl>
                                          <p:spTgt spid="112"/>
                                        </p:tgtEl>
                                        <p:attrNameLst>
                                          <p:attrName>style.visibility</p:attrName>
                                        </p:attrNameLst>
                                      </p:cBhvr>
                                      <p:to>
                                        <p:strVal val="visible"/>
                                      </p:to>
                                    </p:set>
                                    <p:animEffect transition="in" filter="wipe(right)">
                                      <p:cBhvr>
                                        <p:cTn id="44" dur="500"/>
                                        <p:tgtEl>
                                          <p:spTgt spid="112"/>
                                        </p:tgtEl>
                                      </p:cBhvr>
                                    </p:animEffect>
                                  </p:childTnLst>
                                </p:cTn>
                              </p:par>
                            </p:childTnLst>
                          </p:cTn>
                        </p:par>
                        <p:par>
                          <p:cTn id="45" fill="hold">
                            <p:stCondLst>
                              <p:cond delay="2000"/>
                            </p:stCondLst>
                            <p:childTnLst>
                              <p:par>
                                <p:cTn id="46" presetID="1" presetClass="entr" presetSubtype="0" fill="hold" nodeType="afterEffect">
                                  <p:stCondLst>
                                    <p:cond delay="0"/>
                                  </p:stCondLst>
                                  <p:childTnLst>
                                    <p:set>
                                      <p:cBhvr>
                                        <p:cTn id="47" dur="1" fill="hold">
                                          <p:stCondLst>
                                            <p:cond delay="0"/>
                                          </p:stCondLst>
                                        </p:cTn>
                                        <p:tgtEl>
                                          <p:spTgt spid="126"/>
                                        </p:tgtEl>
                                        <p:attrNameLst>
                                          <p:attrName>style.visibility</p:attrName>
                                        </p:attrNameLst>
                                      </p:cBhvr>
                                      <p:to>
                                        <p:strVal val="visible"/>
                                      </p:to>
                                    </p:set>
                                  </p:childTnLst>
                                </p:cTn>
                              </p:par>
                              <p:par>
                                <p:cTn id="48" presetID="26" presetClass="emph" presetSubtype="0" fill="hold" nodeType="withEffect">
                                  <p:stCondLst>
                                    <p:cond delay="0"/>
                                  </p:stCondLst>
                                  <p:childTnLst>
                                    <p:animEffect transition="out" filter="fade">
                                      <p:cBhvr>
                                        <p:cTn id="49" dur="500" tmFilter="0, 0; .2, .5; .8, .5; 1, 0"/>
                                        <p:tgtEl>
                                          <p:spTgt spid="126"/>
                                        </p:tgtEl>
                                      </p:cBhvr>
                                    </p:animEffect>
                                    <p:animScale>
                                      <p:cBhvr>
                                        <p:cTn id="50" dur="250" autoRev="1" fill="hold"/>
                                        <p:tgtEl>
                                          <p:spTgt spid="126"/>
                                        </p:tgtEl>
                                      </p:cBhvr>
                                      <p:by x="105000" y="105000"/>
                                    </p:animScale>
                                  </p:childTnLst>
                                </p:cTn>
                              </p:par>
                              <p:par>
                                <p:cTn id="51" presetID="1" presetClass="exit" presetSubtype="0" fill="hold" nodeType="withEffect">
                                  <p:stCondLst>
                                    <p:cond delay="0"/>
                                  </p:stCondLst>
                                  <p:childTnLst>
                                    <p:set>
                                      <p:cBhvr>
                                        <p:cTn id="52" dur="1" fill="hold">
                                          <p:stCondLst>
                                            <p:cond delay="0"/>
                                          </p:stCondLst>
                                        </p:cTn>
                                        <p:tgtEl>
                                          <p:spTgt spid="18"/>
                                        </p:tgtEl>
                                        <p:attrNameLst>
                                          <p:attrName>style.visibility</p:attrName>
                                        </p:attrNameLst>
                                      </p:cBhvr>
                                      <p:to>
                                        <p:strVal val="hidden"/>
                                      </p:to>
                                    </p:set>
                                  </p:childTnLst>
                                </p:cTn>
                              </p:par>
                            </p:childTnLst>
                          </p:cTn>
                        </p:par>
                        <p:par>
                          <p:cTn id="53" fill="hold">
                            <p:stCondLst>
                              <p:cond delay="2500"/>
                            </p:stCondLst>
                            <p:childTnLst>
                              <p:par>
                                <p:cTn id="54" presetID="22" presetClass="entr" presetSubtype="2" fill="hold" nodeType="afterEffect">
                                  <p:stCondLst>
                                    <p:cond delay="0"/>
                                  </p:stCondLst>
                                  <p:childTnLst>
                                    <p:set>
                                      <p:cBhvr>
                                        <p:cTn id="55" dur="1" fill="hold">
                                          <p:stCondLst>
                                            <p:cond delay="0"/>
                                          </p:stCondLst>
                                        </p:cTn>
                                        <p:tgtEl>
                                          <p:spTgt spid="116"/>
                                        </p:tgtEl>
                                        <p:attrNameLst>
                                          <p:attrName>style.visibility</p:attrName>
                                        </p:attrNameLst>
                                      </p:cBhvr>
                                      <p:to>
                                        <p:strVal val="visible"/>
                                      </p:to>
                                    </p:set>
                                    <p:animEffect transition="in" filter="wipe(right)">
                                      <p:cBhvr>
                                        <p:cTn id="56" dur="500"/>
                                        <p:tgtEl>
                                          <p:spTgt spid="116"/>
                                        </p:tgtEl>
                                      </p:cBhvr>
                                    </p:animEffect>
                                  </p:childTnLst>
                                </p:cTn>
                              </p:par>
                            </p:childTnLst>
                          </p:cTn>
                        </p:par>
                        <p:par>
                          <p:cTn id="57" fill="hold">
                            <p:stCondLst>
                              <p:cond delay="3000"/>
                            </p:stCondLst>
                            <p:childTnLst>
                              <p:par>
                                <p:cTn id="58" presetID="1" presetClass="entr" presetSubtype="0" fill="hold" nodeType="afterEffect">
                                  <p:stCondLst>
                                    <p:cond delay="0"/>
                                  </p:stCondLst>
                                  <p:childTnLst>
                                    <p:set>
                                      <p:cBhvr>
                                        <p:cTn id="59" dur="1" fill="hold">
                                          <p:stCondLst>
                                            <p:cond delay="0"/>
                                          </p:stCondLst>
                                        </p:cTn>
                                        <p:tgtEl>
                                          <p:spTgt spid="129"/>
                                        </p:tgtEl>
                                        <p:attrNameLst>
                                          <p:attrName>style.visibility</p:attrName>
                                        </p:attrNameLst>
                                      </p:cBhvr>
                                      <p:to>
                                        <p:strVal val="visible"/>
                                      </p:to>
                                    </p:set>
                                  </p:childTnLst>
                                </p:cTn>
                              </p:par>
                            </p:childTnLst>
                          </p:cTn>
                        </p:par>
                        <p:par>
                          <p:cTn id="60" fill="hold">
                            <p:stCondLst>
                              <p:cond delay="3000"/>
                            </p:stCondLst>
                            <p:childTnLst>
                              <p:par>
                                <p:cTn id="61" presetID="26" presetClass="emph" presetSubtype="0" fill="hold" nodeType="afterEffect">
                                  <p:stCondLst>
                                    <p:cond delay="0"/>
                                  </p:stCondLst>
                                  <p:childTnLst>
                                    <p:animEffect transition="out" filter="fade">
                                      <p:cBhvr>
                                        <p:cTn id="62" dur="500" tmFilter="0, 0; .2, .5; .8, .5; 1, 0"/>
                                        <p:tgtEl>
                                          <p:spTgt spid="129"/>
                                        </p:tgtEl>
                                      </p:cBhvr>
                                    </p:animEffect>
                                    <p:animScale>
                                      <p:cBhvr>
                                        <p:cTn id="63" dur="250" autoRev="1" fill="hold"/>
                                        <p:tgtEl>
                                          <p:spTgt spid="129"/>
                                        </p:tgtEl>
                                      </p:cBhvr>
                                      <p:by x="105000" y="105000"/>
                                    </p:animScale>
                                  </p:childTnLst>
                                </p:cTn>
                              </p:par>
                              <p:par>
                                <p:cTn id="64" presetID="1" presetClass="exit" presetSubtype="0" fill="hold" nodeType="withEffect">
                                  <p:stCondLst>
                                    <p:cond delay="0"/>
                                  </p:stCondLst>
                                  <p:childTnLst>
                                    <p:set>
                                      <p:cBhvr>
                                        <p:cTn id="65" dur="1" fill="hold">
                                          <p:stCondLst>
                                            <p:cond delay="0"/>
                                          </p:stCondLst>
                                        </p:cTn>
                                        <p:tgtEl>
                                          <p:spTgt spid="19"/>
                                        </p:tgtEl>
                                        <p:attrNameLst>
                                          <p:attrName>style.visibility</p:attrName>
                                        </p:attrNameLst>
                                      </p:cBhvr>
                                      <p:to>
                                        <p:strVal val="hidden"/>
                                      </p:to>
                                    </p:set>
                                  </p:childTnLst>
                                </p:cTn>
                              </p:par>
                            </p:childTnLst>
                          </p:cTn>
                        </p:par>
                        <p:par>
                          <p:cTn id="66" fill="hold">
                            <p:stCondLst>
                              <p:cond delay="3500"/>
                            </p:stCondLst>
                            <p:childTnLst>
                              <p:par>
                                <p:cTn id="67" presetID="22" presetClass="entr" presetSubtype="2" fill="hold" nodeType="afterEffect">
                                  <p:stCondLst>
                                    <p:cond delay="0"/>
                                  </p:stCondLst>
                                  <p:childTnLst>
                                    <p:set>
                                      <p:cBhvr>
                                        <p:cTn id="68" dur="1" fill="hold">
                                          <p:stCondLst>
                                            <p:cond delay="0"/>
                                          </p:stCondLst>
                                        </p:cTn>
                                        <p:tgtEl>
                                          <p:spTgt spid="259"/>
                                        </p:tgtEl>
                                        <p:attrNameLst>
                                          <p:attrName>style.visibility</p:attrName>
                                        </p:attrNameLst>
                                      </p:cBhvr>
                                      <p:to>
                                        <p:strVal val="visible"/>
                                      </p:to>
                                    </p:set>
                                    <p:animEffect transition="in" filter="wipe(right)">
                                      <p:cBhvr>
                                        <p:cTn id="69" dur="500"/>
                                        <p:tgtEl>
                                          <p:spTgt spid="259"/>
                                        </p:tgtEl>
                                      </p:cBhvr>
                                    </p:animEffect>
                                  </p:childTnLst>
                                </p:cTn>
                              </p:par>
                            </p:childTnLst>
                          </p:cTn>
                        </p:par>
                        <p:par>
                          <p:cTn id="70" fill="hold">
                            <p:stCondLst>
                              <p:cond delay="4000"/>
                            </p:stCondLst>
                            <p:childTnLst>
                              <p:par>
                                <p:cTn id="71" presetID="1" presetClass="entr" presetSubtype="0" fill="hold" nodeType="afterEffect">
                                  <p:stCondLst>
                                    <p:cond delay="0"/>
                                  </p:stCondLst>
                                  <p:childTnLst>
                                    <p:set>
                                      <p:cBhvr>
                                        <p:cTn id="72" dur="1" fill="hold">
                                          <p:stCondLst>
                                            <p:cond delay="0"/>
                                          </p:stCondLst>
                                        </p:cTn>
                                        <p:tgtEl>
                                          <p:spTgt spid="234"/>
                                        </p:tgtEl>
                                        <p:attrNameLst>
                                          <p:attrName>style.visibility</p:attrName>
                                        </p:attrNameLst>
                                      </p:cBhvr>
                                      <p:to>
                                        <p:strVal val="visible"/>
                                      </p:to>
                                    </p:set>
                                  </p:childTnLst>
                                </p:cTn>
                              </p:par>
                              <p:par>
                                <p:cTn id="73" presetID="1" presetClass="exit" presetSubtype="0" fill="hold" nodeType="withEffect">
                                  <p:stCondLst>
                                    <p:cond delay="0"/>
                                  </p:stCondLst>
                                  <p:childTnLst>
                                    <p:set>
                                      <p:cBhvr>
                                        <p:cTn id="74" dur="1" fill="hold">
                                          <p:stCondLst>
                                            <p:cond delay="0"/>
                                          </p:stCondLst>
                                        </p:cTn>
                                        <p:tgtEl>
                                          <p:spTgt spid="220"/>
                                        </p:tgtEl>
                                        <p:attrNameLst>
                                          <p:attrName>style.visibility</p:attrName>
                                        </p:attrNameLst>
                                      </p:cBhvr>
                                      <p:to>
                                        <p:strVal val="hidden"/>
                                      </p:to>
                                    </p:set>
                                  </p:childTnLst>
                                </p:cTn>
                              </p:par>
                            </p:childTnLst>
                          </p:cTn>
                        </p:par>
                        <p:par>
                          <p:cTn id="75" fill="hold">
                            <p:stCondLst>
                              <p:cond delay="4000"/>
                            </p:stCondLst>
                            <p:childTnLst>
                              <p:par>
                                <p:cTn id="76" presetID="26" presetClass="emph" presetSubtype="0" fill="hold" nodeType="afterEffect">
                                  <p:stCondLst>
                                    <p:cond delay="0"/>
                                  </p:stCondLst>
                                  <p:childTnLst>
                                    <p:animEffect transition="out" filter="fade">
                                      <p:cBhvr>
                                        <p:cTn id="77" dur="500" tmFilter="0, 0; .2, .5; .8, .5; 1, 0"/>
                                        <p:tgtEl>
                                          <p:spTgt spid="234"/>
                                        </p:tgtEl>
                                      </p:cBhvr>
                                    </p:animEffect>
                                    <p:animScale>
                                      <p:cBhvr>
                                        <p:cTn id="78" dur="250" autoRev="1" fill="hold"/>
                                        <p:tgtEl>
                                          <p:spTgt spid="23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F0C2E-B722-86B9-5E7D-E6CC08E40944}"/>
            </a:ext>
          </a:extLst>
        </p:cNvPr>
        <p:cNvGrpSpPr/>
        <p:nvPr/>
      </p:nvGrpSpPr>
      <p:grpSpPr>
        <a:xfrm>
          <a:off x="0" y="0"/>
          <a:ext cx="0" cy="0"/>
          <a:chOff x="0" y="0"/>
          <a:chExt cx="0" cy="0"/>
        </a:xfrm>
      </p:grpSpPr>
      <p:sp>
        <p:nvSpPr>
          <p:cNvPr id="3" name="!!BOTTOM">
            <a:extLst>
              <a:ext uri="{FF2B5EF4-FFF2-40B4-BE49-F238E27FC236}">
                <a16:creationId xmlns:a16="http://schemas.microsoft.com/office/drawing/2014/main" id="{671DBF99-9FE3-8617-760E-BED261655F37}"/>
              </a:ext>
            </a:extLst>
          </p:cNvPr>
          <p:cNvSpPr/>
          <p:nvPr/>
        </p:nvSpPr>
        <p:spPr>
          <a:xfrm rot="10800000" flipV="1">
            <a:off x="627405" y="1600200"/>
            <a:ext cx="5924208" cy="2071149"/>
          </a:xfrm>
          <a:prstGeom prst="round2SameRect">
            <a:avLst>
              <a:gd name="adj1" fmla="val 7233"/>
              <a:gd name="adj2" fmla="val 0"/>
            </a:avLst>
          </a:prstGeom>
          <a:solidFill>
            <a:srgbClr val="E8E8EA"/>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endParaRPr>
          </a:p>
        </p:txBody>
      </p:sp>
      <p:sp>
        <p:nvSpPr>
          <p:cNvPr id="4" name="!!TOP">
            <a:extLst>
              <a:ext uri="{FF2B5EF4-FFF2-40B4-BE49-F238E27FC236}">
                <a16:creationId xmlns:a16="http://schemas.microsoft.com/office/drawing/2014/main" id="{3EB2FFA0-8A22-5F57-387E-2856C29D7E3E}"/>
              </a:ext>
            </a:extLst>
          </p:cNvPr>
          <p:cNvSpPr/>
          <p:nvPr/>
        </p:nvSpPr>
        <p:spPr>
          <a:xfrm flipV="1">
            <a:off x="627406" y="3886200"/>
            <a:ext cx="5924207" cy="2285996"/>
          </a:xfrm>
          <a:prstGeom prst="round2SameRect">
            <a:avLst>
              <a:gd name="adj1" fmla="val 7233"/>
              <a:gd name="adj2" fmla="val 0"/>
            </a:avLst>
          </a:prstGeom>
          <a:solidFill>
            <a:schemeClr val="accent2">
              <a:alpha val="10000"/>
            </a:schemeClr>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endParaRPr>
          </a:p>
        </p:txBody>
      </p:sp>
      <p:grpSp>
        <p:nvGrpSpPr>
          <p:cNvPr id="5" name="Group 4">
            <a:extLst>
              <a:ext uri="{FF2B5EF4-FFF2-40B4-BE49-F238E27FC236}">
                <a16:creationId xmlns:a16="http://schemas.microsoft.com/office/drawing/2014/main" id="{929D2824-D741-A93C-4D19-124E8225AC7E}"/>
              </a:ext>
            </a:extLst>
          </p:cNvPr>
          <p:cNvGrpSpPr/>
          <p:nvPr/>
        </p:nvGrpSpPr>
        <p:grpSpPr>
          <a:xfrm>
            <a:off x="2292252" y="2515495"/>
            <a:ext cx="1203522" cy="543290"/>
            <a:chOff x="2247375" y="4148923"/>
            <a:chExt cx="1203522" cy="543290"/>
          </a:xfrm>
        </p:grpSpPr>
        <p:sp>
          <p:nvSpPr>
            <p:cNvPr id="6" name="Rectangle: Rounded Corners 5">
              <a:extLst>
                <a:ext uri="{FF2B5EF4-FFF2-40B4-BE49-F238E27FC236}">
                  <a16:creationId xmlns:a16="http://schemas.microsoft.com/office/drawing/2014/main" id="{7E780885-0242-52EC-475D-AA7AA1A6D9E4}"/>
                </a:ext>
              </a:extLst>
            </p:cNvPr>
            <p:cNvSpPr>
              <a:spLocks noChangeAspect="1"/>
            </p:cNvSpPr>
            <p:nvPr/>
          </p:nvSpPr>
          <p:spPr>
            <a:xfrm>
              <a:off x="2247375" y="4148923"/>
              <a:ext cx="1203522" cy="543290"/>
            </a:xfrm>
            <a:prstGeom prst="roundRect">
              <a:avLst>
                <a:gd name="adj" fmla="val 10033"/>
              </a:avLst>
            </a:prstGeom>
            <a:solidFill>
              <a:schemeClr val="bg1"/>
            </a:solidFill>
            <a:ln w="1905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Graphic 9">
              <a:extLst>
                <a:ext uri="{FF2B5EF4-FFF2-40B4-BE49-F238E27FC236}">
                  <a16:creationId xmlns:a16="http://schemas.microsoft.com/office/drawing/2014/main" id="{EDE78EA7-F9C0-53EC-B105-AD639FEE6145}"/>
                </a:ext>
              </a:extLst>
            </p:cNvPr>
            <p:cNvSpPr>
              <a:spLocks noChangeAspect="1"/>
            </p:cNvSpPr>
            <p:nvPr/>
          </p:nvSpPr>
          <p:spPr>
            <a:xfrm>
              <a:off x="2481912" y="4323931"/>
              <a:ext cx="734448" cy="193273"/>
            </a:xfrm>
            <a:custGeom>
              <a:avLst/>
              <a:gdLst>
                <a:gd name="connsiteX0" fmla="*/ 0 w 763913"/>
                <a:gd name="connsiteY0" fmla="*/ 0 h 201029"/>
                <a:gd name="connsiteX1" fmla="*/ 0 w 763913"/>
                <a:gd name="connsiteY1" fmla="*/ 201030 h 201029"/>
                <a:gd name="connsiteX2" fmla="*/ 763913 w 763913"/>
                <a:gd name="connsiteY2" fmla="*/ 201030 h 201029"/>
                <a:gd name="connsiteX3" fmla="*/ 763913 w 763913"/>
                <a:gd name="connsiteY3" fmla="*/ 0 h 201029"/>
                <a:gd name="connsiteX4" fmla="*/ 0 w 763913"/>
                <a:gd name="connsiteY4" fmla="*/ 0 h 201029"/>
                <a:gd name="connsiteX5" fmla="*/ 80357 w 763913"/>
                <a:gd name="connsiteY5" fmla="*/ 130683 h 201029"/>
                <a:gd name="connsiteX6" fmla="*/ 60282 w 763913"/>
                <a:gd name="connsiteY6" fmla="*/ 130683 h 201029"/>
                <a:gd name="connsiteX7" fmla="*/ 60282 w 763913"/>
                <a:gd name="connsiteY7" fmla="*/ 110607 h 201029"/>
                <a:gd name="connsiteX8" fmla="*/ 80357 w 763913"/>
                <a:gd name="connsiteY8" fmla="*/ 110607 h 201029"/>
                <a:gd name="connsiteX9" fmla="*/ 80357 w 763913"/>
                <a:gd name="connsiteY9" fmla="*/ 130683 h 201029"/>
                <a:gd name="connsiteX10" fmla="*/ 80357 w 763913"/>
                <a:gd name="connsiteY10" fmla="*/ 90477 h 201029"/>
                <a:gd name="connsiteX11" fmla="*/ 60282 w 763913"/>
                <a:gd name="connsiteY11" fmla="*/ 90477 h 201029"/>
                <a:gd name="connsiteX12" fmla="*/ 60282 w 763913"/>
                <a:gd name="connsiteY12" fmla="*/ 70401 h 201029"/>
                <a:gd name="connsiteX13" fmla="*/ 80357 w 763913"/>
                <a:gd name="connsiteY13" fmla="*/ 70401 h 201029"/>
                <a:gd name="connsiteX14" fmla="*/ 80357 w 763913"/>
                <a:gd name="connsiteY14" fmla="*/ 90477 h 201029"/>
                <a:gd name="connsiteX15" fmla="*/ 120563 w 763913"/>
                <a:gd name="connsiteY15" fmla="*/ 130683 h 201029"/>
                <a:gd name="connsiteX16" fmla="*/ 100488 w 763913"/>
                <a:gd name="connsiteY16" fmla="*/ 130683 h 201029"/>
                <a:gd name="connsiteX17" fmla="*/ 100488 w 763913"/>
                <a:gd name="connsiteY17" fmla="*/ 110607 h 201029"/>
                <a:gd name="connsiteX18" fmla="*/ 120563 w 763913"/>
                <a:gd name="connsiteY18" fmla="*/ 110607 h 201029"/>
                <a:gd name="connsiteX19" fmla="*/ 120563 w 763913"/>
                <a:gd name="connsiteY19" fmla="*/ 130683 h 201029"/>
                <a:gd name="connsiteX20" fmla="*/ 120563 w 763913"/>
                <a:gd name="connsiteY20" fmla="*/ 90477 h 201029"/>
                <a:gd name="connsiteX21" fmla="*/ 100488 w 763913"/>
                <a:gd name="connsiteY21" fmla="*/ 90477 h 201029"/>
                <a:gd name="connsiteX22" fmla="*/ 100488 w 763913"/>
                <a:gd name="connsiteY22" fmla="*/ 70401 h 201029"/>
                <a:gd name="connsiteX23" fmla="*/ 120563 w 763913"/>
                <a:gd name="connsiteY23" fmla="*/ 70401 h 201029"/>
                <a:gd name="connsiteX24" fmla="*/ 120563 w 763913"/>
                <a:gd name="connsiteY24" fmla="*/ 90477 h 201029"/>
                <a:gd name="connsiteX25" fmla="*/ 160769 w 763913"/>
                <a:gd name="connsiteY25" fmla="*/ 130683 h 201029"/>
                <a:gd name="connsiteX26" fmla="*/ 140694 w 763913"/>
                <a:gd name="connsiteY26" fmla="*/ 130683 h 201029"/>
                <a:gd name="connsiteX27" fmla="*/ 140694 w 763913"/>
                <a:gd name="connsiteY27" fmla="*/ 110607 h 201029"/>
                <a:gd name="connsiteX28" fmla="*/ 160769 w 763913"/>
                <a:gd name="connsiteY28" fmla="*/ 110607 h 201029"/>
                <a:gd name="connsiteX29" fmla="*/ 160769 w 763913"/>
                <a:gd name="connsiteY29" fmla="*/ 130683 h 201029"/>
                <a:gd name="connsiteX30" fmla="*/ 160769 w 763913"/>
                <a:gd name="connsiteY30" fmla="*/ 90477 h 201029"/>
                <a:gd name="connsiteX31" fmla="*/ 140694 w 763913"/>
                <a:gd name="connsiteY31" fmla="*/ 90477 h 201029"/>
                <a:gd name="connsiteX32" fmla="*/ 140694 w 763913"/>
                <a:gd name="connsiteY32" fmla="*/ 70401 h 201029"/>
                <a:gd name="connsiteX33" fmla="*/ 160769 w 763913"/>
                <a:gd name="connsiteY33" fmla="*/ 70401 h 201029"/>
                <a:gd name="connsiteX34" fmla="*/ 160769 w 763913"/>
                <a:gd name="connsiteY34" fmla="*/ 90477 h 201029"/>
                <a:gd name="connsiteX35" fmla="*/ 200975 w 763913"/>
                <a:gd name="connsiteY35" fmla="*/ 130683 h 201029"/>
                <a:gd name="connsiteX36" fmla="*/ 180900 w 763913"/>
                <a:gd name="connsiteY36" fmla="*/ 130683 h 201029"/>
                <a:gd name="connsiteX37" fmla="*/ 180900 w 763913"/>
                <a:gd name="connsiteY37" fmla="*/ 110607 h 201029"/>
                <a:gd name="connsiteX38" fmla="*/ 200975 w 763913"/>
                <a:gd name="connsiteY38" fmla="*/ 110607 h 201029"/>
                <a:gd name="connsiteX39" fmla="*/ 200975 w 763913"/>
                <a:gd name="connsiteY39" fmla="*/ 130683 h 201029"/>
                <a:gd name="connsiteX40" fmla="*/ 200975 w 763913"/>
                <a:gd name="connsiteY40" fmla="*/ 90477 h 201029"/>
                <a:gd name="connsiteX41" fmla="*/ 180900 w 763913"/>
                <a:gd name="connsiteY41" fmla="*/ 90477 h 201029"/>
                <a:gd name="connsiteX42" fmla="*/ 180900 w 763913"/>
                <a:gd name="connsiteY42" fmla="*/ 70401 h 201029"/>
                <a:gd name="connsiteX43" fmla="*/ 200975 w 763913"/>
                <a:gd name="connsiteY43" fmla="*/ 70401 h 201029"/>
                <a:gd name="connsiteX44" fmla="*/ 200975 w 763913"/>
                <a:gd name="connsiteY44" fmla="*/ 90477 h 201029"/>
                <a:gd name="connsiteX45" fmla="*/ 241181 w 763913"/>
                <a:gd name="connsiteY45" fmla="*/ 130683 h 201029"/>
                <a:gd name="connsiteX46" fmla="*/ 221051 w 763913"/>
                <a:gd name="connsiteY46" fmla="*/ 130683 h 201029"/>
                <a:gd name="connsiteX47" fmla="*/ 221051 w 763913"/>
                <a:gd name="connsiteY47" fmla="*/ 110607 h 201029"/>
                <a:gd name="connsiteX48" fmla="*/ 241181 w 763913"/>
                <a:gd name="connsiteY48" fmla="*/ 110607 h 201029"/>
                <a:gd name="connsiteX49" fmla="*/ 241181 w 763913"/>
                <a:gd name="connsiteY49" fmla="*/ 130683 h 201029"/>
                <a:gd name="connsiteX50" fmla="*/ 241181 w 763913"/>
                <a:gd name="connsiteY50" fmla="*/ 90477 h 201029"/>
                <a:gd name="connsiteX51" fmla="*/ 221051 w 763913"/>
                <a:gd name="connsiteY51" fmla="*/ 90477 h 201029"/>
                <a:gd name="connsiteX52" fmla="*/ 221051 w 763913"/>
                <a:gd name="connsiteY52" fmla="*/ 70401 h 201029"/>
                <a:gd name="connsiteX53" fmla="*/ 241181 w 763913"/>
                <a:gd name="connsiteY53" fmla="*/ 70401 h 201029"/>
                <a:gd name="connsiteX54" fmla="*/ 241181 w 763913"/>
                <a:gd name="connsiteY54" fmla="*/ 90477 h 201029"/>
                <a:gd name="connsiteX55" fmla="*/ 281387 w 763913"/>
                <a:gd name="connsiteY55" fmla="*/ 130683 h 201029"/>
                <a:gd name="connsiteX56" fmla="*/ 261311 w 763913"/>
                <a:gd name="connsiteY56" fmla="*/ 130683 h 201029"/>
                <a:gd name="connsiteX57" fmla="*/ 261311 w 763913"/>
                <a:gd name="connsiteY57" fmla="*/ 110607 h 201029"/>
                <a:gd name="connsiteX58" fmla="*/ 281387 w 763913"/>
                <a:gd name="connsiteY58" fmla="*/ 110607 h 201029"/>
                <a:gd name="connsiteX59" fmla="*/ 281387 w 763913"/>
                <a:gd name="connsiteY59" fmla="*/ 130683 h 201029"/>
                <a:gd name="connsiteX60" fmla="*/ 281387 w 763913"/>
                <a:gd name="connsiteY60" fmla="*/ 90477 h 201029"/>
                <a:gd name="connsiteX61" fmla="*/ 261311 w 763913"/>
                <a:gd name="connsiteY61" fmla="*/ 90477 h 201029"/>
                <a:gd name="connsiteX62" fmla="*/ 261311 w 763913"/>
                <a:gd name="connsiteY62" fmla="*/ 70401 h 201029"/>
                <a:gd name="connsiteX63" fmla="*/ 281387 w 763913"/>
                <a:gd name="connsiteY63" fmla="*/ 70401 h 201029"/>
                <a:gd name="connsiteX64" fmla="*/ 281387 w 763913"/>
                <a:gd name="connsiteY64" fmla="*/ 90477 h 201029"/>
                <a:gd name="connsiteX65" fmla="*/ 321593 w 763913"/>
                <a:gd name="connsiteY65" fmla="*/ 130683 h 201029"/>
                <a:gd name="connsiteX66" fmla="*/ 301517 w 763913"/>
                <a:gd name="connsiteY66" fmla="*/ 130683 h 201029"/>
                <a:gd name="connsiteX67" fmla="*/ 301517 w 763913"/>
                <a:gd name="connsiteY67" fmla="*/ 110607 h 201029"/>
                <a:gd name="connsiteX68" fmla="*/ 321593 w 763913"/>
                <a:gd name="connsiteY68" fmla="*/ 110607 h 201029"/>
                <a:gd name="connsiteX69" fmla="*/ 321593 w 763913"/>
                <a:gd name="connsiteY69" fmla="*/ 130683 h 201029"/>
                <a:gd name="connsiteX70" fmla="*/ 321593 w 763913"/>
                <a:gd name="connsiteY70" fmla="*/ 90477 h 201029"/>
                <a:gd name="connsiteX71" fmla="*/ 301517 w 763913"/>
                <a:gd name="connsiteY71" fmla="*/ 90477 h 201029"/>
                <a:gd name="connsiteX72" fmla="*/ 301517 w 763913"/>
                <a:gd name="connsiteY72" fmla="*/ 70401 h 201029"/>
                <a:gd name="connsiteX73" fmla="*/ 321593 w 763913"/>
                <a:gd name="connsiteY73" fmla="*/ 70401 h 201029"/>
                <a:gd name="connsiteX74" fmla="*/ 321593 w 763913"/>
                <a:gd name="connsiteY74" fmla="*/ 90477 h 201029"/>
                <a:gd name="connsiteX75" fmla="*/ 585093 w 763913"/>
                <a:gd name="connsiteY75" fmla="*/ 120673 h 201029"/>
                <a:gd name="connsiteX76" fmla="*/ 565017 w 763913"/>
                <a:gd name="connsiteY76" fmla="*/ 100542 h 201029"/>
                <a:gd name="connsiteX77" fmla="*/ 585093 w 763913"/>
                <a:gd name="connsiteY77" fmla="*/ 80467 h 201029"/>
                <a:gd name="connsiteX78" fmla="*/ 605168 w 763913"/>
                <a:gd name="connsiteY78" fmla="*/ 100542 h 201029"/>
                <a:gd name="connsiteX79" fmla="*/ 585093 w 763913"/>
                <a:gd name="connsiteY79" fmla="*/ 120673 h 201029"/>
                <a:gd name="connsiteX80" fmla="*/ 667364 w 763913"/>
                <a:gd name="connsiteY80" fmla="*/ 120673 h 201029"/>
                <a:gd name="connsiteX81" fmla="*/ 647289 w 763913"/>
                <a:gd name="connsiteY81" fmla="*/ 100542 h 201029"/>
                <a:gd name="connsiteX82" fmla="*/ 667364 w 763913"/>
                <a:gd name="connsiteY82" fmla="*/ 80467 h 201029"/>
                <a:gd name="connsiteX83" fmla="*/ 687440 w 763913"/>
                <a:gd name="connsiteY83" fmla="*/ 100542 h 201029"/>
                <a:gd name="connsiteX84" fmla="*/ 667364 w 763913"/>
                <a:gd name="connsiteY84" fmla="*/ 120673 h 201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763913" h="201029">
                  <a:moveTo>
                    <a:pt x="0" y="0"/>
                  </a:moveTo>
                  <a:lnTo>
                    <a:pt x="0" y="201030"/>
                  </a:lnTo>
                  <a:lnTo>
                    <a:pt x="763913" y="201030"/>
                  </a:lnTo>
                  <a:lnTo>
                    <a:pt x="763913" y="0"/>
                  </a:lnTo>
                  <a:lnTo>
                    <a:pt x="0" y="0"/>
                  </a:lnTo>
                  <a:close/>
                  <a:moveTo>
                    <a:pt x="80357" y="130683"/>
                  </a:moveTo>
                  <a:lnTo>
                    <a:pt x="60282" y="130683"/>
                  </a:lnTo>
                  <a:lnTo>
                    <a:pt x="60282" y="110607"/>
                  </a:lnTo>
                  <a:lnTo>
                    <a:pt x="80357" y="110607"/>
                  </a:lnTo>
                  <a:lnTo>
                    <a:pt x="80357" y="130683"/>
                  </a:lnTo>
                  <a:close/>
                  <a:moveTo>
                    <a:pt x="80357" y="90477"/>
                  </a:moveTo>
                  <a:lnTo>
                    <a:pt x="60282" y="90477"/>
                  </a:lnTo>
                  <a:lnTo>
                    <a:pt x="60282" y="70401"/>
                  </a:lnTo>
                  <a:lnTo>
                    <a:pt x="80357" y="70401"/>
                  </a:lnTo>
                  <a:lnTo>
                    <a:pt x="80357" y="90477"/>
                  </a:lnTo>
                  <a:close/>
                  <a:moveTo>
                    <a:pt x="120563" y="130683"/>
                  </a:moveTo>
                  <a:lnTo>
                    <a:pt x="100488" y="130683"/>
                  </a:lnTo>
                  <a:lnTo>
                    <a:pt x="100488" y="110607"/>
                  </a:lnTo>
                  <a:lnTo>
                    <a:pt x="120563" y="110607"/>
                  </a:lnTo>
                  <a:lnTo>
                    <a:pt x="120563" y="130683"/>
                  </a:lnTo>
                  <a:close/>
                  <a:moveTo>
                    <a:pt x="120563" y="90477"/>
                  </a:moveTo>
                  <a:lnTo>
                    <a:pt x="100488" y="90477"/>
                  </a:lnTo>
                  <a:lnTo>
                    <a:pt x="100488" y="70401"/>
                  </a:lnTo>
                  <a:lnTo>
                    <a:pt x="120563" y="70401"/>
                  </a:lnTo>
                  <a:lnTo>
                    <a:pt x="120563" y="90477"/>
                  </a:lnTo>
                  <a:close/>
                  <a:moveTo>
                    <a:pt x="160769" y="130683"/>
                  </a:moveTo>
                  <a:lnTo>
                    <a:pt x="140694" y="130683"/>
                  </a:lnTo>
                  <a:lnTo>
                    <a:pt x="140694" y="110607"/>
                  </a:lnTo>
                  <a:lnTo>
                    <a:pt x="160769" y="110607"/>
                  </a:lnTo>
                  <a:lnTo>
                    <a:pt x="160769" y="130683"/>
                  </a:lnTo>
                  <a:close/>
                  <a:moveTo>
                    <a:pt x="160769" y="90477"/>
                  </a:moveTo>
                  <a:lnTo>
                    <a:pt x="140694" y="90477"/>
                  </a:lnTo>
                  <a:lnTo>
                    <a:pt x="140694" y="70401"/>
                  </a:lnTo>
                  <a:lnTo>
                    <a:pt x="160769" y="70401"/>
                  </a:lnTo>
                  <a:lnTo>
                    <a:pt x="160769" y="90477"/>
                  </a:lnTo>
                  <a:close/>
                  <a:moveTo>
                    <a:pt x="200975" y="130683"/>
                  </a:moveTo>
                  <a:lnTo>
                    <a:pt x="180900" y="130683"/>
                  </a:lnTo>
                  <a:lnTo>
                    <a:pt x="180900" y="110607"/>
                  </a:lnTo>
                  <a:lnTo>
                    <a:pt x="200975" y="110607"/>
                  </a:lnTo>
                  <a:lnTo>
                    <a:pt x="200975" y="130683"/>
                  </a:lnTo>
                  <a:close/>
                  <a:moveTo>
                    <a:pt x="200975" y="90477"/>
                  </a:moveTo>
                  <a:lnTo>
                    <a:pt x="180900" y="90477"/>
                  </a:lnTo>
                  <a:lnTo>
                    <a:pt x="180900" y="70401"/>
                  </a:lnTo>
                  <a:lnTo>
                    <a:pt x="200975" y="70401"/>
                  </a:lnTo>
                  <a:lnTo>
                    <a:pt x="200975" y="90477"/>
                  </a:lnTo>
                  <a:close/>
                  <a:moveTo>
                    <a:pt x="241181" y="130683"/>
                  </a:moveTo>
                  <a:lnTo>
                    <a:pt x="221051" y="130683"/>
                  </a:lnTo>
                  <a:lnTo>
                    <a:pt x="221051" y="110607"/>
                  </a:lnTo>
                  <a:lnTo>
                    <a:pt x="241181" y="110607"/>
                  </a:lnTo>
                  <a:lnTo>
                    <a:pt x="241181" y="130683"/>
                  </a:lnTo>
                  <a:close/>
                  <a:moveTo>
                    <a:pt x="241181" y="90477"/>
                  </a:moveTo>
                  <a:lnTo>
                    <a:pt x="221051" y="90477"/>
                  </a:lnTo>
                  <a:lnTo>
                    <a:pt x="221051" y="70401"/>
                  </a:lnTo>
                  <a:lnTo>
                    <a:pt x="241181" y="70401"/>
                  </a:lnTo>
                  <a:lnTo>
                    <a:pt x="241181" y="90477"/>
                  </a:lnTo>
                  <a:close/>
                  <a:moveTo>
                    <a:pt x="281387" y="130683"/>
                  </a:moveTo>
                  <a:lnTo>
                    <a:pt x="261311" y="130683"/>
                  </a:lnTo>
                  <a:lnTo>
                    <a:pt x="261311" y="110607"/>
                  </a:lnTo>
                  <a:lnTo>
                    <a:pt x="281387" y="110607"/>
                  </a:lnTo>
                  <a:lnTo>
                    <a:pt x="281387" y="130683"/>
                  </a:lnTo>
                  <a:close/>
                  <a:moveTo>
                    <a:pt x="281387" y="90477"/>
                  </a:moveTo>
                  <a:lnTo>
                    <a:pt x="261311" y="90477"/>
                  </a:lnTo>
                  <a:lnTo>
                    <a:pt x="261311" y="70401"/>
                  </a:lnTo>
                  <a:lnTo>
                    <a:pt x="281387" y="70401"/>
                  </a:lnTo>
                  <a:lnTo>
                    <a:pt x="281387" y="90477"/>
                  </a:lnTo>
                  <a:close/>
                  <a:moveTo>
                    <a:pt x="321593" y="130683"/>
                  </a:moveTo>
                  <a:lnTo>
                    <a:pt x="301517" y="130683"/>
                  </a:lnTo>
                  <a:lnTo>
                    <a:pt x="301517" y="110607"/>
                  </a:lnTo>
                  <a:lnTo>
                    <a:pt x="321593" y="110607"/>
                  </a:lnTo>
                  <a:lnTo>
                    <a:pt x="321593" y="130683"/>
                  </a:lnTo>
                  <a:close/>
                  <a:moveTo>
                    <a:pt x="321593" y="90477"/>
                  </a:moveTo>
                  <a:lnTo>
                    <a:pt x="301517" y="90477"/>
                  </a:lnTo>
                  <a:lnTo>
                    <a:pt x="301517" y="70401"/>
                  </a:lnTo>
                  <a:lnTo>
                    <a:pt x="321593" y="70401"/>
                  </a:lnTo>
                  <a:lnTo>
                    <a:pt x="321593" y="90477"/>
                  </a:lnTo>
                  <a:close/>
                  <a:moveTo>
                    <a:pt x="585093" y="120673"/>
                  </a:moveTo>
                  <a:cubicBezTo>
                    <a:pt x="573988" y="120673"/>
                    <a:pt x="565017" y="111647"/>
                    <a:pt x="565017" y="100542"/>
                  </a:cubicBezTo>
                  <a:cubicBezTo>
                    <a:pt x="565017" y="89438"/>
                    <a:pt x="574043" y="80467"/>
                    <a:pt x="585093" y="80467"/>
                  </a:cubicBezTo>
                  <a:cubicBezTo>
                    <a:pt x="596142" y="80467"/>
                    <a:pt x="605168" y="89492"/>
                    <a:pt x="605168" y="100542"/>
                  </a:cubicBezTo>
                  <a:cubicBezTo>
                    <a:pt x="605168" y="111592"/>
                    <a:pt x="596142" y="120673"/>
                    <a:pt x="585093" y="120673"/>
                  </a:cubicBezTo>
                  <a:close/>
                  <a:moveTo>
                    <a:pt x="667364" y="120673"/>
                  </a:moveTo>
                  <a:cubicBezTo>
                    <a:pt x="656260" y="120673"/>
                    <a:pt x="647289" y="111647"/>
                    <a:pt x="647289" y="100542"/>
                  </a:cubicBezTo>
                  <a:cubicBezTo>
                    <a:pt x="647289" y="89438"/>
                    <a:pt x="656315" y="80467"/>
                    <a:pt x="667364" y="80467"/>
                  </a:cubicBezTo>
                  <a:cubicBezTo>
                    <a:pt x="678414" y="80467"/>
                    <a:pt x="687440" y="89492"/>
                    <a:pt x="687440" y="100542"/>
                  </a:cubicBezTo>
                  <a:cubicBezTo>
                    <a:pt x="687440" y="111592"/>
                    <a:pt x="678414" y="120673"/>
                    <a:pt x="667364" y="120673"/>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grpSp>
        <p:nvGrpSpPr>
          <p:cNvPr id="8" name="Group 7">
            <a:extLst>
              <a:ext uri="{FF2B5EF4-FFF2-40B4-BE49-F238E27FC236}">
                <a16:creationId xmlns:a16="http://schemas.microsoft.com/office/drawing/2014/main" id="{30FCBA5B-23DE-F15E-E48C-A7D757409CD7}"/>
              </a:ext>
            </a:extLst>
          </p:cNvPr>
          <p:cNvGrpSpPr/>
          <p:nvPr/>
        </p:nvGrpSpPr>
        <p:grpSpPr>
          <a:xfrm>
            <a:off x="826995" y="2514600"/>
            <a:ext cx="1200052" cy="545078"/>
            <a:chOff x="782118" y="4148028"/>
            <a:chExt cx="1200052" cy="545078"/>
          </a:xfrm>
        </p:grpSpPr>
        <p:sp>
          <p:nvSpPr>
            <p:cNvPr id="9" name="Rectangle: Rounded Corners 8">
              <a:extLst>
                <a:ext uri="{FF2B5EF4-FFF2-40B4-BE49-F238E27FC236}">
                  <a16:creationId xmlns:a16="http://schemas.microsoft.com/office/drawing/2014/main" id="{8DBC721D-AB69-969E-C1DD-EC442EC498A8}"/>
                </a:ext>
              </a:extLst>
            </p:cNvPr>
            <p:cNvSpPr>
              <a:spLocks noChangeAspect="1"/>
            </p:cNvSpPr>
            <p:nvPr/>
          </p:nvSpPr>
          <p:spPr>
            <a:xfrm>
              <a:off x="782118" y="4148028"/>
              <a:ext cx="1200052" cy="545078"/>
            </a:xfrm>
            <a:prstGeom prst="roundRect">
              <a:avLst>
                <a:gd name="adj" fmla="val 10000"/>
              </a:avLst>
            </a:prstGeom>
            <a:solidFill>
              <a:schemeClr val="bg1"/>
            </a:solidFill>
            <a:ln w="1905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Graphic 9">
              <a:extLst>
                <a:ext uri="{FF2B5EF4-FFF2-40B4-BE49-F238E27FC236}">
                  <a16:creationId xmlns:a16="http://schemas.microsoft.com/office/drawing/2014/main" id="{2D057886-5DF6-C7D8-ED7D-51AEABEA1706}"/>
                </a:ext>
              </a:extLst>
            </p:cNvPr>
            <p:cNvSpPr>
              <a:spLocks noChangeAspect="1"/>
            </p:cNvSpPr>
            <p:nvPr/>
          </p:nvSpPr>
          <p:spPr>
            <a:xfrm>
              <a:off x="1014920" y="4323931"/>
              <a:ext cx="734448" cy="193273"/>
            </a:xfrm>
            <a:custGeom>
              <a:avLst/>
              <a:gdLst>
                <a:gd name="connsiteX0" fmla="*/ 0 w 763913"/>
                <a:gd name="connsiteY0" fmla="*/ 0 h 201029"/>
                <a:gd name="connsiteX1" fmla="*/ 0 w 763913"/>
                <a:gd name="connsiteY1" fmla="*/ 201030 h 201029"/>
                <a:gd name="connsiteX2" fmla="*/ 763913 w 763913"/>
                <a:gd name="connsiteY2" fmla="*/ 201030 h 201029"/>
                <a:gd name="connsiteX3" fmla="*/ 763913 w 763913"/>
                <a:gd name="connsiteY3" fmla="*/ 0 h 201029"/>
                <a:gd name="connsiteX4" fmla="*/ 0 w 763913"/>
                <a:gd name="connsiteY4" fmla="*/ 0 h 201029"/>
                <a:gd name="connsiteX5" fmla="*/ 80357 w 763913"/>
                <a:gd name="connsiteY5" fmla="*/ 130683 h 201029"/>
                <a:gd name="connsiteX6" fmla="*/ 60282 w 763913"/>
                <a:gd name="connsiteY6" fmla="*/ 130683 h 201029"/>
                <a:gd name="connsiteX7" fmla="*/ 60282 w 763913"/>
                <a:gd name="connsiteY7" fmla="*/ 110607 h 201029"/>
                <a:gd name="connsiteX8" fmla="*/ 80357 w 763913"/>
                <a:gd name="connsiteY8" fmla="*/ 110607 h 201029"/>
                <a:gd name="connsiteX9" fmla="*/ 80357 w 763913"/>
                <a:gd name="connsiteY9" fmla="*/ 130683 h 201029"/>
                <a:gd name="connsiteX10" fmla="*/ 80357 w 763913"/>
                <a:gd name="connsiteY10" fmla="*/ 90477 h 201029"/>
                <a:gd name="connsiteX11" fmla="*/ 60282 w 763913"/>
                <a:gd name="connsiteY11" fmla="*/ 90477 h 201029"/>
                <a:gd name="connsiteX12" fmla="*/ 60282 w 763913"/>
                <a:gd name="connsiteY12" fmla="*/ 70401 h 201029"/>
                <a:gd name="connsiteX13" fmla="*/ 80357 w 763913"/>
                <a:gd name="connsiteY13" fmla="*/ 70401 h 201029"/>
                <a:gd name="connsiteX14" fmla="*/ 80357 w 763913"/>
                <a:gd name="connsiteY14" fmla="*/ 90477 h 201029"/>
                <a:gd name="connsiteX15" fmla="*/ 120563 w 763913"/>
                <a:gd name="connsiteY15" fmla="*/ 130683 h 201029"/>
                <a:gd name="connsiteX16" fmla="*/ 100488 w 763913"/>
                <a:gd name="connsiteY16" fmla="*/ 130683 h 201029"/>
                <a:gd name="connsiteX17" fmla="*/ 100488 w 763913"/>
                <a:gd name="connsiteY17" fmla="*/ 110607 h 201029"/>
                <a:gd name="connsiteX18" fmla="*/ 120563 w 763913"/>
                <a:gd name="connsiteY18" fmla="*/ 110607 h 201029"/>
                <a:gd name="connsiteX19" fmla="*/ 120563 w 763913"/>
                <a:gd name="connsiteY19" fmla="*/ 130683 h 201029"/>
                <a:gd name="connsiteX20" fmla="*/ 120563 w 763913"/>
                <a:gd name="connsiteY20" fmla="*/ 90477 h 201029"/>
                <a:gd name="connsiteX21" fmla="*/ 100488 w 763913"/>
                <a:gd name="connsiteY21" fmla="*/ 90477 h 201029"/>
                <a:gd name="connsiteX22" fmla="*/ 100488 w 763913"/>
                <a:gd name="connsiteY22" fmla="*/ 70401 h 201029"/>
                <a:gd name="connsiteX23" fmla="*/ 120563 w 763913"/>
                <a:gd name="connsiteY23" fmla="*/ 70401 h 201029"/>
                <a:gd name="connsiteX24" fmla="*/ 120563 w 763913"/>
                <a:gd name="connsiteY24" fmla="*/ 90477 h 201029"/>
                <a:gd name="connsiteX25" fmla="*/ 160769 w 763913"/>
                <a:gd name="connsiteY25" fmla="*/ 130683 h 201029"/>
                <a:gd name="connsiteX26" fmla="*/ 140694 w 763913"/>
                <a:gd name="connsiteY26" fmla="*/ 130683 h 201029"/>
                <a:gd name="connsiteX27" fmla="*/ 140694 w 763913"/>
                <a:gd name="connsiteY27" fmla="*/ 110607 h 201029"/>
                <a:gd name="connsiteX28" fmla="*/ 160769 w 763913"/>
                <a:gd name="connsiteY28" fmla="*/ 110607 h 201029"/>
                <a:gd name="connsiteX29" fmla="*/ 160769 w 763913"/>
                <a:gd name="connsiteY29" fmla="*/ 130683 h 201029"/>
                <a:gd name="connsiteX30" fmla="*/ 160769 w 763913"/>
                <a:gd name="connsiteY30" fmla="*/ 90477 h 201029"/>
                <a:gd name="connsiteX31" fmla="*/ 140694 w 763913"/>
                <a:gd name="connsiteY31" fmla="*/ 90477 h 201029"/>
                <a:gd name="connsiteX32" fmla="*/ 140694 w 763913"/>
                <a:gd name="connsiteY32" fmla="*/ 70401 h 201029"/>
                <a:gd name="connsiteX33" fmla="*/ 160769 w 763913"/>
                <a:gd name="connsiteY33" fmla="*/ 70401 h 201029"/>
                <a:gd name="connsiteX34" fmla="*/ 160769 w 763913"/>
                <a:gd name="connsiteY34" fmla="*/ 90477 h 201029"/>
                <a:gd name="connsiteX35" fmla="*/ 200975 w 763913"/>
                <a:gd name="connsiteY35" fmla="*/ 130683 h 201029"/>
                <a:gd name="connsiteX36" fmla="*/ 180900 w 763913"/>
                <a:gd name="connsiteY36" fmla="*/ 130683 h 201029"/>
                <a:gd name="connsiteX37" fmla="*/ 180900 w 763913"/>
                <a:gd name="connsiteY37" fmla="*/ 110607 h 201029"/>
                <a:gd name="connsiteX38" fmla="*/ 200975 w 763913"/>
                <a:gd name="connsiteY38" fmla="*/ 110607 h 201029"/>
                <a:gd name="connsiteX39" fmla="*/ 200975 w 763913"/>
                <a:gd name="connsiteY39" fmla="*/ 130683 h 201029"/>
                <a:gd name="connsiteX40" fmla="*/ 200975 w 763913"/>
                <a:gd name="connsiteY40" fmla="*/ 90477 h 201029"/>
                <a:gd name="connsiteX41" fmla="*/ 180900 w 763913"/>
                <a:gd name="connsiteY41" fmla="*/ 90477 h 201029"/>
                <a:gd name="connsiteX42" fmla="*/ 180900 w 763913"/>
                <a:gd name="connsiteY42" fmla="*/ 70401 h 201029"/>
                <a:gd name="connsiteX43" fmla="*/ 200975 w 763913"/>
                <a:gd name="connsiteY43" fmla="*/ 70401 h 201029"/>
                <a:gd name="connsiteX44" fmla="*/ 200975 w 763913"/>
                <a:gd name="connsiteY44" fmla="*/ 90477 h 201029"/>
                <a:gd name="connsiteX45" fmla="*/ 241181 w 763913"/>
                <a:gd name="connsiteY45" fmla="*/ 130683 h 201029"/>
                <a:gd name="connsiteX46" fmla="*/ 221051 w 763913"/>
                <a:gd name="connsiteY46" fmla="*/ 130683 h 201029"/>
                <a:gd name="connsiteX47" fmla="*/ 221051 w 763913"/>
                <a:gd name="connsiteY47" fmla="*/ 110607 h 201029"/>
                <a:gd name="connsiteX48" fmla="*/ 241181 w 763913"/>
                <a:gd name="connsiteY48" fmla="*/ 110607 h 201029"/>
                <a:gd name="connsiteX49" fmla="*/ 241181 w 763913"/>
                <a:gd name="connsiteY49" fmla="*/ 130683 h 201029"/>
                <a:gd name="connsiteX50" fmla="*/ 241181 w 763913"/>
                <a:gd name="connsiteY50" fmla="*/ 90477 h 201029"/>
                <a:gd name="connsiteX51" fmla="*/ 221051 w 763913"/>
                <a:gd name="connsiteY51" fmla="*/ 90477 h 201029"/>
                <a:gd name="connsiteX52" fmla="*/ 221051 w 763913"/>
                <a:gd name="connsiteY52" fmla="*/ 70401 h 201029"/>
                <a:gd name="connsiteX53" fmla="*/ 241181 w 763913"/>
                <a:gd name="connsiteY53" fmla="*/ 70401 h 201029"/>
                <a:gd name="connsiteX54" fmla="*/ 241181 w 763913"/>
                <a:gd name="connsiteY54" fmla="*/ 90477 h 201029"/>
                <a:gd name="connsiteX55" fmla="*/ 281387 w 763913"/>
                <a:gd name="connsiteY55" fmla="*/ 130683 h 201029"/>
                <a:gd name="connsiteX56" fmla="*/ 261311 w 763913"/>
                <a:gd name="connsiteY56" fmla="*/ 130683 h 201029"/>
                <a:gd name="connsiteX57" fmla="*/ 261311 w 763913"/>
                <a:gd name="connsiteY57" fmla="*/ 110607 h 201029"/>
                <a:gd name="connsiteX58" fmla="*/ 281387 w 763913"/>
                <a:gd name="connsiteY58" fmla="*/ 110607 h 201029"/>
                <a:gd name="connsiteX59" fmla="*/ 281387 w 763913"/>
                <a:gd name="connsiteY59" fmla="*/ 130683 h 201029"/>
                <a:gd name="connsiteX60" fmla="*/ 281387 w 763913"/>
                <a:gd name="connsiteY60" fmla="*/ 90477 h 201029"/>
                <a:gd name="connsiteX61" fmla="*/ 261311 w 763913"/>
                <a:gd name="connsiteY61" fmla="*/ 90477 h 201029"/>
                <a:gd name="connsiteX62" fmla="*/ 261311 w 763913"/>
                <a:gd name="connsiteY62" fmla="*/ 70401 h 201029"/>
                <a:gd name="connsiteX63" fmla="*/ 281387 w 763913"/>
                <a:gd name="connsiteY63" fmla="*/ 70401 h 201029"/>
                <a:gd name="connsiteX64" fmla="*/ 281387 w 763913"/>
                <a:gd name="connsiteY64" fmla="*/ 90477 h 201029"/>
                <a:gd name="connsiteX65" fmla="*/ 321593 w 763913"/>
                <a:gd name="connsiteY65" fmla="*/ 130683 h 201029"/>
                <a:gd name="connsiteX66" fmla="*/ 301517 w 763913"/>
                <a:gd name="connsiteY66" fmla="*/ 130683 h 201029"/>
                <a:gd name="connsiteX67" fmla="*/ 301517 w 763913"/>
                <a:gd name="connsiteY67" fmla="*/ 110607 h 201029"/>
                <a:gd name="connsiteX68" fmla="*/ 321593 w 763913"/>
                <a:gd name="connsiteY68" fmla="*/ 110607 h 201029"/>
                <a:gd name="connsiteX69" fmla="*/ 321593 w 763913"/>
                <a:gd name="connsiteY69" fmla="*/ 130683 h 201029"/>
                <a:gd name="connsiteX70" fmla="*/ 321593 w 763913"/>
                <a:gd name="connsiteY70" fmla="*/ 90477 h 201029"/>
                <a:gd name="connsiteX71" fmla="*/ 301517 w 763913"/>
                <a:gd name="connsiteY71" fmla="*/ 90477 h 201029"/>
                <a:gd name="connsiteX72" fmla="*/ 301517 w 763913"/>
                <a:gd name="connsiteY72" fmla="*/ 70401 h 201029"/>
                <a:gd name="connsiteX73" fmla="*/ 321593 w 763913"/>
                <a:gd name="connsiteY73" fmla="*/ 70401 h 201029"/>
                <a:gd name="connsiteX74" fmla="*/ 321593 w 763913"/>
                <a:gd name="connsiteY74" fmla="*/ 90477 h 201029"/>
                <a:gd name="connsiteX75" fmla="*/ 585093 w 763913"/>
                <a:gd name="connsiteY75" fmla="*/ 120673 h 201029"/>
                <a:gd name="connsiteX76" fmla="*/ 565017 w 763913"/>
                <a:gd name="connsiteY76" fmla="*/ 100542 h 201029"/>
                <a:gd name="connsiteX77" fmla="*/ 585093 w 763913"/>
                <a:gd name="connsiteY77" fmla="*/ 80467 h 201029"/>
                <a:gd name="connsiteX78" fmla="*/ 605168 w 763913"/>
                <a:gd name="connsiteY78" fmla="*/ 100542 h 201029"/>
                <a:gd name="connsiteX79" fmla="*/ 585093 w 763913"/>
                <a:gd name="connsiteY79" fmla="*/ 120673 h 201029"/>
                <a:gd name="connsiteX80" fmla="*/ 667364 w 763913"/>
                <a:gd name="connsiteY80" fmla="*/ 120673 h 201029"/>
                <a:gd name="connsiteX81" fmla="*/ 647289 w 763913"/>
                <a:gd name="connsiteY81" fmla="*/ 100542 h 201029"/>
                <a:gd name="connsiteX82" fmla="*/ 667364 w 763913"/>
                <a:gd name="connsiteY82" fmla="*/ 80467 h 201029"/>
                <a:gd name="connsiteX83" fmla="*/ 687440 w 763913"/>
                <a:gd name="connsiteY83" fmla="*/ 100542 h 201029"/>
                <a:gd name="connsiteX84" fmla="*/ 667364 w 763913"/>
                <a:gd name="connsiteY84" fmla="*/ 120673 h 201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763913" h="201029">
                  <a:moveTo>
                    <a:pt x="0" y="0"/>
                  </a:moveTo>
                  <a:lnTo>
                    <a:pt x="0" y="201030"/>
                  </a:lnTo>
                  <a:lnTo>
                    <a:pt x="763913" y="201030"/>
                  </a:lnTo>
                  <a:lnTo>
                    <a:pt x="763913" y="0"/>
                  </a:lnTo>
                  <a:lnTo>
                    <a:pt x="0" y="0"/>
                  </a:lnTo>
                  <a:close/>
                  <a:moveTo>
                    <a:pt x="80357" y="130683"/>
                  </a:moveTo>
                  <a:lnTo>
                    <a:pt x="60282" y="130683"/>
                  </a:lnTo>
                  <a:lnTo>
                    <a:pt x="60282" y="110607"/>
                  </a:lnTo>
                  <a:lnTo>
                    <a:pt x="80357" y="110607"/>
                  </a:lnTo>
                  <a:lnTo>
                    <a:pt x="80357" y="130683"/>
                  </a:lnTo>
                  <a:close/>
                  <a:moveTo>
                    <a:pt x="80357" y="90477"/>
                  </a:moveTo>
                  <a:lnTo>
                    <a:pt x="60282" y="90477"/>
                  </a:lnTo>
                  <a:lnTo>
                    <a:pt x="60282" y="70401"/>
                  </a:lnTo>
                  <a:lnTo>
                    <a:pt x="80357" y="70401"/>
                  </a:lnTo>
                  <a:lnTo>
                    <a:pt x="80357" y="90477"/>
                  </a:lnTo>
                  <a:close/>
                  <a:moveTo>
                    <a:pt x="120563" y="130683"/>
                  </a:moveTo>
                  <a:lnTo>
                    <a:pt x="100488" y="130683"/>
                  </a:lnTo>
                  <a:lnTo>
                    <a:pt x="100488" y="110607"/>
                  </a:lnTo>
                  <a:lnTo>
                    <a:pt x="120563" y="110607"/>
                  </a:lnTo>
                  <a:lnTo>
                    <a:pt x="120563" y="130683"/>
                  </a:lnTo>
                  <a:close/>
                  <a:moveTo>
                    <a:pt x="120563" y="90477"/>
                  </a:moveTo>
                  <a:lnTo>
                    <a:pt x="100488" y="90477"/>
                  </a:lnTo>
                  <a:lnTo>
                    <a:pt x="100488" y="70401"/>
                  </a:lnTo>
                  <a:lnTo>
                    <a:pt x="120563" y="70401"/>
                  </a:lnTo>
                  <a:lnTo>
                    <a:pt x="120563" y="90477"/>
                  </a:lnTo>
                  <a:close/>
                  <a:moveTo>
                    <a:pt x="160769" y="130683"/>
                  </a:moveTo>
                  <a:lnTo>
                    <a:pt x="140694" y="130683"/>
                  </a:lnTo>
                  <a:lnTo>
                    <a:pt x="140694" y="110607"/>
                  </a:lnTo>
                  <a:lnTo>
                    <a:pt x="160769" y="110607"/>
                  </a:lnTo>
                  <a:lnTo>
                    <a:pt x="160769" y="130683"/>
                  </a:lnTo>
                  <a:close/>
                  <a:moveTo>
                    <a:pt x="160769" y="90477"/>
                  </a:moveTo>
                  <a:lnTo>
                    <a:pt x="140694" y="90477"/>
                  </a:lnTo>
                  <a:lnTo>
                    <a:pt x="140694" y="70401"/>
                  </a:lnTo>
                  <a:lnTo>
                    <a:pt x="160769" y="70401"/>
                  </a:lnTo>
                  <a:lnTo>
                    <a:pt x="160769" y="90477"/>
                  </a:lnTo>
                  <a:close/>
                  <a:moveTo>
                    <a:pt x="200975" y="130683"/>
                  </a:moveTo>
                  <a:lnTo>
                    <a:pt x="180900" y="130683"/>
                  </a:lnTo>
                  <a:lnTo>
                    <a:pt x="180900" y="110607"/>
                  </a:lnTo>
                  <a:lnTo>
                    <a:pt x="200975" y="110607"/>
                  </a:lnTo>
                  <a:lnTo>
                    <a:pt x="200975" y="130683"/>
                  </a:lnTo>
                  <a:close/>
                  <a:moveTo>
                    <a:pt x="200975" y="90477"/>
                  </a:moveTo>
                  <a:lnTo>
                    <a:pt x="180900" y="90477"/>
                  </a:lnTo>
                  <a:lnTo>
                    <a:pt x="180900" y="70401"/>
                  </a:lnTo>
                  <a:lnTo>
                    <a:pt x="200975" y="70401"/>
                  </a:lnTo>
                  <a:lnTo>
                    <a:pt x="200975" y="90477"/>
                  </a:lnTo>
                  <a:close/>
                  <a:moveTo>
                    <a:pt x="241181" y="130683"/>
                  </a:moveTo>
                  <a:lnTo>
                    <a:pt x="221051" y="130683"/>
                  </a:lnTo>
                  <a:lnTo>
                    <a:pt x="221051" y="110607"/>
                  </a:lnTo>
                  <a:lnTo>
                    <a:pt x="241181" y="110607"/>
                  </a:lnTo>
                  <a:lnTo>
                    <a:pt x="241181" y="130683"/>
                  </a:lnTo>
                  <a:close/>
                  <a:moveTo>
                    <a:pt x="241181" y="90477"/>
                  </a:moveTo>
                  <a:lnTo>
                    <a:pt x="221051" y="90477"/>
                  </a:lnTo>
                  <a:lnTo>
                    <a:pt x="221051" y="70401"/>
                  </a:lnTo>
                  <a:lnTo>
                    <a:pt x="241181" y="70401"/>
                  </a:lnTo>
                  <a:lnTo>
                    <a:pt x="241181" y="90477"/>
                  </a:lnTo>
                  <a:close/>
                  <a:moveTo>
                    <a:pt x="281387" y="130683"/>
                  </a:moveTo>
                  <a:lnTo>
                    <a:pt x="261311" y="130683"/>
                  </a:lnTo>
                  <a:lnTo>
                    <a:pt x="261311" y="110607"/>
                  </a:lnTo>
                  <a:lnTo>
                    <a:pt x="281387" y="110607"/>
                  </a:lnTo>
                  <a:lnTo>
                    <a:pt x="281387" y="130683"/>
                  </a:lnTo>
                  <a:close/>
                  <a:moveTo>
                    <a:pt x="281387" y="90477"/>
                  </a:moveTo>
                  <a:lnTo>
                    <a:pt x="261311" y="90477"/>
                  </a:lnTo>
                  <a:lnTo>
                    <a:pt x="261311" y="70401"/>
                  </a:lnTo>
                  <a:lnTo>
                    <a:pt x="281387" y="70401"/>
                  </a:lnTo>
                  <a:lnTo>
                    <a:pt x="281387" y="90477"/>
                  </a:lnTo>
                  <a:close/>
                  <a:moveTo>
                    <a:pt x="321593" y="130683"/>
                  </a:moveTo>
                  <a:lnTo>
                    <a:pt x="301517" y="130683"/>
                  </a:lnTo>
                  <a:lnTo>
                    <a:pt x="301517" y="110607"/>
                  </a:lnTo>
                  <a:lnTo>
                    <a:pt x="321593" y="110607"/>
                  </a:lnTo>
                  <a:lnTo>
                    <a:pt x="321593" y="130683"/>
                  </a:lnTo>
                  <a:close/>
                  <a:moveTo>
                    <a:pt x="321593" y="90477"/>
                  </a:moveTo>
                  <a:lnTo>
                    <a:pt x="301517" y="90477"/>
                  </a:lnTo>
                  <a:lnTo>
                    <a:pt x="301517" y="70401"/>
                  </a:lnTo>
                  <a:lnTo>
                    <a:pt x="321593" y="70401"/>
                  </a:lnTo>
                  <a:lnTo>
                    <a:pt x="321593" y="90477"/>
                  </a:lnTo>
                  <a:close/>
                  <a:moveTo>
                    <a:pt x="585093" y="120673"/>
                  </a:moveTo>
                  <a:cubicBezTo>
                    <a:pt x="573988" y="120673"/>
                    <a:pt x="565017" y="111647"/>
                    <a:pt x="565017" y="100542"/>
                  </a:cubicBezTo>
                  <a:cubicBezTo>
                    <a:pt x="565017" y="89438"/>
                    <a:pt x="574043" y="80467"/>
                    <a:pt x="585093" y="80467"/>
                  </a:cubicBezTo>
                  <a:cubicBezTo>
                    <a:pt x="596142" y="80467"/>
                    <a:pt x="605168" y="89492"/>
                    <a:pt x="605168" y="100542"/>
                  </a:cubicBezTo>
                  <a:cubicBezTo>
                    <a:pt x="605168" y="111592"/>
                    <a:pt x="596142" y="120673"/>
                    <a:pt x="585093" y="120673"/>
                  </a:cubicBezTo>
                  <a:close/>
                  <a:moveTo>
                    <a:pt x="667364" y="120673"/>
                  </a:moveTo>
                  <a:cubicBezTo>
                    <a:pt x="656260" y="120673"/>
                    <a:pt x="647289" y="111647"/>
                    <a:pt x="647289" y="100542"/>
                  </a:cubicBezTo>
                  <a:cubicBezTo>
                    <a:pt x="647289" y="89438"/>
                    <a:pt x="656315" y="80467"/>
                    <a:pt x="667364" y="80467"/>
                  </a:cubicBezTo>
                  <a:cubicBezTo>
                    <a:pt x="678414" y="80467"/>
                    <a:pt x="687440" y="89492"/>
                    <a:pt x="687440" y="100542"/>
                  </a:cubicBezTo>
                  <a:cubicBezTo>
                    <a:pt x="687440" y="111592"/>
                    <a:pt x="678414" y="120673"/>
                    <a:pt x="667364" y="120673"/>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grpSp>
        <p:nvGrpSpPr>
          <p:cNvPr id="11" name="Group 10">
            <a:extLst>
              <a:ext uri="{FF2B5EF4-FFF2-40B4-BE49-F238E27FC236}">
                <a16:creationId xmlns:a16="http://schemas.microsoft.com/office/drawing/2014/main" id="{BEEFA408-2A9A-18FD-FF88-00DBFADA769E}"/>
              </a:ext>
            </a:extLst>
          </p:cNvPr>
          <p:cNvGrpSpPr/>
          <p:nvPr/>
        </p:nvGrpSpPr>
        <p:grpSpPr>
          <a:xfrm>
            <a:off x="5228818" y="2514600"/>
            <a:ext cx="1202590" cy="545078"/>
            <a:chOff x="5183941" y="4148028"/>
            <a:chExt cx="1202590" cy="545078"/>
          </a:xfrm>
        </p:grpSpPr>
        <p:sp>
          <p:nvSpPr>
            <p:cNvPr id="12" name="Rectangle: Rounded Corners 25">
              <a:extLst>
                <a:ext uri="{FF2B5EF4-FFF2-40B4-BE49-F238E27FC236}">
                  <a16:creationId xmlns:a16="http://schemas.microsoft.com/office/drawing/2014/main" id="{15E054E9-A11C-3DA4-029B-A29F58E9469B}"/>
                </a:ext>
              </a:extLst>
            </p:cNvPr>
            <p:cNvSpPr>
              <a:spLocks noChangeAspect="1"/>
            </p:cNvSpPr>
            <p:nvPr/>
          </p:nvSpPr>
          <p:spPr>
            <a:xfrm>
              <a:off x="5183941" y="4148028"/>
              <a:ext cx="1202590" cy="545078"/>
            </a:xfrm>
            <a:prstGeom prst="roundRect">
              <a:avLst>
                <a:gd name="adj" fmla="val 10000"/>
              </a:avLst>
            </a:prstGeom>
            <a:solidFill>
              <a:schemeClr val="bg1"/>
            </a:solidFill>
            <a:ln w="1905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Graphic 9">
              <a:extLst>
                <a:ext uri="{FF2B5EF4-FFF2-40B4-BE49-F238E27FC236}">
                  <a16:creationId xmlns:a16="http://schemas.microsoft.com/office/drawing/2014/main" id="{8B117726-66ED-41A9-3EC0-268C4C9097CD}"/>
                </a:ext>
              </a:extLst>
            </p:cNvPr>
            <p:cNvSpPr>
              <a:spLocks noChangeAspect="1"/>
            </p:cNvSpPr>
            <p:nvPr/>
          </p:nvSpPr>
          <p:spPr>
            <a:xfrm>
              <a:off x="5418012" y="4323931"/>
              <a:ext cx="734448" cy="193273"/>
            </a:xfrm>
            <a:custGeom>
              <a:avLst/>
              <a:gdLst>
                <a:gd name="connsiteX0" fmla="*/ 0 w 763913"/>
                <a:gd name="connsiteY0" fmla="*/ 0 h 201029"/>
                <a:gd name="connsiteX1" fmla="*/ 0 w 763913"/>
                <a:gd name="connsiteY1" fmla="*/ 201030 h 201029"/>
                <a:gd name="connsiteX2" fmla="*/ 763913 w 763913"/>
                <a:gd name="connsiteY2" fmla="*/ 201030 h 201029"/>
                <a:gd name="connsiteX3" fmla="*/ 763913 w 763913"/>
                <a:gd name="connsiteY3" fmla="*/ 0 h 201029"/>
                <a:gd name="connsiteX4" fmla="*/ 0 w 763913"/>
                <a:gd name="connsiteY4" fmla="*/ 0 h 201029"/>
                <a:gd name="connsiteX5" fmla="*/ 80357 w 763913"/>
                <a:gd name="connsiteY5" fmla="*/ 130683 h 201029"/>
                <a:gd name="connsiteX6" fmla="*/ 60282 w 763913"/>
                <a:gd name="connsiteY6" fmla="*/ 130683 h 201029"/>
                <a:gd name="connsiteX7" fmla="*/ 60282 w 763913"/>
                <a:gd name="connsiteY7" fmla="*/ 110607 h 201029"/>
                <a:gd name="connsiteX8" fmla="*/ 80357 w 763913"/>
                <a:gd name="connsiteY8" fmla="*/ 110607 h 201029"/>
                <a:gd name="connsiteX9" fmla="*/ 80357 w 763913"/>
                <a:gd name="connsiteY9" fmla="*/ 130683 h 201029"/>
                <a:gd name="connsiteX10" fmla="*/ 80357 w 763913"/>
                <a:gd name="connsiteY10" fmla="*/ 90477 h 201029"/>
                <a:gd name="connsiteX11" fmla="*/ 60282 w 763913"/>
                <a:gd name="connsiteY11" fmla="*/ 90477 h 201029"/>
                <a:gd name="connsiteX12" fmla="*/ 60282 w 763913"/>
                <a:gd name="connsiteY12" fmla="*/ 70401 h 201029"/>
                <a:gd name="connsiteX13" fmla="*/ 80357 w 763913"/>
                <a:gd name="connsiteY13" fmla="*/ 70401 h 201029"/>
                <a:gd name="connsiteX14" fmla="*/ 80357 w 763913"/>
                <a:gd name="connsiteY14" fmla="*/ 90477 h 201029"/>
                <a:gd name="connsiteX15" fmla="*/ 120563 w 763913"/>
                <a:gd name="connsiteY15" fmla="*/ 130683 h 201029"/>
                <a:gd name="connsiteX16" fmla="*/ 100488 w 763913"/>
                <a:gd name="connsiteY16" fmla="*/ 130683 h 201029"/>
                <a:gd name="connsiteX17" fmla="*/ 100488 w 763913"/>
                <a:gd name="connsiteY17" fmla="*/ 110607 h 201029"/>
                <a:gd name="connsiteX18" fmla="*/ 120563 w 763913"/>
                <a:gd name="connsiteY18" fmla="*/ 110607 h 201029"/>
                <a:gd name="connsiteX19" fmla="*/ 120563 w 763913"/>
                <a:gd name="connsiteY19" fmla="*/ 130683 h 201029"/>
                <a:gd name="connsiteX20" fmla="*/ 120563 w 763913"/>
                <a:gd name="connsiteY20" fmla="*/ 90477 h 201029"/>
                <a:gd name="connsiteX21" fmla="*/ 100488 w 763913"/>
                <a:gd name="connsiteY21" fmla="*/ 90477 h 201029"/>
                <a:gd name="connsiteX22" fmla="*/ 100488 w 763913"/>
                <a:gd name="connsiteY22" fmla="*/ 70401 h 201029"/>
                <a:gd name="connsiteX23" fmla="*/ 120563 w 763913"/>
                <a:gd name="connsiteY23" fmla="*/ 70401 h 201029"/>
                <a:gd name="connsiteX24" fmla="*/ 120563 w 763913"/>
                <a:gd name="connsiteY24" fmla="*/ 90477 h 201029"/>
                <a:gd name="connsiteX25" fmla="*/ 160769 w 763913"/>
                <a:gd name="connsiteY25" fmla="*/ 130683 h 201029"/>
                <a:gd name="connsiteX26" fmla="*/ 140694 w 763913"/>
                <a:gd name="connsiteY26" fmla="*/ 130683 h 201029"/>
                <a:gd name="connsiteX27" fmla="*/ 140694 w 763913"/>
                <a:gd name="connsiteY27" fmla="*/ 110607 h 201029"/>
                <a:gd name="connsiteX28" fmla="*/ 160769 w 763913"/>
                <a:gd name="connsiteY28" fmla="*/ 110607 h 201029"/>
                <a:gd name="connsiteX29" fmla="*/ 160769 w 763913"/>
                <a:gd name="connsiteY29" fmla="*/ 130683 h 201029"/>
                <a:gd name="connsiteX30" fmla="*/ 160769 w 763913"/>
                <a:gd name="connsiteY30" fmla="*/ 90477 h 201029"/>
                <a:gd name="connsiteX31" fmla="*/ 140694 w 763913"/>
                <a:gd name="connsiteY31" fmla="*/ 90477 h 201029"/>
                <a:gd name="connsiteX32" fmla="*/ 140694 w 763913"/>
                <a:gd name="connsiteY32" fmla="*/ 70401 h 201029"/>
                <a:gd name="connsiteX33" fmla="*/ 160769 w 763913"/>
                <a:gd name="connsiteY33" fmla="*/ 70401 h 201029"/>
                <a:gd name="connsiteX34" fmla="*/ 160769 w 763913"/>
                <a:gd name="connsiteY34" fmla="*/ 90477 h 201029"/>
                <a:gd name="connsiteX35" fmla="*/ 200975 w 763913"/>
                <a:gd name="connsiteY35" fmla="*/ 130683 h 201029"/>
                <a:gd name="connsiteX36" fmla="*/ 180900 w 763913"/>
                <a:gd name="connsiteY36" fmla="*/ 130683 h 201029"/>
                <a:gd name="connsiteX37" fmla="*/ 180900 w 763913"/>
                <a:gd name="connsiteY37" fmla="*/ 110607 h 201029"/>
                <a:gd name="connsiteX38" fmla="*/ 200975 w 763913"/>
                <a:gd name="connsiteY38" fmla="*/ 110607 h 201029"/>
                <a:gd name="connsiteX39" fmla="*/ 200975 w 763913"/>
                <a:gd name="connsiteY39" fmla="*/ 130683 h 201029"/>
                <a:gd name="connsiteX40" fmla="*/ 200975 w 763913"/>
                <a:gd name="connsiteY40" fmla="*/ 90477 h 201029"/>
                <a:gd name="connsiteX41" fmla="*/ 180900 w 763913"/>
                <a:gd name="connsiteY41" fmla="*/ 90477 h 201029"/>
                <a:gd name="connsiteX42" fmla="*/ 180900 w 763913"/>
                <a:gd name="connsiteY42" fmla="*/ 70401 h 201029"/>
                <a:gd name="connsiteX43" fmla="*/ 200975 w 763913"/>
                <a:gd name="connsiteY43" fmla="*/ 70401 h 201029"/>
                <a:gd name="connsiteX44" fmla="*/ 200975 w 763913"/>
                <a:gd name="connsiteY44" fmla="*/ 90477 h 201029"/>
                <a:gd name="connsiteX45" fmla="*/ 241181 w 763913"/>
                <a:gd name="connsiteY45" fmla="*/ 130683 h 201029"/>
                <a:gd name="connsiteX46" fmla="*/ 221051 w 763913"/>
                <a:gd name="connsiteY46" fmla="*/ 130683 h 201029"/>
                <a:gd name="connsiteX47" fmla="*/ 221051 w 763913"/>
                <a:gd name="connsiteY47" fmla="*/ 110607 h 201029"/>
                <a:gd name="connsiteX48" fmla="*/ 241181 w 763913"/>
                <a:gd name="connsiteY48" fmla="*/ 110607 h 201029"/>
                <a:gd name="connsiteX49" fmla="*/ 241181 w 763913"/>
                <a:gd name="connsiteY49" fmla="*/ 130683 h 201029"/>
                <a:gd name="connsiteX50" fmla="*/ 241181 w 763913"/>
                <a:gd name="connsiteY50" fmla="*/ 90477 h 201029"/>
                <a:gd name="connsiteX51" fmla="*/ 221051 w 763913"/>
                <a:gd name="connsiteY51" fmla="*/ 90477 h 201029"/>
                <a:gd name="connsiteX52" fmla="*/ 221051 w 763913"/>
                <a:gd name="connsiteY52" fmla="*/ 70401 h 201029"/>
                <a:gd name="connsiteX53" fmla="*/ 241181 w 763913"/>
                <a:gd name="connsiteY53" fmla="*/ 70401 h 201029"/>
                <a:gd name="connsiteX54" fmla="*/ 241181 w 763913"/>
                <a:gd name="connsiteY54" fmla="*/ 90477 h 201029"/>
                <a:gd name="connsiteX55" fmla="*/ 281387 w 763913"/>
                <a:gd name="connsiteY55" fmla="*/ 130683 h 201029"/>
                <a:gd name="connsiteX56" fmla="*/ 261311 w 763913"/>
                <a:gd name="connsiteY56" fmla="*/ 130683 h 201029"/>
                <a:gd name="connsiteX57" fmla="*/ 261311 w 763913"/>
                <a:gd name="connsiteY57" fmla="*/ 110607 h 201029"/>
                <a:gd name="connsiteX58" fmla="*/ 281387 w 763913"/>
                <a:gd name="connsiteY58" fmla="*/ 110607 h 201029"/>
                <a:gd name="connsiteX59" fmla="*/ 281387 w 763913"/>
                <a:gd name="connsiteY59" fmla="*/ 130683 h 201029"/>
                <a:gd name="connsiteX60" fmla="*/ 281387 w 763913"/>
                <a:gd name="connsiteY60" fmla="*/ 90477 h 201029"/>
                <a:gd name="connsiteX61" fmla="*/ 261311 w 763913"/>
                <a:gd name="connsiteY61" fmla="*/ 90477 h 201029"/>
                <a:gd name="connsiteX62" fmla="*/ 261311 w 763913"/>
                <a:gd name="connsiteY62" fmla="*/ 70401 h 201029"/>
                <a:gd name="connsiteX63" fmla="*/ 281387 w 763913"/>
                <a:gd name="connsiteY63" fmla="*/ 70401 h 201029"/>
                <a:gd name="connsiteX64" fmla="*/ 281387 w 763913"/>
                <a:gd name="connsiteY64" fmla="*/ 90477 h 201029"/>
                <a:gd name="connsiteX65" fmla="*/ 321593 w 763913"/>
                <a:gd name="connsiteY65" fmla="*/ 130683 h 201029"/>
                <a:gd name="connsiteX66" fmla="*/ 301517 w 763913"/>
                <a:gd name="connsiteY66" fmla="*/ 130683 h 201029"/>
                <a:gd name="connsiteX67" fmla="*/ 301517 w 763913"/>
                <a:gd name="connsiteY67" fmla="*/ 110607 h 201029"/>
                <a:gd name="connsiteX68" fmla="*/ 321593 w 763913"/>
                <a:gd name="connsiteY68" fmla="*/ 110607 h 201029"/>
                <a:gd name="connsiteX69" fmla="*/ 321593 w 763913"/>
                <a:gd name="connsiteY69" fmla="*/ 130683 h 201029"/>
                <a:gd name="connsiteX70" fmla="*/ 321593 w 763913"/>
                <a:gd name="connsiteY70" fmla="*/ 90477 h 201029"/>
                <a:gd name="connsiteX71" fmla="*/ 301517 w 763913"/>
                <a:gd name="connsiteY71" fmla="*/ 90477 h 201029"/>
                <a:gd name="connsiteX72" fmla="*/ 301517 w 763913"/>
                <a:gd name="connsiteY72" fmla="*/ 70401 h 201029"/>
                <a:gd name="connsiteX73" fmla="*/ 321593 w 763913"/>
                <a:gd name="connsiteY73" fmla="*/ 70401 h 201029"/>
                <a:gd name="connsiteX74" fmla="*/ 321593 w 763913"/>
                <a:gd name="connsiteY74" fmla="*/ 90477 h 201029"/>
                <a:gd name="connsiteX75" fmla="*/ 585093 w 763913"/>
                <a:gd name="connsiteY75" fmla="*/ 120673 h 201029"/>
                <a:gd name="connsiteX76" fmla="*/ 565017 w 763913"/>
                <a:gd name="connsiteY76" fmla="*/ 100542 h 201029"/>
                <a:gd name="connsiteX77" fmla="*/ 585093 w 763913"/>
                <a:gd name="connsiteY77" fmla="*/ 80467 h 201029"/>
                <a:gd name="connsiteX78" fmla="*/ 605168 w 763913"/>
                <a:gd name="connsiteY78" fmla="*/ 100542 h 201029"/>
                <a:gd name="connsiteX79" fmla="*/ 585093 w 763913"/>
                <a:gd name="connsiteY79" fmla="*/ 120673 h 201029"/>
                <a:gd name="connsiteX80" fmla="*/ 667364 w 763913"/>
                <a:gd name="connsiteY80" fmla="*/ 120673 h 201029"/>
                <a:gd name="connsiteX81" fmla="*/ 647289 w 763913"/>
                <a:gd name="connsiteY81" fmla="*/ 100542 h 201029"/>
                <a:gd name="connsiteX82" fmla="*/ 667364 w 763913"/>
                <a:gd name="connsiteY82" fmla="*/ 80467 h 201029"/>
                <a:gd name="connsiteX83" fmla="*/ 687440 w 763913"/>
                <a:gd name="connsiteY83" fmla="*/ 100542 h 201029"/>
                <a:gd name="connsiteX84" fmla="*/ 667364 w 763913"/>
                <a:gd name="connsiteY84" fmla="*/ 120673 h 201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763913" h="201029">
                  <a:moveTo>
                    <a:pt x="0" y="0"/>
                  </a:moveTo>
                  <a:lnTo>
                    <a:pt x="0" y="201030"/>
                  </a:lnTo>
                  <a:lnTo>
                    <a:pt x="763913" y="201030"/>
                  </a:lnTo>
                  <a:lnTo>
                    <a:pt x="763913" y="0"/>
                  </a:lnTo>
                  <a:lnTo>
                    <a:pt x="0" y="0"/>
                  </a:lnTo>
                  <a:close/>
                  <a:moveTo>
                    <a:pt x="80357" y="130683"/>
                  </a:moveTo>
                  <a:lnTo>
                    <a:pt x="60282" y="130683"/>
                  </a:lnTo>
                  <a:lnTo>
                    <a:pt x="60282" y="110607"/>
                  </a:lnTo>
                  <a:lnTo>
                    <a:pt x="80357" y="110607"/>
                  </a:lnTo>
                  <a:lnTo>
                    <a:pt x="80357" y="130683"/>
                  </a:lnTo>
                  <a:close/>
                  <a:moveTo>
                    <a:pt x="80357" y="90477"/>
                  </a:moveTo>
                  <a:lnTo>
                    <a:pt x="60282" y="90477"/>
                  </a:lnTo>
                  <a:lnTo>
                    <a:pt x="60282" y="70401"/>
                  </a:lnTo>
                  <a:lnTo>
                    <a:pt x="80357" y="70401"/>
                  </a:lnTo>
                  <a:lnTo>
                    <a:pt x="80357" y="90477"/>
                  </a:lnTo>
                  <a:close/>
                  <a:moveTo>
                    <a:pt x="120563" y="130683"/>
                  </a:moveTo>
                  <a:lnTo>
                    <a:pt x="100488" y="130683"/>
                  </a:lnTo>
                  <a:lnTo>
                    <a:pt x="100488" y="110607"/>
                  </a:lnTo>
                  <a:lnTo>
                    <a:pt x="120563" y="110607"/>
                  </a:lnTo>
                  <a:lnTo>
                    <a:pt x="120563" y="130683"/>
                  </a:lnTo>
                  <a:close/>
                  <a:moveTo>
                    <a:pt x="120563" y="90477"/>
                  </a:moveTo>
                  <a:lnTo>
                    <a:pt x="100488" y="90477"/>
                  </a:lnTo>
                  <a:lnTo>
                    <a:pt x="100488" y="70401"/>
                  </a:lnTo>
                  <a:lnTo>
                    <a:pt x="120563" y="70401"/>
                  </a:lnTo>
                  <a:lnTo>
                    <a:pt x="120563" y="90477"/>
                  </a:lnTo>
                  <a:close/>
                  <a:moveTo>
                    <a:pt x="160769" y="130683"/>
                  </a:moveTo>
                  <a:lnTo>
                    <a:pt x="140694" y="130683"/>
                  </a:lnTo>
                  <a:lnTo>
                    <a:pt x="140694" y="110607"/>
                  </a:lnTo>
                  <a:lnTo>
                    <a:pt x="160769" y="110607"/>
                  </a:lnTo>
                  <a:lnTo>
                    <a:pt x="160769" y="130683"/>
                  </a:lnTo>
                  <a:close/>
                  <a:moveTo>
                    <a:pt x="160769" y="90477"/>
                  </a:moveTo>
                  <a:lnTo>
                    <a:pt x="140694" y="90477"/>
                  </a:lnTo>
                  <a:lnTo>
                    <a:pt x="140694" y="70401"/>
                  </a:lnTo>
                  <a:lnTo>
                    <a:pt x="160769" y="70401"/>
                  </a:lnTo>
                  <a:lnTo>
                    <a:pt x="160769" y="90477"/>
                  </a:lnTo>
                  <a:close/>
                  <a:moveTo>
                    <a:pt x="200975" y="130683"/>
                  </a:moveTo>
                  <a:lnTo>
                    <a:pt x="180900" y="130683"/>
                  </a:lnTo>
                  <a:lnTo>
                    <a:pt x="180900" y="110607"/>
                  </a:lnTo>
                  <a:lnTo>
                    <a:pt x="200975" y="110607"/>
                  </a:lnTo>
                  <a:lnTo>
                    <a:pt x="200975" y="130683"/>
                  </a:lnTo>
                  <a:close/>
                  <a:moveTo>
                    <a:pt x="200975" y="90477"/>
                  </a:moveTo>
                  <a:lnTo>
                    <a:pt x="180900" y="90477"/>
                  </a:lnTo>
                  <a:lnTo>
                    <a:pt x="180900" y="70401"/>
                  </a:lnTo>
                  <a:lnTo>
                    <a:pt x="200975" y="70401"/>
                  </a:lnTo>
                  <a:lnTo>
                    <a:pt x="200975" y="90477"/>
                  </a:lnTo>
                  <a:close/>
                  <a:moveTo>
                    <a:pt x="241181" y="130683"/>
                  </a:moveTo>
                  <a:lnTo>
                    <a:pt x="221051" y="130683"/>
                  </a:lnTo>
                  <a:lnTo>
                    <a:pt x="221051" y="110607"/>
                  </a:lnTo>
                  <a:lnTo>
                    <a:pt x="241181" y="110607"/>
                  </a:lnTo>
                  <a:lnTo>
                    <a:pt x="241181" y="130683"/>
                  </a:lnTo>
                  <a:close/>
                  <a:moveTo>
                    <a:pt x="241181" y="90477"/>
                  </a:moveTo>
                  <a:lnTo>
                    <a:pt x="221051" y="90477"/>
                  </a:lnTo>
                  <a:lnTo>
                    <a:pt x="221051" y="70401"/>
                  </a:lnTo>
                  <a:lnTo>
                    <a:pt x="241181" y="70401"/>
                  </a:lnTo>
                  <a:lnTo>
                    <a:pt x="241181" y="90477"/>
                  </a:lnTo>
                  <a:close/>
                  <a:moveTo>
                    <a:pt x="281387" y="130683"/>
                  </a:moveTo>
                  <a:lnTo>
                    <a:pt x="261311" y="130683"/>
                  </a:lnTo>
                  <a:lnTo>
                    <a:pt x="261311" y="110607"/>
                  </a:lnTo>
                  <a:lnTo>
                    <a:pt x="281387" y="110607"/>
                  </a:lnTo>
                  <a:lnTo>
                    <a:pt x="281387" y="130683"/>
                  </a:lnTo>
                  <a:close/>
                  <a:moveTo>
                    <a:pt x="281387" y="90477"/>
                  </a:moveTo>
                  <a:lnTo>
                    <a:pt x="261311" y="90477"/>
                  </a:lnTo>
                  <a:lnTo>
                    <a:pt x="261311" y="70401"/>
                  </a:lnTo>
                  <a:lnTo>
                    <a:pt x="281387" y="70401"/>
                  </a:lnTo>
                  <a:lnTo>
                    <a:pt x="281387" y="90477"/>
                  </a:lnTo>
                  <a:close/>
                  <a:moveTo>
                    <a:pt x="321593" y="130683"/>
                  </a:moveTo>
                  <a:lnTo>
                    <a:pt x="301517" y="130683"/>
                  </a:lnTo>
                  <a:lnTo>
                    <a:pt x="301517" y="110607"/>
                  </a:lnTo>
                  <a:lnTo>
                    <a:pt x="321593" y="110607"/>
                  </a:lnTo>
                  <a:lnTo>
                    <a:pt x="321593" y="130683"/>
                  </a:lnTo>
                  <a:close/>
                  <a:moveTo>
                    <a:pt x="321593" y="90477"/>
                  </a:moveTo>
                  <a:lnTo>
                    <a:pt x="301517" y="90477"/>
                  </a:lnTo>
                  <a:lnTo>
                    <a:pt x="301517" y="70401"/>
                  </a:lnTo>
                  <a:lnTo>
                    <a:pt x="321593" y="70401"/>
                  </a:lnTo>
                  <a:lnTo>
                    <a:pt x="321593" y="90477"/>
                  </a:lnTo>
                  <a:close/>
                  <a:moveTo>
                    <a:pt x="585093" y="120673"/>
                  </a:moveTo>
                  <a:cubicBezTo>
                    <a:pt x="573988" y="120673"/>
                    <a:pt x="565017" y="111647"/>
                    <a:pt x="565017" y="100542"/>
                  </a:cubicBezTo>
                  <a:cubicBezTo>
                    <a:pt x="565017" y="89438"/>
                    <a:pt x="574043" y="80467"/>
                    <a:pt x="585093" y="80467"/>
                  </a:cubicBezTo>
                  <a:cubicBezTo>
                    <a:pt x="596142" y="80467"/>
                    <a:pt x="605168" y="89492"/>
                    <a:pt x="605168" y="100542"/>
                  </a:cubicBezTo>
                  <a:cubicBezTo>
                    <a:pt x="605168" y="111592"/>
                    <a:pt x="596142" y="120673"/>
                    <a:pt x="585093" y="120673"/>
                  </a:cubicBezTo>
                  <a:close/>
                  <a:moveTo>
                    <a:pt x="667364" y="120673"/>
                  </a:moveTo>
                  <a:cubicBezTo>
                    <a:pt x="656260" y="120673"/>
                    <a:pt x="647289" y="111647"/>
                    <a:pt x="647289" y="100542"/>
                  </a:cubicBezTo>
                  <a:cubicBezTo>
                    <a:pt x="647289" y="89438"/>
                    <a:pt x="656315" y="80467"/>
                    <a:pt x="667364" y="80467"/>
                  </a:cubicBezTo>
                  <a:cubicBezTo>
                    <a:pt x="678414" y="80467"/>
                    <a:pt x="687440" y="89492"/>
                    <a:pt x="687440" y="100542"/>
                  </a:cubicBezTo>
                  <a:cubicBezTo>
                    <a:pt x="687440" y="111592"/>
                    <a:pt x="678414" y="120673"/>
                    <a:pt x="667364" y="120673"/>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grpSp>
        <p:nvGrpSpPr>
          <p:cNvPr id="14" name="Group 13">
            <a:extLst>
              <a:ext uri="{FF2B5EF4-FFF2-40B4-BE49-F238E27FC236}">
                <a16:creationId xmlns:a16="http://schemas.microsoft.com/office/drawing/2014/main" id="{137D406D-D1FB-F28B-3DE3-F132C012AB33}"/>
              </a:ext>
            </a:extLst>
          </p:cNvPr>
          <p:cNvGrpSpPr/>
          <p:nvPr/>
        </p:nvGrpSpPr>
        <p:grpSpPr>
          <a:xfrm>
            <a:off x="3761005" y="2514600"/>
            <a:ext cx="1202590" cy="545078"/>
            <a:chOff x="3716128" y="4148028"/>
            <a:chExt cx="1202590" cy="545078"/>
          </a:xfrm>
        </p:grpSpPr>
        <p:sp>
          <p:nvSpPr>
            <p:cNvPr id="15" name="Rectangle: Rounded Corners 28">
              <a:extLst>
                <a:ext uri="{FF2B5EF4-FFF2-40B4-BE49-F238E27FC236}">
                  <a16:creationId xmlns:a16="http://schemas.microsoft.com/office/drawing/2014/main" id="{7C5D6991-C667-DF75-0C70-5318AC2EB8A1}"/>
                </a:ext>
              </a:extLst>
            </p:cNvPr>
            <p:cNvSpPr>
              <a:spLocks noChangeAspect="1"/>
            </p:cNvSpPr>
            <p:nvPr/>
          </p:nvSpPr>
          <p:spPr>
            <a:xfrm>
              <a:off x="3716128" y="4148028"/>
              <a:ext cx="1202590" cy="545078"/>
            </a:xfrm>
            <a:prstGeom prst="roundRect">
              <a:avLst>
                <a:gd name="adj" fmla="val 10000"/>
              </a:avLst>
            </a:prstGeom>
            <a:solidFill>
              <a:schemeClr val="bg1"/>
            </a:solidFill>
            <a:ln w="1905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Graphic 9">
              <a:extLst>
                <a:ext uri="{FF2B5EF4-FFF2-40B4-BE49-F238E27FC236}">
                  <a16:creationId xmlns:a16="http://schemas.microsoft.com/office/drawing/2014/main" id="{E60C2CE3-F4B7-FF07-AF1D-F54ECE0AE763}"/>
                </a:ext>
              </a:extLst>
            </p:cNvPr>
            <p:cNvSpPr>
              <a:spLocks noChangeAspect="1"/>
            </p:cNvSpPr>
            <p:nvPr/>
          </p:nvSpPr>
          <p:spPr>
            <a:xfrm>
              <a:off x="3950199" y="4323931"/>
              <a:ext cx="734448" cy="193273"/>
            </a:xfrm>
            <a:custGeom>
              <a:avLst/>
              <a:gdLst>
                <a:gd name="connsiteX0" fmla="*/ 0 w 763913"/>
                <a:gd name="connsiteY0" fmla="*/ 0 h 201029"/>
                <a:gd name="connsiteX1" fmla="*/ 0 w 763913"/>
                <a:gd name="connsiteY1" fmla="*/ 201030 h 201029"/>
                <a:gd name="connsiteX2" fmla="*/ 763913 w 763913"/>
                <a:gd name="connsiteY2" fmla="*/ 201030 h 201029"/>
                <a:gd name="connsiteX3" fmla="*/ 763913 w 763913"/>
                <a:gd name="connsiteY3" fmla="*/ 0 h 201029"/>
                <a:gd name="connsiteX4" fmla="*/ 0 w 763913"/>
                <a:gd name="connsiteY4" fmla="*/ 0 h 201029"/>
                <a:gd name="connsiteX5" fmla="*/ 80357 w 763913"/>
                <a:gd name="connsiteY5" fmla="*/ 130683 h 201029"/>
                <a:gd name="connsiteX6" fmla="*/ 60282 w 763913"/>
                <a:gd name="connsiteY6" fmla="*/ 130683 h 201029"/>
                <a:gd name="connsiteX7" fmla="*/ 60282 w 763913"/>
                <a:gd name="connsiteY7" fmla="*/ 110607 h 201029"/>
                <a:gd name="connsiteX8" fmla="*/ 80357 w 763913"/>
                <a:gd name="connsiteY8" fmla="*/ 110607 h 201029"/>
                <a:gd name="connsiteX9" fmla="*/ 80357 w 763913"/>
                <a:gd name="connsiteY9" fmla="*/ 130683 h 201029"/>
                <a:gd name="connsiteX10" fmla="*/ 80357 w 763913"/>
                <a:gd name="connsiteY10" fmla="*/ 90477 h 201029"/>
                <a:gd name="connsiteX11" fmla="*/ 60282 w 763913"/>
                <a:gd name="connsiteY11" fmla="*/ 90477 h 201029"/>
                <a:gd name="connsiteX12" fmla="*/ 60282 w 763913"/>
                <a:gd name="connsiteY12" fmla="*/ 70401 h 201029"/>
                <a:gd name="connsiteX13" fmla="*/ 80357 w 763913"/>
                <a:gd name="connsiteY13" fmla="*/ 70401 h 201029"/>
                <a:gd name="connsiteX14" fmla="*/ 80357 w 763913"/>
                <a:gd name="connsiteY14" fmla="*/ 90477 h 201029"/>
                <a:gd name="connsiteX15" fmla="*/ 120563 w 763913"/>
                <a:gd name="connsiteY15" fmla="*/ 130683 h 201029"/>
                <a:gd name="connsiteX16" fmla="*/ 100488 w 763913"/>
                <a:gd name="connsiteY16" fmla="*/ 130683 h 201029"/>
                <a:gd name="connsiteX17" fmla="*/ 100488 w 763913"/>
                <a:gd name="connsiteY17" fmla="*/ 110607 h 201029"/>
                <a:gd name="connsiteX18" fmla="*/ 120563 w 763913"/>
                <a:gd name="connsiteY18" fmla="*/ 110607 h 201029"/>
                <a:gd name="connsiteX19" fmla="*/ 120563 w 763913"/>
                <a:gd name="connsiteY19" fmla="*/ 130683 h 201029"/>
                <a:gd name="connsiteX20" fmla="*/ 120563 w 763913"/>
                <a:gd name="connsiteY20" fmla="*/ 90477 h 201029"/>
                <a:gd name="connsiteX21" fmla="*/ 100488 w 763913"/>
                <a:gd name="connsiteY21" fmla="*/ 90477 h 201029"/>
                <a:gd name="connsiteX22" fmla="*/ 100488 w 763913"/>
                <a:gd name="connsiteY22" fmla="*/ 70401 h 201029"/>
                <a:gd name="connsiteX23" fmla="*/ 120563 w 763913"/>
                <a:gd name="connsiteY23" fmla="*/ 70401 h 201029"/>
                <a:gd name="connsiteX24" fmla="*/ 120563 w 763913"/>
                <a:gd name="connsiteY24" fmla="*/ 90477 h 201029"/>
                <a:gd name="connsiteX25" fmla="*/ 160769 w 763913"/>
                <a:gd name="connsiteY25" fmla="*/ 130683 h 201029"/>
                <a:gd name="connsiteX26" fmla="*/ 140694 w 763913"/>
                <a:gd name="connsiteY26" fmla="*/ 130683 h 201029"/>
                <a:gd name="connsiteX27" fmla="*/ 140694 w 763913"/>
                <a:gd name="connsiteY27" fmla="*/ 110607 h 201029"/>
                <a:gd name="connsiteX28" fmla="*/ 160769 w 763913"/>
                <a:gd name="connsiteY28" fmla="*/ 110607 h 201029"/>
                <a:gd name="connsiteX29" fmla="*/ 160769 w 763913"/>
                <a:gd name="connsiteY29" fmla="*/ 130683 h 201029"/>
                <a:gd name="connsiteX30" fmla="*/ 160769 w 763913"/>
                <a:gd name="connsiteY30" fmla="*/ 90477 h 201029"/>
                <a:gd name="connsiteX31" fmla="*/ 140694 w 763913"/>
                <a:gd name="connsiteY31" fmla="*/ 90477 h 201029"/>
                <a:gd name="connsiteX32" fmla="*/ 140694 w 763913"/>
                <a:gd name="connsiteY32" fmla="*/ 70401 h 201029"/>
                <a:gd name="connsiteX33" fmla="*/ 160769 w 763913"/>
                <a:gd name="connsiteY33" fmla="*/ 70401 h 201029"/>
                <a:gd name="connsiteX34" fmla="*/ 160769 w 763913"/>
                <a:gd name="connsiteY34" fmla="*/ 90477 h 201029"/>
                <a:gd name="connsiteX35" fmla="*/ 200975 w 763913"/>
                <a:gd name="connsiteY35" fmla="*/ 130683 h 201029"/>
                <a:gd name="connsiteX36" fmla="*/ 180900 w 763913"/>
                <a:gd name="connsiteY36" fmla="*/ 130683 h 201029"/>
                <a:gd name="connsiteX37" fmla="*/ 180900 w 763913"/>
                <a:gd name="connsiteY37" fmla="*/ 110607 h 201029"/>
                <a:gd name="connsiteX38" fmla="*/ 200975 w 763913"/>
                <a:gd name="connsiteY38" fmla="*/ 110607 h 201029"/>
                <a:gd name="connsiteX39" fmla="*/ 200975 w 763913"/>
                <a:gd name="connsiteY39" fmla="*/ 130683 h 201029"/>
                <a:gd name="connsiteX40" fmla="*/ 200975 w 763913"/>
                <a:gd name="connsiteY40" fmla="*/ 90477 h 201029"/>
                <a:gd name="connsiteX41" fmla="*/ 180900 w 763913"/>
                <a:gd name="connsiteY41" fmla="*/ 90477 h 201029"/>
                <a:gd name="connsiteX42" fmla="*/ 180900 w 763913"/>
                <a:gd name="connsiteY42" fmla="*/ 70401 h 201029"/>
                <a:gd name="connsiteX43" fmla="*/ 200975 w 763913"/>
                <a:gd name="connsiteY43" fmla="*/ 70401 h 201029"/>
                <a:gd name="connsiteX44" fmla="*/ 200975 w 763913"/>
                <a:gd name="connsiteY44" fmla="*/ 90477 h 201029"/>
                <a:gd name="connsiteX45" fmla="*/ 241181 w 763913"/>
                <a:gd name="connsiteY45" fmla="*/ 130683 h 201029"/>
                <a:gd name="connsiteX46" fmla="*/ 221051 w 763913"/>
                <a:gd name="connsiteY46" fmla="*/ 130683 h 201029"/>
                <a:gd name="connsiteX47" fmla="*/ 221051 w 763913"/>
                <a:gd name="connsiteY47" fmla="*/ 110607 h 201029"/>
                <a:gd name="connsiteX48" fmla="*/ 241181 w 763913"/>
                <a:gd name="connsiteY48" fmla="*/ 110607 h 201029"/>
                <a:gd name="connsiteX49" fmla="*/ 241181 w 763913"/>
                <a:gd name="connsiteY49" fmla="*/ 130683 h 201029"/>
                <a:gd name="connsiteX50" fmla="*/ 241181 w 763913"/>
                <a:gd name="connsiteY50" fmla="*/ 90477 h 201029"/>
                <a:gd name="connsiteX51" fmla="*/ 221051 w 763913"/>
                <a:gd name="connsiteY51" fmla="*/ 90477 h 201029"/>
                <a:gd name="connsiteX52" fmla="*/ 221051 w 763913"/>
                <a:gd name="connsiteY52" fmla="*/ 70401 h 201029"/>
                <a:gd name="connsiteX53" fmla="*/ 241181 w 763913"/>
                <a:gd name="connsiteY53" fmla="*/ 70401 h 201029"/>
                <a:gd name="connsiteX54" fmla="*/ 241181 w 763913"/>
                <a:gd name="connsiteY54" fmla="*/ 90477 h 201029"/>
                <a:gd name="connsiteX55" fmla="*/ 281387 w 763913"/>
                <a:gd name="connsiteY55" fmla="*/ 130683 h 201029"/>
                <a:gd name="connsiteX56" fmla="*/ 261311 w 763913"/>
                <a:gd name="connsiteY56" fmla="*/ 130683 h 201029"/>
                <a:gd name="connsiteX57" fmla="*/ 261311 w 763913"/>
                <a:gd name="connsiteY57" fmla="*/ 110607 h 201029"/>
                <a:gd name="connsiteX58" fmla="*/ 281387 w 763913"/>
                <a:gd name="connsiteY58" fmla="*/ 110607 h 201029"/>
                <a:gd name="connsiteX59" fmla="*/ 281387 w 763913"/>
                <a:gd name="connsiteY59" fmla="*/ 130683 h 201029"/>
                <a:gd name="connsiteX60" fmla="*/ 281387 w 763913"/>
                <a:gd name="connsiteY60" fmla="*/ 90477 h 201029"/>
                <a:gd name="connsiteX61" fmla="*/ 261311 w 763913"/>
                <a:gd name="connsiteY61" fmla="*/ 90477 h 201029"/>
                <a:gd name="connsiteX62" fmla="*/ 261311 w 763913"/>
                <a:gd name="connsiteY62" fmla="*/ 70401 h 201029"/>
                <a:gd name="connsiteX63" fmla="*/ 281387 w 763913"/>
                <a:gd name="connsiteY63" fmla="*/ 70401 h 201029"/>
                <a:gd name="connsiteX64" fmla="*/ 281387 w 763913"/>
                <a:gd name="connsiteY64" fmla="*/ 90477 h 201029"/>
                <a:gd name="connsiteX65" fmla="*/ 321593 w 763913"/>
                <a:gd name="connsiteY65" fmla="*/ 130683 h 201029"/>
                <a:gd name="connsiteX66" fmla="*/ 301517 w 763913"/>
                <a:gd name="connsiteY66" fmla="*/ 130683 h 201029"/>
                <a:gd name="connsiteX67" fmla="*/ 301517 w 763913"/>
                <a:gd name="connsiteY67" fmla="*/ 110607 h 201029"/>
                <a:gd name="connsiteX68" fmla="*/ 321593 w 763913"/>
                <a:gd name="connsiteY68" fmla="*/ 110607 h 201029"/>
                <a:gd name="connsiteX69" fmla="*/ 321593 w 763913"/>
                <a:gd name="connsiteY69" fmla="*/ 130683 h 201029"/>
                <a:gd name="connsiteX70" fmla="*/ 321593 w 763913"/>
                <a:gd name="connsiteY70" fmla="*/ 90477 h 201029"/>
                <a:gd name="connsiteX71" fmla="*/ 301517 w 763913"/>
                <a:gd name="connsiteY71" fmla="*/ 90477 h 201029"/>
                <a:gd name="connsiteX72" fmla="*/ 301517 w 763913"/>
                <a:gd name="connsiteY72" fmla="*/ 70401 h 201029"/>
                <a:gd name="connsiteX73" fmla="*/ 321593 w 763913"/>
                <a:gd name="connsiteY73" fmla="*/ 70401 h 201029"/>
                <a:gd name="connsiteX74" fmla="*/ 321593 w 763913"/>
                <a:gd name="connsiteY74" fmla="*/ 90477 h 201029"/>
                <a:gd name="connsiteX75" fmla="*/ 585093 w 763913"/>
                <a:gd name="connsiteY75" fmla="*/ 120673 h 201029"/>
                <a:gd name="connsiteX76" fmla="*/ 565017 w 763913"/>
                <a:gd name="connsiteY76" fmla="*/ 100542 h 201029"/>
                <a:gd name="connsiteX77" fmla="*/ 585093 w 763913"/>
                <a:gd name="connsiteY77" fmla="*/ 80467 h 201029"/>
                <a:gd name="connsiteX78" fmla="*/ 605168 w 763913"/>
                <a:gd name="connsiteY78" fmla="*/ 100542 h 201029"/>
                <a:gd name="connsiteX79" fmla="*/ 585093 w 763913"/>
                <a:gd name="connsiteY79" fmla="*/ 120673 h 201029"/>
                <a:gd name="connsiteX80" fmla="*/ 667364 w 763913"/>
                <a:gd name="connsiteY80" fmla="*/ 120673 h 201029"/>
                <a:gd name="connsiteX81" fmla="*/ 647289 w 763913"/>
                <a:gd name="connsiteY81" fmla="*/ 100542 h 201029"/>
                <a:gd name="connsiteX82" fmla="*/ 667364 w 763913"/>
                <a:gd name="connsiteY82" fmla="*/ 80467 h 201029"/>
                <a:gd name="connsiteX83" fmla="*/ 687440 w 763913"/>
                <a:gd name="connsiteY83" fmla="*/ 100542 h 201029"/>
                <a:gd name="connsiteX84" fmla="*/ 667364 w 763913"/>
                <a:gd name="connsiteY84" fmla="*/ 120673 h 201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763913" h="201029">
                  <a:moveTo>
                    <a:pt x="0" y="0"/>
                  </a:moveTo>
                  <a:lnTo>
                    <a:pt x="0" y="201030"/>
                  </a:lnTo>
                  <a:lnTo>
                    <a:pt x="763913" y="201030"/>
                  </a:lnTo>
                  <a:lnTo>
                    <a:pt x="763913" y="0"/>
                  </a:lnTo>
                  <a:lnTo>
                    <a:pt x="0" y="0"/>
                  </a:lnTo>
                  <a:close/>
                  <a:moveTo>
                    <a:pt x="80357" y="130683"/>
                  </a:moveTo>
                  <a:lnTo>
                    <a:pt x="60282" y="130683"/>
                  </a:lnTo>
                  <a:lnTo>
                    <a:pt x="60282" y="110607"/>
                  </a:lnTo>
                  <a:lnTo>
                    <a:pt x="80357" y="110607"/>
                  </a:lnTo>
                  <a:lnTo>
                    <a:pt x="80357" y="130683"/>
                  </a:lnTo>
                  <a:close/>
                  <a:moveTo>
                    <a:pt x="80357" y="90477"/>
                  </a:moveTo>
                  <a:lnTo>
                    <a:pt x="60282" y="90477"/>
                  </a:lnTo>
                  <a:lnTo>
                    <a:pt x="60282" y="70401"/>
                  </a:lnTo>
                  <a:lnTo>
                    <a:pt x="80357" y="70401"/>
                  </a:lnTo>
                  <a:lnTo>
                    <a:pt x="80357" y="90477"/>
                  </a:lnTo>
                  <a:close/>
                  <a:moveTo>
                    <a:pt x="120563" y="130683"/>
                  </a:moveTo>
                  <a:lnTo>
                    <a:pt x="100488" y="130683"/>
                  </a:lnTo>
                  <a:lnTo>
                    <a:pt x="100488" y="110607"/>
                  </a:lnTo>
                  <a:lnTo>
                    <a:pt x="120563" y="110607"/>
                  </a:lnTo>
                  <a:lnTo>
                    <a:pt x="120563" y="130683"/>
                  </a:lnTo>
                  <a:close/>
                  <a:moveTo>
                    <a:pt x="120563" y="90477"/>
                  </a:moveTo>
                  <a:lnTo>
                    <a:pt x="100488" y="90477"/>
                  </a:lnTo>
                  <a:lnTo>
                    <a:pt x="100488" y="70401"/>
                  </a:lnTo>
                  <a:lnTo>
                    <a:pt x="120563" y="70401"/>
                  </a:lnTo>
                  <a:lnTo>
                    <a:pt x="120563" y="90477"/>
                  </a:lnTo>
                  <a:close/>
                  <a:moveTo>
                    <a:pt x="160769" y="130683"/>
                  </a:moveTo>
                  <a:lnTo>
                    <a:pt x="140694" y="130683"/>
                  </a:lnTo>
                  <a:lnTo>
                    <a:pt x="140694" y="110607"/>
                  </a:lnTo>
                  <a:lnTo>
                    <a:pt x="160769" y="110607"/>
                  </a:lnTo>
                  <a:lnTo>
                    <a:pt x="160769" y="130683"/>
                  </a:lnTo>
                  <a:close/>
                  <a:moveTo>
                    <a:pt x="160769" y="90477"/>
                  </a:moveTo>
                  <a:lnTo>
                    <a:pt x="140694" y="90477"/>
                  </a:lnTo>
                  <a:lnTo>
                    <a:pt x="140694" y="70401"/>
                  </a:lnTo>
                  <a:lnTo>
                    <a:pt x="160769" y="70401"/>
                  </a:lnTo>
                  <a:lnTo>
                    <a:pt x="160769" y="90477"/>
                  </a:lnTo>
                  <a:close/>
                  <a:moveTo>
                    <a:pt x="200975" y="130683"/>
                  </a:moveTo>
                  <a:lnTo>
                    <a:pt x="180900" y="130683"/>
                  </a:lnTo>
                  <a:lnTo>
                    <a:pt x="180900" y="110607"/>
                  </a:lnTo>
                  <a:lnTo>
                    <a:pt x="200975" y="110607"/>
                  </a:lnTo>
                  <a:lnTo>
                    <a:pt x="200975" y="130683"/>
                  </a:lnTo>
                  <a:close/>
                  <a:moveTo>
                    <a:pt x="200975" y="90477"/>
                  </a:moveTo>
                  <a:lnTo>
                    <a:pt x="180900" y="90477"/>
                  </a:lnTo>
                  <a:lnTo>
                    <a:pt x="180900" y="70401"/>
                  </a:lnTo>
                  <a:lnTo>
                    <a:pt x="200975" y="70401"/>
                  </a:lnTo>
                  <a:lnTo>
                    <a:pt x="200975" y="90477"/>
                  </a:lnTo>
                  <a:close/>
                  <a:moveTo>
                    <a:pt x="241181" y="130683"/>
                  </a:moveTo>
                  <a:lnTo>
                    <a:pt x="221051" y="130683"/>
                  </a:lnTo>
                  <a:lnTo>
                    <a:pt x="221051" y="110607"/>
                  </a:lnTo>
                  <a:lnTo>
                    <a:pt x="241181" y="110607"/>
                  </a:lnTo>
                  <a:lnTo>
                    <a:pt x="241181" y="130683"/>
                  </a:lnTo>
                  <a:close/>
                  <a:moveTo>
                    <a:pt x="241181" y="90477"/>
                  </a:moveTo>
                  <a:lnTo>
                    <a:pt x="221051" y="90477"/>
                  </a:lnTo>
                  <a:lnTo>
                    <a:pt x="221051" y="70401"/>
                  </a:lnTo>
                  <a:lnTo>
                    <a:pt x="241181" y="70401"/>
                  </a:lnTo>
                  <a:lnTo>
                    <a:pt x="241181" y="90477"/>
                  </a:lnTo>
                  <a:close/>
                  <a:moveTo>
                    <a:pt x="281387" y="130683"/>
                  </a:moveTo>
                  <a:lnTo>
                    <a:pt x="261311" y="130683"/>
                  </a:lnTo>
                  <a:lnTo>
                    <a:pt x="261311" y="110607"/>
                  </a:lnTo>
                  <a:lnTo>
                    <a:pt x="281387" y="110607"/>
                  </a:lnTo>
                  <a:lnTo>
                    <a:pt x="281387" y="130683"/>
                  </a:lnTo>
                  <a:close/>
                  <a:moveTo>
                    <a:pt x="281387" y="90477"/>
                  </a:moveTo>
                  <a:lnTo>
                    <a:pt x="261311" y="90477"/>
                  </a:lnTo>
                  <a:lnTo>
                    <a:pt x="261311" y="70401"/>
                  </a:lnTo>
                  <a:lnTo>
                    <a:pt x="281387" y="70401"/>
                  </a:lnTo>
                  <a:lnTo>
                    <a:pt x="281387" y="90477"/>
                  </a:lnTo>
                  <a:close/>
                  <a:moveTo>
                    <a:pt x="321593" y="130683"/>
                  </a:moveTo>
                  <a:lnTo>
                    <a:pt x="301517" y="130683"/>
                  </a:lnTo>
                  <a:lnTo>
                    <a:pt x="301517" y="110607"/>
                  </a:lnTo>
                  <a:lnTo>
                    <a:pt x="321593" y="110607"/>
                  </a:lnTo>
                  <a:lnTo>
                    <a:pt x="321593" y="130683"/>
                  </a:lnTo>
                  <a:close/>
                  <a:moveTo>
                    <a:pt x="321593" y="90477"/>
                  </a:moveTo>
                  <a:lnTo>
                    <a:pt x="301517" y="90477"/>
                  </a:lnTo>
                  <a:lnTo>
                    <a:pt x="301517" y="70401"/>
                  </a:lnTo>
                  <a:lnTo>
                    <a:pt x="321593" y="70401"/>
                  </a:lnTo>
                  <a:lnTo>
                    <a:pt x="321593" y="90477"/>
                  </a:lnTo>
                  <a:close/>
                  <a:moveTo>
                    <a:pt x="585093" y="120673"/>
                  </a:moveTo>
                  <a:cubicBezTo>
                    <a:pt x="573988" y="120673"/>
                    <a:pt x="565017" y="111647"/>
                    <a:pt x="565017" y="100542"/>
                  </a:cubicBezTo>
                  <a:cubicBezTo>
                    <a:pt x="565017" y="89438"/>
                    <a:pt x="574043" y="80467"/>
                    <a:pt x="585093" y="80467"/>
                  </a:cubicBezTo>
                  <a:cubicBezTo>
                    <a:pt x="596142" y="80467"/>
                    <a:pt x="605168" y="89492"/>
                    <a:pt x="605168" y="100542"/>
                  </a:cubicBezTo>
                  <a:cubicBezTo>
                    <a:pt x="605168" y="111592"/>
                    <a:pt x="596142" y="120673"/>
                    <a:pt x="585093" y="120673"/>
                  </a:cubicBezTo>
                  <a:close/>
                  <a:moveTo>
                    <a:pt x="667364" y="120673"/>
                  </a:moveTo>
                  <a:cubicBezTo>
                    <a:pt x="656260" y="120673"/>
                    <a:pt x="647289" y="111647"/>
                    <a:pt x="647289" y="100542"/>
                  </a:cubicBezTo>
                  <a:cubicBezTo>
                    <a:pt x="647289" y="89438"/>
                    <a:pt x="656315" y="80467"/>
                    <a:pt x="667364" y="80467"/>
                  </a:cubicBezTo>
                  <a:cubicBezTo>
                    <a:pt x="678414" y="80467"/>
                    <a:pt x="687440" y="89492"/>
                    <a:pt x="687440" y="100542"/>
                  </a:cubicBezTo>
                  <a:cubicBezTo>
                    <a:pt x="687440" y="111592"/>
                    <a:pt x="678414" y="120673"/>
                    <a:pt x="667364" y="120673"/>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sp>
        <p:nvSpPr>
          <p:cNvPr id="43" name="Rectangle: Rounded Corners 42">
            <a:extLst>
              <a:ext uri="{FF2B5EF4-FFF2-40B4-BE49-F238E27FC236}">
                <a16:creationId xmlns:a16="http://schemas.microsoft.com/office/drawing/2014/main" id="{9D374775-0B47-E850-7F69-AF6A32CA09DE}"/>
              </a:ext>
            </a:extLst>
          </p:cNvPr>
          <p:cNvSpPr/>
          <p:nvPr/>
        </p:nvSpPr>
        <p:spPr>
          <a:xfrm>
            <a:off x="1068209" y="4335490"/>
            <a:ext cx="1380879" cy="1380879"/>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109" name="Title 108">
            <a:extLst>
              <a:ext uri="{FF2B5EF4-FFF2-40B4-BE49-F238E27FC236}">
                <a16:creationId xmlns:a16="http://schemas.microsoft.com/office/drawing/2014/main" id="{F51B1F80-658A-F1D9-7BC3-4F43843546A5}"/>
              </a:ext>
            </a:extLst>
          </p:cNvPr>
          <p:cNvSpPr>
            <a:spLocks noGrp="1"/>
          </p:cNvSpPr>
          <p:nvPr>
            <p:ph type="title"/>
          </p:nvPr>
        </p:nvSpPr>
        <p:spPr/>
        <p:txBody>
          <a:bodyPr/>
          <a:lstStyle/>
          <a:p>
            <a:r>
              <a:rPr lang="en-US" dirty="0">
                <a:latin typeface="+mn-lt"/>
              </a:rPr>
              <a:t>VCF with NSX Virtual Networking</a:t>
            </a:r>
          </a:p>
        </p:txBody>
      </p:sp>
      <p:sp>
        <p:nvSpPr>
          <p:cNvPr id="82" name="Subtitle 81">
            <a:extLst>
              <a:ext uri="{FF2B5EF4-FFF2-40B4-BE49-F238E27FC236}">
                <a16:creationId xmlns:a16="http://schemas.microsoft.com/office/drawing/2014/main" id="{E4BC4F41-7182-1E18-1C7D-ACBE382EA159}"/>
              </a:ext>
            </a:extLst>
          </p:cNvPr>
          <p:cNvSpPr>
            <a:spLocks noGrp="1"/>
          </p:cNvSpPr>
          <p:nvPr>
            <p:ph type="subTitle" idx="10"/>
          </p:nvPr>
        </p:nvSpPr>
        <p:spPr/>
        <p:txBody>
          <a:bodyPr/>
          <a:lstStyle/>
          <a:p>
            <a:r>
              <a:rPr lang="en-US" dirty="0"/>
              <a:t>Independent of the physical infrastructure</a:t>
            </a:r>
          </a:p>
        </p:txBody>
      </p:sp>
      <p:sp>
        <p:nvSpPr>
          <p:cNvPr id="88" name="Rectangle: Rounded Corners 42">
            <a:extLst>
              <a:ext uri="{FF2B5EF4-FFF2-40B4-BE49-F238E27FC236}">
                <a16:creationId xmlns:a16="http://schemas.microsoft.com/office/drawing/2014/main" id="{CBFA2973-B9CE-197B-C4AE-1A9FF327538D}"/>
              </a:ext>
            </a:extLst>
          </p:cNvPr>
          <p:cNvSpPr/>
          <p:nvPr/>
        </p:nvSpPr>
        <p:spPr>
          <a:xfrm>
            <a:off x="2884734" y="4326211"/>
            <a:ext cx="1380879" cy="1380879"/>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89" name="Rectangle: Rounded Corners 42">
            <a:extLst>
              <a:ext uri="{FF2B5EF4-FFF2-40B4-BE49-F238E27FC236}">
                <a16:creationId xmlns:a16="http://schemas.microsoft.com/office/drawing/2014/main" id="{FFFDAD48-90AD-5AD6-4C0F-E74BD5F871EC}"/>
              </a:ext>
            </a:extLst>
          </p:cNvPr>
          <p:cNvSpPr/>
          <p:nvPr/>
        </p:nvSpPr>
        <p:spPr>
          <a:xfrm>
            <a:off x="4713534" y="4324492"/>
            <a:ext cx="1380879" cy="1380879"/>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91" name="Rectangle 90">
            <a:extLst>
              <a:ext uri="{FF2B5EF4-FFF2-40B4-BE49-F238E27FC236}">
                <a16:creationId xmlns:a16="http://schemas.microsoft.com/office/drawing/2014/main" id="{BB686B1F-72B4-0F81-D03E-6F5A8A49BDF2}"/>
              </a:ext>
            </a:extLst>
          </p:cNvPr>
          <p:cNvSpPr/>
          <p:nvPr/>
        </p:nvSpPr>
        <p:spPr>
          <a:xfrm>
            <a:off x="900108" y="5915991"/>
            <a:ext cx="5360611" cy="145424"/>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50" b="1" i="0" u="none" strike="noStrike" kern="1200" cap="all" spc="50" normalizeH="0" baseline="0" noProof="0" dirty="0">
                <a:ln>
                  <a:noFill/>
                </a:ln>
                <a:solidFill>
                  <a:prstClr val="black"/>
                </a:solidFill>
                <a:effectLst/>
                <a:uLnTx/>
                <a:uFillTx/>
                <a:latin typeface="Arial" panose="020B0604020202020204"/>
                <a:ea typeface="+mn-ea"/>
                <a:cs typeface="Arial"/>
              </a:rPr>
              <a:t>Vmware Cloud Foundation</a:t>
            </a:r>
          </a:p>
        </p:txBody>
      </p:sp>
      <p:pic>
        <p:nvPicPr>
          <p:cNvPr id="92" name="Picture 91">
            <a:extLst>
              <a:ext uri="{FF2B5EF4-FFF2-40B4-BE49-F238E27FC236}">
                <a16:creationId xmlns:a16="http://schemas.microsoft.com/office/drawing/2014/main" id="{0C103CAD-84EE-14DC-2E48-43A66BB8B24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979613" y="5840173"/>
            <a:ext cx="348488" cy="295148"/>
          </a:xfrm>
          <a:prstGeom prst="rect">
            <a:avLst/>
          </a:prstGeom>
        </p:spPr>
      </p:pic>
      <p:sp>
        <p:nvSpPr>
          <p:cNvPr id="23" name="Rectangle 22">
            <a:extLst>
              <a:ext uri="{FF2B5EF4-FFF2-40B4-BE49-F238E27FC236}">
                <a16:creationId xmlns:a16="http://schemas.microsoft.com/office/drawing/2014/main" id="{FA8C969B-883A-C502-0365-2B84A1135D15}"/>
              </a:ext>
            </a:extLst>
          </p:cNvPr>
          <p:cNvSpPr/>
          <p:nvPr/>
        </p:nvSpPr>
        <p:spPr>
          <a:xfrm>
            <a:off x="608014" y="1710756"/>
            <a:ext cx="5943600" cy="145424"/>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50" b="1" i="0" u="none" strike="noStrike" kern="1200" cap="all" spc="50" normalizeH="0" baseline="0" noProof="0" dirty="0">
                <a:ln>
                  <a:noFill/>
                </a:ln>
                <a:solidFill>
                  <a:prstClr val="black"/>
                </a:solidFill>
                <a:effectLst/>
                <a:uLnTx/>
                <a:uFillTx/>
                <a:latin typeface="Arial" panose="020B0604020202020204"/>
                <a:ea typeface="+mn-ea"/>
                <a:cs typeface="Arial"/>
              </a:rPr>
              <a:t>IP Fabric with service appliances</a:t>
            </a:r>
          </a:p>
        </p:txBody>
      </p:sp>
      <p:grpSp>
        <p:nvGrpSpPr>
          <p:cNvPr id="19" name="Group 18">
            <a:extLst>
              <a:ext uri="{FF2B5EF4-FFF2-40B4-BE49-F238E27FC236}">
                <a16:creationId xmlns:a16="http://schemas.microsoft.com/office/drawing/2014/main" id="{73442E32-9530-8624-204A-028FD460F4DB}"/>
              </a:ext>
            </a:extLst>
          </p:cNvPr>
          <p:cNvGrpSpPr/>
          <p:nvPr/>
        </p:nvGrpSpPr>
        <p:grpSpPr>
          <a:xfrm>
            <a:off x="1582703" y="3145134"/>
            <a:ext cx="4014317" cy="1279909"/>
            <a:chOff x="1582703" y="3145134"/>
            <a:chExt cx="4014317" cy="1279909"/>
          </a:xfrm>
        </p:grpSpPr>
        <p:sp>
          <p:nvSpPr>
            <p:cNvPr id="135" name="Freeform 134">
              <a:extLst>
                <a:ext uri="{FF2B5EF4-FFF2-40B4-BE49-F238E27FC236}">
                  <a16:creationId xmlns:a16="http://schemas.microsoft.com/office/drawing/2014/main" id="{E296717A-F98A-F7E5-2724-E20EE6378CB1}"/>
                </a:ext>
              </a:extLst>
            </p:cNvPr>
            <p:cNvSpPr/>
            <p:nvPr/>
          </p:nvSpPr>
          <p:spPr bwMode="gray">
            <a:xfrm>
              <a:off x="1587727" y="3145134"/>
              <a:ext cx="4009293" cy="1198266"/>
            </a:xfrm>
            <a:custGeom>
              <a:avLst/>
              <a:gdLst>
                <a:gd name="connsiteX0" fmla="*/ 199715 w 4009293"/>
                <a:gd name="connsiteY0" fmla="*/ 0 h 1198266"/>
                <a:gd name="connsiteX1" fmla="*/ 3809578 w 4009293"/>
                <a:gd name="connsiteY1" fmla="*/ 0 h 1198266"/>
                <a:gd name="connsiteX2" fmla="*/ 4009293 w 4009293"/>
                <a:gd name="connsiteY2" fmla="*/ 199715 h 1198266"/>
                <a:gd name="connsiteX3" fmla="*/ 4009293 w 4009293"/>
                <a:gd name="connsiteY3" fmla="*/ 1193238 h 1198266"/>
                <a:gd name="connsiteX4" fmla="*/ 4005619 w 4009293"/>
                <a:gd name="connsiteY4" fmla="*/ 1174511 h 1198266"/>
                <a:gd name="connsiteX5" fmla="*/ 3828423 w 4009293"/>
                <a:gd name="connsiteY5" fmla="*/ 1100295 h 1198266"/>
                <a:gd name="connsiteX6" fmla="*/ 3647552 w 4009293"/>
                <a:gd name="connsiteY6" fmla="*/ 1193243 h 1198266"/>
                <a:gd name="connsiteX7" fmla="*/ 3648537 w 4009293"/>
                <a:gd name="connsiteY7" fmla="*/ 1198266 h 1198266"/>
                <a:gd name="connsiteX8" fmla="*/ 3642527 w 4009293"/>
                <a:gd name="connsiteY8" fmla="*/ 1198266 h 1198266"/>
                <a:gd name="connsiteX9" fmla="*/ 3642527 w 4009293"/>
                <a:gd name="connsiteY9" fmla="*/ 494257 h 1198266"/>
                <a:gd name="connsiteX10" fmla="*/ 3486146 w 4009293"/>
                <a:gd name="connsiteY10" fmla="*/ 337876 h 1198266"/>
                <a:gd name="connsiteX11" fmla="*/ 2331851 w 4009293"/>
                <a:gd name="connsiteY11" fmla="*/ 337876 h 1198266"/>
                <a:gd name="connsiteX12" fmla="*/ 2175470 w 4009293"/>
                <a:gd name="connsiteY12" fmla="*/ 494257 h 1198266"/>
                <a:gd name="connsiteX13" fmla="*/ 2175470 w 4009293"/>
                <a:gd name="connsiteY13" fmla="*/ 1172278 h 1198266"/>
                <a:gd name="connsiteX14" fmla="*/ 2166280 w 4009293"/>
                <a:gd name="connsiteY14" fmla="*/ 1157063 h 1198266"/>
                <a:gd name="connsiteX15" fmla="*/ 1999623 w 4009293"/>
                <a:gd name="connsiteY15" fmla="*/ 1100295 h 1198266"/>
                <a:gd name="connsiteX16" fmla="*/ 1832966 w 4009293"/>
                <a:gd name="connsiteY16" fmla="*/ 1157063 h 1198266"/>
                <a:gd name="connsiteX17" fmla="*/ 1823775 w 4009293"/>
                <a:gd name="connsiteY17" fmla="*/ 1172279 h 1198266"/>
                <a:gd name="connsiteX18" fmla="*/ 1823775 w 4009293"/>
                <a:gd name="connsiteY18" fmla="*/ 495931 h 1198266"/>
                <a:gd name="connsiteX19" fmla="*/ 1665720 w 4009293"/>
                <a:gd name="connsiteY19" fmla="*/ 337876 h 1198266"/>
                <a:gd name="connsiteX20" fmla="*/ 514773 w 4009293"/>
                <a:gd name="connsiteY20" fmla="*/ 337876 h 1198266"/>
                <a:gd name="connsiteX21" fmla="*/ 356718 w 4009293"/>
                <a:gd name="connsiteY21" fmla="*/ 495931 h 1198266"/>
                <a:gd name="connsiteX22" fmla="*/ 356718 w 4009293"/>
                <a:gd name="connsiteY22" fmla="*/ 1192795 h 1198266"/>
                <a:gd name="connsiteX23" fmla="*/ 353131 w 4009293"/>
                <a:gd name="connsiteY23" fmla="*/ 1174511 h 1198266"/>
                <a:gd name="connsiteX24" fmla="*/ 175935 w 4009293"/>
                <a:gd name="connsiteY24" fmla="*/ 1100295 h 1198266"/>
                <a:gd name="connsiteX25" fmla="*/ 9278 w 4009293"/>
                <a:gd name="connsiteY25" fmla="*/ 1157063 h 1198266"/>
                <a:gd name="connsiteX26" fmla="*/ 0 w 4009293"/>
                <a:gd name="connsiteY26" fmla="*/ 1172423 h 1198266"/>
                <a:gd name="connsiteX27" fmla="*/ 0 w 4009293"/>
                <a:gd name="connsiteY27" fmla="*/ 199715 h 1198266"/>
                <a:gd name="connsiteX28" fmla="*/ 199715 w 4009293"/>
                <a:gd name="connsiteY28" fmla="*/ 0 h 1198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009293" h="1198266">
                  <a:moveTo>
                    <a:pt x="199715" y="0"/>
                  </a:moveTo>
                  <a:lnTo>
                    <a:pt x="3809578" y="0"/>
                  </a:lnTo>
                  <a:cubicBezTo>
                    <a:pt x="3919878" y="0"/>
                    <a:pt x="4009293" y="89415"/>
                    <a:pt x="4009293" y="199715"/>
                  </a:cubicBezTo>
                  <a:lnTo>
                    <a:pt x="4009293" y="1193238"/>
                  </a:lnTo>
                  <a:lnTo>
                    <a:pt x="4005619" y="1174511"/>
                  </a:lnTo>
                  <a:cubicBezTo>
                    <a:pt x="3988754" y="1132156"/>
                    <a:pt x="3915828" y="1100295"/>
                    <a:pt x="3828423" y="1100295"/>
                  </a:cubicBezTo>
                  <a:cubicBezTo>
                    <a:pt x="3728531" y="1100295"/>
                    <a:pt x="3647552" y="1141909"/>
                    <a:pt x="3647552" y="1193243"/>
                  </a:cubicBezTo>
                  <a:lnTo>
                    <a:pt x="3648537" y="1198266"/>
                  </a:lnTo>
                  <a:lnTo>
                    <a:pt x="3642527" y="1198266"/>
                  </a:lnTo>
                  <a:lnTo>
                    <a:pt x="3642527" y="494257"/>
                  </a:lnTo>
                  <a:cubicBezTo>
                    <a:pt x="3642527" y="407890"/>
                    <a:pt x="3572513" y="337876"/>
                    <a:pt x="3486146" y="337876"/>
                  </a:cubicBezTo>
                  <a:lnTo>
                    <a:pt x="2331851" y="337876"/>
                  </a:lnTo>
                  <a:cubicBezTo>
                    <a:pt x="2245484" y="337876"/>
                    <a:pt x="2175470" y="407890"/>
                    <a:pt x="2175470" y="494257"/>
                  </a:cubicBezTo>
                  <a:lnTo>
                    <a:pt x="2175470" y="1172278"/>
                  </a:lnTo>
                  <a:lnTo>
                    <a:pt x="2166280" y="1157063"/>
                  </a:lnTo>
                  <a:cubicBezTo>
                    <a:pt x="2138822" y="1123703"/>
                    <a:pt x="2074542" y="1100295"/>
                    <a:pt x="1999623" y="1100295"/>
                  </a:cubicBezTo>
                  <a:cubicBezTo>
                    <a:pt x="1924704" y="1100295"/>
                    <a:pt x="1860424" y="1123703"/>
                    <a:pt x="1832966" y="1157063"/>
                  </a:cubicBezTo>
                  <a:lnTo>
                    <a:pt x="1823775" y="1172279"/>
                  </a:lnTo>
                  <a:lnTo>
                    <a:pt x="1823775" y="495931"/>
                  </a:lnTo>
                  <a:cubicBezTo>
                    <a:pt x="1823775" y="408640"/>
                    <a:pt x="1753011" y="337876"/>
                    <a:pt x="1665720" y="337876"/>
                  </a:cubicBezTo>
                  <a:lnTo>
                    <a:pt x="514773" y="337876"/>
                  </a:lnTo>
                  <a:cubicBezTo>
                    <a:pt x="427482" y="337876"/>
                    <a:pt x="356718" y="408640"/>
                    <a:pt x="356718" y="495931"/>
                  </a:cubicBezTo>
                  <a:lnTo>
                    <a:pt x="356718" y="1192795"/>
                  </a:lnTo>
                  <a:lnTo>
                    <a:pt x="353131" y="1174511"/>
                  </a:lnTo>
                  <a:cubicBezTo>
                    <a:pt x="336266" y="1132156"/>
                    <a:pt x="263341" y="1100295"/>
                    <a:pt x="175935" y="1100295"/>
                  </a:cubicBezTo>
                  <a:cubicBezTo>
                    <a:pt x="101016" y="1100295"/>
                    <a:pt x="36736" y="1123703"/>
                    <a:pt x="9278" y="1157063"/>
                  </a:cubicBezTo>
                  <a:lnTo>
                    <a:pt x="0" y="1172423"/>
                  </a:lnTo>
                  <a:lnTo>
                    <a:pt x="0" y="199715"/>
                  </a:lnTo>
                  <a:cubicBezTo>
                    <a:pt x="0" y="89415"/>
                    <a:pt x="89415" y="0"/>
                    <a:pt x="199715" y="0"/>
                  </a:cubicBezTo>
                  <a:close/>
                </a:path>
              </a:pathLst>
            </a:custGeom>
            <a:solidFill>
              <a:schemeClr val="bg1"/>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42" name="Oval 141">
              <a:extLst>
                <a:ext uri="{FF2B5EF4-FFF2-40B4-BE49-F238E27FC236}">
                  <a16:creationId xmlns:a16="http://schemas.microsoft.com/office/drawing/2014/main" id="{073C9428-FB8C-5CF2-603D-363BD7DF0236}"/>
                </a:ext>
              </a:extLst>
            </p:cNvPr>
            <p:cNvSpPr/>
            <p:nvPr/>
          </p:nvSpPr>
          <p:spPr bwMode="gray">
            <a:xfrm>
              <a:off x="3401455" y="4251709"/>
              <a:ext cx="361741" cy="173334"/>
            </a:xfrm>
            <a:prstGeom prst="ellipse">
              <a:avLst/>
            </a:prstGeom>
            <a:solidFill>
              <a:schemeClr val="bg1"/>
            </a:solidFill>
            <a:ln w="6350">
              <a:solidFill>
                <a:schemeClr val="tx1">
                  <a:lumMod val="50000"/>
                  <a:lumOff val="50000"/>
                </a:schemeClr>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43" name="Oval 142">
              <a:extLst>
                <a:ext uri="{FF2B5EF4-FFF2-40B4-BE49-F238E27FC236}">
                  <a16:creationId xmlns:a16="http://schemas.microsoft.com/office/drawing/2014/main" id="{24BF9249-3491-C735-39E7-A90337306AD1}"/>
                </a:ext>
              </a:extLst>
            </p:cNvPr>
            <p:cNvSpPr/>
            <p:nvPr/>
          </p:nvSpPr>
          <p:spPr bwMode="gray">
            <a:xfrm>
              <a:off x="1582703" y="4251709"/>
              <a:ext cx="361741" cy="173334"/>
            </a:xfrm>
            <a:prstGeom prst="ellipse">
              <a:avLst/>
            </a:prstGeom>
            <a:solidFill>
              <a:schemeClr val="bg1"/>
            </a:solidFill>
            <a:ln w="6350">
              <a:solidFill>
                <a:schemeClr val="tx1">
                  <a:lumMod val="50000"/>
                  <a:lumOff val="50000"/>
                </a:schemeClr>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44" name="Oval 143">
              <a:extLst>
                <a:ext uri="{FF2B5EF4-FFF2-40B4-BE49-F238E27FC236}">
                  <a16:creationId xmlns:a16="http://schemas.microsoft.com/office/drawing/2014/main" id="{EBC5201C-A9AA-6FF5-EA32-2204E48EAA8A}"/>
                </a:ext>
              </a:extLst>
            </p:cNvPr>
            <p:cNvSpPr/>
            <p:nvPr/>
          </p:nvSpPr>
          <p:spPr bwMode="gray">
            <a:xfrm>
              <a:off x="5230255" y="4251709"/>
              <a:ext cx="361741" cy="173334"/>
            </a:xfrm>
            <a:prstGeom prst="ellipse">
              <a:avLst/>
            </a:prstGeom>
            <a:solidFill>
              <a:schemeClr val="bg1"/>
            </a:solidFill>
            <a:ln w="6350">
              <a:solidFill>
                <a:schemeClr val="tx1">
                  <a:lumMod val="50000"/>
                  <a:lumOff val="50000"/>
                </a:schemeClr>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191" name="Group 190">
            <a:extLst>
              <a:ext uri="{FF2B5EF4-FFF2-40B4-BE49-F238E27FC236}">
                <a16:creationId xmlns:a16="http://schemas.microsoft.com/office/drawing/2014/main" id="{EA1F4DBA-B646-AFEB-789E-0AE0F2B43421}"/>
              </a:ext>
            </a:extLst>
          </p:cNvPr>
          <p:cNvGrpSpPr>
            <a:grpSpLocks noChangeAspect="1"/>
          </p:cNvGrpSpPr>
          <p:nvPr/>
        </p:nvGrpSpPr>
        <p:grpSpPr>
          <a:xfrm>
            <a:off x="1904965" y="5028964"/>
            <a:ext cx="438912" cy="438912"/>
            <a:chOff x="2008163" y="2122216"/>
            <a:chExt cx="530226" cy="530226"/>
          </a:xfrm>
        </p:grpSpPr>
        <p:sp>
          <p:nvSpPr>
            <p:cNvPr id="193" name="Google Shape;1802;p69">
              <a:extLst>
                <a:ext uri="{FF2B5EF4-FFF2-40B4-BE49-F238E27FC236}">
                  <a16:creationId xmlns:a16="http://schemas.microsoft.com/office/drawing/2014/main" id="{B41850E9-02BA-9002-5719-2DD0F0ADD45C}"/>
                </a:ext>
              </a:extLst>
            </p:cNvPr>
            <p:cNvSpPr/>
            <p:nvPr/>
          </p:nvSpPr>
          <p:spPr>
            <a:xfrm>
              <a:off x="2008163" y="2122216"/>
              <a:ext cx="530226" cy="5302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mn-ea"/>
                <a:cs typeface="Arial"/>
                <a:sym typeface="Arial"/>
              </a:endParaRPr>
            </a:p>
          </p:txBody>
        </p:sp>
        <p:sp>
          <p:nvSpPr>
            <p:cNvPr id="194" name="Google Shape;1803;p69">
              <a:extLst>
                <a:ext uri="{FF2B5EF4-FFF2-40B4-BE49-F238E27FC236}">
                  <a16:creationId xmlns:a16="http://schemas.microsoft.com/office/drawing/2014/main" id="{A0A72AE2-2FD8-1044-5292-16DB76B5A418}"/>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195" name="Group 194">
            <a:extLst>
              <a:ext uri="{FF2B5EF4-FFF2-40B4-BE49-F238E27FC236}">
                <a16:creationId xmlns:a16="http://schemas.microsoft.com/office/drawing/2014/main" id="{DAB577BE-2186-60FA-43D3-B0E9278F41A1}"/>
              </a:ext>
            </a:extLst>
          </p:cNvPr>
          <p:cNvGrpSpPr>
            <a:grpSpLocks noChangeAspect="1"/>
          </p:cNvGrpSpPr>
          <p:nvPr/>
        </p:nvGrpSpPr>
        <p:grpSpPr>
          <a:xfrm>
            <a:off x="2981039" y="5028964"/>
            <a:ext cx="438912" cy="438912"/>
            <a:chOff x="2008163" y="2122216"/>
            <a:chExt cx="530226" cy="530226"/>
          </a:xfrm>
        </p:grpSpPr>
        <p:sp>
          <p:nvSpPr>
            <p:cNvPr id="197" name="Google Shape;1802;p69">
              <a:extLst>
                <a:ext uri="{FF2B5EF4-FFF2-40B4-BE49-F238E27FC236}">
                  <a16:creationId xmlns:a16="http://schemas.microsoft.com/office/drawing/2014/main" id="{CCACA52D-A8E1-1740-0FC4-6ECBE6AF795C}"/>
                </a:ext>
              </a:extLst>
            </p:cNvPr>
            <p:cNvSpPr/>
            <p:nvPr/>
          </p:nvSpPr>
          <p:spPr>
            <a:xfrm>
              <a:off x="2008163" y="2122216"/>
              <a:ext cx="530226" cy="53022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98" name="Google Shape;1803;p69">
              <a:extLst>
                <a:ext uri="{FF2B5EF4-FFF2-40B4-BE49-F238E27FC236}">
                  <a16:creationId xmlns:a16="http://schemas.microsoft.com/office/drawing/2014/main" id="{73055394-E9D3-670F-E136-6903C3758578}"/>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199" name="Group 198">
            <a:extLst>
              <a:ext uri="{FF2B5EF4-FFF2-40B4-BE49-F238E27FC236}">
                <a16:creationId xmlns:a16="http://schemas.microsoft.com/office/drawing/2014/main" id="{054F9B27-FFD1-04FC-49C7-731F044BFC8C}"/>
              </a:ext>
            </a:extLst>
          </p:cNvPr>
          <p:cNvGrpSpPr>
            <a:grpSpLocks noChangeAspect="1"/>
          </p:cNvGrpSpPr>
          <p:nvPr/>
        </p:nvGrpSpPr>
        <p:grpSpPr>
          <a:xfrm>
            <a:off x="1145335" y="5028964"/>
            <a:ext cx="438912" cy="438912"/>
            <a:chOff x="2008163" y="2122216"/>
            <a:chExt cx="530226" cy="530226"/>
          </a:xfrm>
        </p:grpSpPr>
        <p:sp>
          <p:nvSpPr>
            <p:cNvPr id="200" name="Google Shape;1802;p69">
              <a:extLst>
                <a:ext uri="{FF2B5EF4-FFF2-40B4-BE49-F238E27FC236}">
                  <a16:creationId xmlns:a16="http://schemas.microsoft.com/office/drawing/2014/main" id="{954EB95D-4DF0-8465-07D2-E442F68E24F0}"/>
                </a:ext>
              </a:extLst>
            </p:cNvPr>
            <p:cNvSpPr/>
            <p:nvPr/>
          </p:nvSpPr>
          <p:spPr>
            <a:xfrm>
              <a:off x="2008163" y="2122216"/>
              <a:ext cx="530226" cy="530226"/>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mn-ea"/>
                <a:cs typeface="Arial"/>
                <a:sym typeface="Arial"/>
              </a:endParaRPr>
            </a:p>
          </p:txBody>
        </p:sp>
        <p:sp>
          <p:nvSpPr>
            <p:cNvPr id="201" name="Google Shape;1803;p69">
              <a:extLst>
                <a:ext uri="{FF2B5EF4-FFF2-40B4-BE49-F238E27FC236}">
                  <a16:creationId xmlns:a16="http://schemas.microsoft.com/office/drawing/2014/main" id="{EDAB1F65-A80E-D550-16A2-0BE2C83067A4}"/>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202" name="Group 201">
            <a:extLst>
              <a:ext uri="{FF2B5EF4-FFF2-40B4-BE49-F238E27FC236}">
                <a16:creationId xmlns:a16="http://schemas.microsoft.com/office/drawing/2014/main" id="{96E62A9A-652D-EDD5-FD16-F354134A0436}"/>
              </a:ext>
            </a:extLst>
          </p:cNvPr>
          <p:cNvGrpSpPr>
            <a:grpSpLocks noChangeAspect="1"/>
          </p:cNvGrpSpPr>
          <p:nvPr/>
        </p:nvGrpSpPr>
        <p:grpSpPr>
          <a:xfrm>
            <a:off x="5563935" y="5028964"/>
            <a:ext cx="438912" cy="438912"/>
            <a:chOff x="2008163" y="2122216"/>
            <a:chExt cx="530226" cy="530226"/>
          </a:xfrm>
        </p:grpSpPr>
        <p:sp>
          <p:nvSpPr>
            <p:cNvPr id="203" name="Google Shape;1802;p69">
              <a:extLst>
                <a:ext uri="{FF2B5EF4-FFF2-40B4-BE49-F238E27FC236}">
                  <a16:creationId xmlns:a16="http://schemas.microsoft.com/office/drawing/2014/main" id="{71A4A924-0952-F3DE-1C4E-A0F34D5334DF}"/>
                </a:ext>
              </a:extLst>
            </p:cNvPr>
            <p:cNvSpPr/>
            <p:nvPr/>
          </p:nvSpPr>
          <p:spPr>
            <a:xfrm>
              <a:off x="2008163" y="2122216"/>
              <a:ext cx="530226" cy="53022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204" name="Google Shape;1803;p69">
              <a:extLst>
                <a:ext uri="{FF2B5EF4-FFF2-40B4-BE49-F238E27FC236}">
                  <a16:creationId xmlns:a16="http://schemas.microsoft.com/office/drawing/2014/main" id="{9C3EF85F-CE0A-BA14-9C39-877869981348}"/>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205" name="Group 204">
            <a:extLst>
              <a:ext uri="{FF2B5EF4-FFF2-40B4-BE49-F238E27FC236}">
                <a16:creationId xmlns:a16="http://schemas.microsoft.com/office/drawing/2014/main" id="{462F5D2B-551C-1D89-B3BA-00D1CC7E7CA3}"/>
              </a:ext>
            </a:extLst>
          </p:cNvPr>
          <p:cNvGrpSpPr>
            <a:grpSpLocks noChangeAspect="1"/>
          </p:cNvGrpSpPr>
          <p:nvPr/>
        </p:nvGrpSpPr>
        <p:grpSpPr>
          <a:xfrm>
            <a:off x="3724035" y="5028964"/>
            <a:ext cx="438912" cy="438912"/>
            <a:chOff x="2008163" y="2122216"/>
            <a:chExt cx="530226" cy="530226"/>
          </a:xfrm>
        </p:grpSpPr>
        <p:sp>
          <p:nvSpPr>
            <p:cNvPr id="206" name="Google Shape;1802;p69">
              <a:extLst>
                <a:ext uri="{FF2B5EF4-FFF2-40B4-BE49-F238E27FC236}">
                  <a16:creationId xmlns:a16="http://schemas.microsoft.com/office/drawing/2014/main" id="{F4CCAB45-A54F-7666-8F19-C706269BD8C5}"/>
                </a:ext>
              </a:extLst>
            </p:cNvPr>
            <p:cNvSpPr/>
            <p:nvPr/>
          </p:nvSpPr>
          <p:spPr>
            <a:xfrm>
              <a:off x="2008163" y="2122216"/>
              <a:ext cx="530226" cy="530226"/>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mn-ea"/>
                <a:cs typeface="Arial"/>
                <a:sym typeface="Arial"/>
              </a:endParaRPr>
            </a:p>
          </p:txBody>
        </p:sp>
        <p:sp>
          <p:nvSpPr>
            <p:cNvPr id="207" name="Google Shape;1803;p69">
              <a:extLst>
                <a:ext uri="{FF2B5EF4-FFF2-40B4-BE49-F238E27FC236}">
                  <a16:creationId xmlns:a16="http://schemas.microsoft.com/office/drawing/2014/main" id="{1A5A779C-3227-3796-F99C-D46C04235EDD}"/>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208" name="Group 207">
            <a:extLst>
              <a:ext uri="{FF2B5EF4-FFF2-40B4-BE49-F238E27FC236}">
                <a16:creationId xmlns:a16="http://schemas.microsoft.com/office/drawing/2014/main" id="{E5F1CE6F-1090-E194-1810-13F044483171}"/>
              </a:ext>
            </a:extLst>
          </p:cNvPr>
          <p:cNvGrpSpPr>
            <a:grpSpLocks noChangeAspect="1"/>
          </p:cNvGrpSpPr>
          <p:nvPr/>
        </p:nvGrpSpPr>
        <p:grpSpPr>
          <a:xfrm>
            <a:off x="4813645" y="5028964"/>
            <a:ext cx="438912" cy="438912"/>
            <a:chOff x="2008163" y="2122216"/>
            <a:chExt cx="530226" cy="530226"/>
          </a:xfrm>
        </p:grpSpPr>
        <p:sp>
          <p:nvSpPr>
            <p:cNvPr id="209" name="Google Shape;1802;p69">
              <a:extLst>
                <a:ext uri="{FF2B5EF4-FFF2-40B4-BE49-F238E27FC236}">
                  <a16:creationId xmlns:a16="http://schemas.microsoft.com/office/drawing/2014/main" id="{9BC0A424-E5DD-40C2-BB78-02D9B113A82D}"/>
                </a:ext>
              </a:extLst>
            </p:cNvPr>
            <p:cNvSpPr/>
            <p:nvPr/>
          </p:nvSpPr>
          <p:spPr>
            <a:xfrm>
              <a:off x="2008163" y="2122216"/>
              <a:ext cx="530226" cy="5302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mn-ea"/>
                <a:cs typeface="Arial"/>
                <a:sym typeface="Arial"/>
              </a:endParaRPr>
            </a:p>
          </p:txBody>
        </p:sp>
        <p:sp>
          <p:nvSpPr>
            <p:cNvPr id="210" name="Google Shape;1803;p69">
              <a:extLst>
                <a:ext uri="{FF2B5EF4-FFF2-40B4-BE49-F238E27FC236}">
                  <a16:creationId xmlns:a16="http://schemas.microsoft.com/office/drawing/2014/main" id="{5AC3E1FE-5DE7-32F0-F733-73E9F20E9D83}"/>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sp>
        <p:nvSpPr>
          <p:cNvPr id="45" name="Round Same Side Corner Rectangle 44">
            <a:extLst>
              <a:ext uri="{FF2B5EF4-FFF2-40B4-BE49-F238E27FC236}">
                <a16:creationId xmlns:a16="http://schemas.microsoft.com/office/drawing/2014/main" id="{AED907DE-3A3D-3346-51E2-D0EFE3F0B3E8}"/>
              </a:ext>
            </a:extLst>
          </p:cNvPr>
          <p:cNvSpPr/>
          <p:nvPr/>
        </p:nvSpPr>
        <p:spPr bwMode="gray">
          <a:xfrm>
            <a:off x="3652064" y="3349641"/>
            <a:ext cx="1805909" cy="1185641"/>
          </a:xfrm>
          <a:custGeom>
            <a:avLst/>
            <a:gdLst>
              <a:gd name="connsiteX0" fmla="*/ 36327 w 1227097"/>
              <a:gd name="connsiteY0" fmla="*/ 0 h 928613"/>
              <a:gd name="connsiteX1" fmla="*/ 1190770 w 1227097"/>
              <a:gd name="connsiteY1" fmla="*/ 0 h 928613"/>
              <a:gd name="connsiteX2" fmla="*/ 1227097 w 1227097"/>
              <a:gd name="connsiteY2" fmla="*/ 36327 h 928613"/>
              <a:gd name="connsiteX3" fmla="*/ 1227097 w 1227097"/>
              <a:gd name="connsiteY3" fmla="*/ 928613 h 928613"/>
              <a:gd name="connsiteX4" fmla="*/ 1227097 w 1227097"/>
              <a:gd name="connsiteY4" fmla="*/ 928613 h 928613"/>
              <a:gd name="connsiteX5" fmla="*/ 0 w 1227097"/>
              <a:gd name="connsiteY5" fmla="*/ 928613 h 928613"/>
              <a:gd name="connsiteX6" fmla="*/ 0 w 1227097"/>
              <a:gd name="connsiteY6" fmla="*/ 928613 h 928613"/>
              <a:gd name="connsiteX7" fmla="*/ 0 w 1227097"/>
              <a:gd name="connsiteY7" fmla="*/ 36327 h 928613"/>
              <a:gd name="connsiteX8" fmla="*/ 36327 w 1227097"/>
              <a:gd name="connsiteY8" fmla="*/ 0 h 928613"/>
              <a:gd name="connsiteX0" fmla="*/ 36327 w 1227097"/>
              <a:gd name="connsiteY0" fmla="*/ 0 h 938089"/>
              <a:gd name="connsiteX1" fmla="*/ 1190770 w 1227097"/>
              <a:gd name="connsiteY1" fmla="*/ 0 h 938089"/>
              <a:gd name="connsiteX2" fmla="*/ 1227097 w 1227097"/>
              <a:gd name="connsiteY2" fmla="*/ 36327 h 938089"/>
              <a:gd name="connsiteX3" fmla="*/ 1227097 w 1227097"/>
              <a:gd name="connsiteY3" fmla="*/ 928613 h 938089"/>
              <a:gd name="connsiteX4" fmla="*/ 1227097 w 1227097"/>
              <a:gd name="connsiteY4" fmla="*/ 928613 h 938089"/>
              <a:gd name="connsiteX5" fmla="*/ 592228 w 1227097"/>
              <a:gd name="connsiteY5" fmla="*/ 938089 h 938089"/>
              <a:gd name="connsiteX6" fmla="*/ 0 w 1227097"/>
              <a:gd name="connsiteY6" fmla="*/ 928613 h 938089"/>
              <a:gd name="connsiteX7" fmla="*/ 0 w 1227097"/>
              <a:gd name="connsiteY7" fmla="*/ 928613 h 938089"/>
              <a:gd name="connsiteX8" fmla="*/ 0 w 1227097"/>
              <a:gd name="connsiteY8" fmla="*/ 36327 h 938089"/>
              <a:gd name="connsiteX9" fmla="*/ 36327 w 1227097"/>
              <a:gd name="connsiteY9" fmla="*/ 0 h 938089"/>
              <a:gd name="connsiteX0" fmla="*/ 592228 w 1227097"/>
              <a:gd name="connsiteY0" fmla="*/ 938089 h 1029529"/>
              <a:gd name="connsiteX1" fmla="*/ 0 w 1227097"/>
              <a:gd name="connsiteY1" fmla="*/ 928613 h 1029529"/>
              <a:gd name="connsiteX2" fmla="*/ 0 w 1227097"/>
              <a:gd name="connsiteY2" fmla="*/ 928613 h 1029529"/>
              <a:gd name="connsiteX3" fmla="*/ 0 w 1227097"/>
              <a:gd name="connsiteY3" fmla="*/ 36327 h 1029529"/>
              <a:gd name="connsiteX4" fmla="*/ 36327 w 1227097"/>
              <a:gd name="connsiteY4" fmla="*/ 0 h 1029529"/>
              <a:gd name="connsiteX5" fmla="*/ 1190770 w 1227097"/>
              <a:gd name="connsiteY5" fmla="*/ 0 h 1029529"/>
              <a:gd name="connsiteX6" fmla="*/ 1227097 w 1227097"/>
              <a:gd name="connsiteY6" fmla="*/ 36327 h 1029529"/>
              <a:gd name="connsiteX7" fmla="*/ 1227097 w 1227097"/>
              <a:gd name="connsiteY7" fmla="*/ 928613 h 1029529"/>
              <a:gd name="connsiteX8" fmla="*/ 1227097 w 1227097"/>
              <a:gd name="connsiteY8" fmla="*/ 928613 h 1029529"/>
              <a:gd name="connsiteX9" fmla="*/ 683668 w 1227097"/>
              <a:gd name="connsiteY9" fmla="*/ 1029529 h 1029529"/>
              <a:gd name="connsiteX0" fmla="*/ 592228 w 1227097"/>
              <a:gd name="connsiteY0" fmla="*/ 938089 h 938089"/>
              <a:gd name="connsiteX1" fmla="*/ 0 w 1227097"/>
              <a:gd name="connsiteY1" fmla="*/ 928613 h 938089"/>
              <a:gd name="connsiteX2" fmla="*/ 0 w 1227097"/>
              <a:gd name="connsiteY2" fmla="*/ 928613 h 938089"/>
              <a:gd name="connsiteX3" fmla="*/ 0 w 1227097"/>
              <a:gd name="connsiteY3" fmla="*/ 36327 h 938089"/>
              <a:gd name="connsiteX4" fmla="*/ 36327 w 1227097"/>
              <a:gd name="connsiteY4" fmla="*/ 0 h 938089"/>
              <a:gd name="connsiteX5" fmla="*/ 1190770 w 1227097"/>
              <a:gd name="connsiteY5" fmla="*/ 0 h 938089"/>
              <a:gd name="connsiteX6" fmla="*/ 1227097 w 1227097"/>
              <a:gd name="connsiteY6" fmla="*/ 36327 h 938089"/>
              <a:gd name="connsiteX7" fmla="*/ 1227097 w 1227097"/>
              <a:gd name="connsiteY7" fmla="*/ 928613 h 938089"/>
              <a:gd name="connsiteX8" fmla="*/ 1227097 w 1227097"/>
              <a:gd name="connsiteY8" fmla="*/ 928613 h 938089"/>
              <a:gd name="connsiteX0" fmla="*/ 0 w 1227097"/>
              <a:gd name="connsiteY0" fmla="*/ 928613 h 928613"/>
              <a:gd name="connsiteX1" fmla="*/ 0 w 1227097"/>
              <a:gd name="connsiteY1" fmla="*/ 928613 h 928613"/>
              <a:gd name="connsiteX2" fmla="*/ 0 w 1227097"/>
              <a:gd name="connsiteY2" fmla="*/ 36327 h 928613"/>
              <a:gd name="connsiteX3" fmla="*/ 36327 w 1227097"/>
              <a:gd name="connsiteY3" fmla="*/ 0 h 928613"/>
              <a:gd name="connsiteX4" fmla="*/ 1190770 w 1227097"/>
              <a:gd name="connsiteY4" fmla="*/ 0 h 928613"/>
              <a:gd name="connsiteX5" fmla="*/ 1227097 w 1227097"/>
              <a:gd name="connsiteY5" fmla="*/ 36327 h 928613"/>
              <a:gd name="connsiteX6" fmla="*/ 1227097 w 1227097"/>
              <a:gd name="connsiteY6" fmla="*/ 928613 h 928613"/>
              <a:gd name="connsiteX7" fmla="*/ 1227097 w 1227097"/>
              <a:gd name="connsiteY7" fmla="*/ 928613 h 9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7097" h="928613">
                <a:moveTo>
                  <a:pt x="0" y="928613"/>
                </a:moveTo>
                <a:lnTo>
                  <a:pt x="0" y="928613"/>
                </a:lnTo>
                <a:lnTo>
                  <a:pt x="0" y="36327"/>
                </a:lnTo>
                <a:cubicBezTo>
                  <a:pt x="0" y="16264"/>
                  <a:pt x="16264" y="0"/>
                  <a:pt x="36327" y="0"/>
                </a:cubicBezTo>
                <a:lnTo>
                  <a:pt x="1190770" y="0"/>
                </a:lnTo>
                <a:cubicBezTo>
                  <a:pt x="1210833" y="0"/>
                  <a:pt x="1227097" y="16264"/>
                  <a:pt x="1227097" y="36327"/>
                </a:cubicBezTo>
                <a:lnTo>
                  <a:pt x="1227097" y="928613"/>
                </a:lnTo>
                <a:lnTo>
                  <a:pt x="1227097" y="928613"/>
                </a:lnTo>
              </a:path>
            </a:pathLst>
          </a:custGeom>
          <a:noFill/>
          <a:ln w="38100">
            <a:solidFill>
              <a:schemeClr val="accent5"/>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6" name="Round Same Side Corner Rectangle 44">
            <a:extLst>
              <a:ext uri="{FF2B5EF4-FFF2-40B4-BE49-F238E27FC236}">
                <a16:creationId xmlns:a16="http://schemas.microsoft.com/office/drawing/2014/main" id="{49F295E7-209D-23AF-4268-F5937B5D39F7}"/>
              </a:ext>
            </a:extLst>
          </p:cNvPr>
          <p:cNvSpPr/>
          <p:nvPr/>
        </p:nvSpPr>
        <p:spPr bwMode="gray">
          <a:xfrm>
            <a:off x="1719032" y="3349641"/>
            <a:ext cx="1805909" cy="1516104"/>
          </a:xfrm>
          <a:custGeom>
            <a:avLst/>
            <a:gdLst>
              <a:gd name="connsiteX0" fmla="*/ 36327 w 1227097"/>
              <a:gd name="connsiteY0" fmla="*/ 0 h 928613"/>
              <a:gd name="connsiteX1" fmla="*/ 1190770 w 1227097"/>
              <a:gd name="connsiteY1" fmla="*/ 0 h 928613"/>
              <a:gd name="connsiteX2" fmla="*/ 1227097 w 1227097"/>
              <a:gd name="connsiteY2" fmla="*/ 36327 h 928613"/>
              <a:gd name="connsiteX3" fmla="*/ 1227097 w 1227097"/>
              <a:gd name="connsiteY3" fmla="*/ 928613 h 928613"/>
              <a:gd name="connsiteX4" fmla="*/ 1227097 w 1227097"/>
              <a:gd name="connsiteY4" fmla="*/ 928613 h 928613"/>
              <a:gd name="connsiteX5" fmla="*/ 0 w 1227097"/>
              <a:gd name="connsiteY5" fmla="*/ 928613 h 928613"/>
              <a:gd name="connsiteX6" fmla="*/ 0 w 1227097"/>
              <a:gd name="connsiteY6" fmla="*/ 928613 h 928613"/>
              <a:gd name="connsiteX7" fmla="*/ 0 w 1227097"/>
              <a:gd name="connsiteY7" fmla="*/ 36327 h 928613"/>
              <a:gd name="connsiteX8" fmla="*/ 36327 w 1227097"/>
              <a:gd name="connsiteY8" fmla="*/ 0 h 928613"/>
              <a:gd name="connsiteX0" fmla="*/ 36327 w 1227097"/>
              <a:gd name="connsiteY0" fmla="*/ 0 h 938089"/>
              <a:gd name="connsiteX1" fmla="*/ 1190770 w 1227097"/>
              <a:gd name="connsiteY1" fmla="*/ 0 h 938089"/>
              <a:gd name="connsiteX2" fmla="*/ 1227097 w 1227097"/>
              <a:gd name="connsiteY2" fmla="*/ 36327 h 938089"/>
              <a:gd name="connsiteX3" fmla="*/ 1227097 w 1227097"/>
              <a:gd name="connsiteY3" fmla="*/ 928613 h 938089"/>
              <a:gd name="connsiteX4" fmla="*/ 1227097 w 1227097"/>
              <a:gd name="connsiteY4" fmla="*/ 928613 h 938089"/>
              <a:gd name="connsiteX5" fmla="*/ 592228 w 1227097"/>
              <a:gd name="connsiteY5" fmla="*/ 938089 h 938089"/>
              <a:gd name="connsiteX6" fmla="*/ 0 w 1227097"/>
              <a:gd name="connsiteY6" fmla="*/ 928613 h 938089"/>
              <a:gd name="connsiteX7" fmla="*/ 0 w 1227097"/>
              <a:gd name="connsiteY7" fmla="*/ 928613 h 938089"/>
              <a:gd name="connsiteX8" fmla="*/ 0 w 1227097"/>
              <a:gd name="connsiteY8" fmla="*/ 36327 h 938089"/>
              <a:gd name="connsiteX9" fmla="*/ 36327 w 1227097"/>
              <a:gd name="connsiteY9" fmla="*/ 0 h 938089"/>
              <a:gd name="connsiteX0" fmla="*/ 592228 w 1227097"/>
              <a:gd name="connsiteY0" fmla="*/ 938089 h 1029529"/>
              <a:gd name="connsiteX1" fmla="*/ 0 w 1227097"/>
              <a:gd name="connsiteY1" fmla="*/ 928613 h 1029529"/>
              <a:gd name="connsiteX2" fmla="*/ 0 w 1227097"/>
              <a:gd name="connsiteY2" fmla="*/ 928613 h 1029529"/>
              <a:gd name="connsiteX3" fmla="*/ 0 w 1227097"/>
              <a:gd name="connsiteY3" fmla="*/ 36327 h 1029529"/>
              <a:gd name="connsiteX4" fmla="*/ 36327 w 1227097"/>
              <a:gd name="connsiteY4" fmla="*/ 0 h 1029529"/>
              <a:gd name="connsiteX5" fmla="*/ 1190770 w 1227097"/>
              <a:gd name="connsiteY5" fmla="*/ 0 h 1029529"/>
              <a:gd name="connsiteX6" fmla="*/ 1227097 w 1227097"/>
              <a:gd name="connsiteY6" fmla="*/ 36327 h 1029529"/>
              <a:gd name="connsiteX7" fmla="*/ 1227097 w 1227097"/>
              <a:gd name="connsiteY7" fmla="*/ 928613 h 1029529"/>
              <a:gd name="connsiteX8" fmla="*/ 1227097 w 1227097"/>
              <a:gd name="connsiteY8" fmla="*/ 928613 h 1029529"/>
              <a:gd name="connsiteX9" fmla="*/ 683668 w 1227097"/>
              <a:gd name="connsiteY9" fmla="*/ 1029529 h 1029529"/>
              <a:gd name="connsiteX0" fmla="*/ 592228 w 1227097"/>
              <a:gd name="connsiteY0" fmla="*/ 938089 h 938089"/>
              <a:gd name="connsiteX1" fmla="*/ 0 w 1227097"/>
              <a:gd name="connsiteY1" fmla="*/ 928613 h 938089"/>
              <a:gd name="connsiteX2" fmla="*/ 0 w 1227097"/>
              <a:gd name="connsiteY2" fmla="*/ 928613 h 938089"/>
              <a:gd name="connsiteX3" fmla="*/ 0 w 1227097"/>
              <a:gd name="connsiteY3" fmla="*/ 36327 h 938089"/>
              <a:gd name="connsiteX4" fmla="*/ 36327 w 1227097"/>
              <a:gd name="connsiteY4" fmla="*/ 0 h 938089"/>
              <a:gd name="connsiteX5" fmla="*/ 1190770 w 1227097"/>
              <a:gd name="connsiteY5" fmla="*/ 0 h 938089"/>
              <a:gd name="connsiteX6" fmla="*/ 1227097 w 1227097"/>
              <a:gd name="connsiteY6" fmla="*/ 36327 h 938089"/>
              <a:gd name="connsiteX7" fmla="*/ 1227097 w 1227097"/>
              <a:gd name="connsiteY7" fmla="*/ 928613 h 938089"/>
              <a:gd name="connsiteX8" fmla="*/ 1227097 w 1227097"/>
              <a:gd name="connsiteY8" fmla="*/ 928613 h 938089"/>
              <a:gd name="connsiteX0" fmla="*/ 0 w 1227097"/>
              <a:gd name="connsiteY0" fmla="*/ 928613 h 928613"/>
              <a:gd name="connsiteX1" fmla="*/ 0 w 1227097"/>
              <a:gd name="connsiteY1" fmla="*/ 928613 h 928613"/>
              <a:gd name="connsiteX2" fmla="*/ 0 w 1227097"/>
              <a:gd name="connsiteY2" fmla="*/ 36327 h 928613"/>
              <a:gd name="connsiteX3" fmla="*/ 36327 w 1227097"/>
              <a:gd name="connsiteY3" fmla="*/ 0 h 928613"/>
              <a:gd name="connsiteX4" fmla="*/ 1190770 w 1227097"/>
              <a:gd name="connsiteY4" fmla="*/ 0 h 928613"/>
              <a:gd name="connsiteX5" fmla="*/ 1227097 w 1227097"/>
              <a:gd name="connsiteY5" fmla="*/ 36327 h 928613"/>
              <a:gd name="connsiteX6" fmla="*/ 1227097 w 1227097"/>
              <a:gd name="connsiteY6" fmla="*/ 928613 h 928613"/>
              <a:gd name="connsiteX7" fmla="*/ 1227097 w 1227097"/>
              <a:gd name="connsiteY7" fmla="*/ 928613 h 9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7097" h="928613">
                <a:moveTo>
                  <a:pt x="0" y="928613"/>
                </a:moveTo>
                <a:lnTo>
                  <a:pt x="0" y="928613"/>
                </a:lnTo>
                <a:lnTo>
                  <a:pt x="0" y="36327"/>
                </a:lnTo>
                <a:cubicBezTo>
                  <a:pt x="0" y="16264"/>
                  <a:pt x="16264" y="0"/>
                  <a:pt x="36327" y="0"/>
                </a:cubicBezTo>
                <a:lnTo>
                  <a:pt x="1190770" y="0"/>
                </a:lnTo>
                <a:cubicBezTo>
                  <a:pt x="1210833" y="0"/>
                  <a:pt x="1227097" y="16264"/>
                  <a:pt x="1227097" y="36327"/>
                </a:cubicBezTo>
                <a:lnTo>
                  <a:pt x="1227097" y="928613"/>
                </a:lnTo>
                <a:lnTo>
                  <a:pt x="1227097" y="928613"/>
                </a:lnTo>
              </a:path>
            </a:pathLst>
          </a:custGeom>
          <a:noFill/>
          <a:ln w="38100">
            <a:solidFill>
              <a:schemeClr val="accent3"/>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7" name="Round Same Side Corner Rectangle 44">
            <a:extLst>
              <a:ext uri="{FF2B5EF4-FFF2-40B4-BE49-F238E27FC236}">
                <a16:creationId xmlns:a16="http://schemas.microsoft.com/office/drawing/2014/main" id="{7B843D45-8301-1ADF-58A1-EC161DB0F2D0}"/>
              </a:ext>
            </a:extLst>
          </p:cNvPr>
          <p:cNvSpPr/>
          <p:nvPr/>
        </p:nvSpPr>
        <p:spPr bwMode="gray">
          <a:xfrm>
            <a:off x="1851691" y="3429000"/>
            <a:ext cx="3459410" cy="1266183"/>
          </a:xfrm>
          <a:custGeom>
            <a:avLst/>
            <a:gdLst>
              <a:gd name="connsiteX0" fmla="*/ 36327 w 1227097"/>
              <a:gd name="connsiteY0" fmla="*/ 0 h 928613"/>
              <a:gd name="connsiteX1" fmla="*/ 1190770 w 1227097"/>
              <a:gd name="connsiteY1" fmla="*/ 0 h 928613"/>
              <a:gd name="connsiteX2" fmla="*/ 1227097 w 1227097"/>
              <a:gd name="connsiteY2" fmla="*/ 36327 h 928613"/>
              <a:gd name="connsiteX3" fmla="*/ 1227097 w 1227097"/>
              <a:gd name="connsiteY3" fmla="*/ 928613 h 928613"/>
              <a:gd name="connsiteX4" fmla="*/ 1227097 w 1227097"/>
              <a:gd name="connsiteY4" fmla="*/ 928613 h 928613"/>
              <a:gd name="connsiteX5" fmla="*/ 0 w 1227097"/>
              <a:gd name="connsiteY5" fmla="*/ 928613 h 928613"/>
              <a:gd name="connsiteX6" fmla="*/ 0 w 1227097"/>
              <a:gd name="connsiteY6" fmla="*/ 928613 h 928613"/>
              <a:gd name="connsiteX7" fmla="*/ 0 w 1227097"/>
              <a:gd name="connsiteY7" fmla="*/ 36327 h 928613"/>
              <a:gd name="connsiteX8" fmla="*/ 36327 w 1227097"/>
              <a:gd name="connsiteY8" fmla="*/ 0 h 928613"/>
              <a:gd name="connsiteX0" fmla="*/ 36327 w 1227097"/>
              <a:gd name="connsiteY0" fmla="*/ 0 h 938089"/>
              <a:gd name="connsiteX1" fmla="*/ 1190770 w 1227097"/>
              <a:gd name="connsiteY1" fmla="*/ 0 h 938089"/>
              <a:gd name="connsiteX2" fmla="*/ 1227097 w 1227097"/>
              <a:gd name="connsiteY2" fmla="*/ 36327 h 938089"/>
              <a:gd name="connsiteX3" fmla="*/ 1227097 w 1227097"/>
              <a:gd name="connsiteY3" fmla="*/ 928613 h 938089"/>
              <a:gd name="connsiteX4" fmla="*/ 1227097 w 1227097"/>
              <a:gd name="connsiteY4" fmla="*/ 928613 h 938089"/>
              <a:gd name="connsiteX5" fmla="*/ 592228 w 1227097"/>
              <a:gd name="connsiteY5" fmla="*/ 938089 h 938089"/>
              <a:gd name="connsiteX6" fmla="*/ 0 w 1227097"/>
              <a:gd name="connsiteY6" fmla="*/ 928613 h 938089"/>
              <a:gd name="connsiteX7" fmla="*/ 0 w 1227097"/>
              <a:gd name="connsiteY7" fmla="*/ 928613 h 938089"/>
              <a:gd name="connsiteX8" fmla="*/ 0 w 1227097"/>
              <a:gd name="connsiteY8" fmla="*/ 36327 h 938089"/>
              <a:gd name="connsiteX9" fmla="*/ 36327 w 1227097"/>
              <a:gd name="connsiteY9" fmla="*/ 0 h 938089"/>
              <a:gd name="connsiteX0" fmla="*/ 592228 w 1227097"/>
              <a:gd name="connsiteY0" fmla="*/ 938089 h 1029529"/>
              <a:gd name="connsiteX1" fmla="*/ 0 w 1227097"/>
              <a:gd name="connsiteY1" fmla="*/ 928613 h 1029529"/>
              <a:gd name="connsiteX2" fmla="*/ 0 w 1227097"/>
              <a:gd name="connsiteY2" fmla="*/ 928613 h 1029529"/>
              <a:gd name="connsiteX3" fmla="*/ 0 w 1227097"/>
              <a:gd name="connsiteY3" fmla="*/ 36327 h 1029529"/>
              <a:gd name="connsiteX4" fmla="*/ 36327 w 1227097"/>
              <a:gd name="connsiteY4" fmla="*/ 0 h 1029529"/>
              <a:gd name="connsiteX5" fmla="*/ 1190770 w 1227097"/>
              <a:gd name="connsiteY5" fmla="*/ 0 h 1029529"/>
              <a:gd name="connsiteX6" fmla="*/ 1227097 w 1227097"/>
              <a:gd name="connsiteY6" fmla="*/ 36327 h 1029529"/>
              <a:gd name="connsiteX7" fmla="*/ 1227097 w 1227097"/>
              <a:gd name="connsiteY7" fmla="*/ 928613 h 1029529"/>
              <a:gd name="connsiteX8" fmla="*/ 1227097 w 1227097"/>
              <a:gd name="connsiteY8" fmla="*/ 928613 h 1029529"/>
              <a:gd name="connsiteX9" fmla="*/ 683668 w 1227097"/>
              <a:gd name="connsiteY9" fmla="*/ 1029529 h 1029529"/>
              <a:gd name="connsiteX0" fmla="*/ 592228 w 1227097"/>
              <a:gd name="connsiteY0" fmla="*/ 938089 h 938089"/>
              <a:gd name="connsiteX1" fmla="*/ 0 w 1227097"/>
              <a:gd name="connsiteY1" fmla="*/ 928613 h 938089"/>
              <a:gd name="connsiteX2" fmla="*/ 0 w 1227097"/>
              <a:gd name="connsiteY2" fmla="*/ 928613 h 938089"/>
              <a:gd name="connsiteX3" fmla="*/ 0 w 1227097"/>
              <a:gd name="connsiteY3" fmla="*/ 36327 h 938089"/>
              <a:gd name="connsiteX4" fmla="*/ 36327 w 1227097"/>
              <a:gd name="connsiteY4" fmla="*/ 0 h 938089"/>
              <a:gd name="connsiteX5" fmla="*/ 1190770 w 1227097"/>
              <a:gd name="connsiteY5" fmla="*/ 0 h 938089"/>
              <a:gd name="connsiteX6" fmla="*/ 1227097 w 1227097"/>
              <a:gd name="connsiteY6" fmla="*/ 36327 h 938089"/>
              <a:gd name="connsiteX7" fmla="*/ 1227097 w 1227097"/>
              <a:gd name="connsiteY7" fmla="*/ 928613 h 938089"/>
              <a:gd name="connsiteX8" fmla="*/ 1227097 w 1227097"/>
              <a:gd name="connsiteY8" fmla="*/ 928613 h 938089"/>
              <a:gd name="connsiteX0" fmla="*/ 0 w 1227097"/>
              <a:gd name="connsiteY0" fmla="*/ 928613 h 928613"/>
              <a:gd name="connsiteX1" fmla="*/ 0 w 1227097"/>
              <a:gd name="connsiteY1" fmla="*/ 928613 h 928613"/>
              <a:gd name="connsiteX2" fmla="*/ 0 w 1227097"/>
              <a:gd name="connsiteY2" fmla="*/ 36327 h 928613"/>
              <a:gd name="connsiteX3" fmla="*/ 36327 w 1227097"/>
              <a:gd name="connsiteY3" fmla="*/ 0 h 928613"/>
              <a:gd name="connsiteX4" fmla="*/ 1190770 w 1227097"/>
              <a:gd name="connsiteY4" fmla="*/ 0 h 928613"/>
              <a:gd name="connsiteX5" fmla="*/ 1227097 w 1227097"/>
              <a:gd name="connsiteY5" fmla="*/ 36327 h 928613"/>
              <a:gd name="connsiteX6" fmla="*/ 1227097 w 1227097"/>
              <a:gd name="connsiteY6" fmla="*/ 928613 h 928613"/>
              <a:gd name="connsiteX7" fmla="*/ 1227097 w 1227097"/>
              <a:gd name="connsiteY7" fmla="*/ 928613 h 9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7097" h="928613">
                <a:moveTo>
                  <a:pt x="0" y="928613"/>
                </a:moveTo>
                <a:lnTo>
                  <a:pt x="0" y="928613"/>
                </a:lnTo>
                <a:lnTo>
                  <a:pt x="0" y="36327"/>
                </a:lnTo>
                <a:cubicBezTo>
                  <a:pt x="0" y="16264"/>
                  <a:pt x="16264" y="0"/>
                  <a:pt x="36327" y="0"/>
                </a:cubicBezTo>
                <a:lnTo>
                  <a:pt x="1190770" y="0"/>
                </a:lnTo>
                <a:cubicBezTo>
                  <a:pt x="1210833" y="0"/>
                  <a:pt x="1227097" y="16264"/>
                  <a:pt x="1227097" y="36327"/>
                </a:cubicBezTo>
                <a:lnTo>
                  <a:pt x="1227097" y="928613"/>
                </a:lnTo>
                <a:lnTo>
                  <a:pt x="1227097" y="928613"/>
                </a:lnTo>
              </a:path>
            </a:pathLst>
          </a:custGeom>
          <a:noFill/>
          <a:ln w="381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25" name="Group 24">
            <a:extLst>
              <a:ext uri="{FF2B5EF4-FFF2-40B4-BE49-F238E27FC236}">
                <a16:creationId xmlns:a16="http://schemas.microsoft.com/office/drawing/2014/main" id="{84A395BA-245B-4F32-99B0-0244DC4CFE3B}"/>
              </a:ext>
            </a:extLst>
          </p:cNvPr>
          <p:cNvGrpSpPr/>
          <p:nvPr/>
        </p:nvGrpSpPr>
        <p:grpSpPr>
          <a:xfrm>
            <a:off x="1271196" y="1951839"/>
            <a:ext cx="4477219" cy="457200"/>
            <a:chOff x="939060" y="1951839"/>
            <a:chExt cx="4477219" cy="457200"/>
          </a:xfrm>
        </p:grpSpPr>
        <p:grpSp>
          <p:nvGrpSpPr>
            <p:cNvPr id="44" name="Group 43">
              <a:extLst>
                <a:ext uri="{FF2B5EF4-FFF2-40B4-BE49-F238E27FC236}">
                  <a16:creationId xmlns:a16="http://schemas.microsoft.com/office/drawing/2014/main" id="{948E3CDF-DBED-5EE6-0B37-301EF3CE4D7D}"/>
                </a:ext>
              </a:extLst>
            </p:cNvPr>
            <p:cNvGrpSpPr>
              <a:grpSpLocks noChangeAspect="1"/>
            </p:cNvGrpSpPr>
            <p:nvPr/>
          </p:nvGrpSpPr>
          <p:grpSpPr>
            <a:xfrm>
              <a:off x="2547066" y="1951839"/>
              <a:ext cx="457202" cy="457200"/>
              <a:chOff x="7498117" y="3244694"/>
              <a:chExt cx="615026" cy="615024"/>
            </a:xfrm>
          </p:grpSpPr>
          <p:sp>
            <p:nvSpPr>
              <p:cNvPr id="74" name="Oval 73">
                <a:extLst>
                  <a:ext uri="{FF2B5EF4-FFF2-40B4-BE49-F238E27FC236}">
                    <a16:creationId xmlns:a16="http://schemas.microsoft.com/office/drawing/2014/main" id="{32403B78-AF51-22FA-F49F-2DD8DFE7386C}"/>
                  </a:ext>
                </a:extLst>
              </p:cNvPr>
              <p:cNvSpPr>
                <a:spLocks noChangeAspect="1"/>
              </p:cNvSpPr>
              <p:nvPr/>
            </p:nvSpPr>
            <p:spPr>
              <a:xfrm>
                <a:off x="7498117" y="3244694"/>
                <a:ext cx="615026" cy="615024"/>
              </a:xfrm>
              <a:prstGeom prst="ellipse">
                <a:avLst/>
              </a:pr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5" name="Graphic 62">
                <a:extLst>
                  <a:ext uri="{FF2B5EF4-FFF2-40B4-BE49-F238E27FC236}">
                    <a16:creationId xmlns:a16="http://schemas.microsoft.com/office/drawing/2014/main" id="{DF2A68E8-46AA-76E4-4884-ADD452EBF284}"/>
                  </a:ext>
                </a:extLst>
              </p:cNvPr>
              <p:cNvSpPr/>
              <p:nvPr/>
            </p:nvSpPr>
            <p:spPr>
              <a:xfrm>
                <a:off x="7601547" y="3369194"/>
                <a:ext cx="366027" cy="366026"/>
              </a:xfrm>
              <a:custGeom>
                <a:avLst/>
                <a:gdLst>
                  <a:gd name="connsiteX0" fmla="*/ 168355 w 537323"/>
                  <a:gd name="connsiteY0" fmla="*/ 0 h 537323"/>
                  <a:gd name="connsiteX1" fmla="*/ 0 w 537323"/>
                  <a:gd name="connsiteY1" fmla="*/ 185968 h 537323"/>
                  <a:gd name="connsiteX2" fmla="*/ 0 w 537323"/>
                  <a:gd name="connsiteY2" fmla="*/ 353777 h 537323"/>
                  <a:gd name="connsiteX3" fmla="*/ 174877 w 537323"/>
                  <a:gd name="connsiteY3" fmla="*/ 537324 h 537323"/>
                  <a:gd name="connsiteX4" fmla="*/ 537324 w 537323"/>
                  <a:gd name="connsiteY4" fmla="*/ 537324 h 537323"/>
                  <a:gd name="connsiteX5" fmla="*/ 537324 w 537323"/>
                  <a:gd name="connsiteY5" fmla="*/ 0 h 537323"/>
                  <a:gd name="connsiteX6" fmla="*/ 168355 w 537323"/>
                  <a:gd name="connsiteY6" fmla="*/ 0 h 537323"/>
                  <a:gd name="connsiteX7" fmla="*/ 200964 w 537323"/>
                  <a:gd name="connsiteY7" fmla="*/ 151680 h 537323"/>
                  <a:gd name="connsiteX8" fmla="*/ 220295 w 537323"/>
                  <a:gd name="connsiteY8" fmla="*/ 171011 h 537323"/>
                  <a:gd name="connsiteX9" fmla="*/ 153633 w 537323"/>
                  <a:gd name="connsiteY9" fmla="*/ 237674 h 537323"/>
                  <a:gd name="connsiteX10" fmla="*/ 134302 w 537323"/>
                  <a:gd name="connsiteY10" fmla="*/ 218343 h 537323"/>
                  <a:gd name="connsiteX11" fmla="*/ 200964 w 537323"/>
                  <a:gd name="connsiteY11" fmla="*/ 151680 h 537323"/>
                  <a:gd name="connsiteX12" fmla="*/ 204870 w 537323"/>
                  <a:gd name="connsiteY12" fmla="*/ 264151 h 537323"/>
                  <a:gd name="connsiteX13" fmla="*/ 204870 w 537323"/>
                  <a:gd name="connsiteY13" fmla="*/ 291488 h 537323"/>
                  <a:gd name="connsiteX14" fmla="*/ 153320 w 537323"/>
                  <a:gd name="connsiteY14" fmla="*/ 291488 h 537323"/>
                  <a:gd name="connsiteX15" fmla="*/ 153320 w 537323"/>
                  <a:gd name="connsiteY15" fmla="*/ 264151 h 537323"/>
                  <a:gd name="connsiteX16" fmla="*/ 204870 w 537323"/>
                  <a:gd name="connsiteY16" fmla="*/ 264151 h 537323"/>
                  <a:gd name="connsiteX17" fmla="*/ 117119 w 537323"/>
                  <a:gd name="connsiteY17" fmla="*/ 308632 h 537323"/>
                  <a:gd name="connsiteX18" fmla="*/ 55494 w 537323"/>
                  <a:gd name="connsiteY18" fmla="*/ 308632 h 537323"/>
                  <a:gd name="connsiteX19" fmla="*/ 55494 w 537323"/>
                  <a:gd name="connsiteY19" fmla="*/ 247007 h 537323"/>
                  <a:gd name="connsiteX20" fmla="*/ 117119 w 537323"/>
                  <a:gd name="connsiteY20" fmla="*/ 247007 h 537323"/>
                  <a:gd name="connsiteX21" fmla="*/ 117119 w 537323"/>
                  <a:gd name="connsiteY21" fmla="*/ 308632 h 537323"/>
                  <a:gd name="connsiteX22" fmla="*/ 134302 w 537323"/>
                  <a:gd name="connsiteY22" fmla="*/ 343506 h 537323"/>
                  <a:gd name="connsiteX23" fmla="*/ 153633 w 537323"/>
                  <a:gd name="connsiteY23" fmla="*/ 324175 h 537323"/>
                  <a:gd name="connsiteX24" fmla="*/ 220295 w 537323"/>
                  <a:gd name="connsiteY24" fmla="*/ 390838 h 537323"/>
                  <a:gd name="connsiteX25" fmla="*/ 200964 w 537323"/>
                  <a:gd name="connsiteY25" fmla="*/ 410169 h 537323"/>
                  <a:gd name="connsiteX26" fmla="*/ 134302 w 537323"/>
                  <a:gd name="connsiteY26" fmla="*/ 343506 h 537323"/>
                  <a:gd name="connsiteX27" fmla="*/ 287231 w 537323"/>
                  <a:gd name="connsiteY27" fmla="*/ 478901 h 537323"/>
                  <a:gd name="connsiteX28" fmla="*/ 225606 w 537323"/>
                  <a:gd name="connsiteY28" fmla="*/ 478901 h 537323"/>
                  <a:gd name="connsiteX29" fmla="*/ 225606 w 537323"/>
                  <a:gd name="connsiteY29" fmla="*/ 417276 h 537323"/>
                  <a:gd name="connsiteX30" fmla="*/ 287231 w 537323"/>
                  <a:gd name="connsiteY30" fmla="*/ 417276 h 537323"/>
                  <a:gd name="connsiteX31" fmla="*/ 287231 w 537323"/>
                  <a:gd name="connsiteY31" fmla="*/ 478901 h 537323"/>
                  <a:gd name="connsiteX32" fmla="*/ 287231 w 537323"/>
                  <a:gd name="connsiteY32" fmla="*/ 308593 h 537323"/>
                  <a:gd name="connsiteX33" fmla="*/ 225606 w 537323"/>
                  <a:gd name="connsiteY33" fmla="*/ 308593 h 537323"/>
                  <a:gd name="connsiteX34" fmla="*/ 225606 w 537323"/>
                  <a:gd name="connsiteY34" fmla="*/ 246968 h 537323"/>
                  <a:gd name="connsiteX35" fmla="*/ 287231 w 537323"/>
                  <a:gd name="connsiteY35" fmla="*/ 246968 h 537323"/>
                  <a:gd name="connsiteX36" fmla="*/ 287231 w 537323"/>
                  <a:gd name="connsiteY36" fmla="*/ 308593 h 537323"/>
                  <a:gd name="connsiteX37" fmla="*/ 287231 w 537323"/>
                  <a:gd name="connsiteY37" fmla="*/ 137192 h 537323"/>
                  <a:gd name="connsiteX38" fmla="*/ 225606 w 537323"/>
                  <a:gd name="connsiteY38" fmla="*/ 137192 h 537323"/>
                  <a:gd name="connsiteX39" fmla="*/ 225606 w 537323"/>
                  <a:gd name="connsiteY39" fmla="*/ 75567 h 537323"/>
                  <a:gd name="connsiteX40" fmla="*/ 287231 w 537323"/>
                  <a:gd name="connsiteY40" fmla="*/ 75567 h 537323"/>
                  <a:gd name="connsiteX41" fmla="*/ 287231 w 537323"/>
                  <a:gd name="connsiteY41" fmla="*/ 137192 h 537323"/>
                  <a:gd name="connsiteX42" fmla="*/ 449143 w 537323"/>
                  <a:gd name="connsiteY42" fmla="*/ 475386 h 537323"/>
                  <a:gd name="connsiteX43" fmla="*/ 449143 w 537323"/>
                  <a:gd name="connsiteY43" fmla="*/ 461796 h 537323"/>
                  <a:gd name="connsiteX44" fmla="*/ 322105 w 537323"/>
                  <a:gd name="connsiteY44" fmla="*/ 461796 h 537323"/>
                  <a:gd name="connsiteX45" fmla="*/ 322105 w 537323"/>
                  <a:gd name="connsiteY45" fmla="*/ 434459 h 537323"/>
                  <a:gd name="connsiteX46" fmla="*/ 449143 w 537323"/>
                  <a:gd name="connsiteY46" fmla="*/ 434459 h 537323"/>
                  <a:gd name="connsiteX47" fmla="*/ 449143 w 537323"/>
                  <a:gd name="connsiteY47" fmla="*/ 420869 h 537323"/>
                  <a:gd name="connsiteX48" fmla="*/ 496358 w 537323"/>
                  <a:gd name="connsiteY48" fmla="*/ 448128 h 537323"/>
                  <a:gd name="connsiteX49" fmla="*/ 449143 w 537323"/>
                  <a:gd name="connsiteY49" fmla="*/ 475386 h 537323"/>
                  <a:gd name="connsiteX50" fmla="*/ 449143 w 537323"/>
                  <a:gd name="connsiteY50" fmla="*/ 305039 h 537323"/>
                  <a:gd name="connsiteX51" fmla="*/ 449143 w 537323"/>
                  <a:gd name="connsiteY51" fmla="*/ 291449 h 537323"/>
                  <a:gd name="connsiteX52" fmla="*/ 322105 w 537323"/>
                  <a:gd name="connsiteY52" fmla="*/ 291449 h 537323"/>
                  <a:gd name="connsiteX53" fmla="*/ 322105 w 537323"/>
                  <a:gd name="connsiteY53" fmla="*/ 264112 h 537323"/>
                  <a:gd name="connsiteX54" fmla="*/ 449143 w 537323"/>
                  <a:gd name="connsiteY54" fmla="*/ 264112 h 537323"/>
                  <a:gd name="connsiteX55" fmla="*/ 449143 w 537323"/>
                  <a:gd name="connsiteY55" fmla="*/ 250522 h 537323"/>
                  <a:gd name="connsiteX56" fmla="*/ 496358 w 537323"/>
                  <a:gd name="connsiteY56" fmla="*/ 277781 h 537323"/>
                  <a:gd name="connsiteX57" fmla="*/ 449143 w 537323"/>
                  <a:gd name="connsiteY57" fmla="*/ 305039 h 537323"/>
                  <a:gd name="connsiteX58" fmla="*/ 449143 w 537323"/>
                  <a:gd name="connsiteY58" fmla="*/ 133638 h 537323"/>
                  <a:gd name="connsiteX59" fmla="*/ 449143 w 537323"/>
                  <a:gd name="connsiteY59" fmla="*/ 120047 h 537323"/>
                  <a:gd name="connsiteX60" fmla="*/ 322105 w 537323"/>
                  <a:gd name="connsiteY60" fmla="*/ 120047 h 537323"/>
                  <a:gd name="connsiteX61" fmla="*/ 322105 w 537323"/>
                  <a:gd name="connsiteY61" fmla="*/ 92711 h 537323"/>
                  <a:gd name="connsiteX62" fmla="*/ 449143 w 537323"/>
                  <a:gd name="connsiteY62" fmla="*/ 92711 h 537323"/>
                  <a:gd name="connsiteX63" fmla="*/ 449143 w 537323"/>
                  <a:gd name="connsiteY63" fmla="*/ 79120 h 537323"/>
                  <a:gd name="connsiteX64" fmla="*/ 496358 w 537323"/>
                  <a:gd name="connsiteY64" fmla="*/ 106379 h 537323"/>
                  <a:gd name="connsiteX65" fmla="*/ 449143 w 537323"/>
                  <a:gd name="connsiteY65" fmla="*/ 133638 h 537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37323" h="537323">
                    <a:moveTo>
                      <a:pt x="168355" y="0"/>
                    </a:moveTo>
                    <a:lnTo>
                      <a:pt x="0" y="185968"/>
                    </a:lnTo>
                    <a:lnTo>
                      <a:pt x="0" y="353777"/>
                    </a:lnTo>
                    <a:lnTo>
                      <a:pt x="174877" y="537324"/>
                    </a:lnTo>
                    <a:lnTo>
                      <a:pt x="537324" y="537324"/>
                    </a:lnTo>
                    <a:lnTo>
                      <a:pt x="537324" y="0"/>
                    </a:lnTo>
                    <a:lnTo>
                      <a:pt x="168355" y="0"/>
                    </a:lnTo>
                    <a:close/>
                    <a:moveTo>
                      <a:pt x="200964" y="151680"/>
                    </a:moveTo>
                    <a:lnTo>
                      <a:pt x="220295" y="171011"/>
                    </a:lnTo>
                    <a:lnTo>
                      <a:pt x="153633" y="237674"/>
                    </a:lnTo>
                    <a:lnTo>
                      <a:pt x="134302" y="218343"/>
                    </a:lnTo>
                    <a:lnTo>
                      <a:pt x="200964" y="151680"/>
                    </a:lnTo>
                    <a:close/>
                    <a:moveTo>
                      <a:pt x="204870" y="264151"/>
                    </a:moveTo>
                    <a:lnTo>
                      <a:pt x="204870" y="291488"/>
                    </a:lnTo>
                    <a:lnTo>
                      <a:pt x="153320" y="291488"/>
                    </a:lnTo>
                    <a:lnTo>
                      <a:pt x="153320" y="264151"/>
                    </a:lnTo>
                    <a:lnTo>
                      <a:pt x="204870" y="264151"/>
                    </a:lnTo>
                    <a:close/>
                    <a:moveTo>
                      <a:pt x="117119" y="308632"/>
                    </a:moveTo>
                    <a:cubicBezTo>
                      <a:pt x="100092" y="325659"/>
                      <a:pt x="72521" y="325659"/>
                      <a:pt x="55494" y="308632"/>
                    </a:cubicBezTo>
                    <a:cubicBezTo>
                      <a:pt x="38467" y="291605"/>
                      <a:pt x="38467" y="264034"/>
                      <a:pt x="55494" y="247007"/>
                    </a:cubicBezTo>
                    <a:cubicBezTo>
                      <a:pt x="72521" y="229980"/>
                      <a:pt x="100092" y="229980"/>
                      <a:pt x="117119" y="247007"/>
                    </a:cubicBezTo>
                    <a:cubicBezTo>
                      <a:pt x="134145" y="264034"/>
                      <a:pt x="134145" y="291605"/>
                      <a:pt x="117119" y="308632"/>
                    </a:cubicBezTo>
                    <a:close/>
                    <a:moveTo>
                      <a:pt x="134302" y="343506"/>
                    </a:moveTo>
                    <a:lnTo>
                      <a:pt x="153633" y="324175"/>
                    </a:lnTo>
                    <a:lnTo>
                      <a:pt x="220295" y="390838"/>
                    </a:lnTo>
                    <a:lnTo>
                      <a:pt x="200964" y="410169"/>
                    </a:lnTo>
                    <a:lnTo>
                      <a:pt x="134302" y="343506"/>
                    </a:lnTo>
                    <a:close/>
                    <a:moveTo>
                      <a:pt x="287231" y="478901"/>
                    </a:moveTo>
                    <a:cubicBezTo>
                      <a:pt x="270204" y="495928"/>
                      <a:pt x="242633" y="495928"/>
                      <a:pt x="225606" y="478901"/>
                    </a:cubicBezTo>
                    <a:cubicBezTo>
                      <a:pt x="208580" y="461874"/>
                      <a:pt x="208580" y="434303"/>
                      <a:pt x="225606" y="417276"/>
                    </a:cubicBezTo>
                    <a:cubicBezTo>
                      <a:pt x="242633" y="400249"/>
                      <a:pt x="270204" y="400249"/>
                      <a:pt x="287231" y="417276"/>
                    </a:cubicBezTo>
                    <a:cubicBezTo>
                      <a:pt x="304258" y="434303"/>
                      <a:pt x="304258" y="461874"/>
                      <a:pt x="287231" y="478901"/>
                    </a:cubicBezTo>
                    <a:close/>
                    <a:moveTo>
                      <a:pt x="287231" y="308593"/>
                    </a:moveTo>
                    <a:cubicBezTo>
                      <a:pt x="270204" y="325620"/>
                      <a:pt x="242633" y="325620"/>
                      <a:pt x="225606" y="308593"/>
                    </a:cubicBezTo>
                    <a:cubicBezTo>
                      <a:pt x="208580" y="291566"/>
                      <a:pt x="208580" y="263995"/>
                      <a:pt x="225606" y="246968"/>
                    </a:cubicBezTo>
                    <a:cubicBezTo>
                      <a:pt x="242633" y="229941"/>
                      <a:pt x="270204" y="229941"/>
                      <a:pt x="287231" y="246968"/>
                    </a:cubicBezTo>
                    <a:cubicBezTo>
                      <a:pt x="304258" y="263995"/>
                      <a:pt x="304258" y="291566"/>
                      <a:pt x="287231" y="308593"/>
                    </a:cubicBezTo>
                    <a:close/>
                    <a:moveTo>
                      <a:pt x="287231" y="137192"/>
                    </a:moveTo>
                    <a:cubicBezTo>
                      <a:pt x="270204" y="154218"/>
                      <a:pt x="242633" y="154218"/>
                      <a:pt x="225606" y="137192"/>
                    </a:cubicBezTo>
                    <a:cubicBezTo>
                      <a:pt x="208580" y="120165"/>
                      <a:pt x="208580" y="92594"/>
                      <a:pt x="225606" y="75567"/>
                    </a:cubicBezTo>
                    <a:cubicBezTo>
                      <a:pt x="242633" y="58540"/>
                      <a:pt x="270204" y="58540"/>
                      <a:pt x="287231" y="75567"/>
                    </a:cubicBezTo>
                    <a:cubicBezTo>
                      <a:pt x="304258" y="92594"/>
                      <a:pt x="304258" y="120165"/>
                      <a:pt x="287231" y="137192"/>
                    </a:cubicBezTo>
                    <a:close/>
                    <a:moveTo>
                      <a:pt x="449143" y="475386"/>
                    </a:moveTo>
                    <a:lnTo>
                      <a:pt x="449143" y="461796"/>
                    </a:lnTo>
                    <a:lnTo>
                      <a:pt x="322105" y="461796"/>
                    </a:lnTo>
                    <a:lnTo>
                      <a:pt x="322105" y="434459"/>
                    </a:lnTo>
                    <a:lnTo>
                      <a:pt x="449143" y="434459"/>
                    </a:lnTo>
                    <a:lnTo>
                      <a:pt x="449143" y="420869"/>
                    </a:lnTo>
                    <a:lnTo>
                      <a:pt x="496358" y="448128"/>
                    </a:lnTo>
                    <a:lnTo>
                      <a:pt x="449143" y="475386"/>
                    </a:lnTo>
                    <a:close/>
                    <a:moveTo>
                      <a:pt x="449143" y="305039"/>
                    </a:moveTo>
                    <a:lnTo>
                      <a:pt x="449143" y="291449"/>
                    </a:lnTo>
                    <a:lnTo>
                      <a:pt x="322105" y="291449"/>
                    </a:lnTo>
                    <a:lnTo>
                      <a:pt x="322105" y="264112"/>
                    </a:lnTo>
                    <a:lnTo>
                      <a:pt x="449143" y="264112"/>
                    </a:lnTo>
                    <a:lnTo>
                      <a:pt x="449143" y="250522"/>
                    </a:lnTo>
                    <a:lnTo>
                      <a:pt x="496358" y="277781"/>
                    </a:lnTo>
                    <a:lnTo>
                      <a:pt x="449143" y="305039"/>
                    </a:lnTo>
                    <a:close/>
                    <a:moveTo>
                      <a:pt x="449143" y="133638"/>
                    </a:moveTo>
                    <a:lnTo>
                      <a:pt x="449143" y="120047"/>
                    </a:lnTo>
                    <a:lnTo>
                      <a:pt x="322105" y="120047"/>
                    </a:lnTo>
                    <a:lnTo>
                      <a:pt x="322105" y="92711"/>
                    </a:lnTo>
                    <a:lnTo>
                      <a:pt x="449143" y="92711"/>
                    </a:lnTo>
                    <a:lnTo>
                      <a:pt x="449143" y="79120"/>
                    </a:lnTo>
                    <a:lnTo>
                      <a:pt x="496358" y="106379"/>
                    </a:lnTo>
                    <a:lnTo>
                      <a:pt x="449143" y="133638"/>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48" name="Group 47">
              <a:extLst>
                <a:ext uri="{FF2B5EF4-FFF2-40B4-BE49-F238E27FC236}">
                  <a16:creationId xmlns:a16="http://schemas.microsoft.com/office/drawing/2014/main" id="{F8453336-50AB-DFCE-CDBD-29FE69E465AF}"/>
                </a:ext>
              </a:extLst>
            </p:cNvPr>
            <p:cNvGrpSpPr>
              <a:grpSpLocks noChangeAspect="1"/>
            </p:cNvGrpSpPr>
            <p:nvPr/>
          </p:nvGrpSpPr>
          <p:grpSpPr>
            <a:xfrm>
              <a:off x="1743062" y="1951839"/>
              <a:ext cx="457202" cy="457200"/>
              <a:chOff x="6236527" y="4282407"/>
              <a:chExt cx="615026" cy="615024"/>
            </a:xfrm>
          </p:grpSpPr>
          <p:sp>
            <p:nvSpPr>
              <p:cNvPr id="70" name="Oval 69">
                <a:extLst>
                  <a:ext uri="{FF2B5EF4-FFF2-40B4-BE49-F238E27FC236}">
                    <a16:creationId xmlns:a16="http://schemas.microsoft.com/office/drawing/2014/main" id="{E6F43D4E-35A6-5533-6C28-A6C8C25FFFF3}"/>
                  </a:ext>
                </a:extLst>
              </p:cNvPr>
              <p:cNvSpPr>
                <a:spLocks noChangeAspect="1"/>
              </p:cNvSpPr>
              <p:nvPr/>
            </p:nvSpPr>
            <p:spPr>
              <a:xfrm>
                <a:off x="6236527" y="4282407"/>
                <a:ext cx="615026" cy="615024"/>
              </a:xfrm>
              <a:prstGeom prst="ellipse">
                <a:avLst/>
              </a:pr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nvGrpSpPr>
              <p:cNvPr id="71" name="Group 70">
                <a:extLst>
                  <a:ext uri="{FF2B5EF4-FFF2-40B4-BE49-F238E27FC236}">
                    <a16:creationId xmlns:a16="http://schemas.microsoft.com/office/drawing/2014/main" id="{448F7357-1AB1-DF31-3ABF-C80D1805F780}"/>
                  </a:ext>
                </a:extLst>
              </p:cNvPr>
              <p:cNvGrpSpPr/>
              <p:nvPr/>
            </p:nvGrpSpPr>
            <p:grpSpPr>
              <a:xfrm>
                <a:off x="6341349" y="4462363"/>
                <a:ext cx="395473" cy="299841"/>
                <a:chOff x="3560655" y="2748581"/>
                <a:chExt cx="580548" cy="440165"/>
              </a:xfrm>
            </p:grpSpPr>
            <p:sp>
              <p:nvSpPr>
                <p:cNvPr id="72" name="Freeform: Shape 155">
                  <a:extLst>
                    <a:ext uri="{FF2B5EF4-FFF2-40B4-BE49-F238E27FC236}">
                      <a16:creationId xmlns:a16="http://schemas.microsoft.com/office/drawing/2014/main" id="{9E7E6829-7FE6-F3E6-5074-7A5F70BA0B24}"/>
                    </a:ext>
                  </a:extLst>
                </p:cNvPr>
                <p:cNvSpPr/>
                <p:nvPr/>
              </p:nvSpPr>
              <p:spPr>
                <a:xfrm>
                  <a:off x="3560655" y="2748581"/>
                  <a:ext cx="580548" cy="336411"/>
                </a:xfrm>
                <a:custGeom>
                  <a:avLst/>
                  <a:gdLst>
                    <a:gd name="connsiteX0" fmla="*/ 284140 w 580548"/>
                    <a:gd name="connsiteY0" fmla="*/ 305741 h 336411"/>
                    <a:gd name="connsiteX1" fmla="*/ 134381 w 580548"/>
                    <a:gd name="connsiteY1" fmla="*/ 305741 h 336411"/>
                    <a:gd name="connsiteX2" fmla="*/ 134381 w 580548"/>
                    <a:gd name="connsiteY2" fmla="*/ 234498 h 336411"/>
                    <a:gd name="connsiteX3" fmla="*/ 290450 w 580548"/>
                    <a:gd name="connsiteY3" fmla="*/ 234498 h 336411"/>
                    <a:gd name="connsiteX4" fmla="*/ 290450 w 580548"/>
                    <a:gd name="connsiteY4" fmla="*/ 292597 h 336411"/>
                    <a:gd name="connsiteX5" fmla="*/ 316739 w 580548"/>
                    <a:gd name="connsiteY5" fmla="*/ 238660 h 336411"/>
                    <a:gd name="connsiteX6" fmla="*/ 316739 w 580548"/>
                    <a:gd name="connsiteY6" fmla="*/ 234498 h 336411"/>
                    <a:gd name="connsiteX7" fmla="*/ 318754 w 580548"/>
                    <a:gd name="connsiteY7" fmla="*/ 234498 h 336411"/>
                    <a:gd name="connsiteX8" fmla="*/ 333695 w 580548"/>
                    <a:gd name="connsiteY8" fmla="*/ 203827 h 336411"/>
                    <a:gd name="connsiteX9" fmla="*/ 258421 w 580548"/>
                    <a:gd name="connsiteY9" fmla="*/ 203827 h 336411"/>
                    <a:gd name="connsiteX10" fmla="*/ 258421 w 580548"/>
                    <a:gd name="connsiteY10" fmla="*/ 132584 h 336411"/>
                    <a:gd name="connsiteX11" fmla="*/ 414490 w 580548"/>
                    <a:gd name="connsiteY11" fmla="*/ 132584 h 336411"/>
                    <a:gd name="connsiteX12" fmla="*/ 414490 w 580548"/>
                    <a:gd name="connsiteY12" fmla="*/ 192479 h 336411"/>
                    <a:gd name="connsiteX13" fmla="*/ 440779 w 580548"/>
                    <a:gd name="connsiteY13" fmla="*/ 137973 h 336411"/>
                    <a:gd name="connsiteX14" fmla="*/ 440779 w 580548"/>
                    <a:gd name="connsiteY14" fmla="*/ 132584 h 336411"/>
                    <a:gd name="connsiteX15" fmla="*/ 443364 w 580548"/>
                    <a:gd name="connsiteY15" fmla="*/ 132584 h 336411"/>
                    <a:gd name="connsiteX16" fmla="*/ 458173 w 580548"/>
                    <a:gd name="connsiteY16" fmla="*/ 101914 h 336411"/>
                    <a:gd name="connsiteX17" fmla="*/ 351528 w 580548"/>
                    <a:gd name="connsiteY17" fmla="*/ 101914 h 336411"/>
                    <a:gd name="connsiteX18" fmla="*/ 351528 w 580548"/>
                    <a:gd name="connsiteY18" fmla="*/ 30671 h 336411"/>
                    <a:gd name="connsiteX19" fmla="*/ 507597 w 580548"/>
                    <a:gd name="connsiteY19" fmla="*/ 30671 h 336411"/>
                    <a:gd name="connsiteX20" fmla="*/ 507597 w 580548"/>
                    <a:gd name="connsiteY20" fmla="*/ 101914 h 336411"/>
                    <a:gd name="connsiteX21" fmla="*/ 496643 w 580548"/>
                    <a:gd name="connsiteY21" fmla="*/ 101914 h 336411"/>
                    <a:gd name="connsiteX22" fmla="*/ 506063 w 580548"/>
                    <a:gd name="connsiteY22" fmla="*/ 121324 h 336411"/>
                    <a:gd name="connsiteX23" fmla="*/ 511540 w 580548"/>
                    <a:gd name="connsiteY23" fmla="*/ 132584 h 336411"/>
                    <a:gd name="connsiteX24" fmla="*/ 549834 w 580548"/>
                    <a:gd name="connsiteY24" fmla="*/ 132584 h 336411"/>
                    <a:gd name="connsiteX25" fmla="*/ 549834 w 580548"/>
                    <a:gd name="connsiteY25" fmla="*/ 203827 h 336411"/>
                    <a:gd name="connsiteX26" fmla="*/ 546154 w 580548"/>
                    <a:gd name="connsiteY26" fmla="*/ 203827 h 336411"/>
                    <a:gd name="connsiteX27" fmla="*/ 574984 w 580548"/>
                    <a:gd name="connsiteY27" fmla="*/ 262759 h 336411"/>
                    <a:gd name="connsiteX28" fmla="*/ 580549 w 580548"/>
                    <a:gd name="connsiteY28" fmla="*/ 274326 h 336411"/>
                    <a:gd name="connsiteX29" fmla="*/ 580549 w 580548"/>
                    <a:gd name="connsiteY29" fmla="*/ 0 h 336411"/>
                    <a:gd name="connsiteX30" fmla="*/ 0 w 580548"/>
                    <a:gd name="connsiteY30" fmla="*/ 0 h 336411"/>
                    <a:gd name="connsiteX31" fmla="*/ 0 w 580548"/>
                    <a:gd name="connsiteY31" fmla="*/ 336412 h 336411"/>
                    <a:gd name="connsiteX32" fmla="*/ 275509 w 580548"/>
                    <a:gd name="connsiteY32" fmla="*/ 336412 h 336411"/>
                    <a:gd name="connsiteX33" fmla="*/ 284140 w 580548"/>
                    <a:gd name="connsiteY33" fmla="*/ 305741 h 336411"/>
                    <a:gd name="connsiteX34" fmla="*/ 533886 w 580548"/>
                    <a:gd name="connsiteY34" fmla="*/ 30671 h 336411"/>
                    <a:gd name="connsiteX35" fmla="*/ 549834 w 580548"/>
                    <a:gd name="connsiteY35" fmla="*/ 30671 h 336411"/>
                    <a:gd name="connsiteX36" fmla="*/ 549834 w 580548"/>
                    <a:gd name="connsiteY36" fmla="*/ 101914 h 336411"/>
                    <a:gd name="connsiteX37" fmla="*/ 533886 w 580548"/>
                    <a:gd name="connsiteY37" fmla="*/ 101914 h 336411"/>
                    <a:gd name="connsiteX38" fmla="*/ 533886 w 580548"/>
                    <a:gd name="connsiteY38" fmla="*/ 30671 h 336411"/>
                    <a:gd name="connsiteX39" fmla="*/ 232132 w 580548"/>
                    <a:gd name="connsiteY39" fmla="*/ 203827 h 336411"/>
                    <a:gd name="connsiteX40" fmla="*/ 76063 w 580548"/>
                    <a:gd name="connsiteY40" fmla="*/ 203827 h 336411"/>
                    <a:gd name="connsiteX41" fmla="*/ 76063 w 580548"/>
                    <a:gd name="connsiteY41" fmla="*/ 132584 h 336411"/>
                    <a:gd name="connsiteX42" fmla="*/ 232132 w 580548"/>
                    <a:gd name="connsiteY42" fmla="*/ 132584 h 336411"/>
                    <a:gd name="connsiteX43" fmla="*/ 232132 w 580548"/>
                    <a:gd name="connsiteY43" fmla="*/ 203827 h 336411"/>
                    <a:gd name="connsiteX44" fmla="*/ 169170 w 580548"/>
                    <a:gd name="connsiteY44" fmla="*/ 30671 h 336411"/>
                    <a:gd name="connsiteX45" fmla="*/ 325239 w 580548"/>
                    <a:gd name="connsiteY45" fmla="*/ 30671 h 336411"/>
                    <a:gd name="connsiteX46" fmla="*/ 325239 w 580548"/>
                    <a:gd name="connsiteY46" fmla="*/ 101914 h 336411"/>
                    <a:gd name="connsiteX47" fmla="*/ 169170 w 580548"/>
                    <a:gd name="connsiteY47" fmla="*/ 101914 h 336411"/>
                    <a:gd name="connsiteX48" fmla="*/ 169170 w 580548"/>
                    <a:gd name="connsiteY48" fmla="*/ 30671 h 336411"/>
                    <a:gd name="connsiteX49" fmla="*/ 30671 w 580548"/>
                    <a:gd name="connsiteY49" fmla="*/ 30671 h 336411"/>
                    <a:gd name="connsiteX50" fmla="*/ 142881 w 580548"/>
                    <a:gd name="connsiteY50" fmla="*/ 30671 h 336411"/>
                    <a:gd name="connsiteX51" fmla="*/ 142881 w 580548"/>
                    <a:gd name="connsiteY51" fmla="*/ 101914 h 336411"/>
                    <a:gd name="connsiteX52" fmla="*/ 30671 w 580548"/>
                    <a:gd name="connsiteY52" fmla="*/ 101914 h 336411"/>
                    <a:gd name="connsiteX53" fmla="*/ 30671 w 580548"/>
                    <a:gd name="connsiteY53" fmla="*/ 30671 h 336411"/>
                    <a:gd name="connsiteX54" fmla="*/ 30671 w 580548"/>
                    <a:gd name="connsiteY54" fmla="*/ 132584 h 336411"/>
                    <a:gd name="connsiteX55" fmla="*/ 49774 w 580548"/>
                    <a:gd name="connsiteY55" fmla="*/ 132584 h 336411"/>
                    <a:gd name="connsiteX56" fmla="*/ 49774 w 580548"/>
                    <a:gd name="connsiteY56" fmla="*/ 203827 h 336411"/>
                    <a:gd name="connsiteX57" fmla="*/ 30671 w 580548"/>
                    <a:gd name="connsiteY57" fmla="*/ 203827 h 336411"/>
                    <a:gd name="connsiteX58" fmla="*/ 30671 w 580548"/>
                    <a:gd name="connsiteY58" fmla="*/ 132584 h 336411"/>
                    <a:gd name="connsiteX59" fmla="*/ 108092 w 580548"/>
                    <a:gd name="connsiteY59" fmla="*/ 305741 h 336411"/>
                    <a:gd name="connsiteX60" fmla="*/ 30671 w 580548"/>
                    <a:gd name="connsiteY60" fmla="*/ 305741 h 336411"/>
                    <a:gd name="connsiteX61" fmla="*/ 30671 w 580548"/>
                    <a:gd name="connsiteY61" fmla="*/ 234498 h 336411"/>
                    <a:gd name="connsiteX62" fmla="*/ 108092 w 580548"/>
                    <a:gd name="connsiteY62" fmla="*/ 234498 h 336411"/>
                    <a:gd name="connsiteX63" fmla="*/ 108092 w 580548"/>
                    <a:gd name="connsiteY63" fmla="*/ 305741 h 33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80548" h="336411">
                      <a:moveTo>
                        <a:pt x="284140" y="305741"/>
                      </a:moveTo>
                      <a:lnTo>
                        <a:pt x="134381" y="305741"/>
                      </a:lnTo>
                      <a:lnTo>
                        <a:pt x="134381" y="234498"/>
                      </a:lnTo>
                      <a:lnTo>
                        <a:pt x="290450" y="234498"/>
                      </a:lnTo>
                      <a:lnTo>
                        <a:pt x="290450" y="292597"/>
                      </a:lnTo>
                      <a:cubicBezTo>
                        <a:pt x="295445" y="282432"/>
                        <a:pt x="305829" y="261094"/>
                        <a:pt x="316739" y="238660"/>
                      </a:cubicBezTo>
                      <a:lnTo>
                        <a:pt x="316739" y="234498"/>
                      </a:lnTo>
                      <a:lnTo>
                        <a:pt x="318754" y="234498"/>
                      </a:lnTo>
                      <a:cubicBezTo>
                        <a:pt x="323837" y="224026"/>
                        <a:pt x="329007" y="213467"/>
                        <a:pt x="333695" y="203827"/>
                      </a:cubicBezTo>
                      <a:lnTo>
                        <a:pt x="258421" y="203827"/>
                      </a:lnTo>
                      <a:lnTo>
                        <a:pt x="258421" y="132584"/>
                      </a:lnTo>
                      <a:lnTo>
                        <a:pt x="414490" y="132584"/>
                      </a:lnTo>
                      <a:lnTo>
                        <a:pt x="414490" y="192479"/>
                      </a:lnTo>
                      <a:lnTo>
                        <a:pt x="440779" y="137973"/>
                      </a:lnTo>
                      <a:lnTo>
                        <a:pt x="440779" y="132584"/>
                      </a:lnTo>
                      <a:lnTo>
                        <a:pt x="443364" y="132584"/>
                      </a:lnTo>
                      <a:lnTo>
                        <a:pt x="458173" y="101914"/>
                      </a:lnTo>
                      <a:lnTo>
                        <a:pt x="351528" y="101914"/>
                      </a:lnTo>
                      <a:lnTo>
                        <a:pt x="351528" y="30671"/>
                      </a:lnTo>
                      <a:lnTo>
                        <a:pt x="507597" y="30671"/>
                      </a:lnTo>
                      <a:lnTo>
                        <a:pt x="507597" y="101914"/>
                      </a:lnTo>
                      <a:lnTo>
                        <a:pt x="496643" y="101914"/>
                      </a:lnTo>
                      <a:lnTo>
                        <a:pt x="506063" y="121324"/>
                      </a:lnTo>
                      <a:cubicBezTo>
                        <a:pt x="507728" y="124785"/>
                        <a:pt x="509568" y="128597"/>
                        <a:pt x="511540" y="132584"/>
                      </a:cubicBezTo>
                      <a:lnTo>
                        <a:pt x="549834" y="132584"/>
                      </a:lnTo>
                      <a:lnTo>
                        <a:pt x="549834" y="203827"/>
                      </a:lnTo>
                      <a:lnTo>
                        <a:pt x="546154" y="203827"/>
                      </a:lnTo>
                      <a:cubicBezTo>
                        <a:pt x="559079" y="230379"/>
                        <a:pt x="570559" y="253908"/>
                        <a:pt x="574984" y="262759"/>
                      </a:cubicBezTo>
                      <a:cubicBezTo>
                        <a:pt x="577044" y="266527"/>
                        <a:pt x="578840" y="270382"/>
                        <a:pt x="580549" y="274326"/>
                      </a:cubicBezTo>
                      <a:lnTo>
                        <a:pt x="580549" y="0"/>
                      </a:lnTo>
                      <a:lnTo>
                        <a:pt x="0" y="0"/>
                      </a:lnTo>
                      <a:lnTo>
                        <a:pt x="0" y="336412"/>
                      </a:lnTo>
                      <a:lnTo>
                        <a:pt x="275509" y="336412"/>
                      </a:lnTo>
                      <a:cubicBezTo>
                        <a:pt x="277042" y="325852"/>
                        <a:pt x="279978" y="315512"/>
                        <a:pt x="284140" y="305741"/>
                      </a:cubicBezTo>
                      <a:close/>
                      <a:moveTo>
                        <a:pt x="533886" y="30671"/>
                      </a:moveTo>
                      <a:lnTo>
                        <a:pt x="549834" y="30671"/>
                      </a:lnTo>
                      <a:lnTo>
                        <a:pt x="549834" y="101914"/>
                      </a:lnTo>
                      <a:lnTo>
                        <a:pt x="533886" y="101914"/>
                      </a:lnTo>
                      <a:lnTo>
                        <a:pt x="533886" y="30671"/>
                      </a:lnTo>
                      <a:close/>
                      <a:moveTo>
                        <a:pt x="232132" y="203827"/>
                      </a:moveTo>
                      <a:lnTo>
                        <a:pt x="76063" y="203827"/>
                      </a:lnTo>
                      <a:lnTo>
                        <a:pt x="76063" y="132584"/>
                      </a:lnTo>
                      <a:lnTo>
                        <a:pt x="232132" y="132584"/>
                      </a:lnTo>
                      <a:lnTo>
                        <a:pt x="232132" y="203827"/>
                      </a:lnTo>
                      <a:close/>
                      <a:moveTo>
                        <a:pt x="169170" y="30671"/>
                      </a:moveTo>
                      <a:lnTo>
                        <a:pt x="325239" y="30671"/>
                      </a:lnTo>
                      <a:lnTo>
                        <a:pt x="325239" y="101914"/>
                      </a:lnTo>
                      <a:lnTo>
                        <a:pt x="169170" y="101914"/>
                      </a:lnTo>
                      <a:lnTo>
                        <a:pt x="169170" y="30671"/>
                      </a:lnTo>
                      <a:close/>
                      <a:moveTo>
                        <a:pt x="30671" y="30671"/>
                      </a:moveTo>
                      <a:lnTo>
                        <a:pt x="142881" y="30671"/>
                      </a:lnTo>
                      <a:lnTo>
                        <a:pt x="142881" y="101914"/>
                      </a:lnTo>
                      <a:lnTo>
                        <a:pt x="30671" y="101914"/>
                      </a:lnTo>
                      <a:lnTo>
                        <a:pt x="30671" y="30671"/>
                      </a:lnTo>
                      <a:close/>
                      <a:moveTo>
                        <a:pt x="30671" y="132584"/>
                      </a:moveTo>
                      <a:lnTo>
                        <a:pt x="49774" y="132584"/>
                      </a:lnTo>
                      <a:lnTo>
                        <a:pt x="49774" y="203827"/>
                      </a:lnTo>
                      <a:lnTo>
                        <a:pt x="30671" y="203827"/>
                      </a:lnTo>
                      <a:lnTo>
                        <a:pt x="30671" y="132584"/>
                      </a:lnTo>
                      <a:close/>
                      <a:moveTo>
                        <a:pt x="108092" y="305741"/>
                      </a:moveTo>
                      <a:lnTo>
                        <a:pt x="30671" y="305741"/>
                      </a:lnTo>
                      <a:lnTo>
                        <a:pt x="30671" y="234498"/>
                      </a:lnTo>
                      <a:lnTo>
                        <a:pt x="108092" y="234498"/>
                      </a:lnTo>
                      <a:lnTo>
                        <a:pt x="108092" y="305741"/>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3" name="Freeform: Shape 156">
                  <a:extLst>
                    <a:ext uri="{FF2B5EF4-FFF2-40B4-BE49-F238E27FC236}">
                      <a16:creationId xmlns:a16="http://schemas.microsoft.com/office/drawing/2014/main" id="{DA865292-8ED3-0902-DC18-15086D3D2BC7}"/>
                    </a:ext>
                  </a:extLst>
                </p:cNvPr>
                <p:cNvSpPr/>
                <p:nvPr/>
              </p:nvSpPr>
              <p:spPr>
                <a:xfrm>
                  <a:off x="3866603" y="2883794"/>
                  <a:ext cx="254911" cy="304952"/>
                </a:xfrm>
                <a:custGeom>
                  <a:avLst/>
                  <a:gdLst>
                    <a:gd name="connsiteX0" fmla="*/ 240819 w 254911"/>
                    <a:gd name="connsiteY0" fmla="*/ 142311 h 304952"/>
                    <a:gd name="connsiteX1" fmla="*/ 171504 w 254911"/>
                    <a:gd name="connsiteY1" fmla="*/ 0 h 304952"/>
                    <a:gd name="connsiteX2" fmla="*/ 113274 w 254911"/>
                    <a:gd name="connsiteY2" fmla="*/ 120710 h 304952"/>
                    <a:gd name="connsiteX3" fmla="*/ 104730 w 254911"/>
                    <a:gd name="connsiteY3" fmla="*/ 126450 h 304952"/>
                    <a:gd name="connsiteX4" fmla="*/ 96186 w 254911"/>
                    <a:gd name="connsiteY4" fmla="*/ 120710 h 304952"/>
                    <a:gd name="connsiteX5" fmla="*/ 66786 w 254911"/>
                    <a:gd name="connsiteY5" fmla="*/ 61078 h 304952"/>
                    <a:gd name="connsiteX6" fmla="*/ 11404 w 254911"/>
                    <a:gd name="connsiteY6" fmla="*/ 174822 h 304952"/>
                    <a:gd name="connsiteX7" fmla="*/ 12 w 254911"/>
                    <a:gd name="connsiteY7" fmla="*/ 221485 h 304952"/>
                    <a:gd name="connsiteX8" fmla="*/ 66392 w 254911"/>
                    <a:gd name="connsiteY8" fmla="*/ 304952 h 304952"/>
                    <a:gd name="connsiteX9" fmla="*/ 102802 w 254911"/>
                    <a:gd name="connsiteY9" fmla="*/ 304952 h 304952"/>
                    <a:gd name="connsiteX10" fmla="*/ 75549 w 254911"/>
                    <a:gd name="connsiteY10" fmla="*/ 196116 h 304952"/>
                    <a:gd name="connsiteX11" fmla="*/ 115070 w 254911"/>
                    <a:gd name="connsiteY11" fmla="*/ 225341 h 304952"/>
                    <a:gd name="connsiteX12" fmla="*/ 169007 w 254911"/>
                    <a:gd name="connsiteY12" fmla="*/ 140953 h 304952"/>
                    <a:gd name="connsiteX13" fmla="*/ 169007 w 254911"/>
                    <a:gd name="connsiteY13" fmla="*/ 139200 h 304952"/>
                    <a:gd name="connsiteX14" fmla="*/ 164581 w 254911"/>
                    <a:gd name="connsiteY14" fmla="*/ 304952 h 304952"/>
                    <a:gd name="connsiteX15" fmla="*/ 171373 w 254911"/>
                    <a:gd name="connsiteY15" fmla="*/ 304952 h 304952"/>
                    <a:gd name="connsiteX16" fmla="*/ 254884 w 254911"/>
                    <a:gd name="connsiteY16" fmla="*/ 200848 h 304952"/>
                    <a:gd name="connsiteX17" fmla="*/ 240776 w 254911"/>
                    <a:gd name="connsiteY17" fmla="*/ 142355 h 304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4911" h="304952">
                      <a:moveTo>
                        <a:pt x="240819" y="142311"/>
                      </a:moveTo>
                      <a:cubicBezTo>
                        <a:pt x="231794" y="124259"/>
                        <a:pt x="189731" y="37637"/>
                        <a:pt x="171504" y="0"/>
                      </a:cubicBezTo>
                      <a:lnTo>
                        <a:pt x="113274" y="120710"/>
                      </a:lnTo>
                      <a:cubicBezTo>
                        <a:pt x="111521" y="124259"/>
                        <a:pt x="108279" y="126450"/>
                        <a:pt x="104730" y="126450"/>
                      </a:cubicBezTo>
                      <a:cubicBezTo>
                        <a:pt x="101181" y="126450"/>
                        <a:pt x="97939" y="124259"/>
                        <a:pt x="96186" y="120710"/>
                      </a:cubicBezTo>
                      <a:lnTo>
                        <a:pt x="66786" y="61078"/>
                      </a:lnTo>
                      <a:cubicBezTo>
                        <a:pt x="51101" y="93370"/>
                        <a:pt x="18546" y="160231"/>
                        <a:pt x="11404" y="174822"/>
                      </a:cubicBezTo>
                      <a:cubicBezTo>
                        <a:pt x="3736" y="188755"/>
                        <a:pt x="-251" y="204967"/>
                        <a:pt x="12" y="221485"/>
                      </a:cubicBezTo>
                      <a:cubicBezTo>
                        <a:pt x="12" y="267228"/>
                        <a:pt x="30683" y="304952"/>
                        <a:pt x="66392" y="304952"/>
                      </a:cubicBezTo>
                      <a:lnTo>
                        <a:pt x="102802" y="304952"/>
                      </a:lnTo>
                      <a:cubicBezTo>
                        <a:pt x="62142" y="268060"/>
                        <a:pt x="66567" y="213072"/>
                        <a:pt x="75549" y="196116"/>
                      </a:cubicBezTo>
                      <a:cubicBezTo>
                        <a:pt x="75549" y="196116"/>
                        <a:pt x="95704" y="224990"/>
                        <a:pt x="115070" y="225341"/>
                      </a:cubicBezTo>
                      <a:cubicBezTo>
                        <a:pt x="142367" y="225823"/>
                        <a:pt x="156213" y="197869"/>
                        <a:pt x="169007" y="140953"/>
                      </a:cubicBezTo>
                      <a:lnTo>
                        <a:pt x="169007" y="139200"/>
                      </a:lnTo>
                      <a:cubicBezTo>
                        <a:pt x="193061" y="157471"/>
                        <a:pt x="220139" y="242297"/>
                        <a:pt x="164581" y="304952"/>
                      </a:cubicBezTo>
                      <a:lnTo>
                        <a:pt x="171373" y="304952"/>
                      </a:lnTo>
                      <a:cubicBezTo>
                        <a:pt x="217466" y="304952"/>
                        <a:pt x="254884" y="258289"/>
                        <a:pt x="254884" y="200848"/>
                      </a:cubicBezTo>
                      <a:cubicBezTo>
                        <a:pt x="255322" y="180167"/>
                        <a:pt x="250415" y="159793"/>
                        <a:pt x="240776" y="142355"/>
                      </a:cubicBez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grpSp>
          <p:nvGrpSpPr>
            <p:cNvPr id="49" name="Group 48">
              <a:extLst>
                <a:ext uri="{FF2B5EF4-FFF2-40B4-BE49-F238E27FC236}">
                  <a16:creationId xmlns:a16="http://schemas.microsoft.com/office/drawing/2014/main" id="{24242136-7E36-F19B-FF67-EB63A9694C1A}"/>
                </a:ext>
              </a:extLst>
            </p:cNvPr>
            <p:cNvGrpSpPr>
              <a:grpSpLocks noChangeAspect="1"/>
            </p:cNvGrpSpPr>
            <p:nvPr/>
          </p:nvGrpSpPr>
          <p:grpSpPr>
            <a:xfrm>
              <a:off x="4155074" y="1951839"/>
              <a:ext cx="457202" cy="457200"/>
              <a:chOff x="4686723" y="1587682"/>
              <a:chExt cx="547621" cy="547619"/>
            </a:xfrm>
          </p:grpSpPr>
          <p:sp>
            <p:nvSpPr>
              <p:cNvPr id="68" name="Oval 67">
                <a:extLst>
                  <a:ext uri="{FF2B5EF4-FFF2-40B4-BE49-F238E27FC236}">
                    <a16:creationId xmlns:a16="http://schemas.microsoft.com/office/drawing/2014/main" id="{9D2D3BEB-B219-1636-49B3-BBF38938C6F4}"/>
                  </a:ext>
                </a:extLst>
              </p:cNvPr>
              <p:cNvSpPr>
                <a:spLocks noChangeAspect="1"/>
              </p:cNvSpPr>
              <p:nvPr/>
            </p:nvSpPr>
            <p:spPr>
              <a:xfrm>
                <a:off x="4686723" y="1587682"/>
                <a:ext cx="547621" cy="547619"/>
              </a:xfrm>
              <a:prstGeom prst="ellipse">
                <a:avLst/>
              </a:pr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9" name="Google Shape;3149;p83">
                <a:extLst>
                  <a:ext uri="{FF2B5EF4-FFF2-40B4-BE49-F238E27FC236}">
                    <a16:creationId xmlns:a16="http://schemas.microsoft.com/office/drawing/2014/main" id="{308A667E-FB0E-623A-28E6-226204121695}"/>
                  </a:ext>
                </a:extLst>
              </p:cNvPr>
              <p:cNvSpPr>
                <a:spLocks noChangeAspect="1"/>
              </p:cNvSpPr>
              <p:nvPr/>
            </p:nvSpPr>
            <p:spPr>
              <a:xfrm>
                <a:off x="4775072" y="1678710"/>
                <a:ext cx="365562" cy="365562"/>
              </a:xfrm>
              <a:custGeom>
                <a:avLst/>
                <a:gdLst/>
                <a:ahLst/>
                <a:cxnLst/>
                <a:rect l="l" t="t" r="r" b="b"/>
                <a:pathLst>
                  <a:path w="584492" h="584492" extrusionOk="0">
                    <a:moveTo>
                      <a:pt x="292246" y="0"/>
                    </a:moveTo>
                    <a:cubicBezTo>
                      <a:pt x="130832" y="0"/>
                      <a:pt x="0" y="130832"/>
                      <a:pt x="0" y="292246"/>
                    </a:cubicBezTo>
                    <a:cubicBezTo>
                      <a:pt x="0" y="453661"/>
                      <a:pt x="130832" y="584492"/>
                      <a:pt x="292246" y="584492"/>
                    </a:cubicBezTo>
                    <a:cubicBezTo>
                      <a:pt x="453661" y="584492"/>
                      <a:pt x="584492" y="453661"/>
                      <a:pt x="584492" y="292246"/>
                    </a:cubicBezTo>
                    <a:cubicBezTo>
                      <a:pt x="584492" y="130832"/>
                      <a:pt x="453617" y="0"/>
                      <a:pt x="292246" y="0"/>
                    </a:cubicBezTo>
                    <a:close/>
                    <a:moveTo>
                      <a:pt x="172982" y="333520"/>
                    </a:moveTo>
                    <a:lnTo>
                      <a:pt x="172982" y="307581"/>
                    </a:lnTo>
                    <a:lnTo>
                      <a:pt x="59895" y="307581"/>
                    </a:lnTo>
                    <a:lnTo>
                      <a:pt x="59895" y="276911"/>
                    </a:lnTo>
                    <a:lnTo>
                      <a:pt x="172982" y="276911"/>
                    </a:lnTo>
                    <a:lnTo>
                      <a:pt x="172982" y="250972"/>
                    </a:lnTo>
                    <a:lnTo>
                      <a:pt x="244488" y="292246"/>
                    </a:lnTo>
                    <a:lnTo>
                      <a:pt x="172982" y="333520"/>
                    </a:lnTo>
                    <a:close/>
                    <a:moveTo>
                      <a:pt x="292246" y="519646"/>
                    </a:moveTo>
                    <a:lnTo>
                      <a:pt x="250972" y="448140"/>
                    </a:lnTo>
                    <a:lnTo>
                      <a:pt x="276911" y="448140"/>
                    </a:lnTo>
                    <a:lnTo>
                      <a:pt x="276911" y="335053"/>
                    </a:lnTo>
                    <a:lnTo>
                      <a:pt x="307581" y="335053"/>
                    </a:lnTo>
                    <a:lnTo>
                      <a:pt x="307581" y="448140"/>
                    </a:lnTo>
                    <a:lnTo>
                      <a:pt x="333520" y="448140"/>
                    </a:lnTo>
                    <a:lnTo>
                      <a:pt x="292246" y="519646"/>
                    </a:lnTo>
                    <a:close/>
                    <a:moveTo>
                      <a:pt x="307581" y="136352"/>
                    </a:moveTo>
                    <a:lnTo>
                      <a:pt x="307581" y="249439"/>
                    </a:lnTo>
                    <a:lnTo>
                      <a:pt x="276911" y="249439"/>
                    </a:lnTo>
                    <a:lnTo>
                      <a:pt x="276911" y="136352"/>
                    </a:lnTo>
                    <a:lnTo>
                      <a:pt x="250972" y="136352"/>
                    </a:lnTo>
                    <a:lnTo>
                      <a:pt x="292246" y="64846"/>
                    </a:lnTo>
                    <a:lnTo>
                      <a:pt x="333520" y="136352"/>
                    </a:lnTo>
                    <a:lnTo>
                      <a:pt x="307581" y="136352"/>
                    </a:lnTo>
                    <a:close/>
                    <a:moveTo>
                      <a:pt x="411511" y="307581"/>
                    </a:moveTo>
                    <a:lnTo>
                      <a:pt x="411511" y="333520"/>
                    </a:lnTo>
                    <a:lnTo>
                      <a:pt x="340004" y="292246"/>
                    </a:lnTo>
                    <a:lnTo>
                      <a:pt x="411511" y="250972"/>
                    </a:lnTo>
                    <a:lnTo>
                      <a:pt x="411511" y="276911"/>
                    </a:lnTo>
                    <a:lnTo>
                      <a:pt x="524597" y="276911"/>
                    </a:lnTo>
                    <a:lnTo>
                      <a:pt x="524597" y="307581"/>
                    </a:lnTo>
                    <a:lnTo>
                      <a:pt x="411511" y="307581"/>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mn-ea"/>
                  <a:cs typeface="+mn-cs"/>
                  <a:sym typeface="Arial"/>
                </a:endParaRPr>
              </a:p>
            </p:txBody>
          </p:sp>
        </p:grpSp>
        <p:grpSp>
          <p:nvGrpSpPr>
            <p:cNvPr id="50" name="Group 49">
              <a:extLst>
                <a:ext uri="{FF2B5EF4-FFF2-40B4-BE49-F238E27FC236}">
                  <a16:creationId xmlns:a16="http://schemas.microsoft.com/office/drawing/2014/main" id="{3A1B049E-1B18-76DD-68F7-CC932E06014F}"/>
                </a:ext>
              </a:extLst>
            </p:cNvPr>
            <p:cNvGrpSpPr>
              <a:grpSpLocks noChangeAspect="1"/>
            </p:cNvGrpSpPr>
            <p:nvPr/>
          </p:nvGrpSpPr>
          <p:grpSpPr>
            <a:xfrm>
              <a:off x="3351070" y="1951839"/>
              <a:ext cx="457202" cy="457200"/>
              <a:chOff x="5341314" y="5151711"/>
              <a:chExt cx="547621" cy="547619"/>
            </a:xfrm>
          </p:grpSpPr>
          <p:sp>
            <p:nvSpPr>
              <p:cNvPr id="61" name="Oval 60">
                <a:extLst>
                  <a:ext uri="{FF2B5EF4-FFF2-40B4-BE49-F238E27FC236}">
                    <a16:creationId xmlns:a16="http://schemas.microsoft.com/office/drawing/2014/main" id="{FADFA5A7-A798-2BA9-F80E-67E9EEC6A20C}"/>
                  </a:ext>
                </a:extLst>
              </p:cNvPr>
              <p:cNvSpPr>
                <a:spLocks noChangeAspect="1"/>
              </p:cNvSpPr>
              <p:nvPr/>
            </p:nvSpPr>
            <p:spPr>
              <a:xfrm>
                <a:off x="5341314" y="5151711"/>
                <a:ext cx="547621" cy="547619"/>
              </a:xfrm>
              <a:prstGeom prst="ellipse">
                <a:avLst/>
              </a:pr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nvGrpSpPr>
              <p:cNvPr id="62" name="Group 61">
                <a:extLst>
                  <a:ext uri="{FF2B5EF4-FFF2-40B4-BE49-F238E27FC236}">
                    <a16:creationId xmlns:a16="http://schemas.microsoft.com/office/drawing/2014/main" id="{4EB22095-2811-8EF0-6DFF-312490BB0C28}"/>
                  </a:ext>
                </a:extLst>
              </p:cNvPr>
              <p:cNvGrpSpPr/>
              <p:nvPr/>
            </p:nvGrpSpPr>
            <p:grpSpPr>
              <a:xfrm>
                <a:off x="5475978" y="5286375"/>
                <a:ext cx="278292" cy="278290"/>
                <a:chOff x="7453826" y="4235509"/>
                <a:chExt cx="199845" cy="199844"/>
              </a:xfrm>
              <a:solidFill>
                <a:schemeClr val="bg1"/>
              </a:solidFill>
            </p:grpSpPr>
            <p:sp>
              <p:nvSpPr>
                <p:cNvPr id="63" name="Freeform: Shape 110">
                  <a:extLst>
                    <a:ext uri="{FF2B5EF4-FFF2-40B4-BE49-F238E27FC236}">
                      <a16:creationId xmlns:a16="http://schemas.microsoft.com/office/drawing/2014/main" id="{FE3128DE-0DF4-B806-E26D-ECDA59AC2263}"/>
                    </a:ext>
                  </a:extLst>
                </p:cNvPr>
                <p:cNvSpPr/>
                <p:nvPr/>
              </p:nvSpPr>
              <p:spPr>
                <a:xfrm>
                  <a:off x="7453826" y="4235509"/>
                  <a:ext cx="199845" cy="199844"/>
                </a:xfrm>
                <a:custGeom>
                  <a:avLst/>
                  <a:gdLst>
                    <a:gd name="connsiteX0" fmla="*/ 539067 w 539067"/>
                    <a:gd name="connsiteY0" fmla="*/ 539067 h 539067"/>
                    <a:gd name="connsiteX1" fmla="*/ 366846 w 539067"/>
                    <a:gd name="connsiteY1" fmla="*/ 539067 h 539067"/>
                    <a:gd name="connsiteX2" fmla="*/ 366846 w 539067"/>
                    <a:gd name="connsiteY2" fmla="*/ 511064 h 539067"/>
                    <a:gd name="connsiteX3" fmla="*/ 511064 w 539067"/>
                    <a:gd name="connsiteY3" fmla="*/ 511064 h 539067"/>
                    <a:gd name="connsiteX4" fmla="*/ 511064 w 539067"/>
                    <a:gd name="connsiteY4" fmla="*/ 28004 h 539067"/>
                    <a:gd name="connsiteX5" fmla="*/ 28004 w 539067"/>
                    <a:gd name="connsiteY5" fmla="*/ 28004 h 539067"/>
                    <a:gd name="connsiteX6" fmla="*/ 28004 w 539067"/>
                    <a:gd name="connsiteY6" fmla="*/ 511064 h 539067"/>
                    <a:gd name="connsiteX7" fmla="*/ 173462 w 539067"/>
                    <a:gd name="connsiteY7" fmla="*/ 511064 h 539067"/>
                    <a:gd name="connsiteX8" fmla="*/ 173462 w 539067"/>
                    <a:gd name="connsiteY8" fmla="*/ 539067 h 539067"/>
                    <a:gd name="connsiteX9" fmla="*/ 0 w 539067"/>
                    <a:gd name="connsiteY9" fmla="*/ 539067 h 539067"/>
                    <a:gd name="connsiteX10" fmla="*/ 0 w 539067"/>
                    <a:gd name="connsiteY10" fmla="*/ 0 h 539067"/>
                    <a:gd name="connsiteX11" fmla="*/ 539067 w 539067"/>
                    <a:gd name="connsiteY11" fmla="*/ 0 h 539067"/>
                    <a:gd name="connsiteX12" fmla="*/ 539067 w 539067"/>
                    <a:gd name="connsiteY12" fmla="*/ 539067 h 539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67" h="539067">
                      <a:moveTo>
                        <a:pt x="539067" y="539067"/>
                      </a:moveTo>
                      <a:lnTo>
                        <a:pt x="366846" y="539067"/>
                      </a:lnTo>
                      <a:lnTo>
                        <a:pt x="366846" y="511064"/>
                      </a:lnTo>
                      <a:lnTo>
                        <a:pt x="511064" y="511064"/>
                      </a:lnTo>
                      <a:lnTo>
                        <a:pt x="511064" y="28004"/>
                      </a:lnTo>
                      <a:lnTo>
                        <a:pt x="28004" y="28004"/>
                      </a:lnTo>
                      <a:lnTo>
                        <a:pt x="28004" y="511064"/>
                      </a:lnTo>
                      <a:lnTo>
                        <a:pt x="173462" y="511064"/>
                      </a:lnTo>
                      <a:lnTo>
                        <a:pt x="173462" y="539067"/>
                      </a:lnTo>
                      <a:lnTo>
                        <a:pt x="0" y="539067"/>
                      </a:lnTo>
                      <a:lnTo>
                        <a:pt x="0" y="0"/>
                      </a:lnTo>
                      <a:lnTo>
                        <a:pt x="539067" y="0"/>
                      </a:lnTo>
                      <a:lnTo>
                        <a:pt x="539067" y="539067"/>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4" name="Freeform: Shape 115">
                  <a:extLst>
                    <a:ext uri="{FF2B5EF4-FFF2-40B4-BE49-F238E27FC236}">
                      <a16:creationId xmlns:a16="http://schemas.microsoft.com/office/drawing/2014/main" id="{7BF4BA90-9463-FDA8-1E2E-39784AC9EA32}"/>
                    </a:ext>
                  </a:extLst>
                </p:cNvPr>
                <p:cNvSpPr/>
                <p:nvPr/>
              </p:nvSpPr>
              <p:spPr>
                <a:xfrm>
                  <a:off x="7491571" y="4315610"/>
                  <a:ext cx="51745" cy="27941"/>
                </a:xfrm>
                <a:custGeom>
                  <a:avLst/>
                  <a:gdLst>
                    <a:gd name="connsiteX0" fmla="*/ 74289 w 139577"/>
                    <a:gd name="connsiteY0" fmla="*/ 23683 h 75369"/>
                    <a:gd name="connsiteX1" fmla="*/ 0 w 139577"/>
                    <a:gd name="connsiteY1" fmla="*/ 23683 h 75369"/>
                    <a:gd name="connsiteX2" fmla="*/ 0 w 139577"/>
                    <a:gd name="connsiteY2" fmla="*/ 51686 h 75369"/>
                    <a:gd name="connsiteX3" fmla="*/ 74289 w 139577"/>
                    <a:gd name="connsiteY3" fmla="*/ 51686 h 75369"/>
                    <a:gd name="connsiteX4" fmla="*/ 74289 w 139577"/>
                    <a:gd name="connsiteY4" fmla="*/ 75369 h 75369"/>
                    <a:gd name="connsiteX5" fmla="*/ 139577 w 139577"/>
                    <a:gd name="connsiteY5" fmla="*/ 37685 h 75369"/>
                    <a:gd name="connsiteX6" fmla="*/ 74289 w 139577"/>
                    <a:gd name="connsiteY6" fmla="*/ 0 h 75369"/>
                    <a:gd name="connsiteX7" fmla="*/ 74289 w 139577"/>
                    <a:gd name="connsiteY7" fmla="*/ 23683 h 75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577" h="75369">
                      <a:moveTo>
                        <a:pt x="74289" y="23683"/>
                      </a:moveTo>
                      <a:lnTo>
                        <a:pt x="0" y="23683"/>
                      </a:lnTo>
                      <a:lnTo>
                        <a:pt x="0" y="51686"/>
                      </a:lnTo>
                      <a:lnTo>
                        <a:pt x="74289" y="51686"/>
                      </a:lnTo>
                      <a:lnTo>
                        <a:pt x="74289" y="75369"/>
                      </a:lnTo>
                      <a:lnTo>
                        <a:pt x="139577" y="37685"/>
                      </a:lnTo>
                      <a:lnTo>
                        <a:pt x="74289" y="0"/>
                      </a:lnTo>
                      <a:lnTo>
                        <a:pt x="74289" y="23683"/>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5" name="Freeform: Shape 116">
                  <a:extLst>
                    <a:ext uri="{FF2B5EF4-FFF2-40B4-BE49-F238E27FC236}">
                      <a16:creationId xmlns:a16="http://schemas.microsoft.com/office/drawing/2014/main" id="{C48C3B71-FC98-F35F-B0D5-AA2421E065EA}"/>
                    </a:ext>
                  </a:extLst>
                </p:cNvPr>
                <p:cNvSpPr/>
                <p:nvPr/>
              </p:nvSpPr>
              <p:spPr>
                <a:xfrm>
                  <a:off x="7550583" y="4276590"/>
                  <a:ext cx="71247" cy="108695"/>
                </a:xfrm>
                <a:custGeom>
                  <a:avLst/>
                  <a:gdLst>
                    <a:gd name="connsiteX0" fmla="*/ 192184 w 192184"/>
                    <a:gd name="connsiteY0" fmla="*/ 142938 h 293196"/>
                    <a:gd name="connsiteX1" fmla="*/ 126896 w 192184"/>
                    <a:gd name="connsiteY1" fmla="*/ 105253 h 293196"/>
                    <a:gd name="connsiteX2" fmla="*/ 126896 w 192184"/>
                    <a:gd name="connsiteY2" fmla="*/ 128936 h 293196"/>
                    <a:gd name="connsiteX3" fmla="*/ 104973 w 192184"/>
                    <a:gd name="connsiteY3" fmla="*/ 128936 h 293196"/>
                    <a:gd name="connsiteX4" fmla="*/ 104973 w 192184"/>
                    <a:gd name="connsiteY4" fmla="*/ 0 h 293196"/>
                    <a:gd name="connsiteX5" fmla="*/ 0 w 192184"/>
                    <a:gd name="connsiteY5" fmla="*/ 0 h 293196"/>
                    <a:gd name="connsiteX6" fmla="*/ 0 w 192184"/>
                    <a:gd name="connsiteY6" fmla="*/ 28004 h 293196"/>
                    <a:gd name="connsiteX7" fmla="*/ 76970 w 192184"/>
                    <a:gd name="connsiteY7" fmla="*/ 28004 h 293196"/>
                    <a:gd name="connsiteX8" fmla="*/ 76970 w 192184"/>
                    <a:gd name="connsiteY8" fmla="*/ 128936 h 293196"/>
                    <a:gd name="connsiteX9" fmla="*/ 22123 w 192184"/>
                    <a:gd name="connsiteY9" fmla="*/ 128936 h 293196"/>
                    <a:gd name="connsiteX10" fmla="*/ 22123 w 192184"/>
                    <a:gd name="connsiteY10" fmla="*/ 156940 h 293196"/>
                    <a:gd name="connsiteX11" fmla="*/ 76970 w 192184"/>
                    <a:gd name="connsiteY11" fmla="*/ 156940 h 293196"/>
                    <a:gd name="connsiteX12" fmla="*/ 76970 w 192184"/>
                    <a:gd name="connsiteY12" fmla="*/ 265193 h 293196"/>
                    <a:gd name="connsiteX13" fmla="*/ 0 w 192184"/>
                    <a:gd name="connsiteY13" fmla="*/ 265193 h 293196"/>
                    <a:gd name="connsiteX14" fmla="*/ 0 w 192184"/>
                    <a:gd name="connsiteY14" fmla="*/ 293197 h 293196"/>
                    <a:gd name="connsiteX15" fmla="*/ 104973 w 192184"/>
                    <a:gd name="connsiteY15" fmla="*/ 293197 h 293196"/>
                    <a:gd name="connsiteX16" fmla="*/ 104973 w 192184"/>
                    <a:gd name="connsiteY16" fmla="*/ 156940 h 293196"/>
                    <a:gd name="connsiteX17" fmla="*/ 126896 w 192184"/>
                    <a:gd name="connsiteY17" fmla="*/ 156940 h 293196"/>
                    <a:gd name="connsiteX18" fmla="*/ 126896 w 192184"/>
                    <a:gd name="connsiteY18" fmla="*/ 180623 h 293196"/>
                    <a:gd name="connsiteX19" fmla="*/ 192184 w 192184"/>
                    <a:gd name="connsiteY19" fmla="*/ 142938 h 293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2184" h="293196">
                      <a:moveTo>
                        <a:pt x="192184" y="142938"/>
                      </a:moveTo>
                      <a:lnTo>
                        <a:pt x="126896" y="105253"/>
                      </a:lnTo>
                      <a:lnTo>
                        <a:pt x="126896" y="128936"/>
                      </a:lnTo>
                      <a:lnTo>
                        <a:pt x="104973" y="128936"/>
                      </a:lnTo>
                      <a:lnTo>
                        <a:pt x="104973" y="0"/>
                      </a:lnTo>
                      <a:lnTo>
                        <a:pt x="0" y="0"/>
                      </a:lnTo>
                      <a:lnTo>
                        <a:pt x="0" y="28004"/>
                      </a:lnTo>
                      <a:lnTo>
                        <a:pt x="76970" y="28004"/>
                      </a:lnTo>
                      <a:lnTo>
                        <a:pt x="76970" y="128936"/>
                      </a:lnTo>
                      <a:lnTo>
                        <a:pt x="22123" y="128936"/>
                      </a:lnTo>
                      <a:lnTo>
                        <a:pt x="22123" y="156940"/>
                      </a:lnTo>
                      <a:lnTo>
                        <a:pt x="76970" y="156940"/>
                      </a:lnTo>
                      <a:lnTo>
                        <a:pt x="76970" y="265193"/>
                      </a:lnTo>
                      <a:lnTo>
                        <a:pt x="0" y="265193"/>
                      </a:lnTo>
                      <a:lnTo>
                        <a:pt x="0" y="293197"/>
                      </a:lnTo>
                      <a:lnTo>
                        <a:pt x="104973" y="293197"/>
                      </a:lnTo>
                      <a:lnTo>
                        <a:pt x="104973" y="156940"/>
                      </a:lnTo>
                      <a:lnTo>
                        <a:pt x="126896" y="156940"/>
                      </a:lnTo>
                      <a:lnTo>
                        <a:pt x="126896" y="180623"/>
                      </a:lnTo>
                      <a:lnTo>
                        <a:pt x="192184" y="142938"/>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6" name="Freeform: Shape 124">
                  <a:extLst>
                    <a:ext uri="{FF2B5EF4-FFF2-40B4-BE49-F238E27FC236}">
                      <a16:creationId xmlns:a16="http://schemas.microsoft.com/office/drawing/2014/main" id="{C7265059-A322-20E8-BEBF-501A83759984}"/>
                    </a:ext>
                  </a:extLst>
                </p:cNvPr>
                <p:cNvSpPr/>
                <p:nvPr/>
              </p:nvSpPr>
              <p:spPr>
                <a:xfrm>
                  <a:off x="7491571" y="4266446"/>
                  <a:ext cx="51745" cy="27956"/>
                </a:xfrm>
                <a:custGeom>
                  <a:avLst/>
                  <a:gdLst>
                    <a:gd name="connsiteX0" fmla="*/ 74289 w 139577"/>
                    <a:gd name="connsiteY0" fmla="*/ 23723 h 75409"/>
                    <a:gd name="connsiteX1" fmla="*/ 0 w 139577"/>
                    <a:gd name="connsiteY1" fmla="*/ 23723 h 75409"/>
                    <a:gd name="connsiteX2" fmla="*/ 0 w 139577"/>
                    <a:gd name="connsiteY2" fmla="*/ 51726 h 75409"/>
                    <a:gd name="connsiteX3" fmla="*/ 74289 w 139577"/>
                    <a:gd name="connsiteY3" fmla="*/ 51726 h 75409"/>
                    <a:gd name="connsiteX4" fmla="*/ 74289 w 139577"/>
                    <a:gd name="connsiteY4" fmla="*/ 75409 h 75409"/>
                    <a:gd name="connsiteX5" fmla="*/ 139577 w 139577"/>
                    <a:gd name="connsiteY5" fmla="*/ 37725 h 75409"/>
                    <a:gd name="connsiteX6" fmla="*/ 74289 w 139577"/>
                    <a:gd name="connsiteY6" fmla="*/ 0 h 75409"/>
                    <a:gd name="connsiteX7" fmla="*/ 74289 w 139577"/>
                    <a:gd name="connsiteY7" fmla="*/ 23723 h 7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577" h="75409">
                      <a:moveTo>
                        <a:pt x="74289" y="23723"/>
                      </a:moveTo>
                      <a:lnTo>
                        <a:pt x="0" y="23723"/>
                      </a:lnTo>
                      <a:lnTo>
                        <a:pt x="0" y="51726"/>
                      </a:lnTo>
                      <a:lnTo>
                        <a:pt x="74289" y="51726"/>
                      </a:lnTo>
                      <a:lnTo>
                        <a:pt x="74289" y="75409"/>
                      </a:lnTo>
                      <a:lnTo>
                        <a:pt x="139577" y="37725"/>
                      </a:lnTo>
                      <a:lnTo>
                        <a:pt x="74289" y="0"/>
                      </a:lnTo>
                      <a:lnTo>
                        <a:pt x="74289" y="23723"/>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7" name="Freeform: Shape 170">
                  <a:extLst>
                    <a:ext uri="{FF2B5EF4-FFF2-40B4-BE49-F238E27FC236}">
                      <a16:creationId xmlns:a16="http://schemas.microsoft.com/office/drawing/2014/main" id="{6F92BF85-EB2A-F24A-B37D-B83E5C97B269}"/>
                    </a:ext>
                  </a:extLst>
                </p:cNvPr>
                <p:cNvSpPr/>
                <p:nvPr/>
              </p:nvSpPr>
              <p:spPr>
                <a:xfrm>
                  <a:off x="7491571" y="4364759"/>
                  <a:ext cx="51745" cy="27956"/>
                </a:xfrm>
                <a:custGeom>
                  <a:avLst/>
                  <a:gdLst>
                    <a:gd name="connsiteX0" fmla="*/ 74289 w 139577"/>
                    <a:gd name="connsiteY0" fmla="*/ 23683 h 75409"/>
                    <a:gd name="connsiteX1" fmla="*/ 0 w 139577"/>
                    <a:gd name="connsiteY1" fmla="*/ 23683 h 75409"/>
                    <a:gd name="connsiteX2" fmla="*/ 0 w 139577"/>
                    <a:gd name="connsiteY2" fmla="*/ 51686 h 75409"/>
                    <a:gd name="connsiteX3" fmla="*/ 74289 w 139577"/>
                    <a:gd name="connsiteY3" fmla="*/ 51686 h 75409"/>
                    <a:gd name="connsiteX4" fmla="*/ 74289 w 139577"/>
                    <a:gd name="connsiteY4" fmla="*/ 75409 h 75409"/>
                    <a:gd name="connsiteX5" fmla="*/ 139577 w 139577"/>
                    <a:gd name="connsiteY5" fmla="*/ 37685 h 75409"/>
                    <a:gd name="connsiteX6" fmla="*/ 74289 w 139577"/>
                    <a:gd name="connsiteY6" fmla="*/ 0 h 75409"/>
                    <a:gd name="connsiteX7" fmla="*/ 74289 w 139577"/>
                    <a:gd name="connsiteY7" fmla="*/ 23683 h 7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577" h="75409">
                      <a:moveTo>
                        <a:pt x="74289" y="23683"/>
                      </a:moveTo>
                      <a:lnTo>
                        <a:pt x="0" y="23683"/>
                      </a:lnTo>
                      <a:lnTo>
                        <a:pt x="0" y="51686"/>
                      </a:lnTo>
                      <a:lnTo>
                        <a:pt x="74289" y="51686"/>
                      </a:lnTo>
                      <a:lnTo>
                        <a:pt x="74289" y="75409"/>
                      </a:lnTo>
                      <a:lnTo>
                        <a:pt x="139577" y="37685"/>
                      </a:lnTo>
                      <a:lnTo>
                        <a:pt x="74289" y="0"/>
                      </a:lnTo>
                      <a:lnTo>
                        <a:pt x="74289" y="23683"/>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51" name="Group 50">
              <a:extLst>
                <a:ext uri="{FF2B5EF4-FFF2-40B4-BE49-F238E27FC236}">
                  <a16:creationId xmlns:a16="http://schemas.microsoft.com/office/drawing/2014/main" id="{60465264-D04C-0301-7654-74BB93871880}"/>
                </a:ext>
              </a:extLst>
            </p:cNvPr>
            <p:cNvGrpSpPr/>
            <p:nvPr/>
          </p:nvGrpSpPr>
          <p:grpSpPr>
            <a:xfrm>
              <a:off x="4959077" y="1951839"/>
              <a:ext cx="457202" cy="457200"/>
              <a:chOff x="4637608" y="1958564"/>
              <a:chExt cx="457202" cy="457200"/>
            </a:xfrm>
          </p:grpSpPr>
          <p:sp>
            <p:nvSpPr>
              <p:cNvPr id="59" name="Oval 58">
                <a:extLst>
                  <a:ext uri="{FF2B5EF4-FFF2-40B4-BE49-F238E27FC236}">
                    <a16:creationId xmlns:a16="http://schemas.microsoft.com/office/drawing/2014/main" id="{D3A58CD4-1C48-DD55-43D3-5AF56C5830E0}"/>
                  </a:ext>
                </a:extLst>
              </p:cNvPr>
              <p:cNvSpPr>
                <a:spLocks noChangeAspect="1"/>
              </p:cNvSpPr>
              <p:nvPr/>
            </p:nvSpPr>
            <p:spPr>
              <a:xfrm>
                <a:off x="4637608" y="1958564"/>
                <a:ext cx="457202" cy="457200"/>
              </a:xfrm>
              <a:prstGeom prst="ellipse">
                <a:avLst/>
              </a:pr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0" name="Graphic 249">
                <a:extLst>
                  <a:ext uri="{FF2B5EF4-FFF2-40B4-BE49-F238E27FC236}">
                    <a16:creationId xmlns:a16="http://schemas.microsoft.com/office/drawing/2014/main" id="{3D49765F-0811-80D8-36CC-BDE4E8C9192D}"/>
                  </a:ext>
                </a:extLst>
              </p:cNvPr>
              <p:cNvSpPr/>
              <p:nvPr/>
            </p:nvSpPr>
            <p:spPr>
              <a:xfrm>
                <a:off x="4718148" y="2085390"/>
                <a:ext cx="300966" cy="206048"/>
              </a:xfrm>
              <a:custGeom>
                <a:avLst/>
                <a:gdLst>
                  <a:gd name="connsiteX0" fmla="*/ 515311 w 594328"/>
                  <a:gd name="connsiteY0" fmla="*/ 344910 h 406891"/>
                  <a:gd name="connsiteX1" fmla="*/ 470272 w 594328"/>
                  <a:gd name="connsiteY1" fmla="*/ 344910 h 406891"/>
                  <a:gd name="connsiteX2" fmla="*/ 328808 w 594328"/>
                  <a:gd name="connsiteY2" fmla="*/ 203446 h 406891"/>
                  <a:gd name="connsiteX3" fmla="*/ 470272 w 594328"/>
                  <a:gd name="connsiteY3" fmla="*/ 61934 h 406891"/>
                  <a:gd name="connsiteX4" fmla="*/ 515311 w 594328"/>
                  <a:gd name="connsiteY4" fmla="*/ 61934 h 406891"/>
                  <a:gd name="connsiteX5" fmla="*/ 515311 w 594328"/>
                  <a:gd name="connsiteY5" fmla="*/ 91245 h 406891"/>
                  <a:gd name="connsiteX6" fmla="*/ 594328 w 594328"/>
                  <a:gd name="connsiteY6" fmla="*/ 45599 h 406891"/>
                  <a:gd name="connsiteX7" fmla="*/ 515311 w 594328"/>
                  <a:gd name="connsiteY7" fmla="*/ 0 h 406891"/>
                  <a:gd name="connsiteX8" fmla="*/ 515311 w 594328"/>
                  <a:gd name="connsiteY8" fmla="*/ 29264 h 406891"/>
                  <a:gd name="connsiteX9" fmla="*/ 456737 w 594328"/>
                  <a:gd name="connsiteY9" fmla="*/ 29264 h 406891"/>
                  <a:gd name="connsiteX10" fmla="*/ 305658 w 594328"/>
                  <a:gd name="connsiteY10" fmla="*/ 180343 h 406891"/>
                  <a:gd name="connsiteX11" fmla="*/ 154626 w 594328"/>
                  <a:gd name="connsiteY11" fmla="*/ 29264 h 406891"/>
                  <a:gd name="connsiteX12" fmla="*/ 78970 w 594328"/>
                  <a:gd name="connsiteY12" fmla="*/ 29264 h 406891"/>
                  <a:gd name="connsiteX13" fmla="*/ 78970 w 594328"/>
                  <a:gd name="connsiteY13" fmla="*/ 0 h 406891"/>
                  <a:gd name="connsiteX14" fmla="*/ 0 w 594328"/>
                  <a:gd name="connsiteY14" fmla="*/ 45599 h 406891"/>
                  <a:gd name="connsiteX15" fmla="*/ 78970 w 594328"/>
                  <a:gd name="connsiteY15" fmla="*/ 91245 h 406891"/>
                  <a:gd name="connsiteX16" fmla="*/ 78970 w 594328"/>
                  <a:gd name="connsiteY16" fmla="*/ 61934 h 406891"/>
                  <a:gd name="connsiteX17" fmla="*/ 141091 w 594328"/>
                  <a:gd name="connsiteY17" fmla="*/ 61934 h 406891"/>
                  <a:gd name="connsiteX18" fmla="*/ 282556 w 594328"/>
                  <a:gd name="connsiteY18" fmla="*/ 203446 h 406891"/>
                  <a:gd name="connsiteX19" fmla="*/ 141091 w 594328"/>
                  <a:gd name="connsiteY19" fmla="*/ 344910 h 406891"/>
                  <a:gd name="connsiteX20" fmla="*/ 78970 w 594328"/>
                  <a:gd name="connsiteY20" fmla="*/ 344910 h 406891"/>
                  <a:gd name="connsiteX21" fmla="*/ 78970 w 594328"/>
                  <a:gd name="connsiteY21" fmla="*/ 315646 h 406891"/>
                  <a:gd name="connsiteX22" fmla="*/ 0 w 594328"/>
                  <a:gd name="connsiteY22" fmla="*/ 361245 h 406891"/>
                  <a:gd name="connsiteX23" fmla="*/ 78970 w 594328"/>
                  <a:gd name="connsiteY23" fmla="*/ 406891 h 406891"/>
                  <a:gd name="connsiteX24" fmla="*/ 78970 w 594328"/>
                  <a:gd name="connsiteY24" fmla="*/ 377581 h 406891"/>
                  <a:gd name="connsiteX25" fmla="*/ 154626 w 594328"/>
                  <a:gd name="connsiteY25" fmla="*/ 377581 h 406891"/>
                  <a:gd name="connsiteX26" fmla="*/ 305658 w 594328"/>
                  <a:gd name="connsiteY26" fmla="*/ 226548 h 406891"/>
                  <a:gd name="connsiteX27" fmla="*/ 456737 w 594328"/>
                  <a:gd name="connsiteY27" fmla="*/ 377581 h 406891"/>
                  <a:gd name="connsiteX28" fmla="*/ 515311 w 594328"/>
                  <a:gd name="connsiteY28" fmla="*/ 377581 h 406891"/>
                  <a:gd name="connsiteX29" fmla="*/ 515311 w 594328"/>
                  <a:gd name="connsiteY29" fmla="*/ 406891 h 406891"/>
                  <a:gd name="connsiteX30" fmla="*/ 594328 w 594328"/>
                  <a:gd name="connsiteY30" fmla="*/ 361245 h 406891"/>
                  <a:gd name="connsiteX31" fmla="*/ 515311 w 594328"/>
                  <a:gd name="connsiteY31" fmla="*/ 315646 h 406891"/>
                  <a:gd name="connsiteX32" fmla="*/ 515311 w 594328"/>
                  <a:gd name="connsiteY32" fmla="*/ 344910 h 40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94328" h="406891">
                    <a:moveTo>
                      <a:pt x="515311" y="344910"/>
                    </a:moveTo>
                    <a:lnTo>
                      <a:pt x="470272" y="344910"/>
                    </a:lnTo>
                    <a:lnTo>
                      <a:pt x="328808" y="203446"/>
                    </a:lnTo>
                    <a:lnTo>
                      <a:pt x="470272" y="61934"/>
                    </a:lnTo>
                    <a:lnTo>
                      <a:pt x="515311" y="61934"/>
                    </a:lnTo>
                    <a:lnTo>
                      <a:pt x="515311" y="91245"/>
                    </a:lnTo>
                    <a:lnTo>
                      <a:pt x="594328" y="45599"/>
                    </a:lnTo>
                    <a:lnTo>
                      <a:pt x="515311" y="0"/>
                    </a:lnTo>
                    <a:lnTo>
                      <a:pt x="515311" y="29264"/>
                    </a:lnTo>
                    <a:lnTo>
                      <a:pt x="456737" y="29264"/>
                    </a:lnTo>
                    <a:lnTo>
                      <a:pt x="305658" y="180343"/>
                    </a:lnTo>
                    <a:lnTo>
                      <a:pt x="154626" y="29264"/>
                    </a:lnTo>
                    <a:lnTo>
                      <a:pt x="78970" y="29264"/>
                    </a:lnTo>
                    <a:lnTo>
                      <a:pt x="78970" y="0"/>
                    </a:lnTo>
                    <a:lnTo>
                      <a:pt x="0" y="45599"/>
                    </a:lnTo>
                    <a:lnTo>
                      <a:pt x="78970" y="91245"/>
                    </a:lnTo>
                    <a:lnTo>
                      <a:pt x="78970" y="61934"/>
                    </a:lnTo>
                    <a:lnTo>
                      <a:pt x="141091" y="61934"/>
                    </a:lnTo>
                    <a:lnTo>
                      <a:pt x="282556" y="203446"/>
                    </a:lnTo>
                    <a:lnTo>
                      <a:pt x="141091" y="344910"/>
                    </a:lnTo>
                    <a:lnTo>
                      <a:pt x="78970" y="344910"/>
                    </a:lnTo>
                    <a:lnTo>
                      <a:pt x="78970" y="315646"/>
                    </a:lnTo>
                    <a:lnTo>
                      <a:pt x="0" y="361245"/>
                    </a:lnTo>
                    <a:lnTo>
                      <a:pt x="78970" y="406891"/>
                    </a:lnTo>
                    <a:lnTo>
                      <a:pt x="78970" y="377581"/>
                    </a:lnTo>
                    <a:lnTo>
                      <a:pt x="154626" y="377581"/>
                    </a:lnTo>
                    <a:lnTo>
                      <a:pt x="305658" y="226548"/>
                    </a:lnTo>
                    <a:lnTo>
                      <a:pt x="456737" y="377581"/>
                    </a:lnTo>
                    <a:lnTo>
                      <a:pt x="515311" y="377581"/>
                    </a:lnTo>
                    <a:lnTo>
                      <a:pt x="515311" y="406891"/>
                    </a:lnTo>
                    <a:lnTo>
                      <a:pt x="594328" y="361245"/>
                    </a:lnTo>
                    <a:lnTo>
                      <a:pt x="515311" y="315646"/>
                    </a:lnTo>
                    <a:lnTo>
                      <a:pt x="515311" y="344910"/>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52" name="Group 51">
              <a:extLst>
                <a:ext uri="{FF2B5EF4-FFF2-40B4-BE49-F238E27FC236}">
                  <a16:creationId xmlns:a16="http://schemas.microsoft.com/office/drawing/2014/main" id="{06D11585-0625-3B8F-762A-58E330CECE19}"/>
                </a:ext>
              </a:extLst>
            </p:cNvPr>
            <p:cNvGrpSpPr>
              <a:grpSpLocks noChangeAspect="1"/>
            </p:cNvGrpSpPr>
            <p:nvPr/>
          </p:nvGrpSpPr>
          <p:grpSpPr>
            <a:xfrm>
              <a:off x="939060" y="1951839"/>
              <a:ext cx="457200" cy="457200"/>
              <a:chOff x="7756637" y="2484407"/>
              <a:chExt cx="902850" cy="902850"/>
            </a:xfrm>
          </p:grpSpPr>
          <p:sp>
            <p:nvSpPr>
              <p:cNvPr id="53" name="Oval 26">
                <a:extLst>
                  <a:ext uri="{FF2B5EF4-FFF2-40B4-BE49-F238E27FC236}">
                    <a16:creationId xmlns:a16="http://schemas.microsoft.com/office/drawing/2014/main" id="{0606C604-0A2D-FE34-8B93-32A1BA261391}"/>
                  </a:ext>
                </a:extLst>
              </p:cNvPr>
              <p:cNvSpPr>
                <a:spLocks noChangeAspect="1"/>
              </p:cNvSpPr>
              <p:nvPr/>
            </p:nvSpPr>
            <p:spPr bwMode="gray">
              <a:xfrm>
                <a:off x="7756637" y="2484407"/>
                <a:ext cx="902850" cy="90285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54" name="Group 53">
                <a:extLst>
                  <a:ext uri="{FF2B5EF4-FFF2-40B4-BE49-F238E27FC236}">
                    <a16:creationId xmlns:a16="http://schemas.microsoft.com/office/drawing/2014/main" id="{DAF58C0A-50A0-A0F4-8BC7-12923753C250}"/>
                  </a:ext>
                </a:extLst>
              </p:cNvPr>
              <p:cNvGrpSpPr/>
              <p:nvPr/>
            </p:nvGrpSpPr>
            <p:grpSpPr>
              <a:xfrm>
                <a:off x="7930273" y="2670781"/>
                <a:ext cx="558302" cy="538093"/>
                <a:chOff x="7930273" y="2670781"/>
                <a:chExt cx="558302" cy="538093"/>
              </a:xfrm>
            </p:grpSpPr>
            <p:sp>
              <p:nvSpPr>
                <p:cNvPr id="55" name="Freeform: Shape 201">
                  <a:extLst>
                    <a:ext uri="{FF2B5EF4-FFF2-40B4-BE49-F238E27FC236}">
                      <a16:creationId xmlns:a16="http://schemas.microsoft.com/office/drawing/2014/main" id="{F987BE93-74C7-CAEC-F3E9-857600D69EF1}"/>
                    </a:ext>
                  </a:extLst>
                </p:cNvPr>
                <p:cNvSpPr/>
                <p:nvPr/>
              </p:nvSpPr>
              <p:spPr>
                <a:xfrm>
                  <a:off x="7930273" y="2670781"/>
                  <a:ext cx="432694" cy="432694"/>
                </a:xfrm>
                <a:custGeom>
                  <a:avLst/>
                  <a:gdLst>
                    <a:gd name="connsiteX0" fmla="*/ 0 w 432694"/>
                    <a:gd name="connsiteY0" fmla="*/ 0 h 432694"/>
                    <a:gd name="connsiteX1" fmla="*/ 0 w 432694"/>
                    <a:gd name="connsiteY1" fmla="*/ 432694 h 432694"/>
                    <a:gd name="connsiteX2" fmla="*/ 295991 w 432694"/>
                    <a:gd name="connsiteY2" fmla="*/ 432694 h 432694"/>
                    <a:gd name="connsiteX3" fmla="*/ 295991 w 432694"/>
                    <a:gd name="connsiteY3" fmla="*/ 393070 h 432694"/>
                    <a:gd name="connsiteX4" fmla="*/ 165232 w 432694"/>
                    <a:gd name="connsiteY4" fmla="*/ 393070 h 432694"/>
                    <a:gd name="connsiteX5" fmla="*/ 206441 w 432694"/>
                    <a:gd name="connsiteY5" fmla="*/ 214762 h 432694"/>
                    <a:gd name="connsiteX6" fmla="*/ 236159 w 432694"/>
                    <a:gd name="connsiteY6" fmla="*/ 323728 h 432694"/>
                    <a:gd name="connsiteX7" fmla="*/ 285689 w 432694"/>
                    <a:gd name="connsiteY7" fmla="*/ 135514 h 432694"/>
                    <a:gd name="connsiteX8" fmla="*/ 306294 w 432694"/>
                    <a:gd name="connsiteY8" fmla="*/ 237744 h 432694"/>
                    <a:gd name="connsiteX9" fmla="*/ 393070 w 432694"/>
                    <a:gd name="connsiteY9" fmla="*/ 237744 h 432694"/>
                    <a:gd name="connsiteX10" fmla="*/ 393070 w 432694"/>
                    <a:gd name="connsiteY10" fmla="*/ 326106 h 432694"/>
                    <a:gd name="connsiteX11" fmla="*/ 432694 w 432694"/>
                    <a:gd name="connsiteY11" fmla="*/ 326106 h 432694"/>
                    <a:gd name="connsiteX12" fmla="*/ 432694 w 432694"/>
                    <a:gd name="connsiteY12" fmla="*/ 0 h 432694"/>
                    <a:gd name="connsiteX13" fmla="*/ 0 w 432694"/>
                    <a:gd name="connsiteY13" fmla="*/ 0 h 432694"/>
                    <a:gd name="connsiteX14" fmla="*/ 39624 w 432694"/>
                    <a:gd name="connsiteY14" fmla="*/ 393070 h 432694"/>
                    <a:gd name="connsiteX15" fmla="*/ 39624 w 432694"/>
                    <a:gd name="connsiteY15" fmla="*/ 237744 h 432694"/>
                    <a:gd name="connsiteX16" fmla="*/ 111740 w 432694"/>
                    <a:gd name="connsiteY16" fmla="*/ 237744 h 432694"/>
                    <a:gd name="connsiteX17" fmla="*/ 130759 w 432694"/>
                    <a:gd name="connsiteY17" fmla="*/ 168798 h 432694"/>
                    <a:gd name="connsiteX18" fmla="*/ 162458 w 432694"/>
                    <a:gd name="connsiteY18" fmla="*/ 393070 h 432694"/>
                    <a:gd name="connsiteX19" fmla="*/ 39624 w 432694"/>
                    <a:gd name="connsiteY19" fmla="*/ 393070 h 432694"/>
                    <a:gd name="connsiteX20" fmla="*/ 322539 w 432694"/>
                    <a:gd name="connsiteY20" fmla="*/ 217932 h 432694"/>
                    <a:gd name="connsiteX21" fmla="*/ 288066 w 432694"/>
                    <a:gd name="connsiteY21" fmla="*/ 47945 h 432694"/>
                    <a:gd name="connsiteX22" fmla="*/ 235763 w 432694"/>
                    <a:gd name="connsiteY22" fmla="*/ 246858 h 432694"/>
                    <a:gd name="connsiteX23" fmla="*/ 204856 w 432694"/>
                    <a:gd name="connsiteY23" fmla="*/ 133533 h 432694"/>
                    <a:gd name="connsiteX24" fmla="*/ 168006 w 432694"/>
                    <a:gd name="connsiteY24" fmla="*/ 292029 h 432694"/>
                    <a:gd name="connsiteX25" fmla="*/ 136703 w 432694"/>
                    <a:gd name="connsiteY25" fmla="*/ 72116 h 432694"/>
                    <a:gd name="connsiteX26" fmla="*/ 96683 w 432694"/>
                    <a:gd name="connsiteY26" fmla="*/ 217932 h 432694"/>
                    <a:gd name="connsiteX27" fmla="*/ 39624 w 432694"/>
                    <a:gd name="connsiteY27" fmla="*/ 217932 h 432694"/>
                    <a:gd name="connsiteX28" fmla="*/ 39624 w 432694"/>
                    <a:gd name="connsiteY28" fmla="*/ 39624 h 432694"/>
                    <a:gd name="connsiteX29" fmla="*/ 393070 w 432694"/>
                    <a:gd name="connsiteY29" fmla="*/ 39624 h 432694"/>
                    <a:gd name="connsiteX30" fmla="*/ 393070 w 432694"/>
                    <a:gd name="connsiteY30" fmla="*/ 217932 h 432694"/>
                    <a:gd name="connsiteX31" fmla="*/ 322539 w 432694"/>
                    <a:gd name="connsiteY31" fmla="*/ 217932 h 432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32694" h="432694">
                      <a:moveTo>
                        <a:pt x="0" y="0"/>
                      </a:moveTo>
                      <a:lnTo>
                        <a:pt x="0" y="432694"/>
                      </a:lnTo>
                      <a:lnTo>
                        <a:pt x="295991" y="432694"/>
                      </a:lnTo>
                      <a:lnTo>
                        <a:pt x="295991" y="393070"/>
                      </a:lnTo>
                      <a:lnTo>
                        <a:pt x="165232" y="393070"/>
                      </a:lnTo>
                      <a:lnTo>
                        <a:pt x="206441" y="214762"/>
                      </a:lnTo>
                      <a:lnTo>
                        <a:pt x="236159" y="323728"/>
                      </a:lnTo>
                      <a:lnTo>
                        <a:pt x="285689" y="135514"/>
                      </a:lnTo>
                      <a:lnTo>
                        <a:pt x="306294" y="237744"/>
                      </a:lnTo>
                      <a:lnTo>
                        <a:pt x="393070" y="237744"/>
                      </a:lnTo>
                      <a:lnTo>
                        <a:pt x="393070" y="326106"/>
                      </a:lnTo>
                      <a:lnTo>
                        <a:pt x="432694" y="326106"/>
                      </a:lnTo>
                      <a:lnTo>
                        <a:pt x="432694" y="0"/>
                      </a:lnTo>
                      <a:lnTo>
                        <a:pt x="0" y="0"/>
                      </a:lnTo>
                      <a:close/>
                      <a:moveTo>
                        <a:pt x="39624" y="393070"/>
                      </a:moveTo>
                      <a:lnTo>
                        <a:pt x="39624" y="237744"/>
                      </a:lnTo>
                      <a:lnTo>
                        <a:pt x="111740" y="237744"/>
                      </a:lnTo>
                      <a:lnTo>
                        <a:pt x="130759" y="168798"/>
                      </a:lnTo>
                      <a:lnTo>
                        <a:pt x="162458" y="393070"/>
                      </a:lnTo>
                      <a:lnTo>
                        <a:pt x="39624" y="393070"/>
                      </a:lnTo>
                      <a:close/>
                      <a:moveTo>
                        <a:pt x="322539" y="217932"/>
                      </a:moveTo>
                      <a:lnTo>
                        <a:pt x="288066" y="47945"/>
                      </a:lnTo>
                      <a:lnTo>
                        <a:pt x="235763" y="246858"/>
                      </a:lnTo>
                      <a:lnTo>
                        <a:pt x="204856" y="133533"/>
                      </a:lnTo>
                      <a:lnTo>
                        <a:pt x="168006" y="292029"/>
                      </a:lnTo>
                      <a:lnTo>
                        <a:pt x="136703" y="72116"/>
                      </a:lnTo>
                      <a:lnTo>
                        <a:pt x="96683" y="217932"/>
                      </a:lnTo>
                      <a:lnTo>
                        <a:pt x="39624" y="217932"/>
                      </a:lnTo>
                      <a:lnTo>
                        <a:pt x="39624" y="39624"/>
                      </a:lnTo>
                      <a:lnTo>
                        <a:pt x="393070" y="39624"/>
                      </a:lnTo>
                      <a:lnTo>
                        <a:pt x="393070" y="217932"/>
                      </a:lnTo>
                      <a:lnTo>
                        <a:pt x="322539" y="217932"/>
                      </a:ln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56" name="Graphic 41">
                  <a:extLst>
                    <a:ext uri="{FF2B5EF4-FFF2-40B4-BE49-F238E27FC236}">
                      <a16:creationId xmlns:a16="http://schemas.microsoft.com/office/drawing/2014/main" id="{27CBD657-D0CE-6AB8-DFA1-DAE5EDF196FB}"/>
                    </a:ext>
                  </a:extLst>
                </p:cNvPr>
                <p:cNvGrpSpPr/>
                <p:nvPr/>
              </p:nvGrpSpPr>
              <p:grpSpPr>
                <a:xfrm>
                  <a:off x="8250435" y="3017491"/>
                  <a:ext cx="238140" cy="191383"/>
                  <a:chOff x="8250435" y="3017491"/>
                  <a:chExt cx="238140" cy="191383"/>
                </a:xfrm>
                <a:solidFill>
                  <a:schemeClr val="bg1"/>
                </a:solidFill>
              </p:grpSpPr>
              <p:sp>
                <p:nvSpPr>
                  <p:cNvPr id="57" name="Freeform: Shape 203">
                    <a:extLst>
                      <a:ext uri="{FF2B5EF4-FFF2-40B4-BE49-F238E27FC236}">
                        <a16:creationId xmlns:a16="http://schemas.microsoft.com/office/drawing/2014/main" id="{3D096C90-F545-ED70-E1B7-6C281695FD29}"/>
                      </a:ext>
                    </a:extLst>
                  </p:cNvPr>
                  <p:cNvSpPr/>
                  <p:nvPr/>
                </p:nvSpPr>
                <p:spPr>
                  <a:xfrm>
                    <a:off x="8250435" y="3017491"/>
                    <a:ext cx="238140" cy="30510"/>
                  </a:xfrm>
                  <a:custGeom>
                    <a:avLst/>
                    <a:gdLst>
                      <a:gd name="connsiteX0" fmla="*/ 238140 w 238140"/>
                      <a:gd name="connsiteY0" fmla="*/ 0 h 30510"/>
                      <a:gd name="connsiteX1" fmla="*/ 0 w 238140"/>
                      <a:gd name="connsiteY1" fmla="*/ 0 h 30510"/>
                      <a:gd name="connsiteX2" fmla="*/ 0 w 238140"/>
                      <a:gd name="connsiteY2" fmla="*/ 30510 h 30510"/>
                      <a:gd name="connsiteX3" fmla="*/ 238140 w 238140"/>
                      <a:gd name="connsiteY3" fmla="*/ 30510 h 30510"/>
                      <a:gd name="connsiteX4" fmla="*/ 238140 w 238140"/>
                      <a:gd name="connsiteY4" fmla="*/ 0 h 30510"/>
                      <a:gd name="connsiteX5" fmla="*/ 15057 w 238140"/>
                      <a:gd name="connsiteY5" fmla="*/ 21793 h 30510"/>
                      <a:gd name="connsiteX6" fmla="*/ 8321 w 238140"/>
                      <a:gd name="connsiteY6" fmla="*/ 15057 h 30510"/>
                      <a:gd name="connsiteX7" fmla="*/ 15057 w 238140"/>
                      <a:gd name="connsiteY7" fmla="*/ 8321 h 30510"/>
                      <a:gd name="connsiteX8" fmla="*/ 22586 w 238140"/>
                      <a:gd name="connsiteY8" fmla="*/ 15057 h 30510"/>
                      <a:gd name="connsiteX9" fmla="*/ 15057 w 238140"/>
                      <a:gd name="connsiteY9" fmla="*/ 21793 h 30510"/>
                      <a:gd name="connsiteX10" fmla="*/ 37247 w 238140"/>
                      <a:gd name="connsiteY10" fmla="*/ 21793 h 30510"/>
                      <a:gd name="connsiteX11" fmla="*/ 30510 w 238140"/>
                      <a:gd name="connsiteY11" fmla="*/ 15057 h 30510"/>
                      <a:gd name="connsiteX12" fmla="*/ 37247 w 238140"/>
                      <a:gd name="connsiteY12" fmla="*/ 8321 h 30510"/>
                      <a:gd name="connsiteX13" fmla="*/ 43983 w 238140"/>
                      <a:gd name="connsiteY13" fmla="*/ 15057 h 30510"/>
                      <a:gd name="connsiteX14" fmla="*/ 37247 w 238140"/>
                      <a:gd name="connsiteY14" fmla="*/ 21793 h 30510"/>
                      <a:gd name="connsiteX15" fmla="*/ 58644 w 238140"/>
                      <a:gd name="connsiteY15" fmla="*/ 21793 h 30510"/>
                      <a:gd name="connsiteX16" fmla="*/ 51907 w 238140"/>
                      <a:gd name="connsiteY16" fmla="*/ 15057 h 30510"/>
                      <a:gd name="connsiteX17" fmla="*/ 58644 w 238140"/>
                      <a:gd name="connsiteY17" fmla="*/ 8321 h 30510"/>
                      <a:gd name="connsiteX18" fmla="*/ 65380 w 238140"/>
                      <a:gd name="connsiteY18" fmla="*/ 15057 h 30510"/>
                      <a:gd name="connsiteX19" fmla="*/ 58644 w 238140"/>
                      <a:gd name="connsiteY19" fmla="*/ 21793 h 30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8140" h="30510">
                        <a:moveTo>
                          <a:pt x="238140" y="0"/>
                        </a:moveTo>
                        <a:lnTo>
                          <a:pt x="0" y="0"/>
                        </a:lnTo>
                        <a:cubicBezTo>
                          <a:pt x="0" y="30510"/>
                          <a:pt x="0" y="30510"/>
                          <a:pt x="0" y="30510"/>
                        </a:cubicBezTo>
                        <a:cubicBezTo>
                          <a:pt x="238140" y="30510"/>
                          <a:pt x="238140" y="30510"/>
                          <a:pt x="238140" y="30510"/>
                        </a:cubicBezTo>
                        <a:cubicBezTo>
                          <a:pt x="238140" y="0"/>
                          <a:pt x="238140" y="0"/>
                          <a:pt x="238140" y="0"/>
                        </a:cubicBezTo>
                        <a:close/>
                        <a:moveTo>
                          <a:pt x="15057" y="21793"/>
                        </a:moveTo>
                        <a:cubicBezTo>
                          <a:pt x="11491" y="21793"/>
                          <a:pt x="8321" y="18227"/>
                          <a:pt x="8321" y="15057"/>
                        </a:cubicBezTo>
                        <a:cubicBezTo>
                          <a:pt x="8321" y="11095"/>
                          <a:pt x="11887" y="8321"/>
                          <a:pt x="15057" y="8321"/>
                        </a:cubicBezTo>
                        <a:cubicBezTo>
                          <a:pt x="19020" y="8321"/>
                          <a:pt x="22586" y="11095"/>
                          <a:pt x="22586" y="15057"/>
                        </a:cubicBezTo>
                        <a:cubicBezTo>
                          <a:pt x="22189" y="18623"/>
                          <a:pt x="19020" y="21793"/>
                          <a:pt x="15057" y="21793"/>
                        </a:cubicBezTo>
                        <a:close/>
                        <a:moveTo>
                          <a:pt x="37247" y="21793"/>
                        </a:moveTo>
                        <a:cubicBezTo>
                          <a:pt x="33284" y="21793"/>
                          <a:pt x="30510" y="18227"/>
                          <a:pt x="30510" y="15057"/>
                        </a:cubicBezTo>
                        <a:cubicBezTo>
                          <a:pt x="30510" y="11095"/>
                          <a:pt x="33284" y="8321"/>
                          <a:pt x="37247" y="8321"/>
                        </a:cubicBezTo>
                        <a:cubicBezTo>
                          <a:pt x="40813" y="8321"/>
                          <a:pt x="43983" y="11095"/>
                          <a:pt x="43983" y="15057"/>
                        </a:cubicBezTo>
                        <a:cubicBezTo>
                          <a:pt x="43983" y="18623"/>
                          <a:pt x="40417" y="21793"/>
                          <a:pt x="37247" y="21793"/>
                        </a:cubicBezTo>
                        <a:close/>
                        <a:moveTo>
                          <a:pt x="58644" y="21793"/>
                        </a:moveTo>
                        <a:cubicBezTo>
                          <a:pt x="55077" y="21793"/>
                          <a:pt x="51907" y="18227"/>
                          <a:pt x="51907" y="15057"/>
                        </a:cubicBezTo>
                        <a:cubicBezTo>
                          <a:pt x="51907" y="11095"/>
                          <a:pt x="55474" y="8321"/>
                          <a:pt x="58644" y="8321"/>
                        </a:cubicBezTo>
                        <a:cubicBezTo>
                          <a:pt x="62606" y="8321"/>
                          <a:pt x="65380" y="11095"/>
                          <a:pt x="65380" y="15057"/>
                        </a:cubicBezTo>
                        <a:cubicBezTo>
                          <a:pt x="65380" y="18623"/>
                          <a:pt x="63002" y="21793"/>
                          <a:pt x="58644" y="21793"/>
                        </a:cubicBez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8" name="Freeform: Shape 204">
                    <a:extLst>
                      <a:ext uri="{FF2B5EF4-FFF2-40B4-BE49-F238E27FC236}">
                        <a16:creationId xmlns:a16="http://schemas.microsoft.com/office/drawing/2014/main" id="{BEBEB2D7-FF80-879F-0CD9-E667ECC603F7}"/>
                      </a:ext>
                    </a:extLst>
                  </p:cNvPr>
                  <p:cNvSpPr/>
                  <p:nvPr/>
                </p:nvSpPr>
                <p:spPr>
                  <a:xfrm>
                    <a:off x="8250435" y="3057907"/>
                    <a:ext cx="238140" cy="150967"/>
                  </a:xfrm>
                  <a:custGeom>
                    <a:avLst/>
                    <a:gdLst>
                      <a:gd name="connsiteX0" fmla="*/ 0 w 238140"/>
                      <a:gd name="connsiteY0" fmla="*/ 0 h 150967"/>
                      <a:gd name="connsiteX1" fmla="*/ 0 w 238140"/>
                      <a:gd name="connsiteY1" fmla="*/ 143439 h 150967"/>
                      <a:gd name="connsiteX2" fmla="*/ 6736 w 238140"/>
                      <a:gd name="connsiteY2" fmla="*/ 150967 h 150967"/>
                      <a:gd name="connsiteX3" fmla="*/ 230612 w 238140"/>
                      <a:gd name="connsiteY3" fmla="*/ 150967 h 150967"/>
                      <a:gd name="connsiteX4" fmla="*/ 238140 w 238140"/>
                      <a:gd name="connsiteY4" fmla="*/ 143439 h 150967"/>
                      <a:gd name="connsiteX5" fmla="*/ 238140 w 238140"/>
                      <a:gd name="connsiteY5" fmla="*/ 0 h 150967"/>
                      <a:gd name="connsiteX6" fmla="*/ 0 w 238140"/>
                      <a:gd name="connsiteY6" fmla="*/ 0 h 15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140" h="150967">
                        <a:moveTo>
                          <a:pt x="0" y="0"/>
                        </a:moveTo>
                        <a:cubicBezTo>
                          <a:pt x="0" y="143439"/>
                          <a:pt x="0" y="143439"/>
                          <a:pt x="0" y="143439"/>
                        </a:cubicBezTo>
                        <a:cubicBezTo>
                          <a:pt x="0" y="147401"/>
                          <a:pt x="2774" y="150967"/>
                          <a:pt x="6736" y="150967"/>
                        </a:cubicBezTo>
                        <a:cubicBezTo>
                          <a:pt x="230612" y="150967"/>
                          <a:pt x="230612" y="150967"/>
                          <a:pt x="230612" y="150967"/>
                        </a:cubicBezTo>
                        <a:cubicBezTo>
                          <a:pt x="234574" y="150967"/>
                          <a:pt x="238140" y="147798"/>
                          <a:pt x="238140" y="143439"/>
                        </a:cubicBezTo>
                        <a:cubicBezTo>
                          <a:pt x="238140" y="0"/>
                          <a:pt x="238140" y="0"/>
                          <a:pt x="238140" y="0"/>
                        </a:cubicBezTo>
                        <a:lnTo>
                          <a:pt x="0" y="0"/>
                        </a:ln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grpSp>
      </p:grpSp>
      <p:grpSp>
        <p:nvGrpSpPr>
          <p:cNvPr id="77" name="Group 76">
            <a:extLst>
              <a:ext uri="{FF2B5EF4-FFF2-40B4-BE49-F238E27FC236}">
                <a16:creationId xmlns:a16="http://schemas.microsoft.com/office/drawing/2014/main" id="{5022973E-C0F1-C2D5-1EC0-6109C95B845F}"/>
              </a:ext>
            </a:extLst>
          </p:cNvPr>
          <p:cNvGrpSpPr/>
          <p:nvPr/>
        </p:nvGrpSpPr>
        <p:grpSpPr>
          <a:xfrm>
            <a:off x="3084844" y="4520497"/>
            <a:ext cx="2954215" cy="508467"/>
            <a:chOff x="3084844" y="4520497"/>
            <a:chExt cx="2954215" cy="508467"/>
          </a:xfrm>
        </p:grpSpPr>
        <p:cxnSp>
          <p:nvCxnSpPr>
            <p:cNvPr id="215" name="Straight Connector 214">
              <a:extLst>
                <a:ext uri="{FF2B5EF4-FFF2-40B4-BE49-F238E27FC236}">
                  <a16:creationId xmlns:a16="http://schemas.microsoft.com/office/drawing/2014/main" id="{487FEFCC-866B-FDFA-84DF-A4BD7EF22D46}"/>
                </a:ext>
              </a:extLst>
            </p:cNvPr>
            <p:cNvCxnSpPr>
              <a:cxnSpLocks/>
              <a:stCxn id="197" idx="0"/>
            </p:cNvCxnSpPr>
            <p:nvPr/>
          </p:nvCxnSpPr>
          <p:spPr bwMode="gray">
            <a:xfrm flipV="1">
              <a:off x="3200495" y="4541855"/>
              <a:ext cx="0" cy="487109"/>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8D42309A-5D41-9A88-C0BD-19163026AD7A}"/>
                </a:ext>
              </a:extLst>
            </p:cNvPr>
            <p:cNvCxnSpPr>
              <a:cxnSpLocks/>
              <a:stCxn id="203" idx="0"/>
            </p:cNvCxnSpPr>
            <p:nvPr/>
          </p:nvCxnSpPr>
          <p:spPr bwMode="gray">
            <a:xfrm flipV="1">
              <a:off x="5783391" y="4587073"/>
              <a:ext cx="0" cy="441891"/>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19" name="Rectangle: Rounded Corners 92">
              <a:extLst>
                <a:ext uri="{FF2B5EF4-FFF2-40B4-BE49-F238E27FC236}">
                  <a16:creationId xmlns:a16="http://schemas.microsoft.com/office/drawing/2014/main" id="{55F0BEBD-9707-4E80-8EF8-BD7C475684D9}"/>
                </a:ext>
              </a:extLst>
            </p:cNvPr>
            <p:cNvSpPr/>
            <p:nvPr/>
          </p:nvSpPr>
          <p:spPr>
            <a:xfrm>
              <a:off x="3084844" y="4520497"/>
              <a:ext cx="2954215" cy="124354"/>
            </a:xfrm>
            <a:prstGeom prst="roundRect">
              <a:avLst>
                <a:gd name="adj" fmla="val 18762"/>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Arial" panose="020B0604020202020204"/>
                  <a:ea typeface="+mn-ea"/>
                  <a:cs typeface="+mn-cs"/>
                </a:rPr>
                <a:t>Virtual Network z</a:t>
              </a:r>
            </a:p>
          </p:txBody>
        </p:sp>
      </p:grpSp>
      <p:grpSp>
        <p:nvGrpSpPr>
          <p:cNvPr id="76" name="Group 75">
            <a:extLst>
              <a:ext uri="{FF2B5EF4-FFF2-40B4-BE49-F238E27FC236}">
                <a16:creationId xmlns:a16="http://schemas.microsoft.com/office/drawing/2014/main" id="{944D2125-E2B4-7926-A032-31647B525365}"/>
              </a:ext>
            </a:extLst>
          </p:cNvPr>
          <p:cNvGrpSpPr/>
          <p:nvPr/>
        </p:nvGrpSpPr>
        <p:grpSpPr>
          <a:xfrm>
            <a:off x="1788607" y="4682528"/>
            <a:ext cx="3637503" cy="346436"/>
            <a:chOff x="1788607" y="4682528"/>
            <a:chExt cx="3637503" cy="346436"/>
          </a:xfrm>
        </p:grpSpPr>
        <p:cxnSp>
          <p:nvCxnSpPr>
            <p:cNvPr id="213" name="Straight Connector 212">
              <a:extLst>
                <a:ext uri="{FF2B5EF4-FFF2-40B4-BE49-F238E27FC236}">
                  <a16:creationId xmlns:a16="http://schemas.microsoft.com/office/drawing/2014/main" id="{99B335E6-F006-869A-995D-1E63B316FDCA}"/>
                </a:ext>
              </a:extLst>
            </p:cNvPr>
            <p:cNvCxnSpPr>
              <a:cxnSpLocks/>
              <a:stCxn id="193" idx="0"/>
            </p:cNvCxnSpPr>
            <p:nvPr/>
          </p:nvCxnSpPr>
          <p:spPr bwMode="gray">
            <a:xfrm flipV="1">
              <a:off x="2124421" y="4717701"/>
              <a:ext cx="0" cy="311263"/>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B3FF4D0D-41B4-6AA7-B8F7-3E122C702B1A}"/>
                </a:ext>
              </a:extLst>
            </p:cNvPr>
            <p:cNvCxnSpPr>
              <a:cxnSpLocks/>
              <a:stCxn id="209" idx="0"/>
            </p:cNvCxnSpPr>
            <p:nvPr/>
          </p:nvCxnSpPr>
          <p:spPr bwMode="gray">
            <a:xfrm flipV="1">
              <a:off x="5033101" y="4762919"/>
              <a:ext cx="0" cy="266045"/>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18" name="Rectangle: Rounded Corners 92">
              <a:extLst>
                <a:ext uri="{FF2B5EF4-FFF2-40B4-BE49-F238E27FC236}">
                  <a16:creationId xmlns:a16="http://schemas.microsoft.com/office/drawing/2014/main" id="{E2484132-B398-661B-4CC1-DE421D49C639}"/>
                </a:ext>
              </a:extLst>
            </p:cNvPr>
            <p:cNvSpPr/>
            <p:nvPr/>
          </p:nvSpPr>
          <p:spPr>
            <a:xfrm>
              <a:off x="1788607" y="4682528"/>
              <a:ext cx="3637503" cy="124354"/>
            </a:xfrm>
            <a:prstGeom prst="roundRect">
              <a:avLst>
                <a:gd name="adj" fmla="val 18762"/>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Arial" panose="020B0604020202020204"/>
                  <a:ea typeface="+mn-ea"/>
                  <a:cs typeface="+mn-cs"/>
                </a:rPr>
                <a:t>Virtual Network y</a:t>
              </a:r>
            </a:p>
          </p:txBody>
        </p:sp>
      </p:grpSp>
      <p:grpSp>
        <p:nvGrpSpPr>
          <p:cNvPr id="20" name="Group 19">
            <a:extLst>
              <a:ext uri="{FF2B5EF4-FFF2-40B4-BE49-F238E27FC236}">
                <a16:creationId xmlns:a16="http://schemas.microsoft.com/office/drawing/2014/main" id="{607D3124-13D0-0DC5-4E56-118E04FA840D}"/>
              </a:ext>
            </a:extLst>
          </p:cNvPr>
          <p:cNvGrpSpPr/>
          <p:nvPr/>
        </p:nvGrpSpPr>
        <p:grpSpPr>
          <a:xfrm>
            <a:off x="1090334" y="4844558"/>
            <a:ext cx="3114902" cy="184406"/>
            <a:chOff x="1090334" y="4844558"/>
            <a:chExt cx="3114902" cy="184406"/>
          </a:xfrm>
        </p:grpSpPr>
        <p:cxnSp>
          <p:nvCxnSpPr>
            <p:cNvPr id="211" name="Straight Connector 210">
              <a:extLst>
                <a:ext uri="{FF2B5EF4-FFF2-40B4-BE49-F238E27FC236}">
                  <a16:creationId xmlns:a16="http://schemas.microsoft.com/office/drawing/2014/main" id="{DDF41687-BCEA-8B0E-7369-F909185AF427}"/>
                </a:ext>
              </a:extLst>
            </p:cNvPr>
            <p:cNvCxnSpPr>
              <a:cxnSpLocks/>
              <a:stCxn id="200" idx="0"/>
            </p:cNvCxnSpPr>
            <p:nvPr/>
          </p:nvCxnSpPr>
          <p:spPr bwMode="gray">
            <a:xfrm flipV="1">
              <a:off x="1364791" y="4903596"/>
              <a:ext cx="0" cy="125368"/>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C7DF0EA6-D12E-7191-7D93-63B1E0737747}"/>
                </a:ext>
              </a:extLst>
            </p:cNvPr>
            <p:cNvCxnSpPr>
              <a:cxnSpLocks/>
              <a:stCxn id="206" idx="0"/>
            </p:cNvCxnSpPr>
            <p:nvPr/>
          </p:nvCxnSpPr>
          <p:spPr bwMode="gray">
            <a:xfrm flipV="1">
              <a:off x="3943491" y="4898571"/>
              <a:ext cx="0" cy="130393"/>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17" name="Rectangle: Rounded Corners 92">
              <a:extLst>
                <a:ext uri="{FF2B5EF4-FFF2-40B4-BE49-F238E27FC236}">
                  <a16:creationId xmlns:a16="http://schemas.microsoft.com/office/drawing/2014/main" id="{5CB999B5-F9BA-6105-91B9-51E0A4A047CC}"/>
                </a:ext>
              </a:extLst>
            </p:cNvPr>
            <p:cNvSpPr/>
            <p:nvPr/>
          </p:nvSpPr>
          <p:spPr>
            <a:xfrm>
              <a:off x="1090334" y="4844558"/>
              <a:ext cx="3114902" cy="124354"/>
            </a:xfrm>
            <a:prstGeom prst="roundRect">
              <a:avLst>
                <a:gd name="adj" fmla="val 18762"/>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Arial" panose="020B0604020202020204"/>
                  <a:ea typeface="+mn-ea"/>
                  <a:cs typeface="+mn-cs"/>
                </a:rPr>
                <a:t>Virtual Network x</a:t>
              </a:r>
            </a:p>
          </p:txBody>
        </p:sp>
      </p:grpSp>
      <p:grpSp>
        <p:nvGrpSpPr>
          <p:cNvPr id="18" name="Group 17">
            <a:extLst>
              <a:ext uri="{FF2B5EF4-FFF2-40B4-BE49-F238E27FC236}">
                <a16:creationId xmlns:a16="http://schemas.microsoft.com/office/drawing/2014/main" id="{8B21D86A-BB1F-282C-8623-DFE7004BA3E8}"/>
              </a:ext>
            </a:extLst>
          </p:cNvPr>
          <p:cNvGrpSpPr/>
          <p:nvPr/>
        </p:nvGrpSpPr>
        <p:grpSpPr>
          <a:xfrm>
            <a:off x="1588882" y="3146801"/>
            <a:ext cx="4009293" cy="1201171"/>
            <a:chOff x="1588882" y="3146801"/>
            <a:chExt cx="4009293" cy="1201171"/>
          </a:xfrm>
        </p:grpSpPr>
        <p:sp>
          <p:nvSpPr>
            <p:cNvPr id="17" name="Freeform 16">
              <a:extLst>
                <a:ext uri="{FF2B5EF4-FFF2-40B4-BE49-F238E27FC236}">
                  <a16:creationId xmlns:a16="http://schemas.microsoft.com/office/drawing/2014/main" id="{99229883-FDF4-641C-9581-D657AA7F5F3C}"/>
                </a:ext>
              </a:extLst>
            </p:cNvPr>
            <p:cNvSpPr/>
            <p:nvPr/>
          </p:nvSpPr>
          <p:spPr bwMode="gray">
            <a:xfrm>
              <a:off x="1588882" y="3149706"/>
              <a:ext cx="4009293" cy="1198266"/>
            </a:xfrm>
            <a:custGeom>
              <a:avLst/>
              <a:gdLst>
                <a:gd name="connsiteX0" fmla="*/ 199715 w 4009293"/>
                <a:gd name="connsiteY0" fmla="*/ 0 h 1198266"/>
                <a:gd name="connsiteX1" fmla="*/ 3809578 w 4009293"/>
                <a:gd name="connsiteY1" fmla="*/ 0 h 1198266"/>
                <a:gd name="connsiteX2" fmla="*/ 4009293 w 4009293"/>
                <a:gd name="connsiteY2" fmla="*/ 199715 h 1198266"/>
                <a:gd name="connsiteX3" fmla="*/ 4009293 w 4009293"/>
                <a:gd name="connsiteY3" fmla="*/ 1193238 h 1198266"/>
                <a:gd name="connsiteX4" fmla="*/ 4005619 w 4009293"/>
                <a:gd name="connsiteY4" fmla="*/ 1174511 h 1198266"/>
                <a:gd name="connsiteX5" fmla="*/ 3828423 w 4009293"/>
                <a:gd name="connsiteY5" fmla="*/ 1100295 h 1198266"/>
                <a:gd name="connsiteX6" fmla="*/ 3647552 w 4009293"/>
                <a:gd name="connsiteY6" fmla="*/ 1193243 h 1198266"/>
                <a:gd name="connsiteX7" fmla="*/ 3648537 w 4009293"/>
                <a:gd name="connsiteY7" fmla="*/ 1198266 h 1198266"/>
                <a:gd name="connsiteX8" fmla="*/ 3642527 w 4009293"/>
                <a:gd name="connsiteY8" fmla="*/ 1198266 h 1198266"/>
                <a:gd name="connsiteX9" fmla="*/ 3642527 w 4009293"/>
                <a:gd name="connsiteY9" fmla="*/ 494257 h 1198266"/>
                <a:gd name="connsiteX10" fmla="*/ 3486146 w 4009293"/>
                <a:gd name="connsiteY10" fmla="*/ 337876 h 1198266"/>
                <a:gd name="connsiteX11" fmla="*/ 2331851 w 4009293"/>
                <a:gd name="connsiteY11" fmla="*/ 337876 h 1198266"/>
                <a:gd name="connsiteX12" fmla="*/ 2175470 w 4009293"/>
                <a:gd name="connsiteY12" fmla="*/ 494257 h 1198266"/>
                <a:gd name="connsiteX13" fmla="*/ 2175470 w 4009293"/>
                <a:gd name="connsiteY13" fmla="*/ 1172278 h 1198266"/>
                <a:gd name="connsiteX14" fmla="*/ 2166280 w 4009293"/>
                <a:gd name="connsiteY14" fmla="*/ 1157063 h 1198266"/>
                <a:gd name="connsiteX15" fmla="*/ 1999623 w 4009293"/>
                <a:gd name="connsiteY15" fmla="*/ 1100295 h 1198266"/>
                <a:gd name="connsiteX16" fmla="*/ 1832966 w 4009293"/>
                <a:gd name="connsiteY16" fmla="*/ 1157063 h 1198266"/>
                <a:gd name="connsiteX17" fmla="*/ 1823775 w 4009293"/>
                <a:gd name="connsiteY17" fmla="*/ 1172279 h 1198266"/>
                <a:gd name="connsiteX18" fmla="*/ 1823775 w 4009293"/>
                <a:gd name="connsiteY18" fmla="*/ 495931 h 1198266"/>
                <a:gd name="connsiteX19" fmla="*/ 1665720 w 4009293"/>
                <a:gd name="connsiteY19" fmla="*/ 337876 h 1198266"/>
                <a:gd name="connsiteX20" fmla="*/ 514773 w 4009293"/>
                <a:gd name="connsiteY20" fmla="*/ 337876 h 1198266"/>
                <a:gd name="connsiteX21" fmla="*/ 356718 w 4009293"/>
                <a:gd name="connsiteY21" fmla="*/ 495931 h 1198266"/>
                <a:gd name="connsiteX22" fmla="*/ 356718 w 4009293"/>
                <a:gd name="connsiteY22" fmla="*/ 1192795 h 1198266"/>
                <a:gd name="connsiteX23" fmla="*/ 353131 w 4009293"/>
                <a:gd name="connsiteY23" fmla="*/ 1174511 h 1198266"/>
                <a:gd name="connsiteX24" fmla="*/ 175935 w 4009293"/>
                <a:gd name="connsiteY24" fmla="*/ 1100295 h 1198266"/>
                <a:gd name="connsiteX25" fmla="*/ 9278 w 4009293"/>
                <a:gd name="connsiteY25" fmla="*/ 1157063 h 1198266"/>
                <a:gd name="connsiteX26" fmla="*/ 0 w 4009293"/>
                <a:gd name="connsiteY26" fmla="*/ 1172423 h 1198266"/>
                <a:gd name="connsiteX27" fmla="*/ 0 w 4009293"/>
                <a:gd name="connsiteY27" fmla="*/ 199715 h 1198266"/>
                <a:gd name="connsiteX28" fmla="*/ 199715 w 4009293"/>
                <a:gd name="connsiteY28" fmla="*/ 0 h 1198266"/>
                <a:gd name="connsiteX0" fmla="*/ 199715 w 4009293"/>
                <a:gd name="connsiteY0" fmla="*/ 0 h 1198266"/>
                <a:gd name="connsiteX1" fmla="*/ 3809578 w 4009293"/>
                <a:gd name="connsiteY1" fmla="*/ 0 h 1198266"/>
                <a:gd name="connsiteX2" fmla="*/ 4009293 w 4009293"/>
                <a:gd name="connsiteY2" fmla="*/ 199715 h 1198266"/>
                <a:gd name="connsiteX3" fmla="*/ 4005619 w 4009293"/>
                <a:gd name="connsiteY3" fmla="*/ 1174511 h 1198266"/>
                <a:gd name="connsiteX4" fmla="*/ 3828423 w 4009293"/>
                <a:gd name="connsiteY4" fmla="*/ 1100295 h 1198266"/>
                <a:gd name="connsiteX5" fmla="*/ 3647552 w 4009293"/>
                <a:gd name="connsiteY5" fmla="*/ 1193243 h 1198266"/>
                <a:gd name="connsiteX6" fmla="*/ 3648537 w 4009293"/>
                <a:gd name="connsiteY6" fmla="*/ 1198266 h 1198266"/>
                <a:gd name="connsiteX7" fmla="*/ 3642527 w 4009293"/>
                <a:gd name="connsiteY7" fmla="*/ 1198266 h 1198266"/>
                <a:gd name="connsiteX8" fmla="*/ 3642527 w 4009293"/>
                <a:gd name="connsiteY8" fmla="*/ 494257 h 1198266"/>
                <a:gd name="connsiteX9" fmla="*/ 3486146 w 4009293"/>
                <a:gd name="connsiteY9" fmla="*/ 337876 h 1198266"/>
                <a:gd name="connsiteX10" fmla="*/ 2331851 w 4009293"/>
                <a:gd name="connsiteY10" fmla="*/ 337876 h 1198266"/>
                <a:gd name="connsiteX11" fmla="*/ 2175470 w 4009293"/>
                <a:gd name="connsiteY11" fmla="*/ 494257 h 1198266"/>
                <a:gd name="connsiteX12" fmla="*/ 2175470 w 4009293"/>
                <a:gd name="connsiteY12" fmla="*/ 1172278 h 1198266"/>
                <a:gd name="connsiteX13" fmla="*/ 2166280 w 4009293"/>
                <a:gd name="connsiteY13" fmla="*/ 1157063 h 1198266"/>
                <a:gd name="connsiteX14" fmla="*/ 1999623 w 4009293"/>
                <a:gd name="connsiteY14" fmla="*/ 1100295 h 1198266"/>
                <a:gd name="connsiteX15" fmla="*/ 1832966 w 4009293"/>
                <a:gd name="connsiteY15" fmla="*/ 1157063 h 1198266"/>
                <a:gd name="connsiteX16" fmla="*/ 1823775 w 4009293"/>
                <a:gd name="connsiteY16" fmla="*/ 1172279 h 1198266"/>
                <a:gd name="connsiteX17" fmla="*/ 1823775 w 4009293"/>
                <a:gd name="connsiteY17" fmla="*/ 495931 h 1198266"/>
                <a:gd name="connsiteX18" fmla="*/ 1665720 w 4009293"/>
                <a:gd name="connsiteY18" fmla="*/ 337876 h 1198266"/>
                <a:gd name="connsiteX19" fmla="*/ 514773 w 4009293"/>
                <a:gd name="connsiteY19" fmla="*/ 337876 h 1198266"/>
                <a:gd name="connsiteX20" fmla="*/ 356718 w 4009293"/>
                <a:gd name="connsiteY20" fmla="*/ 495931 h 1198266"/>
                <a:gd name="connsiteX21" fmla="*/ 356718 w 4009293"/>
                <a:gd name="connsiteY21" fmla="*/ 1192795 h 1198266"/>
                <a:gd name="connsiteX22" fmla="*/ 353131 w 4009293"/>
                <a:gd name="connsiteY22" fmla="*/ 1174511 h 1198266"/>
                <a:gd name="connsiteX23" fmla="*/ 175935 w 4009293"/>
                <a:gd name="connsiteY23" fmla="*/ 1100295 h 1198266"/>
                <a:gd name="connsiteX24" fmla="*/ 9278 w 4009293"/>
                <a:gd name="connsiteY24" fmla="*/ 1157063 h 1198266"/>
                <a:gd name="connsiteX25" fmla="*/ 0 w 4009293"/>
                <a:gd name="connsiteY25" fmla="*/ 1172423 h 1198266"/>
                <a:gd name="connsiteX26" fmla="*/ 0 w 4009293"/>
                <a:gd name="connsiteY26" fmla="*/ 199715 h 1198266"/>
                <a:gd name="connsiteX27" fmla="*/ 199715 w 4009293"/>
                <a:gd name="connsiteY27" fmla="*/ 0 h 1198266"/>
                <a:gd name="connsiteX0" fmla="*/ 199715 w 4009293"/>
                <a:gd name="connsiteY0" fmla="*/ 0 h 1198266"/>
                <a:gd name="connsiteX1" fmla="*/ 3809578 w 4009293"/>
                <a:gd name="connsiteY1" fmla="*/ 0 h 1198266"/>
                <a:gd name="connsiteX2" fmla="*/ 4009293 w 4009293"/>
                <a:gd name="connsiteY2" fmla="*/ 199715 h 1198266"/>
                <a:gd name="connsiteX3" fmla="*/ 4005619 w 4009293"/>
                <a:gd name="connsiteY3" fmla="*/ 1174511 h 1198266"/>
                <a:gd name="connsiteX4" fmla="*/ 3828423 w 4009293"/>
                <a:gd name="connsiteY4" fmla="*/ 1100295 h 1198266"/>
                <a:gd name="connsiteX5" fmla="*/ 3647552 w 4009293"/>
                <a:gd name="connsiteY5" fmla="*/ 1193243 h 1198266"/>
                <a:gd name="connsiteX6" fmla="*/ 3648537 w 4009293"/>
                <a:gd name="connsiteY6" fmla="*/ 1198266 h 1198266"/>
                <a:gd name="connsiteX7" fmla="*/ 3642527 w 4009293"/>
                <a:gd name="connsiteY7" fmla="*/ 1198266 h 1198266"/>
                <a:gd name="connsiteX8" fmla="*/ 3642527 w 4009293"/>
                <a:gd name="connsiteY8" fmla="*/ 494257 h 1198266"/>
                <a:gd name="connsiteX9" fmla="*/ 3486146 w 4009293"/>
                <a:gd name="connsiteY9" fmla="*/ 337876 h 1198266"/>
                <a:gd name="connsiteX10" fmla="*/ 2331851 w 4009293"/>
                <a:gd name="connsiteY10" fmla="*/ 337876 h 1198266"/>
                <a:gd name="connsiteX11" fmla="*/ 2175470 w 4009293"/>
                <a:gd name="connsiteY11" fmla="*/ 494257 h 1198266"/>
                <a:gd name="connsiteX12" fmla="*/ 2166280 w 4009293"/>
                <a:gd name="connsiteY12" fmla="*/ 1157063 h 1198266"/>
                <a:gd name="connsiteX13" fmla="*/ 1999623 w 4009293"/>
                <a:gd name="connsiteY13" fmla="*/ 1100295 h 1198266"/>
                <a:gd name="connsiteX14" fmla="*/ 1832966 w 4009293"/>
                <a:gd name="connsiteY14" fmla="*/ 1157063 h 1198266"/>
                <a:gd name="connsiteX15" fmla="*/ 1823775 w 4009293"/>
                <a:gd name="connsiteY15" fmla="*/ 1172279 h 1198266"/>
                <a:gd name="connsiteX16" fmla="*/ 1823775 w 4009293"/>
                <a:gd name="connsiteY16" fmla="*/ 495931 h 1198266"/>
                <a:gd name="connsiteX17" fmla="*/ 1665720 w 4009293"/>
                <a:gd name="connsiteY17" fmla="*/ 337876 h 1198266"/>
                <a:gd name="connsiteX18" fmla="*/ 514773 w 4009293"/>
                <a:gd name="connsiteY18" fmla="*/ 337876 h 1198266"/>
                <a:gd name="connsiteX19" fmla="*/ 356718 w 4009293"/>
                <a:gd name="connsiteY19" fmla="*/ 495931 h 1198266"/>
                <a:gd name="connsiteX20" fmla="*/ 356718 w 4009293"/>
                <a:gd name="connsiteY20" fmla="*/ 1192795 h 1198266"/>
                <a:gd name="connsiteX21" fmla="*/ 353131 w 4009293"/>
                <a:gd name="connsiteY21" fmla="*/ 1174511 h 1198266"/>
                <a:gd name="connsiteX22" fmla="*/ 175935 w 4009293"/>
                <a:gd name="connsiteY22" fmla="*/ 1100295 h 1198266"/>
                <a:gd name="connsiteX23" fmla="*/ 9278 w 4009293"/>
                <a:gd name="connsiteY23" fmla="*/ 1157063 h 1198266"/>
                <a:gd name="connsiteX24" fmla="*/ 0 w 4009293"/>
                <a:gd name="connsiteY24" fmla="*/ 1172423 h 1198266"/>
                <a:gd name="connsiteX25" fmla="*/ 0 w 4009293"/>
                <a:gd name="connsiteY25" fmla="*/ 199715 h 1198266"/>
                <a:gd name="connsiteX26" fmla="*/ 199715 w 4009293"/>
                <a:gd name="connsiteY26" fmla="*/ 0 h 1198266"/>
                <a:gd name="connsiteX0" fmla="*/ 199715 w 4009293"/>
                <a:gd name="connsiteY0" fmla="*/ 0 h 1198266"/>
                <a:gd name="connsiteX1" fmla="*/ 3809578 w 4009293"/>
                <a:gd name="connsiteY1" fmla="*/ 0 h 1198266"/>
                <a:gd name="connsiteX2" fmla="*/ 4009293 w 4009293"/>
                <a:gd name="connsiteY2" fmla="*/ 199715 h 1198266"/>
                <a:gd name="connsiteX3" fmla="*/ 4005619 w 4009293"/>
                <a:gd name="connsiteY3" fmla="*/ 1174511 h 1198266"/>
                <a:gd name="connsiteX4" fmla="*/ 3828423 w 4009293"/>
                <a:gd name="connsiteY4" fmla="*/ 1100295 h 1198266"/>
                <a:gd name="connsiteX5" fmla="*/ 3647552 w 4009293"/>
                <a:gd name="connsiteY5" fmla="*/ 1193243 h 1198266"/>
                <a:gd name="connsiteX6" fmla="*/ 3648537 w 4009293"/>
                <a:gd name="connsiteY6" fmla="*/ 1198266 h 1198266"/>
                <a:gd name="connsiteX7" fmla="*/ 3642527 w 4009293"/>
                <a:gd name="connsiteY7" fmla="*/ 1198266 h 1198266"/>
                <a:gd name="connsiteX8" fmla="*/ 3642527 w 4009293"/>
                <a:gd name="connsiteY8" fmla="*/ 494257 h 1198266"/>
                <a:gd name="connsiteX9" fmla="*/ 3486146 w 4009293"/>
                <a:gd name="connsiteY9" fmla="*/ 337876 h 1198266"/>
                <a:gd name="connsiteX10" fmla="*/ 2331851 w 4009293"/>
                <a:gd name="connsiteY10" fmla="*/ 337876 h 1198266"/>
                <a:gd name="connsiteX11" fmla="*/ 2175470 w 4009293"/>
                <a:gd name="connsiteY11" fmla="*/ 494257 h 1198266"/>
                <a:gd name="connsiteX12" fmla="*/ 2166280 w 4009293"/>
                <a:gd name="connsiteY12" fmla="*/ 1157063 h 1198266"/>
                <a:gd name="connsiteX13" fmla="*/ 1999623 w 4009293"/>
                <a:gd name="connsiteY13" fmla="*/ 1100295 h 1198266"/>
                <a:gd name="connsiteX14" fmla="*/ 1832966 w 4009293"/>
                <a:gd name="connsiteY14" fmla="*/ 1157063 h 1198266"/>
                <a:gd name="connsiteX15" fmla="*/ 1823775 w 4009293"/>
                <a:gd name="connsiteY15" fmla="*/ 1172279 h 1198266"/>
                <a:gd name="connsiteX16" fmla="*/ 1823775 w 4009293"/>
                <a:gd name="connsiteY16" fmla="*/ 495931 h 1198266"/>
                <a:gd name="connsiteX17" fmla="*/ 1665720 w 4009293"/>
                <a:gd name="connsiteY17" fmla="*/ 337876 h 1198266"/>
                <a:gd name="connsiteX18" fmla="*/ 514773 w 4009293"/>
                <a:gd name="connsiteY18" fmla="*/ 337876 h 1198266"/>
                <a:gd name="connsiteX19" fmla="*/ 356718 w 4009293"/>
                <a:gd name="connsiteY19" fmla="*/ 495931 h 1198266"/>
                <a:gd name="connsiteX20" fmla="*/ 353131 w 4009293"/>
                <a:gd name="connsiteY20" fmla="*/ 1174511 h 1198266"/>
                <a:gd name="connsiteX21" fmla="*/ 175935 w 4009293"/>
                <a:gd name="connsiteY21" fmla="*/ 1100295 h 1198266"/>
                <a:gd name="connsiteX22" fmla="*/ 9278 w 4009293"/>
                <a:gd name="connsiteY22" fmla="*/ 1157063 h 1198266"/>
                <a:gd name="connsiteX23" fmla="*/ 0 w 4009293"/>
                <a:gd name="connsiteY23" fmla="*/ 1172423 h 1198266"/>
                <a:gd name="connsiteX24" fmla="*/ 0 w 4009293"/>
                <a:gd name="connsiteY24" fmla="*/ 199715 h 1198266"/>
                <a:gd name="connsiteX25" fmla="*/ 199715 w 4009293"/>
                <a:gd name="connsiteY25" fmla="*/ 0 h 1198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009293" h="1198266">
                  <a:moveTo>
                    <a:pt x="199715" y="0"/>
                  </a:moveTo>
                  <a:lnTo>
                    <a:pt x="3809578" y="0"/>
                  </a:lnTo>
                  <a:cubicBezTo>
                    <a:pt x="3919878" y="0"/>
                    <a:pt x="4009293" y="89415"/>
                    <a:pt x="4009293" y="199715"/>
                  </a:cubicBezTo>
                  <a:cubicBezTo>
                    <a:pt x="4008068" y="524647"/>
                    <a:pt x="4006844" y="849579"/>
                    <a:pt x="4005619" y="1174511"/>
                  </a:cubicBezTo>
                  <a:cubicBezTo>
                    <a:pt x="3988754" y="1132156"/>
                    <a:pt x="3915828" y="1100295"/>
                    <a:pt x="3828423" y="1100295"/>
                  </a:cubicBezTo>
                  <a:cubicBezTo>
                    <a:pt x="3728531" y="1100295"/>
                    <a:pt x="3647552" y="1141909"/>
                    <a:pt x="3647552" y="1193243"/>
                  </a:cubicBezTo>
                  <a:lnTo>
                    <a:pt x="3648537" y="1198266"/>
                  </a:lnTo>
                  <a:lnTo>
                    <a:pt x="3642527" y="1198266"/>
                  </a:lnTo>
                  <a:lnTo>
                    <a:pt x="3642527" y="494257"/>
                  </a:lnTo>
                  <a:cubicBezTo>
                    <a:pt x="3642527" y="407890"/>
                    <a:pt x="3572513" y="337876"/>
                    <a:pt x="3486146" y="337876"/>
                  </a:cubicBezTo>
                  <a:lnTo>
                    <a:pt x="2331851" y="337876"/>
                  </a:lnTo>
                  <a:cubicBezTo>
                    <a:pt x="2245484" y="337876"/>
                    <a:pt x="2175470" y="407890"/>
                    <a:pt x="2175470" y="494257"/>
                  </a:cubicBezTo>
                  <a:lnTo>
                    <a:pt x="2166280" y="1157063"/>
                  </a:lnTo>
                  <a:cubicBezTo>
                    <a:pt x="2138822" y="1123703"/>
                    <a:pt x="2074542" y="1100295"/>
                    <a:pt x="1999623" y="1100295"/>
                  </a:cubicBezTo>
                  <a:cubicBezTo>
                    <a:pt x="1924704" y="1100295"/>
                    <a:pt x="1860424" y="1123703"/>
                    <a:pt x="1832966" y="1157063"/>
                  </a:cubicBezTo>
                  <a:lnTo>
                    <a:pt x="1823775" y="1172279"/>
                  </a:lnTo>
                  <a:lnTo>
                    <a:pt x="1823775" y="495931"/>
                  </a:lnTo>
                  <a:cubicBezTo>
                    <a:pt x="1823775" y="408640"/>
                    <a:pt x="1753011" y="337876"/>
                    <a:pt x="1665720" y="337876"/>
                  </a:cubicBezTo>
                  <a:lnTo>
                    <a:pt x="514773" y="337876"/>
                  </a:lnTo>
                  <a:cubicBezTo>
                    <a:pt x="427482" y="337876"/>
                    <a:pt x="356718" y="408640"/>
                    <a:pt x="356718" y="495931"/>
                  </a:cubicBezTo>
                  <a:cubicBezTo>
                    <a:pt x="355522" y="722124"/>
                    <a:pt x="354327" y="948318"/>
                    <a:pt x="353131" y="1174511"/>
                  </a:cubicBezTo>
                  <a:cubicBezTo>
                    <a:pt x="336266" y="1132156"/>
                    <a:pt x="263341" y="1100295"/>
                    <a:pt x="175935" y="1100295"/>
                  </a:cubicBezTo>
                  <a:cubicBezTo>
                    <a:pt x="101016" y="1100295"/>
                    <a:pt x="36736" y="1123703"/>
                    <a:pt x="9278" y="1157063"/>
                  </a:cubicBezTo>
                  <a:lnTo>
                    <a:pt x="0" y="1172423"/>
                  </a:lnTo>
                  <a:lnTo>
                    <a:pt x="0" y="199715"/>
                  </a:lnTo>
                  <a:cubicBezTo>
                    <a:pt x="0" y="89415"/>
                    <a:pt x="89415" y="0"/>
                    <a:pt x="199715" y="0"/>
                  </a:cubicBezTo>
                  <a:close/>
                </a:path>
              </a:pathLst>
            </a:custGeom>
            <a:solidFill>
              <a:schemeClr val="accent2">
                <a:alpha val="60000"/>
              </a:schemeClr>
            </a:solidFill>
            <a:ln w="12700">
              <a:noFill/>
              <a:miter lim="800000"/>
            </a:ln>
            <a:effectLst/>
            <a:scene3d>
              <a:camera prst="orthographicFront"/>
              <a:lightRig rig="contrasting" dir="t"/>
            </a:scene3d>
            <a:sp3d contourW="12700">
              <a:bevelT/>
              <a:contourClr>
                <a:schemeClr val="bg1">
                  <a:lumMod val="95000"/>
                </a:schemeClr>
              </a:contourClr>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90" name="TextBox 189">
              <a:extLst>
                <a:ext uri="{FF2B5EF4-FFF2-40B4-BE49-F238E27FC236}">
                  <a16:creationId xmlns:a16="http://schemas.microsoft.com/office/drawing/2014/main" id="{455E8523-934B-24EC-E299-D2053533F75F}"/>
                </a:ext>
              </a:extLst>
            </p:cNvPr>
            <p:cNvSpPr txBox="1"/>
            <p:nvPr/>
          </p:nvSpPr>
          <p:spPr>
            <a:xfrm>
              <a:off x="2194560" y="3146801"/>
              <a:ext cx="3036771"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Tunnels over physical infrastructure</a:t>
              </a:r>
            </a:p>
          </p:txBody>
        </p:sp>
      </p:grpSp>
      <p:sp>
        <p:nvSpPr>
          <p:cNvPr id="78" name="Rectangle 77">
            <a:extLst>
              <a:ext uri="{FF2B5EF4-FFF2-40B4-BE49-F238E27FC236}">
                <a16:creationId xmlns:a16="http://schemas.microsoft.com/office/drawing/2014/main" id="{1958E77C-0FF5-0FE3-4706-CC58FF6F1FC0}"/>
              </a:ext>
            </a:extLst>
          </p:cNvPr>
          <p:cNvSpPr/>
          <p:nvPr/>
        </p:nvSpPr>
        <p:spPr bwMode="gray">
          <a:xfrm>
            <a:off x="1270312" y="4958697"/>
            <a:ext cx="185871" cy="185871"/>
          </a:xfrm>
          <a:prstGeom prst="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 name="Rectangle: Rounded Corners 144">
            <a:extLst>
              <a:ext uri="{FF2B5EF4-FFF2-40B4-BE49-F238E27FC236}">
                <a16:creationId xmlns:a16="http://schemas.microsoft.com/office/drawing/2014/main" id="{EBEDA37C-744B-92CC-B144-2E599BC967E2}"/>
              </a:ext>
            </a:extLst>
          </p:cNvPr>
          <p:cNvSpPr/>
          <p:nvPr/>
        </p:nvSpPr>
        <p:spPr>
          <a:xfrm>
            <a:off x="869486" y="3567173"/>
            <a:ext cx="5421854" cy="393192"/>
          </a:xfrm>
          <a:prstGeom prst="roundRect">
            <a:avLst>
              <a:gd name="adj" fmla="val 50000"/>
            </a:avLst>
          </a:prstGeom>
          <a:solidFill>
            <a:schemeClr val="accent3"/>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VCF with NSX Virtual Networking</a:t>
            </a:r>
          </a:p>
        </p:txBody>
      </p:sp>
    </p:spTree>
    <p:extLst>
      <p:ext uri="{BB962C8B-B14F-4D97-AF65-F5344CB8AC3E}">
        <p14:creationId xmlns:p14="http://schemas.microsoft.com/office/powerpoint/2010/main" val="3413237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6"/>
                                        </p:tgtEl>
                                        <p:attrNameLst>
                                          <p:attrName>style.visibility</p:attrName>
                                        </p:attrNameLst>
                                      </p:cBhvr>
                                      <p:to>
                                        <p:strVal val="visible"/>
                                      </p:to>
                                    </p:set>
                                    <p:animEffect transition="in" filter="wipe(left)">
                                      <p:cBhvr>
                                        <p:cTn id="18" dur="500"/>
                                        <p:tgtEl>
                                          <p:spTgt spid="46"/>
                                        </p:tgtEl>
                                      </p:cBhvr>
                                    </p:animEffect>
                                  </p:childTnLst>
                                </p:cTn>
                              </p:par>
                            </p:childTnLst>
                          </p:cTn>
                        </p:par>
                        <p:par>
                          <p:cTn id="19" fill="hold">
                            <p:stCondLst>
                              <p:cond delay="500"/>
                            </p:stCondLst>
                            <p:childTnLst>
                              <p:par>
                                <p:cTn id="20" presetID="1" presetClass="entr" presetSubtype="0" fill="hold" grpId="1" nodeType="afterEffect">
                                  <p:stCondLst>
                                    <p:cond delay="0"/>
                                  </p:stCondLst>
                                  <p:childTnLst>
                                    <p:set>
                                      <p:cBhvr>
                                        <p:cTn id="21" dur="1" fill="hold">
                                          <p:stCondLst>
                                            <p:cond delay="0"/>
                                          </p:stCondLst>
                                        </p:cTn>
                                        <p:tgtEl>
                                          <p:spTgt spid="78"/>
                                        </p:tgtEl>
                                        <p:attrNameLst>
                                          <p:attrName>style.visibility</p:attrName>
                                        </p:attrNameLst>
                                      </p:cBhvr>
                                      <p:to>
                                        <p:strVal val="visible"/>
                                      </p:to>
                                    </p:set>
                                  </p:childTnLst>
                                </p:cTn>
                              </p:par>
                            </p:childTnLst>
                          </p:cTn>
                        </p:par>
                        <p:par>
                          <p:cTn id="22" fill="hold">
                            <p:stCondLst>
                              <p:cond delay="500"/>
                            </p:stCondLst>
                            <p:childTnLst>
                              <p:par>
                                <p:cTn id="23" presetID="0" presetClass="path" presetSubtype="0" repeatCount="indefinite" fill="hold" grpId="0" nodeType="afterEffect">
                                  <p:stCondLst>
                                    <p:cond delay="0"/>
                                  </p:stCondLst>
                                  <p:endCondLst>
                                    <p:cond evt="onNext" delay="0">
                                      <p:tgtEl>
                                        <p:sldTgt/>
                                      </p:tgtEl>
                                    </p:cond>
                                  </p:endCondLst>
                                  <p:childTnLst>
                                    <p:animMotion origin="layout" path="M 2.149E-6 -0.0162 L 0.02709 -0.01504 C 0.02774 -0.09305 0.02826 -0.1706 0.02865 -0.24791 L 0.17439 -0.24421 C 0.17491 -0.16736 0.1753 -0.09004 0.17596 -0.01273 L 0.21177 -0.0162 " pathEditMode="relative" rAng="0" ptsTypes="AAAAAA">
                                      <p:cBhvr>
                                        <p:cTn id="24" dur="1000" fill="hold"/>
                                        <p:tgtEl>
                                          <p:spTgt spid="78"/>
                                        </p:tgtEl>
                                        <p:attrNameLst>
                                          <p:attrName>ppt_x</p:attrName>
                                          <p:attrName>ppt_y</p:attrName>
                                        </p:attrNameLst>
                                      </p:cBhvr>
                                      <p:rCtr x="10589" y="-11412"/>
                                    </p:animMotion>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2" nodeType="clickEffect">
                                  <p:stCondLst>
                                    <p:cond delay="0"/>
                                  </p:stCondLst>
                                  <p:childTnLst>
                                    <p:set>
                                      <p:cBhvr>
                                        <p:cTn id="28" dur="1" fill="hold">
                                          <p:stCondLst>
                                            <p:cond delay="0"/>
                                          </p:stCondLst>
                                        </p:cTn>
                                        <p:tgtEl>
                                          <p:spTgt spid="78"/>
                                        </p:tgtEl>
                                        <p:attrNameLst>
                                          <p:attrName>style.visibility</p:attrName>
                                        </p:attrNameLst>
                                      </p:cBhvr>
                                      <p:to>
                                        <p:strVal val="hidden"/>
                                      </p:to>
                                    </p:set>
                                  </p:childTnLst>
                                </p:cTn>
                              </p:par>
                              <p:par>
                                <p:cTn id="29" presetID="22" presetClass="entr" presetSubtype="8" fill="hold" nodeType="withEffect">
                                  <p:stCondLst>
                                    <p:cond delay="0"/>
                                  </p:stCondLst>
                                  <p:childTnLst>
                                    <p:set>
                                      <p:cBhvr>
                                        <p:cTn id="30" dur="1" fill="hold">
                                          <p:stCondLst>
                                            <p:cond delay="0"/>
                                          </p:stCondLst>
                                        </p:cTn>
                                        <p:tgtEl>
                                          <p:spTgt spid="76"/>
                                        </p:tgtEl>
                                        <p:attrNameLst>
                                          <p:attrName>style.visibility</p:attrName>
                                        </p:attrNameLst>
                                      </p:cBhvr>
                                      <p:to>
                                        <p:strVal val="visible"/>
                                      </p:to>
                                    </p:set>
                                    <p:animEffect transition="in" filter="wipe(left)">
                                      <p:cBhvr>
                                        <p:cTn id="31" dur="500"/>
                                        <p:tgtEl>
                                          <p:spTgt spid="76"/>
                                        </p:tgtEl>
                                      </p:cBhvr>
                                    </p:animEffect>
                                  </p:childTnLst>
                                </p:cTn>
                              </p:par>
                            </p:childTnLst>
                          </p:cTn>
                        </p:par>
                        <p:par>
                          <p:cTn id="32" fill="hold">
                            <p:stCondLst>
                              <p:cond delay="500"/>
                            </p:stCondLst>
                            <p:childTnLst>
                              <p:par>
                                <p:cTn id="33" presetID="22" presetClass="entr" presetSubtype="4" fill="hold" grpId="0" nodeType="afterEffect">
                                  <p:stCondLst>
                                    <p:cond delay="0"/>
                                  </p:stCondLst>
                                  <p:childTnLst>
                                    <p:set>
                                      <p:cBhvr>
                                        <p:cTn id="34" dur="1" fill="hold">
                                          <p:stCondLst>
                                            <p:cond delay="0"/>
                                          </p:stCondLst>
                                        </p:cTn>
                                        <p:tgtEl>
                                          <p:spTgt spid="47"/>
                                        </p:tgtEl>
                                        <p:attrNameLst>
                                          <p:attrName>style.visibility</p:attrName>
                                        </p:attrNameLst>
                                      </p:cBhvr>
                                      <p:to>
                                        <p:strVal val="visible"/>
                                      </p:to>
                                    </p:set>
                                    <p:animEffect transition="in" filter="wipe(down)">
                                      <p:cBhvr>
                                        <p:cTn id="35" dur="500"/>
                                        <p:tgtEl>
                                          <p:spTgt spid="47"/>
                                        </p:tgtEl>
                                      </p:cBhvr>
                                    </p:animEffect>
                                  </p:childTnLst>
                                </p:cTn>
                              </p:par>
                            </p:childTnLst>
                          </p:cTn>
                        </p:par>
                        <p:par>
                          <p:cTn id="36" fill="hold">
                            <p:stCondLst>
                              <p:cond delay="1000"/>
                            </p:stCondLst>
                            <p:childTnLst>
                              <p:par>
                                <p:cTn id="37" presetID="22" presetClass="entr" presetSubtype="8" fill="hold" nodeType="afterEffect">
                                  <p:stCondLst>
                                    <p:cond delay="0"/>
                                  </p:stCondLst>
                                  <p:childTnLst>
                                    <p:set>
                                      <p:cBhvr>
                                        <p:cTn id="38" dur="1" fill="hold">
                                          <p:stCondLst>
                                            <p:cond delay="0"/>
                                          </p:stCondLst>
                                        </p:cTn>
                                        <p:tgtEl>
                                          <p:spTgt spid="77"/>
                                        </p:tgtEl>
                                        <p:attrNameLst>
                                          <p:attrName>style.visibility</p:attrName>
                                        </p:attrNameLst>
                                      </p:cBhvr>
                                      <p:to>
                                        <p:strVal val="visible"/>
                                      </p:to>
                                    </p:set>
                                    <p:animEffect transition="in" filter="wipe(left)">
                                      <p:cBhvr>
                                        <p:cTn id="39" dur="500"/>
                                        <p:tgtEl>
                                          <p:spTgt spid="77"/>
                                        </p:tgtEl>
                                      </p:cBhvr>
                                    </p:animEffect>
                                  </p:childTnLst>
                                </p:cTn>
                              </p:par>
                            </p:childTnLst>
                          </p:cTn>
                        </p:par>
                        <p:par>
                          <p:cTn id="40" fill="hold">
                            <p:stCondLst>
                              <p:cond delay="1500"/>
                            </p:stCondLst>
                            <p:childTnLst>
                              <p:par>
                                <p:cTn id="41" presetID="22" presetClass="entr" presetSubtype="4" fill="hold" grpId="0" nodeType="after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wipe(down)">
                                      <p:cBhvr>
                                        <p:cTn id="43"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animBg="1"/>
      <p:bldP spid="78" grpId="0" animBg="1"/>
      <p:bldP spid="78" grpId="1" animBg="1"/>
      <p:bldP spid="78" grpId="2"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7455B-41A4-47E5-EE9F-7E7B482DAB3B}"/>
            </a:ext>
          </a:extLst>
        </p:cNvPr>
        <p:cNvGrpSpPr/>
        <p:nvPr/>
      </p:nvGrpSpPr>
      <p:grpSpPr>
        <a:xfrm>
          <a:off x="0" y="0"/>
          <a:ext cx="0" cy="0"/>
          <a:chOff x="0" y="0"/>
          <a:chExt cx="0" cy="0"/>
        </a:xfrm>
      </p:grpSpPr>
      <p:grpSp>
        <p:nvGrpSpPr>
          <p:cNvPr id="94" name="Group 93">
            <a:extLst>
              <a:ext uri="{FF2B5EF4-FFF2-40B4-BE49-F238E27FC236}">
                <a16:creationId xmlns:a16="http://schemas.microsoft.com/office/drawing/2014/main" id="{58FB4D0D-4D9D-4083-6627-57BA16C0FE06}"/>
              </a:ext>
            </a:extLst>
          </p:cNvPr>
          <p:cNvGrpSpPr/>
          <p:nvPr/>
        </p:nvGrpSpPr>
        <p:grpSpPr>
          <a:xfrm flipH="1">
            <a:off x="6596829" y="4638119"/>
            <a:ext cx="5380806" cy="792064"/>
            <a:chOff x="3383881" y="2102447"/>
            <a:chExt cx="3261261" cy="457200"/>
          </a:xfrm>
        </p:grpSpPr>
        <p:sp>
          <p:nvSpPr>
            <p:cNvPr id="100" name="Freeform: Shape 126">
              <a:extLst>
                <a:ext uri="{FF2B5EF4-FFF2-40B4-BE49-F238E27FC236}">
                  <a16:creationId xmlns:a16="http://schemas.microsoft.com/office/drawing/2014/main" id="{0BDB21E1-E2D2-C76E-8B74-4738CD5DD728}"/>
                </a:ext>
              </a:extLst>
            </p:cNvPr>
            <p:cNvSpPr/>
            <p:nvPr/>
          </p:nvSpPr>
          <p:spPr>
            <a:xfrm>
              <a:off x="3383881" y="2102447"/>
              <a:ext cx="3261261" cy="457200"/>
            </a:xfrm>
            <a:custGeom>
              <a:avLst/>
              <a:gdLst>
                <a:gd name="connsiteX0" fmla="*/ 0 w 3030663"/>
                <a:gd name="connsiteY0" fmla="*/ 0 h 457200"/>
                <a:gd name="connsiteX1" fmla="*/ 2520956 w 3030663"/>
                <a:gd name="connsiteY1" fmla="*/ 0 h 457200"/>
                <a:gd name="connsiteX2" fmla="*/ 2539224 w 3030663"/>
                <a:gd name="connsiteY2" fmla="*/ 0 h 457200"/>
                <a:gd name="connsiteX3" fmla="*/ 2856223 w 3030663"/>
                <a:gd name="connsiteY3" fmla="*/ 0 h 457200"/>
                <a:gd name="connsiteX4" fmla="*/ 2886476 w 3030663"/>
                <a:gd name="connsiteY4" fmla="*/ 15527 h 457200"/>
                <a:gd name="connsiteX5" fmla="*/ 3023732 w 3030663"/>
                <a:gd name="connsiteY5" fmla="*/ 207028 h 457200"/>
                <a:gd name="connsiteX6" fmla="*/ 3023732 w 3030663"/>
                <a:gd name="connsiteY6" fmla="*/ 250171 h 457200"/>
                <a:gd name="connsiteX7" fmla="*/ 2886476 w 3030663"/>
                <a:gd name="connsiteY7" fmla="*/ 441673 h 457200"/>
                <a:gd name="connsiteX8" fmla="*/ 2856223 w 3030663"/>
                <a:gd name="connsiteY8" fmla="*/ 457200 h 457200"/>
                <a:gd name="connsiteX9" fmla="*/ 2539224 w 3030663"/>
                <a:gd name="connsiteY9" fmla="*/ 457200 h 457200"/>
                <a:gd name="connsiteX10" fmla="*/ 2520956 w 3030663"/>
                <a:gd name="connsiteY10" fmla="*/ 457200 h 457200"/>
                <a:gd name="connsiteX11" fmla="*/ 0 w 3030663"/>
                <a:gd name="connsiteY11"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30663" h="457200">
                  <a:moveTo>
                    <a:pt x="0" y="0"/>
                  </a:moveTo>
                  <a:lnTo>
                    <a:pt x="2520956" y="0"/>
                  </a:lnTo>
                  <a:lnTo>
                    <a:pt x="2539224" y="0"/>
                  </a:lnTo>
                  <a:lnTo>
                    <a:pt x="2856223" y="0"/>
                  </a:lnTo>
                  <a:cubicBezTo>
                    <a:pt x="2868239" y="0"/>
                    <a:pt x="2879509" y="5778"/>
                    <a:pt x="2886476" y="15527"/>
                  </a:cubicBezTo>
                  <a:lnTo>
                    <a:pt x="3023732" y="207028"/>
                  </a:lnTo>
                  <a:cubicBezTo>
                    <a:pt x="3032974" y="219932"/>
                    <a:pt x="3032974" y="237268"/>
                    <a:pt x="3023732" y="250171"/>
                  </a:cubicBezTo>
                  <a:lnTo>
                    <a:pt x="2886476" y="441673"/>
                  </a:lnTo>
                  <a:cubicBezTo>
                    <a:pt x="2879509" y="451421"/>
                    <a:pt x="2868204" y="457200"/>
                    <a:pt x="2856223" y="457200"/>
                  </a:cubicBezTo>
                  <a:lnTo>
                    <a:pt x="2539224" y="457200"/>
                  </a:lnTo>
                  <a:lnTo>
                    <a:pt x="2520956" y="457200"/>
                  </a:lnTo>
                  <a:lnTo>
                    <a:pt x="0" y="457200"/>
                  </a:lnTo>
                  <a:close/>
                </a:path>
              </a:pathLst>
            </a:custGeom>
            <a:gradFill>
              <a:gsLst>
                <a:gs pos="0">
                  <a:schemeClr val="bg2">
                    <a:lumMod val="90000"/>
                  </a:schemeClr>
                </a:gs>
                <a:gs pos="70000">
                  <a:schemeClr val="bg2">
                    <a:lumMod val="90000"/>
                    <a:alpha val="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01" name="Striped Right Arrow 225">
              <a:extLst>
                <a:ext uri="{FF2B5EF4-FFF2-40B4-BE49-F238E27FC236}">
                  <a16:creationId xmlns:a16="http://schemas.microsoft.com/office/drawing/2014/main" id="{35F77437-00B0-300D-3817-46CDC3FCE918}"/>
                </a:ext>
              </a:extLst>
            </p:cNvPr>
            <p:cNvSpPr/>
            <p:nvPr/>
          </p:nvSpPr>
          <p:spPr>
            <a:xfrm>
              <a:off x="3918857" y="2145427"/>
              <a:ext cx="2368967" cy="3691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1B1D36"/>
                  </a:solidFill>
                  <a:effectLst/>
                  <a:uLnTx/>
                  <a:uFillTx/>
                  <a:latin typeface="Arial" panose="020B0604020202020204"/>
                  <a:ea typeface="+mn-ea"/>
                  <a:cs typeface="+mn-cs"/>
                </a:rPr>
                <a:t>NSX REST API</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1B1D36"/>
                  </a:solidFill>
                  <a:effectLst/>
                  <a:uLnTx/>
                  <a:uFillTx/>
                  <a:latin typeface="Arial" panose="020B0604020202020204"/>
                  <a:ea typeface="+mn-ea"/>
                  <a:cs typeface="+mn-cs"/>
                </a:rPr>
                <a:t>Automation</a:t>
              </a:r>
            </a:p>
          </p:txBody>
        </p:sp>
        <p:sp>
          <p:nvSpPr>
            <p:cNvPr id="103" name="Graphic 6096">
              <a:extLst>
                <a:ext uri="{FF2B5EF4-FFF2-40B4-BE49-F238E27FC236}">
                  <a16:creationId xmlns:a16="http://schemas.microsoft.com/office/drawing/2014/main" id="{D536C4BD-8500-208D-3E65-F9B2A2769838}"/>
                </a:ext>
              </a:extLst>
            </p:cNvPr>
            <p:cNvSpPr/>
            <p:nvPr/>
          </p:nvSpPr>
          <p:spPr>
            <a:xfrm>
              <a:off x="6293302" y="2145812"/>
              <a:ext cx="258311" cy="370470"/>
            </a:xfrm>
            <a:custGeom>
              <a:avLst/>
              <a:gdLst>
                <a:gd name="connsiteX0" fmla="*/ 0 w 469820"/>
                <a:gd name="connsiteY0" fmla="*/ 675704 h 675703"/>
                <a:gd name="connsiteX1" fmla="*/ 210503 w 469820"/>
                <a:gd name="connsiteY1" fmla="*/ 675704 h 675703"/>
                <a:gd name="connsiteX2" fmla="*/ 258699 w 469820"/>
                <a:gd name="connsiteY2" fmla="*/ 650843 h 675703"/>
                <a:gd name="connsiteX3" fmla="*/ 459962 w 469820"/>
                <a:gd name="connsiteY3" fmla="*/ 368713 h 675703"/>
                <a:gd name="connsiteX4" fmla="*/ 459962 w 469820"/>
                <a:gd name="connsiteY4" fmla="*/ 306896 h 675703"/>
                <a:gd name="connsiteX5" fmla="*/ 260033 w 469820"/>
                <a:gd name="connsiteY5" fmla="*/ 26670 h 675703"/>
                <a:gd name="connsiteX6" fmla="*/ 208217 w 469820"/>
                <a:gd name="connsiteY6" fmla="*/ 0 h 675703"/>
                <a:gd name="connsiteX7" fmla="*/ 0 w 469820"/>
                <a:gd name="connsiteY7" fmla="*/ 0 h 675703"/>
                <a:gd name="connsiteX8" fmla="*/ 223266 w 469820"/>
                <a:gd name="connsiteY8" fmla="*/ 312992 h 675703"/>
                <a:gd name="connsiteX9" fmla="*/ 223266 w 469820"/>
                <a:gd name="connsiteY9" fmla="*/ 362712 h 675703"/>
                <a:gd name="connsiteX10" fmla="*/ 0 w 469820"/>
                <a:gd name="connsiteY10" fmla="*/ 675704 h 675703"/>
                <a:gd name="connsiteX11" fmla="*/ 0 w 469820"/>
                <a:gd name="connsiteY11" fmla="*/ 675704 h 675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9820" h="675703">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lang="en-US" sz="1200" b="0" i="0" u="none" strike="noStrike" kern="1200" cap="none" spc="0" normalizeH="0" baseline="0" noProof="0">
                <a:ln>
                  <a:noFill/>
                </a:ln>
                <a:solidFill>
                  <a:srgbClr val="3C3C3C"/>
                </a:solidFill>
                <a:effectLst/>
                <a:uLnTx/>
                <a:uFillTx/>
                <a:latin typeface="Arial" panose="020B0604020202020204"/>
                <a:ea typeface="+mn-ea"/>
                <a:cs typeface="Arial"/>
              </a:endParaRPr>
            </a:p>
          </p:txBody>
        </p:sp>
      </p:grpSp>
      <p:sp>
        <p:nvSpPr>
          <p:cNvPr id="104" name="Rectangle: Rounded Corners 171">
            <a:extLst>
              <a:ext uri="{FF2B5EF4-FFF2-40B4-BE49-F238E27FC236}">
                <a16:creationId xmlns:a16="http://schemas.microsoft.com/office/drawing/2014/main" id="{9827191F-4BFD-830B-615B-00B7DD563A30}"/>
              </a:ext>
            </a:extLst>
          </p:cNvPr>
          <p:cNvSpPr/>
          <p:nvPr/>
        </p:nvSpPr>
        <p:spPr>
          <a:xfrm flipH="1">
            <a:off x="9143999" y="1923583"/>
            <a:ext cx="2436989" cy="3628663"/>
          </a:xfrm>
          <a:prstGeom prst="roundRect">
            <a:avLst>
              <a:gd name="adj" fmla="val 4067"/>
            </a:avLst>
          </a:prstGeom>
          <a:gradFill>
            <a:gsLst>
              <a:gs pos="0">
                <a:schemeClr val="bg2"/>
              </a:gs>
              <a:gs pos="99000">
                <a:schemeClr val="bg2">
                  <a:alpha val="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BOTTOM">
            <a:extLst>
              <a:ext uri="{FF2B5EF4-FFF2-40B4-BE49-F238E27FC236}">
                <a16:creationId xmlns:a16="http://schemas.microsoft.com/office/drawing/2014/main" id="{D06293B1-4FCE-F138-CA9B-871B7FE1103A}"/>
              </a:ext>
            </a:extLst>
          </p:cNvPr>
          <p:cNvSpPr/>
          <p:nvPr/>
        </p:nvSpPr>
        <p:spPr>
          <a:xfrm rot="10800000" flipV="1">
            <a:off x="627405" y="1600200"/>
            <a:ext cx="5924208" cy="2071149"/>
          </a:xfrm>
          <a:prstGeom prst="round2SameRect">
            <a:avLst>
              <a:gd name="adj1" fmla="val 7233"/>
              <a:gd name="adj2" fmla="val 0"/>
            </a:avLst>
          </a:prstGeom>
          <a:solidFill>
            <a:srgbClr val="E8E8EA"/>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endParaRPr>
          </a:p>
        </p:txBody>
      </p:sp>
      <p:sp>
        <p:nvSpPr>
          <p:cNvPr id="4" name="!!TOP">
            <a:extLst>
              <a:ext uri="{FF2B5EF4-FFF2-40B4-BE49-F238E27FC236}">
                <a16:creationId xmlns:a16="http://schemas.microsoft.com/office/drawing/2014/main" id="{5E20045C-2190-ADCC-623E-13CD144FA8E9}"/>
              </a:ext>
            </a:extLst>
          </p:cNvPr>
          <p:cNvSpPr/>
          <p:nvPr/>
        </p:nvSpPr>
        <p:spPr>
          <a:xfrm flipV="1">
            <a:off x="627406" y="3886200"/>
            <a:ext cx="5924207" cy="2285996"/>
          </a:xfrm>
          <a:prstGeom prst="round2SameRect">
            <a:avLst>
              <a:gd name="adj1" fmla="val 7233"/>
              <a:gd name="adj2" fmla="val 0"/>
            </a:avLst>
          </a:prstGeom>
          <a:solidFill>
            <a:schemeClr val="accent2">
              <a:alpha val="10000"/>
            </a:schemeClr>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endParaRPr>
          </a:p>
        </p:txBody>
      </p:sp>
      <p:grpSp>
        <p:nvGrpSpPr>
          <p:cNvPr id="5" name="Group 4">
            <a:extLst>
              <a:ext uri="{FF2B5EF4-FFF2-40B4-BE49-F238E27FC236}">
                <a16:creationId xmlns:a16="http://schemas.microsoft.com/office/drawing/2014/main" id="{6DA25DF1-0FB1-37FC-DF60-E01FC83BED69}"/>
              </a:ext>
            </a:extLst>
          </p:cNvPr>
          <p:cNvGrpSpPr/>
          <p:nvPr/>
        </p:nvGrpSpPr>
        <p:grpSpPr>
          <a:xfrm>
            <a:off x="2292252" y="2515495"/>
            <a:ext cx="1203522" cy="543290"/>
            <a:chOff x="2247375" y="4148923"/>
            <a:chExt cx="1203522" cy="543290"/>
          </a:xfrm>
        </p:grpSpPr>
        <p:sp>
          <p:nvSpPr>
            <p:cNvPr id="6" name="Rectangle: Rounded Corners 5">
              <a:extLst>
                <a:ext uri="{FF2B5EF4-FFF2-40B4-BE49-F238E27FC236}">
                  <a16:creationId xmlns:a16="http://schemas.microsoft.com/office/drawing/2014/main" id="{E190BDEC-F418-8BFE-8E25-2E4E730EF880}"/>
                </a:ext>
              </a:extLst>
            </p:cNvPr>
            <p:cNvSpPr>
              <a:spLocks noChangeAspect="1"/>
            </p:cNvSpPr>
            <p:nvPr/>
          </p:nvSpPr>
          <p:spPr>
            <a:xfrm>
              <a:off x="2247375" y="4148923"/>
              <a:ext cx="1203522" cy="543290"/>
            </a:xfrm>
            <a:prstGeom prst="roundRect">
              <a:avLst>
                <a:gd name="adj" fmla="val 10033"/>
              </a:avLst>
            </a:prstGeom>
            <a:solidFill>
              <a:schemeClr val="bg1"/>
            </a:solidFill>
            <a:ln w="1905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Graphic 9">
              <a:extLst>
                <a:ext uri="{FF2B5EF4-FFF2-40B4-BE49-F238E27FC236}">
                  <a16:creationId xmlns:a16="http://schemas.microsoft.com/office/drawing/2014/main" id="{C826357B-3A9A-00E8-FDC0-EF0795BDCA67}"/>
                </a:ext>
              </a:extLst>
            </p:cNvPr>
            <p:cNvSpPr>
              <a:spLocks noChangeAspect="1"/>
            </p:cNvSpPr>
            <p:nvPr/>
          </p:nvSpPr>
          <p:spPr>
            <a:xfrm>
              <a:off x="2481912" y="4323931"/>
              <a:ext cx="734448" cy="193273"/>
            </a:xfrm>
            <a:custGeom>
              <a:avLst/>
              <a:gdLst>
                <a:gd name="connsiteX0" fmla="*/ 0 w 763913"/>
                <a:gd name="connsiteY0" fmla="*/ 0 h 201029"/>
                <a:gd name="connsiteX1" fmla="*/ 0 w 763913"/>
                <a:gd name="connsiteY1" fmla="*/ 201030 h 201029"/>
                <a:gd name="connsiteX2" fmla="*/ 763913 w 763913"/>
                <a:gd name="connsiteY2" fmla="*/ 201030 h 201029"/>
                <a:gd name="connsiteX3" fmla="*/ 763913 w 763913"/>
                <a:gd name="connsiteY3" fmla="*/ 0 h 201029"/>
                <a:gd name="connsiteX4" fmla="*/ 0 w 763913"/>
                <a:gd name="connsiteY4" fmla="*/ 0 h 201029"/>
                <a:gd name="connsiteX5" fmla="*/ 80357 w 763913"/>
                <a:gd name="connsiteY5" fmla="*/ 130683 h 201029"/>
                <a:gd name="connsiteX6" fmla="*/ 60282 w 763913"/>
                <a:gd name="connsiteY6" fmla="*/ 130683 h 201029"/>
                <a:gd name="connsiteX7" fmla="*/ 60282 w 763913"/>
                <a:gd name="connsiteY7" fmla="*/ 110607 h 201029"/>
                <a:gd name="connsiteX8" fmla="*/ 80357 w 763913"/>
                <a:gd name="connsiteY8" fmla="*/ 110607 h 201029"/>
                <a:gd name="connsiteX9" fmla="*/ 80357 w 763913"/>
                <a:gd name="connsiteY9" fmla="*/ 130683 h 201029"/>
                <a:gd name="connsiteX10" fmla="*/ 80357 w 763913"/>
                <a:gd name="connsiteY10" fmla="*/ 90477 h 201029"/>
                <a:gd name="connsiteX11" fmla="*/ 60282 w 763913"/>
                <a:gd name="connsiteY11" fmla="*/ 90477 h 201029"/>
                <a:gd name="connsiteX12" fmla="*/ 60282 w 763913"/>
                <a:gd name="connsiteY12" fmla="*/ 70401 h 201029"/>
                <a:gd name="connsiteX13" fmla="*/ 80357 w 763913"/>
                <a:gd name="connsiteY13" fmla="*/ 70401 h 201029"/>
                <a:gd name="connsiteX14" fmla="*/ 80357 w 763913"/>
                <a:gd name="connsiteY14" fmla="*/ 90477 h 201029"/>
                <a:gd name="connsiteX15" fmla="*/ 120563 w 763913"/>
                <a:gd name="connsiteY15" fmla="*/ 130683 h 201029"/>
                <a:gd name="connsiteX16" fmla="*/ 100488 w 763913"/>
                <a:gd name="connsiteY16" fmla="*/ 130683 h 201029"/>
                <a:gd name="connsiteX17" fmla="*/ 100488 w 763913"/>
                <a:gd name="connsiteY17" fmla="*/ 110607 h 201029"/>
                <a:gd name="connsiteX18" fmla="*/ 120563 w 763913"/>
                <a:gd name="connsiteY18" fmla="*/ 110607 h 201029"/>
                <a:gd name="connsiteX19" fmla="*/ 120563 w 763913"/>
                <a:gd name="connsiteY19" fmla="*/ 130683 h 201029"/>
                <a:gd name="connsiteX20" fmla="*/ 120563 w 763913"/>
                <a:gd name="connsiteY20" fmla="*/ 90477 h 201029"/>
                <a:gd name="connsiteX21" fmla="*/ 100488 w 763913"/>
                <a:gd name="connsiteY21" fmla="*/ 90477 h 201029"/>
                <a:gd name="connsiteX22" fmla="*/ 100488 w 763913"/>
                <a:gd name="connsiteY22" fmla="*/ 70401 h 201029"/>
                <a:gd name="connsiteX23" fmla="*/ 120563 w 763913"/>
                <a:gd name="connsiteY23" fmla="*/ 70401 h 201029"/>
                <a:gd name="connsiteX24" fmla="*/ 120563 w 763913"/>
                <a:gd name="connsiteY24" fmla="*/ 90477 h 201029"/>
                <a:gd name="connsiteX25" fmla="*/ 160769 w 763913"/>
                <a:gd name="connsiteY25" fmla="*/ 130683 h 201029"/>
                <a:gd name="connsiteX26" fmla="*/ 140694 w 763913"/>
                <a:gd name="connsiteY26" fmla="*/ 130683 h 201029"/>
                <a:gd name="connsiteX27" fmla="*/ 140694 w 763913"/>
                <a:gd name="connsiteY27" fmla="*/ 110607 h 201029"/>
                <a:gd name="connsiteX28" fmla="*/ 160769 w 763913"/>
                <a:gd name="connsiteY28" fmla="*/ 110607 h 201029"/>
                <a:gd name="connsiteX29" fmla="*/ 160769 w 763913"/>
                <a:gd name="connsiteY29" fmla="*/ 130683 h 201029"/>
                <a:gd name="connsiteX30" fmla="*/ 160769 w 763913"/>
                <a:gd name="connsiteY30" fmla="*/ 90477 h 201029"/>
                <a:gd name="connsiteX31" fmla="*/ 140694 w 763913"/>
                <a:gd name="connsiteY31" fmla="*/ 90477 h 201029"/>
                <a:gd name="connsiteX32" fmla="*/ 140694 w 763913"/>
                <a:gd name="connsiteY32" fmla="*/ 70401 h 201029"/>
                <a:gd name="connsiteX33" fmla="*/ 160769 w 763913"/>
                <a:gd name="connsiteY33" fmla="*/ 70401 h 201029"/>
                <a:gd name="connsiteX34" fmla="*/ 160769 w 763913"/>
                <a:gd name="connsiteY34" fmla="*/ 90477 h 201029"/>
                <a:gd name="connsiteX35" fmla="*/ 200975 w 763913"/>
                <a:gd name="connsiteY35" fmla="*/ 130683 h 201029"/>
                <a:gd name="connsiteX36" fmla="*/ 180900 w 763913"/>
                <a:gd name="connsiteY36" fmla="*/ 130683 h 201029"/>
                <a:gd name="connsiteX37" fmla="*/ 180900 w 763913"/>
                <a:gd name="connsiteY37" fmla="*/ 110607 h 201029"/>
                <a:gd name="connsiteX38" fmla="*/ 200975 w 763913"/>
                <a:gd name="connsiteY38" fmla="*/ 110607 h 201029"/>
                <a:gd name="connsiteX39" fmla="*/ 200975 w 763913"/>
                <a:gd name="connsiteY39" fmla="*/ 130683 h 201029"/>
                <a:gd name="connsiteX40" fmla="*/ 200975 w 763913"/>
                <a:gd name="connsiteY40" fmla="*/ 90477 h 201029"/>
                <a:gd name="connsiteX41" fmla="*/ 180900 w 763913"/>
                <a:gd name="connsiteY41" fmla="*/ 90477 h 201029"/>
                <a:gd name="connsiteX42" fmla="*/ 180900 w 763913"/>
                <a:gd name="connsiteY42" fmla="*/ 70401 h 201029"/>
                <a:gd name="connsiteX43" fmla="*/ 200975 w 763913"/>
                <a:gd name="connsiteY43" fmla="*/ 70401 h 201029"/>
                <a:gd name="connsiteX44" fmla="*/ 200975 w 763913"/>
                <a:gd name="connsiteY44" fmla="*/ 90477 h 201029"/>
                <a:gd name="connsiteX45" fmla="*/ 241181 w 763913"/>
                <a:gd name="connsiteY45" fmla="*/ 130683 h 201029"/>
                <a:gd name="connsiteX46" fmla="*/ 221051 w 763913"/>
                <a:gd name="connsiteY46" fmla="*/ 130683 h 201029"/>
                <a:gd name="connsiteX47" fmla="*/ 221051 w 763913"/>
                <a:gd name="connsiteY47" fmla="*/ 110607 h 201029"/>
                <a:gd name="connsiteX48" fmla="*/ 241181 w 763913"/>
                <a:gd name="connsiteY48" fmla="*/ 110607 h 201029"/>
                <a:gd name="connsiteX49" fmla="*/ 241181 w 763913"/>
                <a:gd name="connsiteY49" fmla="*/ 130683 h 201029"/>
                <a:gd name="connsiteX50" fmla="*/ 241181 w 763913"/>
                <a:gd name="connsiteY50" fmla="*/ 90477 h 201029"/>
                <a:gd name="connsiteX51" fmla="*/ 221051 w 763913"/>
                <a:gd name="connsiteY51" fmla="*/ 90477 h 201029"/>
                <a:gd name="connsiteX52" fmla="*/ 221051 w 763913"/>
                <a:gd name="connsiteY52" fmla="*/ 70401 h 201029"/>
                <a:gd name="connsiteX53" fmla="*/ 241181 w 763913"/>
                <a:gd name="connsiteY53" fmla="*/ 70401 h 201029"/>
                <a:gd name="connsiteX54" fmla="*/ 241181 w 763913"/>
                <a:gd name="connsiteY54" fmla="*/ 90477 h 201029"/>
                <a:gd name="connsiteX55" fmla="*/ 281387 w 763913"/>
                <a:gd name="connsiteY55" fmla="*/ 130683 h 201029"/>
                <a:gd name="connsiteX56" fmla="*/ 261311 w 763913"/>
                <a:gd name="connsiteY56" fmla="*/ 130683 h 201029"/>
                <a:gd name="connsiteX57" fmla="*/ 261311 w 763913"/>
                <a:gd name="connsiteY57" fmla="*/ 110607 h 201029"/>
                <a:gd name="connsiteX58" fmla="*/ 281387 w 763913"/>
                <a:gd name="connsiteY58" fmla="*/ 110607 h 201029"/>
                <a:gd name="connsiteX59" fmla="*/ 281387 w 763913"/>
                <a:gd name="connsiteY59" fmla="*/ 130683 h 201029"/>
                <a:gd name="connsiteX60" fmla="*/ 281387 w 763913"/>
                <a:gd name="connsiteY60" fmla="*/ 90477 h 201029"/>
                <a:gd name="connsiteX61" fmla="*/ 261311 w 763913"/>
                <a:gd name="connsiteY61" fmla="*/ 90477 h 201029"/>
                <a:gd name="connsiteX62" fmla="*/ 261311 w 763913"/>
                <a:gd name="connsiteY62" fmla="*/ 70401 h 201029"/>
                <a:gd name="connsiteX63" fmla="*/ 281387 w 763913"/>
                <a:gd name="connsiteY63" fmla="*/ 70401 h 201029"/>
                <a:gd name="connsiteX64" fmla="*/ 281387 w 763913"/>
                <a:gd name="connsiteY64" fmla="*/ 90477 h 201029"/>
                <a:gd name="connsiteX65" fmla="*/ 321593 w 763913"/>
                <a:gd name="connsiteY65" fmla="*/ 130683 h 201029"/>
                <a:gd name="connsiteX66" fmla="*/ 301517 w 763913"/>
                <a:gd name="connsiteY66" fmla="*/ 130683 h 201029"/>
                <a:gd name="connsiteX67" fmla="*/ 301517 w 763913"/>
                <a:gd name="connsiteY67" fmla="*/ 110607 h 201029"/>
                <a:gd name="connsiteX68" fmla="*/ 321593 w 763913"/>
                <a:gd name="connsiteY68" fmla="*/ 110607 h 201029"/>
                <a:gd name="connsiteX69" fmla="*/ 321593 w 763913"/>
                <a:gd name="connsiteY69" fmla="*/ 130683 h 201029"/>
                <a:gd name="connsiteX70" fmla="*/ 321593 w 763913"/>
                <a:gd name="connsiteY70" fmla="*/ 90477 h 201029"/>
                <a:gd name="connsiteX71" fmla="*/ 301517 w 763913"/>
                <a:gd name="connsiteY71" fmla="*/ 90477 h 201029"/>
                <a:gd name="connsiteX72" fmla="*/ 301517 w 763913"/>
                <a:gd name="connsiteY72" fmla="*/ 70401 h 201029"/>
                <a:gd name="connsiteX73" fmla="*/ 321593 w 763913"/>
                <a:gd name="connsiteY73" fmla="*/ 70401 h 201029"/>
                <a:gd name="connsiteX74" fmla="*/ 321593 w 763913"/>
                <a:gd name="connsiteY74" fmla="*/ 90477 h 201029"/>
                <a:gd name="connsiteX75" fmla="*/ 585093 w 763913"/>
                <a:gd name="connsiteY75" fmla="*/ 120673 h 201029"/>
                <a:gd name="connsiteX76" fmla="*/ 565017 w 763913"/>
                <a:gd name="connsiteY76" fmla="*/ 100542 h 201029"/>
                <a:gd name="connsiteX77" fmla="*/ 585093 w 763913"/>
                <a:gd name="connsiteY77" fmla="*/ 80467 h 201029"/>
                <a:gd name="connsiteX78" fmla="*/ 605168 w 763913"/>
                <a:gd name="connsiteY78" fmla="*/ 100542 h 201029"/>
                <a:gd name="connsiteX79" fmla="*/ 585093 w 763913"/>
                <a:gd name="connsiteY79" fmla="*/ 120673 h 201029"/>
                <a:gd name="connsiteX80" fmla="*/ 667364 w 763913"/>
                <a:gd name="connsiteY80" fmla="*/ 120673 h 201029"/>
                <a:gd name="connsiteX81" fmla="*/ 647289 w 763913"/>
                <a:gd name="connsiteY81" fmla="*/ 100542 h 201029"/>
                <a:gd name="connsiteX82" fmla="*/ 667364 w 763913"/>
                <a:gd name="connsiteY82" fmla="*/ 80467 h 201029"/>
                <a:gd name="connsiteX83" fmla="*/ 687440 w 763913"/>
                <a:gd name="connsiteY83" fmla="*/ 100542 h 201029"/>
                <a:gd name="connsiteX84" fmla="*/ 667364 w 763913"/>
                <a:gd name="connsiteY84" fmla="*/ 120673 h 201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763913" h="201029">
                  <a:moveTo>
                    <a:pt x="0" y="0"/>
                  </a:moveTo>
                  <a:lnTo>
                    <a:pt x="0" y="201030"/>
                  </a:lnTo>
                  <a:lnTo>
                    <a:pt x="763913" y="201030"/>
                  </a:lnTo>
                  <a:lnTo>
                    <a:pt x="763913" y="0"/>
                  </a:lnTo>
                  <a:lnTo>
                    <a:pt x="0" y="0"/>
                  </a:lnTo>
                  <a:close/>
                  <a:moveTo>
                    <a:pt x="80357" y="130683"/>
                  </a:moveTo>
                  <a:lnTo>
                    <a:pt x="60282" y="130683"/>
                  </a:lnTo>
                  <a:lnTo>
                    <a:pt x="60282" y="110607"/>
                  </a:lnTo>
                  <a:lnTo>
                    <a:pt x="80357" y="110607"/>
                  </a:lnTo>
                  <a:lnTo>
                    <a:pt x="80357" y="130683"/>
                  </a:lnTo>
                  <a:close/>
                  <a:moveTo>
                    <a:pt x="80357" y="90477"/>
                  </a:moveTo>
                  <a:lnTo>
                    <a:pt x="60282" y="90477"/>
                  </a:lnTo>
                  <a:lnTo>
                    <a:pt x="60282" y="70401"/>
                  </a:lnTo>
                  <a:lnTo>
                    <a:pt x="80357" y="70401"/>
                  </a:lnTo>
                  <a:lnTo>
                    <a:pt x="80357" y="90477"/>
                  </a:lnTo>
                  <a:close/>
                  <a:moveTo>
                    <a:pt x="120563" y="130683"/>
                  </a:moveTo>
                  <a:lnTo>
                    <a:pt x="100488" y="130683"/>
                  </a:lnTo>
                  <a:lnTo>
                    <a:pt x="100488" y="110607"/>
                  </a:lnTo>
                  <a:lnTo>
                    <a:pt x="120563" y="110607"/>
                  </a:lnTo>
                  <a:lnTo>
                    <a:pt x="120563" y="130683"/>
                  </a:lnTo>
                  <a:close/>
                  <a:moveTo>
                    <a:pt x="120563" y="90477"/>
                  </a:moveTo>
                  <a:lnTo>
                    <a:pt x="100488" y="90477"/>
                  </a:lnTo>
                  <a:lnTo>
                    <a:pt x="100488" y="70401"/>
                  </a:lnTo>
                  <a:lnTo>
                    <a:pt x="120563" y="70401"/>
                  </a:lnTo>
                  <a:lnTo>
                    <a:pt x="120563" y="90477"/>
                  </a:lnTo>
                  <a:close/>
                  <a:moveTo>
                    <a:pt x="160769" y="130683"/>
                  </a:moveTo>
                  <a:lnTo>
                    <a:pt x="140694" y="130683"/>
                  </a:lnTo>
                  <a:lnTo>
                    <a:pt x="140694" y="110607"/>
                  </a:lnTo>
                  <a:lnTo>
                    <a:pt x="160769" y="110607"/>
                  </a:lnTo>
                  <a:lnTo>
                    <a:pt x="160769" y="130683"/>
                  </a:lnTo>
                  <a:close/>
                  <a:moveTo>
                    <a:pt x="160769" y="90477"/>
                  </a:moveTo>
                  <a:lnTo>
                    <a:pt x="140694" y="90477"/>
                  </a:lnTo>
                  <a:lnTo>
                    <a:pt x="140694" y="70401"/>
                  </a:lnTo>
                  <a:lnTo>
                    <a:pt x="160769" y="70401"/>
                  </a:lnTo>
                  <a:lnTo>
                    <a:pt x="160769" y="90477"/>
                  </a:lnTo>
                  <a:close/>
                  <a:moveTo>
                    <a:pt x="200975" y="130683"/>
                  </a:moveTo>
                  <a:lnTo>
                    <a:pt x="180900" y="130683"/>
                  </a:lnTo>
                  <a:lnTo>
                    <a:pt x="180900" y="110607"/>
                  </a:lnTo>
                  <a:lnTo>
                    <a:pt x="200975" y="110607"/>
                  </a:lnTo>
                  <a:lnTo>
                    <a:pt x="200975" y="130683"/>
                  </a:lnTo>
                  <a:close/>
                  <a:moveTo>
                    <a:pt x="200975" y="90477"/>
                  </a:moveTo>
                  <a:lnTo>
                    <a:pt x="180900" y="90477"/>
                  </a:lnTo>
                  <a:lnTo>
                    <a:pt x="180900" y="70401"/>
                  </a:lnTo>
                  <a:lnTo>
                    <a:pt x="200975" y="70401"/>
                  </a:lnTo>
                  <a:lnTo>
                    <a:pt x="200975" y="90477"/>
                  </a:lnTo>
                  <a:close/>
                  <a:moveTo>
                    <a:pt x="241181" y="130683"/>
                  </a:moveTo>
                  <a:lnTo>
                    <a:pt x="221051" y="130683"/>
                  </a:lnTo>
                  <a:lnTo>
                    <a:pt x="221051" y="110607"/>
                  </a:lnTo>
                  <a:lnTo>
                    <a:pt x="241181" y="110607"/>
                  </a:lnTo>
                  <a:lnTo>
                    <a:pt x="241181" y="130683"/>
                  </a:lnTo>
                  <a:close/>
                  <a:moveTo>
                    <a:pt x="241181" y="90477"/>
                  </a:moveTo>
                  <a:lnTo>
                    <a:pt x="221051" y="90477"/>
                  </a:lnTo>
                  <a:lnTo>
                    <a:pt x="221051" y="70401"/>
                  </a:lnTo>
                  <a:lnTo>
                    <a:pt x="241181" y="70401"/>
                  </a:lnTo>
                  <a:lnTo>
                    <a:pt x="241181" y="90477"/>
                  </a:lnTo>
                  <a:close/>
                  <a:moveTo>
                    <a:pt x="281387" y="130683"/>
                  </a:moveTo>
                  <a:lnTo>
                    <a:pt x="261311" y="130683"/>
                  </a:lnTo>
                  <a:lnTo>
                    <a:pt x="261311" y="110607"/>
                  </a:lnTo>
                  <a:lnTo>
                    <a:pt x="281387" y="110607"/>
                  </a:lnTo>
                  <a:lnTo>
                    <a:pt x="281387" y="130683"/>
                  </a:lnTo>
                  <a:close/>
                  <a:moveTo>
                    <a:pt x="281387" y="90477"/>
                  </a:moveTo>
                  <a:lnTo>
                    <a:pt x="261311" y="90477"/>
                  </a:lnTo>
                  <a:lnTo>
                    <a:pt x="261311" y="70401"/>
                  </a:lnTo>
                  <a:lnTo>
                    <a:pt x="281387" y="70401"/>
                  </a:lnTo>
                  <a:lnTo>
                    <a:pt x="281387" y="90477"/>
                  </a:lnTo>
                  <a:close/>
                  <a:moveTo>
                    <a:pt x="321593" y="130683"/>
                  </a:moveTo>
                  <a:lnTo>
                    <a:pt x="301517" y="130683"/>
                  </a:lnTo>
                  <a:lnTo>
                    <a:pt x="301517" y="110607"/>
                  </a:lnTo>
                  <a:lnTo>
                    <a:pt x="321593" y="110607"/>
                  </a:lnTo>
                  <a:lnTo>
                    <a:pt x="321593" y="130683"/>
                  </a:lnTo>
                  <a:close/>
                  <a:moveTo>
                    <a:pt x="321593" y="90477"/>
                  </a:moveTo>
                  <a:lnTo>
                    <a:pt x="301517" y="90477"/>
                  </a:lnTo>
                  <a:lnTo>
                    <a:pt x="301517" y="70401"/>
                  </a:lnTo>
                  <a:lnTo>
                    <a:pt x="321593" y="70401"/>
                  </a:lnTo>
                  <a:lnTo>
                    <a:pt x="321593" y="90477"/>
                  </a:lnTo>
                  <a:close/>
                  <a:moveTo>
                    <a:pt x="585093" y="120673"/>
                  </a:moveTo>
                  <a:cubicBezTo>
                    <a:pt x="573988" y="120673"/>
                    <a:pt x="565017" y="111647"/>
                    <a:pt x="565017" y="100542"/>
                  </a:cubicBezTo>
                  <a:cubicBezTo>
                    <a:pt x="565017" y="89438"/>
                    <a:pt x="574043" y="80467"/>
                    <a:pt x="585093" y="80467"/>
                  </a:cubicBezTo>
                  <a:cubicBezTo>
                    <a:pt x="596142" y="80467"/>
                    <a:pt x="605168" y="89492"/>
                    <a:pt x="605168" y="100542"/>
                  </a:cubicBezTo>
                  <a:cubicBezTo>
                    <a:pt x="605168" y="111592"/>
                    <a:pt x="596142" y="120673"/>
                    <a:pt x="585093" y="120673"/>
                  </a:cubicBezTo>
                  <a:close/>
                  <a:moveTo>
                    <a:pt x="667364" y="120673"/>
                  </a:moveTo>
                  <a:cubicBezTo>
                    <a:pt x="656260" y="120673"/>
                    <a:pt x="647289" y="111647"/>
                    <a:pt x="647289" y="100542"/>
                  </a:cubicBezTo>
                  <a:cubicBezTo>
                    <a:pt x="647289" y="89438"/>
                    <a:pt x="656315" y="80467"/>
                    <a:pt x="667364" y="80467"/>
                  </a:cubicBezTo>
                  <a:cubicBezTo>
                    <a:pt x="678414" y="80467"/>
                    <a:pt x="687440" y="89492"/>
                    <a:pt x="687440" y="100542"/>
                  </a:cubicBezTo>
                  <a:cubicBezTo>
                    <a:pt x="687440" y="111592"/>
                    <a:pt x="678414" y="120673"/>
                    <a:pt x="667364" y="120673"/>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grpSp>
        <p:nvGrpSpPr>
          <p:cNvPr id="8" name="Group 7">
            <a:extLst>
              <a:ext uri="{FF2B5EF4-FFF2-40B4-BE49-F238E27FC236}">
                <a16:creationId xmlns:a16="http://schemas.microsoft.com/office/drawing/2014/main" id="{CFB77BE2-A046-178C-3BCE-24ECF8C52613}"/>
              </a:ext>
            </a:extLst>
          </p:cNvPr>
          <p:cNvGrpSpPr/>
          <p:nvPr/>
        </p:nvGrpSpPr>
        <p:grpSpPr>
          <a:xfrm>
            <a:off x="826995" y="2514600"/>
            <a:ext cx="1200052" cy="545078"/>
            <a:chOff x="782118" y="4148028"/>
            <a:chExt cx="1200052" cy="545078"/>
          </a:xfrm>
        </p:grpSpPr>
        <p:sp>
          <p:nvSpPr>
            <p:cNvPr id="9" name="Rectangle: Rounded Corners 8">
              <a:extLst>
                <a:ext uri="{FF2B5EF4-FFF2-40B4-BE49-F238E27FC236}">
                  <a16:creationId xmlns:a16="http://schemas.microsoft.com/office/drawing/2014/main" id="{976C5EE8-D33E-549A-D579-55B1F506471C}"/>
                </a:ext>
              </a:extLst>
            </p:cNvPr>
            <p:cNvSpPr>
              <a:spLocks noChangeAspect="1"/>
            </p:cNvSpPr>
            <p:nvPr/>
          </p:nvSpPr>
          <p:spPr>
            <a:xfrm>
              <a:off x="782118" y="4148028"/>
              <a:ext cx="1200052" cy="545078"/>
            </a:xfrm>
            <a:prstGeom prst="roundRect">
              <a:avLst>
                <a:gd name="adj" fmla="val 10000"/>
              </a:avLst>
            </a:prstGeom>
            <a:solidFill>
              <a:schemeClr val="bg1"/>
            </a:solidFill>
            <a:ln w="1905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Graphic 9">
              <a:extLst>
                <a:ext uri="{FF2B5EF4-FFF2-40B4-BE49-F238E27FC236}">
                  <a16:creationId xmlns:a16="http://schemas.microsoft.com/office/drawing/2014/main" id="{E3D925FD-D8E7-F322-388A-2381E0B164C5}"/>
                </a:ext>
              </a:extLst>
            </p:cNvPr>
            <p:cNvSpPr>
              <a:spLocks noChangeAspect="1"/>
            </p:cNvSpPr>
            <p:nvPr/>
          </p:nvSpPr>
          <p:spPr>
            <a:xfrm>
              <a:off x="1014920" y="4323931"/>
              <a:ext cx="734448" cy="193273"/>
            </a:xfrm>
            <a:custGeom>
              <a:avLst/>
              <a:gdLst>
                <a:gd name="connsiteX0" fmla="*/ 0 w 763913"/>
                <a:gd name="connsiteY0" fmla="*/ 0 h 201029"/>
                <a:gd name="connsiteX1" fmla="*/ 0 w 763913"/>
                <a:gd name="connsiteY1" fmla="*/ 201030 h 201029"/>
                <a:gd name="connsiteX2" fmla="*/ 763913 w 763913"/>
                <a:gd name="connsiteY2" fmla="*/ 201030 h 201029"/>
                <a:gd name="connsiteX3" fmla="*/ 763913 w 763913"/>
                <a:gd name="connsiteY3" fmla="*/ 0 h 201029"/>
                <a:gd name="connsiteX4" fmla="*/ 0 w 763913"/>
                <a:gd name="connsiteY4" fmla="*/ 0 h 201029"/>
                <a:gd name="connsiteX5" fmla="*/ 80357 w 763913"/>
                <a:gd name="connsiteY5" fmla="*/ 130683 h 201029"/>
                <a:gd name="connsiteX6" fmla="*/ 60282 w 763913"/>
                <a:gd name="connsiteY6" fmla="*/ 130683 h 201029"/>
                <a:gd name="connsiteX7" fmla="*/ 60282 w 763913"/>
                <a:gd name="connsiteY7" fmla="*/ 110607 h 201029"/>
                <a:gd name="connsiteX8" fmla="*/ 80357 w 763913"/>
                <a:gd name="connsiteY8" fmla="*/ 110607 h 201029"/>
                <a:gd name="connsiteX9" fmla="*/ 80357 w 763913"/>
                <a:gd name="connsiteY9" fmla="*/ 130683 h 201029"/>
                <a:gd name="connsiteX10" fmla="*/ 80357 w 763913"/>
                <a:gd name="connsiteY10" fmla="*/ 90477 h 201029"/>
                <a:gd name="connsiteX11" fmla="*/ 60282 w 763913"/>
                <a:gd name="connsiteY11" fmla="*/ 90477 h 201029"/>
                <a:gd name="connsiteX12" fmla="*/ 60282 w 763913"/>
                <a:gd name="connsiteY12" fmla="*/ 70401 h 201029"/>
                <a:gd name="connsiteX13" fmla="*/ 80357 w 763913"/>
                <a:gd name="connsiteY13" fmla="*/ 70401 h 201029"/>
                <a:gd name="connsiteX14" fmla="*/ 80357 w 763913"/>
                <a:gd name="connsiteY14" fmla="*/ 90477 h 201029"/>
                <a:gd name="connsiteX15" fmla="*/ 120563 w 763913"/>
                <a:gd name="connsiteY15" fmla="*/ 130683 h 201029"/>
                <a:gd name="connsiteX16" fmla="*/ 100488 w 763913"/>
                <a:gd name="connsiteY16" fmla="*/ 130683 h 201029"/>
                <a:gd name="connsiteX17" fmla="*/ 100488 w 763913"/>
                <a:gd name="connsiteY17" fmla="*/ 110607 h 201029"/>
                <a:gd name="connsiteX18" fmla="*/ 120563 w 763913"/>
                <a:gd name="connsiteY18" fmla="*/ 110607 h 201029"/>
                <a:gd name="connsiteX19" fmla="*/ 120563 w 763913"/>
                <a:gd name="connsiteY19" fmla="*/ 130683 h 201029"/>
                <a:gd name="connsiteX20" fmla="*/ 120563 w 763913"/>
                <a:gd name="connsiteY20" fmla="*/ 90477 h 201029"/>
                <a:gd name="connsiteX21" fmla="*/ 100488 w 763913"/>
                <a:gd name="connsiteY21" fmla="*/ 90477 h 201029"/>
                <a:gd name="connsiteX22" fmla="*/ 100488 w 763913"/>
                <a:gd name="connsiteY22" fmla="*/ 70401 h 201029"/>
                <a:gd name="connsiteX23" fmla="*/ 120563 w 763913"/>
                <a:gd name="connsiteY23" fmla="*/ 70401 h 201029"/>
                <a:gd name="connsiteX24" fmla="*/ 120563 w 763913"/>
                <a:gd name="connsiteY24" fmla="*/ 90477 h 201029"/>
                <a:gd name="connsiteX25" fmla="*/ 160769 w 763913"/>
                <a:gd name="connsiteY25" fmla="*/ 130683 h 201029"/>
                <a:gd name="connsiteX26" fmla="*/ 140694 w 763913"/>
                <a:gd name="connsiteY26" fmla="*/ 130683 h 201029"/>
                <a:gd name="connsiteX27" fmla="*/ 140694 w 763913"/>
                <a:gd name="connsiteY27" fmla="*/ 110607 h 201029"/>
                <a:gd name="connsiteX28" fmla="*/ 160769 w 763913"/>
                <a:gd name="connsiteY28" fmla="*/ 110607 h 201029"/>
                <a:gd name="connsiteX29" fmla="*/ 160769 w 763913"/>
                <a:gd name="connsiteY29" fmla="*/ 130683 h 201029"/>
                <a:gd name="connsiteX30" fmla="*/ 160769 w 763913"/>
                <a:gd name="connsiteY30" fmla="*/ 90477 h 201029"/>
                <a:gd name="connsiteX31" fmla="*/ 140694 w 763913"/>
                <a:gd name="connsiteY31" fmla="*/ 90477 h 201029"/>
                <a:gd name="connsiteX32" fmla="*/ 140694 w 763913"/>
                <a:gd name="connsiteY32" fmla="*/ 70401 h 201029"/>
                <a:gd name="connsiteX33" fmla="*/ 160769 w 763913"/>
                <a:gd name="connsiteY33" fmla="*/ 70401 h 201029"/>
                <a:gd name="connsiteX34" fmla="*/ 160769 w 763913"/>
                <a:gd name="connsiteY34" fmla="*/ 90477 h 201029"/>
                <a:gd name="connsiteX35" fmla="*/ 200975 w 763913"/>
                <a:gd name="connsiteY35" fmla="*/ 130683 h 201029"/>
                <a:gd name="connsiteX36" fmla="*/ 180900 w 763913"/>
                <a:gd name="connsiteY36" fmla="*/ 130683 h 201029"/>
                <a:gd name="connsiteX37" fmla="*/ 180900 w 763913"/>
                <a:gd name="connsiteY37" fmla="*/ 110607 h 201029"/>
                <a:gd name="connsiteX38" fmla="*/ 200975 w 763913"/>
                <a:gd name="connsiteY38" fmla="*/ 110607 h 201029"/>
                <a:gd name="connsiteX39" fmla="*/ 200975 w 763913"/>
                <a:gd name="connsiteY39" fmla="*/ 130683 h 201029"/>
                <a:gd name="connsiteX40" fmla="*/ 200975 w 763913"/>
                <a:gd name="connsiteY40" fmla="*/ 90477 h 201029"/>
                <a:gd name="connsiteX41" fmla="*/ 180900 w 763913"/>
                <a:gd name="connsiteY41" fmla="*/ 90477 h 201029"/>
                <a:gd name="connsiteX42" fmla="*/ 180900 w 763913"/>
                <a:gd name="connsiteY42" fmla="*/ 70401 h 201029"/>
                <a:gd name="connsiteX43" fmla="*/ 200975 w 763913"/>
                <a:gd name="connsiteY43" fmla="*/ 70401 h 201029"/>
                <a:gd name="connsiteX44" fmla="*/ 200975 w 763913"/>
                <a:gd name="connsiteY44" fmla="*/ 90477 h 201029"/>
                <a:gd name="connsiteX45" fmla="*/ 241181 w 763913"/>
                <a:gd name="connsiteY45" fmla="*/ 130683 h 201029"/>
                <a:gd name="connsiteX46" fmla="*/ 221051 w 763913"/>
                <a:gd name="connsiteY46" fmla="*/ 130683 h 201029"/>
                <a:gd name="connsiteX47" fmla="*/ 221051 w 763913"/>
                <a:gd name="connsiteY47" fmla="*/ 110607 h 201029"/>
                <a:gd name="connsiteX48" fmla="*/ 241181 w 763913"/>
                <a:gd name="connsiteY48" fmla="*/ 110607 h 201029"/>
                <a:gd name="connsiteX49" fmla="*/ 241181 w 763913"/>
                <a:gd name="connsiteY49" fmla="*/ 130683 h 201029"/>
                <a:gd name="connsiteX50" fmla="*/ 241181 w 763913"/>
                <a:gd name="connsiteY50" fmla="*/ 90477 h 201029"/>
                <a:gd name="connsiteX51" fmla="*/ 221051 w 763913"/>
                <a:gd name="connsiteY51" fmla="*/ 90477 h 201029"/>
                <a:gd name="connsiteX52" fmla="*/ 221051 w 763913"/>
                <a:gd name="connsiteY52" fmla="*/ 70401 h 201029"/>
                <a:gd name="connsiteX53" fmla="*/ 241181 w 763913"/>
                <a:gd name="connsiteY53" fmla="*/ 70401 h 201029"/>
                <a:gd name="connsiteX54" fmla="*/ 241181 w 763913"/>
                <a:gd name="connsiteY54" fmla="*/ 90477 h 201029"/>
                <a:gd name="connsiteX55" fmla="*/ 281387 w 763913"/>
                <a:gd name="connsiteY55" fmla="*/ 130683 h 201029"/>
                <a:gd name="connsiteX56" fmla="*/ 261311 w 763913"/>
                <a:gd name="connsiteY56" fmla="*/ 130683 h 201029"/>
                <a:gd name="connsiteX57" fmla="*/ 261311 w 763913"/>
                <a:gd name="connsiteY57" fmla="*/ 110607 h 201029"/>
                <a:gd name="connsiteX58" fmla="*/ 281387 w 763913"/>
                <a:gd name="connsiteY58" fmla="*/ 110607 h 201029"/>
                <a:gd name="connsiteX59" fmla="*/ 281387 w 763913"/>
                <a:gd name="connsiteY59" fmla="*/ 130683 h 201029"/>
                <a:gd name="connsiteX60" fmla="*/ 281387 w 763913"/>
                <a:gd name="connsiteY60" fmla="*/ 90477 h 201029"/>
                <a:gd name="connsiteX61" fmla="*/ 261311 w 763913"/>
                <a:gd name="connsiteY61" fmla="*/ 90477 h 201029"/>
                <a:gd name="connsiteX62" fmla="*/ 261311 w 763913"/>
                <a:gd name="connsiteY62" fmla="*/ 70401 h 201029"/>
                <a:gd name="connsiteX63" fmla="*/ 281387 w 763913"/>
                <a:gd name="connsiteY63" fmla="*/ 70401 h 201029"/>
                <a:gd name="connsiteX64" fmla="*/ 281387 w 763913"/>
                <a:gd name="connsiteY64" fmla="*/ 90477 h 201029"/>
                <a:gd name="connsiteX65" fmla="*/ 321593 w 763913"/>
                <a:gd name="connsiteY65" fmla="*/ 130683 h 201029"/>
                <a:gd name="connsiteX66" fmla="*/ 301517 w 763913"/>
                <a:gd name="connsiteY66" fmla="*/ 130683 h 201029"/>
                <a:gd name="connsiteX67" fmla="*/ 301517 w 763913"/>
                <a:gd name="connsiteY67" fmla="*/ 110607 h 201029"/>
                <a:gd name="connsiteX68" fmla="*/ 321593 w 763913"/>
                <a:gd name="connsiteY68" fmla="*/ 110607 h 201029"/>
                <a:gd name="connsiteX69" fmla="*/ 321593 w 763913"/>
                <a:gd name="connsiteY69" fmla="*/ 130683 h 201029"/>
                <a:gd name="connsiteX70" fmla="*/ 321593 w 763913"/>
                <a:gd name="connsiteY70" fmla="*/ 90477 h 201029"/>
                <a:gd name="connsiteX71" fmla="*/ 301517 w 763913"/>
                <a:gd name="connsiteY71" fmla="*/ 90477 h 201029"/>
                <a:gd name="connsiteX72" fmla="*/ 301517 w 763913"/>
                <a:gd name="connsiteY72" fmla="*/ 70401 h 201029"/>
                <a:gd name="connsiteX73" fmla="*/ 321593 w 763913"/>
                <a:gd name="connsiteY73" fmla="*/ 70401 h 201029"/>
                <a:gd name="connsiteX74" fmla="*/ 321593 w 763913"/>
                <a:gd name="connsiteY74" fmla="*/ 90477 h 201029"/>
                <a:gd name="connsiteX75" fmla="*/ 585093 w 763913"/>
                <a:gd name="connsiteY75" fmla="*/ 120673 h 201029"/>
                <a:gd name="connsiteX76" fmla="*/ 565017 w 763913"/>
                <a:gd name="connsiteY76" fmla="*/ 100542 h 201029"/>
                <a:gd name="connsiteX77" fmla="*/ 585093 w 763913"/>
                <a:gd name="connsiteY77" fmla="*/ 80467 h 201029"/>
                <a:gd name="connsiteX78" fmla="*/ 605168 w 763913"/>
                <a:gd name="connsiteY78" fmla="*/ 100542 h 201029"/>
                <a:gd name="connsiteX79" fmla="*/ 585093 w 763913"/>
                <a:gd name="connsiteY79" fmla="*/ 120673 h 201029"/>
                <a:gd name="connsiteX80" fmla="*/ 667364 w 763913"/>
                <a:gd name="connsiteY80" fmla="*/ 120673 h 201029"/>
                <a:gd name="connsiteX81" fmla="*/ 647289 w 763913"/>
                <a:gd name="connsiteY81" fmla="*/ 100542 h 201029"/>
                <a:gd name="connsiteX82" fmla="*/ 667364 w 763913"/>
                <a:gd name="connsiteY82" fmla="*/ 80467 h 201029"/>
                <a:gd name="connsiteX83" fmla="*/ 687440 w 763913"/>
                <a:gd name="connsiteY83" fmla="*/ 100542 h 201029"/>
                <a:gd name="connsiteX84" fmla="*/ 667364 w 763913"/>
                <a:gd name="connsiteY84" fmla="*/ 120673 h 201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763913" h="201029">
                  <a:moveTo>
                    <a:pt x="0" y="0"/>
                  </a:moveTo>
                  <a:lnTo>
                    <a:pt x="0" y="201030"/>
                  </a:lnTo>
                  <a:lnTo>
                    <a:pt x="763913" y="201030"/>
                  </a:lnTo>
                  <a:lnTo>
                    <a:pt x="763913" y="0"/>
                  </a:lnTo>
                  <a:lnTo>
                    <a:pt x="0" y="0"/>
                  </a:lnTo>
                  <a:close/>
                  <a:moveTo>
                    <a:pt x="80357" y="130683"/>
                  </a:moveTo>
                  <a:lnTo>
                    <a:pt x="60282" y="130683"/>
                  </a:lnTo>
                  <a:lnTo>
                    <a:pt x="60282" y="110607"/>
                  </a:lnTo>
                  <a:lnTo>
                    <a:pt x="80357" y="110607"/>
                  </a:lnTo>
                  <a:lnTo>
                    <a:pt x="80357" y="130683"/>
                  </a:lnTo>
                  <a:close/>
                  <a:moveTo>
                    <a:pt x="80357" y="90477"/>
                  </a:moveTo>
                  <a:lnTo>
                    <a:pt x="60282" y="90477"/>
                  </a:lnTo>
                  <a:lnTo>
                    <a:pt x="60282" y="70401"/>
                  </a:lnTo>
                  <a:lnTo>
                    <a:pt x="80357" y="70401"/>
                  </a:lnTo>
                  <a:lnTo>
                    <a:pt x="80357" y="90477"/>
                  </a:lnTo>
                  <a:close/>
                  <a:moveTo>
                    <a:pt x="120563" y="130683"/>
                  </a:moveTo>
                  <a:lnTo>
                    <a:pt x="100488" y="130683"/>
                  </a:lnTo>
                  <a:lnTo>
                    <a:pt x="100488" y="110607"/>
                  </a:lnTo>
                  <a:lnTo>
                    <a:pt x="120563" y="110607"/>
                  </a:lnTo>
                  <a:lnTo>
                    <a:pt x="120563" y="130683"/>
                  </a:lnTo>
                  <a:close/>
                  <a:moveTo>
                    <a:pt x="120563" y="90477"/>
                  </a:moveTo>
                  <a:lnTo>
                    <a:pt x="100488" y="90477"/>
                  </a:lnTo>
                  <a:lnTo>
                    <a:pt x="100488" y="70401"/>
                  </a:lnTo>
                  <a:lnTo>
                    <a:pt x="120563" y="70401"/>
                  </a:lnTo>
                  <a:lnTo>
                    <a:pt x="120563" y="90477"/>
                  </a:lnTo>
                  <a:close/>
                  <a:moveTo>
                    <a:pt x="160769" y="130683"/>
                  </a:moveTo>
                  <a:lnTo>
                    <a:pt x="140694" y="130683"/>
                  </a:lnTo>
                  <a:lnTo>
                    <a:pt x="140694" y="110607"/>
                  </a:lnTo>
                  <a:lnTo>
                    <a:pt x="160769" y="110607"/>
                  </a:lnTo>
                  <a:lnTo>
                    <a:pt x="160769" y="130683"/>
                  </a:lnTo>
                  <a:close/>
                  <a:moveTo>
                    <a:pt x="160769" y="90477"/>
                  </a:moveTo>
                  <a:lnTo>
                    <a:pt x="140694" y="90477"/>
                  </a:lnTo>
                  <a:lnTo>
                    <a:pt x="140694" y="70401"/>
                  </a:lnTo>
                  <a:lnTo>
                    <a:pt x="160769" y="70401"/>
                  </a:lnTo>
                  <a:lnTo>
                    <a:pt x="160769" y="90477"/>
                  </a:lnTo>
                  <a:close/>
                  <a:moveTo>
                    <a:pt x="200975" y="130683"/>
                  </a:moveTo>
                  <a:lnTo>
                    <a:pt x="180900" y="130683"/>
                  </a:lnTo>
                  <a:lnTo>
                    <a:pt x="180900" y="110607"/>
                  </a:lnTo>
                  <a:lnTo>
                    <a:pt x="200975" y="110607"/>
                  </a:lnTo>
                  <a:lnTo>
                    <a:pt x="200975" y="130683"/>
                  </a:lnTo>
                  <a:close/>
                  <a:moveTo>
                    <a:pt x="200975" y="90477"/>
                  </a:moveTo>
                  <a:lnTo>
                    <a:pt x="180900" y="90477"/>
                  </a:lnTo>
                  <a:lnTo>
                    <a:pt x="180900" y="70401"/>
                  </a:lnTo>
                  <a:lnTo>
                    <a:pt x="200975" y="70401"/>
                  </a:lnTo>
                  <a:lnTo>
                    <a:pt x="200975" y="90477"/>
                  </a:lnTo>
                  <a:close/>
                  <a:moveTo>
                    <a:pt x="241181" y="130683"/>
                  </a:moveTo>
                  <a:lnTo>
                    <a:pt x="221051" y="130683"/>
                  </a:lnTo>
                  <a:lnTo>
                    <a:pt x="221051" y="110607"/>
                  </a:lnTo>
                  <a:lnTo>
                    <a:pt x="241181" y="110607"/>
                  </a:lnTo>
                  <a:lnTo>
                    <a:pt x="241181" y="130683"/>
                  </a:lnTo>
                  <a:close/>
                  <a:moveTo>
                    <a:pt x="241181" y="90477"/>
                  </a:moveTo>
                  <a:lnTo>
                    <a:pt x="221051" y="90477"/>
                  </a:lnTo>
                  <a:lnTo>
                    <a:pt x="221051" y="70401"/>
                  </a:lnTo>
                  <a:lnTo>
                    <a:pt x="241181" y="70401"/>
                  </a:lnTo>
                  <a:lnTo>
                    <a:pt x="241181" y="90477"/>
                  </a:lnTo>
                  <a:close/>
                  <a:moveTo>
                    <a:pt x="281387" y="130683"/>
                  </a:moveTo>
                  <a:lnTo>
                    <a:pt x="261311" y="130683"/>
                  </a:lnTo>
                  <a:lnTo>
                    <a:pt x="261311" y="110607"/>
                  </a:lnTo>
                  <a:lnTo>
                    <a:pt x="281387" y="110607"/>
                  </a:lnTo>
                  <a:lnTo>
                    <a:pt x="281387" y="130683"/>
                  </a:lnTo>
                  <a:close/>
                  <a:moveTo>
                    <a:pt x="281387" y="90477"/>
                  </a:moveTo>
                  <a:lnTo>
                    <a:pt x="261311" y="90477"/>
                  </a:lnTo>
                  <a:lnTo>
                    <a:pt x="261311" y="70401"/>
                  </a:lnTo>
                  <a:lnTo>
                    <a:pt x="281387" y="70401"/>
                  </a:lnTo>
                  <a:lnTo>
                    <a:pt x="281387" y="90477"/>
                  </a:lnTo>
                  <a:close/>
                  <a:moveTo>
                    <a:pt x="321593" y="130683"/>
                  </a:moveTo>
                  <a:lnTo>
                    <a:pt x="301517" y="130683"/>
                  </a:lnTo>
                  <a:lnTo>
                    <a:pt x="301517" y="110607"/>
                  </a:lnTo>
                  <a:lnTo>
                    <a:pt x="321593" y="110607"/>
                  </a:lnTo>
                  <a:lnTo>
                    <a:pt x="321593" y="130683"/>
                  </a:lnTo>
                  <a:close/>
                  <a:moveTo>
                    <a:pt x="321593" y="90477"/>
                  </a:moveTo>
                  <a:lnTo>
                    <a:pt x="301517" y="90477"/>
                  </a:lnTo>
                  <a:lnTo>
                    <a:pt x="301517" y="70401"/>
                  </a:lnTo>
                  <a:lnTo>
                    <a:pt x="321593" y="70401"/>
                  </a:lnTo>
                  <a:lnTo>
                    <a:pt x="321593" y="90477"/>
                  </a:lnTo>
                  <a:close/>
                  <a:moveTo>
                    <a:pt x="585093" y="120673"/>
                  </a:moveTo>
                  <a:cubicBezTo>
                    <a:pt x="573988" y="120673"/>
                    <a:pt x="565017" y="111647"/>
                    <a:pt x="565017" y="100542"/>
                  </a:cubicBezTo>
                  <a:cubicBezTo>
                    <a:pt x="565017" y="89438"/>
                    <a:pt x="574043" y="80467"/>
                    <a:pt x="585093" y="80467"/>
                  </a:cubicBezTo>
                  <a:cubicBezTo>
                    <a:pt x="596142" y="80467"/>
                    <a:pt x="605168" y="89492"/>
                    <a:pt x="605168" y="100542"/>
                  </a:cubicBezTo>
                  <a:cubicBezTo>
                    <a:pt x="605168" y="111592"/>
                    <a:pt x="596142" y="120673"/>
                    <a:pt x="585093" y="120673"/>
                  </a:cubicBezTo>
                  <a:close/>
                  <a:moveTo>
                    <a:pt x="667364" y="120673"/>
                  </a:moveTo>
                  <a:cubicBezTo>
                    <a:pt x="656260" y="120673"/>
                    <a:pt x="647289" y="111647"/>
                    <a:pt x="647289" y="100542"/>
                  </a:cubicBezTo>
                  <a:cubicBezTo>
                    <a:pt x="647289" y="89438"/>
                    <a:pt x="656315" y="80467"/>
                    <a:pt x="667364" y="80467"/>
                  </a:cubicBezTo>
                  <a:cubicBezTo>
                    <a:pt x="678414" y="80467"/>
                    <a:pt x="687440" y="89492"/>
                    <a:pt x="687440" y="100542"/>
                  </a:cubicBezTo>
                  <a:cubicBezTo>
                    <a:pt x="687440" y="111592"/>
                    <a:pt x="678414" y="120673"/>
                    <a:pt x="667364" y="120673"/>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grpSp>
        <p:nvGrpSpPr>
          <p:cNvPr id="11" name="Group 10">
            <a:extLst>
              <a:ext uri="{FF2B5EF4-FFF2-40B4-BE49-F238E27FC236}">
                <a16:creationId xmlns:a16="http://schemas.microsoft.com/office/drawing/2014/main" id="{800C9080-EC01-5951-ACA7-B816B0BB4BB7}"/>
              </a:ext>
            </a:extLst>
          </p:cNvPr>
          <p:cNvGrpSpPr/>
          <p:nvPr/>
        </p:nvGrpSpPr>
        <p:grpSpPr>
          <a:xfrm>
            <a:off x="5228818" y="2514600"/>
            <a:ext cx="1202590" cy="545078"/>
            <a:chOff x="5183941" y="4148028"/>
            <a:chExt cx="1202590" cy="545078"/>
          </a:xfrm>
        </p:grpSpPr>
        <p:sp>
          <p:nvSpPr>
            <p:cNvPr id="12" name="Rectangle: Rounded Corners 25">
              <a:extLst>
                <a:ext uri="{FF2B5EF4-FFF2-40B4-BE49-F238E27FC236}">
                  <a16:creationId xmlns:a16="http://schemas.microsoft.com/office/drawing/2014/main" id="{75EB6C65-6DBA-A500-4426-2E02DA31DAFF}"/>
                </a:ext>
              </a:extLst>
            </p:cNvPr>
            <p:cNvSpPr>
              <a:spLocks noChangeAspect="1"/>
            </p:cNvSpPr>
            <p:nvPr/>
          </p:nvSpPr>
          <p:spPr>
            <a:xfrm>
              <a:off x="5183941" y="4148028"/>
              <a:ext cx="1202590" cy="545078"/>
            </a:xfrm>
            <a:prstGeom prst="roundRect">
              <a:avLst>
                <a:gd name="adj" fmla="val 10000"/>
              </a:avLst>
            </a:prstGeom>
            <a:solidFill>
              <a:schemeClr val="bg1"/>
            </a:solidFill>
            <a:ln w="1905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Graphic 9">
              <a:extLst>
                <a:ext uri="{FF2B5EF4-FFF2-40B4-BE49-F238E27FC236}">
                  <a16:creationId xmlns:a16="http://schemas.microsoft.com/office/drawing/2014/main" id="{BF7896F6-6C00-C6DF-6A2E-830DAE5D0636}"/>
                </a:ext>
              </a:extLst>
            </p:cNvPr>
            <p:cNvSpPr>
              <a:spLocks noChangeAspect="1"/>
            </p:cNvSpPr>
            <p:nvPr/>
          </p:nvSpPr>
          <p:spPr>
            <a:xfrm>
              <a:off x="5418012" y="4323931"/>
              <a:ext cx="734448" cy="193273"/>
            </a:xfrm>
            <a:custGeom>
              <a:avLst/>
              <a:gdLst>
                <a:gd name="connsiteX0" fmla="*/ 0 w 763913"/>
                <a:gd name="connsiteY0" fmla="*/ 0 h 201029"/>
                <a:gd name="connsiteX1" fmla="*/ 0 w 763913"/>
                <a:gd name="connsiteY1" fmla="*/ 201030 h 201029"/>
                <a:gd name="connsiteX2" fmla="*/ 763913 w 763913"/>
                <a:gd name="connsiteY2" fmla="*/ 201030 h 201029"/>
                <a:gd name="connsiteX3" fmla="*/ 763913 w 763913"/>
                <a:gd name="connsiteY3" fmla="*/ 0 h 201029"/>
                <a:gd name="connsiteX4" fmla="*/ 0 w 763913"/>
                <a:gd name="connsiteY4" fmla="*/ 0 h 201029"/>
                <a:gd name="connsiteX5" fmla="*/ 80357 w 763913"/>
                <a:gd name="connsiteY5" fmla="*/ 130683 h 201029"/>
                <a:gd name="connsiteX6" fmla="*/ 60282 w 763913"/>
                <a:gd name="connsiteY6" fmla="*/ 130683 h 201029"/>
                <a:gd name="connsiteX7" fmla="*/ 60282 w 763913"/>
                <a:gd name="connsiteY7" fmla="*/ 110607 h 201029"/>
                <a:gd name="connsiteX8" fmla="*/ 80357 w 763913"/>
                <a:gd name="connsiteY8" fmla="*/ 110607 h 201029"/>
                <a:gd name="connsiteX9" fmla="*/ 80357 w 763913"/>
                <a:gd name="connsiteY9" fmla="*/ 130683 h 201029"/>
                <a:gd name="connsiteX10" fmla="*/ 80357 w 763913"/>
                <a:gd name="connsiteY10" fmla="*/ 90477 h 201029"/>
                <a:gd name="connsiteX11" fmla="*/ 60282 w 763913"/>
                <a:gd name="connsiteY11" fmla="*/ 90477 h 201029"/>
                <a:gd name="connsiteX12" fmla="*/ 60282 w 763913"/>
                <a:gd name="connsiteY12" fmla="*/ 70401 h 201029"/>
                <a:gd name="connsiteX13" fmla="*/ 80357 w 763913"/>
                <a:gd name="connsiteY13" fmla="*/ 70401 h 201029"/>
                <a:gd name="connsiteX14" fmla="*/ 80357 w 763913"/>
                <a:gd name="connsiteY14" fmla="*/ 90477 h 201029"/>
                <a:gd name="connsiteX15" fmla="*/ 120563 w 763913"/>
                <a:gd name="connsiteY15" fmla="*/ 130683 h 201029"/>
                <a:gd name="connsiteX16" fmla="*/ 100488 w 763913"/>
                <a:gd name="connsiteY16" fmla="*/ 130683 h 201029"/>
                <a:gd name="connsiteX17" fmla="*/ 100488 w 763913"/>
                <a:gd name="connsiteY17" fmla="*/ 110607 h 201029"/>
                <a:gd name="connsiteX18" fmla="*/ 120563 w 763913"/>
                <a:gd name="connsiteY18" fmla="*/ 110607 h 201029"/>
                <a:gd name="connsiteX19" fmla="*/ 120563 w 763913"/>
                <a:gd name="connsiteY19" fmla="*/ 130683 h 201029"/>
                <a:gd name="connsiteX20" fmla="*/ 120563 w 763913"/>
                <a:gd name="connsiteY20" fmla="*/ 90477 h 201029"/>
                <a:gd name="connsiteX21" fmla="*/ 100488 w 763913"/>
                <a:gd name="connsiteY21" fmla="*/ 90477 h 201029"/>
                <a:gd name="connsiteX22" fmla="*/ 100488 w 763913"/>
                <a:gd name="connsiteY22" fmla="*/ 70401 h 201029"/>
                <a:gd name="connsiteX23" fmla="*/ 120563 w 763913"/>
                <a:gd name="connsiteY23" fmla="*/ 70401 h 201029"/>
                <a:gd name="connsiteX24" fmla="*/ 120563 w 763913"/>
                <a:gd name="connsiteY24" fmla="*/ 90477 h 201029"/>
                <a:gd name="connsiteX25" fmla="*/ 160769 w 763913"/>
                <a:gd name="connsiteY25" fmla="*/ 130683 h 201029"/>
                <a:gd name="connsiteX26" fmla="*/ 140694 w 763913"/>
                <a:gd name="connsiteY26" fmla="*/ 130683 h 201029"/>
                <a:gd name="connsiteX27" fmla="*/ 140694 w 763913"/>
                <a:gd name="connsiteY27" fmla="*/ 110607 h 201029"/>
                <a:gd name="connsiteX28" fmla="*/ 160769 w 763913"/>
                <a:gd name="connsiteY28" fmla="*/ 110607 h 201029"/>
                <a:gd name="connsiteX29" fmla="*/ 160769 w 763913"/>
                <a:gd name="connsiteY29" fmla="*/ 130683 h 201029"/>
                <a:gd name="connsiteX30" fmla="*/ 160769 w 763913"/>
                <a:gd name="connsiteY30" fmla="*/ 90477 h 201029"/>
                <a:gd name="connsiteX31" fmla="*/ 140694 w 763913"/>
                <a:gd name="connsiteY31" fmla="*/ 90477 h 201029"/>
                <a:gd name="connsiteX32" fmla="*/ 140694 w 763913"/>
                <a:gd name="connsiteY32" fmla="*/ 70401 h 201029"/>
                <a:gd name="connsiteX33" fmla="*/ 160769 w 763913"/>
                <a:gd name="connsiteY33" fmla="*/ 70401 h 201029"/>
                <a:gd name="connsiteX34" fmla="*/ 160769 w 763913"/>
                <a:gd name="connsiteY34" fmla="*/ 90477 h 201029"/>
                <a:gd name="connsiteX35" fmla="*/ 200975 w 763913"/>
                <a:gd name="connsiteY35" fmla="*/ 130683 h 201029"/>
                <a:gd name="connsiteX36" fmla="*/ 180900 w 763913"/>
                <a:gd name="connsiteY36" fmla="*/ 130683 h 201029"/>
                <a:gd name="connsiteX37" fmla="*/ 180900 w 763913"/>
                <a:gd name="connsiteY37" fmla="*/ 110607 h 201029"/>
                <a:gd name="connsiteX38" fmla="*/ 200975 w 763913"/>
                <a:gd name="connsiteY38" fmla="*/ 110607 h 201029"/>
                <a:gd name="connsiteX39" fmla="*/ 200975 w 763913"/>
                <a:gd name="connsiteY39" fmla="*/ 130683 h 201029"/>
                <a:gd name="connsiteX40" fmla="*/ 200975 w 763913"/>
                <a:gd name="connsiteY40" fmla="*/ 90477 h 201029"/>
                <a:gd name="connsiteX41" fmla="*/ 180900 w 763913"/>
                <a:gd name="connsiteY41" fmla="*/ 90477 h 201029"/>
                <a:gd name="connsiteX42" fmla="*/ 180900 w 763913"/>
                <a:gd name="connsiteY42" fmla="*/ 70401 h 201029"/>
                <a:gd name="connsiteX43" fmla="*/ 200975 w 763913"/>
                <a:gd name="connsiteY43" fmla="*/ 70401 h 201029"/>
                <a:gd name="connsiteX44" fmla="*/ 200975 w 763913"/>
                <a:gd name="connsiteY44" fmla="*/ 90477 h 201029"/>
                <a:gd name="connsiteX45" fmla="*/ 241181 w 763913"/>
                <a:gd name="connsiteY45" fmla="*/ 130683 h 201029"/>
                <a:gd name="connsiteX46" fmla="*/ 221051 w 763913"/>
                <a:gd name="connsiteY46" fmla="*/ 130683 h 201029"/>
                <a:gd name="connsiteX47" fmla="*/ 221051 w 763913"/>
                <a:gd name="connsiteY47" fmla="*/ 110607 h 201029"/>
                <a:gd name="connsiteX48" fmla="*/ 241181 w 763913"/>
                <a:gd name="connsiteY48" fmla="*/ 110607 h 201029"/>
                <a:gd name="connsiteX49" fmla="*/ 241181 w 763913"/>
                <a:gd name="connsiteY49" fmla="*/ 130683 h 201029"/>
                <a:gd name="connsiteX50" fmla="*/ 241181 w 763913"/>
                <a:gd name="connsiteY50" fmla="*/ 90477 h 201029"/>
                <a:gd name="connsiteX51" fmla="*/ 221051 w 763913"/>
                <a:gd name="connsiteY51" fmla="*/ 90477 h 201029"/>
                <a:gd name="connsiteX52" fmla="*/ 221051 w 763913"/>
                <a:gd name="connsiteY52" fmla="*/ 70401 h 201029"/>
                <a:gd name="connsiteX53" fmla="*/ 241181 w 763913"/>
                <a:gd name="connsiteY53" fmla="*/ 70401 h 201029"/>
                <a:gd name="connsiteX54" fmla="*/ 241181 w 763913"/>
                <a:gd name="connsiteY54" fmla="*/ 90477 h 201029"/>
                <a:gd name="connsiteX55" fmla="*/ 281387 w 763913"/>
                <a:gd name="connsiteY55" fmla="*/ 130683 h 201029"/>
                <a:gd name="connsiteX56" fmla="*/ 261311 w 763913"/>
                <a:gd name="connsiteY56" fmla="*/ 130683 h 201029"/>
                <a:gd name="connsiteX57" fmla="*/ 261311 w 763913"/>
                <a:gd name="connsiteY57" fmla="*/ 110607 h 201029"/>
                <a:gd name="connsiteX58" fmla="*/ 281387 w 763913"/>
                <a:gd name="connsiteY58" fmla="*/ 110607 h 201029"/>
                <a:gd name="connsiteX59" fmla="*/ 281387 w 763913"/>
                <a:gd name="connsiteY59" fmla="*/ 130683 h 201029"/>
                <a:gd name="connsiteX60" fmla="*/ 281387 w 763913"/>
                <a:gd name="connsiteY60" fmla="*/ 90477 h 201029"/>
                <a:gd name="connsiteX61" fmla="*/ 261311 w 763913"/>
                <a:gd name="connsiteY61" fmla="*/ 90477 h 201029"/>
                <a:gd name="connsiteX62" fmla="*/ 261311 w 763913"/>
                <a:gd name="connsiteY62" fmla="*/ 70401 h 201029"/>
                <a:gd name="connsiteX63" fmla="*/ 281387 w 763913"/>
                <a:gd name="connsiteY63" fmla="*/ 70401 h 201029"/>
                <a:gd name="connsiteX64" fmla="*/ 281387 w 763913"/>
                <a:gd name="connsiteY64" fmla="*/ 90477 h 201029"/>
                <a:gd name="connsiteX65" fmla="*/ 321593 w 763913"/>
                <a:gd name="connsiteY65" fmla="*/ 130683 h 201029"/>
                <a:gd name="connsiteX66" fmla="*/ 301517 w 763913"/>
                <a:gd name="connsiteY66" fmla="*/ 130683 h 201029"/>
                <a:gd name="connsiteX67" fmla="*/ 301517 w 763913"/>
                <a:gd name="connsiteY67" fmla="*/ 110607 h 201029"/>
                <a:gd name="connsiteX68" fmla="*/ 321593 w 763913"/>
                <a:gd name="connsiteY68" fmla="*/ 110607 h 201029"/>
                <a:gd name="connsiteX69" fmla="*/ 321593 w 763913"/>
                <a:gd name="connsiteY69" fmla="*/ 130683 h 201029"/>
                <a:gd name="connsiteX70" fmla="*/ 321593 w 763913"/>
                <a:gd name="connsiteY70" fmla="*/ 90477 h 201029"/>
                <a:gd name="connsiteX71" fmla="*/ 301517 w 763913"/>
                <a:gd name="connsiteY71" fmla="*/ 90477 h 201029"/>
                <a:gd name="connsiteX72" fmla="*/ 301517 w 763913"/>
                <a:gd name="connsiteY72" fmla="*/ 70401 h 201029"/>
                <a:gd name="connsiteX73" fmla="*/ 321593 w 763913"/>
                <a:gd name="connsiteY73" fmla="*/ 70401 h 201029"/>
                <a:gd name="connsiteX74" fmla="*/ 321593 w 763913"/>
                <a:gd name="connsiteY74" fmla="*/ 90477 h 201029"/>
                <a:gd name="connsiteX75" fmla="*/ 585093 w 763913"/>
                <a:gd name="connsiteY75" fmla="*/ 120673 h 201029"/>
                <a:gd name="connsiteX76" fmla="*/ 565017 w 763913"/>
                <a:gd name="connsiteY76" fmla="*/ 100542 h 201029"/>
                <a:gd name="connsiteX77" fmla="*/ 585093 w 763913"/>
                <a:gd name="connsiteY77" fmla="*/ 80467 h 201029"/>
                <a:gd name="connsiteX78" fmla="*/ 605168 w 763913"/>
                <a:gd name="connsiteY78" fmla="*/ 100542 h 201029"/>
                <a:gd name="connsiteX79" fmla="*/ 585093 w 763913"/>
                <a:gd name="connsiteY79" fmla="*/ 120673 h 201029"/>
                <a:gd name="connsiteX80" fmla="*/ 667364 w 763913"/>
                <a:gd name="connsiteY80" fmla="*/ 120673 h 201029"/>
                <a:gd name="connsiteX81" fmla="*/ 647289 w 763913"/>
                <a:gd name="connsiteY81" fmla="*/ 100542 h 201029"/>
                <a:gd name="connsiteX82" fmla="*/ 667364 w 763913"/>
                <a:gd name="connsiteY82" fmla="*/ 80467 h 201029"/>
                <a:gd name="connsiteX83" fmla="*/ 687440 w 763913"/>
                <a:gd name="connsiteY83" fmla="*/ 100542 h 201029"/>
                <a:gd name="connsiteX84" fmla="*/ 667364 w 763913"/>
                <a:gd name="connsiteY84" fmla="*/ 120673 h 201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763913" h="201029">
                  <a:moveTo>
                    <a:pt x="0" y="0"/>
                  </a:moveTo>
                  <a:lnTo>
                    <a:pt x="0" y="201030"/>
                  </a:lnTo>
                  <a:lnTo>
                    <a:pt x="763913" y="201030"/>
                  </a:lnTo>
                  <a:lnTo>
                    <a:pt x="763913" y="0"/>
                  </a:lnTo>
                  <a:lnTo>
                    <a:pt x="0" y="0"/>
                  </a:lnTo>
                  <a:close/>
                  <a:moveTo>
                    <a:pt x="80357" y="130683"/>
                  </a:moveTo>
                  <a:lnTo>
                    <a:pt x="60282" y="130683"/>
                  </a:lnTo>
                  <a:lnTo>
                    <a:pt x="60282" y="110607"/>
                  </a:lnTo>
                  <a:lnTo>
                    <a:pt x="80357" y="110607"/>
                  </a:lnTo>
                  <a:lnTo>
                    <a:pt x="80357" y="130683"/>
                  </a:lnTo>
                  <a:close/>
                  <a:moveTo>
                    <a:pt x="80357" y="90477"/>
                  </a:moveTo>
                  <a:lnTo>
                    <a:pt x="60282" y="90477"/>
                  </a:lnTo>
                  <a:lnTo>
                    <a:pt x="60282" y="70401"/>
                  </a:lnTo>
                  <a:lnTo>
                    <a:pt x="80357" y="70401"/>
                  </a:lnTo>
                  <a:lnTo>
                    <a:pt x="80357" y="90477"/>
                  </a:lnTo>
                  <a:close/>
                  <a:moveTo>
                    <a:pt x="120563" y="130683"/>
                  </a:moveTo>
                  <a:lnTo>
                    <a:pt x="100488" y="130683"/>
                  </a:lnTo>
                  <a:lnTo>
                    <a:pt x="100488" y="110607"/>
                  </a:lnTo>
                  <a:lnTo>
                    <a:pt x="120563" y="110607"/>
                  </a:lnTo>
                  <a:lnTo>
                    <a:pt x="120563" y="130683"/>
                  </a:lnTo>
                  <a:close/>
                  <a:moveTo>
                    <a:pt x="120563" y="90477"/>
                  </a:moveTo>
                  <a:lnTo>
                    <a:pt x="100488" y="90477"/>
                  </a:lnTo>
                  <a:lnTo>
                    <a:pt x="100488" y="70401"/>
                  </a:lnTo>
                  <a:lnTo>
                    <a:pt x="120563" y="70401"/>
                  </a:lnTo>
                  <a:lnTo>
                    <a:pt x="120563" y="90477"/>
                  </a:lnTo>
                  <a:close/>
                  <a:moveTo>
                    <a:pt x="160769" y="130683"/>
                  </a:moveTo>
                  <a:lnTo>
                    <a:pt x="140694" y="130683"/>
                  </a:lnTo>
                  <a:lnTo>
                    <a:pt x="140694" y="110607"/>
                  </a:lnTo>
                  <a:lnTo>
                    <a:pt x="160769" y="110607"/>
                  </a:lnTo>
                  <a:lnTo>
                    <a:pt x="160769" y="130683"/>
                  </a:lnTo>
                  <a:close/>
                  <a:moveTo>
                    <a:pt x="160769" y="90477"/>
                  </a:moveTo>
                  <a:lnTo>
                    <a:pt x="140694" y="90477"/>
                  </a:lnTo>
                  <a:lnTo>
                    <a:pt x="140694" y="70401"/>
                  </a:lnTo>
                  <a:lnTo>
                    <a:pt x="160769" y="70401"/>
                  </a:lnTo>
                  <a:lnTo>
                    <a:pt x="160769" y="90477"/>
                  </a:lnTo>
                  <a:close/>
                  <a:moveTo>
                    <a:pt x="200975" y="130683"/>
                  </a:moveTo>
                  <a:lnTo>
                    <a:pt x="180900" y="130683"/>
                  </a:lnTo>
                  <a:lnTo>
                    <a:pt x="180900" y="110607"/>
                  </a:lnTo>
                  <a:lnTo>
                    <a:pt x="200975" y="110607"/>
                  </a:lnTo>
                  <a:lnTo>
                    <a:pt x="200975" y="130683"/>
                  </a:lnTo>
                  <a:close/>
                  <a:moveTo>
                    <a:pt x="200975" y="90477"/>
                  </a:moveTo>
                  <a:lnTo>
                    <a:pt x="180900" y="90477"/>
                  </a:lnTo>
                  <a:lnTo>
                    <a:pt x="180900" y="70401"/>
                  </a:lnTo>
                  <a:lnTo>
                    <a:pt x="200975" y="70401"/>
                  </a:lnTo>
                  <a:lnTo>
                    <a:pt x="200975" y="90477"/>
                  </a:lnTo>
                  <a:close/>
                  <a:moveTo>
                    <a:pt x="241181" y="130683"/>
                  </a:moveTo>
                  <a:lnTo>
                    <a:pt x="221051" y="130683"/>
                  </a:lnTo>
                  <a:lnTo>
                    <a:pt x="221051" y="110607"/>
                  </a:lnTo>
                  <a:lnTo>
                    <a:pt x="241181" y="110607"/>
                  </a:lnTo>
                  <a:lnTo>
                    <a:pt x="241181" y="130683"/>
                  </a:lnTo>
                  <a:close/>
                  <a:moveTo>
                    <a:pt x="241181" y="90477"/>
                  </a:moveTo>
                  <a:lnTo>
                    <a:pt x="221051" y="90477"/>
                  </a:lnTo>
                  <a:lnTo>
                    <a:pt x="221051" y="70401"/>
                  </a:lnTo>
                  <a:lnTo>
                    <a:pt x="241181" y="70401"/>
                  </a:lnTo>
                  <a:lnTo>
                    <a:pt x="241181" y="90477"/>
                  </a:lnTo>
                  <a:close/>
                  <a:moveTo>
                    <a:pt x="281387" y="130683"/>
                  </a:moveTo>
                  <a:lnTo>
                    <a:pt x="261311" y="130683"/>
                  </a:lnTo>
                  <a:lnTo>
                    <a:pt x="261311" y="110607"/>
                  </a:lnTo>
                  <a:lnTo>
                    <a:pt x="281387" y="110607"/>
                  </a:lnTo>
                  <a:lnTo>
                    <a:pt x="281387" y="130683"/>
                  </a:lnTo>
                  <a:close/>
                  <a:moveTo>
                    <a:pt x="281387" y="90477"/>
                  </a:moveTo>
                  <a:lnTo>
                    <a:pt x="261311" y="90477"/>
                  </a:lnTo>
                  <a:lnTo>
                    <a:pt x="261311" y="70401"/>
                  </a:lnTo>
                  <a:lnTo>
                    <a:pt x="281387" y="70401"/>
                  </a:lnTo>
                  <a:lnTo>
                    <a:pt x="281387" y="90477"/>
                  </a:lnTo>
                  <a:close/>
                  <a:moveTo>
                    <a:pt x="321593" y="130683"/>
                  </a:moveTo>
                  <a:lnTo>
                    <a:pt x="301517" y="130683"/>
                  </a:lnTo>
                  <a:lnTo>
                    <a:pt x="301517" y="110607"/>
                  </a:lnTo>
                  <a:lnTo>
                    <a:pt x="321593" y="110607"/>
                  </a:lnTo>
                  <a:lnTo>
                    <a:pt x="321593" y="130683"/>
                  </a:lnTo>
                  <a:close/>
                  <a:moveTo>
                    <a:pt x="321593" y="90477"/>
                  </a:moveTo>
                  <a:lnTo>
                    <a:pt x="301517" y="90477"/>
                  </a:lnTo>
                  <a:lnTo>
                    <a:pt x="301517" y="70401"/>
                  </a:lnTo>
                  <a:lnTo>
                    <a:pt x="321593" y="70401"/>
                  </a:lnTo>
                  <a:lnTo>
                    <a:pt x="321593" y="90477"/>
                  </a:lnTo>
                  <a:close/>
                  <a:moveTo>
                    <a:pt x="585093" y="120673"/>
                  </a:moveTo>
                  <a:cubicBezTo>
                    <a:pt x="573988" y="120673"/>
                    <a:pt x="565017" y="111647"/>
                    <a:pt x="565017" y="100542"/>
                  </a:cubicBezTo>
                  <a:cubicBezTo>
                    <a:pt x="565017" y="89438"/>
                    <a:pt x="574043" y="80467"/>
                    <a:pt x="585093" y="80467"/>
                  </a:cubicBezTo>
                  <a:cubicBezTo>
                    <a:pt x="596142" y="80467"/>
                    <a:pt x="605168" y="89492"/>
                    <a:pt x="605168" y="100542"/>
                  </a:cubicBezTo>
                  <a:cubicBezTo>
                    <a:pt x="605168" y="111592"/>
                    <a:pt x="596142" y="120673"/>
                    <a:pt x="585093" y="120673"/>
                  </a:cubicBezTo>
                  <a:close/>
                  <a:moveTo>
                    <a:pt x="667364" y="120673"/>
                  </a:moveTo>
                  <a:cubicBezTo>
                    <a:pt x="656260" y="120673"/>
                    <a:pt x="647289" y="111647"/>
                    <a:pt x="647289" y="100542"/>
                  </a:cubicBezTo>
                  <a:cubicBezTo>
                    <a:pt x="647289" y="89438"/>
                    <a:pt x="656315" y="80467"/>
                    <a:pt x="667364" y="80467"/>
                  </a:cubicBezTo>
                  <a:cubicBezTo>
                    <a:pt x="678414" y="80467"/>
                    <a:pt x="687440" y="89492"/>
                    <a:pt x="687440" y="100542"/>
                  </a:cubicBezTo>
                  <a:cubicBezTo>
                    <a:pt x="687440" y="111592"/>
                    <a:pt x="678414" y="120673"/>
                    <a:pt x="667364" y="120673"/>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grpSp>
        <p:nvGrpSpPr>
          <p:cNvPr id="14" name="Group 13">
            <a:extLst>
              <a:ext uri="{FF2B5EF4-FFF2-40B4-BE49-F238E27FC236}">
                <a16:creationId xmlns:a16="http://schemas.microsoft.com/office/drawing/2014/main" id="{DE2A2853-2DF7-52DA-D0EC-1DBFF2C088E3}"/>
              </a:ext>
            </a:extLst>
          </p:cNvPr>
          <p:cNvGrpSpPr/>
          <p:nvPr/>
        </p:nvGrpSpPr>
        <p:grpSpPr>
          <a:xfrm>
            <a:off x="3761005" y="2514600"/>
            <a:ext cx="1202590" cy="545078"/>
            <a:chOff x="3716128" y="4148028"/>
            <a:chExt cx="1202590" cy="545078"/>
          </a:xfrm>
        </p:grpSpPr>
        <p:sp>
          <p:nvSpPr>
            <p:cNvPr id="15" name="Rectangle: Rounded Corners 28">
              <a:extLst>
                <a:ext uri="{FF2B5EF4-FFF2-40B4-BE49-F238E27FC236}">
                  <a16:creationId xmlns:a16="http://schemas.microsoft.com/office/drawing/2014/main" id="{33DC0BD6-8BB1-6A56-06EC-721446B8C864}"/>
                </a:ext>
              </a:extLst>
            </p:cNvPr>
            <p:cNvSpPr>
              <a:spLocks noChangeAspect="1"/>
            </p:cNvSpPr>
            <p:nvPr/>
          </p:nvSpPr>
          <p:spPr>
            <a:xfrm>
              <a:off x="3716128" y="4148028"/>
              <a:ext cx="1202590" cy="545078"/>
            </a:xfrm>
            <a:prstGeom prst="roundRect">
              <a:avLst>
                <a:gd name="adj" fmla="val 10000"/>
              </a:avLst>
            </a:prstGeom>
            <a:solidFill>
              <a:schemeClr val="bg1"/>
            </a:solidFill>
            <a:ln w="1905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Graphic 9">
              <a:extLst>
                <a:ext uri="{FF2B5EF4-FFF2-40B4-BE49-F238E27FC236}">
                  <a16:creationId xmlns:a16="http://schemas.microsoft.com/office/drawing/2014/main" id="{A90F43FB-D8C8-1285-B048-386CC3A04BE9}"/>
                </a:ext>
              </a:extLst>
            </p:cNvPr>
            <p:cNvSpPr>
              <a:spLocks noChangeAspect="1"/>
            </p:cNvSpPr>
            <p:nvPr/>
          </p:nvSpPr>
          <p:spPr>
            <a:xfrm>
              <a:off x="3950199" y="4323931"/>
              <a:ext cx="734448" cy="193273"/>
            </a:xfrm>
            <a:custGeom>
              <a:avLst/>
              <a:gdLst>
                <a:gd name="connsiteX0" fmla="*/ 0 w 763913"/>
                <a:gd name="connsiteY0" fmla="*/ 0 h 201029"/>
                <a:gd name="connsiteX1" fmla="*/ 0 w 763913"/>
                <a:gd name="connsiteY1" fmla="*/ 201030 h 201029"/>
                <a:gd name="connsiteX2" fmla="*/ 763913 w 763913"/>
                <a:gd name="connsiteY2" fmla="*/ 201030 h 201029"/>
                <a:gd name="connsiteX3" fmla="*/ 763913 w 763913"/>
                <a:gd name="connsiteY3" fmla="*/ 0 h 201029"/>
                <a:gd name="connsiteX4" fmla="*/ 0 w 763913"/>
                <a:gd name="connsiteY4" fmla="*/ 0 h 201029"/>
                <a:gd name="connsiteX5" fmla="*/ 80357 w 763913"/>
                <a:gd name="connsiteY5" fmla="*/ 130683 h 201029"/>
                <a:gd name="connsiteX6" fmla="*/ 60282 w 763913"/>
                <a:gd name="connsiteY6" fmla="*/ 130683 h 201029"/>
                <a:gd name="connsiteX7" fmla="*/ 60282 w 763913"/>
                <a:gd name="connsiteY7" fmla="*/ 110607 h 201029"/>
                <a:gd name="connsiteX8" fmla="*/ 80357 w 763913"/>
                <a:gd name="connsiteY8" fmla="*/ 110607 h 201029"/>
                <a:gd name="connsiteX9" fmla="*/ 80357 w 763913"/>
                <a:gd name="connsiteY9" fmla="*/ 130683 h 201029"/>
                <a:gd name="connsiteX10" fmla="*/ 80357 w 763913"/>
                <a:gd name="connsiteY10" fmla="*/ 90477 h 201029"/>
                <a:gd name="connsiteX11" fmla="*/ 60282 w 763913"/>
                <a:gd name="connsiteY11" fmla="*/ 90477 h 201029"/>
                <a:gd name="connsiteX12" fmla="*/ 60282 w 763913"/>
                <a:gd name="connsiteY12" fmla="*/ 70401 h 201029"/>
                <a:gd name="connsiteX13" fmla="*/ 80357 w 763913"/>
                <a:gd name="connsiteY13" fmla="*/ 70401 h 201029"/>
                <a:gd name="connsiteX14" fmla="*/ 80357 w 763913"/>
                <a:gd name="connsiteY14" fmla="*/ 90477 h 201029"/>
                <a:gd name="connsiteX15" fmla="*/ 120563 w 763913"/>
                <a:gd name="connsiteY15" fmla="*/ 130683 h 201029"/>
                <a:gd name="connsiteX16" fmla="*/ 100488 w 763913"/>
                <a:gd name="connsiteY16" fmla="*/ 130683 h 201029"/>
                <a:gd name="connsiteX17" fmla="*/ 100488 w 763913"/>
                <a:gd name="connsiteY17" fmla="*/ 110607 h 201029"/>
                <a:gd name="connsiteX18" fmla="*/ 120563 w 763913"/>
                <a:gd name="connsiteY18" fmla="*/ 110607 h 201029"/>
                <a:gd name="connsiteX19" fmla="*/ 120563 w 763913"/>
                <a:gd name="connsiteY19" fmla="*/ 130683 h 201029"/>
                <a:gd name="connsiteX20" fmla="*/ 120563 w 763913"/>
                <a:gd name="connsiteY20" fmla="*/ 90477 h 201029"/>
                <a:gd name="connsiteX21" fmla="*/ 100488 w 763913"/>
                <a:gd name="connsiteY21" fmla="*/ 90477 h 201029"/>
                <a:gd name="connsiteX22" fmla="*/ 100488 w 763913"/>
                <a:gd name="connsiteY22" fmla="*/ 70401 h 201029"/>
                <a:gd name="connsiteX23" fmla="*/ 120563 w 763913"/>
                <a:gd name="connsiteY23" fmla="*/ 70401 h 201029"/>
                <a:gd name="connsiteX24" fmla="*/ 120563 w 763913"/>
                <a:gd name="connsiteY24" fmla="*/ 90477 h 201029"/>
                <a:gd name="connsiteX25" fmla="*/ 160769 w 763913"/>
                <a:gd name="connsiteY25" fmla="*/ 130683 h 201029"/>
                <a:gd name="connsiteX26" fmla="*/ 140694 w 763913"/>
                <a:gd name="connsiteY26" fmla="*/ 130683 h 201029"/>
                <a:gd name="connsiteX27" fmla="*/ 140694 w 763913"/>
                <a:gd name="connsiteY27" fmla="*/ 110607 h 201029"/>
                <a:gd name="connsiteX28" fmla="*/ 160769 w 763913"/>
                <a:gd name="connsiteY28" fmla="*/ 110607 h 201029"/>
                <a:gd name="connsiteX29" fmla="*/ 160769 w 763913"/>
                <a:gd name="connsiteY29" fmla="*/ 130683 h 201029"/>
                <a:gd name="connsiteX30" fmla="*/ 160769 w 763913"/>
                <a:gd name="connsiteY30" fmla="*/ 90477 h 201029"/>
                <a:gd name="connsiteX31" fmla="*/ 140694 w 763913"/>
                <a:gd name="connsiteY31" fmla="*/ 90477 h 201029"/>
                <a:gd name="connsiteX32" fmla="*/ 140694 w 763913"/>
                <a:gd name="connsiteY32" fmla="*/ 70401 h 201029"/>
                <a:gd name="connsiteX33" fmla="*/ 160769 w 763913"/>
                <a:gd name="connsiteY33" fmla="*/ 70401 h 201029"/>
                <a:gd name="connsiteX34" fmla="*/ 160769 w 763913"/>
                <a:gd name="connsiteY34" fmla="*/ 90477 h 201029"/>
                <a:gd name="connsiteX35" fmla="*/ 200975 w 763913"/>
                <a:gd name="connsiteY35" fmla="*/ 130683 h 201029"/>
                <a:gd name="connsiteX36" fmla="*/ 180900 w 763913"/>
                <a:gd name="connsiteY36" fmla="*/ 130683 h 201029"/>
                <a:gd name="connsiteX37" fmla="*/ 180900 w 763913"/>
                <a:gd name="connsiteY37" fmla="*/ 110607 h 201029"/>
                <a:gd name="connsiteX38" fmla="*/ 200975 w 763913"/>
                <a:gd name="connsiteY38" fmla="*/ 110607 h 201029"/>
                <a:gd name="connsiteX39" fmla="*/ 200975 w 763913"/>
                <a:gd name="connsiteY39" fmla="*/ 130683 h 201029"/>
                <a:gd name="connsiteX40" fmla="*/ 200975 w 763913"/>
                <a:gd name="connsiteY40" fmla="*/ 90477 h 201029"/>
                <a:gd name="connsiteX41" fmla="*/ 180900 w 763913"/>
                <a:gd name="connsiteY41" fmla="*/ 90477 h 201029"/>
                <a:gd name="connsiteX42" fmla="*/ 180900 w 763913"/>
                <a:gd name="connsiteY42" fmla="*/ 70401 h 201029"/>
                <a:gd name="connsiteX43" fmla="*/ 200975 w 763913"/>
                <a:gd name="connsiteY43" fmla="*/ 70401 h 201029"/>
                <a:gd name="connsiteX44" fmla="*/ 200975 w 763913"/>
                <a:gd name="connsiteY44" fmla="*/ 90477 h 201029"/>
                <a:gd name="connsiteX45" fmla="*/ 241181 w 763913"/>
                <a:gd name="connsiteY45" fmla="*/ 130683 h 201029"/>
                <a:gd name="connsiteX46" fmla="*/ 221051 w 763913"/>
                <a:gd name="connsiteY46" fmla="*/ 130683 h 201029"/>
                <a:gd name="connsiteX47" fmla="*/ 221051 w 763913"/>
                <a:gd name="connsiteY47" fmla="*/ 110607 h 201029"/>
                <a:gd name="connsiteX48" fmla="*/ 241181 w 763913"/>
                <a:gd name="connsiteY48" fmla="*/ 110607 h 201029"/>
                <a:gd name="connsiteX49" fmla="*/ 241181 w 763913"/>
                <a:gd name="connsiteY49" fmla="*/ 130683 h 201029"/>
                <a:gd name="connsiteX50" fmla="*/ 241181 w 763913"/>
                <a:gd name="connsiteY50" fmla="*/ 90477 h 201029"/>
                <a:gd name="connsiteX51" fmla="*/ 221051 w 763913"/>
                <a:gd name="connsiteY51" fmla="*/ 90477 h 201029"/>
                <a:gd name="connsiteX52" fmla="*/ 221051 w 763913"/>
                <a:gd name="connsiteY52" fmla="*/ 70401 h 201029"/>
                <a:gd name="connsiteX53" fmla="*/ 241181 w 763913"/>
                <a:gd name="connsiteY53" fmla="*/ 70401 h 201029"/>
                <a:gd name="connsiteX54" fmla="*/ 241181 w 763913"/>
                <a:gd name="connsiteY54" fmla="*/ 90477 h 201029"/>
                <a:gd name="connsiteX55" fmla="*/ 281387 w 763913"/>
                <a:gd name="connsiteY55" fmla="*/ 130683 h 201029"/>
                <a:gd name="connsiteX56" fmla="*/ 261311 w 763913"/>
                <a:gd name="connsiteY56" fmla="*/ 130683 h 201029"/>
                <a:gd name="connsiteX57" fmla="*/ 261311 w 763913"/>
                <a:gd name="connsiteY57" fmla="*/ 110607 h 201029"/>
                <a:gd name="connsiteX58" fmla="*/ 281387 w 763913"/>
                <a:gd name="connsiteY58" fmla="*/ 110607 h 201029"/>
                <a:gd name="connsiteX59" fmla="*/ 281387 w 763913"/>
                <a:gd name="connsiteY59" fmla="*/ 130683 h 201029"/>
                <a:gd name="connsiteX60" fmla="*/ 281387 w 763913"/>
                <a:gd name="connsiteY60" fmla="*/ 90477 h 201029"/>
                <a:gd name="connsiteX61" fmla="*/ 261311 w 763913"/>
                <a:gd name="connsiteY61" fmla="*/ 90477 h 201029"/>
                <a:gd name="connsiteX62" fmla="*/ 261311 w 763913"/>
                <a:gd name="connsiteY62" fmla="*/ 70401 h 201029"/>
                <a:gd name="connsiteX63" fmla="*/ 281387 w 763913"/>
                <a:gd name="connsiteY63" fmla="*/ 70401 h 201029"/>
                <a:gd name="connsiteX64" fmla="*/ 281387 w 763913"/>
                <a:gd name="connsiteY64" fmla="*/ 90477 h 201029"/>
                <a:gd name="connsiteX65" fmla="*/ 321593 w 763913"/>
                <a:gd name="connsiteY65" fmla="*/ 130683 h 201029"/>
                <a:gd name="connsiteX66" fmla="*/ 301517 w 763913"/>
                <a:gd name="connsiteY66" fmla="*/ 130683 h 201029"/>
                <a:gd name="connsiteX67" fmla="*/ 301517 w 763913"/>
                <a:gd name="connsiteY67" fmla="*/ 110607 h 201029"/>
                <a:gd name="connsiteX68" fmla="*/ 321593 w 763913"/>
                <a:gd name="connsiteY68" fmla="*/ 110607 h 201029"/>
                <a:gd name="connsiteX69" fmla="*/ 321593 w 763913"/>
                <a:gd name="connsiteY69" fmla="*/ 130683 h 201029"/>
                <a:gd name="connsiteX70" fmla="*/ 321593 w 763913"/>
                <a:gd name="connsiteY70" fmla="*/ 90477 h 201029"/>
                <a:gd name="connsiteX71" fmla="*/ 301517 w 763913"/>
                <a:gd name="connsiteY71" fmla="*/ 90477 h 201029"/>
                <a:gd name="connsiteX72" fmla="*/ 301517 w 763913"/>
                <a:gd name="connsiteY72" fmla="*/ 70401 h 201029"/>
                <a:gd name="connsiteX73" fmla="*/ 321593 w 763913"/>
                <a:gd name="connsiteY73" fmla="*/ 70401 h 201029"/>
                <a:gd name="connsiteX74" fmla="*/ 321593 w 763913"/>
                <a:gd name="connsiteY74" fmla="*/ 90477 h 201029"/>
                <a:gd name="connsiteX75" fmla="*/ 585093 w 763913"/>
                <a:gd name="connsiteY75" fmla="*/ 120673 h 201029"/>
                <a:gd name="connsiteX76" fmla="*/ 565017 w 763913"/>
                <a:gd name="connsiteY76" fmla="*/ 100542 h 201029"/>
                <a:gd name="connsiteX77" fmla="*/ 585093 w 763913"/>
                <a:gd name="connsiteY77" fmla="*/ 80467 h 201029"/>
                <a:gd name="connsiteX78" fmla="*/ 605168 w 763913"/>
                <a:gd name="connsiteY78" fmla="*/ 100542 h 201029"/>
                <a:gd name="connsiteX79" fmla="*/ 585093 w 763913"/>
                <a:gd name="connsiteY79" fmla="*/ 120673 h 201029"/>
                <a:gd name="connsiteX80" fmla="*/ 667364 w 763913"/>
                <a:gd name="connsiteY80" fmla="*/ 120673 h 201029"/>
                <a:gd name="connsiteX81" fmla="*/ 647289 w 763913"/>
                <a:gd name="connsiteY81" fmla="*/ 100542 h 201029"/>
                <a:gd name="connsiteX82" fmla="*/ 667364 w 763913"/>
                <a:gd name="connsiteY82" fmla="*/ 80467 h 201029"/>
                <a:gd name="connsiteX83" fmla="*/ 687440 w 763913"/>
                <a:gd name="connsiteY83" fmla="*/ 100542 h 201029"/>
                <a:gd name="connsiteX84" fmla="*/ 667364 w 763913"/>
                <a:gd name="connsiteY84" fmla="*/ 120673 h 201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763913" h="201029">
                  <a:moveTo>
                    <a:pt x="0" y="0"/>
                  </a:moveTo>
                  <a:lnTo>
                    <a:pt x="0" y="201030"/>
                  </a:lnTo>
                  <a:lnTo>
                    <a:pt x="763913" y="201030"/>
                  </a:lnTo>
                  <a:lnTo>
                    <a:pt x="763913" y="0"/>
                  </a:lnTo>
                  <a:lnTo>
                    <a:pt x="0" y="0"/>
                  </a:lnTo>
                  <a:close/>
                  <a:moveTo>
                    <a:pt x="80357" y="130683"/>
                  </a:moveTo>
                  <a:lnTo>
                    <a:pt x="60282" y="130683"/>
                  </a:lnTo>
                  <a:lnTo>
                    <a:pt x="60282" y="110607"/>
                  </a:lnTo>
                  <a:lnTo>
                    <a:pt x="80357" y="110607"/>
                  </a:lnTo>
                  <a:lnTo>
                    <a:pt x="80357" y="130683"/>
                  </a:lnTo>
                  <a:close/>
                  <a:moveTo>
                    <a:pt x="80357" y="90477"/>
                  </a:moveTo>
                  <a:lnTo>
                    <a:pt x="60282" y="90477"/>
                  </a:lnTo>
                  <a:lnTo>
                    <a:pt x="60282" y="70401"/>
                  </a:lnTo>
                  <a:lnTo>
                    <a:pt x="80357" y="70401"/>
                  </a:lnTo>
                  <a:lnTo>
                    <a:pt x="80357" y="90477"/>
                  </a:lnTo>
                  <a:close/>
                  <a:moveTo>
                    <a:pt x="120563" y="130683"/>
                  </a:moveTo>
                  <a:lnTo>
                    <a:pt x="100488" y="130683"/>
                  </a:lnTo>
                  <a:lnTo>
                    <a:pt x="100488" y="110607"/>
                  </a:lnTo>
                  <a:lnTo>
                    <a:pt x="120563" y="110607"/>
                  </a:lnTo>
                  <a:lnTo>
                    <a:pt x="120563" y="130683"/>
                  </a:lnTo>
                  <a:close/>
                  <a:moveTo>
                    <a:pt x="120563" y="90477"/>
                  </a:moveTo>
                  <a:lnTo>
                    <a:pt x="100488" y="90477"/>
                  </a:lnTo>
                  <a:lnTo>
                    <a:pt x="100488" y="70401"/>
                  </a:lnTo>
                  <a:lnTo>
                    <a:pt x="120563" y="70401"/>
                  </a:lnTo>
                  <a:lnTo>
                    <a:pt x="120563" y="90477"/>
                  </a:lnTo>
                  <a:close/>
                  <a:moveTo>
                    <a:pt x="160769" y="130683"/>
                  </a:moveTo>
                  <a:lnTo>
                    <a:pt x="140694" y="130683"/>
                  </a:lnTo>
                  <a:lnTo>
                    <a:pt x="140694" y="110607"/>
                  </a:lnTo>
                  <a:lnTo>
                    <a:pt x="160769" y="110607"/>
                  </a:lnTo>
                  <a:lnTo>
                    <a:pt x="160769" y="130683"/>
                  </a:lnTo>
                  <a:close/>
                  <a:moveTo>
                    <a:pt x="160769" y="90477"/>
                  </a:moveTo>
                  <a:lnTo>
                    <a:pt x="140694" y="90477"/>
                  </a:lnTo>
                  <a:lnTo>
                    <a:pt x="140694" y="70401"/>
                  </a:lnTo>
                  <a:lnTo>
                    <a:pt x="160769" y="70401"/>
                  </a:lnTo>
                  <a:lnTo>
                    <a:pt x="160769" y="90477"/>
                  </a:lnTo>
                  <a:close/>
                  <a:moveTo>
                    <a:pt x="200975" y="130683"/>
                  </a:moveTo>
                  <a:lnTo>
                    <a:pt x="180900" y="130683"/>
                  </a:lnTo>
                  <a:lnTo>
                    <a:pt x="180900" y="110607"/>
                  </a:lnTo>
                  <a:lnTo>
                    <a:pt x="200975" y="110607"/>
                  </a:lnTo>
                  <a:lnTo>
                    <a:pt x="200975" y="130683"/>
                  </a:lnTo>
                  <a:close/>
                  <a:moveTo>
                    <a:pt x="200975" y="90477"/>
                  </a:moveTo>
                  <a:lnTo>
                    <a:pt x="180900" y="90477"/>
                  </a:lnTo>
                  <a:lnTo>
                    <a:pt x="180900" y="70401"/>
                  </a:lnTo>
                  <a:lnTo>
                    <a:pt x="200975" y="70401"/>
                  </a:lnTo>
                  <a:lnTo>
                    <a:pt x="200975" y="90477"/>
                  </a:lnTo>
                  <a:close/>
                  <a:moveTo>
                    <a:pt x="241181" y="130683"/>
                  </a:moveTo>
                  <a:lnTo>
                    <a:pt x="221051" y="130683"/>
                  </a:lnTo>
                  <a:lnTo>
                    <a:pt x="221051" y="110607"/>
                  </a:lnTo>
                  <a:lnTo>
                    <a:pt x="241181" y="110607"/>
                  </a:lnTo>
                  <a:lnTo>
                    <a:pt x="241181" y="130683"/>
                  </a:lnTo>
                  <a:close/>
                  <a:moveTo>
                    <a:pt x="241181" y="90477"/>
                  </a:moveTo>
                  <a:lnTo>
                    <a:pt x="221051" y="90477"/>
                  </a:lnTo>
                  <a:lnTo>
                    <a:pt x="221051" y="70401"/>
                  </a:lnTo>
                  <a:lnTo>
                    <a:pt x="241181" y="70401"/>
                  </a:lnTo>
                  <a:lnTo>
                    <a:pt x="241181" y="90477"/>
                  </a:lnTo>
                  <a:close/>
                  <a:moveTo>
                    <a:pt x="281387" y="130683"/>
                  </a:moveTo>
                  <a:lnTo>
                    <a:pt x="261311" y="130683"/>
                  </a:lnTo>
                  <a:lnTo>
                    <a:pt x="261311" y="110607"/>
                  </a:lnTo>
                  <a:lnTo>
                    <a:pt x="281387" y="110607"/>
                  </a:lnTo>
                  <a:lnTo>
                    <a:pt x="281387" y="130683"/>
                  </a:lnTo>
                  <a:close/>
                  <a:moveTo>
                    <a:pt x="281387" y="90477"/>
                  </a:moveTo>
                  <a:lnTo>
                    <a:pt x="261311" y="90477"/>
                  </a:lnTo>
                  <a:lnTo>
                    <a:pt x="261311" y="70401"/>
                  </a:lnTo>
                  <a:lnTo>
                    <a:pt x="281387" y="70401"/>
                  </a:lnTo>
                  <a:lnTo>
                    <a:pt x="281387" y="90477"/>
                  </a:lnTo>
                  <a:close/>
                  <a:moveTo>
                    <a:pt x="321593" y="130683"/>
                  </a:moveTo>
                  <a:lnTo>
                    <a:pt x="301517" y="130683"/>
                  </a:lnTo>
                  <a:lnTo>
                    <a:pt x="301517" y="110607"/>
                  </a:lnTo>
                  <a:lnTo>
                    <a:pt x="321593" y="110607"/>
                  </a:lnTo>
                  <a:lnTo>
                    <a:pt x="321593" y="130683"/>
                  </a:lnTo>
                  <a:close/>
                  <a:moveTo>
                    <a:pt x="321593" y="90477"/>
                  </a:moveTo>
                  <a:lnTo>
                    <a:pt x="301517" y="90477"/>
                  </a:lnTo>
                  <a:lnTo>
                    <a:pt x="301517" y="70401"/>
                  </a:lnTo>
                  <a:lnTo>
                    <a:pt x="321593" y="70401"/>
                  </a:lnTo>
                  <a:lnTo>
                    <a:pt x="321593" y="90477"/>
                  </a:lnTo>
                  <a:close/>
                  <a:moveTo>
                    <a:pt x="585093" y="120673"/>
                  </a:moveTo>
                  <a:cubicBezTo>
                    <a:pt x="573988" y="120673"/>
                    <a:pt x="565017" y="111647"/>
                    <a:pt x="565017" y="100542"/>
                  </a:cubicBezTo>
                  <a:cubicBezTo>
                    <a:pt x="565017" y="89438"/>
                    <a:pt x="574043" y="80467"/>
                    <a:pt x="585093" y="80467"/>
                  </a:cubicBezTo>
                  <a:cubicBezTo>
                    <a:pt x="596142" y="80467"/>
                    <a:pt x="605168" y="89492"/>
                    <a:pt x="605168" y="100542"/>
                  </a:cubicBezTo>
                  <a:cubicBezTo>
                    <a:pt x="605168" y="111592"/>
                    <a:pt x="596142" y="120673"/>
                    <a:pt x="585093" y="120673"/>
                  </a:cubicBezTo>
                  <a:close/>
                  <a:moveTo>
                    <a:pt x="667364" y="120673"/>
                  </a:moveTo>
                  <a:cubicBezTo>
                    <a:pt x="656260" y="120673"/>
                    <a:pt x="647289" y="111647"/>
                    <a:pt x="647289" y="100542"/>
                  </a:cubicBezTo>
                  <a:cubicBezTo>
                    <a:pt x="647289" y="89438"/>
                    <a:pt x="656315" y="80467"/>
                    <a:pt x="667364" y="80467"/>
                  </a:cubicBezTo>
                  <a:cubicBezTo>
                    <a:pt x="678414" y="80467"/>
                    <a:pt x="687440" y="89492"/>
                    <a:pt x="687440" y="100542"/>
                  </a:cubicBezTo>
                  <a:cubicBezTo>
                    <a:pt x="687440" y="111592"/>
                    <a:pt x="678414" y="120673"/>
                    <a:pt x="667364" y="120673"/>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sp>
        <p:nvSpPr>
          <p:cNvPr id="43" name="Rectangle: Rounded Corners 42">
            <a:extLst>
              <a:ext uri="{FF2B5EF4-FFF2-40B4-BE49-F238E27FC236}">
                <a16:creationId xmlns:a16="http://schemas.microsoft.com/office/drawing/2014/main" id="{E6635740-61DF-0AC2-F718-4CE2D9A3F489}"/>
              </a:ext>
            </a:extLst>
          </p:cNvPr>
          <p:cNvSpPr/>
          <p:nvPr/>
        </p:nvSpPr>
        <p:spPr>
          <a:xfrm>
            <a:off x="1068209" y="4335490"/>
            <a:ext cx="1380879" cy="1380879"/>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109" name="Title 108">
            <a:extLst>
              <a:ext uri="{FF2B5EF4-FFF2-40B4-BE49-F238E27FC236}">
                <a16:creationId xmlns:a16="http://schemas.microsoft.com/office/drawing/2014/main" id="{DF96ED6F-D3BE-C1F3-BB57-66EE06E71229}"/>
              </a:ext>
            </a:extLst>
          </p:cNvPr>
          <p:cNvSpPr>
            <a:spLocks noGrp="1"/>
          </p:cNvSpPr>
          <p:nvPr>
            <p:ph type="title"/>
          </p:nvPr>
        </p:nvSpPr>
        <p:spPr/>
        <p:txBody>
          <a:bodyPr/>
          <a:lstStyle/>
          <a:p>
            <a:r>
              <a:rPr lang="en-US" dirty="0">
                <a:latin typeface="+mn-lt"/>
              </a:rPr>
              <a:t>VCF with NSX Networking</a:t>
            </a:r>
          </a:p>
        </p:txBody>
      </p:sp>
      <p:sp>
        <p:nvSpPr>
          <p:cNvPr id="82" name="Subtitle 81">
            <a:extLst>
              <a:ext uri="{FF2B5EF4-FFF2-40B4-BE49-F238E27FC236}">
                <a16:creationId xmlns:a16="http://schemas.microsoft.com/office/drawing/2014/main" id="{04EB6973-E271-6A8F-527E-05ED3A823A64}"/>
              </a:ext>
            </a:extLst>
          </p:cNvPr>
          <p:cNvSpPr>
            <a:spLocks noGrp="1"/>
          </p:cNvSpPr>
          <p:nvPr>
            <p:ph type="subTitle" idx="10"/>
          </p:nvPr>
        </p:nvSpPr>
        <p:spPr/>
        <p:txBody>
          <a:bodyPr/>
          <a:lstStyle/>
          <a:p>
            <a:r>
              <a:rPr lang="en-US" dirty="0"/>
              <a:t>The whole networking stack is virtualized</a:t>
            </a:r>
          </a:p>
        </p:txBody>
      </p:sp>
      <p:sp>
        <p:nvSpPr>
          <p:cNvPr id="88" name="Rectangle: Rounded Corners 42">
            <a:extLst>
              <a:ext uri="{FF2B5EF4-FFF2-40B4-BE49-F238E27FC236}">
                <a16:creationId xmlns:a16="http://schemas.microsoft.com/office/drawing/2014/main" id="{D5A96F57-EB9E-E2FE-0C6A-0A8D3D71F932}"/>
              </a:ext>
            </a:extLst>
          </p:cNvPr>
          <p:cNvSpPr/>
          <p:nvPr/>
        </p:nvSpPr>
        <p:spPr>
          <a:xfrm>
            <a:off x="2884734" y="4326211"/>
            <a:ext cx="1380879" cy="1380879"/>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89" name="Rectangle: Rounded Corners 42">
            <a:extLst>
              <a:ext uri="{FF2B5EF4-FFF2-40B4-BE49-F238E27FC236}">
                <a16:creationId xmlns:a16="http://schemas.microsoft.com/office/drawing/2014/main" id="{C89E36FB-7B52-150A-065C-184261B76EF6}"/>
              </a:ext>
            </a:extLst>
          </p:cNvPr>
          <p:cNvSpPr/>
          <p:nvPr/>
        </p:nvSpPr>
        <p:spPr>
          <a:xfrm>
            <a:off x="4713534" y="4324492"/>
            <a:ext cx="1380879" cy="1380879"/>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91" name="Rectangle 90">
            <a:extLst>
              <a:ext uri="{FF2B5EF4-FFF2-40B4-BE49-F238E27FC236}">
                <a16:creationId xmlns:a16="http://schemas.microsoft.com/office/drawing/2014/main" id="{A65E5801-EF1A-A2EC-C396-6D79CA5F9C06}"/>
              </a:ext>
            </a:extLst>
          </p:cNvPr>
          <p:cNvSpPr/>
          <p:nvPr/>
        </p:nvSpPr>
        <p:spPr>
          <a:xfrm>
            <a:off x="900108" y="5915991"/>
            <a:ext cx="5360611" cy="145424"/>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50" b="1" i="0" u="none" strike="noStrike" kern="1200" cap="all" spc="50" normalizeH="0" baseline="0" noProof="0" dirty="0">
                <a:ln>
                  <a:noFill/>
                </a:ln>
                <a:solidFill>
                  <a:prstClr val="black"/>
                </a:solidFill>
                <a:effectLst/>
                <a:uLnTx/>
                <a:uFillTx/>
                <a:latin typeface="Arial" panose="020B0604020202020204"/>
                <a:ea typeface="+mn-ea"/>
                <a:cs typeface="Arial"/>
              </a:rPr>
              <a:t>Vmware Cloud Foundation</a:t>
            </a:r>
          </a:p>
        </p:txBody>
      </p:sp>
      <p:pic>
        <p:nvPicPr>
          <p:cNvPr id="92" name="Picture 91">
            <a:extLst>
              <a:ext uri="{FF2B5EF4-FFF2-40B4-BE49-F238E27FC236}">
                <a16:creationId xmlns:a16="http://schemas.microsoft.com/office/drawing/2014/main" id="{24FC4E08-6691-C203-16E9-2BEE4AF568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979613" y="5840173"/>
            <a:ext cx="348488" cy="295148"/>
          </a:xfrm>
          <a:prstGeom prst="rect">
            <a:avLst/>
          </a:prstGeom>
        </p:spPr>
      </p:pic>
      <p:grpSp>
        <p:nvGrpSpPr>
          <p:cNvPr id="95" name="Group 94">
            <a:extLst>
              <a:ext uri="{FF2B5EF4-FFF2-40B4-BE49-F238E27FC236}">
                <a16:creationId xmlns:a16="http://schemas.microsoft.com/office/drawing/2014/main" id="{484969AB-0427-5DC5-250F-EBE5E173F6D9}"/>
              </a:ext>
            </a:extLst>
          </p:cNvPr>
          <p:cNvGrpSpPr/>
          <p:nvPr/>
        </p:nvGrpSpPr>
        <p:grpSpPr>
          <a:xfrm>
            <a:off x="9294813" y="4784231"/>
            <a:ext cx="2324692" cy="575945"/>
            <a:chOff x="9294813" y="2043075"/>
            <a:chExt cx="2324692" cy="575945"/>
          </a:xfrm>
        </p:grpSpPr>
        <p:sp>
          <p:nvSpPr>
            <p:cNvPr id="44" name="Rectangle: Rounded Corners 557">
              <a:extLst>
                <a:ext uri="{FF2B5EF4-FFF2-40B4-BE49-F238E27FC236}">
                  <a16:creationId xmlns:a16="http://schemas.microsoft.com/office/drawing/2014/main" id="{ECCCA341-F204-24AB-34A3-F70D7C640D06}"/>
                </a:ext>
              </a:extLst>
            </p:cNvPr>
            <p:cNvSpPr/>
            <p:nvPr/>
          </p:nvSpPr>
          <p:spPr>
            <a:xfrm>
              <a:off x="9294813" y="2043075"/>
              <a:ext cx="2286000" cy="575945"/>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5" name="Content Placeholder 9">
              <a:extLst>
                <a:ext uri="{FF2B5EF4-FFF2-40B4-BE49-F238E27FC236}">
                  <a16:creationId xmlns:a16="http://schemas.microsoft.com/office/drawing/2014/main" id="{842C1A3B-4C7B-C64D-2528-27AA0B5C3280}"/>
                </a:ext>
              </a:extLst>
            </p:cNvPr>
            <p:cNvSpPr txBox="1">
              <a:spLocks/>
            </p:cNvSpPr>
            <p:nvPr/>
          </p:nvSpPr>
          <p:spPr>
            <a:xfrm>
              <a:off x="9855505" y="2229926"/>
              <a:ext cx="1764000" cy="202243"/>
            </a:xfrm>
            <a:prstGeom prst="rect">
              <a:avLst/>
            </a:prstGeom>
          </p:spPr>
          <p:txBody>
            <a:bodyPr vert="horz" lIns="0" tIns="0" rIns="0" bIns="0" rtlCol="0" anchor="ctr">
              <a:noAutofit/>
            </a:bodyPr>
            <a:lstStyle>
              <a:lvl1pPr marL="0" indent="0" algn="ctr" defTabSz="914400" rtl="0" eaLnBrk="1" latinLnBrk="0" hangingPunct="1">
                <a:lnSpc>
                  <a:spcPct val="100000"/>
                </a:lnSpc>
                <a:spcBef>
                  <a:spcPts val="600"/>
                </a:spcBef>
                <a:buClr>
                  <a:schemeClr val="tx1">
                    <a:lumMod val="60000"/>
                    <a:lumOff val="40000"/>
                  </a:schemeClr>
                </a:buClr>
                <a:buSzPct val="90000"/>
                <a:buFont typeface="Arial" panose="020B0604020202020204" pitchFamily="34" charset="0"/>
                <a:buChar char="​"/>
                <a:defRPr sz="2400" kern="1200">
                  <a:solidFill>
                    <a:schemeClr val="accent5"/>
                  </a:solidFill>
                  <a:latin typeface="+mn-lt"/>
                  <a:ea typeface="+mn-ea"/>
                  <a:cs typeface="+mn-cs"/>
                </a:defRPr>
              </a:lvl1pPr>
              <a:lvl2pPr marL="0" indent="0" algn="ctr" defTabSz="914400" rtl="0" eaLnBrk="1" latinLnBrk="0" hangingPunct="1">
                <a:lnSpc>
                  <a:spcPct val="100000"/>
                </a:lnSpc>
                <a:spcBef>
                  <a:spcPts val="600"/>
                </a:spcBef>
                <a:buClr>
                  <a:schemeClr val="tx2"/>
                </a:buClr>
                <a:buSzPct val="90000"/>
                <a:buFont typeface="Open Sans" panose="020B0606030504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6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6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6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0000">
                    <a:lumMod val="60000"/>
                    <a:lumOff val="40000"/>
                  </a:srgbClr>
                </a:buClr>
                <a:buSzPct val="90000"/>
                <a:buFont typeface="Arial" panose="020B0604020202020204" pitchFamily="34" charset="0"/>
                <a:buChar char="​"/>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Monitoring and Analytics</a:t>
              </a:r>
            </a:p>
          </p:txBody>
        </p:sp>
        <p:grpSp>
          <p:nvGrpSpPr>
            <p:cNvPr id="46" name="Group 45">
              <a:extLst>
                <a:ext uri="{FF2B5EF4-FFF2-40B4-BE49-F238E27FC236}">
                  <a16:creationId xmlns:a16="http://schemas.microsoft.com/office/drawing/2014/main" id="{87637112-EA73-9E22-B53B-B2C05ABAE9A7}"/>
                </a:ext>
              </a:extLst>
            </p:cNvPr>
            <p:cNvGrpSpPr>
              <a:grpSpLocks noChangeAspect="1"/>
            </p:cNvGrpSpPr>
            <p:nvPr/>
          </p:nvGrpSpPr>
          <p:grpSpPr>
            <a:xfrm>
              <a:off x="9344980" y="2102447"/>
              <a:ext cx="457200" cy="457200"/>
              <a:chOff x="7756637" y="2484407"/>
              <a:chExt cx="902850" cy="902850"/>
            </a:xfrm>
          </p:grpSpPr>
          <p:sp>
            <p:nvSpPr>
              <p:cNvPr id="47" name="Oval 26">
                <a:extLst>
                  <a:ext uri="{FF2B5EF4-FFF2-40B4-BE49-F238E27FC236}">
                    <a16:creationId xmlns:a16="http://schemas.microsoft.com/office/drawing/2014/main" id="{34E60969-DE5E-2852-B8EC-41D6DC338308}"/>
                  </a:ext>
                </a:extLst>
              </p:cNvPr>
              <p:cNvSpPr>
                <a:spLocks noChangeAspect="1"/>
              </p:cNvSpPr>
              <p:nvPr/>
            </p:nvSpPr>
            <p:spPr bwMode="gray">
              <a:xfrm>
                <a:off x="7756637" y="2484407"/>
                <a:ext cx="902850" cy="902850"/>
              </a:xfrm>
              <a:prstGeom prst="ellipse">
                <a:avLst/>
              </a:prstGeom>
              <a:solidFill>
                <a:schemeClr val="tx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48" name="Group 47">
                <a:extLst>
                  <a:ext uri="{FF2B5EF4-FFF2-40B4-BE49-F238E27FC236}">
                    <a16:creationId xmlns:a16="http://schemas.microsoft.com/office/drawing/2014/main" id="{43C94F03-7EE2-AB7A-8BE6-59AAE0D4BCF0}"/>
                  </a:ext>
                </a:extLst>
              </p:cNvPr>
              <p:cNvGrpSpPr/>
              <p:nvPr/>
            </p:nvGrpSpPr>
            <p:grpSpPr>
              <a:xfrm>
                <a:off x="7930273" y="2670781"/>
                <a:ext cx="558302" cy="538093"/>
                <a:chOff x="7930273" y="2670781"/>
                <a:chExt cx="558302" cy="538093"/>
              </a:xfrm>
            </p:grpSpPr>
            <p:sp>
              <p:nvSpPr>
                <p:cNvPr id="49" name="Freeform: Shape 201">
                  <a:extLst>
                    <a:ext uri="{FF2B5EF4-FFF2-40B4-BE49-F238E27FC236}">
                      <a16:creationId xmlns:a16="http://schemas.microsoft.com/office/drawing/2014/main" id="{B5154EBC-600D-86AB-B371-B505B18121CC}"/>
                    </a:ext>
                  </a:extLst>
                </p:cNvPr>
                <p:cNvSpPr/>
                <p:nvPr/>
              </p:nvSpPr>
              <p:spPr>
                <a:xfrm>
                  <a:off x="7930273" y="2670781"/>
                  <a:ext cx="432694" cy="432694"/>
                </a:xfrm>
                <a:custGeom>
                  <a:avLst/>
                  <a:gdLst>
                    <a:gd name="connsiteX0" fmla="*/ 0 w 432694"/>
                    <a:gd name="connsiteY0" fmla="*/ 0 h 432694"/>
                    <a:gd name="connsiteX1" fmla="*/ 0 w 432694"/>
                    <a:gd name="connsiteY1" fmla="*/ 432694 h 432694"/>
                    <a:gd name="connsiteX2" fmla="*/ 295991 w 432694"/>
                    <a:gd name="connsiteY2" fmla="*/ 432694 h 432694"/>
                    <a:gd name="connsiteX3" fmla="*/ 295991 w 432694"/>
                    <a:gd name="connsiteY3" fmla="*/ 393070 h 432694"/>
                    <a:gd name="connsiteX4" fmla="*/ 165232 w 432694"/>
                    <a:gd name="connsiteY4" fmla="*/ 393070 h 432694"/>
                    <a:gd name="connsiteX5" fmla="*/ 206441 w 432694"/>
                    <a:gd name="connsiteY5" fmla="*/ 214762 h 432694"/>
                    <a:gd name="connsiteX6" fmla="*/ 236159 w 432694"/>
                    <a:gd name="connsiteY6" fmla="*/ 323728 h 432694"/>
                    <a:gd name="connsiteX7" fmla="*/ 285689 w 432694"/>
                    <a:gd name="connsiteY7" fmla="*/ 135514 h 432694"/>
                    <a:gd name="connsiteX8" fmla="*/ 306294 w 432694"/>
                    <a:gd name="connsiteY8" fmla="*/ 237744 h 432694"/>
                    <a:gd name="connsiteX9" fmla="*/ 393070 w 432694"/>
                    <a:gd name="connsiteY9" fmla="*/ 237744 h 432694"/>
                    <a:gd name="connsiteX10" fmla="*/ 393070 w 432694"/>
                    <a:gd name="connsiteY10" fmla="*/ 326106 h 432694"/>
                    <a:gd name="connsiteX11" fmla="*/ 432694 w 432694"/>
                    <a:gd name="connsiteY11" fmla="*/ 326106 h 432694"/>
                    <a:gd name="connsiteX12" fmla="*/ 432694 w 432694"/>
                    <a:gd name="connsiteY12" fmla="*/ 0 h 432694"/>
                    <a:gd name="connsiteX13" fmla="*/ 0 w 432694"/>
                    <a:gd name="connsiteY13" fmla="*/ 0 h 432694"/>
                    <a:gd name="connsiteX14" fmla="*/ 39624 w 432694"/>
                    <a:gd name="connsiteY14" fmla="*/ 393070 h 432694"/>
                    <a:gd name="connsiteX15" fmla="*/ 39624 w 432694"/>
                    <a:gd name="connsiteY15" fmla="*/ 237744 h 432694"/>
                    <a:gd name="connsiteX16" fmla="*/ 111740 w 432694"/>
                    <a:gd name="connsiteY16" fmla="*/ 237744 h 432694"/>
                    <a:gd name="connsiteX17" fmla="*/ 130759 w 432694"/>
                    <a:gd name="connsiteY17" fmla="*/ 168798 h 432694"/>
                    <a:gd name="connsiteX18" fmla="*/ 162458 w 432694"/>
                    <a:gd name="connsiteY18" fmla="*/ 393070 h 432694"/>
                    <a:gd name="connsiteX19" fmla="*/ 39624 w 432694"/>
                    <a:gd name="connsiteY19" fmla="*/ 393070 h 432694"/>
                    <a:gd name="connsiteX20" fmla="*/ 322539 w 432694"/>
                    <a:gd name="connsiteY20" fmla="*/ 217932 h 432694"/>
                    <a:gd name="connsiteX21" fmla="*/ 288066 w 432694"/>
                    <a:gd name="connsiteY21" fmla="*/ 47945 h 432694"/>
                    <a:gd name="connsiteX22" fmla="*/ 235763 w 432694"/>
                    <a:gd name="connsiteY22" fmla="*/ 246858 h 432694"/>
                    <a:gd name="connsiteX23" fmla="*/ 204856 w 432694"/>
                    <a:gd name="connsiteY23" fmla="*/ 133533 h 432694"/>
                    <a:gd name="connsiteX24" fmla="*/ 168006 w 432694"/>
                    <a:gd name="connsiteY24" fmla="*/ 292029 h 432694"/>
                    <a:gd name="connsiteX25" fmla="*/ 136703 w 432694"/>
                    <a:gd name="connsiteY25" fmla="*/ 72116 h 432694"/>
                    <a:gd name="connsiteX26" fmla="*/ 96683 w 432694"/>
                    <a:gd name="connsiteY26" fmla="*/ 217932 h 432694"/>
                    <a:gd name="connsiteX27" fmla="*/ 39624 w 432694"/>
                    <a:gd name="connsiteY27" fmla="*/ 217932 h 432694"/>
                    <a:gd name="connsiteX28" fmla="*/ 39624 w 432694"/>
                    <a:gd name="connsiteY28" fmla="*/ 39624 h 432694"/>
                    <a:gd name="connsiteX29" fmla="*/ 393070 w 432694"/>
                    <a:gd name="connsiteY29" fmla="*/ 39624 h 432694"/>
                    <a:gd name="connsiteX30" fmla="*/ 393070 w 432694"/>
                    <a:gd name="connsiteY30" fmla="*/ 217932 h 432694"/>
                    <a:gd name="connsiteX31" fmla="*/ 322539 w 432694"/>
                    <a:gd name="connsiteY31" fmla="*/ 217932 h 432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32694" h="432694">
                      <a:moveTo>
                        <a:pt x="0" y="0"/>
                      </a:moveTo>
                      <a:lnTo>
                        <a:pt x="0" y="432694"/>
                      </a:lnTo>
                      <a:lnTo>
                        <a:pt x="295991" y="432694"/>
                      </a:lnTo>
                      <a:lnTo>
                        <a:pt x="295991" y="393070"/>
                      </a:lnTo>
                      <a:lnTo>
                        <a:pt x="165232" y="393070"/>
                      </a:lnTo>
                      <a:lnTo>
                        <a:pt x="206441" y="214762"/>
                      </a:lnTo>
                      <a:lnTo>
                        <a:pt x="236159" y="323728"/>
                      </a:lnTo>
                      <a:lnTo>
                        <a:pt x="285689" y="135514"/>
                      </a:lnTo>
                      <a:lnTo>
                        <a:pt x="306294" y="237744"/>
                      </a:lnTo>
                      <a:lnTo>
                        <a:pt x="393070" y="237744"/>
                      </a:lnTo>
                      <a:lnTo>
                        <a:pt x="393070" y="326106"/>
                      </a:lnTo>
                      <a:lnTo>
                        <a:pt x="432694" y="326106"/>
                      </a:lnTo>
                      <a:lnTo>
                        <a:pt x="432694" y="0"/>
                      </a:lnTo>
                      <a:lnTo>
                        <a:pt x="0" y="0"/>
                      </a:lnTo>
                      <a:close/>
                      <a:moveTo>
                        <a:pt x="39624" y="393070"/>
                      </a:moveTo>
                      <a:lnTo>
                        <a:pt x="39624" y="237744"/>
                      </a:lnTo>
                      <a:lnTo>
                        <a:pt x="111740" y="237744"/>
                      </a:lnTo>
                      <a:lnTo>
                        <a:pt x="130759" y="168798"/>
                      </a:lnTo>
                      <a:lnTo>
                        <a:pt x="162458" y="393070"/>
                      </a:lnTo>
                      <a:lnTo>
                        <a:pt x="39624" y="393070"/>
                      </a:lnTo>
                      <a:close/>
                      <a:moveTo>
                        <a:pt x="322539" y="217932"/>
                      </a:moveTo>
                      <a:lnTo>
                        <a:pt x="288066" y="47945"/>
                      </a:lnTo>
                      <a:lnTo>
                        <a:pt x="235763" y="246858"/>
                      </a:lnTo>
                      <a:lnTo>
                        <a:pt x="204856" y="133533"/>
                      </a:lnTo>
                      <a:lnTo>
                        <a:pt x="168006" y="292029"/>
                      </a:lnTo>
                      <a:lnTo>
                        <a:pt x="136703" y="72116"/>
                      </a:lnTo>
                      <a:lnTo>
                        <a:pt x="96683" y="217932"/>
                      </a:lnTo>
                      <a:lnTo>
                        <a:pt x="39624" y="217932"/>
                      </a:lnTo>
                      <a:lnTo>
                        <a:pt x="39624" y="39624"/>
                      </a:lnTo>
                      <a:lnTo>
                        <a:pt x="393070" y="39624"/>
                      </a:lnTo>
                      <a:lnTo>
                        <a:pt x="393070" y="217932"/>
                      </a:lnTo>
                      <a:lnTo>
                        <a:pt x="322539" y="217932"/>
                      </a:ln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50" name="Graphic 41">
                  <a:extLst>
                    <a:ext uri="{FF2B5EF4-FFF2-40B4-BE49-F238E27FC236}">
                      <a16:creationId xmlns:a16="http://schemas.microsoft.com/office/drawing/2014/main" id="{CB0EB632-A1B8-1A87-4A97-5E5EDF6AEB19}"/>
                    </a:ext>
                  </a:extLst>
                </p:cNvPr>
                <p:cNvGrpSpPr/>
                <p:nvPr/>
              </p:nvGrpSpPr>
              <p:grpSpPr>
                <a:xfrm>
                  <a:off x="8250435" y="3017491"/>
                  <a:ext cx="238140" cy="191383"/>
                  <a:chOff x="8250435" y="3017491"/>
                  <a:chExt cx="238140" cy="191383"/>
                </a:xfrm>
                <a:solidFill>
                  <a:schemeClr val="bg1"/>
                </a:solidFill>
              </p:grpSpPr>
              <p:sp>
                <p:nvSpPr>
                  <p:cNvPr id="51" name="Freeform: Shape 203">
                    <a:extLst>
                      <a:ext uri="{FF2B5EF4-FFF2-40B4-BE49-F238E27FC236}">
                        <a16:creationId xmlns:a16="http://schemas.microsoft.com/office/drawing/2014/main" id="{E3D950F6-A2C6-0A60-FB05-EBE18BA81297}"/>
                      </a:ext>
                    </a:extLst>
                  </p:cNvPr>
                  <p:cNvSpPr/>
                  <p:nvPr/>
                </p:nvSpPr>
                <p:spPr>
                  <a:xfrm>
                    <a:off x="8250435" y="3017491"/>
                    <a:ext cx="238140" cy="30510"/>
                  </a:xfrm>
                  <a:custGeom>
                    <a:avLst/>
                    <a:gdLst>
                      <a:gd name="connsiteX0" fmla="*/ 238140 w 238140"/>
                      <a:gd name="connsiteY0" fmla="*/ 0 h 30510"/>
                      <a:gd name="connsiteX1" fmla="*/ 0 w 238140"/>
                      <a:gd name="connsiteY1" fmla="*/ 0 h 30510"/>
                      <a:gd name="connsiteX2" fmla="*/ 0 w 238140"/>
                      <a:gd name="connsiteY2" fmla="*/ 30510 h 30510"/>
                      <a:gd name="connsiteX3" fmla="*/ 238140 w 238140"/>
                      <a:gd name="connsiteY3" fmla="*/ 30510 h 30510"/>
                      <a:gd name="connsiteX4" fmla="*/ 238140 w 238140"/>
                      <a:gd name="connsiteY4" fmla="*/ 0 h 30510"/>
                      <a:gd name="connsiteX5" fmla="*/ 15057 w 238140"/>
                      <a:gd name="connsiteY5" fmla="*/ 21793 h 30510"/>
                      <a:gd name="connsiteX6" fmla="*/ 8321 w 238140"/>
                      <a:gd name="connsiteY6" fmla="*/ 15057 h 30510"/>
                      <a:gd name="connsiteX7" fmla="*/ 15057 w 238140"/>
                      <a:gd name="connsiteY7" fmla="*/ 8321 h 30510"/>
                      <a:gd name="connsiteX8" fmla="*/ 22586 w 238140"/>
                      <a:gd name="connsiteY8" fmla="*/ 15057 h 30510"/>
                      <a:gd name="connsiteX9" fmla="*/ 15057 w 238140"/>
                      <a:gd name="connsiteY9" fmla="*/ 21793 h 30510"/>
                      <a:gd name="connsiteX10" fmla="*/ 37247 w 238140"/>
                      <a:gd name="connsiteY10" fmla="*/ 21793 h 30510"/>
                      <a:gd name="connsiteX11" fmla="*/ 30510 w 238140"/>
                      <a:gd name="connsiteY11" fmla="*/ 15057 h 30510"/>
                      <a:gd name="connsiteX12" fmla="*/ 37247 w 238140"/>
                      <a:gd name="connsiteY12" fmla="*/ 8321 h 30510"/>
                      <a:gd name="connsiteX13" fmla="*/ 43983 w 238140"/>
                      <a:gd name="connsiteY13" fmla="*/ 15057 h 30510"/>
                      <a:gd name="connsiteX14" fmla="*/ 37247 w 238140"/>
                      <a:gd name="connsiteY14" fmla="*/ 21793 h 30510"/>
                      <a:gd name="connsiteX15" fmla="*/ 58644 w 238140"/>
                      <a:gd name="connsiteY15" fmla="*/ 21793 h 30510"/>
                      <a:gd name="connsiteX16" fmla="*/ 51907 w 238140"/>
                      <a:gd name="connsiteY16" fmla="*/ 15057 h 30510"/>
                      <a:gd name="connsiteX17" fmla="*/ 58644 w 238140"/>
                      <a:gd name="connsiteY17" fmla="*/ 8321 h 30510"/>
                      <a:gd name="connsiteX18" fmla="*/ 65380 w 238140"/>
                      <a:gd name="connsiteY18" fmla="*/ 15057 h 30510"/>
                      <a:gd name="connsiteX19" fmla="*/ 58644 w 238140"/>
                      <a:gd name="connsiteY19" fmla="*/ 21793 h 30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8140" h="30510">
                        <a:moveTo>
                          <a:pt x="238140" y="0"/>
                        </a:moveTo>
                        <a:lnTo>
                          <a:pt x="0" y="0"/>
                        </a:lnTo>
                        <a:cubicBezTo>
                          <a:pt x="0" y="30510"/>
                          <a:pt x="0" y="30510"/>
                          <a:pt x="0" y="30510"/>
                        </a:cubicBezTo>
                        <a:cubicBezTo>
                          <a:pt x="238140" y="30510"/>
                          <a:pt x="238140" y="30510"/>
                          <a:pt x="238140" y="30510"/>
                        </a:cubicBezTo>
                        <a:cubicBezTo>
                          <a:pt x="238140" y="0"/>
                          <a:pt x="238140" y="0"/>
                          <a:pt x="238140" y="0"/>
                        </a:cubicBezTo>
                        <a:close/>
                        <a:moveTo>
                          <a:pt x="15057" y="21793"/>
                        </a:moveTo>
                        <a:cubicBezTo>
                          <a:pt x="11491" y="21793"/>
                          <a:pt x="8321" y="18227"/>
                          <a:pt x="8321" y="15057"/>
                        </a:cubicBezTo>
                        <a:cubicBezTo>
                          <a:pt x="8321" y="11095"/>
                          <a:pt x="11887" y="8321"/>
                          <a:pt x="15057" y="8321"/>
                        </a:cubicBezTo>
                        <a:cubicBezTo>
                          <a:pt x="19020" y="8321"/>
                          <a:pt x="22586" y="11095"/>
                          <a:pt x="22586" y="15057"/>
                        </a:cubicBezTo>
                        <a:cubicBezTo>
                          <a:pt x="22189" y="18623"/>
                          <a:pt x="19020" y="21793"/>
                          <a:pt x="15057" y="21793"/>
                        </a:cubicBezTo>
                        <a:close/>
                        <a:moveTo>
                          <a:pt x="37247" y="21793"/>
                        </a:moveTo>
                        <a:cubicBezTo>
                          <a:pt x="33284" y="21793"/>
                          <a:pt x="30510" y="18227"/>
                          <a:pt x="30510" y="15057"/>
                        </a:cubicBezTo>
                        <a:cubicBezTo>
                          <a:pt x="30510" y="11095"/>
                          <a:pt x="33284" y="8321"/>
                          <a:pt x="37247" y="8321"/>
                        </a:cubicBezTo>
                        <a:cubicBezTo>
                          <a:pt x="40813" y="8321"/>
                          <a:pt x="43983" y="11095"/>
                          <a:pt x="43983" y="15057"/>
                        </a:cubicBezTo>
                        <a:cubicBezTo>
                          <a:pt x="43983" y="18623"/>
                          <a:pt x="40417" y="21793"/>
                          <a:pt x="37247" y="21793"/>
                        </a:cubicBezTo>
                        <a:close/>
                        <a:moveTo>
                          <a:pt x="58644" y="21793"/>
                        </a:moveTo>
                        <a:cubicBezTo>
                          <a:pt x="55077" y="21793"/>
                          <a:pt x="51907" y="18227"/>
                          <a:pt x="51907" y="15057"/>
                        </a:cubicBezTo>
                        <a:cubicBezTo>
                          <a:pt x="51907" y="11095"/>
                          <a:pt x="55474" y="8321"/>
                          <a:pt x="58644" y="8321"/>
                        </a:cubicBezTo>
                        <a:cubicBezTo>
                          <a:pt x="62606" y="8321"/>
                          <a:pt x="65380" y="11095"/>
                          <a:pt x="65380" y="15057"/>
                        </a:cubicBezTo>
                        <a:cubicBezTo>
                          <a:pt x="65380" y="18623"/>
                          <a:pt x="63002" y="21793"/>
                          <a:pt x="58644" y="21793"/>
                        </a:cubicBez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2" name="Freeform: Shape 204">
                    <a:extLst>
                      <a:ext uri="{FF2B5EF4-FFF2-40B4-BE49-F238E27FC236}">
                        <a16:creationId xmlns:a16="http://schemas.microsoft.com/office/drawing/2014/main" id="{5A37263F-744F-25DD-258F-FE0D4B28D41E}"/>
                      </a:ext>
                    </a:extLst>
                  </p:cNvPr>
                  <p:cNvSpPr/>
                  <p:nvPr/>
                </p:nvSpPr>
                <p:spPr>
                  <a:xfrm>
                    <a:off x="8250435" y="3057907"/>
                    <a:ext cx="238140" cy="150967"/>
                  </a:xfrm>
                  <a:custGeom>
                    <a:avLst/>
                    <a:gdLst>
                      <a:gd name="connsiteX0" fmla="*/ 0 w 238140"/>
                      <a:gd name="connsiteY0" fmla="*/ 0 h 150967"/>
                      <a:gd name="connsiteX1" fmla="*/ 0 w 238140"/>
                      <a:gd name="connsiteY1" fmla="*/ 143439 h 150967"/>
                      <a:gd name="connsiteX2" fmla="*/ 6736 w 238140"/>
                      <a:gd name="connsiteY2" fmla="*/ 150967 h 150967"/>
                      <a:gd name="connsiteX3" fmla="*/ 230612 w 238140"/>
                      <a:gd name="connsiteY3" fmla="*/ 150967 h 150967"/>
                      <a:gd name="connsiteX4" fmla="*/ 238140 w 238140"/>
                      <a:gd name="connsiteY4" fmla="*/ 143439 h 150967"/>
                      <a:gd name="connsiteX5" fmla="*/ 238140 w 238140"/>
                      <a:gd name="connsiteY5" fmla="*/ 0 h 150967"/>
                      <a:gd name="connsiteX6" fmla="*/ 0 w 238140"/>
                      <a:gd name="connsiteY6" fmla="*/ 0 h 15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140" h="150967">
                        <a:moveTo>
                          <a:pt x="0" y="0"/>
                        </a:moveTo>
                        <a:cubicBezTo>
                          <a:pt x="0" y="143439"/>
                          <a:pt x="0" y="143439"/>
                          <a:pt x="0" y="143439"/>
                        </a:cubicBezTo>
                        <a:cubicBezTo>
                          <a:pt x="0" y="147401"/>
                          <a:pt x="2774" y="150967"/>
                          <a:pt x="6736" y="150967"/>
                        </a:cubicBezTo>
                        <a:cubicBezTo>
                          <a:pt x="230612" y="150967"/>
                          <a:pt x="230612" y="150967"/>
                          <a:pt x="230612" y="150967"/>
                        </a:cubicBezTo>
                        <a:cubicBezTo>
                          <a:pt x="234574" y="150967"/>
                          <a:pt x="238140" y="147798"/>
                          <a:pt x="238140" y="143439"/>
                        </a:cubicBezTo>
                        <a:cubicBezTo>
                          <a:pt x="238140" y="0"/>
                          <a:pt x="238140" y="0"/>
                          <a:pt x="238140" y="0"/>
                        </a:cubicBezTo>
                        <a:lnTo>
                          <a:pt x="0" y="0"/>
                        </a:ln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grpSp>
      </p:grpSp>
      <p:grpSp>
        <p:nvGrpSpPr>
          <p:cNvPr id="96" name="Group 95">
            <a:extLst>
              <a:ext uri="{FF2B5EF4-FFF2-40B4-BE49-F238E27FC236}">
                <a16:creationId xmlns:a16="http://schemas.microsoft.com/office/drawing/2014/main" id="{4B57A2EB-B41B-DA2C-C45E-8050771B8E0F}"/>
              </a:ext>
            </a:extLst>
          </p:cNvPr>
          <p:cNvGrpSpPr/>
          <p:nvPr/>
        </p:nvGrpSpPr>
        <p:grpSpPr>
          <a:xfrm>
            <a:off x="9294813" y="3442318"/>
            <a:ext cx="2286000" cy="575945"/>
            <a:chOff x="9294813" y="2703803"/>
            <a:chExt cx="2286000" cy="575945"/>
          </a:xfrm>
        </p:grpSpPr>
        <p:sp>
          <p:nvSpPr>
            <p:cNvPr id="53" name="Rectangle: Rounded Corners 612">
              <a:extLst>
                <a:ext uri="{FF2B5EF4-FFF2-40B4-BE49-F238E27FC236}">
                  <a16:creationId xmlns:a16="http://schemas.microsoft.com/office/drawing/2014/main" id="{0185EC91-70FF-C2E0-5F5D-E697ED7CDD4C}"/>
                </a:ext>
              </a:extLst>
            </p:cNvPr>
            <p:cNvSpPr/>
            <p:nvPr/>
          </p:nvSpPr>
          <p:spPr>
            <a:xfrm>
              <a:off x="9294813" y="2703803"/>
              <a:ext cx="2286000" cy="575945"/>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4" name="Content Placeholder 9">
              <a:extLst>
                <a:ext uri="{FF2B5EF4-FFF2-40B4-BE49-F238E27FC236}">
                  <a16:creationId xmlns:a16="http://schemas.microsoft.com/office/drawing/2014/main" id="{B7BB4191-9908-DD42-4C33-38B0C31A3FD7}"/>
                </a:ext>
              </a:extLst>
            </p:cNvPr>
            <p:cNvSpPr txBox="1">
              <a:spLocks/>
            </p:cNvSpPr>
            <p:nvPr/>
          </p:nvSpPr>
          <p:spPr>
            <a:xfrm>
              <a:off x="9922670" y="2890654"/>
              <a:ext cx="1620000" cy="202243"/>
            </a:xfrm>
            <a:prstGeom prst="rect">
              <a:avLst/>
            </a:prstGeom>
          </p:spPr>
          <p:txBody>
            <a:bodyPr vert="horz" lIns="0" tIns="0" rIns="0" bIns="0" rtlCol="0" anchor="ctr">
              <a:noAutofit/>
            </a:bodyPr>
            <a:lstStyle>
              <a:lvl1pPr marL="0" indent="0" algn="ctr" defTabSz="914400" rtl="0" eaLnBrk="1" latinLnBrk="0" hangingPunct="1">
                <a:lnSpc>
                  <a:spcPct val="100000"/>
                </a:lnSpc>
                <a:spcBef>
                  <a:spcPts val="600"/>
                </a:spcBef>
                <a:buClr>
                  <a:schemeClr val="tx1">
                    <a:lumMod val="60000"/>
                    <a:lumOff val="40000"/>
                  </a:schemeClr>
                </a:buClr>
                <a:buSzPct val="90000"/>
                <a:buFont typeface="Arial" panose="020B0604020202020204" pitchFamily="34" charset="0"/>
                <a:buChar char="​"/>
                <a:defRPr sz="2400" kern="1200">
                  <a:solidFill>
                    <a:schemeClr val="accent5"/>
                  </a:solidFill>
                  <a:latin typeface="+mn-lt"/>
                  <a:ea typeface="+mn-ea"/>
                  <a:cs typeface="+mn-cs"/>
                </a:defRPr>
              </a:lvl1pPr>
              <a:lvl2pPr marL="0" indent="0" algn="ctr" defTabSz="914400" rtl="0" eaLnBrk="1" latinLnBrk="0" hangingPunct="1">
                <a:lnSpc>
                  <a:spcPct val="100000"/>
                </a:lnSpc>
                <a:spcBef>
                  <a:spcPts val="600"/>
                </a:spcBef>
                <a:buClr>
                  <a:schemeClr val="tx2"/>
                </a:buClr>
                <a:buSzPct val="90000"/>
                <a:buFont typeface="Open Sans" panose="020B0606030504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6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6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6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0000">
                    <a:lumMod val="60000"/>
                    <a:lumOff val="40000"/>
                  </a:srgbClr>
                </a:buClr>
                <a:buSzPct val="90000"/>
                <a:buFont typeface="Arial" panose="020B0604020202020204" pitchFamily="34" charset="0"/>
                <a:buChar char="​"/>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Load Balancing</a:t>
              </a:r>
            </a:p>
          </p:txBody>
        </p:sp>
        <p:grpSp>
          <p:nvGrpSpPr>
            <p:cNvPr id="55" name="Group 54">
              <a:extLst>
                <a:ext uri="{FF2B5EF4-FFF2-40B4-BE49-F238E27FC236}">
                  <a16:creationId xmlns:a16="http://schemas.microsoft.com/office/drawing/2014/main" id="{38F84B40-67D2-5F4C-8699-8DE712E96386}"/>
                </a:ext>
              </a:extLst>
            </p:cNvPr>
            <p:cNvGrpSpPr>
              <a:grpSpLocks noChangeAspect="1"/>
            </p:cNvGrpSpPr>
            <p:nvPr/>
          </p:nvGrpSpPr>
          <p:grpSpPr>
            <a:xfrm>
              <a:off x="9345407" y="2763175"/>
              <a:ext cx="461084" cy="457200"/>
              <a:chOff x="6306684" y="2484407"/>
              <a:chExt cx="902850" cy="902850"/>
            </a:xfrm>
          </p:grpSpPr>
          <p:sp>
            <p:nvSpPr>
              <p:cNvPr id="56" name="Oval 25">
                <a:extLst>
                  <a:ext uri="{FF2B5EF4-FFF2-40B4-BE49-F238E27FC236}">
                    <a16:creationId xmlns:a16="http://schemas.microsoft.com/office/drawing/2014/main" id="{39E2C18D-A964-70E2-497D-647C6B621EC9}"/>
                  </a:ext>
                </a:extLst>
              </p:cNvPr>
              <p:cNvSpPr>
                <a:spLocks noChangeAspect="1"/>
              </p:cNvSpPr>
              <p:nvPr/>
            </p:nvSpPr>
            <p:spPr bwMode="gray">
              <a:xfrm>
                <a:off x="6306684" y="2484407"/>
                <a:ext cx="902850" cy="902850"/>
              </a:xfrm>
              <a:prstGeom prst="ellipse">
                <a:avLst/>
              </a:prstGeom>
              <a:solidFill>
                <a:schemeClr val="tx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7" name="Graphic 62">
                <a:extLst>
                  <a:ext uri="{FF2B5EF4-FFF2-40B4-BE49-F238E27FC236}">
                    <a16:creationId xmlns:a16="http://schemas.microsoft.com/office/drawing/2014/main" id="{19E997FD-E626-A97A-F2EF-7552C709B575}"/>
                  </a:ext>
                </a:extLst>
              </p:cNvPr>
              <p:cNvSpPr/>
              <p:nvPr/>
            </p:nvSpPr>
            <p:spPr>
              <a:xfrm>
                <a:off x="6449156" y="2663422"/>
                <a:ext cx="537323" cy="537323"/>
              </a:xfrm>
              <a:custGeom>
                <a:avLst/>
                <a:gdLst>
                  <a:gd name="connsiteX0" fmla="*/ 168355 w 537323"/>
                  <a:gd name="connsiteY0" fmla="*/ 0 h 537323"/>
                  <a:gd name="connsiteX1" fmla="*/ 0 w 537323"/>
                  <a:gd name="connsiteY1" fmla="*/ 185968 h 537323"/>
                  <a:gd name="connsiteX2" fmla="*/ 0 w 537323"/>
                  <a:gd name="connsiteY2" fmla="*/ 353777 h 537323"/>
                  <a:gd name="connsiteX3" fmla="*/ 174877 w 537323"/>
                  <a:gd name="connsiteY3" fmla="*/ 537324 h 537323"/>
                  <a:gd name="connsiteX4" fmla="*/ 537324 w 537323"/>
                  <a:gd name="connsiteY4" fmla="*/ 537324 h 537323"/>
                  <a:gd name="connsiteX5" fmla="*/ 537324 w 537323"/>
                  <a:gd name="connsiteY5" fmla="*/ 0 h 537323"/>
                  <a:gd name="connsiteX6" fmla="*/ 168355 w 537323"/>
                  <a:gd name="connsiteY6" fmla="*/ 0 h 537323"/>
                  <a:gd name="connsiteX7" fmla="*/ 200964 w 537323"/>
                  <a:gd name="connsiteY7" fmla="*/ 151680 h 537323"/>
                  <a:gd name="connsiteX8" fmla="*/ 220295 w 537323"/>
                  <a:gd name="connsiteY8" fmla="*/ 171011 h 537323"/>
                  <a:gd name="connsiteX9" fmla="*/ 153633 w 537323"/>
                  <a:gd name="connsiteY9" fmla="*/ 237674 h 537323"/>
                  <a:gd name="connsiteX10" fmla="*/ 134302 w 537323"/>
                  <a:gd name="connsiteY10" fmla="*/ 218343 h 537323"/>
                  <a:gd name="connsiteX11" fmla="*/ 200964 w 537323"/>
                  <a:gd name="connsiteY11" fmla="*/ 151680 h 537323"/>
                  <a:gd name="connsiteX12" fmla="*/ 204870 w 537323"/>
                  <a:gd name="connsiteY12" fmla="*/ 264151 h 537323"/>
                  <a:gd name="connsiteX13" fmla="*/ 204870 w 537323"/>
                  <a:gd name="connsiteY13" fmla="*/ 291488 h 537323"/>
                  <a:gd name="connsiteX14" fmla="*/ 153320 w 537323"/>
                  <a:gd name="connsiteY14" fmla="*/ 291488 h 537323"/>
                  <a:gd name="connsiteX15" fmla="*/ 153320 w 537323"/>
                  <a:gd name="connsiteY15" fmla="*/ 264151 h 537323"/>
                  <a:gd name="connsiteX16" fmla="*/ 204870 w 537323"/>
                  <a:gd name="connsiteY16" fmla="*/ 264151 h 537323"/>
                  <a:gd name="connsiteX17" fmla="*/ 117119 w 537323"/>
                  <a:gd name="connsiteY17" fmla="*/ 308632 h 537323"/>
                  <a:gd name="connsiteX18" fmla="*/ 55494 w 537323"/>
                  <a:gd name="connsiteY18" fmla="*/ 308632 h 537323"/>
                  <a:gd name="connsiteX19" fmla="*/ 55494 w 537323"/>
                  <a:gd name="connsiteY19" fmla="*/ 247007 h 537323"/>
                  <a:gd name="connsiteX20" fmla="*/ 117119 w 537323"/>
                  <a:gd name="connsiteY20" fmla="*/ 247007 h 537323"/>
                  <a:gd name="connsiteX21" fmla="*/ 117119 w 537323"/>
                  <a:gd name="connsiteY21" fmla="*/ 308632 h 537323"/>
                  <a:gd name="connsiteX22" fmla="*/ 134302 w 537323"/>
                  <a:gd name="connsiteY22" fmla="*/ 343506 h 537323"/>
                  <a:gd name="connsiteX23" fmla="*/ 153633 w 537323"/>
                  <a:gd name="connsiteY23" fmla="*/ 324175 h 537323"/>
                  <a:gd name="connsiteX24" fmla="*/ 220295 w 537323"/>
                  <a:gd name="connsiteY24" fmla="*/ 390838 h 537323"/>
                  <a:gd name="connsiteX25" fmla="*/ 200964 w 537323"/>
                  <a:gd name="connsiteY25" fmla="*/ 410169 h 537323"/>
                  <a:gd name="connsiteX26" fmla="*/ 134302 w 537323"/>
                  <a:gd name="connsiteY26" fmla="*/ 343506 h 537323"/>
                  <a:gd name="connsiteX27" fmla="*/ 287231 w 537323"/>
                  <a:gd name="connsiteY27" fmla="*/ 478901 h 537323"/>
                  <a:gd name="connsiteX28" fmla="*/ 225606 w 537323"/>
                  <a:gd name="connsiteY28" fmla="*/ 478901 h 537323"/>
                  <a:gd name="connsiteX29" fmla="*/ 225606 w 537323"/>
                  <a:gd name="connsiteY29" fmla="*/ 417276 h 537323"/>
                  <a:gd name="connsiteX30" fmla="*/ 287231 w 537323"/>
                  <a:gd name="connsiteY30" fmla="*/ 417276 h 537323"/>
                  <a:gd name="connsiteX31" fmla="*/ 287231 w 537323"/>
                  <a:gd name="connsiteY31" fmla="*/ 478901 h 537323"/>
                  <a:gd name="connsiteX32" fmla="*/ 287231 w 537323"/>
                  <a:gd name="connsiteY32" fmla="*/ 308593 h 537323"/>
                  <a:gd name="connsiteX33" fmla="*/ 225606 w 537323"/>
                  <a:gd name="connsiteY33" fmla="*/ 308593 h 537323"/>
                  <a:gd name="connsiteX34" fmla="*/ 225606 w 537323"/>
                  <a:gd name="connsiteY34" fmla="*/ 246968 h 537323"/>
                  <a:gd name="connsiteX35" fmla="*/ 287231 w 537323"/>
                  <a:gd name="connsiteY35" fmla="*/ 246968 h 537323"/>
                  <a:gd name="connsiteX36" fmla="*/ 287231 w 537323"/>
                  <a:gd name="connsiteY36" fmla="*/ 308593 h 537323"/>
                  <a:gd name="connsiteX37" fmla="*/ 287231 w 537323"/>
                  <a:gd name="connsiteY37" fmla="*/ 137192 h 537323"/>
                  <a:gd name="connsiteX38" fmla="*/ 225606 w 537323"/>
                  <a:gd name="connsiteY38" fmla="*/ 137192 h 537323"/>
                  <a:gd name="connsiteX39" fmla="*/ 225606 w 537323"/>
                  <a:gd name="connsiteY39" fmla="*/ 75567 h 537323"/>
                  <a:gd name="connsiteX40" fmla="*/ 287231 w 537323"/>
                  <a:gd name="connsiteY40" fmla="*/ 75567 h 537323"/>
                  <a:gd name="connsiteX41" fmla="*/ 287231 w 537323"/>
                  <a:gd name="connsiteY41" fmla="*/ 137192 h 537323"/>
                  <a:gd name="connsiteX42" fmla="*/ 449143 w 537323"/>
                  <a:gd name="connsiteY42" fmla="*/ 475386 h 537323"/>
                  <a:gd name="connsiteX43" fmla="*/ 449143 w 537323"/>
                  <a:gd name="connsiteY43" fmla="*/ 461796 h 537323"/>
                  <a:gd name="connsiteX44" fmla="*/ 322105 w 537323"/>
                  <a:gd name="connsiteY44" fmla="*/ 461796 h 537323"/>
                  <a:gd name="connsiteX45" fmla="*/ 322105 w 537323"/>
                  <a:gd name="connsiteY45" fmla="*/ 434459 h 537323"/>
                  <a:gd name="connsiteX46" fmla="*/ 449143 w 537323"/>
                  <a:gd name="connsiteY46" fmla="*/ 434459 h 537323"/>
                  <a:gd name="connsiteX47" fmla="*/ 449143 w 537323"/>
                  <a:gd name="connsiteY47" fmla="*/ 420869 h 537323"/>
                  <a:gd name="connsiteX48" fmla="*/ 496358 w 537323"/>
                  <a:gd name="connsiteY48" fmla="*/ 448128 h 537323"/>
                  <a:gd name="connsiteX49" fmla="*/ 449143 w 537323"/>
                  <a:gd name="connsiteY49" fmla="*/ 475386 h 537323"/>
                  <a:gd name="connsiteX50" fmla="*/ 449143 w 537323"/>
                  <a:gd name="connsiteY50" fmla="*/ 305039 h 537323"/>
                  <a:gd name="connsiteX51" fmla="*/ 449143 w 537323"/>
                  <a:gd name="connsiteY51" fmla="*/ 291449 h 537323"/>
                  <a:gd name="connsiteX52" fmla="*/ 322105 w 537323"/>
                  <a:gd name="connsiteY52" fmla="*/ 291449 h 537323"/>
                  <a:gd name="connsiteX53" fmla="*/ 322105 w 537323"/>
                  <a:gd name="connsiteY53" fmla="*/ 264112 h 537323"/>
                  <a:gd name="connsiteX54" fmla="*/ 449143 w 537323"/>
                  <a:gd name="connsiteY54" fmla="*/ 264112 h 537323"/>
                  <a:gd name="connsiteX55" fmla="*/ 449143 w 537323"/>
                  <a:gd name="connsiteY55" fmla="*/ 250522 h 537323"/>
                  <a:gd name="connsiteX56" fmla="*/ 496358 w 537323"/>
                  <a:gd name="connsiteY56" fmla="*/ 277781 h 537323"/>
                  <a:gd name="connsiteX57" fmla="*/ 449143 w 537323"/>
                  <a:gd name="connsiteY57" fmla="*/ 305039 h 537323"/>
                  <a:gd name="connsiteX58" fmla="*/ 449143 w 537323"/>
                  <a:gd name="connsiteY58" fmla="*/ 133638 h 537323"/>
                  <a:gd name="connsiteX59" fmla="*/ 449143 w 537323"/>
                  <a:gd name="connsiteY59" fmla="*/ 120047 h 537323"/>
                  <a:gd name="connsiteX60" fmla="*/ 322105 w 537323"/>
                  <a:gd name="connsiteY60" fmla="*/ 120047 h 537323"/>
                  <a:gd name="connsiteX61" fmla="*/ 322105 w 537323"/>
                  <a:gd name="connsiteY61" fmla="*/ 92711 h 537323"/>
                  <a:gd name="connsiteX62" fmla="*/ 449143 w 537323"/>
                  <a:gd name="connsiteY62" fmla="*/ 92711 h 537323"/>
                  <a:gd name="connsiteX63" fmla="*/ 449143 w 537323"/>
                  <a:gd name="connsiteY63" fmla="*/ 79120 h 537323"/>
                  <a:gd name="connsiteX64" fmla="*/ 496358 w 537323"/>
                  <a:gd name="connsiteY64" fmla="*/ 106379 h 537323"/>
                  <a:gd name="connsiteX65" fmla="*/ 449143 w 537323"/>
                  <a:gd name="connsiteY65" fmla="*/ 133638 h 537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37323" h="537323">
                    <a:moveTo>
                      <a:pt x="168355" y="0"/>
                    </a:moveTo>
                    <a:lnTo>
                      <a:pt x="0" y="185968"/>
                    </a:lnTo>
                    <a:lnTo>
                      <a:pt x="0" y="353777"/>
                    </a:lnTo>
                    <a:lnTo>
                      <a:pt x="174877" y="537324"/>
                    </a:lnTo>
                    <a:lnTo>
                      <a:pt x="537324" y="537324"/>
                    </a:lnTo>
                    <a:lnTo>
                      <a:pt x="537324" y="0"/>
                    </a:lnTo>
                    <a:lnTo>
                      <a:pt x="168355" y="0"/>
                    </a:lnTo>
                    <a:close/>
                    <a:moveTo>
                      <a:pt x="200964" y="151680"/>
                    </a:moveTo>
                    <a:lnTo>
                      <a:pt x="220295" y="171011"/>
                    </a:lnTo>
                    <a:lnTo>
                      <a:pt x="153633" y="237674"/>
                    </a:lnTo>
                    <a:lnTo>
                      <a:pt x="134302" y="218343"/>
                    </a:lnTo>
                    <a:lnTo>
                      <a:pt x="200964" y="151680"/>
                    </a:lnTo>
                    <a:close/>
                    <a:moveTo>
                      <a:pt x="204870" y="264151"/>
                    </a:moveTo>
                    <a:lnTo>
                      <a:pt x="204870" y="291488"/>
                    </a:lnTo>
                    <a:lnTo>
                      <a:pt x="153320" y="291488"/>
                    </a:lnTo>
                    <a:lnTo>
                      <a:pt x="153320" y="264151"/>
                    </a:lnTo>
                    <a:lnTo>
                      <a:pt x="204870" y="264151"/>
                    </a:lnTo>
                    <a:close/>
                    <a:moveTo>
                      <a:pt x="117119" y="308632"/>
                    </a:moveTo>
                    <a:cubicBezTo>
                      <a:pt x="100092" y="325659"/>
                      <a:pt x="72521" y="325659"/>
                      <a:pt x="55494" y="308632"/>
                    </a:cubicBezTo>
                    <a:cubicBezTo>
                      <a:pt x="38467" y="291605"/>
                      <a:pt x="38467" y="264034"/>
                      <a:pt x="55494" y="247007"/>
                    </a:cubicBezTo>
                    <a:cubicBezTo>
                      <a:pt x="72521" y="229980"/>
                      <a:pt x="100092" y="229980"/>
                      <a:pt x="117119" y="247007"/>
                    </a:cubicBezTo>
                    <a:cubicBezTo>
                      <a:pt x="134145" y="264034"/>
                      <a:pt x="134145" y="291605"/>
                      <a:pt x="117119" y="308632"/>
                    </a:cubicBezTo>
                    <a:close/>
                    <a:moveTo>
                      <a:pt x="134302" y="343506"/>
                    </a:moveTo>
                    <a:lnTo>
                      <a:pt x="153633" y="324175"/>
                    </a:lnTo>
                    <a:lnTo>
                      <a:pt x="220295" y="390838"/>
                    </a:lnTo>
                    <a:lnTo>
                      <a:pt x="200964" y="410169"/>
                    </a:lnTo>
                    <a:lnTo>
                      <a:pt x="134302" y="343506"/>
                    </a:lnTo>
                    <a:close/>
                    <a:moveTo>
                      <a:pt x="287231" y="478901"/>
                    </a:moveTo>
                    <a:cubicBezTo>
                      <a:pt x="270204" y="495928"/>
                      <a:pt x="242633" y="495928"/>
                      <a:pt x="225606" y="478901"/>
                    </a:cubicBezTo>
                    <a:cubicBezTo>
                      <a:pt x="208580" y="461874"/>
                      <a:pt x="208580" y="434303"/>
                      <a:pt x="225606" y="417276"/>
                    </a:cubicBezTo>
                    <a:cubicBezTo>
                      <a:pt x="242633" y="400249"/>
                      <a:pt x="270204" y="400249"/>
                      <a:pt x="287231" y="417276"/>
                    </a:cubicBezTo>
                    <a:cubicBezTo>
                      <a:pt x="304258" y="434303"/>
                      <a:pt x="304258" y="461874"/>
                      <a:pt x="287231" y="478901"/>
                    </a:cubicBezTo>
                    <a:close/>
                    <a:moveTo>
                      <a:pt x="287231" y="308593"/>
                    </a:moveTo>
                    <a:cubicBezTo>
                      <a:pt x="270204" y="325620"/>
                      <a:pt x="242633" y="325620"/>
                      <a:pt x="225606" y="308593"/>
                    </a:cubicBezTo>
                    <a:cubicBezTo>
                      <a:pt x="208580" y="291566"/>
                      <a:pt x="208580" y="263995"/>
                      <a:pt x="225606" y="246968"/>
                    </a:cubicBezTo>
                    <a:cubicBezTo>
                      <a:pt x="242633" y="229941"/>
                      <a:pt x="270204" y="229941"/>
                      <a:pt x="287231" y="246968"/>
                    </a:cubicBezTo>
                    <a:cubicBezTo>
                      <a:pt x="304258" y="263995"/>
                      <a:pt x="304258" y="291566"/>
                      <a:pt x="287231" y="308593"/>
                    </a:cubicBezTo>
                    <a:close/>
                    <a:moveTo>
                      <a:pt x="287231" y="137192"/>
                    </a:moveTo>
                    <a:cubicBezTo>
                      <a:pt x="270204" y="154218"/>
                      <a:pt x="242633" y="154218"/>
                      <a:pt x="225606" y="137192"/>
                    </a:cubicBezTo>
                    <a:cubicBezTo>
                      <a:pt x="208580" y="120165"/>
                      <a:pt x="208580" y="92594"/>
                      <a:pt x="225606" y="75567"/>
                    </a:cubicBezTo>
                    <a:cubicBezTo>
                      <a:pt x="242633" y="58540"/>
                      <a:pt x="270204" y="58540"/>
                      <a:pt x="287231" y="75567"/>
                    </a:cubicBezTo>
                    <a:cubicBezTo>
                      <a:pt x="304258" y="92594"/>
                      <a:pt x="304258" y="120165"/>
                      <a:pt x="287231" y="137192"/>
                    </a:cubicBezTo>
                    <a:close/>
                    <a:moveTo>
                      <a:pt x="449143" y="475386"/>
                    </a:moveTo>
                    <a:lnTo>
                      <a:pt x="449143" y="461796"/>
                    </a:lnTo>
                    <a:lnTo>
                      <a:pt x="322105" y="461796"/>
                    </a:lnTo>
                    <a:lnTo>
                      <a:pt x="322105" y="434459"/>
                    </a:lnTo>
                    <a:lnTo>
                      <a:pt x="449143" y="434459"/>
                    </a:lnTo>
                    <a:lnTo>
                      <a:pt x="449143" y="420869"/>
                    </a:lnTo>
                    <a:lnTo>
                      <a:pt x="496358" y="448128"/>
                    </a:lnTo>
                    <a:lnTo>
                      <a:pt x="449143" y="475386"/>
                    </a:lnTo>
                    <a:close/>
                    <a:moveTo>
                      <a:pt x="449143" y="305039"/>
                    </a:moveTo>
                    <a:lnTo>
                      <a:pt x="449143" y="291449"/>
                    </a:lnTo>
                    <a:lnTo>
                      <a:pt x="322105" y="291449"/>
                    </a:lnTo>
                    <a:lnTo>
                      <a:pt x="322105" y="264112"/>
                    </a:lnTo>
                    <a:lnTo>
                      <a:pt x="449143" y="264112"/>
                    </a:lnTo>
                    <a:lnTo>
                      <a:pt x="449143" y="250522"/>
                    </a:lnTo>
                    <a:lnTo>
                      <a:pt x="496358" y="277781"/>
                    </a:lnTo>
                    <a:lnTo>
                      <a:pt x="449143" y="305039"/>
                    </a:lnTo>
                    <a:close/>
                    <a:moveTo>
                      <a:pt x="449143" y="133638"/>
                    </a:moveTo>
                    <a:lnTo>
                      <a:pt x="449143" y="120047"/>
                    </a:lnTo>
                    <a:lnTo>
                      <a:pt x="322105" y="120047"/>
                    </a:lnTo>
                    <a:lnTo>
                      <a:pt x="322105" y="92711"/>
                    </a:lnTo>
                    <a:lnTo>
                      <a:pt x="449143" y="92711"/>
                    </a:lnTo>
                    <a:lnTo>
                      <a:pt x="449143" y="79120"/>
                    </a:lnTo>
                    <a:lnTo>
                      <a:pt x="496358" y="106379"/>
                    </a:lnTo>
                    <a:lnTo>
                      <a:pt x="449143" y="133638"/>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grpSp>
        <p:nvGrpSpPr>
          <p:cNvPr id="90" name="Group 89">
            <a:extLst>
              <a:ext uri="{FF2B5EF4-FFF2-40B4-BE49-F238E27FC236}">
                <a16:creationId xmlns:a16="http://schemas.microsoft.com/office/drawing/2014/main" id="{4995C427-546A-4479-4A18-BD60AE8A291B}"/>
              </a:ext>
            </a:extLst>
          </p:cNvPr>
          <p:cNvGrpSpPr/>
          <p:nvPr/>
        </p:nvGrpSpPr>
        <p:grpSpPr>
          <a:xfrm>
            <a:off x="9294813" y="4113275"/>
            <a:ext cx="2334335" cy="575945"/>
            <a:chOff x="9294813" y="3364531"/>
            <a:chExt cx="2334335" cy="575945"/>
          </a:xfrm>
        </p:grpSpPr>
        <p:sp>
          <p:nvSpPr>
            <p:cNvPr id="58" name="Rectangle: Rounded Corners 623">
              <a:extLst>
                <a:ext uri="{FF2B5EF4-FFF2-40B4-BE49-F238E27FC236}">
                  <a16:creationId xmlns:a16="http://schemas.microsoft.com/office/drawing/2014/main" id="{8649B9F4-5CC6-8DDE-407A-1DA2A2E9FCC5}"/>
                </a:ext>
              </a:extLst>
            </p:cNvPr>
            <p:cNvSpPr/>
            <p:nvPr/>
          </p:nvSpPr>
          <p:spPr>
            <a:xfrm>
              <a:off x="9294813" y="3364531"/>
              <a:ext cx="2286000" cy="575945"/>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9" name="Content Placeholder 9">
              <a:extLst>
                <a:ext uri="{FF2B5EF4-FFF2-40B4-BE49-F238E27FC236}">
                  <a16:creationId xmlns:a16="http://schemas.microsoft.com/office/drawing/2014/main" id="{93A84B38-CC1C-EEF2-6A98-801A76E84624}"/>
                </a:ext>
              </a:extLst>
            </p:cNvPr>
            <p:cNvSpPr txBox="1">
              <a:spLocks/>
            </p:cNvSpPr>
            <p:nvPr/>
          </p:nvSpPr>
          <p:spPr>
            <a:xfrm>
              <a:off x="9860794" y="3551382"/>
              <a:ext cx="1768354" cy="202243"/>
            </a:xfrm>
            <a:prstGeom prst="rect">
              <a:avLst/>
            </a:prstGeom>
          </p:spPr>
          <p:txBody>
            <a:bodyPr vert="horz" lIns="0" tIns="0" rIns="0" bIns="0" rtlCol="0" anchor="ctr">
              <a:noAutofit/>
            </a:bodyPr>
            <a:lstStyle>
              <a:lvl1pPr marL="0" indent="0" algn="ctr" defTabSz="914400" rtl="0" eaLnBrk="1" latinLnBrk="0" hangingPunct="1">
                <a:lnSpc>
                  <a:spcPct val="100000"/>
                </a:lnSpc>
                <a:spcBef>
                  <a:spcPts val="600"/>
                </a:spcBef>
                <a:buClr>
                  <a:schemeClr val="tx1">
                    <a:lumMod val="60000"/>
                    <a:lumOff val="40000"/>
                  </a:schemeClr>
                </a:buClr>
                <a:buSzPct val="90000"/>
                <a:buFont typeface="Arial" panose="020B0604020202020204" pitchFamily="34" charset="0"/>
                <a:buChar char="​"/>
                <a:defRPr sz="2400" kern="1200">
                  <a:solidFill>
                    <a:schemeClr val="accent5"/>
                  </a:solidFill>
                  <a:latin typeface="+mn-lt"/>
                  <a:ea typeface="+mn-ea"/>
                  <a:cs typeface="+mn-cs"/>
                </a:defRPr>
              </a:lvl1pPr>
              <a:lvl2pPr marL="0" indent="0" algn="ctr" defTabSz="914400" rtl="0" eaLnBrk="1" latinLnBrk="0" hangingPunct="1">
                <a:lnSpc>
                  <a:spcPct val="100000"/>
                </a:lnSpc>
                <a:spcBef>
                  <a:spcPts val="600"/>
                </a:spcBef>
                <a:buClr>
                  <a:schemeClr val="tx2"/>
                </a:buClr>
                <a:buSzPct val="90000"/>
                <a:buFont typeface="Open Sans" panose="020B0606030504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6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6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6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0000">
                    <a:lumMod val="60000"/>
                    <a:lumOff val="40000"/>
                  </a:srgbClr>
                </a:buClr>
                <a:buSzPct val="90000"/>
                <a:buFont typeface="Arial" panose="020B0604020202020204" pitchFamily="34" charset="0"/>
                <a:buChar char="​"/>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Firewall, IDS/IPS, ATP</a:t>
              </a:r>
            </a:p>
          </p:txBody>
        </p:sp>
        <p:grpSp>
          <p:nvGrpSpPr>
            <p:cNvPr id="60" name="Group 59">
              <a:extLst>
                <a:ext uri="{FF2B5EF4-FFF2-40B4-BE49-F238E27FC236}">
                  <a16:creationId xmlns:a16="http://schemas.microsoft.com/office/drawing/2014/main" id="{1680F925-F02E-41AB-84FE-BE08D30800E2}"/>
                </a:ext>
              </a:extLst>
            </p:cNvPr>
            <p:cNvGrpSpPr>
              <a:grpSpLocks noChangeAspect="1"/>
            </p:cNvGrpSpPr>
            <p:nvPr/>
          </p:nvGrpSpPr>
          <p:grpSpPr>
            <a:xfrm>
              <a:off x="9345406" y="3423904"/>
              <a:ext cx="461084" cy="457200"/>
              <a:chOff x="9206590" y="1111625"/>
              <a:chExt cx="902850" cy="902850"/>
            </a:xfrm>
          </p:grpSpPr>
          <p:sp>
            <p:nvSpPr>
              <p:cNvPr id="61" name="Oval 7">
                <a:extLst>
                  <a:ext uri="{FF2B5EF4-FFF2-40B4-BE49-F238E27FC236}">
                    <a16:creationId xmlns:a16="http://schemas.microsoft.com/office/drawing/2014/main" id="{9E0C532E-B68B-91B1-6B0F-38F09124E87E}"/>
                  </a:ext>
                </a:extLst>
              </p:cNvPr>
              <p:cNvSpPr>
                <a:spLocks noChangeAspect="1"/>
              </p:cNvSpPr>
              <p:nvPr/>
            </p:nvSpPr>
            <p:spPr bwMode="gray">
              <a:xfrm>
                <a:off x="9206590" y="1111625"/>
                <a:ext cx="902850" cy="902850"/>
              </a:xfrm>
              <a:prstGeom prst="ellipse">
                <a:avLst/>
              </a:prstGeom>
              <a:solidFill>
                <a:schemeClr val="tx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62" name="Group 61">
                <a:extLst>
                  <a:ext uri="{FF2B5EF4-FFF2-40B4-BE49-F238E27FC236}">
                    <a16:creationId xmlns:a16="http://schemas.microsoft.com/office/drawing/2014/main" id="{6ABE3706-8309-9623-23B8-163F21154E16}"/>
                  </a:ext>
                </a:extLst>
              </p:cNvPr>
              <p:cNvGrpSpPr/>
              <p:nvPr/>
            </p:nvGrpSpPr>
            <p:grpSpPr>
              <a:xfrm>
                <a:off x="9370580" y="1353439"/>
                <a:ext cx="586735" cy="398365"/>
                <a:chOff x="9370580" y="1353439"/>
                <a:chExt cx="586735" cy="398365"/>
              </a:xfrm>
            </p:grpSpPr>
            <p:sp>
              <p:nvSpPr>
                <p:cNvPr id="63" name="Freeform: Shape 214">
                  <a:extLst>
                    <a:ext uri="{FF2B5EF4-FFF2-40B4-BE49-F238E27FC236}">
                      <a16:creationId xmlns:a16="http://schemas.microsoft.com/office/drawing/2014/main" id="{A380D228-7A86-3D54-EC2C-A7C9D6DDEE35}"/>
                    </a:ext>
                  </a:extLst>
                </p:cNvPr>
                <p:cNvSpPr/>
                <p:nvPr/>
              </p:nvSpPr>
              <p:spPr>
                <a:xfrm>
                  <a:off x="9845237" y="1465737"/>
                  <a:ext cx="112078" cy="82722"/>
                </a:xfrm>
                <a:custGeom>
                  <a:avLst/>
                  <a:gdLst>
                    <a:gd name="connsiteX0" fmla="*/ 6046 w 112078"/>
                    <a:gd name="connsiteY0" fmla="*/ 0 h 82722"/>
                    <a:gd name="connsiteX1" fmla="*/ 106032 w 112078"/>
                    <a:gd name="connsiteY1" fmla="*/ 0 h 82722"/>
                    <a:gd name="connsiteX2" fmla="*/ 112079 w 112078"/>
                    <a:gd name="connsiteY2" fmla="*/ 6046 h 82722"/>
                    <a:gd name="connsiteX3" fmla="*/ 112079 w 112078"/>
                    <a:gd name="connsiteY3" fmla="*/ 76676 h 82722"/>
                    <a:gd name="connsiteX4" fmla="*/ 106032 w 112078"/>
                    <a:gd name="connsiteY4" fmla="*/ 82723 h 82722"/>
                    <a:gd name="connsiteX5" fmla="*/ 6046 w 112078"/>
                    <a:gd name="connsiteY5" fmla="*/ 82723 h 82722"/>
                    <a:gd name="connsiteX6" fmla="*/ 0 w 112078"/>
                    <a:gd name="connsiteY6" fmla="*/ 76676 h 82722"/>
                    <a:gd name="connsiteX7" fmla="*/ 0 w 112078"/>
                    <a:gd name="connsiteY7" fmla="*/ 6046 h 82722"/>
                    <a:gd name="connsiteX8" fmla="*/ 6046 w 112078"/>
                    <a:gd name="connsiteY8" fmla="*/ 0 h 82722"/>
                    <a:gd name="connsiteX9" fmla="*/ 6046 w 112078"/>
                    <a:gd name="connsiteY9" fmla="*/ 0 h 8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078" h="82722">
                      <a:moveTo>
                        <a:pt x="6046" y="0"/>
                      </a:moveTo>
                      <a:lnTo>
                        <a:pt x="106032" y="0"/>
                      </a:lnTo>
                      <a:cubicBezTo>
                        <a:pt x="109362" y="0"/>
                        <a:pt x="112079" y="3330"/>
                        <a:pt x="112079" y="6046"/>
                      </a:cubicBezTo>
                      <a:lnTo>
                        <a:pt x="112079" y="76676"/>
                      </a:lnTo>
                      <a:cubicBezTo>
                        <a:pt x="112079" y="80006"/>
                        <a:pt x="109362" y="82723"/>
                        <a:pt x="106032" y="82723"/>
                      </a:cubicBezTo>
                      <a:lnTo>
                        <a:pt x="6046" y="82723"/>
                      </a:lnTo>
                      <a:cubicBezTo>
                        <a:pt x="2717" y="82723"/>
                        <a:pt x="0" y="79393"/>
                        <a:pt x="0" y="76676"/>
                      </a:cubicBezTo>
                      <a:lnTo>
                        <a:pt x="0" y="6046"/>
                      </a:lnTo>
                      <a:cubicBezTo>
                        <a:pt x="0" y="2717"/>
                        <a:pt x="2717" y="0"/>
                        <a:pt x="6046" y="0"/>
                      </a:cubicBezTo>
                      <a:lnTo>
                        <a:pt x="6046" y="0"/>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4" name="Freeform: Shape 215">
                  <a:extLst>
                    <a:ext uri="{FF2B5EF4-FFF2-40B4-BE49-F238E27FC236}">
                      <a16:creationId xmlns:a16="http://schemas.microsoft.com/office/drawing/2014/main" id="{D46E3FD1-05D7-DEAD-D60C-F09FB8692BA8}"/>
                    </a:ext>
                  </a:extLst>
                </p:cNvPr>
                <p:cNvSpPr/>
                <p:nvPr/>
              </p:nvSpPr>
              <p:spPr>
                <a:xfrm>
                  <a:off x="9845237" y="1669082"/>
                  <a:ext cx="112078" cy="82722"/>
                </a:xfrm>
                <a:custGeom>
                  <a:avLst/>
                  <a:gdLst>
                    <a:gd name="connsiteX0" fmla="*/ 6046 w 112078"/>
                    <a:gd name="connsiteY0" fmla="*/ 0 h 82722"/>
                    <a:gd name="connsiteX1" fmla="*/ 106032 w 112078"/>
                    <a:gd name="connsiteY1" fmla="*/ 0 h 82722"/>
                    <a:gd name="connsiteX2" fmla="*/ 112079 w 112078"/>
                    <a:gd name="connsiteY2" fmla="*/ 6046 h 82722"/>
                    <a:gd name="connsiteX3" fmla="*/ 112079 w 112078"/>
                    <a:gd name="connsiteY3" fmla="*/ 76676 h 82722"/>
                    <a:gd name="connsiteX4" fmla="*/ 106032 w 112078"/>
                    <a:gd name="connsiteY4" fmla="*/ 82723 h 82722"/>
                    <a:gd name="connsiteX5" fmla="*/ 6046 w 112078"/>
                    <a:gd name="connsiteY5" fmla="*/ 82723 h 82722"/>
                    <a:gd name="connsiteX6" fmla="*/ 0 w 112078"/>
                    <a:gd name="connsiteY6" fmla="*/ 76676 h 82722"/>
                    <a:gd name="connsiteX7" fmla="*/ 0 w 112078"/>
                    <a:gd name="connsiteY7" fmla="*/ 6046 h 82722"/>
                    <a:gd name="connsiteX8" fmla="*/ 6046 w 112078"/>
                    <a:gd name="connsiteY8" fmla="*/ 0 h 82722"/>
                    <a:gd name="connsiteX9" fmla="*/ 6046 w 112078"/>
                    <a:gd name="connsiteY9" fmla="*/ 0 h 8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078" h="82722">
                      <a:moveTo>
                        <a:pt x="6046" y="0"/>
                      </a:moveTo>
                      <a:lnTo>
                        <a:pt x="106032" y="0"/>
                      </a:lnTo>
                      <a:cubicBezTo>
                        <a:pt x="109362" y="0"/>
                        <a:pt x="112079" y="3330"/>
                        <a:pt x="112079" y="6046"/>
                      </a:cubicBezTo>
                      <a:lnTo>
                        <a:pt x="112079" y="76676"/>
                      </a:lnTo>
                      <a:cubicBezTo>
                        <a:pt x="112079" y="80006"/>
                        <a:pt x="109362" y="82723"/>
                        <a:pt x="106032" y="82723"/>
                      </a:cubicBezTo>
                      <a:lnTo>
                        <a:pt x="6046" y="82723"/>
                      </a:lnTo>
                      <a:cubicBezTo>
                        <a:pt x="2717" y="82723"/>
                        <a:pt x="0" y="79393"/>
                        <a:pt x="0" y="76676"/>
                      </a:cubicBezTo>
                      <a:lnTo>
                        <a:pt x="0" y="6046"/>
                      </a:lnTo>
                      <a:cubicBezTo>
                        <a:pt x="0" y="2717"/>
                        <a:pt x="2717" y="0"/>
                        <a:pt x="6046" y="0"/>
                      </a:cubicBezTo>
                      <a:lnTo>
                        <a:pt x="6046" y="0"/>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 name="Freeform: Shape 216">
                  <a:extLst>
                    <a:ext uri="{FF2B5EF4-FFF2-40B4-BE49-F238E27FC236}">
                      <a16:creationId xmlns:a16="http://schemas.microsoft.com/office/drawing/2014/main" id="{CD3E7729-1E46-F372-7D1B-D60C3B3A3509}"/>
                    </a:ext>
                  </a:extLst>
                </p:cNvPr>
                <p:cNvSpPr/>
                <p:nvPr/>
              </p:nvSpPr>
              <p:spPr>
                <a:xfrm>
                  <a:off x="9715281" y="1364086"/>
                  <a:ext cx="241990" cy="82722"/>
                </a:xfrm>
                <a:custGeom>
                  <a:avLst/>
                  <a:gdLst>
                    <a:gd name="connsiteX0" fmla="*/ 6046 w 241990"/>
                    <a:gd name="connsiteY0" fmla="*/ 0 h 82722"/>
                    <a:gd name="connsiteX1" fmla="*/ 235944 w 241990"/>
                    <a:gd name="connsiteY1" fmla="*/ 0 h 82722"/>
                    <a:gd name="connsiteX2" fmla="*/ 241990 w 241990"/>
                    <a:gd name="connsiteY2" fmla="*/ 6046 h 82722"/>
                    <a:gd name="connsiteX3" fmla="*/ 241990 w 241990"/>
                    <a:gd name="connsiteY3" fmla="*/ 76676 h 82722"/>
                    <a:gd name="connsiteX4" fmla="*/ 235944 w 241990"/>
                    <a:gd name="connsiteY4" fmla="*/ 82723 h 82722"/>
                    <a:gd name="connsiteX5" fmla="*/ 6046 w 241990"/>
                    <a:gd name="connsiteY5" fmla="*/ 82723 h 82722"/>
                    <a:gd name="connsiteX6" fmla="*/ 0 w 241990"/>
                    <a:gd name="connsiteY6" fmla="*/ 76676 h 82722"/>
                    <a:gd name="connsiteX7" fmla="*/ 0 w 241990"/>
                    <a:gd name="connsiteY7" fmla="*/ 6046 h 82722"/>
                    <a:gd name="connsiteX8" fmla="*/ 6046 w 241990"/>
                    <a:gd name="connsiteY8" fmla="*/ 0 h 8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990" h="82722">
                      <a:moveTo>
                        <a:pt x="6046" y="0"/>
                      </a:moveTo>
                      <a:lnTo>
                        <a:pt x="235944" y="0"/>
                      </a:lnTo>
                      <a:cubicBezTo>
                        <a:pt x="239274" y="0"/>
                        <a:pt x="241990" y="3330"/>
                        <a:pt x="241990" y="6046"/>
                      </a:cubicBezTo>
                      <a:lnTo>
                        <a:pt x="241990" y="76676"/>
                      </a:lnTo>
                      <a:cubicBezTo>
                        <a:pt x="241990" y="80006"/>
                        <a:pt x="239274" y="82723"/>
                        <a:pt x="235944" y="82723"/>
                      </a:cubicBezTo>
                      <a:lnTo>
                        <a:pt x="6046" y="82723"/>
                      </a:lnTo>
                      <a:cubicBezTo>
                        <a:pt x="2717" y="82723"/>
                        <a:pt x="0" y="79393"/>
                        <a:pt x="0" y="76676"/>
                      </a:cubicBezTo>
                      <a:lnTo>
                        <a:pt x="0" y="6046"/>
                      </a:lnTo>
                      <a:cubicBezTo>
                        <a:pt x="0" y="2717"/>
                        <a:pt x="2717" y="0"/>
                        <a:pt x="6046" y="0"/>
                      </a:cubicBez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6" name="Freeform: Shape 217">
                  <a:extLst>
                    <a:ext uri="{FF2B5EF4-FFF2-40B4-BE49-F238E27FC236}">
                      <a16:creationId xmlns:a16="http://schemas.microsoft.com/office/drawing/2014/main" id="{F36E88BE-7532-A6BD-9765-114321DB465E}"/>
                    </a:ext>
                  </a:extLst>
                </p:cNvPr>
                <p:cNvSpPr/>
                <p:nvPr/>
              </p:nvSpPr>
              <p:spPr>
                <a:xfrm>
                  <a:off x="9370580" y="1353439"/>
                  <a:ext cx="351959" cy="398278"/>
                </a:xfrm>
                <a:custGeom>
                  <a:avLst/>
                  <a:gdLst>
                    <a:gd name="connsiteX0" fmla="*/ 351756 w 351959"/>
                    <a:gd name="connsiteY0" fmla="*/ 243086 h 398278"/>
                    <a:gd name="connsiteX1" fmla="*/ 351668 w 351959"/>
                    <a:gd name="connsiteY1" fmla="*/ 241815 h 398278"/>
                    <a:gd name="connsiteX2" fmla="*/ 277358 w 351959"/>
                    <a:gd name="connsiteY2" fmla="*/ 84344 h 398278"/>
                    <a:gd name="connsiteX3" fmla="*/ 263381 w 351959"/>
                    <a:gd name="connsiteY3" fmla="*/ 149234 h 398278"/>
                    <a:gd name="connsiteX4" fmla="*/ 258079 w 351959"/>
                    <a:gd name="connsiteY4" fmla="*/ 153834 h 398278"/>
                    <a:gd name="connsiteX5" fmla="*/ 256239 w 351959"/>
                    <a:gd name="connsiteY5" fmla="*/ 147043 h 398278"/>
                    <a:gd name="connsiteX6" fmla="*/ 187011 w 351959"/>
                    <a:gd name="connsiteY6" fmla="*/ 26377 h 398278"/>
                    <a:gd name="connsiteX7" fmla="*/ 149330 w 351959"/>
                    <a:gd name="connsiteY7" fmla="*/ 0 h 398278"/>
                    <a:gd name="connsiteX8" fmla="*/ 114410 w 351959"/>
                    <a:gd name="connsiteY8" fmla="*/ 121850 h 398278"/>
                    <a:gd name="connsiteX9" fmla="*/ 69149 w 351959"/>
                    <a:gd name="connsiteY9" fmla="*/ 186039 h 398278"/>
                    <a:gd name="connsiteX10" fmla="*/ 62577 w 351959"/>
                    <a:gd name="connsiteY10" fmla="*/ 193443 h 398278"/>
                    <a:gd name="connsiteX11" fmla="*/ 61481 w 351959"/>
                    <a:gd name="connsiteY11" fmla="*/ 183585 h 398278"/>
                    <a:gd name="connsiteX12" fmla="*/ 49169 w 351959"/>
                    <a:gd name="connsiteY12" fmla="*/ 124259 h 398278"/>
                    <a:gd name="connsiteX13" fmla="*/ 12452 w 351959"/>
                    <a:gd name="connsiteY13" fmla="*/ 221047 h 398278"/>
                    <a:gd name="connsiteX14" fmla="*/ 6888 w 351959"/>
                    <a:gd name="connsiteY14" fmla="*/ 311919 h 398278"/>
                    <a:gd name="connsiteX15" fmla="*/ 87858 w 351959"/>
                    <a:gd name="connsiteY15" fmla="*/ 397577 h 398278"/>
                    <a:gd name="connsiteX16" fmla="*/ 89786 w 351959"/>
                    <a:gd name="connsiteY16" fmla="*/ 303331 h 398278"/>
                    <a:gd name="connsiteX17" fmla="*/ 109415 w 351959"/>
                    <a:gd name="connsiteY17" fmla="*/ 271303 h 398278"/>
                    <a:gd name="connsiteX18" fmla="*/ 130402 w 351959"/>
                    <a:gd name="connsiteY18" fmla="*/ 218111 h 398278"/>
                    <a:gd name="connsiteX19" fmla="*/ 132155 w 351959"/>
                    <a:gd name="connsiteY19" fmla="*/ 212240 h 398278"/>
                    <a:gd name="connsiteX20" fmla="*/ 137150 w 351959"/>
                    <a:gd name="connsiteY20" fmla="*/ 215833 h 398278"/>
                    <a:gd name="connsiteX21" fmla="*/ 150995 w 351959"/>
                    <a:gd name="connsiteY21" fmla="*/ 266220 h 398278"/>
                    <a:gd name="connsiteX22" fmla="*/ 175313 w 351959"/>
                    <a:gd name="connsiteY22" fmla="*/ 165402 h 398278"/>
                    <a:gd name="connsiteX23" fmla="*/ 174568 w 351959"/>
                    <a:gd name="connsiteY23" fmla="*/ 156288 h 398278"/>
                    <a:gd name="connsiteX24" fmla="*/ 182148 w 351959"/>
                    <a:gd name="connsiteY24" fmla="*/ 161414 h 398278"/>
                    <a:gd name="connsiteX25" fmla="*/ 247257 w 351959"/>
                    <a:gd name="connsiteY25" fmla="*/ 242647 h 398278"/>
                    <a:gd name="connsiteX26" fmla="*/ 250193 w 351959"/>
                    <a:gd name="connsiteY26" fmla="*/ 398278 h 398278"/>
                    <a:gd name="connsiteX27" fmla="*/ 351668 w 351959"/>
                    <a:gd name="connsiteY27" fmla="*/ 243173 h 398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51959" h="398278">
                      <a:moveTo>
                        <a:pt x="351756" y="243086"/>
                      </a:moveTo>
                      <a:lnTo>
                        <a:pt x="351668" y="241815"/>
                      </a:lnTo>
                      <a:cubicBezTo>
                        <a:pt x="345972" y="162291"/>
                        <a:pt x="299397" y="106514"/>
                        <a:pt x="277358" y="84344"/>
                      </a:cubicBezTo>
                      <a:cubicBezTo>
                        <a:pt x="287085" y="127852"/>
                        <a:pt x="264476" y="148270"/>
                        <a:pt x="263381" y="149234"/>
                      </a:cubicBezTo>
                      <a:lnTo>
                        <a:pt x="258079" y="153834"/>
                      </a:lnTo>
                      <a:lnTo>
                        <a:pt x="256239" y="147043"/>
                      </a:lnTo>
                      <a:cubicBezTo>
                        <a:pt x="239239" y="84212"/>
                        <a:pt x="209226" y="46751"/>
                        <a:pt x="187011" y="26377"/>
                      </a:cubicBezTo>
                      <a:cubicBezTo>
                        <a:pt x="171369" y="12049"/>
                        <a:pt x="157305" y="3943"/>
                        <a:pt x="149330" y="0"/>
                      </a:cubicBezTo>
                      <a:cubicBezTo>
                        <a:pt x="153011" y="34482"/>
                        <a:pt x="141268" y="75449"/>
                        <a:pt x="114410" y="121850"/>
                      </a:cubicBezTo>
                      <a:cubicBezTo>
                        <a:pt x="93028" y="158829"/>
                        <a:pt x="69368" y="185732"/>
                        <a:pt x="69149" y="186039"/>
                      </a:cubicBezTo>
                      <a:lnTo>
                        <a:pt x="62577" y="193443"/>
                      </a:lnTo>
                      <a:lnTo>
                        <a:pt x="61481" y="183585"/>
                      </a:lnTo>
                      <a:cubicBezTo>
                        <a:pt x="57450" y="146912"/>
                        <a:pt x="52455" y="131051"/>
                        <a:pt x="49169" y="124259"/>
                      </a:cubicBezTo>
                      <a:cubicBezTo>
                        <a:pt x="39661" y="163430"/>
                        <a:pt x="13635" y="218549"/>
                        <a:pt x="12452" y="221047"/>
                      </a:cubicBezTo>
                      <a:cubicBezTo>
                        <a:pt x="-2007" y="252681"/>
                        <a:pt x="-3891" y="283264"/>
                        <a:pt x="6888" y="311919"/>
                      </a:cubicBezTo>
                      <a:cubicBezTo>
                        <a:pt x="23625" y="356479"/>
                        <a:pt x="66914" y="385616"/>
                        <a:pt x="87858" y="397577"/>
                      </a:cubicBezTo>
                      <a:cubicBezTo>
                        <a:pt x="79840" y="378649"/>
                        <a:pt x="69237" y="340881"/>
                        <a:pt x="89786" y="303331"/>
                      </a:cubicBezTo>
                      <a:cubicBezTo>
                        <a:pt x="99644" y="285323"/>
                        <a:pt x="105296" y="277218"/>
                        <a:pt x="109415" y="271303"/>
                      </a:cubicBezTo>
                      <a:cubicBezTo>
                        <a:pt x="116469" y="261181"/>
                        <a:pt x="118397" y="258421"/>
                        <a:pt x="130402" y="218111"/>
                      </a:cubicBezTo>
                      <a:lnTo>
                        <a:pt x="132155" y="212240"/>
                      </a:lnTo>
                      <a:lnTo>
                        <a:pt x="137150" y="215833"/>
                      </a:lnTo>
                      <a:cubicBezTo>
                        <a:pt x="138683" y="216928"/>
                        <a:pt x="151039" y="227006"/>
                        <a:pt x="150995" y="266220"/>
                      </a:cubicBezTo>
                      <a:cubicBezTo>
                        <a:pt x="161818" y="251235"/>
                        <a:pt x="179650" y="217936"/>
                        <a:pt x="175313" y="165402"/>
                      </a:cubicBezTo>
                      <a:lnTo>
                        <a:pt x="174568" y="156288"/>
                      </a:lnTo>
                      <a:lnTo>
                        <a:pt x="182148" y="161414"/>
                      </a:lnTo>
                      <a:cubicBezTo>
                        <a:pt x="211679" y="181350"/>
                        <a:pt x="234200" y="209436"/>
                        <a:pt x="247257" y="242647"/>
                      </a:cubicBezTo>
                      <a:cubicBezTo>
                        <a:pt x="266404" y="292903"/>
                        <a:pt x="273502" y="337156"/>
                        <a:pt x="250193" y="398278"/>
                      </a:cubicBezTo>
                      <a:cubicBezTo>
                        <a:pt x="279198" y="381716"/>
                        <a:pt x="357320" y="328919"/>
                        <a:pt x="351668" y="243173"/>
                      </a:cubicBez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7" name="Freeform: Shape 219">
                  <a:extLst>
                    <a:ext uri="{FF2B5EF4-FFF2-40B4-BE49-F238E27FC236}">
                      <a16:creationId xmlns:a16="http://schemas.microsoft.com/office/drawing/2014/main" id="{DF3794E3-204E-708A-4F83-3E507935BD95}"/>
                    </a:ext>
                  </a:extLst>
                </p:cNvPr>
                <p:cNvSpPr/>
                <p:nvPr/>
              </p:nvSpPr>
              <p:spPr>
                <a:xfrm>
                  <a:off x="9573627" y="1364174"/>
                  <a:ext cx="123733" cy="82722"/>
                </a:xfrm>
                <a:custGeom>
                  <a:avLst/>
                  <a:gdLst>
                    <a:gd name="connsiteX0" fmla="*/ 55996 w 123733"/>
                    <a:gd name="connsiteY0" fmla="*/ 82679 h 82722"/>
                    <a:gd name="connsiteX1" fmla="*/ 57792 w 123733"/>
                    <a:gd name="connsiteY1" fmla="*/ 82679 h 82722"/>
                    <a:gd name="connsiteX2" fmla="*/ 52271 w 123733"/>
                    <a:gd name="connsiteY2" fmla="*/ 59150 h 82722"/>
                    <a:gd name="connsiteX3" fmla="*/ 34964 w 123733"/>
                    <a:gd name="connsiteY3" fmla="*/ 11567 h 82722"/>
                    <a:gd name="connsiteX4" fmla="*/ 74485 w 123733"/>
                    <a:gd name="connsiteY4" fmla="*/ 43245 h 82722"/>
                    <a:gd name="connsiteX5" fmla="*/ 111641 w 123733"/>
                    <a:gd name="connsiteY5" fmla="*/ 82723 h 82722"/>
                    <a:gd name="connsiteX6" fmla="*/ 115014 w 123733"/>
                    <a:gd name="connsiteY6" fmla="*/ 82723 h 82722"/>
                    <a:gd name="connsiteX7" fmla="*/ 121192 w 123733"/>
                    <a:gd name="connsiteY7" fmla="*/ 80181 h 82722"/>
                    <a:gd name="connsiteX8" fmla="*/ 123734 w 123733"/>
                    <a:gd name="connsiteY8" fmla="*/ 74004 h 82722"/>
                    <a:gd name="connsiteX9" fmla="*/ 123734 w 123733"/>
                    <a:gd name="connsiteY9" fmla="*/ 8719 h 82722"/>
                    <a:gd name="connsiteX10" fmla="*/ 121192 w 123733"/>
                    <a:gd name="connsiteY10" fmla="*/ 2541 h 82722"/>
                    <a:gd name="connsiteX11" fmla="*/ 115014 w 123733"/>
                    <a:gd name="connsiteY11" fmla="*/ 0 h 82722"/>
                    <a:gd name="connsiteX12" fmla="*/ 0 w 123733"/>
                    <a:gd name="connsiteY12" fmla="*/ 0 h 82722"/>
                    <a:gd name="connsiteX13" fmla="*/ 55996 w 123733"/>
                    <a:gd name="connsiteY13" fmla="*/ 82723 h 82722"/>
                    <a:gd name="connsiteX14" fmla="*/ 55996 w 123733"/>
                    <a:gd name="connsiteY14" fmla="*/ 82723 h 8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3733" h="82722">
                      <a:moveTo>
                        <a:pt x="55996" y="82679"/>
                      </a:moveTo>
                      <a:lnTo>
                        <a:pt x="57792" y="82679"/>
                      </a:lnTo>
                      <a:cubicBezTo>
                        <a:pt x="56959" y="74617"/>
                        <a:pt x="55119" y="66730"/>
                        <a:pt x="52271" y="59150"/>
                      </a:cubicBezTo>
                      <a:lnTo>
                        <a:pt x="34964" y="11567"/>
                      </a:lnTo>
                      <a:lnTo>
                        <a:pt x="74485" y="43245"/>
                      </a:lnTo>
                      <a:cubicBezTo>
                        <a:pt x="88287" y="54988"/>
                        <a:pt x="100731" y="68220"/>
                        <a:pt x="111641" y="82723"/>
                      </a:cubicBezTo>
                      <a:lnTo>
                        <a:pt x="115014" y="82723"/>
                      </a:lnTo>
                      <a:cubicBezTo>
                        <a:pt x="117337" y="82723"/>
                        <a:pt x="119527" y="81803"/>
                        <a:pt x="121192" y="80181"/>
                      </a:cubicBezTo>
                      <a:cubicBezTo>
                        <a:pt x="122813" y="78560"/>
                        <a:pt x="123734" y="76326"/>
                        <a:pt x="123734" y="74004"/>
                      </a:cubicBezTo>
                      <a:lnTo>
                        <a:pt x="123734" y="8719"/>
                      </a:lnTo>
                      <a:cubicBezTo>
                        <a:pt x="123734" y="6397"/>
                        <a:pt x="122813" y="4206"/>
                        <a:pt x="121192" y="2541"/>
                      </a:cubicBezTo>
                      <a:cubicBezTo>
                        <a:pt x="119571" y="920"/>
                        <a:pt x="117337" y="0"/>
                        <a:pt x="115014" y="0"/>
                      </a:cubicBezTo>
                      <a:lnTo>
                        <a:pt x="0" y="0"/>
                      </a:lnTo>
                      <a:cubicBezTo>
                        <a:pt x="24054" y="23529"/>
                        <a:pt x="43114" y="51658"/>
                        <a:pt x="55996" y="82723"/>
                      </a:cubicBezTo>
                      <a:lnTo>
                        <a:pt x="55996" y="82723"/>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8" name="Freeform: Shape 220">
                  <a:extLst>
                    <a:ext uri="{FF2B5EF4-FFF2-40B4-BE49-F238E27FC236}">
                      <a16:creationId xmlns:a16="http://schemas.microsoft.com/office/drawing/2014/main" id="{D5AED07B-057A-2233-C08D-9CA14C2199F9}"/>
                    </a:ext>
                  </a:extLst>
                </p:cNvPr>
                <p:cNvSpPr/>
                <p:nvPr/>
              </p:nvSpPr>
              <p:spPr>
                <a:xfrm>
                  <a:off x="9698588" y="1465737"/>
                  <a:ext cx="129122" cy="82722"/>
                </a:xfrm>
                <a:custGeom>
                  <a:avLst/>
                  <a:gdLst>
                    <a:gd name="connsiteX0" fmla="*/ 120404 w 129122"/>
                    <a:gd name="connsiteY0" fmla="*/ 0 h 82722"/>
                    <a:gd name="connsiteX1" fmla="*/ 0 w 129122"/>
                    <a:gd name="connsiteY1" fmla="*/ 0 h 82722"/>
                    <a:gd name="connsiteX2" fmla="*/ 35972 w 129122"/>
                    <a:gd name="connsiteY2" fmla="*/ 82723 h 82722"/>
                    <a:gd name="connsiteX3" fmla="*/ 120404 w 129122"/>
                    <a:gd name="connsiteY3" fmla="*/ 82723 h 82722"/>
                    <a:gd name="connsiteX4" fmla="*/ 126582 w 129122"/>
                    <a:gd name="connsiteY4" fmla="*/ 80181 h 82722"/>
                    <a:gd name="connsiteX5" fmla="*/ 129123 w 129122"/>
                    <a:gd name="connsiteY5" fmla="*/ 74004 h 82722"/>
                    <a:gd name="connsiteX6" fmla="*/ 129123 w 129122"/>
                    <a:gd name="connsiteY6" fmla="*/ 8719 h 82722"/>
                    <a:gd name="connsiteX7" fmla="*/ 126582 w 129122"/>
                    <a:gd name="connsiteY7" fmla="*/ 2541 h 82722"/>
                    <a:gd name="connsiteX8" fmla="*/ 120404 w 129122"/>
                    <a:gd name="connsiteY8" fmla="*/ 0 h 82722"/>
                    <a:gd name="connsiteX9" fmla="*/ 120404 w 129122"/>
                    <a:gd name="connsiteY9" fmla="*/ 0 h 8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9122" h="82722">
                      <a:moveTo>
                        <a:pt x="120404" y="0"/>
                      </a:moveTo>
                      <a:lnTo>
                        <a:pt x="0" y="0"/>
                      </a:lnTo>
                      <a:cubicBezTo>
                        <a:pt x="16606" y="25325"/>
                        <a:pt x="28786" y="53323"/>
                        <a:pt x="35972" y="82723"/>
                      </a:cubicBezTo>
                      <a:lnTo>
                        <a:pt x="120404" y="82723"/>
                      </a:lnTo>
                      <a:cubicBezTo>
                        <a:pt x="122726" y="82723"/>
                        <a:pt x="124917" y="81803"/>
                        <a:pt x="126582" y="80181"/>
                      </a:cubicBezTo>
                      <a:cubicBezTo>
                        <a:pt x="128203" y="78560"/>
                        <a:pt x="129123" y="76326"/>
                        <a:pt x="129123" y="74004"/>
                      </a:cubicBezTo>
                      <a:lnTo>
                        <a:pt x="129123" y="8719"/>
                      </a:lnTo>
                      <a:cubicBezTo>
                        <a:pt x="129123" y="6397"/>
                        <a:pt x="128203" y="4162"/>
                        <a:pt x="126582" y="2541"/>
                      </a:cubicBezTo>
                      <a:cubicBezTo>
                        <a:pt x="124960" y="920"/>
                        <a:pt x="122726" y="0"/>
                        <a:pt x="120404" y="0"/>
                      </a:cubicBezTo>
                      <a:lnTo>
                        <a:pt x="120404" y="0"/>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9" name="Freeform: Shape 221">
                  <a:extLst>
                    <a:ext uri="{FF2B5EF4-FFF2-40B4-BE49-F238E27FC236}">
                      <a16:creationId xmlns:a16="http://schemas.microsoft.com/office/drawing/2014/main" id="{173C6A61-E426-3407-3A1C-735675CCFE76}"/>
                    </a:ext>
                  </a:extLst>
                </p:cNvPr>
                <p:cNvSpPr/>
                <p:nvPr/>
              </p:nvSpPr>
              <p:spPr>
                <a:xfrm>
                  <a:off x="9732676" y="1567432"/>
                  <a:ext cx="224595" cy="82766"/>
                </a:xfrm>
                <a:custGeom>
                  <a:avLst/>
                  <a:gdLst>
                    <a:gd name="connsiteX0" fmla="*/ 215920 w 224595"/>
                    <a:gd name="connsiteY0" fmla="*/ 0 h 82766"/>
                    <a:gd name="connsiteX1" fmla="*/ 5608 w 224595"/>
                    <a:gd name="connsiteY1" fmla="*/ 0 h 82766"/>
                    <a:gd name="connsiteX2" fmla="*/ 8237 w 224595"/>
                    <a:gd name="connsiteY2" fmla="*/ 22696 h 82766"/>
                    <a:gd name="connsiteX3" fmla="*/ 8237 w 224595"/>
                    <a:gd name="connsiteY3" fmla="*/ 22696 h 82766"/>
                    <a:gd name="connsiteX4" fmla="*/ 0 w 224595"/>
                    <a:gd name="connsiteY4" fmla="*/ 82767 h 82766"/>
                    <a:gd name="connsiteX5" fmla="*/ 215920 w 224595"/>
                    <a:gd name="connsiteY5" fmla="*/ 82767 h 82766"/>
                    <a:gd name="connsiteX6" fmla="*/ 222054 w 224595"/>
                    <a:gd name="connsiteY6" fmla="*/ 80225 h 82766"/>
                    <a:gd name="connsiteX7" fmla="*/ 224596 w 224595"/>
                    <a:gd name="connsiteY7" fmla="*/ 74091 h 82766"/>
                    <a:gd name="connsiteX8" fmla="*/ 224596 w 224595"/>
                    <a:gd name="connsiteY8" fmla="*/ 8763 h 82766"/>
                    <a:gd name="connsiteX9" fmla="*/ 222054 w 224595"/>
                    <a:gd name="connsiteY9" fmla="*/ 2585 h 82766"/>
                    <a:gd name="connsiteX10" fmla="*/ 215876 w 224595"/>
                    <a:gd name="connsiteY10" fmla="*/ 44 h 82766"/>
                    <a:gd name="connsiteX11" fmla="*/ 215876 w 224595"/>
                    <a:gd name="connsiteY11" fmla="*/ 44 h 8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4595" h="82766">
                      <a:moveTo>
                        <a:pt x="215920" y="0"/>
                      </a:moveTo>
                      <a:lnTo>
                        <a:pt x="5608" y="0"/>
                      </a:lnTo>
                      <a:cubicBezTo>
                        <a:pt x="6791" y="7361"/>
                        <a:pt x="7711" y="14897"/>
                        <a:pt x="8237" y="22696"/>
                      </a:cubicBezTo>
                      <a:lnTo>
                        <a:pt x="8237" y="22696"/>
                      </a:lnTo>
                      <a:cubicBezTo>
                        <a:pt x="9639" y="43070"/>
                        <a:pt x="6835" y="63488"/>
                        <a:pt x="0" y="82767"/>
                      </a:cubicBezTo>
                      <a:lnTo>
                        <a:pt x="215920" y="82767"/>
                      </a:lnTo>
                      <a:cubicBezTo>
                        <a:pt x="218243" y="82767"/>
                        <a:pt x="220433" y="81846"/>
                        <a:pt x="222054" y="80225"/>
                      </a:cubicBezTo>
                      <a:cubicBezTo>
                        <a:pt x="223676" y="78604"/>
                        <a:pt x="224596" y="76370"/>
                        <a:pt x="224596" y="74091"/>
                      </a:cubicBezTo>
                      <a:lnTo>
                        <a:pt x="224596" y="8763"/>
                      </a:lnTo>
                      <a:cubicBezTo>
                        <a:pt x="224596" y="6441"/>
                        <a:pt x="223676" y="4250"/>
                        <a:pt x="222054" y="2585"/>
                      </a:cubicBezTo>
                      <a:cubicBezTo>
                        <a:pt x="220433" y="964"/>
                        <a:pt x="218199" y="44"/>
                        <a:pt x="215876" y="44"/>
                      </a:cubicBezTo>
                      <a:lnTo>
                        <a:pt x="215876" y="44"/>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0" name="Freeform: Shape 222">
                  <a:extLst>
                    <a:ext uri="{FF2B5EF4-FFF2-40B4-BE49-F238E27FC236}">
                      <a16:creationId xmlns:a16="http://schemas.microsoft.com/office/drawing/2014/main" id="{9F7771A2-B9A7-E197-7D2B-4386F40974E3}"/>
                    </a:ext>
                  </a:extLst>
                </p:cNvPr>
                <p:cNvSpPr/>
                <p:nvPr/>
              </p:nvSpPr>
              <p:spPr>
                <a:xfrm>
                  <a:off x="9647499" y="1669082"/>
                  <a:ext cx="179816" cy="82722"/>
                </a:xfrm>
                <a:custGeom>
                  <a:avLst/>
                  <a:gdLst>
                    <a:gd name="connsiteX0" fmla="*/ 171141 w 179816"/>
                    <a:gd name="connsiteY0" fmla="*/ 0 h 82722"/>
                    <a:gd name="connsiteX1" fmla="*/ 77027 w 179816"/>
                    <a:gd name="connsiteY1" fmla="*/ 0 h 82722"/>
                    <a:gd name="connsiteX2" fmla="*/ 0 w 179816"/>
                    <a:gd name="connsiteY2" fmla="*/ 82723 h 82722"/>
                    <a:gd name="connsiteX3" fmla="*/ 171098 w 179816"/>
                    <a:gd name="connsiteY3" fmla="*/ 82723 h 82722"/>
                    <a:gd name="connsiteX4" fmla="*/ 177275 w 179816"/>
                    <a:gd name="connsiteY4" fmla="*/ 80181 h 82722"/>
                    <a:gd name="connsiteX5" fmla="*/ 179817 w 179816"/>
                    <a:gd name="connsiteY5" fmla="*/ 74004 h 82722"/>
                    <a:gd name="connsiteX6" fmla="*/ 179817 w 179816"/>
                    <a:gd name="connsiteY6" fmla="*/ 8719 h 82722"/>
                    <a:gd name="connsiteX7" fmla="*/ 177275 w 179816"/>
                    <a:gd name="connsiteY7" fmla="*/ 2541 h 82722"/>
                    <a:gd name="connsiteX8" fmla="*/ 171098 w 179816"/>
                    <a:gd name="connsiteY8" fmla="*/ 0 h 82722"/>
                    <a:gd name="connsiteX9" fmla="*/ 171098 w 179816"/>
                    <a:gd name="connsiteY9" fmla="*/ 0 h 8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9816" h="82722">
                      <a:moveTo>
                        <a:pt x="171141" y="0"/>
                      </a:moveTo>
                      <a:lnTo>
                        <a:pt x="77027" y="0"/>
                      </a:lnTo>
                      <a:cubicBezTo>
                        <a:pt x="57310" y="38995"/>
                        <a:pt x="24098" y="66599"/>
                        <a:pt x="0" y="82723"/>
                      </a:cubicBezTo>
                      <a:lnTo>
                        <a:pt x="171098" y="82723"/>
                      </a:lnTo>
                      <a:cubicBezTo>
                        <a:pt x="173420" y="82723"/>
                        <a:pt x="175611" y="81803"/>
                        <a:pt x="177275" y="80181"/>
                      </a:cubicBezTo>
                      <a:cubicBezTo>
                        <a:pt x="178897" y="78560"/>
                        <a:pt x="179817" y="76326"/>
                        <a:pt x="179817" y="74004"/>
                      </a:cubicBezTo>
                      <a:lnTo>
                        <a:pt x="179817" y="8719"/>
                      </a:lnTo>
                      <a:cubicBezTo>
                        <a:pt x="179817" y="6397"/>
                        <a:pt x="178897" y="4206"/>
                        <a:pt x="177275" y="2541"/>
                      </a:cubicBezTo>
                      <a:cubicBezTo>
                        <a:pt x="175654" y="920"/>
                        <a:pt x="173420" y="0"/>
                        <a:pt x="171098" y="0"/>
                      </a:cubicBezTo>
                      <a:lnTo>
                        <a:pt x="171098" y="0"/>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grpSp>
      <p:grpSp>
        <p:nvGrpSpPr>
          <p:cNvPr id="83" name="Group 82">
            <a:extLst>
              <a:ext uri="{FF2B5EF4-FFF2-40B4-BE49-F238E27FC236}">
                <a16:creationId xmlns:a16="http://schemas.microsoft.com/office/drawing/2014/main" id="{A3C673BC-2ABE-F315-2075-EB6075B2CD7D}"/>
              </a:ext>
            </a:extLst>
          </p:cNvPr>
          <p:cNvGrpSpPr/>
          <p:nvPr/>
        </p:nvGrpSpPr>
        <p:grpSpPr>
          <a:xfrm>
            <a:off x="9294813" y="2771361"/>
            <a:ext cx="2314149" cy="575945"/>
            <a:chOff x="9294813" y="4025259"/>
            <a:chExt cx="2314149" cy="575945"/>
          </a:xfrm>
        </p:grpSpPr>
        <p:sp>
          <p:nvSpPr>
            <p:cNvPr id="71" name="Rectangle: Rounded Corners 634">
              <a:extLst>
                <a:ext uri="{FF2B5EF4-FFF2-40B4-BE49-F238E27FC236}">
                  <a16:creationId xmlns:a16="http://schemas.microsoft.com/office/drawing/2014/main" id="{2C4C75C5-EB4F-3533-5439-C9C15BF0991D}"/>
                </a:ext>
              </a:extLst>
            </p:cNvPr>
            <p:cNvSpPr/>
            <p:nvPr/>
          </p:nvSpPr>
          <p:spPr>
            <a:xfrm>
              <a:off x="9294813" y="4025259"/>
              <a:ext cx="2286000" cy="575945"/>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2" name="Content Placeholder 9">
              <a:extLst>
                <a:ext uri="{FF2B5EF4-FFF2-40B4-BE49-F238E27FC236}">
                  <a16:creationId xmlns:a16="http://schemas.microsoft.com/office/drawing/2014/main" id="{B160D0C2-4FD2-DBFC-2FAF-5A986BDF91A0}"/>
                </a:ext>
              </a:extLst>
            </p:cNvPr>
            <p:cNvSpPr txBox="1">
              <a:spLocks/>
            </p:cNvSpPr>
            <p:nvPr/>
          </p:nvSpPr>
          <p:spPr>
            <a:xfrm>
              <a:off x="9855505" y="4212110"/>
              <a:ext cx="1753457" cy="202243"/>
            </a:xfrm>
            <a:prstGeom prst="rect">
              <a:avLst/>
            </a:prstGeom>
          </p:spPr>
          <p:txBody>
            <a:bodyPr vert="horz" lIns="0" tIns="0" rIns="0" bIns="0" rtlCol="0" anchor="ctr">
              <a:noAutofit/>
            </a:bodyPr>
            <a:lstStyle>
              <a:lvl1pPr marL="0" indent="0" algn="ctr" defTabSz="914400" rtl="0" eaLnBrk="1" latinLnBrk="0" hangingPunct="1">
                <a:lnSpc>
                  <a:spcPct val="100000"/>
                </a:lnSpc>
                <a:spcBef>
                  <a:spcPts val="600"/>
                </a:spcBef>
                <a:buClr>
                  <a:schemeClr val="tx1">
                    <a:lumMod val="60000"/>
                    <a:lumOff val="40000"/>
                  </a:schemeClr>
                </a:buClr>
                <a:buSzPct val="90000"/>
                <a:buFont typeface="Arial" panose="020B0604020202020204" pitchFamily="34" charset="0"/>
                <a:buChar char="​"/>
                <a:defRPr sz="2400" kern="1200">
                  <a:solidFill>
                    <a:schemeClr val="accent5"/>
                  </a:solidFill>
                  <a:latin typeface="+mn-lt"/>
                  <a:ea typeface="+mn-ea"/>
                  <a:cs typeface="+mn-cs"/>
                </a:defRPr>
              </a:lvl1pPr>
              <a:lvl2pPr marL="0" indent="0" algn="ctr" defTabSz="914400" rtl="0" eaLnBrk="1" latinLnBrk="0" hangingPunct="1">
                <a:lnSpc>
                  <a:spcPct val="100000"/>
                </a:lnSpc>
                <a:spcBef>
                  <a:spcPts val="600"/>
                </a:spcBef>
                <a:buClr>
                  <a:schemeClr val="tx2"/>
                </a:buClr>
                <a:buSzPct val="90000"/>
                <a:buFont typeface="Open Sans" panose="020B0606030504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6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6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6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0000">
                    <a:lumMod val="60000"/>
                    <a:lumOff val="40000"/>
                  </a:srgbClr>
                </a:buClr>
                <a:buSzPct val="90000"/>
                <a:buFont typeface="Arial" panose="020B0604020202020204" pitchFamily="34" charset="0"/>
                <a:buChar char="​"/>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Routing/NAT</a:t>
              </a:r>
            </a:p>
          </p:txBody>
        </p:sp>
        <p:grpSp>
          <p:nvGrpSpPr>
            <p:cNvPr id="73" name="Group 72">
              <a:extLst>
                <a:ext uri="{FF2B5EF4-FFF2-40B4-BE49-F238E27FC236}">
                  <a16:creationId xmlns:a16="http://schemas.microsoft.com/office/drawing/2014/main" id="{B6D569F6-8102-0C18-F1A4-A69ACA4445F7}"/>
                </a:ext>
              </a:extLst>
            </p:cNvPr>
            <p:cNvGrpSpPr>
              <a:grpSpLocks noChangeAspect="1"/>
            </p:cNvGrpSpPr>
            <p:nvPr/>
          </p:nvGrpSpPr>
          <p:grpSpPr>
            <a:xfrm>
              <a:off x="9344980" y="4084632"/>
              <a:ext cx="457200" cy="457200"/>
              <a:chOff x="4856731" y="3857189"/>
              <a:chExt cx="902850" cy="902850"/>
            </a:xfrm>
          </p:grpSpPr>
          <p:sp>
            <p:nvSpPr>
              <p:cNvPr id="74" name="Oval 34">
                <a:extLst>
                  <a:ext uri="{FF2B5EF4-FFF2-40B4-BE49-F238E27FC236}">
                    <a16:creationId xmlns:a16="http://schemas.microsoft.com/office/drawing/2014/main" id="{DC7C42B3-FD0E-FD1D-0A54-743A5381666C}"/>
                  </a:ext>
                </a:extLst>
              </p:cNvPr>
              <p:cNvSpPr>
                <a:spLocks noChangeAspect="1"/>
              </p:cNvSpPr>
              <p:nvPr/>
            </p:nvSpPr>
            <p:spPr bwMode="gray">
              <a:xfrm>
                <a:off x="4856731" y="3857189"/>
                <a:ext cx="902850" cy="902850"/>
              </a:xfrm>
              <a:prstGeom prst="ellipse">
                <a:avLst/>
              </a:prstGeom>
              <a:solidFill>
                <a:schemeClr val="tx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5" name="Graphic 579">
                <a:extLst>
                  <a:ext uri="{FF2B5EF4-FFF2-40B4-BE49-F238E27FC236}">
                    <a16:creationId xmlns:a16="http://schemas.microsoft.com/office/drawing/2014/main" id="{D87E8951-504F-FF5F-F337-689E383F0C69}"/>
                  </a:ext>
                </a:extLst>
              </p:cNvPr>
              <p:cNvSpPr/>
              <p:nvPr/>
            </p:nvSpPr>
            <p:spPr>
              <a:xfrm>
                <a:off x="5015911" y="4016368"/>
                <a:ext cx="584492" cy="584492"/>
              </a:xfrm>
              <a:custGeom>
                <a:avLst/>
                <a:gdLst>
                  <a:gd name="connsiteX0" fmla="*/ 292246 w 584492"/>
                  <a:gd name="connsiteY0" fmla="*/ 0 h 584492"/>
                  <a:gd name="connsiteX1" fmla="*/ 0 w 584492"/>
                  <a:gd name="connsiteY1" fmla="*/ 292246 h 584492"/>
                  <a:gd name="connsiteX2" fmla="*/ 292246 w 584492"/>
                  <a:gd name="connsiteY2" fmla="*/ 584492 h 584492"/>
                  <a:gd name="connsiteX3" fmla="*/ 584492 w 584492"/>
                  <a:gd name="connsiteY3" fmla="*/ 292246 h 584492"/>
                  <a:gd name="connsiteX4" fmla="*/ 292246 w 584492"/>
                  <a:gd name="connsiteY4" fmla="*/ 0 h 584492"/>
                  <a:gd name="connsiteX5" fmla="*/ 172982 w 584492"/>
                  <a:gd name="connsiteY5" fmla="*/ 333520 h 584492"/>
                  <a:gd name="connsiteX6" fmla="*/ 172982 w 584492"/>
                  <a:gd name="connsiteY6" fmla="*/ 307581 h 584492"/>
                  <a:gd name="connsiteX7" fmla="*/ 59895 w 584492"/>
                  <a:gd name="connsiteY7" fmla="*/ 307581 h 584492"/>
                  <a:gd name="connsiteX8" fmla="*/ 59895 w 584492"/>
                  <a:gd name="connsiteY8" fmla="*/ 276911 h 584492"/>
                  <a:gd name="connsiteX9" fmla="*/ 172982 w 584492"/>
                  <a:gd name="connsiteY9" fmla="*/ 276911 h 584492"/>
                  <a:gd name="connsiteX10" fmla="*/ 172982 w 584492"/>
                  <a:gd name="connsiteY10" fmla="*/ 250972 h 584492"/>
                  <a:gd name="connsiteX11" fmla="*/ 244488 w 584492"/>
                  <a:gd name="connsiteY11" fmla="*/ 292246 h 584492"/>
                  <a:gd name="connsiteX12" fmla="*/ 172982 w 584492"/>
                  <a:gd name="connsiteY12" fmla="*/ 333520 h 584492"/>
                  <a:gd name="connsiteX13" fmla="*/ 292246 w 584492"/>
                  <a:gd name="connsiteY13" fmla="*/ 519646 h 584492"/>
                  <a:gd name="connsiteX14" fmla="*/ 250972 w 584492"/>
                  <a:gd name="connsiteY14" fmla="*/ 448140 h 584492"/>
                  <a:gd name="connsiteX15" fmla="*/ 276911 w 584492"/>
                  <a:gd name="connsiteY15" fmla="*/ 448140 h 584492"/>
                  <a:gd name="connsiteX16" fmla="*/ 276911 w 584492"/>
                  <a:gd name="connsiteY16" fmla="*/ 335053 h 584492"/>
                  <a:gd name="connsiteX17" fmla="*/ 307581 w 584492"/>
                  <a:gd name="connsiteY17" fmla="*/ 335053 h 584492"/>
                  <a:gd name="connsiteX18" fmla="*/ 307581 w 584492"/>
                  <a:gd name="connsiteY18" fmla="*/ 448140 h 584492"/>
                  <a:gd name="connsiteX19" fmla="*/ 333520 w 584492"/>
                  <a:gd name="connsiteY19" fmla="*/ 448140 h 584492"/>
                  <a:gd name="connsiteX20" fmla="*/ 292246 w 584492"/>
                  <a:gd name="connsiteY20" fmla="*/ 519646 h 584492"/>
                  <a:gd name="connsiteX21" fmla="*/ 307581 w 584492"/>
                  <a:gd name="connsiteY21" fmla="*/ 136352 h 584492"/>
                  <a:gd name="connsiteX22" fmla="*/ 307581 w 584492"/>
                  <a:gd name="connsiteY22" fmla="*/ 249439 h 584492"/>
                  <a:gd name="connsiteX23" fmla="*/ 276911 w 584492"/>
                  <a:gd name="connsiteY23" fmla="*/ 249439 h 584492"/>
                  <a:gd name="connsiteX24" fmla="*/ 276911 w 584492"/>
                  <a:gd name="connsiteY24" fmla="*/ 136352 h 584492"/>
                  <a:gd name="connsiteX25" fmla="*/ 250972 w 584492"/>
                  <a:gd name="connsiteY25" fmla="*/ 136352 h 584492"/>
                  <a:gd name="connsiteX26" fmla="*/ 292246 w 584492"/>
                  <a:gd name="connsiteY26" fmla="*/ 64846 h 584492"/>
                  <a:gd name="connsiteX27" fmla="*/ 333520 w 584492"/>
                  <a:gd name="connsiteY27" fmla="*/ 136352 h 584492"/>
                  <a:gd name="connsiteX28" fmla="*/ 307581 w 584492"/>
                  <a:gd name="connsiteY28" fmla="*/ 136352 h 584492"/>
                  <a:gd name="connsiteX29" fmla="*/ 411511 w 584492"/>
                  <a:gd name="connsiteY29" fmla="*/ 307581 h 584492"/>
                  <a:gd name="connsiteX30" fmla="*/ 411511 w 584492"/>
                  <a:gd name="connsiteY30" fmla="*/ 333520 h 584492"/>
                  <a:gd name="connsiteX31" fmla="*/ 340004 w 584492"/>
                  <a:gd name="connsiteY31" fmla="*/ 292246 h 584492"/>
                  <a:gd name="connsiteX32" fmla="*/ 411511 w 584492"/>
                  <a:gd name="connsiteY32" fmla="*/ 250972 h 584492"/>
                  <a:gd name="connsiteX33" fmla="*/ 411511 w 584492"/>
                  <a:gd name="connsiteY33" fmla="*/ 276911 h 584492"/>
                  <a:gd name="connsiteX34" fmla="*/ 524597 w 584492"/>
                  <a:gd name="connsiteY34" fmla="*/ 276911 h 584492"/>
                  <a:gd name="connsiteX35" fmla="*/ 524597 w 584492"/>
                  <a:gd name="connsiteY35" fmla="*/ 307581 h 584492"/>
                  <a:gd name="connsiteX36" fmla="*/ 411511 w 584492"/>
                  <a:gd name="connsiteY36" fmla="*/ 307581 h 58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84492" h="584492">
                    <a:moveTo>
                      <a:pt x="292246" y="0"/>
                    </a:moveTo>
                    <a:cubicBezTo>
                      <a:pt x="130832" y="0"/>
                      <a:pt x="0" y="130832"/>
                      <a:pt x="0" y="292246"/>
                    </a:cubicBezTo>
                    <a:cubicBezTo>
                      <a:pt x="0" y="453661"/>
                      <a:pt x="130832" y="584492"/>
                      <a:pt x="292246" y="584492"/>
                    </a:cubicBezTo>
                    <a:cubicBezTo>
                      <a:pt x="453661" y="584492"/>
                      <a:pt x="584492" y="453661"/>
                      <a:pt x="584492" y="292246"/>
                    </a:cubicBezTo>
                    <a:cubicBezTo>
                      <a:pt x="584492" y="130832"/>
                      <a:pt x="453617" y="0"/>
                      <a:pt x="292246" y="0"/>
                    </a:cubicBezTo>
                    <a:close/>
                    <a:moveTo>
                      <a:pt x="172982" y="333520"/>
                    </a:moveTo>
                    <a:lnTo>
                      <a:pt x="172982" y="307581"/>
                    </a:lnTo>
                    <a:lnTo>
                      <a:pt x="59895" y="307581"/>
                    </a:lnTo>
                    <a:lnTo>
                      <a:pt x="59895" y="276911"/>
                    </a:lnTo>
                    <a:lnTo>
                      <a:pt x="172982" y="276911"/>
                    </a:lnTo>
                    <a:lnTo>
                      <a:pt x="172982" y="250972"/>
                    </a:lnTo>
                    <a:lnTo>
                      <a:pt x="244488" y="292246"/>
                    </a:lnTo>
                    <a:lnTo>
                      <a:pt x="172982" y="333520"/>
                    </a:lnTo>
                    <a:close/>
                    <a:moveTo>
                      <a:pt x="292246" y="519646"/>
                    </a:moveTo>
                    <a:lnTo>
                      <a:pt x="250972" y="448140"/>
                    </a:lnTo>
                    <a:lnTo>
                      <a:pt x="276911" y="448140"/>
                    </a:lnTo>
                    <a:lnTo>
                      <a:pt x="276911" y="335053"/>
                    </a:lnTo>
                    <a:lnTo>
                      <a:pt x="307581" y="335053"/>
                    </a:lnTo>
                    <a:lnTo>
                      <a:pt x="307581" y="448140"/>
                    </a:lnTo>
                    <a:lnTo>
                      <a:pt x="333520" y="448140"/>
                    </a:lnTo>
                    <a:lnTo>
                      <a:pt x="292246" y="519646"/>
                    </a:lnTo>
                    <a:close/>
                    <a:moveTo>
                      <a:pt x="307581" y="136352"/>
                    </a:moveTo>
                    <a:lnTo>
                      <a:pt x="307581" y="249439"/>
                    </a:lnTo>
                    <a:lnTo>
                      <a:pt x="276911" y="249439"/>
                    </a:lnTo>
                    <a:lnTo>
                      <a:pt x="276911" y="136352"/>
                    </a:lnTo>
                    <a:lnTo>
                      <a:pt x="250972" y="136352"/>
                    </a:lnTo>
                    <a:lnTo>
                      <a:pt x="292246" y="64846"/>
                    </a:lnTo>
                    <a:lnTo>
                      <a:pt x="333520" y="136352"/>
                    </a:lnTo>
                    <a:lnTo>
                      <a:pt x="307581" y="136352"/>
                    </a:lnTo>
                    <a:close/>
                    <a:moveTo>
                      <a:pt x="411511" y="307581"/>
                    </a:moveTo>
                    <a:lnTo>
                      <a:pt x="411511" y="333520"/>
                    </a:lnTo>
                    <a:lnTo>
                      <a:pt x="340004" y="292246"/>
                    </a:lnTo>
                    <a:lnTo>
                      <a:pt x="411511" y="250972"/>
                    </a:lnTo>
                    <a:lnTo>
                      <a:pt x="411511" y="276911"/>
                    </a:lnTo>
                    <a:lnTo>
                      <a:pt x="524597" y="276911"/>
                    </a:lnTo>
                    <a:lnTo>
                      <a:pt x="524597" y="307581"/>
                    </a:lnTo>
                    <a:lnTo>
                      <a:pt x="411511" y="307581"/>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grpSp>
        <p:nvGrpSpPr>
          <p:cNvPr id="124" name="Group 123">
            <a:extLst>
              <a:ext uri="{FF2B5EF4-FFF2-40B4-BE49-F238E27FC236}">
                <a16:creationId xmlns:a16="http://schemas.microsoft.com/office/drawing/2014/main" id="{9B97CD6F-03D8-6AC8-FB6B-187391EC7F7A}"/>
              </a:ext>
            </a:extLst>
          </p:cNvPr>
          <p:cNvGrpSpPr/>
          <p:nvPr/>
        </p:nvGrpSpPr>
        <p:grpSpPr>
          <a:xfrm>
            <a:off x="9294813" y="2100404"/>
            <a:ext cx="2314149" cy="575945"/>
            <a:chOff x="9294813" y="2100404"/>
            <a:chExt cx="2314149" cy="575945"/>
          </a:xfrm>
        </p:grpSpPr>
        <p:sp>
          <p:nvSpPr>
            <p:cNvPr id="76" name="Rectangle: Rounded Corners 645">
              <a:extLst>
                <a:ext uri="{FF2B5EF4-FFF2-40B4-BE49-F238E27FC236}">
                  <a16:creationId xmlns:a16="http://schemas.microsoft.com/office/drawing/2014/main" id="{4CC505FD-250A-BE4D-7114-6BF1AC4AA91F}"/>
                </a:ext>
              </a:extLst>
            </p:cNvPr>
            <p:cNvSpPr/>
            <p:nvPr/>
          </p:nvSpPr>
          <p:spPr>
            <a:xfrm>
              <a:off x="9294813" y="2100404"/>
              <a:ext cx="2286000" cy="575945"/>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7" name="Content Placeholder 9">
              <a:extLst>
                <a:ext uri="{FF2B5EF4-FFF2-40B4-BE49-F238E27FC236}">
                  <a16:creationId xmlns:a16="http://schemas.microsoft.com/office/drawing/2014/main" id="{C2801BD6-798E-AABB-AF51-033C97511826}"/>
                </a:ext>
              </a:extLst>
            </p:cNvPr>
            <p:cNvSpPr txBox="1">
              <a:spLocks/>
            </p:cNvSpPr>
            <p:nvPr/>
          </p:nvSpPr>
          <p:spPr>
            <a:xfrm>
              <a:off x="9855505" y="2287255"/>
              <a:ext cx="1753457" cy="202243"/>
            </a:xfrm>
            <a:prstGeom prst="rect">
              <a:avLst/>
            </a:prstGeom>
          </p:spPr>
          <p:txBody>
            <a:bodyPr vert="horz" lIns="0" tIns="0" rIns="0" bIns="0" rtlCol="0" anchor="ctr">
              <a:noAutofit/>
            </a:bodyPr>
            <a:lstStyle>
              <a:lvl1pPr marL="0" indent="0" algn="ctr" defTabSz="914400" rtl="0" eaLnBrk="1" latinLnBrk="0" hangingPunct="1">
                <a:lnSpc>
                  <a:spcPct val="100000"/>
                </a:lnSpc>
                <a:spcBef>
                  <a:spcPts val="600"/>
                </a:spcBef>
                <a:buClr>
                  <a:schemeClr val="tx1">
                    <a:lumMod val="60000"/>
                    <a:lumOff val="40000"/>
                  </a:schemeClr>
                </a:buClr>
                <a:buSzPct val="90000"/>
                <a:buFont typeface="Arial" panose="020B0604020202020204" pitchFamily="34" charset="0"/>
                <a:buChar char="​"/>
                <a:defRPr sz="2400" kern="1200">
                  <a:solidFill>
                    <a:schemeClr val="accent5"/>
                  </a:solidFill>
                  <a:latin typeface="+mn-lt"/>
                  <a:ea typeface="+mn-ea"/>
                  <a:cs typeface="+mn-cs"/>
                </a:defRPr>
              </a:lvl1pPr>
              <a:lvl2pPr marL="0" indent="0" algn="ctr" defTabSz="914400" rtl="0" eaLnBrk="1" latinLnBrk="0" hangingPunct="1">
                <a:lnSpc>
                  <a:spcPct val="100000"/>
                </a:lnSpc>
                <a:spcBef>
                  <a:spcPts val="600"/>
                </a:spcBef>
                <a:buClr>
                  <a:schemeClr val="tx2"/>
                </a:buClr>
                <a:buSzPct val="90000"/>
                <a:buFont typeface="Open Sans" panose="020B0606030504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6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6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6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0000">
                    <a:lumMod val="60000"/>
                    <a:lumOff val="40000"/>
                  </a:srgbClr>
                </a:buClr>
                <a:buSzPct val="90000"/>
                <a:buFont typeface="Arial" panose="020B0604020202020204" pitchFamily="34" charset="0"/>
                <a:buChar char="​"/>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Switching</a:t>
              </a:r>
            </a:p>
          </p:txBody>
        </p:sp>
        <p:grpSp>
          <p:nvGrpSpPr>
            <p:cNvPr id="78" name="Group 77">
              <a:extLst>
                <a:ext uri="{FF2B5EF4-FFF2-40B4-BE49-F238E27FC236}">
                  <a16:creationId xmlns:a16="http://schemas.microsoft.com/office/drawing/2014/main" id="{D613B6D2-6CA3-7A99-4B65-7A2E733A33C2}"/>
                </a:ext>
              </a:extLst>
            </p:cNvPr>
            <p:cNvGrpSpPr>
              <a:grpSpLocks noChangeAspect="1"/>
            </p:cNvGrpSpPr>
            <p:nvPr/>
          </p:nvGrpSpPr>
          <p:grpSpPr>
            <a:xfrm>
              <a:off x="9344980" y="2159776"/>
              <a:ext cx="457200" cy="457200"/>
              <a:chOff x="4856731" y="5229970"/>
              <a:chExt cx="902850" cy="902850"/>
            </a:xfrm>
          </p:grpSpPr>
          <p:sp>
            <p:nvSpPr>
              <p:cNvPr id="79" name="Oval 44">
                <a:extLst>
                  <a:ext uri="{FF2B5EF4-FFF2-40B4-BE49-F238E27FC236}">
                    <a16:creationId xmlns:a16="http://schemas.microsoft.com/office/drawing/2014/main" id="{797FF077-5175-57A8-FC4D-235375E6C3E4}"/>
                  </a:ext>
                </a:extLst>
              </p:cNvPr>
              <p:cNvSpPr>
                <a:spLocks noChangeAspect="1"/>
              </p:cNvSpPr>
              <p:nvPr/>
            </p:nvSpPr>
            <p:spPr bwMode="gray">
              <a:xfrm>
                <a:off x="4856731" y="5229970"/>
                <a:ext cx="902850" cy="902850"/>
              </a:xfrm>
              <a:prstGeom prst="ellipse">
                <a:avLst/>
              </a:prstGeom>
              <a:solidFill>
                <a:schemeClr val="tx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0" name="Graphic 249">
                <a:extLst>
                  <a:ext uri="{FF2B5EF4-FFF2-40B4-BE49-F238E27FC236}">
                    <a16:creationId xmlns:a16="http://schemas.microsoft.com/office/drawing/2014/main" id="{28847C24-C091-D404-90B6-244C45F65B3A}"/>
                  </a:ext>
                </a:extLst>
              </p:cNvPr>
              <p:cNvSpPr/>
              <p:nvPr/>
            </p:nvSpPr>
            <p:spPr>
              <a:xfrm>
                <a:off x="5013745" y="5480096"/>
                <a:ext cx="594328" cy="406891"/>
              </a:xfrm>
              <a:custGeom>
                <a:avLst/>
                <a:gdLst>
                  <a:gd name="connsiteX0" fmla="*/ 515311 w 594328"/>
                  <a:gd name="connsiteY0" fmla="*/ 344910 h 406891"/>
                  <a:gd name="connsiteX1" fmla="*/ 470272 w 594328"/>
                  <a:gd name="connsiteY1" fmla="*/ 344910 h 406891"/>
                  <a:gd name="connsiteX2" fmla="*/ 328808 w 594328"/>
                  <a:gd name="connsiteY2" fmla="*/ 203446 h 406891"/>
                  <a:gd name="connsiteX3" fmla="*/ 470272 w 594328"/>
                  <a:gd name="connsiteY3" fmla="*/ 61934 h 406891"/>
                  <a:gd name="connsiteX4" fmla="*/ 515311 w 594328"/>
                  <a:gd name="connsiteY4" fmla="*/ 61934 h 406891"/>
                  <a:gd name="connsiteX5" fmla="*/ 515311 w 594328"/>
                  <a:gd name="connsiteY5" fmla="*/ 91245 h 406891"/>
                  <a:gd name="connsiteX6" fmla="*/ 594328 w 594328"/>
                  <a:gd name="connsiteY6" fmla="*/ 45599 h 406891"/>
                  <a:gd name="connsiteX7" fmla="*/ 515311 w 594328"/>
                  <a:gd name="connsiteY7" fmla="*/ 0 h 406891"/>
                  <a:gd name="connsiteX8" fmla="*/ 515311 w 594328"/>
                  <a:gd name="connsiteY8" fmla="*/ 29264 h 406891"/>
                  <a:gd name="connsiteX9" fmla="*/ 456737 w 594328"/>
                  <a:gd name="connsiteY9" fmla="*/ 29264 h 406891"/>
                  <a:gd name="connsiteX10" fmla="*/ 305658 w 594328"/>
                  <a:gd name="connsiteY10" fmla="*/ 180343 h 406891"/>
                  <a:gd name="connsiteX11" fmla="*/ 154626 w 594328"/>
                  <a:gd name="connsiteY11" fmla="*/ 29264 h 406891"/>
                  <a:gd name="connsiteX12" fmla="*/ 78970 w 594328"/>
                  <a:gd name="connsiteY12" fmla="*/ 29264 h 406891"/>
                  <a:gd name="connsiteX13" fmla="*/ 78970 w 594328"/>
                  <a:gd name="connsiteY13" fmla="*/ 0 h 406891"/>
                  <a:gd name="connsiteX14" fmla="*/ 0 w 594328"/>
                  <a:gd name="connsiteY14" fmla="*/ 45599 h 406891"/>
                  <a:gd name="connsiteX15" fmla="*/ 78970 w 594328"/>
                  <a:gd name="connsiteY15" fmla="*/ 91245 h 406891"/>
                  <a:gd name="connsiteX16" fmla="*/ 78970 w 594328"/>
                  <a:gd name="connsiteY16" fmla="*/ 61934 h 406891"/>
                  <a:gd name="connsiteX17" fmla="*/ 141091 w 594328"/>
                  <a:gd name="connsiteY17" fmla="*/ 61934 h 406891"/>
                  <a:gd name="connsiteX18" fmla="*/ 282556 w 594328"/>
                  <a:gd name="connsiteY18" fmla="*/ 203446 h 406891"/>
                  <a:gd name="connsiteX19" fmla="*/ 141091 w 594328"/>
                  <a:gd name="connsiteY19" fmla="*/ 344910 h 406891"/>
                  <a:gd name="connsiteX20" fmla="*/ 78970 w 594328"/>
                  <a:gd name="connsiteY20" fmla="*/ 344910 h 406891"/>
                  <a:gd name="connsiteX21" fmla="*/ 78970 w 594328"/>
                  <a:gd name="connsiteY21" fmla="*/ 315646 h 406891"/>
                  <a:gd name="connsiteX22" fmla="*/ 0 w 594328"/>
                  <a:gd name="connsiteY22" fmla="*/ 361245 h 406891"/>
                  <a:gd name="connsiteX23" fmla="*/ 78970 w 594328"/>
                  <a:gd name="connsiteY23" fmla="*/ 406891 h 406891"/>
                  <a:gd name="connsiteX24" fmla="*/ 78970 w 594328"/>
                  <a:gd name="connsiteY24" fmla="*/ 377581 h 406891"/>
                  <a:gd name="connsiteX25" fmla="*/ 154626 w 594328"/>
                  <a:gd name="connsiteY25" fmla="*/ 377581 h 406891"/>
                  <a:gd name="connsiteX26" fmla="*/ 305658 w 594328"/>
                  <a:gd name="connsiteY26" fmla="*/ 226548 h 406891"/>
                  <a:gd name="connsiteX27" fmla="*/ 456737 w 594328"/>
                  <a:gd name="connsiteY27" fmla="*/ 377581 h 406891"/>
                  <a:gd name="connsiteX28" fmla="*/ 515311 w 594328"/>
                  <a:gd name="connsiteY28" fmla="*/ 377581 h 406891"/>
                  <a:gd name="connsiteX29" fmla="*/ 515311 w 594328"/>
                  <a:gd name="connsiteY29" fmla="*/ 406891 h 406891"/>
                  <a:gd name="connsiteX30" fmla="*/ 594328 w 594328"/>
                  <a:gd name="connsiteY30" fmla="*/ 361245 h 406891"/>
                  <a:gd name="connsiteX31" fmla="*/ 515311 w 594328"/>
                  <a:gd name="connsiteY31" fmla="*/ 315646 h 406891"/>
                  <a:gd name="connsiteX32" fmla="*/ 515311 w 594328"/>
                  <a:gd name="connsiteY32" fmla="*/ 344910 h 40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94328" h="406891">
                    <a:moveTo>
                      <a:pt x="515311" y="344910"/>
                    </a:moveTo>
                    <a:lnTo>
                      <a:pt x="470272" y="344910"/>
                    </a:lnTo>
                    <a:lnTo>
                      <a:pt x="328808" y="203446"/>
                    </a:lnTo>
                    <a:lnTo>
                      <a:pt x="470272" y="61934"/>
                    </a:lnTo>
                    <a:lnTo>
                      <a:pt x="515311" y="61934"/>
                    </a:lnTo>
                    <a:lnTo>
                      <a:pt x="515311" y="91245"/>
                    </a:lnTo>
                    <a:lnTo>
                      <a:pt x="594328" y="45599"/>
                    </a:lnTo>
                    <a:lnTo>
                      <a:pt x="515311" y="0"/>
                    </a:lnTo>
                    <a:lnTo>
                      <a:pt x="515311" y="29264"/>
                    </a:lnTo>
                    <a:lnTo>
                      <a:pt x="456737" y="29264"/>
                    </a:lnTo>
                    <a:lnTo>
                      <a:pt x="305658" y="180343"/>
                    </a:lnTo>
                    <a:lnTo>
                      <a:pt x="154626" y="29264"/>
                    </a:lnTo>
                    <a:lnTo>
                      <a:pt x="78970" y="29264"/>
                    </a:lnTo>
                    <a:lnTo>
                      <a:pt x="78970" y="0"/>
                    </a:lnTo>
                    <a:lnTo>
                      <a:pt x="0" y="45599"/>
                    </a:lnTo>
                    <a:lnTo>
                      <a:pt x="78970" y="91245"/>
                    </a:lnTo>
                    <a:lnTo>
                      <a:pt x="78970" y="61934"/>
                    </a:lnTo>
                    <a:lnTo>
                      <a:pt x="141091" y="61934"/>
                    </a:lnTo>
                    <a:lnTo>
                      <a:pt x="282556" y="203446"/>
                    </a:lnTo>
                    <a:lnTo>
                      <a:pt x="141091" y="344910"/>
                    </a:lnTo>
                    <a:lnTo>
                      <a:pt x="78970" y="344910"/>
                    </a:lnTo>
                    <a:lnTo>
                      <a:pt x="78970" y="315646"/>
                    </a:lnTo>
                    <a:lnTo>
                      <a:pt x="0" y="361245"/>
                    </a:lnTo>
                    <a:lnTo>
                      <a:pt x="78970" y="406891"/>
                    </a:lnTo>
                    <a:lnTo>
                      <a:pt x="78970" y="377581"/>
                    </a:lnTo>
                    <a:lnTo>
                      <a:pt x="154626" y="377581"/>
                    </a:lnTo>
                    <a:lnTo>
                      <a:pt x="305658" y="226548"/>
                    </a:lnTo>
                    <a:lnTo>
                      <a:pt x="456737" y="377581"/>
                    </a:lnTo>
                    <a:lnTo>
                      <a:pt x="515311" y="377581"/>
                    </a:lnTo>
                    <a:lnTo>
                      <a:pt x="515311" y="406891"/>
                    </a:lnTo>
                    <a:lnTo>
                      <a:pt x="594328" y="361245"/>
                    </a:lnTo>
                    <a:lnTo>
                      <a:pt x="515311" y="315646"/>
                    </a:lnTo>
                    <a:lnTo>
                      <a:pt x="515311" y="344910"/>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grpSp>
        <p:nvGrpSpPr>
          <p:cNvPr id="151" name="Group 150">
            <a:extLst>
              <a:ext uri="{FF2B5EF4-FFF2-40B4-BE49-F238E27FC236}">
                <a16:creationId xmlns:a16="http://schemas.microsoft.com/office/drawing/2014/main" id="{C37ACD0F-F62E-4411-63C3-127D3FA98BE5}"/>
              </a:ext>
            </a:extLst>
          </p:cNvPr>
          <p:cNvGrpSpPr>
            <a:grpSpLocks noChangeAspect="1"/>
          </p:cNvGrpSpPr>
          <p:nvPr/>
        </p:nvGrpSpPr>
        <p:grpSpPr>
          <a:xfrm>
            <a:off x="1904965" y="5028964"/>
            <a:ext cx="438912" cy="438912"/>
            <a:chOff x="2008163" y="2122216"/>
            <a:chExt cx="530226" cy="530226"/>
          </a:xfrm>
        </p:grpSpPr>
        <p:sp>
          <p:nvSpPr>
            <p:cNvPr id="152" name="Google Shape;1802;p69">
              <a:extLst>
                <a:ext uri="{FF2B5EF4-FFF2-40B4-BE49-F238E27FC236}">
                  <a16:creationId xmlns:a16="http://schemas.microsoft.com/office/drawing/2014/main" id="{526493AF-4725-E670-7AA4-8EA74B41CBF1}"/>
                </a:ext>
              </a:extLst>
            </p:cNvPr>
            <p:cNvSpPr/>
            <p:nvPr/>
          </p:nvSpPr>
          <p:spPr>
            <a:xfrm>
              <a:off x="2008163" y="2122216"/>
              <a:ext cx="530226" cy="5302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mn-ea"/>
                <a:cs typeface="Arial"/>
                <a:sym typeface="Arial"/>
              </a:endParaRPr>
            </a:p>
          </p:txBody>
        </p:sp>
        <p:sp>
          <p:nvSpPr>
            <p:cNvPr id="153" name="Google Shape;1803;p69">
              <a:extLst>
                <a:ext uri="{FF2B5EF4-FFF2-40B4-BE49-F238E27FC236}">
                  <a16:creationId xmlns:a16="http://schemas.microsoft.com/office/drawing/2014/main" id="{1C75C309-F3FB-0089-8772-113428052D47}"/>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154" name="Group 153">
            <a:extLst>
              <a:ext uri="{FF2B5EF4-FFF2-40B4-BE49-F238E27FC236}">
                <a16:creationId xmlns:a16="http://schemas.microsoft.com/office/drawing/2014/main" id="{658E8FE8-4723-6BD1-1207-B191112A0C53}"/>
              </a:ext>
            </a:extLst>
          </p:cNvPr>
          <p:cNvGrpSpPr>
            <a:grpSpLocks noChangeAspect="1"/>
          </p:cNvGrpSpPr>
          <p:nvPr/>
        </p:nvGrpSpPr>
        <p:grpSpPr>
          <a:xfrm>
            <a:off x="2981039" y="5028964"/>
            <a:ext cx="438912" cy="438912"/>
            <a:chOff x="2008163" y="2122216"/>
            <a:chExt cx="530226" cy="530226"/>
          </a:xfrm>
        </p:grpSpPr>
        <p:sp>
          <p:nvSpPr>
            <p:cNvPr id="155" name="Google Shape;1802;p69">
              <a:extLst>
                <a:ext uri="{FF2B5EF4-FFF2-40B4-BE49-F238E27FC236}">
                  <a16:creationId xmlns:a16="http://schemas.microsoft.com/office/drawing/2014/main" id="{5518E6AB-92C1-DB70-1BFE-FFB0B44E8286}"/>
                </a:ext>
              </a:extLst>
            </p:cNvPr>
            <p:cNvSpPr/>
            <p:nvPr/>
          </p:nvSpPr>
          <p:spPr>
            <a:xfrm>
              <a:off x="2008163" y="2122216"/>
              <a:ext cx="530226" cy="53022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56" name="Google Shape;1803;p69">
              <a:extLst>
                <a:ext uri="{FF2B5EF4-FFF2-40B4-BE49-F238E27FC236}">
                  <a16:creationId xmlns:a16="http://schemas.microsoft.com/office/drawing/2014/main" id="{BD442152-9980-69E5-3063-DAAA92C55BCF}"/>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157" name="Group 156">
            <a:extLst>
              <a:ext uri="{FF2B5EF4-FFF2-40B4-BE49-F238E27FC236}">
                <a16:creationId xmlns:a16="http://schemas.microsoft.com/office/drawing/2014/main" id="{E986F148-1F16-006C-DC54-223B900242DE}"/>
              </a:ext>
            </a:extLst>
          </p:cNvPr>
          <p:cNvGrpSpPr>
            <a:grpSpLocks noChangeAspect="1"/>
          </p:cNvGrpSpPr>
          <p:nvPr/>
        </p:nvGrpSpPr>
        <p:grpSpPr>
          <a:xfrm>
            <a:off x="1145335" y="5028964"/>
            <a:ext cx="438912" cy="438912"/>
            <a:chOff x="2008163" y="2122216"/>
            <a:chExt cx="530226" cy="530226"/>
          </a:xfrm>
        </p:grpSpPr>
        <p:sp>
          <p:nvSpPr>
            <p:cNvPr id="158" name="Google Shape;1802;p69">
              <a:extLst>
                <a:ext uri="{FF2B5EF4-FFF2-40B4-BE49-F238E27FC236}">
                  <a16:creationId xmlns:a16="http://schemas.microsoft.com/office/drawing/2014/main" id="{7677F944-C100-3683-B73B-982E268F4681}"/>
                </a:ext>
              </a:extLst>
            </p:cNvPr>
            <p:cNvSpPr/>
            <p:nvPr/>
          </p:nvSpPr>
          <p:spPr>
            <a:xfrm>
              <a:off x="2008163" y="2122216"/>
              <a:ext cx="530226" cy="530226"/>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mn-ea"/>
                <a:cs typeface="Arial"/>
                <a:sym typeface="Arial"/>
              </a:endParaRPr>
            </a:p>
          </p:txBody>
        </p:sp>
        <p:sp>
          <p:nvSpPr>
            <p:cNvPr id="159" name="Google Shape;1803;p69">
              <a:extLst>
                <a:ext uri="{FF2B5EF4-FFF2-40B4-BE49-F238E27FC236}">
                  <a16:creationId xmlns:a16="http://schemas.microsoft.com/office/drawing/2014/main" id="{022175FF-7DBB-B737-156E-92004D88ADE4}"/>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160" name="Group 159">
            <a:extLst>
              <a:ext uri="{FF2B5EF4-FFF2-40B4-BE49-F238E27FC236}">
                <a16:creationId xmlns:a16="http://schemas.microsoft.com/office/drawing/2014/main" id="{118B558B-9574-FBF7-4E51-1D1792AE0CBC}"/>
              </a:ext>
            </a:extLst>
          </p:cNvPr>
          <p:cNvGrpSpPr>
            <a:grpSpLocks noChangeAspect="1"/>
          </p:cNvGrpSpPr>
          <p:nvPr/>
        </p:nvGrpSpPr>
        <p:grpSpPr>
          <a:xfrm>
            <a:off x="5563935" y="5028964"/>
            <a:ext cx="438912" cy="438912"/>
            <a:chOff x="2008163" y="2122216"/>
            <a:chExt cx="530226" cy="530226"/>
          </a:xfrm>
        </p:grpSpPr>
        <p:sp>
          <p:nvSpPr>
            <p:cNvPr id="161" name="Google Shape;1802;p69">
              <a:extLst>
                <a:ext uri="{FF2B5EF4-FFF2-40B4-BE49-F238E27FC236}">
                  <a16:creationId xmlns:a16="http://schemas.microsoft.com/office/drawing/2014/main" id="{AB066948-E634-F649-016B-BEF2C27492CF}"/>
                </a:ext>
              </a:extLst>
            </p:cNvPr>
            <p:cNvSpPr/>
            <p:nvPr/>
          </p:nvSpPr>
          <p:spPr>
            <a:xfrm>
              <a:off x="2008163" y="2122216"/>
              <a:ext cx="530226" cy="53022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62" name="Google Shape;1803;p69">
              <a:extLst>
                <a:ext uri="{FF2B5EF4-FFF2-40B4-BE49-F238E27FC236}">
                  <a16:creationId xmlns:a16="http://schemas.microsoft.com/office/drawing/2014/main" id="{8613B870-48C3-F732-B883-0010724811B9}"/>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163" name="Group 162">
            <a:extLst>
              <a:ext uri="{FF2B5EF4-FFF2-40B4-BE49-F238E27FC236}">
                <a16:creationId xmlns:a16="http://schemas.microsoft.com/office/drawing/2014/main" id="{8A285737-F7EA-592A-8B53-A2398981BE91}"/>
              </a:ext>
            </a:extLst>
          </p:cNvPr>
          <p:cNvGrpSpPr>
            <a:grpSpLocks noChangeAspect="1"/>
          </p:cNvGrpSpPr>
          <p:nvPr/>
        </p:nvGrpSpPr>
        <p:grpSpPr>
          <a:xfrm>
            <a:off x="3724035" y="5028964"/>
            <a:ext cx="438912" cy="438912"/>
            <a:chOff x="2008163" y="2122216"/>
            <a:chExt cx="530226" cy="530226"/>
          </a:xfrm>
        </p:grpSpPr>
        <p:sp>
          <p:nvSpPr>
            <p:cNvPr id="164" name="Google Shape;1802;p69">
              <a:extLst>
                <a:ext uri="{FF2B5EF4-FFF2-40B4-BE49-F238E27FC236}">
                  <a16:creationId xmlns:a16="http://schemas.microsoft.com/office/drawing/2014/main" id="{2E836F42-D351-1B06-CA8E-5C0B389D3918}"/>
                </a:ext>
              </a:extLst>
            </p:cNvPr>
            <p:cNvSpPr/>
            <p:nvPr/>
          </p:nvSpPr>
          <p:spPr>
            <a:xfrm>
              <a:off x="2008163" y="2122216"/>
              <a:ext cx="530226" cy="530226"/>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mn-ea"/>
                <a:cs typeface="Arial"/>
                <a:sym typeface="Arial"/>
              </a:endParaRPr>
            </a:p>
          </p:txBody>
        </p:sp>
        <p:sp>
          <p:nvSpPr>
            <p:cNvPr id="165" name="Google Shape;1803;p69">
              <a:extLst>
                <a:ext uri="{FF2B5EF4-FFF2-40B4-BE49-F238E27FC236}">
                  <a16:creationId xmlns:a16="http://schemas.microsoft.com/office/drawing/2014/main" id="{DF946CD3-EC40-6B00-C0B2-79F138AFDC20}"/>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166" name="Group 165">
            <a:extLst>
              <a:ext uri="{FF2B5EF4-FFF2-40B4-BE49-F238E27FC236}">
                <a16:creationId xmlns:a16="http://schemas.microsoft.com/office/drawing/2014/main" id="{BEB9BC24-07BD-1C4F-53CB-B9273C4933AD}"/>
              </a:ext>
            </a:extLst>
          </p:cNvPr>
          <p:cNvGrpSpPr>
            <a:grpSpLocks noChangeAspect="1"/>
          </p:cNvGrpSpPr>
          <p:nvPr/>
        </p:nvGrpSpPr>
        <p:grpSpPr>
          <a:xfrm>
            <a:off x="4813645" y="5028964"/>
            <a:ext cx="438912" cy="438912"/>
            <a:chOff x="2008163" y="2122216"/>
            <a:chExt cx="530226" cy="530226"/>
          </a:xfrm>
        </p:grpSpPr>
        <p:sp>
          <p:nvSpPr>
            <p:cNvPr id="167" name="Google Shape;1802;p69">
              <a:extLst>
                <a:ext uri="{FF2B5EF4-FFF2-40B4-BE49-F238E27FC236}">
                  <a16:creationId xmlns:a16="http://schemas.microsoft.com/office/drawing/2014/main" id="{1FFC7553-CE20-FC28-FF5F-FE690B85067E}"/>
                </a:ext>
              </a:extLst>
            </p:cNvPr>
            <p:cNvSpPr/>
            <p:nvPr/>
          </p:nvSpPr>
          <p:spPr>
            <a:xfrm>
              <a:off x="2008163" y="2122216"/>
              <a:ext cx="530226" cy="5302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mn-ea"/>
                <a:cs typeface="Arial"/>
                <a:sym typeface="Arial"/>
              </a:endParaRPr>
            </a:p>
          </p:txBody>
        </p:sp>
        <p:sp>
          <p:nvSpPr>
            <p:cNvPr id="168" name="Google Shape;1803;p69">
              <a:extLst>
                <a:ext uri="{FF2B5EF4-FFF2-40B4-BE49-F238E27FC236}">
                  <a16:creationId xmlns:a16="http://schemas.microsoft.com/office/drawing/2014/main" id="{05DAF5B7-8716-B83A-A52B-D1F1ABC0E746}"/>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sp>
        <p:nvSpPr>
          <p:cNvPr id="93" name="Rectangle: Rounded Corners 144">
            <a:extLst>
              <a:ext uri="{FF2B5EF4-FFF2-40B4-BE49-F238E27FC236}">
                <a16:creationId xmlns:a16="http://schemas.microsoft.com/office/drawing/2014/main" id="{97CC3D6D-EB39-D718-4A2C-BAAE347D2607}"/>
              </a:ext>
            </a:extLst>
          </p:cNvPr>
          <p:cNvSpPr/>
          <p:nvPr/>
        </p:nvSpPr>
        <p:spPr>
          <a:xfrm>
            <a:off x="869486" y="3567173"/>
            <a:ext cx="5421854" cy="393192"/>
          </a:xfrm>
          <a:prstGeom prst="roundRect">
            <a:avLst>
              <a:gd name="adj" fmla="val 50000"/>
            </a:avLst>
          </a:prstGeom>
          <a:solidFill>
            <a:schemeClr val="accent3"/>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VCF with NSX Virtual Networking</a:t>
            </a:r>
          </a:p>
        </p:txBody>
      </p:sp>
      <p:sp>
        <p:nvSpPr>
          <p:cNvPr id="175" name="Rectangle 174">
            <a:extLst>
              <a:ext uri="{FF2B5EF4-FFF2-40B4-BE49-F238E27FC236}">
                <a16:creationId xmlns:a16="http://schemas.microsoft.com/office/drawing/2014/main" id="{19E22E5A-3F7D-FF14-F93F-F46E04B72C03}"/>
              </a:ext>
            </a:extLst>
          </p:cNvPr>
          <p:cNvSpPr/>
          <p:nvPr/>
        </p:nvSpPr>
        <p:spPr>
          <a:xfrm>
            <a:off x="608014" y="1710756"/>
            <a:ext cx="5943600" cy="145424"/>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50" b="1" i="0" u="none" strike="noStrike" kern="1200" cap="all" spc="50" normalizeH="0" baseline="0" noProof="0" dirty="0">
                <a:ln>
                  <a:noFill/>
                </a:ln>
                <a:solidFill>
                  <a:prstClr val="black"/>
                </a:solidFill>
                <a:effectLst/>
                <a:uLnTx/>
                <a:uFillTx/>
                <a:latin typeface="Arial" panose="020B0604020202020204"/>
                <a:ea typeface="+mn-ea"/>
                <a:cs typeface="Arial"/>
              </a:rPr>
              <a:t>IP Fabric with service appliances</a:t>
            </a:r>
          </a:p>
        </p:txBody>
      </p:sp>
      <p:grpSp>
        <p:nvGrpSpPr>
          <p:cNvPr id="182" name="Group 181">
            <a:extLst>
              <a:ext uri="{FF2B5EF4-FFF2-40B4-BE49-F238E27FC236}">
                <a16:creationId xmlns:a16="http://schemas.microsoft.com/office/drawing/2014/main" id="{490DE5FB-64FE-365C-A3BC-E7E715F641D2}"/>
              </a:ext>
            </a:extLst>
          </p:cNvPr>
          <p:cNvGrpSpPr/>
          <p:nvPr/>
        </p:nvGrpSpPr>
        <p:grpSpPr>
          <a:xfrm>
            <a:off x="608013" y="1768510"/>
            <a:ext cx="5943600" cy="209925"/>
            <a:chOff x="608013" y="1768510"/>
            <a:chExt cx="5943600" cy="209925"/>
          </a:xfrm>
        </p:grpSpPr>
        <p:sp>
          <p:nvSpPr>
            <p:cNvPr id="176" name="Rectangle 175">
              <a:extLst>
                <a:ext uri="{FF2B5EF4-FFF2-40B4-BE49-F238E27FC236}">
                  <a16:creationId xmlns:a16="http://schemas.microsoft.com/office/drawing/2014/main" id="{95CDA68E-E45D-9A46-0773-3CCBE5C79E90}"/>
                </a:ext>
              </a:extLst>
            </p:cNvPr>
            <p:cNvSpPr/>
            <p:nvPr/>
          </p:nvSpPr>
          <p:spPr>
            <a:xfrm>
              <a:off x="608013" y="1833011"/>
              <a:ext cx="5943600" cy="145424"/>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50" b="1" i="0" u="none" strike="noStrike" kern="1200" cap="all" spc="50" normalizeH="0" baseline="0" noProof="0" dirty="0">
                  <a:ln>
                    <a:noFill/>
                  </a:ln>
                  <a:solidFill>
                    <a:prstClr val="black"/>
                  </a:solidFill>
                  <a:effectLst/>
                  <a:uLnTx/>
                  <a:uFillTx/>
                  <a:latin typeface="Arial" panose="020B0604020202020204"/>
                  <a:ea typeface="+mn-ea"/>
                  <a:cs typeface="Arial"/>
                </a:rPr>
                <a:t>GENERIC IP FABRIC</a:t>
              </a:r>
            </a:p>
          </p:txBody>
        </p:sp>
        <p:cxnSp>
          <p:nvCxnSpPr>
            <p:cNvPr id="180" name="Straight Connector 179">
              <a:extLst>
                <a:ext uri="{FF2B5EF4-FFF2-40B4-BE49-F238E27FC236}">
                  <a16:creationId xmlns:a16="http://schemas.microsoft.com/office/drawing/2014/main" id="{2182FFA5-B8B5-AFB7-F2A3-3CEC729D4D06}"/>
                </a:ext>
              </a:extLst>
            </p:cNvPr>
            <p:cNvCxnSpPr/>
            <p:nvPr/>
          </p:nvCxnSpPr>
          <p:spPr bwMode="gray">
            <a:xfrm>
              <a:off x="1979613" y="1768510"/>
              <a:ext cx="3200400" cy="0"/>
            </a:xfrm>
            <a:prstGeom prst="line">
              <a:avLst/>
            </a:prstGeom>
            <a:ln w="127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15" name="Group 214">
            <a:extLst>
              <a:ext uri="{FF2B5EF4-FFF2-40B4-BE49-F238E27FC236}">
                <a16:creationId xmlns:a16="http://schemas.microsoft.com/office/drawing/2014/main" id="{C33C2444-5BFF-D1E4-4873-57028BFCFD69}"/>
              </a:ext>
            </a:extLst>
          </p:cNvPr>
          <p:cNvGrpSpPr/>
          <p:nvPr/>
        </p:nvGrpSpPr>
        <p:grpSpPr>
          <a:xfrm>
            <a:off x="1090334" y="4520497"/>
            <a:ext cx="4948725" cy="508467"/>
            <a:chOff x="1090334" y="4520497"/>
            <a:chExt cx="4948725" cy="508467"/>
          </a:xfrm>
        </p:grpSpPr>
        <p:cxnSp>
          <p:nvCxnSpPr>
            <p:cNvPr id="177" name="Straight Connector 176">
              <a:extLst>
                <a:ext uri="{FF2B5EF4-FFF2-40B4-BE49-F238E27FC236}">
                  <a16:creationId xmlns:a16="http://schemas.microsoft.com/office/drawing/2014/main" id="{C264BBE4-3784-AB61-AE64-82F9CF321935}"/>
                </a:ext>
              </a:extLst>
            </p:cNvPr>
            <p:cNvCxnSpPr>
              <a:cxnSpLocks/>
              <a:stCxn id="158" idx="0"/>
            </p:cNvCxnSpPr>
            <p:nvPr/>
          </p:nvCxnSpPr>
          <p:spPr bwMode="gray">
            <a:xfrm flipV="1">
              <a:off x="1364791" y="4903596"/>
              <a:ext cx="0" cy="125368"/>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C34BEB0D-9E71-413D-F93C-52DDDBE7CF29}"/>
                </a:ext>
              </a:extLst>
            </p:cNvPr>
            <p:cNvCxnSpPr>
              <a:cxnSpLocks/>
              <a:stCxn id="164" idx="0"/>
            </p:cNvCxnSpPr>
            <p:nvPr/>
          </p:nvCxnSpPr>
          <p:spPr bwMode="gray">
            <a:xfrm flipV="1">
              <a:off x="3943491" y="4898571"/>
              <a:ext cx="0" cy="130393"/>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359C9408-76BC-E21A-A97B-98C296C9C715}"/>
                </a:ext>
              </a:extLst>
            </p:cNvPr>
            <p:cNvCxnSpPr>
              <a:cxnSpLocks/>
              <a:stCxn id="152" idx="0"/>
            </p:cNvCxnSpPr>
            <p:nvPr/>
          </p:nvCxnSpPr>
          <p:spPr bwMode="gray">
            <a:xfrm flipV="1">
              <a:off x="2124421" y="4717701"/>
              <a:ext cx="0" cy="311263"/>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DBA9BF72-4F38-FE0D-DA13-ACCED1E79663}"/>
                </a:ext>
              </a:extLst>
            </p:cNvPr>
            <p:cNvCxnSpPr>
              <a:cxnSpLocks/>
              <a:stCxn id="167" idx="0"/>
            </p:cNvCxnSpPr>
            <p:nvPr/>
          </p:nvCxnSpPr>
          <p:spPr bwMode="gray">
            <a:xfrm flipV="1">
              <a:off x="5033101" y="4762919"/>
              <a:ext cx="0" cy="266045"/>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F3FC34E9-4C5C-6EBE-8E92-5ACC978202B5}"/>
                </a:ext>
              </a:extLst>
            </p:cNvPr>
            <p:cNvCxnSpPr>
              <a:cxnSpLocks/>
              <a:stCxn id="155" idx="0"/>
            </p:cNvCxnSpPr>
            <p:nvPr/>
          </p:nvCxnSpPr>
          <p:spPr bwMode="gray">
            <a:xfrm flipV="1">
              <a:off x="3200495" y="4541855"/>
              <a:ext cx="0" cy="487109"/>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B84F1C1B-0CBC-6C9E-0BFF-15EC6575F48B}"/>
                </a:ext>
              </a:extLst>
            </p:cNvPr>
            <p:cNvCxnSpPr>
              <a:cxnSpLocks/>
              <a:stCxn id="161" idx="0"/>
            </p:cNvCxnSpPr>
            <p:nvPr/>
          </p:nvCxnSpPr>
          <p:spPr bwMode="gray">
            <a:xfrm flipV="1">
              <a:off x="5783391" y="4587073"/>
              <a:ext cx="0" cy="441891"/>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9" name="Rectangle: Rounded Corners 92">
              <a:extLst>
                <a:ext uri="{FF2B5EF4-FFF2-40B4-BE49-F238E27FC236}">
                  <a16:creationId xmlns:a16="http://schemas.microsoft.com/office/drawing/2014/main" id="{E88BFEFA-0B78-160E-29C2-05BD432C52DA}"/>
                </a:ext>
              </a:extLst>
            </p:cNvPr>
            <p:cNvSpPr/>
            <p:nvPr/>
          </p:nvSpPr>
          <p:spPr>
            <a:xfrm>
              <a:off x="1090334" y="4844558"/>
              <a:ext cx="3114902" cy="124354"/>
            </a:xfrm>
            <a:prstGeom prst="roundRect">
              <a:avLst>
                <a:gd name="adj" fmla="val 18762"/>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Arial" panose="020B0604020202020204"/>
                  <a:ea typeface="+mn-ea"/>
                  <a:cs typeface="+mn-cs"/>
                </a:rPr>
                <a:t>Virtual Network x</a:t>
              </a:r>
            </a:p>
          </p:txBody>
        </p:sp>
        <p:sp>
          <p:nvSpPr>
            <p:cNvPr id="17" name="Rectangle: Rounded Corners 92">
              <a:extLst>
                <a:ext uri="{FF2B5EF4-FFF2-40B4-BE49-F238E27FC236}">
                  <a16:creationId xmlns:a16="http://schemas.microsoft.com/office/drawing/2014/main" id="{11548975-9B28-F8EA-9BF7-8CB10A1F9AD9}"/>
                </a:ext>
              </a:extLst>
            </p:cNvPr>
            <p:cNvSpPr/>
            <p:nvPr/>
          </p:nvSpPr>
          <p:spPr>
            <a:xfrm>
              <a:off x="3084844" y="4520497"/>
              <a:ext cx="2954215" cy="124354"/>
            </a:xfrm>
            <a:prstGeom prst="roundRect">
              <a:avLst>
                <a:gd name="adj" fmla="val 18762"/>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Arial" panose="020B0604020202020204"/>
                  <a:ea typeface="+mn-ea"/>
                  <a:cs typeface="+mn-cs"/>
                </a:rPr>
                <a:t>Virtual Network z</a:t>
              </a:r>
            </a:p>
          </p:txBody>
        </p:sp>
        <p:sp>
          <p:nvSpPr>
            <p:cNvPr id="23" name="Rectangle: Rounded Corners 92">
              <a:extLst>
                <a:ext uri="{FF2B5EF4-FFF2-40B4-BE49-F238E27FC236}">
                  <a16:creationId xmlns:a16="http://schemas.microsoft.com/office/drawing/2014/main" id="{9DF71C8F-D178-47BF-6B9A-724D67534886}"/>
                </a:ext>
              </a:extLst>
            </p:cNvPr>
            <p:cNvSpPr/>
            <p:nvPr/>
          </p:nvSpPr>
          <p:spPr>
            <a:xfrm>
              <a:off x="1788607" y="4682528"/>
              <a:ext cx="3637503" cy="124354"/>
            </a:xfrm>
            <a:prstGeom prst="roundRect">
              <a:avLst>
                <a:gd name="adj" fmla="val 18762"/>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Arial" panose="020B0604020202020204"/>
                  <a:ea typeface="+mn-ea"/>
                  <a:cs typeface="+mn-cs"/>
                </a:rPr>
                <a:t>Virtual Network y</a:t>
              </a:r>
            </a:p>
          </p:txBody>
        </p:sp>
      </p:grpSp>
      <p:grpSp>
        <p:nvGrpSpPr>
          <p:cNvPr id="25" name="Group 24">
            <a:extLst>
              <a:ext uri="{FF2B5EF4-FFF2-40B4-BE49-F238E27FC236}">
                <a16:creationId xmlns:a16="http://schemas.microsoft.com/office/drawing/2014/main" id="{58790751-F4D0-DE93-5F7B-D20C85C412AB}"/>
              </a:ext>
            </a:extLst>
          </p:cNvPr>
          <p:cNvGrpSpPr/>
          <p:nvPr/>
        </p:nvGrpSpPr>
        <p:grpSpPr>
          <a:xfrm>
            <a:off x="1271196" y="1951839"/>
            <a:ext cx="4477219" cy="457200"/>
            <a:chOff x="939060" y="1951839"/>
            <a:chExt cx="4477219" cy="457200"/>
          </a:xfrm>
        </p:grpSpPr>
        <p:grpSp>
          <p:nvGrpSpPr>
            <p:cNvPr id="81" name="Group 80">
              <a:extLst>
                <a:ext uri="{FF2B5EF4-FFF2-40B4-BE49-F238E27FC236}">
                  <a16:creationId xmlns:a16="http://schemas.microsoft.com/office/drawing/2014/main" id="{0BBE15FB-4E44-604E-885E-09409BB27CE7}"/>
                </a:ext>
              </a:extLst>
            </p:cNvPr>
            <p:cNvGrpSpPr>
              <a:grpSpLocks noChangeAspect="1"/>
            </p:cNvGrpSpPr>
            <p:nvPr/>
          </p:nvGrpSpPr>
          <p:grpSpPr>
            <a:xfrm>
              <a:off x="2547066" y="1951839"/>
              <a:ext cx="457202" cy="457200"/>
              <a:chOff x="7498117" y="3244694"/>
              <a:chExt cx="615026" cy="615024"/>
            </a:xfrm>
          </p:grpSpPr>
          <p:sp>
            <p:nvSpPr>
              <p:cNvPr id="128" name="Oval 127">
                <a:extLst>
                  <a:ext uri="{FF2B5EF4-FFF2-40B4-BE49-F238E27FC236}">
                    <a16:creationId xmlns:a16="http://schemas.microsoft.com/office/drawing/2014/main" id="{8C622859-F7C7-12EC-9F60-AC4A3B985237}"/>
                  </a:ext>
                </a:extLst>
              </p:cNvPr>
              <p:cNvSpPr>
                <a:spLocks noChangeAspect="1"/>
              </p:cNvSpPr>
              <p:nvPr/>
            </p:nvSpPr>
            <p:spPr>
              <a:xfrm>
                <a:off x="7498117" y="3244694"/>
                <a:ext cx="615026" cy="615024"/>
              </a:xfrm>
              <a:prstGeom prst="ellipse">
                <a:avLst/>
              </a:pr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29" name="Graphic 62">
                <a:extLst>
                  <a:ext uri="{FF2B5EF4-FFF2-40B4-BE49-F238E27FC236}">
                    <a16:creationId xmlns:a16="http://schemas.microsoft.com/office/drawing/2014/main" id="{84AAD63C-3D51-9E00-DD91-24CC79CB84F4}"/>
                  </a:ext>
                </a:extLst>
              </p:cNvPr>
              <p:cNvSpPr/>
              <p:nvPr/>
            </p:nvSpPr>
            <p:spPr>
              <a:xfrm>
                <a:off x="7601547" y="3369194"/>
                <a:ext cx="366027" cy="366026"/>
              </a:xfrm>
              <a:custGeom>
                <a:avLst/>
                <a:gdLst>
                  <a:gd name="connsiteX0" fmla="*/ 168355 w 537323"/>
                  <a:gd name="connsiteY0" fmla="*/ 0 h 537323"/>
                  <a:gd name="connsiteX1" fmla="*/ 0 w 537323"/>
                  <a:gd name="connsiteY1" fmla="*/ 185968 h 537323"/>
                  <a:gd name="connsiteX2" fmla="*/ 0 w 537323"/>
                  <a:gd name="connsiteY2" fmla="*/ 353777 h 537323"/>
                  <a:gd name="connsiteX3" fmla="*/ 174877 w 537323"/>
                  <a:gd name="connsiteY3" fmla="*/ 537324 h 537323"/>
                  <a:gd name="connsiteX4" fmla="*/ 537324 w 537323"/>
                  <a:gd name="connsiteY4" fmla="*/ 537324 h 537323"/>
                  <a:gd name="connsiteX5" fmla="*/ 537324 w 537323"/>
                  <a:gd name="connsiteY5" fmla="*/ 0 h 537323"/>
                  <a:gd name="connsiteX6" fmla="*/ 168355 w 537323"/>
                  <a:gd name="connsiteY6" fmla="*/ 0 h 537323"/>
                  <a:gd name="connsiteX7" fmla="*/ 200964 w 537323"/>
                  <a:gd name="connsiteY7" fmla="*/ 151680 h 537323"/>
                  <a:gd name="connsiteX8" fmla="*/ 220295 w 537323"/>
                  <a:gd name="connsiteY8" fmla="*/ 171011 h 537323"/>
                  <a:gd name="connsiteX9" fmla="*/ 153633 w 537323"/>
                  <a:gd name="connsiteY9" fmla="*/ 237674 h 537323"/>
                  <a:gd name="connsiteX10" fmla="*/ 134302 w 537323"/>
                  <a:gd name="connsiteY10" fmla="*/ 218343 h 537323"/>
                  <a:gd name="connsiteX11" fmla="*/ 200964 w 537323"/>
                  <a:gd name="connsiteY11" fmla="*/ 151680 h 537323"/>
                  <a:gd name="connsiteX12" fmla="*/ 204870 w 537323"/>
                  <a:gd name="connsiteY12" fmla="*/ 264151 h 537323"/>
                  <a:gd name="connsiteX13" fmla="*/ 204870 w 537323"/>
                  <a:gd name="connsiteY13" fmla="*/ 291488 h 537323"/>
                  <a:gd name="connsiteX14" fmla="*/ 153320 w 537323"/>
                  <a:gd name="connsiteY14" fmla="*/ 291488 h 537323"/>
                  <a:gd name="connsiteX15" fmla="*/ 153320 w 537323"/>
                  <a:gd name="connsiteY15" fmla="*/ 264151 h 537323"/>
                  <a:gd name="connsiteX16" fmla="*/ 204870 w 537323"/>
                  <a:gd name="connsiteY16" fmla="*/ 264151 h 537323"/>
                  <a:gd name="connsiteX17" fmla="*/ 117119 w 537323"/>
                  <a:gd name="connsiteY17" fmla="*/ 308632 h 537323"/>
                  <a:gd name="connsiteX18" fmla="*/ 55494 w 537323"/>
                  <a:gd name="connsiteY18" fmla="*/ 308632 h 537323"/>
                  <a:gd name="connsiteX19" fmla="*/ 55494 w 537323"/>
                  <a:gd name="connsiteY19" fmla="*/ 247007 h 537323"/>
                  <a:gd name="connsiteX20" fmla="*/ 117119 w 537323"/>
                  <a:gd name="connsiteY20" fmla="*/ 247007 h 537323"/>
                  <a:gd name="connsiteX21" fmla="*/ 117119 w 537323"/>
                  <a:gd name="connsiteY21" fmla="*/ 308632 h 537323"/>
                  <a:gd name="connsiteX22" fmla="*/ 134302 w 537323"/>
                  <a:gd name="connsiteY22" fmla="*/ 343506 h 537323"/>
                  <a:gd name="connsiteX23" fmla="*/ 153633 w 537323"/>
                  <a:gd name="connsiteY23" fmla="*/ 324175 h 537323"/>
                  <a:gd name="connsiteX24" fmla="*/ 220295 w 537323"/>
                  <a:gd name="connsiteY24" fmla="*/ 390838 h 537323"/>
                  <a:gd name="connsiteX25" fmla="*/ 200964 w 537323"/>
                  <a:gd name="connsiteY25" fmla="*/ 410169 h 537323"/>
                  <a:gd name="connsiteX26" fmla="*/ 134302 w 537323"/>
                  <a:gd name="connsiteY26" fmla="*/ 343506 h 537323"/>
                  <a:gd name="connsiteX27" fmla="*/ 287231 w 537323"/>
                  <a:gd name="connsiteY27" fmla="*/ 478901 h 537323"/>
                  <a:gd name="connsiteX28" fmla="*/ 225606 w 537323"/>
                  <a:gd name="connsiteY28" fmla="*/ 478901 h 537323"/>
                  <a:gd name="connsiteX29" fmla="*/ 225606 w 537323"/>
                  <a:gd name="connsiteY29" fmla="*/ 417276 h 537323"/>
                  <a:gd name="connsiteX30" fmla="*/ 287231 w 537323"/>
                  <a:gd name="connsiteY30" fmla="*/ 417276 h 537323"/>
                  <a:gd name="connsiteX31" fmla="*/ 287231 w 537323"/>
                  <a:gd name="connsiteY31" fmla="*/ 478901 h 537323"/>
                  <a:gd name="connsiteX32" fmla="*/ 287231 w 537323"/>
                  <a:gd name="connsiteY32" fmla="*/ 308593 h 537323"/>
                  <a:gd name="connsiteX33" fmla="*/ 225606 w 537323"/>
                  <a:gd name="connsiteY33" fmla="*/ 308593 h 537323"/>
                  <a:gd name="connsiteX34" fmla="*/ 225606 w 537323"/>
                  <a:gd name="connsiteY34" fmla="*/ 246968 h 537323"/>
                  <a:gd name="connsiteX35" fmla="*/ 287231 w 537323"/>
                  <a:gd name="connsiteY35" fmla="*/ 246968 h 537323"/>
                  <a:gd name="connsiteX36" fmla="*/ 287231 w 537323"/>
                  <a:gd name="connsiteY36" fmla="*/ 308593 h 537323"/>
                  <a:gd name="connsiteX37" fmla="*/ 287231 w 537323"/>
                  <a:gd name="connsiteY37" fmla="*/ 137192 h 537323"/>
                  <a:gd name="connsiteX38" fmla="*/ 225606 w 537323"/>
                  <a:gd name="connsiteY38" fmla="*/ 137192 h 537323"/>
                  <a:gd name="connsiteX39" fmla="*/ 225606 w 537323"/>
                  <a:gd name="connsiteY39" fmla="*/ 75567 h 537323"/>
                  <a:gd name="connsiteX40" fmla="*/ 287231 w 537323"/>
                  <a:gd name="connsiteY40" fmla="*/ 75567 h 537323"/>
                  <a:gd name="connsiteX41" fmla="*/ 287231 w 537323"/>
                  <a:gd name="connsiteY41" fmla="*/ 137192 h 537323"/>
                  <a:gd name="connsiteX42" fmla="*/ 449143 w 537323"/>
                  <a:gd name="connsiteY42" fmla="*/ 475386 h 537323"/>
                  <a:gd name="connsiteX43" fmla="*/ 449143 w 537323"/>
                  <a:gd name="connsiteY43" fmla="*/ 461796 h 537323"/>
                  <a:gd name="connsiteX44" fmla="*/ 322105 w 537323"/>
                  <a:gd name="connsiteY44" fmla="*/ 461796 h 537323"/>
                  <a:gd name="connsiteX45" fmla="*/ 322105 w 537323"/>
                  <a:gd name="connsiteY45" fmla="*/ 434459 h 537323"/>
                  <a:gd name="connsiteX46" fmla="*/ 449143 w 537323"/>
                  <a:gd name="connsiteY46" fmla="*/ 434459 h 537323"/>
                  <a:gd name="connsiteX47" fmla="*/ 449143 w 537323"/>
                  <a:gd name="connsiteY47" fmla="*/ 420869 h 537323"/>
                  <a:gd name="connsiteX48" fmla="*/ 496358 w 537323"/>
                  <a:gd name="connsiteY48" fmla="*/ 448128 h 537323"/>
                  <a:gd name="connsiteX49" fmla="*/ 449143 w 537323"/>
                  <a:gd name="connsiteY49" fmla="*/ 475386 h 537323"/>
                  <a:gd name="connsiteX50" fmla="*/ 449143 w 537323"/>
                  <a:gd name="connsiteY50" fmla="*/ 305039 h 537323"/>
                  <a:gd name="connsiteX51" fmla="*/ 449143 w 537323"/>
                  <a:gd name="connsiteY51" fmla="*/ 291449 h 537323"/>
                  <a:gd name="connsiteX52" fmla="*/ 322105 w 537323"/>
                  <a:gd name="connsiteY52" fmla="*/ 291449 h 537323"/>
                  <a:gd name="connsiteX53" fmla="*/ 322105 w 537323"/>
                  <a:gd name="connsiteY53" fmla="*/ 264112 h 537323"/>
                  <a:gd name="connsiteX54" fmla="*/ 449143 w 537323"/>
                  <a:gd name="connsiteY54" fmla="*/ 264112 h 537323"/>
                  <a:gd name="connsiteX55" fmla="*/ 449143 w 537323"/>
                  <a:gd name="connsiteY55" fmla="*/ 250522 h 537323"/>
                  <a:gd name="connsiteX56" fmla="*/ 496358 w 537323"/>
                  <a:gd name="connsiteY56" fmla="*/ 277781 h 537323"/>
                  <a:gd name="connsiteX57" fmla="*/ 449143 w 537323"/>
                  <a:gd name="connsiteY57" fmla="*/ 305039 h 537323"/>
                  <a:gd name="connsiteX58" fmla="*/ 449143 w 537323"/>
                  <a:gd name="connsiteY58" fmla="*/ 133638 h 537323"/>
                  <a:gd name="connsiteX59" fmla="*/ 449143 w 537323"/>
                  <a:gd name="connsiteY59" fmla="*/ 120047 h 537323"/>
                  <a:gd name="connsiteX60" fmla="*/ 322105 w 537323"/>
                  <a:gd name="connsiteY60" fmla="*/ 120047 h 537323"/>
                  <a:gd name="connsiteX61" fmla="*/ 322105 w 537323"/>
                  <a:gd name="connsiteY61" fmla="*/ 92711 h 537323"/>
                  <a:gd name="connsiteX62" fmla="*/ 449143 w 537323"/>
                  <a:gd name="connsiteY62" fmla="*/ 92711 h 537323"/>
                  <a:gd name="connsiteX63" fmla="*/ 449143 w 537323"/>
                  <a:gd name="connsiteY63" fmla="*/ 79120 h 537323"/>
                  <a:gd name="connsiteX64" fmla="*/ 496358 w 537323"/>
                  <a:gd name="connsiteY64" fmla="*/ 106379 h 537323"/>
                  <a:gd name="connsiteX65" fmla="*/ 449143 w 537323"/>
                  <a:gd name="connsiteY65" fmla="*/ 133638 h 537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37323" h="537323">
                    <a:moveTo>
                      <a:pt x="168355" y="0"/>
                    </a:moveTo>
                    <a:lnTo>
                      <a:pt x="0" y="185968"/>
                    </a:lnTo>
                    <a:lnTo>
                      <a:pt x="0" y="353777"/>
                    </a:lnTo>
                    <a:lnTo>
                      <a:pt x="174877" y="537324"/>
                    </a:lnTo>
                    <a:lnTo>
                      <a:pt x="537324" y="537324"/>
                    </a:lnTo>
                    <a:lnTo>
                      <a:pt x="537324" y="0"/>
                    </a:lnTo>
                    <a:lnTo>
                      <a:pt x="168355" y="0"/>
                    </a:lnTo>
                    <a:close/>
                    <a:moveTo>
                      <a:pt x="200964" y="151680"/>
                    </a:moveTo>
                    <a:lnTo>
                      <a:pt x="220295" y="171011"/>
                    </a:lnTo>
                    <a:lnTo>
                      <a:pt x="153633" y="237674"/>
                    </a:lnTo>
                    <a:lnTo>
                      <a:pt x="134302" y="218343"/>
                    </a:lnTo>
                    <a:lnTo>
                      <a:pt x="200964" y="151680"/>
                    </a:lnTo>
                    <a:close/>
                    <a:moveTo>
                      <a:pt x="204870" y="264151"/>
                    </a:moveTo>
                    <a:lnTo>
                      <a:pt x="204870" y="291488"/>
                    </a:lnTo>
                    <a:lnTo>
                      <a:pt x="153320" y="291488"/>
                    </a:lnTo>
                    <a:lnTo>
                      <a:pt x="153320" y="264151"/>
                    </a:lnTo>
                    <a:lnTo>
                      <a:pt x="204870" y="264151"/>
                    </a:lnTo>
                    <a:close/>
                    <a:moveTo>
                      <a:pt x="117119" y="308632"/>
                    </a:moveTo>
                    <a:cubicBezTo>
                      <a:pt x="100092" y="325659"/>
                      <a:pt x="72521" y="325659"/>
                      <a:pt x="55494" y="308632"/>
                    </a:cubicBezTo>
                    <a:cubicBezTo>
                      <a:pt x="38467" y="291605"/>
                      <a:pt x="38467" y="264034"/>
                      <a:pt x="55494" y="247007"/>
                    </a:cubicBezTo>
                    <a:cubicBezTo>
                      <a:pt x="72521" y="229980"/>
                      <a:pt x="100092" y="229980"/>
                      <a:pt x="117119" y="247007"/>
                    </a:cubicBezTo>
                    <a:cubicBezTo>
                      <a:pt x="134145" y="264034"/>
                      <a:pt x="134145" y="291605"/>
                      <a:pt x="117119" y="308632"/>
                    </a:cubicBezTo>
                    <a:close/>
                    <a:moveTo>
                      <a:pt x="134302" y="343506"/>
                    </a:moveTo>
                    <a:lnTo>
                      <a:pt x="153633" y="324175"/>
                    </a:lnTo>
                    <a:lnTo>
                      <a:pt x="220295" y="390838"/>
                    </a:lnTo>
                    <a:lnTo>
                      <a:pt x="200964" y="410169"/>
                    </a:lnTo>
                    <a:lnTo>
                      <a:pt x="134302" y="343506"/>
                    </a:lnTo>
                    <a:close/>
                    <a:moveTo>
                      <a:pt x="287231" y="478901"/>
                    </a:moveTo>
                    <a:cubicBezTo>
                      <a:pt x="270204" y="495928"/>
                      <a:pt x="242633" y="495928"/>
                      <a:pt x="225606" y="478901"/>
                    </a:cubicBezTo>
                    <a:cubicBezTo>
                      <a:pt x="208580" y="461874"/>
                      <a:pt x="208580" y="434303"/>
                      <a:pt x="225606" y="417276"/>
                    </a:cubicBezTo>
                    <a:cubicBezTo>
                      <a:pt x="242633" y="400249"/>
                      <a:pt x="270204" y="400249"/>
                      <a:pt x="287231" y="417276"/>
                    </a:cubicBezTo>
                    <a:cubicBezTo>
                      <a:pt x="304258" y="434303"/>
                      <a:pt x="304258" y="461874"/>
                      <a:pt x="287231" y="478901"/>
                    </a:cubicBezTo>
                    <a:close/>
                    <a:moveTo>
                      <a:pt x="287231" y="308593"/>
                    </a:moveTo>
                    <a:cubicBezTo>
                      <a:pt x="270204" y="325620"/>
                      <a:pt x="242633" y="325620"/>
                      <a:pt x="225606" y="308593"/>
                    </a:cubicBezTo>
                    <a:cubicBezTo>
                      <a:pt x="208580" y="291566"/>
                      <a:pt x="208580" y="263995"/>
                      <a:pt x="225606" y="246968"/>
                    </a:cubicBezTo>
                    <a:cubicBezTo>
                      <a:pt x="242633" y="229941"/>
                      <a:pt x="270204" y="229941"/>
                      <a:pt x="287231" y="246968"/>
                    </a:cubicBezTo>
                    <a:cubicBezTo>
                      <a:pt x="304258" y="263995"/>
                      <a:pt x="304258" y="291566"/>
                      <a:pt x="287231" y="308593"/>
                    </a:cubicBezTo>
                    <a:close/>
                    <a:moveTo>
                      <a:pt x="287231" y="137192"/>
                    </a:moveTo>
                    <a:cubicBezTo>
                      <a:pt x="270204" y="154218"/>
                      <a:pt x="242633" y="154218"/>
                      <a:pt x="225606" y="137192"/>
                    </a:cubicBezTo>
                    <a:cubicBezTo>
                      <a:pt x="208580" y="120165"/>
                      <a:pt x="208580" y="92594"/>
                      <a:pt x="225606" y="75567"/>
                    </a:cubicBezTo>
                    <a:cubicBezTo>
                      <a:pt x="242633" y="58540"/>
                      <a:pt x="270204" y="58540"/>
                      <a:pt x="287231" y="75567"/>
                    </a:cubicBezTo>
                    <a:cubicBezTo>
                      <a:pt x="304258" y="92594"/>
                      <a:pt x="304258" y="120165"/>
                      <a:pt x="287231" y="137192"/>
                    </a:cubicBezTo>
                    <a:close/>
                    <a:moveTo>
                      <a:pt x="449143" y="475386"/>
                    </a:moveTo>
                    <a:lnTo>
                      <a:pt x="449143" y="461796"/>
                    </a:lnTo>
                    <a:lnTo>
                      <a:pt x="322105" y="461796"/>
                    </a:lnTo>
                    <a:lnTo>
                      <a:pt x="322105" y="434459"/>
                    </a:lnTo>
                    <a:lnTo>
                      <a:pt x="449143" y="434459"/>
                    </a:lnTo>
                    <a:lnTo>
                      <a:pt x="449143" y="420869"/>
                    </a:lnTo>
                    <a:lnTo>
                      <a:pt x="496358" y="448128"/>
                    </a:lnTo>
                    <a:lnTo>
                      <a:pt x="449143" y="475386"/>
                    </a:lnTo>
                    <a:close/>
                    <a:moveTo>
                      <a:pt x="449143" y="305039"/>
                    </a:moveTo>
                    <a:lnTo>
                      <a:pt x="449143" y="291449"/>
                    </a:lnTo>
                    <a:lnTo>
                      <a:pt x="322105" y="291449"/>
                    </a:lnTo>
                    <a:lnTo>
                      <a:pt x="322105" y="264112"/>
                    </a:lnTo>
                    <a:lnTo>
                      <a:pt x="449143" y="264112"/>
                    </a:lnTo>
                    <a:lnTo>
                      <a:pt x="449143" y="250522"/>
                    </a:lnTo>
                    <a:lnTo>
                      <a:pt x="496358" y="277781"/>
                    </a:lnTo>
                    <a:lnTo>
                      <a:pt x="449143" y="305039"/>
                    </a:lnTo>
                    <a:close/>
                    <a:moveTo>
                      <a:pt x="449143" y="133638"/>
                    </a:moveTo>
                    <a:lnTo>
                      <a:pt x="449143" y="120047"/>
                    </a:lnTo>
                    <a:lnTo>
                      <a:pt x="322105" y="120047"/>
                    </a:lnTo>
                    <a:lnTo>
                      <a:pt x="322105" y="92711"/>
                    </a:lnTo>
                    <a:lnTo>
                      <a:pt x="449143" y="92711"/>
                    </a:lnTo>
                    <a:lnTo>
                      <a:pt x="449143" y="79120"/>
                    </a:lnTo>
                    <a:lnTo>
                      <a:pt x="496358" y="106379"/>
                    </a:lnTo>
                    <a:lnTo>
                      <a:pt x="449143" y="133638"/>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84" name="Group 83">
              <a:extLst>
                <a:ext uri="{FF2B5EF4-FFF2-40B4-BE49-F238E27FC236}">
                  <a16:creationId xmlns:a16="http://schemas.microsoft.com/office/drawing/2014/main" id="{FE6F47D0-9CC8-1A9B-24FC-5AABA7DA28EA}"/>
                </a:ext>
              </a:extLst>
            </p:cNvPr>
            <p:cNvGrpSpPr>
              <a:grpSpLocks noChangeAspect="1"/>
            </p:cNvGrpSpPr>
            <p:nvPr/>
          </p:nvGrpSpPr>
          <p:grpSpPr>
            <a:xfrm>
              <a:off x="1743062" y="1951839"/>
              <a:ext cx="457202" cy="457200"/>
              <a:chOff x="6236527" y="4282407"/>
              <a:chExt cx="615026" cy="615024"/>
            </a:xfrm>
          </p:grpSpPr>
          <p:sp>
            <p:nvSpPr>
              <p:cNvPr id="122" name="Oval 121">
                <a:extLst>
                  <a:ext uri="{FF2B5EF4-FFF2-40B4-BE49-F238E27FC236}">
                    <a16:creationId xmlns:a16="http://schemas.microsoft.com/office/drawing/2014/main" id="{D55D4683-6BA1-B246-B33B-AE6FBD86863D}"/>
                  </a:ext>
                </a:extLst>
              </p:cNvPr>
              <p:cNvSpPr>
                <a:spLocks noChangeAspect="1"/>
              </p:cNvSpPr>
              <p:nvPr/>
            </p:nvSpPr>
            <p:spPr>
              <a:xfrm>
                <a:off x="6236527" y="4282407"/>
                <a:ext cx="615026" cy="615024"/>
              </a:xfrm>
              <a:prstGeom prst="ellipse">
                <a:avLst/>
              </a:pr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nvGrpSpPr>
              <p:cNvPr id="123" name="Group 122">
                <a:extLst>
                  <a:ext uri="{FF2B5EF4-FFF2-40B4-BE49-F238E27FC236}">
                    <a16:creationId xmlns:a16="http://schemas.microsoft.com/office/drawing/2014/main" id="{E338B9BC-8144-8B98-ECF2-DCA11FC0C8E9}"/>
                  </a:ext>
                </a:extLst>
              </p:cNvPr>
              <p:cNvGrpSpPr/>
              <p:nvPr/>
            </p:nvGrpSpPr>
            <p:grpSpPr>
              <a:xfrm>
                <a:off x="6341349" y="4462363"/>
                <a:ext cx="395473" cy="299841"/>
                <a:chOff x="3560655" y="2748581"/>
                <a:chExt cx="580548" cy="440165"/>
              </a:xfrm>
            </p:grpSpPr>
            <p:sp>
              <p:nvSpPr>
                <p:cNvPr id="126" name="Freeform: Shape 155">
                  <a:extLst>
                    <a:ext uri="{FF2B5EF4-FFF2-40B4-BE49-F238E27FC236}">
                      <a16:creationId xmlns:a16="http://schemas.microsoft.com/office/drawing/2014/main" id="{003D66BC-E212-14E9-D3BE-62BE1C3B89CF}"/>
                    </a:ext>
                  </a:extLst>
                </p:cNvPr>
                <p:cNvSpPr/>
                <p:nvPr/>
              </p:nvSpPr>
              <p:spPr>
                <a:xfrm>
                  <a:off x="3560655" y="2748581"/>
                  <a:ext cx="580548" cy="336411"/>
                </a:xfrm>
                <a:custGeom>
                  <a:avLst/>
                  <a:gdLst>
                    <a:gd name="connsiteX0" fmla="*/ 284140 w 580548"/>
                    <a:gd name="connsiteY0" fmla="*/ 305741 h 336411"/>
                    <a:gd name="connsiteX1" fmla="*/ 134381 w 580548"/>
                    <a:gd name="connsiteY1" fmla="*/ 305741 h 336411"/>
                    <a:gd name="connsiteX2" fmla="*/ 134381 w 580548"/>
                    <a:gd name="connsiteY2" fmla="*/ 234498 h 336411"/>
                    <a:gd name="connsiteX3" fmla="*/ 290450 w 580548"/>
                    <a:gd name="connsiteY3" fmla="*/ 234498 h 336411"/>
                    <a:gd name="connsiteX4" fmla="*/ 290450 w 580548"/>
                    <a:gd name="connsiteY4" fmla="*/ 292597 h 336411"/>
                    <a:gd name="connsiteX5" fmla="*/ 316739 w 580548"/>
                    <a:gd name="connsiteY5" fmla="*/ 238660 h 336411"/>
                    <a:gd name="connsiteX6" fmla="*/ 316739 w 580548"/>
                    <a:gd name="connsiteY6" fmla="*/ 234498 h 336411"/>
                    <a:gd name="connsiteX7" fmla="*/ 318754 w 580548"/>
                    <a:gd name="connsiteY7" fmla="*/ 234498 h 336411"/>
                    <a:gd name="connsiteX8" fmla="*/ 333695 w 580548"/>
                    <a:gd name="connsiteY8" fmla="*/ 203827 h 336411"/>
                    <a:gd name="connsiteX9" fmla="*/ 258421 w 580548"/>
                    <a:gd name="connsiteY9" fmla="*/ 203827 h 336411"/>
                    <a:gd name="connsiteX10" fmla="*/ 258421 w 580548"/>
                    <a:gd name="connsiteY10" fmla="*/ 132584 h 336411"/>
                    <a:gd name="connsiteX11" fmla="*/ 414490 w 580548"/>
                    <a:gd name="connsiteY11" fmla="*/ 132584 h 336411"/>
                    <a:gd name="connsiteX12" fmla="*/ 414490 w 580548"/>
                    <a:gd name="connsiteY12" fmla="*/ 192479 h 336411"/>
                    <a:gd name="connsiteX13" fmla="*/ 440779 w 580548"/>
                    <a:gd name="connsiteY13" fmla="*/ 137973 h 336411"/>
                    <a:gd name="connsiteX14" fmla="*/ 440779 w 580548"/>
                    <a:gd name="connsiteY14" fmla="*/ 132584 h 336411"/>
                    <a:gd name="connsiteX15" fmla="*/ 443364 w 580548"/>
                    <a:gd name="connsiteY15" fmla="*/ 132584 h 336411"/>
                    <a:gd name="connsiteX16" fmla="*/ 458173 w 580548"/>
                    <a:gd name="connsiteY16" fmla="*/ 101914 h 336411"/>
                    <a:gd name="connsiteX17" fmla="*/ 351528 w 580548"/>
                    <a:gd name="connsiteY17" fmla="*/ 101914 h 336411"/>
                    <a:gd name="connsiteX18" fmla="*/ 351528 w 580548"/>
                    <a:gd name="connsiteY18" fmla="*/ 30671 h 336411"/>
                    <a:gd name="connsiteX19" fmla="*/ 507597 w 580548"/>
                    <a:gd name="connsiteY19" fmla="*/ 30671 h 336411"/>
                    <a:gd name="connsiteX20" fmla="*/ 507597 w 580548"/>
                    <a:gd name="connsiteY20" fmla="*/ 101914 h 336411"/>
                    <a:gd name="connsiteX21" fmla="*/ 496643 w 580548"/>
                    <a:gd name="connsiteY21" fmla="*/ 101914 h 336411"/>
                    <a:gd name="connsiteX22" fmla="*/ 506063 w 580548"/>
                    <a:gd name="connsiteY22" fmla="*/ 121324 h 336411"/>
                    <a:gd name="connsiteX23" fmla="*/ 511540 w 580548"/>
                    <a:gd name="connsiteY23" fmla="*/ 132584 h 336411"/>
                    <a:gd name="connsiteX24" fmla="*/ 549834 w 580548"/>
                    <a:gd name="connsiteY24" fmla="*/ 132584 h 336411"/>
                    <a:gd name="connsiteX25" fmla="*/ 549834 w 580548"/>
                    <a:gd name="connsiteY25" fmla="*/ 203827 h 336411"/>
                    <a:gd name="connsiteX26" fmla="*/ 546154 w 580548"/>
                    <a:gd name="connsiteY26" fmla="*/ 203827 h 336411"/>
                    <a:gd name="connsiteX27" fmla="*/ 574984 w 580548"/>
                    <a:gd name="connsiteY27" fmla="*/ 262759 h 336411"/>
                    <a:gd name="connsiteX28" fmla="*/ 580549 w 580548"/>
                    <a:gd name="connsiteY28" fmla="*/ 274326 h 336411"/>
                    <a:gd name="connsiteX29" fmla="*/ 580549 w 580548"/>
                    <a:gd name="connsiteY29" fmla="*/ 0 h 336411"/>
                    <a:gd name="connsiteX30" fmla="*/ 0 w 580548"/>
                    <a:gd name="connsiteY30" fmla="*/ 0 h 336411"/>
                    <a:gd name="connsiteX31" fmla="*/ 0 w 580548"/>
                    <a:gd name="connsiteY31" fmla="*/ 336412 h 336411"/>
                    <a:gd name="connsiteX32" fmla="*/ 275509 w 580548"/>
                    <a:gd name="connsiteY32" fmla="*/ 336412 h 336411"/>
                    <a:gd name="connsiteX33" fmla="*/ 284140 w 580548"/>
                    <a:gd name="connsiteY33" fmla="*/ 305741 h 336411"/>
                    <a:gd name="connsiteX34" fmla="*/ 533886 w 580548"/>
                    <a:gd name="connsiteY34" fmla="*/ 30671 h 336411"/>
                    <a:gd name="connsiteX35" fmla="*/ 549834 w 580548"/>
                    <a:gd name="connsiteY35" fmla="*/ 30671 h 336411"/>
                    <a:gd name="connsiteX36" fmla="*/ 549834 w 580548"/>
                    <a:gd name="connsiteY36" fmla="*/ 101914 h 336411"/>
                    <a:gd name="connsiteX37" fmla="*/ 533886 w 580548"/>
                    <a:gd name="connsiteY37" fmla="*/ 101914 h 336411"/>
                    <a:gd name="connsiteX38" fmla="*/ 533886 w 580548"/>
                    <a:gd name="connsiteY38" fmla="*/ 30671 h 336411"/>
                    <a:gd name="connsiteX39" fmla="*/ 232132 w 580548"/>
                    <a:gd name="connsiteY39" fmla="*/ 203827 h 336411"/>
                    <a:gd name="connsiteX40" fmla="*/ 76063 w 580548"/>
                    <a:gd name="connsiteY40" fmla="*/ 203827 h 336411"/>
                    <a:gd name="connsiteX41" fmla="*/ 76063 w 580548"/>
                    <a:gd name="connsiteY41" fmla="*/ 132584 h 336411"/>
                    <a:gd name="connsiteX42" fmla="*/ 232132 w 580548"/>
                    <a:gd name="connsiteY42" fmla="*/ 132584 h 336411"/>
                    <a:gd name="connsiteX43" fmla="*/ 232132 w 580548"/>
                    <a:gd name="connsiteY43" fmla="*/ 203827 h 336411"/>
                    <a:gd name="connsiteX44" fmla="*/ 169170 w 580548"/>
                    <a:gd name="connsiteY44" fmla="*/ 30671 h 336411"/>
                    <a:gd name="connsiteX45" fmla="*/ 325239 w 580548"/>
                    <a:gd name="connsiteY45" fmla="*/ 30671 h 336411"/>
                    <a:gd name="connsiteX46" fmla="*/ 325239 w 580548"/>
                    <a:gd name="connsiteY46" fmla="*/ 101914 h 336411"/>
                    <a:gd name="connsiteX47" fmla="*/ 169170 w 580548"/>
                    <a:gd name="connsiteY47" fmla="*/ 101914 h 336411"/>
                    <a:gd name="connsiteX48" fmla="*/ 169170 w 580548"/>
                    <a:gd name="connsiteY48" fmla="*/ 30671 h 336411"/>
                    <a:gd name="connsiteX49" fmla="*/ 30671 w 580548"/>
                    <a:gd name="connsiteY49" fmla="*/ 30671 h 336411"/>
                    <a:gd name="connsiteX50" fmla="*/ 142881 w 580548"/>
                    <a:gd name="connsiteY50" fmla="*/ 30671 h 336411"/>
                    <a:gd name="connsiteX51" fmla="*/ 142881 w 580548"/>
                    <a:gd name="connsiteY51" fmla="*/ 101914 h 336411"/>
                    <a:gd name="connsiteX52" fmla="*/ 30671 w 580548"/>
                    <a:gd name="connsiteY52" fmla="*/ 101914 h 336411"/>
                    <a:gd name="connsiteX53" fmla="*/ 30671 w 580548"/>
                    <a:gd name="connsiteY53" fmla="*/ 30671 h 336411"/>
                    <a:gd name="connsiteX54" fmla="*/ 30671 w 580548"/>
                    <a:gd name="connsiteY54" fmla="*/ 132584 h 336411"/>
                    <a:gd name="connsiteX55" fmla="*/ 49774 w 580548"/>
                    <a:gd name="connsiteY55" fmla="*/ 132584 h 336411"/>
                    <a:gd name="connsiteX56" fmla="*/ 49774 w 580548"/>
                    <a:gd name="connsiteY56" fmla="*/ 203827 h 336411"/>
                    <a:gd name="connsiteX57" fmla="*/ 30671 w 580548"/>
                    <a:gd name="connsiteY57" fmla="*/ 203827 h 336411"/>
                    <a:gd name="connsiteX58" fmla="*/ 30671 w 580548"/>
                    <a:gd name="connsiteY58" fmla="*/ 132584 h 336411"/>
                    <a:gd name="connsiteX59" fmla="*/ 108092 w 580548"/>
                    <a:gd name="connsiteY59" fmla="*/ 305741 h 336411"/>
                    <a:gd name="connsiteX60" fmla="*/ 30671 w 580548"/>
                    <a:gd name="connsiteY60" fmla="*/ 305741 h 336411"/>
                    <a:gd name="connsiteX61" fmla="*/ 30671 w 580548"/>
                    <a:gd name="connsiteY61" fmla="*/ 234498 h 336411"/>
                    <a:gd name="connsiteX62" fmla="*/ 108092 w 580548"/>
                    <a:gd name="connsiteY62" fmla="*/ 234498 h 336411"/>
                    <a:gd name="connsiteX63" fmla="*/ 108092 w 580548"/>
                    <a:gd name="connsiteY63" fmla="*/ 305741 h 33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80548" h="336411">
                      <a:moveTo>
                        <a:pt x="284140" y="305741"/>
                      </a:moveTo>
                      <a:lnTo>
                        <a:pt x="134381" y="305741"/>
                      </a:lnTo>
                      <a:lnTo>
                        <a:pt x="134381" y="234498"/>
                      </a:lnTo>
                      <a:lnTo>
                        <a:pt x="290450" y="234498"/>
                      </a:lnTo>
                      <a:lnTo>
                        <a:pt x="290450" y="292597"/>
                      </a:lnTo>
                      <a:cubicBezTo>
                        <a:pt x="295445" y="282432"/>
                        <a:pt x="305829" y="261094"/>
                        <a:pt x="316739" y="238660"/>
                      </a:cubicBezTo>
                      <a:lnTo>
                        <a:pt x="316739" y="234498"/>
                      </a:lnTo>
                      <a:lnTo>
                        <a:pt x="318754" y="234498"/>
                      </a:lnTo>
                      <a:cubicBezTo>
                        <a:pt x="323837" y="224026"/>
                        <a:pt x="329007" y="213467"/>
                        <a:pt x="333695" y="203827"/>
                      </a:cubicBezTo>
                      <a:lnTo>
                        <a:pt x="258421" y="203827"/>
                      </a:lnTo>
                      <a:lnTo>
                        <a:pt x="258421" y="132584"/>
                      </a:lnTo>
                      <a:lnTo>
                        <a:pt x="414490" y="132584"/>
                      </a:lnTo>
                      <a:lnTo>
                        <a:pt x="414490" y="192479"/>
                      </a:lnTo>
                      <a:lnTo>
                        <a:pt x="440779" y="137973"/>
                      </a:lnTo>
                      <a:lnTo>
                        <a:pt x="440779" y="132584"/>
                      </a:lnTo>
                      <a:lnTo>
                        <a:pt x="443364" y="132584"/>
                      </a:lnTo>
                      <a:lnTo>
                        <a:pt x="458173" y="101914"/>
                      </a:lnTo>
                      <a:lnTo>
                        <a:pt x="351528" y="101914"/>
                      </a:lnTo>
                      <a:lnTo>
                        <a:pt x="351528" y="30671"/>
                      </a:lnTo>
                      <a:lnTo>
                        <a:pt x="507597" y="30671"/>
                      </a:lnTo>
                      <a:lnTo>
                        <a:pt x="507597" y="101914"/>
                      </a:lnTo>
                      <a:lnTo>
                        <a:pt x="496643" y="101914"/>
                      </a:lnTo>
                      <a:lnTo>
                        <a:pt x="506063" y="121324"/>
                      </a:lnTo>
                      <a:cubicBezTo>
                        <a:pt x="507728" y="124785"/>
                        <a:pt x="509568" y="128597"/>
                        <a:pt x="511540" y="132584"/>
                      </a:cubicBezTo>
                      <a:lnTo>
                        <a:pt x="549834" y="132584"/>
                      </a:lnTo>
                      <a:lnTo>
                        <a:pt x="549834" y="203827"/>
                      </a:lnTo>
                      <a:lnTo>
                        <a:pt x="546154" y="203827"/>
                      </a:lnTo>
                      <a:cubicBezTo>
                        <a:pt x="559079" y="230379"/>
                        <a:pt x="570559" y="253908"/>
                        <a:pt x="574984" y="262759"/>
                      </a:cubicBezTo>
                      <a:cubicBezTo>
                        <a:pt x="577044" y="266527"/>
                        <a:pt x="578840" y="270382"/>
                        <a:pt x="580549" y="274326"/>
                      </a:cubicBezTo>
                      <a:lnTo>
                        <a:pt x="580549" y="0"/>
                      </a:lnTo>
                      <a:lnTo>
                        <a:pt x="0" y="0"/>
                      </a:lnTo>
                      <a:lnTo>
                        <a:pt x="0" y="336412"/>
                      </a:lnTo>
                      <a:lnTo>
                        <a:pt x="275509" y="336412"/>
                      </a:lnTo>
                      <a:cubicBezTo>
                        <a:pt x="277042" y="325852"/>
                        <a:pt x="279978" y="315512"/>
                        <a:pt x="284140" y="305741"/>
                      </a:cubicBezTo>
                      <a:close/>
                      <a:moveTo>
                        <a:pt x="533886" y="30671"/>
                      </a:moveTo>
                      <a:lnTo>
                        <a:pt x="549834" y="30671"/>
                      </a:lnTo>
                      <a:lnTo>
                        <a:pt x="549834" y="101914"/>
                      </a:lnTo>
                      <a:lnTo>
                        <a:pt x="533886" y="101914"/>
                      </a:lnTo>
                      <a:lnTo>
                        <a:pt x="533886" y="30671"/>
                      </a:lnTo>
                      <a:close/>
                      <a:moveTo>
                        <a:pt x="232132" y="203827"/>
                      </a:moveTo>
                      <a:lnTo>
                        <a:pt x="76063" y="203827"/>
                      </a:lnTo>
                      <a:lnTo>
                        <a:pt x="76063" y="132584"/>
                      </a:lnTo>
                      <a:lnTo>
                        <a:pt x="232132" y="132584"/>
                      </a:lnTo>
                      <a:lnTo>
                        <a:pt x="232132" y="203827"/>
                      </a:lnTo>
                      <a:close/>
                      <a:moveTo>
                        <a:pt x="169170" y="30671"/>
                      </a:moveTo>
                      <a:lnTo>
                        <a:pt x="325239" y="30671"/>
                      </a:lnTo>
                      <a:lnTo>
                        <a:pt x="325239" y="101914"/>
                      </a:lnTo>
                      <a:lnTo>
                        <a:pt x="169170" y="101914"/>
                      </a:lnTo>
                      <a:lnTo>
                        <a:pt x="169170" y="30671"/>
                      </a:lnTo>
                      <a:close/>
                      <a:moveTo>
                        <a:pt x="30671" y="30671"/>
                      </a:moveTo>
                      <a:lnTo>
                        <a:pt x="142881" y="30671"/>
                      </a:lnTo>
                      <a:lnTo>
                        <a:pt x="142881" y="101914"/>
                      </a:lnTo>
                      <a:lnTo>
                        <a:pt x="30671" y="101914"/>
                      </a:lnTo>
                      <a:lnTo>
                        <a:pt x="30671" y="30671"/>
                      </a:lnTo>
                      <a:close/>
                      <a:moveTo>
                        <a:pt x="30671" y="132584"/>
                      </a:moveTo>
                      <a:lnTo>
                        <a:pt x="49774" y="132584"/>
                      </a:lnTo>
                      <a:lnTo>
                        <a:pt x="49774" y="203827"/>
                      </a:lnTo>
                      <a:lnTo>
                        <a:pt x="30671" y="203827"/>
                      </a:lnTo>
                      <a:lnTo>
                        <a:pt x="30671" y="132584"/>
                      </a:lnTo>
                      <a:close/>
                      <a:moveTo>
                        <a:pt x="108092" y="305741"/>
                      </a:moveTo>
                      <a:lnTo>
                        <a:pt x="30671" y="305741"/>
                      </a:lnTo>
                      <a:lnTo>
                        <a:pt x="30671" y="234498"/>
                      </a:lnTo>
                      <a:lnTo>
                        <a:pt x="108092" y="234498"/>
                      </a:lnTo>
                      <a:lnTo>
                        <a:pt x="108092" y="305741"/>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7" name="Freeform: Shape 156">
                  <a:extLst>
                    <a:ext uri="{FF2B5EF4-FFF2-40B4-BE49-F238E27FC236}">
                      <a16:creationId xmlns:a16="http://schemas.microsoft.com/office/drawing/2014/main" id="{37F8E34A-B7B2-0D9F-A7E3-485AA394BD44}"/>
                    </a:ext>
                  </a:extLst>
                </p:cNvPr>
                <p:cNvSpPr/>
                <p:nvPr/>
              </p:nvSpPr>
              <p:spPr>
                <a:xfrm>
                  <a:off x="3866603" y="2883794"/>
                  <a:ext cx="254911" cy="304952"/>
                </a:xfrm>
                <a:custGeom>
                  <a:avLst/>
                  <a:gdLst>
                    <a:gd name="connsiteX0" fmla="*/ 240819 w 254911"/>
                    <a:gd name="connsiteY0" fmla="*/ 142311 h 304952"/>
                    <a:gd name="connsiteX1" fmla="*/ 171504 w 254911"/>
                    <a:gd name="connsiteY1" fmla="*/ 0 h 304952"/>
                    <a:gd name="connsiteX2" fmla="*/ 113274 w 254911"/>
                    <a:gd name="connsiteY2" fmla="*/ 120710 h 304952"/>
                    <a:gd name="connsiteX3" fmla="*/ 104730 w 254911"/>
                    <a:gd name="connsiteY3" fmla="*/ 126450 h 304952"/>
                    <a:gd name="connsiteX4" fmla="*/ 96186 w 254911"/>
                    <a:gd name="connsiteY4" fmla="*/ 120710 h 304952"/>
                    <a:gd name="connsiteX5" fmla="*/ 66786 w 254911"/>
                    <a:gd name="connsiteY5" fmla="*/ 61078 h 304952"/>
                    <a:gd name="connsiteX6" fmla="*/ 11404 w 254911"/>
                    <a:gd name="connsiteY6" fmla="*/ 174822 h 304952"/>
                    <a:gd name="connsiteX7" fmla="*/ 12 w 254911"/>
                    <a:gd name="connsiteY7" fmla="*/ 221485 h 304952"/>
                    <a:gd name="connsiteX8" fmla="*/ 66392 w 254911"/>
                    <a:gd name="connsiteY8" fmla="*/ 304952 h 304952"/>
                    <a:gd name="connsiteX9" fmla="*/ 102802 w 254911"/>
                    <a:gd name="connsiteY9" fmla="*/ 304952 h 304952"/>
                    <a:gd name="connsiteX10" fmla="*/ 75549 w 254911"/>
                    <a:gd name="connsiteY10" fmla="*/ 196116 h 304952"/>
                    <a:gd name="connsiteX11" fmla="*/ 115070 w 254911"/>
                    <a:gd name="connsiteY11" fmla="*/ 225341 h 304952"/>
                    <a:gd name="connsiteX12" fmla="*/ 169007 w 254911"/>
                    <a:gd name="connsiteY12" fmla="*/ 140953 h 304952"/>
                    <a:gd name="connsiteX13" fmla="*/ 169007 w 254911"/>
                    <a:gd name="connsiteY13" fmla="*/ 139200 h 304952"/>
                    <a:gd name="connsiteX14" fmla="*/ 164581 w 254911"/>
                    <a:gd name="connsiteY14" fmla="*/ 304952 h 304952"/>
                    <a:gd name="connsiteX15" fmla="*/ 171373 w 254911"/>
                    <a:gd name="connsiteY15" fmla="*/ 304952 h 304952"/>
                    <a:gd name="connsiteX16" fmla="*/ 254884 w 254911"/>
                    <a:gd name="connsiteY16" fmla="*/ 200848 h 304952"/>
                    <a:gd name="connsiteX17" fmla="*/ 240776 w 254911"/>
                    <a:gd name="connsiteY17" fmla="*/ 142355 h 304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4911" h="304952">
                      <a:moveTo>
                        <a:pt x="240819" y="142311"/>
                      </a:moveTo>
                      <a:cubicBezTo>
                        <a:pt x="231794" y="124259"/>
                        <a:pt x="189731" y="37637"/>
                        <a:pt x="171504" y="0"/>
                      </a:cubicBezTo>
                      <a:lnTo>
                        <a:pt x="113274" y="120710"/>
                      </a:lnTo>
                      <a:cubicBezTo>
                        <a:pt x="111521" y="124259"/>
                        <a:pt x="108279" y="126450"/>
                        <a:pt x="104730" y="126450"/>
                      </a:cubicBezTo>
                      <a:cubicBezTo>
                        <a:pt x="101181" y="126450"/>
                        <a:pt x="97939" y="124259"/>
                        <a:pt x="96186" y="120710"/>
                      </a:cubicBezTo>
                      <a:lnTo>
                        <a:pt x="66786" y="61078"/>
                      </a:lnTo>
                      <a:cubicBezTo>
                        <a:pt x="51101" y="93370"/>
                        <a:pt x="18546" y="160231"/>
                        <a:pt x="11404" y="174822"/>
                      </a:cubicBezTo>
                      <a:cubicBezTo>
                        <a:pt x="3736" y="188755"/>
                        <a:pt x="-251" y="204967"/>
                        <a:pt x="12" y="221485"/>
                      </a:cubicBezTo>
                      <a:cubicBezTo>
                        <a:pt x="12" y="267228"/>
                        <a:pt x="30683" y="304952"/>
                        <a:pt x="66392" y="304952"/>
                      </a:cubicBezTo>
                      <a:lnTo>
                        <a:pt x="102802" y="304952"/>
                      </a:lnTo>
                      <a:cubicBezTo>
                        <a:pt x="62142" y="268060"/>
                        <a:pt x="66567" y="213072"/>
                        <a:pt x="75549" y="196116"/>
                      </a:cubicBezTo>
                      <a:cubicBezTo>
                        <a:pt x="75549" y="196116"/>
                        <a:pt x="95704" y="224990"/>
                        <a:pt x="115070" y="225341"/>
                      </a:cubicBezTo>
                      <a:cubicBezTo>
                        <a:pt x="142367" y="225823"/>
                        <a:pt x="156213" y="197869"/>
                        <a:pt x="169007" y="140953"/>
                      </a:cubicBezTo>
                      <a:lnTo>
                        <a:pt x="169007" y="139200"/>
                      </a:lnTo>
                      <a:cubicBezTo>
                        <a:pt x="193061" y="157471"/>
                        <a:pt x="220139" y="242297"/>
                        <a:pt x="164581" y="304952"/>
                      </a:cubicBezTo>
                      <a:lnTo>
                        <a:pt x="171373" y="304952"/>
                      </a:lnTo>
                      <a:cubicBezTo>
                        <a:pt x="217466" y="304952"/>
                        <a:pt x="254884" y="258289"/>
                        <a:pt x="254884" y="200848"/>
                      </a:cubicBezTo>
                      <a:cubicBezTo>
                        <a:pt x="255322" y="180167"/>
                        <a:pt x="250415" y="159793"/>
                        <a:pt x="240776" y="142355"/>
                      </a:cubicBez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grpSp>
          <p:nvGrpSpPr>
            <p:cNvPr id="85" name="Group 84">
              <a:extLst>
                <a:ext uri="{FF2B5EF4-FFF2-40B4-BE49-F238E27FC236}">
                  <a16:creationId xmlns:a16="http://schemas.microsoft.com/office/drawing/2014/main" id="{3AFF7250-F69C-81B8-29D7-069D16A7066F}"/>
                </a:ext>
              </a:extLst>
            </p:cNvPr>
            <p:cNvGrpSpPr>
              <a:grpSpLocks noChangeAspect="1"/>
            </p:cNvGrpSpPr>
            <p:nvPr/>
          </p:nvGrpSpPr>
          <p:grpSpPr>
            <a:xfrm>
              <a:off x="4155074" y="1951839"/>
              <a:ext cx="457202" cy="457200"/>
              <a:chOff x="4686723" y="1587682"/>
              <a:chExt cx="547621" cy="547619"/>
            </a:xfrm>
          </p:grpSpPr>
          <p:sp>
            <p:nvSpPr>
              <p:cNvPr id="120" name="Oval 119">
                <a:extLst>
                  <a:ext uri="{FF2B5EF4-FFF2-40B4-BE49-F238E27FC236}">
                    <a16:creationId xmlns:a16="http://schemas.microsoft.com/office/drawing/2014/main" id="{D8325BBA-2EF2-7473-2042-DB6B0E197031}"/>
                  </a:ext>
                </a:extLst>
              </p:cNvPr>
              <p:cNvSpPr>
                <a:spLocks noChangeAspect="1"/>
              </p:cNvSpPr>
              <p:nvPr/>
            </p:nvSpPr>
            <p:spPr>
              <a:xfrm>
                <a:off x="4686723" y="1587682"/>
                <a:ext cx="547621" cy="547619"/>
              </a:xfrm>
              <a:prstGeom prst="ellipse">
                <a:avLst/>
              </a:pr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21" name="Google Shape;3149;p83">
                <a:extLst>
                  <a:ext uri="{FF2B5EF4-FFF2-40B4-BE49-F238E27FC236}">
                    <a16:creationId xmlns:a16="http://schemas.microsoft.com/office/drawing/2014/main" id="{E0CA7EBE-E278-6EBE-847D-F8F61F8778E3}"/>
                  </a:ext>
                </a:extLst>
              </p:cNvPr>
              <p:cNvSpPr>
                <a:spLocks noChangeAspect="1"/>
              </p:cNvSpPr>
              <p:nvPr/>
            </p:nvSpPr>
            <p:spPr>
              <a:xfrm>
                <a:off x="4775072" y="1678710"/>
                <a:ext cx="365562" cy="365562"/>
              </a:xfrm>
              <a:custGeom>
                <a:avLst/>
                <a:gdLst/>
                <a:ahLst/>
                <a:cxnLst/>
                <a:rect l="l" t="t" r="r" b="b"/>
                <a:pathLst>
                  <a:path w="584492" h="584492" extrusionOk="0">
                    <a:moveTo>
                      <a:pt x="292246" y="0"/>
                    </a:moveTo>
                    <a:cubicBezTo>
                      <a:pt x="130832" y="0"/>
                      <a:pt x="0" y="130832"/>
                      <a:pt x="0" y="292246"/>
                    </a:cubicBezTo>
                    <a:cubicBezTo>
                      <a:pt x="0" y="453661"/>
                      <a:pt x="130832" y="584492"/>
                      <a:pt x="292246" y="584492"/>
                    </a:cubicBezTo>
                    <a:cubicBezTo>
                      <a:pt x="453661" y="584492"/>
                      <a:pt x="584492" y="453661"/>
                      <a:pt x="584492" y="292246"/>
                    </a:cubicBezTo>
                    <a:cubicBezTo>
                      <a:pt x="584492" y="130832"/>
                      <a:pt x="453617" y="0"/>
                      <a:pt x="292246" y="0"/>
                    </a:cubicBezTo>
                    <a:close/>
                    <a:moveTo>
                      <a:pt x="172982" y="333520"/>
                    </a:moveTo>
                    <a:lnTo>
                      <a:pt x="172982" y="307581"/>
                    </a:lnTo>
                    <a:lnTo>
                      <a:pt x="59895" y="307581"/>
                    </a:lnTo>
                    <a:lnTo>
                      <a:pt x="59895" y="276911"/>
                    </a:lnTo>
                    <a:lnTo>
                      <a:pt x="172982" y="276911"/>
                    </a:lnTo>
                    <a:lnTo>
                      <a:pt x="172982" y="250972"/>
                    </a:lnTo>
                    <a:lnTo>
                      <a:pt x="244488" y="292246"/>
                    </a:lnTo>
                    <a:lnTo>
                      <a:pt x="172982" y="333520"/>
                    </a:lnTo>
                    <a:close/>
                    <a:moveTo>
                      <a:pt x="292246" y="519646"/>
                    </a:moveTo>
                    <a:lnTo>
                      <a:pt x="250972" y="448140"/>
                    </a:lnTo>
                    <a:lnTo>
                      <a:pt x="276911" y="448140"/>
                    </a:lnTo>
                    <a:lnTo>
                      <a:pt x="276911" y="335053"/>
                    </a:lnTo>
                    <a:lnTo>
                      <a:pt x="307581" y="335053"/>
                    </a:lnTo>
                    <a:lnTo>
                      <a:pt x="307581" y="448140"/>
                    </a:lnTo>
                    <a:lnTo>
                      <a:pt x="333520" y="448140"/>
                    </a:lnTo>
                    <a:lnTo>
                      <a:pt x="292246" y="519646"/>
                    </a:lnTo>
                    <a:close/>
                    <a:moveTo>
                      <a:pt x="307581" y="136352"/>
                    </a:moveTo>
                    <a:lnTo>
                      <a:pt x="307581" y="249439"/>
                    </a:lnTo>
                    <a:lnTo>
                      <a:pt x="276911" y="249439"/>
                    </a:lnTo>
                    <a:lnTo>
                      <a:pt x="276911" y="136352"/>
                    </a:lnTo>
                    <a:lnTo>
                      <a:pt x="250972" y="136352"/>
                    </a:lnTo>
                    <a:lnTo>
                      <a:pt x="292246" y="64846"/>
                    </a:lnTo>
                    <a:lnTo>
                      <a:pt x="333520" y="136352"/>
                    </a:lnTo>
                    <a:lnTo>
                      <a:pt x="307581" y="136352"/>
                    </a:lnTo>
                    <a:close/>
                    <a:moveTo>
                      <a:pt x="411511" y="307581"/>
                    </a:moveTo>
                    <a:lnTo>
                      <a:pt x="411511" y="333520"/>
                    </a:lnTo>
                    <a:lnTo>
                      <a:pt x="340004" y="292246"/>
                    </a:lnTo>
                    <a:lnTo>
                      <a:pt x="411511" y="250972"/>
                    </a:lnTo>
                    <a:lnTo>
                      <a:pt x="411511" y="276911"/>
                    </a:lnTo>
                    <a:lnTo>
                      <a:pt x="524597" y="276911"/>
                    </a:lnTo>
                    <a:lnTo>
                      <a:pt x="524597" y="307581"/>
                    </a:lnTo>
                    <a:lnTo>
                      <a:pt x="411511" y="307581"/>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mn-ea"/>
                  <a:cs typeface="+mn-cs"/>
                  <a:sym typeface="Arial"/>
                </a:endParaRPr>
              </a:p>
            </p:txBody>
          </p:sp>
        </p:grpSp>
        <p:grpSp>
          <p:nvGrpSpPr>
            <p:cNvPr id="86" name="Group 85">
              <a:extLst>
                <a:ext uri="{FF2B5EF4-FFF2-40B4-BE49-F238E27FC236}">
                  <a16:creationId xmlns:a16="http://schemas.microsoft.com/office/drawing/2014/main" id="{53668650-D445-7001-E584-5912A31ABBB4}"/>
                </a:ext>
              </a:extLst>
            </p:cNvPr>
            <p:cNvGrpSpPr>
              <a:grpSpLocks noChangeAspect="1"/>
            </p:cNvGrpSpPr>
            <p:nvPr/>
          </p:nvGrpSpPr>
          <p:grpSpPr>
            <a:xfrm>
              <a:off x="3351070" y="1951839"/>
              <a:ext cx="457202" cy="457200"/>
              <a:chOff x="5341314" y="5151711"/>
              <a:chExt cx="547621" cy="547619"/>
            </a:xfrm>
          </p:grpSpPr>
          <p:sp>
            <p:nvSpPr>
              <p:cNvPr id="113" name="Oval 112">
                <a:extLst>
                  <a:ext uri="{FF2B5EF4-FFF2-40B4-BE49-F238E27FC236}">
                    <a16:creationId xmlns:a16="http://schemas.microsoft.com/office/drawing/2014/main" id="{3DFA8788-9849-D213-3298-8DFD98AE45C0}"/>
                  </a:ext>
                </a:extLst>
              </p:cNvPr>
              <p:cNvSpPr>
                <a:spLocks noChangeAspect="1"/>
              </p:cNvSpPr>
              <p:nvPr/>
            </p:nvSpPr>
            <p:spPr>
              <a:xfrm>
                <a:off x="5341314" y="5151711"/>
                <a:ext cx="547621" cy="547619"/>
              </a:xfrm>
              <a:prstGeom prst="ellipse">
                <a:avLst/>
              </a:pr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nvGrpSpPr>
              <p:cNvPr id="114" name="Group 113">
                <a:extLst>
                  <a:ext uri="{FF2B5EF4-FFF2-40B4-BE49-F238E27FC236}">
                    <a16:creationId xmlns:a16="http://schemas.microsoft.com/office/drawing/2014/main" id="{B57BE6EE-4DA8-FFA5-0D15-4D76779E74BE}"/>
                  </a:ext>
                </a:extLst>
              </p:cNvPr>
              <p:cNvGrpSpPr/>
              <p:nvPr/>
            </p:nvGrpSpPr>
            <p:grpSpPr>
              <a:xfrm>
                <a:off x="5475978" y="5286375"/>
                <a:ext cx="278292" cy="278290"/>
                <a:chOff x="7453826" y="4235509"/>
                <a:chExt cx="199845" cy="199844"/>
              </a:xfrm>
              <a:solidFill>
                <a:schemeClr val="bg1"/>
              </a:solidFill>
            </p:grpSpPr>
            <p:sp>
              <p:nvSpPr>
                <p:cNvPr id="115" name="Freeform: Shape 110">
                  <a:extLst>
                    <a:ext uri="{FF2B5EF4-FFF2-40B4-BE49-F238E27FC236}">
                      <a16:creationId xmlns:a16="http://schemas.microsoft.com/office/drawing/2014/main" id="{DE5A6DBE-CC11-24E0-DFEA-9613E9FD53CD}"/>
                    </a:ext>
                  </a:extLst>
                </p:cNvPr>
                <p:cNvSpPr/>
                <p:nvPr/>
              </p:nvSpPr>
              <p:spPr>
                <a:xfrm>
                  <a:off x="7453826" y="4235509"/>
                  <a:ext cx="199845" cy="199844"/>
                </a:xfrm>
                <a:custGeom>
                  <a:avLst/>
                  <a:gdLst>
                    <a:gd name="connsiteX0" fmla="*/ 539067 w 539067"/>
                    <a:gd name="connsiteY0" fmla="*/ 539067 h 539067"/>
                    <a:gd name="connsiteX1" fmla="*/ 366846 w 539067"/>
                    <a:gd name="connsiteY1" fmla="*/ 539067 h 539067"/>
                    <a:gd name="connsiteX2" fmla="*/ 366846 w 539067"/>
                    <a:gd name="connsiteY2" fmla="*/ 511064 h 539067"/>
                    <a:gd name="connsiteX3" fmla="*/ 511064 w 539067"/>
                    <a:gd name="connsiteY3" fmla="*/ 511064 h 539067"/>
                    <a:gd name="connsiteX4" fmla="*/ 511064 w 539067"/>
                    <a:gd name="connsiteY4" fmla="*/ 28004 h 539067"/>
                    <a:gd name="connsiteX5" fmla="*/ 28004 w 539067"/>
                    <a:gd name="connsiteY5" fmla="*/ 28004 h 539067"/>
                    <a:gd name="connsiteX6" fmla="*/ 28004 w 539067"/>
                    <a:gd name="connsiteY6" fmla="*/ 511064 h 539067"/>
                    <a:gd name="connsiteX7" fmla="*/ 173462 w 539067"/>
                    <a:gd name="connsiteY7" fmla="*/ 511064 h 539067"/>
                    <a:gd name="connsiteX8" fmla="*/ 173462 w 539067"/>
                    <a:gd name="connsiteY8" fmla="*/ 539067 h 539067"/>
                    <a:gd name="connsiteX9" fmla="*/ 0 w 539067"/>
                    <a:gd name="connsiteY9" fmla="*/ 539067 h 539067"/>
                    <a:gd name="connsiteX10" fmla="*/ 0 w 539067"/>
                    <a:gd name="connsiteY10" fmla="*/ 0 h 539067"/>
                    <a:gd name="connsiteX11" fmla="*/ 539067 w 539067"/>
                    <a:gd name="connsiteY11" fmla="*/ 0 h 539067"/>
                    <a:gd name="connsiteX12" fmla="*/ 539067 w 539067"/>
                    <a:gd name="connsiteY12" fmla="*/ 539067 h 539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67" h="539067">
                      <a:moveTo>
                        <a:pt x="539067" y="539067"/>
                      </a:moveTo>
                      <a:lnTo>
                        <a:pt x="366846" y="539067"/>
                      </a:lnTo>
                      <a:lnTo>
                        <a:pt x="366846" y="511064"/>
                      </a:lnTo>
                      <a:lnTo>
                        <a:pt x="511064" y="511064"/>
                      </a:lnTo>
                      <a:lnTo>
                        <a:pt x="511064" y="28004"/>
                      </a:lnTo>
                      <a:lnTo>
                        <a:pt x="28004" y="28004"/>
                      </a:lnTo>
                      <a:lnTo>
                        <a:pt x="28004" y="511064"/>
                      </a:lnTo>
                      <a:lnTo>
                        <a:pt x="173462" y="511064"/>
                      </a:lnTo>
                      <a:lnTo>
                        <a:pt x="173462" y="539067"/>
                      </a:lnTo>
                      <a:lnTo>
                        <a:pt x="0" y="539067"/>
                      </a:lnTo>
                      <a:lnTo>
                        <a:pt x="0" y="0"/>
                      </a:lnTo>
                      <a:lnTo>
                        <a:pt x="539067" y="0"/>
                      </a:lnTo>
                      <a:lnTo>
                        <a:pt x="539067" y="539067"/>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6" name="Freeform: Shape 115">
                  <a:extLst>
                    <a:ext uri="{FF2B5EF4-FFF2-40B4-BE49-F238E27FC236}">
                      <a16:creationId xmlns:a16="http://schemas.microsoft.com/office/drawing/2014/main" id="{0278878D-6B05-3623-A1DA-CA0959DB2ECC}"/>
                    </a:ext>
                  </a:extLst>
                </p:cNvPr>
                <p:cNvSpPr/>
                <p:nvPr/>
              </p:nvSpPr>
              <p:spPr>
                <a:xfrm>
                  <a:off x="7491571" y="4315610"/>
                  <a:ext cx="51745" cy="27941"/>
                </a:xfrm>
                <a:custGeom>
                  <a:avLst/>
                  <a:gdLst>
                    <a:gd name="connsiteX0" fmla="*/ 74289 w 139577"/>
                    <a:gd name="connsiteY0" fmla="*/ 23683 h 75369"/>
                    <a:gd name="connsiteX1" fmla="*/ 0 w 139577"/>
                    <a:gd name="connsiteY1" fmla="*/ 23683 h 75369"/>
                    <a:gd name="connsiteX2" fmla="*/ 0 w 139577"/>
                    <a:gd name="connsiteY2" fmla="*/ 51686 h 75369"/>
                    <a:gd name="connsiteX3" fmla="*/ 74289 w 139577"/>
                    <a:gd name="connsiteY3" fmla="*/ 51686 h 75369"/>
                    <a:gd name="connsiteX4" fmla="*/ 74289 w 139577"/>
                    <a:gd name="connsiteY4" fmla="*/ 75369 h 75369"/>
                    <a:gd name="connsiteX5" fmla="*/ 139577 w 139577"/>
                    <a:gd name="connsiteY5" fmla="*/ 37685 h 75369"/>
                    <a:gd name="connsiteX6" fmla="*/ 74289 w 139577"/>
                    <a:gd name="connsiteY6" fmla="*/ 0 h 75369"/>
                    <a:gd name="connsiteX7" fmla="*/ 74289 w 139577"/>
                    <a:gd name="connsiteY7" fmla="*/ 23683 h 75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577" h="75369">
                      <a:moveTo>
                        <a:pt x="74289" y="23683"/>
                      </a:moveTo>
                      <a:lnTo>
                        <a:pt x="0" y="23683"/>
                      </a:lnTo>
                      <a:lnTo>
                        <a:pt x="0" y="51686"/>
                      </a:lnTo>
                      <a:lnTo>
                        <a:pt x="74289" y="51686"/>
                      </a:lnTo>
                      <a:lnTo>
                        <a:pt x="74289" y="75369"/>
                      </a:lnTo>
                      <a:lnTo>
                        <a:pt x="139577" y="37685"/>
                      </a:lnTo>
                      <a:lnTo>
                        <a:pt x="74289" y="0"/>
                      </a:lnTo>
                      <a:lnTo>
                        <a:pt x="74289" y="23683"/>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7" name="Freeform: Shape 116">
                  <a:extLst>
                    <a:ext uri="{FF2B5EF4-FFF2-40B4-BE49-F238E27FC236}">
                      <a16:creationId xmlns:a16="http://schemas.microsoft.com/office/drawing/2014/main" id="{745BC35B-B106-2471-BB71-9077BDA51757}"/>
                    </a:ext>
                  </a:extLst>
                </p:cNvPr>
                <p:cNvSpPr/>
                <p:nvPr/>
              </p:nvSpPr>
              <p:spPr>
                <a:xfrm>
                  <a:off x="7550583" y="4276590"/>
                  <a:ext cx="71247" cy="108695"/>
                </a:xfrm>
                <a:custGeom>
                  <a:avLst/>
                  <a:gdLst>
                    <a:gd name="connsiteX0" fmla="*/ 192184 w 192184"/>
                    <a:gd name="connsiteY0" fmla="*/ 142938 h 293196"/>
                    <a:gd name="connsiteX1" fmla="*/ 126896 w 192184"/>
                    <a:gd name="connsiteY1" fmla="*/ 105253 h 293196"/>
                    <a:gd name="connsiteX2" fmla="*/ 126896 w 192184"/>
                    <a:gd name="connsiteY2" fmla="*/ 128936 h 293196"/>
                    <a:gd name="connsiteX3" fmla="*/ 104973 w 192184"/>
                    <a:gd name="connsiteY3" fmla="*/ 128936 h 293196"/>
                    <a:gd name="connsiteX4" fmla="*/ 104973 w 192184"/>
                    <a:gd name="connsiteY4" fmla="*/ 0 h 293196"/>
                    <a:gd name="connsiteX5" fmla="*/ 0 w 192184"/>
                    <a:gd name="connsiteY5" fmla="*/ 0 h 293196"/>
                    <a:gd name="connsiteX6" fmla="*/ 0 w 192184"/>
                    <a:gd name="connsiteY6" fmla="*/ 28004 h 293196"/>
                    <a:gd name="connsiteX7" fmla="*/ 76970 w 192184"/>
                    <a:gd name="connsiteY7" fmla="*/ 28004 h 293196"/>
                    <a:gd name="connsiteX8" fmla="*/ 76970 w 192184"/>
                    <a:gd name="connsiteY8" fmla="*/ 128936 h 293196"/>
                    <a:gd name="connsiteX9" fmla="*/ 22123 w 192184"/>
                    <a:gd name="connsiteY9" fmla="*/ 128936 h 293196"/>
                    <a:gd name="connsiteX10" fmla="*/ 22123 w 192184"/>
                    <a:gd name="connsiteY10" fmla="*/ 156940 h 293196"/>
                    <a:gd name="connsiteX11" fmla="*/ 76970 w 192184"/>
                    <a:gd name="connsiteY11" fmla="*/ 156940 h 293196"/>
                    <a:gd name="connsiteX12" fmla="*/ 76970 w 192184"/>
                    <a:gd name="connsiteY12" fmla="*/ 265193 h 293196"/>
                    <a:gd name="connsiteX13" fmla="*/ 0 w 192184"/>
                    <a:gd name="connsiteY13" fmla="*/ 265193 h 293196"/>
                    <a:gd name="connsiteX14" fmla="*/ 0 w 192184"/>
                    <a:gd name="connsiteY14" fmla="*/ 293197 h 293196"/>
                    <a:gd name="connsiteX15" fmla="*/ 104973 w 192184"/>
                    <a:gd name="connsiteY15" fmla="*/ 293197 h 293196"/>
                    <a:gd name="connsiteX16" fmla="*/ 104973 w 192184"/>
                    <a:gd name="connsiteY16" fmla="*/ 156940 h 293196"/>
                    <a:gd name="connsiteX17" fmla="*/ 126896 w 192184"/>
                    <a:gd name="connsiteY17" fmla="*/ 156940 h 293196"/>
                    <a:gd name="connsiteX18" fmla="*/ 126896 w 192184"/>
                    <a:gd name="connsiteY18" fmla="*/ 180623 h 293196"/>
                    <a:gd name="connsiteX19" fmla="*/ 192184 w 192184"/>
                    <a:gd name="connsiteY19" fmla="*/ 142938 h 293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2184" h="293196">
                      <a:moveTo>
                        <a:pt x="192184" y="142938"/>
                      </a:moveTo>
                      <a:lnTo>
                        <a:pt x="126896" y="105253"/>
                      </a:lnTo>
                      <a:lnTo>
                        <a:pt x="126896" y="128936"/>
                      </a:lnTo>
                      <a:lnTo>
                        <a:pt x="104973" y="128936"/>
                      </a:lnTo>
                      <a:lnTo>
                        <a:pt x="104973" y="0"/>
                      </a:lnTo>
                      <a:lnTo>
                        <a:pt x="0" y="0"/>
                      </a:lnTo>
                      <a:lnTo>
                        <a:pt x="0" y="28004"/>
                      </a:lnTo>
                      <a:lnTo>
                        <a:pt x="76970" y="28004"/>
                      </a:lnTo>
                      <a:lnTo>
                        <a:pt x="76970" y="128936"/>
                      </a:lnTo>
                      <a:lnTo>
                        <a:pt x="22123" y="128936"/>
                      </a:lnTo>
                      <a:lnTo>
                        <a:pt x="22123" y="156940"/>
                      </a:lnTo>
                      <a:lnTo>
                        <a:pt x="76970" y="156940"/>
                      </a:lnTo>
                      <a:lnTo>
                        <a:pt x="76970" y="265193"/>
                      </a:lnTo>
                      <a:lnTo>
                        <a:pt x="0" y="265193"/>
                      </a:lnTo>
                      <a:lnTo>
                        <a:pt x="0" y="293197"/>
                      </a:lnTo>
                      <a:lnTo>
                        <a:pt x="104973" y="293197"/>
                      </a:lnTo>
                      <a:lnTo>
                        <a:pt x="104973" y="156940"/>
                      </a:lnTo>
                      <a:lnTo>
                        <a:pt x="126896" y="156940"/>
                      </a:lnTo>
                      <a:lnTo>
                        <a:pt x="126896" y="180623"/>
                      </a:lnTo>
                      <a:lnTo>
                        <a:pt x="192184" y="142938"/>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8" name="Freeform: Shape 124">
                  <a:extLst>
                    <a:ext uri="{FF2B5EF4-FFF2-40B4-BE49-F238E27FC236}">
                      <a16:creationId xmlns:a16="http://schemas.microsoft.com/office/drawing/2014/main" id="{8E290EB4-C29E-BD9D-F9CF-FD4FBABFB47D}"/>
                    </a:ext>
                  </a:extLst>
                </p:cNvPr>
                <p:cNvSpPr/>
                <p:nvPr/>
              </p:nvSpPr>
              <p:spPr>
                <a:xfrm>
                  <a:off x="7491571" y="4266446"/>
                  <a:ext cx="51745" cy="27956"/>
                </a:xfrm>
                <a:custGeom>
                  <a:avLst/>
                  <a:gdLst>
                    <a:gd name="connsiteX0" fmla="*/ 74289 w 139577"/>
                    <a:gd name="connsiteY0" fmla="*/ 23723 h 75409"/>
                    <a:gd name="connsiteX1" fmla="*/ 0 w 139577"/>
                    <a:gd name="connsiteY1" fmla="*/ 23723 h 75409"/>
                    <a:gd name="connsiteX2" fmla="*/ 0 w 139577"/>
                    <a:gd name="connsiteY2" fmla="*/ 51726 h 75409"/>
                    <a:gd name="connsiteX3" fmla="*/ 74289 w 139577"/>
                    <a:gd name="connsiteY3" fmla="*/ 51726 h 75409"/>
                    <a:gd name="connsiteX4" fmla="*/ 74289 w 139577"/>
                    <a:gd name="connsiteY4" fmla="*/ 75409 h 75409"/>
                    <a:gd name="connsiteX5" fmla="*/ 139577 w 139577"/>
                    <a:gd name="connsiteY5" fmla="*/ 37725 h 75409"/>
                    <a:gd name="connsiteX6" fmla="*/ 74289 w 139577"/>
                    <a:gd name="connsiteY6" fmla="*/ 0 h 75409"/>
                    <a:gd name="connsiteX7" fmla="*/ 74289 w 139577"/>
                    <a:gd name="connsiteY7" fmla="*/ 23723 h 7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577" h="75409">
                      <a:moveTo>
                        <a:pt x="74289" y="23723"/>
                      </a:moveTo>
                      <a:lnTo>
                        <a:pt x="0" y="23723"/>
                      </a:lnTo>
                      <a:lnTo>
                        <a:pt x="0" y="51726"/>
                      </a:lnTo>
                      <a:lnTo>
                        <a:pt x="74289" y="51726"/>
                      </a:lnTo>
                      <a:lnTo>
                        <a:pt x="74289" y="75409"/>
                      </a:lnTo>
                      <a:lnTo>
                        <a:pt x="139577" y="37725"/>
                      </a:lnTo>
                      <a:lnTo>
                        <a:pt x="74289" y="0"/>
                      </a:lnTo>
                      <a:lnTo>
                        <a:pt x="74289" y="23723"/>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9" name="Freeform: Shape 170">
                  <a:extLst>
                    <a:ext uri="{FF2B5EF4-FFF2-40B4-BE49-F238E27FC236}">
                      <a16:creationId xmlns:a16="http://schemas.microsoft.com/office/drawing/2014/main" id="{113307AD-2EA6-AB58-7229-BC5F4C3C9628}"/>
                    </a:ext>
                  </a:extLst>
                </p:cNvPr>
                <p:cNvSpPr/>
                <p:nvPr/>
              </p:nvSpPr>
              <p:spPr>
                <a:xfrm>
                  <a:off x="7491571" y="4364759"/>
                  <a:ext cx="51745" cy="27956"/>
                </a:xfrm>
                <a:custGeom>
                  <a:avLst/>
                  <a:gdLst>
                    <a:gd name="connsiteX0" fmla="*/ 74289 w 139577"/>
                    <a:gd name="connsiteY0" fmla="*/ 23683 h 75409"/>
                    <a:gd name="connsiteX1" fmla="*/ 0 w 139577"/>
                    <a:gd name="connsiteY1" fmla="*/ 23683 h 75409"/>
                    <a:gd name="connsiteX2" fmla="*/ 0 w 139577"/>
                    <a:gd name="connsiteY2" fmla="*/ 51686 h 75409"/>
                    <a:gd name="connsiteX3" fmla="*/ 74289 w 139577"/>
                    <a:gd name="connsiteY3" fmla="*/ 51686 h 75409"/>
                    <a:gd name="connsiteX4" fmla="*/ 74289 w 139577"/>
                    <a:gd name="connsiteY4" fmla="*/ 75409 h 75409"/>
                    <a:gd name="connsiteX5" fmla="*/ 139577 w 139577"/>
                    <a:gd name="connsiteY5" fmla="*/ 37685 h 75409"/>
                    <a:gd name="connsiteX6" fmla="*/ 74289 w 139577"/>
                    <a:gd name="connsiteY6" fmla="*/ 0 h 75409"/>
                    <a:gd name="connsiteX7" fmla="*/ 74289 w 139577"/>
                    <a:gd name="connsiteY7" fmla="*/ 23683 h 7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577" h="75409">
                      <a:moveTo>
                        <a:pt x="74289" y="23683"/>
                      </a:moveTo>
                      <a:lnTo>
                        <a:pt x="0" y="23683"/>
                      </a:lnTo>
                      <a:lnTo>
                        <a:pt x="0" y="51686"/>
                      </a:lnTo>
                      <a:lnTo>
                        <a:pt x="74289" y="51686"/>
                      </a:lnTo>
                      <a:lnTo>
                        <a:pt x="74289" y="75409"/>
                      </a:lnTo>
                      <a:lnTo>
                        <a:pt x="139577" y="37685"/>
                      </a:lnTo>
                      <a:lnTo>
                        <a:pt x="74289" y="0"/>
                      </a:lnTo>
                      <a:lnTo>
                        <a:pt x="74289" y="23683"/>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87" name="Group 86">
              <a:extLst>
                <a:ext uri="{FF2B5EF4-FFF2-40B4-BE49-F238E27FC236}">
                  <a16:creationId xmlns:a16="http://schemas.microsoft.com/office/drawing/2014/main" id="{03C05BD9-683A-B313-C39F-C2D469C578A1}"/>
                </a:ext>
              </a:extLst>
            </p:cNvPr>
            <p:cNvGrpSpPr/>
            <p:nvPr/>
          </p:nvGrpSpPr>
          <p:grpSpPr>
            <a:xfrm>
              <a:off x="4959077" y="1951839"/>
              <a:ext cx="457202" cy="457200"/>
              <a:chOff x="4637608" y="1958564"/>
              <a:chExt cx="457202" cy="457200"/>
            </a:xfrm>
          </p:grpSpPr>
          <p:sp>
            <p:nvSpPr>
              <p:cNvPr id="111" name="Oval 110">
                <a:extLst>
                  <a:ext uri="{FF2B5EF4-FFF2-40B4-BE49-F238E27FC236}">
                    <a16:creationId xmlns:a16="http://schemas.microsoft.com/office/drawing/2014/main" id="{DBF4FF21-80E2-B3E3-0230-59120C07A867}"/>
                  </a:ext>
                </a:extLst>
              </p:cNvPr>
              <p:cNvSpPr>
                <a:spLocks noChangeAspect="1"/>
              </p:cNvSpPr>
              <p:nvPr/>
            </p:nvSpPr>
            <p:spPr>
              <a:xfrm>
                <a:off x="4637608" y="1958564"/>
                <a:ext cx="457202" cy="457200"/>
              </a:xfrm>
              <a:prstGeom prst="ellipse">
                <a:avLst/>
              </a:pr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12" name="Graphic 249">
                <a:extLst>
                  <a:ext uri="{FF2B5EF4-FFF2-40B4-BE49-F238E27FC236}">
                    <a16:creationId xmlns:a16="http://schemas.microsoft.com/office/drawing/2014/main" id="{CC46F5D2-3B2A-0310-D3B0-67554DCA6473}"/>
                  </a:ext>
                </a:extLst>
              </p:cNvPr>
              <p:cNvSpPr/>
              <p:nvPr/>
            </p:nvSpPr>
            <p:spPr>
              <a:xfrm>
                <a:off x="4718148" y="2085390"/>
                <a:ext cx="300966" cy="206048"/>
              </a:xfrm>
              <a:custGeom>
                <a:avLst/>
                <a:gdLst>
                  <a:gd name="connsiteX0" fmla="*/ 515311 w 594328"/>
                  <a:gd name="connsiteY0" fmla="*/ 344910 h 406891"/>
                  <a:gd name="connsiteX1" fmla="*/ 470272 w 594328"/>
                  <a:gd name="connsiteY1" fmla="*/ 344910 h 406891"/>
                  <a:gd name="connsiteX2" fmla="*/ 328808 w 594328"/>
                  <a:gd name="connsiteY2" fmla="*/ 203446 h 406891"/>
                  <a:gd name="connsiteX3" fmla="*/ 470272 w 594328"/>
                  <a:gd name="connsiteY3" fmla="*/ 61934 h 406891"/>
                  <a:gd name="connsiteX4" fmla="*/ 515311 w 594328"/>
                  <a:gd name="connsiteY4" fmla="*/ 61934 h 406891"/>
                  <a:gd name="connsiteX5" fmla="*/ 515311 w 594328"/>
                  <a:gd name="connsiteY5" fmla="*/ 91245 h 406891"/>
                  <a:gd name="connsiteX6" fmla="*/ 594328 w 594328"/>
                  <a:gd name="connsiteY6" fmla="*/ 45599 h 406891"/>
                  <a:gd name="connsiteX7" fmla="*/ 515311 w 594328"/>
                  <a:gd name="connsiteY7" fmla="*/ 0 h 406891"/>
                  <a:gd name="connsiteX8" fmla="*/ 515311 w 594328"/>
                  <a:gd name="connsiteY8" fmla="*/ 29264 h 406891"/>
                  <a:gd name="connsiteX9" fmla="*/ 456737 w 594328"/>
                  <a:gd name="connsiteY9" fmla="*/ 29264 h 406891"/>
                  <a:gd name="connsiteX10" fmla="*/ 305658 w 594328"/>
                  <a:gd name="connsiteY10" fmla="*/ 180343 h 406891"/>
                  <a:gd name="connsiteX11" fmla="*/ 154626 w 594328"/>
                  <a:gd name="connsiteY11" fmla="*/ 29264 h 406891"/>
                  <a:gd name="connsiteX12" fmla="*/ 78970 w 594328"/>
                  <a:gd name="connsiteY12" fmla="*/ 29264 h 406891"/>
                  <a:gd name="connsiteX13" fmla="*/ 78970 w 594328"/>
                  <a:gd name="connsiteY13" fmla="*/ 0 h 406891"/>
                  <a:gd name="connsiteX14" fmla="*/ 0 w 594328"/>
                  <a:gd name="connsiteY14" fmla="*/ 45599 h 406891"/>
                  <a:gd name="connsiteX15" fmla="*/ 78970 w 594328"/>
                  <a:gd name="connsiteY15" fmla="*/ 91245 h 406891"/>
                  <a:gd name="connsiteX16" fmla="*/ 78970 w 594328"/>
                  <a:gd name="connsiteY16" fmla="*/ 61934 h 406891"/>
                  <a:gd name="connsiteX17" fmla="*/ 141091 w 594328"/>
                  <a:gd name="connsiteY17" fmla="*/ 61934 h 406891"/>
                  <a:gd name="connsiteX18" fmla="*/ 282556 w 594328"/>
                  <a:gd name="connsiteY18" fmla="*/ 203446 h 406891"/>
                  <a:gd name="connsiteX19" fmla="*/ 141091 w 594328"/>
                  <a:gd name="connsiteY19" fmla="*/ 344910 h 406891"/>
                  <a:gd name="connsiteX20" fmla="*/ 78970 w 594328"/>
                  <a:gd name="connsiteY20" fmla="*/ 344910 h 406891"/>
                  <a:gd name="connsiteX21" fmla="*/ 78970 w 594328"/>
                  <a:gd name="connsiteY21" fmla="*/ 315646 h 406891"/>
                  <a:gd name="connsiteX22" fmla="*/ 0 w 594328"/>
                  <a:gd name="connsiteY22" fmla="*/ 361245 h 406891"/>
                  <a:gd name="connsiteX23" fmla="*/ 78970 w 594328"/>
                  <a:gd name="connsiteY23" fmla="*/ 406891 h 406891"/>
                  <a:gd name="connsiteX24" fmla="*/ 78970 w 594328"/>
                  <a:gd name="connsiteY24" fmla="*/ 377581 h 406891"/>
                  <a:gd name="connsiteX25" fmla="*/ 154626 w 594328"/>
                  <a:gd name="connsiteY25" fmla="*/ 377581 h 406891"/>
                  <a:gd name="connsiteX26" fmla="*/ 305658 w 594328"/>
                  <a:gd name="connsiteY26" fmla="*/ 226548 h 406891"/>
                  <a:gd name="connsiteX27" fmla="*/ 456737 w 594328"/>
                  <a:gd name="connsiteY27" fmla="*/ 377581 h 406891"/>
                  <a:gd name="connsiteX28" fmla="*/ 515311 w 594328"/>
                  <a:gd name="connsiteY28" fmla="*/ 377581 h 406891"/>
                  <a:gd name="connsiteX29" fmla="*/ 515311 w 594328"/>
                  <a:gd name="connsiteY29" fmla="*/ 406891 h 406891"/>
                  <a:gd name="connsiteX30" fmla="*/ 594328 w 594328"/>
                  <a:gd name="connsiteY30" fmla="*/ 361245 h 406891"/>
                  <a:gd name="connsiteX31" fmla="*/ 515311 w 594328"/>
                  <a:gd name="connsiteY31" fmla="*/ 315646 h 406891"/>
                  <a:gd name="connsiteX32" fmla="*/ 515311 w 594328"/>
                  <a:gd name="connsiteY32" fmla="*/ 344910 h 40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94328" h="406891">
                    <a:moveTo>
                      <a:pt x="515311" y="344910"/>
                    </a:moveTo>
                    <a:lnTo>
                      <a:pt x="470272" y="344910"/>
                    </a:lnTo>
                    <a:lnTo>
                      <a:pt x="328808" y="203446"/>
                    </a:lnTo>
                    <a:lnTo>
                      <a:pt x="470272" y="61934"/>
                    </a:lnTo>
                    <a:lnTo>
                      <a:pt x="515311" y="61934"/>
                    </a:lnTo>
                    <a:lnTo>
                      <a:pt x="515311" y="91245"/>
                    </a:lnTo>
                    <a:lnTo>
                      <a:pt x="594328" y="45599"/>
                    </a:lnTo>
                    <a:lnTo>
                      <a:pt x="515311" y="0"/>
                    </a:lnTo>
                    <a:lnTo>
                      <a:pt x="515311" y="29264"/>
                    </a:lnTo>
                    <a:lnTo>
                      <a:pt x="456737" y="29264"/>
                    </a:lnTo>
                    <a:lnTo>
                      <a:pt x="305658" y="180343"/>
                    </a:lnTo>
                    <a:lnTo>
                      <a:pt x="154626" y="29264"/>
                    </a:lnTo>
                    <a:lnTo>
                      <a:pt x="78970" y="29264"/>
                    </a:lnTo>
                    <a:lnTo>
                      <a:pt x="78970" y="0"/>
                    </a:lnTo>
                    <a:lnTo>
                      <a:pt x="0" y="45599"/>
                    </a:lnTo>
                    <a:lnTo>
                      <a:pt x="78970" y="91245"/>
                    </a:lnTo>
                    <a:lnTo>
                      <a:pt x="78970" y="61934"/>
                    </a:lnTo>
                    <a:lnTo>
                      <a:pt x="141091" y="61934"/>
                    </a:lnTo>
                    <a:lnTo>
                      <a:pt x="282556" y="203446"/>
                    </a:lnTo>
                    <a:lnTo>
                      <a:pt x="141091" y="344910"/>
                    </a:lnTo>
                    <a:lnTo>
                      <a:pt x="78970" y="344910"/>
                    </a:lnTo>
                    <a:lnTo>
                      <a:pt x="78970" y="315646"/>
                    </a:lnTo>
                    <a:lnTo>
                      <a:pt x="0" y="361245"/>
                    </a:lnTo>
                    <a:lnTo>
                      <a:pt x="78970" y="406891"/>
                    </a:lnTo>
                    <a:lnTo>
                      <a:pt x="78970" y="377581"/>
                    </a:lnTo>
                    <a:lnTo>
                      <a:pt x="154626" y="377581"/>
                    </a:lnTo>
                    <a:lnTo>
                      <a:pt x="305658" y="226548"/>
                    </a:lnTo>
                    <a:lnTo>
                      <a:pt x="456737" y="377581"/>
                    </a:lnTo>
                    <a:lnTo>
                      <a:pt x="515311" y="377581"/>
                    </a:lnTo>
                    <a:lnTo>
                      <a:pt x="515311" y="406891"/>
                    </a:lnTo>
                    <a:lnTo>
                      <a:pt x="594328" y="361245"/>
                    </a:lnTo>
                    <a:lnTo>
                      <a:pt x="515311" y="315646"/>
                    </a:lnTo>
                    <a:lnTo>
                      <a:pt x="515311" y="344910"/>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97" name="Group 96">
              <a:extLst>
                <a:ext uri="{FF2B5EF4-FFF2-40B4-BE49-F238E27FC236}">
                  <a16:creationId xmlns:a16="http://schemas.microsoft.com/office/drawing/2014/main" id="{4BE18395-88E7-AC8E-2284-D888E6C6A5EC}"/>
                </a:ext>
              </a:extLst>
            </p:cNvPr>
            <p:cNvGrpSpPr>
              <a:grpSpLocks noChangeAspect="1"/>
            </p:cNvGrpSpPr>
            <p:nvPr/>
          </p:nvGrpSpPr>
          <p:grpSpPr>
            <a:xfrm>
              <a:off x="939060" y="1951839"/>
              <a:ext cx="457200" cy="457200"/>
              <a:chOff x="7756637" y="2484407"/>
              <a:chExt cx="902850" cy="902850"/>
            </a:xfrm>
          </p:grpSpPr>
          <p:sp>
            <p:nvSpPr>
              <p:cNvPr id="98" name="Oval 26">
                <a:extLst>
                  <a:ext uri="{FF2B5EF4-FFF2-40B4-BE49-F238E27FC236}">
                    <a16:creationId xmlns:a16="http://schemas.microsoft.com/office/drawing/2014/main" id="{9A99D181-9DE6-A676-ED6E-2F4946CCE76C}"/>
                  </a:ext>
                </a:extLst>
              </p:cNvPr>
              <p:cNvSpPr>
                <a:spLocks noChangeAspect="1"/>
              </p:cNvSpPr>
              <p:nvPr/>
            </p:nvSpPr>
            <p:spPr bwMode="gray">
              <a:xfrm>
                <a:off x="7756637" y="2484407"/>
                <a:ext cx="902850" cy="90285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99" name="Group 98">
                <a:extLst>
                  <a:ext uri="{FF2B5EF4-FFF2-40B4-BE49-F238E27FC236}">
                    <a16:creationId xmlns:a16="http://schemas.microsoft.com/office/drawing/2014/main" id="{A2C895A0-7C07-D74B-C290-6E91F52AB8FE}"/>
                  </a:ext>
                </a:extLst>
              </p:cNvPr>
              <p:cNvGrpSpPr/>
              <p:nvPr/>
            </p:nvGrpSpPr>
            <p:grpSpPr>
              <a:xfrm>
                <a:off x="7930273" y="2670781"/>
                <a:ext cx="558302" cy="538093"/>
                <a:chOff x="7930273" y="2670781"/>
                <a:chExt cx="558302" cy="538093"/>
              </a:xfrm>
            </p:grpSpPr>
            <p:sp>
              <p:nvSpPr>
                <p:cNvPr id="102" name="Freeform: Shape 201">
                  <a:extLst>
                    <a:ext uri="{FF2B5EF4-FFF2-40B4-BE49-F238E27FC236}">
                      <a16:creationId xmlns:a16="http://schemas.microsoft.com/office/drawing/2014/main" id="{EAD2CFAF-6C93-1898-8925-6D4C0EEC2622}"/>
                    </a:ext>
                  </a:extLst>
                </p:cNvPr>
                <p:cNvSpPr/>
                <p:nvPr/>
              </p:nvSpPr>
              <p:spPr>
                <a:xfrm>
                  <a:off x="7930273" y="2670781"/>
                  <a:ext cx="432694" cy="432694"/>
                </a:xfrm>
                <a:custGeom>
                  <a:avLst/>
                  <a:gdLst>
                    <a:gd name="connsiteX0" fmla="*/ 0 w 432694"/>
                    <a:gd name="connsiteY0" fmla="*/ 0 h 432694"/>
                    <a:gd name="connsiteX1" fmla="*/ 0 w 432694"/>
                    <a:gd name="connsiteY1" fmla="*/ 432694 h 432694"/>
                    <a:gd name="connsiteX2" fmla="*/ 295991 w 432694"/>
                    <a:gd name="connsiteY2" fmla="*/ 432694 h 432694"/>
                    <a:gd name="connsiteX3" fmla="*/ 295991 w 432694"/>
                    <a:gd name="connsiteY3" fmla="*/ 393070 h 432694"/>
                    <a:gd name="connsiteX4" fmla="*/ 165232 w 432694"/>
                    <a:gd name="connsiteY4" fmla="*/ 393070 h 432694"/>
                    <a:gd name="connsiteX5" fmla="*/ 206441 w 432694"/>
                    <a:gd name="connsiteY5" fmla="*/ 214762 h 432694"/>
                    <a:gd name="connsiteX6" fmla="*/ 236159 w 432694"/>
                    <a:gd name="connsiteY6" fmla="*/ 323728 h 432694"/>
                    <a:gd name="connsiteX7" fmla="*/ 285689 w 432694"/>
                    <a:gd name="connsiteY7" fmla="*/ 135514 h 432694"/>
                    <a:gd name="connsiteX8" fmla="*/ 306294 w 432694"/>
                    <a:gd name="connsiteY8" fmla="*/ 237744 h 432694"/>
                    <a:gd name="connsiteX9" fmla="*/ 393070 w 432694"/>
                    <a:gd name="connsiteY9" fmla="*/ 237744 h 432694"/>
                    <a:gd name="connsiteX10" fmla="*/ 393070 w 432694"/>
                    <a:gd name="connsiteY10" fmla="*/ 326106 h 432694"/>
                    <a:gd name="connsiteX11" fmla="*/ 432694 w 432694"/>
                    <a:gd name="connsiteY11" fmla="*/ 326106 h 432694"/>
                    <a:gd name="connsiteX12" fmla="*/ 432694 w 432694"/>
                    <a:gd name="connsiteY12" fmla="*/ 0 h 432694"/>
                    <a:gd name="connsiteX13" fmla="*/ 0 w 432694"/>
                    <a:gd name="connsiteY13" fmla="*/ 0 h 432694"/>
                    <a:gd name="connsiteX14" fmla="*/ 39624 w 432694"/>
                    <a:gd name="connsiteY14" fmla="*/ 393070 h 432694"/>
                    <a:gd name="connsiteX15" fmla="*/ 39624 w 432694"/>
                    <a:gd name="connsiteY15" fmla="*/ 237744 h 432694"/>
                    <a:gd name="connsiteX16" fmla="*/ 111740 w 432694"/>
                    <a:gd name="connsiteY16" fmla="*/ 237744 h 432694"/>
                    <a:gd name="connsiteX17" fmla="*/ 130759 w 432694"/>
                    <a:gd name="connsiteY17" fmla="*/ 168798 h 432694"/>
                    <a:gd name="connsiteX18" fmla="*/ 162458 w 432694"/>
                    <a:gd name="connsiteY18" fmla="*/ 393070 h 432694"/>
                    <a:gd name="connsiteX19" fmla="*/ 39624 w 432694"/>
                    <a:gd name="connsiteY19" fmla="*/ 393070 h 432694"/>
                    <a:gd name="connsiteX20" fmla="*/ 322539 w 432694"/>
                    <a:gd name="connsiteY20" fmla="*/ 217932 h 432694"/>
                    <a:gd name="connsiteX21" fmla="*/ 288066 w 432694"/>
                    <a:gd name="connsiteY21" fmla="*/ 47945 h 432694"/>
                    <a:gd name="connsiteX22" fmla="*/ 235763 w 432694"/>
                    <a:gd name="connsiteY22" fmla="*/ 246858 h 432694"/>
                    <a:gd name="connsiteX23" fmla="*/ 204856 w 432694"/>
                    <a:gd name="connsiteY23" fmla="*/ 133533 h 432694"/>
                    <a:gd name="connsiteX24" fmla="*/ 168006 w 432694"/>
                    <a:gd name="connsiteY24" fmla="*/ 292029 h 432694"/>
                    <a:gd name="connsiteX25" fmla="*/ 136703 w 432694"/>
                    <a:gd name="connsiteY25" fmla="*/ 72116 h 432694"/>
                    <a:gd name="connsiteX26" fmla="*/ 96683 w 432694"/>
                    <a:gd name="connsiteY26" fmla="*/ 217932 h 432694"/>
                    <a:gd name="connsiteX27" fmla="*/ 39624 w 432694"/>
                    <a:gd name="connsiteY27" fmla="*/ 217932 h 432694"/>
                    <a:gd name="connsiteX28" fmla="*/ 39624 w 432694"/>
                    <a:gd name="connsiteY28" fmla="*/ 39624 h 432694"/>
                    <a:gd name="connsiteX29" fmla="*/ 393070 w 432694"/>
                    <a:gd name="connsiteY29" fmla="*/ 39624 h 432694"/>
                    <a:gd name="connsiteX30" fmla="*/ 393070 w 432694"/>
                    <a:gd name="connsiteY30" fmla="*/ 217932 h 432694"/>
                    <a:gd name="connsiteX31" fmla="*/ 322539 w 432694"/>
                    <a:gd name="connsiteY31" fmla="*/ 217932 h 432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32694" h="432694">
                      <a:moveTo>
                        <a:pt x="0" y="0"/>
                      </a:moveTo>
                      <a:lnTo>
                        <a:pt x="0" y="432694"/>
                      </a:lnTo>
                      <a:lnTo>
                        <a:pt x="295991" y="432694"/>
                      </a:lnTo>
                      <a:lnTo>
                        <a:pt x="295991" y="393070"/>
                      </a:lnTo>
                      <a:lnTo>
                        <a:pt x="165232" y="393070"/>
                      </a:lnTo>
                      <a:lnTo>
                        <a:pt x="206441" y="214762"/>
                      </a:lnTo>
                      <a:lnTo>
                        <a:pt x="236159" y="323728"/>
                      </a:lnTo>
                      <a:lnTo>
                        <a:pt x="285689" y="135514"/>
                      </a:lnTo>
                      <a:lnTo>
                        <a:pt x="306294" y="237744"/>
                      </a:lnTo>
                      <a:lnTo>
                        <a:pt x="393070" y="237744"/>
                      </a:lnTo>
                      <a:lnTo>
                        <a:pt x="393070" y="326106"/>
                      </a:lnTo>
                      <a:lnTo>
                        <a:pt x="432694" y="326106"/>
                      </a:lnTo>
                      <a:lnTo>
                        <a:pt x="432694" y="0"/>
                      </a:lnTo>
                      <a:lnTo>
                        <a:pt x="0" y="0"/>
                      </a:lnTo>
                      <a:close/>
                      <a:moveTo>
                        <a:pt x="39624" y="393070"/>
                      </a:moveTo>
                      <a:lnTo>
                        <a:pt x="39624" y="237744"/>
                      </a:lnTo>
                      <a:lnTo>
                        <a:pt x="111740" y="237744"/>
                      </a:lnTo>
                      <a:lnTo>
                        <a:pt x="130759" y="168798"/>
                      </a:lnTo>
                      <a:lnTo>
                        <a:pt x="162458" y="393070"/>
                      </a:lnTo>
                      <a:lnTo>
                        <a:pt x="39624" y="393070"/>
                      </a:lnTo>
                      <a:close/>
                      <a:moveTo>
                        <a:pt x="322539" y="217932"/>
                      </a:moveTo>
                      <a:lnTo>
                        <a:pt x="288066" y="47945"/>
                      </a:lnTo>
                      <a:lnTo>
                        <a:pt x="235763" y="246858"/>
                      </a:lnTo>
                      <a:lnTo>
                        <a:pt x="204856" y="133533"/>
                      </a:lnTo>
                      <a:lnTo>
                        <a:pt x="168006" y="292029"/>
                      </a:lnTo>
                      <a:lnTo>
                        <a:pt x="136703" y="72116"/>
                      </a:lnTo>
                      <a:lnTo>
                        <a:pt x="96683" y="217932"/>
                      </a:lnTo>
                      <a:lnTo>
                        <a:pt x="39624" y="217932"/>
                      </a:lnTo>
                      <a:lnTo>
                        <a:pt x="39624" y="39624"/>
                      </a:lnTo>
                      <a:lnTo>
                        <a:pt x="393070" y="39624"/>
                      </a:lnTo>
                      <a:lnTo>
                        <a:pt x="393070" y="217932"/>
                      </a:lnTo>
                      <a:lnTo>
                        <a:pt x="322539" y="217932"/>
                      </a:ln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107" name="Graphic 41">
                  <a:extLst>
                    <a:ext uri="{FF2B5EF4-FFF2-40B4-BE49-F238E27FC236}">
                      <a16:creationId xmlns:a16="http://schemas.microsoft.com/office/drawing/2014/main" id="{B1FE61AE-DC3D-F677-F700-E54B3D28F13F}"/>
                    </a:ext>
                  </a:extLst>
                </p:cNvPr>
                <p:cNvGrpSpPr/>
                <p:nvPr/>
              </p:nvGrpSpPr>
              <p:grpSpPr>
                <a:xfrm>
                  <a:off x="8250435" y="3017491"/>
                  <a:ext cx="238140" cy="191383"/>
                  <a:chOff x="8250435" y="3017491"/>
                  <a:chExt cx="238140" cy="191383"/>
                </a:xfrm>
                <a:solidFill>
                  <a:schemeClr val="bg1"/>
                </a:solidFill>
              </p:grpSpPr>
              <p:sp>
                <p:nvSpPr>
                  <p:cNvPr id="108" name="Freeform: Shape 203">
                    <a:extLst>
                      <a:ext uri="{FF2B5EF4-FFF2-40B4-BE49-F238E27FC236}">
                        <a16:creationId xmlns:a16="http://schemas.microsoft.com/office/drawing/2014/main" id="{3A61CBE3-A650-48E1-5E3A-93CFB94772BB}"/>
                      </a:ext>
                    </a:extLst>
                  </p:cNvPr>
                  <p:cNvSpPr/>
                  <p:nvPr/>
                </p:nvSpPr>
                <p:spPr>
                  <a:xfrm>
                    <a:off x="8250435" y="3017491"/>
                    <a:ext cx="238140" cy="30510"/>
                  </a:xfrm>
                  <a:custGeom>
                    <a:avLst/>
                    <a:gdLst>
                      <a:gd name="connsiteX0" fmla="*/ 238140 w 238140"/>
                      <a:gd name="connsiteY0" fmla="*/ 0 h 30510"/>
                      <a:gd name="connsiteX1" fmla="*/ 0 w 238140"/>
                      <a:gd name="connsiteY1" fmla="*/ 0 h 30510"/>
                      <a:gd name="connsiteX2" fmla="*/ 0 w 238140"/>
                      <a:gd name="connsiteY2" fmla="*/ 30510 h 30510"/>
                      <a:gd name="connsiteX3" fmla="*/ 238140 w 238140"/>
                      <a:gd name="connsiteY3" fmla="*/ 30510 h 30510"/>
                      <a:gd name="connsiteX4" fmla="*/ 238140 w 238140"/>
                      <a:gd name="connsiteY4" fmla="*/ 0 h 30510"/>
                      <a:gd name="connsiteX5" fmla="*/ 15057 w 238140"/>
                      <a:gd name="connsiteY5" fmla="*/ 21793 h 30510"/>
                      <a:gd name="connsiteX6" fmla="*/ 8321 w 238140"/>
                      <a:gd name="connsiteY6" fmla="*/ 15057 h 30510"/>
                      <a:gd name="connsiteX7" fmla="*/ 15057 w 238140"/>
                      <a:gd name="connsiteY7" fmla="*/ 8321 h 30510"/>
                      <a:gd name="connsiteX8" fmla="*/ 22586 w 238140"/>
                      <a:gd name="connsiteY8" fmla="*/ 15057 h 30510"/>
                      <a:gd name="connsiteX9" fmla="*/ 15057 w 238140"/>
                      <a:gd name="connsiteY9" fmla="*/ 21793 h 30510"/>
                      <a:gd name="connsiteX10" fmla="*/ 37247 w 238140"/>
                      <a:gd name="connsiteY10" fmla="*/ 21793 h 30510"/>
                      <a:gd name="connsiteX11" fmla="*/ 30510 w 238140"/>
                      <a:gd name="connsiteY11" fmla="*/ 15057 h 30510"/>
                      <a:gd name="connsiteX12" fmla="*/ 37247 w 238140"/>
                      <a:gd name="connsiteY12" fmla="*/ 8321 h 30510"/>
                      <a:gd name="connsiteX13" fmla="*/ 43983 w 238140"/>
                      <a:gd name="connsiteY13" fmla="*/ 15057 h 30510"/>
                      <a:gd name="connsiteX14" fmla="*/ 37247 w 238140"/>
                      <a:gd name="connsiteY14" fmla="*/ 21793 h 30510"/>
                      <a:gd name="connsiteX15" fmla="*/ 58644 w 238140"/>
                      <a:gd name="connsiteY15" fmla="*/ 21793 h 30510"/>
                      <a:gd name="connsiteX16" fmla="*/ 51907 w 238140"/>
                      <a:gd name="connsiteY16" fmla="*/ 15057 h 30510"/>
                      <a:gd name="connsiteX17" fmla="*/ 58644 w 238140"/>
                      <a:gd name="connsiteY17" fmla="*/ 8321 h 30510"/>
                      <a:gd name="connsiteX18" fmla="*/ 65380 w 238140"/>
                      <a:gd name="connsiteY18" fmla="*/ 15057 h 30510"/>
                      <a:gd name="connsiteX19" fmla="*/ 58644 w 238140"/>
                      <a:gd name="connsiteY19" fmla="*/ 21793 h 30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8140" h="30510">
                        <a:moveTo>
                          <a:pt x="238140" y="0"/>
                        </a:moveTo>
                        <a:lnTo>
                          <a:pt x="0" y="0"/>
                        </a:lnTo>
                        <a:cubicBezTo>
                          <a:pt x="0" y="30510"/>
                          <a:pt x="0" y="30510"/>
                          <a:pt x="0" y="30510"/>
                        </a:cubicBezTo>
                        <a:cubicBezTo>
                          <a:pt x="238140" y="30510"/>
                          <a:pt x="238140" y="30510"/>
                          <a:pt x="238140" y="30510"/>
                        </a:cubicBezTo>
                        <a:cubicBezTo>
                          <a:pt x="238140" y="0"/>
                          <a:pt x="238140" y="0"/>
                          <a:pt x="238140" y="0"/>
                        </a:cubicBezTo>
                        <a:close/>
                        <a:moveTo>
                          <a:pt x="15057" y="21793"/>
                        </a:moveTo>
                        <a:cubicBezTo>
                          <a:pt x="11491" y="21793"/>
                          <a:pt x="8321" y="18227"/>
                          <a:pt x="8321" y="15057"/>
                        </a:cubicBezTo>
                        <a:cubicBezTo>
                          <a:pt x="8321" y="11095"/>
                          <a:pt x="11887" y="8321"/>
                          <a:pt x="15057" y="8321"/>
                        </a:cubicBezTo>
                        <a:cubicBezTo>
                          <a:pt x="19020" y="8321"/>
                          <a:pt x="22586" y="11095"/>
                          <a:pt x="22586" y="15057"/>
                        </a:cubicBezTo>
                        <a:cubicBezTo>
                          <a:pt x="22189" y="18623"/>
                          <a:pt x="19020" y="21793"/>
                          <a:pt x="15057" y="21793"/>
                        </a:cubicBezTo>
                        <a:close/>
                        <a:moveTo>
                          <a:pt x="37247" y="21793"/>
                        </a:moveTo>
                        <a:cubicBezTo>
                          <a:pt x="33284" y="21793"/>
                          <a:pt x="30510" y="18227"/>
                          <a:pt x="30510" y="15057"/>
                        </a:cubicBezTo>
                        <a:cubicBezTo>
                          <a:pt x="30510" y="11095"/>
                          <a:pt x="33284" y="8321"/>
                          <a:pt x="37247" y="8321"/>
                        </a:cubicBezTo>
                        <a:cubicBezTo>
                          <a:pt x="40813" y="8321"/>
                          <a:pt x="43983" y="11095"/>
                          <a:pt x="43983" y="15057"/>
                        </a:cubicBezTo>
                        <a:cubicBezTo>
                          <a:pt x="43983" y="18623"/>
                          <a:pt x="40417" y="21793"/>
                          <a:pt x="37247" y="21793"/>
                        </a:cubicBezTo>
                        <a:close/>
                        <a:moveTo>
                          <a:pt x="58644" y="21793"/>
                        </a:moveTo>
                        <a:cubicBezTo>
                          <a:pt x="55077" y="21793"/>
                          <a:pt x="51907" y="18227"/>
                          <a:pt x="51907" y="15057"/>
                        </a:cubicBezTo>
                        <a:cubicBezTo>
                          <a:pt x="51907" y="11095"/>
                          <a:pt x="55474" y="8321"/>
                          <a:pt x="58644" y="8321"/>
                        </a:cubicBezTo>
                        <a:cubicBezTo>
                          <a:pt x="62606" y="8321"/>
                          <a:pt x="65380" y="11095"/>
                          <a:pt x="65380" y="15057"/>
                        </a:cubicBezTo>
                        <a:cubicBezTo>
                          <a:pt x="65380" y="18623"/>
                          <a:pt x="63002" y="21793"/>
                          <a:pt x="58644" y="21793"/>
                        </a:cubicBez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0" name="Freeform: Shape 204">
                    <a:extLst>
                      <a:ext uri="{FF2B5EF4-FFF2-40B4-BE49-F238E27FC236}">
                        <a16:creationId xmlns:a16="http://schemas.microsoft.com/office/drawing/2014/main" id="{99566C2C-9830-CCA8-DFE4-8D4885EBD781}"/>
                      </a:ext>
                    </a:extLst>
                  </p:cNvPr>
                  <p:cNvSpPr/>
                  <p:nvPr/>
                </p:nvSpPr>
                <p:spPr>
                  <a:xfrm>
                    <a:off x="8250435" y="3057907"/>
                    <a:ext cx="238140" cy="150967"/>
                  </a:xfrm>
                  <a:custGeom>
                    <a:avLst/>
                    <a:gdLst>
                      <a:gd name="connsiteX0" fmla="*/ 0 w 238140"/>
                      <a:gd name="connsiteY0" fmla="*/ 0 h 150967"/>
                      <a:gd name="connsiteX1" fmla="*/ 0 w 238140"/>
                      <a:gd name="connsiteY1" fmla="*/ 143439 h 150967"/>
                      <a:gd name="connsiteX2" fmla="*/ 6736 w 238140"/>
                      <a:gd name="connsiteY2" fmla="*/ 150967 h 150967"/>
                      <a:gd name="connsiteX3" fmla="*/ 230612 w 238140"/>
                      <a:gd name="connsiteY3" fmla="*/ 150967 h 150967"/>
                      <a:gd name="connsiteX4" fmla="*/ 238140 w 238140"/>
                      <a:gd name="connsiteY4" fmla="*/ 143439 h 150967"/>
                      <a:gd name="connsiteX5" fmla="*/ 238140 w 238140"/>
                      <a:gd name="connsiteY5" fmla="*/ 0 h 150967"/>
                      <a:gd name="connsiteX6" fmla="*/ 0 w 238140"/>
                      <a:gd name="connsiteY6" fmla="*/ 0 h 15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140" h="150967">
                        <a:moveTo>
                          <a:pt x="0" y="0"/>
                        </a:moveTo>
                        <a:cubicBezTo>
                          <a:pt x="0" y="143439"/>
                          <a:pt x="0" y="143439"/>
                          <a:pt x="0" y="143439"/>
                        </a:cubicBezTo>
                        <a:cubicBezTo>
                          <a:pt x="0" y="147401"/>
                          <a:pt x="2774" y="150967"/>
                          <a:pt x="6736" y="150967"/>
                        </a:cubicBezTo>
                        <a:cubicBezTo>
                          <a:pt x="230612" y="150967"/>
                          <a:pt x="230612" y="150967"/>
                          <a:pt x="230612" y="150967"/>
                        </a:cubicBezTo>
                        <a:cubicBezTo>
                          <a:pt x="234574" y="150967"/>
                          <a:pt x="238140" y="147798"/>
                          <a:pt x="238140" y="143439"/>
                        </a:cubicBezTo>
                        <a:cubicBezTo>
                          <a:pt x="238140" y="0"/>
                          <a:pt x="238140" y="0"/>
                          <a:pt x="238140" y="0"/>
                        </a:cubicBezTo>
                        <a:lnTo>
                          <a:pt x="0" y="0"/>
                        </a:ln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grpSp>
      </p:grpSp>
      <p:grpSp>
        <p:nvGrpSpPr>
          <p:cNvPr id="130" name="Group 129">
            <a:extLst>
              <a:ext uri="{FF2B5EF4-FFF2-40B4-BE49-F238E27FC236}">
                <a16:creationId xmlns:a16="http://schemas.microsoft.com/office/drawing/2014/main" id="{EBA43A77-BAB9-F408-5FD3-6359A66A4536}"/>
              </a:ext>
            </a:extLst>
          </p:cNvPr>
          <p:cNvGrpSpPr/>
          <p:nvPr/>
        </p:nvGrpSpPr>
        <p:grpSpPr>
          <a:xfrm>
            <a:off x="1275298" y="3989763"/>
            <a:ext cx="4477219" cy="457200"/>
            <a:chOff x="939060" y="1951839"/>
            <a:chExt cx="4477219" cy="457200"/>
          </a:xfrm>
        </p:grpSpPr>
        <p:grpSp>
          <p:nvGrpSpPr>
            <p:cNvPr id="131" name="Group 130">
              <a:extLst>
                <a:ext uri="{FF2B5EF4-FFF2-40B4-BE49-F238E27FC236}">
                  <a16:creationId xmlns:a16="http://schemas.microsoft.com/office/drawing/2014/main" id="{9ECDB8F3-C404-8259-1371-3BB4EB79F221}"/>
                </a:ext>
              </a:extLst>
            </p:cNvPr>
            <p:cNvGrpSpPr>
              <a:grpSpLocks noChangeAspect="1"/>
            </p:cNvGrpSpPr>
            <p:nvPr/>
          </p:nvGrpSpPr>
          <p:grpSpPr>
            <a:xfrm>
              <a:off x="2547066" y="1951839"/>
              <a:ext cx="457202" cy="457200"/>
              <a:chOff x="7498117" y="3244694"/>
              <a:chExt cx="615026" cy="615024"/>
            </a:xfrm>
          </p:grpSpPr>
          <p:sp>
            <p:nvSpPr>
              <p:cNvPr id="185" name="Oval 184">
                <a:extLst>
                  <a:ext uri="{FF2B5EF4-FFF2-40B4-BE49-F238E27FC236}">
                    <a16:creationId xmlns:a16="http://schemas.microsoft.com/office/drawing/2014/main" id="{61D4EFE4-E46F-8865-4835-4B1769501B7B}"/>
                  </a:ext>
                </a:extLst>
              </p:cNvPr>
              <p:cNvSpPr>
                <a:spLocks noChangeAspect="1"/>
              </p:cNvSpPr>
              <p:nvPr/>
            </p:nvSpPr>
            <p:spPr>
              <a:xfrm>
                <a:off x="7498117" y="3244694"/>
                <a:ext cx="615026" cy="615024"/>
              </a:xfrm>
              <a:prstGeom prst="ellipse">
                <a:avLst/>
              </a:prstGeom>
              <a:solidFill>
                <a:schemeClr val="accent5"/>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86" name="Graphic 62">
                <a:extLst>
                  <a:ext uri="{FF2B5EF4-FFF2-40B4-BE49-F238E27FC236}">
                    <a16:creationId xmlns:a16="http://schemas.microsoft.com/office/drawing/2014/main" id="{58D130AF-B260-E777-F42B-7F5A09958085}"/>
                  </a:ext>
                </a:extLst>
              </p:cNvPr>
              <p:cNvSpPr/>
              <p:nvPr/>
            </p:nvSpPr>
            <p:spPr>
              <a:xfrm>
                <a:off x="7601547" y="3369194"/>
                <a:ext cx="366027" cy="366026"/>
              </a:xfrm>
              <a:custGeom>
                <a:avLst/>
                <a:gdLst>
                  <a:gd name="connsiteX0" fmla="*/ 168355 w 537323"/>
                  <a:gd name="connsiteY0" fmla="*/ 0 h 537323"/>
                  <a:gd name="connsiteX1" fmla="*/ 0 w 537323"/>
                  <a:gd name="connsiteY1" fmla="*/ 185968 h 537323"/>
                  <a:gd name="connsiteX2" fmla="*/ 0 w 537323"/>
                  <a:gd name="connsiteY2" fmla="*/ 353777 h 537323"/>
                  <a:gd name="connsiteX3" fmla="*/ 174877 w 537323"/>
                  <a:gd name="connsiteY3" fmla="*/ 537324 h 537323"/>
                  <a:gd name="connsiteX4" fmla="*/ 537324 w 537323"/>
                  <a:gd name="connsiteY4" fmla="*/ 537324 h 537323"/>
                  <a:gd name="connsiteX5" fmla="*/ 537324 w 537323"/>
                  <a:gd name="connsiteY5" fmla="*/ 0 h 537323"/>
                  <a:gd name="connsiteX6" fmla="*/ 168355 w 537323"/>
                  <a:gd name="connsiteY6" fmla="*/ 0 h 537323"/>
                  <a:gd name="connsiteX7" fmla="*/ 200964 w 537323"/>
                  <a:gd name="connsiteY7" fmla="*/ 151680 h 537323"/>
                  <a:gd name="connsiteX8" fmla="*/ 220295 w 537323"/>
                  <a:gd name="connsiteY8" fmla="*/ 171011 h 537323"/>
                  <a:gd name="connsiteX9" fmla="*/ 153633 w 537323"/>
                  <a:gd name="connsiteY9" fmla="*/ 237674 h 537323"/>
                  <a:gd name="connsiteX10" fmla="*/ 134302 w 537323"/>
                  <a:gd name="connsiteY10" fmla="*/ 218343 h 537323"/>
                  <a:gd name="connsiteX11" fmla="*/ 200964 w 537323"/>
                  <a:gd name="connsiteY11" fmla="*/ 151680 h 537323"/>
                  <a:gd name="connsiteX12" fmla="*/ 204870 w 537323"/>
                  <a:gd name="connsiteY12" fmla="*/ 264151 h 537323"/>
                  <a:gd name="connsiteX13" fmla="*/ 204870 w 537323"/>
                  <a:gd name="connsiteY13" fmla="*/ 291488 h 537323"/>
                  <a:gd name="connsiteX14" fmla="*/ 153320 w 537323"/>
                  <a:gd name="connsiteY14" fmla="*/ 291488 h 537323"/>
                  <a:gd name="connsiteX15" fmla="*/ 153320 w 537323"/>
                  <a:gd name="connsiteY15" fmla="*/ 264151 h 537323"/>
                  <a:gd name="connsiteX16" fmla="*/ 204870 w 537323"/>
                  <a:gd name="connsiteY16" fmla="*/ 264151 h 537323"/>
                  <a:gd name="connsiteX17" fmla="*/ 117119 w 537323"/>
                  <a:gd name="connsiteY17" fmla="*/ 308632 h 537323"/>
                  <a:gd name="connsiteX18" fmla="*/ 55494 w 537323"/>
                  <a:gd name="connsiteY18" fmla="*/ 308632 h 537323"/>
                  <a:gd name="connsiteX19" fmla="*/ 55494 w 537323"/>
                  <a:gd name="connsiteY19" fmla="*/ 247007 h 537323"/>
                  <a:gd name="connsiteX20" fmla="*/ 117119 w 537323"/>
                  <a:gd name="connsiteY20" fmla="*/ 247007 h 537323"/>
                  <a:gd name="connsiteX21" fmla="*/ 117119 w 537323"/>
                  <a:gd name="connsiteY21" fmla="*/ 308632 h 537323"/>
                  <a:gd name="connsiteX22" fmla="*/ 134302 w 537323"/>
                  <a:gd name="connsiteY22" fmla="*/ 343506 h 537323"/>
                  <a:gd name="connsiteX23" fmla="*/ 153633 w 537323"/>
                  <a:gd name="connsiteY23" fmla="*/ 324175 h 537323"/>
                  <a:gd name="connsiteX24" fmla="*/ 220295 w 537323"/>
                  <a:gd name="connsiteY24" fmla="*/ 390838 h 537323"/>
                  <a:gd name="connsiteX25" fmla="*/ 200964 w 537323"/>
                  <a:gd name="connsiteY25" fmla="*/ 410169 h 537323"/>
                  <a:gd name="connsiteX26" fmla="*/ 134302 w 537323"/>
                  <a:gd name="connsiteY26" fmla="*/ 343506 h 537323"/>
                  <a:gd name="connsiteX27" fmla="*/ 287231 w 537323"/>
                  <a:gd name="connsiteY27" fmla="*/ 478901 h 537323"/>
                  <a:gd name="connsiteX28" fmla="*/ 225606 w 537323"/>
                  <a:gd name="connsiteY28" fmla="*/ 478901 h 537323"/>
                  <a:gd name="connsiteX29" fmla="*/ 225606 w 537323"/>
                  <a:gd name="connsiteY29" fmla="*/ 417276 h 537323"/>
                  <a:gd name="connsiteX30" fmla="*/ 287231 w 537323"/>
                  <a:gd name="connsiteY30" fmla="*/ 417276 h 537323"/>
                  <a:gd name="connsiteX31" fmla="*/ 287231 w 537323"/>
                  <a:gd name="connsiteY31" fmla="*/ 478901 h 537323"/>
                  <a:gd name="connsiteX32" fmla="*/ 287231 w 537323"/>
                  <a:gd name="connsiteY32" fmla="*/ 308593 h 537323"/>
                  <a:gd name="connsiteX33" fmla="*/ 225606 w 537323"/>
                  <a:gd name="connsiteY33" fmla="*/ 308593 h 537323"/>
                  <a:gd name="connsiteX34" fmla="*/ 225606 w 537323"/>
                  <a:gd name="connsiteY34" fmla="*/ 246968 h 537323"/>
                  <a:gd name="connsiteX35" fmla="*/ 287231 w 537323"/>
                  <a:gd name="connsiteY35" fmla="*/ 246968 h 537323"/>
                  <a:gd name="connsiteX36" fmla="*/ 287231 w 537323"/>
                  <a:gd name="connsiteY36" fmla="*/ 308593 h 537323"/>
                  <a:gd name="connsiteX37" fmla="*/ 287231 w 537323"/>
                  <a:gd name="connsiteY37" fmla="*/ 137192 h 537323"/>
                  <a:gd name="connsiteX38" fmla="*/ 225606 w 537323"/>
                  <a:gd name="connsiteY38" fmla="*/ 137192 h 537323"/>
                  <a:gd name="connsiteX39" fmla="*/ 225606 w 537323"/>
                  <a:gd name="connsiteY39" fmla="*/ 75567 h 537323"/>
                  <a:gd name="connsiteX40" fmla="*/ 287231 w 537323"/>
                  <a:gd name="connsiteY40" fmla="*/ 75567 h 537323"/>
                  <a:gd name="connsiteX41" fmla="*/ 287231 w 537323"/>
                  <a:gd name="connsiteY41" fmla="*/ 137192 h 537323"/>
                  <a:gd name="connsiteX42" fmla="*/ 449143 w 537323"/>
                  <a:gd name="connsiteY42" fmla="*/ 475386 h 537323"/>
                  <a:gd name="connsiteX43" fmla="*/ 449143 w 537323"/>
                  <a:gd name="connsiteY43" fmla="*/ 461796 h 537323"/>
                  <a:gd name="connsiteX44" fmla="*/ 322105 w 537323"/>
                  <a:gd name="connsiteY44" fmla="*/ 461796 h 537323"/>
                  <a:gd name="connsiteX45" fmla="*/ 322105 w 537323"/>
                  <a:gd name="connsiteY45" fmla="*/ 434459 h 537323"/>
                  <a:gd name="connsiteX46" fmla="*/ 449143 w 537323"/>
                  <a:gd name="connsiteY46" fmla="*/ 434459 h 537323"/>
                  <a:gd name="connsiteX47" fmla="*/ 449143 w 537323"/>
                  <a:gd name="connsiteY47" fmla="*/ 420869 h 537323"/>
                  <a:gd name="connsiteX48" fmla="*/ 496358 w 537323"/>
                  <a:gd name="connsiteY48" fmla="*/ 448128 h 537323"/>
                  <a:gd name="connsiteX49" fmla="*/ 449143 w 537323"/>
                  <a:gd name="connsiteY49" fmla="*/ 475386 h 537323"/>
                  <a:gd name="connsiteX50" fmla="*/ 449143 w 537323"/>
                  <a:gd name="connsiteY50" fmla="*/ 305039 h 537323"/>
                  <a:gd name="connsiteX51" fmla="*/ 449143 w 537323"/>
                  <a:gd name="connsiteY51" fmla="*/ 291449 h 537323"/>
                  <a:gd name="connsiteX52" fmla="*/ 322105 w 537323"/>
                  <a:gd name="connsiteY52" fmla="*/ 291449 h 537323"/>
                  <a:gd name="connsiteX53" fmla="*/ 322105 w 537323"/>
                  <a:gd name="connsiteY53" fmla="*/ 264112 h 537323"/>
                  <a:gd name="connsiteX54" fmla="*/ 449143 w 537323"/>
                  <a:gd name="connsiteY54" fmla="*/ 264112 h 537323"/>
                  <a:gd name="connsiteX55" fmla="*/ 449143 w 537323"/>
                  <a:gd name="connsiteY55" fmla="*/ 250522 h 537323"/>
                  <a:gd name="connsiteX56" fmla="*/ 496358 w 537323"/>
                  <a:gd name="connsiteY56" fmla="*/ 277781 h 537323"/>
                  <a:gd name="connsiteX57" fmla="*/ 449143 w 537323"/>
                  <a:gd name="connsiteY57" fmla="*/ 305039 h 537323"/>
                  <a:gd name="connsiteX58" fmla="*/ 449143 w 537323"/>
                  <a:gd name="connsiteY58" fmla="*/ 133638 h 537323"/>
                  <a:gd name="connsiteX59" fmla="*/ 449143 w 537323"/>
                  <a:gd name="connsiteY59" fmla="*/ 120047 h 537323"/>
                  <a:gd name="connsiteX60" fmla="*/ 322105 w 537323"/>
                  <a:gd name="connsiteY60" fmla="*/ 120047 h 537323"/>
                  <a:gd name="connsiteX61" fmla="*/ 322105 w 537323"/>
                  <a:gd name="connsiteY61" fmla="*/ 92711 h 537323"/>
                  <a:gd name="connsiteX62" fmla="*/ 449143 w 537323"/>
                  <a:gd name="connsiteY62" fmla="*/ 92711 h 537323"/>
                  <a:gd name="connsiteX63" fmla="*/ 449143 w 537323"/>
                  <a:gd name="connsiteY63" fmla="*/ 79120 h 537323"/>
                  <a:gd name="connsiteX64" fmla="*/ 496358 w 537323"/>
                  <a:gd name="connsiteY64" fmla="*/ 106379 h 537323"/>
                  <a:gd name="connsiteX65" fmla="*/ 449143 w 537323"/>
                  <a:gd name="connsiteY65" fmla="*/ 133638 h 537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37323" h="537323">
                    <a:moveTo>
                      <a:pt x="168355" y="0"/>
                    </a:moveTo>
                    <a:lnTo>
                      <a:pt x="0" y="185968"/>
                    </a:lnTo>
                    <a:lnTo>
                      <a:pt x="0" y="353777"/>
                    </a:lnTo>
                    <a:lnTo>
                      <a:pt x="174877" y="537324"/>
                    </a:lnTo>
                    <a:lnTo>
                      <a:pt x="537324" y="537324"/>
                    </a:lnTo>
                    <a:lnTo>
                      <a:pt x="537324" y="0"/>
                    </a:lnTo>
                    <a:lnTo>
                      <a:pt x="168355" y="0"/>
                    </a:lnTo>
                    <a:close/>
                    <a:moveTo>
                      <a:pt x="200964" y="151680"/>
                    </a:moveTo>
                    <a:lnTo>
                      <a:pt x="220295" y="171011"/>
                    </a:lnTo>
                    <a:lnTo>
                      <a:pt x="153633" y="237674"/>
                    </a:lnTo>
                    <a:lnTo>
                      <a:pt x="134302" y="218343"/>
                    </a:lnTo>
                    <a:lnTo>
                      <a:pt x="200964" y="151680"/>
                    </a:lnTo>
                    <a:close/>
                    <a:moveTo>
                      <a:pt x="204870" y="264151"/>
                    </a:moveTo>
                    <a:lnTo>
                      <a:pt x="204870" y="291488"/>
                    </a:lnTo>
                    <a:lnTo>
                      <a:pt x="153320" y="291488"/>
                    </a:lnTo>
                    <a:lnTo>
                      <a:pt x="153320" y="264151"/>
                    </a:lnTo>
                    <a:lnTo>
                      <a:pt x="204870" y="264151"/>
                    </a:lnTo>
                    <a:close/>
                    <a:moveTo>
                      <a:pt x="117119" y="308632"/>
                    </a:moveTo>
                    <a:cubicBezTo>
                      <a:pt x="100092" y="325659"/>
                      <a:pt x="72521" y="325659"/>
                      <a:pt x="55494" y="308632"/>
                    </a:cubicBezTo>
                    <a:cubicBezTo>
                      <a:pt x="38467" y="291605"/>
                      <a:pt x="38467" y="264034"/>
                      <a:pt x="55494" y="247007"/>
                    </a:cubicBezTo>
                    <a:cubicBezTo>
                      <a:pt x="72521" y="229980"/>
                      <a:pt x="100092" y="229980"/>
                      <a:pt x="117119" y="247007"/>
                    </a:cubicBezTo>
                    <a:cubicBezTo>
                      <a:pt x="134145" y="264034"/>
                      <a:pt x="134145" y="291605"/>
                      <a:pt x="117119" y="308632"/>
                    </a:cubicBezTo>
                    <a:close/>
                    <a:moveTo>
                      <a:pt x="134302" y="343506"/>
                    </a:moveTo>
                    <a:lnTo>
                      <a:pt x="153633" y="324175"/>
                    </a:lnTo>
                    <a:lnTo>
                      <a:pt x="220295" y="390838"/>
                    </a:lnTo>
                    <a:lnTo>
                      <a:pt x="200964" y="410169"/>
                    </a:lnTo>
                    <a:lnTo>
                      <a:pt x="134302" y="343506"/>
                    </a:lnTo>
                    <a:close/>
                    <a:moveTo>
                      <a:pt x="287231" y="478901"/>
                    </a:moveTo>
                    <a:cubicBezTo>
                      <a:pt x="270204" y="495928"/>
                      <a:pt x="242633" y="495928"/>
                      <a:pt x="225606" y="478901"/>
                    </a:cubicBezTo>
                    <a:cubicBezTo>
                      <a:pt x="208580" y="461874"/>
                      <a:pt x="208580" y="434303"/>
                      <a:pt x="225606" y="417276"/>
                    </a:cubicBezTo>
                    <a:cubicBezTo>
                      <a:pt x="242633" y="400249"/>
                      <a:pt x="270204" y="400249"/>
                      <a:pt x="287231" y="417276"/>
                    </a:cubicBezTo>
                    <a:cubicBezTo>
                      <a:pt x="304258" y="434303"/>
                      <a:pt x="304258" y="461874"/>
                      <a:pt x="287231" y="478901"/>
                    </a:cubicBezTo>
                    <a:close/>
                    <a:moveTo>
                      <a:pt x="287231" y="308593"/>
                    </a:moveTo>
                    <a:cubicBezTo>
                      <a:pt x="270204" y="325620"/>
                      <a:pt x="242633" y="325620"/>
                      <a:pt x="225606" y="308593"/>
                    </a:cubicBezTo>
                    <a:cubicBezTo>
                      <a:pt x="208580" y="291566"/>
                      <a:pt x="208580" y="263995"/>
                      <a:pt x="225606" y="246968"/>
                    </a:cubicBezTo>
                    <a:cubicBezTo>
                      <a:pt x="242633" y="229941"/>
                      <a:pt x="270204" y="229941"/>
                      <a:pt x="287231" y="246968"/>
                    </a:cubicBezTo>
                    <a:cubicBezTo>
                      <a:pt x="304258" y="263995"/>
                      <a:pt x="304258" y="291566"/>
                      <a:pt x="287231" y="308593"/>
                    </a:cubicBezTo>
                    <a:close/>
                    <a:moveTo>
                      <a:pt x="287231" y="137192"/>
                    </a:moveTo>
                    <a:cubicBezTo>
                      <a:pt x="270204" y="154218"/>
                      <a:pt x="242633" y="154218"/>
                      <a:pt x="225606" y="137192"/>
                    </a:cubicBezTo>
                    <a:cubicBezTo>
                      <a:pt x="208580" y="120165"/>
                      <a:pt x="208580" y="92594"/>
                      <a:pt x="225606" y="75567"/>
                    </a:cubicBezTo>
                    <a:cubicBezTo>
                      <a:pt x="242633" y="58540"/>
                      <a:pt x="270204" y="58540"/>
                      <a:pt x="287231" y="75567"/>
                    </a:cubicBezTo>
                    <a:cubicBezTo>
                      <a:pt x="304258" y="92594"/>
                      <a:pt x="304258" y="120165"/>
                      <a:pt x="287231" y="137192"/>
                    </a:cubicBezTo>
                    <a:close/>
                    <a:moveTo>
                      <a:pt x="449143" y="475386"/>
                    </a:moveTo>
                    <a:lnTo>
                      <a:pt x="449143" y="461796"/>
                    </a:lnTo>
                    <a:lnTo>
                      <a:pt x="322105" y="461796"/>
                    </a:lnTo>
                    <a:lnTo>
                      <a:pt x="322105" y="434459"/>
                    </a:lnTo>
                    <a:lnTo>
                      <a:pt x="449143" y="434459"/>
                    </a:lnTo>
                    <a:lnTo>
                      <a:pt x="449143" y="420869"/>
                    </a:lnTo>
                    <a:lnTo>
                      <a:pt x="496358" y="448128"/>
                    </a:lnTo>
                    <a:lnTo>
                      <a:pt x="449143" y="475386"/>
                    </a:lnTo>
                    <a:close/>
                    <a:moveTo>
                      <a:pt x="449143" y="305039"/>
                    </a:moveTo>
                    <a:lnTo>
                      <a:pt x="449143" y="291449"/>
                    </a:lnTo>
                    <a:lnTo>
                      <a:pt x="322105" y="291449"/>
                    </a:lnTo>
                    <a:lnTo>
                      <a:pt x="322105" y="264112"/>
                    </a:lnTo>
                    <a:lnTo>
                      <a:pt x="449143" y="264112"/>
                    </a:lnTo>
                    <a:lnTo>
                      <a:pt x="449143" y="250522"/>
                    </a:lnTo>
                    <a:lnTo>
                      <a:pt x="496358" y="277781"/>
                    </a:lnTo>
                    <a:lnTo>
                      <a:pt x="449143" y="305039"/>
                    </a:lnTo>
                    <a:close/>
                    <a:moveTo>
                      <a:pt x="449143" y="133638"/>
                    </a:moveTo>
                    <a:lnTo>
                      <a:pt x="449143" y="120047"/>
                    </a:lnTo>
                    <a:lnTo>
                      <a:pt x="322105" y="120047"/>
                    </a:lnTo>
                    <a:lnTo>
                      <a:pt x="322105" y="92711"/>
                    </a:lnTo>
                    <a:lnTo>
                      <a:pt x="449143" y="92711"/>
                    </a:lnTo>
                    <a:lnTo>
                      <a:pt x="449143" y="79120"/>
                    </a:lnTo>
                    <a:lnTo>
                      <a:pt x="496358" y="106379"/>
                    </a:lnTo>
                    <a:lnTo>
                      <a:pt x="449143" y="133638"/>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132" name="Group 131">
              <a:extLst>
                <a:ext uri="{FF2B5EF4-FFF2-40B4-BE49-F238E27FC236}">
                  <a16:creationId xmlns:a16="http://schemas.microsoft.com/office/drawing/2014/main" id="{5868C20C-8A0E-E81F-8D90-6ABFF36727D5}"/>
                </a:ext>
              </a:extLst>
            </p:cNvPr>
            <p:cNvGrpSpPr>
              <a:grpSpLocks noChangeAspect="1"/>
            </p:cNvGrpSpPr>
            <p:nvPr/>
          </p:nvGrpSpPr>
          <p:grpSpPr>
            <a:xfrm>
              <a:off x="1743062" y="1951839"/>
              <a:ext cx="457202" cy="457200"/>
              <a:chOff x="6236527" y="4282407"/>
              <a:chExt cx="615026" cy="615024"/>
            </a:xfrm>
          </p:grpSpPr>
          <p:sp>
            <p:nvSpPr>
              <p:cNvPr id="173" name="Oval 172">
                <a:extLst>
                  <a:ext uri="{FF2B5EF4-FFF2-40B4-BE49-F238E27FC236}">
                    <a16:creationId xmlns:a16="http://schemas.microsoft.com/office/drawing/2014/main" id="{6AF461D3-97ED-3768-B6D6-985300342940}"/>
                  </a:ext>
                </a:extLst>
              </p:cNvPr>
              <p:cNvSpPr>
                <a:spLocks noChangeAspect="1"/>
              </p:cNvSpPr>
              <p:nvPr/>
            </p:nvSpPr>
            <p:spPr>
              <a:xfrm>
                <a:off x="6236527" y="4282407"/>
                <a:ext cx="615026" cy="615024"/>
              </a:xfrm>
              <a:prstGeom prst="ellipse">
                <a:avLst/>
              </a:prstGeom>
              <a:solidFill>
                <a:srgbClr val="C00000"/>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nvGrpSpPr>
              <p:cNvPr id="174" name="Group 173">
                <a:extLst>
                  <a:ext uri="{FF2B5EF4-FFF2-40B4-BE49-F238E27FC236}">
                    <a16:creationId xmlns:a16="http://schemas.microsoft.com/office/drawing/2014/main" id="{8AAA623D-A9A1-1A83-2823-9C7673691C56}"/>
                  </a:ext>
                </a:extLst>
              </p:cNvPr>
              <p:cNvGrpSpPr/>
              <p:nvPr/>
            </p:nvGrpSpPr>
            <p:grpSpPr>
              <a:xfrm>
                <a:off x="6341349" y="4462363"/>
                <a:ext cx="395473" cy="299841"/>
                <a:chOff x="3560655" y="2748581"/>
                <a:chExt cx="580548" cy="440165"/>
              </a:xfrm>
            </p:grpSpPr>
            <p:sp>
              <p:nvSpPr>
                <p:cNvPr id="179" name="Freeform: Shape 155">
                  <a:extLst>
                    <a:ext uri="{FF2B5EF4-FFF2-40B4-BE49-F238E27FC236}">
                      <a16:creationId xmlns:a16="http://schemas.microsoft.com/office/drawing/2014/main" id="{79D7907B-9535-F0F3-A6E2-A225B1BDDA40}"/>
                    </a:ext>
                  </a:extLst>
                </p:cNvPr>
                <p:cNvSpPr/>
                <p:nvPr/>
              </p:nvSpPr>
              <p:spPr>
                <a:xfrm>
                  <a:off x="3560655" y="2748581"/>
                  <a:ext cx="580548" cy="336411"/>
                </a:xfrm>
                <a:custGeom>
                  <a:avLst/>
                  <a:gdLst>
                    <a:gd name="connsiteX0" fmla="*/ 284140 w 580548"/>
                    <a:gd name="connsiteY0" fmla="*/ 305741 h 336411"/>
                    <a:gd name="connsiteX1" fmla="*/ 134381 w 580548"/>
                    <a:gd name="connsiteY1" fmla="*/ 305741 h 336411"/>
                    <a:gd name="connsiteX2" fmla="*/ 134381 w 580548"/>
                    <a:gd name="connsiteY2" fmla="*/ 234498 h 336411"/>
                    <a:gd name="connsiteX3" fmla="*/ 290450 w 580548"/>
                    <a:gd name="connsiteY3" fmla="*/ 234498 h 336411"/>
                    <a:gd name="connsiteX4" fmla="*/ 290450 w 580548"/>
                    <a:gd name="connsiteY4" fmla="*/ 292597 h 336411"/>
                    <a:gd name="connsiteX5" fmla="*/ 316739 w 580548"/>
                    <a:gd name="connsiteY5" fmla="*/ 238660 h 336411"/>
                    <a:gd name="connsiteX6" fmla="*/ 316739 w 580548"/>
                    <a:gd name="connsiteY6" fmla="*/ 234498 h 336411"/>
                    <a:gd name="connsiteX7" fmla="*/ 318754 w 580548"/>
                    <a:gd name="connsiteY7" fmla="*/ 234498 h 336411"/>
                    <a:gd name="connsiteX8" fmla="*/ 333695 w 580548"/>
                    <a:gd name="connsiteY8" fmla="*/ 203827 h 336411"/>
                    <a:gd name="connsiteX9" fmla="*/ 258421 w 580548"/>
                    <a:gd name="connsiteY9" fmla="*/ 203827 h 336411"/>
                    <a:gd name="connsiteX10" fmla="*/ 258421 w 580548"/>
                    <a:gd name="connsiteY10" fmla="*/ 132584 h 336411"/>
                    <a:gd name="connsiteX11" fmla="*/ 414490 w 580548"/>
                    <a:gd name="connsiteY11" fmla="*/ 132584 h 336411"/>
                    <a:gd name="connsiteX12" fmla="*/ 414490 w 580548"/>
                    <a:gd name="connsiteY12" fmla="*/ 192479 h 336411"/>
                    <a:gd name="connsiteX13" fmla="*/ 440779 w 580548"/>
                    <a:gd name="connsiteY13" fmla="*/ 137973 h 336411"/>
                    <a:gd name="connsiteX14" fmla="*/ 440779 w 580548"/>
                    <a:gd name="connsiteY14" fmla="*/ 132584 h 336411"/>
                    <a:gd name="connsiteX15" fmla="*/ 443364 w 580548"/>
                    <a:gd name="connsiteY15" fmla="*/ 132584 h 336411"/>
                    <a:gd name="connsiteX16" fmla="*/ 458173 w 580548"/>
                    <a:gd name="connsiteY16" fmla="*/ 101914 h 336411"/>
                    <a:gd name="connsiteX17" fmla="*/ 351528 w 580548"/>
                    <a:gd name="connsiteY17" fmla="*/ 101914 h 336411"/>
                    <a:gd name="connsiteX18" fmla="*/ 351528 w 580548"/>
                    <a:gd name="connsiteY18" fmla="*/ 30671 h 336411"/>
                    <a:gd name="connsiteX19" fmla="*/ 507597 w 580548"/>
                    <a:gd name="connsiteY19" fmla="*/ 30671 h 336411"/>
                    <a:gd name="connsiteX20" fmla="*/ 507597 w 580548"/>
                    <a:gd name="connsiteY20" fmla="*/ 101914 h 336411"/>
                    <a:gd name="connsiteX21" fmla="*/ 496643 w 580548"/>
                    <a:gd name="connsiteY21" fmla="*/ 101914 h 336411"/>
                    <a:gd name="connsiteX22" fmla="*/ 506063 w 580548"/>
                    <a:gd name="connsiteY22" fmla="*/ 121324 h 336411"/>
                    <a:gd name="connsiteX23" fmla="*/ 511540 w 580548"/>
                    <a:gd name="connsiteY23" fmla="*/ 132584 h 336411"/>
                    <a:gd name="connsiteX24" fmla="*/ 549834 w 580548"/>
                    <a:gd name="connsiteY24" fmla="*/ 132584 h 336411"/>
                    <a:gd name="connsiteX25" fmla="*/ 549834 w 580548"/>
                    <a:gd name="connsiteY25" fmla="*/ 203827 h 336411"/>
                    <a:gd name="connsiteX26" fmla="*/ 546154 w 580548"/>
                    <a:gd name="connsiteY26" fmla="*/ 203827 h 336411"/>
                    <a:gd name="connsiteX27" fmla="*/ 574984 w 580548"/>
                    <a:gd name="connsiteY27" fmla="*/ 262759 h 336411"/>
                    <a:gd name="connsiteX28" fmla="*/ 580549 w 580548"/>
                    <a:gd name="connsiteY28" fmla="*/ 274326 h 336411"/>
                    <a:gd name="connsiteX29" fmla="*/ 580549 w 580548"/>
                    <a:gd name="connsiteY29" fmla="*/ 0 h 336411"/>
                    <a:gd name="connsiteX30" fmla="*/ 0 w 580548"/>
                    <a:gd name="connsiteY30" fmla="*/ 0 h 336411"/>
                    <a:gd name="connsiteX31" fmla="*/ 0 w 580548"/>
                    <a:gd name="connsiteY31" fmla="*/ 336412 h 336411"/>
                    <a:gd name="connsiteX32" fmla="*/ 275509 w 580548"/>
                    <a:gd name="connsiteY32" fmla="*/ 336412 h 336411"/>
                    <a:gd name="connsiteX33" fmla="*/ 284140 w 580548"/>
                    <a:gd name="connsiteY33" fmla="*/ 305741 h 336411"/>
                    <a:gd name="connsiteX34" fmla="*/ 533886 w 580548"/>
                    <a:gd name="connsiteY34" fmla="*/ 30671 h 336411"/>
                    <a:gd name="connsiteX35" fmla="*/ 549834 w 580548"/>
                    <a:gd name="connsiteY35" fmla="*/ 30671 h 336411"/>
                    <a:gd name="connsiteX36" fmla="*/ 549834 w 580548"/>
                    <a:gd name="connsiteY36" fmla="*/ 101914 h 336411"/>
                    <a:gd name="connsiteX37" fmla="*/ 533886 w 580548"/>
                    <a:gd name="connsiteY37" fmla="*/ 101914 h 336411"/>
                    <a:gd name="connsiteX38" fmla="*/ 533886 w 580548"/>
                    <a:gd name="connsiteY38" fmla="*/ 30671 h 336411"/>
                    <a:gd name="connsiteX39" fmla="*/ 232132 w 580548"/>
                    <a:gd name="connsiteY39" fmla="*/ 203827 h 336411"/>
                    <a:gd name="connsiteX40" fmla="*/ 76063 w 580548"/>
                    <a:gd name="connsiteY40" fmla="*/ 203827 h 336411"/>
                    <a:gd name="connsiteX41" fmla="*/ 76063 w 580548"/>
                    <a:gd name="connsiteY41" fmla="*/ 132584 h 336411"/>
                    <a:gd name="connsiteX42" fmla="*/ 232132 w 580548"/>
                    <a:gd name="connsiteY42" fmla="*/ 132584 h 336411"/>
                    <a:gd name="connsiteX43" fmla="*/ 232132 w 580548"/>
                    <a:gd name="connsiteY43" fmla="*/ 203827 h 336411"/>
                    <a:gd name="connsiteX44" fmla="*/ 169170 w 580548"/>
                    <a:gd name="connsiteY44" fmla="*/ 30671 h 336411"/>
                    <a:gd name="connsiteX45" fmla="*/ 325239 w 580548"/>
                    <a:gd name="connsiteY45" fmla="*/ 30671 h 336411"/>
                    <a:gd name="connsiteX46" fmla="*/ 325239 w 580548"/>
                    <a:gd name="connsiteY46" fmla="*/ 101914 h 336411"/>
                    <a:gd name="connsiteX47" fmla="*/ 169170 w 580548"/>
                    <a:gd name="connsiteY47" fmla="*/ 101914 h 336411"/>
                    <a:gd name="connsiteX48" fmla="*/ 169170 w 580548"/>
                    <a:gd name="connsiteY48" fmla="*/ 30671 h 336411"/>
                    <a:gd name="connsiteX49" fmla="*/ 30671 w 580548"/>
                    <a:gd name="connsiteY49" fmla="*/ 30671 h 336411"/>
                    <a:gd name="connsiteX50" fmla="*/ 142881 w 580548"/>
                    <a:gd name="connsiteY50" fmla="*/ 30671 h 336411"/>
                    <a:gd name="connsiteX51" fmla="*/ 142881 w 580548"/>
                    <a:gd name="connsiteY51" fmla="*/ 101914 h 336411"/>
                    <a:gd name="connsiteX52" fmla="*/ 30671 w 580548"/>
                    <a:gd name="connsiteY52" fmla="*/ 101914 h 336411"/>
                    <a:gd name="connsiteX53" fmla="*/ 30671 w 580548"/>
                    <a:gd name="connsiteY53" fmla="*/ 30671 h 336411"/>
                    <a:gd name="connsiteX54" fmla="*/ 30671 w 580548"/>
                    <a:gd name="connsiteY54" fmla="*/ 132584 h 336411"/>
                    <a:gd name="connsiteX55" fmla="*/ 49774 w 580548"/>
                    <a:gd name="connsiteY55" fmla="*/ 132584 h 336411"/>
                    <a:gd name="connsiteX56" fmla="*/ 49774 w 580548"/>
                    <a:gd name="connsiteY56" fmla="*/ 203827 h 336411"/>
                    <a:gd name="connsiteX57" fmla="*/ 30671 w 580548"/>
                    <a:gd name="connsiteY57" fmla="*/ 203827 h 336411"/>
                    <a:gd name="connsiteX58" fmla="*/ 30671 w 580548"/>
                    <a:gd name="connsiteY58" fmla="*/ 132584 h 336411"/>
                    <a:gd name="connsiteX59" fmla="*/ 108092 w 580548"/>
                    <a:gd name="connsiteY59" fmla="*/ 305741 h 336411"/>
                    <a:gd name="connsiteX60" fmla="*/ 30671 w 580548"/>
                    <a:gd name="connsiteY60" fmla="*/ 305741 h 336411"/>
                    <a:gd name="connsiteX61" fmla="*/ 30671 w 580548"/>
                    <a:gd name="connsiteY61" fmla="*/ 234498 h 336411"/>
                    <a:gd name="connsiteX62" fmla="*/ 108092 w 580548"/>
                    <a:gd name="connsiteY62" fmla="*/ 234498 h 336411"/>
                    <a:gd name="connsiteX63" fmla="*/ 108092 w 580548"/>
                    <a:gd name="connsiteY63" fmla="*/ 305741 h 33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80548" h="336411">
                      <a:moveTo>
                        <a:pt x="284140" y="305741"/>
                      </a:moveTo>
                      <a:lnTo>
                        <a:pt x="134381" y="305741"/>
                      </a:lnTo>
                      <a:lnTo>
                        <a:pt x="134381" y="234498"/>
                      </a:lnTo>
                      <a:lnTo>
                        <a:pt x="290450" y="234498"/>
                      </a:lnTo>
                      <a:lnTo>
                        <a:pt x="290450" y="292597"/>
                      </a:lnTo>
                      <a:cubicBezTo>
                        <a:pt x="295445" y="282432"/>
                        <a:pt x="305829" y="261094"/>
                        <a:pt x="316739" y="238660"/>
                      </a:cubicBezTo>
                      <a:lnTo>
                        <a:pt x="316739" y="234498"/>
                      </a:lnTo>
                      <a:lnTo>
                        <a:pt x="318754" y="234498"/>
                      </a:lnTo>
                      <a:cubicBezTo>
                        <a:pt x="323837" y="224026"/>
                        <a:pt x="329007" y="213467"/>
                        <a:pt x="333695" y="203827"/>
                      </a:cubicBezTo>
                      <a:lnTo>
                        <a:pt x="258421" y="203827"/>
                      </a:lnTo>
                      <a:lnTo>
                        <a:pt x="258421" y="132584"/>
                      </a:lnTo>
                      <a:lnTo>
                        <a:pt x="414490" y="132584"/>
                      </a:lnTo>
                      <a:lnTo>
                        <a:pt x="414490" y="192479"/>
                      </a:lnTo>
                      <a:lnTo>
                        <a:pt x="440779" y="137973"/>
                      </a:lnTo>
                      <a:lnTo>
                        <a:pt x="440779" y="132584"/>
                      </a:lnTo>
                      <a:lnTo>
                        <a:pt x="443364" y="132584"/>
                      </a:lnTo>
                      <a:lnTo>
                        <a:pt x="458173" y="101914"/>
                      </a:lnTo>
                      <a:lnTo>
                        <a:pt x="351528" y="101914"/>
                      </a:lnTo>
                      <a:lnTo>
                        <a:pt x="351528" y="30671"/>
                      </a:lnTo>
                      <a:lnTo>
                        <a:pt x="507597" y="30671"/>
                      </a:lnTo>
                      <a:lnTo>
                        <a:pt x="507597" y="101914"/>
                      </a:lnTo>
                      <a:lnTo>
                        <a:pt x="496643" y="101914"/>
                      </a:lnTo>
                      <a:lnTo>
                        <a:pt x="506063" y="121324"/>
                      </a:lnTo>
                      <a:cubicBezTo>
                        <a:pt x="507728" y="124785"/>
                        <a:pt x="509568" y="128597"/>
                        <a:pt x="511540" y="132584"/>
                      </a:cubicBezTo>
                      <a:lnTo>
                        <a:pt x="549834" y="132584"/>
                      </a:lnTo>
                      <a:lnTo>
                        <a:pt x="549834" y="203827"/>
                      </a:lnTo>
                      <a:lnTo>
                        <a:pt x="546154" y="203827"/>
                      </a:lnTo>
                      <a:cubicBezTo>
                        <a:pt x="559079" y="230379"/>
                        <a:pt x="570559" y="253908"/>
                        <a:pt x="574984" y="262759"/>
                      </a:cubicBezTo>
                      <a:cubicBezTo>
                        <a:pt x="577044" y="266527"/>
                        <a:pt x="578840" y="270382"/>
                        <a:pt x="580549" y="274326"/>
                      </a:cubicBezTo>
                      <a:lnTo>
                        <a:pt x="580549" y="0"/>
                      </a:lnTo>
                      <a:lnTo>
                        <a:pt x="0" y="0"/>
                      </a:lnTo>
                      <a:lnTo>
                        <a:pt x="0" y="336412"/>
                      </a:lnTo>
                      <a:lnTo>
                        <a:pt x="275509" y="336412"/>
                      </a:lnTo>
                      <a:cubicBezTo>
                        <a:pt x="277042" y="325852"/>
                        <a:pt x="279978" y="315512"/>
                        <a:pt x="284140" y="305741"/>
                      </a:cubicBezTo>
                      <a:close/>
                      <a:moveTo>
                        <a:pt x="533886" y="30671"/>
                      </a:moveTo>
                      <a:lnTo>
                        <a:pt x="549834" y="30671"/>
                      </a:lnTo>
                      <a:lnTo>
                        <a:pt x="549834" y="101914"/>
                      </a:lnTo>
                      <a:lnTo>
                        <a:pt x="533886" y="101914"/>
                      </a:lnTo>
                      <a:lnTo>
                        <a:pt x="533886" y="30671"/>
                      </a:lnTo>
                      <a:close/>
                      <a:moveTo>
                        <a:pt x="232132" y="203827"/>
                      </a:moveTo>
                      <a:lnTo>
                        <a:pt x="76063" y="203827"/>
                      </a:lnTo>
                      <a:lnTo>
                        <a:pt x="76063" y="132584"/>
                      </a:lnTo>
                      <a:lnTo>
                        <a:pt x="232132" y="132584"/>
                      </a:lnTo>
                      <a:lnTo>
                        <a:pt x="232132" y="203827"/>
                      </a:lnTo>
                      <a:close/>
                      <a:moveTo>
                        <a:pt x="169170" y="30671"/>
                      </a:moveTo>
                      <a:lnTo>
                        <a:pt x="325239" y="30671"/>
                      </a:lnTo>
                      <a:lnTo>
                        <a:pt x="325239" y="101914"/>
                      </a:lnTo>
                      <a:lnTo>
                        <a:pt x="169170" y="101914"/>
                      </a:lnTo>
                      <a:lnTo>
                        <a:pt x="169170" y="30671"/>
                      </a:lnTo>
                      <a:close/>
                      <a:moveTo>
                        <a:pt x="30671" y="30671"/>
                      </a:moveTo>
                      <a:lnTo>
                        <a:pt x="142881" y="30671"/>
                      </a:lnTo>
                      <a:lnTo>
                        <a:pt x="142881" y="101914"/>
                      </a:lnTo>
                      <a:lnTo>
                        <a:pt x="30671" y="101914"/>
                      </a:lnTo>
                      <a:lnTo>
                        <a:pt x="30671" y="30671"/>
                      </a:lnTo>
                      <a:close/>
                      <a:moveTo>
                        <a:pt x="30671" y="132584"/>
                      </a:moveTo>
                      <a:lnTo>
                        <a:pt x="49774" y="132584"/>
                      </a:lnTo>
                      <a:lnTo>
                        <a:pt x="49774" y="203827"/>
                      </a:lnTo>
                      <a:lnTo>
                        <a:pt x="30671" y="203827"/>
                      </a:lnTo>
                      <a:lnTo>
                        <a:pt x="30671" y="132584"/>
                      </a:lnTo>
                      <a:close/>
                      <a:moveTo>
                        <a:pt x="108092" y="305741"/>
                      </a:moveTo>
                      <a:lnTo>
                        <a:pt x="30671" y="305741"/>
                      </a:lnTo>
                      <a:lnTo>
                        <a:pt x="30671" y="234498"/>
                      </a:lnTo>
                      <a:lnTo>
                        <a:pt x="108092" y="234498"/>
                      </a:lnTo>
                      <a:lnTo>
                        <a:pt x="108092" y="305741"/>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3" name="Freeform: Shape 156">
                  <a:extLst>
                    <a:ext uri="{FF2B5EF4-FFF2-40B4-BE49-F238E27FC236}">
                      <a16:creationId xmlns:a16="http://schemas.microsoft.com/office/drawing/2014/main" id="{E9F188EE-48A2-0366-B229-AE1A81F2B61F}"/>
                    </a:ext>
                  </a:extLst>
                </p:cNvPr>
                <p:cNvSpPr/>
                <p:nvPr/>
              </p:nvSpPr>
              <p:spPr>
                <a:xfrm>
                  <a:off x="3866603" y="2883794"/>
                  <a:ext cx="254911" cy="304952"/>
                </a:xfrm>
                <a:custGeom>
                  <a:avLst/>
                  <a:gdLst>
                    <a:gd name="connsiteX0" fmla="*/ 240819 w 254911"/>
                    <a:gd name="connsiteY0" fmla="*/ 142311 h 304952"/>
                    <a:gd name="connsiteX1" fmla="*/ 171504 w 254911"/>
                    <a:gd name="connsiteY1" fmla="*/ 0 h 304952"/>
                    <a:gd name="connsiteX2" fmla="*/ 113274 w 254911"/>
                    <a:gd name="connsiteY2" fmla="*/ 120710 h 304952"/>
                    <a:gd name="connsiteX3" fmla="*/ 104730 w 254911"/>
                    <a:gd name="connsiteY3" fmla="*/ 126450 h 304952"/>
                    <a:gd name="connsiteX4" fmla="*/ 96186 w 254911"/>
                    <a:gd name="connsiteY4" fmla="*/ 120710 h 304952"/>
                    <a:gd name="connsiteX5" fmla="*/ 66786 w 254911"/>
                    <a:gd name="connsiteY5" fmla="*/ 61078 h 304952"/>
                    <a:gd name="connsiteX6" fmla="*/ 11404 w 254911"/>
                    <a:gd name="connsiteY6" fmla="*/ 174822 h 304952"/>
                    <a:gd name="connsiteX7" fmla="*/ 12 w 254911"/>
                    <a:gd name="connsiteY7" fmla="*/ 221485 h 304952"/>
                    <a:gd name="connsiteX8" fmla="*/ 66392 w 254911"/>
                    <a:gd name="connsiteY8" fmla="*/ 304952 h 304952"/>
                    <a:gd name="connsiteX9" fmla="*/ 102802 w 254911"/>
                    <a:gd name="connsiteY9" fmla="*/ 304952 h 304952"/>
                    <a:gd name="connsiteX10" fmla="*/ 75549 w 254911"/>
                    <a:gd name="connsiteY10" fmla="*/ 196116 h 304952"/>
                    <a:gd name="connsiteX11" fmla="*/ 115070 w 254911"/>
                    <a:gd name="connsiteY11" fmla="*/ 225341 h 304952"/>
                    <a:gd name="connsiteX12" fmla="*/ 169007 w 254911"/>
                    <a:gd name="connsiteY12" fmla="*/ 140953 h 304952"/>
                    <a:gd name="connsiteX13" fmla="*/ 169007 w 254911"/>
                    <a:gd name="connsiteY13" fmla="*/ 139200 h 304952"/>
                    <a:gd name="connsiteX14" fmla="*/ 164581 w 254911"/>
                    <a:gd name="connsiteY14" fmla="*/ 304952 h 304952"/>
                    <a:gd name="connsiteX15" fmla="*/ 171373 w 254911"/>
                    <a:gd name="connsiteY15" fmla="*/ 304952 h 304952"/>
                    <a:gd name="connsiteX16" fmla="*/ 254884 w 254911"/>
                    <a:gd name="connsiteY16" fmla="*/ 200848 h 304952"/>
                    <a:gd name="connsiteX17" fmla="*/ 240776 w 254911"/>
                    <a:gd name="connsiteY17" fmla="*/ 142355 h 304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4911" h="304952">
                      <a:moveTo>
                        <a:pt x="240819" y="142311"/>
                      </a:moveTo>
                      <a:cubicBezTo>
                        <a:pt x="231794" y="124259"/>
                        <a:pt x="189731" y="37637"/>
                        <a:pt x="171504" y="0"/>
                      </a:cubicBezTo>
                      <a:lnTo>
                        <a:pt x="113274" y="120710"/>
                      </a:lnTo>
                      <a:cubicBezTo>
                        <a:pt x="111521" y="124259"/>
                        <a:pt x="108279" y="126450"/>
                        <a:pt x="104730" y="126450"/>
                      </a:cubicBezTo>
                      <a:cubicBezTo>
                        <a:pt x="101181" y="126450"/>
                        <a:pt x="97939" y="124259"/>
                        <a:pt x="96186" y="120710"/>
                      </a:cubicBezTo>
                      <a:lnTo>
                        <a:pt x="66786" y="61078"/>
                      </a:lnTo>
                      <a:cubicBezTo>
                        <a:pt x="51101" y="93370"/>
                        <a:pt x="18546" y="160231"/>
                        <a:pt x="11404" y="174822"/>
                      </a:cubicBezTo>
                      <a:cubicBezTo>
                        <a:pt x="3736" y="188755"/>
                        <a:pt x="-251" y="204967"/>
                        <a:pt x="12" y="221485"/>
                      </a:cubicBezTo>
                      <a:cubicBezTo>
                        <a:pt x="12" y="267228"/>
                        <a:pt x="30683" y="304952"/>
                        <a:pt x="66392" y="304952"/>
                      </a:cubicBezTo>
                      <a:lnTo>
                        <a:pt x="102802" y="304952"/>
                      </a:lnTo>
                      <a:cubicBezTo>
                        <a:pt x="62142" y="268060"/>
                        <a:pt x="66567" y="213072"/>
                        <a:pt x="75549" y="196116"/>
                      </a:cubicBezTo>
                      <a:cubicBezTo>
                        <a:pt x="75549" y="196116"/>
                        <a:pt x="95704" y="224990"/>
                        <a:pt x="115070" y="225341"/>
                      </a:cubicBezTo>
                      <a:cubicBezTo>
                        <a:pt x="142367" y="225823"/>
                        <a:pt x="156213" y="197869"/>
                        <a:pt x="169007" y="140953"/>
                      </a:cubicBezTo>
                      <a:lnTo>
                        <a:pt x="169007" y="139200"/>
                      </a:lnTo>
                      <a:cubicBezTo>
                        <a:pt x="193061" y="157471"/>
                        <a:pt x="220139" y="242297"/>
                        <a:pt x="164581" y="304952"/>
                      </a:cubicBezTo>
                      <a:lnTo>
                        <a:pt x="171373" y="304952"/>
                      </a:lnTo>
                      <a:cubicBezTo>
                        <a:pt x="217466" y="304952"/>
                        <a:pt x="254884" y="258289"/>
                        <a:pt x="254884" y="200848"/>
                      </a:cubicBezTo>
                      <a:cubicBezTo>
                        <a:pt x="255322" y="180167"/>
                        <a:pt x="250415" y="159793"/>
                        <a:pt x="240776" y="142355"/>
                      </a:cubicBez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grpSp>
          <p:nvGrpSpPr>
            <p:cNvPr id="133" name="Group 132">
              <a:extLst>
                <a:ext uri="{FF2B5EF4-FFF2-40B4-BE49-F238E27FC236}">
                  <a16:creationId xmlns:a16="http://schemas.microsoft.com/office/drawing/2014/main" id="{263FC37D-DE71-3121-4503-976DEDF7E548}"/>
                </a:ext>
              </a:extLst>
            </p:cNvPr>
            <p:cNvGrpSpPr>
              <a:grpSpLocks noChangeAspect="1"/>
            </p:cNvGrpSpPr>
            <p:nvPr/>
          </p:nvGrpSpPr>
          <p:grpSpPr>
            <a:xfrm>
              <a:off x="4155074" y="1951839"/>
              <a:ext cx="457202" cy="457200"/>
              <a:chOff x="4686723" y="1587682"/>
              <a:chExt cx="547621" cy="547619"/>
            </a:xfrm>
          </p:grpSpPr>
          <p:sp>
            <p:nvSpPr>
              <p:cNvPr id="171" name="Oval 170">
                <a:extLst>
                  <a:ext uri="{FF2B5EF4-FFF2-40B4-BE49-F238E27FC236}">
                    <a16:creationId xmlns:a16="http://schemas.microsoft.com/office/drawing/2014/main" id="{0496C2A1-CF48-5920-8BC2-4481CF85749C}"/>
                  </a:ext>
                </a:extLst>
              </p:cNvPr>
              <p:cNvSpPr>
                <a:spLocks noChangeAspect="1"/>
              </p:cNvSpPr>
              <p:nvPr/>
            </p:nvSpPr>
            <p:spPr>
              <a:xfrm>
                <a:off x="4686723" y="1587682"/>
                <a:ext cx="547621" cy="547619"/>
              </a:xfrm>
              <a:prstGeom prst="ellipse">
                <a:avLst/>
              </a:prstGeom>
              <a:solidFill>
                <a:schemeClr val="accent4"/>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72" name="Google Shape;3149;p83">
                <a:extLst>
                  <a:ext uri="{FF2B5EF4-FFF2-40B4-BE49-F238E27FC236}">
                    <a16:creationId xmlns:a16="http://schemas.microsoft.com/office/drawing/2014/main" id="{4AAD9219-FF4D-78A9-6954-A066B1BCD6B9}"/>
                  </a:ext>
                </a:extLst>
              </p:cNvPr>
              <p:cNvSpPr>
                <a:spLocks noChangeAspect="1"/>
              </p:cNvSpPr>
              <p:nvPr/>
            </p:nvSpPr>
            <p:spPr>
              <a:xfrm>
                <a:off x="4775072" y="1678710"/>
                <a:ext cx="365562" cy="365562"/>
              </a:xfrm>
              <a:custGeom>
                <a:avLst/>
                <a:gdLst/>
                <a:ahLst/>
                <a:cxnLst/>
                <a:rect l="l" t="t" r="r" b="b"/>
                <a:pathLst>
                  <a:path w="584492" h="584492" extrusionOk="0">
                    <a:moveTo>
                      <a:pt x="292246" y="0"/>
                    </a:moveTo>
                    <a:cubicBezTo>
                      <a:pt x="130832" y="0"/>
                      <a:pt x="0" y="130832"/>
                      <a:pt x="0" y="292246"/>
                    </a:cubicBezTo>
                    <a:cubicBezTo>
                      <a:pt x="0" y="453661"/>
                      <a:pt x="130832" y="584492"/>
                      <a:pt x="292246" y="584492"/>
                    </a:cubicBezTo>
                    <a:cubicBezTo>
                      <a:pt x="453661" y="584492"/>
                      <a:pt x="584492" y="453661"/>
                      <a:pt x="584492" y="292246"/>
                    </a:cubicBezTo>
                    <a:cubicBezTo>
                      <a:pt x="584492" y="130832"/>
                      <a:pt x="453617" y="0"/>
                      <a:pt x="292246" y="0"/>
                    </a:cubicBezTo>
                    <a:close/>
                    <a:moveTo>
                      <a:pt x="172982" y="333520"/>
                    </a:moveTo>
                    <a:lnTo>
                      <a:pt x="172982" y="307581"/>
                    </a:lnTo>
                    <a:lnTo>
                      <a:pt x="59895" y="307581"/>
                    </a:lnTo>
                    <a:lnTo>
                      <a:pt x="59895" y="276911"/>
                    </a:lnTo>
                    <a:lnTo>
                      <a:pt x="172982" y="276911"/>
                    </a:lnTo>
                    <a:lnTo>
                      <a:pt x="172982" y="250972"/>
                    </a:lnTo>
                    <a:lnTo>
                      <a:pt x="244488" y="292246"/>
                    </a:lnTo>
                    <a:lnTo>
                      <a:pt x="172982" y="333520"/>
                    </a:lnTo>
                    <a:close/>
                    <a:moveTo>
                      <a:pt x="292246" y="519646"/>
                    </a:moveTo>
                    <a:lnTo>
                      <a:pt x="250972" y="448140"/>
                    </a:lnTo>
                    <a:lnTo>
                      <a:pt x="276911" y="448140"/>
                    </a:lnTo>
                    <a:lnTo>
                      <a:pt x="276911" y="335053"/>
                    </a:lnTo>
                    <a:lnTo>
                      <a:pt x="307581" y="335053"/>
                    </a:lnTo>
                    <a:lnTo>
                      <a:pt x="307581" y="448140"/>
                    </a:lnTo>
                    <a:lnTo>
                      <a:pt x="333520" y="448140"/>
                    </a:lnTo>
                    <a:lnTo>
                      <a:pt x="292246" y="519646"/>
                    </a:lnTo>
                    <a:close/>
                    <a:moveTo>
                      <a:pt x="307581" y="136352"/>
                    </a:moveTo>
                    <a:lnTo>
                      <a:pt x="307581" y="249439"/>
                    </a:lnTo>
                    <a:lnTo>
                      <a:pt x="276911" y="249439"/>
                    </a:lnTo>
                    <a:lnTo>
                      <a:pt x="276911" y="136352"/>
                    </a:lnTo>
                    <a:lnTo>
                      <a:pt x="250972" y="136352"/>
                    </a:lnTo>
                    <a:lnTo>
                      <a:pt x="292246" y="64846"/>
                    </a:lnTo>
                    <a:lnTo>
                      <a:pt x="333520" y="136352"/>
                    </a:lnTo>
                    <a:lnTo>
                      <a:pt x="307581" y="136352"/>
                    </a:lnTo>
                    <a:close/>
                    <a:moveTo>
                      <a:pt x="411511" y="307581"/>
                    </a:moveTo>
                    <a:lnTo>
                      <a:pt x="411511" y="333520"/>
                    </a:lnTo>
                    <a:lnTo>
                      <a:pt x="340004" y="292246"/>
                    </a:lnTo>
                    <a:lnTo>
                      <a:pt x="411511" y="250972"/>
                    </a:lnTo>
                    <a:lnTo>
                      <a:pt x="411511" y="276911"/>
                    </a:lnTo>
                    <a:lnTo>
                      <a:pt x="524597" y="276911"/>
                    </a:lnTo>
                    <a:lnTo>
                      <a:pt x="524597" y="307581"/>
                    </a:lnTo>
                    <a:lnTo>
                      <a:pt x="411511" y="307581"/>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mn-ea"/>
                  <a:cs typeface="+mn-cs"/>
                  <a:sym typeface="Arial"/>
                </a:endParaRPr>
              </a:p>
            </p:txBody>
          </p:sp>
        </p:grpSp>
        <p:grpSp>
          <p:nvGrpSpPr>
            <p:cNvPr id="134" name="Group 133">
              <a:extLst>
                <a:ext uri="{FF2B5EF4-FFF2-40B4-BE49-F238E27FC236}">
                  <a16:creationId xmlns:a16="http://schemas.microsoft.com/office/drawing/2014/main" id="{65027EE0-B362-3594-889D-68B62CAA49BB}"/>
                </a:ext>
              </a:extLst>
            </p:cNvPr>
            <p:cNvGrpSpPr>
              <a:grpSpLocks noChangeAspect="1"/>
            </p:cNvGrpSpPr>
            <p:nvPr/>
          </p:nvGrpSpPr>
          <p:grpSpPr>
            <a:xfrm>
              <a:off x="3351070" y="1951839"/>
              <a:ext cx="457202" cy="457200"/>
              <a:chOff x="5341314" y="5151711"/>
              <a:chExt cx="547621" cy="547619"/>
            </a:xfrm>
          </p:grpSpPr>
          <p:sp>
            <p:nvSpPr>
              <p:cNvPr id="145" name="Oval 144">
                <a:extLst>
                  <a:ext uri="{FF2B5EF4-FFF2-40B4-BE49-F238E27FC236}">
                    <a16:creationId xmlns:a16="http://schemas.microsoft.com/office/drawing/2014/main" id="{F0D9F6A2-0EE4-0975-6C82-E01B35C509B2}"/>
                  </a:ext>
                </a:extLst>
              </p:cNvPr>
              <p:cNvSpPr>
                <a:spLocks noChangeAspect="1"/>
              </p:cNvSpPr>
              <p:nvPr/>
            </p:nvSpPr>
            <p:spPr>
              <a:xfrm>
                <a:off x="5341314" y="5151711"/>
                <a:ext cx="547621" cy="547619"/>
              </a:xfrm>
              <a:prstGeom prst="ellipse">
                <a:avLst/>
              </a:prstGeom>
              <a:solidFill>
                <a:schemeClr val="accent4"/>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nvGrpSpPr>
              <p:cNvPr id="146" name="Group 145">
                <a:extLst>
                  <a:ext uri="{FF2B5EF4-FFF2-40B4-BE49-F238E27FC236}">
                    <a16:creationId xmlns:a16="http://schemas.microsoft.com/office/drawing/2014/main" id="{DD55E297-B6C8-6934-6AFB-355B91D87988}"/>
                  </a:ext>
                </a:extLst>
              </p:cNvPr>
              <p:cNvGrpSpPr/>
              <p:nvPr/>
            </p:nvGrpSpPr>
            <p:grpSpPr>
              <a:xfrm>
                <a:off x="5475978" y="5286375"/>
                <a:ext cx="278292" cy="278290"/>
                <a:chOff x="7453826" y="4235509"/>
                <a:chExt cx="199845" cy="199844"/>
              </a:xfrm>
              <a:solidFill>
                <a:schemeClr val="bg1"/>
              </a:solidFill>
            </p:grpSpPr>
            <p:sp>
              <p:nvSpPr>
                <p:cNvPr id="147" name="Freeform: Shape 110">
                  <a:extLst>
                    <a:ext uri="{FF2B5EF4-FFF2-40B4-BE49-F238E27FC236}">
                      <a16:creationId xmlns:a16="http://schemas.microsoft.com/office/drawing/2014/main" id="{F7195824-80A7-6943-B825-C734C602506F}"/>
                    </a:ext>
                  </a:extLst>
                </p:cNvPr>
                <p:cNvSpPr/>
                <p:nvPr/>
              </p:nvSpPr>
              <p:spPr>
                <a:xfrm>
                  <a:off x="7453826" y="4235509"/>
                  <a:ext cx="199845" cy="199844"/>
                </a:xfrm>
                <a:custGeom>
                  <a:avLst/>
                  <a:gdLst>
                    <a:gd name="connsiteX0" fmla="*/ 539067 w 539067"/>
                    <a:gd name="connsiteY0" fmla="*/ 539067 h 539067"/>
                    <a:gd name="connsiteX1" fmla="*/ 366846 w 539067"/>
                    <a:gd name="connsiteY1" fmla="*/ 539067 h 539067"/>
                    <a:gd name="connsiteX2" fmla="*/ 366846 w 539067"/>
                    <a:gd name="connsiteY2" fmla="*/ 511064 h 539067"/>
                    <a:gd name="connsiteX3" fmla="*/ 511064 w 539067"/>
                    <a:gd name="connsiteY3" fmla="*/ 511064 h 539067"/>
                    <a:gd name="connsiteX4" fmla="*/ 511064 w 539067"/>
                    <a:gd name="connsiteY4" fmla="*/ 28004 h 539067"/>
                    <a:gd name="connsiteX5" fmla="*/ 28004 w 539067"/>
                    <a:gd name="connsiteY5" fmla="*/ 28004 h 539067"/>
                    <a:gd name="connsiteX6" fmla="*/ 28004 w 539067"/>
                    <a:gd name="connsiteY6" fmla="*/ 511064 h 539067"/>
                    <a:gd name="connsiteX7" fmla="*/ 173462 w 539067"/>
                    <a:gd name="connsiteY7" fmla="*/ 511064 h 539067"/>
                    <a:gd name="connsiteX8" fmla="*/ 173462 w 539067"/>
                    <a:gd name="connsiteY8" fmla="*/ 539067 h 539067"/>
                    <a:gd name="connsiteX9" fmla="*/ 0 w 539067"/>
                    <a:gd name="connsiteY9" fmla="*/ 539067 h 539067"/>
                    <a:gd name="connsiteX10" fmla="*/ 0 w 539067"/>
                    <a:gd name="connsiteY10" fmla="*/ 0 h 539067"/>
                    <a:gd name="connsiteX11" fmla="*/ 539067 w 539067"/>
                    <a:gd name="connsiteY11" fmla="*/ 0 h 539067"/>
                    <a:gd name="connsiteX12" fmla="*/ 539067 w 539067"/>
                    <a:gd name="connsiteY12" fmla="*/ 539067 h 539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67" h="539067">
                      <a:moveTo>
                        <a:pt x="539067" y="539067"/>
                      </a:moveTo>
                      <a:lnTo>
                        <a:pt x="366846" y="539067"/>
                      </a:lnTo>
                      <a:lnTo>
                        <a:pt x="366846" y="511064"/>
                      </a:lnTo>
                      <a:lnTo>
                        <a:pt x="511064" y="511064"/>
                      </a:lnTo>
                      <a:lnTo>
                        <a:pt x="511064" y="28004"/>
                      </a:lnTo>
                      <a:lnTo>
                        <a:pt x="28004" y="28004"/>
                      </a:lnTo>
                      <a:lnTo>
                        <a:pt x="28004" y="511064"/>
                      </a:lnTo>
                      <a:lnTo>
                        <a:pt x="173462" y="511064"/>
                      </a:lnTo>
                      <a:lnTo>
                        <a:pt x="173462" y="539067"/>
                      </a:lnTo>
                      <a:lnTo>
                        <a:pt x="0" y="539067"/>
                      </a:lnTo>
                      <a:lnTo>
                        <a:pt x="0" y="0"/>
                      </a:lnTo>
                      <a:lnTo>
                        <a:pt x="539067" y="0"/>
                      </a:lnTo>
                      <a:lnTo>
                        <a:pt x="539067" y="539067"/>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8" name="Freeform: Shape 115">
                  <a:extLst>
                    <a:ext uri="{FF2B5EF4-FFF2-40B4-BE49-F238E27FC236}">
                      <a16:creationId xmlns:a16="http://schemas.microsoft.com/office/drawing/2014/main" id="{3EE347DD-28BA-473A-B27D-CD1E2BF31C87}"/>
                    </a:ext>
                  </a:extLst>
                </p:cNvPr>
                <p:cNvSpPr/>
                <p:nvPr/>
              </p:nvSpPr>
              <p:spPr>
                <a:xfrm>
                  <a:off x="7491571" y="4315610"/>
                  <a:ext cx="51745" cy="27941"/>
                </a:xfrm>
                <a:custGeom>
                  <a:avLst/>
                  <a:gdLst>
                    <a:gd name="connsiteX0" fmla="*/ 74289 w 139577"/>
                    <a:gd name="connsiteY0" fmla="*/ 23683 h 75369"/>
                    <a:gd name="connsiteX1" fmla="*/ 0 w 139577"/>
                    <a:gd name="connsiteY1" fmla="*/ 23683 h 75369"/>
                    <a:gd name="connsiteX2" fmla="*/ 0 w 139577"/>
                    <a:gd name="connsiteY2" fmla="*/ 51686 h 75369"/>
                    <a:gd name="connsiteX3" fmla="*/ 74289 w 139577"/>
                    <a:gd name="connsiteY3" fmla="*/ 51686 h 75369"/>
                    <a:gd name="connsiteX4" fmla="*/ 74289 w 139577"/>
                    <a:gd name="connsiteY4" fmla="*/ 75369 h 75369"/>
                    <a:gd name="connsiteX5" fmla="*/ 139577 w 139577"/>
                    <a:gd name="connsiteY5" fmla="*/ 37685 h 75369"/>
                    <a:gd name="connsiteX6" fmla="*/ 74289 w 139577"/>
                    <a:gd name="connsiteY6" fmla="*/ 0 h 75369"/>
                    <a:gd name="connsiteX7" fmla="*/ 74289 w 139577"/>
                    <a:gd name="connsiteY7" fmla="*/ 23683 h 75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577" h="75369">
                      <a:moveTo>
                        <a:pt x="74289" y="23683"/>
                      </a:moveTo>
                      <a:lnTo>
                        <a:pt x="0" y="23683"/>
                      </a:lnTo>
                      <a:lnTo>
                        <a:pt x="0" y="51686"/>
                      </a:lnTo>
                      <a:lnTo>
                        <a:pt x="74289" y="51686"/>
                      </a:lnTo>
                      <a:lnTo>
                        <a:pt x="74289" y="75369"/>
                      </a:lnTo>
                      <a:lnTo>
                        <a:pt x="139577" y="37685"/>
                      </a:lnTo>
                      <a:lnTo>
                        <a:pt x="74289" y="0"/>
                      </a:lnTo>
                      <a:lnTo>
                        <a:pt x="74289" y="23683"/>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9" name="Freeform: Shape 116">
                  <a:extLst>
                    <a:ext uri="{FF2B5EF4-FFF2-40B4-BE49-F238E27FC236}">
                      <a16:creationId xmlns:a16="http://schemas.microsoft.com/office/drawing/2014/main" id="{8EA6B4D7-E302-101F-DAC8-09077A17EE60}"/>
                    </a:ext>
                  </a:extLst>
                </p:cNvPr>
                <p:cNvSpPr/>
                <p:nvPr/>
              </p:nvSpPr>
              <p:spPr>
                <a:xfrm>
                  <a:off x="7550583" y="4276590"/>
                  <a:ext cx="71247" cy="108695"/>
                </a:xfrm>
                <a:custGeom>
                  <a:avLst/>
                  <a:gdLst>
                    <a:gd name="connsiteX0" fmla="*/ 192184 w 192184"/>
                    <a:gd name="connsiteY0" fmla="*/ 142938 h 293196"/>
                    <a:gd name="connsiteX1" fmla="*/ 126896 w 192184"/>
                    <a:gd name="connsiteY1" fmla="*/ 105253 h 293196"/>
                    <a:gd name="connsiteX2" fmla="*/ 126896 w 192184"/>
                    <a:gd name="connsiteY2" fmla="*/ 128936 h 293196"/>
                    <a:gd name="connsiteX3" fmla="*/ 104973 w 192184"/>
                    <a:gd name="connsiteY3" fmla="*/ 128936 h 293196"/>
                    <a:gd name="connsiteX4" fmla="*/ 104973 w 192184"/>
                    <a:gd name="connsiteY4" fmla="*/ 0 h 293196"/>
                    <a:gd name="connsiteX5" fmla="*/ 0 w 192184"/>
                    <a:gd name="connsiteY5" fmla="*/ 0 h 293196"/>
                    <a:gd name="connsiteX6" fmla="*/ 0 w 192184"/>
                    <a:gd name="connsiteY6" fmla="*/ 28004 h 293196"/>
                    <a:gd name="connsiteX7" fmla="*/ 76970 w 192184"/>
                    <a:gd name="connsiteY7" fmla="*/ 28004 h 293196"/>
                    <a:gd name="connsiteX8" fmla="*/ 76970 w 192184"/>
                    <a:gd name="connsiteY8" fmla="*/ 128936 h 293196"/>
                    <a:gd name="connsiteX9" fmla="*/ 22123 w 192184"/>
                    <a:gd name="connsiteY9" fmla="*/ 128936 h 293196"/>
                    <a:gd name="connsiteX10" fmla="*/ 22123 w 192184"/>
                    <a:gd name="connsiteY10" fmla="*/ 156940 h 293196"/>
                    <a:gd name="connsiteX11" fmla="*/ 76970 w 192184"/>
                    <a:gd name="connsiteY11" fmla="*/ 156940 h 293196"/>
                    <a:gd name="connsiteX12" fmla="*/ 76970 w 192184"/>
                    <a:gd name="connsiteY12" fmla="*/ 265193 h 293196"/>
                    <a:gd name="connsiteX13" fmla="*/ 0 w 192184"/>
                    <a:gd name="connsiteY13" fmla="*/ 265193 h 293196"/>
                    <a:gd name="connsiteX14" fmla="*/ 0 w 192184"/>
                    <a:gd name="connsiteY14" fmla="*/ 293197 h 293196"/>
                    <a:gd name="connsiteX15" fmla="*/ 104973 w 192184"/>
                    <a:gd name="connsiteY15" fmla="*/ 293197 h 293196"/>
                    <a:gd name="connsiteX16" fmla="*/ 104973 w 192184"/>
                    <a:gd name="connsiteY16" fmla="*/ 156940 h 293196"/>
                    <a:gd name="connsiteX17" fmla="*/ 126896 w 192184"/>
                    <a:gd name="connsiteY17" fmla="*/ 156940 h 293196"/>
                    <a:gd name="connsiteX18" fmla="*/ 126896 w 192184"/>
                    <a:gd name="connsiteY18" fmla="*/ 180623 h 293196"/>
                    <a:gd name="connsiteX19" fmla="*/ 192184 w 192184"/>
                    <a:gd name="connsiteY19" fmla="*/ 142938 h 293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2184" h="293196">
                      <a:moveTo>
                        <a:pt x="192184" y="142938"/>
                      </a:moveTo>
                      <a:lnTo>
                        <a:pt x="126896" y="105253"/>
                      </a:lnTo>
                      <a:lnTo>
                        <a:pt x="126896" y="128936"/>
                      </a:lnTo>
                      <a:lnTo>
                        <a:pt x="104973" y="128936"/>
                      </a:lnTo>
                      <a:lnTo>
                        <a:pt x="104973" y="0"/>
                      </a:lnTo>
                      <a:lnTo>
                        <a:pt x="0" y="0"/>
                      </a:lnTo>
                      <a:lnTo>
                        <a:pt x="0" y="28004"/>
                      </a:lnTo>
                      <a:lnTo>
                        <a:pt x="76970" y="28004"/>
                      </a:lnTo>
                      <a:lnTo>
                        <a:pt x="76970" y="128936"/>
                      </a:lnTo>
                      <a:lnTo>
                        <a:pt x="22123" y="128936"/>
                      </a:lnTo>
                      <a:lnTo>
                        <a:pt x="22123" y="156940"/>
                      </a:lnTo>
                      <a:lnTo>
                        <a:pt x="76970" y="156940"/>
                      </a:lnTo>
                      <a:lnTo>
                        <a:pt x="76970" y="265193"/>
                      </a:lnTo>
                      <a:lnTo>
                        <a:pt x="0" y="265193"/>
                      </a:lnTo>
                      <a:lnTo>
                        <a:pt x="0" y="293197"/>
                      </a:lnTo>
                      <a:lnTo>
                        <a:pt x="104973" y="293197"/>
                      </a:lnTo>
                      <a:lnTo>
                        <a:pt x="104973" y="156940"/>
                      </a:lnTo>
                      <a:lnTo>
                        <a:pt x="126896" y="156940"/>
                      </a:lnTo>
                      <a:lnTo>
                        <a:pt x="126896" y="180623"/>
                      </a:lnTo>
                      <a:lnTo>
                        <a:pt x="192184" y="142938"/>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0" name="Freeform: Shape 124">
                  <a:extLst>
                    <a:ext uri="{FF2B5EF4-FFF2-40B4-BE49-F238E27FC236}">
                      <a16:creationId xmlns:a16="http://schemas.microsoft.com/office/drawing/2014/main" id="{E6EE4BA9-B518-2D4C-FEBD-7051ECE4F331}"/>
                    </a:ext>
                  </a:extLst>
                </p:cNvPr>
                <p:cNvSpPr/>
                <p:nvPr/>
              </p:nvSpPr>
              <p:spPr>
                <a:xfrm>
                  <a:off x="7491571" y="4266446"/>
                  <a:ext cx="51745" cy="27956"/>
                </a:xfrm>
                <a:custGeom>
                  <a:avLst/>
                  <a:gdLst>
                    <a:gd name="connsiteX0" fmla="*/ 74289 w 139577"/>
                    <a:gd name="connsiteY0" fmla="*/ 23723 h 75409"/>
                    <a:gd name="connsiteX1" fmla="*/ 0 w 139577"/>
                    <a:gd name="connsiteY1" fmla="*/ 23723 h 75409"/>
                    <a:gd name="connsiteX2" fmla="*/ 0 w 139577"/>
                    <a:gd name="connsiteY2" fmla="*/ 51726 h 75409"/>
                    <a:gd name="connsiteX3" fmla="*/ 74289 w 139577"/>
                    <a:gd name="connsiteY3" fmla="*/ 51726 h 75409"/>
                    <a:gd name="connsiteX4" fmla="*/ 74289 w 139577"/>
                    <a:gd name="connsiteY4" fmla="*/ 75409 h 75409"/>
                    <a:gd name="connsiteX5" fmla="*/ 139577 w 139577"/>
                    <a:gd name="connsiteY5" fmla="*/ 37725 h 75409"/>
                    <a:gd name="connsiteX6" fmla="*/ 74289 w 139577"/>
                    <a:gd name="connsiteY6" fmla="*/ 0 h 75409"/>
                    <a:gd name="connsiteX7" fmla="*/ 74289 w 139577"/>
                    <a:gd name="connsiteY7" fmla="*/ 23723 h 7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577" h="75409">
                      <a:moveTo>
                        <a:pt x="74289" y="23723"/>
                      </a:moveTo>
                      <a:lnTo>
                        <a:pt x="0" y="23723"/>
                      </a:lnTo>
                      <a:lnTo>
                        <a:pt x="0" y="51726"/>
                      </a:lnTo>
                      <a:lnTo>
                        <a:pt x="74289" y="51726"/>
                      </a:lnTo>
                      <a:lnTo>
                        <a:pt x="74289" y="75409"/>
                      </a:lnTo>
                      <a:lnTo>
                        <a:pt x="139577" y="37725"/>
                      </a:lnTo>
                      <a:lnTo>
                        <a:pt x="74289" y="0"/>
                      </a:lnTo>
                      <a:lnTo>
                        <a:pt x="74289" y="23723"/>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70" name="Freeform: Shape 170">
                  <a:extLst>
                    <a:ext uri="{FF2B5EF4-FFF2-40B4-BE49-F238E27FC236}">
                      <a16:creationId xmlns:a16="http://schemas.microsoft.com/office/drawing/2014/main" id="{585AFB33-4733-C87F-6FEC-E9B102D8DC14}"/>
                    </a:ext>
                  </a:extLst>
                </p:cNvPr>
                <p:cNvSpPr/>
                <p:nvPr/>
              </p:nvSpPr>
              <p:spPr>
                <a:xfrm>
                  <a:off x="7491571" y="4364759"/>
                  <a:ext cx="51745" cy="27956"/>
                </a:xfrm>
                <a:custGeom>
                  <a:avLst/>
                  <a:gdLst>
                    <a:gd name="connsiteX0" fmla="*/ 74289 w 139577"/>
                    <a:gd name="connsiteY0" fmla="*/ 23683 h 75409"/>
                    <a:gd name="connsiteX1" fmla="*/ 0 w 139577"/>
                    <a:gd name="connsiteY1" fmla="*/ 23683 h 75409"/>
                    <a:gd name="connsiteX2" fmla="*/ 0 w 139577"/>
                    <a:gd name="connsiteY2" fmla="*/ 51686 h 75409"/>
                    <a:gd name="connsiteX3" fmla="*/ 74289 w 139577"/>
                    <a:gd name="connsiteY3" fmla="*/ 51686 h 75409"/>
                    <a:gd name="connsiteX4" fmla="*/ 74289 w 139577"/>
                    <a:gd name="connsiteY4" fmla="*/ 75409 h 75409"/>
                    <a:gd name="connsiteX5" fmla="*/ 139577 w 139577"/>
                    <a:gd name="connsiteY5" fmla="*/ 37685 h 75409"/>
                    <a:gd name="connsiteX6" fmla="*/ 74289 w 139577"/>
                    <a:gd name="connsiteY6" fmla="*/ 0 h 75409"/>
                    <a:gd name="connsiteX7" fmla="*/ 74289 w 139577"/>
                    <a:gd name="connsiteY7" fmla="*/ 23683 h 7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577" h="75409">
                      <a:moveTo>
                        <a:pt x="74289" y="23683"/>
                      </a:moveTo>
                      <a:lnTo>
                        <a:pt x="0" y="23683"/>
                      </a:lnTo>
                      <a:lnTo>
                        <a:pt x="0" y="51686"/>
                      </a:lnTo>
                      <a:lnTo>
                        <a:pt x="74289" y="51686"/>
                      </a:lnTo>
                      <a:lnTo>
                        <a:pt x="74289" y="75409"/>
                      </a:lnTo>
                      <a:lnTo>
                        <a:pt x="139577" y="37685"/>
                      </a:lnTo>
                      <a:lnTo>
                        <a:pt x="74289" y="0"/>
                      </a:lnTo>
                      <a:lnTo>
                        <a:pt x="74289" y="23683"/>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135" name="Group 134">
              <a:extLst>
                <a:ext uri="{FF2B5EF4-FFF2-40B4-BE49-F238E27FC236}">
                  <a16:creationId xmlns:a16="http://schemas.microsoft.com/office/drawing/2014/main" id="{A5F0ECC6-6BFD-0379-DB7E-5FA62C0C74A0}"/>
                </a:ext>
              </a:extLst>
            </p:cNvPr>
            <p:cNvGrpSpPr/>
            <p:nvPr/>
          </p:nvGrpSpPr>
          <p:grpSpPr>
            <a:xfrm>
              <a:off x="4959077" y="1951839"/>
              <a:ext cx="457202" cy="457200"/>
              <a:chOff x="4637608" y="1958564"/>
              <a:chExt cx="457202" cy="457200"/>
            </a:xfrm>
          </p:grpSpPr>
          <p:sp>
            <p:nvSpPr>
              <p:cNvPr id="143" name="Oval 142">
                <a:extLst>
                  <a:ext uri="{FF2B5EF4-FFF2-40B4-BE49-F238E27FC236}">
                    <a16:creationId xmlns:a16="http://schemas.microsoft.com/office/drawing/2014/main" id="{19791819-024E-B2B1-2000-1DB4F64F7DDA}"/>
                  </a:ext>
                </a:extLst>
              </p:cNvPr>
              <p:cNvSpPr>
                <a:spLocks noChangeAspect="1"/>
              </p:cNvSpPr>
              <p:nvPr/>
            </p:nvSpPr>
            <p:spPr>
              <a:xfrm>
                <a:off x="4637608" y="1958564"/>
                <a:ext cx="457202" cy="457200"/>
              </a:xfrm>
              <a:prstGeom prst="ellipse">
                <a:avLst/>
              </a:prstGeom>
              <a:solidFill>
                <a:schemeClr val="accent3"/>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4" name="Graphic 249">
                <a:extLst>
                  <a:ext uri="{FF2B5EF4-FFF2-40B4-BE49-F238E27FC236}">
                    <a16:creationId xmlns:a16="http://schemas.microsoft.com/office/drawing/2014/main" id="{7A118C4C-3674-29FE-C3F7-2DA8D3001069}"/>
                  </a:ext>
                </a:extLst>
              </p:cNvPr>
              <p:cNvSpPr/>
              <p:nvPr/>
            </p:nvSpPr>
            <p:spPr>
              <a:xfrm>
                <a:off x="4718148" y="2085390"/>
                <a:ext cx="300966" cy="206048"/>
              </a:xfrm>
              <a:custGeom>
                <a:avLst/>
                <a:gdLst>
                  <a:gd name="connsiteX0" fmla="*/ 515311 w 594328"/>
                  <a:gd name="connsiteY0" fmla="*/ 344910 h 406891"/>
                  <a:gd name="connsiteX1" fmla="*/ 470272 w 594328"/>
                  <a:gd name="connsiteY1" fmla="*/ 344910 h 406891"/>
                  <a:gd name="connsiteX2" fmla="*/ 328808 w 594328"/>
                  <a:gd name="connsiteY2" fmla="*/ 203446 h 406891"/>
                  <a:gd name="connsiteX3" fmla="*/ 470272 w 594328"/>
                  <a:gd name="connsiteY3" fmla="*/ 61934 h 406891"/>
                  <a:gd name="connsiteX4" fmla="*/ 515311 w 594328"/>
                  <a:gd name="connsiteY4" fmla="*/ 61934 h 406891"/>
                  <a:gd name="connsiteX5" fmla="*/ 515311 w 594328"/>
                  <a:gd name="connsiteY5" fmla="*/ 91245 h 406891"/>
                  <a:gd name="connsiteX6" fmla="*/ 594328 w 594328"/>
                  <a:gd name="connsiteY6" fmla="*/ 45599 h 406891"/>
                  <a:gd name="connsiteX7" fmla="*/ 515311 w 594328"/>
                  <a:gd name="connsiteY7" fmla="*/ 0 h 406891"/>
                  <a:gd name="connsiteX8" fmla="*/ 515311 w 594328"/>
                  <a:gd name="connsiteY8" fmla="*/ 29264 h 406891"/>
                  <a:gd name="connsiteX9" fmla="*/ 456737 w 594328"/>
                  <a:gd name="connsiteY9" fmla="*/ 29264 h 406891"/>
                  <a:gd name="connsiteX10" fmla="*/ 305658 w 594328"/>
                  <a:gd name="connsiteY10" fmla="*/ 180343 h 406891"/>
                  <a:gd name="connsiteX11" fmla="*/ 154626 w 594328"/>
                  <a:gd name="connsiteY11" fmla="*/ 29264 h 406891"/>
                  <a:gd name="connsiteX12" fmla="*/ 78970 w 594328"/>
                  <a:gd name="connsiteY12" fmla="*/ 29264 h 406891"/>
                  <a:gd name="connsiteX13" fmla="*/ 78970 w 594328"/>
                  <a:gd name="connsiteY13" fmla="*/ 0 h 406891"/>
                  <a:gd name="connsiteX14" fmla="*/ 0 w 594328"/>
                  <a:gd name="connsiteY14" fmla="*/ 45599 h 406891"/>
                  <a:gd name="connsiteX15" fmla="*/ 78970 w 594328"/>
                  <a:gd name="connsiteY15" fmla="*/ 91245 h 406891"/>
                  <a:gd name="connsiteX16" fmla="*/ 78970 w 594328"/>
                  <a:gd name="connsiteY16" fmla="*/ 61934 h 406891"/>
                  <a:gd name="connsiteX17" fmla="*/ 141091 w 594328"/>
                  <a:gd name="connsiteY17" fmla="*/ 61934 h 406891"/>
                  <a:gd name="connsiteX18" fmla="*/ 282556 w 594328"/>
                  <a:gd name="connsiteY18" fmla="*/ 203446 h 406891"/>
                  <a:gd name="connsiteX19" fmla="*/ 141091 w 594328"/>
                  <a:gd name="connsiteY19" fmla="*/ 344910 h 406891"/>
                  <a:gd name="connsiteX20" fmla="*/ 78970 w 594328"/>
                  <a:gd name="connsiteY20" fmla="*/ 344910 h 406891"/>
                  <a:gd name="connsiteX21" fmla="*/ 78970 w 594328"/>
                  <a:gd name="connsiteY21" fmla="*/ 315646 h 406891"/>
                  <a:gd name="connsiteX22" fmla="*/ 0 w 594328"/>
                  <a:gd name="connsiteY22" fmla="*/ 361245 h 406891"/>
                  <a:gd name="connsiteX23" fmla="*/ 78970 w 594328"/>
                  <a:gd name="connsiteY23" fmla="*/ 406891 h 406891"/>
                  <a:gd name="connsiteX24" fmla="*/ 78970 w 594328"/>
                  <a:gd name="connsiteY24" fmla="*/ 377581 h 406891"/>
                  <a:gd name="connsiteX25" fmla="*/ 154626 w 594328"/>
                  <a:gd name="connsiteY25" fmla="*/ 377581 h 406891"/>
                  <a:gd name="connsiteX26" fmla="*/ 305658 w 594328"/>
                  <a:gd name="connsiteY26" fmla="*/ 226548 h 406891"/>
                  <a:gd name="connsiteX27" fmla="*/ 456737 w 594328"/>
                  <a:gd name="connsiteY27" fmla="*/ 377581 h 406891"/>
                  <a:gd name="connsiteX28" fmla="*/ 515311 w 594328"/>
                  <a:gd name="connsiteY28" fmla="*/ 377581 h 406891"/>
                  <a:gd name="connsiteX29" fmla="*/ 515311 w 594328"/>
                  <a:gd name="connsiteY29" fmla="*/ 406891 h 406891"/>
                  <a:gd name="connsiteX30" fmla="*/ 594328 w 594328"/>
                  <a:gd name="connsiteY30" fmla="*/ 361245 h 406891"/>
                  <a:gd name="connsiteX31" fmla="*/ 515311 w 594328"/>
                  <a:gd name="connsiteY31" fmla="*/ 315646 h 406891"/>
                  <a:gd name="connsiteX32" fmla="*/ 515311 w 594328"/>
                  <a:gd name="connsiteY32" fmla="*/ 344910 h 40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94328" h="406891">
                    <a:moveTo>
                      <a:pt x="515311" y="344910"/>
                    </a:moveTo>
                    <a:lnTo>
                      <a:pt x="470272" y="344910"/>
                    </a:lnTo>
                    <a:lnTo>
                      <a:pt x="328808" y="203446"/>
                    </a:lnTo>
                    <a:lnTo>
                      <a:pt x="470272" y="61934"/>
                    </a:lnTo>
                    <a:lnTo>
                      <a:pt x="515311" y="61934"/>
                    </a:lnTo>
                    <a:lnTo>
                      <a:pt x="515311" y="91245"/>
                    </a:lnTo>
                    <a:lnTo>
                      <a:pt x="594328" y="45599"/>
                    </a:lnTo>
                    <a:lnTo>
                      <a:pt x="515311" y="0"/>
                    </a:lnTo>
                    <a:lnTo>
                      <a:pt x="515311" y="29264"/>
                    </a:lnTo>
                    <a:lnTo>
                      <a:pt x="456737" y="29264"/>
                    </a:lnTo>
                    <a:lnTo>
                      <a:pt x="305658" y="180343"/>
                    </a:lnTo>
                    <a:lnTo>
                      <a:pt x="154626" y="29264"/>
                    </a:lnTo>
                    <a:lnTo>
                      <a:pt x="78970" y="29264"/>
                    </a:lnTo>
                    <a:lnTo>
                      <a:pt x="78970" y="0"/>
                    </a:lnTo>
                    <a:lnTo>
                      <a:pt x="0" y="45599"/>
                    </a:lnTo>
                    <a:lnTo>
                      <a:pt x="78970" y="91245"/>
                    </a:lnTo>
                    <a:lnTo>
                      <a:pt x="78970" y="61934"/>
                    </a:lnTo>
                    <a:lnTo>
                      <a:pt x="141091" y="61934"/>
                    </a:lnTo>
                    <a:lnTo>
                      <a:pt x="282556" y="203446"/>
                    </a:lnTo>
                    <a:lnTo>
                      <a:pt x="141091" y="344910"/>
                    </a:lnTo>
                    <a:lnTo>
                      <a:pt x="78970" y="344910"/>
                    </a:lnTo>
                    <a:lnTo>
                      <a:pt x="78970" y="315646"/>
                    </a:lnTo>
                    <a:lnTo>
                      <a:pt x="0" y="361245"/>
                    </a:lnTo>
                    <a:lnTo>
                      <a:pt x="78970" y="406891"/>
                    </a:lnTo>
                    <a:lnTo>
                      <a:pt x="78970" y="377581"/>
                    </a:lnTo>
                    <a:lnTo>
                      <a:pt x="154626" y="377581"/>
                    </a:lnTo>
                    <a:lnTo>
                      <a:pt x="305658" y="226548"/>
                    </a:lnTo>
                    <a:lnTo>
                      <a:pt x="456737" y="377581"/>
                    </a:lnTo>
                    <a:lnTo>
                      <a:pt x="515311" y="377581"/>
                    </a:lnTo>
                    <a:lnTo>
                      <a:pt x="515311" y="406891"/>
                    </a:lnTo>
                    <a:lnTo>
                      <a:pt x="594328" y="361245"/>
                    </a:lnTo>
                    <a:lnTo>
                      <a:pt x="515311" y="315646"/>
                    </a:lnTo>
                    <a:lnTo>
                      <a:pt x="515311" y="344910"/>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136" name="Group 135">
              <a:extLst>
                <a:ext uri="{FF2B5EF4-FFF2-40B4-BE49-F238E27FC236}">
                  <a16:creationId xmlns:a16="http://schemas.microsoft.com/office/drawing/2014/main" id="{0F333C4F-D42C-9E5A-0EA6-9EB87871CAAC}"/>
                </a:ext>
              </a:extLst>
            </p:cNvPr>
            <p:cNvGrpSpPr>
              <a:grpSpLocks noChangeAspect="1"/>
            </p:cNvGrpSpPr>
            <p:nvPr/>
          </p:nvGrpSpPr>
          <p:grpSpPr>
            <a:xfrm>
              <a:off x="939060" y="1951839"/>
              <a:ext cx="457200" cy="457200"/>
              <a:chOff x="7756637" y="2484407"/>
              <a:chExt cx="902850" cy="902850"/>
            </a:xfrm>
          </p:grpSpPr>
          <p:sp>
            <p:nvSpPr>
              <p:cNvPr id="137" name="Oval 26">
                <a:extLst>
                  <a:ext uri="{FF2B5EF4-FFF2-40B4-BE49-F238E27FC236}">
                    <a16:creationId xmlns:a16="http://schemas.microsoft.com/office/drawing/2014/main" id="{FA9ABA06-F2D5-1C7D-3A8C-39CCD42E85E1}"/>
                  </a:ext>
                </a:extLst>
              </p:cNvPr>
              <p:cNvSpPr>
                <a:spLocks noChangeAspect="1"/>
              </p:cNvSpPr>
              <p:nvPr/>
            </p:nvSpPr>
            <p:spPr bwMode="gray">
              <a:xfrm>
                <a:off x="7756637" y="2484407"/>
                <a:ext cx="902850" cy="902850"/>
              </a:xfrm>
              <a:prstGeom prst="ellipse">
                <a:avLst/>
              </a:prstGeom>
              <a:solidFill>
                <a:srgbClr val="E68C28"/>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138" name="Group 137">
                <a:extLst>
                  <a:ext uri="{FF2B5EF4-FFF2-40B4-BE49-F238E27FC236}">
                    <a16:creationId xmlns:a16="http://schemas.microsoft.com/office/drawing/2014/main" id="{CBA54935-16FC-6914-1583-9B3AAA6431C3}"/>
                  </a:ext>
                </a:extLst>
              </p:cNvPr>
              <p:cNvGrpSpPr/>
              <p:nvPr/>
            </p:nvGrpSpPr>
            <p:grpSpPr>
              <a:xfrm>
                <a:off x="7930273" y="2670781"/>
                <a:ext cx="558302" cy="538093"/>
                <a:chOff x="7930273" y="2670781"/>
                <a:chExt cx="558302" cy="538093"/>
              </a:xfrm>
            </p:grpSpPr>
            <p:sp>
              <p:nvSpPr>
                <p:cNvPr id="139" name="Freeform: Shape 201">
                  <a:extLst>
                    <a:ext uri="{FF2B5EF4-FFF2-40B4-BE49-F238E27FC236}">
                      <a16:creationId xmlns:a16="http://schemas.microsoft.com/office/drawing/2014/main" id="{D1F9D3BD-674A-887D-39EE-AF18115CCB6B}"/>
                    </a:ext>
                  </a:extLst>
                </p:cNvPr>
                <p:cNvSpPr/>
                <p:nvPr/>
              </p:nvSpPr>
              <p:spPr>
                <a:xfrm>
                  <a:off x="7930273" y="2670781"/>
                  <a:ext cx="432694" cy="432694"/>
                </a:xfrm>
                <a:custGeom>
                  <a:avLst/>
                  <a:gdLst>
                    <a:gd name="connsiteX0" fmla="*/ 0 w 432694"/>
                    <a:gd name="connsiteY0" fmla="*/ 0 h 432694"/>
                    <a:gd name="connsiteX1" fmla="*/ 0 w 432694"/>
                    <a:gd name="connsiteY1" fmla="*/ 432694 h 432694"/>
                    <a:gd name="connsiteX2" fmla="*/ 295991 w 432694"/>
                    <a:gd name="connsiteY2" fmla="*/ 432694 h 432694"/>
                    <a:gd name="connsiteX3" fmla="*/ 295991 w 432694"/>
                    <a:gd name="connsiteY3" fmla="*/ 393070 h 432694"/>
                    <a:gd name="connsiteX4" fmla="*/ 165232 w 432694"/>
                    <a:gd name="connsiteY4" fmla="*/ 393070 h 432694"/>
                    <a:gd name="connsiteX5" fmla="*/ 206441 w 432694"/>
                    <a:gd name="connsiteY5" fmla="*/ 214762 h 432694"/>
                    <a:gd name="connsiteX6" fmla="*/ 236159 w 432694"/>
                    <a:gd name="connsiteY6" fmla="*/ 323728 h 432694"/>
                    <a:gd name="connsiteX7" fmla="*/ 285689 w 432694"/>
                    <a:gd name="connsiteY7" fmla="*/ 135514 h 432694"/>
                    <a:gd name="connsiteX8" fmla="*/ 306294 w 432694"/>
                    <a:gd name="connsiteY8" fmla="*/ 237744 h 432694"/>
                    <a:gd name="connsiteX9" fmla="*/ 393070 w 432694"/>
                    <a:gd name="connsiteY9" fmla="*/ 237744 h 432694"/>
                    <a:gd name="connsiteX10" fmla="*/ 393070 w 432694"/>
                    <a:gd name="connsiteY10" fmla="*/ 326106 h 432694"/>
                    <a:gd name="connsiteX11" fmla="*/ 432694 w 432694"/>
                    <a:gd name="connsiteY11" fmla="*/ 326106 h 432694"/>
                    <a:gd name="connsiteX12" fmla="*/ 432694 w 432694"/>
                    <a:gd name="connsiteY12" fmla="*/ 0 h 432694"/>
                    <a:gd name="connsiteX13" fmla="*/ 0 w 432694"/>
                    <a:gd name="connsiteY13" fmla="*/ 0 h 432694"/>
                    <a:gd name="connsiteX14" fmla="*/ 39624 w 432694"/>
                    <a:gd name="connsiteY14" fmla="*/ 393070 h 432694"/>
                    <a:gd name="connsiteX15" fmla="*/ 39624 w 432694"/>
                    <a:gd name="connsiteY15" fmla="*/ 237744 h 432694"/>
                    <a:gd name="connsiteX16" fmla="*/ 111740 w 432694"/>
                    <a:gd name="connsiteY16" fmla="*/ 237744 h 432694"/>
                    <a:gd name="connsiteX17" fmla="*/ 130759 w 432694"/>
                    <a:gd name="connsiteY17" fmla="*/ 168798 h 432694"/>
                    <a:gd name="connsiteX18" fmla="*/ 162458 w 432694"/>
                    <a:gd name="connsiteY18" fmla="*/ 393070 h 432694"/>
                    <a:gd name="connsiteX19" fmla="*/ 39624 w 432694"/>
                    <a:gd name="connsiteY19" fmla="*/ 393070 h 432694"/>
                    <a:gd name="connsiteX20" fmla="*/ 322539 w 432694"/>
                    <a:gd name="connsiteY20" fmla="*/ 217932 h 432694"/>
                    <a:gd name="connsiteX21" fmla="*/ 288066 w 432694"/>
                    <a:gd name="connsiteY21" fmla="*/ 47945 h 432694"/>
                    <a:gd name="connsiteX22" fmla="*/ 235763 w 432694"/>
                    <a:gd name="connsiteY22" fmla="*/ 246858 h 432694"/>
                    <a:gd name="connsiteX23" fmla="*/ 204856 w 432694"/>
                    <a:gd name="connsiteY23" fmla="*/ 133533 h 432694"/>
                    <a:gd name="connsiteX24" fmla="*/ 168006 w 432694"/>
                    <a:gd name="connsiteY24" fmla="*/ 292029 h 432694"/>
                    <a:gd name="connsiteX25" fmla="*/ 136703 w 432694"/>
                    <a:gd name="connsiteY25" fmla="*/ 72116 h 432694"/>
                    <a:gd name="connsiteX26" fmla="*/ 96683 w 432694"/>
                    <a:gd name="connsiteY26" fmla="*/ 217932 h 432694"/>
                    <a:gd name="connsiteX27" fmla="*/ 39624 w 432694"/>
                    <a:gd name="connsiteY27" fmla="*/ 217932 h 432694"/>
                    <a:gd name="connsiteX28" fmla="*/ 39624 w 432694"/>
                    <a:gd name="connsiteY28" fmla="*/ 39624 h 432694"/>
                    <a:gd name="connsiteX29" fmla="*/ 393070 w 432694"/>
                    <a:gd name="connsiteY29" fmla="*/ 39624 h 432694"/>
                    <a:gd name="connsiteX30" fmla="*/ 393070 w 432694"/>
                    <a:gd name="connsiteY30" fmla="*/ 217932 h 432694"/>
                    <a:gd name="connsiteX31" fmla="*/ 322539 w 432694"/>
                    <a:gd name="connsiteY31" fmla="*/ 217932 h 432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32694" h="432694">
                      <a:moveTo>
                        <a:pt x="0" y="0"/>
                      </a:moveTo>
                      <a:lnTo>
                        <a:pt x="0" y="432694"/>
                      </a:lnTo>
                      <a:lnTo>
                        <a:pt x="295991" y="432694"/>
                      </a:lnTo>
                      <a:lnTo>
                        <a:pt x="295991" y="393070"/>
                      </a:lnTo>
                      <a:lnTo>
                        <a:pt x="165232" y="393070"/>
                      </a:lnTo>
                      <a:lnTo>
                        <a:pt x="206441" y="214762"/>
                      </a:lnTo>
                      <a:lnTo>
                        <a:pt x="236159" y="323728"/>
                      </a:lnTo>
                      <a:lnTo>
                        <a:pt x="285689" y="135514"/>
                      </a:lnTo>
                      <a:lnTo>
                        <a:pt x="306294" y="237744"/>
                      </a:lnTo>
                      <a:lnTo>
                        <a:pt x="393070" y="237744"/>
                      </a:lnTo>
                      <a:lnTo>
                        <a:pt x="393070" y="326106"/>
                      </a:lnTo>
                      <a:lnTo>
                        <a:pt x="432694" y="326106"/>
                      </a:lnTo>
                      <a:lnTo>
                        <a:pt x="432694" y="0"/>
                      </a:lnTo>
                      <a:lnTo>
                        <a:pt x="0" y="0"/>
                      </a:lnTo>
                      <a:close/>
                      <a:moveTo>
                        <a:pt x="39624" y="393070"/>
                      </a:moveTo>
                      <a:lnTo>
                        <a:pt x="39624" y="237744"/>
                      </a:lnTo>
                      <a:lnTo>
                        <a:pt x="111740" y="237744"/>
                      </a:lnTo>
                      <a:lnTo>
                        <a:pt x="130759" y="168798"/>
                      </a:lnTo>
                      <a:lnTo>
                        <a:pt x="162458" y="393070"/>
                      </a:lnTo>
                      <a:lnTo>
                        <a:pt x="39624" y="393070"/>
                      </a:lnTo>
                      <a:close/>
                      <a:moveTo>
                        <a:pt x="322539" y="217932"/>
                      </a:moveTo>
                      <a:lnTo>
                        <a:pt x="288066" y="47945"/>
                      </a:lnTo>
                      <a:lnTo>
                        <a:pt x="235763" y="246858"/>
                      </a:lnTo>
                      <a:lnTo>
                        <a:pt x="204856" y="133533"/>
                      </a:lnTo>
                      <a:lnTo>
                        <a:pt x="168006" y="292029"/>
                      </a:lnTo>
                      <a:lnTo>
                        <a:pt x="136703" y="72116"/>
                      </a:lnTo>
                      <a:lnTo>
                        <a:pt x="96683" y="217932"/>
                      </a:lnTo>
                      <a:lnTo>
                        <a:pt x="39624" y="217932"/>
                      </a:lnTo>
                      <a:lnTo>
                        <a:pt x="39624" y="39624"/>
                      </a:lnTo>
                      <a:lnTo>
                        <a:pt x="393070" y="39624"/>
                      </a:lnTo>
                      <a:lnTo>
                        <a:pt x="393070" y="217932"/>
                      </a:lnTo>
                      <a:lnTo>
                        <a:pt x="322539" y="217932"/>
                      </a:ln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140" name="Graphic 41">
                  <a:extLst>
                    <a:ext uri="{FF2B5EF4-FFF2-40B4-BE49-F238E27FC236}">
                      <a16:creationId xmlns:a16="http://schemas.microsoft.com/office/drawing/2014/main" id="{64628DC3-9024-C4F2-3F6A-3F4500B6359F}"/>
                    </a:ext>
                  </a:extLst>
                </p:cNvPr>
                <p:cNvGrpSpPr/>
                <p:nvPr/>
              </p:nvGrpSpPr>
              <p:grpSpPr>
                <a:xfrm>
                  <a:off x="8250435" y="3017491"/>
                  <a:ext cx="238140" cy="191383"/>
                  <a:chOff x="8250435" y="3017491"/>
                  <a:chExt cx="238140" cy="191383"/>
                </a:xfrm>
                <a:solidFill>
                  <a:schemeClr val="bg1"/>
                </a:solidFill>
              </p:grpSpPr>
              <p:sp>
                <p:nvSpPr>
                  <p:cNvPr id="141" name="Freeform: Shape 203">
                    <a:extLst>
                      <a:ext uri="{FF2B5EF4-FFF2-40B4-BE49-F238E27FC236}">
                        <a16:creationId xmlns:a16="http://schemas.microsoft.com/office/drawing/2014/main" id="{34845F5C-F578-D5A8-BB14-90E27785979E}"/>
                      </a:ext>
                    </a:extLst>
                  </p:cNvPr>
                  <p:cNvSpPr/>
                  <p:nvPr/>
                </p:nvSpPr>
                <p:spPr>
                  <a:xfrm>
                    <a:off x="8250435" y="3017491"/>
                    <a:ext cx="238140" cy="30510"/>
                  </a:xfrm>
                  <a:custGeom>
                    <a:avLst/>
                    <a:gdLst>
                      <a:gd name="connsiteX0" fmla="*/ 238140 w 238140"/>
                      <a:gd name="connsiteY0" fmla="*/ 0 h 30510"/>
                      <a:gd name="connsiteX1" fmla="*/ 0 w 238140"/>
                      <a:gd name="connsiteY1" fmla="*/ 0 h 30510"/>
                      <a:gd name="connsiteX2" fmla="*/ 0 w 238140"/>
                      <a:gd name="connsiteY2" fmla="*/ 30510 h 30510"/>
                      <a:gd name="connsiteX3" fmla="*/ 238140 w 238140"/>
                      <a:gd name="connsiteY3" fmla="*/ 30510 h 30510"/>
                      <a:gd name="connsiteX4" fmla="*/ 238140 w 238140"/>
                      <a:gd name="connsiteY4" fmla="*/ 0 h 30510"/>
                      <a:gd name="connsiteX5" fmla="*/ 15057 w 238140"/>
                      <a:gd name="connsiteY5" fmla="*/ 21793 h 30510"/>
                      <a:gd name="connsiteX6" fmla="*/ 8321 w 238140"/>
                      <a:gd name="connsiteY6" fmla="*/ 15057 h 30510"/>
                      <a:gd name="connsiteX7" fmla="*/ 15057 w 238140"/>
                      <a:gd name="connsiteY7" fmla="*/ 8321 h 30510"/>
                      <a:gd name="connsiteX8" fmla="*/ 22586 w 238140"/>
                      <a:gd name="connsiteY8" fmla="*/ 15057 h 30510"/>
                      <a:gd name="connsiteX9" fmla="*/ 15057 w 238140"/>
                      <a:gd name="connsiteY9" fmla="*/ 21793 h 30510"/>
                      <a:gd name="connsiteX10" fmla="*/ 37247 w 238140"/>
                      <a:gd name="connsiteY10" fmla="*/ 21793 h 30510"/>
                      <a:gd name="connsiteX11" fmla="*/ 30510 w 238140"/>
                      <a:gd name="connsiteY11" fmla="*/ 15057 h 30510"/>
                      <a:gd name="connsiteX12" fmla="*/ 37247 w 238140"/>
                      <a:gd name="connsiteY12" fmla="*/ 8321 h 30510"/>
                      <a:gd name="connsiteX13" fmla="*/ 43983 w 238140"/>
                      <a:gd name="connsiteY13" fmla="*/ 15057 h 30510"/>
                      <a:gd name="connsiteX14" fmla="*/ 37247 w 238140"/>
                      <a:gd name="connsiteY14" fmla="*/ 21793 h 30510"/>
                      <a:gd name="connsiteX15" fmla="*/ 58644 w 238140"/>
                      <a:gd name="connsiteY15" fmla="*/ 21793 h 30510"/>
                      <a:gd name="connsiteX16" fmla="*/ 51907 w 238140"/>
                      <a:gd name="connsiteY16" fmla="*/ 15057 h 30510"/>
                      <a:gd name="connsiteX17" fmla="*/ 58644 w 238140"/>
                      <a:gd name="connsiteY17" fmla="*/ 8321 h 30510"/>
                      <a:gd name="connsiteX18" fmla="*/ 65380 w 238140"/>
                      <a:gd name="connsiteY18" fmla="*/ 15057 h 30510"/>
                      <a:gd name="connsiteX19" fmla="*/ 58644 w 238140"/>
                      <a:gd name="connsiteY19" fmla="*/ 21793 h 30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8140" h="30510">
                        <a:moveTo>
                          <a:pt x="238140" y="0"/>
                        </a:moveTo>
                        <a:lnTo>
                          <a:pt x="0" y="0"/>
                        </a:lnTo>
                        <a:cubicBezTo>
                          <a:pt x="0" y="30510"/>
                          <a:pt x="0" y="30510"/>
                          <a:pt x="0" y="30510"/>
                        </a:cubicBezTo>
                        <a:cubicBezTo>
                          <a:pt x="238140" y="30510"/>
                          <a:pt x="238140" y="30510"/>
                          <a:pt x="238140" y="30510"/>
                        </a:cubicBezTo>
                        <a:cubicBezTo>
                          <a:pt x="238140" y="0"/>
                          <a:pt x="238140" y="0"/>
                          <a:pt x="238140" y="0"/>
                        </a:cubicBezTo>
                        <a:close/>
                        <a:moveTo>
                          <a:pt x="15057" y="21793"/>
                        </a:moveTo>
                        <a:cubicBezTo>
                          <a:pt x="11491" y="21793"/>
                          <a:pt x="8321" y="18227"/>
                          <a:pt x="8321" y="15057"/>
                        </a:cubicBezTo>
                        <a:cubicBezTo>
                          <a:pt x="8321" y="11095"/>
                          <a:pt x="11887" y="8321"/>
                          <a:pt x="15057" y="8321"/>
                        </a:cubicBezTo>
                        <a:cubicBezTo>
                          <a:pt x="19020" y="8321"/>
                          <a:pt x="22586" y="11095"/>
                          <a:pt x="22586" y="15057"/>
                        </a:cubicBezTo>
                        <a:cubicBezTo>
                          <a:pt x="22189" y="18623"/>
                          <a:pt x="19020" y="21793"/>
                          <a:pt x="15057" y="21793"/>
                        </a:cubicBezTo>
                        <a:close/>
                        <a:moveTo>
                          <a:pt x="37247" y="21793"/>
                        </a:moveTo>
                        <a:cubicBezTo>
                          <a:pt x="33284" y="21793"/>
                          <a:pt x="30510" y="18227"/>
                          <a:pt x="30510" y="15057"/>
                        </a:cubicBezTo>
                        <a:cubicBezTo>
                          <a:pt x="30510" y="11095"/>
                          <a:pt x="33284" y="8321"/>
                          <a:pt x="37247" y="8321"/>
                        </a:cubicBezTo>
                        <a:cubicBezTo>
                          <a:pt x="40813" y="8321"/>
                          <a:pt x="43983" y="11095"/>
                          <a:pt x="43983" y="15057"/>
                        </a:cubicBezTo>
                        <a:cubicBezTo>
                          <a:pt x="43983" y="18623"/>
                          <a:pt x="40417" y="21793"/>
                          <a:pt x="37247" y="21793"/>
                        </a:cubicBezTo>
                        <a:close/>
                        <a:moveTo>
                          <a:pt x="58644" y="21793"/>
                        </a:moveTo>
                        <a:cubicBezTo>
                          <a:pt x="55077" y="21793"/>
                          <a:pt x="51907" y="18227"/>
                          <a:pt x="51907" y="15057"/>
                        </a:cubicBezTo>
                        <a:cubicBezTo>
                          <a:pt x="51907" y="11095"/>
                          <a:pt x="55474" y="8321"/>
                          <a:pt x="58644" y="8321"/>
                        </a:cubicBezTo>
                        <a:cubicBezTo>
                          <a:pt x="62606" y="8321"/>
                          <a:pt x="65380" y="11095"/>
                          <a:pt x="65380" y="15057"/>
                        </a:cubicBezTo>
                        <a:cubicBezTo>
                          <a:pt x="65380" y="18623"/>
                          <a:pt x="63002" y="21793"/>
                          <a:pt x="58644" y="21793"/>
                        </a:cubicBez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2" name="Freeform: Shape 204">
                    <a:extLst>
                      <a:ext uri="{FF2B5EF4-FFF2-40B4-BE49-F238E27FC236}">
                        <a16:creationId xmlns:a16="http://schemas.microsoft.com/office/drawing/2014/main" id="{58231E4C-8A0B-D63B-EB62-CBA8E6C91A6A}"/>
                      </a:ext>
                    </a:extLst>
                  </p:cNvPr>
                  <p:cNvSpPr/>
                  <p:nvPr/>
                </p:nvSpPr>
                <p:spPr>
                  <a:xfrm>
                    <a:off x="8250435" y="3057907"/>
                    <a:ext cx="238140" cy="150967"/>
                  </a:xfrm>
                  <a:custGeom>
                    <a:avLst/>
                    <a:gdLst>
                      <a:gd name="connsiteX0" fmla="*/ 0 w 238140"/>
                      <a:gd name="connsiteY0" fmla="*/ 0 h 150967"/>
                      <a:gd name="connsiteX1" fmla="*/ 0 w 238140"/>
                      <a:gd name="connsiteY1" fmla="*/ 143439 h 150967"/>
                      <a:gd name="connsiteX2" fmla="*/ 6736 w 238140"/>
                      <a:gd name="connsiteY2" fmla="*/ 150967 h 150967"/>
                      <a:gd name="connsiteX3" fmla="*/ 230612 w 238140"/>
                      <a:gd name="connsiteY3" fmla="*/ 150967 h 150967"/>
                      <a:gd name="connsiteX4" fmla="*/ 238140 w 238140"/>
                      <a:gd name="connsiteY4" fmla="*/ 143439 h 150967"/>
                      <a:gd name="connsiteX5" fmla="*/ 238140 w 238140"/>
                      <a:gd name="connsiteY5" fmla="*/ 0 h 150967"/>
                      <a:gd name="connsiteX6" fmla="*/ 0 w 238140"/>
                      <a:gd name="connsiteY6" fmla="*/ 0 h 15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140" h="150967">
                        <a:moveTo>
                          <a:pt x="0" y="0"/>
                        </a:moveTo>
                        <a:cubicBezTo>
                          <a:pt x="0" y="143439"/>
                          <a:pt x="0" y="143439"/>
                          <a:pt x="0" y="143439"/>
                        </a:cubicBezTo>
                        <a:cubicBezTo>
                          <a:pt x="0" y="147401"/>
                          <a:pt x="2774" y="150967"/>
                          <a:pt x="6736" y="150967"/>
                        </a:cubicBezTo>
                        <a:cubicBezTo>
                          <a:pt x="230612" y="150967"/>
                          <a:pt x="230612" y="150967"/>
                          <a:pt x="230612" y="150967"/>
                        </a:cubicBezTo>
                        <a:cubicBezTo>
                          <a:pt x="234574" y="150967"/>
                          <a:pt x="238140" y="147798"/>
                          <a:pt x="238140" y="143439"/>
                        </a:cubicBezTo>
                        <a:cubicBezTo>
                          <a:pt x="238140" y="0"/>
                          <a:pt x="238140" y="0"/>
                          <a:pt x="238140" y="0"/>
                        </a:cubicBezTo>
                        <a:lnTo>
                          <a:pt x="0" y="0"/>
                        </a:lnTo>
                        <a:close/>
                      </a:path>
                    </a:pathLst>
                  </a:custGeom>
                  <a:solidFill>
                    <a:schemeClr val="bg1"/>
                  </a:solidFill>
                  <a:ln w="39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grpSp>
      </p:grpSp>
    </p:spTree>
    <p:extLst>
      <p:ext uri="{BB962C8B-B14F-4D97-AF65-F5344CB8AC3E}">
        <p14:creationId xmlns:p14="http://schemas.microsoft.com/office/powerpoint/2010/main" val="2855603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38395E-6 4.44444E-6 L 0.00039 0.29722 " pathEditMode="relative" rAng="0" ptsTypes="AA">
                                      <p:cBhvr>
                                        <p:cTn id="6" dur="500" fill="hold"/>
                                        <p:tgtEl>
                                          <p:spTgt spid="25"/>
                                        </p:tgtEl>
                                        <p:attrNameLst>
                                          <p:attrName>ppt_x</p:attrName>
                                          <p:attrName>ppt_y</p:attrName>
                                        </p:attrNameLst>
                                      </p:cBhvr>
                                      <p:rCtr x="13" y="14861"/>
                                    </p:animMotion>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0"/>
                                          </p:stCondLst>
                                        </p:cTn>
                                        <p:tgtEl>
                                          <p:spTgt spid="18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nodeType="clickEffect">
                                  <p:stCondLst>
                                    <p:cond delay="0"/>
                                  </p:stCondLst>
                                  <p:childTnLst>
                                    <p:set>
                                      <p:cBhvr>
                                        <p:cTn id="13" dur="1" fill="hold">
                                          <p:stCondLst>
                                            <p:cond delay="0"/>
                                          </p:stCondLst>
                                        </p:cTn>
                                        <p:tgtEl>
                                          <p:spTgt spid="94"/>
                                        </p:tgtEl>
                                        <p:attrNameLst>
                                          <p:attrName>style.visibility</p:attrName>
                                        </p:attrNameLst>
                                      </p:cBhvr>
                                      <p:to>
                                        <p:strVal val="visible"/>
                                      </p:to>
                                    </p:set>
                                    <p:animEffect transition="in" filter="wipe(right)">
                                      <p:cBhvr>
                                        <p:cTn id="14" dur="500"/>
                                        <p:tgtEl>
                                          <p:spTgt spid="94"/>
                                        </p:tgtEl>
                                      </p:cBhvr>
                                    </p:animEffect>
                                  </p:childTnLst>
                                </p:cTn>
                              </p:par>
                            </p:childTnLst>
                          </p:cTn>
                        </p:par>
                        <p:par>
                          <p:cTn id="15" fill="hold">
                            <p:stCondLst>
                              <p:cond delay="500"/>
                            </p:stCondLst>
                            <p:childTnLst>
                              <p:par>
                                <p:cTn id="16" presetID="22" presetClass="entr" presetSubtype="2" fill="hold" nodeType="afterEffect">
                                  <p:stCondLst>
                                    <p:cond delay="0"/>
                                  </p:stCondLst>
                                  <p:childTnLst>
                                    <p:set>
                                      <p:cBhvr>
                                        <p:cTn id="17" dur="1" fill="hold">
                                          <p:stCondLst>
                                            <p:cond delay="0"/>
                                          </p:stCondLst>
                                        </p:cTn>
                                        <p:tgtEl>
                                          <p:spTgt spid="130"/>
                                        </p:tgtEl>
                                        <p:attrNameLst>
                                          <p:attrName>style.visibility</p:attrName>
                                        </p:attrNameLst>
                                      </p:cBhvr>
                                      <p:to>
                                        <p:strVal val="visible"/>
                                      </p:to>
                                    </p:set>
                                    <p:animEffect transition="in" filter="wipe(right)">
                                      <p:cBhvr>
                                        <p:cTn id="18" dur="500"/>
                                        <p:tgtEl>
                                          <p:spTgt spid="130"/>
                                        </p:tgtEl>
                                      </p:cBhvr>
                                    </p:animEffect>
                                  </p:childTnLst>
                                </p:cTn>
                              </p:par>
                              <p:par>
                                <p:cTn id="19" presetID="22" presetClass="entr" presetSubtype="2" fill="hold" nodeType="withEffect">
                                  <p:stCondLst>
                                    <p:cond delay="0"/>
                                  </p:stCondLst>
                                  <p:childTnLst>
                                    <p:set>
                                      <p:cBhvr>
                                        <p:cTn id="20" dur="1" fill="hold">
                                          <p:stCondLst>
                                            <p:cond delay="0"/>
                                          </p:stCondLst>
                                        </p:cTn>
                                        <p:tgtEl>
                                          <p:spTgt spid="215"/>
                                        </p:tgtEl>
                                        <p:attrNameLst>
                                          <p:attrName>style.visibility</p:attrName>
                                        </p:attrNameLst>
                                      </p:cBhvr>
                                      <p:to>
                                        <p:strVal val="visible"/>
                                      </p:to>
                                    </p:set>
                                    <p:animEffect transition="in" filter="wipe(right)">
                                      <p:cBhvr>
                                        <p:cTn id="21" dur="500"/>
                                        <p:tgtEl>
                                          <p:spTgt spid="215"/>
                                        </p:tgtEl>
                                      </p:cBhvr>
                                    </p:animEffect>
                                  </p:childTnLst>
                                </p:cTn>
                              </p:par>
                            </p:childTnLst>
                          </p:cTn>
                        </p:par>
                        <p:par>
                          <p:cTn id="22" fill="hold">
                            <p:stCondLst>
                              <p:cond delay="1000"/>
                            </p:stCondLst>
                            <p:childTnLst>
                              <p:par>
                                <p:cTn id="23" presetID="22" presetClass="exit" presetSubtype="2" fill="hold" nodeType="afterEffect">
                                  <p:stCondLst>
                                    <p:cond delay="0"/>
                                  </p:stCondLst>
                                  <p:childTnLst>
                                    <p:animEffect transition="out" filter="wipe(right)">
                                      <p:cBhvr>
                                        <p:cTn id="24" dur="500"/>
                                        <p:tgtEl>
                                          <p:spTgt spid="25"/>
                                        </p:tgtEl>
                                      </p:cBhvr>
                                    </p:animEffect>
                                    <p:set>
                                      <p:cBhvr>
                                        <p:cTn id="25"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99DAF-15D2-A174-671D-4B76FC3A474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3A68CF-CCD0-98B7-C8FB-274FF056E733}"/>
              </a:ext>
            </a:extLst>
          </p:cNvPr>
          <p:cNvSpPr>
            <a:spLocks noGrp="1"/>
          </p:cNvSpPr>
          <p:nvPr>
            <p:ph type="title"/>
          </p:nvPr>
        </p:nvSpPr>
        <p:spPr/>
        <p:txBody>
          <a:bodyPr/>
          <a:lstStyle/>
          <a:p>
            <a:r>
              <a:rPr lang="en-US" dirty="0"/>
              <a:t>Some Additional Uses Cases for VCF with NSX</a:t>
            </a:r>
          </a:p>
        </p:txBody>
      </p:sp>
      <p:sp>
        <p:nvSpPr>
          <p:cNvPr id="16" name="Rectangle: Rounded Corners 125">
            <a:extLst>
              <a:ext uri="{FF2B5EF4-FFF2-40B4-BE49-F238E27FC236}">
                <a16:creationId xmlns:a16="http://schemas.microsoft.com/office/drawing/2014/main" id="{3AFFCE49-5CAA-EDB2-C0E5-348E11480867}"/>
              </a:ext>
            </a:extLst>
          </p:cNvPr>
          <p:cNvSpPr/>
          <p:nvPr/>
        </p:nvSpPr>
        <p:spPr>
          <a:xfrm>
            <a:off x="972666" y="1419332"/>
            <a:ext cx="5055077" cy="2192228"/>
          </a:xfrm>
          <a:prstGeom prst="roundRect">
            <a:avLst>
              <a:gd name="adj" fmla="val 4171"/>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9144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005C8A"/>
                </a:solidFill>
                <a:effectLst/>
                <a:uLnTx/>
                <a:uFillTx/>
                <a:latin typeface="Arial" panose="020B0604020202020204"/>
                <a:ea typeface="+mn-ea"/>
                <a:cs typeface="+mn-cs"/>
              </a:rPr>
              <a:t>VM Mobility</a:t>
            </a:r>
          </a:p>
        </p:txBody>
      </p:sp>
      <p:sp>
        <p:nvSpPr>
          <p:cNvPr id="17" name="Rectangle: Rounded Corners 125">
            <a:extLst>
              <a:ext uri="{FF2B5EF4-FFF2-40B4-BE49-F238E27FC236}">
                <a16:creationId xmlns:a16="http://schemas.microsoft.com/office/drawing/2014/main" id="{91663E51-AD10-2D5E-D723-7E0B6E2F2B73}"/>
              </a:ext>
            </a:extLst>
          </p:cNvPr>
          <p:cNvSpPr/>
          <p:nvPr/>
        </p:nvSpPr>
        <p:spPr>
          <a:xfrm>
            <a:off x="6132877" y="1419332"/>
            <a:ext cx="5055077" cy="2192228"/>
          </a:xfrm>
          <a:prstGeom prst="roundRect">
            <a:avLst>
              <a:gd name="adj" fmla="val 4171"/>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9144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0098C7"/>
                </a:solidFill>
                <a:effectLst/>
                <a:uLnTx/>
                <a:uFillTx/>
                <a:latin typeface="Arial" panose="020B0604020202020204"/>
                <a:ea typeface="+mn-ea"/>
                <a:cs typeface="+mn-cs"/>
              </a:rPr>
              <a:t>L2 DC Extension</a:t>
            </a:r>
          </a:p>
        </p:txBody>
      </p:sp>
      <p:sp>
        <p:nvSpPr>
          <p:cNvPr id="18" name="Rectangle: Rounded Corners 125">
            <a:extLst>
              <a:ext uri="{FF2B5EF4-FFF2-40B4-BE49-F238E27FC236}">
                <a16:creationId xmlns:a16="http://schemas.microsoft.com/office/drawing/2014/main" id="{58EC202E-FFE2-908A-0894-D71DBE360224}"/>
              </a:ext>
            </a:extLst>
          </p:cNvPr>
          <p:cNvSpPr/>
          <p:nvPr/>
        </p:nvSpPr>
        <p:spPr>
          <a:xfrm>
            <a:off x="972666" y="3715086"/>
            <a:ext cx="5055077" cy="2192228"/>
          </a:xfrm>
          <a:prstGeom prst="roundRect">
            <a:avLst>
              <a:gd name="adj" fmla="val 4171"/>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9144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61A60E"/>
                </a:solidFill>
                <a:effectLst/>
                <a:uLnTx/>
                <a:uFillTx/>
                <a:latin typeface="Arial" panose="020B0604020202020204"/>
                <a:ea typeface="+mn-ea"/>
                <a:cs typeface="+mn-cs"/>
              </a:rPr>
              <a:t>Disaster Recovery</a:t>
            </a:r>
          </a:p>
        </p:txBody>
      </p:sp>
      <p:sp>
        <p:nvSpPr>
          <p:cNvPr id="19" name="Rectangle: Rounded Corners 125">
            <a:extLst>
              <a:ext uri="{FF2B5EF4-FFF2-40B4-BE49-F238E27FC236}">
                <a16:creationId xmlns:a16="http://schemas.microsoft.com/office/drawing/2014/main" id="{7E9D05CF-F75B-D5DD-B618-C04FDB8B6530}"/>
              </a:ext>
            </a:extLst>
          </p:cNvPr>
          <p:cNvSpPr/>
          <p:nvPr/>
        </p:nvSpPr>
        <p:spPr>
          <a:xfrm>
            <a:off x="6132877" y="3715086"/>
            <a:ext cx="5055077" cy="2192228"/>
          </a:xfrm>
          <a:prstGeom prst="roundRect">
            <a:avLst>
              <a:gd name="adj" fmla="val 4171"/>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9144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6C4B94"/>
                </a:solidFill>
                <a:effectLst/>
                <a:uLnTx/>
                <a:uFillTx/>
                <a:latin typeface="Arial" panose="020B0604020202020204"/>
                <a:ea typeface="+mn-ea"/>
                <a:cs typeface="+mn-cs"/>
              </a:rPr>
              <a:t>Multi-Site</a:t>
            </a:r>
          </a:p>
        </p:txBody>
      </p:sp>
      <p:sp>
        <p:nvSpPr>
          <p:cNvPr id="29" name="Google Shape;963;p55">
            <a:extLst>
              <a:ext uri="{FF2B5EF4-FFF2-40B4-BE49-F238E27FC236}">
                <a16:creationId xmlns:a16="http://schemas.microsoft.com/office/drawing/2014/main" id="{888FC14E-2A4D-61E1-448C-0A0E7B8517DB}"/>
              </a:ext>
            </a:extLst>
          </p:cNvPr>
          <p:cNvSpPr/>
          <p:nvPr/>
        </p:nvSpPr>
        <p:spPr>
          <a:xfrm>
            <a:off x="1383704" y="4109866"/>
            <a:ext cx="1779145" cy="1146822"/>
          </a:xfrm>
          <a:prstGeom prst="roundRect">
            <a:avLst>
              <a:gd name="adj" fmla="val 4567"/>
            </a:avLst>
          </a:prstGeom>
          <a:solidFill>
            <a:schemeClr val="bg1">
              <a:alpha val="59000"/>
            </a:schemeClr>
          </a:solidFill>
          <a:ln w="25400" cap="flat" cmpd="sng">
            <a:solidFill>
              <a:schemeClr val="accent4"/>
            </a:solidFill>
            <a:prstDash val="solid"/>
            <a:round/>
            <a:headEnd type="none" w="sm" len="sm"/>
            <a:tailEnd type="none" w="sm" len="sm"/>
          </a:ln>
        </p:spPr>
        <p:txBody>
          <a:bodyPr spcFirstLastPara="1" wrap="square" lIns="0" tIns="45675" rIns="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sz="1100" b="0" i="0" u="none" strike="noStrike" kern="1200" cap="none" spc="0" normalizeH="0" baseline="0" noProof="0">
              <a:ln>
                <a:noFill/>
              </a:ln>
              <a:solidFill>
                <a:srgbClr val="FFFFFF"/>
              </a:solidFill>
              <a:effectLst/>
              <a:uLnTx/>
              <a:uFillTx/>
              <a:latin typeface="Arial" panose="020B0604020202020204"/>
              <a:ea typeface="Roboto"/>
              <a:cs typeface="Roboto"/>
              <a:sym typeface="Roboto"/>
            </a:endParaRPr>
          </a:p>
        </p:txBody>
      </p:sp>
      <p:sp>
        <p:nvSpPr>
          <p:cNvPr id="31" name="Google Shape;963;p55">
            <a:extLst>
              <a:ext uri="{FF2B5EF4-FFF2-40B4-BE49-F238E27FC236}">
                <a16:creationId xmlns:a16="http://schemas.microsoft.com/office/drawing/2014/main" id="{D0C6EFB6-8BF0-2B2A-2C56-AEA19062FE9A}"/>
              </a:ext>
            </a:extLst>
          </p:cNvPr>
          <p:cNvSpPr/>
          <p:nvPr/>
        </p:nvSpPr>
        <p:spPr>
          <a:xfrm>
            <a:off x="3826752" y="4109866"/>
            <a:ext cx="1779145" cy="1146822"/>
          </a:xfrm>
          <a:prstGeom prst="roundRect">
            <a:avLst>
              <a:gd name="adj" fmla="val 4567"/>
            </a:avLst>
          </a:prstGeom>
          <a:solidFill>
            <a:srgbClr val="FFFFFF"/>
          </a:solidFill>
          <a:ln w="25400" cap="flat" cmpd="sng">
            <a:solidFill>
              <a:schemeClr val="accent4"/>
            </a:solidFill>
            <a:prstDash val="solid"/>
            <a:round/>
            <a:headEnd type="none" w="sm" len="sm"/>
            <a:tailEnd type="none" w="sm" len="sm"/>
          </a:ln>
        </p:spPr>
        <p:txBody>
          <a:bodyPr spcFirstLastPara="1" wrap="square" lIns="0" tIns="45675" rIns="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sz="1100" b="0" i="0" u="none" strike="noStrike" kern="1200" cap="none" spc="0" normalizeH="0" baseline="0" noProof="0">
              <a:ln>
                <a:noFill/>
              </a:ln>
              <a:solidFill>
                <a:srgbClr val="FFFFFF"/>
              </a:solidFill>
              <a:effectLst/>
              <a:uLnTx/>
              <a:uFillTx/>
              <a:latin typeface="Arial" panose="020B0604020202020204"/>
              <a:ea typeface="Roboto"/>
              <a:cs typeface="Roboto"/>
              <a:sym typeface="Roboto"/>
            </a:endParaRPr>
          </a:p>
        </p:txBody>
      </p:sp>
      <p:sp>
        <p:nvSpPr>
          <p:cNvPr id="32" name="Google Shape;978;p55">
            <a:extLst>
              <a:ext uri="{FF2B5EF4-FFF2-40B4-BE49-F238E27FC236}">
                <a16:creationId xmlns:a16="http://schemas.microsoft.com/office/drawing/2014/main" id="{E9196505-EFC3-1D6C-3154-0C412D39D218}"/>
              </a:ext>
            </a:extLst>
          </p:cNvPr>
          <p:cNvSpPr/>
          <p:nvPr/>
        </p:nvSpPr>
        <p:spPr>
          <a:xfrm>
            <a:off x="4247101" y="4006340"/>
            <a:ext cx="938446" cy="216000"/>
          </a:xfrm>
          <a:prstGeom prst="roundRect">
            <a:avLst>
              <a:gd name="adj" fmla="val 50000"/>
            </a:avLst>
          </a:prstGeom>
          <a:solidFill>
            <a:srgbClr val="00000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r>
              <a:rPr kumimoji="0" lang="en-US" sz="1050" b="0" i="0" u="none" strike="noStrike" kern="1200" cap="none" spc="0" normalizeH="0" baseline="0" noProof="0">
                <a:ln>
                  <a:noFill/>
                </a:ln>
                <a:solidFill>
                  <a:srgbClr val="FFFFFF"/>
                </a:solidFill>
                <a:effectLst/>
                <a:uLnTx/>
                <a:uFillTx/>
                <a:latin typeface="Arial" panose="020B0604020202020204"/>
                <a:ea typeface="Roboto"/>
                <a:cs typeface="Roboto"/>
                <a:sym typeface="Roboto"/>
              </a:rPr>
              <a:t>DC2</a:t>
            </a:r>
          </a:p>
        </p:txBody>
      </p:sp>
      <p:grpSp>
        <p:nvGrpSpPr>
          <p:cNvPr id="173" name="Group 172">
            <a:extLst>
              <a:ext uri="{FF2B5EF4-FFF2-40B4-BE49-F238E27FC236}">
                <a16:creationId xmlns:a16="http://schemas.microsoft.com/office/drawing/2014/main" id="{9FC72B9F-A3D5-015E-8ADD-0CE281FB1CE8}"/>
              </a:ext>
            </a:extLst>
          </p:cNvPr>
          <p:cNvGrpSpPr/>
          <p:nvPr/>
        </p:nvGrpSpPr>
        <p:grpSpPr>
          <a:xfrm>
            <a:off x="6549319" y="1710586"/>
            <a:ext cx="1779145" cy="1250348"/>
            <a:chOff x="6549319" y="1710586"/>
            <a:chExt cx="1779145" cy="1250348"/>
          </a:xfrm>
        </p:grpSpPr>
        <p:sp>
          <p:nvSpPr>
            <p:cNvPr id="35" name="Google Shape;963;p55">
              <a:extLst>
                <a:ext uri="{FF2B5EF4-FFF2-40B4-BE49-F238E27FC236}">
                  <a16:creationId xmlns:a16="http://schemas.microsoft.com/office/drawing/2014/main" id="{257258CC-5D29-9C9C-03F9-1A8D6F031F0E}"/>
                </a:ext>
              </a:extLst>
            </p:cNvPr>
            <p:cNvSpPr/>
            <p:nvPr/>
          </p:nvSpPr>
          <p:spPr>
            <a:xfrm>
              <a:off x="6549319" y="1814112"/>
              <a:ext cx="1779145" cy="1146822"/>
            </a:xfrm>
            <a:prstGeom prst="roundRect">
              <a:avLst>
                <a:gd name="adj" fmla="val 4567"/>
              </a:avLst>
            </a:prstGeom>
            <a:solidFill>
              <a:srgbClr val="FFFFFF"/>
            </a:solidFill>
            <a:ln w="25400" cap="flat" cmpd="sng">
              <a:solidFill>
                <a:schemeClr val="accent3"/>
              </a:solidFill>
              <a:prstDash val="solid"/>
              <a:round/>
              <a:headEnd type="none" w="sm" len="sm"/>
              <a:tailEnd type="none" w="sm" len="sm"/>
            </a:ln>
          </p:spPr>
          <p:txBody>
            <a:bodyPr spcFirstLastPara="1" wrap="square" lIns="0" tIns="45675" rIns="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sz="1100" b="0" i="0" u="none" strike="noStrike" kern="1200" cap="none" spc="0" normalizeH="0" baseline="0" noProof="0">
                <a:ln>
                  <a:noFill/>
                </a:ln>
                <a:solidFill>
                  <a:srgbClr val="FFFFFF"/>
                </a:solidFill>
                <a:effectLst/>
                <a:uLnTx/>
                <a:uFillTx/>
                <a:latin typeface="Arial" panose="020B0604020202020204"/>
                <a:ea typeface="Roboto"/>
                <a:cs typeface="Roboto"/>
                <a:sym typeface="Roboto"/>
              </a:endParaRPr>
            </a:p>
          </p:txBody>
        </p:sp>
        <p:sp>
          <p:nvSpPr>
            <p:cNvPr id="36" name="Google Shape;978;p55">
              <a:extLst>
                <a:ext uri="{FF2B5EF4-FFF2-40B4-BE49-F238E27FC236}">
                  <a16:creationId xmlns:a16="http://schemas.microsoft.com/office/drawing/2014/main" id="{4737FD9E-911E-B8C4-F658-5E725BA4D7D9}"/>
                </a:ext>
              </a:extLst>
            </p:cNvPr>
            <p:cNvSpPr/>
            <p:nvPr/>
          </p:nvSpPr>
          <p:spPr>
            <a:xfrm>
              <a:off x="6969668" y="1710586"/>
              <a:ext cx="938446" cy="216000"/>
            </a:xfrm>
            <a:prstGeom prst="roundRect">
              <a:avLst>
                <a:gd name="adj" fmla="val 50000"/>
              </a:avLst>
            </a:prstGeom>
            <a:solidFill>
              <a:srgbClr val="00000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a:ea typeface="Roboto"/>
                  <a:cs typeface="Roboto"/>
                  <a:sym typeface="Roboto"/>
                </a:rPr>
                <a:t>DC1</a:t>
              </a:r>
            </a:p>
          </p:txBody>
        </p:sp>
      </p:grpSp>
      <p:grpSp>
        <p:nvGrpSpPr>
          <p:cNvPr id="174" name="Group 173">
            <a:extLst>
              <a:ext uri="{FF2B5EF4-FFF2-40B4-BE49-F238E27FC236}">
                <a16:creationId xmlns:a16="http://schemas.microsoft.com/office/drawing/2014/main" id="{6F7396D5-001E-89EE-52CC-5B2938E52409}"/>
              </a:ext>
            </a:extLst>
          </p:cNvPr>
          <p:cNvGrpSpPr/>
          <p:nvPr/>
        </p:nvGrpSpPr>
        <p:grpSpPr>
          <a:xfrm>
            <a:off x="8992367" y="1710586"/>
            <a:ext cx="1779145" cy="1250348"/>
            <a:chOff x="8992367" y="1710586"/>
            <a:chExt cx="1779145" cy="1250348"/>
          </a:xfrm>
        </p:grpSpPr>
        <p:sp>
          <p:nvSpPr>
            <p:cNvPr id="37" name="Google Shape;963;p55">
              <a:extLst>
                <a:ext uri="{FF2B5EF4-FFF2-40B4-BE49-F238E27FC236}">
                  <a16:creationId xmlns:a16="http://schemas.microsoft.com/office/drawing/2014/main" id="{DC40C7C5-20EE-0204-96B4-FD783484323B}"/>
                </a:ext>
              </a:extLst>
            </p:cNvPr>
            <p:cNvSpPr/>
            <p:nvPr/>
          </p:nvSpPr>
          <p:spPr>
            <a:xfrm>
              <a:off x="8992367" y="1814112"/>
              <a:ext cx="1779145" cy="1146822"/>
            </a:xfrm>
            <a:prstGeom prst="roundRect">
              <a:avLst>
                <a:gd name="adj" fmla="val 4567"/>
              </a:avLst>
            </a:prstGeom>
            <a:solidFill>
              <a:srgbClr val="FFFFFF"/>
            </a:solidFill>
            <a:ln w="25400" cap="flat" cmpd="sng">
              <a:solidFill>
                <a:schemeClr val="accent3"/>
              </a:solidFill>
              <a:prstDash val="solid"/>
              <a:round/>
              <a:headEnd type="none" w="sm" len="sm"/>
              <a:tailEnd type="none" w="sm" len="sm"/>
            </a:ln>
          </p:spPr>
          <p:txBody>
            <a:bodyPr spcFirstLastPara="1" wrap="square" lIns="0" tIns="45675" rIns="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sz="1100" b="0" i="0" u="none" strike="noStrike" kern="1200" cap="none" spc="0" normalizeH="0" baseline="0" noProof="0">
                <a:ln>
                  <a:noFill/>
                </a:ln>
                <a:solidFill>
                  <a:srgbClr val="FFFFFF"/>
                </a:solidFill>
                <a:effectLst/>
                <a:uLnTx/>
                <a:uFillTx/>
                <a:latin typeface="Arial" panose="020B0604020202020204"/>
                <a:ea typeface="Roboto"/>
                <a:cs typeface="Roboto"/>
                <a:sym typeface="Roboto"/>
              </a:endParaRPr>
            </a:p>
          </p:txBody>
        </p:sp>
        <p:sp>
          <p:nvSpPr>
            <p:cNvPr id="38" name="Google Shape;978;p55">
              <a:extLst>
                <a:ext uri="{FF2B5EF4-FFF2-40B4-BE49-F238E27FC236}">
                  <a16:creationId xmlns:a16="http://schemas.microsoft.com/office/drawing/2014/main" id="{A0E4ACE7-98E1-CE82-A69A-B20DD0DEA55C}"/>
                </a:ext>
              </a:extLst>
            </p:cNvPr>
            <p:cNvSpPr/>
            <p:nvPr/>
          </p:nvSpPr>
          <p:spPr>
            <a:xfrm>
              <a:off x="9412716" y="1710586"/>
              <a:ext cx="938446" cy="216000"/>
            </a:xfrm>
            <a:prstGeom prst="roundRect">
              <a:avLst>
                <a:gd name="adj" fmla="val 50000"/>
              </a:avLst>
            </a:prstGeom>
            <a:solidFill>
              <a:srgbClr val="00000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r>
                <a:rPr kumimoji="0" lang="en-US" sz="1050" b="0" i="0" u="none" strike="noStrike" kern="1200" cap="none" spc="0" normalizeH="0" baseline="0" noProof="0">
                  <a:ln>
                    <a:noFill/>
                  </a:ln>
                  <a:solidFill>
                    <a:srgbClr val="FFFFFF"/>
                  </a:solidFill>
                  <a:effectLst/>
                  <a:uLnTx/>
                  <a:uFillTx/>
                  <a:latin typeface="Arial" panose="020B0604020202020204"/>
                  <a:ea typeface="Roboto"/>
                  <a:cs typeface="Roboto"/>
                  <a:sym typeface="Roboto"/>
                </a:rPr>
                <a:t>DC2</a:t>
              </a:r>
            </a:p>
          </p:txBody>
        </p:sp>
      </p:grpSp>
      <p:cxnSp>
        <p:nvCxnSpPr>
          <p:cNvPr id="64" name="Straight Connector 63">
            <a:extLst>
              <a:ext uri="{FF2B5EF4-FFF2-40B4-BE49-F238E27FC236}">
                <a16:creationId xmlns:a16="http://schemas.microsoft.com/office/drawing/2014/main" id="{26E631E1-DFDA-19C7-85F0-4B4F5D52D165}"/>
              </a:ext>
            </a:extLst>
          </p:cNvPr>
          <p:cNvCxnSpPr>
            <a:cxnSpLocks/>
          </p:cNvCxnSpPr>
          <p:nvPr/>
        </p:nvCxnSpPr>
        <p:spPr bwMode="gray">
          <a:xfrm>
            <a:off x="6993030" y="2807370"/>
            <a:ext cx="930183" cy="0"/>
          </a:xfrm>
          <a:prstGeom prst="line">
            <a:avLst/>
          </a:prstGeom>
          <a:solidFill>
            <a:srgbClr val="FFFFFF"/>
          </a:solidFill>
          <a:ln w="25400" cap="flat" cmpd="sng">
            <a:solidFill>
              <a:schemeClr val="accent3"/>
            </a:solidFill>
            <a:prstDash val="solid"/>
            <a:round/>
            <a:headEnd type="none" w="sm" len="sm"/>
            <a:tailEnd type="none" w="sm" len="sm"/>
          </a:ln>
        </p:spPr>
      </p:cxnSp>
      <p:grpSp>
        <p:nvGrpSpPr>
          <p:cNvPr id="68" name="Group 67">
            <a:extLst>
              <a:ext uri="{FF2B5EF4-FFF2-40B4-BE49-F238E27FC236}">
                <a16:creationId xmlns:a16="http://schemas.microsoft.com/office/drawing/2014/main" id="{455ED06F-7129-7F46-B8B2-56BA2C45F4EF}"/>
              </a:ext>
            </a:extLst>
          </p:cNvPr>
          <p:cNvGrpSpPr/>
          <p:nvPr/>
        </p:nvGrpSpPr>
        <p:grpSpPr>
          <a:xfrm>
            <a:off x="6810935" y="2087315"/>
            <a:ext cx="530226" cy="720055"/>
            <a:chOff x="7173777" y="2087315"/>
            <a:chExt cx="530226" cy="720055"/>
          </a:xfrm>
        </p:grpSpPr>
        <p:grpSp>
          <p:nvGrpSpPr>
            <p:cNvPr id="63" name="Group 62">
              <a:extLst>
                <a:ext uri="{FF2B5EF4-FFF2-40B4-BE49-F238E27FC236}">
                  <a16:creationId xmlns:a16="http://schemas.microsoft.com/office/drawing/2014/main" id="{C493078C-6247-5426-EF46-2E497BA6FB1B}"/>
                </a:ext>
              </a:extLst>
            </p:cNvPr>
            <p:cNvGrpSpPr/>
            <p:nvPr/>
          </p:nvGrpSpPr>
          <p:grpSpPr>
            <a:xfrm>
              <a:off x="7173777" y="2087315"/>
              <a:ext cx="530226" cy="530226"/>
              <a:chOff x="2008163" y="2122216"/>
              <a:chExt cx="530226" cy="530226"/>
            </a:xfrm>
          </p:grpSpPr>
          <p:sp>
            <p:nvSpPr>
              <p:cNvPr id="66" name="Google Shape;1802;p69">
                <a:extLst>
                  <a:ext uri="{FF2B5EF4-FFF2-40B4-BE49-F238E27FC236}">
                    <a16:creationId xmlns:a16="http://schemas.microsoft.com/office/drawing/2014/main" id="{8DF62701-935F-9CA5-5995-DEDE8B333F5C}"/>
                  </a:ext>
                </a:extLst>
              </p:cNvPr>
              <p:cNvSpPr/>
              <p:nvPr/>
            </p:nvSpPr>
            <p:spPr>
              <a:xfrm>
                <a:off x="2008163" y="2122216"/>
                <a:ext cx="530226" cy="530226"/>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67" name="Google Shape;1803;p69">
                <a:extLst>
                  <a:ext uri="{FF2B5EF4-FFF2-40B4-BE49-F238E27FC236}">
                    <a16:creationId xmlns:a16="http://schemas.microsoft.com/office/drawing/2014/main" id="{BA786C13-51FD-F042-89FC-18ACBEF4D277}"/>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cxnSp>
          <p:nvCxnSpPr>
            <p:cNvPr id="65" name="Straight Connector 64">
              <a:extLst>
                <a:ext uri="{FF2B5EF4-FFF2-40B4-BE49-F238E27FC236}">
                  <a16:creationId xmlns:a16="http://schemas.microsoft.com/office/drawing/2014/main" id="{F4120EE8-4560-A572-2D75-BA7071F8CBAC}"/>
                </a:ext>
              </a:extLst>
            </p:cNvPr>
            <p:cNvCxnSpPr>
              <a:cxnSpLocks/>
            </p:cNvCxnSpPr>
            <p:nvPr/>
          </p:nvCxnSpPr>
          <p:spPr bwMode="gray">
            <a:xfrm>
              <a:off x="7438890" y="2617541"/>
              <a:ext cx="0" cy="189829"/>
            </a:xfrm>
            <a:prstGeom prst="line">
              <a:avLst/>
            </a:prstGeom>
            <a:solidFill>
              <a:srgbClr val="FFFFFF"/>
            </a:solidFill>
            <a:ln w="25400" cap="flat" cmpd="sng">
              <a:solidFill>
                <a:schemeClr val="accent3"/>
              </a:solidFill>
              <a:prstDash val="solid"/>
              <a:round/>
              <a:headEnd type="none" w="sm" len="sm"/>
              <a:tailEnd type="none" w="sm" len="sm"/>
            </a:ln>
          </p:spPr>
        </p:cxnSp>
      </p:grpSp>
      <p:grpSp>
        <p:nvGrpSpPr>
          <p:cNvPr id="69" name="Group 68">
            <a:extLst>
              <a:ext uri="{FF2B5EF4-FFF2-40B4-BE49-F238E27FC236}">
                <a16:creationId xmlns:a16="http://schemas.microsoft.com/office/drawing/2014/main" id="{94D9EA20-EFCF-9086-CC77-052F4F54A1BF}"/>
              </a:ext>
            </a:extLst>
          </p:cNvPr>
          <p:cNvGrpSpPr/>
          <p:nvPr/>
        </p:nvGrpSpPr>
        <p:grpSpPr>
          <a:xfrm>
            <a:off x="7536621" y="2087315"/>
            <a:ext cx="530226" cy="720055"/>
            <a:chOff x="7173777" y="2087315"/>
            <a:chExt cx="530226" cy="720055"/>
          </a:xfrm>
        </p:grpSpPr>
        <p:grpSp>
          <p:nvGrpSpPr>
            <p:cNvPr id="70" name="Group 69">
              <a:extLst>
                <a:ext uri="{FF2B5EF4-FFF2-40B4-BE49-F238E27FC236}">
                  <a16:creationId xmlns:a16="http://schemas.microsoft.com/office/drawing/2014/main" id="{5D142035-BC5B-B808-F6EB-A36F782B0AEF}"/>
                </a:ext>
              </a:extLst>
            </p:cNvPr>
            <p:cNvGrpSpPr/>
            <p:nvPr/>
          </p:nvGrpSpPr>
          <p:grpSpPr>
            <a:xfrm>
              <a:off x="7173777" y="2087315"/>
              <a:ext cx="530226" cy="530226"/>
              <a:chOff x="2008163" y="2122216"/>
              <a:chExt cx="530226" cy="530226"/>
            </a:xfrm>
          </p:grpSpPr>
          <p:sp>
            <p:nvSpPr>
              <p:cNvPr id="72" name="Google Shape;1802;p69">
                <a:extLst>
                  <a:ext uri="{FF2B5EF4-FFF2-40B4-BE49-F238E27FC236}">
                    <a16:creationId xmlns:a16="http://schemas.microsoft.com/office/drawing/2014/main" id="{E4939CD9-E426-4A61-0357-CDC3495373DD}"/>
                  </a:ext>
                </a:extLst>
              </p:cNvPr>
              <p:cNvSpPr/>
              <p:nvPr/>
            </p:nvSpPr>
            <p:spPr>
              <a:xfrm>
                <a:off x="2008163" y="2122216"/>
                <a:ext cx="530226" cy="530226"/>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73" name="Google Shape;1803;p69">
                <a:extLst>
                  <a:ext uri="{FF2B5EF4-FFF2-40B4-BE49-F238E27FC236}">
                    <a16:creationId xmlns:a16="http://schemas.microsoft.com/office/drawing/2014/main" id="{5667B05B-767E-A5AC-DCE4-72F836800552}"/>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cxnSp>
          <p:nvCxnSpPr>
            <p:cNvPr id="71" name="Straight Connector 70">
              <a:extLst>
                <a:ext uri="{FF2B5EF4-FFF2-40B4-BE49-F238E27FC236}">
                  <a16:creationId xmlns:a16="http://schemas.microsoft.com/office/drawing/2014/main" id="{806EDBE6-1099-4000-0AA7-23C05D1A2EA3}"/>
                </a:ext>
              </a:extLst>
            </p:cNvPr>
            <p:cNvCxnSpPr>
              <a:cxnSpLocks/>
            </p:cNvCxnSpPr>
            <p:nvPr/>
          </p:nvCxnSpPr>
          <p:spPr bwMode="gray">
            <a:xfrm>
              <a:off x="7438890" y="2617541"/>
              <a:ext cx="0" cy="189829"/>
            </a:xfrm>
            <a:prstGeom prst="line">
              <a:avLst/>
            </a:prstGeom>
            <a:solidFill>
              <a:srgbClr val="FFFFFF"/>
            </a:solidFill>
            <a:ln w="25400" cap="flat" cmpd="sng">
              <a:solidFill>
                <a:schemeClr val="accent3"/>
              </a:solidFill>
              <a:prstDash val="solid"/>
              <a:round/>
              <a:headEnd type="none" w="sm" len="sm"/>
              <a:tailEnd type="none" w="sm" len="sm"/>
            </a:ln>
          </p:spPr>
        </p:cxnSp>
      </p:grpSp>
      <p:grpSp>
        <p:nvGrpSpPr>
          <p:cNvPr id="104" name="Group 103">
            <a:extLst>
              <a:ext uri="{FF2B5EF4-FFF2-40B4-BE49-F238E27FC236}">
                <a16:creationId xmlns:a16="http://schemas.microsoft.com/office/drawing/2014/main" id="{465E5C27-6F47-3F0A-FACB-565C108D084B}"/>
              </a:ext>
            </a:extLst>
          </p:cNvPr>
          <p:cNvGrpSpPr/>
          <p:nvPr/>
        </p:nvGrpSpPr>
        <p:grpSpPr>
          <a:xfrm>
            <a:off x="6549319" y="4006340"/>
            <a:ext cx="4222193" cy="1250348"/>
            <a:chOff x="6549319" y="4006340"/>
            <a:chExt cx="4222193" cy="1250348"/>
          </a:xfrm>
        </p:grpSpPr>
        <p:sp>
          <p:nvSpPr>
            <p:cNvPr id="40" name="Google Shape;963;p55">
              <a:extLst>
                <a:ext uri="{FF2B5EF4-FFF2-40B4-BE49-F238E27FC236}">
                  <a16:creationId xmlns:a16="http://schemas.microsoft.com/office/drawing/2014/main" id="{47FB59EB-A817-C6DD-5BFD-B2E962FF5C19}"/>
                </a:ext>
              </a:extLst>
            </p:cNvPr>
            <p:cNvSpPr/>
            <p:nvPr/>
          </p:nvSpPr>
          <p:spPr>
            <a:xfrm>
              <a:off x="6549319" y="4109866"/>
              <a:ext cx="1779145" cy="1146822"/>
            </a:xfrm>
            <a:prstGeom prst="roundRect">
              <a:avLst>
                <a:gd name="adj" fmla="val 4567"/>
              </a:avLst>
            </a:prstGeom>
            <a:solidFill>
              <a:srgbClr val="FFFFFF"/>
            </a:solidFill>
            <a:ln w="25400" cap="flat" cmpd="sng">
              <a:solidFill>
                <a:srgbClr val="6C4B93"/>
              </a:solidFill>
              <a:prstDash val="solid"/>
              <a:round/>
              <a:headEnd type="none" w="sm" len="sm"/>
              <a:tailEnd type="none" w="sm" len="sm"/>
            </a:ln>
          </p:spPr>
          <p:txBody>
            <a:bodyPr spcFirstLastPara="1" wrap="square" lIns="0" tIns="45675" rIns="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sz="1100" b="0" i="0" u="none" strike="noStrike" kern="1200" cap="none" spc="0" normalizeH="0" baseline="0" noProof="0">
                <a:ln>
                  <a:noFill/>
                </a:ln>
                <a:solidFill>
                  <a:srgbClr val="FFFFFF"/>
                </a:solidFill>
                <a:effectLst/>
                <a:uLnTx/>
                <a:uFillTx/>
                <a:latin typeface="Arial" panose="020B0604020202020204"/>
                <a:ea typeface="Roboto"/>
                <a:cs typeface="Roboto"/>
                <a:sym typeface="Roboto"/>
              </a:endParaRPr>
            </a:p>
          </p:txBody>
        </p:sp>
        <p:sp>
          <p:nvSpPr>
            <p:cNvPr id="41" name="Google Shape;978;p55">
              <a:extLst>
                <a:ext uri="{FF2B5EF4-FFF2-40B4-BE49-F238E27FC236}">
                  <a16:creationId xmlns:a16="http://schemas.microsoft.com/office/drawing/2014/main" id="{5C521F2F-1AB2-6928-1DEB-AC3272DB4214}"/>
                </a:ext>
              </a:extLst>
            </p:cNvPr>
            <p:cNvSpPr/>
            <p:nvPr/>
          </p:nvSpPr>
          <p:spPr>
            <a:xfrm>
              <a:off x="6969668" y="4006340"/>
              <a:ext cx="938446" cy="216000"/>
            </a:xfrm>
            <a:prstGeom prst="roundRect">
              <a:avLst>
                <a:gd name="adj" fmla="val 50000"/>
              </a:avLst>
            </a:prstGeom>
            <a:solidFill>
              <a:srgbClr val="00000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r>
                <a:rPr kumimoji="0" lang="en-US" sz="1050" b="0" i="0" u="none" strike="noStrike" kern="1200" cap="none" spc="0" normalizeH="0" baseline="0" noProof="0">
                  <a:ln>
                    <a:noFill/>
                  </a:ln>
                  <a:solidFill>
                    <a:srgbClr val="FFFFFF"/>
                  </a:solidFill>
                  <a:effectLst/>
                  <a:uLnTx/>
                  <a:uFillTx/>
                  <a:latin typeface="Arial" panose="020B0604020202020204"/>
                  <a:ea typeface="Roboto"/>
                  <a:cs typeface="Roboto"/>
                  <a:sym typeface="Roboto"/>
                </a:rPr>
                <a:t>London</a:t>
              </a:r>
            </a:p>
          </p:txBody>
        </p:sp>
        <p:sp>
          <p:nvSpPr>
            <p:cNvPr id="42" name="Google Shape;963;p55">
              <a:extLst>
                <a:ext uri="{FF2B5EF4-FFF2-40B4-BE49-F238E27FC236}">
                  <a16:creationId xmlns:a16="http://schemas.microsoft.com/office/drawing/2014/main" id="{18214E12-4325-B36A-4B84-828B8ACBB5A8}"/>
                </a:ext>
              </a:extLst>
            </p:cNvPr>
            <p:cNvSpPr/>
            <p:nvPr/>
          </p:nvSpPr>
          <p:spPr>
            <a:xfrm>
              <a:off x="8992367" y="4109866"/>
              <a:ext cx="1779145" cy="1146822"/>
            </a:xfrm>
            <a:prstGeom prst="roundRect">
              <a:avLst>
                <a:gd name="adj" fmla="val 4567"/>
              </a:avLst>
            </a:prstGeom>
            <a:solidFill>
              <a:srgbClr val="FFFFFF"/>
            </a:solidFill>
            <a:ln w="25400" cap="flat" cmpd="sng">
              <a:solidFill>
                <a:srgbClr val="6C4B93"/>
              </a:solidFill>
              <a:prstDash val="solid"/>
              <a:round/>
              <a:headEnd type="none" w="sm" len="sm"/>
              <a:tailEnd type="none" w="sm" len="sm"/>
            </a:ln>
          </p:spPr>
          <p:txBody>
            <a:bodyPr spcFirstLastPara="1" wrap="square" lIns="0" tIns="45675" rIns="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sz="1100" b="0" i="0" u="none" strike="noStrike" kern="1200" cap="none" spc="0" normalizeH="0" baseline="0" noProof="0">
                <a:ln>
                  <a:noFill/>
                </a:ln>
                <a:solidFill>
                  <a:srgbClr val="FFFFFF"/>
                </a:solidFill>
                <a:effectLst/>
                <a:uLnTx/>
                <a:uFillTx/>
                <a:latin typeface="Arial" panose="020B0604020202020204"/>
                <a:ea typeface="Roboto"/>
                <a:cs typeface="Roboto"/>
                <a:sym typeface="Roboto"/>
              </a:endParaRPr>
            </a:p>
          </p:txBody>
        </p:sp>
        <p:sp>
          <p:nvSpPr>
            <p:cNvPr id="43" name="Google Shape;978;p55">
              <a:extLst>
                <a:ext uri="{FF2B5EF4-FFF2-40B4-BE49-F238E27FC236}">
                  <a16:creationId xmlns:a16="http://schemas.microsoft.com/office/drawing/2014/main" id="{BDF529ED-9AD7-F675-C2F3-015D1CC9D52E}"/>
                </a:ext>
              </a:extLst>
            </p:cNvPr>
            <p:cNvSpPr/>
            <p:nvPr/>
          </p:nvSpPr>
          <p:spPr>
            <a:xfrm>
              <a:off x="9412716" y="4006340"/>
              <a:ext cx="938446" cy="216000"/>
            </a:xfrm>
            <a:prstGeom prst="roundRect">
              <a:avLst>
                <a:gd name="adj" fmla="val 50000"/>
              </a:avLst>
            </a:prstGeom>
            <a:solidFill>
              <a:srgbClr val="00000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r>
                <a:rPr kumimoji="0" lang="en" sz="1050" b="0" i="0" u="none" strike="noStrike" kern="1200" cap="none" spc="0" normalizeH="0" baseline="0" noProof="0" dirty="0">
                  <a:ln>
                    <a:noFill/>
                  </a:ln>
                  <a:solidFill>
                    <a:srgbClr val="FFFFFF"/>
                  </a:solidFill>
                  <a:effectLst/>
                  <a:uLnTx/>
                  <a:uFillTx/>
                  <a:latin typeface="Arial" panose="020B0604020202020204"/>
                  <a:ea typeface="Roboto"/>
                  <a:cs typeface="Roboto"/>
                  <a:sym typeface="Roboto"/>
                </a:rPr>
                <a:t>Paris</a:t>
              </a:r>
              <a:endParaRPr kumimoji="0"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82" name="Straight Connector 81">
              <a:extLst>
                <a:ext uri="{FF2B5EF4-FFF2-40B4-BE49-F238E27FC236}">
                  <a16:creationId xmlns:a16="http://schemas.microsoft.com/office/drawing/2014/main" id="{7A0C4632-16AA-7034-72F2-B2380FF532CC}"/>
                </a:ext>
              </a:extLst>
            </p:cNvPr>
            <p:cNvCxnSpPr>
              <a:cxnSpLocks/>
            </p:cNvCxnSpPr>
            <p:nvPr/>
          </p:nvCxnSpPr>
          <p:spPr bwMode="gray">
            <a:xfrm>
              <a:off x="6993030" y="5103124"/>
              <a:ext cx="3334771" cy="0"/>
            </a:xfrm>
            <a:prstGeom prst="line">
              <a:avLst/>
            </a:prstGeom>
            <a:solidFill>
              <a:srgbClr val="FFFFFF"/>
            </a:solidFill>
            <a:ln w="25400" cap="flat" cmpd="sng">
              <a:solidFill>
                <a:schemeClr val="accent5"/>
              </a:solidFill>
              <a:prstDash val="solid"/>
              <a:round/>
              <a:headEnd type="none" w="sm" len="sm"/>
              <a:tailEnd type="none" w="sm" len="sm"/>
            </a:ln>
          </p:spPr>
        </p:cxnSp>
        <p:grpSp>
          <p:nvGrpSpPr>
            <p:cNvPr id="94" name="Group 93">
              <a:extLst>
                <a:ext uri="{FF2B5EF4-FFF2-40B4-BE49-F238E27FC236}">
                  <a16:creationId xmlns:a16="http://schemas.microsoft.com/office/drawing/2014/main" id="{537F37ED-C7DC-8E80-B5FF-356B7B5B1F83}"/>
                </a:ext>
              </a:extLst>
            </p:cNvPr>
            <p:cNvGrpSpPr/>
            <p:nvPr/>
          </p:nvGrpSpPr>
          <p:grpSpPr>
            <a:xfrm>
              <a:off x="6810935" y="4383069"/>
              <a:ext cx="1255912" cy="720055"/>
              <a:chOff x="6810935" y="4383069"/>
              <a:chExt cx="1255912" cy="720055"/>
            </a:xfrm>
          </p:grpSpPr>
          <p:grpSp>
            <p:nvGrpSpPr>
              <p:cNvPr id="90" name="Group 89">
                <a:extLst>
                  <a:ext uri="{FF2B5EF4-FFF2-40B4-BE49-F238E27FC236}">
                    <a16:creationId xmlns:a16="http://schemas.microsoft.com/office/drawing/2014/main" id="{4ACDE9D1-7D6F-F4D5-148E-D14A73D9BC80}"/>
                  </a:ext>
                </a:extLst>
              </p:cNvPr>
              <p:cNvGrpSpPr/>
              <p:nvPr/>
            </p:nvGrpSpPr>
            <p:grpSpPr>
              <a:xfrm>
                <a:off x="6810935" y="4383069"/>
                <a:ext cx="530226" cy="530226"/>
                <a:chOff x="2008163" y="2122216"/>
                <a:chExt cx="530226" cy="530226"/>
              </a:xfrm>
            </p:grpSpPr>
            <p:sp>
              <p:nvSpPr>
                <p:cNvPr id="92" name="Google Shape;1802;p69">
                  <a:extLst>
                    <a:ext uri="{FF2B5EF4-FFF2-40B4-BE49-F238E27FC236}">
                      <a16:creationId xmlns:a16="http://schemas.microsoft.com/office/drawing/2014/main" id="{52AC1DF0-BCBA-A1A9-B064-C7053873CE96}"/>
                    </a:ext>
                  </a:extLst>
                </p:cNvPr>
                <p:cNvSpPr/>
                <p:nvPr/>
              </p:nvSpPr>
              <p:spPr>
                <a:xfrm>
                  <a:off x="2008163" y="2122216"/>
                  <a:ext cx="530226" cy="53022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93" name="Google Shape;1803;p69">
                  <a:extLst>
                    <a:ext uri="{FF2B5EF4-FFF2-40B4-BE49-F238E27FC236}">
                      <a16:creationId xmlns:a16="http://schemas.microsoft.com/office/drawing/2014/main" id="{60D545CB-B76E-87C9-EF6C-D54B89D91824}"/>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cxnSp>
            <p:nvCxnSpPr>
              <p:cNvPr id="91" name="Straight Connector 90">
                <a:extLst>
                  <a:ext uri="{FF2B5EF4-FFF2-40B4-BE49-F238E27FC236}">
                    <a16:creationId xmlns:a16="http://schemas.microsoft.com/office/drawing/2014/main" id="{3DE2DE3A-A5F1-B5FE-1815-37144833FA80}"/>
                  </a:ext>
                </a:extLst>
              </p:cNvPr>
              <p:cNvCxnSpPr>
                <a:cxnSpLocks/>
              </p:cNvCxnSpPr>
              <p:nvPr/>
            </p:nvCxnSpPr>
            <p:spPr bwMode="gray">
              <a:xfrm>
                <a:off x="7076048" y="4913295"/>
                <a:ext cx="0" cy="189829"/>
              </a:xfrm>
              <a:prstGeom prst="line">
                <a:avLst/>
              </a:prstGeom>
              <a:solidFill>
                <a:srgbClr val="FFFFFF"/>
              </a:solidFill>
              <a:ln w="25400" cap="flat" cmpd="sng">
                <a:solidFill>
                  <a:schemeClr val="accent5"/>
                </a:solidFill>
                <a:prstDash val="solid"/>
                <a:round/>
                <a:headEnd type="none" w="sm" len="sm"/>
                <a:tailEnd type="none" w="sm" len="sm"/>
              </a:ln>
            </p:spPr>
          </p:cxnSp>
          <p:grpSp>
            <p:nvGrpSpPr>
              <p:cNvPr id="86" name="Group 85">
                <a:extLst>
                  <a:ext uri="{FF2B5EF4-FFF2-40B4-BE49-F238E27FC236}">
                    <a16:creationId xmlns:a16="http://schemas.microsoft.com/office/drawing/2014/main" id="{A1B3C6D4-FA9B-35CF-79EE-DA3DAEF286BD}"/>
                  </a:ext>
                </a:extLst>
              </p:cNvPr>
              <p:cNvGrpSpPr/>
              <p:nvPr/>
            </p:nvGrpSpPr>
            <p:grpSpPr>
              <a:xfrm>
                <a:off x="7536621" y="4383069"/>
                <a:ext cx="530226" cy="530226"/>
                <a:chOff x="2008163" y="2122216"/>
                <a:chExt cx="530226" cy="530226"/>
              </a:xfrm>
            </p:grpSpPr>
            <p:sp>
              <p:nvSpPr>
                <p:cNvPr id="88" name="Google Shape;1802;p69">
                  <a:extLst>
                    <a:ext uri="{FF2B5EF4-FFF2-40B4-BE49-F238E27FC236}">
                      <a16:creationId xmlns:a16="http://schemas.microsoft.com/office/drawing/2014/main" id="{74875938-8424-EC6D-CA30-136D8F54DFDD}"/>
                    </a:ext>
                  </a:extLst>
                </p:cNvPr>
                <p:cNvSpPr/>
                <p:nvPr/>
              </p:nvSpPr>
              <p:spPr>
                <a:xfrm>
                  <a:off x="2008163" y="2122216"/>
                  <a:ext cx="530226" cy="53022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89" name="Google Shape;1803;p69">
                  <a:extLst>
                    <a:ext uri="{FF2B5EF4-FFF2-40B4-BE49-F238E27FC236}">
                      <a16:creationId xmlns:a16="http://schemas.microsoft.com/office/drawing/2014/main" id="{C72D2A5F-6FAE-EEE0-1865-1D7D46493950}"/>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cxnSp>
            <p:nvCxnSpPr>
              <p:cNvPr id="87" name="Straight Connector 86">
                <a:extLst>
                  <a:ext uri="{FF2B5EF4-FFF2-40B4-BE49-F238E27FC236}">
                    <a16:creationId xmlns:a16="http://schemas.microsoft.com/office/drawing/2014/main" id="{191D0D5C-7AD1-7E69-599E-5F639990758F}"/>
                  </a:ext>
                </a:extLst>
              </p:cNvPr>
              <p:cNvCxnSpPr>
                <a:cxnSpLocks/>
              </p:cNvCxnSpPr>
              <p:nvPr/>
            </p:nvCxnSpPr>
            <p:spPr bwMode="gray">
              <a:xfrm>
                <a:off x="7801734" y="4913295"/>
                <a:ext cx="0" cy="189829"/>
              </a:xfrm>
              <a:prstGeom prst="line">
                <a:avLst/>
              </a:prstGeom>
              <a:solidFill>
                <a:srgbClr val="FFFFFF"/>
              </a:solidFill>
              <a:ln w="25400" cap="flat" cmpd="sng">
                <a:solidFill>
                  <a:schemeClr val="accent5"/>
                </a:solidFill>
                <a:prstDash val="solid"/>
                <a:round/>
                <a:headEnd type="none" w="sm" len="sm"/>
                <a:tailEnd type="none" w="sm" len="sm"/>
              </a:ln>
            </p:spPr>
          </p:cxnSp>
        </p:grpSp>
        <p:grpSp>
          <p:nvGrpSpPr>
            <p:cNvPr id="95" name="Group 94">
              <a:extLst>
                <a:ext uri="{FF2B5EF4-FFF2-40B4-BE49-F238E27FC236}">
                  <a16:creationId xmlns:a16="http://schemas.microsoft.com/office/drawing/2014/main" id="{0F665B45-3234-A945-0181-70A03820072C}"/>
                </a:ext>
              </a:extLst>
            </p:cNvPr>
            <p:cNvGrpSpPr/>
            <p:nvPr/>
          </p:nvGrpSpPr>
          <p:grpSpPr>
            <a:xfrm>
              <a:off x="9253983" y="4383069"/>
              <a:ext cx="1255912" cy="720055"/>
              <a:chOff x="6810935" y="4383069"/>
              <a:chExt cx="1255912" cy="720055"/>
            </a:xfrm>
          </p:grpSpPr>
          <p:grpSp>
            <p:nvGrpSpPr>
              <p:cNvPr id="96" name="Group 95">
                <a:extLst>
                  <a:ext uri="{FF2B5EF4-FFF2-40B4-BE49-F238E27FC236}">
                    <a16:creationId xmlns:a16="http://schemas.microsoft.com/office/drawing/2014/main" id="{44977457-FDFB-CDD8-27FF-D09FE2350505}"/>
                  </a:ext>
                </a:extLst>
              </p:cNvPr>
              <p:cNvGrpSpPr/>
              <p:nvPr/>
            </p:nvGrpSpPr>
            <p:grpSpPr>
              <a:xfrm>
                <a:off x="6810935" y="4383069"/>
                <a:ext cx="530226" cy="530226"/>
                <a:chOff x="2008163" y="2122216"/>
                <a:chExt cx="530226" cy="530226"/>
              </a:xfrm>
            </p:grpSpPr>
            <p:sp>
              <p:nvSpPr>
                <p:cNvPr id="102" name="Google Shape;1802;p69">
                  <a:extLst>
                    <a:ext uri="{FF2B5EF4-FFF2-40B4-BE49-F238E27FC236}">
                      <a16:creationId xmlns:a16="http://schemas.microsoft.com/office/drawing/2014/main" id="{02CDFD45-573C-9D61-C21F-CBABA5A9CE5D}"/>
                    </a:ext>
                  </a:extLst>
                </p:cNvPr>
                <p:cNvSpPr/>
                <p:nvPr/>
              </p:nvSpPr>
              <p:spPr>
                <a:xfrm>
                  <a:off x="2008163" y="2122216"/>
                  <a:ext cx="530226" cy="53022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03" name="Google Shape;1803;p69">
                  <a:extLst>
                    <a:ext uri="{FF2B5EF4-FFF2-40B4-BE49-F238E27FC236}">
                      <a16:creationId xmlns:a16="http://schemas.microsoft.com/office/drawing/2014/main" id="{05E451FD-9C96-0DFC-5B5D-BF8BE7B4E790}"/>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cxnSp>
            <p:nvCxnSpPr>
              <p:cNvPr id="97" name="Straight Connector 96">
                <a:extLst>
                  <a:ext uri="{FF2B5EF4-FFF2-40B4-BE49-F238E27FC236}">
                    <a16:creationId xmlns:a16="http://schemas.microsoft.com/office/drawing/2014/main" id="{E4756E63-0D91-6581-8254-B563A43DB390}"/>
                  </a:ext>
                </a:extLst>
              </p:cNvPr>
              <p:cNvCxnSpPr>
                <a:cxnSpLocks/>
              </p:cNvCxnSpPr>
              <p:nvPr/>
            </p:nvCxnSpPr>
            <p:spPr bwMode="gray">
              <a:xfrm>
                <a:off x="7076048" y="4913295"/>
                <a:ext cx="0" cy="189829"/>
              </a:xfrm>
              <a:prstGeom prst="line">
                <a:avLst/>
              </a:prstGeom>
              <a:solidFill>
                <a:srgbClr val="FFFFFF"/>
              </a:solidFill>
              <a:ln w="25400" cap="flat" cmpd="sng">
                <a:solidFill>
                  <a:schemeClr val="accent5"/>
                </a:solidFill>
                <a:prstDash val="solid"/>
                <a:round/>
                <a:headEnd type="none" w="sm" len="sm"/>
                <a:tailEnd type="none" w="sm" len="sm"/>
              </a:ln>
            </p:spPr>
          </p:cxnSp>
          <p:grpSp>
            <p:nvGrpSpPr>
              <p:cNvPr id="98" name="Group 97">
                <a:extLst>
                  <a:ext uri="{FF2B5EF4-FFF2-40B4-BE49-F238E27FC236}">
                    <a16:creationId xmlns:a16="http://schemas.microsoft.com/office/drawing/2014/main" id="{C127A3C3-90B0-3F35-60DC-3CC384EC2723}"/>
                  </a:ext>
                </a:extLst>
              </p:cNvPr>
              <p:cNvGrpSpPr/>
              <p:nvPr/>
            </p:nvGrpSpPr>
            <p:grpSpPr>
              <a:xfrm>
                <a:off x="7536621" y="4383069"/>
                <a:ext cx="530226" cy="530226"/>
                <a:chOff x="2008163" y="2122216"/>
                <a:chExt cx="530226" cy="530226"/>
              </a:xfrm>
            </p:grpSpPr>
            <p:sp>
              <p:nvSpPr>
                <p:cNvPr id="100" name="Google Shape;1802;p69">
                  <a:extLst>
                    <a:ext uri="{FF2B5EF4-FFF2-40B4-BE49-F238E27FC236}">
                      <a16:creationId xmlns:a16="http://schemas.microsoft.com/office/drawing/2014/main" id="{97030D2E-03A7-4093-3CE4-A27AD120F000}"/>
                    </a:ext>
                  </a:extLst>
                </p:cNvPr>
                <p:cNvSpPr/>
                <p:nvPr/>
              </p:nvSpPr>
              <p:spPr>
                <a:xfrm>
                  <a:off x="2008163" y="2122216"/>
                  <a:ext cx="530226" cy="53022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01" name="Google Shape;1803;p69">
                  <a:extLst>
                    <a:ext uri="{FF2B5EF4-FFF2-40B4-BE49-F238E27FC236}">
                      <a16:creationId xmlns:a16="http://schemas.microsoft.com/office/drawing/2014/main" id="{952E1CE5-D763-3006-3A88-2ECACEE01F28}"/>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cxnSp>
            <p:nvCxnSpPr>
              <p:cNvPr id="99" name="Straight Connector 98">
                <a:extLst>
                  <a:ext uri="{FF2B5EF4-FFF2-40B4-BE49-F238E27FC236}">
                    <a16:creationId xmlns:a16="http://schemas.microsoft.com/office/drawing/2014/main" id="{8F626AB2-EF00-D6DA-2B54-169B1D6A365A}"/>
                  </a:ext>
                </a:extLst>
              </p:cNvPr>
              <p:cNvCxnSpPr>
                <a:cxnSpLocks/>
              </p:cNvCxnSpPr>
              <p:nvPr/>
            </p:nvCxnSpPr>
            <p:spPr bwMode="gray">
              <a:xfrm>
                <a:off x="7801734" y="4913295"/>
                <a:ext cx="0" cy="189829"/>
              </a:xfrm>
              <a:prstGeom prst="line">
                <a:avLst/>
              </a:prstGeom>
              <a:solidFill>
                <a:srgbClr val="FFFFFF"/>
              </a:solidFill>
              <a:ln w="25400" cap="flat" cmpd="sng">
                <a:solidFill>
                  <a:schemeClr val="accent5"/>
                </a:solidFill>
                <a:prstDash val="solid"/>
                <a:round/>
                <a:headEnd type="none" w="sm" len="sm"/>
                <a:tailEnd type="none" w="sm" len="sm"/>
              </a:ln>
            </p:spPr>
          </p:cxnSp>
        </p:grpSp>
      </p:grpSp>
      <p:cxnSp>
        <p:nvCxnSpPr>
          <p:cNvPr id="110" name="Straight Connector 109">
            <a:extLst>
              <a:ext uri="{FF2B5EF4-FFF2-40B4-BE49-F238E27FC236}">
                <a16:creationId xmlns:a16="http://schemas.microsoft.com/office/drawing/2014/main" id="{053A5D20-0736-331C-0025-DC793B6D0035}"/>
              </a:ext>
            </a:extLst>
          </p:cNvPr>
          <p:cNvCxnSpPr>
            <a:cxnSpLocks/>
          </p:cNvCxnSpPr>
          <p:nvPr/>
        </p:nvCxnSpPr>
        <p:spPr bwMode="gray">
          <a:xfrm>
            <a:off x="1832818" y="5103124"/>
            <a:ext cx="3334771" cy="0"/>
          </a:xfrm>
          <a:prstGeom prst="line">
            <a:avLst/>
          </a:prstGeom>
          <a:solidFill>
            <a:srgbClr val="FFFFFF"/>
          </a:solidFill>
          <a:ln w="25400" cap="flat" cmpd="sng">
            <a:solidFill>
              <a:schemeClr val="accent4"/>
            </a:solidFill>
            <a:prstDash val="solid"/>
            <a:round/>
            <a:headEnd type="none" w="sm" len="sm"/>
            <a:tailEnd type="none" w="sm" len="sm"/>
          </a:ln>
        </p:spPr>
      </p:cxnSp>
      <p:grpSp>
        <p:nvGrpSpPr>
          <p:cNvPr id="111" name="Group 110">
            <a:extLst>
              <a:ext uri="{FF2B5EF4-FFF2-40B4-BE49-F238E27FC236}">
                <a16:creationId xmlns:a16="http://schemas.microsoft.com/office/drawing/2014/main" id="{531B3F75-68CB-36D8-D727-4E398736FCF3}"/>
              </a:ext>
            </a:extLst>
          </p:cNvPr>
          <p:cNvGrpSpPr/>
          <p:nvPr/>
        </p:nvGrpSpPr>
        <p:grpSpPr>
          <a:xfrm>
            <a:off x="1650723" y="4383069"/>
            <a:ext cx="1255912" cy="720055"/>
            <a:chOff x="6810935" y="4383069"/>
            <a:chExt cx="1255912" cy="720055"/>
          </a:xfrm>
        </p:grpSpPr>
        <p:grpSp>
          <p:nvGrpSpPr>
            <p:cNvPr id="121" name="Group 120">
              <a:extLst>
                <a:ext uri="{FF2B5EF4-FFF2-40B4-BE49-F238E27FC236}">
                  <a16:creationId xmlns:a16="http://schemas.microsoft.com/office/drawing/2014/main" id="{F250A936-8A3E-67EB-47AC-06283A2614DB}"/>
                </a:ext>
              </a:extLst>
            </p:cNvPr>
            <p:cNvGrpSpPr/>
            <p:nvPr/>
          </p:nvGrpSpPr>
          <p:grpSpPr>
            <a:xfrm>
              <a:off x="6810935" y="4383069"/>
              <a:ext cx="530226" cy="530226"/>
              <a:chOff x="2008163" y="2122216"/>
              <a:chExt cx="530226" cy="530226"/>
            </a:xfrm>
          </p:grpSpPr>
          <p:sp>
            <p:nvSpPr>
              <p:cNvPr id="127" name="Google Shape;1802;p69">
                <a:extLst>
                  <a:ext uri="{FF2B5EF4-FFF2-40B4-BE49-F238E27FC236}">
                    <a16:creationId xmlns:a16="http://schemas.microsoft.com/office/drawing/2014/main" id="{4ED969DA-6196-858E-BB36-DF0639F1DE71}"/>
                  </a:ext>
                </a:extLst>
              </p:cNvPr>
              <p:cNvSpPr/>
              <p:nvPr/>
            </p:nvSpPr>
            <p:spPr>
              <a:xfrm>
                <a:off x="2008163" y="2122216"/>
                <a:ext cx="530226" cy="5302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28" name="Google Shape;1803;p69">
                <a:extLst>
                  <a:ext uri="{FF2B5EF4-FFF2-40B4-BE49-F238E27FC236}">
                    <a16:creationId xmlns:a16="http://schemas.microsoft.com/office/drawing/2014/main" id="{84A7030C-1AC4-BF5A-0A2C-8D2A36B4649D}"/>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cxnSp>
          <p:nvCxnSpPr>
            <p:cNvPr id="122" name="Straight Connector 121">
              <a:extLst>
                <a:ext uri="{FF2B5EF4-FFF2-40B4-BE49-F238E27FC236}">
                  <a16:creationId xmlns:a16="http://schemas.microsoft.com/office/drawing/2014/main" id="{DE6C447B-3700-04A9-F3C9-B3DF2F2416FF}"/>
                </a:ext>
              </a:extLst>
            </p:cNvPr>
            <p:cNvCxnSpPr>
              <a:cxnSpLocks/>
            </p:cNvCxnSpPr>
            <p:nvPr/>
          </p:nvCxnSpPr>
          <p:spPr bwMode="gray">
            <a:xfrm>
              <a:off x="7076048" y="4913295"/>
              <a:ext cx="0" cy="189829"/>
            </a:xfrm>
            <a:prstGeom prst="line">
              <a:avLst/>
            </a:prstGeom>
            <a:solidFill>
              <a:srgbClr val="FFFFFF"/>
            </a:solidFill>
            <a:ln w="25400" cap="flat" cmpd="sng">
              <a:solidFill>
                <a:schemeClr val="accent4"/>
              </a:solidFill>
              <a:prstDash val="solid"/>
              <a:round/>
              <a:headEnd type="none" w="sm" len="sm"/>
              <a:tailEnd type="none" w="sm" len="sm"/>
            </a:ln>
          </p:spPr>
        </p:cxnSp>
        <p:grpSp>
          <p:nvGrpSpPr>
            <p:cNvPr id="123" name="Group 122">
              <a:extLst>
                <a:ext uri="{FF2B5EF4-FFF2-40B4-BE49-F238E27FC236}">
                  <a16:creationId xmlns:a16="http://schemas.microsoft.com/office/drawing/2014/main" id="{30FFFE5E-97CC-641B-EAF0-2A5E5F80EBDE}"/>
                </a:ext>
              </a:extLst>
            </p:cNvPr>
            <p:cNvGrpSpPr/>
            <p:nvPr/>
          </p:nvGrpSpPr>
          <p:grpSpPr>
            <a:xfrm>
              <a:off x="7536621" y="4383069"/>
              <a:ext cx="530226" cy="530226"/>
              <a:chOff x="2008163" y="2122216"/>
              <a:chExt cx="530226" cy="530226"/>
            </a:xfrm>
          </p:grpSpPr>
          <p:sp>
            <p:nvSpPr>
              <p:cNvPr id="125" name="Google Shape;1802;p69">
                <a:extLst>
                  <a:ext uri="{FF2B5EF4-FFF2-40B4-BE49-F238E27FC236}">
                    <a16:creationId xmlns:a16="http://schemas.microsoft.com/office/drawing/2014/main" id="{5849F967-3CF8-C18A-B460-C4E46918C785}"/>
                  </a:ext>
                </a:extLst>
              </p:cNvPr>
              <p:cNvSpPr/>
              <p:nvPr/>
            </p:nvSpPr>
            <p:spPr>
              <a:xfrm>
                <a:off x="2008163" y="2122216"/>
                <a:ext cx="530226" cy="5302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26" name="Google Shape;1803;p69">
                <a:extLst>
                  <a:ext uri="{FF2B5EF4-FFF2-40B4-BE49-F238E27FC236}">
                    <a16:creationId xmlns:a16="http://schemas.microsoft.com/office/drawing/2014/main" id="{2B490F35-8B9D-6250-ED26-A8AAEC890896}"/>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cxnSp>
          <p:nvCxnSpPr>
            <p:cNvPr id="124" name="Straight Connector 123">
              <a:extLst>
                <a:ext uri="{FF2B5EF4-FFF2-40B4-BE49-F238E27FC236}">
                  <a16:creationId xmlns:a16="http://schemas.microsoft.com/office/drawing/2014/main" id="{EF53A705-42AC-CFFB-6214-B271DBBA00F5}"/>
                </a:ext>
              </a:extLst>
            </p:cNvPr>
            <p:cNvCxnSpPr>
              <a:cxnSpLocks/>
            </p:cNvCxnSpPr>
            <p:nvPr/>
          </p:nvCxnSpPr>
          <p:spPr bwMode="gray">
            <a:xfrm>
              <a:off x="7801734" y="4913295"/>
              <a:ext cx="0" cy="189829"/>
            </a:xfrm>
            <a:prstGeom prst="line">
              <a:avLst/>
            </a:prstGeom>
            <a:solidFill>
              <a:srgbClr val="FFFFFF"/>
            </a:solidFill>
            <a:ln w="25400" cap="flat" cmpd="sng">
              <a:solidFill>
                <a:schemeClr val="accent4"/>
              </a:solidFill>
              <a:prstDash val="solid"/>
              <a:round/>
              <a:headEnd type="none" w="sm" len="sm"/>
              <a:tailEnd type="none" w="sm" len="sm"/>
            </a:ln>
          </p:spPr>
        </p:cxnSp>
      </p:grpSp>
      <p:grpSp>
        <p:nvGrpSpPr>
          <p:cNvPr id="112" name="Group 111">
            <a:extLst>
              <a:ext uri="{FF2B5EF4-FFF2-40B4-BE49-F238E27FC236}">
                <a16:creationId xmlns:a16="http://schemas.microsoft.com/office/drawing/2014/main" id="{CA04B400-4CFD-B2D5-72C4-D919E443D7DE}"/>
              </a:ext>
            </a:extLst>
          </p:cNvPr>
          <p:cNvGrpSpPr/>
          <p:nvPr/>
        </p:nvGrpSpPr>
        <p:grpSpPr>
          <a:xfrm>
            <a:off x="4093771" y="4383069"/>
            <a:ext cx="1255912" cy="720055"/>
            <a:chOff x="6810935" y="4383069"/>
            <a:chExt cx="1255912" cy="720055"/>
          </a:xfrm>
        </p:grpSpPr>
        <p:grpSp>
          <p:nvGrpSpPr>
            <p:cNvPr id="113" name="Group 112">
              <a:extLst>
                <a:ext uri="{FF2B5EF4-FFF2-40B4-BE49-F238E27FC236}">
                  <a16:creationId xmlns:a16="http://schemas.microsoft.com/office/drawing/2014/main" id="{86A2CE65-742F-0FA4-BDE4-BCD0305C255B}"/>
                </a:ext>
              </a:extLst>
            </p:cNvPr>
            <p:cNvGrpSpPr/>
            <p:nvPr/>
          </p:nvGrpSpPr>
          <p:grpSpPr>
            <a:xfrm>
              <a:off x="6810935" y="4383069"/>
              <a:ext cx="530226" cy="530226"/>
              <a:chOff x="2008163" y="2122216"/>
              <a:chExt cx="530226" cy="530226"/>
            </a:xfrm>
          </p:grpSpPr>
          <p:sp>
            <p:nvSpPr>
              <p:cNvPr id="119" name="Google Shape;1802;p69">
                <a:extLst>
                  <a:ext uri="{FF2B5EF4-FFF2-40B4-BE49-F238E27FC236}">
                    <a16:creationId xmlns:a16="http://schemas.microsoft.com/office/drawing/2014/main" id="{2E8BA83D-3893-D106-F509-3EF43B6AD4A5}"/>
                  </a:ext>
                </a:extLst>
              </p:cNvPr>
              <p:cNvSpPr/>
              <p:nvPr/>
            </p:nvSpPr>
            <p:spPr>
              <a:xfrm>
                <a:off x="2008163" y="2122216"/>
                <a:ext cx="530226" cy="5302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20" name="Google Shape;1803;p69">
                <a:extLst>
                  <a:ext uri="{FF2B5EF4-FFF2-40B4-BE49-F238E27FC236}">
                    <a16:creationId xmlns:a16="http://schemas.microsoft.com/office/drawing/2014/main" id="{DBE53A19-61AF-B81E-EFE4-CD17FCE952C3}"/>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cxnSp>
          <p:nvCxnSpPr>
            <p:cNvPr id="114" name="Straight Connector 113">
              <a:extLst>
                <a:ext uri="{FF2B5EF4-FFF2-40B4-BE49-F238E27FC236}">
                  <a16:creationId xmlns:a16="http://schemas.microsoft.com/office/drawing/2014/main" id="{6C7046EB-F1FB-C528-CA41-69E2EAFFD639}"/>
                </a:ext>
              </a:extLst>
            </p:cNvPr>
            <p:cNvCxnSpPr>
              <a:cxnSpLocks/>
            </p:cNvCxnSpPr>
            <p:nvPr/>
          </p:nvCxnSpPr>
          <p:spPr bwMode="gray">
            <a:xfrm>
              <a:off x="7076048" y="4913295"/>
              <a:ext cx="0" cy="189829"/>
            </a:xfrm>
            <a:prstGeom prst="line">
              <a:avLst/>
            </a:prstGeom>
            <a:solidFill>
              <a:srgbClr val="FFFFFF"/>
            </a:solidFill>
            <a:ln w="25400" cap="flat" cmpd="sng">
              <a:solidFill>
                <a:schemeClr val="accent4"/>
              </a:solidFill>
              <a:prstDash val="solid"/>
              <a:round/>
              <a:headEnd type="none" w="sm" len="sm"/>
              <a:tailEnd type="none" w="sm" len="sm"/>
            </a:ln>
          </p:spPr>
        </p:cxnSp>
        <p:grpSp>
          <p:nvGrpSpPr>
            <p:cNvPr id="115" name="Group 114">
              <a:extLst>
                <a:ext uri="{FF2B5EF4-FFF2-40B4-BE49-F238E27FC236}">
                  <a16:creationId xmlns:a16="http://schemas.microsoft.com/office/drawing/2014/main" id="{20F4E5C2-E97A-A4CA-469F-42D37CA65EE4}"/>
                </a:ext>
              </a:extLst>
            </p:cNvPr>
            <p:cNvGrpSpPr/>
            <p:nvPr/>
          </p:nvGrpSpPr>
          <p:grpSpPr>
            <a:xfrm>
              <a:off x="7536621" y="4383069"/>
              <a:ext cx="530226" cy="530226"/>
              <a:chOff x="2008163" y="2122216"/>
              <a:chExt cx="530226" cy="530226"/>
            </a:xfrm>
          </p:grpSpPr>
          <p:sp>
            <p:nvSpPr>
              <p:cNvPr id="117" name="Google Shape;1802;p69">
                <a:extLst>
                  <a:ext uri="{FF2B5EF4-FFF2-40B4-BE49-F238E27FC236}">
                    <a16:creationId xmlns:a16="http://schemas.microsoft.com/office/drawing/2014/main" id="{D48B7EDD-38D6-BC57-A9CC-76DD0F861A79}"/>
                  </a:ext>
                </a:extLst>
              </p:cNvPr>
              <p:cNvSpPr/>
              <p:nvPr/>
            </p:nvSpPr>
            <p:spPr>
              <a:xfrm>
                <a:off x="2008163" y="2122216"/>
                <a:ext cx="530226" cy="5302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18" name="Google Shape;1803;p69">
                <a:extLst>
                  <a:ext uri="{FF2B5EF4-FFF2-40B4-BE49-F238E27FC236}">
                    <a16:creationId xmlns:a16="http://schemas.microsoft.com/office/drawing/2014/main" id="{4FFD1B30-DF66-3109-E689-FDEF3D77D9C4}"/>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cxnSp>
          <p:nvCxnSpPr>
            <p:cNvPr id="116" name="Straight Connector 115">
              <a:extLst>
                <a:ext uri="{FF2B5EF4-FFF2-40B4-BE49-F238E27FC236}">
                  <a16:creationId xmlns:a16="http://schemas.microsoft.com/office/drawing/2014/main" id="{CC4B1DDE-74D9-E4E3-2C0A-E1BE72054D03}"/>
                </a:ext>
              </a:extLst>
            </p:cNvPr>
            <p:cNvCxnSpPr>
              <a:cxnSpLocks/>
            </p:cNvCxnSpPr>
            <p:nvPr/>
          </p:nvCxnSpPr>
          <p:spPr bwMode="gray">
            <a:xfrm>
              <a:off x="7801734" y="4913295"/>
              <a:ext cx="0" cy="189829"/>
            </a:xfrm>
            <a:prstGeom prst="line">
              <a:avLst/>
            </a:prstGeom>
            <a:solidFill>
              <a:srgbClr val="FFFFFF"/>
            </a:solidFill>
            <a:ln w="25400" cap="flat" cmpd="sng">
              <a:solidFill>
                <a:schemeClr val="accent4"/>
              </a:solidFill>
              <a:prstDash val="solid"/>
              <a:round/>
              <a:headEnd type="none" w="sm" len="sm"/>
              <a:tailEnd type="none" w="sm" len="sm"/>
            </a:ln>
          </p:spPr>
        </p:cxnSp>
      </p:grpSp>
      <p:grpSp>
        <p:nvGrpSpPr>
          <p:cNvPr id="175" name="Group 174">
            <a:extLst>
              <a:ext uri="{FF2B5EF4-FFF2-40B4-BE49-F238E27FC236}">
                <a16:creationId xmlns:a16="http://schemas.microsoft.com/office/drawing/2014/main" id="{8862E8B8-1AD0-C7A0-EDA3-FB1DB3D68F2E}"/>
              </a:ext>
            </a:extLst>
          </p:cNvPr>
          <p:cNvGrpSpPr/>
          <p:nvPr/>
        </p:nvGrpSpPr>
        <p:grpSpPr>
          <a:xfrm>
            <a:off x="9616826" y="2087315"/>
            <a:ext cx="530226" cy="720055"/>
            <a:chOff x="7173777" y="2087315"/>
            <a:chExt cx="530226" cy="720055"/>
          </a:xfrm>
        </p:grpSpPr>
        <p:grpSp>
          <p:nvGrpSpPr>
            <p:cNvPr id="176" name="Group 175">
              <a:extLst>
                <a:ext uri="{FF2B5EF4-FFF2-40B4-BE49-F238E27FC236}">
                  <a16:creationId xmlns:a16="http://schemas.microsoft.com/office/drawing/2014/main" id="{22107089-E93D-2DAB-FE48-6BE63F8C411E}"/>
                </a:ext>
              </a:extLst>
            </p:cNvPr>
            <p:cNvGrpSpPr/>
            <p:nvPr/>
          </p:nvGrpSpPr>
          <p:grpSpPr>
            <a:xfrm>
              <a:off x="7173777" y="2087315"/>
              <a:ext cx="530226" cy="530226"/>
              <a:chOff x="2008163" y="2122216"/>
              <a:chExt cx="530226" cy="530226"/>
            </a:xfrm>
          </p:grpSpPr>
          <p:sp>
            <p:nvSpPr>
              <p:cNvPr id="178" name="Google Shape;1802;p69">
                <a:extLst>
                  <a:ext uri="{FF2B5EF4-FFF2-40B4-BE49-F238E27FC236}">
                    <a16:creationId xmlns:a16="http://schemas.microsoft.com/office/drawing/2014/main" id="{3C8114BD-150D-939E-A08E-B0FD0AD27D44}"/>
                  </a:ext>
                </a:extLst>
              </p:cNvPr>
              <p:cNvSpPr/>
              <p:nvPr/>
            </p:nvSpPr>
            <p:spPr>
              <a:xfrm>
                <a:off x="2008163" y="2122216"/>
                <a:ext cx="530226" cy="530226"/>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79" name="Google Shape;1803;p69">
                <a:extLst>
                  <a:ext uri="{FF2B5EF4-FFF2-40B4-BE49-F238E27FC236}">
                    <a16:creationId xmlns:a16="http://schemas.microsoft.com/office/drawing/2014/main" id="{4B723A86-21A0-8865-4122-82551727DC46}"/>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cxnSp>
          <p:nvCxnSpPr>
            <p:cNvPr id="177" name="Straight Connector 176">
              <a:extLst>
                <a:ext uri="{FF2B5EF4-FFF2-40B4-BE49-F238E27FC236}">
                  <a16:creationId xmlns:a16="http://schemas.microsoft.com/office/drawing/2014/main" id="{E55179E8-79EE-501E-1864-506C14A24EC1}"/>
                </a:ext>
              </a:extLst>
            </p:cNvPr>
            <p:cNvCxnSpPr>
              <a:cxnSpLocks/>
            </p:cNvCxnSpPr>
            <p:nvPr/>
          </p:nvCxnSpPr>
          <p:spPr bwMode="gray">
            <a:xfrm>
              <a:off x="7438890" y="2617541"/>
              <a:ext cx="0" cy="189829"/>
            </a:xfrm>
            <a:prstGeom prst="line">
              <a:avLst/>
            </a:prstGeom>
            <a:solidFill>
              <a:srgbClr val="FFFFFF"/>
            </a:solidFill>
            <a:ln w="25400" cap="flat" cmpd="sng">
              <a:solidFill>
                <a:schemeClr val="accent3"/>
              </a:solidFill>
              <a:prstDash val="solid"/>
              <a:round/>
              <a:headEnd type="none" w="sm" len="sm"/>
              <a:tailEnd type="none" w="sm" len="sm"/>
            </a:ln>
          </p:spPr>
        </p:cxnSp>
      </p:grpSp>
      <p:sp>
        <p:nvSpPr>
          <p:cNvPr id="181" name="Google Shape;963;p55">
            <a:extLst>
              <a:ext uri="{FF2B5EF4-FFF2-40B4-BE49-F238E27FC236}">
                <a16:creationId xmlns:a16="http://schemas.microsoft.com/office/drawing/2014/main" id="{6AC39D59-A4E8-B8C3-17F7-D53804DBB1C7}"/>
              </a:ext>
            </a:extLst>
          </p:cNvPr>
          <p:cNvSpPr/>
          <p:nvPr/>
        </p:nvSpPr>
        <p:spPr>
          <a:xfrm>
            <a:off x="1383704" y="4110978"/>
            <a:ext cx="1779145" cy="1146822"/>
          </a:xfrm>
          <a:prstGeom prst="roundRect">
            <a:avLst>
              <a:gd name="adj" fmla="val 4567"/>
            </a:avLst>
          </a:prstGeom>
          <a:blipFill dpi="0" rotWithShape="0">
            <a:blip r:embed="rId3"/>
            <a:srcRect/>
            <a:stretch>
              <a:fillRect/>
            </a:stretch>
          </a:blipFill>
          <a:ln w="25400" cap="flat" cmpd="sng">
            <a:solidFill>
              <a:schemeClr val="tx1">
                <a:lumMod val="85000"/>
                <a:lumOff val="15000"/>
              </a:schemeClr>
            </a:solidFill>
            <a:prstDash val="solid"/>
            <a:round/>
            <a:headEnd type="none" w="sm" len="sm"/>
            <a:tailEnd type="none" w="sm" len="sm"/>
          </a:ln>
        </p:spPr>
        <p:txBody>
          <a:bodyPr spcFirstLastPara="1" wrap="square" lIns="0" tIns="45675" rIns="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sz="1100" b="0" i="0" u="none" strike="noStrike" kern="1200" cap="none" spc="0" normalizeH="0" baseline="0" noProof="0">
              <a:ln>
                <a:noFill/>
              </a:ln>
              <a:solidFill>
                <a:srgbClr val="FFFFFF"/>
              </a:solidFill>
              <a:effectLst/>
              <a:uLnTx/>
              <a:uFillTx/>
              <a:latin typeface="Arial" panose="020B0604020202020204"/>
              <a:ea typeface="Roboto"/>
              <a:cs typeface="Roboto"/>
              <a:sym typeface="Roboto"/>
            </a:endParaRPr>
          </a:p>
        </p:txBody>
      </p:sp>
      <p:sp>
        <p:nvSpPr>
          <p:cNvPr id="2" name="Google Shape;963;p55">
            <a:extLst>
              <a:ext uri="{FF2B5EF4-FFF2-40B4-BE49-F238E27FC236}">
                <a16:creationId xmlns:a16="http://schemas.microsoft.com/office/drawing/2014/main" id="{D766EEE9-AED2-9930-D13A-713A88AB4425}"/>
              </a:ext>
            </a:extLst>
          </p:cNvPr>
          <p:cNvSpPr/>
          <p:nvPr/>
        </p:nvSpPr>
        <p:spPr>
          <a:xfrm>
            <a:off x="1435098" y="1814112"/>
            <a:ext cx="1221931" cy="1146822"/>
          </a:xfrm>
          <a:prstGeom prst="roundRect">
            <a:avLst>
              <a:gd name="adj" fmla="val 4567"/>
            </a:avLst>
          </a:prstGeom>
          <a:solidFill>
            <a:srgbClr val="FFFFFF"/>
          </a:solidFill>
          <a:ln w="25400" cap="flat" cmpd="sng">
            <a:solidFill>
              <a:schemeClr val="accent2"/>
            </a:solidFill>
            <a:prstDash val="solid"/>
            <a:round/>
            <a:headEnd type="none" w="sm" len="sm"/>
            <a:tailEnd type="none" w="sm" len="sm"/>
          </a:ln>
        </p:spPr>
        <p:txBody>
          <a:bodyPr spcFirstLastPara="1" wrap="square" lIns="0" tIns="45675" rIns="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sz="1100" b="0" i="0" u="none" strike="noStrike" kern="1200" cap="none" spc="0" normalizeH="0" baseline="0" noProof="0">
              <a:ln>
                <a:noFill/>
              </a:ln>
              <a:solidFill>
                <a:srgbClr val="FFFFFF"/>
              </a:solidFill>
              <a:effectLst/>
              <a:uLnTx/>
              <a:uFillTx/>
              <a:latin typeface="Arial" panose="020B0604020202020204"/>
              <a:ea typeface="Roboto"/>
              <a:cs typeface="Roboto"/>
              <a:sym typeface="Roboto"/>
            </a:endParaRPr>
          </a:p>
        </p:txBody>
      </p:sp>
      <p:sp>
        <p:nvSpPr>
          <p:cNvPr id="3" name="Google Shape;978;p55">
            <a:extLst>
              <a:ext uri="{FF2B5EF4-FFF2-40B4-BE49-F238E27FC236}">
                <a16:creationId xmlns:a16="http://schemas.microsoft.com/office/drawing/2014/main" id="{8B37B7AA-E0C9-0916-A0EA-F3E92AF11A29}"/>
              </a:ext>
            </a:extLst>
          </p:cNvPr>
          <p:cNvSpPr/>
          <p:nvPr/>
        </p:nvSpPr>
        <p:spPr>
          <a:xfrm>
            <a:off x="1589803" y="1710586"/>
            <a:ext cx="938446" cy="216000"/>
          </a:xfrm>
          <a:prstGeom prst="roundRect">
            <a:avLst>
              <a:gd name="adj" fmla="val 50000"/>
            </a:avLst>
          </a:prstGeom>
          <a:solidFill>
            <a:srgbClr val="00000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r>
              <a:rPr kumimoji="0" lang="en" sz="1050" b="0" i="0" u="none" strike="noStrike" kern="1200" cap="none" spc="0" normalizeH="0" baseline="0" noProof="0" dirty="0">
                <a:ln>
                  <a:noFill/>
                </a:ln>
                <a:solidFill>
                  <a:srgbClr val="FFFFFF"/>
                </a:solidFill>
                <a:effectLst/>
                <a:uLnTx/>
                <a:uFillTx/>
                <a:latin typeface="Arial" panose="020B0604020202020204"/>
                <a:ea typeface="Roboto"/>
                <a:cs typeface="Roboto"/>
                <a:sym typeface="Roboto"/>
              </a:rPr>
              <a:t>Rack 1</a:t>
            </a:r>
            <a:endParaRPr kumimoji="0"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5" name="Straight Connector 4">
            <a:extLst>
              <a:ext uri="{FF2B5EF4-FFF2-40B4-BE49-F238E27FC236}">
                <a16:creationId xmlns:a16="http://schemas.microsoft.com/office/drawing/2014/main" id="{D698B603-294D-8B88-11FD-312FC191F9BD}"/>
              </a:ext>
            </a:extLst>
          </p:cNvPr>
          <p:cNvCxnSpPr>
            <a:cxnSpLocks/>
          </p:cNvCxnSpPr>
          <p:nvPr/>
        </p:nvCxnSpPr>
        <p:spPr bwMode="gray">
          <a:xfrm flipV="1">
            <a:off x="1712219" y="2182159"/>
            <a:ext cx="0" cy="653806"/>
          </a:xfrm>
          <a:prstGeom prst="line">
            <a:avLst/>
          </a:prstGeom>
          <a:ln w="1905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60A346A-17B4-C9D4-20B3-614FA392D911}"/>
              </a:ext>
            </a:extLst>
          </p:cNvPr>
          <p:cNvCxnSpPr>
            <a:cxnSpLocks/>
          </p:cNvCxnSpPr>
          <p:nvPr/>
        </p:nvCxnSpPr>
        <p:spPr bwMode="gray">
          <a:xfrm flipV="1">
            <a:off x="2039106" y="2428185"/>
            <a:ext cx="0" cy="411093"/>
          </a:xfrm>
          <a:prstGeom prst="line">
            <a:avLst/>
          </a:prstGeom>
          <a:ln w="1905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 name="Google Shape;963;p55">
            <a:extLst>
              <a:ext uri="{FF2B5EF4-FFF2-40B4-BE49-F238E27FC236}">
                <a16:creationId xmlns:a16="http://schemas.microsoft.com/office/drawing/2014/main" id="{894489E7-0B9C-0130-6209-17395BC83902}"/>
              </a:ext>
            </a:extLst>
          </p:cNvPr>
          <p:cNvSpPr/>
          <p:nvPr/>
        </p:nvSpPr>
        <p:spPr>
          <a:xfrm>
            <a:off x="4415282" y="1814112"/>
            <a:ext cx="1221931" cy="1146822"/>
          </a:xfrm>
          <a:prstGeom prst="roundRect">
            <a:avLst>
              <a:gd name="adj" fmla="val 4567"/>
            </a:avLst>
          </a:prstGeom>
          <a:solidFill>
            <a:schemeClr val="bg1"/>
          </a:solidFill>
          <a:ln w="25400" cap="flat" cmpd="sng">
            <a:solidFill>
              <a:schemeClr val="accent2"/>
            </a:solidFill>
            <a:prstDash val="solid"/>
            <a:round/>
            <a:headEnd type="none" w="sm" len="sm"/>
            <a:tailEnd type="none" w="sm" len="sm"/>
          </a:ln>
        </p:spPr>
        <p:txBody>
          <a:bodyPr spcFirstLastPara="1" wrap="square" lIns="0" tIns="45675" rIns="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sz="1100" b="0" i="0" u="none" strike="noStrike" kern="1200" cap="none" spc="0" normalizeH="0" baseline="0" noProof="0">
              <a:ln>
                <a:noFill/>
              </a:ln>
              <a:solidFill>
                <a:srgbClr val="FFFFFF"/>
              </a:solidFill>
              <a:effectLst/>
              <a:uLnTx/>
              <a:uFillTx/>
              <a:latin typeface="Arial" panose="020B0604020202020204"/>
              <a:ea typeface="Roboto"/>
              <a:cs typeface="Roboto"/>
              <a:sym typeface="Roboto"/>
            </a:endParaRPr>
          </a:p>
        </p:txBody>
      </p:sp>
      <p:sp>
        <p:nvSpPr>
          <p:cNvPr id="8" name="Google Shape;978;p55">
            <a:extLst>
              <a:ext uri="{FF2B5EF4-FFF2-40B4-BE49-F238E27FC236}">
                <a16:creationId xmlns:a16="http://schemas.microsoft.com/office/drawing/2014/main" id="{FEAB679B-6FB3-43D2-E2AC-1A358FC187F3}"/>
              </a:ext>
            </a:extLst>
          </p:cNvPr>
          <p:cNvSpPr/>
          <p:nvPr/>
        </p:nvSpPr>
        <p:spPr>
          <a:xfrm>
            <a:off x="4569987" y="1710586"/>
            <a:ext cx="938446" cy="216000"/>
          </a:xfrm>
          <a:prstGeom prst="roundRect">
            <a:avLst>
              <a:gd name="adj" fmla="val 50000"/>
            </a:avLst>
          </a:prstGeom>
          <a:solidFill>
            <a:srgbClr val="00000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r>
              <a:rPr kumimoji="0" lang="en" sz="1050" b="0" i="0" u="none" strike="noStrike" kern="1200" cap="none" spc="0" normalizeH="0" baseline="0" noProof="0" dirty="0">
                <a:ln>
                  <a:noFill/>
                </a:ln>
                <a:solidFill>
                  <a:srgbClr val="FFFFFF"/>
                </a:solidFill>
                <a:effectLst/>
                <a:uLnTx/>
                <a:uFillTx/>
                <a:latin typeface="Arial" panose="020B0604020202020204"/>
                <a:ea typeface="Roboto"/>
                <a:cs typeface="Roboto"/>
                <a:sym typeface="Roboto"/>
              </a:rPr>
              <a:t>Rack 3</a:t>
            </a:r>
            <a:endParaRPr kumimoji="0"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9" name="Google Shape;963;p55">
            <a:extLst>
              <a:ext uri="{FF2B5EF4-FFF2-40B4-BE49-F238E27FC236}">
                <a16:creationId xmlns:a16="http://schemas.microsoft.com/office/drawing/2014/main" id="{EC2E7394-5A4F-F50A-9954-110B4999512E}"/>
              </a:ext>
            </a:extLst>
          </p:cNvPr>
          <p:cNvSpPr/>
          <p:nvPr/>
        </p:nvSpPr>
        <p:spPr>
          <a:xfrm>
            <a:off x="2925190" y="1814112"/>
            <a:ext cx="1221931" cy="1146822"/>
          </a:xfrm>
          <a:prstGeom prst="roundRect">
            <a:avLst>
              <a:gd name="adj" fmla="val 4567"/>
            </a:avLst>
          </a:prstGeom>
          <a:solidFill>
            <a:srgbClr val="FFFFFF"/>
          </a:solidFill>
          <a:ln w="25400" cap="flat" cmpd="sng">
            <a:solidFill>
              <a:schemeClr val="accent2"/>
            </a:solidFill>
            <a:prstDash val="solid"/>
            <a:round/>
            <a:headEnd type="none" w="sm" len="sm"/>
            <a:tailEnd type="none" w="sm" len="sm"/>
          </a:ln>
        </p:spPr>
        <p:txBody>
          <a:bodyPr spcFirstLastPara="1" wrap="square" lIns="0" tIns="45675" rIns="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sz="1100" b="0" i="0" u="none" strike="noStrike" kern="1200" cap="none" spc="0" normalizeH="0" baseline="0" noProof="0">
              <a:ln>
                <a:noFill/>
              </a:ln>
              <a:solidFill>
                <a:srgbClr val="FFFFFF"/>
              </a:solidFill>
              <a:effectLst/>
              <a:uLnTx/>
              <a:uFillTx/>
              <a:latin typeface="Arial" panose="020B0604020202020204"/>
              <a:ea typeface="Roboto"/>
              <a:cs typeface="Roboto"/>
              <a:sym typeface="Roboto"/>
            </a:endParaRPr>
          </a:p>
        </p:txBody>
      </p:sp>
      <p:sp>
        <p:nvSpPr>
          <p:cNvPr id="10" name="Google Shape;978;p55">
            <a:extLst>
              <a:ext uri="{FF2B5EF4-FFF2-40B4-BE49-F238E27FC236}">
                <a16:creationId xmlns:a16="http://schemas.microsoft.com/office/drawing/2014/main" id="{51C86FB6-2D89-3423-3A96-8E16B4958B34}"/>
              </a:ext>
            </a:extLst>
          </p:cNvPr>
          <p:cNvSpPr/>
          <p:nvPr/>
        </p:nvSpPr>
        <p:spPr>
          <a:xfrm>
            <a:off x="3079895" y="1710586"/>
            <a:ext cx="938446" cy="216000"/>
          </a:xfrm>
          <a:prstGeom prst="roundRect">
            <a:avLst>
              <a:gd name="adj" fmla="val 50000"/>
            </a:avLst>
          </a:prstGeom>
          <a:solidFill>
            <a:srgbClr val="00000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r>
              <a:rPr kumimoji="0" lang="en" sz="1050" b="0" i="0" u="none" strike="noStrike" kern="1200" cap="none" spc="0" normalizeH="0" baseline="0" noProof="0" dirty="0">
                <a:ln>
                  <a:noFill/>
                </a:ln>
                <a:solidFill>
                  <a:srgbClr val="FFFFFF"/>
                </a:solidFill>
                <a:effectLst/>
                <a:uLnTx/>
                <a:uFillTx/>
                <a:latin typeface="Arial" panose="020B0604020202020204"/>
                <a:ea typeface="Roboto"/>
                <a:cs typeface="Roboto"/>
                <a:sym typeface="Roboto"/>
              </a:rPr>
              <a:t>Rack 2</a:t>
            </a:r>
            <a:endParaRPr kumimoji="0"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11" name="Straight Connector 10">
            <a:extLst>
              <a:ext uri="{FF2B5EF4-FFF2-40B4-BE49-F238E27FC236}">
                <a16:creationId xmlns:a16="http://schemas.microsoft.com/office/drawing/2014/main" id="{C49CA79D-2F5B-1013-A10B-CB450B536B39}"/>
              </a:ext>
            </a:extLst>
          </p:cNvPr>
          <p:cNvCxnSpPr>
            <a:cxnSpLocks/>
          </p:cNvCxnSpPr>
          <p:nvPr/>
        </p:nvCxnSpPr>
        <p:spPr bwMode="gray">
          <a:xfrm flipV="1">
            <a:off x="3568997" y="2154600"/>
            <a:ext cx="0" cy="720000"/>
          </a:xfrm>
          <a:prstGeom prst="line">
            <a:avLst/>
          </a:prstGeom>
          <a:ln w="1905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F418594-C425-E16B-EE47-3E841DB2A3D9}"/>
              </a:ext>
            </a:extLst>
          </p:cNvPr>
          <p:cNvCxnSpPr>
            <a:cxnSpLocks/>
          </p:cNvCxnSpPr>
          <p:nvPr/>
        </p:nvCxnSpPr>
        <p:spPr bwMode="gray">
          <a:xfrm>
            <a:off x="2998788" y="2876585"/>
            <a:ext cx="1068387" cy="0"/>
          </a:xfrm>
          <a:prstGeom prst="line">
            <a:avLst/>
          </a:prstGeom>
          <a:ln w="1905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514F0EE-AFC8-F474-AC06-D059350569C7}"/>
              </a:ext>
            </a:extLst>
          </p:cNvPr>
          <p:cNvCxnSpPr>
            <a:cxnSpLocks/>
          </p:cNvCxnSpPr>
          <p:nvPr/>
        </p:nvCxnSpPr>
        <p:spPr bwMode="gray">
          <a:xfrm>
            <a:off x="1522413" y="2837647"/>
            <a:ext cx="1071562" cy="0"/>
          </a:xfrm>
          <a:prstGeom prst="line">
            <a:avLst/>
          </a:prstGeom>
          <a:ln w="1905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25D539A-14E2-A149-F841-08D8483B1D1C}"/>
              </a:ext>
            </a:extLst>
          </p:cNvPr>
          <p:cNvCxnSpPr>
            <a:cxnSpLocks/>
          </p:cNvCxnSpPr>
          <p:nvPr/>
        </p:nvCxnSpPr>
        <p:spPr bwMode="gray">
          <a:xfrm flipV="1">
            <a:off x="3901772" y="2554315"/>
            <a:ext cx="0" cy="318094"/>
          </a:xfrm>
          <a:prstGeom prst="line">
            <a:avLst/>
          </a:prstGeom>
          <a:ln w="1905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26" name="removegroup">
            <a:extLst>
              <a:ext uri="{FF2B5EF4-FFF2-40B4-BE49-F238E27FC236}">
                <a16:creationId xmlns:a16="http://schemas.microsoft.com/office/drawing/2014/main" id="{6DD0208A-BF39-8CE0-786A-1563F5A710B5}"/>
              </a:ext>
            </a:extLst>
          </p:cNvPr>
          <p:cNvGrpSpPr/>
          <p:nvPr/>
        </p:nvGrpSpPr>
        <p:grpSpPr>
          <a:xfrm>
            <a:off x="2394844" y="2182159"/>
            <a:ext cx="3169274" cy="730051"/>
            <a:chOff x="2394844" y="2182159"/>
            <a:chExt cx="3169274" cy="730051"/>
          </a:xfrm>
        </p:grpSpPr>
        <p:grpSp>
          <p:nvGrpSpPr>
            <p:cNvPr id="27" name="remove3">
              <a:extLst>
                <a:ext uri="{FF2B5EF4-FFF2-40B4-BE49-F238E27FC236}">
                  <a16:creationId xmlns:a16="http://schemas.microsoft.com/office/drawing/2014/main" id="{5A76727E-9F48-D081-4BA6-DCD946CCE37F}"/>
                </a:ext>
              </a:extLst>
            </p:cNvPr>
            <p:cNvGrpSpPr/>
            <p:nvPr/>
          </p:nvGrpSpPr>
          <p:grpSpPr>
            <a:xfrm>
              <a:off x="4500493" y="2222780"/>
              <a:ext cx="1063625" cy="689430"/>
              <a:chOff x="4500493" y="2222780"/>
              <a:chExt cx="1063625" cy="689430"/>
            </a:xfrm>
          </p:grpSpPr>
          <p:cxnSp>
            <p:nvCxnSpPr>
              <p:cNvPr id="34" name="Straight Connector 33">
                <a:extLst>
                  <a:ext uri="{FF2B5EF4-FFF2-40B4-BE49-F238E27FC236}">
                    <a16:creationId xmlns:a16="http://schemas.microsoft.com/office/drawing/2014/main" id="{839699CE-BDCD-1A6E-55F8-5C1CDDC3E20A}"/>
                  </a:ext>
                </a:extLst>
              </p:cNvPr>
              <p:cNvCxnSpPr>
                <a:cxnSpLocks/>
              </p:cNvCxnSpPr>
              <p:nvPr/>
            </p:nvCxnSpPr>
            <p:spPr bwMode="gray">
              <a:xfrm>
                <a:off x="4500493" y="2912210"/>
                <a:ext cx="1063625" cy="0"/>
              </a:xfrm>
              <a:prstGeom prst="line">
                <a:avLst/>
              </a:prstGeom>
              <a:ln w="1905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4B1F119-E45A-496A-37A1-D92AA53B60CB}"/>
                  </a:ext>
                </a:extLst>
              </p:cNvPr>
              <p:cNvCxnSpPr>
                <a:cxnSpLocks/>
              </p:cNvCxnSpPr>
              <p:nvPr/>
            </p:nvCxnSpPr>
            <p:spPr bwMode="gray">
              <a:xfrm flipV="1">
                <a:off x="4697799" y="2415209"/>
                <a:ext cx="0" cy="490058"/>
              </a:xfrm>
              <a:prstGeom prst="line">
                <a:avLst/>
              </a:prstGeom>
              <a:ln w="1905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5291EAE-09C6-A3A0-2868-6ED6D294D3B7}"/>
                  </a:ext>
                </a:extLst>
              </p:cNvPr>
              <p:cNvCxnSpPr>
                <a:cxnSpLocks/>
              </p:cNvCxnSpPr>
              <p:nvPr/>
            </p:nvCxnSpPr>
            <p:spPr bwMode="gray">
              <a:xfrm flipV="1">
                <a:off x="5383599" y="2222780"/>
                <a:ext cx="0" cy="685800"/>
              </a:xfrm>
              <a:prstGeom prst="line">
                <a:avLst/>
              </a:prstGeom>
              <a:ln w="1905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4693156-CFF5-C88B-18A1-DB7F9835DF8E}"/>
                  </a:ext>
                </a:extLst>
              </p:cNvPr>
              <p:cNvCxnSpPr>
                <a:cxnSpLocks/>
              </p:cNvCxnSpPr>
              <p:nvPr/>
            </p:nvCxnSpPr>
            <p:spPr bwMode="gray">
              <a:xfrm flipV="1">
                <a:off x="5037524" y="2653334"/>
                <a:ext cx="0" cy="251933"/>
              </a:xfrm>
              <a:prstGeom prst="line">
                <a:avLst/>
              </a:prstGeom>
              <a:ln w="1905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grpSp>
        <p:cxnSp>
          <p:nvCxnSpPr>
            <p:cNvPr id="28" name="remove2">
              <a:extLst>
                <a:ext uri="{FF2B5EF4-FFF2-40B4-BE49-F238E27FC236}">
                  <a16:creationId xmlns:a16="http://schemas.microsoft.com/office/drawing/2014/main" id="{600EBB4D-48CC-B8A7-C8EB-C5AE3C0D400A}"/>
                </a:ext>
              </a:extLst>
            </p:cNvPr>
            <p:cNvCxnSpPr>
              <a:cxnSpLocks/>
              <a:stCxn id="24" idx="0"/>
              <a:endCxn id="109" idx="4"/>
            </p:cNvCxnSpPr>
            <p:nvPr/>
          </p:nvCxnSpPr>
          <p:spPr bwMode="gray">
            <a:xfrm flipV="1">
              <a:off x="3892247" y="2527285"/>
              <a:ext cx="0" cy="27030"/>
            </a:xfrm>
            <a:prstGeom prst="line">
              <a:avLst/>
            </a:prstGeom>
            <a:ln w="1905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3" name="remove1">
              <a:extLst>
                <a:ext uri="{FF2B5EF4-FFF2-40B4-BE49-F238E27FC236}">
                  <a16:creationId xmlns:a16="http://schemas.microsoft.com/office/drawing/2014/main" id="{D2C31BCA-44EE-2381-E79E-C100840C3AE8}"/>
                </a:ext>
              </a:extLst>
            </p:cNvPr>
            <p:cNvCxnSpPr>
              <a:cxnSpLocks/>
            </p:cNvCxnSpPr>
            <p:nvPr/>
          </p:nvCxnSpPr>
          <p:spPr bwMode="gray">
            <a:xfrm flipV="1">
              <a:off x="2394844" y="2182159"/>
              <a:ext cx="0" cy="660432"/>
            </a:xfrm>
            <a:prstGeom prst="line">
              <a:avLst/>
            </a:prstGeom>
            <a:ln w="1905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50" name="addgroup">
            <a:extLst>
              <a:ext uri="{FF2B5EF4-FFF2-40B4-BE49-F238E27FC236}">
                <a16:creationId xmlns:a16="http://schemas.microsoft.com/office/drawing/2014/main" id="{419E2DFE-B2E1-2C0B-3338-235B20CD2273}"/>
              </a:ext>
            </a:extLst>
          </p:cNvPr>
          <p:cNvGrpSpPr/>
          <p:nvPr/>
        </p:nvGrpSpPr>
        <p:grpSpPr>
          <a:xfrm>
            <a:off x="1522413" y="2130287"/>
            <a:ext cx="2543934" cy="781923"/>
            <a:chOff x="1522413" y="2130287"/>
            <a:chExt cx="2543934" cy="781923"/>
          </a:xfrm>
        </p:grpSpPr>
        <p:cxnSp>
          <p:nvCxnSpPr>
            <p:cNvPr id="51" name="add2">
              <a:extLst>
                <a:ext uri="{FF2B5EF4-FFF2-40B4-BE49-F238E27FC236}">
                  <a16:creationId xmlns:a16="http://schemas.microsoft.com/office/drawing/2014/main" id="{C17ADBF1-6AE7-B65E-6BE8-55C051C4E021}"/>
                </a:ext>
              </a:extLst>
            </p:cNvPr>
            <p:cNvCxnSpPr>
              <a:cxnSpLocks/>
            </p:cNvCxnSpPr>
            <p:nvPr/>
          </p:nvCxnSpPr>
          <p:spPr bwMode="gray">
            <a:xfrm>
              <a:off x="1522413" y="2876585"/>
              <a:ext cx="1479204" cy="0"/>
            </a:xfrm>
            <a:prstGeom prst="line">
              <a:avLst/>
            </a:prstGeom>
            <a:ln w="1905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2" name="add1">
              <a:extLst>
                <a:ext uri="{FF2B5EF4-FFF2-40B4-BE49-F238E27FC236}">
                  <a16:creationId xmlns:a16="http://schemas.microsoft.com/office/drawing/2014/main" id="{7F176A5C-0910-B08D-667F-898211DCB7B1}"/>
                </a:ext>
              </a:extLst>
            </p:cNvPr>
            <p:cNvCxnSpPr>
              <a:cxnSpLocks/>
            </p:cNvCxnSpPr>
            <p:nvPr/>
          </p:nvCxnSpPr>
          <p:spPr bwMode="gray">
            <a:xfrm flipV="1">
              <a:off x="2064737" y="2663687"/>
              <a:ext cx="0" cy="215348"/>
            </a:xfrm>
            <a:prstGeom prst="line">
              <a:avLst/>
            </a:prstGeom>
            <a:ln w="1905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add3">
              <a:extLst>
                <a:ext uri="{FF2B5EF4-FFF2-40B4-BE49-F238E27FC236}">
                  <a16:creationId xmlns:a16="http://schemas.microsoft.com/office/drawing/2014/main" id="{26FEB3D7-DC6C-BBF4-F08C-676A0DA6D6F7}"/>
                </a:ext>
              </a:extLst>
            </p:cNvPr>
            <p:cNvCxnSpPr>
              <a:cxnSpLocks/>
            </p:cNvCxnSpPr>
            <p:nvPr/>
          </p:nvCxnSpPr>
          <p:spPr bwMode="gray">
            <a:xfrm>
              <a:off x="2584174" y="2837647"/>
              <a:ext cx="1482173" cy="0"/>
            </a:xfrm>
            <a:prstGeom prst="line">
              <a:avLst/>
            </a:prstGeom>
            <a:ln w="1905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4" name="add4">
              <a:extLst>
                <a:ext uri="{FF2B5EF4-FFF2-40B4-BE49-F238E27FC236}">
                  <a16:creationId xmlns:a16="http://schemas.microsoft.com/office/drawing/2014/main" id="{CC26AFD7-B184-AA08-E7F4-7B16AFE22083}"/>
                </a:ext>
              </a:extLst>
            </p:cNvPr>
            <p:cNvCxnSpPr>
              <a:cxnSpLocks/>
            </p:cNvCxnSpPr>
            <p:nvPr/>
          </p:nvCxnSpPr>
          <p:spPr bwMode="gray">
            <a:xfrm flipV="1">
              <a:off x="3216342" y="2182159"/>
              <a:ext cx="0" cy="653806"/>
            </a:xfrm>
            <a:prstGeom prst="line">
              <a:avLst/>
            </a:prstGeom>
            <a:ln w="1905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5" name="add5">
              <a:extLst>
                <a:ext uri="{FF2B5EF4-FFF2-40B4-BE49-F238E27FC236}">
                  <a16:creationId xmlns:a16="http://schemas.microsoft.com/office/drawing/2014/main" id="{36429D6D-7B6B-7B26-A570-981D3B71FFB5}"/>
                </a:ext>
              </a:extLst>
            </p:cNvPr>
            <p:cNvCxnSpPr>
              <a:cxnSpLocks/>
            </p:cNvCxnSpPr>
            <p:nvPr/>
          </p:nvCxnSpPr>
          <p:spPr bwMode="gray">
            <a:xfrm>
              <a:off x="1522413" y="2912210"/>
              <a:ext cx="2542691" cy="0"/>
            </a:xfrm>
            <a:prstGeom prst="line">
              <a:avLst/>
            </a:prstGeom>
            <a:ln w="1905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7" name="add6">
              <a:extLst>
                <a:ext uri="{FF2B5EF4-FFF2-40B4-BE49-F238E27FC236}">
                  <a16:creationId xmlns:a16="http://schemas.microsoft.com/office/drawing/2014/main" id="{41EBD7C4-8981-9564-AA35-C12B1FBCD64C}"/>
                </a:ext>
              </a:extLst>
            </p:cNvPr>
            <p:cNvCxnSpPr>
              <a:cxnSpLocks/>
            </p:cNvCxnSpPr>
            <p:nvPr/>
          </p:nvCxnSpPr>
          <p:spPr bwMode="gray">
            <a:xfrm flipV="1">
              <a:off x="3184533" y="2415209"/>
              <a:ext cx="0" cy="490058"/>
            </a:xfrm>
            <a:prstGeom prst="line">
              <a:avLst/>
            </a:prstGeom>
            <a:ln w="1905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8" name="add7">
              <a:extLst>
                <a:ext uri="{FF2B5EF4-FFF2-40B4-BE49-F238E27FC236}">
                  <a16:creationId xmlns:a16="http://schemas.microsoft.com/office/drawing/2014/main" id="{ED238C9A-D38E-4156-5E4C-5F25596FBEC4}"/>
                </a:ext>
              </a:extLst>
            </p:cNvPr>
            <p:cNvCxnSpPr>
              <a:cxnSpLocks/>
            </p:cNvCxnSpPr>
            <p:nvPr/>
          </p:nvCxnSpPr>
          <p:spPr bwMode="gray">
            <a:xfrm flipV="1">
              <a:off x="3544859" y="2676939"/>
              <a:ext cx="0" cy="228328"/>
            </a:xfrm>
            <a:prstGeom prst="line">
              <a:avLst/>
            </a:prstGeom>
            <a:ln w="1905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9" name="add8">
              <a:extLst>
                <a:ext uri="{FF2B5EF4-FFF2-40B4-BE49-F238E27FC236}">
                  <a16:creationId xmlns:a16="http://schemas.microsoft.com/office/drawing/2014/main" id="{ACB3FDAF-7A53-CEAF-91A5-4EC5BE759789}"/>
                </a:ext>
              </a:extLst>
            </p:cNvPr>
            <p:cNvCxnSpPr>
              <a:cxnSpLocks/>
            </p:cNvCxnSpPr>
            <p:nvPr/>
          </p:nvCxnSpPr>
          <p:spPr bwMode="gray">
            <a:xfrm flipV="1">
              <a:off x="3876164" y="2130287"/>
              <a:ext cx="0" cy="774980"/>
            </a:xfrm>
            <a:prstGeom prst="line">
              <a:avLst/>
            </a:prstGeom>
            <a:ln w="1905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0" name="add9">
              <a:extLst>
                <a:ext uri="{FF2B5EF4-FFF2-40B4-BE49-F238E27FC236}">
                  <a16:creationId xmlns:a16="http://schemas.microsoft.com/office/drawing/2014/main" id="{BCD692AC-2303-1EB4-3166-9CEB224EECE9}"/>
                </a:ext>
              </a:extLst>
            </p:cNvPr>
            <p:cNvCxnSpPr>
              <a:cxnSpLocks/>
            </p:cNvCxnSpPr>
            <p:nvPr/>
          </p:nvCxnSpPr>
          <p:spPr bwMode="gray">
            <a:xfrm flipV="1">
              <a:off x="2381567" y="2676939"/>
              <a:ext cx="0" cy="228328"/>
            </a:xfrm>
            <a:prstGeom prst="line">
              <a:avLst/>
            </a:prstGeom>
            <a:ln w="1905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61" name="Group 60">
            <a:extLst>
              <a:ext uri="{FF2B5EF4-FFF2-40B4-BE49-F238E27FC236}">
                <a16:creationId xmlns:a16="http://schemas.microsoft.com/office/drawing/2014/main" id="{47EB0685-65AE-88F7-DFAC-EF534D67ECF9}"/>
              </a:ext>
            </a:extLst>
          </p:cNvPr>
          <p:cNvGrpSpPr/>
          <p:nvPr/>
        </p:nvGrpSpPr>
        <p:grpSpPr>
          <a:xfrm>
            <a:off x="3422126" y="1992283"/>
            <a:ext cx="253986" cy="253986"/>
            <a:chOff x="2008163" y="2122216"/>
            <a:chExt cx="530226" cy="530226"/>
          </a:xfrm>
        </p:grpSpPr>
        <p:sp>
          <p:nvSpPr>
            <p:cNvPr id="62" name="Google Shape;1802;p69">
              <a:extLst>
                <a:ext uri="{FF2B5EF4-FFF2-40B4-BE49-F238E27FC236}">
                  <a16:creationId xmlns:a16="http://schemas.microsoft.com/office/drawing/2014/main" id="{04589BE2-818F-8A83-C63E-3A2A2D7CDDB0}"/>
                </a:ext>
              </a:extLst>
            </p:cNvPr>
            <p:cNvSpPr/>
            <p:nvPr/>
          </p:nvSpPr>
          <p:spPr>
            <a:xfrm>
              <a:off x="2008163" y="2122216"/>
              <a:ext cx="530226" cy="5302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74" name="Google Shape;1803;p69">
              <a:extLst>
                <a:ext uri="{FF2B5EF4-FFF2-40B4-BE49-F238E27FC236}">
                  <a16:creationId xmlns:a16="http://schemas.microsoft.com/office/drawing/2014/main" id="{C58DC110-79C3-EFCD-8F3E-28EF6FA2E98C}"/>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75" name="Group 74">
            <a:extLst>
              <a:ext uri="{FF2B5EF4-FFF2-40B4-BE49-F238E27FC236}">
                <a16:creationId xmlns:a16="http://schemas.microsoft.com/office/drawing/2014/main" id="{4FE5C7C4-A566-925F-987C-5B2068D8B9E2}"/>
              </a:ext>
            </a:extLst>
          </p:cNvPr>
          <p:cNvGrpSpPr/>
          <p:nvPr/>
        </p:nvGrpSpPr>
        <p:grpSpPr>
          <a:xfrm>
            <a:off x="2275162" y="1992283"/>
            <a:ext cx="253986" cy="253986"/>
            <a:chOff x="2008163" y="2122216"/>
            <a:chExt cx="530226" cy="530226"/>
          </a:xfrm>
        </p:grpSpPr>
        <p:sp>
          <p:nvSpPr>
            <p:cNvPr id="76" name="Google Shape;1802;p69">
              <a:extLst>
                <a:ext uri="{FF2B5EF4-FFF2-40B4-BE49-F238E27FC236}">
                  <a16:creationId xmlns:a16="http://schemas.microsoft.com/office/drawing/2014/main" id="{5579A865-EB62-E238-76AE-201E8FC1631E}"/>
                </a:ext>
              </a:extLst>
            </p:cNvPr>
            <p:cNvSpPr/>
            <p:nvPr/>
          </p:nvSpPr>
          <p:spPr>
            <a:xfrm>
              <a:off x="2008163" y="2122216"/>
              <a:ext cx="530226" cy="530226"/>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77" name="Google Shape;1803;p69">
              <a:extLst>
                <a:ext uri="{FF2B5EF4-FFF2-40B4-BE49-F238E27FC236}">
                  <a16:creationId xmlns:a16="http://schemas.microsoft.com/office/drawing/2014/main" id="{3962F176-5C27-E5FB-944F-DC327634929D}"/>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78" name="Group 77">
            <a:extLst>
              <a:ext uri="{FF2B5EF4-FFF2-40B4-BE49-F238E27FC236}">
                <a16:creationId xmlns:a16="http://schemas.microsoft.com/office/drawing/2014/main" id="{CE67AA88-33C1-C738-507F-E61D1412DBA1}"/>
              </a:ext>
            </a:extLst>
          </p:cNvPr>
          <p:cNvGrpSpPr/>
          <p:nvPr/>
        </p:nvGrpSpPr>
        <p:grpSpPr>
          <a:xfrm>
            <a:off x="1588905" y="1992283"/>
            <a:ext cx="253986" cy="253986"/>
            <a:chOff x="2008163" y="2122216"/>
            <a:chExt cx="530226" cy="530226"/>
          </a:xfrm>
        </p:grpSpPr>
        <p:sp>
          <p:nvSpPr>
            <p:cNvPr id="79" name="Google Shape;1802;p69">
              <a:extLst>
                <a:ext uri="{FF2B5EF4-FFF2-40B4-BE49-F238E27FC236}">
                  <a16:creationId xmlns:a16="http://schemas.microsoft.com/office/drawing/2014/main" id="{BF7A5FBF-8B1C-7CCE-8BB7-7691EFE27C8D}"/>
                </a:ext>
              </a:extLst>
            </p:cNvPr>
            <p:cNvSpPr/>
            <p:nvPr/>
          </p:nvSpPr>
          <p:spPr>
            <a:xfrm>
              <a:off x="2008163" y="2122216"/>
              <a:ext cx="530226" cy="530226"/>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80" name="Google Shape;1803;p69">
              <a:extLst>
                <a:ext uri="{FF2B5EF4-FFF2-40B4-BE49-F238E27FC236}">
                  <a16:creationId xmlns:a16="http://schemas.microsoft.com/office/drawing/2014/main" id="{C1DC4C3B-69D6-0F42-03A1-E843907EFF06}"/>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81" name="Group 80">
            <a:extLst>
              <a:ext uri="{FF2B5EF4-FFF2-40B4-BE49-F238E27FC236}">
                <a16:creationId xmlns:a16="http://schemas.microsoft.com/office/drawing/2014/main" id="{8626FC5B-0D86-3240-0AA9-9451310B102C}"/>
              </a:ext>
            </a:extLst>
          </p:cNvPr>
          <p:cNvGrpSpPr/>
          <p:nvPr/>
        </p:nvGrpSpPr>
        <p:grpSpPr>
          <a:xfrm>
            <a:off x="1588905" y="2554315"/>
            <a:ext cx="253986" cy="253986"/>
            <a:chOff x="2008163" y="2122216"/>
            <a:chExt cx="530226" cy="530226"/>
          </a:xfrm>
        </p:grpSpPr>
        <p:sp>
          <p:nvSpPr>
            <p:cNvPr id="83" name="Google Shape;1802;p69">
              <a:extLst>
                <a:ext uri="{FF2B5EF4-FFF2-40B4-BE49-F238E27FC236}">
                  <a16:creationId xmlns:a16="http://schemas.microsoft.com/office/drawing/2014/main" id="{9CCC9BB9-8395-FB5A-5FF4-09246AE30A69}"/>
                </a:ext>
              </a:extLst>
            </p:cNvPr>
            <p:cNvSpPr/>
            <p:nvPr/>
          </p:nvSpPr>
          <p:spPr>
            <a:xfrm>
              <a:off x="2008163" y="2122216"/>
              <a:ext cx="530226" cy="530226"/>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84" name="Google Shape;1803;p69">
              <a:extLst>
                <a:ext uri="{FF2B5EF4-FFF2-40B4-BE49-F238E27FC236}">
                  <a16:creationId xmlns:a16="http://schemas.microsoft.com/office/drawing/2014/main" id="{5FBF7877-553A-BDA1-49AB-B9CA0ADBD00C}"/>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85" name="Group 84">
            <a:extLst>
              <a:ext uri="{FF2B5EF4-FFF2-40B4-BE49-F238E27FC236}">
                <a16:creationId xmlns:a16="http://schemas.microsoft.com/office/drawing/2014/main" id="{D3CE27B8-0D1E-AF78-7835-0763D33CC6BF}"/>
              </a:ext>
            </a:extLst>
          </p:cNvPr>
          <p:cNvGrpSpPr/>
          <p:nvPr/>
        </p:nvGrpSpPr>
        <p:grpSpPr>
          <a:xfrm>
            <a:off x="3422126" y="2273299"/>
            <a:ext cx="597114" cy="535002"/>
            <a:chOff x="3422126" y="2273299"/>
            <a:chExt cx="597114" cy="535002"/>
          </a:xfrm>
        </p:grpSpPr>
        <p:grpSp>
          <p:nvGrpSpPr>
            <p:cNvPr id="105" name="Group 104">
              <a:extLst>
                <a:ext uri="{FF2B5EF4-FFF2-40B4-BE49-F238E27FC236}">
                  <a16:creationId xmlns:a16="http://schemas.microsoft.com/office/drawing/2014/main" id="{C0C26964-B034-DF88-E25F-662DF4BBD0DB}"/>
                </a:ext>
              </a:extLst>
            </p:cNvPr>
            <p:cNvGrpSpPr/>
            <p:nvPr/>
          </p:nvGrpSpPr>
          <p:grpSpPr>
            <a:xfrm>
              <a:off x="3765254" y="2273299"/>
              <a:ext cx="253986" cy="253986"/>
              <a:chOff x="2008163" y="2122216"/>
              <a:chExt cx="530226" cy="530226"/>
            </a:xfrm>
          </p:grpSpPr>
          <p:sp>
            <p:nvSpPr>
              <p:cNvPr id="109" name="Google Shape;1802;p69">
                <a:extLst>
                  <a:ext uri="{FF2B5EF4-FFF2-40B4-BE49-F238E27FC236}">
                    <a16:creationId xmlns:a16="http://schemas.microsoft.com/office/drawing/2014/main" id="{E6F5AED1-E961-6DE6-400E-9873D6E13A55}"/>
                  </a:ext>
                </a:extLst>
              </p:cNvPr>
              <p:cNvSpPr/>
              <p:nvPr/>
            </p:nvSpPr>
            <p:spPr>
              <a:xfrm>
                <a:off x="2008163" y="2122216"/>
                <a:ext cx="530226" cy="5302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29" name="Google Shape;1803;p69">
                <a:extLst>
                  <a:ext uri="{FF2B5EF4-FFF2-40B4-BE49-F238E27FC236}">
                    <a16:creationId xmlns:a16="http://schemas.microsoft.com/office/drawing/2014/main" id="{431553BA-9B54-577D-F161-BCA5FF0C8867}"/>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106" name="Group 105">
              <a:extLst>
                <a:ext uri="{FF2B5EF4-FFF2-40B4-BE49-F238E27FC236}">
                  <a16:creationId xmlns:a16="http://schemas.microsoft.com/office/drawing/2014/main" id="{A92352F1-B5F7-0BA4-E26A-89DBDEE7B725}"/>
                </a:ext>
              </a:extLst>
            </p:cNvPr>
            <p:cNvGrpSpPr/>
            <p:nvPr/>
          </p:nvGrpSpPr>
          <p:grpSpPr>
            <a:xfrm>
              <a:off x="3422126" y="2554315"/>
              <a:ext cx="253986" cy="253986"/>
              <a:chOff x="2008163" y="2122216"/>
              <a:chExt cx="530226" cy="530226"/>
            </a:xfrm>
          </p:grpSpPr>
          <p:sp>
            <p:nvSpPr>
              <p:cNvPr id="107" name="Google Shape;1802;p69">
                <a:extLst>
                  <a:ext uri="{FF2B5EF4-FFF2-40B4-BE49-F238E27FC236}">
                    <a16:creationId xmlns:a16="http://schemas.microsoft.com/office/drawing/2014/main" id="{3899CE5D-4F21-D13B-E4AE-5295B12A7DBC}"/>
                  </a:ext>
                </a:extLst>
              </p:cNvPr>
              <p:cNvSpPr/>
              <p:nvPr/>
            </p:nvSpPr>
            <p:spPr>
              <a:xfrm>
                <a:off x="2008163" y="2122216"/>
                <a:ext cx="530226" cy="5302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08" name="Google Shape;1803;p69">
                <a:extLst>
                  <a:ext uri="{FF2B5EF4-FFF2-40B4-BE49-F238E27FC236}">
                    <a16:creationId xmlns:a16="http://schemas.microsoft.com/office/drawing/2014/main" id="{96C8FCD0-AD76-34FD-C19F-57318255D5DB}"/>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grpSp>
        <p:nvGrpSpPr>
          <p:cNvPr id="130" name="Group 129">
            <a:extLst>
              <a:ext uri="{FF2B5EF4-FFF2-40B4-BE49-F238E27FC236}">
                <a16:creationId xmlns:a16="http://schemas.microsoft.com/office/drawing/2014/main" id="{FA3A90A3-0FCD-F3C3-CDFF-786573591B4F}"/>
              </a:ext>
            </a:extLst>
          </p:cNvPr>
          <p:cNvGrpSpPr/>
          <p:nvPr/>
        </p:nvGrpSpPr>
        <p:grpSpPr>
          <a:xfrm>
            <a:off x="4569089" y="1992283"/>
            <a:ext cx="940243" cy="816018"/>
            <a:chOff x="4569089" y="1992283"/>
            <a:chExt cx="940243" cy="816018"/>
          </a:xfrm>
        </p:grpSpPr>
        <p:grpSp>
          <p:nvGrpSpPr>
            <p:cNvPr id="131" name="Group 130">
              <a:extLst>
                <a:ext uri="{FF2B5EF4-FFF2-40B4-BE49-F238E27FC236}">
                  <a16:creationId xmlns:a16="http://schemas.microsoft.com/office/drawing/2014/main" id="{AB7E0DF7-57B3-866E-035B-F8DA9AADF41B}"/>
                </a:ext>
              </a:extLst>
            </p:cNvPr>
            <p:cNvGrpSpPr/>
            <p:nvPr/>
          </p:nvGrpSpPr>
          <p:grpSpPr>
            <a:xfrm>
              <a:off x="5255346" y="1992283"/>
              <a:ext cx="253986" cy="253986"/>
              <a:chOff x="2008163" y="2122216"/>
              <a:chExt cx="530226" cy="530226"/>
            </a:xfrm>
          </p:grpSpPr>
          <p:sp>
            <p:nvSpPr>
              <p:cNvPr id="138" name="Google Shape;1802;p69">
                <a:extLst>
                  <a:ext uri="{FF2B5EF4-FFF2-40B4-BE49-F238E27FC236}">
                    <a16:creationId xmlns:a16="http://schemas.microsoft.com/office/drawing/2014/main" id="{D1E4D9DD-D60B-55A2-ADF8-CFDEEFEEC04F}"/>
                  </a:ext>
                </a:extLst>
              </p:cNvPr>
              <p:cNvSpPr/>
              <p:nvPr/>
            </p:nvSpPr>
            <p:spPr>
              <a:xfrm>
                <a:off x="2008163" y="2122216"/>
                <a:ext cx="530226" cy="53022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39" name="Google Shape;1803;p69">
                <a:extLst>
                  <a:ext uri="{FF2B5EF4-FFF2-40B4-BE49-F238E27FC236}">
                    <a16:creationId xmlns:a16="http://schemas.microsoft.com/office/drawing/2014/main" id="{61435AC0-65B5-D488-3BA1-9B45A14A7CD7}"/>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132" name="Group 131">
              <a:extLst>
                <a:ext uri="{FF2B5EF4-FFF2-40B4-BE49-F238E27FC236}">
                  <a16:creationId xmlns:a16="http://schemas.microsoft.com/office/drawing/2014/main" id="{B5B6E7EA-53F9-2A16-010E-0C8A8D6D1D9B}"/>
                </a:ext>
              </a:extLst>
            </p:cNvPr>
            <p:cNvGrpSpPr/>
            <p:nvPr/>
          </p:nvGrpSpPr>
          <p:grpSpPr>
            <a:xfrm>
              <a:off x="4912218" y="2554315"/>
              <a:ext cx="253986" cy="253986"/>
              <a:chOff x="2008163" y="2122216"/>
              <a:chExt cx="530226" cy="530226"/>
            </a:xfrm>
          </p:grpSpPr>
          <p:sp>
            <p:nvSpPr>
              <p:cNvPr id="136" name="Google Shape;1802;p69">
                <a:extLst>
                  <a:ext uri="{FF2B5EF4-FFF2-40B4-BE49-F238E27FC236}">
                    <a16:creationId xmlns:a16="http://schemas.microsoft.com/office/drawing/2014/main" id="{3A1DEAAA-09BA-CE20-82B1-FB89FF762DC5}"/>
                  </a:ext>
                </a:extLst>
              </p:cNvPr>
              <p:cNvSpPr/>
              <p:nvPr/>
            </p:nvSpPr>
            <p:spPr>
              <a:xfrm>
                <a:off x="2008163" y="2122216"/>
                <a:ext cx="530226" cy="53022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37" name="Google Shape;1803;p69">
                <a:extLst>
                  <a:ext uri="{FF2B5EF4-FFF2-40B4-BE49-F238E27FC236}">
                    <a16:creationId xmlns:a16="http://schemas.microsoft.com/office/drawing/2014/main" id="{5CA6E91C-4F4F-F2E4-97A9-998693C56E7D}"/>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133" name="Group 132">
              <a:extLst>
                <a:ext uri="{FF2B5EF4-FFF2-40B4-BE49-F238E27FC236}">
                  <a16:creationId xmlns:a16="http://schemas.microsoft.com/office/drawing/2014/main" id="{71649A46-53E7-1C31-E6C5-0E2B129678BD}"/>
                </a:ext>
              </a:extLst>
            </p:cNvPr>
            <p:cNvGrpSpPr/>
            <p:nvPr/>
          </p:nvGrpSpPr>
          <p:grpSpPr>
            <a:xfrm>
              <a:off x="4569089" y="2273299"/>
              <a:ext cx="253986" cy="253986"/>
              <a:chOff x="4569089" y="2273299"/>
              <a:chExt cx="253986" cy="253986"/>
            </a:xfrm>
          </p:grpSpPr>
          <p:sp>
            <p:nvSpPr>
              <p:cNvPr id="134" name="Google Shape;1802;p69">
                <a:extLst>
                  <a:ext uri="{FF2B5EF4-FFF2-40B4-BE49-F238E27FC236}">
                    <a16:creationId xmlns:a16="http://schemas.microsoft.com/office/drawing/2014/main" id="{1FCB042D-3255-DEC9-1A2C-A0D551FB309C}"/>
                  </a:ext>
                </a:extLst>
              </p:cNvPr>
              <p:cNvSpPr/>
              <p:nvPr/>
            </p:nvSpPr>
            <p:spPr>
              <a:xfrm>
                <a:off x="4569089" y="2273299"/>
                <a:ext cx="253986" cy="25398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35" name="Google Shape;1803;p69">
                <a:extLst>
                  <a:ext uri="{FF2B5EF4-FFF2-40B4-BE49-F238E27FC236}">
                    <a16:creationId xmlns:a16="http://schemas.microsoft.com/office/drawing/2014/main" id="{8F233ED2-7394-0394-CBDE-B4F4CCBE9C46}"/>
                  </a:ext>
                </a:extLst>
              </p:cNvPr>
              <p:cNvSpPr/>
              <p:nvPr/>
            </p:nvSpPr>
            <p:spPr>
              <a:xfrm>
                <a:off x="4624107" y="2328266"/>
                <a:ext cx="143951" cy="144052"/>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grpSp>
        <p:nvGrpSpPr>
          <p:cNvPr id="140" name="Group 139">
            <a:extLst>
              <a:ext uri="{FF2B5EF4-FFF2-40B4-BE49-F238E27FC236}">
                <a16:creationId xmlns:a16="http://schemas.microsoft.com/office/drawing/2014/main" id="{2716888B-D681-766E-18A4-740BF5E8030D}"/>
              </a:ext>
            </a:extLst>
          </p:cNvPr>
          <p:cNvGrpSpPr/>
          <p:nvPr/>
        </p:nvGrpSpPr>
        <p:grpSpPr>
          <a:xfrm>
            <a:off x="1932034" y="2273299"/>
            <a:ext cx="253986" cy="253986"/>
            <a:chOff x="1932034" y="2273299"/>
            <a:chExt cx="253986" cy="253986"/>
          </a:xfrm>
        </p:grpSpPr>
        <p:sp>
          <p:nvSpPr>
            <p:cNvPr id="141" name="Google Shape;1802;p69">
              <a:extLst>
                <a:ext uri="{FF2B5EF4-FFF2-40B4-BE49-F238E27FC236}">
                  <a16:creationId xmlns:a16="http://schemas.microsoft.com/office/drawing/2014/main" id="{42F416E2-9CAF-62C8-C615-FE070A058C1F}"/>
                </a:ext>
              </a:extLst>
            </p:cNvPr>
            <p:cNvSpPr/>
            <p:nvPr/>
          </p:nvSpPr>
          <p:spPr>
            <a:xfrm>
              <a:off x="1932034" y="2273299"/>
              <a:ext cx="253986" cy="253986"/>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42" name="Google Shape;1803;p69">
              <a:extLst>
                <a:ext uri="{FF2B5EF4-FFF2-40B4-BE49-F238E27FC236}">
                  <a16:creationId xmlns:a16="http://schemas.microsoft.com/office/drawing/2014/main" id="{02894BAB-E90C-6DEB-3BC3-08CB7560BE11}"/>
                </a:ext>
              </a:extLst>
            </p:cNvPr>
            <p:cNvSpPr/>
            <p:nvPr/>
          </p:nvSpPr>
          <p:spPr>
            <a:xfrm>
              <a:off x="1987052" y="2331579"/>
              <a:ext cx="143951" cy="144052"/>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grpSp>
        <p:nvGrpSpPr>
          <p:cNvPr id="143" name="Group 142">
            <a:extLst>
              <a:ext uri="{FF2B5EF4-FFF2-40B4-BE49-F238E27FC236}">
                <a16:creationId xmlns:a16="http://schemas.microsoft.com/office/drawing/2014/main" id="{8C5E28A5-6861-7357-18B1-C8D908FAB0A2}"/>
              </a:ext>
            </a:extLst>
          </p:cNvPr>
          <p:cNvGrpSpPr/>
          <p:nvPr/>
        </p:nvGrpSpPr>
        <p:grpSpPr>
          <a:xfrm>
            <a:off x="4569089" y="2554315"/>
            <a:ext cx="253986" cy="253986"/>
            <a:chOff x="2008163" y="2122216"/>
            <a:chExt cx="530226" cy="530226"/>
          </a:xfrm>
        </p:grpSpPr>
        <p:sp>
          <p:nvSpPr>
            <p:cNvPr id="145" name="Google Shape;1802;p69">
              <a:extLst>
                <a:ext uri="{FF2B5EF4-FFF2-40B4-BE49-F238E27FC236}">
                  <a16:creationId xmlns:a16="http://schemas.microsoft.com/office/drawing/2014/main" id="{DCE63EEC-6846-0144-64D5-14F4DD922E56}"/>
                </a:ext>
              </a:extLst>
            </p:cNvPr>
            <p:cNvSpPr/>
            <p:nvPr/>
          </p:nvSpPr>
          <p:spPr>
            <a:xfrm>
              <a:off x="2008163" y="2122216"/>
              <a:ext cx="530226" cy="53022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146" name="Google Shape;1803;p69">
              <a:extLst>
                <a:ext uri="{FF2B5EF4-FFF2-40B4-BE49-F238E27FC236}">
                  <a16:creationId xmlns:a16="http://schemas.microsoft.com/office/drawing/2014/main" id="{71F54099-9CC0-9CCD-8C08-A5895AD8DF25}"/>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cxnSp>
        <p:nvCxnSpPr>
          <p:cNvPr id="21" name="Straight Connector 20">
            <a:extLst>
              <a:ext uri="{FF2B5EF4-FFF2-40B4-BE49-F238E27FC236}">
                <a16:creationId xmlns:a16="http://schemas.microsoft.com/office/drawing/2014/main" id="{753FE80B-3828-4E9C-6DAA-6729A04C78BC}"/>
              </a:ext>
            </a:extLst>
          </p:cNvPr>
          <p:cNvCxnSpPr>
            <a:cxnSpLocks/>
          </p:cNvCxnSpPr>
          <p:nvPr/>
        </p:nvCxnSpPr>
        <p:spPr bwMode="gray">
          <a:xfrm>
            <a:off x="7889961" y="2807370"/>
            <a:ext cx="2609012" cy="0"/>
          </a:xfrm>
          <a:prstGeom prst="line">
            <a:avLst/>
          </a:prstGeom>
          <a:solidFill>
            <a:srgbClr val="FFFFFF"/>
          </a:solidFill>
          <a:ln w="25400" cap="flat" cmpd="sng">
            <a:solidFill>
              <a:schemeClr val="accent3"/>
            </a:solidFill>
            <a:prstDash val="solid"/>
            <a:round/>
            <a:headEnd type="none" w="sm" len="sm"/>
            <a:tailEnd type="none" w="sm" len="sm"/>
          </a:ln>
        </p:spPr>
      </p:cxnSp>
      <p:cxnSp>
        <p:nvCxnSpPr>
          <p:cNvPr id="45" name="Straight Connector 44">
            <a:extLst>
              <a:ext uri="{FF2B5EF4-FFF2-40B4-BE49-F238E27FC236}">
                <a16:creationId xmlns:a16="http://schemas.microsoft.com/office/drawing/2014/main" id="{A9A25E03-DAAA-97A2-7E99-CA266C865946}"/>
              </a:ext>
            </a:extLst>
          </p:cNvPr>
          <p:cNvCxnSpPr>
            <a:cxnSpLocks/>
          </p:cNvCxnSpPr>
          <p:nvPr/>
        </p:nvCxnSpPr>
        <p:spPr bwMode="gray">
          <a:xfrm>
            <a:off x="4225159" y="5103555"/>
            <a:ext cx="954854" cy="0"/>
          </a:xfrm>
          <a:prstGeom prst="line">
            <a:avLst/>
          </a:prstGeom>
          <a:solidFill>
            <a:srgbClr val="FFFFFF"/>
          </a:solidFill>
          <a:ln w="25400" cap="flat" cmpd="sng">
            <a:solidFill>
              <a:schemeClr val="accent4"/>
            </a:solidFill>
            <a:prstDash val="solid"/>
            <a:round/>
            <a:headEnd type="none" w="sm" len="sm"/>
            <a:tailEnd type="none" w="sm" len="sm"/>
          </a:ln>
        </p:spPr>
      </p:cxnSp>
      <p:sp>
        <p:nvSpPr>
          <p:cNvPr id="20" name="Google Shape;978;p55">
            <a:extLst>
              <a:ext uri="{FF2B5EF4-FFF2-40B4-BE49-F238E27FC236}">
                <a16:creationId xmlns:a16="http://schemas.microsoft.com/office/drawing/2014/main" id="{1CD268FB-DBC7-4C20-7D4E-AAA5177A7366}"/>
              </a:ext>
            </a:extLst>
          </p:cNvPr>
          <p:cNvSpPr/>
          <p:nvPr/>
        </p:nvSpPr>
        <p:spPr>
          <a:xfrm>
            <a:off x="1804053" y="4006340"/>
            <a:ext cx="938446" cy="216000"/>
          </a:xfrm>
          <a:prstGeom prst="roundRect">
            <a:avLst>
              <a:gd name="adj" fmla="val 50000"/>
            </a:avLst>
          </a:prstGeom>
          <a:solidFill>
            <a:srgbClr val="00000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r>
              <a:rPr kumimoji="0" lang="en-US" sz="1050" b="0" i="0" u="none" strike="noStrike" kern="1200" cap="none" spc="0" normalizeH="0" baseline="0" noProof="0" dirty="0">
                <a:ln>
                  <a:noFill/>
                </a:ln>
                <a:solidFill>
                  <a:srgbClr val="FFFFFF"/>
                </a:solidFill>
                <a:effectLst/>
                <a:uLnTx/>
                <a:uFillTx/>
                <a:latin typeface="Arial" panose="020B0604020202020204"/>
                <a:ea typeface="Roboto"/>
                <a:cs typeface="Roboto"/>
                <a:sym typeface="Roboto"/>
              </a:rPr>
              <a:t>DC1</a:t>
            </a:r>
          </a:p>
        </p:txBody>
      </p:sp>
      <p:grpSp>
        <p:nvGrpSpPr>
          <p:cNvPr id="22" name="Group 21">
            <a:extLst>
              <a:ext uri="{FF2B5EF4-FFF2-40B4-BE49-F238E27FC236}">
                <a16:creationId xmlns:a16="http://schemas.microsoft.com/office/drawing/2014/main" id="{77B40088-D752-525E-F12A-7F07BE11E142}"/>
              </a:ext>
            </a:extLst>
          </p:cNvPr>
          <p:cNvGrpSpPr/>
          <p:nvPr/>
        </p:nvGrpSpPr>
        <p:grpSpPr>
          <a:xfrm>
            <a:off x="1815975" y="4046380"/>
            <a:ext cx="983908" cy="226814"/>
            <a:chOff x="3101850" y="2707291"/>
            <a:chExt cx="983908" cy="226814"/>
          </a:xfrm>
        </p:grpSpPr>
        <p:sp>
          <p:nvSpPr>
            <p:cNvPr id="23" name="Freeform 22">
              <a:extLst>
                <a:ext uri="{FF2B5EF4-FFF2-40B4-BE49-F238E27FC236}">
                  <a16:creationId xmlns:a16="http://schemas.microsoft.com/office/drawing/2014/main" id="{040FDF78-1853-453A-19F0-D9D6E1F85C09}"/>
                </a:ext>
              </a:extLst>
            </p:cNvPr>
            <p:cNvSpPr/>
            <p:nvPr/>
          </p:nvSpPr>
          <p:spPr bwMode="gray">
            <a:xfrm rot="377976">
              <a:off x="3101850" y="2718105"/>
              <a:ext cx="735048" cy="216000"/>
            </a:xfrm>
            <a:custGeom>
              <a:avLst/>
              <a:gdLst>
                <a:gd name="connsiteX0" fmla="*/ 134618 w 735048"/>
                <a:gd name="connsiteY0" fmla="*/ 0 h 270259"/>
                <a:gd name="connsiteX1" fmla="*/ 709540 w 735048"/>
                <a:gd name="connsiteY1" fmla="*/ 0 h 270259"/>
                <a:gd name="connsiteX2" fmla="*/ 661499 w 735048"/>
                <a:gd name="connsiteY2" fmla="*/ 87074 h 270259"/>
                <a:gd name="connsiteX3" fmla="*/ 735048 w 735048"/>
                <a:gd name="connsiteY3" fmla="*/ 168795 h 270259"/>
                <a:gd name="connsiteX4" fmla="*/ 587464 w 735048"/>
                <a:gd name="connsiteY4" fmla="*/ 270259 h 270259"/>
                <a:gd name="connsiteX5" fmla="*/ 556903 w 735048"/>
                <a:gd name="connsiteY5" fmla="*/ 270259 h 270259"/>
                <a:gd name="connsiteX6" fmla="*/ 557468 w 735048"/>
                <a:gd name="connsiteY6" fmla="*/ 269236 h 270259"/>
                <a:gd name="connsiteX7" fmla="*/ 134618 w 735048"/>
                <a:gd name="connsiteY7" fmla="*/ 269236 h 270259"/>
                <a:gd name="connsiteX8" fmla="*/ 0 w 735048"/>
                <a:gd name="connsiteY8" fmla="*/ 134618 h 270259"/>
                <a:gd name="connsiteX9" fmla="*/ 134618 w 735048"/>
                <a:gd name="connsiteY9" fmla="*/ 0 h 270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5048" h="270259">
                  <a:moveTo>
                    <a:pt x="134618" y="0"/>
                  </a:moveTo>
                  <a:lnTo>
                    <a:pt x="709540" y="0"/>
                  </a:lnTo>
                  <a:lnTo>
                    <a:pt x="661499" y="87074"/>
                  </a:lnTo>
                  <a:lnTo>
                    <a:pt x="735048" y="168795"/>
                  </a:lnTo>
                  <a:lnTo>
                    <a:pt x="587464" y="270259"/>
                  </a:lnTo>
                  <a:lnTo>
                    <a:pt x="556903" y="270259"/>
                  </a:lnTo>
                  <a:lnTo>
                    <a:pt x="557468" y="269236"/>
                  </a:lnTo>
                  <a:lnTo>
                    <a:pt x="134618" y="269236"/>
                  </a:lnTo>
                  <a:cubicBezTo>
                    <a:pt x="60271" y="269236"/>
                    <a:pt x="0" y="208965"/>
                    <a:pt x="0" y="134618"/>
                  </a:cubicBezTo>
                  <a:cubicBezTo>
                    <a:pt x="0" y="60271"/>
                    <a:pt x="60271" y="0"/>
                    <a:pt x="134618" y="0"/>
                  </a:cubicBezTo>
                  <a:close/>
                </a:path>
              </a:pathLst>
            </a:custGeom>
            <a:solidFill>
              <a:schemeClr val="tx1"/>
            </a:solidFill>
            <a:ln w="12700">
              <a:noFill/>
              <a:miter lim="800000"/>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Arial" panose="020B0604020202020204"/>
                  <a:ea typeface="+mn-ea"/>
                  <a:cs typeface="+mn-cs"/>
                </a:rPr>
                <a:t>       DC1</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6" name="Freeform 45">
              <a:extLst>
                <a:ext uri="{FF2B5EF4-FFF2-40B4-BE49-F238E27FC236}">
                  <a16:creationId xmlns:a16="http://schemas.microsoft.com/office/drawing/2014/main" id="{0D1F5F74-ED7F-8717-B8C0-D7904384BBF5}"/>
                </a:ext>
              </a:extLst>
            </p:cNvPr>
            <p:cNvSpPr/>
            <p:nvPr/>
          </p:nvSpPr>
          <p:spPr bwMode="gray">
            <a:xfrm rot="20997256">
              <a:off x="3738869" y="2707291"/>
              <a:ext cx="346889" cy="216000"/>
            </a:xfrm>
            <a:custGeom>
              <a:avLst/>
              <a:gdLst>
                <a:gd name="connsiteX0" fmla="*/ 119180 w 346889"/>
                <a:gd name="connsiteY0" fmla="*/ 0 h 269236"/>
                <a:gd name="connsiteX1" fmla="*/ 212271 w 346889"/>
                <a:gd name="connsiteY1" fmla="*/ 0 h 269236"/>
                <a:gd name="connsiteX2" fmla="*/ 346889 w 346889"/>
                <a:gd name="connsiteY2" fmla="*/ 134618 h 269236"/>
                <a:gd name="connsiteX3" fmla="*/ 212271 w 346889"/>
                <a:gd name="connsiteY3" fmla="*/ 269236 h 269236"/>
                <a:gd name="connsiteX4" fmla="*/ 0 w 346889"/>
                <a:gd name="connsiteY4" fmla="*/ 269236 h 269236"/>
                <a:gd name="connsiteX5" fmla="*/ 147584 w 346889"/>
                <a:gd name="connsiteY5" fmla="*/ 167772 h 269236"/>
                <a:gd name="connsiteX6" fmla="*/ 73776 w 346889"/>
                <a:gd name="connsiteY6" fmla="*/ 85763 h 269236"/>
                <a:gd name="connsiteX7" fmla="*/ 119180 w 346889"/>
                <a:gd name="connsiteY7" fmla="*/ 0 h 26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6889" h="269236">
                  <a:moveTo>
                    <a:pt x="119180" y="0"/>
                  </a:moveTo>
                  <a:lnTo>
                    <a:pt x="212271" y="0"/>
                  </a:lnTo>
                  <a:cubicBezTo>
                    <a:pt x="286618" y="0"/>
                    <a:pt x="346889" y="60271"/>
                    <a:pt x="346889" y="134618"/>
                  </a:cubicBezTo>
                  <a:cubicBezTo>
                    <a:pt x="346889" y="208965"/>
                    <a:pt x="286618" y="269236"/>
                    <a:pt x="212271" y="269236"/>
                  </a:cubicBezTo>
                  <a:lnTo>
                    <a:pt x="0" y="269236"/>
                  </a:lnTo>
                  <a:lnTo>
                    <a:pt x="147584" y="167772"/>
                  </a:lnTo>
                  <a:lnTo>
                    <a:pt x="73776" y="85763"/>
                  </a:lnTo>
                  <a:lnTo>
                    <a:pt x="119180" y="0"/>
                  </a:lnTo>
                  <a:close/>
                </a:path>
              </a:pathLst>
            </a:custGeom>
            <a:solidFill>
              <a:schemeClr val="tx1"/>
            </a:solidFill>
            <a:ln w="12700">
              <a:noFill/>
              <a:miter lim="800000"/>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15" name="Group 14">
            <a:extLst>
              <a:ext uri="{FF2B5EF4-FFF2-40B4-BE49-F238E27FC236}">
                <a16:creationId xmlns:a16="http://schemas.microsoft.com/office/drawing/2014/main" id="{1926BD2C-9EC4-8301-D817-0DBDFBE68FBC}"/>
              </a:ext>
            </a:extLst>
          </p:cNvPr>
          <p:cNvGrpSpPr/>
          <p:nvPr/>
        </p:nvGrpSpPr>
        <p:grpSpPr>
          <a:xfrm>
            <a:off x="3765254" y="2554315"/>
            <a:ext cx="253986" cy="253986"/>
            <a:chOff x="2008163" y="2122216"/>
            <a:chExt cx="530226" cy="530226"/>
          </a:xfrm>
        </p:grpSpPr>
        <p:sp>
          <p:nvSpPr>
            <p:cNvPr id="24" name="Google Shape;1802;p69">
              <a:extLst>
                <a:ext uri="{FF2B5EF4-FFF2-40B4-BE49-F238E27FC236}">
                  <a16:creationId xmlns:a16="http://schemas.microsoft.com/office/drawing/2014/main" id="{0D9913D0-FE8B-146B-5BC0-136515DF6A95}"/>
                </a:ext>
              </a:extLst>
            </p:cNvPr>
            <p:cNvSpPr/>
            <p:nvPr/>
          </p:nvSpPr>
          <p:spPr>
            <a:xfrm>
              <a:off x="2008163" y="2122216"/>
              <a:ext cx="530226" cy="5302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sp>
          <p:nvSpPr>
            <p:cNvPr id="25" name="Google Shape;1803;p69">
              <a:extLst>
                <a:ext uri="{FF2B5EF4-FFF2-40B4-BE49-F238E27FC236}">
                  <a16:creationId xmlns:a16="http://schemas.microsoft.com/office/drawing/2014/main" id="{DBE62651-9D85-1E70-843A-CAC02416CC6A}"/>
                </a:ext>
              </a:extLst>
            </p:cNvPr>
            <p:cNvSpPr/>
            <p:nvPr/>
          </p:nvSpPr>
          <p:spPr>
            <a:xfrm>
              <a:off x="2123019" y="2236966"/>
              <a:ext cx="300514" cy="300725"/>
            </a:xfrm>
            <a:custGeom>
              <a:avLst/>
              <a:gdLst/>
              <a:ahLst/>
              <a:cxnLst/>
              <a:rect l="l" t="t" r="r" b="b"/>
              <a:pathLst>
                <a:path w="682595" h="683075" extrusionOk="0">
                  <a:moveTo>
                    <a:pt x="210738" y="294991"/>
                  </a:moveTo>
                  <a:lnTo>
                    <a:pt x="228711" y="294991"/>
                  </a:lnTo>
                  <a:lnTo>
                    <a:pt x="257969" y="370973"/>
                  </a:lnTo>
                  <a:lnTo>
                    <a:pt x="286713" y="294991"/>
                  </a:lnTo>
                  <a:lnTo>
                    <a:pt x="304723" y="294991"/>
                  </a:lnTo>
                  <a:lnTo>
                    <a:pt x="265593" y="390215"/>
                  </a:lnTo>
                  <a:lnTo>
                    <a:pt x="250394" y="390215"/>
                  </a:lnTo>
                  <a:close/>
                  <a:moveTo>
                    <a:pt x="378083" y="292859"/>
                  </a:moveTo>
                  <a:cubicBezTo>
                    <a:pt x="385696" y="292859"/>
                    <a:pt x="392356" y="294930"/>
                    <a:pt x="398065" y="299070"/>
                  </a:cubicBezTo>
                  <a:cubicBezTo>
                    <a:pt x="403775" y="303211"/>
                    <a:pt x="407152" y="308360"/>
                    <a:pt x="408199" y="314517"/>
                  </a:cubicBezTo>
                  <a:cubicBezTo>
                    <a:pt x="408787" y="308654"/>
                    <a:pt x="411886" y="303579"/>
                    <a:pt x="417498" y="299291"/>
                  </a:cubicBezTo>
                  <a:cubicBezTo>
                    <a:pt x="423109" y="295003"/>
                    <a:pt x="429736" y="292859"/>
                    <a:pt x="437378" y="292859"/>
                  </a:cubicBezTo>
                  <a:cubicBezTo>
                    <a:pt x="443995" y="292859"/>
                    <a:pt x="449937" y="294458"/>
                    <a:pt x="455204" y="297656"/>
                  </a:cubicBezTo>
                  <a:cubicBezTo>
                    <a:pt x="460471" y="300855"/>
                    <a:pt x="464563" y="305278"/>
                    <a:pt x="467481" y="310926"/>
                  </a:cubicBezTo>
                  <a:cubicBezTo>
                    <a:pt x="470398" y="316573"/>
                    <a:pt x="471857" y="322930"/>
                    <a:pt x="471857" y="329996"/>
                  </a:cubicBezTo>
                  <a:lnTo>
                    <a:pt x="471857" y="390215"/>
                  </a:lnTo>
                  <a:lnTo>
                    <a:pt x="454921" y="390215"/>
                  </a:lnTo>
                  <a:lnTo>
                    <a:pt x="454921" y="331772"/>
                  </a:lnTo>
                  <a:cubicBezTo>
                    <a:pt x="454921" y="324793"/>
                    <a:pt x="453091" y="319118"/>
                    <a:pt x="449431" y="314749"/>
                  </a:cubicBezTo>
                  <a:cubicBezTo>
                    <a:pt x="445771" y="310379"/>
                    <a:pt x="441163" y="308194"/>
                    <a:pt x="435605" y="308194"/>
                  </a:cubicBezTo>
                  <a:cubicBezTo>
                    <a:pt x="428762" y="308194"/>
                    <a:pt x="423210" y="310243"/>
                    <a:pt x="418950" y="314340"/>
                  </a:cubicBezTo>
                  <a:cubicBezTo>
                    <a:pt x="414689" y="318437"/>
                    <a:pt x="412559" y="323656"/>
                    <a:pt x="412559" y="329996"/>
                  </a:cubicBezTo>
                  <a:lnTo>
                    <a:pt x="412559" y="390215"/>
                  </a:lnTo>
                  <a:lnTo>
                    <a:pt x="395624" y="390215"/>
                  </a:lnTo>
                  <a:lnTo>
                    <a:pt x="395624" y="331772"/>
                  </a:lnTo>
                  <a:cubicBezTo>
                    <a:pt x="395624" y="324793"/>
                    <a:pt x="393794" y="319118"/>
                    <a:pt x="390135" y="314749"/>
                  </a:cubicBezTo>
                  <a:cubicBezTo>
                    <a:pt x="386476" y="310379"/>
                    <a:pt x="381867" y="308194"/>
                    <a:pt x="376307" y="308194"/>
                  </a:cubicBezTo>
                  <a:cubicBezTo>
                    <a:pt x="369464" y="308194"/>
                    <a:pt x="363913" y="310243"/>
                    <a:pt x="359652" y="314340"/>
                  </a:cubicBezTo>
                  <a:cubicBezTo>
                    <a:pt x="355392" y="318437"/>
                    <a:pt x="353261" y="323656"/>
                    <a:pt x="353261" y="329996"/>
                  </a:cubicBezTo>
                  <a:lnTo>
                    <a:pt x="353261" y="390215"/>
                  </a:lnTo>
                  <a:lnTo>
                    <a:pt x="336326" y="390215"/>
                  </a:lnTo>
                  <a:lnTo>
                    <a:pt x="336326" y="294991"/>
                  </a:lnTo>
                  <a:lnTo>
                    <a:pt x="353261" y="294991"/>
                  </a:lnTo>
                  <a:lnTo>
                    <a:pt x="353261" y="308301"/>
                  </a:lnTo>
                  <a:cubicBezTo>
                    <a:pt x="353452" y="303930"/>
                    <a:pt x="356036" y="300263"/>
                    <a:pt x="361015" y="297302"/>
                  </a:cubicBezTo>
                  <a:cubicBezTo>
                    <a:pt x="365994" y="294340"/>
                    <a:pt x="371683" y="292859"/>
                    <a:pt x="378083" y="292859"/>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panose="020B0604020202020204"/>
                <a:ea typeface="Arial"/>
                <a:cs typeface="Arial"/>
                <a:sym typeface="Arial"/>
              </a:endParaRPr>
            </a:p>
          </p:txBody>
        </p:sp>
      </p:grpSp>
    </p:spTree>
    <p:extLst>
      <p:ext uri="{BB962C8B-B14F-4D97-AF65-F5344CB8AC3E}">
        <p14:creationId xmlns:p14="http://schemas.microsoft.com/office/powerpoint/2010/main" val="1272759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6"/>
                                        </p:tgtEl>
                                        <p:attrNameLst>
                                          <p:attrName>style.visibility</p:attrName>
                                        </p:attrNameLst>
                                      </p:cBhvr>
                                      <p:to>
                                        <p:strVal val="hidden"/>
                                      </p:to>
                                    </p:set>
                                  </p:childTnLst>
                                </p:cTn>
                              </p:par>
                              <p:par>
                                <p:cTn id="7" presetID="42" presetClass="path" presetSubtype="0" accel="50000" decel="50000" fill="hold" nodeType="withEffect">
                                  <p:stCondLst>
                                    <p:cond delay="0"/>
                                  </p:stCondLst>
                                  <p:childTnLst>
                                    <p:animMotion origin="layout" path="M 2.16463E-6 -3.7037E-7 L -0.12269 0.00069 " pathEditMode="relative" rAng="0" ptsTypes="AA">
                                      <p:cBhvr>
                                        <p:cTn id="8" dur="500" fill="hold"/>
                                        <p:tgtEl>
                                          <p:spTgt spid="85"/>
                                        </p:tgtEl>
                                        <p:attrNameLst>
                                          <p:attrName>ppt_x</p:attrName>
                                          <p:attrName>ppt_y</p:attrName>
                                        </p:attrNameLst>
                                      </p:cBhvr>
                                      <p:rCtr x="-6134" y="23"/>
                                    </p:animMotion>
                                  </p:childTnLst>
                                </p:cTn>
                              </p:par>
                              <p:par>
                                <p:cTn id="9" presetID="42" presetClass="path" presetSubtype="0" accel="50000" decel="50000" fill="hold" nodeType="withEffect">
                                  <p:stCondLst>
                                    <p:cond delay="0"/>
                                  </p:stCondLst>
                                  <p:childTnLst>
                                    <p:animMotion origin="layout" path="M 3.47486E-6 2.22222E-6 L 0.06525 0.00069 " pathEditMode="relative" rAng="0" ptsTypes="AA">
                                      <p:cBhvr>
                                        <p:cTn id="10" dur="500" fill="hold"/>
                                        <p:tgtEl>
                                          <p:spTgt spid="75"/>
                                        </p:tgtEl>
                                        <p:attrNameLst>
                                          <p:attrName>ppt_x</p:attrName>
                                          <p:attrName>ppt_y</p:attrName>
                                        </p:attrNameLst>
                                      </p:cBhvr>
                                      <p:rCtr x="3256" y="23"/>
                                    </p:animMotion>
                                  </p:childTnLst>
                                </p:cTn>
                              </p:par>
                              <p:par>
                                <p:cTn id="11" presetID="42" presetClass="path" presetSubtype="0" accel="50000" decel="50000" fill="hold" nodeType="withEffect">
                                  <p:stCondLst>
                                    <p:cond delay="0"/>
                                  </p:stCondLst>
                                  <p:childTnLst>
                                    <p:animMotion origin="layout" path="M 1.09664E-6 -5.55112E-17 L -0.12204 0.00023 " pathEditMode="relative" rAng="0" ptsTypes="AA">
                                      <p:cBhvr>
                                        <p:cTn id="12" dur="500" fill="hold"/>
                                        <p:tgtEl>
                                          <p:spTgt spid="130"/>
                                        </p:tgtEl>
                                        <p:attrNameLst>
                                          <p:attrName>ppt_x</p:attrName>
                                          <p:attrName>ppt_y</p:attrName>
                                        </p:attrNameLst>
                                      </p:cBhvr>
                                      <p:rCtr x="-6108" y="0"/>
                                    </p:animMotion>
                                  </p:childTnLst>
                                </p:cTn>
                              </p:par>
                              <p:par>
                                <p:cTn id="13" presetID="42" presetClass="path" presetSubtype="0" accel="50000" decel="50000" fill="hold" nodeType="withEffect">
                                  <p:stCondLst>
                                    <p:cond delay="0"/>
                                  </p:stCondLst>
                                  <p:childTnLst>
                                    <p:animMotion origin="layout" path="M 3.42277E-6 -2.22222E-6 L -0.18898 -0.00023 " pathEditMode="relative" rAng="0" ptsTypes="AA">
                                      <p:cBhvr>
                                        <p:cTn id="14" dur="500" fill="hold"/>
                                        <p:tgtEl>
                                          <p:spTgt spid="143"/>
                                        </p:tgtEl>
                                        <p:attrNameLst>
                                          <p:attrName>ppt_x</p:attrName>
                                          <p:attrName>ppt_y</p:attrName>
                                        </p:attrNameLst>
                                      </p:cBhvr>
                                      <p:rCtr x="-9456" y="-23"/>
                                    </p:animMotion>
                                  </p:childTnLst>
                                </p:cTn>
                              </p:par>
                            </p:childTnLst>
                          </p:cTn>
                        </p:par>
                        <p:par>
                          <p:cTn id="15" fill="hold">
                            <p:stCondLst>
                              <p:cond delay="500"/>
                            </p:stCondLst>
                            <p:childTnLst>
                              <p:par>
                                <p:cTn id="16" presetID="1" presetClass="entr" presetSubtype="0" fill="hold" nodeType="afterEffect">
                                  <p:stCondLst>
                                    <p:cond delay="0"/>
                                  </p:stCondLst>
                                  <p:childTnLst>
                                    <p:set>
                                      <p:cBhvr>
                                        <p:cTn id="17" dur="1" fill="hold">
                                          <p:stCondLst>
                                            <p:cond delay="0"/>
                                          </p:stCondLst>
                                        </p:cTn>
                                        <p:tgtEl>
                                          <p:spTgt spid="5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 presetClass="entr" presetSubtype="0" fill="hold" nodeType="withEffect">
                                  <p:stCondLst>
                                    <p:cond delay="0"/>
                                  </p:stCondLst>
                                  <p:childTnLst>
                                    <p:set>
                                      <p:cBhvr>
                                        <p:cTn id="24" dur="1" fill="hold">
                                          <p:stCondLst>
                                            <p:cond delay="0"/>
                                          </p:stCondLst>
                                        </p:cTn>
                                        <p:tgtEl>
                                          <p:spTgt spid="17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par>
                                <p:cTn id="33" presetID="22" presetClass="entr" presetSubtype="8"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wipe(left)">
                                      <p:cBhvr>
                                        <p:cTn id="35" dur="500"/>
                                        <p:tgtEl>
                                          <p:spTgt spid="21"/>
                                        </p:tgtEl>
                                      </p:cBhvr>
                                    </p:animEffect>
                                  </p:childTnLst>
                                </p:cTn>
                              </p:par>
                            </p:childTnLst>
                          </p:cTn>
                        </p:par>
                        <p:par>
                          <p:cTn id="36" fill="hold">
                            <p:stCondLst>
                              <p:cond delay="500"/>
                            </p:stCondLst>
                            <p:childTnLst>
                              <p:par>
                                <p:cTn id="37" presetID="10" presetClass="entr" presetSubtype="0" fill="hold" nodeType="afterEffect">
                                  <p:stCondLst>
                                    <p:cond delay="0"/>
                                  </p:stCondLst>
                                  <p:childTnLst>
                                    <p:set>
                                      <p:cBhvr>
                                        <p:cTn id="38" dur="1" fill="hold">
                                          <p:stCondLst>
                                            <p:cond delay="0"/>
                                          </p:stCondLst>
                                        </p:cTn>
                                        <p:tgtEl>
                                          <p:spTgt spid="175"/>
                                        </p:tgtEl>
                                        <p:attrNameLst>
                                          <p:attrName>style.visibility</p:attrName>
                                        </p:attrNameLst>
                                      </p:cBhvr>
                                      <p:to>
                                        <p:strVal val="visible"/>
                                      </p:to>
                                    </p:set>
                                    <p:animEffect transition="in" filter="fade">
                                      <p:cBhvr>
                                        <p:cTn id="39" dur="500"/>
                                        <p:tgtEl>
                                          <p:spTgt spid="17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500"/>
                                        <p:tgtEl>
                                          <p:spTgt spid="2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00"/>
                                        <p:tgtEl>
                                          <p:spTgt spid="3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500"/>
                                        <p:tgtEl>
                                          <p:spTgt spid="32"/>
                                        </p:tgtEl>
                                      </p:cBhvr>
                                    </p:animEffect>
                                  </p:childTnLst>
                                </p:cTn>
                              </p:par>
                              <p:par>
                                <p:cTn id="57" presetID="10" presetClass="entr" presetSubtype="0" fill="hold" nodeType="withEffect">
                                  <p:stCondLst>
                                    <p:cond delay="0"/>
                                  </p:stCondLst>
                                  <p:childTnLst>
                                    <p:set>
                                      <p:cBhvr>
                                        <p:cTn id="58" dur="1" fill="hold">
                                          <p:stCondLst>
                                            <p:cond delay="0"/>
                                          </p:stCondLst>
                                        </p:cTn>
                                        <p:tgtEl>
                                          <p:spTgt spid="110"/>
                                        </p:tgtEl>
                                        <p:attrNameLst>
                                          <p:attrName>style.visibility</p:attrName>
                                        </p:attrNameLst>
                                      </p:cBhvr>
                                      <p:to>
                                        <p:strVal val="visible"/>
                                      </p:to>
                                    </p:set>
                                    <p:animEffect transition="in" filter="fade">
                                      <p:cBhvr>
                                        <p:cTn id="59" dur="500"/>
                                        <p:tgtEl>
                                          <p:spTgt spid="110"/>
                                        </p:tgtEl>
                                      </p:cBhvr>
                                    </p:animEffect>
                                  </p:childTnLst>
                                </p:cTn>
                              </p:par>
                              <p:par>
                                <p:cTn id="60" presetID="10" presetClass="entr" presetSubtype="0" fill="hold" nodeType="withEffect">
                                  <p:stCondLst>
                                    <p:cond delay="0"/>
                                  </p:stCondLst>
                                  <p:childTnLst>
                                    <p:set>
                                      <p:cBhvr>
                                        <p:cTn id="61" dur="1" fill="hold">
                                          <p:stCondLst>
                                            <p:cond delay="0"/>
                                          </p:stCondLst>
                                        </p:cTn>
                                        <p:tgtEl>
                                          <p:spTgt spid="111"/>
                                        </p:tgtEl>
                                        <p:attrNameLst>
                                          <p:attrName>style.visibility</p:attrName>
                                        </p:attrNameLst>
                                      </p:cBhvr>
                                      <p:to>
                                        <p:strVal val="visible"/>
                                      </p:to>
                                    </p:set>
                                    <p:animEffect transition="in" filter="fade">
                                      <p:cBhvr>
                                        <p:cTn id="62" dur="500"/>
                                        <p:tgtEl>
                                          <p:spTgt spid="111"/>
                                        </p:tgtEl>
                                      </p:cBhvr>
                                    </p:animEffect>
                                  </p:childTnLst>
                                </p:cTn>
                              </p:par>
                              <p:par>
                                <p:cTn id="63" presetID="1" presetClass="entr" presetSubtype="0" fill="hold" nodeType="withEffect">
                                  <p:stCondLst>
                                    <p:cond delay="0"/>
                                  </p:stCondLst>
                                  <p:childTnLst>
                                    <p:set>
                                      <p:cBhvr>
                                        <p:cTn id="64" dur="1" fill="hold">
                                          <p:stCondLst>
                                            <p:cond delay="0"/>
                                          </p:stCondLst>
                                        </p:cTn>
                                        <p:tgtEl>
                                          <p:spTgt spid="4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0" presetClass="exit" presetSubtype="0" fill="hold" grpId="1" nodeType="clickEffect">
                                  <p:stCondLst>
                                    <p:cond delay="0"/>
                                  </p:stCondLst>
                                  <p:childTnLst>
                                    <p:animEffect transition="out" filter="fade">
                                      <p:cBhvr>
                                        <p:cTn id="68" dur="500"/>
                                        <p:tgtEl>
                                          <p:spTgt spid="20"/>
                                        </p:tgtEl>
                                      </p:cBhvr>
                                    </p:animEffect>
                                    <p:set>
                                      <p:cBhvr>
                                        <p:cTn id="69" dur="1" fill="hold">
                                          <p:stCondLst>
                                            <p:cond delay="499"/>
                                          </p:stCondLst>
                                        </p:cTn>
                                        <p:tgtEl>
                                          <p:spTgt spid="20"/>
                                        </p:tgtEl>
                                        <p:attrNameLst>
                                          <p:attrName>style.visibility</p:attrName>
                                        </p:attrNameLst>
                                      </p:cBhvr>
                                      <p:to>
                                        <p:strVal val="hidden"/>
                                      </p:to>
                                    </p:set>
                                  </p:childTnLst>
                                </p:cTn>
                              </p:par>
                              <p:par>
                                <p:cTn id="70" presetID="10" presetClass="entr" presetSubtype="0" fill="hold" nodeType="with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500"/>
                                        <p:tgtEl>
                                          <p:spTgt spid="22"/>
                                        </p:tgtEl>
                                      </p:cBhvr>
                                    </p:animEffect>
                                  </p:childTnLst>
                                </p:cTn>
                              </p:par>
                            </p:childTnLst>
                          </p:cTn>
                        </p:par>
                        <p:par>
                          <p:cTn id="73" fill="hold">
                            <p:stCondLst>
                              <p:cond delay="500"/>
                            </p:stCondLst>
                            <p:childTnLst>
                              <p:par>
                                <p:cTn id="74" presetID="1" presetClass="entr" presetSubtype="0" fill="hold" grpId="0" nodeType="afterEffect">
                                  <p:stCondLst>
                                    <p:cond delay="0"/>
                                  </p:stCondLst>
                                  <p:childTnLst>
                                    <p:set>
                                      <p:cBhvr>
                                        <p:cTn id="75" dur="1" fill="hold">
                                          <p:stCondLst>
                                            <p:cond delay="0"/>
                                          </p:stCondLst>
                                        </p:cTn>
                                        <p:tgtEl>
                                          <p:spTgt spid="181"/>
                                        </p:tgtEl>
                                        <p:attrNameLst>
                                          <p:attrName>style.visibility</p:attrName>
                                        </p:attrNameLst>
                                      </p:cBhvr>
                                      <p:to>
                                        <p:strVal val="visible"/>
                                      </p:to>
                                    </p:set>
                                  </p:childTnLst>
                                </p:cTn>
                              </p:par>
                            </p:childTnLst>
                          </p:cTn>
                        </p:par>
                        <p:par>
                          <p:cTn id="76" fill="hold">
                            <p:stCondLst>
                              <p:cond delay="500"/>
                            </p:stCondLst>
                            <p:childTnLst>
                              <p:par>
                                <p:cTn id="77" presetID="9" presetClass="exit" presetSubtype="0" fill="hold" nodeType="afterEffect">
                                  <p:stCondLst>
                                    <p:cond delay="0"/>
                                  </p:stCondLst>
                                  <p:childTnLst>
                                    <p:animEffect transition="out" filter="dissolve">
                                      <p:cBhvr>
                                        <p:cTn id="78" dur="500"/>
                                        <p:tgtEl>
                                          <p:spTgt spid="111"/>
                                        </p:tgtEl>
                                      </p:cBhvr>
                                    </p:animEffect>
                                    <p:set>
                                      <p:cBhvr>
                                        <p:cTn id="79" dur="1" fill="hold">
                                          <p:stCondLst>
                                            <p:cond delay="499"/>
                                          </p:stCondLst>
                                        </p:cTn>
                                        <p:tgtEl>
                                          <p:spTgt spid="111"/>
                                        </p:tgtEl>
                                        <p:attrNameLst>
                                          <p:attrName>style.visibility</p:attrName>
                                        </p:attrNameLst>
                                      </p:cBhvr>
                                      <p:to>
                                        <p:strVal val="hidden"/>
                                      </p:to>
                                    </p:set>
                                  </p:childTnLst>
                                </p:cTn>
                              </p:par>
                            </p:childTnLst>
                          </p:cTn>
                        </p:par>
                        <p:par>
                          <p:cTn id="80" fill="hold">
                            <p:stCondLst>
                              <p:cond delay="1000"/>
                            </p:stCondLst>
                            <p:childTnLst>
                              <p:par>
                                <p:cTn id="81" presetID="10" presetClass="entr" presetSubtype="0" fill="hold" nodeType="afterEffect">
                                  <p:stCondLst>
                                    <p:cond delay="0"/>
                                  </p:stCondLst>
                                  <p:childTnLst>
                                    <p:set>
                                      <p:cBhvr>
                                        <p:cTn id="82" dur="1" fill="hold">
                                          <p:stCondLst>
                                            <p:cond delay="0"/>
                                          </p:stCondLst>
                                        </p:cTn>
                                        <p:tgtEl>
                                          <p:spTgt spid="112"/>
                                        </p:tgtEl>
                                        <p:attrNameLst>
                                          <p:attrName>style.visibility</p:attrName>
                                        </p:attrNameLst>
                                      </p:cBhvr>
                                      <p:to>
                                        <p:strVal val="visible"/>
                                      </p:to>
                                    </p:set>
                                    <p:animEffect transition="in" filter="fade">
                                      <p:cBhvr>
                                        <p:cTn id="83" dur="500"/>
                                        <p:tgtEl>
                                          <p:spTgt spid="112"/>
                                        </p:tgtEl>
                                      </p:cBhvr>
                                    </p:animEffect>
                                  </p:childTnLst>
                                </p:cTn>
                              </p:par>
                              <p:par>
                                <p:cTn id="84" presetID="1" presetClass="exit" presetSubtype="0" fill="hold" nodeType="withEffect">
                                  <p:stCondLst>
                                    <p:cond delay="0"/>
                                  </p:stCondLst>
                                  <p:childTnLst>
                                    <p:set>
                                      <p:cBhvr>
                                        <p:cTn id="85" dur="1" fill="hold">
                                          <p:stCondLst>
                                            <p:cond delay="0"/>
                                          </p:stCondLst>
                                        </p:cTn>
                                        <p:tgtEl>
                                          <p:spTgt spid="110"/>
                                        </p:tgtEl>
                                        <p:attrNameLst>
                                          <p:attrName>style.visibility</p:attrName>
                                        </p:attrNameLst>
                                      </p:cBhvr>
                                      <p:to>
                                        <p:strVal val="hidden"/>
                                      </p:to>
                                    </p:se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19"/>
                                        </p:tgtEl>
                                        <p:attrNameLst>
                                          <p:attrName>style.visibility</p:attrName>
                                        </p:attrNameLst>
                                      </p:cBhvr>
                                      <p:to>
                                        <p:strVal val="visible"/>
                                      </p:to>
                                    </p:set>
                                    <p:animEffect transition="in" filter="fade">
                                      <p:cBhvr>
                                        <p:cTn id="90" dur="500"/>
                                        <p:tgtEl>
                                          <p:spTgt spid="19"/>
                                        </p:tgtEl>
                                      </p:cBhvr>
                                    </p:animEffect>
                                  </p:childTnLst>
                                </p:cTn>
                              </p:par>
                              <p:par>
                                <p:cTn id="91" presetID="10" presetClass="entr" presetSubtype="0" fill="hold" nodeType="withEffect">
                                  <p:stCondLst>
                                    <p:cond delay="0"/>
                                  </p:stCondLst>
                                  <p:childTnLst>
                                    <p:set>
                                      <p:cBhvr>
                                        <p:cTn id="92" dur="1" fill="hold">
                                          <p:stCondLst>
                                            <p:cond delay="0"/>
                                          </p:stCondLst>
                                        </p:cTn>
                                        <p:tgtEl>
                                          <p:spTgt spid="104"/>
                                        </p:tgtEl>
                                        <p:attrNameLst>
                                          <p:attrName>style.visibility</p:attrName>
                                        </p:attrNameLst>
                                      </p:cBhvr>
                                      <p:to>
                                        <p:strVal val="visible"/>
                                      </p:to>
                                    </p:set>
                                    <p:animEffect transition="in" filter="fade">
                                      <p:cBhvr>
                                        <p:cTn id="93"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9" grpId="0" animBg="1"/>
      <p:bldP spid="31" grpId="0" animBg="1"/>
      <p:bldP spid="32" grpId="0" animBg="1"/>
      <p:bldP spid="181" grpId="0" animBg="1"/>
      <p:bldP spid="20" grpId="0" animBg="1"/>
      <p:bldP spid="20" grpId="1"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6F5A9-2DF9-B4C0-204F-CFD2E1F30410}"/>
            </a:ext>
          </a:extLst>
        </p:cNvPr>
        <p:cNvGrpSpPr/>
        <p:nvPr/>
      </p:nvGrpSpPr>
      <p:grpSpPr>
        <a:xfrm>
          <a:off x="0" y="0"/>
          <a:ext cx="0" cy="0"/>
          <a:chOff x="0" y="0"/>
          <a:chExt cx="0" cy="0"/>
        </a:xfrm>
      </p:grpSpPr>
      <p:grpSp>
        <p:nvGrpSpPr>
          <p:cNvPr id="103" name="Group 102">
            <a:extLst>
              <a:ext uri="{FF2B5EF4-FFF2-40B4-BE49-F238E27FC236}">
                <a16:creationId xmlns:a16="http://schemas.microsoft.com/office/drawing/2014/main" id="{9A3E9A46-26F4-4D99-1929-F27923B630EE}"/>
              </a:ext>
            </a:extLst>
          </p:cNvPr>
          <p:cNvGrpSpPr/>
          <p:nvPr/>
        </p:nvGrpSpPr>
        <p:grpSpPr>
          <a:xfrm>
            <a:off x="5014760" y="3474720"/>
            <a:ext cx="2194560" cy="1160680"/>
            <a:chOff x="5014760" y="3474720"/>
            <a:chExt cx="2194560" cy="1160680"/>
          </a:xfrm>
        </p:grpSpPr>
        <p:sp>
          <p:nvSpPr>
            <p:cNvPr id="101" name="Rounded Rectangle 100">
              <a:extLst>
                <a:ext uri="{FF2B5EF4-FFF2-40B4-BE49-F238E27FC236}">
                  <a16:creationId xmlns:a16="http://schemas.microsoft.com/office/drawing/2014/main" id="{D4C15511-4B6C-C727-A110-A124D7A221A6}"/>
                </a:ext>
              </a:extLst>
            </p:cNvPr>
            <p:cNvSpPr/>
            <p:nvPr/>
          </p:nvSpPr>
          <p:spPr bwMode="gray">
            <a:xfrm>
              <a:off x="5014760" y="3474720"/>
              <a:ext cx="2194560" cy="1068404"/>
            </a:xfrm>
            <a:prstGeom prst="roundRect">
              <a:avLst>
                <a:gd name="adj" fmla="val 6757"/>
              </a:avLst>
            </a:prstGeom>
            <a:noFill/>
            <a:ln w="12700">
              <a:solidFill>
                <a:schemeClr val="accent3"/>
              </a:solidFill>
              <a:prstDash val="sysDash"/>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02" name="TextBox 101">
              <a:extLst>
                <a:ext uri="{FF2B5EF4-FFF2-40B4-BE49-F238E27FC236}">
                  <a16:creationId xmlns:a16="http://schemas.microsoft.com/office/drawing/2014/main" id="{3799E026-937E-4DCE-91DD-35D1A5A67797}"/>
                </a:ext>
              </a:extLst>
            </p:cNvPr>
            <p:cNvSpPr txBox="1"/>
            <p:nvPr/>
          </p:nvSpPr>
          <p:spPr>
            <a:xfrm>
              <a:off x="5727058" y="4466123"/>
              <a:ext cx="829368" cy="169277"/>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5C8A"/>
                  </a:solidFill>
                  <a:effectLst/>
                  <a:uLnTx/>
                  <a:uFillTx/>
                  <a:latin typeface="Arial" panose="020B0604020202020204"/>
                  <a:ea typeface="+mn-ea"/>
                  <a:cs typeface="+mn-cs"/>
                </a:rPr>
                <a:t>Edge Cluster</a:t>
              </a:r>
            </a:p>
          </p:txBody>
        </p:sp>
      </p:grpSp>
      <p:sp>
        <p:nvSpPr>
          <p:cNvPr id="3" name="!!BOTTOM">
            <a:extLst>
              <a:ext uri="{FF2B5EF4-FFF2-40B4-BE49-F238E27FC236}">
                <a16:creationId xmlns:a16="http://schemas.microsoft.com/office/drawing/2014/main" id="{92F51200-165F-AB05-5E8D-0070F6B2D635}"/>
              </a:ext>
            </a:extLst>
          </p:cNvPr>
          <p:cNvSpPr/>
          <p:nvPr/>
        </p:nvSpPr>
        <p:spPr>
          <a:xfrm rot="10800000" flipV="1">
            <a:off x="627405" y="1600200"/>
            <a:ext cx="10953408" cy="1487103"/>
          </a:xfrm>
          <a:prstGeom prst="round2SameRect">
            <a:avLst>
              <a:gd name="adj1" fmla="val 7233"/>
              <a:gd name="adj2" fmla="val 0"/>
            </a:avLst>
          </a:prstGeom>
          <a:solidFill>
            <a:srgbClr val="E8E8EA"/>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rPr>
              <a:t>Physical Network Infrastructure</a:t>
            </a:r>
          </a:p>
        </p:txBody>
      </p:sp>
      <p:sp>
        <p:nvSpPr>
          <p:cNvPr id="4" name="!!TOP">
            <a:extLst>
              <a:ext uri="{FF2B5EF4-FFF2-40B4-BE49-F238E27FC236}">
                <a16:creationId xmlns:a16="http://schemas.microsoft.com/office/drawing/2014/main" id="{E97D81AB-3119-7B9E-9C6E-9307BA75D089}"/>
              </a:ext>
            </a:extLst>
          </p:cNvPr>
          <p:cNvSpPr/>
          <p:nvPr/>
        </p:nvSpPr>
        <p:spPr>
          <a:xfrm flipV="1">
            <a:off x="627406" y="3174959"/>
            <a:ext cx="10953407" cy="1741143"/>
          </a:xfrm>
          <a:prstGeom prst="round2SameRect">
            <a:avLst>
              <a:gd name="adj1" fmla="val 7233"/>
              <a:gd name="adj2" fmla="val 0"/>
            </a:avLst>
          </a:prstGeom>
          <a:solidFill>
            <a:schemeClr val="accent2">
              <a:alpha val="10000"/>
            </a:schemeClr>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endParaRPr>
          </a:p>
        </p:txBody>
      </p:sp>
      <p:sp>
        <p:nvSpPr>
          <p:cNvPr id="43" name="Rectangle: Rounded Corners 42">
            <a:extLst>
              <a:ext uri="{FF2B5EF4-FFF2-40B4-BE49-F238E27FC236}">
                <a16:creationId xmlns:a16="http://schemas.microsoft.com/office/drawing/2014/main" id="{307866C7-773A-6AC8-6DD4-4DF8E6C8E088}"/>
              </a:ext>
            </a:extLst>
          </p:cNvPr>
          <p:cNvSpPr/>
          <p:nvPr/>
        </p:nvSpPr>
        <p:spPr>
          <a:xfrm>
            <a:off x="1058931" y="3544503"/>
            <a:ext cx="911404" cy="915769"/>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109" name="Title 108">
            <a:extLst>
              <a:ext uri="{FF2B5EF4-FFF2-40B4-BE49-F238E27FC236}">
                <a16:creationId xmlns:a16="http://schemas.microsoft.com/office/drawing/2014/main" id="{5B16721C-1655-14F8-136E-C4F97D3915E8}"/>
              </a:ext>
            </a:extLst>
          </p:cNvPr>
          <p:cNvSpPr>
            <a:spLocks noGrp="1"/>
          </p:cNvSpPr>
          <p:nvPr>
            <p:ph type="title"/>
          </p:nvPr>
        </p:nvSpPr>
        <p:spPr/>
        <p:txBody>
          <a:bodyPr/>
          <a:lstStyle/>
          <a:p>
            <a:r>
              <a:rPr lang="en-US" dirty="0">
                <a:latin typeface="+mn-lt"/>
              </a:rPr>
              <a:t>NSX Components</a:t>
            </a:r>
          </a:p>
        </p:txBody>
      </p:sp>
      <p:sp>
        <p:nvSpPr>
          <p:cNvPr id="88" name="Rectangle: Rounded Corners 42">
            <a:extLst>
              <a:ext uri="{FF2B5EF4-FFF2-40B4-BE49-F238E27FC236}">
                <a16:creationId xmlns:a16="http://schemas.microsoft.com/office/drawing/2014/main" id="{640F3AC2-F716-5D05-42F6-3BD2A68ED83E}"/>
              </a:ext>
            </a:extLst>
          </p:cNvPr>
          <p:cNvSpPr/>
          <p:nvPr/>
        </p:nvSpPr>
        <p:spPr>
          <a:xfrm>
            <a:off x="2201683" y="3567882"/>
            <a:ext cx="923679" cy="906490"/>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89" name="Rectangle: Rounded Corners 42">
            <a:extLst>
              <a:ext uri="{FF2B5EF4-FFF2-40B4-BE49-F238E27FC236}">
                <a16:creationId xmlns:a16="http://schemas.microsoft.com/office/drawing/2014/main" id="{C9684355-677E-EFC8-43EC-DA9A497840E4}"/>
              </a:ext>
            </a:extLst>
          </p:cNvPr>
          <p:cNvSpPr/>
          <p:nvPr/>
        </p:nvSpPr>
        <p:spPr>
          <a:xfrm>
            <a:off x="3346739" y="3554132"/>
            <a:ext cx="923679" cy="904771"/>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91" name="Rectangle 90">
            <a:extLst>
              <a:ext uri="{FF2B5EF4-FFF2-40B4-BE49-F238E27FC236}">
                <a16:creationId xmlns:a16="http://schemas.microsoft.com/office/drawing/2014/main" id="{2D5EF19E-A8D1-C992-E545-0A2CE91B8E16}"/>
              </a:ext>
            </a:extLst>
          </p:cNvPr>
          <p:cNvSpPr/>
          <p:nvPr/>
        </p:nvSpPr>
        <p:spPr>
          <a:xfrm>
            <a:off x="-77002" y="4633021"/>
            <a:ext cx="5360611" cy="145424"/>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50" b="1" i="0" u="none" strike="noStrike" kern="1200" cap="all" spc="50" normalizeH="0" baseline="0" noProof="0" dirty="0">
                <a:ln>
                  <a:noFill/>
                </a:ln>
                <a:solidFill>
                  <a:prstClr val="black"/>
                </a:solidFill>
                <a:effectLst/>
                <a:uLnTx/>
                <a:uFillTx/>
                <a:latin typeface="Arial" panose="020B0604020202020204"/>
                <a:ea typeface="+mn-ea"/>
                <a:cs typeface="Arial"/>
              </a:rPr>
              <a:t>Vmware Cloud Foundation</a:t>
            </a:r>
          </a:p>
        </p:txBody>
      </p:sp>
      <p:pic>
        <p:nvPicPr>
          <p:cNvPr id="92" name="Picture 91">
            <a:extLst>
              <a:ext uri="{FF2B5EF4-FFF2-40B4-BE49-F238E27FC236}">
                <a16:creationId xmlns:a16="http://schemas.microsoft.com/office/drawing/2014/main" id="{0885E8F9-A701-CA04-2E0A-666FEB0C0B8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79505" y="4552389"/>
            <a:ext cx="348488" cy="295148"/>
          </a:xfrm>
          <a:prstGeom prst="rect">
            <a:avLst/>
          </a:prstGeom>
        </p:spPr>
      </p:pic>
      <p:sp>
        <p:nvSpPr>
          <p:cNvPr id="18" name="Rectangle: Rounded Corners 42">
            <a:extLst>
              <a:ext uri="{FF2B5EF4-FFF2-40B4-BE49-F238E27FC236}">
                <a16:creationId xmlns:a16="http://schemas.microsoft.com/office/drawing/2014/main" id="{86B96166-C1D7-967B-3087-F741032AFCF8}"/>
              </a:ext>
            </a:extLst>
          </p:cNvPr>
          <p:cNvSpPr/>
          <p:nvPr/>
        </p:nvSpPr>
        <p:spPr>
          <a:xfrm>
            <a:off x="9409609" y="3831951"/>
            <a:ext cx="923679" cy="486624"/>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007B8C"/>
              </a:solidFill>
              <a:effectLst/>
              <a:uLnTx/>
              <a:uFillTx/>
              <a:latin typeface="Arial" panose="020B0604020202020204"/>
              <a:ea typeface="+mn-ea"/>
              <a:cs typeface="+mn-cs"/>
            </a:endParaRPr>
          </a:p>
        </p:txBody>
      </p:sp>
      <p:sp>
        <p:nvSpPr>
          <p:cNvPr id="19" name="Rectangle: Rounded Corners 42">
            <a:extLst>
              <a:ext uri="{FF2B5EF4-FFF2-40B4-BE49-F238E27FC236}">
                <a16:creationId xmlns:a16="http://schemas.microsoft.com/office/drawing/2014/main" id="{8DFC4F5A-19A4-D7AB-18FF-7C4FE832D06A}"/>
              </a:ext>
            </a:extLst>
          </p:cNvPr>
          <p:cNvSpPr/>
          <p:nvPr/>
        </p:nvSpPr>
        <p:spPr>
          <a:xfrm>
            <a:off x="9574003" y="3680305"/>
            <a:ext cx="923679" cy="486624"/>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007B8C"/>
              </a:solidFill>
              <a:effectLst/>
              <a:uLnTx/>
              <a:uFillTx/>
              <a:latin typeface="Arial" panose="020B0604020202020204"/>
              <a:ea typeface="+mn-ea"/>
              <a:cs typeface="+mn-cs"/>
            </a:endParaRPr>
          </a:p>
        </p:txBody>
      </p:sp>
      <p:sp>
        <p:nvSpPr>
          <p:cNvPr id="22" name="Rectangle: Rounded Corners 42">
            <a:extLst>
              <a:ext uri="{FF2B5EF4-FFF2-40B4-BE49-F238E27FC236}">
                <a16:creationId xmlns:a16="http://schemas.microsoft.com/office/drawing/2014/main" id="{72541E4B-E7EC-8D18-FB52-267402743D49}"/>
              </a:ext>
            </a:extLst>
          </p:cNvPr>
          <p:cNvSpPr/>
          <p:nvPr/>
        </p:nvSpPr>
        <p:spPr>
          <a:xfrm>
            <a:off x="8372988" y="3544503"/>
            <a:ext cx="923679" cy="486624"/>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vCenter</a:t>
            </a:r>
          </a:p>
        </p:txBody>
      </p:sp>
      <p:sp>
        <p:nvSpPr>
          <p:cNvPr id="37" name="!!TextBox 75">
            <a:extLst>
              <a:ext uri="{FF2B5EF4-FFF2-40B4-BE49-F238E27FC236}">
                <a16:creationId xmlns:a16="http://schemas.microsoft.com/office/drawing/2014/main" id="{510D7763-5546-32C6-5263-658ACD4474C2}"/>
              </a:ext>
            </a:extLst>
          </p:cNvPr>
          <p:cNvSpPr txBox="1"/>
          <p:nvPr/>
        </p:nvSpPr>
        <p:spPr>
          <a:xfrm>
            <a:off x="9491412" y="2572350"/>
            <a:ext cx="1747319" cy="169277"/>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3F3F3F"/>
                </a:solidFill>
                <a:effectLst/>
                <a:uLnTx/>
                <a:uFillTx/>
                <a:latin typeface="Arial" panose="020B0604020202020204"/>
                <a:ea typeface="+mn-ea"/>
                <a:cs typeface="+mn-cs"/>
              </a:rPr>
              <a:t>VM Management Network</a:t>
            </a:r>
          </a:p>
        </p:txBody>
      </p:sp>
      <p:cxnSp>
        <p:nvCxnSpPr>
          <p:cNvPr id="39" name="Straight Connector 38">
            <a:extLst>
              <a:ext uri="{FF2B5EF4-FFF2-40B4-BE49-F238E27FC236}">
                <a16:creationId xmlns:a16="http://schemas.microsoft.com/office/drawing/2014/main" id="{DDF9691D-A011-5F9A-D2E5-F9B8ACFCE002}"/>
              </a:ext>
            </a:extLst>
          </p:cNvPr>
          <p:cNvCxnSpPr>
            <a:cxnSpLocks/>
            <a:endCxn id="22" idx="0"/>
          </p:cNvCxnSpPr>
          <p:nvPr/>
        </p:nvCxnSpPr>
        <p:spPr bwMode="gray">
          <a:xfrm>
            <a:off x="8834828" y="2776888"/>
            <a:ext cx="0" cy="767615"/>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55D6867-6040-BC1C-A6F0-00B782E6E30F}"/>
              </a:ext>
            </a:extLst>
          </p:cNvPr>
          <p:cNvCxnSpPr>
            <a:cxnSpLocks/>
          </p:cNvCxnSpPr>
          <p:nvPr/>
        </p:nvCxnSpPr>
        <p:spPr bwMode="gray">
          <a:xfrm>
            <a:off x="10209213" y="2776888"/>
            <a:ext cx="3284" cy="767615"/>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9BAB2D0C-255B-6691-2AAE-E797CE6133DE}"/>
              </a:ext>
            </a:extLst>
          </p:cNvPr>
          <p:cNvCxnSpPr>
            <a:cxnSpLocks/>
            <a:endCxn id="19" idx="0"/>
          </p:cNvCxnSpPr>
          <p:nvPr/>
        </p:nvCxnSpPr>
        <p:spPr bwMode="gray">
          <a:xfrm>
            <a:off x="10035843" y="2762450"/>
            <a:ext cx="0" cy="917855"/>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952643F-B402-B2F8-D6AE-31CB2365E4DE}"/>
              </a:ext>
            </a:extLst>
          </p:cNvPr>
          <p:cNvCxnSpPr>
            <a:cxnSpLocks/>
            <a:endCxn id="18" idx="0"/>
          </p:cNvCxnSpPr>
          <p:nvPr/>
        </p:nvCxnSpPr>
        <p:spPr bwMode="gray">
          <a:xfrm>
            <a:off x="9871449" y="2781701"/>
            <a:ext cx="0" cy="105025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0" name="Rectangle 119">
            <a:extLst>
              <a:ext uri="{FF2B5EF4-FFF2-40B4-BE49-F238E27FC236}">
                <a16:creationId xmlns:a16="http://schemas.microsoft.com/office/drawing/2014/main" id="{F56022BE-332F-185F-2AEA-E6DBCFE24DC7}"/>
              </a:ext>
            </a:extLst>
          </p:cNvPr>
          <p:cNvSpPr/>
          <p:nvPr/>
        </p:nvSpPr>
        <p:spPr bwMode="gray">
          <a:xfrm>
            <a:off x="7883613" y="4916103"/>
            <a:ext cx="3240000" cy="812549"/>
          </a:xfrm>
          <a:prstGeom prst="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Deployed by VCF Operations</a:t>
            </a:r>
          </a:p>
        </p:txBody>
      </p:sp>
      <p:grpSp>
        <p:nvGrpSpPr>
          <p:cNvPr id="41" name="Group 40">
            <a:extLst>
              <a:ext uri="{FF2B5EF4-FFF2-40B4-BE49-F238E27FC236}">
                <a16:creationId xmlns:a16="http://schemas.microsoft.com/office/drawing/2014/main" id="{49000390-0329-AAE1-65B5-38D1118411E6}"/>
              </a:ext>
            </a:extLst>
          </p:cNvPr>
          <p:cNvGrpSpPr/>
          <p:nvPr/>
        </p:nvGrpSpPr>
        <p:grpSpPr>
          <a:xfrm>
            <a:off x="1065213" y="2960436"/>
            <a:ext cx="3240000" cy="2768215"/>
            <a:chOff x="1065213" y="2960436"/>
            <a:chExt cx="3240000" cy="2768215"/>
          </a:xfrm>
        </p:grpSpPr>
        <p:sp>
          <p:nvSpPr>
            <p:cNvPr id="48" name="Rectangle 618">
              <a:extLst>
                <a:ext uri="{FF2B5EF4-FFF2-40B4-BE49-F238E27FC236}">
                  <a16:creationId xmlns:a16="http://schemas.microsoft.com/office/drawing/2014/main" id="{A4A50093-2B88-99C5-A4F7-C103DF38E1F4}"/>
                </a:ext>
              </a:extLst>
            </p:cNvPr>
            <p:cNvSpPr>
              <a:spLocks noChangeArrowheads="1"/>
            </p:cNvSpPr>
            <p:nvPr/>
          </p:nvSpPr>
          <p:spPr bwMode="auto">
            <a:xfrm>
              <a:off x="1667619" y="3596560"/>
              <a:ext cx="239566" cy="193719"/>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Arial" panose="020B0604020202020204"/>
                  <a:ea typeface="+mn-ea"/>
                  <a:cs typeface="+mn-cs"/>
                </a:rPr>
                <a:t>TEP</a:t>
              </a:r>
            </a:p>
          </p:txBody>
        </p:sp>
        <p:sp>
          <p:nvSpPr>
            <p:cNvPr id="49" name="Rectangle 618">
              <a:extLst>
                <a:ext uri="{FF2B5EF4-FFF2-40B4-BE49-F238E27FC236}">
                  <a16:creationId xmlns:a16="http://schemas.microsoft.com/office/drawing/2014/main" id="{5B43D794-FEE4-BA79-98FF-C698D60CBEF6}"/>
                </a:ext>
              </a:extLst>
            </p:cNvPr>
            <p:cNvSpPr>
              <a:spLocks noChangeArrowheads="1"/>
            </p:cNvSpPr>
            <p:nvPr/>
          </p:nvSpPr>
          <p:spPr bwMode="auto">
            <a:xfrm>
              <a:off x="1412848" y="3596560"/>
              <a:ext cx="239566" cy="193719"/>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Arial" panose="020B0604020202020204"/>
                  <a:ea typeface="+mn-ea"/>
                  <a:cs typeface="+mn-cs"/>
                </a:rPr>
                <a:t>TEP</a:t>
              </a:r>
            </a:p>
          </p:txBody>
        </p:sp>
        <p:sp>
          <p:nvSpPr>
            <p:cNvPr id="65" name="Rectangle 618">
              <a:extLst>
                <a:ext uri="{FF2B5EF4-FFF2-40B4-BE49-F238E27FC236}">
                  <a16:creationId xmlns:a16="http://schemas.microsoft.com/office/drawing/2014/main" id="{38DB6FF0-1A11-20FC-EBDD-A882923E8D22}"/>
                </a:ext>
              </a:extLst>
            </p:cNvPr>
            <p:cNvSpPr>
              <a:spLocks noChangeArrowheads="1"/>
            </p:cNvSpPr>
            <p:nvPr/>
          </p:nvSpPr>
          <p:spPr bwMode="auto">
            <a:xfrm>
              <a:off x="3958424" y="3596560"/>
              <a:ext cx="239566" cy="193719"/>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Arial" panose="020B0604020202020204"/>
                  <a:ea typeface="+mn-ea"/>
                  <a:cs typeface="+mn-cs"/>
                </a:rPr>
                <a:t>TEP</a:t>
              </a:r>
            </a:p>
          </p:txBody>
        </p:sp>
        <p:sp>
          <p:nvSpPr>
            <p:cNvPr id="66" name="Rectangle 618">
              <a:extLst>
                <a:ext uri="{FF2B5EF4-FFF2-40B4-BE49-F238E27FC236}">
                  <a16:creationId xmlns:a16="http://schemas.microsoft.com/office/drawing/2014/main" id="{3D53A92A-8923-73E0-21E1-91109416D11F}"/>
                </a:ext>
              </a:extLst>
            </p:cNvPr>
            <p:cNvSpPr>
              <a:spLocks noChangeArrowheads="1"/>
            </p:cNvSpPr>
            <p:nvPr/>
          </p:nvSpPr>
          <p:spPr bwMode="auto">
            <a:xfrm>
              <a:off x="3703653" y="3596560"/>
              <a:ext cx="239566" cy="193719"/>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Arial" panose="020B0604020202020204"/>
                  <a:ea typeface="+mn-ea"/>
                  <a:cs typeface="+mn-cs"/>
                </a:rPr>
                <a:t>TEP</a:t>
              </a:r>
            </a:p>
          </p:txBody>
        </p:sp>
        <p:sp>
          <p:nvSpPr>
            <p:cNvPr id="70" name="Rectangle 618">
              <a:extLst>
                <a:ext uri="{FF2B5EF4-FFF2-40B4-BE49-F238E27FC236}">
                  <a16:creationId xmlns:a16="http://schemas.microsoft.com/office/drawing/2014/main" id="{27A2CE1D-C8DF-1C87-AE4E-63086EB99C89}"/>
                </a:ext>
              </a:extLst>
            </p:cNvPr>
            <p:cNvSpPr>
              <a:spLocks noChangeArrowheads="1"/>
            </p:cNvSpPr>
            <p:nvPr/>
          </p:nvSpPr>
          <p:spPr bwMode="auto">
            <a:xfrm>
              <a:off x="2822651" y="3596560"/>
              <a:ext cx="239566" cy="193719"/>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Arial" panose="020B0604020202020204"/>
                  <a:ea typeface="+mn-ea"/>
                  <a:cs typeface="+mn-cs"/>
                </a:rPr>
                <a:t>TEP</a:t>
              </a:r>
            </a:p>
          </p:txBody>
        </p:sp>
        <p:sp>
          <p:nvSpPr>
            <p:cNvPr id="71" name="Rectangle 618">
              <a:extLst>
                <a:ext uri="{FF2B5EF4-FFF2-40B4-BE49-F238E27FC236}">
                  <a16:creationId xmlns:a16="http://schemas.microsoft.com/office/drawing/2014/main" id="{2E900A9B-AD9E-6EA5-7B1C-7A1BCFB8464A}"/>
                </a:ext>
              </a:extLst>
            </p:cNvPr>
            <p:cNvSpPr>
              <a:spLocks noChangeArrowheads="1"/>
            </p:cNvSpPr>
            <p:nvPr/>
          </p:nvSpPr>
          <p:spPr bwMode="auto">
            <a:xfrm>
              <a:off x="2567880" y="3596560"/>
              <a:ext cx="239566" cy="193719"/>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Arial" panose="020B0604020202020204"/>
                  <a:ea typeface="+mn-ea"/>
                  <a:cs typeface="+mn-cs"/>
                </a:rPr>
                <a:t>TEP</a:t>
              </a:r>
            </a:p>
          </p:txBody>
        </p:sp>
        <p:cxnSp>
          <p:nvCxnSpPr>
            <p:cNvPr id="54" name="Straight Connector 53">
              <a:extLst>
                <a:ext uri="{FF2B5EF4-FFF2-40B4-BE49-F238E27FC236}">
                  <a16:creationId xmlns:a16="http://schemas.microsoft.com/office/drawing/2014/main" id="{87A234F0-42EB-6566-888A-F280AC9414F7}"/>
                </a:ext>
              </a:extLst>
            </p:cNvPr>
            <p:cNvCxnSpPr>
              <a:cxnSpLocks/>
            </p:cNvCxnSpPr>
            <p:nvPr/>
          </p:nvCxnSpPr>
          <p:spPr bwMode="gray">
            <a:xfrm>
              <a:off x="1532631" y="2960436"/>
              <a:ext cx="0" cy="64800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2F39812A-41EF-52E1-292A-6886166E2CB7}"/>
                </a:ext>
              </a:extLst>
            </p:cNvPr>
            <p:cNvCxnSpPr>
              <a:cxnSpLocks/>
            </p:cNvCxnSpPr>
            <p:nvPr/>
          </p:nvCxnSpPr>
          <p:spPr bwMode="gray">
            <a:xfrm>
              <a:off x="1787402" y="2960436"/>
              <a:ext cx="0" cy="64800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4EF9FB9-7BEF-8B13-EF1F-0C40ED91B1D6}"/>
                </a:ext>
              </a:extLst>
            </p:cNvPr>
            <p:cNvCxnSpPr>
              <a:cxnSpLocks/>
            </p:cNvCxnSpPr>
            <p:nvPr/>
          </p:nvCxnSpPr>
          <p:spPr bwMode="gray">
            <a:xfrm>
              <a:off x="3823436" y="2960436"/>
              <a:ext cx="0" cy="64800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BDB223D-AE2B-544B-8804-E55A7DBE8888}"/>
                </a:ext>
              </a:extLst>
            </p:cNvPr>
            <p:cNvCxnSpPr>
              <a:cxnSpLocks/>
            </p:cNvCxnSpPr>
            <p:nvPr/>
          </p:nvCxnSpPr>
          <p:spPr bwMode="gray">
            <a:xfrm>
              <a:off x="4078207" y="2960436"/>
              <a:ext cx="0" cy="64800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30EE6B3F-9C5E-D889-4C91-F390131AFA66}"/>
                </a:ext>
              </a:extLst>
            </p:cNvPr>
            <p:cNvCxnSpPr>
              <a:cxnSpLocks/>
            </p:cNvCxnSpPr>
            <p:nvPr/>
          </p:nvCxnSpPr>
          <p:spPr bwMode="gray">
            <a:xfrm>
              <a:off x="2687663" y="2960436"/>
              <a:ext cx="0" cy="64800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8DE814B-B3B7-6EF0-7A0A-D0C924A08339}"/>
                </a:ext>
              </a:extLst>
            </p:cNvPr>
            <p:cNvCxnSpPr>
              <a:cxnSpLocks/>
            </p:cNvCxnSpPr>
            <p:nvPr/>
          </p:nvCxnSpPr>
          <p:spPr bwMode="gray">
            <a:xfrm>
              <a:off x="2942434" y="2964581"/>
              <a:ext cx="0" cy="64800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1" name="Rectangle 120">
              <a:extLst>
                <a:ext uri="{FF2B5EF4-FFF2-40B4-BE49-F238E27FC236}">
                  <a16:creationId xmlns:a16="http://schemas.microsoft.com/office/drawing/2014/main" id="{047291B3-6AD3-02BD-B315-89484D92FD61}"/>
                </a:ext>
              </a:extLst>
            </p:cNvPr>
            <p:cNvSpPr/>
            <p:nvPr/>
          </p:nvSpPr>
          <p:spPr bwMode="gray">
            <a:xfrm>
              <a:off x="1065213" y="4916102"/>
              <a:ext cx="3240000" cy="812549"/>
            </a:xfrm>
            <a:prstGeom prst="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Configured by VCF Operations</a:t>
              </a:r>
            </a:p>
          </p:txBody>
        </p:sp>
      </p:grpSp>
      <p:grpSp>
        <p:nvGrpSpPr>
          <p:cNvPr id="52" name="Group 51">
            <a:extLst>
              <a:ext uri="{FF2B5EF4-FFF2-40B4-BE49-F238E27FC236}">
                <a16:creationId xmlns:a16="http://schemas.microsoft.com/office/drawing/2014/main" id="{F83A0404-FD46-FDDE-14FF-DDF01A85032D}"/>
              </a:ext>
            </a:extLst>
          </p:cNvPr>
          <p:cNvGrpSpPr/>
          <p:nvPr/>
        </p:nvGrpSpPr>
        <p:grpSpPr>
          <a:xfrm>
            <a:off x="1065213" y="2759219"/>
            <a:ext cx="3200400" cy="209159"/>
            <a:chOff x="1065213" y="2759219"/>
            <a:chExt cx="3200400" cy="209159"/>
          </a:xfrm>
        </p:grpSpPr>
        <p:sp>
          <p:nvSpPr>
            <p:cNvPr id="23" name="!!TextBox 75">
              <a:extLst>
                <a:ext uri="{FF2B5EF4-FFF2-40B4-BE49-F238E27FC236}">
                  <a16:creationId xmlns:a16="http://schemas.microsoft.com/office/drawing/2014/main" id="{D3EA52D2-E493-7C58-8751-1A816F7D8AA3}"/>
                </a:ext>
              </a:extLst>
            </p:cNvPr>
            <p:cNvSpPr txBox="1"/>
            <p:nvPr/>
          </p:nvSpPr>
          <p:spPr>
            <a:xfrm>
              <a:off x="1065213" y="2759219"/>
              <a:ext cx="3118919" cy="169277"/>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3F3F3F"/>
                  </a:solidFill>
                  <a:effectLst/>
                  <a:uLnTx/>
                  <a:uFillTx/>
                  <a:latin typeface="Arial" panose="020B0604020202020204"/>
                  <a:ea typeface="+mn-ea"/>
                  <a:cs typeface="+mn-cs"/>
                </a:rPr>
                <a:t>NSX Overlay network</a:t>
              </a:r>
            </a:p>
          </p:txBody>
        </p:sp>
        <p:cxnSp>
          <p:nvCxnSpPr>
            <p:cNvPr id="9" name="Straight Connector 8">
              <a:extLst>
                <a:ext uri="{FF2B5EF4-FFF2-40B4-BE49-F238E27FC236}">
                  <a16:creationId xmlns:a16="http://schemas.microsoft.com/office/drawing/2014/main" id="{7900AC2C-1345-FAF1-E8E7-47A261660646}"/>
                </a:ext>
              </a:extLst>
            </p:cNvPr>
            <p:cNvCxnSpPr>
              <a:cxnSpLocks/>
            </p:cNvCxnSpPr>
            <p:nvPr/>
          </p:nvCxnSpPr>
          <p:spPr bwMode="gray">
            <a:xfrm>
              <a:off x="1065213" y="2968378"/>
              <a:ext cx="32004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EC41072F-1A6F-D92A-E994-D6E4738D6B2C}"/>
              </a:ext>
            </a:extLst>
          </p:cNvPr>
          <p:cNvCxnSpPr>
            <a:cxnSpLocks/>
          </p:cNvCxnSpPr>
          <p:nvPr/>
        </p:nvCxnSpPr>
        <p:spPr bwMode="gray">
          <a:xfrm>
            <a:off x="7883091" y="2777196"/>
            <a:ext cx="3240522"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 name="Rectangle: Rounded Corners 42">
            <a:extLst>
              <a:ext uri="{FF2B5EF4-FFF2-40B4-BE49-F238E27FC236}">
                <a16:creationId xmlns:a16="http://schemas.microsoft.com/office/drawing/2014/main" id="{04DED5BE-36AF-FC5A-C818-E569DA1408B3}"/>
              </a:ext>
            </a:extLst>
          </p:cNvPr>
          <p:cNvSpPr/>
          <p:nvPr/>
        </p:nvSpPr>
        <p:spPr>
          <a:xfrm>
            <a:off x="9764126" y="3544503"/>
            <a:ext cx="923679" cy="486624"/>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NSX manager</a:t>
            </a:r>
          </a:p>
        </p:txBody>
      </p:sp>
      <p:grpSp>
        <p:nvGrpSpPr>
          <p:cNvPr id="51" name="Group 50">
            <a:extLst>
              <a:ext uri="{FF2B5EF4-FFF2-40B4-BE49-F238E27FC236}">
                <a16:creationId xmlns:a16="http://schemas.microsoft.com/office/drawing/2014/main" id="{82291E40-C062-54E6-9341-F9CF1C44E4DD}"/>
              </a:ext>
            </a:extLst>
          </p:cNvPr>
          <p:cNvGrpSpPr/>
          <p:nvPr/>
        </p:nvGrpSpPr>
        <p:grpSpPr>
          <a:xfrm>
            <a:off x="2398312" y="2759219"/>
            <a:ext cx="5524901" cy="2969433"/>
            <a:chOff x="2398312" y="2759219"/>
            <a:chExt cx="5524901" cy="2969433"/>
          </a:xfrm>
        </p:grpSpPr>
        <p:sp>
          <p:nvSpPr>
            <p:cNvPr id="2" name="Rectangle: Rounded Corners 42">
              <a:extLst>
                <a:ext uri="{FF2B5EF4-FFF2-40B4-BE49-F238E27FC236}">
                  <a16:creationId xmlns:a16="http://schemas.microsoft.com/office/drawing/2014/main" id="{E7270BA1-4DF8-9EFC-F15E-B3C81E3D0364}"/>
                </a:ext>
              </a:extLst>
            </p:cNvPr>
            <p:cNvSpPr/>
            <p:nvPr/>
          </p:nvSpPr>
          <p:spPr>
            <a:xfrm>
              <a:off x="6215690" y="3554132"/>
              <a:ext cx="923679" cy="904771"/>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Edge node VM2</a:t>
              </a:r>
            </a:p>
          </p:txBody>
        </p:sp>
        <p:sp>
          <p:nvSpPr>
            <p:cNvPr id="17" name="Rectangle: Rounded Corners 42">
              <a:extLst>
                <a:ext uri="{FF2B5EF4-FFF2-40B4-BE49-F238E27FC236}">
                  <a16:creationId xmlns:a16="http://schemas.microsoft.com/office/drawing/2014/main" id="{D6F00AA9-BD99-09F4-52A5-9A93B6FA2174}"/>
                </a:ext>
              </a:extLst>
            </p:cNvPr>
            <p:cNvSpPr/>
            <p:nvPr/>
          </p:nvSpPr>
          <p:spPr>
            <a:xfrm>
              <a:off x="5088565" y="3554132"/>
              <a:ext cx="923679" cy="904771"/>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Edge node VM1</a:t>
              </a:r>
            </a:p>
          </p:txBody>
        </p:sp>
        <p:sp>
          <p:nvSpPr>
            <p:cNvPr id="75" name="Rectangle 618">
              <a:extLst>
                <a:ext uri="{FF2B5EF4-FFF2-40B4-BE49-F238E27FC236}">
                  <a16:creationId xmlns:a16="http://schemas.microsoft.com/office/drawing/2014/main" id="{89DD2EA2-C611-3BEC-70F3-5E4264EDFED9}"/>
                </a:ext>
              </a:extLst>
            </p:cNvPr>
            <p:cNvSpPr>
              <a:spLocks noChangeArrowheads="1"/>
            </p:cNvSpPr>
            <p:nvPr/>
          </p:nvSpPr>
          <p:spPr bwMode="auto">
            <a:xfrm>
              <a:off x="5707651" y="3596560"/>
              <a:ext cx="239566" cy="193719"/>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Arial" panose="020B0604020202020204"/>
                  <a:ea typeface="+mn-ea"/>
                  <a:cs typeface="+mn-cs"/>
                </a:rPr>
                <a:t>TEP</a:t>
              </a:r>
            </a:p>
          </p:txBody>
        </p:sp>
        <p:sp>
          <p:nvSpPr>
            <p:cNvPr id="76" name="Rectangle 618">
              <a:extLst>
                <a:ext uri="{FF2B5EF4-FFF2-40B4-BE49-F238E27FC236}">
                  <a16:creationId xmlns:a16="http://schemas.microsoft.com/office/drawing/2014/main" id="{AAD899F1-B152-3B91-5F7F-89A9C5A3AC17}"/>
                </a:ext>
              </a:extLst>
            </p:cNvPr>
            <p:cNvSpPr>
              <a:spLocks noChangeArrowheads="1"/>
            </p:cNvSpPr>
            <p:nvPr/>
          </p:nvSpPr>
          <p:spPr bwMode="auto">
            <a:xfrm>
              <a:off x="5452880" y="3596560"/>
              <a:ext cx="239566" cy="193719"/>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Arial" panose="020B0604020202020204"/>
                  <a:ea typeface="+mn-ea"/>
                  <a:cs typeface="+mn-cs"/>
                </a:rPr>
                <a:t>TEP</a:t>
              </a:r>
            </a:p>
          </p:txBody>
        </p:sp>
        <p:sp>
          <p:nvSpPr>
            <p:cNvPr id="80" name="Rectangle 618">
              <a:extLst>
                <a:ext uri="{FF2B5EF4-FFF2-40B4-BE49-F238E27FC236}">
                  <a16:creationId xmlns:a16="http://schemas.microsoft.com/office/drawing/2014/main" id="{1BCA75A2-7811-C18E-8947-092E547DBED8}"/>
                </a:ext>
              </a:extLst>
            </p:cNvPr>
            <p:cNvSpPr>
              <a:spLocks noChangeArrowheads="1"/>
            </p:cNvSpPr>
            <p:nvPr/>
          </p:nvSpPr>
          <p:spPr bwMode="auto">
            <a:xfrm>
              <a:off x="6839334" y="3596560"/>
              <a:ext cx="239566" cy="193719"/>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Arial" panose="020B0604020202020204"/>
                  <a:ea typeface="+mn-ea"/>
                  <a:cs typeface="+mn-cs"/>
                </a:rPr>
                <a:t>TEP</a:t>
              </a:r>
            </a:p>
          </p:txBody>
        </p:sp>
        <p:sp>
          <p:nvSpPr>
            <p:cNvPr id="81" name="Rectangle 618">
              <a:extLst>
                <a:ext uri="{FF2B5EF4-FFF2-40B4-BE49-F238E27FC236}">
                  <a16:creationId xmlns:a16="http://schemas.microsoft.com/office/drawing/2014/main" id="{FB0C83DF-264C-84F0-713A-6DDA0AACEEFB}"/>
                </a:ext>
              </a:extLst>
            </p:cNvPr>
            <p:cNvSpPr>
              <a:spLocks noChangeArrowheads="1"/>
            </p:cNvSpPr>
            <p:nvPr/>
          </p:nvSpPr>
          <p:spPr bwMode="auto">
            <a:xfrm>
              <a:off x="6584563" y="3596560"/>
              <a:ext cx="239566" cy="193719"/>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Arial" panose="020B0604020202020204"/>
                  <a:ea typeface="+mn-ea"/>
                  <a:cs typeface="+mn-cs"/>
                </a:rPr>
                <a:t>TEP</a:t>
              </a:r>
            </a:p>
          </p:txBody>
        </p:sp>
        <p:cxnSp>
          <p:nvCxnSpPr>
            <p:cNvPr id="46" name="Straight Connector 45">
              <a:extLst>
                <a:ext uri="{FF2B5EF4-FFF2-40B4-BE49-F238E27FC236}">
                  <a16:creationId xmlns:a16="http://schemas.microsoft.com/office/drawing/2014/main" id="{3AF51D7E-603E-FAA6-743D-C425B330FEC1}"/>
                </a:ext>
              </a:extLst>
            </p:cNvPr>
            <p:cNvCxnSpPr>
              <a:cxnSpLocks/>
            </p:cNvCxnSpPr>
            <p:nvPr/>
          </p:nvCxnSpPr>
          <p:spPr bwMode="gray">
            <a:xfrm>
              <a:off x="5219841" y="2776888"/>
              <a:ext cx="0" cy="767615"/>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2115B285-A067-F22F-4F21-D27503DF3307}"/>
                </a:ext>
              </a:extLst>
            </p:cNvPr>
            <p:cNvCxnSpPr>
              <a:cxnSpLocks/>
            </p:cNvCxnSpPr>
            <p:nvPr/>
          </p:nvCxnSpPr>
          <p:spPr bwMode="gray">
            <a:xfrm>
              <a:off x="6360577" y="2762450"/>
              <a:ext cx="0" cy="782053"/>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B065D59-C46E-D420-906D-A2603525A6C9}"/>
                </a:ext>
              </a:extLst>
            </p:cNvPr>
            <p:cNvCxnSpPr>
              <a:cxnSpLocks/>
            </p:cNvCxnSpPr>
            <p:nvPr/>
          </p:nvCxnSpPr>
          <p:spPr bwMode="gray">
            <a:xfrm>
              <a:off x="5572663" y="2960436"/>
              <a:ext cx="0" cy="64800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6B755B6-EBE1-89E1-0183-BB7C927067DD}"/>
                </a:ext>
              </a:extLst>
            </p:cNvPr>
            <p:cNvCxnSpPr>
              <a:cxnSpLocks/>
            </p:cNvCxnSpPr>
            <p:nvPr/>
          </p:nvCxnSpPr>
          <p:spPr bwMode="gray">
            <a:xfrm>
              <a:off x="5827434" y="2960436"/>
              <a:ext cx="0" cy="64800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75E292B-C674-D336-6C49-B641490215FD}"/>
                </a:ext>
              </a:extLst>
            </p:cNvPr>
            <p:cNvCxnSpPr>
              <a:cxnSpLocks/>
            </p:cNvCxnSpPr>
            <p:nvPr/>
          </p:nvCxnSpPr>
          <p:spPr bwMode="gray">
            <a:xfrm>
              <a:off x="6704346" y="2960436"/>
              <a:ext cx="0" cy="64800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91EFE22-5387-7083-63F7-576EBFF8C7D0}"/>
                </a:ext>
              </a:extLst>
            </p:cNvPr>
            <p:cNvCxnSpPr>
              <a:cxnSpLocks/>
            </p:cNvCxnSpPr>
            <p:nvPr/>
          </p:nvCxnSpPr>
          <p:spPr bwMode="gray">
            <a:xfrm>
              <a:off x="6959117" y="2960436"/>
              <a:ext cx="0" cy="64800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2" name="Rectangle 121">
              <a:extLst>
                <a:ext uri="{FF2B5EF4-FFF2-40B4-BE49-F238E27FC236}">
                  <a16:creationId xmlns:a16="http://schemas.microsoft.com/office/drawing/2014/main" id="{6347C0A7-B357-D984-F911-5CD725B475BA}"/>
                </a:ext>
              </a:extLst>
            </p:cNvPr>
            <p:cNvSpPr/>
            <p:nvPr/>
          </p:nvSpPr>
          <p:spPr bwMode="gray">
            <a:xfrm>
              <a:off x="4474413" y="4916103"/>
              <a:ext cx="3240000" cy="812549"/>
            </a:xfrm>
            <a:prstGeom prst="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Deployed from vCenter</a:t>
              </a:r>
              <a:b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b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(optional)</a:t>
              </a:r>
            </a:p>
          </p:txBody>
        </p:sp>
        <p:cxnSp>
          <p:nvCxnSpPr>
            <p:cNvPr id="13" name="Straight Connector 12">
              <a:extLst>
                <a:ext uri="{FF2B5EF4-FFF2-40B4-BE49-F238E27FC236}">
                  <a16:creationId xmlns:a16="http://schemas.microsoft.com/office/drawing/2014/main" id="{62965A46-C134-11AE-211E-660ED14D9B4E}"/>
                </a:ext>
              </a:extLst>
            </p:cNvPr>
            <p:cNvCxnSpPr>
              <a:cxnSpLocks/>
            </p:cNvCxnSpPr>
            <p:nvPr/>
          </p:nvCxnSpPr>
          <p:spPr bwMode="gray">
            <a:xfrm>
              <a:off x="4519199" y="2777196"/>
              <a:ext cx="3404014"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6D84541-228D-69D9-75CE-10B9F2D88B22}"/>
                </a:ext>
              </a:extLst>
            </p:cNvPr>
            <p:cNvCxnSpPr>
              <a:cxnSpLocks/>
            </p:cNvCxnSpPr>
            <p:nvPr/>
          </p:nvCxnSpPr>
          <p:spPr bwMode="gray">
            <a:xfrm>
              <a:off x="4265613" y="2968378"/>
              <a:ext cx="3413125"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0" name="!!TextBox 75">
              <a:extLst>
                <a:ext uri="{FF2B5EF4-FFF2-40B4-BE49-F238E27FC236}">
                  <a16:creationId xmlns:a16="http://schemas.microsoft.com/office/drawing/2014/main" id="{DFFA07FC-C497-0E24-6C39-12B8D2DA2EEA}"/>
                </a:ext>
              </a:extLst>
            </p:cNvPr>
            <p:cNvSpPr txBox="1"/>
            <p:nvPr/>
          </p:nvSpPr>
          <p:spPr>
            <a:xfrm>
              <a:off x="2398312" y="2759219"/>
              <a:ext cx="1620235" cy="169277"/>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3F3F3F"/>
                  </a:solidFill>
                  <a:effectLst/>
                  <a:uLnTx/>
                  <a:uFillTx/>
                  <a:latin typeface="Arial" panose="020B0604020202020204"/>
                  <a:ea typeface="+mn-ea"/>
                  <a:cs typeface="+mn-cs"/>
                </a:rPr>
                <a:t>/Edge Overlay Network</a:t>
              </a:r>
            </a:p>
          </p:txBody>
        </p:sp>
      </p:grpSp>
    </p:spTree>
    <p:extLst>
      <p:ext uri="{BB962C8B-B14F-4D97-AF65-F5344CB8AC3E}">
        <p14:creationId xmlns:p14="http://schemas.microsoft.com/office/powerpoint/2010/main" val="3761590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95F73-E2AF-4F5B-30EC-7F3C3BEA7953}"/>
            </a:ext>
          </a:extLst>
        </p:cNvPr>
        <p:cNvGrpSpPr/>
        <p:nvPr/>
      </p:nvGrpSpPr>
      <p:grpSpPr>
        <a:xfrm>
          <a:off x="0" y="0"/>
          <a:ext cx="0" cy="0"/>
          <a:chOff x="0" y="0"/>
          <a:chExt cx="0" cy="0"/>
        </a:xfrm>
      </p:grpSpPr>
      <p:grpSp>
        <p:nvGrpSpPr>
          <p:cNvPr id="64" name="Group 63">
            <a:extLst>
              <a:ext uri="{FF2B5EF4-FFF2-40B4-BE49-F238E27FC236}">
                <a16:creationId xmlns:a16="http://schemas.microsoft.com/office/drawing/2014/main" id="{9F535DB2-B9DF-0B1D-1049-FD8D7DA10E07}"/>
              </a:ext>
            </a:extLst>
          </p:cNvPr>
          <p:cNvGrpSpPr/>
          <p:nvPr/>
        </p:nvGrpSpPr>
        <p:grpSpPr>
          <a:xfrm>
            <a:off x="5014760" y="3474720"/>
            <a:ext cx="2194560" cy="1160680"/>
            <a:chOff x="5014760" y="3474720"/>
            <a:chExt cx="2194560" cy="1160680"/>
          </a:xfrm>
        </p:grpSpPr>
        <p:sp>
          <p:nvSpPr>
            <p:cNvPr id="69" name="Rounded Rectangle 68">
              <a:extLst>
                <a:ext uri="{FF2B5EF4-FFF2-40B4-BE49-F238E27FC236}">
                  <a16:creationId xmlns:a16="http://schemas.microsoft.com/office/drawing/2014/main" id="{D3C79B39-3DFC-0158-DC2E-2C94076DB3CB}"/>
                </a:ext>
              </a:extLst>
            </p:cNvPr>
            <p:cNvSpPr/>
            <p:nvPr/>
          </p:nvSpPr>
          <p:spPr bwMode="gray">
            <a:xfrm>
              <a:off x="5014760" y="3474720"/>
              <a:ext cx="2194560" cy="1068404"/>
            </a:xfrm>
            <a:prstGeom prst="roundRect">
              <a:avLst>
                <a:gd name="adj" fmla="val 6757"/>
              </a:avLst>
            </a:prstGeom>
            <a:noFill/>
            <a:ln w="12700">
              <a:solidFill>
                <a:schemeClr val="accent3"/>
              </a:solidFill>
              <a:prstDash val="sysDash"/>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74" name="TextBox 73">
              <a:extLst>
                <a:ext uri="{FF2B5EF4-FFF2-40B4-BE49-F238E27FC236}">
                  <a16:creationId xmlns:a16="http://schemas.microsoft.com/office/drawing/2014/main" id="{5A718E92-833B-9B1C-D53A-2F184FEE3ED4}"/>
                </a:ext>
              </a:extLst>
            </p:cNvPr>
            <p:cNvSpPr txBox="1"/>
            <p:nvPr/>
          </p:nvSpPr>
          <p:spPr>
            <a:xfrm>
              <a:off x="5727058" y="4466123"/>
              <a:ext cx="829368" cy="169277"/>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5C8A"/>
                  </a:solidFill>
                  <a:effectLst/>
                  <a:uLnTx/>
                  <a:uFillTx/>
                  <a:latin typeface="Arial" panose="020B0604020202020204"/>
                  <a:ea typeface="+mn-ea"/>
                  <a:cs typeface="+mn-cs"/>
                </a:rPr>
                <a:t>Edge Cluster</a:t>
              </a:r>
            </a:p>
          </p:txBody>
        </p:sp>
      </p:grpSp>
      <p:sp>
        <p:nvSpPr>
          <p:cNvPr id="3" name="!!BOTTOM">
            <a:extLst>
              <a:ext uri="{FF2B5EF4-FFF2-40B4-BE49-F238E27FC236}">
                <a16:creationId xmlns:a16="http://schemas.microsoft.com/office/drawing/2014/main" id="{1CBDBA53-4FF4-1C70-DE79-FE96E256B7AD}"/>
              </a:ext>
            </a:extLst>
          </p:cNvPr>
          <p:cNvSpPr/>
          <p:nvPr/>
        </p:nvSpPr>
        <p:spPr>
          <a:xfrm rot="10800000" flipV="1">
            <a:off x="627405" y="1600200"/>
            <a:ext cx="10953408" cy="1487103"/>
          </a:xfrm>
          <a:prstGeom prst="round2SameRect">
            <a:avLst>
              <a:gd name="adj1" fmla="val 7233"/>
              <a:gd name="adj2" fmla="val 0"/>
            </a:avLst>
          </a:prstGeom>
          <a:solidFill>
            <a:srgbClr val="E8E8EA"/>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rPr>
              <a:t>Physical Network Infrastructure</a:t>
            </a:r>
          </a:p>
        </p:txBody>
      </p:sp>
      <p:sp>
        <p:nvSpPr>
          <p:cNvPr id="4" name="!!TOP">
            <a:extLst>
              <a:ext uri="{FF2B5EF4-FFF2-40B4-BE49-F238E27FC236}">
                <a16:creationId xmlns:a16="http://schemas.microsoft.com/office/drawing/2014/main" id="{1E7667FD-52D5-30DC-618A-B0F9BEE9A547}"/>
              </a:ext>
            </a:extLst>
          </p:cNvPr>
          <p:cNvSpPr/>
          <p:nvPr/>
        </p:nvSpPr>
        <p:spPr>
          <a:xfrm flipV="1">
            <a:off x="627406" y="3174959"/>
            <a:ext cx="10953407" cy="1741143"/>
          </a:xfrm>
          <a:prstGeom prst="round2SameRect">
            <a:avLst>
              <a:gd name="adj1" fmla="val 7233"/>
              <a:gd name="adj2" fmla="val 0"/>
            </a:avLst>
          </a:prstGeom>
          <a:solidFill>
            <a:schemeClr val="accent2">
              <a:alpha val="10000"/>
            </a:schemeClr>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endParaRPr>
          </a:p>
        </p:txBody>
      </p:sp>
      <p:sp>
        <p:nvSpPr>
          <p:cNvPr id="43" name="Rectangle: Rounded Corners 42">
            <a:extLst>
              <a:ext uri="{FF2B5EF4-FFF2-40B4-BE49-F238E27FC236}">
                <a16:creationId xmlns:a16="http://schemas.microsoft.com/office/drawing/2014/main" id="{836E874C-9216-B031-8852-6440EDBBA542}"/>
              </a:ext>
            </a:extLst>
          </p:cNvPr>
          <p:cNvSpPr/>
          <p:nvPr/>
        </p:nvSpPr>
        <p:spPr>
          <a:xfrm>
            <a:off x="1058931" y="3544503"/>
            <a:ext cx="911404" cy="915769"/>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109" name="Title 108">
            <a:extLst>
              <a:ext uri="{FF2B5EF4-FFF2-40B4-BE49-F238E27FC236}">
                <a16:creationId xmlns:a16="http://schemas.microsoft.com/office/drawing/2014/main" id="{DA277E08-F9DD-322F-DEC5-5A66AEFE3035}"/>
              </a:ext>
            </a:extLst>
          </p:cNvPr>
          <p:cNvSpPr>
            <a:spLocks noGrp="1"/>
          </p:cNvSpPr>
          <p:nvPr>
            <p:ph type="title"/>
          </p:nvPr>
        </p:nvSpPr>
        <p:spPr/>
        <p:txBody>
          <a:bodyPr/>
          <a:lstStyle/>
          <a:p>
            <a:r>
              <a:rPr lang="en-US" dirty="0">
                <a:latin typeface="+mn-lt"/>
              </a:rPr>
              <a:t>NSX Components</a:t>
            </a:r>
          </a:p>
        </p:txBody>
      </p:sp>
      <p:sp>
        <p:nvSpPr>
          <p:cNvPr id="88" name="Rectangle: Rounded Corners 42">
            <a:extLst>
              <a:ext uri="{FF2B5EF4-FFF2-40B4-BE49-F238E27FC236}">
                <a16:creationId xmlns:a16="http://schemas.microsoft.com/office/drawing/2014/main" id="{2505204F-C202-73EF-36AE-DDACB1F1A125}"/>
              </a:ext>
            </a:extLst>
          </p:cNvPr>
          <p:cNvSpPr/>
          <p:nvPr/>
        </p:nvSpPr>
        <p:spPr>
          <a:xfrm>
            <a:off x="2201683" y="3567882"/>
            <a:ext cx="923679" cy="906490"/>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89" name="Rectangle: Rounded Corners 42">
            <a:extLst>
              <a:ext uri="{FF2B5EF4-FFF2-40B4-BE49-F238E27FC236}">
                <a16:creationId xmlns:a16="http://schemas.microsoft.com/office/drawing/2014/main" id="{DA74D42B-A286-959F-D4A7-96475177DF53}"/>
              </a:ext>
            </a:extLst>
          </p:cNvPr>
          <p:cNvSpPr/>
          <p:nvPr/>
        </p:nvSpPr>
        <p:spPr>
          <a:xfrm>
            <a:off x="3346739" y="3554132"/>
            <a:ext cx="923679" cy="904771"/>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91" name="Rectangle 90">
            <a:extLst>
              <a:ext uri="{FF2B5EF4-FFF2-40B4-BE49-F238E27FC236}">
                <a16:creationId xmlns:a16="http://schemas.microsoft.com/office/drawing/2014/main" id="{856C07C6-ED8A-3E19-25F8-29601ADA0160}"/>
              </a:ext>
            </a:extLst>
          </p:cNvPr>
          <p:cNvSpPr/>
          <p:nvPr/>
        </p:nvSpPr>
        <p:spPr>
          <a:xfrm>
            <a:off x="-77002" y="4633021"/>
            <a:ext cx="5360611" cy="145424"/>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50" b="1" i="0" u="none" strike="noStrike" kern="1200" cap="all" spc="50" normalizeH="0" baseline="0" noProof="0" dirty="0">
                <a:ln>
                  <a:noFill/>
                </a:ln>
                <a:solidFill>
                  <a:prstClr val="black"/>
                </a:solidFill>
                <a:effectLst/>
                <a:uLnTx/>
                <a:uFillTx/>
                <a:latin typeface="Arial" panose="020B0604020202020204"/>
                <a:ea typeface="+mn-ea"/>
                <a:cs typeface="Arial"/>
              </a:rPr>
              <a:t>Vmware Cloud Foundation</a:t>
            </a:r>
          </a:p>
        </p:txBody>
      </p:sp>
      <p:pic>
        <p:nvPicPr>
          <p:cNvPr id="92" name="Picture 91">
            <a:extLst>
              <a:ext uri="{FF2B5EF4-FFF2-40B4-BE49-F238E27FC236}">
                <a16:creationId xmlns:a16="http://schemas.microsoft.com/office/drawing/2014/main" id="{2603B225-C371-800F-9D29-8650B82B766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79505" y="4552389"/>
            <a:ext cx="348488" cy="295148"/>
          </a:xfrm>
          <a:prstGeom prst="rect">
            <a:avLst/>
          </a:prstGeom>
        </p:spPr>
      </p:pic>
      <p:sp>
        <p:nvSpPr>
          <p:cNvPr id="18" name="Rectangle: Rounded Corners 42">
            <a:extLst>
              <a:ext uri="{FF2B5EF4-FFF2-40B4-BE49-F238E27FC236}">
                <a16:creationId xmlns:a16="http://schemas.microsoft.com/office/drawing/2014/main" id="{4144FFFF-AABF-66AB-04C3-28ECC792433E}"/>
              </a:ext>
            </a:extLst>
          </p:cNvPr>
          <p:cNvSpPr/>
          <p:nvPr/>
        </p:nvSpPr>
        <p:spPr>
          <a:xfrm>
            <a:off x="9409609" y="3831951"/>
            <a:ext cx="923679" cy="486624"/>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007B8C"/>
              </a:solidFill>
              <a:effectLst/>
              <a:uLnTx/>
              <a:uFillTx/>
              <a:latin typeface="Arial" panose="020B0604020202020204"/>
              <a:ea typeface="+mn-ea"/>
              <a:cs typeface="+mn-cs"/>
            </a:endParaRPr>
          </a:p>
        </p:txBody>
      </p:sp>
      <p:sp>
        <p:nvSpPr>
          <p:cNvPr id="19" name="Rectangle: Rounded Corners 42">
            <a:extLst>
              <a:ext uri="{FF2B5EF4-FFF2-40B4-BE49-F238E27FC236}">
                <a16:creationId xmlns:a16="http://schemas.microsoft.com/office/drawing/2014/main" id="{B2FBD79B-84CD-7DA8-4089-E302F342ECAE}"/>
              </a:ext>
            </a:extLst>
          </p:cNvPr>
          <p:cNvSpPr/>
          <p:nvPr/>
        </p:nvSpPr>
        <p:spPr>
          <a:xfrm>
            <a:off x="9574003" y="3680305"/>
            <a:ext cx="923679" cy="486624"/>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007B8C"/>
              </a:solidFill>
              <a:effectLst/>
              <a:uLnTx/>
              <a:uFillTx/>
              <a:latin typeface="Arial" panose="020B0604020202020204"/>
              <a:ea typeface="+mn-ea"/>
              <a:cs typeface="+mn-cs"/>
            </a:endParaRPr>
          </a:p>
        </p:txBody>
      </p:sp>
      <p:sp>
        <p:nvSpPr>
          <p:cNvPr id="22" name="Rectangle: Rounded Corners 42">
            <a:extLst>
              <a:ext uri="{FF2B5EF4-FFF2-40B4-BE49-F238E27FC236}">
                <a16:creationId xmlns:a16="http://schemas.microsoft.com/office/drawing/2014/main" id="{187EED82-36C9-11FF-AEBE-FDD2B3408BC7}"/>
              </a:ext>
            </a:extLst>
          </p:cNvPr>
          <p:cNvSpPr/>
          <p:nvPr/>
        </p:nvSpPr>
        <p:spPr>
          <a:xfrm>
            <a:off x="8372988" y="3544503"/>
            <a:ext cx="923679" cy="486624"/>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vCenter</a:t>
            </a:r>
          </a:p>
        </p:txBody>
      </p:sp>
      <p:sp>
        <p:nvSpPr>
          <p:cNvPr id="37" name="!!TextBox 75">
            <a:extLst>
              <a:ext uri="{FF2B5EF4-FFF2-40B4-BE49-F238E27FC236}">
                <a16:creationId xmlns:a16="http://schemas.microsoft.com/office/drawing/2014/main" id="{190A5E8F-9C88-1F6A-69EF-3D23EC6446EF}"/>
              </a:ext>
            </a:extLst>
          </p:cNvPr>
          <p:cNvSpPr txBox="1"/>
          <p:nvPr/>
        </p:nvSpPr>
        <p:spPr>
          <a:xfrm>
            <a:off x="9491412" y="2572350"/>
            <a:ext cx="1747319" cy="169277"/>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3F3F3F"/>
                </a:solidFill>
                <a:effectLst/>
                <a:uLnTx/>
                <a:uFillTx/>
                <a:latin typeface="Arial" panose="020B0604020202020204"/>
                <a:ea typeface="+mn-ea"/>
                <a:cs typeface="+mn-cs"/>
              </a:rPr>
              <a:t>VM Management Network</a:t>
            </a:r>
          </a:p>
        </p:txBody>
      </p:sp>
      <p:cxnSp>
        <p:nvCxnSpPr>
          <p:cNvPr id="39" name="Straight Connector 38">
            <a:extLst>
              <a:ext uri="{FF2B5EF4-FFF2-40B4-BE49-F238E27FC236}">
                <a16:creationId xmlns:a16="http://schemas.microsoft.com/office/drawing/2014/main" id="{A57F9B29-7F10-60D1-AD08-759313C9DDA1}"/>
              </a:ext>
            </a:extLst>
          </p:cNvPr>
          <p:cNvCxnSpPr>
            <a:cxnSpLocks/>
            <a:endCxn id="22" idx="0"/>
          </p:cNvCxnSpPr>
          <p:nvPr/>
        </p:nvCxnSpPr>
        <p:spPr bwMode="gray">
          <a:xfrm>
            <a:off x="8834828" y="2776888"/>
            <a:ext cx="0" cy="767615"/>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3EBD6E1-F7A6-D42F-75BC-18F4F2472AAE}"/>
              </a:ext>
            </a:extLst>
          </p:cNvPr>
          <p:cNvCxnSpPr>
            <a:cxnSpLocks/>
          </p:cNvCxnSpPr>
          <p:nvPr/>
        </p:nvCxnSpPr>
        <p:spPr bwMode="gray">
          <a:xfrm>
            <a:off x="10209213" y="2776888"/>
            <a:ext cx="3284" cy="767615"/>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04CDD53-850E-9F0B-36B6-6461D1E935E6}"/>
              </a:ext>
            </a:extLst>
          </p:cNvPr>
          <p:cNvCxnSpPr>
            <a:cxnSpLocks/>
            <a:endCxn id="19" idx="0"/>
          </p:cNvCxnSpPr>
          <p:nvPr/>
        </p:nvCxnSpPr>
        <p:spPr bwMode="gray">
          <a:xfrm>
            <a:off x="10035843" y="2762450"/>
            <a:ext cx="0" cy="917855"/>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7347182D-6F9A-B84F-583F-B0E33F566FC2}"/>
              </a:ext>
            </a:extLst>
          </p:cNvPr>
          <p:cNvCxnSpPr>
            <a:cxnSpLocks/>
            <a:endCxn id="18" idx="0"/>
          </p:cNvCxnSpPr>
          <p:nvPr/>
        </p:nvCxnSpPr>
        <p:spPr bwMode="gray">
          <a:xfrm>
            <a:off x="9871449" y="2781701"/>
            <a:ext cx="0" cy="105025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0" name="Rectangle 119">
            <a:extLst>
              <a:ext uri="{FF2B5EF4-FFF2-40B4-BE49-F238E27FC236}">
                <a16:creationId xmlns:a16="http://schemas.microsoft.com/office/drawing/2014/main" id="{0925E90D-9598-7D14-35D0-79145DDF6C0D}"/>
              </a:ext>
            </a:extLst>
          </p:cNvPr>
          <p:cNvSpPr/>
          <p:nvPr/>
        </p:nvSpPr>
        <p:spPr bwMode="gray">
          <a:xfrm>
            <a:off x="7883613" y="4916103"/>
            <a:ext cx="3240000" cy="812549"/>
          </a:xfrm>
          <a:prstGeom prst="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Deployed by VCF Operations</a:t>
            </a:r>
          </a:p>
        </p:txBody>
      </p:sp>
      <p:grpSp>
        <p:nvGrpSpPr>
          <p:cNvPr id="41" name="Group 40">
            <a:extLst>
              <a:ext uri="{FF2B5EF4-FFF2-40B4-BE49-F238E27FC236}">
                <a16:creationId xmlns:a16="http://schemas.microsoft.com/office/drawing/2014/main" id="{166E8843-6817-EE9B-7F03-0A722E570917}"/>
              </a:ext>
            </a:extLst>
          </p:cNvPr>
          <p:cNvGrpSpPr/>
          <p:nvPr/>
        </p:nvGrpSpPr>
        <p:grpSpPr>
          <a:xfrm>
            <a:off x="1065213" y="2960436"/>
            <a:ext cx="3240000" cy="2768215"/>
            <a:chOff x="1065213" y="2960436"/>
            <a:chExt cx="3240000" cy="2768215"/>
          </a:xfrm>
        </p:grpSpPr>
        <p:sp>
          <p:nvSpPr>
            <p:cNvPr id="48" name="Rectangle 618">
              <a:extLst>
                <a:ext uri="{FF2B5EF4-FFF2-40B4-BE49-F238E27FC236}">
                  <a16:creationId xmlns:a16="http://schemas.microsoft.com/office/drawing/2014/main" id="{3F76DB23-8CAF-2241-E79B-5C53E2EE5E52}"/>
                </a:ext>
              </a:extLst>
            </p:cNvPr>
            <p:cNvSpPr>
              <a:spLocks noChangeArrowheads="1"/>
            </p:cNvSpPr>
            <p:nvPr/>
          </p:nvSpPr>
          <p:spPr bwMode="auto">
            <a:xfrm>
              <a:off x="1667619" y="3596560"/>
              <a:ext cx="239566" cy="193719"/>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Arial" panose="020B0604020202020204"/>
                  <a:ea typeface="+mn-ea"/>
                  <a:cs typeface="+mn-cs"/>
                </a:rPr>
                <a:t>TEP</a:t>
              </a:r>
            </a:p>
          </p:txBody>
        </p:sp>
        <p:sp>
          <p:nvSpPr>
            <p:cNvPr id="49" name="Rectangle 618">
              <a:extLst>
                <a:ext uri="{FF2B5EF4-FFF2-40B4-BE49-F238E27FC236}">
                  <a16:creationId xmlns:a16="http://schemas.microsoft.com/office/drawing/2014/main" id="{61A5DA3E-B388-4631-5D1B-9A6338EA6EAE}"/>
                </a:ext>
              </a:extLst>
            </p:cNvPr>
            <p:cNvSpPr>
              <a:spLocks noChangeArrowheads="1"/>
            </p:cNvSpPr>
            <p:nvPr/>
          </p:nvSpPr>
          <p:spPr bwMode="auto">
            <a:xfrm>
              <a:off x="1412848" y="3596560"/>
              <a:ext cx="239566" cy="193719"/>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Arial" panose="020B0604020202020204"/>
                  <a:ea typeface="+mn-ea"/>
                  <a:cs typeface="+mn-cs"/>
                </a:rPr>
                <a:t>TEP</a:t>
              </a:r>
            </a:p>
          </p:txBody>
        </p:sp>
        <p:sp>
          <p:nvSpPr>
            <p:cNvPr id="65" name="Rectangle 618">
              <a:extLst>
                <a:ext uri="{FF2B5EF4-FFF2-40B4-BE49-F238E27FC236}">
                  <a16:creationId xmlns:a16="http://schemas.microsoft.com/office/drawing/2014/main" id="{ABECA362-752D-AFC7-3FE2-C7F487B3FF75}"/>
                </a:ext>
              </a:extLst>
            </p:cNvPr>
            <p:cNvSpPr>
              <a:spLocks noChangeArrowheads="1"/>
            </p:cNvSpPr>
            <p:nvPr/>
          </p:nvSpPr>
          <p:spPr bwMode="auto">
            <a:xfrm>
              <a:off x="3958424" y="3596560"/>
              <a:ext cx="239566" cy="193719"/>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Arial" panose="020B0604020202020204"/>
                  <a:ea typeface="+mn-ea"/>
                  <a:cs typeface="+mn-cs"/>
                </a:rPr>
                <a:t>TEP</a:t>
              </a:r>
            </a:p>
          </p:txBody>
        </p:sp>
        <p:sp>
          <p:nvSpPr>
            <p:cNvPr id="66" name="Rectangle 618">
              <a:extLst>
                <a:ext uri="{FF2B5EF4-FFF2-40B4-BE49-F238E27FC236}">
                  <a16:creationId xmlns:a16="http://schemas.microsoft.com/office/drawing/2014/main" id="{F95A5137-7403-4D0B-5330-01CF965B67F6}"/>
                </a:ext>
              </a:extLst>
            </p:cNvPr>
            <p:cNvSpPr>
              <a:spLocks noChangeArrowheads="1"/>
            </p:cNvSpPr>
            <p:nvPr/>
          </p:nvSpPr>
          <p:spPr bwMode="auto">
            <a:xfrm>
              <a:off x="3703653" y="3596560"/>
              <a:ext cx="239566" cy="193719"/>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Arial" panose="020B0604020202020204"/>
                  <a:ea typeface="+mn-ea"/>
                  <a:cs typeface="+mn-cs"/>
                </a:rPr>
                <a:t>TEP</a:t>
              </a:r>
            </a:p>
          </p:txBody>
        </p:sp>
        <p:sp>
          <p:nvSpPr>
            <p:cNvPr id="70" name="Rectangle 618">
              <a:extLst>
                <a:ext uri="{FF2B5EF4-FFF2-40B4-BE49-F238E27FC236}">
                  <a16:creationId xmlns:a16="http://schemas.microsoft.com/office/drawing/2014/main" id="{E008D198-20F5-A635-E030-00DDEC33956C}"/>
                </a:ext>
              </a:extLst>
            </p:cNvPr>
            <p:cNvSpPr>
              <a:spLocks noChangeArrowheads="1"/>
            </p:cNvSpPr>
            <p:nvPr/>
          </p:nvSpPr>
          <p:spPr bwMode="auto">
            <a:xfrm>
              <a:off x="2822651" y="3596560"/>
              <a:ext cx="239566" cy="193719"/>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Arial" panose="020B0604020202020204"/>
                  <a:ea typeface="+mn-ea"/>
                  <a:cs typeface="+mn-cs"/>
                </a:rPr>
                <a:t>TEP</a:t>
              </a:r>
            </a:p>
          </p:txBody>
        </p:sp>
        <p:sp>
          <p:nvSpPr>
            <p:cNvPr id="71" name="Rectangle 618">
              <a:extLst>
                <a:ext uri="{FF2B5EF4-FFF2-40B4-BE49-F238E27FC236}">
                  <a16:creationId xmlns:a16="http://schemas.microsoft.com/office/drawing/2014/main" id="{96DE2722-4C3D-13A1-D7A7-7B05C9BEF6A8}"/>
                </a:ext>
              </a:extLst>
            </p:cNvPr>
            <p:cNvSpPr>
              <a:spLocks noChangeArrowheads="1"/>
            </p:cNvSpPr>
            <p:nvPr/>
          </p:nvSpPr>
          <p:spPr bwMode="auto">
            <a:xfrm>
              <a:off x="2567880" y="3596560"/>
              <a:ext cx="239566" cy="193719"/>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Arial" panose="020B0604020202020204"/>
                  <a:ea typeface="+mn-ea"/>
                  <a:cs typeface="+mn-cs"/>
                </a:rPr>
                <a:t>TEP</a:t>
              </a:r>
            </a:p>
          </p:txBody>
        </p:sp>
        <p:cxnSp>
          <p:nvCxnSpPr>
            <p:cNvPr id="54" name="Straight Connector 53">
              <a:extLst>
                <a:ext uri="{FF2B5EF4-FFF2-40B4-BE49-F238E27FC236}">
                  <a16:creationId xmlns:a16="http://schemas.microsoft.com/office/drawing/2014/main" id="{4968BFF9-7DEB-68FA-643C-E6E822877C8D}"/>
                </a:ext>
              </a:extLst>
            </p:cNvPr>
            <p:cNvCxnSpPr>
              <a:cxnSpLocks/>
            </p:cNvCxnSpPr>
            <p:nvPr/>
          </p:nvCxnSpPr>
          <p:spPr bwMode="gray">
            <a:xfrm>
              <a:off x="1532631" y="2960436"/>
              <a:ext cx="0" cy="64800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2A34FE09-A905-3247-21EA-0D805127F3BD}"/>
                </a:ext>
              </a:extLst>
            </p:cNvPr>
            <p:cNvCxnSpPr>
              <a:cxnSpLocks/>
            </p:cNvCxnSpPr>
            <p:nvPr/>
          </p:nvCxnSpPr>
          <p:spPr bwMode="gray">
            <a:xfrm>
              <a:off x="1787402" y="2960436"/>
              <a:ext cx="0" cy="64800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42F8CCBA-FC5D-A891-8C10-787BF4A8721A}"/>
                </a:ext>
              </a:extLst>
            </p:cNvPr>
            <p:cNvCxnSpPr>
              <a:cxnSpLocks/>
            </p:cNvCxnSpPr>
            <p:nvPr/>
          </p:nvCxnSpPr>
          <p:spPr bwMode="gray">
            <a:xfrm>
              <a:off x="3823436" y="2960436"/>
              <a:ext cx="0" cy="64800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1CAF4644-92E5-D45C-0348-C822BDBABA9B}"/>
                </a:ext>
              </a:extLst>
            </p:cNvPr>
            <p:cNvCxnSpPr>
              <a:cxnSpLocks/>
            </p:cNvCxnSpPr>
            <p:nvPr/>
          </p:nvCxnSpPr>
          <p:spPr bwMode="gray">
            <a:xfrm>
              <a:off x="4078207" y="2960436"/>
              <a:ext cx="0" cy="64800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487A656F-8177-DA55-72BD-08EB6B50544E}"/>
                </a:ext>
              </a:extLst>
            </p:cNvPr>
            <p:cNvCxnSpPr>
              <a:cxnSpLocks/>
            </p:cNvCxnSpPr>
            <p:nvPr/>
          </p:nvCxnSpPr>
          <p:spPr bwMode="gray">
            <a:xfrm>
              <a:off x="2687663" y="2960436"/>
              <a:ext cx="0" cy="64800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D31EAB97-897F-FF42-91DC-35260CC8B544}"/>
                </a:ext>
              </a:extLst>
            </p:cNvPr>
            <p:cNvCxnSpPr>
              <a:cxnSpLocks/>
            </p:cNvCxnSpPr>
            <p:nvPr/>
          </p:nvCxnSpPr>
          <p:spPr bwMode="gray">
            <a:xfrm>
              <a:off x="2942434" y="2964581"/>
              <a:ext cx="0" cy="64800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1" name="Rectangle 120">
              <a:extLst>
                <a:ext uri="{FF2B5EF4-FFF2-40B4-BE49-F238E27FC236}">
                  <a16:creationId xmlns:a16="http://schemas.microsoft.com/office/drawing/2014/main" id="{9DF282B4-55C8-B245-B370-24DBC62EE8CA}"/>
                </a:ext>
              </a:extLst>
            </p:cNvPr>
            <p:cNvSpPr/>
            <p:nvPr/>
          </p:nvSpPr>
          <p:spPr bwMode="gray">
            <a:xfrm>
              <a:off x="1065213" y="4916102"/>
              <a:ext cx="3240000" cy="812549"/>
            </a:xfrm>
            <a:prstGeom prst="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Configured by VCF Operations</a:t>
              </a:r>
            </a:p>
          </p:txBody>
        </p:sp>
      </p:grpSp>
      <p:grpSp>
        <p:nvGrpSpPr>
          <p:cNvPr id="52" name="Group 51">
            <a:extLst>
              <a:ext uri="{FF2B5EF4-FFF2-40B4-BE49-F238E27FC236}">
                <a16:creationId xmlns:a16="http://schemas.microsoft.com/office/drawing/2014/main" id="{C98360EE-6D92-653A-3175-3BFA59D8B781}"/>
              </a:ext>
            </a:extLst>
          </p:cNvPr>
          <p:cNvGrpSpPr/>
          <p:nvPr/>
        </p:nvGrpSpPr>
        <p:grpSpPr>
          <a:xfrm>
            <a:off x="1065213" y="2759219"/>
            <a:ext cx="3657600" cy="209159"/>
            <a:chOff x="1065213" y="2759219"/>
            <a:chExt cx="3657600" cy="209159"/>
          </a:xfrm>
        </p:grpSpPr>
        <p:sp>
          <p:nvSpPr>
            <p:cNvPr id="23" name="!!TextBox 75">
              <a:extLst>
                <a:ext uri="{FF2B5EF4-FFF2-40B4-BE49-F238E27FC236}">
                  <a16:creationId xmlns:a16="http://schemas.microsoft.com/office/drawing/2014/main" id="{28F0F10B-7579-3BC9-8766-1F07C57F6BBD}"/>
                </a:ext>
              </a:extLst>
            </p:cNvPr>
            <p:cNvSpPr txBox="1"/>
            <p:nvPr/>
          </p:nvSpPr>
          <p:spPr>
            <a:xfrm>
              <a:off x="1065213" y="2759219"/>
              <a:ext cx="3118919" cy="169277"/>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3F3F3F"/>
                  </a:solidFill>
                  <a:effectLst/>
                  <a:uLnTx/>
                  <a:uFillTx/>
                  <a:latin typeface="Arial" panose="020B0604020202020204"/>
                  <a:ea typeface="+mn-ea"/>
                  <a:cs typeface="+mn-cs"/>
                </a:rPr>
                <a:t>NSX Overlay network</a:t>
              </a:r>
            </a:p>
          </p:txBody>
        </p:sp>
        <p:cxnSp>
          <p:nvCxnSpPr>
            <p:cNvPr id="9" name="Straight Connector 8">
              <a:extLst>
                <a:ext uri="{FF2B5EF4-FFF2-40B4-BE49-F238E27FC236}">
                  <a16:creationId xmlns:a16="http://schemas.microsoft.com/office/drawing/2014/main" id="{FD9C8EFF-A050-B81A-025D-43ECEEA9AB62}"/>
                </a:ext>
              </a:extLst>
            </p:cNvPr>
            <p:cNvCxnSpPr>
              <a:cxnSpLocks/>
            </p:cNvCxnSpPr>
            <p:nvPr/>
          </p:nvCxnSpPr>
          <p:spPr bwMode="gray">
            <a:xfrm>
              <a:off x="1065213" y="2968378"/>
              <a:ext cx="36576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999F1CD2-A6D7-A7E5-7331-0064F02A5411}"/>
              </a:ext>
            </a:extLst>
          </p:cNvPr>
          <p:cNvCxnSpPr>
            <a:cxnSpLocks/>
          </p:cNvCxnSpPr>
          <p:nvPr/>
        </p:nvCxnSpPr>
        <p:spPr bwMode="gray">
          <a:xfrm>
            <a:off x="8380413" y="2777196"/>
            <a:ext cx="27432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 name="Rectangle: Rounded Corners 42">
            <a:extLst>
              <a:ext uri="{FF2B5EF4-FFF2-40B4-BE49-F238E27FC236}">
                <a16:creationId xmlns:a16="http://schemas.microsoft.com/office/drawing/2014/main" id="{90C9ED15-3D58-36FA-9C4E-63F8C59DB594}"/>
              </a:ext>
            </a:extLst>
          </p:cNvPr>
          <p:cNvSpPr/>
          <p:nvPr/>
        </p:nvSpPr>
        <p:spPr>
          <a:xfrm>
            <a:off x="9764126" y="3544503"/>
            <a:ext cx="923679" cy="486624"/>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NSX manager</a:t>
            </a:r>
          </a:p>
        </p:txBody>
      </p:sp>
      <p:sp>
        <p:nvSpPr>
          <p:cNvPr id="2" name="Rectangle: Rounded Corners 42">
            <a:extLst>
              <a:ext uri="{FF2B5EF4-FFF2-40B4-BE49-F238E27FC236}">
                <a16:creationId xmlns:a16="http://schemas.microsoft.com/office/drawing/2014/main" id="{0BF16B05-B7E0-5A82-D30E-621FA9D072FA}"/>
              </a:ext>
            </a:extLst>
          </p:cNvPr>
          <p:cNvSpPr/>
          <p:nvPr/>
        </p:nvSpPr>
        <p:spPr>
          <a:xfrm>
            <a:off x="6215690" y="3554132"/>
            <a:ext cx="923679" cy="904771"/>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Edge node VM2</a:t>
            </a:r>
          </a:p>
        </p:txBody>
      </p:sp>
      <p:sp>
        <p:nvSpPr>
          <p:cNvPr id="17" name="Rectangle: Rounded Corners 42">
            <a:extLst>
              <a:ext uri="{FF2B5EF4-FFF2-40B4-BE49-F238E27FC236}">
                <a16:creationId xmlns:a16="http://schemas.microsoft.com/office/drawing/2014/main" id="{8268A96D-D791-E486-6CB9-C0494FC60331}"/>
              </a:ext>
            </a:extLst>
          </p:cNvPr>
          <p:cNvSpPr/>
          <p:nvPr/>
        </p:nvSpPr>
        <p:spPr>
          <a:xfrm>
            <a:off x="5088565" y="3554132"/>
            <a:ext cx="923679" cy="904771"/>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Edge node VM1</a:t>
            </a:r>
          </a:p>
        </p:txBody>
      </p:sp>
      <p:sp>
        <p:nvSpPr>
          <p:cNvPr id="75" name="Rectangle 618">
            <a:extLst>
              <a:ext uri="{FF2B5EF4-FFF2-40B4-BE49-F238E27FC236}">
                <a16:creationId xmlns:a16="http://schemas.microsoft.com/office/drawing/2014/main" id="{9282330E-3369-697F-3659-D96F9B78E3CF}"/>
              </a:ext>
            </a:extLst>
          </p:cNvPr>
          <p:cNvSpPr>
            <a:spLocks noChangeArrowheads="1"/>
          </p:cNvSpPr>
          <p:nvPr/>
        </p:nvSpPr>
        <p:spPr bwMode="auto">
          <a:xfrm>
            <a:off x="5707651" y="3596560"/>
            <a:ext cx="239566" cy="193719"/>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Arial" panose="020B0604020202020204"/>
                <a:ea typeface="+mn-ea"/>
                <a:cs typeface="+mn-cs"/>
              </a:rPr>
              <a:t>TEP</a:t>
            </a:r>
          </a:p>
        </p:txBody>
      </p:sp>
      <p:sp>
        <p:nvSpPr>
          <p:cNvPr id="76" name="Rectangle 618">
            <a:extLst>
              <a:ext uri="{FF2B5EF4-FFF2-40B4-BE49-F238E27FC236}">
                <a16:creationId xmlns:a16="http://schemas.microsoft.com/office/drawing/2014/main" id="{D7836AF2-0028-0996-9B33-6D148130CA85}"/>
              </a:ext>
            </a:extLst>
          </p:cNvPr>
          <p:cNvSpPr>
            <a:spLocks noChangeArrowheads="1"/>
          </p:cNvSpPr>
          <p:nvPr/>
        </p:nvSpPr>
        <p:spPr bwMode="auto">
          <a:xfrm>
            <a:off x="5452880" y="3596560"/>
            <a:ext cx="239566" cy="193719"/>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Arial" panose="020B0604020202020204"/>
                <a:ea typeface="+mn-ea"/>
                <a:cs typeface="+mn-cs"/>
              </a:rPr>
              <a:t>TEP</a:t>
            </a:r>
          </a:p>
        </p:txBody>
      </p:sp>
      <p:sp>
        <p:nvSpPr>
          <p:cNvPr id="80" name="Rectangle 618">
            <a:extLst>
              <a:ext uri="{FF2B5EF4-FFF2-40B4-BE49-F238E27FC236}">
                <a16:creationId xmlns:a16="http://schemas.microsoft.com/office/drawing/2014/main" id="{87825E35-BA64-0D6E-4E0C-7EAAFD1FF028}"/>
              </a:ext>
            </a:extLst>
          </p:cNvPr>
          <p:cNvSpPr>
            <a:spLocks noChangeArrowheads="1"/>
          </p:cNvSpPr>
          <p:nvPr/>
        </p:nvSpPr>
        <p:spPr bwMode="auto">
          <a:xfrm>
            <a:off x="6839334" y="3596560"/>
            <a:ext cx="239566" cy="193719"/>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Arial" panose="020B0604020202020204"/>
                <a:ea typeface="+mn-ea"/>
                <a:cs typeface="+mn-cs"/>
              </a:rPr>
              <a:t>TEP</a:t>
            </a:r>
          </a:p>
        </p:txBody>
      </p:sp>
      <p:sp>
        <p:nvSpPr>
          <p:cNvPr id="81" name="Rectangle 618">
            <a:extLst>
              <a:ext uri="{FF2B5EF4-FFF2-40B4-BE49-F238E27FC236}">
                <a16:creationId xmlns:a16="http://schemas.microsoft.com/office/drawing/2014/main" id="{D81014DD-9C11-9136-F6C7-E4D93766F840}"/>
              </a:ext>
            </a:extLst>
          </p:cNvPr>
          <p:cNvSpPr>
            <a:spLocks noChangeArrowheads="1"/>
          </p:cNvSpPr>
          <p:nvPr/>
        </p:nvSpPr>
        <p:spPr bwMode="auto">
          <a:xfrm>
            <a:off x="6584563" y="3596560"/>
            <a:ext cx="239566" cy="193719"/>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Arial" panose="020B0604020202020204"/>
                <a:ea typeface="+mn-ea"/>
                <a:cs typeface="+mn-cs"/>
              </a:rPr>
              <a:t>TEP</a:t>
            </a:r>
          </a:p>
        </p:txBody>
      </p:sp>
      <p:sp>
        <p:nvSpPr>
          <p:cNvPr id="122" name="Rectangle 121">
            <a:extLst>
              <a:ext uri="{FF2B5EF4-FFF2-40B4-BE49-F238E27FC236}">
                <a16:creationId xmlns:a16="http://schemas.microsoft.com/office/drawing/2014/main" id="{0661B378-16B6-1347-00C1-4D84B38E4CD0}"/>
              </a:ext>
            </a:extLst>
          </p:cNvPr>
          <p:cNvSpPr/>
          <p:nvPr/>
        </p:nvSpPr>
        <p:spPr bwMode="gray">
          <a:xfrm>
            <a:off x="4474413" y="4916103"/>
            <a:ext cx="3240000" cy="812549"/>
          </a:xfrm>
          <a:prstGeom prst="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Deployed from vCenter</a:t>
            </a:r>
            <a:b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b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(optional)</a:t>
            </a:r>
          </a:p>
        </p:txBody>
      </p:sp>
      <p:sp>
        <p:nvSpPr>
          <p:cNvPr id="40" name="!!TextBox 75">
            <a:extLst>
              <a:ext uri="{FF2B5EF4-FFF2-40B4-BE49-F238E27FC236}">
                <a16:creationId xmlns:a16="http://schemas.microsoft.com/office/drawing/2014/main" id="{F7B533B6-558A-9122-92D4-9D089E36B59A}"/>
              </a:ext>
            </a:extLst>
          </p:cNvPr>
          <p:cNvSpPr txBox="1"/>
          <p:nvPr/>
        </p:nvSpPr>
        <p:spPr>
          <a:xfrm>
            <a:off x="2398312" y="2759219"/>
            <a:ext cx="1620235" cy="169277"/>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3F3F3F"/>
                </a:solidFill>
                <a:effectLst/>
                <a:uLnTx/>
                <a:uFillTx/>
                <a:latin typeface="Arial" panose="020B0604020202020204"/>
                <a:ea typeface="+mn-ea"/>
                <a:cs typeface="+mn-cs"/>
              </a:rPr>
              <a:t>/Edge Overlay Network</a:t>
            </a:r>
          </a:p>
        </p:txBody>
      </p:sp>
      <p:grpSp>
        <p:nvGrpSpPr>
          <p:cNvPr id="6" name="Group 5">
            <a:extLst>
              <a:ext uri="{FF2B5EF4-FFF2-40B4-BE49-F238E27FC236}">
                <a16:creationId xmlns:a16="http://schemas.microsoft.com/office/drawing/2014/main" id="{086E4477-5732-DE15-5333-A4F0F55D7853}"/>
              </a:ext>
              <a:ext uri="{C183D7F6-B498-43B3-948B-1728B52AA6E4}">
                <adec:decorative xmlns:adec="http://schemas.microsoft.com/office/drawing/2017/decorative" val="1"/>
              </a:ext>
            </a:extLst>
          </p:cNvPr>
          <p:cNvGrpSpPr/>
          <p:nvPr/>
        </p:nvGrpSpPr>
        <p:grpSpPr>
          <a:xfrm>
            <a:off x="4956002" y="2349723"/>
            <a:ext cx="448021" cy="448019"/>
            <a:chOff x="4401847" y="3166118"/>
            <a:chExt cx="600837" cy="600837"/>
          </a:xfrm>
        </p:grpSpPr>
        <p:sp>
          <p:nvSpPr>
            <p:cNvPr id="34" name="Oval 33">
              <a:extLst>
                <a:ext uri="{FF2B5EF4-FFF2-40B4-BE49-F238E27FC236}">
                  <a16:creationId xmlns:a16="http://schemas.microsoft.com/office/drawing/2014/main" id="{F53F937B-56AF-6CA2-6E9D-2A61188483E6}"/>
                </a:ext>
              </a:extLst>
            </p:cNvPr>
            <p:cNvSpPr/>
            <p:nvPr/>
          </p:nvSpPr>
          <p:spPr>
            <a:xfrm>
              <a:off x="4415326" y="3179600"/>
              <a:ext cx="573868" cy="573869"/>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Metropolis"/>
                <a:ea typeface="+mn-ea"/>
                <a:cs typeface="+mn-cs"/>
              </a:endParaRPr>
            </a:p>
          </p:txBody>
        </p:sp>
        <p:grpSp>
          <p:nvGrpSpPr>
            <p:cNvPr id="35" name="Group 34" descr="Router&#10;">
              <a:extLst>
                <a:ext uri="{FF2B5EF4-FFF2-40B4-BE49-F238E27FC236}">
                  <a16:creationId xmlns:a16="http://schemas.microsoft.com/office/drawing/2014/main" id="{67B6F0C6-4E44-1594-37F2-1C111C5E91C8}"/>
                </a:ext>
              </a:extLst>
            </p:cNvPr>
            <p:cNvGrpSpPr/>
            <p:nvPr/>
          </p:nvGrpSpPr>
          <p:grpSpPr>
            <a:xfrm>
              <a:off x="4401847" y="3166118"/>
              <a:ext cx="600837" cy="600837"/>
              <a:chOff x="529963" y="1943518"/>
              <a:chExt cx="600837" cy="600837"/>
            </a:xfrm>
            <a:solidFill>
              <a:schemeClr val="accent5"/>
            </a:solidFill>
          </p:grpSpPr>
          <p:sp>
            <p:nvSpPr>
              <p:cNvPr id="36" name="Picture Placeholder 83">
                <a:extLst>
                  <a:ext uri="{FF2B5EF4-FFF2-40B4-BE49-F238E27FC236}">
                    <a16:creationId xmlns:a16="http://schemas.microsoft.com/office/drawing/2014/main" id="{F2D32B4A-245B-1F57-CABF-0C0A3E143EDF}"/>
                  </a:ext>
                </a:extLst>
              </p:cNvPr>
              <p:cNvSpPr/>
              <p:nvPr/>
            </p:nvSpPr>
            <p:spPr>
              <a:xfrm>
                <a:off x="529963" y="1943518"/>
                <a:ext cx="600837" cy="600837"/>
              </a:xfrm>
              <a:custGeom>
                <a:avLst/>
                <a:gdLst>
                  <a:gd name="connsiteX0" fmla="*/ 300419 w 600837"/>
                  <a:gd name="connsiteY0" fmla="*/ 15812 h 600837"/>
                  <a:gd name="connsiteX1" fmla="*/ 585026 w 600837"/>
                  <a:gd name="connsiteY1" fmla="*/ 300419 h 600837"/>
                  <a:gd name="connsiteX2" fmla="*/ 300419 w 600837"/>
                  <a:gd name="connsiteY2" fmla="*/ 585026 h 600837"/>
                  <a:gd name="connsiteX3" fmla="*/ 15812 w 600837"/>
                  <a:gd name="connsiteY3" fmla="*/ 300419 h 600837"/>
                  <a:gd name="connsiteX4" fmla="*/ 300419 w 600837"/>
                  <a:gd name="connsiteY4" fmla="*/ 15812 h 600837"/>
                  <a:gd name="connsiteX5" fmla="*/ 300419 w 600837"/>
                  <a:gd name="connsiteY5" fmla="*/ 0 h 600837"/>
                  <a:gd name="connsiteX6" fmla="*/ 0 w 600837"/>
                  <a:gd name="connsiteY6" fmla="*/ 300419 h 600837"/>
                  <a:gd name="connsiteX7" fmla="*/ 300419 w 600837"/>
                  <a:gd name="connsiteY7" fmla="*/ 600837 h 600837"/>
                  <a:gd name="connsiteX8" fmla="*/ 600837 w 600837"/>
                  <a:gd name="connsiteY8" fmla="*/ 300419 h 600837"/>
                  <a:gd name="connsiteX9" fmla="*/ 300419 w 600837"/>
                  <a:gd name="connsiteY9" fmla="*/ 0 h 60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0837" h="600837">
                    <a:moveTo>
                      <a:pt x="300419" y="15812"/>
                    </a:moveTo>
                    <a:cubicBezTo>
                      <a:pt x="457603" y="15812"/>
                      <a:pt x="585026" y="143234"/>
                      <a:pt x="585026" y="300419"/>
                    </a:cubicBezTo>
                    <a:cubicBezTo>
                      <a:pt x="585026" y="457603"/>
                      <a:pt x="457603" y="585026"/>
                      <a:pt x="300419" y="585026"/>
                    </a:cubicBezTo>
                    <a:cubicBezTo>
                      <a:pt x="143234" y="585026"/>
                      <a:pt x="15812" y="457603"/>
                      <a:pt x="15812" y="300419"/>
                    </a:cubicBezTo>
                    <a:cubicBezTo>
                      <a:pt x="15986" y="143307"/>
                      <a:pt x="143307" y="15986"/>
                      <a:pt x="300419" y="15812"/>
                    </a:cubicBezTo>
                    <a:moveTo>
                      <a:pt x="300419" y="0"/>
                    </a:moveTo>
                    <a:cubicBezTo>
                      <a:pt x="134502" y="0"/>
                      <a:pt x="0" y="134502"/>
                      <a:pt x="0" y="300419"/>
                    </a:cubicBezTo>
                    <a:cubicBezTo>
                      <a:pt x="0" y="466335"/>
                      <a:pt x="134502" y="600837"/>
                      <a:pt x="300419" y="600837"/>
                    </a:cubicBezTo>
                    <a:cubicBezTo>
                      <a:pt x="466335" y="600837"/>
                      <a:pt x="600837" y="466335"/>
                      <a:pt x="600837" y="300419"/>
                    </a:cubicBezTo>
                    <a:cubicBezTo>
                      <a:pt x="600837" y="134502"/>
                      <a:pt x="466335" y="0"/>
                      <a:pt x="300419" y="0"/>
                    </a:cubicBezTo>
                    <a:close/>
                  </a:path>
                </a:pathLst>
              </a:custGeom>
              <a:solidFill>
                <a:schemeClr val="tx1"/>
              </a:solid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717074"/>
                  </a:solidFill>
                  <a:effectLst/>
                  <a:uLnTx/>
                  <a:uFillTx/>
                  <a:latin typeface="Metropolis"/>
                  <a:ea typeface="+mn-ea"/>
                  <a:cs typeface="+mn-cs"/>
                </a:endParaRPr>
              </a:p>
            </p:txBody>
          </p:sp>
          <p:sp>
            <p:nvSpPr>
              <p:cNvPr id="38" name="Picture Placeholder 83">
                <a:extLst>
                  <a:ext uri="{FF2B5EF4-FFF2-40B4-BE49-F238E27FC236}">
                    <a16:creationId xmlns:a16="http://schemas.microsoft.com/office/drawing/2014/main" id="{47B6C24D-7F0E-1491-80B2-0D5DB82AA2E2}"/>
                  </a:ext>
                </a:extLst>
              </p:cNvPr>
              <p:cNvSpPr/>
              <p:nvPr/>
            </p:nvSpPr>
            <p:spPr>
              <a:xfrm>
                <a:off x="591561" y="2201436"/>
                <a:ext cx="189738" cy="85192"/>
              </a:xfrm>
              <a:custGeom>
                <a:avLst/>
                <a:gdLst>
                  <a:gd name="connsiteX0" fmla="*/ 115993 w 189738"/>
                  <a:gd name="connsiteY0" fmla="*/ 26753 h 85192"/>
                  <a:gd name="connsiteX1" fmla="*/ 0 w 189738"/>
                  <a:gd name="connsiteY1" fmla="*/ 26753 h 85192"/>
                  <a:gd name="connsiteX2" fmla="*/ 0 w 189738"/>
                  <a:gd name="connsiteY2" fmla="*/ 58376 h 85192"/>
                  <a:gd name="connsiteX3" fmla="*/ 115993 w 189738"/>
                  <a:gd name="connsiteY3" fmla="*/ 58376 h 85192"/>
                  <a:gd name="connsiteX4" fmla="*/ 115993 w 189738"/>
                  <a:gd name="connsiteY4" fmla="*/ 85192 h 85192"/>
                  <a:gd name="connsiteX5" fmla="*/ 189738 w 189738"/>
                  <a:gd name="connsiteY5" fmla="*/ 42565 h 85192"/>
                  <a:gd name="connsiteX6" fmla="*/ 115993 w 189738"/>
                  <a:gd name="connsiteY6" fmla="*/ 0 h 85192"/>
                  <a:gd name="connsiteX7" fmla="*/ 115993 w 189738"/>
                  <a:gd name="connsiteY7" fmla="*/ 26753 h 8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9738" h="85192">
                    <a:moveTo>
                      <a:pt x="115993" y="26753"/>
                    </a:moveTo>
                    <a:lnTo>
                      <a:pt x="0" y="26753"/>
                    </a:lnTo>
                    <a:lnTo>
                      <a:pt x="0" y="58376"/>
                    </a:lnTo>
                    <a:lnTo>
                      <a:pt x="115993" y="58376"/>
                    </a:lnTo>
                    <a:lnTo>
                      <a:pt x="115993" y="85192"/>
                    </a:lnTo>
                    <a:lnTo>
                      <a:pt x="189738" y="42565"/>
                    </a:lnTo>
                    <a:lnTo>
                      <a:pt x="115993" y="0"/>
                    </a:lnTo>
                    <a:lnTo>
                      <a:pt x="115993" y="26753"/>
                    </a:lnTo>
                    <a:close/>
                  </a:path>
                </a:pathLst>
              </a:custGeom>
              <a:solidFill>
                <a:schemeClr val="tx2"/>
              </a:solid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717074"/>
                  </a:solidFill>
                  <a:effectLst/>
                  <a:uLnTx/>
                  <a:uFillTx/>
                  <a:latin typeface="Metropolis"/>
                  <a:ea typeface="+mn-ea"/>
                  <a:cs typeface="+mn-cs"/>
                </a:endParaRPr>
              </a:p>
            </p:txBody>
          </p:sp>
          <p:sp>
            <p:nvSpPr>
              <p:cNvPr id="50" name="Picture Placeholder 83">
                <a:extLst>
                  <a:ext uri="{FF2B5EF4-FFF2-40B4-BE49-F238E27FC236}">
                    <a16:creationId xmlns:a16="http://schemas.microsoft.com/office/drawing/2014/main" id="{83B39DAA-5EBB-9E47-87C8-90AC5E0828C8}"/>
                  </a:ext>
                </a:extLst>
              </p:cNvPr>
              <p:cNvSpPr/>
              <p:nvPr/>
            </p:nvSpPr>
            <p:spPr>
              <a:xfrm>
                <a:off x="879457" y="2201436"/>
                <a:ext cx="189738" cy="85192"/>
              </a:xfrm>
              <a:custGeom>
                <a:avLst/>
                <a:gdLst>
                  <a:gd name="connsiteX0" fmla="*/ 189738 w 189738"/>
                  <a:gd name="connsiteY0" fmla="*/ 26753 h 85192"/>
                  <a:gd name="connsiteX1" fmla="*/ 73745 w 189738"/>
                  <a:gd name="connsiteY1" fmla="*/ 26753 h 85192"/>
                  <a:gd name="connsiteX2" fmla="*/ 73745 w 189738"/>
                  <a:gd name="connsiteY2" fmla="*/ 0 h 85192"/>
                  <a:gd name="connsiteX3" fmla="*/ 0 w 189738"/>
                  <a:gd name="connsiteY3" fmla="*/ 42565 h 85192"/>
                  <a:gd name="connsiteX4" fmla="*/ 73745 w 189738"/>
                  <a:gd name="connsiteY4" fmla="*/ 85192 h 85192"/>
                  <a:gd name="connsiteX5" fmla="*/ 73745 w 189738"/>
                  <a:gd name="connsiteY5" fmla="*/ 58376 h 85192"/>
                  <a:gd name="connsiteX6" fmla="*/ 189738 w 189738"/>
                  <a:gd name="connsiteY6" fmla="*/ 58376 h 85192"/>
                  <a:gd name="connsiteX7" fmla="*/ 189738 w 189738"/>
                  <a:gd name="connsiteY7" fmla="*/ 26753 h 8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9738" h="85192">
                    <a:moveTo>
                      <a:pt x="189738" y="26753"/>
                    </a:moveTo>
                    <a:lnTo>
                      <a:pt x="73745" y="26753"/>
                    </a:lnTo>
                    <a:lnTo>
                      <a:pt x="73745" y="0"/>
                    </a:lnTo>
                    <a:lnTo>
                      <a:pt x="0" y="42565"/>
                    </a:lnTo>
                    <a:lnTo>
                      <a:pt x="73745" y="85192"/>
                    </a:lnTo>
                    <a:lnTo>
                      <a:pt x="73745" y="58376"/>
                    </a:lnTo>
                    <a:lnTo>
                      <a:pt x="189738" y="58376"/>
                    </a:lnTo>
                    <a:lnTo>
                      <a:pt x="189738" y="26753"/>
                    </a:lnTo>
                    <a:close/>
                  </a:path>
                </a:pathLst>
              </a:custGeom>
              <a:solidFill>
                <a:schemeClr val="tx2"/>
              </a:solid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717074"/>
                  </a:solidFill>
                  <a:effectLst/>
                  <a:uLnTx/>
                  <a:uFillTx/>
                  <a:latin typeface="Metropolis"/>
                  <a:ea typeface="+mn-ea"/>
                  <a:cs typeface="+mn-cs"/>
                </a:endParaRPr>
              </a:p>
            </p:txBody>
          </p:sp>
          <p:sp>
            <p:nvSpPr>
              <p:cNvPr id="53" name="Picture Placeholder 83">
                <a:extLst>
                  <a:ext uri="{FF2B5EF4-FFF2-40B4-BE49-F238E27FC236}">
                    <a16:creationId xmlns:a16="http://schemas.microsoft.com/office/drawing/2014/main" id="{76C5FAC1-76DA-4FB3-6D3F-EEC5C1B11A0B}"/>
                  </a:ext>
                </a:extLst>
              </p:cNvPr>
              <p:cNvSpPr/>
              <p:nvPr/>
            </p:nvSpPr>
            <p:spPr>
              <a:xfrm>
                <a:off x="787813" y="2010243"/>
                <a:ext cx="85129" cy="189738"/>
              </a:xfrm>
              <a:custGeom>
                <a:avLst/>
                <a:gdLst>
                  <a:gd name="connsiteX0" fmla="*/ 0 w 85129"/>
                  <a:gd name="connsiteY0" fmla="*/ 73745 h 189738"/>
                  <a:gd name="connsiteX1" fmla="*/ 26753 w 85129"/>
                  <a:gd name="connsiteY1" fmla="*/ 73745 h 189738"/>
                  <a:gd name="connsiteX2" fmla="*/ 26753 w 85129"/>
                  <a:gd name="connsiteY2" fmla="*/ 189738 h 189738"/>
                  <a:gd name="connsiteX3" fmla="*/ 58376 w 85129"/>
                  <a:gd name="connsiteY3" fmla="*/ 189738 h 189738"/>
                  <a:gd name="connsiteX4" fmla="*/ 58376 w 85129"/>
                  <a:gd name="connsiteY4" fmla="*/ 73745 h 189738"/>
                  <a:gd name="connsiteX5" fmla="*/ 85129 w 85129"/>
                  <a:gd name="connsiteY5" fmla="*/ 73745 h 189738"/>
                  <a:gd name="connsiteX6" fmla="*/ 42565 w 85129"/>
                  <a:gd name="connsiteY6" fmla="*/ 0 h 189738"/>
                  <a:gd name="connsiteX7" fmla="*/ 0 w 85129"/>
                  <a:gd name="connsiteY7" fmla="*/ 73745 h 189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129" h="189738">
                    <a:moveTo>
                      <a:pt x="0" y="73745"/>
                    </a:moveTo>
                    <a:lnTo>
                      <a:pt x="26753" y="73745"/>
                    </a:lnTo>
                    <a:lnTo>
                      <a:pt x="26753" y="189738"/>
                    </a:lnTo>
                    <a:lnTo>
                      <a:pt x="58376" y="189738"/>
                    </a:lnTo>
                    <a:lnTo>
                      <a:pt x="58376" y="73745"/>
                    </a:lnTo>
                    <a:lnTo>
                      <a:pt x="85129" y="73745"/>
                    </a:lnTo>
                    <a:lnTo>
                      <a:pt x="42565" y="0"/>
                    </a:lnTo>
                    <a:lnTo>
                      <a:pt x="0" y="73745"/>
                    </a:lnTo>
                    <a:close/>
                  </a:path>
                </a:pathLst>
              </a:custGeom>
              <a:solidFill>
                <a:schemeClr val="tx2"/>
              </a:solid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717074"/>
                  </a:solidFill>
                  <a:effectLst/>
                  <a:uLnTx/>
                  <a:uFillTx/>
                  <a:latin typeface="Metropolis"/>
                  <a:ea typeface="+mn-ea"/>
                  <a:cs typeface="+mn-cs"/>
                </a:endParaRPr>
              </a:p>
            </p:txBody>
          </p:sp>
          <p:sp>
            <p:nvSpPr>
              <p:cNvPr id="55" name="Picture Placeholder 83">
                <a:extLst>
                  <a:ext uri="{FF2B5EF4-FFF2-40B4-BE49-F238E27FC236}">
                    <a16:creationId xmlns:a16="http://schemas.microsoft.com/office/drawing/2014/main" id="{33C8F6FF-C76D-EE10-2537-4967F725A185}"/>
                  </a:ext>
                </a:extLst>
              </p:cNvPr>
              <p:cNvSpPr/>
              <p:nvPr/>
            </p:nvSpPr>
            <p:spPr>
              <a:xfrm>
                <a:off x="787813" y="2288083"/>
                <a:ext cx="85129" cy="189738"/>
              </a:xfrm>
              <a:custGeom>
                <a:avLst/>
                <a:gdLst>
                  <a:gd name="connsiteX0" fmla="*/ 58376 w 85129"/>
                  <a:gd name="connsiteY0" fmla="*/ 0 h 189738"/>
                  <a:gd name="connsiteX1" fmla="*/ 26753 w 85129"/>
                  <a:gd name="connsiteY1" fmla="*/ 0 h 189738"/>
                  <a:gd name="connsiteX2" fmla="*/ 26753 w 85129"/>
                  <a:gd name="connsiteY2" fmla="*/ 115993 h 189738"/>
                  <a:gd name="connsiteX3" fmla="*/ 0 w 85129"/>
                  <a:gd name="connsiteY3" fmla="*/ 115993 h 189738"/>
                  <a:gd name="connsiteX4" fmla="*/ 42565 w 85129"/>
                  <a:gd name="connsiteY4" fmla="*/ 189738 h 189738"/>
                  <a:gd name="connsiteX5" fmla="*/ 85129 w 85129"/>
                  <a:gd name="connsiteY5" fmla="*/ 115993 h 189738"/>
                  <a:gd name="connsiteX6" fmla="*/ 58376 w 85129"/>
                  <a:gd name="connsiteY6" fmla="*/ 115993 h 189738"/>
                  <a:gd name="connsiteX7" fmla="*/ 58376 w 85129"/>
                  <a:gd name="connsiteY7" fmla="*/ 0 h 189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129" h="189738">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tx2"/>
              </a:solid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717074"/>
                  </a:solidFill>
                  <a:effectLst/>
                  <a:uLnTx/>
                  <a:uFillTx/>
                  <a:latin typeface="Metropolis"/>
                  <a:ea typeface="+mn-ea"/>
                  <a:cs typeface="+mn-cs"/>
                </a:endParaRPr>
              </a:p>
            </p:txBody>
          </p:sp>
        </p:grpSp>
      </p:grpSp>
      <p:grpSp>
        <p:nvGrpSpPr>
          <p:cNvPr id="7" name="Group 6">
            <a:extLst>
              <a:ext uri="{FF2B5EF4-FFF2-40B4-BE49-F238E27FC236}">
                <a16:creationId xmlns:a16="http://schemas.microsoft.com/office/drawing/2014/main" id="{85FDC118-F09F-26D1-0F07-A4EB5E6B43F7}"/>
              </a:ext>
            </a:extLst>
          </p:cNvPr>
          <p:cNvGrpSpPr/>
          <p:nvPr/>
        </p:nvGrpSpPr>
        <p:grpSpPr>
          <a:xfrm>
            <a:off x="5183643" y="2565133"/>
            <a:ext cx="1895737" cy="1402883"/>
            <a:chOff x="8947684" y="2483318"/>
            <a:chExt cx="1895737" cy="1402883"/>
          </a:xfrm>
        </p:grpSpPr>
        <p:grpSp>
          <p:nvGrpSpPr>
            <p:cNvPr id="27" name="Group 26">
              <a:extLst>
                <a:ext uri="{FF2B5EF4-FFF2-40B4-BE49-F238E27FC236}">
                  <a16:creationId xmlns:a16="http://schemas.microsoft.com/office/drawing/2014/main" id="{E1B075E7-C514-8B7B-D637-A44BCC9D4B80}"/>
                </a:ext>
              </a:extLst>
            </p:cNvPr>
            <p:cNvGrpSpPr/>
            <p:nvPr/>
          </p:nvGrpSpPr>
          <p:grpSpPr>
            <a:xfrm>
              <a:off x="8947684" y="3250195"/>
              <a:ext cx="1895737" cy="636006"/>
              <a:chOff x="8947684" y="3250195"/>
              <a:chExt cx="1895737" cy="636006"/>
            </a:xfrm>
          </p:grpSpPr>
          <p:grpSp>
            <p:nvGrpSpPr>
              <p:cNvPr id="30" name="Group 29">
                <a:extLst>
                  <a:ext uri="{FF2B5EF4-FFF2-40B4-BE49-F238E27FC236}">
                    <a16:creationId xmlns:a16="http://schemas.microsoft.com/office/drawing/2014/main" id="{948D17B7-4F7A-A367-0AF5-B73C4107BA65}"/>
                  </a:ext>
                </a:extLst>
              </p:cNvPr>
              <p:cNvGrpSpPr/>
              <p:nvPr/>
            </p:nvGrpSpPr>
            <p:grpSpPr>
              <a:xfrm>
                <a:off x="8947684" y="3250195"/>
                <a:ext cx="1895737" cy="636006"/>
                <a:chOff x="8980802" y="3250195"/>
                <a:chExt cx="1895737" cy="636006"/>
              </a:xfrm>
            </p:grpSpPr>
            <p:sp>
              <p:nvSpPr>
                <p:cNvPr id="32" name="Rectangle: Rounded Corners 42">
                  <a:extLst>
                    <a:ext uri="{FF2B5EF4-FFF2-40B4-BE49-F238E27FC236}">
                      <a16:creationId xmlns:a16="http://schemas.microsoft.com/office/drawing/2014/main" id="{233ECE33-E760-E4B1-A251-4C2A2F7F1CF6}"/>
                    </a:ext>
                  </a:extLst>
                </p:cNvPr>
                <p:cNvSpPr/>
                <p:nvPr/>
              </p:nvSpPr>
              <p:spPr>
                <a:xfrm>
                  <a:off x="8980802" y="3250195"/>
                  <a:ext cx="1895737" cy="636006"/>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007B8C"/>
                    </a:solidFill>
                    <a:effectLst/>
                    <a:uLnTx/>
                    <a:uFillTx/>
                    <a:latin typeface="Arial" panose="020B0604020202020204"/>
                    <a:ea typeface="+mn-ea"/>
                    <a:cs typeface="+mn-cs"/>
                  </a:endParaRPr>
                </a:p>
              </p:txBody>
            </p:sp>
            <p:sp>
              <p:nvSpPr>
                <p:cNvPr id="33" name="!!T0">
                  <a:extLst>
                    <a:ext uri="{FF2B5EF4-FFF2-40B4-BE49-F238E27FC236}">
                      <a16:creationId xmlns:a16="http://schemas.microsoft.com/office/drawing/2014/main" id="{2026B36F-E0F7-D196-25FF-09AF82B97C72}"/>
                    </a:ext>
                  </a:extLst>
                </p:cNvPr>
                <p:cNvSpPr txBox="1"/>
                <p:nvPr/>
              </p:nvSpPr>
              <p:spPr>
                <a:xfrm>
                  <a:off x="9306478" y="3429000"/>
                  <a:ext cx="902735"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5C8A"/>
                      </a:solidFill>
                      <a:effectLst/>
                      <a:uLnTx/>
                      <a:uFillTx/>
                      <a:latin typeface="Arial" panose="020B0604020202020204"/>
                      <a:ea typeface="+mn-ea"/>
                      <a:cs typeface="+mn-cs"/>
                    </a:rPr>
                    <a:t>Tier0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5C8A"/>
                      </a:solidFill>
                      <a:effectLst/>
                      <a:uLnTx/>
                      <a:uFillTx/>
                      <a:latin typeface="Arial" panose="020B0604020202020204"/>
                      <a:ea typeface="+mn-ea"/>
                      <a:cs typeface="+mn-cs"/>
                    </a:rPr>
                    <a:t>Gateway</a:t>
                  </a:r>
                </a:p>
              </p:txBody>
            </p:sp>
          </p:grpSp>
          <p:sp>
            <p:nvSpPr>
              <p:cNvPr id="31" name="!!Tier0">
                <a:extLst>
                  <a:ext uri="{FF2B5EF4-FFF2-40B4-BE49-F238E27FC236}">
                    <a16:creationId xmlns:a16="http://schemas.microsoft.com/office/drawing/2014/main" id="{984A4620-46C3-2B71-4C00-6815BD878E48}"/>
                  </a:ext>
                </a:extLst>
              </p:cNvPr>
              <p:cNvSpPr txBox="1">
                <a:spLocks noChangeAspect="1"/>
              </p:cNvSpPr>
              <p:nvPr/>
            </p:nvSpPr>
            <p:spPr>
              <a:xfrm>
                <a:off x="9818093" y="3306756"/>
                <a:ext cx="540000" cy="540000"/>
              </a:xfrm>
              <a:custGeom>
                <a:avLst/>
                <a:gdLst/>
                <a:ahLst/>
                <a:cxnLst/>
                <a:rect l="l" t="t" r="r" b="b"/>
                <a:pathLst>
                  <a:path w="3411855" h="3411855">
                    <a:moveTo>
                      <a:pt x="1616141" y="2365151"/>
                    </a:moveTo>
                    <a:lnTo>
                      <a:pt x="1795712" y="2365151"/>
                    </a:lnTo>
                    <a:lnTo>
                      <a:pt x="1795712" y="2702754"/>
                    </a:lnTo>
                    <a:lnTo>
                      <a:pt x="1947657" y="2702754"/>
                    </a:lnTo>
                    <a:lnTo>
                      <a:pt x="1705927" y="3121293"/>
                    </a:lnTo>
                    <a:lnTo>
                      <a:pt x="1464196" y="2702754"/>
                    </a:lnTo>
                    <a:lnTo>
                      <a:pt x="1616141" y="2702754"/>
                    </a:lnTo>
                    <a:close/>
                    <a:moveTo>
                      <a:pt x="1943213" y="1472645"/>
                    </a:moveTo>
                    <a:cubicBezTo>
                      <a:pt x="1909685" y="1472645"/>
                      <a:pt x="1879790" y="1482703"/>
                      <a:pt x="1853526" y="1502820"/>
                    </a:cubicBezTo>
                    <a:cubicBezTo>
                      <a:pt x="1827262" y="1522937"/>
                      <a:pt x="1806726" y="1551017"/>
                      <a:pt x="1791918" y="1587059"/>
                    </a:cubicBezTo>
                    <a:cubicBezTo>
                      <a:pt x="1777110" y="1623102"/>
                      <a:pt x="1769706" y="1664034"/>
                      <a:pt x="1769706" y="1709855"/>
                    </a:cubicBezTo>
                    <a:cubicBezTo>
                      <a:pt x="1769706" y="1755677"/>
                      <a:pt x="1777110" y="1796609"/>
                      <a:pt x="1791918" y="1832652"/>
                    </a:cubicBezTo>
                    <a:cubicBezTo>
                      <a:pt x="1806726" y="1868694"/>
                      <a:pt x="1827262" y="1896914"/>
                      <a:pt x="1853526" y="1917310"/>
                    </a:cubicBezTo>
                    <a:cubicBezTo>
                      <a:pt x="1879790" y="1937706"/>
                      <a:pt x="1909685" y="1947904"/>
                      <a:pt x="1943213" y="1947904"/>
                    </a:cubicBezTo>
                    <a:cubicBezTo>
                      <a:pt x="1976741" y="1947904"/>
                      <a:pt x="2006637" y="1937706"/>
                      <a:pt x="2032901" y="1917310"/>
                    </a:cubicBezTo>
                    <a:cubicBezTo>
                      <a:pt x="2059164" y="1896914"/>
                      <a:pt x="2079561" y="1868694"/>
                      <a:pt x="2094089" y="1832652"/>
                    </a:cubicBezTo>
                    <a:cubicBezTo>
                      <a:pt x="2108618" y="1796609"/>
                      <a:pt x="2115883" y="1755677"/>
                      <a:pt x="2115883" y="1709855"/>
                    </a:cubicBezTo>
                    <a:cubicBezTo>
                      <a:pt x="2115883" y="1664034"/>
                      <a:pt x="2108618" y="1623102"/>
                      <a:pt x="2094089" y="1587059"/>
                    </a:cubicBezTo>
                    <a:cubicBezTo>
                      <a:pt x="2079561" y="1551017"/>
                      <a:pt x="2059164" y="1522937"/>
                      <a:pt x="2032901" y="1502820"/>
                    </a:cubicBezTo>
                    <a:cubicBezTo>
                      <a:pt x="2006637" y="1482703"/>
                      <a:pt x="1976741" y="1472645"/>
                      <a:pt x="1943213" y="1472645"/>
                    </a:cubicBezTo>
                    <a:close/>
                    <a:moveTo>
                      <a:pt x="2786046" y="1464196"/>
                    </a:moveTo>
                    <a:lnTo>
                      <a:pt x="2786046" y="1616141"/>
                    </a:lnTo>
                    <a:lnTo>
                      <a:pt x="3123649" y="1616141"/>
                    </a:lnTo>
                    <a:lnTo>
                      <a:pt x="3123649" y="1795712"/>
                    </a:lnTo>
                    <a:lnTo>
                      <a:pt x="2786046" y="1795712"/>
                    </a:lnTo>
                    <a:lnTo>
                      <a:pt x="2786046" y="1947657"/>
                    </a:lnTo>
                    <a:lnTo>
                      <a:pt x="2367507" y="1705927"/>
                    </a:lnTo>
                    <a:close/>
                    <a:moveTo>
                      <a:pt x="609184" y="1464195"/>
                    </a:moveTo>
                    <a:lnTo>
                      <a:pt x="1027723" y="1705925"/>
                    </a:lnTo>
                    <a:lnTo>
                      <a:pt x="609184" y="1947656"/>
                    </a:lnTo>
                    <a:lnTo>
                      <a:pt x="609184" y="1795711"/>
                    </a:lnTo>
                    <a:lnTo>
                      <a:pt x="271581" y="1795711"/>
                    </a:lnTo>
                    <a:lnTo>
                      <a:pt x="271581" y="1616140"/>
                    </a:lnTo>
                    <a:lnTo>
                      <a:pt x="609184" y="1616140"/>
                    </a:lnTo>
                    <a:close/>
                    <a:moveTo>
                      <a:pt x="1178851" y="1422353"/>
                    </a:moveTo>
                    <a:lnTo>
                      <a:pt x="1631479" y="1422353"/>
                    </a:lnTo>
                    <a:lnTo>
                      <a:pt x="1631479" y="1484380"/>
                    </a:lnTo>
                    <a:lnTo>
                      <a:pt x="1437855" y="1484380"/>
                    </a:lnTo>
                    <a:lnTo>
                      <a:pt x="1437855" y="1998196"/>
                    </a:lnTo>
                    <a:lnTo>
                      <a:pt x="1372475" y="1998196"/>
                    </a:lnTo>
                    <a:lnTo>
                      <a:pt x="1372475" y="1484380"/>
                    </a:lnTo>
                    <a:lnTo>
                      <a:pt x="1178851" y="1484380"/>
                    </a:lnTo>
                    <a:close/>
                    <a:moveTo>
                      <a:pt x="1943213" y="1412294"/>
                    </a:moveTo>
                    <a:cubicBezTo>
                      <a:pt x="1989035" y="1412294"/>
                      <a:pt x="2030107" y="1425007"/>
                      <a:pt x="2066429" y="1450433"/>
                    </a:cubicBezTo>
                    <a:cubicBezTo>
                      <a:pt x="2102751" y="1475858"/>
                      <a:pt x="2131110" y="1511063"/>
                      <a:pt x="2151506" y="1556046"/>
                    </a:cubicBezTo>
                    <a:cubicBezTo>
                      <a:pt x="2171902" y="1601029"/>
                      <a:pt x="2182100" y="1652299"/>
                      <a:pt x="2182100" y="1709855"/>
                    </a:cubicBezTo>
                    <a:cubicBezTo>
                      <a:pt x="2182100" y="1767412"/>
                      <a:pt x="2171902" y="1818821"/>
                      <a:pt x="2151506" y="1864084"/>
                    </a:cubicBezTo>
                    <a:cubicBezTo>
                      <a:pt x="2131110" y="1909347"/>
                      <a:pt x="2102890" y="1944691"/>
                      <a:pt x="2066848" y="1970116"/>
                    </a:cubicBezTo>
                    <a:cubicBezTo>
                      <a:pt x="2030805" y="1995542"/>
                      <a:pt x="1989594" y="2008254"/>
                      <a:pt x="1943213" y="2008254"/>
                    </a:cubicBezTo>
                    <a:cubicBezTo>
                      <a:pt x="1896833" y="2008254"/>
                      <a:pt x="1855482" y="1995542"/>
                      <a:pt x="1819160" y="1970116"/>
                    </a:cubicBezTo>
                    <a:cubicBezTo>
                      <a:pt x="1782838" y="1944691"/>
                      <a:pt x="1754479" y="1909347"/>
                      <a:pt x="1734082" y="1864084"/>
                    </a:cubicBezTo>
                    <a:cubicBezTo>
                      <a:pt x="1713686" y="1818821"/>
                      <a:pt x="1703488" y="1767412"/>
                      <a:pt x="1703488" y="1709855"/>
                    </a:cubicBezTo>
                    <a:cubicBezTo>
                      <a:pt x="1703488" y="1652299"/>
                      <a:pt x="1713686" y="1601029"/>
                      <a:pt x="1734082" y="1556046"/>
                    </a:cubicBezTo>
                    <a:cubicBezTo>
                      <a:pt x="1754479" y="1511063"/>
                      <a:pt x="1782838" y="1475858"/>
                      <a:pt x="1819160" y="1450433"/>
                    </a:cubicBezTo>
                    <a:cubicBezTo>
                      <a:pt x="1855482" y="1425007"/>
                      <a:pt x="1896833" y="1412294"/>
                      <a:pt x="1943213" y="1412294"/>
                    </a:cubicBezTo>
                    <a:close/>
                    <a:moveTo>
                      <a:pt x="1705927" y="290561"/>
                    </a:moveTo>
                    <a:lnTo>
                      <a:pt x="1947657" y="709100"/>
                    </a:lnTo>
                    <a:lnTo>
                      <a:pt x="1795712" y="709100"/>
                    </a:lnTo>
                    <a:lnTo>
                      <a:pt x="1795712" y="1046703"/>
                    </a:lnTo>
                    <a:lnTo>
                      <a:pt x="1616141" y="1046703"/>
                    </a:lnTo>
                    <a:lnTo>
                      <a:pt x="1616141" y="709100"/>
                    </a:lnTo>
                    <a:lnTo>
                      <a:pt x="1464196" y="709100"/>
                    </a:lnTo>
                    <a:close/>
                    <a:moveTo>
                      <a:pt x="1705927" y="89786"/>
                    </a:moveTo>
                    <a:cubicBezTo>
                      <a:pt x="814701" y="89786"/>
                      <a:pt x="89786" y="814701"/>
                      <a:pt x="89786" y="1705928"/>
                    </a:cubicBezTo>
                    <a:cubicBezTo>
                      <a:pt x="89786" y="2597154"/>
                      <a:pt x="814701" y="3322069"/>
                      <a:pt x="1705927" y="3322069"/>
                    </a:cubicBezTo>
                    <a:cubicBezTo>
                      <a:pt x="2597154" y="3322069"/>
                      <a:pt x="3322069" y="2597154"/>
                      <a:pt x="3322069" y="1705928"/>
                    </a:cubicBezTo>
                    <a:cubicBezTo>
                      <a:pt x="3322069" y="814701"/>
                      <a:pt x="2597154" y="89786"/>
                      <a:pt x="1705927" y="89786"/>
                    </a:cubicBezTo>
                    <a:close/>
                    <a:moveTo>
                      <a:pt x="1705927" y="0"/>
                    </a:moveTo>
                    <a:cubicBezTo>
                      <a:pt x="2647986" y="0"/>
                      <a:pt x="3411855" y="763869"/>
                      <a:pt x="3411855" y="1705928"/>
                    </a:cubicBezTo>
                    <a:cubicBezTo>
                      <a:pt x="3411855" y="2647986"/>
                      <a:pt x="2647986" y="3411855"/>
                      <a:pt x="1705927" y="3411855"/>
                    </a:cubicBezTo>
                    <a:cubicBezTo>
                      <a:pt x="763869" y="3411855"/>
                      <a:pt x="0" y="2647986"/>
                      <a:pt x="0" y="1705928"/>
                    </a:cubicBezTo>
                    <a:cubicBezTo>
                      <a:pt x="0" y="763869"/>
                      <a:pt x="763869" y="0"/>
                      <a:pt x="1705927" y="0"/>
                    </a:cubicBez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6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cxnSp>
          <p:nvCxnSpPr>
            <p:cNvPr id="28" name="Straight Arrow Connector 27">
              <a:extLst>
                <a:ext uri="{FF2B5EF4-FFF2-40B4-BE49-F238E27FC236}">
                  <a16:creationId xmlns:a16="http://schemas.microsoft.com/office/drawing/2014/main" id="{3C6395A4-1541-4AC1-6E78-65156240F5EF}"/>
                </a:ext>
              </a:extLst>
            </p:cNvPr>
            <p:cNvCxnSpPr>
              <a:cxnSpLocks/>
            </p:cNvCxnSpPr>
            <p:nvPr/>
          </p:nvCxnSpPr>
          <p:spPr bwMode="gray">
            <a:xfrm>
              <a:off x="9125313" y="2637322"/>
              <a:ext cx="733911" cy="800731"/>
            </a:xfrm>
            <a:prstGeom prst="straightConnector1">
              <a:avLst/>
            </a:prstGeom>
            <a:ln w="38100">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DA6EBBA-4DAB-3431-280C-9670D579F880}"/>
                </a:ext>
              </a:extLst>
            </p:cNvPr>
            <p:cNvCxnSpPr>
              <a:cxnSpLocks/>
            </p:cNvCxnSpPr>
            <p:nvPr/>
          </p:nvCxnSpPr>
          <p:spPr bwMode="gray">
            <a:xfrm>
              <a:off x="9818332" y="2483318"/>
              <a:ext cx="211755" cy="822960"/>
            </a:xfrm>
            <a:prstGeom prst="straightConnector1">
              <a:avLst/>
            </a:prstGeom>
            <a:ln w="38100">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F2761136-5526-844D-FF00-D6F2691D07ED}"/>
              </a:ext>
              <a:ext uri="{C183D7F6-B498-43B3-948B-1728B52AA6E4}">
                <adec:decorative xmlns:adec="http://schemas.microsoft.com/office/drawing/2017/decorative" val="1"/>
              </a:ext>
            </a:extLst>
          </p:cNvPr>
          <p:cNvGrpSpPr/>
          <p:nvPr/>
        </p:nvGrpSpPr>
        <p:grpSpPr>
          <a:xfrm>
            <a:off x="5761895" y="2122370"/>
            <a:ext cx="448021" cy="448019"/>
            <a:chOff x="4401847" y="3166118"/>
            <a:chExt cx="600837" cy="600837"/>
          </a:xfrm>
        </p:grpSpPr>
        <p:sp>
          <p:nvSpPr>
            <p:cNvPr id="11" name="Oval 10">
              <a:extLst>
                <a:ext uri="{FF2B5EF4-FFF2-40B4-BE49-F238E27FC236}">
                  <a16:creationId xmlns:a16="http://schemas.microsoft.com/office/drawing/2014/main" id="{BA3B047E-6041-BBB0-E553-F4F31897157A}"/>
                </a:ext>
              </a:extLst>
            </p:cNvPr>
            <p:cNvSpPr/>
            <p:nvPr/>
          </p:nvSpPr>
          <p:spPr>
            <a:xfrm>
              <a:off x="4415326" y="3179600"/>
              <a:ext cx="573868" cy="573869"/>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Metropolis"/>
                <a:ea typeface="+mn-ea"/>
                <a:cs typeface="+mn-cs"/>
              </a:endParaRPr>
            </a:p>
          </p:txBody>
        </p:sp>
        <p:grpSp>
          <p:nvGrpSpPr>
            <p:cNvPr id="14" name="Group 13" descr="Router&#10;">
              <a:extLst>
                <a:ext uri="{FF2B5EF4-FFF2-40B4-BE49-F238E27FC236}">
                  <a16:creationId xmlns:a16="http://schemas.microsoft.com/office/drawing/2014/main" id="{52545303-31EC-9FA6-E01B-A0E437B83692}"/>
                </a:ext>
              </a:extLst>
            </p:cNvPr>
            <p:cNvGrpSpPr/>
            <p:nvPr/>
          </p:nvGrpSpPr>
          <p:grpSpPr>
            <a:xfrm>
              <a:off x="4401847" y="3166118"/>
              <a:ext cx="600837" cy="600837"/>
              <a:chOff x="529963" y="1943518"/>
              <a:chExt cx="600837" cy="600837"/>
            </a:xfrm>
            <a:solidFill>
              <a:schemeClr val="accent5"/>
            </a:solidFill>
          </p:grpSpPr>
          <p:sp>
            <p:nvSpPr>
              <p:cNvPr id="15" name="Picture Placeholder 83">
                <a:extLst>
                  <a:ext uri="{FF2B5EF4-FFF2-40B4-BE49-F238E27FC236}">
                    <a16:creationId xmlns:a16="http://schemas.microsoft.com/office/drawing/2014/main" id="{36B2475A-BC0F-034B-878A-77F5223D48AE}"/>
                  </a:ext>
                </a:extLst>
              </p:cNvPr>
              <p:cNvSpPr/>
              <p:nvPr/>
            </p:nvSpPr>
            <p:spPr>
              <a:xfrm>
                <a:off x="529963" y="1943518"/>
                <a:ext cx="600837" cy="600837"/>
              </a:xfrm>
              <a:custGeom>
                <a:avLst/>
                <a:gdLst>
                  <a:gd name="connsiteX0" fmla="*/ 300419 w 600837"/>
                  <a:gd name="connsiteY0" fmla="*/ 15812 h 600837"/>
                  <a:gd name="connsiteX1" fmla="*/ 585026 w 600837"/>
                  <a:gd name="connsiteY1" fmla="*/ 300419 h 600837"/>
                  <a:gd name="connsiteX2" fmla="*/ 300419 w 600837"/>
                  <a:gd name="connsiteY2" fmla="*/ 585026 h 600837"/>
                  <a:gd name="connsiteX3" fmla="*/ 15812 w 600837"/>
                  <a:gd name="connsiteY3" fmla="*/ 300419 h 600837"/>
                  <a:gd name="connsiteX4" fmla="*/ 300419 w 600837"/>
                  <a:gd name="connsiteY4" fmla="*/ 15812 h 600837"/>
                  <a:gd name="connsiteX5" fmla="*/ 300419 w 600837"/>
                  <a:gd name="connsiteY5" fmla="*/ 0 h 600837"/>
                  <a:gd name="connsiteX6" fmla="*/ 0 w 600837"/>
                  <a:gd name="connsiteY6" fmla="*/ 300419 h 600837"/>
                  <a:gd name="connsiteX7" fmla="*/ 300419 w 600837"/>
                  <a:gd name="connsiteY7" fmla="*/ 600837 h 600837"/>
                  <a:gd name="connsiteX8" fmla="*/ 600837 w 600837"/>
                  <a:gd name="connsiteY8" fmla="*/ 300419 h 600837"/>
                  <a:gd name="connsiteX9" fmla="*/ 300419 w 600837"/>
                  <a:gd name="connsiteY9" fmla="*/ 0 h 60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0837" h="600837">
                    <a:moveTo>
                      <a:pt x="300419" y="15812"/>
                    </a:moveTo>
                    <a:cubicBezTo>
                      <a:pt x="457603" y="15812"/>
                      <a:pt x="585026" y="143234"/>
                      <a:pt x="585026" y="300419"/>
                    </a:cubicBezTo>
                    <a:cubicBezTo>
                      <a:pt x="585026" y="457603"/>
                      <a:pt x="457603" y="585026"/>
                      <a:pt x="300419" y="585026"/>
                    </a:cubicBezTo>
                    <a:cubicBezTo>
                      <a:pt x="143234" y="585026"/>
                      <a:pt x="15812" y="457603"/>
                      <a:pt x="15812" y="300419"/>
                    </a:cubicBezTo>
                    <a:cubicBezTo>
                      <a:pt x="15986" y="143307"/>
                      <a:pt x="143307" y="15986"/>
                      <a:pt x="300419" y="15812"/>
                    </a:cubicBezTo>
                    <a:moveTo>
                      <a:pt x="300419" y="0"/>
                    </a:moveTo>
                    <a:cubicBezTo>
                      <a:pt x="134502" y="0"/>
                      <a:pt x="0" y="134502"/>
                      <a:pt x="0" y="300419"/>
                    </a:cubicBezTo>
                    <a:cubicBezTo>
                      <a:pt x="0" y="466335"/>
                      <a:pt x="134502" y="600837"/>
                      <a:pt x="300419" y="600837"/>
                    </a:cubicBezTo>
                    <a:cubicBezTo>
                      <a:pt x="466335" y="600837"/>
                      <a:pt x="600837" y="466335"/>
                      <a:pt x="600837" y="300419"/>
                    </a:cubicBezTo>
                    <a:cubicBezTo>
                      <a:pt x="600837" y="134502"/>
                      <a:pt x="466335" y="0"/>
                      <a:pt x="300419" y="0"/>
                    </a:cubicBezTo>
                    <a:close/>
                  </a:path>
                </a:pathLst>
              </a:custGeom>
              <a:solidFill>
                <a:schemeClr val="tx1"/>
              </a:solid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717074"/>
                  </a:solidFill>
                  <a:effectLst/>
                  <a:uLnTx/>
                  <a:uFillTx/>
                  <a:latin typeface="Metropolis"/>
                  <a:ea typeface="+mn-ea"/>
                  <a:cs typeface="+mn-cs"/>
                </a:endParaRPr>
              </a:p>
            </p:txBody>
          </p:sp>
          <p:sp>
            <p:nvSpPr>
              <p:cNvPr id="16" name="Picture Placeholder 83">
                <a:extLst>
                  <a:ext uri="{FF2B5EF4-FFF2-40B4-BE49-F238E27FC236}">
                    <a16:creationId xmlns:a16="http://schemas.microsoft.com/office/drawing/2014/main" id="{1C1C0BE8-8C33-EC1F-1CA2-776146314FD8}"/>
                  </a:ext>
                </a:extLst>
              </p:cNvPr>
              <p:cNvSpPr/>
              <p:nvPr/>
            </p:nvSpPr>
            <p:spPr>
              <a:xfrm>
                <a:off x="591561" y="2201436"/>
                <a:ext cx="189738" cy="85192"/>
              </a:xfrm>
              <a:custGeom>
                <a:avLst/>
                <a:gdLst>
                  <a:gd name="connsiteX0" fmla="*/ 115993 w 189738"/>
                  <a:gd name="connsiteY0" fmla="*/ 26753 h 85192"/>
                  <a:gd name="connsiteX1" fmla="*/ 0 w 189738"/>
                  <a:gd name="connsiteY1" fmla="*/ 26753 h 85192"/>
                  <a:gd name="connsiteX2" fmla="*/ 0 w 189738"/>
                  <a:gd name="connsiteY2" fmla="*/ 58376 h 85192"/>
                  <a:gd name="connsiteX3" fmla="*/ 115993 w 189738"/>
                  <a:gd name="connsiteY3" fmla="*/ 58376 h 85192"/>
                  <a:gd name="connsiteX4" fmla="*/ 115993 w 189738"/>
                  <a:gd name="connsiteY4" fmla="*/ 85192 h 85192"/>
                  <a:gd name="connsiteX5" fmla="*/ 189738 w 189738"/>
                  <a:gd name="connsiteY5" fmla="*/ 42565 h 85192"/>
                  <a:gd name="connsiteX6" fmla="*/ 115993 w 189738"/>
                  <a:gd name="connsiteY6" fmla="*/ 0 h 85192"/>
                  <a:gd name="connsiteX7" fmla="*/ 115993 w 189738"/>
                  <a:gd name="connsiteY7" fmla="*/ 26753 h 8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9738" h="85192">
                    <a:moveTo>
                      <a:pt x="115993" y="26753"/>
                    </a:moveTo>
                    <a:lnTo>
                      <a:pt x="0" y="26753"/>
                    </a:lnTo>
                    <a:lnTo>
                      <a:pt x="0" y="58376"/>
                    </a:lnTo>
                    <a:lnTo>
                      <a:pt x="115993" y="58376"/>
                    </a:lnTo>
                    <a:lnTo>
                      <a:pt x="115993" y="85192"/>
                    </a:lnTo>
                    <a:lnTo>
                      <a:pt x="189738" y="42565"/>
                    </a:lnTo>
                    <a:lnTo>
                      <a:pt x="115993" y="0"/>
                    </a:lnTo>
                    <a:lnTo>
                      <a:pt x="115993" y="26753"/>
                    </a:lnTo>
                    <a:close/>
                  </a:path>
                </a:pathLst>
              </a:custGeom>
              <a:solidFill>
                <a:schemeClr val="tx2"/>
              </a:solid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717074"/>
                  </a:solidFill>
                  <a:effectLst/>
                  <a:uLnTx/>
                  <a:uFillTx/>
                  <a:latin typeface="Metropolis"/>
                  <a:ea typeface="+mn-ea"/>
                  <a:cs typeface="+mn-cs"/>
                </a:endParaRPr>
              </a:p>
            </p:txBody>
          </p:sp>
          <p:sp>
            <p:nvSpPr>
              <p:cNvPr id="21" name="Picture Placeholder 83">
                <a:extLst>
                  <a:ext uri="{FF2B5EF4-FFF2-40B4-BE49-F238E27FC236}">
                    <a16:creationId xmlns:a16="http://schemas.microsoft.com/office/drawing/2014/main" id="{89541FA4-0AFE-001F-2F7E-36D6CBB542BD}"/>
                  </a:ext>
                </a:extLst>
              </p:cNvPr>
              <p:cNvSpPr/>
              <p:nvPr/>
            </p:nvSpPr>
            <p:spPr>
              <a:xfrm>
                <a:off x="879457" y="2201436"/>
                <a:ext cx="189738" cy="85192"/>
              </a:xfrm>
              <a:custGeom>
                <a:avLst/>
                <a:gdLst>
                  <a:gd name="connsiteX0" fmla="*/ 189738 w 189738"/>
                  <a:gd name="connsiteY0" fmla="*/ 26753 h 85192"/>
                  <a:gd name="connsiteX1" fmla="*/ 73745 w 189738"/>
                  <a:gd name="connsiteY1" fmla="*/ 26753 h 85192"/>
                  <a:gd name="connsiteX2" fmla="*/ 73745 w 189738"/>
                  <a:gd name="connsiteY2" fmla="*/ 0 h 85192"/>
                  <a:gd name="connsiteX3" fmla="*/ 0 w 189738"/>
                  <a:gd name="connsiteY3" fmla="*/ 42565 h 85192"/>
                  <a:gd name="connsiteX4" fmla="*/ 73745 w 189738"/>
                  <a:gd name="connsiteY4" fmla="*/ 85192 h 85192"/>
                  <a:gd name="connsiteX5" fmla="*/ 73745 w 189738"/>
                  <a:gd name="connsiteY5" fmla="*/ 58376 h 85192"/>
                  <a:gd name="connsiteX6" fmla="*/ 189738 w 189738"/>
                  <a:gd name="connsiteY6" fmla="*/ 58376 h 85192"/>
                  <a:gd name="connsiteX7" fmla="*/ 189738 w 189738"/>
                  <a:gd name="connsiteY7" fmla="*/ 26753 h 8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9738" h="85192">
                    <a:moveTo>
                      <a:pt x="189738" y="26753"/>
                    </a:moveTo>
                    <a:lnTo>
                      <a:pt x="73745" y="26753"/>
                    </a:lnTo>
                    <a:lnTo>
                      <a:pt x="73745" y="0"/>
                    </a:lnTo>
                    <a:lnTo>
                      <a:pt x="0" y="42565"/>
                    </a:lnTo>
                    <a:lnTo>
                      <a:pt x="73745" y="85192"/>
                    </a:lnTo>
                    <a:lnTo>
                      <a:pt x="73745" y="58376"/>
                    </a:lnTo>
                    <a:lnTo>
                      <a:pt x="189738" y="58376"/>
                    </a:lnTo>
                    <a:lnTo>
                      <a:pt x="189738" y="26753"/>
                    </a:lnTo>
                    <a:close/>
                  </a:path>
                </a:pathLst>
              </a:custGeom>
              <a:solidFill>
                <a:schemeClr val="tx2"/>
              </a:solid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717074"/>
                  </a:solidFill>
                  <a:effectLst/>
                  <a:uLnTx/>
                  <a:uFillTx/>
                  <a:latin typeface="Metropolis"/>
                  <a:ea typeface="+mn-ea"/>
                  <a:cs typeface="+mn-cs"/>
                </a:endParaRPr>
              </a:p>
            </p:txBody>
          </p:sp>
          <p:sp>
            <p:nvSpPr>
              <p:cNvPr id="24" name="Picture Placeholder 83">
                <a:extLst>
                  <a:ext uri="{FF2B5EF4-FFF2-40B4-BE49-F238E27FC236}">
                    <a16:creationId xmlns:a16="http://schemas.microsoft.com/office/drawing/2014/main" id="{A8D2113E-3AE3-ACE6-556B-866535C64F3F}"/>
                  </a:ext>
                </a:extLst>
              </p:cNvPr>
              <p:cNvSpPr/>
              <p:nvPr/>
            </p:nvSpPr>
            <p:spPr>
              <a:xfrm>
                <a:off x="787813" y="2010243"/>
                <a:ext cx="85129" cy="189738"/>
              </a:xfrm>
              <a:custGeom>
                <a:avLst/>
                <a:gdLst>
                  <a:gd name="connsiteX0" fmla="*/ 0 w 85129"/>
                  <a:gd name="connsiteY0" fmla="*/ 73745 h 189738"/>
                  <a:gd name="connsiteX1" fmla="*/ 26753 w 85129"/>
                  <a:gd name="connsiteY1" fmla="*/ 73745 h 189738"/>
                  <a:gd name="connsiteX2" fmla="*/ 26753 w 85129"/>
                  <a:gd name="connsiteY2" fmla="*/ 189738 h 189738"/>
                  <a:gd name="connsiteX3" fmla="*/ 58376 w 85129"/>
                  <a:gd name="connsiteY3" fmla="*/ 189738 h 189738"/>
                  <a:gd name="connsiteX4" fmla="*/ 58376 w 85129"/>
                  <a:gd name="connsiteY4" fmla="*/ 73745 h 189738"/>
                  <a:gd name="connsiteX5" fmla="*/ 85129 w 85129"/>
                  <a:gd name="connsiteY5" fmla="*/ 73745 h 189738"/>
                  <a:gd name="connsiteX6" fmla="*/ 42565 w 85129"/>
                  <a:gd name="connsiteY6" fmla="*/ 0 h 189738"/>
                  <a:gd name="connsiteX7" fmla="*/ 0 w 85129"/>
                  <a:gd name="connsiteY7" fmla="*/ 73745 h 189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129" h="189738">
                    <a:moveTo>
                      <a:pt x="0" y="73745"/>
                    </a:moveTo>
                    <a:lnTo>
                      <a:pt x="26753" y="73745"/>
                    </a:lnTo>
                    <a:lnTo>
                      <a:pt x="26753" y="189738"/>
                    </a:lnTo>
                    <a:lnTo>
                      <a:pt x="58376" y="189738"/>
                    </a:lnTo>
                    <a:lnTo>
                      <a:pt x="58376" y="73745"/>
                    </a:lnTo>
                    <a:lnTo>
                      <a:pt x="85129" y="73745"/>
                    </a:lnTo>
                    <a:lnTo>
                      <a:pt x="42565" y="0"/>
                    </a:lnTo>
                    <a:lnTo>
                      <a:pt x="0" y="73745"/>
                    </a:lnTo>
                    <a:close/>
                  </a:path>
                </a:pathLst>
              </a:custGeom>
              <a:solidFill>
                <a:schemeClr val="tx2"/>
              </a:solid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717074"/>
                  </a:solidFill>
                  <a:effectLst/>
                  <a:uLnTx/>
                  <a:uFillTx/>
                  <a:latin typeface="Metropolis"/>
                  <a:ea typeface="+mn-ea"/>
                  <a:cs typeface="+mn-cs"/>
                </a:endParaRPr>
              </a:p>
            </p:txBody>
          </p:sp>
          <p:sp>
            <p:nvSpPr>
              <p:cNvPr id="26" name="Picture Placeholder 83">
                <a:extLst>
                  <a:ext uri="{FF2B5EF4-FFF2-40B4-BE49-F238E27FC236}">
                    <a16:creationId xmlns:a16="http://schemas.microsoft.com/office/drawing/2014/main" id="{7E5077B6-07F9-8FF7-BE3A-7E7484AA239E}"/>
                  </a:ext>
                </a:extLst>
              </p:cNvPr>
              <p:cNvSpPr/>
              <p:nvPr/>
            </p:nvSpPr>
            <p:spPr>
              <a:xfrm>
                <a:off x="787813" y="2288083"/>
                <a:ext cx="85129" cy="189738"/>
              </a:xfrm>
              <a:custGeom>
                <a:avLst/>
                <a:gdLst>
                  <a:gd name="connsiteX0" fmla="*/ 58376 w 85129"/>
                  <a:gd name="connsiteY0" fmla="*/ 0 h 189738"/>
                  <a:gd name="connsiteX1" fmla="*/ 26753 w 85129"/>
                  <a:gd name="connsiteY1" fmla="*/ 0 h 189738"/>
                  <a:gd name="connsiteX2" fmla="*/ 26753 w 85129"/>
                  <a:gd name="connsiteY2" fmla="*/ 115993 h 189738"/>
                  <a:gd name="connsiteX3" fmla="*/ 0 w 85129"/>
                  <a:gd name="connsiteY3" fmla="*/ 115993 h 189738"/>
                  <a:gd name="connsiteX4" fmla="*/ 42565 w 85129"/>
                  <a:gd name="connsiteY4" fmla="*/ 189738 h 189738"/>
                  <a:gd name="connsiteX5" fmla="*/ 85129 w 85129"/>
                  <a:gd name="connsiteY5" fmla="*/ 115993 h 189738"/>
                  <a:gd name="connsiteX6" fmla="*/ 58376 w 85129"/>
                  <a:gd name="connsiteY6" fmla="*/ 115993 h 189738"/>
                  <a:gd name="connsiteX7" fmla="*/ 58376 w 85129"/>
                  <a:gd name="connsiteY7" fmla="*/ 0 h 189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129" h="189738">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tx2"/>
              </a:solid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717074"/>
                  </a:solidFill>
                  <a:effectLst/>
                  <a:uLnTx/>
                  <a:uFillTx/>
                  <a:latin typeface="Metropolis"/>
                  <a:ea typeface="+mn-ea"/>
                  <a:cs typeface="+mn-cs"/>
                </a:endParaRPr>
              </a:p>
            </p:txBody>
          </p:sp>
        </p:grpSp>
      </p:grpSp>
      <p:sp>
        <p:nvSpPr>
          <p:cNvPr id="10" name="TextBox 9">
            <a:extLst>
              <a:ext uri="{FF2B5EF4-FFF2-40B4-BE49-F238E27FC236}">
                <a16:creationId xmlns:a16="http://schemas.microsoft.com/office/drawing/2014/main" id="{8802E1FA-7A0C-7C20-1B92-745DCA0299B9}"/>
              </a:ext>
            </a:extLst>
          </p:cNvPr>
          <p:cNvSpPr txBox="1"/>
          <p:nvPr/>
        </p:nvSpPr>
        <p:spPr>
          <a:xfrm>
            <a:off x="6326707" y="2439186"/>
            <a:ext cx="1596506" cy="4924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1D36"/>
                </a:solidFill>
                <a:effectLst/>
                <a:uLnTx/>
                <a:uFillTx/>
                <a:latin typeface="Arial" panose="020B0604020202020204"/>
                <a:ea typeface="+mn-ea"/>
                <a:cs typeface="+mn-cs"/>
              </a:rPr>
              <a:t>BGP peering with physical routers</a:t>
            </a:r>
          </a:p>
        </p:txBody>
      </p:sp>
    </p:spTree>
    <p:extLst>
      <p:ext uri="{BB962C8B-B14F-4D97-AF65-F5344CB8AC3E}">
        <p14:creationId xmlns:p14="http://schemas.microsoft.com/office/powerpoint/2010/main" val="344312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DC44BD8-B6D8-E853-4CEB-32910A8AC4CE}"/>
              </a:ext>
            </a:extLst>
          </p:cNvPr>
          <p:cNvGrpSpPr/>
          <p:nvPr/>
        </p:nvGrpSpPr>
        <p:grpSpPr>
          <a:xfrm>
            <a:off x="6551613" y="1802761"/>
            <a:ext cx="2194560" cy="1160680"/>
            <a:chOff x="5014760" y="3474720"/>
            <a:chExt cx="2194560" cy="1160680"/>
          </a:xfrm>
        </p:grpSpPr>
        <p:sp>
          <p:nvSpPr>
            <p:cNvPr id="4" name="Rounded Rectangle 3">
              <a:extLst>
                <a:ext uri="{FF2B5EF4-FFF2-40B4-BE49-F238E27FC236}">
                  <a16:creationId xmlns:a16="http://schemas.microsoft.com/office/drawing/2014/main" id="{C037980F-C31D-E79D-0EF6-10868EF4828C}"/>
                </a:ext>
              </a:extLst>
            </p:cNvPr>
            <p:cNvSpPr/>
            <p:nvPr/>
          </p:nvSpPr>
          <p:spPr bwMode="gray">
            <a:xfrm>
              <a:off x="5014760" y="3474720"/>
              <a:ext cx="2194560" cy="1068404"/>
            </a:xfrm>
            <a:prstGeom prst="roundRect">
              <a:avLst>
                <a:gd name="adj" fmla="val 6757"/>
              </a:avLst>
            </a:prstGeom>
            <a:noFill/>
            <a:ln w="12700">
              <a:solidFill>
                <a:schemeClr val="accent3"/>
              </a:solidFill>
              <a:prstDash val="sysDash"/>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Box 4">
              <a:extLst>
                <a:ext uri="{FF2B5EF4-FFF2-40B4-BE49-F238E27FC236}">
                  <a16:creationId xmlns:a16="http://schemas.microsoft.com/office/drawing/2014/main" id="{AFFF194C-7760-B4EA-DC85-AC744E0FFB80}"/>
                </a:ext>
              </a:extLst>
            </p:cNvPr>
            <p:cNvSpPr txBox="1"/>
            <p:nvPr/>
          </p:nvSpPr>
          <p:spPr>
            <a:xfrm>
              <a:off x="5727058" y="4466123"/>
              <a:ext cx="829368" cy="169277"/>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5C8A"/>
                  </a:solidFill>
                  <a:effectLst/>
                  <a:uLnTx/>
                  <a:uFillTx/>
                  <a:latin typeface="Arial" panose="020B0604020202020204"/>
                  <a:ea typeface="+mn-ea"/>
                  <a:cs typeface="+mn-cs"/>
                </a:rPr>
                <a:t>Edge Cluster</a:t>
              </a:r>
            </a:p>
          </p:txBody>
        </p:sp>
      </p:grpSp>
      <p:sp>
        <p:nvSpPr>
          <p:cNvPr id="6" name="!!TOP">
            <a:extLst>
              <a:ext uri="{FF2B5EF4-FFF2-40B4-BE49-F238E27FC236}">
                <a16:creationId xmlns:a16="http://schemas.microsoft.com/office/drawing/2014/main" id="{58CB1D81-CE1B-F335-CE68-96DD02F16E25}"/>
              </a:ext>
            </a:extLst>
          </p:cNvPr>
          <p:cNvSpPr/>
          <p:nvPr/>
        </p:nvSpPr>
        <p:spPr>
          <a:xfrm flipV="1">
            <a:off x="627406" y="1600200"/>
            <a:ext cx="10953407" cy="1573099"/>
          </a:xfrm>
          <a:prstGeom prst="round2SameRect">
            <a:avLst>
              <a:gd name="adj1" fmla="val 7233"/>
              <a:gd name="adj2" fmla="val 0"/>
            </a:avLst>
          </a:prstGeom>
          <a:solidFill>
            <a:schemeClr val="accent2">
              <a:alpha val="10000"/>
            </a:schemeClr>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endParaRPr>
          </a:p>
        </p:txBody>
      </p:sp>
      <p:sp>
        <p:nvSpPr>
          <p:cNvPr id="2" name="Title 1">
            <a:extLst>
              <a:ext uri="{FF2B5EF4-FFF2-40B4-BE49-F238E27FC236}">
                <a16:creationId xmlns:a16="http://schemas.microsoft.com/office/drawing/2014/main" id="{11B190E4-5A49-6852-6470-E3B0FFFB0A99}"/>
              </a:ext>
            </a:extLst>
          </p:cNvPr>
          <p:cNvSpPr>
            <a:spLocks noGrp="1"/>
          </p:cNvSpPr>
          <p:nvPr>
            <p:ph type="title"/>
          </p:nvPr>
        </p:nvSpPr>
        <p:spPr/>
        <p:txBody>
          <a:bodyPr/>
          <a:lstStyle/>
          <a:p>
            <a:r>
              <a:rPr lang="en-US" dirty="0"/>
              <a:t>Major NSX features</a:t>
            </a:r>
          </a:p>
        </p:txBody>
      </p:sp>
      <p:sp>
        <p:nvSpPr>
          <p:cNvPr id="27" name="Subtitle 26">
            <a:extLst>
              <a:ext uri="{FF2B5EF4-FFF2-40B4-BE49-F238E27FC236}">
                <a16:creationId xmlns:a16="http://schemas.microsoft.com/office/drawing/2014/main" id="{EB522AA7-A768-E7CA-8114-7A8E635A2019}"/>
              </a:ext>
            </a:extLst>
          </p:cNvPr>
          <p:cNvSpPr>
            <a:spLocks noGrp="1"/>
          </p:cNvSpPr>
          <p:nvPr>
            <p:ph type="subTitle" idx="10"/>
          </p:nvPr>
        </p:nvSpPr>
        <p:spPr/>
        <p:txBody>
          <a:bodyPr/>
          <a:lstStyle/>
          <a:p>
            <a:r>
              <a:rPr lang="en-US" dirty="0"/>
              <a:t>Distributed or centralized on edge nodes</a:t>
            </a:r>
          </a:p>
          <a:p>
            <a:endParaRPr lang="en-US" dirty="0"/>
          </a:p>
        </p:txBody>
      </p:sp>
      <p:sp>
        <p:nvSpPr>
          <p:cNvPr id="7" name="Rectangle: Rounded Corners 42">
            <a:extLst>
              <a:ext uri="{FF2B5EF4-FFF2-40B4-BE49-F238E27FC236}">
                <a16:creationId xmlns:a16="http://schemas.microsoft.com/office/drawing/2014/main" id="{59151469-A901-61DD-1013-C0C153047CBE}"/>
              </a:ext>
            </a:extLst>
          </p:cNvPr>
          <p:cNvSpPr/>
          <p:nvPr/>
        </p:nvSpPr>
        <p:spPr>
          <a:xfrm>
            <a:off x="1058931" y="1872544"/>
            <a:ext cx="911404" cy="915769"/>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8" name="Rectangle: Rounded Corners 42">
            <a:extLst>
              <a:ext uri="{FF2B5EF4-FFF2-40B4-BE49-F238E27FC236}">
                <a16:creationId xmlns:a16="http://schemas.microsoft.com/office/drawing/2014/main" id="{205C9B5F-E14E-D032-C04F-98A24F8B1CF7}"/>
              </a:ext>
            </a:extLst>
          </p:cNvPr>
          <p:cNvSpPr/>
          <p:nvPr/>
        </p:nvSpPr>
        <p:spPr>
          <a:xfrm>
            <a:off x="2201683" y="1895923"/>
            <a:ext cx="923679" cy="906490"/>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9" name="Rectangle: Rounded Corners 42">
            <a:extLst>
              <a:ext uri="{FF2B5EF4-FFF2-40B4-BE49-F238E27FC236}">
                <a16:creationId xmlns:a16="http://schemas.microsoft.com/office/drawing/2014/main" id="{4987DE31-EEF7-2070-422C-BB2B0CBF30C3}"/>
              </a:ext>
            </a:extLst>
          </p:cNvPr>
          <p:cNvSpPr/>
          <p:nvPr/>
        </p:nvSpPr>
        <p:spPr>
          <a:xfrm>
            <a:off x="3346739" y="1882173"/>
            <a:ext cx="923679" cy="904771"/>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15" name="Rectangle: Rounded Corners 42">
            <a:extLst>
              <a:ext uri="{FF2B5EF4-FFF2-40B4-BE49-F238E27FC236}">
                <a16:creationId xmlns:a16="http://schemas.microsoft.com/office/drawing/2014/main" id="{92C05E10-1C80-CC0C-DE0C-835D2FCA9CC3}"/>
              </a:ext>
            </a:extLst>
          </p:cNvPr>
          <p:cNvSpPr/>
          <p:nvPr/>
        </p:nvSpPr>
        <p:spPr>
          <a:xfrm>
            <a:off x="7752543" y="1880139"/>
            <a:ext cx="923679" cy="904771"/>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Edge node VM2</a:t>
            </a:r>
          </a:p>
        </p:txBody>
      </p:sp>
      <p:sp>
        <p:nvSpPr>
          <p:cNvPr id="17" name="TextBox 16">
            <a:extLst>
              <a:ext uri="{FF2B5EF4-FFF2-40B4-BE49-F238E27FC236}">
                <a16:creationId xmlns:a16="http://schemas.microsoft.com/office/drawing/2014/main" id="{3C6F58D5-BC16-5A6B-6491-42C4E7391C91}"/>
              </a:ext>
            </a:extLst>
          </p:cNvPr>
          <p:cNvSpPr txBox="1"/>
          <p:nvPr/>
        </p:nvSpPr>
        <p:spPr>
          <a:xfrm>
            <a:off x="1065213" y="3436375"/>
            <a:ext cx="45720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Features distributed across ESX hosts</a:t>
            </a:r>
          </a:p>
        </p:txBody>
      </p:sp>
      <p:sp>
        <p:nvSpPr>
          <p:cNvPr id="18" name="TextBox 17">
            <a:extLst>
              <a:ext uri="{FF2B5EF4-FFF2-40B4-BE49-F238E27FC236}">
                <a16:creationId xmlns:a16="http://schemas.microsoft.com/office/drawing/2014/main" id="{9F48B41E-9BAA-7ED9-F546-4DA58C304597}"/>
              </a:ext>
            </a:extLst>
          </p:cNvPr>
          <p:cNvSpPr txBox="1"/>
          <p:nvPr/>
        </p:nvSpPr>
        <p:spPr>
          <a:xfrm>
            <a:off x="6551613" y="3436375"/>
            <a:ext cx="45720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Features  requiring NSX edge nodes</a:t>
            </a:r>
          </a:p>
        </p:txBody>
      </p:sp>
      <p:sp>
        <p:nvSpPr>
          <p:cNvPr id="19" name="TextBox 18">
            <a:extLst>
              <a:ext uri="{FF2B5EF4-FFF2-40B4-BE49-F238E27FC236}">
                <a16:creationId xmlns:a16="http://schemas.microsoft.com/office/drawing/2014/main" id="{0E6CAE90-3B8B-082B-A018-9172E3090480}"/>
              </a:ext>
            </a:extLst>
          </p:cNvPr>
          <p:cNvSpPr txBox="1"/>
          <p:nvPr/>
        </p:nvSpPr>
        <p:spPr>
          <a:xfrm>
            <a:off x="1065213" y="3872242"/>
            <a:ext cx="4760821" cy="166199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Distributed routing and switching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Distributed routing to physical infrastructure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1:1 NAT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Distributed DHCP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QoS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	</a:t>
            </a:r>
          </a:p>
        </p:txBody>
      </p:sp>
      <p:sp>
        <p:nvSpPr>
          <p:cNvPr id="20" name="TextBox 19">
            <a:extLst>
              <a:ext uri="{FF2B5EF4-FFF2-40B4-BE49-F238E27FC236}">
                <a16:creationId xmlns:a16="http://schemas.microsoft.com/office/drawing/2014/main" id="{79FD8B44-77A6-280F-B468-0598EDEBBED9}"/>
              </a:ext>
            </a:extLst>
          </p:cNvPr>
          <p:cNvSpPr txBox="1"/>
          <p:nvPr/>
        </p:nvSpPr>
        <p:spPr>
          <a:xfrm>
            <a:off x="6551613" y="3872242"/>
            <a:ext cx="5029200" cy="166199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Routing and bridging to physical infrastructure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BGP, multicast routing, VPN, EVPN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NAT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DHCP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Gateway QoS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Load balancing</a:t>
            </a:r>
          </a:p>
        </p:txBody>
      </p:sp>
      <p:grpSp>
        <p:nvGrpSpPr>
          <p:cNvPr id="26" name="Group 25">
            <a:extLst>
              <a:ext uri="{FF2B5EF4-FFF2-40B4-BE49-F238E27FC236}">
                <a16:creationId xmlns:a16="http://schemas.microsoft.com/office/drawing/2014/main" id="{1AE8A81F-C0CE-1A9D-8CF8-F9B6B80A2F7E}"/>
              </a:ext>
            </a:extLst>
          </p:cNvPr>
          <p:cNvGrpSpPr/>
          <p:nvPr/>
        </p:nvGrpSpPr>
        <p:grpSpPr>
          <a:xfrm>
            <a:off x="608014" y="5750434"/>
            <a:ext cx="10972800" cy="277891"/>
            <a:chOff x="608014" y="5409233"/>
            <a:chExt cx="10972800" cy="277891"/>
          </a:xfrm>
        </p:grpSpPr>
        <p:sp>
          <p:nvSpPr>
            <p:cNvPr id="24" name="Rectangle 23">
              <a:extLst>
                <a:ext uri="{FF2B5EF4-FFF2-40B4-BE49-F238E27FC236}">
                  <a16:creationId xmlns:a16="http://schemas.microsoft.com/office/drawing/2014/main" id="{1AC57DDD-2829-FA23-B3A6-30054A85AAD5}"/>
                </a:ext>
              </a:extLst>
            </p:cNvPr>
            <p:cNvSpPr/>
            <p:nvPr/>
          </p:nvSpPr>
          <p:spPr bwMode="gray">
            <a:xfrm>
              <a:off x="608014" y="5425070"/>
              <a:ext cx="10972800" cy="262054"/>
            </a:xfrm>
            <a:prstGeom prst="rect">
              <a:avLst/>
            </a:prstGeom>
            <a:solidFill>
              <a:schemeClr val="bg1">
                <a:lumMod val="95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1" name="TextBox 20">
              <a:extLst>
                <a:ext uri="{FF2B5EF4-FFF2-40B4-BE49-F238E27FC236}">
                  <a16:creationId xmlns:a16="http://schemas.microsoft.com/office/drawing/2014/main" id="{CE68D843-0EB2-0567-37B2-0C4527717152}"/>
                </a:ext>
              </a:extLst>
            </p:cNvPr>
            <p:cNvSpPr txBox="1"/>
            <p:nvPr/>
          </p:nvSpPr>
          <p:spPr>
            <a:xfrm>
              <a:off x="8903643" y="5440010"/>
              <a:ext cx="2219970" cy="215444"/>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5C8A"/>
                  </a:solidFill>
                  <a:effectLst/>
                  <a:uLnTx/>
                  <a:uFillTx/>
                  <a:latin typeface="Arial" panose="020B0604020202020204"/>
                  <a:ea typeface="+mn-ea"/>
                  <a:cs typeface="+mn-cs"/>
                </a:rPr>
                <a:t>*requires vDefend add-on</a:t>
              </a:r>
            </a:p>
          </p:txBody>
        </p:sp>
        <p:sp>
          <p:nvSpPr>
            <p:cNvPr id="22" name="TextBox 21">
              <a:extLst>
                <a:ext uri="{FF2B5EF4-FFF2-40B4-BE49-F238E27FC236}">
                  <a16:creationId xmlns:a16="http://schemas.microsoft.com/office/drawing/2014/main" id="{BCF753A7-A021-C6A5-1CF9-CA3662EE15B0}"/>
                </a:ext>
              </a:extLst>
            </p:cNvPr>
            <p:cNvSpPr txBox="1"/>
            <p:nvPr/>
          </p:nvSpPr>
          <p:spPr>
            <a:xfrm>
              <a:off x="6551613" y="5409233"/>
              <a:ext cx="2241124"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Gateway firewall*</a:t>
              </a:r>
            </a:p>
          </p:txBody>
        </p:sp>
        <p:sp>
          <p:nvSpPr>
            <p:cNvPr id="23" name="TextBox 22">
              <a:extLst>
                <a:ext uri="{FF2B5EF4-FFF2-40B4-BE49-F238E27FC236}">
                  <a16:creationId xmlns:a16="http://schemas.microsoft.com/office/drawing/2014/main" id="{C2E64C5A-4305-8C74-6091-0BA67C78085F}"/>
                </a:ext>
              </a:extLst>
            </p:cNvPr>
            <p:cNvSpPr txBox="1"/>
            <p:nvPr/>
          </p:nvSpPr>
          <p:spPr>
            <a:xfrm>
              <a:off x="1065213" y="5409233"/>
              <a:ext cx="45720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Distributed firewall, IDS/IPS, ATP*</a:t>
              </a:r>
            </a:p>
          </p:txBody>
        </p:sp>
      </p:grpSp>
      <p:sp>
        <p:nvSpPr>
          <p:cNvPr id="16" name="Rectangle: Rounded Corners 42">
            <a:extLst>
              <a:ext uri="{FF2B5EF4-FFF2-40B4-BE49-F238E27FC236}">
                <a16:creationId xmlns:a16="http://schemas.microsoft.com/office/drawing/2014/main" id="{A20AB8CD-4EF6-255A-A588-7FEA25B6F648}"/>
              </a:ext>
            </a:extLst>
          </p:cNvPr>
          <p:cNvSpPr/>
          <p:nvPr/>
        </p:nvSpPr>
        <p:spPr>
          <a:xfrm>
            <a:off x="6625418" y="1880139"/>
            <a:ext cx="923679" cy="904771"/>
          </a:xfrm>
          <a:prstGeom prst="roundRect">
            <a:avLst>
              <a:gd name="adj" fmla="val 5914"/>
            </a:avLst>
          </a:prstGeom>
          <a:solidFill>
            <a:schemeClr val="bg1"/>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5C8A"/>
                </a:solidFill>
                <a:effectLst/>
                <a:uLnTx/>
                <a:uFillTx/>
                <a:latin typeface="Arial" panose="020B0604020202020204"/>
                <a:ea typeface="+mn-ea"/>
                <a:cs typeface="+mn-cs"/>
              </a:rPr>
              <a:t>Edge node VM1</a:t>
            </a:r>
          </a:p>
        </p:txBody>
      </p:sp>
    </p:spTree>
    <p:extLst>
      <p:ext uri="{BB962C8B-B14F-4D97-AF65-F5344CB8AC3E}">
        <p14:creationId xmlns:p14="http://schemas.microsoft.com/office/powerpoint/2010/main" val="151585263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DDF92-03ED-1D54-E0FA-22E47A623463}"/>
            </a:ext>
          </a:extLst>
        </p:cNvPr>
        <p:cNvGrpSpPr/>
        <p:nvPr/>
      </p:nvGrpSpPr>
      <p:grpSpPr>
        <a:xfrm>
          <a:off x="0" y="0"/>
          <a:ext cx="0" cy="0"/>
          <a:chOff x="0" y="0"/>
          <a:chExt cx="0" cy="0"/>
        </a:xfrm>
      </p:grpSpPr>
      <p:grpSp>
        <p:nvGrpSpPr>
          <p:cNvPr id="33" name="Group 32">
            <a:extLst>
              <a:ext uri="{FF2B5EF4-FFF2-40B4-BE49-F238E27FC236}">
                <a16:creationId xmlns:a16="http://schemas.microsoft.com/office/drawing/2014/main" id="{66490CCB-1F28-C36F-2488-39EFD17050BD}"/>
              </a:ext>
            </a:extLst>
          </p:cNvPr>
          <p:cNvGrpSpPr/>
          <p:nvPr/>
        </p:nvGrpSpPr>
        <p:grpSpPr>
          <a:xfrm>
            <a:off x="615821" y="1801344"/>
            <a:ext cx="7311557" cy="4415468"/>
            <a:chOff x="615821" y="1807607"/>
            <a:chExt cx="7311557" cy="4415468"/>
          </a:xfrm>
        </p:grpSpPr>
        <p:grpSp>
          <p:nvGrpSpPr>
            <p:cNvPr id="8" name="Group 7">
              <a:extLst>
                <a:ext uri="{FF2B5EF4-FFF2-40B4-BE49-F238E27FC236}">
                  <a16:creationId xmlns:a16="http://schemas.microsoft.com/office/drawing/2014/main" id="{9CC5A840-DC56-5B5D-D67E-EBEE3DDD1467}"/>
                </a:ext>
              </a:extLst>
            </p:cNvPr>
            <p:cNvGrpSpPr/>
            <p:nvPr/>
          </p:nvGrpSpPr>
          <p:grpSpPr>
            <a:xfrm>
              <a:off x="6621092" y="2046514"/>
              <a:ext cx="1306286" cy="3937519"/>
              <a:chOff x="6948194" y="2046514"/>
              <a:chExt cx="1306286" cy="3937519"/>
            </a:xfrm>
          </p:grpSpPr>
          <p:sp>
            <p:nvSpPr>
              <p:cNvPr id="2" name="Rectangle 1">
                <a:extLst>
                  <a:ext uri="{FF2B5EF4-FFF2-40B4-BE49-F238E27FC236}">
                    <a16:creationId xmlns:a16="http://schemas.microsoft.com/office/drawing/2014/main" id="{C57ADC47-BB05-2B6A-15CB-49579D181E18}"/>
                  </a:ext>
                </a:extLst>
              </p:cNvPr>
              <p:cNvSpPr/>
              <p:nvPr/>
            </p:nvSpPr>
            <p:spPr bwMode="gray">
              <a:xfrm>
                <a:off x="6948194" y="2046514"/>
                <a:ext cx="1306286" cy="2096278"/>
              </a:xfrm>
              <a:prstGeom prst="rect">
                <a:avLst/>
              </a:prstGeom>
              <a:solidFill>
                <a:schemeClr val="accent2"/>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3" name="Rectangle 2">
                <a:extLst>
                  <a:ext uri="{FF2B5EF4-FFF2-40B4-BE49-F238E27FC236}">
                    <a16:creationId xmlns:a16="http://schemas.microsoft.com/office/drawing/2014/main" id="{76BD4A13-1DF7-1040-46C6-89B2D65E9FD4}"/>
                  </a:ext>
                </a:extLst>
              </p:cNvPr>
              <p:cNvSpPr/>
              <p:nvPr/>
            </p:nvSpPr>
            <p:spPr bwMode="gray">
              <a:xfrm>
                <a:off x="6948194" y="4217436"/>
                <a:ext cx="1306286" cy="1766597"/>
              </a:xfrm>
              <a:prstGeom prst="rect">
                <a:avLst/>
              </a:prstGeom>
              <a:solidFill>
                <a:schemeClr val="accent5"/>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sp>
          <p:nvSpPr>
            <p:cNvPr id="131" name="Freeform 130">
              <a:extLst>
                <a:ext uri="{FF2B5EF4-FFF2-40B4-BE49-F238E27FC236}">
                  <a16:creationId xmlns:a16="http://schemas.microsoft.com/office/drawing/2014/main" id="{0221E0D2-F6A7-2D75-11EF-39B29642D8DE}"/>
                </a:ext>
              </a:extLst>
            </p:cNvPr>
            <p:cNvSpPr/>
            <p:nvPr/>
          </p:nvSpPr>
          <p:spPr bwMode="gray">
            <a:xfrm>
              <a:off x="615821" y="2058955"/>
              <a:ext cx="7307392" cy="2090057"/>
            </a:xfrm>
            <a:custGeom>
              <a:avLst/>
              <a:gdLst>
                <a:gd name="connsiteX0" fmla="*/ 0 w 7632441"/>
                <a:gd name="connsiteY0" fmla="*/ 0 h 2096277"/>
                <a:gd name="connsiteX1" fmla="*/ 5101569 w 7632441"/>
                <a:gd name="connsiteY1" fmla="*/ 0 h 2096277"/>
                <a:gd name="connsiteX2" fmla="*/ 5101569 w 7632441"/>
                <a:gd name="connsiteY2" fmla="*/ 124802 h 2096277"/>
                <a:gd name="connsiteX3" fmla="*/ 4971471 w 7632441"/>
                <a:gd name="connsiteY3" fmla="*/ 124802 h 2096277"/>
                <a:gd name="connsiteX4" fmla="*/ 5231667 w 7632441"/>
                <a:gd name="connsiteY4" fmla="*/ 258616 h 2096277"/>
                <a:gd name="connsiteX5" fmla="*/ 5491862 w 7632441"/>
                <a:gd name="connsiteY5" fmla="*/ 124802 h 2096277"/>
                <a:gd name="connsiteX6" fmla="*/ 5361764 w 7632441"/>
                <a:gd name="connsiteY6" fmla="*/ 124802 h 2096277"/>
                <a:gd name="connsiteX7" fmla="*/ 5361764 w 7632441"/>
                <a:gd name="connsiteY7" fmla="*/ 0 h 2096277"/>
                <a:gd name="connsiteX8" fmla="*/ 7632441 w 7632441"/>
                <a:gd name="connsiteY8" fmla="*/ 0 h 2096277"/>
                <a:gd name="connsiteX9" fmla="*/ 7632441 w 7632441"/>
                <a:gd name="connsiteY9" fmla="*/ 2096277 h 2096277"/>
                <a:gd name="connsiteX10" fmla="*/ 0 w 7632441"/>
                <a:gd name="connsiteY10" fmla="*/ 2096277 h 2096277"/>
                <a:gd name="connsiteX11" fmla="*/ 0 w 7632441"/>
                <a:gd name="connsiteY11" fmla="*/ 0 h 209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32441" h="2096277">
                  <a:moveTo>
                    <a:pt x="0" y="0"/>
                  </a:moveTo>
                  <a:lnTo>
                    <a:pt x="5101569" y="0"/>
                  </a:lnTo>
                  <a:lnTo>
                    <a:pt x="5101569" y="124802"/>
                  </a:lnTo>
                  <a:lnTo>
                    <a:pt x="4971471" y="124802"/>
                  </a:lnTo>
                  <a:lnTo>
                    <a:pt x="5231667" y="258616"/>
                  </a:lnTo>
                  <a:lnTo>
                    <a:pt x="5491862" y="124802"/>
                  </a:lnTo>
                  <a:lnTo>
                    <a:pt x="5361764" y="124802"/>
                  </a:lnTo>
                  <a:lnTo>
                    <a:pt x="5361764" y="0"/>
                  </a:lnTo>
                  <a:lnTo>
                    <a:pt x="7632441" y="0"/>
                  </a:lnTo>
                  <a:lnTo>
                    <a:pt x="7632441" y="2096277"/>
                  </a:lnTo>
                  <a:lnTo>
                    <a:pt x="0" y="2096277"/>
                  </a:lnTo>
                  <a:lnTo>
                    <a:pt x="0" y="0"/>
                  </a:lnTo>
                  <a:close/>
                </a:path>
              </a:pathLst>
            </a:custGeom>
            <a:solidFill>
              <a:schemeClr val="accent2">
                <a:alpha val="10000"/>
              </a:schemeClr>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38" name="TextBox 37">
              <a:extLst>
                <a:ext uri="{FF2B5EF4-FFF2-40B4-BE49-F238E27FC236}">
                  <a16:creationId xmlns:a16="http://schemas.microsoft.com/office/drawing/2014/main" id="{ACE9C979-F107-8665-4A1E-4A17EE3D31E2}"/>
                </a:ext>
              </a:extLst>
            </p:cNvPr>
            <p:cNvSpPr txBox="1"/>
            <p:nvPr/>
          </p:nvSpPr>
          <p:spPr>
            <a:xfrm>
              <a:off x="4722813" y="6007631"/>
              <a:ext cx="289347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C4B94"/>
                  </a:solidFill>
                  <a:effectLst/>
                  <a:uLnTx/>
                  <a:uFillTx/>
                  <a:latin typeface="Arial" panose="020B0604020202020204"/>
                  <a:ea typeface="+mn-ea"/>
                  <a:cs typeface="+mn-cs"/>
                </a:rPr>
                <a:t>Self-service resources consumption</a:t>
              </a:r>
            </a:p>
          </p:txBody>
        </p:sp>
        <p:sp>
          <p:nvSpPr>
            <p:cNvPr id="36" name="TextBox 35">
              <a:extLst>
                <a:ext uri="{FF2B5EF4-FFF2-40B4-BE49-F238E27FC236}">
                  <a16:creationId xmlns:a16="http://schemas.microsoft.com/office/drawing/2014/main" id="{F06C754C-1EBB-6094-6692-C48185F66109}"/>
                </a:ext>
              </a:extLst>
            </p:cNvPr>
            <p:cNvSpPr txBox="1"/>
            <p:nvPr/>
          </p:nvSpPr>
          <p:spPr>
            <a:xfrm>
              <a:off x="4722813" y="1807607"/>
              <a:ext cx="2743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5C8A"/>
                  </a:solidFill>
                  <a:effectLst/>
                  <a:uLnTx/>
                  <a:uFillTx/>
                  <a:latin typeface="Arial" panose="020B0604020202020204"/>
                  <a:ea typeface="+mn-ea"/>
                  <a:cs typeface="+mn-cs"/>
                </a:rPr>
                <a:t>Resources pre-provisioning</a:t>
              </a:r>
            </a:p>
          </p:txBody>
        </p:sp>
        <p:sp>
          <p:nvSpPr>
            <p:cNvPr id="135" name="Freeform 134">
              <a:extLst>
                <a:ext uri="{FF2B5EF4-FFF2-40B4-BE49-F238E27FC236}">
                  <a16:creationId xmlns:a16="http://schemas.microsoft.com/office/drawing/2014/main" id="{2B7FBADE-4C0A-D94C-5BDE-02471A01F717}"/>
                </a:ext>
              </a:extLst>
            </p:cNvPr>
            <p:cNvSpPr/>
            <p:nvPr/>
          </p:nvSpPr>
          <p:spPr bwMode="gray">
            <a:xfrm flipH="1" flipV="1">
              <a:off x="2158481" y="4229877"/>
              <a:ext cx="5764732" cy="1754155"/>
            </a:xfrm>
            <a:custGeom>
              <a:avLst/>
              <a:gdLst>
                <a:gd name="connsiteX0" fmla="*/ 6102220 w 6102220"/>
                <a:gd name="connsiteY0" fmla="*/ 1754155 h 1754155"/>
                <a:gd name="connsiteX1" fmla="*/ 0 w 6102220"/>
                <a:gd name="connsiteY1" fmla="*/ 1754155 h 1754155"/>
                <a:gd name="connsiteX2" fmla="*/ 0 w 6102220"/>
                <a:gd name="connsiteY2" fmla="*/ 0 h 1754155"/>
                <a:gd name="connsiteX3" fmla="*/ 2270677 w 6102220"/>
                <a:gd name="connsiteY3" fmla="*/ 0 h 1754155"/>
                <a:gd name="connsiteX4" fmla="*/ 2270677 w 6102220"/>
                <a:gd name="connsiteY4" fmla="*/ 130238 h 1754155"/>
                <a:gd name="connsiteX5" fmla="*/ 2140579 w 6102220"/>
                <a:gd name="connsiteY5" fmla="*/ 130238 h 1754155"/>
                <a:gd name="connsiteX6" fmla="*/ 2400775 w 6102220"/>
                <a:gd name="connsiteY6" fmla="*/ 264052 h 1754155"/>
                <a:gd name="connsiteX7" fmla="*/ 2660970 w 6102220"/>
                <a:gd name="connsiteY7" fmla="*/ 130238 h 1754155"/>
                <a:gd name="connsiteX8" fmla="*/ 2530872 w 6102220"/>
                <a:gd name="connsiteY8" fmla="*/ 130238 h 1754155"/>
                <a:gd name="connsiteX9" fmla="*/ 2530872 w 6102220"/>
                <a:gd name="connsiteY9" fmla="*/ 0 h 1754155"/>
                <a:gd name="connsiteX10" fmla="*/ 6102220 w 6102220"/>
                <a:gd name="connsiteY10" fmla="*/ 0 h 1754155"/>
                <a:gd name="connsiteX11" fmla="*/ 6102220 w 6102220"/>
                <a:gd name="connsiteY11" fmla="*/ 1754155 h 1754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02220" h="1754155">
                  <a:moveTo>
                    <a:pt x="6102220" y="1754155"/>
                  </a:moveTo>
                  <a:lnTo>
                    <a:pt x="0" y="1754155"/>
                  </a:lnTo>
                  <a:lnTo>
                    <a:pt x="0" y="0"/>
                  </a:lnTo>
                  <a:lnTo>
                    <a:pt x="2270677" y="0"/>
                  </a:lnTo>
                  <a:lnTo>
                    <a:pt x="2270677" y="130238"/>
                  </a:lnTo>
                  <a:lnTo>
                    <a:pt x="2140579" y="130238"/>
                  </a:lnTo>
                  <a:lnTo>
                    <a:pt x="2400775" y="264052"/>
                  </a:lnTo>
                  <a:lnTo>
                    <a:pt x="2660970" y="130238"/>
                  </a:lnTo>
                  <a:lnTo>
                    <a:pt x="2530872" y="130238"/>
                  </a:lnTo>
                  <a:lnTo>
                    <a:pt x="2530872" y="0"/>
                  </a:lnTo>
                  <a:lnTo>
                    <a:pt x="6102220" y="0"/>
                  </a:lnTo>
                  <a:lnTo>
                    <a:pt x="6102220" y="1754155"/>
                  </a:lnTo>
                  <a:close/>
                </a:path>
              </a:pathLst>
            </a:custGeom>
            <a:solidFill>
              <a:schemeClr val="accent5">
                <a:alpha val="10000"/>
              </a:schemeClr>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140" name="Group 139">
              <a:extLst>
                <a:ext uri="{FF2B5EF4-FFF2-40B4-BE49-F238E27FC236}">
                  <a16:creationId xmlns:a16="http://schemas.microsoft.com/office/drawing/2014/main" id="{157FD4F9-44E0-3BD0-6BFA-1228DE671432}"/>
                </a:ext>
              </a:extLst>
            </p:cNvPr>
            <p:cNvGrpSpPr/>
            <p:nvPr/>
          </p:nvGrpSpPr>
          <p:grpSpPr>
            <a:xfrm>
              <a:off x="6770687" y="4339343"/>
              <a:ext cx="972388" cy="1001142"/>
              <a:chOff x="7172130" y="4339343"/>
              <a:chExt cx="972388" cy="1001142"/>
            </a:xfrm>
          </p:grpSpPr>
          <p:grpSp>
            <p:nvGrpSpPr>
              <p:cNvPr id="30" name="Group 29">
                <a:extLst>
                  <a:ext uri="{FF2B5EF4-FFF2-40B4-BE49-F238E27FC236}">
                    <a16:creationId xmlns:a16="http://schemas.microsoft.com/office/drawing/2014/main" id="{255E6584-2042-6C84-3F63-863FBF107C30}"/>
                  </a:ext>
                </a:extLst>
              </p:cNvPr>
              <p:cNvGrpSpPr/>
              <p:nvPr/>
            </p:nvGrpSpPr>
            <p:grpSpPr>
              <a:xfrm>
                <a:off x="7243828" y="4929221"/>
                <a:ext cx="848284" cy="252000"/>
                <a:chOff x="7313613" y="4629473"/>
                <a:chExt cx="848284" cy="252000"/>
              </a:xfrm>
            </p:grpSpPr>
            <p:sp>
              <p:nvSpPr>
                <p:cNvPr id="21" name="Rectangle 20">
                  <a:extLst>
                    <a:ext uri="{FF2B5EF4-FFF2-40B4-BE49-F238E27FC236}">
                      <a16:creationId xmlns:a16="http://schemas.microsoft.com/office/drawing/2014/main" id="{55114C83-C9CD-A555-E1D2-FB46ADD342D7}"/>
                    </a:ext>
                  </a:extLst>
                </p:cNvPr>
                <p:cNvSpPr/>
                <p:nvPr/>
              </p:nvSpPr>
              <p:spPr bwMode="gray">
                <a:xfrm>
                  <a:off x="7313613" y="4629473"/>
                  <a:ext cx="848284" cy="252000"/>
                </a:xfrm>
                <a:prstGeom prst="rect">
                  <a:avLst/>
                </a:prstGeom>
                <a:no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22" name="Rectangle 21">
                  <a:extLst>
                    <a:ext uri="{FF2B5EF4-FFF2-40B4-BE49-F238E27FC236}">
                      <a16:creationId xmlns:a16="http://schemas.microsoft.com/office/drawing/2014/main" id="{9FCA8ABE-58FD-4FB6-E5E0-689FD5E83587}"/>
                    </a:ext>
                  </a:extLst>
                </p:cNvPr>
                <p:cNvSpPr/>
                <p:nvPr/>
              </p:nvSpPr>
              <p:spPr bwMode="gray">
                <a:xfrm>
                  <a:off x="7346949" y="4665473"/>
                  <a:ext cx="56137" cy="180000"/>
                </a:xfrm>
                <a:prstGeom prst="rect">
                  <a:avLst/>
                </a:prstGeom>
                <a:solidFill>
                  <a:schemeClr val="accent4"/>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sp>
            <p:nvSpPr>
              <p:cNvPr id="127" name="TextBox 126">
                <a:extLst>
                  <a:ext uri="{FF2B5EF4-FFF2-40B4-BE49-F238E27FC236}">
                    <a16:creationId xmlns:a16="http://schemas.microsoft.com/office/drawing/2014/main" id="{8941DB26-D90D-5AFA-8AA9-6E1D4E619FA0}"/>
                  </a:ext>
                </a:extLst>
              </p:cNvPr>
              <p:cNvSpPr txBox="1"/>
              <p:nvPr/>
            </p:nvSpPr>
            <p:spPr>
              <a:xfrm>
                <a:off x="7247106" y="5187604"/>
                <a:ext cx="875490" cy="15288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minimal</a:t>
                </a:r>
              </a:p>
            </p:txBody>
          </p:sp>
          <p:sp>
            <p:nvSpPr>
              <p:cNvPr id="137" name="TextBox 136">
                <a:extLst>
                  <a:ext uri="{FF2B5EF4-FFF2-40B4-BE49-F238E27FC236}">
                    <a16:creationId xmlns:a16="http://schemas.microsoft.com/office/drawing/2014/main" id="{82B9BA87-C492-6A73-2072-D4DFDAFEFF00}"/>
                  </a:ext>
                </a:extLst>
              </p:cNvPr>
              <p:cNvSpPr txBox="1"/>
              <p:nvPr/>
            </p:nvSpPr>
            <p:spPr>
              <a:xfrm>
                <a:off x="7172130" y="4339343"/>
                <a:ext cx="972388" cy="4616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Required</a:t>
                </a:r>
                <a:b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b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Networking</a:t>
                </a:r>
                <a:b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b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Expertise</a:t>
                </a:r>
              </a:p>
            </p:txBody>
          </p:sp>
        </p:grpSp>
        <p:grpSp>
          <p:nvGrpSpPr>
            <p:cNvPr id="141" name="Group 140">
              <a:extLst>
                <a:ext uri="{FF2B5EF4-FFF2-40B4-BE49-F238E27FC236}">
                  <a16:creationId xmlns:a16="http://schemas.microsoft.com/office/drawing/2014/main" id="{223984E8-629A-6650-7D0E-0BFBF0549D69}"/>
                </a:ext>
              </a:extLst>
            </p:cNvPr>
            <p:cNvGrpSpPr/>
            <p:nvPr/>
          </p:nvGrpSpPr>
          <p:grpSpPr>
            <a:xfrm>
              <a:off x="6764467" y="2112438"/>
              <a:ext cx="972388" cy="1866175"/>
              <a:chOff x="7165910" y="2112438"/>
              <a:chExt cx="972388" cy="1866175"/>
            </a:xfrm>
          </p:grpSpPr>
          <p:grpSp>
            <p:nvGrpSpPr>
              <p:cNvPr id="28" name="Group 27">
                <a:extLst>
                  <a:ext uri="{FF2B5EF4-FFF2-40B4-BE49-F238E27FC236}">
                    <a16:creationId xmlns:a16="http://schemas.microsoft.com/office/drawing/2014/main" id="{A39A14C4-CC41-BD57-033F-FB446149E46E}"/>
                  </a:ext>
                </a:extLst>
              </p:cNvPr>
              <p:cNvGrpSpPr/>
              <p:nvPr/>
            </p:nvGrpSpPr>
            <p:grpSpPr>
              <a:xfrm>
                <a:off x="7243828" y="2680389"/>
                <a:ext cx="848284" cy="252000"/>
                <a:chOff x="7313613" y="2343473"/>
                <a:chExt cx="848284" cy="252000"/>
              </a:xfrm>
            </p:grpSpPr>
            <p:sp>
              <p:nvSpPr>
                <p:cNvPr id="106" name="Rectangle 105">
                  <a:extLst>
                    <a:ext uri="{FF2B5EF4-FFF2-40B4-BE49-F238E27FC236}">
                      <a16:creationId xmlns:a16="http://schemas.microsoft.com/office/drawing/2014/main" id="{69F4287F-B8CF-2DE0-D45E-C7FB2FBC4BA5}"/>
                    </a:ext>
                  </a:extLst>
                </p:cNvPr>
                <p:cNvSpPr/>
                <p:nvPr/>
              </p:nvSpPr>
              <p:spPr bwMode="gray">
                <a:xfrm>
                  <a:off x="7313613" y="2343473"/>
                  <a:ext cx="848284" cy="252000"/>
                </a:xfrm>
                <a:prstGeom prst="rect">
                  <a:avLst/>
                </a:prstGeom>
                <a:no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107" name="Rectangle 106">
                  <a:extLst>
                    <a:ext uri="{FF2B5EF4-FFF2-40B4-BE49-F238E27FC236}">
                      <a16:creationId xmlns:a16="http://schemas.microsoft.com/office/drawing/2014/main" id="{4A0DDEBF-77D4-F473-E5E3-478126BAF30E}"/>
                    </a:ext>
                  </a:extLst>
                </p:cNvPr>
                <p:cNvSpPr/>
                <p:nvPr/>
              </p:nvSpPr>
              <p:spPr bwMode="gray">
                <a:xfrm>
                  <a:off x="7346949" y="2379473"/>
                  <a:ext cx="756802" cy="180000"/>
                </a:xfrm>
                <a:prstGeom prst="rect">
                  <a:avLst/>
                </a:prstGeom>
                <a:solidFill>
                  <a:schemeClr val="accent3"/>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sp>
            <p:nvSpPr>
              <p:cNvPr id="108" name="TextBox 107">
                <a:extLst>
                  <a:ext uri="{FF2B5EF4-FFF2-40B4-BE49-F238E27FC236}">
                    <a16:creationId xmlns:a16="http://schemas.microsoft.com/office/drawing/2014/main" id="{EA677CF3-0F43-235F-BEB8-14C9AB682F5F}"/>
                  </a:ext>
                </a:extLst>
              </p:cNvPr>
              <p:cNvSpPr txBox="1"/>
              <p:nvPr/>
            </p:nvSpPr>
            <p:spPr>
              <a:xfrm>
                <a:off x="7165910" y="2112438"/>
                <a:ext cx="972388" cy="4616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Required</a:t>
                </a:r>
                <a:b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b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Networking</a:t>
                </a:r>
                <a:b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b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Expertise</a:t>
                </a:r>
              </a:p>
            </p:txBody>
          </p:sp>
          <p:sp>
            <p:nvSpPr>
              <p:cNvPr id="125" name="TextBox 124">
                <a:extLst>
                  <a:ext uri="{FF2B5EF4-FFF2-40B4-BE49-F238E27FC236}">
                    <a16:creationId xmlns:a16="http://schemas.microsoft.com/office/drawing/2014/main" id="{F30BC8CB-7D48-1F4E-0526-3CE44B697700}"/>
                  </a:ext>
                </a:extLst>
              </p:cNvPr>
              <p:cNvSpPr txBox="1"/>
              <p:nvPr/>
            </p:nvSpPr>
            <p:spPr>
              <a:xfrm>
                <a:off x="7247106" y="2951696"/>
                <a:ext cx="875490" cy="15288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advanced</a:t>
                </a:r>
              </a:p>
            </p:txBody>
          </p:sp>
          <p:grpSp>
            <p:nvGrpSpPr>
              <p:cNvPr id="29" name="Group 28">
                <a:extLst>
                  <a:ext uri="{FF2B5EF4-FFF2-40B4-BE49-F238E27FC236}">
                    <a16:creationId xmlns:a16="http://schemas.microsoft.com/office/drawing/2014/main" id="{F33333FB-FAE6-758D-0FAD-9076EC38BDAD}"/>
                  </a:ext>
                </a:extLst>
              </p:cNvPr>
              <p:cNvGrpSpPr/>
              <p:nvPr/>
            </p:nvGrpSpPr>
            <p:grpSpPr>
              <a:xfrm>
                <a:off x="7243828" y="3553903"/>
                <a:ext cx="848284" cy="252000"/>
                <a:chOff x="7313613" y="3535026"/>
                <a:chExt cx="848284" cy="252000"/>
              </a:xfrm>
            </p:grpSpPr>
            <p:sp>
              <p:nvSpPr>
                <p:cNvPr id="6" name="Rectangle 5">
                  <a:extLst>
                    <a:ext uri="{FF2B5EF4-FFF2-40B4-BE49-F238E27FC236}">
                      <a16:creationId xmlns:a16="http://schemas.microsoft.com/office/drawing/2014/main" id="{A0B0778D-DBCC-23FA-DCEA-DE5E71747307}"/>
                    </a:ext>
                  </a:extLst>
                </p:cNvPr>
                <p:cNvSpPr/>
                <p:nvPr/>
              </p:nvSpPr>
              <p:spPr bwMode="gray">
                <a:xfrm>
                  <a:off x="7313613" y="3535026"/>
                  <a:ext cx="848284" cy="252000"/>
                </a:xfrm>
                <a:prstGeom prst="rect">
                  <a:avLst/>
                </a:prstGeom>
                <a:no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27CF1F40-BE66-104F-157B-A7F3C1E5F597}"/>
                    </a:ext>
                  </a:extLst>
                </p:cNvPr>
                <p:cNvSpPr/>
                <p:nvPr/>
              </p:nvSpPr>
              <p:spPr bwMode="gray">
                <a:xfrm>
                  <a:off x="7346949" y="3571026"/>
                  <a:ext cx="222191" cy="180000"/>
                </a:xfrm>
                <a:prstGeom prst="rect">
                  <a:avLst/>
                </a:prstGeom>
                <a:solidFill>
                  <a:schemeClr val="accent4"/>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sp>
            <p:nvSpPr>
              <p:cNvPr id="126" name="TextBox 125">
                <a:extLst>
                  <a:ext uri="{FF2B5EF4-FFF2-40B4-BE49-F238E27FC236}">
                    <a16:creationId xmlns:a16="http://schemas.microsoft.com/office/drawing/2014/main" id="{9B27093B-9496-E178-873E-63CC47B8FDB2}"/>
                  </a:ext>
                </a:extLst>
              </p:cNvPr>
              <p:cNvSpPr txBox="1"/>
              <p:nvPr/>
            </p:nvSpPr>
            <p:spPr>
              <a:xfrm>
                <a:off x="7247106" y="3825732"/>
                <a:ext cx="875490" cy="15288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basic</a:t>
                </a:r>
              </a:p>
            </p:txBody>
          </p:sp>
        </p:grpSp>
      </p:grpSp>
      <p:sp>
        <p:nvSpPr>
          <p:cNvPr id="82" name="TextBox 81">
            <a:extLst>
              <a:ext uri="{FF2B5EF4-FFF2-40B4-BE49-F238E27FC236}">
                <a16:creationId xmlns:a16="http://schemas.microsoft.com/office/drawing/2014/main" id="{048B7E2E-3CEC-805F-E660-B8E3D8F958FD}"/>
              </a:ext>
            </a:extLst>
          </p:cNvPr>
          <p:cNvSpPr txBox="1"/>
          <p:nvPr/>
        </p:nvSpPr>
        <p:spPr>
          <a:xfrm>
            <a:off x="865556" y="2514600"/>
            <a:ext cx="3142514" cy="507831"/>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5C8A"/>
                </a:solidFill>
                <a:effectLst/>
                <a:uLnTx/>
                <a:uFillTx/>
                <a:latin typeface="Arial" panose="020B0604020202020204"/>
                <a:ea typeface="+mn-ea"/>
                <a:cs typeface="+mn-cs"/>
              </a:rPr>
              <a:t>Configures N/S connectivity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5C8A"/>
                </a:solidFill>
                <a:effectLst/>
                <a:uLnTx/>
                <a:uFillTx/>
                <a:latin typeface="Arial" panose="020B0604020202020204"/>
                <a:ea typeface="+mn-ea"/>
                <a:cs typeface="+mn-cs"/>
              </a:rPr>
              <a:t>Creates projects, external IP blocks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5C8A"/>
                </a:solidFill>
                <a:effectLst/>
                <a:uLnTx/>
                <a:uFillTx/>
                <a:latin typeface="Arial" panose="020B0604020202020204"/>
                <a:ea typeface="+mn-ea"/>
                <a:cs typeface="+mn-cs"/>
              </a:rPr>
              <a:t>Assigns IP blocks and quotas to projects</a:t>
            </a:r>
          </a:p>
        </p:txBody>
      </p:sp>
      <p:sp>
        <p:nvSpPr>
          <p:cNvPr id="4" name="Title 3">
            <a:extLst>
              <a:ext uri="{FF2B5EF4-FFF2-40B4-BE49-F238E27FC236}">
                <a16:creationId xmlns:a16="http://schemas.microsoft.com/office/drawing/2014/main" id="{EE5B51E6-729B-4B99-FE7A-F2C067616880}"/>
              </a:ext>
            </a:extLst>
          </p:cNvPr>
          <p:cNvSpPr>
            <a:spLocks noGrp="1"/>
          </p:cNvSpPr>
          <p:nvPr>
            <p:ph type="title"/>
          </p:nvPr>
        </p:nvSpPr>
        <p:spPr/>
        <p:txBody>
          <a:bodyPr/>
          <a:lstStyle/>
          <a:p>
            <a:r>
              <a:rPr lang="en-US" dirty="0"/>
              <a:t>Simple Networking with Virtual Private Clouds (VPCs)</a:t>
            </a:r>
            <a:endParaRPr lang="en-US" strike="sngStrike" dirty="0"/>
          </a:p>
        </p:txBody>
      </p:sp>
      <p:sp>
        <p:nvSpPr>
          <p:cNvPr id="5" name="Subtitle 4">
            <a:extLst>
              <a:ext uri="{FF2B5EF4-FFF2-40B4-BE49-F238E27FC236}">
                <a16:creationId xmlns:a16="http://schemas.microsoft.com/office/drawing/2014/main" id="{FAB30294-C75A-2664-BEA6-5B5B15C0C3D0}"/>
              </a:ext>
            </a:extLst>
          </p:cNvPr>
          <p:cNvSpPr>
            <a:spLocks noGrp="1"/>
          </p:cNvSpPr>
          <p:nvPr>
            <p:ph type="subTitle" idx="10"/>
          </p:nvPr>
        </p:nvSpPr>
        <p:spPr/>
        <p:txBody>
          <a:bodyPr/>
          <a:lstStyle/>
          <a:p>
            <a:r>
              <a:rPr lang="en-US"/>
              <a:t>Consistent implementation of Virtual Private Clouds (VPCs) across the platform</a:t>
            </a:r>
            <a:endParaRPr lang="en-US" dirty="0"/>
          </a:p>
        </p:txBody>
      </p:sp>
      <p:sp>
        <p:nvSpPr>
          <p:cNvPr id="23" name="Text Placeholder 22">
            <a:extLst>
              <a:ext uri="{FF2B5EF4-FFF2-40B4-BE49-F238E27FC236}">
                <a16:creationId xmlns:a16="http://schemas.microsoft.com/office/drawing/2014/main" id="{4E194B36-C81D-C44F-188A-5D1C1F9268B4}"/>
              </a:ext>
            </a:extLst>
          </p:cNvPr>
          <p:cNvSpPr>
            <a:spLocks noGrp="1"/>
          </p:cNvSpPr>
          <p:nvPr>
            <p:ph type="body" sz="quarter" idx="4294967295"/>
          </p:nvPr>
        </p:nvSpPr>
        <p:spPr>
          <a:xfrm>
            <a:off x="8380413" y="2046914"/>
            <a:ext cx="3808412" cy="4125286"/>
          </a:xfrm>
        </p:spPr>
        <p:txBody>
          <a:bodyPr rIns="576000"/>
          <a:lstStyle/>
          <a:p>
            <a:pPr marL="180000" indent="0">
              <a:spcAft>
                <a:spcPts val="600"/>
              </a:spcAft>
            </a:pPr>
            <a:r>
              <a:rPr lang="en-US" sz="1600" dirty="0">
                <a:solidFill>
                  <a:schemeClr val="accent2"/>
                </a:solidFill>
              </a:rPr>
              <a:t>Clear role definition allows </a:t>
            </a:r>
            <a:br>
              <a:rPr lang="en-US" sz="1600" dirty="0">
                <a:solidFill>
                  <a:schemeClr val="accent2"/>
                </a:solidFill>
              </a:rPr>
            </a:br>
            <a:r>
              <a:rPr lang="en-US" sz="1600" dirty="0">
                <a:solidFill>
                  <a:schemeClr val="accent2"/>
                </a:solidFill>
              </a:rPr>
              <a:t>self-service networking</a:t>
            </a:r>
          </a:p>
          <a:p>
            <a:pPr marL="180000" indent="0">
              <a:spcBef>
                <a:spcPts val="1200"/>
              </a:spcBef>
              <a:spcAft>
                <a:spcPts val="600"/>
              </a:spcAft>
            </a:pPr>
            <a:r>
              <a:rPr lang="en-US" sz="1600" b="1" dirty="0">
                <a:solidFill>
                  <a:schemeClr val="accent2"/>
                </a:solidFill>
              </a:rPr>
              <a:t>Enterprise Admin:</a:t>
            </a:r>
          </a:p>
          <a:p>
            <a:pPr marL="540000" lvl="1">
              <a:spcBef>
                <a:spcPts val="600"/>
              </a:spcBef>
              <a:spcAft>
                <a:spcPts val="600"/>
              </a:spcAft>
              <a:buClr>
                <a:schemeClr val="accent2"/>
              </a:buClr>
            </a:pPr>
            <a:r>
              <a:rPr lang="en-US" sz="1400" dirty="0">
                <a:solidFill>
                  <a:schemeClr val="accent2"/>
                </a:solidFill>
              </a:rPr>
              <a:t>Owns the physical infrastructure</a:t>
            </a:r>
          </a:p>
          <a:p>
            <a:pPr marL="180000" indent="0">
              <a:spcBef>
                <a:spcPts val="1200"/>
              </a:spcBef>
              <a:spcAft>
                <a:spcPts val="600"/>
              </a:spcAft>
            </a:pPr>
            <a:r>
              <a:rPr lang="en-US" sz="1600" b="1" dirty="0">
                <a:solidFill>
                  <a:schemeClr val="accent2"/>
                </a:solidFill>
              </a:rPr>
              <a:t>Project Admin:</a:t>
            </a:r>
          </a:p>
          <a:p>
            <a:pPr marL="540000" lvl="1">
              <a:spcBef>
                <a:spcPts val="600"/>
              </a:spcBef>
              <a:spcAft>
                <a:spcPts val="600"/>
              </a:spcAft>
              <a:buClr>
                <a:schemeClr val="accent2"/>
              </a:buClr>
            </a:pPr>
            <a:r>
              <a:rPr lang="en-US" sz="1400" dirty="0">
                <a:solidFill>
                  <a:schemeClr val="accent2"/>
                </a:solidFill>
              </a:rPr>
              <a:t>A tenant</a:t>
            </a:r>
          </a:p>
          <a:p>
            <a:pPr marL="540000" lvl="1">
              <a:spcBef>
                <a:spcPts val="600"/>
              </a:spcBef>
              <a:spcAft>
                <a:spcPts val="600"/>
              </a:spcAft>
              <a:buClr>
                <a:schemeClr val="accent2"/>
              </a:buClr>
            </a:pPr>
            <a:r>
              <a:rPr lang="en-US" sz="1400" dirty="0">
                <a:solidFill>
                  <a:schemeClr val="accent2"/>
                </a:solidFill>
              </a:rPr>
              <a:t>No direct access to physical network</a:t>
            </a:r>
          </a:p>
          <a:p>
            <a:pPr marL="180000" indent="0">
              <a:spcBef>
                <a:spcPts val="1200"/>
              </a:spcBef>
              <a:spcAft>
                <a:spcPts val="600"/>
              </a:spcAft>
            </a:pPr>
            <a:r>
              <a:rPr lang="en-US" sz="1600" b="1" dirty="0">
                <a:solidFill>
                  <a:schemeClr val="accent2"/>
                </a:solidFill>
              </a:rPr>
              <a:t>VPC Admin:</a:t>
            </a:r>
          </a:p>
          <a:p>
            <a:pPr marL="540000" lvl="1">
              <a:spcBef>
                <a:spcPts val="600"/>
              </a:spcBef>
              <a:spcAft>
                <a:spcPts val="600"/>
              </a:spcAft>
              <a:buClr>
                <a:schemeClr val="accent2"/>
              </a:buClr>
            </a:pPr>
            <a:r>
              <a:rPr lang="en-US" sz="1400" dirty="0">
                <a:solidFill>
                  <a:schemeClr val="accent2"/>
                </a:solidFill>
              </a:rPr>
              <a:t>End user</a:t>
            </a:r>
          </a:p>
          <a:p>
            <a:pPr marL="540000" lvl="1">
              <a:spcBef>
                <a:spcPts val="600"/>
              </a:spcBef>
              <a:spcAft>
                <a:spcPts val="600"/>
              </a:spcAft>
              <a:buClr>
                <a:schemeClr val="accent2"/>
              </a:buClr>
            </a:pPr>
            <a:r>
              <a:rPr lang="en-US" sz="1400" dirty="0">
                <a:solidFill>
                  <a:schemeClr val="accent2"/>
                </a:solidFill>
              </a:rPr>
              <a:t>Simple, self-service networking</a:t>
            </a:r>
          </a:p>
          <a:p>
            <a:pPr lvl="1"/>
            <a:endParaRPr lang="en-US" dirty="0"/>
          </a:p>
        </p:txBody>
      </p:sp>
      <p:sp>
        <p:nvSpPr>
          <p:cNvPr id="24" name="Rounded Rectangle 23">
            <a:extLst>
              <a:ext uri="{FF2B5EF4-FFF2-40B4-BE49-F238E27FC236}">
                <a16:creationId xmlns:a16="http://schemas.microsoft.com/office/drawing/2014/main" id="{FAEFCE59-A8F3-9822-5CDA-43F5ED9F601B}"/>
              </a:ext>
            </a:extLst>
          </p:cNvPr>
          <p:cNvSpPr/>
          <p:nvPr/>
        </p:nvSpPr>
        <p:spPr>
          <a:xfrm>
            <a:off x="614940" y="2057400"/>
            <a:ext cx="3657600" cy="4114800"/>
          </a:xfrm>
          <a:prstGeom prst="roundRect">
            <a:avLst>
              <a:gd name="adj" fmla="val 1799"/>
            </a:avLst>
          </a:prstGeom>
          <a:no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5C8A"/>
                </a:solidFill>
                <a:effectLst/>
                <a:uLnTx/>
                <a:uFillTx/>
                <a:latin typeface="Arial" panose="020B0604020202020204"/>
                <a:ea typeface="+mn-ea"/>
                <a:cs typeface="+mn-cs"/>
              </a:rPr>
              <a:t>VCF with NSX</a:t>
            </a:r>
          </a:p>
        </p:txBody>
      </p:sp>
      <p:grpSp>
        <p:nvGrpSpPr>
          <p:cNvPr id="17" name="deployed by ent admin">
            <a:extLst>
              <a:ext uri="{FF2B5EF4-FFF2-40B4-BE49-F238E27FC236}">
                <a16:creationId xmlns:a16="http://schemas.microsoft.com/office/drawing/2014/main" id="{1E76E457-1156-9DEB-26D5-6863218B3D9F}"/>
              </a:ext>
            </a:extLst>
          </p:cNvPr>
          <p:cNvGrpSpPr/>
          <p:nvPr/>
        </p:nvGrpSpPr>
        <p:grpSpPr>
          <a:xfrm>
            <a:off x="843540" y="3240157"/>
            <a:ext cx="3200400" cy="2830930"/>
            <a:chOff x="843540" y="3240157"/>
            <a:chExt cx="3200400" cy="2830930"/>
          </a:xfrm>
        </p:grpSpPr>
        <p:sp>
          <p:nvSpPr>
            <p:cNvPr id="9" name="Rounded Rectangle 8">
              <a:extLst>
                <a:ext uri="{FF2B5EF4-FFF2-40B4-BE49-F238E27FC236}">
                  <a16:creationId xmlns:a16="http://schemas.microsoft.com/office/drawing/2014/main" id="{00DA71ED-973A-A877-94DF-0CE81BD44B48}"/>
                </a:ext>
              </a:extLst>
            </p:cNvPr>
            <p:cNvSpPr/>
            <p:nvPr/>
          </p:nvSpPr>
          <p:spPr>
            <a:xfrm>
              <a:off x="843540" y="3240157"/>
              <a:ext cx="3200400" cy="2830930"/>
            </a:xfrm>
            <a:prstGeom prst="roundRect">
              <a:avLst>
                <a:gd name="adj" fmla="val 1537"/>
              </a:avLst>
            </a:prstGeom>
            <a:no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61A60E"/>
                  </a:solidFill>
                  <a:effectLst/>
                  <a:uLnTx/>
                  <a:uFillTx/>
                  <a:latin typeface="Arial" panose="020B0604020202020204"/>
                  <a:ea typeface="+mn-ea"/>
                  <a:cs typeface="+mn-cs"/>
                </a:rPr>
                <a:t>Project</a:t>
              </a:r>
            </a:p>
          </p:txBody>
        </p:sp>
        <p:sp>
          <p:nvSpPr>
            <p:cNvPr id="10" name="Freeform 9">
              <a:extLst>
                <a:ext uri="{FF2B5EF4-FFF2-40B4-BE49-F238E27FC236}">
                  <a16:creationId xmlns:a16="http://schemas.microsoft.com/office/drawing/2014/main" id="{9999E88D-B1CF-EDE8-A7EA-E6AF1C8DEE94}"/>
                </a:ext>
              </a:extLst>
            </p:cNvPr>
            <p:cNvSpPr>
              <a:spLocks noChangeAspect="1"/>
            </p:cNvSpPr>
            <p:nvPr/>
          </p:nvSpPr>
          <p:spPr>
            <a:xfrm>
              <a:off x="1392941" y="3299854"/>
              <a:ext cx="180033" cy="180000"/>
            </a:xfrm>
            <a:custGeom>
              <a:avLst/>
              <a:gdLst>
                <a:gd name="connsiteX0" fmla="*/ 228433 w 266747"/>
                <a:gd name="connsiteY0" fmla="*/ 213550 h 266700"/>
                <a:gd name="connsiteX1" fmla="*/ 213289 w 266747"/>
                <a:gd name="connsiteY1" fmla="*/ 228695 h 266700"/>
                <a:gd name="connsiteX2" fmla="*/ 228433 w 266747"/>
                <a:gd name="connsiteY2" fmla="*/ 243840 h 266700"/>
                <a:gd name="connsiteX3" fmla="*/ 243578 w 266747"/>
                <a:gd name="connsiteY3" fmla="*/ 228695 h 266700"/>
                <a:gd name="connsiteX4" fmla="*/ 133374 w 266747"/>
                <a:gd name="connsiteY4" fmla="*/ 213550 h 266700"/>
                <a:gd name="connsiteX5" fmla="*/ 118229 w 266747"/>
                <a:gd name="connsiteY5" fmla="*/ 228695 h 266700"/>
                <a:gd name="connsiteX6" fmla="*/ 133374 w 266747"/>
                <a:gd name="connsiteY6" fmla="*/ 243840 h 266700"/>
                <a:gd name="connsiteX7" fmla="*/ 148519 w 266747"/>
                <a:gd name="connsiteY7" fmla="*/ 228695 h 266700"/>
                <a:gd name="connsiteX8" fmla="*/ 38124 w 266747"/>
                <a:gd name="connsiteY8" fmla="*/ 213550 h 266700"/>
                <a:gd name="connsiteX9" fmla="*/ 22979 w 266747"/>
                <a:gd name="connsiteY9" fmla="*/ 228695 h 266700"/>
                <a:gd name="connsiteX10" fmla="*/ 38124 w 266747"/>
                <a:gd name="connsiteY10" fmla="*/ 243840 h 266700"/>
                <a:gd name="connsiteX11" fmla="*/ 53269 w 266747"/>
                <a:gd name="connsiteY11" fmla="*/ 228695 h 266700"/>
                <a:gd name="connsiteX12" fmla="*/ 123754 w 266747"/>
                <a:gd name="connsiteY12" fmla="*/ 76200 h 266700"/>
                <a:gd name="connsiteX13" fmla="*/ 142708 w 266747"/>
                <a:gd name="connsiteY13" fmla="*/ 76200 h 266700"/>
                <a:gd name="connsiteX14" fmla="*/ 142708 w 266747"/>
                <a:gd name="connsiteY14" fmla="*/ 152400 h 266700"/>
                <a:gd name="connsiteX15" fmla="*/ 228433 w 266747"/>
                <a:gd name="connsiteY15" fmla="*/ 152400 h 266700"/>
                <a:gd name="connsiteX16" fmla="*/ 237958 w 266747"/>
                <a:gd name="connsiteY16" fmla="*/ 161925 h 266700"/>
                <a:gd name="connsiteX17" fmla="*/ 237958 w 266747"/>
                <a:gd name="connsiteY17" fmla="*/ 196120 h 266700"/>
                <a:gd name="connsiteX18" fmla="*/ 263771 w 266747"/>
                <a:gd name="connsiteY18" fmla="*/ 221933 h 266700"/>
                <a:gd name="connsiteX19" fmla="*/ 263962 w 266747"/>
                <a:gd name="connsiteY19" fmla="*/ 221933 h 266700"/>
                <a:gd name="connsiteX20" fmla="*/ 263962 w 266747"/>
                <a:gd name="connsiteY20" fmla="*/ 235363 h 266700"/>
                <a:gd name="connsiteX21" fmla="*/ 235387 w 266747"/>
                <a:gd name="connsiteY21" fmla="*/ 263938 h 266700"/>
                <a:gd name="connsiteX22" fmla="*/ 228624 w 266747"/>
                <a:gd name="connsiteY22" fmla="*/ 266700 h 266700"/>
                <a:gd name="connsiteX23" fmla="*/ 221861 w 266747"/>
                <a:gd name="connsiteY23" fmla="*/ 263938 h 266700"/>
                <a:gd name="connsiteX24" fmla="*/ 193286 w 266747"/>
                <a:gd name="connsiteY24" fmla="*/ 235363 h 266700"/>
                <a:gd name="connsiteX25" fmla="*/ 193286 w 266747"/>
                <a:gd name="connsiteY25" fmla="*/ 221933 h 266700"/>
                <a:gd name="connsiteX26" fmla="*/ 219099 w 266747"/>
                <a:gd name="connsiteY26" fmla="*/ 196120 h 266700"/>
                <a:gd name="connsiteX27" fmla="*/ 219099 w 266747"/>
                <a:gd name="connsiteY27" fmla="*/ 171450 h 266700"/>
                <a:gd name="connsiteX28" fmla="*/ 142899 w 266747"/>
                <a:gd name="connsiteY28" fmla="*/ 171450 h 266700"/>
                <a:gd name="connsiteX29" fmla="*/ 142899 w 266747"/>
                <a:gd name="connsiteY29" fmla="*/ 195929 h 266700"/>
                <a:gd name="connsiteX30" fmla="*/ 168807 w 266747"/>
                <a:gd name="connsiteY30" fmla="*/ 221837 h 266700"/>
                <a:gd name="connsiteX31" fmla="*/ 168807 w 266747"/>
                <a:gd name="connsiteY31" fmla="*/ 235268 h 266700"/>
                <a:gd name="connsiteX32" fmla="*/ 140232 w 266747"/>
                <a:gd name="connsiteY32" fmla="*/ 263843 h 266700"/>
                <a:gd name="connsiteX33" fmla="*/ 133469 w 266747"/>
                <a:gd name="connsiteY33" fmla="*/ 266605 h 266700"/>
                <a:gd name="connsiteX34" fmla="*/ 126706 w 266747"/>
                <a:gd name="connsiteY34" fmla="*/ 263843 h 266700"/>
                <a:gd name="connsiteX35" fmla="*/ 98131 w 266747"/>
                <a:gd name="connsiteY35" fmla="*/ 235268 h 266700"/>
                <a:gd name="connsiteX36" fmla="*/ 98131 w 266747"/>
                <a:gd name="connsiteY36" fmla="*/ 221837 h 266700"/>
                <a:gd name="connsiteX37" fmla="*/ 123754 w 266747"/>
                <a:gd name="connsiteY37" fmla="*/ 196215 h 266700"/>
                <a:gd name="connsiteX38" fmla="*/ 123754 w 266747"/>
                <a:gd name="connsiteY38" fmla="*/ 171450 h 266700"/>
                <a:gd name="connsiteX39" fmla="*/ 47554 w 266747"/>
                <a:gd name="connsiteY39" fmla="*/ 171450 h 266700"/>
                <a:gd name="connsiteX40" fmla="*/ 47554 w 266747"/>
                <a:gd name="connsiteY40" fmla="*/ 195929 h 266700"/>
                <a:gd name="connsiteX41" fmla="*/ 73462 w 266747"/>
                <a:gd name="connsiteY41" fmla="*/ 221837 h 266700"/>
                <a:gd name="connsiteX42" fmla="*/ 73462 w 266747"/>
                <a:gd name="connsiteY42" fmla="*/ 235268 h 266700"/>
                <a:gd name="connsiteX43" fmla="*/ 44887 w 266747"/>
                <a:gd name="connsiteY43" fmla="*/ 263843 h 266700"/>
                <a:gd name="connsiteX44" fmla="*/ 38124 w 266747"/>
                <a:gd name="connsiteY44" fmla="*/ 266605 h 266700"/>
                <a:gd name="connsiteX45" fmla="*/ 31361 w 266747"/>
                <a:gd name="connsiteY45" fmla="*/ 263843 h 266700"/>
                <a:gd name="connsiteX46" fmla="*/ 2786 w 266747"/>
                <a:gd name="connsiteY46" fmla="*/ 235268 h 266700"/>
                <a:gd name="connsiteX47" fmla="*/ 2786 w 266747"/>
                <a:gd name="connsiteY47" fmla="*/ 221837 h 266700"/>
                <a:gd name="connsiteX48" fmla="*/ 28408 w 266747"/>
                <a:gd name="connsiteY48" fmla="*/ 196215 h 266700"/>
                <a:gd name="connsiteX49" fmla="*/ 28408 w 266747"/>
                <a:gd name="connsiteY49" fmla="*/ 161925 h 266700"/>
                <a:gd name="connsiteX50" fmla="*/ 37933 w 266747"/>
                <a:gd name="connsiteY50" fmla="*/ 152400 h 266700"/>
                <a:gd name="connsiteX51" fmla="*/ 123754 w 266747"/>
                <a:gd name="connsiteY51" fmla="*/ 152400 h 266700"/>
                <a:gd name="connsiteX52" fmla="*/ 133183 w 266747"/>
                <a:gd name="connsiteY52" fmla="*/ 0 h 266700"/>
                <a:gd name="connsiteX53" fmla="*/ 197668 w 266747"/>
                <a:gd name="connsiteY53" fmla="*/ 50006 h 266700"/>
                <a:gd name="connsiteX54" fmla="*/ 206621 w 266747"/>
                <a:gd name="connsiteY54" fmla="*/ 48958 h 266700"/>
                <a:gd name="connsiteX55" fmla="*/ 248817 w 266747"/>
                <a:gd name="connsiteY55" fmla="*/ 91154 h 266700"/>
                <a:gd name="connsiteX56" fmla="*/ 206621 w 266747"/>
                <a:gd name="connsiteY56" fmla="*/ 133350 h 266700"/>
                <a:gd name="connsiteX57" fmla="*/ 161854 w 266747"/>
                <a:gd name="connsiteY57" fmla="*/ 133350 h 266700"/>
                <a:gd name="connsiteX58" fmla="*/ 161854 w 266747"/>
                <a:gd name="connsiteY58" fmla="*/ 114300 h 266700"/>
                <a:gd name="connsiteX59" fmla="*/ 206621 w 266747"/>
                <a:gd name="connsiteY59" fmla="*/ 114300 h 266700"/>
                <a:gd name="connsiteX60" fmla="*/ 229767 w 266747"/>
                <a:gd name="connsiteY60" fmla="*/ 91154 h 266700"/>
                <a:gd name="connsiteX61" fmla="*/ 206621 w 266747"/>
                <a:gd name="connsiteY61" fmla="*/ 68008 h 266700"/>
                <a:gd name="connsiteX62" fmla="*/ 195001 w 266747"/>
                <a:gd name="connsiteY62" fmla="*/ 71342 h 266700"/>
                <a:gd name="connsiteX63" fmla="*/ 185666 w 266747"/>
                <a:gd name="connsiteY63" fmla="*/ 71533 h 266700"/>
                <a:gd name="connsiteX64" fmla="*/ 180618 w 266747"/>
                <a:gd name="connsiteY64" fmla="*/ 63722 h 266700"/>
                <a:gd name="connsiteX65" fmla="*/ 133183 w 266747"/>
                <a:gd name="connsiteY65" fmla="*/ 19050 h 266700"/>
                <a:gd name="connsiteX66" fmla="*/ 89273 w 266747"/>
                <a:gd name="connsiteY66" fmla="*/ 48101 h 266700"/>
                <a:gd name="connsiteX67" fmla="*/ 77557 w 266747"/>
                <a:gd name="connsiteY67" fmla="*/ 53435 h 266700"/>
                <a:gd name="connsiteX68" fmla="*/ 67842 w 266747"/>
                <a:gd name="connsiteY68" fmla="*/ 51721 h 266700"/>
                <a:gd name="connsiteX69" fmla="*/ 36505 w 266747"/>
                <a:gd name="connsiteY69" fmla="*/ 83058 h 266700"/>
                <a:gd name="connsiteX70" fmla="*/ 67842 w 266747"/>
                <a:gd name="connsiteY70" fmla="*/ 114395 h 266700"/>
                <a:gd name="connsiteX71" fmla="*/ 104704 w 266747"/>
                <a:gd name="connsiteY71" fmla="*/ 114395 h 266700"/>
                <a:gd name="connsiteX72" fmla="*/ 104704 w 266747"/>
                <a:gd name="connsiteY72" fmla="*/ 133445 h 266700"/>
                <a:gd name="connsiteX73" fmla="*/ 67937 w 266747"/>
                <a:gd name="connsiteY73" fmla="*/ 133445 h 266700"/>
                <a:gd name="connsiteX74" fmla="*/ 17550 w 266747"/>
                <a:gd name="connsiteY74" fmla="*/ 83058 h 266700"/>
                <a:gd name="connsiteX75" fmla="*/ 67937 w 266747"/>
                <a:gd name="connsiteY75" fmla="*/ 32671 h 266700"/>
                <a:gd name="connsiteX76" fmla="*/ 75462 w 266747"/>
                <a:gd name="connsiteY76" fmla="*/ 33338 h 266700"/>
                <a:gd name="connsiteX77" fmla="*/ 133183 w 266747"/>
                <a:gd name="connsiteY77"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266747" h="266700">
                  <a:moveTo>
                    <a:pt x="228433" y="213550"/>
                  </a:moveTo>
                  <a:lnTo>
                    <a:pt x="213289" y="228695"/>
                  </a:lnTo>
                  <a:lnTo>
                    <a:pt x="228433" y="243840"/>
                  </a:lnTo>
                  <a:lnTo>
                    <a:pt x="243578" y="228695"/>
                  </a:lnTo>
                  <a:close/>
                  <a:moveTo>
                    <a:pt x="133374" y="213550"/>
                  </a:moveTo>
                  <a:lnTo>
                    <a:pt x="118229" y="228695"/>
                  </a:lnTo>
                  <a:lnTo>
                    <a:pt x="133374" y="243840"/>
                  </a:lnTo>
                  <a:lnTo>
                    <a:pt x="148519" y="228695"/>
                  </a:lnTo>
                  <a:close/>
                  <a:moveTo>
                    <a:pt x="38124" y="213550"/>
                  </a:moveTo>
                  <a:lnTo>
                    <a:pt x="22979" y="228695"/>
                  </a:lnTo>
                  <a:lnTo>
                    <a:pt x="38124" y="243840"/>
                  </a:lnTo>
                  <a:lnTo>
                    <a:pt x="53269" y="228695"/>
                  </a:lnTo>
                  <a:close/>
                  <a:moveTo>
                    <a:pt x="123754" y="76200"/>
                  </a:moveTo>
                  <a:lnTo>
                    <a:pt x="142708" y="76200"/>
                  </a:lnTo>
                  <a:lnTo>
                    <a:pt x="142708" y="152400"/>
                  </a:lnTo>
                  <a:lnTo>
                    <a:pt x="228433" y="152400"/>
                  </a:lnTo>
                  <a:cubicBezTo>
                    <a:pt x="233672" y="152400"/>
                    <a:pt x="237958" y="156686"/>
                    <a:pt x="237958" y="161925"/>
                  </a:cubicBezTo>
                  <a:lnTo>
                    <a:pt x="237958" y="196120"/>
                  </a:lnTo>
                  <a:lnTo>
                    <a:pt x="263771" y="221933"/>
                  </a:lnTo>
                  <a:lnTo>
                    <a:pt x="263962" y="221933"/>
                  </a:lnTo>
                  <a:cubicBezTo>
                    <a:pt x="267676" y="225647"/>
                    <a:pt x="267676" y="231648"/>
                    <a:pt x="263962" y="235363"/>
                  </a:cubicBezTo>
                  <a:lnTo>
                    <a:pt x="235387" y="263938"/>
                  </a:lnTo>
                  <a:cubicBezTo>
                    <a:pt x="233482" y="265748"/>
                    <a:pt x="231100" y="266700"/>
                    <a:pt x="228624" y="266700"/>
                  </a:cubicBezTo>
                  <a:cubicBezTo>
                    <a:pt x="226147" y="266700"/>
                    <a:pt x="223766" y="265843"/>
                    <a:pt x="221861" y="263938"/>
                  </a:cubicBezTo>
                  <a:lnTo>
                    <a:pt x="193286" y="235363"/>
                  </a:lnTo>
                  <a:cubicBezTo>
                    <a:pt x="189571" y="231648"/>
                    <a:pt x="189571" y="225647"/>
                    <a:pt x="193286" y="221933"/>
                  </a:cubicBezTo>
                  <a:lnTo>
                    <a:pt x="219099" y="196120"/>
                  </a:lnTo>
                  <a:lnTo>
                    <a:pt x="219099" y="171450"/>
                  </a:lnTo>
                  <a:lnTo>
                    <a:pt x="142899" y="171450"/>
                  </a:lnTo>
                  <a:lnTo>
                    <a:pt x="142899" y="195929"/>
                  </a:lnTo>
                  <a:lnTo>
                    <a:pt x="168807" y="221837"/>
                  </a:lnTo>
                  <a:cubicBezTo>
                    <a:pt x="172522" y="225552"/>
                    <a:pt x="172522" y="231553"/>
                    <a:pt x="168807" y="235268"/>
                  </a:cubicBezTo>
                  <a:lnTo>
                    <a:pt x="140232" y="263843"/>
                  </a:lnTo>
                  <a:cubicBezTo>
                    <a:pt x="138327" y="265652"/>
                    <a:pt x="135946" y="266605"/>
                    <a:pt x="133469" y="266605"/>
                  </a:cubicBezTo>
                  <a:cubicBezTo>
                    <a:pt x="130993" y="266605"/>
                    <a:pt x="128611" y="265748"/>
                    <a:pt x="126706" y="263843"/>
                  </a:cubicBezTo>
                  <a:lnTo>
                    <a:pt x="98131" y="235268"/>
                  </a:lnTo>
                  <a:cubicBezTo>
                    <a:pt x="94417" y="231553"/>
                    <a:pt x="94417" y="225552"/>
                    <a:pt x="98131" y="221837"/>
                  </a:cubicBezTo>
                  <a:lnTo>
                    <a:pt x="123754" y="196215"/>
                  </a:lnTo>
                  <a:lnTo>
                    <a:pt x="123754" y="171450"/>
                  </a:lnTo>
                  <a:lnTo>
                    <a:pt x="47554" y="171450"/>
                  </a:lnTo>
                  <a:lnTo>
                    <a:pt x="47554" y="195929"/>
                  </a:lnTo>
                  <a:lnTo>
                    <a:pt x="73462" y="221837"/>
                  </a:lnTo>
                  <a:cubicBezTo>
                    <a:pt x="77176" y="225552"/>
                    <a:pt x="77176" y="231553"/>
                    <a:pt x="73462" y="235268"/>
                  </a:cubicBezTo>
                  <a:lnTo>
                    <a:pt x="44887" y="263843"/>
                  </a:lnTo>
                  <a:cubicBezTo>
                    <a:pt x="42982" y="265652"/>
                    <a:pt x="40600" y="266605"/>
                    <a:pt x="38124" y="266605"/>
                  </a:cubicBezTo>
                  <a:cubicBezTo>
                    <a:pt x="35647" y="266605"/>
                    <a:pt x="33266" y="265748"/>
                    <a:pt x="31361" y="263843"/>
                  </a:cubicBezTo>
                  <a:lnTo>
                    <a:pt x="2786" y="235268"/>
                  </a:lnTo>
                  <a:cubicBezTo>
                    <a:pt x="-929" y="231553"/>
                    <a:pt x="-929" y="225552"/>
                    <a:pt x="2786" y="221837"/>
                  </a:cubicBezTo>
                  <a:lnTo>
                    <a:pt x="28408" y="196215"/>
                  </a:lnTo>
                  <a:lnTo>
                    <a:pt x="28408" y="161925"/>
                  </a:lnTo>
                  <a:cubicBezTo>
                    <a:pt x="28408" y="156686"/>
                    <a:pt x="32695" y="152400"/>
                    <a:pt x="37933" y="152400"/>
                  </a:cubicBezTo>
                  <a:lnTo>
                    <a:pt x="123754" y="152400"/>
                  </a:lnTo>
                  <a:close/>
                  <a:moveTo>
                    <a:pt x="133183" y="0"/>
                  </a:moveTo>
                  <a:cubicBezTo>
                    <a:pt x="163949" y="0"/>
                    <a:pt x="190238" y="21145"/>
                    <a:pt x="197668" y="50006"/>
                  </a:cubicBezTo>
                  <a:cubicBezTo>
                    <a:pt x="200621" y="49340"/>
                    <a:pt x="203573" y="48958"/>
                    <a:pt x="206621" y="48958"/>
                  </a:cubicBezTo>
                  <a:cubicBezTo>
                    <a:pt x="229862" y="48958"/>
                    <a:pt x="248817" y="67913"/>
                    <a:pt x="248817" y="91154"/>
                  </a:cubicBezTo>
                  <a:cubicBezTo>
                    <a:pt x="248817" y="114395"/>
                    <a:pt x="229862" y="133350"/>
                    <a:pt x="206621" y="133350"/>
                  </a:cubicBezTo>
                  <a:lnTo>
                    <a:pt x="161854" y="133350"/>
                  </a:lnTo>
                  <a:lnTo>
                    <a:pt x="161854" y="114300"/>
                  </a:lnTo>
                  <a:lnTo>
                    <a:pt x="206621" y="114300"/>
                  </a:lnTo>
                  <a:cubicBezTo>
                    <a:pt x="219385" y="114300"/>
                    <a:pt x="229767" y="103918"/>
                    <a:pt x="229767" y="91154"/>
                  </a:cubicBezTo>
                  <a:cubicBezTo>
                    <a:pt x="229767" y="78391"/>
                    <a:pt x="219385" y="68008"/>
                    <a:pt x="206621" y="68008"/>
                  </a:cubicBezTo>
                  <a:cubicBezTo>
                    <a:pt x="202621" y="68008"/>
                    <a:pt x="198716" y="69152"/>
                    <a:pt x="195001" y="71342"/>
                  </a:cubicBezTo>
                  <a:cubicBezTo>
                    <a:pt x="192143" y="72962"/>
                    <a:pt x="188619" y="73057"/>
                    <a:pt x="185666" y="71533"/>
                  </a:cubicBezTo>
                  <a:cubicBezTo>
                    <a:pt x="182714" y="70009"/>
                    <a:pt x="180809" y="67056"/>
                    <a:pt x="180618" y="63722"/>
                  </a:cubicBezTo>
                  <a:cubicBezTo>
                    <a:pt x="179094" y="38671"/>
                    <a:pt x="158234" y="19050"/>
                    <a:pt x="133183" y="19050"/>
                  </a:cubicBezTo>
                  <a:cubicBezTo>
                    <a:pt x="113943" y="19050"/>
                    <a:pt x="96798" y="30480"/>
                    <a:pt x="89273" y="48101"/>
                  </a:cubicBezTo>
                  <a:cubicBezTo>
                    <a:pt x="87368" y="52673"/>
                    <a:pt x="82225" y="54959"/>
                    <a:pt x="77557" y="53435"/>
                  </a:cubicBezTo>
                  <a:cubicBezTo>
                    <a:pt x="74033" y="52292"/>
                    <a:pt x="70795" y="51721"/>
                    <a:pt x="67842" y="51721"/>
                  </a:cubicBezTo>
                  <a:cubicBezTo>
                    <a:pt x="50506" y="51721"/>
                    <a:pt x="36505" y="65723"/>
                    <a:pt x="36505" y="83058"/>
                  </a:cubicBezTo>
                  <a:cubicBezTo>
                    <a:pt x="36505" y="100394"/>
                    <a:pt x="50602" y="114395"/>
                    <a:pt x="67842" y="114395"/>
                  </a:cubicBezTo>
                  <a:lnTo>
                    <a:pt x="104704" y="114395"/>
                  </a:lnTo>
                  <a:lnTo>
                    <a:pt x="104704" y="133445"/>
                  </a:lnTo>
                  <a:lnTo>
                    <a:pt x="67937" y="133445"/>
                  </a:lnTo>
                  <a:cubicBezTo>
                    <a:pt x="40124" y="133445"/>
                    <a:pt x="17550" y="110871"/>
                    <a:pt x="17550" y="83058"/>
                  </a:cubicBezTo>
                  <a:cubicBezTo>
                    <a:pt x="17550" y="55245"/>
                    <a:pt x="40219" y="32671"/>
                    <a:pt x="67937" y="32671"/>
                  </a:cubicBezTo>
                  <a:cubicBezTo>
                    <a:pt x="70414" y="32671"/>
                    <a:pt x="72890" y="32861"/>
                    <a:pt x="75462" y="33338"/>
                  </a:cubicBezTo>
                  <a:cubicBezTo>
                    <a:pt x="87273" y="12859"/>
                    <a:pt x="109085" y="0"/>
                    <a:pt x="133183" y="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pic>
        <p:nvPicPr>
          <p:cNvPr id="97" name="Google Shape;4667;p52">
            <a:extLst>
              <a:ext uri="{FF2B5EF4-FFF2-40B4-BE49-F238E27FC236}">
                <a16:creationId xmlns:a16="http://schemas.microsoft.com/office/drawing/2014/main" id="{19A5934E-7C94-F27C-6A99-695192E81464}"/>
              </a:ext>
            </a:extLst>
          </p:cNvPr>
          <p:cNvPicPr preferRelativeResize="0">
            <a:picLocks noChangeAspect="1"/>
          </p:cNvPicPr>
          <p:nvPr/>
        </p:nvPicPr>
        <p:blipFill rotWithShape="1">
          <a:blip r:embed="rId3">
            <a:alphaModFix/>
            <a:duotone>
              <a:schemeClr val="accent3">
                <a:shade val="45000"/>
                <a:satMod val="135000"/>
              </a:schemeClr>
              <a:prstClr val="white"/>
            </a:duotone>
          </a:blip>
          <a:srcRect/>
          <a:stretch/>
        </p:blipFill>
        <p:spPr>
          <a:xfrm>
            <a:off x="4271367" y="2420999"/>
            <a:ext cx="432000" cy="432000"/>
          </a:xfrm>
          <a:prstGeom prst="rect">
            <a:avLst/>
          </a:prstGeom>
          <a:noFill/>
          <a:ln>
            <a:noFill/>
          </a:ln>
        </p:spPr>
      </p:pic>
      <p:grpSp>
        <p:nvGrpSpPr>
          <p:cNvPr id="115" name="subnets">
            <a:extLst>
              <a:ext uri="{FF2B5EF4-FFF2-40B4-BE49-F238E27FC236}">
                <a16:creationId xmlns:a16="http://schemas.microsoft.com/office/drawing/2014/main" id="{6076D993-9945-D7BE-C445-31A160F4DC01}"/>
              </a:ext>
            </a:extLst>
          </p:cNvPr>
          <p:cNvGrpSpPr/>
          <p:nvPr/>
        </p:nvGrpSpPr>
        <p:grpSpPr>
          <a:xfrm>
            <a:off x="2249649" y="5400573"/>
            <a:ext cx="1510014" cy="463878"/>
            <a:chOff x="2249649" y="5400573"/>
            <a:chExt cx="1510014" cy="463878"/>
          </a:xfrm>
        </p:grpSpPr>
        <p:cxnSp>
          <p:nvCxnSpPr>
            <p:cNvPr id="93" name="Straight Connector 92">
              <a:extLst>
                <a:ext uri="{FF2B5EF4-FFF2-40B4-BE49-F238E27FC236}">
                  <a16:creationId xmlns:a16="http://schemas.microsoft.com/office/drawing/2014/main" id="{CA6BF856-604F-2DEC-4315-7890D879AFCC}"/>
                </a:ext>
              </a:extLst>
            </p:cNvPr>
            <p:cNvCxnSpPr>
              <a:cxnSpLocks/>
            </p:cNvCxnSpPr>
            <p:nvPr/>
          </p:nvCxnSpPr>
          <p:spPr bwMode="gray">
            <a:xfrm>
              <a:off x="2457061" y="5487426"/>
              <a:ext cx="552029"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4" name="Freeform 93">
              <a:extLst>
                <a:ext uri="{FF2B5EF4-FFF2-40B4-BE49-F238E27FC236}">
                  <a16:creationId xmlns:a16="http://schemas.microsoft.com/office/drawing/2014/main" id="{2B2EEA9A-0AEA-F558-42F2-F1A843461D84}"/>
                </a:ext>
              </a:extLst>
            </p:cNvPr>
            <p:cNvSpPr>
              <a:spLocks noChangeAspect="1"/>
            </p:cNvSpPr>
            <p:nvPr/>
          </p:nvSpPr>
          <p:spPr>
            <a:xfrm>
              <a:off x="2249649" y="5400573"/>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5" name="TextBox 94">
              <a:extLst>
                <a:ext uri="{FF2B5EF4-FFF2-40B4-BE49-F238E27FC236}">
                  <a16:creationId xmlns:a16="http://schemas.microsoft.com/office/drawing/2014/main" id="{CED6C8E9-FFF2-D1F9-8785-821BEB2EC11F}"/>
                </a:ext>
              </a:extLst>
            </p:cNvPr>
            <p:cNvSpPr txBox="1"/>
            <p:nvPr/>
          </p:nvSpPr>
          <p:spPr>
            <a:xfrm>
              <a:off x="2539484" y="5479001"/>
              <a:ext cx="546427" cy="179216"/>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30A0"/>
                  </a:solidFill>
                  <a:effectLst/>
                  <a:uLnTx/>
                  <a:uFillTx/>
                  <a:latin typeface="Arial" panose="020B0604020202020204"/>
                  <a:ea typeface="+mn-ea"/>
                  <a:cs typeface="+mn-cs"/>
                </a:rPr>
                <a:t>subnet</a:t>
              </a:r>
            </a:p>
          </p:txBody>
        </p:sp>
        <p:cxnSp>
          <p:nvCxnSpPr>
            <p:cNvPr id="111" name="Straight Connector 110">
              <a:extLst>
                <a:ext uri="{FF2B5EF4-FFF2-40B4-BE49-F238E27FC236}">
                  <a16:creationId xmlns:a16="http://schemas.microsoft.com/office/drawing/2014/main" id="{268E2BF1-3980-227E-B98C-753123A5B157}"/>
                </a:ext>
              </a:extLst>
            </p:cNvPr>
            <p:cNvCxnSpPr>
              <a:cxnSpLocks/>
            </p:cNvCxnSpPr>
            <p:nvPr/>
          </p:nvCxnSpPr>
          <p:spPr bwMode="gray">
            <a:xfrm>
              <a:off x="2973493" y="5693659"/>
              <a:ext cx="588329"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2" name="Freeform 111">
              <a:extLst>
                <a:ext uri="{FF2B5EF4-FFF2-40B4-BE49-F238E27FC236}">
                  <a16:creationId xmlns:a16="http://schemas.microsoft.com/office/drawing/2014/main" id="{416AB125-A981-7B77-633C-8A68C81D8E9A}"/>
                </a:ext>
              </a:extLst>
            </p:cNvPr>
            <p:cNvSpPr>
              <a:spLocks noChangeAspect="1"/>
            </p:cNvSpPr>
            <p:nvPr/>
          </p:nvSpPr>
          <p:spPr>
            <a:xfrm>
              <a:off x="3581165" y="5610291"/>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3" name="TextBox 112">
              <a:extLst>
                <a:ext uri="{FF2B5EF4-FFF2-40B4-BE49-F238E27FC236}">
                  <a16:creationId xmlns:a16="http://schemas.microsoft.com/office/drawing/2014/main" id="{5AE3ED72-8748-216E-A03F-1ECC8EE0319D}"/>
                </a:ext>
              </a:extLst>
            </p:cNvPr>
            <p:cNvSpPr txBox="1"/>
            <p:nvPr/>
          </p:nvSpPr>
          <p:spPr>
            <a:xfrm>
              <a:off x="3101221" y="5685235"/>
              <a:ext cx="546427" cy="179216"/>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30A0"/>
                  </a:solidFill>
                  <a:effectLst/>
                  <a:uLnTx/>
                  <a:uFillTx/>
                  <a:latin typeface="Arial" panose="020B0604020202020204"/>
                  <a:ea typeface="+mn-ea"/>
                  <a:cs typeface="+mn-cs"/>
                </a:rPr>
                <a:t>subnet</a:t>
              </a:r>
            </a:p>
          </p:txBody>
        </p:sp>
      </p:grpSp>
      <p:sp>
        <p:nvSpPr>
          <p:cNvPr id="83" name="TextBox 82">
            <a:extLst>
              <a:ext uri="{FF2B5EF4-FFF2-40B4-BE49-F238E27FC236}">
                <a16:creationId xmlns:a16="http://schemas.microsoft.com/office/drawing/2014/main" id="{2A2D557D-3FA3-1CD2-C179-E649E450C6AB}"/>
              </a:ext>
            </a:extLst>
          </p:cNvPr>
          <p:cNvSpPr txBox="1"/>
          <p:nvPr/>
        </p:nvSpPr>
        <p:spPr>
          <a:xfrm>
            <a:off x="4722813" y="3568346"/>
            <a:ext cx="2171233"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61A60E"/>
                </a:solidFill>
                <a:effectLst/>
                <a:uLnTx/>
                <a:uFillTx/>
                <a:latin typeface="Arial" panose="020B0604020202020204"/>
                <a:ea typeface="+mn-ea"/>
                <a:cs typeface="+mn-cs"/>
              </a:rPr>
              <a:t>Project Admin</a:t>
            </a:r>
          </a:p>
        </p:txBody>
      </p:sp>
      <p:pic>
        <p:nvPicPr>
          <p:cNvPr id="98" name="Google Shape;4667;p52">
            <a:extLst>
              <a:ext uri="{FF2B5EF4-FFF2-40B4-BE49-F238E27FC236}">
                <a16:creationId xmlns:a16="http://schemas.microsoft.com/office/drawing/2014/main" id="{DD8EC640-1824-0907-BC4D-D264CAF2C210}"/>
              </a:ext>
            </a:extLst>
          </p:cNvPr>
          <p:cNvPicPr preferRelativeResize="0">
            <a:picLocks noChangeAspect="1"/>
          </p:cNvPicPr>
          <p:nvPr/>
        </p:nvPicPr>
        <p:blipFill rotWithShape="1">
          <a:blip r:embed="rId3">
            <a:alphaModFix/>
            <a:duotone>
              <a:schemeClr val="accent4">
                <a:shade val="45000"/>
                <a:satMod val="135000"/>
              </a:schemeClr>
              <a:prstClr val="white"/>
            </a:duotone>
          </a:blip>
          <a:srcRect/>
          <a:stretch/>
        </p:blipFill>
        <p:spPr>
          <a:xfrm>
            <a:off x="4271368" y="3475456"/>
            <a:ext cx="432000" cy="432000"/>
          </a:xfrm>
          <a:prstGeom prst="rect">
            <a:avLst/>
          </a:prstGeom>
          <a:noFill/>
          <a:ln>
            <a:noFill/>
          </a:ln>
        </p:spPr>
      </p:pic>
      <p:sp>
        <p:nvSpPr>
          <p:cNvPr id="84" name="TextBox 83">
            <a:extLst>
              <a:ext uri="{FF2B5EF4-FFF2-40B4-BE49-F238E27FC236}">
                <a16:creationId xmlns:a16="http://schemas.microsoft.com/office/drawing/2014/main" id="{D4110DF5-3B12-AAF0-D3BD-40BB41835A0F}"/>
              </a:ext>
            </a:extLst>
          </p:cNvPr>
          <p:cNvSpPr txBox="1"/>
          <p:nvPr/>
        </p:nvSpPr>
        <p:spPr>
          <a:xfrm>
            <a:off x="2194971" y="4494646"/>
            <a:ext cx="2163800" cy="507831"/>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6C4B94"/>
                </a:solidFill>
                <a:effectLst/>
                <a:uLnTx/>
                <a:uFillTx/>
                <a:latin typeface="Arial" panose="020B0604020202020204"/>
                <a:ea typeface="+mn-ea"/>
                <a:cs typeface="+mn-cs"/>
              </a:rPr>
              <a:t>Creates subnets from </a:t>
            </a:r>
            <a:br>
              <a:rPr kumimoji="0" lang="en-US" sz="1100" b="0" i="0" u="none" strike="noStrike" kern="1200" cap="none" spc="0" normalizeH="0" baseline="0" noProof="0" dirty="0">
                <a:ln>
                  <a:noFill/>
                </a:ln>
                <a:solidFill>
                  <a:srgbClr val="6C4B94"/>
                </a:solidFill>
                <a:effectLst/>
                <a:uLnTx/>
                <a:uFillTx/>
                <a:latin typeface="Arial" panose="020B0604020202020204"/>
                <a:ea typeface="+mn-ea"/>
                <a:cs typeface="+mn-cs"/>
              </a:rPr>
            </a:br>
            <a:r>
              <a:rPr kumimoji="0" lang="en-US" sz="1100" b="0" i="0" u="none" strike="noStrike" kern="1200" cap="none" spc="0" normalizeH="0" baseline="0" noProof="0" dirty="0">
                <a:ln>
                  <a:noFill/>
                </a:ln>
                <a:solidFill>
                  <a:srgbClr val="6C4B94"/>
                </a:solidFill>
                <a:effectLst/>
                <a:uLnTx/>
                <a:uFillTx/>
                <a:latin typeface="Arial" panose="020B0604020202020204"/>
                <a:ea typeface="+mn-ea"/>
                <a:cs typeface="+mn-cs"/>
              </a:rPr>
              <a:t>pre-allocated IP blocks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6C4B94"/>
                </a:solidFill>
                <a:effectLst/>
                <a:uLnTx/>
                <a:uFillTx/>
                <a:latin typeface="Arial" panose="020B0604020202020204"/>
                <a:ea typeface="+mn-ea"/>
                <a:cs typeface="+mn-cs"/>
              </a:rPr>
              <a:t>Attach VMs</a:t>
            </a:r>
          </a:p>
        </p:txBody>
      </p:sp>
      <p:pic>
        <p:nvPicPr>
          <p:cNvPr id="99" name="Google Shape;4667;p52">
            <a:extLst>
              <a:ext uri="{FF2B5EF4-FFF2-40B4-BE49-F238E27FC236}">
                <a16:creationId xmlns:a16="http://schemas.microsoft.com/office/drawing/2014/main" id="{6CC00A02-0D21-3467-A135-0012464C0CB8}"/>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4271367" y="4801650"/>
            <a:ext cx="432000" cy="432000"/>
          </a:xfrm>
          <a:prstGeom prst="rect">
            <a:avLst/>
          </a:prstGeom>
          <a:noFill/>
          <a:ln>
            <a:noFill/>
          </a:ln>
        </p:spPr>
      </p:pic>
      <p:grpSp>
        <p:nvGrpSpPr>
          <p:cNvPr id="116" name="VMs">
            <a:extLst>
              <a:ext uri="{FF2B5EF4-FFF2-40B4-BE49-F238E27FC236}">
                <a16:creationId xmlns:a16="http://schemas.microsoft.com/office/drawing/2014/main" id="{8E09B643-7F37-19A7-FB45-9086A34CE404}"/>
              </a:ext>
            </a:extLst>
          </p:cNvPr>
          <p:cNvGrpSpPr/>
          <p:nvPr/>
        </p:nvGrpSpPr>
        <p:grpSpPr>
          <a:xfrm>
            <a:off x="2600085" y="5078167"/>
            <a:ext cx="884393" cy="609197"/>
            <a:chOff x="2600085" y="5078167"/>
            <a:chExt cx="884393" cy="609197"/>
          </a:xfrm>
        </p:grpSpPr>
        <p:grpSp>
          <p:nvGrpSpPr>
            <p:cNvPr id="100" name="Google Shape;3733;p22">
              <a:extLst>
                <a:ext uri="{FF2B5EF4-FFF2-40B4-BE49-F238E27FC236}">
                  <a16:creationId xmlns:a16="http://schemas.microsoft.com/office/drawing/2014/main" id="{EA1D5683-B452-FEF3-6B47-6CE6C14CAA3F}"/>
                </a:ext>
              </a:extLst>
            </p:cNvPr>
            <p:cNvGrpSpPr/>
            <p:nvPr/>
          </p:nvGrpSpPr>
          <p:grpSpPr>
            <a:xfrm>
              <a:off x="2600085" y="5078167"/>
              <a:ext cx="269469" cy="269658"/>
              <a:chOff x="658852" y="4954224"/>
              <a:chExt cx="583799" cy="584209"/>
            </a:xfrm>
          </p:grpSpPr>
          <p:sp>
            <p:nvSpPr>
              <p:cNvPr id="101" name="Google Shape;3734;p22">
                <a:extLst>
                  <a:ext uri="{FF2B5EF4-FFF2-40B4-BE49-F238E27FC236}">
                    <a16:creationId xmlns:a16="http://schemas.microsoft.com/office/drawing/2014/main" id="{D6F485A0-F5F5-44E3-FBC0-94DF5B96B79F}"/>
                  </a:ext>
                </a:extLst>
              </p:cNvPr>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102" name="Google Shape;3735;p22">
                <a:extLst>
                  <a:ext uri="{FF2B5EF4-FFF2-40B4-BE49-F238E27FC236}">
                    <a16:creationId xmlns:a16="http://schemas.microsoft.com/office/drawing/2014/main" id="{E25174A7-E35D-5558-59BD-5CC286BA7B69}"/>
                  </a:ext>
                </a:extLst>
              </p:cNvPr>
              <p:cNvGrpSpPr/>
              <p:nvPr/>
            </p:nvGrpSpPr>
            <p:grpSpPr>
              <a:xfrm>
                <a:off x="834156" y="5211637"/>
                <a:ext cx="216359" cy="78004"/>
                <a:chOff x="834156" y="5211637"/>
                <a:chExt cx="216359" cy="78004"/>
              </a:xfrm>
            </p:grpSpPr>
            <p:sp>
              <p:nvSpPr>
                <p:cNvPr id="103" name="Google Shape;3736;p22">
                  <a:extLst>
                    <a:ext uri="{FF2B5EF4-FFF2-40B4-BE49-F238E27FC236}">
                      <a16:creationId xmlns:a16="http://schemas.microsoft.com/office/drawing/2014/main" id="{72A33BF5-9BD7-98B9-AC42-1B343D86C040}"/>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104" name="Google Shape;3737;p22">
                  <a:extLst>
                    <a:ext uri="{FF2B5EF4-FFF2-40B4-BE49-F238E27FC236}">
                      <a16:creationId xmlns:a16="http://schemas.microsoft.com/office/drawing/2014/main" id="{F58CDBF2-350B-624F-EF7B-BE9CE0184FD8}"/>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105" name="Straight Connector 104">
              <a:extLst>
                <a:ext uri="{FF2B5EF4-FFF2-40B4-BE49-F238E27FC236}">
                  <a16:creationId xmlns:a16="http://schemas.microsoft.com/office/drawing/2014/main" id="{A5640CCE-A249-F7A2-B3CD-E302DBF9C1A8}"/>
                </a:ext>
              </a:extLst>
            </p:cNvPr>
            <p:cNvCxnSpPr>
              <a:cxnSpLocks/>
            </p:cNvCxnSpPr>
            <p:nvPr/>
          </p:nvCxnSpPr>
          <p:spPr bwMode="gray">
            <a:xfrm>
              <a:off x="2734820" y="5342205"/>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nvGrpSpPr>
            <p:cNvPr id="51" name="Google Shape;3733;p22">
              <a:extLst>
                <a:ext uri="{FF2B5EF4-FFF2-40B4-BE49-F238E27FC236}">
                  <a16:creationId xmlns:a16="http://schemas.microsoft.com/office/drawing/2014/main" id="{379140CB-76E3-4BDE-66CC-AAABC65099A0}"/>
                </a:ext>
              </a:extLst>
            </p:cNvPr>
            <p:cNvGrpSpPr/>
            <p:nvPr/>
          </p:nvGrpSpPr>
          <p:grpSpPr>
            <a:xfrm>
              <a:off x="3215009" y="5293790"/>
              <a:ext cx="269469" cy="269658"/>
              <a:chOff x="658852" y="4954224"/>
              <a:chExt cx="583799" cy="584209"/>
            </a:xfrm>
          </p:grpSpPr>
          <p:sp>
            <p:nvSpPr>
              <p:cNvPr id="52" name="Google Shape;3734;p22">
                <a:extLst>
                  <a:ext uri="{FF2B5EF4-FFF2-40B4-BE49-F238E27FC236}">
                    <a16:creationId xmlns:a16="http://schemas.microsoft.com/office/drawing/2014/main" id="{A354EDCA-62E6-025E-A3CE-B9E3E1C086F6}"/>
                  </a:ext>
                </a:extLst>
              </p:cNvPr>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53" name="Google Shape;3735;p22">
                <a:extLst>
                  <a:ext uri="{FF2B5EF4-FFF2-40B4-BE49-F238E27FC236}">
                    <a16:creationId xmlns:a16="http://schemas.microsoft.com/office/drawing/2014/main" id="{E3F8F48F-F5A0-1D59-4578-11002D68122C}"/>
                  </a:ext>
                </a:extLst>
              </p:cNvPr>
              <p:cNvGrpSpPr/>
              <p:nvPr/>
            </p:nvGrpSpPr>
            <p:grpSpPr>
              <a:xfrm>
                <a:off x="834156" y="5211637"/>
                <a:ext cx="216359" cy="78004"/>
                <a:chOff x="834156" y="5211637"/>
                <a:chExt cx="216359" cy="78004"/>
              </a:xfrm>
            </p:grpSpPr>
            <p:sp>
              <p:nvSpPr>
                <p:cNvPr id="54" name="Google Shape;3736;p22">
                  <a:extLst>
                    <a:ext uri="{FF2B5EF4-FFF2-40B4-BE49-F238E27FC236}">
                      <a16:creationId xmlns:a16="http://schemas.microsoft.com/office/drawing/2014/main" id="{5857EC2E-A2D1-4F07-922A-3A97A8CE13E9}"/>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56" name="Google Shape;3737;p22">
                  <a:extLst>
                    <a:ext uri="{FF2B5EF4-FFF2-40B4-BE49-F238E27FC236}">
                      <a16:creationId xmlns:a16="http://schemas.microsoft.com/office/drawing/2014/main" id="{C010097C-4C91-CA61-0CAA-050117138F07}"/>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57" name="Straight Connector 56">
              <a:extLst>
                <a:ext uri="{FF2B5EF4-FFF2-40B4-BE49-F238E27FC236}">
                  <a16:creationId xmlns:a16="http://schemas.microsoft.com/office/drawing/2014/main" id="{99A77E14-2BBD-EB15-A286-32719084BA8B}"/>
                </a:ext>
              </a:extLst>
            </p:cNvPr>
            <p:cNvCxnSpPr>
              <a:cxnSpLocks/>
            </p:cNvCxnSpPr>
            <p:nvPr/>
          </p:nvCxnSpPr>
          <p:spPr bwMode="gray">
            <a:xfrm>
              <a:off x="3349744" y="5557828"/>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grpSp>
        <p:nvGrpSpPr>
          <p:cNvPr id="81" name="VPCs">
            <a:extLst>
              <a:ext uri="{FF2B5EF4-FFF2-40B4-BE49-F238E27FC236}">
                <a16:creationId xmlns:a16="http://schemas.microsoft.com/office/drawing/2014/main" id="{E23BB752-C605-9AD1-2F7D-7B73BDB32CE6}"/>
              </a:ext>
            </a:extLst>
          </p:cNvPr>
          <p:cNvGrpSpPr/>
          <p:nvPr/>
        </p:nvGrpSpPr>
        <p:grpSpPr>
          <a:xfrm>
            <a:off x="1076527" y="4231532"/>
            <a:ext cx="2769141" cy="1744986"/>
            <a:chOff x="1076527" y="4231532"/>
            <a:chExt cx="2769141" cy="1744986"/>
          </a:xfrm>
        </p:grpSpPr>
        <p:pic>
          <p:nvPicPr>
            <p:cNvPr id="92" name="Graphic 91">
              <a:extLst>
                <a:ext uri="{FF2B5EF4-FFF2-40B4-BE49-F238E27FC236}">
                  <a16:creationId xmlns:a16="http://schemas.microsoft.com/office/drawing/2014/main" id="{2471FD32-E6BF-D411-58BE-1A5170B9DC2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48359" y="4275030"/>
              <a:ext cx="180000" cy="180000"/>
            </a:xfrm>
            <a:prstGeom prst="rect">
              <a:avLst/>
            </a:prstGeom>
          </p:spPr>
        </p:pic>
        <p:sp>
          <p:nvSpPr>
            <p:cNvPr id="11" name="Rounded Rectangle 10">
              <a:extLst>
                <a:ext uri="{FF2B5EF4-FFF2-40B4-BE49-F238E27FC236}">
                  <a16:creationId xmlns:a16="http://schemas.microsoft.com/office/drawing/2014/main" id="{8136E0BE-42D6-8575-C31E-E683DE8F3906}"/>
                </a:ext>
              </a:extLst>
            </p:cNvPr>
            <p:cNvSpPr/>
            <p:nvPr/>
          </p:nvSpPr>
          <p:spPr>
            <a:xfrm>
              <a:off x="1076527" y="4231532"/>
              <a:ext cx="875489" cy="1744986"/>
            </a:xfrm>
            <a:prstGeom prst="roundRect">
              <a:avLst>
                <a:gd name="adj" fmla="val 4574"/>
              </a:avLst>
            </a:prstGeom>
            <a:no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7030A0"/>
                  </a:solidFill>
                  <a:effectLst/>
                  <a:uLnTx/>
                  <a:uFillTx/>
                  <a:latin typeface="Arial" panose="020B0604020202020204"/>
                  <a:ea typeface="+mn-ea"/>
                  <a:cs typeface="+mn-cs"/>
                </a:rPr>
                <a:t>VPC</a:t>
              </a:r>
            </a:p>
          </p:txBody>
        </p:sp>
        <p:pic>
          <p:nvPicPr>
            <p:cNvPr id="12" name="Graphic 11">
              <a:extLst>
                <a:ext uri="{FF2B5EF4-FFF2-40B4-BE49-F238E27FC236}">
                  <a16:creationId xmlns:a16="http://schemas.microsoft.com/office/drawing/2014/main" id="{51166295-9A50-37BD-EECE-40EA0074749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50539" y="4274235"/>
              <a:ext cx="180000" cy="180000"/>
            </a:xfrm>
            <a:prstGeom prst="rect">
              <a:avLst/>
            </a:prstGeom>
          </p:spPr>
        </p:pic>
        <p:sp>
          <p:nvSpPr>
            <p:cNvPr id="91" name="Rounded Rectangle 90">
              <a:extLst>
                <a:ext uri="{FF2B5EF4-FFF2-40B4-BE49-F238E27FC236}">
                  <a16:creationId xmlns:a16="http://schemas.microsoft.com/office/drawing/2014/main" id="{D1310249-495F-7A3B-6B26-9A767FB2D283}"/>
                </a:ext>
              </a:extLst>
            </p:cNvPr>
            <p:cNvSpPr/>
            <p:nvPr/>
          </p:nvSpPr>
          <p:spPr>
            <a:xfrm>
              <a:off x="2166026" y="4231532"/>
              <a:ext cx="1679642" cy="1744986"/>
            </a:xfrm>
            <a:prstGeom prst="roundRect">
              <a:avLst>
                <a:gd name="adj" fmla="val 3200"/>
              </a:avLst>
            </a:prstGeom>
            <a:no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7030A0"/>
                  </a:solidFill>
                  <a:effectLst/>
                  <a:uLnTx/>
                  <a:uFillTx/>
                  <a:latin typeface="Arial" panose="020B0604020202020204"/>
                  <a:ea typeface="+mn-ea"/>
                  <a:cs typeface="+mn-cs"/>
                </a:rPr>
                <a:t>VPC</a:t>
              </a:r>
            </a:p>
          </p:txBody>
        </p:sp>
      </p:grpSp>
      <p:grpSp>
        <p:nvGrpSpPr>
          <p:cNvPr id="16" name="Group 15">
            <a:extLst>
              <a:ext uri="{FF2B5EF4-FFF2-40B4-BE49-F238E27FC236}">
                <a16:creationId xmlns:a16="http://schemas.microsoft.com/office/drawing/2014/main" id="{D0E70CC8-D660-53AA-AD88-7CC9305E0B6B}"/>
              </a:ext>
            </a:extLst>
          </p:cNvPr>
          <p:cNvGrpSpPr/>
          <p:nvPr/>
        </p:nvGrpSpPr>
        <p:grpSpPr>
          <a:xfrm>
            <a:off x="2949675" y="2081718"/>
            <a:ext cx="1330835" cy="398060"/>
            <a:chOff x="2949675" y="2081718"/>
            <a:chExt cx="1330835" cy="398060"/>
          </a:xfrm>
        </p:grpSpPr>
        <p:sp>
          <p:nvSpPr>
            <p:cNvPr id="37" name="Rectangle 36">
              <a:extLst>
                <a:ext uri="{FF2B5EF4-FFF2-40B4-BE49-F238E27FC236}">
                  <a16:creationId xmlns:a16="http://schemas.microsoft.com/office/drawing/2014/main" id="{EDCE6593-2FE9-C0D1-4D70-1C0AEBFF7690}"/>
                </a:ext>
              </a:extLst>
            </p:cNvPr>
            <p:cNvSpPr/>
            <p:nvPr/>
          </p:nvSpPr>
          <p:spPr bwMode="gray">
            <a:xfrm>
              <a:off x="2949675" y="2081718"/>
              <a:ext cx="1296000" cy="252000"/>
            </a:xfrm>
            <a:prstGeom prst="rect">
              <a:avLst/>
            </a:prstGeom>
            <a:solidFill>
              <a:schemeClr val="accent2"/>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70" name="TextBox 69">
              <a:extLst>
                <a:ext uri="{FF2B5EF4-FFF2-40B4-BE49-F238E27FC236}">
                  <a16:creationId xmlns:a16="http://schemas.microsoft.com/office/drawing/2014/main" id="{151B6048-3B30-937C-75AD-D1B1D0DAC347}"/>
                </a:ext>
              </a:extLst>
            </p:cNvPr>
            <p:cNvSpPr txBox="1"/>
            <p:nvPr/>
          </p:nvSpPr>
          <p:spPr>
            <a:xfrm>
              <a:off x="3298157" y="2300562"/>
              <a:ext cx="982353" cy="179216"/>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5C8A"/>
                  </a:solidFill>
                  <a:effectLst/>
                  <a:uLnTx/>
                  <a:uFillTx/>
                  <a:latin typeface="Arial" panose="020B0604020202020204"/>
                  <a:ea typeface="+mn-ea"/>
                  <a:cs typeface="+mn-cs"/>
                </a:rPr>
                <a:t>IP blocks/quotas</a:t>
              </a:r>
            </a:p>
          </p:txBody>
        </p:sp>
      </p:grpSp>
      <p:sp>
        <p:nvSpPr>
          <p:cNvPr id="78" name="allocated green">
            <a:extLst>
              <a:ext uri="{FF2B5EF4-FFF2-40B4-BE49-F238E27FC236}">
                <a16:creationId xmlns:a16="http://schemas.microsoft.com/office/drawing/2014/main" id="{ECA57565-BA46-DB14-8B81-63BCA3847970}"/>
              </a:ext>
            </a:extLst>
          </p:cNvPr>
          <p:cNvSpPr/>
          <p:nvPr/>
        </p:nvSpPr>
        <p:spPr bwMode="gray">
          <a:xfrm>
            <a:off x="2992509" y="2100382"/>
            <a:ext cx="499353" cy="216000"/>
          </a:xfrm>
          <a:prstGeom prst="rect">
            <a:avLst/>
          </a:prstGeom>
          <a:pattFill prst="wdUpDiag">
            <a:fgClr>
              <a:schemeClr val="accent1"/>
            </a:fgClr>
            <a:bgClr>
              <a:schemeClr val="accent4"/>
            </a:bgClr>
          </a:patt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67" name="allocated green moving">
            <a:extLst>
              <a:ext uri="{FF2B5EF4-FFF2-40B4-BE49-F238E27FC236}">
                <a16:creationId xmlns:a16="http://schemas.microsoft.com/office/drawing/2014/main" id="{201B8B25-8922-F5AE-CB41-21D912F39D4A}"/>
              </a:ext>
            </a:extLst>
          </p:cNvPr>
          <p:cNvSpPr/>
          <p:nvPr/>
        </p:nvSpPr>
        <p:spPr bwMode="gray">
          <a:xfrm>
            <a:off x="2991843" y="2099718"/>
            <a:ext cx="499353" cy="216000"/>
          </a:xfrm>
          <a:prstGeom prst="rect">
            <a:avLst/>
          </a:prstGeom>
          <a:solidFill>
            <a:schemeClr val="accent4"/>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87" name="allocated vpc blocks">
            <a:extLst>
              <a:ext uri="{FF2B5EF4-FFF2-40B4-BE49-F238E27FC236}">
                <a16:creationId xmlns:a16="http://schemas.microsoft.com/office/drawing/2014/main" id="{87F084B6-CD6A-23CE-A98E-5F4F1FA4CF9E}"/>
              </a:ext>
            </a:extLst>
          </p:cNvPr>
          <p:cNvGrpSpPr/>
          <p:nvPr/>
        </p:nvGrpSpPr>
        <p:grpSpPr>
          <a:xfrm>
            <a:off x="3566808" y="3286494"/>
            <a:ext cx="408702" cy="180000"/>
            <a:chOff x="2999542" y="3328827"/>
            <a:chExt cx="408702" cy="180000"/>
          </a:xfrm>
        </p:grpSpPr>
        <p:sp>
          <p:nvSpPr>
            <p:cNvPr id="85" name="Rectangle 84">
              <a:extLst>
                <a:ext uri="{FF2B5EF4-FFF2-40B4-BE49-F238E27FC236}">
                  <a16:creationId xmlns:a16="http://schemas.microsoft.com/office/drawing/2014/main" id="{F7F076AF-549D-0813-D6BA-4D60BBF809A1}"/>
                </a:ext>
              </a:extLst>
            </p:cNvPr>
            <p:cNvSpPr/>
            <p:nvPr/>
          </p:nvSpPr>
          <p:spPr bwMode="gray">
            <a:xfrm>
              <a:off x="3220177" y="3328827"/>
              <a:ext cx="188067" cy="180000"/>
            </a:xfrm>
            <a:prstGeom prst="rect">
              <a:avLst/>
            </a:prstGeom>
            <a:pattFill prst="wdUpDiag">
              <a:fgClr>
                <a:schemeClr val="accent4"/>
              </a:fgClr>
              <a:bgClr>
                <a:schemeClr val="accent5"/>
              </a:bgClr>
            </a:patt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86" name="Rectangle 85">
              <a:extLst>
                <a:ext uri="{FF2B5EF4-FFF2-40B4-BE49-F238E27FC236}">
                  <a16:creationId xmlns:a16="http://schemas.microsoft.com/office/drawing/2014/main" id="{1B76CA48-13AC-92DC-F841-573962F5D497}"/>
                </a:ext>
              </a:extLst>
            </p:cNvPr>
            <p:cNvSpPr/>
            <p:nvPr/>
          </p:nvSpPr>
          <p:spPr bwMode="gray">
            <a:xfrm>
              <a:off x="2999542" y="3328827"/>
              <a:ext cx="90790" cy="180000"/>
            </a:xfrm>
            <a:prstGeom prst="rect">
              <a:avLst/>
            </a:prstGeom>
            <a:pattFill prst="wdUpDiag">
              <a:fgClr>
                <a:schemeClr val="accent4"/>
              </a:fgClr>
              <a:bgClr>
                <a:schemeClr val="accent5"/>
              </a:bgClr>
            </a:patt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sp>
        <p:nvSpPr>
          <p:cNvPr id="68" name="Rectangle 67">
            <a:extLst>
              <a:ext uri="{FF2B5EF4-FFF2-40B4-BE49-F238E27FC236}">
                <a16:creationId xmlns:a16="http://schemas.microsoft.com/office/drawing/2014/main" id="{B6AA4CDD-0876-19BC-6C51-5112365AB700}"/>
              </a:ext>
            </a:extLst>
          </p:cNvPr>
          <p:cNvSpPr/>
          <p:nvPr/>
        </p:nvSpPr>
        <p:spPr bwMode="gray">
          <a:xfrm>
            <a:off x="3787444" y="3286493"/>
            <a:ext cx="188067" cy="180000"/>
          </a:xfrm>
          <a:prstGeom prst="rect">
            <a:avLst/>
          </a:prstGeom>
          <a:solidFill>
            <a:schemeClr val="accent5"/>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69" name="Rectangle 68">
            <a:extLst>
              <a:ext uri="{FF2B5EF4-FFF2-40B4-BE49-F238E27FC236}">
                <a16:creationId xmlns:a16="http://schemas.microsoft.com/office/drawing/2014/main" id="{5AB75B83-E698-415C-0DF6-CCD4942CE09A}"/>
              </a:ext>
            </a:extLst>
          </p:cNvPr>
          <p:cNvSpPr/>
          <p:nvPr/>
        </p:nvSpPr>
        <p:spPr bwMode="gray">
          <a:xfrm>
            <a:off x="3566809" y="3286493"/>
            <a:ext cx="90790" cy="180000"/>
          </a:xfrm>
          <a:prstGeom prst="rect">
            <a:avLst/>
          </a:prstGeom>
          <a:solidFill>
            <a:schemeClr val="accent5"/>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13" name="TextBox 12">
            <a:extLst>
              <a:ext uri="{FF2B5EF4-FFF2-40B4-BE49-F238E27FC236}">
                <a16:creationId xmlns:a16="http://schemas.microsoft.com/office/drawing/2014/main" id="{553A897A-CEC1-B8AE-C5F7-07E6FC3607B6}"/>
              </a:ext>
            </a:extLst>
          </p:cNvPr>
          <p:cNvSpPr txBox="1"/>
          <p:nvPr/>
        </p:nvSpPr>
        <p:spPr>
          <a:xfrm>
            <a:off x="4722813" y="2513889"/>
            <a:ext cx="2343324"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Enterprise Admin</a:t>
            </a:r>
          </a:p>
        </p:txBody>
      </p:sp>
      <p:sp>
        <p:nvSpPr>
          <p:cNvPr id="14" name="TextBox 13">
            <a:extLst>
              <a:ext uri="{FF2B5EF4-FFF2-40B4-BE49-F238E27FC236}">
                <a16:creationId xmlns:a16="http://schemas.microsoft.com/office/drawing/2014/main" id="{829CEFEF-B41E-BAE4-3A9B-38CAFAEC64C1}"/>
              </a:ext>
            </a:extLst>
          </p:cNvPr>
          <p:cNvSpPr txBox="1"/>
          <p:nvPr/>
        </p:nvSpPr>
        <p:spPr>
          <a:xfrm>
            <a:off x="1065213" y="3603471"/>
            <a:ext cx="2743200" cy="338554"/>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61A60E"/>
                </a:solidFill>
                <a:effectLst/>
                <a:uLnTx/>
                <a:uFillTx/>
                <a:latin typeface="Arial" panose="020B0604020202020204"/>
                <a:ea typeface="+mn-ea"/>
                <a:cs typeface="+mn-cs"/>
              </a:rPr>
              <a:t>Creates VPCs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61A60E"/>
                </a:solidFill>
                <a:effectLst/>
                <a:uLnTx/>
                <a:uFillTx/>
                <a:latin typeface="Arial" panose="020B0604020202020204"/>
                <a:ea typeface="+mn-ea"/>
                <a:cs typeface="+mn-cs"/>
              </a:rPr>
              <a:t>Assigns IP blocks and quotas to VPCs</a:t>
            </a:r>
          </a:p>
        </p:txBody>
      </p:sp>
      <p:sp>
        <p:nvSpPr>
          <p:cNvPr id="15" name="TextBox 14">
            <a:extLst>
              <a:ext uri="{FF2B5EF4-FFF2-40B4-BE49-F238E27FC236}">
                <a16:creationId xmlns:a16="http://schemas.microsoft.com/office/drawing/2014/main" id="{AA3E4B9C-9F9F-5A36-B49D-E0B65AD4AC4B}"/>
              </a:ext>
            </a:extLst>
          </p:cNvPr>
          <p:cNvSpPr txBox="1"/>
          <p:nvPr/>
        </p:nvSpPr>
        <p:spPr>
          <a:xfrm>
            <a:off x="4722813" y="4894540"/>
            <a:ext cx="21638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6C4B94"/>
                </a:solidFill>
                <a:effectLst/>
                <a:uLnTx/>
                <a:uFillTx/>
                <a:latin typeface="Arial" panose="020B0604020202020204"/>
                <a:ea typeface="+mn-ea"/>
                <a:cs typeface="+mn-cs"/>
              </a:rPr>
              <a:t>VPC Admin</a:t>
            </a:r>
          </a:p>
        </p:txBody>
      </p:sp>
      <p:grpSp>
        <p:nvGrpSpPr>
          <p:cNvPr id="31" name="Group 30">
            <a:extLst>
              <a:ext uri="{FF2B5EF4-FFF2-40B4-BE49-F238E27FC236}">
                <a16:creationId xmlns:a16="http://schemas.microsoft.com/office/drawing/2014/main" id="{28DD5937-0B38-B771-16AD-C8FB7F0F34C2}"/>
              </a:ext>
            </a:extLst>
          </p:cNvPr>
          <p:cNvGrpSpPr/>
          <p:nvPr/>
        </p:nvGrpSpPr>
        <p:grpSpPr>
          <a:xfrm>
            <a:off x="2098344" y="1939636"/>
            <a:ext cx="686799" cy="117764"/>
            <a:chOff x="2098344" y="1939636"/>
            <a:chExt cx="686799" cy="117764"/>
          </a:xfrm>
        </p:grpSpPr>
        <p:cxnSp>
          <p:nvCxnSpPr>
            <p:cNvPr id="18" name="Straight Connector 17">
              <a:extLst>
                <a:ext uri="{FF2B5EF4-FFF2-40B4-BE49-F238E27FC236}">
                  <a16:creationId xmlns:a16="http://schemas.microsoft.com/office/drawing/2014/main" id="{4885337F-EA68-E9B6-8428-5B03366754A9}"/>
                </a:ext>
              </a:extLst>
            </p:cNvPr>
            <p:cNvCxnSpPr>
              <a:cxnSpLocks/>
            </p:cNvCxnSpPr>
            <p:nvPr/>
          </p:nvCxnSpPr>
          <p:spPr bwMode="gray">
            <a:xfrm flipV="1">
              <a:off x="2098344" y="1939636"/>
              <a:ext cx="0" cy="117764"/>
            </a:xfrm>
            <a:prstGeom prst="line">
              <a:avLst/>
            </a:prstGeom>
            <a:ln w="25400" cap="rnd">
              <a:solidFill>
                <a:schemeClr val="tx1">
                  <a:lumMod val="50000"/>
                  <a:lumOff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7B53AC1-F877-9117-4199-669A4E797481}"/>
                </a:ext>
              </a:extLst>
            </p:cNvPr>
            <p:cNvCxnSpPr>
              <a:cxnSpLocks/>
            </p:cNvCxnSpPr>
            <p:nvPr/>
          </p:nvCxnSpPr>
          <p:spPr bwMode="gray">
            <a:xfrm flipV="1">
              <a:off x="2785143" y="1939636"/>
              <a:ext cx="0" cy="117764"/>
            </a:xfrm>
            <a:prstGeom prst="line">
              <a:avLst/>
            </a:prstGeom>
            <a:ln w="25400" cap="rnd">
              <a:solidFill>
                <a:schemeClr val="tx1">
                  <a:lumMod val="50000"/>
                  <a:lumOff val="50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25" name="!!bob123">
            <a:extLst>
              <a:ext uri="{FF2B5EF4-FFF2-40B4-BE49-F238E27FC236}">
                <a16:creationId xmlns:a16="http://schemas.microsoft.com/office/drawing/2014/main" id="{61430D23-61D0-3847-8F11-8174AD272C8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flipV="1">
            <a:off x="8372825" y="1589923"/>
            <a:ext cx="3816000"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6" name="!!BOTTOM">
            <a:extLst>
              <a:ext uri="{FF2B5EF4-FFF2-40B4-BE49-F238E27FC236}">
                <a16:creationId xmlns:a16="http://schemas.microsoft.com/office/drawing/2014/main" id="{ED2EF797-960E-DFD7-7397-699E1A37CD5E}"/>
              </a:ext>
            </a:extLst>
          </p:cNvPr>
          <p:cNvSpPr/>
          <p:nvPr/>
        </p:nvSpPr>
        <p:spPr>
          <a:xfrm rot="10800000" flipV="1">
            <a:off x="608013" y="1600200"/>
            <a:ext cx="3657600" cy="359229"/>
          </a:xfrm>
          <a:prstGeom prst="round2SameRect">
            <a:avLst>
              <a:gd name="adj1" fmla="val 19290"/>
              <a:gd name="adj2" fmla="val 0"/>
            </a:avLst>
          </a:prstGeom>
          <a:solidFill>
            <a:srgbClr val="E8E8EA"/>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rPr>
              <a:t>PHYSICAL NETWORK</a:t>
            </a:r>
          </a:p>
        </p:txBody>
      </p:sp>
    </p:spTree>
    <p:extLst>
      <p:ext uri="{BB962C8B-B14F-4D97-AF65-F5344CB8AC3E}">
        <p14:creationId xmlns:p14="http://schemas.microsoft.com/office/powerpoint/2010/main" val="3352771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500"/>
                                  </p:stCondLst>
                                  <p:childTnLst>
                                    <p:set>
                                      <p:cBhvr>
                                        <p:cTn id="11" dur="1" fill="hold">
                                          <p:stCondLst>
                                            <p:cond delay="0"/>
                                          </p:stCondLst>
                                        </p:cTn>
                                        <p:tgtEl>
                                          <p:spTgt spid="82">
                                            <p:txEl>
                                              <p:pRg st="1" end="1"/>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childTnLst>
                                </p:cTn>
                              </p:par>
                            </p:childTnLst>
                          </p:cTn>
                        </p:par>
                        <p:par>
                          <p:cTn id="16" fill="hold">
                            <p:stCondLst>
                              <p:cond delay="500"/>
                            </p:stCondLst>
                            <p:childTnLst>
                              <p:par>
                                <p:cTn id="17" presetID="1" presetClass="entr" presetSubtype="0" fill="hold" nodeType="afterEffect">
                                  <p:stCondLst>
                                    <p:cond delay="500"/>
                                  </p:stCondLst>
                                  <p:childTnLst>
                                    <p:set>
                                      <p:cBhvr>
                                        <p:cTn id="18" dur="1" fill="hold">
                                          <p:stCondLst>
                                            <p:cond delay="0"/>
                                          </p:stCondLst>
                                        </p:cTn>
                                        <p:tgtEl>
                                          <p:spTgt spid="82">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7"/>
                                        </p:tgtEl>
                                        <p:attrNameLst>
                                          <p:attrName>style.visibility</p:attrName>
                                        </p:attrNameLst>
                                      </p:cBhvr>
                                      <p:to>
                                        <p:strVal val="visible"/>
                                      </p:to>
                                    </p:set>
                                  </p:childTnLst>
                                </p:cTn>
                              </p:par>
                              <p:par>
                                <p:cTn id="21" presetID="0" presetClass="path" presetSubtype="0" accel="50000" decel="50000" fill="hold" grpId="1" nodeType="withEffect">
                                  <p:stCondLst>
                                    <p:cond delay="0"/>
                                  </p:stCondLst>
                                  <p:childTnLst>
                                    <p:animMotion origin="layout" path="M -0.00026 0.00139 L 0.04272 0.17083 " pathEditMode="relative" rAng="0" ptsTypes="AA">
                                      <p:cBhvr>
                                        <p:cTn id="22" dur="500" fill="hold"/>
                                        <p:tgtEl>
                                          <p:spTgt spid="67"/>
                                        </p:tgtEl>
                                        <p:attrNameLst>
                                          <p:attrName>ppt_x</p:attrName>
                                          <p:attrName>ppt_y</p:attrName>
                                        </p:attrNameLst>
                                      </p:cBhvr>
                                      <p:rCtr x="2149" y="8472"/>
                                    </p:animMotion>
                                  </p:childTnLst>
                                </p:cTn>
                              </p:par>
                              <p:par>
                                <p:cTn id="23" presetID="1" presetClass="entr" presetSubtype="0" fill="hold" grpId="0" nodeType="withEffect">
                                  <p:stCondLst>
                                    <p:cond delay="0"/>
                                  </p:stCondLst>
                                  <p:childTnLst>
                                    <p:set>
                                      <p:cBhvr>
                                        <p:cTn id="24" dur="1" fill="hold">
                                          <p:stCondLst>
                                            <p:cond delay="0"/>
                                          </p:stCondLst>
                                        </p:cTn>
                                        <p:tgtEl>
                                          <p:spTgt spid="7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3">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xEl>
                                              <p:pRg st="3" end="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
                                            <p:txEl>
                                              <p:pRg st="4" end="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3">
                                            <p:txEl>
                                              <p:pRg st="0" end="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4">
                                            <p:txEl>
                                              <p:pRg st="0" end="0"/>
                                            </p:txEl>
                                          </p:spTgt>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nodeType="afterEffect">
                                  <p:stCondLst>
                                    <p:cond delay="1000"/>
                                  </p:stCondLst>
                                  <p:childTnLst>
                                    <p:set>
                                      <p:cBhvr>
                                        <p:cTn id="47" dur="1" fill="hold">
                                          <p:stCondLst>
                                            <p:cond delay="0"/>
                                          </p:stCondLst>
                                        </p:cTn>
                                        <p:tgtEl>
                                          <p:spTgt spid="81"/>
                                        </p:tgtEl>
                                        <p:attrNameLst>
                                          <p:attrName>style.visibility</p:attrName>
                                        </p:attrNameLst>
                                      </p:cBhvr>
                                      <p:to>
                                        <p:strVal val="visible"/>
                                      </p:to>
                                    </p:set>
                                  </p:childTnLst>
                                </p:cTn>
                              </p:par>
                            </p:childTnLst>
                          </p:cTn>
                        </p:par>
                        <p:par>
                          <p:cTn id="48" fill="hold">
                            <p:stCondLst>
                              <p:cond delay="1000"/>
                            </p:stCondLst>
                            <p:childTnLst>
                              <p:par>
                                <p:cTn id="49" presetID="1" presetClass="entr" presetSubtype="0" fill="hold" nodeType="afterEffect">
                                  <p:stCondLst>
                                    <p:cond delay="0"/>
                                  </p:stCondLst>
                                  <p:childTnLst>
                                    <p:set>
                                      <p:cBhvr>
                                        <p:cTn id="50" dur="1" fill="hold">
                                          <p:stCondLst>
                                            <p:cond delay="0"/>
                                          </p:stCondLst>
                                        </p:cTn>
                                        <p:tgtEl>
                                          <p:spTgt spid="14">
                                            <p:txEl>
                                              <p:pRg st="1" end="1"/>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7"/>
                                        </p:tgtEl>
                                        <p:attrNameLst>
                                          <p:attrName>style.visibility</p:attrName>
                                        </p:attrNameLst>
                                      </p:cBhvr>
                                      <p:to>
                                        <p:strVal val="visible"/>
                                      </p:to>
                                    </p:set>
                                  </p:childTnLst>
                                </p:cTn>
                              </p:par>
                              <p:par>
                                <p:cTn id="53" presetID="1" presetClass="entr" presetSubtype="0" fill="hold" grpId="1" nodeType="withEffect">
                                  <p:stCondLst>
                                    <p:cond delay="0"/>
                                  </p:stCondLst>
                                  <p:childTnLst>
                                    <p:set>
                                      <p:cBhvr>
                                        <p:cTn id="54" dur="1" fill="hold">
                                          <p:stCondLst>
                                            <p:cond delay="0"/>
                                          </p:stCondLst>
                                        </p:cTn>
                                        <p:tgtEl>
                                          <p:spTgt spid="69"/>
                                        </p:tgtEl>
                                        <p:attrNameLst>
                                          <p:attrName>style.visibility</p:attrName>
                                        </p:attrNameLst>
                                      </p:cBhvr>
                                      <p:to>
                                        <p:strVal val="visible"/>
                                      </p:to>
                                    </p:set>
                                  </p:childTnLst>
                                </p:cTn>
                              </p:par>
                              <p:par>
                                <p:cTn id="55" presetID="1" presetClass="entr" presetSubtype="0" fill="hold" grpId="1" nodeType="withEffect">
                                  <p:stCondLst>
                                    <p:cond delay="0"/>
                                  </p:stCondLst>
                                  <p:childTnLst>
                                    <p:set>
                                      <p:cBhvr>
                                        <p:cTn id="56" dur="1" fill="hold">
                                          <p:stCondLst>
                                            <p:cond delay="0"/>
                                          </p:stCondLst>
                                        </p:cTn>
                                        <p:tgtEl>
                                          <p:spTgt spid="68"/>
                                        </p:tgtEl>
                                        <p:attrNameLst>
                                          <p:attrName>style.visibility</p:attrName>
                                        </p:attrNameLst>
                                      </p:cBhvr>
                                      <p:to>
                                        <p:strVal val="visible"/>
                                      </p:to>
                                    </p:set>
                                  </p:childTnLst>
                                </p:cTn>
                              </p:par>
                              <p:par>
                                <p:cTn id="57" presetID="0" presetClass="path" presetSubtype="0" accel="50000" decel="50000" fill="hold" grpId="0" nodeType="withEffect">
                                  <p:stCondLst>
                                    <p:cond delay="0"/>
                                  </p:stCondLst>
                                  <p:childTnLst>
                                    <p:animMotion origin="layout" path="M -1.12008E-6 -1.11111E-6 L -0.14209 0.14213 " pathEditMode="relative" rAng="0" ptsTypes="AA">
                                      <p:cBhvr>
                                        <p:cTn id="58" dur="500" fill="hold"/>
                                        <p:tgtEl>
                                          <p:spTgt spid="69"/>
                                        </p:tgtEl>
                                        <p:attrNameLst>
                                          <p:attrName>ppt_x</p:attrName>
                                          <p:attrName>ppt_y</p:attrName>
                                        </p:attrNameLst>
                                      </p:cBhvr>
                                      <p:rCtr x="-7111" y="7106"/>
                                    </p:animMotion>
                                  </p:childTnLst>
                                </p:cTn>
                              </p:par>
                              <p:par>
                                <p:cTn id="59" presetID="42" presetClass="path" presetSubtype="0" accel="50000" decel="50000" fill="hold" grpId="0" nodeType="withEffect">
                                  <p:stCondLst>
                                    <p:cond delay="0"/>
                                  </p:stCondLst>
                                  <p:childTnLst>
                                    <p:animMotion origin="layout" path="M -2.30268E-6 -1.11111E-6 L -0.01315 0.14283 " pathEditMode="relative" rAng="0" ptsTypes="AA">
                                      <p:cBhvr>
                                        <p:cTn id="60" dur="500" fill="hold"/>
                                        <p:tgtEl>
                                          <p:spTgt spid="68"/>
                                        </p:tgtEl>
                                        <p:attrNameLst>
                                          <p:attrName>ppt_x</p:attrName>
                                          <p:attrName>ppt_y</p:attrName>
                                        </p:attrNameLst>
                                      </p:cBhvr>
                                      <p:rCtr x="-664" y="7130"/>
                                    </p:animMotion>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5">
                                            <p:txEl>
                                              <p:pRg st="0" end="0"/>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9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9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3">
                                            <p:txEl>
                                              <p:pRg st="6" end="6"/>
                                            </p:txEl>
                                          </p:spTgt>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3">
                                            <p:txEl>
                                              <p:pRg st="7" end="7"/>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3">
                                            <p:txEl>
                                              <p:pRg st="8" end="8"/>
                                            </p:txEl>
                                          </p:spTgt>
                                        </p:tgtEl>
                                        <p:attrNameLst>
                                          <p:attrName>style.visibility</p:attrName>
                                        </p:attrNameLst>
                                      </p:cBhvr>
                                      <p:to>
                                        <p:strVal val="visible"/>
                                      </p:to>
                                    </p:set>
                                  </p:childTnLst>
                                </p:cTn>
                              </p:par>
                            </p:childTnLst>
                          </p:cTn>
                        </p:par>
                        <p:par>
                          <p:cTn id="75" fill="hold">
                            <p:stCondLst>
                              <p:cond delay="0"/>
                            </p:stCondLst>
                            <p:childTnLst>
                              <p:par>
                                <p:cTn id="76" presetID="1" presetClass="entr" presetSubtype="0" fill="hold" nodeType="afterEffect">
                                  <p:stCondLst>
                                    <p:cond delay="0"/>
                                  </p:stCondLst>
                                  <p:childTnLst>
                                    <p:set>
                                      <p:cBhvr>
                                        <p:cTn id="77" dur="1" fill="hold">
                                          <p:stCondLst>
                                            <p:cond delay="0"/>
                                          </p:stCondLst>
                                        </p:cTn>
                                        <p:tgtEl>
                                          <p:spTgt spid="84">
                                            <p:txEl>
                                              <p:pRg st="0" end="0"/>
                                            </p:txEl>
                                          </p:spTgt>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115"/>
                                        </p:tgtEl>
                                        <p:attrNameLst>
                                          <p:attrName>style.visibility</p:attrName>
                                        </p:attrNameLst>
                                      </p:cBhvr>
                                      <p:to>
                                        <p:strVal val="visible"/>
                                      </p:to>
                                    </p:set>
                                  </p:childTnLst>
                                </p:cTn>
                              </p:par>
                            </p:childTnLst>
                          </p:cTn>
                        </p:par>
                        <p:par>
                          <p:cTn id="80" fill="hold">
                            <p:stCondLst>
                              <p:cond delay="0"/>
                            </p:stCondLst>
                            <p:childTnLst>
                              <p:par>
                                <p:cTn id="81" presetID="1" presetClass="entr" presetSubtype="0" fill="hold" nodeType="afterEffect">
                                  <p:stCondLst>
                                    <p:cond delay="1000"/>
                                  </p:stCondLst>
                                  <p:childTnLst>
                                    <p:set>
                                      <p:cBhvr>
                                        <p:cTn id="82" dur="1" fill="hold">
                                          <p:stCondLst>
                                            <p:cond delay="0"/>
                                          </p:stCondLst>
                                        </p:cTn>
                                        <p:tgtEl>
                                          <p:spTgt spid="84">
                                            <p:txEl>
                                              <p:pRg st="1" end="1"/>
                                            </p:txEl>
                                          </p:spTgt>
                                        </p:tgtEl>
                                        <p:attrNameLst>
                                          <p:attrName>style.visibility</p:attrName>
                                        </p:attrNameLst>
                                      </p:cBhvr>
                                      <p:to>
                                        <p:strVal val="visible"/>
                                      </p:to>
                                    </p:set>
                                  </p:childTnLst>
                                </p:cTn>
                              </p:par>
                            </p:childTnLst>
                          </p:cTn>
                        </p:par>
                        <p:par>
                          <p:cTn id="83" fill="hold">
                            <p:stCondLst>
                              <p:cond delay="1000"/>
                            </p:stCondLst>
                            <p:childTnLst>
                              <p:par>
                                <p:cTn id="84" presetID="22" presetClass="entr" presetSubtype="4" fill="hold" nodeType="afterEffect">
                                  <p:stCondLst>
                                    <p:cond delay="0"/>
                                  </p:stCondLst>
                                  <p:childTnLst>
                                    <p:set>
                                      <p:cBhvr>
                                        <p:cTn id="85" dur="1" fill="hold">
                                          <p:stCondLst>
                                            <p:cond delay="0"/>
                                          </p:stCondLst>
                                        </p:cTn>
                                        <p:tgtEl>
                                          <p:spTgt spid="116"/>
                                        </p:tgtEl>
                                        <p:attrNameLst>
                                          <p:attrName>style.visibility</p:attrName>
                                        </p:attrNameLst>
                                      </p:cBhvr>
                                      <p:to>
                                        <p:strVal val="visible"/>
                                      </p:to>
                                    </p:set>
                                    <p:animEffect transition="in" filter="wipe(down)">
                                      <p:cBhvr>
                                        <p:cTn id="86" dur="500"/>
                                        <p:tgtEl>
                                          <p:spTgt spid="116"/>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wipe(left)">
                                      <p:cBhvr>
                                        <p:cTn id="9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67" grpId="0" animBg="1"/>
      <p:bldP spid="67" grpId="1" animBg="1"/>
      <p:bldP spid="68" grpId="0" animBg="1"/>
      <p:bldP spid="68" grpId="1" animBg="1"/>
      <p:bldP spid="69" grpId="0" animBg="1"/>
      <p:bldP spid="69"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813B7-220A-CA86-782D-38FEDD4FEB0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F9328EB-ADD1-DB34-B8C9-FB55E45EE50B}"/>
              </a:ext>
            </a:extLst>
          </p:cNvPr>
          <p:cNvSpPr>
            <a:spLocks noGrp="1"/>
          </p:cNvSpPr>
          <p:nvPr>
            <p:ph type="title"/>
          </p:nvPr>
        </p:nvSpPr>
        <p:spPr>
          <a:xfrm>
            <a:off x="579809" y="412751"/>
            <a:ext cx="11001004" cy="381000"/>
          </a:xfrm>
        </p:spPr>
        <p:txBody>
          <a:bodyPr/>
          <a:lstStyle/>
          <a:p>
            <a:r>
              <a:rPr lang="en-US" dirty="0"/>
              <a:t>Consume VPCs in vCenter and VCF Automation</a:t>
            </a:r>
          </a:p>
        </p:txBody>
      </p:sp>
      <p:sp>
        <p:nvSpPr>
          <p:cNvPr id="5" name="Subtitle 4">
            <a:extLst>
              <a:ext uri="{FF2B5EF4-FFF2-40B4-BE49-F238E27FC236}">
                <a16:creationId xmlns:a16="http://schemas.microsoft.com/office/drawing/2014/main" id="{BB0D18A0-4816-E855-537D-4476D2FC9A89}"/>
              </a:ext>
            </a:extLst>
          </p:cNvPr>
          <p:cNvSpPr>
            <a:spLocks noGrp="1"/>
          </p:cNvSpPr>
          <p:nvPr>
            <p:ph type="subTitle" idx="10"/>
          </p:nvPr>
        </p:nvSpPr>
        <p:spPr>
          <a:xfrm>
            <a:off x="592866" y="811830"/>
            <a:ext cx="10962687" cy="247743"/>
          </a:xfrm>
        </p:spPr>
        <p:txBody>
          <a:bodyPr/>
          <a:lstStyle/>
          <a:p>
            <a:r>
              <a:rPr lang="en-US"/>
              <a:t>Consistent implementation of Virtual Private Clouds (VPCs) across the platform</a:t>
            </a:r>
            <a:endParaRPr lang="en-US" dirty="0"/>
          </a:p>
        </p:txBody>
      </p:sp>
      <p:sp>
        <p:nvSpPr>
          <p:cNvPr id="23" name="Text Placeholder 22">
            <a:extLst>
              <a:ext uri="{FF2B5EF4-FFF2-40B4-BE49-F238E27FC236}">
                <a16:creationId xmlns:a16="http://schemas.microsoft.com/office/drawing/2014/main" id="{B432C35F-AC67-2A58-6BD0-65E551246373}"/>
              </a:ext>
            </a:extLst>
          </p:cNvPr>
          <p:cNvSpPr>
            <a:spLocks noGrp="1"/>
          </p:cNvSpPr>
          <p:nvPr>
            <p:ph type="body" sz="quarter" idx="4294967295"/>
          </p:nvPr>
        </p:nvSpPr>
        <p:spPr>
          <a:xfrm>
            <a:off x="8380413" y="2057400"/>
            <a:ext cx="3200400" cy="4114800"/>
          </a:xfrm>
        </p:spPr>
        <p:txBody>
          <a:bodyPr/>
          <a:lstStyle/>
          <a:p>
            <a:pPr marL="180000" lvl="0" indent="0"/>
            <a:r>
              <a:rPr lang="en-US" sz="1600" dirty="0">
                <a:solidFill>
                  <a:schemeClr val="accent2"/>
                </a:solidFill>
              </a:rPr>
              <a:t>VPCs can be configured directly from vCenter and VCF Automation</a:t>
            </a:r>
          </a:p>
          <a:p>
            <a:pPr marL="180000" lvl="0" indent="0"/>
            <a:endParaRPr lang="en-US" sz="1600" dirty="0">
              <a:solidFill>
                <a:schemeClr val="accent2"/>
              </a:solidFill>
            </a:endParaRPr>
          </a:p>
          <a:p>
            <a:pPr marL="180000" lvl="0" indent="0"/>
            <a:r>
              <a:rPr lang="en-US" sz="1600" dirty="0">
                <a:solidFill>
                  <a:schemeClr val="accent2"/>
                </a:solidFill>
              </a:rPr>
              <a:t>VPCs and subnets are first-class objects</a:t>
            </a:r>
          </a:p>
          <a:p>
            <a:pPr marL="180000" lvl="0" indent="0"/>
            <a:endParaRPr lang="en-US" sz="1600" dirty="0">
              <a:solidFill>
                <a:schemeClr val="accent2"/>
              </a:solidFill>
            </a:endParaRPr>
          </a:p>
          <a:p>
            <a:pPr marL="180000" lvl="0" indent="0"/>
            <a:r>
              <a:rPr lang="en-US" sz="1600" dirty="0">
                <a:solidFill>
                  <a:schemeClr val="accent2"/>
                </a:solidFill>
              </a:rPr>
              <a:t>Attaching a VM to a subnet is straightforward</a:t>
            </a:r>
          </a:p>
          <a:p>
            <a:pPr lvl="1"/>
            <a:endParaRPr lang="en-US" dirty="0"/>
          </a:p>
        </p:txBody>
      </p:sp>
      <p:grpSp>
        <p:nvGrpSpPr>
          <p:cNvPr id="66" name="Group 65">
            <a:extLst>
              <a:ext uri="{FF2B5EF4-FFF2-40B4-BE49-F238E27FC236}">
                <a16:creationId xmlns:a16="http://schemas.microsoft.com/office/drawing/2014/main" id="{5A68A603-FA6D-C9EF-4DA7-ED19A80884E2}"/>
              </a:ext>
            </a:extLst>
          </p:cNvPr>
          <p:cNvGrpSpPr/>
          <p:nvPr/>
        </p:nvGrpSpPr>
        <p:grpSpPr>
          <a:xfrm>
            <a:off x="591618" y="1598122"/>
            <a:ext cx="7332193" cy="4061460"/>
            <a:chOff x="608013" y="1600200"/>
            <a:chExt cx="7332193" cy="4061460"/>
          </a:xfrm>
        </p:grpSpPr>
        <p:pic>
          <p:nvPicPr>
            <p:cNvPr id="67" name="Picture 66">
              <a:extLst>
                <a:ext uri="{FF2B5EF4-FFF2-40B4-BE49-F238E27FC236}">
                  <a16:creationId xmlns:a16="http://schemas.microsoft.com/office/drawing/2014/main" id="{F1FE034B-BCC5-B39D-6CA7-970A441D4274}"/>
                </a:ext>
              </a:extLst>
            </p:cNvPr>
            <p:cNvPicPr>
              <a:picLocks noChangeAspect="1"/>
            </p:cNvPicPr>
            <p:nvPr/>
          </p:nvPicPr>
          <p:blipFill>
            <a:blip r:embed="rId3"/>
            <a:srcRect r="30334" b="30507"/>
            <a:stretch/>
          </p:blipFill>
          <p:spPr>
            <a:xfrm>
              <a:off x="608013" y="1600200"/>
              <a:ext cx="7332193" cy="4061460"/>
            </a:xfrm>
            <a:prstGeom prst="rect">
              <a:avLst/>
            </a:prstGeom>
            <a:ln w="25400">
              <a:solidFill>
                <a:schemeClr val="tx1">
                  <a:lumMod val="50000"/>
                  <a:lumOff val="50000"/>
                </a:schemeClr>
              </a:solidFill>
            </a:ln>
          </p:spPr>
        </p:pic>
        <p:grpSp>
          <p:nvGrpSpPr>
            <p:cNvPr id="68" name="Group 67">
              <a:extLst>
                <a:ext uri="{FF2B5EF4-FFF2-40B4-BE49-F238E27FC236}">
                  <a16:creationId xmlns:a16="http://schemas.microsoft.com/office/drawing/2014/main" id="{90F3921D-D9A3-E58B-EF17-D9ADE4E7B526}"/>
                </a:ext>
              </a:extLst>
            </p:cNvPr>
            <p:cNvGrpSpPr/>
            <p:nvPr/>
          </p:nvGrpSpPr>
          <p:grpSpPr>
            <a:xfrm>
              <a:off x="976760" y="1623060"/>
              <a:ext cx="6961201" cy="4037644"/>
              <a:chOff x="947234" y="1863111"/>
              <a:chExt cx="6961201" cy="4037644"/>
            </a:xfrm>
          </p:grpSpPr>
          <p:grpSp>
            <p:nvGrpSpPr>
              <p:cNvPr id="69" name="Group 68">
                <a:extLst>
                  <a:ext uri="{FF2B5EF4-FFF2-40B4-BE49-F238E27FC236}">
                    <a16:creationId xmlns:a16="http://schemas.microsoft.com/office/drawing/2014/main" id="{9D9B73F9-920B-7E36-BD2D-318D2C9CBB31}"/>
                  </a:ext>
                </a:extLst>
              </p:cNvPr>
              <p:cNvGrpSpPr/>
              <p:nvPr/>
            </p:nvGrpSpPr>
            <p:grpSpPr>
              <a:xfrm>
                <a:off x="947234" y="2304098"/>
                <a:ext cx="6961201" cy="3596657"/>
                <a:chOff x="947234" y="2304098"/>
                <a:chExt cx="6961201" cy="3596657"/>
              </a:xfrm>
            </p:grpSpPr>
            <p:sp>
              <p:nvSpPr>
                <p:cNvPr id="71" name="Rectangle 70">
                  <a:extLst>
                    <a:ext uri="{FF2B5EF4-FFF2-40B4-BE49-F238E27FC236}">
                      <a16:creationId xmlns:a16="http://schemas.microsoft.com/office/drawing/2014/main" id="{CE4C9AE7-B1E6-0879-AA2E-96E77B1057E7}"/>
                    </a:ext>
                  </a:extLst>
                </p:cNvPr>
                <p:cNvSpPr/>
                <p:nvPr/>
              </p:nvSpPr>
              <p:spPr bwMode="gray">
                <a:xfrm>
                  <a:off x="947234" y="4289574"/>
                  <a:ext cx="1713099" cy="1490217"/>
                </a:xfrm>
                <a:prstGeom prst="rect">
                  <a:avLst/>
                </a:prstGeom>
                <a:solidFill>
                  <a:srgbClr val="FCFEFE"/>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72" name="Rectangle 71">
                  <a:extLst>
                    <a:ext uri="{FF2B5EF4-FFF2-40B4-BE49-F238E27FC236}">
                      <a16:creationId xmlns:a16="http://schemas.microsoft.com/office/drawing/2014/main" id="{FA203323-AD5F-731C-49FF-2E8244FC0B22}"/>
                    </a:ext>
                  </a:extLst>
                </p:cNvPr>
                <p:cNvSpPr/>
                <p:nvPr/>
              </p:nvSpPr>
              <p:spPr bwMode="gray">
                <a:xfrm>
                  <a:off x="4097615" y="2777019"/>
                  <a:ext cx="3810820" cy="3123736"/>
                </a:xfrm>
                <a:prstGeom prst="rect">
                  <a:avLst/>
                </a:prstGeom>
                <a:solidFill>
                  <a:srgbClr val="FCFEFE"/>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pic>
              <p:nvPicPr>
                <p:cNvPr id="73" name="Picture 72">
                  <a:extLst>
                    <a:ext uri="{FF2B5EF4-FFF2-40B4-BE49-F238E27FC236}">
                      <a16:creationId xmlns:a16="http://schemas.microsoft.com/office/drawing/2014/main" id="{E38EDE47-07F2-0B05-3C7F-74C8C08BF8DB}"/>
                    </a:ext>
                  </a:extLst>
                </p:cNvPr>
                <p:cNvPicPr>
                  <a:picLocks noChangeAspect="1"/>
                </p:cNvPicPr>
                <p:nvPr/>
              </p:nvPicPr>
              <p:blipFill>
                <a:blip r:embed="rId4"/>
                <a:stretch>
                  <a:fillRect/>
                </a:stretch>
              </p:blipFill>
              <p:spPr>
                <a:xfrm>
                  <a:off x="4892431" y="2304098"/>
                  <a:ext cx="2934263" cy="3575133"/>
                </a:xfrm>
                <a:prstGeom prst="rect">
                  <a:avLst/>
                </a:prstGeom>
              </p:spPr>
            </p:pic>
          </p:grpSp>
          <p:pic>
            <p:nvPicPr>
              <p:cNvPr id="70" name="Content Placeholder ">
                <a:extLst>
                  <a:ext uri="{FF2B5EF4-FFF2-40B4-BE49-F238E27FC236}">
                    <a16:creationId xmlns:a16="http://schemas.microsoft.com/office/drawing/2014/main" id="{7FDD139C-AF00-FEEA-6903-669CB0930E64}"/>
                  </a:ext>
                </a:extLst>
              </p:cNvPr>
              <p:cNvPicPr>
                <a:picLocks noChangeAspect="1"/>
              </p:cNvPicPr>
              <p:nvPr/>
            </p:nvPicPr>
            <p:blipFill>
              <a:blip r:embed="rId3"/>
              <a:srcRect l="60397" t="4" r="10784" b="93424"/>
              <a:stretch/>
            </p:blipFill>
            <p:spPr bwMode="ltGray">
              <a:xfrm>
                <a:off x="5041900" y="1863111"/>
                <a:ext cx="2844000" cy="360000"/>
              </a:xfrm>
              <a:prstGeom prst="rect">
                <a:avLst/>
              </a:prstGeom>
              <a:ln w="25400" cap="flat" cmpd="sng" algn="ctr">
                <a:solidFill>
                  <a:srgbClr val="2D4048"/>
                </a:solidFill>
                <a:prstDash val="solid"/>
              </a:ln>
            </p:spPr>
            <p:style>
              <a:lnRef idx="2">
                <a:schemeClr val="dk1"/>
              </a:lnRef>
              <a:fillRef idx="1">
                <a:schemeClr val="lt1"/>
              </a:fillRef>
              <a:effectRef idx="0">
                <a:schemeClr val="dk1"/>
              </a:effectRef>
              <a:fontRef idx="minor">
                <a:schemeClr val="dk1"/>
              </a:fontRef>
            </p:style>
          </p:pic>
        </p:grpSp>
      </p:grpSp>
      <p:pic>
        <p:nvPicPr>
          <p:cNvPr id="40" name="Picture 39">
            <a:extLst>
              <a:ext uri="{FF2B5EF4-FFF2-40B4-BE49-F238E27FC236}">
                <a16:creationId xmlns:a16="http://schemas.microsoft.com/office/drawing/2014/main" id="{3FAD18AF-3D01-AEDA-FFBC-B71B8906A0E7}"/>
              </a:ext>
            </a:extLst>
          </p:cNvPr>
          <p:cNvPicPr>
            <a:picLocks noChangeAspect="1"/>
          </p:cNvPicPr>
          <p:nvPr/>
        </p:nvPicPr>
        <p:blipFill>
          <a:blip r:embed="rId5"/>
          <a:stretch>
            <a:fillRect/>
          </a:stretch>
        </p:blipFill>
        <p:spPr>
          <a:xfrm>
            <a:off x="1589927" y="3883680"/>
            <a:ext cx="6117386" cy="2098020"/>
          </a:xfrm>
          <a:prstGeom prst="rect">
            <a:avLst/>
          </a:prstGeom>
        </p:spPr>
        <p:style>
          <a:lnRef idx="2">
            <a:schemeClr val="dk1"/>
          </a:lnRef>
          <a:fillRef idx="1">
            <a:schemeClr val="lt1"/>
          </a:fillRef>
          <a:effectRef idx="0">
            <a:schemeClr val="dk1"/>
          </a:effectRef>
          <a:fontRef idx="minor">
            <a:schemeClr val="dk1"/>
          </a:fontRef>
        </p:style>
      </p:pic>
      <p:sp>
        <p:nvSpPr>
          <p:cNvPr id="39" name="!!bob123">
            <a:extLst>
              <a:ext uri="{FF2B5EF4-FFF2-40B4-BE49-F238E27FC236}">
                <a16:creationId xmlns:a16="http://schemas.microsoft.com/office/drawing/2014/main" id="{1BCF9CB1-8E5E-E322-F8E0-29B26B81849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flipV="1">
            <a:off x="8372825" y="1589923"/>
            <a:ext cx="3816000"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 name="Rectangle: Rounded Corners 2">
            <a:extLst>
              <a:ext uri="{FF2B5EF4-FFF2-40B4-BE49-F238E27FC236}">
                <a16:creationId xmlns:a16="http://schemas.microsoft.com/office/drawing/2014/main" id="{79852013-F650-5298-D1F6-545C8C83B674}"/>
              </a:ext>
            </a:extLst>
          </p:cNvPr>
          <p:cNvSpPr/>
          <p:nvPr/>
        </p:nvSpPr>
        <p:spPr bwMode="gray">
          <a:xfrm>
            <a:off x="497840" y="1473200"/>
            <a:ext cx="7528560" cy="4621461"/>
          </a:xfrm>
          <a:prstGeom prst="roundRect">
            <a:avLst>
              <a:gd name="adj" fmla="val 2597"/>
            </a:avLst>
          </a:prstGeom>
          <a:noFill/>
          <a:ln w="12700">
            <a:solidFill>
              <a:schemeClr val="bg2">
                <a:lumMod val="50000"/>
              </a:schemeClr>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800" dirty="0">
              <a:solidFill>
                <a:schemeClr val="bg1"/>
              </a:solidFill>
            </a:endParaRPr>
          </a:p>
        </p:txBody>
      </p:sp>
    </p:spTree>
    <p:extLst>
      <p:ext uri="{BB962C8B-B14F-4D97-AF65-F5344CB8AC3E}">
        <p14:creationId xmlns:p14="http://schemas.microsoft.com/office/powerpoint/2010/main" val="6832866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95F59-57C7-998E-5953-F309F2FD21C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E096223-7AAA-CDFD-17EE-B06DFEF3FAD8}"/>
              </a:ext>
            </a:extLst>
          </p:cNvPr>
          <p:cNvSpPr>
            <a:spLocks noGrp="1"/>
          </p:cNvSpPr>
          <p:nvPr>
            <p:ph type="title"/>
          </p:nvPr>
        </p:nvSpPr>
        <p:spPr/>
        <p:txBody>
          <a:bodyPr/>
          <a:lstStyle/>
          <a:p>
            <a:r>
              <a:rPr lang="en-US" dirty="0"/>
              <a:t>Deploy NSX Edges Easily</a:t>
            </a:r>
          </a:p>
        </p:txBody>
      </p:sp>
      <p:sp>
        <p:nvSpPr>
          <p:cNvPr id="15" name="Subtitle 14">
            <a:extLst>
              <a:ext uri="{FF2B5EF4-FFF2-40B4-BE49-F238E27FC236}">
                <a16:creationId xmlns:a16="http://schemas.microsoft.com/office/drawing/2014/main" id="{3B9608F9-6341-82AA-D4F0-52B5329377B1}"/>
              </a:ext>
            </a:extLst>
          </p:cNvPr>
          <p:cNvSpPr>
            <a:spLocks noGrp="1"/>
          </p:cNvSpPr>
          <p:nvPr>
            <p:ph type="subTitle" idx="10"/>
          </p:nvPr>
        </p:nvSpPr>
        <p:spPr/>
        <p:txBody>
          <a:bodyPr/>
          <a:lstStyle/>
          <a:p>
            <a:r>
              <a:rPr lang="en-US" dirty="0"/>
              <a:t>Guided edge deployment workflow available in vCenter</a:t>
            </a:r>
          </a:p>
        </p:txBody>
      </p:sp>
      <p:sp>
        <p:nvSpPr>
          <p:cNvPr id="187" name="Text Placeholder 186">
            <a:extLst>
              <a:ext uri="{FF2B5EF4-FFF2-40B4-BE49-F238E27FC236}">
                <a16:creationId xmlns:a16="http://schemas.microsoft.com/office/drawing/2014/main" id="{941A770E-7A1D-8978-1ECA-1F7724D7D087}"/>
              </a:ext>
            </a:extLst>
          </p:cNvPr>
          <p:cNvSpPr>
            <a:spLocks noGrp="1"/>
          </p:cNvSpPr>
          <p:nvPr>
            <p:ph type="body" sz="quarter" idx="4294967295"/>
          </p:nvPr>
        </p:nvSpPr>
        <p:spPr>
          <a:xfrm>
            <a:off x="8380413" y="2057400"/>
            <a:ext cx="3200400" cy="4114800"/>
          </a:xfrm>
        </p:spPr>
        <p:txBody>
          <a:bodyPr/>
          <a:lstStyle/>
          <a:p>
            <a:pPr marL="180000" indent="0"/>
            <a:r>
              <a:rPr lang="en-US" sz="1600" dirty="0">
                <a:solidFill>
                  <a:schemeClr val="accent2"/>
                </a:solidFill>
              </a:rPr>
              <a:t>Edges are deployed with a simple vCenter UI workflow in VCF 9.0:</a:t>
            </a:r>
          </a:p>
          <a:p>
            <a:pPr marL="540000" lvl="1">
              <a:buClr>
                <a:schemeClr val="accent2"/>
              </a:buClr>
            </a:pPr>
            <a:r>
              <a:rPr lang="en-US" sz="1400" dirty="0">
                <a:solidFill>
                  <a:schemeClr val="accent2"/>
                </a:solidFill>
              </a:rPr>
              <a:t>the user is guided through entering the required parameters</a:t>
            </a:r>
          </a:p>
          <a:p>
            <a:pPr marL="540000" lvl="1">
              <a:buClr>
                <a:schemeClr val="accent2"/>
              </a:buClr>
            </a:pPr>
            <a:r>
              <a:rPr lang="en-US" sz="1400" dirty="0">
                <a:solidFill>
                  <a:schemeClr val="accent2"/>
                </a:solidFill>
              </a:rPr>
              <a:t>and a graphical representation is generated in real time</a:t>
            </a:r>
          </a:p>
        </p:txBody>
      </p:sp>
      <p:sp>
        <p:nvSpPr>
          <p:cNvPr id="7" name="!!bob123">
            <a:extLst>
              <a:ext uri="{FF2B5EF4-FFF2-40B4-BE49-F238E27FC236}">
                <a16:creationId xmlns:a16="http://schemas.microsoft.com/office/drawing/2014/main" id="{A9E46C9A-6468-FFFD-E240-BD60849F414D}"/>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flipV="1">
            <a:off x="8372825" y="1589923"/>
            <a:ext cx="3816000"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3" name="Group 2">
            <a:extLst>
              <a:ext uri="{FF2B5EF4-FFF2-40B4-BE49-F238E27FC236}">
                <a16:creationId xmlns:a16="http://schemas.microsoft.com/office/drawing/2014/main" id="{2974CE37-9891-7DA8-267D-8C69CFFC2BE2}"/>
              </a:ext>
            </a:extLst>
          </p:cNvPr>
          <p:cNvGrpSpPr/>
          <p:nvPr/>
        </p:nvGrpSpPr>
        <p:grpSpPr>
          <a:xfrm>
            <a:off x="614775" y="1716400"/>
            <a:ext cx="7531372" cy="4236396"/>
            <a:chOff x="609601" y="1600200"/>
            <a:chExt cx="7315201" cy="4114800"/>
          </a:xfrm>
        </p:grpSpPr>
        <p:grpSp>
          <p:nvGrpSpPr>
            <p:cNvPr id="6" name="Google Shape;11259;p55">
              <a:extLst>
                <a:ext uri="{FF2B5EF4-FFF2-40B4-BE49-F238E27FC236}">
                  <a16:creationId xmlns:a16="http://schemas.microsoft.com/office/drawing/2014/main" id="{7A402642-459F-6084-E23B-95CF7CA6A386}"/>
                </a:ext>
              </a:extLst>
            </p:cNvPr>
            <p:cNvGrpSpPr/>
            <p:nvPr/>
          </p:nvGrpSpPr>
          <p:grpSpPr>
            <a:xfrm>
              <a:off x="609601" y="1600200"/>
              <a:ext cx="3888000" cy="4114800"/>
              <a:chOff x="608013" y="1600200"/>
              <a:chExt cx="4320000" cy="4572000"/>
            </a:xfrm>
          </p:grpSpPr>
          <p:grpSp>
            <p:nvGrpSpPr>
              <p:cNvPr id="9" name="Google Shape;11260;p55">
                <a:extLst>
                  <a:ext uri="{FF2B5EF4-FFF2-40B4-BE49-F238E27FC236}">
                    <a16:creationId xmlns:a16="http://schemas.microsoft.com/office/drawing/2014/main" id="{20EBE6B5-9D77-C282-3385-2CBB0ACDE955}"/>
                  </a:ext>
                </a:extLst>
              </p:cNvPr>
              <p:cNvGrpSpPr/>
              <p:nvPr/>
            </p:nvGrpSpPr>
            <p:grpSpPr>
              <a:xfrm>
                <a:off x="608013" y="1600200"/>
                <a:ext cx="4320000" cy="4572000"/>
                <a:chOff x="608013" y="1600200"/>
                <a:chExt cx="4320000" cy="4572000"/>
              </a:xfrm>
            </p:grpSpPr>
            <p:grpSp>
              <p:nvGrpSpPr>
                <p:cNvPr id="11" name="Google Shape;11261;p55">
                  <a:extLst>
                    <a:ext uri="{FF2B5EF4-FFF2-40B4-BE49-F238E27FC236}">
                      <a16:creationId xmlns:a16="http://schemas.microsoft.com/office/drawing/2014/main" id="{2B8126F9-5993-5B13-3B7E-FD75E913A5C3}"/>
                    </a:ext>
                  </a:extLst>
                </p:cNvPr>
                <p:cNvGrpSpPr/>
                <p:nvPr/>
              </p:nvGrpSpPr>
              <p:grpSpPr>
                <a:xfrm>
                  <a:off x="608013" y="1839000"/>
                  <a:ext cx="4320000" cy="4333200"/>
                  <a:chOff x="608013" y="1839000"/>
                  <a:chExt cx="4320000" cy="4333200"/>
                </a:xfrm>
              </p:grpSpPr>
              <p:pic>
                <p:nvPicPr>
                  <p:cNvPr id="13" name="Google Shape;11262;p55">
                    <a:extLst>
                      <a:ext uri="{FF2B5EF4-FFF2-40B4-BE49-F238E27FC236}">
                        <a16:creationId xmlns:a16="http://schemas.microsoft.com/office/drawing/2014/main" id="{8AA7C01D-BA6B-988B-7981-5BC5D6BE03B0}"/>
                      </a:ext>
                    </a:extLst>
                  </p:cNvPr>
                  <p:cNvPicPr preferRelativeResize="0"/>
                  <p:nvPr/>
                </p:nvPicPr>
                <p:blipFill rotWithShape="1">
                  <a:blip r:embed="rId3">
                    <a:alphaModFix/>
                  </a:blip>
                  <a:srcRect/>
                  <a:stretch/>
                </p:blipFill>
                <p:spPr>
                  <a:xfrm>
                    <a:off x="608013" y="1839000"/>
                    <a:ext cx="4320000" cy="2265600"/>
                  </a:xfrm>
                  <a:prstGeom prst="rect">
                    <a:avLst/>
                  </a:prstGeom>
                  <a:noFill/>
                  <a:ln>
                    <a:noFill/>
                  </a:ln>
                </p:spPr>
              </p:pic>
              <p:pic>
                <p:nvPicPr>
                  <p:cNvPr id="14" name="Google Shape;11263;p55">
                    <a:extLst>
                      <a:ext uri="{FF2B5EF4-FFF2-40B4-BE49-F238E27FC236}">
                        <a16:creationId xmlns:a16="http://schemas.microsoft.com/office/drawing/2014/main" id="{179A032A-C520-F1BE-34F4-216A5274A7E6}"/>
                      </a:ext>
                    </a:extLst>
                  </p:cNvPr>
                  <p:cNvPicPr preferRelativeResize="0"/>
                  <p:nvPr/>
                </p:nvPicPr>
                <p:blipFill rotWithShape="1">
                  <a:blip r:embed="rId4">
                    <a:alphaModFix/>
                  </a:blip>
                  <a:srcRect/>
                  <a:stretch/>
                </p:blipFill>
                <p:spPr>
                  <a:xfrm>
                    <a:off x="608013" y="4079400"/>
                    <a:ext cx="4320000" cy="2092800"/>
                  </a:xfrm>
                  <a:prstGeom prst="rect">
                    <a:avLst/>
                  </a:prstGeom>
                  <a:noFill/>
                  <a:ln>
                    <a:noFill/>
                  </a:ln>
                </p:spPr>
              </p:pic>
            </p:grpSp>
            <p:pic>
              <p:nvPicPr>
                <p:cNvPr id="12" name="Google Shape;11264;p55">
                  <a:extLst>
                    <a:ext uri="{FF2B5EF4-FFF2-40B4-BE49-F238E27FC236}">
                      <a16:creationId xmlns:a16="http://schemas.microsoft.com/office/drawing/2014/main" id="{D485C2C7-74E4-F95C-76EC-B475AEB5ECAC}"/>
                    </a:ext>
                  </a:extLst>
                </p:cNvPr>
                <p:cNvPicPr preferRelativeResize="0"/>
                <p:nvPr/>
              </p:nvPicPr>
              <p:blipFill rotWithShape="1">
                <a:blip r:embed="rId5">
                  <a:alphaModFix/>
                </a:blip>
                <a:srcRect l="2" r="44419"/>
                <a:stretch/>
              </p:blipFill>
              <p:spPr>
                <a:xfrm>
                  <a:off x="608013" y="1600200"/>
                  <a:ext cx="4320000" cy="247550"/>
                </a:xfrm>
                <a:prstGeom prst="rect">
                  <a:avLst/>
                </a:prstGeom>
                <a:noFill/>
                <a:ln>
                  <a:noFill/>
                </a:ln>
              </p:spPr>
            </p:pic>
          </p:grpSp>
          <p:sp>
            <p:nvSpPr>
              <p:cNvPr id="10" name="Google Shape;11265;p55">
                <a:extLst>
                  <a:ext uri="{FF2B5EF4-FFF2-40B4-BE49-F238E27FC236}">
                    <a16:creationId xmlns:a16="http://schemas.microsoft.com/office/drawing/2014/main" id="{6A6E36F6-F161-B5C9-4C91-9672E04EF87C}"/>
                  </a:ext>
                </a:extLst>
              </p:cNvPr>
              <p:cNvSpPr/>
              <p:nvPr/>
            </p:nvSpPr>
            <p:spPr>
              <a:xfrm>
                <a:off x="608013" y="1600200"/>
                <a:ext cx="4320000" cy="4572000"/>
              </a:xfrm>
              <a:prstGeom prst="rect">
                <a:avLst/>
              </a:prstGeom>
              <a:noFill/>
              <a:ln w="25400" cap="flat" cmpd="sng">
                <a:solidFill>
                  <a:schemeClr val="bg1">
                    <a:lumMod val="75000"/>
                  </a:schemeClr>
                </a:solidFill>
                <a:prstDash val="solid"/>
                <a:round/>
                <a:headEnd type="none" w="sm" len="sm"/>
                <a:tailEnd type="none" w="sm" len="sm"/>
              </a:ln>
            </p:spPr>
            <p:txBody>
              <a:bodyPr spcFirstLastPara="1" wrap="square" lIns="91425" tIns="45700" rIns="91425" bIns="45700" anchor="ctr" anchorCtr="0">
                <a:noAutofit/>
              </a:bodyPr>
              <a:lstStyle/>
              <a:p>
                <a:pPr algn="ctr">
                  <a:buClr>
                    <a:schemeClr val="lt1"/>
                  </a:buClr>
                  <a:buSzPts val="1000"/>
                </a:pPr>
                <a:endParaRPr sz="1000" dirty="0">
                  <a:solidFill>
                    <a:srgbClr val="000000"/>
                  </a:solidFill>
                  <a:ea typeface="Arial"/>
                  <a:cs typeface="Arial"/>
                  <a:sym typeface="Arial"/>
                </a:endParaRPr>
              </a:p>
            </p:txBody>
          </p:sp>
        </p:grpSp>
        <p:pic>
          <p:nvPicPr>
            <p:cNvPr id="8" name="Google Shape;11266;p55">
              <a:extLst>
                <a:ext uri="{FF2B5EF4-FFF2-40B4-BE49-F238E27FC236}">
                  <a16:creationId xmlns:a16="http://schemas.microsoft.com/office/drawing/2014/main" id="{A3729FC6-6759-82B9-0FB9-62839D1AA2F7}"/>
                </a:ext>
              </a:extLst>
            </p:cNvPr>
            <p:cNvPicPr preferRelativeResize="0"/>
            <p:nvPr/>
          </p:nvPicPr>
          <p:blipFill rotWithShape="1">
            <a:blip r:embed="rId6">
              <a:alphaModFix/>
            </a:blip>
            <a:srcRect/>
            <a:stretch/>
          </p:blipFill>
          <p:spPr>
            <a:xfrm>
              <a:off x="4291635" y="1894875"/>
              <a:ext cx="3633167" cy="3713508"/>
            </a:xfrm>
            <a:prstGeom prst="rect">
              <a:avLst/>
            </a:prstGeom>
            <a:solidFill>
              <a:schemeClr val="lt1"/>
            </a:solidFill>
            <a:ln w="25400" cap="flat" cmpd="sng">
              <a:solidFill>
                <a:schemeClr val="bg1">
                  <a:lumMod val="75000"/>
                </a:schemeClr>
              </a:solidFill>
              <a:prstDash val="solid"/>
              <a:round/>
              <a:headEnd type="none" w="sm" len="sm"/>
              <a:tailEnd type="none" w="sm" len="sm"/>
            </a:ln>
          </p:spPr>
        </p:pic>
      </p:grpSp>
      <p:sp>
        <p:nvSpPr>
          <p:cNvPr id="16" name="Rectangle: Rounded Corners 2">
            <a:extLst>
              <a:ext uri="{FF2B5EF4-FFF2-40B4-BE49-F238E27FC236}">
                <a16:creationId xmlns:a16="http://schemas.microsoft.com/office/drawing/2014/main" id="{C395B1EB-4552-995F-7CB6-A56C407ED60F}"/>
              </a:ext>
            </a:extLst>
          </p:cNvPr>
          <p:cNvSpPr/>
          <p:nvPr/>
        </p:nvSpPr>
        <p:spPr bwMode="gray">
          <a:xfrm>
            <a:off x="530598" y="1615440"/>
            <a:ext cx="7719322" cy="4460240"/>
          </a:xfrm>
          <a:prstGeom prst="roundRect">
            <a:avLst>
              <a:gd name="adj" fmla="val 2075"/>
            </a:avLst>
          </a:prstGeom>
          <a:noFill/>
          <a:ln w="12700">
            <a:solidFill>
              <a:schemeClr val="bg2">
                <a:lumMod val="50000"/>
              </a:schemeClr>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800" dirty="0">
              <a:solidFill>
                <a:schemeClr val="bg1"/>
              </a:solidFill>
            </a:endParaRPr>
          </a:p>
        </p:txBody>
      </p:sp>
    </p:spTree>
    <p:extLst>
      <p:ext uri="{BB962C8B-B14F-4D97-AF65-F5344CB8AC3E}">
        <p14:creationId xmlns:p14="http://schemas.microsoft.com/office/powerpoint/2010/main" val="16660643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97911-274B-2BB5-BE1F-732170169119}"/>
            </a:ext>
          </a:extLst>
        </p:cNvPr>
        <p:cNvGrpSpPr/>
        <p:nvPr/>
      </p:nvGrpSpPr>
      <p:grpSpPr>
        <a:xfrm>
          <a:off x="0" y="0"/>
          <a:ext cx="0" cy="0"/>
          <a:chOff x="0" y="0"/>
          <a:chExt cx="0" cy="0"/>
        </a:xfrm>
      </p:grpSpPr>
      <p:sp>
        <p:nvSpPr>
          <p:cNvPr id="6" name="!!TOP">
            <a:extLst>
              <a:ext uri="{FF2B5EF4-FFF2-40B4-BE49-F238E27FC236}">
                <a16:creationId xmlns:a16="http://schemas.microsoft.com/office/drawing/2014/main" id="{A19C1A1D-1DC3-E0E8-D3A5-1EB1368A2F2C}"/>
              </a:ext>
            </a:extLst>
          </p:cNvPr>
          <p:cNvSpPr/>
          <p:nvPr/>
        </p:nvSpPr>
        <p:spPr>
          <a:xfrm flipV="1">
            <a:off x="608013" y="2057400"/>
            <a:ext cx="3657600" cy="4114800"/>
          </a:xfrm>
          <a:prstGeom prst="round2SameRect">
            <a:avLst>
              <a:gd name="adj1" fmla="val 4733"/>
              <a:gd name="adj2" fmla="val 0"/>
            </a:avLst>
          </a:prstGeom>
          <a:no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endParaRPr>
          </a:p>
        </p:txBody>
      </p:sp>
      <p:sp>
        <p:nvSpPr>
          <p:cNvPr id="4" name="Title 3">
            <a:extLst>
              <a:ext uri="{FF2B5EF4-FFF2-40B4-BE49-F238E27FC236}">
                <a16:creationId xmlns:a16="http://schemas.microsoft.com/office/drawing/2014/main" id="{FF50A902-4D98-30B2-99AF-77A802C3B2BA}"/>
              </a:ext>
            </a:extLst>
          </p:cNvPr>
          <p:cNvSpPr>
            <a:spLocks noGrp="1"/>
          </p:cNvSpPr>
          <p:nvPr>
            <p:ph type="title"/>
          </p:nvPr>
        </p:nvSpPr>
        <p:spPr>
          <a:xfrm>
            <a:off x="579809" y="412751"/>
            <a:ext cx="11001004" cy="381000"/>
          </a:xfrm>
        </p:spPr>
        <p:txBody>
          <a:bodyPr/>
          <a:lstStyle/>
          <a:p>
            <a:r>
              <a:rPr lang="en-US" dirty="0"/>
              <a:t>Independent Connectivity Options for Each Tier</a:t>
            </a:r>
          </a:p>
        </p:txBody>
      </p:sp>
      <p:sp>
        <p:nvSpPr>
          <p:cNvPr id="15" name="Subtitle 14">
            <a:extLst>
              <a:ext uri="{FF2B5EF4-FFF2-40B4-BE49-F238E27FC236}">
                <a16:creationId xmlns:a16="http://schemas.microsoft.com/office/drawing/2014/main" id="{CF814FC3-EDF2-3716-4EF2-864DA3BBD028}"/>
              </a:ext>
            </a:extLst>
          </p:cNvPr>
          <p:cNvSpPr>
            <a:spLocks noGrp="1"/>
          </p:cNvSpPr>
          <p:nvPr>
            <p:ph type="subTitle" idx="10"/>
          </p:nvPr>
        </p:nvSpPr>
        <p:spPr>
          <a:xfrm>
            <a:off x="592866" y="811830"/>
            <a:ext cx="10962687" cy="247743"/>
          </a:xfrm>
        </p:spPr>
        <p:txBody>
          <a:bodyPr/>
          <a:lstStyle/>
          <a:p>
            <a:r>
              <a:rPr lang="en-US" dirty="0"/>
              <a:t>Introducing the transit gateway and VPC gateway</a:t>
            </a:r>
          </a:p>
        </p:txBody>
      </p:sp>
      <p:sp>
        <p:nvSpPr>
          <p:cNvPr id="9" name="Rectangle 8">
            <a:extLst>
              <a:ext uri="{FF2B5EF4-FFF2-40B4-BE49-F238E27FC236}">
                <a16:creationId xmlns:a16="http://schemas.microsoft.com/office/drawing/2014/main" id="{6D1E887F-E1D4-FE48-A38A-A1865EEE05C8}"/>
              </a:ext>
            </a:extLst>
          </p:cNvPr>
          <p:cNvSpPr/>
          <p:nvPr/>
        </p:nvSpPr>
        <p:spPr>
          <a:xfrm>
            <a:off x="843540" y="3240157"/>
            <a:ext cx="3200400" cy="2830930"/>
          </a:xfrm>
          <a:prstGeom prst="rect">
            <a:avLst/>
          </a:prstGeom>
          <a:no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61A60E"/>
                </a:solidFill>
                <a:effectLst/>
                <a:uLnTx/>
                <a:uFillTx/>
                <a:latin typeface="Arial" panose="020B0604020202020204"/>
                <a:ea typeface="+mn-ea"/>
                <a:cs typeface="+mn-cs"/>
              </a:rPr>
              <a:t>Project</a:t>
            </a:r>
          </a:p>
        </p:txBody>
      </p:sp>
      <p:sp>
        <p:nvSpPr>
          <p:cNvPr id="10" name="Freeform 9">
            <a:extLst>
              <a:ext uri="{FF2B5EF4-FFF2-40B4-BE49-F238E27FC236}">
                <a16:creationId xmlns:a16="http://schemas.microsoft.com/office/drawing/2014/main" id="{501F2E83-2562-10B3-53B4-4044C06CE7A0}"/>
              </a:ext>
            </a:extLst>
          </p:cNvPr>
          <p:cNvSpPr>
            <a:spLocks noChangeAspect="1"/>
          </p:cNvSpPr>
          <p:nvPr/>
        </p:nvSpPr>
        <p:spPr>
          <a:xfrm>
            <a:off x="1392941" y="3299854"/>
            <a:ext cx="180033" cy="180000"/>
          </a:xfrm>
          <a:custGeom>
            <a:avLst/>
            <a:gdLst>
              <a:gd name="connsiteX0" fmla="*/ 228433 w 266747"/>
              <a:gd name="connsiteY0" fmla="*/ 213550 h 266700"/>
              <a:gd name="connsiteX1" fmla="*/ 213289 w 266747"/>
              <a:gd name="connsiteY1" fmla="*/ 228695 h 266700"/>
              <a:gd name="connsiteX2" fmla="*/ 228433 w 266747"/>
              <a:gd name="connsiteY2" fmla="*/ 243840 h 266700"/>
              <a:gd name="connsiteX3" fmla="*/ 243578 w 266747"/>
              <a:gd name="connsiteY3" fmla="*/ 228695 h 266700"/>
              <a:gd name="connsiteX4" fmla="*/ 133374 w 266747"/>
              <a:gd name="connsiteY4" fmla="*/ 213550 h 266700"/>
              <a:gd name="connsiteX5" fmla="*/ 118229 w 266747"/>
              <a:gd name="connsiteY5" fmla="*/ 228695 h 266700"/>
              <a:gd name="connsiteX6" fmla="*/ 133374 w 266747"/>
              <a:gd name="connsiteY6" fmla="*/ 243840 h 266700"/>
              <a:gd name="connsiteX7" fmla="*/ 148519 w 266747"/>
              <a:gd name="connsiteY7" fmla="*/ 228695 h 266700"/>
              <a:gd name="connsiteX8" fmla="*/ 38124 w 266747"/>
              <a:gd name="connsiteY8" fmla="*/ 213550 h 266700"/>
              <a:gd name="connsiteX9" fmla="*/ 22979 w 266747"/>
              <a:gd name="connsiteY9" fmla="*/ 228695 h 266700"/>
              <a:gd name="connsiteX10" fmla="*/ 38124 w 266747"/>
              <a:gd name="connsiteY10" fmla="*/ 243840 h 266700"/>
              <a:gd name="connsiteX11" fmla="*/ 53269 w 266747"/>
              <a:gd name="connsiteY11" fmla="*/ 228695 h 266700"/>
              <a:gd name="connsiteX12" fmla="*/ 123754 w 266747"/>
              <a:gd name="connsiteY12" fmla="*/ 76200 h 266700"/>
              <a:gd name="connsiteX13" fmla="*/ 142708 w 266747"/>
              <a:gd name="connsiteY13" fmla="*/ 76200 h 266700"/>
              <a:gd name="connsiteX14" fmla="*/ 142708 w 266747"/>
              <a:gd name="connsiteY14" fmla="*/ 152400 h 266700"/>
              <a:gd name="connsiteX15" fmla="*/ 228433 w 266747"/>
              <a:gd name="connsiteY15" fmla="*/ 152400 h 266700"/>
              <a:gd name="connsiteX16" fmla="*/ 237958 w 266747"/>
              <a:gd name="connsiteY16" fmla="*/ 161925 h 266700"/>
              <a:gd name="connsiteX17" fmla="*/ 237958 w 266747"/>
              <a:gd name="connsiteY17" fmla="*/ 196120 h 266700"/>
              <a:gd name="connsiteX18" fmla="*/ 263771 w 266747"/>
              <a:gd name="connsiteY18" fmla="*/ 221933 h 266700"/>
              <a:gd name="connsiteX19" fmla="*/ 263962 w 266747"/>
              <a:gd name="connsiteY19" fmla="*/ 221933 h 266700"/>
              <a:gd name="connsiteX20" fmla="*/ 263962 w 266747"/>
              <a:gd name="connsiteY20" fmla="*/ 235363 h 266700"/>
              <a:gd name="connsiteX21" fmla="*/ 235387 w 266747"/>
              <a:gd name="connsiteY21" fmla="*/ 263938 h 266700"/>
              <a:gd name="connsiteX22" fmla="*/ 228624 w 266747"/>
              <a:gd name="connsiteY22" fmla="*/ 266700 h 266700"/>
              <a:gd name="connsiteX23" fmla="*/ 221861 w 266747"/>
              <a:gd name="connsiteY23" fmla="*/ 263938 h 266700"/>
              <a:gd name="connsiteX24" fmla="*/ 193286 w 266747"/>
              <a:gd name="connsiteY24" fmla="*/ 235363 h 266700"/>
              <a:gd name="connsiteX25" fmla="*/ 193286 w 266747"/>
              <a:gd name="connsiteY25" fmla="*/ 221933 h 266700"/>
              <a:gd name="connsiteX26" fmla="*/ 219099 w 266747"/>
              <a:gd name="connsiteY26" fmla="*/ 196120 h 266700"/>
              <a:gd name="connsiteX27" fmla="*/ 219099 w 266747"/>
              <a:gd name="connsiteY27" fmla="*/ 171450 h 266700"/>
              <a:gd name="connsiteX28" fmla="*/ 142899 w 266747"/>
              <a:gd name="connsiteY28" fmla="*/ 171450 h 266700"/>
              <a:gd name="connsiteX29" fmla="*/ 142899 w 266747"/>
              <a:gd name="connsiteY29" fmla="*/ 195929 h 266700"/>
              <a:gd name="connsiteX30" fmla="*/ 168807 w 266747"/>
              <a:gd name="connsiteY30" fmla="*/ 221837 h 266700"/>
              <a:gd name="connsiteX31" fmla="*/ 168807 w 266747"/>
              <a:gd name="connsiteY31" fmla="*/ 235268 h 266700"/>
              <a:gd name="connsiteX32" fmla="*/ 140232 w 266747"/>
              <a:gd name="connsiteY32" fmla="*/ 263843 h 266700"/>
              <a:gd name="connsiteX33" fmla="*/ 133469 w 266747"/>
              <a:gd name="connsiteY33" fmla="*/ 266605 h 266700"/>
              <a:gd name="connsiteX34" fmla="*/ 126706 w 266747"/>
              <a:gd name="connsiteY34" fmla="*/ 263843 h 266700"/>
              <a:gd name="connsiteX35" fmla="*/ 98131 w 266747"/>
              <a:gd name="connsiteY35" fmla="*/ 235268 h 266700"/>
              <a:gd name="connsiteX36" fmla="*/ 98131 w 266747"/>
              <a:gd name="connsiteY36" fmla="*/ 221837 h 266700"/>
              <a:gd name="connsiteX37" fmla="*/ 123754 w 266747"/>
              <a:gd name="connsiteY37" fmla="*/ 196215 h 266700"/>
              <a:gd name="connsiteX38" fmla="*/ 123754 w 266747"/>
              <a:gd name="connsiteY38" fmla="*/ 171450 h 266700"/>
              <a:gd name="connsiteX39" fmla="*/ 47554 w 266747"/>
              <a:gd name="connsiteY39" fmla="*/ 171450 h 266700"/>
              <a:gd name="connsiteX40" fmla="*/ 47554 w 266747"/>
              <a:gd name="connsiteY40" fmla="*/ 195929 h 266700"/>
              <a:gd name="connsiteX41" fmla="*/ 73462 w 266747"/>
              <a:gd name="connsiteY41" fmla="*/ 221837 h 266700"/>
              <a:gd name="connsiteX42" fmla="*/ 73462 w 266747"/>
              <a:gd name="connsiteY42" fmla="*/ 235268 h 266700"/>
              <a:gd name="connsiteX43" fmla="*/ 44887 w 266747"/>
              <a:gd name="connsiteY43" fmla="*/ 263843 h 266700"/>
              <a:gd name="connsiteX44" fmla="*/ 38124 w 266747"/>
              <a:gd name="connsiteY44" fmla="*/ 266605 h 266700"/>
              <a:gd name="connsiteX45" fmla="*/ 31361 w 266747"/>
              <a:gd name="connsiteY45" fmla="*/ 263843 h 266700"/>
              <a:gd name="connsiteX46" fmla="*/ 2786 w 266747"/>
              <a:gd name="connsiteY46" fmla="*/ 235268 h 266700"/>
              <a:gd name="connsiteX47" fmla="*/ 2786 w 266747"/>
              <a:gd name="connsiteY47" fmla="*/ 221837 h 266700"/>
              <a:gd name="connsiteX48" fmla="*/ 28408 w 266747"/>
              <a:gd name="connsiteY48" fmla="*/ 196215 h 266700"/>
              <a:gd name="connsiteX49" fmla="*/ 28408 w 266747"/>
              <a:gd name="connsiteY49" fmla="*/ 161925 h 266700"/>
              <a:gd name="connsiteX50" fmla="*/ 37933 w 266747"/>
              <a:gd name="connsiteY50" fmla="*/ 152400 h 266700"/>
              <a:gd name="connsiteX51" fmla="*/ 123754 w 266747"/>
              <a:gd name="connsiteY51" fmla="*/ 152400 h 266700"/>
              <a:gd name="connsiteX52" fmla="*/ 133183 w 266747"/>
              <a:gd name="connsiteY52" fmla="*/ 0 h 266700"/>
              <a:gd name="connsiteX53" fmla="*/ 197668 w 266747"/>
              <a:gd name="connsiteY53" fmla="*/ 50006 h 266700"/>
              <a:gd name="connsiteX54" fmla="*/ 206621 w 266747"/>
              <a:gd name="connsiteY54" fmla="*/ 48958 h 266700"/>
              <a:gd name="connsiteX55" fmla="*/ 248817 w 266747"/>
              <a:gd name="connsiteY55" fmla="*/ 91154 h 266700"/>
              <a:gd name="connsiteX56" fmla="*/ 206621 w 266747"/>
              <a:gd name="connsiteY56" fmla="*/ 133350 h 266700"/>
              <a:gd name="connsiteX57" fmla="*/ 161854 w 266747"/>
              <a:gd name="connsiteY57" fmla="*/ 133350 h 266700"/>
              <a:gd name="connsiteX58" fmla="*/ 161854 w 266747"/>
              <a:gd name="connsiteY58" fmla="*/ 114300 h 266700"/>
              <a:gd name="connsiteX59" fmla="*/ 206621 w 266747"/>
              <a:gd name="connsiteY59" fmla="*/ 114300 h 266700"/>
              <a:gd name="connsiteX60" fmla="*/ 229767 w 266747"/>
              <a:gd name="connsiteY60" fmla="*/ 91154 h 266700"/>
              <a:gd name="connsiteX61" fmla="*/ 206621 w 266747"/>
              <a:gd name="connsiteY61" fmla="*/ 68008 h 266700"/>
              <a:gd name="connsiteX62" fmla="*/ 195001 w 266747"/>
              <a:gd name="connsiteY62" fmla="*/ 71342 h 266700"/>
              <a:gd name="connsiteX63" fmla="*/ 185666 w 266747"/>
              <a:gd name="connsiteY63" fmla="*/ 71533 h 266700"/>
              <a:gd name="connsiteX64" fmla="*/ 180618 w 266747"/>
              <a:gd name="connsiteY64" fmla="*/ 63722 h 266700"/>
              <a:gd name="connsiteX65" fmla="*/ 133183 w 266747"/>
              <a:gd name="connsiteY65" fmla="*/ 19050 h 266700"/>
              <a:gd name="connsiteX66" fmla="*/ 89273 w 266747"/>
              <a:gd name="connsiteY66" fmla="*/ 48101 h 266700"/>
              <a:gd name="connsiteX67" fmla="*/ 77557 w 266747"/>
              <a:gd name="connsiteY67" fmla="*/ 53435 h 266700"/>
              <a:gd name="connsiteX68" fmla="*/ 67842 w 266747"/>
              <a:gd name="connsiteY68" fmla="*/ 51721 h 266700"/>
              <a:gd name="connsiteX69" fmla="*/ 36505 w 266747"/>
              <a:gd name="connsiteY69" fmla="*/ 83058 h 266700"/>
              <a:gd name="connsiteX70" fmla="*/ 67842 w 266747"/>
              <a:gd name="connsiteY70" fmla="*/ 114395 h 266700"/>
              <a:gd name="connsiteX71" fmla="*/ 104704 w 266747"/>
              <a:gd name="connsiteY71" fmla="*/ 114395 h 266700"/>
              <a:gd name="connsiteX72" fmla="*/ 104704 w 266747"/>
              <a:gd name="connsiteY72" fmla="*/ 133445 h 266700"/>
              <a:gd name="connsiteX73" fmla="*/ 67937 w 266747"/>
              <a:gd name="connsiteY73" fmla="*/ 133445 h 266700"/>
              <a:gd name="connsiteX74" fmla="*/ 17550 w 266747"/>
              <a:gd name="connsiteY74" fmla="*/ 83058 h 266700"/>
              <a:gd name="connsiteX75" fmla="*/ 67937 w 266747"/>
              <a:gd name="connsiteY75" fmla="*/ 32671 h 266700"/>
              <a:gd name="connsiteX76" fmla="*/ 75462 w 266747"/>
              <a:gd name="connsiteY76" fmla="*/ 33338 h 266700"/>
              <a:gd name="connsiteX77" fmla="*/ 133183 w 266747"/>
              <a:gd name="connsiteY77"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266747" h="266700">
                <a:moveTo>
                  <a:pt x="228433" y="213550"/>
                </a:moveTo>
                <a:lnTo>
                  <a:pt x="213289" y="228695"/>
                </a:lnTo>
                <a:lnTo>
                  <a:pt x="228433" y="243840"/>
                </a:lnTo>
                <a:lnTo>
                  <a:pt x="243578" y="228695"/>
                </a:lnTo>
                <a:close/>
                <a:moveTo>
                  <a:pt x="133374" y="213550"/>
                </a:moveTo>
                <a:lnTo>
                  <a:pt x="118229" y="228695"/>
                </a:lnTo>
                <a:lnTo>
                  <a:pt x="133374" y="243840"/>
                </a:lnTo>
                <a:lnTo>
                  <a:pt x="148519" y="228695"/>
                </a:lnTo>
                <a:close/>
                <a:moveTo>
                  <a:pt x="38124" y="213550"/>
                </a:moveTo>
                <a:lnTo>
                  <a:pt x="22979" y="228695"/>
                </a:lnTo>
                <a:lnTo>
                  <a:pt x="38124" y="243840"/>
                </a:lnTo>
                <a:lnTo>
                  <a:pt x="53269" y="228695"/>
                </a:lnTo>
                <a:close/>
                <a:moveTo>
                  <a:pt x="123754" y="76200"/>
                </a:moveTo>
                <a:lnTo>
                  <a:pt x="142708" y="76200"/>
                </a:lnTo>
                <a:lnTo>
                  <a:pt x="142708" y="152400"/>
                </a:lnTo>
                <a:lnTo>
                  <a:pt x="228433" y="152400"/>
                </a:lnTo>
                <a:cubicBezTo>
                  <a:pt x="233672" y="152400"/>
                  <a:pt x="237958" y="156686"/>
                  <a:pt x="237958" y="161925"/>
                </a:cubicBezTo>
                <a:lnTo>
                  <a:pt x="237958" y="196120"/>
                </a:lnTo>
                <a:lnTo>
                  <a:pt x="263771" y="221933"/>
                </a:lnTo>
                <a:lnTo>
                  <a:pt x="263962" y="221933"/>
                </a:lnTo>
                <a:cubicBezTo>
                  <a:pt x="267676" y="225647"/>
                  <a:pt x="267676" y="231648"/>
                  <a:pt x="263962" y="235363"/>
                </a:cubicBezTo>
                <a:lnTo>
                  <a:pt x="235387" y="263938"/>
                </a:lnTo>
                <a:cubicBezTo>
                  <a:pt x="233482" y="265748"/>
                  <a:pt x="231100" y="266700"/>
                  <a:pt x="228624" y="266700"/>
                </a:cubicBezTo>
                <a:cubicBezTo>
                  <a:pt x="226147" y="266700"/>
                  <a:pt x="223766" y="265843"/>
                  <a:pt x="221861" y="263938"/>
                </a:cubicBezTo>
                <a:lnTo>
                  <a:pt x="193286" y="235363"/>
                </a:lnTo>
                <a:cubicBezTo>
                  <a:pt x="189571" y="231648"/>
                  <a:pt x="189571" y="225647"/>
                  <a:pt x="193286" y="221933"/>
                </a:cubicBezTo>
                <a:lnTo>
                  <a:pt x="219099" y="196120"/>
                </a:lnTo>
                <a:lnTo>
                  <a:pt x="219099" y="171450"/>
                </a:lnTo>
                <a:lnTo>
                  <a:pt x="142899" y="171450"/>
                </a:lnTo>
                <a:lnTo>
                  <a:pt x="142899" y="195929"/>
                </a:lnTo>
                <a:lnTo>
                  <a:pt x="168807" y="221837"/>
                </a:lnTo>
                <a:cubicBezTo>
                  <a:pt x="172522" y="225552"/>
                  <a:pt x="172522" y="231553"/>
                  <a:pt x="168807" y="235268"/>
                </a:cubicBezTo>
                <a:lnTo>
                  <a:pt x="140232" y="263843"/>
                </a:lnTo>
                <a:cubicBezTo>
                  <a:pt x="138327" y="265652"/>
                  <a:pt x="135946" y="266605"/>
                  <a:pt x="133469" y="266605"/>
                </a:cubicBezTo>
                <a:cubicBezTo>
                  <a:pt x="130993" y="266605"/>
                  <a:pt x="128611" y="265748"/>
                  <a:pt x="126706" y="263843"/>
                </a:cubicBezTo>
                <a:lnTo>
                  <a:pt x="98131" y="235268"/>
                </a:lnTo>
                <a:cubicBezTo>
                  <a:pt x="94417" y="231553"/>
                  <a:pt x="94417" y="225552"/>
                  <a:pt x="98131" y="221837"/>
                </a:cubicBezTo>
                <a:lnTo>
                  <a:pt x="123754" y="196215"/>
                </a:lnTo>
                <a:lnTo>
                  <a:pt x="123754" y="171450"/>
                </a:lnTo>
                <a:lnTo>
                  <a:pt x="47554" y="171450"/>
                </a:lnTo>
                <a:lnTo>
                  <a:pt x="47554" y="195929"/>
                </a:lnTo>
                <a:lnTo>
                  <a:pt x="73462" y="221837"/>
                </a:lnTo>
                <a:cubicBezTo>
                  <a:pt x="77176" y="225552"/>
                  <a:pt x="77176" y="231553"/>
                  <a:pt x="73462" y="235268"/>
                </a:cubicBezTo>
                <a:lnTo>
                  <a:pt x="44887" y="263843"/>
                </a:lnTo>
                <a:cubicBezTo>
                  <a:pt x="42982" y="265652"/>
                  <a:pt x="40600" y="266605"/>
                  <a:pt x="38124" y="266605"/>
                </a:cubicBezTo>
                <a:cubicBezTo>
                  <a:pt x="35647" y="266605"/>
                  <a:pt x="33266" y="265748"/>
                  <a:pt x="31361" y="263843"/>
                </a:cubicBezTo>
                <a:lnTo>
                  <a:pt x="2786" y="235268"/>
                </a:lnTo>
                <a:cubicBezTo>
                  <a:pt x="-929" y="231553"/>
                  <a:pt x="-929" y="225552"/>
                  <a:pt x="2786" y="221837"/>
                </a:cubicBezTo>
                <a:lnTo>
                  <a:pt x="28408" y="196215"/>
                </a:lnTo>
                <a:lnTo>
                  <a:pt x="28408" y="161925"/>
                </a:lnTo>
                <a:cubicBezTo>
                  <a:pt x="28408" y="156686"/>
                  <a:pt x="32695" y="152400"/>
                  <a:pt x="37933" y="152400"/>
                </a:cubicBezTo>
                <a:lnTo>
                  <a:pt x="123754" y="152400"/>
                </a:lnTo>
                <a:close/>
                <a:moveTo>
                  <a:pt x="133183" y="0"/>
                </a:moveTo>
                <a:cubicBezTo>
                  <a:pt x="163949" y="0"/>
                  <a:pt x="190238" y="21145"/>
                  <a:pt x="197668" y="50006"/>
                </a:cubicBezTo>
                <a:cubicBezTo>
                  <a:pt x="200621" y="49340"/>
                  <a:pt x="203573" y="48958"/>
                  <a:pt x="206621" y="48958"/>
                </a:cubicBezTo>
                <a:cubicBezTo>
                  <a:pt x="229862" y="48958"/>
                  <a:pt x="248817" y="67913"/>
                  <a:pt x="248817" y="91154"/>
                </a:cubicBezTo>
                <a:cubicBezTo>
                  <a:pt x="248817" y="114395"/>
                  <a:pt x="229862" y="133350"/>
                  <a:pt x="206621" y="133350"/>
                </a:cubicBezTo>
                <a:lnTo>
                  <a:pt x="161854" y="133350"/>
                </a:lnTo>
                <a:lnTo>
                  <a:pt x="161854" y="114300"/>
                </a:lnTo>
                <a:lnTo>
                  <a:pt x="206621" y="114300"/>
                </a:lnTo>
                <a:cubicBezTo>
                  <a:pt x="219385" y="114300"/>
                  <a:pt x="229767" y="103918"/>
                  <a:pt x="229767" y="91154"/>
                </a:cubicBezTo>
                <a:cubicBezTo>
                  <a:pt x="229767" y="78391"/>
                  <a:pt x="219385" y="68008"/>
                  <a:pt x="206621" y="68008"/>
                </a:cubicBezTo>
                <a:cubicBezTo>
                  <a:pt x="202621" y="68008"/>
                  <a:pt x="198716" y="69152"/>
                  <a:pt x="195001" y="71342"/>
                </a:cubicBezTo>
                <a:cubicBezTo>
                  <a:pt x="192143" y="72962"/>
                  <a:pt x="188619" y="73057"/>
                  <a:pt x="185666" y="71533"/>
                </a:cubicBezTo>
                <a:cubicBezTo>
                  <a:pt x="182714" y="70009"/>
                  <a:pt x="180809" y="67056"/>
                  <a:pt x="180618" y="63722"/>
                </a:cubicBezTo>
                <a:cubicBezTo>
                  <a:pt x="179094" y="38671"/>
                  <a:pt x="158234" y="19050"/>
                  <a:pt x="133183" y="19050"/>
                </a:cubicBezTo>
                <a:cubicBezTo>
                  <a:pt x="113943" y="19050"/>
                  <a:pt x="96798" y="30480"/>
                  <a:pt x="89273" y="48101"/>
                </a:cubicBezTo>
                <a:cubicBezTo>
                  <a:pt x="87368" y="52673"/>
                  <a:pt x="82225" y="54959"/>
                  <a:pt x="77557" y="53435"/>
                </a:cubicBezTo>
                <a:cubicBezTo>
                  <a:pt x="74033" y="52292"/>
                  <a:pt x="70795" y="51721"/>
                  <a:pt x="67842" y="51721"/>
                </a:cubicBezTo>
                <a:cubicBezTo>
                  <a:pt x="50506" y="51721"/>
                  <a:pt x="36505" y="65723"/>
                  <a:pt x="36505" y="83058"/>
                </a:cubicBezTo>
                <a:cubicBezTo>
                  <a:pt x="36505" y="100394"/>
                  <a:pt x="50602" y="114395"/>
                  <a:pt x="67842" y="114395"/>
                </a:cubicBezTo>
                <a:lnTo>
                  <a:pt x="104704" y="114395"/>
                </a:lnTo>
                <a:lnTo>
                  <a:pt x="104704" y="133445"/>
                </a:lnTo>
                <a:lnTo>
                  <a:pt x="67937" y="133445"/>
                </a:lnTo>
                <a:cubicBezTo>
                  <a:pt x="40124" y="133445"/>
                  <a:pt x="17550" y="110871"/>
                  <a:pt x="17550" y="83058"/>
                </a:cubicBezTo>
                <a:cubicBezTo>
                  <a:pt x="17550" y="55245"/>
                  <a:pt x="40219" y="32671"/>
                  <a:pt x="67937" y="32671"/>
                </a:cubicBezTo>
                <a:cubicBezTo>
                  <a:pt x="70414" y="32671"/>
                  <a:pt x="72890" y="32861"/>
                  <a:pt x="75462" y="33338"/>
                </a:cubicBezTo>
                <a:cubicBezTo>
                  <a:pt x="87273" y="12859"/>
                  <a:pt x="109085" y="0"/>
                  <a:pt x="133183" y="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 name="!!TGW">
            <a:extLst>
              <a:ext uri="{FF2B5EF4-FFF2-40B4-BE49-F238E27FC236}">
                <a16:creationId xmlns:a16="http://schemas.microsoft.com/office/drawing/2014/main" id="{06DF11D4-2F0F-3CE2-10EC-2A44CD35DC0B}"/>
              </a:ext>
            </a:extLst>
          </p:cNvPr>
          <p:cNvSpPr txBox="1">
            <a:spLocks noChangeAspect="1"/>
          </p:cNvSpPr>
          <p:nvPr/>
        </p:nvSpPr>
        <p:spPr>
          <a:xfrm>
            <a:off x="2173121" y="3420518"/>
            <a:ext cx="541238" cy="540000"/>
          </a:xfrm>
          <a:custGeom>
            <a:avLst/>
            <a:gdLst/>
            <a:ahLst/>
            <a:cxnLst/>
            <a:rect l="l" t="t" r="r" b="b"/>
            <a:pathLst>
              <a:path w="1139359" h="1139359">
                <a:moveTo>
                  <a:pt x="517596" y="524233"/>
                </a:moveTo>
                <a:lnTo>
                  <a:pt x="620278" y="524233"/>
                </a:lnTo>
                <a:lnTo>
                  <a:pt x="620278" y="539520"/>
                </a:lnTo>
                <a:lnTo>
                  <a:pt x="577421" y="539520"/>
                </a:lnTo>
                <a:lnTo>
                  <a:pt x="577421" y="653778"/>
                </a:lnTo>
                <a:lnTo>
                  <a:pt x="560277" y="653778"/>
                </a:lnTo>
                <a:lnTo>
                  <a:pt x="560277" y="539520"/>
                </a:lnTo>
                <a:lnTo>
                  <a:pt x="517596" y="539520"/>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4"/>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p:txBody>
      </p:sp>
      <p:sp>
        <p:nvSpPr>
          <p:cNvPr id="33" name="!!TG">
            <a:extLst>
              <a:ext uri="{FF2B5EF4-FFF2-40B4-BE49-F238E27FC236}">
                <a16:creationId xmlns:a16="http://schemas.microsoft.com/office/drawing/2014/main" id="{501CE481-F08E-6E30-4339-CF94304223CF}"/>
              </a:ext>
            </a:extLst>
          </p:cNvPr>
          <p:cNvSpPr txBox="1"/>
          <p:nvPr/>
        </p:nvSpPr>
        <p:spPr>
          <a:xfrm>
            <a:off x="1653343" y="3521742"/>
            <a:ext cx="974052"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1A60E"/>
                </a:solidFill>
                <a:effectLst/>
                <a:uLnTx/>
                <a:uFillTx/>
                <a:latin typeface="Arial" panose="020B0604020202020204"/>
                <a:ea typeface="+mn-ea"/>
                <a:cs typeface="+mn-cs"/>
              </a:rPr>
              <a:t>Transit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1A60E"/>
                </a:solidFill>
                <a:effectLst/>
                <a:uLnTx/>
                <a:uFillTx/>
                <a:latin typeface="Arial" panose="020B0604020202020204"/>
                <a:ea typeface="+mn-ea"/>
                <a:cs typeface="+mn-cs"/>
              </a:rPr>
              <a:t>Gateway</a:t>
            </a:r>
          </a:p>
        </p:txBody>
      </p:sp>
      <p:cxnSp>
        <p:nvCxnSpPr>
          <p:cNvPr id="93" name="Straight Connector 92">
            <a:extLst>
              <a:ext uri="{FF2B5EF4-FFF2-40B4-BE49-F238E27FC236}">
                <a16:creationId xmlns:a16="http://schemas.microsoft.com/office/drawing/2014/main" id="{94718B5B-930A-808F-CA97-41480855D8DC}"/>
              </a:ext>
            </a:extLst>
          </p:cNvPr>
          <p:cNvCxnSpPr>
            <a:cxnSpLocks/>
          </p:cNvCxnSpPr>
          <p:nvPr/>
        </p:nvCxnSpPr>
        <p:spPr bwMode="gray">
          <a:xfrm>
            <a:off x="2457061" y="5487426"/>
            <a:ext cx="552029"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4" name="Freeform 93">
            <a:extLst>
              <a:ext uri="{FF2B5EF4-FFF2-40B4-BE49-F238E27FC236}">
                <a16:creationId xmlns:a16="http://schemas.microsoft.com/office/drawing/2014/main" id="{5105B420-F9F7-8481-F6C7-2CD9041E5A89}"/>
              </a:ext>
            </a:extLst>
          </p:cNvPr>
          <p:cNvSpPr>
            <a:spLocks noChangeAspect="1"/>
          </p:cNvSpPr>
          <p:nvPr/>
        </p:nvSpPr>
        <p:spPr>
          <a:xfrm>
            <a:off x="2249649" y="5400573"/>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5" name="TextBox 94">
            <a:extLst>
              <a:ext uri="{FF2B5EF4-FFF2-40B4-BE49-F238E27FC236}">
                <a16:creationId xmlns:a16="http://schemas.microsoft.com/office/drawing/2014/main" id="{7C5042DE-90B0-84B0-0BEF-99F159790FF1}"/>
              </a:ext>
            </a:extLst>
          </p:cNvPr>
          <p:cNvSpPr txBox="1"/>
          <p:nvPr/>
        </p:nvSpPr>
        <p:spPr>
          <a:xfrm>
            <a:off x="2539484" y="5479001"/>
            <a:ext cx="546427" cy="179216"/>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30A0"/>
                </a:solidFill>
                <a:effectLst/>
                <a:uLnTx/>
                <a:uFillTx/>
                <a:latin typeface="Arial" panose="020B0604020202020204"/>
                <a:ea typeface="+mn-ea"/>
                <a:cs typeface="+mn-cs"/>
              </a:rPr>
              <a:t>subnet</a:t>
            </a:r>
          </a:p>
        </p:txBody>
      </p:sp>
      <p:cxnSp>
        <p:nvCxnSpPr>
          <p:cNvPr id="111" name="Straight Connector 110">
            <a:extLst>
              <a:ext uri="{FF2B5EF4-FFF2-40B4-BE49-F238E27FC236}">
                <a16:creationId xmlns:a16="http://schemas.microsoft.com/office/drawing/2014/main" id="{F29904E5-2192-62D6-35B0-9027DC2CF9A6}"/>
              </a:ext>
            </a:extLst>
          </p:cNvPr>
          <p:cNvCxnSpPr>
            <a:cxnSpLocks/>
          </p:cNvCxnSpPr>
          <p:nvPr/>
        </p:nvCxnSpPr>
        <p:spPr bwMode="gray">
          <a:xfrm>
            <a:off x="2973493" y="5693659"/>
            <a:ext cx="588329"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2" name="Freeform 111">
            <a:extLst>
              <a:ext uri="{FF2B5EF4-FFF2-40B4-BE49-F238E27FC236}">
                <a16:creationId xmlns:a16="http://schemas.microsoft.com/office/drawing/2014/main" id="{7065427A-8AAF-5B24-0607-6107F659F176}"/>
              </a:ext>
            </a:extLst>
          </p:cNvPr>
          <p:cNvSpPr>
            <a:spLocks noChangeAspect="1"/>
          </p:cNvSpPr>
          <p:nvPr/>
        </p:nvSpPr>
        <p:spPr>
          <a:xfrm>
            <a:off x="3581165" y="5610291"/>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3" name="TextBox 112">
            <a:extLst>
              <a:ext uri="{FF2B5EF4-FFF2-40B4-BE49-F238E27FC236}">
                <a16:creationId xmlns:a16="http://schemas.microsoft.com/office/drawing/2014/main" id="{490522B4-D50B-8DBE-9DB9-E6E4170BDC30}"/>
              </a:ext>
            </a:extLst>
          </p:cNvPr>
          <p:cNvSpPr txBox="1"/>
          <p:nvPr/>
        </p:nvSpPr>
        <p:spPr>
          <a:xfrm>
            <a:off x="3101221" y="5685235"/>
            <a:ext cx="546427" cy="179216"/>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30A0"/>
                </a:solidFill>
                <a:effectLst/>
                <a:uLnTx/>
                <a:uFillTx/>
                <a:latin typeface="Arial" panose="020B0604020202020204"/>
                <a:ea typeface="+mn-ea"/>
                <a:cs typeface="+mn-cs"/>
              </a:rPr>
              <a:t>subnet</a:t>
            </a:r>
          </a:p>
        </p:txBody>
      </p:sp>
      <p:grpSp>
        <p:nvGrpSpPr>
          <p:cNvPr id="116" name="VMs">
            <a:extLst>
              <a:ext uri="{FF2B5EF4-FFF2-40B4-BE49-F238E27FC236}">
                <a16:creationId xmlns:a16="http://schemas.microsoft.com/office/drawing/2014/main" id="{667AA490-D96D-D9D3-73B7-E4727B31F81B}"/>
              </a:ext>
            </a:extLst>
          </p:cNvPr>
          <p:cNvGrpSpPr/>
          <p:nvPr/>
        </p:nvGrpSpPr>
        <p:grpSpPr>
          <a:xfrm>
            <a:off x="2600085" y="5078167"/>
            <a:ext cx="884393" cy="609197"/>
            <a:chOff x="2600085" y="5078167"/>
            <a:chExt cx="884393" cy="609197"/>
          </a:xfrm>
        </p:grpSpPr>
        <p:grpSp>
          <p:nvGrpSpPr>
            <p:cNvPr id="100" name="Google Shape;3733;p22">
              <a:extLst>
                <a:ext uri="{FF2B5EF4-FFF2-40B4-BE49-F238E27FC236}">
                  <a16:creationId xmlns:a16="http://schemas.microsoft.com/office/drawing/2014/main" id="{47F26FE3-BED4-2CD0-047D-92E3D1CCFA41}"/>
                </a:ext>
              </a:extLst>
            </p:cNvPr>
            <p:cNvGrpSpPr/>
            <p:nvPr/>
          </p:nvGrpSpPr>
          <p:grpSpPr>
            <a:xfrm>
              <a:off x="2600085" y="5078167"/>
              <a:ext cx="269469" cy="269658"/>
              <a:chOff x="658852" y="4954224"/>
              <a:chExt cx="583799" cy="584209"/>
            </a:xfrm>
          </p:grpSpPr>
          <p:sp>
            <p:nvSpPr>
              <p:cNvPr id="101" name="Google Shape;3734;p22">
                <a:extLst>
                  <a:ext uri="{FF2B5EF4-FFF2-40B4-BE49-F238E27FC236}">
                    <a16:creationId xmlns:a16="http://schemas.microsoft.com/office/drawing/2014/main" id="{9E89B5E8-5D6B-83F7-4D06-BF4454F62A42}"/>
                  </a:ext>
                </a:extLst>
              </p:cNvPr>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102" name="Google Shape;3735;p22">
                <a:extLst>
                  <a:ext uri="{FF2B5EF4-FFF2-40B4-BE49-F238E27FC236}">
                    <a16:creationId xmlns:a16="http://schemas.microsoft.com/office/drawing/2014/main" id="{4072778F-82D1-2088-CBA8-5146B3A8F1FD}"/>
                  </a:ext>
                </a:extLst>
              </p:cNvPr>
              <p:cNvGrpSpPr/>
              <p:nvPr/>
            </p:nvGrpSpPr>
            <p:grpSpPr>
              <a:xfrm>
                <a:off x="834156" y="5211637"/>
                <a:ext cx="216359" cy="78004"/>
                <a:chOff x="834156" y="5211637"/>
                <a:chExt cx="216359" cy="78004"/>
              </a:xfrm>
            </p:grpSpPr>
            <p:sp>
              <p:nvSpPr>
                <p:cNvPr id="103" name="Google Shape;3736;p22">
                  <a:extLst>
                    <a:ext uri="{FF2B5EF4-FFF2-40B4-BE49-F238E27FC236}">
                      <a16:creationId xmlns:a16="http://schemas.microsoft.com/office/drawing/2014/main" id="{36DB0873-7D6D-24DA-B907-E112C2EE65B1}"/>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104" name="Google Shape;3737;p22">
                  <a:extLst>
                    <a:ext uri="{FF2B5EF4-FFF2-40B4-BE49-F238E27FC236}">
                      <a16:creationId xmlns:a16="http://schemas.microsoft.com/office/drawing/2014/main" id="{91408C80-9B80-66E4-8621-585503DD2F62}"/>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105" name="Straight Connector 104">
              <a:extLst>
                <a:ext uri="{FF2B5EF4-FFF2-40B4-BE49-F238E27FC236}">
                  <a16:creationId xmlns:a16="http://schemas.microsoft.com/office/drawing/2014/main" id="{E25DE18F-7949-0F90-AF81-E86C290D66BF}"/>
                </a:ext>
              </a:extLst>
            </p:cNvPr>
            <p:cNvCxnSpPr>
              <a:cxnSpLocks/>
            </p:cNvCxnSpPr>
            <p:nvPr/>
          </p:nvCxnSpPr>
          <p:spPr bwMode="gray">
            <a:xfrm>
              <a:off x="2734820" y="5342205"/>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nvGrpSpPr>
            <p:cNvPr id="51" name="Google Shape;3733;p22">
              <a:extLst>
                <a:ext uri="{FF2B5EF4-FFF2-40B4-BE49-F238E27FC236}">
                  <a16:creationId xmlns:a16="http://schemas.microsoft.com/office/drawing/2014/main" id="{C00A54E7-CE05-85D6-7683-A90F190C9530}"/>
                </a:ext>
              </a:extLst>
            </p:cNvPr>
            <p:cNvGrpSpPr/>
            <p:nvPr/>
          </p:nvGrpSpPr>
          <p:grpSpPr>
            <a:xfrm>
              <a:off x="3215009" y="5293790"/>
              <a:ext cx="269469" cy="269658"/>
              <a:chOff x="658852" y="4954224"/>
              <a:chExt cx="583799" cy="584209"/>
            </a:xfrm>
          </p:grpSpPr>
          <p:sp>
            <p:nvSpPr>
              <p:cNvPr id="52" name="Google Shape;3734;p22">
                <a:extLst>
                  <a:ext uri="{FF2B5EF4-FFF2-40B4-BE49-F238E27FC236}">
                    <a16:creationId xmlns:a16="http://schemas.microsoft.com/office/drawing/2014/main" id="{B71FD0B5-5C90-7DB6-5EF3-F750341CB33F}"/>
                  </a:ext>
                </a:extLst>
              </p:cNvPr>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53" name="Google Shape;3735;p22">
                <a:extLst>
                  <a:ext uri="{FF2B5EF4-FFF2-40B4-BE49-F238E27FC236}">
                    <a16:creationId xmlns:a16="http://schemas.microsoft.com/office/drawing/2014/main" id="{736FA9E7-FC2F-A2DB-C739-BC04F882A9F0}"/>
                  </a:ext>
                </a:extLst>
              </p:cNvPr>
              <p:cNvGrpSpPr/>
              <p:nvPr/>
            </p:nvGrpSpPr>
            <p:grpSpPr>
              <a:xfrm>
                <a:off x="834156" y="5211637"/>
                <a:ext cx="216359" cy="78004"/>
                <a:chOff x="834156" y="5211637"/>
                <a:chExt cx="216359" cy="78004"/>
              </a:xfrm>
            </p:grpSpPr>
            <p:sp>
              <p:nvSpPr>
                <p:cNvPr id="54" name="Google Shape;3736;p22">
                  <a:extLst>
                    <a:ext uri="{FF2B5EF4-FFF2-40B4-BE49-F238E27FC236}">
                      <a16:creationId xmlns:a16="http://schemas.microsoft.com/office/drawing/2014/main" id="{36C859E4-4AE9-7C78-4FAB-6DF7019630ED}"/>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56" name="Google Shape;3737;p22">
                  <a:extLst>
                    <a:ext uri="{FF2B5EF4-FFF2-40B4-BE49-F238E27FC236}">
                      <a16:creationId xmlns:a16="http://schemas.microsoft.com/office/drawing/2014/main" id="{54AB5016-887F-EEC5-59B4-06B8006DC22D}"/>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57" name="Straight Connector 56">
              <a:extLst>
                <a:ext uri="{FF2B5EF4-FFF2-40B4-BE49-F238E27FC236}">
                  <a16:creationId xmlns:a16="http://schemas.microsoft.com/office/drawing/2014/main" id="{51EB7E08-3C76-96B4-284D-E14442FBAE10}"/>
                </a:ext>
              </a:extLst>
            </p:cNvPr>
            <p:cNvCxnSpPr>
              <a:cxnSpLocks/>
            </p:cNvCxnSpPr>
            <p:nvPr/>
          </p:nvCxnSpPr>
          <p:spPr bwMode="gray">
            <a:xfrm>
              <a:off x="3349744" y="5557828"/>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pic>
        <p:nvPicPr>
          <p:cNvPr id="92" name="Graphic 91">
            <a:extLst>
              <a:ext uri="{FF2B5EF4-FFF2-40B4-BE49-F238E27FC236}">
                <a16:creationId xmlns:a16="http://schemas.microsoft.com/office/drawing/2014/main" id="{6F81DB4E-76AB-B104-BBBD-9F368FCD748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29107" y="4260591"/>
            <a:ext cx="180000" cy="180000"/>
          </a:xfrm>
          <a:prstGeom prst="rect">
            <a:avLst/>
          </a:prstGeom>
        </p:spPr>
      </p:pic>
      <p:sp>
        <p:nvSpPr>
          <p:cNvPr id="11" name="Rectangle 10">
            <a:extLst>
              <a:ext uri="{FF2B5EF4-FFF2-40B4-BE49-F238E27FC236}">
                <a16:creationId xmlns:a16="http://schemas.microsoft.com/office/drawing/2014/main" id="{E8802E63-6738-7311-BC6F-E502F25034BB}"/>
              </a:ext>
            </a:extLst>
          </p:cNvPr>
          <p:cNvSpPr/>
          <p:nvPr/>
        </p:nvSpPr>
        <p:spPr>
          <a:xfrm>
            <a:off x="1076527" y="4231532"/>
            <a:ext cx="875489" cy="1744986"/>
          </a:xfrm>
          <a:prstGeom prst="rect">
            <a:avLst/>
          </a:prstGeom>
          <a:no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7030A0"/>
                </a:solidFill>
                <a:effectLst/>
                <a:uLnTx/>
                <a:uFillTx/>
                <a:latin typeface="Arial" panose="020B0604020202020204"/>
                <a:ea typeface="+mn-ea"/>
                <a:cs typeface="+mn-cs"/>
              </a:rPr>
              <a:t>VPC</a:t>
            </a:r>
          </a:p>
        </p:txBody>
      </p:sp>
      <p:pic>
        <p:nvPicPr>
          <p:cNvPr id="12" name="Graphic 11">
            <a:extLst>
              <a:ext uri="{FF2B5EF4-FFF2-40B4-BE49-F238E27FC236}">
                <a16:creationId xmlns:a16="http://schemas.microsoft.com/office/drawing/2014/main" id="{CD472D9A-2CFE-1907-563E-6D60F076F84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36100" y="4259796"/>
            <a:ext cx="180000" cy="180000"/>
          </a:xfrm>
          <a:prstGeom prst="rect">
            <a:avLst/>
          </a:prstGeom>
        </p:spPr>
      </p:pic>
      <p:sp>
        <p:nvSpPr>
          <p:cNvPr id="91" name="Rectangle 90">
            <a:extLst>
              <a:ext uri="{FF2B5EF4-FFF2-40B4-BE49-F238E27FC236}">
                <a16:creationId xmlns:a16="http://schemas.microsoft.com/office/drawing/2014/main" id="{4E78DE1C-3F43-ED54-2FB8-E0A47CB69304}"/>
              </a:ext>
            </a:extLst>
          </p:cNvPr>
          <p:cNvSpPr/>
          <p:nvPr/>
        </p:nvSpPr>
        <p:spPr>
          <a:xfrm>
            <a:off x="2166026" y="4231532"/>
            <a:ext cx="1679642" cy="1744986"/>
          </a:xfrm>
          <a:prstGeom prst="rect">
            <a:avLst/>
          </a:prstGeom>
          <a:no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7030A0"/>
                </a:solidFill>
                <a:effectLst/>
                <a:uLnTx/>
                <a:uFillTx/>
                <a:latin typeface="Arial" panose="020B0604020202020204"/>
                <a:ea typeface="+mn-ea"/>
                <a:cs typeface="+mn-cs"/>
              </a:rPr>
              <a:t>VPC</a:t>
            </a:r>
          </a:p>
        </p:txBody>
      </p:sp>
      <p:grpSp>
        <p:nvGrpSpPr>
          <p:cNvPr id="43" name="Group 42">
            <a:extLst>
              <a:ext uri="{FF2B5EF4-FFF2-40B4-BE49-F238E27FC236}">
                <a16:creationId xmlns:a16="http://schemas.microsoft.com/office/drawing/2014/main" id="{D05716EA-371C-7D71-7F3E-AB4095963E61}"/>
              </a:ext>
            </a:extLst>
          </p:cNvPr>
          <p:cNvGrpSpPr/>
          <p:nvPr/>
        </p:nvGrpSpPr>
        <p:grpSpPr>
          <a:xfrm>
            <a:off x="1482480" y="3852153"/>
            <a:ext cx="1699922" cy="1843567"/>
            <a:chOff x="1482480" y="3852153"/>
            <a:chExt cx="1699922" cy="1843567"/>
          </a:xfrm>
        </p:grpSpPr>
        <p:cxnSp>
          <p:nvCxnSpPr>
            <p:cNvPr id="96" name="Straight Connector 95">
              <a:extLst>
                <a:ext uri="{FF2B5EF4-FFF2-40B4-BE49-F238E27FC236}">
                  <a16:creationId xmlns:a16="http://schemas.microsoft.com/office/drawing/2014/main" id="{234EE0A8-9BCD-F889-16E6-7DCA5D5480B1}"/>
                </a:ext>
              </a:extLst>
            </p:cNvPr>
            <p:cNvCxnSpPr>
              <a:cxnSpLocks/>
            </p:cNvCxnSpPr>
            <p:nvPr/>
          </p:nvCxnSpPr>
          <p:spPr bwMode="gray">
            <a:xfrm>
              <a:off x="2935729" y="4955329"/>
              <a:ext cx="0" cy="531071"/>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1F3CC60C-5A0C-BD25-08CA-09EAEDCF547D}"/>
                </a:ext>
              </a:extLst>
            </p:cNvPr>
            <p:cNvCxnSpPr>
              <a:cxnSpLocks/>
            </p:cNvCxnSpPr>
            <p:nvPr/>
          </p:nvCxnSpPr>
          <p:spPr bwMode="gray">
            <a:xfrm>
              <a:off x="3058945" y="4959662"/>
              <a:ext cx="0" cy="736058"/>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FF66E1C-5BDF-91A9-4077-7AEC2FF0D7C0}"/>
                </a:ext>
              </a:extLst>
            </p:cNvPr>
            <p:cNvCxnSpPr>
              <a:cxnSpLocks/>
            </p:cNvCxnSpPr>
            <p:nvPr/>
          </p:nvCxnSpPr>
          <p:spPr bwMode="gray">
            <a:xfrm flipH="1">
              <a:off x="1663700" y="3852153"/>
              <a:ext cx="560691" cy="386472"/>
            </a:xfrm>
            <a:prstGeom prst="line">
              <a:avLst/>
            </a:prstGeom>
            <a:ln w="25400" cap="rnd">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E812B857-E752-EB16-D25F-AA21FD19DB34}"/>
                </a:ext>
              </a:extLst>
            </p:cNvPr>
            <p:cNvCxnSpPr>
              <a:cxnSpLocks/>
              <a:endCxn id="91" idx="0"/>
            </p:cNvCxnSpPr>
            <p:nvPr/>
          </p:nvCxnSpPr>
          <p:spPr bwMode="gray">
            <a:xfrm>
              <a:off x="2647368" y="3873223"/>
              <a:ext cx="358479" cy="358309"/>
            </a:xfrm>
            <a:prstGeom prst="line">
              <a:avLst/>
            </a:prstGeom>
            <a:ln w="25400" cap="rnd">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C3E33EF6-1057-82E4-E9FA-8C3DD7415D52}"/>
                </a:ext>
              </a:extLst>
            </p:cNvPr>
            <p:cNvSpPr txBox="1">
              <a:spLocks noChangeAspect="1"/>
            </p:cNvSpPr>
            <p:nvPr/>
          </p:nvSpPr>
          <p:spPr>
            <a:xfrm>
              <a:off x="2822907" y="4611959"/>
              <a:ext cx="359495" cy="360000"/>
            </a:xfrm>
            <a:custGeom>
              <a:avLst/>
              <a:gdLst/>
              <a:ahLst/>
              <a:cxnLst/>
              <a:rect l="l" t="t" r="r" b="b"/>
              <a:pathLst>
                <a:path w="1139359" h="1139359">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p:txBody>
        </p:sp>
        <p:cxnSp>
          <p:nvCxnSpPr>
            <p:cNvPr id="46" name="Straight Connector 45">
              <a:extLst>
                <a:ext uri="{FF2B5EF4-FFF2-40B4-BE49-F238E27FC236}">
                  <a16:creationId xmlns:a16="http://schemas.microsoft.com/office/drawing/2014/main" id="{5679A410-2058-3691-B7D1-9E623B0E3A31}"/>
                </a:ext>
              </a:extLst>
            </p:cNvPr>
            <p:cNvCxnSpPr>
              <a:cxnSpLocks/>
            </p:cNvCxnSpPr>
            <p:nvPr/>
          </p:nvCxnSpPr>
          <p:spPr bwMode="gray">
            <a:xfrm>
              <a:off x="1665528" y="4230031"/>
              <a:ext cx="0" cy="385892"/>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1363E254-63A8-7909-4B1D-7A6657B9FBD7}"/>
                </a:ext>
              </a:extLst>
            </p:cNvPr>
            <p:cNvCxnSpPr>
              <a:cxnSpLocks/>
            </p:cNvCxnSpPr>
            <p:nvPr/>
          </p:nvCxnSpPr>
          <p:spPr bwMode="gray">
            <a:xfrm>
              <a:off x="3008615" y="4227539"/>
              <a:ext cx="0" cy="384391"/>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AB9FF0A5-710F-DF35-84FA-E3C34B01C316}"/>
                </a:ext>
              </a:extLst>
            </p:cNvPr>
            <p:cNvSpPr txBox="1"/>
            <p:nvPr/>
          </p:nvSpPr>
          <p:spPr>
            <a:xfrm>
              <a:off x="2289459" y="4629758"/>
              <a:ext cx="50712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30A0"/>
                  </a:solidFill>
                  <a:effectLst/>
                  <a:uLnTx/>
                  <a:uFillTx/>
                  <a:latin typeface="Arial" panose="020B0604020202020204"/>
                  <a:ea typeface="+mn-ea"/>
                  <a:cs typeface="+mn-cs"/>
                </a:rPr>
                <a:t>VPC</a:t>
              </a:r>
              <a:br>
                <a:rPr kumimoji="0" lang="en-US" sz="1000" b="0" i="0" u="none" strike="noStrike" kern="1200" cap="none" spc="0" normalizeH="0" baseline="0" noProof="0" dirty="0">
                  <a:ln>
                    <a:noFill/>
                  </a:ln>
                  <a:solidFill>
                    <a:srgbClr val="7030A0"/>
                  </a:solidFill>
                  <a:effectLst/>
                  <a:uLnTx/>
                  <a:uFillTx/>
                  <a:latin typeface="Arial" panose="020B0604020202020204"/>
                  <a:ea typeface="+mn-ea"/>
                  <a:cs typeface="+mn-cs"/>
                </a:rPr>
              </a:br>
              <a:r>
                <a:rPr kumimoji="0" lang="en-US" sz="1000" b="0" i="0" u="none" strike="noStrike" kern="1200" cap="none" spc="0" normalizeH="0" baseline="0" noProof="0" dirty="0">
                  <a:ln>
                    <a:noFill/>
                  </a:ln>
                  <a:solidFill>
                    <a:srgbClr val="7030A0"/>
                  </a:solidFill>
                  <a:effectLst/>
                  <a:uLnTx/>
                  <a:uFillTx/>
                  <a:latin typeface="Arial" panose="020B0604020202020204"/>
                  <a:ea typeface="+mn-ea"/>
                  <a:cs typeface="+mn-cs"/>
                </a:rPr>
                <a:t>Gateway</a:t>
              </a:r>
            </a:p>
          </p:txBody>
        </p:sp>
        <p:sp>
          <p:nvSpPr>
            <p:cNvPr id="62" name="TextBox 61">
              <a:extLst>
                <a:ext uri="{FF2B5EF4-FFF2-40B4-BE49-F238E27FC236}">
                  <a16:creationId xmlns:a16="http://schemas.microsoft.com/office/drawing/2014/main" id="{E3A3DEDE-B2FB-FDBF-61B7-65F29666862C}"/>
                </a:ext>
              </a:extLst>
            </p:cNvPr>
            <p:cNvSpPr txBox="1">
              <a:spLocks noChangeAspect="1"/>
            </p:cNvSpPr>
            <p:nvPr/>
          </p:nvSpPr>
          <p:spPr>
            <a:xfrm>
              <a:off x="1482480" y="4611959"/>
              <a:ext cx="359495" cy="360000"/>
            </a:xfrm>
            <a:custGeom>
              <a:avLst/>
              <a:gdLst/>
              <a:ahLst/>
              <a:cxnLst/>
              <a:rect l="l" t="t" r="r" b="b"/>
              <a:pathLst>
                <a:path w="1139359" h="1139359">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p:txBody>
        </p:sp>
      </p:grpSp>
      <p:cxnSp>
        <p:nvCxnSpPr>
          <p:cNvPr id="45" name="Straight Connector 44">
            <a:extLst>
              <a:ext uri="{FF2B5EF4-FFF2-40B4-BE49-F238E27FC236}">
                <a16:creationId xmlns:a16="http://schemas.microsoft.com/office/drawing/2014/main" id="{FE86E0AA-D30F-037C-53FB-224F0493D13E}"/>
              </a:ext>
            </a:extLst>
          </p:cNvPr>
          <p:cNvCxnSpPr>
            <a:cxnSpLocks/>
          </p:cNvCxnSpPr>
          <p:nvPr/>
        </p:nvCxnSpPr>
        <p:spPr bwMode="gray">
          <a:xfrm flipV="1">
            <a:off x="2442153" y="2971800"/>
            <a:ext cx="0" cy="268357"/>
          </a:xfrm>
          <a:prstGeom prst="line">
            <a:avLst/>
          </a:prstGeom>
          <a:ln w="25400" cap="rnd">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8" name="!!T0">
            <a:extLst>
              <a:ext uri="{FF2B5EF4-FFF2-40B4-BE49-F238E27FC236}">
                <a16:creationId xmlns:a16="http://schemas.microsoft.com/office/drawing/2014/main" id="{2373003B-A41E-1D96-E44B-A09A49CD65F1}"/>
              </a:ext>
            </a:extLst>
          </p:cNvPr>
          <p:cNvSpPr txBox="1"/>
          <p:nvPr/>
        </p:nvSpPr>
        <p:spPr>
          <a:xfrm>
            <a:off x="1316729" y="2446175"/>
            <a:ext cx="902735"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5C8A"/>
                </a:solidFill>
                <a:effectLst/>
                <a:uLnTx/>
                <a:uFillTx/>
                <a:latin typeface="Arial" panose="020B0604020202020204"/>
                <a:ea typeface="+mn-ea"/>
                <a:cs typeface="+mn-cs"/>
              </a:rPr>
              <a:t>Tier0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5C8A"/>
                </a:solidFill>
                <a:effectLst/>
                <a:uLnTx/>
                <a:uFillTx/>
                <a:latin typeface="Arial" panose="020B0604020202020204"/>
                <a:ea typeface="+mn-ea"/>
                <a:cs typeface="+mn-cs"/>
              </a:rPr>
              <a:t>Gateway</a:t>
            </a:r>
          </a:p>
        </p:txBody>
      </p:sp>
      <p:sp>
        <p:nvSpPr>
          <p:cNvPr id="35" name="!!Tier0">
            <a:extLst>
              <a:ext uri="{FF2B5EF4-FFF2-40B4-BE49-F238E27FC236}">
                <a16:creationId xmlns:a16="http://schemas.microsoft.com/office/drawing/2014/main" id="{307ABF67-F4F1-56A9-3FD0-FC0F5706B29E}"/>
              </a:ext>
            </a:extLst>
          </p:cNvPr>
          <p:cNvSpPr txBox="1">
            <a:spLocks noChangeAspect="1"/>
          </p:cNvSpPr>
          <p:nvPr/>
        </p:nvSpPr>
        <p:spPr>
          <a:xfrm>
            <a:off x="1828344" y="2323931"/>
            <a:ext cx="540000" cy="540000"/>
          </a:xfrm>
          <a:custGeom>
            <a:avLst/>
            <a:gdLst/>
            <a:ahLst/>
            <a:cxnLst/>
            <a:rect l="l" t="t" r="r" b="b"/>
            <a:pathLst>
              <a:path w="3411855" h="3411855">
                <a:moveTo>
                  <a:pt x="1616141" y="2365151"/>
                </a:moveTo>
                <a:lnTo>
                  <a:pt x="1795712" y="2365151"/>
                </a:lnTo>
                <a:lnTo>
                  <a:pt x="1795712" y="2702754"/>
                </a:lnTo>
                <a:lnTo>
                  <a:pt x="1947657" y="2702754"/>
                </a:lnTo>
                <a:lnTo>
                  <a:pt x="1705927" y="3121293"/>
                </a:lnTo>
                <a:lnTo>
                  <a:pt x="1464196" y="2702754"/>
                </a:lnTo>
                <a:lnTo>
                  <a:pt x="1616141" y="2702754"/>
                </a:lnTo>
                <a:close/>
                <a:moveTo>
                  <a:pt x="1943213" y="1472645"/>
                </a:moveTo>
                <a:cubicBezTo>
                  <a:pt x="1909685" y="1472645"/>
                  <a:pt x="1879790" y="1482703"/>
                  <a:pt x="1853526" y="1502820"/>
                </a:cubicBezTo>
                <a:cubicBezTo>
                  <a:pt x="1827262" y="1522937"/>
                  <a:pt x="1806726" y="1551017"/>
                  <a:pt x="1791918" y="1587059"/>
                </a:cubicBezTo>
                <a:cubicBezTo>
                  <a:pt x="1777110" y="1623102"/>
                  <a:pt x="1769706" y="1664034"/>
                  <a:pt x="1769706" y="1709855"/>
                </a:cubicBezTo>
                <a:cubicBezTo>
                  <a:pt x="1769706" y="1755677"/>
                  <a:pt x="1777110" y="1796609"/>
                  <a:pt x="1791918" y="1832652"/>
                </a:cubicBezTo>
                <a:cubicBezTo>
                  <a:pt x="1806726" y="1868694"/>
                  <a:pt x="1827262" y="1896914"/>
                  <a:pt x="1853526" y="1917310"/>
                </a:cubicBezTo>
                <a:cubicBezTo>
                  <a:pt x="1879790" y="1937706"/>
                  <a:pt x="1909685" y="1947904"/>
                  <a:pt x="1943213" y="1947904"/>
                </a:cubicBezTo>
                <a:cubicBezTo>
                  <a:pt x="1976741" y="1947904"/>
                  <a:pt x="2006637" y="1937706"/>
                  <a:pt x="2032901" y="1917310"/>
                </a:cubicBezTo>
                <a:cubicBezTo>
                  <a:pt x="2059164" y="1896914"/>
                  <a:pt x="2079561" y="1868694"/>
                  <a:pt x="2094089" y="1832652"/>
                </a:cubicBezTo>
                <a:cubicBezTo>
                  <a:pt x="2108618" y="1796609"/>
                  <a:pt x="2115883" y="1755677"/>
                  <a:pt x="2115883" y="1709855"/>
                </a:cubicBezTo>
                <a:cubicBezTo>
                  <a:pt x="2115883" y="1664034"/>
                  <a:pt x="2108618" y="1623102"/>
                  <a:pt x="2094089" y="1587059"/>
                </a:cubicBezTo>
                <a:cubicBezTo>
                  <a:pt x="2079561" y="1551017"/>
                  <a:pt x="2059164" y="1522937"/>
                  <a:pt x="2032901" y="1502820"/>
                </a:cubicBezTo>
                <a:cubicBezTo>
                  <a:pt x="2006637" y="1482703"/>
                  <a:pt x="1976741" y="1472645"/>
                  <a:pt x="1943213" y="1472645"/>
                </a:cubicBezTo>
                <a:close/>
                <a:moveTo>
                  <a:pt x="2786046" y="1464196"/>
                </a:moveTo>
                <a:lnTo>
                  <a:pt x="2786046" y="1616141"/>
                </a:lnTo>
                <a:lnTo>
                  <a:pt x="3123649" y="1616141"/>
                </a:lnTo>
                <a:lnTo>
                  <a:pt x="3123649" y="1795712"/>
                </a:lnTo>
                <a:lnTo>
                  <a:pt x="2786046" y="1795712"/>
                </a:lnTo>
                <a:lnTo>
                  <a:pt x="2786046" y="1947657"/>
                </a:lnTo>
                <a:lnTo>
                  <a:pt x="2367507" y="1705927"/>
                </a:lnTo>
                <a:close/>
                <a:moveTo>
                  <a:pt x="609184" y="1464195"/>
                </a:moveTo>
                <a:lnTo>
                  <a:pt x="1027723" y="1705925"/>
                </a:lnTo>
                <a:lnTo>
                  <a:pt x="609184" y="1947656"/>
                </a:lnTo>
                <a:lnTo>
                  <a:pt x="609184" y="1795711"/>
                </a:lnTo>
                <a:lnTo>
                  <a:pt x="271581" y="1795711"/>
                </a:lnTo>
                <a:lnTo>
                  <a:pt x="271581" y="1616140"/>
                </a:lnTo>
                <a:lnTo>
                  <a:pt x="609184" y="1616140"/>
                </a:lnTo>
                <a:close/>
                <a:moveTo>
                  <a:pt x="1178851" y="1422353"/>
                </a:moveTo>
                <a:lnTo>
                  <a:pt x="1631479" y="1422353"/>
                </a:lnTo>
                <a:lnTo>
                  <a:pt x="1631479" y="1484380"/>
                </a:lnTo>
                <a:lnTo>
                  <a:pt x="1437855" y="1484380"/>
                </a:lnTo>
                <a:lnTo>
                  <a:pt x="1437855" y="1998196"/>
                </a:lnTo>
                <a:lnTo>
                  <a:pt x="1372475" y="1998196"/>
                </a:lnTo>
                <a:lnTo>
                  <a:pt x="1372475" y="1484380"/>
                </a:lnTo>
                <a:lnTo>
                  <a:pt x="1178851" y="1484380"/>
                </a:lnTo>
                <a:close/>
                <a:moveTo>
                  <a:pt x="1943213" y="1412294"/>
                </a:moveTo>
                <a:cubicBezTo>
                  <a:pt x="1989035" y="1412294"/>
                  <a:pt x="2030107" y="1425007"/>
                  <a:pt x="2066429" y="1450433"/>
                </a:cubicBezTo>
                <a:cubicBezTo>
                  <a:pt x="2102751" y="1475858"/>
                  <a:pt x="2131110" y="1511063"/>
                  <a:pt x="2151506" y="1556046"/>
                </a:cubicBezTo>
                <a:cubicBezTo>
                  <a:pt x="2171902" y="1601029"/>
                  <a:pt x="2182100" y="1652299"/>
                  <a:pt x="2182100" y="1709855"/>
                </a:cubicBezTo>
                <a:cubicBezTo>
                  <a:pt x="2182100" y="1767412"/>
                  <a:pt x="2171902" y="1818821"/>
                  <a:pt x="2151506" y="1864084"/>
                </a:cubicBezTo>
                <a:cubicBezTo>
                  <a:pt x="2131110" y="1909347"/>
                  <a:pt x="2102890" y="1944691"/>
                  <a:pt x="2066848" y="1970116"/>
                </a:cubicBezTo>
                <a:cubicBezTo>
                  <a:pt x="2030805" y="1995542"/>
                  <a:pt x="1989594" y="2008254"/>
                  <a:pt x="1943213" y="2008254"/>
                </a:cubicBezTo>
                <a:cubicBezTo>
                  <a:pt x="1896833" y="2008254"/>
                  <a:pt x="1855482" y="1995542"/>
                  <a:pt x="1819160" y="1970116"/>
                </a:cubicBezTo>
                <a:cubicBezTo>
                  <a:pt x="1782838" y="1944691"/>
                  <a:pt x="1754479" y="1909347"/>
                  <a:pt x="1734082" y="1864084"/>
                </a:cubicBezTo>
                <a:cubicBezTo>
                  <a:pt x="1713686" y="1818821"/>
                  <a:pt x="1703488" y="1767412"/>
                  <a:pt x="1703488" y="1709855"/>
                </a:cubicBezTo>
                <a:cubicBezTo>
                  <a:pt x="1703488" y="1652299"/>
                  <a:pt x="1713686" y="1601029"/>
                  <a:pt x="1734082" y="1556046"/>
                </a:cubicBezTo>
                <a:cubicBezTo>
                  <a:pt x="1754479" y="1511063"/>
                  <a:pt x="1782838" y="1475858"/>
                  <a:pt x="1819160" y="1450433"/>
                </a:cubicBezTo>
                <a:cubicBezTo>
                  <a:pt x="1855482" y="1425007"/>
                  <a:pt x="1896833" y="1412294"/>
                  <a:pt x="1943213" y="1412294"/>
                </a:cubicBezTo>
                <a:close/>
                <a:moveTo>
                  <a:pt x="1705927" y="290561"/>
                </a:moveTo>
                <a:lnTo>
                  <a:pt x="1947657" y="709100"/>
                </a:lnTo>
                <a:lnTo>
                  <a:pt x="1795712" y="709100"/>
                </a:lnTo>
                <a:lnTo>
                  <a:pt x="1795712" y="1046703"/>
                </a:lnTo>
                <a:lnTo>
                  <a:pt x="1616141" y="1046703"/>
                </a:lnTo>
                <a:lnTo>
                  <a:pt x="1616141" y="709100"/>
                </a:lnTo>
                <a:lnTo>
                  <a:pt x="1464196" y="709100"/>
                </a:lnTo>
                <a:close/>
                <a:moveTo>
                  <a:pt x="1705927" y="89786"/>
                </a:moveTo>
                <a:cubicBezTo>
                  <a:pt x="814701" y="89786"/>
                  <a:pt x="89786" y="814701"/>
                  <a:pt x="89786" y="1705928"/>
                </a:cubicBezTo>
                <a:cubicBezTo>
                  <a:pt x="89786" y="2597154"/>
                  <a:pt x="814701" y="3322069"/>
                  <a:pt x="1705927" y="3322069"/>
                </a:cubicBezTo>
                <a:cubicBezTo>
                  <a:pt x="2597154" y="3322069"/>
                  <a:pt x="3322069" y="2597154"/>
                  <a:pt x="3322069" y="1705928"/>
                </a:cubicBezTo>
                <a:cubicBezTo>
                  <a:pt x="3322069" y="814701"/>
                  <a:pt x="2597154" y="89786"/>
                  <a:pt x="1705927" y="89786"/>
                </a:cubicBezTo>
                <a:close/>
                <a:moveTo>
                  <a:pt x="1705927" y="0"/>
                </a:moveTo>
                <a:cubicBezTo>
                  <a:pt x="2647986" y="0"/>
                  <a:pt x="3411855" y="763869"/>
                  <a:pt x="3411855" y="1705928"/>
                </a:cubicBezTo>
                <a:cubicBezTo>
                  <a:pt x="3411855" y="2647986"/>
                  <a:pt x="2647986" y="3411855"/>
                  <a:pt x="1705927" y="3411855"/>
                </a:cubicBezTo>
                <a:cubicBezTo>
                  <a:pt x="763869" y="3411855"/>
                  <a:pt x="0" y="2647986"/>
                  <a:pt x="0" y="1705928"/>
                </a:cubicBezTo>
                <a:cubicBezTo>
                  <a:pt x="0" y="763869"/>
                  <a:pt x="763869" y="0"/>
                  <a:pt x="1705927" y="0"/>
                </a:cubicBez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6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72" name="!!Tier0-uplink">
            <a:extLst>
              <a:ext uri="{FF2B5EF4-FFF2-40B4-BE49-F238E27FC236}">
                <a16:creationId xmlns:a16="http://schemas.microsoft.com/office/drawing/2014/main" id="{B18F3526-5F25-887C-EA0E-46DF82C78DAA}"/>
              </a:ext>
            </a:extLst>
          </p:cNvPr>
          <p:cNvCxnSpPr>
            <a:cxnSpLocks/>
          </p:cNvCxnSpPr>
          <p:nvPr/>
        </p:nvCxnSpPr>
        <p:spPr bwMode="gray">
          <a:xfrm flipV="1">
            <a:off x="2098344" y="1939636"/>
            <a:ext cx="0" cy="386121"/>
          </a:xfrm>
          <a:prstGeom prst="line">
            <a:avLst/>
          </a:prstGeom>
          <a:ln w="25400" cap="rnd">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DD2C418-DC25-A86A-6562-6C7ABB30CFBE}"/>
              </a:ext>
            </a:extLst>
          </p:cNvPr>
          <p:cNvCxnSpPr>
            <a:cxnSpLocks/>
          </p:cNvCxnSpPr>
          <p:nvPr/>
        </p:nvCxnSpPr>
        <p:spPr bwMode="gray">
          <a:xfrm flipV="1">
            <a:off x="2785143" y="1939636"/>
            <a:ext cx="0" cy="1032164"/>
          </a:xfrm>
          <a:prstGeom prst="line">
            <a:avLst/>
          </a:prstGeom>
          <a:ln w="25400" cap="rnd">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7" name="!!Tier0-downlink">
            <a:extLst>
              <a:ext uri="{FF2B5EF4-FFF2-40B4-BE49-F238E27FC236}">
                <a16:creationId xmlns:a16="http://schemas.microsoft.com/office/drawing/2014/main" id="{DF6E950B-5A87-292C-FCAB-10776FF0FCDC}"/>
              </a:ext>
            </a:extLst>
          </p:cNvPr>
          <p:cNvCxnSpPr>
            <a:cxnSpLocks/>
          </p:cNvCxnSpPr>
          <p:nvPr/>
        </p:nvCxnSpPr>
        <p:spPr bwMode="gray">
          <a:xfrm flipV="1">
            <a:off x="2098344" y="2864285"/>
            <a:ext cx="0" cy="107515"/>
          </a:xfrm>
          <a:prstGeom prst="line">
            <a:avLst/>
          </a:prstGeom>
          <a:ln w="25400" cap="rnd">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2F61CF3F-E447-4FDD-A5A5-EF37A16245AE}"/>
              </a:ext>
            </a:extLst>
          </p:cNvPr>
          <p:cNvSpPr txBox="1"/>
          <p:nvPr/>
        </p:nvSpPr>
        <p:spPr>
          <a:xfrm>
            <a:off x="2826477" y="2514600"/>
            <a:ext cx="417825"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5C8A"/>
                </a:solidFill>
                <a:effectLst/>
                <a:uLnTx/>
                <a:uFillTx/>
                <a:latin typeface="Arial" panose="020B0604020202020204"/>
                <a:ea typeface="+mn-ea"/>
                <a:cs typeface="+mn-cs"/>
              </a:rPr>
              <a:t>VLAN</a:t>
            </a:r>
          </a:p>
        </p:txBody>
      </p:sp>
      <p:sp>
        <p:nvSpPr>
          <p:cNvPr id="14" name="!!externalconnection">
            <a:extLst>
              <a:ext uri="{FF2B5EF4-FFF2-40B4-BE49-F238E27FC236}">
                <a16:creationId xmlns:a16="http://schemas.microsoft.com/office/drawing/2014/main" id="{6CFE72E0-E79A-40E6-0087-F1BB4004310E}"/>
              </a:ext>
            </a:extLst>
          </p:cNvPr>
          <p:cNvSpPr/>
          <p:nvPr/>
        </p:nvSpPr>
        <p:spPr bwMode="gray">
          <a:xfrm>
            <a:off x="1747933" y="2929812"/>
            <a:ext cx="1399592" cy="230155"/>
          </a:xfrm>
          <a:prstGeom prst="rect">
            <a:avLst/>
          </a:prstGeom>
          <a:solidFill>
            <a:schemeClr val="accent2"/>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External Connection</a:t>
            </a:r>
          </a:p>
        </p:txBody>
      </p:sp>
      <p:sp>
        <p:nvSpPr>
          <p:cNvPr id="16" name="Text Placeholder 22">
            <a:extLst>
              <a:ext uri="{FF2B5EF4-FFF2-40B4-BE49-F238E27FC236}">
                <a16:creationId xmlns:a16="http://schemas.microsoft.com/office/drawing/2014/main" id="{65E9F648-6561-F4CA-75D5-DACC1C85E039}"/>
              </a:ext>
            </a:extLst>
          </p:cNvPr>
          <p:cNvSpPr txBox="1">
            <a:spLocks/>
          </p:cNvSpPr>
          <p:nvPr/>
        </p:nvSpPr>
        <p:spPr>
          <a:xfrm>
            <a:off x="5180013" y="2057400"/>
            <a:ext cx="7008812" cy="4114799"/>
          </a:xfrm>
          <a:prstGeom prst="rect">
            <a:avLst/>
          </a:prstGeom>
        </p:spPr>
        <p:txBody>
          <a:bodyPr/>
          <a:lstStyle>
            <a:lvl1pPr marL="0" indent="0" algn="l" defTabSz="914400" rtl="0" eaLnBrk="1" latinLnBrk="0" hangingPunct="1">
              <a:lnSpc>
                <a:spcPct val="100000"/>
              </a:lnSpc>
              <a:spcBef>
                <a:spcPts val="0"/>
              </a:spcBef>
              <a:spcAft>
                <a:spcPts val="6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
                <a:srgbClr val="000000">
                  <a:lumMod val="60000"/>
                  <a:lumOff val="40000"/>
                </a:srgbClr>
              </a:buClr>
              <a:buSzPct val="90000"/>
              <a:buFont typeface="Arial" panose="020B0604020202020204" pitchFamily="34" charset="0"/>
              <a:buChar char="​"/>
              <a:tabLst/>
              <a:defRPr/>
            </a:pPr>
            <a: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t>The enterprise admin creates external connections</a:t>
            </a:r>
          </a:p>
          <a:p>
            <a:pPr marL="457200" marR="0" lvl="1" indent="-184150" algn="l" defTabSz="914400" rtl="0" eaLnBrk="1" fontAlgn="auto" latinLnBrk="0" hangingPunct="1">
              <a:lnSpc>
                <a:spcPct val="100000"/>
              </a:lnSpc>
              <a:spcBef>
                <a:spcPts val="0"/>
              </a:spcBef>
              <a:spcAft>
                <a:spcPts val="1200"/>
              </a:spcAft>
              <a:buClr>
                <a:srgbClr val="005C8A"/>
              </a:buClr>
              <a:buSzPct val="90000"/>
              <a:buFont typeface="Arial" panose="020B0604020202020204" pitchFamily="34" charset="0"/>
              <a:buChar char="•"/>
              <a:tabLst/>
              <a:defRPr/>
            </a:pPr>
            <a:r>
              <a:rPr kumimoji="0" lang="en-US" sz="1400" b="0" i="0" u="none" strike="noStrike" kern="1200" cap="none" spc="0" normalizeH="0" baseline="0" noProof="0" dirty="0">
                <a:ln>
                  <a:noFill/>
                </a:ln>
                <a:solidFill>
                  <a:srgbClr val="005C8A"/>
                </a:solidFill>
                <a:effectLst/>
                <a:uLnTx/>
                <a:uFillTx/>
                <a:latin typeface="Arial" panose="020B0604020202020204"/>
                <a:ea typeface="+mn-ea"/>
                <a:cs typeface="+mn-cs"/>
              </a:rPr>
              <a:t>They represent connectivity to the physical network</a:t>
            </a:r>
          </a:p>
          <a:p>
            <a:pPr marL="457200" marR="0" lvl="1" indent="-184150" algn="l" defTabSz="914400" rtl="0" eaLnBrk="1" fontAlgn="auto" latinLnBrk="0" hangingPunct="1">
              <a:lnSpc>
                <a:spcPct val="100000"/>
              </a:lnSpc>
              <a:spcBef>
                <a:spcPts val="0"/>
              </a:spcBef>
              <a:spcAft>
                <a:spcPts val="1200"/>
              </a:spcAft>
              <a:buClr>
                <a:srgbClr val="005C8A"/>
              </a:buClr>
              <a:buSzPct val="90000"/>
              <a:buFont typeface="Arial" panose="020B0604020202020204" pitchFamily="34" charset="0"/>
              <a:buChar char="•"/>
              <a:tabLst/>
              <a:defRPr/>
            </a:pPr>
            <a:r>
              <a:rPr kumimoji="0" lang="en-US" sz="1400" b="0" i="0" u="none" strike="noStrike" kern="1200" cap="none" spc="0" normalizeH="0" baseline="0" noProof="0" dirty="0">
                <a:ln>
                  <a:noFill/>
                </a:ln>
                <a:solidFill>
                  <a:srgbClr val="005C8A"/>
                </a:solidFill>
                <a:effectLst/>
                <a:uLnTx/>
                <a:uFillTx/>
                <a:latin typeface="Arial" panose="020B0604020202020204"/>
                <a:ea typeface="+mn-ea"/>
                <a:cs typeface="+mn-cs"/>
              </a:rPr>
              <a:t>Can be a </a:t>
            </a:r>
            <a:r>
              <a:rPr kumimoji="0" lang="en-US" sz="1400" b="1" i="0" u="none" strike="noStrike" kern="1200" cap="none" spc="0" normalizeH="0" baseline="0" noProof="0" dirty="0">
                <a:ln>
                  <a:noFill/>
                </a:ln>
                <a:solidFill>
                  <a:srgbClr val="005C8A"/>
                </a:solidFill>
                <a:effectLst/>
                <a:uLnTx/>
                <a:uFillTx/>
                <a:latin typeface="Arial" panose="020B0604020202020204"/>
                <a:ea typeface="+mn-ea"/>
                <a:cs typeface="+mn-cs"/>
              </a:rPr>
              <a:t>centralized</a:t>
            </a:r>
            <a:r>
              <a:rPr kumimoji="0" lang="en-US" sz="1400" b="0" i="0" u="none" strike="noStrike" kern="1200" cap="none" spc="0" normalizeH="0" baseline="0" noProof="0" dirty="0">
                <a:ln>
                  <a:noFill/>
                </a:ln>
                <a:solidFill>
                  <a:srgbClr val="005C8A"/>
                </a:solidFill>
                <a:effectLst/>
                <a:uLnTx/>
                <a:uFillTx/>
                <a:latin typeface="Arial" panose="020B0604020202020204"/>
                <a:ea typeface="+mn-ea"/>
                <a:cs typeface="+mn-cs"/>
              </a:rPr>
              <a:t> or </a:t>
            </a:r>
            <a:r>
              <a:rPr kumimoji="0" lang="en-US" sz="1400" b="1" i="0" u="none" strike="noStrike" kern="1200" cap="none" spc="0" normalizeH="0" baseline="0" noProof="0" dirty="0">
                <a:ln>
                  <a:noFill/>
                </a:ln>
                <a:solidFill>
                  <a:srgbClr val="005C8A"/>
                </a:solidFill>
                <a:effectLst/>
                <a:uLnTx/>
                <a:uFillTx/>
                <a:latin typeface="Arial" panose="020B0604020202020204"/>
                <a:ea typeface="+mn-ea"/>
                <a:cs typeface="+mn-cs"/>
              </a:rPr>
              <a:t>distributed</a:t>
            </a:r>
            <a:r>
              <a:rPr kumimoji="0" lang="en-US" sz="1400" b="0" i="0" u="none" strike="noStrike" kern="1200" cap="none" spc="0" normalizeH="0" baseline="0" noProof="0" dirty="0">
                <a:ln>
                  <a:noFill/>
                </a:ln>
                <a:solidFill>
                  <a:srgbClr val="005C8A"/>
                </a:solidFill>
                <a:effectLst/>
                <a:uLnTx/>
                <a:uFillTx/>
                <a:latin typeface="Arial" panose="020B0604020202020204"/>
                <a:ea typeface="+mn-ea"/>
                <a:cs typeface="+mn-cs"/>
              </a:rPr>
              <a:t> (resp. Tier0 or VLAN)</a:t>
            </a:r>
          </a:p>
          <a:p>
            <a:pPr marL="0" marR="0" lvl="0" indent="0" algn="l" defTabSz="914400" rtl="0" eaLnBrk="1" fontAlgn="auto" latinLnBrk="0" hangingPunct="1">
              <a:lnSpc>
                <a:spcPct val="100000"/>
              </a:lnSpc>
              <a:spcBef>
                <a:spcPts val="0"/>
              </a:spcBef>
              <a:spcAft>
                <a:spcPts val="600"/>
              </a:spcAft>
              <a:buClr>
                <a:srgbClr val="000000">
                  <a:lumMod val="60000"/>
                  <a:lumOff val="40000"/>
                </a:srgbClr>
              </a:buClr>
              <a:buSzPct val="90000"/>
              <a:buFont typeface="Arial" panose="020B0604020202020204" pitchFamily="34" charset="0"/>
              <a:buChar char="​"/>
              <a:tabLst/>
              <a:defRPr/>
            </a:pPr>
            <a: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t>The transit gateway (TGW)</a:t>
            </a:r>
          </a:p>
          <a:p>
            <a:pPr marL="457200" marR="0" lvl="1" indent="-184150" algn="l" defTabSz="914400" rtl="0" eaLnBrk="1" fontAlgn="auto" latinLnBrk="0" hangingPunct="1">
              <a:lnSpc>
                <a:spcPct val="100000"/>
              </a:lnSpc>
              <a:spcBef>
                <a:spcPts val="0"/>
              </a:spcBef>
              <a:spcAft>
                <a:spcPts val="1200"/>
              </a:spcAft>
              <a:buClr>
                <a:srgbClr val="005C8A"/>
              </a:buClr>
              <a:buSzPct val="90000"/>
              <a:buFont typeface="Arial" panose="020B0604020202020204" pitchFamily="34" charset="0"/>
              <a:buChar char="•"/>
              <a:tabLst/>
              <a:defRPr/>
            </a:pPr>
            <a:r>
              <a:rPr kumimoji="0" lang="en-US" sz="1400" b="0" i="0" u="none" strike="noStrike" kern="1200" cap="none" spc="0" normalizeH="0" baseline="0" noProof="0" dirty="0">
                <a:ln>
                  <a:noFill/>
                </a:ln>
                <a:solidFill>
                  <a:srgbClr val="005C8A"/>
                </a:solidFill>
                <a:effectLst/>
                <a:uLnTx/>
                <a:uFillTx/>
                <a:latin typeface="Arial" panose="020B0604020202020204"/>
                <a:ea typeface="+mn-ea"/>
                <a:cs typeface="+mn-cs"/>
              </a:rPr>
              <a:t>Owned by the project admin</a:t>
            </a:r>
          </a:p>
          <a:p>
            <a:pPr marL="457200" marR="0" lvl="1" indent="-184150" algn="l" defTabSz="914400" rtl="0" eaLnBrk="1" fontAlgn="auto" latinLnBrk="0" hangingPunct="1">
              <a:lnSpc>
                <a:spcPct val="100000"/>
              </a:lnSpc>
              <a:spcBef>
                <a:spcPts val="0"/>
              </a:spcBef>
              <a:spcAft>
                <a:spcPts val="1200"/>
              </a:spcAft>
              <a:buClr>
                <a:srgbClr val="005C8A"/>
              </a:buClr>
              <a:buSzPct val="90000"/>
              <a:buFont typeface="Arial" panose="020B0604020202020204" pitchFamily="34" charset="0"/>
              <a:buChar char="•"/>
              <a:tabLst/>
              <a:defRPr/>
            </a:pPr>
            <a:r>
              <a:rPr kumimoji="0" lang="en-US" sz="1400" b="0" i="0" u="none" strike="noStrike" kern="1200" cap="none" spc="0" normalizeH="0" baseline="0" noProof="0" dirty="0">
                <a:ln>
                  <a:noFill/>
                </a:ln>
                <a:solidFill>
                  <a:srgbClr val="005C8A"/>
                </a:solidFill>
                <a:effectLst/>
                <a:uLnTx/>
                <a:uFillTx/>
                <a:latin typeface="Arial" panose="020B0604020202020204"/>
                <a:ea typeface="+mn-ea"/>
                <a:cs typeface="+mn-cs"/>
              </a:rPr>
              <a:t>One per project today</a:t>
            </a:r>
          </a:p>
          <a:p>
            <a:pPr marL="457200" marR="0" lvl="1" indent="-184150" algn="l" defTabSz="914400" rtl="0" eaLnBrk="1" fontAlgn="auto" latinLnBrk="0" hangingPunct="1">
              <a:lnSpc>
                <a:spcPct val="100000"/>
              </a:lnSpc>
              <a:spcBef>
                <a:spcPts val="0"/>
              </a:spcBef>
              <a:spcAft>
                <a:spcPts val="1200"/>
              </a:spcAft>
              <a:buClr>
                <a:srgbClr val="005C8A"/>
              </a:buClr>
              <a:buSzPct val="90000"/>
              <a:buFont typeface="Arial" panose="020B0604020202020204" pitchFamily="34" charset="0"/>
              <a:buChar char="•"/>
              <a:tabLst/>
              <a:defRPr/>
            </a:pPr>
            <a:r>
              <a:rPr kumimoji="0" lang="en-US" sz="1400" b="0" i="0" u="none" strike="noStrike" kern="1200" cap="none" spc="0" normalizeH="0" baseline="0" noProof="0" dirty="0">
                <a:ln>
                  <a:noFill/>
                </a:ln>
                <a:solidFill>
                  <a:srgbClr val="005C8A"/>
                </a:solidFill>
                <a:effectLst/>
                <a:uLnTx/>
                <a:uFillTx/>
                <a:latin typeface="Arial" panose="020B0604020202020204"/>
                <a:ea typeface="+mn-ea"/>
                <a:cs typeface="+mn-cs"/>
              </a:rPr>
              <a:t>Can be </a:t>
            </a:r>
            <a:r>
              <a:rPr kumimoji="0" lang="en-US" sz="1400" b="1" i="0" u="none" strike="noStrike" kern="1200" cap="none" spc="0" normalizeH="0" baseline="0" noProof="0" dirty="0">
                <a:ln>
                  <a:noFill/>
                </a:ln>
                <a:solidFill>
                  <a:srgbClr val="005C8A"/>
                </a:solidFill>
                <a:effectLst/>
                <a:uLnTx/>
                <a:uFillTx/>
                <a:latin typeface="Arial" panose="020B0604020202020204"/>
                <a:ea typeface="+mn-ea"/>
                <a:cs typeface="+mn-cs"/>
              </a:rPr>
              <a:t>centralized</a:t>
            </a:r>
            <a:r>
              <a:rPr kumimoji="0" lang="en-US" sz="1400" b="0" i="0" u="none" strike="noStrike" kern="1200" cap="none" spc="0" normalizeH="0" baseline="0" noProof="0" dirty="0">
                <a:ln>
                  <a:noFill/>
                </a:ln>
                <a:solidFill>
                  <a:srgbClr val="005C8A"/>
                </a:solidFill>
                <a:effectLst/>
                <a:uLnTx/>
                <a:uFillTx/>
                <a:latin typeface="Arial" panose="020B0604020202020204"/>
                <a:ea typeface="+mn-ea"/>
                <a:cs typeface="+mn-cs"/>
              </a:rPr>
              <a:t> or </a:t>
            </a:r>
            <a:r>
              <a:rPr kumimoji="0" lang="en-US" sz="1400" b="1" i="0" u="none" strike="noStrike" kern="1200" cap="none" spc="0" normalizeH="0" baseline="0" noProof="0" dirty="0">
                <a:ln>
                  <a:noFill/>
                </a:ln>
                <a:solidFill>
                  <a:srgbClr val="005C8A"/>
                </a:solidFill>
                <a:effectLst/>
                <a:uLnTx/>
                <a:uFillTx/>
                <a:latin typeface="Arial" panose="020B0604020202020204"/>
                <a:ea typeface="+mn-ea"/>
                <a:cs typeface="+mn-cs"/>
              </a:rPr>
              <a:t>distributed</a:t>
            </a:r>
            <a:r>
              <a:rPr kumimoji="0" lang="en-US" sz="1400" b="0" i="0" u="none" strike="noStrike" kern="1200" cap="none" spc="0" normalizeH="0" baseline="0" noProof="0" dirty="0">
                <a:ln>
                  <a:noFill/>
                </a:ln>
                <a:solidFill>
                  <a:srgbClr val="005C8A"/>
                </a:solidFill>
                <a:effectLst/>
                <a:uLnTx/>
                <a:uFillTx/>
                <a:latin typeface="Arial" panose="020B0604020202020204"/>
                <a:ea typeface="+mn-ea"/>
                <a:cs typeface="+mn-cs"/>
              </a:rPr>
              <a:t>, based on the external connection selected by the project admin for N/S connectivity</a:t>
            </a:r>
          </a:p>
          <a:p>
            <a:pPr marL="0" marR="0" lvl="0" indent="0" algn="l" defTabSz="914400" rtl="0" eaLnBrk="1" fontAlgn="auto" latinLnBrk="0" hangingPunct="1">
              <a:lnSpc>
                <a:spcPct val="100000"/>
              </a:lnSpc>
              <a:spcBef>
                <a:spcPts val="0"/>
              </a:spcBef>
              <a:spcAft>
                <a:spcPts val="600"/>
              </a:spcAft>
              <a:buClr>
                <a:srgbClr val="000000">
                  <a:lumMod val="60000"/>
                  <a:lumOff val="40000"/>
                </a:srgbClr>
              </a:buClr>
              <a:buSzPct val="90000"/>
              <a:buFont typeface="Arial" panose="020B0604020202020204" pitchFamily="34" charset="0"/>
              <a:buChar char="​"/>
              <a:tabLst/>
              <a:defRPr/>
            </a:pPr>
            <a: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t>The Virtual Private Cloud gateway (VPC GW)</a:t>
            </a:r>
          </a:p>
          <a:p>
            <a:pPr marL="457200" marR="0" lvl="1" indent="-184150" algn="l" defTabSz="914400" rtl="0" eaLnBrk="1" fontAlgn="auto" latinLnBrk="0" hangingPunct="1">
              <a:lnSpc>
                <a:spcPct val="100000"/>
              </a:lnSpc>
              <a:spcBef>
                <a:spcPts val="0"/>
              </a:spcBef>
              <a:spcAft>
                <a:spcPts val="1200"/>
              </a:spcAft>
              <a:buClr>
                <a:srgbClr val="005C8A"/>
              </a:buClr>
              <a:buSzPct val="90000"/>
              <a:buFont typeface="Arial" panose="020B0604020202020204" pitchFamily="34" charset="0"/>
              <a:buChar char="•"/>
              <a:tabLst/>
              <a:defRPr/>
            </a:pPr>
            <a:r>
              <a:rPr kumimoji="0" lang="en-US" sz="1400" b="0" i="0" u="none" strike="noStrike" kern="1200" cap="none" spc="0" normalizeH="0" baseline="0" noProof="0" dirty="0">
                <a:ln>
                  <a:noFill/>
                </a:ln>
                <a:solidFill>
                  <a:srgbClr val="005C8A"/>
                </a:solidFill>
                <a:effectLst/>
                <a:uLnTx/>
                <a:uFillTx/>
                <a:latin typeface="Arial" panose="020B0604020202020204"/>
                <a:ea typeface="+mn-ea"/>
                <a:cs typeface="+mn-cs"/>
              </a:rPr>
              <a:t>Local to a VPC</a:t>
            </a:r>
          </a:p>
          <a:p>
            <a:pPr marL="457200" marR="0" lvl="1" indent="-184150" algn="l" defTabSz="914400" rtl="0" eaLnBrk="1" fontAlgn="auto" latinLnBrk="0" hangingPunct="1">
              <a:lnSpc>
                <a:spcPct val="100000"/>
              </a:lnSpc>
              <a:spcBef>
                <a:spcPts val="0"/>
              </a:spcBef>
              <a:spcAft>
                <a:spcPts val="1200"/>
              </a:spcAft>
              <a:buClr>
                <a:srgbClr val="005C8A"/>
              </a:buClr>
              <a:buSzPct val="90000"/>
              <a:buFont typeface="Arial" panose="020B0604020202020204" pitchFamily="34" charset="0"/>
              <a:buChar char="•"/>
              <a:tabLst/>
              <a:defRPr/>
            </a:pPr>
            <a:r>
              <a:rPr kumimoji="0" lang="en-US" sz="1400" b="0" i="0" u="none" strike="noStrike" kern="1200" cap="none" spc="0" normalizeH="0" baseline="0" noProof="0" dirty="0">
                <a:ln>
                  <a:noFill/>
                </a:ln>
                <a:solidFill>
                  <a:srgbClr val="005C8A"/>
                </a:solidFill>
                <a:effectLst/>
                <a:uLnTx/>
                <a:uFillTx/>
                <a:latin typeface="Arial" panose="020B0604020202020204"/>
                <a:ea typeface="+mn-ea"/>
                <a:cs typeface="+mn-cs"/>
              </a:rPr>
              <a:t>The transit gateway interconnects the VPC gateways within a project</a:t>
            </a:r>
          </a:p>
        </p:txBody>
      </p:sp>
      <p:cxnSp>
        <p:nvCxnSpPr>
          <p:cNvPr id="27" name="!!greystuff">
            <a:extLst>
              <a:ext uri="{FF2B5EF4-FFF2-40B4-BE49-F238E27FC236}">
                <a16:creationId xmlns:a16="http://schemas.microsoft.com/office/drawing/2014/main" id="{5DDE7325-9AB8-7F26-7CAD-DF39BB234153}"/>
              </a:ext>
            </a:extLst>
          </p:cNvPr>
          <p:cNvCxnSpPr>
            <a:cxnSpLocks/>
          </p:cNvCxnSpPr>
          <p:nvPr/>
        </p:nvCxnSpPr>
        <p:spPr bwMode="gray">
          <a:xfrm flipV="1">
            <a:off x="2098344" y="1939636"/>
            <a:ext cx="0" cy="117764"/>
          </a:xfrm>
          <a:prstGeom prst="line">
            <a:avLst/>
          </a:prstGeom>
          <a:ln w="25400" cap="rnd">
            <a:solidFill>
              <a:schemeClr val="tx1">
                <a:lumMod val="50000"/>
                <a:lumOff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EF34A00-AF56-B4A8-BACD-01633371D857}"/>
              </a:ext>
            </a:extLst>
          </p:cNvPr>
          <p:cNvCxnSpPr>
            <a:cxnSpLocks/>
          </p:cNvCxnSpPr>
          <p:nvPr/>
        </p:nvCxnSpPr>
        <p:spPr bwMode="gray">
          <a:xfrm flipV="1">
            <a:off x="2785143" y="1939636"/>
            <a:ext cx="0" cy="117764"/>
          </a:xfrm>
          <a:prstGeom prst="line">
            <a:avLst/>
          </a:prstGeom>
          <a:ln w="25400" cap="rnd">
            <a:solidFill>
              <a:schemeClr val="tx1">
                <a:lumMod val="50000"/>
                <a:lumOff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7" name="!!bob123">
            <a:extLst>
              <a:ext uri="{FF2B5EF4-FFF2-40B4-BE49-F238E27FC236}">
                <a16:creationId xmlns:a16="http://schemas.microsoft.com/office/drawing/2014/main" id="{30D9A4DB-49A5-3E4F-F3C5-B39D84F1AAA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flipV="1">
            <a:off x="5180013" y="1589923"/>
            <a:ext cx="7020000"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cxnSp>
        <p:nvCxnSpPr>
          <p:cNvPr id="2" name="!!TGW-uplink2">
            <a:extLst>
              <a:ext uri="{FF2B5EF4-FFF2-40B4-BE49-F238E27FC236}">
                <a16:creationId xmlns:a16="http://schemas.microsoft.com/office/drawing/2014/main" id="{80919EF9-6865-3E29-CF9D-2F229778B795}"/>
              </a:ext>
            </a:extLst>
          </p:cNvPr>
          <p:cNvCxnSpPr>
            <a:cxnSpLocks/>
          </p:cNvCxnSpPr>
          <p:nvPr/>
        </p:nvCxnSpPr>
        <p:spPr bwMode="gray">
          <a:xfrm>
            <a:off x="2442153" y="3240157"/>
            <a:ext cx="0" cy="179074"/>
          </a:xfrm>
          <a:prstGeom prst="line">
            <a:avLst/>
          </a:prstGeom>
          <a:ln w="25400" cap="rnd">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 name="!!BOTTOM">
            <a:extLst>
              <a:ext uri="{FF2B5EF4-FFF2-40B4-BE49-F238E27FC236}">
                <a16:creationId xmlns:a16="http://schemas.microsoft.com/office/drawing/2014/main" id="{9A8FC889-B70F-1814-FA30-56A77653ED1F}"/>
              </a:ext>
            </a:extLst>
          </p:cNvPr>
          <p:cNvSpPr/>
          <p:nvPr/>
        </p:nvSpPr>
        <p:spPr>
          <a:xfrm rot="10800000" flipV="1">
            <a:off x="608013" y="1600200"/>
            <a:ext cx="3657600" cy="359229"/>
          </a:xfrm>
          <a:prstGeom prst="round2SameRect">
            <a:avLst>
              <a:gd name="adj1" fmla="val 20630"/>
              <a:gd name="adj2" fmla="val 0"/>
            </a:avLst>
          </a:prstGeom>
          <a:solidFill>
            <a:srgbClr val="E8E8EA"/>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rPr>
              <a:t>PHYSICAL NETWORK</a:t>
            </a:r>
          </a:p>
        </p:txBody>
      </p:sp>
    </p:spTree>
    <p:extLst>
      <p:ext uri="{BB962C8B-B14F-4D97-AF65-F5344CB8AC3E}">
        <p14:creationId xmlns:p14="http://schemas.microsoft.com/office/powerpoint/2010/main" val="3097966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6">
                                            <p:txEl>
                                              <p:pRg st="7" end="7"/>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xEl>
                                              <p:pRg st="8" end="8"/>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6">
                                            <p:txEl>
                                              <p:pRg st="9" end="9"/>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33" grpId="0"/>
      <p:bldP spid="88" grpId="0"/>
      <p:bldP spid="35" grpId="0" animBg="1"/>
      <p:bldP spid="89"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38092-6EBA-8E98-3B97-A6370725D17C}"/>
            </a:ext>
          </a:extLst>
        </p:cNvPr>
        <p:cNvGrpSpPr/>
        <p:nvPr/>
      </p:nvGrpSpPr>
      <p:grpSpPr>
        <a:xfrm>
          <a:off x="0" y="0"/>
          <a:ext cx="0" cy="0"/>
          <a:chOff x="0" y="0"/>
          <a:chExt cx="0" cy="0"/>
        </a:xfrm>
      </p:grpSpPr>
      <p:cxnSp>
        <p:nvCxnSpPr>
          <p:cNvPr id="46" name="!!greystuff">
            <a:extLst>
              <a:ext uri="{FF2B5EF4-FFF2-40B4-BE49-F238E27FC236}">
                <a16:creationId xmlns:a16="http://schemas.microsoft.com/office/drawing/2014/main" id="{50A6E044-47A8-7C98-4096-1F7D13A81181}"/>
              </a:ext>
            </a:extLst>
          </p:cNvPr>
          <p:cNvCxnSpPr>
            <a:cxnSpLocks/>
          </p:cNvCxnSpPr>
          <p:nvPr/>
        </p:nvCxnSpPr>
        <p:spPr bwMode="gray">
          <a:xfrm flipV="1">
            <a:off x="5401635" y="1939636"/>
            <a:ext cx="0" cy="117764"/>
          </a:xfrm>
          <a:prstGeom prst="line">
            <a:avLst/>
          </a:prstGeom>
          <a:ln w="25400" cap="rnd">
            <a:solidFill>
              <a:schemeClr val="tx1">
                <a:lumMod val="50000"/>
                <a:lumOff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8" name="!!TOP">
            <a:extLst>
              <a:ext uri="{FF2B5EF4-FFF2-40B4-BE49-F238E27FC236}">
                <a16:creationId xmlns:a16="http://schemas.microsoft.com/office/drawing/2014/main" id="{CE0EDF26-72F0-AB5A-1E55-6FEC90E4F9D7}"/>
              </a:ext>
            </a:extLst>
          </p:cNvPr>
          <p:cNvSpPr/>
          <p:nvPr/>
        </p:nvSpPr>
        <p:spPr>
          <a:xfrm flipV="1">
            <a:off x="608013" y="2057400"/>
            <a:ext cx="7315200" cy="4114800"/>
          </a:xfrm>
          <a:prstGeom prst="round2SameRect">
            <a:avLst>
              <a:gd name="adj1" fmla="val 4543"/>
              <a:gd name="adj2" fmla="val 0"/>
            </a:avLst>
          </a:prstGeom>
          <a:solidFill>
            <a:schemeClr val="accent2">
              <a:alpha val="10000"/>
            </a:schemeClr>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endParaRPr>
          </a:p>
        </p:txBody>
      </p:sp>
      <p:sp>
        <p:nvSpPr>
          <p:cNvPr id="50" name="Rounded Rectangle 49">
            <a:extLst>
              <a:ext uri="{FF2B5EF4-FFF2-40B4-BE49-F238E27FC236}">
                <a16:creationId xmlns:a16="http://schemas.microsoft.com/office/drawing/2014/main" id="{09686B4A-5EFD-F172-837D-57F9AC9EA3C4}"/>
              </a:ext>
            </a:extLst>
          </p:cNvPr>
          <p:cNvSpPr/>
          <p:nvPr/>
        </p:nvSpPr>
        <p:spPr bwMode="gray">
          <a:xfrm>
            <a:off x="2365085" y="2263537"/>
            <a:ext cx="1655999" cy="1800000"/>
          </a:xfrm>
          <a:prstGeom prst="roundRect">
            <a:avLst>
              <a:gd name="adj" fmla="val 6464"/>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180" name="Rounded Rectangle 179">
            <a:extLst>
              <a:ext uri="{FF2B5EF4-FFF2-40B4-BE49-F238E27FC236}">
                <a16:creationId xmlns:a16="http://schemas.microsoft.com/office/drawing/2014/main" id="{09BF9099-A942-8740-1455-ACBB7E7FB501}"/>
              </a:ext>
            </a:extLst>
          </p:cNvPr>
          <p:cNvSpPr/>
          <p:nvPr/>
        </p:nvSpPr>
        <p:spPr bwMode="gray">
          <a:xfrm>
            <a:off x="4478745" y="2263536"/>
            <a:ext cx="1655999" cy="1800000"/>
          </a:xfrm>
          <a:prstGeom prst="roundRect">
            <a:avLst>
              <a:gd name="adj" fmla="val 4968"/>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grpSp>
        <p:nvGrpSpPr>
          <p:cNvPr id="6" name="!!ESXis">
            <a:extLst>
              <a:ext uri="{FF2B5EF4-FFF2-40B4-BE49-F238E27FC236}">
                <a16:creationId xmlns:a16="http://schemas.microsoft.com/office/drawing/2014/main" id="{EE4CD68B-601F-D311-876F-D886CFDE9754}"/>
              </a:ext>
            </a:extLst>
          </p:cNvPr>
          <p:cNvGrpSpPr/>
          <p:nvPr/>
        </p:nvGrpSpPr>
        <p:grpSpPr>
          <a:xfrm>
            <a:off x="825778" y="4292425"/>
            <a:ext cx="6859587" cy="1427743"/>
            <a:chOff x="612646" y="2971800"/>
            <a:chExt cx="6859587" cy="2829199"/>
          </a:xfrm>
        </p:grpSpPr>
        <p:sp>
          <p:nvSpPr>
            <p:cNvPr id="8" name="!!ESX1">
              <a:extLst>
                <a:ext uri="{FF2B5EF4-FFF2-40B4-BE49-F238E27FC236}">
                  <a16:creationId xmlns:a16="http://schemas.microsoft.com/office/drawing/2014/main" id="{A1F01AB2-DB2B-1350-7B45-FC418F607820}"/>
                </a:ext>
              </a:extLst>
            </p:cNvPr>
            <p:cNvSpPr/>
            <p:nvPr/>
          </p:nvSpPr>
          <p:spPr bwMode="gray">
            <a:xfrm>
              <a:off x="612646" y="2971800"/>
              <a:ext cx="1371600" cy="2829199"/>
            </a:xfrm>
            <a:prstGeom prst="roundRect">
              <a:avLst>
                <a:gd name="adj" fmla="val 4189"/>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7" name="!!ESX2">
              <a:extLst>
                <a:ext uri="{FF2B5EF4-FFF2-40B4-BE49-F238E27FC236}">
                  <a16:creationId xmlns:a16="http://schemas.microsoft.com/office/drawing/2014/main" id="{9C616E43-8831-9AF9-E8D9-60BAE4BF481A}"/>
                </a:ext>
              </a:extLst>
            </p:cNvPr>
            <p:cNvSpPr/>
            <p:nvPr/>
          </p:nvSpPr>
          <p:spPr bwMode="gray">
            <a:xfrm>
              <a:off x="2436813" y="2971800"/>
              <a:ext cx="1371600" cy="2829199"/>
            </a:xfrm>
            <a:prstGeom prst="roundRect">
              <a:avLst>
                <a:gd name="adj" fmla="val 4902"/>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9" name="ESX3">
              <a:extLst>
                <a:ext uri="{FF2B5EF4-FFF2-40B4-BE49-F238E27FC236}">
                  <a16:creationId xmlns:a16="http://schemas.microsoft.com/office/drawing/2014/main" id="{1D63C774-E8E3-9CD6-A0A8-710741B31BB7}"/>
                </a:ext>
              </a:extLst>
            </p:cNvPr>
            <p:cNvSpPr/>
            <p:nvPr/>
          </p:nvSpPr>
          <p:spPr bwMode="gray">
            <a:xfrm>
              <a:off x="4268184" y="2971800"/>
              <a:ext cx="1371600" cy="2829199"/>
            </a:xfrm>
            <a:prstGeom prst="roundRect">
              <a:avLst>
                <a:gd name="adj" fmla="val 5615"/>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10" name="ESX4">
              <a:extLst>
                <a:ext uri="{FF2B5EF4-FFF2-40B4-BE49-F238E27FC236}">
                  <a16:creationId xmlns:a16="http://schemas.microsoft.com/office/drawing/2014/main" id="{1E00ECE6-0C5A-E56C-D45C-690EFF1E7477}"/>
                </a:ext>
              </a:extLst>
            </p:cNvPr>
            <p:cNvSpPr/>
            <p:nvPr/>
          </p:nvSpPr>
          <p:spPr bwMode="gray">
            <a:xfrm>
              <a:off x="6100633" y="2971800"/>
              <a:ext cx="1371600" cy="2829199"/>
            </a:xfrm>
            <a:prstGeom prst="roundRect">
              <a:avLst>
                <a:gd name="adj" fmla="val 5259"/>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grpSp>
      <p:sp>
        <p:nvSpPr>
          <p:cNvPr id="36" name="Rounded Rectangle 35">
            <a:extLst>
              <a:ext uri="{FF2B5EF4-FFF2-40B4-BE49-F238E27FC236}">
                <a16:creationId xmlns:a16="http://schemas.microsoft.com/office/drawing/2014/main" id="{31105E92-7022-6B71-11F7-48CAF762FB5A}"/>
              </a:ext>
            </a:extLst>
          </p:cNvPr>
          <p:cNvSpPr/>
          <p:nvPr/>
        </p:nvSpPr>
        <p:spPr bwMode="gray">
          <a:xfrm>
            <a:off x="1523724" y="3752892"/>
            <a:ext cx="5911008" cy="982583"/>
          </a:xfrm>
          <a:prstGeom prst="roundRect">
            <a:avLst/>
          </a:prstGeom>
          <a:noFill/>
          <a:ln w="9525">
            <a:solidFill>
              <a:schemeClr val="accent5"/>
            </a:solidFill>
            <a:prstDash val="sys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40" name="Rectangle 39">
            <a:extLst>
              <a:ext uri="{FF2B5EF4-FFF2-40B4-BE49-F238E27FC236}">
                <a16:creationId xmlns:a16="http://schemas.microsoft.com/office/drawing/2014/main" id="{4A8C788E-8EA1-2614-98CA-3D61D1D18179}"/>
              </a:ext>
            </a:extLst>
          </p:cNvPr>
          <p:cNvSpPr/>
          <p:nvPr/>
        </p:nvSpPr>
        <p:spPr bwMode="gray">
          <a:xfrm>
            <a:off x="3057131" y="4624093"/>
            <a:ext cx="237601" cy="252000"/>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44" name="Rectangle 43">
            <a:extLst>
              <a:ext uri="{FF2B5EF4-FFF2-40B4-BE49-F238E27FC236}">
                <a16:creationId xmlns:a16="http://schemas.microsoft.com/office/drawing/2014/main" id="{4C3FB84D-3E32-DA1D-6B43-A0C3A0BC2F7C}"/>
              </a:ext>
            </a:extLst>
          </p:cNvPr>
          <p:cNvSpPr/>
          <p:nvPr/>
        </p:nvSpPr>
        <p:spPr bwMode="gray">
          <a:xfrm>
            <a:off x="4892485" y="4624093"/>
            <a:ext cx="237601" cy="252000"/>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45" name="Rectangle 44">
            <a:extLst>
              <a:ext uri="{FF2B5EF4-FFF2-40B4-BE49-F238E27FC236}">
                <a16:creationId xmlns:a16="http://schemas.microsoft.com/office/drawing/2014/main" id="{6F341282-F803-0960-FAF1-8DB9A100E24B}"/>
              </a:ext>
            </a:extLst>
          </p:cNvPr>
          <p:cNvSpPr/>
          <p:nvPr/>
        </p:nvSpPr>
        <p:spPr bwMode="gray">
          <a:xfrm>
            <a:off x="6718008" y="4624093"/>
            <a:ext cx="237601" cy="252000"/>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E3646E6A-849F-E2B9-8F7F-CB8AC55BEF0E}"/>
              </a:ext>
            </a:extLst>
          </p:cNvPr>
          <p:cNvSpPr>
            <a:spLocks noGrp="1"/>
          </p:cNvSpPr>
          <p:nvPr>
            <p:ph type="title"/>
          </p:nvPr>
        </p:nvSpPr>
        <p:spPr/>
        <p:txBody>
          <a:bodyPr/>
          <a:lstStyle/>
          <a:p>
            <a:r>
              <a:rPr lang="en-US" dirty="0"/>
              <a:t>External Connectivity with Centralized Services</a:t>
            </a:r>
          </a:p>
        </p:txBody>
      </p:sp>
      <p:sp>
        <p:nvSpPr>
          <p:cNvPr id="15" name="Subtitle 14">
            <a:extLst>
              <a:ext uri="{FF2B5EF4-FFF2-40B4-BE49-F238E27FC236}">
                <a16:creationId xmlns:a16="http://schemas.microsoft.com/office/drawing/2014/main" id="{4144E4B6-75DC-A10C-4D36-1FB4D9757DA3}"/>
              </a:ext>
            </a:extLst>
          </p:cNvPr>
          <p:cNvSpPr>
            <a:spLocks noGrp="1"/>
          </p:cNvSpPr>
          <p:nvPr>
            <p:ph type="subTitle" idx="10"/>
          </p:nvPr>
        </p:nvSpPr>
        <p:spPr/>
        <p:txBody>
          <a:bodyPr/>
          <a:lstStyle/>
          <a:p>
            <a:r>
              <a:rPr lang="en-US" dirty="0"/>
              <a:t>Centralized Transit Gateway</a:t>
            </a:r>
          </a:p>
        </p:txBody>
      </p:sp>
      <p:sp>
        <p:nvSpPr>
          <p:cNvPr id="187" name="Text Placeholder 186">
            <a:extLst>
              <a:ext uri="{FF2B5EF4-FFF2-40B4-BE49-F238E27FC236}">
                <a16:creationId xmlns:a16="http://schemas.microsoft.com/office/drawing/2014/main" id="{E02BD8FE-9893-99BB-0131-E5D02C7C7112}"/>
              </a:ext>
            </a:extLst>
          </p:cNvPr>
          <p:cNvSpPr>
            <a:spLocks noGrp="1"/>
          </p:cNvSpPr>
          <p:nvPr>
            <p:ph type="body" sz="quarter" idx="4294967295"/>
          </p:nvPr>
        </p:nvSpPr>
        <p:spPr>
          <a:xfrm>
            <a:off x="8380413" y="2057400"/>
            <a:ext cx="3808412" cy="4114800"/>
          </a:xfrm>
        </p:spPr>
        <p:txBody>
          <a:bodyPr rIns="540000"/>
          <a:lstStyle/>
          <a:p>
            <a:pPr marL="180000" indent="0">
              <a:spcAft>
                <a:spcPts val="600"/>
              </a:spcAft>
              <a:buNone/>
            </a:pPr>
            <a:r>
              <a:rPr lang="en-US" sz="1600" dirty="0">
                <a:solidFill>
                  <a:schemeClr val="accent2"/>
                </a:solidFill>
              </a:rPr>
              <a:t>When attached to a </a:t>
            </a:r>
            <a:r>
              <a:rPr lang="en-US" sz="1600" b="1" dirty="0">
                <a:solidFill>
                  <a:schemeClr val="accent2"/>
                </a:solidFill>
              </a:rPr>
              <a:t>centralized</a:t>
            </a:r>
            <a:r>
              <a:rPr lang="en-US" sz="1600" dirty="0">
                <a:solidFill>
                  <a:schemeClr val="accent2"/>
                </a:solidFill>
              </a:rPr>
              <a:t> external connection, the transit gateway has a component running on an NSX edge.</a:t>
            </a:r>
          </a:p>
          <a:p>
            <a:pPr marL="180000" indent="0">
              <a:spcAft>
                <a:spcPts val="600"/>
              </a:spcAft>
            </a:pPr>
            <a:r>
              <a:rPr lang="en-US" sz="1600" dirty="0">
                <a:solidFill>
                  <a:schemeClr val="accent2"/>
                </a:solidFill>
              </a:rPr>
              <a:t>NSX edges required for:</a:t>
            </a:r>
          </a:p>
          <a:p>
            <a:pPr marL="540000" lvl="1">
              <a:spcBef>
                <a:spcPts val="600"/>
              </a:spcBef>
              <a:buClr>
                <a:schemeClr val="accent2"/>
              </a:buClr>
            </a:pPr>
            <a:r>
              <a:rPr lang="en-US" sz="1400" dirty="0">
                <a:solidFill>
                  <a:schemeClr val="accent2"/>
                </a:solidFill>
              </a:rPr>
              <a:t>NAT</a:t>
            </a:r>
          </a:p>
          <a:p>
            <a:pPr marL="540000" lvl="1">
              <a:spcBef>
                <a:spcPts val="600"/>
              </a:spcBef>
              <a:buClr>
                <a:schemeClr val="accent2"/>
              </a:buClr>
            </a:pPr>
            <a:r>
              <a:rPr lang="en-US" sz="1400" dirty="0">
                <a:solidFill>
                  <a:schemeClr val="accent2"/>
                </a:solidFill>
              </a:rPr>
              <a:t>DHCP</a:t>
            </a:r>
          </a:p>
          <a:p>
            <a:pPr marL="540000" lvl="1">
              <a:spcBef>
                <a:spcPts val="600"/>
              </a:spcBef>
              <a:buClr>
                <a:schemeClr val="accent2"/>
              </a:buClr>
            </a:pPr>
            <a:r>
              <a:rPr lang="en-US" sz="1400" dirty="0">
                <a:solidFill>
                  <a:schemeClr val="accent2"/>
                </a:solidFill>
              </a:rPr>
              <a:t>QoS profiles</a:t>
            </a:r>
          </a:p>
          <a:p>
            <a:pPr marL="540000" lvl="1">
              <a:spcBef>
                <a:spcPts val="600"/>
              </a:spcBef>
              <a:buClr>
                <a:schemeClr val="accent2"/>
              </a:buClr>
            </a:pPr>
            <a:r>
              <a:rPr lang="en-US" sz="1400" dirty="0">
                <a:solidFill>
                  <a:schemeClr val="accent2"/>
                </a:solidFill>
              </a:rPr>
              <a:t>Gateway firewall (with license)</a:t>
            </a:r>
          </a:p>
          <a:p>
            <a:pPr marL="540000" lvl="1">
              <a:spcBef>
                <a:spcPts val="600"/>
              </a:spcBef>
              <a:buClr>
                <a:schemeClr val="accent2"/>
              </a:buClr>
            </a:pPr>
            <a:r>
              <a:rPr lang="en-US" sz="1400" dirty="0">
                <a:solidFill>
                  <a:schemeClr val="accent2"/>
                </a:solidFill>
              </a:rPr>
              <a:t>Supervisor cluster and VCF automation modern experience</a:t>
            </a:r>
          </a:p>
        </p:txBody>
      </p:sp>
      <p:sp>
        <p:nvSpPr>
          <p:cNvPr id="88" name="!!T0">
            <a:extLst>
              <a:ext uri="{FF2B5EF4-FFF2-40B4-BE49-F238E27FC236}">
                <a16:creationId xmlns:a16="http://schemas.microsoft.com/office/drawing/2014/main" id="{8CB00145-2E7D-A2C4-A0E4-E7E289F5B162}"/>
              </a:ext>
            </a:extLst>
          </p:cNvPr>
          <p:cNvSpPr txBox="1"/>
          <p:nvPr/>
        </p:nvSpPr>
        <p:spPr>
          <a:xfrm>
            <a:off x="2765169" y="2461982"/>
            <a:ext cx="902735"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5C8A"/>
                </a:solidFill>
                <a:effectLst/>
                <a:uLnTx/>
                <a:uFillTx/>
                <a:latin typeface="Arial" panose="020B0604020202020204"/>
                <a:ea typeface="+mn-ea"/>
                <a:cs typeface="+mn-cs"/>
              </a:rPr>
              <a:t>Tier0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5C8A"/>
                </a:solidFill>
                <a:effectLst/>
                <a:uLnTx/>
                <a:uFillTx/>
                <a:latin typeface="Arial" panose="020B0604020202020204"/>
                <a:ea typeface="+mn-ea"/>
                <a:cs typeface="+mn-cs"/>
              </a:rPr>
              <a:t>Gateway</a:t>
            </a:r>
          </a:p>
        </p:txBody>
      </p:sp>
      <p:sp>
        <p:nvSpPr>
          <p:cNvPr id="35" name="!!Tier0">
            <a:extLst>
              <a:ext uri="{FF2B5EF4-FFF2-40B4-BE49-F238E27FC236}">
                <a16:creationId xmlns:a16="http://schemas.microsoft.com/office/drawing/2014/main" id="{9BBE9977-1C28-5918-7F23-DEDEC8DA112C}"/>
              </a:ext>
            </a:extLst>
          </p:cNvPr>
          <p:cNvSpPr txBox="1">
            <a:spLocks noChangeAspect="1"/>
          </p:cNvSpPr>
          <p:nvPr/>
        </p:nvSpPr>
        <p:spPr>
          <a:xfrm>
            <a:off x="3304239" y="2339738"/>
            <a:ext cx="540000" cy="540000"/>
          </a:xfrm>
          <a:custGeom>
            <a:avLst/>
            <a:gdLst/>
            <a:ahLst/>
            <a:cxnLst/>
            <a:rect l="l" t="t" r="r" b="b"/>
            <a:pathLst>
              <a:path w="3411855" h="3411855">
                <a:moveTo>
                  <a:pt x="1616141" y="2365151"/>
                </a:moveTo>
                <a:lnTo>
                  <a:pt x="1795712" y="2365151"/>
                </a:lnTo>
                <a:lnTo>
                  <a:pt x="1795712" y="2702754"/>
                </a:lnTo>
                <a:lnTo>
                  <a:pt x="1947657" y="2702754"/>
                </a:lnTo>
                <a:lnTo>
                  <a:pt x="1705927" y="3121293"/>
                </a:lnTo>
                <a:lnTo>
                  <a:pt x="1464196" y="2702754"/>
                </a:lnTo>
                <a:lnTo>
                  <a:pt x="1616141" y="2702754"/>
                </a:lnTo>
                <a:close/>
                <a:moveTo>
                  <a:pt x="1943213" y="1472645"/>
                </a:moveTo>
                <a:cubicBezTo>
                  <a:pt x="1909685" y="1472645"/>
                  <a:pt x="1879790" y="1482703"/>
                  <a:pt x="1853526" y="1502820"/>
                </a:cubicBezTo>
                <a:cubicBezTo>
                  <a:pt x="1827262" y="1522937"/>
                  <a:pt x="1806726" y="1551017"/>
                  <a:pt x="1791918" y="1587059"/>
                </a:cubicBezTo>
                <a:cubicBezTo>
                  <a:pt x="1777110" y="1623102"/>
                  <a:pt x="1769706" y="1664034"/>
                  <a:pt x="1769706" y="1709855"/>
                </a:cubicBezTo>
                <a:cubicBezTo>
                  <a:pt x="1769706" y="1755677"/>
                  <a:pt x="1777110" y="1796609"/>
                  <a:pt x="1791918" y="1832652"/>
                </a:cubicBezTo>
                <a:cubicBezTo>
                  <a:pt x="1806726" y="1868694"/>
                  <a:pt x="1827262" y="1896914"/>
                  <a:pt x="1853526" y="1917310"/>
                </a:cubicBezTo>
                <a:cubicBezTo>
                  <a:pt x="1879790" y="1937706"/>
                  <a:pt x="1909685" y="1947904"/>
                  <a:pt x="1943213" y="1947904"/>
                </a:cubicBezTo>
                <a:cubicBezTo>
                  <a:pt x="1976741" y="1947904"/>
                  <a:pt x="2006637" y="1937706"/>
                  <a:pt x="2032901" y="1917310"/>
                </a:cubicBezTo>
                <a:cubicBezTo>
                  <a:pt x="2059164" y="1896914"/>
                  <a:pt x="2079561" y="1868694"/>
                  <a:pt x="2094089" y="1832652"/>
                </a:cubicBezTo>
                <a:cubicBezTo>
                  <a:pt x="2108618" y="1796609"/>
                  <a:pt x="2115883" y="1755677"/>
                  <a:pt x="2115883" y="1709855"/>
                </a:cubicBezTo>
                <a:cubicBezTo>
                  <a:pt x="2115883" y="1664034"/>
                  <a:pt x="2108618" y="1623102"/>
                  <a:pt x="2094089" y="1587059"/>
                </a:cubicBezTo>
                <a:cubicBezTo>
                  <a:pt x="2079561" y="1551017"/>
                  <a:pt x="2059164" y="1522937"/>
                  <a:pt x="2032901" y="1502820"/>
                </a:cubicBezTo>
                <a:cubicBezTo>
                  <a:pt x="2006637" y="1482703"/>
                  <a:pt x="1976741" y="1472645"/>
                  <a:pt x="1943213" y="1472645"/>
                </a:cubicBezTo>
                <a:close/>
                <a:moveTo>
                  <a:pt x="2786046" y="1464196"/>
                </a:moveTo>
                <a:lnTo>
                  <a:pt x="2786046" y="1616141"/>
                </a:lnTo>
                <a:lnTo>
                  <a:pt x="3123649" y="1616141"/>
                </a:lnTo>
                <a:lnTo>
                  <a:pt x="3123649" y="1795712"/>
                </a:lnTo>
                <a:lnTo>
                  <a:pt x="2786046" y="1795712"/>
                </a:lnTo>
                <a:lnTo>
                  <a:pt x="2786046" y="1947657"/>
                </a:lnTo>
                <a:lnTo>
                  <a:pt x="2367507" y="1705927"/>
                </a:lnTo>
                <a:close/>
                <a:moveTo>
                  <a:pt x="609184" y="1464195"/>
                </a:moveTo>
                <a:lnTo>
                  <a:pt x="1027723" y="1705925"/>
                </a:lnTo>
                <a:lnTo>
                  <a:pt x="609184" y="1947656"/>
                </a:lnTo>
                <a:lnTo>
                  <a:pt x="609184" y="1795711"/>
                </a:lnTo>
                <a:lnTo>
                  <a:pt x="271581" y="1795711"/>
                </a:lnTo>
                <a:lnTo>
                  <a:pt x="271581" y="1616140"/>
                </a:lnTo>
                <a:lnTo>
                  <a:pt x="609184" y="1616140"/>
                </a:lnTo>
                <a:close/>
                <a:moveTo>
                  <a:pt x="1178851" y="1422353"/>
                </a:moveTo>
                <a:lnTo>
                  <a:pt x="1631479" y="1422353"/>
                </a:lnTo>
                <a:lnTo>
                  <a:pt x="1631479" y="1484380"/>
                </a:lnTo>
                <a:lnTo>
                  <a:pt x="1437855" y="1484380"/>
                </a:lnTo>
                <a:lnTo>
                  <a:pt x="1437855" y="1998196"/>
                </a:lnTo>
                <a:lnTo>
                  <a:pt x="1372475" y="1998196"/>
                </a:lnTo>
                <a:lnTo>
                  <a:pt x="1372475" y="1484380"/>
                </a:lnTo>
                <a:lnTo>
                  <a:pt x="1178851" y="1484380"/>
                </a:lnTo>
                <a:close/>
                <a:moveTo>
                  <a:pt x="1943213" y="1412294"/>
                </a:moveTo>
                <a:cubicBezTo>
                  <a:pt x="1989035" y="1412294"/>
                  <a:pt x="2030107" y="1425007"/>
                  <a:pt x="2066429" y="1450433"/>
                </a:cubicBezTo>
                <a:cubicBezTo>
                  <a:pt x="2102751" y="1475858"/>
                  <a:pt x="2131110" y="1511063"/>
                  <a:pt x="2151506" y="1556046"/>
                </a:cubicBezTo>
                <a:cubicBezTo>
                  <a:pt x="2171902" y="1601029"/>
                  <a:pt x="2182100" y="1652299"/>
                  <a:pt x="2182100" y="1709855"/>
                </a:cubicBezTo>
                <a:cubicBezTo>
                  <a:pt x="2182100" y="1767412"/>
                  <a:pt x="2171902" y="1818821"/>
                  <a:pt x="2151506" y="1864084"/>
                </a:cubicBezTo>
                <a:cubicBezTo>
                  <a:pt x="2131110" y="1909347"/>
                  <a:pt x="2102890" y="1944691"/>
                  <a:pt x="2066848" y="1970116"/>
                </a:cubicBezTo>
                <a:cubicBezTo>
                  <a:pt x="2030805" y="1995542"/>
                  <a:pt x="1989594" y="2008254"/>
                  <a:pt x="1943213" y="2008254"/>
                </a:cubicBezTo>
                <a:cubicBezTo>
                  <a:pt x="1896833" y="2008254"/>
                  <a:pt x="1855482" y="1995542"/>
                  <a:pt x="1819160" y="1970116"/>
                </a:cubicBezTo>
                <a:cubicBezTo>
                  <a:pt x="1782838" y="1944691"/>
                  <a:pt x="1754479" y="1909347"/>
                  <a:pt x="1734082" y="1864084"/>
                </a:cubicBezTo>
                <a:cubicBezTo>
                  <a:pt x="1713686" y="1818821"/>
                  <a:pt x="1703488" y="1767412"/>
                  <a:pt x="1703488" y="1709855"/>
                </a:cubicBezTo>
                <a:cubicBezTo>
                  <a:pt x="1703488" y="1652299"/>
                  <a:pt x="1713686" y="1601029"/>
                  <a:pt x="1734082" y="1556046"/>
                </a:cubicBezTo>
                <a:cubicBezTo>
                  <a:pt x="1754479" y="1511063"/>
                  <a:pt x="1782838" y="1475858"/>
                  <a:pt x="1819160" y="1450433"/>
                </a:cubicBezTo>
                <a:cubicBezTo>
                  <a:pt x="1855482" y="1425007"/>
                  <a:pt x="1896833" y="1412294"/>
                  <a:pt x="1943213" y="1412294"/>
                </a:cubicBezTo>
                <a:close/>
                <a:moveTo>
                  <a:pt x="1705927" y="290561"/>
                </a:moveTo>
                <a:lnTo>
                  <a:pt x="1947657" y="709100"/>
                </a:lnTo>
                <a:lnTo>
                  <a:pt x="1795712" y="709100"/>
                </a:lnTo>
                <a:lnTo>
                  <a:pt x="1795712" y="1046703"/>
                </a:lnTo>
                <a:lnTo>
                  <a:pt x="1616141" y="1046703"/>
                </a:lnTo>
                <a:lnTo>
                  <a:pt x="1616141" y="709100"/>
                </a:lnTo>
                <a:lnTo>
                  <a:pt x="1464196" y="709100"/>
                </a:lnTo>
                <a:close/>
                <a:moveTo>
                  <a:pt x="1705927" y="89786"/>
                </a:moveTo>
                <a:cubicBezTo>
                  <a:pt x="814701" y="89786"/>
                  <a:pt x="89786" y="814701"/>
                  <a:pt x="89786" y="1705928"/>
                </a:cubicBezTo>
                <a:cubicBezTo>
                  <a:pt x="89786" y="2597154"/>
                  <a:pt x="814701" y="3322069"/>
                  <a:pt x="1705927" y="3322069"/>
                </a:cubicBezTo>
                <a:cubicBezTo>
                  <a:pt x="2597154" y="3322069"/>
                  <a:pt x="3322069" y="2597154"/>
                  <a:pt x="3322069" y="1705928"/>
                </a:cubicBezTo>
                <a:cubicBezTo>
                  <a:pt x="3322069" y="814701"/>
                  <a:pt x="2597154" y="89786"/>
                  <a:pt x="1705927" y="89786"/>
                </a:cubicBezTo>
                <a:close/>
                <a:moveTo>
                  <a:pt x="1705927" y="0"/>
                </a:moveTo>
                <a:cubicBezTo>
                  <a:pt x="2647986" y="0"/>
                  <a:pt x="3411855" y="763869"/>
                  <a:pt x="3411855" y="1705928"/>
                </a:cubicBezTo>
                <a:cubicBezTo>
                  <a:pt x="3411855" y="2647986"/>
                  <a:pt x="2647986" y="3411855"/>
                  <a:pt x="1705927" y="3411855"/>
                </a:cubicBezTo>
                <a:cubicBezTo>
                  <a:pt x="763869" y="3411855"/>
                  <a:pt x="0" y="2647986"/>
                  <a:pt x="0" y="1705928"/>
                </a:cubicBezTo>
                <a:cubicBezTo>
                  <a:pt x="0" y="763869"/>
                  <a:pt x="763869" y="0"/>
                  <a:pt x="1705927" y="0"/>
                </a:cubicBez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6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72" name="!!Tier0-uplink">
            <a:extLst>
              <a:ext uri="{FF2B5EF4-FFF2-40B4-BE49-F238E27FC236}">
                <a16:creationId xmlns:a16="http://schemas.microsoft.com/office/drawing/2014/main" id="{4712AB3C-ADA7-851D-BF8E-680D327A2472}"/>
              </a:ext>
            </a:extLst>
          </p:cNvPr>
          <p:cNvCxnSpPr>
            <a:cxnSpLocks/>
          </p:cNvCxnSpPr>
          <p:nvPr/>
        </p:nvCxnSpPr>
        <p:spPr bwMode="gray">
          <a:xfrm flipV="1">
            <a:off x="3570290" y="2057400"/>
            <a:ext cx="0" cy="276726"/>
          </a:xfrm>
          <a:prstGeom prst="line">
            <a:avLst/>
          </a:prstGeom>
          <a:ln w="25400" cap="rnd">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7" name="!!greystuff">
            <a:extLst>
              <a:ext uri="{FF2B5EF4-FFF2-40B4-BE49-F238E27FC236}">
                <a16:creationId xmlns:a16="http://schemas.microsoft.com/office/drawing/2014/main" id="{2930913A-E858-4D97-D2F5-BB51937991F6}"/>
              </a:ext>
            </a:extLst>
          </p:cNvPr>
          <p:cNvCxnSpPr>
            <a:cxnSpLocks/>
          </p:cNvCxnSpPr>
          <p:nvPr/>
        </p:nvCxnSpPr>
        <p:spPr bwMode="gray">
          <a:xfrm flipV="1">
            <a:off x="3570290" y="1939636"/>
            <a:ext cx="0" cy="117764"/>
          </a:xfrm>
          <a:prstGeom prst="line">
            <a:avLst/>
          </a:prstGeom>
          <a:ln w="25400" cap="rnd">
            <a:solidFill>
              <a:schemeClr val="tx1">
                <a:lumMod val="50000"/>
                <a:lumOff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A8DECBFB-999A-F3BF-1A84-3E36CD1843F9}"/>
              </a:ext>
            </a:extLst>
          </p:cNvPr>
          <p:cNvSpPr txBox="1">
            <a:spLocks noChangeAspect="1"/>
          </p:cNvSpPr>
          <p:nvPr/>
        </p:nvSpPr>
        <p:spPr>
          <a:xfrm>
            <a:off x="5134085" y="3151000"/>
            <a:ext cx="541238" cy="540000"/>
          </a:xfrm>
          <a:custGeom>
            <a:avLst/>
            <a:gdLst/>
            <a:ahLst/>
            <a:cxnLst/>
            <a:rect l="l" t="t" r="r" b="b"/>
            <a:pathLst>
              <a:path w="1139359" h="1139359">
                <a:moveTo>
                  <a:pt x="517596" y="524233"/>
                </a:moveTo>
                <a:lnTo>
                  <a:pt x="620278" y="524233"/>
                </a:lnTo>
                <a:lnTo>
                  <a:pt x="620278" y="539520"/>
                </a:lnTo>
                <a:lnTo>
                  <a:pt x="577421" y="539520"/>
                </a:lnTo>
                <a:lnTo>
                  <a:pt x="577421" y="653778"/>
                </a:lnTo>
                <a:lnTo>
                  <a:pt x="560277" y="653778"/>
                </a:lnTo>
                <a:lnTo>
                  <a:pt x="560277" y="539520"/>
                </a:lnTo>
                <a:lnTo>
                  <a:pt x="517596" y="539520"/>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4"/>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p:txBody>
      </p:sp>
      <p:cxnSp>
        <p:nvCxnSpPr>
          <p:cNvPr id="178" name="Straight Connector 177">
            <a:extLst>
              <a:ext uri="{FF2B5EF4-FFF2-40B4-BE49-F238E27FC236}">
                <a16:creationId xmlns:a16="http://schemas.microsoft.com/office/drawing/2014/main" id="{55081877-EBC3-B68E-275B-AA44F808F1A0}"/>
              </a:ext>
            </a:extLst>
          </p:cNvPr>
          <p:cNvCxnSpPr>
            <a:cxnSpLocks/>
          </p:cNvCxnSpPr>
          <p:nvPr/>
        </p:nvCxnSpPr>
        <p:spPr bwMode="gray">
          <a:xfrm flipV="1">
            <a:off x="5401635" y="2057400"/>
            <a:ext cx="0" cy="276726"/>
          </a:xfrm>
          <a:prstGeom prst="line">
            <a:avLst/>
          </a:prstGeom>
          <a:ln w="25400" cap="rnd">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83" name="!!bob">
            <a:extLst>
              <a:ext uri="{FF2B5EF4-FFF2-40B4-BE49-F238E27FC236}">
                <a16:creationId xmlns:a16="http://schemas.microsoft.com/office/drawing/2014/main" id="{9B531449-2145-B157-F25A-83E47B3CA4F5}"/>
              </a:ext>
            </a:extLst>
          </p:cNvPr>
          <p:cNvSpPr txBox="1">
            <a:spLocks noChangeAspect="1"/>
          </p:cNvSpPr>
          <p:nvPr/>
        </p:nvSpPr>
        <p:spPr>
          <a:xfrm>
            <a:off x="5131072" y="2339738"/>
            <a:ext cx="540000" cy="540000"/>
          </a:xfrm>
          <a:custGeom>
            <a:avLst/>
            <a:gdLst/>
            <a:ahLst/>
            <a:cxnLst/>
            <a:rect l="l" t="t" r="r" b="b"/>
            <a:pathLst>
              <a:path w="3411855" h="3411855">
                <a:moveTo>
                  <a:pt x="1616141" y="2365151"/>
                </a:moveTo>
                <a:lnTo>
                  <a:pt x="1795712" y="2365151"/>
                </a:lnTo>
                <a:lnTo>
                  <a:pt x="1795712" y="2702754"/>
                </a:lnTo>
                <a:lnTo>
                  <a:pt x="1947657" y="2702754"/>
                </a:lnTo>
                <a:lnTo>
                  <a:pt x="1705927" y="3121293"/>
                </a:lnTo>
                <a:lnTo>
                  <a:pt x="1464196" y="2702754"/>
                </a:lnTo>
                <a:lnTo>
                  <a:pt x="1616141" y="2702754"/>
                </a:lnTo>
                <a:close/>
                <a:moveTo>
                  <a:pt x="1943213" y="1472645"/>
                </a:moveTo>
                <a:cubicBezTo>
                  <a:pt x="1909685" y="1472645"/>
                  <a:pt x="1879790" y="1482703"/>
                  <a:pt x="1853526" y="1502820"/>
                </a:cubicBezTo>
                <a:cubicBezTo>
                  <a:pt x="1827262" y="1522937"/>
                  <a:pt x="1806726" y="1551017"/>
                  <a:pt x="1791918" y="1587059"/>
                </a:cubicBezTo>
                <a:cubicBezTo>
                  <a:pt x="1777110" y="1623102"/>
                  <a:pt x="1769706" y="1664034"/>
                  <a:pt x="1769706" y="1709855"/>
                </a:cubicBezTo>
                <a:cubicBezTo>
                  <a:pt x="1769706" y="1755677"/>
                  <a:pt x="1777110" y="1796609"/>
                  <a:pt x="1791918" y="1832652"/>
                </a:cubicBezTo>
                <a:cubicBezTo>
                  <a:pt x="1806726" y="1868694"/>
                  <a:pt x="1827262" y="1896914"/>
                  <a:pt x="1853526" y="1917310"/>
                </a:cubicBezTo>
                <a:cubicBezTo>
                  <a:pt x="1879790" y="1937706"/>
                  <a:pt x="1909685" y="1947904"/>
                  <a:pt x="1943213" y="1947904"/>
                </a:cubicBezTo>
                <a:cubicBezTo>
                  <a:pt x="1976741" y="1947904"/>
                  <a:pt x="2006637" y="1937706"/>
                  <a:pt x="2032901" y="1917310"/>
                </a:cubicBezTo>
                <a:cubicBezTo>
                  <a:pt x="2059164" y="1896914"/>
                  <a:pt x="2079561" y="1868694"/>
                  <a:pt x="2094089" y="1832652"/>
                </a:cubicBezTo>
                <a:cubicBezTo>
                  <a:pt x="2108618" y="1796609"/>
                  <a:pt x="2115883" y="1755677"/>
                  <a:pt x="2115883" y="1709855"/>
                </a:cubicBezTo>
                <a:cubicBezTo>
                  <a:pt x="2115883" y="1664034"/>
                  <a:pt x="2108618" y="1623102"/>
                  <a:pt x="2094089" y="1587059"/>
                </a:cubicBezTo>
                <a:cubicBezTo>
                  <a:pt x="2079561" y="1551017"/>
                  <a:pt x="2059164" y="1522937"/>
                  <a:pt x="2032901" y="1502820"/>
                </a:cubicBezTo>
                <a:cubicBezTo>
                  <a:pt x="2006637" y="1482703"/>
                  <a:pt x="1976741" y="1472645"/>
                  <a:pt x="1943213" y="1472645"/>
                </a:cubicBezTo>
                <a:close/>
                <a:moveTo>
                  <a:pt x="2786046" y="1464196"/>
                </a:moveTo>
                <a:lnTo>
                  <a:pt x="2786046" y="1616141"/>
                </a:lnTo>
                <a:lnTo>
                  <a:pt x="3123649" y="1616141"/>
                </a:lnTo>
                <a:lnTo>
                  <a:pt x="3123649" y="1795712"/>
                </a:lnTo>
                <a:lnTo>
                  <a:pt x="2786046" y="1795712"/>
                </a:lnTo>
                <a:lnTo>
                  <a:pt x="2786046" y="1947657"/>
                </a:lnTo>
                <a:lnTo>
                  <a:pt x="2367507" y="1705927"/>
                </a:lnTo>
                <a:close/>
                <a:moveTo>
                  <a:pt x="609184" y="1464195"/>
                </a:moveTo>
                <a:lnTo>
                  <a:pt x="1027723" y="1705925"/>
                </a:lnTo>
                <a:lnTo>
                  <a:pt x="609184" y="1947656"/>
                </a:lnTo>
                <a:lnTo>
                  <a:pt x="609184" y="1795711"/>
                </a:lnTo>
                <a:lnTo>
                  <a:pt x="271581" y="1795711"/>
                </a:lnTo>
                <a:lnTo>
                  <a:pt x="271581" y="1616140"/>
                </a:lnTo>
                <a:lnTo>
                  <a:pt x="609184" y="1616140"/>
                </a:lnTo>
                <a:close/>
                <a:moveTo>
                  <a:pt x="1178851" y="1422353"/>
                </a:moveTo>
                <a:lnTo>
                  <a:pt x="1631479" y="1422353"/>
                </a:lnTo>
                <a:lnTo>
                  <a:pt x="1631479" y="1484380"/>
                </a:lnTo>
                <a:lnTo>
                  <a:pt x="1437855" y="1484380"/>
                </a:lnTo>
                <a:lnTo>
                  <a:pt x="1437855" y="1998196"/>
                </a:lnTo>
                <a:lnTo>
                  <a:pt x="1372475" y="1998196"/>
                </a:lnTo>
                <a:lnTo>
                  <a:pt x="1372475" y="1484380"/>
                </a:lnTo>
                <a:lnTo>
                  <a:pt x="1178851" y="1484380"/>
                </a:lnTo>
                <a:close/>
                <a:moveTo>
                  <a:pt x="1943213" y="1412294"/>
                </a:moveTo>
                <a:cubicBezTo>
                  <a:pt x="1989035" y="1412294"/>
                  <a:pt x="2030107" y="1425007"/>
                  <a:pt x="2066429" y="1450433"/>
                </a:cubicBezTo>
                <a:cubicBezTo>
                  <a:pt x="2102751" y="1475858"/>
                  <a:pt x="2131110" y="1511063"/>
                  <a:pt x="2151506" y="1556046"/>
                </a:cubicBezTo>
                <a:cubicBezTo>
                  <a:pt x="2171902" y="1601029"/>
                  <a:pt x="2182100" y="1652299"/>
                  <a:pt x="2182100" y="1709855"/>
                </a:cubicBezTo>
                <a:cubicBezTo>
                  <a:pt x="2182100" y="1767412"/>
                  <a:pt x="2171902" y="1818821"/>
                  <a:pt x="2151506" y="1864084"/>
                </a:cubicBezTo>
                <a:cubicBezTo>
                  <a:pt x="2131110" y="1909347"/>
                  <a:pt x="2102890" y="1944691"/>
                  <a:pt x="2066848" y="1970116"/>
                </a:cubicBezTo>
                <a:cubicBezTo>
                  <a:pt x="2030805" y="1995542"/>
                  <a:pt x="1989594" y="2008254"/>
                  <a:pt x="1943213" y="2008254"/>
                </a:cubicBezTo>
                <a:cubicBezTo>
                  <a:pt x="1896833" y="2008254"/>
                  <a:pt x="1855482" y="1995542"/>
                  <a:pt x="1819160" y="1970116"/>
                </a:cubicBezTo>
                <a:cubicBezTo>
                  <a:pt x="1782838" y="1944691"/>
                  <a:pt x="1754479" y="1909347"/>
                  <a:pt x="1734082" y="1864084"/>
                </a:cubicBezTo>
                <a:cubicBezTo>
                  <a:pt x="1713686" y="1818821"/>
                  <a:pt x="1703488" y="1767412"/>
                  <a:pt x="1703488" y="1709855"/>
                </a:cubicBezTo>
                <a:cubicBezTo>
                  <a:pt x="1703488" y="1652299"/>
                  <a:pt x="1713686" y="1601029"/>
                  <a:pt x="1734082" y="1556046"/>
                </a:cubicBezTo>
                <a:cubicBezTo>
                  <a:pt x="1754479" y="1511063"/>
                  <a:pt x="1782838" y="1475858"/>
                  <a:pt x="1819160" y="1450433"/>
                </a:cubicBezTo>
                <a:cubicBezTo>
                  <a:pt x="1855482" y="1425007"/>
                  <a:pt x="1896833" y="1412294"/>
                  <a:pt x="1943213" y="1412294"/>
                </a:cubicBezTo>
                <a:close/>
                <a:moveTo>
                  <a:pt x="1705927" y="290561"/>
                </a:moveTo>
                <a:lnTo>
                  <a:pt x="1947657" y="709100"/>
                </a:lnTo>
                <a:lnTo>
                  <a:pt x="1795712" y="709100"/>
                </a:lnTo>
                <a:lnTo>
                  <a:pt x="1795712" y="1046703"/>
                </a:lnTo>
                <a:lnTo>
                  <a:pt x="1616141" y="1046703"/>
                </a:lnTo>
                <a:lnTo>
                  <a:pt x="1616141" y="709100"/>
                </a:lnTo>
                <a:lnTo>
                  <a:pt x="1464196" y="709100"/>
                </a:lnTo>
                <a:close/>
                <a:moveTo>
                  <a:pt x="1705927" y="89786"/>
                </a:moveTo>
                <a:cubicBezTo>
                  <a:pt x="814701" y="89786"/>
                  <a:pt x="89786" y="814701"/>
                  <a:pt x="89786" y="1705928"/>
                </a:cubicBezTo>
                <a:cubicBezTo>
                  <a:pt x="89786" y="2597154"/>
                  <a:pt x="814701" y="3322069"/>
                  <a:pt x="1705927" y="3322069"/>
                </a:cubicBezTo>
                <a:cubicBezTo>
                  <a:pt x="2597154" y="3322069"/>
                  <a:pt x="3322069" y="2597154"/>
                  <a:pt x="3322069" y="1705928"/>
                </a:cubicBezTo>
                <a:cubicBezTo>
                  <a:pt x="3322069" y="814701"/>
                  <a:pt x="2597154" y="89786"/>
                  <a:pt x="1705927" y="89786"/>
                </a:cubicBezTo>
                <a:close/>
                <a:moveTo>
                  <a:pt x="1705927" y="0"/>
                </a:moveTo>
                <a:cubicBezTo>
                  <a:pt x="2647986" y="0"/>
                  <a:pt x="3411855" y="763869"/>
                  <a:pt x="3411855" y="1705928"/>
                </a:cubicBezTo>
                <a:cubicBezTo>
                  <a:pt x="3411855" y="2647986"/>
                  <a:pt x="2647986" y="3411855"/>
                  <a:pt x="1705927" y="3411855"/>
                </a:cubicBezTo>
                <a:cubicBezTo>
                  <a:pt x="763869" y="3411855"/>
                  <a:pt x="0" y="2647986"/>
                  <a:pt x="0" y="1705928"/>
                </a:cubicBezTo>
                <a:cubicBezTo>
                  <a:pt x="0" y="763869"/>
                  <a:pt x="763869" y="0"/>
                  <a:pt x="1705927" y="0"/>
                </a:cubicBez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6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73" name="Straight Connector 72">
            <a:extLst>
              <a:ext uri="{FF2B5EF4-FFF2-40B4-BE49-F238E27FC236}">
                <a16:creationId xmlns:a16="http://schemas.microsoft.com/office/drawing/2014/main" id="{48A417A0-1757-C7F8-EC53-0C27DFA5062C}"/>
              </a:ext>
            </a:extLst>
          </p:cNvPr>
          <p:cNvCxnSpPr>
            <a:cxnSpLocks/>
          </p:cNvCxnSpPr>
          <p:nvPr/>
        </p:nvCxnSpPr>
        <p:spPr bwMode="gray">
          <a:xfrm>
            <a:off x="3570743" y="3704492"/>
            <a:ext cx="0" cy="648677"/>
          </a:xfrm>
          <a:prstGeom prst="line">
            <a:avLst/>
          </a:prstGeom>
          <a:ln w="25400" cap="rnd">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8E2F05A0-98D4-61AA-1D41-51F97B8BC7AE}"/>
              </a:ext>
            </a:extLst>
          </p:cNvPr>
          <p:cNvCxnSpPr>
            <a:cxnSpLocks/>
          </p:cNvCxnSpPr>
          <p:nvPr/>
        </p:nvCxnSpPr>
        <p:spPr bwMode="gray">
          <a:xfrm flipH="1">
            <a:off x="1278345" y="4183476"/>
            <a:ext cx="6400800" cy="0"/>
          </a:xfrm>
          <a:prstGeom prst="line">
            <a:avLst/>
          </a:prstGeom>
          <a:ln w="25400" cap="rnd">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788E199-E70A-6AD7-40E8-B7D877A3F807}"/>
              </a:ext>
            </a:extLst>
          </p:cNvPr>
          <p:cNvCxnSpPr>
            <a:cxnSpLocks/>
          </p:cNvCxnSpPr>
          <p:nvPr/>
        </p:nvCxnSpPr>
        <p:spPr bwMode="gray">
          <a:xfrm>
            <a:off x="5397780" y="3691473"/>
            <a:ext cx="0" cy="654321"/>
          </a:xfrm>
          <a:prstGeom prst="line">
            <a:avLst/>
          </a:prstGeom>
          <a:ln w="25400" cap="rnd">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DAD5B28D-1F33-B8E0-D0A1-A7F8FD5C5865}"/>
              </a:ext>
            </a:extLst>
          </p:cNvPr>
          <p:cNvCxnSpPr>
            <a:cxnSpLocks/>
          </p:cNvCxnSpPr>
          <p:nvPr/>
        </p:nvCxnSpPr>
        <p:spPr bwMode="gray">
          <a:xfrm>
            <a:off x="7226580" y="4202320"/>
            <a:ext cx="0" cy="154004"/>
          </a:xfrm>
          <a:prstGeom prst="line">
            <a:avLst/>
          </a:prstGeom>
          <a:ln w="25400" cap="rnd">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9A60867D-99ED-D1DF-3300-A23B9E7A9A8A}"/>
              </a:ext>
            </a:extLst>
          </p:cNvPr>
          <p:cNvGrpSpPr/>
          <p:nvPr/>
        </p:nvGrpSpPr>
        <p:grpSpPr>
          <a:xfrm>
            <a:off x="1023729" y="4355893"/>
            <a:ext cx="6382598" cy="1274400"/>
            <a:chOff x="810597" y="4620600"/>
            <a:chExt cx="6382598" cy="1274400"/>
          </a:xfrm>
        </p:grpSpPr>
        <p:sp>
          <p:nvSpPr>
            <p:cNvPr id="61" name="TextBox 60">
              <a:extLst>
                <a:ext uri="{FF2B5EF4-FFF2-40B4-BE49-F238E27FC236}">
                  <a16:creationId xmlns:a16="http://schemas.microsoft.com/office/drawing/2014/main" id="{B0639582-A0FC-65EB-4DD8-839AC6063D56}"/>
                </a:ext>
              </a:extLst>
            </p:cNvPr>
            <p:cNvSpPr txBox="1">
              <a:spLocks noChangeAspect="1"/>
            </p:cNvSpPr>
            <p:nvPr/>
          </p:nvSpPr>
          <p:spPr>
            <a:xfrm>
              <a:off x="3171465" y="4620600"/>
              <a:ext cx="359495" cy="360000"/>
            </a:xfrm>
            <a:custGeom>
              <a:avLst/>
              <a:gdLst/>
              <a:ahLst/>
              <a:cxnLst/>
              <a:rect l="l" t="t" r="r" b="b"/>
              <a:pathLst>
                <a:path w="1139359" h="1139359">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p:txBody>
        </p:sp>
        <p:cxnSp>
          <p:nvCxnSpPr>
            <p:cNvPr id="63" name="Straight Connector 62">
              <a:extLst>
                <a:ext uri="{FF2B5EF4-FFF2-40B4-BE49-F238E27FC236}">
                  <a16:creationId xmlns:a16="http://schemas.microsoft.com/office/drawing/2014/main" id="{9614DA10-FDE2-7443-5018-6A5EAEB1BA72}"/>
                </a:ext>
              </a:extLst>
            </p:cNvPr>
            <p:cNvCxnSpPr>
              <a:cxnSpLocks/>
            </p:cNvCxnSpPr>
            <p:nvPr/>
          </p:nvCxnSpPr>
          <p:spPr bwMode="gray">
            <a:xfrm>
              <a:off x="2842177" y="5282152"/>
              <a:ext cx="509036"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4" name="Freeform 63">
              <a:extLst>
                <a:ext uri="{FF2B5EF4-FFF2-40B4-BE49-F238E27FC236}">
                  <a16:creationId xmlns:a16="http://schemas.microsoft.com/office/drawing/2014/main" id="{A9ABE3AA-4FBF-6F9D-55D3-F5F921113203}"/>
                </a:ext>
              </a:extLst>
            </p:cNvPr>
            <p:cNvSpPr>
              <a:spLocks noChangeAspect="1"/>
            </p:cNvSpPr>
            <p:nvPr/>
          </p:nvSpPr>
          <p:spPr>
            <a:xfrm>
              <a:off x="2634762" y="5195299"/>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65" name="Straight Connector 64">
              <a:extLst>
                <a:ext uri="{FF2B5EF4-FFF2-40B4-BE49-F238E27FC236}">
                  <a16:creationId xmlns:a16="http://schemas.microsoft.com/office/drawing/2014/main" id="{DEF733F6-1676-602B-2B66-C9A1F493C196}"/>
                </a:ext>
              </a:extLst>
            </p:cNvPr>
            <p:cNvCxnSpPr>
              <a:cxnSpLocks/>
            </p:cNvCxnSpPr>
            <p:nvPr/>
          </p:nvCxnSpPr>
          <p:spPr bwMode="gray">
            <a:xfrm>
              <a:off x="3284285" y="4970944"/>
              <a:ext cx="0" cy="290031"/>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23C2AAC-A0DC-B3DE-FB9E-E4D79D745634}"/>
                </a:ext>
              </a:extLst>
            </p:cNvPr>
            <p:cNvCxnSpPr>
              <a:cxnSpLocks/>
            </p:cNvCxnSpPr>
            <p:nvPr/>
          </p:nvCxnSpPr>
          <p:spPr bwMode="gray">
            <a:xfrm>
              <a:off x="3048000" y="5793185"/>
              <a:ext cx="402192"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7" name="Freeform 66">
              <a:extLst>
                <a:ext uri="{FF2B5EF4-FFF2-40B4-BE49-F238E27FC236}">
                  <a16:creationId xmlns:a16="http://schemas.microsoft.com/office/drawing/2014/main" id="{928D3C1D-8470-F328-40C9-BEFF2B70E5D0}"/>
                </a:ext>
              </a:extLst>
            </p:cNvPr>
            <p:cNvSpPr>
              <a:spLocks noChangeAspect="1"/>
            </p:cNvSpPr>
            <p:nvPr/>
          </p:nvSpPr>
          <p:spPr>
            <a:xfrm>
              <a:off x="2823424" y="5715000"/>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68" name="Straight Connector 67">
              <a:extLst>
                <a:ext uri="{FF2B5EF4-FFF2-40B4-BE49-F238E27FC236}">
                  <a16:creationId xmlns:a16="http://schemas.microsoft.com/office/drawing/2014/main" id="{C24519D6-D31A-ED3A-DEA3-E140538CCFFB}"/>
                </a:ext>
              </a:extLst>
            </p:cNvPr>
            <p:cNvCxnSpPr>
              <a:cxnSpLocks/>
            </p:cNvCxnSpPr>
            <p:nvPr/>
          </p:nvCxnSpPr>
          <p:spPr bwMode="gray">
            <a:xfrm>
              <a:off x="3407501" y="4972102"/>
              <a:ext cx="0" cy="812878"/>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nvGrpSpPr>
            <p:cNvPr id="69" name="Google Shape;3733;p22">
              <a:extLst>
                <a:ext uri="{FF2B5EF4-FFF2-40B4-BE49-F238E27FC236}">
                  <a16:creationId xmlns:a16="http://schemas.microsoft.com/office/drawing/2014/main" id="{CBED7DFF-786A-AD88-317A-48C38147DCCF}"/>
                </a:ext>
              </a:extLst>
            </p:cNvPr>
            <p:cNvGrpSpPr/>
            <p:nvPr/>
          </p:nvGrpSpPr>
          <p:grpSpPr>
            <a:xfrm>
              <a:off x="2829689" y="4883199"/>
              <a:ext cx="269469" cy="269658"/>
              <a:chOff x="658852" y="4943630"/>
              <a:chExt cx="583799" cy="584209"/>
            </a:xfrm>
          </p:grpSpPr>
          <p:sp>
            <p:nvSpPr>
              <p:cNvPr id="172" name="Google Shape;3734;p22">
                <a:extLst>
                  <a:ext uri="{FF2B5EF4-FFF2-40B4-BE49-F238E27FC236}">
                    <a16:creationId xmlns:a16="http://schemas.microsoft.com/office/drawing/2014/main" id="{0676479A-6810-7D89-CC9D-229BDD736C20}"/>
                  </a:ext>
                </a:extLst>
              </p:cNvPr>
              <p:cNvSpPr/>
              <p:nvPr/>
            </p:nvSpPr>
            <p:spPr>
              <a:xfrm>
                <a:off x="658852" y="4943630"/>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173" name="Google Shape;3735;p22">
                <a:extLst>
                  <a:ext uri="{FF2B5EF4-FFF2-40B4-BE49-F238E27FC236}">
                    <a16:creationId xmlns:a16="http://schemas.microsoft.com/office/drawing/2014/main" id="{68509F4D-CE81-FFA5-31D5-DF853EB55DEA}"/>
                  </a:ext>
                </a:extLst>
              </p:cNvPr>
              <p:cNvGrpSpPr/>
              <p:nvPr/>
            </p:nvGrpSpPr>
            <p:grpSpPr>
              <a:xfrm>
                <a:off x="834156" y="5211637"/>
                <a:ext cx="216359" cy="78004"/>
                <a:chOff x="834156" y="5211637"/>
                <a:chExt cx="216359" cy="78004"/>
              </a:xfrm>
            </p:grpSpPr>
            <p:sp>
              <p:nvSpPr>
                <p:cNvPr id="174" name="Google Shape;3736;p22">
                  <a:extLst>
                    <a:ext uri="{FF2B5EF4-FFF2-40B4-BE49-F238E27FC236}">
                      <a16:creationId xmlns:a16="http://schemas.microsoft.com/office/drawing/2014/main" id="{7587A417-719D-D533-4D9B-FF2A6AB28325}"/>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175" name="Google Shape;3737;p22">
                  <a:extLst>
                    <a:ext uri="{FF2B5EF4-FFF2-40B4-BE49-F238E27FC236}">
                      <a16:creationId xmlns:a16="http://schemas.microsoft.com/office/drawing/2014/main" id="{3E7A2C45-2C6D-D59B-867D-EF30CE6C05A1}"/>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70" name="Straight Connector 69">
              <a:extLst>
                <a:ext uri="{FF2B5EF4-FFF2-40B4-BE49-F238E27FC236}">
                  <a16:creationId xmlns:a16="http://schemas.microsoft.com/office/drawing/2014/main" id="{DB8B9184-1760-665D-850E-D01766A07EB4}"/>
                </a:ext>
              </a:extLst>
            </p:cNvPr>
            <p:cNvCxnSpPr>
              <a:cxnSpLocks/>
            </p:cNvCxnSpPr>
            <p:nvPr/>
          </p:nvCxnSpPr>
          <p:spPr bwMode="gray">
            <a:xfrm>
              <a:off x="2964424" y="5152127"/>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nvGrpSpPr>
            <p:cNvPr id="71" name="Group 70">
              <a:extLst>
                <a:ext uri="{FF2B5EF4-FFF2-40B4-BE49-F238E27FC236}">
                  <a16:creationId xmlns:a16="http://schemas.microsoft.com/office/drawing/2014/main" id="{E0964A8E-8F81-C161-6AC3-93F183634FD4}"/>
                </a:ext>
              </a:extLst>
            </p:cNvPr>
            <p:cNvGrpSpPr/>
            <p:nvPr/>
          </p:nvGrpSpPr>
          <p:grpSpPr>
            <a:xfrm>
              <a:off x="3021626" y="5395136"/>
              <a:ext cx="269469" cy="395289"/>
              <a:chOff x="3513038" y="5316536"/>
              <a:chExt cx="269469" cy="395289"/>
            </a:xfrm>
          </p:grpSpPr>
          <p:grpSp>
            <p:nvGrpSpPr>
              <p:cNvPr id="166" name="Google Shape;3733;p22">
                <a:extLst>
                  <a:ext uri="{FF2B5EF4-FFF2-40B4-BE49-F238E27FC236}">
                    <a16:creationId xmlns:a16="http://schemas.microsoft.com/office/drawing/2014/main" id="{BEDEE4AA-749F-BC88-9F5D-C2BF807E2F73}"/>
                  </a:ext>
                </a:extLst>
              </p:cNvPr>
              <p:cNvGrpSpPr/>
              <p:nvPr/>
            </p:nvGrpSpPr>
            <p:grpSpPr>
              <a:xfrm>
                <a:off x="3513038" y="5316536"/>
                <a:ext cx="269469" cy="269658"/>
                <a:chOff x="658852" y="4943630"/>
                <a:chExt cx="583799" cy="584209"/>
              </a:xfrm>
            </p:grpSpPr>
            <p:sp>
              <p:nvSpPr>
                <p:cNvPr id="168" name="Google Shape;3734;p22">
                  <a:extLst>
                    <a:ext uri="{FF2B5EF4-FFF2-40B4-BE49-F238E27FC236}">
                      <a16:creationId xmlns:a16="http://schemas.microsoft.com/office/drawing/2014/main" id="{EDB413E1-D7C2-EED9-276B-C5B6B20BFC9D}"/>
                    </a:ext>
                  </a:extLst>
                </p:cNvPr>
                <p:cNvSpPr/>
                <p:nvPr/>
              </p:nvSpPr>
              <p:spPr>
                <a:xfrm>
                  <a:off x="658852" y="4943630"/>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169" name="Google Shape;3735;p22">
                  <a:extLst>
                    <a:ext uri="{FF2B5EF4-FFF2-40B4-BE49-F238E27FC236}">
                      <a16:creationId xmlns:a16="http://schemas.microsoft.com/office/drawing/2014/main" id="{5D8F444A-D9F7-FC8F-FA9D-7C9FDC156B38}"/>
                    </a:ext>
                  </a:extLst>
                </p:cNvPr>
                <p:cNvGrpSpPr/>
                <p:nvPr/>
              </p:nvGrpSpPr>
              <p:grpSpPr>
                <a:xfrm>
                  <a:off x="834156" y="5211637"/>
                  <a:ext cx="216359" cy="78004"/>
                  <a:chOff x="834156" y="5211637"/>
                  <a:chExt cx="216359" cy="78004"/>
                </a:xfrm>
              </p:grpSpPr>
              <p:sp>
                <p:nvSpPr>
                  <p:cNvPr id="170" name="Google Shape;3736;p22">
                    <a:extLst>
                      <a:ext uri="{FF2B5EF4-FFF2-40B4-BE49-F238E27FC236}">
                        <a16:creationId xmlns:a16="http://schemas.microsoft.com/office/drawing/2014/main" id="{F59F3121-F1EC-C103-54EA-135C4C558823}"/>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171" name="Google Shape;3737;p22">
                    <a:extLst>
                      <a:ext uri="{FF2B5EF4-FFF2-40B4-BE49-F238E27FC236}">
                        <a16:creationId xmlns:a16="http://schemas.microsoft.com/office/drawing/2014/main" id="{C0BD6F0D-1E8B-BD4C-0A35-0941116D8829}"/>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167" name="Straight Connector 166">
                <a:extLst>
                  <a:ext uri="{FF2B5EF4-FFF2-40B4-BE49-F238E27FC236}">
                    <a16:creationId xmlns:a16="http://schemas.microsoft.com/office/drawing/2014/main" id="{566B4349-1F93-43AA-702C-DBD46110A52F}"/>
                  </a:ext>
                </a:extLst>
              </p:cNvPr>
              <p:cNvCxnSpPr>
                <a:cxnSpLocks/>
              </p:cNvCxnSpPr>
              <p:nvPr/>
            </p:nvCxnSpPr>
            <p:spPr bwMode="gray">
              <a:xfrm>
                <a:off x="3647773" y="5582289"/>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sp>
          <p:nvSpPr>
            <p:cNvPr id="78" name="TextBox 77">
              <a:extLst>
                <a:ext uri="{FF2B5EF4-FFF2-40B4-BE49-F238E27FC236}">
                  <a16:creationId xmlns:a16="http://schemas.microsoft.com/office/drawing/2014/main" id="{717AF32E-5C78-14C5-59F7-138BCC2120F4}"/>
                </a:ext>
              </a:extLst>
            </p:cNvPr>
            <p:cNvSpPr txBox="1">
              <a:spLocks noChangeAspect="1"/>
            </p:cNvSpPr>
            <p:nvPr/>
          </p:nvSpPr>
          <p:spPr>
            <a:xfrm>
              <a:off x="5004900" y="4620600"/>
              <a:ext cx="359495" cy="360000"/>
            </a:xfrm>
            <a:custGeom>
              <a:avLst/>
              <a:gdLst/>
              <a:ahLst/>
              <a:cxnLst/>
              <a:rect l="l" t="t" r="r" b="b"/>
              <a:pathLst>
                <a:path w="1139359" h="1139359">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p:txBody>
        </p:sp>
        <p:cxnSp>
          <p:nvCxnSpPr>
            <p:cNvPr id="79" name="Straight Connector 78">
              <a:extLst>
                <a:ext uri="{FF2B5EF4-FFF2-40B4-BE49-F238E27FC236}">
                  <a16:creationId xmlns:a16="http://schemas.microsoft.com/office/drawing/2014/main" id="{4ED86299-A28A-4A26-5340-37551EE4608F}"/>
                </a:ext>
              </a:extLst>
            </p:cNvPr>
            <p:cNvCxnSpPr>
              <a:cxnSpLocks/>
            </p:cNvCxnSpPr>
            <p:nvPr/>
          </p:nvCxnSpPr>
          <p:spPr bwMode="gray">
            <a:xfrm>
              <a:off x="4675612" y="5282152"/>
              <a:ext cx="509036"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0" name="Freeform 79">
              <a:extLst>
                <a:ext uri="{FF2B5EF4-FFF2-40B4-BE49-F238E27FC236}">
                  <a16:creationId xmlns:a16="http://schemas.microsoft.com/office/drawing/2014/main" id="{584E7D5E-A5F5-19C1-D0D9-89CB7348305B}"/>
                </a:ext>
              </a:extLst>
            </p:cNvPr>
            <p:cNvSpPr>
              <a:spLocks noChangeAspect="1"/>
            </p:cNvSpPr>
            <p:nvPr/>
          </p:nvSpPr>
          <p:spPr>
            <a:xfrm>
              <a:off x="4468197" y="5195299"/>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81" name="Straight Connector 80">
              <a:extLst>
                <a:ext uri="{FF2B5EF4-FFF2-40B4-BE49-F238E27FC236}">
                  <a16:creationId xmlns:a16="http://schemas.microsoft.com/office/drawing/2014/main" id="{1D8FD2D0-11D0-1F1F-1BE3-87EAD2D13A9C}"/>
                </a:ext>
              </a:extLst>
            </p:cNvPr>
            <p:cNvCxnSpPr>
              <a:cxnSpLocks/>
            </p:cNvCxnSpPr>
            <p:nvPr/>
          </p:nvCxnSpPr>
          <p:spPr bwMode="gray">
            <a:xfrm>
              <a:off x="5117720" y="4970944"/>
              <a:ext cx="0" cy="290031"/>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DFC17CB0-99EE-AF6E-4873-5B91037479D7}"/>
                </a:ext>
              </a:extLst>
            </p:cNvPr>
            <p:cNvCxnSpPr>
              <a:cxnSpLocks/>
            </p:cNvCxnSpPr>
            <p:nvPr/>
          </p:nvCxnSpPr>
          <p:spPr bwMode="gray">
            <a:xfrm>
              <a:off x="4881435" y="5793185"/>
              <a:ext cx="402192"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3" name="Freeform 82">
              <a:extLst>
                <a:ext uri="{FF2B5EF4-FFF2-40B4-BE49-F238E27FC236}">
                  <a16:creationId xmlns:a16="http://schemas.microsoft.com/office/drawing/2014/main" id="{43CED8DF-CD9C-F92C-1BBD-71336B3594FA}"/>
                </a:ext>
              </a:extLst>
            </p:cNvPr>
            <p:cNvSpPr>
              <a:spLocks noChangeAspect="1"/>
            </p:cNvSpPr>
            <p:nvPr/>
          </p:nvSpPr>
          <p:spPr>
            <a:xfrm>
              <a:off x="4656859" y="5715000"/>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84" name="Straight Connector 83">
              <a:extLst>
                <a:ext uri="{FF2B5EF4-FFF2-40B4-BE49-F238E27FC236}">
                  <a16:creationId xmlns:a16="http://schemas.microsoft.com/office/drawing/2014/main" id="{E857063F-5693-57C5-4029-FB09FF7FF214}"/>
                </a:ext>
              </a:extLst>
            </p:cNvPr>
            <p:cNvCxnSpPr>
              <a:cxnSpLocks/>
            </p:cNvCxnSpPr>
            <p:nvPr/>
          </p:nvCxnSpPr>
          <p:spPr bwMode="gray">
            <a:xfrm>
              <a:off x="5240936" y="4972102"/>
              <a:ext cx="0" cy="812878"/>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nvGrpSpPr>
            <p:cNvPr id="85" name="Google Shape;3733;p22">
              <a:extLst>
                <a:ext uri="{FF2B5EF4-FFF2-40B4-BE49-F238E27FC236}">
                  <a16:creationId xmlns:a16="http://schemas.microsoft.com/office/drawing/2014/main" id="{AF5292B9-CDBC-C62F-8EF6-C6D51D964FC3}"/>
                </a:ext>
              </a:extLst>
            </p:cNvPr>
            <p:cNvGrpSpPr/>
            <p:nvPr/>
          </p:nvGrpSpPr>
          <p:grpSpPr>
            <a:xfrm>
              <a:off x="4663124" y="4883199"/>
              <a:ext cx="269469" cy="269658"/>
              <a:chOff x="658852" y="4943630"/>
              <a:chExt cx="583799" cy="584209"/>
            </a:xfrm>
          </p:grpSpPr>
          <p:sp>
            <p:nvSpPr>
              <p:cNvPr id="162" name="Google Shape;3734;p22">
                <a:extLst>
                  <a:ext uri="{FF2B5EF4-FFF2-40B4-BE49-F238E27FC236}">
                    <a16:creationId xmlns:a16="http://schemas.microsoft.com/office/drawing/2014/main" id="{59A791AD-E14D-413B-AB48-48982844B562}"/>
                  </a:ext>
                </a:extLst>
              </p:cNvPr>
              <p:cNvSpPr/>
              <p:nvPr/>
            </p:nvSpPr>
            <p:spPr>
              <a:xfrm>
                <a:off x="658852" y="4943630"/>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163" name="Google Shape;3735;p22">
                <a:extLst>
                  <a:ext uri="{FF2B5EF4-FFF2-40B4-BE49-F238E27FC236}">
                    <a16:creationId xmlns:a16="http://schemas.microsoft.com/office/drawing/2014/main" id="{029E9FC2-2D5B-7CF7-A62B-39581D3C0A78}"/>
                  </a:ext>
                </a:extLst>
              </p:cNvPr>
              <p:cNvGrpSpPr/>
              <p:nvPr/>
            </p:nvGrpSpPr>
            <p:grpSpPr>
              <a:xfrm>
                <a:off x="834156" y="5211637"/>
                <a:ext cx="216359" cy="78004"/>
                <a:chOff x="834156" y="5211637"/>
                <a:chExt cx="216359" cy="78004"/>
              </a:xfrm>
            </p:grpSpPr>
            <p:sp>
              <p:nvSpPr>
                <p:cNvPr id="164" name="Google Shape;3736;p22">
                  <a:extLst>
                    <a:ext uri="{FF2B5EF4-FFF2-40B4-BE49-F238E27FC236}">
                      <a16:creationId xmlns:a16="http://schemas.microsoft.com/office/drawing/2014/main" id="{E59785D0-C11C-3874-D0A6-38B379325F18}"/>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165" name="Google Shape;3737;p22">
                  <a:extLst>
                    <a:ext uri="{FF2B5EF4-FFF2-40B4-BE49-F238E27FC236}">
                      <a16:creationId xmlns:a16="http://schemas.microsoft.com/office/drawing/2014/main" id="{1B78E258-1001-2C23-2FAF-28954ADFD70B}"/>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86" name="Straight Connector 85">
              <a:extLst>
                <a:ext uri="{FF2B5EF4-FFF2-40B4-BE49-F238E27FC236}">
                  <a16:creationId xmlns:a16="http://schemas.microsoft.com/office/drawing/2014/main" id="{9010C3AD-AC28-257D-98F6-0FF3DB8A15C1}"/>
                </a:ext>
              </a:extLst>
            </p:cNvPr>
            <p:cNvCxnSpPr>
              <a:cxnSpLocks/>
            </p:cNvCxnSpPr>
            <p:nvPr/>
          </p:nvCxnSpPr>
          <p:spPr bwMode="gray">
            <a:xfrm>
              <a:off x="4797859" y="5152127"/>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nvGrpSpPr>
            <p:cNvPr id="87" name="Group 86">
              <a:extLst>
                <a:ext uri="{FF2B5EF4-FFF2-40B4-BE49-F238E27FC236}">
                  <a16:creationId xmlns:a16="http://schemas.microsoft.com/office/drawing/2014/main" id="{2376D4CA-387A-E12C-6314-153E2B4F59EB}"/>
                </a:ext>
              </a:extLst>
            </p:cNvPr>
            <p:cNvGrpSpPr/>
            <p:nvPr/>
          </p:nvGrpSpPr>
          <p:grpSpPr>
            <a:xfrm>
              <a:off x="4855061" y="5395136"/>
              <a:ext cx="269469" cy="395289"/>
              <a:chOff x="3513038" y="5316536"/>
              <a:chExt cx="269469" cy="395289"/>
            </a:xfrm>
          </p:grpSpPr>
          <p:grpSp>
            <p:nvGrpSpPr>
              <p:cNvPr id="156" name="Google Shape;3733;p22">
                <a:extLst>
                  <a:ext uri="{FF2B5EF4-FFF2-40B4-BE49-F238E27FC236}">
                    <a16:creationId xmlns:a16="http://schemas.microsoft.com/office/drawing/2014/main" id="{5742254F-4723-902D-5563-317EBC55994C}"/>
                  </a:ext>
                </a:extLst>
              </p:cNvPr>
              <p:cNvGrpSpPr/>
              <p:nvPr/>
            </p:nvGrpSpPr>
            <p:grpSpPr>
              <a:xfrm>
                <a:off x="3513038" y="5316536"/>
                <a:ext cx="269469" cy="269658"/>
                <a:chOff x="658852" y="4943630"/>
                <a:chExt cx="583799" cy="584209"/>
              </a:xfrm>
            </p:grpSpPr>
            <p:sp>
              <p:nvSpPr>
                <p:cNvPr id="158" name="Google Shape;3734;p22">
                  <a:extLst>
                    <a:ext uri="{FF2B5EF4-FFF2-40B4-BE49-F238E27FC236}">
                      <a16:creationId xmlns:a16="http://schemas.microsoft.com/office/drawing/2014/main" id="{A4F06F5E-E8D5-DA3E-2BB9-E7B92C69875F}"/>
                    </a:ext>
                  </a:extLst>
                </p:cNvPr>
                <p:cNvSpPr/>
                <p:nvPr/>
              </p:nvSpPr>
              <p:spPr>
                <a:xfrm>
                  <a:off x="658852" y="4943630"/>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159" name="Google Shape;3735;p22">
                  <a:extLst>
                    <a:ext uri="{FF2B5EF4-FFF2-40B4-BE49-F238E27FC236}">
                      <a16:creationId xmlns:a16="http://schemas.microsoft.com/office/drawing/2014/main" id="{14723C47-E271-2DE3-F19C-E27894DA5819}"/>
                    </a:ext>
                  </a:extLst>
                </p:cNvPr>
                <p:cNvGrpSpPr/>
                <p:nvPr/>
              </p:nvGrpSpPr>
              <p:grpSpPr>
                <a:xfrm>
                  <a:off x="834156" y="5211637"/>
                  <a:ext cx="216359" cy="78004"/>
                  <a:chOff x="834156" y="5211637"/>
                  <a:chExt cx="216359" cy="78004"/>
                </a:xfrm>
              </p:grpSpPr>
              <p:sp>
                <p:nvSpPr>
                  <p:cNvPr id="160" name="Google Shape;3736;p22">
                    <a:extLst>
                      <a:ext uri="{FF2B5EF4-FFF2-40B4-BE49-F238E27FC236}">
                        <a16:creationId xmlns:a16="http://schemas.microsoft.com/office/drawing/2014/main" id="{BF4611FE-9769-3B37-EE0A-B504918ACCDA}"/>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161" name="Google Shape;3737;p22">
                    <a:extLst>
                      <a:ext uri="{FF2B5EF4-FFF2-40B4-BE49-F238E27FC236}">
                        <a16:creationId xmlns:a16="http://schemas.microsoft.com/office/drawing/2014/main" id="{3AB97D90-4A0B-001C-C8DF-AD8BD9766F3E}"/>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157" name="Straight Connector 156">
                <a:extLst>
                  <a:ext uri="{FF2B5EF4-FFF2-40B4-BE49-F238E27FC236}">
                    <a16:creationId xmlns:a16="http://schemas.microsoft.com/office/drawing/2014/main" id="{7176E2D7-DEB2-976D-5275-5C483CAD2B01}"/>
                  </a:ext>
                </a:extLst>
              </p:cNvPr>
              <p:cNvCxnSpPr>
                <a:cxnSpLocks/>
              </p:cNvCxnSpPr>
              <p:nvPr/>
            </p:nvCxnSpPr>
            <p:spPr bwMode="gray">
              <a:xfrm>
                <a:off x="3647773" y="5582289"/>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sp>
          <p:nvSpPr>
            <p:cNvPr id="99" name="TextBox 98">
              <a:extLst>
                <a:ext uri="{FF2B5EF4-FFF2-40B4-BE49-F238E27FC236}">
                  <a16:creationId xmlns:a16="http://schemas.microsoft.com/office/drawing/2014/main" id="{A4D535BA-FD01-A855-E1B1-EAC0D8B10C53}"/>
                </a:ext>
              </a:extLst>
            </p:cNvPr>
            <p:cNvSpPr txBox="1">
              <a:spLocks noChangeAspect="1"/>
            </p:cNvSpPr>
            <p:nvPr/>
          </p:nvSpPr>
          <p:spPr>
            <a:xfrm>
              <a:off x="6833700" y="4620600"/>
              <a:ext cx="359495" cy="360000"/>
            </a:xfrm>
            <a:custGeom>
              <a:avLst/>
              <a:gdLst/>
              <a:ahLst/>
              <a:cxnLst/>
              <a:rect l="l" t="t" r="r" b="b"/>
              <a:pathLst>
                <a:path w="1139359" h="1139359">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p:txBody>
        </p:sp>
        <p:cxnSp>
          <p:nvCxnSpPr>
            <p:cNvPr id="106" name="Straight Connector 105">
              <a:extLst>
                <a:ext uri="{FF2B5EF4-FFF2-40B4-BE49-F238E27FC236}">
                  <a16:creationId xmlns:a16="http://schemas.microsoft.com/office/drawing/2014/main" id="{B91B2B1B-DF1D-074A-BB43-37BDC8C41313}"/>
                </a:ext>
              </a:extLst>
            </p:cNvPr>
            <p:cNvCxnSpPr>
              <a:cxnSpLocks/>
            </p:cNvCxnSpPr>
            <p:nvPr/>
          </p:nvCxnSpPr>
          <p:spPr bwMode="gray">
            <a:xfrm>
              <a:off x="6504412" y="5282152"/>
              <a:ext cx="509036"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07" name="Freeform 106">
              <a:extLst>
                <a:ext uri="{FF2B5EF4-FFF2-40B4-BE49-F238E27FC236}">
                  <a16:creationId xmlns:a16="http://schemas.microsoft.com/office/drawing/2014/main" id="{E7C43531-DE0C-92EA-9DEA-C0B0D4FB0AF6}"/>
                </a:ext>
              </a:extLst>
            </p:cNvPr>
            <p:cNvSpPr>
              <a:spLocks noChangeAspect="1"/>
            </p:cNvSpPr>
            <p:nvPr/>
          </p:nvSpPr>
          <p:spPr>
            <a:xfrm>
              <a:off x="6296997" y="5195299"/>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08" name="Straight Connector 107">
              <a:extLst>
                <a:ext uri="{FF2B5EF4-FFF2-40B4-BE49-F238E27FC236}">
                  <a16:creationId xmlns:a16="http://schemas.microsoft.com/office/drawing/2014/main" id="{582351AF-F932-D06B-EA10-51CEDD2EC2A1}"/>
                </a:ext>
              </a:extLst>
            </p:cNvPr>
            <p:cNvCxnSpPr>
              <a:cxnSpLocks/>
            </p:cNvCxnSpPr>
            <p:nvPr/>
          </p:nvCxnSpPr>
          <p:spPr bwMode="gray">
            <a:xfrm>
              <a:off x="6946520" y="4970944"/>
              <a:ext cx="0" cy="290031"/>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DCD1D3FE-267A-C394-4747-A096604B65FB}"/>
                </a:ext>
              </a:extLst>
            </p:cNvPr>
            <p:cNvCxnSpPr>
              <a:cxnSpLocks/>
            </p:cNvCxnSpPr>
            <p:nvPr/>
          </p:nvCxnSpPr>
          <p:spPr bwMode="gray">
            <a:xfrm>
              <a:off x="6710235" y="5793185"/>
              <a:ext cx="402192"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4" name="Freeform 113">
              <a:extLst>
                <a:ext uri="{FF2B5EF4-FFF2-40B4-BE49-F238E27FC236}">
                  <a16:creationId xmlns:a16="http://schemas.microsoft.com/office/drawing/2014/main" id="{31C52E9D-611F-3F4E-216F-1AF362273953}"/>
                </a:ext>
              </a:extLst>
            </p:cNvPr>
            <p:cNvSpPr>
              <a:spLocks noChangeAspect="1"/>
            </p:cNvSpPr>
            <p:nvPr/>
          </p:nvSpPr>
          <p:spPr>
            <a:xfrm>
              <a:off x="6485659" y="5715000"/>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15" name="Straight Connector 114">
              <a:extLst>
                <a:ext uri="{FF2B5EF4-FFF2-40B4-BE49-F238E27FC236}">
                  <a16:creationId xmlns:a16="http://schemas.microsoft.com/office/drawing/2014/main" id="{BBA0530F-E22A-31CF-2F15-CC894E253CF1}"/>
                </a:ext>
              </a:extLst>
            </p:cNvPr>
            <p:cNvCxnSpPr>
              <a:cxnSpLocks/>
            </p:cNvCxnSpPr>
            <p:nvPr/>
          </p:nvCxnSpPr>
          <p:spPr bwMode="gray">
            <a:xfrm>
              <a:off x="7069736" y="4972102"/>
              <a:ext cx="0" cy="812878"/>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nvGrpSpPr>
            <p:cNvPr id="117" name="Google Shape;3733;p22">
              <a:extLst>
                <a:ext uri="{FF2B5EF4-FFF2-40B4-BE49-F238E27FC236}">
                  <a16:creationId xmlns:a16="http://schemas.microsoft.com/office/drawing/2014/main" id="{62E5090F-E4E8-66DE-FE30-7BF68E1DD3BF}"/>
                </a:ext>
              </a:extLst>
            </p:cNvPr>
            <p:cNvGrpSpPr/>
            <p:nvPr/>
          </p:nvGrpSpPr>
          <p:grpSpPr>
            <a:xfrm>
              <a:off x="6491924" y="4883199"/>
              <a:ext cx="269469" cy="269658"/>
              <a:chOff x="658852" y="4943630"/>
              <a:chExt cx="583799" cy="584209"/>
            </a:xfrm>
          </p:grpSpPr>
          <p:sp>
            <p:nvSpPr>
              <p:cNvPr id="152" name="Google Shape;3734;p22">
                <a:extLst>
                  <a:ext uri="{FF2B5EF4-FFF2-40B4-BE49-F238E27FC236}">
                    <a16:creationId xmlns:a16="http://schemas.microsoft.com/office/drawing/2014/main" id="{707DE676-57B5-0390-984F-2785ACB3599E}"/>
                  </a:ext>
                </a:extLst>
              </p:cNvPr>
              <p:cNvSpPr/>
              <p:nvPr/>
            </p:nvSpPr>
            <p:spPr>
              <a:xfrm>
                <a:off x="658852" y="4943630"/>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153" name="Google Shape;3735;p22">
                <a:extLst>
                  <a:ext uri="{FF2B5EF4-FFF2-40B4-BE49-F238E27FC236}">
                    <a16:creationId xmlns:a16="http://schemas.microsoft.com/office/drawing/2014/main" id="{BB4E6608-350E-F8A0-3CFD-34BA7799BF4B}"/>
                  </a:ext>
                </a:extLst>
              </p:cNvPr>
              <p:cNvGrpSpPr/>
              <p:nvPr/>
            </p:nvGrpSpPr>
            <p:grpSpPr>
              <a:xfrm>
                <a:off x="834156" y="5211637"/>
                <a:ext cx="216359" cy="78004"/>
                <a:chOff x="834156" y="5211637"/>
                <a:chExt cx="216359" cy="78004"/>
              </a:xfrm>
            </p:grpSpPr>
            <p:sp>
              <p:nvSpPr>
                <p:cNvPr id="154" name="Google Shape;3736;p22">
                  <a:extLst>
                    <a:ext uri="{FF2B5EF4-FFF2-40B4-BE49-F238E27FC236}">
                      <a16:creationId xmlns:a16="http://schemas.microsoft.com/office/drawing/2014/main" id="{78F0A9A9-A219-0B00-B03C-88B870A29490}"/>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155" name="Google Shape;3737;p22">
                  <a:extLst>
                    <a:ext uri="{FF2B5EF4-FFF2-40B4-BE49-F238E27FC236}">
                      <a16:creationId xmlns:a16="http://schemas.microsoft.com/office/drawing/2014/main" id="{A6B08B46-930A-9513-BDF4-DEA6905BD9E3}"/>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119" name="Straight Connector 118">
              <a:extLst>
                <a:ext uri="{FF2B5EF4-FFF2-40B4-BE49-F238E27FC236}">
                  <a16:creationId xmlns:a16="http://schemas.microsoft.com/office/drawing/2014/main" id="{294B817B-6787-C9C2-7CA4-04990527363C}"/>
                </a:ext>
              </a:extLst>
            </p:cNvPr>
            <p:cNvCxnSpPr>
              <a:cxnSpLocks/>
            </p:cNvCxnSpPr>
            <p:nvPr/>
          </p:nvCxnSpPr>
          <p:spPr bwMode="gray">
            <a:xfrm>
              <a:off x="6626659" y="5152127"/>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nvGrpSpPr>
            <p:cNvPr id="121" name="Group 120">
              <a:extLst>
                <a:ext uri="{FF2B5EF4-FFF2-40B4-BE49-F238E27FC236}">
                  <a16:creationId xmlns:a16="http://schemas.microsoft.com/office/drawing/2014/main" id="{971260CF-78B7-4F89-2396-B00A8630F4EC}"/>
                </a:ext>
              </a:extLst>
            </p:cNvPr>
            <p:cNvGrpSpPr/>
            <p:nvPr/>
          </p:nvGrpSpPr>
          <p:grpSpPr>
            <a:xfrm>
              <a:off x="6683861" y="5395136"/>
              <a:ext cx="269469" cy="395289"/>
              <a:chOff x="3513038" y="5316536"/>
              <a:chExt cx="269469" cy="395289"/>
            </a:xfrm>
          </p:grpSpPr>
          <p:grpSp>
            <p:nvGrpSpPr>
              <p:cNvPr id="146" name="Google Shape;3733;p22">
                <a:extLst>
                  <a:ext uri="{FF2B5EF4-FFF2-40B4-BE49-F238E27FC236}">
                    <a16:creationId xmlns:a16="http://schemas.microsoft.com/office/drawing/2014/main" id="{014B64DB-7349-E5E6-1E29-0A371ADC2532}"/>
                  </a:ext>
                </a:extLst>
              </p:cNvPr>
              <p:cNvGrpSpPr/>
              <p:nvPr/>
            </p:nvGrpSpPr>
            <p:grpSpPr>
              <a:xfrm>
                <a:off x="3513038" y="5316536"/>
                <a:ext cx="269469" cy="269658"/>
                <a:chOff x="658852" y="4943630"/>
                <a:chExt cx="583799" cy="584209"/>
              </a:xfrm>
            </p:grpSpPr>
            <p:sp>
              <p:nvSpPr>
                <p:cNvPr id="148" name="Google Shape;3734;p22">
                  <a:extLst>
                    <a:ext uri="{FF2B5EF4-FFF2-40B4-BE49-F238E27FC236}">
                      <a16:creationId xmlns:a16="http://schemas.microsoft.com/office/drawing/2014/main" id="{FD8A71F7-8472-7043-6EC8-6F5A3C143452}"/>
                    </a:ext>
                  </a:extLst>
                </p:cNvPr>
                <p:cNvSpPr/>
                <p:nvPr/>
              </p:nvSpPr>
              <p:spPr>
                <a:xfrm>
                  <a:off x="658852" y="4943630"/>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149" name="Google Shape;3735;p22">
                  <a:extLst>
                    <a:ext uri="{FF2B5EF4-FFF2-40B4-BE49-F238E27FC236}">
                      <a16:creationId xmlns:a16="http://schemas.microsoft.com/office/drawing/2014/main" id="{0944772F-CC04-86D8-637F-E057B6FB635F}"/>
                    </a:ext>
                  </a:extLst>
                </p:cNvPr>
                <p:cNvGrpSpPr/>
                <p:nvPr/>
              </p:nvGrpSpPr>
              <p:grpSpPr>
                <a:xfrm>
                  <a:off x="834156" y="5211637"/>
                  <a:ext cx="216359" cy="78004"/>
                  <a:chOff x="834156" y="5211637"/>
                  <a:chExt cx="216359" cy="78004"/>
                </a:xfrm>
              </p:grpSpPr>
              <p:sp>
                <p:nvSpPr>
                  <p:cNvPr id="150" name="Google Shape;3736;p22">
                    <a:extLst>
                      <a:ext uri="{FF2B5EF4-FFF2-40B4-BE49-F238E27FC236}">
                        <a16:creationId xmlns:a16="http://schemas.microsoft.com/office/drawing/2014/main" id="{0AA474C4-9569-0F8E-B8B3-751351E6DAB4}"/>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151" name="Google Shape;3737;p22">
                    <a:extLst>
                      <a:ext uri="{FF2B5EF4-FFF2-40B4-BE49-F238E27FC236}">
                        <a16:creationId xmlns:a16="http://schemas.microsoft.com/office/drawing/2014/main" id="{8C084357-2AE1-2EE2-6AE8-9DA96F00466D}"/>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147" name="Straight Connector 146">
                <a:extLst>
                  <a:ext uri="{FF2B5EF4-FFF2-40B4-BE49-F238E27FC236}">
                    <a16:creationId xmlns:a16="http://schemas.microsoft.com/office/drawing/2014/main" id="{77C538B1-F4DE-DA69-CB41-D6690F07BFB4}"/>
                  </a:ext>
                </a:extLst>
              </p:cNvPr>
              <p:cNvCxnSpPr>
                <a:cxnSpLocks/>
              </p:cNvCxnSpPr>
              <p:nvPr/>
            </p:nvCxnSpPr>
            <p:spPr bwMode="gray">
              <a:xfrm>
                <a:off x="3647773" y="5582289"/>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sp>
          <p:nvSpPr>
            <p:cNvPr id="125" name="TextBox 124">
              <a:extLst>
                <a:ext uri="{FF2B5EF4-FFF2-40B4-BE49-F238E27FC236}">
                  <a16:creationId xmlns:a16="http://schemas.microsoft.com/office/drawing/2014/main" id="{5647C228-F7EB-CE87-3188-48B17B242C53}"/>
                </a:ext>
              </a:extLst>
            </p:cNvPr>
            <p:cNvSpPr txBox="1">
              <a:spLocks noChangeAspect="1"/>
            </p:cNvSpPr>
            <p:nvPr/>
          </p:nvSpPr>
          <p:spPr>
            <a:xfrm>
              <a:off x="1347300" y="4620600"/>
              <a:ext cx="359495" cy="360000"/>
            </a:xfrm>
            <a:custGeom>
              <a:avLst/>
              <a:gdLst/>
              <a:ahLst/>
              <a:cxnLst/>
              <a:rect l="l" t="t" r="r" b="b"/>
              <a:pathLst>
                <a:path w="1139359" h="1139359">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p:txBody>
        </p:sp>
        <p:cxnSp>
          <p:nvCxnSpPr>
            <p:cNvPr id="126" name="Straight Connector 125">
              <a:extLst>
                <a:ext uri="{FF2B5EF4-FFF2-40B4-BE49-F238E27FC236}">
                  <a16:creationId xmlns:a16="http://schemas.microsoft.com/office/drawing/2014/main" id="{C7824F85-D8F2-5233-C939-A795F84017D7}"/>
                </a:ext>
              </a:extLst>
            </p:cNvPr>
            <p:cNvCxnSpPr>
              <a:cxnSpLocks/>
            </p:cNvCxnSpPr>
            <p:nvPr/>
          </p:nvCxnSpPr>
          <p:spPr bwMode="gray">
            <a:xfrm>
              <a:off x="1018012" y="5282152"/>
              <a:ext cx="509036"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7" name="Freeform 126">
              <a:extLst>
                <a:ext uri="{FF2B5EF4-FFF2-40B4-BE49-F238E27FC236}">
                  <a16:creationId xmlns:a16="http://schemas.microsoft.com/office/drawing/2014/main" id="{3B9ED8A0-9DE1-E7A2-6732-CC41290283B3}"/>
                </a:ext>
              </a:extLst>
            </p:cNvPr>
            <p:cNvSpPr>
              <a:spLocks noChangeAspect="1"/>
            </p:cNvSpPr>
            <p:nvPr/>
          </p:nvSpPr>
          <p:spPr>
            <a:xfrm>
              <a:off x="810597" y="5195299"/>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28" name="Straight Connector 127">
              <a:extLst>
                <a:ext uri="{FF2B5EF4-FFF2-40B4-BE49-F238E27FC236}">
                  <a16:creationId xmlns:a16="http://schemas.microsoft.com/office/drawing/2014/main" id="{E623EC92-BC8A-1F79-E547-CC7B24A05B64}"/>
                </a:ext>
              </a:extLst>
            </p:cNvPr>
            <p:cNvCxnSpPr>
              <a:cxnSpLocks/>
            </p:cNvCxnSpPr>
            <p:nvPr/>
          </p:nvCxnSpPr>
          <p:spPr bwMode="gray">
            <a:xfrm>
              <a:off x="1460120" y="4970944"/>
              <a:ext cx="0" cy="290031"/>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0C3C58A8-9E65-0A45-18D9-5E8FED6BD323}"/>
                </a:ext>
              </a:extLst>
            </p:cNvPr>
            <p:cNvCxnSpPr>
              <a:cxnSpLocks/>
            </p:cNvCxnSpPr>
            <p:nvPr/>
          </p:nvCxnSpPr>
          <p:spPr bwMode="gray">
            <a:xfrm>
              <a:off x="1223835" y="5793185"/>
              <a:ext cx="402192"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0" name="Freeform 129">
              <a:extLst>
                <a:ext uri="{FF2B5EF4-FFF2-40B4-BE49-F238E27FC236}">
                  <a16:creationId xmlns:a16="http://schemas.microsoft.com/office/drawing/2014/main" id="{C75C9673-B0C2-E20B-A847-2150FE6809C7}"/>
                </a:ext>
              </a:extLst>
            </p:cNvPr>
            <p:cNvSpPr>
              <a:spLocks noChangeAspect="1"/>
            </p:cNvSpPr>
            <p:nvPr/>
          </p:nvSpPr>
          <p:spPr>
            <a:xfrm>
              <a:off x="999259" y="5715000"/>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31" name="Straight Connector 130">
              <a:extLst>
                <a:ext uri="{FF2B5EF4-FFF2-40B4-BE49-F238E27FC236}">
                  <a16:creationId xmlns:a16="http://schemas.microsoft.com/office/drawing/2014/main" id="{1F1A79E2-D3A2-B1B4-3331-8B95F91575F2}"/>
                </a:ext>
              </a:extLst>
            </p:cNvPr>
            <p:cNvCxnSpPr>
              <a:cxnSpLocks/>
            </p:cNvCxnSpPr>
            <p:nvPr/>
          </p:nvCxnSpPr>
          <p:spPr bwMode="gray">
            <a:xfrm>
              <a:off x="1583336" y="4972102"/>
              <a:ext cx="0" cy="812878"/>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nvGrpSpPr>
            <p:cNvPr id="132" name="Google Shape;3733;p22">
              <a:extLst>
                <a:ext uri="{FF2B5EF4-FFF2-40B4-BE49-F238E27FC236}">
                  <a16:creationId xmlns:a16="http://schemas.microsoft.com/office/drawing/2014/main" id="{35CC2086-BD92-31A8-E818-A9A21925F337}"/>
                </a:ext>
              </a:extLst>
            </p:cNvPr>
            <p:cNvGrpSpPr/>
            <p:nvPr/>
          </p:nvGrpSpPr>
          <p:grpSpPr>
            <a:xfrm>
              <a:off x="1005524" y="4883199"/>
              <a:ext cx="269469" cy="269658"/>
              <a:chOff x="658852" y="4943630"/>
              <a:chExt cx="583799" cy="584209"/>
            </a:xfrm>
          </p:grpSpPr>
          <p:sp>
            <p:nvSpPr>
              <p:cNvPr id="142" name="Google Shape;3734;p22">
                <a:extLst>
                  <a:ext uri="{FF2B5EF4-FFF2-40B4-BE49-F238E27FC236}">
                    <a16:creationId xmlns:a16="http://schemas.microsoft.com/office/drawing/2014/main" id="{3B7B76C9-1E43-3DBF-E2AF-3DF18EBB94E9}"/>
                  </a:ext>
                </a:extLst>
              </p:cNvPr>
              <p:cNvSpPr/>
              <p:nvPr/>
            </p:nvSpPr>
            <p:spPr>
              <a:xfrm>
                <a:off x="658852" y="4943630"/>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143" name="Google Shape;3735;p22">
                <a:extLst>
                  <a:ext uri="{FF2B5EF4-FFF2-40B4-BE49-F238E27FC236}">
                    <a16:creationId xmlns:a16="http://schemas.microsoft.com/office/drawing/2014/main" id="{F7D9E8F5-1DD1-9AC6-742B-DB172B0AA08D}"/>
                  </a:ext>
                </a:extLst>
              </p:cNvPr>
              <p:cNvGrpSpPr/>
              <p:nvPr/>
            </p:nvGrpSpPr>
            <p:grpSpPr>
              <a:xfrm>
                <a:off x="834156" y="5211637"/>
                <a:ext cx="216359" cy="78004"/>
                <a:chOff x="834156" y="5211637"/>
                <a:chExt cx="216359" cy="78004"/>
              </a:xfrm>
            </p:grpSpPr>
            <p:sp>
              <p:nvSpPr>
                <p:cNvPr id="144" name="Google Shape;3736;p22">
                  <a:extLst>
                    <a:ext uri="{FF2B5EF4-FFF2-40B4-BE49-F238E27FC236}">
                      <a16:creationId xmlns:a16="http://schemas.microsoft.com/office/drawing/2014/main" id="{3A85FC08-DF95-FC73-ED15-04A2DCCB4274}"/>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145" name="Google Shape;3737;p22">
                  <a:extLst>
                    <a:ext uri="{FF2B5EF4-FFF2-40B4-BE49-F238E27FC236}">
                      <a16:creationId xmlns:a16="http://schemas.microsoft.com/office/drawing/2014/main" id="{FEB98A68-B84A-25B9-235F-9C6C6EEC9B47}"/>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133" name="Straight Connector 132">
              <a:extLst>
                <a:ext uri="{FF2B5EF4-FFF2-40B4-BE49-F238E27FC236}">
                  <a16:creationId xmlns:a16="http://schemas.microsoft.com/office/drawing/2014/main" id="{6B0050F3-42FC-4DFC-95BE-984F849A0848}"/>
                </a:ext>
              </a:extLst>
            </p:cNvPr>
            <p:cNvCxnSpPr>
              <a:cxnSpLocks/>
            </p:cNvCxnSpPr>
            <p:nvPr/>
          </p:nvCxnSpPr>
          <p:spPr bwMode="gray">
            <a:xfrm>
              <a:off x="1140259" y="5152127"/>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nvGrpSpPr>
            <p:cNvPr id="134" name="Group 133">
              <a:extLst>
                <a:ext uri="{FF2B5EF4-FFF2-40B4-BE49-F238E27FC236}">
                  <a16:creationId xmlns:a16="http://schemas.microsoft.com/office/drawing/2014/main" id="{22529AC5-AE5D-3062-CB69-701B766ED453}"/>
                </a:ext>
              </a:extLst>
            </p:cNvPr>
            <p:cNvGrpSpPr/>
            <p:nvPr/>
          </p:nvGrpSpPr>
          <p:grpSpPr>
            <a:xfrm>
              <a:off x="1197461" y="5395136"/>
              <a:ext cx="269469" cy="395289"/>
              <a:chOff x="3513038" y="5316536"/>
              <a:chExt cx="269469" cy="395289"/>
            </a:xfrm>
          </p:grpSpPr>
          <p:grpSp>
            <p:nvGrpSpPr>
              <p:cNvPr id="136" name="Google Shape;3733;p22">
                <a:extLst>
                  <a:ext uri="{FF2B5EF4-FFF2-40B4-BE49-F238E27FC236}">
                    <a16:creationId xmlns:a16="http://schemas.microsoft.com/office/drawing/2014/main" id="{43E71D11-F6B9-A2EA-114F-5B85160E9A97}"/>
                  </a:ext>
                </a:extLst>
              </p:cNvPr>
              <p:cNvGrpSpPr/>
              <p:nvPr/>
            </p:nvGrpSpPr>
            <p:grpSpPr>
              <a:xfrm>
                <a:off x="3513038" y="5316536"/>
                <a:ext cx="269469" cy="269658"/>
                <a:chOff x="658852" y="4943630"/>
                <a:chExt cx="583799" cy="584209"/>
              </a:xfrm>
            </p:grpSpPr>
            <p:sp>
              <p:nvSpPr>
                <p:cNvPr id="138" name="Google Shape;3734;p22">
                  <a:extLst>
                    <a:ext uri="{FF2B5EF4-FFF2-40B4-BE49-F238E27FC236}">
                      <a16:creationId xmlns:a16="http://schemas.microsoft.com/office/drawing/2014/main" id="{D2DEDAE7-221C-938C-DB76-06DE2BA43059}"/>
                    </a:ext>
                  </a:extLst>
                </p:cNvPr>
                <p:cNvSpPr/>
                <p:nvPr/>
              </p:nvSpPr>
              <p:spPr>
                <a:xfrm>
                  <a:off x="658852" y="4943630"/>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139" name="Google Shape;3735;p22">
                  <a:extLst>
                    <a:ext uri="{FF2B5EF4-FFF2-40B4-BE49-F238E27FC236}">
                      <a16:creationId xmlns:a16="http://schemas.microsoft.com/office/drawing/2014/main" id="{0E2FF350-3677-4FB1-768D-D24A0288E401}"/>
                    </a:ext>
                  </a:extLst>
                </p:cNvPr>
                <p:cNvGrpSpPr/>
                <p:nvPr/>
              </p:nvGrpSpPr>
              <p:grpSpPr>
                <a:xfrm>
                  <a:off x="834156" y="5211637"/>
                  <a:ext cx="216359" cy="78004"/>
                  <a:chOff x="834156" y="5211637"/>
                  <a:chExt cx="216359" cy="78004"/>
                </a:xfrm>
              </p:grpSpPr>
              <p:sp>
                <p:nvSpPr>
                  <p:cNvPr id="140" name="Google Shape;3736;p22">
                    <a:extLst>
                      <a:ext uri="{FF2B5EF4-FFF2-40B4-BE49-F238E27FC236}">
                        <a16:creationId xmlns:a16="http://schemas.microsoft.com/office/drawing/2014/main" id="{C9240764-0773-2135-DF8C-A6563208A518}"/>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141" name="Google Shape;3737;p22">
                    <a:extLst>
                      <a:ext uri="{FF2B5EF4-FFF2-40B4-BE49-F238E27FC236}">
                        <a16:creationId xmlns:a16="http://schemas.microsoft.com/office/drawing/2014/main" id="{A65010A2-AC0B-2A15-330F-9F9F4360BDBF}"/>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137" name="Straight Connector 136">
                <a:extLst>
                  <a:ext uri="{FF2B5EF4-FFF2-40B4-BE49-F238E27FC236}">
                    <a16:creationId xmlns:a16="http://schemas.microsoft.com/office/drawing/2014/main" id="{7F6C594A-F392-C4DA-2083-910511DA135D}"/>
                  </a:ext>
                </a:extLst>
              </p:cNvPr>
              <p:cNvCxnSpPr>
                <a:cxnSpLocks/>
              </p:cNvCxnSpPr>
              <p:nvPr/>
            </p:nvCxnSpPr>
            <p:spPr bwMode="gray">
              <a:xfrm>
                <a:off x="3647773" y="5582289"/>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grpSp>
      <p:cxnSp>
        <p:nvCxnSpPr>
          <p:cNvPr id="135" name="Straight Connector 134">
            <a:extLst>
              <a:ext uri="{FF2B5EF4-FFF2-40B4-BE49-F238E27FC236}">
                <a16:creationId xmlns:a16="http://schemas.microsoft.com/office/drawing/2014/main" id="{7D18852B-2CC9-8A32-C0B8-2B537F79F1D3}"/>
              </a:ext>
            </a:extLst>
          </p:cNvPr>
          <p:cNvCxnSpPr>
            <a:cxnSpLocks/>
          </p:cNvCxnSpPr>
          <p:nvPr/>
        </p:nvCxnSpPr>
        <p:spPr bwMode="gray">
          <a:xfrm>
            <a:off x="1740180" y="4191790"/>
            <a:ext cx="0" cy="161379"/>
          </a:xfrm>
          <a:prstGeom prst="line">
            <a:avLst/>
          </a:prstGeom>
          <a:ln w="25400" cap="rnd">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88" name="!!externalconnection">
            <a:extLst>
              <a:ext uri="{FF2B5EF4-FFF2-40B4-BE49-F238E27FC236}">
                <a16:creationId xmlns:a16="http://schemas.microsoft.com/office/drawing/2014/main" id="{1592EA98-75CD-9118-6308-5B62AE4D35D5}"/>
              </a:ext>
            </a:extLst>
          </p:cNvPr>
          <p:cNvSpPr/>
          <p:nvPr/>
        </p:nvSpPr>
        <p:spPr bwMode="gray">
          <a:xfrm>
            <a:off x="1306513" y="2899030"/>
            <a:ext cx="2082312" cy="230155"/>
          </a:xfrm>
          <a:prstGeom prst="rect">
            <a:avLst/>
          </a:prstGeom>
          <a:solidFill>
            <a:schemeClr val="accent2"/>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Centralized External Connection</a:t>
            </a:r>
          </a:p>
        </p:txBody>
      </p:sp>
      <p:cxnSp>
        <p:nvCxnSpPr>
          <p:cNvPr id="11" name="!!TGW-uplink2">
            <a:extLst>
              <a:ext uri="{FF2B5EF4-FFF2-40B4-BE49-F238E27FC236}">
                <a16:creationId xmlns:a16="http://schemas.microsoft.com/office/drawing/2014/main" id="{7EDBEF8A-146F-7A48-FFC4-EAA4C5F3EB55}"/>
              </a:ext>
            </a:extLst>
          </p:cNvPr>
          <p:cNvCxnSpPr>
            <a:cxnSpLocks/>
          </p:cNvCxnSpPr>
          <p:nvPr/>
        </p:nvCxnSpPr>
        <p:spPr bwMode="gray">
          <a:xfrm>
            <a:off x="3573335" y="2988640"/>
            <a:ext cx="0" cy="168442"/>
          </a:xfrm>
          <a:prstGeom prst="line">
            <a:avLst/>
          </a:prstGeom>
          <a:ln w="25400" cap="rnd">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930EEA1-F172-90E3-0262-87BCFA78D031}"/>
              </a:ext>
            </a:extLst>
          </p:cNvPr>
          <p:cNvCxnSpPr>
            <a:cxnSpLocks/>
          </p:cNvCxnSpPr>
          <p:nvPr/>
        </p:nvCxnSpPr>
        <p:spPr bwMode="gray">
          <a:xfrm>
            <a:off x="5397831" y="2918857"/>
            <a:ext cx="0" cy="238225"/>
          </a:xfrm>
          <a:prstGeom prst="line">
            <a:avLst/>
          </a:prstGeom>
          <a:ln w="25400" cap="rnd">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6D462ED7-D766-E6E1-323A-CB59B9D19088}"/>
              </a:ext>
            </a:extLst>
          </p:cNvPr>
          <p:cNvCxnSpPr>
            <a:cxnSpLocks/>
          </p:cNvCxnSpPr>
          <p:nvPr/>
        </p:nvCxnSpPr>
        <p:spPr bwMode="gray">
          <a:xfrm flipV="1">
            <a:off x="5397787" y="2880092"/>
            <a:ext cx="0" cy="132611"/>
          </a:xfrm>
          <a:prstGeom prst="line">
            <a:avLst/>
          </a:prstGeom>
          <a:ln w="25400" cap="rnd">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7" name="!!Tier0-downlink">
            <a:extLst>
              <a:ext uri="{FF2B5EF4-FFF2-40B4-BE49-F238E27FC236}">
                <a16:creationId xmlns:a16="http://schemas.microsoft.com/office/drawing/2014/main" id="{8DDB664B-EA13-4226-DE69-7EF0388DBD69}"/>
              </a:ext>
            </a:extLst>
          </p:cNvPr>
          <p:cNvCxnSpPr>
            <a:cxnSpLocks/>
          </p:cNvCxnSpPr>
          <p:nvPr/>
        </p:nvCxnSpPr>
        <p:spPr bwMode="gray">
          <a:xfrm flipV="1">
            <a:off x="3573335" y="2880092"/>
            <a:ext cx="0" cy="118173"/>
          </a:xfrm>
          <a:prstGeom prst="line">
            <a:avLst/>
          </a:prstGeom>
          <a:ln w="25400" cap="rnd">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31CFAA6-8ED6-DC1A-5016-8952903F554C}"/>
              </a:ext>
            </a:extLst>
          </p:cNvPr>
          <p:cNvSpPr txBox="1"/>
          <p:nvPr/>
        </p:nvSpPr>
        <p:spPr>
          <a:xfrm>
            <a:off x="821145" y="5573776"/>
            <a:ext cx="376866" cy="138499"/>
          </a:xfrm>
          <a:prstGeom prst="rect">
            <a:avLst/>
          </a:prstGeom>
          <a:noFill/>
        </p:spPr>
        <p:txBody>
          <a:bodyPr wrap="square" lIns="7200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14" name="TextBox 13">
            <a:extLst>
              <a:ext uri="{FF2B5EF4-FFF2-40B4-BE49-F238E27FC236}">
                <a16:creationId xmlns:a16="http://schemas.microsoft.com/office/drawing/2014/main" id="{75A5E246-2373-02ED-2DD5-29D102C8670A}"/>
              </a:ext>
            </a:extLst>
          </p:cNvPr>
          <p:cNvSpPr txBox="1"/>
          <p:nvPr/>
        </p:nvSpPr>
        <p:spPr>
          <a:xfrm>
            <a:off x="2649945" y="5573776"/>
            <a:ext cx="376866" cy="138499"/>
          </a:xfrm>
          <a:prstGeom prst="rect">
            <a:avLst/>
          </a:prstGeom>
          <a:noFill/>
        </p:spPr>
        <p:txBody>
          <a:bodyPr wrap="square" lIns="7200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16" name="TextBox 15">
            <a:extLst>
              <a:ext uri="{FF2B5EF4-FFF2-40B4-BE49-F238E27FC236}">
                <a16:creationId xmlns:a16="http://schemas.microsoft.com/office/drawing/2014/main" id="{C8F77781-45A5-5694-FA10-2600BD792106}"/>
              </a:ext>
            </a:extLst>
          </p:cNvPr>
          <p:cNvSpPr txBox="1"/>
          <p:nvPr/>
        </p:nvSpPr>
        <p:spPr>
          <a:xfrm>
            <a:off x="4478745" y="5573776"/>
            <a:ext cx="381756" cy="138499"/>
          </a:xfrm>
          <a:prstGeom prst="rect">
            <a:avLst/>
          </a:prstGeom>
          <a:noFill/>
        </p:spPr>
        <p:txBody>
          <a:bodyPr wrap="square" lIns="7200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17" name="TextBox 16">
            <a:extLst>
              <a:ext uri="{FF2B5EF4-FFF2-40B4-BE49-F238E27FC236}">
                <a16:creationId xmlns:a16="http://schemas.microsoft.com/office/drawing/2014/main" id="{310513B9-1B99-B312-638B-01B00B1F52A0}"/>
              </a:ext>
            </a:extLst>
          </p:cNvPr>
          <p:cNvSpPr txBox="1"/>
          <p:nvPr/>
        </p:nvSpPr>
        <p:spPr>
          <a:xfrm>
            <a:off x="6307545" y="5573776"/>
            <a:ext cx="371976" cy="138499"/>
          </a:xfrm>
          <a:prstGeom prst="rect">
            <a:avLst/>
          </a:prstGeom>
          <a:noFill/>
        </p:spPr>
        <p:txBody>
          <a:bodyPr wrap="square" lIns="7200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28" name="Rounded Rectangle 27">
            <a:extLst>
              <a:ext uri="{FF2B5EF4-FFF2-40B4-BE49-F238E27FC236}">
                <a16:creationId xmlns:a16="http://schemas.microsoft.com/office/drawing/2014/main" id="{152C1B68-8E77-3613-1F52-725959EF3DA9}"/>
              </a:ext>
            </a:extLst>
          </p:cNvPr>
          <p:cNvSpPr/>
          <p:nvPr/>
        </p:nvSpPr>
        <p:spPr bwMode="gray">
          <a:xfrm>
            <a:off x="3287725" y="3141071"/>
            <a:ext cx="2393396" cy="559993"/>
          </a:xfrm>
          <a:prstGeom prst="roundRect">
            <a:avLst/>
          </a:prstGeom>
          <a:noFill/>
          <a:ln w="9525">
            <a:solidFill>
              <a:srgbClr val="61A60E"/>
            </a:solidFill>
            <a:prstDash val="sys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29" name="Rounded Rectangle 28">
            <a:extLst>
              <a:ext uri="{FF2B5EF4-FFF2-40B4-BE49-F238E27FC236}">
                <a16:creationId xmlns:a16="http://schemas.microsoft.com/office/drawing/2014/main" id="{AFE32E39-58D5-BF19-DBCB-543ED202E7BA}"/>
              </a:ext>
            </a:extLst>
          </p:cNvPr>
          <p:cNvSpPr/>
          <p:nvPr/>
        </p:nvSpPr>
        <p:spPr bwMode="gray">
          <a:xfrm>
            <a:off x="3287725" y="2334026"/>
            <a:ext cx="2393396" cy="559993"/>
          </a:xfrm>
          <a:prstGeom prst="roundRect">
            <a:avLst/>
          </a:prstGeom>
          <a:noFill/>
          <a:ln w="9525">
            <a:solidFill>
              <a:schemeClr val="accent2"/>
            </a:solidFill>
            <a:prstDash val="sys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30" name="!!zorglub2">
            <a:extLst>
              <a:ext uri="{FF2B5EF4-FFF2-40B4-BE49-F238E27FC236}">
                <a16:creationId xmlns:a16="http://schemas.microsoft.com/office/drawing/2014/main" id="{B7A9AEF9-E1F7-D289-C3DB-5EA09A28C4EC}"/>
              </a:ext>
            </a:extLst>
          </p:cNvPr>
          <p:cNvSpPr txBox="1">
            <a:spLocks noChangeAspect="1"/>
          </p:cNvSpPr>
          <p:nvPr/>
        </p:nvSpPr>
        <p:spPr>
          <a:xfrm>
            <a:off x="3613966" y="3795541"/>
            <a:ext cx="240135" cy="240472"/>
          </a:xfrm>
          <a:custGeom>
            <a:avLst/>
            <a:gdLst/>
            <a:ahLst/>
            <a:cxnLst/>
            <a:rect l="l" t="t" r="r" b="b"/>
            <a:pathLst>
              <a:path w="1139359" h="1139359">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p:txBody>
      </p:sp>
      <p:sp>
        <p:nvSpPr>
          <p:cNvPr id="32" name="!!zorglub">
            <a:extLst>
              <a:ext uri="{FF2B5EF4-FFF2-40B4-BE49-F238E27FC236}">
                <a16:creationId xmlns:a16="http://schemas.microsoft.com/office/drawing/2014/main" id="{1B8F8A37-B24E-396C-4C41-3E80BCA47378}"/>
              </a:ext>
            </a:extLst>
          </p:cNvPr>
          <p:cNvSpPr txBox="1">
            <a:spLocks noChangeAspect="1"/>
          </p:cNvSpPr>
          <p:nvPr/>
        </p:nvSpPr>
        <p:spPr>
          <a:xfrm>
            <a:off x="5610210" y="3776293"/>
            <a:ext cx="240135" cy="240472"/>
          </a:xfrm>
          <a:custGeom>
            <a:avLst/>
            <a:gdLst/>
            <a:ahLst/>
            <a:cxnLst/>
            <a:rect l="l" t="t" r="r" b="b"/>
            <a:pathLst>
              <a:path w="1139359" h="1139359">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p:txBody>
      </p:sp>
      <p:sp>
        <p:nvSpPr>
          <p:cNvPr id="20" name="!!bob123">
            <a:extLst>
              <a:ext uri="{FF2B5EF4-FFF2-40B4-BE49-F238E27FC236}">
                <a16:creationId xmlns:a16="http://schemas.microsoft.com/office/drawing/2014/main" id="{518799FA-6FB4-7C45-19FF-28F3825AAC5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flipV="1">
            <a:off x="8372825" y="1589923"/>
            <a:ext cx="3816000"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1" name="!!BOTTOM">
            <a:extLst>
              <a:ext uri="{FF2B5EF4-FFF2-40B4-BE49-F238E27FC236}">
                <a16:creationId xmlns:a16="http://schemas.microsoft.com/office/drawing/2014/main" id="{08264F30-B367-EBDC-947C-A5774D8289F5}"/>
              </a:ext>
            </a:extLst>
          </p:cNvPr>
          <p:cNvSpPr/>
          <p:nvPr/>
        </p:nvSpPr>
        <p:spPr>
          <a:xfrm rot="10800000" flipV="1">
            <a:off x="608013" y="1600200"/>
            <a:ext cx="7315200" cy="359229"/>
          </a:xfrm>
          <a:prstGeom prst="round2SameRect">
            <a:avLst>
              <a:gd name="adj1" fmla="val 20630"/>
              <a:gd name="adj2" fmla="val 0"/>
            </a:avLst>
          </a:prstGeom>
          <a:solidFill>
            <a:srgbClr val="E8E8EA"/>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rPr>
              <a:t>PHYSICAL NETWORK</a:t>
            </a:r>
          </a:p>
        </p:txBody>
      </p:sp>
      <p:sp>
        <p:nvSpPr>
          <p:cNvPr id="3" name="TextBox 2">
            <a:extLst>
              <a:ext uri="{FF2B5EF4-FFF2-40B4-BE49-F238E27FC236}">
                <a16:creationId xmlns:a16="http://schemas.microsoft.com/office/drawing/2014/main" id="{17A38BC0-E261-D663-E64C-76300EB860F8}"/>
              </a:ext>
            </a:extLst>
          </p:cNvPr>
          <p:cNvSpPr txBox="1"/>
          <p:nvPr/>
        </p:nvSpPr>
        <p:spPr>
          <a:xfrm>
            <a:off x="2513814" y="3876427"/>
            <a:ext cx="664755" cy="138499"/>
          </a:xfrm>
          <a:prstGeom prst="rect">
            <a:avLst/>
          </a:prstGeom>
          <a:noFill/>
        </p:spPr>
        <p:txBody>
          <a:bodyPr wrap="square" lIns="7200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5C8A"/>
                </a:solidFill>
                <a:effectLst/>
                <a:uLnTx/>
                <a:uFillTx/>
                <a:latin typeface="Arial" panose="020B0604020202020204"/>
                <a:ea typeface="+mn-ea"/>
                <a:cs typeface="+mn-cs"/>
              </a:rPr>
              <a:t>NSX Edge</a:t>
            </a:r>
          </a:p>
        </p:txBody>
      </p:sp>
      <p:sp>
        <p:nvSpPr>
          <p:cNvPr id="23" name="TextBox 22">
            <a:extLst>
              <a:ext uri="{FF2B5EF4-FFF2-40B4-BE49-F238E27FC236}">
                <a16:creationId xmlns:a16="http://schemas.microsoft.com/office/drawing/2014/main" id="{7AA6C3D2-E22D-8ECB-442C-E60C305914E1}"/>
              </a:ext>
            </a:extLst>
          </p:cNvPr>
          <p:cNvSpPr txBox="1"/>
          <p:nvPr/>
        </p:nvSpPr>
        <p:spPr>
          <a:xfrm>
            <a:off x="4515258" y="3876427"/>
            <a:ext cx="664755" cy="138499"/>
          </a:xfrm>
          <a:prstGeom prst="rect">
            <a:avLst/>
          </a:prstGeom>
          <a:noFill/>
        </p:spPr>
        <p:txBody>
          <a:bodyPr wrap="square" lIns="7200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5C8A"/>
                </a:solidFill>
                <a:effectLst/>
                <a:uLnTx/>
                <a:uFillTx/>
                <a:latin typeface="Arial" panose="020B0604020202020204"/>
                <a:ea typeface="+mn-ea"/>
                <a:cs typeface="+mn-cs"/>
              </a:rPr>
              <a:t>NSX Edge</a:t>
            </a:r>
          </a:p>
        </p:txBody>
      </p:sp>
      <p:sp>
        <p:nvSpPr>
          <p:cNvPr id="41" name="!!TGW">
            <a:extLst>
              <a:ext uri="{FF2B5EF4-FFF2-40B4-BE49-F238E27FC236}">
                <a16:creationId xmlns:a16="http://schemas.microsoft.com/office/drawing/2014/main" id="{906C8DEE-9773-3B2E-0267-03EF2ECC877B}"/>
              </a:ext>
            </a:extLst>
          </p:cNvPr>
          <p:cNvSpPr txBox="1">
            <a:spLocks noChangeAspect="1"/>
          </p:cNvSpPr>
          <p:nvPr/>
        </p:nvSpPr>
        <p:spPr>
          <a:xfrm>
            <a:off x="3300649" y="3165446"/>
            <a:ext cx="541238" cy="540000"/>
          </a:xfrm>
          <a:custGeom>
            <a:avLst/>
            <a:gdLst/>
            <a:ahLst/>
            <a:cxnLst/>
            <a:rect l="l" t="t" r="r" b="b"/>
            <a:pathLst>
              <a:path w="1139359" h="1139359">
                <a:moveTo>
                  <a:pt x="517596" y="524233"/>
                </a:moveTo>
                <a:lnTo>
                  <a:pt x="620278" y="524233"/>
                </a:lnTo>
                <a:lnTo>
                  <a:pt x="620278" y="539520"/>
                </a:lnTo>
                <a:lnTo>
                  <a:pt x="577421" y="539520"/>
                </a:lnTo>
                <a:lnTo>
                  <a:pt x="577421" y="653778"/>
                </a:lnTo>
                <a:lnTo>
                  <a:pt x="560277" y="653778"/>
                </a:lnTo>
                <a:lnTo>
                  <a:pt x="560277" y="539520"/>
                </a:lnTo>
                <a:lnTo>
                  <a:pt x="517596" y="539520"/>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4"/>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p:txBody>
      </p:sp>
      <p:sp>
        <p:nvSpPr>
          <p:cNvPr id="42" name="!!TG">
            <a:extLst>
              <a:ext uri="{FF2B5EF4-FFF2-40B4-BE49-F238E27FC236}">
                <a16:creationId xmlns:a16="http://schemas.microsoft.com/office/drawing/2014/main" id="{2BC842ED-A701-EB2F-F57A-1E3CE767569D}"/>
              </a:ext>
            </a:extLst>
          </p:cNvPr>
          <p:cNvSpPr txBox="1"/>
          <p:nvPr/>
        </p:nvSpPr>
        <p:spPr>
          <a:xfrm>
            <a:off x="2780871" y="3266670"/>
            <a:ext cx="974052"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1A60E"/>
                </a:solidFill>
                <a:effectLst/>
                <a:uLnTx/>
                <a:uFillTx/>
                <a:latin typeface="Arial" panose="020B0604020202020204"/>
                <a:ea typeface="+mn-ea"/>
                <a:cs typeface="+mn-cs"/>
              </a:rPr>
              <a:t>Transit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1A60E"/>
                </a:solidFill>
                <a:effectLst/>
                <a:uLnTx/>
                <a:uFillTx/>
                <a:latin typeface="Arial" panose="020B0604020202020204"/>
                <a:ea typeface="+mn-ea"/>
                <a:cs typeface="+mn-cs"/>
              </a:rPr>
              <a:t>Gateway</a:t>
            </a:r>
          </a:p>
        </p:txBody>
      </p:sp>
      <p:grpSp>
        <p:nvGrpSpPr>
          <p:cNvPr id="51" name="Group 50">
            <a:extLst>
              <a:ext uri="{FF2B5EF4-FFF2-40B4-BE49-F238E27FC236}">
                <a16:creationId xmlns:a16="http://schemas.microsoft.com/office/drawing/2014/main" id="{903416D1-4186-2C46-3713-381500B02083}"/>
              </a:ext>
            </a:extLst>
          </p:cNvPr>
          <p:cNvGrpSpPr/>
          <p:nvPr/>
        </p:nvGrpSpPr>
        <p:grpSpPr>
          <a:xfrm>
            <a:off x="2787207" y="5855142"/>
            <a:ext cx="3056154" cy="265509"/>
            <a:chOff x="2620950" y="5869812"/>
            <a:chExt cx="3056154" cy="265509"/>
          </a:xfrm>
        </p:grpSpPr>
        <p:sp>
          <p:nvSpPr>
            <p:cNvPr id="47" name="Rectangle 46">
              <a:extLst>
                <a:ext uri="{FF2B5EF4-FFF2-40B4-BE49-F238E27FC236}">
                  <a16:creationId xmlns:a16="http://schemas.microsoft.com/office/drawing/2014/main" id="{9654588A-7267-160D-F0E1-A62FDF1D15F5}"/>
                </a:ext>
              </a:extLst>
            </p:cNvPr>
            <p:cNvSpPr/>
            <p:nvPr/>
          </p:nvSpPr>
          <p:spPr>
            <a:xfrm>
              <a:off x="2742826" y="5915992"/>
              <a:ext cx="2934278" cy="16619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rPr>
                <a:t>Vmware Cloud Foundation</a:t>
              </a:r>
            </a:p>
          </p:txBody>
        </p:sp>
        <p:pic>
          <p:nvPicPr>
            <p:cNvPr id="48" name="Picture 47">
              <a:extLst>
                <a:ext uri="{FF2B5EF4-FFF2-40B4-BE49-F238E27FC236}">
                  <a16:creationId xmlns:a16="http://schemas.microsoft.com/office/drawing/2014/main" id="{69E2DD28-D12E-362B-ED7C-9CD3D826AB7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620950" y="5869812"/>
              <a:ext cx="313492" cy="265509"/>
            </a:xfrm>
            <a:prstGeom prst="rect">
              <a:avLst/>
            </a:prstGeom>
          </p:spPr>
        </p:pic>
      </p:grpSp>
      <p:sp>
        <p:nvSpPr>
          <p:cNvPr id="52" name="TextBox 51">
            <a:extLst>
              <a:ext uri="{FF2B5EF4-FFF2-40B4-BE49-F238E27FC236}">
                <a16:creationId xmlns:a16="http://schemas.microsoft.com/office/drawing/2014/main" id="{E039E7E7-2C8A-E089-2E96-0B5044C3B8FF}"/>
              </a:ext>
            </a:extLst>
          </p:cNvPr>
          <p:cNvSpPr txBox="1"/>
          <p:nvPr/>
        </p:nvSpPr>
        <p:spPr>
          <a:xfrm>
            <a:off x="1691619" y="3602892"/>
            <a:ext cx="575987"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30A0"/>
                </a:solidFill>
                <a:effectLst/>
                <a:uLnTx/>
                <a:uFillTx/>
                <a:latin typeface="Arial" panose="020B0604020202020204"/>
                <a:ea typeface="+mn-ea"/>
                <a:cs typeface="+mn-cs"/>
              </a:rPr>
              <a:t>VPC Gateway</a:t>
            </a:r>
          </a:p>
        </p:txBody>
      </p:sp>
    </p:spTree>
    <p:extLst>
      <p:ext uri="{BB962C8B-B14F-4D97-AF65-F5344CB8AC3E}">
        <p14:creationId xmlns:p14="http://schemas.microsoft.com/office/powerpoint/2010/main" val="266458608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7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79"/>
                                        </p:tgtEl>
                                        <p:attrNameLst>
                                          <p:attrName>style.visibility</p:attrName>
                                        </p:attrNameLst>
                                      </p:cBhvr>
                                      <p:to>
                                        <p:strVal val="visible"/>
                                      </p:to>
                                    </p:set>
                                  </p:childTnLst>
                                </p:cTn>
                              </p:par>
                              <p:par>
                                <p:cTn id="51" presetID="1" presetClass="entr" presetSubtype="0" fill="hold" grpId="1" nodeType="with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87">
                                            <p:txEl>
                                              <p:pRg st="1" end="1"/>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87">
                                            <p:txEl>
                                              <p:pRg st="2" end="2"/>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87">
                                            <p:txEl>
                                              <p:pRg st="3" end="3"/>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87">
                                            <p:txEl>
                                              <p:pRg st="4" end="4"/>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87">
                                            <p:txEl>
                                              <p:pRg st="5" end="5"/>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87">
                                            <p:txEl>
                                              <p:pRg st="6" end="6"/>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6"/>
                                        </p:tgtEl>
                                        <p:attrNameLst>
                                          <p:attrName>style.visibility</p:attrName>
                                        </p:attrNameLst>
                                      </p:cBhvr>
                                      <p:to>
                                        <p:strVal val="visible"/>
                                      </p:to>
                                    </p:set>
                                  </p:childTnLst>
                                </p:cTn>
                              </p:par>
                            </p:childTnLst>
                          </p:cTn>
                        </p:par>
                        <p:par>
                          <p:cTn id="73" fill="hold">
                            <p:stCondLst>
                              <p:cond delay="0"/>
                            </p:stCondLst>
                            <p:childTnLst>
                              <p:par>
                                <p:cTn id="74" presetID="1" presetClass="entr" presetSubtype="0" fill="hold" grpId="0" nodeType="afterEffect">
                                  <p:stCondLst>
                                    <p:cond delay="0"/>
                                  </p:stCondLst>
                                  <p:childTnLst>
                                    <p:set>
                                      <p:cBhvr>
                                        <p:cTn id="75"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 grpId="0" animBg="1"/>
      <p:bldP spid="36" grpId="0" animBg="1"/>
      <p:bldP spid="40" grpId="0" animBg="1"/>
      <p:bldP spid="44" grpId="0" animBg="1"/>
      <p:bldP spid="45" grpId="0" animBg="1"/>
      <p:bldP spid="177" grpId="0" animBg="1"/>
      <p:bldP spid="183" grpId="0" animBg="1"/>
      <p:bldP spid="13" grpId="0"/>
      <p:bldP spid="14" grpId="0"/>
      <p:bldP spid="16" grpId="0"/>
      <p:bldP spid="17" grpId="0"/>
      <p:bldP spid="28" grpId="0" animBg="1"/>
      <p:bldP spid="29" grpId="0" animBg="1"/>
      <p:bldP spid="30" grpId="0" animBg="1"/>
      <p:bldP spid="32" grpId="0" animBg="1"/>
      <p:bldP spid="32" grpId="1" animBg="1"/>
      <p:bldP spid="23" grpId="0"/>
      <p:bldP spid="5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B3654-D98A-CC47-687F-7A9E7F38436B}"/>
            </a:ext>
          </a:extLst>
        </p:cNvPr>
        <p:cNvGrpSpPr/>
        <p:nvPr/>
      </p:nvGrpSpPr>
      <p:grpSpPr>
        <a:xfrm>
          <a:off x="0" y="0"/>
          <a:ext cx="0" cy="0"/>
          <a:chOff x="0" y="0"/>
          <a:chExt cx="0" cy="0"/>
        </a:xfrm>
      </p:grpSpPr>
      <p:sp>
        <p:nvSpPr>
          <p:cNvPr id="10" name="!!BOTTOM">
            <a:extLst>
              <a:ext uri="{FF2B5EF4-FFF2-40B4-BE49-F238E27FC236}">
                <a16:creationId xmlns:a16="http://schemas.microsoft.com/office/drawing/2014/main" id="{BA989EF1-8C8F-0DCB-59AD-778D6F531546}"/>
              </a:ext>
            </a:extLst>
          </p:cNvPr>
          <p:cNvSpPr/>
          <p:nvPr/>
        </p:nvSpPr>
        <p:spPr>
          <a:xfrm rot="10800000" flipV="1">
            <a:off x="608013" y="1600200"/>
            <a:ext cx="7315200" cy="914400"/>
          </a:xfrm>
          <a:prstGeom prst="round2SameRect">
            <a:avLst>
              <a:gd name="adj1" fmla="val 7233"/>
              <a:gd name="adj2" fmla="val 0"/>
            </a:avLst>
          </a:prstGeom>
          <a:solidFill>
            <a:srgbClr val="E8E8EA"/>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rPr>
              <a:t>PHYSICAL NETWORK</a:t>
            </a:r>
          </a:p>
        </p:txBody>
      </p:sp>
      <p:sp>
        <p:nvSpPr>
          <p:cNvPr id="6" name="!!TOP">
            <a:extLst>
              <a:ext uri="{FF2B5EF4-FFF2-40B4-BE49-F238E27FC236}">
                <a16:creationId xmlns:a16="http://schemas.microsoft.com/office/drawing/2014/main" id="{C003EDA9-EB42-9620-65F8-DC3E05200962}"/>
              </a:ext>
            </a:extLst>
          </p:cNvPr>
          <p:cNvSpPr/>
          <p:nvPr/>
        </p:nvSpPr>
        <p:spPr>
          <a:xfrm flipV="1">
            <a:off x="608013" y="2626326"/>
            <a:ext cx="7315200" cy="3545873"/>
          </a:xfrm>
          <a:prstGeom prst="round2SameRect">
            <a:avLst>
              <a:gd name="adj1" fmla="val 5333"/>
              <a:gd name="adj2" fmla="val 0"/>
            </a:avLst>
          </a:prstGeom>
          <a:solidFill>
            <a:schemeClr val="accent2">
              <a:alpha val="10000"/>
            </a:schemeClr>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endParaRPr>
          </a:p>
        </p:txBody>
      </p:sp>
      <p:grpSp>
        <p:nvGrpSpPr>
          <p:cNvPr id="290" name="!!ESXis">
            <a:extLst>
              <a:ext uri="{FF2B5EF4-FFF2-40B4-BE49-F238E27FC236}">
                <a16:creationId xmlns:a16="http://schemas.microsoft.com/office/drawing/2014/main" id="{C14D926A-C451-B797-CE19-C560275EF1C8}"/>
              </a:ext>
            </a:extLst>
          </p:cNvPr>
          <p:cNvGrpSpPr/>
          <p:nvPr/>
        </p:nvGrpSpPr>
        <p:grpSpPr>
          <a:xfrm>
            <a:off x="821142" y="2842957"/>
            <a:ext cx="6859587" cy="2877066"/>
            <a:chOff x="612646" y="3107809"/>
            <a:chExt cx="6859587" cy="2877066"/>
          </a:xfrm>
        </p:grpSpPr>
        <p:sp>
          <p:nvSpPr>
            <p:cNvPr id="28" name="!!ESX2">
              <a:extLst>
                <a:ext uri="{FF2B5EF4-FFF2-40B4-BE49-F238E27FC236}">
                  <a16:creationId xmlns:a16="http://schemas.microsoft.com/office/drawing/2014/main" id="{A1476BD3-0892-E1B7-B760-A676E83E6457}"/>
                </a:ext>
              </a:extLst>
            </p:cNvPr>
            <p:cNvSpPr/>
            <p:nvPr/>
          </p:nvSpPr>
          <p:spPr bwMode="gray">
            <a:xfrm>
              <a:off x="2436813" y="3107810"/>
              <a:ext cx="1371600" cy="2877065"/>
            </a:xfrm>
            <a:prstGeom prst="roundRect">
              <a:avLst>
                <a:gd name="adj" fmla="val 4189"/>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15" name="!!ESX1">
              <a:extLst>
                <a:ext uri="{FF2B5EF4-FFF2-40B4-BE49-F238E27FC236}">
                  <a16:creationId xmlns:a16="http://schemas.microsoft.com/office/drawing/2014/main" id="{047AEED6-C5CE-3A20-BCAC-286EEAE1F54C}"/>
                </a:ext>
              </a:extLst>
            </p:cNvPr>
            <p:cNvSpPr/>
            <p:nvPr/>
          </p:nvSpPr>
          <p:spPr bwMode="gray">
            <a:xfrm>
              <a:off x="612646" y="3107809"/>
              <a:ext cx="1371600" cy="2877065"/>
            </a:xfrm>
            <a:prstGeom prst="roundRect">
              <a:avLst>
                <a:gd name="adj" fmla="val 4189"/>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59" name="ESX3">
              <a:extLst>
                <a:ext uri="{FF2B5EF4-FFF2-40B4-BE49-F238E27FC236}">
                  <a16:creationId xmlns:a16="http://schemas.microsoft.com/office/drawing/2014/main" id="{ABCB0C11-A2B7-5783-FCB8-A225F482D5D6}"/>
                </a:ext>
              </a:extLst>
            </p:cNvPr>
            <p:cNvSpPr/>
            <p:nvPr/>
          </p:nvSpPr>
          <p:spPr bwMode="gray">
            <a:xfrm>
              <a:off x="4268184" y="3107810"/>
              <a:ext cx="1371600" cy="2877065"/>
            </a:xfrm>
            <a:prstGeom prst="roundRect">
              <a:avLst>
                <a:gd name="adj" fmla="val 5259"/>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87" name="ESX4">
              <a:extLst>
                <a:ext uri="{FF2B5EF4-FFF2-40B4-BE49-F238E27FC236}">
                  <a16:creationId xmlns:a16="http://schemas.microsoft.com/office/drawing/2014/main" id="{78B5B0E7-FA47-735C-9919-3C58B6080F59}"/>
                </a:ext>
              </a:extLst>
            </p:cNvPr>
            <p:cNvSpPr/>
            <p:nvPr/>
          </p:nvSpPr>
          <p:spPr bwMode="gray">
            <a:xfrm>
              <a:off x="6100633" y="3107810"/>
              <a:ext cx="1371600" cy="2877065"/>
            </a:xfrm>
            <a:prstGeom prst="roundRect">
              <a:avLst>
                <a:gd name="adj" fmla="val 4189"/>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grpSp>
      <p:sp>
        <p:nvSpPr>
          <p:cNvPr id="4" name="Title 3">
            <a:extLst>
              <a:ext uri="{FF2B5EF4-FFF2-40B4-BE49-F238E27FC236}">
                <a16:creationId xmlns:a16="http://schemas.microsoft.com/office/drawing/2014/main" id="{4EAEE8E2-479B-5CC0-2454-75835003466B}"/>
              </a:ext>
            </a:extLst>
          </p:cNvPr>
          <p:cNvSpPr>
            <a:spLocks noGrp="1"/>
          </p:cNvSpPr>
          <p:nvPr>
            <p:ph type="title"/>
          </p:nvPr>
        </p:nvSpPr>
        <p:spPr/>
        <p:txBody>
          <a:bodyPr/>
          <a:lstStyle/>
          <a:p>
            <a:r>
              <a:rPr lang="en-US" dirty="0"/>
              <a:t>External Connectivity without NSX Edges</a:t>
            </a:r>
          </a:p>
        </p:txBody>
      </p:sp>
      <p:sp>
        <p:nvSpPr>
          <p:cNvPr id="5" name="Subtitle 4">
            <a:extLst>
              <a:ext uri="{FF2B5EF4-FFF2-40B4-BE49-F238E27FC236}">
                <a16:creationId xmlns:a16="http://schemas.microsoft.com/office/drawing/2014/main" id="{F71DD9AC-80B1-A0D0-5610-1748F8320A2C}"/>
              </a:ext>
            </a:extLst>
          </p:cNvPr>
          <p:cNvSpPr>
            <a:spLocks noGrp="1"/>
          </p:cNvSpPr>
          <p:nvPr>
            <p:ph type="subTitle" idx="10"/>
          </p:nvPr>
        </p:nvSpPr>
        <p:spPr/>
        <p:txBody>
          <a:bodyPr/>
          <a:lstStyle/>
          <a:p>
            <a:r>
              <a:rPr lang="en-US" dirty="0"/>
              <a:t>Distributed Transit Gateway</a:t>
            </a:r>
          </a:p>
        </p:txBody>
      </p:sp>
      <p:sp>
        <p:nvSpPr>
          <p:cNvPr id="23" name="Text Placeholder 22">
            <a:extLst>
              <a:ext uri="{FF2B5EF4-FFF2-40B4-BE49-F238E27FC236}">
                <a16:creationId xmlns:a16="http://schemas.microsoft.com/office/drawing/2014/main" id="{F60D4909-FA15-DA6E-157C-DFB1AD79E732}"/>
              </a:ext>
            </a:extLst>
          </p:cNvPr>
          <p:cNvSpPr>
            <a:spLocks noGrp="1"/>
          </p:cNvSpPr>
          <p:nvPr>
            <p:ph type="body" sz="quarter" idx="4294967295"/>
          </p:nvPr>
        </p:nvSpPr>
        <p:spPr>
          <a:xfrm>
            <a:off x="8380413" y="2057400"/>
            <a:ext cx="3808412" cy="4114800"/>
          </a:xfrm>
        </p:spPr>
        <p:txBody>
          <a:bodyPr rIns="503998"/>
          <a:lstStyle/>
          <a:p>
            <a:pPr marL="180000" indent="0">
              <a:spcAft>
                <a:spcPts val="600"/>
              </a:spcAft>
            </a:pPr>
            <a:r>
              <a:rPr lang="en-US" sz="1600" dirty="0">
                <a:solidFill>
                  <a:schemeClr val="accent2"/>
                </a:solidFill>
              </a:rPr>
              <a:t>The transit gateway can attach to a </a:t>
            </a:r>
            <a:r>
              <a:rPr lang="en-US" sz="1600" b="1" dirty="0">
                <a:solidFill>
                  <a:schemeClr val="accent2"/>
                </a:solidFill>
              </a:rPr>
              <a:t>distributed</a:t>
            </a:r>
            <a:r>
              <a:rPr lang="en-US" sz="1600" dirty="0">
                <a:solidFill>
                  <a:schemeClr val="accent2"/>
                </a:solidFill>
              </a:rPr>
              <a:t> external connection.</a:t>
            </a:r>
          </a:p>
          <a:p>
            <a:pPr marL="180000" indent="0">
              <a:spcAft>
                <a:spcPts val="600"/>
              </a:spcAft>
            </a:pPr>
            <a:r>
              <a:rPr lang="en-US" sz="1600" dirty="0">
                <a:solidFill>
                  <a:schemeClr val="accent2"/>
                </a:solidFill>
              </a:rPr>
              <a:t>In that case, it has no centralized component: </a:t>
            </a:r>
          </a:p>
          <a:p>
            <a:pPr marL="540000" lvl="1">
              <a:spcBef>
                <a:spcPts val="600"/>
              </a:spcBef>
              <a:buClr>
                <a:schemeClr val="accent2"/>
              </a:buClr>
            </a:pPr>
            <a:r>
              <a:rPr lang="en-US" sz="1400" dirty="0">
                <a:solidFill>
                  <a:schemeClr val="accent2"/>
                </a:solidFill>
              </a:rPr>
              <a:t>NSX edges are not required </a:t>
            </a:r>
          </a:p>
          <a:p>
            <a:pPr marL="540000" lvl="1">
              <a:buClr>
                <a:schemeClr val="accent2"/>
              </a:buClr>
            </a:pPr>
            <a:r>
              <a:rPr lang="en-US" sz="1400" dirty="0">
                <a:solidFill>
                  <a:schemeClr val="accent2"/>
                </a:solidFill>
              </a:rPr>
              <a:t>All ESX hosts must be connected to a VLAN providing an IP block for external addresses used by VMs</a:t>
            </a:r>
          </a:p>
          <a:p>
            <a:pPr marL="180000" indent="0">
              <a:spcBef>
                <a:spcPts val="600"/>
              </a:spcBef>
            </a:pPr>
            <a:r>
              <a:rPr lang="en-US" sz="1600" dirty="0">
                <a:solidFill>
                  <a:schemeClr val="accent2"/>
                </a:solidFill>
              </a:rPr>
              <a:t>Distributed services: </a:t>
            </a:r>
          </a:p>
          <a:p>
            <a:pPr marL="540000" lvl="1">
              <a:buClr>
                <a:schemeClr val="accent2"/>
              </a:buClr>
            </a:pPr>
            <a:r>
              <a:rPr lang="en-US" sz="1400" dirty="0">
                <a:solidFill>
                  <a:schemeClr val="accent2"/>
                </a:solidFill>
              </a:rPr>
              <a:t>1:1 NAT and </a:t>
            </a:r>
          </a:p>
          <a:p>
            <a:pPr marL="540000" lvl="1">
              <a:buClr>
                <a:schemeClr val="accent2"/>
              </a:buClr>
            </a:pPr>
            <a:r>
              <a:rPr lang="en-US" sz="1400" dirty="0">
                <a:solidFill>
                  <a:schemeClr val="accent2"/>
                </a:solidFill>
              </a:rPr>
              <a:t>distributed DHCP</a:t>
            </a:r>
          </a:p>
        </p:txBody>
      </p:sp>
      <p:cxnSp>
        <p:nvCxnSpPr>
          <p:cNvPr id="120" name="Straight Connector 119">
            <a:extLst>
              <a:ext uri="{FF2B5EF4-FFF2-40B4-BE49-F238E27FC236}">
                <a16:creationId xmlns:a16="http://schemas.microsoft.com/office/drawing/2014/main" id="{5084088F-B0C2-C4CE-20AF-FA46498BFDDD}"/>
              </a:ext>
            </a:extLst>
          </p:cNvPr>
          <p:cNvCxnSpPr>
            <a:cxnSpLocks/>
          </p:cNvCxnSpPr>
          <p:nvPr/>
        </p:nvCxnSpPr>
        <p:spPr bwMode="gray">
          <a:xfrm>
            <a:off x="3564342" y="3701108"/>
            <a:ext cx="0" cy="663784"/>
          </a:xfrm>
          <a:prstGeom prst="line">
            <a:avLst/>
          </a:prstGeom>
          <a:ln w="25400" cap="rnd">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9CB1D0E-E0AA-45BD-1E0F-A49C1630BE3B}"/>
              </a:ext>
            </a:extLst>
          </p:cNvPr>
          <p:cNvSpPr txBox="1">
            <a:spLocks noChangeAspect="1"/>
          </p:cNvSpPr>
          <p:nvPr/>
        </p:nvSpPr>
        <p:spPr>
          <a:xfrm>
            <a:off x="1476480" y="3165446"/>
            <a:ext cx="541238" cy="540000"/>
          </a:xfrm>
          <a:custGeom>
            <a:avLst/>
            <a:gdLst/>
            <a:ahLst/>
            <a:cxnLst/>
            <a:rect l="l" t="t" r="r" b="b"/>
            <a:pathLst>
              <a:path w="1139359" h="1139359">
                <a:moveTo>
                  <a:pt x="517596" y="524233"/>
                </a:moveTo>
                <a:lnTo>
                  <a:pt x="620278" y="524233"/>
                </a:lnTo>
                <a:lnTo>
                  <a:pt x="620278" y="539520"/>
                </a:lnTo>
                <a:lnTo>
                  <a:pt x="577421" y="539520"/>
                </a:lnTo>
                <a:lnTo>
                  <a:pt x="577421" y="653778"/>
                </a:lnTo>
                <a:lnTo>
                  <a:pt x="560277" y="653778"/>
                </a:lnTo>
                <a:lnTo>
                  <a:pt x="560277" y="539520"/>
                </a:lnTo>
                <a:lnTo>
                  <a:pt x="517596" y="539520"/>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4"/>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p:txBody>
      </p:sp>
      <p:sp>
        <p:nvSpPr>
          <p:cNvPr id="13" name="TextBox 12">
            <a:extLst>
              <a:ext uri="{FF2B5EF4-FFF2-40B4-BE49-F238E27FC236}">
                <a16:creationId xmlns:a16="http://schemas.microsoft.com/office/drawing/2014/main" id="{5739CE01-B842-5011-A63A-2B35F9DB6714}"/>
              </a:ext>
            </a:extLst>
          </p:cNvPr>
          <p:cNvSpPr txBox="1"/>
          <p:nvPr/>
        </p:nvSpPr>
        <p:spPr>
          <a:xfrm>
            <a:off x="928649" y="3254229"/>
            <a:ext cx="498916"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1A60E"/>
                </a:solidFill>
                <a:effectLst/>
                <a:uLnTx/>
                <a:uFillTx/>
                <a:latin typeface="Arial" panose="020B0604020202020204"/>
                <a:ea typeface="+mn-ea"/>
                <a:cs typeface="+mn-cs"/>
              </a:rPr>
              <a:t>Transit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1A60E"/>
                </a:solidFill>
                <a:effectLst/>
                <a:uLnTx/>
                <a:uFillTx/>
                <a:latin typeface="Arial" panose="020B0604020202020204"/>
                <a:ea typeface="+mn-ea"/>
                <a:cs typeface="+mn-cs"/>
              </a:rPr>
              <a:t>Gateway</a:t>
            </a:r>
          </a:p>
        </p:txBody>
      </p:sp>
      <p:cxnSp>
        <p:nvCxnSpPr>
          <p:cNvPr id="55" name="Straight Connector 54">
            <a:extLst>
              <a:ext uri="{FF2B5EF4-FFF2-40B4-BE49-F238E27FC236}">
                <a16:creationId xmlns:a16="http://schemas.microsoft.com/office/drawing/2014/main" id="{FF258D92-E7A5-F7AB-7636-5B866FEB08CA}"/>
              </a:ext>
            </a:extLst>
          </p:cNvPr>
          <p:cNvCxnSpPr>
            <a:cxnSpLocks/>
          </p:cNvCxnSpPr>
          <p:nvPr/>
        </p:nvCxnSpPr>
        <p:spPr bwMode="gray">
          <a:xfrm>
            <a:off x="1740175" y="3701108"/>
            <a:ext cx="0" cy="659134"/>
          </a:xfrm>
          <a:prstGeom prst="line">
            <a:avLst/>
          </a:prstGeom>
          <a:ln w="25400" cap="rnd">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562D4B3F-07E9-4E85-7EEF-279926FE34F7}"/>
              </a:ext>
            </a:extLst>
          </p:cNvPr>
          <p:cNvSpPr txBox="1">
            <a:spLocks noChangeAspect="1"/>
          </p:cNvSpPr>
          <p:nvPr/>
        </p:nvSpPr>
        <p:spPr>
          <a:xfrm>
            <a:off x="5132018" y="3165446"/>
            <a:ext cx="541238" cy="540000"/>
          </a:xfrm>
          <a:custGeom>
            <a:avLst/>
            <a:gdLst/>
            <a:ahLst/>
            <a:cxnLst/>
            <a:rect l="l" t="t" r="r" b="b"/>
            <a:pathLst>
              <a:path w="1139359" h="1139359">
                <a:moveTo>
                  <a:pt x="517596" y="524233"/>
                </a:moveTo>
                <a:lnTo>
                  <a:pt x="620278" y="524233"/>
                </a:lnTo>
                <a:lnTo>
                  <a:pt x="620278" y="539520"/>
                </a:lnTo>
                <a:lnTo>
                  <a:pt x="577421" y="539520"/>
                </a:lnTo>
                <a:lnTo>
                  <a:pt x="577421" y="653778"/>
                </a:lnTo>
                <a:lnTo>
                  <a:pt x="560277" y="653778"/>
                </a:lnTo>
                <a:lnTo>
                  <a:pt x="560277" y="539520"/>
                </a:lnTo>
                <a:lnTo>
                  <a:pt x="517596" y="539520"/>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4"/>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p:txBody>
      </p:sp>
      <p:sp>
        <p:nvSpPr>
          <p:cNvPr id="58" name="TextBox 57">
            <a:extLst>
              <a:ext uri="{FF2B5EF4-FFF2-40B4-BE49-F238E27FC236}">
                <a16:creationId xmlns:a16="http://schemas.microsoft.com/office/drawing/2014/main" id="{57DBADBB-7279-FD12-1E6A-970E3E217669}"/>
              </a:ext>
            </a:extLst>
          </p:cNvPr>
          <p:cNvSpPr txBox="1"/>
          <p:nvPr/>
        </p:nvSpPr>
        <p:spPr>
          <a:xfrm>
            <a:off x="4584187" y="3254229"/>
            <a:ext cx="498916"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1A60E"/>
                </a:solidFill>
                <a:effectLst/>
                <a:uLnTx/>
                <a:uFillTx/>
                <a:latin typeface="Arial" panose="020B0604020202020204"/>
                <a:ea typeface="+mn-ea"/>
                <a:cs typeface="+mn-cs"/>
              </a:rPr>
              <a:t>Transit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1A60E"/>
                </a:solidFill>
                <a:effectLst/>
                <a:uLnTx/>
                <a:uFillTx/>
                <a:latin typeface="Arial" panose="020B0604020202020204"/>
                <a:ea typeface="+mn-ea"/>
                <a:cs typeface="+mn-cs"/>
              </a:rPr>
              <a:t>Gateway</a:t>
            </a:r>
          </a:p>
        </p:txBody>
      </p:sp>
      <p:cxnSp>
        <p:nvCxnSpPr>
          <p:cNvPr id="82" name="Straight Connector 81">
            <a:extLst>
              <a:ext uri="{FF2B5EF4-FFF2-40B4-BE49-F238E27FC236}">
                <a16:creationId xmlns:a16="http://schemas.microsoft.com/office/drawing/2014/main" id="{71B98451-FED1-BE2E-8458-529423610126}"/>
              </a:ext>
            </a:extLst>
          </p:cNvPr>
          <p:cNvCxnSpPr>
            <a:cxnSpLocks/>
          </p:cNvCxnSpPr>
          <p:nvPr/>
        </p:nvCxnSpPr>
        <p:spPr bwMode="gray">
          <a:xfrm>
            <a:off x="5395713" y="3701108"/>
            <a:ext cx="0" cy="659134"/>
          </a:xfrm>
          <a:prstGeom prst="line">
            <a:avLst/>
          </a:prstGeom>
          <a:ln w="25400" cap="rnd">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36097EA5-B270-DD8D-CDBC-A30C04290033}"/>
              </a:ext>
            </a:extLst>
          </p:cNvPr>
          <p:cNvSpPr txBox="1">
            <a:spLocks noChangeAspect="1"/>
          </p:cNvSpPr>
          <p:nvPr/>
        </p:nvSpPr>
        <p:spPr>
          <a:xfrm>
            <a:off x="6964467" y="3165446"/>
            <a:ext cx="541238" cy="540000"/>
          </a:xfrm>
          <a:custGeom>
            <a:avLst/>
            <a:gdLst/>
            <a:ahLst/>
            <a:cxnLst/>
            <a:rect l="l" t="t" r="r" b="b"/>
            <a:pathLst>
              <a:path w="1139359" h="1139359">
                <a:moveTo>
                  <a:pt x="517596" y="524233"/>
                </a:moveTo>
                <a:lnTo>
                  <a:pt x="620278" y="524233"/>
                </a:lnTo>
                <a:lnTo>
                  <a:pt x="620278" y="539520"/>
                </a:lnTo>
                <a:lnTo>
                  <a:pt x="577421" y="539520"/>
                </a:lnTo>
                <a:lnTo>
                  <a:pt x="577421" y="653778"/>
                </a:lnTo>
                <a:lnTo>
                  <a:pt x="560277" y="653778"/>
                </a:lnTo>
                <a:lnTo>
                  <a:pt x="560277" y="539520"/>
                </a:lnTo>
                <a:lnTo>
                  <a:pt x="517596" y="539520"/>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4"/>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p:txBody>
      </p:sp>
      <p:sp>
        <p:nvSpPr>
          <p:cNvPr id="86" name="TextBox 85">
            <a:extLst>
              <a:ext uri="{FF2B5EF4-FFF2-40B4-BE49-F238E27FC236}">
                <a16:creationId xmlns:a16="http://schemas.microsoft.com/office/drawing/2014/main" id="{6BE0C74D-8DA2-C220-BE22-1BE6C3B3F53A}"/>
              </a:ext>
            </a:extLst>
          </p:cNvPr>
          <p:cNvSpPr txBox="1"/>
          <p:nvPr/>
        </p:nvSpPr>
        <p:spPr>
          <a:xfrm>
            <a:off x="6416636" y="3254229"/>
            <a:ext cx="498916"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1A60E"/>
                </a:solidFill>
                <a:effectLst/>
                <a:uLnTx/>
                <a:uFillTx/>
                <a:latin typeface="Arial" panose="020B0604020202020204"/>
                <a:ea typeface="+mn-ea"/>
                <a:cs typeface="+mn-cs"/>
              </a:rPr>
              <a:t>Transit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1A60E"/>
                </a:solidFill>
                <a:effectLst/>
                <a:uLnTx/>
                <a:uFillTx/>
                <a:latin typeface="Arial" panose="020B0604020202020204"/>
                <a:ea typeface="+mn-ea"/>
                <a:cs typeface="+mn-cs"/>
              </a:rPr>
              <a:t>Gateway</a:t>
            </a:r>
          </a:p>
        </p:txBody>
      </p:sp>
      <p:cxnSp>
        <p:nvCxnSpPr>
          <p:cNvPr id="110" name="Straight Connector 109">
            <a:extLst>
              <a:ext uri="{FF2B5EF4-FFF2-40B4-BE49-F238E27FC236}">
                <a16:creationId xmlns:a16="http://schemas.microsoft.com/office/drawing/2014/main" id="{1AA8BAC9-599D-BD4C-26A4-B62AFB654A9E}"/>
              </a:ext>
            </a:extLst>
          </p:cNvPr>
          <p:cNvCxnSpPr>
            <a:cxnSpLocks/>
          </p:cNvCxnSpPr>
          <p:nvPr/>
        </p:nvCxnSpPr>
        <p:spPr bwMode="gray">
          <a:xfrm>
            <a:off x="7228162" y="3701108"/>
            <a:ext cx="0" cy="659134"/>
          </a:xfrm>
          <a:prstGeom prst="line">
            <a:avLst/>
          </a:prstGeom>
          <a:ln w="25400" cap="rnd">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27" name="Group 126">
            <a:extLst>
              <a:ext uri="{FF2B5EF4-FFF2-40B4-BE49-F238E27FC236}">
                <a16:creationId xmlns:a16="http://schemas.microsoft.com/office/drawing/2014/main" id="{D505E2FC-74F1-D609-F78E-9D30393A35B3}"/>
              </a:ext>
            </a:extLst>
          </p:cNvPr>
          <p:cNvGrpSpPr/>
          <p:nvPr/>
        </p:nvGrpSpPr>
        <p:grpSpPr>
          <a:xfrm>
            <a:off x="1023726" y="4365528"/>
            <a:ext cx="6382598" cy="1274400"/>
            <a:chOff x="810597" y="4620600"/>
            <a:chExt cx="6382598" cy="1274400"/>
          </a:xfrm>
        </p:grpSpPr>
        <p:sp>
          <p:nvSpPr>
            <p:cNvPr id="128" name="TextBox 127">
              <a:extLst>
                <a:ext uri="{FF2B5EF4-FFF2-40B4-BE49-F238E27FC236}">
                  <a16:creationId xmlns:a16="http://schemas.microsoft.com/office/drawing/2014/main" id="{122B200F-3604-A306-7E78-DC158B4488E8}"/>
                </a:ext>
              </a:extLst>
            </p:cNvPr>
            <p:cNvSpPr txBox="1">
              <a:spLocks noChangeAspect="1"/>
            </p:cNvSpPr>
            <p:nvPr/>
          </p:nvSpPr>
          <p:spPr>
            <a:xfrm>
              <a:off x="3171465" y="4620600"/>
              <a:ext cx="359495" cy="360000"/>
            </a:xfrm>
            <a:custGeom>
              <a:avLst/>
              <a:gdLst/>
              <a:ahLst/>
              <a:cxnLst/>
              <a:rect l="l" t="t" r="r" b="b"/>
              <a:pathLst>
                <a:path w="1139359" h="1139359">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p:txBody>
        </p:sp>
        <p:cxnSp>
          <p:nvCxnSpPr>
            <p:cNvPr id="129" name="Straight Connector 128">
              <a:extLst>
                <a:ext uri="{FF2B5EF4-FFF2-40B4-BE49-F238E27FC236}">
                  <a16:creationId xmlns:a16="http://schemas.microsoft.com/office/drawing/2014/main" id="{065377BF-8D1F-61B5-C28D-CD60C0251137}"/>
                </a:ext>
              </a:extLst>
            </p:cNvPr>
            <p:cNvCxnSpPr>
              <a:cxnSpLocks/>
            </p:cNvCxnSpPr>
            <p:nvPr/>
          </p:nvCxnSpPr>
          <p:spPr bwMode="gray">
            <a:xfrm>
              <a:off x="2842177" y="5282152"/>
              <a:ext cx="509036"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0" name="Freeform 129">
              <a:extLst>
                <a:ext uri="{FF2B5EF4-FFF2-40B4-BE49-F238E27FC236}">
                  <a16:creationId xmlns:a16="http://schemas.microsoft.com/office/drawing/2014/main" id="{C7AF4947-8FF3-88D8-DB30-7ED309929EE4}"/>
                </a:ext>
              </a:extLst>
            </p:cNvPr>
            <p:cNvSpPr>
              <a:spLocks noChangeAspect="1"/>
            </p:cNvSpPr>
            <p:nvPr/>
          </p:nvSpPr>
          <p:spPr>
            <a:xfrm>
              <a:off x="2634762" y="5195299"/>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31" name="Straight Connector 130">
              <a:extLst>
                <a:ext uri="{FF2B5EF4-FFF2-40B4-BE49-F238E27FC236}">
                  <a16:creationId xmlns:a16="http://schemas.microsoft.com/office/drawing/2014/main" id="{B0DCC01B-3ECE-24C1-D29E-AFD7E1A852B7}"/>
                </a:ext>
              </a:extLst>
            </p:cNvPr>
            <p:cNvCxnSpPr>
              <a:cxnSpLocks/>
            </p:cNvCxnSpPr>
            <p:nvPr/>
          </p:nvCxnSpPr>
          <p:spPr bwMode="gray">
            <a:xfrm>
              <a:off x="3284285" y="4970944"/>
              <a:ext cx="0" cy="290031"/>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99903521-8EA6-AEE5-BA0A-3092A59DEEB1}"/>
                </a:ext>
              </a:extLst>
            </p:cNvPr>
            <p:cNvCxnSpPr>
              <a:cxnSpLocks/>
            </p:cNvCxnSpPr>
            <p:nvPr/>
          </p:nvCxnSpPr>
          <p:spPr bwMode="gray">
            <a:xfrm>
              <a:off x="3048000" y="5793185"/>
              <a:ext cx="402192"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3" name="Freeform 132">
              <a:extLst>
                <a:ext uri="{FF2B5EF4-FFF2-40B4-BE49-F238E27FC236}">
                  <a16:creationId xmlns:a16="http://schemas.microsoft.com/office/drawing/2014/main" id="{A8A2EEDA-BB04-7AC0-BBF1-629B4D4B8418}"/>
                </a:ext>
              </a:extLst>
            </p:cNvPr>
            <p:cNvSpPr>
              <a:spLocks noChangeAspect="1"/>
            </p:cNvSpPr>
            <p:nvPr/>
          </p:nvSpPr>
          <p:spPr>
            <a:xfrm>
              <a:off x="2823424" y="5715000"/>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34" name="Straight Connector 133">
              <a:extLst>
                <a:ext uri="{FF2B5EF4-FFF2-40B4-BE49-F238E27FC236}">
                  <a16:creationId xmlns:a16="http://schemas.microsoft.com/office/drawing/2014/main" id="{B87F1261-CA78-F35D-D771-0346A3FC714A}"/>
                </a:ext>
              </a:extLst>
            </p:cNvPr>
            <p:cNvCxnSpPr>
              <a:cxnSpLocks/>
            </p:cNvCxnSpPr>
            <p:nvPr/>
          </p:nvCxnSpPr>
          <p:spPr bwMode="gray">
            <a:xfrm>
              <a:off x="3407501" y="4972102"/>
              <a:ext cx="0" cy="812878"/>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nvGrpSpPr>
            <p:cNvPr id="135" name="Google Shape;3733;p22">
              <a:extLst>
                <a:ext uri="{FF2B5EF4-FFF2-40B4-BE49-F238E27FC236}">
                  <a16:creationId xmlns:a16="http://schemas.microsoft.com/office/drawing/2014/main" id="{72C678C0-0E64-CE57-2A9D-7EA8599543D3}"/>
                </a:ext>
              </a:extLst>
            </p:cNvPr>
            <p:cNvGrpSpPr/>
            <p:nvPr/>
          </p:nvGrpSpPr>
          <p:grpSpPr>
            <a:xfrm>
              <a:off x="2829689" y="4883199"/>
              <a:ext cx="269469" cy="269658"/>
              <a:chOff x="658852" y="4943630"/>
              <a:chExt cx="583799" cy="584209"/>
            </a:xfrm>
          </p:grpSpPr>
          <p:sp>
            <p:nvSpPr>
              <p:cNvPr id="279" name="Google Shape;3734;p22">
                <a:extLst>
                  <a:ext uri="{FF2B5EF4-FFF2-40B4-BE49-F238E27FC236}">
                    <a16:creationId xmlns:a16="http://schemas.microsoft.com/office/drawing/2014/main" id="{051C0EEE-C730-5D4C-EA48-ABB1AD96B505}"/>
                  </a:ext>
                </a:extLst>
              </p:cNvPr>
              <p:cNvSpPr/>
              <p:nvPr/>
            </p:nvSpPr>
            <p:spPr>
              <a:xfrm>
                <a:off x="658852" y="4943630"/>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280" name="Google Shape;3735;p22">
                <a:extLst>
                  <a:ext uri="{FF2B5EF4-FFF2-40B4-BE49-F238E27FC236}">
                    <a16:creationId xmlns:a16="http://schemas.microsoft.com/office/drawing/2014/main" id="{4C1B7BAF-E1DA-01EB-8AB1-37766DDAF4CF}"/>
                  </a:ext>
                </a:extLst>
              </p:cNvPr>
              <p:cNvGrpSpPr/>
              <p:nvPr/>
            </p:nvGrpSpPr>
            <p:grpSpPr>
              <a:xfrm>
                <a:off x="834156" y="5211637"/>
                <a:ext cx="216359" cy="78004"/>
                <a:chOff x="834156" y="5211637"/>
                <a:chExt cx="216359" cy="78004"/>
              </a:xfrm>
            </p:grpSpPr>
            <p:sp>
              <p:nvSpPr>
                <p:cNvPr id="281" name="Google Shape;3736;p22">
                  <a:extLst>
                    <a:ext uri="{FF2B5EF4-FFF2-40B4-BE49-F238E27FC236}">
                      <a16:creationId xmlns:a16="http://schemas.microsoft.com/office/drawing/2014/main" id="{C3152D47-9388-C42F-C62E-F2E546FB87C2}"/>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282" name="Google Shape;3737;p22">
                  <a:extLst>
                    <a:ext uri="{FF2B5EF4-FFF2-40B4-BE49-F238E27FC236}">
                      <a16:creationId xmlns:a16="http://schemas.microsoft.com/office/drawing/2014/main" id="{C0454323-7E67-A52B-C1F8-32BBC85CC36E}"/>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136" name="Straight Connector 135">
              <a:extLst>
                <a:ext uri="{FF2B5EF4-FFF2-40B4-BE49-F238E27FC236}">
                  <a16:creationId xmlns:a16="http://schemas.microsoft.com/office/drawing/2014/main" id="{6B3A0DE3-F2DD-BB55-2C99-C95555BC0F1C}"/>
                </a:ext>
              </a:extLst>
            </p:cNvPr>
            <p:cNvCxnSpPr>
              <a:cxnSpLocks/>
            </p:cNvCxnSpPr>
            <p:nvPr/>
          </p:nvCxnSpPr>
          <p:spPr bwMode="gray">
            <a:xfrm>
              <a:off x="2964424" y="5152127"/>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nvGrpSpPr>
            <p:cNvPr id="137" name="Group 136">
              <a:extLst>
                <a:ext uri="{FF2B5EF4-FFF2-40B4-BE49-F238E27FC236}">
                  <a16:creationId xmlns:a16="http://schemas.microsoft.com/office/drawing/2014/main" id="{DCF7C936-42F1-E1F0-9D44-3F02048EABBD}"/>
                </a:ext>
              </a:extLst>
            </p:cNvPr>
            <p:cNvGrpSpPr/>
            <p:nvPr/>
          </p:nvGrpSpPr>
          <p:grpSpPr>
            <a:xfrm>
              <a:off x="3021626" y="5395136"/>
              <a:ext cx="269469" cy="395289"/>
              <a:chOff x="3513038" y="5316536"/>
              <a:chExt cx="269469" cy="395289"/>
            </a:xfrm>
          </p:grpSpPr>
          <p:grpSp>
            <p:nvGrpSpPr>
              <p:cNvPr id="273" name="Google Shape;3733;p22">
                <a:extLst>
                  <a:ext uri="{FF2B5EF4-FFF2-40B4-BE49-F238E27FC236}">
                    <a16:creationId xmlns:a16="http://schemas.microsoft.com/office/drawing/2014/main" id="{4621DABC-C4F6-7127-6D9F-4E06D07ACDBA}"/>
                  </a:ext>
                </a:extLst>
              </p:cNvPr>
              <p:cNvGrpSpPr/>
              <p:nvPr/>
            </p:nvGrpSpPr>
            <p:grpSpPr>
              <a:xfrm>
                <a:off x="3513038" y="5316536"/>
                <a:ext cx="269469" cy="269658"/>
                <a:chOff x="658852" y="4943630"/>
                <a:chExt cx="583799" cy="584209"/>
              </a:xfrm>
            </p:grpSpPr>
            <p:sp>
              <p:nvSpPr>
                <p:cNvPr id="275" name="Google Shape;3734;p22">
                  <a:extLst>
                    <a:ext uri="{FF2B5EF4-FFF2-40B4-BE49-F238E27FC236}">
                      <a16:creationId xmlns:a16="http://schemas.microsoft.com/office/drawing/2014/main" id="{665861FF-9F6E-0D1B-22A3-57B17E49CD13}"/>
                    </a:ext>
                  </a:extLst>
                </p:cNvPr>
                <p:cNvSpPr/>
                <p:nvPr/>
              </p:nvSpPr>
              <p:spPr>
                <a:xfrm>
                  <a:off x="658852" y="4943630"/>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276" name="Google Shape;3735;p22">
                  <a:extLst>
                    <a:ext uri="{FF2B5EF4-FFF2-40B4-BE49-F238E27FC236}">
                      <a16:creationId xmlns:a16="http://schemas.microsoft.com/office/drawing/2014/main" id="{01FB368C-E97F-772F-B2E2-95F933983420}"/>
                    </a:ext>
                  </a:extLst>
                </p:cNvPr>
                <p:cNvGrpSpPr/>
                <p:nvPr/>
              </p:nvGrpSpPr>
              <p:grpSpPr>
                <a:xfrm>
                  <a:off x="834156" y="5211637"/>
                  <a:ext cx="216359" cy="78004"/>
                  <a:chOff x="834156" y="5211637"/>
                  <a:chExt cx="216359" cy="78004"/>
                </a:xfrm>
              </p:grpSpPr>
              <p:sp>
                <p:nvSpPr>
                  <p:cNvPr id="277" name="Google Shape;3736;p22">
                    <a:extLst>
                      <a:ext uri="{FF2B5EF4-FFF2-40B4-BE49-F238E27FC236}">
                        <a16:creationId xmlns:a16="http://schemas.microsoft.com/office/drawing/2014/main" id="{662E6BFF-BF67-DD04-55E2-90842DB01A58}"/>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278" name="Google Shape;3737;p22">
                    <a:extLst>
                      <a:ext uri="{FF2B5EF4-FFF2-40B4-BE49-F238E27FC236}">
                        <a16:creationId xmlns:a16="http://schemas.microsoft.com/office/drawing/2014/main" id="{B4909185-90BF-DF3A-C365-15A365B21900}"/>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274" name="Straight Connector 273">
                <a:extLst>
                  <a:ext uri="{FF2B5EF4-FFF2-40B4-BE49-F238E27FC236}">
                    <a16:creationId xmlns:a16="http://schemas.microsoft.com/office/drawing/2014/main" id="{ED286AEF-B1B1-0EE6-177D-B8B8345803D7}"/>
                  </a:ext>
                </a:extLst>
              </p:cNvPr>
              <p:cNvCxnSpPr>
                <a:cxnSpLocks/>
              </p:cNvCxnSpPr>
              <p:nvPr/>
            </p:nvCxnSpPr>
            <p:spPr bwMode="gray">
              <a:xfrm>
                <a:off x="3647773" y="5582289"/>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sp>
          <p:nvSpPr>
            <p:cNvPr id="138" name="TextBox 137">
              <a:extLst>
                <a:ext uri="{FF2B5EF4-FFF2-40B4-BE49-F238E27FC236}">
                  <a16:creationId xmlns:a16="http://schemas.microsoft.com/office/drawing/2014/main" id="{02B15CFA-B3CF-7DDC-9B89-EDBEA5D5FEB6}"/>
                </a:ext>
              </a:extLst>
            </p:cNvPr>
            <p:cNvSpPr txBox="1">
              <a:spLocks noChangeAspect="1"/>
            </p:cNvSpPr>
            <p:nvPr/>
          </p:nvSpPr>
          <p:spPr>
            <a:xfrm>
              <a:off x="5004900" y="4620600"/>
              <a:ext cx="359495" cy="360000"/>
            </a:xfrm>
            <a:custGeom>
              <a:avLst/>
              <a:gdLst/>
              <a:ahLst/>
              <a:cxnLst/>
              <a:rect l="l" t="t" r="r" b="b"/>
              <a:pathLst>
                <a:path w="1139359" h="1139359">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p:txBody>
        </p:sp>
        <p:cxnSp>
          <p:nvCxnSpPr>
            <p:cNvPr id="139" name="Straight Connector 138">
              <a:extLst>
                <a:ext uri="{FF2B5EF4-FFF2-40B4-BE49-F238E27FC236}">
                  <a16:creationId xmlns:a16="http://schemas.microsoft.com/office/drawing/2014/main" id="{499B49BF-F273-5339-5274-20A34E1FFEB8}"/>
                </a:ext>
              </a:extLst>
            </p:cNvPr>
            <p:cNvCxnSpPr>
              <a:cxnSpLocks/>
            </p:cNvCxnSpPr>
            <p:nvPr/>
          </p:nvCxnSpPr>
          <p:spPr bwMode="gray">
            <a:xfrm>
              <a:off x="4675612" y="5282152"/>
              <a:ext cx="509036"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41" name="Freeform 140">
              <a:extLst>
                <a:ext uri="{FF2B5EF4-FFF2-40B4-BE49-F238E27FC236}">
                  <a16:creationId xmlns:a16="http://schemas.microsoft.com/office/drawing/2014/main" id="{5F9C921E-6684-B052-856E-5421CABD4B81}"/>
                </a:ext>
              </a:extLst>
            </p:cNvPr>
            <p:cNvSpPr>
              <a:spLocks noChangeAspect="1"/>
            </p:cNvSpPr>
            <p:nvPr/>
          </p:nvSpPr>
          <p:spPr>
            <a:xfrm>
              <a:off x="4468197" y="5195299"/>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42" name="Straight Connector 141">
              <a:extLst>
                <a:ext uri="{FF2B5EF4-FFF2-40B4-BE49-F238E27FC236}">
                  <a16:creationId xmlns:a16="http://schemas.microsoft.com/office/drawing/2014/main" id="{18747D43-4287-994B-58F5-AF1BAEA84C4E}"/>
                </a:ext>
              </a:extLst>
            </p:cNvPr>
            <p:cNvCxnSpPr>
              <a:cxnSpLocks/>
            </p:cNvCxnSpPr>
            <p:nvPr/>
          </p:nvCxnSpPr>
          <p:spPr bwMode="gray">
            <a:xfrm>
              <a:off x="5117720" y="4970944"/>
              <a:ext cx="0" cy="290031"/>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D4424077-6499-F560-A102-E737DF0372E2}"/>
                </a:ext>
              </a:extLst>
            </p:cNvPr>
            <p:cNvCxnSpPr>
              <a:cxnSpLocks/>
            </p:cNvCxnSpPr>
            <p:nvPr/>
          </p:nvCxnSpPr>
          <p:spPr bwMode="gray">
            <a:xfrm>
              <a:off x="4881435" y="5793185"/>
              <a:ext cx="402192"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4" name="Freeform 173">
              <a:extLst>
                <a:ext uri="{FF2B5EF4-FFF2-40B4-BE49-F238E27FC236}">
                  <a16:creationId xmlns:a16="http://schemas.microsoft.com/office/drawing/2014/main" id="{240677CC-4CBC-99AB-B81C-5287A9DD8DF2}"/>
                </a:ext>
              </a:extLst>
            </p:cNvPr>
            <p:cNvSpPr>
              <a:spLocks noChangeAspect="1"/>
            </p:cNvSpPr>
            <p:nvPr/>
          </p:nvSpPr>
          <p:spPr>
            <a:xfrm>
              <a:off x="4656859" y="5715000"/>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75" name="Straight Connector 174">
              <a:extLst>
                <a:ext uri="{FF2B5EF4-FFF2-40B4-BE49-F238E27FC236}">
                  <a16:creationId xmlns:a16="http://schemas.microsoft.com/office/drawing/2014/main" id="{71D0C421-815B-DB46-69ED-5F740FDF8FF9}"/>
                </a:ext>
              </a:extLst>
            </p:cNvPr>
            <p:cNvCxnSpPr>
              <a:cxnSpLocks/>
            </p:cNvCxnSpPr>
            <p:nvPr/>
          </p:nvCxnSpPr>
          <p:spPr bwMode="gray">
            <a:xfrm>
              <a:off x="5240936" y="4972102"/>
              <a:ext cx="0" cy="812878"/>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nvGrpSpPr>
            <p:cNvPr id="176" name="Google Shape;3733;p22">
              <a:extLst>
                <a:ext uri="{FF2B5EF4-FFF2-40B4-BE49-F238E27FC236}">
                  <a16:creationId xmlns:a16="http://schemas.microsoft.com/office/drawing/2014/main" id="{3D6EA2BD-5E46-0524-D70D-FC87C919E183}"/>
                </a:ext>
              </a:extLst>
            </p:cNvPr>
            <p:cNvGrpSpPr/>
            <p:nvPr/>
          </p:nvGrpSpPr>
          <p:grpSpPr>
            <a:xfrm>
              <a:off x="4663124" y="4883199"/>
              <a:ext cx="269469" cy="269658"/>
              <a:chOff x="658852" y="4943630"/>
              <a:chExt cx="583799" cy="584209"/>
            </a:xfrm>
          </p:grpSpPr>
          <p:sp>
            <p:nvSpPr>
              <p:cNvPr id="269" name="Google Shape;3734;p22">
                <a:extLst>
                  <a:ext uri="{FF2B5EF4-FFF2-40B4-BE49-F238E27FC236}">
                    <a16:creationId xmlns:a16="http://schemas.microsoft.com/office/drawing/2014/main" id="{9180A79B-BD4F-51A0-740F-67F8BD0F0CB3}"/>
                  </a:ext>
                </a:extLst>
              </p:cNvPr>
              <p:cNvSpPr/>
              <p:nvPr/>
            </p:nvSpPr>
            <p:spPr>
              <a:xfrm>
                <a:off x="658852" y="4943630"/>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270" name="Google Shape;3735;p22">
                <a:extLst>
                  <a:ext uri="{FF2B5EF4-FFF2-40B4-BE49-F238E27FC236}">
                    <a16:creationId xmlns:a16="http://schemas.microsoft.com/office/drawing/2014/main" id="{395544B4-F2C1-962C-A595-411379D2EAEA}"/>
                  </a:ext>
                </a:extLst>
              </p:cNvPr>
              <p:cNvGrpSpPr/>
              <p:nvPr/>
            </p:nvGrpSpPr>
            <p:grpSpPr>
              <a:xfrm>
                <a:off x="834156" y="5211637"/>
                <a:ext cx="216359" cy="78004"/>
                <a:chOff x="834156" y="5211637"/>
                <a:chExt cx="216359" cy="78004"/>
              </a:xfrm>
            </p:grpSpPr>
            <p:sp>
              <p:nvSpPr>
                <p:cNvPr id="271" name="Google Shape;3736;p22">
                  <a:extLst>
                    <a:ext uri="{FF2B5EF4-FFF2-40B4-BE49-F238E27FC236}">
                      <a16:creationId xmlns:a16="http://schemas.microsoft.com/office/drawing/2014/main" id="{AA030FC8-E807-F107-660C-E5DB11874454}"/>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272" name="Google Shape;3737;p22">
                  <a:extLst>
                    <a:ext uri="{FF2B5EF4-FFF2-40B4-BE49-F238E27FC236}">
                      <a16:creationId xmlns:a16="http://schemas.microsoft.com/office/drawing/2014/main" id="{642E829E-C9F7-3286-EEB8-4CCB7C9EF873}"/>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177" name="Straight Connector 176">
              <a:extLst>
                <a:ext uri="{FF2B5EF4-FFF2-40B4-BE49-F238E27FC236}">
                  <a16:creationId xmlns:a16="http://schemas.microsoft.com/office/drawing/2014/main" id="{841A1E99-2F56-46A4-B8A8-BCC96E1D8151}"/>
                </a:ext>
              </a:extLst>
            </p:cNvPr>
            <p:cNvCxnSpPr>
              <a:cxnSpLocks/>
            </p:cNvCxnSpPr>
            <p:nvPr/>
          </p:nvCxnSpPr>
          <p:spPr bwMode="gray">
            <a:xfrm>
              <a:off x="4797859" y="5152127"/>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nvGrpSpPr>
            <p:cNvPr id="178" name="Group 177">
              <a:extLst>
                <a:ext uri="{FF2B5EF4-FFF2-40B4-BE49-F238E27FC236}">
                  <a16:creationId xmlns:a16="http://schemas.microsoft.com/office/drawing/2014/main" id="{91271D48-16F2-4A82-E0AA-741D09EB9923}"/>
                </a:ext>
              </a:extLst>
            </p:cNvPr>
            <p:cNvGrpSpPr/>
            <p:nvPr/>
          </p:nvGrpSpPr>
          <p:grpSpPr>
            <a:xfrm>
              <a:off x="4855061" y="5395136"/>
              <a:ext cx="269469" cy="395289"/>
              <a:chOff x="3513038" y="5316536"/>
              <a:chExt cx="269469" cy="395289"/>
            </a:xfrm>
          </p:grpSpPr>
          <p:grpSp>
            <p:nvGrpSpPr>
              <p:cNvPr id="263" name="Google Shape;3733;p22">
                <a:extLst>
                  <a:ext uri="{FF2B5EF4-FFF2-40B4-BE49-F238E27FC236}">
                    <a16:creationId xmlns:a16="http://schemas.microsoft.com/office/drawing/2014/main" id="{A11B3732-F354-9871-ADD1-FD8058B9C7F6}"/>
                  </a:ext>
                </a:extLst>
              </p:cNvPr>
              <p:cNvGrpSpPr/>
              <p:nvPr/>
            </p:nvGrpSpPr>
            <p:grpSpPr>
              <a:xfrm>
                <a:off x="3513038" y="5316536"/>
                <a:ext cx="269469" cy="269658"/>
                <a:chOff x="658852" y="4943630"/>
                <a:chExt cx="583799" cy="584209"/>
              </a:xfrm>
            </p:grpSpPr>
            <p:sp>
              <p:nvSpPr>
                <p:cNvPr id="265" name="Google Shape;3734;p22">
                  <a:extLst>
                    <a:ext uri="{FF2B5EF4-FFF2-40B4-BE49-F238E27FC236}">
                      <a16:creationId xmlns:a16="http://schemas.microsoft.com/office/drawing/2014/main" id="{32FF3B74-B4FD-A9D6-DE47-7F9C5810816D}"/>
                    </a:ext>
                  </a:extLst>
                </p:cNvPr>
                <p:cNvSpPr/>
                <p:nvPr/>
              </p:nvSpPr>
              <p:spPr>
                <a:xfrm>
                  <a:off x="658852" y="4943630"/>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266" name="Google Shape;3735;p22">
                  <a:extLst>
                    <a:ext uri="{FF2B5EF4-FFF2-40B4-BE49-F238E27FC236}">
                      <a16:creationId xmlns:a16="http://schemas.microsoft.com/office/drawing/2014/main" id="{1DBC875D-6ADB-CFAB-5714-F93BE3E94AEB}"/>
                    </a:ext>
                  </a:extLst>
                </p:cNvPr>
                <p:cNvGrpSpPr/>
                <p:nvPr/>
              </p:nvGrpSpPr>
              <p:grpSpPr>
                <a:xfrm>
                  <a:off x="834156" y="5211637"/>
                  <a:ext cx="216359" cy="78004"/>
                  <a:chOff x="834156" y="5211637"/>
                  <a:chExt cx="216359" cy="78004"/>
                </a:xfrm>
              </p:grpSpPr>
              <p:sp>
                <p:nvSpPr>
                  <p:cNvPr id="267" name="Google Shape;3736;p22">
                    <a:extLst>
                      <a:ext uri="{FF2B5EF4-FFF2-40B4-BE49-F238E27FC236}">
                        <a16:creationId xmlns:a16="http://schemas.microsoft.com/office/drawing/2014/main" id="{5244D256-292F-3955-2B06-203860E68181}"/>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268" name="Google Shape;3737;p22">
                    <a:extLst>
                      <a:ext uri="{FF2B5EF4-FFF2-40B4-BE49-F238E27FC236}">
                        <a16:creationId xmlns:a16="http://schemas.microsoft.com/office/drawing/2014/main" id="{0745243D-B055-C6BC-A7A1-36D8B25E2764}"/>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264" name="Straight Connector 263">
                <a:extLst>
                  <a:ext uri="{FF2B5EF4-FFF2-40B4-BE49-F238E27FC236}">
                    <a16:creationId xmlns:a16="http://schemas.microsoft.com/office/drawing/2014/main" id="{14B44FB9-4098-3920-676E-958D1DA2F838}"/>
                  </a:ext>
                </a:extLst>
              </p:cNvPr>
              <p:cNvCxnSpPr>
                <a:cxnSpLocks/>
              </p:cNvCxnSpPr>
              <p:nvPr/>
            </p:nvCxnSpPr>
            <p:spPr bwMode="gray">
              <a:xfrm>
                <a:off x="3647773" y="5582289"/>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sp>
          <p:nvSpPr>
            <p:cNvPr id="179" name="TextBox 178">
              <a:extLst>
                <a:ext uri="{FF2B5EF4-FFF2-40B4-BE49-F238E27FC236}">
                  <a16:creationId xmlns:a16="http://schemas.microsoft.com/office/drawing/2014/main" id="{CEBA84EC-9957-2A83-C771-F10D97C349F7}"/>
                </a:ext>
              </a:extLst>
            </p:cNvPr>
            <p:cNvSpPr txBox="1">
              <a:spLocks noChangeAspect="1"/>
            </p:cNvSpPr>
            <p:nvPr/>
          </p:nvSpPr>
          <p:spPr>
            <a:xfrm>
              <a:off x="6833700" y="4620600"/>
              <a:ext cx="359495" cy="360000"/>
            </a:xfrm>
            <a:custGeom>
              <a:avLst/>
              <a:gdLst/>
              <a:ahLst/>
              <a:cxnLst/>
              <a:rect l="l" t="t" r="r" b="b"/>
              <a:pathLst>
                <a:path w="1139359" h="1139359">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p:txBody>
        </p:sp>
        <p:cxnSp>
          <p:nvCxnSpPr>
            <p:cNvPr id="180" name="Straight Connector 179">
              <a:extLst>
                <a:ext uri="{FF2B5EF4-FFF2-40B4-BE49-F238E27FC236}">
                  <a16:creationId xmlns:a16="http://schemas.microsoft.com/office/drawing/2014/main" id="{56DF87B8-14CA-39BE-3AE0-CBDA02346373}"/>
                </a:ext>
              </a:extLst>
            </p:cNvPr>
            <p:cNvCxnSpPr>
              <a:cxnSpLocks/>
            </p:cNvCxnSpPr>
            <p:nvPr/>
          </p:nvCxnSpPr>
          <p:spPr bwMode="gray">
            <a:xfrm>
              <a:off x="6504412" y="5282152"/>
              <a:ext cx="509036"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3" name="Freeform 202">
              <a:extLst>
                <a:ext uri="{FF2B5EF4-FFF2-40B4-BE49-F238E27FC236}">
                  <a16:creationId xmlns:a16="http://schemas.microsoft.com/office/drawing/2014/main" id="{25AF5BA2-081D-F5E5-9CA3-800D66465F25}"/>
                </a:ext>
              </a:extLst>
            </p:cNvPr>
            <p:cNvSpPr>
              <a:spLocks noChangeAspect="1"/>
            </p:cNvSpPr>
            <p:nvPr/>
          </p:nvSpPr>
          <p:spPr>
            <a:xfrm>
              <a:off x="6296997" y="5195299"/>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204" name="Straight Connector 203">
              <a:extLst>
                <a:ext uri="{FF2B5EF4-FFF2-40B4-BE49-F238E27FC236}">
                  <a16:creationId xmlns:a16="http://schemas.microsoft.com/office/drawing/2014/main" id="{206238BE-2F6F-05EE-4D2F-1EBC50EC714B}"/>
                </a:ext>
              </a:extLst>
            </p:cNvPr>
            <p:cNvCxnSpPr>
              <a:cxnSpLocks/>
            </p:cNvCxnSpPr>
            <p:nvPr/>
          </p:nvCxnSpPr>
          <p:spPr bwMode="gray">
            <a:xfrm>
              <a:off x="6946520" y="4970944"/>
              <a:ext cx="0" cy="290031"/>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0992A376-DCC7-5A41-8B98-B637B80C917B}"/>
                </a:ext>
              </a:extLst>
            </p:cNvPr>
            <p:cNvCxnSpPr>
              <a:cxnSpLocks/>
            </p:cNvCxnSpPr>
            <p:nvPr/>
          </p:nvCxnSpPr>
          <p:spPr bwMode="gray">
            <a:xfrm>
              <a:off x="6710235" y="5793185"/>
              <a:ext cx="402192"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6" name="Freeform 205">
              <a:extLst>
                <a:ext uri="{FF2B5EF4-FFF2-40B4-BE49-F238E27FC236}">
                  <a16:creationId xmlns:a16="http://schemas.microsoft.com/office/drawing/2014/main" id="{4CDD5709-ACDC-C484-CD11-F3DD728271FC}"/>
                </a:ext>
              </a:extLst>
            </p:cNvPr>
            <p:cNvSpPr>
              <a:spLocks noChangeAspect="1"/>
            </p:cNvSpPr>
            <p:nvPr/>
          </p:nvSpPr>
          <p:spPr>
            <a:xfrm>
              <a:off x="6485659" y="5715000"/>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207" name="Straight Connector 206">
              <a:extLst>
                <a:ext uri="{FF2B5EF4-FFF2-40B4-BE49-F238E27FC236}">
                  <a16:creationId xmlns:a16="http://schemas.microsoft.com/office/drawing/2014/main" id="{B7E65671-678F-AFDF-CD80-BA984BD2535A}"/>
                </a:ext>
              </a:extLst>
            </p:cNvPr>
            <p:cNvCxnSpPr>
              <a:cxnSpLocks/>
            </p:cNvCxnSpPr>
            <p:nvPr/>
          </p:nvCxnSpPr>
          <p:spPr bwMode="gray">
            <a:xfrm>
              <a:off x="7069736" y="4972102"/>
              <a:ext cx="0" cy="812878"/>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nvGrpSpPr>
            <p:cNvPr id="208" name="Google Shape;3733;p22">
              <a:extLst>
                <a:ext uri="{FF2B5EF4-FFF2-40B4-BE49-F238E27FC236}">
                  <a16:creationId xmlns:a16="http://schemas.microsoft.com/office/drawing/2014/main" id="{16B2AFA3-0691-6DA8-2F32-B8060634DB15}"/>
                </a:ext>
              </a:extLst>
            </p:cNvPr>
            <p:cNvGrpSpPr/>
            <p:nvPr/>
          </p:nvGrpSpPr>
          <p:grpSpPr>
            <a:xfrm>
              <a:off x="6491924" y="4883199"/>
              <a:ext cx="269469" cy="269658"/>
              <a:chOff x="658852" y="4943630"/>
              <a:chExt cx="583799" cy="584209"/>
            </a:xfrm>
          </p:grpSpPr>
          <p:sp>
            <p:nvSpPr>
              <p:cNvPr id="259" name="Google Shape;3734;p22">
                <a:extLst>
                  <a:ext uri="{FF2B5EF4-FFF2-40B4-BE49-F238E27FC236}">
                    <a16:creationId xmlns:a16="http://schemas.microsoft.com/office/drawing/2014/main" id="{7B4D883A-F91C-4B8B-0384-B3543D3236D1}"/>
                  </a:ext>
                </a:extLst>
              </p:cNvPr>
              <p:cNvSpPr/>
              <p:nvPr/>
            </p:nvSpPr>
            <p:spPr>
              <a:xfrm>
                <a:off x="658852" y="4943630"/>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260" name="Google Shape;3735;p22">
                <a:extLst>
                  <a:ext uri="{FF2B5EF4-FFF2-40B4-BE49-F238E27FC236}">
                    <a16:creationId xmlns:a16="http://schemas.microsoft.com/office/drawing/2014/main" id="{58391E85-C3E0-C68E-F78B-AB6588565291}"/>
                  </a:ext>
                </a:extLst>
              </p:cNvPr>
              <p:cNvGrpSpPr/>
              <p:nvPr/>
            </p:nvGrpSpPr>
            <p:grpSpPr>
              <a:xfrm>
                <a:off x="834156" y="5211637"/>
                <a:ext cx="216359" cy="78004"/>
                <a:chOff x="834156" y="5211637"/>
                <a:chExt cx="216359" cy="78004"/>
              </a:xfrm>
            </p:grpSpPr>
            <p:sp>
              <p:nvSpPr>
                <p:cNvPr id="261" name="Google Shape;3736;p22">
                  <a:extLst>
                    <a:ext uri="{FF2B5EF4-FFF2-40B4-BE49-F238E27FC236}">
                      <a16:creationId xmlns:a16="http://schemas.microsoft.com/office/drawing/2014/main" id="{ECB03E31-350B-1C5F-BDE5-FB89442C5F48}"/>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262" name="Google Shape;3737;p22">
                  <a:extLst>
                    <a:ext uri="{FF2B5EF4-FFF2-40B4-BE49-F238E27FC236}">
                      <a16:creationId xmlns:a16="http://schemas.microsoft.com/office/drawing/2014/main" id="{9A4B3175-6194-8520-DA5F-9F29AE6A3FAE}"/>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209" name="Straight Connector 208">
              <a:extLst>
                <a:ext uri="{FF2B5EF4-FFF2-40B4-BE49-F238E27FC236}">
                  <a16:creationId xmlns:a16="http://schemas.microsoft.com/office/drawing/2014/main" id="{F6C2E56A-7960-5962-EA95-848E202DF292}"/>
                </a:ext>
              </a:extLst>
            </p:cNvPr>
            <p:cNvCxnSpPr>
              <a:cxnSpLocks/>
            </p:cNvCxnSpPr>
            <p:nvPr/>
          </p:nvCxnSpPr>
          <p:spPr bwMode="gray">
            <a:xfrm>
              <a:off x="6626659" y="5152127"/>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nvGrpSpPr>
            <p:cNvPr id="210" name="Group 209">
              <a:extLst>
                <a:ext uri="{FF2B5EF4-FFF2-40B4-BE49-F238E27FC236}">
                  <a16:creationId xmlns:a16="http://schemas.microsoft.com/office/drawing/2014/main" id="{4D5EDAF2-625D-8728-332C-F9A2A6EF6A4B}"/>
                </a:ext>
              </a:extLst>
            </p:cNvPr>
            <p:cNvGrpSpPr/>
            <p:nvPr/>
          </p:nvGrpSpPr>
          <p:grpSpPr>
            <a:xfrm>
              <a:off x="6683861" y="5395136"/>
              <a:ext cx="269469" cy="395289"/>
              <a:chOff x="3513038" y="5316536"/>
              <a:chExt cx="269469" cy="395289"/>
            </a:xfrm>
          </p:grpSpPr>
          <p:grpSp>
            <p:nvGrpSpPr>
              <p:cNvPr id="253" name="Google Shape;3733;p22">
                <a:extLst>
                  <a:ext uri="{FF2B5EF4-FFF2-40B4-BE49-F238E27FC236}">
                    <a16:creationId xmlns:a16="http://schemas.microsoft.com/office/drawing/2014/main" id="{88BE1D12-FE34-A1A1-1C67-75D1BF199C29}"/>
                  </a:ext>
                </a:extLst>
              </p:cNvPr>
              <p:cNvGrpSpPr/>
              <p:nvPr/>
            </p:nvGrpSpPr>
            <p:grpSpPr>
              <a:xfrm>
                <a:off x="3513038" y="5316536"/>
                <a:ext cx="269469" cy="269658"/>
                <a:chOff x="658852" y="4943630"/>
                <a:chExt cx="583799" cy="584209"/>
              </a:xfrm>
            </p:grpSpPr>
            <p:sp>
              <p:nvSpPr>
                <p:cNvPr id="255" name="Google Shape;3734;p22">
                  <a:extLst>
                    <a:ext uri="{FF2B5EF4-FFF2-40B4-BE49-F238E27FC236}">
                      <a16:creationId xmlns:a16="http://schemas.microsoft.com/office/drawing/2014/main" id="{598D7C87-9E06-AAAE-2789-9ABB34FBEBE3}"/>
                    </a:ext>
                  </a:extLst>
                </p:cNvPr>
                <p:cNvSpPr/>
                <p:nvPr/>
              </p:nvSpPr>
              <p:spPr>
                <a:xfrm>
                  <a:off x="658852" y="4943630"/>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256" name="Google Shape;3735;p22">
                  <a:extLst>
                    <a:ext uri="{FF2B5EF4-FFF2-40B4-BE49-F238E27FC236}">
                      <a16:creationId xmlns:a16="http://schemas.microsoft.com/office/drawing/2014/main" id="{C6B6AEF2-6744-CF53-58B3-B6C9D37697FC}"/>
                    </a:ext>
                  </a:extLst>
                </p:cNvPr>
                <p:cNvGrpSpPr/>
                <p:nvPr/>
              </p:nvGrpSpPr>
              <p:grpSpPr>
                <a:xfrm>
                  <a:off x="834156" y="5211637"/>
                  <a:ext cx="216359" cy="78004"/>
                  <a:chOff x="834156" y="5211637"/>
                  <a:chExt cx="216359" cy="78004"/>
                </a:xfrm>
              </p:grpSpPr>
              <p:sp>
                <p:nvSpPr>
                  <p:cNvPr id="257" name="Google Shape;3736;p22">
                    <a:extLst>
                      <a:ext uri="{FF2B5EF4-FFF2-40B4-BE49-F238E27FC236}">
                        <a16:creationId xmlns:a16="http://schemas.microsoft.com/office/drawing/2014/main" id="{C738A066-9AE4-BE20-E84B-C773317B5C90}"/>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258" name="Google Shape;3737;p22">
                    <a:extLst>
                      <a:ext uri="{FF2B5EF4-FFF2-40B4-BE49-F238E27FC236}">
                        <a16:creationId xmlns:a16="http://schemas.microsoft.com/office/drawing/2014/main" id="{63080A7B-7CC3-C5EE-73E3-305EC338939D}"/>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254" name="Straight Connector 253">
                <a:extLst>
                  <a:ext uri="{FF2B5EF4-FFF2-40B4-BE49-F238E27FC236}">
                    <a16:creationId xmlns:a16="http://schemas.microsoft.com/office/drawing/2014/main" id="{555C8F40-976C-A691-3010-36E06F2C17F0}"/>
                  </a:ext>
                </a:extLst>
              </p:cNvPr>
              <p:cNvCxnSpPr>
                <a:cxnSpLocks/>
              </p:cNvCxnSpPr>
              <p:nvPr/>
            </p:nvCxnSpPr>
            <p:spPr bwMode="gray">
              <a:xfrm>
                <a:off x="3647773" y="5582289"/>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sp>
          <p:nvSpPr>
            <p:cNvPr id="233" name="TextBox 232">
              <a:extLst>
                <a:ext uri="{FF2B5EF4-FFF2-40B4-BE49-F238E27FC236}">
                  <a16:creationId xmlns:a16="http://schemas.microsoft.com/office/drawing/2014/main" id="{5A6E4718-133A-B641-F167-618F6AD49869}"/>
                </a:ext>
              </a:extLst>
            </p:cNvPr>
            <p:cNvSpPr txBox="1">
              <a:spLocks noChangeAspect="1"/>
            </p:cNvSpPr>
            <p:nvPr/>
          </p:nvSpPr>
          <p:spPr>
            <a:xfrm>
              <a:off x="1347300" y="4620600"/>
              <a:ext cx="359495" cy="360000"/>
            </a:xfrm>
            <a:custGeom>
              <a:avLst/>
              <a:gdLst/>
              <a:ahLst/>
              <a:cxnLst/>
              <a:rect l="l" t="t" r="r" b="b"/>
              <a:pathLst>
                <a:path w="1139359" h="1139359">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p:txBody>
        </p:sp>
        <p:cxnSp>
          <p:nvCxnSpPr>
            <p:cNvPr id="234" name="Straight Connector 233">
              <a:extLst>
                <a:ext uri="{FF2B5EF4-FFF2-40B4-BE49-F238E27FC236}">
                  <a16:creationId xmlns:a16="http://schemas.microsoft.com/office/drawing/2014/main" id="{9D6689C7-CB31-7DBF-8A11-B2A7EDAB65A7}"/>
                </a:ext>
              </a:extLst>
            </p:cNvPr>
            <p:cNvCxnSpPr>
              <a:cxnSpLocks/>
            </p:cNvCxnSpPr>
            <p:nvPr/>
          </p:nvCxnSpPr>
          <p:spPr bwMode="gray">
            <a:xfrm>
              <a:off x="1018012" y="5282152"/>
              <a:ext cx="509036"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35" name="Freeform 234">
              <a:extLst>
                <a:ext uri="{FF2B5EF4-FFF2-40B4-BE49-F238E27FC236}">
                  <a16:creationId xmlns:a16="http://schemas.microsoft.com/office/drawing/2014/main" id="{DA47B670-6AF9-E64C-26FB-DB9F74D7F169}"/>
                </a:ext>
              </a:extLst>
            </p:cNvPr>
            <p:cNvSpPr>
              <a:spLocks noChangeAspect="1"/>
            </p:cNvSpPr>
            <p:nvPr/>
          </p:nvSpPr>
          <p:spPr>
            <a:xfrm>
              <a:off x="810597" y="5195299"/>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236" name="Straight Connector 235">
              <a:extLst>
                <a:ext uri="{FF2B5EF4-FFF2-40B4-BE49-F238E27FC236}">
                  <a16:creationId xmlns:a16="http://schemas.microsoft.com/office/drawing/2014/main" id="{4859016B-5701-DE87-0606-C5B4C7A8F028}"/>
                </a:ext>
              </a:extLst>
            </p:cNvPr>
            <p:cNvCxnSpPr>
              <a:cxnSpLocks/>
            </p:cNvCxnSpPr>
            <p:nvPr/>
          </p:nvCxnSpPr>
          <p:spPr bwMode="gray">
            <a:xfrm>
              <a:off x="1460120" y="4970944"/>
              <a:ext cx="0" cy="290031"/>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D203E571-ACB4-0801-5BC0-F1AE260A009B}"/>
                </a:ext>
              </a:extLst>
            </p:cNvPr>
            <p:cNvCxnSpPr>
              <a:cxnSpLocks/>
            </p:cNvCxnSpPr>
            <p:nvPr/>
          </p:nvCxnSpPr>
          <p:spPr bwMode="gray">
            <a:xfrm>
              <a:off x="1223835" y="5793185"/>
              <a:ext cx="402192"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38" name="Freeform 237">
              <a:extLst>
                <a:ext uri="{FF2B5EF4-FFF2-40B4-BE49-F238E27FC236}">
                  <a16:creationId xmlns:a16="http://schemas.microsoft.com/office/drawing/2014/main" id="{D9218042-F56A-0223-21A9-465DE580FCD6}"/>
                </a:ext>
              </a:extLst>
            </p:cNvPr>
            <p:cNvSpPr>
              <a:spLocks noChangeAspect="1"/>
            </p:cNvSpPr>
            <p:nvPr/>
          </p:nvSpPr>
          <p:spPr>
            <a:xfrm>
              <a:off x="999259" y="5715000"/>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239" name="Straight Connector 238">
              <a:extLst>
                <a:ext uri="{FF2B5EF4-FFF2-40B4-BE49-F238E27FC236}">
                  <a16:creationId xmlns:a16="http://schemas.microsoft.com/office/drawing/2014/main" id="{E82B6277-92A2-A642-01E7-7222AD7184AA}"/>
                </a:ext>
              </a:extLst>
            </p:cNvPr>
            <p:cNvCxnSpPr>
              <a:cxnSpLocks/>
            </p:cNvCxnSpPr>
            <p:nvPr/>
          </p:nvCxnSpPr>
          <p:spPr bwMode="gray">
            <a:xfrm>
              <a:off x="1583336" y="4972102"/>
              <a:ext cx="0" cy="812878"/>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nvGrpSpPr>
            <p:cNvPr id="240" name="Google Shape;3733;p22">
              <a:extLst>
                <a:ext uri="{FF2B5EF4-FFF2-40B4-BE49-F238E27FC236}">
                  <a16:creationId xmlns:a16="http://schemas.microsoft.com/office/drawing/2014/main" id="{DBA53FEF-A70E-0961-EE88-AD6DF88E4F0E}"/>
                </a:ext>
              </a:extLst>
            </p:cNvPr>
            <p:cNvGrpSpPr/>
            <p:nvPr/>
          </p:nvGrpSpPr>
          <p:grpSpPr>
            <a:xfrm>
              <a:off x="1005524" y="4883199"/>
              <a:ext cx="269469" cy="269658"/>
              <a:chOff x="658852" y="4943630"/>
              <a:chExt cx="583799" cy="584209"/>
            </a:xfrm>
          </p:grpSpPr>
          <p:sp>
            <p:nvSpPr>
              <p:cNvPr id="249" name="Google Shape;3734;p22">
                <a:extLst>
                  <a:ext uri="{FF2B5EF4-FFF2-40B4-BE49-F238E27FC236}">
                    <a16:creationId xmlns:a16="http://schemas.microsoft.com/office/drawing/2014/main" id="{48BB6F26-127F-CA59-F0F2-453F0B74C1AE}"/>
                  </a:ext>
                </a:extLst>
              </p:cNvPr>
              <p:cNvSpPr/>
              <p:nvPr/>
            </p:nvSpPr>
            <p:spPr>
              <a:xfrm>
                <a:off x="658852" y="4943630"/>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250" name="Google Shape;3735;p22">
                <a:extLst>
                  <a:ext uri="{FF2B5EF4-FFF2-40B4-BE49-F238E27FC236}">
                    <a16:creationId xmlns:a16="http://schemas.microsoft.com/office/drawing/2014/main" id="{27D0BD1F-E8E1-C48B-253C-A0CD58FA588C}"/>
                  </a:ext>
                </a:extLst>
              </p:cNvPr>
              <p:cNvGrpSpPr/>
              <p:nvPr/>
            </p:nvGrpSpPr>
            <p:grpSpPr>
              <a:xfrm>
                <a:off x="834156" y="5211637"/>
                <a:ext cx="216359" cy="78004"/>
                <a:chOff x="834156" y="5211637"/>
                <a:chExt cx="216359" cy="78004"/>
              </a:xfrm>
            </p:grpSpPr>
            <p:sp>
              <p:nvSpPr>
                <p:cNvPr id="251" name="Google Shape;3736;p22">
                  <a:extLst>
                    <a:ext uri="{FF2B5EF4-FFF2-40B4-BE49-F238E27FC236}">
                      <a16:creationId xmlns:a16="http://schemas.microsoft.com/office/drawing/2014/main" id="{BE1E4956-46CD-30DC-C568-04CE7964D55F}"/>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252" name="Google Shape;3737;p22">
                  <a:extLst>
                    <a:ext uri="{FF2B5EF4-FFF2-40B4-BE49-F238E27FC236}">
                      <a16:creationId xmlns:a16="http://schemas.microsoft.com/office/drawing/2014/main" id="{1CCC91B4-9D19-9A66-EEA3-FB0905E19433}"/>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241" name="Straight Connector 240">
              <a:extLst>
                <a:ext uri="{FF2B5EF4-FFF2-40B4-BE49-F238E27FC236}">
                  <a16:creationId xmlns:a16="http://schemas.microsoft.com/office/drawing/2014/main" id="{92C9CD8E-3BF8-AF2E-8C2F-ECF48CA4F0AB}"/>
                </a:ext>
              </a:extLst>
            </p:cNvPr>
            <p:cNvCxnSpPr>
              <a:cxnSpLocks/>
            </p:cNvCxnSpPr>
            <p:nvPr/>
          </p:nvCxnSpPr>
          <p:spPr bwMode="gray">
            <a:xfrm>
              <a:off x="1140259" y="5152127"/>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nvGrpSpPr>
            <p:cNvPr id="242" name="Group 241">
              <a:extLst>
                <a:ext uri="{FF2B5EF4-FFF2-40B4-BE49-F238E27FC236}">
                  <a16:creationId xmlns:a16="http://schemas.microsoft.com/office/drawing/2014/main" id="{34752B04-BE3D-5002-0F37-27DE00BBE64D}"/>
                </a:ext>
              </a:extLst>
            </p:cNvPr>
            <p:cNvGrpSpPr/>
            <p:nvPr/>
          </p:nvGrpSpPr>
          <p:grpSpPr>
            <a:xfrm>
              <a:off x="1197461" y="5395136"/>
              <a:ext cx="269469" cy="395289"/>
              <a:chOff x="3513038" y="5316536"/>
              <a:chExt cx="269469" cy="395289"/>
            </a:xfrm>
          </p:grpSpPr>
          <p:grpSp>
            <p:nvGrpSpPr>
              <p:cNvPr id="243" name="Google Shape;3733;p22">
                <a:extLst>
                  <a:ext uri="{FF2B5EF4-FFF2-40B4-BE49-F238E27FC236}">
                    <a16:creationId xmlns:a16="http://schemas.microsoft.com/office/drawing/2014/main" id="{4D94D4EB-DC16-9782-57A3-94040A99F4A4}"/>
                  </a:ext>
                </a:extLst>
              </p:cNvPr>
              <p:cNvGrpSpPr/>
              <p:nvPr/>
            </p:nvGrpSpPr>
            <p:grpSpPr>
              <a:xfrm>
                <a:off x="3513038" y="5316536"/>
                <a:ext cx="269469" cy="269658"/>
                <a:chOff x="658852" y="4943630"/>
                <a:chExt cx="583799" cy="584209"/>
              </a:xfrm>
            </p:grpSpPr>
            <p:sp>
              <p:nvSpPr>
                <p:cNvPr id="245" name="Google Shape;3734;p22">
                  <a:extLst>
                    <a:ext uri="{FF2B5EF4-FFF2-40B4-BE49-F238E27FC236}">
                      <a16:creationId xmlns:a16="http://schemas.microsoft.com/office/drawing/2014/main" id="{FB8A2870-9EA0-F12B-009F-9DACFC7F6194}"/>
                    </a:ext>
                  </a:extLst>
                </p:cNvPr>
                <p:cNvSpPr/>
                <p:nvPr/>
              </p:nvSpPr>
              <p:spPr>
                <a:xfrm>
                  <a:off x="658852" y="4943630"/>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246" name="Google Shape;3735;p22">
                  <a:extLst>
                    <a:ext uri="{FF2B5EF4-FFF2-40B4-BE49-F238E27FC236}">
                      <a16:creationId xmlns:a16="http://schemas.microsoft.com/office/drawing/2014/main" id="{A5158FBE-20AA-670E-02BC-9D9EB8F4DAEB}"/>
                    </a:ext>
                  </a:extLst>
                </p:cNvPr>
                <p:cNvGrpSpPr/>
                <p:nvPr/>
              </p:nvGrpSpPr>
              <p:grpSpPr>
                <a:xfrm>
                  <a:off x="834156" y="5211637"/>
                  <a:ext cx="216359" cy="78004"/>
                  <a:chOff x="834156" y="5211637"/>
                  <a:chExt cx="216359" cy="78004"/>
                </a:xfrm>
              </p:grpSpPr>
              <p:sp>
                <p:nvSpPr>
                  <p:cNvPr id="247" name="Google Shape;3736;p22">
                    <a:extLst>
                      <a:ext uri="{FF2B5EF4-FFF2-40B4-BE49-F238E27FC236}">
                        <a16:creationId xmlns:a16="http://schemas.microsoft.com/office/drawing/2014/main" id="{F61BE9E6-1D3B-24B7-F0F3-67A8AE6BB16C}"/>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248" name="Google Shape;3737;p22">
                    <a:extLst>
                      <a:ext uri="{FF2B5EF4-FFF2-40B4-BE49-F238E27FC236}">
                        <a16:creationId xmlns:a16="http://schemas.microsoft.com/office/drawing/2014/main" id="{6508EE08-79EA-97F5-1E6A-3D3603C9FE64}"/>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244" name="Straight Connector 243">
                <a:extLst>
                  <a:ext uri="{FF2B5EF4-FFF2-40B4-BE49-F238E27FC236}">
                    <a16:creationId xmlns:a16="http://schemas.microsoft.com/office/drawing/2014/main" id="{0889D681-F448-A503-7C04-03AA09F9B7BB}"/>
                  </a:ext>
                </a:extLst>
              </p:cNvPr>
              <p:cNvCxnSpPr>
                <a:cxnSpLocks/>
              </p:cNvCxnSpPr>
              <p:nvPr/>
            </p:nvCxnSpPr>
            <p:spPr bwMode="gray">
              <a:xfrm>
                <a:off x="3647773" y="5582289"/>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grpSp>
      <p:sp>
        <p:nvSpPr>
          <p:cNvPr id="283" name="!!TGW">
            <a:extLst>
              <a:ext uri="{FF2B5EF4-FFF2-40B4-BE49-F238E27FC236}">
                <a16:creationId xmlns:a16="http://schemas.microsoft.com/office/drawing/2014/main" id="{4BB37B7C-B2E1-CBF5-BFD3-AA3B22AE4A2C}"/>
              </a:ext>
            </a:extLst>
          </p:cNvPr>
          <p:cNvSpPr txBox="1">
            <a:spLocks noChangeAspect="1"/>
          </p:cNvSpPr>
          <p:nvPr/>
        </p:nvSpPr>
        <p:spPr>
          <a:xfrm>
            <a:off x="3300649" y="3165446"/>
            <a:ext cx="541238" cy="540000"/>
          </a:xfrm>
          <a:custGeom>
            <a:avLst/>
            <a:gdLst/>
            <a:ahLst/>
            <a:cxnLst/>
            <a:rect l="l" t="t" r="r" b="b"/>
            <a:pathLst>
              <a:path w="1139359" h="1139359">
                <a:moveTo>
                  <a:pt x="517596" y="524233"/>
                </a:moveTo>
                <a:lnTo>
                  <a:pt x="620278" y="524233"/>
                </a:lnTo>
                <a:lnTo>
                  <a:pt x="620278" y="539520"/>
                </a:lnTo>
                <a:lnTo>
                  <a:pt x="577421" y="539520"/>
                </a:lnTo>
                <a:lnTo>
                  <a:pt x="577421" y="653778"/>
                </a:lnTo>
                <a:lnTo>
                  <a:pt x="560277" y="653778"/>
                </a:lnTo>
                <a:lnTo>
                  <a:pt x="560277" y="539520"/>
                </a:lnTo>
                <a:lnTo>
                  <a:pt x="517596" y="539520"/>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4"/>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p:txBody>
      </p:sp>
      <p:sp>
        <p:nvSpPr>
          <p:cNvPr id="284" name="!!TG">
            <a:extLst>
              <a:ext uri="{FF2B5EF4-FFF2-40B4-BE49-F238E27FC236}">
                <a16:creationId xmlns:a16="http://schemas.microsoft.com/office/drawing/2014/main" id="{23F5C130-9603-E985-FF83-C434114E7786}"/>
              </a:ext>
            </a:extLst>
          </p:cNvPr>
          <p:cNvSpPr txBox="1"/>
          <p:nvPr/>
        </p:nvSpPr>
        <p:spPr>
          <a:xfrm>
            <a:off x="2780871" y="3266670"/>
            <a:ext cx="974052"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1A60E"/>
                </a:solidFill>
                <a:effectLst/>
                <a:uLnTx/>
                <a:uFillTx/>
                <a:latin typeface="Arial" panose="020B0604020202020204"/>
                <a:ea typeface="+mn-ea"/>
                <a:cs typeface="+mn-cs"/>
              </a:rPr>
              <a:t>Transit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1A60E"/>
                </a:solidFill>
                <a:effectLst/>
                <a:uLnTx/>
                <a:uFillTx/>
                <a:latin typeface="Arial" panose="020B0604020202020204"/>
                <a:ea typeface="+mn-ea"/>
                <a:cs typeface="+mn-cs"/>
              </a:rPr>
              <a:t>Gateway</a:t>
            </a:r>
          </a:p>
        </p:txBody>
      </p:sp>
      <p:grpSp>
        <p:nvGrpSpPr>
          <p:cNvPr id="289" name="Group 288">
            <a:extLst>
              <a:ext uri="{FF2B5EF4-FFF2-40B4-BE49-F238E27FC236}">
                <a16:creationId xmlns:a16="http://schemas.microsoft.com/office/drawing/2014/main" id="{7E72649F-C775-A998-139E-5D8B59BE9B2A}"/>
              </a:ext>
            </a:extLst>
          </p:cNvPr>
          <p:cNvGrpSpPr/>
          <p:nvPr/>
        </p:nvGrpSpPr>
        <p:grpSpPr>
          <a:xfrm>
            <a:off x="1278342" y="2057400"/>
            <a:ext cx="6227685" cy="914400"/>
            <a:chOff x="1065213" y="2057400"/>
            <a:chExt cx="6227685" cy="1371600"/>
          </a:xfrm>
        </p:grpSpPr>
        <p:cxnSp>
          <p:nvCxnSpPr>
            <p:cNvPr id="72" name="Straight Connector 71">
              <a:extLst>
                <a:ext uri="{FF2B5EF4-FFF2-40B4-BE49-F238E27FC236}">
                  <a16:creationId xmlns:a16="http://schemas.microsoft.com/office/drawing/2014/main" id="{7416BBEB-239F-6A5D-89EF-72BA731FDB28}"/>
                </a:ext>
              </a:extLst>
            </p:cNvPr>
            <p:cNvCxnSpPr>
              <a:cxnSpLocks/>
            </p:cNvCxnSpPr>
            <p:nvPr/>
          </p:nvCxnSpPr>
          <p:spPr bwMode="gray">
            <a:xfrm flipV="1">
              <a:off x="3354146" y="2057400"/>
              <a:ext cx="0" cy="1371600"/>
            </a:xfrm>
            <a:prstGeom prst="line">
              <a:avLst/>
            </a:prstGeom>
            <a:ln w="25400" cap="rnd">
              <a:solidFill>
                <a:schemeClr val="tx1">
                  <a:lumMod val="50000"/>
                  <a:lumOff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D234F62-3A3D-F795-F3BC-E245DDC0F500}"/>
                </a:ext>
              </a:extLst>
            </p:cNvPr>
            <p:cNvCxnSpPr>
              <a:cxnSpLocks/>
            </p:cNvCxnSpPr>
            <p:nvPr/>
          </p:nvCxnSpPr>
          <p:spPr bwMode="gray">
            <a:xfrm flipV="1">
              <a:off x="1529979" y="2057400"/>
              <a:ext cx="0" cy="1371600"/>
            </a:xfrm>
            <a:prstGeom prst="line">
              <a:avLst/>
            </a:prstGeom>
            <a:ln w="25400" cap="rnd">
              <a:solidFill>
                <a:schemeClr val="tx1">
                  <a:lumMod val="50000"/>
                  <a:lumOff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EFB941B-1C2B-3777-4FC1-95F95B49FCF9}"/>
                </a:ext>
              </a:extLst>
            </p:cNvPr>
            <p:cNvCxnSpPr>
              <a:cxnSpLocks/>
            </p:cNvCxnSpPr>
            <p:nvPr/>
          </p:nvCxnSpPr>
          <p:spPr bwMode="gray">
            <a:xfrm flipV="1">
              <a:off x="5185517" y="2057400"/>
              <a:ext cx="0" cy="1371600"/>
            </a:xfrm>
            <a:prstGeom prst="line">
              <a:avLst/>
            </a:prstGeom>
            <a:ln w="25400" cap="rnd">
              <a:solidFill>
                <a:schemeClr val="tx1">
                  <a:lumMod val="50000"/>
                  <a:lumOff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F33D110D-88FA-0B17-82E0-CA4B36DD711D}"/>
                </a:ext>
              </a:extLst>
            </p:cNvPr>
            <p:cNvCxnSpPr/>
            <p:nvPr/>
          </p:nvCxnSpPr>
          <p:spPr bwMode="gray">
            <a:xfrm>
              <a:off x="1065213" y="2057400"/>
              <a:ext cx="6227685" cy="0"/>
            </a:xfrm>
            <a:prstGeom prst="line">
              <a:avLst/>
            </a:prstGeom>
            <a:ln w="25400">
              <a:solidFill>
                <a:schemeClr val="tx1">
                  <a:lumMod val="50000"/>
                  <a:lumOff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E260FF6A-7207-7835-2AFF-61AEF448B52A}"/>
                </a:ext>
              </a:extLst>
            </p:cNvPr>
            <p:cNvCxnSpPr/>
            <p:nvPr/>
          </p:nvCxnSpPr>
          <p:spPr bwMode="gray">
            <a:xfrm flipV="1">
              <a:off x="7008813" y="2057400"/>
              <a:ext cx="0" cy="1371600"/>
            </a:xfrm>
            <a:prstGeom prst="line">
              <a:avLst/>
            </a:prstGeom>
            <a:ln w="25400">
              <a:solidFill>
                <a:schemeClr val="tx1">
                  <a:lumMod val="50000"/>
                  <a:lumOff val="50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cxnSp>
        <p:nvCxnSpPr>
          <p:cNvPr id="291" name="!!TGW-uplink2">
            <a:extLst>
              <a:ext uri="{FF2B5EF4-FFF2-40B4-BE49-F238E27FC236}">
                <a16:creationId xmlns:a16="http://schemas.microsoft.com/office/drawing/2014/main" id="{9CC976FE-EEB7-A4F8-E839-21C3F67036CB}"/>
              </a:ext>
            </a:extLst>
          </p:cNvPr>
          <p:cNvCxnSpPr>
            <a:cxnSpLocks/>
          </p:cNvCxnSpPr>
          <p:nvPr/>
        </p:nvCxnSpPr>
        <p:spPr bwMode="gray">
          <a:xfrm>
            <a:off x="3569265" y="2707203"/>
            <a:ext cx="0" cy="457200"/>
          </a:xfrm>
          <a:prstGeom prst="line">
            <a:avLst/>
          </a:prstGeom>
          <a:ln w="25400" cap="rnd">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FD2C4B8F-86CA-0280-846B-F4609D9B4AED}"/>
              </a:ext>
            </a:extLst>
          </p:cNvPr>
          <p:cNvCxnSpPr>
            <a:cxnSpLocks/>
          </p:cNvCxnSpPr>
          <p:nvPr/>
        </p:nvCxnSpPr>
        <p:spPr bwMode="gray">
          <a:xfrm>
            <a:off x="5397828" y="2707203"/>
            <a:ext cx="0" cy="457200"/>
          </a:xfrm>
          <a:prstGeom prst="line">
            <a:avLst/>
          </a:prstGeom>
          <a:ln w="25400" cap="rnd">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97" name="!!TGW-uplink2">
            <a:extLst>
              <a:ext uri="{FF2B5EF4-FFF2-40B4-BE49-F238E27FC236}">
                <a16:creationId xmlns:a16="http://schemas.microsoft.com/office/drawing/2014/main" id="{F195A621-431D-EDAF-EF00-31C490524C8D}"/>
              </a:ext>
            </a:extLst>
          </p:cNvPr>
          <p:cNvCxnSpPr>
            <a:cxnSpLocks/>
          </p:cNvCxnSpPr>
          <p:nvPr/>
        </p:nvCxnSpPr>
        <p:spPr bwMode="gray">
          <a:xfrm>
            <a:off x="1743164" y="2707203"/>
            <a:ext cx="0" cy="457200"/>
          </a:xfrm>
          <a:prstGeom prst="line">
            <a:avLst/>
          </a:prstGeom>
          <a:ln w="25400" cap="rnd">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98" name="!!TGW-uplink2">
            <a:extLst>
              <a:ext uri="{FF2B5EF4-FFF2-40B4-BE49-F238E27FC236}">
                <a16:creationId xmlns:a16="http://schemas.microsoft.com/office/drawing/2014/main" id="{A3B86D0A-2994-3CF6-DA17-0327966C9DAD}"/>
              </a:ext>
            </a:extLst>
          </p:cNvPr>
          <p:cNvCxnSpPr>
            <a:cxnSpLocks/>
          </p:cNvCxnSpPr>
          <p:nvPr/>
        </p:nvCxnSpPr>
        <p:spPr bwMode="gray">
          <a:xfrm>
            <a:off x="7221942" y="2707203"/>
            <a:ext cx="0" cy="457200"/>
          </a:xfrm>
          <a:prstGeom prst="line">
            <a:avLst/>
          </a:prstGeom>
          <a:ln w="25400" cap="rnd">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9" name="!!externalconnection">
            <a:extLst>
              <a:ext uri="{FF2B5EF4-FFF2-40B4-BE49-F238E27FC236}">
                <a16:creationId xmlns:a16="http://schemas.microsoft.com/office/drawing/2014/main" id="{D7990C45-FEDD-C7AF-C13A-D9961BD233B7}"/>
              </a:ext>
            </a:extLst>
          </p:cNvPr>
          <p:cNvSpPr/>
          <p:nvPr/>
        </p:nvSpPr>
        <p:spPr bwMode="gray">
          <a:xfrm>
            <a:off x="1306513" y="2899030"/>
            <a:ext cx="2082312" cy="230155"/>
          </a:xfrm>
          <a:prstGeom prst="rect">
            <a:avLst/>
          </a:prstGeom>
          <a:solidFill>
            <a:schemeClr val="accent2"/>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Distributed External Connection</a:t>
            </a:r>
          </a:p>
        </p:txBody>
      </p:sp>
      <p:sp>
        <p:nvSpPr>
          <p:cNvPr id="2" name="TextBox 1">
            <a:extLst>
              <a:ext uri="{FF2B5EF4-FFF2-40B4-BE49-F238E27FC236}">
                <a16:creationId xmlns:a16="http://schemas.microsoft.com/office/drawing/2014/main" id="{B826A85D-FDAD-84C5-D76E-FE366D03501C}"/>
              </a:ext>
            </a:extLst>
          </p:cNvPr>
          <p:cNvSpPr txBox="1"/>
          <p:nvPr/>
        </p:nvSpPr>
        <p:spPr>
          <a:xfrm>
            <a:off x="5907628" y="1864558"/>
            <a:ext cx="870983"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VLAN</a:t>
            </a:r>
          </a:p>
        </p:txBody>
      </p:sp>
      <p:sp>
        <p:nvSpPr>
          <p:cNvPr id="7" name="!!bob123">
            <a:extLst>
              <a:ext uri="{FF2B5EF4-FFF2-40B4-BE49-F238E27FC236}">
                <a16:creationId xmlns:a16="http://schemas.microsoft.com/office/drawing/2014/main" id="{CBCB33FA-0F1D-B01C-8A48-53778189F131}"/>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flipV="1">
            <a:off x="8372825" y="1589923"/>
            <a:ext cx="3816000"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B9EE2570-E446-4565-3725-4FAD3CF39AD6}"/>
              </a:ext>
            </a:extLst>
          </p:cNvPr>
          <p:cNvSpPr txBox="1"/>
          <p:nvPr/>
        </p:nvSpPr>
        <p:spPr>
          <a:xfrm>
            <a:off x="821145" y="5573776"/>
            <a:ext cx="376866" cy="138499"/>
          </a:xfrm>
          <a:prstGeom prst="rect">
            <a:avLst/>
          </a:prstGeom>
          <a:noFill/>
        </p:spPr>
        <p:txBody>
          <a:bodyPr wrap="square" lIns="7200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12" name="TextBox 11">
            <a:extLst>
              <a:ext uri="{FF2B5EF4-FFF2-40B4-BE49-F238E27FC236}">
                <a16:creationId xmlns:a16="http://schemas.microsoft.com/office/drawing/2014/main" id="{E6C2B734-7FF0-CE2C-7495-95424544FC17}"/>
              </a:ext>
            </a:extLst>
          </p:cNvPr>
          <p:cNvSpPr txBox="1"/>
          <p:nvPr/>
        </p:nvSpPr>
        <p:spPr>
          <a:xfrm>
            <a:off x="2649945" y="5573776"/>
            <a:ext cx="376866" cy="138499"/>
          </a:xfrm>
          <a:prstGeom prst="rect">
            <a:avLst/>
          </a:prstGeom>
          <a:noFill/>
        </p:spPr>
        <p:txBody>
          <a:bodyPr wrap="square" lIns="7200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14" name="TextBox 13">
            <a:extLst>
              <a:ext uri="{FF2B5EF4-FFF2-40B4-BE49-F238E27FC236}">
                <a16:creationId xmlns:a16="http://schemas.microsoft.com/office/drawing/2014/main" id="{F01233A0-3DE0-BC4B-C1A4-1F8961AC0DB1}"/>
              </a:ext>
            </a:extLst>
          </p:cNvPr>
          <p:cNvSpPr txBox="1"/>
          <p:nvPr/>
        </p:nvSpPr>
        <p:spPr>
          <a:xfrm>
            <a:off x="4478745" y="5573776"/>
            <a:ext cx="381756" cy="138499"/>
          </a:xfrm>
          <a:prstGeom prst="rect">
            <a:avLst/>
          </a:prstGeom>
          <a:noFill/>
        </p:spPr>
        <p:txBody>
          <a:bodyPr wrap="square" lIns="7200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sp>
        <p:nvSpPr>
          <p:cNvPr id="16" name="TextBox 15">
            <a:extLst>
              <a:ext uri="{FF2B5EF4-FFF2-40B4-BE49-F238E27FC236}">
                <a16:creationId xmlns:a16="http://schemas.microsoft.com/office/drawing/2014/main" id="{BA06A3DA-0B3A-D1EF-5B4E-54B34D7A5610}"/>
              </a:ext>
            </a:extLst>
          </p:cNvPr>
          <p:cNvSpPr txBox="1"/>
          <p:nvPr/>
        </p:nvSpPr>
        <p:spPr>
          <a:xfrm>
            <a:off x="6307545" y="5573776"/>
            <a:ext cx="371976" cy="138499"/>
          </a:xfrm>
          <a:prstGeom prst="rect">
            <a:avLst/>
          </a:prstGeom>
          <a:noFill/>
        </p:spPr>
        <p:txBody>
          <a:bodyPr wrap="square" lIns="7200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5C8A"/>
                </a:solidFill>
                <a:effectLst/>
                <a:uLnTx/>
                <a:uFillTx/>
                <a:latin typeface="Arial" panose="020B0604020202020204"/>
                <a:ea typeface="+mn-ea"/>
                <a:cs typeface="+mn-cs"/>
              </a:rPr>
              <a:t>ESX</a:t>
            </a:r>
          </a:p>
        </p:txBody>
      </p:sp>
      <p:grpSp>
        <p:nvGrpSpPr>
          <p:cNvPr id="17" name="Group 16">
            <a:extLst>
              <a:ext uri="{FF2B5EF4-FFF2-40B4-BE49-F238E27FC236}">
                <a16:creationId xmlns:a16="http://schemas.microsoft.com/office/drawing/2014/main" id="{C4DA79D3-76E2-F41B-BC1A-823DD3724E0A}"/>
              </a:ext>
            </a:extLst>
          </p:cNvPr>
          <p:cNvGrpSpPr/>
          <p:nvPr/>
        </p:nvGrpSpPr>
        <p:grpSpPr>
          <a:xfrm>
            <a:off x="2787207" y="5855142"/>
            <a:ext cx="3056154" cy="265509"/>
            <a:chOff x="2620950" y="5869812"/>
            <a:chExt cx="3056154" cy="265509"/>
          </a:xfrm>
        </p:grpSpPr>
        <p:sp>
          <p:nvSpPr>
            <p:cNvPr id="18" name="Rectangle 17">
              <a:extLst>
                <a:ext uri="{FF2B5EF4-FFF2-40B4-BE49-F238E27FC236}">
                  <a16:creationId xmlns:a16="http://schemas.microsoft.com/office/drawing/2014/main" id="{9352C2A5-D65D-E85D-6934-B0698D215B7A}"/>
                </a:ext>
              </a:extLst>
            </p:cNvPr>
            <p:cNvSpPr/>
            <p:nvPr/>
          </p:nvSpPr>
          <p:spPr>
            <a:xfrm>
              <a:off x="2742826" y="5915992"/>
              <a:ext cx="2934278" cy="16619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rPr>
                <a:t>Vmware Cloud Foundation</a:t>
              </a:r>
            </a:p>
          </p:txBody>
        </p:sp>
        <p:pic>
          <p:nvPicPr>
            <p:cNvPr id="19" name="Picture 18">
              <a:extLst>
                <a:ext uri="{FF2B5EF4-FFF2-40B4-BE49-F238E27FC236}">
                  <a16:creationId xmlns:a16="http://schemas.microsoft.com/office/drawing/2014/main" id="{7B4261EA-30C8-C801-D8BA-6FD6AB52861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620950" y="5869812"/>
              <a:ext cx="313492" cy="265509"/>
            </a:xfrm>
            <a:prstGeom prst="rect">
              <a:avLst/>
            </a:prstGeom>
          </p:spPr>
        </p:pic>
      </p:grpSp>
    </p:spTree>
    <p:extLst>
      <p:ext uri="{BB962C8B-B14F-4D97-AF65-F5344CB8AC3E}">
        <p14:creationId xmlns:p14="http://schemas.microsoft.com/office/powerpoint/2010/main" val="121155222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8AF67-267D-911D-EB27-5C696641DBFE}"/>
            </a:ext>
          </a:extLst>
        </p:cNvPr>
        <p:cNvGrpSpPr/>
        <p:nvPr/>
      </p:nvGrpSpPr>
      <p:grpSpPr>
        <a:xfrm>
          <a:off x="0" y="0"/>
          <a:ext cx="0" cy="0"/>
          <a:chOff x="0" y="0"/>
          <a:chExt cx="0" cy="0"/>
        </a:xfrm>
      </p:grpSpPr>
      <p:sp>
        <p:nvSpPr>
          <p:cNvPr id="11" name="!!TOP">
            <a:extLst>
              <a:ext uri="{FF2B5EF4-FFF2-40B4-BE49-F238E27FC236}">
                <a16:creationId xmlns:a16="http://schemas.microsoft.com/office/drawing/2014/main" id="{2F22774F-9FA0-A8AB-3B95-DEA5F12727F7}"/>
              </a:ext>
            </a:extLst>
          </p:cNvPr>
          <p:cNvSpPr/>
          <p:nvPr/>
        </p:nvSpPr>
        <p:spPr>
          <a:xfrm flipV="1">
            <a:off x="608013" y="1600200"/>
            <a:ext cx="5943600" cy="4571998"/>
          </a:xfrm>
          <a:prstGeom prst="round2SameRect">
            <a:avLst>
              <a:gd name="adj1" fmla="val 5333"/>
              <a:gd name="adj2" fmla="val 0"/>
            </a:avLst>
          </a:prstGeom>
          <a:solidFill>
            <a:schemeClr val="accent2">
              <a:alpha val="10000"/>
            </a:schemeClr>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endParaRPr>
          </a:p>
        </p:txBody>
      </p:sp>
      <p:sp>
        <p:nvSpPr>
          <p:cNvPr id="4" name="Title 3">
            <a:extLst>
              <a:ext uri="{FF2B5EF4-FFF2-40B4-BE49-F238E27FC236}">
                <a16:creationId xmlns:a16="http://schemas.microsoft.com/office/drawing/2014/main" id="{A79AD3F2-5FD5-91AF-7EF0-920E5065198C}"/>
              </a:ext>
            </a:extLst>
          </p:cNvPr>
          <p:cNvSpPr>
            <a:spLocks noGrp="1"/>
          </p:cNvSpPr>
          <p:nvPr>
            <p:ph type="title"/>
          </p:nvPr>
        </p:nvSpPr>
        <p:spPr/>
        <p:txBody>
          <a:bodyPr/>
          <a:lstStyle/>
          <a:p>
            <a:r>
              <a:rPr lang="en-US" dirty="0"/>
              <a:t>High Performance Switching out of the box</a:t>
            </a:r>
          </a:p>
        </p:txBody>
      </p:sp>
      <p:sp>
        <p:nvSpPr>
          <p:cNvPr id="15" name="Subtitle 14">
            <a:extLst>
              <a:ext uri="{FF2B5EF4-FFF2-40B4-BE49-F238E27FC236}">
                <a16:creationId xmlns:a16="http://schemas.microsoft.com/office/drawing/2014/main" id="{AD2713CF-3F60-0D5F-27C6-006AF3D260CD}"/>
              </a:ext>
            </a:extLst>
          </p:cNvPr>
          <p:cNvSpPr>
            <a:spLocks noGrp="1"/>
          </p:cNvSpPr>
          <p:nvPr>
            <p:ph type="subTitle" idx="10"/>
          </p:nvPr>
        </p:nvSpPr>
        <p:spPr/>
        <p:txBody>
          <a:bodyPr/>
          <a:lstStyle/>
          <a:p>
            <a:r>
              <a:rPr lang="en-US" dirty="0"/>
              <a:t>Enhanced Data Path (EDP) Standard as a default</a:t>
            </a:r>
          </a:p>
        </p:txBody>
      </p:sp>
      <p:sp>
        <p:nvSpPr>
          <p:cNvPr id="16" name="Text Placeholder 22">
            <a:extLst>
              <a:ext uri="{FF2B5EF4-FFF2-40B4-BE49-F238E27FC236}">
                <a16:creationId xmlns:a16="http://schemas.microsoft.com/office/drawing/2014/main" id="{DAFFCA82-785D-5E20-84FB-77A08EE379E4}"/>
              </a:ext>
            </a:extLst>
          </p:cNvPr>
          <p:cNvSpPr txBox="1">
            <a:spLocks/>
          </p:cNvSpPr>
          <p:nvPr/>
        </p:nvSpPr>
        <p:spPr>
          <a:xfrm>
            <a:off x="7466013" y="2057400"/>
            <a:ext cx="4722812" cy="4114799"/>
          </a:xfrm>
          <a:prstGeom prst="rect">
            <a:avLst/>
          </a:prstGeom>
        </p:spPr>
        <p:txBody>
          <a:bodyPr/>
          <a:lstStyle>
            <a:lvl1pPr marL="0" indent="0" algn="l" defTabSz="914400" rtl="0" eaLnBrk="1" latinLnBrk="0" hangingPunct="1">
              <a:lnSpc>
                <a:spcPct val="100000"/>
              </a:lnSpc>
              <a:spcBef>
                <a:spcPts val="0"/>
              </a:spcBef>
              <a:spcAft>
                <a:spcPts val="6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
                <a:srgbClr val="005C8A"/>
              </a:buClr>
              <a:buSzPct val="90000"/>
              <a:buFont typeface="Arial" panose="020B0604020202020204" pitchFamily="34" charset="0"/>
              <a:buNone/>
              <a:tabLst/>
              <a:defRPr/>
            </a:pPr>
            <a: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t>Enhanced Data Path (EDP) standard is enabled by default for new VCF 9.0 deployments</a:t>
            </a:r>
          </a:p>
          <a:p>
            <a:pPr marL="285750" marR="0" lvl="0" indent="-285750" algn="l" defTabSz="914400" rtl="0" eaLnBrk="1" fontAlgn="auto" latinLnBrk="0" hangingPunct="1">
              <a:lnSpc>
                <a:spcPct val="100000"/>
              </a:lnSpc>
              <a:spcBef>
                <a:spcPts val="0"/>
              </a:spcBef>
              <a:spcAft>
                <a:spcPts val="600"/>
              </a:spcAft>
              <a:buClr>
                <a:srgbClr val="005C8A"/>
              </a:buClr>
              <a:buSzPct val="90000"/>
              <a:buFont typeface="Arial" panose="020B0604020202020204" pitchFamily="34" charset="0"/>
              <a:buChar char="•"/>
              <a:tabLst/>
              <a:defRPr/>
            </a:pPr>
            <a: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t>Does not require tuning</a:t>
            </a:r>
          </a:p>
          <a:p>
            <a:pPr marL="285750" marR="0" lvl="0" indent="-285750" algn="l" defTabSz="914400" rtl="0" eaLnBrk="1" fontAlgn="auto" latinLnBrk="0" hangingPunct="1">
              <a:lnSpc>
                <a:spcPct val="100000"/>
              </a:lnSpc>
              <a:spcBef>
                <a:spcPts val="0"/>
              </a:spcBef>
              <a:spcAft>
                <a:spcPts val="600"/>
              </a:spcAft>
              <a:buClr>
                <a:srgbClr val="005C8A"/>
              </a:buClr>
              <a:buSzPct val="90000"/>
              <a:buFont typeface="Arial" panose="020B0604020202020204" pitchFamily="34" charset="0"/>
              <a:buChar char="•"/>
              <a:tabLst/>
              <a:defRPr/>
            </a:pPr>
            <a: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t>50-70% increased performance </a:t>
            </a:r>
            <a:b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br>
            <a: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t>(for both bandwidth and packets per second)</a:t>
            </a:r>
          </a:p>
          <a:p>
            <a:pPr marL="285750" marR="0" lvl="0" indent="-285750" algn="l" defTabSz="914400" rtl="0" eaLnBrk="1" fontAlgn="auto" latinLnBrk="0" hangingPunct="1">
              <a:lnSpc>
                <a:spcPct val="100000"/>
              </a:lnSpc>
              <a:spcBef>
                <a:spcPts val="0"/>
              </a:spcBef>
              <a:spcAft>
                <a:spcPts val="600"/>
              </a:spcAft>
              <a:buClr>
                <a:srgbClr val="005C8A"/>
              </a:buClr>
              <a:buSzPct val="90000"/>
              <a:buFont typeface="Arial" panose="020B0604020202020204" pitchFamily="34" charset="0"/>
              <a:buChar char="•"/>
              <a:tabLst/>
              <a:defRPr/>
            </a:pPr>
            <a: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t>EDP driver with improved </a:t>
            </a:r>
            <a:r>
              <a:rPr kumimoji="0" lang="en-US" sz="1600" b="0" i="0" u="none" strike="noStrike" kern="1200" cap="none" spc="0" normalizeH="0" baseline="0" noProof="0" dirty="0" err="1">
                <a:ln>
                  <a:noFill/>
                </a:ln>
                <a:solidFill>
                  <a:srgbClr val="005C8A"/>
                </a:solidFill>
                <a:effectLst/>
                <a:uLnTx/>
                <a:uFillTx/>
                <a:latin typeface="Arial" panose="020B0604020202020204"/>
                <a:ea typeface="+mn-ea"/>
                <a:cs typeface="+mn-cs"/>
              </a:rPr>
              <a:t>pNIC</a:t>
            </a:r>
            <a: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t> queue distribution (pooling and allocations)</a:t>
            </a:r>
          </a:p>
          <a:p>
            <a:pPr marL="0" marR="0" lvl="0" indent="0" algn="l" defTabSz="914400" rtl="0" eaLnBrk="1" fontAlgn="auto" latinLnBrk="0" hangingPunct="1">
              <a:lnSpc>
                <a:spcPct val="100000"/>
              </a:lnSpc>
              <a:spcBef>
                <a:spcPts val="0"/>
              </a:spcBef>
              <a:spcAft>
                <a:spcPts val="600"/>
              </a:spcAft>
              <a:buClr>
                <a:srgbClr val="005C8A"/>
              </a:buClr>
              <a:buSzPct val="90000"/>
              <a:buFont typeface="Arial" panose="020B0604020202020204" pitchFamily="34" charset="0"/>
              <a:buNone/>
              <a:tabLst/>
              <a:defRPr/>
            </a:pPr>
            <a:endPar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600"/>
              </a:spcAft>
              <a:buClr>
                <a:srgbClr val="005C8A"/>
              </a:buClr>
              <a:buSzPct val="90000"/>
              <a:buFont typeface="Arial" panose="020B0604020202020204" pitchFamily="34" charset="0"/>
              <a:buNone/>
              <a:tabLst/>
              <a:defRPr/>
            </a:pPr>
            <a: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t>EDP dedicated mode can also be configured, </a:t>
            </a:r>
            <a:b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br>
            <a: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t>as well as the original “standard” VDS mode.</a:t>
            </a:r>
          </a:p>
          <a:p>
            <a:pPr marL="285750" marR="0" lvl="0" indent="-285750" algn="l" defTabSz="914400" rtl="0" eaLnBrk="1" fontAlgn="auto" latinLnBrk="0" hangingPunct="1">
              <a:lnSpc>
                <a:spcPct val="100000"/>
              </a:lnSpc>
              <a:spcBef>
                <a:spcPts val="0"/>
              </a:spcBef>
              <a:spcAft>
                <a:spcPts val="600"/>
              </a:spcAft>
              <a:buClr>
                <a:srgbClr val="005C8A"/>
              </a:buClr>
              <a:buSzPct val="90000"/>
              <a:buFont typeface="Arial" panose="020B0604020202020204" pitchFamily="34" charset="0"/>
              <a:buChar char="•"/>
              <a:tabLst/>
              <a:defRPr/>
            </a:pPr>
            <a:endPar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600"/>
              </a:spcAft>
              <a:buClr>
                <a:srgbClr val="000000">
                  <a:lumMod val="60000"/>
                  <a:lumOff val="40000"/>
                </a:srgbClr>
              </a:buClr>
              <a:buSzPct val="90000"/>
              <a:buFont typeface="Arial" panose="020B0604020202020204" pitchFamily="34" charset="0"/>
              <a:buChar char="​"/>
              <a:tabLst/>
              <a:defRPr/>
            </a:pPr>
            <a:endParaRPr kumimoji="0" lang="en-US" sz="1400" b="0" i="0" u="none" strike="noStrike" kern="1200" cap="none" spc="0" normalizeH="0" baseline="0" noProof="0" dirty="0">
              <a:ln>
                <a:noFill/>
              </a:ln>
              <a:solidFill>
                <a:srgbClr val="005C8A"/>
              </a:solidFill>
              <a:effectLst/>
              <a:uLnTx/>
              <a:uFillTx/>
              <a:latin typeface="Arial" panose="020B0604020202020204"/>
              <a:ea typeface="+mn-ea"/>
              <a:cs typeface="+mn-cs"/>
            </a:endParaRPr>
          </a:p>
        </p:txBody>
      </p:sp>
      <p:sp>
        <p:nvSpPr>
          <p:cNvPr id="47" name="!!bob123">
            <a:extLst>
              <a:ext uri="{FF2B5EF4-FFF2-40B4-BE49-F238E27FC236}">
                <a16:creationId xmlns:a16="http://schemas.microsoft.com/office/drawing/2014/main" id="{7AAAA7BC-2341-EBBF-9641-CF288C1967B7}"/>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flipV="1">
            <a:off x="7466013" y="1589923"/>
            <a:ext cx="4716000"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3" name="Google Shape;4270;p18">
            <a:extLst>
              <a:ext uri="{FF2B5EF4-FFF2-40B4-BE49-F238E27FC236}">
                <a16:creationId xmlns:a16="http://schemas.microsoft.com/office/drawing/2014/main" id="{F5C78737-953B-3FF4-3384-BCDB7BBAD7DA}"/>
              </a:ext>
            </a:extLst>
          </p:cNvPr>
          <p:cNvSpPr/>
          <p:nvPr/>
        </p:nvSpPr>
        <p:spPr>
          <a:xfrm>
            <a:off x="1078933" y="2057400"/>
            <a:ext cx="5015480" cy="3676650"/>
          </a:xfrm>
          <a:prstGeom prst="roundRect">
            <a:avLst>
              <a:gd name="adj" fmla="val 2439"/>
            </a:avLst>
          </a:prstGeom>
          <a:solidFill>
            <a:schemeClr val="bg1"/>
          </a:solidFill>
          <a:ln w="25400">
            <a:solidFill>
              <a:schemeClr val="accent3"/>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lang="en-US" sz="1200" b="0" i="0" u="none" strike="noStrike" kern="0" cap="none" spc="0" normalizeH="0" baseline="0" noProof="0" dirty="0">
              <a:ln>
                <a:noFill/>
              </a:ln>
              <a:solidFill>
                <a:srgbClr val="FFFFFF"/>
              </a:solidFill>
              <a:effectLst/>
              <a:uLnTx/>
              <a:uFillTx/>
              <a:latin typeface="Arial"/>
              <a:ea typeface="+mn-ea"/>
              <a:cs typeface="Arial"/>
              <a:sym typeface="Arial"/>
            </a:endParaRPr>
          </a:p>
        </p:txBody>
      </p:sp>
      <p:sp>
        <p:nvSpPr>
          <p:cNvPr id="5" name="Google Shape;4294;p18">
            <a:extLst>
              <a:ext uri="{FF2B5EF4-FFF2-40B4-BE49-F238E27FC236}">
                <a16:creationId xmlns:a16="http://schemas.microsoft.com/office/drawing/2014/main" id="{BBEAA8F4-C402-C6D1-708C-BAEB2CC028F1}"/>
              </a:ext>
            </a:extLst>
          </p:cNvPr>
          <p:cNvSpPr>
            <a:spLocks noChangeAspect="1"/>
          </p:cNvSpPr>
          <p:nvPr/>
        </p:nvSpPr>
        <p:spPr>
          <a:xfrm>
            <a:off x="3237440" y="1667112"/>
            <a:ext cx="687275" cy="688949"/>
          </a:xfrm>
          <a:prstGeom prst="ellipse">
            <a:avLst/>
          </a:prstGeom>
          <a:gradFill>
            <a:gsLst>
              <a:gs pos="0">
                <a:srgbClr val="0093BE"/>
              </a:gs>
              <a:gs pos="16000">
                <a:srgbClr val="0093BE"/>
              </a:gs>
              <a:gs pos="100000">
                <a:srgbClr val="007B8C"/>
              </a:gs>
            </a:gsLst>
            <a:lin ang="18900044" scaled="0"/>
          </a:gradFill>
          <a:ln>
            <a:noFill/>
          </a:ln>
          <a:effectLst>
            <a:outerShdw sx="120000" sy="120000" algn="ctr" rotWithShape="0">
              <a:srgbClr val="007B8C">
                <a:alpha val="20000"/>
              </a:srgbClr>
            </a:outerShdw>
          </a:effectLst>
        </p:spPr>
        <p:txBody>
          <a:bodyPr spcFirstLastPara="1" wrap="square" lIns="91350" tIns="45675" rIns="9135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6" name="Google Shape;4297;p18">
            <a:extLst>
              <a:ext uri="{FF2B5EF4-FFF2-40B4-BE49-F238E27FC236}">
                <a16:creationId xmlns:a16="http://schemas.microsoft.com/office/drawing/2014/main" id="{C2A48DE5-DBD1-015F-973F-C961BC167288}"/>
              </a:ext>
            </a:extLst>
          </p:cNvPr>
          <p:cNvPicPr preferRelativeResize="0">
            <a:picLocks noChangeAspect="1"/>
          </p:cNvPicPr>
          <p:nvPr/>
        </p:nvPicPr>
        <p:blipFill rotWithShape="1">
          <a:blip r:embed="rId3">
            <a:alphaModFix/>
          </a:blip>
          <a:srcRect/>
          <a:stretch/>
        </p:blipFill>
        <p:spPr>
          <a:xfrm>
            <a:off x="3325106" y="1741676"/>
            <a:ext cx="546467" cy="546467"/>
          </a:xfrm>
          <a:prstGeom prst="rect">
            <a:avLst/>
          </a:prstGeom>
          <a:noFill/>
          <a:ln>
            <a:noFill/>
          </a:ln>
        </p:spPr>
      </p:pic>
      <p:sp>
        <p:nvSpPr>
          <p:cNvPr id="8" name="TextBox 7">
            <a:extLst>
              <a:ext uri="{FF2B5EF4-FFF2-40B4-BE49-F238E27FC236}">
                <a16:creationId xmlns:a16="http://schemas.microsoft.com/office/drawing/2014/main" id="{3BD9A77A-4A68-311E-9286-F7ACD2C26E0D}"/>
              </a:ext>
            </a:extLst>
          </p:cNvPr>
          <p:cNvSpPr txBox="1"/>
          <p:nvPr/>
        </p:nvSpPr>
        <p:spPr>
          <a:xfrm>
            <a:off x="1115121" y="5376446"/>
            <a:ext cx="1984113"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5C8A"/>
                </a:solidFill>
                <a:effectLst/>
                <a:uLnTx/>
                <a:uFillTx/>
                <a:latin typeface="Arial"/>
                <a:ea typeface="+mn-ea"/>
                <a:cs typeface="Arial"/>
                <a:sym typeface="Arial"/>
              </a:rPr>
              <a:t>ESX Host with EDP</a:t>
            </a:r>
          </a:p>
        </p:txBody>
      </p:sp>
      <p:pic>
        <p:nvPicPr>
          <p:cNvPr id="13" name="Graphic 12">
            <a:extLst>
              <a:ext uri="{FF2B5EF4-FFF2-40B4-BE49-F238E27FC236}">
                <a16:creationId xmlns:a16="http://schemas.microsoft.com/office/drawing/2014/main" id="{4199A745-8393-44EE-32CB-14C6CFB068F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67992" y="5164757"/>
            <a:ext cx="820530" cy="820530"/>
          </a:xfrm>
          <a:prstGeom prst="rect">
            <a:avLst/>
          </a:prstGeom>
        </p:spPr>
      </p:pic>
      <p:pic>
        <p:nvPicPr>
          <p:cNvPr id="17" name="Graphic 16">
            <a:extLst>
              <a:ext uri="{FF2B5EF4-FFF2-40B4-BE49-F238E27FC236}">
                <a16:creationId xmlns:a16="http://schemas.microsoft.com/office/drawing/2014/main" id="{7EF2D5ED-3DFC-CE9B-25C9-46D92AD81E9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23549" y="4655377"/>
            <a:ext cx="404369" cy="404369"/>
          </a:xfrm>
          <a:prstGeom prst="rect">
            <a:avLst/>
          </a:prstGeom>
        </p:spPr>
      </p:pic>
      <p:sp>
        <p:nvSpPr>
          <p:cNvPr id="18" name="Rectangle 17">
            <a:extLst>
              <a:ext uri="{FF2B5EF4-FFF2-40B4-BE49-F238E27FC236}">
                <a16:creationId xmlns:a16="http://schemas.microsoft.com/office/drawing/2014/main" id="{BB0346A1-7345-CB74-EB27-FC363C528140}"/>
              </a:ext>
            </a:extLst>
          </p:cNvPr>
          <p:cNvSpPr/>
          <p:nvPr/>
        </p:nvSpPr>
        <p:spPr>
          <a:xfrm>
            <a:off x="2594823" y="3252360"/>
            <a:ext cx="1224039" cy="21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FFFFFF"/>
                </a:solidFill>
                <a:effectLst/>
                <a:uLnTx/>
                <a:uFillTx/>
                <a:latin typeface="Arial"/>
                <a:ea typeface="+mn-ea"/>
                <a:cs typeface="+mn-cs"/>
                <a:sym typeface="Arial"/>
              </a:rPr>
              <a:t>Fast Path</a:t>
            </a:r>
          </a:p>
        </p:txBody>
      </p:sp>
      <p:sp>
        <p:nvSpPr>
          <p:cNvPr id="21" name="Rectangle 20">
            <a:extLst>
              <a:ext uri="{FF2B5EF4-FFF2-40B4-BE49-F238E27FC236}">
                <a16:creationId xmlns:a16="http://schemas.microsoft.com/office/drawing/2014/main" id="{4CB80F59-2E88-319A-F9A6-C4D761F11522}"/>
              </a:ext>
            </a:extLst>
          </p:cNvPr>
          <p:cNvSpPr/>
          <p:nvPr/>
        </p:nvSpPr>
        <p:spPr>
          <a:xfrm>
            <a:off x="2423167" y="2383814"/>
            <a:ext cx="720000" cy="386966"/>
          </a:xfrm>
          <a:prstGeom prst="rect">
            <a:avLst/>
          </a:prstGeom>
          <a:solidFill>
            <a:schemeClr val="bg1"/>
          </a:solidFill>
          <a:ln w="12700">
            <a:solidFill>
              <a:schemeClr val="accent2"/>
            </a:solid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5C8A"/>
                </a:solidFill>
                <a:effectLst/>
                <a:uLnTx/>
                <a:uFillTx/>
                <a:latin typeface="Metropolis" pitchFamily="2" charset="77"/>
                <a:ea typeface="+mn-ea"/>
                <a:cs typeface="+mn-cs"/>
                <a:sym typeface="Arial"/>
              </a:rPr>
              <a:t>vmknic</a:t>
            </a:r>
          </a:p>
        </p:txBody>
      </p:sp>
      <p:sp>
        <p:nvSpPr>
          <p:cNvPr id="22" name="Rectangle 21">
            <a:extLst>
              <a:ext uri="{FF2B5EF4-FFF2-40B4-BE49-F238E27FC236}">
                <a16:creationId xmlns:a16="http://schemas.microsoft.com/office/drawing/2014/main" id="{0D3890B2-67F0-C8BE-7641-4D49AF95C0CC}"/>
              </a:ext>
            </a:extLst>
          </p:cNvPr>
          <p:cNvSpPr/>
          <p:nvPr/>
        </p:nvSpPr>
        <p:spPr>
          <a:xfrm>
            <a:off x="3251435" y="3689314"/>
            <a:ext cx="1620000" cy="21600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FFFFFF"/>
                </a:solidFill>
                <a:effectLst/>
                <a:uLnTx/>
                <a:uFillTx/>
                <a:latin typeface="Arial"/>
                <a:ea typeface="+mn-ea"/>
                <a:cs typeface="+mn-cs"/>
                <a:sym typeface="Arial"/>
              </a:rPr>
              <a:t>Slow Path IOChain</a:t>
            </a:r>
          </a:p>
        </p:txBody>
      </p:sp>
      <p:sp>
        <p:nvSpPr>
          <p:cNvPr id="23" name="Rectangle 22">
            <a:extLst>
              <a:ext uri="{FF2B5EF4-FFF2-40B4-BE49-F238E27FC236}">
                <a16:creationId xmlns:a16="http://schemas.microsoft.com/office/drawing/2014/main" id="{E6AF6162-4EBF-9171-89C1-765855D02861}"/>
              </a:ext>
            </a:extLst>
          </p:cNvPr>
          <p:cNvSpPr/>
          <p:nvPr/>
        </p:nvSpPr>
        <p:spPr>
          <a:xfrm>
            <a:off x="4014782" y="2383814"/>
            <a:ext cx="720000" cy="386966"/>
          </a:xfrm>
          <a:prstGeom prst="rect">
            <a:avLst/>
          </a:prstGeom>
          <a:solidFill>
            <a:schemeClr val="bg1"/>
          </a:solidFill>
          <a:ln w="12700">
            <a:solidFill>
              <a:schemeClr val="accent2"/>
            </a:solid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200" b="0" i="0" u="none" strike="noStrike" kern="0" cap="none" spc="0" normalizeH="0" baseline="0" noProof="0" dirty="0">
                <a:ln>
                  <a:noFill/>
                </a:ln>
                <a:solidFill>
                  <a:srgbClr val="005C8A"/>
                </a:solidFill>
                <a:effectLst/>
                <a:uLnTx/>
                <a:uFillTx/>
                <a:latin typeface="Metropolis" pitchFamily="2" charset="77"/>
                <a:ea typeface="+mn-ea"/>
                <a:cs typeface="+mn-cs"/>
                <a:sym typeface="Arial"/>
              </a:rPr>
              <a:t>VM</a:t>
            </a:r>
            <a:br>
              <a:rPr kumimoji="0" lang="en-US" sz="1200" b="0" i="0" u="none" strike="noStrike" kern="0" cap="none" spc="0" normalizeH="0" baseline="0" noProof="0" dirty="0">
                <a:ln>
                  <a:noFill/>
                </a:ln>
                <a:solidFill>
                  <a:srgbClr val="005C8A"/>
                </a:solidFill>
                <a:effectLst/>
                <a:uLnTx/>
                <a:uFillTx/>
                <a:latin typeface="Metropolis" pitchFamily="2" charset="77"/>
                <a:ea typeface="+mn-ea"/>
                <a:cs typeface="+mn-cs"/>
                <a:sym typeface="Arial"/>
              </a:rPr>
            </a:br>
            <a:r>
              <a:rPr kumimoji="0" lang="en-US" sz="800" b="0" i="0" u="none" strike="noStrike" kern="0" cap="none" spc="0" normalizeH="0" baseline="0" noProof="0" dirty="0">
                <a:ln>
                  <a:noFill/>
                </a:ln>
                <a:solidFill>
                  <a:srgbClr val="005C8A"/>
                </a:solidFill>
                <a:effectLst/>
                <a:uLnTx/>
                <a:uFillTx/>
                <a:latin typeface="Metropolis" pitchFamily="2" charset="77"/>
                <a:ea typeface="+mn-ea"/>
                <a:cs typeface="+mn-cs"/>
                <a:sym typeface="Arial"/>
              </a:rPr>
              <a:t>e1000</a:t>
            </a:r>
          </a:p>
        </p:txBody>
      </p:sp>
      <p:sp>
        <p:nvSpPr>
          <p:cNvPr id="25" name="Rectangle 24">
            <a:extLst>
              <a:ext uri="{FF2B5EF4-FFF2-40B4-BE49-F238E27FC236}">
                <a16:creationId xmlns:a16="http://schemas.microsoft.com/office/drawing/2014/main" id="{67BF9FF8-AFBB-CB0B-3C73-9F5533273E6F}"/>
              </a:ext>
            </a:extLst>
          </p:cNvPr>
          <p:cNvSpPr/>
          <p:nvPr/>
        </p:nvSpPr>
        <p:spPr>
          <a:xfrm>
            <a:off x="3218975" y="2383814"/>
            <a:ext cx="720000" cy="386966"/>
          </a:xfrm>
          <a:prstGeom prst="rect">
            <a:avLst/>
          </a:prstGeom>
          <a:solidFill>
            <a:schemeClr val="bg1"/>
          </a:solidFill>
          <a:ln w="12700">
            <a:solidFill>
              <a:schemeClr val="accent2"/>
            </a:solid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5C8A"/>
                </a:solidFill>
                <a:effectLst/>
                <a:uLnTx/>
                <a:uFillTx/>
                <a:latin typeface="Metropolis" pitchFamily="2" charset="77"/>
                <a:ea typeface="+mn-ea"/>
                <a:cs typeface="+mn-cs"/>
                <a:sym typeface="Arial"/>
              </a:rPr>
              <a:t>VM</a:t>
            </a:r>
            <a:br>
              <a:rPr kumimoji="0" lang="en-US" sz="1200" b="0" i="0" u="none" strike="noStrike" kern="0" cap="none" spc="0" normalizeH="0" baseline="0" noProof="0" dirty="0">
                <a:ln>
                  <a:noFill/>
                </a:ln>
                <a:solidFill>
                  <a:srgbClr val="005C8A"/>
                </a:solidFill>
                <a:effectLst/>
                <a:uLnTx/>
                <a:uFillTx/>
                <a:latin typeface="Metropolis" pitchFamily="2" charset="77"/>
                <a:ea typeface="+mn-ea"/>
                <a:cs typeface="+mn-cs"/>
                <a:sym typeface="Arial"/>
              </a:rPr>
            </a:br>
            <a:r>
              <a:rPr kumimoji="0" lang="en-US" sz="800" b="0" i="0" u="none" strike="noStrike" kern="0" cap="none" spc="0" normalizeH="0" baseline="0" noProof="0" dirty="0">
                <a:ln>
                  <a:noFill/>
                </a:ln>
                <a:solidFill>
                  <a:srgbClr val="005C8A"/>
                </a:solidFill>
                <a:effectLst/>
                <a:uLnTx/>
                <a:uFillTx/>
                <a:latin typeface="Metropolis" pitchFamily="2" charset="77"/>
                <a:ea typeface="+mn-ea"/>
                <a:cs typeface="+mn-cs"/>
                <a:sym typeface="Arial"/>
              </a:rPr>
              <a:t>vmxnet3</a:t>
            </a:r>
          </a:p>
        </p:txBody>
      </p:sp>
      <p:cxnSp>
        <p:nvCxnSpPr>
          <p:cNvPr id="26" name="Elbow Connector 25">
            <a:extLst>
              <a:ext uri="{FF2B5EF4-FFF2-40B4-BE49-F238E27FC236}">
                <a16:creationId xmlns:a16="http://schemas.microsoft.com/office/drawing/2014/main" id="{61B196D8-0E65-6D13-E9BC-7DF00AD64095}"/>
              </a:ext>
            </a:extLst>
          </p:cNvPr>
          <p:cNvCxnSpPr>
            <a:cxnSpLocks/>
            <a:stCxn id="32" idx="2"/>
            <a:endCxn id="40" idx="0"/>
          </p:cNvCxnSpPr>
          <p:nvPr/>
        </p:nvCxnSpPr>
        <p:spPr>
          <a:xfrm rot="5400000">
            <a:off x="3329428" y="4838249"/>
            <a:ext cx="461407" cy="24414"/>
          </a:xfrm>
          <a:prstGeom prst="bent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7C6C0BF-125B-43CD-2C37-834E18D30EE5}"/>
              </a:ext>
            </a:extLst>
          </p:cNvPr>
          <p:cNvCxnSpPr>
            <a:cxnSpLocks/>
          </p:cNvCxnSpPr>
          <p:nvPr/>
        </p:nvCxnSpPr>
        <p:spPr bwMode="gray">
          <a:xfrm>
            <a:off x="3576496" y="3458610"/>
            <a:ext cx="0" cy="222553"/>
          </a:xfrm>
          <a:prstGeom prst="straightConnector1">
            <a:avLst/>
          </a:prstGeom>
          <a:ln w="12700">
            <a:solidFill>
              <a:schemeClr val="accent2"/>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E63C6CF-F52E-E6A4-6357-310B519157AB}"/>
              </a:ext>
            </a:extLst>
          </p:cNvPr>
          <p:cNvCxnSpPr>
            <a:cxnSpLocks/>
          </p:cNvCxnSpPr>
          <p:nvPr/>
        </p:nvCxnSpPr>
        <p:spPr bwMode="gray">
          <a:xfrm>
            <a:off x="3088148" y="3468287"/>
            <a:ext cx="0" cy="672495"/>
          </a:xfrm>
          <a:prstGeom prst="straightConnector1">
            <a:avLst/>
          </a:prstGeom>
          <a:ln w="12700">
            <a:solidFill>
              <a:schemeClr val="accent2"/>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FEB70FB0-5292-CE72-8171-D68B4405F3A8}"/>
              </a:ext>
            </a:extLst>
          </p:cNvPr>
          <p:cNvSpPr txBox="1"/>
          <p:nvPr/>
        </p:nvSpPr>
        <p:spPr>
          <a:xfrm>
            <a:off x="1501095" y="4302364"/>
            <a:ext cx="4136117" cy="325219"/>
          </a:xfrm>
          <a:prstGeom prst="roundRect">
            <a:avLst>
              <a:gd name="adj" fmla="val 26139"/>
            </a:avLst>
          </a:prstGeom>
          <a:solidFill>
            <a:schemeClr val="accent2"/>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FFFFFF"/>
                </a:solidFill>
                <a:effectLst/>
                <a:uLnTx/>
                <a:uFillTx/>
                <a:latin typeface="Metropolis" pitchFamily="2" charset="77"/>
                <a:ea typeface="+mn-ea"/>
                <a:cs typeface="Arial"/>
                <a:sym typeface="Arial"/>
              </a:rPr>
              <a:t>EDP Standard vSwitch</a:t>
            </a:r>
          </a:p>
        </p:txBody>
      </p:sp>
      <p:sp>
        <p:nvSpPr>
          <p:cNvPr id="32" name="Google Shape;1732;p4">
            <a:extLst>
              <a:ext uri="{FF2B5EF4-FFF2-40B4-BE49-F238E27FC236}">
                <a16:creationId xmlns:a16="http://schemas.microsoft.com/office/drawing/2014/main" id="{1B6F8065-AD6C-48D0-55EF-9696D3DEAD17}"/>
              </a:ext>
            </a:extLst>
          </p:cNvPr>
          <p:cNvSpPr/>
          <p:nvPr/>
        </p:nvSpPr>
        <p:spPr>
          <a:xfrm>
            <a:off x="1507463" y="2926760"/>
            <a:ext cx="4129750" cy="1692993"/>
          </a:xfrm>
          <a:prstGeom prst="roundRect">
            <a:avLst>
              <a:gd name="adj" fmla="val 4572"/>
            </a:avLst>
          </a:prstGeom>
          <a:noFill/>
          <a:ln w="2857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FFFFFF"/>
              </a:solidFill>
              <a:effectLst/>
              <a:uLnTx/>
              <a:uFillTx/>
              <a:latin typeface="Arial"/>
              <a:ea typeface="Arial"/>
              <a:cs typeface="Arial"/>
              <a:sym typeface="Arial"/>
            </a:endParaRPr>
          </a:p>
        </p:txBody>
      </p:sp>
      <p:cxnSp>
        <p:nvCxnSpPr>
          <p:cNvPr id="34" name="Straight Arrow Connector 33">
            <a:extLst>
              <a:ext uri="{FF2B5EF4-FFF2-40B4-BE49-F238E27FC236}">
                <a16:creationId xmlns:a16="http://schemas.microsoft.com/office/drawing/2014/main" id="{861B788B-8751-DF9B-CB66-84669FD69711}"/>
              </a:ext>
            </a:extLst>
          </p:cNvPr>
          <p:cNvCxnSpPr>
            <a:cxnSpLocks/>
            <a:stCxn id="21" idx="2"/>
          </p:cNvCxnSpPr>
          <p:nvPr/>
        </p:nvCxnSpPr>
        <p:spPr bwMode="gray">
          <a:xfrm>
            <a:off x="2783167" y="2770780"/>
            <a:ext cx="0" cy="480963"/>
          </a:xfrm>
          <a:prstGeom prst="straightConnector1">
            <a:avLst/>
          </a:prstGeom>
          <a:ln w="12700">
            <a:solidFill>
              <a:schemeClr val="accent2"/>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6475F45-7105-1FBC-8724-820F070F1115}"/>
              </a:ext>
            </a:extLst>
          </p:cNvPr>
          <p:cNvCxnSpPr>
            <a:cxnSpLocks/>
            <a:stCxn id="25" idx="2"/>
          </p:cNvCxnSpPr>
          <p:nvPr/>
        </p:nvCxnSpPr>
        <p:spPr bwMode="gray">
          <a:xfrm>
            <a:off x="3578975" y="2770780"/>
            <a:ext cx="0" cy="485376"/>
          </a:xfrm>
          <a:prstGeom prst="straightConnector1">
            <a:avLst/>
          </a:prstGeom>
          <a:ln w="12700">
            <a:solidFill>
              <a:schemeClr val="accent2"/>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E0B1DFD-AD71-1C5D-A027-A4840AE3E902}"/>
              </a:ext>
            </a:extLst>
          </p:cNvPr>
          <p:cNvCxnSpPr>
            <a:cxnSpLocks/>
            <a:stCxn id="23" idx="2"/>
          </p:cNvCxnSpPr>
          <p:nvPr/>
        </p:nvCxnSpPr>
        <p:spPr bwMode="gray">
          <a:xfrm>
            <a:off x="4374782" y="2770780"/>
            <a:ext cx="0" cy="920274"/>
          </a:xfrm>
          <a:prstGeom prst="straightConnector1">
            <a:avLst/>
          </a:prstGeom>
          <a:ln w="12700">
            <a:solidFill>
              <a:schemeClr val="accent2"/>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Rounded Rectangle 37">
            <a:extLst>
              <a:ext uri="{FF2B5EF4-FFF2-40B4-BE49-F238E27FC236}">
                <a16:creationId xmlns:a16="http://schemas.microsoft.com/office/drawing/2014/main" id="{5740991C-FA63-3719-B38F-1714F157A441}"/>
              </a:ext>
            </a:extLst>
          </p:cNvPr>
          <p:cNvSpPr/>
          <p:nvPr/>
        </p:nvSpPr>
        <p:spPr bwMode="gray">
          <a:xfrm rot="5400000">
            <a:off x="1067215" y="3375153"/>
            <a:ext cx="1255487" cy="372533"/>
          </a:xfrm>
          <a:prstGeom prst="roundRect">
            <a:avLst/>
          </a:prstGeom>
          <a:solidFill>
            <a:schemeClr val="accent3"/>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Optimized Packet Processing</a:t>
            </a:r>
          </a:p>
        </p:txBody>
      </p:sp>
      <p:sp>
        <p:nvSpPr>
          <p:cNvPr id="39" name="Rectangle 38">
            <a:extLst>
              <a:ext uri="{FF2B5EF4-FFF2-40B4-BE49-F238E27FC236}">
                <a16:creationId xmlns:a16="http://schemas.microsoft.com/office/drawing/2014/main" id="{788DCC59-E69F-2680-26EA-532E38A90295}"/>
              </a:ext>
            </a:extLst>
          </p:cNvPr>
          <p:cNvSpPr/>
          <p:nvPr/>
        </p:nvSpPr>
        <p:spPr>
          <a:xfrm>
            <a:off x="1501435" y="4126268"/>
            <a:ext cx="4135777" cy="227948"/>
          </a:xfrm>
          <a:prstGeom prst="rect">
            <a:avLst/>
          </a:prstGeom>
          <a:solidFill>
            <a:schemeClr val="accent4"/>
          </a:solidFill>
          <a:ln>
            <a:no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FFFFFF"/>
                </a:solidFill>
                <a:effectLst/>
                <a:uLnTx/>
                <a:uFillTx/>
                <a:latin typeface="Arial"/>
                <a:ea typeface="+mn-ea"/>
                <a:cs typeface="+mn-cs"/>
                <a:sym typeface="Arial"/>
              </a:rPr>
              <a:t>Optimized Packet Data Structure</a:t>
            </a:r>
          </a:p>
        </p:txBody>
      </p:sp>
      <p:sp>
        <p:nvSpPr>
          <p:cNvPr id="40" name="Rectangle 39">
            <a:extLst>
              <a:ext uri="{FF2B5EF4-FFF2-40B4-BE49-F238E27FC236}">
                <a16:creationId xmlns:a16="http://schemas.microsoft.com/office/drawing/2014/main" id="{C09D9609-135D-3C8D-A074-013A0C29BA86}"/>
              </a:ext>
            </a:extLst>
          </p:cNvPr>
          <p:cNvSpPr/>
          <p:nvPr/>
        </p:nvSpPr>
        <p:spPr>
          <a:xfrm>
            <a:off x="3025409" y="5081160"/>
            <a:ext cx="1045029" cy="21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FFFFFF"/>
                </a:solidFill>
                <a:effectLst/>
                <a:uLnTx/>
                <a:uFillTx/>
                <a:latin typeface="Arial"/>
                <a:ea typeface="+mn-ea"/>
                <a:cs typeface="+mn-cs"/>
                <a:sym typeface="Arial"/>
              </a:rPr>
              <a:t>EDP Driver</a:t>
            </a:r>
          </a:p>
        </p:txBody>
      </p:sp>
      <p:pic>
        <p:nvPicPr>
          <p:cNvPr id="41" name="Graphic 40">
            <a:extLst>
              <a:ext uri="{FF2B5EF4-FFF2-40B4-BE49-F238E27FC236}">
                <a16:creationId xmlns:a16="http://schemas.microsoft.com/office/drawing/2014/main" id="{75C5D3BD-4BD1-2C62-EA4A-D05003F8E8C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71854" y="4655377"/>
            <a:ext cx="404369" cy="404369"/>
          </a:xfrm>
          <a:prstGeom prst="rect">
            <a:avLst/>
          </a:prstGeom>
        </p:spPr>
      </p:pic>
      <p:cxnSp>
        <p:nvCxnSpPr>
          <p:cNvPr id="48" name="Straight Arrow Connector 47">
            <a:extLst>
              <a:ext uri="{FF2B5EF4-FFF2-40B4-BE49-F238E27FC236}">
                <a16:creationId xmlns:a16="http://schemas.microsoft.com/office/drawing/2014/main" id="{7EE2A68F-9E5F-DE63-CEE3-49F49C8F5BC7}"/>
              </a:ext>
            </a:extLst>
          </p:cNvPr>
          <p:cNvCxnSpPr>
            <a:cxnSpLocks/>
          </p:cNvCxnSpPr>
          <p:nvPr/>
        </p:nvCxnSpPr>
        <p:spPr bwMode="gray">
          <a:xfrm>
            <a:off x="3997410" y="3903714"/>
            <a:ext cx="0" cy="222553"/>
          </a:xfrm>
          <a:prstGeom prst="straightConnector1">
            <a:avLst/>
          </a:prstGeom>
          <a:ln w="12700">
            <a:solidFill>
              <a:schemeClr val="accent2"/>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F7525117-B98E-6C6C-0833-447D8911C6A0}"/>
              </a:ext>
            </a:extLst>
          </p:cNvPr>
          <p:cNvGrpSpPr/>
          <p:nvPr/>
        </p:nvGrpSpPr>
        <p:grpSpPr>
          <a:xfrm>
            <a:off x="2123859" y="5855142"/>
            <a:ext cx="3056154" cy="265509"/>
            <a:chOff x="2620950" y="5869812"/>
            <a:chExt cx="3056154" cy="265509"/>
          </a:xfrm>
        </p:grpSpPr>
        <p:sp>
          <p:nvSpPr>
            <p:cNvPr id="14" name="Rectangle 13">
              <a:extLst>
                <a:ext uri="{FF2B5EF4-FFF2-40B4-BE49-F238E27FC236}">
                  <a16:creationId xmlns:a16="http://schemas.microsoft.com/office/drawing/2014/main" id="{0D5E8355-50BC-0CE5-FEA5-8B9FC868999D}"/>
                </a:ext>
              </a:extLst>
            </p:cNvPr>
            <p:cNvSpPr/>
            <p:nvPr/>
          </p:nvSpPr>
          <p:spPr>
            <a:xfrm>
              <a:off x="2742826" y="5915992"/>
              <a:ext cx="2934278" cy="16619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rPr>
                <a:t>Vmware Cloud Foundation</a:t>
              </a:r>
            </a:p>
          </p:txBody>
        </p:sp>
        <p:pic>
          <p:nvPicPr>
            <p:cNvPr id="19" name="Picture 18">
              <a:extLst>
                <a:ext uri="{FF2B5EF4-FFF2-40B4-BE49-F238E27FC236}">
                  <a16:creationId xmlns:a16="http://schemas.microsoft.com/office/drawing/2014/main" id="{5FEA1D9B-5329-4907-893B-C96E22947E41}"/>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2620950" y="5869812"/>
              <a:ext cx="313492" cy="265509"/>
            </a:xfrm>
            <a:prstGeom prst="rect">
              <a:avLst/>
            </a:prstGeom>
          </p:spPr>
        </p:pic>
      </p:grpSp>
    </p:spTree>
    <p:extLst>
      <p:ext uri="{BB962C8B-B14F-4D97-AF65-F5344CB8AC3E}">
        <p14:creationId xmlns:p14="http://schemas.microsoft.com/office/powerpoint/2010/main" val="3641143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877">
          <a:extLst>
            <a:ext uri="{FF2B5EF4-FFF2-40B4-BE49-F238E27FC236}">
              <a16:creationId xmlns:a16="http://schemas.microsoft.com/office/drawing/2014/main" id="{4558F79F-B269-1C57-1E33-D085C60FE046}"/>
            </a:ext>
          </a:extLst>
        </p:cNvPr>
        <p:cNvGrpSpPr/>
        <p:nvPr/>
      </p:nvGrpSpPr>
      <p:grpSpPr>
        <a:xfrm>
          <a:off x="0" y="0"/>
          <a:ext cx="0" cy="0"/>
          <a:chOff x="0" y="0"/>
          <a:chExt cx="0" cy="0"/>
        </a:xfrm>
      </p:grpSpPr>
      <p:sp>
        <p:nvSpPr>
          <p:cNvPr id="5878" name="Google Shape;5878;p70">
            <a:extLst>
              <a:ext uri="{FF2B5EF4-FFF2-40B4-BE49-F238E27FC236}">
                <a16:creationId xmlns:a16="http://schemas.microsoft.com/office/drawing/2014/main" id="{F67B057C-9C20-F461-96DC-676CF6B9FF50}"/>
              </a:ext>
            </a:extLst>
          </p:cNvPr>
          <p:cNvSpPr txBox="1">
            <a:spLocks noGrp="1"/>
          </p:cNvSpPr>
          <p:nvPr>
            <p:ph type="title"/>
          </p:nvPr>
        </p:nvSpPr>
        <p:spPr>
          <a:xfrm>
            <a:off x="590542" y="939442"/>
            <a:ext cx="6554264" cy="1229040"/>
          </a:xfrm>
        </p:spPr>
        <p:txBody>
          <a:bodyPr spcFirstLastPara="1" vert="horz" wrap="square" lIns="0" tIns="0" rIns="0" bIns="0" rtlCol="0" anchor="b" anchorCtr="0">
            <a:normAutofit/>
          </a:bodyPr>
          <a:lstStyle/>
          <a:p>
            <a:pPr>
              <a:spcBef>
                <a:spcPts val="0"/>
              </a:spcBef>
              <a:buClr>
                <a:schemeClr val="accent2"/>
              </a:buClr>
              <a:buSzPts val="3600"/>
            </a:pPr>
            <a:r>
              <a:rPr lang="en-US" dirty="0"/>
              <a:t>Modernize Infrastructure</a:t>
            </a:r>
            <a:br>
              <a:rPr lang="en-US" dirty="0"/>
            </a:br>
            <a:r>
              <a:rPr lang="en-US" dirty="0"/>
              <a:t>Private Cloud Operations</a:t>
            </a:r>
          </a:p>
        </p:txBody>
      </p:sp>
      <p:sp>
        <p:nvSpPr>
          <p:cNvPr id="5879" name="Google Shape;5879;p70">
            <a:extLst>
              <a:ext uri="{FF2B5EF4-FFF2-40B4-BE49-F238E27FC236}">
                <a16:creationId xmlns:a16="http://schemas.microsoft.com/office/drawing/2014/main" id="{F2F3A49B-DAFE-ED4A-9660-BF79C67C2048}"/>
              </a:ext>
            </a:extLst>
          </p:cNvPr>
          <p:cNvSpPr txBox="1">
            <a:spLocks noGrp="1"/>
          </p:cNvSpPr>
          <p:nvPr>
            <p:ph type="subTitle" idx="10"/>
          </p:nvPr>
        </p:nvSpPr>
        <p:spPr>
          <a:xfrm>
            <a:off x="604396" y="2268015"/>
            <a:ext cx="6540408" cy="700699"/>
          </a:xfrm>
        </p:spPr>
        <p:txBody>
          <a:bodyPr spcFirstLastPara="1" vert="horz" lIns="0" tIns="0" rIns="0" bIns="0" rtlCol="0" anchorCtr="0">
            <a:normAutofit/>
          </a:bodyPr>
          <a:lstStyle/>
          <a:p>
            <a:pPr>
              <a:spcAft>
                <a:spcPts val="600"/>
              </a:spcAft>
              <a:buSzPts val="2160"/>
            </a:pPr>
            <a:r>
              <a:rPr lang="en-US" dirty="0"/>
              <a:t>Fleet Management</a:t>
            </a:r>
            <a:endParaRPr lang="en-AU" dirty="0"/>
          </a:p>
        </p:txBody>
      </p:sp>
    </p:spTree>
    <p:extLst>
      <p:ext uri="{BB962C8B-B14F-4D97-AF65-F5344CB8AC3E}">
        <p14:creationId xmlns:p14="http://schemas.microsoft.com/office/powerpoint/2010/main" val="2462233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854"/>
        <p:cNvGrpSpPr/>
        <p:nvPr/>
      </p:nvGrpSpPr>
      <p:grpSpPr>
        <a:xfrm>
          <a:off x="0" y="0"/>
          <a:ext cx="0" cy="0"/>
          <a:chOff x="0" y="0"/>
          <a:chExt cx="0" cy="0"/>
        </a:xfrm>
      </p:grpSpPr>
      <p:sp>
        <p:nvSpPr>
          <p:cNvPr id="2857" name="Google Shape;2857;p26"/>
          <p:cNvSpPr/>
          <p:nvPr/>
        </p:nvSpPr>
        <p:spPr>
          <a:xfrm>
            <a:off x="726" y="1408070"/>
            <a:ext cx="12170677" cy="4701027"/>
          </a:xfrm>
          <a:custGeom>
            <a:avLst/>
            <a:gdLst/>
            <a:ahLst/>
            <a:cxnLst/>
            <a:rect l="l" t="t" r="r" b="b"/>
            <a:pathLst>
              <a:path w="3672840" h="3488576" extrusionOk="0">
                <a:moveTo>
                  <a:pt x="0" y="0"/>
                </a:moveTo>
                <a:lnTo>
                  <a:pt x="3672840" y="0"/>
                </a:lnTo>
                <a:lnTo>
                  <a:pt x="3672840" y="1284810"/>
                </a:lnTo>
                <a:lnTo>
                  <a:pt x="3672840" y="1371601"/>
                </a:lnTo>
                <a:lnTo>
                  <a:pt x="3672840" y="3488576"/>
                </a:lnTo>
                <a:lnTo>
                  <a:pt x="0" y="3488576"/>
                </a:lnTo>
                <a:lnTo>
                  <a:pt x="0" y="1371601"/>
                </a:lnTo>
                <a:lnTo>
                  <a:pt x="0" y="1284810"/>
                </a:lnTo>
                <a:close/>
              </a:path>
            </a:pathLst>
          </a:custGeom>
          <a:solidFill>
            <a:srgbClr val="F4F8FA"/>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58" name="Google Shape;2858;p26"/>
          <p:cNvSpPr/>
          <p:nvPr/>
        </p:nvSpPr>
        <p:spPr>
          <a:xfrm>
            <a:off x="581247" y="1527086"/>
            <a:ext cx="10871707" cy="4446994"/>
          </a:xfrm>
          <a:prstGeom prst="roundRect">
            <a:avLst>
              <a:gd name="adj" fmla="val 2525"/>
            </a:avLst>
          </a:prstGeom>
          <a:solidFill>
            <a:schemeClr val="lt1"/>
          </a:solidFill>
          <a:ln w="9525" cap="flat" cmpd="sng">
            <a:solidFill>
              <a:srgbClr val="797979"/>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4" name="Group 13">
            <a:extLst>
              <a:ext uri="{FF2B5EF4-FFF2-40B4-BE49-F238E27FC236}">
                <a16:creationId xmlns:a16="http://schemas.microsoft.com/office/drawing/2014/main" id="{1C88738D-9AAA-8BB9-EFC7-53E676AAAC5E}"/>
              </a:ext>
            </a:extLst>
          </p:cNvPr>
          <p:cNvGrpSpPr/>
          <p:nvPr/>
        </p:nvGrpSpPr>
        <p:grpSpPr>
          <a:xfrm>
            <a:off x="3998316" y="1628976"/>
            <a:ext cx="3454744" cy="4259217"/>
            <a:chOff x="6028817" y="1628976"/>
            <a:chExt cx="3454744" cy="4259217"/>
          </a:xfrm>
        </p:grpSpPr>
        <p:sp>
          <p:nvSpPr>
            <p:cNvPr id="10" name="TextBox 9">
              <a:extLst>
                <a:ext uri="{FF2B5EF4-FFF2-40B4-BE49-F238E27FC236}">
                  <a16:creationId xmlns:a16="http://schemas.microsoft.com/office/drawing/2014/main" id="{15CE8F09-AB55-85E4-6B8A-15B77AE20424}"/>
                </a:ext>
              </a:extLst>
            </p:cNvPr>
            <p:cNvSpPr txBox="1"/>
            <p:nvPr/>
          </p:nvSpPr>
          <p:spPr>
            <a:xfrm>
              <a:off x="7479263" y="1684476"/>
              <a:ext cx="552582" cy="14776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rPr>
                <a:t>VCF Fleet</a:t>
              </a:r>
            </a:p>
          </p:txBody>
        </p:sp>
        <p:grpSp>
          <p:nvGrpSpPr>
            <p:cNvPr id="6" name="Group 5">
              <a:extLst>
                <a:ext uri="{FF2B5EF4-FFF2-40B4-BE49-F238E27FC236}">
                  <a16:creationId xmlns:a16="http://schemas.microsoft.com/office/drawing/2014/main" id="{49B396DA-1798-D0C3-0CDC-4C4DD180BA3B}"/>
                </a:ext>
              </a:extLst>
            </p:cNvPr>
            <p:cNvGrpSpPr/>
            <p:nvPr/>
          </p:nvGrpSpPr>
          <p:grpSpPr>
            <a:xfrm>
              <a:off x="6028817" y="1628976"/>
              <a:ext cx="3454744" cy="4259217"/>
              <a:chOff x="4006052" y="1628976"/>
              <a:chExt cx="3454744" cy="4259217"/>
            </a:xfrm>
          </p:grpSpPr>
          <p:sp>
            <p:nvSpPr>
              <p:cNvPr id="9" name="Google Shape;6678;g2d30ebb658d_0_19789">
                <a:extLst>
                  <a:ext uri="{FF2B5EF4-FFF2-40B4-BE49-F238E27FC236}">
                    <a16:creationId xmlns:a16="http://schemas.microsoft.com/office/drawing/2014/main" id="{A8B0DE91-00FE-7B69-610E-B8D675C3E52F}"/>
                  </a:ext>
                </a:extLst>
              </p:cNvPr>
              <p:cNvSpPr/>
              <p:nvPr/>
            </p:nvSpPr>
            <p:spPr>
              <a:xfrm>
                <a:off x="4006052" y="1628976"/>
                <a:ext cx="3454744" cy="4259217"/>
              </a:xfrm>
              <a:prstGeom prst="roundRect">
                <a:avLst>
                  <a:gd name="adj" fmla="val 2356"/>
                </a:avLst>
              </a:prstGeom>
              <a:solidFill>
                <a:schemeClr val="accent5">
                  <a:alpha val="9770"/>
                </a:schemeClr>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1" name="Group 10">
                <a:extLst>
                  <a:ext uri="{FF2B5EF4-FFF2-40B4-BE49-F238E27FC236}">
                    <a16:creationId xmlns:a16="http://schemas.microsoft.com/office/drawing/2014/main" id="{052A37C6-1873-153B-D4D1-ED123374A217}"/>
                  </a:ext>
                </a:extLst>
              </p:cNvPr>
              <p:cNvGrpSpPr/>
              <p:nvPr/>
            </p:nvGrpSpPr>
            <p:grpSpPr>
              <a:xfrm>
                <a:off x="4103641" y="5305809"/>
                <a:ext cx="3241873" cy="484549"/>
                <a:chOff x="4357596" y="5842511"/>
                <a:chExt cx="1909145" cy="308820"/>
              </a:xfrm>
            </p:grpSpPr>
            <p:sp>
              <p:nvSpPr>
                <p:cNvPr id="12" name="Google Shape;6678;g2d30ebb658d_0_19789">
                  <a:extLst>
                    <a:ext uri="{FF2B5EF4-FFF2-40B4-BE49-F238E27FC236}">
                      <a16:creationId xmlns:a16="http://schemas.microsoft.com/office/drawing/2014/main" id="{BEE14BAC-C4B6-9A47-D88A-1EBDF8BF89B1}"/>
                    </a:ext>
                  </a:extLst>
                </p:cNvPr>
                <p:cNvSpPr/>
                <p:nvPr/>
              </p:nvSpPr>
              <p:spPr>
                <a:xfrm>
                  <a:off x="4357596" y="5842511"/>
                  <a:ext cx="1909145"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3" name="TextBox 12">
                  <a:extLst>
                    <a:ext uri="{FF2B5EF4-FFF2-40B4-BE49-F238E27FC236}">
                      <a16:creationId xmlns:a16="http://schemas.microsoft.com/office/drawing/2014/main" id="{D8BE0CA1-066D-53E7-DDCD-FD2D5AB2A4DB}"/>
                    </a:ext>
                  </a:extLst>
                </p:cNvPr>
                <p:cNvSpPr txBox="1"/>
                <p:nvPr/>
              </p:nvSpPr>
              <p:spPr>
                <a:xfrm>
                  <a:off x="4889462" y="5958091"/>
                  <a:ext cx="809461" cy="7729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rPr>
                    <a:t>Additional VCF Instances</a:t>
                  </a:r>
                </a:p>
              </p:txBody>
            </p:sp>
          </p:grpSp>
          <p:pic>
            <p:nvPicPr>
              <p:cNvPr id="15" name="Google Shape;2871;p26">
                <a:extLst>
                  <a:ext uri="{FF2B5EF4-FFF2-40B4-BE49-F238E27FC236}">
                    <a16:creationId xmlns:a16="http://schemas.microsoft.com/office/drawing/2014/main" id="{23C83F38-10C8-9C33-D242-FC254C4ABB56}"/>
                  </a:ext>
                </a:extLst>
              </p:cNvPr>
              <p:cNvPicPr preferRelativeResize="0"/>
              <p:nvPr/>
            </p:nvPicPr>
            <p:blipFill rotWithShape="1">
              <a:blip r:embed="rId3">
                <a:alphaModFix/>
              </a:blip>
              <a:srcRect/>
              <a:stretch/>
            </p:blipFill>
            <p:spPr>
              <a:xfrm>
                <a:off x="4511014" y="5385954"/>
                <a:ext cx="289251" cy="317890"/>
              </a:xfrm>
              <a:prstGeom prst="rect">
                <a:avLst/>
              </a:prstGeom>
              <a:noFill/>
              <a:ln>
                <a:noFill/>
              </a:ln>
            </p:spPr>
          </p:pic>
        </p:grpSp>
      </p:grpSp>
      <p:sp>
        <p:nvSpPr>
          <p:cNvPr id="16" name="Rectangle 15">
            <a:extLst>
              <a:ext uri="{FF2B5EF4-FFF2-40B4-BE49-F238E27FC236}">
                <a16:creationId xmlns:a16="http://schemas.microsoft.com/office/drawing/2014/main" id="{08D2D1F6-BF60-725E-AA43-B9425B25B135}"/>
              </a:ext>
            </a:extLst>
          </p:cNvPr>
          <p:cNvSpPr/>
          <p:nvPr/>
        </p:nvSpPr>
        <p:spPr bwMode="gray">
          <a:xfrm>
            <a:off x="3919367" y="5250171"/>
            <a:ext cx="3936680" cy="662948"/>
          </a:xfrm>
          <a:prstGeom prst="rect">
            <a:avLst/>
          </a:prstGeom>
          <a:solidFill>
            <a:schemeClr val="bg1"/>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855" name="Google Shape;2855;p26"/>
          <p:cNvSpPr txBox="1">
            <a:spLocks noGrp="1"/>
          </p:cNvSpPr>
          <p:nvPr>
            <p:ph type="title"/>
          </p:nvPr>
        </p:nvSpPr>
        <p:spPr>
          <a:xfrm>
            <a:off x="581245" y="413536"/>
            <a:ext cx="10998139" cy="380901"/>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SzPts val="2800"/>
              <a:buNone/>
            </a:pPr>
            <a:r>
              <a:rPr lang="en-US"/>
              <a:t>Unified Operations Experience</a:t>
            </a:r>
            <a:endParaRPr/>
          </a:p>
        </p:txBody>
      </p:sp>
      <p:sp>
        <p:nvSpPr>
          <p:cNvPr id="2856" name="Google Shape;2856;p26"/>
          <p:cNvSpPr txBox="1">
            <a:spLocks noGrp="1"/>
          </p:cNvSpPr>
          <p:nvPr>
            <p:ph type="subTitle" idx="1"/>
          </p:nvPr>
        </p:nvSpPr>
        <p:spPr>
          <a:xfrm>
            <a:off x="594300" y="812513"/>
            <a:ext cx="10959832" cy="24767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dirty="0"/>
              <a:t>VCF Operations and VCF Fleet Management</a:t>
            </a:r>
            <a:endParaRPr dirty="0"/>
          </a:p>
        </p:txBody>
      </p:sp>
      <p:sp>
        <p:nvSpPr>
          <p:cNvPr id="2876" name="Google Shape;2876;p26"/>
          <p:cNvSpPr/>
          <p:nvPr/>
        </p:nvSpPr>
        <p:spPr>
          <a:xfrm rot="5400000">
            <a:off x="1980766" y="3687645"/>
            <a:ext cx="3638148" cy="812800"/>
          </a:xfrm>
          <a:prstGeom prst="triangle">
            <a:avLst>
              <a:gd name="adj" fmla="val 7916"/>
            </a:avLst>
          </a:prstGeom>
          <a:gradFill>
            <a:gsLst>
              <a:gs pos="0">
                <a:srgbClr val="005C8A">
                  <a:alpha val="23529"/>
                </a:srgbClr>
              </a:gs>
              <a:gs pos="100000">
                <a:srgbClr val="FFFFFF">
                  <a:alpha val="0"/>
                </a:srgbClr>
              </a:gs>
            </a:gsLst>
            <a:lin ang="5400000" scaled="0"/>
          </a:gra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2878" name="Google Shape;2878;p26"/>
          <p:cNvGrpSpPr/>
          <p:nvPr/>
        </p:nvGrpSpPr>
        <p:grpSpPr>
          <a:xfrm>
            <a:off x="902756" y="1965017"/>
            <a:ext cx="3366124" cy="3347676"/>
            <a:chOff x="902756" y="2042507"/>
            <a:chExt cx="3366124" cy="3347676"/>
          </a:xfrm>
        </p:grpSpPr>
        <p:sp>
          <p:nvSpPr>
            <p:cNvPr id="2879" name="Google Shape;2879;p26"/>
            <p:cNvSpPr txBox="1"/>
            <p:nvPr/>
          </p:nvSpPr>
          <p:spPr>
            <a:xfrm>
              <a:off x="915197" y="2588956"/>
              <a:ext cx="2990953" cy="36000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800"/>
                <a:buFont typeface="Arial"/>
                <a:buNone/>
                <a:tabLst/>
                <a:defRPr/>
              </a:pPr>
              <a:r>
                <a:rPr kumimoji="0" lang="en-US" sz="1300" b="0" i="0" u="none" strike="noStrike" kern="1200" cap="none" spc="0" normalizeH="0" baseline="0" noProof="0" dirty="0">
                  <a:ln>
                    <a:noFill/>
                  </a:ln>
                  <a:solidFill>
                    <a:srgbClr val="000000"/>
                  </a:solidFill>
                  <a:effectLst/>
                  <a:uLnTx/>
                  <a:uFillTx/>
                  <a:latin typeface="Arial"/>
                  <a:ea typeface="Arial"/>
                  <a:cs typeface="Arial"/>
                  <a:sym typeface="Arial"/>
                </a:rPr>
                <a:t>VCF Health &amp; Diagnostics </a:t>
              </a:r>
              <a:endParaRPr kumimoji="0" sz="13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90000"/>
                </a:lnSpc>
                <a:spcBef>
                  <a:spcPts val="0"/>
                </a:spcBef>
                <a:spcAft>
                  <a:spcPts val="0"/>
                </a:spcAft>
                <a:buClr>
                  <a:srgbClr val="000000"/>
                </a:buClr>
                <a:buSzPts val="1800"/>
                <a:buFont typeface="Arial"/>
                <a:buNone/>
                <a:tabLst/>
                <a:defRPr/>
              </a:pPr>
              <a:r>
                <a:rPr kumimoji="0" lang="en-US" sz="1300" b="0" i="0" u="none" strike="noStrike" kern="1200" cap="none" spc="0" normalizeH="0" baseline="0" noProof="0" dirty="0">
                  <a:ln>
                    <a:noFill/>
                  </a:ln>
                  <a:solidFill>
                    <a:srgbClr val="777777"/>
                  </a:solidFill>
                  <a:effectLst/>
                  <a:uLnTx/>
                  <a:uFillTx/>
                  <a:latin typeface="Arial"/>
                  <a:ea typeface="Arial"/>
                  <a:cs typeface="Arial"/>
                  <a:sym typeface="Arial"/>
                </a:rPr>
                <a:t>(formerly Aria Skyline)</a:t>
              </a:r>
              <a:endParaRPr kumimoji="0" sz="1300" b="0" i="0" u="none" strike="noStrike" kern="1200" cap="none" spc="0" normalizeH="0" baseline="0" noProof="0" dirty="0">
                <a:ln>
                  <a:noFill/>
                </a:ln>
                <a:solidFill>
                  <a:srgbClr val="777777"/>
                </a:solidFill>
                <a:effectLst/>
                <a:uLnTx/>
                <a:uFillTx/>
                <a:latin typeface="Arial"/>
                <a:ea typeface="Arial"/>
                <a:cs typeface="Arial"/>
                <a:sym typeface="Arial"/>
              </a:endParaRPr>
            </a:p>
          </p:txBody>
        </p:sp>
        <p:sp>
          <p:nvSpPr>
            <p:cNvPr id="2880" name="Google Shape;2880;p26"/>
            <p:cNvSpPr txBox="1"/>
            <p:nvPr/>
          </p:nvSpPr>
          <p:spPr>
            <a:xfrm>
              <a:off x="910038" y="3609123"/>
              <a:ext cx="2916759" cy="36000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Integrated Network Operations </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endParaRPr kumimoji="0" sz="1300" b="0" i="0" u="none" strike="noStrike" kern="1200" cap="none" spc="0" normalizeH="0" baseline="0" noProof="0">
                <a:ln>
                  <a:noFill/>
                </a:ln>
                <a:solidFill>
                  <a:srgbClr val="777777"/>
                </a:solidFill>
                <a:effectLst/>
                <a:uLnTx/>
                <a:uFillTx/>
                <a:latin typeface="Arial"/>
                <a:ea typeface="Arial"/>
                <a:cs typeface="Arial"/>
                <a:sym typeface="Arial"/>
              </a:endParaRPr>
            </a:p>
          </p:txBody>
        </p:sp>
        <p:sp>
          <p:nvSpPr>
            <p:cNvPr id="2881" name="Google Shape;2881;p26"/>
            <p:cNvSpPr/>
            <p:nvPr/>
          </p:nvSpPr>
          <p:spPr>
            <a:xfrm>
              <a:off x="3286216" y="4014594"/>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82" name="Google Shape;2882;p26"/>
            <p:cNvSpPr txBox="1"/>
            <p:nvPr/>
          </p:nvSpPr>
          <p:spPr>
            <a:xfrm>
              <a:off x="909467" y="4650753"/>
              <a:ext cx="2257030" cy="36000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Integrated Troubleshooting &amp; Observability</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883" name="Google Shape;2883;p26"/>
            <p:cNvSpPr txBox="1"/>
            <p:nvPr/>
          </p:nvSpPr>
          <p:spPr>
            <a:xfrm>
              <a:off x="914705" y="4130910"/>
              <a:ext cx="2879635"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Integrated Storage Operations</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884" name="Google Shape;2884;p26"/>
            <p:cNvSpPr/>
            <p:nvPr/>
          </p:nvSpPr>
          <p:spPr>
            <a:xfrm>
              <a:off x="3286216" y="4524815"/>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85" name="Google Shape;2885;p26"/>
            <p:cNvSpPr/>
            <p:nvPr/>
          </p:nvSpPr>
          <p:spPr>
            <a:xfrm>
              <a:off x="3286216" y="5035037"/>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86" name="Google Shape;2886;p26"/>
            <p:cNvSpPr txBox="1"/>
            <p:nvPr/>
          </p:nvSpPr>
          <p:spPr>
            <a:xfrm>
              <a:off x="902756" y="3106661"/>
              <a:ext cx="2605185"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Integrated Log Operations </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887" name="Google Shape;2887;p26"/>
            <p:cNvSpPr/>
            <p:nvPr/>
          </p:nvSpPr>
          <p:spPr>
            <a:xfrm>
              <a:off x="3286216" y="3023497"/>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88" name="Google Shape;2888;p26"/>
            <p:cNvSpPr txBox="1"/>
            <p:nvPr/>
          </p:nvSpPr>
          <p:spPr>
            <a:xfrm>
              <a:off x="916987" y="5165383"/>
              <a:ext cx="2695365"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Security Operations</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889" name="Google Shape;2889;p26"/>
            <p:cNvSpPr/>
            <p:nvPr/>
          </p:nvSpPr>
          <p:spPr>
            <a:xfrm>
              <a:off x="3286216" y="3516422"/>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90" name="Google Shape;2890;p26"/>
            <p:cNvSpPr/>
            <p:nvPr/>
          </p:nvSpPr>
          <p:spPr>
            <a:xfrm>
              <a:off x="3275075" y="2508035"/>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2891" name="Google Shape;2891;p26"/>
            <p:cNvPicPr preferRelativeResize="0"/>
            <p:nvPr/>
          </p:nvPicPr>
          <p:blipFill rotWithShape="1">
            <a:blip r:embed="rId4">
              <a:alphaModFix/>
            </a:blip>
            <a:srcRect/>
            <a:stretch/>
          </p:blipFill>
          <p:spPr>
            <a:xfrm>
              <a:off x="3333695" y="5082992"/>
              <a:ext cx="259241" cy="259241"/>
            </a:xfrm>
            <a:prstGeom prst="rect">
              <a:avLst/>
            </a:prstGeom>
            <a:noFill/>
            <a:ln>
              <a:noFill/>
            </a:ln>
          </p:spPr>
        </p:pic>
        <p:pic>
          <p:nvPicPr>
            <p:cNvPr id="2892" name="Google Shape;2892;p26"/>
            <p:cNvPicPr preferRelativeResize="0"/>
            <p:nvPr/>
          </p:nvPicPr>
          <p:blipFill rotWithShape="1">
            <a:blip r:embed="rId5">
              <a:alphaModFix/>
            </a:blip>
            <a:srcRect/>
            <a:stretch/>
          </p:blipFill>
          <p:spPr>
            <a:xfrm>
              <a:off x="3344419" y="3587875"/>
              <a:ext cx="225036" cy="225036"/>
            </a:xfrm>
            <a:prstGeom prst="rect">
              <a:avLst/>
            </a:prstGeom>
            <a:noFill/>
            <a:ln>
              <a:noFill/>
            </a:ln>
          </p:spPr>
        </p:pic>
        <p:pic>
          <p:nvPicPr>
            <p:cNvPr id="2893" name="Google Shape;2893;p26"/>
            <p:cNvPicPr preferRelativeResize="0"/>
            <p:nvPr/>
          </p:nvPicPr>
          <p:blipFill rotWithShape="1">
            <a:blip r:embed="rId6">
              <a:alphaModFix/>
            </a:blip>
            <a:srcRect/>
            <a:stretch/>
          </p:blipFill>
          <p:spPr>
            <a:xfrm>
              <a:off x="3356814" y="4079651"/>
              <a:ext cx="225036" cy="225036"/>
            </a:xfrm>
            <a:prstGeom prst="rect">
              <a:avLst/>
            </a:prstGeom>
            <a:noFill/>
            <a:ln>
              <a:noFill/>
            </a:ln>
          </p:spPr>
        </p:pic>
        <p:pic>
          <p:nvPicPr>
            <p:cNvPr id="2894" name="Google Shape;2894;p26"/>
            <p:cNvPicPr preferRelativeResize="0"/>
            <p:nvPr/>
          </p:nvPicPr>
          <p:blipFill rotWithShape="1">
            <a:blip r:embed="rId7">
              <a:alphaModFix/>
            </a:blip>
            <a:srcRect/>
            <a:stretch/>
          </p:blipFill>
          <p:spPr>
            <a:xfrm>
              <a:off x="3345215" y="2571235"/>
              <a:ext cx="226727" cy="226727"/>
            </a:xfrm>
            <a:prstGeom prst="rect">
              <a:avLst/>
            </a:prstGeom>
            <a:noFill/>
            <a:ln>
              <a:noFill/>
            </a:ln>
          </p:spPr>
        </p:pic>
        <p:pic>
          <p:nvPicPr>
            <p:cNvPr id="2895" name="Google Shape;2895;p26"/>
            <p:cNvPicPr preferRelativeResize="0"/>
            <p:nvPr/>
          </p:nvPicPr>
          <p:blipFill rotWithShape="1">
            <a:blip r:embed="rId8">
              <a:alphaModFix/>
            </a:blip>
            <a:srcRect/>
            <a:stretch/>
          </p:blipFill>
          <p:spPr>
            <a:xfrm>
              <a:off x="3369606" y="4602662"/>
              <a:ext cx="225036" cy="225036"/>
            </a:xfrm>
            <a:prstGeom prst="rect">
              <a:avLst/>
            </a:prstGeom>
            <a:noFill/>
            <a:ln>
              <a:noFill/>
            </a:ln>
          </p:spPr>
        </p:pic>
        <p:pic>
          <p:nvPicPr>
            <p:cNvPr id="2896" name="Google Shape;2896;p26"/>
            <p:cNvPicPr preferRelativeResize="0"/>
            <p:nvPr/>
          </p:nvPicPr>
          <p:blipFill rotWithShape="1">
            <a:blip r:embed="rId9">
              <a:alphaModFix/>
            </a:blip>
            <a:srcRect/>
            <a:stretch/>
          </p:blipFill>
          <p:spPr>
            <a:xfrm>
              <a:off x="3341694" y="3094684"/>
              <a:ext cx="212787" cy="212788"/>
            </a:xfrm>
            <a:prstGeom prst="rect">
              <a:avLst/>
            </a:prstGeom>
            <a:noFill/>
            <a:ln>
              <a:noFill/>
            </a:ln>
          </p:spPr>
        </p:pic>
        <p:sp>
          <p:nvSpPr>
            <p:cNvPr id="2897" name="Google Shape;2897;p26"/>
            <p:cNvSpPr txBox="1"/>
            <p:nvPr/>
          </p:nvSpPr>
          <p:spPr>
            <a:xfrm>
              <a:off x="1277927" y="2042507"/>
              <a:ext cx="2990953" cy="22154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800"/>
                <a:buFont typeface="Arial"/>
                <a:buNone/>
                <a:tabLst/>
                <a:defRPr/>
              </a:pPr>
              <a:r>
                <a:rPr kumimoji="0" lang="en-US" sz="1600" b="0" i="0" u="none" strike="noStrike" kern="1200" cap="none" spc="0" normalizeH="0" baseline="0" noProof="0">
                  <a:ln>
                    <a:noFill/>
                  </a:ln>
                  <a:solidFill>
                    <a:srgbClr val="007B8C"/>
                  </a:solidFill>
                  <a:effectLst/>
                  <a:uLnTx/>
                  <a:uFillTx/>
                  <a:latin typeface="Arial"/>
                  <a:ea typeface="Arial"/>
                  <a:cs typeface="Arial"/>
                  <a:sym typeface="Arial"/>
                </a:rPr>
                <a:t>VCF Operations</a:t>
              </a:r>
              <a:endParaRPr kumimoji="0" sz="1600" b="0" i="0" u="none" strike="noStrike" kern="1200" cap="none" spc="0" normalizeH="0" baseline="0" noProof="0">
                <a:ln>
                  <a:noFill/>
                </a:ln>
                <a:solidFill>
                  <a:srgbClr val="007B8C"/>
                </a:solidFill>
                <a:effectLst/>
                <a:uLnTx/>
                <a:uFillTx/>
                <a:latin typeface="Arial"/>
                <a:ea typeface="Arial"/>
                <a:cs typeface="Arial"/>
                <a:sym typeface="Arial"/>
              </a:endParaRPr>
            </a:p>
          </p:txBody>
        </p:sp>
      </p:grpSp>
      <p:sp>
        <p:nvSpPr>
          <p:cNvPr id="2898" name="Google Shape;2898;p26"/>
          <p:cNvSpPr/>
          <p:nvPr/>
        </p:nvSpPr>
        <p:spPr>
          <a:xfrm rot="-5400000">
            <a:off x="5903236" y="3634306"/>
            <a:ext cx="3600898" cy="956728"/>
          </a:xfrm>
          <a:prstGeom prst="triangle">
            <a:avLst>
              <a:gd name="adj" fmla="val 92533"/>
            </a:avLst>
          </a:prstGeom>
          <a:gradFill>
            <a:gsLst>
              <a:gs pos="0">
                <a:srgbClr val="005C8A">
                  <a:alpha val="23529"/>
                </a:srgbClr>
              </a:gs>
              <a:gs pos="100000">
                <a:srgbClr val="FFFFFF">
                  <a:alpha val="0"/>
                </a:srgbClr>
              </a:gs>
            </a:gsLst>
            <a:lin ang="5400000" scaled="0"/>
          </a:gra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2899" name="Google Shape;2899;p26"/>
          <p:cNvGrpSpPr/>
          <p:nvPr/>
        </p:nvGrpSpPr>
        <p:grpSpPr>
          <a:xfrm>
            <a:off x="7979394" y="1962653"/>
            <a:ext cx="3571788" cy="3497438"/>
            <a:chOff x="7979394" y="2040143"/>
            <a:chExt cx="3571788" cy="3497438"/>
          </a:xfrm>
        </p:grpSpPr>
        <p:sp>
          <p:nvSpPr>
            <p:cNvPr id="2900" name="Google Shape;2900;p26"/>
            <p:cNvSpPr txBox="1"/>
            <p:nvPr/>
          </p:nvSpPr>
          <p:spPr>
            <a:xfrm>
              <a:off x="8798834" y="5291464"/>
              <a:ext cx="2752348" cy="246117"/>
            </a:xfrm>
            <a:prstGeom prst="rect">
              <a:avLst/>
            </a:prstGeom>
            <a:noFill/>
            <a:ln>
              <a:noFill/>
            </a:ln>
          </p:spPr>
          <p:txBody>
            <a:bodyPr spcFirstLastPara="1" wrap="square" lIns="91400" tIns="45675" rIns="91400" bIns="45675"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700"/>
                <a:buFont typeface="Arial"/>
                <a:buNone/>
                <a:tabLst/>
                <a:defRPr/>
              </a:pPr>
              <a:r>
                <a:rPr kumimoji="0" lang="en-US" sz="1000" b="0" i="1" u="none" strike="noStrike" kern="1200" cap="none" spc="0" normalizeH="0" baseline="0" noProof="0">
                  <a:ln>
                    <a:noFill/>
                  </a:ln>
                  <a:solidFill>
                    <a:srgbClr val="000000"/>
                  </a:solidFill>
                  <a:effectLst/>
                  <a:uLnTx/>
                  <a:uFillTx/>
                  <a:latin typeface="Arial"/>
                  <a:ea typeface="Arial"/>
                  <a:cs typeface="Arial"/>
                  <a:sym typeface="Arial"/>
                </a:rPr>
                <a:t>.</a:t>
              </a: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01" name="Google Shape;2901;p26"/>
            <p:cNvSpPr txBox="1"/>
            <p:nvPr/>
          </p:nvSpPr>
          <p:spPr>
            <a:xfrm>
              <a:off x="8618806" y="2620490"/>
              <a:ext cx="2397355"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8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Identity &amp; Access</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02" name="Google Shape;2902;p26"/>
            <p:cNvSpPr/>
            <p:nvPr/>
          </p:nvSpPr>
          <p:spPr>
            <a:xfrm>
              <a:off x="7979394" y="2509291"/>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2903" name="Google Shape;2903;p26"/>
            <p:cNvSpPr txBox="1"/>
            <p:nvPr/>
          </p:nvSpPr>
          <p:spPr>
            <a:xfrm>
              <a:off x="8618804" y="3648975"/>
              <a:ext cx="2480340"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Password Management</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04" name="Google Shape;2904;p26"/>
            <p:cNvSpPr/>
            <p:nvPr/>
          </p:nvSpPr>
          <p:spPr>
            <a:xfrm>
              <a:off x="7979404" y="3540963"/>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2905" name="Google Shape;2905;p26"/>
            <p:cNvSpPr txBox="1"/>
            <p:nvPr/>
          </p:nvSpPr>
          <p:spPr>
            <a:xfrm>
              <a:off x="8618804" y="4625774"/>
              <a:ext cx="2480340"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Configuration Drift</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06" name="Google Shape;2906;p26"/>
            <p:cNvSpPr/>
            <p:nvPr/>
          </p:nvSpPr>
          <p:spPr>
            <a:xfrm>
              <a:off x="7982347" y="5028330"/>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2907" name="Google Shape;2907;p26"/>
            <p:cNvSpPr txBox="1"/>
            <p:nvPr/>
          </p:nvSpPr>
          <p:spPr>
            <a:xfrm>
              <a:off x="8618804" y="4124453"/>
              <a:ext cx="2594796"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Tag Management</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08" name="Google Shape;2908;p26"/>
            <p:cNvSpPr/>
            <p:nvPr/>
          </p:nvSpPr>
          <p:spPr>
            <a:xfrm>
              <a:off x="7982347" y="4516686"/>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2909" name="Google Shape;2909;p26"/>
            <p:cNvSpPr txBox="1"/>
            <p:nvPr/>
          </p:nvSpPr>
          <p:spPr>
            <a:xfrm>
              <a:off x="8618806" y="3141194"/>
              <a:ext cx="2397355"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Certificate Management</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10" name="Google Shape;2910;p26"/>
            <p:cNvSpPr/>
            <p:nvPr/>
          </p:nvSpPr>
          <p:spPr>
            <a:xfrm>
              <a:off x="7982347" y="3020935"/>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2911" name="Google Shape;2911;p26"/>
            <p:cNvSpPr txBox="1"/>
            <p:nvPr/>
          </p:nvSpPr>
          <p:spPr>
            <a:xfrm>
              <a:off x="8618804" y="5127094"/>
              <a:ext cx="2480340"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Lifecycle Management</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12" name="Google Shape;2912;p26"/>
            <p:cNvSpPr/>
            <p:nvPr/>
          </p:nvSpPr>
          <p:spPr>
            <a:xfrm>
              <a:off x="7985241" y="4024631"/>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pic>
          <p:nvPicPr>
            <p:cNvPr id="2913" name="Google Shape;2913;p26"/>
            <p:cNvPicPr preferRelativeResize="0"/>
            <p:nvPr/>
          </p:nvPicPr>
          <p:blipFill rotWithShape="1">
            <a:blip r:embed="rId10">
              <a:alphaModFix/>
            </a:blip>
            <a:srcRect/>
            <a:stretch/>
          </p:blipFill>
          <p:spPr>
            <a:xfrm>
              <a:off x="8034212" y="2601517"/>
              <a:ext cx="254402" cy="178085"/>
            </a:xfrm>
            <a:prstGeom prst="rect">
              <a:avLst/>
            </a:prstGeom>
            <a:noFill/>
            <a:ln>
              <a:noFill/>
            </a:ln>
          </p:spPr>
        </p:pic>
        <p:pic>
          <p:nvPicPr>
            <p:cNvPr id="2914" name="Google Shape;2914;p26"/>
            <p:cNvPicPr preferRelativeResize="0"/>
            <p:nvPr/>
          </p:nvPicPr>
          <p:blipFill rotWithShape="1">
            <a:blip r:embed="rId11">
              <a:alphaModFix/>
            </a:blip>
            <a:srcRect/>
            <a:stretch/>
          </p:blipFill>
          <p:spPr>
            <a:xfrm>
              <a:off x="8043287" y="3598495"/>
              <a:ext cx="252899" cy="206448"/>
            </a:xfrm>
            <a:prstGeom prst="rect">
              <a:avLst/>
            </a:prstGeom>
            <a:noFill/>
            <a:ln>
              <a:noFill/>
            </a:ln>
          </p:spPr>
        </p:pic>
        <p:pic>
          <p:nvPicPr>
            <p:cNvPr id="2915" name="Google Shape;2915;p26"/>
            <p:cNvPicPr preferRelativeResize="0"/>
            <p:nvPr/>
          </p:nvPicPr>
          <p:blipFill rotWithShape="1">
            <a:blip r:embed="rId12">
              <a:alphaModFix/>
            </a:blip>
            <a:srcRect/>
            <a:stretch/>
          </p:blipFill>
          <p:spPr>
            <a:xfrm>
              <a:off x="8087159" y="3081180"/>
              <a:ext cx="165158" cy="252899"/>
            </a:xfrm>
            <a:prstGeom prst="rect">
              <a:avLst/>
            </a:prstGeom>
            <a:noFill/>
            <a:ln>
              <a:noFill/>
            </a:ln>
          </p:spPr>
        </p:pic>
        <p:pic>
          <p:nvPicPr>
            <p:cNvPr id="2916" name="Google Shape;2916;p26"/>
            <p:cNvPicPr preferRelativeResize="0"/>
            <p:nvPr/>
          </p:nvPicPr>
          <p:blipFill rotWithShape="1">
            <a:blip r:embed="rId13">
              <a:alphaModFix/>
            </a:blip>
            <a:srcRect/>
            <a:stretch/>
          </p:blipFill>
          <p:spPr>
            <a:xfrm>
              <a:off x="8015742" y="4115370"/>
              <a:ext cx="290862" cy="178079"/>
            </a:xfrm>
            <a:prstGeom prst="rect">
              <a:avLst/>
            </a:prstGeom>
            <a:noFill/>
            <a:ln>
              <a:noFill/>
            </a:ln>
          </p:spPr>
        </p:pic>
        <p:sp>
          <p:nvSpPr>
            <p:cNvPr id="2917" name="Google Shape;2917;p26"/>
            <p:cNvSpPr txBox="1"/>
            <p:nvPr/>
          </p:nvSpPr>
          <p:spPr>
            <a:xfrm>
              <a:off x="8472687" y="2040143"/>
              <a:ext cx="2990953" cy="22154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800"/>
                <a:buFont typeface="Arial"/>
                <a:buNone/>
                <a:tabLst/>
                <a:defRPr/>
              </a:pPr>
              <a:r>
                <a:rPr kumimoji="0" lang="en-US" sz="1600" b="0" i="0" u="none" strike="noStrike" kern="1200" cap="none" spc="0" normalizeH="0" baseline="0" noProof="0">
                  <a:ln>
                    <a:noFill/>
                  </a:ln>
                  <a:solidFill>
                    <a:srgbClr val="0098C7"/>
                  </a:solidFill>
                  <a:effectLst/>
                  <a:uLnTx/>
                  <a:uFillTx/>
                  <a:latin typeface="Arial"/>
                  <a:ea typeface="Arial"/>
                  <a:cs typeface="Arial"/>
                  <a:sym typeface="Arial"/>
                </a:rPr>
                <a:t>VCF Fleet Management</a:t>
              </a:r>
              <a:endParaRPr kumimoji="0" sz="1600" b="0" i="0" u="none" strike="noStrike" kern="1200" cap="none" spc="0" normalizeH="0" baseline="0" noProof="0">
                <a:ln>
                  <a:noFill/>
                </a:ln>
                <a:solidFill>
                  <a:srgbClr val="0098C7"/>
                </a:solidFill>
                <a:effectLst/>
                <a:uLnTx/>
                <a:uFillTx/>
                <a:latin typeface="Arial"/>
                <a:ea typeface="Arial"/>
                <a:cs typeface="Arial"/>
                <a:sym typeface="Arial"/>
              </a:endParaRPr>
            </a:p>
          </p:txBody>
        </p:sp>
        <p:pic>
          <p:nvPicPr>
            <p:cNvPr id="2918" name="Google Shape;2918;p26"/>
            <p:cNvPicPr preferRelativeResize="0"/>
            <p:nvPr/>
          </p:nvPicPr>
          <p:blipFill rotWithShape="1">
            <a:blip r:embed="rId14">
              <a:alphaModFix/>
            </a:blip>
            <a:srcRect/>
            <a:stretch/>
          </p:blipFill>
          <p:spPr>
            <a:xfrm>
              <a:off x="8046126" y="4597655"/>
              <a:ext cx="254402" cy="233634"/>
            </a:xfrm>
            <a:prstGeom prst="rect">
              <a:avLst/>
            </a:prstGeom>
            <a:noFill/>
            <a:ln>
              <a:noFill/>
            </a:ln>
          </p:spPr>
        </p:pic>
        <p:grpSp>
          <p:nvGrpSpPr>
            <p:cNvPr id="2919" name="Google Shape;2919;p26"/>
            <p:cNvGrpSpPr/>
            <p:nvPr/>
          </p:nvGrpSpPr>
          <p:grpSpPr>
            <a:xfrm>
              <a:off x="8037213" y="5077773"/>
              <a:ext cx="262797" cy="262796"/>
              <a:chOff x="3544748" y="4874841"/>
              <a:chExt cx="739588" cy="739586"/>
            </a:xfrm>
          </p:grpSpPr>
          <p:grpSp>
            <p:nvGrpSpPr>
              <p:cNvPr id="2920" name="Google Shape;2920;p26"/>
              <p:cNvGrpSpPr/>
              <p:nvPr/>
            </p:nvGrpSpPr>
            <p:grpSpPr>
              <a:xfrm>
                <a:off x="3672761" y="5003383"/>
                <a:ext cx="480897" cy="494931"/>
                <a:chOff x="3672761" y="5003383"/>
                <a:chExt cx="480897" cy="494931"/>
              </a:xfrm>
            </p:grpSpPr>
            <p:grpSp>
              <p:nvGrpSpPr>
                <p:cNvPr id="2921" name="Google Shape;2921;p26"/>
                <p:cNvGrpSpPr/>
                <p:nvPr/>
              </p:nvGrpSpPr>
              <p:grpSpPr>
                <a:xfrm>
                  <a:off x="3672761" y="5003383"/>
                  <a:ext cx="454934" cy="454954"/>
                  <a:chOff x="3672761" y="5003383"/>
                  <a:chExt cx="454934" cy="454954"/>
                </a:xfrm>
              </p:grpSpPr>
              <p:sp>
                <p:nvSpPr>
                  <p:cNvPr id="2922" name="Google Shape;2922;p26"/>
                  <p:cNvSpPr/>
                  <p:nvPr/>
                </p:nvSpPr>
                <p:spPr>
                  <a:xfrm>
                    <a:off x="3672761" y="5254171"/>
                    <a:ext cx="203636" cy="204166"/>
                  </a:xfrm>
                  <a:custGeom>
                    <a:avLst/>
                    <a:gdLst/>
                    <a:ahLst/>
                    <a:cxnLst/>
                    <a:rect l="l" t="t" r="r" b="b"/>
                    <a:pathLst>
                      <a:path w="203636" h="204166" extrusionOk="0">
                        <a:moveTo>
                          <a:pt x="203636" y="37615"/>
                        </a:moveTo>
                        <a:lnTo>
                          <a:pt x="169200" y="3179"/>
                        </a:lnTo>
                        <a:cubicBezTo>
                          <a:pt x="168140" y="2119"/>
                          <a:pt x="167611" y="1060"/>
                          <a:pt x="166551" y="0"/>
                        </a:cubicBezTo>
                        <a:lnTo>
                          <a:pt x="109863" y="57217"/>
                        </a:lnTo>
                        <a:lnTo>
                          <a:pt x="95559" y="71522"/>
                        </a:lnTo>
                        <a:cubicBezTo>
                          <a:pt x="70659" y="60926"/>
                          <a:pt x="40461" y="66224"/>
                          <a:pt x="20329" y="86356"/>
                        </a:cubicBezTo>
                        <a:cubicBezTo>
                          <a:pt x="197" y="106488"/>
                          <a:pt x="-5101" y="136156"/>
                          <a:pt x="4965" y="161056"/>
                        </a:cubicBezTo>
                        <a:lnTo>
                          <a:pt x="39401" y="126620"/>
                        </a:lnTo>
                        <a:lnTo>
                          <a:pt x="69599" y="134567"/>
                        </a:lnTo>
                        <a:lnTo>
                          <a:pt x="77546" y="164765"/>
                        </a:lnTo>
                        <a:lnTo>
                          <a:pt x="43110" y="199201"/>
                        </a:lnTo>
                        <a:cubicBezTo>
                          <a:pt x="68010" y="209267"/>
                          <a:pt x="97678" y="203969"/>
                          <a:pt x="117810" y="183837"/>
                        </a:cubicBezTo>
                        <a:cubicBezTo>
                          <a:pt x="138472" y="163175"/>
                          <a:pt x="143240" y="133507"/>
                          <a:pt x="132644" y="108607"/>
                        </a:cubicBezTo>
                        <a:lnTo>
                          <a:pt x="146949" y="94303"/>
                        </a:lnTo>
                        <a:lnTo>
                          <a:pt x="203636" y="37615"/>
                        </a:ln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23" name="Google Shape;2923;p26"/>
                  <p:cNvSpPr/>
                  <p:nvPr/>
                </p:nvSpPr>
                <p:spPr>
                  <a:xfrm>
                    <a:off x="3915072" y="5003383"/>
                    <a:ext cx="212623" cy="212112"/>
                  </a:xfrm>
                  <a:custGeom>
                    <a:avLst/>
                    <a:gdLst/>
                    <a:ahLst/>
                    <a:cxnLst/>
                    <a:rect l="l" t="t" r="r" b="b"/>
                    <a:pathLst>
                      <a:path w="212623" h="212112" extrusionOk="0">
                        <a:moveTo>
                          <a:pt x="207678" y="43110"/>
                        </a:moveTo>
                        <a:lnTo>
                          <a:pt x="173241" y="77546"/>
                        </a:lnTo>
                        <a:lnTo>
                          <a:pt x="143043" y="69599"/>
                        </a:lnTo>
                        <a:lnTo>
                          <a:pt x="135096" y="39401"/>
                        </a:lnTo>
                        <a:lnTo>
                          <a:pt x="169533" y="4965"/>
                        </a:lnTo>
                        <a:cubicBezTo>
                          <a:pt x="144633" y="-5101"/>
                          <a:pt x="114964" y="197"/>
                          <a:pt x="94832" y="20329"/>
                        </a:cubicBezTo>
                        <a:cubicBezTo>
                          <a:pt x="74171" y="40991"/>
                          <a:pt x="69403" y="70659"/>
                          <a:pt x="79998" y="95559"/>
                        </a:cubicBezTo>
                        <a:lnTo>
                          <a:pt x="65694" y="109863"/>
                        </a:lnTo>
                        <a:lnTo>
                          <a:pt x="0" y="175028"/>
                        </a:lnTo>
                        <a:cubicBezTo>
                          <a:pt x="1060" y="175557"/>
                          <a:pt x="2119" y="176617"/>
                          <a:pt x="3179" y="177677"/>
                        </a:cubicBezTo>
                        <a:lnTo>
                          <a:pt x="37615" y="212113"/>
                        </a:lnTo>
                        <a:lnTo>
                          <a:pt x="102249" y="147479"/>
                        </a:lnTo>
                        <a:lnTo>
                          <a:pt x="116554" y="133174"/>
                        </a:lnTo>
                        <a:cubicBezTo>
                          <a:pt x="141454" y="143770"/>
                          <a:pt x="171652" y="138472"/>
                          <a:pt x="191784" y="118340"/>
                        </a:cubicBezTo>
                        <a:cubicBezTo>
                          <a:pt x="212446" y="97678"/>
                          <a:pt x="217744" y="68010"/>
                          <a:pt x="207678" y="43110"/>
                        </a:cubicBez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924" name="Google Shape;2924;p26"/>
                <p:cNvGrpSpPr/>
                <p:nvPr/>
              </p:nvGrpSpPr>
              <p:grpSpPr>
                <a:xfrm>
                  <a:off x="3694149" y="5034308"/>
                  <a:ext cx="459509" cy="464006"/>
                  <a:chOff x="3694149" y="5034308"/>
                  <a:chExt cx="459509" cy="464006"/>
                </a:xfrm>
              </p:grpSpPr>
              <p:sp>
                <p:nvSpPr>
                  <p:cNvPr id="2925" name="Google Shape;2925;p26"/>
                  <p:cNvSpPr/>
                  <p:nvPr/>
                </p:nvSpPr>
                <p:spPr>
                  <a:xfrm>
                    <a:off x="3906595" y="5243475"/>
                    <a:ext cx="247063" cy="254839"/>
                  </a:xfrm>
                  <a:custGeom>
                    <a:avLst/>
                    <a:gdLst/>
                    <a:ahLst/>
                    <a:cxnLst/>
                    <a:rect l="l" t="t" r="r" b="b"/>
                    <a:pathLst>
                      <a:path w="247063" h="254839" extrusionOk="0">
                        <a:moveTo>
                          <a:pt x="106488" y="4339"/>
                        </a:moveTo>
                        <a:cubicBezTo>
                          <a:pt x="110196" y="1160"/>
                          <a:pt x="114964" y="-429"/>
                          <a:pt x="119733" y="100"/>
                        </a:cubicBezTo>
                        <a:cubicBezTo>
                          <a:pt x="124501" y="100"/>
                          <a:pt x="129269" y="2220"/>
                          <a:pt x="132447" y="5928"/>
                        </a:cubicBezTo>
                        <a:cubicBezTo>
                          <a:pt x="136156" y="9637"/>
                          <a:pt x="138275" y="14405"/>
                          <a:pt x="138275" y="19703"/>
                        </a:cubicBezTo>
                        <a:cubicBezTo>
                          <a:pt x="138275" y="25001"/>
                          <a:pt x="136156" y="29769"/>
                          <a:pt x="132447" y="33477"/>
                        </a:cubicBezTo>
                        <a:lnTo>
                          <a:pt x="122911" y="43013"/>
                        </a:lnTo>
                        <a:lnTo>
                          <a:pt x="228339" y="152680"/>
                        </a:lnTo>
                        <a:cubicBezTo>
                          <a:pt x="245293" y="170163"/>
                          <a:pt x="251120" y="195063"/>
                          <a:pt x="244233" y="218374"/>
                        </a:cubicBezTo>
                        <a:cubicBezTo>
                          <a:pt x="238935" y="237446"/>
                          <a:pt x="230988" y="246983"/>
                          <a:pt x="207678" y="252810"/>
                        </a:cubicBezTo>
                        <a:cubicBezTo>
                          <a:pt x="184367" y="258638"/>
                          <a:pt x="159467" y="251751"/>
                          <a:pt x="142514" y="234268"/>
                        </a:cubicBezTo>
                        <a:lnTo>
                          <a:pt x="40794" y="125131"/>
                        </a:lnTo>
                        <a:lnTo>
                          <a:pt x="33377" y="132548"/>
                        </a:lnTo>
                        <a:lnTo>
                          <a:pt x="33377" y="132548"/>
                        </a:lnTo>
                        <a:cubicBezTo>
                          <a:pt x="28609" y="137316"/>
                          <a:pt x="21721" y="139435"/>
                          <a:pt x="15364" y="137846"/>
                        </a:cubicBezTo>
                        <a:cubicBezTo>
                          <a:pt x="9006" y="136256"/>
                          <a:pt x="3179" y="131488"/>
                          <a:pt x="1060" y="125131"/>
                        </a:cubicBezTo>
                        <a:cubicBezTo>
                          <a:pt x="-1060" y="118773"/>
                          <a:pt x="0" y="111886"/>
                          <a:pt x="4238" y="106588"/>
                        </a:cubicBezTo>
                        <a:lnTo>
                          <a:pt x="106488" y="4339"/>
                        </a:ln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26" name="Google Shape;2926;p26"/>
                  <p:cNvSpPr/>
                  <p:nvPr/>
                </p:nvSpPr>
                <p:spPr>
                  <a:xfrm>
                    <a:off x="3694149" y="5034308"/>
                    <a:ext cx="267014" cy="265424"/>
                  </a:xfrm>
                  <a:custGeom>
                    <a:avLst/>
                    <a:gdLst/>
                    <a:ahLst/>
                    <a:cxnLst/>
                    <a:rect l="l" t="t" r="r" b="b"/>
                    <a:pathLst>
                      <a:path w="267014" h="265424" extrusionOk="0">
                        <a:moveTo>
                          <a:pt x="34966" y="0"/>
                        </a:moveTo>
                        <a:lnTo>
                          <a:pt x="106488" y="42913"/>
                        </a:lnTo>
                        <a:lnTo>
                          <a:pt x="145162" y="115494"/>
                        </a:lnTo>
                        <a:lnTo>
                          <a:pt x="267014" y="237346"/>
                        </a:lnTo>
                        <a:lnTo>
                          <a:pt x="238935" y="265425"/>
                        </a:lnTo>
                        <a:lnTo>
                          <a:pt x="117084" y="143573"/>
                        </a:lnTo>
                        <a:lnTo>
                          <a:pt x="43973" y="105428"/>
                        </a:lnTo>
                        <a:lnTo>
                          <a:pt x="0" y="34966"/>
                        </a:lnTo>
                        <a:lnTo>
                          <a:pt x="34966" y="0"/>
                        </a:lnTo>
                        <a:close/>
                        <a:moveTo>
                          <a:pt x="57747" y="90594"/>
                        </a:moveTo>
                        <a:lnTo>
                          <a:pt x="58807" y="91124"/>
                        </a:lnTo>
                        <a:lnTo>
                          <a:pt x="91654" y="58277"/>
                        </a:lnTo>
                        <a:lnTo>
                          <a:pt x="91124" y="57747"/>
                        </a:lnTo>
                        <a:lnTo>
                          <a:pt x="37615" y="25430"/>
                        </a:lnTo>
                        <a:lnTo>
                          <a:pt x="24900" y="38145"/>
                        </a:lnTo>
                        <a:lnTo>
                          <a:pt x="57747" y="90594"/>
                        </a:ln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sp>
            <p:nvSpPr>
              <p:cNvPr id="2927" name="Google Shape;2927;p26"/>
              <p:cNvSpPr/>
              <p:nvPr/>
            </p:nvSpPr>
            <p:spPr>
              <a:xfrm>
                <a:off x="3544748" y="4874841"/>
                <a:ext cx="739588" cy="739586"/>
              </a:xfrm>
              <a:custGeom>
                <a:avLst/>
                <a:gdLst/>
                <a:ahLst/>
                <a:cxnLst/>
                <a:rect l="l" t="t" r="r" b="b"/>
                <a:pathLst>
                  <a:path w="739588" h="739586" extrusionOk="0">
                    <a:moveTo>
                      <a:pt x="370323" y="0"/>
                    </a:moveTo>
                    <a:cubicBezTo>
                      <a:pt x="312576" y="0"/>
                      <a:pt x="258008" y="13245"/>
                      <a:pt x="209267" y="36556"/>
                    </a:cubicBezTo>
                    <a:lnTo>
                      <a:pt x="221452" y="60396"/>
                    </a:lnTo>
                    <a:cubicBezTo>
                      <a:pt x="266484" y="38675"/>
                      <a:pt x="317344" y="26490"/>
                      <a:pt x="370323" y="26490"/>
                    </a:cubicBezTo>
                    <a:cubicBezTo>
                      <a:pt x="559458" y="26490"/>
                      <a:pt x="713627" y="180658"/>
                      <a:pt x="713627" y="369793"/>
                    </a:cubicBezTo>
                    <a:cubicBezTo>
                      <a:pt x="713627" y="558928"/>
                      <a:pt x="559458" y="713097"/>
                      <a:pt x="370323" y="713097"/>
                    </a:cubicBezTo>
                    <a:cubicBezTo>
                      <a:pt x="181188" y="713097"/>
                      <a:pt x="27019" y="558928"/>
                      <a:pt x="27019" y="369793"/>
                    </a:cubicBezTo>
                    <a:cubicBezTo>
                      <a:pt x="27019" y="282908"/>
                      <a:pt x="59336" y="203439"/>
                      <a:pt x="112845" y="143043"/>
                    </a:cubicBezTo>
                    <a:lnTo>
                      <a:pt x="145692" y="179599"/>
                    </a:lnTo>
                    <a:lnTo>
                      <a:pt x="188605" y="50860"/>
                    </a:lnTo>
                    <a:lnTo>
                      <a:pt x="55628" y="78409"/>
                    </a:lnTo>
                    <a:lnTo>
                      <a:pt x="95362" y="122911"/>
                    </a:lnTo>
                    <a:cubicBezTo>
                      <a:pt x="36026" y="188605"/>
                      <a:pt x="0" y="274961"/>
                      <a:pt x="0" y="369793"/>
                    </a:cubicBezTo>
                    <a:cubicBezTo>
                      <a:pt x="0" y="574292"/>
                      <a:pt x="165824" y="739587"/>
                      <a:pt x="369793" y="739587"/>
                    </a:cubicBezTo>
                    <a:cubicBezTo>
                      <a:pt x="574292" y="739587"/>
                      <a:pt x="739587" y="573763"/>
                      <a:pt x="739587" y="369793"/>
                    </a:cubicBezTo>
                    <a:cubicBezTo>
                      <a:pt x="740117" y="165294"/>
                      <a:pt x="574292" y="0"/>
                      <a:pt x="370323" y="0"/>
                    </a:cubicBez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sp>
        <p:nvSpPr>
          <p:cNvPr id="2928" name="Google Shape;2928;p26"/>
          <p:cNvSpPr/>
          <p:nvPr/>
        </p:nvSpPr>
        <p:spPr>
          <a:xfrm>
            <a:off x="776849" y="1728862"/>
            <a:ext cx="2890911" cy="3731229"/>
          </a:xfrm>
          <a:prstGeom prst="rect">
            <a:avLst/>
          </a:prstGeom>
          <a:solidFill>
            <a:schemeClr val="lt1">
              <a:alpha val="71372"/>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5" name="Group 4">
            <a:extLst>
              <a:ext uri="{FF2B5EF4-FFF2-40B4-BE49-F238E27FC236}">
                <a16:creationId xmlns:a16="http://schemas.microsoft.com/office/drawing/2014/main" id="{B63C8D7A-5A98-085B-A4CC-E7A31046D98D}"/>
              </a:ext>
            </a:extLst>
          </p:cNvPr>
          <p:cNvGrpSpPr/>
          <p:nvPr/>
        </p:nvGrpSpPr>
        <p:grpSpPr>
          <a:xfrm>
            <a:off x="4097637" y="1900613"/>
            <a:ext cx="3247876" cy="3275608"/>
            <a:chOff x="4097637" y="1900613"/>
            <a:chExt cx="3247876" cy="3275608"/>
          </a:xfrm>
        </p:grpSpPr>
        <p:sp>
          <p:nvSpPr>
            <p:cNvPr id="2859" name="Google Shape;2859;p26"/>
            <p:cNvSpPr/>
            <p:nvPr/>
          </p:nvSpPr>
          <p:spPr>
            <a:xfrm>
              <a:off x="4097637" y="2893604"/>
              <a:ext cx="3247876" cy="2282617"/>
            </a:xfrm>
            <a:prstGeom prst="roundRect">
              <a:avLst>
                <a:gd name="adj" fmla="val 2356"/>
              </a:avLst>
            </a:prstGeom>
            <a:solidFill>
              <a:srgbClr val="E8E8EA"/>
            </a:solidFill>
            <a:ln>
              <a:solidFill>
                <a:schemeClr val="tx1"/>
              </a:solid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60" name="Google Shape;2860;p26"/>
            <p:cNvSpPr/>
            <p:nvPr/>
          </p:nvSpPr>
          <p:spPr>
            <a:xfrm>
              <a:off x="4190324" y="4122456"/>
              <a:ext cx="3048433" cy="901416"/>
            </a:xfrm>
            <a:prstGeom prst="roundRect">
              <a:avLst>
                <a:gd name="adj" fmla="val 6349"/>
              </a:avLst>
            </a:prstGeom>
            <a:noFill/>
            <a:ln w="25400" cap="flat" cmpd="sng">
              <a:solidFill>
                <a:schemeClr val="accent2"/>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2861" name="Google Shape;2861;p26"/>
            <p:cNvGrpSpPr/>
            <p:nvPr/>
          </p:nvGrpSpPr>
          <p:grpSpPr>
            <a:xfrm>
              <a:off x="6482182" y="4400529"/>
              <a:ext cx="519660" cy="519660"/>
              <a:chOff x="10722212" y="2729558"/>
              <a:chExt cx="663407" cy="663407"/>
            </a:xfrm>
          </p:grpSpPr>
          <p:sp>
            <p:nvSpPr>
              <p:cNvPr id="2862" name="Google Shape;2862;p26"/>
              <p:cNvSpPr/>
              <p:nvPr/>
            </p:nvSpPr>
            <p:spPr>
              <a:xfrm>
                <a:off x="10722212" y="2729558"/>
                <a:ext cx="663407" cy="663407"/>
              </a:xfrm>
              <a:prstGeom prst="ellipse">
                <a:avLst/>
              </a:prstGeom>
              <a:solidFill>
                <a:schemeClr val="accent2"/>
              </a:soli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63" name="Google Shape;2863;p26"/>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864" name="Google Shape;2864;p26"/>
            <p:cNvGrpSpPr/>
            <p:nvPr/>
          </p:nvGrpSpPr>
          <p:grpSpPr>
            <a:xfrm>
              <a:off x="4380967" y="4400310"/>
              <a:ext cx="519660" cy="519660"/>
              <a:chOff x="572541" y="5475121"/>
              <a:chExt cx="663407" cy="663407"/>
            </a:xfrm>
          </p:grpSpPr>
          <p:sp>
            <p:nvSpPr>
              <p:cNvPr id="2865" name="Google Shape;2865;p26"/>
              <p:cNvSpPr/>
              <p:nvPr/>
            </p:nvSpPr>
            <p:spPr>
              <a:xfrm>
                <a:off x="572541" y="5475121"/>
                <a:ext cx="663407" cy="663407"/>
              </a:xfrm>
              <a:prstGeom prst="ellipse">
                <a:avLst/>
              </a:prstGeom>
              <a:solidFill>
                <a:schemeClr val="accent5"/>
              </a:soli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66" name="Google Shape;2866;p26"/>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867" name="Google Shape;2867;p26"/>
            <p:cNvGrpSpPr/>
            <p:nvPr/>
          </p:nvGrpSpPr>
          <p:grpSpPr>
            <a:xfrm>
              <a:off x="5424064" y="4400312"/>
              <a:ext cx="519660" cy="519660"/>
              <a:chOff x="9272259" y="5475121"/>
              <a:chExt cx="663407" cy="663407"/>
            </a:xfrm>
          </p:grpSpPr>
          <p:sp>
            <p:nvSpPr>
              <p:cNvPr id="2868" name="Google Shape;2868;p26"/>
              <p:cNvSpPr/>
              <p:nvPr/>
            </p:nvSpPr>
            <p:spPr>
              <a:xfrm>
                <a:off x="9272259" y="5475121"/>
                <a:ext cx="663407" cy="663407"/>
              </a:xfrm>
              <a:prstGeom prst="ellipse">
                <a:avLst/>
              </a:prstGeom>
              <a:gradFill>
                <a:gsLst>
                  <a:gs pos="0">
                    <a:schemeClr val="accent2"/>
                  </a:gs>
                  <a:gs pos="100000">
                    <a:schemeClr val="accent2"/>
                  </a:gs>
                </a:gsLst>
                <a:lin ang="0" scaled="0"/>
              </a:gra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69" name="Google Shape;2869;p26"/>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2870" name="Google Shape;2870;p26"/>
            <p:cNvSpPr/>
            <p:nvPr/>
          </p:nvSpPr>
          <p:spPr>
            <a:xfrm>
              <a:off x="4254762" y="3019567"/>
              <a:ext cx="2931032" cy="429809"/>
            </a:xfrm>
            <a:prstGeom prst="roundRect">
              <a:avLst>
                <a:gd name="adj" fmla="val 50000"/>
              </a:avLst>
            </a:prstGeom>
            <a:solidFill>
              <a:schemeClr val="lt1"/>
            </a:solidFill>
            <a:ln w="25400" cap="flat" cmpd="sng">
              <a:solidFill>
                <a:schemeClr val="accent5"/>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         </a:t>
              </a: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VMware Cloud Foundation Instance</a:t>
              </a:r>
              <a:endParaRPr kumimoji="0" sz="1000" b="0" i="0" u="none" strike="noStrike" kern="1200" cap="none" spc="0" normalizeH="0" baseline="0" noProof="0" dirty="0">
                <a:ln>
                  <a:noFill/>
                </a:ln>
                <a:solidFill>
                  <a:srgbClr val="000000"/>
                </a:solidFill>
                <a:effectLst/>
                <a:uLnTx/>
                <a:uFillTx/>
                <a:latin typeface="Arial"/>
                <a:ea typeface="Arial"/>
                <a:cs typeface="Arial"/>
                <a:sym typeface="Arial"/>
              </a:endParaRPr>
            </a:p>
          </p:txBody>
        </p:sp>
        <p:pic>
          <p:nvPicPr>
            <p:cNvPr id="2871" name="Google Shape;2871;p26"/>
            <p:cNvPicPr preferRelativeResize="0"/>
            <p:nvPr/>
          </p:nvPicPr>
          <p:blipFill rotWithShape="1">
            <a:blip r:embed="rId3">
              <a:alphaModFix/>
            </a:blip>
            <a:srcRect/>
            <a:stretch/>
          </p:blipFill>
          <p:spPr>
            <a:xfrm>
              <a:off x="4511014" y="3063045"/>
              <a:ext cx="289251" cy="317890"/>
            </a:xfrm>
            <a:prstGeom prst="rect">
              <a:avLst/>
            </a:prstGeom>
            <a:noFill/>
            <a:ln>
              <a:noFill/>
            </a:ln>
          </p:spPr>
        </p:pic>
        <p:sp>
          <p:nvSpPr>
            <p:cNvPr id="2872" name="Google Shape;2872;p26"/>
            <p:cNvSpPr/>
            <p:nvPr/>
          </p:nvSpPr>
          <p:spPr>
            <a:xfrm>
              <a:off x="4198064" y="3539076"/>
              <a:ext cx="1452081" cy="456619"/>
            </a:xfrm>
            <a:prstGeom prst="roundRect">
              <a:avLst>
                <a:gd name="adj" fmla="val 6349"/>
              </a:avLst>
            </a:prstGeom>
            <a:solidFill>
              <a:schemeClr val="accent5"/>
            </a:soli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1000" b="1" i="0" u="none" strike="noStrike" kern="1200" cap="none" spc="0" normalizeH="0" baseline="0" noProof="0">
                  <a:ln>
                    <a:noFill/>
                  </a:ln>
                  <a:solidFill>
                    <a:srgbClr val="FFFFFF"/>
                  </a:solidFill>
                  <a:effectLst/>
                  <a:uLnTx/>
                  <a:uFillTx/>
                  <a:latin typeface="Arial"/>
                  <a:ea typeface="Arial"/>
                  <a:cs typeface="Arial"/>
                  <a:sym typeface="Arial"/>
                </a:rPr>
                <a:t>vCenter Server</a:t>
              </a:r>
              <a:endParaRPr kumimoji="0" sz="100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73" name="Google Shape;2873;p26"/>
            <p:cNvSpPr txBox="1"/>
            <p:nvPr/>
          </p:nvSpPr>
          <p:spPr>
            <a:xfrm>
              <a:off x="5065105" y="4196412"/>
              <a:ext cx="1249804" cy="13849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5C8A"/>
                </a:buClr>
                <a:buSzPts val="900"/>
                <a:buFont typeface="Arial"/>
                <a:buNone/>
                <a:tabLst/>
                <a:defRPr/>
              </a:pPr>
              <a:r>
                <a:rPr kumimoji="0" lang="en-US" sz="900" b="1" i="0" u="none" strike="noStrike" kern="1200" cap="none" spc="0" normalizeH="0" baseline="0" noProof="0" dirty="0">
                  <a:ln>
                    <a:noFill/>
                  </a:ln>
                  <a:solidFill>
                    <a:srgbClr val="005C8A"/>
                  </a:solidFill>
                  <a:effectLst/>
                  <a:uLnTx/>
                  <a:uFillTx/>
                  <a:latin typeface="Arial"/>
                  <a:ea typeface="Arial"/>
                  <a:cs typeface="Arial"/>
                  <a:sym typeface="Arial"/>
                </a:rPr>
                <a:t>Core Infrastructure</a:t>
              </a: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874" name="Google Shape;2874;p26"/>
            <p:cNvSpPr/>
            <p:nvPr/>
          </p:nvSpPr>
          <p:spPr>
            <a:xfrm>
              <a:off x="5750568" y="3535687"/>
              <a:ext cx="1498764" cy="456619"/>
            </a:xfrm>
            <a:prstGeom prst="roundRect">
              <a:avLst>
                <a:gd name="adj" fmla="val 6349"/>
              </a:avLst>
            </a:prstGeom>
            <a:solidFill>
              <a:schemeClr val="accent2"/>
            </a:soli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1000" b="1" i="0" u="none" strike="noStrike" kern="1200" cap="none" spc="0" normalizeH="0" baseline="0" noProof="0">
                  <a:ln>
                    <a:noFill/>
                  </a:ln>
                  <a:solidFill>
                    <a:srgbClr val="FFFFFF"/>
                  </a:solidFill>
                  <a:effectLst/>
                  <a:uLnTx/>
                  <a:uFillTx/>
                  <a:latin typeface="Arial"/>
                  <a:ea typeface="Arial"/>
                  <a:cs typeface="Arial"/>
                  <a:sym typeface="Arial"/>
                </a:rPr>
                <a:t>NSX Manager</a:t>
              </a:r>
              <a:endParaRPr kumimoji="0" sz="100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 name="Google Shape;2875;p26">
              <a:extLst>
                <a:ext uri="{FF2B5EF4-FFF2-40B4-BE49-F238E27FC236}">
                  <a16:creationId xmlns:a16="http://schemas.microsoft.com/office/drawing/2014/main" id="{E7BEC20F-156E-F553-50E0-3581CE8159A1}"/>
                </a:ext>
              </a:extLst>
            </p:cNvPr>
            <p:cNvSpPr/>
            <p:nvPr/>
          </p:nvSpPr>
          <p:spPr>
            <a:xfrm>
              <a:off x="4200904" y="1900613"/>
              <a:ext cx="3048431" cy="408770"/>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1000" b="1" i="0" u="none" strike="noStrike" kern="1200" cap="none" spc="0" normalizeH="0" baseline="0" noProof="0" dirty="0">
                  <a:ln>
                    <a:noFill/>
                  </a:ln>
                  <a:solidFill>
                    <a:srgbClr val="FFFFFF"/>
                  </a:solidFill>
                  <a:effectLst/>
                  <a:uLnTx/>
                  <a:uFillTx/>
                  <a:latin typeface="Arial"/>
                  <a:ea typeface="Arial"/>
                  <a:cs typeface="Arial"/>
                  <a:sym typeface="Arial"/>
                </a:rPr>
                <a:t>VCF Automation</a:t>
              </a:r>
              <a:endParaRPr kumimoji="0" sz="10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8" name="Google Shape;2877;p26">
              <a:extLst>
                <a:ext uri="{FF2B5EF4-FFF2-40B4-BE49-F238E27FC236}">
                  <a16:creationId xmlns:a16="http://schemas.microsoft.com/office/drawing/2014/main" id="{4D307544-976E-7F52-B7B0-6D3B21D851C4}"/>
                </a:ext>
              </a:extLst>
            </p:cNvPr>
            <p:cNvSpPr/>
            <p:nvPr/>
          </p:nvSpPr>
          <p:spPr>
            <a:xfrm>
              <a:off x="4197360" y="2399726"/>
              <a:ext cx="3051976" cy="429809"/>
            </a:xfrm>
            <a:prstGeom prst="roundRect">
              <a:avLst>
                <a:gd name="adj" fmla="val 6349"/>
              </a:avLst>
            </a:prstGeom>
            <a:gradFill>
              <a:gsLst>
                <a:gs pos="0">
                  <a:schemeClr val="accent1"/>
                </a:gs>
                <a:gs pos="99000">
                  <a:schemeClr val="accent3"/>
                </a:gs>
                <a:gs pos="100000">
                  <a:schemeClr val="accent3"/>
                </a:gs>
              </a:gsLst>
              <a:lin ang="18900044" scaled="0"/>
            </a:gra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1000" b="1" i="0" u="none" strike="noStrike" kern="1200" cap="none" spc="0" normalizeH="0" baseline="0" noProof="0" dirty="0">
                  <a:ln>
                    <a:noFill/>
                  </a:ln>
                  <a:solidFill>
                    <a:srgbClr val="FFFFFF"/>
                  </a:solidFill>
                  <a:effectLst/>
                  <a:uLnTx/>
                  <a:uFillTx/>
                  <a:latin typeface="Arial"/>
                  <a:ea typeface="Arial"/>
                  <a:cs typeface="Arial"/>
                  <a:sym typeface="Arial"/>
                </a:rPr>
                <a:t>VCF Operations</a:t>
              </a:r>
              <a:endParaRPr kumimoji="0" sz="1000" b="1"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sp>
        <p:nvSpPr>
          <p:cNvPr id="3" name="Google Shape;6678;g2d30ebb658d_0_19789">
            <a:extLst>
              <a:ext uri="{FF2B5EF4-FFF2-40B4-BE49-F238E27FC236}">
                <a16:creationId xmlns:a16="http://schemas.microsoft.com/office/drawing/2014/main" id="{442396B8-4359-CF59-6524-64A845AB6CCC}"/>
              </a:ext>
            </a:extLst>
          </p:cNvPr>
          <p:cNvSpPr/>
          <p:nvPr/>
        </p:nvSpPr>
        <p:spPr>
          <a:xfrm>
            <a:off x="3998880" y="1633136"/>
            <a:ext cx="3454744" cy="3676833"/>
          </a:xfrm>
          <a:prstGeom prst="roundRect">
            <a:avLst>
              <a:gd name="adj" fmla="val 2356"/>
            </a:avLst>
          </a:prstGeom>
          <a:solidFill>
            <a:schemeClr val="bg1">
              <a:alpha val="9770"/>
            </a:schemeClr>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7" name="Rectangle 16">
            <a:extLst>
              <a:ext uri="{FF2B5EF4-FFF2-40B4-BE49-F238E27FC236}">
                <a16:creationId xmlns:a16="http://schemas.microsoft.com/office/drawing/2014/main" id="{9F3F68C4-5442-9E32-5C83-68CA6DBC154B}"/>
              </a:ext>
            </a:extLst>
          </p:cNvPr>
          <p:cNvSpPr/>
          <p:nvPr/>
        </p:nvSpPr>
        <p:spPr bwMode="gray">
          <a:xfrm>
            <a:off x="4039690" y="1681638"/>
            <a:ext cx="3386544" cy="166041"/>
          </a:xfrm>
          <a:prstGeom prst="rect">
            <a:avLst/>
          </a:prstGeom>
          <a:solidFill>
            <a:srgbClr val="F1EDF6"/>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76"/>
                                        </p:tgtEl>
                                        <p:attrNameLst>
                                          <p:attrName>style.visibility</p:attrName>
                                        </p:attrNameLst>
                                      </p:cBhvr>
                                      <p:to>
                                        <p:strVal val="visible"/>
                                      </p:to>
                                    </p:set>
                                    <p:animEffect transition="in" filter="fade">
                                      <p:cBhvr>
                                        <p:cTn id="7" dur="500"/>
                                        <p:tgtEl>
                                          <p:spTgt spid="287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878"/>
                                        </p:tgtEl>
                                        <p:attrNameLst>
                                          <p:attrName>style.visibility</p:attrName>
                                        </p:attrNameLst>
                                      </p:cBhvr>
                                      <p:to>
                                        <p:strVal val="visible"/>
                                      </p:to>
                                    </p:set>
                                    <p:animEffect transition="in" filter="fade">
                                      <p:cBhvr>
                                        <p:cTn id="11" dur="500"/>
                                        <p:tgtEl>
                                          <p:spTgt spid="287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898"/>
                                        </p:tgtEl>
                                        <p:attrNameLst>
                                          <p:attrName>style.visibility</p:attrName>
                                        </p:attrNameLst>
                                      </p:cBhvr>
                                      <p:to>
                                        <p:strVal val="visible"/>
                                      </p:to>
                                    </p:set>
                                    <p:animEffect transition="in" filter="fade">
                                      <p:cBhvr>
                                        <p:cTn id="16" dur="500"/>
                                        <p:tgtEl>
                                          <p:spTgt spid="2898"/>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2899"/>
                                        </p:tgtEl>
                                        <p:attrNameLst>
                                          <p:attrName>style.visibility</p:attrName>
                                        </p:attrNameLst>
                                      </p:cBhvr>
                                      <p:to>
                                        <p:strVal val="visible"/>
                                      </p:to>
                                    </p:set>
                                    <p:animEffect transition="in" filter="fade">
                                      <p:cBhvr>
                                        <p:cTn id="20" dur="500"/>
                                        <p:tgtEl>
                                          <p:spTgt spid="289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xit" presetSubtype="1" fill="hold" grpId="0" nodeType="clickEffect">
                                  <p:stCondLst>
                                    <p:cond delay="0"/>
                                  </p:stCondLst>
                                  <p:childTnLst>
                                    <p:animEffect transition="out" filter="wipe(up)">
                                      <p:cBhvr>
                                        <p:cTn id="24" dur="500"/>
                                        <p:tgtEl>
                                          <p:spTgt spid="3"/>
                                        </p:tgtEl>
                                      </p:cBhvr>
                                    </p:animEffect>
                                    <p:set>
                                      <p:cBhvr>
                                        <p:cTn id="25" dur="1" fill="hold">
                                          <p:stCondLst>
                                            <p:cond delay="499"/>
                                          </p:stCondLst>
                                        </p:cTn>
                                        <p:tgtEl>
                                          <p:spTgt spid="3"/>
                                        </p:tgtEl>
                                        <p:attrNameLst>
                                          <p:attrName>style.visibility</p:attrName>
                                        </p:attrNameLst>
                                      </p:cBhvr>
                                      <p:to>
                                        <p:strVal val="hidden"/>
                                      </p:to>
                                    </p:set>
                                  </p:childTnLst>
                                </p:cTn>
                              </p:par>
                              <p:par>
                                <p:cTn id="26" presetID="22" presetClass="exit" presetSubtype="1" fill="hold" grpId="0" nodeType="withEffect">
                                  <p:stCondLst>
                                    <p:cond delay="0"/>
                                  </p:stCondLst>
                                  <p:childTnLst>
                                    <p:animEffect transition="out" filter="wipe(up)">
                                      <p:cBhvr>
                                        <p:cTn id="27" dur="500"/>
                                        <p:tgtEl>
                                          <p:spTgt spid="16"/>
                                        </p:tgtEl>
                                      </p:cBhvr>
                                    </p:animEffect>
                                    <p:set>
                                      <p:cBhvr>
                                        <p:cTn id="28" dur="1" fill="hold">
                                          <p:stCondLst>
                                            <p:cond delay="499"/>
                                          </p:stCondLst>
                                        </p:cTn>
                                        <p:tgtEl>
                                          <p:spTgt spid="16"/>
                                        </p:tgtEl>
                                        <p:attrNameLst>
                                          <p:attrName>style.visibility</p:attrName>
                                        </p:attrNameLst>
                                      </p:cBhvr>
                                      <p:to>
                                        <p:strVal val="hidden"/>
                                      </p:to>
                                    </p:set>
                                  </p:childTnLst>
                                </p:cTn>
                              </p:par>
                              <p:par>
                                <p:cTn id="29" presetID="9" presetClass="exit" presetSubtype="0" fill="hold" grpId="0" nodeType="withEffect">
                                  <p:stCondLst>
                                    <p:cond delay="0"/>
                                  </p:stCondLst>
                                  <p:childTnLst>
                                    <p:animEffect transition="out" filter="dissolve">
                                      <p:cBhvr>
                                        <p:cTn id="30" dur="500"/>
                                        <p:tgtEl>
                                          <p:spTgt spid="17"/>
                                        </p:tgtEl>
                                      </p:cBhvr>
                                    </p:animEffect>
                                    <p:set>
                                      <p:cBhvr>
                                        <p:cTn id="31" dur="1" fill="hold">
                                          <p:stCondLst>
                                            <p:cond delay="499"/>
                                          </p:stCondLst>
                                        </p:cTn>
                                        <p:tgtEl>
                                          <p:spTgt spid="17"/>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928"/>
                                        </p:tgtEl>
                                        <p:attrNameLst>
                                          <p:attrName>style.visibility</p:attrName>
                                        </p:attrNameLst>
                                      </p:cBhvr>
                                      <p:to>
                                        <p:strVal val="visible"/>
                                      </p:to>
                                    </p:set>
                                    <p:animEffect transition="in" filter="fade">
                                      <p:cBhvr>
                                        <p:cTn id="36" dur="500"/>
                                        <p:tgtEl>
                                          <p:spTgt spid="29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3" grpId="0" animBg="1"/>
      <p:bldP spid="1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3DA9D-DCD2-B0E7-6747-B17651C57A54}"/>
            </a:ext>
          </a:extLst>
        </p:cNvPr>
        <p:cNvGrpSpPr/>
        <p:nvPr/>
      </p:nvGrpSpPr>
      <p:grpSpPr>
        <a:xfrm>
          <a:off x="0" y="0"/>
          <a:ext cx="0" cy="0"/>
          <a:chOff x="0" y="0"/>
          <a:chExt cx="0" cy="0"/>
        </a:xfrm>
      </p:grpSpPr>
      <p:sp>
        <p:nvSpPr>
          <p:cNvPr id="9" name="Google Shape;1527;p8">
            <a:extLst>
              <a:ext uri="{FF2B5EF4-FFF2-40B4-BE49-F238E27FC236}">
                <a16:creationId xmlns:a16="http://schemas.microsoft.com/office/drawing/2014/main" id="{34AD10AD-CDCA-CEC2-C665-D671CECB47AD}"/>
              </a:ext>
            </a:extLst>
          </p:cNvPr>
          <p:cNvSpPr/>
          <p:nvPr/>
        </p:nvSpPr>
        <p:spPr>
          <a:xfrm>
            <a:off x="414594" y="1600678"/>
            <a:ext cx="7785520" cy="4435484"/>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 name="Title 1">
            <a:extLst>
              <a:ext uri="{FF2B5EF4-FFF2-40B4-BE49-F238E27FC236}">
                <a16:creationId xmlns:a16="http://schemas.microsoft.com/office/drawing/2014/main" id="{0E67501C-84D7-FFC5-F2BF-260F8BE32131}"/>
              </a:ext>
            </a:extLst>
          </p:cNvPr>
          <p:cNvSpPr>
            <a:spLocks noGrp="1"/>
          </p:cNvSpPr>
          <p:nvPr>
            <p:ph type="title"/>
          </p:nvPr>
        </p:nvSpPr>
        <p:spPr>
          <a:xfrm>
            <a:off x="581245" y="413536"/>
            <a:ext cx="10998139" cy="380901"/>
          </a:xfrm>
        </p:spPr>
        <p:txBody>
          <a:bodyPr/>
          <a:lstStyle/>
          <a:p>
            <a:r>
              <a:rPr lang="en-US" dirty="0"/>
              <a:t>Fleet Management – Consolidating Related Activities</a:t>
            </a:r>
          </a:p>
        </p:txBody>
      </p:sp>
      <p:sp>
        <p:nvSpPr>
          <p:cNvPr id="3" name="Subtitle 2">
            <a:extLst>
              <a:ext uri="{FF2B5EF4-FFF2-40B4-BE49-F238E27FC236}">
                <a16:creationId xmlns:a16="http://schemas.microsoft.com/office/drawing/2014/main" id="{A67F9E5F-EB9B-D4D3-1028-C449DC143197}"/>
              </a:ext>
            </a:extLst>
          </p:cNvPr>
          <p:cNvSpPr>
            <a:spLocks noGrp="1"/>
          </p:cNvSpPr>
          <p:nvPr>
            <p:ph type="subTitle" idx="10"/>
          </p:nvPr>
        </p:nvSpPr>
        <p:spPr>
          <a:xfrm>
            <a:off x="594300" y="812513"/>
            <a:ext cx="10959832" cy="247678"/>
          </a:xfrm>
        </p:spPr>
        <p:txBody>
          <a:bodyPr/>
          <a:lstStyle/>
          <a:p>
            <a:r>
              <a:rPr lang="en-US" dirty="0"/>
              <a:t>Quickly access common fleet management tasks in VCF Operations</a:t>
            </a:r>
          </a:p>
        </p:txBody>
      </p:sp>
      <p:sp>
        <p:nvSpPr>
          <p:cNvPr id="4" name="Text Placeholder 3">
            <a:extLst>
              <a:ext uri="{FF2B5EF4-FFF2-40B4-BE49-F238E27FC236}">
                <a16:creationId xmlns:a16="http://schemas.microsoft.com/office/drawing/2014/main" id="{7C933F40-5E66-5369-E880-6B0ACA544991}"/>
              </a:ext>
            </a:extLst>
          </p:cNvPr>
          <p:cNvSpPr>
            <a:spLocks noGrp="1"/>
          </p:cNvSpPr>
          <p:nvPr>
            <p:ph type="body" sz="quarter" idx="17"/>
          </p:nvPr>
        </p:nvSpPr>
        <p:spPr>
          <a:xfrm>
            <a:off x="8379818" y="1600676"/>
            <a:ext cx="3807420" cy="4570809"/>
          </a:xfrm>
        </p:spPr>
        <p:txBody>
          <a:bodyPr/>
          <a:lstStyle/>
          <a:p>
            <a:r>
              <a:rPr lang="en-US" dirty="0"/>
              <a:t>Fleet Management is a new section in VCF Operations</a:t>
            </a:r>
          </a:p>
          <a:p>
            <a:r>
              <a:rPr lang="en-US" dirty="0"/>
              <a:t>It consolidates access to essential administrative tasks for the infrastructure and management components</a:t>
            </a:r>
          </a:p>
          <a:p>
            <a:r>
              <a:rPr lang="en-US" dirty="0"/>
              <a:t>Now, related activities such as setting up VCF SSO and managing certificates and passwords are all in one central place</a:t>
            </a:r>
          </a:p>
        </p:txBody>
      </p:sp>
      <p:pic>
        <p:nvPicPr>
          <p:cNvPr id="8" name="Content Placeholder 7" descr="A screenshot of a computer&#10;&#10;AI-generated content may be incorrect.">
            <a:extLst>
              <a:ext uri="{FF2B5EF4-FFF2-40B4-BE49-F238E27FC236}">
                <a16:creationId xmlns:a16="http://schemas.microsoft.com/office/drawing/2014/main" id="{B3E2186E-366B-60C3-6647-D0A63AB9B43B}"/>
              </a:ext>
            </a:extLst>
          </p:cNvPr>
          <p:cNvPicPr preferRelativeResize="0">
            <a:picLocks noGrp="1" noChangeAspect="1"/>
          </p:cNvPicPr>
          <p:nvPr>
            <p:ph sz="quarter" idx="14"/>
          </p:nvPr>
        </p:nvPicPr>
        <p:blipFill>
          <a:blip r:embed="rId3"/>
          <a:stretch>
            <a:fillRect/>
          </a:stretch>
        </p:blipFill>
        <p:spPr>
          <a:xfrm>
            <a:off x="492085" y="1675880"/>
            <a:ext cx="7629810" cy="4065885"/>
          </a:xfrm>
        </p:spPr>
      </p:pic>
    </p:spTree>
    <p:extLst>
      <p:ext uri="{BB962C8B-B14F-4D97-AF65-F5344CB8AC3E}">
        <p14:creationId xmlns:p14="http://schemas.microsoft.com/office/powerpoint/2010/main" val="2678309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BBAC8-9326-8F73-5679-120B73410D77}"/>
            </a:ext>
          </a:extLst>
        </p:cNvPr>
        <p:cNvGrpSpPr/>
        <p:nvPr/>
      </p:nvGrpSpPr>
      <p:grpSpPr>
        <a:xfrm>
          <a:off x="0" y="0"/>
          <a:ext cx="0" cy="0"/>
          <a:chOff x="0" y="0"/>
          <a:chExt cx="0" cy="0"/>
        </a:xfrm>
      </p:grpSpPr>
      <p:sp>
        <p:nvSpPr>
          <p:cNvPr id="9" name="Google Shape;1527;p8">
            <a:extLst>
              <a:ext uri="{FF2B5EF4-FFF2-40B4-BE49-F238E27FC236}">
                <a16:creationId xmlns:a16="http://schemas.microsoft.com/office/drawing/2014/main" id="{A5FB7AA3-F6DF-5532-CD7B-3205AA523F81}"/>
              </a:ext>
            </a:extLst>
          </p:cNvPr>
          <p:cNvSpPr/>
          <p:nvPr/>
        </p:nvSpPr>
        <p:spPr>
          <a:xfrm>
            <a:off x="407021" y="1600678"/>
            <a:ext cx="7773681" cy="4435484"/>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 name="Title 1">
            <a:extLst>
              <a:ext uri="{FF2B5EF4-FFF2-40B4-BE49-F238E27FC236}">
                <a16:creationId xmlns:a16="http://schemas.microsoft.com/office/drawing/2014/main" id="{F36C3464-153B-66BD-EC20-51362750442F}"/>
              </a:ext>
            </a:extLst>
          </p:cNvPr>
          <p:cNvSpPr>
            <a:spLocks noGrp="1"/>
          </p:cNvSpPr>
          <p:nvPr>
            <p:ph type="title"/>
          </p:nvPr>
        </p:nvSpPr>
        <p:spPr/>
        <p:txBody>
          <a:bodyPr/>
          <a:lstStyle/>
          <a:p>
            <a:r>
              <a:rPr lang="en-US" dirty="0"/>
              <a:t>Consistent Binary Download Workflows</a:t>
            </a:r>
          </a:p>
        </p:txBody>
      </p:sp>
      <p:sp>
        <p:nvSpPr>
          <p:cNvPr id="3" name="Subtitle 2">
            <a:extLst>
              <a:ext uri="{FF2B5EF4-FFF2-40B4-BE49-F238E27FC236}">
                <a16:creationId xmlns:a16="http://schemas.microsoft.com/office/drawing/2014/main" id="{FF9ABA8F-4013-E6DD-1C93-3B8F3BDF529F}"/>
              </a:ext>
            </a:extLst>
          </p:cNvPr>
          <p:cNvSpPr>
            <a:spLocks noGrp="1"/>
          </p:cNvSpPr>
          <p:nvPr>
            <p:ph type="subTitle" idx="10"/>
          </p:nvPr>
        </p:nvSpPr>
        <p:spPr/>
        <p:txBody>
          <a:bodyPr/>
          <a:lstStyle/>
          <a:p>
            <a:r>
              <a:rPr lang="en-US" dirty="0"/>
              <a:t>Configure depot and download necessary binaries for all VCF components</a:t>
            </a:r>
          </a:p>
        </p:txBody>
      </p:sp>
      <p:sp>
        <p:nvSpPr>
          <p:cNvPr id="4" name="Text Placeholder 3">
            <a:extLst>
              <a:ext uri="{FF2B5EF4-FFF2-40B4-BE49-F238E27FC236}">
                <a16:creationId xmlns:a16="http://schemas.microsoft.com/office/drawing/2014/main" id="{39DBD941-DCC9-55B4-3904-3114AF572E0D}"/>
              </a:ext>
            </a:extLst>
          </p:cNvPr>
          <p:cNvSpPr>
            <a:spLocks noGrp="1"/>
          </p:cNvSpPr>
          <p:nvPr>
            <p:ph type="body" sz="quarter" idx="17"/>
          </p:nvPr>
        </p:nvSpPr>
        <p:spPr/>
        <p:txBody>
          <a:bodyPr/>
          <a:lstStyle/>
          <a:p>
            <a:r>
              <a:rPr lang="en-US" dirty="0"/>
              <a:t>Download all upgrade, patch, and install binaries for VCF infrastructure and VCF management components</a:t>
            </a:r>
          </a:p>
          <a:p>
            <a:r>
              <a:rPr lang="en-US" dirty="0"/>
              <a:t>Configure online or offline depots, with proxy support if required</a:t>
            </a:r>
          </a:p>
          <a:p>
            <a:r>
              <a:rPr lang="en-US" dirty="0"/>
              <a:t>Proxy also accommodates authentication where required</a:t>
            </a:r>
          </a:p>
          <a:p>
            <a:endParaRPr lang="en-US" dirty="0"/>
          </a:p>
        </p:txBody>
      </p:sp>
      <p:pic>
        <p:nvPicPr>
          <p:cNvPr id="14" name="Content Placeholder 13">
            <a:extLst>
              <a:ext uri="{FF2B5EF4-FFF2-40B4-BE49-F238E27FC236}">
                <a16:creationId xmlns:a16="http://schemas.microsoft.com/office/drawing/2014/main" id="{2706D941-9311-C815-CA54-8029B03D6608}"/>
              </a:ext>
            </a:extLst>
          </p:cNvPr>
          <p:cNvPicPr preferRelativeResize="0">
            <a:picLocks noGrp="1" noChangeAspect="1"/>
          </p:cNvPicPr>
          <p:nvPr>
            <p:ph sz="quarter" idx="14"/>
          </p:nvPr>
        </p:nvPicPr>
        <p:blipFill>
          <a:blip r:embed="rId3"/>
          <a:stretch>
            <a:fillRect/>
          </a:stretch>
        </p:blipFill>
        <p:spPr>
          <a:xfrm>
            <a:off x="485261" y="1675845"/>
            <a:ext cx="7616952" cy="3956440"/>
          </a:xfrm>
          <a:prstGeom prst="rect">
            <a:avLst/>
          </a:prstGeom>
        </p:spPr>
      </p:pic>
    </p:spTree>
    <p:extLst>
      <p:ext uri="{BB962C8B-B14F-4D97-AF65-F5344CB8AC3E}">
        <p14:creationId xmlns:p14="http://schemas.microsoft.com/office/powerpoint/2010/main" val="1221258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9847B-A5F1-1B63-596E-42266E5B414C}"/>
            </a:ext>
          </a:extLst>
        </p:cNvPr>
        <p:cNvGrpSpPr/>
        <p:nvPr/>
      </p:nvGrpSpPr>
      <p:grpSpPr>
        <a:xfrm>
          <a:off x="0" y="0"/>
          <a:ext cx="0" cy="0"/>
          <a:chOff x="0" y="0"/>
          <a:chExt cx="0" cy="0"/>
        </a:xfrm>
      </p:grpSpPr>
      <p:sp>
        <p:nvSpPr>
          <p:cNvPr id="16" name="Google Shape;1527;p8">
            <a:extLst>
              <a:ext uri="{FF2B5EF4-FFF2-40B4-BE49-F238E27FC236}">
                <a16:creationId xmlns:a16="http://schemas.microsoft.com/office/drawing/2014/main" id="{3A5D66C5-3C9D-4EC3-450E-214A386B6655}"/>
              </a:ext>
            </a:extLst>
          </p:cNvPr>
          <p:cNvSpPr/>
          <p:nvPr/>
        </p:nvSpPr>
        <p:spPr>
          <a:xfrm>
            <a:off x="594298" y="1610006"/>
            <a:ext cx="7438027" cy="4004414"/>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 name="Title 1">
            <a:extLst>
              <a:ext uri="{FF2B5EF4-FFF2-40B4-BE49-F238E27FC236}">
                <a16:creationId xmlns:a16="http://schemas.microsoft.com/office/drawing/2014/main" id="{048A51DF-23B6-C8D0-0E35-A9D75F686E91}"/>
              </a:ext>
            </a:extLst>
          </p:cNvPr>
          <p:cNvSpPr>
            <a:spLocks noGrp="1"/>
          </p:cNvSpPr>
          <p:nvPr>
            <p:ph type="title"/>
          </p:nvPr>
        </p:nvSpPr>
        <p:spPr>
          <a:xfrm>
            <a:off x="581245" y="413536"/>
            <a:ext cx="10998139" cy="380901"/>
          </a:xfrm>
        </p:spPr>
        <p:txBody>
          <a:bodyPr/>
          <a:lstStyle/>
          <a:p>
            <a:r>
              <a:rPr lang="en-US" dirty="0"/>
              <a:t>Centralized Fleet Lifecycle Management</a:t>
            </a:r>
          </a:p>
        </p:txBody>
      </p:sp>
      <p:sp>
        <p:nvSpPr>
          <p:cNvPr id="3" name="Subtitle 2">
            <a:extLst>
              <a:ext uri="{FF2B5EF4-FFF2-40B4-BE49-F238E27FC236}">
                <a16:creationId xmlns:a16="http://schemas.microsoft.com/office/drawing/2014/main" id="{524357AD-8A2D-1675-07D1-BB2FC836532D}"/>
              </a:ext>
            </a:extLst>
          </p:cNvPr>
          <p:cNvSpPr>
            <a:spLocks noGrp="1"/>
          </p:cNvSpPr>
          <p:nvPr>
            <p:ph type="subTitle" idx="10"/>
          </p:nvPr>
        </p:nvSpPr>
        <p:spPr>
          <a:xfrm>
            <a:off x="594300" y="812513"/>
            <a:ext cx="10959832" cy="247678"/>
          </a:xfrm>
        </p:spPr>
        <p:txBody>
          <a:bodyPr/>
          <a:lstStyle/>
          <a:p>
            <a:r>
              <a:rPr lang="en-US"/>
              <a:t>One interface to patch, upgrade, and deploy VCF components</a:t>
            </a:r>
            <a:endParaRPr lang="en-US" dirty="0"/>
          </a:p>
        </p:txBody>
      </p:sp>
      <p:sp>
        <p:nvSpPr>
          <p:cNvPr id="4" name="Text Placeholder 3">
            <a:extLst>
              <a:ext uri="{FF2B5EF4-FFF2-40B4-BE49-F238E27FC236}">
                <a16:creationId xmlns:a16="http://schemas.microsoft.com/office/drawing/2014/main" id="{5DFE63C9-30C7-769F-E131-D28802C024B6}"/>
              </a:ext>
            </a:extLst>
          </p:cNvPr>
          <p:cNvSpPr>
            <a:spLocks noGrp="1"/>
          </p:cNvSpPr>
          <p:nvPr>
            <p:ph type="body" sz="quarter" idx="17"/>
          </p:nvPr>
        </p:nvSpPr>
        <p:spPr>
          <a:xfrm>
            <a:off x="8379818" y="1600676"/>
            <a:ext cx="3807420" cy="4570809"/>
          </a:xfrm>
        </p:spPr>
        <p:txBody>
          <a:bodyPr/>
          <a:lstStyle/>
          <a:p>
            <a:r>
              <a:rPr lang="en-US" dirty="0"/>
              <a:t>VCF Operations UI drives lifecycle management via appliances:</a:t>
            </a:r>
          </a:p>
          <a:p>
            <a:pPr lvl="1"/>
            <a:r>
              <a:rPr lang="en-US" dirty="0"/>
              <a:t>VCF Instances </a:t>
            </a:r>
            <a:r>
              <a:rPr lang="en-US" dirty="0">
                <a:sym typeface="Wingdings" pitchFamily="2" charset="2"/>
              </a:rPr>
              <a:t> SDDC Manager</a:t>
            </a:r>
          </a:p>
          <a:p>
            <a:pPr lvl="1"/>
            <a:r>
              <a:rPr lang="en-US" dirty="0">
                <a:sym typeface="Wingdings" pitchFamily="2" charset="2"/>
              </a:rPr>
              <a:t>VCF Management  Fleet Management</a:t>
            </a:r>
          </a:p>
          <a:p>
            <a:endParaRPr lang="en-US" dirty="0">
              <a:sym typeface="Wingdings" pitchFamily="2" charset="2"/>
            </a:endParaRPr>
          </a:p>
          <a:p>
            <a:r>
              <a:rPr lang="en-US" dirty="0">
                <a:sym typeface="Wingdings" pitchFamily="2" charset="2"/>
              </a:rPr>
              <a:t>Familiar prechecks &amp; upgrade/patch planning workflows</a:t>
            </a:r>
          </a:p>
          <a:p>
            <a:endParaRPr lang="en-US" dirty="0">
              <a:sym typeface="Wingdings" pitchFamily="2" charset="2"/>
            </a:endParaRPr>
          </a:p>
          <a:p>
            <a:r>
              <a:rPr lang="en-US" dirty="0">
                <a:sym typeface="Wingdings" pitchFamily="2" charset="2"/>
              </a:rPr>
              <a:t>Flexible connectivity scenarios</a:t>
            </a:r>
          </a:p>
          <a:p>
            <a:pPr lvl="1"/>
            <a:r>
              <a:rPr lang="en-US" dirty="0">
                <a:sym typeface="Wingdings" pitchFamily="2" charset="2"/>
              </a:rPr>
              <a:t>Online and offline depots</a:t>
            </a:r>
          </a:p>
          <a:p>
            <a:pPr lvl="1"/>
            <a:r>
              <a:rPr lang="en-US" dirty="0">
                <a:sym typeface="Wingdings" pitchFamily="2" charset="2"/>
              </a:rPr>
              <a:t>Proxy server with authentication</a:t>
            </a:r>
            <a:endParaRPr lang="en-US" dirty="0"/>
          </a:p>
        </p:txBody>
      </p:sp>
      <p:pic>
        <p:nvPicPr>
          <p:cNvPr id="6" name="Picture 5">
            <a:extLst>
              <a:ext uri="{FF2B5EF4-FFF2-40B4-BE49-F238E27FC236}">
                <a16:creationId xmlns:a16="http://schemas.microsoft.com/office/drawing/2014/main" id="{ED98D11C-EF63-7BFE-387E-0599DFE66999}"/>
              </a:ext>
            </a:extLst>
          </p:cNvPr>
          <p:cNvPicPr preferRelativeResize="0">
            <a:picLocks noChangeAspect="1"/>
          </p:cNvPicPr>
          <p:nvPr/>
        </p:nvPicPr>
        <p:blipFill>
          <a:blip r:embed="rId3"/>
          <a:stretch>
            <a:fillRect/>
          </a:stretch>
        </p:blipFill>
        <p:spPr>
          <a:xfrm>
            <a:off x="663720" y="1668330"/>
            <a:ext cx="7318389" cy="3715585"/>
          </a:xfrm>
          <a:prstGeom prst="rect">
            <a:avLst/>
          </a:prstGeom>
        </p:spPr>
      </p:pic>
    </p:spTree>
    <p:extLst>
      <p:ext uri="{BB962C8B-B14F-4D97-AF65-F5344CB8AC3E}">
        <p14:creationId xmlns:p14="http://schemas.microsoft.com/office/powerpoint/2010/main" val="2279217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DE02C-5934-3850-8139-D487019DDC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3A81B-253E-1AEB-93B3-AD0F4E50A72A}"/>
              </a:ext>
            </a:extLst>
          </p:cNvPr>
          <p:cNvSpPr>
            <a:spLocks noGrp="1"/>
          </p:cNvSpPr>
          <p:nvPr>
            <p:ph type="title"/>
          </p:nvPr>
        </p:nvSpPr>
        <p:spPr/>
        <p:txBody>
          <a:bodyPr/>
          <a:lstStyle/>
          <a:p>
            <a:r>
              <a:rPr lang="en-US"/>
              <a:t>Patch vSphere Clusters Faster and Less Disruptively</a:t>
            </a:r>
            <a:endParaRPr lang="en-US" dirty="0"/>
          </a:p>
        </p:txBody>
      </p:sp>
      <p:sp>
        <p:nvSpPr>
          <p:cNvPr id="3" name="Subtitle 2">
            <a:extLst>
              <a:ext uri="{FF2B5EF4-FFF2-40B4-BE49-F238E27FC236}">
                <a16:creationId xmlns:a16="http://schemas.microsoft.com/office/drawing/2014/main" id="{5D2C5AF7-E690-F00C-454E-61339A892388}"/>
              </a:ext>
            </a:extLst>
          </p:cNvPr>
          <p:cNvSpPr>
            <a:spLocks noGrp="1"/>
          </p:cNvSpPr>
          <p:nvPr>
            <p:ph type="subTitle" idx="10"/>
          </p:nvPr>
        </p:nvSpPr>
        <p:spPr/>
        <p:txBody>
          <a:bodyPr/>
          <a:lstStyle/>
          <a:p>
            <a:r>
              <a:rPr lang="en-US"/>
              <a:t>Live Patch even more of ESX</a:t>
            </a:r>
          </a:p>
          <a:p>
            <a:endParaRPr lang="en-US" dirty="0"/>
          </a:p>
        </p:txBody>
      </p:sp>
      <p:sp>
        <p:nvSpPr>
          <p:cNvPr id="4" name="Text Placeholder 3">
            <a:extLst>
              <a:ext uri="{FF2B5EF4-FFF2-40B4-BE49-F238E27FC236}">
                <a16:creationId xmlns:a16="http://schemas.microsoft.com/office/drawing/2014/main" id="{A24D61C9-BC93-88E8-A7B7-61BE2B63E24E}"/>
              </a:ext>
            </a:extLst>
          </p:cNvPr>
          <p:cNvSpPr>
            <a:spLocks noGrp="1"/>
          </p:cNvSpPr>
          <p:nvPr>
            <p:ph type="body" sz="quarter" idx="20"/>
          </p:nvPr>
        </p:nvSpPr>
        <p:spPr/>
        <p:txBody>
          <a:bodyPr/>
          <a:lstStyle/>
          <a:p>
            <a:pPr>
              <a:spcAft>
                <a:spcPts val="0"/>
              </a:spcAft>
              <a:buSzPts val="1440"/>
              <a:buNone/>
            </a:pPr>
            <a:r>
              <a:rPr lang="en-US"/>
              <a:t>Live Patch vmkernel, user-space and NSX components</a:t>
            </a:r>
          </a:p>
          <a:p>
            <a:pPr>
              <a:spcBef>
                <a:spcPts val="1200"/>
              </a:spcBef>
              <a:spcAft>
                <a:spcPts val="0"/>
              </a:spcAft>
              <a:buSzPts val="1440"/>
              <a:buNone/>
            </a:pPr>
            <a:r>
              <a:rPr lang="en-US"/>
              <a:t>ESX service restarts required (non-disruptive)</a:t>
            </a:r>
          </a:p>
          <a:p>
            <a:pPr>
              <a:spcBef>
                <a:spcPts val="1200"/>
              </a:spcBef>
              <a:spcAft>
                <a:spcPts val="0"/>
              </a:spcAft>
              <a:buSzPts val="1440"/>
              <a:buNone/>
            </a:pPr>
            <a:r>
              <a:rPr lang="en-US"/>
              <a:t>Fast-Suspend-Resume remediates VMs</a:t>
            </a:r>
          </a:p>
          <a:p>
            <a:pPr>
              <a:spcBef>
                <a:spcPts val="1200"/>
              </a:spcBef>
              <a:spcAft>
                <a:spcPts val="0"/>
              </a:spcAft>
              <a:buSzPts val="1440"/>
              <a:buNone/>
            </a:pPr>
            <a:r>
              <a:rPr lang="en-US" b="1">
                <a:solidFill>
                  <a:schemeClr val="accent2"/>
                </a:solidFill>
              </a:rPr>
              <a:t>No Evacuation</a:t>
            </a:r>
            <a:r>
              <a:rPr lang="en-US" b="1"/>
              <a:t>, </a:t>
            </a:r>
            <a:r>
              <a:rPr lang="en-US" b="1">
                <a:solidFill>
                  <a:schemeClr val="accent2"/>
                </a:solidFill>
              </a:rPr>
              <a:t>VMs stay running</a:t>
            </a:r>
            <a:endParaRPr lang="en-US"/>
          </a:p>
          <a:p>
            <a:endParaRPr lang="en-US" dirty="0"/>
          </a:p>
        </p:txBody>
      </p:sp>
      <p:pic>
        <p:nvPicPr>
          <p:cNvPr id="7" name="Google Shape;2421;p33">
            <a:extLst>
              <a:ext uri="{FF2B5EF4-FFF2-40B4-BE49-F238E27FC236}">
                <a16:creationId xmlns:a16="http://schemas.microsoft.com/office/drawing/2014/main" id="{6BF74065-F3F0-9B77-8CBC-B4673DDD8272}"/>
              </a:ext>
            </a:extLst>
          </p:cNvPr>
          <p:cNvPicPr preferRelativeResize="0"/>
          <p:nvPr/>
        </p:nvPicPr>
        <p:blipFill rotWithShape="1">
          <a:blip r:embed="rId3">
            <a:alphaModFix/>
          </a:blip>
          <a:srcRect/>
          <a:stretch/>
        </p:blipFill>
        <p:spPr>
          <a:xfrm>
            <a:off x="3800986" y="5121889"/>
            <a:ext cx="1049598" cy="1049598"/>
          </a:xfrm>
          <a:prstGeom prst="rect">
            <a:avLst/>
          </a:prstGeom>
          <a:noFill/>
          <a:ln>
            <a:noFill/>
          </a:ln>
        </p:spPr>
      </p:pic>
      <p:sp>
        <p:nvSpPr>
          <p:cNvPr id="8" name="Google Shape;2425;p33">
            <a:extLst>
              <a:ext uri="{FF2B5EF4-FFF2-40B4-BE49-F238E27FC236}">
                <a16:creationId xmlns:a16="http://schemas.microsoft.com/office/drawing/2014/main" id="{5F177280-53F4-A163-75F0-802FA7DA8C4F}"/>
              </a:ext>
            </a:extLst>
          </p:cNvPr>
          <p:cNvSpPr/>
          <p:nvPr/>
        </p:nvSpPr>
        <p:spPr>
          <a:xfrm>
            <a:off x="594300" y="3576879"/>
            <a:ext cx="7396376" cy="145586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01" tIns="45688" rIns="91401" bIns="45688" anchor="b" anchorCtr="0">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a:ln>
                  <a:noFill/>
                </a:ln>
                <a:solidFill>
                  <a:srgbClr val="000000"/>
                </a:solidFill>
                <a:effectLst/>
                <a:uLnTx/>
                <a:uFillTx/>
                <a:latin typeface="Arial"/>
                <a:ea typeface="Arial"/>
                <a:cs typeface="Arial"/>
                <a:sym typeface="Arial"/>
              </a:rPr>
              <a:t>ESX</a:t>
            </a: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9" name="Google Shape;2426;p33">
            <a:extLst>
              <a:ext uri="{FF2B5EF4-FFF2-40B4-BE49-F238E27FC236}">
                <a16:creationId xmlns:a16="http://schemas.microsoft.com/office/drawing/2014/main" id="{5C8DD134-0C2F-FFB1-EF35-2ADD7B2EC196}"/>
              </a:ext>
            </a:extLst>
          </p:cNvPr>
          <p:cNvSpPr/>
          <p:nvPr/>
        </p:nvSpPr>
        <p:spPr>
          <a:xfrm>
            <a:off x="827321" y="3850230"/>
            <a:ext cx="1570003" cy="685098"/>
          </a:xfrm>
          <a:prstGeom prst="rect">
            <a:avLst/>
          </a:prstGeom>
          <a:noFill/>
          <a:ln w="25400" cap="flat" cmpd="sng">
            <a:solidFill>
              <a:schemeClr val="accent3"/>
            </a:solidFill>
            <a:prstDash val="solid"/>
            <a:round/>
            <a:headEnd type="none" w="sm" len="sm"/>
            <a:tailEnd type="none" w="sm" len="sm"/>
          </a:ln>
        </p:spPr>
        <p:txBody>
          <a:bodyPr spcFirstLastPara="1" wrap="square" lIns="91401" tIns="45688" rIns="91401" bIns="45688" anchor="ctr" anchorCtr="0">
            <a:no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98C7"/>
                </a:solidFill>
                <a:effectLst/>
                <a:uLnTx/>
                <a:uFillTx/>
                <a:latin typeface="Arial"/>
                <a:ea typeface="Arial"/>
                <a:cs typeface="Arial"/>
                <a:sym typeface="Arial"/>
              </a:rPr>
              <a:t>vmkernel</a:t>
            </a:r>
            <a:endParaRPr kumimoji="0" sz="10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10" name="Google Shape;2427;p33">
            <a:extLst>
              <a:ext uri="{FF2B5EF4-FFF2-40B4-BE49-F238E27FC236}">
                <a16:creationId xmlns:a16="http://schemas.microsoft.com/office/drawing/2014/main" id="{24F02D10-50DC-E106-413F-180C6111616B}"/>
              </a:ext>
            </a:extLst>
          </p:cNvPr>
          <p:cNvSpPr/>
          <p:nvPr/>
        </p:nvSpPr>
        <p:spPr>
          <a:xfrm>
            <a:off x="2630346" y="3854711"/>
            <a:ext cx="1570003" cy="685098"/>
          </a:xfrm>
          <a:prstGeom prst="rect">
            <a:avLst/>
          </a:prstGeom>
          <a:noFill/>
          <a:ln w="25400" cap="flat" cmpd="sng">
            <a:solidFill>
              <a:schemeClr val="accent3"/>
            </a:solidFill>
            <a:prstDash val="solid"/>
            <a:round/>
            <a:headEnd type="none" w="sm" len="sm"/>
            <a:tailEnd type="none" w="sm" len="sm"/>
          </a:ln>
        </p:spPr>
        <p:txBody>
          <a:bodyPr spcFirstLastPara="1" wrap="square" lIns="91401" tIns="45688" rIns="91401" bIns="45688" anchor="ctr" anchorCtr="0">
            <a:no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98C7"/>
                </a:solidFill>
                <a:effectLst/>
                <a:uLnTx/>
                <a:uFillTx/>
                <a:latin typeface="Arial"/>
                <a:ea typeface="Arial"/>
                <a:cs typeface="Arial"/>
                <a:sym typeface="Arial"/>
              </a:rPr>
              <a:t>user-space</a:t>
            </a:r>
            <a:endParaRPr kumimoji="0" sz="10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11" name="Google Shape;2428;p33">
            <a:extLst>
              <a:ext uri="{FF2B5EF4-FFF2-40B4-BE49-F238E27FC236}">
                <a16:creationId xmlns:a16="http://schemas.microsoft.com/office/drawing/2014/main" id="{24FF4067-21C6-9882-55E1-3EED91B9B7E0}"/>
              </a:ext>
            </a:extLst>
          </p:cNvPr>
          <p:cNvSpPr/>
          <p:nvPr/>
        </p:nvSpPr>
        <p:spPr>
          <a:xfrm>
            <a:off x="4433372" y="3852470"/>
            <a:ext cx="1570003" cy="685098"/>
          </a:xfrm>
          <a:prstGeom prst="rect">
            <a:avLst/>
          </a:prstGeom>
          <a:noFill/>
          <a:ln w="25400" cap="flat" cmpd="sng">
            <a:solidFill>
              <a:schemeClr val="accent3"/>
            </a:solidFill>
            <a:prstDash val="solid"/>
            <a:round/>
            <a:headEnd type="none" w="sm" len="sm"/>
            <a:tailEnd type="none" w="sm" len="sm"/>
          </a:ln>
        </p:spPr>
        <p:txBody>
          <a:bodyPr spcFirstLastPara="1" wrap="square" lIns="91401" tIns="45688" rIns="91401" bIns="45688" anchor="ctr" anchorCtr="0">
            <a:no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98C7"/>
                </a:solidFill>
                <a:effectLst/>
                <a:uLnTx/>
                <a:uFillTx/>
                <a:latin typeface="Arial"/>
                <a:ea typeface="Arial"/>
                <a:cs typeface="Arial"/>
                <a:sym typeface="Arial"/>
              </a:rPr>
              <a:t>   nsx</a:t>
            </a:r>
            <a:endParaRPr kumimoji="0" sz="10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12" name="Google Shape;2429;p33">
            <a:extLst>
              <a:ext uri="{FF2B5EF4-FFF2-40B4-BE49-F238E27FC236}">
                <a16:creationId xmlns:a16="http://schemas.microsoft.com/office/drawing/2014/main" id="{A825799D-BDB1-76A5-DB54-79D2B83A8583}"/>
              </a:ext>
            </a:extLst>
          </p:cNvPr>
          <p:cNvSpPr/>
          <p:nvPr/>
        </p:nvSpPr>
        <p:spPr>
          <a:xfrm>
            <a:off x="6212023" y="3850230"/>
            <a:ext cx="1570003" cy="685098"/>
          </a:xfrm>
          <a:prstGeom prst="rect">
            <a:avLst/>
          </a:prstGeom>
          <a:noFill/>
          <a:ln w="25400" cap="flat" cmpd="sng">
            <a:solidFill>
              <a:schemeClr val="accent3"/>
            </a:solidFill>
            <a:prstDash val="solid"/>
            <a:round/>
            <a:headEnd type="none" w="sm" len="sm"/>
            <a:tailEnd type="none" w="sm" len="sm"/>
          </a:ln>
        </p:spPr>
        <p:txBody>
          <a:bodyPr spcFirstLastPara="1" wrap="square" lIns="91401" tIns="45688" rIns="91401" bIns="45688" anchor="ctr" anchorCtr="0">
            <a:no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98C7"/>
                </a:solidFill>
                <a:effectLst/>
                <a:uLnTx/>
                <a:uFillTx/>
                <a:latin typeface="Arial"/>
                <a:ea typeface="Arial"/>
                <a:cs typeface="Arial"/>
                <a:sym typeface="Arial"/>
              </a:rPr>
              <a:t>   vmx</a:t>
            </a:r>
            <a:endParaRPr kumimoji="0" sz="1000" b="0" i="0" u="none" strike="noStrike" kern="1200" cap="none" spc="0" normalizeH="0" baseline="0" noProof="0">
              <a:ln>
                <a:noFill/>
              </a:ln>
              <a:solidFill>
                <a:srgbClr val="0098C7"/>
              </a:solidFill>
              <a:effectLst/>
              <a:uLnTx/>
              <a:uFillTx/>
              <a:latin typeface="Arial"/>
              <a:ea typeface="Arial"/>
              <a:cs typeface="Arial"/>
              <a:sym typeface="Arial"/>
            </a:endParaRPr>
          </a:p>
        </p:txBody>
      </p:sp>
      <p:pic>
        <p:nvPicPr>
          <p:cNvPr id="13" name="Google Shape;2430;p33" descr="Lightning bolt with solid fill">
            <a:extLst>
              <a:ext uri="{FF2B5EF4-FFF2-40B4-BE49-F238E27FC236}">
                <a16:creationId xmlns:a16="http://schemas.microsoft.com/office/drawing/2014/main" id="{DF3E194A-7017-20CA-203C-6AE94A5EC1A1}"/>
              </a:ext>
            </a:extLst>
          </p:cNvPr>
          <p:cNvPicPr preferRelativeResize="0"/>
          <p:nvPr/>
        </p:nvPicPr>
        <p:blipFill rotWithShape="1">
          <a:blip r:embed="rId4">
            <a:alphaModFix/>
          </a:blip>
          <a:srcRect/>
          <a:stretch/>
        </p:blipFill>
        <p:spPr>
          <a:xfrm>
            <a:off x="3566441" y="3855397"/>
            <a:ext cx="679932" cy="679932"/>
          </a:xfrm>
          <a:prstGeom prst="rect">
            <a:avLst/>
          </a:prstGeom>
          <a:noFill/>
          <a:ln>
            <a:noFill/>
          </a:ln>
        </p:spPr>
      </p:pic>
      <p:pic>
        <p:nvPicPr>
          <p:cNvPr id="14" name="Google Shape;2431;p33" descr="Lightning bolt with solid fill">
            <a:extLst>
              <a:ext uri="{FF2B5EF4-FFF2-40B4-BE49-F238E27FC236}">
                <a16:creationId xmlns:a16="http://schemas.microsoft.com/office/drawing/2014/main" id="{A0D08F8F-53B8-2DAF-F6BC-F5A3B06FB5A0}"/>
              </a:ext>
            </a:extLst>
          </p:cNvPr>
          <p:cNvPicPr preferRelativeResize="0"/>
          <p:nvPr/>
        </p:nvPicPr>
        <p:blipFill rotWithShape="1">
          <a:blip r:embed="rId4">
            <a:alphaModFix/>
          </a:blip>
          <a:srcRect/>
          <a:stretch/>
        </p:blipFill>
        <p:spPr>
          <a:xfrm>
            <a:off x="5345093" y="3855397"/>
            <a:ext cx="679932" cy="679932"/>
          </a:xfrm>
          <a:prstGeom prst="rect">
            <a:avLst/>
          </a:prstGeom>
          <a:noFill/>
          <a:ln>
            <a:noFill/>
          </a:ln>
        </p:spPr>
      </p:pic>
      <p:pic>
        <p:nvPicPr>
          <p:cNvPr id="15" name="Google Shape;2432;p33" descr="Lightning bolt with solid fill">
            <a:extLst>
              <a:ext uri="{FF2B5EF4-FFF2-40B4-BE49-F238E27FC236}">
                <a16:creationId xmlns:a16="http://schemas.microsoft.com/office/drawing/2014/main" id="{3F379CF9-F90F-DD0E-7E25-E1E12CD97D36}"/>
              </a:ext>
            </a:extLst>
          </p:cNvPr>
          <p:cNvPicPr preferRelativeResize="0"/>
          <p:nvPr/>
        </p:nvPicPr>
        <p:blipFill rotWithShape="1">
          <a:blip r:embed="rId4">
            <a:alphaModFix/>
          </a:blip>
          <a:srcRect/>
          <a:stretch/>
        </p:blipFill>
        <p:spPr>
          <a:xfrm>
            <a:off x="7206420" y="3855397"/>
            <a:ext cx="679932" cy="679932"/>
          </a:xfrm>
          <a:prstGeom prst="rect">
            <a:avLst/>
          </a:prstGeom>
          <a:noFill/>
          <a:ln>
            <a:noFill/>
          </a:ln>
        </p:spPr>
      </p:pic>
      <p:grpSp>
        <p:nvGrpSpPr>
          <p:cNvPr id="16" name="Google Shape;2433;p33">
            <a:extLst>
              <a:ext uri="{FF2B5EF4-FFF2-40B4-BE49-F238E27FC236}">
                <a16:creationId xmlns:a16="http://schemas.microsoft.com/office/drawing/2014/main" id="{0197AFE3-1F8A-B1EC-C6EF-EC5E062603B0}"/>
              </a:ext>
            </a:extLst>
          </p:cNvPr>
          <p:cNvGrpSpPr/>
          <p:nvPr/>
        </p:nvGrpSpPr>
        <p:grpSpPr>
          <a:xfrm>
            <a:off x="1139604" y="2201744"/>
            <a:ext cx="6213535" cy="1040118"/>
            <a:chOff x="1222338" y="2845811"/>
            <a:chExt cx="6215154" cy="1040389"/>
          </a:xfrm>
        </p:grpSpPr>
        <p:grpSp>
          <p:nvGrpSpPr>
            <p:cNvPr id="17" name="Google Shape;2434;p33">
              <a:extLst>
                <a:ext uri="{FF2B5EF4-FFF2-40B4-BE49-F238E27FC236}">
                  <a16:creationId xmlns:a16="http://schemas.microsoft.com/office/drawing/2014/main" id="{5C3A9C28-6E9E-C95F-59F1-79743B6E69FE}"/>
                </a:ext>
              </a:extLst>
            </p:cNvPr>
            <p:cNvGrpSpPr/>
            <p:nvPr/>
          </p:nvGrpSpPr>
          <p:grpSpPr>
            <a:xfrm>
              <a:off x="1222338" y="2845811"/>
              <a:ext cx="1040114" cy="1040389"/>
              <a:chOff x="1500244" y="2557731"/>
              <a:chExt cx="1040114" cy="1040389"/>
            </a:xfrm>
          </p:grpSpPr>
          <p:grpSp>
            <p:nvGrpSpPr>
              <p:cNvPr id="46" name="Google Shape;2435;p33">
                <a:extLst>
                  <a:ext uri="{FF2B5EF4-FFF2-40B4-BE49-F238E27FC236}">
                    <a16:creationId xmlns:a16="http://schemas.microsoft.com/office/drawing/2014/main" id="{A1952FFB-D10B-F1BD-DA07-93D00A943FD2}"/>
                  </a:ext>
                </a:extLst>
              </p:cNvPr>
              <p:cNvGrpSpPr/>
              <p:nvPr/>
            </p:nvGrpSpPr>
            <p:grpSpPr>
              <a:xfrm>
                <a:off x="1500244" y="2704283"/>
                <a:ext cx="896117" cy="893837"/>
                <a:chOff x="1433953" y="2642740"/>
                <a:chExt cx="896117" cy="893837"/>
              </a:xfrm>
            </p:grpSpPr>
            <p:sp>
              <p:nvSpPr>
                <p:cNvPr id="48" name="Google Shape;2436;p33">
                  <a:extLst>
                    <a:ext uri="{FF2B5EF4-FFF2-40B4-BE49-F238E27FC236}">
                      <a16:creationId xmlns:a16="http://schemas.microsoft.com/office/drawing/2014/main" id="{12F4765A-7D84-8824-AAC0-5D9788683E22}"/>
                    </a:ext>
                  </a:extLst>
                </p:cNvPr>
                <p:cNvSpPr/>
                <p:nvPr/>
              </p:nvSpPr>
              <p:spPr>
                <a:xfrm>
                  <a:off x="1433953" y="2642740"/>
                  <a:ext cx="896117" cy="893557"/>
                </a:xfrm>
                <a:prstGeom prst="rect">
                  <a:avLst/>
                </a:prstGeom>
                <a:solidFill>
                  <a:schemeClr val="lt1"/>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
                      <a:srgbClr val="FFFFFF"/>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9" name="Google Shape;2437;p33">
                  <a:extLst>
                    <a:ext uri="{FF2B5EF4-FFF2-40B4-BE49-F238E27FC236}">
                      <a16:creationId xmlns:a16="http://schemas.microsoft.com/office/drawing/2014/main" id="{576D51DC-B8DB-A42B-550F-370171D1EAEC}"/>
                    </a:ext>
                  </a:extLst>
                </p:cNvPr>
                <p:cNvSpPr/>
                <p:nvPr/>
              </p:nvSpPr>
              <p:spPr>
                <a:xfrm>
                  <a:off x="1433953" y="2642740"/>
                  <a:ext cx="893842" cy="893837"/>
                </a:xfrm>
                <a:custGeom>
                  <a:avLst/>
                  <a:gdLst/>
                  <a:ahLst/>
                  <a:cxnLst/>
                  <a:rect l="l" t="t" r="r" b="b"/>
                  <a:pathLst>
                    <a:path w="713887" h="713886" extrusionOk="0">
                      <a:moveTo>
                        <a:pt x="612094" y="713887"/>
                      </a:moveTo>
                      <a:lnTo>
                        <a:pt x="0" y="713887"/>
                      </a:lnTo>
                      <a:lnTo>
                        <a:pt x="0" y="0"/>
                      </a:lnTo>
                      <a:lnTo>
                        <a:pt x="713888" y="0"/>
                      </a:lnTo>
                      <a:lnTo>
                        <a:pt x="713888" y="707760"/>
                      </a:lnTo>
                      <a:lnTo>
                        <a:pt x="695101" y="707760"/>
                      </a:lnTo>
                      <a:lnTo>
                        <a:pt x="695101" y="18786"/>
                      </a:lnTo>
                      <a:lnTo>
                        <a:pt x="18787" y="18786"/>
                      </a:lnTo>
                      <a:lnTo>
                        <a:pt x="18787" y="695100"/>
                      </a:lnTo>
                      <a:lnTo>
                        <a:pt x="612094" y="695100"/>
                      </a:lnTo>
                      <a:close/>
                    </a:path>
                  </a:pathLst>
                </a:custGeom>
                <a:solidFill>
                  <a:schemeClr val="accent2"/>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
                      <a:srgbClr val="FFFFFF"/>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50" name="Google Shape;2438;p33">
                  <a:extLst>
                    <a:ext uri="{FF2B5EF4-FFF2-40B4-BE49-F238E27FC236}">
                      <a16:creationId xmlns:a16="http://schemas.microsoft.com/office/drawing/2014/main" id="{75E6E1C3-A2CD-C509-68C4-E8CE3BEF7206}"/>
                    </a:ext>
                  </a:extLst>
                </p:cNvPr>
                <p:cNvSpPr/>
                <p:nvPr/>
              </p:nvSpPr>
              <p:spPr>
                <a:xfrm>
                  <a:off x="1702611" y="3036896"/>
                  <a:ext cx="119709" cy="121590"/>
                </a:xfrm>
                <a:custGeom>
                  <a:avLst/>
                  <a:gdLst/>
                  <a:ahLst/>
                  <a:cxnLst/>
                  <a:rect l="l" t="t" r="r" b="b"/>
                  <a:pathLst>
                    <a:path w="95608" h="97111" extrusionOk="0">
                      <a:moveTo>
                        <a:pt x="0" y="0"/>
                      </a:moveTo>
                      <a:lnTo>
                        <a:pt x="15781" y="0"/>
                      </a:lnTo>
                      <a:lnTo>
                        <a:pt x="48093" y="80580"/>
                      </a:lnTo>
                      <a:lnTo>
                        <a:pt x="79828" y="0"/>
                      </a:lnTo>
                      <a:lnTo>
                        <a:pt x="95609" y="0"/>
                      </a:lnTo>
                      <a:lnTo>
                        <a:pt x="54857" y="97112"/>
                      </a:lnTo>
                      <a:lnTo>
                        <a:pt x="41330" y="97112"/>
                      </a:lnTo>
                      <a:lnTo>
                        <a:pt x="0" y="0"/>
                      </a:lnTo>
                      <a:close/>
                    </a:path>
                  </a:pathLst>
                </a:custGeom>
                <a:solidFill>
                  <a:schemeClr val="accent2"/>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
                      <a:srgbClr val="FFFFFF"/>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51" name="Google Shape;2439;p33">
                  <a:extLst>
                    <a:ext uri="{FF2B5EF4-FFF2-40B4-BE49-F238E27FC236}">
                      <a16:creationId xmlns:a16="http://schemas.microsoft.com/office/drawing/2014/main" id="{36790D6A-BE8D-267B-095C-EC4AFF6EE3C1}"/>
                    </a:ext>
                  </a:extLst>
                </p:cNvPr>
                <p:cNvSpPr/>
                <p:nvPr/>
              </p:nvSpPr>
              <p:spPr>
                <a:xfrm>
                  <a:off x="1858583" y="3034001"/>
                  <a:ext cx="174860" cy="124485"/>
                </a:xfrm>
                <a:custGeom>
                  <a:avLst/>
                  <a:gdLst/>
                  <a:ahLst/>
                  <a:cxnLst/>
                  <a:rect l="l" t="t" r="r" b="b"/>
                  <a:pathLst>
                    <a:path w="139656" h="99423" extrusionOk="0">
                      <a:moveTo>
                        <a:pt x="139656" y="37631"/>
                      </a:moveTo>
                      <a:lnTo>
                        <a:pt x="139656" y="99424"/>
                      </a:lnTo>
                      <a:lnTo>
                        <a:pt x="125552" y="99424"/>
                      </a:lnTo>
                      <a:lnTo>
                        <a:pt x="125552" y="39481"/>
                      </a:lnTo>
                      <a:cubicBezTo>
                        <a:pt x="125552" y="23700"/>
                        <a:pt x="116361" y="12601"/>
                        <a:pt x="103181" y="12601"/>
                      </a:cubicBezTo>
                      <a:cubicBezTo>
                        <a:pt x="87805" y="12601"/>
                        <a:pt x="76880" y="22948"/>
                        <a:pt x="76880" y="37573"/>
                      </a:cubicBezTo>
                      <a:lnTo>
                        <a:pt x="76880" y="99366"/>
                      </a:lnTo>
                      <a:lnTo>
                        <a:pt x="62776" y="99366"/>
                      </a:lnTo>
                      <a:lnTo>
                        <a:pt x="62776" y="39481"/>
                      </a:lnTo>
                      <a:cubicBezTo>
                        <a:pt x="62776" y="23700"/>
                        <a:pt x="53585" y="12601"/>
                        <a:pt x="40406" y="12601"/>
                      </a:cubicBezTo>
                      <a:cubicBezTo>
                        <a:pt x="25029" y="12601"/>
                        <a:pt x="14104" y="22948"/>
                        <a:pt x="14104" y="37573"/>
                      </a:cubicBezTo>
                      <a:lnTo>
                        <a:pt x="14104" y="99366"/>
                      </a:lnTo>
                      <a:lnTo>
                        <a:pt x="0" y="99366"/>
                      </a:lnTo>
                      <a:lnTo>
                        <a:pt x="0" y="2254"/>
                      </a:lnTo>
                      <a:lnTo>
                        <a:pt x="14104" y="2254"/>
                      </a:lnTo>
                      <a:lnTo>
                        <a:pt x="14104" y="16532"/>
                      </a:lnTo>
                      <a:cubicBezTo>
                        <a:pt x="18960" y="6416"/>
                        <a:pt x="29480" y="0"/>
                        <a:pt x="42255" y="0"/>
                      </a:cubicBezTo>
                      <a:cubicBezTo>
                        <a:pt x="56880" y="0"/>
                        <a:pt x="68383" y="8093"/>
                        <a:pt x="73643" y="20636"/>
                      </a:cubicBezTo>
                      <a:cubicBezTo>
                        <a:pt x="77574" y="8035"/>
                        <a:pt x="90349" y="0"/>
                        <a:pt x="105031" y="0"/>
                      </a:cubicBezTo>
                      <a:cubicBezTo>
                        <a:pt x="125378" y="58"/>
                        <a:pt x="139656" y="15665"/>
                        <a:pt x="139656" y="37631"/>
                      </a:cubicBezTo>
                      <a:close/>
                    </a:path>
                  </a:pathLst>
                </a:custGeom>
                <a:solidFill>
                  <a:schemeClr val="accent2"/>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
                      <a:srgbClr val="FFFFFF"/>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sp>
            <p:nvSpPr>
              <p:cNvPr id="47" name="Google Shape;2440;p33">
                <a:extLst>
                  <a:ext uri="{FF2B5EF4-FFF2-40B4-BE49-F238E27FC236}">
                    <a16:creationId xmlns:a16="http://schemas.microsoft.com/office/drawing/2014/main" id="{04BE3C15-B680-13DD-5547-C5B5A3FE8FDD}"/>
                  </a:ext>
                </a:extLst>
              </p:cNvPr>
              <p:cNvSpPr/>
              <p:nvPr/>
            </p:nvSpPr>
            <p:spPr>
              <a:xfrm rot="5400000">
                <a:off x="2247814" y="2557731"/>
                <a:ext cx="292544" cy="292544"/>
              </a:xfrm>
              <a:prstGeom prst="triangle">
                <a:avLst>
                  <a:gd name="adj" fmla="val 50000"/>
                </a:avLst>
              </a:prstGeom>
              <a:solidFill>
                <a:schemeClr val="accent4"/>
              </a:solidFill>
              <a:ln w="25400" cap="flat" cmpd="sng">
                <a:solidFill>
                  <a:srgbClr val="61A60E"/>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8" name="Google Shape;2441;p33">
              <a:extLst>
                <a:ext uri="{FF2B5EF4-FFF2-40B4-BE49-F238E27FC236}">
                  <a16:creationId xmlns:a16="http://schemas.microsoft.com/office/drawing/2014/main" id="{EF45E82C-64D1-1161-6072-85A8192D4FC8}"/>
                </a:ext>
              </a:extLst>
            </p:cNvPr>
            <p:cNvGrpSpPr/>
            <p:nvPr/>
          </p:nvGrpSpPr>
          <p:grpSpPr>
            <a:xfrm>
              <a:off x="2516098" y="2845811"/>
              <a:ext cx="1040114" cy="1040389"/>
              <a:chOff x="1500244" y="2557731"/>
              <a:chExt cx="1040114" cy="1040389"/>
            </a:xfrm>
          </p:grpSpPr>
          <p:grpSp>
            <p:nvGrpSpPr>
              <p:cNvPr id="40" name="Google Shape;2442;p33">
                <a:extLst>
                  <a:ext uri="{FF2B5EF4-FFF2-40B4-BE49-F238E27FC236}">
                    <a16:creationId xmlns:a16="http://schemas.microsoft.com/office/drawing/2014/main" id="{FE8E5F80-142D-C401-DC77-E74E064A03C3}"/>
                  </a:ext>
                </a:extLst>
              </p:cNvPr>
              <p:cNvGrpSpPr/>
              <p:nvPr/>
            </p:nvGrpSpPr>
            <p:grpSpPr>
              <a:xfrm>
                <a:off x="1500244" y="2704283"/>
                <a:ext cx="896117" cy="893837"/>
                <a:chOff x="1433953" y="2642740"/>
                <a:chExt cx="896117" cy="893837"/>
              </a:xfrm>
            </p:grpSpPr>
            <p:sp>
              <p:nvSpPr>
                <p:cNvPr id="42" name="Google Shape;2443;p33">
                  <a:extLst>
                    <a:ext uri="{FF2B5EF4-FFF2-40B4-BE49-F238E27FC236}">
                      <a16:creationId xmlns:a16="http://schemas.microsoft.com/office/drawing/2014/main" id="{F1DD6CCD-E949-ADF2-4773-F7FDC04DDEF1}"/>
                    </a:ext>
                  </a:extLst>
                </p:cNvPr>
                <p:cNvSpPr/>
                <p:nvPr/>
              </p:nvSpPr>
              <p:spPr>
                <a:xfrm>
                  <a:off x="1433953" y="2642740"/>
                  <a:ext cx="896117" cy="893557"/>
                </a:xfrm>
                <a:prstGeom prst="rect">
                  <a:avLst/>
                </a:prstGeom>
                <a:solidFill>
                  <a:schemeClr val="lt1"/>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
                      <a:srgbClr val="FFFFFF"/>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3" name="Google Shape;2444;p33">
                  <a:extLst>
                    <a:ext uri="{FF2B5EF4-FFF2-40B4-BE49-F238E27FC236}">
                      <a16:creationId xmlns:a16="http://schemas.microsoft.com/office/drawing/2014/main" id="{F5EF8DD9-02B8-D1F6-FC46-7C09C7017F67}"/>
                    </a:ext>
                  </a:extLst>
                </p:cNvPr>
                <p:cNvSpPr/>
                <p:nvPr/>
              </p:nvSpPr>
              <p:spPr>
                <a:xfrm>
                  <a:off x="1433953" y="2642740"/>
                  <a:ext cx="893842" cy="893837"/>
                </a:xfrm>
                <a:custGeom>
                  <a:avLst/>
                  <a:gdLst/>
                  <a:ahLst/>
                  <a:cxnLst/>
                  <a:rect l="l" t="t" r="r" b="b"/>
                  <a:pathLst>
                    <a:path w="713887" h="713886" extrusionOk="0">
                      <a:moveTo>
                        <a:pt x="612094" y="713887"/>
                      </a:moveTo>
                      <a:lnTo>
                        <a:pt x="0" y="713887"/>
                      </a:lnTo>
                      <a:lnTo>
                        <a:pt x="0" y="0"/>
                      </a:lnTo>
                      <a:lnTo>
                        <a:pt x="713888" y="0"/>
                      </a:lnTo>
                      <a:lnTo>
                        <a:pt x="713888" y="707760"/>
                      </a:lnTo>
                      <a:lnTo>
                        <a:pt x="695101" y="707760"/>
                      </a:lnTo>
                      <a:lnTo>
                        <a:pt x="695101" y="18786"/>
                      </a:lnTo>
                      <a:lnTo>
                        <a:pt x="18787" y="18786"/>
                      </a:lnTo>
                      <a:lnTo>
                        <a:pt x="18787" y="695100"/>
                      </a:lnTo>
                      <a:lnTo>
                        <a:pt x="612094" y="695100"/>
                      </a:lnTo>
                      <a:close/>
                    </a:path>
                  </a:pathLst>
                </a:custGeom>
                <a:solidFill>
                  <a:schemeClr val="accent2"/>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
                      <a:srgbClr val="FFFFFF"/>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4" name="Google Shape;2445;p33">
                  <a:extLst>
                    <a:ext uri="{FF2B5EF4-FFF2-40B4-BE49-F238E27FC236}">
                      <a16:creationId xmlns:a16="http://schemas.microsoft.com/office/drawing/2014/main" id="{3900666F-EE9E-34A2-51AE-5B14792CB1BD}"/>
                    </a:ext>
                  </a:extLst>
                </p:cNvPr>
                <p:cNvSpPr/>
                <p:nvPr/>
              </p:nvSpPr>
              <p:spPr>
                <a:xfrm>
                  <a:off x="1702611" y="3036896"/>
                  <a:ext cx="119709" cy="121590"/>
                </a:xfrm>
                <a:custGeom>
                  <a:avLst/>
                  <a:gdLst/>
                  <a:ahLst/>
                  <a:cxnLst/>
                  <a:rect l="l" t="t" r="r" b="b"/>
                  <a:pathLst>
                    <a:path w="95608" h="97111" extrusionOk="0">
                      <a:moveTo>
                        <a:pt x="0" y="0"/>
                      </a:moveTo>
                      <a:lnTo>
                        <a:pt x="15781" y="0"/>
                      </a:lnTo>
                      <a:lnTo>
                        <a:pt x="48093" y="80580"/>
                      </a:lnTo>
                      <a:lnTo>
                        <a:pt x="79828" y="0"/>
                      </a:lnTo>
                      <a:lnTo>
                        <a:pt x="95609" y="0"/>
                      </a:lnTo>
                      <a:lnTo>
                        <a:pt x="54857" y="97112"/>
                      </a:lnTo>
                      <a:lnTo>
                        <a:pt x="41330" y="97112"/>
                      </a:lnTo>
                      <a:lnTo>
                        <a:pt x="0" y="0"/>
                      </a:lnTo>
                      <a:close/>
                    </a:path>
                  </a:pathLst>
                </a:custGeom>
                <a:solidFill>
                  <a:schemeClr val="accent2"/>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
                      <a:srgbClr val="FFFFFF"/>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5" name="Google Shape;2446;p33">
                  <a:extLst>
                    <a:ext uri="{FF2B5EF4-FFF2-40B4-BE49-F238E27FC236}">
                      <a16:creationId xmlns:a16="http://schemas.microsoft.com/office/drawing/2014/main" id="{C4AA4805-C94F-1C7E-8275-3C8F4E933E49}"/>
                    </a:ext>
                  </a:extLst>
                </p:cNvPr>
                <p:cNvSpPr/>
                <p:nvPr/>
              </p:nvSpPr>
              <p:spPr>
                <a:xfrm>
                  <a:off x="1858583" y="3034001"/>
                  <a:ext cx="174860" cy="124485"/>
                </a:xfrm>
                <a:custGeom>
                  <a:avLst/>
                  <a:gdLst/>
                  <a:ahLst/>
                  <a:cxnLst/>
                  <a:rect l="l" t="t" r="r" b="b"/>
                  <a:pathLst>
                    <a:path w="139656" h="99423" extrusionOk="0">
                      <a:moveTo>
                        <a:pt x="139656" y="37631"/>
                      </a:moveTo>
                      <a:lnTo>
                        <a:pt x="139656" y="99424"/>
                      </a:lnTo>
                      <a:lnTo>
                        <a:pt x="125552" y="99424"/>
                      </a:lnTo>
                      <a:lnTo>
                        <a:pt x="125552" y="39481"/>
                      </a:lnTo>
                      <a:cubicBezTo>
                        <a:pt x="125552" y="23700"/>
                        <a:pt x="116361" y="12601"/>
                        <a:pt x="103181" y="12601"/>
                      </a:cubicBezTo>
                      <a:cubicBezTo>
                        <a:pt x="87805" y="12601"/>
                        <a:pt x="76880" y="22948"/>
                        <a:pt x="76880" y="37573"/>
                      </a:cubicBezTo>
                      <a:lnTo>
                        <a:pt x="76880" y="99366"/>
                      </a:lnTo>
                      <a:lnTo>
                        <a:pt x="62776" y="99366"/>
                      </a:lnTo>
                      <a:lnTo>
                        <a:pt x="62776" y="39481"/>
                      </a:lnTo>
                      <a:cubicBezTo>
                        <a:pt x="62776" y="23700"/>
                        <a:pt x="53585" y="12601"/>
                        <a:pt x="40406" y="12601"/>
                      </a:cubicBezTo>
                      <a:cubicBezTo>
                        <a:pt x="25029" y="12601"/>
                        <a:pt x="14104" y="22948"/>
                        <a:pt x="14104" y="37573"/>
                      </a:cubicBezTo>
                      <a:lnTo>
                        <a:pt x="14104" y="99366"/>
                      </a:lnTo>
                      <a:lnTo>
                        <a:pt x="0" y="99366"/>
                      </a:lnTo>
                      <a:lnTo>
                        <a:pt x="0" y="2254"/>
                      </a:lnTo>
                      <a:lnTo>
                        <a:pt x="14104" y="2254"/>
                      </a:lnTo>
                      <a:lnTo>
                        <a:pt x="14104" y="16532"/>
                      </a:lnTo>
                      <a:cubicBezTo>
                        <a:pt x="18960" y="6416"/>
                        <a:pt x="29480" y="0"/>
                        <a:pt x="42255" y="0"/>
                      </a:cubicBezTo>
                      <a:cubicBezTo>
                        <a:pt x="56880" y="0"/>
                        <a:pt x="68383" y="8093"/>
                        <a:pt x="73643" y="20636"/>
                      </a:cubicBezTo>
                      <a:cubicBezTo>
                        <a:pt x="77574" y="8035"/>
                        <a:pt x="90349" y="0"/>
                        <a:pt x="105031" y="0"/>
                      </a:cubicBezTo>
                      <a:cubicBezTo>
                        <a:pt x="125378" y="58"/>
                        <a:pt x="139656" y="15665"/>
                        <a:pt x="139656" y="37631"/>
                      </a:cubicBezTo>
                      <a:close/>
                    </a:path>
                  </a:pathLst>
                </a:custGeom>
                <a:solidFill>
                  <a:schemeClr val="accent2"/>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
                      <a:srgbClr val="FFFFFF"/>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sp>
            <p:nvSpPr>
              <p:cNvPr id="41" name="Google Shape;2447;p33">
                <a:extLst>
                  <a:ext uri="{FF2B5EF4-FFF2-40B4-BE49-F238E27FC236}">
                    <a16:creationId xmlns:a16="http://schemas.microsoft.com/office/drawing/2014/main" id="{7D8152EC-6C72-32FD-5553-35CC0014EE0D}"/>
                  </a:ext>
                </a:extLst>
              </p:cNvPr>
              <p:cNvSpPr/>
              <p:nvPr/>
            </p:nvSpPr>
            <p:spPr>
              <a:xfrm rot="5400000">
                <a:off x="2247814" y="2557731"/>
                <a:ext cx="292544" cy="292544"/>
              </a:xfrm>
              <a:prstGeom prst="triangle">
                <a:avLst>
                  <a:gd name="adj" fmla="val 50000"/>
                </a:avLst>
              </a:prstGeom>
              <a:solidFill>
                <a:schemeClr val="accent4"/>
              </a:solidFill>
              <a:ln w="25400" cap="flat" cmpd="sng">
                <a:solidFill>
                  <a:srgbClr val="61A60E"/>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9" name="Google Shape;2448;p33">
              <a:extLst>
                <a:ext uri="{FF2B5EF4-FFF2-40B4-BE49-F238E27FC236}">
                  <a16:creationId xmlns:a16="http://schemas.microsoft.com/office/drawing/2014/main" id="{5FA30895-7A91-EA6F-50C5-E51EB2116193}"/>
                </a:ext>
              </a:extLst>
            </p:cNvPr>
            <p:cNvGrpSpPr/>
            <p:nvPr/>
          </p:nvGrpSpPr>
          <p:grpSpPr>
            <a:xfrm>
              <a:off x="3809858" y="2845811"/>
              <a:ext cx="1040114" cy="1040389"/>
              <a:chOff x="1500244" y="2557731"/>
              <a:chExt cx="1040114" cy="1040389"/>
            </a:xfrm>
          </p:grpSpPr>
          <p:grpSp>
            <p:nvGrpSpPr>
              <p:cNvPr id="34" name="Google Shape;2449;p33">
                <a:extLst>
                  <a:ext uri="{FF2B5EF4-FFF2-40B4-BE49-F238E27FC236}">
                    <a16:creationId xmlns:a16="http://schemas.microsoft.com/office/drawing/2014/main" id="{0790A75C-390A-0BC9-630A-035866B02E7A}"/>
                  </a:ext>
                </a:extLst>
              </p:cNvPr>
              <p:cNvGrpSpPr/>
              <p:nvPr/>
            </p:nvGrpSpPr>
            <p:grpSpPr>
              <a:xfrm>
                <a:off x="1500244" y="2704283"/>
                <a:ext cx="896117" cy="893837"/>
                <a:chOff x="1433953" y="2642740"/>
                <a:chExt cx="896117" cy="893837"/>
              </a:xfrm>
            </p:grpSpPr>
            <p:sp>
              <p:nvSpPr>
                <p:cNvPr id="36" name="Google Shape;2450;p33">
                  <a:extLst>
                    <a:ext uri="{FF2B5EF4-FFF2-40B4-BE49-F238E27FC236}">
                      <a16:creationId xmlns:a16="http://schemas.microsoft.com/office/drawing/2014/main" id="{28B962BA-655D-A80E-813E-53870A0D4F58}"/>
                    </a:ext>
                  </a:extLst>
                </p:cNvPr>
                <p:cNvSpPr/>
                <p:nvPr/>
              </p:nvSpPr>
              <p:spPr>
                <a:xfrm>
                  <a:off x="1433953" y="2642740"/>
                  <a:ext cx="896117" cy="893557"/>
                </a:xfrm>
                <a:prstGeom prst="rect">
                  <a:avLst/>
                </a:prstGeom>
                <a:solidFill>
                  <a:schemeClr val="lt1"/>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
                      <a:srgbClr val="FFFFFF"/>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37" name="Google Shape;2451;p33">
                  <a:extLst>
                    <a:ext uri="{FF2B5EF4-FFF2-40B4-BE49-F238E27FC236}">
                      <a16:creationId xmlns:a16="http://schemas.microsoft.com/office/drawing/2014/main" id="{877657F8-4E2D-A024-6F94-6C609A2B3B97}"/>
                    </a:ext>
                  </a:extLst>
                </p:cNvPr>
                <p:cNvSpPr/>
                <p:nvPr/>
              </p:nvSpPr>
              <p:spPr>
                <a:xfrm>
                  <a:off x="1433953" y="2642740"/>
                  <a:ext cx="893842" cy="893837"/>
                </a:xfrm>
                <a:custGeom>
                  <a:avLst/>
                  <a:gdLst/>
                  <a:ahLst/>
                  <a:cxnLst/>
                  <a:rect l="l" t="t" r="r" b="b"/>
                  <a:pathLst>
                    <a:path w="713887" h="713886" extrusionOk="0">
                      <a:moveTo>
                        <a:pt x="612094" y="713887"/>
                      </a:moveTo>
                      <a:lnTo>
                        <a:pt x="0" y="713887"/>
                      </a:lnTo>
                      <a:lnTo>
                        <a:pt x="0" y="0"/>
                      </a:lnTo>
                      <a:lnTo>
                        <a:pt x="713888" y="0"/>
                      </a:lnTo>
                      <a:lnTo>
                        <a:pt x="713888" y="707760"/>
                      </a:lnTo>
                      <a:lnTo>
                        <a:pt x="695101" y="707760"/>
                      </a:lnTo>
                      <a:lnTo>
                        <a:pt x="695101" y="18786"/>
                      </a:lnTo>
                      <a:lnTo>
                        <a:pt x="18787" y="18786"/>
                      </a:lnTo>
                      <a:lnTo>
                        <a:pt x="18787" y="695100"/>
                      </a:lnTo>
                      <a:lnTo>
                        <a:pt x="612094" y="695100"/>
                      </a:lnTo>
                      <a:close/>
                    </a:path>
                  </a:pathLst>
                </a:custGeom>
                <a:solidFill>
                  <a:schemeClr val="accent2"/>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
                      <a:srgbClr val="FFFFFF"/>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38" name="Google Shape;2452;p33">
                  <a:extLst>
                    <a:ext uri="{FF2B5EF4-FFF2-40B4-BE49-F238E27FC236}">
                      <a16:creationId xmlns:a16="http://schemas.microsoft.com/office/drawing/2014/main" id="{41881126-2ACC-1920-00ED-82F77F450360}"/>
                    </a:ext>
                  </a:extLst>
                </p:cNvPr>
                <p:cNvSpPr/>
                <p:nvPr/>
              </p:nvSpPr>
              <p:spPr>
                <a:xfrm>
                  <a:off x="1702611" y="3036896"/>
                  <a:ext cx="119709" cy="121590"/>
                </a:xfrm>
                <a:custGeom>
                  <a:avLst/>
                  <a:gdLst/>
                  <a:ahLst/>
                  <a:cxnLst/>
                  <a:rect l="l" t="t" r="r" b="b"/>
                  <a:pathLst>
                    <a:path w="95608" h="97111" extrusionOk="0">
                      <a:moveTo>
                        <a:pt x="0" y="0"/>
                      </a:moveTo>
                      <a:lnTo>
                        <a:pt x="15781" y="0"/>
                      </a:lnTo>
                      <a:lnTo>
                        <a:pt x="48093" y="80580"/>
                      </a:lnTo>
                      <a:lnTo>
                        <a:pt x="79828" y="0"/>
                      </a:lnTo>
                      <a:lnTo>
                        <a:pt x="95609" y="0"/>
                      </a:lnTo>
                      <a:lnTo>
                        <a:pt x="54857" y="97112"/>
                      </a:lnTo>
                      <a:lnTo>
                        <a:pt x="41330" y="97112"/>
                      </a:lnTo>
                      <a:lnTo>
                        <a:pt x="0" y="0"/>
                      </a:lnTo>
                      <a:close/>
                    </a:path>
                  </a:pathLst>
                </a:custGeom>
                <a:solidFill>
                  <a:schemeClr val="accent2"/>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
                      <a:srgbClr val="FFFFFF"/>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39" name="Google Shape;2453;p33">
                  <a:extLst>
                    <a:ext uri="{FF2B5EF4-FFF2-40B4-BE49-F238E27FC236}">
                      <a16:creationId xmlns:a16="http://schemas.microsoft.com/office/drawing/2014/main" id="{9B6838A0-A246-530F-E37A-EA29EBDC47CC}"/>
                    </a:ext>
                  </a:extLst>
                </p:cNvPr>
                <p:cNvSpPr/>
                <p:nvPr/>
              </p:nvSpPr>
              <p:spPr>
                <a:xfrm>
                  <a:off x="1858583" y="3034001"/>
                  <a:ext cx="174860" cy="124485"/>
                </a:xfrm>
                <a:custGeom>
                  <a:avLst/>
                  <a:gdLst/>
                  <a:ahLst/>
                  <a:cxnLst/>
                  <a:rect l="l" t="t" r="r" b="b"/>
                  <a:pathLst>
                    <a:path w="139656" h="99423" extrusionOk="0">
                      <a:moveTo>
                        <a:pt x="139656" y="37631"/>
                      </a:moveTo>
                      <a:lnTo>
                        <a:pt x="139656" y="99424"/>
                      </a:lnTo>
                      <a:lnTo>
                        <a:pt x="125552" y="99424"/>
                      </a:lnTo>
                      <a:lnTo>
                        <a:pt x="125552" y="39481"/>
                      </a:lnTo>
                      <a:cubicBezTo>
                        <a:pt x="125552" y="23700"/>
                        <a:pt x="116361" y="12601"/>
                        <a:pt x="103181" y="12601"/>
                      </a:cubicBezTo>
                      <a:cubicBezTo>
                        <a:pt x="87805" y="12601"/>
                        <a:pt x="76880" y="22948"/>
                        <a:pt x="76880" y="37573"/>
                      </a:cubicBezTo>
                      <a:lnTo>
                        <a:pt x="76880" y="99366"/>
                      </a:lnTo>
                      <a:lnTo>
                        <a:pt x="62776" y="99366"/>
                      </a:lnTo>
                      <a:lnTo>
                        <a:pt x="62776" y="39481"/>
                      </a:lnTo>
                      <a:cubicBezTo>
                        <a:pt x="62776" y="23700"/>
                        <a:pt x="53585" y="12601"/>
                        <a:pt x="40406" y="12601"/>
                      </a:cubicBezTo>
                      <a:cubicBezTo>
                        <a:pt x="25029" y="12601"/>
                        <a:pt x="14104" y="22948"/>
                        <a:pt x="14104" y="37573"/>
                      </a:cubicBezTo>
                      <a:lnTo>
                        <a:pt x="14104" y="99366"/>
                      </a:lnTo>
                      <a:lnTo>
                        <a:pt x="0" y="99366"/>
                      </a:lnTo>
                      <a:lnTo>
                        <a:pt x="0" y="2254"/>
                      </a:lnTo>
                      <a:lnTo>
                        <a:pt x="14104" y="2254"/>
                      </a:lnTo>
                      <a:lnTo>
                        <a:pt x="14104" y="16532"/>
                      </a:lnTo>
                      <a:cubicBezTo>
                        <a:pt x="18960" y="6416"/>
                        <a:pt x="29480" y="0"/>
                        <a:pt x="42255" y="0"/>
                      </a:cubicBezTo>
                      <a:cubicBezTo>
                        <a:pt x="56880" y="0"/>
                        <a:pt x="68383" y="8093"/>
                        <a:pt x="73643" y="20636"/>
                      </a:cubicBezTo>
                      <a:cubicBezTo>
                        <a:pt x="77574" y="8035"/>
                        <a:pt x="90349" y="0"/>
                        <a:pt x="105031" y="0"/>
                      </a:cubicBezTo>
                      <a:cubicBezTo>
                        <a:pt x="125378" y="58"/>
                        <a:pt x="139656" y="15665"/>
                        <a:pt x="139656" y="37631"/>
                      </a:cubicBezTo>
                      <a:close/>
                    </a:path>
                  </a:pathLst>
                </a:custGeom>
                <a:solidFill>
                  <a:schemeClr val="accent2"/>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
                      <a:srgbClr val="FFFFFF"/>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sp>
            <p:nvSpPr>
              <p:cNvPr id="35" name="Google Shape;2454;p33">
                <a:extLst>
                  <a:ext uri="{FF2B5EF4-FFF2-40B4-BE49-F238E27FC236}">
                    <a16:creationId xmlns:a16="http://schemas.microsoft.com/office/drawing/2014/main" id="{5F45FDDE-2996-6ACF-7665-244249A9E110}"/>
                  </a:ext>
                </a:extLst>
              </p:cNvPr>
              <p:cNvSpPr/>
              <p:nvPr/>
            </p:nvSpPr>
            <p:spPr>
              <a:xfrm rot="5400000">
                <a:off x="2247814" y="2557731"/>
                <a:ext cx="292544" cy="292544"/>
              </a:xfrm>
              <a:prstGeom prst="triangle">
                <a:avLst>
                  <a:gd name="adj" fmla="val 50000"/>
                </a:avLst>
              </a:prstGeom>
              <a:solidFill>
                <a:schemeClr val="accent4"/>
              </a:solidFill>
              <a:ln w="25400" cap="flat" cmpd="sng">
                <a:solidFill>
                  <a:srgbClr val="61A60E"/>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0" name="Google Shape;2455;p33">
              <a:extLst>
                <a:ext uri="{FF2B5EF4-FFF2-40B4-BE49-F238E27FC236}">
                  <a16:creationId xmlns:a16="http://schemas.microsoft.com/office/drawing/2014/main" id="{E9C71266-90AF-103C-BA03-22BCC20E0BF9}"/>
                </a:ext>
              </a:extLst>
            </p:cNvPr>
            <p:cNvGrpSpPr/>
            <p:nvPr/>
          </p:nvGrpSpPr>
          <p:grpSpPr>
            <a:xfrm>
              <a:off x="5103618" y="2845811"/>
              <a:ext cx="1040114" cy="1040389"/>
              <a:chOff x="1500244" y="2557731"/>
              <a:chExt cx="1040114" cy="1040389"/>
            </a:xfrm>
          </p:grpSpPr>
          <p:grpSp>
            <p:nvGrpSpPr>
              <p:cNvPr id="28" name="Google Shape;2456;p33">
                <a:extLst>
                  <a:ext uri="{FF2B5EF4-FFF2-40B4-BE49-F238E27FC236}">
                    <a16:creationId xmlns:a16="http://schemas.microsoft.com/office/drawing/2014/main" id="{E0A0BBE8-52CC-C1CB-EC83-0D441DC9A094}"/>
                  </a:ext>
                </a:extLst>
              </p:cNvPr>
              <p:cNvGrpSpPr/>
              <p:nvPr/>
            </p:nvGrpSpPr>
            <p:grpSpPr>
              <a:xfrm>
                <a:off x="1500244" y="2704283"/>
                <a:ext cx="896117" cy="893837"/>
                <a:chOff x="1433953" y="2642740"/>
                <a:chExt cx="896117" cy="893837"/>
              </a:xfrm>
            </p:grpSpPr>
            <p:sp>
              <p:nvSpPr>
                <p:cNvPr id="30" name="Google Shape;2457;p33">
                  <a:extLst>
                    <a:ext uri="{FF2B5EF4-FFF2-40B4-BE49-F238E27FC236}">
                      <a16:creationId xmlns:a16="http://schemas.microsoft.com/office/drawing/2014/main" id="{168544F4-3CAD-2FF3-CA7D-B620A9E7E1EA}"/>
                    </a:ext>
                  </a:extLst>
                </p:cNvPr>
                <p:cNvSpPr/>
                <p:nvPr/>
              </p:nvSpPr>
              <p:spPr>
                <a:xfrm>
                  <a:off x="1433953" y="2642740"/>
                  <a:ext cx="896117" cy="893557"/>
                </a:xfrm>
                <a:prstGeom prst="rect">
                  <a:avLst/>
                </a:prstGeom>
                <a:solidFill>
                  <a:schemeClr val="lt1"/>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
                      <a:srgbClr val="FFFFFF"/>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31" name="Google Shape;2458;p33">
                  <a:extLst>
                    <a:ext uri="{FF2B5EF4-FFF2-40B4-BE49-F238E27FC236}">
                      <a16:creationId xmlns:a16="http://schemas.microsoft.com/office/drawing/2014/main" id="{896658B3-79F1-A93E-ECDC-85DC44851812}"/>
                    </a:ext>
                  </a:extLst>
                </p:cNvPr>
                <p:cNvSpPr/>
                <p:nvPr/>
              </p:nvSpPr>
              <p:spPr>
                <a:xfrm>
                  <a:off x="1433953" y="2642740"/>
                  <a:ext cx="893842" cy="893837"/>
                </a:xfrm>
                <a:custGeom>
                  <a:avLst/>
                  <a:gdLst/>
                  <a:ahLst/>
                  <a:cxnLst/>
                  <a:rect l="l" t="t" r="r" b="b"/>
                  <a:pathLst>
                    <a:path w="713887" h="713886" extrusionOk="0">
                      <a:moveTo>
                        <a:pt x="612094" y="713887"/>
                      </a:moveTo>
                      <a:lnTo>
                        <a:pt x="0" y="713887"/>
                      </a:lnTo>
                      <a:lnTo>
                        <a:pt x="0" y="0"/>
                      </a:lnTo>
                      <a:lnTo>
                        <a:pt x="713888" y="0"/>
                      </a:lnTo>
                      <a:lnTo>
                        <a:pt x="713888" y="707760"/>
                      </a:lnTo>
                      <a:lnTo>
                        <a:pt x="695101" y="707760"/>
                      </a:lnTo>
                      <a:lnTo>
                        <a:pt x="695101" y="18786"/>
                      </a:lnTo>
                      <a:lnTo>
                        <a:pt x="18787" y="18786"/>
                      </a:lnTo>
                      <a:lnTo>
                        <a:pt x="18787" y="695100"/>
                      </a:lnTo>
                      <a:lnTo>
                        <a:pt x="612094" y="695100"/>
                      </a:lnTo>
                      <a:close/>
                    </a:path>
                  </a:pathLst>
                </a:custGeom>
                <a:solidFill>
                  <a:schemeClr val="accent2"/>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
                      <a:srgbClr val="FFFFFF"/>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32" name="Google Shape;2459;p33">
                  <a:extLst>
                    <a:ext uri="{FF2B5EF4-FFF2-40B4-BE49-F238E27FC236}">
                      <a16:creationId xmlns:a16="http://schemas.microsoft.com/office/drawing/2014/main" id="{C693BB79-7B11-A100-9BF6-FEE8029208CA}"/>
                    </a:ext>
                  </a:extLst>
                </p:cNvPr>
                <p:cNvSpPr/>
                <p:nvPr/>
              </p:nvSpPr>
              <p:spPr>
                <a:xfrm>
                  <a:off x="1702611" y="3036896"/>
                  <a:ext cx="119709" cy="121590"/>
                </a:xfrm>
                <a:custGeom>
                  <a:avLst/>
                  <a:gdLst/>
                  <a:ahLst/>
                  <a:cxnLst/>
                  <a:rect l="l" t="t" r="r" b="b"/>
                  <a:pathLst>
                    <a:path w="95608" h="97111" extrusionOk="0">
                      <a:moveTo>
                        <a:pt x="0" y="0"/>
                      </a:moveTo>
                      <a:lnTo>
                        <a:pt x="15781" y="0"/>
                      </a:lnTo>
                      <a:lnTo>
                        <a:pt x="48093" y="80580"/>
                      </a:lnTo>
                      <a:lnTo>
                        <a:pt x="79828" y="0"/>
                      </a:lnTo>
                      <a:lnTo>
                        <a:pt x="95609" y="0"/>
                      </a:lnTo>
                      <a:lnTo>
                        <a:pt x="54857" y="97112"/>
                      </a:lnTo>
                      <a:lnTo>
                        <a:pt x="41330" y="97112"/>
                      </a:lnTo>
                      <a:lnTo>
                        <a:pt x="0" y="0"/>
                      </a:lnTo>
                      <a:close/>
                    </a:path>
                  </a:pathLst>
                </a:custGeom>
                <a:solidFill>
                  <a:schemeClr val="accent2"/>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
                      <a:srgbClr val="FFFFFF"/>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33" name="Google Shape;2460;p33">
                  <a:extLst>
                    <a:ext uri="{FF2B5EF4-FFF2-40B4-BE49-F238E27FC236}">
                      <a16:creationId xmlns:a16="http://schemas.microsoft.com/office/drawing/2014/main" id="{24A17142-F072-31A0-EB47-0390D7534525}"/>
                    </a:ext>
                  </a:extLst>
                </p:cNvPr>
                <p:cNvSpPr/>
                <p:nvPr/>
              </p:nvSpPr>
              <p:spPr>
                <a:xfrm>
                  <a:off x="1858583" y="3034001"/>
                  <a:ext cx="174860" cy="124485"/>
                </a:xfrm>
                <a:custGeom>
                  <a:avLst/>
                  <a:gdLst/>
                  <a:ahLst/>
                  <a:cxnLst/>
                  <a:rect l="l" t="t" r="r" b="b"/>
                  <a:pathLst>
                    <a:path w="139656" h="99423" extrusionOk="0">
                      <a:moveTo>
                        <a:pt x="139656" y="37631"/>
                      </a:moveTo>
                      <a:lnTo>
                        <a:pt x="139656" y="99424"/>
                      </a:lnTo>
                      <a:lnTo>
                        <a:pt x="125552" y="99424"/>
                      </a:lnTo>
                      <a:lnTo>
                        <a:pt x="125552" y="39481"/>
                      </a:lnTo>
                      <a:cubicBezTo>
                        <a:pt x="125552" y="23700"/>
                        <a:pt x="116361" y="12601"/>
                        <a:pt x="103181" y="12601"/>
                      </a:cubicBezTo>
                      <a:cubicBezTo>
                        <a:pt x="87805" y="12601"/>
                        <a:pt x="76880" y="22948"/>
                        <a:pt x="76880" y="37573"/>
                      </a:cubicBezTo>
                      <a:lnTo>
                        <a:pt x="76880" y="99366"/>
                      </a:lnTo>
                      <a:lnTo>
                        <a:pt x="62776" y="99366"/>
                      </a:lnTo>
                      <a:lnTo>
                        <a:pt x="62776" y="39481"/>
                      </a:lnTo>
                      <a:cubicBezTo>
                        <a:pt x="62776" y="23700"/>
                        <a:pt x="53585" y="12601"/>
                        <a:pt x="40406" y="12601"/>
                      </a:cubicBezTo>
                      <a:cubicBezTo>
                        <a:pt x="25029" y="12601"/>
                        <a:pt x="14104" y="22948"/>
                        <a:pt x="14104" y="37573"/>
                      </a:cubicBezTo>
                      <a:lnTo>
                        <a:pt x="14104" y="99366"/>
                      </a:lnTo>
                      <a:lnTo>
                        <a:pt x="0" y="99366"/>
                      </a:lnTo>
                      <a:lnTo>
                        <a:pt x="0" y="2254"/>
                      </a:lnTo>
                      <a:lnTo>
                        <a:pt x="14104" y="2254"/>
                      </a:lnTo>
                      <a:lnTo>
                        <a:pt x="14104" y="16532"/>
                      </a:lnTo>
                      <a:cubicBezTo>
                        <a:pt x="18960" y="6416"/>
                        <a:pt x="29480" y="0"/>
                        <a:pt x="42255" y="0"/>
                      </a:cubicBezTo>
                      <a:cubicBezTo>
                        <a:pt x="56880" y="0"/>
                        <a:pt x="68383" y="8093"/>
                        <a:pt x="73643" y="20636"/>
                      </a:cubicBezTo>
                      <a:cubicBezTo>
                        <a:pt x="77574" y="8035"/>
                        <a:pt x="90349" y="0"/>
                        <a:pt x="105031" y="0"/>
                      </a:cubicBezTo>
                      <a:cubicBezTo>
                        <a:pt x="125378" y="58"/>
                        <a:pt x="139656" y="15665"/>
                        <a:pt x="139656" y="37631"/>
                      </a:cubicBezTo>
                      <a:close/>
                    </a:path>
                  </a:pathLst>
                </a:custGeom>
                <a:solidFill>
                  <a:schemeClr val="accent2"/>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
                      <a:srgbClr val="FFFFFF"/>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sp>
            <p:nvSpPr>
              <p:cNvPr id="29" name="Google Shape;2461;p33">
                <a:extLst>
                  <a:ext uri="{FF2B5EF4-FFF2-40B4-BE49-F238E27FC236}">
                    <a16:creationId xmlns:a16="http://schemas.microsoft.com/office/drawing/2014/main" id="{024D08BA-885D-B2AD-28CF-BDDB14B5C3C2}"/>
                  </a:ext>
                </a:extLst>
              </p:cNvPr>
              <p:cNvSpPr/>
              <p:nvPr/>
            </p:nvSpPr>
            <p:spPr>
              <a:xfrm rot="5400000">
                <a:off x="2247814" y="2557731"/>
                <a:ext cx="292544" cy="292544"/>
              </a:xfrm>
              <a:prstGeom prst="triangle">
                <a:avLst>
                  <a:gd name="adj" fmla="val 50000"/>
                </a:avLst>
              </a:prstGeom>
              <a:solidFill>
                <a:schemeClr val="accent4"/>
              </a:solidFill>
              <a:ln w="25400" cap="flat" cmpd="sng">
                <a:solidFill>
                  <a:srgbClr val="61A60E"/>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1" name="Google Shape;2462;p33">
              <a:extLst>
                <a:ext uri="{FF2B5EF4-FFF2-40B4-BE49-F238E27FC236}">
                  <a16:creationId xmlns:a16="http://schemas.microsoft.com/office/drawing/2014/main" id="{401E6ADB-5A88-7311-9C5B-8182D8B3284D}"/>
                </a:ext>
              </a:extLst>
            </p:cNvPr>
            <p:cNvGrpSpPr/>
            <p:nvPr/>
          </p:nvGrpSpPr>
          <p:grpSpPr>
            <a:xfrm>
              <a:off x="6397378" y="2845811"/>
              <a:ext cx="1040114" cy="1040389"/>
              <a:chOff x="1500244" y="2557731"/>
              <a:chExt cx="1040114" cy="1040389"/>
            </a:xfrm>
          </p:grpSpPr>
          <p:grpSp>
            <p:nvGrpSpPr>
              <p:cNvPr id="22" name="Google Shape;2463;p33">
                <a:extLst>
                  <a:ext uri="{FF2B5EF4-FFF2-40B4-BE49-F238E27FC236}">
                    <a16:creationId xmlns:a16="http://schemas.microsoft.com/office/drawing/2014/main" id="{432DD0CB-698F-B06F-95D0-8D488C0BB488}"/>
                  </a:ext>
                </a:extLst>
              </p:cNvPr>
              <p:cNvGrpSpPr/>
              <p:nvPr/>
            </p:nvGrpSpPr>
            <p:grpSpPr>
              <a:xfrm>
                <a:off x="1500244" y="2704283"/>
                <a:ext cx="896117" cy="893837"/>
                <a:chOff x="1433953" y="2642740"/>
                <a:chExt cx="896117" cy="893837"/>
              </a:xfrm>
            </p:grpSpPr>
            <p:sp>
              <p:nvSpPr>
                <p:cNvPr id="24" name="Google Shape;2464;p33">
                  <a:extLst>
                    <a:ext uri="{FF2B5EF4-FFF2-40B4-BE49-F238E27FC236}">
                      <a16:creationId xmlns:a16="http://schemas.microsoft.com/office/drawing/2014/main" id="{990B294D-A6AC-C2D9-8373-DD3F1DB4CF59}"/>
                    </a:ext>
                  </a:extLst>
                </p:cNvPr>
                <p:cNvSpPr/>
                <p:nvPr/>
              </p:nvSpPr>
              <p:spPr>
                <a:xfrm>
                  <a:off x="1433953" y="2642740"/>
                  <a:ext cx="896117" cy="893557"/>
                </a:xfrm>
                <a:prstGeom prst="rect">
                  <a:avLst/>
                </a:prstGeom>
                <a:solidFill>
                  <a:schemeClr val="lt1"/>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
                      <a:srgbClr val="FFFFFF"/>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5" name="Google Shape;2465;p33">
                  <a:extLst>
                    <a:ext uri="{FF2B5EF4-FFF2-40B4-BE49-F238E27FC236}">
                      <a16:creationId xmlns:a16="http://schemas.microsoft.com/office/drawing/2014/main" id="{358F6157-5A4D-B0C2-7617-0693625C1C6E}"/>
                    </a:ext>
                  </a:extLst>
                </p:cNvPr>
                <p:cNvSpPr/>
                <p:nvPr/>
              </p:nvSpPr>
              <p:spPr>
                <a:xfrm>
                  <a:off x="1433953" y="2642740"/>
                  <a:ext cx="893842" cy="893837"/>
                </a:xfrm>
                <a:custGeom>
                  <a:avLst/>
                  <a:gdLst/>
                  <a:ahLst/>
                  <a:cxnLst/>
                  <a:rect l="l" t="t" r="r" b="b"/>
                  <a:pathLst>
                    <a:path w="713887" h="713886" extrusionOk="0">
                      <a:moveTo>
                        <a:pt x="612094" y="713887"/>
                      </a:moveTo>
                      <a:lnTo>
                        <a:pt x="0" y="713887"/>
                      </a:lnTo>
                      <a:lnTo>
                        <a:pt x="0" y="0"/>
                      </a:lnTo>
                      <a:lnTo>
                        <a:pt x="713888" y="0"/>
                      </a:lnTo>
                      <a:lnTo>
                        <a:pt x="713888" y="707760"/>
                      </a:lnTo>
                      <a:lnTo>
                        <a:pt x="695101" y="707760"/>
                      </a:lnTo>
                      <a:lnTo>
                        <a:pt x="695101" y="18786"/>
                      </a:lnTo>
                      <a:lnTo>
                        <a:pt x="18787" y="18786"/>
                      </a:lnTo>
                      <a:lnTo>
                        <a:pt x="18787" y="695100"/>
                      </a:lnTo>
                      <a:lnTo>
                        <a:pt x="612094" y="695100"/>
                      </a:lnTo>
                      <a:close/>
                    </a:path>
                  </a:pathLst>
                </a:custGeom>
                <a:solidFill>
                  <a:schemeClr val="accent2"/>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
                      <a:srgbClr val="FFFFFF"/>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6" name="Google Shape;2466;p33">
                  <a:extLst>
                    <a:ext uri="{FF2B5EF4-FFF2-40B4-BE49-F238E27FC236}">
                      <a16:creationId xmlns:a16="http://schemas.microsoft.com/office/drawing/2014/main" id="{1DFDF253-4ADD-339B-A01E-88D03E402028}"/>
                    </a:ext>
                  </a:extLst>
                </p:cNvPr>
                <p:cNvSpPr/>
                <p:nvPr/>
              </p:nvSpPr>
              <p:spPr>
                <a:xfrm>
                  <a:off x="1702611" y="3036896"/>
                  <a:ext cx="119709" cy="121590"/>
                </a:xfrm>
                <a:custGeom>
                  <a:avLst/>
                  <a:gdLst/>
                  <a:ahLst/>
                  <a:cxnLst/>
                  <a:rect l="l" t="t" r="r" b="b"/>
                  <a:pathLst>
                    <a:path w="95608" h="97111" extrusionOk="0">
                      <a:moveTo>
                        <a:pt x="0" y="0"/>
                      </a:moveTo>
                      <a:lnTo>
                        <a:pt x="15781" y="0"/>
                      </a:lnTo>
                      <a:lnTo>
                        <a:pt x="48093" y="80580"/>
                      </a:lnTo>
                      <a:lnTo>
                        <a:pt x="79828" y="0"/>
                      </a:lnTo>
                      <a:lnTo>
                        <a:pt x="95609" y="0"/>
                      </a:lnTo>
                      <a:lnTo>
                        <a:pt x="54857" y="97112"/>
                      </a:lnTo>
                      <a:lnTo>
                        <a:pt x="41330" y="97112"/>
                      </a:lnTo>
                      <a:lnTo>
                        <a:pt x="0" y="0"/>
                      </a:lnTo>
                      <a:close/>
                    </a:path>
                  </a:pathLst>
                </a:custGeom>
                <a:solidFill>
                  <a:schemeClr val="accent2"/>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
                      <a:srgbClr val="FFFFFF"/>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7" name="Google Shape;2467;p33">
                  <a:extLst>
                    <a:ext uri="{FF2B5EF4-FFF2-40B4-BE49-F238E27FC236}">
                      <a16:creationId xmlns:a16="http://schemas.microsoft.com/office/drawing/2014/main" id="{18AD604E-A7B1-1A6B-AF47-FBA30B2AC05C}"/>
                    </a:ext>
                  </a:extLst>
                </p:cNvPr>
                <p:cNvSpPr/>
                <p:nvPr/>
              </p:nvSpPr>
              <p:spPr>
                <a:xfrm>
                  <a:off x="1858583" y="3034001"/>
                  <a:ext cx="174860" cy="124485"/>
                </a:xfrm>
                <a:custGeom>
                  <a:avLst/>
                  <a:gdLst/>
                  <a:ahLst/>
                  <a:cxnLst/>
                  <a:rect l="l" t="t" r="r" b="b"/>
                  <a:pathLst>
                    <a:path w="139656" h="99423" extrusionOk="0">
                      <a:moveTo>
                        <a:pt x="139656" y="37631"/>
                      </a:moveTo>
                      <a:lnTo>
                        <a:pt x="139656" y="99424"/>
                      </a:lnTo>
                      <a:lnTo>
                        <a:pt x="125552" y="99424"/>
                      </a:lnTo>
                      <a:lnTo>
                        <a:pt x="125552" y="39481"/>
                      </a:lnTo>
                      <a:cubicBezTo>
                        <a:pt x="125552" y="23700"/>
                        <a:pt x="116361" y="12601"/>
                        <a:pt x="103181" y="12601"/>
                      </a:cubicBezTo>
                      <a:cubicBezTo>
                        <a:pt x="87805" y="12601"/>
                        <a:pt x="76880" y="22948"/>
                        <a:pt x="76880" y="37573"/>
                      </a:cubicBezTo>
                      <a:lnTo>
                        <a:pt x="76880" y="99366"/>
                      </a:lnTo>
                      <a:lnTo>
                        <a:pt x="62776" y="99366"/>
                      </a:lnTo>
                      <a:lnTo>
                        <a:pt x="62776" y="39481"/>
                      </a:lnTo>
                      <a:cubicBezTo>
                        <a:pt x="62776" y="23700"/>
                        <a:pt x="53585" y="12601"/>
                        <a:pt x="40406" y="12601"/>
                      </a:cubicBezTo>
                      <a:cubicBezTo>
                        <a:pt x="25029" y="12601"/>
                        <a:pt x="14104" y="22948"/>
                        <a:pt x="14104" y="37573"/>
                      </a:cubicBezTo>
                      <a:lnTo>
                        <a:pt x="14104" y="99366"/>
                      </a:lnTo>
                      <a:lnTo>
                        <a:pt x="0" y="99366"/>
                      </a:lnTo>
                      <a:lnTo>
                        <a:pt x="0" y="2254"/>
                      </a:lnTo>
                      <a:lnTo>
                        <a:pt x="14104" y="2254"/>
                      </a:lnTo>
                      <a:lnTo>
                        <a:pt x="14104" y="16532"/>
                      </a:lnTo>
                      <a:cubicBezTo>
                        <a:pt x="18960" y="6416"/>
                        <a:pt x="29480" y="0"/>
                        <a:pt x="42255" y="0"/>
                      </a:cubicBezTo>
                      <a:cubicBezTo>
                        <a:pt x="56880" y="0"/>
                        <a:pt x="68383" y="8093"/>
                        <a:pt x="73643" y="20636"/>
                      </a:cubicBezTo>
                      <a:cubicBezTo>
                        <a:pt x="77574" y="8035"/>
                        <a:pt x="90349" y="0"/>
                        <a:pt x="105031" y="0"/>
                      </a:cubicBezTo>
                      <a:cubicBezTo>
                        <a:pt x="125378" y="58"/>
                        <a:pt x="139656" y="15665"/>
                        <a:pt x="139656" y="37631"/>
                      </a:cubicBezTo>
                      <a:close/>
                    </a:path>
                  </a:pathLst>
                </a:custGeom>
                <a:solidFill>
                  <a:schemeClr val="accent2"/>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
                      <a:srgbClr val="FFFFFF"/>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sp>
            <p:nvSpPr>
              <p:cNvPr id="23" name="Google Shape;2468;p33">
                <a:extLst>
                  <a:ext uri="{FF2B5EF4-FFF2-40B4-BE49-F238E27FC236}">
                    <a16:creationId xmlns:a16="http://schemas.microsoft.com/office/drawing/2014/main" id="{A630FFF9-DC88-A958-082A-1A10627235DB}"/>
                  </a:ext>
                </a:extLst>
              </p:cNvPr>
              <p:cNvSpPr/>
              <p:nvPr/>
            </p:nvSpPr>
            <p:spPr>
              <a:xfrm rot="5400000">
                <a:off x="2247814" y="2557731"/>
                <a:ext cx="292544" cy="292544"/>
              </a:xfrm>
              <a:prstGeom prst="triangle">
                <a:avLst>
                  <a:gd name="adj" fmla="val 50000"/>
                </a:avLst>
              </a:prstGeom>
              <a:solidFill>
                <a:schemeClr val="accent4"/>
              </a:solidFill>
              <a:ln w="25400" cap="flat" cmpd="sng">
                <a:solidFill>
                  <a:srgbClr val="61A60E"/>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grpSp>
        <p:nvGrpSpPr>
          <p:cNvPr id="52" name="Google Shape;2469;p33">
            <a:extLst>
              <a:ext uri="{FF2B5EF4-FFF2-40B4-BE49-F238E27FC236}">
                <a16:creationId xmlns:a16="http://schemas.microsoft.com/office/drawing/2014/main" id="{65C15137-21B7-E0AA-E0EE-61A27C712AAF}"/>
              </a:ext>
            </a:extLst>
          </p:cNvPr>
          <p:cNvGrpSpPr/>
          <p:nvPr/>
        </p:nvGrpSpPr>
        <p:grpSpPr>
          <a:xfrm>
            <a:off x="7694475" y="3385725"/>
            <a:ext cx="383750" cy="382304"/>
            <a:chOff x="8120744" y="5592216"/>
            <a:chExt cx="977998" cy="974339"/>
          </a:xfrm>
        </p:grpSpPr>
        <p:sp>
          <p:nvSpPr>
            <p:cNvPr id="53" name="Google Shape;2470;p33">
              <a:extLst>
                <a:ext uri="{FF2B5EF4-FFF2-40B4-BE49-F238E27FC236}">
                  <a16:creationId xmlns:a16="http://schemas.microsoft.com/office/drawing/2014/main" id="{B47B7F1F-CCF1-876D-8135-468C73F1C0C4}"/>
                </a:ext>
              </a:extLst>
            </p:cNvPr>
            <p:cNvSpPr/>
            <p:nvPr/>
          </p:nvSpPr>
          <p:spPr>
            <a:xfrm>
              <a:off x="8120744" y="5592216"/>
              <a:ext cx="977998" cy="974339"/>
            </a:xfrm>
            <a:prstGeom prst="rect">
              <a:avLst/>
            </a:prstGeom>
            <a:solidFill>
              <a:schemeClr val="lt1"/>
            </a:solidFill>
            <a:ln w="12700" cap="flat" cmpd="sng">
              <a:solidFill>
                <a:schemeClr val="dk1"/>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54" name="Google Shape;2471;p33">
              <a:extLst>
                <a:ext uri="{FF2B5EF4-FFF2-40B4-BE49-F238E27FC236}">
                  <a16:creationId xmlns:a16="http://schemas.microsoft.com/office/drawing/2014/main" id="{3CE51BB1-CB8E-D0DB-BFC6-53AC873E61A6}"/>
                </a:ext>
              </a:extLst>
            </p:cNvPr>
            <p:cNvGrpSpPr/>
            <p:nvPr/>
          </p:nvGrpSpPr>
          <p:grpSpPr>
            <a:xfrm>
              <a:off x="8157972" y="5628817"/>
              <a:ext cx="908917" cy="908918"/>
              <a:chOff x="8501734" y="5811486"/>
              <a:chExt cx="794656" cy="794657"/>
            </a:xfrm>
          </p:grpSpPr>
          <p:sp>
            <p:nvSpPr>
              <p:cNvPr id="55" name="Google Shape;2472;p33">
                <a:extLst>
                  <a:ext uri="{FF2B5EF4-FFF2-40B4-BE49-F238E27FC236}">
                    <a16:creationId xmlns:a16="http://schemas.microsoft.com/office/drawing/2014/main" id="{F62CB794-AC2A-3E55-9E87-CAD90F5DC383}"/>
                  </a:ext>
                </a:extLst>
              </p:cNvPr>
              <p:cNvSpPr/>
              <p:nvPr/>
            </p:nvSpPr>
            <p:spPr>
              <a:xfrm>
                <a:off x="8501734" y="5812976"/>
                <a:ext cx="794656" cy="791684"/>
              </a:xfrm>
              <a:prstGeom prst="rect">
                <a:avLst/>
              </a:prstGeom>
              <a:solidFill>
                <a:srgbClr val="7F7F7F"/>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56" name="Google Shape;2473;p33">
                <a:extLst>
                  <a:ext uri="{FF2B5EF4-FFF2-40B4-BE49-F238E27FC236}">
                    <a16:creationId xmlns:a16="http://schemas.microsoft.com/office/drawing/2014/main" id="{BFE2D2CE-A757-3974-00D3-0D05DBEAE0ED}"/>
                  </a:ext>
                </a:extLst>
              </p:cNvPr>
              <p:cNvSpPr/>
              <p:nvPr/>
            </p:nvSpPr>
            <p:spPr>
              <a:xfrm rot="5400000">
                <a:off x="8501743" y="5812972"/>
                <a:ext cx="794657" cy="791684"/>
              </a:xfrm>
              <a:prstGeom prst="rtTriangle">
                <a:avLst/>
              </a:prstGeom>
              <a:solidFill>
                <a:schemeClr val="accent6"/>
              </a:solidFill>
              <a:ln>
                <a:noFill/>
              </a:ln>
            </p:spPr>
            <p:txBody>
              <a:bodyPr spcFirstLastPara="1" wrap="square" lIns="91401" tIns="45688" rIns="91401" bIns="45688" anchor="ctr" anchorCtr="0">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grpSp>
      <p:pic>
        <p:nvPicPr>
          <p:cNvPr id="57" name="Google Shape;2474;p33" descr="Lightning bolt with solid fill">
            <a:extLst>
              <a:ext uri="{FF2B5EF4-FFF2-40B4-BE49-F238E27FC236}">
                <a16:creationId xmlns:a16="http://schemas.microsoft.com/office/drawing/2014/main" id="{A5AB900D-F4E9-BBCC-A5D9-2EA4257BD018}"/>
              </a:ext>
            </a:extLst>
          </p:cNvPr>
          <p:cNvPicPr preferRelativeResize="0">
            <a:picLocks/>
          </p:cNvPicPr>
          <p:nvPr/>
        </p:nvPicPr>
        <p:blipFill rotWithShape="1">
          <a:blip r:embed="rId4">
            <a:alphaModFix/>
          </a:blip>
          <a:srcRect/>
          <a:stretch/>
        </p:blipFill>
        <p:spPr>
          <a:xfrm>
            <a:off x="1760423" y="3850232"/>
            <a:ext cx="687338" cy="687338"/>
          </a:xfrm>
          <a:prstGeom prst="rect">
            <a:avLst/>
          </a:prstGeom>
          <a:noFill/>
          <a:ln>
            <a:noFill/>
          </a:ln>
        </p:spPr>
      </p:pic>
    </p:spTree>
    <p:extLst>
      <p:ext uri="{BB962C8B-B14F-4D97-AF65-F5344CB8AC3E}">
        <p14:creationId xmlns:p14="http://schemas.microsoft.com/office/powerpoint/2010/main" val="3263097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57"/>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childTnLst>
                                </p:cTn>
                              </p:par>
                            </p:childTnLst>
                          </p:cTn>
                        </p:par>
                        <p:par>
                          <p:cTn id="16" fill="hold">
                            <p:stCondLst>
                              <p:cond delay="0"/>
                            </p:stCondLst>
                            <p:childTnLst>
                              <p:par>
                                <p:cTn id="17" presetID="10" presetClass="exit" presetSubtype="0" fill="hold" nodeType="afterEffect">
                                  <p:stCondLst>
                                    <p:cond delay="0"/>
                                  </p:stCondLst>
                                  <p:childTnLst>
                                    <p:animEffect transition="out" filter="fade">
                                      <p:cBhvr>
                                        <p:cTn id="18" dur="1000"/>
                                        <p:tgtEl>
                                          <p:spTgt spid="52"/>
                                        </p:tgtEl>
                                      </p:cBhvr>
                                    </p:animEffect>
                                    <p:set>
                                      <p:cBhvr>
                                        <p:cTn id="19" dur="1" fill="hold">
                                          <p:stCondLst>
                                            <p:cond delay="1000"/>
                                          </p:stCondLst>
                                        </p:cTn>
                                        <p:tgtEl>
                                          <p:spTgt spid="5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8F696-1BCA-5451-05B3-CC52442C17F1}"/>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5BB81627-614D-223E-2861-5DD7E313EB19}"/>
              </a:ext>
            </a:extLst>
          </p:cNvPr>
          <p:cNvSpPr>
            <a:spLocks noGrp="1"/>
          </p:cNvSpPr>
          <p:nvPr>
            <p:ph type="title"/>
          </p:nvPr>
        </p:nvSpPr>
        <p:spPr/>
        <p:txBody>
          <a:bodyPr/>
          <a:lstStyle/>
          <a:p>
            <a:r>
              <a:rPr lang="en-US"/>
              <a:t>Simplified Lifecyle for VCF Management Components</a:t>
            </a:r>
            <a:endParaRPr lang="en-US" dirty="0"/>
          </a:p>
        </p:txBody>
      </p:sp>
      <p:sp>
        <p:nvSpPr>
          <p:cNvPr id="13" name="Subtitle 12">
            <a:extLst>
              <a:ext uri="{FF2B5EF4-FFF2-40B4-BE49-F238E27FC236}">
                <a16:creationId xmlns:a16="http://schemas.microsoft.com/office/drawing/2014/main" id="{3D982150-3D51-6CDC-8580-3CF8DEC7DBC2}"/>
              </a:ext>
            </a:extLst>
          </p:cNvPr>
          <p:cNvSpPr>
            <a:spLocks noGrp="1"/>
          </p:cNvSpPr>
          <p:nvPr>
            <p:ph type="subTitle" idx="10"/>
          </p:nvPr>
        </p:nvSpPr>
        <p:spPr/>
        <p:txBody>
          <a:bodyPr/>
          <a:lstStyle/>
          <a:p>
            <a:r>
              <a:rPr lang="en-US" dirty="0">
                <a:solidFill>
                  <a:schemeClr val="dk1"/>
                </a:solidFill>
              </a:rPr>
              <a:t>VCF Operations Fleet Management</a:t>
            </a:r>
            <a:endParaRPr lang="en-US" b="0" dirty="0">
              <a:solidFill>
                <a:schemeClr val="dk1"/>
              </a:solidFill>
            </a:endParaRPr>
          </a:p>
          <a:p>
            <a:endParaRPr lang="en-US" dirty="0"/>
          </a:p>
        </p:txBody>
      </p:sp>
      <p:sp>
        <p:nvSpPr>
          <p:cNvPr id="4" name="Text Placeholder 3">
            <a:extLst>
              <a:ext uri="{FF2B5EF4-FFF2-40B4-BE49-F238E27FC236}">
                <a16:creationId xmlns:a16="http://schemas.microsoft.com/office/drawing/2014/main" id="{FC86FF96-C47E-05F4-37D5-B6A72E5FE081}"/>
              </a:ext>
            </a:extLst>
          </p:cNvPr>
          <p:cNvSpPr>
            <a:spLocks noGrp="1"/>
          </p:cNvSpPr>
          <p:nvPr>
            <p:ph type="body" sz="quarter" idx="17"/>
          </p:nvPr>
        </p:nvSpPr>
        <p:spPr>
          <a:xfrm>
            <a:off x="8379818" y="1600676"/>
            <a:ext cx="3807420" cy="4570809"/>
          </a:xfrm>
        </p:spPr>
        <p:txBody>
          <a:bodyPr/>
          <a:lstStyle/>
          <a:p>
            <a:r>
              <a:rPr lang="en-US" dirty="0"/>
              <a:t>Enable and manage components from the Overview pane</a:t>
            </a:r>
          </a:p>
          <a:p>
            <a:pPr lvl="1"/>
            <a:r>
              <a:rPr lang="en-US" dirty="0">
                <a:sym typeface="Arial"/>
              </a:rPr>
              <a:t>Available for VCF Automation, VCF Identity Broker and VCF Operations Fleet Management</a:t>
            </a:r>
          </a:p>
          <a:p>
            <a:r>
              <a:rPr lang="en-US" dirty="0">
                <a:sym typeface="Arial"/>
              </a:rPr>
              <a:t>“Plan Upgrades” efficiently</a:t>
            </a:r>
          </a:p>
          <a:p>
            <a:r>
              <a:rPr lang="en-US" dirty="0">
                <a:sym typeface="Arial"/>
              </a:rPr>
              <a:t>Integrations and lifecycle of management components converged into VCF Operations</a:t>
            </a:r>
          </a:p>
          <a:p>
            <a:r>
              <a:rPr lang="en-US" dirty="0">
                <a:sym typeface="Arial"/>
              </a:rPr>
              <a:t>VCF Depot integration for binaries</a:t>
            </a:r>
          </a:p>
          <a:p>
            <a:pPr lvl="1"/>
            <a:r>
              <a:rPr lang="en-US" dirty="0">
                <a:sym typeface="Arial"/>
              </a:rPr>
              <a:t>Online, Air-Gapped and Dark-Sites</a:t>
            </a:r>
          </a:p>
          <a:p>
            <a:r>
              <a:rPr lang="en-US" dirty="0">
                <a:sym typeface="Arial"/>
              </a:rPr>
              <a:t>Backup &amp; Restore</a:t>
            </a:r>
          </a:p>
          <a:p>
            <a:endParaRPr lang="en-US" dirty="0"/>
          </a:p>
          <a:p>
            <a:endParaRPr lang="en-US" dirty="0"/>
          </a:p>
        </p:txBody>
      </p:sp>
      <p:sp>
        <p:nvSpPr>
          <p:cNvPr id="15" name="Google Shape;1527;p8">
            <a:extLst>
              <a:ext uri="{FF2B5EF4-FFF2-40B4-BE49-F238E27FC236}">
                <a16:creationId xmlns:a16="http://schemas.microsoft.com/office/drawing/2014/main" id="{E0FB00FF-9141-1C0B-2822-37157D9E8214}"/>
              </a:ext>
            </a:extLst>
          </p:cNvPr>
          <p:cNvSpPr/>
          <p:nvPr/>
        </p:nvSpPr>
        <p:spPr>
          <a:xfrm>
            <a:off x="594298" y="1610005"/>
            <a:ext cx="7438027" cy="4165151"/>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3" name="Picture 2">
            <a:extLst>
              <a:ext uri="{FF2B5EF4-FFF2-40B4-BE49-F238E27FC236}">
                <a16:creationId xmlns:a16="http://schemas.microsoft.com/office/drawing/2014/main" id="{94152580-81B3-1831-96C9-870E6BC14A1F}"/>
              </a:ext>
            </a:extLst>
          </p:cNvPr>
          <p:cNvPicPr>
            <a:picLocks noChangeAspect="1"/>
          </p:cNvPicPr>
          <p:nvPr/>
        </p:nvPicPr>
        <p:blipFill>
          <a:blip r:embed="rId3"/>
          <a:stretch>
            <a:fillRect/>
          </a:stretch>
        </p:blipFill>
        <p:spPr>
          <a:xfrm>
            <a:off x="666248" y="1680140"/>
            <a:ext cx="7308724" cy="4020789"/>
          </a:xfrm>
          <a:prstGeom prst="rect">
            <a:avLst/>
          </a:prstGeom>
        </p:spPr>
      </p:pic>
      <p:pic>
        <p:nvPicPr>
          <p:cNvPr id="5" name="Picture 4">
            <a:extLst>
              <a:ext uri="{FF2B5EF4-FFF2-40B4-BE49-F238E27FC236}">
                <a16:creationId xmlns:a16="http://schemas.microsoft.com/office/drawing/2014/main" id="{7D1F061B-7224-FF37-DAC1-A52C622611FF}"/>
              </a:ext>
            </a:extLst>
          </p:cNvPr>
          <p:cNvPicPr>
            <a:picLocks noChangeAspect="1"/>
          </p:cNvPicPr>
          <p:nvPr/>
        </p:nvPicPr>
        <p:blipFill>
          <a:blip r:embed="rId4"/>
          <a:stretch>
            <a:fillRect/>
          </a:stretch>
        </p:blipFill>
        <p:spPr>
          <a:xfrm>
            <a:off x="666249" y="1680141"/>
            <a:ext cx="7308724" cy="4014186"/>
          </a:xfrm>
          <a:prstGeom prst="rect">
            <a:avLst/>
          </a:prstGeom>
        </p:spPr>
      </p:pic>
      <p:grpSp>
        <p:nvGrpSpPr>
          <p:cNvPr id="16" name="Group 15">
            <a:extLst>
              <a:ext uri="{FF2B5EF4-FFF2-40B4-BE49-F238E27FC236}">
                <a16:creationId xmlns:a16="http://schemas.microsoft.com/office/drawing/2014/main" id="{2AB42145-CE02-FAFC-3A13-A77033FD0BA7}"/>
              </a:ext>
            </a:extLst>
          </p:cNvPr>
          <p:cNvGrpSpPr/>
          <p:nvPr/>
        </p:nvGrpSpPr>
        <p:grpSpPr>
          <a:xfrm>
            <a:off x="676075" y="1683541"/>
            <a:ext cx="7295520" cy="4014186"/>
            <a:chOff x="161247" y="5417965"/>
            <a:chExt cx="7295520" cy="4014186"/>
          </a:xfrm>
        </p:grpSpPr>
        <p:pic>
          <p:nvPicPr>
            <p:cNvPr id="17" name="Picture 16">
              <a:extLst>
                <a:ext uri="{FF2B5EF4-FFF2-40B4-BE49-F238E27FC236}">
                  <a16:creationId xmlns:a16="http://schemas.microsoft.com/office/drawing/2014/main" id="{E8369842-63AD-D28F-1FA6-2A58802F7661}"/>
                </a:ext>
              </a:extLst>
            </p:cNvPr>
            <p:cNvPicPr>
              <a:picLocks noChangeAspect="1"/>
            </p:cNvPicPr>
            <p:nvPr/>
          </p:nvPicPr>
          <p:blipFill>
            <a:blip r:embed="rId5"/>
            <a:stretch>
              <a:fillRect/>
            </a:stretch>
          </p:blipFill>
          <p:spPr>
            <a:xfrm>
              <a:off x="161247" y="5417965"/>
              <a:ext cx="7295520" cy="4014186"/>
            </a:xfrm>
            <a:prstGeom prst="rect">
              <a:avLst/>
            </a:prstGeom>
          </p:spPr>
        </p:pic>
        <p:pic>
          <p:nvPicPr>
            <p:cNvPr id="18" name="Picture 17">
              <a:extLst>
                <a:ext uri="{FF2B5EF4-FFF2-40B4-BE49-F238E27FC236}">
                  <a16:creationId xmlns:a16="http://schemas.microsoft.com/office/drawing/2014/main" id="{2279B431-F129-F29D-D51F-0F3B5CFE296B}"/>
                </a:ext>
              </a:extLst>
            </p:cNvPr>
            <p:cNvPicPr preferRelativeResize="0">
              <a:picLocks noChangeAspect="1"/>
            </p:cNvPicPr>
            <p:nvPr/>
          </p:nvPicPr>
          <p:blipFill>
            <a:blip r:embed="rId6"/>
            <a:stretch>
              <a:fillRect/>
            </a:stretch>
          </p:blipFill>
          <p:spPr>
            <a:xfrm>
              <a:off x="3702963" y="6310220"/>
              <a:ext cx="3497580" cy="3072509"/>
            </a:xfrm>
            <a:prstGeom prst="rect">
              <a:avLst/>
            </a:prstGeom>
          </p:spPr>
        </p:pic>
      </p:grpSp>
    </p:spTree>
    <p:extLst>
      <p:ext uri="{BB962C8B-B14F-4D97-AF65-F5344CB8AC3E}">
        <p14:creationId xmlns:p14="http://schemas.microsoft.com/office/powerpoint/2010/main" val="322870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right)">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A0142-C670-97D8-BD40-0C334A714B9E}"/>
            </a:ext>
          </a:extLst>
        </p:cNvPr>
        <p:cNvGrpSpPr/>
        <p:nvPr/>
      </p:nvGrpSpPr>
      <p:grpSpPr>
        <a:xfrm>
          <a:off x="0" y="0"/>
          <a:ext cx="0" cy="0"/>
          <a:chOff x="0" y="0"/>
          <a:chExt cx="0" cy="0"/>
        </a:xfrm>
      </p:grpSpPr>
      <p:sp>
        <p:nvSpPr>
          <p:cNvPr id="43" name="Google Shape;1527;p8">
            <a:extLst>
              <a:ext uri="{FF2B5EF4-FFF2-40B4-BE49-F238E27FC236}">
                <a16:creationId xmlns:a16="http://schemas.microsoft.com/office/drawing/2014/main" id="{BBC52181-9C51-7421-C49E-70AB6F7AE697}"/>
              </a:ext>
            </a:extLst>
          </p:cNvPr>
          <p:cNvSpPr/>
          <p:nvPr/>
        </p:nvSpPr>
        <p:spPr>
          <a:xfrm>
            <a:off x="594298" y="1610005"/>
            <a:ext cx="7438027" cy="4436100"/>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95" name="Google Shape;1479;p7">
            <a:extLst>
              <a:ext uri="{FF2B5EF4-FFF2-40B4-BE49-F238E27FC236}">
                <a16:creationId xmlns:a16="http://schemas.microsoft.com/office/drawing/2014/main" id="{D68F048A-9634-F24F-FB45-D7F19CF9B574}"/>
              </a:ext>
            </a:extLst>
          </p:cNvPr>
          <p:cNvSpPr/>
          <p:nvPr/>
        </p:nvSpPr>
        <p:spPr>
          <a:xfrm>
            <a:off x="5920416" y="2024178"/>
            <a:ext cx="1909259" cy="1553465"/>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 name="Title 1">
            <a:extLst>
              <a:ext uri="{FF2B5EF4-FFF2-40B4-BE49-F238E27FC236}">
                <a16:creationId xmlns:a16="http://schemas.microsoft.com/office/drawing/2014/main" id="{AF162EF7-3F56-2164-C7FD-E30DA8100D22}"/>
              </a:ext>
            </a:extLst>
          </p:cNvPr>
          <p:cNvSpPr>
            <a:spLocks noGrp="1"/>
          </p:cNvSpPr>
          <p:nvPr>
            <p:ph type="title"/>
          </p:nvPr>
        </p:nvSpPr>
        <p:spPr>
          <a:xfrm>
            <a:off x="581245" y="413536"/>
            <a:ext cx="10998269" cy="380901"/>
          </a:xfrm>
        </p:spPr>
        <p:txBody>
          <a:bodyPr/>
          <a:lstStyle/>
          <a:p>
            <a:r>
              <a:rPr lang="en-US" dirty="0">
                <a:solidFill>
                  <a:schemeClr val="accent2"/>
                </a:solidFill>
              </a:rPr>
              <a:t>Nondisruptive Upgrades to VCF 9</a:t>
            </a:r>
          </a:p>
        </p:txBody>
      </p:sp>
      <p:sp>
        <p:nvSpPr>
          <p:cNvPr id="3" name="Subtitle 2">
            <a:extLst>
              <a:ext uri="{FF2B5EF4-FFF2-40B4-BE49-F238E27FC236}">
                <a16:creationId xmlns:a16="http://schemas.microsoft.com/office/drawing/2014/main" id="{33F9DD2D-FA4F-FC63-D2C5-838AF0F7DB1A}"/>
              </a:ext>
            </a:extLst>
          </p:cNvPr>
          <p:cNvSpPr>
            <a:spLocks noGrp="1"/>
          </p:cNvSpPr>
          <p:nvPr>
            <p:ph type="subTitle" idx="1"/>
          </p:nvPr>
        </p:nvSpPr>
        <p:spPr>
          <a:xfrm>
            <a:off x="594300" y="812513"/>
            <a:ext cx="10959889" cy="247735"/>
          </a:xfrm>
        </p:spPr>
        <p:txBody>
          <a:bodyPr/>
          <a:lstStyle/>
          <a:p>
            <a:r>
              <a:rPr lang="en-US" dirty="0">
                <a:solidFill>
                  <a:schemeClr val="tx1"/>
                </a:solidFill>
              </a:rPr>
              <a:t>Move up to the latest version without migration or conversion</a:t>
            </a:r>
          </a:p>
          <a:p>
            <a:endParaRPr lang="en-US" dirty="0"/>
          </a:p>
        </p:txBody>
      </p:sp>
      <p:sp>
        <p:nvSpPr>
          <p:cNvPr id="5" name="Text Placeholder 4">
            <a:extLst>
              <a:ext uri="{FF2B5EF4-FFF2-40B4-BE49-F238E27FC236}">
                <a16:creationId xmlns:a16="http://schemas.microsoft.com/office/drawing/2014/main" id="{316791C6-9399-A33B-389A-ED61D8A00B61}"/>
              </a:ext>
            </a:extLst>
          </p:cNvPr>
          <p:cNvSpPr>
            <a:spLocks noGrp="1"/>
          </p:cNvSpPr>
          <p:nvPr>
            <p:ph type="body" idx="2"/>
          </p:nvPr>
        </p:nvSpPr>
        <p:spPr>
          <a:xfrm>
            <a:off x="8379819" y="1700139"/>
            <a:ext cx="3680486" cy="286287"/>
          </a:xfrm>
        </p:spPr>
        <p:txBody>
          <a:bodyPr/>
          <a:lstStyle/>
          <a:p>
            <a:r>
              <a:rPr lang="en-US" dirty="0"/>
              <a:t>Key Benefits</a:t>
            </a:r>
          </a:p>
        </p:txBody>
      </p:sp>
      <p:sp>
        <p:nvSpPr>
          <p:cNvPr id="6" name="Text Placeholder 5">
            <a:extLst>
              <a:ext uri="{FF2B5EF4-FFF2-40B4-BE49-F238E27FC236}">
                <a16:creationId xmlns:a16="http://schemas.microsoft.com/office/drawing/2014/main" id="{8255C991-DFF6-8704-B703-C868D2F09A8F}"/>
              </a:ext>
            </a:extLst>
          </p:cNvPr>
          <p:cNvSpPr>
            <a:spLocks noGrp="1"/>
          </p:cNvSpPr>
          <p:nvPr>
            <p:ph type="body" idx="3"/>
          </p:nvPr>
        </p:nvSpPr>
        <p:spPr>
          <a:xfrm>
            <a:off x="8378232" y="2063404"/>
            <a:ext cx="3682074" cy="1599783"/>
          </a:xfrm>
        </p:spPr>
        <p:txBody>
          <a:bodyPr/>
          <a:lstStyle/>
          <a:p>
            <a:r>
              <a:rPr lang="en-US" dirty="0"/>
              <a:t>In-place upgrade from 5.x to 9</a:t>
            </a:r>
          </a:p>
          <a:p>
            <a:r>
              <a:rPr lang="en-US" dirty="0"/>
              <a:t>No need to procure additional hardware to migrate</a:t>
            </a:r>
          </a:p>
          <a:p>
            <a:r>
              <a:rPr lang="en-US" dirty="0"/>
              <a:t>Take advantage of latest capabilities, including vLCM images</a:t>
            </a:r>
          </a:p>
          <a:p>
            <a:endParaRPr lang="en-US" dirty="0"/>
          </a:p>
        </p:txBody>
      </p:sp>
      <p:sp>
        <p:nvSpPr>
          <p:cNvPr id="7" name="Text Placeholder 6">
            <a:extLst>
              <a:ext uri="{FF2B5EF4-FFF2-40B4-BE49-F238E27FC236}">
                <a16:creationId xmlns:a16="http://schemas.microsoft.com/office/drawing/2014/main" id="{BEE4004B-EEB5-E097-EA28-85C22A7C4529}"/>
              </a:ext>
            </a:extLst>
          </p:cNvPr>
          <p:cNvSpPr>
            <a:spLocks noGrp="1"/>
          </p:cNvSpPr>
          <p:nvPr>
            <p:ph type="body" idx="4"/>
          </p:nvPr>
        </p:nvSpPr>
        <p:spPr>
          <a:xfrm>
            <a:off x="8379819" y="3972330"/>
            <a:ext cx="3680486" cy="277281"/>
          </a:xfrm>
        </p:spPr>
        <p:txBody>
          <a:bodyPr/>
          <a:lstStyle/>
          <a:p>
            <a:r>
              <a:rPr lang="en-US" dirty="0"/>
              <a:t>Technical Value</a:t>
            </a:r>
          </a:p>
        </p:txBody>
      </p:sp>
      <p:sp>
        <p:nvSpPr>
          <p:cNvPr id="8" name="Text Placeholder 7">
            <a:extLst>
              <a:ext uri="{FF2B5EF4-FFF2-40B4-BE49-F238E27FC236}">
                <a16:creationId xmlns:a16="http://schemas.microsoft.com/office/drawing/2014/main" id="{56AA57D1-F7B7-7AAC-0F0B-52E53354E618}"/>
              </a:ext>
            </a:extLst>
          </p:cNvPr>
          <p:cNvSpPr>
            <a:spLocks noGrp="1"/>
          </p:cNvSpPr>
          <p:nvPr>
            <p:ph type="body" idx="5"/>
          </p:nvPr>
        </p:nvSpPr>
        <p:spPr>
          <a:xfrm>
            <a:off x="8378232" y="4347665"/>
            <a:ext cx="3682074" cy="1599783"/>
          </a:xfrm>
        </p:spPr>
        <p:txBody>
          <a:bodyPr/>
          <a:lstStyle/>
          <a:p>
            <a:r>
              <a:rPr lang="en-US" dirty="0"/>
              <a:t>Upgrade to VCF Operations 9 &amp; deploy Fleet Management</a:t>
            </a:r>
          </a:p>
          <a:p>
            <a:r>
              <a:rPr lang="en-US" dirty="0"/>
              <a:t>SDDC Manager 5.x </a:t>
            </a:r>
            <a:r>
              <a:rPr lang="en-US" dirty="0">
                <a:sym typeface="Wingdings" pitchFamily="2" charset="2"/>
              </a:rPr>
              <a:t> </a:t>
            </a:r>
            <a:r>
              <a:rPr lang="en-US" dirty="0"/>
              <a:t>9.0</a:t>
            </a:r>
          </a:p>
          <a:p>
            <a:r>
              <a:rPr lang="en-US" dirty="0"/>
              <a:t>VCF Ops upgrades remaining infrastructure components</a:t>
            </a:r>
          </a:p>
        </p:txBody>
      </p:sp>
      <p:sp>
        <p:nvSpPr>
          <p:cNvPr id="85" name="Google Shape;1479;p7">
            <a:extLst>
              <a:ext uri="{FF2B5EF4-FFF2-40B4-BE49-F238E27FC236}">
                <a16:creationId xmlns:a16="http://schemas.microsoft.com/office/drawing/2014/main" id="{FDEDDDEC-E9C7-DDFD-DBA2-9003D8F8FF02}"/>
              </a:ext>
            </a:extLst>
          </p:cNvPr>
          <p:cNvSpPr/>
          <p:nvPr/>
        </p:nvSpPr>
        <p:spPr>
          <a:xfrm>
            <a:off x="801479" y="3758179"/>
            <a:ext cx="4670075" cy="875189"/>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86" name="Google Shape;1479;p7">
            <a:extLst>
              <a:ext uri="{FF2B5EF4-FFF2-40B4-BE49-F238E27FC236}">
                <a16:creationId xmlns:a16="http://schemas.microsoft.com/office/drawing/2014/main" id="{A3D7A603-77EE-B3CF-CF54-5E99C001764D}"/>
              </a:ext>
            </a:extLst>
          </p:cNvPr>
          <p:cNvSpPr/>
          <p:nvPr/>
        </p:nvSpPr>
        <p:spPr>
          <a:xfrm>
            <a:off x="801479" y="2006092"/>
            <a:ext cx="4670075" cy="1553465"/>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2" name="TextBox 21">
            <a:extLst>
              <a:ext uri="{FF2B5EF4-FFF2-40B4-BE49-F238E27FC236}">
                <a16:creationId xmlns:a16="http://schemas.microsoft.com/office/drawing/2014/main" id="{2630B21C-8EA7-D4EF-BCBA-DF4A6261F885}"/>
              </a:ext>
            </a:extLst>
          </p:cNvPr>
          <p:cNvSpPr txBox="1"/>
          <p:nvPr/>
        </p:nvSpPr>
        <p:spPr>
          <a:xfrm>
            <a:off x="1367150" y="1697587"/>
            <a:ext cx="3439394" cy="246157"/>
          </a:xfrm>
          <a:prstGeom prst="rect">
            <a:avLst/>
          </a:prstGeom>
          <a:noFill/>
        </p:spPr>
        <p:txBody>
          <a:bodyPr wrap="square" lIns="0" tIns="0" rIns="0" bIns="0" rtlCol="0">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1D36"/>
                </a:solidFill>
                <a:effectLst/>
                <a:uLnTx/>
                <a:uFillTx/>
                <a:latin typeface="Arial" panose="020B0604020202020204"/>
                <a:ea typeface="+mn-ea"/>
                <a:cs typeface="+mn-cs"/>
              </a:rPr>
              <a:t>VCF 5.x &amp; Aria Suite</a:t>
            </a:r>
          </a:p>
        </p:txBody>
      </p:sp>
      <p:sp>
        <p:nvSpPr>
          <p:cNvPr id="87" name="TextBox 86">
            <a:extLst>
              <a:ext uri="{FF2B5EF4-FFF2-40B4-BE49-F238E27FC236}">
                <a16:creationId xmlns:a16="http://schemas.microsoft.com/office/drawing/2014/main" id="{33593E09-885C-063B-D4C8-0C6F86E65436}"/>
              </a:ext>
            </a:extLst>
          </p:cNvPr>
          <p:cNvSpPr txBox="1"/>
          <p:nvPr/>
        </p:nvSpPr>
        <p:spPr>
          <a:xfrm>
            <a:off x="6254538" y="1683326"/>
            <a:ext cx="1395553" cy="246157"/>
          </a:xfrm>
          <a:prstGeom prst="rect">
            <a:avLst/>
          </a:prstGeom>
          <a:noFill/>
        </p:spPr>
        <p:txBody>
          <a:bodyPr wrap="square" lIns="0" tIns="0" rIns="0" bIns="0" rtlCol="0">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VCF 9</a:t>
            </a:r>
          </a:p>
        </p:txBody>
      </p:sp>
      <p:sp>
        <p:nvSpPr>
          <p:cNvPr id="88" name="Google Shape;1811;p13">
            <a:extLst>
              <a:ext uri="{FF2B5EF4-FFF2-40B4-BE49-F238E27FC236}">
                <a16:creationId xmlns:a16="http://schemas.microsoft.com/office/drawing/2014/main" id="{91157778-B1AF-8D77-8193-AFA481EF8B98}"/>
              </a:ext>
            </a:extLst>
          </p:cNvPr>
          <p:cNvSpPr/>
          <p:nvPr/>
        </p:nvSpPr>
        <p:spPr>
          <a:xfrm>
            <a:off x="6069020" y="2832870"/>
            <a:ext cx="1581071" cy="55385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200" b="1" i="0" u="none" strike="noStrike" kern="1200" cap="none" spc="0" normalizeH="0" baseline="0" noProof="0" dirty="0">
                <a:ln>
                  <a:noFill/>
                </a:ln>
                <a:solidFill>
                  <a:srgbClr val="FFFFFF"/>
                </a:solidFill>
                <a:effectLst/>
                <a:uLnTx/>
                <a:uFillTx/>
                <a:latin typeface="Arial"/>
                <a:ea typeface="Arial"/>
                <a:cs typeface="Arial"/>
                <a:sym typeface="Arial"/>
              </a:rPr>
              <a:t>Fleet Management</a:t>
            </a:r>
            <a:endParaRPr kumimoji="0" sz="12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89" name="Google Shape;1811;p13">
            <a:extLst>
              <a:ext uri="{FF2B5EF4-FFF2-40B4-BE49-F238E27FC236}">
                <a16:creationId xmlns:a16="http://schemas.microsoft.com/office/drawing/2014/main" id="{8AFB8516-725B-D042-C7E7-5F478C31B202}"/>
              </a:ext>
            </a:extLst>
          </p:cNvPr>
          <p:cNvSpPr/>
          <p:nvPr/>
        </p:nvSpPr>
        <p:spPr>
          <a:xfrm>
            <a:off x="6069020" y="2170371"/>
            <a:ext cx="1581071" cy="55385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200" b="1" i="0" u="none" strike="noStrike" kern="1200" cap="none" spc="0" normalizeH="0" baseline="0" noProof="0" dirty="0">
                <a:ln>
                  <a:noFill/>
                </a:ln>
                <a:solidFill>
                  <a:srgbClr val="FFFFFF"/>
                </a:solidFill>
                <a:effectLst/>
                <a:uLnTx/>
                <a:uFillTx/>
                <a:latin typeface="Arial"/>
                <a:ea typeface="Arial"/>
                <a:cs typeface="Arial"/>
                <a:sym typeface="Arial"/>
              </a:rPr>
              <a:t>VCF Ops 9</a:t>
            </a:r>
            <a:endParaRPr kumimoji="0" sz="12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93" name="Google Shape;1811;p13">
            <a:extLst>
              <a:ext uri="{FF2B5EF4-FFF2-40B4-BE49-F238E27FC236}">
                <a16:creationId xmlns:a16="http://schemas.microsoft.com/office/drawing/2014/main" id="{EFF1156A-6DBC-1464-A6D4-6EDFFA4596E8}"/>
              </a:ext>
            </a:extLst>
          </p:cNvPr>
          <p:cNvSpPr/>
          <p:nvPr/>
        </p:nvSpPr>
        <p:spPr>
          <a:xfrm>
            <a:off x="3731764" y="2184603"/>
            <a:ext cx="1581071" cy="553854"/>
          </a:xfrm>
          <a:prstGeom prst="roundRect">
            <a:avLst>
              <a:gd name="adj" fmla="val 6349"/>
            </a:avLst>
          </a:prstGeom>
          <a:solidFill>
            <a:schemeClr val="lt1"/>
          </a:solidFill>
          <a:ln w="25400">
            <a:gradFill>
              <a:gsLst>
                <a:gs pos="0">
                  <a:schemeClr val="accent5"/>
                </a:gs>
                <a:gs pos="100000">
                  <a:schemeClr val="accent2"/>
                </a:gs>
                <a:gs pos="98000">
                  <a:schemeClr val="accent2"/>
                </a:gs>
                <a:gs pos="100000">
                  <a:schemeClr val="accent1">
                    <a:lumMod val="30000"/>
                    <a:lumOff val="70000"/>
                  </a:schemeClr>
                </a:gs>
              </a:gsLst>
              <a:lin ang="5400000" scaled="1"/>
            </a:grad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200" b="1" i="0" u="none" strike="noStrike" kern="1200" cap="none" spc="0" normalizeH="0" baseline="0" noProof="0" dirty="0">
                <a:ln>
                  <a:noFill/>
                </a:ln>
                <a:solidFill>
                  <a:srgbClr val="000000"/>
                </a:solidFill>
                <a:effectLst/>
                <a:uLnTx/>
                <a:uFillTx/>
                <a:latin typeface="Arial"/>
                <a:ea typeface="Arial"/>
                <a:cs typeface="Arial"/>
                <a:sym typeface="Arial"/>
              </a:rPr>
              <a:t>Aria Ops 8</a:t>
            </a:r>
            <a:endParaRPr kumimoji="0" sz="1200" b="1"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96" name="Google Shape;1479;p7">
            <a:extLst>
              <a:ext uri="{FF2B5EF4-FFF2-40B4-BE49-F238E27FC236}">
                <a16:creationId xmlns:a16="http://schemas.microsoft.com/office/drawing/2014/main" id="{979B7E27-4D38-ECD4-DDCD-AEFF14FFEA5E}"/>
              </a:ext>
            </a:extLst>
          </p:cNvPr>
          <p:cNvSpPr/>
          <p:nvPr/>
        </p:nvSpPr>
        <p:spPr>
          <a:xfrm>
            <a:off x="5904924" y="3758178"/>
            <a:ext cx="1909259" cy="860520"/>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91" name="Google Shape;1811;p13">
            <a:extLst>
              <a:ext uri="{FF2B5EF4-FFF2-40B4-BE49-F238E27FC236}">
                <a16:creationId xmlns:a16="http://schemas.microsoft.com/office/drawing/2014/main" id="{68556E43-579D-5AEF-3B53-30D199A930E7}"/>
              </a:ext>
            </a:extLst>
          </p:cNvPr>
          <p:cNvSpPr/>
          <p:nvPr/>
        </p:nvSpPr>
        <p:spPr>
          <a:xfrm>
            <a:off x="6069020" y="3918211"/>
            <a:ext cx="1581071" cy="55385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200" b="1" i="0" u="none" strike="noStrike" kern="1200" cap="none" spc="0" normalizeH="0" baseline="0" noProof="0" dirty="0">
                <a:ln>
                  <a:noFill/>
                </a:ln>
                <a:solidFill>
                  <a:srgbClr val="FFFFFF"/>
                </a:solidFill>
                <a:effectLst/>
                <a:uLnTx/>
                <a:uFillTx/>
                <a:latin typeface="Arial"/>
                <a:ea typeface="Arial"/>
                <a:cs typeface="Arial"/>
                <a:sym typeface="Arial"/>
              </a:rPr>
              <a:t>9.0</a:t>
            </a:r>
            <a:endParaRPr kumimoji="0" sz="12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97" name="TextBox 96">
            <a:extLst>
              <a:ext uri="{FF2B5EF4-FFF2-40B4-BE49-F238E27FC236}">
                <a16:creationId xmlns:a16="http://schemas.microsoft.com/office/drawing/2014/main" id="{5E010503-1D2B-9B02-71DB-4ADD78699B80}"/>
              </a:ext>
            </a:extLst>
          </p:cNvPr>
          <p:cNvSpPr txBox="1"/>
          <p:nvPr/>
        </p:nvSpPr>
        <p:spPr>
          <a:xfrm>
            <a:off x="427023" y="2667794"/>
            <a:ext cx="3439394" cy="276927"/>
          </a:xfrm>
          <a:prstGeom prst="rect">
            <a:avLst/>
          </a:prstGeom>
          <a:noFill/>
        </p:spPr>
        <p:txBody>
          <a:bodyPr wrap="square" lIns="0" tIns="0" rIns="0" bIns="0" rtlCol="0">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1B1D36"/>
                </a:solidFill>
                <a:effectLst/>
                <a:uLnTx/>
                <a:uFillTx/>
                <a:latin typeface="Arial" panose="020B0604020202020204"/>
                <a:ea typeface="+mn-ea"/>
                <a:cs typeface="+mn-cs"/>
              </a:rPr>
              <a:t>VCF Management</a:t>
            </a:r>
          </a:p>
        </p:txBody>
      </p:sp>
      <p:sp>
        <p:nvSpPr>
          <p:cNvPr id="98" name="TextBox 97">
            <a:extLst>
              <a:ext uri="{FF2B5EF4-FFF2-40B4-BE49-F238E27FC236}">
                <a16:creationId xmlns:a16="http://schemas.microsoft.com/office/drawing/2014/main" id="{C0426323-43E1-1BB8-12B1-96AA6D4EAA8E}"/>
              </a:ext>
            </a:extLst>
          </p:cNvPr>
          <p:cNvSpPr txBox="1"/>
          <p:nvPr/>
        </p:nvSpPr>
        <p:spPr>
          <a:xfrm>
            <a:off x="440141" y="4076598"/>
            <a:ext cx="3439394" cy="276927"/>
          </a:xfrm>
          <a:prstGeom prst="rect">
            <a:avLst/>
          </a:prstGeom>
          <a:noFill/>
        </p:spPr>
        <p:txBody>
          <a:bodyPr wrap="square" lIns="0" tIns="0" rIns="0" bIns="0" rtlCol="0">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1B1D36"/>
                </a:solidFill>
                <a:effectLst/>
                <a:uLnTx/>
                <a:uFillTx/>
                <a:latin typeface="Arial" panose="020B0604020202020204"/>
                <a:ea typeface="+mn-ea"/>
                <a:cs typeface="+mn-cs"/>
              </a:rPr>
              <a:t>SDDC Manager</a:t>
            </a:r>
          </a:p>
        </p:txBody>
      </p:sp>
      <p:sp>
        <p:nvSpPr>
          <p:cNvPr id="100" name="Google Shape;1479;p7">
            <a:extLst>
              <a:ext uri="{FF2B5EF4-FFF2-40B4-BE49-F238E27FC236}">
                <a16:creationId xmlns:a16="http://schemas.microsoft.com/office/drawing/2014/main" id="{3BD38952-7DA8-0D47-241A-B769AFA05254}"/>
              </a:ext>
            </a:extLst>
          </p:cNvPr>
          <p:cNvSpPr/>
          <p:nvPr/>
        </p:nvSpPr>
        <p:spPr>
          <a:xfrm>
            <a:off x="801479" y="4822584"/>
            <a:ext cx="4670075" cy="1057490"/>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02" name="Google Shape;1479;p7">
            <a:extLst>
              <a:ext uri="{FF2B5EF4-FFF2-40B4-BE49-F238E27FC236}">
                <a16:creationId xmlns:a16="http://schemas.microsoft.com/office/drawing/2014/main" id="{68E4D525-9ED7-6BA4-F02F-F40151D5F190}"/>
              </a:ext>
            </a:extLst>
          </p:cNvPr>
          <p:cNvSpPr/>
          <p:nvPr/>
        </p:nvSpPr>
        <p:spPr>
          <a:xfrm>
            <a:off x="5904924" y="4825639"/>
            <a:ext cx="1909259" cy="1039765"/>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03" name="Google Shape;1811;p13">
            <a:extLst>
              <a:ext uri="{FF2B5EF4-FFF2-40B4-BE49-F238E27FC236}">
                <a16:creationId xmlns:a16="http://schemas.microsoft.com/office/drawing/2014/main" id="{C91DCFDA-8355-3C5A-A8A9-2AFE16C8B69C}"/>
              </a:ext>
            </a:extLst>
          </p:cNvPr>
          <p:cNvSpPr/>
          <p:nvPr/>
        </p:nvSpPr>
        <p:spPr>
          <a:xfrm>
            <a:off x="6069020" y="5067959"/>
            <a:ext cx="1581071" cy="55385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200" b="1" i="0" u="none" strike="noStrike" kern="1200" cap="none" spc="0" normalizeH="0" baseline="0" noProof="0" dirty="0">
                <a:ln>
                  <a:noFill/>
                </a:ln>
                <a:solidFill>
                  <a:srgbClr val="FFFFFF"/>
                </a:solidFill>
                <a:effectLst/>
                <a:uLnTx/>
                <a:uFillTx/>
                <a:latin typeface="Arial"/>
                <a:ea typeface="Arial"/>
                <a:cs typeface="Arial"/>
                <a:sym typeface="Arial"/>
              </a:rPr>
              <a:t>vSphere 9        NSX 9</a:t>
            </a:r>
            <a:endParaRPr kumimoji="0" sz="12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04" name="TextBox 103">
            <a:extLst>
              <a:ext uri="{FF2B5EF4-FFF2-40B4-BE49-F238E27FC236}">
                <a16:creationId xmlns:a16="http://schemas.microsoft.com/office/drawing/2014/main" id="{9984DA57-13BE-0BD1-478B-9085955CC37E}"/>
              </a:ext>
            </a:extLst>
          </p:cNvPr>
          <p:cNvSpPr txBox="1"/>
          <p:nvPr/>
        </p:nvSpPr>
        <p:spPr>
          <a:xfrm>
            <a:off x="1079598" y="5087833"/>
            <a:ext cx="2198969" cy="553854"/>
          </a:xfrm>
          <a:prstGeom prst="rect">
            <a:avLst/>
          </a:prstGeom>
          <a:noFill/>
        </p:spPr>
        <p:txBody>
          <a:bodyPr wrap="square" lIns="0" tIns="0" rIns="0" bIns="0" rtlCol="0">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1B1D36"/>
                </a:solidFill>
                <a:effectLst/>
                <a:uLnTx/>
                <a:uFillTx/>
                <a:latin typeface="Arial" panose="020B0604020202020204"/>
                <a:ea typeface="+mn-ea"/>
                <a:cs typeface="+mn-cs"/>
              </a:rPr>
              <a:t>VCF Infrastructure Components</a:t>
            </a:r>
          </a:p>
        </p:txBody>
      </p:sp>
      <p:sp>
        <p:nvSpPr>
          <p:cNvPr id="106" name="Google Shape;1811;p13">
            <a:extLst>
              <a:ext uri="{FF2B5EF4-FFF2-40B4-BE49-F238E27FC236}">
                <a16:creationId xmlns:a16="http://schemas.microsoft.com/office/drawing/2014/main" id="{A1735B06-7F1A-37F7-79B3-66259150A4AB}"/>
              </a:ext>
            </a:extLst>
          </p:cNvPr>
          <p:cNvSpPr/>
          <p:nvPr/>
        </p:nvSpPr>
        <p:spPr>
          <a:xfrm>
            <a:off x="3731764" y="2836677"/>
            <a:ext cx="1581071" cy="553854"/>
          </a:xfrm>
          <a:prstGeom prst="roundRect">
            <a:avLst>
              <a:gd name="adj" fmla="val 6349"/>
            </a:avLst>
          </a:prstGeom>
          <a:solidFill>
            <a:schemeClr val="lt1"/>
          </a:solidFill>
          <a:ln w="25400">
            <a:gradFill>
              <a:gsLst>
                <a:gs pos="0">
                  <a:schemeClr val="accent5"/>
                </a:gs>
                <a:gs pos="100000">
                  <a:schemeClr val="accent2"/>
                </a:gs>
                <a:gs pos="98000">
                  <a:schemeClr val="accent2"/>
                </a:gs>
                <a:gs pos="100000">
                  <a:schemeClr val="accent1">
                    <a:lumMod val="30000"/>
                    <a:lumOff val="70000"/>
                  </a:schemeClr>
                </a:gs>
              </a:gsLst>
              <a:lin ang="5400000" scaled="1"/>
            </a:grad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200" b="1" i="0" u="none" strike="noStrike" kern="1200" cap="none" spc="0" normalizeH="0" baseline="0" noProof="0" dirty="0">
                <a:ln>
                  <a:noFill/>
                </a:ln>
                <a:solidFill>
                  <a:srgbClr val="000000"/>
                </a:solidFill>
                <a:effectLst/>
                <a:uLnTx/>
                <a:uFillTx/>
                <a:latin typeface="Arial"/>
                <a:ea typeface="Arial"/>
                <a:cs typeface="Arial"/>
                <a:sym typeface="Arial"/>
              </a:rPr>
              <a:t>Aria Suite Lifecycle</a:t>
            </a:r>
            <a:endParaRPr kumimoji="0" sz="1200" b="1"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08" name="Google Shape;1811;p13">
            <a:extLst>
              <a:ext uri="{FF2B5EF4-FFF2-40B4-BE49-F238E27FC236}">
                <a16:creationId xmlns:a16="http://schemas.microsoft.com/office/drawing/2014/main" id="{CA1D1114-D3DB-82FD-C934-B0ABDBF290F1}"/>
              </a:ext>
            </a:extLst>
          </p:cNvPr>
          <p:cNvSpPr/>
          <p:nvPr/>
        </p:nvSpPr>
        <p:spPr>
          <a:xfrm>
            <a:off x="3735819" y="3916537"/>
            <a:ext cx="1581071" cy="553854"/>
          </a:xfrm>
          <a:prstGeom prst="roundRect">
            <a:avLst>
              <a:gd name="adj" fmla="val 6349"/>
            </a:avLst>
          </a:prstGeom>
          <a:solidFill>
            <a:schemeClr val="lt1"/>
          </a:solidFill>
          <a:ln w="25400">
            <a:gradFill>
              <a:gsLst>
                <a:gs pos="0">
                  <a:schemeClr val="accent5"/>
                </a:gs>
                <a:gs pos="100000">
                  <a:schemeClr val="accent2"/>
                </a:gs>
                <a:gs pos="98000">
                  <a:schemeClr val="accent2"/>
                </a:gs>
                <a:gs pos="100000">
                  <a:schemeClr val="accent1">
                    <a:lumMod val="30000"/>
                    <a:lumOff val="70000"/>
                  </a:schemeClr>
                </a:gs>
              </a:gsLst>
              <a:lin ang="5400000" scaled="1"/>
            </a:grad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200" b="1" i="0" u="none" strike="noStrike" kern="1200" cap="none" spc="0" normalizeH="0" baseline="0" noProof="0" dirty="0">
                <a:ln>
                  <a:noFill/>
                </a:ln>
                <a:solidFill>
                  <a:srgbClr val="000000"/>
                </a:solidFill>
                <a:effectLst/>
                <a:uLnTx/>
                <a:uFillTx/>
                <a:latin typeface="Arial"/>
                <a:ea typeface="Arial"/>
                <a:cs typeface="Arial"/>
                <a:sym typeface="Arial"/>
              </a:rPr>
              <a:t>5.x</a:t>
            </a:r>
            <a:endParaRPr kumimoji="0" sz="1200" b="1"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10" name="Google Shape;1811;p13">
            <a:extLst>
              <a:ext uri="{FF2B5EF4-FFF2-40B4-BE49-F238E27FC236}">
                <a16:creationId xmlns:a16="http://schemas.microsoft.com/office/drawing/2014/main" id="{B76D688B-7E39-F714-2CC6-DBA7B24E5814}"/>
              </a:ext>
            </a:extLst>
          </p:cNvPr>
          <p:cNvSpPr/>
          <p:nvPr/>
        </p:nvSpPr>
        <p:spPr>
          <a:xfrm>
            <a:off x="3735819" y="5066554"/>
            <a:ext cx="1581071" cy="553854"/>
          </a:xfrm>
          <a:prstGeom prst="roundRect">
            <a:avLst>
              <a:gd name="adj" fmla="val 6349"/>
            </a:avLst>
          </a:prstGeom>
          <a:solidFill>
            <a:schemeClr val="lt1"/>
          </a:solidFill>
          <a:ln w="25400">
            <a:gradFill>
              <a:gsLst>
                <a:gs pos="0">
                  <a:schemeClr val="accent5"/>
                </a:gs>
                <a:gs pos="100000">
                  <a:schemeClr val="accent2"/>
                </a:gs>
                <a:gs pos="98000">
                  <a:schemeClr val="accent2"/>
                </a:gs>
                <a:gs pos="100000">
                  <a:schemeClr val="accent1">
                    <a:lumMod val="30000"/>
                    <a:lumOff val="70000"/>
                  </a:schemeClr>
                </a:gs>
              </a:gsLst>
              <a:lin ang="5400000" scaled="1"/>
            </a:grad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200" b="1" i="0" u="none" strike="noStrike" kern="1200" cap="none" spc="0" normalizeH="0" baseline="0" noProof="0" dirty="0">
                <a:ln>
                  <a:noFill/>
                </a:ln>
                <a:solidFill>
                  <a:srgbClr val="000000"/>
                </a:solidFill>
                <a:effectLst/>
                <a:uLnTx/>
                <a:uFillTx/>
                <a:latin typeface="Arial"/>
                <a:ea typeface="Arial"/>
                <a:cs typeface="Arial"/>
                <a:sym typeface="Arial"/>
              </a:rPr>
              <a:t>vSphere 8.x.     NSX 4.x</a:t>
            </a:r>
            <a:endParaRPr kumimoji="0" sz="1200" b="1"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113" name="Group 112">
            <a:extLst>
              <a:ext uri="{FF2B5EF4-FFF2-40B4-BE49-F238E27FC236}">
                <a16:creationId xmlns:a16="http://schemas.microsoft.com/office/drawing/2014/main" id="{8019AEE2-F53B-83D8-8766-85BBB784F8CE}"/>
              </a:ext>
            </a:extLst>
          </p:cNvPr>
          <p:cNvGrpSpPr/>
          <p:nvPr/>
        </p:nvGrpSpPr>
        <p:grpSpPr>
          <a:xfrm>
            <a:off x="5551492" y="2231158"/>
            <a:ext cx="277107" cy="552871"/>
            <a:chOff x="5086390" y="2966073"/>
            <a:chExt cx="365757" cy="671971"/>
          </a:xfrm>
        </p:grpSpPr>
        <p:sp>
          <p:nvSpPr>
            <p:cNvPr id="114" name="Rectangle 113">
              <a:extLst>
                <a:ext uri="{FF2B5EF4-FFF2-40B4-BE49-F238E27FC236}">
                  <a16:creationId xmlns:a16="http://schemas.microsoft.com/office/drawing/2014/main" id="{583C7D3A-5F5F-D90D-54C7-737D567A5500}"/>
                </a:ext>
              </a:extLst>
            </p:cNvPr>
            <p:cNvSpPr/>
            <p:nvPr/>
          </p:nvSpPr>
          <p:spPr bwMode="gray">
            <a:xfrm>
              <a:off x="5086390" y="2966073"/>
              <a:ext cx="365757" cy="671971"/>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115" name="Google Shape;4238;p22">
              <a:extLst>
                <a:ext uri="{FF2B5EF4-FFF2-40B4-BE49-F238E27FC236}">
                  <a16:creationId xmlns:a16="http://schemas.microsoft.com/office/drawing/2014/main" id="{88AB97A9-A42E-71C2-433D-F395B4A6D9DF}"/>
                </a:ext>
              </a:extLst>
            </p:cNvPr>
            <p:cNvGrpSpPr/>
            <p:nvPr/>
          </p:nvGrpSpPr>
          <p:grpSpPr>
            <a:xfrm rot="5400000">
              <a:off x="5138869" y="3058040"/>
              <a:ext cx="263441" cy="352709"/>
              <a:chOff x="6930408" y="3506884"/>
              <a:chExt cx="283405" cy="388082"/>
            </a:xfrm>
          </p:grpSpPr>
          <p:sp>
            <p:nvSpPr>
              <p:cNvPr id="116" name="Google Shape;4239;p22">
                <a:extLst>
                  <a:ext uri="{FF2B5EF4-FFF2-40B4-BE49-F238E27FC236}">
                    <a16:creationId xmlns:a16="http://schemas.microsoft.com/office/drawing/2014/main" id="{5C5AF17C-120E-7DEC-2408-60668E03E55C}"/>
                  </a:ext>
                </a:extLst>
              </p:cNvPr>
              <p:cNvSpPr/>
              <p:nvPr/>
            </p:nvSpPr>
            <p:spPr>
              <a:xfrm rot="16200000">
                <a:off x="6990674" y="3671874"/>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4705"/>
                </a:schemeClr>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17" name="Google Shape;4240;p22">
                <a:extLst>
                  <a:ext uri="{FF2B5EF4-FFF2-40B4-BE49-F238E27FC236}">
                    <a16:creationId xmlns:a16="http://schemas.microsoft.com/office/drawing/2014/main" id="{C4990F52-3955-8112-0FEE-FE5297CD8ECA}"/>
                  </a:ext>
                </a:extLst>
              </p:cNvPr>
              <p:cNvSpPr/>
              <p:nvPr/>
            </p:nvSpPr>
            <p:spPr>
              <a:xfrm rot="16200000">
                <a:off x="6990674" y="3559245"/>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9803"/>
                </a:schemeClr>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18" name="Google Shape;4241;p22">
                <a:extLst>
                  <a:ext uri="{FF2B5EF4-FFF2-40B4-BE49-F238E27FC236}">
                    <a16:creationId xmlns:a16="http://schemas.microsoft.com/office/drawing/2014/main" id="{0DDE7F1C-1FD6-846A-544D-2A3504874A4E}"/>
                  </a:ext>
                </a:extLst>
              </p:cNvPr>
              <p:cNvSpPr/>
              <p:nvPr/>
            </p:nvSpPr>
            <p:spPr>
              <a:xfrm rot="16200000">
                <a:off x="6990721" y="3446618"/>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grpSp>
      </p:grpSp>
      <p:grpSp>
        <p:nvGrpSpPr>
          <p:cNvPr id="143" name="Group 142">
            <a:extLst>
              <a:ext uri="{FF2B5EF4-FFF2-40B4-BE49-F238E27FC236}">
                <a16:creationId xmlns:a16="http://schemas.microsoft.com/office/drawing/2014/main" id="{EAE927FD-2689-0688-E626-85AAE80B1BD2}"/>
              </a:ext>
            </a:extLst>
          </p:cNvPr>
          <p:cNvGrpSpPr/>
          <p:nvPr/>
        </p:nvGrpSpPr>
        <p:grpSpPr>
          <a:xfrm>
            <a:off x="5550888" y="2887399"/>
            <a:ext cx="277107" cy="552871"/>
            <a:chOff x="5086390" y="2966073"/>
            <a:chExt cx="365757" cy="671971"/>
          </a:xfrm>
        </p:grpSpPr>
        <p:sp>
          <p:nvSpPr>
            <p:cNvPr id="144" name="Rectangle 143">
              <a:extLst>
                <a:ext uri="{FF2B5EF4-FFF2-40B4-BE49-F238E27FC236}">
                  <a16:creationId xmlns:a16="http://schemas.microsoft.com/office/drawing/2014/main" id="{BDDBB2E9-BE57-38EC-83FC-46A792C17139}"/>
                </a:ext>
              </a:extLst>
            </p:cNvPr>
            <p:cNvSpPr/>
            <p:nvPr/>
          </p:nvSpPr>
          <p:spPr bwMode="gray">
            <a:xfrm>
              <a:off x="5086390" y="2966073"/>
              <a:ext cx="365757" cy="671971"/>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145" name="Google Shape;4238;p22">
              <a:extLst>
                <a:ext uri="{FF2B5EF4-FFF2-40B4-BE49-F238E27FC236}">
                  <a16:creationId xmlns:a16="http://schemas.microsoft.com/office/drawing/2014/main" id="{FA68285F-259F-0743-9D82-4639B13C206E}"/>
                </a:ext>
              </a:extLst>
            </p:cNvPr>
            <p:cNvGrpSpPr/>
            <p:nvPr/>
          </p:nvGrpSpPr>
          <p:grpSpPr>
            <a:xfrm rot="5400000">
              <a:off x="5138869" y="3058040"/>
              <a:ext cx="263441" cy="352709"/>
              <a:chOff x="6930408" y="3506884"/>
              <a:chExt cx="283405" cy="388082"/>
            </a:xfrm>
          </p:grpSpPr>
          <p:sp>
            <p:nvSpPr>
              <p:cNvPr id="146" name="Google Shape;4239;p22">
                <a:extLst>
                  <a:ext uri="{FF2B5EF4-FFF2-40B4-BE49-F238E27FC236}">
                    <a16:creationId xmlns:a16="http://schemas.microsoft.com/office/drawing/2014/main" id="{3A6273C1-3D84-7738-4F70-79E1091C5AC1}"/>
                  </a:ext>
                </a:extLst>
              </p:cNvPr>
              <p:cNvSpPr/>
              <p:nvPr/>
            </p:nvSpPr>
            <p:spPr>
              <a:xfrm rot="16200000">
                <a:off x="6990674" y="3671874"/>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4705"/>
                </a:schemeClr>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47" name="Google Shape;4240;p22">
                <a:extLst>
                  <a:ext uri="{FF2B5EF4-FFF2-40B4-BE49-F238E27FC236}">
                    <a16:creationId xmlns:a16="http://schemas.microsoft.com/office/drawing/2014/main" id="{F4C3C483-18C7-29B8-8D83-83B5802B851E}"/>
                  </a:ext>
                </a:extLst>
              </p:cNvPr>
              <p:cNvSpPr/>
              <p:nvPr/>
            </p:nvSpPr>
            <p:spPr>
              <a:xfrm rot="16200000">
                <a:off x="6990674" y="3559245"/>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9803"/>
                </a:schemeClr>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48" name="Google Shape;4241;p22">
                <a:extLst>
                  <a:ext uri="{FF2B5EF4-FFF2-40B4-BE49-F238E27FC236}">
                    <a16:creationId xmlns:a16="http://schemas.microsoft.com/office/drawing/2014/main" id="{395F945B-C7A1-1241-B187-71EE9ED3629D}"/>
                  </a:ext>
                </a:extLst>
              </p:cNvPr>
              <p:cNvSpPr/>
              <p:nvPr/>
            </p:nvSpPr>
            <p:spPr>
              <a:xfrm rot="16200000">
                <a:off x="6990721" y="3446618"/>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grpSp>
      </p:grpSp>
      <p:grpSp>
        <p:nvGrpSpPr>
          <p:cNvPr id="155" name="Group 154">
            <a:extLst>
              <a:ext uri="{FF2B5EF4-FFF2-40B4-BE49-F238E27FC236}">
                <a16:creationId xmlns:a16="http://schemas.microsoft.com/office/drawing/2014/main" id="{8C43F1DA-3371-3770-63FE-E330DB5E697F}"/>
              </a:ext>
            </a:extLst>
          </p:cNvPr>
          <p:cNvGrpSpPr/>
          <p:nvPr/>
        </p:nvGrpSpPr>
        <p:grpSpPr>
          <a:xfrm>
            <a:off x="5559922" y="3970569"/>
            <a:ext cx="277107" cy="552871"/>
            <a:chOff x="5086390" y="2966073"/>
            <a:chExt cx="365757" cy="671971"/>
          </a:xfrm>
        </p:grpSpPr>
        <p:sp>
          <p:nvSpPr>
            <p:cNvPr id="156" name="Rectangle 155">
              <a:extLst>
                <a:ext uri="{FF2B5EF4-FFF2-40B4-BE49-F238E27FC236}">
                  <a16:creationId xmlns:a16="http://schemas.microsoft.com/office/drawing/2014/main" id="{F56EE775-5734-6DC6-438D-4E130FE08C8B}"/>
                </a:ext>
              </a:extLst>
            </p:cNvPr>
            <p:cNvSpPr/>
            <p:nvPr/>
          </p:nvSpPr>
          <p:spPr bwMode="gray">
            <a:xfrm>
              <a:off x="5086390" y="2966073"/>
              <a:ext cx="365757" cy="671971"/>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157" name="Google Shape;4238;p22">
              <a:extLst>
                <a:ext uri="{FF2B5EF4-FFF2-40B4-BE49-F238E27FC236}">
                  <a16:creationId xmlns:a16="http://schemas.microsoft.com/office/drawing/2014/main" id="{8F445EBF-16F8-8237-8CF3-6854E7F91EF3}"/>
                </a:ext>
              </a:extLst>
            </p:cNvPr>
            <p:cNvGrpSpPr/>
            <p:nvPr/>
          </p:nvGrpSpPr>
          <p:grpSpPr>
            <a:xfrm rot="5400000">
              <a:off x="5138869" y="3058040"/>
              <a:ext cx="263441" cy="352709"/>
              <a:chOff x="6930408" y="3506884"/>
              <a:chExt cx="283405" cy="388082"/>
            </a:xfrm>
          </p:grpSpPr>
          <p:sp>
            <p:nvSpPr>
              <p:cNvPr id="158" name="Google Shape;4239;p22">
                <a:extLst>
                  <a:ext uri="{FF2B5EF4-FFF2-40B4-BE49-F238E27FC236}">
                    <a16:creationId xmlns:a16="http://schemas.microsoft.com/office/drawing/2014/main" id="{696352DE-AFC9-D805-5895-E4B82053EA5B}"/>
                  </a:ext>
                </a:extLst>
              </p:cNvPr>
              <p:cNvSpPr/>
              <p:nvPr/>
            </p:nvSpPr>
            <p:spPr>
              <a:xfrm rot="16200000">
                <a:off x="6990674" y="3671874"/>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4705"/>
                </a:schemeClr>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59" name="Google Shape;4240;p22">
                <a:extLst>
                  <a:ext uri="{FF2B5EF4-FFF2-40B4-BE49-F238E27FC236}">
                    <a16:creationId xmlns:a16="http://schemas.microsoft.com/office/drawing/2014/main" id="{7030C00C-7C93-98B2-62AE-CFD2DD236F1B}"/>
                  </a:ext>
                </a:extLst>
              </p:cNvPr>
              <p:cNvSpPr/>
              <p:nvPr/>
            </p:nvSpPr>
            <p:spPr>
              <a:xfrm rot="16200000">
                <a:off x="6990674" y="3559245"/>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9803"/>
                </a:schemeClr>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60" name="Google Shape;4241;p22">
                <a:extLst>
                  <a:ext uri="{FF2B5EF4-FFF2-40B4-BE49-F238E27FC236}">
                    <a16:creationId xmlns:a16="http://schemas.microsoft.com/office/drawing/2014/main" id="{B31BAFFE-D401-F6CC-86CE-1C93926DA485}"/>
                  </a:ext>
                </a:extLst>
              </p:cNvPr>
              <p:cNvSpPr/>
              <p:nvPr/>
            </p:nvSpPr>
            <p:spPr>
              <a:xfrm rot="16200000">
                <a:off x="6990721" y="3446618"/>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grpSp>
      </p:grpSp>
      <p:grpSp>
        <p:nvGrpSpPr>
          <p:cNvPr id="167" name="Group 166">
            <a:extLst>
              <a:ext uri="{FF2B5EF4-FFF2-40B4-BE49-F238E27FC236}">
                <a16:creationId xmlns:a16="http://schemas.microsoft.com/office/drawing/2014/main" id="{265C9246-AAF9-DB25-822F-06E268767A8F}"/>
              </a:ext>
            </a:extLst>
          </p:cNvPr>
          <p:cNvGrpSpPr/>
          <p:nvPr/>
        </p:nvGrpSpPr>
        <p:grpSpPr>
          <a:xfrm>
            <a:off x="5553878" y="5118285"/>
            <a:ext cx="277107" cy="552871"/>
            <a:chOff x="5086390" y="2966073"/>
            <a:chExt cx="365757" cy="671971"/>
          </a:xfrm>
        </p:grpSpPr>
        <p:sp>
          <p:nvSpPr>
            <p:cNvPr id="168" name="Rectangle 167">
              <a:extLst>
                <a:ext uri="{FF2B5EF4-FFF2-40B4-BE49-F238E27FC236}">
                  <a16:creationId xmlns:a16="http://schemas.microsoft.com/office/drawing/2014/main" id="{E87E4213-7745-BA22-D45A-4DA7803124E1}"/>
                </a:ext>
              </a:extLst>
            </p:cNvPr>
            <p:cNvSpPr/>
            <p:nvPr/>
          </p:nvSpPr>
          <p:spPr bwMode="gray">
            <a:xfrm>
              <a:off x="5086390" y="2966073"/>
              <a:ext cx="365757" cy="671971"/>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169" name="Google Shape;4238;p22">
              <a:extLst>
                <a:ext uri="{FF2B5EF4-FFF2-40B4-BE49-F238E27FC236}">
                  <a16:creationId xmlns:a16="http://schemas.microsoft.com/office/drawing/2014/main" id="{F3B5205E-71B3-CA65-4C50-FEB70B62BEA5}"/>
                </a:ext>
              </a:extLst>
            </p:cNvPr>
            <p:cNvGrpSpPr/>
            <p:nvPr/>
          </p:nvGrpSpPr>
          <p:grpSpPr>
            <a:xfrm rot="5400000">
              <a:off x="5138869" y="3058040"/>
              <a:ext cx="263441" cy="352709"/>
              <a:chOff x="6930408" y="3506884"/>
              <a:chExt cx="283405" cy="388082"/>
            </a:xfrm>
          </p:grpSpPr>
          <p:sp>
            <p:nvSpPr>
              <p:cNvPr id="170" name="Google Shape;4239;p22">
                <a:extLst>
                  <a:ext uri="{FF2B5EF4-FFF2-40B4-BE49-F238E27FC236}">
                    <a16:creationId xmlns:a16="http://schemas.microsoft.com/office/drawing/2014/main" id="{73DCF3AB-F268-8758-D0DE-B743BFF9F273}"/>
                  </a:ext>
                </a:extLst>
              </p:cNvPr>
              <p:cNvSpPr/>
              <p:nvPr/>
            </p:nvSpPr>
            <p:spPr>
              <a:xfrm rot="16200000">
                <a:off x="6990674" y="3671874"/>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4705"/>
                </a:schemeClr>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71" name="Google Shape;4240;p22">
                <a:extLst>
                  <a:ext uri="{FF2B5EF4-FFF2-40B4-BE49-F238E27FC236}">
                    <a16:creationId xmlns:a16="http://schemas.microsoft.com/office/drawing/2014/main" id="{0C60249C-E32E-4796-E35C-8BD44934311A}"/>
                  </a:ext>
                </a:extLst>
              </p:cNvPr>
              <p:cNvSpPr/>
              <p:nvPr/>
            </p:nvSpPr>
            <p:spPr>
              <a:xfrm rot="16200000">
                <a:off x="6990674" y="3559245"/>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9803"/>
                </a:schemeClr>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72" name="Google Shape;4241;p22">
                <a:extLst>
                  <a:ext uri="{FF2B5EF4-FFF2-40B4-BE49-F238E27FC236}">
                    <a16:creationId xmlns:a16="http://schemas.microsoft.com/office/drawing/2014/main" id="{A2135933-34B9-12C8-7BFC-3C06ED9E754C}"/>
                  </a:ext>
                </a:extLst>
              </p:cNvPr>
              <p:cNvSpPr/>
              <p:nvPr/>
            </p:nvSpPr>
            <p:spPr>
              <a:xfrm rot="16200000">
                <a:off x="6990721" y="3446618"/>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grpSp>
      </p:grpSp>
    </p:spTree>
    <p:extLst>
      <p:ext uri="{BB962C8B-B14F-4D97-AF65-F5344CB8AC3E}">
        <p14:creationId xmlns:p14="http://schemas.microsoft.com/office/powerpoint/2010/main" val="1514515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921CA-CA03-A19F-DA5C-5D18FB5D6BDE}"/>
            </a:ext>
          </a:extLst>
        </p:cNvPr>
        <p:cNvGrpSpPr/>
        <p:nvPr/>
      </p:nvGrpSpPr>
      <p:grpSpPr>
        <a:xfrm>
          <a:off x="0" y="0"/>
          <a:ext cx="0" cy="0"/>
          <a:chOff x="0" y="0"/>
          <a:chExt cx="0" cy="0"/>
        </a:xfrm>
      </p:grpSpPr>
      <p:sp>
        <p:nvSpPr>
          <p:cNvPr id="86" name="Google Shape;1527;p8">
            <a:extLst>
              <a:ext uri="{FF2B5EF4-FFF2-40B4-BE49-F238E27FC236}">
                <a16:creationId xmlns:a16="http://schemas.microsoft.com/office/drawing/2014/main" id="{D0EC036E-84A7-82B7-910D-5E520F767AA1}"/>
              </a:ext>
            </a:extLst>
          </p:cNvPr>
          <p:cNvSpPr/>
          <p:nvPr/>
        </p:nvSpPr>
        <p:spPr>
          <a:xfrm>
            <a:off x="594298" y="1610005"/>
            <a:ext cx="7438027" cy="4436100"/>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6" name="Google Shape;1479;p7">
            <a:extLst>
              <a:ext uri="{FF2B5EF4-FFF2-40B4-BE49-F238E27FC236}">
                <a16:creationId xmlns:a16="http://schemas.microsoft.com/office/drawing/2014/main" id="{ACBA2335-EB47-785A-14FF-040754D06AE6}"/>
              </a:ext>
            </a:extLst>
          </p:cNvPr>
          <p:cNvSpPr/>
          <p:nvPr/>
        </p:nvSpPr>
        <p:spPr>
          <a:xfrm>
            <a:off x="4803854" y="2835253"/>
            <a:ext cx="2849507" cy="1441651"/>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5" name="Google Shape;1479;p7">
            <a:extLst>
              <a:ext uri="{FF2B5EF4-FFF2-40B4-BE49-F238E27FC236}">
                <a16:creationId xmlns:a16="http://schemas.microsoft.com/office/drawing/2014/main" id="{4EE0AAD6-CF7A-33A2-91CF-99FB77026E79}"/>
              </a:ext>
            </a:extLst>
          </p:cNvPr>
          <p:cNvSpPr/>
          <p:nvPr/>
        </p:nvSpPr>
        <p:spPr>
          <a:xfrm>
            <a:off x="1014392" y="1769195"/>
            <a:ext cx="2965880" cy="2593465"/>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9" name="Title 8">
            <a:extLst>
              <a:ext uri="{FF2B5EF4-FFF2-40B4-BE49-F238E27FC236}">
                <a16:creationId xmlns:a16="http://schemas.microsoft.com/office/drawing/2014/main" id="{ED266049-58AA-7DF4-A427-8EC8BAA9FDCF}"/>
              </a:ext>
            </a:extLst>
          </p:cNvPr>
          <p:cNvSpPr>
            <a:spLocks noGrp="1"/>
          </p:cNvSpPr>
          <p:nvPr>
            <p:ph type="title"/>
          </p:nvPr>
        </p:nvSpPr>
        <p:spPr>
          <a:xfrm>
            <a:off x="581245" y="413536"/>
            <a:ext cx="10998139" cy="380901"/>
          </a:xfrm>
        </p:spPr>
        <p:txBody>
          <a:bodyPr/>
          <a:lstStyle/>
          <a:p>
            <a:r>
              <a:rPr lang="en-US"/>
              <a:t>Single Sign-On for Administrator Access Across VCF</a:t>
            </a:r>
            <a:endParaRPr lang="en-US" dirty="0"/>
          </a:p>
        </p:txBody>
      </p:sp>
      <p:sp>
        <p:nvSpPr>
          <p:cNvPr id="10" name="Subtitle 9">
            <a:extLst>
              <a:ext uri="{FF2B5EF4-FFF2-40B4-BE49-F238E27FC236}">
                <a16:creationId xmlns:a16="http://schemas.microsoft.com/office/drawing/2014/main" id="{184605AA-DB02-E2BE-4CA4-46FBB556EB1F}"/>
              </a:ext>
            </a:extLst>
          </p:cNvPr>
          <p:cNvSpPr>
            <a:spLocks noGrp="1"/>
          </p:cNvSpPr>
          <p:nvPr>
            <p:ph type="subTitle" idx="10"/>
          </p:nvPr>
        </p:nvSpPr>
        <p:spPr>
          <a:xfrm>
            <a:off x="594300" y="812513"/>
            <a:ext cx="10959832" cy="247678"/>
          </a:xfrm>
        </p:spPr>
        <p:txBody>
          <a:bodyPr/>
          <a:lstStyle/>
          <a:p>
            <a:r>
              <a:rPr lang="en-US"/>
              <a:t>New modern identity broker simplifies configuration</a:t>
            </a:r>
            <a:endParaRPr lang="en-US" dirty="0"/>
          </a:p>
        </p:txBody>
      </p:sp>
      <p:sp>
        <p:nvSpPr>
          <p:cNvPr id="12" name="Text Placeholder 11">
            <a:extLst>
              <a:ext uri="{FF2B5EF4-FFF2-40B4-BE49-F238E27FC236}">
                <a16:creationId xmlns:a16="http://schemas.microsoft.com/office/drawing/2014/main" id="{16841FAA-1191-E65E-8382-709F8AF349E9}"/>
              </a:ext>
            </a:extLst>
          </p:cNvPr>
          <p:cNvSpPr>
            <a:spLocks noGrp="1"/>
          </p:cNvSpPr>
          <p:nvPr>
            <p:ph type="body" sz="quarter" idx="17"/>
          </p:nvPr>
        </p:nvSpPr>
        <p:spPr>
          <a:xfrm>
            <a:off x="8379818" y="1600676"/>
            <a:ext cx="3807420" cy="4570809"/>
          </a:xfrm>
        </p:spPr>
        <p:txBody>
          <a:bodyPr/>
          <a:lstStyle/>
          <a:p>
            <a:r>
              <a:rPr lang="en-US" dirty="0"/>
              <a:t>All new design with two modes:</a:t>
            </a:r>
          </a:p>
          <a:p>
            <a:pPr lvl="1"/>
            <a:r>
              <a:rPr lang="en-US" dirty="0"/>
              <a:t>Embedded</a:t>
            </a:r>
          </a:p>
          <a:p>
            <a:pPr lvl="1"/>
            <a:r>
              <a:rPr lang="en-US" dirty="0"/>
              <a:t>External appliance cluster</a:t>
            </a:r>
            <a:br>
              <a:rPr lang="en-US" dirty="0"/>
            </a:br>
            <a:r>
              <a:rPr lang="en-US" dirty="0"/>
              <a:t>(supports multiple VCF instances)</a:t>
            </a:r>
          </a:p>
          <a:p>
            <a:r>
              <a:rPr lang="en-US" dirty="0"/>
              <a:t>Automatic configuration</a:t>
            </a:r>
          </a:p>
          <a:p>
            <a:pPr lvl="1"/>
            <a:r>
              <a:rPr lang="en-US" dirty="0"/>
              <a:t>vCenter, NSX, Ops, Automation</a:t>
            </a:r>
          </a:p>
          <a:p>
            <a:r>
              <a:rPr lang="en-US" dirty="0"/>
              <a:t>Supports modern and directory-based identity providers</a:t>
            </a:r>
          </a:p>
          <a:p>
            <a:pPr lvl="1"/>
            <a:r>
              <a:rPr lang="en-US" dirty="0"/>
              <a:t>SAML 2, OIDC, or AD/LDAP</a:t>
            </a:r>
          </a:p>
          <a:p>
            <a:r>
              <a:rPr lang="en-US" dirty="0"/>
              <a:t>Privileges are set for each VCF component according to user/group</a:t>
            </a:r>
          </a:p>
          <a:p>
            <a:r>
              <a:rPr lang="en-US" dirty="0"/>
              <a:t>No connector needed, since VIDB is inside the firewall</a:t>
            </a:r>
          </a:p>
          <a:p>
            <a:endParaRPr lang="en-US" dirty="0"/>
          </a:p>
        </p:txBody>
      </p:sp>
      <p:sp>
        <p:nvSpPr>
          <p:cNvPr id="53" name="Freeform 52">
            <a:extLst>
              <a:ext uri="{FF2B5EF4-FFF2-40B4-BE49-F238E27FC236}">
                <a16:creationId xmlns:a16="http://schemas.microsoft.com/office/drawing/2014/main" id="{B37842B0-AE8E-FC77-DE36-95E854107452}"/>
              </a:ext>
            </a:extLst>
          </p:cNvPr>
          <p:cNvSpPr/>
          <p:nvPr/>
        </p:nvSpPr>
        <p:spPr bwMode="gray">
          <a:xfrm rot="18543376" flipV="1">
            <a:off x="4430015" y="3091954"/>
            <a:ext cx="2118824" cy="2074183"/>
          </a:xfrm>
          <a:custGeom>
            <a:avLst/>
            <a:gdLst>
              <a:gd name="connsiteX0" fmla="*/ 0 w 1196502"/>
              <a:gd name="connsiteY0" fmla="*/ 490438 h 490438"/>
              <a:gd name="connsiteX1" fmla="*/ 749030 w 1196502"/>
              <a:gd name="connsiteY1" fmla="*/ 4055 h 490438"/>
              <a:gd name="connsiteX2" fmla="*/ 1196502 w 1196502"/>
              <a:gd name="connsiteY2" fmla="*/ 256974 h 490438"/>
              <a:gd name="connsiteX0" fmla="*/ 0 w 1196502"/>
              <a:gd name="connsiteY0" fmla="*/ 385915 h 385915"/>
              <a:gd name="connsiteX1" fmla="*/ 729575 w 1196502"/>
              <a:gd name="connsiteY1" fmla="*/ 6536 h 385915"/>
              <a:gd name="connsiteX2" fmla="*/ 1196502 w 1196502"/>
              <a:gd name="connsiteY2" fmla="*/ 152451 h 385915"/>
              <a:gd name="connsiteX0" fmla="*/ 0 w 1147864"/>
              <a:gd name="connsiteY0" fmla="*/ 383173 h 383173"/>
              <a:gd name="connsiteX1" fmla="*/ 729575 w 1147864"/>
              <a:gd name="connsiteY1" fmla="*/ 3794 h 383173"/>
              <a:gd name="connsiteX2" fmla="*/ 1147864 w 1147864"/>
              <a:gd name="connsiteY2" fmla="*/ 276169 h 383173"/>
              <a:gd name="connsiteX0" fmla="*/ 0 w 1147864"/>
              <a:gd name="connsiteY0" fmla="*/ 386834 h 386834"/>
              <a:gd name="connsiteX1" fmla="*/ 729575 w 1147864"/>
              <a:gd name="connsiteY1" fmla="*/ 7455 h 386834"/>
              <a:gd name="connsiteX2" fmla="*/ 1147864 w 1147864"/>
              <a:gd name="connsiteY2" fmla="*/ 279830 h 386834"/>
              <a:gd name="connsiteX0" fmla="*/ 0 w 1147864"/>
              <a:gd name="connsiteY0" fmla="*/ 414874 h 414874"/>
              <a:gd name="connsiteX1" fmla="*/ 642026 w 1147864"/>
              <a:gd name="connsiteY1" fmla="*/ 6312 h 414874"/>
              <a:gd name="connsiteX2" fmla="*/ 1147864 w 1147864"/>
              <a:gd name="connsiteY2" fmla="*/ 307870 h 414874"/>
              <a:gd name="connsiteX0" fmla="*/ 0 w 1147864"/>
              <a:gd name="connsiteY0" fmla="*/ 160882 h 292942"/>
              <a:gd name="connsiteX1" fmla="*/ 566722 w 1147864"/>
              <a:gd name="connsiteY1" fmla="*/ 290202 h 292942"/>
              <a:gd name="connsiteX2" fmla="*/ 1147864 w 1147864"/>
              <a:gd name="connsiteY2" fmla="*/ 53878 h 292942"/>
              <a:gd name="connsiteX0" fmla="*/ 0 w 964984"/>
              <a:gd name="connsiteY0" fmla="*/ 69434 h 274402"/>
              <a:gd name="connsiteX1" fmla="*/ 566722 w 964984"/>
              <a:gd name="connsiteY1" fmla="*/ 198754 h 274402"/>
              <a:gd name="connsiteX2" fmla="*/ 964984 w 964984"/>
              <a:gd name="connsiteY2" fmla="*/ 274402 h 274402"/>
              <a:gd name="connsiteX0" fmla="*/ 0 w 964984"/>
              <a:gd name="connsiteY0" fmla="*/ 0 h 204968"/>
              <a:gd name="connsiteX1" fmla="*/ 964984 w 964984"/>
              <a:gd name="connsiteY1" fmla="*/ 204968 h 204968"/>
              <a:gd name="connsiteX0" fmla="*/ 0 w 954227"/>
              <a:gd name="connsiteY0" fmla="*/ 0 h 258756"/>
              <a:gd name="connsiteX1" fmla="*/ 954227 w 954227"/>
              <a:gd name="connsiteY1" fmla="*/ 258756 h 258756"/>
              <a:gd name="connsiteX0" fmla="*/ 0 w 954227"/>
              <a:gd name="connsiteY0" fmla="*/ 0 h 258756"/>
              <a:gd name="connsiteX1" fmla="*/ 954227 w 954227"/>
              <a:gd name="connsiteY1" fmla="*/ 258756 h 258756"/>
              <a:gd name="connsiteX0" fmla="*/ 0 w 846650"/>
              <a:gd name="connsiteY0" fmla="*/ 0 h 258756"/>
              <a:gd name="connsiteX1" fmla="*/ 846650 w 846650"/>
              <a:gd name="connsiteY1" fmla="*/ 258756 h 258756"/>
              <a:gd name="connsiteX0" fmla="*/ 0 w 846650"/>
              <a:gd name="connsiteY0" fmla="*/ 0 h 258756"/>
              <a:gd name="connsiteX1" fmla="*/ 846650 w 846650"/>
              <a:gd name="connsiteY1" fmla="*/ 258756 h 258756"/>
              <a:gd name="connsiteX0" fmla="*/ 0 w 1306859"/>
              <a:gd name="connsiteY0" fmla="*/ 401439 h 660195"/>
              <a:gd name="connsiteX1" fmla="*/ 1164888 w 1306859"/>
              <a:gd name="connsiteY1" fmla="*/ 0 h 660195"/>
              <a:gd name="connsiteX2" fmla="*/ 846650 w 1306859"/>
              <a:gd name="connsiteY2" fmla="*/ 660195 h 660195"/>
              <a:gd name="connsiteX0" fmla="*/ 0 w 553823"/>
              <a:gd name="connsiteY0" fmla="*/ 250 h 700069"/>
              <a:gd name="connsiteX1" fmla="*/ 411852 w 553823"/>
              <a:gd name="connsiteY1" fmla="*/ 39874 h 700069"/>
              <a:gd name="connsiteX2" fmla="*/ 93614 w 553823"/>
              <a:gd name="connsiteY2" fmla="*/ 700069 h 700069"/>
              <a:gd name="connsiteX0" fmla="*/ 0 w 451816"/>
              <a:gd name="connsiteY0" fmla="*/ 72 h 699891"/>
              <a:gd name="connsiteX1" fmla="*/ 293518 w 451816"/>
              <a:gd name="connsiteY1" fmla="*/ 168788 h 699891"/>
              <a:gd name="connsiteX2" fmla="*/ 93614 w 451816"/>
              <a:gd name="connsiteY2" fmla="*/ 699891 h 699891"/>
              <a:gd name="connsiteX0" fmla="*/ 0 w 308551"/>
              <a:gd name="connsiteY0" fmla="*/ 72 h 699891"/>
              <a:gd name="connsiteX1" fmla="*/ 293518 w 308551"/>
              <a:gd name="connsiteY1" fmla="*/ 168788 h 699891"/>
              <a:gd name="connsiteX2" fmla="*/ 93614 w 308551"/>
              <a:gd name="connsiteY2" fmla="*/ 699891 h 699891"/>
              <a:gd name="connsiteX0" fmla="*/ 0 w 93614"/>
              <a:gd name="connsiteY0" fmla="*/ 0 h 699819"/>
              <a:gd name="connsiteX1" fmla="*/ 93614 w 93614"/>
              <a:gd name="connsiteY1" fmla="*/ 699819 h 699819"/>
              <a:gd name="connsiteX0" fmla="*/ 0 w 189200"/>
              <a:gd name="connsiteY0" fmla="*/ 0 h 699819"/>
              <a:gd name="connsiteX1" fmla="*/ 93614 w 189200"/>
              <a:gd name="connsiteY1" fmla="*/ 699819 h 699819"/>
              <a:gd name="connsiteX0" fmla="*/ 0 w 206728"/>
              <a:gd name="connsiteY0" fmla="*/ 0 h 710577"/>
              <a:gd name="connsiteX1" fmla="*/ 115130 w 206728"/>
              <a:gd name="connsiteY1" fmla="*/ 710577 h 710577"/>
              <a:gd name="connsiteX0" fmla="*/ 0 w 152350"/>
              <a:gd name="connsiteY0" fmla="*/ 0 h 710577"/>
              <a:gd name="connsiteX1" fmla="*/ 115130 w 152350"/>
              <a:gd name="connsiteY1" fmla="*/ 710577 h 710577"/>
              <a:gd name="connsiteX0" fmla="*/ 0 w 231040"/>
              <a:gd name="connsiteY0" fmla="*/ 0 h 710577"/>
              <a:gd name="connsiteX1" fmla="*/ 115130 w 231040"/>
              <a:gd name="connsiteY1" fmla="*/ 710577 h 710577"/>
              <a:gd name="connsiteX0" fmla="*/ 0 w 179842"/>
              <a:gd name="connsiteY0" fmla="*/ 0 h 710577"/>
              <a:gd name="connsiteX1" fmla="*/ 115130 w 179842"/>
              <a:gd name="connsiteY1" fmla="*/ 710577 h 710577"/>
              <a:gd name="connsiteX0" fmla="*/ 1316065 w 1362078"/>
              <a:gd name="connsiteY0" fmla="*/ 0 h 613758"/>
              <a:gd name="connsiteX1" fmla="*/ 428 w 1362078"/>
              <a:gd name="connsiteY1" fmla="*/ 613758 h 613758"/>
              <a:gd name="connsiteX0" fmla="*/ 1317084 w 1317084"/>
              <a:gd name="connsiteY0" fmla="*/ 0 h 613758"/>
              <a:gd name="connsiteX1" fmla="*/ 1447 w 1317084"/>
              <a:gd name="connsiteY1" fmla="*/ 613758 h 613758"/>
              <a:gd name="connsiteX0" fmla="*/ 1488844 w 1488844"/>
              <a:gd name="connsiteY0" fmla="*/ 0 h 613758"/>
              <a:gd name="connsiteX1" fmla="*/ 1084 w 1488844"/>
              <a:gd name="connsiteY1" fmla="*/ 613758 h 613758"/>
            </a:gdLst>
            <a:ahLst/>
            <a:cxnLst>
              <a:cxn ang="0">
                <a:pos x="connsiteX0" y="connsiteY0"/>
              </a:cxn>
              <a:cxn ang="0">
                <a:pos x="connsiteX1" y="connsiteY1"/>
              </a:cxn>
            </a:cxnLst>
            <a:rect l="l" t="t" r="r" b="b"/>
            <a:pathLst>
              <a:path w="1488844" h="613758">
                <a:moveTo>
                  <a:pt x="1488844" y="0"/>
                </a:moveTo>
                <a:cubicBezTo>
                  <a:pt x="616407" y="50394"/>
                  <a:pt x="-30122" y="369729"/>
                  <a:pt x="1084" y="613758"/>
                </a:cubicBezTo>
              </a:path>
            </a:pathLst>
          </a:custGeom>
          <a:ln w="25400">
            <a:solidFill>
              <a:schemeClr val="accent3"/>
            </a:solidFill>
            <a:miter lim="8000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7" name="Freeform 56">
            <a:extLst>
              <a:ext uri="{FF2B5EF4-FFF2-40B4-BE49-F238E27FC236}">
                <a16:creationId xmlns:a16="http://schemas.microsoft.com/office/drawing/2014/main" id="{A0870581-3170-446E-BA87-699870DD6D60}"/>
              </a:ext>
            </a:extLst>
          </p:cNvPr>
          <p:cNvSpPr/>
          <p:nvPr/>
        </p:nvSpPr>
        <p:spPr bwMode="gray">
          <a:xfrm>
            <a:off x="1736798" y="4410440"/>
            <a:ext cx="1449896" cy="478699"/>
          </a:xfrm>
          <a:custGeom>
            <a:avLst/>
            <a:gdLst>
              <a:gd name="connsiteX0" fmla="*/ 0 w 1196502"/>
              <a:gd name="connsiteY0" fmla="*/ 490438 h 490438"/>
              <a:gd name="connsiteX1" fmla="*/ 749030 w 1196502"/>
              <a:gd name="connsiteY1" fmla="*/ 4055 h 490438"/>
              <a:gd name="connsiteX2" fmla="*/ 1196502 w 1196502"/>
              <a:gd name="connsiteY2" fmla="*/ 256974 h 490438"/>
              <a:gd name="connsiteX0" fmla="*/ 0 w 1196502"/>
              <a:gd name="connsiteY0" fmla="*/ 385915 h 385915"/>
              <a:gd name="connsiteX1" fmla="*/ 729575 w 1196502"/>
              <a:gd name="connsiteY1" fmla="*/ 6536 h 385915"/>
              <a:gd name="connsiteX2" fmla="*/ 1196502 w 1196502"/>
              <a:gd name="connsiteY2" fmla="*/ 152451 h 385915"/>
              <a:gd name="connsiteX0" fmla="*/ 0 w 1147864"/>
              <a:gd name="connsiteY0" fmla="*/ 383173 h 383173"/>
              <a:gd name="connsiteX1" fmla="*/ 729575 w 1147864"/>
              <a:gd name="connsiteY1" fmla="*/ 3794 h 383173"/>
              <a:gd name="connsiteX2" fmla="*/ 1147864 w 1147864"/>
              <a:gd name="connsiteY2" fmla="*/ 276169 h 383173"/>
              <a:gd name="connsiteX0" fmla="*/ 0 w 1147864"/>
              <a:gd name="connsiteY0" fmla="*/ 386834 h 386834"/>
              <a:gd name="connsiteX1" fmla="*/ 729575 w 1147864"/>
              <a:gd name="connsiteY1" fmla="*/ 7455 h 386834"/>
              <a:gd name="connsiteX2" fmla="*/ 1147864 w 1147864"/>
              <a:gd name="connsiteY2" fmla="*/ 279830 h 386834"/>
              <a:gd name="connsiteX0" fmla="*/ 0 w 1147864"/>
              <a:gd name="connsiteY0" fmla="*/ 414874 h 414874"/>
              <a:gd name="connsiteX1" fmla="*/ 642026 w 1147864"/>
              <a:gd name="connsiteY1" fmla="*/ 6312 h 414874"/>
              <a:gd name="connsiteX2" fmla="*/ 1147864 w 1147864"/>
              <a:gd name="connsiteY2" fmla="*/ 307870 h 414874"/>
              <a:gd name="connsiteX0" fmla="*/ 0 w 1147864"/>
              <a:gd name="connsiteY0" fmla="*/ 160882 h 292942"/>
              <a:gd name="connsiteX1" fmla="*/ 566722 w 1147864"/>
              <a:gd name="connsiteY1" fmla="*/ 290202 h 292942"/>
              <a:gd name="connsiteX2" fmla="*/ 1147864 w 1147864"/>
              <a:gd name="connsiteY2" fmla="*/ 53878 h 292942"/>
              <a:gd name="connsiteX0" fmla="*/ 0 w 964984"/>
              <a:gd name="connsiteY0" fmla="*/ 69434 h 274402"/>
              <a:gd name="connsiteX1" fmla="*/ 566722 w 964984"/>
              <a:gd name="connsiteY1" fmla="*/ 198754 h 274402"/>
              <a:gd name="connsiteX2" fmla="*/ 964984 w 964984"/>
              <a:gd name="connsiteY2" fmla="*/ 274402 h 274402"/>
              <a:gd name="connsiteX0" fmla="*/ 0 w 964984"/>
              <a:gd name="connsiteY0" fmla="*/ 0 h 204968"/>
              <a:gd name="connsiteX1" fmla="*/ 964984 w 964984"/>
              <a:gd name="connsiteY1" fmla="*/ 204968 h 204968"/>
              <a:gd name="connsiteX0" fmla="*/ 0 w 954227"/>
              <a:gd name="connsiteY0" fmla="*/ 0 h 258756"/>
              <a:gd name="connsiteX1" fmla="*/ 954227 w 954227"/>
              <a:gd name="connsiteY1" fmla="*/ 258756 h 258756"/>
              <a:gd name="connsiteX0" fmla="*/ 0 w 954227"/>
              <a:gd name="connsiteY0" fmla="*/ 0 h 258756"/>
              <a:gd name="connsiteX1" fmla="*/ 954227 w 954227"/>
              <a:gd name="connsiteY1" fmla="*/ 258756 h 258756"/>
              <a:gd name="connsiteX0" fmla="*/ 0 w 846650"/>
              <a:gd name="connsiteY0" fmla="*/ 0 h 258756"/>
              <a:gd name="connsiteX1" fmla="*/ 846650 w 846650"/>
              <a:gd name="connsiteY1" fmla="*/ 258756 h 258756"/>
              <a:gd name="connsiteX0" fmla="*/ 0 w 846650"/>
              <a:gd name="connsiteY0" fmla="*/ 0 h 258756"/>
              <a:gd name="connsiteX1" fmla="*/ 846650 w 846650"/>
              <a:gd name="connsiteY1" fmla="*/ 258756 h 258756"/>
              <a:gd name="connsiteX0" fmla="*/ 0 w 1306859"/>
              <a:gd name="connsiteY0" fmla="*/ 401439 h 660195"/>
              <a:gd name="connsiteX1" fmla="*/ 1164888 w 1306859"/>
              <a:gd name="connsiteY1" fmla="*/ 0 h 660195"/>
              <a:gd name="connsiteX2" fmla="*/ 846650 w 1306859"/>
              <a:gd name="connsiteY2" fmla="*/ 660195 h 660195"/>
              <a:gd name="connsiteX0" fmla="*/ 0 w 553823"/>
              <a:gd name="connsiteY0" fmla="*/ 250 h 700069"/>
              <a:gd name="connsiteX1" fmla="*/ 411852 w 553823"/>
              <a:gd name="connsiteY1" fmla="*/ 39874 h 700069"/>
              <a:gd name="connsiteX2" fmla="*/ 93614 w 553823"/>
              <a:gd name="connsiteY2" fmla="*/ 700069 h 700069"/>
              <a:gd name="connsiteX0" fmla="*/ 0 w 451816"/>
              <a:gd name="connsiteY0" fmla="*/ 72 h 699891"/>
              <a:gd name="connsiteX1" fmla="*/ 293518 w 451816"/>
              <a:gd name="connsiteY1" fmla="*/ 168788 h 699891"/>
              <a:gd name="connsiteX2" fmla="*/ 93614 w 451816"/>
              <a:gd name="connsiteY2" fmla="*/ 699891 h 699891"/>
              <a:gd name="connsiteX0" fmla="*/ 0 w 308551"/>
              <a:gd name="connsiteY0" fmla="*/ 72 h 699891"/>
              <a:gd name="connsiteX1" fmla="*/ 293518 w 308551"/>
              <a:gd name="connsiteY1" fmla="*/ 168788 h 699891"/>
              <a:gd name="connsiteX2" fmla="*/ 93614 w 308551"/>
              <a:gd name="connsiteY2" fmla="*/ 699891 h 699891"/>
              <a:gd name="connsiteX0" fmla="*/ 0 w 93614"/>
              <a:gd name="connsiteY0" fmla="*/ 0 h 699819"/>
              <a:gd name="connsiteX1" fmla="*/ 93614 w 93614"/>
              <a:gd name="connsiteY1" fmla="*/ 699819 h 699819"/>
              <a:gd name="connsiteX0" fmla="*/ 0 w 189200"/>
              <a:gd name="connsiteY0" fmla="*/ 0 h 699819"/>
              <a:gd name="connsiteX1" fmla="*/ 93614 w 189200"/>
              <a:gd name="connsiteY1" fmla="*/ 699819 h 699819"/>
              <a:gd name="connsiteX0" fmla="*/ 0 w 206728"/>
              <a:gd name="connsiteY0" fmla="*/ 0 h 710577"/>
              <a:gd name="connsiteX1" fmla="*/ 115130 w 206728"/>
              <a:gd name="connsiteY1" fmla="*/ 710577 h 710577"/>
              <a:gd name="connsiteX0" fmla="*/ 0 w 152350"/>
              <a:gd name="connsiteY0" fmla="*/ 0 h 710577"/>
              <a:gd name="connsiteX1" fmla="*/ 115130 w 152350"/>
              <a:gd name="connsiteY1" fmla="*/ 710577 h 710577"/>
              <a:gd name="connsiteX0" fmla="*/ 0 w 231040"/>
              <a:gd name="connsiteY0" fmla="*/ 0 h 710577"/>
              <a:gd name="connsiteX1" fmla="*/ 115130 w 231040"/>
              <a:gd name="connsiteY1" fmla="*/ 710577 h 710577"/>
              <a:gd name="connsiteX0" fmla="*/ 0 w 179842"/>
              <a:gd name="connsiteY0" fmla="*/ 0 h 710577"/>
              <a:gd name="connsiteX1" fmla="*/ 115130 w 179842"/>
              <a:gd name="connsiteY1" fmla="*/ 710577 h 710577"/>
              <a:gd name="connsiteX0" fmla="*/ 0 w 771346"/>
              <a:gd name="connsiteY0" fmla="*/ 0 h 818154"/>
              <a:gd name="connsiteX1" fmla="*/ 771346 w 771346"/>
              <a:gd name="connsiteY1" fmla="*/ 818154 h 818154"/>
              <a:gd name="connsiteX0" fmla="*/ 0 w 771346"/>
              <a:gd name="connsiteY0" fmla="*/ 0 h 818154"/>
              <a:gd name="connsiteX1" fmla="*/ 771346 w 771346"/>
              <a:gd name="connsiteY1" fmla="*/ 818154 h 818154"/>
              <a:gd name="connsiteX0" fmla="*/ 0 w 911196"/>
              <a:gd name="connsiteY0" fmla="*/ 0 h 796638"/>
              <a:gd name="connsiteX1" fmla="*/ 911196 w 911196"/>
              <a:gd name="connsiteY1" fmla="*/ 796638 h 796638"/>
              <a:gd name="connsiteX0" fmla="*/ 0 w 911196"/>
              <a:gd name="connsiteY0" fmla="*/ 0 h 796638"/>
              <a:gd name="connsiteX1" fmla="*/ 911196 w 911196"/>
              <a:gd name="connsiteY1" fmla="*/ 796638 h 796638"/>
              <a:gd name="connsiteX0" fmla="*/ 0 w 911196"/>
              <a:gd name="connsiteY0" fmla="*/ 0 h 828911"/>
              <a:gd name="connsiteX1" fmla="*/ 911196 w 911196"/>
              <a:gd name="connsiteY1" fmla="*/ 828911 h 828911"/>
              <a:gd name="connsiteX0" fmla="*/ 0 w 1072560"/>
              <a:gd name="connsiteY0" fmla="*/ 0 h 818153"/>
              <a:gd name="connsiteX1" fmla="*/ 1072560 w 1072560"/>
              <a:gd name="connsiteY1" fmla="*/ 818153 h 818153"/>
              <a:gd name="connsiteX0" fmla="*/ 0 w 1072560"/>
              <a:gd name="connsiteY0" fmla="*/ 0 h 818153"/>
              <a:gd name="connsiteX1" fmla="*/ 1072560 w 1072560"/>
              <a:gd name="connsiteY1" fmla="*/ 818153 h 818153"/>
              <a:gd name="connsiteX0" fmla="*/ 0 w 1072560"/>
              <a:gd name="connsiteY0" fmla="*/ 0 h 818153"/>
              <a:gd name="connsiteX1" fmla="*/ 1072560 w 1072560"/>
              <a:gd name="connsiteY1" fmla="*/ 818153 h 818153"/>
              <a:gd name="connsiteX0" fmla="*/ 0 w 857408"/>
              <a:gd name="connsiteY0" fmla="*/ 0 h 839668"/>
              <a:gd name="connsiteX1" fmla="*/ 857408 w 857408"/>
              <a:gd name="connsiteY1" fmla="*/ 839668 h 839668"/>
              <a:gd name="connsiteX0" fmla="*/ 0 w 857408"/>
              <a:gd name="connsiteY0" fmla="*/ 0 h 839668"/>
              <a:gd name="connsiteX1" fmla="*/ 857408 w 857408"/>
              <a:gd name="connsiteY1" fmla="*/ 839668 h 83966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878923"/>
              <a:gd name="connsiteY0" fmla="*/ 871017 h 900480"/>
              <a:gd name="connsiteX1" fmla="*/ 878923 w 878923"/>
              <a:gd name="connsiteY1" fmla="*/ 219 h 900480"/>
              <a:gd name="connsiteX0" fmla="*/ 0 w 911196"/>
              <a:gd name="connsiteY0" fmla="*/ 860262 h 889979"/>
              <a:gd name="connsiteX1" fmla="*/ 911196 w 911196"/>
              <a:gd name="connsiteY1" fmla="*/ 221 h 889979"/>
              <a:gd name="connsiteX0" fmla="*/ 0 w 911196"/>
              <a:gd name="connsiteY0" fmla="*/ 861498 h 861498"/>
              <a:gd name="connsiteX1" fmla="*/ 911196 w 911196"/>
              <a:gd name="connsiteY1" fmla="*/ 1457 h 861498"/>
              <a:gd name="connsiteX0" fmla="*/ 0 w 1470594"/>
              <a:gd name="connsiteY0" fmla="*/ 947084 h 947084"/>
              <a:gd name="connsiteX1" fmla="*/ 1470594 w 1470594"/>
              <a:gd name="connsiteY1" fmla="*/ 982 h 947084"/>
              <a:gd name="connsiteX0" fmla="*/ 0 w 1470594"/>
              <a:gd name="connsiteY0" fmla="*/ 946102 h 946102"/>
              <a:gd name="connsiteX1" fmla="*/ 1470594 w 1470594"/>
              <a:gd name="connsiteY1" fmla="*/ 0 h 946102"/>
            </a:gdLst>
            <a:ahLst/>
            <a:cxnLst>
              <a:cxn ang="0">
                <a:pos x="connsiteX0" y="connsiteY0"/>
              </a:cxn>
              <a:cxn ang="0">
                <a:pos x="connsiteX1" y="connsiteY1"/>
              </a:cxn>
            </a:cxnLst>
            <a:rect l="l" t="t" r="r" b="b"/>
            <a:pathLst>
              <a:path w="1470594" h="946102">
                <a:moveTo>
                  <a:pt x="0" y="946102"/>
                </a:moveTo>
                <a:cubicBezTo>
                  <a:pt x="558329" y="211187"/>
                  <a:pt x="686353" y="35670"/>
                  <a:pt x="1470594" y="0"/>
                </a:cubicBezTo>
              </a:path>
            </a:pathLst>
          </a:custGeom>
          <a:ln w="25400">
            <a:solidFill>
              <a:schemeClr val="accent3"/>
            </a:solidFill>
            <a:miter lim="8000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8" name="Freeform 57">
            <a:extLst>
              <a:ext uri="{FF2B5EF4-FFF2-40B4-BE49-F238E27FC236}">
                <a16:creationId xmlns:a16="http://schemas.microsoft.com/office/drawing/2014/main" id="{3E116D3C-D225-29D9-5D6A-2B233964E119}"/>
              </a:ext>
            </a:extLst>
          </p:cNvPr>
          <p:cNvSpPr/>
          <p:nvPr/>
        </p:nvSpPr>
        <p:spPr bwMode="gray">
          <a:xfrm>
            <a:off x="2526127" y="4386278"/>
            <a:ext cx="812518" cy="440280"/>
          </a:xfrm>
          <a:custGeom>
            <a:avLst/>
            <a:gdLst>
              <a:gd name="connsiteX0" fmla="*/ 0 w 1196502"/>
              <a:gd name="connsiteY0" fmla="*/ 490438 h 490438"/>
              <a:gd name="connsiteX1" fmla="*/ 749030 w 1196502"/>
              <a:gd name="connsiteY1" fmla="*/ 4055 h 490438"/>
              <a:gd name="connsiteX2" fmla="*/ 1196502 w 1196502"/>
              <a:gd name="connsiteY2" fmla="*/ 256974 h 490438"/>
              <a:gd name="connsiteX0" fmla="*/ 0 w 1196502"/>
              <a:gd name="connsiteY0" fmla="*/ 385915 h 385915"/>
              <a:gd name="connsiteX1" fmla="*/ 729575 w 1196502"/>
              <a:gd name="connsiteY1" fmla="*/ 6536 h 385915"/>
              <a:gd name="connsiteX2" fmla="*/ 1196502 w 1196502"/>
              <a:gd name="connsiteY2" fmla="*/ 152451 h 385915"/>
              <a:gd name="connsiteX0" fmla="*/ 0 w 1147864"/>
              <a:gd name="connsiteY0" fmla="*/ 383173 h 383173"/>
              <a:gd name="connsiteX1" fmla="*/ 729575 w 1147864"/>
              <a:gd name="connsiteY1" fmla="*/ 3794 h 383173"/>
              <a:gd name="connsiteX2" fmla="*/ 1147864 w 1147864"/>
              <a:gd name="connsiteY2" fmla="*/ 276169 h 383173"/>
              <a:gd name="connsiteX0" fmla="*/ 0 w 1147864"/>
              <a:gd name="connsiteY0" fmla="*/ 386834 h 386834"/>
              <a:gd name="connsiteX1" fmla="*/ 729575 w 1147864"/>
              <a:gd name="connsiteY1" fmla="*/ 7455 h 386834"/>
              <a:gd name="connsiteX2" fmla="*/ 1147864 w 1147864"/>
              <a:gd name="connsiteY2" fmla="*/ 279830 h 386834"/>
              <a:gd name="connsiteX0" fmla="*/ 0 w 1147864"/>
              <a:gd name="connsiteY0" fmla="*/ 414874 h 414874"/>
              <a:gd name="connsiteX1" fmla="*/ 642026 w 1147864"/>
              <a:gd name="connsiteY1" fmla="*/ 6312 h 414874"/>
              <a:gd name="connsiteX2" fmla="*/ 1147864 w 1147864"/>
              <a:gd name="connsiteY2" fmla="*/ 307870 h 414874"/>
              <a:gd name="connsiteX0" fmla="*/ 0 w 1147864"/>
              <a:gd name="connsiteY0" fmla="*/ 160882 h 292942"/>
              <a:gd name="connsiteX1" fmla="*/ 566722 w 1147864"/>
              <a:gd name="connsiteY1" fmla="*/ 290202 h 292942"/>
              <a:gd name="connsiteX2" fmla="*/ 1147864 w 1147864"/>
              <a:gd name="connsiteY2" fmla="*/ 53878 h 292942"/>
              <a:gd name="connsiteX0" fmla="*/ 0 w 964984"/>
              <a:gd name="connsiteY0" fmla="*/ 69434 h 274402"/>
              <a:gd name="connsiteX1" fmla="*/ 566722 w 964984"/>
              <a:gd name="connsiteY1" fmla="*/ 198754 h 274402"/>
              <a:gd name="connsiteX2" fmla="*/ 964984 w 964984"/>
              <a:gd name="connsiteY2" fmla="*/ 274402 h 274402"/>
              <a:gd name="connsiteX0" fmla="*/ 0 w 964984"/>
              <a:gd name="connsiteY0" fmla="*/ 0 h 204968"/>
              <a:gd name="connsiteX1" fmla="*/ 964984 w 964984"/>
              <a:gd name="connsiteY1" fmla="*/ 204968 h 204968"/>
              <a:gd name="connsiteX0" fmla="*/ 0 w 954227"/>
              <a:gd name="connsiteY0" fmla="*/ 0 h 258756"/>
              <a:gd name="connsiteX1" fmla="*/ 954227 w 954227"/>
              <a:gd name="connsiteY1" fmla="*/ 258756 h 258756"/>
              <a:gd name="connsiteX0" fmla="*/ 0 w 954227"/>
              <a:gd name="connsiteY0" fmla="*/ 0 h 258756"/>
              <a:gd name="connsiteX1" fmla="*/ 954227 w 954227"/>
              <a:gd name="connsiteY1" fmla="*/ 258756 h 258756"/>
              <a:gd name="connsiteX0" fmla="*/ 0 w 846650"/>
              <a:gd name="connsiteY0" fmla="*/ 0 h 258756"/>
              <a:gd name="connsiteX1" fmla="*/ 846650 w 846650"/>
              <a:gd name="connsiteY1" fmla="*/ 258756 h 258756"/>
              <a:gd name="connsiteX0" fmla="*/ 0 w 846650"/>
              <a:gd name="connsiteY0" fmla="*/ 0 h 258756"/>
              <a:gd name="connsiteX1" fmla="*/ 846650 w 846650"/>
              <a:gd name="connsiteY1" fmla="*/ 258756 h 258756"/>
              <a:gd name="connsiteX0" fmla="*/ 0 w 1306859"/>
              <a:gd name="connsiteY0" fmla="*/ 401439 h 660195"/>
              <a:gd name="connsiteX1" fmla="*/ 1164888 w 1306859"/>
              <a:gd name="connsiteY1" fmla="*/ 0 h 660195"/>
              <a:gd name="connsiteX2" fmla="*/ 846650 w 1306859"/>
              <a:gd name="connsiteY2" fmla="*/ 660195 h 660195"/>
              <a:gd name="connsiteX0" fmla="*/ 0 w 553823"/>
              <a:gd name="connsiteY0" fmla="*/ 250 h 700069"/>
              <a:gd name="connsiteX1" fmla="*/ 411852 w 553823"/>
              <a:gd name="connsiteY1" fmla="*/ 39874 h 700069"/>
              <a:gd name="connsiteX2" fmla="*/ 93614 w 553823"/>
              <a:gd name="connsiteY2" fmla="*/ 700069 h 700069"/>
              <a:gd name="connsiteX0" fmla="*/ 0 w 451816"/>
              <a:gd name="connsiteY0" fmla="*/ 72 h 699891"/>
              <a:gd name="connsiteX1" fmla="*/ 293518 w 451816"/>
              <a:gd name="connsiteY1" fmla="*/ 168788 h 699891"/>
              <a:gd name="connsiteX2" fmla="*/ 93614 w 451816"/>
              <a:gd name="connsiteY2" fmla="*/ 699891 h 699891"/>
              <a:gd name="connsiteX0" fmla="*/ 0 w 308551"/>
              <a:gd name="connsiteY0" fmla="*/ 72 h 699891"/>
              <a:gd name="connsiteX1" fmla="*/ 293518 w 308551"/>
              <a:gd name="connsiteY1" fmla="*/ 168788 h 699891"/>
              <a:gd name="connsiteX2" fmla="*/ 93614 w 308551"/>
              <a:gd name="connsiteY2" fmla="*/ 699891 h 699891"/>
              <a:gd name="connsiteX0" fmla="*/ 0 w 93614"/>
              <a:gd name="connsiteY0" fmla="*/ 0 h 699819"/>
              <a:gd name="connsiteX1" fmla="*/ 93614 w 93614"/>
              <a:gd name="connsiteY1" fmla="*/ 699819 h 699819"/>
              <a:gd name="connsiteX0" fmla="*/ 0 w 189200"/>
              <a:gd name="connsiteY0" fmla="*/ 0 h 699819"/>
              <a:gd name="connsiteX1" fmla="*/ 93614 w 189200"/>
              <a:gd name="connsiteY1" fmla="*/ 699819 h 699819"/>
              <a:gd name="connsiteX0" fmla="*/ 0 w 206728"/>
              <a:gd name="connsiteY0" fmla="*/ 0 h 710577"/>
              <a:gd name="connsiteX1" fmla="*/ 115130 w 206728"/>
              <a:gd name="connsiteY1" fmla="*/ 710577 h 710577"/>
              <a:gd name="connsiteX0" fmla="*/ 0 w 152350"/>
              <a:gd name="connsiteY0" fmla="*/ 0 h 710577"/>
              <a:gd name="connsiteX1" fmla="*/ 115130 w 152350"/>
              <a:gd name="connsiteY1" fmla="*/ 710577 h 710577"/>
              <a:gd name="connsiteX0" fmla="*/ 0 w 231040"/>
              <a:gd name="connsiteY0" fmla="*/ 0 h 710577"/>
              <a:gd name="connsiteX1" fmla="*/ 115130 w 231040"/>
              <a:gd name="connsiteY1" fmla="*/ 710577 h 710577"/>
              <a:gd name="connsiteX0" fmla="*/ 0 w 179842"/>
              <a:gd name="connsiteY0" fmla="*/ 0 h 710577"/>
              <a:gd name="connsiteX1" fmla="*/ 115130 w 179842"/>
              <a:gd name="connsiteY1" fmla="*/ 710577 h 710577"/>
              <a:gd name="connsiteX0" fmla="*/ 0 w 771346"/>
              <a:gd name="connsiteY0" fmla="*/ 0 h 818154"/>
              <a:gd name="connsiteX1" fmla="*/ 771346 w 771346"/>
              <a:gd name="connsiteY1" fmla="*/ 818154 h 818154"/>
              <a:gd name="connsiteX0" fmla="*/ 0 w 771346"/>
              <a:gd name="connsiteY0" fmla="*/ 0 h 818154"/>
              <a:gd name="connsiteX1" fmla="*/ 771346 w 771346"/>
              <a:gd name="connsiteY1" fmla="*/ 818154 h 818154"/>
              <a:gd name="connsiteX0" fmla="*/ 0 w 911196"/>
              <a:gd name="connsiteY0" fmla="*/ 0 h 796638"/>
              <a:gd name="connsiteX1" fmla="*/ 911196 w 911196"/>
              <a:gd name="connsiteY1" fmla="*/ 796638 h 796638"/>
              <a:gd name="connsiteX0" fmla="*/ 0 w 911196"/>
              <a:gd name="connsiteY0" fmla="*/ 0 h 796638"/>
              <a:gd name="connsiteX1" fmla="*/ 911196 w 911196"/>
              <a:gd name="connsiteY1" fmla="*/ 796638 h 796638"/>
              <a:gd name="connsiteX0" fmla="*/ 0 w 911196"/>
              <a:gd name="connsiteY0" fmla="*/ 0 h 828911"/>
              <a:gd name="connsiteX1" fmla="*/ 911196 w 911196"/>
              <a:gd name="connsiteY1" fmla="*/ 828911 h 828911"/>
              <a:gd name="connsiteX0" fmla="*/ 0 w 1072560"/>
              <a:gd name="connsiteY0" fmla="*/ 0 h 818153"/>
              <a:gd name="connsiteX1" fmla="*/ 1072560 w 1072560"/>
              <a:gd name="connsiteY1" fmla="*/ 818153 h 818153"/>
              <a:gd name="connsiteX0" fmla="*/ 0 w 1072560"/>
              <a:gd name="connsiteY0" fmla="*/ 0 h 818153"/>
              <a:gd name="connsiteX1" fmla="*/ 1072560 w 1072560"/>
              <a:gd name="connsiteY1" fmla="*/ 818153 h 818153"/>
              <a:gd name="connsiteX0" fmla="*/ 0 w 1072560"/>
              <a:gd name="connsiteY0" fmla="*/ 0 h 818153"/>
              <a:gd name="connsiteX1" fmla="*/ 1072560 w 1072560"/>
              <a:gd name="connsiteY1" fmla="*/ 818153 h 818153"/>
              <a:gd name="connsiteX0" fmla="*/ 0 w 857408"/>
              <a:gd name="connsiteY0" fmla="*/ 0 h 839668"/>
              <a:gd name="connsiteX1" fmla="*/ 857408 w 857408"/>
              <a:gd name="connsiteY1" fmla="*/ 839668 h 839668"/>
              <a:gd name="connsiteX0" fmla="*/ 0 w 857408"/>
              <a:gd name="connsiteY0" fmla="*/ 0 h 839668"/>
              <a:gd name="connsiteX1" fmla="*/ 857408 w 857408"/>
              <a:gd name="connsiteY1" fmla="*/ 839668 h 83966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878923"/>
              <a:gd name="connsiteY0" fmla="*/ 871017 h 900480"/>
              <a:gd name="connsiteX1" fmla="*/ 878923 w 878923"/>
              <a:gd name="connsiteY1" fmla="*/ 219 h 900480"/>
              <a:gd name="connsiteX0" fmla="*/ 0 w 911196"/>
              <a:gd name="connsiteY0" fmla="*/ 860262 h 889979"/>
              <a:gd name="connsiteX1" fmla="*/ 911196 w 911196"/>
              <a:gd name="connsiteY1" fmla="*/ 221 h 889979"/>
              <a:gd name="connsiteX0" fmla="*/ 0 w 911196"/>
              <a:gd name="connsiteY0" fmla="*/ 861498 h 861498"/>
              <a:gd name="connsiteX1" fmla="*/ 911196 w 911196"/>
              <a:gd name="connsiteY1" fmla="*/ 1457 h 861498"/>
              <a:gd name="connsiteX0" fmla="*/ 0 w 1470594"/>
              <a:gd name="connsiteY0" fmla="*/ 947084 h 947084"/>
              <a:gd name="connsiteX1" fmla="*/ 1470594 w 1470594"/>
              <a:gd name="connsiteY1" fmla="*/ 982 h 947084"/>
              <a:gd name="connsiteX0" fmla="*/ 0 w 1470594"/>
              <a:gd name="connsiteY0" fmla="*/ 946102 h 946102"/>
              <a:gd name="connsiteX1" fmla="*/ 1470594 w 1470594"/>
              <a:gd name="connsiteY1" fmla="*/ 0 h 946102"/>
              <a:gd name="connsiteX0" fmla="*/ 0 w 663770"/>
              <a:gd name="connsiteY0" fmla="*/ 817010 h 817010"/>
              <a:gd name="connsiteX1" fmla="*/ 663770 w 663770"/>
              <a:gd name="connsiteY1" fmla="*/ 0 h 817010"/>
              <a:gd name="connsiteX0" fmla="*/ 0 w 663777"/>
              <a:gd name="connsiteY0" fmla="*/ 817010 h 817010"/>
              <a:gd name="connsiteX1" fmla="*/ 663770 w 663777"/>
              <a:gd name="connsiteY1" fmla="*/ 0 h 817010"/>
              <a:gd name="connsiteX0" fmla="*/ 0 w 663773"/>
              <a:gd name="connsiteY0" fmla="*/ 817010 h 817010"/>
              <a:gd name="connsiteX1" fmla="*/ 663770 w 663773"/>
              <a:gd name="connsiteY1" fmla="*/ 0 h 817010"/>
              <a:gd name="connsiteX0" fmla="*/ 0 w 470142"/>
              <a:gd name="connsiteY0" fmla="*/ 784737 h 784737"/>
              <a:gd name="connsiteX1" fmla="*/ 470133 w 470142"/>
              <a:gd name="connsiteY1" fmla="*/ 0 h 784737"/>
              <a:gd name="connsiteX0" fmla="*/ 0 w 470133"/>
              <a:gd name="connsiteY0" fmla="*/ 784737 h 784737"/>
              <a:gd name="connsiteX1" fmla="*/ 470133 w 470133"/>
              <a:gd name="connsiteY1" fmla="*/ 0 h 784737"/>
            </a:gdLst>
            <a:ahLst/>
            <a:cxnLst>
              <a:cxn ang="0">
                <a:pos x="connsiteX0" y="connsiteY0"/>
              </a:cxn>
              <a:cxn ang="0">
                <a:pos x="connsiteX1" y="connsiteY1"/>
              </a:cxn>
            </a:cxnLst>
            <a:rect l="l" t="t" r="r" b="b"/>
            <a:pathLst>
              <a:path w="470133" h="784737">
                <a:moveTo>
                  <a:pt x="0" y="784737"/>
                </a:moveTo>
                <a:cubicBezTo>
                  <a:pt x="386206" y="566189"/>
                  <a:pt x="438927" y="498249"/>
                  <a:pt x="470133" y="0"/>
                </a:cubicBezTo>
              </a:path>
            </a:pathLst>
          </a:custGeom>
          <a:ln w="25400">
            <a:solidFill>
              <a:schemeClr val="accent3"/>
            </a:solidFill>
            <a:miter lim="8000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9" name="Freeform 58">
            <a:extLst>
              <a:ext uri="{FF2B5EF4-FFF2-40B4-BE49-F238E27FC236}">
                <a16:creationId xmlns:a16="http://schemas.microsoft.com/office/drawing/2014/main" id="{A281DE26-2FCF-0E87-22F7-B09CD5990898}"/>
              </a:ext>
            </a:extLst>
          </p:cNvPr>
          <p:cNvSpPr/>
          <p:nvPr/>
        </p:nvSpPr>
        <p:spPr bwMode="gray">
          <a:xfrm flipH="1">
            <a:off x="3391143" y="4386276"/>
            <a:ext cx="113423" cy="440281"/>
          </a:xfrm>
          <a:custGeom>
            <a:avLst/>
            <a:gdLst>
              <a:gd name="connsiteX0" fmla="*/ 0 w 1196502"/>
              <a:gd name="connsiteY0" fmla="*/ 490438 h 490438"/>
              <a:gd name="connsiteX1" fmla="*/ 749030 w 1196502"/>
              <a:gd name="connsiteY1" fmla="*/ 4055 h 490438"/>
              <a:gd name="connsiteX2" fmla="*/ 1196502 w 1196502"/>
              <a:gd name="connsiteY2" fmla="*/ 256974 h 490438"/>
              <a:gd name="connsiteX0" fmla="*/ 0 w 1196502"/>
              <a:gd name="connsiteY0" fmla="*/ 385915 h 385915"/>
              <a:gd name="connsiteX1" fmla="*/ 729575 w 1196502"/>
              <a:gd name="connsiteY1" fmla="*/ 6536 h 385915"/>
              <a:gd name="connsiteX2" fmla="*/ 1196502 w 1196502"/>
              <a:gd name="connsiteY2" fmla="*/ 152451 h 385915"/>
              <a:gd name="connsiteX0" fmla="*/ 0 w 1147864"/>
              <a:gd name="connsiteY0" fmla="*/ 383173 h 383173"/>
              <a:gd name="connsiteX1" fmla="*/ 729575 w 1147864"/>
              <a:gd name="connsiteY1" fmla="*/ 3794 h 383173"/>
              <a:gd name="connsiteX2" fmla="*/ 1147864 w 1147864"/>
              <a:gd name="connsiteY2" fmla="*/ 276169 h 383173"/>
              <a:gd name="connsiteX0" fmla="*/ 0 w 1147864"/>
              <a:gd name="connsiteY0" fmla="*/ 386834 h 386834"/>
              <a:gd name="connsiteX1" fmla="*/ 729575 w 1147864"/>
              <a:gd name="connsiteY1" fmla="*/ 7455 h 386834"/>
              <a:gd name="connsiteX2" fmla="*/ 1147864 w 1147864"/>
              <a:gd name="connsiteY2" fmla="*/ 279830 h 386834"/>
              <a:gd name="connsiteX0" fmla="*/ 0 w 1147864"/>
              <a:gd name="connsiteY0" fmla="*/ 414874 h 414874"/>
              <a:gd name="connsiteX1" fmla="*/ 642026 w 1147864"/>
              <a:gd name="connsiteY1" fmla="*/ 6312 h 414874"/>
              <a:gd name="connsiteX2" fmla="*/ 1147864 w 1147864"/>
              <a:gd name="connsiteY2" fmla="*/ 307870 h 414874"/>
              <a:gd name="connsiteX0" fmla="*/ 0 w 1147864"/>
              <a:gd name="connsiteY0" fmla="*/ 160882 h 292942"/>
              <a:gd name="connsiteX1" fmla="*/ 566722 w 1147864"/>
              <a:gd name="connsiteY1" fmla="*/ 290202 h 292942"/>
              <a:gd name="connsiteX2" fmla="*/ 1147864 w 1147864"/>
              <a:gd name="connsiteY2" fmla="*/ 53878 h 292942"/>
              <a:gd name="connsiteX0" fmla="*/ 0 w 964984"/>
              <a:gd name="connsiteY0" fmla="*/ 69434 h 274402"/>
              <a:gd name="connsiteX1" fmla="*/ 566722 w 964984"/>
              <a:gd name="connsiteY1" fmla="*/ 198754 h 274402"/>
              <a:gd name="connsiteX2" fmla="*/ 964984 w 964984"/>
              <a:gd name="connsiteY2" fmla="*/ 274402 h 274402"/>
              <a:gd name="connsiteX0" fmla="*/ 0 w 964984"/>
              <a:gd name="connsiteY0" fmla="*/ 0 h 204968"/>
              <a:gd name="connsiteX1" fmla="*/ 964984 w 964984"/>
              <a:gd name="connsiteY1" fmla="*/ 204968 h 204968"/>
              <a:gd name="connsiteX0" fmla="*/ 0 w 954227"/>
              <a:gd name="connsiteY0" fmla="*/ 0 h 258756"/>
              <a:gd name="connsiteX1" fmla="*/ 954227 w 954227"/>
              <a:gd name="connsiteY1" fmla="*/ 258756 h 258756"/>
              <a:gd name="connsiteX0" fmla="*/ 0 w 954227"/>
              <a:gd name="connsiteY0" fmla="*/ 0 h 258756"/>
              <a:gd name="connsiteX1" fmla="*/ 954227 w 954227"/>
              <a:gd name="connsiteY1" fmla="*/ 258756 h 258756"/>
              <a:gd name="connsiteX0" fmla="*/ 0 w 846650"/>
              <a:gd name="connsiteY0" fmla="*/ 0 h 258756"/>
              <a:gd name="connsiteX1" fmla="*/ 846650 w 846650"/>
              <a:gd name="connsiteY1" fmla="*/ 258756 h 258756"/>
              <a:gd name="connsiteX0" fmla="*/ 0 w 846650"/>
              <a:gd name="connsiteY0" fmla="*/ 0 h 258756"/>
              <a:gd name="connsiteX1" fmla="*/ 846650 w 846650"/>
              <a:gd name="connsiteY1" fmla="*/ 258756 h 258756"/>
              <a:gd name="connsiteX0" fmla="*/ 0 w 1306859"/>
              <a:gd name="connsiteY0" fmla="*/ 401439 h 660195"/>
              <a:gd name="connsiteX1" fmla="*/ 1164888 w 1306859"/>
              <a:gd name="connsiteY1" fmla="*/ 0 h 660195"/>
              <a:gd name="connsiteX2" fmla="*/ 846650 w 1306859"/>
              <a:gd name="connsiteY2" fmla="*/ 660195 h 660195"/>
              <a:gd name="connsiteX0" fmla="*/ 0 w 553823"/>
              <a:gd name="connsiteY0" fmla="*/ 250 h 700069"/>
              <a:gd name="connsiteX1" fmla="*/ 411852 w 553823"/>
              <a:gd name="connsiteY1" fmla="*/ 39874 h 700069"/>
              <a:gd name="connsiteX2" fmla="*/ 93614 w 553823"/>
              <a:gd name="connsiteY2" fmla="*/ 700069 h 700069"/>
              <a:gd name="connsiteX0" fmla="*/ 0 w 451816"/>
              <a:gd name="connsiteY0" fmla="*/ 72 h 699891"/>
              <a:gd name="connsiteX1" fmla="*/ 293518 w 451816"/>
              <a:gd name="connsiteY1" fmla="*/ 168788 h 699891"/>
              <a:gd name="connsiteX2" fmla="*/ 93614 w 451816"/>
              <a:gd name="connsiteY2" fmla="*/ 699891 h 699891"/>
              <a:gd name="connsiteX0" fmla="*/ 0 w 308551"/>
              <a:gd name="connsiteY0" fmla="*/ 72 h 699891"/>
              <a:gd name="connsiteX1" fmla="*/ 293518 w 308551"/>
              <a:gd name="connsiteY1" fmla="*/ 168788 h 699891"/>
              <a:gd name="connsiteX2" fmla="*/ 93614 w 308551"/>
              <a:gd name="connsiteY2" fmla="*/ 699891 h 699891"/>
              <a:gd name="connsiteX0" fmla="*/ 0 w 93614"/>
              <a:gd name="connsiteY0" fmla="*/ 0 h 699819"/>
              <a:gd name="connsiteX1" fmla="*/ 93614 w 93614"/>
              <a:gd name="connsiteY1" fmla="*/ 699819 h 699819"/>
              <a:gd name="connsiteX0" fmla="*/ 0 w 189200"/>
              <a:gd name="connsiteY0" fmla="*/ 0 h 699819"/>
              <a:gd name="connsiteX1" fmla="*/ 93614 w 189200"/>
              <a:gd name="connsiteY1" fmla="*/ 699819 h 699819"/>
              <a:gd name="connsiteX0" fmla="*/ 0 w 206728"/>
              <a:gd name="connsiteY0" fmla="*/ 0 h 710577"/>
              <a:gd name="connsiteX1" fmla="*/ 115130 w 206728"/>
              <a:gd name="connsiteY1" fmla="*/ 710577 h 710577"/>
              <a:gd name="connsiteX0" fmla="*/ 0 w 152350"/>
              <a:gd name="connsiteY0" fmla="*/ 0 h 710577"/>
              <a:gd name="connsiteX1" fmla="*/ 115130 w 152350"/>
              <a:gd name="connsiteY1" fmla="*/ 710577 h 710577"/>
              <a:gd name="connsiteX0" fmla="*/ 0 w 231040"/>
              <a:gd name="connsiteY0" fmla="*/ 0 h 710577"/>
              <a:gd name="connsiteX1" fmla="*/ 115130 w 231040"/>
              <a:gd name="connsiteY1" fmla="*/ 710577 h 710577"/>
              <a:gd name="connsiteX0" fmla="*/ 0 w 179842"/>
              <a:gd name="connsiteY0" fmla="*/ 0 h 710577"/>
              <a:gd name="connsiteX1" fmla="*/ 115130 w 179842"/>
              <a:gd name="connsiteY1" fmla="*/ 710577 h 710577"/>
              <a:gd name="connsiteX0" fmla="*/ 0 w 771346"/>
              <a:gd name="connsiteY0" fmla="*/ 0 h 818154"/>
              <a:gd name="connsiteX1" fmla="*/ 771346 w 771346"/>
              <a:gd name="connsiteY1" fmla="*/ 818154 h 818154"/>
              <a:gd name="connsiteX0" fmla="*/ 0 w 771346"/>
              <a:gd name="connsiteY0" fmla="*/ 0 h 818154"/>
              <a:gd name="connsiteX1" fmla="*/ 771346 w 771346"/>
              <a:gd name="connsiteY1" fmla="*/ 818154 h 818154"/>
              <a:gd name="connsiteX0" fmla="*/ 0 w 911196"/>
              <a:gd name="connsiteY0" fmla="*/ 0 h 796638"/>
              <a:gd name="connsiteX1" fmla="*/ 911196 w 911196"/>
              <a:gd name="connsiteY1" fmla="*/ 796638 h 796638"/>
              <a:gd name="connsiteX0" fmla="*/ 0 w 911196"/>
              <a:gd name="connsiteY0" fmla="*/ 0 h 796638"/>
              <a:gd name="connsiteX1" fmla="*/ 911196 w 911196"/>
              <a:gd name="connsiteY1" fmla="*/ 796638 h 796638"/>
              <a:gd name="connsiteX0" fmla="*/ 0 w 911196"/>
              <a:gd name="connsiteY0" fmla="*/ 0 h 828911"/>
              <a:gd name="connsiteX1" fmla="*/ 911196 w 911196"/>
              <a:gd name="connsiteY1" fmla="*/ 828911 h 828911"/>
              <a:gd name="connsiteX0" fmla="*/ 0 w 1072560"/>
              <a:gd name="connsiteY0" fmla="*/ 0 h 818153"/>
              <a:gd name="connsiteX1" fmla="*/ 1072560 w 1072560"/>
              <a:gd name="connsiteY1" fmla="*/ 818153 h 818153"/>
              <a:gd name="connsiteX0" fmla="*/ 0 w 1072560"/>
              <a:gd name="connsiteY0" fmla="*/ 0 h 818153"/>
              <a:gd name="connsiteX1" fmla="*/ 1072560 w 1072560"/>
              <a:gd name="connsiteY1" fmla="*/ 818153 h 818153"/>
              <a:gd name="connsiteX0" fmla="*/ 0 w 1072560"/>
              <a:gd name="connsiteY0" fmla="*/ 0 h 818153"/>
              <a:gd name="connsiteX1" fmla="*/ 1072560 w 1072560"/>
              <a:gd name="connsiteY1" fmla="*/ 818153 h 818153"/>
              <a:gd name="connsiteX0" fmla="*/ 0 w 857408"/>
              <a:gd name="connsiteY0" fmla="*/ 0 h 839668"/>
              <a:gd name="connsiteX1" fmla="*/ 857408 w 857408"/>
              <a:gd name="connsiteY1" fmla="*/ 839668 h 839668"/>
              <a:gd name="connsiteX0" fmla="*/ 0 w 857408"/>
              <a:gd name="connsiteY0" fmla="*/ 0 h 839668"/>
              <a:gd name="connsiteX1" fmla="*/ 857408 w 857408"/>
              <a:gd name="connsiteY1" fmla="*/ 839668 h 83966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878923"/>
              <a:gd name="connsiteY0" fmla="*/ 871017 h 900480"/>
              <a:gd name="connsiteX1" fmla="*/ 878923 w 878923"/>
              <a:gd name="connsiteY1" fmla="*/ 219 h 900480"/>
              <a:gd name="connsiteX0" fmla="*/ 0 w 911196"/>
              <a:gd name="connsiteY0" fmla="*/ 860262 h 889979"/>
              <a:gd name="connsiteX1" fmla="*/ 911196 w 911196"/>
              <a:gd name="connsiteY1" fmla="*/ 221 h 889979"/>
              <a:gd name="connsiteX0" fmla="*/ 0 w 911196"/>
              <a:gd name="connsiteY0" fmla="*/ 861498 h 861498"/>
              <a:gd name="connsiteX1" fmla="*/ 911196 w 911196"/>
              <a:gd name="connsiteY1" fmla="*/ 1457 h 861498"/>
              <a:gd name="connsiteX0" fmla="*/ 0 w 1470594"/>
              <a:gd name="connsiteY0" fmla="*/ 947084 h 947084"/>
              <a:gd name="connsiteX1" fmla="*/ 1470594 w 1470594"/>
              <a:gd name="connsiteY1" fmla="*/ 982 h 947084"/>
              <a:gd name="connsiteX0" fmla="*/ 0 w 1470594"/>
              <a:gd name="connsiteY0" fmla="*/ 946102 h 946102"/>
              <a:gd name="connsiteX1" fmla="*/ 1470594 w 1470594"/>
              <a:gd name="connsiteY1" fmla="*/ 0 h 946102"/>
              <a:gd name="connsiteX0" fmla="*/ 0 w 663770"/>
              <a:gd name="connsiteY0" fmla="*/ 817010 h 817010"/>
              <a:gd name="connsiteX1" fmla="*/ 663770 w 663770"/>
              <a:gd name="connsiteY1" fmla="*/ 0 h 817010"/>
              <a:gd name="connsiteX0" fmla="*/ 0 w 663777"/>
              <a:gd name="connsiteY0" fmla="*/ 817010 h 817010"/>
              <a:gd name="connsiteX1" fmla="*/ 663770 w 663777"/>
              <a:gd name="connsiteY1" fmla="*/ 0 h 817010"/>
              <a:gd name="connsiteX0" fmla="*/ 0 w 663773"/>
              <a:gd name="connsiteY0" fmla="*/ 817010 h 817010"/>
              <a:gd name="connsiteX1" fmla="*/ 663770 w 663773"/>
              <a:gd name="connsiteY1" fmla="*/ 0 h 817010"/>
              <a:gd name="connsiteX0" fmla="*/ 0 w 470142"/>
              <a:gd name="connsiteY0" fmla="*/ 784737 h 784737"/>
              <a:gd name="connsiteX1" fmla="*/ 470133 w 470142"/>
              <a:gd name="connsiteY1" fmla="*/ 0 h 784737"/>
              <a:gd name="connsiteX0" fmla="*/ 0 w 470133"/>
              <a:gd name="connsiteY0" fmla="*/ 784737 h 784737"/>
              <a:gd name="connsiteX1" fmla="*/ 470133 w 470133"/>
              <a:gd name="connsiteY1" fmla="*/ 0 h 784737"/>
              <a:gd name="connsiteX0" fmla="*/ 1025679 w 1091429"/>
              <a:gd name="connsiteY0" fmla="*/ 1021406 h 1021406"/>
              <a:gd name="connsiteX1" fmla="*/ 499 w 1091429"/>
              <a:gd name="connsiteY1" fmla="*/ 0 h 1021406"/>
              <a:gd name="connsiteX0" fmla="*/ 649336 w 733748"/>
              <a:gd name="connsiteY0" fmla="*/ 763222 h 763222"/>
              <a:gd name="connsiteX1" fmla="*/ 673 w 733748"/>
              <a:gd name="connsiteY1" fmla="*/ 0 h 763222"/>
              <a:gd name="connsiteX0" fmla="*/ 649917 w 649917"/>
              <a:gd name="connsiteY0" fmla="*/ 763222 h 763222"/>
              <a:gd name="connsiteX1" fmla="*/ 1254 w 649917"/>
              <a:gd name="connsiteY1" fmla="*/ 0 h 763222"/>
              <a:gd name="connsiteX0" fmla="*/ 656702 w 656702"/>
              <a:gd name="connsiteY0" fmla="*/ 763222 h 763222"/>
              <a:gd name="connsiteX1" fmla="*/ 8039 w 656702"/>
              <a:gd name="connsiteY1" fmla="*/ 0 h 763222"/>
            </a:gdLst>
            <a:ahLst/>
            <a:cxnLst>
              <a:cxn ang="0">
                <a:pos x="connsiteX0" y="connsiteY0"/>
              </a:cxn>
              <a:cxn ang="0">
                <a:pos x="connsiteX1" y="connsiteY1"/>
              </a:cxn>
            </a:cxnLst>
            <a:rect l="l" t="t" r="r" b="b"/>
            <a:pathLst>
              <a:path w="656702" h="763222">
                <a:moveTo>
                  <a:pt x="656702" y="763222"/>
                </a:moveTo>
                <a:cubicBezTo>
                  <a:pt x="537298" y="458613"/>
                  <a:pt x="-76955" y="573552"/>
                  <a:pt x="8039" y="0"/>
                </a:cubicBezTo>
              </a:path>
            </a:pathLst>
          </a:custGeom>
          <a:ln w="25400">
            <a:solidFill>
              <a:schemeClr val="accent3"/>
            </a:solidFill>
            <a:miter lim="8000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6" name="Google Shape;1494;p7">
            <a:extLst>
              <a:ext uri="{FF2B5EF4-FFF2-40B4-BE49-F238E27FC236}">
                <a16:creationId xmlns:a16="http://schemas.microsoft.com/office/drawing/2014/main" id="{AB6A0872-18DC-DF1A-4B99-C00EC01F96D7}"/>
              </a:ext>
            </a:extLst>
          </p:cNvPr>
          <p:cNvSpPr/>
          <p:nvPr/>
        </p:nvSpPr>
        <p:spPr>
          <a:xfrm>
            <a:off x="1169410" y="2416542"/>
            <a:ext cx="2636395" cy="465556"/>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100" b="1" i="0" u="none" strike="noStrike" kern="1200" cap="none" spc="0" normalizeH="0" baseline="0" noProof="0" dirty="0">
                <a:ln>
                  <a:noFill/>
                </a:ln>
                <a:solidFill>
                  <a:srgbClr val="FFFFFF"/>
                </a:solidFill>
                <a:effectLst/>
                <a:uLnTx/>
                <a:uFillTx/>
                <a:latin typeface="Arial"/>
                <a:ea typeface="Arial"/>
                <a:cs typeface="Arial"/>
                <a:sym typeface="Arial"/>
              </a:rPr>
              <a:t>VCF Automation </a:t>
            </a:r>
            <a:endParaRPr kumimoji="0" sz="11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2" name="Google Shape;1495;p7">
            <a:extLst>
              <a:ext uri="{FF2B5EF4-FFF2-40B4-BE49-F238E27FC236}">
                <a16:creationId xmlns:a16="http://schemas.microsoft.com/office/drawing/2014/main" id="{79888B61-B06B-4707-7458-08F28A3F1397}"/>
              </a:ext>
            </a:extLst>
          </p:cNvPr>
          <p:cNvSpPr/>
          <p:nvPr/>
        </p:nvSpPr>
        <p:spPr>
          <a:xfrm>
            <a:off x="1169412" y="3543324"/>
            <a:ext cx="1230213" cy="468929"/>
          </a:xfrm>
          <a:prstGeom prst="roundRect">
            <a:avLst>
              <a:gd name="adj" fmla="val 6349"/>
            </a:avLst>
          </a:prstGeom>
          <a:solidFill>
            <a:schemeClr val="accent5"/>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100" b="1" i="0" u="none" strike="noStrike" kern="1200" cap="none" spc="0" normalizeH="0" baseline="0" noProof="0">
                <a:ln>
                  <a:noFill/>
                </a:ln>
                <a:solidFill>
                  <a:srgbClr val="FFFFFF"/>
                </a:solidFill>
                <a:effectLst/>
                <a:uLnTx/>
                <a:uFillTx/>
                <a:latin typeface="Arial"/>
                <a:ea typeface="Arial"/>
                <a:cs typeface="Arial"/>
                <a:sym typeface="Arial"/>
              </a:rPr>
              <a:t>NSX Manager</a:t>
            </a:r>
            <a:endParaRPr kumimoji="0" sz="110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33" name="Google Shape;1492;p7">
            <a:extLst>
              <a:ext uri="{FF2B5EF4-FFF2-40B4-BE49-F238E27FC236}">
                <a16:creationId xmlns:a16="http://schemas.microsoft.com/office/drawing/2014/main" id="{A944149B-E5CE-0468-1675-B25EEE72FC21}"/>
              </a:ext>
            </a:extLst>
          </p:cNvPr>
          <p:cNvSpPr/>
          <p:nvPr/>
        </p:nvSpPr>
        <p:spPr>
          <a:xfrm>
            <a:off x="2704092" y="3594078"/>
            <a:ext cx="1239871" cy="719335"/>
          </a:xfrm>
          <a:prstGeom prst="roundRect">
            <a:avLst>
              <a:gd name="adj" fmla="val 6349"/>
            </a:avLst>
          </a:prstGeom>
          <a:solidFill>
            <a:schemeClr val="accent2"/>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endParaRPr kumimoji="0" lang="en-US" sz="1100" b="1" i="0" u="none" strike="noStrike" kern="1200" cap="none" spc="0" normalizeH="0" baseline="0" noProof="0" dirty="0">
              <a:ln>
                <a:noFill/>
              </a:ln>
              <a:solidFill>
                <a:srgbClr val="FFFFFF"/>
              </a:solidFill>
              <a:effectLst/>
              <a:uLnTx/>
              <a:uFillTx/>
              <a:latin typeface="Arial"/>
              <a:ea typeface="Arial"/>
              <a:cs typeface="Arial"/>
              <a:sym typeface="Arial"/>
            </a:endParaRPr>
          </a:p>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endParaRPr kumimoji="0" lang="en-US" sz="1100" b="1" i="0" u="none" strike="noStrike" kern="1200" cap="none" spc="0" normalizeH="0" baseline="0" noProof="0" dirty="0">
              <a:ln>
                <a:noFill/>
              </a:ln>
              <a:solidFill>
                <a:srgbClr val="FFFFFF"/>
              </a:solidFill>
              <a:effectLst/>
              <a:uLnTx/>
              <a:uFillTx/>
              <a:latin typeface="Arial"/>
              <a:ea typeface="Arial"/>
              <a:cs typeface="Arial"/>
              <a:sym typeface="Arial"/>
            </a:endParaRPr>
          </a:p>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endParaRPr kumimoji="0" sz="11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65" name="Google Shape;1490;p7">
            <a:extLst>
              <a:ext uri="{FF2B5EF4-FFF2-40B4-BE49-F238E27FC236}">
                <a16:creationId xmlns:a16="http://schemas.microsoft.com/office/drawing/2014/main" id="{9524799A-B793-472F-CFFC-39A89E904AB1}"/>
              </a:ext>
            </a:extLst>
          </p:cNvPr>
          <p:cNvSpPr/>
          <p:nvPr/>
        </p:nvSpPr>
        <p:spPr>
          <a:xfrm>
            <a:off x="1209402" y="1911886"/>
            <a:ext cx="2596404" cy="392038"/>
          </a:xfrm>
          <a:prstGeom prst="roundRect">
            <a:avLst>
              <a:gd name="adj" fmla="val 50000"/>
            </a:avLst>
          </a:prstGeom>
          <a:solidFill>
            <a:schemeClr val="lt1"/>
          </a:solidFill>
          <a:ln w="25400" cap="flat" cmpd="sng">
            <a:gradFill>
              <a:gsLst>
                <a:gs pos="0">
                  <a:schemeClr val="accent5"/>
                </a:gs>
                <a:gs pos="100000">
                  <a:schemeClr val="accent2"/>
                </a:gs>
                <a:gs pos="100000">
                  <a:schemeClr val="accent2"/>
                </a:gs>
                <a:gs pos="100000">
                  <a:schemeClr val="accent1">
                    <a:lumMod val="30000"/>
                    <a:lumOff val="70000"/>
                  </a:schemeClr>
                </a:gs>
              </a:gsLst>
              <a:lin ang="21594000" scaled="0"/>
            </a:gra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000"/>
              <a:buFontTx/>
              <a:buNone/>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       </a:t>
            </a: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Management Domain</a:t>
            </a:r>
            <a:endParaRPr kumimoji="0" sz="1000" b="0" i="0" u="none" strike="noStrike" kern="1200" cap="none" spc="0" normalizeH="0" baseline="0" noProof="0" dirty="0">
              <a:ln>
                <a:noFill/>
              </a:ln>
              <a:solidFill>
                <a:srgbClr val="000000"/>
              </a:solidFill>
              <a:effectLst/>
              <a:uLnTx/>
              <a:uFillTx/>
              <a:latin typeface="Arial"/>
              <a:ea typeface="Arial"/>
              <a:cs typeface="Arial"/>
              <a:sym typeface="Arial"/>
            </a:endParaRPr>
          </a:p>
        </p:txBody>
      </p:sp>
      <p:pic>
        <p:nvPicPr>
          <p:cNvPr id="66" name="Google Shape;1491;p7">
            <a:extLst>
              <a:ext uri="{FF2B5EF4-FFF2-40B4-BE49-F238E27FC236}">
                <a16:creationId xmlns:a16="http://schemas.microsoft.com/office/drawing/2014/main" id="{43031834-59B2-67E7-DB71-B83A104A98E9}"/>
              </a:ext>
            </a:extLst>
          </p:cNvPr>
          <p:cNvPicPr preferRelativeResize="0">
            <a:picLocks noChangeAspect="1"/>
          </p:cNvPicPr>
          <p:nvPr/>
        </p:nvPicPr>
        <p:blipFill rotWithShape="1">
          <a:blip r:embed="rId3">
            <a:alphaModFix/>
          </a:blip>
          <a:srcRect/>
          <a:stretch/>
        </p:blipFill>
        <p:spPr>
          <a:xfrm>
            <a:off x="1505593" y="1941094"/>
            <a:ext cx="297628" cy="336803"/>
          </a:xfrm>
          <a:prstGeom prst="rect">
            <a:avLst/>
          </a:prstGeom>
          <a:noFill/>
          <a:ln>
            <a:noFill/>
          </a:ln>
        </p:spPr>
      </p:pic>
      <p:sp>
        <p:nvSpPr>
          <p:cNvPr id="67" name="Google Shape;1492;p7">
            <a:extLst>
              <a:ext uri="{FF2B5EF4-FFF2-40B4-BE49-F238E27FC236}">
                <a16:creationId xmlns:a16="http://schemas.microsoft.com/office/drawing/2014/main" id="{ABC6C12E-406D-4BDE-432A-86ABA689432B}"/>
              </a:ext>
            </a:extLst>
          </p:cNvPr>
          <p:cNvSpPr/>
          <p:nvPr/>
        </p:nvSpPr>
        <p:spPr>
          <a:xfrm>
            <a:off x="2820779" y="3944111"/>
            <a:ext cx="992349" cy="297881"/>
          </a:xfrm>
          <a:prstGeom prst="roundRect">
            <a:avLst>
              <a:gd name="adj" fmla="val 6349"/>
            </a:avLst>
          </a:prstGeom>
          <a:solidFill>
            <a:schemeClr val="lt1"/>
          </a:solidFill>
          <a:ln>
            <a:solidFill>
              <a:schemeClr val="accent2"/>
            </a:solid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000" b="1" i="0" u="none" strike="noStrike" kern="1200" cap="none" spc="0" normalizeH="0" baseline="0" noProof="0" dirty="0">
                <a:ln>
                  <a:noFill/>
                </a:ln>
                <a:solidFill>
                  <a:srgbClr val="005C8A"/>
                </a:solidFill>
                <a:effectLst/>
                <a:uLnTx/>
                <a:uFillTx/>
                <a:latin typeface="Arial"/>
                <a:ea typeface="Arial"/>
                <a:cs typeface="Arial"/>
                <a:sym typeface="Arial"/>
              </a:rPr>
              <a:t>VIDB</a:t>
            </a:r>
            <a:endParaRPr kumimoji="0" sz="1000" b="1"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68" name="Google Shape;1479;p7">
            <a:extLst>
              <a:ext uri="{FF2B5EF4-FFF2-40B4-BE49-F238E27FC236}">
                <a16:creationId xmlns:a16="http://schemas.microsoft.com/office/drawing/2014/main" id="{88E135D6-6868-1C2D-62DB-BEBDEBF7C2D7}"/>
              </a:ext>
            </a:extLst>
          </p:cNvPr>
          <p:cNvSpPr/>
          <p:nvPr/>
        </p:nvSpPr>
        <p:spPr>
          <a:xfrm>
            <a:off x="1010622" y="4848071"/>
            <a:ext cx="2965881" cy="957449"/>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69" name="Rectangle 68">
            <a:extLst>
              <a:ext uri="{FF2B5EF4-FFF2-40B4-BE49-F238E27FC236}">
                <a16:creationId xmlns:a16="http://schemas.microsoft.com/office/drawing/2014/main" id="{B6BE23B5-6230-D87F-94FF-7E61145E8644}"/>
              </a:ext>
            </a:extLst>
          </p:cNvPr>
          <p:cNvSpPr/>
          <p:nvPr/>
        </p:nvSpPr>
        <p:spPr bwMode="gray">
          <a:xfrm>
            <a:off x="1575642" y="5685590"/>
            <a:ext cx="1815502" cy="228540"/>
          </a:xfrm>
          <a:prstGeom prst="rect">
            <a:avLst/>
          </a:prstGeom>
          <a:solidFill>
            <a:schemeClr val="bg1"/>
          </a:solidFill>
          <a:ln w="25400">
            <a:solidFill>
              <a:schemeClr val="bg2">
                <a:lumMod val="50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rPr>
              <a:t>OpenID Connect Clients</a:t>
            </a:r>
          </a:p>
        </p:txBody>
      </p:sp>
      <p:sp>
        <p:nvSpPr>
          <p:cNvPr id="70" name="Google Shape;1492;p7">
            <a:extLst>
              <a:ext uri="{FF2B5EF4-FFF2-40B4-BE49-F238E27FC236}">
                <a16:creationId xmlns:a16="http://schemas.microsoft.com/office/drawing/2014/main" id="{9D031A83-555A-C3D1-2967-DCA1AF119836}"/>
              </a:ext>
            </a:extLst>
          </p:cNvPr>
          <p:cNvSpPr/>
          <p:nvPr/>
        </p:nvSpPr>
        <p:spPr>
          <a:xfrm>
            <a:off x="1177213" y="4958715"/>
            <a:ext cx="803833" cy="640395"/>
          </a:xfrm>
          <a:prstGeom prst="roundRect">
            <a:avLst>
              <a:gd name="adj" fmla="val 6349"/>
            </a:avLst>
          </a:prstGeom>
          <a:solidFill>
            <a:schemeClr val="lt1"/>
          </a:solidFill>
          <a:ln>
            <a:solidFill>
              <a:schemeClr val="accent2"/>
            </a:solid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000" b="1" i="0" u="none" strike="noStrike" kern="1200" cap="none" spc="0" normalizeH="0" baseline="0" noProof="0" dirty="0">
                <a:ln>
                  <a:noFill/>
                </a:ln>
                <a:solidFill>
                  <a:srgbClr val="005C8A"/>
                </a:solidFill>
                <a:effectLst/>
                <a:uLnTx/>
                <a:uFillTx/>
                <a:latin typeface="Arial"/>
                <a:ea typeface="Arial"/>
                <a:cs typeface="Arial"/>
                <a:sym typeface="Arial"/>
              </a:rPr>
              <a:t>VCF Ops for Networks</a:t>
            </a:r>
            <a:endParaRPr kumimoji="0" sz="1000" b="1"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71" name="Google Shape;1492;p7">
            <a:extLst>
              <a:ext uri="{FF2B5EF4-FFF2-40B4-BE49-F238E27FC236}">
                <a16:creationId xmlns:a16="http://schemas.microsoft.com/office/drawing/2014/main" id="{E8B24148-12FD-F4F4-D2BD-5A5AE02692AB}"/>
              </a:ext>
            </a:extLst>
          </p:cNvPr>
          <p:cNvSpPr/>
          <p:nvPr/>
        </p:nvSpPr>
        <p:spPr>
          <a:xfrm>
            <a:off x="2107030" y="4956279"/>
            <a:ext cx="765818" cy="640395"/>
          </a:xfrm>
          <a:prstGeom prst="roundRect">
            <a:avLst>
              <a:gd name="adj" fmla="val 6349"/>
            </a:avLst>
          </a:prstGeom>
          <a:solidFill>
            <a:schemeClr val="lt1"/>
          </a:solidFill>
          <a:ln>
            <a:solidFill>
              <a:schemeClr val="accent2"/>
            </a:solid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000" b="1" i="0" u="none" strike="noStrike" kern="1200" cap="none" spc="0" normalizeH="0" baseline="0" noProof="0" dirty="0">
                <a:ln>
                  <a:noFill/>
                </a:ln>
                <a:solidFill>
                  <a:srgbClr val="005C8A"/>
                </a:solidFill>
                <a:effectLst/>
                <a:uLnTx/>
                <a:uFillTx/>
                <a:latin typeface="Arial"/>
                <a:ea typeface="Arial"/>
                <a:cs typeface="Arial"/>
                <a:sym typeface="Arial"/>
              </a:rPr>
              <a:t>VCF HCX</a:t>
            </a:r>
            <a:endParaRPr kumimoji="0" sz="1000" b="1"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72" name="Google Shape;1492;p7">
            <a:extLst>
              <a:ext uri="{FF2B5EF4-FFF2-40B4-BE49-F238E27FC236}">
                <a16:creationId xmlns:a16="http://schemas.microsoft.com/office/drawing/2014/main" id="{4FA5A743-7AEA-D09A-CAB9-4F6DDD42974D}"/>
              </a:ext>
            </a:extLst>
          </p:cNvPr>
          <p:cNvSpPr/>
          <p:nvPr/>
        </p:nvSpPr>
        <p:spPr>
          <a:xfrm>
            <a:off x="2998830" y="4957606"/>
            <a:ext cx="803833" cy="640395"/>
          </a:xfrm>
          <a:prstGeom prst="roundRect">
            <a:avLst>
              <a:gd name="adj" fmla="val 6349"/>
            </a:avLst>
          </a:prstGeom>
          <a:solidFill>
            <a:schemeClr val="lt1"/>
          </a:solidFill>
          <a:ln>
            <a:solidFill>
              <a:schemeClr val="accent2"/>
            </a:solid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000" b="1" i="0" u="none" strike="noStrike" kern="1200" cap="none" spc="0" normalizeH="0" baseline="0" noProof="0" dirty="0">
                <a:ln>
                  <a:noFill/>
                </a:ln>
                <a:solidFill>
                  <a:srgbClr val="005C8A"/>
                </a:solidFill>
                <a:effectLst/>
                <a:uLnTx/>
                <a:uFillTx/>
                <a:latin typeface="Arial"/>
                <a:ea typeface="Arial"/>
                <a:cs typeface="Arial"/>
                <a:sym typeface="Arial"/>
              </a:rPr>
              <a:t>VCF Ops for Logs</a:t>
            </a:r>
            <a:endParaRPr kumimoji="0" sz="1000" b="1"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79" name="Google Shape;1494;p7">
            <a:extLst>
              <a:ext uri="{FF2B5EF4-FFF2-40B4-BE49-F238E27FC236}">
                <a16:creationId xmlns:a16="http://schemas.microsoft.com/office/drawing/2014/main" id="{820778BC-9F2B-2D84-C926-77CFA5F5201E}"/>
              </a:ext>
            </a:extLst>
          </p:cNvPr>
          <p:cNvSpPr/>
          <p:nvPr/>
        </p:nvSpPr>
        <p:spPr>
          <a:xfrm>
            <a:off x="4950286" y="3459391"/>
            <a:ext cx="1228943" cy="466942"/>
          </a:xfrm>
          <a:prstGeom prst="roundRect">
            <a:avLst>
              <a:gd name="adj" fmla="val 6349"/>
            </a:avLst>
          </a:prstGeom>
          <a:gradFill>
            <a:gsLst>
              <a:gs pos="0">
                <a:schemeClr val="accent3"/>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100" b="1" i="0" u="none" strike="noStrike" kern="1200" cap="none" spc="0" normalizeH="0" baseline="0" noProof="0" dirty="0">
                <a:ln>
                  <a:noFill/>
                </a:ln>
                <a:solidFill>
                  <a:srgbClr val="FFFFFF"/>
                </a:solidFill>
                <a:effectLst/>
                <a:uLnTx/>
                <a:uFillTx/>
                <a:latin typeface="Arial"/>
                <a:ea typeface="Arial"/>
                <a:cs typeface="Arial"/>
                <a:sym typeface="Arial"/>
              </a:rPr>
              <a:t>vCenter Server</a:t>
            </a:r>
            <a:endParaRPr kumimoji="0" sz="11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80" name="Google Shape;1494;p7">
            <a:extLst>
              <a:ext uri="{FF2B5EF4-FFF2-40B4-BE49-F238E27FC236}">
                <a16:creationId xmlns:a16="http://schemas.microsoft.com/office/drawing/2014/main" id="{16486F43-55FC-C95D-07A2-AB2C56C453AC}"/>
              </a:ext>
            </a:extLst>
          </p:cNvPr>
          <p:cNvSpPr/>
          <p:nvPr/>
        </p:nvSpPr>
        <p:spPr>
          <a:xfrm>
            <a:off x="1169410" y="2970125"/>
            <a:ext cx="2636395" cy="465556"/>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100" b="1" i="0" u="none" strike="noStrike" kern="1200" cap="none" spc="0" normalizeH="0" baseline="0" noProof="0" dirty="0">
                <a:ln>
                  <a:noFill/>
                </a:ln>
                <a:solidFill>
                  <a:srgbClr val="FFFFFF"/>
                </a:solidFill>
                <a:effectLst/>
                <a:uLnTx/>
                <a:uFillTx/>
                <a:latin typeface="Arial"/>
                <a:ea typeface="Arial"/>
                <a:cs typeface="Arial"/>
                <a:sym typeface="Arial"/>
              </a:rPr>
              <a:t>VCF Operations</a:t>
            </a:r>
            <a:endParaRPr kumimoji="0" sz="11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82" name="Google Shape;1495;p7">
            <a:extLst>
              <a:ext uri="{FF2B5EF4-FFF2-40B4-BE49-F238E27FC236}">
                <a16:creationId xmlns:a16="http://schemas.microsoft.com/office/drawing/2014/main" id="{2500E4A4-2756-BA82-52E8-7E02245BB3A3}"/>
              </a:ext>
            </a:extLst>
          </p:cNvPr>
          <p:cNvSpPr/>
          <p:nvPr/>
        </p:nvSpPr>
        <p:spPr>
          <a:xfrm>
            <a:off x="6291725" y="3457406"/>
            <a:ext cx="1230213" cy="468929"/>
          </a:xfrm>
          <a:prstGeom prst="roundRect">
            <a:avLst>
              <a:gd name="adj" fmla="val 6349"/>
            </a:avLst>
          </a:prstGeom>
          <a:solidFill>
            <a:schemeClr val="accent1"/>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100" b="1" i="0" u="none" strike="noStrike" kern="1200" cap="none" spc="0" normalizeH="0" baseline="0" noProof="0">
                <a:ln>
                  <a:noFill/>
                </a:ln>
                <a:solidFill>
                  <a:srgbClr val="FFFFFF"/>
                </a:solidFill>
                <a:effectLst/>
                <a:uLnTx/>
                <a:uFillTx/>
                <a:latin typeface="Arial"/>
                <a:ea typeface="Arial"/>
                <a:cs typeface="Arial"/>
                <a:sym typeface="Arial"/>
              </a:rPr>
              <a:t>NSX Manager</a:t>
            </a:r>
            <a:endParaRPr kumimoji="0" sz="110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83" name="Google Shape;1490;p7">
            <a:extLst>
              <a:ext uri="{FF2B5EF4-FFF2-40B4-BE49-F238E27FC236}">
                <a16:creationId xmlns:a16="http://schemas.microsoft.com/office/drawing/2014/main" id="{EE3EB222-C5F8-3A37-6BD7-00F578BA140C}"/>
              </a:ext>
            </a:extLst>
          </p:cNvPr>
          <p:cNvSpPr/>
          <p:nvPr/>
        </p:nvSpPr>
        <p:spPr>
          <a:xfrm>
            <a:off x="4922580" y="2971653"/>
            <a:ext cx="2596404" cy="392038"/>
          </a:xfrm>
          <a:prstGeom prst="roundRect">
            <a:avLst>
              <a:gd name="adj" fmla="val 50000"/>
            </a:avLst>
          </a:prstGeom>
          <a:solidFill>
            <a:schemeClr val="lt1"/>
          </a:solidFill>
          <a:ln w="25400" cap="flat" cmpd="sng">
            <a:gradFill>
              <a:gsLst>
                <a:gs pos="0">
                  <a:schemeClr val="accent5"/>
                </a:gs>
                <a:gs pos="100000">
                  <a:schemeClr val="accent2"/>
                </a:gs>
                <a:gs pos="100000">
                  <a:schemeClr val="accent2"/>
                </a:gs>
                <a:gs pos="100000">
                  <a:schemeClr val="accent1">
                    <a:lumMod val="30000"/>
                    <a:lumOff val="70000"/>
                  </a:schemeClr>
                </a:gs>
              </a:gsLst>
              <a:lin ang="21594000" scaled="0"/>
            </a:gra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000"/>
              <a:buFontTx/>
              <a:buNone/>
              <a:tabLst/>
              <a:defRPr/>
            </a:pP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Workload Domain</a:t>
            </a:r>
            <a:endParaRPr kumimoji="0" sz="10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85" name="Freeform 84">
            <a:extLst>
              <a:ext uri="{FF2B5EF4-FFF2-40B4-BE49-F238E27FC236}">
                <a16:creationId xmlns:a16="http://schemas.microsoft.com/office/drawing/2014/main" id="{FA9BD8D5-ABAE-ACD1-1122-865B991E8663}"/>
              </a:ext>
            </a:extLst>
          </p:cNvPr>
          <p:cNvSpPr/>
          <p:nvPr/>
        </p:nvSpPr>
        <p:spPr bwMode="gray">
          <a:xfrm rot="18543376" flipV="1">
            <a:off x="4290702" y="3400609"/>
            <a:ext cx="988971" cy="1148236"/>
          </a:xfrm>
          <a:custGeom>
            <a:avLst/>
            <a:gdLst>
              <a:gd name="connsiteX0" fmla="*/ 0 w 1196502"/>
              <a:gd name="connsiteY0" fmla="*/ 490438 h 490438"/>
              <a:gd name="connsiteX1" fmla="*/ 749030 w 1196502"/>
              <a:gd name="connsiteY1" fmla="*/ 4055 h 490438"/>
              <a:gd name="connsiteX2" fmla="*/ 1196502 w 1196502"/>
              <a:gd name="connsiteY2" fmla="*/ 256974 h 490438"/>
              <a:gd name="connsiteX0" fmla="*/ 0 w 1196502"/>
              <a:gd name="connsiteY0" fmla="*/ 385915 h 385915"/>
              <a:gd name="connsiteX1" fmla="*/ 729575 w 1196502"/>
              <a:gd name="connsiteY1" fmla="*/ 6536 h 385915"/>
              <a:gd name="connsiteX2" fmla="*/ 1196502 w 1196502"/>
              <a:gd name="connsiteY2" fmla="*/ 152451 h 385915"/>
              <a:gd name="connsiteX0" fmla="*/ 0 w 1147864"/>
              <a:gd name="connsiteY0" fmla="*/ 383173 h 383173"/>
              <a:gd name="connsiteX1" fmla="*/ 729575 w 1147864"/>
              <a:gd name="connsiteY1" fmla="*/ 3794 h 383173"/>
              <a:gd name="connsiteX2" fmla="*/ 1147864 w 1147864"/>
              <a:gd name="connsiteY2" fmla="*/ 276169 h 383173"/>
              <a:gd name="connsiteX0" fmla="*/ 0 w 1147864"/>
              <a:gd name="connsiteY0" fmla="*/ 386834 h 386834"/>
              <a:gd name="connsiteX1" fmla="*/ 729575 w 1147864"/>
              <a:gd name="connsiteY1" fmla="*/ 7455 h 386834"/>
              <a:gd name="connsiteX2" fmla="*/ 1147864 w 1147864"/>
              <a:gd name="connsiteY2" fmla="*/ 279830 h 386834"/>
              <a:gd name="connsiteX0" fmla="*/ 0 w 1147864"/>
              <a:gd name="connsiteY0" fmla="*/ 414874 h 414874"/>
              <a:gd name="connsiteX1" fmla="*/ 642026 w 1147864"/>
              <a:gd name="connsiteY1" fmla="*/ 6312 h 414874"/>
              <a:gd name="connsiteX2" fmla="*/ 1147864 w 1147864"/>
              <a:gd name="connsiteY2" fmla="*/ 307870 h 414874"/>
              <a:gd name="connsiteX0" fmla="*/ 0 w 1147864"/>
              <a:gd name="connsiteY0" fmla="*/ 160882 h 292942"/>
              <a:gd name="connsiteX1" fmla="*/ 566722 w 1147864"/>
              <a:gd name="connsiteY1" fmla="*/ 290202 h 292942"/>
              <a:gd name="connsiteX2" fmla="*/ 1147864 w 1147864"/>
              <a:gd name="connsiteY2" fmla="*/ 53878 h 292942"/>
              <a:gd name="connsiteX0" fmla="*/ 0 w 964984"/>
              <a:gd name="connsiteY0" fmla="*/ 69434 h 274402"/>
              <a:gd name="connsiteX1" fmla="*/ 566722 w 964984"/>
              <a:gd name="connsiteY1" fmla="*/ 198754 h 274402"/>
              <a:gd name="connsiteX2" fmla="*/ 964984 w 964984"/>
              <a:gd name="connsiteY2" fmla="*/ 274402 h 274402"/>
              <a:gd name="connsiteX0" fmla="*/ 0 w 964984"/>
              <a:gd name="connsiteY0" fmla="*/ 0 h 204968"/>
              <a:gd name="connsiteX1" fmla="*/ 964984 w 964984"/>
              <a:gd name="connsiteY1" fmla="*/ 204968 h 204968"/>
              <a:gd name="connsiteX0" fmla="*/ 0 w 954227"/>
              <a:gd name="connsiteY0" fmla="*/ 0 h 258756"/>
              <a:gd name="connsiteX1" fmla="*/ 954227 w 954227"/>
              <a:gd name="connsiteY1" fmla="*/ 258756 h 258756"/>
              <a:gd name="connsiteX0" fmla="*/ 0 w 954227"/>
              <a:gd name="connsiteY0" fmla="*/ 0 h 258756"/>
              <a:gd name="connsiteX1" fmla="*/ 954227 w 954227"/>
              <a:gd name="connsiteY1" fmla="*/ 258756 h 258756"/>
              <a:gd name="connsiteX0" fmla="*/ 0 w 846650"/>
              <a:gd name="connsiteY0" fmla="*/ 0 h 258756"/>
              <a:gd name="connsiteX1" fmla="*/ 846650 w 846650"/>
              <a:gd name="connsiteY1" fmla="*/ 258756 h 258756"/>
              <a:gd name="connsiteX0" fmla="*/ 0 w 846650"/>
              <a:gd name="connsiteY0" fmla="*/ 0 h 258756"/>
              <a:gd name="connsiteX1" fmla="*/ 846650 w 846650"/>
              <a:gd name="connsiteY1" fmla="*/ 258756 h 258756"/>
              <a:gd name="connsiteX0" fmla="*/ 0 w 1306859"/>
              <a:gd name="connsiteY0" fmla="*/ 401439 h 660195"/>
              <a:gd name="connsiteX1" fmla="*/ 1164888 w 1306859"/>
              <a:gd name="connsiteY1" fmla="*/ 0 h 660195"/>
              <a:gd name="connsiteX2" fmla="*/ 846650 w 1306859"/>
              <a:gd name="connsiteY2" fmla="*/ 660195 h 660195"/>
              <a:gd name="connsiteX0" fmla="*/ 0 w 553823"/>
              <a:gd name="connsiteY0" fmla="*/ 250 h 700069"/>
              <a:gd name="connsiteX1" fmla="*/ 411852 w 553823"/>
              <a:gd name="connsiteY1" fmla="*/ 39874 h 700069"/>
              <a:gd name="connsiteX2" fmla="*/ 93614 w 553823"/>
              <a:gd name="connsiteY2" fmla="*/ 700069 h 700069"/>
              <a:gd name="connsiteX0" fmla="*/ 0 w 451816"/>
              <a:gd name="connsiteY0" fmla="*/ 72 h 699891"/>
              <a:gd name="connsiteX1" fmla="*/ 293518 w 451816"/>
              <a:gd name="connsiteY1" fmla="*/ 168788 h 699891"/>
              <a:gd name="connsiteX2" fmla="*/ 93614 w 451816"/>
              <a:gd name="connsiteY2" fmla="*/ 699891 h 699891"/>
              <a:gd name="connsiteX0" fmla="*/ 0 w 308551"/>
              <a:gd name="connsiteY0" fmla="*/ 72 h 699891"/>
              <a:gd name="connsiteX1" fmla="*/ 293518 w 308551"/>
              <a:gd name="connsiteY1" fmla="*/ 168788 h 699891"/>
              <a:gd name="connsiteX2" fmla="*/ 93614 w 308551"/>
              <a:gd name="connsiteY2" fmla="*/ 699891 h 699891"/>
              <a:gd name="connsiteX0" fmla="*/ 0 w 93614"/>
              <a:gd name="connsiteY0" fmla="*/ 0 h 699819"/>
              <a:gd name="connsiteX1" fmla="*/ 93614 w 93614"/>
              <a:gd name="connsiteY1" fmla="*/ 699819 h 699819"/>
              <a:gd name="connsiteX0" fmla="*/ 0 w 189200"/>
              <a:gd name="connsiteY0" fmla="*/ 0 h 699819"/>
              <a:gd name="connsiteX1" fmla="*/ 93614 w 189200"/>
              <a:gd name="connsiteY1" fmla="*/ 699819 h 699819"/>
              <a:gd name="connsiteX0" fmla="*/ 0 w 206728"/>
              <a:gd name="connsiteY0" fmla="*/ 0 h 710577"/>
              <a:gd name="connsiteX1" fmla="*/ 115130 w 206728"/>
              <a:gd name="connsiteY1" fmla="*/ 710577 h 710577"/>
              <a:gd name="connsiteX0" fmla="*/ 0 w 152350"/>
              <a:gd name="connsiteY0" fmla="*/ 0 h 710577"/>
              <a:gd name="connsiteX1" fmla="*/ 115130 w 152350"/>
              <a:gd name="connsiteY1" fmla="*/ 710577 h 710577"/>
              <a:gd name="connsiteX0" fmla="*/ 0 w 231040"/>
              <a:gd name="connsiteY0" fmla="*/ 0 h 710577"/>
              <a:gd name="connsiteX1" fmla="*/ 115130 w 231040"/>
              <a:gd name="connsiteY1" fmla="*/ 710577 h 710577"/>
              <a:gd name="connsiteX0" fmla="*/ 0 w 179842"/>
              <a:gd name="connsiteY0" fmla="*/ 0 h 710577"/>
              <a:gd name="connsiteX1" fmla="*/ 115130 w 179842"/>
              <a:gd name="connsiteY1" fmla="*/ 710577 h 710577"/>
              <a:gd name="connsiteX0" fmla="*/ 1316065 w 1362078"/>
              <a:gd name="connsiteY0" fmla="*/ 0 h 613758"/>
              <a:gd name="connsiteX1" fmla="*/ 428 w 1362078"/>
              <a:gd name="connsiteY1" fmla="*/ 613758 h 613758"/>
              <a:gd name="connsiteX0" fmla="*/ 1317084 w 1317084"/>
              <a:gd name="connsiteY0" fmla="*/ 0 h 613758"/>
              <a:gd name="connsiteX1" fmla="*/ 1447 w 1317084"/>
              <a:gd name="connsiteY1" fmla="*/ 613758 h 613758"/>
              <a:gd name="connsiteX0" fmla="*/ 1488844 w 1488844"/>
              <a:gd name="connsiteY0" fmla="*/ 0 h 613758"/>
              <a:gd name="connsiteX1" fmla="*/ 1084 w 1488844"/>
              <a:gd name="connsiteY1" fmla="*/ 613758 h 613758"/>
            </a:gdLst>
            <a:ahLst/>
            <a:cxnLst>
              <a:cxn ang="0">
                <a:pos x="connsiteX0" y="connsiteY0"/>
              </a:cxn>
              <a:cxn ang="0">
                <a:pos x="connsiteX1" y="connsiteY1"/>
              </a:cxn>
            </a:cxnLst>
            <a:rect l="l" t="t" r="r" b="b"/>
            <a:pathLst>
              <a:path w="1488844" h="613758">
                <a:moveTo>
                  <a:pt x="1488844" y="0"/>
                </a:moveTo>
                <a:cubicBezTo>
                  <a:pt x="616407" y="50394"/>
                  <a:pt x="-30122" y="369729"/>
                  <a:pt x="1084" y="613758"/>
                </a:cubicBezTo>
              </a:path>
            </a:pathLst>
          </a:custGeom>
          <a:ln w="25400">
            <a:solidFill>
              <a:schemeClr val="accent3"/>
            </a:solidFill>
            <a:miter lim="8000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7" name="Freeform 86">
            <a:extLst>
              <a:ext uri="{FF2B5EF4-FFF2-40B4-BE49-F238E27FC236}">
                <a16:creationId xmlns:a16="http://schemas.microsoft.com/office/drawing/2014/main" id="{CCE7B233-7F0C-F32B-EAEB-BCADFF782CB4}"/>
              </a:ext>
            </a:extLst>
          </p:cNvPr>
          <p:cNvSpPr/>
          <p:nvPr/>
        </p:nvSpPr>
        <p:spPr bwMode="gray">
          <a:xfrm rot="11694849" flipV="1">
            <a:off x="3668916" y="2616921"/>
            <a:ext cx="556684" cy="1230351"/>
          </a:xfrm>
          <a:custGeom>
            <a:avLst/>
            <a:gdLst>
              <a:gd name="connsiteX0" fmla="*/ 0 w 1196502"/>
              <a:gd name="connsiteY0" fmla="*/ 490438 h 490438"/>
              <a:gd name="connsiteX1" fmla="*/ 749030 w 1196502"/>
              <a:gd name="connsiteY1" fmla="*/ 4055 h 490438"/>
              <a:gd name="connsiteX2" fmla="*/ 1196502 w 1196502"/>
              <a:gd name="connsiteY2" fmla="*/ 256974 h 490438"/>
              <a:gd name="connsiteX0" fmla="*/ 0 w 1196502"/>
              <a:gd name="connsiteY0" fmla="*/ 385915 h 385915"/>
              <a:gd name="connsiteX1" fmla="*/ 729575 w 1196502"/>
              <a:gd name="connsiteY1" fmla="*/ 6536 h 385915"/>
              <a:gd name="connsiteX2" fmla="*/ 1196502 w 1196502"/>
              <a:gd name="connsiteY2" fmla="*/ 152451 h 385915"/>
              <a:gd name="connsiteX0" fmla="*/ 0 w 1147864"/>
              <a:gd name="connsiteY0" fmla="*/ 383173 h 383173"/>
              <a:gd name="connsiteX1" fmla="*/ 729575 w 1147864"/>
              <a:gd name="connsiteY1" fmla="*/ 3794 h 383173"/>
              <a:gd name="connsiteX2" fmla="*/ 1147864 w 1147864"/>
              <a:gd name="connsiteY2" fmla="*/ 276169 h 383173"/>
              <a:gd name="connsiteX0" fmla="*/ 0 w 1147864"/>
              <a:gd name="connsiteY0" fmla="*/ 386834 h 386834"/>
              <a:gd name="connsiteX1" fmla="*/ 729575 w 1147864"/>
              <a:gd name="connsiteY1" fmla="*/ 7455 h 386834"/>
              <a:gd name="connsiteX2" fmla="*/ 1147864 w 1147864"/>
              <a:gd name="connsiteY2" fmla="*/ 279830 h 386834"/>
              <a:gd name="connsiteX0" fmla="*/ 0 w 1147864"/>
              <a:gd name="connsiteY0" fmla="*/ 414874 h 414874"/>
              <a:gd name="connsiteX1" fmla="*/ 642026 w 1147864"/>
              <a:gd name="connsiteY1" fmla="*/ 6312 h 414874"/>
              <a:gd name="connsiteX2" fmla="*/ 1147864 w 1147864"/>
              <a:gd name="connsiteY2" fmla="*/ 307870 h 414874"/>
              <a:gd name="connsiteX0" fmla="*/ 0 w 1147864"/>
              <a:gd name="connsiteY0" fmla="*/ 160882 h 292942"/>
              <a:gd name="connsiteX1" fmla="*/ 566722 w 1147864"/>
              <a:gd name="connsiteY1" fmla="*/ 290202 h 292942"/>
              <a:gd name="connsiteX2" fmla="*/ 1147864 w 1147864"/>
              <a:gd name="connsiteY2" fmla="*/ 53878 h 292942"/>
              <a:gd name="connsiteX0" fmla="*/ 0 w 964984"/>
              <a:gd name="connsiteY0" fmla="*/ 69434 h 274402"/>
              <a:gd name="connsiteX1" fmla="*/ 566722 w 964984"/>
              <a:gd name="connsiteY1" fmla="*/ 198754 h 274402"/>
              <a:gd name="connsiteX2" fmla="*/ 964984 w 964984"/>
              <a:gd name="connsiteY2" fmla="*/ 274402 h 274402"/>
              <a:gd name="connsiteX0" fmla="*/ 0 w 964984"/>
              <a:gd name="connsiteY0" fmla="*/ 0 h 204968"/>
              <a:gd name="connsiteX1" fmla="*/ 964984 w 964984"/>
              <a:gd name="connsiteY1" fmla="*/ 204968 h 204968"/>
              <a:gd name="connsiteX0" fmla="*/ 0 w 954227"/>
              <a:gd name="connsiteY0" fmla="*/ 0 h 258756"/>
              <a:gd name="connsiteX1" fmla="*/ 954227 w 954227"/>
              <a:gd name="connsiteY1" fmla="*/ 258756 h 258756"/>
              <a:gd name="connsiteX0" fmla="*/ 0 w 954227"/>
              <a:gd name="connsiteY0" fmla="*/ 0 h 258756"/>
              <a:gd name="connsiteX1" fmla="*/ 954227 w 954227"/>
              <a:gd name="connsiteY1" fmla="*/ 258756 h 258756"/>
              <a:gd name="connsiteX0" fmla="*/ 0 w 846650"/>
              <a:gd name="connsiteY0" fmla="*/ 0 h 258756"/>
              <a:gd name="connsiteX1" fmla="*/ 846650 w 846650"/>
              <a:gd name="connsiteY1" fmla="*/ 258756 h 258756"/>
              <a:gd name="connsiteX0" fmla="*/ 0 w 846650"/>
              <a:gd name="connsiteY0" fmla="*/ 0 h 258756"/>
              <a:gd name="connsiteX1" fmla="*/ 846650 w 846650"/>
              <a:gd name="connsiteY1" fmla="*/ 258756 h 258756"/>
              <a:gd name="connsiteX0" fmla="*/ 0 w 1306859"/>
              <a:gd name="connsiteY0" fmla="*/ 401439 h 660195"/>
              <a:gd name="connsiteX1" fmla="*/ 1164888 w 1306859"/>
              <a:gd name="connsiteY1" fmla="*/ 0 h 660195"/>
              <a:gd name="connsiteX2" fmla="*/ 846650 w 1306859"/>
              <a:gd name="connsiteY2" fmla="*/ 660195 h 660195"/>
              <a:gd name="connsiteX0" fmla="*/ 0 w 553823"/>
              <a:gd name="connsiteY0" fmla="*/ 250 h 700069"/>
              <a:gd name="connsiteX1" fmla="*/ 411852 w 553823"/>
              <a:gd name="connsiteY1" fmla="*/ 39874 h 700069"/>
              <a:gd name="connsiteX2" fmla="*/ 93614 w 553823"/>
              <a:gd name="connsiteY2" fmla="*/ 700069 h 700069"/>
              <a:gd name="connsiteX0" fmla="*/ 0 w 451816"/>
              <a:gd name="connsiteY0" fmla="*/ 72 h 699891"/>
              <a:gd name="connsiteX1" fmla="*/ 293518 w 451816"/>
              <a:gd name="connsiteY1" fmla="*/ 168788 h 699891"/>
              <a:gd name="connsiteX2" fmla="*/ 93614 w 451816"/>
              <a:gd name="connsiteY2" fmla="*/ 699891 h 699891"/>
              <a:gd name="connsiteX0" fmla="*/ 0 w 308551"/>
              <a:gd name="connsiteY0" fmla="*/ 72 h 699891"/>
              <a:gd name="connsiteX1" fmla="*/ 293518 w 308551"/>
              <a:gd name="connsiteY1" fmla="*/ 168788 h 699891"/>
              <a:gd name="connsiteX2" fmla="*/ 93614 w 308551"/>
              <a:gd name="connsiteY2" fmla="*/ 699891 h 699891"/>
              <a:gd name="connsiteX0" fmla="*/ 0 w 93614"/>
              <a:gd name="connsiteY0" fmla="*/ 0 h 699819"/>
              <a:gd name="connsiteX1" fmla="*/ 93614 w 93614"/>
              <a:gd name="connsiteY1" fmla="*/ 699819 h 699819"/>
              <a:gd name="connsiteX0" fmla="*/ 0 w 189200"/>
              <a:gd name="connsiteY0" fmla="*/ 0 h 699819"/>
              <a:gd name="connsiteX1" fmla="*/ 93614 w 189200"/>
              <a:gd name="connsiteY1" fmla="*/ 699819 h 699819"/>
              <a:gd name="connsiteX0" fmla="*/ 0 w 206728"/>
              <a:gd name="connsiteY0" fmla="*/ 0 h 710577"/>
              <a:gd name="connsiteX1" fmla="*/ 115130 w 206728"/>
              <a:gd name="connsiteY1" fmla="*/ 710577 h 710577"/>
              <a:gd name="connsiteX0" fmla="*/ 0 w 152350"/>
              <a:gd name="connsiteY0" fmla="*/ 0 h 710577"/>
              <a:gd name="connsiteX1" fmla="*/ 115130 w 152350"/>
              <a:gd name="connsiteY1" fmla="*/ 710577 h 710577"/>
              <a:gd name="connsiteX0" fmla="*/ 0 w 231040"/>
              <a:gd name="connsiteY0" fmla="*/ 0 h 710577"/>
              <a:gd name="connsiteX1" fmla="*/ 115130 w 231040"/>
              <a:gd name="connsiteY1" fmla="*/ 710577 h 710577"/>
              <a:gd name="connsiteX0" fmla="*/ 0 w 179842"/>
              <a:gd name="connsiteY0" fmla="*/ 0 h 710577"/>
              <a:gd name="connsiteX1" fmla="*/ 115130 w 179842"/>
              <a:gd name="connsiteY1" fmla="*/ 710577 h 710577"/>
              <a:gd name="connsiteX0" fmla="*/ 1316065 w 1362078"/>
              <a:gd name="connsiteY0" fmla="*/ 0 h 613758"/>
              <a:gd name="connsiteX1" fmla="*/ 428 w 1362078"/>
              <a:gd name="connsiteY1" fmla="*/ 613758 h 613758"/>
              <a:gd name="connsiteX0" fmla="*/ 1317084 w 1317084"/>
              <a:gd name="connsiteY0" fmla="*/ 0 h 613758"/>
              <a:gd name="connsiteX1" fmla="*/ 1447 w 1317084"/>
              <a:gd name="connsiteY1" fmla="*/ 613758 h 613758"/>
              <a:gd name="connsiteX0" fmla="*/ 1488844 w 1488844"/>
              <a:gd name="connsiteY0" fmla="*/ 0 h 613758"/>
              <a:gd name="connsiteX1" fmla="*/ 1084 w 1488844"/>
              <a:gd name="connsiteY1" fmla="*/ 613758 h 613758"/>
            </a:gdLst>
            <a:ahLst/>
            <a:cxnLst>
              <a:cxn ang="0">
                <a:pos x="connsiteX0" y="connsiteY0"/>
              </a:cxn>
              <a:cxn ang="0">
                <a:pos x="connsiteX1" y="connsiteY1"/>
              </a:cxn>
            </a:cxnLst>
            <a:rect l="l" t="t" r="r" b="b"/>
            <a:pathLst>
              <a:path w="1488844" h="613758">
                <a:moveTo>
                  <a:pt x="1488844" y="0"/>
                </a:moveTo>
                <a:cubicBezTo>
                  <a:pt x="616407" y="50394"/>
                  <a:pt x="-30122" y="369729"/>
                  <a:pt x="1084" y="613758"/>
                </a:cubicBezTo>
              </a:path>
            </a:pathLst>
          </a:custGeom>
          <a:ln w="25400">
            <a:solidFill>
              <a:schemeClr val="accent3"/>
            </a:solidFill>
            <a:miter lim="8000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8" name="Freeform 87">
            <a:extLst>
              <a:ext uri="{FF2B5EF4-FFF2-40B4-BE49-F238E27FC236}">
                <a16:creationId xmlns:a16="http://schemas.microsoft.com/office/drawing/2014/main" id="{0494E310-1998-FBE8-34AB-D65A1AC00F30}"/>
              </a:ext>
            </a:extLst>
          </p:cNvPr>
          <p:cNvSpPr/>
          <p:nvPr/>
        </p:nvSpPr>
        <p:spPr bwMode="gray">
          <a:xfrm rot="11694849" flipV="1">
            <a:off x="3758516" y="3233499"/>
            <a:ext cx="348172" cy="567462"/>
          </a:xfrm>
          <a:custGeom>
            <a:avLst/>
            <a:gdLst>
              <a:gd name="connsiteX0" fmla="*/ 0 w 1196502"/>
              <a:gd name="connsiteY0" fmla="*/ 490438 h 490438"/>
              <a:gd name="connsiteX1" fmla="*/ 749030 w 1196502"/>
              <a:gd name="connsiteY1" fmla="*/ 4055 h 490438"/>
              <a:gd name="connsiteX2" fmla="*/ 1196502 w 1196502"/>
              <a:gd name="connsiteY2" fmla="*/ 256974 h 490438"/>
              <a:gd name="connsiteX0" fmla="*/ 0 w 1196502"/>
              <a:gd name="connsiteY0" fmla="*/ 385915 h 385915"/>
              <a:gd name="connsiteX1" fmla="*/ 729575 w 1196502"/>
              <a:gd name="connsiteY1" fmla="*/ 6536 h 385915"/>
              <a:gd name="connsiteX2" fmla="*/ 1196502 w 1196502"/>
              <a:gd name="connsiteY2" fmla="*/ 152451 h 385915"/>
              <a:gd name="connsiteX0" fmla="*/ 0 w 1147864"/>
              <a:gd name="connsiteY0" fmla="*/ 383173 h 383173"/>
              <a:gd name="connsiteX1" fmla="*/ 729575 w 1147864"/>
              <a:gd name="connsiteY1" fmla="*/ 3794 h 383173"/>
              <a:gd name="connsiteX2" fmla="*/ 1147864 w 1147864"/>
              <a:gd name="connsiteY2" fmla="*/ 276169 h 383173"/>
              <a:gd name="connsiteX0" fmla="*/ 0 w 1147864"/>
              <a:gd name="connsiteY0" fmla="*/ 386834 h 386834"/>
              <a:gd name="connsiteX1" fmla="*/ 729575 w 1147864"/>
              <a:gd name="connsiteY1" fmla="*/ 7455 h 386834"/>
              <a:gd name="connsiteX2" fmla="*/ 1147864 w 1147864"/>
              <a:gd name="connsiteY2" fmla="*/ 279830 h 386834"/>
              <a:gd name="connsiteX0" fmla="*/ 0 w 1147864"/>
              <a:gd name="connsiteY0" fmla="*/ 414874 h 414874"/>
              <a:gd name="connsiteX1" fmla="*/ 642026 w 1147864"/>
              <a:gd name="connsiteY1" fmla="*/ 6312 h 414874"/>
              <a:gd name="connsiteX2" fmla="*/ 1147864 w 1147864"/>
              <a:gd name="connsiteY2" fmla="*/ 307870 h 414874"/>
              <a:gd name="connsiteX0" fmla="*/ 0 w 1147864"/>
              <a:gd name="connsiteY0" fmla="*/ 160882 h 292942"/>
              <a:gd name="connsiteX1" fmla="*/ 566722 w 1147864"/>
              <a:gd name="connsiteY1" fmla="*/ 290202 h 292942"/>
              <a:gd name="connsiteX2" fmla="*/ 1147864 w 1147864"/>
              <a:gd name="connsiteY2" fmla="*/ 53878 h 292942"/>
              <a:gd name="connsiteX0" fmla="*/ 0 w 964984"/>
              <a:gd name="connsiteY0" fmla="*/ 69434 h 274402"/>
              <a:gd name="connsiteX1" fmla="*/ 566722 w 964984"/>
              <a:gd name="connsiteY1" fmla="*/ 198754 h 274402"/>
              <a:gd name="connsiteX2" fmla="*/ 964984 w 964984"/>
              <a:gd name="connsiteY2" fmla="*/ 274402 h 274402"/>
              <a:gd name="connsiteX0" fmla="*/ 0 w 964984"/>
              <a:gd name="connsiteY0" fmla="*/ 0 h 204968"/>
              <a:gd name="connsiteX1" fmla="*/ 964984 w 964984"/>
              <a:gd name="connsiteY1" fmla="*/ 204968 h 204968"/>
              <a:gd name="connsiteX0" fmla="*/ 0 w 954227"/>
              <a:gd name="connsiteY0" fmla="*/ 0 h 258756"/>
              <a:gd name="connsiteX1" fmla="*/ 954227 w 954227"/>
              <a:gd name="connsiteY1" fmla="*/ 258756 h 258756"/>
              <a:gd name="connsiteX0" fmla="*/ 0 w 954227"/>
              <a:gd name="connsiteY0" fmla="*/ 0 h 258756"/>
              <a:gd name="connsiteX1" fmla="*/ 954227 w 954227"/>
              <a:gd name="connsiteY1" fmla="*/ 258756 h 258756"/>
              <a:gd name="connsiteX0" fmla="*/ 0 w 846650"/>
              <a:gd name="connsiteY0" fmla="*/ 0 h 258756"/>
              <a:gd name="connsiteX1" fmla="*/ 846650 w 846650"/>
              <a:gd name="connsiteY1" fmla="*/ 258756 h 258756"/>
              <a:gd name="connsiteX0" fmla="*/ 0 w 846650"/>
              <a:gd name="connsiteY0" fmla="*/ 0 h 258756"/>
              <a:gd name="connsiteX1" fmla="*/ 846650 w 846650"/>
              <a:gd name="connsiteY1" fmla="*/ 258756 h 258756"/>
              <a:gd name="connsiteX0" fmla="*/ 0 w 1306859"/>
              <a:gd name="connsiteY0" fmla="*/ 401439 h 660195"/>
              <a:gd name="connsiteX1" fmla="*/ 1164888 w 1306859"/>
              <a:gd name="connsiteY1" fmla="*/ 0 h 660195"/>
              <a:gd name="connsiteX2" fmla="*/ 846650 w 1306859"/>
              <a:gd name="connsiteY2" fmla="*/ 660195 h 660195"/>
              <a:gd name="connsiteX0" fmla="*/ 0 w 553823"/>
              <a:gd name="connsiteY0" fmla="*/ 250 h 700069"/>
              <a:gd name="connsiteX1" fmla="*/ 411852 w 553823"/>
              <a:gd name="connsiteY1" fmla="*/ 39874 h 700069"/>
              <a:gd name="connsiteX2" fmla="*/ 93614 w 553823"/>
              <a:gd name="connsiteY2" fmla="*/ 700069 h 700069"/>
              <a:gd name="connsiteX0" fmla="*/ 0 w 451816"/>
              <a:gd name="connsiteY0" fmla="*/ 72 h 699891"/>
              <a:gd name="connsiteX1" fmla="*/ 293518 w 451816"/>
              <a:gd name="connsiteY1" fmla="*/ 168788 h 699891"/>
              <a:gd name="connsiteX2" fmla="*/ 93614 w 451816"/>
              <a:gd name="connsiteY2" fmla="*/ 699891 h 699891"/>
              <a:gd name="connsiteX0" fmla="*/ 0 w 308551"/>
              <a:gd name="connsiteY0" fmla="*/ 72 h 699891"/>
              <a:gd name="connsiteX1" fmla="*/ 293518 w 308551"/>
              <a:gd name="connsiteY1" fmla="*/ 168788 h 699891"/>
              <a:gd name="connsiteX2" fmla="*/ 93614 w 308551"/>
              <a:gd name="connsiteY2" fmla="*/ 699891 h 699891"/>
              <a:gd name="connsiteX0" fmla="*/ 0 w 93614"/>
              <a:gd name="connsiteY0" fmla="*/ 0 h 699819"/>
              <a:gd name="connsiteX1" fmla="*/ 93614 w 93614"/>
              <a:gd name="connsiteY1" fmla="*/ 699819 h 699819"/>
              <a:gd name="connsiteX0" fmla="*/ 0 w 189200"/>
              <a:gd name="connsiteY0" fmla="*/ 0 h 699819"/>
              <a:gd name="connsiteX1" fmla="*/ 93614 w 189200"/>
              <a:gd name="connsiteY1" fmla="*/ 699819 h 699819"/>
              <a:gd name="connsiteX0" fmla="*/ 0 w 206728"/>
              <a:gd name="connsiteY0" fmla="*/ 0 h 710577"/>
              <a:gd name="connsiteX1" fmla="*/ 115130 w 206728"/>
              <a:gd name="connsiteY1" fmla="*/ 710577 h 710577"/>
              <a:gd name="connsiteX0" fmla="*/ 0 w 152350"/>
              <a:gd name="connsiteY0" fmla="*/ 0 h 710577"/>
              <a:gd name="connsiteX1" fmla="*/ 115130 w 152350"/>
              <a:gd name="connsiteY1" fmla="*/ 710577 h 710577"/>
              <a:gd name="connsiteX0" fmla="*/ 0 w 231040"/>
              <a:gd name="connsiteY0" fmla="*/ 0 h 710577"/>
              <a:gd name="connsiteX1" fmla="*/ 115130 w 231040"/>
              <a:gd name="connsiteY1" fmla="*/ 710577 h 710577"/>
              <a:gd name="connsiteX0" fmla="*/ 0 w 179842"/>
              <a:gd name="connsiteY0" fmla="*/ 0 h 710577"/>
              <a:gd name="connsiteX1" fmla="*/ 115130 w 179842"/>
              <a:gd name="connsiteY1" fmla="*/ 710577 h 710577"/>
              <a:gd name="connsiteX0" fmla="*/ 1316065 w 1362078"/>
              <a:gd name="connsiteY0" fmla="*/ 0 h 613758"/>
              <a:gd name="connsiteX1" fmla="*/ 428 w 1362078"/>
              <a:gd name="connsiteY1" fmla="*/ 613758 h 613758"/>
              <a:gd name="connsiteX0" fmla="*/ 1317084 w 1317084"/>
              <a:gd name="connsiteY0" fmla="*/ 0 h 613758"/>
              <a:gd name="connsiteX1" fmla="*/ 1447 w 1317084"/>
              <a:gd name="connsiteY1" fmla="*/ 613758 h 613758"/>
              <a:gd name="connsiteX0" fmla="*/ 1488844 w 1488844"/>
              <a:gd name="connsiteY0" fmla="*/ 0 h 613758"/>
              <a:gd name="connsiteX1" fmla="*/ 1084 w 1488844"/>
              <a:gd name="connsiteY1" fmla="*/ 613758 h 613758"/>
            </a:gdLst>
            <a:ahLst/>
            <a:cxnLst>
              <a:cxn ang="0">
                <a:pos x="connsiteX0" y="connsiteY0"/>
              </a:cxn>
              <a:cxn ang="0">
                <a:pos x="connsiteX1" y="connsiteY1"/>
              </a:cxn>
            </a:cxnLst>
            <a:rect l="l" t="t" r="r" b="b"/>
            <a:pathLst>
              <a:path w="1488844" h="613758">
                <a:moveTo>
                  <a:pt x="1488844" y="0"/>
                </a:moveTo>
                <a:cubicBezTo>
                  <a:pt x="616407" y="50394"/>
                  <a:pt x="-30122" y="369729"/>
                  <a:pt x="1084" y="613758"/>
                </a:cubicBezTo>
              </a:path>
            </a:pathLst>
          </a:custGeom>
          <a:ln w="25400">
            <a:solidFill>
              <a:schemeClr val="accent3"/>
            </a:solidFill>
            <a:miter lim="8000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6" name="Freeform 55">
            <a:extLst>
              <a:ext uri="{FF2B5EF4-FFF2-40B4-BE49-F238E27FC236}">
                <a16:creationId xmlns:a16="http://schemas.microsoft.com/office/drawing/2014/main" id="{51A2D368-0EC3-8D5B-94C0-D297E084C155}"/>
              </a:ext>
            </a:extLst>
          </p:cNvPr>
          <p:cNvSpPr/>
          <p:nvPr/>
        </p:nvSpPr>
        <p:spPr bwMode="gray">
          <a:xfrm>
            <a:off x="2431897" y="3766080"/>
            <a:ext cx="352575" cy="316806"/>
          </a:xfrm>
          <a:custGeom>
            <a:avLst/>
            <a:gdLst>
              <a:gd name="connsiteX0" fmla="*/ 0 w 1196502"/>
              <a:gd name="connsiteY0" fmla="*/ 490438 h 490438"/>
              <a:gd name="connsiteX1" fmla="*/ 749030 w 1196502"/>
              <a:gd name="connsiteY1" fmla="*/ 4055 h 490438"/>
              <a:gd name="connsiteX2" fmla="*/ 1196502 w 1196502"/>
              <a:gd name="connsiteY2" fmla="*/ 256974 h 490438"/>
              <a:gd name="connsiteX0" fmla="*/ 0 w 1196502"/>
              <a:gd name="connsiteY0" fmla="*/ 385915 h 385915"/>
              <a:gd name="connsiteX1" fmla="*/ 729575 w 1196502"/>
              <a:gd name="connsiteY1" fmla="*/ 6536 h 385915"/>
              <a:gd name="connsiteX2" fmla="*/ 1196502 w 1196502"/>
              <a:gd name="connsiteY2" fmla="*/ 152451 h 385915"/>
              <a:gd name="connsiteX0" fmla="*/ 0 w 1147864"/>
              <a:gd name="connsiteY0" fmla="*/ 383173 h 383173"/>
              <a:gd name="connsiteX1" fmla="*/ 729575 w 1147864"/>
              <a:gd name="connsiteY1" fmla="*/ 3794 h 383173"/>
              <a:gd name="connsiteX2" fmla="*/ 1147864 w 1147864"/>
              <a:gd name="connsiteY2" fmla="*/ 276169 h 383173"/>
              <a:gd name="connsiteX0" fmla="*/ 0 w 1147864"/>
              <a:gd name="connsiteY0" fmla="*/ 386834 h 386834"/>
              <a:gd name="connsiteX1" fmla="*/ 729575 w 1147864"/>
              <a:gd name="connsiteY1" fmla="*/ 7455 h 386834"/>
              <a:gd name="connsiteX2" fmla="*/ 1147864 w 1147864"/>
              <a:gd name="connsiteY2" fmla="*/ 279830 h 386834"/>
              <a:gd name="connsiteX0" fmla="*/ 0 w 1147864"/>
              <a:gd name="connsiteY0" fmla="*/ 414874 h 414874"/>
              <a:gd name="connsiteX1" fmla="*/ 642026 w 1147864"/>
              <a:gd name="connsiteY1" fmla="*/ 6312 h 414874"/>
              <a:gd name="connsiteX2" fmla="*/ 1147864 w 1147864"/>
              <a:gd name="connsiteY2" fmla="*/ 307870 h 414874"/>
              <a:gd name="connsiteX0" fmla="*/ 0 w 1147864"/>
              <a:gd name="connsiteY0" fmla="*/ 160882 h 292942"/>
              <a:gd name="connsiteX1" fmla="*/ 566722 w 1147864"/>
              <a:gd name="connsiteY1" fmla="*/ 290202 h 292942"/>
              <a:gd name="connsiteX2" fmla="*/ 1147864 w 1147864"/>
              <a:gd name="connsiteY2" fmla="*/ 53878 h 292942"/>
              <a:gd name="connsiteX0" fmla="*/ 0 w 964984"/>
              <a:gd name="connsiteY0" fmla="*/ 69434 h 274402"/>
              <a:gd name="connsiteX1" fmla="*/ 566722 w 964984"/>
              <a:gd name="connsiteY1" fmla="*/ 198754 h 274402"/>
              <a:gd name="connsiteX2" fmla="*/ 964984 w 964984"/>
              <a:gd name="connsiteY2" fmla="*/ 274402 h 274402"/>
              <a:gd name="connsiteX0" fmla="*/ 0 w 964984"/>
              <a:gd name="connsiteY0" fmla="*/ 0 h 204968"/>
              <a:gd name="connsiteX1" fmla="*/ 964984 w 964984"/>
              <a:gd name="connsiteY1" fmla="*/ 204968 h 204968"/>
              <a:gd name="connsiteX0" fmla="*/ 0 w 954227"/>
              <a:gd name="connsiteY0" fmla="*/ 0 h 258756"/>
              <a:gd name="connsiteX1" fmla="*/ 954227 w 954227"/>
              <a:gd name="connsiteY1" fmla="*/ 258756 h 258756"/>
              <a:gd name="connsiteX0" fmla="*/ 0 w 954227"/>
              <a:gd name="connsiteY0" fmla="*/ 0 h 258756"/>
              <a:gd name="connsiteX1" fmla="*/ 954227 w 954227"/>
              <a:gd name="connsiteY1" fmla="*/ 258756 h 258756"/>
              <a:gd name="connsiteX0" fmla="*/ 0 w 846650"/>
              <a:gd name="connsiteY0" fmla="*/ 0 h 258756"/>
              <a:gd name="connsiteX1" fmla="*/ 846650 w 846650"/>
              <a:gd name="connsiteY1" fmla="*/ 258756 h 258756"/>
              <a:gd name="connsiteX0" fmla="*/ 0 w 846650"/>
              <a:gd name="connsiteY0" fmla="*/ 0 h 258756"/>
              <a:gd name="connsiteX1" fmla="*/ 846650 w 846650"/>
              <a:gd name="connsiteY1" fmla="*/ 258756 h 258756"/>
              <a:gd name="connsiteX0" fmla="*/ 0 w 1306859"/>
              <a:gd name="connsiteY0" fmla="*/ 401439 h 660195"/>
              <a:gd name="connsiteX1" fmla="*/ 1164888 w 1306859"/>
              <a:gd name="connsiteY1" fmla="*/ 0 h 660195"/>
              <a:gd name="connsiteX2" fmla="*/ 846650 w 1306859"/>
              <a:gd name="connsiteY2" fmla="*/ 660195 h 660195"/>
              <a:gd name="connsiteX0" fmla="*/ 0 w 553823"/>
              <a:gd name="connsiteY0" fmla="*/ 250 h 700069"/>
              <a:gd name="connsiteX1" fmla="*/ 411852 w 553823"/>
              <a:gd name="connsiteY1" fmla="*/ 39874 h 700069"/>
              <a:gd name="connsiteX2" fmla="*/ 93614 w 553823"/>
              <a:gd name="connsiteY2" fmla="*/ 700069 h 700069"/>
              <a:gd name="connsiteX0" fmla="*/ 0 w 451816"/>
              <a:gd name="connsiteY0" fmla="*/ 72 h 699891"/>
              <a:gd name="connsiteX1" fmla="*/ 293518 w 451816"/>
              <a:gd name="connsiteY1" fmla="*/ 168788 h 699891"/>
              <a:gd name="connsiteX2" fmla="*/ 93614 w 451816"/>
              <a:gd name="connsiteY2" fmla="*/ 699891 h 699891"/>
              <a:gd name="connsiteX0" fmla="*/ 0 w 308551"/>
              <a:gd name="connsiteY0" fmla="*/ 72 h 699891"/>
              <a:gd name="connsiteX1" fmla="*/ 293518 w 308551"/>
              <a:gd name="connsiteY1" fmla="*/ 168788 h 699891"/>
              <a:gd name="connsiteX2" fmla="*/ 93614 w 308551"/>
              <a:gd name="connsiteY2" fmla="*/ 699891 h 699891"/>
              <a:gd name="connsiteX0" fmla="*/ 0 w 93614"/>
              <a:gd name="connsiteY0" fmla="*/ 0 h 699819"/>
              <a:gd name="connsiteX1" fmla="*/ 93614 w 93614"/>
              <a:gd name="connsiteY1" fmla="*/ 699819 h 699819"/>
              <a:gd name="connsiteX0" fmla="*/ 0 w 189200"/>
              <a:gd name="connsiteY0" fmla="*/ 0 h 699819"/>
              <a:gd name="connsiteX1" fmla="*/ 93614 w 189200"/>
              <a:gd name="connsiteY1" fmla="*/ 699819 h 699819"/>
              <a:gd name="connsiteX0" fmla="*/ 0 w 206728"/>
              <a:gd name="connsiteY0" fmla="*/ 0 h 710577"/>
              <a:gd name="connsiteX1" fmla="*/ 115130 w 206728"/>
              <a:gd name="connsiteY1" fmla="*/ 710577 h 710577"/>
              <a:gd name="connsiteX0" fmla="*/ 0 w 152350"/>
              <a:gd name="connsiteY0" fmla="*/ 0 h 710577"/>
              <a:gd name="connsiteX1" fmla="*/ 115130 w 152350"/>
              <a:gd name="connsiteY1" fmla="*/ 710577 h 710577"/>
              <a:gd name="connsiteX0" fmla="*/ 0 w 231040"/>
              <a:gd name="connsiteY0" fmla="*/ 0 h 710577"/>
              <a:gd name="connsiteX1" fmla="*/ 115130 w 231040"/>
              <a:gd name="connsiteY1" fmla="*/ 710577 h 710577"/>
              <a:gd name="connsiteX0" fmla="*/ 0 w 179842"/>
              <a:gd name="connsiteY0" fmla="*/ 0 h 710577"/>
              <a:gd name="connsiteX1" fmla="*/ 115130 w 179842"/>
              <a:gd name="connsiteY1" fmla="*/ 710577 h 710577"/>
              <a:gd name="connsiteX0" fmla="*/ 0 w 771346"/>
              <a:gd name="connsiteY0" fmla="*/ 0 h 818154"/>
              <a:gd name="connsiteX1" fmla="*/ 771346 w 771346"/>
              <a:gd name="connsiteY1" fmla="*/ 818154 h 818154"/>
              <a:gd name="connsiteX0" fmla="*/ 0 w 771346"/>
              <a:gd name="connsiteY0" fmla="*/ 0 h 818154"/>
              <a:gd name="connsiteX1" fmla="*/ 771346 w 771346"/>
              <a:gd name="connsiteY1" fmla="*/ 818154 h 818154"/>
              <a:gd name="connsiteX0" fmla="*/ 0 w 911196"/>
              <a:gd name="connsiteY0" fmla="*/ 0 h 796638"/>
              <a:gd name="connsiteX1" fmla="*/ 911196 w 911196"/>
              <a:gd name="connsiteY1" fmla="*/ 796638 h 796638"/>
              <a:gd name="connsiteX0" fmla="*/ 0 w 911196"/>
              <a:gd name="connsiteY0" fmla="*/ 0 h 796638"/>
              <a:gd name="connsiteX1" fmla="*/ 911196 w 911196"/>
              <a:gd name="connsiteY1" fmla="*/ 796638 h 796638"/>
              <a:gd name="connsiteX0" fmla="*/ 0 w 911196"/>
              <a:gd name="connsiteY0" fmla="*/ 0 h 828911"/>
              <a:gd name="connsiteX1" fmla="*/ 911196 w 911196"/>
              <a:gd name="connsiteY1" fmla="*/ 828911 h 828911"/>
              <a:gd name="connsiteX0" fmla="*/ 0 w 1072560"/>
              <a:gd name="connsiteY0" fmla="*/ 0 h 818153"/>
              <a:gd name="connsiteX1" fmla="*/ 1072560 w 1072560"/>
              <a:gd name="connsiteY1" fmla="*/ 818153 h 818153"/>
              <a:gd name="connsiteX0" fmla="*/ 0 w 1072560"/>
              <a:gd name="connsiteY0" fmla="*/ 0 h 818153"/>
              <a:gd name="connsiteX1" fmla="*/ 1072560 w 1072560"/>
              <a:gd name="connsiteY1" fmla="*/ 818153 h 818153"/>
              <a:gd name="connsiteX0" fmla="*/ 0 w 1072560"/>
              <a:gd name="connsiteY0" fmla="*/ 0 h 818153"/>
              <a:gd name="connsiteX1" fmla="*/ 1072560 w 1072560"/>
              <a:gd name="connsiteY1" fmla="*/ 818153 h 818153"/>
              <a:gd name="connsiteX0" fmla="*/ 0 w 857408"/>
              <a:gd name="connsiteY0" fmla="*/ 0 h 839668"/>
              <a:gd name="connsiteX1" fmla="*/ 857408 w 857408"/>
              <a:gd name="connsiteY1" fmla="*/ 839668 h 839668"/>
              <a:gd name="connsiteX0" fmla="*/ 0 w 857408"/>
              <a:gd name="connsiteY0" fmla="*/ 0 h 839668"/>
              <a:gd name="connsiteX1" fmla="*/ 857408 w 857408"/>
              <a:gd name="connsiteY1" fmla="*/ 839668 h 83966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Lst>
            <a:ahLst/>
            <a:cxnLst>
              <a:cxn ang="0">
                <a:pos x="connsiteX0" y="connsiteY0"/>
              </a:cxn>
              <a:cxn ang="0">
                <a:pos x="connsiteX1" y="connsiteY1"/>
              </a:cxn>
            </a:cxnLst>
            <a:rect l="l" t="t" r="r" b="b"/>
            <a:pathLst>
              <a:path w="653012" h="291028">
                <a:moveTo>
                  <a:pt x="0" y="0"/>
                </a:moveTo>
                <a:cubicBezTo>
                  <a:pt x="192569" y="222515"/>
                  <a:pt x="352865" y="272910"/>
                  <a:pt x="653012" y="291028"/>
                </a:cubicBezTo>
              </a:path>
            </a:pathLst>
          </a:custGeom>
          <a:ln w="25400">
            <a:solidFill>
              <a:schemeClr val="accent3"/>
            </a:solidFill>
            <a:miter lim="8000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90" name="TextBox 89">
            <a:extLst>
              <a:ext uri="{FF2B5EF4-FFF2-40B4-BE49-F238E27FC236}">
                <a16:creationId xmlns:a16="http://schemas.microsoft.com/office/drawing/2014/main" id="{359FF6F0-A8C4-9A7A-6919-F6EC07E0058D}"/>
              </a:ext>
            </a:extLst>
          </p:cNvPr>
          <p:cNvSpPr txBox="1"/>
          <p:nvPr/>
        </p:nvSpPr>
        <p:spPr>
          <a:xfrm>
            <a:off x="2810609" y="3699276"/>
            <a:ext cx="1003219" cy="169233"/>
          </a:xfrm>
          <a:prstGeom prst="rect">
            <a:avLst/>
          </a:prstGeom>
          <a:noFill/>
        </p:spPr>
        <p:txBody>
          <a:bodyPr wrap="none" lIns="0" tIns="0" rIns="0" bIns="0" rtlCol="0">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panose="020B0604020202020204"/>
                <a:ea typeface="+mn-ea"/>
                <a:cs typeface="+mn-cs"/>
              </a:rPr>
              <a:t>vCenter Server</a:t>
            </a:r>
          </a:p>
        </p:txBody>
      </p:sp>
    </p:spTree>
    <p:extLst>
      <p:ext uri="{BB962C8B-B14F-4D97-AF65-F5344CB8AC3E}">
        <p14:creationId xmlns:p14="http://schemas.microsoft.com/office/powerpoint/2010/main" val="56573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89D65-F8FC-5F5A-3DE1-1ED3E47AB800}"/>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F6E348BF-7F56-2A15-9AD6-78CA7992C7FA}"/>
              </a:ext>
            </a:extLst>
          </p:cNvPr>
          <p:cNvSpPr>
            <a:spLocks noGrp="1"/>
          </p:cNvSpPr>
          <p:nvPr>
            <p:ph type="title"/>
          </p:nvPr>
        </p:nvSpPr>
        <p:spPr/>
        <p:txBody>
          <a:bodyPr/>
          <a:lstStyle/>
          <a:p>
            <a:r>
              <a:rPr lang="en-US" dirty="0"/>
              <a:t>Connect to Multiple vCenter Servers in a Single vSphere Client</a:t>
            </a:r>
          </a:p>
        </p:txBody>
      </p:sp>
      <p:sp>
        <p:nvSpPr>
          <p:cNvPr id="13" name="Subtitle 12">
            <a:extLst>
              <a:ext uri="{FF2B5EF4-FFF2-40B4-BE49-F238E27FC236}">
                <a16:creationId xmlns:a16="http://schemas.microsoft.com/office/drawing/2014/main" id="{85457678-C9A5-A4CC-9429-9F6DEF2260BA}"/>
              </a:ext>
            </a:extLst>
          </p:cNvPr>
          <p:cNvSpPr>
            <a:spLocks noGrp="1"/>
          </p:cNvSpPr>
          <p:nvPr>
            <p:ph type="subTitle" idx="10"/>
          </p:nvPr>
        </p:nvSpPr>
        <p:spPr/>
        <p:txBody>
          <a:bodyPr/>
          <a:lstStyle/>
          <a:p>
            <a:r>
              <a:rPr lang="en-US" dirty="0"/>
              <a:t>New vCenter Linking is the successor to Enhanced Linked Mode (ELM)</a:t>
            </a:r>
          </a:p>
        </p:txBody>
      </p:sp>
      <p:sp>
        <p:nvSpPr>
          <p:cNvPr id="15" name="Text Placeholder 14">
            <a:extLst>
              <a:ext uri="{FF2B5EF4-FFF2-40B4-BE49-F238E27FC236}">
                <a16:creationId xmlns:a16="http://schemas.microsoft.com/office/drawing/2014/main" id="{32242F68-85A0-55A5-8B29-B41C3545DE0A}"/>
              </a:ext>
            </a:extLst>
          </p:cNvPr>
          <p:cNvSpPr>
            <a:spLocks noGrp="1"/>
          </p:cNvSpPr>
          <p:nvPr>
            <p:ph type="body" sz="quarter" idx="17"/>
          </p:nvPr>
        </p:nvSpPr>
        <p:spPr/>
        <p:txBody>
          <a:bodyPr/>
          <a:lstStyle/>
          <a:p>
            <a:r>
              <a:rPr lang="en-US" dirty="0"/>
              <a:t>Create a single pane of glass for vSphere management: Combine VCF Single Sign-On with vCenter Linking</a:t>
            </a:r>
          </a:p>
          <a:p>
            <a:r>
              <a:rPr lang="en-US" dirty="0"/>
              <a:t>Replaces Enhanced Link Mode, which is no longer supported in VCF 9</a:t>
            </a:r>
          </a:p>
          <a:p>
            <a:r>
              <a:rPr lang="en-US" dirty="0"/>
              <a:t>Reduces friction for vSphere administrators as they access and manage multiple workload domains</a:t>
            </a:r>
          </a:p>
          <a:p>
            <a:endParaRPr lang="en-US" dirty="0"/>
          </a:p>
        </p:txBody>
      </p:sp>
      <p:pic>
        <p:nvPicPr>
          <p:cNvPr id="8" name="Picture 7">
            <a:extLst>
              <a:ext uri="{FF2B5EF4-FFF2-40B4-BE49-F238E27FC236}">
                <a16:creationId xmlns:a16="http://schemas.microsoft.com/office/drawing/2014/main" id="{E9A93986-A4D6-3988-7CB6-405F6DE17241}"/>
              </a:ext>
            </a:extLst>
          </p:cNvPr>
          <p:cNvPicPr>
            <a:picLocks noChangeAspect="1"/>
          </p:cNvPicPr>
          <p:nvPr/>
        </p:nvPicPr>
        <p:blipFill>
          <a:blip r:embed="rId3"/>
          <a:stretch>
            <a:fillRect/>
          </a:stretch>
        </p:blipFill>
        <p:spPr>
          <a:xfrm>
            <a:off x="4708991" y="1596237"/>
            <a:ext cx="2678049" cy="1379601"/>
          </a:xfrm>
          <a:prstGeom prst="rect">
            <a:avLst/>
          </a:prstGeom>
        </p:spPr>
      </p:pic>
      <p:sp>
        <p:nvSpPr>
          <p:cNvPr id="16" name="Rectangle 15">
            <a:extLst>
              <a:ext uri="{FF2B5EF4-FFF2-40B4-BE49-F238E27FC236}">
                <a16:creationId xmlns:a16="http://schemas.microsoft.com/office/drawing/2014/main" id="{CEAEE448-B63F-C508-C82D-AEAA40E3E81A}"/>
              </a:ext>
            </a:extLst>
          </p:cNvPr>
          <p:cNvSpPr/>
          <p:nvPr/>
        </p:nvSpPr>
        <p:spPr bwMode="gray">
          <a:xfrm>
            <a:off x="578558" y="1733950"/>
            <a:ext cx="4006142" cy="982238"/>
          </a:xfrm>
          <a:prstGeom prst="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rPr>
              <a:t>Infrastructure Operations</a:t>
            </a:r>
            <a:br>
              <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rPr>
            </a:br>
            <a:r>
              <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sym typeface="Wingdings" pitchFamily="2" charset="2"/>
              </a:rPr>
              <a:t> Configurations</a:t>
            </a: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 name="Google Shape;1527;p8">
            <a:extLst>
              <a:ext uri="{FF2B5EF4-FFF2-40B4-BE49-F238E27FC236}">
                <a16:creationId xmlns:a16="http://schemas.microsoft.com/office/drawing/2014/main" id="{73D43EEC-048C-4361-63AF-85E7C2759C10}"/>
              </a:ext>
            </a:extLst>
          </p:cNvPr>
          <p:cNvSpPr/>
          <p:nvPr/>
        </p:nvSpPr>
        <p:spPr>
          <a:xfrm>
            <a:off x="487845" y="3001187"/>
            <a:ext cx="6920262" cy="3125962"/>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5" name="Picture 4">
            <a:extLst>
              <a:ext uri="{FF2B5EF4-FFF2-40B4-BE49-F238E27FC236}">
                <a16:creationId xmlns:a16="http://schemas.microsoft.com/office/drawing/2014/main" id="{F8CDEBFD-F8D4-D145-25AB-8C5D5973D05F}"/>
              </a:ext>
            </a:extLst>
          </p:cNvPr>
          <p:cNvPicPr>
            <a:picLocks noChangeAspect="1"/>
          </p:cNvPicPr>
          <p:nvPr/>
        </p:nvPicPr>
        <p:blipFill>
          <a:blip r:embed="rId4"/>
          <a:stretch>
            <a:fillRect/>
          </a:stretch>
        </p:blipFill>
        <p:spPr>
          <a:xfrm>
            <a:off x="560249" y="3078733"/>
            <a:ext cx="6778934" cy="2920444"/>
          </a:xfrm>
          <a:prstGeom prst="rect">
            <a:avLst/>
          </a:prstGeom>
        </p:spPr>
      </p:pic>
    </p:spTree>
    <p:extLst>
      <p:ext uri="{BB962C8B-B14F-4D97-AF65-F5344CB8AC3E}">
        <p14:creationId xmlns:p14="http://schemas.microsoft.com/office/powerpoint/2010/main" val="3419689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FC835-20E2-DEB4-B24E-F47D7FFFB9EA}"/>
            </a:ext>
          </a:extLst>
        </p:cNvPr>
        <p:cNvGrpSpPr/>
        <p:nvPr/>
      </p:nvGrpSpPr>
      <p:grpSpPr>
        <a:xfrm>
          <a:off x="0" y="0"/>
          <a:ext cx="0" cy="0"/>
          <a:chOff x="0" y="0"/>
          <a:chExt cx="0" cy="0"/>
        </a:xfrm>
      </p:grpSpPr>
      <p:sp>
        <p:nvSpPr>
          <p:cNvPr id="9" name="Google Shape;1527;p8">
            <a:extLst>
              <a:ext uri="{FF2B5EF4-FFF2-40B4-BE49-F238E27FC236}">
                <a16:creationId xmlns:a16="http://schemas.microsoft.com/office/drawing/2014/main" id="{197CBB2F-CD40-10EF-EEB7-02AC0A2BFFCD}"/>
              </a:ext>
            </a:extLst>
          </p:cNvPr>
          <p:cNvSpPr/>
          <p:nvPr/>
        </p:nvSpPr>
        <p:spPr>
          <a:xfrm>
            <a:off x="594298" y="1610005"/>
            <a:ext cx="7438027" cy="4436100"/>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 name="Title 27">
            <a:extLst>
              <a:ext uri="{FF2B5EF4-FFF2-40B4-BE49-F238E27FC236}">
                <a16:creationId xmlns:a16="http://schemas.microsoft.com/office/drawing/2014/main" id="{001EEA9B-5F61-611C-CB4D-CE5669C84D18}"/>
              </a:ext>
            </a:extLst>
          </p:cNvPr>
          <p:cNvSpPr>
            <a:spLocks noGrp="1"/>
          </p:cNvSpPr>
          <p:nvPr>
            <p:ph type="title"/>
          </p:nvPr>
        </p:nvSpPr>
        <p:spPr>
          <a:xfrm>
            <a:off x="581245" y="413536"/>
            <a:ext cx="10998139" cy="380901"/>
          </a:xfrm>
        </p:spPr>
        <p:txBody>
          <a:bodyPr/>
          <a:lstStyle/>
          <a:p>
            <a:r>
              <a:rPr lang="en-US"/>
              <a:t>Centralized Certificate Management</a:t>
            </a:r>
            <a:endParaRPr lang="en-US" dirty="0"/>
          </a:p>
        </p:txBody>
      </p:sp>
      <p:sp>
        <p:nvSpPr>
          <p:cNvPr id="29" name="Subtitle 28">
            <a:extLst>
              <a:ext uri="{FF2B5EF4-FFF2-40B4-BE49-F238E27FC236}">
                <a16:creationId xmlns:a16="http://schemas.microsoft.com/office/drawing/2014/main" id="{5B0D8C95-54D2-1C29-DCD2-A132BE86DCC6}"/>
              </a:ext>
            </a:extLst>
          </p:cNvPr>
          <p:cNvSpPr>
            <a:spLocks noGrp="1"/>
          </p:cNvSpPr>
          <p:nvPr>
            <p:ph type="subTitle" idx="10"/>
          </p:nvPr>
        </p:nvSpPr>
        <p:spPr>
          <a:xfrm>
            <a:off x="594300" y="812513"/>
            <a:ext cx="10959832" cy="247678"/>
          </a:xfrm>
        </p:spPr>
        <p:txBody>
          <a:bodyPr/>
          <a:lstStyle/>
          <a:p>
            <a:r>
              <a:rPr lang="en-US"/>
              <a:t>Non-disruptive certificate updates for VCF infrastructure and management components</a:t>
            </a:r>
            <a:endParaRPr lang="en-US" dirty="0"/>
          </a:p>
        </p:txBody>
      </p:sp>
      <p:sp>
        <p:nvSpPr>
          <p:cNvPr id="12" name="Text Placeholder 11">
            <a:extLst>
              <a:ext uri="{FF2B5EF4-FFF2-40B4-BE49-F238E27FC236}">
                <a16:creationId xmlns:a16="http://schemas.microsoft.com/office/drawing/2014/main" id="{9C3A8192-761C-A213-C7FA-3243D8A08A7C}"/>
              </a:ext>
            </a:extLst>
          </p:cNvPr>
          <p:cNvSpPr>
            <a:spLocks noGrp="1"/>
          </p:cNvSpPr>
          <p:nvPr>
            <p:ph type="body" sz="quarter" idx="17"/>
          </p:nvPr>
        </p:nvSpPr>
        <p:spPr>
          <a:xfrm>
            <a:off x="8379818" y="1600676"/>
            <a:ext cx="3807420" cy="4570809"/>
          </a:xfrm>
        </p:spPr>
        <p:txBody>
          <a:bodyPr/>
          <a:lstStyle/>
          <a:p>
            <a:r>
              <a:rPr lang="en-US" dirty="0"/>
              <a:t>One interface to manage certificates for VCF Infrastructure &amp; Management components</a:t>
            </a:r>
          </a:p>
          <a:p>
            <a:r>
              <a:rPr lang="en-US" dirty="0"/>
              <a:t>Supports Microsoft, OpenSSL, or external certificate authorities</a:t>
            </a:r>
          </a:p>
          <a:p>
            <a:r>
              <a:rPr lang="en-US" dirty="0"/>
              <a:t>Automatic renewal</a:t>
            </a:r>
          </a:p>
          <a:p>
            <a:r>
              <a:rPr lang="en-US" dirty="0"/>
              <a:t>VCF Operations alerts configured out of the box</a:t>
            </a:r>
          </a:p>
          <a:p>
            <a:r>
              <a:rPr lang="en-US" dirty="0"/>
              <a:t>Manage VMware ESX host certs</a:t>
            </a:r>
          </a:p>
          <a:p>
            <a:r>
              <a:rPr lang="en-US" dirty="0"/>
              <a:t>New non-disruptive (NDC) architecture delivers fast and reliable certificate updates</a:t>
            </a:r>
          </a:p>
        </p:txBody>
      </p:sp>
      <p:sp>
        <p:nvSpPr>
          <p:cNvPr id="15" name="Bent Arrow 14">
            <a:extLst>
              <a:ext uri="{FF2B5EF4-FFF2-40B4-BE49-F238E27FC236}">
                <a16:creationId xmlns:a16="http://schemas.microsoft.com/office/drawing/2014/main" id="{F1673AA0-7CBB-A7AF-0C54-DDA2A670D0FC}"/>
              </a:ext>
            </a:extLst>
          </p:cNvPr>
          <p:cNvSpPr/>
          <p:nvPr/>
        </p:nvSpPr>
        <p:spPr bwMode="gray">
          <a:xfrm rot="5400000">
            <a:off x="5299534" y="2089643"/>
            <a:ext cx="1709105" cy="1432823"/>
          </a:xfrm>
          <a:prstGeom prst="bentArrow">
            <a:avLst>
              <a:gd name="adj1" fmla="val 9936"/>
              <a:gd name="adj2" fmla="val 17504"/>
              <a:gd name="adj3" fmla="val 25000"/>
              <a:gd name="adj4" fmla="val 43750"/>
            </a:avLst>
          </a:prstGeom>
          <a:solidFill>
            <a:schemeClr val="accent3"/>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6" name="Google Shape;1527;p8">
            <a:extLst>
              <a:ext uri="{FF2B5EF4-FFF2-40B4-BE49-F238E27FC236}">
                <a16:creationId xmlns:a16="http://schemas.microsoft.com/office/drawing/2014/main" id="{4AF35D29-8973-AA2C-21FB-A8354CCBD706}"/>
              </a:ext>
            </a:extLst>
          </p:cNvPr>
          <p:cNvSpPr/>
          <p:nvPr/>
        </p:nvSpPr>
        <p:spPr>
          <a:xfrm>
            <a:off x="670480" y="1676855"/>
            <a:ext cx="4753142" cy="3834403"/>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14" name="Picture 13">
            <a:extLst>
              <a:ext uri="{FF2B5EF4-FFF2-40B4-BE49-F238E27FC236}">
                <a16:creationId xmlns:a16="http://schemas.microsoft.com/office/drawing/2014/main" id="{8E9ABC88-4B9D-D2A3-6143-A4B2B27F50B5}"/>
              </a:ext>
            </a:extLst>
          </p:cNvPr>
          <p:cNvPicPr>
            <a:picLocks noChangeAspect="1"/>
          </p:cNvPicPr>
          <p:nvPr/>
        </p:nvPicPr>
        <p:blipFill>
          <a:blip r:embed="rId3"/>
          <a:stretch>
            <a:fillRect/>
          </a:stretch>
        </p:blipFill>
        <p:spPr>
          <a:xfrm>
            <a:off x="685345" y="1764691"/>
            <a:ext cx="4723413" cy="3639686"/>
          </a:xfrm>
          <a:prstGeom prst="rect">
            <a:avLst/>
          </a:prstGeom>
        </p:spPr>
      </p:pic>
      <p:sp>
        <p:nvSpPr>
          <p:cNvPr id="10" name="Google Shape;1527;p8">
            <a:extLst>
              <a:ext uri="{FF2B5EF4-FFF2-40B4-BE49-F238E27FC236}">
                <a16:creationId xmlns:a16="http://schemas.microsoft.com/office/drawing/2014/main" id="{30E601F9-2481-A4B4-713C-0A31E4D95A1A}"/>
              </a:ext>
            </a:extLst>
          </p:cNvPr>
          <p:cNvSpPr/>
          <p:nvPr/>
        </p:nvSpPr>
        <p:spPr>
          <a:xfrm>
            <a:off x="1702945" y="3734864"/>
            <a:ext cx="6145657" cy="2191022"/>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11" name="Picture 10">
            <a:extLst>
              <a:ext uri="{FF2B5EF4-FFF2-40B4-BE49-F238E27FC236}">
                <a16:creationId xmlns:a16="http://schemas.microsoft.com/office/drawing/2014/main" id="{EF9FFD6F-99E8-0996-99E9-9BA1CF7C9DAE}"/>
              </a:ext>
            </a:extLst>
          </p:cNvPr>
          <p:cNvPicPr>
            <a:picLocks noChangeAspect="1"/>
          </p:cNvPicPr>
          <p:nvPr/>
        </p:nvPicPr>
        <p:blipFill>
          <a:blip r:embed="rId4"/>
          <a:stretch>
            <a:fillRect/>
          </a:stretch>
        </p:blipFill>
        <p:spPr>
          <a:xfrm>
            <a:off x="1767240" y="3778759"/>
            <a:ext cx="6030575" cy="2149194"/>
          </a:xfrm>
          <a:prstGeom prst="rect">
            <a:avLst/>
          </a:prstGeom>
          <a:ln>
            <a:noFill/>
          </a:ln>
        </p:spPr>
      </p:pic>
    </p:spTree>
    <p:extLst>
      <p:ext uri="{BB962C8B-B14F-4D97-AF65-F5344CB8AC3E}">
        <p14:creationId xmlns:p14="http://schemas.microsoft.com/office/powerpoint/2010/main" val="3616990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p:tgtEl>
                                          <p:spTgt spid="15"/>
                                        </p:tgtEl>
                                        <p:attrNameLst>
                                          <p:attrName>ppt_y</p:attrName>
                                        </p:attrNameLst>
                                      </p:cBhvr>
                                      <p:tavLst>
                                        <p:tav tm="0">
                                          <p:val>
                                            <p:strVal val="#ppt_y-#ppt_h*1.125000"/>
                                          </p:val>
                                        </p:tav>
                                        <p:tav tm="100000">
                                          <p:val>
                                            <p:strVal val="#ppt_y"/>
                                          </p:val>
                                        </p:tav>
                                      </p:tavLst>
                                    </p:anim>
                                    <p:animEffect transition="in" filter="wipe(down)">
                                      <p:cBhvr>
                                        <p:cTn id="8" dur="500"/>
                                        <p:tgtEl>
                                          <p:spTgt spid="15"/>
                                        </p:tgtEl>
                                      </p:cBhvr>
                                    </p:animEffect>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p:tgtEl>
                                          <p:spTgt spid="11"/>
                                        </p:tgtEl>
                                        <p:attrNameLst>
                                          <p:attrName>ppt_y</p:attrName>
                                        </p:attrNameLst>
                                      </p:cBhvr>
                                      <p:tavLst>
                                        <p:tav tm="0">
                                          <p:val>
                                            <p:strVal val="#ppt_y-#ppt_h*1.125000"/>
                                          </p:val>
                                        </p:tav>
                                        <p:tav tm="100000">
                                          <p:val>
                                            <p:strVal val="#ppt_y"/>
                                          </p:val>
                                        </p:tav>
                                      </p:tavLst>
                                    </p:anim>
                                    <p:animEffect transition="in" filter="wipe(down)">
                                      <p:cBhvr>
                                        <p:cTn id="13" dur="500"/>
                                        <p:tgtEl>
                                          <p:spTgt spid="11"/>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up)">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0"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5790C-9648-6584-5E0A-C507A07411C1}"/>
            </a:ext>
          </a:extLst>
        </p:cNvPr>
        <p:cNvGrpSpPr/>
        <p:nvPr/>
      </p:nvGrpSpPr>
      <p:grpSpPr>
        <a:xfrm>
          <a:off x="0" y="0"/>
          <a:ext cx="0" cy="0"/>
          <a:chOff x="0" y="0"/>
          <a:chExt cx="0" cy="0"/>
        </a:xfrm>
      </p:grpSpPr>
      <p:sp>
        <p:nvSpPr>
          <p:cNvPr id="10" name="Google Shape;1527;p8">
            <a:extLst>
              <a:ext uri="{FF2B5EF4-FFF2-40B4-BE49-F238E27FC236}">
                <a16:creationId xmlns:a16="http://schemas.microsoft.com/office/drawing/2014/main" id="{6A69E1F2-0250-0D27-E0E5-2D36DBB0ABE8}"/>
              </a:ext>
            </a:extLst>
          </p:cNvPr>
          <p:cNvSpPr/>
          <p:nvPr/>
        </p:nvSpPr>
        <p:spPr>
          <a:xfrm>
            <a:off x="594298" y="1610005"/>
            <a:ext cx="7438027" cy="4436100"/>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 name="Title 1">
            <a:extLst>
              <a:ext uri="{FF2B5EF4-FFF2-40B4-BE49-F238E27FC236}">
                <a16:creationId xmlns:a16="http://schemas.microsoft.com/office/drawing/2014/main" id="{D7590398-783D-9274-7D1E-E727C55F2ABD}"/>
              </a:ext>
            </a:extLst>
          </p:cNvPr>
          <p:cNvSpPr>
            <a:spLocks noGrp="1"/>
          </p:cNvSpPr>
          <p:nvPr>
            <p:ph type="title"/>
          </p:nvPr>
        </p:nvSpPr>
        <p:spPr>
          <a:xfrm>
            <a:off x="581245" y="413536"/>
            <a:ext cx="10998139" cy="380901"/>
          </a:xfrm>
        </p:spPr>
        <p:txBody>
          <a:bodyPr/>
          <a:lstStyle/>
          <a:p>
            <a:r>
              <a:rPr lang="en-US" dirty="0"/>
              <a:t>Centralized Password Management</a:t>
            </a:r>
          </a:p>
        </p:txBody>
      </p:sp>
      <p:sp>
        <p:nvSpPr>
          <p:cNvPr id="3" name="Subtitle 2">
            <a:extLst>
              <a:ext uri="{FF2B5EF4-FFF2-40B4-BE49-F238E27FC236}">
                <a16:creationId xmlns:a16="http://schemas.microsoft.com/office/drawing/2014/main" id="{A226B4A1-F069-DB84-94BC-F0FAE7243F8C}"/>
              </a:ext>
            </a:extLst>
          </p:cNvPr>
          <p:cNvSpPr>
            <a:spLocks noGrp="1"/>
          </p:cNvSpPr>
          <p:nvPr>
            <p:ph type="subTitle" idx="10"/>
          </p:nvPr>
        </p:nvSpPr>
        <p:spPr>
          <a:xfrm>
            <a:off x="594300" y="812513"/>
            <a:ext cx="10959832" cy="247678"/>
          </a:xfrm>
        </p:spPr>
        <p:txBody>
          <a:bodyPr/>
          <a:lstStyle/>
          <a:p>
            <a:r>
              <a:rPr lang="en-US" dirty="0"/>
              <a:t>Simplified password management across infrastructure and management components</a:t>
            </a:r>
          </a:p>
        </p:txBody>
      </p:sp>
      <p:sp>
        <p:nvSpPr>
          <p:cNvPr id="4" name="Text Placeholder 3">
            <a:extLst>
              <a:ext uri="{FF2B5EF4-FFF2-40B4-BE49-F238E27FC236}">
                <a16:creationId xmlns:a16="http://schemas.microsoft.com/office/drawing/2014/main" id="{184665DA-1F87-9B24-43C1-E85129D8B71F}"/>
              </a:ext>
            </a:extLst>
          </p:cNvPr>
          <p:cNvSpPr>
            <a:spLocks noGrp="1"/>
          </p:cNvSpPr>
          <p:nvPr>
            <p:ph type="body" sz="quarter" idx="17"/>
          </p:nvPr>
        </p:nvSpPr>
        <p:spPr>
          <a:xfrm>
            <a:off x="8379818" y="1600676"/>
            <a:ext cx="3807420" cy="4570809"/>
          </a:xfrm>
        </p:spPr>
        <p:txBody>
          <a:bodyPr/>
          <a:lstStyle/>
          <a:p>
            <a:r>
              <a:rPr lang="en-US" dirty="0"/>
              <a:t>Manage the key “break glass” admin accounts for VCF components</a:t>
            </a:r>
          </a:p>
          <a:p>
            <a:r>
              <a:rPr lang="en-US" dirty="0"/>
              <a:t>Passwords can be </a:t>
            </a:r>
            <a:r>
              <a:rPr lang="en-US" b="1" dirty="0"/>
              <a:t>reset</a:t>
            </a:r>
            <a:r>
              <a:rPr lang="en-US" dirty="0"/>
              <a:t> in the case they are forgotten</a:t>
            </a:r>
          </a:p>
          <a:p>
            <a:r>
              <a:rPr lang="en-US" b="1" dirty="0"/>
              <a:t>Remediation</a:t>
            </a:r>
            <a:r>
              <a:rPr lang="en-US" dirty="0"/>
              <a:t> is used to sync a password that was changed directly on a component</a:t>
            </a:r>
          </a:p>
          <a:p>
            <a:r>
              <a:rPr lang="en-US" dirty="0"/>
              <a:t>VCF Operations alerts to warn of upcoming password expiration</a:t>
            </a:r>
          </a:p>
          <a:p>
            <a:r>
              <a:rPr lang="en-US" dirty="0"/>
              <a:t>No longer a need to rotate service accounts – managed internally </a:t>
            </a:r>
          </a:p>
          <a:p>
            <a:endParaRPr lang="en-US" dirty="0"/>
          </a:p>
          <a:p>
            <a:endParaRPr lang="en-US" dirty="0"/>
          </a:p>
        </p:txBody>
      </p:sp>
      <p:pic>
        <p:nvPicPr>
          <p:cNvPr id="11" name="Picture 10" descr="A screenshot of a computer&#10;&#10;AI-generated content may be incorrect.">
            <a:extLst>
              <a:ext uri="{FF2B5EF4-FFF2-40B4-BE49-F238E27FC236}">
                <a16:creationId xmlns:a16="http://schemas.microsoft.com/office/drawing/2014/main" id="{816247DF-7C99-6344-E698-C839EAADB645}"/>
              </a:ext>
            </a:extLst>
          </p:cNvPr>
          <p:cNvPicPr preferRelativeResize="0">
            <a:picLocks noChangeAspect="1"/>
          </p:cNvPicPr>
          <p:nvPr/>
        </p:nvPicPr>
        <p:blipFill>
          <a:blip r:embed="rId3"/>
          <a:stretch>
            <a:fillRect/>
          </a:stretch>
        </p:blipFill>
        <p:spPr>
          <a:xfrm>
            <a:off x="661943" y="1675642"/>
            <a:ext cx="7318389" cy="4086210"/>
          </a:xfrm>
          <a:prstGeom prst="rect">
            <a:avLst/>
          </a:prstGeom>
        </p:spPr>
      </p:pic>
    </p:spTree>
    <p:extLst>
      <p:ext uri="{BB962C8B-B14F-4D97-AF65-F5344CB8AC3E}">
        <p14:creationId xmlns:p14="http://schemas.microsoft.com/office/powerpoint/2010/main" val="3700998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EC29B-E871-C19E-834E-BC70EE80FCDC}"/>
            </a:ext>
          </a:extLst>
        </p:cNvPr>
        <p:cNvGrpSpPr/>
        <p:nvPr/>
      </p:nvGrpSpPr>
      <p:grpSpPr>
        <a:xfrm>
          <a:off x="0" y="0"/>
          <a:ext cx="0" cy="0"/>
          <a:chOff x="0" y="0"/>
          <a:chExt cx="0" cy="0"/>
        </a:xfrm>
      </p:grpSpPr>
      <p:sp>
        <p:nvSpPr>
          <p:cNvPr id="17" name="Google Shape;1527;p8">
            <a:extLst>
              <a:ext uri="{FF2B5EF4-FFF2-40B4-BE49-F238E27FC236}">
                <a16:creationId xmlns:a16="http://schemas.microsoft.com/office/drawing/2014/main" id="{0EE3B07F-877A-945E-949A-81610ECFCA51}"/>
              </a:ext>
            </a:extLst>
          </p:cNvPr>
          <p:cNvSpPr/>
          <p:nvPr/>
        </p:nvSpPr>
        <p:spPr>
          <a:xfrm>
            <a:off x="536094" y="1610005"/>
            <a:ext cx="7370777" cy="4513704"/>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 name="Title 6">
            <a:extLst>
              <a:ext uri="{FF2B5EF4-FFF2-40B4-BE49-F238E27FC236}">
                <a16:creationId xmlns:a16="http://schemas.microsoft.com/office/drawing/2014/main" id="{1E87E740-B928-272C-EA36-DCA92D32789F}"/>
              </a:ext>
            </a:extLst>
          </p:cNvPr>
          <p:cNvSpPr>
            <a:spLocks noGrp="1"/>
          </p:cNvSpPr>
          <p:nvPr>
            <p:ph type="title"/>
          </p:nvPr>
        </p:nvSpPr>
        <p:spPr/>
        <p:txBody>
          <a:bodyPr/>
          <a:lstStyle/>
          <a:p>
            <a:r>
              <a:rPr lang="en-US" dirty="0"/>
              <a:t>Easily Monitor and Address Configuration Differences</a:t>
            </a:r>
          </a:p>
        </p:txBody>
      </p:sp>
      <p:sp>
        <p:nvSpPr>
          <p:cNvPr id="8" name="Subtitle 7">
            <a:extLst>
              <a:ext uri="{FF2B5EF4-FFF2-40B4-BE49-F238E27FC236}">
                <a16:creationId xmlns:a16="http://schemas.microsoft.com/office/drawing/2014/main" id="{994FADCF-5DF0-F421-8DAB-8B521D46350A}"/>
              </a:ext>
            </a:extLst>
          </p:cNvPr>
          <p:cNvSpPr>
            <a:spLocks noGrp="1"/>
          </p:cNvSpPr>
          <p:nvPr>
            <p:ph type="subTitle" idx="10"/>
          </p:nvPr>
        </p:nvSpPr>
        <p:spPr/>
        <p:txBody>
          <a:bodyPr/>
          <a:lstStyle/>
          <a:p>
            <a:r>
              <a:rPr lang="en-US"/>
              <a:t>Configuration Drift Management and Assessment</a:t>
            </a:r>
          </a:p>
          <a:p>
            <a:endParaRPr lang="en-US" dirty="0"/>
          </a:p>
        </p:txBody>
      </p:sp>
      <p:sp>
        <p:nvSpPr>
          <p:cNvPr id="4" name="Text Placeholder 3">
            <a:extLst>
              <a:ext uri="{FF2B5EF4-FFF2-40B4-BE49-F238E27FC236}">
                <a16:creationId xmlns:a16="http://schemas.microsoft.com/office/drawing/2014/main" id="{76633422-28B1-E7F1-A285-4BCDE0623254}"/>
              </a:ext>
            </a:extLst>
          </p:cNvPr>
          <p:cNvSpPr>
            <a:spLocks noGrp="1"/>
          </p:cNvSpPr>
          <p:nvPr>
            <p:ph type="body" sz="quarter" idx="17"/>
          </p:nvPr>
        </p:nvSpPr>
        <p:spPr>
          <a:xfrm>
            <a:off x="8379818" y="1600676"/>
            <a:ext cx="3807420" cy="4570809"/>
          </a:xfrm>
        </p:spPr>
        <p:txBody>
          <a:bodyPr/>
          <a:lstStyle/>
          <a:p>
            <a:r>
              <a:rPr lang="en-US" dirty="0"/>
              <a:t>Centrally monitor configuration drift across clusters and </a:t>
            </a:r>
            <a:r>
              <a:rPr lang="en-US" dirty="0" err="1"/>
              <a:t>vCenters</a:t>
            </a:r>
            <a:endParaRPr lang="en-US" dirty="0"/>
          </a:p>
          <a:p>
            <a:pPr lvl="1"/>
            <a:r>
              <a:rPr lang="en-US" dirty="0"/>
              <a:t>Deliver smooth operations with consistency and compliance</a:t>
            </a:r>
          </a:p>
          <a:p>
            <a:pPr lvl="1"/>
            <a:r>
              <a:rPr lang="en-US" dirty="0"/>
              <a:t>Reduce risk of security breaches</a:t>
            </a:r>
          </a:p>
          <a:p>
            <a:pPr lvl="1"/>
            <a:r>
              <a:rPr lang="en-US" dirty="0"/>
              <a:t>Ensure environments run smoothly</a:t>
            </a:r>
          </a:p>
          <a:p>
            <a:pPr lvl="1"/>
            <a:r>
              <a:rPr lang="en-US" dirty="0"/>
              <a:t>Automate Drift Detection </a:t>
            </a:r>
          </a:p>
          <a:p>
            <a:pPr lvl="1"/>
            <a:r>
              <a:rPr lang="en-US" dirty="0"/>
              <a:t>Schedule Configuration Drift Reports &amp; automate drift detection</a:t>
            </a:r>
          </a:p>
          <a:p>
            <a:pPr lvl="1"/>
            <a:r>
              <a:rPr lang="en-US" dirty="0"/>
              <a:t>Create and edit Configuration Drift templates</a:t>
            </a:r>
          </a:p>
          <a:p>
            <a:pPr lvl="1"/>
            <a:r>
              <a:rPr lang="en-US" dirty="0"/>
              <a:t>Control template versioning with Git-Integration</a:t>
            </a:r>
          </a:p>
          <a:p>
            <a:endParaRPr lang="en-US" dirty="0"/>
          </a:p>
        </p:txBody>
      </p:sp>
      <p:grpSp>
        <p:nvGrpSpPr>
          <p:cNvPr id="16" name="Group 15">
            <a:extLst>
              <a:ext uri="{FF2B5EF4-FFF2-40B4-BE49-F238E27FC236}">
                <a16:creationId xmlns:a16="http://schemas.microsoft.com/office/drawing/2014/main" id="{C1E7A21E-4E87-2BAC-D1FE-5CEE642EE8FE}"/>
              </a:ext>
            </a:extLst>
          </p:cNvPr>
          <p:cNvGrpSpPr>
            <a:grpSpLocks noChangeAspect="1"/>
          </p:cNvGrpSpPr>
          <p:nvPr/>
        </p:nvGrpSpPr>
        <p:grpSpPr>
          <a:xfrm>
            <a:off x="614118" y="1681562"/>
            <a:ext cx="7196024" cy="4362999"/>
            <a:chOff x="612940" y="1680380"/>
            <a:chExt cx="7772400" cy="4712462"/>
          </a:xfrm>
        </p:grpSpPr>
        <p:pic>
          <p:nvPicPr>
            <p:cNvPr id="15" name="Picture 14">
              <a:extLst>
                <a:ext uri="{FF2B5EF4-FFF2-40B4-BE49-F238E27FC236}">
                  <a16:creationId xmlns:a16="http://schemas.microsoft.com/office/drawing/2014/main" id="{64935F64-3752-887E-9B4B-265DDBDA9520}"/>
                </a:ext>
              </a:extLst>
            </p:cNvPr>
            <p:cNvPicPr>
              <a:picLocks noChangeAspect="1"/>
            </p:cNvPicPr>
            <p:nvPr/>
          </p:nvPicPr>
          <p:blipFill>
            <a:blip r:embed="rId3"/>
            <a:stretch>
              <a:fillRect/>
            </a:stretch>
          </p:blipFill>
          <p:spPr>
            <a:xfrm>
              <a:off x="612940" y="1680380"/>
              <a:ext cx="7772400" cy="4712462"/>
            </a:xfrm>
            <a:prstGeom prst="rect">
              <a:avLst/>
            </a:prstGeom>
          </p:spPr>
        </p:pic>
        <p:pic>
          <p:nvPicPr>
            <p:cNvPr id="11" name="Picture 10">
              <a:extLst>
                <a:ext uri="{FF2B5EF4-FFF2-40B4-BE49-F238E27FC236}">
                  <a16:creationId xmlns:a16="http://schemas.microsoft.com/office/drawing/2014/main" id="{076307C8-3E41-F589-D7AB-99B6C957820C}"/>
                </a:ext>
              </a:extLst>
            </p:cNvPr>
            <p:cNvPicPr preferRelativeResize="0">
              <a:picLocks noChangeAspect="1"/>
            </p:cNvPicPr>
            <p:nvPr/>
          </p:nvPicPr>
          <p:blipFill>
            <a:blip r:embed="rId4"/>
            <a:stretch>
              <a:fillRect/>
            </a:stretch>
          </p:blipFill>
          <p:spPr>
            <a:xfrm>
              <a:off x="1431875" y="2073432"/>
              <a:ext cx="6944598" cy="4284964"/>
            </a:xfrm>
            <a:prstGeom prst="rect">
              <a:avLst/>
            </a:prstGeom>
          </p:spPr>
        </p:pic>
      </p:grpSp>
    </p:spTree>
    <p:extLst>
      <p:ext uri="{BB962C8B-B14F-4D97-AF65-F5344CB8AC3E}">
        <p14:creationId xmlns:p14="http://schemas.microsoft.com/office/powerpoint/2010/main" val="1715747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24D24-736C-945D-7611-AF791300BC26}"/>
            </a:ext>
          </a:extLst>
        </p:cNvPr>
        <p:cNvGrpSpPr/>
        <p:nvPr/>
      </p:nvGrpSpPr>
      <p:grpSpPr>
        <a:xfrm>
          <a:off x="0" y="0"/>
          <a:ext cx="0" cy="0"/>
          <a:chOff x="0" y="0"/>
          <a:chExt cx="0" cy="0"/>
        </a:xfrm>
      </p:grpSpPr>
      <p:sp>
        <p:nvSpPr>
          <p:cNvPr id="12" name="Google Shape;1527;p8">
            <a:extLst>
              <a:ext uri="{FF2B5EF4-FFF2-40B4-BE49-F238E27FC236}">
                <a16:creationId xmlns:a16="http://schemas.microsoft.com/office/drawing/2014/main" id="{4A798B82-8454-8B93-66C7-BEC6FB38E29B}"/>
              </a:ext>
            </a:extLst>
          </p:cNvPr>
          <p:cNvSpPr/>
          <p:nvPr/>
        </p:nvSpPr>
        <p:spPr>
          <a:xfrm>
            <a:off x="730060" y="1610005"/>
            <a:ext cx="7290533" cy="4436100"/>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 name="Title 1">
            <a:extLst>
              <a:ext uri="{FF2B5EF4-FFF2-40B4-BE49-F238E27FC236}">
                <a16:creationId xmlns:a16="http://schemas.microsoft.com/office/drawing/2014/main" id="{52F6BE43-D3C4-94A2-0399-B4A6890F3004}"/>
              </a:ext>
            </a:extLst>
          </p:cNvPr>
          <p:cNvSpPr>
            <a:spLocks noGrp="1"/>
          </p:cNvSpPr>
          <p:nvPr>
            <p:ph type="title"/>
          </p:nvPr>
        </p:nvSpPr>
        <p:spPr/>
        <p:txBody>
          <a:bodyPr/>
          <a:lstStyle/>
          <a:p>
            <a:r>
              <a:rPr lang="en-US" dirty="0"/>
              <a:t>Manage, Identify and Organize Resources</a:t>
            </a:r>
          </a:p>
        </p:txBody>
      </p:sp>
      <p:sp>
        <p:nvSpPr>
          <p:cNvPr id="3" name="Subtitle 2">
            <a:extLst>
              <a:ext uri="{FF2B5EF4-FFF2-40B4-BE49-F238E27FC236}">
                <a16:creationId xmlns:a16="http://schemas.microsoft.com/office/drawing/2014/main" id="{F52B9B58-C9DA-2A38-2173-F22ADA57EAD7}"/>
              </a:ext>
            </a:extLst>
          </p:cNvPr>
          <p:cNvSpPr>
            <a:spLocks noGrp="1"/>
          </p:cNvSpPr>
          <p:nvPr>
            <p:ph type="subTitle" idx="10"/>
          </p:nvPr>
        </p:nvSpPr>
        <p:spPr/>
        <p:txBody>
          <a:bodyPr/>
          <a:lstStyle/>
          <a:p>
            <a:r>
              <a:rPr lang="en-US" dirty="0"/>
              <a:t>Unified Tag Management</a:t>
            </a:r>
          </a:p>
          <a:p>
            <a:endParaRPr lang="en-US" dirty="0"/>
          </a:p>
        </p:txBody>
      </p:sp>
      <p:sp>
        <p:nvSpPr>
          <p:cNvPr id="4" name="Text Placeholder 3">
            <a:extLst>
              <a:ext uri="{FF2B5EF4-FFF2-40B4-BE49-F238E27FC236}">
                <a16:creationId xmlns:a16="http://schemas.microsoft.com/office/drawing/2014/main" id="{4E65101E-C7C8-5835-4384-E966B1BE0FB1}"/>
              </a:ext>
            </a:extLst>
          </p:cNvPr>
          <p:cNvSpPr>
            <a:spLocks noGrp="1"/>
          </p:cNvSpPr>
          <p:nvPr>
            <p:ph type="body" sz="quarter" idx="17"/>
          </p:nvPr>
        </p:nvSpPr>
        <p:spPr/>
        <p:txBody>
          <a:bodyPr/>
          <a:lstStyle/>
          <a:p>
            <a:pPr lvl="0"/>
            <a:r>
              <a:rPr lang="en-US" dirty="0"/>
              <a:t>Create, edit, delete categories and tags from a single pane of glass</a:t>
            </a:r>
          </a:p>
          <a:p>
            <a:pPr lvl="0"/>
            <a:r>
              <a:rPr lang="en-US" dirty="0"/>
              <a:t>Import brownfield categories and tags from </a:t>
            </a:r>
            <a:r>
              <a:rPr lang="en-US" dirty="0" err="1"/>
              <a:t>vCenters</a:t>
            </a:r>
            <a:r>
              <a:rPr lang="en-US" dirty="0"/>
              <a:t> and evaluate conflicts</a:t>
            </a:r>
          </a:p>
          <a:p>
            <a:r>
              <a:rPr lang="en-US" dirty="0"/>
              <a:t>Push categories and tags to </a:t>
            </a:r>
            <a:r>
              <a:rPr lang="en-US" dirty="0" err="1"/>
              <a:t>vCenters</a:t>
            </a:r>
            <a:endParaRPr lang="en-US" dirty="0"/>
          </a:p>
          <a:p>
            <a:pPr lvl="0"/>
            <a:r>
              <a:rPr lang="en-US" dirty="0"/>
              <a:t>Pushed tags are persisted across </a:t>
            </a:r>
            <a:r>
              <a:rPr lang="en-US" dirty="0" err="1"/>
              <a:t>vCenters</a:t>
            </a:r>
            <a:r>
              <a:rPr lang="en-US" dirty="0"/>
              <a:t> after </a:t>
            </a:r>
            <a:r>
              <a:rPr lang="en-US" dirty="0" err="1"/>
              <a:t>vMotion</a:t>
            </a:r>
            <a:endParaRPr lang="en-US" dirty="0"/>
          </a:p>
          <a:p>
            <a:pPr lvl="0"/>
            <a:r>
              <a:rPr lang="en-US" dirty="0"/>
              <a:t>Centralized consistent behavior across services to create and manage tags</a:t>
            </a:r>
          </a:p>
          <a:p>
            <a:pPr lvl="0"/>
            <a:r>
              <a:rPr lang="en-US" dirty="0"/>
              <a:t>Identify and eliminate  duplicate tags across </a:t>
            </a:r>
            <a:r>
              <a:rPr lang="en-US" dirty="0" err="1"/>
              <a:t>vCenters</a:t>
            </a:r>
            <a:r>
              <a:rPr lang="en-US" dirty="0"/>
              <a:t> </a:t>
            </a:r>
          </a:p>
          <a:p>
            <a:endParaRPr lang="en-US" dirty="0"/>
          </a:p>
        </p:txBody>
      </p:sp>
      <p:pic>
        <p:nvPicPr>
          <p:cNvPr id="11" name="Picture 10">
            <a:extLst>
              <a:ext uri="{FF2B5EF4-FFF2-40B4-BE49-F238E27FC236}">
                <a16:creationId xmlns:a16="http://schemas.microsoft.com/office/drawing/2014/main" id="{A3523B9D-5755-7E3F-2BB1-B3CF40E20668}"/>
              </a:ext>
            </a:extLst>
          </p:cNvPr>
          <p:cNvPicPr preferRelativeResize="0">
            <a:picLocks noChangeAspect="1"/>
          </p:cNvPicPr>
          <p:nvPr/>
        </p:nvPicPr>
        <p:blipFill>
          <a:blip r:embed="rId3"/>
          <a:stretch>
            <a:fillRect/>
          </a:stretch>
        </p:blipFill>
        <p:spPr>
          <a:xfrm>
            <a:off x="794349" y="1658696"/>
            <a:ext cx="7150608" cy="4345591"/>
          </a:xfrm>
          <a:prstGeom prst="rect">
            <a:avLst/>
          </a:prstGeom>
        </p:spPr>
      </p:pic>
    </p:spTree>
    <p:extLst>
      <p:ext uri="{BB962C8B-B14F-4D97-AF65-F5344CB8AC3E}">
        <p14:creationId xmlns:p14="http://schemas.microsoft.com/office/powerpoint/2010/main" val="1028873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877">
          <a:extLst>
            <a:ext uri="{FF2B5EF4-FFF2-40B4-BE49-F238E27FC236}">
              <a16:creationId xmlns:a16="http://schemas.microsoft.com/office/drawing/2014/main" id="{2DB198AA-238F-CD31-F4CB-6929DCBE1EA1}"/>
            </a:ext>
          </a:extLst>
        </p:cNvPr>
        <p:cNvGrpSpPr/>
        <p:nvPr/>
      </p:nvGrpSpPr>
      <p:grpSpPr>
        <a:xfrm>
          <a:off x="0" y="0"/>
          <a:ext cx="0" cy="0"/>
          <a:chOff x="0" y="0"/>
          <a:chExt cx="0" cy="0"/>
        </a:xfrm>
      </p:grpSpPr>
      <p:sp>
        <p:nvSpPr>
          <p:cNvPr id="5878" name="Google Shape;5878;p70">
            <a:extLst>
              <a:ext uri="{FF2B5EF4-FFF2-40B4-BE49-F238E27FC236}">
                <a16:creationId xmlns:a16="http://schemas.microsoft.com/office/drawing/2014/main" id="{9BCC1B68-8AC0-62B7-9E0B-AE41AAECD6D9}"/>
              </a:ext>
            </a:extLst>
          </p:cNvPr>
          <p:cNvSpPr txBox="1">
            <a:spLocks noGrp="1"/>
          </p:cNvSpPr>
          <p:nvPr>
            <p:ph type="title"/>
          </p:nvPr>
        </p:nvSpPr>
        <p:spPr>
          <a:xfrm>
            <a:off x="590542" y="939442"/>
            <a:ext cx="6554264" cy="1229040"/>
          </a:xfrm>
        </p:spPr>
        <p:txBody>
          <a:bodyPr spcFirstLastPara="1" vert="horz" wrap="square" lIns="0" tIns="0" rIns="0" bIns="0" rtlCol="0" anchor="b" anchorCtr="0">
            <a:normAutofit/>
          </a:bodyPr>
          <a:lstStyle/>
          <a:p>
            <a:pPr>
              <a:spcBef>
                <a:spcPts val="0"/>
              </a:spcBef>
              <a:buClr>
                <a:schemeClr val="accent2"/>
              </a:buClr>
              <a:buSzPts val="3600"/>
            </a:pPr>
            <a:r>
              <a:rPr lang="en-US" dirty="0"/>
              <a:t>Modernize Infrastructure</a:t>
            </a:r>
            <a:br>
              <a:rPr lang="en-US" dirty="0"/>
            </a:br>
            <a:r>
              <a:rPr lang="en-US" dirty="0"/>
              <a:t>Private Cloud Operations</a:t>
            </a:r>
          </a:p>
        </p:txBody>
      </p:sp>
      <p:sp>
        <p:nvSpPr>
          <p:cNvPr id="5879" name="Google Shape;5879;p70">
            <a:extLst>
              <a:ext uri="{FF2B5EF4-FFF2-40B4-BE49-F238E27FC236}">
                <a16:creationId xmlns:a16="http://schemas.microsoft.com/office/drawing/2014/main" id="{DE5AA210-DAFE-C518-07C1-A4A8BAC1BB8B}"/>
              </a:ext>
            </a:extLst>
          </p:cNvPr>
          <p:cNvSpPr txBox="1">
            <a:spLocks noGrp="1"/>
          </p:cNvSpPr>
          <p:nvPr>
            <p:ph type="subTitle" idx="10"/>
          </p:nvPr>
        </p:nvSpPr>
        <p:spPr>
          <a:xfrm>
            <a:off x="604396" y="2268015"/>
            <a:ext cx="6540408" cy="700699"/>
          </a:xfrm>
        </p:spPr>
        <p:txBody>
          <a:bodyPr spcFirstLastPara="1" vert="horz" lIns="0" tIns="0" rIns="0" bIns="0" rtlCol="0" anchorCtr="0">
            <a:normAutofit/>
          </a:bodyPr>
          <a:lstStyle/>
          <a:p>
            <a:pPr>
              <a:spcAft>
                <a:spcPts val="600"/>
              </a:spcAft>
              <a:buSzPts val="2160"/>
            </a:pPr>
            <a:r>
              <a:rPr lang="en-US" dirty="0"/>
              <a:t>Lifecycle Management</a:t>
            </a:r>
            <a:endParaRPr lang="en-AU" dirty="0"/>
          </a:p>
        </p:txBody>
      </p:sp>
    </p:spTree>
    <p:extLst>
      <p:ext uri="{BB962C8B-B14F-4D97-AF65-F5344CB8AC3E}">
        <p14:creationId xmlns:p14="http://schemas.microsoft.com/office/powerpoint/2010/main" val="357468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4D05A-1159-4C99-7E6A-322A22671FA4}"/>
            </a:ext>
          </a:extLst>
        </p:cNvPr>
        <p:cNvGrpSpPr/>
        <p:nvPr/>
      </p:nvGrpSpPr>
      <p:grpSpPr>
        <a:xfrm>
          <a:off x="0" y="0"/>
          <a:ext cx="0" cy="0"/>
          <a:chOff x="0" y="0"/>
          <a:chExt cx="0" cy="0"/>
        </a:xfrm>
      </p:grpSpPr>
      <p:sp>
        <p:nvSpPr>
          <p:cNvPr id="43" name="Google Shape;1527;p8">
            <a:extLst>
              <a:ext uri="{FF2B5EF4-FFF2-40B4-BE49-F238E27FC236}">
                <a16:creationId xmlns:a16="http://schemas.microsoft.com/office/drawing/2014/main" id="{7322037A-9C01-C8E0-50F8-358870B8D422}"/>
              </a:ext>
            </a:extLst>
          </p:cNvPr>
          <p:cNvSpPr/>
          <p:nvPr/>
        </p:nvSpPr>
        <p:spPr>
          <a:xfrm>
            <a:off x="594298" y="1610005"/>
            <a:ext cx="7438027" cy="4436100"/>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95" name="Google Shape;1479;p7">
            <a:extLst>
              <a:ext uri="{FF2B5EF4-FFF2-40B4-BE49-F238E27FC236}">
                <a16:creationId xmlns:a16="http://schemas.microsoft.com/office/drawing/2014/main" id="{89F7E31E-4E46-5465-D1D9-CE10B11B41E4}"/>
              </a:ext>
            </a:extLst>
          </p:cNvPr>
          <p:cNvSpPr/>
          <p:nvPr/>
        </p:nvSpPr>
        <p:spPr>
          <a:xfrm>
            <a:off x="5920416" y="2024178"/>
            <a:ext cx="1909259" cy="1553465"/>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 name="Title 1">
            <a:extLst>
              <a:ext uri="{FF2B5EF4-FFF2-40B4-BE49-F238E27FC236}">
                <a16:creationId xmlns:a16="http://schemas.microsoft.com/office/drawing/2014/main" id="{CEDB2A2B-FCA7-961E-9EFE-44078F835C67}"/>
              </a:ext>
            </a:extLst>
          </p:cNvPr>
          <p:cNvSpPr>
            <a:spLocks noGrp="1"/>
          </p:cNvSpPr>
          <p:nvPr>
            <p:ph type="title"/>
          </p:nvPr>
        </p:nvSpPr>
        <p:spPr>
          <a:xfrm>
            <a:off x="581245" y="413536"/>
            <a:ext cx="10998269" cy="380901"/>
          </a:xfrm>
        </p:spPr>
        <p:txBody>
          <a:bodyPr/>
          <a:lstStyle/>
          <a:p>
            <a:r>
              <a:rPr lang="en-US" dirty="0">
                <a:solidFill>
                  <a:schemeClr val="accent2"/>
                </a:solidFill>
              </a:rPr>
              <a:t>Execute Lifecycle Management Tasks from a Single Console</a:t>
            </a:r>
          </a:p>
        </p:txBody>
      </p:sp>
      <p:sp>
        <p:nvSpPr>
          <p:cNvPr id="3" name="Subtitle 2">
            <a:extLst>
              <a:ext uri="{FF2B5EF4-FFF2-40B4-BE49-F238E27FC236}">
                <a16:creationId xmlns:a16="http://schemas.microsoft.com/office/drawing/2014/main" id="{9F42E555-3351-CF4F-8D98-3C48B32AA648}"/>
              </a:ext>
            </a:extLst>
          </p:cNvPr>
          <p:cNvSpPr>
            <a:spLocks noGrp="1"/>
          </p:cNvSpPr>
          <p:nvPr>
            <p:ph type="subTitle" idx="1"/>
          </p:nvPr>
        </p:nvSpPr>
        <p:spPr>
          <a:xfrm>
            <a:off x="594300" y="812513"/>
            <a:ext cx="10959889" cy="247735"/>
          </a:xfrm>
        </p:spPr>
        <p:txBody>
          <a:bodyPr/>
          <a:lstStyle/>
          <a:p>
            <a:r>
              <a:rPr lang="en-US" dirty="0">
                <a:solidFill>
                  <a:schemeClr val="tx1"/>
                </a:solidFill>
              </a:rPr>
              <a:t>VCF Operations consolidates patching and updating for all components</a:t>
            </a:r>
          </a:p>
          <a:p>
            <a:endParaRPr lang="en-US" dirty="0"/>
          </a:p>
        </p:txBody>
      </p:sp>
      <p:sp>
        <p:nvSpPr>
          <p:cNvPr id="5" name="Text Placeholder 4">
            <a:extLst>
              <a:ext uri="{FF2B5EF4-FFF2-40B4-BE49-F238E27FC236}">
                <a16:creationId xmlns:a16="http://schemas.microsoft.com/office/drawing/2014/main" id="{14EFB98A-15FA-FAC5-CF02-ACC44BA0268E}"/>
              </a:ext>
            </a:extLst>
          </p:cNvPr>
          <p:cNvSpPr>
            <a:spLocks noGrp="1"/>
          </p:cNvSpPr>
          <p:nvPr>
            <p:ph type="body" idx="2"/>
          </p:nvPr>
        </p:nvSpPr>
        <p:spPr>
          <a:xfrm>
            <a:off x="8379819" y="1700139"/>
            <a:ext cx="3680486" cy="286287"/>
          </a:xfrm>
        </p:spPr>
        <p:txBody>
          <a:bodyPr/>
          <a:lstStyle/>
          <a:p>
            <a:r>
              <a:rPr lang="en-US" dirty="0"/>
              <a:t>Key Benefits</a:t>
            </a:r>
          </a:p>
        </p:txBody>
      </p:sp>
      <p:sp>
        <p:nvSpPr>
          <p:cNvPr id="6" name="Text Placeholder 5">
            <a:extLst>
              <a:ext uri="{FF2B5EF4-FFF2-40B4-BE49-F238E27FC236}">
                <a16:creationId xmlns:a16="http://schemas.microsoft.com/office/drawing/2014/main" id="{4EB1E36C-D89F-2639-84E5-81BFB451139F}"/>
              </a:ext>
            </a:extLst>
          </p:cNvPr>
          <p:cNvSpPr>
            <a:spLocks noGrp="1"/>
          </p:cNvSpPr>
          <p:nvPr>
            <p:ph type="body" idx="3"/>
          </p:nvPr>
        </p:nvSpPr>
        <p:spPr>
          <a:xfrm>
            <a:off x="8378232" y="2063404"/>
            <a:ext cx="3682074" cy="1599783"/>
          </a:xfrm>
        </p:spPr>
        <p:txBody>
          <a:bodyPr/>
          <a:lstStyle/>
          <a:p>
            <a:r>
              <a:rPr lang="en-US" dirty="0"/>
              <a:t>Lifecycle management tasks are consolidated into a single UI</a:t>
            </a:r>
          </a:p>
          <a:p>
            <a:r>
              <a:rPr lang="en-US" dirty="0"/>
              <a:t>Enhances existing workflows that are proven and reliable</a:t>
            </a:r>
          </a:p>
          <a:p>
            <a:endParaRPr lang="en-US" dirty="0"/>
          </a:p>
        </p:txBody>
      </p:sp>
      <p:sp>
        <p:nvSpPr>
          <p:cNvPr id="7" name="Text Placeholder 6">
            <a:extLst>
              <a:ext uri="{FF2B5EF4-FFF2-40B4-BE49-F238E27FC236}">
                <a16:creationId xmlns:a16="http://schemas.microsoft.com/office/drawing/2014/main" id="{A9AAADA3-9057-1E76-17A1-99A0247B2F9D}"/>
              </a:ext>
            </a:extLst>
          </p:cNvPr>
          <p:cNvSpPr>
            <a:spLocks noGrp="1"/>
          </p:cNvSpPr>
          <p:nvPr>
            <p:ph type="body" idx="4"/>
          </p:nvPr>
        </p:nvSpPr>
        <p:spPr>
          <a:xfrm>
            <a:off x="8379819" y="3972330"/>
            <a:ext cx="3680486" cy="277281"/>
          </a:xfrm>
        </p:spPr>
        <p:txBody>
          <a:bodyPr/>
          <a:lstStyle/>
          <a:p>
            <a:r>
              <a:rPr lang="en-US" dirty="0"/>
              <a:t>Technical Value</a:t>
            </a:r>
          </a:p>
        </p:txBody>
      </p:sp>
      <p:sp>
        <p:nvSpPr>
          <p:cNvPr id="8" name="Text Placeholder 7">
            <a:extLst>
              <a:ext uri="{FF2B5EF4-FFF2-40B4-BE49-F238E27FC236}">
                <a16:creationId xmlns:a16="http://schemas.microsoft.com/office/drawing/2014/main" id="{D4288193-1549-2032-0EE3-E835516F7ECF}"/>
              </a:ext>
            </a:extLst>
          </p:cNvPr>
          <p:cNvSpPr>
            <a:spLocks noGrp="1"/>
          </p:cNvSpPr>
          <p:nvPr>
            <p:ph type="body" idx="5"/>
          </p:nvPr>
        </p:nvSpPr>
        <p:spPr>
          <a:xfrm>
            <a:off x="8378232" y="4347665"/>
            <a:ext cx="3682074" cy="1599783"/>
          </a:xfrm>
        </p:spPr>
        <p:txBody>
          <a:bodyPr/>
          <a:lstStyle/>
          <a:p>
            <a:r>
              <a:rPr lang="en-US" dirty="0"/>
              <a:t>Workflows are still orchestrated by applicable management appliances</a:t>
            </a:r>
          </a:p>
          <a:p>
            <a:r>
              <a:rPr lang="en-US" dirty="0"/>
              <a:t>Single interface reduces context switching for administrators</a:t>
            </a:r>
          </a:p>
          <a:p>
            <a:endParaRPr lang="en-US" dirty="0"/>
          </a:p>
        </p:txBody>
      </p:sp>
      <p:sp>
        <p:nvSpPr>
          <p:cNvPr id="85" name="Google Shape;1479;p7">
            <a:extLst>
              <a:ext uri="{FF2B5EF4-FFF2-40B4-BE49-F238E27FC236}">
                <a16:creationId xmlns:a16="http://schemas.microsoft.com/office/drawing/2014/main" id="{137F61B4-5496-9C79-8026-6C8778D21F1E}"/>
              </a:ext>
            </a:extLst>
          </p:cNvPr>
          <p:cNvSpPr/>
          <p:nvPr/>
        </p:nvSpPr>
        <p:spPr>
          <a:xfrm>
            <a:off x="801479" y="3758179"/>
            <a:ext cx="4670075" cy="875189"/>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86" name="Google Shape;1479;p7">
            <a:extLst>
              <a:ext uri="{FF2B5EF4-FFF2-40B4-BE49-F238E27FC236}">
                <a16:creationId xmlns:a16="http://schemas.microsoft.com/office/drawing/2014/main" id="{24C5AAAC-112A-DAD5-359C-275F07028927}"/>
              </a:ext>
            </a:extLst>
          </p:cNvPr>
          <p:cNvSpPr/>
          <p:nvPr/>
        </p:nvSpPr>
        <p:spPr>
          <a:xfrm>
            <a:off x="801479" y="2006092"/>
            <a:ext cx="4670075" cy="1553465"/>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2" name="TextBox 21">
            <a:extLst>
              <a:ext uri="{FF2B5EF4-FFF2-40B4-BE49-F238E27FC236}">
                <a16:creationId xmlns:a16="http://schemas.microsoft.com/office/drawing/2014/main" id="{A11CFD64-6504-F46D-F93B-C01DBC1AA32B}"/>
              </a:ext>
            </a:extLst>
          </p:cNvPr>
          <p:cNvSpPr txBox="1"/>
          <p:nvPr/>
        </p:nvSpPr>
        <p:spPr>
          <a:xfrm>
            <a:off x="1367150" y="1697587"/>
            <a:ext cx="3439394" cy="246157"/>
          </a:xfrm>
          <a:prstGeom prst="rect">
            <a:avLst/>
          </a:prstGeom>
          <a:noFill/>
        </p:spPr>
        <p:txBody>
          <a:bodyPr wrap="square" lIns="0" tIns="0" rIns="0" bIns="0" rtlCol="0">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1D36"/>
                </a:solidFill>
                <a:effectLst/>
                <a:uLnTx/>
                <a:uFillTx/>
                <a:latin typeface="Arial" panose="020B0604020202020204"/>
                <a:ea typeface="+mn-ea"/>
                <a:cs typeface="+mn-cs"/>
              </a:rPr>
              <a:t>VCF 5.x &amp; Aria Suite</a:t>
            </a:r>
          </a:p>
        </p:txBody>
      </p:sp>
      <p:sp>
        <p:nvSpPr>
          <p:cNvPr id="87" name="TextBox 86">
            <a:extLst>
              <a:ext uri="{FF2B5EF4-FFF2-40B4-BE49-F238E27FC236}">
                <a16:creationId xmlns:a16="http://schemas.microsoft.com/office/drawing/2014/main" id="{FE118801-763B-4FA9-D46D-55338499B6B7}"/>
              </a:ext>
            </a:extLst>
          </p:cNvPr>
          <p:cNvSpPr txBox="1"/>
          <p:nvPr/>
        </p:nvSpPr>
        <p:spPr>
          <a:xfrm>
            <a:off x="6254538" y="1683326"/>
            <a:ext cx="1395553" cy="246157"/>
          </a:xfrm>
          <a:prstGeom prst="rect">
            <a:avLst/>
          </a:prstGeom>
          <a:noFill/>
        </p:spPr>
        <p:txBody>
          <a:bodyPr wrap="square" lIns="0" tIns="0" rIns="0" bIns="0" rtlCol="0">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VCF 9</a:t>
            </a:r>
          </a:p>
        </p:txBody>
      </p:sp>
      <p:sp>
        <p:nvSpPr>
          <p:cNvPr id="88" name="Google Shape;1811;p13">
            <a:extLst>
              <a:ext uri="{FF2B5EF4-FFF2-40B4-BE49-F238E27FC236}">
                <a16:creationId xmlns:a16="http://schemas.microsoft.com/office/drawing/2014/main" id="{293C8E73-B50A-2883-BD33-C1A804FD2301}"/>
              </a:ext>
            </a:extLst>
          </p:cNvPr>
          <p:cNvSpPr/>
          <p:nvPr/>
        </p:nvSpPr>
        <p:spPr>
          <a:xfrm>
            <a:off x="6069020" y="2832870"/>
            <a:ext cx="1581071" cy="55385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200" b="1" i="0" u="none" strike="noStrike" kern="1200" cap="none" spc="0" normalizeH="0" baseline="0" noProof="0" dirty="0">
                <a:ln>
                  <a:noFill/>
                </a:ln>
                <a:solidFill>
                  <a:srgbClr val="FFFFFF"/>
                </a:solidFill>
                <a:effectLst/>
                <a:uLnTx/>
                <a:uFillTx/>
                <a:latin typeface="Arial"/>
                <a:ea typeface="Arial"/>
                <a:cs typeface="Arial"/>
                <a:sym typeface="Arial"/>
              </a:rPr>
              <a:t>Fleet Management</a:t>
            </a:r>
            <a:endParaRPr kumimoji="0" sz="12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89" name="Google Shape;1811;p13">
            <a:extLst>
              <a:ext uri="{FF2B5EF4-FFF2-40B4-BE49-F238E27FC236}">
                <a16:creationId xmlns:a16="http://schemas.microsoft.com/office/drawing/2014/main" id="{65A8858E-F4A3-0A8E-A3F5-73FF8478E144}"/>
              </a:ext>
            </a:extLst>
          </p:cNvPr>
          <p:cNvSpPr/>
          <p:nvPr/>
        </p:nvSpPr>
        <p:spPr>
          <a:xfrm>
            <a:off x="6069020" y="2170371"/>
            <a:ext cx="1581071" cy="55385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200" b="1" i="0" u="none" strike="noStrike" kern="1200" cap="none" spc="0" normalizeH="0" baseline="0" noProof="0" dirty="0">
                <a:ln>
                  <a:noFill/>
                </a:ln>
                <a:solidFill>
                  <a:srgbClr val="FFFFFF"/>
                </a:solidFill>
                <a:effectLst/>
                <a:uLnTx/>
                <a:uFillTx/>
                <a:latin typeface="Arial"/>
                <a:ea typeface="Arial"/>
                <a:cs typeface="Arial"/>
                <a:sym typeface="Arial"/>
              </a:rPr>
              <a:t>VCF Ops 9</a:t>
            </a:r>
            <a:endParaRPr kumimoji="0" sz="12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93" name="Google Shape;1811;p13">
            <a:extLst>
              <a:ext uri="{FF2B5EF4-FFF2-40B4-BE49-F238E27FC236}">
                <a16:creationId xmlns:a16="http://schemas.microsoft.com/office/drawing/2014/main" id="{A03DEAB2-5CD5-F417-105A-9ABE1EFD189A}"/>
              </a:ext>
            </a:extLst>
          </p:cNvPr>
          <p:cNvSpPr/>
          <p:nvPr/>
        </p:nvSpPr>
        <p:spPr>
          <a:xfrm>
            <a:off x="3731764" y="2184603"/>
            <a:ext cx="1581071" cy="553854"/>
          </a:xfrm>
          <a:prstGeom prst="roundRect">
            <a:avLst>
              <a:gd name="adj" fmla="val 6349"/>
            </a:avLst>
          </a:prstGeom>
          <a:solidFill>
            <a:schemeClr val="lt1"/>
          </a:solidFill>
          <a:ln w="25400">
            <a:gradFill>
              <a:gsLst>
                <a:gs pos="0">
                  <a:schemeClr val="accent5"/>
                </a:gs>
                <a:gs pos="100000">
                  <a:schemeClr val="accent2"/>
                </a:gs>
                <a:gs pos="98000">
                  <a:schemeClr val="accent2"/>
                </a:gs>
                <a:gs pos="100000">
                  <a:schemeClr val="accent1">
                    <a:lumMod val="30000"/>
                    <a:lumOff val="70000"/>
                  </a:schemeClr>
                </a:gs>
              </a:gsLst>
              <a:lin ang="5400000" scaled="1"/>
            </a:grad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200" b="1" i="0" u="none" strike="noStrike" kern="1200" cap="none" spc="0" normalizeH="0" baseline="0" noProof="0" dirty="0">
                <a:ln>
                  <a:noFill/>
                </a:ln>
                <a:solidFill>
                  <a:srgbClr val="000000"/>
                </a:solidFill>
                <a:effectLst/>
                <a:uLnTx/>
                <a:uFillTx/>
                <a:latin typeface="Arial"/>
                <a:ea typeface="Arial"/>
                <a:cs typeface="Arial"/>
                <a:sym typeface="Arial"/>
              </a:rPr>
              <a:t>Aria Ops 8</a:t>
            </a:r>
            <a:endParaRPr kumimoji="0" sz="1200" b="1"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96" name="Google Shape;1479;p7">
            <a:extLst>
              <a:ext uri="{FF2B5EF4-FFF2-40B4-BE49-F238E27FC236}">
                <a16:creationId xmlns:a16="http://schemas.microsoft.com/office/drawing/2014/main" id="{5F4A6754-0F14-840D-BA40-C19E3D3A6E0A}"/>
              </a:ext>
            </a:extLst>
          </p:cNvPr>
          <p:cNvSpPr/>
          <p:nvPr/>
        </p:nvSpPr>
        <p:spPr>
          <a:xfrm>
            <a:off x="5904924" y="3758178"/>
            <a:ext cx="1909259" cy="860520"/>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91" name="Google Shape;1811;p13">
            <a:extLst>
              <a:ext uri="{FF2B5EF4-FFF2-40B4-BE49-F238E27FC236}">
                <a16:creationId xmlns:a16="http://schemas.microsoft.com/office/drawing/2014/main" id="{413FC9A3-D5E4-972E-7FB6-AC3B89014BA6}"/>
              </a:ext>
            </a:extLst>
          </p:cNvPr>
          <p:cNvSpPr/>
          <p:nvPr/>
        </p:nvSpPr>
        <p:spPr>
          <a:xfrm>
            <a:off x="6069020" y="3918211"/>
            <a:ext cx="1581071" cy="55385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200" b="1" i="0" u="none" strike="noStrike" kern="1200" cap="none" spc="0" normalizeH="0" baseline="0" noProof="0" dirty="0">
                <a:ln>
                  <a:noFill/>
                </a:ln>
                <a:solidFill>
                  <a:srgbClr val="FFFFFF"/>
                </a:solidFill>
                <a:effectLst/>
                <a:uLnTx/>
                <a:uFillTx/>
                <a:latin typeface="Arial"/>
                <a:ea typeface="Arial"/>
                <a:cs typeface="Arial"/>
                <a:sym typeface="Arial"/>
              </a:rPr>
              <a:t>9.0</a:t>
            </a:r>
            <a:endParaRPr kumimoji="0" sz="12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97" name="TextBox 96">
            <a:extLst>
              <a:ext uri="{FF2B5EF4-FFF2-40B4-BE49-F238E27FC236}">
                <a16:creationId xmlns:a16="http://schemas.microsoft.com/office/drawing/2014/main" id="{D83CD3C3-AF43-B17A-786A-07D326B94876}"/>
              </a:ext>
            </a:extLst>
          </p:cNvPr>
          <p:cNvSpPr txBox="1"/>
          <p:nvPr/>
        </p:nvSpPr>
        <p:spPr>
          <a:xfrm>
            <a:off x="427023" y="2667794"/>
            <a:ext cx="3439394" cy="276927"/>
          </a:xfrm>
          <a:prstGeom prst="rect">
            <a:avLst/>
          </a:prstGeom>
          <a:noFill/>
        </p:spPr>
        <p:txBody>
          <a:bodyPr wrap="square" lIns="0" tIns="0" rIns="0" bIns="0" rtlCol="0">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1B1D36"/>
                </a:solidFill>
                <a:effectLst/>
                <a:uLnTx/>
                <a:uFillTx/>
                <a:latin typeface="Arial" panose="020B0604020202020204"/>
                <a:ea typeface="+mn-ea"/>
                <a:cs typeface="+mn-cs"/>
              </a:rPr>
              <a:t>VCF Management</a:t>
            </a:r>
          </a:p>
        </p:txBody>
      </p:sp>
      <p:sp>
        <p:nvSpPr>
          <p:cNvPr id="98" name="TextBox 97">
            <a:extLst>
              <a:ext uri="{FF2B5EF4-FFF2-40B4-BE49-F238E27FC236}">
                <a16:creationId xmlns:a16="http://schemas.microsoft.com/office/drawing/2014/main" id="{6459473E-30B3-2821-9186-A01E34A88A8F}"/>
              </a:ext>
            </a:extLst>
          </p:cNvPr>
          <p:cNvSpPr txBox="1"/>
          <p:nvPr/>
        </p:nvSpPr>
        <p:spPr>
          <a:xfrm>
            <a:off x="440141" y="4076598"/>
            <a:ext cx="3439394" cy="276927"/>
          </a:xfrm>
          <a:prstGeom prst="rect">
            <a:avLst/>
          </a:prstGeom>
          <a:noFill/>
        </p:spPr>
        <p:txBody>
          <a:bodyPr wrap="square" lIns="0" tIns="0" rIns="0" bIns="0" rtlCol="0">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1B1D36"/>
                </a:solidFill>
                <a:effectLst/>
                <a:uLnTx/>
                <a:uFillTx/>
                <a:latin typeface="Arial" panose="020B0604020202020204"/>
                <a:ea typeface="+mn-ea"/>
                <a:cs typeface="+mn-cs"/>
              </a:rPr>
              <a:t>SDDC Manager</a:t>
            </a:r>
          </a:p>
        </p:txBody>
      </p:sp>
      <p:sp>
        <p:nvSpPr>
          <p:cNvPr id="100" name="Google Shape;1479;p7">
            <a:extLst>
              <a:ext uri="{FF2B5EF4-FFF2-40B4-BE49-F238E27FC236}">
                <a16:creationId xmlns:a16="http://schemas.microsoft.com/office/drawing/2014/main" id="{FCDB7CBB-0AD1-6431-9403-59A10B41D80C}"/>
              </a:ext>
            </a:extLst>
          </p:cNvPr>
          <p:cNvSpPr/>
          <p:nvPr/>
        </p:nvSpPr>
        <p:spPr>
          <a:xfrm>
            <a:off x="801479" y="4822584"/>
            <a:ext cx="4670075" cy="1057490"/>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02" name="Google Shape;1479;p7">
            <a:extLst>
              <a:ext uri="{FF2B5EF4-FFF2-40B4-BE49-F238E27FC236}">
                <a16:creationId xmlns:a16="http://schemas.microsoft.com/office/drawing/2014/main" id="{4CA1179C-B71D-4236-6163-CF627F91BBE8}"/>
              </a:ext>
            </a:extLst>
          </p:cNvPr>
          <p:cNvSpPr/>
          <p:nvPr/>
        </p:nvSpPr>
        <p:spPr>
          <a:xfrm>
            <a:off x="5904924" y="4825639"/>
            <a:ext cx="1909259" cy="1039765"/>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03" name="Google Shape;1811;p13">
            <a:extLst>
              <a:ext uri="{FF2B5EF4-FFF2-40B4-BE49-F238E27FC236}">
                <a16:creationId xmlns:a16="http://schemas.microsoft.com/office/drawing/2014/main" id="{80EDA9BF-9B12-72FC-B241-E1CDDEABCA44}"/>
              </a:ext>
            </a:extLst>
          </p:cNvPr>
          <p:cNvSpPr/>
          <p:nvPr/>
        </p:nvSpPr>
        <p:spPr>
          <a:xfrm>
            <a:off x="6069020" y="5067959"/>
            <a:ext cx="1581071" cy="55385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200" b="1" i="0" u="none" strike="noStrike" kern="1200" cap="none" spc="0" normalizeH="0" baseline="0" noProof="0" dirty="0">
                <a:ln>
                  <a:noFill/>
                </a:ln>
                <a:solidFill>
                  <a:srgbClr val="FFFFFF"/>
                </a:solidFill>
                <a:effectLst/>
                <a:uLnTx/>
                <a:uFillTx/>
                <a:latin typeface="Arial"/>
                <a:ea typeface="Arial"/>
                <a:cs typeface="Arial"/>
                <a:sym typeface="Arial"/>
              </a:rPr>
              <a:t>vSphere 9        NSX 9</a:t>
            </a:r>
            <a:endParaRPr kumimoji="0" sz="12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04" name="TextBox 103">
            <a:extLst>
              <a:ext uri="{FF2B5EF4-FFF2-40B4-BE49-F238E27FC236}">
                <a16:creationId xmlns:a16="http://schemas.microsoft.com/office/drawing/2014/main" id="{B01D9FFC-2F47-7381-1BBF-E89CEBB9A822}"/>
              </a:ext>
            </a:extLst>
          </p:cNvPr>
          <p:cNvSpPr txBox="1"/>
          <p:nvPr/>
        </p:nvSpPr>
        <p:spPr>
          <a:xfrm>
            <a:off x="1079598" y="5087833"/>
            <a:ext cx="2198969" cy="553854"/>
          </a:xfrm>
          <a:prstGeom prst="rect">
            <a:avLst/>
          </a:prstGeom>
          <a:noFill/>
        </p:spPr>
        <p:txBody>
          <a:bodyPr wrap="square" lIns="0" tIns="0" rIns="0" bIns="0" rtlCol="0">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1B1D36"/>
                </a:solidFill>
                <a:effectLst/>
                <a:uLnTx/>
                <a:uFillTx/>
                <a:latin typeface="Arial" panose="020B0604020202020204"/>
                <a:ea typeface="+mn-ea"/>
                <a:cs typeface="+mn-cs"/>
              </a:rPr>
              <a:t>VCF Infrastructure Components</a:t>
            </a:r>
          </a:p>
        </p:txBody>
      </p:sp>
      <p:sp>
        <p:nvSpPr>
          <p:cNvPr id="106" name="Google Shape;1811;p13">
            <a:extLst>
              <a:ext uri="{FF2B5EF4-FFF2-40B4-BE49-F238E27FC236}">
                <a16:creationId xmlns:a16="http://schemas.microsoft.com/office/drawing/2014/main" id="{3DB34532-EDAE-476A-2FC2-D2CCEEA62018}"/>
              </a:ext>
            </a:extLst>
          </p:cNvPr>
          <p:cNvSpPr/>
          <p:nvPr/>
        </p:nvSpPr>
        <p:spPr>
          <a:xfrm>
            <a:off x="3731764" y="2836677"/>
            <a:ext cx="1581071" cy="553854"/>
          </a:xfrm>
          <a:prstGeom prst="roundRect">
            <a:avLst>
              <a:gd name="adj" fmla="val 6349"/>
            </a:avLst>
          </a:prstGeom>
          <a:solidFill>
            <a:schemeClr val="lt1"/>
          </a:solidFill>
          <a:ln w="25400">
            <a:gradFill>
              <a:gsLst>
                <a:gs pos="0">
                  <a:schemeClr val="accent5"/>
                </a:gs>
                <a:gs pos="100000">
                  <a:schemeClr val="accent2"/>
                </a:gs>
                <a:gs pos="98000">
                  <a:schemeClr val="accent2"/>
                </a:gs>
                <a:gs pos="100000">
                  <a:schemeClr val="accent1">
                    <a:lumMod val="30000"/>
                    <a:lumOff val="70000"/>
                  </a:schemeClr>
                </a:gs>
              </a:gsLst>
              <a:lin ang="5400000" scaled="1"/>
            </a:grad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200" b="1" i="0" u="none" strike="noStrike" kern="1200" cap="none" spc="0" normalizeH="0" baseline="0" noProof="0" dirty="0">
                <a:ln>
                  <a:noFill/>
                </a:ln>
                <a:solidFill>
                  <a:srgbClr val="000000"/>
                </a:solidFill>
                <a:effectLst/>
                <a:uLnTx/>
                <a:uFillTx/>
                <a:latin typeface="Arial"/>
                <a:ea typeface="Arial"/>
                <a:cs typeface="Arial"/>
                <a:sym typeface="Arial"/>
              </a:rPr>
              <a:t>Aria Suite Lifecycle</a:t>
            </a:r>
            <a:endParaRPr kumimoji="0" sz="1200" b="1"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08" name="Google Shape;1811;p13">
            <a:extLst>
              <a:ext uri="{FF2B5EF4-FFF2-40B4-BE49-F238E27FC236}">
                <a16:creationId xmlns:a16="http://schemas.microsoft.com/office/drawing/2014/main" id="{23285D04-E9B7-4117-8895-AA83DCF260F2}"/>
              </a:ext>
            </a:extLst>
          </p:cNvPr>
          <p:cNvSpPr/>
          <p:nvPr/>
        </p:nvSpPr>
        <p:spPr>
          <a:xfrm>
            <a:off x="3735819" y="3916537"/>
            <a:ext cx="1581071" cy="553854"/>
          </a:xfrm>
          <a:prstGeom prst="roundRect">
            <a:avLst>
              <a:gd name="adj" fmla="val 6349"/>
            </a:avLst>
          </a:prstGeom>
          <a:solidFill>
            <a:schemeClr val="lt1"/>
          </a:solidFill>
          <a:ln w="25400">
            <a:gradFill>
              <a:gsLst>
                <a:gs pos="0">
                  <a:schemeClr val="accent5"/>
                </a:gs>
                <a:gs pos="100000">
                  <a:schemeClr val="accent2"/>
                </a:gs>
                <a:gs pos="98000">
                  <a:schemeClr val="accent2"/>
                </a:gs>
                <a:gs pos="100000">
                  <a:schemeClr val="accent1">
                    <a:lumMod val="30000"/>
                    <a:lumOff val="70000"/>
                  </a:schemeClr>
                </a:gs>
              </a:gsLst>
              <a:lin ang="5400000" scaled="1"/>
            </a:grad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200" b="1" i="0" u="none" strike="noStrike" kern="1200" cap="none" spc="0" normalizeH="0" baseline="0" noProof="0" dirty="0">
                <a:ln>
                  <a:noFill/>
                </a:ln>
                <a:solidFill>
                  <a:srgbClr val="000000"/>
                </a:solidFill>
                <a:effectLst/>
                <a:uLnTx/>
                <a:uFillTx/>
                <a:latin typeface="Arial"/>
                <a:ea typeface="Arial"/>
                <a:cs typeface="Arial"/>
                <a:sym typeface="Arial"/>
              </a:rPr>
              <a:t>5.x</a:t>
            </a:r>
            <a:endParaRPr kumimoji="0" sz="1200" b="1"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10" name="Google Shape;1811;p13">
            <a:extLst>
              <a:ext uri="{FF2B5EF4-FFF2-40B4-BE49-F238E27FC236}">
                <a16:creationId xmlns:a16="http://schemas.microsoft.com/office/drawing/2014/main" id="{ADC1E251-73B3-654D-4076-3BA26C91D6BD}"/>
              </a:ext>
            </a:extLst>
          </p:cNvPr>
          <p:cNvSpPr/>
          <p:nvPr/>
        </p:nvSpPr>
        <p:spPr>
          <a:xfrm>
            <a:off x="3735819" y="5066554"/>
            <a:ext cx="1581071" cy="553854"/>
          </a:xfrm>
          <a:prstGeom prst="roundRect">
            <a:avLst>
              <a:gd name="adj" fmla="val 6349"/>
            </a:avLst>
          </a:prstGeom>
          <a:solidFill>
            <a:schemeClr val="lt1"/>
          </a:solidFill>
          <a:ln w="25400">
            <a:gradFill>
              <a:gsLst>
                <a:gs pos="0">
                  <a:schemeClr val="accent5"/>
                </a:gs>
                <a:gs pos="100000">
                  <a:schemeClr val="accent2"/>
                </a:gs>
                <a:gs pos="98000">
                  <a:schemeClr val="accent2"/>
                </a:gs>
                <a:gs pos="100000">
                  <a:schemeClr val="accent1">
                    <a:lumMod val="30000"/>
                    <a:lumOff val="70000"/>
                  </a:schemeClr>
                </a:gs>
              </a:gsLst>
              <a:lin ang="5400000" scaled="1"/>
            </a:grad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200" b="1" i="0" u="none" strike="noStrike" kern="1200" cap="none" spc="0" normalizeH="0" baseline="0" noProof="0" dirty="0">
                <a:ln>
                  <a:noFill/>
                </a:ln>
                <a:solidFill>
                  <a:srgbClr val="000000"/>
                </a:solidFill>
                <a:effectLst/>
                <a:uLnTx/>
                <a:uFillTx/>
                <a:latin typeface="Arial"/>
                <a:ea typeface="Arial"/>
                <a:cs typeface="Arial"/>
                <a:sym typeface="Arial"/>
              </a:rPr>
              <a:t>vSphere 8.x.     NSX 4.x</a:t>
            </a:r>
            <a:endParaRPr kumimoji="0" sz="1200" b="1"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113" name="Group 112">
            <a:extLst>
              <a:ext uri="{FF2B5EF4-FFF2-40B4-BE49-F238E27FC236}">
                <a16:creationId xmlns:a16="http://schemas.microsoft.com/office/drawing/2014/main" id="{6B0D1076-8773-F8C5-44EF-08AB0A7901FE}"/>
              </a:ext>
            </a:extLst>
          </p:cNvPr>
          <p:cNvGrpSpPr/>
          <p:nvPr/>
        </p:nvGrpSpPr>
        <p:grpSpPr>
          <a:xfrm>
            <a:off x="5551492" y="2231158"/>
            <a:ext cx="277107" cy="552871"/>
            <a:chOff x="5086390" y="2966073"/>
            <a:chExt cx="365757" cy="671971"/>
          </a:xfrm>
        </p:grpSpPr>
        <p:sp>
          <p:nvSpPr>
            <p:cNvPr id="114" name="Rectangle 113">
              <a:extLst>
                <a:ext uri="{FF2B5EF4-FFF2-40B4-BE49-F238E27FC236}">
                  <a16:creationId xmlns:a16="http://schemas.microsoft.com/office/drawing/2014/main" id="{E897CE7E-519C-BB89-5FD2-D2DF695E2BDF}"/>
                </a:ext>
              </a:extLst>
            </p:cNvPr>
            <p:cNvSpPr/>
            <p:nvPr/>
          </p:nvSpPr>
          <p:spPr bwMode="gray">
            <a:xfrm>
              <a:off x="5086390" y="2966073"/>
              <a:ext cx="365757" cy="671971"/>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115" name="Google Shape;4238;p22">
              <a:extLst>
                <a:ext uri="{FF2B5EF4-FFF2-40B4-BE49-F238E27FC236}">
                  <a16:creationId xmlns:a16="http://schemas.microsoft.com/office/drawing/2014/main" id="{BEBE13F5-C099-A28B-DED8-A7A441C5F4B7}"/>
                </a:ext>
              </a:extLst>
            </p:cNvPr>
            <p:cNvGrpSpPr/>
            <p:nvPr/>
          </p:nvGrpSpPr>
          <p:grpSpPr>
            <a:xfrm rot="5400000">
              <a:off x="5138869" y="3058040"/>
              <a:ext cx="263441" cy="352709"/>
              <a:chOff x="6930408" y="3506884"/>
              <a:chExt cx="283405" cy="388082"/>
            </a:xfrm>
          </p:grpSpPr>
          <p:sp>
            <p:nvSpPr>
              <p:cNvPr id="116" name="Google Shape;4239;p22">
                <a:extLst>
                  <a:ext uri="{FF2B5EF4-FFF2-40B4-BE49-F238E27FC236}">
                    <a16:creationId xmlns:a16="http://schemas.microsoft.com/office/drawing/2014/main" id="{2D65FDD2-8242-2CA0-B7C4-C328EFE645A7}"/>
                  </a:ext>
                </a:extLst>
              </p:cNvPr>
              <p:cNvSpPr/>
              <p:nvPr/>
            </p:nvSpPr>
            <p:spPr>
              <a:xfrm rot="16200000">
                <a:off x="6990674" y="3671874"/>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4705"/>
                </a:schemeClr>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17" name="Google Shape;4240;p22">
                <a:extLst>
                  <a:ext uri="{FF2B5EF4-FFF2-40B4-BE49-F238E27FC236}">
                    <a16:creationId xmlns:a16="http://schemas.microsoft.com/office/drawing/2014/main" id="{1F678521-25CE-80D8-5554-ACF40AAF28FB}"/>
                  </a:ext>
                </a:extLst>
              </p:cNvPr>
              <p:cNvSpPr/>
              <p:nvPr/>
            </p:nvSpPr>
            <p:spPr>
              <a:xfrm rot="16200000">
                <a:off x="6990674" y="3559245"/>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9803"/>
                </a:schemeClr>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18" name="Google Shape;4241;p22">
                <a:extLst>
                  <a:ext uri="{FF2B5EF4-FFF2-40B4-BE49-F238E27FC236}">
                    <a16:creationId xmlns:a16="http://schemas.microsoft.com/office/drawing/2014/main" id="{14B5055D-2C71-71F6-5562-C2A76B76E5B2}"/>
                  </a:ext>
                </a:extLst>
              </p:cNvPr>
              <p:cNvSpPr/>
              <p:nvPr/>
            </p:nvSpPr>
            <p:spPr>
              <a:xfrm rot="16200000">
                <a:off x="6990721" y="3446618"/>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grpSp>
      </p:grpSp>
      <p:grpSp>
        <p:nvGrpSpPr>
          <p:cNvPr id="143" name="Group 142">
            <a:extLst>
              <a:ext uri="{FF2B5EF4-FFF2-40B4-BE49-F238E27FC236}">
                <a16:creationId xmlns:a16="http://schemas.microsoft.com/office/drawing/2014/main" id="{58D4814C-7529-9782-835F-2A138BA067B5}"/>
              </a:ext>
            </a:extLst>
          </p:cNvPr>
          <p:cNvGrpSpPr/>
          <p:nvPr/>
        </p:nvGrpSpPr>
        <p:grpSpPr>
          <a:xfrm>
            <a:off x="5550888" y="2887399"/>
            <a:ext cx="277107" cy="552871"/>
            <a:chOff x="5086390" y="2966073"/>
            <a:chExt cx="365757" cy="671971"/>
          </a:xfrm>
        </p:grpSpPr>
        <p:sp>
          <p:nvSpPr>
            <p:cNvPr id="144" name="Rectangle 143">
              <a:extLst>
                <a:ext uri="{FF2B5EF4-FFF2-40B4-BE49-F238E27FC236}">
                  <a16:creationId xmlns:a16="http://schemas.microsoft.com/office/drawing/2014/main" id="{D089A473-41EC-CEF6-1D91-B8D5C038B843}"/>
                </a:ext>
              </a:extLst>
            </p:cNvPr>
            <p:cNvSpPr/>
            <p:nvPr/>
          </p:nvSpPr>
          <p:spPr bwMode="gray">
            <a:xfrm>
              <a:off x="5086390" y="2966073"/>
              <a:ext cx="365757" cy="671971"/>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145" name="Google Shape;4238;p22">
              <a:extLst>
                <a:ext uri="{FF2B5EF4-FFF2-40B4-BE49-F238E27FC236}">
                  <a16:creationId xmlns:a16="http://schemas.microsoft.com/office/drawing/2014/main" id="{0071A290-474B-0DA9-4CAD-46B425C81C4A}"/>
                </a:ext>
              </a:extLst>
            </p:cNvPr>
            <p:cNvGrpSpPr/>
            <p:nvPr/>
          </p:nvGrpSpPr>
          <p:grpSpPr>
            <a:xfrm rot="5400000">
              <a:off x="5138869" y="3058040"/>
              <a:ext cx="263441" cy="352709"/>
              <a:chOff x="6930408" y="3506884"/>
              <a:chExt cx="283405" cy="388082"/>
            </a:xfrm>
          </p:grpSpPr>
          <p:sp>
            <p:nvSpPr>
              <p:cNvPr id="146" name="Google Shape;4239;p22">
                <a:extLst>
                  <a:ext uri="{FF2B5EF4-FFF2-40B4-BE49-F238E27FC236}">
                    <a16:creationId xmlns:a16="http://schemas.microsoft.com/office/drawing/2014/main" id="{FAEFEDCF-A722-1682-9ECD-B0F64603DD68}"/>
                  </a:ext>
                </a:extLst>
              </p:cNvPr>
              <p:cNvSpPr/>
              <p:nvPr/>
            </p:nvSpPr>
            <p:spPr>
              <a:xfrm rot="16200000">
                <a:off x="6990674" y="3671874"/>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4705"/>
                </a:schemeClr>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47" name="Google Shape;4240;p22">
                <a:extLst>
                  <a:ext uri="{FF2B5EF4-FFF2-40B4-BE49-F238E27FC236}">
                    <a16:creationId xmlns:a16="http://schemas.microsoft.com/office/drawing/2014/main" id="{7437F7F6-EC5D-765C-BFD5-4DFA01F76EAF}"/>
                  </a:ext>
                </a:extLst>
              </p:cNvPr>
              <p:cNvSpPr/>
              <p:nvPr/>
            </p:nvSpPr>
            <p:spPr>
              <a:xfrm rot="16200000">
                <a:off x="6990674" y="3559245"/>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9803"/>
                </a:schemeClr>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48" name="Google Shape;4241;p22">
                <a:extLst>
                  <a:ext uri="{FF2B5EF4-FFF2-40B4-BE49-F238E27FC236}">
                    <a16:creationId xmlns:a16="http://schemas.microsoft.com/office/drawing/2014/main" id="{CDFC771C-14E7-9BC1-5693-A4E3B0856D3F}"/>
                  </a:ext>
                </a:extLst>
              </p:cNvPr>
              <p:cNvSpPr/>
              <p:nvPr/>
            </p:nvSpPr>
            <p:spPr>
              <a:xfrm rot="16200000">
                <a:off x="6990721" y="3446618"/>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grpSp>
      </p:grpSp>
      <p:grpSp>
        <p:nvGrpSpPr>
          <p:cNvPr id="155" name="Group 154">
            <a:extLst>
              <a:ext uri="{FF2B5EF4-FFF2-40B4-BE49-F238E27FC236}">
                <a16:creationId xmlns:a16="http://schemas.microsoft.com/office/drawing/2014/main" id="{7AC61428-4FA3-07C7-7F6B-1D373A4621C0}"/>
              </a:ext>
            </a:extLst>
          </p:cNvPr>
          <p:cNvGrpSpPr/>
          <p:nvPr/>
        </p:nvGrpSpPr>
        <p:grpSpPr>
          <a:xfrm>
            <a:off x="5559922" y="3970569"/>
            <a:ext cx="277107" cy="552871"/>
            <a:chOff x="5086390" y="2966073"/>
            <a:chExt cx="365757" cy="671971"/>
          </a:xfrm>
        </p:grpSpPr>
        <p:sp>
          <p:nvSpPr>
            <p:cNvPr id="156" name="Rectangle 155">
              <a:extLst>
                <a:ext uri="{FF2B5EF4-FFF2-40B4-BE49-F238E27FC236}">
                  <a16:creationId xmlns:a16="http://schemas.microsoft.com/office/drawing/2014/main" id="{954D4D97-4E9F-9D86-74EF-DE8165BFC5B7}"/>
                </a:ext>
              </a:extLst>
            </p:cNvPr>
            <p:cNvSpPr/>
            <p:nvPr/>
          </p:nvSpPr>
          <p:spPr bwMode="gray">
            <a:xfrm>
              <a:off x="5086390" y="2966073"/>
              <a:ext cx="365757" cy="671971"/>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157" name="Google Shape;4238;p22">
              <a:extLst>
                <a:ext uri="{FF2B5EF4-FFF2-40B4-BE49-F238E27FC236}">
                  <a16:creationId xmlns:a16="http://schemas.microsoft.com/office/drawing/2014/main" id="{5454099C-FE05-DACC-AF42-B0C718248CD6}"/>
                </a:ext>
              </a:extLst>
            </p:cNvPr>
            <p:cNvGrpSpPr/>
            <p:nvPr/>
          </p:nvGrpSpPr>
          <p:grpSpPr>
            <a:xfrm rot="5400000">
              <a:off x="5138869" y="3058040"/>
              <a:ext cx="263441" cy="352709"/>
              <a:chOff x="6930408" y="3506884"/>
              <a:chExt cx="283405" cy="388082"/>
            </a:xfrm>
          </p:grpSpPr>
          <p:sp>
            <p:nvSpPr>
              <p:cNvPr id="158" name="Google Shape;4239;p22">
                <a:extLst>
                  <a:ext uri="{FF2B5EF4-FFF2-40B4-BE49-F238E27FC236}">
                    <a16:creationId xmlns:a16="http://schemas.microsoft.com/office/drawing/2014/main" id="{36AD4BF9-FBDA-A613-0B9D-543831245F12}"/>
                  </a:ext>
                </a:extLst>
              </p:cNvPr>
              <p:cNvSpPr/>
              <p:nvPr/>
            </p:nvSpPr>
            <p:spPr>
              <a:xfrm rot="16200000">
                <a:off x="6990674" y="3671874"/>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4705"/>
                </a:schemeClr>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59" name="Google Shape;4240;p22">
                <a:extLst>
                  <a:ext uri="{FF2B5EF4-FFF2-40B4-BE49-F238E27FC236}">
                    <a16:creationId xmlns:a16="http://schemas.microsoft.com/office/drawing/2014/main" id="{2F9850AF-13DE-31A2-599B-D99491694552}"/>
                  </a:ext>
                </a:extLst>
              </p:cNvPr>
              <p:cNvSpPr/>
              <p:nvPr/>
            </p:nvSpPr>
            <p:spPr>
              <a:xfrm rot="16200000">
                <a:off x="6990674" y="3559245"/>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9803"/>
                </a:schemeClr>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60" name="Google Shape;4241;p22">
                <a:extLst>
                  <a:ext uri="{FF2B5EF4-FFF2-40B4-BE49-F238E27FC236}">
                    <a16:creationId xmlns:a16="http://schemas.microsoft.com/office/drawing/2014/main" id="{E28C51C4-1D7F-789E-FBDA-7E3D1ADD02DA}"/>
                  </a:ext>
                </a:extLst>
              </p:cNvPr>
              <p:cNvSpPr/>
              <p:nvPr/>
            </p:nvSpPr>
            <p:spPr>
              <a:xfrm rot="16200000">
                <a:off x="6990721" y="3446618"/>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grpSp>
      </p:grpSp>
      <p:grpSp>
        <p:nvGrpSpPr>
          <p:cNvPr id="167" name="Group 166">
            <a:extLst>
              <a:ext uri="{FF2B5EF4-FFF2-40B4-BE49-F238E27FC236}">
                <a16:creationId xmlns:a16="http://schemas.microsoft.com/office/drawing/2014/main" id="{FFCBC1E4-8B82-5EB8-DF99-352A7F560233}"/>
              </a:ext>
            </a:extLst>
          </p:cNvPr>
          <p:cNvGrpSpPr/>
          <p:nvPr/>
        </p:nvGrpSpPr>
        <p:grpSpPr>
          <a:xfrm>
            <a:off x="5553878" y="5118285"/>
            <a:ext cx="277107" cy="552871"/>
            <a:chOff x="5086390" y="2966073"/>
            <a:chExt cx="365757" cy="671971"/>
          </a:xfrm>
        </p:grpSpPr>
        <p:sp>
          <p:nvSpPr>
            <p:cNvPr id="168" name="Rectangle 167">
              <a:extLst>
                <a:ext uri="{FF2B5EF4-FFF2-40B4-BE49-F238E27FC236}">
                  <a16:creationId xmlns:a16="http://schemas.microsoft.com/office/drawing/2014/main" id="{DD22F9A5-7EA7-1442-BF7E-1F2779FE93A3}"/>
                </a:ext>
              </a:extLst>
            </p:cNvPr>
            <p:cNvSpPr/>
            <p:nvPr/>
          </p:nvSpPr>
          <p:spPr bwMode="gray">
            <a:xfrm>
              <a:off x="5086390" y="2966073"/>
              <a:ext cx="365757" cy="671971"/>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169" name="Google Shape;4238;p22">
              <a:extLst>
                <a:ext uri="{FF2B5EF4-FFF2-40B4-BE49-F238E27FC236}">
                  <a16:creationId xmlns:a16="http://schemas.microsoft.com/office/drawing/2014/main" id="{54DAB77B-199F-FC8A-ECE6-55FCC6728B4D}"/>
                </a:ext>
              </a:extLst>
            </p:cNvPr>
            <p:cNvGrpSpPr/>
            <p:nvPr/>
          </p:nvGrpSpPr>
          <p:grpSpPr>
            <a:xfrm rot="5400000">
              <a:off x="5138869" y="3058040"/>
              <a:ext cx="263441" cy="352709"/>
              <a:chOff x="6930408" y="3506884"/>
              <a:chExt cx="283405" cy="388082"/>
            </a:xfrm>
          </p:grpSpPr>
          <p:sp>
            <p:nvSpPr>
              <p:cNvPr id="170" name="Google Shape;4239;p22">
                <a:extLst>
                  <a:ext uri="{FF2B5EF4-FFF2-40B4-BE49-F238E27FC236}">
                    <a16:creationId xmlns:a16="http://schemas.microsoft.com/office/drawing/2014/main" id="{22B8EBEA-6288-7F29-4942-E2D13F1CFBFD}"/>
                  </a:ext>
                </a:extLst>
              </p:cNvPr>
              <p:cNvSpPr/>
              <p:nvPr/>
            </p:nvSpPr>
            <p:spPr>
              <a:xfrm rot="16200000">
                <a:off x="6990674" y="3671874"/>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4705"/>
                </a:schemeClr>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71" name="Google Shape;4240;p22">
                <a:extLst>
                  <a:ext uri="{FF2B5EF4-FFF2-40B4-BE49-F238E27FC236}">
                    <a16:creationId xmlns:a16="http://schemas.microsoft.com/office/drawing/2014/main" id="{2E41DCF7-D992-251C-E90F-91A09DD17AD2}"/>
                  </a:ext>
                </a:extLst>
              </p:cNvPr>
              <p:cNvSpPr/>
              <p:nvPr/>
            </p:nvSpPr>
            <p:spPr>
              <a:xfrm rot="16200000">
                <a:off x="6990674" y="3559245"/>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9803"/>
                </a:schemeClr>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72" name="Google Shape;4241;p22">
                <a:extLst>
                  <a:ext uri="{FF2B5EF4-FFF2-40B4-BE49-F238E27FC236}">
                    <a16:creationId xmlns:a16="http://schemas.microsoft.com/office/drawing/2014/main" id="{47FA33FA-A8D4-CE32-F0A9-8FD916D41EF8}"/>
                  </a:ext>
                </a:extLst>
              </p:cNvPr>
              <p:cNvSpPr/>
              <p:nvPr/>
            </p:nvSpPr>
            <p:spPr>
              <a:xfrm rot="16200000">
                <a:off x="6990721" y="3446618"/>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01" tIns="45613" rIns="91301" bIns="45613"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Tx/>
                  <a:buFontTx/>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grpSp>
      </p:grpSp>
      <p:sp>
        <p:nvSpPr>
          <p:cNvPr id="4" name="Google Shape;1527;p8">
            <a:extLst>
              <a:ext uri="{FF2B5EF4-FFF2-40B4-BE49-F238E27FC236}">
                <a16:creationId xmlns:a16="http://schemas.microsoft.com/office/drawing/2014/main" id="{B8549A12-962E-E0A1-A059-D8A8D5D04975}"/>
              </a:ext>
            </a:extLst>
          </p:cNvPr>
          <p:cNvSpPr/>
          <p:nvPr/>
        </p:nvSpPr>
        <p:spPr>
          <a:xfrm>
            <a:off x="594298" y="1610005"/>
            <a:ext cx="7438027" cy="4436100"/>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algn="ctr" defTabSz="914126">
              <a:buClr>
                <a:srgbClr val="000000"/>
              </a:buClr>
              <a:buSzPts val="1200"/>
            </a:pPr>
            <a:endParaRPr sz="1200">
              <a:solidFill>
                <a:srgbClr val="FFFFFF"/>
              </a:solidFill>
              <a:latin typeface="Arial"/>
              <a:ea typeface="Arial"/>
              <a:cs typeface="Arial"/>
              <a:sym typeface="Arial"/>
            </a:endParaRPr>
          </a:p>
        </p:txBody>
      </p:sp>
      <p:sp>
        <p:nvSpPr>
          <p:cNvPr id="9" name="Google Shape;1479;p7">
            <a:extLst>
              <a:ext uri="{FF2B5EF4-FFF2-40B4-BE49-F238E27FC236}">
                <a16:creationId xmlns:a16="http://schemas.microsoft.com/office/drawing/2014/main" id="{65066EA8-88FD-B74C-DF5C-0D8646E890A0}"/>
              </a:ext>
            </a:extLst>
          </p:cNvPr>
          <p:cNvSpPr/>
          <p:nvPr/>
        </p:nvSpPr>
        <p:spPr>
          <a:xfrm>
            <a:off x="4160287" y="2024178"/>
            <a:ext cx="3669388" cy="1553465"/>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algn="ctr" defTabSz="914126">
              <a:buClr>
                <a:srgbClr val="000000"/>
              </a:buClr>
              <a:buSzPts val="1200"/>
            </a:pPr>
            <a:endParaRPr sz="1200">
              <a:solidFill>
                <a:srgbClr val="FFFFFF"/>
              </a:solidFill>
              <a:latin typeface="Arial"/>
              <a:ea typeface="Arial"/>
              <a:cs typeface="Arial"/>
              <a:sym typeface="Arial"/>
            </a:endParaRPr>
          </a:p>
        </p:txBody>
      </p:sp>
      <p:sp>
        <p:nvSpPr>
          <p:cNvPr id="10" name="Google Shape;1479;p7">
            <a:extLst>
              <a:ext uri="{FF2B5EF4-FFF2-40B4-BE49-F238E27FC236}">
                <a16:creationId xmlns:a16="http://schemas.microsoft.com/office/drawing/2014/main" id="{C1828D7F-82D9-AC8A-483B-12EB038F50A1}"/>
              </a:ext>
            </a:extLst>
          </p:cNvPr>
          <p:cNvSpPr/>
          <p:nvPr/>
        </p:nvSpPr>
        <p:spPr>
          <a:xfrm>
            <a:off x="787518" y="2117222"/>
            <a:ext cx="2563041" cy="1286357"/>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algn="ctr" defTabSz="914126">
              <a:buClr>
                <a:srgbClr val="000000"/>
              </a:buClr>
              <a:buSzPts val="1200"/>
            </a:pPr>
            <a:endParaRPr sz="1200">
              <a:solidFill>
                <a:srgbClr val="FFFFFF"/>
              </a:solidFill>
              <a:latin typeface="Arial"/>
              <a:ea typeface="Arial"/>
              <a:cs typeface="Arial"/>
              <a:sym typeface="Arial"/>
            </a:endParaRPr>
          </a:p>
        </p:txBody>
      </p:sp>
      <p:sp>
        <p:nvSpPr>
          <p:cNvPr id="11" name="TextBox 10">
            <a:extLst>
              <a:ext uri="{FF2B5EF4-FFF2-40B4-BE49-F238E27FC236}">
                <a16:creationId xmlns:a16="http://schemas.microsoft.com/office/drawing/2014/main" id="{8CDEE010-854D-1C99-C86D-462B530B3E4E}"/>
              </a:ext>
            </a:extLst>
          </p:cNvPr>
          <p:cNvSpPr txBox="1"/>
          <p:nvPr/>
        </p:nvSpPr>
        <p:spPr>
          <a:xfrm>
            <a:off x="928295" y="1727707"/>
            <a:ext cx="2281485" cy="246157"/>
          </a:xfrm>
          <a:prstGeom prst="rect">
            <a:avLst/>
          </a:prstGeom>
          <a:noFill/>
        </p:spPr>
        <p:txBody>
          <a:bodyPr wrap="square" lIns="0" tIns="0" rIns="0" bIns="0" rtlCol="0">
            <a:spAutoFit/>
          </a:bodyPr>
          <a:lstStyle/>
          <a:p>
            <a:pPr algn="ctr" defTabSz="914126"/>
            <a:r>
              <a:rPr lang="en-US" sz="1600" dirty="0">
                <a:solidFill>
                  <a:srgbClr val="1B1D36"/>
                </a:solidFill>
                <a:latin typeface="Arial" panose="020B0604020202020204"/>
              </a:rPr>
              <a:t>Management Appliance</a:t>
            </a:r>
          </a:p>
        </p:txBody>
      </p:sp>
      <p:sp>
        <p:nvSpPr>
          <p:cNvPr id="12" name="TextBox 11">
            <a:extLst>
              <a:ext uri="{FF2B5EF4-FFF2-40B4-BE49-F238E27FC236}">
                <a16:creationId xmlns:a16="http://schemas.microsoft.com/office/drawing/2014/main" id="{31848DF5-594D-4285-0F0B-7C44B80C62C2}"/>
              </a:ext>
            </a:extLst>
          </p:cNvPr>
          <p:cNvSpPr txBox="1"/>
          <p:nvPr/>
        </p:nvSpPr>
        <p:spPr>
          <a:xfrm>
            <a:off x="4776252" y="1723750"/>
            <a:ext cx="2437460" cy="246157"/>
          </a:xfrm>
          <a:prstGeom prst="rect">
            <a:avLst/>
          </a:prstGeom>
          <a:noFill/>
        </p:spPr>
        <p:txBody>
          <a:bodyPr wrap="square" lIns="0" tIns="0" rIns="0" bIns="0" rtlCol="0">
            <a:spAutoFit/>
          </a:bodyPr>
          <a:lstStyle/>
          <a:p>
            <a:pPr algn="ctr" defTabSz="914126"/>
            <a:r>
              <a:rPr lang="en-US" sz="1600" dirty="0">
                <a:solidFill>
                  <a:srgbClr val="000000"/>
                </a:solidFill>
                <a:latin typeface="Arial" panose="020B0604020202020204"/>
              </a:rPr>
              <a:t>VCF 9 Components</a:t>
            </a:r>
          </a:p>
        </p:txBody>
      </p:sp>
      <p:sp>
        <p:nvSpPr>
          <p:cNvPr id="13" name="Google Shape;1811;p13">
            <a:extLst>
              <a:ext uri="{FF2B5EF4-FFF2-40B4-BE49-F238E27FC236}">
                <a16:creationId xmlns:a16="http://schemas.microsoft.com/office/drawing/2014/main" id="{81EF0063-1807-C92F-6C58-CB85097F7D4F}"/>
              </a:ext>
            </a:extLst>
          </p:cNvPr>
          <p:cNvSpPr/>
          <p:nvPr/>
        </p:nvSpPr>
        <p:spPr>
          <a:xfrm>
            <a:off x="4323856" y="2855483"/>
            <a:ext cx="1581071" cy="55385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algn="ctr" defTabSz="914126">
              <a:buClr>
                <a:srgbClr val="000000"/>
              </a:buClr>
              <a:buSzPts val="800"/>
            </a:pPr>
            <a:r>
              <a:rPr lang="en-US" sz="1200" b="1" dirty="0">
                <a:solidFill>
                  <a:srgbClr val="FFFFFF"/>
                </a:solidFill>
                <a:latin typeface="Arial"/>
                <a:ea typeface="Arial"/>
                <a:cs typeface="Arial"/>
                <a:sym typeface="Arial"/>
              </a:rPr>
              <a:t>VCF Automation</a:t>
            </a:r>
            <a:endParaRPr sz="1200" b="1" dirty="0">
              <a:solidFill>
                <a:srgbClr val="FFFFFF"/>
              </a:solidFill>
              <a:latin typeface="Arial"/>
              <a:ea typeface="Arial"/>
              <a:cs typeface="Arial"/>
              <a:sym typeface="Arial"/>
            </a:endParaRPr>
          </a:p>
        </p:txBody>
      </p:sp>
      <p:sp>
        <p:nvSpPr>
          <p:cNvPr id="14" name="Google Shape;1811;p13">
            <a:extLst>
              <a:ext uri="{FF2B5EF4-FFF2-40B4-BE49-F238E27FC236}">
                <a16:creationId xmlns:a16="http://schemas.microsoft.com/office/drawing/2014/main" id="{B3DC24D1-5D50-C601-168F-6C5BAF752D0C}"/>
              </a:ext>
            </a:extLst>
          </p:cNvPr>
          <p:cNvSpPr/>
          <p:nvPr/>
        </p:nvSpPr>
        <p:spPr>
          <a:xfrm>
            <a:off x="4323856" y="2192984"/>
            <a:ext cx="1581071" cy="55385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algn="ctr" defTabSz="914126">
              <a:buClr>
                <a:srgbClr val="000000"/>
              </a:buClr>
              <a:buSzPts val="800"/>
            </a:pPr>
            <a:r>
              <a:rPr lang="en-US" sz="1200" b="1" dirty="0">
                <a:solidFill>
                  <a:srgbClr val="FFFFFF"/>
                </a:solidFill>
                <a:latin typeface="Arial"/>
                <a:ea typeface="Arial"/>
                <a:cs typeface="Arial"/>
                <a:sym typeface="Arial"/>
              </a:rPr>
              <a:t>VCF Operations</a:t>
            </a:r>
            <a:endParaRPr sz="1200" b="1" dirty="0">
              <a:solidFill>
                <a:srgbClr val="FFFFFF"/>
              </a:solidFill>
              <a:latin typeface="Arial"/>
              <a:ea typeface="Arial"/>
              <a:cs typeface="Arial"/>
              <a:sym typeface="Arial"/>
            </a:endParaRPr>
          </a:p>
        </p:txBody>
      </p:sp>
      <p:sp>
        <p:nvSpPr>
          <p:cNvPr id="15" name="Google Shape;1811;p13">
            <a:extLst>
              <a:ext uri="{FF2B5EF4-FFF2-40B4-BE49-F238E27FC236}">
                <a16:creationId xmlns:a16="http://schemas.microsoft.com/office/drawing/2014/main" id="{E31E0432-C18F-B8DF-F0DD-0B761BD35E3F}"/>
              </a:ext>
            </a:extLst>
          </p:cNvPr>
          <p:cNvSpPr/>
          <p:nvPr/>
        </p:nvSpPr>
        <p:spPr>
          <a:xfrm>
            <a:off x="1278503" y="2651528"/>
            <a:ext cx="1581071" cy="553854"/>
          </a:xfrm>
          <a:prstGeom prst="roundRect">
            <a:avLst>
              <a:gd name="adj" fmla="val 6349"/>
            </a:avLst>
          </a:prstGeom>
          <a:solidFill>
            <a:schemeClr val="lt1"/>
          </a:solidFill>
          <a:ln w="25400">
            <a:gradFill>
              <a:gsLst>
                <a:gs pos="0">
                  <a:schemeClr val="accent5"/>
                </a:gs>
                <a:gs pos="100000">
                  <a:schemeClr val="accent2"/>
                </a:gs>
                <a:gs pos="98000">
                  <a:schemeClr val="accent2"/>
                </a:gs>
                <a:gs pos="100000">
                  <a:schemeClr val="accent1">
                    <a:lumMod val="30000"/>
                    <a:lumOff val="70000"/>
                  </a:schemeClr>
                </a:gs>
              </a:gsLst>
              <a:lin ang="5400000" scaled="1"/>
            </a:gradFill>
          </a:ln>
        </p:spPr>
        <p:txBody>
          <a:bodyPr spcFirstLastPara="1" wrap="square" lIns="91376" tIns="45688" rIns="91376" bIns="45688" anchor="ctr" anchorCtr="0">
            <a:noAutofit/>
          </a:bodyPr>
          <a:lstStyle/>
          <a:p>
            <a:pPr algn="ctr" defTabSz="914126">
              <a:buClr>
                <a:srgbClr val="000000"/>
              </a:buClr>
              <a:buSzPts val="800"/>
            </a:pPr>
            <a:r>
              <a:rPr lang="en-US" sz="1200" b="1" dirty="0">
                <a:solidFill>
                  <a:srgbClr val="000000"/>
                </a:solidFill>
                <a:latin typeface="Arial"/>
                <a:ea typeface="Arial"/>
                <a:cs typeface="Arial"/>
                <a:sym typeface="Arial"/>
              </a:rPr>
              <a:t>Fleet Management</a:t>
            </a:r>
            <a:endParaRPr sz="1200" b="1" dirty="0">
              <a:solidFill>
                <a:srgbClr val="000000"/>
              </a:solidFill>
              <a:latin typeface="Arial"/>
              <a:ea typeface="Arial"/>
              <a:cs typeface="Arial"/>
              <a:sym typeface="Arial"/>
            </a:endParaRPr>
          </a:p>
        </p:txBody>
      </p:sp>
      <p:sp>
        <p:nvSpPr>
          <p:cNvPr id="16" name="TextBox 15">
            <a:extLst>
              <a:ext uri="{FF2B5EF4-FFF2-40B4-BE49-F238E27FC236}">
                <a16:creationId xmlns:a16="http://schemas.microsoft.com/office/drawing/2014/main" id="{D7EEA8C7-2DA1-F6EA-C772-925BD55E6BBF}"/>
              </a:ext>
            </a:extLst>
          </p:cNvPr>
          <p:cNvSpPr txBox="1"/>
          <p:nvPr/>
        </p:nvSpPr>
        <p:spPr>
          <a:xfrm>
            <a:off x="1097841" y="2225185"/>
            <a:ext cx="1942395" cy="276927"/>
          </a:xfrm>
          <a:prstGeom prst="rect">
            <a:avLst/>
          </a:prstGeom>
          <a:noFill/>
        </p:spPr>
        <p:txBody>
          <a:bodyPr wrap="square" lIns="0" tIns="0" rIns="0" bIns="0" rtlCol="0">
            <a:spAutoFit/>
          </a:bodyPr>
          <a:lstStyle/>
          <a:p>
            <a:pPr algn="ctr" defTabSz="914126"/>
            <a:r>
              <a:rPr lang="en-US" sz="1799" dirty="0">
                <a:solidFill>
                  <a:srgbClr val="1B1D36"/>
                </a:solidFill>
                <a:latin typeface="Arial" panose="020B0604020202020204"/>
              </a:rPr>
              <a:t>VCF Management</a:t>
            </a:r>
          </a:p>
        </p:txBody>
      </p:sp>
      <p:grpSp>
        <p:nvGrpSpPr>
          <p:cNvPr id="17" name="Group 16">
            <a:extLst>
              <a:ext uri="{FF2B5EF4-FFF2-40B4-BE49-F238E27FC236}">
                <a16:creationId xmlns:a16="http://schemas.microsoft.com/office/drawing/2014/main" id="{0BD0849A-EE4E-D3E9-B3D2-D4B864ECAC8D}"/>
              </a:ext>
            </a:extLst>
          </p:cNvPr>
          <p:cNvGrpSpPr/>
          <p:nvPr/>
        </p:nvGrpSpPr>
        <p:grpSpPr>
          <a:xfrm>
            <a:off x="3616870" y="2524476"/>
            <a:ext cx="277107" cy="552871"/>
            <a:chOff x="5086390" y="2966073"/>
            <a:chExt cx="365757" cy="671971"/>
          </a:xfrm>
        </p:grpSpPr>
        <p:sp>
          <p:nvSpPr>
            <p:cNvPr id="18" name="Rectangle 17">
              <a:extLst>
                <a:ext uri="{FF2B5EF4-FFF2-40B4-BE49-F238E27FC236}">
                  <a16:creationId xmlns:a16="http://schemas.microsoft.com/office/drawing/2014/main" id="{53475699-D485-056C-3396-A6C6EB5C0170}"/>
                </a:ext>
              </a:extLst>
            </p:cNvPr>
            <p:cNvSpPr/>
            <p:nvPr/>
          </p:nvSpPr>
          <p:spPr bwMode="gray">
            <a:xfrm>
              <a:off x="5086390" y="2966073"/>
              <a:ext cx="365757" cy="671971"/>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defTabSz="914126"/>
              <a:endParaRPr lang="en-US" sz="1000" dirty="0">
                <a:solidFill>
                  <a:srgbClr val="000000">
                    <a:lumMod val="50000"/>
                  </a:srgbClr>
                </a:solidFill>
                <a:latin typeface="Arial" panose="020B0604020202020204"/>
              </a:endParaRPr>
            </a:p>
          </p:txBody>
        </p:sp>
        <p:grpSp>
          <p:nvGrpSpPr>
            <p:cNvPr id="19" name="Google Shape;4238;p22">
              <a:extLst>
                <a:ext uri="{FF2B5EF4-FFF2-40B4-BE49-F238E27FC236}">
                  <a16:creationId xmlns:a16="http://schemas.microsoft.com/office/drawing/2014/main" id="{5CEA11B5-3947-7453-7ABF-13BB48A348C9}"/>
                </a:ext>
              </a:extLst>
            </p:cNvPr>
            <p:cNvGrpSpPr/>
            <p:nvPr/>
          </p:nvGrpSpPr>
          <p:grpSpPr>
            <a:xfrm rot="5400000">
              <a:off x="5138869" y="3058040"/>
              <a:ext cx="263441" cy="352709"/>
              <a:chOff x="6930408" y="3506884"/>
              <a:chExt cx="283405" cy="388082"/>
            </a:xfrm>
          </p:grpSpPr>
          <p:sp>
            <p:nvSpPr>
              <p:cNvPr id="20" name="Google Shape;4239;p22">
                <a:extLst>
                  <a:ext uri="{FF2B5EF4-FFF2-40B4-BE49-F238E27FC236}">
                    <a16:creationId xmlns:a16="http://schemas.microsoft.com/office/drawing/2014/main" id="{9BF63612-FA37-CA08-D8B8-7D55387F4E02}"/>
                  </a:ext>
                </a:extLst>
              </p:cNvPr>
              <p:cNvSpPr/>
              <p:nvPr/>
            </p:nvSpPr>
            <p:spPr>
              <a:xfrm rot="16200000">
                <a:off x="6990674" y="3671874"/>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4705"/>
                </a:schemeClr>
              </a:solidFill>
              <a:ln>
                <a:noFill/>
              </a:ln>
            </p:spPr>
            <p:txBody>
              <a:bodyPr spcFirstLastPara="1" wrap="square" lIns="91301" tIns="45613" rIns="91301" bIns="45613" anchor="ctr" anchorCtr="0">
                <a:noAutofit/>
              </a:bodyPr>
              <a:lstStyle/>
              <a:p>
                <a:pPr algn="ctr" defTabSz="914126">
                  <a:buClr>
                    <a:srgbClr val="000000"/>
                  </a:buClr>
                  <a:defRPr/>
                </a:pPr>
                <a:endParaRPr sz="1200" kern="0" dirty="0">
                  <a:solidFill>
                    <a:srgbClr val="005B84"/>
                  </a:solidFill>
                  <a:latin typeface="Metropolis" pitchFamily="2" charset="77"/>
                  <a:cs typeface="Arial"/>
                  <a:sym typeface="Arial"/>
                </a:endParaRPr>
              </a:p>
            </p:txBody>
          </p:sp>
          <p:sp>
            <p:nvSpPr>
              <p:cNvPr id="21" name="Google Shape;4240;p22">
                <a:extLst>
                  <a:ext uri="{FF2B5EF4-FFF2-40B4-BE49-F238E27FC236}">
                    <a16:creationId xmlns:a16="http://schemas.microsoft.com/office/drawing/2014/main" id="{5971E8DE-EBDC-668E-3A3C-D82C4541D34A}"/>
                  </a:ext>
                </a:extLst>
              </p:cNvPr>
              <p:cNvSpPr/>
              <p:nvPr/>
            </p:nvSpPr>
            <p:spPr>
              <a:xfrm rot="16200000">
                <a:off x="6990674" y="3559245"/>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9803"/>
                </a:schemeClr>
              </a:solidFill>
              <a:ln>
                <a:noFill/>
              </a:ln>
            </p:spPr>
            <p:txBody>
              <a:bodyPr spcFirstLastPara="1" wrap="square" lIns="91301" tIns="45613" rIns="91301" bIns="45613" anchor="ctr" anchorCtr="0">
                <a:noAutofit/>
              </a:bodyPr>
              <a:lstStyle/>
              <a:p>
                <a:pPr algn="ctr" defTabSz="914126">
                  <a:buClr>
                    <a:srgbClr val="000000"/>
                  </a:buClr>
                  <a:defRPr/>
                </a:pPr>
                <a:endParaRPr sz="1200" kern="0" dirty="0">
                  <a:solidFill>
                    <a:srgbClr val="005B84"/>
                  </a:solidFill>
                  <a:latin typeface="Metropolis" pitchFamily="2" charset="77"/>
                  <a:cs typeface="Arial"/>
                  <a:sym typeface="Arial"/>
                </a:endParaRPr>
              </a:p>
            </p:txBody>
          </p:sp>
          <p:sp>
            <p:nvSpPr>
              <p:cNvPr id="23" name="Google Shape;4241;p22">
                <a:extLst>
                  <a:ext uri="{FF2B5EF4-FFF2-40B4-BE49-F238E27FC236}">
                    <a16:creationId xmlns:a16="http://schemas.microsoft.com/office/drawing/2014/main" id="{D79BCA8E-A843-CBBE-C59D-DA6D98E78468}"/>
                  </a:ext>
                </a:extLst>
              </p:cNvPr>
              <p:cNvSpPr/>
              <p:nvPr/>
            </p:nvSpPr>
            <p:spPr>
              <a:xfrm rot="16200000">
                <a:off x="6990721" y="3446618"/>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01" tIns="45613" rIns="91301" bIns="45613" anchor="ctr" anchorCtr="0">
                <a:noAutofit/>
              </a:bodyPr>
              <a:lstStyle/>
              <a:p>
                <a:pPr algn="ctr" defTabSz="914126">
                  <a:buClr>
                    <a:srgbClr val="000000"/>
                  </a:buClr>
                  <a:defRPr/>
                </a:pPr>
                <a:endParaRPr sz="1200" kern="0" dirty="0">
                  <a:solidFill>
                    <a:srgbClr val="005B84"/>
                  </a:solidFill>
                  <a:latin typeface="Metropolis" pitchFamily="2" charset="77"/>
                  <a:cs typeface="Arial"/>
                  <a:sym typeface="Arial"/>
                </a:endParaRPr>
              </a:p>
            </p:txBody>
          </p:sp>
        </p:grpSp>
      </p:grpSp>
      <p:sp>
        <p:nvSpPr>
          <p:cNvPr id="24" name="Google Shape;1811;p13">
            <a:extLst>
              <a:ext uri="{FF2B5EF4-FFF2-40B4-BE49-F238E27FC236}">
                <a16:creationId xmlns:a16="http://schemas.microsoft.com/office/drawing/2014/main" id="{7A439091-35A0-D948-4FB3-0C5243673BCE}"/>
              </a:ext>
            </a:extLst>
          </p:cNvPr>
          <p:cNvSpPr/>
          <p:nvPr/>
        </p:nvSpPr>
        <p:spPr>
          <a:xfrm>
            <a:off x="6084512" y="2849725"/>
            <a:ext cx="1581071" cy="55385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algn="ctr" defTabSz="914126">
              <a:buClr>
                <a:srgbClr val="000000"/>
              </a:buClr>
              <a:buSzPts val="800"/>
            </a:pPr>
            <a:r>
              <a:rPr lang="en-US" sz="1200" b="1" dirty="0">
                <a:solidFill>
                  <a:srgbClr val="FFFFFF"/>
                </a:solidFill>
                <a:latin typeface="Arial"/>
                <a:ea typeface="Arial"/>
                <a:cs typeface="Arial"/>
                <a:sym typeface="Arial"/>
              </a:rPr>
              <a:t>Ops for Logs, Networks</a:t>
            </a:r>
            <a:endParaRPr sz="1200" b="1" dirty="0">
              <a:solidFill>
                <a:srgbClr val="FFFFFF"/>
              </a:solidFill>
              <a:latin typeface="Arial"/>
              <a:ea typeface="Arial"/>
              <a:cs typeface="Arial"/>
              <a:sym typeface="Arial"/>
            </a:endParaRPr>
          </a:p>
        </p:txBody>
      </p:sp>
      <p:sp>
        <p:nvSpPr>
          <p:cNvPr id="25" name="Google Shape;1811;p13">
            <a:extLst>
              <a:ext uri="{FF2B5EF4-FFF2-40B4-BE49-F238E27FC236}">
                <a16:creationId xmlns:a16="http://schemas.microsoft.com/office/drawing/2014/main" id="{1D2B8084-5B28-7ADE-DC3D-C2197384E00C}"/>
              </a:ext>
            </a:extLst>
          </p:cNvPr>
          <p:cNvSpPr/>
          <p:nvPr/>
        </p:nvSpPr>
        <p:spPr>
          <a:xfrm>
            <a:off x="6084512" y="2187225"/>
            <a:ext cx="1581071" cy="55385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algn="ctr" defTabSz="914126">
              <a:buClr>
                <a:srgbClr val="000000"/>
              </a:buClr>
              <a:buSzPts val="800"/>
            </a:pPr>
            <a:r>
              <a:rPr lang="en-US" sz="1200" b="1" dirty="0">
                <a:solidFill>
                  <a:srgbClr val="FFFFFF"/>
                </a:solidFill>
                <a:latin typeface="Arial"/>
                <a:ea typeface="Arial"/>
                <a:cs typeface="Arial"/>
                <a:sym typeface="Arial"/>
              </a:rPr>
              <a:t>VCF ID Broker</a:t>
            </a:r>
            <a:endParaRPr sz="1200" b="1" dirty="0">
              <a:solidFill>
                <a:srgbClr val="FFFFFF"/>
              </a:solidFill>
              <a:latin typeface="Arial"/>
              <a:ea typeface="Arial"/>
              <a:cs typeface="Arial"/>
              <a:sym typeface="Arial"/>
            </a:endParaRPr>
          </a:p>
        </p:txBody>
      </p:sp>
      <p:sp>
        <p:nvSpPr>
          <p:cNvPr id="26" name="Google Shape;1479;p7">
            <a:extLst>
              <a:ext uri="{FF2B5EF4-FFF2-40B4-BE49-F238E27FC236}">
                <a16:creationId xmlns:a16="http://schemas.microsoft.com/office/drawing/2014/main" id="{ECFC0E1A-7E49-3B35-6BE6-0E7EA2FA7944}"/>
              </a:ext>
            </a:extLst>
          </p:cNvPr>
          <p:cNvSpPr/>
          <p:nvPr/>
        </p:nvSpPr>
        <p:spPr>
          <a:xfrm>
            <a:off x="4160287" y="4108975"/>
            <a:ext cx="3669388" cy="1553465"/>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algn="ctr" defTabSz="914126">
              <a:buClr>
                <a:srgbClr val="000000"/>
              </a:buClr>
              <a:buSzPts val="1200"/>
            </a:pPr>
            <a:endParaRPr sz="1200">
              <a:solidFill>
                <a:srgbClr val="FFFFFF"/>
              </a:solidFill>
              <a:latin typeface="Arial"/>
              <a:ea typeface="Arial"/>
              <a:cs typeface="Arial"/>
              <a:sym typeface="Arial"/>
            </a:endParaRPr>
          </a:p>
        </p:txBody>
      </p:sp>
      <p:sp>
        <p:nvSpPr>
          <p:cNvPr id="27" name="Google Shape;1811;p13">
            <a:extLst>
              <a:ext uri="{FF2B5EF4-FFF2-40B4-BE49-F238E27FC236}">
                <a16:creationId xmlns:a16="http://schemas.microsoft.com/office/drawing/2014/main" id="{B7B397A6-634D-2CD6-4FB5-2B9AD1C7ABD3}"/>
              </a:ext>
            </a:extLst>
          </p:cNvPr>
          <p:cNvSpPr/>
          <p:nvPr/>
        </p:nvSpPr>
        <p:spPr>
          <a:xfrm>
            <a:off x="4323856" y="4940280"/>
            <a:ext cx="1581071" cy="55385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algn="ctr" defTabSz="914126">
              <a:buClr>
                <a:srgbClr val="000000"/>
              </a:buClr>
              <a:buSzPts val="800"/>
            </a:pPr>
            <a:r>
              <a:rPr lang="en-US" sz="1200" b="1" dirty="0">
                <a:solidFill>
                  <a:srgbClr val="FFFFFF"/>
                </a:solidFill>
                <a:latin typeface="Arial"/>
                <a:ea typeface="Arial"/>
                <a:cs typeface="Arial"/>
                <a:sym typeface="Arial"/>
              </a:rPr>
              <a:t>VMware NSX</a:t>
            </a:r>
            <a:endParaRPr sz="1200" b="1" dirty="0">
              <a:solidFill>
                <a:srgbClr val="FFFFFF"/>
              </a:solidFill>
              <a:latin typeface="Arial"/>
              <a:ea typeface="Arial"/>
              <a:cs typeface="Arial"/>
              <a:sym typeface="Arial"/>
            </a:endParaRPr>
          </a:p>
        </p:txBody>
      </p:sp>
      <p:sp>
        <p:nvSpPr>
          <p:cNvPr id="28" name="Google Shape;1811;p13">
            <a:extLst>
              <a:ext uri="{FF2B5EF4-FFF2-40B4-BE49-F238E27FC236}">
                <a16:creationId xmlns:a16="http://schemas.microsoft.com/office/drawing/2014/main" id="{9E5D2C56-0951-697C-5E3C-37D66D78263A}"/>
              </a:ext>
            </a:extLst>
          </p:cNvPr>
          <p:cNvSpPr/>
          <p:nvPr/>
        </p:nvSpPr>
        <p:spPr>
          <a:xfrm>
            <a:off x="4323856" y="4277781"/>
            <a:ext cx="1581071" cy="55385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algn="ctr" defTabSz="914126">
              <a:buClr>
                <a:srgbClr val="000000"/>
              </a:buClr>
              <a:buSzPts val="800"/>
            </a:pPr>
            <a:r>
              <a:rPr lang="en-US" sz="1200" b="1" dirty="0">
                <a:solidFill>
                  <a:srgbClr val="FFFFFF"/>
                </a:solidFill>
                <a:latin typeface="Arial"/>
                <a:ea typeface="Arial"/>
                <a:cs typeface="Arial"/>
                <a:sym typeface="Arial"/>
              </a:rPr>
              <a:t>vCenter Server</a:t>
            </a:r>
            <a:endParaRPr sz="1200" b="1" dirty="0">
              <a:solidFill>
                <a:srgbClr val="FFFFFF"/>
              </a:solidFill>
              <a:latin typeface="Arial"/>
              <a:ea typeface="Arial"/>
              <a:cs typeface="Arial"/>
              <a:sym typeface="Arial"/>
            </a:endParaRPr>
          </a:p>
        </p:txBody>
      </p:sp>
      <p:sp>
        <p:nvSpPr>
          <p:cNvPr id="29" name="Google Shape;1811;p13">
            <a:extLst>
              <a:ext uri="{FF2B5EF4-FFF2-40B4-BE49-F238E27FC236}">
                <a16:creationId xmlns:a16="http://schemas.microsoft.com/office/drawing/2014/main" id="{7EC2DEE8-4E73-2B75-B569-0181C924EFBA}"/>
              </a:ext>
            </a:extLst>
          </p:cNvPr>
          <p:cNvSpPr/>
          <p:nvPr/>
        </p:nvSpPr>
        <p:spPr>
          <a:xfrm>
            <a:off x="6084512" y="4934522"/>
            <a:ext cx="1581071" cy="55385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algn="ctr" defTabSz="914126">
              <a:buClr>
                <a:srgbClr val="000000"/>
              </a:buClr>
              <a:buSzPts val="800"/>
            </a:pPr>
            <a:r>
              <a:rPr lang="en-US" sz="1200" b="1" dirty="0">
                <a:solidFill>
                  <a:srgbClr val="FFFFFF"/>
                </a:solidFill>
                <a:latin typeface="Arial"/>
                <a:ea typeface="Arial"/>
                <a:cs typeface="Arial"/>
                <a:sym typeface="Arial"/>
              </a:rPr>
              <a:t>SDDC Manager</a:t>
            </a:r>
            <a:endParaRPr sz="1200" b="1" dirty="0">
              <a:solidFill>
                <a:srgbClr val="FFFFFF"/>
              </a:solidFill>
              <a:latin typeface="Arial"/>
              <a:ea typeface="Arial"/>
              <a:cs typeface="Arial"/>
              <a:sym typeface="Arial"/>
            </a:endParaRPr>
          </a:p>
        </p:txBody>
      </p:sp>
      <p:sp>
        <p:nvSpPr>
          <p:cNvPr id="30" name="Google Shape;1811;p13">
            <a:extLst>
              <a:ext uri="{FF2B5EF4-FFF2-40B4-BE49-F238E27FC236}">
                <a16:creationId xmlns:a16="http://schemas.microsoft.com/office/drawing/2014/main" id="{0901F1BA-1F4C-60DB-0E26-771C3ABFB9CE}"/>
              </a:ext>
            </a:extLst>
          </p:cNvPr>
          <p:cNvSpPr/>
          <p:nvPr/>
        </p:nvSpPr>
        <p:spPr>
          <a:xfrm>
            <a:off x="6084512" y="4272022"/>
            <a:ext cx="1581071" cy="55385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algn="ctr" defTabSz="914126">
              <a:buClr>
                <a:srgbClr val="000000"/>
              </a:buClr>
              <a:buSzPts val="800"/>
            </a:pPr>
            <a:r>
              <a:rPr lang="en-US" sz="1200" b="1" dirty="0">
                <a:solidFill>
                  <a:srgbClr val="FFFFFF"/>
                </a:solidFill>
                <a:latin typeface="Arial"/>
                <a:ea typeface="Arial"/>
                <a:cs typeface="Arial"/>
                <a:sym typeface="Arial"/>
              </a:rPr>
              <a:t>VMware ESX</a:t>
            </a:r>
            <a:endParaRPr sz="1200" b="1" dirty="0">
              <a:solidFill>
                <a:srgbClr val="FFFFFF"/>
              </a:solidFill>
              <a:latin typeface="Arial"/>
              <a:ea typeface="Arial"/>
              <a:cs typeface="Arial"/>
              <a:sym typeface="Arial"/>
            </a:endParaRPr>
          </a:p>
        </p:txBody>
      </p:sp>
      <p:sp>
        <p:nvSpPr>
          <p:cNvPr id="31" name="Google Shape;1479;p7">
            <a:extLst>
              <a:ext uri="{FF2B5EF4-FFF2-40B4-BE49-F238E27FC236}">
                <a16:creationId xmlns:a16="http://schemas.microsoft.com/office/drawing/2014/main" id="{D5BF63A2-ABAC-0419-0BDE-3D9F774D471F}"/>
              </a:ext>
            </a:extLst>
          </p:cNvPr>
          <p:cNvSpPr/>
          <p:nvPr/>
        </p:nvSpPr>
        <p:spPr>
          <a:xfrm>
            <a:off x="805759" y="4193808"/>
            <a:ext cx="2563041" cy="1286357"/>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algn="ctr" defTabSz="914126">
              <a:buClr>
                <a:srgbClr val="000000"/>
              </a:buClr>
              <a:buSzPts val="1200"/>
            </a:pPr>
            <a:endParaRPr sz="1200">
              <a:solidFill>
                <a:srgbClr val="FFFFFF"/>
              </a:solidFill>
              <a:latin typeface="Arial"/>
              <a:ea typeface="Arial"/>
              <a:cs typeface="Arial"/>
              <a:sym typeface="Arial"/>
            </a:endParaRPr>
          </a:p>
        </p:txBody>
      </p:sp>
      <p:sp>
        <p:nvSpPr>
          <p:cNvPr id="32" name="Google Shape;1811;p13">
            <a:extLst>
              <a:ext uri="{FF2B5EF4-FFF2-40B4-BE49-F238E27FC236}">
                <a16:creationId xmlns:a16="http://schemas.microsoft.com/office/drawing/2014/main" id="{01E14E91-DD20-E544-1B33-3F90C6245068}"/>
              </a:ext>
            </a:extLst>
          </p:cNvPr>
          <p:cNvSpPr/>
          <p:nvPr/>
        </p:nvSpPr>
        <p:spPr>
          <a:xfrm>
            <a:off x="1296744" y="4728114"/>
            <a:ext cx="1581071" cy="553854"/>
          </a:xfrm>
          <a:prstGeom prst="roundRect">
            <a:avLst>
              <a:gd name="adj" fmla="val 6349"/>
            </a:avLst>
          </a:prstGeom>
          <a:solidFill>
            <a:schemeClr val="lt1"/>
          </a:solidFill>
          <a:ln w="25400">
            <a:gradFill>
              <a:gsLst>
                <a:gs pos="0">
                  <a:schemeClr val="accent5"/>
                </a:gs>
                <a:gs pos="100000">
                  <a:schemeClr val="accent2"/>
                </a:gs>
                <a:gs pos="98000">
                  <a:schemeClr val="accent2"/>
                </a:gs>
                <a:gs pos="100000">
                  <a:schemeClr val="accent1">
                    <a:lumMod val="30000"/>
                    <a:lumOff val="70000"/>
                  </a:schemeClr>
                </a:gs>
              </a:gsLst>
              <a:lin ang="5400000" scaled="1"/>
            </a:gradFill>
          </a:ln>
        </p:spPr>
        <p:txBody>
          <a:bodyPr spcFirstLastPara="1" wrap="square" lIns="91376" tIns="45688" rIns="91376" bIns="45688" anchor="ctr" anchorCtr="0">
            <a:noAutofit/>
          </a:bodyPr>
          <a:lstStyle/>
          <a:p>
            <a:pPr algn="ctr" defTabSz="914126">
              <a:buClr>
                <a:srgbClr val="000000"/>
              </a:buClr>
              <a:buSzPts val="800"/>
            </a:pPr>
            <a:r>
              <a:rPr lang="en-US" sz="1200" b="1" dirty="0">
                <a:solidFill>
                  <a:srgbClr val="000000"/>
                </a:solidFill>
                <a:latin typeface="Arial"/>
                <a:ea typeface="Arial"/>
                <a:cs typeface="Arial"/>
                <a:sym typeface="Arial"/>
              </a:rPr>
              <a:t>SDDC Manager</a:t>
            </a:r>
            <a:endParaRPr sz="1200" b="1" dirty="0">
              <a:solidFill>
                <a:srgbClr val="000000"/>
              </a:solidFill>
              <a:latin typeface="Arial"/>
              <a:ea typeface="Arial"/>
              <a:cs typeface="Arial"/>
              <a:sym typeface="Arial"/>
            </a:endParaRPr>
          </a:p>
        </p:txBody>
      </p:sp>
      <p:sp>
        <p:nvSpPr>
          <p:cNvPr id="33" name="TextBox 32">
            <a:extLst>
              <a:ext uri="{FF2B5EF4-FFF2-40B4-BE49-F238E27FC236}">
                <a16:creationId xmlns:a16="http://schemas.microsoft.com/office/drawing/2014/main" id="{2AEE39FE-EA91-B130-8428-50DE68054BD5}"/>
              </a:ext>
            </a:extLst>
          </p:cNvPr>
          <p:cNvSpPr txBox="1"/>
          <p:nvPr/>
        </p:nvSpPr>
        <p:spPr>
          <a:xfrm>
            <a:off x="1116082" y="4301771"/>
            <a:ext cx="1942395" cy="276927"/>
          </a:xfrm>
          <a:prstGeom prst="rect">
            <a:avLst/>
          </a:prstGeom>
          <a:noFill/>
        </p:spPr>
        <p:txBody>
          <a:bodyPr wrap="square" lIns="0" tIns="0" rIns="0" bIns="0" rtlCol="0">
            <a:spAutoFit/>
          </a:bodyPr>
          <a:lstStyle/>
          <a:p>
            <a:pPr algn="ctr" defTabSz="914126"/>
            <a:r>
              <a:rPr lang="en-US" sz="1799" dirty="0">
                <a:solidFill>
                  <a:srgbClr val="1B1D36"/>
                </a:solidFill>
                <a:latin typeface="Arial" panose="020B0604020202020204"/>
              </a:rPr>
              <a:t>VCF Instances</a:t>
            </a:r>
          </a:p>
        </p:txBody>
      </p:sp>
      <p:grpSp>
        <p:nvGrpSpPr>
          <p:cNvPr id="34" name="Group 33">
            <a:extLst>
              <a:ext uri="{FF2B5EF4-FFF2-40B4-BE49-F238E27FC236}">
                <a16:creationId xmlns:a16="http://schemas.microsoft.com/office/drawing/2014/main" id="{4D3B44A9-392A-499E-C790-BD1B4C325BFA}"/>
              </a:ext>
            </a:extLst>
          </p:cNvPr>
          <p:cNvGrpSpPr/>
          <p:nvPr/>
        </p:nvGrpSpPr>
        <p:grpSpPr>
          <a:xfrm>
            <a:off x="3596376" y="4609273"/>
            <a:ext cx="277107" cy="552871"/>
            <a:chOff x="5086390" y="2966073"/>
            <a:chExt cx="365757" cy="671971"/>
          </a:xfrm>
        </p:grpSpPr>
        <p:sp>
          <p:nvSpPr>
            <p:cNvPr id="35" name="Rectangle 34">
              <a:extLst>
                <a:ext uri="{FF2B5EF4-FFF2-40B4-BE49-F238E27FC236}">
                  <a16:creationId xmlns:a16="http://schemas.microsoft.com/office/drawing/2014/main" id="{9C0E933B-2FDB-FCDF-D4A5-2CACD7E3A29A}"/>
                </a:ext>
              </a:extLst>
            </p:cNvPr>
            <p:cNvSpPr/>
            <p:nvPr/>
          </p:nvSpPr>
          <p:spPr bwMode="gray">
            <a:xfrm>
              <a:off x="5086390" y="2966073"/>
              <a:ext cx="365757" cy="671971"/>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defTabSz="914126"/>
              <a:endParaRPr lang="en-US" sz="1000" dirty="0">
                <a:solidFill>
                  <a:srgbClr val="000000">
                    <a:lumMod val="50000"/>
                  </a:srgbClr>
                </a:solidFill>
                <a:latin typeface="Arial" panose="020B0604020202020204"/>
              </a:endParaRPr>
            </a:p>
          </p:txBody>
        </p:sp>
        <p:grpSp>
          <p:nvGrpSpPr>
            <p:cNvPr id="36" name="Google Shape;4238;p22">
              <a:extLst>
                <a:ext uri="{FF2B5EF4-FFF2-40B4-BE49-F238E27FC236}">
                  <a16:creationId xmlns:a16="http://schemas.microsoft.com/office/drawing/2014/main" id="{9E0C5D7A-21B8-D011-09EB-2CFA08EA159F}"/>
                </a:ext>
              </a:extLst>
            </p:cNvPr>
            <p:cNvGrpSpPr/>
            <p:nvPr/>
          </p:nvGrpSpPr>
          <p:grpSpPr>
            <a:xfrm rot="5400000">
              <a:off x="5138869" y="3058040"/>
              <a:ext cx="263441" cy="352709"/>
              <a:chOff x="6930408" y="3506884"/>
              <a:chExt cx="283405" cy="388082"/>
            </a:xfrm>
          </p:grpSpPr>
          <p:sp>
            <p:nvSpPr>
              <p:cNvPr id="37" name="Google Shape;4239;p22">
                <a:extLst>
                  <a:ext uri="{FF2B5EF4-FFF2-40B4-BE49-F238E27FC236}">
                    <a16:creationId xmlns:a16="http://schemas.microsoft.com/office/drawing/2014/main" id="{E47E4ADF-5247-5B2C-5228-36FEBBF18C86}"/>
                  </a:ext>
                </a:extLst>
              </p:cNvPr>
              <p:cNvSpPr/>
              <p:nvPr/>
            </p:nvSpPr>
            <p:spPr>
              <a:xfrm rot="16200000">
                <a:off x="6990674" y="3671874"/>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4705"/>
                </a:schemeClr>
              </a:solidFill>
              <a:ln>
                <a:noFill/>
              </a:ln>
            </p:spPr>
            <p:txBody>
              <a:bodyPr spcFirstLastPara="1" wrap="square" lIns="91301" tIns="45613" rIns="91301" bIns="45613" anchor="ctr" anchorCtr="0">
                <a:noAutofit/>
              </a:bodyPr>
              <a:lstStyle/>
              <a:p>
                <a:pPr algn="ctr" defTabSz="914126">
                  <a:buClr>
                    <a:srgbClr val="000000"/>
                  </a:buClr>
                  <a:defRPr/>
                </a:pPr>
                <a:endParaRPr sz="1200" kern="0" dirty="0">
                  <a:solidFill>
                    <a:srgbClr val="005B84"/>
                  </a:solidFill>
                  <a:latin typeface="Metropolis" pitchFamily="2" charset="77"/>
                  <a:cs typeface="Arial"/>
                  <a:sym typeface="Arial"/>
                </a:endParaRPr>
              </a:p>
            </p:txBody>
          </p:sp>
          <p:sp>
            <p:nvSpPr>
              <p:cNvPr id="38" name="Google Shape;4240;p22">
                <a:extLst>
                  <a:ext uri="{FF2B5EF4-FFF2-40B4-BE49-F238E27FC236}">
                    <a16:creationId xmlns:a16="http://schemas.microsoft.com/office/drawing/2014/main" id="{29F94682-20A1-5F14-9832-2B59B1ED0D11}"/>
                  </a:ext>
                </a:extLst>
              </p:cNvPr>
              <p:cNvSpPr/>
              <p:nvPr/>
            </p:nvSpPr>
            <p:spPr>
              <a:xfrm rot="16200000">
                <a:off x="6990674" y="3559245"/>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9803"/>
                </a:schemeClr>
              </a:solidFill>
              <a:ln>
                <a:noFill/>
              </a:ln>
            </p:spPr>
            <p:txBody>
              <a:bodyPr spcFirstLastPara="1" wrap="square" lIns="91301" tIns="45613" rIns="91301" bIns="45613" anchor="ctr" anchorCtr="0">
                <a:noAutofit/>
              </a:bodyPr>
              <a:lstStyle/>
              <a:p>
                <a:pPr algn="ctr" defTabSz="914126">
                  <a:buClr>
                    <a:srgbClr val="000000"/>
                  </a:buClr>
                  <a:defRPr/>
                </a:pPr>
                <a:endParaRPr sz="1200" kern="0" dirty="0">
                  <a:solidFill>
                    <a:srgbClr val="005B84"/>
                  </a:solidFill>
                  <a:latin typeface="Metropolis" pitchFamily="2" charset="77"/>
                  <a:cs typeface="Arial"/>
                  <a:sym typeface="Arial"/>
                </a:endParaRPr>
              </a:p>
            </p:txBody>
          </p:sp>
          <p:sp>
            <p:nvSpPr>
              <p:cNvPr id="39" name="Google Shape;4241;p22">
                <a:extLst>
                  <a:ext uri="{FF2B5EF4-FFF2-40B4-BE49-F238E27FC236}">
                    <a16:creationId xmlns:a16="http://schemas.microsoft.com/office/drawing/2014/main" id="{8D00ACCD-07A3-D6D2-317A-863CA5B9AC3D}"/>
                  </a:ext>
                </a:extLst>
              </p:cNvPr>
              <p:cNvSpPr/>
              <p:nvPr/>
            </p:nvSpPr>
            <p:spPr>
              <a:xfrm rot="16200000">
                <a:off x="6990721" y="3446618"/>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01" tIns="45613" rIns="91301" bIns="45613" anchor="ctr" anchorCtr="0">
                <a:noAutofit/>
              </a:bodyPr>
              <a:lstStyle/>
              <a:p>
                <a:pPr algn="ctr" defTabSz="914126">
                  <a:buClr>
                    <a:srgbClr val="000000"/>
                  </a:buClr>
                  <a:defRPr/>
                </a:pPr>
                <a:endParaRPr sz="1200" kern="0" dirty="0">
                  <a:solidFill>
                    <a:srgbClr val="005B84"/>
                  </a:solidFill>
                  <a:latin typeface="Metropolis" pitchFamily="2" charset="77"/>
                  <a:cs typeface="Arial"/>
                  <a:sym typeface="Arial"/>
                </a:endParaRPr>
              </a:p>
            </p:txBody>
          </p:sp>
        </p:grpSp>
      </p:grpSp>
    </p:spTree>
    <p:extLst>
      <p:ext uri="{BB962C8B-B14F-4D97-AF65-F5344CB8AC3E}">
        <p14:creationId xmlns:p14="http://schemas.microsoft.com/office/powerpoint/2010/main" val="2300489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652">
          <a:extLst>
            <a:ext uri="{FF2B5EF4-FFF2-40B4-BE49-F238E27FC236}">
              <a16:creationId xmlns:a16="http://schemas.microsoft.com/office/drawing/2014/main" id="{606E1888-9ABA-3CED-6E37-1F69C0FC1AEA}"/>
            </a:ext>
          </a:extLst>
        </p:cNvPr>
        <p:cNvGrpSpPr/>
        <p:nvPr/>
      </p:nvGrpSpPr>
      <p:grpSpPr>
        <a:xfrm>
          <a:off x="0" y="0"/>
          <a:ext cx="0" cy="0"/>
          <a:chOff x="0" y="0"/>
          <a:chExt cx="0" cy="0"/>
        </a:xfrm>
      </p:grpSpPr>
      <p:sp>
        <p:nvSpPr>
          <p:cNvPr id="2" name="Google Shape;1494;g34bdd25f43a_0_12732">
            <a:extLst>
              <a:ext uri="{FF2B5EF4-FFF2-40B4-BE49-F238E27FC236}">
                <a16:creationId xmlns:a16="http://schemas.microsoft.com/office/drawing/2014/main" id="{181C9078-1834-7B6B-BC48-186E3553D330}"/>
              </a:ext>
            </a:extLst>
          </p:cNvPr>
          <p:cNvSpPr/>
          <p:nvPr/>
        </p:nvSpPr>
        <p:spPr>
          <a:xfrm flipH="1">
            <a:off x="8380411" y="1671972"/>
            <a:ext cx="3809999" cy="5186029"/>
          </a:xfrm>
          <a:prstGeom prst="rect">
            <a:avLst/>
          </a:prstGeom>
          <a:gradFill flip="none" rotWithShape="1">
            <a:gsLst>
              <a:gs pos="0">
                <a:srgbClr val="E8F0F4">
                  <a:alpha val="80000"/>
                </a:srgbClr>
              </a:gs>
              <a:gs pos="15000">
                <a:srgbClr val="E8F0F4">
                  <a:alpha val="45000"/>
                </a:srgbClr>
              </a:gs>
              <a:gs pos="67000">
                <a:srgbClr val="E8F0F4">
                  <a:alpha val="0"/>
                </a:srgbClr>
              </a:gs>
            </a:gsLst>
            <a:lin ang="5400000" scaled="1"/>
            <a:tileRect/>
          </a:gradFill>
          <a:ln>
            <a:noFill/>
          </a:ln>
        </p:spPr>
        <p:txBody>
          <a:bodyPr spcFirstLastPara="1" wrap="square" lIns="91325" tIns="45650" rIns="91325" bIns="45650" anchor="ctr" anchorCtr="0">
            <a:noAutofit/>
          </a:bodyPr>
          <a:lstStyle/>
          <a:p>
            <a:pPr algn="ctr">
              <a:buClr>
                <a:srgbClr val="000000"/>
              </a:buClr>
              <a:buSzPts val="1200"/>
            </a:pPr>
            <a:endParaRPr sz="1100">
              <a:solidFill>
                <a:srgbClr val="FFFFFF"/>
              </a:solidFill>
              <a:latin typeface="Arial"/>
              <a:ea typeface="Arial"/>
              <a:cs typeface="Arial"/>
              <a:sym typeface="Arial"/>
            </a:endParaRPr>
          </a:p>
        </p:txBody>
      </p:sp>
      <p:sp>
        <p:nvSpPr>
          <p:cNvPr id="29" name="Google Shape;1527;p8">
            <a:extLst>
              <a:ext uri="{FF2B5EF4-FFF2-40B4-BE49-F238E27FC236}">
                <a16:creationId xmlns:a16="http://schemas.microsoft.com/office/drawing/2014/main" id="{51B22592-CE43-2F97-BF0A-A63F20DE7F68}"/>
              </a:ext>
            </a:extLst>
          </p:cNvPr>
          <p:cNvSpPr/>
          <p:nvPr/>
        </p:nvSpPr>
        <p:spPr>
          <a:xfrm>
            <a:off x="581247" y="1596860"/>
            <a:ext cx="7555446" cy="4436100"/>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6653" name="Google Shape;6653;p92">
            <a:extLst>
              <a:ext uri="{FF2B5EF4-FFF2-40B4-BE49-F238E27FC236}">
                <a16:creationId xmlns:a16="http://schemas.microsoft.com/office/drawing/2014/main" id="{F760CD7A-009B-764E-2BA5-C2264C0A238A}"/>
              </a:ext>
            </a:extLst>
          </p:cNvPr>
          <p:cNvSpPr txBox="1">
            <a:spLocks noGrp="1"/>
          </p:cNvSpPr>
          <p:nvPr>
            <p:ph type="title"/>
          </p:nvPr>
        </p:nvSpPr>
        <p:spPr>
          <a:xfrm>
            <a:off x="581245" y="413536"/>
            <a:ext cx="10998139" cy="380901"/>
          </a:xfrm>
          <a:noFill/>
          <a:ln>
            <a:noFill/>
          </a:ln>
        </p:spPr>
        <p:txBody>
          <a:bodyPr spcFirstLastPara="1" vert="horz" wrap="square" lIns="0" tIns="0" rIns="0" bIns="0" rtlCol="0" anchor="b" anchorCtr="0">
            <a:noAutofit/>
          </a:bodyPr>
          <a:lstStyle/>
          <a:p>
            <a:pPr lvl="0"/>
            <a:r>
              <a:rPr lang="en-US" dirty="0"/>
              <a:t>Cloud Foundation Software Binaries</a:t>
            </a:r>
          </a:p>
        </p:txBody>
      </p:sp>
      <p:sp>
        <p:nvSpPr>
          <p:cNvPr id="6654" name="Google Shape;6654;p92">
            <a:extLst>
              <a:ext uri="{FF2B5EF4-FFF2-40B4-BE49-F238E27FC236}">
                <a16:creationId xmlns:a16="http://schemas.microsoft.com/office/drawing/2014/main" id="{DD024FD5-BA8B-2ECD-E89C-C0774D83E00F}"/>
              </a:ext>
            </a:extLst>
          </p:cNvPr>
          <p:cNvSpPr txBox="1">
            <a:spLocks noGrp="1"/>
          </p:cNvSpPr>
          <p:nvPr>
            <p:ph type="subTitle" idx="10"/>
          </p:nvPr>
        </p:nvSpPr>
        <p:spPr>
          <a:xfrm>
            <a:off x="594300" y="812513"/>
            <a:ext cx="10959832" cy="247678"/>
          </a:xfrm>
          <a:noFill/>
          <a:ln>
            <a:noFill/>
          </a:ln>
        </p:spPr>
        <p:txBody>
          <a:bodyPr spcFirstLastPara="1" vert="horz" wrap="square" lIns="0" tIns="0" rIns="0" bIns="0" rtlCol="0" anchor="t" anchorCtr="0">
            <a:noAutofit/>
          </a:bodyPr>
          <a:lstStyle/>
          <a:p>
            <a:pPr lvl="0"/>
            <a:r>
              <a:rPr lang="en-US" dirty="0"/>
              <a:t>Lifecycle management operations upgrade, install, or patch with binaries</a:t>
            </a:r>
          </a:p>
        </p:txBody>
      </p:sp>
      <p:sp>
        <p:nvSpPr>
          <p:cNvPr id="10" name="Text Placeholder 9">
            <a:extLst>
              <a:ext uri="{FF2B5EF4-FFF2-40B4-BE49-F238E27FC236}">
                <a16:creationId xmlns:a16="http://schemas.microsoft.com/office/drawing/2014/main" id="{66050703-5BD6-0554-A525-921C801B0E59}"/>
              </a:ext>
            </a:extLst>
          </p:cNvPr>
          <p:cNvSpPr>
            <a:spLocks noGrp="1"/>
          </p:cNvSpPr>
          <p:nvPr>
            <p:ph type="body" sz="quarter" idx="17"/>
          </p:nvPr>
        </p:nvSpPr>
        <p:spPr>
          <a:xfrm>
            <a:off x="8557618" y="1600676"/>
            <a:ext cx="3807420" cy="4570809"/>
          </a:xfrm>
        </p:spPr>
        <p:txBody>
          <a:bodyPr/>
          <a:lstStyle/>
          <a:p>
            <a:pPr lvl="0"/>
            <a:r>
              <a:rPr lang="en-US" dirty="0">
                <a:sym typeface="Arial"/>
              </a:rPr>
              <a:t>Binaries, previously called bundles, provide software for updating existing infrastructure</a:t>
            </a:r>
          </a:p>
          <a:p>
            <a:pPr lvl="0"/>
            <a:r>
              <a:rPr lang="en-US" dirty="0">
                <a:sym typeface="Arial"/>
              </a:rPr>
              <a:t>They are also needed when deploying new workload domains or management components</a:t>
            </a:r>
          </a:p>
          <a:p>
            <a:pPr lvl="0"/>
            <a:r>
              <a:rPr lang="en-US" dirty="0">
                <a:sym typeface="Arial"/>
              </a:rPr>
              <a:t>To download binaries, customers must have a token obtained from the Broadcom Support Portal</a:t>
            </a:r>
          </a:p>
          <a:p>
            <a:pPr>
              <a:buNone/>
            </a:pPr>
            <a:endParaRPr lang="en-US" dirty="0"/>
          </a:p>
        </p:txBody>
      </p:sp>
      <p:pic>
        <p:nvPicPr>
          <p:cNvPr id="8" name="Content Placeholder 7">
            <a:extLst>
              <a:ext uri="{FF2B5EF4-FFF2-40B4-BE49-F238E27FC236}">
                <a16:creationId xmlns:a16="http://schemas.microsoft.com/office/drawing/2014/main" id="{407FB236-F108-B9D9-65A3-71DBF821C7E7}"/>
              </a:ext>
            </a:extLst>
          </p:cNvPr>
          <p:cNvPicPr>
            <a:picLocks noGrp="1" noChangeAspect="1"/>
          </p:cNvPicPr>
          <p:nvPr>
            <p:ph sz="quarter" idx="14"/>
          </p:nvPr>
        </p:nvPicPr>
        <p:blipFill>
          <a:blip r:embed="rId3"/>
          <a:stretch>
            <a:fillRect/>
          </a:stretch>
        </p:blipFill>
        <p:spPr>
          <a:xfrm>
            <a:off x="661803" y="1678449"/>
            <a:ext cx="7397750" cy="4082988"/>
          </a:xfrm>
          <a:prstGeom prst="rect">
            <a:avLst/>
          </a:prstGeom>
        </p:spPr>
      </p:pic>
    </p:spTree>
    <p:extLst>
      <p:ext uri="{BB962C8B-B14F-4D97-AF65-F5344CB8AC3E}">
        <p14:creationId xmlns:p14="http://schemas.microsoft.com/office/powerpoint/2010/main" val="2907406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54D2A-F461-275E-8429-1ED2D412E658}"/>
            </a:ext>
          </a:extLst>
        </p:cNvPr>
        <p:cNvGrpSpPr/>
        <p:nvPr/>
      </p:nvGrpSpPr>
      <p:grpSpPr>
        <a:xfrm>
          <a:off x="0" y="0"/>
          <a:ext cx="0" cy="0"/>
          <a:chOff x="0" y="0"/>
          <a:chExt cx="0" cy="0"/>
        </a:xfrm>
      </p:grpSpPr>
      <p:sp>
        <p:nvSpPr>
          <p:cNvPr id="4" name="Google Shape;6705;p93">
            <a:extLst>
              <a:ext uri="{FF2B5EF4-FFF2-40B4-BE49-F238E27FC236}">
                <a16:creationId xmlns:a16="http://schemas.microsoft.com/office/drawing/2014/main" id="{4D885B27-4EF0-2562-41A6-AA5ED3042101}"/>
              </a:ext>
            </a:extLst>
          </p:cNvPr>
          <p:cNvSpPr txBox="1">
            <a:spLocks noGrp="1"/>
          </p:cNvSpPr>
          <p:nvPr>
            <p:ph type="title"/>
          </p:nvPr>
        </p:nvSpPr>
        <p:spPr>
          <a:xfrm>
            <a:off x="581245" y="413536"/>
            <a:ext cx="10998139" cy="380901"/>
          </a:xfrm>
          <a:noFill/>
          <a:ln>
            <a:noFill/>
          </a:ln>
        </p:spPr>
        <p:txBody>
          <a:bodyPr spcFirstLastPara="1" vert="horz" wrap="square" lIns="0" tIns="0" rIns="0" bIns="0" rtlCol="0" anchor="b" anchorCtr="0">
            <a:noAutofit/>
          </a:bodyPr>
          <a:lstStyle/>
          <a:p>
            <a:pPr lvl="0"/>
            <a:r>
              <a:rPr lang="en-US" dirty="0"/>
              <a:t>Software Update Download Options</a:t>
            </a:r>
          </a:p>
        </p:txBody>
      </p:sp>
      <p:sp>
        <p:nvSpPr>
          <p:cNvPr id="33" name="Subtitle 32">
            <a:extLst>
              <a:ext uri="{FF2B5EF4-FFF2-40B4-BE49-F238E27FC236}">
                <a16:creationId xmlns:a16="http://schemas.microsoft.com/office/drawing/2014/main" id="{BA99BDB3-6FED-11A7-2366-2DABB217436C}"/>
              </a:ext>
            </a:extLst>
          </p:cNvPr>
          <p:cNvSpPr>
            <a:spLocks noGrp="1"/>
          </p:cNvSpPr>
          <p:nvPr>
            <p:ph type="subTitle" idx="10"/>
          </p:nvPr>
        </p:nvSpPr>
        <p:spPr>
          <a:xfrm>
            <a:off x="594300" y="812513"/>
            <a:ext cx="10959832" cy="247678"/>
          </a:xfrm>
        </p:spPr>
        <p:txBody>
          <a:bodyPr/>
          <a:lstStyle/>
          <a:p>
            <a:r>
              <a:rPr lang="en-US" noProof="0" dirty="0">
                <a:sym typeface="Arial"/>
              </a:rPr>
              <a:t>Different approaches depending on connectivity and security policies</a:t>
            </a:r>
          </a:p>
        </p:txBody>
      </p:sp>
      <p:sp>
        <p:nvSpPr>
          <p:cNvPr id="6" name="Google Shape;6707;p93">
            <a:extLst>
              <a:ext uri="{FF2B5EF4-FFF2-40B4-BE49-F238E27FC236}">
                <a16:creationId xmlns:a16="http://schemas.microsoft.com/office/drawing/2014/main" id="{A2CEC57E-0A9F-0ACE-DFB9-591FDEC5EB2C}"/>
              </a:ext>
            </a:extLst>
          </p:cNvPr>
          <p:cNvSpPr txBox="1">
            <a:spLocks/>
          </p:cNvSpPr>
          <p:nvPr/>
        </p:nvSpPr>
        <p:spPr>
          <a:xfrm>
            <a:off x="594298" y="1368134"/>
            <a:ext cx="3592656" cy="913924"/>
          </a:xfrm>
          <a:prstGeom prst="rect">
            <a:avLst/>
          </a:prstGeom>
          <a:noFill/>
          <a:ln>
            <a:noFill/>
          </a:ln>
        </p:spPr>
        <p:txBody>
          <a:bodyPr spcFirstLastPara="1" wrap="square" lIns="0" tIns="91401" rIns="182827" bIns="91401"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914126">
              <a:buSzPts val="1620"/>
              <a:defRPr/>
            </a:pPr>
            <a:r>
              <a:rPr lang="en-US" sz="1799" dirty="0">
                <a:solidFill>
                  <a:srgbClr val="005B84"/>
                </a:solidFill>
                <a:latin typeface="Arial" panose="020B0604020202020204" pitchFamily="34" charset="0"/>
              </a:rPr>
              <a:t>Direct download from</a:t>
            </a:r>
            <a:br>
              <a:rPr lang="en-US" sz="1799" dirty="0">
                <a:solidFill>
                  <a:srgbClr val="005B84"/>
                </a:solidFill>
                <a:latin typeface="Arial" panose="020B0604020202020204" pitchFamily="34" charset="0"/>
              </a:rPr>
            </a:br>
            <a:r>
              <a:rPr lang="en-US" sz="1799" dirty="0">
                <a:solidFill>
                  <a:srgbClr val="005B84"/>
                </a:solidFill>
                <a:latin typeface="Arial" panose="020B0604020202020204" pitchFamily="34" charset="0"/>
              </a:rPr>
              <a:t>the Online Depot</a:t>
            </a:r>
          </a:p>
        </p:txBody>
      </p:sp>
      <p:sp>
        <p:nvSpPr>
          <p:cNvPr id="7" name="Google Shape;6708;p93">
            <a:extLst>
              <a:ext uri="{FF2B5EF4-FFF2-40B4-BE49-F238E27FC236}">
                <a16:creationId xmlns:a16="http://schemas.microsoft.com/office/drawing/2014/main" id="{02510902-DD08-3375-2956-F4C1BF5BF83B}"/>
              </a:ext>
            </a:extLst>
          </p:cNvPr>
          <p:cNvSpPr txBox="1">
            <a:spLocks/>
          </p:cNvSpPr>
          <p:nvPr/>
        </p:nvSpPr>
        <p:spPr>
          <a:xfrm>
            <a:off x="4298083" y="1368134"/>
            <a:ext cx="3592656" cy="913924"/>
          </a:xfrm>
          <a:prstGeom prst="rect">
            <a:avLst/>
          </a:prstGeom>
          <a:noFill/>
          <a:ln>
            <a:noFill/>
          </a:ln>
        </p:spPr>
        <p:txBody>
          <a:bodyPr spcFirstLastPara="1" wrap="square" lIns="0" tIns="91401" rIns="182827" bIns="91401"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914126">
              <a:buSzPts val="1620"/>
              <a:defRPr/>
            </a:pPr>
            <a:r>
              <a:rPr lang="en-US" sz="1799" dirty="0">
                <a:solidFill>
                  <a:srgbClr val="0193C2"/>
                </a:solidFill>
                <a:latin typeface="Arial" panose="020B0604020202020204" pitchFamily="34" charset="0"/>
              </a:rPr>
              <a:t>Download and import to a disconnected VCF deployment</a:t>
            </a:r>
          </a:p>
        </p:txBody>
      </p:sp>
      <p:sp>
        <p:nvSpPr>
          <p:cNvPr id="8" name="Google Shape;6709;p93">
            <a:extLst>
              <a:ext uri="{FF2B5EF4-FFF2-40B4-BE49-F238E27FC236}">
                <a16:creationId xmlns:a16="http://schemas.microsoft.com/office/drawing/2014/main" id="{D43DCD35-39FD-9373-5B29-29C307B456C2}"/>
              </a:ext>
            </a:extLst>
          </p:cNvPr>
          <p:cNvSpPr txBox="1">
            <a:spLocks/>
          </p:cNvSpPr>
          <p:nvPr/>
        </p:nvSpPr>
        <p:spPr>
          <a:xfrm>
            <a:off x="8001361" y="1368134"/>
            <a:ext cx="3592656" cy="913924"/>
          </a:xfrm>
          <a:prstGeom prst="rect">
            <a:avLst/>
          </a:prstGeom>
          <a:noFill/>
          <a:ln>
            <a:noFill/>
          </a:ln>
        </p:spPr>
        <p:txBody>
          <a:bodyPr spcFirstLastPara="1" wrap="square" lIns="0" tIns="91401" rIns="182827" bIns="91401"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914126">
              <a:buSzPts val="1620"/>
              <a:defRPr/>
            </a:pPr>
            <a:r>
              <a:rPr lang="en-US" sz="1799" dirty="0">
                <a:solidFill>
                  <a:srgbClr val="61A00A"/>
                </a:solidFill>
                <a:latin typeface="Arial" panose="020B0604020202020204" pitchFamily="34" charset="0"/>
              </a:rPr>
              <a:t>Create local offline depot for multiple VCF instances</a:t>
            </a:r>
          </a:p>
        </p:txBody>
      </p:sp>
      <p:sp>
        <p:nvSpPr>
          <p:cNvPr id="9" name="Google Shape;6710;p93">
            <a:extLst>
              <a:ext uri="{FF2B5EF4-FFF2-40B4-BE49-F238E27FC236}">
                <a16:creationId xmlns:a16="http://schemas.microsoft.com/office/drawing/2014/main" id="{DD1B7D00-14B7-B861-FB3C-4D081CE8427F}"/>
              </a:ext>
            </a:extLst>
          </p:cNvPr>
          <p:cNvSpPr txBox="1">
            <a:spLocks/>
          </p:cNvSpPr>
          <p:nvPr/>
        </p:nvSpPr>
        <p:spPr>
          <a:xfrm>
            <a:off x="594299" y="2416723"/>
            <a:ext cx="3593164" cy="3521745"/>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914126">
              <a:buSzPts val="1440"/>
              <a:defRPr/>
            </a:pPr>
            <a:r>
              <a:rPr lang="en-US" dirty="0">
                <a:latin typeface="Arial" panose="020B0604020202020204" pitchFamily="34" charset="0"/>
              </a:rPr>
              <a:t>Default configuration, obtain a download token from the Broadcom Support Portal</a:t>
            </a:r>
            <a:br>
              <a:rPr lang="en-US" dirty="0">
                <a:latin typeface="Arial" panose="020B0604020202020204" pitchFamily="34" charset="0"/>
              </a:rPr>
            </a:br>
            <a:r>
              <a:rPr lang="en-US" dirty="0">
                <a:latin typeface="Arial" panose="020B0604020202020204" pitchFamily="34" charset="0"/>
              </a:rPr>
              <a:t>(See KB 390098)</a:t>
            </a:r>
          </a:p>
        </p:txBody>
      </p:sp>
      <p:sp>
        <p:nvSpPr>
          <p:cNvPr id="10" name="Google Shape;6711;p93">
            <a:extLst>
              <a:ext uri="{FF2B5EF4-FFF2-40B4-BE49-F238E27FC236}">
                <a16:creationId xmlns:a16="http://schemas.microsoft.com/office/drawing/2014/main" id="{63152964-BC6D-7EEF-D6F4-9D58516F0402}"/>
              </a:ext>
            </a:extLst>
          </p:cNvPr>
          <p:cNvSpPr txBox="1">
            <a:spLocks/>
          </p:cNvSpPr>
          <p:nvPr/>
        </p:nvSpPr>
        <p:spPr>
          <a:xfrm>
            <a:off x="4262235" y="2416723"/>
            <a:ext cx="3404925" cy="3521745"/>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914126">
              <a:buSzPts val="1440"/>
              <a:defRPr/>
            </a:pPr>
            <a:r>
              <a:rPr lang="en-US" dirty="0">
                <a:latin typeface="Arial" panose="020B0604020202020204" pitchFamily="34" charset="0"/>
              </a:rPr>
              <a:t>Install the VCF Download Tool on a system with Internet access – download and upload to VCF in two phases</a:t>
            </a:r>
          </a:p>
          <a:p>
            <a:pPr defTabSz="914126">
              <a:spcBef>
                <a:spcPts val="1200"/>
              </a:spcBef>
              <a:buSzPts val="1440"/>
              <a:defRPr/>
            </a:pPr>
            <a:endParaRPr lang="en-US" dirty="0">
              <a:latin typeface="Arial" panose="020B0604020202020204" pitchFamily="34" charset="0"/>
            </a:endParaRPr>
          </a:p>
        </p:txBody>
      </p:sp>
      <p:sp>
        <p:nvSpPr>
          <p:cNvPr id="11" name="Google Shape;6712;p93">
            <a:extLst>
              <a:ext uri="{FF2B5EF4-FFF2-40B4-BE49-F238E27FC236}">
                <a16:creationId xmlns:a16="http://schemas.microsoft.com/office/drawing/2014/main" id="{B96EB68F-D734-B433-FC6A-A94B7400F847}"/>
              </a:ext>
            </a:extLst>
          </p:cNvPr>
          <p:cNvSpPr txBox="1">
            <a:spLocks/>
          </p:cNvSpPr>
          <p:nvPr/>
        </p:nvSpPr>
        <p:spPr>
          <a:xfrm>
            <a:off x="8001361" y="2416723"/>
            <a:ext cx="3616446" cy="3521745"/>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914126">
              <a:buSzPts val="1440"/>
              <a:defRPr/>
            </a:pPr>
            <a:r>
              <a:rPr lang="en-US" dirty="0">
                <a:latin typeface="Arial" panose="020B0604020202020204" pitchFamily="34" charset="0"/>
              </a:rPr>
              <a:t>Deploy an internal web server and use VCFDT to mirror the online depot locally. Can be used with multiple VCF instances</a:t>
            </a:r>
          </a:p>
        </p:txBody>
      </p:sp>
      <p:sp>
        <p:nvSpPr>
          <p:cNvPr id="12" name="Google Shape;6713;p93">
            <a:extLst>
              <a:ext uri="{FF2B5EF4-FFF2-40B4-BE49-F238E27FC236}">
                <a16:creationId xmlns:a16="http://schemas.microsoft.com/office/drawing/2014/main" id="{697A6557-0B43-8A4B-8CA8-F70D46041B62}"/>
              </a:ext>
            </a:extLst>
          </p:cNvPr>
          <p:cNvSpPr/>
          <p:nvPr/>
        </p:nvSpPr>
        <p:spPr>
          <a:xfrm rot="4036660">
            <a:off x="9799095" y="4350328"/>
            <a:ext cx="790164" cy="780490"/>
          </a:xfrm>
          <a:custGeom>
            <a:avLst/>
            <a:gdLst/>
            <a:ahLst/>
            <a:cxnLst/>
            <a:rect l="l" t="t" r="r" b="b"/>
            <a:pathLst>
              <a:path w="1195051" h="2972202" extrusionOk="0">
                <a:moveTo>
                  <a:pt x="0" y="2972202"/>
                </a:moveTo>
                <a:cubicBezTo>
                  <a:pt x="739747" y="2718110"/>
                  <a:pt x="560374" y="-229055"/>
                  <a:pt x="1195051" y="14263"/>
                </a:cubicBezTo>
              </a:path>
            </a:pathLst>
          </a:custGeom>
          <a:noFill/>
          <a:ln w="38100" cap="flat" cmpd="sng">
            <a:solidFill>
              <a:schemeClr val="accent4"/>
            </a:solidFill>
            <a:prstDash val="solid"/>
            <a:round/>
            <a:headEnd type="none" w="sm" len="sm"/>
            <a:tailEnd type="none" w="sm" len="sm"/>
          </a:ln>
        </p:spPr>
        <p:txBody>
          <a:bodyPr spcFirstLastPara="1" wrap="square" lIns="91401" tIns="45688" rIns="91401" bIns="45688" anchor="ctr" anchorCtr="0">
            <a:noAutofit/>
          </a:bodyPr>
          <a:lstStyle/>
          <a:p>
            <a:pPr algn="ctr" defTabSz="914126">
              <a:defRPr/>
            </a:pPr>
            <a:endParaRPr sz="1797" dirty="0">
              <a:solidFill>
                <a:srgbClr val="FFFFFF"/>
              </a:solidFill>
              <a:latin typeface="Arial" panose="020B0604020202020204" pitchFamily="34" charset="0"/>
              <a:sym typeface="Arial"/>
            </a:endParaRPr>
          </a:p>
        </p:txBody>
      </p:sp>
      <p:sp>
        <p:nvSpPr>
          <p:cNvPr id="13" name="Google Shape;6714;p93">
            <a:extLst>
              <a:ext uri="{FF2B5EF4-FFF2-40B4-BE49-F238E27FC236}">
                <a16:creationId xmlns:a16="http://schemas.microsoft.com/office/drawing/2014/main" id="{1F335539-8015-53DF-5F19-F681FCBC2CA9}"/>
              </a:ext>
            </a:extLst>
          </p:cNvPr>
          <p:cNvSpPr/>
          <p:nvPr/>
        </p:nvSpPr>
        <p:spPr>
          <a:xfrm>
            <a:off x="8892732" y="3811245"/>
            <a:ext cx="978086" cy="620614"/>
          </a:xfrm>
          <a:prstGeom prst="roundRect">
            <a:avLst>
              <a:gd name="adj" fmla="val 16667"/>
            </a:avLst>
          </a:prstGeom>
          <a:solidFill>
            <a:schemeClr val="accent4"/>
          </a:solidFill>
          <a:ln>
            <a:noFill/>
          </a:ln>
        </p:spPr>
        <p:txBody>
          <a:bodyPr spcFirstLastPara="1" wrap="square" lIns="91351" tIns="45663" rIns="91351" bIns="45663" anchor="ctr" anchorCtr="0">
            <a:noAutofit/>
          </a:bodyPr>
          <a:lstStyle/>
          <a:p>
            <a:pPr algn="ctr" defTabSz="914126">
              <a:defRPr/>
            </a:pPr>
            <a:r>
              <a:rPr lang="en-US" sz="1600" dirty="0">
                <a:solidFill>
                  <a:srgbClr val="FFFFFF"/>
                </a:solidFill>
                <a:latin typeface="Arial" panose="020B0604020202020204" pitchFamily="34" charset="0"/>
                <a:sym typeface="Arial"/>
              </a:rPr>
              <a:t>Offline Depot</a:t>
            </a:r>
            <a:endParaRPr sz="1799" dirty="0">
              <a:solidFill>
                <a:srgbClr val="000000"/>
              </a:solidFill>
              <a:latin typeface="Arial" panose="020B0604020202020204" pitchFamily="34" charset="0"/>
            </a:endParaRPr>
          </a:p>
        </p:txBody>
      </p:sp>
      <p:sp>
        <p:nvSpPr>
          <p:cNvPr id="14" name="Google Shape;6715;p93">
            <a:extLst>
              <a:ext uri="{FF2B5EF4-FFF2-40B4-BE49-F238E27FC236}">
                <a16:creationId xmlns:a16="http://schemas.microsoft.com/office/drawing/2014/main" id="{0C89E19F-994C-A1B3-03DB-9E3CFF646458}"/>
              </a:ext>
            </a:extLst>
          </p:cNvPr>
          <p:cNvSpPr/>
          <p:nvPr/>
        </p:nvSpPr>
        <p:spPr>
          <a:xfrm rot="-7654427" flipH="1">
            <a:off x="4241836" y="1525996"/>
            <a:ext cx="3615809" cy="4950091"/>
          </a:xfrm>
          <a:custGeom>
            <a:avLst/>
            <a:gdLst/>
            <a:ahLst/>
            <a:cxnLst/>
            <a:rect l="l" t="t" r="r" b="b"/>
            <a:pathLst>
              <a:path w="6953240" h="46714653" extrusionOk="0">
                <a:moveTo>
                  <a:pt x="1" y="3"/>
                </a:moveTo>
                <a:cubicBezTo>
                  <a:pt x="2165758" y="10810443"/>
                  <a:pt x="5503715" y="47929172"/>
                  <a:pt x="6953239" y="46684061"/>
                </a:cubicBezTo>
              </a:path>
            </a:pathLst>
          </a:custGeom>
          <a:noFill/>
          <a:ln w="38100" cap="flat" cmpd="sng">
            <a:solidFill>
              <a:schemeClr val="accent4"/>
            </a:solidFill>
            <a:prstDash val="solid"/>
            <a:round/>
            <a:headEnd type="none" w="sm" len="sm"/>
            <a:tailEnd type="none" w="sm" len="sm"/>
          </a:ln>
        </p:spPr>
        <p:txBody>
          <a:bodyPr spcFirstLastPara="1" wrap="square" lIns="91401" tIns="45688" rIns="91401" bIns="45688" anchor="ctr" anchorCtr="0">
            <a:noAutofit/>
          </a:bodyPr>
          <a:lstStyle/>
          <a:p>
            <a:pPr algn="ctr" defTabSz="914126">
              <a:defRPr/>
            </a:pPr>
            <a:endParaRPr sz="1797" dirty="0">
              <a:solidFill>
                <a:srgbClr val="000000"/>
              </a:solidFill>
              <a:latin typeface="Arial" panose="020B0604020202020204" pitchFamily="34" charset="0"/>
              <a:sym typeface="Arial"/>
            </a:endParaRPr>
          </a:p>
        </p:txBody>
      </p:sp>
      <p:sp>
        <p:nvSpPr>
          <p:cNvPr id="15" name="Google Shape;6716;p93">
            <a:extLst>
              <a:ext uri="{FF2B5EF4-FFF2-40B4-BE49-F238E27FC236}">
                <a16:creationId xmlns:a16="http://schemas.microsoft.com/office/drawing/2014/main" id="{D40E71F6-22DD-D756-1008-98147545FAAD}"/>
              </a:ext>
            </a:extLst>
          </p:cNvPr>
          <p:cNvSpPr/>
          <p:nvPr/>
        </p:nvSpPr>
        <p:spPr>
          <a:xfrm>
            <a:off x="8474217" y="5023829"/>
            <a:ext cx="1361712" cy="788899"/>
          </a:xfrm>
          <a:prstGeom prst="roundRect">
            <a:avLst>
              <a:gd name="adj" fmla="val 16667"/>
            </a:avLst>
          </a:prstGeom>
          <a:solidFill>
            <a:schemeClr val="accent1"/>
          </a:solidFill>
          <a:ln>
            <a:noFill/>
          </a:ln>
        </p:spPr>
        <p:txBody>
          <a:bodyPr spcFirstLastPara="1" wrap="square" lIns="91351" tIns="45663" rIns="91351" bIns="45663" anchor="ctr" anchorCtr="0">
            <a:noAutofit/>
          </a:bodyPr>
          <a:lstStyle/>
          <a:p>
            <a:pPr algn="ctr" defTabSz="914126">
              <a:defRPr/>
            </a:pPr>
            <a:r>
              <a:rPr lang="en-US" sz="1600" dirty="0">
                <a:solidFill>
                  <a:srgbClr val="FFFFFF"/>
                </a:solidFill>
                <a:latin typeface="Arial" panose="020B0604020202020204" pitchFamily="34" charset="0"/>
                <a:sym typeface="Arial"/>
              </a:rPr>
              <a:t>VCF 9</a:t>
            </a:r>
            <a:endParaRPr sz="1799" dirty="0">
              <a:solidFill>
                <a:srgbClr val="000000"/>
              </a:solidFill>
              <a:latin typeface="Arial" panose="020B0604020202020204" pitchFamily="34" charset="0"/>
            </a:endParaRPr>
          </a:p>
        </p:txBody>
      </p:sp>
      <p:sp>
        <p:nvSpPr>
          <p:cNvPr id="16" name="Google Shape;6717;p93">
            <a:extLst>
              <a:ext uri="{FF2B5EF4-FFF2-40B4-BE49-F238E27FC236}">
                <a16:creationId xmlns:a16="http://schemas.microsoft.com/office/drawing/2014/main" id="{A42C79DB-53F8-24A2-4400-47721472D1E3}"/>
              </a:ext>
            </a:extLst>
          </p:cNvPr>
          <p:cNvSpPr/>
          <p:nvPr/>
        </p:nvSpPr>
        <p:spPr>
          <a:xfrm>
            <a:off x="9990275" y="5023829"/>
            <a:ext cx="1361712" cy="788899"/>
          </a:xfrm>
          <a:prstGeom prst="roundRect">
            <a:avLst>
              <a:gd name="adj" fmla="val 16667"/>
            </a:avLst>
          </a:prstGeom>
          <a:solidFill>
            <a:schemeClr val="accent1"/>
          </a:solidFill>
          <a:ln>
            <a:noFill/>
          </a:ln>
        </p:spPr>
        <p:txBody>
          <a:bodyPr spcFirstLastPara="1" wrap="square" lIns="91351" tIns="45663" rIns="91351" bIns="45663" anchor="ctr" anchorCtr="0">
            <a:noAutofit/>
          </a:bodyPr>
          <a:lstStyle/>
          <a:p>
            <a:pPr algn="ctr" defTabSz="914126">
              <a:defRPr/>
            </a:pPr>
            <a:r>
              <a:rPr lang="en-US" sz="1600" dirty="0">
                <a:solidFill>
                  <a:srgbClr val="FFFFFF"/>
                </a:solidFill>
                <a:latin typeface="Arial" panose="020B0604020202020204" pitchFamily="34" charset="0"/>
                <a:sym typeface="Arial"/>
              </a:rPr>
              <a:t>VCF 9</a:t>
            </a:r>
            <a:endParaRPr sz="1799" dirty="0">
              <a:solidFill>
                <a:srgbClr val="000000"/>
              </a:solidFill>
              <a:latin typeface="Arial" panose="020B0604020202020204" pitchFamily="34" charset="0"/>
            </a:endParaRPr>
          </a:p>
        </p:txBody>
      </p:sp>
      <p:sp>
        <p:nvSpPr>
          <p:cNvPr id="17" name="Google Shape;6718;p93">
            <a:extLst>
              <a:ext uri="{FF2B5EF4-FFF2-40B4-BE49-F238E27FC236}">
                <a16:creationId xmlns:a16="http://schemas.microsoft.com/office/drawing/2014/main" id="{794FCA27-761E-9794-ABD0-EEE026BA622D}"/>
              </a:ext>
            </a:extLst>
          </p:cNvPr>
          <p:cNvSpPr/>
          <p:nvPr/>
        </p:nvSpPr>
        <p:spPr>
          <a:xfrm>
            <a:off x="571019" y="5024610"/>
            <a:ext cx="1361712" cy="788899"/>
          </a:xfrm>
          <a:prstGeom prst="roundRect">
            <a:avLst>
              <a:gd name="adj" fmla="val 16667"/>
            </a:avLst>
          </a:prstGeom>
          <a:solidFill>
            <a:schemeClr val="accent1"/>
          </a:solidFill>
          <a:ln>
            <a:noFill/>
          </a:ln>
        </p:spPr>
        <p:txBody>
          <a:bodyPr spcFirstLastPara="1" wrap="square" lIns="91351" tIns="45663" rIns="91351" bIns="45663" anchor="ctr" anchorCtr="0">
            <a:noAutofit/>
          </a:bodyPr>
          <a:lstStyle/>
          <a:p>
            <a:pPr algn="ctr" defTabSz="914126">
              <a:defRPr/>
            </a:pPr>
            <a:r>
              <a:rPr lang="en-US" sz="1600" dirty="0">
                <a:solidFill>
                  <a:srgbClr val="FFFFFF"/>
                </a:solidFill>
                <a:latin typeface="Arial" panose="020B0604020202020204" pitchFamily="34" charset="0"/>
                <a:sym typeface="Arial"/>
              </a:rPr>
              <a:t>VCF 9</a:t>
            </a:r>
            <a:endParaRPr sz="1799" dirty="0">
              <a:solidFill>
                <a:srgbClr val="000000"/>
              </a:solidFill>
              <a:latin typeface="Arial" panose="020B0604020202020204" pitchFamily="34" charset="0"/>
            </a:endParaRPr>
          </a:p>
        </p:txBody>
      </p:sp>
      <p:sp>
        <p:nvSpPr>
          <p:cNvPr id="18" name="Google Shape;6719;p93">
            <a:extLst>
              <a:ext uri="{FF2B5EF4-FFF2-40B4-BE49-F238E27FC236}">
                <a16:creationId xmlns:a16="http://schemas.microsoft.com/office/drawing/2014/main" id="{DFCDB7B8-032B-6ACA-B680-A7B39A754D22}"/>
              </a:ext>
            </a:extLst>
          </p:cNvPr>
          <p:cNvSpPr/>
          <p:nvPr/>
        </p:nvSpPr>
        <p:spPr>
          <a:xfrm rot="-4036660" flipH="1">
            <a:off x="1107283" y="4275093"/>
            <a:ext cx="1082111" cy="419226"/>
          </a:xfrm>
          <a:custGeom>
            <a:avLst/>
            <a:gdLst/>
            <a:ahLst/>
            <a:cxnLst/>
            <a:rect l="l" t="t" r="r" b="b"/>
            <a:pathLst>
              <a:path w="1800656" h="2807153" extrusionOk="0">
                <a:moveTo>
                  <a:pt x="0" y="2807155"/>
                </a:moveTo>
                <a:cubicBezTo>
                  <a:pt x="1079353" y="2358191"/>
                  <a:pt x="142802" y="-913600"/>
                  <a:pt x="1800656" y="247932"/>
                </a:cubicBezTo>
              </a:path>
            </a:pathLst>
          </a:custGeom>
          <a:noFill/>
          <a:ln w="38100" cap="flat" cmpd="sng">
            <a:solidFill>
              <a:schemeClr val="accent2"/>
            </a:solidFill>
            <a:prstDash val="solid"/>
            <a:round/>
            <a:headEnd type="none" w="sm" len="sm"/>
            <a:tailEnd type="none" w="sm" len="sm"/>
          </a:ln>
        </p:spPr>
        <p:txBody>
          <a:bodyPr spcFirstLastPara="1" wrap="square" lIns="91401" tIns="45688" rIns="91401" bIns="45688" anchor="ctr" anchorCtr="0">
            <a:noAutofit/>
          </a:bodyPr>
          <a:lstStyle/>
          <a:p>
            <a:pPr algn="ctr" defTabSz="914126">
              <a:defRPr/>
            </a:pPr>
            <a:endParaRPr sz="1797" dirty="0">
              <a:solidFill>
                <a:srgbClr val="FFFFFF"/>
              </a:solidFill>
              <a:latin typeface="Arial" panose="020B0604020202020204" pitchFamily="34" charset="0"/>
              <a:sym typeface="Arial"/>
            </a:endParaRPr>
          </a:p>
        </p:txBody>
      </p:sp>
      <p:sp>
        <p:nvSpPr>
          <p:cNvPr id="19" name="Google Shape;6720;p93">
            <a:extLst>
              <a:ext uri="{FF2B5EF4-FFF2-40B4-BE49-F238E27FC236}">
                <a16:creationId xmlns:a16="http://schemas.microsoft.com/office/drawing/2014/main" id="{5E408785-556E-CCFA-7841-E5C33F830ADF}"/>
              </a:ext>
            </a:extLst>
          </p:cNvPr>
          <p:cNvSpPr/>
          <p:nvPr/>
        </p:nvSpPr>
        <p:spPr>
          <a:xfrm>
            <a:off x="5959418" y="5022889"/>
            <a:ext cx="1361712" cy="788899"/>
          </a:xfrm>
          <a:prstGeom prst="roundRect">
            <a:avLst>
              <a:gd name="adj" fmla="val 16667"/>
            </a:avLst>
          </a:prstGeom>
          <a:solidFill>
            <a:schemeClr val="accent1"/>
          </a:solidFill>
          <a:ln>
            <a:noFill/>
          </a:ln>
        </p:spPr>
        <p:txBody>
          <a:bodyPr spcFirstLastPara="1" wrap="square" lIns="91351" tIns="45663" rIns="91351" bIns="45663" anchor="ctr" anchorCtr="0">
            <a:noAutofit/>
          </a:bodyPr>
          <a:lstStyle/>
          <a:p>
            <a:pPr algn="ctr" defTabSz="914126">
              <a:defRPr/>
            </a:pPr>
            <a:r>
              <a:rPr lang="en-US" sz="1600" dirty="0">
                <a:solidFill>
                  <a:srgbClr val="FFFFFF"/>
                </a:solidFill>
                <a:latin typeface="Arial" panose="020B0604020202020204" pitchFamily="34" charset="0"/>
                <a:sym typeface="Arial"/>
              </a:rPr>
              <a:t>VCF 9</a:t>
            </a:r>
            <a:endParaRPr sz="1799" dirty="0">
              <a:solidFill>
                <a:srgbClr val="000000"/>
              </a:solidFill>
              <a:latin typeface="Arial" panose="020B0604020202020204" pitchFamily="34" charset="0"/>
            </a:endParaRPr>
          </a:p>
        </p:txBody>
      </p:sp>
      <p:sp>
        <p:nvSpPr>
          <p:cNvPr id="20" name="Google Shape;6721;p93">
            <a:extLst>
              <a:ext uri="{FF2B5EF4-FFF2-40B4-BE49-F238E27FC236}">
                <a16:creationId xmlns:a16="http://schemas.microsoft.com/office/drawing/2014/main" id="{A3466FE3-124B-764E-65D4-E84E23B5E861}"/>
              </a:ext>
            </a:extLst>
          </p:cNvPr>
          <p:cNvSpPr/>
          <p:nvPr/>
        </p:nvSpPr>
        <p:spPr>
          <a:xfrm>
            <a:off x="3688908" y="4589912"/>
            <a:ext cx="1331314" cy="787613"/>
          </a:xfrm>
          <a:prstGeom prst="roundRect">
            <a:avLst>
              <a:gd name="adj" fmla="val 16667"/>
            </a:avLst>
          </a:prstGeom>
          <a:solidFill>
            <a:schemeClr val="accent3"/>
          </a:solidFill>
          <a:ln>
            <a:noFill/>
          </a:ln>
        </p:spPr>
        <p:txBody>
          <a:bodyPr spcFirstLastPara="1" wrap="square" lIns="91351" tIns="45663" rIns="91351" bIns="45663" anchor="ctr" anchorCtr="0">
            <a:noAutofit/>
          </a:bodyPr>
          <a:lstStyle/>
          <a:p>
            <a:pPr algn="ctr" defTabSz="914126">
              <a:defRPr/>
            </a:pPr>
            <a:r>
              <a:rPr lang="en-US" sz="1600" dirty="0">
                <a:solidFill>
                  <a:srgbClr val="FFFFFF"/>
                </a:solidFill>
                <a:latin typeface="Arial" panose="020B0604020202020204" pitchFamily="34" charset="0"/>
                <a:sym typeface="Arial"/>
              </a:rPr>
              <a:t>VCF Download Tool</a:t>
            </a:r>
            <a:endParaRPr sz="1799" dirty="0">
              <a:solidFill>
                <a:srgbClr val="000000"/>
              </a:solidFill>
              <a:latin typeface="Arial" panose="020B0604020202020204" pitchFamily="34" charset="0"/>
            </a:endParaRPr>
          </a:p>
        </p:txBody>
      </p:sp>
      <p:sp>
        <p:nvSpPr>
          <p:cNvPr id="21" name="Google Shape;6722;p93" descr="Public Cloud&#10;">
            <a:extLst>
              <a:ext uri="{FF2B5EF4-FFF2-40B4-BE49-F238E27FC236}">
                <a16:creationId xmlns:a16="http://schemas.microsoft.com/office/drawing/2014/main" id="{7025C709-CC7D-642A-00BA-F0656FFE5804}"/>
              </a:ext>
            </a:extLst>
          </p:cNvPr>
          <p:cNvSpPr/>
          <p:nvPr/>
        </p:nvSpPr>
        <p:spPr>
          <a:xfrm>
            <a:off x="1556233" y="3046891"/>
            <a:ext cx="1500165" cy="913924"/>
          </a:xfrm>
          <a:custGeom>
            <a:avLst/>
            <a:gdLst/>
            <a:ahLst/>
            <a:cxnLst/>
            <a:rect l="l" t="t" r="r" b="b"/>
            <a:pathLst>
              <a:path w="600835" h="343425" extrusionOk="0">
                <a:moveTo>
                  <a:pt x="387848" y="15875"/>
                </a:moveTo>
                <a:lnTo>
                  <a:pt x="390694" y="15875"/>
                </a:lnTo>
                <a:cubicBezTo>
                  <a:pt x="448185" y="17266"/>
                  <a:pt x="495936" y="66472"/>
                  <a:pt x="501754" y="130224"/>
                </a:cubicBezTo>
                <a:lnTo>
                  <a:pt x="502956" y="143252"/>
                </a:lnTo>
                <a:lnTo>
                  <a:pt x="515985" y="144517"/>
                </a:lnTo>
                <a:cubicBezTo>
                  <a:pt x="555893" y="148312"/>
                  <a:pt x="586188" y="188789"/>
                  <a:pt x="584986" y="237299"/>
                </a:cubicBezTo>
                <a:cubicBezTo>
                  <a:pt x="583784" y="285809"/>
                  <a:pt x="549821" y="326476"/>
                  <a:pt x="509091" y="326476"/>
                </a:cubicBezTo>
                <a:lnTo>
                  <a:pt x="496821" y="326476"/>
                </a:lnTo>
                <a:cubicBezTo>
                  <a:pt x="467918" y="326476"/>
                  <a:pt x="382978" y="326476"/>
                  <a:pt x="300442" y="327045"/>
                </a:cubicBezTo>
                <a:cubicBezTo>
                  <a:pt x="217906" y="327614"/>
                  <a:pt x="131639" y="327678"/>
                  <a:pt x="102293" y="327678"/>
                </a:cubicBezTo>
                <a:lnTo>
                  <a:pt x="92363" y="327678"/>
                </a:lnTo>
                <a:cubicBezTo>
                  <a:pt x="52075" y="326602"/>
                  <a:pt x="14887" y="288339"/>
                  <a:pt x="15835" y="249000"/>
                </a:cubicBezTo>
                <a:cubicBezTo>
                  <a:pt x="16823" y="209758"/>
                  <a:pt x="48746" y="178366"/>
                  <a:pt x="87999" y="178038"/>
                </a:cubicBezTo>
                <a:lnTo>
                  <a:pt x="89833" y="178038"/>
                </a:lnTo>
                <a:cubicBezTo>
                  <a:pt x="95862" y="178115"/>
                  <a:pt x="101856" y="178966"/>
                  <a:pt x="107668" y="180567"/>
                </a:cubicBezTo>
                <a:lnTo>
                  <a:pt x="123859" y="185058"/>
                </a:lnTo>
                <a:lnTo>
                  <a:pt x="127338" y="168614"/>
                </a:lnTo>
                <a:cubicBezTo>
                  <a:pt x="136664" y="124728"/>
                  <a:pt x="175194" y="93190"/>
                  <a:pt x="220057" y="92719"/>
                </a:cubicBezTo>
                <a:lnTo>
                  <a:pt x="222333" y="92719"/>
                </a:lnTo>
                <a:cubicBezTo>
                  <a:pt x="235658" y="93005"/>
                  <a:pt x="248768" y="96131"/>
                  <a:pt x="260787" y="101889"/>
                </a:cubicBezTo>
                <a:lnTo>
                  <a:pt x="276219" y="109416"/>
                </a:lnTo>
                <a:lnTo>
                  <a:pt x="282544" y="93414"/>
                </a:lnTo>
                <a:cubicBezTo>
                  <a:pt x="300695" y="46359"/>
                  <a:pt x="341995" y="15875"/>
                  <a:pt x="387848" y="15875"/>
                </a:cubicBezTo>
                <a:moveTo>
                  <a:pt x="387848" y="63"/>
                </a:moveTo>
                <a:cubicBezTo>
                  <a:pt x="334152" y="63"/>
                  <a:pt x="287667" y="36177"/>
                  <a:pt x="267681" y="87785"/>
                </a:cubicBezTo>
                <a:cubicBezTo>
                  <a:pt x="253654" y="81031"/>
                  <a:pt x="238341" y="77365"/>
                  <a:pt x="222776" y="77034"/>
                </a:cubicBezTo>
                <a:lnTo>
                  <a:pt x="220057" y="77034"/>
                </a:lnTo>
                <a:cubicBezTo>
                  <a:pt x="167607" y="77270"/>
                  <a:pt x="122491" y="114208"/>
                  <a:pt x="111906" y="165578"/>
                </a:cubicBezTo>
                <a:cubicBezTo>
                  <a:pt x="104812" y="163637"/>
                  <a:pt x="97503" y="162596"/>
                  <a:pt x="90149" y="162479"/>
                </a:cubicBezTo>
                <a:lnTo>
                  <a:pt x="87999" y="162479"/>
                </a:lnTo>
                <a:cubicBezTo>
                  <a:pt x="40266" y="162767"/>
                  <a:pt x="1353" y="200841"/>
                  <a:pt x="24" y="248557"/>
                </a:cubicBezTo>
                <a:cubicBezTo>
                  <a:pt x="-1178" y="297446"/>
                  <a:pt x="43347" y="342098"/>
                  <a:pt x="91983" y="343426"/>
                </a:cubicBezTo>
                <a:lnTo>
                  <a:pt x="102293" y="343426"/>
                </a:lnTo>
                <a:cubicBezTo>
                  <a:pt x="160858" y="343426"/>
                  <a:pt x="438951" y="342224"/>
                  <a:pt x="496821" y="342224"/>
                </a:cubicBezTo>
                <a:lnTo>
                  <a:pt x="509091" y="342224"/>
                </a:lnTo>
                <a:cubicBezTo>
                  <a:pt x="558486" y="342224"/>
                  <a:pt x="599469" y="295612"/>
                  <a:pt x="600798" y="237552"/>
                </a:cubicBezTo>
                <a:cubicBezTo>
                  <a:pt x="602189" y="180631"/>
                  <a:pt x="565253" y="133259"/>
                  <a:pt x="517503" y="128706"/>
                </a:cubicBezTo>
                <a:cubicBezTo>
                  <a:pt x="511178" y="57680"/>
                  <a:pt x="457545" y="1581"/>
                  <a:pt x="391011" y="0"/>
                </a:cubicBezTo>
                <a:close/>
              </a:path>
            </a:pathLst>
          </a:custGeom>
          <a:solidFill>
            <a:schemeClr val="accent3"/>
          </a:solidFill>
          <a:ln>
            <a:noFill/>
          </a:ln>
        </p:spPr>
        <p:txBody>
          <a:bodyPr spcFirstLastPara="1" wrap="square" lIns="91401" tIns="45688" rIns="91401" bIns="45688" anchor="ctr" anchorCtr="0">
            <a:noAutofit/>
          </a:bodyPr>
          <a:lstStyle/>
          <a:p>
            <a:pPr algn="ctr" defTabSz="914126">
              <a:defRPr/>
            </a:pPr>
            <a:endParaRPr sz="1600" dirty="0">
              <a:solidFill>
                <a:srgbClr val="000000"/>
              </a:solidFill>
              <a:latin typeface="Arial" panose="020B0604020202020204" pitchFamily="34" charset="0"/>
              <a:sym typeface="Arial"/>
            </a:endParaRPr>
          </a:p>
          <a:p>
            <a:pPr algn="ctr" defTabSz="914126">
              <a:defRPr/>
            </a:pPr>
            <a:r>
              <a:rPr lang="en-US" sz="1600" dirty="0">
                <a:solidFill>
                  <a:srgbClr val="000000"/>
                </a:solidFill>
                <a:latin typeface="Arial" panose="020B0604020202020204" pitchFamily="34" charset="0"/>
                <a:sym typeface="Arial"/>
              </a:rPr>
              <a:t>Online</a:t>
            </a:r>
            <a:br>
              <a:rPr lang="en-US" sz="1600" dirty="0">
                <a:solidFill>
                  <a:srgbClr val="000000"/>
                </a:solidFill>
                <a:latin typeface="Arial" panose="020B0604020202020204" pitchFamily="34" charset="0"/>
                <a:sym typeface="Arial"/>
              </a:rPr>
            </a:br>
            <a:r>
              <a:rPr lang="en-US" sz="1600" dirty="0">
                <a:solidFill>
                  <a:srgbClr val="000000"/>
                </a:solidFill>
                <a:latin typeface="Arial" panose="020B0604020202020204" pitchFamily="34" charset="0"/>
                <a:sym typeface="Arial"/>
              </a:rPr>
              <a:t>Depot</a:t>
            </a:r>
            <a:endParaRPr sz="1799" dirty="0">
              <a:solidFill>
                <a:srgbClr val="000000"/>
              </a:solidFill>
              <a:latin typeface="Arial" panose="020B0604020202020204" pitchFamily="34" charset="0"/>
            </a:endParaRPr>
          </a:p>
        </p:txBody>
      </p:sp>
      <p:sp>
        <p:nvSpPr>
          <p:cNvPr id="22" name="Google Shape;6723;p93">
            <a:extLst>
              <a:ext uri="{FF2B5EF4-FFF2-40B4-BE49-F238E27FC236}">
                <a16:creationId xmlns:a16="http://schemas.microsoft.com/office/drawing/2014/main" id="{13E01452-0C15-487A-3B02-59DA1C705C1E}"/>
              </a:ext>
            </a:extLst>
          </p:cNvPr>
          <p:cNvSpPr/>
          <p:nvPr/>
        </p:nvSpPr>
        <p:spPr>
          <a:xfrm rot="3145573" flipH="1">
            <a:off x="2776185" y="3616592"/>
            <a:ext cx="1740464" cy="1459042"/>
          </a:xfrm>
          <a:custGeom>
            <a:avLst/>
            <a:gdLst/>
            <a:ahLst/>
            <a:cxnLst/>
            <a:rect l="l" t="t" r="r" b="b"/>
            <a:pathLst>
              <a:path w="7658176" h="18136315" extrusionOk="0">
                <a:moveTo>
                  <a:pt x="7658178" y="17995765"/>
                </a:moveTo>
                <a:cubicBezTo>
                  <a:pt x="4653421" y="20222463"/>
                  <a:pt x="3365503" y="-4828710"/>
                  <a:pt x="-1" y="836339"/>
                </a:cubicBezTo>
              </a:path>
            </a:pathLst>
          </a:custGeom>
          <a:noFill/>
          <a:ln w="38100" cap="flat" cmpd="sng">
            <a:solidFill>
              <a:schemeClr val="accent3"/>
            </a:solidFill>
            <a:prstDash val="solid"/>
            <a:round/>
            <a:headEnd type="none" w="sm" len="sm"/>
            <a:tailEnd type="none" w="sm" len="sm"/>
          </a:ln>
        </p:spPr>
        <p:txBody>
          <a:bodyPr spcFirstLastPara="1" wrap="square" lIns="91401" tIns="45688" rIns="91401" bIns="45688" anchor="ctr" anchorCtr="0">
            <a:noAutofit/>
          </a:bodyPr>
          <a:lstStyle/>
          <a:p>
            <a:pPr algn="ctr" defTabSz="914126">
              <a:defRPr/>
            </a:pPr>
            <a:endParaRPr sz="1797" dirty="0">
              <a:solidFill>
                <a:srgbClr val="000000"/>
              </a:solidFill>
              <a:latin typeface="Arial" panose="020B0604020202020204" pitchFamily="34" charset="0"/>
              <a:sym typeface="Arial"/>
            </a:endParaRPr>
          </a:p>
        </p:txBody>
      </p:sp>
      <p:sp>
        <p:nvSpPr>
          <p:cNvPr id="23" name="Google Shape;6724;p93">
            <a:extLst>
              <a:ext uri="{FF2B5EF4-FFF2-40B4-BE49-F238E27FC236}">
                <a16:creationId xmlns:a16="http://schemas.microsoft.com/office/drawing/2014/main" id="{395BCE96-1A5C-9ED6-9B27-373F8E264DFE}"/>
              </a:ext>
            </a:extLst>
          </p:cNvPr>
          <p:cNvSpPr/>
          <p:nvPr/>
        </p:nvSpPr>
        <p:spPr>
          <a:xfrm rot="3277283">
            <a:off x="4882353" y="4932297"/>
            <a:ext cx="863869" cy="877814"/>
          </a:xfrm>
          <a:custGeom>
            <a:avLst/>
            <a:gdLst/>
            <a:ahLst/>
            <a:cxnLst/>
            <a:rect l="l" t="t" r="r" b="b"/>
            <a:pathLst>
              <a:path w="730021" h="1626438" extrusionOk="0">
                <a:moveTo>
                  <a:pt x="0" y="1596086"/>
                </a:moveTo>
                <a:cubicBezTo>
                  <a:pt x="215956" y="1751619"/>
                  <a:pt x="565000" y="1322759"/>
                  <a:pt x="730021" y="0"/>
                </a:cubicBezTo>
              </a:path>
            </a:pathLst>
          </a:custGeom>
          <a:noFill/>
          <a:ln w="38100" cap="flat" cmpd="sng">
            <a:solidFill>
              <a:schemeClr val="accent3"/>
            </a:solidFill>
            <a:prstDash val="solid"/>
            <a:round/>
            <a:headEnd type="none" w="sm" len="sm"/>
            <a:tailEnd type="none" w="sm" len="sm"/>
          </a:ln>
        </p:spPr>
        <p:txBody>
          <a:bodyPr spcFirstLastPara="1" wrap="square" lIns="91401" tIns="45688" rIns="91401" bIns="45688" anchor="ctr" anchorCtr="0">
            <a:noAutofit/>
          </a:bodyPr>
          <a:lstStyle/>
          <a:p>
            <a:pPr algn="ctr" defTabSz="914126">
              <a:defRPr/>
            </a:pPr>
            <a:endParaRPr sz="1797" dirty="0">
              <a:solidFill>
                <a:srgbClr val="FFFFFF"/>
              </a:solidFill>
              <a:latin typeface="Arial" panose="020B0604020202020204" pitchFamily="34" charset="0"/>
              <a:sym typeface="Arial"/>
            </a:endParaRPr>
          </a:p>
        </p:txBody>
      </p:sp>
      <p:sp>
        <p:nvSpPr>
          <p:cNvPr id="24" name="Google Shape;6725;p93">
            <a:extLst>
              <a:ext uri="{FF2B5EF4-FFF2-40B4-BE49-F238E27FC236}">
                <a16:creationId xmlns:a16="http://schemas.microsoft.com/office/drawing/2014/main" id="{2572D636-79D3-59C9-D48A-233FA2C5B775}"/>
              </a:ext>
            </a:extLst>
          </p:cNvPr>
          <p:cNvSpPr/>
          <p:nvPr/>
        </p:nvSpPr>
        <p:spPr>
          <a:xfrm rot="4036660">
            <a:off x="9051884" y="4578441"/>
            <a:ext cx="313460" cy="310088"/>
          </a:xfrm>
          <a:custGeom>
            <a:avLst/>
            <a:gdLst/>
            <a:ahLst/>
            <a:cxnLst/>
            <a:rect l="l" t="t" r="r" b="b"/>
            <a:pathLst>
              <a:path w="658855" h="680009" extrusionOk="0">
                <a:moveTo>
                  <a:pt x="0" y="-1"/>
                </a:moveTo>
                <a:cubicBezTo>
                  <a:pt x="370746" y="625615"/>
                  <a:pt x="375958" y="590294"/>
                  <a:pt x="658855" y="680009"/>
                </a:cubicBezTo>
              </a:path>
            </a:pathLst>
          </a:custGeom>
          <a:noFill/>
          <a:ln w="38100" cap="flat" cmpd="sng">
            <a:solidFill>
              <a:schemeClr val="accent4"/>
            </a:solidFill>
            <a:prstDash val="solid"/>
            <a:round/>
            <a:headEnd type="none" w="sm" len="sm"/>
            <a:tailEnd type="none" w="sm" len="sm"/>
          </a:ln>
        </p:spPr>
        <p:txBody>
          <a:bodyPr spcFirstLastPara="1" wrap="square" lIns="91401" tIns="45688" rIns="91401" bIns="45688" anchor="ctr" anchorCtr="0">
            <a:noAutofit/>
          </a:bodyPr>
          <a:lstStyle/>
          <a:p>
            <a:pPr algn="ctr" defTabSz="914126">
              <a:defRPr/>
            </a:pPr>
            <a:endParaRPr sz="1797" dirty="0">
              <a:solidFill>
                <a:srgbClr val="FFFFFF"/>
              </a:solidFill>
              <a:latin typeface="Arial" panose="020B0604020202020204" pitchFamily="34" charset="0"/>
              <a:sym typeface="Arial"/>
            </a:endParaRPr>
          </a:p>
        </p:txBody>
      </p:sp>
      <p:cxnSp>
        <p:nvCxnSpPr>
          <p:cNvPr id="27" name="Straight Connector 26">
            <a:extLst>
              <a:ext uri="{FF2B5EF4-FFF2-40B4-BE49-F238E27FC236}">
                <a16:creationId xmlns:a16="http://schemas.microsoft.com/office/drawing/2014/main" id="{79D9926A-259A-4A42-E06B-CEA750B3C565}"/>
              </a:ext>
            </a:extLst>
          </p:cNvPr>
          <p:cNvCxnSpPr/>
          <p:nvPr/>
        </p:nvCxnSpPr>
        <p:spPr>
          <a:xfrm>
            <a:off x="594299" y="2282058"/>
            <a:ext cx="3243184"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DCE37AA-A635-F160-9A90-3719209EECE8}"/>
              </a:ext>
            </a:extLst>
          </p:cNvPr>
          <p:cNvCxnSpPr>
            <a:cxnSpLocks/>
          </p:cNvCxnSpPr>
          <p:nvPr/>
        </p:nvCxnSpPr>
        <p:spPr>
          <a:xfrm>
            <a:off x="4186955" y="2277815"/>
            <a:ext cx="3540197" cy="0"/>
          </a:xfrm>
          <a:prstGeom prst="line">
            <a:avLst/>
          </a:prstGeom>
          <a:ln w="508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C977044-A3AA-5CBA-4987-0931336E18AF}"/>
              </a:ext>
            </a:extLst>
          </p:cNvPr>
          <p:cNvCxnSpPr>
            <a:cxnSpLocks/>
          </p:cNvCxnSpPr>
          <p:nvPr/>
        </p:nvCxnSpPr>
        <p:spPr>
          <a:xfrm>
            <a:off x="8001363" y="2277815"/>
            <a:ext cx="3552770" cy="0"/>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6626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9">
                                            <p:txEl>
                                              <p:pRg st="0" end="0"/>
                                            </p:txEl>
                                          </p:spTgt>
                                        </p:tgtEl>
                                        <p:attrNameLst>
                                          <p:attrName>style.visibility</p:attrName>
                                        </p:attrNameLst>
                                      </p:cBhvr>
                                      <p:to>
                                        <p:strVal val="visible"/>
                                      </p:to>
                                    </p:set>
                                    <p:animEffect transition="in" filter="fade">
                                      <p:cBhvr>
                                        <p:cTn id="16" dur="500"/>
                                        <p:tgtEl>
                                          <p:spTgt spid="9">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500"/>
                                        <p:tgtEl>
                                          <p:spTgt spid="10">
                                            <p:txEl>
                                              <p:pRg st="0" end="0"/>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par>
                                <p:cTn id="25" presetID="10"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par>
                                <p:cTn id="31" presetID="10"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1">
                                            <p:txEl>
                                              <p:pRg st="0" end="0"/>
                                            </p:txEl>
                                          </p:spTgt>
                                        </p:tgtEl>
                                        <p:attrNameLst>
                                          <p:attrName>style.visibility</p:attrName>
                                        </p:attrNameLst>
                                      </p:cBhvr>
                                      <p:to>
                                        <p:strVal val="visible"/>
                                      </p:to>
                                    </p:set>
                                    <p:animEffect transition="in" filter="fade">
                                      <p:cBhvr>
                                        <p:cTn id="38" dur="500"/>
                                        <p:tgtEl>
                                          <p:spTgt spid="11">
                                            <p:txEl>
                                              <p:pRg st="0" end="0"/>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par>
                                <p:cTn id="45" presetID="10"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par>
                                <p:cTn id="48" presetID="10" presetClass="entr" presetSubtype="0" fill="hold"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childTnLst>
                                </p:cTn>
                              </p:par>
                              <p:par>
                                <p:cTn id="51" presetID="10" presetClass="entr" presetSubtype="0" fill="hold"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500"/>
                                        <p:tgtEl>
                                          <p:spTgt spid="15"/>
                                        </p:tgtEl>
                                      </p:cBhvr>
                                    </p:animEffect>
                                  </p:childTnLst>
                                </p:cTn>
                              </p:par>
                              <p:par>
                                <p:cTn id="54" presetID="10" presetClass="entr" presetSubtype="0" fill="hold" nodeType="with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730">
          <a:extLst>
            <a:ext uri="{FF2B5EF4-FFF2-40B4-BE49-F238E27FC236}">
              <a16:creationId xmlns:a16="http://schemas.microsoft.com/office/drawing/2014/main" id="{F05C4F24-3CBE-A3CE-0937-6ACDE952AEFE}"/>
            </a:ext>
          </a:extLst>
        </p:cNvPr>
        <p:cNvGrpSpPr/>
        <p:nvPr/>
      </p:nvGrpSpPr>
      <p:grpSpPr>
        <a:xfrm>
          <a:off x="0" y="0"/>
          <a:ext cx="0" cy="0"/>
          <a:chOff x="0" y="0"/>
          <a:chExt cx="0" cy="0"/>
        </a:xfrm>
      </p:grpSpPr>
      <p:sp>
        <p:nvSpPr>
          <p:cNvPr id="2" name="Google Shape;1494;g34bdd25f43a_0_12732">
            <a:extLst>
              <a:ext uri="{FF2B5EF4-FFF2-40B4-BE49-F238E27FC236}">
                <a16:creationId xmlns:a16="http://schemas.microsoft.com/office/drawing/2014/main" id="{C51F67E9-FB17-7E3E-E86F-D07C31FB3B97}"/>
              </a:ext>
            </a:extLst>
          </p:cNvPr>
          <p:cNvSpPr/>
          <p:nvPr/>
        </p:nvSpPr>
        <p:spPr>
          <a:xfrm flipH="1">
            <a:off x="8380411" y="1671972"/>
            <a:ext cx="3809999" cy="5186029"/>
          </a:xfrm>
          <a:prstGeom prst="rect">
            <a:avLst/>
          </a:prstGeom>
          <a:gradFill flip="none" rotWithShape="1">
            <a:gsLst>
              <a:gs pos="0">
                <a:srgbClr val="E8F0F4">
                  <a:alpha val="80000"/>
                </a:srgbClr>
              </a:gs>
              <a:gs pos="15000">
                <a:srgbClr val="E8F0F4">
                  <a:alpha val="45000"/>
                </a:srgbClr>
              </a:gs>
              <a:gs pos="67000">
                <a:srgbClr val="E8F0F4">
                  <a:alpha val="0"/>
                </a:srgbClr>
              </a:gs>
            </a:gsLst>
            <a:lin ang="5400000" scaled="1"/>
            <a:tileRect/>
          </a:gradFill>
          <a:ln>
            <a:noFill/>
          </a:ln>
        </p:spPr>
        <p:txBody>
          <a:bodyPr spcFirstLastPara="1" wrap="square" lIns="91325" tIns="45650" rIns="91325" bIns="45650" anchor="ctr" anchorCtr="0">
            <a:noAutofit/>
          </a:bodyPr>
          <a:lstStyle/>
          <a:p>
            <a:pPr algn="ctr">
              <a:buClr>
                <a:srgbClr val="000000"/>
              </a:buClr>
              <a:buSzPts val="1200"/>
            </a:pPr>
            <a:endParaRPr sz="1100">
              <a:solidFill>
                <a:srgbClr val="FFFFFF"/>
              </a:solidFill>
              <a:latin typeface="Arial"/>
              <a:ea typeface="Arial"/>
              <a:cs typeface="Arial"/>
              <a:sym typeface="Arial"/>
            </a:endParaRPr>
          </a:p>
        </p:txBody>
      </p:sp>
      <p:sp>
        <p:nvSpPr>
          <p:cNvPr id="12" name="Google Shape;1527;p8">
            <a:extLst>
              <a:ext uri="{FF2B5EF4-FFF2-40B4-BE49-F238E27FC236}">
                <a16:creationId xmlns:a16="http://schemas.microsoft.com/office/drawing/2014/main" id="{A4689660-4790-8A5B-AC8E-8A8F52834BFC}"/>
              </a:ext>
            </a:extLst>
          </p:cNvPr>
          <p:cNvSpPr/>
          <p:nvPr/>
        </p:nvSpPr>
        <p:spPr>
          <a:xfrm>
            <a:off x="509532" y="1610006"/>
            <a:ext cx="7705078" cy="3966335"/>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6731" name="Google Shape;6731;p94">
            <a:extLst>
              <a:ext uri="{FF2B5EF4-FFF2-40B4-BE49-F238E27FC236}">
                <a16:creationId xmlns:a16="http://schemas.microsoft.com/office/drawing/2014/main" id="{A9F624F2-D607-C0CF-333F-D51171969CEA}"/>
              </a:ext>
            </a:extLst>
          </p:cNvPr>
          <p:cNvSpPr txBox="1">
            <a:spLocks noGrp="1"/>
          </p:cNvSpPr>
          <p:nvPr>
            <p:ph type="title"/>
          </p:nvPr>
        </p:nvSpPr>
        <p:spPr>
          <a:xfrm>
            <a:off x="581245" y="413536"/>
            <a:ext cx="10998139" cy="380901"/>
          </a:xfrm>
          <a:noFill/>
          <a:ln>
            <a:noFill/>
          </a:ln>
        </p:spPr>
        <p:txBody>
          <a:bodyPr spcFirstLastPara="1" vert="horz" wrap="square" lIns="0" tIns="0" rIns="0" bIns="0" rtlCol="0" anchor="b" anchorCtr="0">
            <a:noAutofit/>
          </a:bodyPr>
          <a:lstStyle/>
          <a:p>
            <a:pPr lvl="0"/>
            <a:r>
              <a:rPr lang="en-US" dirty="0"/>
              <a:t>SDDC Manager Context-Aware Prechecks</a:t>
            </a:r>
          </a:p>
        </p:txBody>
      </p:sp>
      <p:sp>
        <p:nvSpPr>
          <p:cNvPr id="6732" name="Google Shape;6732;p94">
            <a:extLst>
              <a:ext uri="{FF2B5EF4-FFF2-40B4-BE49-F238E27FC236}">
                <a16:creationId xmlns:a16="http://schemas.microsoft.com/office/drawing/2014/main" id="{7E38FD97-9558-B32F-224C-52F4FFA1BDB7}"/>
              </a:ext>
            </a:extLst>
          </p:cNvPr>
          <p:cNvSpPr txBox="1">
            <a:spLocks noGrp="1"/>
          </p:cNvSpPr>
          <p:nvPr>
            <p:ph type="subTitle" idx="10"/>
          </p:nvPr>
        </p:nvSpPr>
        <p:spPr>
          <a:xfrm>
            <a:off x="594300" y="812513"/>
            <a:ext cx="10959832" cy="247678"/>
          </a:xfrm>
          <a:noFill/>
          <a:ln>
            <a:noFill/>
          </a:ln>
        </p:spPr>
        <p:txBody>
          <a:bodyPr spcFirstLastPara="1" vert="horz" wrap="square" lIns="0" tIns="0" rIns="0" bIns="0" rtlCol="0" anchor="t" anchorCtr="0">
            <a:noAutofit/>
          </a:bodyPr>
          <a:lstStyle/>
          <a:p>
            <a:pPr lvl="0"/>
            <a:r>
              <a:rPr lang="en-US" dirty="0"/>
              <a:t>Automatically check for conditions that may prevent successful updates</a:t>
            </a:r>
          </a:p>
        </p:txBody>
      </p:sp>
      <p:sp>
        <p:nvSpPr>
          <p:cNvPr id="18" name="Text Placeholder 17">
            <a:extLst>
              <a:ext uri="{FF2B5EF4-FFF2-40B4-BE49-F238E27FC236}">
                <a16:creationId xmlns:a16="http://schemas.microsoft.com/office/drawing/2014/main" id="{474A3DB3-5B85-027A-4CC3-8DB07E767EE8}"/>
              </a:ext>
            </a:extLst>
          </p:cNvPr>
          <p:cNvSpPr>
            <a:spLocks noGrp="1"/>
          </p:cNvSpPr>
          <p:nvPr>
            <p:ph type="body" sz="quarter" idx="17"/>
          </p:nvPr>
        </p:nvSpPr>
        <p:spPr>
          <a:xfrm>
            <a:off x="8672513" y="1600200"/>
            <a:ext cx="3808412" cy="4572000"/>
          </a:xfrm>
        </p:spPr>
        <p:txBody>
          <a:bodyPr/>
          <a:lstStyle/>
          <a:p>
            <a:pPr lvl="0"/>
            <a:r>
              <a:rPr lang="en-US" dirty="0"/>
              <a:t>Prechecks can be run at any time</a:t>
            </a:r>
          </a:p>
          <a:p>
            <a:pPr lvl="0"/>
            <a:r>
              <a:rPr lang="en-US" dirty="0"/>
              <a:t>Choose General Readiness or target a specific BOM version</a:t>
            </a:r>
          </a:p>
          <a:p>
            <a:pPr lvl="0"/>
            <a:r>
              <a:rPr lang="en-US" dirty="0"/>
              <a:t>Errors should be remediated before continuing with an update</a:t>
            </a:r>
          </a:p>
          <a:p>
            <a:endParaRPr lang="en-US" dirty="0"/>
          </a:p>
        </p:txBody>
      </p:sp>
      <p:pic>
        <p:nvPicPr>
          <p:cNvPr id="8" name="Content Placeholder 7">
            <a:extLst>
              <a:ext uri="{FF2B5EF4-FFF2-40B4-BE49-F238E27FC236}">
                <a16:creationId xmlns:a16="http://schemas.microsoft.com/office/drawing/2014/main" id="{5052AB52-1D85-4C63-D661-94F136F97416}"/>
              </a:ext>
            </a:extLst>
          </p:cNvPr>
          <p:cNvPicPr>
            <a:picLocks noGrp="1" noChangeAspect="1"/>
          </p:cNvPicPr>
          <p:nvPr>
            <p:ph sz="quarter" idx="14"/>
          </p:nvPr>
        </p:nvPicPr>
        <p:blipFill>
          <a:blip r:embed="rId3"/>
          <a:stretch>
            <a:fillRect/>
          </a:stretch>
        </p:blipFill>
        <p:spPr>
          <a:xfrm>
            <a:off x="593023" y="1671972"/>
            <a:ext cx="7548366" cy="3784448"/>
          </a:xfrm>
          <a:prstGeom prst="rect">
            <a:avLst/>
          </a:prstGeom>
        </p:spPr>
      </p:pic>
    </p:spTree>
    <p:extLst>
      <p:ext uri="{BB962C8B-B14F-4D97-AF65-F5344CB8AC3E}">
        <p14:creationId xmlns:p14="http://schemas.microsoft.com/office/powerpoint/2010/main" val="376274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819DB-2FD9-343E-2995-DAAE05B29D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62F35-F50C-81AA-A531-0AA7DBD9EABB}"/>
              </a:ext>
            </a:extLst>
          </p:cNvPr>
          <p:cNvSpPr>
            <a:spLocks noGrp="1"/>
          </p:cNvSpPr>
          <p:nvPr>
            <p:ph type="title"/>
          </p:nvPr>
        </p:nvSpPr>
        <p:spPr/>
        <p:txBody>
          <a:bodyPr/>
          <a:lstStyle/>
          <a:p>
            <a:r>
              <a:rPr lang="en-US" dirty="0">
                <a:sym typeface="Arial"/>
              </a:rPr>
              <a:t>Upgrade or Patch Domains from VCF Operations</a:t>
            </a:r>
            <a:endParaRPr lang="en-US" dirty="0"/>
          </a:p>
        </p:txBody>
      </p:sp>
      <p:sp>
        <p:nvSpPr>
          <p:cNvPr id="3" name="Subtitle 2">
            <a:extLst>
              <a:ext uri="{FF2B5EF4-FFF2-40B4-BE49-F238E27FC236}">
                <a16:creationId xmlns:a16="http://schemas.microsoft.com/office/drawing/2014/main" id="{320A4AF1-96E9-AC41-651C-0515A1C47066}"/>
              </a:ext>
            </a:extLst>
          </p:cNvPr>
          <p:cNvSpPr>
            <a:spLocks noGrp="1"/>
          </p:cNvSpPr>
          <p:nvPr>
            <p:ph type="subTitle" idx="10"/>
          </p:nvPr>
        </p:nvSpPr>
        <p:spPr/>
        <p:txBody>
          <a:bodyPr/>
          <a:lstStyle/>
          <a:p>
            <a:r>
              <a:rPr lang="en-US" dirty="0"/>
              <a:t>Graphical workflows for all infrastructure updates</a:t>
            </a:r>
          </a:p>
          <a:p>
            <a:endParaRPr lang="en-US" dirty="0"/>
          </a:p>
        </p:txBody>
      </p:sp>
      <p:sp>
        <p:nvSpPr>
          <p:cNvPr id="4" name="Text Placeholder 3">
            <a:extLst>
              <a:ext uri="{FF2B5EF4-FFF2-40B4-BE49-F238E27FC236}">
                <a16:creationId xmlns:a16="http://schemas.microsoft.com/office/drawing/2014/main" id="{7AC662D6-63A2-0F47-0E49-75B0C9761727}"/>
              </a:ext>
            </a:extLst>
          </p:cNvPr>
          <p:cNvSpPr>
            <a:spLocks noGrp="1"/>
          </p:cNvSpPr>
          <p:nvPr>
            <p:ph type="body" sz="quarter" idx="20"/>
          </p:nvPr>
        </p:nvSpPr>
        <p:spPr>
          <a:gradFill>
            <a:gsLst>
              <a:gs pos="0">
                <a:srgbClr val="E8F0F4">
                  <a:alpha val="80000"/>
                </a:srgbClr>
              </a:gs>
              <a:gs pos="15000">
                <a:srgbClr val="E8F0F4">
                  <a:alpha val="45000"/>
                </a:srgbClr>
              </a:gs>
              <a:gs pos="75000">
                <a:srgbClr val="E8F0F4">
                  <a:alpha val="0"/>
                </a:srgbClr>
              </a:gs>
            </a:gsLst>
            <a:lin ang="5400000" scaled="1"/>
          </a:gradFill>
        </p:spPr>
        <p:txBody>
          <a:bodyPr/>
          <a:lstStyle/>
          <a:p>
            <a:pPr lvl="0"/>
            <a:r>
              <a:rPr lang="en-US" dirty="0"/>
              <a:t>….</a:t>
            </a:r>
          </a:p>
          <a:p>
            <a:endParaRPr lang="en-US" dirty="0"/>
          </a:p>
        </p:txBody>
      </p:sp>
      <p:sp>
        <p:nvSpPr>
          <p:cNvPr id="7" name="Rectangle 6">
            <a:extLst>
              <a:ext uri="{FF2B5EF4-FFF2-40B4-BE49-F238E27FC236}">
                <a16:creationId xmlns:a16="http://schemas.microsoft.com/office/drawing/2014/main" id="{7D5EA6F8-46A2-3090-05D2-4F2F655D1D27}"/>
              </a:ext>
            </a:extLst>
          </p:cNvPr>
          <p:cNvSpPr/>
          <p:nvPr/>
        </p:nvSpPr>
        <p:spPr bwMode="gray">
          <a:xfrm>
            <a:off x="154745" y="2152357"/>
            <a:ext cx="1758461" cy="661181"/>
          </a:xfrm>
          <a:prstGeom prst="rect">
            <a:avLst/>
          </a:prstGeom>
          <a:solidFill>
            <a:srgbClr val="F5F9FB"/>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410B8E68-48C1-CEA6-E4A5-5F8B4E3CE59C}"/>
              </a:ext>
            </a:extLst>
          </p:cNvPr>
          <p:cNvSpPr txBox="1"/>
          <p:nvPr/>
        </p:nvSpPr>
        <p:spPr>
          <a:xfrm>
            <a:off x="380965" y="1880440"/>
            <a:ext cx="2362235" cy="447814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700" b="0" i="0" u="none" strike="noStrike" kern="1200" cap="none" spc="0" normalizeH="0" baseline="0" noProof="0" dirty="0">
                <a:ln>
                  <a:noFill/>
                </a:ln>
                <a:solidFill>
                  <a:srgbClr val="005C8A"/>
                </a:solidFill>
                <a:effectLst/>
                <a:uLnTx/>
                <a:uFillTx/>
                <a:latin typeface="Arial" panose="020B0604020202020204"/>
                <a:ea typeface="+mn-ea"/>
                <a:cs typeface="+mn-cs"/>
              </a:rPr>
              <a:t>All upgrade and patch bundles now available in SDDC Manager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700" b="0" i="0" u="none" strike="noStrike" kern="1200" cap="none" spc="0" normalizeH="0" baseline="0" noProof="0" dirty="0">
              <a:ln>
                <a:noFill/>
              </a:ln>
              <a:solidFill>
                <a:srgbClr val="005C8A"/>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700" b="0" i="0" u="none" strike="noStrike" kern="1200" cap="none" spc="0" normalizeH="0" baseline="0" noProof="0" dirty="0">
                <a:ln>
                  <a:noFill/>
                </a:ln>
                <a:solidFill>
                  <a:srgbClr val="005C8A"/>
                </a:solidFill>
                <a:effectLst/>
                <a:uLnTx/>
                <a:uFillTx/>
                <a:latin typeface="Arial" panose="020B0604020202020204"/>
                <a:ea typeface="+mn-ea"/>
                <a:cs typeface="+mn-cs"/>
              </a:rPr>
              <a:t>No need to patch via CLI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700" b="0" i="0" u="none" strike="noStrike" kern="1200" cap="none" spc="0" normalizeH="0" baseline="0" noProof="0" dirty="0">
              <a:ln>
                <a:noFill/>
              </a:ln>
              <a:solidFill>
                <a:srgbClr val="005C8A"/>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700" b="0" i="0" u="none" strike="noStrike" kern="1200" cap="none" spc="0" normalizeH="0" baseline="0" noProof="0" dirty="0">
                <a:ln>
                  <a:noFill/>
                </a:ln>
                <a:solidFill>
                  <a:srgbClr val="005C8A"/>
                </a:solidFill>
                <a:effectLst/>
                <a:uLnTx/>
                <a:uFillTx/>
                <a:latin typeface="Arial" panose="020B0604020202020204"/>
                <a:ea typeface="+mn-ea"/>
                <a:cs typeface="+mn-cs"/>
              </a:rPr>
              <a:t>Patches can be applied during upgrades workflows, reducing administrative effort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700" b="0" i="0" u="none" strike="noStrike" kern="1200" cap="none" spc="0" normalizeH="0" baseline="0" noProof="0" dirty="0">
              <a:ln>
                <a:noFill/>
              </a:ln>
              <a:solidFill>
                <a:srgbClr val="005C8A"/>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700" b="0" i="0" u="none" strike="noStrike" kern="1200" cap="none" spc="0" normalizeH="0" baseline="0" noProof="0" dirty="0">
                <a:ln>
                  <a:noFill/>
                </a:ln>
                <a:solidFill>
                  <a:srgbClr val="005C8A"/>
                </a:solidFill>
                <a:effectLst/>
                <a:uLnTx/>
                <a:uFillTx/>
                <a:latin typeface="Arial" panose="020B0604020202020204"/>
                <a:ea typeface="+mn-ea"/>
                <a:cs typeface="+mn-cs"/>
              </a:rPr>
              <a:t>New workload domains and clusters deploy with patches already applied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endParaRPr>
          </a:p>
        </p:txBody>
      </p:sp>
      <p:sp>
        <p:nvSpPr>
          <p:cNvPr id="11" name="Google Shape;1527;p8">
            <a:extLst>
              <a:ext uri="{FF2B5EF4-FFF2-40B4-BE49-F238E27FC236}">
                <a16:creationId xmlns:a16="http://schemas.microsoft.com/office/drawing/2014/main" id="{268628AF-F614-4F28-3566-B64B179A382D}"/>
              </a:ext>
            </a:extLst>
          </p:cNvPr>
          <p:cNvSpPr/>
          <p:nvPr/>
        </p:nvSpPr>
        <p:spPr>
          <a:xfrm>
            <a:off x="3061692" y="1582735"/>
            <a:ext cx="8688592" cy="3049226"/>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5" name="Picture 4">
            <a:extLst>
              <a:ext uri="{FF2B5EF4-FFF2-40B4-BE49-F238E27FC236}">
                <a16:creationId xmlns:a16="http://schemas.microsoft.com/office/drawing/2014/main" id="{8DCB3B3E-1B46-508C-B9AD-7478592EBCBE}"/>
              </a:ext>
            </a:extLst>
          </p:cNvPr>
          <p:cNvPicPr preferRelativeResize="0">
            <a:picLocks noChangeAspect="1"/>
          </p:cNvPicPr>
          <p:nvPr/>
        </p:nvPicPr>
        <p:blipFill>
          <a:blip r:embed="rId3"/>
          <a:stretch>
            <a:fillRect/>
          </a:stretch>
        </p:blipFill>
        <p:spPr>
          <a:xfrm>
            <a:off x="3120233" y="1641986"/>
            <a:ext cx="8564072" cy="2938581"/>
          </a:xfrm>
          <a:prstGeom prst="rect">
            <a:avLst/>
          </a:prstGeom>
        </p:spPr>
      </p:pic>
    </p:spTree>
    <p:extLst>
      <p:ext uri="{BB962C8B-B14F-4D97-AF65-F5344CB8AC3E}">
        <p14:creationId xmlns:p14="http://schemas.microsoft.com/office/powerpoint/2010/main" val="2664389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750">
          <a:extLst>
            <a:ext uri="{FF2B5EF4-FFF2-40B4-BE49-F238E27FC236}">
              <a16:creationId xmlns:a16="http://schemas.microsoft.com/office/drawing/2014/main" id="{25420405-F585-9BCD-F55A-322FA0D92877}"/>
            </a:ext>
          </a:extLst>
        </p:cNvPr>
        <p:cNvGrpSpPr/>
        <p:nvPr/>
      </p:nvGrpSpPr>
      <p:grpSpPr>
        <a:xfrm>
          <a:off x="0" y="0"/>
          <a:ext cx="0" cy="0"/>
          <a:chOff x="0" y="0"/>
          <a:chExt cx="0" cy="0"/>
        </a:xfrm>
      </p:grpSpPr>
      <p:sp>
        <p:nvSpPr>
          <p:cNvPr id="2" name="Google Shape;1494;g34bdd25f43a_0_12732">
            <a:extLst>
              <a:ext uri="{FF2B5EF4-FFF2-40B4-BE49-F238E27FC236}">
                <a16:creationId xmlns:a16="http://schemas.microsoft.com/office/drawing/2014/main" id="{4194A21D-9C54-9FE2-6B39-1037484B9679}"/>
              </a:ext>
            </a:extLst>
          </p:cNvPr>
          <p:cNvSpPr/>
          <p:nvPr/>
        </p:nvSpPr>
        <p:spPr>
          <a:xfrm flipH="1">
            <a:off x="8380411" y="1671972"/>
            <a:ext cx="3809999" cy="5186029"/>
          </a:xfrm>
          <a:prstGeom prst="rect">
            <a:avLst/>
          </a:prstGeom>
          <a:gradFill flip="none" rotWithShape="1">
            <a:gsLst>
              <a:gs pos="0">
                <a:srgbClr val="E8F0F4">
                  <a:alpha val="80000"/>
                </a:srgbClr>
              </a:gs>
              <a:gs pos="15000">
                <a:srgbClr val="E8F0F4">
                  <a:alpha val="45000"/>
                </a:srgbClr>
              </a:gs>
              <a:gs pos="67000">
                <a:srgbClr val="E8F0F4">
                  <a:alpha val="0"/>
                </a:srgbClr>
              </a:gs>
            </a:gsLst>
            <a:lin ang="5400000" scaled="1"/>
            <a:tileRect/>
          </a:gradFill>
          <a:ln>
            <a:noFill/>
          </a:ln>
        </p:spPr>
        <p:txBody>
          <a:bodyPr spcFirstLastPara="1" wrap="square" lIns="91325" tIns="45650" rIns="91325" bIns="45650" anchor="ctr" anchorCtr="0">
            <a:noAutofit/>
          </a:bodyPr>
          <a:lstStyle/>
          <a:p>
            <a:pPr algn="ctr">
              <a:buClr>
                <a:srgbClr val="000000"/>
              </a:buClr>
              <a:buSzPts val="1200"/>
            </a:pPr>
            <a:endParaRPr sz="1100">
              <a:solidFill>
                <a:srgbClr val="FFFFFF"/>
              </a:solidFill>
              <a:latin typeface="Arial"/>
              <a:ea typeface="Arial"/>
              <a:cs typeface="Arial"/>
              <a:sym typeface="Arial"/>
            </a:endParaRPr>
          </a:p>
        </p:txBody>
      </p:sp>
      <p:sp>
        <p:nvSpPr>
          <p:cNvPr id="6751" name="Google Shape;6751;p96">
            <a:extLst>
              <a:ext uri="{FF2B5EF4-FFF2-40B4-BE49-F238E27FC236}">
                <a16:creationId xmlns:a16="http://schemas.microsoft.com/office/drawing/2014/main" id="{4860F50A-900A-610E-A9B7-43EDFE1A8E7E}"/>
              </a:ext>
            </a:extLst>
          </p:cNvPr>
          <p:cNvSpPr/>
          <p:nvPr/>
        </p:nvSpPr>
        <p:spPr>
          <a:xfrm>
            <a:off x="6353" y="1607384"/>
            <a:ext cx="8164342" cy="4536100"/>
          </a:xfrm>
          <a:prstGeom prst="rect">
            <a:avLst/>
          </a:prstGeom>
          <a:solidFill>
            <a:srgbClr val="F5F9FA"/>
          </a:solidFill>
          <a:ln>
            <a:noFill/>
          </a:ln>
        </p:spPr>
        <p:txBody>
          <a:bodyPr spcFirstLastPara="1" wrap="square" lIns="91351" tIns="45663" rIns="91351" bIns="45663" anchor="ctr" anchorCtr="0">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endParaRPr>
          </a:p>
        </p:txBody>
      </p:sp>
      <p:sp>
        <p:nvSpPr>
          <p:cNvPr id="7" name="Google Shape;1527;p8">
            <a:extLst>
              <a:ext uri="{FF2B5EF4-FFF2-40B4-BE49-F238E27FC236}">
                <a16:creationId xmlns:a16="http://schemas.microsoft.com/office/drawing/2014/main" id="{80843C80-2E18-104E-A16E-1046BC9720B3}"/>
              </a:ext>
            </a:extLst>
          </p:cNvPr>
          <p:cNvSpPr/>
          <p:nvPr/>
        </p:nvSpPr>
        <p:spPr>
          <a:xfrm>
            <a:off x="581247" y="1610005"/>
            <a:ext cx="7502731" cy="4436100"/>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6752" name="Google Shape;6752;p96">
            <a:extLst>
              <a:ext uri="{FF2B5EF4-FFF2-40B4-BE49-F238E27FC236}">
                <a16:creationId xmlns:a16="http://schemas.microsoft.com/office/drawing/2014/main" id="{3ABFF361-0EB8-A4C7-2C73-4317DBE386F5}"/>
              </a:ext>
            </a:extLst>
          </p:cNvPr>
          <p:cNvSpPr txBox="1">
            <a:spLocks noGrp="1"/>
          </p:cNvSpPr>
          <p:nvPr>
            <p:ph type="title"/>
          </p:nvPr>
        </p:nvSpPr>
        <p:spPr>
          <a:prstGeom prst="rect">
            <a:avLst/>
          </a:prstGeom>
          <a:noFill/>
          <a:ln>
            <a:noFill/>
          </a:ln>
        </p:spPr>
        <p:txBody>
          <a:bodyPr spcFirstLastPara="1" vert="horz" wrap="square" lIns="0" tIns="0" rIns="0" bIns="0" rtlCol="0" anchor="b" anchorCtr="0">
            <a:noAutofit/>
          </a:bodyPr>
          <a:lstStyle/>
          <a:p>
            <a:pPr>
              <a:spcBef>
                <a:spcPts val="0"/>
              </a:spcBef>
              <a:buClr>
                <a:schemeClr val="accent2"/>
              </a:buClr>
              <a:buSzPts val="2800"/>
            </a:pPr>
            <a:r>
              <a:rPr lang="en-US" dirty="0">
                <a:sym typeface="Arial"/>
              </a:rPr>
              <a:t>Patch Individual Components using SDDC Manager</a:t>
            </a:r>
            <a:endParaRPr dirty="0"/>
          </a:p>
        </p:txBody>
      </p:sp>
      <p:sp>
        <p:nvSpPr>
          <p:cNvPr id="6753" name="Google Shape;6753;p96">
            <a:extLst>
              <a:ext uri="{FF2B5EF4-FFF2-40B4-BE49-F238E27FC236}">
                <a16:creationId xmlns:a16="http://schemas.microsoft.com/office/drawing/2014/main" id="{43B20D24-D805-E502-8C19-08624A63D782}"/>
              </a:ext>
            </a:extLst>
          </p:cNvPr>
          <p:cNvSpPr txBox="1">
            <a:spLocks noGrp="1"/>
          </p:cNvSpPr>
          <p:nvPr>
            <p:ph type="subTitle" idx="10"/>
          </p:nvPr>
        </p:nvSpPr>
        <p:spPr>
          <a:prstGeom prst="rect">
            <a:avLst/>
          </a:prstGeom>
          <a:noFill/>
          <a:ln>
            <a:noFill/>
          </a:ln>
        </p:spPr>
        <p:txBody>
          <a:bodyPr spcFirstLastPara="1" vert="horz" wrap="square" lIns="0" tIns="0" rIns="0" bIns="0" rtlCol="0" anchor="t" anchorCtr="0">
            <a:noAutofit/>
          </a:bodyPr>
          <a:lstStyle/>
          <a:p>
            <a:pPr>
              <a:spcAft>
                <a:spcPts val="0"/>
              </a:spcAft>
              <a:buSzPts val="1800"/>
            </a:pPr>
            <a:r>
              <a:rPr lang="en-US" dirty="0"/>
              <a:t>The Async Patch Tool is no longer needed</a:t>
            </a:r>
            <a:endParaRPr dirty="0"/>
          </a:p>
        </p:txBody>
      </p:sp>
      <p:sp>
        <p:nvSpPr>
          <p:cNvPr id="6754" name="Google Shape;6754;p96">
            <a:extLst>
              <a:ext uri="{FF2B5EF4-FFF2-40B4-BE49-F238E27FC236}">
                <a16:creationId xmlns:a16="http://schemas.microsoft.com/office/drawing/2014/main" id="{DB65051B-A747-66B0-3D4C-6E5FB13BF413}"/>
              </a:ext>
            </a:extLst>
          </p:cNvPr>
          <p:cNvSpPr txBox="1">
            <a:spLocks noGrp="1"/>
          </p:cNvSpPr>
          <p:nvPr>
            <p:ph type="body" sz="quarter" idx="17"/>
          </p:nvPr>
        </p:nvSpPr>
        <p:spPr>
          <a:xfrm>
            <a:off x="8596313" y="1600200"/>
            <a:ext cx="3808412" cy="4572000"/>
          </a:xfrm>
          <a:prstGeom prst="rect">
            <a:avLst/>
          </a:prstGeom>
          <a:noFill/>
          <a:ln>
            <a:noFill/>
          </a:ln>
        </p:spPr>
        <p:txBody>
          <a:bodyPr spcFirstLastPara="1" vert="horz" wrap="square" lIns="0" tIns="457081" rIns="594195" bIns="457081" rtlCol="0" anchor="t" anchorCtr="0">
            <a:noAutofit/>
          </a:bodyPr>
          <a:lstStyle/>
          <a:p>
            <a:pPr>
              <a:spcAft>
                <a:spcPts val="0"/>
              </a:spcAft>
              <a:buSzPts val="1440"/>
              <a:buNone/>
            </a:pPr>
            <a:r>
              <a:rPr lang="en-US" dirty="0"/>
              <a:t>Updates that are not part of the standard VCF BOM are called “async patches”</a:t>
            </a:r>
            <a:endParaRPr dirty="0"/>
          </a:p>
          <a:p>
            <a:pPr>
              <a:spcBef>
                <a:spcPts val="1200"/>
              </a:spcBef>
              <a:spcAft>
                <a:spcPts val="0"/>
              </a:spcAft>
              <a:buSzPts val="1440"/>
              <a:buNone/>
            </a:pPr>
            <a:r>
              <a:rPr lang="en-US" dirty="0"/>
              <a:t>VCF Operations provides an easy-to-use graphical interface</a:t>
            </a:r>
            <a:endParaRPr dirty="0"/>
          </a:p>
          <a:p>
            <a:pPr>
              <a:spcBef>
                <a:spcPts val="1200"/>
              </a:spcBef>
              <a:spcAft>
                <a:spcPts val="0"/>
              </a:spcAft>
              <a:buSzPts val="1440"/>
              <a:buNone/>
            </a:pPr>
            <a:r>
              <a:rPr lang="en-US" dirty="0"/>
              <a:t>Multiple components can be patched at once</a:t>
            </a:r>
            <a:endParaRPr dirty="0"/>
          </a:p>
          <a:p>
            <a:pPr>
              <a:spcBef>
                <a:spcPts val="1200"/>
              </a:spcBef>
              <a:spcAft>
                <a:spcPts val="0"/>
              </a:spcAft>
              <a:buSzPts val="1440"/>
              <a:buNone/>
            </a:pPr>
            <a:r>
              <a:rPr lang="en-US" dirty="0"/>
              <a:t>Selection is validated to ensure the configurations is supported</a:t>
            </a:r>
            <a:endParaRPr dirty="0"/>
          </a:p>
        </p:txBody>
      </p:sp>
      <p:pic>
        <p:nvPicPr>
          <p:cNvPr id="10" name="Content Placeholder 9">
            <a:extLst>
              <a:ext uri="{FF2B5EF4-FFF2-40B4-BE49-F238E27FC236}">
                <a16:creationId xmlns:a16="http://schemas.microsoft.com/office/drawing/2014/main" id="{4DC4EC47-F7BD-3E42-D150-D7EACE010442}"/>
              </a:ext>
            </a:extLst>
          </p:cNvPr>
          <p:cNvPicPr>
            <a:picLocks noGrp="1" noChangeAspect="1"/>
          </p:cNvPicPr>
          <p:nvPr>
            <p:ph sz="quarter" idx="14"/>
          </p:nvPr>
        </p:nvPicPr>
        <p:blipFill>
          <a:blip r:embed="rId3"/>
          <a:stretch>
            <a:fillRect/>
          </a:stretch>
        </p:blipFill>
        <p:spPr>
          <a:xfrm>
            <a:off x="637993" y="1683051"/>
            <a:ext cx="7397750" cy="3755878"/>
          </a:xfrm>
          <a:prstGeom prst="rect">
            <a:avLst/>
          </a:prstGeom>
        </p:spPr>
      </p:pic>
    </p:spTree>
    <p:extLst>
      <p:ext uri="{BB962C8B-B14F-4D97-AF65-F5344CB8AC3E}">
        <p14:creationId xmlns:p14="http://schemas.microsoft.com/office/powerpoint/2010/main" val="440933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4525D-586C-3DF4-0AA9-0051952284F6}"/>
            </a:ext>
          </a:extLst>
        </p:cNvPr>
        <p:cNvGrpSpPr/>
        <p:nvPr/>
      </p:nvGrpSpPr>
      <p:grpSpPr>
        <a:xfrm>
          <a:off x="0" y="0"/>
          <a:ext cx="0" cy="0"/>
          <a:chOff x="0" y="0"/>
          <a:chExt cx="0" cy="0"/>
        </a:xfrm>
      </p:grpSpPr>
      <p:sp>
        <p:nvSpPr>
          <p:cNvPr id="5" name="Google Shape;1494;g34bdd25f43a_0_12732">
            <a:extLst>
              <a:ext uri="{FF2B5EF4-FFF2-40B4-BE49-F238E27FC236}">
                <a16:creationId xmlns:a16="http://schemas.microsoft.com/office/drawing/2014/main" id="{D1B0B353-1EB0-1FD3-86F9-BAA9C8D6E668}"/>
              </a:ext>
            </a:extLst>
          </p:cNvPr>
          <p:cNvSpPr/>
          <p:nvPr/>
        </p:nvSpPr>
        <p:spPr>
          <a:xfrm flipH="1">
            <a:off x="8380411" y="1671972"/>
            <a:ext cx="3809999" cy="5186029"/>
          </a:xfrm>
          <a:prstGeom prst="rect">
            <a:avLst/>
          </a:prstGeom>
          <a:gradFill flip="none" rotWithShape="1">
            <a:gsLst>
              <a:gs pos="0">
                <a:srgbClr val="E8F0F4">
                  <a:alpha val="80000"/>
                </a:srgbClr>
              </a:gs>
              <a:gs pos="15000">
                <a:srgbClr val="E8F0F4">
                  <a:alpha val="45000"/>
                </a:srgbClr>
              </a:gs>
              <a:gs pos="67000">
                <a:srgbClr val="E8F0F4">
                  <a:alpha val="0"/>
                </a:srgbClr>
              </a:gs>
            </a:gsLst>
            <a:lin ang="5400000" scaled="1"/>
            <a:tileRect/>
          </a:gradFill>
          <a:ln>
            <a:noFill/>
          </a:ln>
        </p:spPr>
        <p:txBody>
          <a:bodyPr spcFirstLastPara="1" wrap="square" lIns="91325" tIns="45650" rIns="91325" bIns="45650" anchor="ctr" anchorCtr="0">
            <a:noAutofit/>
          </a:bodyPr>
          <a:lstStyle/>
          <a:p>
            <a:pPr algn="ctr">
              <a:buClr>
                <a:srgbClr val="000000"/>
              </a:buClr>
              <a:buSzPts val="1200"/>
            </a:pPr>
            <a:endParaRPr sz="1100">
              <a:solidFill>
                <a:srgbClr val="FFFFFF"/>
              </a:solidFill>
              <a:latin typeface="Arial"/>
              <a:ea typeface="Arial"/>
              <a:cs typeface="Arial"/>
              <a:sym typeface="Arial"/>
            </a:endParaRPr>
          </a:p>
        </p:txBody>
      </p:sp>
      <p:sp>
        <p:nvSpPr>
          <p:cNvPr id="2" name="Title 1">
            <a:extLst>
              <a:ext uri="{FF2B5EF4-FFF2-40B4-BE49-F238E27FC236}">
                <a16:creationId xmlns:a16="http://schemas.microsoft.com/office/drawing/2014/main" id="{2A0E4ED0-3719-4310-F511-12F9BDDA9702}"/>
              </a:ext>
            </a:extLst>
          </p:cNvPr>
          <p:cNvSpPr>
            <a:spLocks noGrp="1"/>
          </p:cNvSpPr>
          <p:nvPr>
            <p:ph type="title"/>
          </p:nvPr>
        </p:nvSpPr>
        <p:spPr/>
        <p:txBody>
          <a:bodyPr/>
          <a:lstStyle/>
          <a:p>
            <a:r>
              <a:rPr lang="en-US" dirty="0"/>
              <a:t>VCF 9 Requires vLCM Images for ESXi Clusters</a:t>
            </a:r>
          </a:p>
        </p:txBody>
      </p:sp>
      <p:sp>
        <p:nvSpPr>
          <p:cNvPr id="3" name="Subtitle 2">
            <a:extLst>
              <a:ext uri="{FF2B5EF4-FFF2-40B4-BE49-F238E27FC236}">
                <a16:creationId xmlns:a16="http://schemas.microsoft.com/office/drawing/2014/main" id="{A1D6F968-603A-AF87-0445-2F87359AD9C9}"/>
              </a:ext>
            </a:extLst>
          </p:cNvPr>
          <p:cNvSpPr>
            <a:spLocks noGrp="1"/>
          </p:cNvSpPr>
          <p:nvPr>
            <p:ph type="subTitle" idx="10"/>
          </p:nvPr>
        </p:nvSpPr>
        <p:spPr/>
        <p:txBody>
          <a:bodyPr/>
          <a:lstStyle/>
          <a:p>
            <a:r>
              <a:rPr lang="en-US" dirty="0"/>
              <a:t>The legacy baselines have been long deprecated and must be migrated to images now</a:t>
            </a:r>
          </a:p>
        </p:txBody>
      </p:sp>
      <p:sp>
        <p:nvSpPr>
          <p:cNvPr id="4" name="Text Placeholder 3">
            <a:extLst>
              <a:ext uri="{FF2B5EF4-FFF2-40B4-BE49-F238E27FC236}">
                <a16:creationId xmlns:a16="http://schemas.microsoft.com/office/drawing/2014/main" id="{27BB4D9B-B268-6B7F-9E07-98505F92DB03}"/>
              </a:ext>
            </a:extLst>
          </p:cNvPr>
          <p:cNvSpPr>
            <a:spLocks noGrp="1"/>
          </p:cNvSpPr>
          <p:nvPr>
            <p:ph type="body" sz="quarter" idx="17"/>
          </p:nvPr>
        </p:nvSpPr>
        <p:spPr>
          <a:xfrm>
            <a:off x="8558213" y="1600200"/>
            <a:ext cx="3808412" cy="4572000"/>
          </a:xfrm>
        </p:spPr>
        <p:txBody>
          <a:bodyPr/>
          <a:lstStyle/>
          <a:p>
            <a:r>
              <a:rPr lang="en-US" dirty="0"/>
              <a:t>ESXi host software is now managed exclusively by vLCM images at the cluster level</a:t>
            </a:r>
          </a:p>
          <a:p>
            <a:r>
              <a:rPr lang="en-US" dirty="0"/>
              <a:t>Administrators can customize images according to hardware vendor and required drivers</a:t>
            </a:r>
          </a:p>
          <a:p>
            <a:r>
              <a:rPr lang="en-US" dirty="0"/>
              <a:t>Older VCF deployments may be configured with legacy vLCM baselines (VUM) – those must be migrated</a:t>
            </a:r>
          </a:p>
        </p:txBody>
      </p:sp>
      <p:pic>
        <p:nvPicPr>
          <p:cNvPr id="12" name="Content Placeholder 11">
            <a:extLst>
              <a:ext uri="{FF2B5EF4-FFF2-40B4-BE49-F238E27FC236}">
                <a16:creationId xmlns:a16="http://schemas.microsoft.com/office/drawing/2014/main" id="{4485ED19-79FA-EC95-D08E-CB386E27E505}"/>
              </a:ext>
            </a:extLst>
          </p:cNvPr>
          <p:cNvPicPr>
            <a:picLocks noGrp="1" noChangeAspect="1"/>
          </p:cNvPicPr>
          <p:nvPr>
            <p:ph sz="quarter" idx="14"/>
          </p:nvPr>
        </p:nvPicPr>
        <p:blipFill>
          <a:blip r:embed="rId3"/>
          <a:stretch>
            <a:fillRect/>
          </a:stretch>
        </p:blipFill>
        <p:spPr>
          <a:xfrm>
            <a:off x="637993" y="1674430"/>
            <a:ext cx="7397750" cy="3733999"/>
          </a:xfrm>
          <a:prstGeom prst="rect">
            <a:avLst/>
          </a:prstGeom>
        </p:spPr>
      </p:pic>
      <p:sp>
        <p:nvSpPr>
          <p:cNvPr id="8" name="Google Shape;1527;p8">
            <a:extLst>
              <a:ext uri="{FF2B5EF4-FFF2-40B4-BE49-F238E27FC236}">
                <a16:creationId xmlns:a16="http://schemas.microsoft.com/office/drawing/2014/main" id="{46EF254A-C514-4E5F-CFCB-269AD488C888}"/>
              </a:ext>
            </a:extLst>
          </p:cNvPr>
          <p:cNvSpPr/>
          <p:nvPr/>
        </p:nvSpPr>
        <p:spPr>
          <a:xfrm>
            <a:off x="581246" y="1610005"/>
            <a:ext cx="7502732" cy="3906375"/>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3082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7007">
          <a:extLst>
            <a:ext uri="{FF2B5EF4-FFF2-40B4-BE49-F238E27FC236}">
              <a16:creationId xmlns:a16="http://schemas.microsoft.com/office/drawing/2014/main" id="{7EBB4CF6-0240-DCA9-63B2-BDE3D8049FED}"/>
            </a:ext>
          </a:extLst>
        </p:cNvPr>
        <p:cNvGrpSpPr/>
        <p:nvPr/>
      </p:nvGrpSpPr>
      <p:grpSpPr>
        <a:xfrm>
          <a:off x="0" y="0"/>
          <a:ext cx="0" cy="0"/>
          <a:chOff x="0" y="0"/>
          <a:chExt cx="0" cy="0"/>
        </a:xfrm>
      </p:grpSpPr>
      <p:sp>
        <p:nvSpPr>
          <p:cNvPr id="16" name="Google Shape;1527;p8">
            <a:extLst>
              <a:ext uri="{FF2B5EF4-FFF2-40B4-BE49-F238E27FC236}">
                <a16:creationId xmlns:a16="http://schemas.microsoft.com/office/drawing/2014/main" id="{BBD66FCE-4DD1-D795-1A92-F6CD1D79A6FE}"/>
              </a:ext>
            </a:extLst>
          </p:cNvPr>
          <p:cNvSpPr/>
          <p:nvPr/>
        </p:nvSpPr>
        <p:spPr>
          <a:xfrm>
            <a:off x="3184265" y="1528220"/>
            <a:ext cx="8369727" cy="4652594"/>
          </a:xfrm>
          <a:prstGeom prst="roundRect">
            <a:avLst>
              <a:gd name="adj" fmla="val 2356"/>
            </a:avLst>
          </a:prstGeom>
          <a:solidFill>
            <a:srgbClr val="F4F9FB"/>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algn="ctr" defTabSz="914126">
              <a:buClr>
                <a:srgbClr val="000000"/>
              </a:buClr>
              <a:buSzPts val="1200"/>
            </a:pPr>
            <a:endParaRPr sz="1200">
              <a:solidFill>
                <a:srgbClr val="FFFFFF"/>
              </a:solidFill>
              <a:latin typeface="Arial"/>
              <a:ea typeface="Arial"/>
              <a:cs typeface="Arial"/>
              <a:sym typeface="Arial"/>
            </a:endParaRPr>
          </a:p>
        </p:txBody>
      </p:sp>
      <p:sp>
        <p:nvSpPr>
          <p:cNvPr id="7008" name="Google Shape;7008;p99">
            <a:extLst>
              <a:ext uri="{FF2B5EF4-FFF2-40B4-BE49-F238E27FC236}">
                <a16:creationId xmlns:a16="http://schemas.microsoft.com/office/drawing/2014/main" id="{75B9CFAE-3709-060E-18B6-5C53F84F6340}"/>
              </a:ext>
            </a:extLst>
          </p:cNvPr>
          <p:cNvSpPr txBox="1">
            <a:spLocks noGrp="1"/>
          </p:cNvSpPr>
          <p:nvPr>
            <p:ph type="title"/>
          </p:nvPr>
        </p:nvSpPr>
        <p:spPr>
          <a:xfrm>
            <a:off x="581245" y="413536"/>
            <a:ext cx="10998139" cy="380901"/>
          </a:xfrm>
          <a:noFill/>
          <a:ln>
            <a:noFill/>
          </a:ln>
        </p:spPr>
        <p:txBody>
          <a:bodyPr spcFirstLastPara="1" vert="horz" wrap="square" lIns="0" tIns="0" rIns="0" bIns="0" rtlCol="0" anchor="b" anchorCtr="0">
            <a:noAutofit/>
          </a:bodyPr>
          <a:lstStyle/>
          <a:p>
            <a:pPr lvl="0"/>
            <a:r>
              <a:rPr lang="en-US" dirty="0"/>
              <a:t>vSphere Lifecycle Manager (</a:t>
            </a:r>
            <a:r>
              <a:rPr lang="en-US" dirty="0" err="1"/>
              <a:t>vLCM</a:t>
            </a:r>
            <a:r>
              <a:rPr lang="en-US" dirty="0"/>
              <a:t>) Images</a:t>
            </a:r>
          </a:p>
        </p:txBody>
      </p:sp>
      <p:sp>
        <p:nvSpPr>
          <p:cNvPr id="7009" name="Google Shape;7009;p99">
            <a:extLst>
              <a:ext uri="{FF2B5EF4-FFF2-40B4-BE49-F238E27FC236}">
                <a16:creationId xmlns:a16="http://schemas.microsoft.com/office/drawing/2014/main" id="{4A46FD42-510A-925D-D5B1-5EE73140C0DD}"/>
              </a:ext>
            </a:extLst>
          </p:cNvPr>
          <p:cNvSpPr txBox="1">
            <a:spLocks noGrp="1"/>
          </p:cNvSpPr>
          <p:nvPr>
            <p:ph type="subTitle" idx="10"/>
          </p:nvPr>
        </p:nvSpPr>
        <p:spPr>
          <a:xfrm>
            <a:off x="594300" y="812513"/>
            <a:ext cx="10959832" cy="247678"/>
          </a:xfrm>
          <a:noFill/>
          <a:ln>
            <a:noFill/>
          </a:ln>
        </p:spPr>
        <p:txBody>
          <a:bodyPr spcFirstLastPara="1" vert="horz" wrap="square" lIns="0" tIns="0" rIns="0" bIns="0" rtlCol="0" anchor="t" anchorCtr="0">
            <a:noAutofit/>
          </a:bodyPr>
          <a:lstStyle/>
          <a:p>
            <a:pPr lvl="0"/>
            <a:r>
              <a:rPr lang="en-US" dirty="0">
                <a:sym typeface="Arial"/>
              </a:rPr>
              <a:t>Using qualified hardware</a:t>
            </a:r>
            <a:endParaRPr lang="en-US" dirty="0"/>
          </a:p>
        </p:txBody>
      </p:sp>
      <p:sp>
        <p:nvSpPr>
          <p:cNvPr id="11" name="Text Placeholder 10">
            <a:extLst>
              <a:ext uri="{FF2B5EF4-FFF2-40B4-BE49-F238E27FC236}">
                <a16:creationId xmlns:a16="http://schemas.microsoft.com/office/drawing/2014/main" id="{30FCE33E-951A-B65E-0C0B-60503458253C}"/>
              </a:ext>
            </a:extLst>
          </p:cNvPr>
          <p:cNvSpPr>
            <a:spLocks noGrp="1"/>
          </p:cNvSpPr>
          <p:nvPr>
            <p:ph type="body" sz="quarter" idx="20"/>
          </p:nvPr>
        </p:nvSpPr>
        <p:spPr>
          <a:xfrm>
            <a:off x="1589" y="1610005"/>
            <a:ext cx="2893259" cy="4570809"/>
          </a:xfrm>
        </p:spPr>
        <p:txBody>
          <a:bodyPr/>
          <a:lstStyle/>
          <a:p>
            <a:pPr lvl="0"/>
            <a:r>
              <a:rPr lang="en-US" dirty="0"/>
              <a:t>Uses desired-state model for host lifecycle operations</a:t>
            </a:r>
          </a:p>
          <a:p>
            <a:r>
              <a:rPr lang="en-US" dirty="0"/>
              <a:t>Monitors compliance drift and remediates</a:t>
            </a:r>
          </a:p>
          <a:p>
            <a:pPr lvl="0"/>
            <a:r>
              <a:rPr lang="en-US" dirty="0"/>
              <a:t>Built to manage hosts at cluster level</a:t>
            </a:r>
          </a:p>
          <a:p>
            <a:pPr lvl="1"/>
            <a:r>
              <a:rPr lang="en-US" dirty="0"/>
              <a:t>Hypervisor</a:t>
            </a:r>
          </a:p>
          <a:p>
            <a:pPr lvl="1"/>
            <a:r>
              <a:rPr lang="en-US" dirty="0"/>
              <a:t>Drivers</a:t>
            </a:r>
          </a:p>
          <a:p>
            <a:pPr lvl="1"/>
            <a:r>
              <a:rPr lang="en-US" dirty="0"/>
              <a:t>Firmware</a:t>
            </a:r>
          </a:p>
        </p:txBody>
      </p:sp>
      <p:sp>
        <p:nvSpPr>
          <p:cNvPr id="7011" name="Google Shape;7011;p99">
            <a:extLst>
              <a:ext uri="{FF2B5EF4-FFF2-40B4-BE49-F238E27FC236}">
                <a16:creationId xmlns:a16="http://schemas.microsoft.com/office/drawing/2014/main" id="{D2F20C2E-2E02-70D1-9FEB-ACEDA5755D19}"/>
              </a:ext>
            </a:extLst>
          </p:cNvPr>
          <p:cNvSpPr/>
          <p:nvPr/>
        </p:nvSpPr>
        <p:spPr>
          <a:xfrm>
            <a:off x="6881041" y="1601155"/>
            <a:ext cx="4418483" cy="4569618"/>
          </a:xfrm>
          <a:prstGeom prst="rect">
            <a:avLst/>
          </a:prstGeom>
          <a:solidFill>
            <a:srgbClr val="F4F8FA"/>
          </a:solidFill>
          <a:ln>
            <a:noFill/>
          </a:ln>
        </p:spPr>
        <p:txBody>
          <a:bodyPr spcFirstLastPara="1" wrap="square" lIns="91351" tIns="45663" rIns="91351" bIns="45663" anchor="ctr" anchorCtr="0">
            <a:noAutofit/>
          </a:bodyPr>
          <a:lstStyle/>
          <a:p>
            <a:pPr algn="ctr" defTabSz="914126">
              <a:buClr>
                <a:srgbClr val="000000"/>
              </a:buClr>
              <a:defRPr/>
            </a:pPr>
            <a:endParaRPr sz="1200" kern="0" dirty="0">
              <a:solidFill>
                <a:srgbClr val="FFFFFF"/>
              </a:solidFill>
              <a:latin typeface="Arial" panose="020B0604020202020204" pitchFamily="34" charset="0"/>
              <a:cs typeface="Arial"/>
              <a:sym typeface="Arial"/>
            </a:endParaRPr>
          </a:p>
        </p:txBody>
      </p:sp>
      <p:grpSp>
        <p:nvGrpSpPr>
          <p:cNvPr id="7012" name="Google Shape;7012;p99" descr="vmware.com">
            <a:extLst>
              <a:ext uri="{FF2B5EF4-FFF2-40B4-BE49-F238E27FC236}">
                <a16:creationId xmlns:a16="http://schemas.microsoft.com/office/drawing/2014/main" id="{ABE021E9-701D-4AF7-E59B-183CAB7D44C4}"/>
              </a:ext>
            </a:extLst>
          </p:cNvPr>
          <p:cNvGrpSpPr/>
          <p:nvPr/>
        </p:nvGrpSpPr>
        <p:grpSpPr>
          <a:xfrm>
            <a:off x="5589900" y="1814706"/>
            <a:ext cx="1124535" cy="1189584"/>
            <a:chOff x="6144259" y="1813864"/>
            <a:chExt cx="1125121" cy="1190204"/>
          </a:xfrm>
        </p:grpSpPr>
        <p:grpSp>
          <p:nvGrpSpPr>
            <p:cNvPr id="7013" name="Google Shape;7013;p99">
              <a:extLst>
                <a:ext uri="{FF2B5EF4-FFF2-40B4-BE49-F238E27FC236}">
                  <a16:creationId xmlns:a16="http://schemas.microsoft.com/office/drawing/2014/main" id="{580E43E2-EDFF-6E62-A343-9E4FCEDE19F5}"/>
                </a:ext>
              </a:extLst>
            </p:cNvPr>
            <p:cNvGrpSpPr/>
            <p:nvPr/>
          </p:nvGrpSpPr>
          <p:grpSpPr>
            <a:xfrm>
              <a:off x="6450272" y="1813864"/>
              <a:ext cx="531427" cy="531427"/>
              <a:chOff x="958223" y="1638250"/>
              <a:chExt cx="1334753" cy="1334753"/>
            </a:xfrm>
          </p:grpSpPr>
          <p:sp>
            <p:nvSpPr>
              <p:cNvPr id="7014" name="Google Shape;7014;p99">
                <a:extLst>
                  <a:ext uri="{FF2B5EF4-FFF2-40B4-BE49-F238E27FC236}">
                    <a16:creationId xmlns:a16="http://schemas.microsoft.com/office/drawing/2014/main" id="{E16405D2-E6E0-9A69-9625-BB2E30DE976F}"/>
                  </a:ext>
                </a:extLst>
              </p:cNvPr>
              <p:cNvSpPr/>
              <p:nvPr/>
            </p:nvSpPr>
            <p:spPr>
              <a:xfrm>
                <a:off x="958223" y="1638250"/>
                <a:ext cx="1334753" cy="1334753"/>
              </a:xfrm>
              <a:prstGeom prst="ellipse">
                <a:avLst/>
              </a:prstGeom>
              <a:solidFill>
                <a:schemeClr val="lt1"/>
              </a:solidFill>
              <a:ln w="19050" cap="flat" cmpd="sng">
                <a:solidFill>
                  <a:schemeClr val="accent2"/>
                </a:solidFill>
                <a:prstDash val="solid"/>
                <a:round/>
                <a:headEnd type="none" w="sm" len="sm"/>
                <a:tailEnd type="none" w="sm" len="sm"/>
              </a:ln>
            </p:spPr>
            <p:txBody>
              <a:bodyPr spcFirstLastPara="1" wrap="square" lIns="91401" tIns="45688" rIns="91401" bIns="45688" anchor="ctr" anchorCtr="0">
                <a:noAutofit/>
              </a:bodyPr>
              <a:lstStyle/>
              <a:p>
                <a:pPr algn="ctr" defTabSz="914126">
                  <a:buClr>
                    <a:srgbClr val="000000"/>
                  </a:buClr>
                  <a:defRPr/>
                </a:pPr>
                <a:endParaRPr sz="1000" kern="0" dirty="0">
                  <a:solidFill>
                    <a:srgbClr val="FFFFFF"/>
                  </a:solidFill>
                  <a:latin typeface="Arial" panose="020B0604020202020204" pitchFamily="34" charset="0"/>
                  <a:cs typeface="Arial"/>
                  <a:sym typeface="Arial"/>
                </a:endParaRPr>
              </a:p>
            </p:txBody>
          </p:sp>
          <p:sp>
            <p:nvSpPr>
              <p:cNvPr id="7015" name="Google Shape;7015;p99">
                <a:extLst>
                  <a:ext uri="{FF2B5EF4-FFF2-40B4-BE49-F238E27FC236}">
                    <a16:creationId xmlns:a16="http://schemas.microsoft.com/office/drawing/2014/main" id="{FC2D4938-DDC6-E044-E738-32D5199A1B29}"/>
                  </a:ext>
                </a:extLst>
              </p:cNvPr>
              <p:cNvSpPr/>
              <p:nvPr/>
            </p:nvSpPr>
            <p:spPr>
              <a:xfrm>
                <a:off x="1180438" y="1913763"/>
                <a:ext cx="805047" cy="789818"/>
              </a:xfrm>
              <a:custGeom>
                <a:avLst/>
                <a:gdLst/>
                <a:ahLst/>
                <a:cxnLst/>
                <a:rect l="l" t="t" r="r" b="b"/>
                <a:pathLst>
                  <a:path w="386" h="379" extrusionOk="0">
                    <a:moveTo>
                      <a:pt x="85" y="110"/>
                    </a:moveTo>
                    <a:cubicBezTo>
                      <a:pt x="84" y="118"/>
                      <a:pt x="84" y="118"/>
                      <a:pt x="84" y="118"/>
                    </a:cubicBezTo>
                    <a:cubicBezTo>
                      <a:pt x="75" y="116"/>
                      <a:pt x="75" y="116"/>
                      <a:pt x="75" y="116"/>
                    </a:cubicBezTo>
                    <a:cubicBezTo>
                      <a:pt x="72" y="115"/>
                      <a:pt x="68" y="114"/>
                      <a:pt x="64" y="114"/>
                    </a:cubicBezTo>
                    <a:cubicBezTo>
                      <a:pt x="38" y="114"/>
                      <a:pt x="18" y="133"/>
                      <a:pt x="17" y="158"/>
                    </a:cubicBezTo>
                    <a:cubicBezTo>
                      <a:pt x="16" y="183"/>
                      <a:pt x="37" y="204"/>
                      <a:pt x="62" y="204"/>
                    </a:cubicBezTo>
                    <a:cubicBezTo>
                      <a:pt x="68" y="204"/>
                      <a:pt x="74" y="203"/>
                      <a:pt x="80" y="201"/>
                    </a:cubicBezTo>
                    <a:cubicBezTo>
                      <a:pt x="80" y="206"/>
                      <a:pt x="81" y="212"/>
                      <a:pt x="82" y="217"/>
                    </a:cubicBezTo>
                    <a:cubicBezTo>
                      <a:pt x="76" y="219"/>
                      <a:pt x="69" y="220"/>
                      <a:pt x="61" y="220"/>
                    </a:cubicBezTo>
                    <a:cubicBezTo>
                      <a:pt x="27" y="219"/>
                      <a:pt x="0" y="191"/>
                      <a:pt x="1" y="158"/>
                    </a:cubicBezTo>
                    <a:cubicBezTo>
                      <a:pt x="2" y="124"/>
                      <a:pt x="30" y="97"/>
                      <a:pt x="64" y="98"/>
                    </a:cubicBezTo>
                    <a:cubicBezTo>
                      <a:pt x="67" y="98"/>
                      <a:pt x="69" y="98"/>
                      <a:pt x="72" y="99"/>
                    </a:cubicBezTo>
                    <a:cubicBezTo>
                      <a:pt x="82" y="67"/>
                      <a:pt x="112" y="46"/>
                      <a:pt x="146" y="47"/>
                    </a:cubicBezTo>
                    <a:cubicBezTo>
                      <a:pt x="154" y="47"/>
                      <a:pt x="161" y="49"/>
                      <a:pt x="169" y="51"/>
                    </a:cubicBezTo>
                    <a:cubicBezTo>
                      <a:pt x="184" y="19"/>
                      <a:pt x="215" y="0"/>
                      <a:pt x="249" y="1"/>
                    </a:cubicBezTo>
                    <a:cubicBezTo>
                      <a:pt x="291" y="2"/>
                      <a:pt x="326" y="35"/>
                      <a:pt x="333" y="79"/>
                    </a:cubicBezTo>
                    <a:cubicBezTo>
                      <a:pt x="364" y="85"/>
                      <a:pt x="386" y="116"/>
                      <a:pt x="385" y="152"/>
                    </a:cubicBezTo>
                    <a:cubicBezTo>
                      <a:pt x="384" y="172"/>
                      <a:pt x="376" y="192"/>
                      <a:pt x="362" y="205"/>
                    </a:cubicBezTo>
                    <a:cubicBezTo>
                      <a:pt x="350" y="216"/>
                      <a:pt x="335" y="222"/>
                      <a:pt x="319" y="222"/>
                    </a:cubicBezTo>
                    <a:cubicBezTo>
                      <a:pt x="314" y="222"/>
                      <a:pt x="308" y="221"/>
                      <a:pt x="303" y="219"/>
                    </a:cubicBezTo>
                    <a:cubicBezTo>
                      <a:pt x="304" y="214"/>
                      <a:pt x="305" y="209"/>
                      <a:pt x="306" y="203"/>
                    </a:cubicBezTo>
                    <a:cubicBezTo>
                      <a:pt x="310" y="205"/>
                      <a:pt x="315" y="206"/>
                      <a:pt x="320" y="206"/>
                    </a:cubicBezTo>
                    <a:cubicBezTo>
                      <a:pt x="331" y="206"/>
                      <a:pt x="342" y="202"/>
                      <a:pt x="351" y="193"/>
                    </a:cubicBezTo>
                    <a:cubicBezTo>
                      <a:pt x="362" y="183"/>
                      <a:pt x="369" y="168"/>
                      <a:pt x="369" y="151"/>
                    </a:cubicBezTo>
                    <a:cubicBezTo>
                      <a:pt x="370" y="121"/>
                      <a:pt x="350" y="96"/>
                      <a:pt x="325" y="94"/>
                    </a:cubicBezTo>
                    <a:cubicBezTo>
                      <a:pt x="319" y="93"/>
                      <a:pt x="319" y="93"/>
                      <a:pt x="319" y="93"/>
                    </a:cubicBezTo>
                    <a:cubicBezTo>
                      <a:pt x="318" y="87"/>
                      <a:pt x="318" y="87"/>
                      <a:pt x="318" y="87"/>
                    </a:cubicBezTo>
                    <a:cubicBezTo>
                      <a:pt x="314" y="48"/>
                      <a:pt x="284" y="18"/>
                      <a:pt x="248" y="17"/>
                    </a:cubicBezTo>
                    <a:cubicBezTo>
                      <a:pt x="248" y="17"/>
                      <a:pt x="247" y="17"/>
                      <a:pt x="246" y="17"/>
                    </a:cubicBezTo>
                    <a:cubicBezTo>
                      <a:pt x="218" y="17"/>
                      <a:pt x="192" y="35"/>
                      <a:pt x="180" y="64"/>
                    </a:cubicBezTo>
                    <a:cubicBezTo>
                      <a:pt x="177" y="72"/>
                      <a:pt x="177" y="72"/>
                      <a:pt x="177" y="72"/>
                    </a:cubicBezTo>
                    <a:cubicBezTo>
                      <a:pt x="169" y="69"/>
                      <a:pt x="169" y="69"/>
                      <a:pt x="169" y="69"/>
                    </a:cubicBezTo>
                    <a:cubicBezTo>
                      <a:pt x="162" y="65"/>
                      <a:pt x="154" y="63"/>
                      <a:pt x="145" y="63"/>
                    </a:cubicBezTo>
                    <a:cubicBezTo>
                      <a:pt x="117" y="62"/>
                      <a:pt x="91" y="82"/>
                      <a:pt x="85" y="110"/>
                    </a:cubicBezTo>
                    <a:close/>
                    <a:moveTo>
                      <a:pt x="296" y="256"/>
                    </a:moveTo>
                    <a:cubicBezTo>
                      <a:pt x="379" y="339"/>
                      <a:pt x="379" y="339"/>
                      <a:pt x="379" y="339"/>
                    </a:cubicBezTo>
                    <a:cubicBezTo>
                      <a:pt x="339" y="379"/>
                      <a:pt x="339" y="379"/>
                      <a:pt x="339" y="379"/>
                    </a:cubicBezTo>
                    <a:cubicBezTo>
                      <a:pt x="256" y="296"/>
                      <a:pt x="256" y="296"/>
                      <a:pt x="256" y="296"/>
                    </a:cubicBezTo>
                    <a:cubicBezTo>
                      <a:pt x="270" y="281"/>
                      <a:pt x="270" y="281"/>
                      <a:pt x="270" y="281"/>
                    </a:cubicBezTo>
                    <a:cubicBezTo>
                      <a:pt x="255" y="266"/>
                      <a:pt x="255" y="266"/>
                      <a:pt x="255" y="266"/>
                    </a:cubicBezTo>
                    <a:cubicBezTo>
                      <a:pt x="238" y="281"/>
                      <a:pt x="216" y="288"/>
                      <a:pt x="194" y="288"/>
                    </a:cubicBezTo>
                    <a:cubicBezTo>
                      <a:pt x="169" y="288"/>
                      <a:pt x="144" y="279"/>
                      <a:pt x="124" y="260"/>
                    </a:cubicBezTo>
                    <a:cubicBezTo>
                      <a:pt x="86" y="222"/>
                      <a:pt x="86" y="160"/>
                      <a:pt x="123" y="123"/>
                    </a:cubicBezTo>
                    <a:cubicBezTo>
                      <a:pt x="142" y="104"/>
                      <a:pt x="166" y="94"/>
                      <a:pt x="192" y="94"/>
                    </a:cubicBezTo>
                    <a:cubicBezTo>
                      <a:pt x="218" y="95"/>
                      <a:pt x="242" y="105"/>
                      <a:pt x="261" y="123"/>
                    </a:cubicBezTo>
                    <a:cubicBezTo>
                      <a:pt x="297" y="159"/>
                      <a:pt x="299" y="217"/>
                      <a:pt x="267" y="255"/>
                    </a:cubicBezTo>
                    <a:cubicBezTo>
                      <a:pt x="282" y="270"/>
                      <a:pt x="282" y="270"/>
                      <a:pt x="282" y="270"/>
                    </a:cubicBezTo>
                    <a:lnTo>
                      <a:pt x="296" y="256"/>
                    </a:lnTo>
                    <a:close/>
                    <a:moveTo>
                      <a:pt x="250" y="249"/>
                    </a:moveTo>
                    <a:cubicBezTo>
                      <a:pt x="281" y="218"/>
                      <a:pt x="281" y="166"/>
                      <a:pt x="249" y="134"/>
                    </a:cubicBezTo>
                    <a:cubicBezTo>
                      <a:pt x="234" y="119"/>
                      <a:pt x="214" y="111"/>
                      <a:pt x="192" y="110"/>
                    </a:cubicBezTo>
                    <a:cubicBezTo>
                      <a:pt x="192" y="110"/>
                      <a:pt x="192" y="110"/>
                      <a:pt x="192" y="110"/>
                    </a:cubicBezTo>
                    <a:cubicBezTo>
                      <a:pt x="170" y="110"/>
                      <a:pt x="150" y="119"/>
                      <a:pt x="135" y="134"/>
                    </a:cubicBezTo>
                    <a:cubicBezTo>
                      <a:pt x="104" y="165"/>
                      <a:pt x="104" y="217"/>
                      <a:pt x="136" y="248"/>
                    </a:cubicBezTo>
                    <a:cubicBezTo>
                      <a:pt x="167" y="279"/>
                      <a:pt x="219" y="280"/>
                      <a:pt x="250" y="249"/>
                    </a:cubicBezTo>
                    <a:close/>
                    <a:moveTo>
                      <a:pt x="356" y="339"/>
                    </a:moveTo>
                    <a:cubicBezTo>
                      <a:pt x="296" y="279"/>
                      <a:pt x="296" y="279"/>
                      <a:pt x="296" y="279"/>
                    </a:cubicBezTo>
                    <a:cubicBezTo>
                      <a:pt x="279" y="296"/>
                      <a:pt x="279" y="296"/>
                      <a:pt x="279" y="296"/>
                    </a:cubicBezTo>
                    <a:cubicBezTo>
                      <a:pt x="339" y="356"/>
                      <a:pt x="339" y="356"/>
                      <a:pt x="339" y="356"/>
                    </a:cubicBezTo>
                    <a:lnTo>
                      <a:pt x="356" y="339"/>
                    </a:lnTo>
                    <a:close/>
                  </a:path>
                </a:pathLst>
              </a:custGeom>
              <a:solidFill>
                <a:schemeClr val="accent2"/>
              </a:solidFill>
              <a:ln>
                <a:noFill/>
              </a:ln>
            </p:spPr>
            <p:txBody>
              <a:bodyPr spcFirstLastPara="1" wrap="square" lIns="91376" tIns="45688" rIns="91376" bIns="45688" anchor="t" anchorCtr="0">
                <a:noAutofit/>
              </a:bodyPr>
              <a:lstStyle/>
              <a:p>
                <a:pPr defTabSz="914126">
                  <a:buClr>
                    <a:srgbClr val="000000"/>
                  </a:buClr>
                  <a:defRPr/>
                </a:pPr>
                <a:endParaRPr sz="1798" kern="0" dirty="0">
                  <a:solidFill>
                    <a:srgbClr val="717074"/>
                  </a:solidFill>
                  <a:latin typeface="Arial" panose="020B0604020202020204" pitchFamily="34" charset="0"/>
                  <a:cs typeface="Arial"/>
                  <a:sym typeface="Arial"/>
                </a:endParaRPr>
              </a:p>
            </p:txBody>
          </p:sp>
        </p:grpSp>
        <p:sp>
          <p:nvSpPr>
            <p:cNvPr id="7016" name="Google Shape;7016;p99">
              <a:extLst>
                <a:ext uri="{FF2B5EF4-FFF2-40B4-BE49-F238E27FC236}">
                  <a16:creationId xmlns:a16="http://schemas.microsoft.com/office/drawing/2014/main" id="{7489059E-B58E-C340-F713-46387F7AA2CD}"/>
                </a:ext>
              </a:extLst>
            </p:cNvPr>
            <p:cNvSpPr txBox="1"/>
            <p:nvPr/>
          </p:nvSpPr>
          <p:spPr>
            <a:xfrm>
              <a:off x="6144259" y="2407741"/>
              <a:ext cx="1125121" cy="166242"/>
            </a:xfrm>
            <a:prstGeom prst="rect">
              <a:avLst/>
            </a:prstGeom>
            <a:noFill/>
            <a:ln>
              <a:noFill/>
            </a:ln>
          </p:spPr>
          <p:txBody>
            <a:bodyPr spcFirstLastPara="1" wrap="square" lIns="0" tIns="0" rIns="0" bIns="0" anchor="t" anchorCtr="0">
              <a:spAutoFit/>
            </a:bodyPr>
            <a:lstStyle/>
            <a:p>
              <a:pPr algn="ctr" defTabSz="914126">
                <a:lnSpc>
                  <a:spcPct val="90000"/>
                </a:lnSpc>
                <a:buClr>
                  <a:srgbClr val="000000"/>
                </a:buClr>
                <a:defRPr/>
              </a:pPr>
              <a:r>
                <a:rPr lang="en-US" sz="1200" kern="0" dirty="0" err="1">
                  <a:solidFill>
                    <a:srgbClr val="3F3F3F"/>
                  </a:solidFill>
                  <a:latin typeface="Arial" panose="020B0604020202020204" pitchFamily="34" charset="0"/>
                  <a:cs typeface="Arial"/>
                  <a:sym typeface="Arial"/>
                </a:rPr>
                <a:t>Broadcom.com</a:t>
              </a:r>
              <a:endParaRPr sz="1200" kern="0" dirty="0">
                <a:solidFill>
                  <a:srgbClr val="3F3F3F"/>
                </a:solidFill>
                <a:latin typeface="Arial" panose="020B0604020202020204" pitchFamily="34" charset="0"/>
                <a:cs typeface="Arial"/>
                <a:sym typeface="Arial"/>
              </a:endParaRPr>
            </a:p>
          </p:txBody>
        </p:sp>
        <p:grpSp>
          <p:nvGrpSpPr>
            <p:cNvPr id="7017" name="Google Shape;7017;p99">
              <a:extLst>
                <a:ext uri="{FF2B5EF4-FFF2-40B4-BE49-F238E27FC236}">
                  <a16:creationId xmlns:a16="http://schemas.microsoft.com/office/drawing/2014/main" id="{09021599-86FE-2BE3-B566-FC3C4548FBFD}"/>
                </a:ext>
              </a:extLst>
            </p:cNvPr>
            <p:cNvGrpSpPr/>
            <p:nvPr/>
          </p:nvGrpSpPr>
          <p:grpSpPr>
            <a:xfrm>
              <a:off x="6632639" y="2594495"/>
              <a:ext cx="166694" cy="409573"/>
              <a:chOff x="7795296" y="2519363"/>
              <a:chExt cx="166694" cy="409573"/>
            </a:xfrm>
          </p:grpSpPr>
          <p:cxnSp>
            <p:nvCxnSpPr>
              <p:cNvPr id="7018" name="Google Shape;7018;p99">
                <a:extLst>
                  <a:ext uri="{FF2B5EF4-FFF2-40B4-BE49-F238E27FC236}">
                    <a16:creationId xmlns:a16="http://schemas.microsoft.com/office/drawing/2014/main" id="{9A76A093-A8A4-6534-0545-6A7C7A9FB677}"/>
                  </a:ext>
                </a:extLst>
              </p:cNvPr>
              <p:cNvCxnSpPr/>
              <p:nvPr/>
            </p:nvCxnSpPr>
            <p:spPr>
              <a:xfrm>
                <a:off x="7961990" y="2519363"/>
                <a:ext cx="0" cy="409573"/>
              </a:xfrm>
              <a:prstGeom prst="straightConnector1">
                <a:avLst/>
              </a:prstGeom>
              <a:noFill/>
              <a:ln w="25400" cap="flat" cmpd="sng">
                <a:solidFill>
                  <a:schemeClr val="accent2"/>
                </a:solidFill>
                <a:prstDash val="solid"/>
                <a:miter lim="800000"/>
                <a:headEnd type="none" w="sm" len="sm"/>
                <a:tailEnd type="triangle" w="med" len="med"/>
              </a:ln>
            </p:spPr>
          </p:cxnSp>
          <p:cxnSp>
            <p:nvCxnSpPr>
              <p:cNvPr id="7019" name="Google Shape;7019;p99">
                <a:extLst>
                  <a:ext uri="{FF2B5EF4-FFF2-40B4-BE49-F238E27FC236}">
                    <a16:creationId xmlns:a16="http://schemas.microsoft.com/office/drawing/2014/main" id="{9FDB64EC-1C60-9180-F99B-91D762716E16}"/>
                  </a:ext>
                </a:extLst>
              </p:cNvPr>
              <p:cNvCxnSpPr/>
              <p:nvPr/>
            </p:nvCxnSpPr>
            <p:spPr>
              <a:xfrm rot="10800000">
                <a:off x="7795296" y="2519363"/>
                <a:ext cx="0" cy="409573"/>
              </a:xfrm>
              <a:prstGeom prst="straightConnector1">
                <a:avLst/>
              </a:prstGeom>
              <a:noFill/>
              <a:ln w="25400" cap="flat" cmpd="sng">
                <a:solidFill>
                  <a:schemeClr val="accent2"/>
                </a:solidFill>
                <a:prstDash val="solid"/>
                <a:miter lim="800000"/>
                <a:headEnd type="none" w="sm" len="sm"/>
                <a:tailEnd type="triangle" w="med" len="med"/>
              </a:ln>
            </p:spPr>
          </p:cxnSp>
        </p:grpSp>
      </p:grpSp>
      <p:grpSp>
        <p:nvGrpSpPr>
          <p:cNvPr id="7020" name="Google Shape;7020;p99" descr="vendor">
            <a:extLst>
              <a:ext uri="{FF2B5EF4-FFF2-40B4-BE49-F238E27FC236}">
                <a16:creationId xmlns:a16="http://schemas.microsoft.com/office/drawing/2014/main" id="{947E1B84-3EE0-84D5-2C5B-3188851AA9EA}"/>
              </a:ext>
            </a:extLst>
          </p:cNvPr>
          <p:cNvGrpSpPr/>
          <p:nvPr/>
        </p:nvGrpSpPr>
        <p:grpSpPr>
          <a:xfrm>
            <a:off x="7096308" y="1802335"/>
            <a:ext cx="703966" cy="1201956"/>
            <a:chOff x="7651449" y="1801486"/>
            <a:chExt cx="704332" cy="1202582"/>
          </a:xfrm>
        </p:grpSpPr>
        <p:sp>
          <p:nvSpPr>
            <p:cNvPr id="7021" name="Google Shape;7021;p99">
              <a:extLst>
                <a:ext uri="{FF2B5EF4-FFF2-40B4-BE49-F238E27FC236}">
                  <a16:creationId xmlns:a16="http://schemas.microsoft.com/office/drawing/2014/main" id="{09683AD1-96D8-2A81-8ABB-559DFACD5BF8}"/>
                </a:ext>
              </a:extLst>
            </p:cNvPr>
            <p:cNvSpPr txBox="1"/>
            <p:nvPr/>
          </p:nvSpPr>
          <p:spPr>
            <a:xfrm>
              <a:off x="7651449" y="2407741"/>
              <a:ext cx="704332" cy="166199"/>
            </a:xfrm>
            <a:prstGeom prst="rect">
              <a:avLst/>
            </a:prstGeom>
            <a:noFill/>
            <a:ln>
              <a:noFill/>
            </a:ln>
          </p:spPr>
          <p:txBody>
            <a:bodyPr spcFirstLastPara="1" wrap="square" lIns="0" tIns="0" rIns="0" bIns="0" anchor="t" anchorCtr="0">
              <a:spAutoFit/>
            </a:bodyPr>
            <a:lstStyle/>
            <a:p>
              <a:pPr algn="ctr" defTabSz="914126">
                <a:lnSpc>
                  <a:spcPct val="90000"/>
                </a:lnSpc>
                <a:buClr>
                  <a:srgbClr val="000000"/>
                </a:buClr>
                <a:defRPr/>
              </a:pPr>
              <a:r>
                <a:rPr lang="en-US" sz="1200" kern="0" dirty="0">
                  <a:solidFill>
                    <a:srgbClr val="3F3F3F"/>
                  </a:solidFill>
                  <a:latin typeface="Arial" panose="020B0604020202020204" pitchFamily="34" charset="0"/>
                  <a:cs typeface="Arial"/>
                  <a:sym typeface="Arial"/>
                </a:rPr>
                <a:t>Vendor</a:t>
              </a:r>
              <a:endParaRPr sz="1400" kern="0" dirty="0">
                <a:solidFill>
                  <a:srgbClr val="000000"/>
                </a:solidFill>
                <a:latin typeface="Arial" panose="020B0604020202020204" pitchFamily="34" charset="0"/>
                <a:cs typeface="Arial"/>
                <a:sym typeface="Arial"/>
              </a:endParaRPr>
            </a:p>
          </p:txBody>
        </p:sp>
        <p:grpSp>
          <p:nvGrpSpPr>
            <p:cNvPr id="7022" name="Google Shape;7022;p99">
              <a:extLst>
                <a:ext uri="{FF2B5EF4-FFF2-40B4-BE49-F238E27FC236}">
                  <a16:creationId xmlns:a16="http://schemas.microsoft.com/office/drawing/2014/main" id="{2770EC9D-A0CE-D271-608F-2BCC2C6F2F30}"/>
                </a:ext>
              </a:extLst>
            </p:cNvPr>
            <p:cNvGrpSpPr/>
            <p:nvPr/>
          </p:nvGrpSpPr>
          <p:grpSpPr>
            <a:xfrm>
              <a:off x="7737902" y="1801486"/>
              <a:ext cx="531427" cy="531427"/>
              <a:chOff x="958223" y="1638250"/>
              <a:chExt cx="1334753" cy="1334753"/>
            </a:xfrm>
          </p:grpSpPr>
          <p:sp>
            <p:nvSpPr>
              <p:cNvPr id="7023" name="Google Shape;7023;p99">
                <a:extLst>
                  <a:ext uri="{FF2B5EF4-FFF2-40B4-BE49-F238E27FC236}">
                    <a16:creationId xmlns:a16="http://schemas.microsoft.com/office/drawing/2014/main" id="{CA918B06-4CDC-7032-CAD0-488AB0B742D3}"/>
                  </a:ext>
                </a:extLst>
              </p:cNvPr>
              <p:cNvSpPr/>
              <p:nvPr/>
            </p:nvSpPr>
            <p:spPr>
              <a:xfrm>
                <a:off x="958223" y="1638250"/>
                <a:ext cx="1334753" cy="1334753"/>
              </a:xfrm>
              <a:prstGeom prst="ellipse">
                <a:avLst/>
              </a:prstGeom>
              <a:solidFill>
                <a:schemeClr val="lt1"/>
              </a:solidFill>
              <a:ln w="19050" cap="flat" cmpd="sng">
                <a:solidFill>
                  <a:schemeClr val="accent2"/>
                </a:solidFill>
                <a:prstDash val="solid"/>
                <a:round/>
                <a:headEnd type="none" w="sm" len="sm"/>
                <a:tailEnd type="none" w="sm" len="sm"/>
              </a:ln>
            </p:spPr>
            <p:txBody>
              <a:bodyPr spcFirstLastPara="1" wrap="square" lIns="91401" tIns="45688" rIns="91401" bIns="45688" anchor="ctr" anchorCtr="0">
                <a:noAutofit/>
              </a:bodyPr>
              <a:lstStyle/>
              <a:p>
                <a:pPr algn="ctr" defTabSz="914126">
                  <a:buClr>
                    <a:srgbClr val="000000"/>
                  </a:buClr>
                  <a:defRPr/>
                </a:pPr>
                <a:endParaRPr sz="1000" kern="0" dirty="0">
                  <a:solidFill>
                    <a:srgbClr val="FFFFFF"/>
                  </a:solidFill>
                  <a:latin typeface="Arial" panose="020B0604020202020204" pitchFamily="34" charset="0"/>
                  <a:cs typeface="Arial"/>
                  <a:sym typeface="Arial"/>
                </a:endParaRPr>
              </a:p>
            </p:txBody>
          </p:sp>
          <p:sp>
            <p:nvSpPr>
              <p:cNvPr id="7024" name="Google Shape;7024;p99">
                <a:extLst>
                  <a:ext uri="{FF2B5EF4-FFF2-40B4-BE49-F238E27FC236}">
                    <a16:creationId xmlns:a16="http://schemas.microsoft.com/office/drawing/2014/main" id="{2C8E65EF-81C2-E4D2-E2A5-2228645CA022}"/>
                  </a:ext>
                </a:extLst>
              </p:cNvPr>
              <p:cNvSpPr/>
              <p:nvPr/>
            </p:nvSpPr>
            <p:spPr>
              <a:xfrm>
                <a:off x="1180438" y="1913763"/>
                <a:ext cx="805047" cy="789818"/>
              </a:xfrm>
              <a:custGeom>
                <a:avLst/>
                <a:gdLst/>
                <a:ahLst/>
                <a:cxnLst/>
                <a:rect l="l" t="t" r="r" b="b"/>
                <a:pathLst>
                  <a:path w="386" h="379" extrusionOk="0">
                    <a:moveTo>
                      <a:pt x="85" y="110"/>
                    </a:moveTo>
                    <a:cubicBezTo>
                      <a:pt x="84" y="118"/>
                      <a:pt x="84" y="118"/>
                      <a:pt x="84" y="118"/>
                    </a:cubicBezTo>
                    <a:cubicBezTo>
                      <a:pt x="75" y="116"/>
                      <a:pt x="75" y="116"/>
                      <a:pt x="75" y="116"/>
                    </a:cubicBezTo>
                    <a:cubicBezTo>
                      <a:pt x="72" y="115"/>
                      <a:pt x="68" y="114"/>
                      <a:pt x="64" y="114"/>
                    </a:cubicBezTo>
                    <a:cubicBezTo>
                      <a:pt x="38" y="114"/>
                      <a:pt x="18" y="133"/>
                      <a:pt x="17" y="158"/>
                    </a:cubicBezTo>
                    <a:cubicBezTo>
                      <a:pt x="16" y="183"/>
                      <a:pt x="37" y="204"/>
                      <a:pt x="62" y="204"/>
                    </a:cubicBezTo>
                    <a:cubicBezTo>
                      <a:pt x="68" y="204"/>
                      <a:pt x="74" y="203"/>
                      <a:pt x="80" y="201"/>
                    </a:cubicBezTo>
                    <a:cubicBezTo>
                      <a:pt x="80" y="206"/>
                      <a:pt x="81" y="212"/>
                      <a:pt x="82" y="217"/>
                    </a:cubicBezTo>
                    <a:cubicBezTo>
                      <a:pt x="76" y="219"/>
                      <a:pt x="69" y="220"/>
                      <a:pt x="61" y="220"/>
                    </a:cubicBezTo>
                    <a:cubicBezTo>
                      <a:pt x="27" y="219"/>
                      <a:pt x="0" y="191"/>
                      <a:pt x="1" y="158"/>
                    </a:cubicBezTo>
                    <a:cubicBezTo>
                      <a:pt x="2" y="124"/>
                      <a:pt x="30" y="97"/>
                      <a:pt x="64" y="98"/>
                    </a:cubicBezTo>
                    <a:cubicBezTo>
                      <a:pt x="67" y="98"/>
                      <a:pt x="69" y="98"/>
                      <a:pt x="72" y="99"/>
                    </a:cubicBezTo>
                    <a:cubicBezTo>
                      <a:pt x="82" y="67"/>
                      <a:pt x="112" y="46"/>
                      <a:pt x="146" y="47"/>
                    </a:cubicBezTo>
                    <a:cubicBezTo>
                      <a:pt x="154" y="47"/>
                      <a:pt x="161" y="49"/>
                      <a:pt x="169" y="51"/>
                    </a:cubicBezTo>
                    <a:cubicBezTo>
                      <a:pt x="184" y="19"/>
                      <a:pt x="215" y="0"/>
                      <a:pt x="249" y="1"/>
                    </a:cubicBezTo>
                    <a:cubicBezTo>
                      <a:pt x="291" y="2"/>
                      <a:pt x="326" y="35"/>
                      <a:pt x="333" y="79"/>
                    </a:cubicBezTo>
                    <a:cubicBezTo>
                      <a:pt x="364" y="85"/>
                      <a:pt x="386" y="116"/>
                      <a:pt x="385" y="152"/>
                    </a:cubicBezTo>
                    <a:cubicBezTo>
                      <a:pt x="384" y="172"/>
                      <a:pt x="376" y="192"/>
                      <a:pt x="362" y="205"/>
                    </a:cubicBezTo>
                    <a:cubicBezTo>
                      <a:pt x="350" y="216"/>
                      <a:pt x="335" y="222"/>
                      <a:pt x="319" y="222"/>
                    </a:cubicBezTo>
                    <a:cubicBezTo>
                      <a:pt x="314" y="222"/>
                      <a:pt x="308" y="221"/>
                      <a:pt x="303" y="219"/>
                    </a:cubicBezTo>
                    <a:cubicBezTo>
                      <a:pt x="304" y="214"/>
                      <a:pt x="305" y="209"/>
                      <a:pt x="306" y="203"/>
                    </a:cubicBezTo>
                    <a:cubicBezTo>
                      <a:pt x="310" y="205"/>
                      <a:pt x="315" y="206"/>
                      <a:pt x="320" y="206"/>
                    </a:cubicBezTo>
                    <a:cubicBezTo>
                      <a:pt x="331" y="206"/>
                      <a:pt x="342" y="202"/>
                      <a:pt x="351" y="193"/>
                    </a:cubicBezTo>
                    <a:cubicBezTo>
                      <a:pt x="362" y="183"/>
                      <a:pt x="369" y="168"/>
                      <a:pt x="369" y="151"/>
                    </a:cubicBezTo>
                    <a:cubicBezTo>
                      <a:pt x="370" y="121"/>
                      <a:pt x="350" y="96"/>
                      <a:pt x="325" y="94"/>
                    </a:cubicBezTo>
                    <a:cubicBezTo>
                      <a:pt x="319" y="93"/>
                      <a:pt x="319" y="93"/>
                      <a:pt x="319" y="93"/>
                    </a:cubicBezTo>
                    <a:cubicBezTo>
                      <a:pt x="318" y="87"/>
                      <a:pt x="318" y="87"/>
                      <a:pt x="318" y="87"/>
                    </a:cubicBezTo>
                    <a:cubicBezTo>
                      <a:pt x="314" y="48"/>
                      <a:pt x="284" y="18"/>
                      <a:pt x="248" y="17"/>
                    </a:cubicBezTo>
                    <a:cubicBezTo>
                      <a:pt x="248" y="17"/>
                      <a:pt x="247" y="17"/>
                      <a:pt x="246" y="17"/>
                    </a:cubicBezTo>
                    <a:cubicBezTo>
                      <a:pt x="218" y="17"/>
                      <a:pt x="192" y="35"/>
                      <a:pt x="180" y="64"/>
                    </a:cubicBezTo>
                    <a:cubicBezTo>
                      <a:pt x="177" y="72"/>
                      <a:pt x="177" y="72"/>
                      <a:pt x="177" y="72"/>
                    </a:cubicBezTo>
                    <a:cubicBezTo>
                      <a:pt x="169" y="69"/>
                      <a:pt x="169" y="69"/>
                      <a:pt x="169" y="69"/>
                    </a:cubicBezTo>
                    <a:cubicBezTo>
                      <a:pt x="162" y="65"/>
                      <a:pt x="154" y="63"/>
                      <a:pt x="145" y="63"/>
                    </a:cubicBezTo>
                    <a:cubicBezTo>
                      <a:pt x="117" y="62"/>
                      <a:pt x="91" y="82"/>
                      <a:pt x="85" y="110"/>
                    </a:cubicBezTo>
                    <a:close/>
                    <a:moveTo>
                      <a:pt x="296" y="256"/>
                    </a:moveTo>
                    <a:cubicBezTo>
                      <a:pt x="379" y="339"/>
                      <a:pt x="379" y="339"/>
                      <a:pt x="379" y="339"/>
                    </a:cubicBezTo>
                    <a:cubicBezTo>
                      <a:pt x="339" y="379"/>
                      <a:pt x="339" y="379"/>
                      <a:pt x="339" y="379"/>
                    </a:cubicBezTo>
                    <a:cubicBezTo>
                      <a:pt x="256" y="296"/>
                      <a:pt x="256" y="296"/>
                      <a:pt x="256" y="296"/>
                    </a:cubicBezTo>
                    <a:cubicBezTo>
                      <a:pt x="270" y="281"/>
                      <a:pt x="270" y="281"/>
                      <a:pt x="270" y="281"/>
                    </a:cubicBezTo>
                    <a:cubicBezTo>
                      <a:pt x="255" y="266"/>
                      <a:pt x="255" y="266"/>
                      <a:pt x="255" y="266"/>
                    </a:cubicBezTo>
                    <a:cubicBezTo>
                      <a:pt x="238" y="281"/>
                      <a:pt x="216" y="288"/>
                      <a:pt x="194" y="288"/>
                    </a:cubicBezTo>
                    <a:cubicBezTo>
                      <a:pt x="169" y="288"/>
                      <a:pt x="144" y="279"/>
                      <a:pt x="124" y="260"/>
                    </a:cubicBezTo>
                    <a:cubicBezTo>
                      <a:pt x="86" y="222"/>
                      <a:pt x="86" y="160"/>
                      <a:pt x="123" y="123"/>
                    </a:cubicBezTo>
                    <a:cubicBezTo>
                      <a:pt x="142" y="104"/>
                      <a:pt x="166" y="94"/>
                      <a:pt x="192" y="94"/>
                    </a:cubicBezTo>
                    <a:cubicBezTo>
                      <a:pt x="218" y="95"/>
                      <a:pt x="242" y="105"/>
                      <a:pt x="261" y="123"/>
                    </a:cubicBezTo>
                    <a:cubicBezTo>
                      <a:pt x="297" y="159"/>
                      <a:pt x="299" y="217"/>
                      <a:pt x="267" y="255"/>
                    </a:cubicBezTo>
                    <a:cubicBezTo>
                      <a:pt x="282" y="270"/>
                      <a:pt x="282" y="270"/>
                      <a:pt x="282" y="270"/>
                    </a:cubicBezTo>
                    <a:lnTo>
                      <a:pt x="296" y="256"/>
                    </a:lnTo>
                    <a:close/>
                    <a:moveTo>
                      <a:pt x="250" y="249"/>
                    </a:moveTo>
                    <a:cubicBezTo>
                      <a:pt x="281" y="218"/>
                      <a:pt x="281" y="166"/>
                      <a:pt x="249" y="134"/>
                    </a:cubicBezTo>
                    <a:cubicBezTo>
                      <a:pt x="234" y="119"/>
                      <a:pt x="214" y="111"/>
                      <a:pt x="192" y="110"/>
                    </a:cubicBezTo>
                    <a:cubicBezTo>
                      <a:pt x="192" y="110"/>
                      <a:pt x="192" y="110"/>
                      <a:pt x="192" y="110"/>
                    </a:cubicBezTo>
                    <a:cubicBezTo>
                      <a:pt x="170" y="110"/>
                      <a:pt x="150" y="119"/>
                      <a:pt x="135" y="134"/>
                    </a:cubicBezTo>
                    <a:cubicBezTo>
                      <a:pt x="104" y="165"/>
                      <a:pt x="104" y="217"/>
                      <a:pt x="136" y="248"/>
                    </a:cubicBezTo>
                    <a:cubicBezTo>
                      <a:pt x="167" y="279"/>
                      <a:pt x="219" y="280"/>
                      <a:pt x="250" y="249"/>
                    </a:cubicBezTo>
                    <a:close/>
                    <a:moveTo>
                      <a:pt x="356" y="339"/>
                    </a:moveTo>
                    <a:cubicBezTo>
                      <a:pt x="296" y="279"/>
                      <a:pt x="296" y="279"/>
                      <a:pt x="296" y="279"/>
                    </a:cubicBezTo>
                    <a:cubicBezTo>
                      <a:pt x="279" y="296"/>
                      <a:pt x="279" y="296"/>
                      <a:pt x="279" y="296"/>
                    </a:cubicBezTo>
                    <a:cubicBezTo>
                      <a:pt x="339" y="356"/>
                      <a:pt x="339" y="356"/>
                      <a:pt x="339" y="356"/>
                    </a:cubicBezTo>
                    <a:lnTo>
                      <a:pt x="356" y="339"/>
                    </a:lnTo>
                    <a:close/>
                  </a:path>
                </a:pathLst>
              </a:custGeom>
              <a:solidFill>
                <a:schemeClr val="accent2"/>
              </a:solidFill>
              <a:ln>
                <a:noFill/>
              </a:ln>
            </p:spPr>
            <p:txBody>
              <a:bodyPr spcFirstLastPara="1" wrap="square" lIns="91376" tIns="45688" rIns="91376" bIns="45688" anchor="t" anchorCtr="0">
                <a:noAutofit/>
              </a:bodyPr>
              <a:lstStyle/>
              <a:p>
                <a:pPr defTabSz="914126">
                  <a:buClr>
                    <a:srgbClr val="000000"/>
                  </a:buClr>
                  <a:defRPr/>
                </a:pPr>
                <a:endParaRPr sz="1798" kern="0" dirty="0">
                  <a:solidFill>
                    <a:srgbClr val="717074"/>
                  </a:solidFill>
                  <a:latin typeface="Arial" panose="020B0604020202020204" pitchFamily="34" charset="0"/>
                  <a:cs typeface="Arial"/>
                  <a:sym typeface="Arial"/>
                </a:endParaRPr>
              </a:p>
            </p:txBody>
          </p:sp>
        </p:grpSp>
        <p:grpSp>
          <p:nvGrpSpPr>
            <p:cNvPr id="7025" name="Google Shape;7025;p99">
              <a:extLst>
                <a:ext uri="{FF2B5EF4-FFF2-40B4-BE49-F238E27FC236}">
                  <a16:creationId xmlns:a16="http://schemas.microsoft.com/office/drawing/2014/main" id="{41AED2BA-DE00-7696-4200-B18B6821302C}"/>
                </a:ext>
              </a:extLst>
            </p:cNvPr>
            <p:cNvGrpSpPr/>
            <p:nvPr/>
          </p:nvGrpSpPr>
          <p:grpSpPr>
            <a:xfrm>
              <a:off x="7920269" y="2594495"/>
              <a:ext cx="166694" cy="409573"/>
              <a:chOff x="7795296" y="2519363"/>
              <a:chExt cx="166694" cy="409573"/>
            </a:xfrm>
          </p:grpSpPr>
          <p:cxnSp>
            <p:nvCxnSpPr>
              <p:cNvPr id="7026" name="Google Shape;7026;p99">
                <a:extLst>
                  <a:ext uri="{FF2B5EF4-FFF2-40B4-BE49-F238E27FC236}">
                    <a16:creationId xmlns:a16="http://schemas.microsoft.com/office/drawing/2014/main" id="{4CD1A2F0-4846-14F7-2236-9B75F0EAC15C}"/>
                  </a:ext>
                </a:extLst>
              </p:cNvPr>
              <p:cNvCxnSpPr/>
              <p:nvPr/>
            </p:nvCxnSpPr>
            <p:spPr>
              <a:xfrm>
                <a:off x="7961990" y="2519363"/>
                <a:ext cx="0" cy="409573"/>
              </a:xfrm>
              <a:prstGeom prst="straightConnector1">
                <a:avLst/>
              </a:prstGeom>
              <a:noFill/>
              <a:ln w="25400" cap="flat" cmpd="sng">
                <a:solidFill>
                  <a:schemeClr val="accent2"/>
                </a:solidFill>
                <a:prstDash val="solid"/>
                <a:miter lim="800000"/>
                <a:headEnd type="none" w="sm" len="sm"/>
                <a:tailEnd type="triangle" w="med" len="med"/>
              </a:ln>
            </p:spPr>
          </p:cxnSp>
          <p:cxnSp>
            <p:nvCxnSpPr>
              <p:cNvPr id="7027" name="Google Shape;7027;p99">
                <a:extLst>
                  <a:ext uri="{FF2B5EF4-FFF2-40B4-BE49-F238E27FC236}">
                    <a16:creationId xmlns:a16="http://schemas.microsoft.com/office/drawing/2014/main" id="{FCE21F89-2669-F427-BC45-FD8964E43888}"/>
                  </a:ext>
                </a:extLst>
              </p:cNvPr>
              <p:cNvCxnSpPr/>
              <p:nvPr/>
            </p:nvCxnSpPr>
            <p:spPr>
              <a:xfrm rot="10800000">
                <a:off x="7795296" y="2519363"/>
                <a:ext cx="0" cy="409573"/>
              </a:xfrm>
              <a:prstGeom prst="straightConnector1">
                <a:avLst/>
              </a:prstGeom>
              <a:noFill/>
              <a:ln w="25400" cap="flat" cmpd="sng">
                <a:solidFill>
                  <a:schemeClr val="accent2"/>
                </a:solidFill>
                <a:prstDash val="solid"/>
                <a:miter lim="800000"/>
                <a:headEnd type="none" w="sm" len="sm"/>
                <a:tailEnd type="triangle" w="med" len="med"/>
              </a:ln>
            </p:spPr>
          </p:cxnSp>
        </p:grpSp>
      </p:grpSp>
      <p:grpSp>
        <p:nvGrpSpPr>
          <p:cNvPr id="7028" name="Google Shape;7028;p99" descr="desired state">
            <a:extLst>
              <a:ext uri="{FF2B5EF4-FFF2-40B4-BE49-F238E27FC236}">
                <a16:creationId xmlns:a16="http://schemas.microsoft.com/office/drawing/2014/main" id="{74404067-A254-E26C-F20D-B399847D0EAE}"/>
              </a:ext>
            </a:extLst>
          </p:cNvPr>
          <p:cNvGrpSpPr/>
          <p:nvPr/>
        </p:nvGrpSpPr>
        <p:grpSpPr>
          <a:xfrm>
            <a:off x="8851381" y="1802335"/>
            <a:ext cx="1448846" cy="1201956"/>
            <a:chOff x="9407436" y="1801486"/>
            <a:chExt cx="1449600" cy="1202582"/>
          </a:xfrm>
        </p:grpSpPr>
        <p:sp>
          <p:nvSpPr>
            <p:cNvPr id="7029" name="Google Shape;7029;p99">
              <a:extLst>
                <a:ext uri="{FF2B5EF4-FFF2-40B4-BE49-F238E27FC236}">
                  <a16:creationId xmlns:a16="http://schemas.microsoft.com/office/drawing/2014/main" id="{A840443F-7525-E4E4-702D-DD3B551368B0}"/>
                </a:ext>
              </a:extLst>
            </p:cNvPr>
            <p:cNvSpPr txBox="1"/>
            <p:nvPr/>
          </p:nvSpPr>
          <p:spPr>
            <a:xfrm>
              <a:off x="9407436" y="2399277"/>
              <a:ext cx="1449600" cy="184666"/>
            </a:xfrm>
            <a:prstGeom prst="rect">
              <a:avLst/>
            </a:prstGeom>
            <a:noFill/>
            <a:ln>
              <a:noFill/>
            </a:ln>
          </p:spPr>
          <p:txBody>
            <a:bodyPr spcFirstLastPara="1" wrap="square" lIns="0" tIns="0" rIns="0" bIns="0" anchor="t" anchorCtr="0">
              <a:spAutoFit/>
            </a:bodyPr>
            <a:lstStyle/>
            <a:p>
              <a:pPr algn="ctr" defTabSz="914126">
                <a:buClr>
                  <a:srgbClr val="000000"/>
                </a:buClr>
                <a:defRPr/>
              </a:pPr>
              <a:r>
                <a:rPr lang="en-US" sz="1200" kern="0" dirty="0">
                  <a:solidFill>
                    <a:srgbClr val="3F3F3F"/>
                  </a:solidFill>
                  <a:latin typeface="Arial" panose="020B0604020202020204" pitchFamily="34" charset="0"/>
                  <a:cs typeface="Arial"/>
                  <a:sym typeface="Arial"/>
                </a:rPr>
                <a:t>Desired State</a:t>
              </a:r>
              <a:endParaRPr sz="1200" kern="0" dirty="0">
                <a:solidFill>
                  <a:srgbClr val="3F3F3F"/>
                </a:solidFill>
                <a:latin typeface="Arial" panose="020B0604020202020204" pitchFamily="34" charset="0"/>
                <a:cs typeface="Arial"/>
                <a:sym typeface="Arial"/>
              </a:endParaRPr>
            </a:p>
          </p:txBody>
        </p:sp>
        <p:cxnSp>
          <p:nvCxnSpPr>
            <p:cNvPr id="7030" name="Google Shape;7030;p99">
              <a:extLst>
                <a:ext uri="{FF2B5EF4-FFF2-40B4-BE49-F238E27FC236}">
                  <a16:creationId xmlns:a16="http://schemas.microsoft.com/office/drawing/2014/main" id="{568572D7-90DC-6412-FED7-50CABC6164DA}"/>
                </a:ext>
              </a:extLst>
            </p:cNvPr>
            <p:cNvCxnSpPr/>
            <p:nvPr/>
          </p:nvCxnSpPr>
          <p:spPr>
            <a:xfrm>
              <a:off x="10132236" y="2594495"/>
              <a:ext cx="0" cy="409573"/>
            </a:xfrm>
            <a:prstGeom prst="straightConnector1">
              <a:avLst/>
            </a:prstGeom>
            <a:noFill/>
            <a:ln w="25400" cap="flat" cmpd="sng">
              <a:solidFill>
                <a:schemeClr val="accent1"/>
              </a:solidFill>
              <a:prstDash val="solid"/>
              <a:miter lim="800000"/>
              <a:headEnd type="none" w="sm" len="sm"/>
              <a:tailEnd type="triangle" w="med" len="med"/>
            </a:ln>
          </p:spPr>
        </p:cxnSp>
        <p:grpSp>
          <p:nvGrpSpPr>
            <p:cNvPr id="7031" name="Google Shape;7031;p99">
              <a:extLst>
                <a:ext uri="{FF2B5EF4-FFF2-40B4-BE49-F238E27FC236}">
                  <a16:creationId xmlns:a16="http://schemas.microsoft.com/office/drawing/2014/main" id="{B5A3A88D-6FD5-BD4A-DDC6-00D3D91B3B5F}"/>
                </a:ext>
              </a:extLst>
            </p:cNvPr>
            <p:cNvGrpSpPr/>
            <p:nvPr/>
          </p:nvGrpSpPr>
          <p:grpSpPr>
            <a:xfrm>
              <a:off x="9866522" y="1801486"/>
              <a:ext cx="531427" cy="531427"/>
              <a:chOff x="8088766" y="1726354"/>
              <a:chExt cx="531427" cy="531427"/>
            </a:xfrm>
          </p:grpSpPr>
          <p:sp>
            <p:nvSpPr>
              <p:cNvPr id="7032" name="Google Shape;7032;p99">
                <a:extLst>
                  <a:ext uri="{FF2B5EF4-FFF2-40B4-BE49-F238E27FC236}">
                    <a16:creationId xmlns:a16="http://schemas.microsoft.com/office/drawing/2014/main" id="{180450A8-3347-ABD8-DF8F-6AADD597235A}"/>
                  </a:ext>
                </a:extLst>
              </p:cNvPr>
              <p:cNvSpPr/>
              <p:nvPr/>
            </p:nvSpPr>
            <p:spPr>
              <a:xfrm>
                <a:off x="8088766" y="1726354"/>
                <a:ext cx="531427" cy="531427"/>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01" tIns="45688" rIns="91401" bIns="45688" anchor="ctr" anchorCtr="0">
                <a:noAutofit/>
              </a:bodyPr>
              <a:lstStyle/>
              <a:p>
                <a:pPr algn="ctr" defTabSz="914126">
                  <a:buClr>
                    <a:srgbClr val="000000"/>
                  </a:buClr>
                  <a:defRPr/>
                </a:pPr>
                <a:endParaRPr sz="1000" kern="0" dirty="0">
                  <a:solidFill>
                    <a:srgbClr val="FFFFFF"/>
                  </a:solidFill>
                  <a:latin typeface="Arial" panose="020B0604020202020204" pitchFamily="34" charset="0"/>
                  <a:cs typeface="Arial"/>
                  <a:sym typeface="Arial"/>
                </a:endParaRPr>
              </a:p>
            </p:txBody>
          </p:sp>
          <p:pic>
            <p:nvPicPr>
              <p:cNvPr id="7033" name="Google Shape;7033;p99">
                <a:extLst>
                  <a:ext uri="{FF2B5EF4-FFF2-40B4-BE49-F238E27FC236}">
                    <a16:creationId xmlns:a16="http://schemas.microsoft.com/office/drawing/2014/main" id="{2A0E685D-F12F-84E8-97A3-E87A95856373}"/>
                  </a:ext>
                </a:extLst>
              </p:cNvPr>
              <p:cNvPicPr preferRelativeResize="0"/>
              <p:nvPr/>
            </p:nvPicPr>
            <p:blipFill rotWithShape="1">
              <a:blip r:embed="rId3">
                <a:alphaModFix/>
              </a:blip>
              <a:srcRect/>
              <a:stretch/>
            </p:blipFill>
            <p:spPr>
              <a:xfrm>
                <a:off x="8219043" y="1836751"/>
                <a:ext cx="310634" cy="310634"/>
              </a:xfrm>
              <a:prstGeom prst="rect">
                <a:avLst/>
              </a:prstGeom>
              <a:noFill/>
              <a:ln>
                <a:noFill/>
              </a:ln>
            </p:spPr>
          </p:pic>
        </p:grpSp>
      </p:grpSp>
      <p:grpSp>
        <p:nvGrpSpPr>
          <p:cNvPr id="7034" name="Google Shape;7034;p99" descr="vSphere Lifecycle Manager (vLCM)&#10;&#10;1. Base image&#10; ESXi/vSAN&#10;&#10;2. Vendor Addon&#10;drivers&#10;&#10;3. Firmware and Drivers Addon&#10;BIOS&#10;I/O controllers&#10;Storage devices&#10;NICs&#10;BMC&#10;&#10;Vendor plugins&#10;4. Desired image&#10;hewlett packard enterprise logo&#10;dell logo&#10;lenovo logo&#10;">
            <a:extLst>
              <a:ext uri="{FF2B5EF4-FFF2-40B4-BE49-F238E27FC236}">
                <a16:creationId xmlns:a16="http://schemas.microsoft.com/office/drawing/2014/main" id="{1ED1651D-DE3E-2283-95DA-4252CB411A75}"/>
              </a:ext>
            </a:extLst>
          </p:cNvPr>
          <p:cNvGrpSpPr/>
          <p:nvPr/>
        </p:nvGrpSpPr>
        <p:grpSpPr>
          <a:xfrm>
            <a:off x="4470582" y="3089918"/>
            <a:ext cx="5825161" cy="1768886"/>
            <a:chOff x="5024355" y="3089740"/>
            <a:chExt cx="5828196" cy="1769808"/>
          </a:xfrm>
        </p:grpSpPr>
        <p:sp>
          <p:nvSpPr>
            <p:cNvPr id="7035" name="Google Shape;7035;p99">
              <a:extLst>
                <a:ext uri="{FF2B5EF4-FFF2-40B4-BE49-F238E27FC236}">
                  <a16:creationId xmlns:a16="http://schemas.microsoft.com/office/drawing/2014/main" id="{A169A54C-E0F0-C697-E70D-D0C0354ECA95}"/>
                </a:ext>
              </a:extLst>
            </p:cNvPr>
            <p:cNvSpPr/>
            <p:nvPr/>
          </p:nvSpPr>
          <p:spPr>
            <a:xfrm>
              <a:off x="5024355" y="3089740"/>
              <a:ext cx="5828196" cy="1769808"/>
            </a:xfrm>
            <a:prstGeom prst="roundRect">
              <a:avLst>
                <a:gd name="adj" fmla="val 0"/>
              </a:avLst>
            </a:prstGeom>
            <a:noFill/>
            <a:ln w="19050" cap="flat" cmpd="sng">
              <a:solidFill>
                <a:schemeClr val="accent2"/>
              </a:solidFill>
              <a:prstDash val="solid"/>
              <a:miter lim="800000"/>
              <a:headEnd type="none" w="sm" len="sm"/>
              <a:tailEnd type="none" w="sm" len="sm"/>
            </a:ln>
          </p:spPr>
          <p:txBody>
            <a:bodyPr spcFirstLastPara="1" wrap="square" lIns="91376" tIns="45688" rIns="91376" bIns="45688" anchor="ctr" anchorCtr="0">
              <a:noAutofit/>
            </a:bodyPr>
            <a:lstStyle/>
            <a:p>
              <a:pPr algn="ctr" defTabSz="914126">
                <a:buClr>
                  <a:srgbClr val="000000"/>
                </a:buClr>
                <a:defRPr/>
              </a:pPr>
              <a:endParaRPr sz="1200" kern="0" dirty="0">
                <a:solidFill>
                  <a:srgbClr val="FFFFFF"/>
                </a:solidFill>
                <a:latin typeface="Arial" panose="020B0604020202020204" pitchFamily="34" charset="0"/>
                <a:cs typeface="Arial"/>
                <a:sym typeface="Arial"/>
              </a:endParaRPr>
            </a:p>
          </p:txBody>
        </p:sp>
        <p:sp>
          <p:nvSpPr>
            <p:cNvPr id="7036" name="Google Shape;7036;p99">
              <a:extLst>
                <a:ext uri="{FF2B5EF4-FFF2-40B4-BE49-F238E27FC236}">
                  <a16:creationId xmlns:a16="http://schemas.microsoft.com/office/drawing/2014/main" id="{01188764-9A1C-D2EE-C32C-EE524868293A}"/>
                </a:ext>
              </a:extLst>
            </p:cNvPr>
            <p:cNvSpPr/>
            <p:nvPr/>
          </p:nvSpPr>
          <p:spPr>
            <a:xfrm>
              <a:off x="5115271" y="3605327"/>
              <a:ext cx="4365679" cy="1161156"/>
            </a:xfrm>
            <a:prstGeom prst="rect">
              <a:avLst/>
            </a:prstGeom>
            <a:solidFill>
              <a:schemeClr val="lt1"/>
            </a:solidFill>
            <a:ln w="19050" cap="flat" cmpd="sng">
              <a:solidFill>
                <a:schemeClr val="accent2"/>
              </a:solidFill>
              <a:prstDash val="solid"/>
              <a:miter lim="800000"/>
              <a:headEnd type="none" w="sm" len="sm"/>
              <a:tailEnd type="none" w="sm" len="sm"/>
            </a:ln>
          </p:spPr>
          <p:txBody>
            <a:bodyPr spcFirstLastPara="1" wrap="square" lIns="91376" tIns="45688" rIns="91376" bIns="45688" anchor="ctr" anchorCtr="0">
              <a:noAutofit/>
            </a:bodyPr>
            <a:lstStyle/>
            <a:p>
              <a:pPr algn="ctr" defTabSz="914126">
                <a:buClr>
                  <a:srgbClr val="000000"/>
                </a:buClr>
                <a:defRPr/>
              </a:pPr>
              <a:endParaRPr sz="1200" kern="0" dirty="0">
                <a:solidFill>
                  <a:srgbClr val="FFFFFF"/>
                </a:solidFill>
                <a:latin typeface="Arial" panose="020B0604020202020204" pitchFamily="34" charset="0"/>
                <a:cs typeface="Arial"/>
                <a:sym typeface="Arial"/>
              </a:endParaRPr>
            </a:p>
          </p:txBody>
        </p:sp>
        <p:sp>
          <p:nvSpPr>
            <p:cNvPr id="7037" name="Google Shape;7037;p99">
              <a:extLst>
                <a:ext uri="{FF2B5EF4-FFF2-40B4-BE49-F238E27FC236}">
                  <a16:creationId xmlns:a16="http://schemas.microsoft.com/office/drawing/2014/main" id="{2C76DF3B-0AD8-1DD4-242E-F95A4F318446}"/>
                </a:ext>
              </a:extLst>
            </p:cNvPr>
            <p:cNvSpPr/>
            <p:nvPr/>
          </p:nvSpPr>
          <p:spPr>
            <a:xfrm>
              <a:off x="5094715" y="3684837"/>
              <a:ext cx="915636" cy="446276"/>
            </a:xfrm>
            <a:prstGeom prst="rect">
              <a:avLst/>
            </a:prstGeom>
            <a:noFill/>
            <a:ln>
              <a:noFill/>
            </a:ln>
          </p:spPr>
          <p:txBody>
            <a:bodyPr spcFirstLastPara="1" wrap="square" lIns="91401" tIns="91376" rIns="91401" bIns="45688" anchor="t" anchorCtr="0">
              <a:spAutoFit/>
            </a:bodyPr>
            <a:lstStyle/>
            <a:p>
              <a:pPr algn="ctr" defTabSz="914126">
                <a:buClr>
                  <a:srgbClr val="000000"/>
                </a:buClr>
                <a:defRPr/>
              </a:pPr>
              <a:r>
                <a:rPr lang="en-US" sz="1000" kern="0" dirty="0">
                  <a:solidFill>
                    <a:srgbClr val="1B1E35"/>
                  </a:solidFill>
                  <a:latin typeface="Arial" panose="020B0604020202020204" pitchFamily="34" charset="0"/>
                  <a:cs typeface="Arial"/>
                  <a:sym typeface="Arial"/>
                </a:rPr>
                <a:t>Base Image</a:t>
              </a:r>
              <a:endParaRPr sz="1400" kern="0" dirty="0">
                <a:solidFill>
                  <a:srgbClr val="000000"/>
                </a:solidFill>
                <a:latin typeface="Arial" panose="020B0604020202020204" pitchFamily="34" charset="0"/>
                <a:cs typeface="Arial"/>
                <a:sym typeface="Arial"/>
              </a:endParaRPr>
            </a:p>
            <a:p>
              <a:pPr algn="ctr" defTabSz="914126">
                <a:buClr>
                  <a:srgbClr val="000000"/>
                </a:buClr>
                <a:defRPr/>
              </a:pPr>
              <a:r>
                <a:rPr lang="en-US" sz="1000" kern="0" dirty="0">
                  <a:solidFill>
                    <a:srgbClr val="3F3F3F"/>
                  </a:solidFill>
                  <a:latin typeface="Arial" panose="020B0604020202020204" pitchFamily="34" charset="0"/>
                  <a:cs typeface="Arial"/>
                  <a:sym typeface="Arial"/>
                </a:rPr>
                <a:t>ESX/vSAN</a:t>
              </a:r>
              <a:endParaRPr sz="1000" kern="0" dirty="0">
                <a:solidFill>
                  <a:srgbClr val="3F3F3F"/>
                </a:solidFill>
                <a:latin typeface="Arial" panose="020B0604020202020204" pitchFamily="34" charset="0"/>
                <a:cs typeface="Arial"/>
                <a:sym typeface="Arial"/>
              </a:endParaRPr>
            </a:p>
          </p:txBody>
        </p:sp>
        <p:sp>
          <p:nvSpPr>
            <p:cNvPr id="7038" name="Google Shape;7038;p99">
              <a:extLst>
                <a:ext uri="{FF2B5EF4-FFF2-40B4-BE49-F238E27FC236}">
                  <a16:creationId xmlns:a16="http://schemas.microsoft.com/office/drawing/2014/main" id="{A8D45C42-300B-C088-5D93-4DB7EF8EB365}"/>
                </a:ext>
              </a:extLst>
            </p:cNvPr>
            <p:cNvSpPr/>
            <p:nvPr/>
          </p:nvSpPr>
          <p:spPr>
            <a:xfrm>
              <a:off x="6217014" y="3684837"/>
              <a:ext cx="1165705" cy="446276"/>
            </a:xfrm>
            <a:prstGeom prst="rect">
              <a:avLst/>
            </a:prstGeom>
            <a:noFill/>
            <a:ln>
              <a:noFill/>
            </a:ln>
          </p:spPr>
          <p:txBody>
            <a:bodyPr spcFirstLastPara="1" wrap="square" lIns="91401" tIns="91376" rIns="91401" bIns="45688" anchor="t" anchorCtr="0">
              <a:spAutoFit/>
            </a:bodyPr>
            <a:lstStyle/>
            <a:p>
              <a:pPr algn="ctr" defTabSz="914126">
                <a:buClr>
                  <a:srgbClr val="000000"/>
                </a:buClr>
                <a:defRPr/>
              </a:pPr>
              <a:r>
                <a:rPr lang="en-US" sz="1000" kern="0" dirty="0">
                  <a:solidFill>
                    <a:srgbClr val="1B1E35"/>
                  </a:solidFill>
                  <a:latin typeface="Arial" panose="020B0604020202020204" pitchFamily="34" charset="0"/>
                  <a:cs typeface="Arial"/>
                  <a:sym typeface="Arial"/>
                </a:rPr>
                <a:t>Vendor Add-on</a:t>
              </a:r>
              <a:endParaRPr sz="1400" kern="0" dirty="0">
                <a:solidFill>
                  <a:srgbClr val="000000"/>
                </a:solidFill>
                <a:latin typeface="Arial" panose="020B0604020202020204" pitchFamily="34" charset="0"/>
                <a:cs typeface="Arial"/>
                <a:sym typeface="Arial"/>
              </a:endParaRPr>
            </a:p>
            <a:p>
              <a:pPr algn="ctr" defTabSz="914126">
                <a:buClr>
                  <a:srgbClr val="000000"/>
                </a:buClr>
                <a:defRPr/>
              </a:pPr>
              <a:r>
                <a:rPr lang="en-US" sz="1000" kern="0" dirty="0">
                  <a:solidFill>
                    <a:srgbClr val="3F3F3F"/>
                  </a:solidFill>
                  <a:latin typeface="Arial" panose="020B0604020202020204" pitchFamily="34" charset="0"/>
                  <a:cs typeface="Arial"/>
                  <a:sym typeface="Arial"/>
                </a:rPr>
                <a:t>Drivers</a:t>
              </a:r>
              <a:endParaRPr sz="1400" kern="0" dirty="0">
                <a:solidFill>
                  <a:srgbClr val="000000"/>
                </a:solidFill>
                <a:latin typeface="Arial" panose="020B0604020202020204" pitchFamily="34" charset="0"/>
                <a:cs typeface="Arial"/>
                <a:sym typeface="Arial"/>
              </a:endParaRPr>
            </a:p>
          </p:txBody>
        </p:sp>
        <p:sp>
          <p:nvSpPr>
            <p:cNvPr id="7039" name="Google Shape;7039;p99">
              <a:extLst>
                <a:ext uri="{FF2B5EF4-FFF2-40B4-BE49-F238E27FC236}">
                  <a16:creationId xmlns:a16="http://schemas.microsoft.com/office/drawing/2014/main" id="{63735C10-C175-FBDE-2023-684FA77C0BCD}"/>
                </a:ext>
              </a:extLst>
            </p:cNvPr>
            <p:cNvSpPr/>
            <p:nvPr/>
          </p:nvSpPr>
          <p:spPr>
            <a:xfrm>
              <a:off x="7455117" y="3684837"/>
              <a:ext cx="2055371" cy="1061829"/>
            </a:xfrm>
            <a:prstGeom prst="rect">
              <a:avLst/>
            </a:prstGeom>
            <a:noFill/>
            <a:ln>
              <a:noFill/>
            </a:ln>
          </p:spPr>
          <p:txBody>
            <a:bodyPr spcFirstLastPara="1" wrap="square" lIns="91401" tIns="91376" rIns="91401" bIns="45688" anchor="t" anchorCtr="0">
              <a:spAutoFit/>
            </a:bodyPr>
            <a:lstStyle/>
            <a:p>
              <a:pPr algn="ctr" defTabSz="914126">
                <a:buClr>
                  <a:srgbClr val="000000"/>
                </a:buClr>
                <a:defRPr/>
              </a:pPr>
              <a:r>
                <a:rPr lang="en-US" sz="1000" kern="0" dirty="0">
                  <a:solidFill>
                    <a:srgbClr val="1B1E35"/>
                  </a:solidFill>
                  <a:latin typeface="Arial" panose="020B0604020202020204" pitchFamily="34" charset="0"/>
                  <a:cs typeface="Arial"/>
                  <a:sym typeface="Arial"/>
                </a:rPr>
                <a:t>Firmware and Drivers Add-on</a:t>
              </a:r>
              <a:endParaRPr sz="1400" kern="0" dirty="0">
                <a:solidFill>
                  <a:srgbClr val="000000"/>
                </a:solidFill>
                <a:latin typeface="Arial" panose="020B0604020202020204" pitchFamily="34" charset="0"/>
                <a:cs typeface="Arial"/>
                <a:sym typeface="Arial"/>
              </a:endParaRPr>
            </a:p>
            <a:p>
              <a:pPr algn="ctr" defTabSz="914126">
                <a:buClr>
                  <a:srgbClr val="000000"/>
                </a:buClr>
                <a:defRPr/>
              </a:pPr>
              <a:r>
                <a:rPr lang="en-US" sz="1000" kern="0" dirty="0">
                  <a:solidFill>
                    <a:srgbClr val="3F3F3F"/>
                  </a:solidFill>
                  <a:latin typeface="Arial" panose="020B0604020202020204" pitchFamily="34" charset="0"/>
                  <a:cs typeface="Arial"/>
                  <a:sym typeface="Arial"/>
                </a:rPr>
                <a:t>BIOS</a:t>
              </a:r>
              <a:br>
                <a:rPr lang="en-US" sz="1000" kern="0" dirty="0">
                  <a:solidFill>
                    <a:srgbClr val="3F3F3F"/>
                  </a:solidFill>
                  <a:latin typeface="Arial" panose="020B0604020202020204" pitchFamily="34" charset="0"/>
                  <a:cs typeface="Arial"/>
                  <a:sym typeface="Arial"/>
                </a:rPr>
              </a:br>
              <a:r>
                <a:rPr lang="en-US" sz="1000" kern="0" dirty="0">
                  <a:solidFill>
                    <a:srgbClr val="3F3F3F"/>
                  </a:solidFill>
                  <a:latin typeface="Arial" panose="020B0604020202020204" pitchFamily="34" charset="0"/>
                  <a:cs typeface="Arial"/>
                  <a:sym typeface="Arial"/>
                </a:rPr>
                <a:t>I/O Controllers</a:t>
              </a:r>
              <a:br>
                <a:rPr lang="en-US" sz="1000" kern="0" dirty="0">
                  <a:solidFill>
                    <a:srgbClr val="3F3F3F"/>
                  </a:solidFill>
                  <a:latin typeface="Arial" panose="020B0604020202020204" pitchFamily="34" charset="0"/>
                  <a:cs typeface="Arial"/>
                  <a:sym typeface="Arial"/>
                </a:rPr>
              </a:br>
              <a:r>
                <a:rPr lang="en-US" sz="1000" kern="0" dirty="0">
                  <a:solidFill>
                    <a:srgbClr val="3F3F3F"/>
                  </a:solidFill>
                  <a:latin typeface="Arial" panose="020B0604020202020204" pitchFamily="34" charset="0"/>
                  <a:cs typeface="Arial"/>
                  <a:sym typeface="Arial"/>
                </a:rPr>
                <a:t>Storage Devices</a:t>
              </a:r>
              <a:endParaRPr sz="1400" kern="0" dirty="0">
                <a:solidFill>
                  <a:srgbClr val="000000"/>
                </a:solidFill>
                <a:latin typeface="Arial" panose="020B0604020202020204" pitchFamily="34" charset="0"/>
                <a:cs typeface="Arial"/>
                <a:sym typeface="Arial"/>
              </a:endParaRPr>
            </a:p>
            <a:p>
              <a:pPr algn="ctr" defTabSz="914126">
                <a:buClr>
                  <a:srgbClr val="000000"/>
                </a:buClr>
                <a:defRPr/>
              </a:pPr>
              <a:r>
                <a:rPr lang="en-US" sz="1000" kern="0" dirty="0">
                  <a:solidFill>
                    <a:srgbClr val="3F3F3F"/>
                  </a:solidFill>
                  <a:latin typeface="Arial" panose="020B0604020202020204" pitchFamily="34" charset="0"/>
                  <a:cs typeface="Arial"/>
                  <a:sym typeface="Arial"/>
                </a:rPr>
                <a:t>NICs</a:t>
              </a:r>
              <a:endParaRPr sz="1400" kern="0" dirty="0">
                <a:solidFill>
                  <a:srgbClr val="000000"/>
                </a:solidFill>
                <a:latin typeface="Arial" panose="020B0604020202020204" pitchFamily="34" charset="0"/>
                <a:cs typeface="Arial"/>
                <a:sym typeface="Arial"/>
              </a:endParaRPr>
            </a:p>
            <a:p>
              <a:pPr algn="ctr" defTabSz="914126">
                <a:buClr>
                  <a:srgbClr val="000000"/>
                </a:buClr>
                <a:defRPr/>
              </a:pPr>
              <a:r>
                <a:rPr lang="en-US" sz="1000" kern="0" dirty="0">
                  <a:solidFill>
                    <a:srgbClr val="3F3F3F"/>
                  </a:solidFill>
                  <a:latin typeface="Arial" panose="020B0604020202020204" pitchFamily="34" charset="0"/>
                  <a:cs typeface="Arial"/>
                  <a:sym typeface="Arial"/>
                </a:rPr>
                <a:t>BMC</a:t>
              </a:r>
              <a:endParaRPr sz="1400" kern="0" dirty="0">
                <a:solidFill>
                  <a:srgbClr val="000000"/>
                </a:solidFill>
                <a:latin typeface="Arial" panose="020B0604020202020204" pitchFamily="34" charset="0"/>
                <a:cs typeface="Arial"/>
                <a:sym typeface="Arial"/>
              </a:endParaRPr>
            </a:p>
          </p:txBody>
        </p:sp>
        <p:cxnSp>
          <p:nvCxnSpPr>
            <p:cNvPr id="7040" name="Google Shape;7040;p99">
              <a:extLst>
                <a:ext uri="{FF2B5EF4-FFF2-40B4-BE49-F238E27FC236}">
                  <a16:creationId xmlns:a16="http://schemas.microsoft.com/office/drawing/2014/main" id="{0E107748-ADBB-F44E-8FFA-BF2FE2D47D5B}"/>
                </a:ext>
              </a:extLst>
            </p:cNvPr>
            <p:cNvCxnSpPr/>
            <p:nvPr/>
          </p:nvCxnSpPr>
          <p:spPr>
            <a:xfrm rot="10800000">
              <a:off x="6130113" y="3754369"/>
              <a:ext cx="0" cy="902261"/>
            </a:xfrm>
            <a:prstGeom prst="straightConnector1">
              <a:avLst/>
            </a:prstGeom>
            <a:noFill/>
            <a:ln w="9525" cap="flat" cmpd="sng">
              <a:solidFill>
                <a:schemeClr val="dk1"/>
              </a:solidFill>
              <a:prstDash val="solid"/>
              <a:miter lim="800000"/>
              <a:headEnd type="none" w="sm" len="sm"/>
              <a:tailEnd type="none" w="sm" len="sm"/>
            </a:ln>
          </p:spPr>
        </p:cxnSp>
        <p:cxnSp>
          <p:nvCxnSpPr>
            <p:cNvPr id="7041" name="Google Shape;7041;p99">
              <a:extLst>
                <a:ext uri="{FF2B5EF4-FFF2-40B4-BE49-F238E27FC236}">
                  <a16:creationId xmlns:a16="http://schemas.microsoft.com/office/drawing/2014/main" id="{0C402A13-63D9-C081-BB81-6CE2248FE48D}"/>
                </a:ext>
              </a:extLst>
            </p:cNvPr>
            <p:cNvCxnSpPr/>
            <p:nvPr/>
          </p:nvCxnSpPr>
          <p:spPr>
            <a:xfrm rot="10800000">
              <a:off x="7469620" y="3754369"/>
              <a:ext cx="0" cy="902261"/>
            </a:xfrm>
            <a:prstGeom prst="straightConnector1">
              <a:avLst/>
            </a:prstGeom>
            <a:noFill/>
            <a:ln w="9525" cap="flat" cmpd="sng">
              <a:solidFill>
                <a:schemeClr val="dk1"/>
              </a:solidFill>
              <a:prstDash val="solid"/>
              <a:miter lim="800000"/>
              <a:headEnd type="none" w="sm" len="sm"/>
              <a:tailEnd type="none" w="sm" len="sm"/>
            </a:ln>
          </p:spPr>
        </p:cxnSp>
        <p:sp>
          <p:nvSpPr>
            <p:cNvPr id="7042" name="Google Shape;7042;p99">
              <a:extLst>
                <a:ext uri="{FF2B5EF4-FFF2-40B4-BE49-F238E27FC236}">
                  <a16:creationId xmlns:a16="http://schemas.microsoft.com/office/drawing/2014/main" id="{738C95A7-7832-7133-947C-0D5EECEC85E2}"/>
                </a:ext>
              </a:extLst>
            </p:cNvPr>
            <p:cNvSpPr/>
            <p:nvPr/>
          </p:nvSpPr>
          <p:spPr>
            <a:xfrm>
              <a:off x="9564337" y="3611226"/>
              <a:ext cx="1135797" cy="1155113"/>
            </a:xfrm>
            <a:prstGeom prst="rect">
              <a:avLst/>
            </a:prstGeom>
            <a:solidFill>
              <a:schemeClr val="lt1"/>
            </a:solidFill>
            <a:ln w="19050" cap="flat" cmpd="sng">
              <a:solidFill>
                <a:schemeClr val="accent2"/>
              </a:solidFill>
              <a:prstDash val="solid"/>
              <a:miter lim="800000"/>
              <a:headEnd type="none" w="sm" len="sm"/>
              <a:tailEnd type="none" w="sm" len="sm"/>
            </a:ln>
          </p:spPr>
          <p:txBody>
            <a:bodyPr spcFirstLastPara="1" wrap="square" lIns="91376" tIns="45688" rIns="91376" bIns="45688" anchor="ctr" anchorCtr="0">
              <a:noAutofit/>
            </a:bodyPr>
            <a:lstStyle/>
            <a:p>
              <a:pPr algn="ctr" defTabSz="914126">
                <a:buClr>
                  <a:srgbClr val="000000"/>
                </a:buClr>
                <a:defRPr/>
              </a:pPr>
              <a:endParaRPr sz="1200" kern="0" dirty="0">
                <a:solidFill>
                  <a:srgbClr val="FFFFFF"/>
                </a:solidFill>
                <a:latin typeface="Arial" panose="020B0604020202020204" pitchFamily="34" charset="0"/>
                <a:cs typeface="Arial"/>
                <a:sym typeface="Arial"/>
              </a:endParaRPr>
            </a:p>
          </p:txBody>
        </p:sp>
        <p:grpSp>
          <p:nvGrpSpPr>
            <p:cNvPr id="7043" name="Google Shape;7043;p99">
              <a:extLst>
                <a:ext uri="{FF2B5EF4-FFF2-40B4-BE49-F238E27FC236}">
                  <a16:creationId xmlns:a16="http://schemas.microsoft.com/office/drawing/2014/main" id="{EA4B6713-30B3-E1AE-C629-8B6688C1FD76}"/>
                </a:ext>
              </a:extLst>
            </p:cNvPr>
            <p:cNvGrpSpPr/>
            <p:nvPr/>
          </p:nvGrpSpPr>
          <p:grpSpPr>
            <a:xfrm>
              <a:off x="5964504" y="3171485"/>
              <a:ext cx="2948001" cy="269442"/>
              <a:chOff x="6052134" y="3019044"/>
              <a:chExt cx="2948001" cy="269442"/>
            </a:xfrm>
          </p:grpSpPr>
          <p:sp>
            <p:nvSpPr>
              <p:cNvPr id="7044" name="Google Shape;7044;p99">
                <a:extLst>
                  <a:ext uri="{FF2B5EF4-FFF2-40B4-BE49-F238E27FC236}">
                    <a16:creationId xmlns:a16="http://schemas.microsoft.com/office/drawing/2014/main" id="{A232A554-9FDA-EE29-947D-F53F373ACCEC}"/>
                  </a:ext>
                </a:extLst>
              </p:cNvPr>
              <p:cNvSpPr txBox="1"/>
              <p:nvPr/>
            </p:nvSpPr>
            <p:spPr>
              <a:xfrm>
                <a:off x="6391532" y="3069127"/>
                <a:ext cx="2608603" cy="184666"/>
              </a:xfrm>
              <a:prstGeom prst="rect">
                <a:avLst/>
              </a:prstGeom>
              <a:noFill/>
              <a:ln>
                <a:noFill/>
              </a:ln>
            </p:spPr>
            <p:txBody>
              <a:bodyPr spcFirstLastPara="1" wrap="square" lIns="0" tIns="0" rIns="0" bIns="0" anchor="t" anchorCtr="0">
                <a:spAutoFit/>
              </a:bodyPr>
              <a:lstStyle/>
              <a:p>
                <a:pPr algn="ctr" defTabSz="914126">
                  <a:buClr>
                    <a:srgbClr val="000000"/>
                  </a:buClr>
                  <a:defRPr/>
                </a:pPr>
                <a:r>
                  <a:rPr lang="en-US" sz="1200" kern="0" dirty="0">
                    <a:solidFill>
                      <a:srgbClr val="1B1E35"/>
                    </a:solidFill>
                    <a:latin typeface="Arial" panose="020B0604020202020204" pitchFamily="34" charset="0"/>
                    <a:cs typeface="Arial"/>
                    <a:sym typeface="Arial"/>
                  </a:rPr>
                  <a:t>vSphere Lifecycle Manager (</a:t>
                </a:r>
                <a:r>
                  <a:rPr lang="en-US" sz="1200" kern="0" dirty="0" err="1">
                    <a:solidFill>
                      <a:srgbClr val="1B1E35"/>
                    </a:solidFill>
                    <a:latin typeface="Arial" panose="020B0604020202020204" pitchFamily="34" charset="0"/>
                    <a:cs typeface="Arial"/>
                    <a:sym typeface="Arial"/>
                  </a:rPr>
                  <a:t>vLCM</a:t>
                </a:r>
                <a:r>
                  <a:rPr lang="en-US" sz="1200" kern="0" dirty="0">
                    <a:solidFill>
                      <a:srgbClr val="1B1E35"/>
                    </a:solidFill>
                    <a:latin typeface="Arial" panose="020B0604020202020204" pitchFamily="34" charset="0"/>
                    <a:cs typeface="Arial"/>
                    <a:sym typeface="Arial"/>
                  </a:rPr>
                  <a:t>)</a:t>
                </a:r>
                <a:endParaRPr sz="1400" kern="0" dirty="0">
                  <a:solidFill>
                    <a:srgbClr val="000000"/>
                  </a:solidFill>
                  <a:latin typeface="Arial" panose="020B0604020202020204" pitchFamily="34" charset="0"/>
                  <a:cs typeface="Arial"/>
                  <a:sym typeface="Arial"/>
                </a:endParaRPr>
              </a:p>
            </p:txBody>
          </p:sp>
          <p:pic>
            <p:nvPicPr>
              <p:cNvPr id="7045" name="Google Shape;7045;p99">
                <a:extLst>
                  <a:ext uri="{FF2B5EF4-FFF2-40B4-BE49-F238E27FC236}">
                    <a16:creationId xmlns:a16="http://schemas.microsoft.com/office/drawing/2014/main" id="{6CF7691A-DAA8-477D-3F97-0A9D6A97B7B3}"/>
                  </a:ext>
                </a:extLst>
              </p:cNvPr>
              <p:cNvPicPr preferRelativeResize="0"/>
              <p:nvPr/>
            </p:nvPicPr>
            <p:blipFill rotWithShape="1">
              <a:blip r:embed="rId4">
                <a:alphaModFix/>
              </a:blip>
              <a:srcRect/>
              <a:stretch/>
            </p:blipFill>
            <p:spPr>
              <a:xfrm>
                <a:off x="6052134" y="3019044"/>
                <a:ext cx="273859" cy="269442"/>
              </a:xfrm>
              <a:prstGeom prst="rect">
                <a:avLst/>
              </a:prstGeom>
              <a:noFill/>
              <a:ln>
                <a:noFill/>
              </a:ln>
            </p:spPr>
          </p:pic>
        </p:grpSp>
        <p:sp>
          <p:nvSpPr>
            <p:cNvPr id="7046" name="Google Shape;7046;p99">
              <a:extLst>
                <a:ext uri="{FF2B5EF4-FFF2-40B4-BE49-F238E27FC236}">
                  <a16:creationId xmlns:a16="http://schemas.microsoft.com/office/drawing/2014/main" id="{E318DB94-3FF5-B4CE-DF51-10D2F52934D9}"/>
                </a:ext>
              </a:extLst>
            </p:cNvPr>
            <p:cNvSpPr/>
            <p:nvPr/>
          </p:nvSpPr>
          <p:spPr>
            <a:xfrm>
              <a:off x="9417361" y="3144343"/>
              <a:ext cx="1429750" cy="323727"/>
            </a:xfrm>
            <a:prstGeom prst="rect">
              <a:avLst/>
            </a:prstGeom>
            <a:noFill/>
            <a:ln>
              <a:noFill/>
            </a:ln>
          </p:spPr>
          <p:txBody>
            <a:bodyPr spcFirstLastPara="1" wrap="square" lIns="91401" tIns="45688" rIns="91401" bIns="45688" anchor="ctr" anchorCtr="0">
              <a:noAutofit/>
            </a:bodyPr>
            <a:lstStyle/>
            <a:p>
              <a:pPr algn="ctr" defTabSz="914126">
                <a:buClr>
                  <a:srgbClr val="000000"/>
                </a:buClr>
                <a:defRPr/>
              </a:pPr>
              <a:r>
                <a:rPr lang="en-US" sz="1200" kern="0" dirty="0">
                  <a:solidFill>
                    <a:srgbClr val="1B1E35"/>
                  </a:solidFill>
                  <a:latin typeface="Arial" panose="020B0604020202020204" pitchFamily="34" charset="0"/>
                  <a:cs typeface="Arial"/>
                  <a:sym typeface="Arial"/>
                </a:rPr>
                <a:t>Vendor Plugins</a:t>
              </a:r>
              <a:endParaRPr sz="1200" kern="0" dirty="0">
                <a:solidFill>
                  <a:srgbClr val="1B1E35"/>
                </a:solidFill>
                <a:latin typeface="Arial" panose="020B0604020202020204" pitchFamily="34" charset="0"/>
                <a:cs typeface="Arial"/>
                <a:sym typeface="Arial"/>
              </a:endParaRPr>
            </a:p>
          </p:txBody>
        </p:sp>
        <p:sp>
          <p:nvSpPr>
            <p:cNvPr id="7047" name="Google Shape;7047;p99">
              <a:extLst>
                <a:ext uri="{FF2B5EF4-FFF2-40B4-BE49-F238E27FC236}">
                  <a16:creationId xmlns:a16="http://schemas.microsoft.com/office/drawing/2014/main" id="{2FFD0EAE-4DE2-DE61-8252-1A959ED15CFB}"/>
                </a:ext>
              </a:extLst>
            </p:cNvPr>
            <p:cNvSpPr txBox="1"/>
            <p:nvPr/>
          </p:nvSpPr>
          <p:spPr>
            <a:xfrm>
              <a:off x="9574813" y="3684837"/>
              <a:ext cx="1114846" cy="292388"/>
            </a:xfrm>
            <a:prstGeom prst="rect">
              <a:avLst/>
            </a:prstGeom>
            <a:noFill/>
            <a:ln>
              <a:noFill/>
            </a:ln>
          </p:spPr>
          <p:txBody>
            <a:bodyPr spcFirstLastPara="1" wrap="square" lIns="91401" tIns="91376" rIns="91401" bIns="45688" anchor="t" anchorCtr="0">
              <a:spAutoFit/>
            </a:bodyPr>
            <a:lstStyle/>
            <a:p>
              <a:pPr algn="ctr" defTabSz="914126">
                <a:buClr>
                  <a:srgbClr val="1B1E35"/>
                </a:buClr>
                <a:buSzPts val="1000"/>
                <a:defRPr/>
              </a:pPr>
              <a:r>
                <a:rPr lang="en-US" sz="1000" kern="0" dirty="0">
                  <a:solidFill>
                    <a:srgbClr val="1B1E35"/>
                  </a:solidFill>
                  <a:latin typeface="Arial" panose="020B0604020202020204" pitchFamily="34" charset="0"/>
                  <a:cs typeface="Arial"/>
                  <a:sym typeface="Arial"/>
                </a:rPr>
                <a:t>Desired Image</a:t>
              </a:r>
              <a:endParaRPr sz="1400" kern="0" dirty="0">
                <a:solidFill>
                  <a:srgbClr val="000000"/>
                </a:solidFill>
                <a:latin typeface="Arial" panose="020B0604020202020204" pitchFamily="34" charset="0"/>
                <a:cs typeface="Arial"/>
                <a:sym typeface="Arial"/>
              </a:endParaRPr>
            </a:p>
          </p:txBody>
        </p:sp>
        <p:sp>
          <p:nvSpPr>
            <p:cNvPr id="7048" name="Google Shape;7048;p99">
              <a:extLst>
                <a:ext uri="{FF2B5EF4-FFF2-40B4-BE49-F238E27FC236}">
                  <a16:creationId xmlns:a16="http://schemas.microsoft.com/office/drawing/2014/main" id="{167CD91A-A838-D960-359D-D91C755F33C0}"/>
                </a:ext>
              </a:extLst>
            </p:cNvPr>
            <p:cNvSpPr/>
            <p:nvPr/>
          </p:nvSpPr>
          <p:spPr>
            <a:xfrm>
              <a:off x="5447833" y="3514725"/>
              <a:ext cx="209398" cy="209398"/>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01" tIns="45688" rIns="91401" bIns="45688" anchor="ctr" anchorCtr="0">
              <a:noAutofit/>
            </a:bodyPr>
            <a:lstStyle/>
            <a:p>
              <a:pPr algn="ctr" defTabSz="914126">
                <a:buClr>
                  <a:srgbClr val="000000"/>
                </a:buClr>
                <a:defRPr/>
              </a:pPr>
              <a:r>
                <a:rPr lang="en-US" sz="1100" kern="0" dirty="0">
                  <a:solidFill>
                    <a:srgbClr val="1B1E35"/>
                  </a:solidFill>
                  <a:latin typeface="Arial" panose="020B0604020202020204" pitchFamily="34" charset="0"/>
                  <a:cs typeface="Arial"/>
                  <a:sym typeface="Arial"/>
                </a:rPr>
                <a:t>1</a:t>
              </a:r>
              <a:endParaRPr sz="1400" kern="0" dirty="0">
                <a:solidFill>
                  <a:srgbClr val="000000"/>
                </a:solidFill>
                <a:latin typeface="Arial" panose="020B0604020202020204" pitchFamily="34" charset="0"/>
                <a:cs typeface="Arial"/>
                <a:sym typeface="Arial"/>
              </a:endParaRPr>
            </a:p>
          </p:txBody>
        </p:sp>
        <p:sp>
          <p:nvSpPr>
            <p:cNvPr id="7049" name="Google Shape;7049;p99">
              <a:extLst>
                <a:ext uri="{FF2B5EF4-FFF2-40B4-BE49-F238E27FC236}">
                  <a16:creationId xmlns:a16="http://schemas.microsoft.com/office/drawing/2014/main" id="{8DAAE917-A7A0-FE32-EB65-8DA138264467}"/>
                </a:ext>
              </a:extLst>
            </p:cNvPr>
            <p:cNvSpPr/>
            <p:nvPr/>
          </p:nvSpPr>
          <p:spPr>
            <a:xfrm>
              <a:off x="6695168" y="3514725"/>
              <a:ext cx="209398" cy="209398"/>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01" tIns="45688" rIns="91401" bIns="45688" anchor="ctr" anchorCtr="0">
              <a:noAutofit/>
            </a:bodyPr>
            <a:lstStyle/>
            <a:p>
              <a:pPr algn="ctr" defTabSz="914126">
                <a:buClr>
                  <a:srgbClr val="000000"/>
                </a:buClr>
                <a:defRPr/>
              </a:pPr>
              <a:r>
                <a:rPr lang="en-US" sz="1100" kern="0" dirty="0">
                  <a:solidFill>
                    <a:srgbClr val="1B1E35"/>
                  </a:solidFill>
                  <a:latin typeface="Arial" panose="020B0604020202020204" pitchFamily="34" charset="0"/>
                  <a:cs typeface="Arial"/>
                  <a:sym typeface="Arial"/>
                </a:rPr>
                <a:t>2</a:t>
              </a:r>
              <a:endParaRPr sz="1400" kern="0" dirty="0">
                <a:solidFill>
                  <a:srgbClr val="000000"/>
                </a:solidFill>
                <a:latin typeface="Arial" panose="020B0604020202020204" pitchFamily="34" charset="0"/>
                <a:cs typeface="Arial"/>
                <a:sym typeface="Arial"/>
              </a:endParaRPr>
            </a:p>
          </p:txBody>
        </p:sp>
        <p:sp>
          <p:nvSpPr>
            <p:cNvPr id="7050" name="Google Shape;7050;p99">
              <a:extLst>
                <a:ext uri="{FF2B5EF4-FFF2-40B4-BE49-F238E27FC236}">
                  <a16:creationId xmlns:a16="http://schemas.microsoft.com/office/drawing/2014/main" id="{468C5FBE-84C8-CDED-EC3D-B00A4EA181EE}"/>
                </a:ext>
              </a:extLst>
            </p:cNvPr>
            <p:cNvSpPr/>
            <p:nvPr/>
          </p:nvSpPr>
          <p:spPr>
            <a:xfrm>
              <a:off x="8378103" y="3514725"/>
              <a:ext cx="209398" cy="209398"/>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01" tIns="45688" rIns="91401" bIns="45688" anchor="ctr" anchorCtr="0">
              <a:noAutofit/>
            </a:bodyPr>
            <a:lstStyle/>
            <a:p>
              <a:pPr algn="ctr" defTabSz="914126">
                <a:buClr>
                  <a:srgbClr val="000000"/>
                </a:buClr>
                <a:defRPr/>
              </a:pPr>
              <a:r>
                <a:rPr lang="en-US" sz="1100" kern="0" dirty="0">
                  <a:solidFill>
                    <a:srgbClr val="1B1E35"/>
                  </a:solidFill>
                  <a:latin typeface="Arial" panose="020B0604020202020204" pitchFamily="34" charset="0"/>
                  <a:cs typeface="Arial"/>
                  <a:sym typeface="Arial"/>
                </a:rPr>
                <a:t>3</a:t>
              </a:r>
              <a:endParaRPr sz="1400" kern="0" dirty="0">
                <a:solidFill>
                  <a:srgbClr val="000000"/>
                </a:solidFill>
                <a:latin typeface="Arial" panose="020B0604020202020204" pitchFamily="34" charset="0"/>
                <a:cs typeface="Arial"/>
                <a:sym typeface="Arial"/>
              </a:endParaRPr>
            </a:p>
          </p:txBody>
        </p:sp>
        <p:sp>
          <p:nvSpPr>
            <p:cNvPr id="7051" name="Google Shape;7051;p99">
              <a:extLst>
                <a:ext uri="{FF2B5EF4-FFF2-40B4-BE49-F238E27FC236}">
                  <a16:creationId xmlns:a16="http://schemas.microsoft.com/office/drawing/2014/main" id="{11F2150A-39C2-C172-AF25-8D7621ED8810}"/>
                </a:ext>
              </a:extLst>
            </p:cNvPr>
            <p:cNvSpPr/>
            <p:nvPr/>
          </p:nvSpPr>
          <p:spPr>
            <a:xfrm>
              <a:off x="10027537" y="3514725"/>
              <a:ext cx="209398" cy="209398"/>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01" tIns="45688" rIns="91401" bIns="45688" anchor="ctr" anchorCtr="0">
              <a:noAutofit/>
            </a:bodyPr>
            <a:lstStyle/>
            <a:p>
              <a:pPr algn="ctr" defTabSz="914126">
                <a:buClr>
                  <a:srgbClr val="000000"/>
                </a:buClr>
                <a:defRPr/>
              </a:pPr>
              <a:r>
                <a:rPr lang="en-US" sz="1100" kern="0" dirty="0">
                  <a:solidFill>
                    <a:srgbClr val="1B1E35"/>
                  </a:solidFill>
                  <a:latin typeface="Arial" panose="020B0604020202020204" pitchFamily="34" charset="0"/>
                  <a:cs typeface="Arial"/>
                  <a:sym typeface="Arial"/>
                </a:rPr>
                <a:t>4</a:t>
              </a:r>
              <a:endParaRPr sz="1400" kern="0" dirty="0">
                <a:solidFill>
                  <a:srgbClr val="000000"/>
                </a:solidFill>
                <a:latin typeface="Arial" panose="020B0604020202020204" pitchFamily="34" charset="0"/>
                <a:cs typeface="Arial"/>
                <a:sym typeface="Arial"/>
              </a:endParaRPr>
            </a:p>
          </p:txBody>
        </p:sp>
        <p:grpSp>
          <p:nvGrpSpPr>
            <p:cNvPr id="7052" name="Google Shape;7052;p99">
              <a:extLst>
                <a:ext uri="{FF2B5EF4-FFF2-40B4-BE49-F238E27FC236}">
                  <a16:creationId xmlns:a16="http://schemas.microsoft.com/office/drawing/2014/main" id="{80FBDBA3-FDE9-44DA-5102-4BF9615AAEB7}"/>
                </a:ext>
              </a:extLst>
            </p:cNvPr>
            <p:cNvGrpSpPr/>
            <p:nvPr/>
          </p:nvGrpSpPr>
          <p:grpSpPr>
            <a:xfrm>
              <a:off x="9658995" y="4132113"/>
              <a:ext cx="920489" cy="256657"/>
              <a:chOff x="9498201" y="3458901"/>
              <a:chExt cx="920489" cy="256657"/>
            </a:xfrm>
          </p:grpSpPr>
          <p:pic>
            <p:nvPicPr>
              <p:cNvPr id="7053" name="Google Shape;7053;p99">
                <a:extLst>
                  <a:ext uri="{FF2B5EF4-FFF2-40B4-BE49-F238E27FC236}">
                    <a16:creationId xmlns:a16="http://schemas.microsoft.com/office/drawing/2014/main" id="{1C63EB21-14CA-3300-4FCA-5F7A3D9DDA80}"/>
                  </a:ext>
                </a:extLst>
              </p:cNvPr>
              <p:cNvPicPr preferRelativeResize="0"/>
              <p:nvPr/>
            </p:nvPicPr>
            <p:blipFill rotWithShape="1">
              <a:blip r:embed="rId5">
                <a:alphaModFix/>
              </a:blip>
              <a:srcRect/>
              <a:stretch/>
            </p:blipFill>
            <p:spPr>
              <a:xfrm>
                <a:off x="9498201" y="3465743"/>
                <a:ext cx="581228" cy="242972"/>
              </a:xfrm>
              <a:prstGeom prst="rect">
                <a:avLst/>
              </a:prstGeom>
              <a:noFill/>
              <a:ln>
                <a:noFill/>
              </a:ln>
            </p:spPr>
          </p:pic>
          <p:sp>
            <p:nvSpPr>
              <p:cNvPr id="7054" name="Google Shape;7054;p99">
                <a:extLst>
                  <a:ext uri="{FF2B5EF4-FFF2-40B4-BE49-F238E27FC236}">
                    <a16:creationId xmlns:a16="http://schemas.microsoft.com/office/drawing/2014/main" id="{ABFAC325-F84B-56B4-851C-761903D426A6}"/>
                  </a:ext>
                </a:extLst>
              </p:cNvPr>
              <p:cNvSpPr/>
              <p:nvPr/>
            </p:nvSpPr>
            <p:spPr>
              <a:xfrm>
                <a:off x="10162032" y="3458901"/>
                <a:ext cx="256658" cy="256657"/>
              </a:xfrm>
              <a:custGeom>
                <a:avLst/>
                <a:gdLst/>
                <a:ahLst/>
                <a:cxnLst/>
                <a:rect l="l" t="t" r="r" b="b"/>
                <a:pathLst>
                  <a:path w="7985835" h="7985825" extrusionOk="0">
                    <a:moveTo>
                      <a:pt x="3712979" y="3001158"/>
                    </a:moveTo>
                    <a:lnTo>
                      <a:pt x="2721223" y="3764272"/>
                    </a:lnTo>
                    <a:cubicBezTo>
                      <a:pt x="2619604" y="3382715"/>
                      <a:pt x="2288856" y="3102776"/>
                      <a:pt x="1881894" y="3102776"/>
                    </a:cubicBezTo>
                    <a:lnTo>
                      <a:pt x="1170077" y="3102776"/>
                    </a:lnTo>
                    <a:lnTo>
                      <a:pt x="1170077" y="4857645"/>
                    </a:lnTo>
                    <a:lnTo>
                      <a:pt x="1881894" y="4857645"/>
                    </a:lnTo>
                    <a:cubicBezTo>
                      <a:pt x="2288856" y="4857645"/>
                      <a:pt x="2645009" y="4577706"/>
                      <a:pt x="2721223" y="4196149"/>
                    </a:cubicBezTo>
                    <a:lnTo>
                      <a:pt x="3712979" y="4959263"/>
                    </a:lnTo>
                    <a:lnTo>
                      <a:pt x="4704735" y="4196149"/>
                    </a:lnTo>
                    <a:lnTo>
                      <a:pt x="4704735" y="4857645"/>
                    </a:lnTo>
                    <a:lnTo>
                      <a:pt x="5823514" y="4857645"/>
                    </a:lnTo>
                    <a:lnTo>
                      <a:pt x="5823514" y="4501493"/>
                    </a:lnTo>
                    <a:lnTo>
                      <a:pt x="5086292" y="4501493"/>
                    </a:lnTo>
                    <a:lnTo>
                      <a:pt x="5086292" y="3102776"/>
                    </a:lnTo>
                    <a:lnTo>
                      <a:pt x="4679330" y="3102776"/>
                    </a:lnTo>
                    <a:lnTo>
                      <a:pt x="4679330" y="3763783"/>
                    </a:lnTo>
                    <a:lnTo>
                      <a:pt x="3738383" y="4526897"/>
                    </a:lnTo>
                    <a:lnTo>
                      <a:pt x="3534658" y="4348577"/>
                    </a:lnTo>
                    <a:lnTo>
                      <a:pt x="3992429" y="3992424"/>
                    </a:lnTo>
                    <a:lnTo>
                      <a:pt x="4475605" y="3610867"/>
                    </a:lnTo>
                    <a:lnTo>
                      <a:pt x="4196155" y="3382226"/>
                    </a:lnTo>
                    <a:lnTo>
                      <a:pt x="3255207" y="4119936"/>
                    </a:lnTo>
                    <a:lnTo>
                      <a:pt x="3051971" y="3942104"/>
                    </a:lnTo>
                    <a:lnTo>
                      <a:pt x="3992918" y="3230288"/>
                    </a:lnTo>
                    <a:lnTo>
                      <a:pt x="3712979" y="3001158"/>
                    </a:lnTo>
                    <a:lnTo>
                      <a:pt x="3712979" y="3001158"/>
                    </a:lnTo>
                    <a:close/>
                    <a:moveTo>
                      <a:pt x="1551634" y="3458440"/>
                    </a:moveTo>
                    <a:lnTo>
                      <a:pt x="1856978" y="3458440"/>
                    </a:lnTo>
                    <a:cubicBezTo>
                      <a:pt x="1920489" y="3458440"/>
                      <a:pt x="1982535" y="3473096"/>
                      <a:pt x="2039696" y="3498990"/>
                    </a:cubicBezTo>
                    <a:cubicBezTo>
                      <a:pt x="2096856" y="3525371"/>
                      <a:pt x="2149131" y="3563478"/>
                      <a:pt x="2193589" y="3610867"/>
                    </a:cubicBezTo>
                    <a:cubicBezTo>
                      <a:pt x="2238047" y="3658745"/>
                      <a:pt x="2274688" y="3715905"/>
                      <a:pt x="2300093" y="3779905"/>
                    </a:cubicBezTo>
                    <a:cubicBezTo>
                      <a:pt x="2325497" y="3844394"/>
                      <a:pt x="2339665" y="3915722"/>
                      <a:pt x="2339665" y="3992424"/>
                    </a:cubicBezTo>
                    <a:cubicBezTo>
                      <a:pt x="2339665" y="4062287"/>
                      <a:pt x="2326963" y="4130684"/>
                      <a:pt x="2303513" y="4193706"/>
                    </a:cubicBezTo>
                    <a:cubicBezTo>
                      <a:pt x="2280062" y="4256729"/>
                      <a:pt x="2245864" y="4314867"/>
                      <a:pt x="2202871" y="4364210"/>
                    </a:cubicBezTo>
                    <a:cubicBezTo>
                      <a:pt x="2159879" y="4413554"/>
                      <a:pt x="2108581" y="4454103"/>
                      <a:pt x="2049955" y="4482439"/>
                    </a:cubicBezTo>
                    <a:cubicBezTo>
                      <a:pt x="1991329" y="4510775"/>
                      <a:pt x="1926352" y="4526409"/>
                      <a:pt x="1856489" y="4526409"/>
                    </a:cubicBezTo>
                    <a:lnTo>
                      <a:pt x="1551146" y="4526409"/>
                    </a:lnTo>
                    <a:lnTo>
                      <a:pt x="1551634" y="3458440"/>
                    </a:lnTo>
                    <a:lnTo>
                      <a:pt x="1551634" y="3458440"/>
                    </a:lnTo>
                    <a:close/>
                    <a:moveTo>
                      <a:pt x="7095698" y="4501493"/>
                    </a:moveTo>
                    <a:lnTo>
                      <a:pt x="7095698" y="4857645"/>
                    </a:lnTo>
                    <a:lnTo>
                      <a:pt x="5976919" y="4857645"/>
                    </a:lnTo>
                    <a:lnTo>
                      <a:pt x="5976919" y="3102776"/>
                    </a:lnTo>
                    <a:lnTo>
                      <a:pt x="6383881" y="3102776"/>
                    </a:lnTo>
                    <a:lnTo>
                      <a:pt x="6383881" y="4501493"/>
                    </a:lnTo>
                    <a:lnTo>
                      <a:pt x="7095698" y="4501493"/>
                    </a:lnTo>
                    <a:lnTo>
                      <a:pt x="7095698" y="4501493"/>
                    </a:lnTo>
                    <a:close/>
                    <a:moveTo>
                      <a:pt x="3992918" y="0"/>
                    </a:moveTo>
                    <a:cubicBezTo>
                      <a:pt x="1805680" y="0"/>
                      <a:pt x="0" y="1805678"/>
                      <a:pt x="0" y="3992913"/>
                    </a:cubicBezTo>
                    <a:cubicBezTo>
                      <a:pt x="0" y="6180148"/>
                      <a:pt x="1780276" y="7985826"/>
                      <a:pt x="3992918" y="7985826"/>
                    </a:cubicBezTo>
                    <a:cubicBezTo>
                      <a:pt x="6205560" y="7985826"/>
                      <a:pt x="7985836" y="6205552"/>
                      <a:pt x="7985836" y="3992913"/>
                    </a:cubicBezTo>
                    <a:cubicBezTo>
                      <a:pt x="7985836" y="1780273"/>
                      <a:pt x="6180155" y="0"/>
                      <a:pt x="3992918" y="0"/>
                    </a:cubicBezTo>
                    <a:close/>
                    <a:moveTo>
                      <a:pt x="3992918" y="406961"/>
                    </a:moveTo>
                    <a:cubicBezTo>
                      <a:pt x="4241101" y="406961"/>
                      <a:pt x="4482933" y="431878"/>
                      <a:pt x="4716460" y="479755"/>
                    </a:cubicBezTo>
                    <a:cubicBezTo>
                      <a:pt x="4949987" y="527633"/>
                      <a:pt x="5175697" y="597984"/>
                      <a:pt x="5390170" y="688366"/>
                    </a:cubicBezTo>
                    <a:cubicBezTo>
                      <a:pt x="5604644" y="778747"/>
                      <a:pt x="5808369" y="890137"/>
                      <a:pt x="5999392" y="1018625"/>
                    </a:cubicBezTo>
                    <a:cubicBezTo>
                      <a:pt x="6189926" y="1147602"/>
                      <a:pt x="6367758" y="1293678"/>
                      <a:pt x="6529957" y="1455877"/>
                    </a:cubicBezTo>
                    <a:cubicBezTo>
                      <a:pt x="6692155" y="1618075"/>
                      <a:pt x="6838720" y="1795418"/>
                      <a:pt x="6967209" y="1986441"/>
                    </a:cubicBezTo>
                    <a:cubicBezTo>
                      <a:pt x="7096186" y="2176975"/>
                      <a:pt x="7207087" y="2381189"/>
                      <a:pt x="7297469" y="2595662"/>
                    </a:cubicBezTo>
                    <a:cubicBezTo>
                      <a:pt x="7387851" y="2810135"/>
                      <a:pt x="7458202" y="3035845"/>
                      <a:pt x="7506080" y="3269371"/>
                    </a:cubicBezTo>
                    <a:cubicBezTo>
                      <a:pt x="7553957" y="3502898"/>
                      <a:pt x="7578874" y="3744730"/>
                      <a:pt x="7578874" y="3992913"/>
                    </a:cubicBezTo>
                    <a:cubicBezTo>
                      <a:pt x="7578874" y="4241096"/>
                      <a:pt x="7553957" y="4482928"/>
                      <a:pt x="7506080" y="4716454"/>
                    </a:cubicBezTo>
                    <a:cubicBezTo>
                      <a:pt x="7458202" y="4949981"/>
                      <a:pt x="7387851" y="5175691"/>
                      <a:pt x="7297469" y="5390164"/>
                    </a:cubicBezTo>
                    <a:cubicBezTo>
                      <a:pt x="7207087" y="5604637"/>
                      <a:pt x="7095698" y="5808362"/>
                      <a:pt x="6967209" y="5999385"/>
                    </a:cubicBezTo>
                    <a:cubicBezTo>
                      <a:pt x="6838232" y="6189918"/>
                      <a:pt x="6692155" y="6367750"/>
                      <a:pt x="6529957" y="6529949"/>
                    </a:cubicBezTo>
                    <a:cubicBezTo>
                      <a:pt x="6367758" y="6692147"/>
                      <a:pt x="6190415" y="6838712"/>
                      <a:pt x="5999392" y="6967200"/>
                    </a:cubicBezTo>
                    <a:cubicBezTo>
                      <a:pt x="5808858" y="7096177"/>
                      <a:pt x="5604644" y="7207078"/>
                      <a:pt x="5390170" y="7297459"/>
                    </a:cubicBezTo>
                    <a:cubicBezTo>
                      <a:pt x="5175697" y="7387841"/>
                      <a:pt x="4949987" y="7458193"/>
                      <a:pt x="4716460" y="7506070"/>
                    </a:cubicBezTo>
                    <a:cubicBezTo>
                      <a:pt x="4482933" y="7553948"/>
                      <a:pt x="4241101" y="7578864"/>
                      <a:pt x="3992918" y="7578864"/>
                    </a:cubicBezTo>
                    <a:cubicBezTo>
                      <a:pt x="3744735" y="7578864"/>
                      <a:pt x="3502902" y="7553948"/>
                      <a:pt x="3269375" y="7506070"/>
                    </a:cubicBezTo>
                    <a:cubicBezTo>
                      <a:pt x="3035849" y="7458681"/>
                      <a:pt x="2810139" y="7388330"/>
                      <a:pt x="2595665" y="7297948"/>
                    </a:cubicBezTo>
                    <a:cubicBezTo>
                      <a:pt x="2381192" y="7207567"/>
                      <a:pt x="2177467" y="7096177"/>
                      <a:pt x="1986444" y="6967689"/>
                    </a:cubicBezTo>
                    <a:cubicBezTo>
                      <a:pt x="1795909" y="6839201"/>
                      <a:pt x="1618077" y="6692636"/>
                      <a:pt x="1455878" y="6530437"/>
                    </a:cubicBezTo>
                    <a:cubicBezTo>
                      <a:pt x="1293680" y="6368239"/>
                      <a:pt x="1147115" y="6190896"/>
                      <a:pt x="1018626" y="5999873"/>
                    </a:cubicBezTo>
                    <a:cubicBezTo>
                      <a:pt x="889649" y="5809339"/>
                      <a:pt x="778748" y="5605125"/>
                      <a:pt x="688367" y="5390652"/>
                    </a:cubicBezTo>
                    <a:cubicBezTo>
                      <a:pt x="597985" y="5176179"/>
                      <a:pt x="527634" y="4950469"/>
                      <a:pt x="479756" y="4716943"/>
                    </a:cubicBezTo>
                    <a:cubicBezTo>
                      <a:pt x="431878" y="4483416"/>
                      <a:pt x="406962" y="4241584"/>
                      <a:pt x="406962" y="3993401"/>
                    </a:cubicBezTo>
                    <a:cubicBezTo>
                      <a:pt x="406962" y="3745218"/>
                      <a:pt x="431878" y="3503386"/>
                      <a:pt x="479756" y="3269860"/>
                    </a:cubicBezTo>
                    <a:cubicBezTo>
                      <a:pt x="527634" y="3036333"/>
                      <a:pt x="597985" y="2810624"/>
                      <a:pt x="688367" y="2596151"/>
                    </a:cubicBezTo>
                    <a:cubicBezTo>
                      <a:pt x="778748" y="2381677"/>
                      <a:pt x="890138" y="2177953"/>
                      <a:pt x="1018626" y="1986930"/>
                    </a:cubicBezTo>
                    <a:cubicBezTo>
                      <a:pt x="1147115" y="1796396"/>
                      <a:pt x="1293680" y="1618564"/>
                      <a:pt x="1455878" y="1456365"/>
                    </a:cubicBezTo>
                    <a:cubicBezTo>
                      <a:pt x="1618077" y="1294167"/>
                      <a:pt x="1795421" y="1147602"/>
                      <a:pt x="1986444" y="1019114"/>
                    </a:cubicBezTo>
                    <a:cubicBezTo>
                      <a:pt x="2176978" y="890137"/>
                      <a:pt x="2381192" y="779236"/>
                      <a:pt x="2595665" y="688854"/>
                    </a:cubicBezTo>
                    <a:cubicBezTo>
                      <a:pt x="2810139" y="598473"/>
                      <a:pt x="3035849" y="528122"/>
                      <a:pt x="3269375" y="480244"/>
                    </a:cubicBezTo>
                    <a:cubicBezTo>
                      <a:pt x="3502902" y="432366"/>
                      <a:pt x="3744735" y="407450"/>
                      <a:pt x="3992918" y="406961"/>
                    </a:cubicBezTo>
                    <a:lnTo>
                      <a:pt x="3992918" y="406961"/>
                    </a:lnTo>
                    <a:close/>
                  </a:path>
                </a:pathLst>
              </a:custGeom>
              <a:solidFill>
                <a:schemeClr val="dk1"/>
              </a:solidFill>
              <a:ln>
                <a:noFill/>
              </a:ln>
            </p:spPr>
            <p:txBody>
              <a:bodyPr spcFirstLastPara="1" wrap="square" lIns="91401" tIns="45688" rIns="91401" bIns="45688" anchor="ctr" anchorCtr="0">
                <a:noAutofit/>
              </a:bodyPr>
              <a:lstStyle/>
              <a:p>
                <a:pPr defTabSz="914126">
                  <a:buClr>
                    <a:srgbClr val="000000"/>
                  </a:buClr>
                  <a:defRPr/>
                </a:pPr>
                <a:endParaRPr sz="1798" kern="0" dirty="0">
                  <a:solidFill>
                    <a:srgbClr val="000000"/>
                  </a:solidFill>
                  <a:latin typeface="Arial" panose="020B0604020202020204" pitchFamily="34" charset="0"/>
                  <a:cs typeface="Arial"/>
                  <a:sym typeface="Arial"/>
                </a:endParaRPr>
              </a:p>
            </p:txBody>
          </p:sp>
        </p:grpSp>
        <p:pic>
          <p:nvPicPr>
            <p:cNvPr id="7055" name="Google Shape;7055;p99" descr="A picture containing drawing&#10;&#10;Description automatically generated">
              <a:extLst>
                <a:ext uri="{FF2B5EF4-FFF2-40B4-BE49-F238E27FC236}">
                  <a16:creationId xmlns:a16="http://schemas.microsoft.com/office/drawing/2014/main" id="{F07ABD67-67D5-4BC7-0057-9BD520666702}"/>
                </a:ext>
              </a:extLst>
            </p:cNvPr>
            <p:cNvPicPr preferRelativeResize="0"/>
            <p:nvPr/>
          </p:nvPicPr>
          <p:blipFill rotWithShape="1">
            <a:blip r:embed="rId6">
              <a:alphaModFix/>
            </a:blip>
            <a:srcRect/>
            <a:stretch/>
          </p:blipFill>
          <p:spPr>
            <a:xfrm>
              <a:off x="9938325" y="4395267"/>
              <a:ext cx="450088" cy="281305"/>
            </a:xfrm>
            <a:prstGeom prst="rect">
              <a:avLst/>
            </a:prstGeom>
            <a:noFill/>
            <a:ln>
              <a:noFill/>
            </a:ln>
          </p:spPr>
        </p:pic>
      </p:grpSp>
      <p:cxnSp>
        <p:nvCxnSpPr>
          <p:cNvPr id="7056" name="Google Shape;7056;p99">
            <a:extLst>
              <a:ext uri="{FF2B5EF4-FFF2-40B4-BE49-F238E27FC236}">
                <a16:creationId xmlns:a16="http://schemas.microsoft.com/office/drawing/2014/main" id="{46652CAC-3875-CE27-830D-8ECE246E52D5}"/>
              </a:ext>
            </a:extLst>
          </p:cNvPr>
          <p:cNvCxnSpPr/>
          <p:nvPr/>
        </p:nvCxnSpPr>
        <p:spPr>
          <a:xfrm rot="10800000">
            <a:off x="9908841" y="2067910"/>
            <a:ext cx="508113" cy="0"/>
          </a:xfrm>
          <a:prstGeom prst="straightConnector1">
            <a:avLst/>
          </a:prstGeom>
          <a:noFill/>
          <a:ln w="25400" cap="flat" cmpd="sng">
            <a:solidFill>
              <a:schemeClr val="accent1"/>
            </a:solidFill>
            <a:prstDash val="solid"/>
            <a:miter lim="800000"/>
            <a:headEnd type="none" w="sm" len="sm"/>
            <a:tailEnd type="triangle" w="med" len="med"/>
          </a:ln>
        </p:spPr>
      </p:cxnSp>
      <p:grpSp>
        <p:nvGrpSpPr>
          <p:cNvPr id="7057" name="Google Shape;7057;p99" descr="managed by SDDC manager&#10;vSphere and vSAN">
            <a:extLst>
              <a:ext uri="{FF2B5EF4-FFF2-40B4-BE49-F238E27FC236}">
                <a16:creationId xmlns:a16="http://schemas.microsoft.com/office/drawing/2014/main" id="{DE902008-3179-90D8-C3FB-4A86FAC712DF}"/>
              </a:ext>
            </a:extLst>
          </p:cNvPr>
          <p:cNvGrpSpPr/>
          <p:nvPr/>
        </p:nvGrpSpPr>
        <p:grpSpPr>
          <a:xfrm>
            <a:off x="4462110" y="5160999"/>
            <a:ext cx="3225166" cy="885713"/>
            <a:chOff x="5019054" y="5161900"/>
            <a:chExt cx="3226846" cy="886175"/>
          </a:xfrm>
        </p:grpSpPr>
        <p:sp>
          <p:nvSpPr>
            <p:cNvPr id="7058" name="Google Shape;7058;p99">
              <a:extLst>
                <a:ext uri="{FF2B5EF4-FFF2-40B4-BE49-F238E27FC236}">
                  <a16:creationId xmlns:a16="http://schemas.microsoft.com/office/drawing/2014/main" id="{17FAF44B-5A93-48A6-2157-A47506235C40}"/>
                </a:ext>
              </a:extLst>
            </p:cNvPr>
            <p:cNvSpPr/>
            <p:nvPr/>
          </p:nvSpPr>
          <p:spPr>
            <a:xfrm>
              <a:off x="5024355" y="5161900"/>
              <a:ext cx="3221545" cy="886175"/>
            </a:xfrm>
            <a:prstGeom prst="roundRect">
              <a:avLst>
                <a:gd name="adj" fmla="val 0"/>
              </a:avLst>
            </a:prstGeom>
            <a:solidFill>
              <a:srgbClr val="F4F8FA"/>
            </a:solidFill>
            <a:ln w="19050" cap="flat" cmpd="sng">
              <a:solidFill>
                <a:schemeClr val="accent2"/>
              </a:solidFill>
              <a:prstDash val="solid"/>
              <a:miter lim="800000"/>
              <a:headEnd type="none" w="sm" len="sm"/>
              <a:tailEnd type="none" w="sm" len="sm"/>
            </a:ln>
          </p:spPr>
          <p:txBody>
            <a:bodyPr spcFirstLastPara="1" wrap="square" lIns="91376" tIns="45688" rIns="91376" bIns="45688" anchor="ctr" anchorCtr="0">
              <a:noAutofit/>
            </a:bodyPr>
            <a:lstStyle/>
            <a:p>
              <a:pPr algn="ctr" defTabSz="914126">
                <a:buClr>
                  <a:srgbClr val="000000"/>
                </a:buClr>
                <a:defRPr/>
              </a:pPr>
              <a:endParaRPr sz="1200" kern="0" dirty="0">
                <a:solidFill>
                  <a:srgbClr val="FFFFFF"/>
                </a:solidFill>
                <a:latin typeface="Arial" panose="020B0604020202020204" pitchFamily="34" charset="0"/>
                <a:cs typeface="Arial"/>
                <a:sym typeface="Arial"/>
              </a:endParaRPr>
            </a:p>
          </p:txBody>
        </p:sp>
        <p:sp>
          <p:nvSpPr>
            <p:cNvPr id="7059" name="Google Shape;7059;p99">
              <a:extLst>
                <a:ext uri="{FF2B5EF4-FFF2-40B4-BE49-F238E27FC236}">
                  <a16:creationId xmlns:a16="http://schemas.microsoft.com/office/drawing/2014/main" id="{0E4CD1D7-EDA0-F4B7-5A5D-1DBE2F39CE0F}"/>
                </a:ext>
              </a:extLst>
            </p:cNvPr>
            <p:cNvSpPr txBox="1"/>
            <p:nvPr/>
          </p:nvSpPr>
          <p:spPr>
            <a:xfrm>
              <a:off x="5019054" y="5435711"/>
              <a:ext cx="1557818" cy="369332"/>
            </a:xfrm>
            <a:prstGeom prst="rect">
              <a:avLst/>
            </a:prstGeom>
            <a:noFill/>
            <a:ln>
              <a:noFill/>
            </a:ln>
          </p:spPr>
          <p:txBody>
            <a:bodyPr spcFirstLastPara="1" wrap="square" lIns="0" tIns="0" rIns="0" bIns="0" anchor="t" anchorCtr="0">
              <a:spAutoFit/>
            </a:bodyPr>
            <a:lstStyle/>
            <a:p>
              <a:pPr algn="ctr" defTabSz="914126">
                <a:buClr>
                  <a:srgbClr val="000000"/>
                </a:buClr>
                <a:defRPr/>
              </a:pPr>
              <a:r>
                <a:rPr lang="en-US" sz="1200" kern="0" dirty="0">
                  <a:solidFill>
                    <a:srgbClr val="1B1E35"/>
                  </a:solidFill>
                  <a:latin typeface="Arial" panose="020B0604020202020204" pitchFamily="34" charset="0"/>
                  <a:cs typeface="Arial"/>
                  <a:sym typeface="Arial"/>
                </a:rPr>
                <a:t>Managed by </a:t>
              </a:r>
              <a:br>
                <a:rPr lang="en-US" sz="1200" kern="0" dirty="0">
                  <a:solidFill>
                    <a:srgbClr val="1B1E35"/>
                  </a:solidFill>
                  <a:latin typeface="Arial" panose="020B0604020202020204" pitchFamily="34" charset="0"/>
                  <a:cs typeface="Arial"/>
                  <a:sym typeface="Arial"/>
                </a:rPr>
              </a:br>
              <a:r>
                <a:rPr lang="en-US" sz="1200" kern="0" dirty="0">
                  <a:solidFill>
                    <a:srgbClr val="1B1E35"/>
                  </a:solidFill>
                  <a:latin typeface="Arial" panose="020B0604020202020204" pitchFamily="34" charset="0"/>
                  <a:cs typeface="Arial"/>
                  <a:sym typeface="Arial"/>
                </a:rPr>
                <a:t>SDDC Manager</a:t>
              </a:r>
              <a:endParaRPr sz="1400" kern="0" dirty="0">
                <a:solidFill>
                  <a:srgbClr val="000000"/>
                </a:solidFill>
                <a:latin typeface="Arial" panose="020B0604020202020204" pitchFamily="34" charset="0"/>
                <a:cs typeface="Arial"/>
                <a:sym typeface="Arial"/>
              </a:endParaRPr>
            </a:p>
          </p:txBody>
        </p:sp>
        <p:grpSp>
          <p:nvGrpSpPr>
            <p:cNvPr id="7060" name="Google Shape;7060;p99">
              <a:extLst>
                <a:ext uri="{FF2B5EF4-FFF2-40B4-BE49-F238E27FC236}">
                  <a16:creationId xmlns:a16="http://schemas.microsoft.com/office/drawing/2014/main" id="{D7385324-F87E-A215-5B42-09589DBE19FA}"/>
                </a:ext>
              </a:extLst>
            </p:cNvPr>
            <p:cNvGrpSpPr/>
            <p:nvPr/>
          </p:nvGrpSpPr>
          <p:grpSpPr>
            <a:xfrm>
              <a:off x="6582174" y="5235523"/>
              <a:ext cx="1323060" cy="738928"/>
              <a:chOff x="6396036" y="5171139"/>
              <a:chExt cx="1323060" cy="738928"/>
            </a:xfrm>
          </p:grpSpPr>
          <p:sp>
            <p:nvSpPr>
              <p:cNvPr id="7061" name="Google Shape;7061;p99">
                <a:extLst>
                  <a:ext uri="{FF2B5EF4-FFF2-40B4-BE49-F238E27FC236}">
                    <a16:creationId xmlns:a16="http://schemas.microsoft.com/office/drawing/2014/main" id="{1C51FF25-8C62-AE93-1AA1-A92A2BF222E6}"/>
                  </a:ext>
                </a:extLst>
              </p:cNvPr>
              <p:cNvSpPr/>
              <p:nvPr/>
            </p:nvSpPr>
            <p:spPr>
              <a:xfrm>
                <a:off x="6396036" y="5171139"/>
                <a:ext cx="1323060" cy="738928"/>
              </a:xfrm>
              <a:prstGeom prst="rect">
                <a:avLst/>
              </a:prstGeom>
              <a:solidFill>
                <a:schemeClr val="accent2">
                  <a:alpha val="22745"/>
                </a:schemeClr>
              </a:solidFill>
              <a:ln>
                <a:noFill/>
              </a:ln>
            </p:spPr>
            <p:txBody>
              <a:bodyPr spcFirstLastPara="1" wrap="square" lIns="91376" tIns="45688" rIns="91376" bIns="45688" anchor="ctr" anchorCtr="0">
                <a:noAutofit/>
              </a:bodyPr>
              <a:lstStyle/>
              <a:p>
                <a:pPr algn="ctr" defTabSz="914126">
                  <a:buClr>
                    <a:srgbClr val="000000"/>
                  </a:buClr>
                  <a:defRPr/>
                </a:pPr>
                <a:endParaRPr sz="1200" kern="0" dirty="0">
                  <a:solidFill>
                    <a:srgbClr val="FFFFFF"/>
                  </a:solidFill>
                  <a:latin typeface="Arial" panose="020B0604020202020204" pitchFamily="34" charset="0"/>
                  <a:cs typeface="Arial"/>
                  <a:sym typeface="Arial"/>
                </a:endParaRPr>
              </a:p>
            </p:txBody>
          </p:sp>
          <p:grpSp>
            <p:nvGrpSpPr>
              <p:cNvPr id="7062" name="Google Shape;7062;p99">
                <a:extLst>
                  <a:ext uri="{FF2B5EF4-FFF2-40B4-BE49-F238E27FC236}">
                    <a16:creationId xmlns:a16="http://schemas.microsoft.com/office/drawing/2014/main" id="{ABC165DD-C1E3-28B2-3D75-5E0440E1925D}"/>
                  </a:ext>
                </a:extLst>
              </p:cNvPr>
              <p:cNvGrpSpPr/>
              <p:nvPr/>
            </p:nvGrpSpPr>
            <p:grpSpPr>
              <a:xfrm>
                <a:off x="6433537" y="5211363"/>
                <a:ext cx="1248058" cy="658479"/>
                <a:chOff x="6433537" y="5228317"/>
                <a:chExt cx="1248058" cy="658479"/>
              </a:xfrm>
            </p:grpSpPr>
            <p:sp>
              <p:nvSpPr>
                <p:cNvPr id="7063" name="Google Shape;7063;p99">
                  <a:extLst>
                    <a:ext uri="{FF2B5EF4-FFF2-40B4-BE49-F238E27FC236}">
                      <a16:creationId xmlns:a16="http://schemas.microsoft.com/office/drawing/2014/main" id="{23D66F45-32B1-59E2-9435-BFD24270E0FE}"/>
                    </a:ext>
                  </a:extLst>
                </p:cNvPr>
                <p:cNvSpPr/>
                <p:nvPr/>
              </p:nvSpPr>
              <p:spPr>
                <a:xfrm>
                  <a:off x="6433537" y="5228317"/>
                  <a:ext cx="1248058" cy="463154"/>
                </a:xfrm>
                <a:prstGeom prst="rect">
                  <a:avLst/>
                </a:prstGeom>
                <a:gradFill>
                  <a:gsLst>
                    <a:gs pos="0">
                      <a:schemeClr val="accent3"/>
                    </a:gs>
                    <a:gs pos="83000">
                      <a:schemeClr val="accent2"/>
                    </a:gs>
                    <a:gs pos="100000">
                      <a:schemeClr val="accent2"/>
                    </a:gs>
                  </a:gsLst>
                  <a:lin ang="10800000" scaled="0"/>
                </a:gradFill>
                <a:ln>
                  <a:noFill/>
                </a:ln>
              </p:spPr>
              <p:txBody>
                <a:bodyPr spcFirstLastPara="1" wrap="square" lIns="91401" tIns="45688" rIns="91401" bIns="45688" anchor="ctr" anchorCtr="0">
                  <a:noAutofit/>
                </a:bodyPr>
                <a:lstStyle/>
                <a:p>
                  <a:pPr algn="ctr" defTabSz="914126">
                    <a:buClr>
                      <a:srgbClr val="000000"/>
                    </a:buClr>
                    <a:defRPr/>
                  </a:pPr>
                  <a:endParaRPr sz="1200" kern="0" dirty="0">
                    <a:solidFill>
                      <a:srgbClr val="FFFFFF"/>
                    </a:solidFill>
                    <a:latin typeface="Arial" panose="020B0604020202020204" pitchFamily="34" charset="0"/>
                    <a:cs typeface="Arial"/>
                    <a:sym typeface="Arial"/>
                  </a:endParaRPr>
                </a:p>
              </p:txBody>
            </p:sp>
            <p:pic>
              <p:nvPicPr>
                <p:cNvPr id="7064" name="Google Shape;7064;p99">
                  <a:extLst>
                    <a:ext uri="{FF2B5EF4-FFF2-40B4-BE49-F238E27FC236}">
                      <a16:creationId xmlns:a16="http://schemas.microsoft.com/office/drawing/2014/main" id="{ED0E2C04-7CEF-50A4-4A59-B05054AC9B49}"/>
                    </a:ext>
                  </a:extLst>
                </p:cNvPr>
                <p:cNvPicPr preferRelativeResize="0"/>
                <p:nvPr/>
              </p:nvPicPr>
              <p:blipFill rotWithShape="1">
                <a:blip r:embed="rId7">
                  <a:alphaModFix/>
                </a:blip>
                <a:srcRect/>
                <a:stretch/>
              </p:blipFill>
              <p:spPr>
                <a:xfrm>
                  <a:off x="6543431" y="5311083"/>
                  <a:ext cx="496197" cy="132051"/>
                </a:xfrm>
                <a:prstGeom prst="rect">
                  <a:avLst/>
                </a:prstGeom>
                <a:noFill/>
                <a:ln>
                  <a:noFill/>
                </a:ln>
              </p:spPr>
            </p:pic>
            <p:pic>
              <p:nvPicPr>
                <p:cNvPr id="7065" name="Google Shape;7065;p99">
                  <a:extLst>
                    <a:ext uri="{FF2B5EF4-FFF2-40B4-BE49-F238E27FC236}">
                      <a16:creationId xmlns:a16="http://schemas.microsoft.com/office/drawing/2014/main" id="{103E8897-3D3D-FB0B-1BBD-45DDD521E2C6}"/>
                    </a:ext>
                  </a:extLst>
                </p:cNvPr>
                <p:cNvPicPr preferRelativeResize="0"/>
                <p:nvPr/>
              </p:nvPicPr>
              <p:blipFill rotWithShape="1">
                <a:blip r:embed="rId7">
                  <a:alphaModFix/>
                </a:blip>
                <a:srcRect/>
                <a:stretch/>
              </p:blipFill>
              <p:spPr>
                <a:xfrm>
                  <a:off x="7075504" y="5311083"/>
                  <a:ext cx="496197" cy="132051"/>
                </a:xfrm>
                <a:prstGeom prst="rect">
                  <a:avLst/>
                </a:prstGeom>
                <a:noFill/>
                <a:ln>
                  <a:noFill/>
                </a:ln>
              </p:spPr>
            </p:pic>
            <p:pic>
              <p:nvPicPr>
                <p:cNvPr id="7066" name="Google Shape;7066;p99">
                  <a:extLst>
                    <a:ext uri="{FF2B5EF4-FFF2-40B4-BE49-F238E27FC236}">
                      <a16:creationId xmlns:a16="http://schemas.microsoft.com/office/drawing/2014/main" id="{BA6161D4-6545-3903-E0D5-02A14C1C6BF9}"/>
                    </a:ext>
                  </a:extLst>
                </p:cNvPr>
                <p:cNvPicPr preferRelativeResize="0"/>
                <p:nvPr/>
              </p:nvPicPr>
              <p:blipFill rotWithShape="1">
                <a:blip r:embed="rId7">
                  <a:alphaModFix/>
                </a:blip>
                <a:srcRect/>
                <a:stretch/>
              </p:blipFill>
              <p:spPr>
                <a:xfrm>
                  <a:off x="6543431" y="5476652"/>
                  <a:ext cx="496197" cy="132051"/>
                </a:xfrm>
                <a:prstGeom prst="rect">
                  <a:avLst/>
                </a:prstGeom>
                <a:noFill/>
                <a:ln>
                  <a:noFill/>
                </a:ln>
              </p:spPr>
            </p:pic>
            <p:pic>
              <p:nvPicPr>
                <p:cNvPr id="7067" name="Google Shape;7067;p99">
                  <a:extLst>
                    <a:ext uri="{FF2B5EF4-FFF2-40B4-BE49-F238E27FC236}">
                      <a16:creationId xmlns:a16="http://schemas.microsoft.com/office/drawing/2014/main" id="{09ED6A2F-4552-3455-4184-26454599FCE5}"/>
                    </a:ext>
                  </a:extLst>
                </p:cNvPr>
                <p:cNvPicPr preferRelativeResize="0"/>
                <p:nvPr/>
              </p:nvPicPr>
              <p:blipFill rotWithShape="1">
                <a:blip r:embed="rId7">
                  <a:alphaModFix/>
                </a:blip>
                <a:srcRect/>
                <a:stretch/>
              </p:blipFill>
              <p:spPr>
                <a:xfrm>
                  <a:off x="7075504" y="5476653"/>
                  <a:ext cx="496197" cy="132051"/>
                </a:xfrm>
                <a:prstGeom prst="rect">
                  <a:avLst/>
                </a:prstGeom>
                <a:noFill/>
                <a:ln>
                  <a:noFill/>
                </a:ln>
              </p:spPr>
            </p:pic>
            <p:grpSp>
              <p:nvGrpSpPr>
                <p:cNvPr id="7068" name="Google Shape;7068;p99">
                  <a:extLst>
                    <a:ext uri="{FF2B5EF4-FFF2-40B4-BE49-F238E27FC236}">
                      <a16:creationId xmlns:a16="http://schemas.microsoft.com/office/drawing/2014/main" id="{F4257E3A-910D-9E00-28DC-6D9CE3F265FB}"/>
                    </a:ext>
                  </a:extLst>
                </p:cNvPr>
                <p:cNvGrpSpPr/>
                <p:nvPr/>
              </p:nvGrpSpPr>
              <p:grpSpPr>
                <a:xfrm>
                  <a:off x="6441022" y="5720900"/>
                  <a:ext cx="1240571" cy="165896"/>
                  <a:chOff x="1375494" y="4598125"/>
                  <a:chExt cx="4735029" cy="574470"/>
                </a:xfrm>
              </p:grpSpPr>
              <p:grpSp>
                <p:nvGrpSpPr>
                  <p:cNvPr id="7069" name="Google Shape;7069;p99">
                    <a:extLst>
                      <a:ext uri="{FF2B5EF4-FFF2-40B4-BE49-F238E27FC236}">
                        <a16:creationId xmlns:a16="http://schemas.microsoft.com/office/drawing/2014/main" id="{9DD86CFD-0E05-1F79-8F4A-B2BB86B073EA}"/>
                      </a:ext>
                    </a:extLst>
                  </p:cNvPr>
                  <p:cNvGrpSpPr/>
                  <p:nvPr/>
                </p:nvGrpSpPr>
                <p:grpSpPr>
                  <a:xfrm>
                    <a:off x="1375494" y="4598125"/>
                    <a:ext cx="4735029" cy="574470"/>
                    <a:chOff x="614680" y="5473942"/>
                    <a:chExt cx="4490719" cy="544831"/>
                  </a:xfrm>
                </p:grpSpPr>
                <p:sp>
                  <p:nvSpPr>
                    <p:cNvPr id="7070" name="Google Shape;7070;p99">
                      <a:extLst>
                        <a:ext uri="{FF2B5EF4-FFF2-40B4-BE49-F238E27FC236}">
                          <a16:creationId xmlns:a16="http://schemas.microsoft.com/office/drawing/2014/main" id="{92C429D6-2B3D-7CE0-EC8C-6679C5D48430}"/>
                        </a:ext>
                      </a:extLst>
                    </p:cNvPr>
                    <p:cNvSpPr/>
                    <p:nvPr/>
                  </p:nvSpPr>
                  <p:spPr>
                    <a:xfrm>
                      <a:off x="2724148" y="5473942"/>
                      <a:ext cx="2381251" cy="544829"/>
                    </a:xfrm>
                    <a:custGeom>
                      <a:avLst/>
                      <a:gdLst/>
                      <a:ahLst/>
                      <a:cxnLst/>
                      <a:rect l="l" t="t" r="r" b="b"/>
                      <a:pathLst>
                        <a:path w="2381250" h="544830" extrusionOk="0">
                          <a:moveTo>
                            <a:pt x="184785" y="462915"/>
                          </a:moveTo>
                          <a:lnTo>
                            <a:pt x="266700" y="544830"/>
                          </a:lnTo>
                          <a:lnTo>
                            <a:pt x="2381250" y="544830"/>
                          </a:lnTo>
                          <a:lnTo>
                            <a:pt x="2381250" y="0"/>
                          </a:lnTo>
                          <a:lnTo>
                            <a:pt x="274320" y="0"/>
                          </a:lnTo>
                          <a:lnTo>
                            <a:pt x="0" y="274320"/>
                          </a:lnTo>
                          <a:lnTo>
                            <a:pt x="91440" y="365760"/>
                          </a:lnTo>
                        </a:path>
                      </a:pathLst>
                    </a:custGeom>
                    <a:solidFill>
                      <a:schemeClr val="lt1"/>
                    </a:solidFill>
                    <a:ln w="12700" cap="flat" cmpd="sng">
                      <a:solidFill>
                        <a:schemeClr val="accent2"/>
                      </a:solidFill>
                      <a:prstDash val="solid"/>
                      <a:miter lim="800000"/>
                      <a:headEnd type="none" w="sm" len="sm"/>
                      <a:tailEnd type="none" w="sm" len="sm"/>
                    </a:ln>
                  </p:spPr>
                  <p:txBody>
                    <a:bodyPr spcFirstLastPara="1" wrap="square" lIns="91401" tIns="45688" rIns="91401" bIns="45688" anchor="ctr" anchorCtr="0">
                      <a:noAutofit/>
                    </a:bodyPr>
                    <a:lstStyle/>
                    <a:p>
                      <a:pPr algn="ctr" defTabSz="914126">
                        <a:buClr>
                          <a:srgbClr val="000000"/>
                        </a:buClr>
                        <a:defRPr/>
                      </a:pPr>
                      <a:endParaRPr sz="1100" kern="0" dirty="0">
                        <a:solidFill>
                          <a:srgbClr val="007A86"/>
                        </a:solidFill>
                        <a:latin typeface="Arial" panose="020B0604020202020204" pitchFamily="34" charset="0"/>
                        <a:cs typeface="Arial"/>
                        <a:sym typeface="Arial"/>
                      </a:endParaRPr>
                    </a:p>
                  </p:txBody>
                </p:sp>
                <p:sp>
                  <p:nvSpPr>
                    <p:cNvPr id="7071" name="Google Shape;7071;p99">
                      <a:extLst>
                        <a:ext uri="{FF2B5EF4-FFF2-40B4-BE49-F238E27FC236}">
                          <a16:creationId xmlns:a16="http://schemas.microsoft.com/office/drawing/2014/main" id="{FDF25BF2-057A-C1EF-370E-52B17ADE7357}"/>
                        </a:ext>
                      </a:extLst>
                    </p:cNvPr>
                    <p:cNvSpPr/>
                    <p:nvPr/>
                  </p:nvSpPr>
                  <p:spPr>
                    <a:xfrm rot="10800000">
                      <a:off x="614680" y="5473942"/>
                      <a:ext cx="2381251" cy="544831"/>
                    </a:xfrm>
                    <a:custGeom>
                      <a:avLst/>
                      <a:gdLst/>
                      <a:ahLst/>
                      <a:cxnLst/>
                      <a:rect l="l" t="t" r="r" b="b"/>
                      <a:pathLst>
                        <a:path w="2381250" h="544830" extrusionOk="0">
                          <a:moveTo>
                            <a:pt x="184785" y="462915"/>
                          </a:moveTo>
                          <a:lnTo>
                            <a:pt x="266700" y="544830"/>
                          </a:lnTo>
                          <a:lnTo>
                            <a:pt x="2381250" y="544830"/>
                          </a:lnTo>
                          <a:lnTo>
                            <a:pt x="2381250" y="0"/>
                          </a:lnTo>
                          <a:lnTo>
                            <a:pt x="274320" y="0"/>
                          </a:lnTo>
                          <a:lnTo>
                            <a:pt x="0" y="274320"/>
                          </a:lnTo>
                          <a:lnTo>
                            <a:pt x="91440" y="365760"/>
                          </a:lnTo>
                        </a:path>
                      </a:pathLst>
                    </a:custGeom>
                    <a:solidFill>
                      <a:schemeClr val="lt1"/>
                    </a:solidFill>
                    <a:ln w="12700" cap="flat" cmpd="sng">
                      <a:solidFill>
                        <a:schemeClr val="accent2"/>
                      </a:solidFill>
                      <a:prstDash val="solid"/>
                      <a:miter lim="800000"/>
                      <a:headEnd type="none" w="sm" len="sm"/>
                      <a:tailEnd type="none" w="sm" len="sm"/>
                    </a:ln>
                  </p:spPr>
                  <p:txBody>
                    <a:bodyPr spcFirstLastPara="1" wrap="square" lIns="91401" tIns="45688" rIns="91401" bIns="45688" anchor="ctr" anchorCtr="0">
                      <a:noAutofit/>
                    </a:bodyPr>
                    <a:lstStyle/>
                    <a:p>
                      <a:pPr algn="ctr" defTabSz="914126">
                        <a:buClr>
                          <a:srgbClr val="000000"/>
                        </a:buClr>
                        <a:defRPr/>
                      </a:pPr>
                      <a:endParaRPr sz="1100" kern="0" dirty="0">
                        <a:solidFill>
                          <a:srgbClr val="007A86"/>
                        </a:solidFill>
                        <a:latin typeface="Arial" panose="020B0604020202020204" pitchFamily="34" charset="0"/>
                        <a:cs typeface="Arial"/>
                        <a:sym typeface="Arial"/>
                      </a:endParaRPr>
                    </a:p>
                  </p:txBody>
                </p:sp>
              </p:grpSp>
              <p:sp>
                <p:nvSpPr>
                  <p:cNvPr id="7072" name="Google Shape;7072;p99">
                    <a:extLst>
                      <a:ext uri="{FF2B5EF4-FFF2-40B4-BE49-F238E27FC236}">
                        <a16:creationId xmlns:a16="http://schemas.microsoft.com/office/drawing/2014/main" id="{E98D88F2-92B0-D150-3E26-235D0FEA4ADE}"/>
                      </a:ext>
                    </a:extLst>
                  </p:cNvPr>
                  <p:cNvSpPr/>
                  <p:nvPr/>
                </p:nvSpPr>
                <p:spPr>
                  <a:xfrm>
                    <a:off x="1729733" y="4738894"/>
                    <a:ext cx="1756549" cy="293565"/>
                  </a:xfrm>
                  <a:prstGeom prst="rect">
                    <a:avLst/>
                  </a:prstGeom>
                  <a:noFill/>
                  <a:ln>
                    <a:noFill/>
                  </a:ln>
                </p:spPr>
                <p:txBody>
                  <a:bodyPr spcFirstLastPara="1" wrap="square" lIns="0" tIns="0" rIns="0" bIns="0" anchor="ctr" anchorCtr="0">
                    <a:noAutofit/>
                  </a:bodyPr>
                  <a:lstStyle/>
                  <a:p>
                    <a:pPr algn="ctr" defTabSz="914126">
                      <a:buClr>
                        <a:srgbClr val="000000"/>
                      </a:buClr>
                      <a:defRPr/>
                    </a:pPr>
                    <a:r>
                      <a:rPr lang="en-US" sz="800" kern="0" dirty="0">
                        <a:solidFill>
                          <a:srgbClr val="005B84"/>
                        </a:solidFill>
                        <a:latin typeface="Arial" panose="020B0604020202020204" pitchFamily="34" charset="0"/>
                        <a:cs typeface="Arial"/>
                        <a:sym typeface="Arial"/>
                      </a:rPr>
                      <a:t>vSphere</a:t>
                    </a:r>
                    <a:endParaRPr sz="1400" kern="0" dirty="0">
                      <a:solidFill>
                        <a:srgbClr val="000000"/>
                      </a:solidFill>
                      <a:latin typeface="Arial" panose="020B0604020202020204" pitchFamily="34" charset="0"/>
                      <a:cs typeface="Arial"/>
                      <a:sym typeface="Arial"/>
                    </a:endParaRPr>
                  </a:p>
                </p:txBody>
              </p:sp>
              <p:sp>
                <p:nvSpPr>
                  <p:cNvPr id="7073" name="Google Shape;7073;p99">
                    <a:extLst>
                      <a:ext uri="{FF2B5EF4-FFF2-40B4-BE49-F238E27FC236}">
                        <a16:creationId xmlns:a16="http://schemas.microsoft.com/office/drawing/2014/main" id="{F72C343A-5318-08B3-4325-B53C72F2E4AC}"/>
                      </a:ext>
                    </a:extLst>
                  </p:cNvPr>
                  <p:cNvSpPr/>
                  <p:nvPr/>
                </p:nvSpPr>
                <p:spPr>
                  <a:xfrm>
                    <a:off x="4444983" y="4738908"/>
                    <a:ext cx="1182122" cy="293551"/>
                  </a:xfrm>
                  <a:prstGeom prst="rect">
                    <a:avLst/>
                  </a:prstGeom>
                  <a:noFill/>
                  <a:ln>
                    <a:noFill/>
                  </a:ln>
                </p:spPr>
                <p:txBody>
                  <a:bodyPr spcFirstLastPara="1" wrap="square" lIns="0" tIns="0" rIns="0" bIns="0" anchor="ctr" anchorCtr="0">
                    <a:noAutofit/>
                  </a:bodyPr>
                  <a:lstStyle/>
                  <a:p>
                    <a:pPr algn="ctr" defTabSz="914126">
                      <a:buClr>
                        <a:srgbClr val="000000"/>
                      </a:buClr>
                      <a:defRPr/>
                    </a:pPr>
                    <a:r>
                      <a:rPr lang="en-US" sz="800" kern="0" dirty="0">
                        <a:solidFill>
                          <a:srgbClr val="005B84"/>
                        </a:solidFill>
                        <a:latin typeface="Arial" panose="020B0604020202020204" pitchFamily="34" charset="0"/>
                        <a:cs typeface="Arial"/>
                        <a:sym typeface="Arial"/>
                      </a:rPr>
                      <a:t>vSAN</a:t>
                    </a:r>
                    <a:endParaRPr sz="800" kern="0" dirty="0">
                      <a:solidFill>
                        <a:srgbClr val="005B84"/>
                      </a:solidFill>
                      <a:latin typeface="Arial" panose="020B0604020202020204" pitchFamily="34" charset="0"/>
                      <a:cs typeface="Arial"/>
                      <a:sym typeface="Arial"/>
                    </a:endParaRPr>
                  </a:p>
                </p:txBody>
              </p:sp>
            </p:grpSp>
          </p:grpSp>
        </p:grpSp>
      </p:grpSp>
      <p:sp>
        <p:nvSpPr>
          <p:cNvPr id="7074" name="Google Shape;7074;p99">
            <a:extLst>
              <a:ext uri="{FF2B5EF4-FFF2-40B4-BE49-F238E27FC236}">
                <a16:creationId xmlns:a16="http://schemas.microsoft.com/office/drawing/2014/main" id="{5A1E44E2-E9EA-1FE5-D556-486FF1BC3778}"/>
              </a:ext>
            </a:extLst>
          </p:cNvPr>
          <p:cNvSpPr/>
          <p:nvPr/>
        </p:nvSpPr>
        <p:spPr>
          <a:xfrm>
            <a:off x="7695751" y="5018971"/>
            <a:ext cx="1880319" cy="246093"/>
          </a:xfrm>
          <a:prstGeom prst="rect">
            <a:avLst/>
          </a:prstGeom>
          <a:noFill/>
          <a:ln>
            <a:noFill/>
          </a:ln>
        </p:spPr>
        <p:txBody>
          <a:bodyPr spcFirstLastPara="1" wrap="square" lIns="91401" tIns="45688" rIns="91401" bIns="45688" anchor="ctr" anchorCtr="0">
            <a:spAutoFit/>
          </a:bodyPr>
          <a:lstStyle/>
          <a:p>
            <a:pPr algn="ctr" defTabSz="914126">
              <a:buClr>
                <a:srgbClr val="000000"/>
              </a:buClr>
              <a:defRPr/>
            </a:pPr>
            <a:r>
              <a:rPr lang="en-US" sz="1000" kern="0" dirty="0">
                <a:solidFill>
                  <a:srgbClr val="3F3F3F"/>
                </a:solidFill>
                <a:latin typeface="Arial" panose="020B0604020202020204" pitchFamily="34" charset="0"/>
                <a:cs typeface="Arial"/>
                <a:sym typeface="Arial"/>
              </a:rPr>
              <a:t>Apply image across cluster</a:t>
            </a:r>
            <a:endParaRPr sz="1400" kern="0" dirty="0">
              <a:solidFill>
                <a:srgbClr val="000000"/>
              </a:solidFill>
              <a:latin typeface="Arial" panose="020B0604020202020204" pitchFamily="34" charset="0"/>
              <a:cs typeface="Arial"/>
              <a:sym typeface="Arial"/>
            </a:endParaRPr>
          </a:p>
        </p:txBody>
      </p:sp>
      <p:sp>
        <p:nvSpPr>
          <p:cNvPr id="7075" name="Google Shape;7075;p99">
            <a:extLst>
              <a:ext uri="{FF2B5EF4-FFF2-40B4-BE49-F238E27FC236}">
                <a16:creationId xmlns:a16="http://schemas.microsoft.com/office/drawing/2014/main" id="{310F1978-6EF9-51E9-B820-7465767E0AAD}"/>
              </a:ext>
            </a:extLst>
          </p:cNvPr>
          <p:cNvSpPr/>
          <p:nvPr/>
        </p:nvSpPr>
        <p:spPr>
          <a:xfrm>
            <a:off x="7964877" y="5453802"/>
            <a:ext cx="1350322" cy="246093"/>
          </a:xfrm>
          <a:prstGeom prst="rect">
            <a:avLst/>
          </a:prstGeom>
          <a:noFill/>
          <a:ln>
            <a:noFill/>
          </a:ln>
        </p:spPr>
        <p:txBody>
          <a:bodyPr spcFirstLastPara="1" wrap="square" lIns="91401" tIns="45688" rIns="91401" bIns="45688" anchor="ctr" anchorCtr="0">
            <a:spAutoFit/>
          </a:bodyPr>
          <a:lstStyle/>
          <a:p>
            <a:pPr algn="ctr" defTabSz="914126">
              <a:buClr>
                <a:srgbClr val="000000"/>
              </a:buClr>
              <a:defRPr/>
            </a:pPr>
            <a:r>
              <a:rPr lang="en-US" sz="1000" kern="0" dirty="0">
                <a:solidFill>
                  <a:srgbClr val="3F3F3F"/>
                </a:solidFill>
                <a:latin typeface="Arial" panose="020B0604020202020204" pitchFamily="34" charset="0"/>
                <a:cs typeface="Arial"/>
                <a:sym typeface="Arial"/>
              </a:rPr>
              <a:t>Remediate Drift</a:t>
            </a:r>
            <a:endParaRPr sz="1400" kern="0" dirty="0">
              <a:solidFill>
                <a:srgbClr val="000000"/>
              </a:solidFill>
              <a:latin typeface="Arial" panose="020B0604020202020204" pitchFamily="34" charset="0"/>
              <a:cs typeface="Arial"/>
              <a:sym typeface="Arial"/>
            </a:endParaRPr>
          </a:p>
        </p:txBody>
      </p:sp>
      <p:cxnSp>
        <p:nvCxnSpPr>
          <p:cNvPr id="7076" name="Google Shape;7076;p99">
            <a:extLst>
              <a:ext uri="{FF2B5EF4-FFF2-40B4-BE49-F238E27FC236}">
                <a16:creationId xmlns:a16="http://schemas.microsoft.com/office/drawing/2014/main" id="{020F46DC-D68A-98C1-96CA-88B0B8FBA8A5}"/>
              </a:ext>
            </a:extLst>
          </p:cNvPr>
          <p:cNvCxnSpPr/>
          <p:nvPr/>
        </p:nvCxnSpPr>
        <p:spPr>
          <a:xfrm>
            <a:off x="6705761" y="5006223"/>
            <a:ext cx="0" cy="154777"/>
          </a:xfrm>
          <a:prstGeom prst="straightConnector1">
            <a:avLst/>
          </a:prstGeom>
          <a:noFill/>
          <a:ln w="25400" cap="flat" cmpd="sng">
            <a:solidFill>
              <a:schemeClr val="accent1"/>
            </a:solidFill>
            <a:prstDash val="solid"/>
            <a:miter lim="800000"/>
            <a:headEnd type="none" w="sm" len="sm"/>
            <a:tailEnd type="triangle" w="med" len="med"/>
          </a:ln>
        </p:spPr>
      </p:cxnSp>
      <p:cxnSp>
        <p:nvCxnSpPr>
          <p:cNvPr id="7077" name="Google Shape;7077;p99">
            <a:extLst>
              <a:ext uri="{FF2B5EF4-FFF2-40B4-BE49-F238E27FC236}">
                <a16:creationId xmlns:a16="http://schemas.microsoft.com/office/drawing/2014/main" id="{1695A071-259C-D215-8FB0-978DCD5270FC}"/>
              </a:ext>
            </a:extLst>
          </p:cNvPr>
          <p:cNvCxnSpPr/>
          <p:nvPr/>
        </p:nvCxnSpPr>
        <p:spPr>
          <a:xfrm rot="10800000">
            <a:off x="10749986" y="2399233"/>
            <a:ext cx="0" cy="502658"/>
          </a:xfrm>
          <a:prstGeom prst="straightConnector1">
            <a:avLst/>
          </a:prstGeom>
          <a:noFill/>
          <a:ln w="25400" cap="flat" cmpd="sng">
            <a:solidFill>
              <a:schemeClr val="accent4"/>
            </a:solidFill>
            <a:prstDash val="solid"/>
            <a:miter lim="800000"/>
            <a:headEnd type="none" w="sm" len="sm"/>
            <a:tailEnd type="triangle" w="med" len="med"/>
          </a:ln>
        </p:spPr>
      </p:cxnSp>
      <p:cxnSp>
        <p:nvCxnSpPr>
          <p:cNvPr id="7078" name="Google Shape;7078;p99">
            <a:extLst>
              <a:ext uri="{FF2B5EF4-FFF2-40B4-BE49-F238E27FC236}">
                <a16:creationId xmlns:a16="http://schemas.microsoft.com/office/drawing/2014/main" id="{B57FF7AE-C5D5-87EE-739C-5BFAD3170D0E}"/>
              </a:ext>
            </a:extLst>
          </p:cNvPr>
          <p:cNvCxnSpPr/>
          <p:nvPr/>
        </p:nvCxnSpPr>
        <p:spPr>
          <a:xfrm>
            <a:off x="6693536" y="5006222"/>
            <a:ext cx="2892597" cy="0"/>
          </a:xfrm>
          <a:prstGeom prst="straightConnector1">
            <a:avLst/>
          </a:prstGeom>
          <a:noFill/>
          <a:ln w="25400" cap="flat" cmpd="sng">
            <a:solidFill>
              <a:schemeClr val="accent1"/>
            </a:solidFill>
            <a:prstDash val="solid"/>
            <a:miter lim="800000"/>
            <a:headEnd type="none" w="sm" len="sm"/>
            <a:tailEnd type="none" w="sm" len="sm"/>
          </a:ln>
        </p:spPr>
      </p:cxnSp>
      <p:cxnSp>
        <p:nvCxnSpPr>
          <p:cNvPr id="7079" name="Google Shape;7079;p99">
            <a:extLst>
              <a:ext uri="{FF2B5EF4-FFF2-40B4-BE49-F238E27FC236}">
                <a16:creationId xmlns:a16="http://schemas.microsoft.com/office/drawing/2014/main" id="{347C7716-7281-7AB6-FB8A-BBF39174A505}"/>
              </a:ext>
            </a:extLst>
          </p:cNvPr>
          <p:cNvCxnSpPr/>
          <p:nvPr/>
        </p:nvCxnSpPr>
        <p:spPr>
          <a:xfrm rot="10800000">
            <a:off x="9576071" y="4860723"/>
            <a:ext cx="0" cy="145498"/>
          </a:xfrm>
          <a:prstGeom prst="straightConnector1">
            <a:avLst/>
          </a:prstGeom>
          <a:noFill/>
          <a:ln w="25400" cap="flat" cmpd="sng">
            <a:solidFill>
              <a:schemeClr val="accent1"/>
            </a:solidFill>
            <a:prstDash val="solid"/>
            <a:miter lim="800000"/>
            <a:headEnd type="none" w="sm" len="sm"/>
            <a:tailEnd type="none" w="sm" len="sm"/>
          </a:ln>
        </p:spPr>
      </p:cxnSp>
      <p:cxnSp>
        <p:nvCxnSpPr>
          <p:cNvPr id="7080" name="Google Shape;7080;p99">
            <a:extLst>
              <a:ext uri="{FF2B5EF4-FFF2-40B4-BE49-F238E27FC236}">
                <a16:creationId xmlns:a16="http://schemas.microsoft.com/office/drawing/2014/main" id="{12F3532E-5604-73C4-558A-0AF54EC8CE4E}"/>
              </a:ext>
            </a:extLst>
          </p:cNvPr>
          <p:cNvCxnSpPr/>
          <p:nvPr/>
        </p:nvCxnSpPr>
        <p:spPr>
          <a:xfrm>
            <a:off x="7695755" y="5878858"/>
            <a:ext cx="3054228" cy="0"/>
          </a:xfrm>
          <a:prstGeom prst="straightConnector1">
            <a:avLst/>
          </a:prstGeom>
          <a:noFill/>
          <a:ln w="25400" cap="flat" cmpd="sng">
            <a:solidFill>
              <a:schemeClr val="accent4"/>
            </a:solidFill>
            <a:prstDash val="solid"/>
            <a:miter lim="800000"/>
            <a:headEnd type="none" w="sm" len="sm"/>
            <a:tailEnd type="none" w="sm" len="sm"/>
          </a:ln>
        </p:spPr>
      </p:cxnSp>
      <p:cxnSp>
        <p:nvCxnSpPr>
          <p:cNvPr id="7081" name="Google Shape;7081;p99">
            <a:extLst>
              <a:ext uri="{FF2B5EF4-FFF2-40B4-BE49-F238E27FC236}">
                <a16:creationId xmlns:a16="http://schemas.microsoft.com/office/drawing/2014/main" id="{036E81A1-8BBD-C92E-C763-96A6D40ECCFF}"/>
              </a:ext>
            </a:extLst>
          </p:cNvPr>
          <p:cNvCxnSpPr/>
          <p:nvPr/>
        </p:nvCxnSpPr>
        <p:spPr>
          <a:xfrm rot="10800000">
            <a:off x="9576071" y="5006226"/>
            <a:ext cx="0" cy="720307"/>
          </a:xfrm>
          <a:prstGeom prst="straightConnector1">
            <a:avLst/>
          </a:prstGeom>
          <a:noFill/>
          <a:ln w="25400" cap="flat" cmpd="sng">
            <a:solidFill>
              <a:schemeClr val="accent1"/>
            </a:solidFill>
            <a:prstDash val="dash"/>
            <a:miter lim="800000"/>
            <a:headEnd type="none" w="sm" len="sm"/>
            <a:tailEnd type="none" w="sm" len="sm"/>
          </a:ln>
        </p:spPr>
      </p:cxnSp>
      <p:cxnSp>
        <p:nvCxnSpPr>
          <p:cNvPr id="7082" name="Google Shape;7082;p99">
            <a:extLst>
              <a:ext uri="{FF2B5EF4-FFF2-40B4-BE49-F238E27FC236}">
                <a16:creationId xmlns:a16="http://schemas.microsoft.com/office/drawing/2014/main" id="{18442BB3-1E18-5AAA-364C-695C12707EC1}"/>
              </a:ext>
            </a:extLst>
          </p:cNvPr>
          <p:cNvCxnSpPr/>
          <p:nvPr/>
        </p:nvCxnSpPr>
        <p:spPr>
          <a:xfrm rot="10800000">
            <a:off x="7695755" y="5726530"/>
            <a:ext cx="1880318" cy="0"/>
          </a:xfrm>
          <a:prstGeom prst="straightConnector1">
            <a:avLst/>
          </a:prstGeom>
          <a:noFill/>
          <a:ln w="25400" cap="flat" cmpd="sng">
            <a:solidFill>
              <a:schemeClr val="accent1"/>
            </a:solidFill>
            <a:prstDash val="dash"/>
            <a:miter lim="800000"/>
            <a:headEnd type="none" w="sm" len="sm"/>
            <a:tailEnd type="triangle" w="med" len="med"/>
          </a:ln>
        </p:spPr>
      </p:cxnSp>
      <p:cxnSp>
        <p:nvCxnSpPr>
          <p:cNvPr id="7083" name="Google Shape;7083;p99">
            <a:extLst>
              <a:ext uri="{FF2B5EF4-FFF2-40B4-BE49-F238E27FC236}">
                <a16:creationId xmlns:a16="http://schemas.microsoft.com/office/drawing/2014/main" id="{CAB6EBBB-1B53-9034-C7AB-4C224C8D5182}"/>
              </a:ext>
            </a:extLst>
          </p:cNvPr>
          <p:cNvCxnSpPr/>
          <p:nvPr/>
        </p:nvCxnSpPr>
        <p:spPr>
          <a:xfrm rot="10800000">
            <a:off x="10752880" y="3682075"/>
            <a:ext cx="0" cy="2196785"/>
          </a:xfrm>
          <a:prstGeom prst="straightConnector1">
            <a:avLst/>
          </a:prstGeom>
          <a:noFill/>
          <a:ln w="25400" cap="flat" cmpd="sng">
            <a:solidFill>
              <a:schemeClr val="accent4"/>
            </a:solidFill>
            <a:prstDash val="solid"/>
            <a:miter lim="800000"/>
            <a:headEnd type="none" w="sm" len="sm"/>
            <a:tailEnd type="none" w="sm" len="sm"/>
          </a:ln>
        </p:spPr>
      </p:cxnSp>
      <p:grpSp>
        <p:nvGrpSpPr>
          <p:cNvPr id="7084" name="Google Shape;7084;p99">
            <a:extLst>
              <a:ext uri="{FF2B5EF4-FFF2-40B4-BE49-F238E27FC236}">
                <a16:creationId xmlns:a16="http://schemas.microsoft.com/office/drawing/2014/main" id="{FAA0F267-2DEF-6592-E2A1-ED072CB5AEA7}"/>
              </a:ext>
            </a:extLst>
          </p:cNvPr>
          <p:cNvGrpSpPr/>
          <p:nvPr/>
        </p:nvGrpSpPr>
        <p:grpSpPr>
          <a:xfrm>
            <a:off x="10484413" y="1802336"/>
            <a:ext cx="531151" cy="531151"/>
            <a:chOff x="10729041" y="1735724"/>
            <a:chExt cx="531427" cy="531427"/>
          </a:xfrm>
        </p:grpSpPr>
        <p:sp>
          <p:nvSpPr>
            <p:cNvPr id="7085" name="Google Shape;7085;p99">
              <a:extLst>
                <a:ext uri="{FF2B5EF4-FFF2-40B4-BE49-F238E27FC236}">
                  <a16:creationId xmlns:a16="http://schemas.microsoft.com/office/drawing/2014/main" id="{5A91AC4D-0681-5D32-8EB6-341F3C18FADD}"/>
                </a:ext>
              </a:extLst>
            </p:cNvPr>
            <p:cNvSpPr/>
            <p:nvPr/>
          </p:nvSpPr>
          <p:spPr>
            <a:xfrm>
              <a:off x="10729041" y="1735724"/>
              <a:ext cx="531427" cy="531427"/>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01" tIns="45688" rIns="91401" bIns="45688" anchor="ctr" anchorCtr="0">
              <a:noAutofit/>
            </a:bodyPr>
            <a:lstStyle/>
            <a:p>
              <a:pPr algn="ctr" defTabSz="914126">
                <a:buClr>
                  <a:srgbClr val="000000"/>
                </a:buClr>
                <a:defRPr/>
              </a:pPr>
              <a:endParaRPr sz="1000" kern="0" dirty="0">
                <a:solidFill>
                  <a:srgbClr val="FFFFFF"/>
                </a:solidFill>
                <a:latin typeface="Arial" panose="020B0604020202020204" pitchFamily="34" charset="0"/>
                <a:cs typeface="Arial"/>
                <a:sym typeface="Arial"/>
              </a:endParaRPr>
            </a:p>
          </p:txBody>
        </p:sp>
        <p:pic>
          <p:nvPicPr>
            <p:cNvPr id="7086" name="Google Shape;7086;p99">
              <a:extLst>
                <a:ext uri="{FF2B5EF4-FFF2-40B4-BE49-F238E27FC236}">
                  <a16:creationId xmlns:a16="http://schemas.microsoft.com/office/drawing/2014/main" id="{4E96AEC1-8291-7433-D688-95B0B6B977A1}"/>
                </a:ext>
              </a:extLst>
            </p:cNvPr>
            <p:cNvPicPr preferRelativeResize="0"/>
            <p:nvPr/>
          </p:nvPicPr>
          <p:blipFill rotWithShape="1">
            <a:blip r:embed="rId8">
              <a:alphaModFix/>
            </a:blip>
            <a:srcRect/>
            <a:stretch/>
          </p:blipFill>
          <p:spPr>
            <a:xfrm>
              <a:off x="10861659" y="1846611"/>
              <a:ext cx="266192" cy="309652"/>
            </a:xfrm>
            <a:prstGeom prst="rect">
              <a:avLst/>
            </a:prstGeom>
            <a:noFill/>
            <a:ln>
              <a:noFill/>
            </a:ln>
          </p:spPr>
        </p:pic>
      </p:grpSp>
      <p:grpSp>
        <p:nvGrpSpPr>
          <p:cNvPr id="7087" name="Google Shape;7087;p99" descr="drift">
            <a:extLst>
              <a:ext uri="{FF2B5EF4-FFF2-40B4-BE49-F238E27FC236}">
                <a16:creationId xmlns:a16="http://schemas.microsoft.com/office/drawing/2014/main" id="{86F2CA0E-C3D8-F6B2-C961-BDE747790D8A}"/>
              </a:ext>
            </a:extLst>
          </p:cNvPr>
          <p:cNvGrpSpPr/>
          <p:nvPr/>
        </p:nvGrpSpPr>
        <p:grpSpPr>
          <a:xfrm>
            <a:off x="10422985" y="2984278"/>
            <a:ext cx="659790" cy="710173"/>
            <a:chOff x="10793721" y="2651262"/>
            <a:chExt cx="660134" cy="710543"/>
          </a:xfrm>
        </p:grpSpPr>
        <p:sp>
          <p:nvSpPr>
            <p:cNvPr id="7088" name="Google Shape;7088;p99">
              <a:extLst>
                <a:ext uri="{FF2B5EF4-FFF2-40B4-BE49-F238E27FC236}">
                  <a16:creationId xmlns:a16="http://schemas.microsoft.com/office/drawing/2014/main" id="{AC236C54-690B-B873-5DE2-B932384179C2}"/>
                </a:ext>
              </a:extLst>
            </p:cNvPr>
            <p:cNvSpPr/>
            <p:nvPr/>
          </p:nvSpPr>
          <p:spPr>
            <a:xfrm>
              <a:off x="10793721" y="3084806"/>
              <a:ext cx="660134" cy="276999"/>
            </a:xfrm>
            <a:prstGeom prst="rect">
              <a:avLst/>
            </a:prstGeom>
            <a:noFill/>
            <a:ln>
              <a:noFill/>
            </a:ln>
          </p:spPr>
          <p:txBody>
            <a:bodyPr spcFirstLastPara="1" wrap="square" lIns="91401" tIns="45688" rIns="91401" bIns="45688" anchor="ctr" anchorCtr="0">
              <a:spAutoFit/>
            </a:bodyPr>
            <a:lstStyle/>
            <a:p>
              <a:pPr algn="ctr" defTabSz="914126">
                <a:buClr>
                  <a:srgbClr val="000000"/>
                </a:buClr>
                <a:defRPr/>
              </a:pPr>
              <a:r>
                <a:rPr lang="en-US" sz="1200" kern="0" dirty="0">
                  <a:solidFill>
                    <a:srgbClr val="3F3F3F"/>
                  </a:solidFill>
                  <a:latin typeface="Arial" panose="020B0604020202020204" pitchFamily="34" charset="0"/>
                  <a:cs typeface="Arial"/>
                  <a:sym typeface="Arial"/>
                </a:rPr>
                <a:t>Drift</a:t>
              </a:r>
              <a:endParaRPr sz="1400" kern="0" dirty="0">
                <a:solidFill>
                  <a:srgbClr val="000000"/>
                </a:solidFill>
                <a:latin typeface="Arial" panose="020B0604020202020204" pitchFamily="34" charset="0"/>
                <a:cs typeface="Arial"/>
                <a:sym typeface="Arial"/>
              </a:endParaRPr>
            </a:p>
          </p:txBody>
        </p:sp>
        <p:grpSp>
          <p:nvGrpSpPr>
            <p:cNvPr id="7089" name="Google Shape;7089;p99">
              <a:extLst>
                <a:ext uri="{FF2B5EF4-FFF2-40B4-BE49-F238E27FC236}">
                  <a16:creationId xmlns:a16="http://schemas.microsoft.com/office/drawing/2014/main" id="{508D3DDF-CE8D-6416-C97D-D67CA3D880E5}"/>
                </a:ext>
              </a:extLst>
            </p:cNvPr>
            <p:cNvGrpSpPr/>
            <p:nvPr/>
          </p:nvGrpSpPr>
          <p:grpSpPr>
            <a:xfrm>
              <a:off x="10907578" y="2651262"/>
              <a:ext cx="426629" cy="426629"/>
              <a:chOff x="3938590" y="3606217"/>
              <a:chExt cx="270000" cy="270000"/>
            </a:xfrm>
          </p:grpSpPr>
          <p:sp>
            <p:nvSpPr>
              <p:cNvPr id="7090" name="Google Shape;7090;p99">
                <a:extLst>
                  <a:ext uri="{FF2B5EF4-FFF2-40B4-BE49-F238E27FC236}">
                    <a16:creationId xmlns:a16="http://schemas.microsoft.com/office/drawing/2014/main" id="{27AF89DC-ACCC-FF12-01C0-4FC3BA7B2A3B}"/>
                  </a:ext>
                </a:extLst>
              </p:cNvPr>
              <p:cNvSpPr/>
              <p:nvPr/>
            </p:nvSpPr>
            <p:spPr>
              <a:xfrm>
                <a:off x="3938590" y="3606217"/>
                <a:ext cx="270000" cy="270000"/>
              </a:xfrm>
              <a:prstGeom prst="ellipse">
                <a:avLst/>
              </a:prstGeom>
              <a:solidFill>
                <a:schemeClr val="lt1"/>
              </a:solidFill>
              <a:ln w="19050" cap="flat" cmpd="sng">
                <a:solidFill>
                  <a:schemeClr val="accent4"/>
                </a:solidFill>
                <a:prstDash val="solid"/>
                <a:round/>
                <a:headEnd type="none" w="sm" len="sm"/>
                <a:tailEnd type="none" w="sm" len="sm"/>
              </a:ln>
            </p:spPr>
            <p:txBody>
              <a:bodyPr spcFirstLastPara="1" wrap="square" lIns="91401" tIns="45688" rIns="91401" bIns="45688" anchor="ctr" anchorCtr="0">
                <a:noAutofit/>
              </a:bodyPr>
              <a:lstStyle/>
              <a:p>
                <a:pPr algn="ctr" defTabSz="914126">
                  <a:buClr>
                    <a:srgbClr val="000000"/>
                  </a:buClr>
                  <a:defRPr/>
                </a:pPr>
                <a:endParaRPr sz="1000" kern="0" dirty="0">
                  <a:solidFill>
                    <a:srgbClr val="FFFFFF"/>
                  </a:solidFill>
                  <a:latin typeface="Arial" panose="020B0604020202020204" pitchFamily="34" charset="0"/>
                  <a:cs typeface="Arial"/>
                  <a:sym typeface="Arial"/>
                </a:endParaRPr>
              </a:p>
            </p:txBody>
          </p:sp>
          <p:grpSp>
            <p:nvGrpSpPr>
              <p:cNvPr id="7091" name="Google Shape;7091;p99">
                <a:extLst>
                  <a:ext uri="{FF2B5EF4-FFF2-40B4-BE49-F238E27FC236}">
                    <a16:creationId xmlns:a16="http://schemas.microsoft.com/office/drawing/2014/main" id="{6364E6F3-6264-2C16-D4DF-83D96DAA1649}"/>
                  </a:ext>
                </a:extLst>
              </p:cNvPr>
              <p:cNvGrpSpPr/>
              <p:nvPr/>
            </p:nvGrpSpPr>
            <p:grpSpPr>
              <a:xfrm>
                <a:off x="3993320" y="3663691"/>
                <a:ext cx="160539" cy="134172"/>
                <a:chOff x="2288467" y="992578"/>
                <a:chExt cx="6399396" cy="5298313"/>
              </a:xfrm>
            </p:grpSpPr>
            <p:sp>
              <p:nvSpPr>
                <p:cNvPr id="7092" name="Google Shape;7092;p99">
                  <a:extLst>
                    <a:ext uri="{FF2B5EF4-FFF2-40B4-BE49-F238E27FC236}">
                      <a16:creationId xmlns:a16="http://schemas.microsoft.com/office/drawing/2014/main" id="{9C656EC0-9254-CE01-76C4-6E65C8C50B0B}"/>
                    </a:ext>
                  </a:extLst>
                </p:cNvPr>
                <p:cNvSpPr/>
                <p:nvPr/>
              </p:nvSpPr>
              <p:spPr>
                <a:xfrm>
                  <a:off x="5129394" y="2715431"/>
                  <a:ext cx="717567" cy="2840040"/>
                </a:xfrm>
                <a:custGeom>
                  <a:avLst/>
                  <a:gdLst/>
                  <a:ahLst/>
                  <a:cxnLst/>
                  <a:rect l="l" t="t" r="r" b="b"/>
                  <a:pathLst>
                    <a:path w="1994" h="7890" extrusionOk="0">
                      <a:moveTo>
                        <a:pt x="9" y="565"/>
                      </a:moveTo>
                      <a:lnTo>
                        <a:pt x="9" y="565"/>
                      </a:lnTo>
                      <a:lnTo>
                        <a:pt x="0" y="450"/>
                      </a:lnTo>
                      <a:lnTo>
                        <a:pt x="17" y="344"/>
                      </a:lnTo>
                      <a:lnTo>
                        <a:pt x="53" y="247"/>
                      </a:lnTo>
                      <a:lnTo>
                        <a:pt x="79" y="203"/>
                      </a:lnTo>
                      <a:lnTo>
                        <a:pt x="106" y="159"/>
                      </a:lnTo>
                      <a:lnTo>
                        <a:pt x="132" y="123"/>
                      </a:lnTo>
                      <a:lnTo>
                        <a:pt x="168" y="88"/>
                      </a:lnTo>
                      <a:lnTo>
                        <a:pt x="212" y="61"/>
                      </a:lnTo>
                      <a:lnTo>
                        <a:pt x="247" y="44"/>
                      </a:lnTo>
                      <a:lnTo>
                        <a:pt x="300" y="17"/>
                      </a:lnTo>
                      <a:lnTo>
                        <a:pt x="344" y="9"/>
                      </a:lnTo>
                      <a:lnTo>
                        <a:pt x="397" y="0"/>
                      </a:lnTo>
                      <a:lnTo>
                        <a:pt x="450" y="0"/>
                      </a:lnTo>
                      <a:lnTo>
                        <a:pt x="1543" y="0"/>
                      </a:lnTo>
                      <a:lnTo>
                        <a:pt x="1543" y="0"/>
                      </a:lnTo>
                      <a:lnTo>
                        <a:pt x="1596" y="0"/>
                      </a:lnTo>
                      <a:lnTo>
                        <a:pt x="1649" y="9"/>
                      </a:lnTo>
                      <a:lnTo>
                        <a:pt x="1702" y="17"/>
                      </a:lnTo>
                      <a:lnTo>
                        <a:pt x="1746" y="44"/>
                      </a:lnTo>
                      <a:lnTo>
                        <a:pt x="1781" y="61"/>
                      </a:lnTo>
                      <a:lnTo>
                        <a:pt x="1825" y="88"/>
                      </a:lnTo>
                      <a:lnTo>
                        <a:pt x="1861" y="123"/>
                      </a:lnTo>
                      <a:lnTo>
                        <a:pt x="1887" y="159"/>
                      </a:lnTo>
                      <a:lnTo>
                        <a:pt x="1914" y="203"/>
                      </a:lnTo>
                      <a:lnTo>
                        <a:pt x="1940" y="247"/>
                      </a:lnTo>
                      <a:lnTo>
                        <a:pt x="1976" y="344"/>
                      </a:lnTo>
                      <a:lnTo>
                        <a:pt x="1993" y="450"/>
                      </a:lnTo>
                      <a:lnTo>
                        <a:pt x="1984" y="565"/>
                      </a:lnTo>
                      <a:lnTo>
                        <a:pt x="1508" y="4756"/>
                      </a:lnTo>
                      <a:lnTo>
                        <a:pt x="1508" y="4756"/>
                      </a:lnTo>
                      <a:lnTo>
                        <a:pt x="1490" y="4861"/>
                      </a:lnTo>
                      <a:lnTo>
                        <a:pt x="1455" y="4959"/>
                      </a:lnTo>
                      <a:lnTo>
                        <a:pt x="1402" y="5038"/>
                      </a:lnTo>
                      <a:lnTo>
                        <a:pt x="1340" y="5109"/>
                      </a:lnTo>
                      <a:lnTo>
                        <a:pt x="1270" y="5162"/>
                      </a:lnTo>
                      <a:lnTo>
                        <a:pt x="1190" y="5206"/>
                      </a:lnTo>
                      <a:lnTo>
                        <a:pt x="1093" y="5232"/>
                      </a:lnTo>
                      <a:lnTo>
                        <a:pt x="997" y="5241"/>
                      </a:lnTo>
                      <a:lnTo>
                        <a:pt x="997" y="5241"/>
                      </a:lnTo>
                      <a:lnTo>
                        <a:pt x="900" y="5232"/>
                      </a:lnTo>
                      <a:lnTo>
                        <a:pt x="803" y="5206"/>
                      </a:lnTo>
                      <a:lnTo>
                        <a:pt x="723" y="5162"/>
                      </a:lnTo>
                      <a:lnTo>
                        <a:pt x="653" y="5109"/>
                      </a:lnTo>
                      <a:lnTo>
                        <a:pt x="591" y="5038"/>
                      </a:lnTo>
                      <a:lnTo>
                        <a:pt x="538" y="4959"/>
                      </a:lnTo>
                      <a:lnTo>
                        <a:pt x="503" y="4861"/>
                      </a:lnTo>
                      <a:lnTo>
                        <a:pt x="485" y="4756"/>
                      </a:lnTo>
                      <a:lnTo>
                        <a:pt x="9" y="565"/>
                      </a:lnTo>
                      <a:close/>
                      <a:moveTo>
                        <a:pt x="997" y="5973"/>
                      </a:moveTo>
                      <a:lnTo>
                        <a:pt x="997" y="5973"/>
                      </a:lnTo>
                      <a:lnTo>
                        <a:pt x="1102" y="5982"/>
                      </a:lnTo>
                      <a:lnTo>
                        <a:pt x="1199" y="5991"/>
                      </a:lnTo>
                      <a:lnTo>
                        <a:pt x="1296" y="6018"/>
                      </a:lnTo>
                      <a:lnTo>
                        <a:pt x="1384" y="6053"/>
                      </a:lnTo>
                      <a:lnTo>
                        <a:pt x="1464" y="6088"/>
                      </a:lnTo>
                      <a:lnTo>
                        <a:pt x="1552" y="6132"/>
                      </a:lnTo>
                      <a:lnTo>
                        <a:pt x="1623" y="6185"/>
                      </a:lnTo>
                      <a:lnTo>
                        <a:pt x="1693" y="6247"/>
                      </a:lnTo>
                      <a:lnTo>
                        <a:pt x="1755" y="6318"/>
                      </a:lnTo>
                      <a:lnTo>
                        <a:pt x="1808" y="6388"/>
                      </a:lnTo>
                      <a:lnTo>
                        <a:pt x="1852" y="6468"/>
                      </a:lnTo>
                      <a:lnTo>
                        <a:pt x="1896" y="6547"/>
                      </a:lnTo>
                      <a:lnTo>
                        <a:pt x="1923" y="6635"/>
                      </a:lnTo>
                      <a:lnTo>
                        <a:pt x="1949" y="6732"/>
                      </a:lnTo>
                      <a:lnTo>
                        <a:pt x="1958" y="6821"/>
                      </a:lnTo>
                      <a:lnTo>
                        <a:pt x="1967" y="6927"/>
                      </a:lnTo>
                      <a:lnTo>
                        <a:pt x="1967" y="6944"/>
                      </a:lnTo>
                      <a:lnTo>
                        <a:pt x="1967" y="6944"/>
                      </a:lnTo>
                      <a:lnTo>
                        <a:pt x="1958" y="7041"/>
                      </a:lnTo>
                      <a:lnTo>
                        <a:pt x="1949" y="7138"/>
                      </a:lnTo>
                      <a:lnTo>
                        <a:pt x="1923" y="7236"/>
                      </a:lnTo>
                      <a:lnTo>
                        <a:pt x="1896" y="7315"/>
                      </a:lnTo>
                      <a:lnTo>
                        <a:pt x="1852" y="7403"/>
                      </a:lnTo>
                      <a:lnTo>
                        <a:pt x="1808" y="7483"/>
                      </a:lnTo>
                      <a:lnTo>
                        <a:pt x="1755" y="7553"/>
                      </a:lnTo>
                      <a:lnTo>
                        <a:pt x="1693" y="7615"/>
                      </a:lnTo>
                      <a:lnTo>
                        <a:pt x="1623" y="7677"/>
                      </a:lnTo>
                      <a:lnTo>
                        <a:pt x="1552" y="7730"/>
                      </a:lnTo>
                      <a:lnTo>
                        <a:pt x="1464" y="7783"/>
                      </a:lnTo>
                      <a:lnTo>
                        <a:pt x="1384" y="7818"/>
                      </a:lnTo>
                      <a:lnTo>
                        <a:pt x="1296" y="7853"/>
                      </a:lnTo>
                      <a:lnTo>
                        <a:pt x="1199" y="7871"/>
                      </a:lnTo>
                      <a:lnTo>
                        <a:pt x="1102" y="7889"/>
                      </a:lnTo>
                      <a:lnTo>
                        <a:pt x="997" y="7889"/>
                      </a:lnTo>
                      <a:lnTo>
                        <a:pt x="997" y="7889"/>
                      </a:lnTo>
                      <a:lnTo>
                        <a:pt x="891" y="7889"/>
                      </a:lnTo>
                      <a:lnTo>
                        <a:pt x="794" y="7871"/>
                      </a:lnTo>
                      <a:lnTo>
                        <a:pt x="706" y="7853"/>
                      </a:lnTo>
                      <a:lnTo>
                        <a:pt x="609" y="7818"/>
                      </a:lnTo>
                      <a:lnTo>
                        <a:pt x="529" y="7783"/>
                      </a:lnTo>
                      <a:lnTo>
                        <a:pt x="450" y="7730"/>
                      </a:lnTo>
                      <a:lnTo>
                        <a:pt x="370" y="7677"/>
                      </a:lnTo>
                      <a:lnTo>
                        <a:pt x="309" y="7615"/>
                      </a:lnTo>
                      <a:lnTo>
                        <a:pt x="247" y="7553"/>
                      </a:lnTo>
                      <a:lnTo>
                        <a:pt x="185" y="7483"/>
                      </a:lnTo>
                      <a:lnTo>
                        <a:pt x="141" y="7403"/>
                      </a:lnTo>
                      <a:lnTo>
                        <a:pt x="106" y="7315"/>
                      </a:lnTo>
                      <a:lnTo>
                        <a:pt x="70" y="7236"/>
                      </a:lnTo>
                      <a:lnTo>
                        <a:pt x="44" y="7138"/>
                      </a:lnTo>
                      <a:lnTo>
                        <a:pt x="35" y="7041"/>
                      </a:lnTo>
                      <a:lnTo>
                        <a:pt x="26" y="6944"/>
                      </a:lnTo>
                      <a:lnTo>
                        <a:pt x="26" y="6927"/>
                      </a:lnTo>
                      <a:lnTo>
                        <a:pt x="26" y="6927"/>
                      </a:lnTo>
                      <a:lnTo>
                        <a:pt x="35" y="6821"/>
                      </a:lnTo>
                      <a:lnTo>
                        <a:pt x="44" y="6732"/>
                      </a:lnTo>
                      <a:lnTo>
                        <a:pt x="70" y="6635"/>
                      </a:lnTo>
                      <a:lnTo>
                        <a:pt x="106" y="6547"/>
                      </a:lnTo>
                      <a:lnTo>
                        <a:pt x="141" y="6468"/>
                      </a:lnTo>
                      <a:lnTo>
                        <a:pt x="185" y="6388"/>
                      </a:lnTo>
                      <a:lnTo>
                        <a:pt x="247" y="6318"/>
                      </a:lnTo>
                      <a:lnTo>
                        <a:pt x="309" y="6247"/>
                      </a:lnTo>
                      <a:lnTo>
                        <a:pt x="370" y="6185"/>
                      </a:lnTo>
                      <a:lnTo>
                        <a:pt x="450" y="6132"/>
                      </a:lnTo>
                      <a:lnTo>
                        <a:pt x="529" y="6088"/>
                      </a:lnTo>
                      <a:lnTo>
                        <a:pt x="609" y="6053"/>
                      </a:lnTo>
                      <a:lnTo>
                        <a:pt x="706" y="6018"/>
                      </a:lnTo>
                      <a:lnTo>
                        <a:pt x="794" y="5991"/>
                      </a:lnTo>
                      <a:lnTo>
                        <a:pt x="891" y="5982"/>
                      </a:lnTo>
                      <a:lnTo>
                        <a:pt x="997" y="5973"/>
                      </a:lnTo>
                      <a:close/>
                    </a:path>
                  </a:pathLst>
                </a:custGeom>
                <a:solidFill>
                  <a:schemeClr val="accent4"/>
                </a:solidFill>
                <a:ln>
                  <a:noFill/>
                </a:ln>
              </p:spPr>
              <p:txBody>
                <a:bodyPr spcFirstLastPara="1" wrap="square" lIns="91401" tIns="45688" rIns="91401" bIns="45688" anchor="ctr" anchorCtr="0">
                  <a:noAutofit/>
                </a:bodyPr>
                <a:lstStyle/>
                <a:p>
                  <a:pPr defTabSz="914126">
                    <a:buClr>
                      <a:srgbClr val="000000"/>
                    </a:buClr>
                    <a:defRPr/>
                  </a:pPr>
                  <a:endParaRPr sz="1798" kern="0" dirty="0">
                    <a:solidFill>
                      <a:srgbClr val="717074"/>
                    </a:solidFill>
                    <a:latin typeface="Arial" panose="020B0604020202020204" pitchFamily="34" charset="0"/>
                    <a:cs typeface="Arial"/>
                    <a:sym typeface="Arial"/>
                  </a:endParaRPr>
                </a:p>
              </p:txBody>
            </p:sp>
            <p:sp>
              <p:nvSpPr>
                <p:cNvPr id="7093" name="Google Shape;7093;p99">
                  <a:extLst>
                    <a:ext uri="{FF2B5EF4-FFF2-40B4-BE49-F238E27FC236}">
                      <a16:creationId xmlns:a16="http://schemas.microsoft.com/office/drawing/2014/main" id="{323B7538-471F-4B2D-FDF7-A9F4D6A05384}"/>
                    </a:ext>
                  </a:extLst>
                </p:cNvPr>
                <p:cNvSpPr/>
                <p:nvPr/>
              </p:nvSpPr>
              <p:spPr>
                <a:xfrm>
                  <a:off x="2288467" y="992578"/>
                  <a:ext cx="6399396" cy="5298313"/>
                </a:xfrm>
                <a:custGeom>
                  <a:avLst/>
                  <a:gdLst/>
                  <a:ahLst/>
                  <a:cxnLst/>
                  <a:rect l="l" t="t" r="r" b="b"/>
                  <a:pathLst>
                    <a:path w="15072" h="13344" extrusionOk="0">
                      <a:moveTo>
                        <a:pt x="7536" y="688"/>
                      </a:moveTo>
                      <a:lnTo>
                        <a:pt x="7536" y="688"/>
                      </a:lnTo>
                      <a:lnTo>
                        <a:pt x="7597" y="697"/>
                      </a:lnTo>
                      <a:lnTo>
                        <a:pt x="7641" y="706"/>
                      </a:lnTo>
                      <a:lnTo>
                        <a:pt x="7685" y="715"/>
                      </a:lnTo>
                      <a:lnTo>
                        <a:pt x="7729" y="741"/>
                      </a:lnTo>
                      <a:lnTo>
                        <a:pt x="7773" y="777"/>
                      </a:lnTo>
                      <a:lnTo>
                        <a:pt x="7817" y="821"/>
                      </a:lnTo>
                      <a:lnTo>
                        <a:pt x="7862" y="874"/>
                      </a:lnTo>
                      <a:lnTo>
                        <a:pt x="11100" y="6487"/>
                      </a:lnTo>
                      <a:lnTo>
                        <a:pt x="14339" y="12090"/>
                      </a:lnTo>
                      <a:lnTo>
                        <a:pt x="14339" y="12090"/>
                      </a:lnTo>
                      <a:lnTo>
                        <a:pt x="14365" y="12152"/>
                      </a:lnTo>
                      <a:lnTo>
                        <a:pt x="14383" y="12213"/>
                      </a:lnTo>
                      <a:lnTo>
                        <a:pt x="14392" y="12275"/>
                      </a:lnTo>
                      <a:lnTo>
                        <a:pt x="14383" y="12319"/>
                      </a:lnTo>
                      <a:lnTo>
                        <a:pt x="14374" y="12372"/>
                      </a:lnTo>
                      <a:lnTo>
                        <a:pt x="14365" y="12408"/>
                      </a:lnTo>
                      <a:lnTo>
                        <a:pt x="14339" y="12469"/>
                      </a:lnTo>
                      <a:lnTo>
                        <a:pt x="14339" y="12469"/>
                      </a:lnTo>
                      <a:lnTo>
                        <a:pt x="14303" y="12522"/>
                      </a:lnTo>
                      <a:lnTo>
                        <a:pt x="14268" y="12549"/>
                      </a:lnTo>
                      <a:lnTo>
                        <a:pt x="14233" y="12584"/>
                      </a:lnTo>
                      <a:lnTo>
                        <a:pt x="14189" y="12610"/>
                      </a:lnTo>
                      <a:lnTo>
                        <a:pt x="14144" y="12637"/>
                      </a:lnTo>
                      <a:lnTo>
                        <a:pt x="14083" y="12646"/>
                      </a:lnTo>
                      <a:lnTo>
                        <a:pt x="14012" y="12655"/>
                      </a:lnTo>
                      <a:lnTo>
                        <a:pt x="7536" y="12655"/>
                      </a:lnTo>
                      <a:lnTo>
                        <a:pt x="1059" y="12655"/>
                      </a:lnTo>
                      <a:lnTo>
                        <a:pt x="1059" y="12655"/>
                      </a:lnTo>
                      <a:lnTo>
                        <a:pt x="988" y="12646"/>
                      </a:lnTo>
                      <a:lnTo>
                        <a:pt x="935" y="12637"/>
                      </a:lnTo>
                      <a:lnTo>
                        <a:pt x="882" y="12610"/>
                      </a:lnTo>
                      <a:lnTo>
                        <a:pt x="838" y="12584"/>
                      </a:lnTo>
                      <a:lnTo>
                        <a:pt x="803" y="12549"/>
                      </a:lnTo>
                      <a:lnTo>
                        <a:pt x="777" y="12522"/>
                      </a:lnTo>
                      <a:lnTo>
                        <a:pt x="732" y="12469"/>
                      </a:lnTo>
                      <a:lnTo>
                        <a:pt x="732" y="12469"/>
                      </a:lnTo>
                      <a:lnTo>
                        <a:pt x="706" y="12408"/>
                      </a:lnTo>
                      <a:lnTo>
                        <a:pt x="697" y="12372"/>
                      </a:lnTo>
                      <a:lnTo>
                        <a:pt x="688" y="12319"/>
                      </a:lnTo>
                      <a:lnTo>
                        <a:pt x="688" y="12275"/>
                      </a:lnTo>
                      <a:lnTo>
                        <a:pt x="688" y="12213"/>
                      </a:lnTo>
                      <a:lnTo>
                        <a:pt x="706" y="12152"/>
                      </a:lnTo>
                      <a:lnTo>
                        <a:pt x="732" y="12090"/>
                      </a:lnTo>
                      <a:lnTo>
                        <a:pt x="3971" y="6487"/>
                      </a:lnTo>
                      <a:lnTo>
                        <a:pt x="7209" y="874"/>
                      </a:lnTo>
                      <a:lnTo>
                        <a:pt x="7209" y="874"/>
                      </a:lnTo>
                      <a:lnTo>
                        <a:pt x="7254" y="821"/>
                      </a:lnTo>
                      <a:lnTo>
                        <a:pt x="7298" y="777"/>
                      </a:lnTo>
                      <a:lnTo>
                        <a:pt x="7342" y="741"/>
                      </a:lnTo>
                      <a:lnTo>
                        <a:pt x="7386" y="715"/>
                      </a:lnTo>
                      <a:lnTo>
                        <a:pt x="7430" y="706"/>
                      </a:lnTo>
                      <a:lnTo>
                        <a:pt x="7474" y="697"/>
                      </a:lnTo>
                      <a:lnTo>
                        <a:pt x="7536" y="688"/>
                      </a:lnTo>
                      <a:close/>
                      <a:moveTo>
                        <a:pt x="7536" y="0"/>
                      </a:moveTo>
                      <a:lnTo>
                        <a:pt x="7536" y="0"/>
                      </a:lnTo>
                      <a:lnTo>
                        <a:pt x="7404" y="9"/>
                      </a:lnTo>
                      <a:lnTo>
                        <a:pt x="7271" y="35"/>
                      </a:lnTo>
                      <a:lnTo>
                        <a:pt x="7139" y="79"/>
                      </a:lnTo>
                      <a:lnTo>
                        <a:pt x="7024" y="132"/>
                      </a:lnTo>
                      <a:lnTo>
                        <a:pt x="6901" y="212"/>
                      </a:lnTo>
                      <a:lnTo>
                        <a:pt x="6795" y="300"/>
                      </a:lnTo>
                      <a:lnTo>
                        <a:pt x="6698" y="406"/>
                      </a:lnTo>
                      <a:lnTo>
                        <a:pt x="6618" y="530"/>
                      </a:lnTo>
                      <a:lnTo>
                        <a:pt x="3380" y="6142"/>
                      </a:lnTo>
                      <a:lnTo>
                        <a:pt x="141" y="11754"/>
                      </a:lnTo>
                      <a:lnTo>
                        <a:pt x="141" y="11754"/>
                      </a:lnTo>
                      <a:lnTo>
                        <a:pt x="79" y="11887"/>
                      </a:lnTo>
                      <a:lnTo>
                        <a:pt x="35" y="12019"/>
                      </a:lnTo>
                      <a:lnTo>
                        <a:pt x="9" y="12160"/>
                      </a:lnTo>
                      <a:lnTo>
                        <a:pt x="0" y="12293"/>
                      </a:lnTo>
                      <a:lnTo>
                        <a:pt x="9" y="12434"/>
                      </a:lnTo>
                      <a:lnTo>
                        <a:pt x="35" y="12566"/>
                      </a:lnTo>
                      <a:lnTo>
                        <a:pt x="79" y="12690"/>
                      </a:lnTo>
                      <a:lnTo>
                        <a:pt x="141" y="12813"/>
                      </a:lnTo>
                      <a:lnTo>
                        <a:pt x="221" y="12919"/>
                      </a:lnTo>
                      <a:lnTo>
                        <a:pt x="300" y="13025"/>
                      </a:lnTo>
                      <a:lnTo>
                        <a:pt x="406" y="13114"/>
                      </a:lnTo>
                      <a:lnTo>
                        <a:pt x="512" y="13193"/>
                      </a:lnTo>
                      <a:lnTo>
                        <a:pt x="635" y="13255"/>
                      </a:lnTo>
                      <a:lnTo>
                        <a:pt x="768" y="13299"/>
                      </a:lnTo>
                      <a:lnTo>
                        <a:pt x="909" y="13334"/>
                      </a:lnTo>
                      <a:lnTo>
                        <a:pt x="1059" y="13343"/>
                      </a:lnTo>
                      <a:lnTo>
                        <a:pt x="7536" y="13343"/>
                      </a:lnTo>
                      <a:lnTo>
                        <a:pt x="14012" y="13343"/>
                      </a:lnTo>
                      <a:lnTo>
                        <a:pt x="14012" y="13343"/>
                      </a:lnTo>
                      <a:lnTo>
                        <a:pt x="14162" y="13334"/>
                      </a:lnTo>
                      <a:lnTo>
                        <a:pt x="14303" y="13299"/>
                      </a:lnTo>
                      <a:lnTo>
                        <a:pt x="14436" y="13255"/>
                      </a:lnTo>
                      <a:lnTo>
                        <a:pt x="14559" y="13193"/>
                      </a:lnTo>
                      <a:lnTo>
                        <a:pt x="14665" y="13114"/>
                      </a:lnTo>
                      <a:lnTo>
                        <a:pt x="14771" y="13025"/>
                      </a:lnTo>
                      <a:lnTo>
                        <a:pt x="14859" y="12919"/>
                      </a:lnTo>
                      <a:lnTo>
                        <a:pt x="14930" y="12813"/>
                      </a:lnTo>
                      <a:lnTo>
                        <a:pt x="14992" y="12690"/>
                      </a:lnTo>
                      <a:lnTo>
                        <a:pt x="15036" y="12566"/>
                      </a:lnTo>
                      <a:lnTo>
                        <a:pt x="15062" y="12434"/>
                      </a:lnTo>
                      <a:lnTo>
                        <a:pt x="15071" y="12293"/>
                      </a:lnTo>
                      <a:lnTo>
                        <a:pt x="15062" y="12160"/>
                      </a:lnTo>
                      <a:lnTo>
                        <a:pt x="15045" y="12019"/>
                      </a:lnTo>
                      <a:lnTo>
                        <a:pt x="14992" y="11887"/>
                      </a:lnTo>
                      <a:lnTo>
                        <a:pt x="14930" y="11754"/>
                      </a:lnTo>
                      <a:lnTo>
                        <a:pt x="11691" y="6142"/>
                      </a:lnTo>
                      <a:lnTo>
                        <a:pt x="8453" y="530"/>
                      </a:lnTo>
                      <a:lnTo>
                        <a:pt x="8453" y="530"/>
                      </a:lnTo>
                      <a:lnTo>
                        <a:pt x="8373" y="406"/>
                      </a:lnTo>
                      <a:lnTo>
                        <a:pt x="8276" y="300"/>
                      </a:lnTo>
                      <a:lnTo>
                        <a:pt x="8170" y="212"/>
                      </a:lnTo>
                      <a:lnTo>
                        <a:pt x="8056" y="132"/>
                      </a:lnTo>
                      <a:lnTo>
                        <a:pt x="7932" y="79"/>
                      </a:lnTo>
                      <a:lnTo>
                        <a:pt x="7800" y="35"/>
                      </a:lnTo>
                      <a:lnTo>
                        <a:pt x="7667" y="9"/>
                      </a:lnTo>
                      <a:lnTo>
                        <a:pt x="7536" y="0"/>
                      </a:lnTo>
                      <a:close/>
                    </a:path>
                  </a:pathLst>
                </a:custGeom>
                <a:solidFill>
                  <a:schemeClr val="accent4"/>
                </a:solidFill>
                <a:ln>
                  <a:noFill/>
                </a:ln>
              </p:spPr>
              <p:txBody>
                <a:bodyPr spcFirstLastPara="1" wrap="square" lIns="91401" tIns="45688" rIns="91401" bIns="45688" anchor="ctr" anchorCtr="0">
                  <a:noAutofit/>
                </a:bodyPr>
                <a:lstStyle/>
                <a:p>
                  <a:pPr defTabSz="914126">
                    <a:buClr>
                      <a:srgbClr val="000000"/>
                    </a:buClr>
                    <a:defRPr/>
                  </a:pPr>
                  <a:endParaRPr sz="1798" kern="0" dirty="0">
                    <a:solidFill>
                      <a:srgbClr val="717074"/>
                    </a:solidFill>
                    <a:latin typeface="Arial" panose="020B0604020202020204" pitchFamily="34" charset="0"/>
                    <a:cs typeface="Arial"/>
                    <a:sym typeface="Arial"/>
                  </a:endParaRPr>
                </a:p>
              </p:txBody>
            </p:sp>
          </p:grpSp>
        </p:grpSp>
      </p:grpSp>
      <p:grpSp>
        <p:nvGrpSpPr>
          <p:cNvPr id="7094" name="Google Shape;7094;p99">
            <a:extLst>
              <a:ext uri="{FF2B5EF4-FFF2-40B4-BE49-F238E27FC236}">
                <a16:creationId xmlns:a16="http://schemas.microsoft.com/office/drawing/2014/main" id="{CEA42EEE-C39E-DB85-9188-AA42B3D426EC}"/>
              </a:ext>
            </a:extLst>
          </p:cNvPr>
          <p:cNvGrpSpPr/>
          <p:nvPr/>
        </p:nvGrpSpPr>
        <p:grpSpPr>
          <a:xfrm>
            <a:off x="9688415" y="2620263"/>
            <a:ext cx="358695" cy="358695"/>
            <a:chOff x="10266121" y="2463033"/>
            <a:chExt cx="411304" cy="411304"/>
          </a:xfrm>
        </p:grpSpPr>
        <p:sp>
          <p:nvSpPr>
            <p:cNvPr id="7095" name="Google Shape;7095;p99">
              <a:extLst>
                <a:ext uri="{FF2B5EF4-FFF2-40B4-BE49-F238E27FC236}">
                  <a16:creationId xmlns:a16="http://schemas.microsoft.com/office/drawing/2014/main" id="{D566246C-5038-CB6E-65FA-7F99DE945D85}"/>
                </a:ext>
              </a:extLst>
            </p:cNvPr>
            <p:cNvSpPr/>
            <p:nvPr/>
          </p:nvSpPr>
          <p:spPr>
            <a:xfrm>
              <a:off x="10266121" y="2463033"/>
              <a:ext cx="411304" cy="411304"/>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01" tIns="45688" rIns="91401" bIns="45688" anchor="ctr" anchorCtr="0">
              <a:noAutofit/>
            </a:bodyPr>
            <a:lstStyle/>
            <a:p>
              <a:pPr algn="ctr" defTabSz="914126">
                <a:buClr>
                  <a:srgbClr val="000000"/>
                </a:buClr>
                <a:defRPr/>
              </a:pPr>
              <a:endParaRPr sz="1000" kern="0" dirty="0">
                <a:solidFill>
                  <a:srgbClr val="FFFFFF"/>
                </a:solidFill>
                <a:latin typeface="Arial" panose="020B0604020202020204" pitchFamily="34" charset="0"/>
                <a:cs typeface="Arial"/>
                <a:sym typeface="Arial"/>
              </a:endParaRPr>
            </a:p>
          </p:txBody>
        </p:sp>
        <p:pic>
          <p:nvPicPr>
            <p:cNvPr id="7096" name="Google Shape;7096;p99">
              <a:extLst>
                <a:ext uri="{FF2B5EF4-FFF2-40B4-BE49-F238E27FC236}">
                  <a16:creationId xmlns:a16="http://schemas.microsoft.com/office/drawing/2014/main" id="{D3DD5836-7193-3918-40CE-70B9DB9DE18E}"/>
                </a:ext>
              </a:extLst>
            </p:cNvPr>
            <p:cNvPicPr preferRelativeResize="0"/>
            <p:nvPr/>
          </p:nvPicPr>
          <p:blipFill rotWithShape="1">
            <a:blip r:embed="rId9">
              <a:alphaModFix/>
            </a:blip>
            <a:srcRect/>
            <a:stretch/>
          </p:blipFill>
          <p:spPr>
            <a:xfrm>
              <a:off x="10328982" y="2527047"/>
              <a:ext cx="285583" cy="283277"/>
            </a:xfrm>
            <a:prstGeom prst="rect">
              <a:avLst/>
            </a:prstGeom>
            <a:noFill/>
            <a:ln>
              <a:noFill/>
            </a:ln>
          </p:spPr>
        </p:pic>
      </p:grpSp>
      <p:grpSp>
        <p:nvGrpSpPr>
          <p:cNvPr id="7097" name="Google Shape;7097;p99">
            <a:extLst>
              <a:ext uri="{FF2B5EF4-FFF2-40B4-BE49-F238E27FC236}">
                <a16:creationId xmlns:a16="http://schemas.microsoft.com/office/drawing/2014/main" id="{4DE4E04D-3AD3-3CB2-0E1B-5B5151884D46}"/>
              </a:ext>
            </a:extLst>
          </p:cNvPr>
          <p:cNvGrpSpPr/>
          <p:nvPr/>
        </p:nvGrpSpPr>
        <p:grpSpPr>
          <a:xfrm>
            <a:off x="9657593" y="5161869"/>
            <a:ext cx="358695" cy="358695"/>
            <a:chOff x="10266121" y="2463033"/>
            <a:chExt cx="411304" cy="411304"/>
          </a:xfrm>
        </p:grpSpPr>
        <p:sp>
          <p:nvSpPr>
            <p:cNvPr id="7098" name="Google Shape;7098;p99">
              <a:extLst>
                <a:ext uri="{FF2B5EF4-FFF2-40B4-BE49-F238E27FC236}">
                  <a16:creationId xmlns:a16="http://schemas.microsoft.com/office/drawing/2014/main" id="{99F0BF57-BFB6-FFCA-A736-5CE9F389831A}"/>
                </a:ext>
              </a:extLst>
            </p:cNvPr>
            <p:cNvSpPr/>
            <p:nvPr/>
          </p:nvSpPr>
          <p:spPr>
            <a:xfrm>
              <a:off x="10266121" y="2463033"/>
              <a:ext cx="411304" cy="411304"/>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01" tIns="45688" rIns="91401" bIns="45688" anchor="ctr" anchorCtr="0">
              <a:noAutofit/>
            </a:bodyPr>
            <a:lstStyle/>
            <a:p>
              <a:pPr algn="ctr" defTabSz="914126">
                <a:buClr>
                  <a:srgbClr val="000000"/>
                </a:buClr>
                <a:defRPr/>
              </a:pPr>
              <a:endParaRPr sz="1000" kern="0" dirty="0">
                <a:solidFill>
                  <a:srgbClr val="FFFFFF"/>
                </a:solidFill>
                <a:latin typeface="Arial" panose="020B0604020202020204" pitchFamily="34" charset="0"/>
                <a:cs typeface="Arial"/>
                <a:sym typeface="Arial"/>
              </a:endParaRPr>
            </a:p>
          </p:txBody>
        </p:sp>
        <p:pic>
          <p:nvPicPr>
            <p:cNvPr id="7099" name="Google Shape;7099;p99">
              <a:extLst>
                <a:ext uri="{FF2B5EF4-FFF2-40B4-BE49-F238E27FC236}">
                  <a16:creationId xmlns:a16="http://schemas.microsoft.com/office/drawing/2014/main" id="{9361AA2E-F842-2474-B19A-6B7588272D8A}"/>
                </a:ext>
              </a:extLst>
            </p:cNvPr>
            <p:cNvPicPr preferRelativeResize="0"/>
            <p:nvPr/>
          </p:nvPicPr>
          <p:blipFill rotWithShape="1">
            <a:blip r:embed="rId10">
              <a:alphaModFix/>
            </a:blip>
            <a:srcRect/>
            <a:stretch/>
          </p:blipFill>
          <p:spPr>
            <a:xfrm>
              <a:off x="10331847" y="2529888"/>
              <a:ext cx="279853" cy="277595"/>
            </a:xfrm>
            <a:prstGeom prst="rect">
              <a:avLst/>
            </a:prstGeom>
            <a:noFill/>
            <a:ln>
              <a:noFill/>
            </a:ln>
          </p:spPr>
        </p:pic>
      </p:grpSp>
    </p:spTree>
    <p:extLst>
      <p:ext uri="{BB962C8B-B14F-4D97-AF65-F5344CB8AC3E}">
        <p14:creationId xmlns:p14="http://schemas.microsoft.com/office/powerpoint/2010/main" val="1221376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080"/>
                                        </p:tgtEl>
                                        <p:attrNameLst>
                                          <p:attrName>style.visibility</p:attrName>
                                        </p:attrNameLst>
                                      </p:cBhvr>
                                      <p:to>
                                        <p:strVal val="visible"/>
                                      </p:to>
                                    </p:set>
                                    <p:animEffect transition="in" filter="fade">
                                      <p:cBhvr>
                                        <p:cTn id="7" dur="500"/>
                                        <p:tgtEl>
                                          <p:spTgt spid="708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083"/>
                                        </p:tgtEl>
                                        <p:attrNameLst>
                                          <p:attrName>style.visibility</p:attrName>
                                        </p:attrNameLst>
                                      </p:cBhvr>
                                      <p:to>
                                        <p:strVal val="visible"/>
                                      </p:to>
                                    </p:set>
                                    <p:animEffect transition="in" filter="fade">
                                      <p:cBhvr>
                                        <p:cTn id="11" dur="500"/>
                                        <p:tgtEl>
                                          <p:spTgt spid="708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087"/>
                                        </p:tgtEl>
                                        <p:attrNameLst>
                                          <p:attrName>style.visibility</p:attrName>
                                        </p:attrNameLst>
                                      </p:cBhvr>
                                      <p:to>
                                        <p:strVal val="visible"/>
                                      </p:to>
                                    </p:set>
                                    <p:animEffect transition="in" filter="fade">
                                      <p:cBhvr>
                                        <p:cTn id="15" dur="500"/>
                                        <p:tgtEl>
                                          <p:spTgt spid="7087"/>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7077"/>
                                        </p:tgtEl>
                                        <p:attrNameLst>
                                          <p:attrName>style.visibility</p:attrName>
                                        </p:attrNameLst>
                                      </p:cBhvr>
                                      <p:to>
                                        <p:strVal val="visible"/>
                                      </p:to>
                                    </p:set>
                                    <p:animEffect transition="in" filter="fade">
                                      <p:cBhvr>
                                        <p:cTn id="19" dur="500"/>
                                        <p:tgtEl>
                                          <p:spTgt spid="7077"/>
                                        </p:tgtEl>
                                      </p:cBhvr>
                                    </p:animEffect>
                                  </p:childTnLst>
                                </p:cTn>
                              </p:par>
                            </p:childTnLst>
                          </p:cTn>
                        </p:par>
                        <p:par>
                          <p:cTn id="20" fill="hold">
                            <p:stCondLst>
                              <p:cond delay="2000"/>
                            </p:stCondLst>
                            <p:childTnLst>
                              <p:par>
                                <p:cTn id="21" presetID="10" presetClass="entr" presetSubtype="0" fill="hold" nodeType="afterEffect">
                                  <p:stCondLst>
                                    <p:cond delay="1000"/>
                                  </p:stCondLst>
                                  <p:childTnLst>
                                    <p:set>
                                      <p:cBhvr>
                                        <p:cTn id="22" dur="1" fill="hold">
                                          <p:stCondLst>
                                            <p:cond delay="0"/>
                                          </p:stCondLst>
                                        </p:cTn>
                                        <p:tgtEl>
                                          <p:spTgt spid="7081"/>
                                        </p:tgtEl>
                                        <p:attrNameLst>
                                          <p:attrName>style.visibility</p:attrName>
                                        </p:attrNameLst>
                                      </p:cBhvr>
                                      <p:to>
                                        <p:strVal val="visible"/>
                                      </p:to>
                                    </p:set>
                                    <p:animEffect transition="in" filter="fade">
                                      <p:cBhvr>
                                        <p:cTn id="23" dur="500"/>
                                        <p:tgtEl>
                                          <p:spTgt spid="7081"/>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7082"/>
                                        </p:tgtEl>
                                        <p:attrNameLst>
                                          <p:attrName>style.visibility</p:attrName>
                                        </p:attrNameLst>
                                      </p:cBhvr>
                                      <p:to>
                                        <p:strVal val="visible"/>
                                      </p:to>
                                    </p:set>
                                    <p:animEffect transition="in" filter="fade">
                                      <p:cBhvr>
                                        <p:cTn id="27" dur="500"/>
                                        <p:tgtEl>
                                          <p:spTgt spid="7082"/>
                                        </p:tgtEl>
                                      </p:cBhvr>
                                    </p:animEffect>
                                  </p:childTnLst>
                                </p:cTn>
                              </p:par>
                              <p:par>
                                <p:cTn id="28" presetID="10" presetClass="entr" presetSubtype="0" fill="hold" nodeType="withEffect">
                                  <p:stCondLst>
                                    <p:cond delay="0"/>
                                  </p:stCondLst>
                                  <p:childTnLst>
                                    <p:set>
                                      <p:cBhvr>
                                        <p:cTn id="29" dur="1" fill="hold">
                                          <p:stCondLst>
                                            <p:cond delay="0"/>
                                          </p:stCondLst>
                                        </p:cTn>
                                        <p:tgtEl>
                                          <p:spTgt spid="7097"/>
                                        </p:tgtEl>
                                        <p:attrNameLst>
                                          <p:attrName>style.visibility</p:attrName>
                                        </p:attrNameLst>
                                      </p:cBhvr>
                                      <p:to>
                                        <p:strVal val="visible"/>
                                      </p:to>
                                    </p:set>
                                    <p:animEffect transition="in" filter="fade">
                                      <p:cBhvr>
                                        <p:cTn id="30" dur="500"/>
                                        <p:tgtEl>
                                          <p:spTgt spid="7097"/>
                                        </p:tgtEl>
                                      </p:cBhvr>
                                    </p:animEffect>
                                  </p:childTnLst>
                                </p:cTn>
                              </p:par>
                            </p:childTnLst>
                          </p:cTn>
                        </p:par>
                        <p:par>
                          <p:cTn id="31" fill="hold">
                            <p:stCondLst>
                              <p:cond delay="3000"/>
                            </p:stCondLst>
                            <p:childTnLst>
                              <p:par>
                                <p:cTn id="32" presetID="8" presetClass="emph" presetSubtype="0" fill="hold" nodeType="afterEffect">
                                  <p:stCondLst>
                                    <p:cond delay="0"/>
                                  </p:stCondLst>
                                  <p:childTnLst>
                                    <p:animRot by="-21600000">
                                      <p:cBhvr>
                                        <p:cTn id="33" dur="2000" fill="hold"/>
                                        <p:tgtEl>
                                          <p:spTgt spid="709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880C6-560E-5F17-34AF-90ADDD9FB1A5}"/>
            </a:ext>
          </a:extLst>
        </p:cNvPr>
        <p:cNvGrpSpPr/>
        <p:nvPr/>
      </p:nvGrpSpPr>
      <p:grpSpPr>
        <a:xfrm>
          <a:off x="0" y="0"/>
          <a:ext cx="0" cy="0"/>
          <a:chOff x="0" y="0"/>
          <a:chExt cx="0" cy="0"/>
        </a:xfrm>
      </p:grpSpPr>
      <p:sp>
        <p:nvSpPr>
          <p:cNvPr id="5" name="Google Shape;1494;g34bdd25f43a_0_12732">
            <a:extLst>
              <a:ext uri="{FF2B5EF4-FFF2-40B4-BE49-F238E27FC236}">
                <a16:creationId xmlns:a16="http://schemas.microsoft.com/office/drawing/2014/main" id="{4FA1E52A-79FD-282F-AEEA-9E83EAF0329A}"/>
              </a:ext>
            </a:extLst>
          </p:cNvPr>
          <p:cNvSpPr/>
          <p:nvPr/>
        </p:nvSpPr>
        <p:spPr>
          <a:xfrm flipH="1">
            <a:off x="8380411" y="1671972"/>
            <a:ext cx="3809999" cy="5186029"/>
          </a:xfrm>
          <a:prstGeom prst="rect">
            <a:avLst/>
          </a:prstGeom>
          <a:gradFill flip="none" rotWithShape="1">
            <a:gsLst>
              <a:gs pos="0">
                <a:srgbClr val="E8F0F4">
                  <a:alpha val="80000"/>
                </a:srgbClr>
              </a:gs>
              <a:gs pos="15000">
                <a:srgbClr val="E8F0F4">
                  <a:alpha val="45000"/>
                </a:srgbClr>
              </a:gs>
              <a:gs pos="67000">
                <a:srgbClr val="E8F0F4">
                  <a:alpha val="0"/>
                </a:srgbClr>
              </a:gs>
            </a:gsLst>
            <a:lin ang="5400000" scaled="1"/>
            <a:tileRect/>
          </a:gradFill>
          <a:ln>
            <a:noFill/>
          </a:ln>
        </p:spPr>
        <p:txBody>
          <a:bodyPr spcFirstLastPara="1" wrap="square" lIns="91325" tIns="45650" rIns="91325" bIns="45650" anchor="ctr" anchorCtr="0">
            <a:noAutofit/>
          </a:bodyPr>
          <a:lstStyle/>
          <a:p>
            <a:pPr algn="ctr">
              <a:buClr>
                <a:srgbClr val="000000"/>
              </a:buClr>
              <a:buSzPts val="1200"/>
            </a:pPr>
            <a:endParaRPr sz="1100">
              <a:solidFill>
                <a:srgbClr val="FFFFFF"/>
              </a:solidFill>
              <a:latin typeface="Arial"/>
              <a:ea typeface="Arial"/>
              <a:cs typeface="Arial"/>
              <a:sym typeface="Arial"/>
            </a:endParaRPr>
          </a:p>
        </p:txBody>
      </p:sp>
      <p:sp>
        <p:nvSpPr>
          <p:cNvPr id="8" name="Google Shape;1292;p6">
            <a:extLst>
              <a:ext uri="{FF2B5EF4-FFF2-40B4-BE49-F238E27FC236}">
                <a16:creationId xmlns:a16="http://schemas.microsoft.com/office/drawing/2014/main" id="{19007C49-3FF2-55B8-AED0-60EB6D4BBCFD}"/>
              </a:ext>
            </a:extLst>
          </p:cNvPr>
          <p:cNvSpPr/>
          <p:nvPr/>
        </p:nvSpPr>
        <p:spPr>
          <a:xfrm>
            <a:off x="8066" y="1612253"/>
            <a:ext cx="8131281" cy="4570809"/>
          </a:xfrm>
          <a:prstGeom prst="roundRect">
            <a:avLst>
              <a:gd name="adj" fmla="val 0"/>
            </a:avLst>
          </a:prstGeom>
          <a:solidFill>
            <a:srgbClr val="F4F8FA"/>
          </a:solidFill>
          <a:ln>
            <a:noFill/>
          </a:ln>
        </p:spPr>
        <p:txBody>
          <a:bodyPr spcFirstLastPara="1" wrap="square" lIns="91401" tIns="45688" rIns="91401" bIns="45688" anchor="ctr" anchorCtr="0">
            <a:noAutofit/>
          </a:bodyPr>
          <a:lstStyle/>
          <a:p>
            <a:pPr algn="ctr" defTabSz="914126">
              <a:buClr>
                <a:srgbClr val="FFFFFF"/>
              </a:buClr>
              <a:buSzPts val="1000"/>
            </a:pPr>
            <a:endParaRPr sz="1000">
              <a:solidFill>
                <a:srgbClr val="000000"/>
              </a:solidFill>
              <a:latin typeface="Arial"/>
              <a:ea typeface="Arial"/>
              <a:cs typeface="Arial"/>
              <a:sym typeface="Arial"/>
            </a:endParaRPr>
          </a:p>
        </p:txBody>
      </p:sp>
      <p:sp>
        <p:nvSpPr>
          <p:cNvPr id="2" name="Title 1">
            <a:extLst>
              <a:ext uri="{FF2B5EF4-FFF2-40B4-BE49-F238E27FC236}">
                <a16:creationId xmlns:a16="http://schemas.microsoft.com/office/drawing/2014/main" id="{198D4FDF-DA92-722D-CC97-43E685C6074C}"/>
              </a:ext>
            </a:extLst>
          </p:cNvPr>
          <p:cNvSpPr>
            <a:spLocks noGrp="1"/>
          </p:cNvSpPr>
          <p:nvPr>
            <p:ph type="title"/>
          </p:nvPr>
        </p:nvSpPr>
        <p:spPr/>
        <p:txBody>
          <a:bodyPr/>
          <a:lstStyle/>
          <a:p>
            <a:r>
              <a:rPr lang="en-US" dirty="0"/>
              <a:t>VCF Download Tool for Disconnected Sites</a:t>
            </a:r>
          </a:p>
        </p:txBody>
      </p:sp>
      <p:sp>
        <p:nvSpPr>
          <p:cNvPr id="3" name="Subtitle 2">
            <a:extLst>
              <a:ext uri="{FF2B5EF4-FFF2-40B4-BE49-F238E27FC236}">
                <a16:creationId xmlns:a16="http://schemas.microsoft.com/office/drawing/2014/main" id="{6FAA90B6-15B0-2002-43A2-83D994931FEB}"/>
              </a:ext>
            </a:extLst>
          </p:cNvPr>
          <p:cNvSpPr>
            <a:spLocks noGrp="1"/>
          </p:cNvSpPr>
          <p:nvPr>
            <p:ph type="subTitle" idx="10"/>
          </p:nvPr>
        </p:nvSpPr>
        <p:spPr/>
        <p:txBody>
          <a:bodyPr/>
          <a:lstStyle/>
          <a:p>
            <a:r>
              <a:rPr lang="en-US"/>
              <a:t>Command-line utility supports new, enhanced offline depot and binary transfer scenarios</a:t>
            </a:r>
            <a:endParaRPr lang="en-US" dirty="0"/>
          </a:p>
        </p:txBody>
      </p:sp>
      <p:sp>
        <p:nvSpPr>
          <p:cNvPr id="4" name="Text Placeholder 3">
            <a:extLst>
              <a:ext uri="{FF2B5EF4-FFF2-40B4-BE49-F238E27FC236}">
                <a16:creationId xmlns:a16="http://schemas.microsoft.com/office/drawing/2014/main" id="{EA5CF29E-2313-C49E-70EB-0C827D19DEBA}"/>
              </a:ext>
            </a:extLst>
          </p:cNvPr>
          <p:cNvSpPr>
            <a:spLocks noGrp="1"/>
          </p:cNvSpPr>
          <p:nvPr>
            <p:ph type="body" sz="quarter" idx="17"/>
          </p:nvPr>
        </p:nvSpPr>
        <p:spPr>
          <a:xfrm>
            <a:off x="8609013" y="1600200"/>
            <a:ext cx="3808412" cy="4572000"/>
          </a:xfrm>
        </p:spPr>
        <p:txBody>
          <a:bodyPr/>
          <a:lstStyle/>
          <a:p>
            <a:r>
              <a:rPr lang="en-US" dirty="0"/>
              <a:t>New binary download tool</a:t>
            </a:r>
          </a:p>
          <a:p>
            <a:pPr lvl="1"/>
            <a:r>
              <a:rPr lang="en-US" dirty="0"/>
              <a:t>Supports VCF 9+</a:t>
            </a:r>
          </a:p>
          <a:p>
            <a:pPr lvl="1"/>
            <a:r>
              <a:rPr lang="en-US" dirty="0"/>
              <a:t>Integrates infrastructure bundles and UMDS host patches</a:t>
            </a:r>
          </a:p>
          <a:p>
            <a:r>
              <a:rPr lang="en-US" dirty="0"/>
              <a:t>Essential for disconnected sites</a:t>
            </a:r>
          </a:p>
          <a:p>
            <a:pPr lvl="1"/>
            <a:r>
              <a:rPr lang="en-US" dirty="0"/>
              <a:t>Initial VCF installation</a:t>
            </a:r>
          </a:p>
          <a:p>
            <a:pPr lvl="1"/>
            <a:r>
              <a:rPr lang="en-US" dirty="0"/>
              <a:t>Ongoing lifecycle management</a:t>
            </a:r>
          </a:p>
          <a:p>
            <a:r>
              <a:rPr lang="en-US" dirty="0"/>
              <a:t>VCF 5.x and below continue to use the original OBTU tool</a:t>
            </a:r>
          </a:p>
        </p:txBody>
      </p:sp>
      <p:pic>
        <p:nvPicPr>
          <p:cNvPr id="6" name="Content Placeholder 5">
            <a:extLst>
              <a:ext uri="{FF2B5EF4-FFF2-40B4-BE49-F238E27FC236}">
                <a16:creationId xmlns:a16="http://schemas.microsoft.com/office/drawing/2014/main" id="{2E699500-CF3D-B27E-6FFB-1D6D56F01104}"/>
              </a:ext>
            </a:extLst>
          </p:cNvPr>
          <p:cNvPicPr>
            <a:picLocks noGrp="1" noChangeAspect="1"/>
          </p:cNvPicPr>
          <p:nvPr>
            <p:ph sz="quarter" idx="14"/>
          </p:nvPr>
        </p:nvPicPr>
        <p:blipFill>
          <a:blip r:embed="rId3"/>
          <a:stretch>
            <a:fillRect/>
          </a:stretch>
        </p:blipFill>
        <p:spPr>
          <a:xfrm>
            <a:off x="652106" y="2227295"/>
            <a:ext cx="7279439" cy="2624838"/>
          </a:xfrm>
          <a:prstGeom prst="rect">
            <a:avLst/>
          </a:prstGeom>
        </p:spPr>
      </p:pic>
      <p:sp>
        <p:nvSpPr>
          <p:cNvPr id="11" name="Rounded Rectangle 10">
            <a:extLst>
              <a:ext uri="{FF2B5EF4-FFF2-40B4-BE49-F238E27FC236}">
                <a16:creationId xmlns:a16="http://schemas.microsoft.com/office/drawing/2014/main" id="{F3B8634B-9F3F-0F9F-3746-3D0406C8B981}"/>
              </a:ext>
            </a:extLst>
          </p:cNvPr>
          <p:cNvSpPr/>
          <p:nvPr/>
        </p:nvSpPr>
        <p:spPr bwMode="gray">
          <a:xfrm>
            <a:off x="594300" y="2163969"/>
            <a:ext cx="7398906" cy="2683662"/>
          </a:xfrm>
          <a:prstGeom prst="roundRect">
            <a:avLst>
              <a:gd name="adj" fmla="val 5089"/>
            </a:avLst>
          </a:prstGeom>
          <a:noFill/>
          <a:ln w="127000">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defTabSz="914126"/>
            <a:endParaRPr lang="en-US" sz="1799" dirty="0">
              <a:solidFill>
                <a:srgbClr val="FFFFFF"/>
              </a:solidFill>
              <a:latin typeface="Arial" panose="020B0604020202020204"/>
            </a:endParaRPr>
          </a:p>
        </p:txBody>
      </p:sp>
    </p:spTree>
    <p:extLst>
      <p:ext uri="{BB962C8B-B14F-4D97-AF65-F5344CB8AC3E}">
        <p14:creationId xmlns:p14="http://schemas.microsoft.com/office/powerpoint/2010/main" val="2539870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5877"/>
        <p:cNvGrpSpPr/>
        <p:nvPr/>
      </p:nvGrpSpPr>
      <p:grpSpPr>
        <a:xfrm>
          <a:off x="0" y="0"/>
          <a:ext cx="0" cy="0"/>
          <a:chOff x="0" y="0"/>
          <a:chExt cx="0" cy="0"/>
        </a:xfrm>
      </p:grpSpPr>
      <p:sp>
        <p:nvSpPr>
          <p:cNvPr id="5878" name="Google Shape;5878;p70"/>
          <p:cNvSpPr txBox="1">
            <a:spLocks noGrp="1"/>
          </p:cNvSpPr>
          <p:nvPr>
            <p:ph type="title"/>
          </p:nvPr>
        </p:nvSpPr>
        <p:spPr>
          <a:xfrm>
            <a:off x="589107" y="938794"/>
            <a:ext cx="6555971" cy="1229360"/>
          </a:xfrm>
        </p:spPr>
        <p:txBody>
          <a:bodyPr spcFirstLastPara="1" wrap="square" lIns="0" tIns="0" rIns="0" bIns="0" anchor="b" anchorCtr="0">
            <a:normAutofit/>
          </a:bodyPr>
          <a:lstStyle/>
          <a:p>
            <a:pPr marL="0" lvl="0" indent="0" rtl="0">
              <a:spcBef>
                <a:spcPts val="0"/>
              </a:spcBef>
              <a:spcAft>
                <a:spcPts val="0"/>
              </a:spcAft>
              <a:buClr>
                <a:schemeClr val="accent2"/>
              </a:buClr>
              <a:buSzPts val="3600"/>
              <a:buFont typeface="Arial"/>
              <a:buNone/>
            </a:pPr>
            <a:r>
              <a:rPr lang="en-US" dirty="0"/>
              <a:t>Modernize Infrastructure</a:t>
            </a:r>
            <a:br>
              <a:rPr lang="en-US" dirty="0"/>
            </a:br>
            <a:r>
              <a:rPr lang="en-US" dirty="0"/>
              <a:t>Private Cloud Operations</a:t>
            </a:r>
          </a:p>
        </p:txBody>
      </p:sp>
      <p:sp>
        <p:nvSpPr>
          <p:cNvPr id="5879" name="Google Shape;5879;p70"/>
          <p:cNvSpPr txBox="1">
            <a:spLocks noGrp="1"/>
          </p:cNvSpPr>
          <p:nvPr>
            <p:ph type="subTitle" idx="10"/>
          </p:nvPr>
        </p:nvSpPr>
        <p:spPr>
          <a:xfrm>
            <a:off x="602966" y="2267712"/>
            <a:ext cx="6542112" cy="700882"/>
          </a:xfrm>
        </p:spPr>
        <p:txBody>
          <a:bodyPr spcFirstLastPara="1" lIns="0" tIns="0" rIns="0" bIns="0" anchorCtr="0">
            <a:normAutofit/>
          </a:bodyPr>
          <a:lstStyle/>
          <a:p>
            <a:pPr marL="0" lvl="0" indent="0" rtl="0">
              <a:spcBef>
                <a:spcPts val="0"/>
              </a:spcBef>
              <a:spcAft>
                <a:spcPts val="600"/>
              </a:spcAft>
              <a:buSzPts val="2160"/>
              <a:buNone/>
            </a:pPr>
            <a:r>
              <a:rPr lang="en-US" dirty="0"/>
              <a:t>VCF OPERATIONS</a:t>
            </a:r>
            <a:endParaRPr lang="en-AU" dirty="0"/>
          </a:p>
        </p:txBody>
      </p:sp>
    </p:spTree>
    <p:extLst>
      <p:ext uri="{BB962C8B-B14F-4D97-AF65-F5344CB8AC3E}">
        <p14:creationId xmlns:p14="http://schemas.microsoft.com/office/powerpoint/2010/main" val="4089927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2854">
          <a:extLst>
            <a:ext uri="{FF2B5EF4-FFF2-40B4-BE49-F238E27FC236}">
              <a16:creationId xmlns:a16="http://schemas.microsoft.com/office/drawing/2014/main" id="{DA4105A7-7B24-4D7D-F6BB-187D497F445E}"/>
            </a:ext>
          </a:extLst>
        </p:cNvPr>
        <p:cNvGrpSpPr/>
        <p:nvPr/>
      </p:nvGrpSpPr>
      <p:grpSpPr>
        <a:xfrm>
          <a:off x="0" y="0"/>
          <a:ext cx="0" cy="0"/>
          <a:chOff x="0" y="0"/>
          <a:chExt cx="0" cy="0"/>
        </a:xfrm>
      </p:grpSpPr>
      <p:sp>
        <p:nvSpPr>
          <p:cNvPr id="2857" name="Google Shape;2857;p26">
            <a:extLst>
              <a:ext uri="{FF2B5EF4-FFF2-40B4-BE49-F238E27FC236}">
                <a16:creationId xmlns:a16="http://schemas.microsoft.com/office/drawing/2014/main" id="{14E1D11C-B6FA-3413-F0C1-8531D04D91C6}"/>
              </a:ext>
            </a:extLst>
          </p:cNvPr>
          <p:cNvSpPr/>
          <p:nvPr/>
        </p:nvSpPr>
        <p:spPr>
          <a:xfrm>
            <a:off x="726" y="1408070"/>
            <a:ext cx="12170677" cy="4701027"/>
          </a:xfrm>
          <a:custGeom>
            <a:avLst/>
            <a:gdLst/>
            <a:ahLst/>
            <a:cxnLst/>
            <a:rect l="l" t="t" r="r" b="b"/>
            <a:pathLst>
              <a:path w="3672840" h="3488576" extrusionOk="0">
                <a:moveTo>
                  <a:pt x="0" y="0"/>
                </a:moveTo>
                <a:lnTo>
                  <a:pt x="3672840" y="0"/>
                </a:lnTo>
                <a:lnTo>
                  <a:pt x="3672840" y="1284810"/>
                </a:lnTo>
                <a:lnTo>
                  <a:pt x="3672840" y="1371601"/>
                </a:lnTo>
                <a:lnTo>
                  <a:pt x="3672840" y="3488576"/>
                </a:lnTo>
                <a:lnTo>
                  <a:pt x="0" y="3488576"/>
                </a:lnTo>
                <a:lnTo>
                  <a:pt x="0" y="1371601"/>
                </a:lnTo>
                <a:lnTo>
                  <a:pt x="0" y="1284810"/>
                </a:lnTo>
                <a:close/>
              </a:path>
            </a:pathLst>
          </a:custGeom>
          <a:solidFill>
            <a:srgbClr val="F4F8FA"/>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58" name="Google Shape;2858;p26">
            <a:extLst>
              <a:ext uri="{FF2B5EF4-FFF2-40B4-BE49-F238E27FC236}">
                <a16:creationId xmlns:a16="http://schemas.microsoft.com/office/drawing/2014/main" id="{69BA0DBD-6000-DCFE-C1C6-DAE37BA38287}"/>
              </a:ext>
            </a:extLst>
          </p:cNvPr>
          <p:cNvSpPr/>
          <p:nvPr/>
        </p:nvSpPr>
        <p:spPr>
          <a:xfrm>
            <a:off x="581247" y="1527086"/>
            <a:ext cx="10871707" cy="4446994"/>
          </a:xfrm>
          <a:prstGeom prst="roundRect">
            <a:avLst>
              <a:gd name="adj" fmla="val 2525"/>
            </a:avLst>
          </a:prstGeom>
          <a:solidFill>
            <a:schemeClr val="lt1"/>
          </a:solidFill>
          <a:ln w="9525" cap="flat" cmpd="sng">
            <a:solidFill>
              <a:srgbClr val="797979"/>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 name="Google Shape;6678;g2d30ebb658d_0_19789">
            <a:extLst>
              <a:ext uri="{FF2B5EF4-FFF2-40B4-BE49-F238E27FC236}">
                <a16:creationId xmlns:a16="http://schemas.microsoft.com/office/drawing/2014/main" id="{99470523-9960-3FE6-5772-BAB24043C773}"/>
              </a:ext>
            </a:extLst>
          </p:cNvPr>
          <p:cNvSpPr/>
          <p:nvPr/>
        </p:nvSpPr>
        <p:spPr>
          <a:xfrm>
            <a:off x="3998316" y="1628976"/>
            <a:ext cx="3454744" cy="4259217"/>
          </a:xfrm>
          <a:prstGeom prst="roundRect">
            <a:avLst>
              <a:gd name="adj" fmla="val 2356"/>
            </a:avLst>
          </a:prstGeom>
          <a:solidFill>
            <a:schemeClr val="accent5">
              <a:alpha val="9770"/>
            </a:schemeClr>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4" name="Group 13">
            <a:extLst>
              <a:ext uri="{FF2B5EF4-FFF2-40B4-BE49-F238E27FC236}">
                <a16:creationId xmlns:a16="http://schemas.microsoft.com/office/drawing/2014/main" id="{51516C7D-274D-A7A0-3C4F-01F6EA8B9D4D}"/>
              </a:ext>
            </a:extLst>
          </p:cNvPr>
          <p:cNvGrpSpPr/>
          <p:nvPr/>
        </p:nvGrpSpPr>
        <p:grpSpPr>
          <a:xfrm>
            <a:off x="4095905" y="1684476"/>
            <a:ext cx="3241873" cy="4105882"/>
            <a:chOff x="6126406" y="1684476"/>
            <a:chExt cx="3241873" cy="4105882"/>
          </a:xfrm>
        </p:grpSpPr>
        <p:sp>
          <p:nvSpPr>
            <p:cNvPr id="10" name="TextBox 9">
              <a:extLst>
                <a:ext uri="{FF2B5EF4-FFF2-40B4-BE49-F238E27FC236}">
                  <a16:creationId xmlns:a16="http://schemas.microsoft.com/office/drawing/2014/main" id="{EBB6C753-DF40-D704-B012-302A19EAC2BF}"/>
                </a:ext>
              </a:extLst>
            </p:cNvPr>
            <p:cNvSpPr txBox="1"/>
            <p:nvPr/>
          </p:nvSpPr>
          <p:spPr>
            <a:xfrm>
              <a:off x="7479263" y="1684476"/>
              <a:ext cx="552582" cy="14776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rPr>
                <a:t>VCF Fleet</a:t>
              </a:r>
            </a:p>
          </p:txBody>
        </p:sp>
        <p:grpSp>
          <p:nvGrpSpPr>
            <p:cNvPr id="6" name="Group 5">
              <a:extLst>
                <a:ext uri="{FF2B5EF4-FFF2-40B4-BE49-F238E27FC236}">
                  <a16:creationId xmlns:a16="http://schemas.microsoft.com/office/drawing/2014/main" id="{F9D282C7-0D8E-2C8E-927B-17A58E56D230}"/>
                </a:ext>
              </a:extLst>
            </p:cNvPr>
            <p:cNvGrpSpPr/>
            <p:nvPr/>
          </p:nvGrpSpPr>
          <p:grpSpPr>
            <a:xfrm>
              <a:off x="6126406" y="5305809"/>
              <a:ext cx="3241873" cy="484549"/>
              <a:chOff x="4103641" y="5305809"/>
              <a:chExt cx="3241873" cy="484549"/>
            </a:xfrm>
          </p:grpSpPr>
          <p:grpSp>
            <p:nvGrpSpPr>
              <p:cNvPr id="11" name="Group 10">
                <a:extLst>
                  <a:ext uri="{FF2B5EF4-FFF2-40B4-BE49-F238E27FC236}">
                    <a16:creationId xmlns:a16="http://schemas.microsoft.com/office/drawing/2014/main" id="{DEA4C7E9-5BD1-EB4D-85FB-7A15F4AAFE6D}"/>
                  </a:ext>
                </a:extLst>
              </p:cNvPr>
              <p:cNvGrpSpPr/>
              <p:nvPr/>
            </p:nvGrpSpPr>
            <p:grpSpPr>
              <a:xfrm>
                <a:off x="4103641" y="5305809"/>
                <a:ext cx="3241873" cy="484549"/>
                <a:chOff x="4357596" y="5842511"/>
                <a:chExt cx="1909145" cy="308820"/>
              </a:xfrm>
            </p:grpSpPr>
            <p:sp>
              <p:nvSpPr>
                <p:cNvPr id="12" name="Google Shape;6678;g2d30ebb658d_0_19789">
                  <a:extLst>
                    <a:ext uri="{FF2B5EF4-FFF2-40B4-BE49-F238E27FC236}">
                      <a16:creationId xmlns:a16="http://schemas.microsoft.com/office/drawing/2014/main" id="{5A70FDCF-6BA0-5ABE-67C7-5F494677B38E}"/>
                    </a:ext>
                  </a:extLst>
                </p:cNvPr>
                <p:cNvSpPr/>
                <p:nvPr/>
              </p:nvSpPr>
              <p:spPr>
                <a:xfrm>
                  <a:off x="4357596" y="5842511"/>
                  <a:ext cx="1909145"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3" name="TextBox 12">
                  <a:extLst>
                    <a:ext uri="{FF2B5EF4-FFF2-40B4-BE49-F238E27FC236}">
                      <a16:creationId xmlns:a16="http://schemas.microsoft.com/office/drawing/2014/main" id="{A2583E97-A999-2890-F98D-94A5FDCA2576}"/>
                    </a:ext>
                  </a:extLst>
                </p:cNvPr>
                <p:cNvSpPr txBox="1"/>
                <p:nvPr/>
              </p:nvSpPr>
              <p:spPr>
                <a:xfrm>
                  <a:off x="4889462" y="5958091"/>
                  <a:ext cx="809461" cy="7729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rPr>
                    <a:t>Additional VCF Instances</a:t>
                  </a:r>
                </a:p>
              </p:txBody>
            </p:sp>
          </p:grpSp>
          <p:pic>
            <p:nvPicPr>
              <p:cNvPr id="15" name="Google Shape;2871;p26">
                <a:extLst>
                  <a:ext uri="{FF2B5EF4-FFF2-40B4-BE49-F238E27FC236}">
                    <a16:creationId xmlns:a16="http://schemas.microsoft.com/office/drawing/2014/main" id="{25922329-286D-18D4-1530-87BBA09C15D5}"/>
                  </a:ext>
                </a:extLst>
              </p:cNvPr>
              <p:cNvPicPr preferRelativeResize="0"/>
              <p:nvPr/>
            </p:nvPicPr>
            <p:blipFill rotWithShape="1">
              <a:blip r:embed="rId3">
                <a:alphaModFix/>
              </a:blip>
              <a:srcRect/>
              <a:stretch/>
            </p:blipFill>
            <p:spPr>
              <a:xfrm>
                <a:off x="4511014" y="5385954"/>
                <a:ext cx="289251" cy="317890"/>
              </a:xfrm>
              <a:prstGeom prst="rect">
                <a:avLst/>
              </a:prstGeom>
              <a:noFill/>
              <a:ln>
                <a:noFill/>
              </a:ln>
            </p:spPr>
          </p:pic>
        </p:grpSp>
      </p:grpSp>
      <p:sp>
        <p:nvSpPr>
          <p:cNvPr id="2855" name="Google Shape;2855;p26">
            <a:extLst>
              <a:ext uri="{FF2B5EF4-FFF2-40B4-BE49-F238E27FC236}">
                <a16:creationId xmlns:a16="http://schemas.microsoft.com/office/drawing/2014/main" id="{8F5967D5-2EFA-8573-9091-C511BBABC647}"/>
              </a:ext>
            </a:extLst>
          </p:cNvPr>
          <p:cNvSpPr txBox="1">
            <a:spLocks noGrp="1"/>
          </p:cNvSpPr>
          <p:nvPr>
            <p:ph type="title"/>
          </p:nvPr>
        </p:nvSpPr>
        <p:spPr>
          <a:xfrm>
            <a:off x="581245" y="413536"/>
            <a:ext cx="10998139" cy="380901"/>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SzPts val="2800"/>
              <a:buNone/>
            </a:pPr>
            <a:r>
              <a:rPr lang="en-US" dirty="0"/>
              <a:t>Private Cloud Operations</a:t>
            </a:r>
            <a:endParaRPr dirty="0"/>
          </a:p>
        </p:txBody>
      </p:sp>
      <p:sp>
        <p:nvSpPr>
          <p:cNvPr id="2856" name="Google Shape;2856;p26">
            <a:extLst>
              <a:ext uri="{FF2B5EF4-FFF2-40B4-BE49-F238E27FC236}">
                <a16:creationId xmlns:a16="http://schemas.microsoft.com/office/drawing/2014/main" id="{F97F5CCA-D4D6-DA6D-FC4E-C8E0F3D7790E}"/>
              </a:ext>
            </a:extLst>
          </p:cNvPr>
          <p:cNvSpPr txBox="1">
            <a:spLocks noGrp="1"/>
          </p:cNvSpPr>
          <p:nvPr>
            <p:ph type="subTitle" idx="1"/>
          </p:nvPr>
        </p:nvSpPr>
        <p:spPr>
          <a:xfrm>
            <a:off x="594300" y="812513"/>
            <a:ext cx="10959832" cy="24767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dirty="0"/>
              <a:t>VCF Operations</a:t>
            </a:r>
            <a:endParaRPr dirty="0"/>
          </a:p>
        </p:txBody>
      </p:sp>
      <p:sp>
        <p:nvSpPr>
          <p:cNvPr id="2876" name="Google Shape;2876;p26">
            <a:extLst>
              <a:ext uri="{FF2B5EF4-FFF2-40B4-BE49-F238E27FC236}">
                <a16:creationId xmlns:a16="http://schemas.microsoft.com/office/drawing/2014/main" id="{46376D7D-3168-FE66-EAED-2F3BF21E7009}"/>
              </a:ext>
            </a:extLst>
          </p:cNvPr>
          <p:cNvSpPr/>
          <p:nvPr/>
        </p:nvSpPr>
        <p:spPr>
          <a:xfrm rot="5400000">
            <a:off x="1980766" y="3687645"/>
            <a:ext cx="3638148" cy="812800"/>
          </a:xfrm>
          <a:prstGeom prst="triangle">
            <a:avLst>
              <a:gd name="adj" fmla="val 7916"/>
            </a:avLst>
          </a:prstGeom>
          <a:gradFill>
            <a:gsLst>
              <a:gs pos="0">
                <a:srgbClr val="005C8A">
                  <a:alpha val="23529"/>
                </a:srgbClr>
              </a:gs>
              <a:gs pos="100000">
                <a:srgbClr val="FFFFFF">
                  <a:alpha val="0"/>
                </a:srgbClr>
              </a:gs>
            </a:gsLst>
            <a:lin ang="5400000" scaled="0"/>
          </a:gra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2878" name="Google Shape;2878;p26">
            <a:extLst>
              <a:ext uri="{FF2B5EF4-FFF2-40B4-BE49-F238E27FC236}">
                <a16:creationId xmlns:a16="http://schemas.microsoft.com/office/drawing/2014/main" id="{B67AA59F-A19C-8B5C-071E-81C3182D4EDC}"/>
              </a:ext>
            </a:extLst>
          </p:cNvPr>
          <p:cNvGrpSpPr/>
          <p:nvPr/>
        </p:nvGrpSpPr>
        <p:grpSpPr>
          <a:xfrm>
            <a:off x="902756" y="1965017"/>
            <a:ext cx="3366124" cy="3347676"/>
            <a:chOff x="902756" y="2042507"/>
            <a:chExt cx="3366124" cy="3347676"/>
          </a:xfrm>
        </p:grpSpPr>
        <p:sp>
          <p:nvSpPr>
            <p:cNvPr id="2879" name="Google Shape;2879;p26">
              <a:extLst>
                <a:ext uri="{FF2B5EF4-FFF2-40B4-BE49-F238E27FC236}">
                  <a16:creationId xmlns:a16="http://schemas.microsoft.com/office/drawing/2014/main" id="{44324A95-6CE1-34BE-E164-02FFD10B0506}"/>
                </a:ext>
              </a:extLst>
            </p:cNvPr>
            <p:cNvSpPr txBox="1"/>
            <p:nvPr/>
          </p:nvSpPr>
          <p:spPr>
            <a:xfrm>
              <a:off x="915197" y="2588956"/>
              <a:ext cx="2990953" cy="36000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800"/>
                <a:buFont typeface="Arial"/>
                <a:buNone/>
                <a:tabLst/>
                <a:defRPr/>
              </a:pPr>
              <a:r>
                <a:rPr kumimoji="0" lang="en-US" sz="1300" b="0" i="0" u="none" strike="noStrike" kern="1200" cap="none" spc="0" normalizeH="0" baseline="0" noProof="0" dirty="0">
                  <a:ln>
                    <a:noFill/>
                  </a:ln>
                  <a:solidFill>
                    <a:srgbClr val="000000"/>
                  </a:solidFill>
                  <a:effectLst/>
                  <a:uLnTx/>
                  <a:uFillTx/>
                  <a:latin typeface="Arial"/>
                  <a:ea typeface="Arial"/>
                  <a:cs typeface="Arial"/>
                  <a:sym typeface="Arial"/>
                </a:rPr>
                <a:t>VCF Health &amp; Diagnostics </a:t>
              </a:r>
              <a:endParaRPr kumimoji="0" sz="13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90000"/>
                </a:lnSpc>
                <a:spcBef>
                  <a:spcPts val="0"/>
                </a:spcBef>
                <a:spcAft>
                  <a:spcPts val="0"/>
                </a:spcAft>
                <a:buClr>
                  <a:srgbClr val="000000"/>
                </a:buClr>
                <a:buSzPts val="1800"/>
                <a:buFont typeface="Arial"/>
                <a:buNone/>
                <a:tabLst/>
                <a:defRPr/>
              </a:pPr>
              <a:r>
                <a:rPr kumimoji="0" lang="en-US" sz="1300" b="0" i="0" u="none" strike="noStrike" kern="1200" cap="none" spc="0" normalizeH="0" baseline="0" noProof="0" dirty="0">
                  <a:ln>
                    <a:noFill/>
                  </a:ln>
                  <a:solidFill>
                    <a:srgbClr val="777777"/>
                  </a:solidFill>
                  <a:effectLst/>
                  <a:uLnTx/>
                  <a:uFillTx/>
                  <a:latin typeface="Arial"/>
                  <a:ea typeface="Arial"/>
                  <a:cs typeface="Arial"/>
                  <a:sym typeface="Arial"/>
                </a:rPr>
                <a:t>(formerly Aria Skyline)</a:t>
              </a:r>
              <a:endParaRPr kumimoji="0" sz="1300" b="0" i="0" u="none" strike="noStrike" kern="1200" cap="none" spc="0" normalizeH="0" baseline="0" noProof="0" dirty="0">
                <a:ln>
                  <a:noFill/>
                </a:ln>
                <a:solidFill>
                  <a:srgbClr val="777777"/>
                </a:solidFill>
                <a:effectLst/>
                <a:uLnTx/>
                <a:uFillTx/>
                <a:latin typeface="Arial"/>
                <a:ea typeface="Arial"/>
                <a:cs typeface="Arial"/>
                <a:sym typeface="Arial"/>
              </a:endParaRPr>
            </a:p>
          </p:txBody>
        </p:sp>
        <p:sp>
          <p:nvSpPr>
            <p:cNvPr id="2880" name="Google Shape;2880;p26">
              <a:extLst>
                <a:ext uri="{FF2B5EF4-FFF2-40B4-BE49-F238E27FC236}">
                  <a16:creationId xmlns:a16="http://schemas.microsoft.com/office/drawing/2014/main" id="{B8047814-A8A8-2FB8-FC7B-8EE3BF78E562}"/>
                </a:ext>
              </a:extLst>
            </p:cNvPr>
            <p:cNvSpPr txBox="1"/>
            <p:nvPr/>
          </p:nvSpPr>
          <p:spPr>
            <a:xfrm>
              <a:off x="910038" y="3609123"/>
              <a:ext cx="2916759" cy="36000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Integrated Network Operations </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endParaRPr kumimoji="0" sz="1300" b="0" i="0" u="none" strike="noStrike" kern="1200" cap="none" spc="0" normalizeH="0" baseline="0" noProof="0">
                <a:ln>
                  <a:noFill/>
                </a:ln>
                <a:solidFill>
                  <a:srgbClr val="777777"/>
                </a:solidFill>
                <a:effectLst/>
                <a:uLnTx/>
                <a:uFillTx/>
                <a:latin typeface="Arial"/>
                <a:ea typeface="Arial"/>
                <a:cs typeface="Arial"/>
                <a:sym typeface="Arial"/>
              </a:endParaRPr>
            </a:p>
          </p:txBody>
        </p:sp>
        <p:sp>
          <p:nvSpPr>
            <p:cNvPr id="2881" name="Google Shape;2881;p26">
              <a:extLst>
                <a:ext uri="{FF2B5EF4-FFF2-40B4-BE49-F238E27FC236}">
                  <a16:creationId xmlns:a16="http://schemas.microsoft.com/office/drawing/2014/main" id="{62CF6169-48C1-011D-F87C-58D4313F60DC}"/>
                </a:ext>
              </a:extLst>
            </p:cNvPr>
            <p:cNvSpPr/>
            <p:nvPr/>
          </p:nvSpPr>
          <p:spPr>
            <a:xfrm>
              <a:off x="3286216" y="4014594"/>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82" name="Google Shape;2882;p26">
              <a:extLst>
                <a:ext uri="{FF2B5EF4-FFF2-40B4-BE49-F238E27FC236}">
                  <a16:creationId xmlns:a16="http://schemas.microsoft.com/office/drawing/2014/main" id="{6CB58EC9-5D05-1B9B-90A2-A30400C37EAF}"/>
                </a:ext>
              </a:extLst>
            </p:cNvPr>
            <p:cNvSpPr txBox="1"/>
            <p:nvPr/>
          </p:nvSpPr>
          <p:spPr>
            <a:xfrm>
              <a:off x="909467" y="4650753"/>
              <a:ext cx="2257030" cy="36000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Integrated Troubleshooting &amp; Observability</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883" name="Google Shape;2883;p26">
              <a:extLst>
                <a:ext uri="{FF2B5EF4-FFF2-40B4-BE49-F238E27FC236}">
                  <a16:creationId xmlns:a16="http://schemas.microsoft.com/office/drawing/2014/main" id="{777BCAF3-E2F3-7625-E984-B4DCAB19E19D}"/>
                </a:ext>
              </a:extLst>
            </p:cNvPr>
            <p:cNvSpPr txBox="1"/>
            <p:nvPr/>
          </p:nvSpPr>
          <p:spPr>
            <a:xfrm>
              <a:off x="914705" y="4130910"/>
              <a:ext cx="2879635"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Integrated Storage Operations</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884" name="Google Shape;2884;p26">
              <a:extLst>
                <a:ext uri="{FF2B5EF4-FFF2-40B4-BE49-F238E27FC236}">
                  <a16:creationId xmlns:a16="http://schemas.microsoft.com/office/drawing/2014/main" id="{6394AD42-9E48-D09C-1B9E-F1415B87C825}"/>
                </a:ext>
              </a:extLst>
            </p:cNvPr>
            <p:cNvSpPr/>
            <p:nvPr/>
          </p:nvSpPr>
          <p:spPr>
            <a:xfrm>
              <a:off x="3286216" y="4524815"/>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85" name="Google Shape;2885;p26">
              <a:extLst>
                <a:ext uri="{FF2B5EF4-FFF2-40B4-BE49-F238E27FC236}">
                  <a16:creationId xmlns:a16="http://schemas.microsoft.com/office/drawing/2014/main" id="{CAFFE54D-DE9F-6EAC-C1EC-4A1FABAB6503}"/>
                </a:ext>
              </a:extLst>
            </p:cNvPr>
            <p:cNvSpPr/>
            <p:nvPr/>
          </p:nvSpPr>
          <p:spPr>
            <a:xfrm>
              <a:off x="3286216" y="5035037"/>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86" name="Google Shape;2886;p26">
              <a:extLst>
                <a:ext uri="{FF2B5EF4-FFF2-40B4-BE49-F238E27FC236}">
                  <a16:creationId xmlns:a16="http://schemas.microsoft.com/office/drawing/2014/main" id="{3F0FBC0C-3EEF-BC7E-C188-9E2D61FD8679}"/>
                </a:ext>
              </a:extLst>
            </p:cNvPr>
            <p:cNvSpPr txBox="1"/>
            <p:nvPr/>
          </p:nvSpPr>
          <p:spPr>
            <a:xfrm>
              <a:off x="902756" y="3106661"/>
              <a:ext cx="2605185"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Integrated Log Operations </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887" name="Google Shape;2887;p26">
              <a:extLst>
                <a:ext uri="{FF2B5EF4-FFF2-40B4-BE49-F238E27FC236}">
                  <a16:creationId xmlns:a16="http://schemas.microsoft.com/office/drawing/2014/main" id="{7310059D-00E8-9328-4E6D-E0E22FF3652A}"/>
                </a:ext>
              </a:extLst>
            </p:cNvPr>
            <p:cNvSpPr/>
            <p:nvPr/>
          </p:nvSpPr>
          <p:spPr>
            <a:xfrm>
              <a:off x="3286216" y="3023497"/>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88" name="Google Shape;2888;p26">
              <a:extLst>
                <a:ext uri="{FF2B5EF4-FFF2-40B4-BE49-F238E27FC236}">
                  <a16:creationId xmlns:a16="http://schemas.microsoft.com/office/drawing/2014/main" id="{4B7FDA95-14BA-AE80-EC97-9B89CCC0EED8}"/>
                </a:ext>
              </a:extLst>
            </p:cNvPr>
            <p:cNvSpPr txBox="1"/>
            <p:nvPr/>
          </p:nvSpPr>
          <p:spPr>
            <a:xfrm>
              <a:off x="916987" y="5165383"/>
              <a:ext cx="2695365"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Security Operations</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889" name="Google Shape;2889;p26">
              <a:extLst>
                <a:ext uri="{FF2B5EF4-FFF2-40B4-BE49-F238E27FC236}">
                  <a16:creationId xmlns:a16="http://schemas.microsoft.com/office/drawing/2014/main" id="{89B8F44A-CF60-4C92-AA0A-C492808030A2}"/>
                </a:ext>
              </a:extLst>
            </p:cNvPr>
            <p:cNvSpPr/>
            <p:nvPr/>
          </p:nvSpPr>
          <p:spPr>
            <a:xfrm>
              <a:off x="3286216" y="3516422"/>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90" name="Google Shape;2890;p26">
              <a:extLst>
                <a:ext uri="{FF2B5EF4-FFF2-40B4-BE49-F238E27FC236}">
                  <a16:creationId xmlns:a16="http://schemas.microsoft.com/office/drawing/2014/main" id="{3CCC652F-FE9A-4B32-6A47-D95D6C9CD3A5}"/>
                </a:ext>
              </a:extLst>
            </p:cNvPr>
            <p:cNvSpPr/>
            <p:nvPr/>
          </p:nvSpPr>
          <p:spPr>
            <a:xfrm>
              <a:off x="3275075" y="2508035"/>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2891" name="Google Shape;2891;p26">
              <a:extLst>
                <a:ext uri="{FF2B5EF4-FFF2-40B4-BE49-F238E27FC236}">
                  <a16:creationId xmlns:a16="http://schemas.microsoft.com/office/drawing/2014/main" id="{D65082F0-635A-F969-5F25-7756474D7DCB}"/>
                </a:ext>
              </a:extLst>
            </p:cNvPr>
            <p:cNvPicPr preferRelativeResize="0"/>
            <p:nvPr/>
          </p:nvPicPr>
          <p:blipFill rotWithShape="1">
            <a:blip r:embed="rId4">
              <a:alphaModFix/>
            </a:blip>
            <a:srcRect/>
            <a:stretch/>
          </p:blipFill>
          <p:spPr>
            <a:xfrm>
              <a:off x="3333695" y="5082992"/>
              <a:ext cx="259241" cy="259241"/>
            </a:xfrm>
            <a:prstGeom prst="rect">
              <a:avLst/>
            </a:prstGeom>
            <a:noFill/>
            <a:ln>
              <a:noFill/>
            </a:ln>
          </p:spPr>
        </p:pic>
        <p:pic>
          <p:nvPicPr>
            <p:cNvPr id="2892" name="Google Shape;2892;p26">
              <a:extLst>
                <a:ext uri="{FF2B5EF4-FFF2-40B4-BE49-F238E27FC236}">
                  <a16:creationId xmlns:a16="http://schemas.microsoft.com/office/drawing/2014/main" id="{29062212-1EB9-A278-475A-B05937394444}"/>
                </a:ext>
              </a:extLst>
            </p:cNvPr>
            <p:cNvPicPr preferRelativeResize="0"/>
            <p:nvPr/>
          </p:nvPicPr>
          <p:blipFill rotWithShape="1">
            <a:blip r:embed="rId5">
              <a:alphaModFix/>
            </a:blip>
            <a:srcRect/>
            <a:stretch/>
          </p:blipFill>
          <p:spPr>
            <a:xfrm>
              <a:off x="3344419" y="3587875"/>
              <a:ext cx="225036" cy="225036"/>
            </a:xfrm>
            <a:prstGeom prst="rect">
              <a:avLst/>
            </a:prstGeom>
            <a:noFill/>
            <a:ln>
              <a:noFill/>
            </a:ln>
          </p:spPr>
        </p:pic>
        <p:pic>
          <p:nvPicPr>
            <p:cNvPr id="2893" name="Google Shape;2893;p26">
              <a:extLst>
                <a:ext uri="{FF2B5EF4-FFF2-40B4-BE49-F238E27FC236}">
                  <a16:creationId xmlns:a16="http://schemas.microsoft.com/office/drawing/2014/main" id="{F64BB0F4-0283-7AC1-2AFF-85C1B3B65327}"/>
                </a:ext>
              </a:extLst>
            </p:cNvPr>
            <p:cNvPicPr preferRelativeResize="0"/>
            <p:nvPr/>
          </p:nvPicPr>
          <p:blipFill rotWithShape="1">
            <a:blip r:embed="rId6">
              <a:alphaModFix/>
            </a:blip>
            <a:srcRect/>
            <a:stretch/>
          </p:blipFill>
          <p:spPr>
            <a:xfrm>
              <a:off x="3356814" y="4079651"/>
              <a:ext cx="225036" cy="225036"/>
            </a:xfrm>
            <a:prstGeom prst="rect">
              <a:avLst/>
            </a:prstGeom>
            <a:noFill/>
            <a:ln>
              <a:noFill/>
            </a:ln>
          </p:spPr>
        </p:pic>
        <p:pic>
          <p:nvPicPr>
            <p:cNvPr id="2894" name="Google Shape;2894;p26">
              <a:extLst>
                <a:ext uri="{FF2B5EF4-FFF2-40B4-BE49-F238E27FC236}">
                  <a16:creationId xmlns:a16="http://schemas.microsoft.com/office/drawing/2014/main" id="{0FD8A000-4DC0-303C-7BCF-ECD526C3975D}"/>
                </a:ext>
              </a:extLst>
            </p:cNvPr>
            <p:cNvPicPr preferRelativeResize="0"/>
            <p:nvPr/>
          </p:nvPicPr>
          <p:blipFill rotWithShape="1">
            <a:blip r:embed="rId7">
              <a:alphaModFix/>
            </a:blip>
            <a:srcRect/>
            <a:stretch/>
          </p:blipFill>
          <p:spPr>
            <a:xfrm>
              <a:off x="3345215" y="2571235"/>
              <a:ext cx="226727" cy="226727"/>
            </a:xfrm>
            <a:prstGeom prst="rect">
              <a:avLst/>
            </a:prstGeom>
            <a:noFill/>
            <a:ln>
              <a:noFill/>
            </a:ln>
          </p:spPr>
        </p:pic>
        <p:pic>
          <p:nvPicPr>
            <p:cNvPr id="2895" name="Google Shape;2895;p26">
              <a:extLst>
                <a:ext uri="{FF2B5EF4-FFF2-40B4-BE49-F238E27FC236}">
                  <a16:creationId xmlns:a16="http://schemas.microsoft.com/office/drawing/2014/main" id="{8BD97C02-54A5-E5DF-526B-43E53319F8B9}"/>
                </a:ext>
              </a:extLst>
            </p:cNvPr>
            <p:cNvPicPr preferRelativeResize="0"/>
            <p:nvPr/>
          </p:nvPicPr>
          <p:blipFill rotWithShape="1">
            <a:blip r:embed="rId8">
              <a:alphaModFix/>
            </a:blip>
            <a:srcRect/>
            <a:stretch/>
          </p:blipFill>
          <p:spPr>
            <a:xfrm>
              <a:off x="3369606" y="4602662"/>
              <a:ext cx="225036" cy="225036"/>
            </a:xfrm>
            <a:prstGeom prst="rect">
              <a:avLst/>
            </a:prstGeom>
            <a:noFill/>
            <a:ln>
              <a:noFill/>
            </a:ln>
          </p:spPr>
        </p:pic>
        <p:pic>
          <p:nvPicPr>
            <p:cNvPr id="2896" name="Google Shape;2896;p26">
              <a:extLst>
                <a:ext uri="{FF2B5EF4-FFF2-40B4-BE49-F238E27FC236}">
                  <a16:creationId xmlns:a16="http://schemas.microsoft.com/office/drawing/2014/main" id="{019AEBD8-329C-E87A-1F5C-C7FC86A5B259}"/>
                </a:ext>
              </a:extLst>
            </p:cNvPr>
            <p:cNvPicPr preferRelativeResize="0"/>
            <p:nvPr/>
          </p:nvPicPr>
          <p:blipFill rotWithShape="1">
            <a:blip r:embed="rId9">
              <a:alphaModFix/>
            </a:blip>
            <a:srcRect/>
            <a:stretch/>
          </p:blipFill>
          <p:spPr>
            <a:xfrm>
              <a:off x="3341694" y="3094684"/>
              <a:ext cx="212787" cy="212788"/>
            </a:xfrm>
            <a:prstGeom prst="rect">
              <a:avLst/>
            </a:prstGeom>
            <a:noFill/>
            <a:ln>
              <a:noFill/>
            </a:ln>
          </p:spPr>
        </p:pic>
        <p:sp>
          <p:nvSpPr>
            <p:cNvPr id="2897" name="Google Shape;2897;p26">
              <a:extLst>
                <a:ext uri="{FF2B5EF4-FFF2-40B4-BE49-F238E27FC236}">
                  <a16:creationId xmlns:a16="http://schemas.microsoft.com/office/drawing/2014/main" id="{6540BE7A-237E-2A9E-CA43-24A3DC68F860}"/>
                </a:ext>
              </a:extLst>
            </p:cNvPr>
            <p:cNvSpPr txBox="1"/>
            <p:nvPr/>
          </p:nvSpPr>
          <p:spPr>
            <a:xfrm>
              <a:off x="1277927" y="2042507"/>
              <a:ext cx="2990953" cy="22154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800"/>
                <a:buFont typeface="Arial"/>
                <a:buNone/>
                <a:tabLst/>
                <a:defRPr/>
              </a:pPr>
              <a:r>
                <a:rPr kumimoji="0" lang="en-US" sz="1600" b="0" i="0" u="none" strike="noStrike" kern="1200" cap="none" spc="0" normalizeH="0" baseline="0" noProof="0">
                  <a:ln>
                    <a:noFill/>
                  </a:ln>
                  <a:solidFill>
                    <a:srgbClr val="007B8C"/>
                  </a:solidFill>
                  <a:effectLst/>
                  <a:uLnTx/>
                  <a:uFillTx/>
                  <a:latin typeface="Arial"/>
                  <a:ea typeface="Arial"/>
                  <a:cs typeface="Arial"/>
                  <a:sym typeface="Arial"/>
                </a:rPr>
                <a:t>VCF Operations</a:t>
              </a:r>
              <a:endParaRPr kumimoji="0" sz="1600" b="0" i="0" u="none" strike="noStrike" kern="1200" cap="none" spc="0" normalizeH="0" baseline="0" noProof="0">
                <a:ln>
                  <a:noFill/>
                </a:ln>
                <a:solidFill>
                  <a:srgbClr val="007B8C"/>
                </a:solidFill>
                <a:effectLst/>
                <a:uLnTx/>
                <a:uFillTx/>
                <a:latin typeface="Arial"/>
                <a:ea typeface="Arial"/>
                <a:cs typeface="Arial"/>
                <a:sym typeface="Arial"/>
              </a:endParaRPr>
            </a:p>
          </p:txBody>
        </p:sp>
      </p:grpSp>
      <p:sp>
        <p:nvSpPr>
          <p:cNvPr id="2898" name="Google Shape;2898;p26">
            <a:extLst>
              <a:ext uri="{FF2B5EF4-FFF2-40B4-BE49-F238E27FC236}">
                <a16:creationId xmlns:a16="http://schemas.microsoft.com/office/drawing/2014/main" id="{AF78FD9A-DC4D-8185-C3D3-39FE1D1AB396}"/>
              </a:ext>
            </a:extLst>
          </p:cNvPr>
          <p:cNvSpPr/>
          <p:nvPr/>
        </p:nvSpPr>
        <p:spPr>
          <a:xfrm rot="-5400000">
            <a:off x="5903236" y="3634306"/>
            <a:ext cx="3600898" cy="956728"/>
          </a:xfrm>
          <a:prstGeom prst="triangle">
            <a:avLst>
              <a:gd name="adj" fmla="val 92533"/>
            </a:avLst>
          </a:prstGeom>
          <a:gradFill>
            <a:gsLst>
              <a:gs pos="0">
                <a:srgbClr val="005C8A">
                  <a:alpha val="23529"/>
                </a:srgbClr>
              </a:gs>
              <a:gs pos="100000">
                <a:srgbClr val="FFFFFF">
                  <a:alpha val="0"/>
                </a:srgbClr>
              </a:gs>
            </a:gsLst>
            <a:lin ang="5400000" scaled="0"/>
          </a:gra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2899" name="Google Shape;2899;p26">
            <a:extLst>
              <a:ext uri="{FF2B5EF4-FFF2-40B4-BE49-F238E27FC236}">
                <a16:creationId xmlns:a16="http://schemas.microsoft.com/office/drawing/2014/main" id="{B24300D1-D4A0-2282-38B0-BFE9DD7FA868}"/>
              </a:ext>
            </a:extLst>
          </p:cNvPr>
          <p:cNvGrpSpPr/>
          <p:nvPr/>
        </p:nvGrpSpPr>
        <p:grpSpPr>
          <a:xfrm>
            <a:off x="7979394" y="1962653"/>
            <a:ext cx="3571788" cy="3497438"/>
            <a:chOff x="7979394" y="2040143"/>
            <a:chExt cx="3571788" cy="3497438"/>
          </a:xfrm>
        </p:grpSpPr>
        <p:sp>
          <p:nvSpPr>
            <p:cNvPr id="2900" name="Google Shape;2900;p26">
              <a:extLst>
                <a:ext uri="{FF2B5EF4-FFF2-40B4-BE49-F238E27FC236}">
                  <a16:creationId xmlns:a16="http://schemas.microsoft.com/office/drawing/2014/main" id="{2B97804E-E445-630B-B927-9CC0411CC2A1}"/>
                </a:ext>
              </a:extLst>
            </p:cNvPr>
            <p:cNvSpPr txBox="1"/>
            <p:nvPr/>
          </p:nvSpPr>
          <p:spPr>
            <a:xfrm>
              <a:off x="8798834" y="5291464"/>
              <a:ext cx="2752348" cy="246117"/>
            </a:xfrm>
            <a:prstGeom prst="rect">
              <a:avLst/>
            </a:prstGeom>
            <a:noFill/>
            <a:ln>
              <a:noFill/>
            </a:ln>
          </p:spPr>
          <p:txBody>
            <a:bodyPr spcFirstLastPara="1" wrap="square" lIns="91400" tIns="45675" rIns="91400" bIns="45675"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700"/>
                <a:buFont typeface="Arial"/>
                <a:buNone/>
                <a:tabLst/>
                <a:defRPr/>
              </a:pPr>
              <a:r>
                <a:rPr kumimoji="0" lang="en-US" sz="1000" b="0" i="1" u="none" strike="noStrike" kern="1200" cap="none" spc="0" normalizeH="0" baseline="0" noProof="0">
                  <a:ln>
                    <a:noFill/>
                  </a:ln>
                  <a:solidFill>
                    <a:srgbClr val="000000"/>
                  </a:solidFill>
                  <a:effectLst/>
                  <a:uLnTx/>
                  <a:uFillTx/>
                  <a:latin typeface="Arial"/>
                  <a:ea typeface="Arial"/>
                  <a:cs typeface="Arial"/>
                  <a:sym typeface="Arial"/>
                </a:rPr>
                <a:t>.</a:t>
              </a: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01" name="Google Shape;2901;p26">
              <a:extLst>
                <a:ext uri="{FF2B5EF4-FFF2-40B4-BE49-F238E27FC236}">
                  <a16:creationId xmlns:a16="http://schemas.microsoft.com/office/drawing/2014/main" id="{3E70F93F-1E7C-4A9F-7122-26301CE9C432}"/>
                </a:ext>
              </a:extLst>
            </p:cNvPr>
            <p:cNvSpPr txBox="1"/>
            <p:nvPr/>
          </p:nvSpPr>
          <p:spPr>
            <a:xfrm>
              <a:off x="8618806" y="2620490"/>
              <a:ext cx="2397355"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8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Identity &amp; Access</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02" name="Google Shape;2902;p26">
              <a:extLst>
                <a:ext uri="{FF2B5EF4-FFF2-40B4-BE49-F238E27FC236}">
                  <a16:creationId xmlns:a16="http://schemas.microsoft.com/office/drawing/2014/main" id="{5BF97C16-6D97-394C-50A5-7161170FFEE3}"/>
                </a:ext>
              </a:extLst>
            </p:cNvPr>
            <p:cNvSpPr/>
            <p:nvPr/>
          </p:nvSpPr>
          <p:spPr>
            <a:xfrm>
              <a:off x="7979394" y="2509291"/>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2903" name="Google Shape;2903;p26">
              <a:extLst>
                <a:ext uri="{FF2B5EF4-FFF2-40B4-BE49-F238E27FC236}">
                  <a16:creationId xmlns:a16="http://schemas.microsoft.com/office/drawing/2014/main" id="{7621E80B-FA76-DEBA-30FD-742305FFD02C}"/>
                </a:ext>
              </a:extLst>
            </p:cNvPr>
            <p:cNvSpPr txBox="1"/>
            <p:nvPr/>
          </p:nvSpPr>
          <p:spPr>
            <a:xfrm>
              <a:off x="8618804" y="3648975"/>
              <a:ext cx="2480340"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Password Management</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04" name="Google Shape;2904;p26">
              <a:extLst>
                <a:ext uri="{FF2B5EF4-FFF2-40B4-BE49-F238E27FC236}">
                  <a16:creationId xmlns:a16="http://schemas.microsoft.com/office/drawing/2014/main" id="{4E41F890-E5DC-D44F-D95F-ADBC457004F8}"/>
                </a:ext>
              </a:extLst>
            </p:cNvPr>
            <p:cNvSpPr/>
            <p:nvPr/>
          </p:nvSpPr>
          <p:spPr>
            <a:xfrm>
              <a:off x="7979404" y="3540963"/>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2905" name="Google Shape;2905;p26">
              <a:extLst>
                <a:ext uri="{FF2B5EF4-FFF2-40B4-BE49-F238E27FC236}">
                  <a16:creationId xmlns:a16="http://schemas.microsoft.com/office/drawing/2014/main" id="{1CC6C07E-70E9-AF26-0A4E-0DD05ED788F7}"/>
                </a:ext>
              </a:extLst>
            </p:cNvPr>
            <p:cNvSpPr txBox="1"/>
            <p:nvPr/>
          </p:nvSpPr>
          <p:spPr>
            <a:xfrm>
              <a:off x="8618804" y="4625774"/>
              <a:ext cx="2480340"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Configuration Drift</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06" name="Google Shape;2906;p26">
              <a:extLst>
                <a:ext uri="{FF2B5EF4-FFF2-40B4-BE49-F238E27FC236}">
                  <a16:creationId xmlns:a16="http://schemas.microsoft.com/office/drawing/2014/main" id="{E918AC6E-83EA-3C7C-DF96-10F2C3146B9D}"/>
                </a:ext>
              </a:extLst>
            </p:cNvPr>
            <p:cNvSpPr/>
            <p:nvPr/>
          </p:nvSpPr>
          <p:spPr>
            <a:xfrm>
              <a:off x="7982347" y="5028330"/>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2907" name="Google Shape;2907;p26">
              <a:extLst>
                <a:ext uri="{FF2B5EF4-FFF2-40B4-BE49-F238E27FC236}">
                  <a16:creationId xmlns:a16="http://schemas.microsoft.com/office/drawing/2014/main" id="{33130A3B-9CF0-439E-0572-945F078062EA}"/>
                </a:ext>
              </a:extLst>
            </p:cNvPr>
            <p:cNvSpPr txBox="1"/>
            <p:nvPr/>
          </p:nvSpPr>
          <p:spPr>
            <a:xfrm>
              <a:off x="8618804" y="4124453"/>
              <a:ext cx="2594796"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Tag Management</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08" name="Google Shape;2908;p26">
              <a:extLst>
                <a:ext uri="{FF2B5EF4-FFF2-40B4-BE49-F238E27FC236}">
                  <a16:creationId xmlns:a16="http://schemas.microsoft.com/office/drawing/2014/main" id="{2638E4AA-EB0B-C650-B1BD-96FE1254DD06}"/>
                </a:ext>
              </a:extLst>
            </p:cNvPr>
            <p:cNvSpPr/>
            <p:nvPr/>
          </p:nvSpPr>
          <p:spPr>
            <a:xfrm>
              <a:off x="7982347" y="4516686"/>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2909" name="Google Shape;2909;p26">
              <a:extLst>
                <a:ext uri="{FF2B5EF4-FFF2-40B4-BE49-F238E27FC236}">
                  <a16:creationId xmlns:a16="http://schemas.microsoft.com/office/drawing/2014/main" id="{43C7CB33-7533-59DD-E7AB-3EAED697EAE0}"/>
                </a:ext>
              </a:extLst>
            </p:cNvPr>
            <p:cNvSpPr txBox="1"/>
            <p:nvPr/>
          </p:nvSpPr>
          <p:spPr>
            <a:xfrm>
              <a:off x="8618806" y="3141194"/>
              <a:ext cx="2397355"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Certificate Management</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10" name="Google Shape;2910;p26">
              <a:extLst>
                <a:ext uri="{FF2B5EF4-FFF2-40B4-BE49-F238E27FC236}">
                  <a16:creationId xmlns:a16="http://schemas.microsoft.com/office/drawing/2014/main" id="{142D52E0-699A-5BCC-D3BE-40D620AF58C5}"/>
                </a:ext>
              </a:extLst>
            </p:cNvPr>
            <p:cNvSpPr/>
            <p:nvPr/>
          </p:nvSpPr>
          <p:spPr>
            <a:xfrm>
              <a:off x="7982347" y="3020935"/>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2911" name="Google Shape;2911;p26">
              <a:extLst>
                <a:ext uri="{FF2B5EF4-FFF2-40B4-BE49-F238E27FC236}">
                  <a16:creationId xmlns:a16="http://schemas.microsoft.com/office/drawing/2014/main" id="{A5DE735E-C8BA-5133-56FE-62363D1F3749}"/>
                </a:ext>
              </a:extLst>
            </p:cNvPr>
            <p:cNvSpPr txBox="1"/>
            <p:nvPr/>
          </p:nvSpPr>
          <p:spPr>
            <a:xfrm>
              <a:off x="8618804" y="5127094"/>
              <a:ext cx="2480340"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Lifecycle Management</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12" name="Google Shape;2912;p26">
              <a:extLst>
                <a:ext uri="{FF2B5EF4-FFF2-40B4-BE49-F238E27FC236}">
                  <a16:creationId xmlns:a16="http://schemas.microsoft.com/office/drawing/2014/main" id="{A600D11A-6E81-EB5A-B7DE-8408016317F7}"/>
                </a:ext>
              </a:extLst>
            </p:cNvPr>
            <p:cNvSpPr/>
            <p:nvPr/>
          </p:nvSpPr>
          <p:spPr>
            <a:xfrm>
              <a:off x="7985241" y="4024631"/>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pic>
          <p:nvPicPr>
            <p:cNvPr id="2913" name="Google Shape;2913;p26">
              <a:extLst>
                <a:ext uri="{FF2B5EF4-FFF2-40B4-BE49-F238E27FC236}">
                  <a16:creationId xmlns:a16="http://schemas.microsoft.com/office/drawing/2014/main" id="{A759B8D0-BFEF-637E-5893-962E2F67F21F}"/>
                </a:ext>
              </a:extLst>
            </p:cNvPr>
            <p:cNvPicPr preferRelativeResize="0"/>
            <p:nvPr/>
          </p:nvPicPr>
          <p:blipFill rotWithShape="1">
            <a:blip r:embed="rId10">
              <a:alphaModFix/>
            </a:blip>
            <a:srcRect/>
            <a:stretch/>
          </p:blipFill>
          <p:spPr>
            <a:xfrm>
              <a:off x="8034212" y="2601517"/>
              <a:ext cx="254402" cy="178085"/>
            </a:xfrm>
            <a:prstGeom prst="rect">
              <a:avLst/>
            </a:prstGeom>
            <a:noFill/>
            <a:ln>
              <a:noFill/>
            </a:ln>
          </p:spPr>
        </p:pic>
        <p:pic>
          <p:nvPicPr>
            <p:cNvPr id="2914" name="Google Shape;2914;p26">
              <a:extLst>
                <a:ext uri="{FF2B5EF4-FFF2-40B4-BE49-F238E27FC236}">
                  <a16:creationId xmlns:a16="http://schemas.microsoft.com/office/drawing/2014/main" id="{195721CC-6581-A7E7-1081-B98AB8CB90B5}"/>
                </a:ext>
              </a:extLst>
            </p:cNvPr>
            <p:cNvPicPr preferRelativeResize="0"/>
            <p:nvPr/>
          </p:nvPicPr>
          <p:blipFill rotWithShape="1">
            <a:blip r:embed="rId11">
              <a:alphaModFix/>
            </a:blip>
            <a:srcRect/>
            <a:stretch/>
          </p:blipFill>
          <p:spPr>
            <a:xfrm>
              <a:off x="8043287" y="3598495"/>
              <a:ext cx="252899" cy="206448"/>
            </a:xfrm>
            <a:prstGeom prst="rect">
              <a:avLst/>
            </a:prstGeom>
            <a:noFill/>
            <a:ln>
              <a:noFill/>
            </a:ln>
          </p:spPr>
        </p:pic>
        <p:pic>
          <p:nvPicPr>
            <p:cNvPr id="2915" name="Google Shape;2915;p26">
              <a:extLst>
                <a:ext uri="{FF2B5EF4-FFF2-40B4-BE49-F238E27FC236}">
                  <a16:creationId xmlns:a16="http://schemas.microsoft.com/office/drawing/2014/main" id="{8751EAF3-E919-C301-189D-175D7E2C0395}"/>
                </a:ext>
              </a:extLst>
            </p:cNvPr>
            <p:cNvPicPr preferRelativeResize="0"/>
            <p:nvPr/>
          </p:nvPicPr>
          <p:blipFill rotWithShape="1">
            <a:blip r:embed="rId12">
              <a:alphaModFix/>
            </a:blip>
            <a:srcRect/>
            <a:stretch/>
          </p:blipFill>
          <p:spPr>
            <a:xfrm>
              <a:off x="8087159" y="3081180"/>
              <a:ext cx="165158" cy="252899"/>
            </a:xfrm>
            <a:prstGeom prst="rect">
              <a:avLst/>
            </a:prstGeom>
            <a:noFill/>
            <a:ln>
              <a:noFill/>
            </a:ln>
          </p:spPr>
        </p:pic>
        <p:pic>
          <p:nvPicPr>
            <p:cNvPr id="2916" name="Google Shape;2916;p26">
              <a:extLst>
                <a:ext uri="{FF2B5EF4-FFF2-40B4-BE49-F238E27FC236}">
                  <a16:creationId xmlns:a16="http://schemas.microsoft.com/office/drawing/2014/main" id="{D2873433-73E4-CE88-3168-A99B16691E40}"/>
                </a:ext>
              </a:extLst>
            </p:cNvPr>
            <p:cNvPicPr preferRelativeResize="0"/>
            <p:nvPr/>
          </p:nvPicPr>
          <p:blipFill rotWithShape="1">
            <a:blip r:embed="rId13">
              <a:alphaModFix/>
            </a:blip>
            <a:srcRect/>
            <a:stretch/>
          </p:blipFill>
          <p:spPr>
            <a:xfrm>
              <a:off x="8015742" y="4115370"/>
              <a:ext cx="290862" cy="178079"/>
            </a:xfrm>
            <a:prstGeom prst="rect">
              <a:avLst/>
            </a:prstGeom>
            <a:noFill/>
            <a:ln>
              <a:noFill/>
            </a:ln>
          </p:spPr>
        </p:pic>
        <p:sp>
          <p:nvSpPr>
            <p:cNvPr id="2917" name="Google Shape;2917;p26">
              <a:extLst>
                <a:ext uri="{FF2B5EF4-FFF2-40B4-BE49-F238E27FC236}">
                  <a16:creationId xmlns:a16="http://schemas.microsoft.com/office/drawing/2014/main" id="{B392E6E4-2AA7-A9AB-286D-7BA7948CD3F4}"/>
                </a:ext>
              </a:extLst>
            </p:cNvPr>
            <p:cNvSpPr txBox="1"/>
            <p:nvPr/>
          </p:nvSpPr>
          <p:spPr>
            <a:xfrm>
              <a:off x="8472687" y="2040143"/>
              <a:ext cx="2990953" cy="22154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800"/>
                <a:buFont typeface="Arial"/>
                <a:buNone/>
                <a:tabLst/>
                <a:defRPr/>
              </a:pPr>
              <a:r>
                <a:rPr kumimoji="0" lang="en-US" sz="1600" b="0" i="0" u="none" strike="noStrike" kern="1200" cap="none" spc="0" normalizeH="0" baseline="0" noProof="0">
                  <a:ln>
                    <a:noFill/>
                  </a:ln>
                  <a:solidFill>
                    <a:srgbClr val="0098C7"/>
                  </a:solidFill>
                  <a:effectLst/>
                  <a:uLnTx/>
                  <a:uFillTx/>
                  <a:latin typeface="Arial"/>
                  <a:ea typeface="Arial"/>
                  <a:cs typeface="Arial"/>
                  <a:sym typeface="Arial"/>
                </a:rPr>
                <a:t>VCF Fleet Management</a:t>
              </a:r>
              <a:endParaRPr kumimoji="0" sz="1600" b="0" i="0" u="none" strike="noStrike" kern="1200" cap="none" spc="0" normalizeH="0" baseline="0" noProof="0">
                <a:ln>
                  <a:noFill/>
                </a:ln>
                <a:solidFill>
                  <a:srgbClr val="0098C7"/>
                </a:solidFill>
                <a:effectLst/>
                <a:uLnTx/>
                <a:uFillTx/>
                <a:latin typeface="Arial"/>
                <a:ea typeface="Arial"/>
                <a:cs typeface="Arial"/>
                <a:sym typeface="Arial"/>
              </a:endParaRPr>
            </a:p>
          </p:txBody>
        </p:sp>
        <p:pic>
          <p:nvPicPr>
            <p:cNvPr id="2918" name="Google Shape;2918;p26">
              <a:extLst>
                <a:ext uri="{FF2B5EF4-FFF2-40B4-BE49-F238E27FC236}">
                  <a16:creationId xmlns:a16="http://schemas.microsoft.com/office/drawing/2014/main" id="{681AFDD5-9820-229A-F36E-83D1B092E349}"/>
                </a:ext>
              </a:extLst>
            </p:cNvPr>
            <p:cNvPicPr preferRelativeResize="0"/>
            <p:nvPr/>
          </p:nvPicPr>
          <p:blipFill rotWithShape="1">
            <a:blip r:embed="rId14">
              <a:alphaModFix/>
            </a:blip>
            <a:srcRect/>
            <a:stretch/>
          </p:blipFill>
          <p:spPr>
            <a:xfrm>
              <a:off x="8046126" y="4597655"/>
              <a:ext cx="254402" cy="233634"/>
            </a:xfrm>
            <a:prstGeom prst="rect">
              <a:avLst/>
            </a:prstGeom>
            <a:noFill/>
            <a:ln>
              <a:noFill/>
            </a:ln>
          </p:spPr>
        </p:pic>
        <p:grpSp>
          <p:nvGrpSpPr>
            <p:cNvPr id="2919" name="Google Shape;2919;p26">
              <a:extLst>
                <a:ext uri="{FF2B5EF4-FFF2-40B4-BE49-F238E27FC236}">
                  <a16:creationId xmlns:a16="http://schemas.microsoft.com/office/drawing/2014/main" id="{3534D766-9D68-9897-318D-D3E567FAE097}"/>
                </a:ext>
              </a:extLst>
            </p:cNvPr>
            <p:cNvGrpSpPr/>
            <p:nvPr/>
          </p:nvGrpSpPr>
          <p:grpSpPr>
            <a:xfrm>
              <a:off x="8037213" y="5077773"/>
              <a:ext cx="262797" cy="262796"/>
              <a:chOff x="3544748" y="4874841"/>
              <a:chExt cx="739588" cy="739586"/>
            </a:xfrm>
          </p:grpSpPr>
          <p:grpSp>
            <p:nvGrpSpPr>
              <p:cNvPr id="2920" name="Google Shape;2920;p26">
                <a:extLst>
                  <a:ext uri="{FF2B5EF4-FFF2-40B4-BE49-F238E27FC236}">
                    <a16:creationId xmlns:a16="http://schemas.microsoft.com/office/drawing/2014/main" id="{BBD35D8A-1E18-F69E-274B-30299DBE5503}"/>
                  </a:ext>
                </a:extLst>
              </p:cNvPr>
              <p:cNvGrpSpPr/>
              <p:nvPr/>
            </p:nvGrpSpPr>
            <p:grpSpPr>
              <a:xfrm>
                <a:off x="3672761" y="5003383"/>
                <a:ext cx="480897" cy="494931"/>
                <a:chOff x="3672761" y="5003383"/>
                <a:chExt cx="480897" cy="494931"/>
              </a:xfrm>
            </p:grpSpPr>
            <p:grpSp>
              <p:nvGrpSpPr>
                <p:cNvPr id="2921" name="Google Shape;2921;p26">
                  <a:extLst>
                    <a:ext uri="{FF2B5EF4-FFF2-40B4-BE49-F238E27FC236}">
                      <a16:creationId xmlns:a16="http://schemas.microsoft.com/office/drawing/2014/main" id="{97FC76C7-38F2-444A-2029-CC978463356A}"/>
                    </a:ext>
                  </a:extLst>
                </p:cNvPr>
                <p:cNvGrpSpPr/>
                <p:nvPr/>
              </p:nvGrpSpPr>
              <p:grpSpPr>
                <a:xfrm>
                  <a:off x="3672761" y="5003383"/>
                  <a:ext cx="454934" cy="454954"/>
                  <a:chOff x="3672761" y="5003383"/>
                  <a:chExt cx="454934" cy="454954"/>
                </a:xfrm>
              </p:grpSpPr>
              <p:sp>
                <p:nvSpPr>
                  <p:cNvPr id="2922" name="Google Shape;2922;p26">
                    <a:extLst>
                      <a:ext uri="{FF2B5EF4-FFF2-40B4-BE49-F238E27FC236}">
                        <a16:creationId xmlns:a16="http://schemas.microsoft.com/office/drawing/2014/main" id="{E2B67FC2-A8B4-93F3-C4AF-A40EF6B37991}"/>
                      </a:ext>
                    </a:extLst>
                  </p:cNvPr>
                  <p:cNvSpPr/>
                  <p:nvPr/>
                </p:nvSpPr>
                <p:spPr>
                  <a:xfrm>
                    <a:off x="3672761" y="5254171"/>
                    <a:ext cx="203636" cy="204166"/>
                  </a:xfrm>
                  <a:custGeom>
                    <a:avLst/>
                    <a:gdLst/>
                    <a:ahLst/>
                    <a:cxnLst/>
                    <a:rect l="l" t="t" r="r" b="b"/>
                    <a:pathLst>
                      <a:path w="203636" h="204166" extrusionOk="0">
                        <a:moveTo>
                          <a:pt x="203636" y="37615"/>
                        </a:moveTo>
                        <a:lnTo>
                          <a:pt x="169200" y="3179"/>
                        </a:lnTo>
                        <a:cubicBezTo>
                          <a:pt x="168140" y="2119"/>
                          <a:pt x="167611" y="1060"/>
                          <a:pt x="166551" y="0"/>
                        </a:cubicBezTo>
                        <a:lnTo>
                          <a:pt x="109863" y="57217"/>
                        </a:lnTo>
                        <a:lnTo>
                          <a:pt x="95559" y="71522"/>
                        </a:lnTo>
                        <a:cubicBezTo>
                          <a:pt x="70659" y="60926"/>
                          <a:pt x="40461" y="66224"/>
                          <a:pt x="20329" y="86356"/>
                        </a:cubicBezTo>
                        <a:cubicBezTo>
                          <a:pt x="197" y="106488"/>
                          <a:pt x="-5101" y="136156"/>
                          <a:pt x="4965" y="161056"/>
                        </a:cubicBezTo>
                        <a:lnTo>
                          <a:pt x="39401" y="126620"/>
                        </a:lnTo>
                        <a:lnTo>
                          <a:pt x="69599" y="134567"/>
                        </a:lnTo>
                        <a:lnTo>
                          <a:pt x="77546" y="164765"/>
                        </a:lnTo>
                        <a:lnTo>
                          <a:pt x="43110" y="199201"/>
                        </a:lnTo>
                        <a:cubicBezTo>
                          <a:pt x="68010" y="209267"/>
                          <a:pt x="97678" y="203969"/>
                          <a:pt x="117810" y="183837"/>
                        </a:cubicBezTo>
                        <a:cubicBezTo>
                          <a:pt x="138472" y="163175"/>
                          <a:pt x="143240" y="133507"/>
                          <a:pt x="132644" y="108607"/>
                        </a:cubicBezTo>
                        <a:lnTo>
                          <a:pt x="146949" y="94303"/>
                        </a:lnTo>
                        <a:lnTo>
                          <a:pt x="203636" y="37615"/>
                        </a:ln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23" name="Google Shape;2923;p26">
                    <a:extLst>
                      <a:ext uri="{FF2B5EF4-FFF2-40B4-BE49-F238E27FC236}">
                        <a16:creationId xmlns:a16="http://schemas.microsoft.com/office/drawing/2014/main" id="{1E49BBDE-EF9A-F088-C1C8-299B6D0C42FA}"/>
                      </a:ext>
                    </a:extLst>
                  </p:cNvPr>
                  <p:cNvSpPr/>
                  <p:nvPr/>
                </p:nvSpPr>
                <p:spPr>
                  <a:xfrm>
                    <a:off x="3915072" y="5003383"/>
                    <a:ext cx="212623" cy="212112"/>
                  </a:xfrm>
                  <a:custGeom>
                    <a:avLst/>
                    <a:gdLst/>
                    <a:ahLst/>
                    <a:cxnLst/>
                    <a:rect l="l" t="t" r="r" b="b"/>
                    <a:pathLst>
                      <a:path w="212623" h="212112" extrusionOk="0">
                        <a:moveTo>
                          <a:pt x="207678" y="43110"/>
                        </a:moveTo>
                        <a:lnTo>
                          <a:pt x="173241" y="77546"/>
                        </a:lnTo>
                        <a:lnTo>
                          <a:pt x="143043" y="69599"/>
                        </a:lnTo>
                        <a:lnTo>
                          <a:pt x="135096" y="39401"/>
                        </a:lnTo>
                        <a:lnTo>
                          <a:pt x="169533" y="4965"/>
                        </a:lnTo>
                        <a:cubicBezTo>
                          <a:pt x="144633" y="-5101"/>
                          <a:pt x="114964" y="197"/>
                          <a:pt x="94832" y="20329"/>
                        </a:cubicBezTo>
                        <a:cubicBezTo>
                          <a:pt x="74171" y="40991"/>
                          <a:pt x="69403" y="70659"/>
                          <a:pt x="79998" y="95559"/>
                        </a:cubicBezTo>
                        <a:lnTo>
                          <a:pt x="65694" y="109863"/>
                        </a:lnTo>
                        <a:lnTo>
                          <a:pt x="0" y="175028"/>
                        </a:lnTo>
                        <a:cubicBezTo>
                          <a:pt x="1060" y="175557"/>
                          <a:pt x="2119" y="176617"/>
                          <a:pt x="3179" y="177677"/>
                        </a:cubicBezTo>
                        <a:lnTo>
                          <a:pt x="37615" y="212113"/>
                        </a:lnTo>
                        <a:lnTo>
                          <a:pt x="102249" y="147479"/>
                        </a:lnTo>
                        <a:lnTo>
                          <a:pt x="116554" y="133174"/>
                        </a:lnTo>
                        <a:cubicBezTo>
                          <a:pt x="141454" y="143770"/>
                          <a:pt x="171652" y="138472"/>
                          <a:pt x="191784" y="118340"/>
                        </a:cubicBezTo>
                        <a:cubicBezTo>
                          <a:pt x="212446" y="97678"/>
                          <a:pt x="217744" y="68010"/>
                          <a:pt x="207678" y="43110"/>
                        </a:cubicBez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924" name="Google Shape;2924;p26">
                  <a:extLst>
                    <a:ext uri="{FF2B5EF4-FFF2-40B4-BE49-F238E27FC236}">
                      <a16:creationId xmlns:a16="http://schemas.microsoft.com/office/drawing/2014/main" id="{0C49F1A0-F9D6-3391-1C90-8035998DCED0}"/>
                    </a:ext>
                  </a:extLst>
                </p:cNvPr>
                <p:cNvGrpSpPr/>
                <p:nvPr/>
              </p:nvGrpSpPr>
              <p:grpSpPr>
                <a:xfrm>
                  <a:off x="3694149" y="5034308"/>
                  <a:ext cx="459509" cy="464006"/>
                  <a:chOff x="3694149" y="5034308"/>
                  <a:chExt cx="459509" cy="464006"/>
                </a:xfrm>
              </p:grpSpPr>
              <p:sp>
                <p:nvSpPr>
                  <p:cNvPr id="2925" name="Google Shape;2925;p26">
                    <a:extLst>
                      <a:ext uri="{FF2B5EF4-FFF2-40B4-BE49-F238E27FC236}">
                        <a16:creationId xmlns:a16="http://schemas.microsoft.com/office/drawing/2014/main" id="{BEF23D68-44AB-95CE-1663-DB57F0C2F124}"/>
                      </a:ext>
                    </a:extLst>
                  </p:cNvPr>
                  <p:cNvSpPr/>
                  <p:nvPr/>
                </p:nvSpPr>
                <p:spPr>
                  <a:xfrm>
                    <a:off x="3906595" y="5243475"/>
                    <a:ext cx="247063" cy="254839"/>
                  </a:xfrm>
                  <a:custGeom>
                    <a:avLst/>
                    <a:gdLst/>
                    <a:ahLst/>
                    <a:cxnLst/>
                    <a:rect l="l" t="t" r="r" b="b"/>
                    <a:pathLst>
                      <a:path w="247063" h="254839" extrusionOk="0">
                        <a:moveTo>
                          <a:pt x="106488" y="4339"/>
                        </a:moveTo>
                        <a:cubicBezTo>
                          <a:pt x="110196" y="1160"/>
                          <a:pt x="114964" y="-429"/>
                          <a:pt x="119733" y="100"/>
                        </a:cubicBezTo>
                        <a:cubicBezTo>
                          <a:pt x="124501" y="100"/>
                          <a:pt x="129269" y="2220"/>
                          <a:pt x="132447" y="5928"/>
                        </a:cubicBezTo>
                        <a:cubicBezTo>
                          <a:pt x="136156" y="9637"/>
                          <a:pt x="138275" y="14405"/>
                          <a:pt x="138275" y="19703"/>
                        </a:cubicBezTo>
                        <a:cubicBezTo>
                          <a:pt x="138275" y="25001"/>
                          <a:pt x="136156" y="29769"/>
                          <a:pt x="132447" y="33477"/>
                        </a:cubicBezTo>
                        <a:lnTo>
                          <a:pt x="122911" y="43013"/>
                        </a:lnTo>
                        <a:lnTo>
                          <a:pt x="228339" y="152680"/>
                        </a:lnTo>
                        <a:cubicBezTo>
                          <a:pt x="245293" y="170163"/>
                          <a:pt x="251120" y="195063"/>
                          <a:pt x="244233" y="218374"/>
                        </a:cubicBezTo>
                        <a:cubicBezTo>
                          <a:pt x="238935" y="237446"/>
                          <a:pt x="230988" y="246983"/>
                          <a:pt x="207678" y="252810"/>
                        </a:cubicBezTo>
                        <a:cubicBezTo>
                          <a:pt x="184367" y="258638"/>
                          <a:pt x="159467" y="251751"/>
                          <a:pt x="142514" y="234268"/>
                        </a:cubicBezTo>
                        <a:lnTo>
                          <a:pt x="40794" y="125131"/>
                        </a:lnTo>
                        <a:lnTo>
                          <a:pt x="33377" y="132548"/>
                        </a:lnTo>
                        <a:lnTo>
                          <a:pt x="33377" y="132548"/>
                        </a:lnTo>
                        <a:cubicBezTo>
                          <a:pt x="28609" y="137316"/>
                          <a:pt x="21721" y="139435"/>
                          <a:pt x="15364" y="137846"/>
                        </a:cubicBezTo>
                        <a:cubicBezTo>
                          <a:pt x="9006" y="136256"/>
                          <a:pt x="3179" y="131488"/>
                          <a:pt x="1060" y="125131"/>
                        </a:cubicBezTo>
                        <a:cubicBezTo>
                          <a:pt x="-1060" y="118773"/>
                          <a:pt x="0" y="111886"/>
                          <a:pt x="4238" y="106588"/>
                        </a:cubicBezTo>
                        <a:lnTo>
                          <a:pt x="106488" y="4339"/>
                        </a:ln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26" name="Google Shape;2926;p26">
                    <a:extLst>
                      <a:ext uri="{FF2B5EF4-FFF2-40B4-BE49-F238E27FC236}">
                        <a16:creationId xmlns:a16="http://schemas.microsoft.com/office/drawing/2014/main" id="{258F41BB-6404-6653-BE6C-8D852EA97F29}"/>
                      </a:ext>
                    </a:extLst>
                  </p:cNvPr>
                  <p:cNvSpPr/>
                  <p:nvPr/>
                </p:nvSpPr>
                <p:spPr>
                  <a:xfrm>
                    <a:off x="3694149" y="5034308"/>
                    <a:ext cx="267014" cy="265424"/>
                  </a:xfrm>
                  <a:custGeom>
                    <a:avLst/>
                    <a:gdLst/>
                    <a:ahLst/>
                    <a:cxnLst/>
                    <a:rect l="l" t="t" r="r" b="b"/>
                    <a:pathLst>
                      <a:path w="267014" h="265424" extrusionOk="0">
                        <a:moveTo>
                          <a:pt x="34966" y="0"/>
                        </a:moveTo>
                        <a:lnTo>
                          <a:pt x="106488" y="42913"/>
                        </a:lnTo>
                        <a:lnTo>
                          <a:pt x="145162" y="115494"/>
                        </a:lnTo>
                        <a:lnTo>
                          <a:pt x="267014" y="237346"/>
                        </a:lnTo>
                        <a:lnTo>
                          <a:pt x="238935" y="265425"/>
                        </a:lnTo>
                        <a:lnTo>
                          <a:pt x="117084" y="143573"/>
                        </a:lnTo>
                        <a:lnTo>
                          <a:pt x="43973" y="105428"/>
                        </a:lnTo>
                        <a:lnTo>
                          <a:pt x="0" y="34966"/>
                        </a:lnTo>
                        <a:lnTo>
                          <a:pt x="34966" y="0"/>
                        </a:lnTo>
                        <a:close/>
                        <a:moveTo>
                          <a:pt x="57747" y="90594"/>
                        </a:moveTo>
                        <a:lnTo>
                          <a:pt x="58807" y="91124"/>
                        </a:lnTo>
                        <a:lnTo>
                          <a:pt x="91654" y="58277"/>
                        </a:lnTo>
                        <a:lnTo>
                          <a:pt x="91124" y="57747"/>
                        </a:lnTo>
                        <a:lnTo>
                          <a:pt x="37615" y="25430"/>
                        </a:lnTo>
                        <a:lnTo>
                          <a:pt x="24900" y="38145"/>
                        </a:lnTo>
                        <a:lnTo>
                          <a:pt x="57747" y="90594"/>
                        </a:ln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sp>
            <p:nvSpPr>
              <p:cNvPr id="2927" name="Google Shape;2927;p26">
                <a:extLst>
                  <a:ext uri="{FF2B5EF4-FFF2-40B4-BE49-F238E27FC236}">
                    <a16:creationId xmlns:a16="http://schemas.microsoft.com/office/drawing/2014/main" id="{157D7FD9-0B7F-DD93-5579-82AAA7F63DA1}"/>
                  </a:ext>
                </a:extLst>
              </p:cNvPr>
              <p:cNvSpPr/>
              <p:nvPr/>
            </p:nvSpPr>
            <p:spPr>
              <a:xfrm>
                <a:off x="3544748" y="4874841"/>
                <a:ext cx="739588" cy="739586"/>
              </a:xfrm>
              <a:custGeom>
                <a:avLst/>
                <a:gdLst/>
                <a:ahLst/>
                <a:cxnLst/>
                <a:rect l="l" t="t" r="r" b="b"/>
                <a:pathLst>
                  <a:path w="739588" h="739586" extrusionOk="0">
                    <a:moveTo>
                      <a:pt x="370323" y="0"/>
                    </a:moveTo>
                    <a:cubicBezTo>
                      <a:pt x="312576" y="0"/>
                      <a:pt x="258008" y="13245"/>
                      <a:pt x="209267" y="36556"/>
                    </a:cubicBezTo>
                    <a:lnTo>
                      <a:pt x="221452" y="60396"/>
                    </a:lnTo>
                    <a:cubicBezTo>
                      <a:pt x="266484" y="38675"/>
                      <a:pt x="317344" y="26490"/>
                      <a:pt x="370323" y="26490"/>
                    </a:cubicBezTo>
                    <a:cubicBezTo>
                      <a:pt x="559458" y="26490"/>
                      <a:pt x="713627" y="180658"/>
                      <a:pt x="713627" y="369793"/>
                    </a:cubicBezTo>
                    <a:cubicBezTo>
                      <a:pt x="713627" y="558928"/>
                      <a:pt x="559458" y="713097"/>
                      <a:pt x="370323" y="713097"/>
                    </a:cubicBezTo>
                    <a:cubicBezTo>
                      <a:pt x="181188" y="713097"/>
                      <a:pt x="27019" y="558928"/>
                      <a:pt x="27019" y="369793"/>
                    </a:cubicBezTo>
                    <a:cubicBezTo>
                      <a:pt x="27019" y="282908"/>
                      <a:pt x="59336" y="203439"/>
                      <a:pt x="112845" y="143043"/>
                    </a:cubicBezTo>
                    <a:lnTo>
                      <a:pt x="145692" y="179599"/>
                    </a:lnTo>
                    <a:lnTo>
                      <a:pt x="188605" y="50860"/>
                    </a:lnTo>
                    <a:lnTo>
                      <a:pt x="55628" y="78409"/>
                    </a:lnTo>
                    <a:lnTo>
                      <a:pt x="95362" y="122911"/>
                    </a:lnTo>
                    <a:cubicBezTo>
                      <a:pt x="36026" y="188605"/>
                      <a:pt x="0" y="274961"/>
                      <a:pt x="0" y="369793"/>
                    </a:cubicBezTo>
                    <a:cubicBezTo>
                      <a:pt x="0" y="574292"/>
                      <a:pt x="165824" y="739587"/>
                      <a:pt x="369793" y="739587"/>
                    </a:cubicBezTo>
                    <a:cubicBezTo>
                      <a:pt x="574292" y="739587"/>
                      <a:pt x="739587" y="573763"/>
                      <a:pt x="739587" y="369793"/>
                    </a:cubicBezTo>
                    <a:cubicBezTo>
                      <a:pt x="740117" y="165294"/>
                      <a:pt x="574292" y="0"/>
                      <a:pt x="370323" y="0"/>
                    </a:cubicBez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sp>
        <p:nvSpPr>
          <p:cNvPr id="2928" name="Google Shape;2928;p26">
            <a:extLst>
              <a:ext uri="{FF2B5EF4-FFF2-40B4-BE49-F238E27FC236}">
                <a16:creationId xmlns:a16="http://schemas.microsoft.com/office/drawing/2014/main" id="{60D38C1A-CC5B-548D-B6F5-77AFF05D2381}"/>
              </a:ext>
            </a:extLst>
          </p:cNvPr>
          <p:cNvSpPr/>
          <p:nvPr/>
        </p:nvSpPr>
        <p:spPr>
          <a:xfrm>
            <a:off x="776849" y="1728862"/>
            <a:ext cx="2890911" cy="3731229"/>
          </a:xfrm>
          <a:prstGeom prst="rect">
            <a:avLst/>
          </a:prstGeom>
          <a:solidFill>
            <a:schemeClr val="lt1">
              <a:alpha val="71372"/>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5" name="Group 4">
            <a:extLst>
              <a:ext uri="{FF2B5EF4-FFF2-40B4-BE49-F238E27FC236}">
                <a16:creationId xmlns:a16="http://schemas.microsoft.com/office/drawing/2014/main" id="{7D0696C0-92D3-4161-7133-4756E0B3B846}"/>
              </a:ext>
            </a:extLst>
          </p:cNvPr>
          <p:cNvGrpSpPr/>
          <p:nvPr/>
        </p:nvGrpSpPr>
        <p:grpSpPr>
          <a:xfrm>
            <a:off x="4097637" y="1900613"/>
            <a:ext cx="3247876" cy="3275608"/>
            <a:chOff x="4097637" y="1900613"/>
            <a:chExt cx="3247876" cy="3275608"/>
          </a:xfrm>
        </p:grpSpPr>
        <p:sp>
          <p:nvSpPr>
            <p:cNvPr id="2859" name="Google Shape;2859;p26">
              <a:extLst>
                <a:ext uri="{FF2B5EF4-FFF2-40B4-BE49-F238E27FC236}">
                  <a16:creationId xmlns:a16="http://schemas.microsoft.com/office/drawing/2014/main" id="{899D6C5C-23D2-3516-1750-516C831010A1}"/>
                </a:ext>
              </a:extLst>
            </p:cNvPr>
            <p:cNvSpPr/>
            <p:nvPr/>
          </p:nvSpPr>
          <p:spPr>
            <a:xfrm>
              <a:off x="4097637" y="2893604"/>
              <a:ext cx="3247876" cy="2282617"/>
            </a:xfrm>
            <a:prstGeom prst="roundRect">
              <a:avLst>
                <a:gd name="adj" fmla="val 2356"/>
              </a:avLst>
            </a:prstGeom>
            <a:solidFill>
              <a:srgbClr val="E8E8EA"/>
            </a:solidFill>
            <a:ln>
              <a:solidFill>
                <a:schemeClr val="tx1"/>
              </a:solid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60" name="Google Shape;2860;p26">
              <a:extLst>
                <a:ext uri="{FF2B5EF4-FFF2-40B4-BE49-F238E27FC236}">
                  <a16:creationId xmlns:a16="http://schemas.microsoft.com/office/drawing/2014/main" id="{624A4724-556E-8689-F4DB-EB54B1C3E4DE}"/>
                </a:ext>
              </a:extLst>
            </p:cNvPr>
            <p:cNvSpPr/>
            <p:nvPr/>
          </p:nvSpPr>
          <p:spPr>
            <a:xfrm>
              <a:off x="4190324" y="4122456"/>
              <a:ext cx="3048433" cy="901416"/>
            </a:xfrm>
            <a:prstGeom prst="roundRect">
              <a:avLst>
                <a:gd name="adj" fmla="val 6349"/>
              </a:avLst>
            </a:prstGeom>
            <a:noFill/>
            <a:ln w="25400" cap="flat" cmpd="sng">
              <a:solidFill>
                <a:schemeClr val="accent2"/>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2861" name="Google Shape;2861;p26">
              <a:extLst>
                <a:ext uri="{FF2B5EF4-FFF2-40B4-BE49-F238E27FC236}">
                  <a16:creationId xmlns:a16="http://schemas.microsoft.com/office/drawing/2014/main" id="{E630D306-27A6-F108-28EB-1F1C4BD21F8D}"/>
                </a:ext>
              </a:extLst>
            </p:cNvPr>
            <p:cNvGrpSpPr/>
            <p:nvPr/>
          </p:nvGrpSpPr>
          <p:grpSpPr>
            <a:xfrm>
              <a:off x="6482182" y="4400529"/>
              <a:ext cx="519660" cy="519660"/>
              <a:chOff x="10722212" y="2729558"/>
              <a:chExt cx="663407" cy="663407"/>
            </a:xfrm>
          </p:grpSpPr>
          <p:sp>
            <p:nvSpPr>
              <p:cNvPr id="2862" name="Google Shape;2862;p26">
                <a:extLst>
                  <a:ext uri="{FF2B5EF4-FFF2-40B4-BE49-F238E27FC236}">
                    <a16:creationId xmlns:a16="http://schemas.microsoft.com/office/drawing/2014/main" id="{321BE0A4-231A-E80B-4507-56CD0269BF9E}"/>
                  </a:ext>
                </a:extLst>
              </p:cNvPr>
              <p:cNvSpPr/>
              <p:nvPr/>
            </p:nvSpPr>
            <p:spPr>
              <a:xfrm>
                <a:off x="10722212" y="2729558"/>
                <a:ext cx="663407" cy="663407"/>
              </a:xfrm>
              <a:prstGeom prst="ellipse">
                <a:avLst/>
              </a:prstGeom>
              <a:solidFill>
                <a:schemeClr val="accent2"/>
              </a:soli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63" name="Google Shape;2863;p26">
                <a:extLst>
                  <a:ext uri="{FF2B5EF4-FFF2-40B4-BE49-F238E27FC236}">
                    <a16:creationId xmlns:a16="http://schemas.microsoft.com/office/drawing/2014/main" id="{D236C100-2B53-CF02-1DDA-E5F4D0FF3EEE}"/>
                  </a:ext>
                </a:extLst>
              </p:cNvPr>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864" name="Google Shape;2864;p26">
              <a:extLst>
                <a:ext uri="{FF2B5EF4-FFF2-40B4-BE49-F238E27FC236}">
                  <a16:creationId xmlns:a16="http://schemas.microsoft.com/office/drawing/2014/main" id="{20270B24-3445-EF71-D105-5276B9263D76}"/>
                </a:ext>
              </a:extLst>
            </p:cNvPr>
            <p:cNvGrpSpPr/>
            <p:nvPr/>
          </p:nvGrpSpPr>
          <p:grpSpPr>
            <a:xfrm>
              <a:off x="4380967" y="4400310"/>
              <a:ext cx="519660" cy="519660"/>
              <a:chOff x="572541" y="5475121"/>
              <a:chExt cx="663407" cy="663407"/>
            </a:xfrm>
          </p:grpSpPr>
          <p:sp>
            <p:nvSpPr>
              <p:cNvPr id="2865" name="Google Shape;2865;p26">
                <a:extLst>
                  <a:ext uri="{FF2B5EF4-FFF2-40B4-BE49-F238E27FC236}">
                    <a16:creationId xmlns:a16="http://schemas.microsoft.com/office/drawing/2014/main" id="{F42E9BBA-AB90-8E84-4E75-593CA194569C}"/>
                  </a:ext>
                </a:extLst>
              </p:cNvPr>
              <p:cNvSpPr/>
              <p:nvPr/>
            </p:nvSpPr>
            <p:spPr>
              <a:xfrm>
                <a:off x="572541" y="5475121"/>
                <a:ext cx="663407" cy="663407"/>
              </a:xfrm>
              <a:prstGeom prst="ellipse">
                <a:avLst/>
              </a:prstGeom>
              <a:solidFill>
                <a:schemeClr val="accent5"/>
              </a:soli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66" name="Google Shape;2866;p26">
                <a:extLst>
                  <a:ext uri="{FF2B5EF4-FFF2-40B4-BE49-F238E27FC236}">
                    <a16:creationId xmlns:a16="http://schemas.microsoft.com/office/drawing/2014/main" id="{848E21BE-CEF2-8083-2522-0659698C31E1}"/>
                  </a:ext>
                </a:extLst>
              </p:cNvPr>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867" name="Google Shape;2867;p26">
              <a:extLst>
                <a:ext uri="{FF2B5EF4-FFF2-40B4-BE49-F238E27FC236}">
                  <a16:creationId xmlns:a16="http://schemas.microsoft.com/office/drawing/2014/main" id="{0D0BD4B0-5F99-22FB-510B-F2D6FC0912BC}"/>
                </a:ext>
              </a:extLst>
            </p:cNvPr>
            <p:cNvGrpSpPr/>
            <p:nvPr/>
          </p:nvGrpSpPr>
          <p:grpSpPr>
            <a:xfrm>
              <a:off x="5424064" y="4400312"/>
              <a:ext cx="519660" cy="519660"/>
              <a:chOff x="9272259" y="5475121"/>
              <a:chExt cx="663407" cy="663407"/>
            </a:xfrm>
          </p:grpSpPr>
          <p:sp>
            <p:nvSpPr>
              <p:cNvPr id="2868" name="Google Shape;2868;p26">
                <a:extLst>
                  <a:ext uri="{FF2B5EF4-FFF2-40B4-BE49-F238E27FC236}">
                    <a16:creationId xmlns:a16="http://schemas.microsoft.com/office/drawing/2014/main" id="{9F8AE37E-C4D8-2BFC-A299-4A93009685E4}"/>
                  </a:ext>
                </a:extLst>
              </p:cNvPr>
              <p:cNvSpPr/>
              <p:nvPr/>
            </p:nvSpPr>
            <p:spPr>
              <a:xfrm>
                <a:off x="9272259" y="5475121"/>
                <a:ext cx="663407" cy="663407"/>
              </a:xfrm>
              <a:prstGeom prst="ellipse">
                <a:avLst/>
              </a:prstGeom>
              <a:gradFill>
                <a:gsLst>
                  <a:gs pos="0">
                    <a:schemeClr val="accent2"/>
                  </a:gs>
                  <a:gs pos="100000">
                    <a:schemeClr val="accent2"/>
                  </a:gs>
                </a:gsLst>
                <a:lin ang="0" scaled="0"/>
              </a:gra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69" name="Google Shape;2869;p26">
                <a:extLst>
                  <a:ext uri="{FF2B5EF4-FFF2-40B4-BE49-F238E27FC236}">
                    <a16:creationId xmlns:a16="http://schemas.microsoft.com/office/drawing/2014/main" id="{4A604130-1F15-9306-69A8-85F0FD981E46}"/>
                  </a:ext>
                </a:extLst>
              </p:cNvPr>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2870" name="Google Shape;2870;p26">
              <a:extLst>
                <a:ext uri="{FF2B5EF4-FFF2-40B4-BE49-F238E27FC236}">
                  <a16:creationId xmlns:a16="http://schemas.microsoft.com/office/drawing/2014/main" id="{43F37499-2546-9FC9-1E4F-5C0221FE4326}"/>
                </a:ext>
              </a:extLst>
            </p:cNvPr>
            <p:cNvSpPr/>
            <p:nvPr/>
          </p:nvSpPr>
          <p:spPr>
            <a:xfrm>
              <a:off x="4254762" y="3019567"/>
              <a:ext cx="2931032" cy="429809"/>
            </a:xfrm>
            <a:prstGeom prst="roundRect">
              <a:avLst>
                <a:gd name="adj" fmla="val 50000"/>
              </a:avLst>
            </a:prstGeom>
            <a:solidFill>
              <a:schemeClr val="lt1"/>
            </a:solidFill>
            <a:ln w="25400" cap="flat" cmpd="sng">
              <a:solidFill>
                <a:schemeClr val="accent5"/>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         </a:t>
              </a: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VMware Cloud Foundation Instance</a:t>
              </a:r>
              <a:endParaRPr kumimoji="0" sz="1000" b="0" i="0" u="none" strike="noStrike" kern="1200" cap="none" spc="0" normalizeH="0" baseline="0" noProof="0" dirty="0">
                <a:ln>
                  <a:noFill/>
                </a:ln>
                <a:solidFill>
                  <a:srgbClr val="000000"/>
                </a:solidFill>
                <a:effectLst/>
                <a:uLnTx/>
                <a:uFillTx/>
                <a:latin typeface="Arial"/>
                <a:ea typeface="Arial"/>
                <a:cs typeface="Arial"/>
                <a:sym typeface="Arial"/>
              </a:endParaRPr>
            </a:p>
          </p:txBody>
        </p:sp>
        <p:pic>
          <p:nvPicPr>
            <p:cNvPr id="2871" name="Google Shape;2871;p26">
              <a:extLst>
                <a:ext uri="{FF2B5EF4-FFF2-40B4-BE49-F238E27FC236}">
                  <a16:creationId xmlns:a16="http://schemas.microsoft.com/office/drawing/2014/main" id="{3267DC19-3F76-8808-8A91-F9E4596DABDC}"/>
                </a:ext>
              </a:extLst>
            </p:cNvPr>
            <p:cNvPicPr preferRelativeResize="0"/>
            <p:nvPr/>
          </p:nvPicPr>
          <p:blipFill rotWithShape="1">
            <a:blip r:embed="rId3">
              <a:alphaModFix/>
            </a:blip>
            <a:srcRect/>
            <a:stretch/>
          </p:blipFill>
          <p:spPr>
            <a:xfrm>
              <a:off x="4511014" y="3063045"/>
              <a:ext cx="289251" cy="317890"/>
            </a:xfrm>
            <a:prstGeom prst="rect">
              <a:avLst/>
            </a:prstGeom>
            <a:noFill/>
            <a:ln>
              <a:noFill/>
            </a:ln>
          </p:spPr>
        </p:pic>
        <p:sp>
          <p:nvSpPr>
            <p:cNvPr id="2872" name="Google Shape;2872;p26">
              <a:extLst>
                <a:ext uri="{FF2B5EF4-FFF2-40B4-BE49-F238E27FC236}">
                  <a16:creationId xmlns:a16="http://schemas.microsoft.com/office/drawing/2014/main" id="{DFE4F53B-4C9B-DE0B-0340-CA06944C7ECF}"/>
                </a:ext>
              </a:extLst>
            </p:cNvPr>
            <p:cNvSpPr/>
            <p:nvPr/>
          </p:nvSpPr>
          <p:spPr>
            <a:xfrm>
              <a:off x="4198064" y="3539076"/>
              <a:ext cx="1452081" cy="456619"/>
            </a:xfrm>
            <a:prstGeom prst="roundRect">
              <a:avLst>
                <a:gd name="adj" fmla="val 6349"/>
              </a:avLst>
            </a:prstGeom>
            <a:solidFill>
              <a:schemeClr val="accent5"/>
            </a:soli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1000" b="1" i="0" u="none" strike="noStrike" kern="1200" cap="none" spc="0" normalizeH="0" baseline="0" noProof="0">
                  <a:ln>
                    <a:noFill/>
                  </a:ln>
                  <a:solidFill>
                    <a:srgbClr val="FFFFFF"/>
                  </a:solidFill>
                  <a:effectLst/>
                  <a:uLnTx/>
                  <a:uFillTx/>
                  <a:latin typeface="Arial"/>
                  <a:ea typeface="Arial"/>
                  <a:cs typeface="Arial"/>
                  <a:sym typeface="Arial"/>
                </a:rPr>
                <a:t>vCenter Server</a:t>
              </a:r>
              <a:endParaRPr kumimoji="0" sz="100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73" name="Google Shape;2873;p26">
              <a:extLst>
                <a:ext uri="{FF2B5EF4-FFF2-40B4-BE49-F238E27FC236}">
                  <a16:creationId xmlns:a16="http://schemas.microsoft.com/office/drawing/2014/main" id="{4906311F-5398-EDC9-DCA8-D60D9842B297}"/>
                </a:ext>
              </a:extLst>
            </p:cNvPr>
            <p:cNvSpPr txBox="1"/>
            <p:nvPr/>
          </p:nvSpPr>
          <p:spPr>
            <a:xfrm>
              <a:off x="5065105" y="4196412"/>
              <a:ext cx="1249804" cy="13849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5C8A"/>
                </a:buClr>
                <a:buSzPts val="900"/>
                <a:buFont typeface="Arial"/>
                <a:buNone/>
                <a:tabLst/>
                <a:defRPr/>
              </a:pPr>
              <a:r>
                <a:rPr kumimoji="0" lang="en-US" sz="900" b="1" i="0" u="none" strike="noStrike" kern="1200" cap="none" spc="0" normalizeH="0" baseline="0" noProof="0" dirty="0">
                  <a:ln>
                    <a:noFill/>
                  </a:ln>
                  <a:solidFill>
                    <a:srgbClr val="005C8A"/>
                  </a:solidFill>
                  <a:effectLst/>
                  <a:uLnTx/>
                  <a:uFillTx/>
                  <a:latin typeface="Arial"/>
                  <a:ea typeface="Arial"/>
                  <a:cs typeface="Arial"/>
                  <a:sym typeface="Arial"/>
                </a:rPr>
                <a:t>Core Infrastructure</a:t>
              </a: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874" name="Google Shape;2874;p26">
              <a:extLst>
                <a:ext uri="{FF2B5EF4-FFF2-40B4-BE49-F238E27FC236}">
                  <a16:creationId xmlns:a16="http://schemas.microsoft.com/office/drawing/2014/main" id="{71477AE0-9F0A-60B2-9210-31E9191E96F4}"/>
                </a:ext>
              </a:extLst>
            </p:cNvPr>
            <p:cNvSpPr/>
            <p:nvPr/>
          </p:nvSpPr>
          <p:spPr>
            <a:xfrm>
              <a:off x="5750568" y="3535687"/>
              <a:ext cx="1498764" cy="456619"/>
            </a:xfrm>
            <a:prstGeom prst="roundRect">
              <a:avLst>
                <a:gd name="adj" fmla="val 6349"/>
              </a:avLst>
            </a:prstGeom>
            <a:solidFill>
              <a:schemeClr val="accent2"/>
            </a:soli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1000" b="1" i="0" u="none" strike="noStrike" kern="1200" cap="none" spc="0" normalizeH="0" baseline="0" noProof="0">
                  <a:ln>
                    <a:noFill/>
                  </a:ln>
                  <a:solidFill>
                    <a:srgbClr val="FFFFFF"/>
                  </a:solidFill>
                  <a:effectLst/>
                  <a:uLnTx/>
                  <a:uFillTx/>
                  <a:latin typeface="Arial"/>
                  <a:ea typeface="Arial"/>
                  <a:cs typeface="Arial"/>
                  <a:sym typeface="Arial"/>
                </a:rPr>
                <a:t>NSX Manager</a:t>
              </a:r>
              <a:endParaRPr kumimoji="0" sz="100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 name="Google Shape;2875;p26">
              <a:extLst>
                <a:ext uri="{FF2B5EF4-FFF2-40B4-BE49-F238E27FC236}">
                  <a16:creationId xmlns:a16="http://schemas.microsoft.com/office/drawing/2014/main" id="{4E016BF7-6A46-3484-3B4A-DD7CF9BB2853}"/>
                </a:ext>
              </a:extLst>
            </p:cNvPr>
            <p:cNvSpPr/>
            <p:nvPr/>
          </p:nvSpPr>
          <p:spPr>
            <a:xfrm>
              <a:off x="4200904" y="1900613"/>
              <a:ext cx="3048431" cy="408770"/>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1000" b="1" i="0" u="none" strike="noStrike" kern="1200" cap="none" spc="0" normalizeH="0" baseline="0" noProof="0" dirty="0">
                  <a:ln>
                    <a:noFill/>
                  </a:ln>
                  <a:solidFill>
                    <a:srgbClr val="FFFFFF"/>
                  </a:solidFill>
                  <a:effectLst/>
                  <a:uLnTx/>
                  <a:uFillTx/>
                  <a:latin typeface="Arial"/>
                  <a:ea typeface="Arial"/>
                  <a:cs typeface="Arial"/>
                  <a:sym typeface="Arial"/>
                </a:rPr>
                <a:t>VCF Automation</a:t>
              </a:r>
              <a:endParaRPr kumimoji="0" sz="10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8" name="Google Shape;2877;p26">
              <a:extLst>
                <a:ext uri="{FF2B5EF4-FFF2-40B4-BE49-F238E27FC236}">
                  <a16:creationId xmlns:a16="http://schemas.microsoft.com/office/drawing/2014/main" id="{00D5DF66-ED57-DD80-5D49-D271EB61F33D}"/>
                </a:ext>
              </a:extLst>
            </p:cNvPr>
            <p:cNvSpPr/>
            <p:nvPr/>
          </p:nvSpPr>
          <p:spPr>
            <a:xfrm>
              <a:off x="4197360" y="2399726"/>
              <a:ext cx="3051976" cy="429809"/>
            </a:xfrm>
            <a:prstGeom prst="roundRect">
              <a:avLst>
                <a:gd name="adj" fmla="val 6349"/>
              </a:avLst>
            </a:prstGeom>
            <a:gradFill>
              <a:gsLst>
                <a:gs pos="0">
                  <a:schemeClr val="accent1"/>
                </a:gs>
                <a:gs pos="99000">
                  <a:schemeClr val="accent3"/>
                </a:gs>
                <a:gs pos="100000">
                  <a:schemeClr val="accent3"/>
                </a:gs>
              </a:gsLst>
              <a:lin ang="18900044" scaled="0"/>
            </a:gra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1000" b="1" i="0" u="none" strike="noStrike" kern="1200" cap="none" spc="0" normalizeH="0" baseline="0" noProof="0" dirty="0">
                  <a:ln>
                    <a:noFill/>
                  </a:ln>
                  <a:solidFill>
                    <a:srgbClr val="FFFFFF"/>
                  </a:solidFill>
                  <a:effectLst/>
                  <a:uLnTx/>
                  <a:uFillTx/>
                  <a:latin typeface="Arial"/>
                  <a:ea typeface="Arial"/>
                  <a:cs typeface="Arial"/>
                  <a:sym typeface="Arial"/>
                </a:rPr>
                <a:t>VCF Operations</a:t>
              </a:r>
              <a:endParaRPr kumimoji="0" sz="1000" b="1"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sp>
        <p:nvSpPr>
          <p:cNvPr id="4" name="Google Shape;2928;p26">
            <a:extLst>
              <a:ext uri="{FF2B5EF4-FFF2-40B4-BE49-F238E27FC236}">
                <a16:creationId xmlns:a16="http://schemas.microsoft.com/office/drawing/2014/main" id="{2714FCCB-F28B-DC23-451D-94588C14E8F8}"/>
              </a:ext>
            </a:extLst>
          </p:cNvPr>
          <p:cNvSpPr/>
          <p:nvPr/>
        </p:nvSpPr>
        <p:spPr>
          <a:xfrm>
            <a:off x="7966553" y="1946418"/>
            <a:ext cx="2890911" cy="3731229"/>
          </a:xfrm>
          <a:prstGeom prst="rect">
            <a:avLst/>
          </a:prstGeom>
          <a:solidFill>
            <a:schemeClr val="lt1">
              <a:alpha val="71372"/>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62742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par>
                          <p:cTn id="8" fill="hold">
                            <p:stCondLst>
                              <p:cond delay="1500"/>
                            </p:stCondLst>
                            <p:childTnLst>
                              <p:par>
                                <p:cTn id="9" presetID="9" presetClass="exit" presetSubtype="0" fill="hold" grpId="0" nodeType="afterEffect">
                                  <p:stCondLst>
                                    <p:cond delay="0"/>
                                  </p:stCondLst>
                                  <p:childTnLst>
                                    <p:animEffect transition="out" filter="dissolve">
                                      <p:cBhvr>
                                        <p:cTn id="10" dur="500"/>
                                        <p:tgtEl>
                                          <p:spTgt spid="2928"/>
                                        </p:tgtEl>
                                      </p:cBhvr>
                                    </p:animEffect>
                                    <p:set>
                                      <p:cBhvr>
                                        <p:cTn id="11" dur="1" fill="hold">
                                          <p:stCondLst>
                                            <p:cond delay="499"/>
                                          </p:stCondLst>
                                        </p:cTn>
                                        <p:tgtEl>
                                          <p:spTgt spid="29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 grpId="0" animBg="1"/>
      <p:bldP spid="4"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8C21F-AA4E-2CFF-10B4-782A591F0D40}"/>
              </a:ext>
            </a:extLst>
          </p:cNvPr>
          <p:cNvSpPr>
            <a:spLocks noGrp="1"/>
          </p:cNvSpPr>
          <p:nvPr>
            <p:ph type="title"/>
          </p:nvPr>
        </p:nvSpPr>
        <p:spPr>
          <a:xfrm>
            <a:off x="579809" y="412751"/>
            <a:ext cx="11001004" cy="381000"/>
          </a:xfrm>
        </p:spPr>
        <p:txBody>
          <a:bodyPr/>
          <a:lstStyle/>
          <a:p>
            <a:r>
              <a:rPr lang="en-US" dirty="0"/>
              <a:t>Know When There is a Problem and Solve it Quickly</a:t>
            </a:r>
          </a:p>
        </p:txBody>
      </p:sp>
      <p:sp>
        <p:nvSpPr>
          <p:cNvPr id="3" name="Subtitle 2">
            <a:extLst>
              <a:ext uri="{FF2B5EF4-FFF2-40B4-BE49-F238E27FC236}">
                <a16:creationId xmlns:a16="http://schemas.microsoft.com/office/drawing/2014/main" id="{EB113F44-130D-73C3-C8FA-ABC06D50A34B}"/>
              </a:ext>
            </a:extLst>
          </p:cNvPr>
          <p:cNvSpPr>
            <a:spLocks noGrp="1"/>
          </p:cNvSpPr>
          <p:nvPr>
            <p:ph type="subTitle" idx="10"/>
          </p:nvPr>
        </p:nvSpPr>
        <p:spPr>
          <a:xfrm>
            <a:off x="592866" y="811830"/>
            <a:ext cx="10962687" cy="247743"/>
          </a:xfrm>
        </p:spPr>
        <p:txBody>
          <a:bodyPr/>
          <a:lstStyle/>
          <a:p>
            <a:r>
              <a:rPr lang="en-US" dirty="0"/>
              <a:t>VCF Operations – Performance Management &amp; Troubleshooting</a:t>
            </a:r>
          </a:p>
        </p:txBody>
      </p:sp>
      <p:sp>
        <p:nvSpPr>
          <p:cNvPr id="4" name="Text Placeholder 3">
            <a:extLst>
              <a:ext uri="{FF2B5EF4-FFF2-40B4-BE49-F238E27FC236}">
                <a16:creationId xmlns:a16="http://schemas.microsoft.com/office/drawing/2014/main" id="{E97E57CF-5C1C-8734-84CB-7A99756417D7}"/>
              </a:ext>
            </a:extLst>
          </p:cNvPr>
          <p:cNvSpPr>
            <a:spLocks noGrp="1"/>
          </p:cNvSpPr>
          <p:nvPr>
            <p:ph type="body" sz="quarter" idx="17"/>
          </p:nvPr>
        </p:nvSpPr>
        <p:spPr>
          <a:xfrm>
            <a:off x="8380413" y="1600200"/>
            <a:ext cx="3808412" cy="4572000"/>
          </a:xfrm>
        </p:spPr>
        <p:txBody>
          <a:bodyPr/>
          <a:lstStyle/>
          <a:p>
            <a:r>
              <a:rPr lang="en-US" dirty="0">
                <a:solidFill>
                  <a:schemeClr val="tx1"/>
                </a:solidFill>
              </a:rPr>
              <a:t>Overview:</a:t>
            </a:r>
            <a:br>
              <a:rPr lang="en-US" dirty="0"/>
            </a:br>
            <a:r>
              <a:rPr lang="en-US" dirty="0"/>
              <a:t>Lower Mean Time to Resolution</a:t>
            </a:r>
          </a:p>
          <a:p>
            <a:r>
              <a:rPr lang="en-US" dirty="0"/>
              <a:t>Meet your SLA/SLOs</a:t>
            </a:r>
          </a:p>
          <a:p>
            <a:r>
              <a:rPr lang="en-US" dirty="0"/>
              <a:t>Provide visibility to both IT &amp; LOB stakeholders</a:t>
            </a:r>
          </a:p>
          <a:p>
            <a:r>
              <a:rPr lang="en-US" dirty="0"/>
              <a:t>Reduce costly downtime</a:t>
            </a:r>
          </a:p>
          <a:p>
            <a:r>
              <a:rPr lang="en-US" dirty="0"/>
              <a:t>Fix problems using alerts, metrics and network flows</a:t>
            </a:r>
          </a:p>
          <a:p>
            <a:r>
              <a:rPr lang="en-US" dirty="0"/>
              <a:t>Highlights events, property changes and anomalous metrics</a:t>
            </a:r>
          </a:p>
          <a:p>
            <a:r>
              <a:rPr lang="en-US" dirty="0"/>
              <a:t>Ties-in logs for root cause analysis</a:t>
            </a:r>
          </a:p>
          <a:p>
            <a:r>
              <a:rPr lang="en-US" dirty="0"/>
              <a:t>Intuitive AI driven troubleshooting</a:t>
            </a:r>
          </a:p>
          <a:p>
            <a:endParaRPr lang="en-US" dirty="0"/>
          </a:p>
          <a:p>
            <a:endParaRPr lang="en-US" dirty="0"/>
          </a:p>
        </p:txBody>
      </p:sp>
      <p:sp>
        <p:nvSpPr>
          <p:cNvPr id="11" name="Google Shape;1527;p8">
            <a:extLst>
              <a:ext uri="{FF2B5EF4-FFF2-40B4-BE49-F238E27FC236}">
                <a16:creationId xmlns:a16="http://schemas.microsoft.com/office/drawing/2014/main" id="{05E8DC0C-8D0D-F7FF-4522-1DF11C123B4D}"/>
              </a:ext>
            </a:extLst>
          </p:cNvPr>
          <p:cNvSpPr>
            <a:spLocks noChangeAspect="1"/>
          </p:cNvSpPr>
          <p:nvPr/>
        </p:nvSpPr>
        <p:spPr>
          <a:xfrm>
            <a:off x="585401" y="1596279"/>
            <a:ext cx="7598932" cy="4449891"/>
          </a:xfrm>
          <a:prstGeom prst="roundRect">
            <a:avLst>
              <a:gd name="adj" fmla="val 2356"/>
            </a:avLst>
          </a:prstGeom>
          <a:no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5" name="Picture 4">
            <a:extLst>
              <a:ext uri="{FF2B5EF4-FFF2-40B4-BE49-F238E27FC236}">
                <a16:creationId xmlns:a16="http://schemas.microsoft.com/office/drawing/2014/main" id="{7DED6492-1E52-6CD5-5D68-716DF4715F3D}"/>
              </a:ext>
            </a:extLst>
          </p:cNvPr>
          <p:cNvPicPr preferRelativeResize="0">
            <a:picLocks noChangeAspect="1"/>
          </p:cNvPicPr>
          <p:nvPr/>
        </p:nvPicPr>
        <p:blipFill>
          <a:blip r:embed="rId3"/>
          <a:stretch>
            <a:fillRect/>
          </a:stretch>
        </p:blipFill>
        <p:spPr>
          <a:xfrm>
            <a:off x="656802" y="1674536"/>
            <a:ext cx="7474599" cy="4279990"/>
          </a:xfrm>
          <a:prstGeom prst="rect">
            <a:avLst/>
          </a:prstGeom>
        </p:spPr>
      </p:pic>
    </p:spTree>
    <p:extLst>
      <p:ext uri="{BB962C8B-B14F-4D97-AF65-F5344CB8AC3E}">
        <p14:creationId xmlns:p14="http://schemas.microsoft.com/office/powerpoint/2010/main" val="416744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2329"/>
        <p:cNvGrpSpPr/>
        <p:nvPr/>
      </p:nvGrpSpPr>
      <p:grpSpPr>
        <a:xfrm>
          <a:off x="0" y="0"/>
          <a:ext cx="0" cy="0"/>
          <a:chOff x="0" y="0"/>
          <a:chExt cx="0" cy="0"/>
        </a:xfrm>
      </p:grpSpPr>
      <p:sp>
        <p:nvSpPr>
          <p:cNvPr id="12330" name="Google Shape;12330;p87"/>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Maximize Your Infrastructure Utilization</a:t>
            </a:r>
            <a:endParaRPr/>
          </a:p>
        </p:txBody>
      </p:sp>
      <p:sp>
        <p:nvSpPr>
          <p:cNvPr id="12331" name="Google Shape;12331;p87"/>
          <p:cNvSpPr txBox="1">
            <a:spLocks noGrp="1"/>
          </p:cNvSpPr>
          <p:nvPr>
            <p:ph type="subTitle" idx="1"/>
          </p:nvPr>
        </p:nvSpPr>
        <p:spPr>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VCF Operations – Capacity Management</a:t>
            </a:r>
            <a:endParaRPr/>
          </a:p>
        </p:txBody>
      </p:sp>
      <p:sp>
        <p:nvSpPr>
          <p:cNvPr id="12332" name="Google Shape;12332;p87"/>
          <p:cNvSpPr txBox="1">
            <a:spLocks noGrp="1"/>
          </p:cNvSpPr>
          <p:nvPr>
            <p:ph type="body" idx="2"/>
          </p:nvPr>
        </p:nvSpPr>
        <p:spPr>
          <a:xfrm>
            <a:off x="0" y="1600201"/>
            <a:ext cx="5565913" cy="4572000"/>
          </a:xfrm>
          <a:prstGeom prst="rect">
            <a:avLst/>
          </a:prstGeom>
          <a:solidFill>
            <a:srgbClr val="F4F8FA"/>
          </a:solidFill>
          <a:ln>
            <a:noFill/>
          </a:ln>
        </p:spPr>
        <p:txBody>
          <a:bodyPr spcFirstLastPara="1" wrap="square" lIns="594350" tIns="457200" rIns="457200" bIns="457200" anchor="t" anchorCtr="0">
            <a:noAutofit/>
          </a:bodyPr>
          <a:lstStyle/>
          <a:p>
            <a:pPr marL="0" lvl="0" indent="0" algn="l" rtl="0">
              <a:lnSpc>
                <a:spcPct val="100000"/>
              </a:lnSpc>
              <a:spcBef>
                <a:spcPts val="0"/>
              </a:spcBef>
              <a:spcAft>
                <a:spcPts val="0"/>
              </a:spcAft>
              <a:buSzPts val="1620"/>
              <a:buNone/>
            </a:pPr>
            <a:r>
              <a:rPr lang="en-US" dirty="0">
                <a:solidFill>
                  <a:schemeClr val="accent2"/>
                </a:solidFill>
              </a:rPr>
              <a:t>Optimize resource utilization</a:t>
            </a:r>
            <a:endParaRPr dirty="0"/>
          </a:p>
          <a:p>
            <a:pPr marL="0" lvl="0" indent="0" algn="l" rtl="0">
              <a:lnSpc>
                <a:spcPct val="100000"/>
              </a:lnSpc>
              <a:spcBef>
                <a:spcPts val="1200"/>
              </a:spcBef>
              <a:spcAft>
                <a:spcPts val="0"/>
              </a:spcAft>
              <a:buSzPts val="1620"/>
              <a:buNone/>
            </a:pPr>
            <a:r>
              <a:rPr lang="en-US" dirty="0">
                <a:solidFill>
                  <a:schemeClr val="accent2"/>
                </a:solidFill>
              </a:rPr>
              <a:t>Prevent unnecessary spending</a:t>
            </a:r>
            <a:endParaRPr dirty="0"/>
          </a:p>
          <a:p>
            <a:pPr marL="0" lvl="0" indent="0" algn="l" rtl="0">
              <a:lnSpc>
                <a:spcPct val="100000"/>
              </a:lnSpc>
              <a:spcBef>
                <a:spcPts val="1200"/>
              </a:spcBef>
              <a:spcAft>
                <a:spcPts val="0"/>
              </a:spcAft>
              <a:buSzPts val="1620"/>
              <a:buNone/>
            </a:pPr>
            <a:r>
              <a:rPr lang="en-US" dirty="0">
                <a:solidFill>
                  <a:schemeClr val="accent2"/>
                </a:solidFill>
              </a:rPr>
              <a:t>Improve Performance </a:t>
            </a:r>
            <a:endParaRPr dirty="0"/>
          </a:p>
          <a:p>
            <a:pPr marL="0" lvl="0" indent="0" algn="l" rtl="0">
              <a:lnSpc>
                <a:spcPct val="100000"/>
              </a:lnSpc>
              <a:spcBef>
                <a:spcPts val="1200"/>
              </a:spcBef>
              <a:spcAft>
                <a:spcPts val="0"/>
              </a:spcAft>
              <a:buSzPts val="1620"/>
              <a:buNone/>
            </a:pPr>
            <a:r>
              <a:rPr lang="en-US" dirty="0">
                <a:solidFill>
                  <a:schemeClr val="accent2"/>
                </a:solidFill>
              </a:rPr>
              <a:t>Scalability and Flexibility</a:t>
            </a:r>
            <a:endParaRPr dirty="0"/>
          </a:p>
          <a:p>
            <a:pPr marL="0" lvl="0" indent="0" algn="l" rtl="0">
              <a:lnSpc>
                <a:spcPct val="100000"/>
              </a:lnSpc>
              <a:spcBef>
                <a:spcPts val="1200"/>
              </a:spcBef>
              <a:spcAft>
                <a:spcPts val="0"/>
              </a:spcAft>
              <a:buSzPts val="1620"/>
              <a:buNone/>
            </a:pPr>
            <a:r>
              <a:rPr lang="en-US" dirty="0">
                <a:solidFill>
                  <a:schemeClr val="accent2"/>
                </a:solidFill>
              </a:rPr>
              <a:t>Assess current state and current capacity</a:t>
            </a:r>
            <a:endParaRPr dirty="0"/>
          </a:p>
          <a:p>
            <a:pPr marL="0" lvl="0" indent="0" algn="l" rtl="0">
              <a:lnSpc>
                <a:spcPct val="100000"/>
              </a:lnSpc>
              <a:spcBef>
                <a:spcPts val="1200"/>
              </a:spcBef>
              <a:spcAft>
                <a:spcPts val="0"/>
              </a:spcAft>
              <a:buSzPts val="1620"/>
              <a:buNone/>
            </a:pPr>
            <a:r>
              <a:rPr lang="en-US" dirty="0">
                <a:solidFill>
                  <a:schemeClr val="accent2"/>
                </a:solidFill>
              </a:rPr>
              <a:t>Set capacity thresholds and risk levels</a:t>
            </a:r>
            <a:endParaRPr dirty="0"/>
          </a:p>
          <a:p>
            <a:pPr marL="0" lvl="0" indent="0" algn="l" rtl="0">
              <a:lnSpc>
                <a:spcPct val="100000"/>
              </a:lnSpc>
              <a:spcBef>
                <a:spcPts val="1200"/>
              </a:spcBef>
              <a:spcAft>
                <a:spcPts val="0"/>
              </a:spcAft>
              <a:buSzPts val="1620"/>
              <a:buNone/>
            </a:pPr>
            <a:r>
              <a:rPr lang="en-US" dirty="0">
                <a:solidFill>
                  <a:schemeClr val="accent2"/>
                </a:solidFill>
              </a:rPr>
              <a:t>View most constrained resources, predict shortfalls and plan future capacity</a:t>
            </a:r>
            <a:endParaRPr dirty="0"/>
          </a:p>
          <a:p>
            <a:pPr marL="0" lvl="0" indent="0" algn="l" rtl="0">
              <a:lnSpc>
                <a:spcPct val="100000"/>
              </a:lnSpc>
              <a:spcBef>
                <a:spcPts val="1200"/>
              </a:spcBef>
              <a:spcAft>
                <a:spcPts val="0"/>
              </a:spcAft>
              <a:buSzPts val="1620"/>
              <a:buNone/>
            </a:pPr>
            <a:r>
              <a:rPr lang="en-US" dirty="0">
                <a:solidFill>
                  <a:schemeClr val="accent2"/>
                </a:solidFill>
              </a:rPr>
              <a:t>Reclaim and right-size resources and see the impact on savings</a:t>
            </a:r>
            <a:endParaRPr dirty="0"/>
          </a:p>
          <a:p>
            <a:pPr marL="0" lvl="0" indent="0" algn="l" rtl="0">
              <a:lnSpc>
                <a:spcPct val="100000"/>
              </a:lnSpc>
              <a:spcBef>
                <a:spcPts val="1200"/>
              </a:spcBef>
              <a:spcAft>
                <a:spcPts val="0"/>
              </a:spcAft>
              <a:buSzPts val="1620"/>
              <a:buNone/>
            </a:pPr>
            <a:endParaRPr dirty="0"/>
          </a:p>
          <a:p>
            <a:pPr marL="0" lvl="0" indent="0" algn="l" rtl="0">
              <a:lnSpc>
                <a:spcPct val="100000"/>
              </a:lnSpc>
              <a:spcBef>
                <a:spcPts val="1200"/>
              </a:spcBef>
              <a:spcAft>
                <a:spcPts val="0"/>
              </a:spcAft>
              <a:buSzPts val="1620"/>
              <a:buNone/>
            </a:pPr>
            <a:endParaRPr dirty="0"/>
          </a:p>
        </p:txBody>
      </p:sp>
      <p:grpSp>
        <p:nvGrpSpPr>
          <p:cNvPr id="2" name="Group 1">
            <a:extLst>
              <a:ext uri="{FF2B5EF4-FFF2-40B4-BE49-F238E27FC236}">
                <a16:creationId xmlns:a16="http://schemas.microsoft.com/office/drawing/2014/main" id="{5690CF72-26A6-9146-8D40-8CDD4FA2A763}"/>
              </a:ext>
            </a:extLst>
          </p:cNvPr>
          <p:cNvGrpSpPr/>
          <p:nvPr/>
        </p:nvGrpSpPr>
        <p:grpSpPr>
          <a:xfrm>
            <a:off x="5672005" y="1603713"/>
            <a:ext cx="6066805" cy="4568488"/>
            <a:chOff x="6122020" y="1603713"/>
            <a:chExt cx="6066805" cy="4568488"/>
          </a:xfrm>
        </p:grpSpPr>
        <p:sp>
          <p:nvSpPr>
            <p:cNvPr id="12333" name="Google Shape;12333;p87"/>
            <p:cNvSpPr/>
            <p:nvPr/>
          </p:nvSpPr>
          <p:spPr>
            <a:xfrm>
              <a:off x="6122020" y="1603713"/>
              <a:ext cx="6066805" cy="4568488"/>
            </a:xfrm>
            <a:prstGeom prst="roundRect">
              <a:avLst>
                <a:gd name="adj" fmla="val 2356"/>
              </a:avLst>
            </a:prstGeom>
            <a:no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12334" name="Google Shape;12334;p87" descr="A screenshot of a computer&#10;&#10;AI-generated content may be incorrect."/>
            <p:cNvPicPr preferRelativeResize="0">
              <a:picLocks noChangeAspect="1"/>
            </p:cNvPicPr>
            <p:nvPr/>
          </p:nvPicPr>
          <p:blipFill rotWithShape="1">
            <a:blip r:embed="rId3">
              <a:alphaModFix/>
            </a:blip>
            <a:srcRect/>
            <a:stretch/>
          </p:blipFill>
          <p:spPr>
            <a:xfrm>
              <a:off x="6183598" y="1653359"/>
              <a:ext cx="5952422" cy="4473619"/>
            </a:xfrm>
            <a:prstGeom prst="rect">
              <a:avLst/>
            </a:prstGeom>
            <a:noFill/>
            <a:ln>
              <a:noFill/>
            </a:ln>
          </p:spPr>
        </p:pic>
        <p:pic>
          <p:nvPicPr>
            <p:cNvPr id="12336" name="Google Shape;12336;p87" descr="A screenshot of a computer&#10;&#10;AI-generated content may be incorrect."/>
            <p:cNvPicPr preferRelativeResize="0">
              <a:picLocks noChangeAspect="1"/>
            </p:cNvPicPr>
            <p:nvPr/>
          </p:nvPicPr>
          <p:blipFill rotWithShape="1">
            <a:blip r:embed="rId4">
              <a:alphaModFix/>
            </a:blip>
            <a:srcRect t="11918" b="82614"/>
            <a:stretch/>
          </p:blipFill>
          <p:spPr>
            <a:xfrm>
              <a:off x="6176166" y="1655260"/>
              <a:ext cx="5953051" cy="260448"/>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E8497B-648B-5D1D-CA38-69110E04E263}"/>
              </a:ext>
            </a:extLst>
          </p:cNvPr>
          <p:cNvSpPr>
            <a:spLocks noGrp="1"/>
          </p:cNvSpPr>
          <p:nvPr>
            <p:ph sz="quarter" idx="16"/>
          </p:nvPr>
        </p:nvSpPr>
        <p:spPr>
          <a:xfrm>
            <a:off x="6323381" y="1600201"/>
            <a:ext cx="5865445" cy="4572000"/>
          </a:xfrm>
        </p:spPr>
        <p:txBody>
          <a:bodyPr/>
          <a:lstStyle/>
          <a:p>
            <a:r>
              <a:rPr lang="en-US" dirty="0">
                <a:solidFill>
                  <a:schemeClr val="accent2"/>
                </a:solidFill>
              </a:rPr>
              <a:t>Track, forecast, and optimize resources</a:t>
            </a:r>
          </a:p>
          <a:p>
            <a:r>
              <a:rPr lang="en-US" dirty="0">
                <a:solidFill>
                  <a:schemeClr val="accent2"/>
                </a:solidFill>
              </a:rPr>
              <a:t>Drive cost transparency and accountability</a:t>
            </a:r>
          </a:p>
          <a:p>
            <a:r>
              <a:rPr lang="en-US" dirty="0">
                <a:solidFill>
                  <a:schemeClr val="accent2"/>
                </a:solidFill>
              </a:rPr>
              <a:t>Run IT like a business.  Make informed financial decisions before committing</a:t>
            </a:r>
          </a:p>
          <a:p>
            <a:r>
              <a:rPr lang="en-US" dirty="0">
                <a:solidFill>
                  <a:schemeClr val="accent2"/>
                </a:solidFill>
              </a:rPr>
              <a:t>View TCO, potential savings opportunities, and realized savings</a:t>
            </a:r>
          </a:p>
          <a:p>
            <a:r>
              <a:rPr lang="en-US" dirty="0">
                <a:solidFill>
                  <a:schemeClr val="accent2"/>
                </a:solidFill>
              </a:rPr>
              <a:t>Customize OOTB Cost/Pricing Dashboards</a:t>
            </a:r>
          </a:p>
          <a:p>
            <a:r>
              <a:rPr lang="en-US" dirty="0">
                <a:solidFill>
                  <a:schemeClr val="accent2"/>
                </a:solidFill>
              </a:rPr>
              <a:t>View operational costs with </a:t>
            </a:r>
            <a:r>
              <a:rPr lang="en-US" dirty="0" err="1">
                <a:solidFill>
                  <a:schemeClr val="accent2"/>
                </a:solidFill>
              </a:rPr>
              <a:t>Showback</a:t>
            </a:r>
            <a:endParaRPr lang="en-US" dirty="0">
              <a:solidFill>
                <a:schemeClr val="accent2"/>
              </a:solidFill>
            </a:endParaRPr>
          </a:p>
          <a:p>
            <a:r>
              <a:rPr lang="en-US" dirty="0">
                <a:solidFill>
                  <a:schemeClr val="accent2"/>
                </a:solidFill>
              </a:rPr>
              <a:t>Chargeback - Generate tenant bills</a:t>
            </a:r>
          </a:p>
          <a:p>
            <a:r>
              <a:rPr lang="en-US" dirty="0">
                <a:solidFill>
                  <a:schemeClr val="accent2"/>
                </a:solidFill>
              </a:rPr>
              <a:t>Perform What-If Cost Analysis</a:t>
            </a:r>
          </a:p>
          <a:p>
            <a:endParaRPr lang="en-US" dirty="0"/>
          </a:p>
          <a:p>
            <a:endParaRPr lang="en-US" dirty="0"/>
          </a:p>
          <a:p>
            <a:endParaRPr lang="en-US" dirty="0"/>
          </a:p>
          <a:p>
            <a:endParaRPr lang="en-US" dirty="0"/>
          </a:p>
        </p:txBody>
      </p:sp>
      <p:sp>
        <p:nvSpPr>
          <p:cNvPr id="3" name="Subtitle 2">
            <a:extLst>
              <a:ext uri="{FF2B5EF4-FFF2-40B4-BE49-F238E27FC236}">
                <a16:creationId xmlns:a16="http://schemas.microsoft.com/office/drawing/2014/main" id="{2BE5E25D-FB82-7B96-402A-4C70BB177F6C}"/>
              </a:ext>
            </a:extLst>
          </p:cNvPr>
          <p:cNvSpPr>
            <a:spLocks noGrp="1"/>
          </p:cNvSpPr>
          <p:nvPr>
            <p:ph type="subTitle" idx="10"/>
          </p:nvPr>
        </p:nvSpPr>
        <p:spPr>
          <a:xfrm>
            <a:off x="592866" y="811830"/>
            <a:ext cx="10962687" cy="247743"/>
          </a:xfrm>
        </p:spPr>
        <p:txBody>
          <a:bodyPr/>
          <a:lstStyle/>
          <a:p>
            <a:r>
              <a:rPr lang="en-US" dirty="0"/>
              <a:t>VCF Operations – FinOps</a:t>
            </a:r>
          </a:p>
        </p:txBody>
      </p:sp>
      <p:sp>
        <p:nvSpPr>
          <p:cNvPr id="4" name="Title 3">
            <a:extLst>
              <a:ext uri="{FF2B5EF4-FFF2-40B4-BE49-F238E27FC236}">
                <a16:creationId xmlns:a16="http://schemas.microsoft.com/office/drawing/2014/main" id="{2F0C0377-9EE1-135B-4D7B-6D6635BF0A71}"/>
              </a:ext>
            </a:extLst>
          </p:cNvPr>
          <p:cNvSpPr>
            <a:spLocks noGrp="1"/>
          </p:cNvSpPr>
          <p:nvPr>
            <p:ph type="title"/>
          </p:nvPr>
        </p:nvSpPr>
        <p:spPr>
          <a:xfrm>
            <a:off x="579809" y="412751"/>
            <a:ext cx="11001004" cy="381000"/>
          </a:xfrm>
        </p:spPr>
        <p:txBody>
          <a:bodyPr/>
          <a:lstStyle/>
          <a:p>
            <a:r>
              <a:rPr lang="en-US" dirty="0"/>
              <a:t>Reduce Costs and Run a More Efficient Cloud</a:t>
            </a:r>
          </a:p>
        </p:txBody>
      </p:sp>
      <p:pic>
        <p:nvPicPr>
          <p:cNvPr id="9" name="Picture 8" descr="A screenshot of a computer&#10;&#10;AI-generated content may be incorrect.">
            <a:extLst>
              <a:ext uri="{FF2B5EF4-FFF2-40B4-BE49-F238E27FC236}">
                <a16:creationId xmlns:a16="http://schemas.microsoft.com/office/drawing/2014/main" id="{62F9FDA5-82FD-E00F-A0C8-5AE5219BC1B4}"/>
              </a:ext>
            </a:extLst>
          </p:cNvPr>
          <p:cNvPicPr preferRelativeResize="0">
            <a:picLocks noChangeAspect="1"/>
          </p:cNvPicPr>
          <p:nvPr/>
        </p:nvPicPr>
        <p:blipFill>
          <a:blip r:embed="rId3"/>
          <a:srcRect l="5253" t="40609" r="1837" b="5129"/>
          <a:stretch/>
        </p:blipFill>
        <p:spPr>
          <a:xfrm>
            <a:off x="659630" y="1723945"/>
            <a:ext cx="5400358" cy="1774092"/>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F8972ACF-633F-FD24-3FCD-14BEEBFC614B}"/>
              </a:ext>
            </a:extLst>
          </p:cNvPr>
          <p:cNvPicPr preferRelativeResize="0">
            <a:picLocks noChangeAspect="1"/>
          </p:cNvPicPr>
          <p:nvPr/>
        </p:nvPicPr>
        <p:blipFill>
          <a:blip r:embed="rId4"/>
          <a:srcRect l="5255" t="39376" r="1801" b="17398"/>
          <a:stretch/>
        </p:blipFill>
        <p:spPr>
          <a:xfrm>
            <a:off x="659630" y="3411342"/>
            <a:ext cx="5400358" cy="1412766"/>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AD70921D-0483-8048-F7FC-25044CEEA02B}"/>
              </a:ext>
            </a:extLst>
          </p:cNvPr>
          <p:cNvPicPr preferRelativeResize="0">
            <a:picLocks noChangeAspect="1"/>
          </p:cNvPicPr>
          <p:nvPr/>
        </p:nvPicPr>
        <p:blipFill>
          <a:blip r:embed="rId5"/>
          <a:srcRect l="5699" t="57312" r="1793"/>
          <a:stretch/>
        </p:blipFill>
        <p:spPr>
          <a:xfrm>
            <a:off x="659630" y="4734474"/>
            <a:ext cx="5400358" cy="1401756"/>
          </a:xfrm>
          <a:prstGeom prst="rect">
            <a:avLst/>
          </a:prstGeom>
        </p:spPr>
      </p:pic>
      <p:sp>
        <p:nvSpPr>
          <p:cNvPr id="17" name="Google Shape;1527;p8">
            <a:extLst>
              <a:ext uri="{FF2B5EF4-FFF2-40B4-BE49-F238E27FC236}">
                <a16:creationId xmlns:a16="http://schemas.microsoft.com/office/drawing/2014/main" id="{16C16CA8-BFD6-39EC-0F4C-FFE959425274}"/>
              </a:ext>
            </a:extLst>
          </p:cNvPr>
          <p:cNvSpPr>
            <a:spLocks noChangeAspect="1"/>
          </p:cNvSpPr>
          <p:nvPr/>
        </p:nvSpPr>
        <p:spPr>
          <a:xfrm>
            <a:off x="585401" y="1596279"/>
            <a:ext cx="5548313" cy="4570817"/>
          </a:xfrm>
          <a:prstGeom prst="roundRect">
            <a:avLst>
              <a:gd name="adj" fmla="val 2356"/>
            </a:avLst>
          </a:prstGeom>
          <a:no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Tree>
    <p:extLst>
      <p:ext uri="{BB962C8B-B14F-4D97-AF65-F5344CB8AC3E}">
        <p14:creationId xmlns:p14="http://schemas.microsoft.com/office/powerpoint/2010/main" val="155258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F8EC42-F97B-144D-7593-9FD2521C9592}"/>
              </a:ext>
            </a:extLst>
          </p:cNvPr>
          <p:cNvSpPr>
            <a:spLocks noGrp="1"/>
          </p:cNvSpPr>
          <p:nvPr>
            <p:ph sz="quarter" idx="16"/>
          </p:nvPr>
        </p:nvSpPr>
        <p:spPr/>
        <p:txBody>
          <a:bodyPr/>
          <a:lstStyle/>
          <a:p>
            <a:r>
              <a:rPr lang="en-US" dirty="0">
                <a:solidFill>
                  <a:schemeClr val="accent2"/>
                </a:solidFill>
              </a:rPr>
              <a:t>Comprehensive view of entire VCF network</a:t>
            </a:r>
          </a:p>
          <a:p>
            <a:r>
              <a:rPr lang="en-US" dirty="0">
                <a:solidFill>
                  <a:schemeClr val="accent2"/>
                </a:solidFill>
              </a:rPr>
              <a:t>Accelerated troubleshooting</a:t>
            </a:r>
          </a:p>
          <a:p>
            <a:r>
              <a:rPr lang="en-US" dirty="0">
                <a:solidFill>
                  <a:schemeClr val="accent2"/>
                </a:solidFill>
              </a:rPr>
              <a:t>Visibility to traffic issues through flow insights</a:t>
            </a:r>
          </a:p>
          <a:p>
            <a:r>
              <a:rPr lang="en-US" dirty="0">
                <a:solidFill>
                  <a:schemeClr val="accent2"/>
                </a:solidFill>
              </a:rPr>
              <a:t>Overview of VCF network inventory</a:t>
            </a:r>
          </a:p>
          <a:p>
            <a:r>
              <a:rPr lang="en-US" dirty="0">
                <a:solidFill>
                  <a:schemeClr val="accent2"/>
                </a:solidFill>
              </a:rPr>
              <a:t>Monitor health of network components</a:t>
            </a:r>
          </a:p>
          <a:p>
            <a:r>
              <a:rPr lang="en-US" dirty="0">
                <a:solidFill>
                  <a:schemeClr val="accent2"/>
                </a:solidFill>
              </a:rPr>
              <a:t>Traffic summary and analyze flows</a:t>
            </a:r>
          </a:p>
          <a:p>
            <a:r>
              <a:rPr lang="en-US" dirty="0">
                <a:solidFill>
                  <a:schemeClr val="accent2"/>
                </a:solidFill>
              </a:rPr>
              <a:t>Application insights </a:t>
            </a:r>
          </a:p>
          <a:p>
            <a:endParaRPr lang="en-US" dirty="0"/>
          </a:p>
        </p:txBody>
      </p:sp>
      <p:sp>
        <p:nvSpPr>
          <p:cNvPr id="3" name="Subtitle 2">
            <a:extLst>
              <a:ext uri="{FF2B5EF4-FFF2-40B4-BE49-F238E27FC236}">
                <a16:creationId xmlns:a16="http://schemas.microsoft.com/office/drawing/2014/main" id="{AC1E6406-716C-A24C-0015-A83DE0AFE60E}"/>
              </a:ext>
            </a:extLst>
          </p:cNvPr>
          <p:cNvSpPr>
            <a:spLocks noGrp="1"/>
          </p:cNvSpPr>
          <p:nvPr>
            <p:ph type="subTitle" idx="10"/>
          </p:nvPr>
        </p:nvSpPr>
        <p:spPr/>
        <p:txBody>
          <a:bodyPr/>
          <a:lstStyle/>
          <a:p>
            <a:r>
              <a:rPr lang="en-US" dirty="0"/>
              <a:t>VCF Operations – Integrated Network Operations</a:t>
            </a:r>
          </a:p>
          <a:p>
            <a:endParaRPr lang="en-US" dirty="0"/>
          </a:p>
        </p:txBody>
      </p:sp>
      <p:sp>
        <p:nvSpPr>
          <p:cNvPr id="4" name="Title 3">
            <a:extLst>
              <a:ext uri="{FF2B5EF4-FFF2-40B4-BE49-F238E27FC236}">
                <a16:creationId xmlns:a16="http://schemas.microsoft.com/office/drawing/2014/main" id="{AB9DC488-51D5-8DD1-136D-74C08B9B5048}"/>
              </a:ext>
            </a:extLst>
          </p:cNvPr>
          <p:cNvSpPr>
            <a:spLocks noGrp="1"/>
          </p:cNvSpPr>
          <p:nvPr>
            <p:ph type="title"/>
          </p:nvPr>
        </p:nvSpPr>
        <p:spPr/>
        <p:txBody>
          <a:bodyPr/>
          <a:lstStyle/>
          <a:p>
            <a:r>
              <a:rPr lang="en-US" dirty="0"/>
              <a:t>Network Monitoring and Troubleshooting</a:t>
            </a:r>
          </a:p>
        </p:txBody>
      </p:sp>
      <p:grpSp>
        <p:nvGrpSpPr>
          <p:cNvPr id="8" name="Group 7">
            <a:extLst>
              <a:ext uri="{FF2B5EF4-FFF2-40B4-BE49-F238E27FC236}">
                <a16:creationId xmlns:a16="http://schemas.microsoft.com/office/drawing/2014/main" id="{D29F80F0-9F3B-3A9B-22F6-1D470B0CE2DA}"/>
              </a:ext>
            </a:extLst>
          </p:cNvPr>
          <p:cNvGrpSpPr>
            <a:grpSpLocks noChangeAspect="1"/>
          </p:cNvGrpSpPr>
          <p:nvPr/>
        </p:nvGrpSpPr>
        <p:grpSpPr>
          <a:xfrm>
            <a:off x="585401" y="1596279"/>
            <a:ext cx="5548313" cy="4336929"/>
            <a:chOff x="585399" y="1596278"/>
            <a:chExt cx="6085561" cy="4756880"/>
          </a:xfrm>
        </p:grpSpPr>
        <p:pic>
          <p:nvPicPr>
            <p:cNvPr id="6" name="Google Shape;2289;p6">
              <a:extLst>
                <a:ext uri="{FF2B5EF4-FFF2-40B4-BE49-F238E27FC236}">
                  <a16:creationId xmlns:a16="http://schemas.microsoft.com/office/drawing/2014/main" id="{5B032E26-1D14-79A4-A31A-8E4A4D53EEBF}"/>
                </a:ext>
              </a:extLst>
            </p:cNvPr>
            <p:cNvPicPr preferRelativeResize="0">
              <a:picLocks/>
            </p:cNvPicPr>
            <p:nvPr/>
          </p:nvPicPr>
          <p:blipFill rotWithShape="1">
            <a:blip r:embed="rId3">
              <a:alphaModFix/>
            </a:blip>
            <a:srcRect l="14435" t="4756" b="4707"/>
            <a:stretch/>
          </p:blipFill>
          <p:spPr>
            <a:xfrm>
              <a:off x="628916" y="1679980"/>
              <a:ext cx="5963556" cy="4572001"/>
            </a:xfrm>
            <a:prstGeom prst="rect">
              <a:avLst/>
            </a:prstGeom>
            <a:noFill/>
            <a:ln w="9525" cap="flat" cmpd="sng">
              <a:noFill/>
              <a:prstDash val="solid"/>
              <a:round/>
              <a:headEnd type="none" w="sm" len="sm"/>
              <a:tailEnd type="none" w="sm" len="sm"/>
            </a:ln>
          </p:spPr>
        </p:pic>
        <p:sp>
          <p:nvSpPr>
            <p:cNvPr id="7" name="Google Shape;1527;p8">
              <a:extLst>
                <a:ext uri="{FF2B5EF4-FFF2-40B4-BE49-F238E27FC236}">
                  <a16:creationId xmlns:a16="http://schemas.microsoft.com/office/drawing/2014/main" id="{D6F149A6-A3DD-82BC-41CA-093C76D65703}"/>
                </a:ext>
              </a:extLst>
            </p:cNvPr>
            <p:cNvSpPr>
              <a:spLocks noChangeAspect="1"/>
            </p:cNvSpPr>
            <p:nvPr/>
          </p:nvSpPr>
          <p:spPr>
            <a:xfrm>
              <a:off x="585399" y="1596278"/>
              <a:ext cx="6085561" cy="4756880"/>
            </a:xfrm>
            <a:prstGeom prst="roundRect">
              <a:avLst>
                <a:gd name="adj" fmla="val 2356"/>
              </a:avLst>
            </a:prstGeom>
            <a:no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spTree>
    <p:extLst>
      <p:ext uri="{BB962C8B-B14F-4D97-AF65-F5344CB8AC3E}">
        <p14:creationId xmlns:p14="http://schemas.microsoft.com/office/powerpoint/2010/main" val="3397066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5FE7FD7-912D-BCD4-4A0E-9ED02A5D8833}"/>
              </a:ext>
            </a:extLst>
          </p:cNvPr>
          <p:cNvSpPr>
            <a:spLocks noGrp="1"/>
          </p:cNvSpPr>
          <p:nvPr>
            <p:ph type="title"/>
          </p:nvPr>
        </p:nvSpPr>
        <p:spPr>
          <a:xfrm>
            <a:off x="579809" y="412751"/>
            <a:ext cx="11001004" cy="381000"/>
          </a:xfrm>
        </p:spPr>
        <p:txBody>
          <a:bodyPr/>
          <a:lstStyle/>
          <a:p>
            <a:r>
              <a:rPr lang="en-US" dirty="0">
                <a:sym typeface="Arial"/>
              </a:rPr>
              <a:t>Integrated Storage Operations</a:t>
            </a:r>
            <a:endParaRPr lang="en-US" dirty="0"/>
          </a:p>
        </p:txBody>
      </p:sp>
      <p:sp>
        <p:nvSpPr>
          <p:cNvPr id="8" name="Subtitle 7">
            <a:extLst>
              <a:ext uri="{FF2B5EF4-FFF2-40B4-BE49-F238E27FC236}">
                <a16:creationId xmlns:a16="http://schemas.microsoft.com/office/drawing/2014/main" id="{B5BEAF0B-1F80-5EA3-0F40-B52F7569C63C}"/>
              </a:ext>
            </a:extLst>
          </p:cNvPr>
          <p:cNvSpPr>
            <a:spLocks noGrp="1"/>
          </p:cNvSpPr>
          <p:nvPr>
            <p:ph type="subTitle" idx="10"/>
          </p:nvPr>
        </p:nvSpPr>
        <p:spPr>
          <a:xfrm>
            <a:off x="592866" y="811830"/>
            <a:ext cx="10962687" cy="247743"/>
          </a:xfrm>
        </p:spPr>
        <p:txBody>
          <a:bodyPr/>
          <a:lstStyle/>
          <a:p>
            <a:r>
              <a:rPr lang="en-US" dirty="0">
                <a:sym typeface="Arial"/>
              </a:rPr>
              <a:t>Storage monitoring and troubleshooting</a:t>
            </a:r>
          </a:p>
          <a:p>
            <a:endParaRPr lang="en-US" dirty="0"/>
          </a:p>
        </p:txBody>
      </p:sp>
      <p:sp>
        <p:nvSpPr>
          <p:cNvPr id="4" name="Text Placeholder 3">
            <a:extLst>
              <a:ext uri="{FF2B5EF4-FFF2-40B4-BE49-F238E27FC236}">
                <a16:creationId xmlns:a16="http://schemas.microsoft.com/office/drawing/2014/main" id="{E1299260-477A-EAC2-74C8-15F1B4644FBD}"/>
              </a:ext>
            </a:extLst>
          </p:cNvPr>
          <p:cNvSpPr>
            <a:spLocks noGrp="1"/>
          </p:cNvSpPr>
          <p:nvPr>
            <p:ph type="body" sz="quarter" idx="17"/>
          </p:nvPr>
        </p:nvSpPr>
        <p:spPr>
          <a:xfrm>
            <a:off x="8380413" y="1600200"/>
            <a:ext cx="3808412" cy="4572000"/>
          </a:xfrm>
        </p:spPr>
        <p:txBody>
          <a:bodyPr/>
          <a:lstStyle/>
          <a:p>
            <a:r>
              <a:rPr lang="en-US" dirty="0"/>
              <a:t>Storage visibility and insights in a across VCF Infrastructure</a:t>
            </a:r>
          </a:p>
          <a:p>
            <a:r>
              <a:rPr lang="en-US" dirty="0"/>
              <a:t>Storage Ops Dashboard includes:</a:t>
            </a:r>
          </a:p>
          <a:p>
            <a:pPr lvl="1"/>
            <a:r>
              <a:rPr lang="en-US" dirty="0"/>
              <a:t>Alerts</a:t>
            </a:r>
          </a:p>
          <a:p>
            <a:pPr lvl="1"/>
            <a:r>
              <a:rPr lang="en-US" dirty="0"/>
              <a:t>Inventory</a:t>
            </a:r>
          </a:p>
          <a:p>
            <a:pPr lvl="1"/>
            <a:r>
              <a:rPr lang="en-US" dirty="0"/>
              <a:t>Configuration</a:t>
            </a:r>
          </a:p>
          <a:p>
            <a:pPr lvl="1"/>
            <a:r>
              <a:rPr lang="en-US" dirty="0"/>
              <a:t>Performance &amp; Cost</a:t>
            </a:r>
          </a:p>
          <a:p>
            <a:r>
              <a:rPr lang="en-US" dirty="0"/>
              <a:t>Troubleshoot performance issues using Diagnostics </a:t>
            </a:r>
          </a:p>
          <a:p>
            <a:r>
              <a:rPr lang="en-US" dirty="0"/>
              <a:t>Benchmark and Optimize vSAN clusters</a:t>
            </a:r>
          </a:p>
          <a:p>
            <a:endParaRPr lang="en-US" dirty="0"/>
          </a:p>
          <a:p>
            <a:endParaRPr lang="en-US" dirty="0"/>
          </a:p>
        </p:txBody>
      </p:sp>
      <p:pic>
        <p:nvPicPr>
          <p:cNvPr id="10" name="Content Placeholder 9" descr="A screenshot of a computer&#10;&#10;AI-generated content may be incorrect.">
            <a:extLst>
              <a:ext uri="{FF2B5EF4-FFF2-40B4-BE49-F238E27FC236}">
                <a16:creationId xmlns:a16="http://schemas.microsoft.com/office/drawing/2014/main" id="{3ADADAC9-24AF-91A4-569B-E44718659305}"/>
              </a:ext>
            </a:extLst>
          </p:cNvPr>
          <p:cNvPicPr>
            <a:picLocks noGrp="1" noChangeAspect="1"/>
          </p:cNvPicPr>
          <p:nvPr>
            <p:ph sz="quarter" idx="14"/>
          </p:nvPr>
        </p:nvPicPr>
        <p:blipFill>
          <a:blip r:embed="rId3"/>
          <a:stretch>
            <a:fillRect/>
          </a:stretch>
        </p:blipFill>
        <p:spPr>
          <a:xfrm>
            <a:off x="644225" y="1626881"/>
            <a:ext cx="7397750" cy="4355684"/>
          </a:xfrm>
        </p:spPr>
      </p:pic>
      <p:sp>
        <p:nvSpPr>
          <p:cNvPr id="15" name="Google Shape;1527;p8">
            <a:extLst>
              <a:ext uri="{FF2B5EF4-FFF2-40B4-BE49-F238E27FC236}">
                <a16:creationId xmlns:a16="http://schemas.microsoft.com/office/drawing/2014/main" id="{DC1D71D6-05A3-40AC-3D29-DD780055F91A}"/>
              </a:ext>
            </a:extLst>
          </p:cNvPr>
          <p:cNvSpPr>
            <a:spLocks noChangeAspect="1"/>
          </p:cNvSpPr>
          <p:nvPr/>
        </p:nvSpPr>
        <p:spPr>
          <a:xfrm>
            <a:off x="585401" y="1596279"/>
            <a:ext cx="7490290" cy="4450508"/>
          </a:xfrm>
          <a:prstGeom prst="roundRect">
            <a:avLst>
              <a:gd name="adj" fmla="val 2356"/>
            </a:avLst>
          </a:prstGeom>
          <a:no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Tree>
    <p:extLst>
      <p:ext uri="{BB962C8B-B14F-4D97-AF65-F5344CB8AC3E}">
        <p14:creationId xmlns:p14="http://schemas.microsoft.com/office/powerpoint/2010/main" val="3459010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2375"/>
        <p:cNvGrpSpPr/>
        <p:nvPr/>
      </p:nvGrpSpPr>
      <p:grpSpPr>
        <a:xfrm>
          <a:off x="0" y="0"/>
          <a:ext cx="0" cy="0"/>
          <a:chOff x="0" y="0"/>
          <a:chExt cx="0" cy="0"/>
        </a:xfrm>
      </p:grpSpPr>
      <p:sp>
        <p:nvSpPr>
          <p:cNvPr id="12376" name="Google Shape;12376;p91"/>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dirty="0"/>
              <a:t>Simplified Log Analysis</a:t>
            </a:r>
            <a:endParaRPr dirty="0"/>
          </a:p>
        </p:txBody>
      </p:sp>
      <p:sp>
        <p:nvSpPr>
          <p:cNvPr id="12377" name="Google Shape;12377;p91"/>
          <p:cNvSpPr txBox="1">
            <a:spLocks noGrp="1"/>
          </p:cNvSpPr>
          <p:nvPr>
            <p:ph type="subTitle" idx="1"/>
          </p:nvPr>
        </p:nvSpPr>
        <p:spPr>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VCF Operations  - Integrated Logging Operations</a:t>
            </a:r>
            <a:endParaRPr/>
          </a:p>
        </p:txBody>
      </p:sp>
      <p:pic>
        <p:nvPicPr>
          <p:cNvPr id="12380" name="Google Shape;12380;p91"/>
          <p:cNvPicPr preferRelativeResize="0">
            <a:picLocks noGrp="1"/>
          </p:cNvPicPr>
          <p:nvPr>
            <p:ph type="body" idx="2"/>
          </p:nvPr>
        </p:nvPicPr>
        <p:blipFill rotWithShape="1">
          <a:blip r:embed="rId3">
            <a:alphaModFix/>
          </a:blip>
          <a:srcRect l="16387" t="6560" b="5580"/>
          <a:stretch/>
        </p:blipFill>
        <p:spPr>
          <a:xfrm>
            <a:off x="6114789" y="1946496"/>
            <a:ext cx="5496629" cy="3848163"/>
          </a:xfrm>
          <a:prstGeom prst="rect">
            <a:avLst/>
          </a:prstGeom>
          <a:noFill/>
          <a:ln>
            <a:noFill/>
          </a:ln>
        </p:spPr>
      </p:pic>
      <p:sp>
        <p:nvSpPr>
          <p:cNvPr id="12378" name="Google Shape;12378;p91"/>
          <p:cNvSpPr txBox="1">
            <a:spLocks noGrp="1"/>
          </p:cNvSpPr>
          <p:nvPr>
            <p:ph type="body" idx="3"/>
          </p:nvPr>
        </p:nvSpPr>
        <p:spPr>
          <a:prstGeom prst="rect">
            <a:avLst/>
          </a:prstGeom>
          <a:solidFill>
            <a:srgbClr val="F4F8FA"/>
          </a:solidFill>
          <a:ln>
            <a:noFill/>
          </a:ln>
        </p:spPr>
        <p:txBody>
          <a:bodyPr spcFirstLastPara="1" wrap="square" lIns="594350" tIns="457200" rIns="457200" bIns="457200" anchor="t" anchorCtr="0">
            <a:noAutofit/>
          </a:bodyPr>
          <a:lstStyle/>
          <a:p>
            <a:pPr marL="0" lvl="0" indent="0" algn="l" rtl="0">
              <a:lnSpc>
                <a:spcPct val="100000"/>
              </a:lnSpc>
              <a:spcBef>
                <a:spcPts val="0"/>
              </a:spcBef>
              <a:spcAft>
                <a:spcPts val="0"/>
              </a:spcAft>
              <a:buSzPts val="1620"/>
              <a:buNone/>
            </a:pPr>
            <a:r>
              <a:rPr lang="en-US" dirty="0">
                <a:solidFill>
                  <a:schemeClr val="accent2"/>
                </a:solidFill>
              </a:rPr>
              <a:t>Faster issue detection and resolution</a:t>
            </a:r>
            <a:endParaRPr dirty="0"/>
          </a:p>
          <a:p>
            <a:pPr marL="0" lvl="0" indent="0" algn="l" rtl="0">
              <a:lnSpc>
                <a:spcPct val="100000"/>
              </a:lnSpc>
              <a:spcBef>
                <a:spcPts val="1200"/>
              </a:spcBef>
              <a:spcAft>
                <a:spcPts val="0"/>
              </a:spcAft>
              <a:buSzPts val="1620"/>
              <a:buNone/>
            </a:pPr>
            <a:r>
              <a:rPr lang="en-US" dirty="0">
                <a:solidFill>
                  <a:schemeClr val="accent2"/>
                </a:solidFill>
              </a:rPr>
              <a:t>Improve efficiency and save time by simplified logging workflow </a:t>
            </a:r>
            <a:endParaRPr dirty="0"/>
          </a:p>
          <a:p>
            <a:pPr marL="0" lvl="0" indent="0" algn="l" rtl="0">
              <a:lnSpc>
                <a:spcPct val="100000"/>
              </a:lnSpc>
              <a:spcBef>
                <a:spcPts val="1200"/>
              </a:spcBef>
              <a:spcAft>
                <a:spcPts val="0"/>
              </a:spcAft>
              <a:buSzPts val="1620"/>
              <a:buNone/>
            </a:pPr>
            <a:r>
              <a:rPr lang="en-US" dirty="0">
                <a:solidFill>
                  <a:schemeClr val="accent2"/>
                </a:solidFill>
              </a:rPr>
              <a:t>Consistent log collection reduces human error</a:t>
            </a:r>
            <a:endParaRPr dirty="0"/>
          </a:p>
          <a:p>
            <a:pPr marL="0" lvl="0" indent="0" algn="l" rtl="0">
              <a:lnSpc>
                <a:spcPct val="100000"/>
              </a:lnSpc>
              <a:spcBef>
                <a:spcPts val="1200"/>
              </a:spcBef>
              <a:spcAft>
                <a:spcPts val="0"/>
              </a:spcAft>
              <a:buSzPts val="1620"/>
              <a:buNone/>
            </a:pPr>
            <a:r>
              <a:rPr lang="en-US" dirty="0">
                <a:solidFill>
                  <a:schemeClr val="accent2"/>
                </a:solidFill>
              </a:rPr>
              <a:t>Simplified log collection from VCF components</a:t>
            </a:r>
            <a:endParaRPr dirty="0"/>
          </a:p>
          <a:p>
            <a:pPr marL="0" lvl="0" indent="0" algn="l" rtl="0">
              <a:lnSpc>
                <a:spcPct val="100000"/>
              </a:lnSpc>
              <a:spcBef>
                <a:spcPts val="1200"/>
              </a:spcBef>
              <a:spcAft>
                <a:spcPts val="0"/>
              </a:spcAft>
              <a:buSzPts val="1620"/>
              <a:buNone/>
            </a:pPr>
            <a:r>
              <a:rPr lang="en-US" dirty="0">
                <a:solidFill>
                  <a:schemeClr val="accent2"/>
                </a:solidFill>
              </a:rPr>
              <a:t>Flexible log forwarding protocols </a:t>
            </a:r>
            <a:endParaRPr dirty="0"/>
          </a:p>
          <a:p>
            <a:pPr marL="0" lvl="0" indent="0" algn="l" rtl="0">
              <a:lnSpc>
                <a:spcPct val="100000"/>
              </a:lnSpc>
              <a:spcBef>
                <a:spcPts val="1200"/>
              </a:spcBef>
              <a:spcAft>
                <a:spcPts val="0"/>
              </a:spcAft>
              <a:buSzPts val="1620"/>
              <a:buNone/>
            </a:pPr>
            <a:r>
              <a:rPr lang="en-US" dirty="0">
                <a:solidFill>
                  <a:schemeClr val="accent2"/>
                </a:solidFill>
              </a:rPr>
              <a:t>Granular control to start/stop log collection </a:t>
            </a:r>
            <a:endParaRPr dirty="0"/>
          </a:p>
          <a:p>
            <a:pPr marL="0" lvl="0" indent="0" algn="l" rtl="0">
              <a:lnSpc>
                <a:spcPct val="100000"/>
              </a:lnSpc>
              <a:spcBef>
                <a:spcPts val="1200"/>
              </a:spcBef>
              <a:spcAft>
                <a:spcPts val="0"/>
              </a:spcAft>
              <a:buSzPts val="1620"/>
              <a:buNone/>
            </a:pPr>
            <a:r>
              <a:rPr lang="en-US" dirty="0">
                <a:solidFill>
                  <a:schemeClr val="accent2"/>
                </a:solidFill>
              </a:rPr>
              <a:t>Compare logs and perform analysis </a:t>
            </a:r>
            <a:endParaRPr dirty="0"/>
          </a:p>
          <a:p>
            <a:pPr marL="0" lvl="0" indent="0" algn="l" rtl="0">
              <a:lnSpc>
                <a:spcPct val="100000"/>
              </a:lnSpc>
              <a:spcBef>
                <a:spcPts val="1200"/>
              </a:spcBef>
              <a:spcAft>
                <a:spcPts val="0"/>
              </a:spcAft>
              <a:buSzPts val="1620"/>
              <a:buNone/>
            </a:pPr>
            <a:r>
              <a:rPr lang="en-US" dirty="0">
                <a:solidFill>
                  <a:schemeClr val="accent2"/>
                </a:solidFill>
              </a:rPr>
              <a:t>Log widgets and alerts in VCF Operations</a:t>
            </a:r>
            <a:endParaRPr dirty="0"/>
          </a:p>
          <a:p>
            <a:pPr marL="0" lvl="0" indent="0" algn="l" rtl="0">
              <a:lnSpc>
                <a:spcPct val="100000"/>
              </a:lnSpc>
              <a:spcBef>
                <a:spcPts val="1200"/>
              </a:spcBef>
              <a:spcAft>
                <a:spcPts val="0"/>
              </a:spcAft>
              <a:buSzPts val="1620"/>
              <a:buNone/>
            </a:pPr>
            <a:r>
              <a:rPr lang="en-US" dirty="0">
                <a:solidFill>
                  <a:schemeClr val="accent2"/>
                </a:solidFill>
              </a:rPr>
              <a:t>Unified Cloud Proxy for metrics and logs</a:t>
            </a:r>
            <a:endParaRPr dirty="0"/>
          </a:p>
          <a:p>
            <a:pPr marL="0" lvl="0" indent="0" algn="l" rtl="0">
              <a:lnSpc>
                <a:spcPct val="100000"/>
              </a:lnSpc>
              <a:spcBef>
                <a:spcPts val="1200"/>
              </a:spcBef>
              <a:spcAft>
                <a:spcPts val="0"/>
              </a:spcAft>
              <a:buSzPts val="1620"/>
              <a:buNone/>
            </a:pPr>
            <a:endParaRPr dirty="0"/>
          </a:p>
          <a:p>
            <a:pPr marL="0" lvl="0" indent="0" algn="l" rtl="0">
              <a:lnSpc>
                <a:spcPct val="100000"/>
              </a:lnSpc>
              <a:spcBef>
                <a:spcPts val="1200"/>
              </a:spcBef>
              <a:spcAft>
                <a:spcPts val="0"/>
              </a:spcAft>
              <a:buSzPts val="1620"/>
              <a:buNone/>
            </a:pPr>
            <a:endParaRPr dirty="0"/>
          </a:p>
        </p:txBody>
      </p:sp>
      <p:sp>
        <p:nvSpPr>
          <p:cNvPr id="12379" name="Google Shape;12379;p91"/>
          <p:cNvSpPr/>
          <p:nvPr/>
        </p:nvSpPr>
        <p:spPr>
          <a:xfrm>
            <a:off x="6040628" y="1596279"/>
            <a:ext cx="5589852" cy="4572000"/>
          </a:xfrm>
          <a:prstGeom prst="roundRect">
            <a:avLst>
              <a:gd name="adj" fmla="val 2356"/>
            </a:avLst>
          </a:prstGeom>
          <a:no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2381" name="Google Shape;12381;p91"/>
          <p:cNvSpPr/>
          <p:nvPr/>
        </p:nvSpPr>
        <p:spPr>
          <a:xfrm>
            <a:off x="8110159" y="1664699"/>
            <a:ext cx="3487639" cy="213378"/>
          </a:xfrm>
          <a:prstGeom prst="rect">
            <a:avLst/>
          </a:prstGeom>
          <a:solidFill>
            <a:srgbClr val="314048"/>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12382" name="Google Shape;12382;p91" descr="A screenshot of a computer&#10;&#10;AI-generated content may be incorrect."/>
          <p:cNvPicPr preferRelativeResize="0"/>
          <p:nvPr/>
        </p:nvPicPr>
        <p:blipFill rotWithShape="1">
          <a:blip r:embed="rId4">
            <a:alphaModFix/>
          </a:blip>
          <a:srcRect t="11918" b="82614"/>
          <a:stretch/>
        </p:blipFill>
        <p:spPr>
          <a:xfrm>
            <a:off x="6114789" y="1664699"/>
            <a:ext cx="4877223" cy="21337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2387"/>
        <p:cNvGrpSpPr/>
        <p:nvPr/>
      </p:nvGrpSpPr>
      <p:grpSpPr>
        <a:xfrm>
          <a:off x="0" y="0"/>
          <a:ext cx="0" cy="0"/>
          <a:chOff x="0" y="0"/>
          <a:chExt cx="0" cy="0"/>
        </a:xfrm>
      </p:grpSpPr>
      <p:sp>
        <p:nvSpPr>
          <p:cNvPr id="12388" name="Google Shape;12388;p92"/>
          <p:cNvSpPr/>
          <p:nvPr/>
        </p:nvSpPr>
        <p:spPr>
          <a:xfrm>
            <a:off x="568519" y="1596279"/>
            <a:ext cx="7437244" cy="4226298"/>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2389" name="Google Shape;12389;p92"/>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Ensure VCF is Running at Optimal Health </a:t>
            </a:r>
            <a:endParaRPr/>
          </a:p>
        </p:txBody>
      </p:sp>
      <p:sp>
        <p:nvSpPr>
          <p:cNvPr id="12390" name="Google Shape;12390;p92"/>
          <p:cNvSpPr txBox="1">
            <a:spLocks noGrp="1"/>
          </p:cNvSpPr>
          <p:nvPr>
            <p:ph type="subTitle" idx="1"/>
          </p:nvPr>
        </p:nvSpPr>
        <p:spPr>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VCF Operations – Health and Diagnostics</a:t>
            </a:r>
            <a:endParaRPr/>
          </a:p>
        </p:txBody>
      </p:sp>
      <p:sp>
        <p:nvSpPr>
          <p:cNvPr id="12391" name="Google Shape;12391;p92"/>
          <p:cNvSpPr txBox="1">
            <a:spLocks noGrp="1"/>
          </p:cNvSpPr>
          <p:nvPr>
            <p:ph type="body" idx="2"/>
          </p:nvPr>
        </p:nvSpPr>
        <p:spPr>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Clr>
                <a:schemeClr val="accent4"/>
              </a:buClr>
              <a:buSzPts val="1200"/>
              <a:buNone/>
            </a:pPr>
            <a:r>
              <a:rPr lang="en-US">
                <a:solidFill>
                  <a:schemeClr val="accent2"/>
                </a:solidFill>
              </a:rPr>
              <a:t>Faster issue detection &amp; resolution</a:t>
            </a:r>
            <a:endParaRPr/>
          </a:p>
          <a:p>
            <a:pPr marL="0" lvl="0" indent="0" algn="l" rtl="0">
              <a:lnSpc>
                <a:spcPct val="100000"/>
              </a:lnSpc>
              <a:spcBef>
                <a:spcPts val="600"/>
              </a:spcBef>
              <a:spcAft>
                <a:spcPts val="0"/>
              </a:spcAft>
              <a:buClr>
                <a:schemeClr val="accent4"/>
              </a:buClr>
              <a:buSzPts val="1200"/>
              <a:buNone/>
            </a:pPr>
            <a:r>
              <a:rPr lang="en-US">
                <a:solidFill>
                  <a:schemeClr val="accent2"/>
                </a:solidFill>
              </a:rPr>
              <a:t>Diagnostics capabilities to improve VCF health</a:t>
            </a:r>
            <a:endParaRPr/>
          </a:p>
          <a:p>
            <a:pPr marL="0" lvl="0" indent="0" algn="l" rtl="0">
              <a:lnSpc>
                <a:spcPct val="100000"/>
              </a:lnSpc>
              <a:spcBef>
                <a:spcPts val="600"/>
              </a:spcBef>
              <a:spcAft>
                <a:spcPts val="0"/>
              </a:spcAft>
              <a:buClr>
                <a:schemeClr val="accent4"/>
              </a:buClr>
              <a:buSzPts val="1200"/>
              <a:buNone/>
            </a:pPr>
            <a:r>
              <a:rPr lang="en-US">
                <a:solidFill>
                  <a:schemeClr val="accent2"/>
                </a:solidFill>
              </a:rPr>
              <a:t>Faster engagement with support via log assist</a:t>
            </a:r>
            <a:endParaRPr/>
          </a:p>
          <a:p>
            <a:pPr marL="0" lvl="0" indent="0" algn="l" rtl="0">
              <a:lnSpc>
                <a:spcPct val="120000"/>
              </a:lnSpc>
              <a:spcBef>
                <a:spcPts val="600"/>
              </a:spcBef>
              <a:spcAft>
                <a:spcPts val="0"/>
              </a:spcAft>
              <a:buClr>
                <a:schemeClr val="accent4"/>
              </a:buClr>
              <a:buSzPts val="1200"/>
              <a:buNone/>
            </a:pPr>
            <a:r>
              <a:rPr lang="en-US">
                <a:solidFill>
                  <a:schemeClr val="accent2"/>
                </a:solidFill>
              </a:rPr>
              <a:t>Single console to diagnose known issues impacting VCF software</a:t>
            </a:r>
            <a:endParaRPr/>
          </a:p>
          <a:p>
            <a:pPr marL="0" lvl="0" indent="0" algn="l" rtl="0">
              <a:lnSpc>
                <a:spcPct val="120000"/>
              </a:lnSpc>
              <a:spcBef>
                <a:spcPts val="600"/>
              </a:spcBef>
              <a:spcAft>
                <a:spcPts val="0"/>
              </a:spcAft>
              <a:buClr>
                <a:schemeClr val="accent4"/>
              </a:buClr>
              <a:buSzPts val="1200"/>
              <a:buNone/>
            </a:pPr>
            <a:r>
              <a:rPr lang="en-US">
                <a:solidFill>
                  <a:schemeClr val="accent2"/>
                </a:solidFill>
              </a:rPr>
              <a:t>View security risks (CVE &amp; VMSA)</a:t>
            </a:r>
            <a:endParaRPr/>
          </a:p>
          <a:p>
            <a:pPr marL="0" lvl="0" indent="0" algn="l" rtl="0">
              <a:lnSpc>
                <a:spcPct val="120000"/>
              </a:lnSpc>
              <a:spcBef>
                <a:spcPts val="600"/>
              </a:spcBef>
              <a:spcAft>
                <a:spcPts val="0"/>
              </a:spcAft>
              <a:buClr>
                <a:schemeClr val="accent4"/>
              </a:buClr>
              <a:buSzPts val="1200"/>
              <a:buNone/>
            </a:pPr>
            <a:r>
              <a:rPr lang="en-US">
                <a:solidFill>
                  <a:schemeClr val="accent2"/>
                </a:solidFill>
              </a:rPr>
              <a:t>Understand impacted components with curated remediation steps</a:t>
            </a:r>
            <a:endParaRPr/>
          </a:p>
          <a:p>
            <a:pPr marL="0" lvl="0" indent="0" algn="l" rtl="0">
              <a:lnSpc>
                <a:spcPct val="120000"/>
              </a:lnSpc>
              <a:spcBef>
                <a:spcPts val="600"/>
              </a:spcBef>
              <a:spcAft>
                <a:spcPts val="0"/>
              </a:spcAft>
              <a:buClr>
                <a:schemeClr val="accent4"/>
              </a:buClr>
              <a:buSzPts val="1200"/>
              <a:buNone/>
            </a:pPr>
            <a:r>
              <a:rPr lang="en-US">
                <a:solidFill>
                  <a:schemeClr val="accent2"/>
                </a:solidFill>
              </a:rPr>
              <a:t>Diagnose VCF capabilities vMotion, snapshots, workload provisioning</a:t>
            </a:r>
            <a:endParaRPr/>
          </a:p>
          <a:p>
            <a:pPr marL="0" lvl="0" indent="0" algn="l" rtl="0">
              <a:lnSpc>
                <a:spcPct val="100000"/>
              </a:lnSpc>
              <a:spcBef>
                <a:spcPts val="600"/>
              </a:spcBef>
              <a:spcAft>
                <a:spcPts val="0"/>
              </a:spcAft>
              <a:buSzPts val="1440"/>
              <a:buNone/>
            </a:pPr>
            <a:endParaRPr/>
          </a:p>
        </p:txBody>
      </p:sp>
      <p:pic>
        <p:nvPicPr>
          <p:cNvPr id="12392" name="Google Shape;12392;p92" descr="A screenshot of a computer&#10;&#10;AI-generated content may be incorrect."/>
          <p:cNvPicPr preferRelativeResize="0">
            <a:picLocks noGrp="1"/>
          </p:cNvPicPr>
          <p:nvPr>
            <p:ph type="body" idx="3"/>
          </p:nvPr>
        </p:nvPicPr>
        <p:blipFill rotWithShape="1">
          <a:blip r:embed="rId3">
            <a:alphaModFix/>
          </a:blip>
          <a:srcRect l="4915" t="8095" r="-1" b="1872"/>
          <a:stretch/>
        </p:blipFill>
        <p:spPr>
          <a:xfrm>
            <a:off x="608013" y="1830588"/>
            <a:ext cx="7397750" cy="3940016"/>
          </a:xfrm>
          <a:prstGeom prst="rect">
            <a:avLst/>
          </a:prstGeom>
          <a:noFill/>
          <a:ln>
            <a:noFill/>
          </a:ln>
        </p:spPr>
      </p:pic>
      <p:sp>
        <p:nvSpPr>
          <p:cNvPr id="12393" name="Google Shape;12393;p92"/>
          <p:cNvSpPr/>
          <p:nvPr/>
        </p:nvSpPr>
        <p:spPr>
          <a:xfrm>
            <a:off x="4463933" y="1625279"/>
            <a:ext cx="3487639" cy="213378"/>
          </a:xfrm>
          <a:prstGeom prst="rect">
            <a:avLst/>
          </a:prstGeom>
          <a:solidFill>
            <a:srgbClr val="314048"/>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12394" name="Google Shape;12394;p92" descr="A screenshot of a computer&#10;&#10;AI-generated content may be incorrect."/>
          <p:cNvPicPr preferRelativeResize="0"/>
          <p:nvPr/>
        </p:nvPicPr>
        <p:blipFill rotWithShape="1">
          <a:blip r:embed="rId4">
            <a:alphaModFix/>
          </a:blip>
          <a:srcRect t="11918" b="82614"/>
          <a:stretch/>
        </p:blipFill>
        <p:spPr>
          <a:xfrm>
            <a:off x="608013" y="1625279"/>
            <a:ext cx="4877223" cy="21337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2399"/>
        <p:cNvGrpSpPr/>
        <p:nvPr/>
      </p:nvGrpSpPr>
      <p:grpSpPr>
        <a:xfrm>
          <a:off x="0" y="0"/>
          <a:ext cx="0" cy="0"/>
          <a:chOff x="0" y="0"/>
          <a:chExt cx="0" cy="0"/>
        </a:xfrm>
      </p:grpSpPr>
      <p:sp>
        <p:nvSpPr>
          <p:cNvPr id="12400" name="Google Shape;12400;p93"/>
          <p:cNvSpPr/>
          <p:nvPr/>
        </p:nvSpPr>
        <p:spPr>
          <a:xfrm>
            <a:off x="6050987" y="1596278"/>
            <a:ext cx="5634982" cy="4449891"/>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2401" name="Google Shape;12401;p93"/>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Monitoring Traditional Applications</a:t>
            </a:r>
            <a:endParaRPr/>
          </a:p>
        </p:txBody>
      </p:sp>
      <p:sp>
        <p:nvSpPr>
          <p:cNvPr id="12402" name="Google Shape;12402;p93"/>
          <p:cNvSpPr txBox="1">
            <a:spLocks noGrp="1"/>
          </p:cNvSpPr>
          <p:nvPr>
            <p:ph type="subTitle" idx="1"/>
          </p:nvPr>
        </p:nvSpPr>
        <p:spPr>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VCF Operations – Workload Operations</a:t>
            </a:r>
            <a:endParaRPr/>
          </a:p>
        </p:txBody>
      </p:sp>
      <p:sp>
        <p:nvSpPr>
          <p:cNvPr id="12403" name="Google Shape;12403;p93"/>
          <p:cNvSpPr txBox="1">
            <a:spLocks noGrp="1"/>
          </p:cNvSpPr>
          <p:nvPr>
            <p:ph type="body" idx="2"/>
          </p:nvPr>
        </p:nvSpPr>
        <p:spPr>
          <a:prstGeom prst="rect">
            <a:avLst/>
          </a:prstGeom>
          <a:solidFill>
            <a:srgbClr val="F4F8FA"/>
          </a:solidFill>
          <a:ln>
            <a:noFill/>
          </a:ln>
        </p:spPr>
        <p:txBody>
          <a:bodyPr spcFirstLastPara="1" wrap="square" lIns="594350" tIns="457200" rIns="457200" bIns="457200" anchor="t" anchorCtr="0">
            <a:noAutofit/>
          </a:bodyPr>
          <a:lstStyle/>
          <a:p>
            <a:pPr marL="0" lvl="0" indent="0" algn="l" rtl="0">
              <a:lnSpc>
                <a:spcPct val="100000"/>
              </a:lnSpc>
              <a:spcBef>
                <a:spcPts val="0"/>
              </a:spcBef>
              <a:spcAft>
                <a:spcPts val="0"/>
              </a:spcAft>
              <a:buClr>
                <a:schemeClr val="accent4"/>
              </a:buClr>
              <a:buSzPts val="1200"/>
              <a:buNone/>
            </a:pPr>
            <a:r>
              <a:rPr lang="en-US" sz="1800">
                <a:solidFill>
                  <a:schemeClr val="accent2"/>
                </a:solidFill>
              </a:rPr>
              <a:t>Application auto-discovery</a:t>
            </a:r>
            <a:endParaRPr/>
          </a:p>
          <a:p>
            <a:pPr marL="0" lvl="0" indent="0" algn="l" rtl="0">
              <a:lnSpc>
                <a:spcPct val="100000"/>
              </a:lnSpc>
              <a:spcBef>
                <a:spcPts val="600"/>
              </a:spcBef>
              <a:spcAft>
                <a:spcPts val="0"/>
              </a:spcAft>
              <a:buClr>
                <a:schemeClr val="accent4"/>
              </a:buClr>
              <a:buSzPts val="1200"/>
              <a:buNone/>
            </a:pPr>
            <a:r>
              <a:rPr lang="en-US" sz="1800">
                <a:solidFill>
                  <a:schemeClr val="accent2"/>
                </a:solidFill>
              </a:rPr>
              <a:t>Agentless monitoring with management packs </a:t>
            </a:r>
            <a:endParaRPr/>
          </a:p>
          <a:p>
            <a:pPr marL="0" lvl="0" indent="0" algn="l" rtl="0">
              <a:lnSpc>
                <a:spcPct val="100000"/>
              </a:lnSpc>
              <a:spcBef>
                <a:spcPts val="600"/>
              </a:spcBef>
              <a:spcAft>
                <a:spcPts val="0"/>
              </a:spcAft>
              <a:buClr>
                <a:schemeClr val="accent4"/>
              </a:buClr>
              <a:buSzPts val="1200"/>
              <a:buNone/>
            </a:pPr>
            <a:r>
              <a:rPr lang="en-US" sz="1800">
                <a:solidFill>
                  <a:schemeClr val="accent2"/>
                </a:solidFill>
              </a:rPr>
              <a:t>Agent-based application monitoring via Telegraf agents</a:t>
            </a:r>
            <a:endParaRPr/>
          </a:p>
          <a:p>
            <a:pPr marL="0" lvl="0" indent="0" algn="l" rtl="0">
              <a:lnSpc>
                <a:spcPct val="100000"/>
              </a:lnSpc>
              <a:spcBef>
                <a:spcPts val="600"/>
              </a:spcBef>
              <a:spcAft>
                <a:spcPts val="0"/>
              </a:spcAft>
              <a:buClr>
                <a:schemeClr val="accent4"/>
              </a:buClr>
              <a:buSzPts val="1200"/>
              <a:buNone/>
            </a:pPr>
            <a:r>
              <a:rPr lang="en-US" sz="1800">
                <a:solidFill>
                  <a:schemeClr val="accent2"/>
                </a:solidFill>
              </a:rPr>
              <a:t>OS and process-level visibility</a:t>
            </a:r>
            <a:endParaRPr/>
          </a:p>
          <a:p>
            <a:pPr marL="0" lvl="0" indent="0" algn="l" rtl="0">
              <a:lnSpc>
                <a:spcPct val="120000"/>
              </a:lnSpc>
              <a:spcBef>
                <a:spcPts val="600"/>
              </a:spcBef>
              <a:spcAft>
                <a:spcPts val="0"/>
              </a:spcAft>
              <a:buClr>
                <a:schemeClr val="accent4"/>
              </a:buClr>
              <a:buSzPts val="1200"/>
              <a:buNone/>
            </a:pPr>
            <a:r>
              <a:rPr lang="en-US" sz="1800">
                <a:solidFill>
                  <a:schemeClr val="accent2"/>
                </a:solidFill>
              </a:rPr>
              <a:t>Understand application boundaries and communications</a:t>
            </a:r>
            <a:endParaRPr/>
          </a:p>
          <a:p>
            <a:pPr marL="0" lvl="0" indent="0" algn="l" rtl="0">
              <a:lnSpc>
                <a:spcPct val="120000"/>
              </a:lnSpc>
              <a:spcBef>
                <a:spcPts val="600"/>
              </a:spcBef>
              <a:spcAft>
                <a:spcPts val="0"/>
              </a:spcAft>
              <a:buClr>
                <a:schemeClr val="accent4"/>
              </a:buClr>
              <a:buSzPts val="1200"/>
              <a:buNone/>
            </a:pPr>
            <a:r>
              <a:rPr lang="en-US" sz="1800">
                <a:solidFill>
                  <a:schemeClr val="accent2"/>
                </a:solidFill>
              </a:rPr>
              <a:t>Monitor business critical application availability and performance</a:t>
            </a:r>
            <a:endParaRPr/>
          </a:p>
          <a:p>
            <a:pPr marL="0" lvl="0" indent="0" algn="l" rtl="0">
              <a:lnSpc>
                <a:spcPct val="120000"/>
              </a:lnSpc>
              <a:spcBef>
                <a:spcPts val="600"/>
              </a:spcBef>
              <a:spcAft>
                <a:spcPts val="0"/>
              </a:spcAft>
              <a:buClr>
                <a:schemeClr val="accent4"/>
              </a:buClr>
              <a:buSzPts val="1200"/>
              <a:buNone/>
            </a:pPr>
            <a:r>
              <a:rPr lang="en-US" sz="1800">
                <a:solidFill>
                  <a:schemeClr val="accent2"/>
                </a:solidFill>
              </a:rPr>
              <a:t>Know where a problem lies: infrastructure or application</a:t>
            </a:r>
            <a:endParaRPr/>
          </a:p>
          <a:p>
            <a:pPr marL="285750" lvl="0" indent="-209550" algn="l" rtl="0">
              <a:lnSpc>
                <a:spcPct val="100000"/>
              </a:lnSpc>
              <a:spcBef>
                <a:spcPts val="600"/>
              </a:spcBef>
              <a:spcAft>
                <a:spcPts val="0"/>
              </a:spcAft>
              <a:buClr>
                <a:schemeClr val="accent4"/>
              </a:buClr>
              <a:buSzPts val="1200"/>
              <a:buFont typeface="Arial"/>
              <a:buNone/>
            </a:pPr>
            <a:endParaRPr sz="1800">
              <a:solidFill>
                <a:schemeClr val="dk1"/>
              </a:solidFill>
            </a:endParaRPr>
          </a:p>
          <a:p>
            <a:pPr marL="0" lvl="0" indent="0" algn="l" rtl="0">
              <a:lnSpc>
                <a:spcPct val="100000"/>
              </a:lnSpc>
              <a:spcBef>
                <a:spcPts val="600"/>
              </a:spcBef>
              <a:spcAft>
                <a:spcPts val="0"/>
              </a:spcAft>
              <a:buSzPts val="1620"/>
              <a:buNone/>
            </a:pPr>
            <a:endParaRPr/>
          </a:p>
        </p:txBody>
      </p:sp>
      <p:grpSp>
        <p:nvGrpSpPr>
          <p:cNvPr id="12404" name="Google Shape;12404;p93"/>
          <p:cNvGrpSpPr/>
          <p:nvPr/>
        </p:nvGrpSpPr>
        <p:grpSpPr>
          <a:xfrm>
            <a:off x="6118222" y="2084302"/>
            <a:ext cx="5520759" cy="1361660"/>
            <a:chOff x="364257" y="1235580"/>
            <a:chExt cx="8356184" cy="2060997"/>
          </a:xfrm>
        </p:grpSpPr>
        <p:pic>
          <p:nvPicPr>
            <p:cNvPr id="12405" name="Google Shape;12405;p93"/>
            <p:cNvPicPr preferRelativeResize="0"/>
            <p:nvPr/>
          </p:nvPicPr>
          <p:blipFill rotWithShape="1">
            <a:blip r:embed="rId3">
              <a:alphaModFix/>
            </a:blip>
            <a:srcRect/>
            <a:stretch/>
          </p:blipFill>
          <p:spPr>
            <a:xfrm>
              <a:off x="364257" y="1235580"/>
              <a:ext cx="8356184" cy="1977132"/>
            </a:xfrm>
            <a:prstGeom prst="rect">
              <a:avLst/>
            </a:prstGeom>
            <a:noFill/>
            <a:ln>
              <a:noFill/>
            </a:ln>
          </p:spPr>
        </p:pic>
        <p:sp>
          <p:nvSpPr>
            <p:cNvPr id="12406" name="Google Shape;12406;p93"/>
            <p:cNvSpPr/>
            <p:nvPr/>
          </p:nvSpPr>
          <p:spPr>
            <a:xfrm>
              <a:off x="1539240" y="3029878"/>
              <a:ext cx="2644140" cy="266699"/>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2407" name="Google Shape;12407;p93"/>
            <p:cNvSpPr/>
            <p:nvPr/>
          </p:nvSpPr>
          <p:spPr>
            <a:xfrm>
              <a:off x="4556277" y="3003162"/>
              <a:ext cx="1410183" cy="262673"/>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2408" name="Google Shape;12408;p93"/>
            <p:cNvSpPr/>
            <p:nvPr/>
          </p:nvSpPr>
          <p:spPr>
            <a:xfrm>
              <a:off x="6965218" y="3011044"/>
              <a:ext cx="1410183" cy="262673"/>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grpSp>
      <p:pic>
        <p:nvPicPr>
          <p:cNvPr id="12409" name="Google Shape;12409;p93"/>
          <p:cNvPicPr preferRelativeResize="0"/>
          <p:nvPr/>
        </p:nvPicPr>
        <p:blipFill rotWithShape="1">
          <a:blip r:embed="rId4">
            <a:alphaModFix/>
          </a:blip>
          <a:srcRect/>
          <a:stretch/>
        </p:blipFill>
        <p:spPr>
          <a:xfrm>
            <a:off x="6104775" y="3482808"/>
            <a:ext cx="5522282" cy="2463941"/>
          </a:xfrm>
          <a:prstGeom prst="rect">
            <a:avLst/>
          </a:prstGeom>
          <a:noFill/>
          <a:ln>
            <a:noFill/>
          </a:ln>
        </p:spPr>
      </p:pic>
      <p:sp>
        <p:nvSpPr>
          <p:cNvPr id="12410" name="Google Shape;12410;p93"/>
          <p:cNvSpPr/>
          <p:nvPr/>
        </p:nvSpPr>
        <p:spPr>
          <a:xfrm>
            <a:off x="8159632" y="1674381"/>
            <a:ext cx="3487639" cy="213378"/>
          </a:xfrm>
          <a:prstGeom prst="rect">
            <a:avLst/>
          </a:prstGeom>
          <a:solidFill>
            <a:srgbClr val="314048"/>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12411" name="Google Shape;12411;p93" descr="A screenshot of a computer&#10;&#10;AI-generated content may be incorrect."/>
          <p:cNvPicPr preferRelativeResize="0"/>
          <p:nvPr/>
        </p:nvPicPr>
        <p:blipFill rotWithShape="1">
          <a:blip r:embed="rId5">
            <a:alphaModFix/>
          </a:blip>
          <a:srcRect t="11918" b="82614"/>
          <a:stretch/>
        </p:blipFill>
        <p:spPr>
          <a:xfrm>
            <a:off x="6094412" y="1674381"/>
            <a:ext cx="4877223" cy="21337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1527;p8">
            <a:extLst>
              <a:ext uri="{FF2B5EF4-FFF2-40B4-BE49-F238E27FC236}">
                <a16:creationId xmlns:a16="http://schemas.microsoft.com/office/drawing/2014/main" id="{3CE8273B-1A58-05CE-6561-CCF03E9B1436}"/>
              </a:ext>
            </a:extLst>
          </p:cNvPr>
          <p:cNvSpPr>
            <a:spLocks noChangeAspect="1"/>
          </p:cNvSpPr>
          <p:nvPr/>
        </p:nvSpPr>
        <p:spPr>
          <a:xfrm>
            <a:off x="568519" y="1596279"/>
            <a:ext cx="7437244" cy="4064933"/>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 name="Title 1">
            <a:extLst>
              <a:ext uri="{FF2B5EF4-FFF2-40B4-BE49-F238E27FC236}">
                <a16:creationId xmlns:a16="http://schemas.microsoft.com/office/drawing/2014/main" id="{29FF3C2F-D7EA-F3AD-441E-32E909D2DA18}"/>
              </a:ext>
            </a:extLst>
          </p:cNvPr>
          <p:cNvSpPr>
            <a:spLocks noGrp="1"/>
          </p:cNvSpPr>
          <p:nvPr>
            <p:ph type="title"/>
          </p:nvPr>
        </p:nvSpPr>
        <p:spPr/>
        <p:txBody>
          <a:bodyPr/>
          <a:lstStyle/>
          <a:p>
            <a:r>
              <a:rPr lang="en-US" dirty="0"/>
              <a:t>Monitoring Modern Applications</a:t>
            </a:r>
          </a:p>
        </p:txBody>
      </p:sp>
      <p:sp>
        <p:nvSpPr>
          <p:cNvPr id="3" name="Subtitle 2">
            <a:extLst>
              <a:ext uri="{FF2B5EF4-FFF2-40B4-BE49-F238E27FC236}">
                <a16:creationId xmlns:a16="http://schemas.microsoft.com/office/drawing/2014/main" id="{F6D6C23A-D380-671E-3A31-189761058F38}"/>
              </a:ext>
            </a:extLst>
          </p:cNvPr>
          <p:cNvSpPr>
            <a:spLocks noGrp="1"/>
          </p:cNvSpPr>
          <p:nvPr>
            <p:ph type="subTitle" idx="10"/>
          </p:nvPr>
        </p:nvSpPr>
        <p:spPr/>
        <p:txBody>
          <a:bodyPr/>
          <a:lstStyle/>
          <a:p>
            <a:r>
              <a:rPr lang="en-US" dirty="0"/>
              <a:t>VCF Operations – Workload Operations </a:t>
            </a:r>
          </a:p>
        </p:txBody>
      </p:sp>
      <p:sp>
        <p:nvSpPr>
          <p:cNvPr id="4" name="Text Placeholder 3">
            <a:extLst>
              <a:ext uri="{FF2B5EF4-FFF2-40B4-BE49-F238E27FC236}">
                <a16:creationId xmlns:a16="http://schemas.microsoft.com/office/drawing/2014/main" id="{F5F5CA05-374E-3695-EFAC-1B1B71C5FE02}"/>
              </a:ext>
            </a:extLst>
          </p:cNvPr>
          <p:cNvSpPr>
            <a:spLocks noGrp="1"/>
          </p:cNvSpPr>
          <p:nvPr>
            <p:ph type="body" sz="quarter" idx="17"/>
          </p:nvPr>
        </p:nvSpPr>
        <p:spPr/>
        <p:txBody>
          <a:bodyPr/>
          <a:lstStyle/>
          <a:p>
            <a:pPr>
              <a:spcAft>
                <a:spcPts val="600"/>
              </a:spcAft>
              <a:buClr>
                <a:schemeClr val="accent4"/>
              </a:buClr>
              <a:buSzPts val="1200"/>
              <a:buNone/>
            </a:pPr>
            <a:r>
              <a:rPr lang="en-US" dirty="0"/>
              <a:t>Automatically monitors Supervisor/VKS</a:t>
            </a:r>
          </a:p>
          <a:p>
            <a:pPr>
              <a:spcAft>
                <a:spcPts val="600"/>
              </a:spcAft>
              <a:buClr>
                <a:schemeClr val="accent4"/>
              </a:buClr>
              <a:buSzPts val="1200"/>
              <a:buNone/>
            </a:pPr>
            <a:r>
              <a:rPr lang="en-US" dirty="0"/>
              <a:t>Drill down into Kubernetes objects</a:t>
            </a:r>
          </a:p>
          <a:p>
            <a:pPr>
              <a:spcAft>
                <a:spcPts val="600"/>
              </a:spcAft>
              <a:buClr>
                <a:schemeClr val="accent4"/>
              </a:buClr>
              <a:buSzPts val="1200"/>
              <a:buNone/>
            </a:pPr>
            <a:r>
              <a:rPr lang="en-US" dirty="0"/>
              <a:t>Detailed metrics for further troubleshooting</a:t>
            </a:r>
          </a:p>
          <a:p>
            <a:pPr>
              <a:lnSpc>
                <a:spcPct val="120000"/>
              </a:lnSpc>
              <a:spcAft>
                <a:spcPts val="600"/>
              </a:spcAft>
              <a:buClr>
                <a:schemeClr val="accent4"/>
              </a:buClr>
              <a:buSzPts val="1200"/>
              <a:buNone/>
            </a:pPr>
            <a:r>
              <a:rPr lang="en-US" dirty="0"/>
              <a:t>Discovers Kubernetes entities nodes, namespaces and workloads</a:t>
            </a:r>
          </a:p>
          <a:p>
            <a:pPr>
              <a:lnSpc>
                <a:spcPct val="120000"/>
              </a:lnSpc>
              <a:spcAft>
                <a:spcPts val="600"/>
              </a:spcAft>
              <a:buClr>
                <a:schemeClr val="accent4"/>
              </a:buClr>
              <a:buSzPts val="1200"/>
              <a:buNone/>
            </a:pPr>
            <a:r>
              <a:rPr lang="en-US" dirty="0"/>
              <a:t>OOTB Dashboards, metrics and alerts for Kubernetes objects</a:t>
            </a:r>
          </a:p>
          <a:p>
            <a:pPr marL="285750" indent="-285750">
              <a:spcAft>
                <a:spcPts val="600"/>
              </a:spcAft>
              <a:buClr>
                <a:schemeClr val="accent4"/>
              </a:buClr>
              <a:buSzPts val="1200"/>
              <a:buFont typeface="Arial"/>
              <a:buChar char="•"/>
            </a:pPr>
            <a:endParaRPr lang="en-US" dirty="0">
              <a:solidFill>
                <a:srgbClr val="3F3F3F"/>
              </a:solidFill>
            </a:endParaRPr>
          </a:p>
          <a:p>
            <a:endParaRPr lang="en-US" dirty="0"/>
          </a:p>
        </p:txBody>
      </p:sp>
      <p:pic>
        <p:nvPicPr>
          <p:cNvPr id="6" name="Content Placeholder 5" descr="A screenshot of a computer&#10;&#10;AI-generated content may be incorrect.">
            <a:extLst>
              <a:ext uri="{FF2B5EF4-FFF2-40B4-BE49-F238E27FC236}">
                <a16:creationId xmlns:a16="http://schemas.microsoft.com/office/drawing/2014/main" id="{261491E6-B9A9-FBFF-2FC5-0370D5C3B46A}"/>
              </a:ext>
            </a:extLst>
          </p:cNvPr>
          <p:cNvPicPr preferRelativeResize="0">
            <a:picLocks noGrp="1" noChangeAspect="1"/>
          </p:cNvPicPr>
          <p:nvPr>
            <p:ph sz="quarter" idx="14"/>
          </p:nvPr>
        </p:nvPicPr>
        <p:blipFill>
          <a:blip r:embed="rId3"/>
          <a:stretch>
            <a:fillRect/>
          </a:stretch>
        </p:blipFill>
        <p:spPr>
          <a:xfrm>
            <a:off x="621460" y="1708244"/>
            <a:ext cx="7323772" cy="3886352"/>
          </a:xfrm>
          <a:prstGeom prst="rect">
            <a:avLst/>
          </a:prstGeom>
        </p:spPr>
      </p:pic>
    </p:spTree>
    <p:extLst>
      <p:ext uri="{BB962C8B-B14F-4D97-AF65-F5344CB8AC3E}">
        <p14:creationId xmlns:p14="http://schemas.microsoft.com/office/powerpoint/2010/main" val="345729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527;p8">
            <a:extLst>
              <a:ext uri="{FF2B5EF4-FFF2-40B4-BE49-F238E27FC236}">
                <a16:creationId xmlns:a16="http://schemas.microsoft.com/office/drawing/2014/main" id="{44E0B20C-F158-AF99-6DF1-1D110E005C91}"/>
              </a:ext>
            </a:extLst>
          </p:cNvPr>
          <p:cNvSpPr>
            <a:spLocks noChangeAspect="1"/>
          </p:cNvSpPr>
          <p:nvPr/>
        </p:nvSpPr>
        <p:spPr>
          <a:xfrm>
            <a:off x="568519" y="1596279"/>
            <a:ext cx="5579327" cy="4572000"/>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 name="Content Placeholder 1">
            <a:extLst>
              <a:ext uri="{FF2B5EF4-FFF2-40B4-BE49-F238E27FC236}">
                <a16:creationId xmlns:a16="http://schemas.microsoft.com/office/drawing/2014/main" id="{909EF37D-9DDF-2554-5192-759FF18FC2A8}"/>
              </a:ext>
            </a:extLst>
          </p:cNvPr>
          <p:cNvSpPr>
            <a:spLocks noGrp="1"/>
          </p:cNvSpPr>
          <p:nvPr>
            <p:ph sz="quarter" idx="16"/>
          </p:nvPr>
        </p:nvSpPr>
        <p:spPr/>
        <p:txBody>
          <a:bodyPr/>
          <a:lstStyle/>
          <a:p>
            <a:pPr marL="0" lvl="1" indent="0">
              <a:lnSpc>
                <a:spcPct val="120000"/>
              </a:lnSpc>
              <a:spcAft>
                <a:spcPts val="600"/>
              </a:spcAft>
              <a:buClr>
                <a:schemeClr val="accent4"/>
              </a:buClr>
              <a:buSzPts val="1200"/>
              <a:buNone/>
              <a:defRPr/>
            </a:pPr>
            <a:r>
              <a:rPr lang="en-US" sz="1800" dirty="0">
                <a:solidFill>
                  <a:schemeClr val="accent2"/>
                </a:solidFill>
              </a:rPr>
              <a:t>Efficient migrations save time and cost</a:t>
            </a:r>
          </a:p>
          <a:p>
            <a:pPr marL="0" lvl="1" indent="0">
              <a:lnSpc>
                <a:spcPct val="120000"/>
              </a:lnSpc>
              <a:spcAft>
                <a:spcPts val="600"/>
              </a:spcAft>
              <a:buClr>
                <a:schemeClr val="accent4"/>
              </a:buClr>
              <a:buSzPts val="1200"/>
              <a:buNone/>
              <a:defRPr/>
            </a:pPr>
            <a:r>
              <a:rPr lang="en-US" sz="1800" dirty="0">
                <a:solidFill>
                  <a:schemeClr val="accent2"/>
                </a:solidFill>
              </a:rPr>
              <a:t>Automated migration and execution workflows</a:t>
            </a:r>
          </a:p>
          <a:p>
            <a:pPr marL="0" lvl="1" indent="0">
              <a:lnSpc>
                <a:spcPct val="120000"/>
              </a:lnSpc>
              <a:spcAft>
                <a:spcPts val="600"/>
              </a:spcAft>
              <a:buClr>
                <a:schemeClr val="accent4"/>
              </a:buClr>
              <a:buSzPts val="1200"/>
              <a:buNone/>
              <a:defRPr/>
            </a:pPr>
            <a:r>
              <a:rPr lang="en-US" sz="1800" dirty="0">
                <a:solidFill>
                  <a:schemeClr val="accent2"/>
                </a:solidFill>
              </a:rPr>
              <a:t>Granular planning to analyze network flows, create move groups and create mobility groups</a:t>
            </a:r>
          </a:p>
          <a:p>
            <a:pPr marL="0" lvl="1" indent="0">
              <a:lnSpc>
                <a:spcPct val="120000"/>
              </a:lnSpc>
              <a:spcAft>
                <a:spcPts val="600"/>
              </a:spcAft>
              <a:buClr>
                <a:schemeClr val="accent4"/>
              </a:buClr>
              <a:buSzPts val="1200"/>
              <a:buNone/>
              <a:defRPr/>
            </a:pPr>
            <a:r>
              <a:rPr lang="en-US" sz="1800" dirty="0">
                <a:solidFill>
                  <a:schemeClr val="accent2"/>
                </a:solidFill>
              </a:rPr>
              <a:t>Robust Large Scale Migration Execution:</a:t>
            </a:r>
          </a:p>
          <a:p>
            <a:pPr marL="0" lvl="1" indent="0">
              <a:lnSpc>
                <a:spcPct val="120000"/>
              </a:lnSpc>
              <a:spcAft>
                <a:spcPts val="600"/>
              </a:spcAft>
              <a:buClr>
                <a:schemeClr val="accent4"/>
              </a:buClr>
              <a:buSzPts val="1200"/>
              <a:buNone/>
              <a:defRPr/>
            </a:pPr>
            <a:r>
              <a:rPr lang="en-US" sz="1800" dirty="0">
                <a:solidFill>
                  <a:schemeClr val="accent2"/>
                </a:solidFill>
              </a:rPr>
              <a:t>Scenarios (On-prem; vSphere only)</a:t>
            </a:r>
          </a:p>
          <a:p>
            <a:pPr marL="285750" lvl="1" indent="-285750">
              <a:lnSpc>
                <a:spcPct val="120000"/>
              </a:lnSpc>
              <a:spcAft>
                <a:spcPts val="600"/>
              </a:spcAft>
              <a:buClr>
                <a:schemeClr val="accent4"/>
              </a:buClr>
              <a:buSzPts val="1200"/>
              <a:defRPr/>
            </a:pPr>
            <a:r>
              <a:rPr lang="en-US" sz="1800" dirty="0">
                <a:solidFill>
                  <a:schemeClr val="accent2"/>
                </a:solidFill>
              </a:rPr>
              <a:t>Into/between/within VCF</a:t>
            </a:r>
          </a:p>
          <a:p>
            <a:pPr marL="285750" lvl="1" indent="-285750">
              <a:lnSpc>
                <a:spcPct val="120000"/>
              </a:lnSpc>
              <a:spcAft>
                <a:spcPts val="600"/>
              </a:spcAft>
              <a:buClr>
                <a:schemeClr val="accent4"/>
              </a:buClr>
              <a:buSzPts val="1200"/>
              <a:defRPr/>
            </a:pPr>
            <a:r>
              <a:rPr lang="en-US" sz="1800" dirty="0">
                <a:solidFill>
                  <a:schemeClr val="accent2"/>
                </a:solidFill>
              </a:rPr>
              <a:t>From/to VPC</a:t>
            </a:r>
          </a:p>
          <a:p>
            <a:pPr marL="285750" lvl="1" indent="-285750">
              <a:lnSpc>
                <a:spcPct val="120000"/>
              </a:lnSpc>
              <a:spcAft>
                <a:spcPts val="600"/>
              </a:spcAft>
              <a:buClr>
                <a:schemeClr val="accent4"/>
              </a:buClr>
              <a:buSzPts val="1200"/>
              <a:defRPr/>
            </a:pPr>
            <a:r>
              <a:rPr lang="en-US" sz="1800" dirty="0">
                <a:solidFill>
                  <a:schemeClr val="accent2"/>
                </a:solidFill>
              </a:rPr>
              <a:t>M&amp;A, DC consolidation</a:t>
            </a:r>
          </a:p>
          <a:p>
            <a:pPr marL="285750" lvl="1" indent="-285750">
              <a:lnSpc>
                <a:spcPct val="120000"/>
              </a:lnSpc>
              <a:spcAft>
                <a:spcPts val="600"/>
              </a:spcAft>
              <a:buClr>
                <a:schemeClr val="accent4"/>
              </a:buClr>
              <a:buSzPts val="1200"/>
              <a:defRPr/>
            </a:pPr>
            <a:r>
              <a:rPr lang="en-US" sz="1800" dirty="0">
                <a:solidFill>
                  <a:schemeClr val="accent2"/>
                </a:solidFill>
              </a:rPr>
              <a:t>On-demand and planned workload mobility</a:t>
            </a:r>
          </a:p>
          <a:p>
            <a:pPr marL="285750" lvl="1" indent="-285750">
              <a:lnSpc>
                <a:spcPct val="120000"/>
              </a:lnSpc>
              <a:spcAft>
                <a:spcPts val="600"/>
              </a:spcAft>
              <a:buClr>
                <a:schemeClr val="accent4"/>
              </a:buClr>
              <a:buSzPts val="1200"/>
              <a:buFont typeface="Arial"/>
              <a:buChar char="•"/>
              <a:defRPr/>
            </a:pPr>
            <a:endParaRPr lang="en-US" sz="1800" b="0" i="0" u="none" strike="noStrike" cap="none" dirty="0">
              <a:solidFill>
                <a:schemeClr val="dk1"/>
              </a:solidFill>
              <a:latin typeface="Arial"/>
              <a:ea typeface="Arial"/>
              <a:cs typeface="Arial"/>
              <a:sym typeface="Arial"/>
            </a:endParaRPr>
          </a:p>
          <a:p>
            <a:endParaRPr lang="en-US" dirty="0"/>
          </a:p>
        </p:txBody>
      </p:sp>
      <p:sp>
        <p:nvSpPr>
          <p:cNvPr id="3" name="Subtitle 2">
            <a:extLst>
              <a:ext uri="{FF2B5EF4-FFF2-40B4-BE49-F238E27FC236}">
                <a16:creationId xmlns:a16="http://schemas.microsoft.com/office/drawing/2014/main" id="{2A4738D6-2709-21D7-EF19-77A6346B70C6}"/>
              </a:ext>
            </a:extLst>
          </p:cNvPr>
          <p:cNvSpPr>
            <a:spLocks noGrp="1"/>
          </p:cNvSpPr>
          <p:nvPr>
            <p:ph type="subTitle" idx="10"/>
          </p:nvPr>
        </p:nvSpPr>
        <p:spPr/>
        <p:txBody>
          <a:bodyPr/>
          <a:lstStyle/>
          <a:p>
            <a:r>
              <a:rPr lang="en-US" dirty="0"/>
              <a:t>VCF Operations – Workload Migration Planning</a:t>
            </a:r>
          </a:p>
        </p:txBody>
      </p:sp>
      <p:sp>
        <p:nvSpPr>
          <p:cNvPr id="4" name="Title 3">
            <a:extLst>
              <a:ext uri="{FF2B5EF4-FFF2-40B4-BE49-F238E27FC236}">
                <a16:creationId xmlns:a16="http://schemas.microsoft.com/office/drawing/2014/main" id="{8075D61B-BD09-B7EC-A1EF-DA4000815A29}"/>
              </a:ext>
            </a:extLst>
          </p:cNvPr>
          <p:cNvSpPr>
            <a:spLocks noGrp="1"/>
          </p:cNvSpPr>
          <p:nvPr>
            <p:ph type="title"/>
          </p:nvPr>
        </p:nvSpPr>
        <p:spPr/>
        <p:txBody>
          <a:bodyPr/>
          <a:lstStyle/>
          <a:p>
            <a:r>
              <a:rPr lang="en-US" dirty="0"/>
              <a:t>End-to end Process - Plan, Schedule and Migrate Workloads at Scale</a:t>
            </a:r>
          </a:p>
        </p:txBody>
      </p:sp>
      <p:pic>
        <p:nvPicPr>
          <p:cNvPr id="6" name="Picture 5" descr="A screenshot of a computer&#10;&#10;AI-generated content may be incorrect.">
            <a:extLst>
              <a:ext uri="{FF2B5EF4-FFF2-40B4-BE49-F238E27FC236}">
                <a16:creationId xmlns:a16="http://schemas.microsoft.com/office/drawing/2014/main" id="{6FDA05A9-6516-D9C7-129E-31F0611F0946}"/>
              </a:ext>
            </a:extLst>
          </p:cNvPr>
          <p:cNvPicPr preferRelativeResize="0">
            <a:picLocks noChangeAspect="1"/>
          </p:cNvPicPr>
          <p:nvPr/>
        </p:nvPicPr>
        <p:blipFill>
          <a:blip r:embed="rId3"/>
          <a:stretch>
            <a:fillRect/>
          </a:stretch>
        </p:blipFill>
        <p:spPr>
          <a:xfrm>
            <a:off x="631397" y="1727398"/>
            <a:ext cx="5409583" cy="1966606"/>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FBAE236E-1770-7DCE-DD03-394965FF904A}"/>
              </a:ext>
            </a:extLst>
          </p:cNvPr>
          <p:cNvPicPr preferRelativeResize="0">
            <a:picLocks noChangeAspect="1"/>
          </p:cNvPicPr>
          <p:nvPr/>
        </p:nvPicPr>
        <p:blipFill>
          <a:blip r:embed="rId4"/>
          <a:stretch>
            <a:fillRect/>
          </a:stretch>
        </p:blipFill>
        <p:spPr>
          <a:xfrm>
            <a:off x="631397" y="3921740"/>
            <a:ext cx="5409583" cy="2113722"/>
          </a:xfrm>
          <a:prstGeom prst="rect">
            <a:avLst/>
          </a:prstGeom>
        </p:spPr>
      </p:pic>
    </p:spTree>
    <p:extLst>
      <p:ext uri="{BB962C8B-B14F-4D97-AF65-F5344CB8AC3E}">
        <p14:creationId xmlns:p14="http://schemas.microsoft.com/office/powerpoint/2010/main" val="3268710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Mware 2025 Light">
  <a:themeElements>
    <a:clrScheme name="VMware-Light">
      <a:dk1>
        <a:srgbClr val="000000"/>
      </a:dk1>
      <a:lt1>
        <a:srgbClr val="FFFFFF"/>
      </a:lt1>
      <a:dk2>
        <a:srgbClr val="1B1D36"/>
      </a:dk2>
      <a:lt2>
        <a:srgbClr val="EEEEEE"/>
      </a:lt2>
      <a:accent1>
        <a:srgbClr val="007B8C"/>
      </a:accent1>
      <a:accent2>
        <a:srgbClr val="005C8A"/>
      </a:accent2>
      <a:accent3>
        <a:srgbClr val="0098C7"/>
      </a:accent3>
      <a:accent4>
        <a:srgbClr val="61A60E"/>
      </a:accent4>
      <a:accent5>
        <a:srgbClr val="6C4B94"/>
      </a:accent5>
      <a:accent6>
        <a:srgbClr val="F3BA16"/>
      </a:accent6>
      <a:hlink>
        <a:srgbClr val="0098C7"/>
      </a:hlink>
      <a:folHlink>
        <a:srgbClr val="6C4B9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2"/>
        </a:solidFill>
        <a:ln w="12700">
          <a:noFill/>
          <a:miter lim="800000"/>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8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127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00" dirty="0" smtClean="0">
            <a:solidFill>
              <a:schemeClr val="tx2"/>
            </a:solidFill>
          </a:defRPr>
        </a:defPPr>
      </a:lstStyle>
    </a:txDef>
  </a:objectDefaults>
  <a:extraClrSchemeLst/>
  <a:custClrLst>
    <a:custClr name="Orange">
      <a:srgbClr val="E68C28"/>
    </a:custClr>
    <a:custClr name="Red">
      <a:srgbClr val="CC092F"/>
    </a:custClr>
    <a:custClr name="Light Grey">
      <a:srgbClr val="E2E3E4"/>
    </a:custClr>
    <a:custClr name="Cool Grey 7">
      <a:srgbClr val="97999B"/>
    </a:custClr>
    <a:custClr name="Dark Grey">
      <a:srgbClr val="53565A"/>
    </a:custClr>
    <a:custClr name="2nd Green">
      <a:srgbClr val="23800A"/>
    </a:custClr>
    <a:custClr name="2nd Blue">
      <a:srgbClr val="007DA3"/>
    </a:custClr>
    <a:custClr name="187 Red">
      <a:srgbClr val="A6192E"/>
    </a:custClr>
  </a:custClrLst>
  <a:extLst>
    <a:ext uri="{05A4C25C-085E-4340-85A3-A5531E510DB2}">
      <thm15:themeFamily xmlns:thm15="http://schemas.microsoft.com/office/thememl/2012/main" name="bc-vmw-ppt-template-light-arial-2025.potx" id="{58448B0C-B9AF-4F14-9BEF-A2168841E3C9}" vid="{8A53EF31-A125-46D4-9CD1-4968F9927A64}"/>
    </a:ext>
  </a:extLst>
</a:theme>
</file>

<file path=ppt/theme/theme2.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88D0C854358DC418D143DF91B0F9F69" ma:contentTypeVersion="25" ma:contentTypeDescription="Create a new document." ma:contentTypeScope="" ma:versionID="86d1ae78601d406bc59f7b48175c4925">
  <xsd:schema xmlns:xsd="http://www.w3.org/2001/XMLSchema" xmlns:xs="http://www.w3.org/2001/XMLSchema" xmlns:p="http://schemas.microsoft.com/office/2006/metadata/properties" xmlns:ns1="http://schemas.microsoft.com/sharepoint/v3" xmlns:ns2="ff83b573-1131-4ec9-87e0-8de43cb2141f" xmlns:ns3="b91cd729-8792-47cd-b03b-259374444807" xmlns:ns4="78c16552-cbf3-4f1f-97ed-388b5d2a083d" targetNamespace="http://schemas.microsoft.com/office/2006/metadata/properties" ma:root="true" ma:fieldsID="87232950fb7e83d3727f6e525efdb9c3" ns1:_="" ns2:_="" ns3:_="" ns4:_="">
    <xsd:import namespace="http://schemas.microsoft.com/sharepoint/v3"/>
    <xsd:import namespace="ff83b573-1131-4ec9-87e0-8de43cb2141f"/>
    <xsd:import namespace="b91cd729-8792-47cd-b03b-259374444807"/>
    <xsd:import namespace="78c16552-cbf3-4f1f-97ed-388b5d2a083d"/>
    <xsd:element name="properties">
      <xsd:complexType>
        <xsd:sequence>
          <xsd:element name="documentManagement">
            <xsd:complexType>
              <xsd:all>
                <xsd:element ref="ns2:MigrationWizId" minOccurs="0"/>
                <xsd:element ref="ns2:MigrationWizIdPermissions" minOccurs="0"/>
                <xsd:element ref="ns2:MigrationWizIdPermissionLevels" minOccurs="0"/>
                <xsd:element ref="ns2:MigrationWizIdDocumentLibraryPermissions" minOccurs="0"/>
                <xsd:element ref="ns2:MigrationWizIdSecurityGroup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4:TaxCatchAll" minOccurs="0"/>
                <xsd:element ref="ns2:MediaServiceSearchProperties" minOccurs="0"/>
                <xsd:element ref="ns2:MediaServiceObjectDetectorVersions" minOccurs="0"/>
                <xsd:element ref="ns2: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83b573-1131-4ec9-87e0-8de43cb2141f"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PermissionLevels" ma:index="10" nillable="true" ma:displayName="MigrationWizIdPermissionLevels" ma:internalName="MigrationWizIdPermissionLevels">
      <xsd:simpleType>
        <xsd:restriction base="dms:Text"/>
      </xsd:simpleType>
    </xsd:element>
    <xsd:element name="MigrationWizIdDocumentLibraryPermissions" ma:index="11" nillable="true" ma:displayName="MigrationWizIdDocumentLibraryPermissions" ma:internalName="MigrationWizIdDocumentLibraryPermissions">
      <xsd:simpleType>
        <xsd:restriction base="dms:Text"/>
      </xsd:simpleType>
    </xsd:element>
    <xsd:element name="MigrationWizIdSecurityGroups" ma:index="12" nillable="true" ma:displayName="MigrationWizIdSecurityGroups" ma:internalName="MigrationWizIdSecurityGroups">
      <xsd:simpleType>
        <xsd:restriction base="dms:Text"/>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9" nillable="true" ma:displayName="Tags" ma:internalName="MediaServiceAutoTag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DateTaken" ma:index="23" nillable="true" ma:displayName="MediaServiceDateTaken" ma:hidden="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35e516c6-d7bc-4be5-8458-55365016f2bc"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Location" ma:index="3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1cd729-8792-47cd-b03b-25937444480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8c16552-cbf3-4f1f-97ed-388b5d2a083d"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62e8767f-5054-4ecc-a981-a992a2f0e90f}" ma:internalName="TaxCatchAll" ma:showField="CatchAllData" ma:web="78c16552-cbf3-4f1f-97ed-388b5d2a083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f83b573-1131-4ec9-87e0-8de43cb2141f">
      <Terms xmlns="http://schemas.microsoft.com/office/infopath/2007/PartnerControls"/>
    </lcf76f155ced4ddcb4097134ff3c332f>
    <TaxCatchAll xmlns="78c16552-cbf3-4f1f-97ed-388b5d2a083d" xsi:nil="true"/>
    <SharedWithUsers xmlns="b91cd729-8792-47cd-b03b-259374444807">
      <UserInfo>
        <DisplayName>Juanly Cabrera</DisplayName>
        <AccountId>17</AccountId>
        <AccountType/>
      </UserInfo>
      <UserInfo>
        <DisplayName>Andre Fernandes</DisplayName>
        <AccountId>20</AccountId>
        <AccountType/>
      </UserInfo>
    </SharedWithUsers>
    <MigrationWizIdSecurityGroups xmlns="ff83b573-1131-4ec9-87e0-8de43cb2141f" xsi:nil="true"/>
    <_ip_UnifiedCompliancePolicyUIAction xmlns="http://schemas.microsoft.com/sharepoint/v3" xsi:nil="true"/>
    <MigrationWizIdPermissions xmlns="ff83b573-1131-4ec9-87e0-8de43cb2141f" xsi:nil="true"/>
    <MigrationWizId xmlns="ff83b573-1131-4ec9-87e0-8de43cb2141f" xsi:nil="true"/>
    <MigrationWizIdDocumentLibraryPermissions xmlns="ff83b573-1131-4ec9-87e0-8de43cb2141f" xsi:nil="true"/>
    <_ip_UnifiedCompliancePolicyProperties xmlns="http://schemas.microsoft.com/sharepoint/v3" xsi:nil="true"/>
    <MigrationWizIdPermissionLevels xmlns="ff83b573-1131-4ec9-87e0-8de43cb2141f" xsi:nil="true"/>
  </documentManagement>
</p:properties>
</file>

<file path=customXml/itemProps1.xml><?xml version="1.0" encoding="utf-8"?>
<ds:datastoreItem xmlns:ds="http://schemas.openxmlformats.org/officeDocument/2006/customXml" ds:itemID="{BAD99180-4DF7-4231-B572-5E5D5B192DA4}">
  <ds:schemaRefs>
    <ds:schemaRef ds:uri="http://schemas.microsoft.com/sharepoint/v3/contenttype/forms"/>
  </ds:schemaRefs>
</ds:datastoreItem>
</file>

<file path=customXml/itemProps2.xml><?xml version="1.0" encoding="utf-8"?>
<ds:datastoreItem xmlns:ds="http://schemas.openxmlformats.org/officeDocument/2006/customXml" ds:itemID="{C38CBC37-9B84-4CB7-814D-994664DF547D}"/>
</file>

<file path=customXml/itemProps3.xml><?xml version="1.0" encoding="utf-8"?>
<ds:datastoreItem xmlns:ds="http://schemas.openxmlformats.org/officeDocument/2006/customXml" ds:itemID="{51634573-F7D8-4ECC-B5FF-91D1E5D2E650}">
  <ds:schemaRefs>
    <ds:schemaRef ds:uri="http://schemas.openxmlformats.org/package/2006/metadata/core-properties"/>
    <ds:schemaRef ds:uri="http://schemas.microsoft.com/office/2006/documentManagement/types"/>
    <ds:schemaRef ds:uri="34d4d772-b3f2-47fc-9a2d-2126f9957ae8"/>
    <ds:schemaRef ds:uri="http://purl.org/dc/terms/"/>
    <ds:schemaRef ds:uri="http://purl.org/dc/elements/1.1/"/>
    <ds:schemaRef ds:uri="d345b56e-75a0-4ca8-9b4b-110cb999efd5"/>
    <ds:schemaRef ds:uri="http://schemas.microsoft.com/office/infopath/2007/PartnerControls"/>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VMware 2025 Light</Template>
  <TotalTime>69871</TotalTime>
  <Words>35678</Words>
  <Application>Microsoft Macintosh PowerPoint</Application>
  <PresentationFormat>Custom</PresentationFormat>
  <Paragraphs>3711</Paragraphs>
  <Slides>94</Slides>
  <Notes>94</Notes>
  <HiddenSlides>1</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94</vt:i4>
      </vt:variant>
    </vt:vector>
  </HeadingPairs>
  <TitlesOfParts>
    <vt:vector size="112" baseType="lpstr">
      <vt:lpstr>-apple-system</vt:lpstr>
      <vt:lpstr>Aptos</vt:lpstr>
      <vt:lpstr>Arial</vt:lpstr>
      <vt:lpstr>Arial Rounded MT Bold</vt:lpstr>
      <vt:lpstr>ArialMT</vt:lpstr>
      <vt:lpstr>Calibri</vt:lpstr>
      <vt:lpstr>Camphor Std</vt:lpstr>
      <vt:lpstr>Google Sans</vt:lpstr>
      <vt:lpstr>Helvetica Neue</vt:lpstr>
      <vt:lpstr>Metropolis</vt:lpstr>
      <vt:lpstr>Metropolis Light</vt:lpstr>
      <vt:lpstr>Metropolis Semi Bold</vt:lpstr>
      <vt:lpstr>Metropolis-Regular</vt:lpstr>
      <vt:lpstr>Open Sans</vt:lpstr>
      <vt:lpstr>Segoe UI</vt:lpstr>
      <vt:lpstr>System Font Regular</vt:lpstr>
      <vt:lpstr>Wingdings</vt:lpstr>
      <vt:lpstr>VMware 2025 Light</vt:lpstr>
      <vt:lpstr>About This Presentation</vt:lpstr>
      <vt:lpstr>VMware Cloud Foundation 9</vt:lpstr>
      <vt:lpstr>PowerPoint Presentation</vt:lpstr>
      <vt:lpstr>PowerPoint Presentation</vt:lpstr>
      <vt:lpstr>Modernize Infrastructure</vt:lpstr>
      <vt:lpstr>Cloud Experience for Developers</vt:lpstr>
      <vt:lpstr>Security and Resilience</vt:lpstr>
      <vt:lpstr>PowerPoint Presentation</vt:lpstr>
      <vt:lpstr>Modernize infrastructure</vt:lpstr>
      <vt:lpstr>Private Cloud Building Blocks</vt:lpstr>
      <vt:lpstr>Deliver a Scalable Private Cloud</vt:lpstr>
      <vt:lpstr>PowerPoint Presentation</vt:lpstr>
      <vt:lpstr>Workload Domain and Cluster Topologies</vt:lpstr>
      <vt:lpstr>Remote Site Topologies</vt:lpstr>
      <vt:lpstr>Modernize Infrastructure</vt:lpstr>
      <vt:lpstr>Deploying a New VCF Instance on New Hardware</vt:lpstr>
      <vt:lpstr>Deployment Pathways to Suit a Variety of Use Cases</vt:lpstr>
      <vt:lpstr>Unified Installer Streamlines Deployment</vt:lpstr>
      <vt:lpstr>Flexible Deployment Workflows</vt:lpstr>
      <vt:lpstr>Simple vs High Availability (HA) Deployment</vt:lpstr>
      <vt:lpstr>Deployment Pathways to Suit a Variety of Use Cases</vt:lpstr>
      <vt:lpstr>Centralize Management of External vCenter Deployments</vt:lpstr>
      <vt:lpstr>Supported Configurations for VCF Import</vt:lpstr>
      <vt:lpstr>Cloud Foundation Deployment and Scale</vt:lpstr>
      <vt:lpstr>Easily Scale Private Cloud Infrastructure</vt:lpstr>
      <vt:lpstr>Modernize Infrastructure</vt:lpstr>
      <vt:lpstr>The Compute Engine of VMware Cloud Foundation</vt:lpstr>
      <vt:lpstr>The Evolution from vSphere to Full-stack Private Cloud</vt:lpstr>
      <vt:lpstr>Modernize Infrastructure</vt:lpstr>
      <vt:lpstr>VMware Cloud Foundation Storage</vt:lpstr>
      <vt:lpstr>Cloud Foundation Storage Options</vt:lpstr>
      <vt:lpstr>Evolving your Platform for the Demands of Today and Tomorrow</vt:lpstr>
      <vt:lpstr>Next Generation Architecture built into vSAN</vt:lpstr>
      <vt:lpstr>The vSAN Difference</vt:lpstr>
      <vt:lpstr>Additional Data Services to Meet your Business Requirements</vt:lpstr>
      <vt:lpstr>Simple, Insightful Cluster Health Status and Troubleshooting</vt:lpstr>
      <vt:lpstr>Run Multiple Workloads and Topologies Simultaneously</vt:lpstr>
      <vt:lpstr>One Solution – Multiple Deployment Options</vt:lpstr>
      <vt:lpstr>A New Way to Process and Store Data Efficiently</vt:lpstr>
      <vt:lpstr>Do More with What You Already Have to Reduce TCO</vt:lpstr>
      <vt:lpstr>PowerPoint Presentation</vt:lpstr>
      <vt:lpstr>Modernize Infrastructure</vt:lpstr>
      <vt:lpstr>Network Virtualization is Required to Deliver a Modern Private Cloud</vt:lpstr>
      <vt:lpstr>Software Defined Networking in VMware Cloud Foundation</vt:lpstr>
      <vt:lpstr>VCF with Physical Networking</vt:lpstr>
      <vt:lpstr>VCF with NSX Virtual Networking</vt:lpstr>
      <vt:lpstr>VCF with NSX Networking</vt:lpstr>
      <vt:lpstr>Some Additional Uses Cases for VCF with NSX</vt:lpstr>
      <vt:lpstr>NSX Components</vt:lpstr>
      <vt:lpstr>NSX Components</vt:lpstr>
      <vt:lpstr>Major NSX features</vt:lpstr>
      <vt:lpstr>Simple Networking with Virtual Private Clouds (VPCs)</vt:lpstr>
      <vt:lpstr>Consume VPCs in vCenter and VCF Automation</vt:lpstr>
      <vt:lpstr>Deploy NSX Edges Easily</vt:lpstr>
      <vt:lpstr>Independent Connectivity Options for Each Tier</vt:lpstr>
      <vt:lpstr>External Connectivity with Centralized Services</vt:lpstr>
      <vt:lpstr>External Connectivity without NSX Edges</vt:lpstr>
      <vt:lpstr>High Performance Switching out of the box</vt:lpstr>
      <vt:lpstr>Modernize Infrastructure Private Cloud Operations</vt:lpstr>
      <vt:lpstr>Unified Operations Experience</vt:lpstr>
      <vt:lpstr>Fleet Management – Consolidating Related Activities</vt:lpstr>
      <vt:lpstr>Consistent Binary Download Workflows</vt:lpstr>
      <vt:lpstr>Centralized Fleet Lifecycle Management</vt:lpstr>
      <vt:lpstr>Patch vSphere Clusters Faster and Less Disruptively</vt:lpstr>
      <vt:lpstr>Simplified Lifecyle for VCF Management Components</vt:lpstr>
      <vt:lpstr>Nondisruptive Upgrades to VCF 9</vt:lpstr>
      <vt:lpstr>Single Sign-On for Administrator Access Across VCF</vt:lpstr>
      <vt:lpstr>Connect to Multiple vCenter Servers in a Single vSphere Client</vt:lpstr>
      <vt:lpstr>Centralized Certificate Management</vt:lpstr>
      <vt:lpstr>Centralized Password Management</vt:lpstr>
      <vt:lpstr>Easily Monitor and Address Configuration Differences</vt:lpstr>
      <vt:lpstr>Manage, Identify and Organize Resources</vt:lpstr>
      <vt:lpstr>Modernize Infrastructure Private Cloud Operations</vt:lpstr>
      <vt:lpstr>Execute Lifecycle Management Tasks from a Single Console</vt:lpstr>
      <vt:lpstr>Cloud Foundation Software Binaries</vt:lpstr>
      <vt:lpstr>Software Update Download Options</vt:lpstr>
      <vt:lpstr>SDDC Manager Context-Aware Prechecks</vt:lpstr>
      <vt:lpstr>Upgrade or Patch Domains from VCF Operations</vt:lpstr>
      <vt:lpstr>Patch Individual Components using SDDC Manager</vt:lpstr>
      <vt:lpstr>VCF 9 Requires vLCM Images for ESXi Clusters</vt:lpstr>
      <vt:lpstr>vSphere Lifecycle Manager (vLCM) Images</vt:lpstr>
      <vt:lpstr>VCF Download Tool for Disconnected Sites</vt:lpstr>
      <vt:lpstr>Modernize Infrastructure Private Cloud Operations</vt:lpstr>
      <vt:lpstr>Private Cloud Operations</vt:lpstr>
      <vt:lpstr>Know When There is a Problem and Solve it Quickly</vt:lpstr>
      <vt:lpstr>Maximize Your Infrastructure Utilization</vt:lpstr>
      <vt:lpstr>Reduce Costs and Run a More Efficient Cloud</vt:lpstr>
      <vt:lpstr>Network Monitoring and Troubleshooting</vt:lpstr>
      <vt:lpstr>Integrated Storage Operations</vt:lpstr>
      <vt:lpstr>Simplified Log Analysis</vt:lpstr>
      <vt:lpstr>Ensure VCF is Running at Optimal Health </vt:lpstr>
      <vt:lpstr>Monitoring Traditional Applications</vt:lpstr>
      <vt:lpstr>Monitoring Modern Applications</vt:lpstr>
      <vt:lpstr>End-to end Process - Plan, Schedule and Migrate Workloads at Scale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Firth</dc:creator>
  <cp:keywords>VMware</cp:keywords>
  <cp:lastModifiedBy>Jonathan McDonald</cp:lastModifiedBy>
  <cp:revision>170</cp:revision>
  <dcterms:created xsi:type="dcterms:W3CDTF">2025-03-25T00:49:55Z</dcterms:created>
  <dcterms:modified xsi:type="dcterms:W3CDTF">2025-05-29T10:55:54Z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0x010100D88D0C854358DC418D143DF91B0F9F69</vt:lpwstr>
  </property>
  <property fmtid="{D5CDD505-2E9C-101B-9397-08002B2CF9AE}" pid="3" name="MediaServiceImageTags">
    <vt:lpwstr/>
  </property>
</Properties>
</file>